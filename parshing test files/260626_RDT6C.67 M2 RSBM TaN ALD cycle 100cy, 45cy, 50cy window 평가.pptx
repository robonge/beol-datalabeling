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Via Rc cumulative distribution</a:t>
            </a:r>
            <a:endParaRPr lang="en-US" sz="1950" dirty="0"/>
          </a:p>
        </p:txBody>
      </p:sp>
      <p:sp>
        <p:nvSpPr>
          <p:cNvPr id="3" name="Text 1"/>
          <p:cNvSpPr txBox="1"/>
          <p:nvPr/>
        </p:nvSpPr>
        <p:spPr>
          <a:xfrm>
            <a:off x="5715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62.0Ω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T12/100cy median 120.0Ω (+93.4%)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1946758"/>
            <a:ext cx="3903574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High-bias ME/45cy median 77.7Ω (+25.2%)</a:t>
            </a:r>
            <a:endParaRPr lang="en-US" sz="1275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220644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45cy median 60.8Ω (-2.0%)</a:t>
            </a:r>
            <a:endParaRPr lang="en-US" sz="1275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246522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T12/45cy median 66.0Ω (+6.3%)</a:t>
            </a:r>
            <a:endParaRPr lang="en-US" sz="1275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2723998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50cy median 89.6Ω (+44.4%)</a:t>
            </a:r>
            <a:endParaRPr lang="en-US" sz="1275" dirty="0"/>
          </a:p>
        </p:txBody>
      </p:sp>
      <p:sp>
        <p:nvSpPr>
          <p:cNvPr id="9" name="Text 7"/>
          <p:cNvSpPr txBox="1"/>
          <p:nvPr/>
        </p:nvSpPr>
        <p:spPr>
          <a:xfrm>
            <a:off x="571500" y="2983687"/>
            <a:ext cx="3620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T12/100cy·High-bias ME/45cy·T12/45cy upper tail → via open성 fail 과 일치</a:t>
            </a:r>
            <a:endParaRPr lang="en-US" sz="1275" dirty="0"/>
          </a:p>
        </p:txBody>
      </p:sp>
      <p:pic>
        <p:nvPicPr>
          <p:cNvPr id="10" name="Image 0" descr="gen-dedup-c988718dacf7b0103af57e3dc14f0342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4381805" y="1067105"/>
            <a:ext cx="7239305" cy="495330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황지민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f39037f10430a1f15273409f8450b5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990295"/>
            <a:ext cx="1067105" cy="952805"/>
          </a:xfrm>
          <a:prstGeom prst="rect">
            <a:avLst/>
          </a:prstGeom>
        </p:spPr>
      </p:pic>
      <p:pic>
        <p:nvPicPr>
          <p:cNvPr id="3" name="Image 1" descr="gen-dedup-f9d3af580fc2467a3f78231f881acfc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990295"/>
            <a:ext cx="1057046" cy="952805"/>
          </a:xfrm>
          <a:prstGeom prst="rect">
            <a:avLst/>
          </a:prstGeom>
        </p:spPr>
      </p:pic>
      <p:pic>
        <p:nvPicPr>
          <p:cNvPr id="4" name="Image 2" descr="gen-dedup-7dd1b3dda9f94afadbdf9e738221cc8d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356" y="990295"/>
            <a:ext cx="2048256" cy="952805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38505" y="437998"/>
            <a:ext cx="10478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RDT6C.67 ET results</a:t>
            </a:r>
            <a:endParaRPr lang="en-US" sz="1950" dirty="0"/>
          </a:p>
        </p:txBody>
      </p:sp>
      <p:sp>
        <p:nvSpPr>
          <p:cNvPr id="6" name="Text 1"/>
          <p:cNvSpPr txBox="1"/>
          <p:nvPr/>
        </p:nvSpPr>
        <p:spPr>
          <a:xfrm>
            <a:off x="571500" y="1981505"/>
            <a:ext cx="6029554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Barrier/Cu 계면 HR-TEM / EDS mapping (Cu/Si/O/Ta) / area-selective TiN / dielectric EDS mapping</a:t>
            </a:r>
            <a:endParaRPr lang="en-US" sz="8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" y="2266798"/>
          <a:ext cx="5343754" cy="3762756"/>
        </p:xfrm>
        <a:graphic>
          <a:graphicData uri="http://schemas.openxmlformats.org/drawingml/2006/table">
            <a:tbl>
              <a:tblPr/>
              <a:tblGrid>
                <a:gridCol w="667512"/>
                <a:gridCol w="667512"/>
                <a:gridCol w="667512"/>
                <a:gridCol w="667512"/>
                <a:gridCol w="667512"/>
                <a:gridCol w="667512"/>
                <a:gridCol w="667512"/>
                <a:gridCol w="668426"/>
              </a:tblGrid>
              <a:tr h="342069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(RDT6C_6)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RDT6C_10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RDT6C_15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RDT6C_2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RDT6C_22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RDT6C_16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06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ALD cycle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40cy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100cy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45cy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45cy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45cy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50cy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4206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Trench etch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POR(-T3)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T12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High-bias ME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POR(-T3)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T12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POR(-T3)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4206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AASI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22.37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22.09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22.72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22.39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22.00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22.48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4206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4206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9.9/9.9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9.6/9.6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10.3/10.1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9.9/9.9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9.1/9.2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10.0/9.9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42069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53%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42069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42069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42069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76%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4206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Via Rc (Ω)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62.0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77.7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66.0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89.6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8" name="Text 2"/>
          <p:cNvSpPr txBox="1"/>
          <p:nvPr/>
        </p:nvSpPr>
        <p:spPr>
          <a:xfrm>
            <a:off x="6143854" y="990295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9" name="Text 3"/>
          <p:cNvSpPr txBox="1"/>
          <p:nvPr/>
        </p:nvSpPr>
        <p:spPr>
          <a:xfrm>
            <a:off x="6372454" y="990295"/>
            <a:ext cx="471556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M2 RSBM TaN ALD cycle 100cy, 45cy, 50cy window 평가</a:t>
            </a:r>
            <a:endParaRPr lang="en-US" sz="1050" dirty="0"/>
          </a:p>
        </p:txBody>
      </p:sp>
      <p:sp>
        <p:nvSpPr>
          <p:cNvPr id="10" name="Text 4"/>
          <p:cNvSpPr txBox="1"/>
          <p:nvPr/>
        </p:nvSpPr>
        <p:spPr>
          <a:xfrm>
            <a:off x="6143854" y="1179576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1" name="Text 5"/>
          <p:cNvSpPr txBox="1"/>
          <p:nvPr/>
        </p:nvSpPr>
        <p:spPr>
          <a:xfrm>
            <a:off x="6372454" y="1179576"/>
            <a:ext cx="71780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050" dirty="0"/>
          </a:p>
        </p:txBody>
      </p:sp>
      <p:sp>
        <p:nvSpPr>
          <p:cNvPr id="12" name="Text 6"/>
          <p:cNvSpPr txBox="1"/>
          <p:nvPr/>
        </p:nvSpPr>
        <p:spPr>
          <a:xfrm>
            <a:off x="6143854" y="1407262"/>
            <a:ext cx="54772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(ALD cycle / Trench etch split, POR 대비)</a:t>
            </a:r>
            <a:endParaRPr lang="en-US" sz="1050" dirty="0"/>
          </a:p>
        </p:txBody>
      </p:sp>
      <p:sp>
        <p:nvSpPr>
          <p:cNvPr id="13" name="Text 7"/>
          <p:cNvSpPr txBox="1"/>
          <p:nvPr/>
        </p:nvSpPr>
        <p:spPr>
          <a:xfrm>
            <a:off x="6143854" y="1596542"/>
            <a:ext cx="566745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T12/100cy (RDT6C_10):</a:t>
            </a:r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Δ-0.27, ACI 9.2 · ASI 9.6/9.6로 POR과 근접</a:t>
            </a:r>
            <a:endParaRPr lang="en-US" sz="1050" dirty="0"/>
          </a:p>
        </p:txBody>
      </p:sp>
      <p:sp>
        <p:nvSpPr>
          <p:cNvPr id="14" name="Text 8"/>
          <p:cNvSpPr txBox="1"/>
          <p:nvPr/>
        </p:nvSpPr>
        <p:spPr>
          <a:xfrm>
            <a:off x="6143854" y="1785823"/>
            <a:ext cx="574791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High-bias ME/45cy (RDT6C_15):</a:t>
            </a:r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Δ+0.35, ACI 9.7 (POR 9.4) 소폭 상향</a:t>
            </a:r>
            <a:endParaRPr lang="en-US" sz="1050" dirty="0"/>
          </a:p>
        </p:txBody>
      </p:sp>
      <p:sp>
        <p:nvSpPr>
          <p:cNvPr id="15" name="Text 9"/>
          <p:cNvSpPr txBox="1"/>
          <p:nvPr/>
        </p:nvSpPr>
        <p:spPr>
          <a:xfrm>
            <a:off x="6143854" y="1975104"/>
            <a:ext cx="54772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45cy (RDT6C_2):</a:t>
            </a:r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Δ+0.03, ACI 9.6 · ASI 9.9/9.9로 POR과 근접</a:t>
            </a:r>
            <a:endParaRPr lang="en-US" sz="1050" dirty="0"/>
          </a:p>
        </p:txBody>
      </p:sp>
      <p:sp>
        <p:nvSpPr>
          <p:cNvPr id="16" name="Text 10"/>
          <p:cNvSpPr txBox="1"/>
          <p:nvPr/>
        </p:nvSpPr>
        <p:spPr>
          <a:xfrm>
            <a:off x="6143854" y="2164385"/>
            <a:ext cx="582747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T12/45cy (RDT6C_22):</a:t>
            </a:r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Δ-0.37로 변동 최대, ACI 8.6 (POR 9.4) 소폭 하향</a:t>
            </a:r>
            <a:endParaRPr lang="en-US" sz="1050" dirty="0"/>
          </a:p>
        </p:txBody>
      </p:sp>
      <p:sp>
        <p:nvSpPr>
          <p:cNvPr id="17" name="Text 11"/>
          <p:cNvSpPr txBox="1"/>
          <p:nvPr/>
        </p:nvSpPr>
        <p:spPr>
          <a:xfrm>
            <a:off x="6143854" y="2353666"/>
            <a:ext cx="54772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50cy (RDT6C_16):</a:t>
            </a:r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Δ+0.12, ACI 9.5 · ASI 10.0/9.9로 POR과 근접</a:t>
            </a:r>
            <a:endParaRPr lang="en-US" sz="1050" dirty="0"/>
          </a:p>
        </p:txBody>
      </p:sp>
      <p:sp>
        <p:nvSpPr>
          <p:cNvPr id="18" name="Text 12"/>
          <p:cNvSpPr txBox="1"/>
          <p:nvPr/>
        </p:nvSpPr>
        <p:spPr>
          <a:xfrm>
            <a:off x="6143854" y="2581351"/>
            <a:ext cx="54772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yield (Open·Short)</a:t>
            </a:r>
            <a:endParaRPr lang="en-US" sz="1050" dirty="0"/>
          </a:p>
        </p:txBody>
      </p:sp>
      <p:sp>
        <p:nvSpPr>
          <p:cNvPr id="19" name="Text 13"/>
          <p:cNvSpPr txBox="1"/>
          <p:nvPr/>
        </p:nvSpPr>
        <p:spPr>
          <a:xfrm>
            <a:off x="6143854" y="2770632"/>
            <a:ext cx="54772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T12/100cy: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120.0Ω(+93%)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CMBSRP Open 79%(-21%p),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50%(-50%p)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CD 축소로 line 단면적 감소, open 열화</a:t>
            </a:r>
            <a:endParaRPr lang="en-US" sz="1050" dirty="0"/>
          </a:p>
        </p:txBody>
      </p:sp>
      <p:sp>
        <p:nvSpPr>
          <p:cNvPr id="20" name="Text 14"/>
          <p:cNvSpPr txBox="1"/>
          <p:nvPr/>
        </p:nvSpPr>
        <p:spPr>
          <a:xfrm>
            <a:off x="6143854" y="3149194"/>
            <a:ext cx="547725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High-bias ME/45cy: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77.7Ω(+25%)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CMBSRP Open 53%(-47%p), CMBSRP Short 92%(-8%p),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25%(-75%p)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trench bottom corner micro-trenching → via 연결부 open 추정</a:t>
            </a:r>
            <a:endParaRPr lang="en-US" sz="1050" dirty="0"/>
          </a:p>
        </p:txBody>
      </p:sp>
      <p:sp>
        <p:nvSpPr>
          <p:cNvPr id="21" name="Text 15"/>
          <p:cNvSpPr txBox="1"/>
          <p:nvPr/>
        </p:nvSpPr>
        <p:spPr>
          <a:xfrm>
            <a:off x="6143854" y="3717036"/>
            <a:ext cx="54772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45cy: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Via Rc 60.8Ω(-2%), CMBSRP 97/99%로 POR 동등,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Short 96%(-4%p)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전 item POR 동등</a:t>
            </a:r>
            <a:endParaRPr lang="en-US" sz="1050" dirty="0"/>
          </a:p>
        </p:txBody>
      </p:sp>
      <p:sp>
        <p:nvSpPr>
          <p:cNvPr id="22" name="Text 16"/>
          <p:cNvSpPr txBox="1"/>
          <p:nvPr/>
        </p:nvSpPr>
        <p:spPr>
          <a:xfrm>
            <a:off x="6143854" y="4095598"/>
            <a:ext cx="54772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T12/45cy: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Via Rc 66.0Ω(+6%), CMBSRP Open 87%(-13%p),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47%(-53%p)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CD 축소로 line 단면적 감소, open 열화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6143854" y="4474159"/>
            <a:ext cx="54772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50cy: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89.6Ω(+44%)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CMBSRP 98/99%로 POR 동등,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59%(-41%p)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VCHN Short 76%(-24%p) → line보다 via 연결부 열화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6143854" y="4891126"/>
            <a:ext cx="54772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050" dirty="0"/>
          </a:p>
        </p:txBody>
      </p:sp>
      <p:sp>
        <p:nvSpPr>
          <p:cNvPr id="25" name="Text 19"/>
          <p:cNvSpPr txBox="1"/>
          <p:nvPr/>
        </p:nvSpPr>
        <p:spPr>
          <a:xfrm>
            <a:off x="6143854" y="5080406"/>
            <a:ext cx="54772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- 45cy 는 POR 대비 전 항목 동등 → 후보 조건, T12/100cy·High-bias ME/45cy·T12/45cy·50cy 는 Open 열화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6143854" y="5458968"/>
            <a:ext cx="54772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T12/100cy·High-bias ME/45cy·T12/45cy는 CMBSRP와 VCHN에서 같은 mode로 재현되어 split 기인으로 판단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6143854" y="5837530"/>
            <a:ext cx="54772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High-bias ME/45cy Open fail die 단면 분석 필요 (M2 DC 기준)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6143854" y="6026810"/>
            <a:ext cx="54772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HTOL/EM 진행 시 Cu recess 초기 대비 2~3배 증가 여부 monitor</a:t>
            </a:r>
            <a:endParaRPr lang="en-US" sz="1050" dirty="0"/>
          </a:p>
        </p:txBody>
      </p:sp>
      <p:sp>
        <p:nvSpPr>
          <p:cNvPr id="29" name="Text 23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황지민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2026-10-05T10:09:47Z</dcterms:created>
  <dcterms:modified xsi:type="dcterms:W3CDTF">2026-10-05T10:09:47Z</dcterms:modified>
</cp:coreProperties>
</file>