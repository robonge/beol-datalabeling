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86ce3a50bacfb3d3fcb040b473adf9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305" y="4401007"/>
            <a:ext cx="1705356" cy="1047902"/>
          </a:xfrm>
          <a:prstGeom prst="rect">
            <a:avLst/>
          </a:prstGeom>
        </p:spPr>
      </p:pic>
      <p:pic>
        <p:nvPicPr>
          <p:cNvPr id="3" name="Image 1" descr="gen-dedup-7728d90eb8f936379d687db9adf3c5d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56" y="4401007"/>
            <a:ext cx="1591056" cy="1047902"/>
          </a:xfrm>
          <a:prstGeom prst="rect">
            <a:avLst/>
          </a:prstGeom>
        </p:spPr>
      </p:pic>
      <p:pic>
        <p:nvPicPr>
          <p:cNvPr id="4" name="Image 2" descr="gen-dedup-db2af04c9d064ee861ab1655a3ee0cc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507" y="4401007"/>
            <a:ext cx="2066544" cy="104790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KVED QGJIC025.6B ET results</a:t>
            </a:r>
            <a:endParaRPr lang="en-US" sz="1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305" y="990295"/>
          <a:ext cx="5534863" cy="3514954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047902"/>
                <a:gridCol w="1047902"/>
                <a:gridCol w="1047902"/>
                <a:gridCol w="1047902"/>
              </a:tblGrid>
              <a:tr h="319541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(RQXT5A_12)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QGJIC025_14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QGJIC025_8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QGJIC025_15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5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Airgap+cap opt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Airgap+cap opt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Airgap+cap opt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95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depo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PVD Ru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CVD Ru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PVD Ru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PVD+SLA 20us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95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7.9/8.2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7.9/8.1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95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8.5/8.7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8.5/8.8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95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95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95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9541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9541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95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 1"/>
          <p:cNvSpPr txBox="1"/>
          <p:nvPr/>
        </p:nvSpPr>
        <p:spPr>
          <a:xfrm>
            <a:off x="5410505" y="5486400"/>
            <a:ext cx="62106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TopVia + embedded airgap TEM (IBM) / HAR Ru line TEM, AR 3~6 (imec) / Ru TopVia / airgap X-TEM (IBM)</a:t>
            </a:r>
            <a:endParaRPr lang="en-US" sz="825" dirty="0"/>
          </a:p>
        </p:txBody>
      </p:sp>
      <p:sp>
        <p:nvSpPr>
          <p:cNvPr id="8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819302" y="990295"/>
            <a:ext cx="39812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VA Ru line 간 Airgap+cap opt 적용 평가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1461211"/>
            <a:ext cx="52962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(Airgap / Ru depo split, POR 대비)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677924"/>
            <a:ext cx="5296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opt/CVD Ru (QGJIC025_14):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Δ+0.22/+0.04로 변동 최대, SiN ACI 8.8 · Ru ACI 9.7로 POR과 근접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2110435"/>
            <a:ext cx="5296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 (QGJIC025_8):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Δ+0.00/-0.03, SiN ACI 8.5 · Ru ACI 9.4로 POR과 근접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543861"/>
            <a:ext cx="5296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opt/PVD+SLA 20us (QGJIC025_15):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Δ+0.07/+0.11, SiN ACI 8.6 · Ru ACI 9.4로 POR과 근접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3014777"/>
            <a:ext cx="52962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230575"/>
            <a:ext cx="5296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opt/CVD Ru: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63.8Ω(-8%), CMBSRP 99%로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96%(-4%p)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3664001"/>
            <a:ext cx="5296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65.9Ω(-5%), CMBSRP 99%로 POR 동등, VCHN 99/99%로 POR 동등 → 유의차 없음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4096512"/>
            <a:ext cx="5296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opt/PVD+SLA 20us: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52.7Ω(-24%), CMBSRP 97%로 POR 동등, VCHN 99/98%로 POR 동등 → 유의차 없음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4567428"/>
            <a:ext cx="52962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783226"/>
            <a:ext cx="5296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Airgap+cap opt/CVD Ru·Airgap+cap opt·Airgap+cap opt/PVD+SLA 20us 는 POR 대비 전 항목 동등 → 후보 조건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5216652"/>
            <a:ext cx="52962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 lot 재현성 확인 후 적용 검토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" y="5432450"/>
            <a:ext cx="52962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SiN HM 잔막/산화 여부 EELS 확인 필요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배혜린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2026-10-05T12:20:23Z</dcterms:created>
  <dcterms:modified xsi:type="dcterms:W3CDTF">2026-10-05T12:20:23Z</dcterms:modified>
</cp:coreProperties>
</file>