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I2 ACI CD wafer map</a:t>
            </a:r>
            <a:endParaRPr lang="en-US" sz="2100" dirty="0"/>
          </a:p>
        </p:txBody>
      </p:sp>
      <p:pic>
        <p:nvPicPr>
          <p:cNvPr id="3" name="Image 0" descr="gen-dedup-2cbd9e30e02a79f3edb30ce4d6b9d815.png">    </p:cNvPr>
          <p:cNvPicPr>
            <a:picLocks noChangeAspect="1"/>
          </p:cNvPicPr>
          <p:nvPr/>
        </p:nvPicPr>
        <p:blipFill>
          <a:blip r:embed="rId1"/>
          <a:srcRect l="-6" r="-6" t="0" b="0"/>
          <a:stretch/>
        </p:blipFill>
        <p:spPr>
          <a:xfrm>
            <a:off x="571500" y="1067105"/>
            <a:ext cx="3581705" cy="4095598"/>
          </a:xfrm>
          <a:prstGeom prst="rect">
            <a:avLst/>
          </a:prstGeom>
        </p:spPr>
      </p:pic>
      <p:pic>
        <p:nvPicPr>
          <p:cNvPr id="4" name="Image 1" descr="gen-dedup-2dc9eeac1a1e7ff6b9fd5905c30dee08.png">    </p:cNvPr>
          <p:cNvPicPr>
            <a:picLocks noChangeAspect="1"/>
          </p:cNvPicPr>
          <p:nvPr/>
        </p:nvPicPr>
        <p:blipFill>
          <a:blip r:embed="rId2"/>
          <a:srcRect l="-6" r="-6" t="0" b="0"/>
          <a:stretch/>
        </p:blipFill>
        <p:spPr>
          <a:xfrm>
            <a:off x="4304995" y="1067105"/>
            <a:ext cx="3581705" cy="4095598"/>
          </a:xfrm>
          <a:prstGeom prst="rect">
            <a:avLst/>
          </a:prstGeom>
        </p:spPr>
      </p:pic>
      <p:pic>
        <p:nvPicPr>
          <p:cNvPr id="5" name="Image 2" descr="gen-dedup-28d4df0ac51b1f48879143ca452591bd.png">    </p:cNvPr>
          <p:cNvPicPr>
            <a:picLocks noChangeAspect="1"/>
          </p:cNvPicPr>
          <p:nvPr/>
        </p:nvPicPr>
        <p:blipFill>
          <a:blip r:embed="rId3"/>
          <a:srcRect l="-6" r="-6" t="0" b="0"/>
          <a:stretch/>
        </p:blipFill>
        <p:spPr>
          <a:xfrm>
            <a:off x="8039405" y="1067105"/>
            <a:ext cx="3581705" cy="4095598"/>
          </a:xfrm>
          <a:prstGeom prst="rect">
            <a:avLst/>
          </a:prstGeom>
        </p:spPr>
      </p:pic>
      <p:sp>
        <p:nvSpPr>
          <p:cNvPr id="6" name="Text 1"/>
          <p:cNvSpPr txBox="1"/>
          <p:nvPr/>
        </p:nvSpPr>
        <p:spPr>
          <a:xfrm>
            <a:off x="571500" y="5352898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45cy: ACI 8.4/8.1 (POR 8.3/8.2), edge 편차 POR 수준</a:t>
            </a:r>
            <a:endParaRPr lang="en-US" sz="1275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5612587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100cy: ACI 8.3/8.2 (POR 8.3/8.2), edge 편차 확대</a:t>
            </a:r>
            <a:endParaRPr lang="en-US" sz="1275" dirty="0"/>
          </a:p>
        </p:txBody>
      </p:sp>
      <p:sp>
        <p:nvSpPr>
          <p:cNvPr id="8" name="Text 3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윤경수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e5d7c3aea6e36bf0beb2f3391b232f4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1067105"/>
            <a:ext cx="2781605" cy="2476195"/>
          </a:xfrm>
          <a:prstGeom prst="rect">
            <a:avLst/>
          </a:prstGeom>
        </p:spPr>
      </p:pic>
      <p:pic>
        <p:nvPicPr>
          <p:cNvPr id="3" name="Image 1" descr="gen-dedup-389e498a7504d0c750b85e053ad6d66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067105"/>
            <a:ext cx="5333695" cy="2476195"/>
          </a:xfrm>
          <a:prstGeom prst="rect">
            <a:avLst/>
          </a:prstGeom>
        </p:spPr>
      </p:pic>
      <p:pic>
        <p:nvPicPr>
          <p:cNvPr id="4" name="Image 2" descr="gen-dedup-bfd4229567a6020de77c6fdd85764ece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39505" y="1067105"/>
            <a:ext cx="2771546" cy="2476195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38505" y="437998"/>
            <a:ext cx="10478110" cy="362102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1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I2 단면 분석 결과</a:t>
            </a:r>
            <a:endParaRPr lang="en-US" sz="2100" dirty="0"/>
          </a:p>
        </p:txBody>
      </p:sp>
      <p:sp>
        <p:nvSpPr>
          <p:cNvPr id="6" name="Text 1"/>
          <p:cNvSpPr txBox="1"/>
          <p:nvPr/>
        </p:nvSpPr>
        <p:spPr>
          <a:xfrm>
            <a:off x="571500" y="3581705"/>
            <a:ext cx="11049610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Barrier/Cu 계면 HR-TEM / Cu DD trench/via X-SEM / EDS mapping (Cu/Si/O/Ta)</a:t>
            </a:r>
            <a:endParaRPr lang="en-US" sz="825" dirty="0"/>
          </a:p>
        </p:txBody>
      </p:sp>
      <p:sp>
        <p:nvSpPr>
          <p:cNvPr id="7" name="Text 2"/>
          <p:cNvSpPr txBox="1"/>
          <p:nvPr/>
        </p:nvSpPr>
        <p:spPr>
          <a:xfrm>
            <a:off x="571500" y="3962095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fill 계면 Ta 불연속 — EDX line scan</a:t>
            </a:r>
            <a:endParaRPr lang="en-US" sz="1275" dirty="0"/>
          </a:p>
        </p:txBody>
      </p:sp>
      <p:sp>
        <p:nvSpPr>
          <p:cNvPr id="8" name="Text 3"/>
          <p:cNvSpPr txBox="1"/>
          <p:nvPr/>
        </p:nvSpPr>
        <p:spPr>
          <a:xfrm>
            <a:off x="571500" y="4221785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chamfer 부 barrier overhang 확인</a:t>
            </a:r>
            <a:endParaRPr lang="en-US" sz="1275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4480560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bottom void 및 pinch-off 흔적 관찰 (2/3 site)</a:t>
            </a:r>
            <a:endParaRPr lang="en-US" sz="1275" dirty="0"/>
          </a:p>
        </p:txBody>
      </p:sp>
      <p:sp>
        <p:nvSpPr>
          <p:cNvPr id="10" name="Text 5"/>
          <p:cNvSpPr txBox="1"/>
          <p:nvPr/>
        </p:nvSpPr>
        <p:spPr>
          <a:xfrm>
            <a:off x="571500" y="4739335"/>
            <a:ext cx="110496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대상: QQJIG_22 (100cy/85%)</a:t>
            </a:r>
            <a:endParaRPr lang="en-US" sz="1275" dirty="0"/>
          </a:p>
        </p:txBody>
      </p:sp>
      <p:sp>
        <p:nvSpPr>
          <p:cNvPr id="11" name="Text 6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윤경수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7dd1b3dda9f94afadbdf9e738221cc8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" y="990295"/>
            <a:ext cx="2048256" cy="952805"/>
          </a:xfrm>
          <a:prstGeom prst="rect">
            <a:avLst/>
          </a:prstGeom>
        </p:spPr>
      </p:pic>
      <p:pic>
        <p:nvPicPr>
          <p:cNvPr id="3" name="Image 1" descr="gen-dedup-9f39037f10430a1f15273409f8450b54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651" y="990295"/>
            <a:ext cx="1067105" cy="952805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 QQJIG034.6C ET results</a:t>
            </a:r>
            <a:endParaRPr lang="en-US" sz="2250" dirty="0"/>
          </a:p>
        </p:txBody>
      </p:sp>
      <p:sp>
        <p:nvSpPr>
          <p:cNvPr id="5" name="Text 1"/>
          <p:cNvSpPr txBox="1"/>
          <p:nvPr/>
        </p:nvSpPr>
        <p:spPr>
          <a:xfrm>
            <a:off x="571500" y="1981505"/>
            <a:ext cx="5649163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area-selective TiN / dielectric EDS mapping / Barrier/Cu 계면 HR-TEM</a:t>
            </a:r>
            <a:endParaRPr lang="en-US" sz="825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1500" y="2266798"/>
          <a:ext cx="5686654" cy="4457700"/>
        </p:xfrm>
        <a:graphic>
          <a:graphicData uri="http://schemas.openxmlformats.org/drawingml/2006/table">
            <a:tbl>
              <a:tblPr/>
              <a:tblGrid>
                <a:gridCol w="666598"/>
                <a:gridCol w="666598"/>
                <a:gridCol w="724205"/>
                <a:gridCol w="724205"/>
                <a:gridCol w="724205"/>
                <a:gridCol w="724205"/>
                <a:gridCol w="724205"/>
                <a:gridCol w="724205"/>
              </a:tblGrid>
              <a:tr h="318407">
                <a:tc gridSpan="2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WAFER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POR</a:t>
                      </a:r>
                      <a:pPr algn="r" indent="0" marL="0">
                        <a:buNone/>
                      </a:pPr>
                      <a:endParaRPr lang="en-US" sz="1200" dirty="0"/>
                    </a:p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(QQJIG_24)</a:t>
                      </a:r>
                      <a:endParaRPr lang="en-US" sz="1200" dirty="0"/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QQJIG_16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QQJIG_25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QQJIG_22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QQJIG_10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QQJIG_23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19202" marB="19202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8407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ALD cycle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40cy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45cy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45cy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100cy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50cy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100cy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8407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Via OE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8407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22.62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22.56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22.38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22.76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22.92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22.76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8407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ACI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8.3/8.2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8.4/8.1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8.1/8.0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8.5/8.1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8.3/8.4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8.3/8.2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8407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AEI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8.3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8.7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8407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AHI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8.0/7.9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8.3/8.0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7.6/7.6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7.9/8.0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8.1/7.9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8.1/7.9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EBDF"/>
                    </a:solidFill>
                  </a:tcPr>
                </a:tc>
              </a:tr>
              <a:tr h="318407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ASI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8.4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E7D3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9.1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2"/>
                    </a:solidFill>
                  </a:tcPr>
                </a:tc>
              </a:tr>
              <a:tr h="318407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CMBSRP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18407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2E3"/>
                    </a:solidFill>
                  </a:tcPr>
                </a:tc>
              </a:tr>
              <a:tr h="318407">
                <a:tc row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VCHN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52%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18407">
                <a:tc vMerge="1">
                  <a:tcPr/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Short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38405" marR="3840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99%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97%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AF4"/>
                    </a:solidFill>
                  </a:tcPr>
                </a:tc>
              </a:tr>
              <a:tr h="318407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VMA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98%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64%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75%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82%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26A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82%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  <a:tr h="318407">
                <a:tc gridSpan="2"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Via Rc (Ω)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 hMerge="1">
                  <a:tcPr/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28.6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40.9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86.8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47.0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25" dirty="0">
                          <a:solidFill>
                            <a:srgbClr val="B3261E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74.0</a:t>
                      </a:r>
                      <a:endParaRPr lang="en-US" sz="1125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75895" marR="75895" marT="0" marB="0" anchor="ctr">
                    <a:lnL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3EA"/>
                    </a:solidFill>
                  </a:tcPr>
                </a:tc>
              </a:tr>
            </a:tbl>
          </a:graphicData>
        </a:graphic>
      </p:graphicFrame>
      <p:sp>
        <p:nvSpPr>
          <p:cNvPr id="7" name="Text 2"/>
          <p:cNvSpPr txBox="1"/>
          <p:nvPr/>
        </p:nvSpPr>
        <p:spPr>
          <a:xfrm>
            <a:off x="6448349" y="990295"/>
            <a:ext cx="1335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75" dirty="0"/>
          </a:p>
        </p:txBody>
      </p:sp>
      <p:sp>
        <p:nvSpPr>
          <p:cNvPr id="8" name="Text 3"/>
          <p:cNvSpPr txBox="1"/>
          <p:nvPr/>
        </p:nvSpPr>
        <p:spPr>
          <a:xfrm>
            <a:off x="6667805" y="990295"/>
            <a:ext cx="2743200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I2 ALD cycle / Via OE split 평가</a:t>
            </a:r>
            <a:endParaRPr lang="en-US" sz="975" dirty="0"/>
          </a:p>
        </p:txBody>
      </p:sp>
      <p:sp>
        <p:nvSpPr>
          <p:cNvPr id="9" name="Text 4"/>
          <p:cNvSpPr txBox="1"/>
          <p:nvPr/>
        </p:nvSpPr>
        <p:spPr>
          <a:xfrm>
            <a:off x="6448349" y="1159459"/>
            <a:ext cx="13350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975" dirty="0"/>
          </a:p>
        </p:txBody>
      </p:sp>
      <p:sp>
        <p:nvSpPr>
          <p:cNvPr id="10" name="Text 5"/>
          <p:cNvSpPr txBox="1"/>
          <p:nvPr/>
        </p:nvSpPr>
        <p:spPr>
          <a:xfrm>
            <a:off x="6667805" y="1159459"/>
            <a:ext cx="667512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975" dirty="0"/>
          </a:p>
        </p:txBody>
      </p:sp>
      <p:sp>
        <p:nvSpPr>
          <p:cNvPr id="11" name="Text 6"/>
          <p:cNvSpPr txBox="1"/>
          <p:nvPr/>
        </p:nvSpPr>
        <p:spPr>
          <a:xfrm>
            <a:off x="6448349" y="1356055"/>
            <a:ext cx="5172761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Profile (ALD cycle / Via OE split, POR 대비)</a:t>
            </a:r>
            <a:endParaRPr lang="en-US" sz="975" dirty="0"/>
          </a:p>
        </p:txBody>
      </p:sp>
      <p:sp>
        <p:nvSpPr>
          <p:cNvPr id="12" name="Text 7"/>
          <p:cNvSpPr txBox="1"/>
          <p:nvPr/>
        </p:nvSpPr>
        <p:spPr>
          <a:xfrm>
            <a:off x="6448349" y="1524305"/>
            <a:ext cx="5172761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45cy (QQJIG_16):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Δ-0.06, ACI 8.4/8.1 · AEI 8.7로 POR과 근접</a:t>
            </a:r>
            <a:endParaRPr lang="en-US" sz="975" dirty="0"/>
          </a:p>
        </p:txBody>
      </p:sp>
      <p:sp>
        <p:nvSpPr>
          <p:cNvPr id="13" name="Text 8"/>
          <p:cNvSpPr txBox="1"/>
          <p:nvPr/>
        </p:nvSpPr>
        <p:spPr>
          <a:xfrm>
            <a:off x="6448349" y="1693469"/>
            <a:ext cx="5858561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45cy/70% (QQJIG_25):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Δ-0.24로 변동 최대, ACI 8.1/8.0 (POR 8.3/8.2) 소폭 하향</a:t>
            </a:r>
            <a:endParaRPr lang="en-US" sz="975" dirty="0"/>
          </a:p>
        </p:txBody>
      </p:sp>
      <p:sp>
        <p:nvSpPr>
          <p:cNvPr id="14" name="Text 9"/>
          <p:cNvSpPr txBox="1"/>
          <p:nvPr/>
        </p:nvSpPr>
        <p:spPr>
          <a:xfrm>
            <a:off x="6448349" y="1861718"/>
            <a:ext cx="5172761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100cy/85% (QQJIG_22):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Δ+0.14, ACI 8.5/8.1 · AEI 8.7로 POR과 근접</a:t>
            </a:r>
            <a:endParaRPr lang="en-US" sz="975" dirty="0"/>
          </a:p>
        </p:txBody>
      </p:sp>
      <p:sp>
        <p:nvSpPr>
          <p:cNvPr id="15" name="Text 10"/>
          <p:cNvSpPr txBox="1"/>
          <p:nvPr/>
        </p:nvSpPr>
        <p:spPr>
          <a:xfrm>
            <a:off x="6448349" y="2029968"/>
            <a:ext cx="5172761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50cy (QQJIG_10):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Δ+0.30, ACI 8.3/8.4 · AEI 8.8로 POR과 근접</a:t>
            </a:r>
            <a:endParaRPr lang="en-US" sz="975" dirty="0"/>
          </a:p>
        </p:txBody>
      </p:sp>
      <p:sp>
        <p:nvSpPr>
          <p:cNvPr id="16" name="Text 11"/>
          <p:cNvSpPr txBox="1"/>
          <p:nvPr/>
        </p:nvSpPr>
        <p:spPr>
          <a:xfrm>
            <a:off x="6448349" y="2198218"/>
            <a:ext cx="5172761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100cy (QQJIG_23):</a:t>
            </a:r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Δ+0.14, ACI 8.3/8.2 · AEI 8.9로 POR과 근접</a:t>
            </a:r>
            <a:endParaRPr lang="en-US" sz="975" dirty="0"/>
          </a:p>
        </p:txBody>
      </p:sp>
      <p:sp>
        <p:nvSpPr>
          <p:cNvPr id="17" name="Text 12"/>
          <p:cNvSpPr txBox="1"/>
          <p:nvPr/>
        </p:nvSpPr>
        <p:spPr>
          <a:xfrm>
            <a:off x="6448349" y="2395728"/>
            <a:ext cx="5172761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VCHN)</a:t>
            </a:r>
            <a:endParaRPr lang="en-US" sz="975" dirty="0"/>
          </a:p>
        </p:txBody>
      </p:sp>
      <p:sp>
        <p:nvSpPr>
          <p:cNvPr id="18" name="Text 13"/>
          <p:cNvSpPr txBox="1"/>
          <p:nvPr/>
        </p:nvSpPr>
        <p:spPr>
          <a:xfrm>
            <a:off x="6448349" y="2563978"/>
            <a:ext cx="51727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45cy: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Via Rc 28.6Ω(-7%), CMBSRP 99/98%로 POR 동등,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Short 95%(-4%p)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유의차 없음</a:t>
            </a:r>
            <a:endParaRPr lang="en-US" sz="975" dirty="0"/>
          </a:p>
        </p:txBody>
      </p:sp>
      <p:sp>
        <p:nvSpPr>
          <p:cNvPr id="19" name="Text 14"/>
          <p:cNvSpPr txBox="1"/>
          <p:nvPr/>
        </p:nvSpPr>
        <p:spPr>
          <a:xfrm>
            <a:off x="6448349" y="2901391"/>
            <a:ext cx="517276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45cy/70%: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40.9Ω(+33%)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CMBSRP 97/98%로 POR 동등,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52%(-48%p)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VMA 64%(-34%p) → line보다 via 연결부 열화</a:t>
            </a:r>
            <a:endParaRPr lang="en-US" sz="975" dirty="0"/>
          </a:p>
        </p:txBody>
      </p:sp>
      <p:sp>
        <p:nvSpPr>
          <p:cNvPr id="20" name="Text 15"/>
          <p:cNvSpPr txBox="1"/>
          <p:nvPr/>
        </p:nvSpPr>
        <p:spPr>
          <a:xfrm>
            <a:off x="6448349" y="3237890"/>
            <a:ext cx="5172761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100cy/85%: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86.8Ω(+182%)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CMBSRP 99/99%로 POR 동등,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0%(-100%p)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VMA 75%(-23%p) → ALD cycle 과다로 inhibitor selectivity breakdown → via bottom TaN 성장, Rc 상승 및 open</a:t>
            </a:r>
            <a:endParaRPr lang="en-US" sz="975" dirty="0"/>
          </a:p>
        </p:txBody>
      </p:sp>
      <p:sp>
        <p:nvSpPr>
          <p:cNvPr id="21" name="Text 16"/>
          <p:cNvSpPr txBox="1"/>
          <p:nvPr/>
        </p:nvSpPr>
        <p:spPr>
          <a:xfrm>
            <a:off x="6448349" y="3743554"/>
            <a:ext cx="5172761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50cy: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47.0Ω(+53%)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CMBSRP 99/98%로 POR 동등,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78%(-22%p)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VMA 82%(-16%p) → inhibitor 국부 pinhole 로 bottom TaN 초기 핵생성, Rc 상승 동반 open 추정</a:t>
            </a:r>
            <a:endParaRPr lang="en-US" sz="975" dirty="0"/>
          </a:p>
        </p:txBody>
      </p:sp>
      <p:sp>
        <p:nvSpPr>
          <p:cNvPr id="22" name="Text 17"/>
          <p:cNvSpPr txBox="1"/>
          <p:nvPr/>
        </p:nvSpPr>
        <p:spPr>
          <a:xfrm>
            <a:off x="6448349" y="4248302"/>
            <a:ext cx="5172761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100cy: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Via Rc 74.0Ω(+140%)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CMBSRP Open 88%(-12%p), </a:t>
            </a:r>
            <a:pPr algn="l" indent="0" marL="0">
              <a:lnSpc>
                <a:spcPct val="136000"/>
              </a:lnSpc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40%(-60%p)</a:t>
            </a:r>
            <a:pPr algn="l" indent="0" marL="0">
              <a:lnSpc>
                <a:spcPct val="136000"/>
              </a:lnSpc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VMA 82%(-16%p) → ALD cycle 과다로 inhibitor selectivity breakdown → via bottom TaN 성장, Rc 상승 및 open</a:t>
            </a:r>
            <a:endParaRPr lang="en-US" sz="975" dirty="0"/>
          </a:p>
        </p:txBody>
      </p:sp>
      <p:sp>
        <p:nvSpPr>
          <p:cNvPr id="23" name="Text 18"/>
          <p:cNvSpPr txBox="1"/>
          <p:nvPr/>
        </p:nvSpPr>
        <p:spPr>
          <a:xfrm>
            <a:off x="6448349" y="4782312"/>
            <a:ext cx="5172761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975" dirty="0"/>
          </a:p>
        </p:txBody>
      </p:sp>
      <p:sp>
        <p:nvSpPr>
          <p:cNvPr id="24" name="Text 19"/>
          <p:cNvSpPr txBox="1"/>
          <p:nvPr/>
        </p:nvSpPr>
        <p:spPr>
          <a:xfrm>
            <a:off x="6448349" y="4951476"/>
            <a:ext cx="5858561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- 45cy 는 POR 대비 전 항목 동등 → 후보 조건, 45cy/70%·100cy/85%·50cy·100cy 는 Open 열화</a:t>
            </a:r>
            <a:endParaRPr lang="en-US" sz="975" dirty="0"/>
          </a:p>
        </p:txBody>
      </p:sp>
      <p:sp>
        <p:nvSpPr>
          <p:cNvPr id="25" name="Text 20"/>
          <p:cNvSpPr txBox="1"/>
          <p:nvPr/>
        </p:nvSpPr>
        <p:spPr>
          <a:xfrm>
            <a:off x="6448349" y="5119726"/>
            <a:ext cx="5172761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- 100cy는 CMBSRP와 VCHN에서 같은 mode로 재현되어 split 기인으로 판단</a:t>
            </a:r>
            <a:endParaRPr lang="en-US" sz="975" dirty="0"/>
          </a:p>
        </p:txBody>
      </p:sp>
      <p:sp>
        <p:nvSpPr>
          <p:cNvPr id="26" name="Text 21"/>
          <p:cNvSpPr txBox="1"/>
          <p:nvPr/>
        </p:nvSpPr>
        <p:spPr>
          <a:xfrm>
            <a:off x="6448349" y="5287975"/>
            <a:ext cx="5172761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- 100cy/85% Open fail die 단면 분석 필요 (I2 DC 기준)</a:t>
            </a:r>
            <a:endParaRPr lang="en-US" sz="975" dirty="0"/>
          </a:p>
        </p:txBody>
      </p:sp>
      <p:sp>
        <p:nvSpPr>
          <p:cNvPr id="27" name="Text 22"/>
          <p:cNvSpPr txBox="1"/>
          <p:nvPr/>
        </p:nvSpPr>
        <p:spPr>
          <a:xfrm>
            <a:off x="6448349" y="5456225"/>
            <a:ext cx="5172761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HTOL/EM 진행 시 Cu recess 초기 대비 2~3배 증가 여부 monitor</a:t>
            </a:r>
            <a:endParaRPr lang="en-US" sz="975" dirty="0"/>
          </a:p>
        </p:txBody>
      </p:sp>
      <p:sp>
        <p:nvSpPr>
          <p:cNvPr id="28" name="Text 23"/>
          <p:cNvSpPr txBox="1"/>
          <p:nvPr/>
        </p:nvSpPr>
        <p:spPr>
          <a:xfrm>
            <a:off x="6448349" y="5625389"/>
            <a:ext cx="5172761" cy="17190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9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Cu/Ru 계면 O 함량 ToF-SIMS 확인 필요</a:t>
            </a:r>
            <a:endParaRPr lang="en-US" sz="975" dirty="0"/>
          </a:p>
        </p:txBody>
      </p:sp>
      <p:sp>
        <p:nvSpPr>
          <p:cNvPr id="29" name="Text 24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윤경수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38505" y="437998"/>
            <a:ext cx="10478110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9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I2 Via Rc cumulative distribution</a:t>
            </a:r>
            <a:endParaRPr lang="en-US" sz="1950" dirty="0"/>
          </a:p>
        </p:txBody>
      </p:sp>
      <p:sp>
        <p:nvSpPr>
          <p:cNvPr id="3" name="Text 1"/>
          <p:cNvSpPr txBox="1"/>
          <p:nvPr/>
        </p:nvSpPr>
        <p:spPr>
          <a:xfrm>
            <a:off x="571500" y="142920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POR median 30.8Ω</a:t>
            </a:r>
            <a:endParaRPr lang="en-US" sz="1275" dirty="0"/>
          </a:p>
        </p:txBody>
      </p:sp>
      <p:sp>
        <p:nvSpPr>
          <p:cNvPr id="4" name="Text 2"/>
          <p:cNvSpPr txBox="1"/>
          <p:nvPr/>
        </p:nvSpPr>
        <p:spPr>
          <a:xfrm>
            <a:off x="571500" y="168798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45cy median 28.6Ω (-7.2%)</a:t>
            </a:r>
            <a:endParaRPr lang="en-US" sz="1275" dirty="0"/>
          </a:p>
        </p:txBody>
      </p:sp>
      <p:sp>
        <p:nvSpPr>
          <p:cNvPr id="5" name="Text 3"/>
          <p:cNvSpPr txBox="1"/>
          <p:nvPr/>
        </p:nvSpPr>
        <p:spPr>
          <a:xfrm>
            <a:off x="571500" y="194675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45cy/70% median 40.9Ω (+32.8%)</a:t>
            </a:r>
            <a:endParaRPr lang="en-US" sz="1275" dirty="0"/>
          </a:p>
        </p:txBody>
      </p:sp>
      <p:sp>
        <p:nvSpPr>
          <p:cNvPr id="6" name="Text 4"/>
          <p:cNvSpPr txBox="1"/>
          <p:nvPr/>
        </p:nvSpPr>
        <p:spPr>
          <a:xfrm>
            <a:off x="571500" y="2206447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100cy/85% median 86.8Ω (+182.0%)</a:t>
            </a:r>
            <a:endParaRPr lang="en-US" sz="1275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2465222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50cy median 47.0Ω (+52.6%)</a:t>
            </a:r>
            <a:endParaRPr lang="en-US" sz="1275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2723998"/>
            <a:ext cx="3620110" cy="2670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100cy median 74.0Ω (+140.4%)</a:t>
            </a:r>
            <a:endParaRPr lang="en-US" sz="1275" dirty="0"/>
          </a:p>
        </p:txBody>
      </p:sp>
      <p:sp>
        <p:nvSpPr>
          <p:cNvPr id="9" name="Text 7"/>
          <p:cNvSpPr txBox="1"/>
          <p:nvPr/>
        </p:nvSpPr>
        <p:spPr>
          <a:xfrm>
            <a:off x="571500" y="2983687"/>
            <a:ext cx="3620110" cy="5239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040"/>
              </a:lnSpc>
              <a:buNone/>
            </a:pPr>
            <a:r>
              <a:rPr lang="en-US" sz="1275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45cy/70%·100cy/85%·100cy upper tail → via open성 fail 과 일치</a:t>
            </a:r>
            <a:endParaRPr lang="en-US" sz="1275" dirty="0"/>
          </a:p>
        </p:txBody>
      </p:sp>
      <p:pic>
        <p:nvPicPr>
          <p:cNvPr id="10" name="Image 0" descr="gen-dedup-0a67d44e5a27ac9e5940d3be25fc0741.png">    </p:cNvPr>
          <p:cNvPicPr>
            <a:picLocks noChangeAspect="1"/>
          </p:cNvPicPr>
          <p:nvPr/>
        </p:nvPicPr>
        <p:blipFill>
          <a:blip r:embed="rId1"/>
          <a:srcRect l="0" r="0" t="-1" b="-1"/>
          <a:stretch/>
        </p:blipFill>
        <p:spPr>
          <a:xfrm>
            <a:off x="4381805" y="1067105"/>
            <a:ext cx="7239305" cy="495330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6666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윤경수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2026-10-05T10:09:12Z</dcterms:created>
  <dcterms:modified xsi:type="dcterms:W3CDTF">2026-10-05T10:09:12Z</dcterms:modified>
</cp:coreProperties>
</file>