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CMBSRP Short die yield by split</a:t>
            </a:r>
            <a:endParaRPr lang="en-US" sz="2100" dirty="0"/>
          </a:p>
        </p:txBody>
      </p:sp>
      <p:pic>
        <p:nvPicPr>
          <p:cNvPr id="3" name="Image 0" descr="gen-dedup-52c9f988aaf231a91c39a861ae19399e.png">    </p:cNvPr>
          <p:cNvPicPr>
            <a:picLocks noChangeAspect="1"/>
          </p:cNvPicPr>
          <p:nvPr/>
        </p:nvPicPr>
        <p:blipFill>
          <a:blip r:embed="rId1"/>
          <a:srcRect l="0" r="0" t="-3" b="-3"/>
          <a:stretch/>
        </p:blipFill>
        <p:spPr>
          <a:xfrm>
            <a:off x="571500" y="1067105"/>
            <a:ext cx="7429500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382305" y="142920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97%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382305" y="168798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median 97%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382305" y="1946758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1.4 median 97%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382305" y="2206447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1.7 median 94%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382305" y="2465222"/>
            <a:ext cx="3238805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median 96%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하혜린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f9d3af580fc2467a3f78231f881acfc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00846" y="990295"/>
            <a:ext cx="1057046" cy="952805"/>
          </a:xfrm>
          <a:prstGeom prst="rect">
            <a:avLst/>
          </a:prstGeom>
        </p:spPr>
      </p:pic>
      <p:pic>
        <p:nvPicPr>
          <p:cNvPr id="3" name="Image 1" descr="gen-dedup-9efa8833d230cc117a9432b69c7c1c1b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34702" y="990295"/>
            <a:ext cx="1876349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QWMJM070.67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6124651" y="1981505"/>
            <a:ext cx="5496458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EDS mapping (Cu/Si/O/Ta) / Cu/liner/barrier TEM-EDS</a:t>
            </a:r>
            <a:endParaRPr lang="en-US" sz="825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24651" y="2266798"/>
          <a:ext cx="5496458" cy="2448763"/>
        </p:xfrm>
        <a:graphic>
          <a:graphicData uri="http://schemas.openxmlformats.org/drawingml/2006/table">
            <a:tbl>
              <a:tblPr/>
              <a:tblGrid>
                <a:gridCol w="669341"/>
                <a:gridCol w="669341"/>
                <a:gridCol w="831190"/>
                <a:gridCol w="831190"/>
                <a:gridCol w="831190"/>
                <a:gridCol w="831190"/>
                <a:gridCol w="832104"/>
              </a:tblGrid>
              <a:tr h="349823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(RDD4VB_2)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QWMJM_6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QWMJM_20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QWMJM_4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QWMJM_11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982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BM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2.0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 liner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1.4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TaN 1.7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Co liner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982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22.89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23.04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23.11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982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9823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49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4982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8" name="Text 3"/>
          <p:cNvSpPr txBox="1"/>
          <p:nvPr/>
        </p:nvSpPr>
        <p:spPr>
          <a:xfrm>
            <a:off x="819302" y="990295"/>
            <a:ext cx="5257800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I2 BM barrier/liner 변경 (Co liner, TaN 1.4, TaN 1.7) 평가</a:t>
            </a:r>
            <a:endParaRPr lang="en-US" sz="1200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461211"/>
            <a:ext cx="53245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(BM split, POR 대비)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571500" y="1677924"/>
            <a:ext cx="60030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(QWMJM_6):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Δ-0.01/-0.07, ASI 8.6로 POR과 근접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894637"/>
            <a:ext cx="6003036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1.4 (QWMJM_20):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Δ-0.03/+0.02, ASI 8.6로 POR과 근접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2110435"/>
            <a:ext cx="53245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1.7 (QWMJM_4):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Δ+0.12/+0.10로 변동 최대, ASI 8.8로 POR과 근접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2543861"/>
            <a:ext cx="60103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(QWMJM_11):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AASI/ASEI Δ+0.19/+0.03, ASI 8.8로 POR과 근접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798064"/>
            <a:ext cx="53245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3014777"/>
            <a:ext cx="60103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97%로 POR 동등, VCHN 100%로 POR 동등 → 유의차 없음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3230575"/>
            <a:ext cx="53245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1.4: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97%로 POR 동등,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72%(-28%p)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barrier 불연속 또는 pinch-off void 에 의한 via open 추정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664001"/>
            <a:ext cx="5839358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1.7: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95%로 POR 동등, VCHN 99%로 POR 동등 → 유의차 없음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879799"/>
            <a:ext cx="5929884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97%로 POR 동등, VCHN 98%로 POR 동등 → 유의차 없음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4134002"/>
            <a:ext cx="53245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571500" y="4350715"/>
            <a:ext cx="5324551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TaN 1.7 는 POR 대비 전 항목 동등 → 후보 조건, Co liner·TaN 1.4·Co liner 는 Open 열화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571500" y="4783226"/>
            <a:ext cx="5324551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Co liner Open fail die 단면 분석 필요 — EBAC 국소화 병행</a:t>
            </a:r>
            <a:endParaRPr lang="en-US" sz="1200" dirty="0"/>
          </a:p>
        </p:txBody>
      </p:sp>
      <p:sp>
        <p:nvSpPr>
          <p:cNvPr id="24" name="Text 19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하혜린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Via Rc cumulative distribution</a:t>
            </a:r>
            <a:endParaRPr lang="en-US" sz="1950" dirty="0"/>
          </a:p>
        </p:txBody>
      </p:sp>
      <p:pic>
        <p:nvPicPr>
          <p:cNvPr id="3" name="Image 0" descr="gen-dedup-dbb1d1eba46dcdeb8aa07f726399c633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571500" y="1067105"/>
            <a:ext cx="7239305" cy="495330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096098" y="133319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9.15</a:t>
            </a:r>
            <a:endParaRPr lang="en-US" sz="1275" dirty="0"/>
          </a:p>
        </p:txBody>
      </p:sp>
      <p:sp>
        <p:nvSpPr>
          <p:cNvPr id="5" name="Text 2"/>
          <p:cNvSpPr txBox="1"/>
          <p:nvPr/>
        </p:nvSpPr>
        <p:spPr>
          <a:xfrm>
            <a:off x="8096098" y="159288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median 9.63 (+5.2%)</a:t>
            </a:r>
            <a:endParaRPr lang="en-US" sz="1275" dirty="0"/>
          </a:p>
        </p:txBody>
      </p:sp>
      <p:sp>
        <p:nvSpPr>
          <p:cNvPr id="6" name="Text 3"/>
          <p:cNvSpPr txBox="1"/>
          <p:nvPr/>
        </p:nvSpPr>
        <p:spPr>
          <a:xfrm>
            <a:off x="8096098" y="1851660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1.4 median 9.50 (+3.8%)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096098" y="211043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1.7 median 9.11 (-0.4%)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096098" y="2370125"/>
            <a:ext cx="35250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median 9.48 (+3.6%)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096098" y="2628900"/>
            <a:ext cx="3942893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upper tail → open성 fail 과 일치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하혜린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 yield by split</a:t>
            </a:r>
            <a:endParaRPr lang="en-US" sz="2100" dirty="0"/>
          </a:p>
        </p:txBody>
      </p:sp>
      <p:pic>
        <p:nvPicPr>
          <p:cNvPr id="3" name="Image 0" descr="gen-dedup-b9c419b54608a8cc39df7fe0ccd74203.png">    </p:cNvPr>
          <p:cNvPicPr>
            <a:picLocks noChangeAspect="1"/>
          </p:cNvPicPr>
          <p:nvPr/>
        </p:nvPicPr>
        <p:blipFill>
          <a:blip r:embed="rId1"/>
          <a:srcRect l="-5" r="-5" t="0" b="0"/>
          <a:stretch/>
        </p:blipFill>
        <p:spPr>
          <a:xfrm>
            <a:off x="571500" y="1067105"/>
            <a:ext cx="7810805" cy="476219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8667598" y="1429207"/>
            <a:ext cx="219456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50" dirty="0"/>
          </a:p>
        </p:txBody>
      </p:sp>
      <p:sp>
        <p:nvSpPr>
          <p:cNvPr id="5" name="Text 2"/>
          <p:cNvSpPr txBox="1"/>
          <p:nvPr/>
        </p:nvSpPr>
        <p:spPr>
          <a:xfrm>
            <a:off x="8973007" y="1429207"/>
            <a:ext cx="962863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65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Summary</a:t>
            </a:r>
            <a:endParaRPr lang="en-US" sz="1650" dirty="0"/>
          </a:p>
        </p:txBody>
      </p:sp>
      <p:sp>
        <p:nvSpPr>
          <p:cNvPr id="6" name="Text 3"/>
          <p:cNvSpPr txBox="1"/>
          <p:nvPr/>
        </p:nvSpPr>
        <p:spPr>
          <a:xfrm>
            <a:off x="8667598" y="182148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최저: TaN 1.4 VCHN S 72%</a:t>
            </a:r>
            <a:endParaRPr lang="en-US" sz="1275" dirty="0"/>
          </a:p>
        </p:txBody>
      </p:sp>
      <p:sp>
        <p:nvSpPr>
          <p:cNvPr id="7" name="Text 4"/>
          <p:cNvSpPr txBox="1"/>
          <p:nvPr/>
        </p:nvSpPr>
        <p:spPr>
          <a:xfrm>
            <a:off x="8667598" y="208026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평균 99%</a:t>
            </a:r>
            <a:endParaRPr lang="en-US" sz="1275" dirty="0"/>
          </a:p>
        </p:txBody>
      </p:sp>
      <p:sp>
        <p:nvSpPr>
          <p:cNvPr id="8" name="Text 5"/>
          <p:cNvSpPr txBox="1"/>
          <p:nvPr/>
        </p:nvSpPr>
        <p:spPr>
          <a:xfrm>
            <a:off x="8667598" y="233903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평균 98%</a:t>
            </a:r>
            <a:endParaRPr lang="en-US" sz="1275" dirty="0"/>
          </a:p>
        </p:txBody>
      </p:sp>
      <p:sp>
        <p:nvSpPr>
          <p:cNvPr id="9" name="Text 6"/>
          <p:cNvSpPr txBox="1"/>
          <p:nvPr/>
        </p:nvSpPr>
        <p:spPr>
          <a:xfrm>
            <a:off x="8667598" y="2598725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1.4 평균 84%</a:t>
            </a:r>
            <a:endParaRPr lang="en-US" sz="1275" dirty="0"/>
          </a:p>
        </p:txBody>
      </p:sp>
      <p:sp>
        <p:nvSpPr>
          <p:cNvPr id="10" name="Text 7"/>
          <p:cNvSpPr txBox="1"/>
          <p:nvPr/>
        </p:nvSpPr>
        <p:spPr>
          <a:xfrm>
            <a:off x="8667598" y="285750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TaN 1.7 평균 97%</a:t>
            </a:r>
            <a:endParaRPr lang="en-US" sz="1275" dirty="0"/>
          </a:p>
        </p:txBody>
      </p:sp>
      <p:sp>
        <p:nvSpPr>
          <p:cNvPr id="11" name="Text 8"/>
          <p:cNvSpPr txBox="1"/>
          <p:nvPr/>
        </p:nvSpPr>
        <p:spPr>
          <a:xfrm>
            <a:off x="8667598" y="3117190"/>
            <a:ext cx="2953512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 liner 평균 98%</a:t>
            </a:r>
            <a:endParaRPr lang="en-US" sz="1275" dirty="0"/>
          </a:p>
        </p:txBody>
      </p:sp>
      <p:sp>
        <p:nvSpPr>
          <p:cNvPr id="12" name="Text 9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작성: LogicTD 하혜린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2026-10-05T09:57:11Z</dcterms:created>
  <dcterms:modified xsi:type="dcterms:W3CDTF">2026-10-05T09:57:11Z</dcterms:modified>
</cp:coreProperties>
</file>