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72" d="100"/>
          <a:sy n="72" d="100"/>
        </p:scale>
        <p:origin x="197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49FA4-0C3E-42F9-9D8A-7EBC69215829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9C9DC-AEEB-49CC-9069-0F2683111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2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C2AE-6D87-B346-07EF-BE933C45F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7611CE-0543-16B7-4B48-61E0A5DE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025E9-E5D7-3285-DE2D-FF5D8076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5CAF4-A076-F93B-71FD-D749B383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4C6E1-6DEE-692E-2004-30BCA7BB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3FB61-6ED0-C434-0258-2D114FAF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CC15F-D042-11F5-B56E-0BF28362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DC747-9389-D0B8-842A-AC4153C7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C212D-076B-A85B-146E-235639B6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67442-8C1F-6BA5-7ACC-EAE0A1E8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21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F13A3-A8A9-96AB-6D0A-8D39DC53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96C3BA-E997-664C-256A-231E0EBB1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5576B-1A97-C347-39D8-48575109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E7BDE-92D9-0EDD-6FC6-2439479E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CC2B7-ECBE-B406-689F-70FCA040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4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8EA4C-6C15-502C-1A9F-D8481BBE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FB290-7776-FA46-70A0-5CD031EC2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14ECA-ABA6-94D7-5F06-9EC817CD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A897AE-A20C-7683-6811-6E554FB6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B63ED4-4DE5-542E-9944-F54AFAB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7AC31B-4C3C-0A80-F4DD-D872E839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42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D5E4C-DCA1-63BC-EC50-A23A7952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3D5230-2D50-7415-7451-D511BF7C5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F65B91-D4B3-2D58-D40A-98DE847A8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F6BA70-EE72-DD3F-BAFD-B599844A9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3CF87B-95CD-AE4C-D7D2-A8852AC17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4C4F96-CEFE-0FE5-CDDE-6584EF3D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A70206-2E6C-A182-37F3-F2CFAC77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23FBDC-A35E-7ACD-4EDB-05832FF3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24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8341A-3076-E181-AB8D-09D0EBD2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37EB34-7626-72EC-D9E1-E5297C5FE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01553F-FAA2-5961-9053-94548104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E47583-DFF4-9C83-FCB8-117934F0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03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54A443-276F-E5E9-A41C-8493647A1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449FE2-8AA9-6E53-E7FF-03F29C6E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587184-E6B7-486B-E454-16A59353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09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CAE0D-28E3-65F6-42E8-E7B19BE8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BF963-D61A-26B5-EC92-28674C89A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DAF8FA-E407-5F27-1F3E-1D0C3F1CE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44103-72EF-05A4-4F74-B7CC68A3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86F529-E930-72A3-4D03-F2C5A072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38EA52-57C0-9493-9F9A-A120CE16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517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C24E3-6121-3994-6401-E2FDA0F1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C57273-A3E7-3917-B353-4B01FA97FF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FD2DAF-9614-EF33-D061-B58055B3B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A1DD0-9D22-65DB-0A00-6A1116A7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439F52-90D5-0C7C-343F-DE436630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C12F5E-37B5-5451-D6EE-5BB8D131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24B53-066B-D5F7-6A21-B4B3A593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E487E0-3EAA-2A0F-D872-63A10A632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608689-77F3-15B0-5192-0FED40D5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774E6D-9A58-3CE3-4753-775C580A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F0ED2-0154-1095-E6DC-A6F94C19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51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809112-0BC2-14F7-17E2-5BE1CDEFA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A8BA3C-27B7-47FE-9552-D8FA56D16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624703-8D7E-6151-C50D-CFC36439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A4F109-BF59-1A94-1706-573566F7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6D914-E786-25A5-2791-35A6B09A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201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9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866FF0-067D-82FD-B023-C4ACB97E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B615AE-8BB0-83E1-28DA-35037C9A6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A50D32-624D-AD25-8D54-258E6ACE0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420B2-55E9-4540-8240-A6ECE1FE997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33C15-C07B-8263-299D-AE0A8DEA1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8B86CE-59F5-4134-6B43-0671A84D9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ECF4A-657B-40C2-ACB8-755D78860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17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98" y="1067105"/>
            <a:ext cx="3200400" cy="838505"/>
          </a:xfrm>
          <a:prstGeom prst="rect">
            <a:avLst/>
          </a:prstGeom>
        </p:spPr>
      </p:pic>
      <p:pic>
        <p:nvPicPr>
          <p:cNvPr id="3" name="Image 1" descr="gen-dedup-b75414675fdda3cebdc49e7c34b11c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807" y="1067105"/>
            <a:ext cx="1837944" cy="8385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KVED RXAJY071.65 </a:t>
            </a: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6012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HCLK demo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</a:t>
            </a:r>
            <a:r>
              <a:rPr lang="en-US" altLang="ko-KR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76400"/>
            <a:ext cx="54356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(LK depo / Trench etch split, POR 대비)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(RXAJY_7):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AASI/ASEI Δ+0.44/+0.50, ACI A측만 9.6으로 POR 대비 +1.6 확대 (B측 8.2 동등)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(RXAJY_8):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AASI/ASEI Δ+1.41/+1.52로 변동 최대, AMI 9.6/9.8 · ACI 9.4/9.7로 전 구간 +1.0~1.4 확대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HCLK/T21 (RXAJY_9):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AASI/ASEI Δ-0.18/-0.11, AMI 8.7/9.2 · ACI 8.1/8.9로 POR과 근접</a:t>
            </a:r>
          </a:p>
          <a:p>
            <a:pPr marL="0" indent="0" algn="l">
              <a:lnSpc>
                <a:spcPts val="1913"/>
              </a:lnSpc>
              <a:spcBef>
                <a:spcPts val="600"/>
              </a:spcBef>
              <a:buNone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100/100%로 POR 동등, </a:t>
            </a: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50%(-50%p) · Short 79%(-21%p)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70%(-30%p), </a:t>
            </a: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0%(-100%p)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확대로 space 감소, bridge성 short 지배적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HCLK: 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43%(-57%p), </a:t>
            </a: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27%(-73%p)</a:t>
            </a: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CD는 POR 수준이므로 LK 막질 변경에 따른 fill/계면 불량 의심</a:t>
            </a:r>
          </a:p>
          <a:p>
            <a:pPr marL="0" indent="0" algn="l">
              <a:lnSpc>
                <a:spcPts val="1913"/>
              </a:lnSpc>
              <a:spcBef>
                <a:spcPts val="600"/>
              </a:spcBef>
              <a:buNone/>
            </a:pPr>
            <a:r>
              <a:rPr lang="ko-KR" altLang="en-US" sz="12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전 항목 동등한 split 없음, fail mode는 split별로 구분됨 (T3 VCHN / T4 Short / HCLK Open)</a:t>
            </a:r>
          </a:p>
          <a:p>
            <a:pPr marL="171450" indent="-171450" algn="l">
              <a:lnSpc>
                <a:spcPts val="1913"/>
              </a:lnSpc>
              <a:buFont typeface="Malgun Gothic"/>
              <a:buChar char="-"/>
            </a:pPr>
            <a:r>
              <a:rPr lang="ko-KR" alt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T4·HCLK는 CMBSRP와 VCHN에서 같은 mode로 재현되어 split 기인으로 판단, HCLK Open fail die 단면 분석 필요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6381598" y="1943100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FSAV TEM (Mx / Mx+1)</a:t>
            </a:r>
            <a:endParaRPr lang="en-US" sz="825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325433" y="2785889"/>
          <a:ext cx="5237464" cy="3215834"/>
        </p:xfrm>
        <a:graphic>
          <a:graphicData uri="http://schemas.openxmlformats.org/drawingml/2006/table">
            <a:tbl>
              <a:tblPr/>
              <a:tblGrid>
                <a:gridCol w="839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793284629"/>
                    </a:ext>
                  </a:extLst>
                </a:gridCol>
                <a:gridCol w="944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POR(RXE1T_3)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RXAJY_7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RXAJY_8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RXAJY_9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LK depo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HDLK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HDLK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HDLK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HCLK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523021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Trench etch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POR(-T3)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T3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T4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T21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22181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8.7/9.2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8.0/8.3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8.1/8.9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451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CMBSRP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Open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43%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451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Short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70%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86976"/>
                  </a:ext>
                </a:extLst>
              </a:tr>
              <a:tr h="177451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VCHN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Open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50%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27%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451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Short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79%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449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57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D0DBF8F-B715-4D22-A213-DE313555981A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0aac56e4-ba78-4994-beff-a3b8d51d311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76A14A7-DB97-461B-A9C7-5BA47F29951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1a373b0a-db2b-49dc-af25-1c7219b6a5a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366</Words>
  <Application>Microsoft Office PowerPoint</Application>
  <PresentationFormat>와이드스크린</PresentationFormat>
  <Paragraphs>75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Robong _e</dc:creator>
  <cp:lastModifiedBy>Robong _e</cp:lastModifiedBy>
  <cp:revision>4</cp:revision>
  <dcterms:created xsi:type="dcterms:W3CDTF">2026-10-05T08:20:57Z</dcterms:created>
  <dcterms:modified xsi:type="dcterms:W3CDTF">2026-10-05T08:47:22Z</dcterms:modified>
</cp:coreProperties>
</file>