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09b5de32318dd47d40652fe27cc7fec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67105"/>
            <a:ext cx="4095598" cy="2076602"/>
          </a:xfrm>
          <a:prstGeom prst="rect">
            <a:avLst/>
          </a:prstGeom>
        </p:spPr>
      </p:pic>
      <p:pic>
        <p:nvPicPr>
          <p:cNvPr id="3" name="Image 1" descr="gen-dedup-389e498a7504d0c750b85e053ad6d66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907" y="1067105"/>
            <a:ext cx="4466844" cy="2076602"/>
          </a:xfrm>
          <a:prstGeom prst="rect">
            <a:avLst/>
          </a:prstGeom>
        </p:spPr>
      </p:pic>
      <p:pic>
        <p:nvPicPr>
          <p:cNvPr id="4" name="Image 2" descr="gen-dedup-bfd4229567a6020de77c6fdd85764e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6705" y="1067105"/>
            <a:ext cx="2314346" cy="207660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350V fail die 단면 분석</a:t>
            </a:r>
            <a:endParaRPr lang="en-US" sz="210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3181198"/>
            <a:ext cx="11049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Cu/liner/barrier TEM-EDS / Cu DD trench/via X-SEM / EDS mapping (Cu/Si/O/Ta)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56250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bottom void 및 pinch-off 흔적 관찰 (2/3 site)</a:t>
            </a:r>
            <a:endParaRPr lang="en-US" sz="1275" dirty="0"/>
          </a:p>
        </p:txBody>
      </p:sp>
      <p:sp>
        <p:nvSpPr>
          <p:cNvPr id="8" name="Text 3"/>
          <p:cNvSpPr txBox="1"/>
          <p:nvPr/>
        </p:nvSpPr>
        <p:spPr>
          <a:xfrm>
            <a:off x="571500" y="382127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chamfer 부 barrier overhang 확인</a:t>
            </a:r>
            <a:endParaRPr lang="en-US" sz="127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408096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대상: RQE8IA_11 (350V)</a:t>
            </a:r>
            <a:endParaRPr lang="en-US" sz="1275" dirty="0"/>
          </a:p>
        </p:txBody>
      </p:sp>
      <p:sp>
        <p:nvSpPr>
          <p:cNvPr id="10" name="Text 5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지나연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 / Short yield 비교</a:t>
            </a:r>
            <a:endParaRPr lang="en-US" sz="2100" dirty="0"/>
          </a:p>
        </p:txBody>
      </p:sp>
      <p:pic>
        <p:nvPicPr>
          <p:cNvPr id="3" name="Image 0" descr="gen-dedup-c0c83e18212b85543d47bba56aa30b11.png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571500" y="1067105"/>
            <a:ext cx="7810805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67598" y="14292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8973007" y="1429207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667598" y="182148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최저: 600V CMBSRP S 70%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667598" y="208026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평균 100%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667598" y="233903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600V 평균 89%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667598" y="259872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pulsed 평균 98%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8667598" y="285750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350V 평균 92%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8667598" y="311719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pulsed 평균 96%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지나연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Fail die count (ea / 49 die)</a:t>
            </a:r>
            <a:endParaRPr lang="en-US" sz="2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1067105"/>
          <a:ext cx="7629754" cy="1962302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1257300"/>
                <a:gridCol w="1257300"/>
                <a:gridCol w="1257300"/>
                <a:gridCol w="1257300"/>
                <a:gridCol w="1257300"/>
              </a:tblGrid>
              <a:tr h="32705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(QOEEI_8)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RQE8IA_4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RQE8IA_12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RQE8IA_11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RQE8IA_20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27050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27050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Total die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1500" y="325800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600V: Short fail die 집중 (CMBSRP/VCHN)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571500" y="3516782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350V: Open fail die 집중 (CMBSRP)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지나연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c61b164fe7c1f1c69907768c3800c5f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238098"/>
            <a:ext cx="7619695" cy="2419502"/>
          </a:xfrm>
          <a:prstGeom prst="rect">
            <a:avLst/>
          </a:prstGeom>
        </p:spPr>
      </p:pic>
      <p:pic>
        <p:nvPicPr>
          <p:cNvPr id="3" name="Image 1" descr="gen-dedup-389e498a7504d0c750b85e053ad6d66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305" y="952805"/>
            <a:ext cx="3238805" cy="14950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SF0.7 KVKB RQE8IA.6C ET results</a:t>
            </a:r>
            <a:endParaRPr lang="en-US" sz="2250" dirty="0"/>
          </a:p>
        </p:txBody>
      </p:sp>
      <p:sp>
        <p:nvSpPr>
          <p:cNvPr id="5" name="Shape 1"/>
          <p:cNvSpPr/>
          <p:nvPr/>
        </p:nvSpPr>
        <p:spPr>
          <a:xfrm>
            <a:off x="571500" y="961949"/>
            <a:ext cx="761695" cy="228600"/>
          </a:xfrm>
          <a:prstGeom prst="roundRect">
            <a:avLst>
              <a:gd name="adj" fmla="val 12400"/>
            </a:avLst>
          </a:prstGeom>
          <a:solidFill>
            <a:srgbClr val="C628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71500" y="961949"/>
            <a:ext cx="7626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test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8382305" y="2486254"/>
            <a:ext cx="3238805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trench/via X-SEM</a:t>
            </a:r>
            <a:endParaRPr lang="en-US" sz="825" dirty="0"/>
          </a:p>
        </p:txBody>
      </p:sp>
      <p:sp>
        <p:nvSpPr>
          <p:cNvPr id="8" name="Text 4"/>
          <p:cNvSpPr txBox="1"/>
          <p:nvPr/>
        </p:nvSpPr>
        <p:spPr>
          <a:xfrm>
            <a:off x="571500" y="3771900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9" name="Text 5"/>
          <p:cNvSpPr txBox="1"/>
          <p:nvPr/>
        </p:nvSpPr>
        <p:spPr>
          <a:xfrm>
            <a:off x="800100" y="3771900"/>
            <a:ext cx="4877410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F4 trench etch bias 350V, 600V, pulsed 조건 평가 (PID 영향)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71500" y="3961181"/>
            <a:ext cx="13350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800100" y="3961181"/>
            <a:ext cx="71780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71500" y="4188866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(Etch bias split, POR 대비)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4378147"/>
            <a:ext cx="7028078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600V (RQE8IA_4):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Δ+0.59/+0.25로 변동 최대, ACI 8.6/8.7 (POR 8.1/8.3) 소폭 상향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4567428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pulsed (RQE8IA_12):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Δ-0.03/-0.03, ACI 8.2/8.4 · AEI 7.9로 POR과 근접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571500" y="4756709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350V (RQE8IA_11):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Δ-0.09/-0.08, ACI 7.9/8.2 · AEI 7.8로 POR과 근접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71500" y="4945990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pulsed (RQE8IA_20):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Δ-0.01/+0.19, ACI 8.2/8.4 · AEI 8.0로 POR과 근접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71500" y="5173675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5362956"/>
            <a:ext cx="66678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600V:</a:t>
            </a:r>
            <a:pPr algn="l" indent="0" marL="0">
              <a:lnSpc>
                <a:spcPts val="1491"/>
              </a:lnSpc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70%(-29%p)</a:t>
            </a:r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Short 89%(-11%p) → bottom low-k PID(C-H 결합 손실)로 k 상승 및 leakage성 short 추정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571500" y="5741518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pulsed: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96%(-4%p)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98/99%로 POR 동등 → 전 item POR 동등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71500" y="5930798"/>
            <a:ext cx="729965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350V: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75%(-25%p)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99/98%로 POR 동등 → CD 축소로 line 단면적 감소, open 열화</a:t>
            </a:r>
            <a:endParaRPr lang="en-US" sz="1050" dirty="0"/>
          </a:p>
        </p:txBody>
      </p:sp>
      <p:sp>
        <p:nvSpPr>
          <p:cNvPr id="21" name="Text 17"/>
          <p:cNvSpPr txBox="1"/>
          <p:nvPr/>
        </p:nvSpPr>
        <p:spPr>
          <a:xfrm>
            <a:off x="571500" y="6120079"/>
            <a:ext cx="6667805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pulsed:</a:t>
            </a:r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Open 94%(-6%p)</a:t>
            </a:r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VCHN 97/97%로 POR 동등 → 전 item POR 동등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7524598" y="3810305"/>
            <a:ext cx="40965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50" dirty="0"/>
          </a:p>
        </p:txBody>
      </p:sp>
      <p:sp>
        <p:nvSpPr>
          <p:cNvPr id="23" name="Text 19"/>
          <p:cNvSpPr txBox="1"/>
          <p:nvPr/>
        </p:nvSpPr>
        <p:spPr>
          <a:xfrm>
            <a:off x="7524598" y="3999586"/>
            <a:ext cx="40965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pulsed·pulsed 는 POR 대비 전 항목 동등 → 후보 조건, 600V·350V 는 Open/Short 열화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7524598" y="4378147"/>
            <a:ext cx="40965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- 600V는 CMBSRP와 VCHN에서 같은 mode로 재현되어 split 기인으로 판단</a:t>
            </a:r>
            <a:endParaRPr lang="en-US" sz="1050" dirty="0"/>
          </a:p>
        </p:txBody>
      </p:sp>
      <p:sp>
        <p:nvSpPr>
          <p:cNvPr id="25" name="Text 21"/>
          <p:cNvSpPr txBox="1"/>
          <p:nvPr/>
        </p:nvSpPr>
        <p:spPr>
          <a:xfrm>
            <a:off x="7524598" y="4756709"/>
            <a:ext cx="4096512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- 350V Open fail die 단면 분석 필요 — EBAC 국소화 병행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7524598" y="4945990"/>
            <a:ext cx="4626864" cy="191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via chamfer 무너짐 / top pinch-off void 여부 TEM 확인 예정</a:t>
            </a:r>
            <a:endParaRPr lang="en-US" sz="1050" dirty="0"/>
          </a:p>
        </p:txBody>
      </p:sp>
      <p:sp>
        <p:nvSpPr>
          <p:cNvPr id="27" name="Text 23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지나연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2026-10-05T09:57:46Z</dcterms:created>
  <dcterms:modified xsi:type="dcterms:W3CDTF">2026-10-05T09:57:46Z</dcterms:modified>
</cp:coreProperties>
</file>