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AMI CD wafer map</a:t>
            </a:r>
            <a:endParaRPr lang="en-US" sz="2100" dirty="0"/>
          </a:p>
        </p:txBody>
      </p:sp>
      <p:pic>
        <p:nvPicPr>
          <p:cNvPr id="3" name="Image 0" descr="gen-dedup-f8cfeb3653bed53741ddde6222cdf983.png">    </p:cNvPr>
          <p:cNvPicPr>
            <a:picLocks noChangeAspect="1"/>
          </p:cNvPicPr>
          <p:nvPr/>
        </p:nvPicPr>
        <p:blipFill>
          <a:blip r:embed="rId1"/>
          <a:srcRect l="-6" r="-6" t="0" b="0"/>
          <a:stretch/>
        </p:blipFill>
        <p:spPr>
          <a:xfrm>
            <a:off x="571500" y="1067105"/>
            <a:ext cx="3581705" cy="4095598"/>
          </a:xfrm>
          <a:prstGeom prst="rect">
            <a:avLst/>
          </a:prstGeom>
        </p:spPr>
      </p:pic>
      <p:pic>
        <p:nvPicPr>
          <p:cNvPr id="4" name="Image 1" descr="gen-dedup-701317a2d4e98d976e95bf108ca432e8.png">    </p:cNvPr>
          <p:cNvPicPr>
            <a:picLocks noChangeAspect="1"/>
          </p:cNvPicPr>
          <p:nvPr/>
        </p:nvPicPr>
        <p:blipFill>
          <a:blip r:embed="rId2"/>
          <a:srcRect l="-6" r="-6" t="0" b="0"/>
          <a:stretch/>
        </p:blipFill>
        <p:spPr>
          <a:xfrm>
            <a:off x="4304995" y="1067105"/>
            <a:ext cx="3581705" cy="4095598"/>
          </a:xfrm>
          <a:prstGeom prst="rect">
            <a:avLst/>
          </a:prstGeom>
        </p:spPr>
      </p:pic>
      <p:pic>
        <p:nvPicPr>
          <p:cNvPr id="5" name="Image 2" descr="gen-dedup-af8582b52511edb2346b0caaf863090a.png">    </p:cNvPr>
          <p:cNvPicPr>
            <a:picLocks noChangeAspect="1"/>
          </p:cNvPicPr>
          <p:nvPr/>
        </p:nvPicPr>
        <p:blipFill>
          <a:blip r:embed="rId3"/>
          <a:srcRect l="-6" r="-6" t="0" b="0"/>
          <a:stretch/>
        </p:blipFill>
        <p:spPr>
          <a:xfrm>
            <a:off x="8039405" y="1067105"/>
            <a:ext cx="3581705" cy="4095598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71500" y="5352898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Propargylamine: AMI 9.0 (POR 8.9), edge 편차 POR 수준</a:t>
            </a:r>
            <a:endParaRPr lang="en-US" sz="1275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5612587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PEM: AMI 9.0 (POR 8.9), edge 편차 POR 수준</a:t>
            </a:r>
            <a:endParaRPr lang="en-US" sz="1275" dirty="0"/>
          </a:p>
        </p:txBody>
      </p:sp>
      <p:sp>
        <p:nvSpPr>
          <p:cNvPr id="8" name="Text 3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 TD 모수빈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e5d7c3aea6e36bf0beb2f3391b232f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067105"/>
            <a:ext cx="3305556" cy="2952598"/>
          </a:xfrm>
          <a:prstGeom prst="rect">
            <a:avLst/>
          </a:prstGeom>
        </p:spPr>
      </p:pic>
      <p:pic>
        <p:nvPicPr>
          <p:cNvPr id="3" name="Image 1" descr="gen-dedup-09b5de32318dd47d40652fe27cc7fec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951" y="1067105"/>
            <a:ext cx="5810098" cy="295259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Physical failure analysis (X-SEM / TEM)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571500" y="4058107"/>
            <a:ext cx="11049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Barrier/Cu 계면 HR-TEM / Cu/liner/barrier TEM-EDS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71500" y="4438498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chamfer 부 barrier overhang 확인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571500" y="4698187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bottom void 및 pinch-off 흔적 관찰 (2/3 site)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4956962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대상: RDNC9B_12 (ODT)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 TD 모수빈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Line Rs cumulative distribution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51.05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Propargylamine median 50.34 (-1.4%)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ODT median 50.92 (-0.2%)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220644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PEM median 50.35 (-1.4%)</a:t>
            </a:r>
            <a:endParaRPr lang="en-US" sz="1275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246522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Propargylamine median 50.59 (-0.9%)</a:t>
            </a:r>
            <a:endParaRPr lang="en-US" sz="1275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272399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ODT upper tail → open성 fail 과 일치</a:t>
            </a:r>
            <a:endParaRPr lang="en-US" sz="1275" dirty="0"/>
          </a:p>
        </p:txBody>
      </p:sp>
      <p:pic>
        <p:nvPicPr>
          <p:cNvPr id="9" name="Image 0" descr="gen-dedup-96ca45ce27baf966f941ed19585a1535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4381805" y="1067105"/>
            <a:ext cx="7239305" cy="49533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 TD 모수빈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e8ceefef3c984dcaa74f08d53f8d8b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238098"/>
            <a:ext cx="7619695" cy="2762402"/>
          </a:xfrm>
          <a:prstGeom prst="rect">
            <a:avLst/>
          </a:prstGeom>
        </p:spPr>
      </p:pic>
      <p:pic>
        <p:nvPicPr>
          <p:cNvPr id="3" name="Image 1" descr="gen-dedup-1bf0100bee0aaf64bfa0779342ce909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305" y="952805"/>
            <a:ext cx="1143000" cy="1019556"/>
          </a:xfrm>
          <a:prstGeom prst="rect">
            <a:avLst/>
          </a:prstGeom>
        </p:spPr>
      </p:pic>
      <p:pic>
        <p:nvPicPr>
          <p:cNvPr id="4" name="Image 2" descr="gen-dedup-ff36e41c23871cf48717d961af1ef8f7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952805"/>
            <a:ext cx="2009851" cy="1019556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 KVKA RDNC9B.6B ET results</a:t>
            </a:r>
            <a:endParaRPr lang="en-US" sz="2100" dirty="0"/>
          </a:p>
        </p:txBody>
      </p:sp>
      <p:sp>
        <p:nvSpPr>
          <p:cNvPr id="6" name="Shape 1"/>
          <p:cNvSpPr/>
          <p:nvPr/>
        </p:nvSpPr>
        <p:spPr>
          <a:xfrm>
            <a:off x="571500" y="961949"/>
            <a:ext cx="761695" cy="228600"/>
          </a:xfrm>
          <a:prstGeom prst="roundRect">
            <a:avLst>
              <a:gd name="adj" fmla="val 12400"/>
            </a:avLst>
          </a:prstGeom>
          <a:solidFill>
            <a:srgbClr val="C628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571500" y="961949"/>
            <a:ext cx="7626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test</a:t>
            </a:r>
            <a:endParaRPr lang="en-US" sz="1050" dirty="0"/>
          </a:p>
        </p:txBody>
      </p:sp>
      <p:sp>
        <p:nvSpPr>
          <p:cNvPr id="8" name="Text 3"/>
          <p:cNvSpPr txBox="1"/>
          <p:nvPr/>
        </p:nvSpPr>
        <p:spPr>
          <a:xfrm>
            <a:off x="8382305" y="2009851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EDS mapping (Cu/Si/O/Ta) / Cu/liner/barrier TEM-EDS</a:t>
            </a:r>
            <a:endParaRPr lang="en-US" sz="825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4114800"/>
            <a:ext cx="12435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780898" y="4114800"/>
            <a:ext cx="408005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ASD inhibitor (ODT, PEM, Propargylamine) 적용 평가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571500" y="4270248"/>
            <a:ext cx="12435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780898" y="4270248"/>
            <a:ext cx="61539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4454042"/>
            <a:ext cx="6667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(Inhibitor split, POR 대비)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4609490"/>
            <a:ext cx="6667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Propargylamine (RDNC9B_7):</a:t>
            </a:r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Δ+0.18/+0.05, AMI 9.0 · ACI 8.0/8.5로 POR과 근접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4764938"/>
            <a:ext cx="6667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ODT (RDNC9B_12):</a:t>
            </a:r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Δ-0.03/+0.04, AMI 8.8 · ACI 8.0/8.5로 POR과 근접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4920386"/>
            <a:ext cx="6667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PEM (RDNC9B_14):</a:t>
            </a:r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Δ+0.19/-0.06로 변동 최대, AMI 9.0 · ACI 8.0/8.4로 POR과 근접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5075834"/>
            <a:ext cx="6667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Propargylamine (RDNC9B_18):</a:t>
            </a:r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Δ+0.04/+0.09, AMI 8.9 · ACI 8.0/8.6로 POR과 근접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5259629"/>
            <a:ext cx="6667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VCHN)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571500" y="5415077"/>
            <a:ext cx="713689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Propargylamine: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41.5Ω(-36%)</a:t>
            </a:r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CMBSRP 99/99%로 POR 동등, VCHN 97/99%로 POR 동등 → 전 item POR 동등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" y="5570525"/>
            <a:ext cx="66678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ODT:</a:t>
            </a:r>
            <a:pPr algn="l" indent="0" marL="0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105.9Ω(+63%)</a:t>
            </a:r>
            <a:pPr algn="l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CMBSRP Open 86%(-14%p), </a:t>
            </a:r>
            <a:pPr algn="l" indent="0" marL="0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60%(-38%p)</a:t>
            </a:r>
            <a:pPr algn="l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ODT 저온 한계(~100°C) 초과로 탈착 → selectivity 상실, Rc 상승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571500" y="5881421"/>
            <a:ext cx="6667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PEM: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46.7Ω(-28%)</a:t>
            </a:r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CMBSRP 98/98%로 POR 동등, 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Short 96%(-4%p)</a:t>
            </a:r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전 item POR 동등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571500" y="6036869"/>
            <a:ext cx="6667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Propargylamine:</a:t>
            </a:r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41.7Ω(-36%)</a:t>
            </a:r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CMBSRP 99/99%로 POR 동등, VCHN 96/98%로 POR 동등 → 유의차 없음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7524598" y="4143146"/>
            <a:ext cx="40965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7524598" y="4298594"/>
            <a:ext cx="40965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Propargylamine·PEM·Propargylamine 는 POR 대비 전 항목 동등 → 후보 조건, ODT 는 Open 열화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7524598" y="4609490"/>
            <a:ext cx="40965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ODT는 CMBSRP와 VCHN에서 같은 mode로 재현되어 split 기인으로 판단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7524598" y="4764938"/>
            <a:ext cx="40965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ODT Open fail die 단면 분석 필요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7524598" y="4920386"/>
            <a:ext cx="40965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측벽 fence / residue 여부 TEM 확인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 TD 모수빈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2026-10-05T10:08:48Z</dcterms:created>
  <dcterms:modified xsi:type="dcterms:W3CDTF">2026-10-05T10:08:48Z</dcterms:modified>
</cp:coreProperties>
</file>