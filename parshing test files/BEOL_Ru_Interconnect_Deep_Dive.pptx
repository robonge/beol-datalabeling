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3474720"/>
          </a:xfrm>
          <a:prstGeom prst="rect">
            <a:avLst/>
          </a:prstGeom>
          <a:noFill/>
        </p:spPr>
        <p:txBody>
          <a:bodyPr wrap="square" anchor="ctr" lIns="0" tIns="0" rIns="0" bIns="0">
            <a:spAutoFit/>
          </a:bodyPr>
          <a:lstStyle/>
          <a:p>
            <a:pPr>
              <a:spcAft>
                <a:spcPts val="1200"/>
              </a:spcAft>
            </a:pPr>
            <a:r>
              <a:rPr sz="1300" b="1">
                <a:solidFill>
                  <a:srgbClr val="38BDF8"/>
                </a:solidFill>
                <a:latin typeface="Noto Sans CJK KR"/>
              </a:rPr>
              <a:t>IMEC RESEARCH &amp; IEEE/IITC LATEST TRENDS</a:t>
            </a:r>
          </a:p>
          <a:p>
            <a:pPr>
              <a:spcAft>
                <a:spcPts val="1600"/>
              </a:spcAft>
            </a:pPr>
            <a:r>
              <a:rPr sz="3600" b="1">
                <a:solidFill>
                  <a:srgbClr val="F8FAFC"/>
                </a:solidFill>
                <a:latin typeface="Noto Sans CJK KR"/>
              </a:rPr>
              <a:t>차세대 BEOL 반도체 배선을 위한
Ruthenium(Ru) Interconnect 기술</a:t>
            </a:r>
          </a:p>
          <a:p>
            <a:pPr>
              <a:spcAft>
                <a:spcPts val="2000"/>
              </a:spcAft>
            </a:pPr>
            <a:r>
              <a:rPr sz="1900">
                <a:solidFill>
                  <a:srgbClr val="94A3B8"/>
                </a:solidFill>
                <a:latin typeface="Noto Sans CJK KR"/>
              </a:rPr>
              <a:t>IMEC 연구 성과 및 최신 동향 심층 분석 보고서</a:t>
            </a:r>
          </a:p>
          <a:p>
            <a:r>
              <a:rPr sz="1300">
                <a:solidFill>
                  <a:srgbClr val="38BDF8"/>
                </a:solidFill>
                <a:latin typeface="Noto Sans CJK KR"/>
              </a:rPr>
              <a:t>차세대 반도체 배선 패러다임 리포트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1. 서론 (INTRODUCTION) — 1/2</a:t>
            </a:r>
          </a:p>
          <a:p>
            <a:pPr algn="l"/>
            <a:r>
              <a:rPr sz="2400" b="1">
                <a:solidFill>
                  <a:srgbClr val="0F172A"/>
                </a:solidFill>
                <a:latin typeface="Noto Sans CJK KR"/>
              </a:rPr>
              <a:t>초미세 공정의 BEOL 병목 현상과 구리(Cu) 배선의 한계</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FEOL TO BEOL BOTTLENECK</a:t>
            </a:r>
          </a:p>
          <a:p>
            <a:pPr algn="l">
              <a:spcAft>
                <a:spcPts val="400"/>
              </a:spcAft>
            </a:pPr>
            <a:r>
              <a:rPr sz="1500" b="1">
                <a:solidFill>
                  <a:srgbClr val="0F172A"/>
                </a:solidFill>
                <a:latin typeface="Noto Sans CJK KR"/>
              </a:rPr>
              <a:t>3nm/2nm 노드 진입과 배선 병목 심화</a:t>
            </a:r>
          </a:p>
          <a:p>
            <a:pPr algn="l">
              <a:lnSpc>
                <a:spcPct val="115000"/>
              </a:lnSpc>
              <a:spcAft>
                <a:spcPts val="400"/>
              </a:spcAft>
            </a:pPr>
            <a:r>
              <a:rPr sz="1100">
                <a:solidFill>
                  <a:srgbClr val="1E293B"/>
                </a:solidFill>
                <a:latin typeface="Noto Sans CJK KR"/>
              </a:rPr>
              <a:t>초미세 반도체 제조 공정이 3nm 노드를 넘어 2nm 및 옹스트롬(Angstrom, A7) 단위의 시대로 진입함에 따라, 반도체 칩의 전반적인 컴퓨팅 성능과 전력 효율을 결정짓는 핵심 병목 현상은 더 이상 트랜지스터 전공정(Front-End-Of-Line, FEOL)에 머무르지 않고 후공정 배선(Back-End-Of-Line, BEOL)으로 급격히 이동하고 있다.</a:t>
            </a:r>
          </a:p>
          <a:p>
            <a:pPr algn="l">
              <a:lnSpc>
                <a:spcPct val="115000"/>
              </a:lnSpc>
              <a:spcAft>
                <a:spcPts val="400"/>
              </a:spcAft>
            </a:pPr>
            <a:r>
              <a:rPr sz="1100">
                <a:solidFill>
                  <a:srgbClr val="1E293B"/>
                </a:solidFill>
                <a:latin typeface="Noto Sans CJK KR"/>
              </a:rPr>
              <a:t>지난 20여 년간 반도체 업계의 절대적인 표준 기술로 자리 잡았던 구리 이중 상감 공정(Cu Dual-Damascene)은 금속 배선 피치(Metal Pitch)가 20nm 이하로 축소되는 극단적인 미세화 환경에서 치명적인 물리적, 전기적 한계에 직면해 있다1. 구리는 고유의 낮은 벌크 비저항을 자랑하지만, 실리콘 산화막 등 주변 유전체(Low-k Dielectric) 내부로 이온이 확산하여 소자를 파괴하는 현상을 막기 위해 탄탈륨/질화탄탈륨(Ta/TaN) 계열의 확산 방지 배리어(Barrier)와 코발트(Co) 혹은 루테늄(Ru) 기반의 얇은 라이너(Liner) 층을 반드시 필요로 한다3.</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SCALING LIMIT OF BARRIER</a:t>
            </a:r>
          </a:p>
          <a:p>
            <a:pPr algn="l">
              <a:spcAft>
                <a:spcPts val="400"/>
              </a:spcAft>
            </a:pPr>
            <a:r>
              <a:rPr sz="1500" b="1">
                <a:solidFill>
                  <a:srgbClr val="0F172A"/>
                </a:solidFill>
                <a:latin typeface="Noto Sans CJK KR"/>
              </a:rPr>
              <a:t>배리어 박막의 단면적 잠식과 RC 지연 폭증</a:t>
            </a:r>
          </a:p>
          <a:p>
            <a:pPr algn="l">
              <a:lnSpc>
                <a:spcPct val="115000"/>
              </a:lnSpc>
              <a:spcAft>
                <a:spcPts val="400"/>
              </a:spcAft>
            </a:pPr>
            <a:r>
              <a:rPr sz="1100">
                <a:solidFill>
                  <a:srgbClr val="1E293B"/>
                </a:solidFill>
                <a:latin typeface="Noto Sans CJK KR"/>
              </a:rPr>
              <a:t>문제는 이러한 배리어 및 라이너 박막이 공정이 아무리 미세화되어도 1.5~2.0nm 이하의 두께로 줄어들기 어렵다는 점에 있다.</a:t>
            </a:r>
          </a:p>
          <a:p>
            <a:pPr algn="l">
              <a:lnSpc>
                <a:spcPct val="115000"/>
              </a:lnSpc>
              <a:spcAft>
                <a:spcPts val="400"/>
              </a:spcAft>
            </a:pPr>
            <a:r>
              <a:rPr sz="1100">
                <a:solidFill>
                  <a:srgbClr val="1E293B"/>
                </a:solidFill>
                <a:latin typeface="Noto Sans CJK KR"/>
              </a:rPr>
              <a:t>전체 트렌치의 폭이 10~15nm 수준으로 극도로 좁아진 상황에서, 절연 및 확산 방지 역할을 하는 고저항 배리어 박막이 단면적의 상당 부분을 차지하게 됨에 따라 실제 전류가 흐르는 구리 전도체의 유효 단면적은 기하급수적으로 감소하게 된다3.</a:t>
            </a:r>
          </a:p>
          <a:p>
            <a:pPr algn="l">
              <a:lnSpc>
                <a:spcPct val="115000"/>
              </a:lnSpc>
              <a:spcAft>
                <a:spcPts val="400"/>
              </a:spcAft>
            </a:pPr>
            <a:r>
              <a:rPr sz="1100">
                <a:solidFill>
                  <a:srgbClr val="1E293B"/>
                </a:solidFill>
                <a:latin typeface="Noto Sans CJK KR"/>
              </a:rPr>
              <a:t>이는 필연적으로 금속 배선의 저항-정전용량(RC) 지연을 폭발적으로 증가시키며, 높은 전류 밀도로 인한 전자 이동(Electromigration, EM) 현상을 가속화하여 칩의 신뢰성과 수명을 심각하게 저하시키는 원인이 된다1.</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02 / 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1. 서론 (INTRODUCTION) — 2/2</a:t>
            </a:r>
          </a:p>
          <a:p>
            <a:pPr algn="l"/>
            <a:r>
              <a:rPr sz="2400" b="1">
                <a:solidFill>
                  <a:srgbClr val="0F172A"/>
                </a:solidFill>
                <a:latin typeface="Noto Sans CJK KR"/>
              </a:rPr>
              <a:t>배리어-리스(Barrier-less) Ru 인터커넥트의 대두와 연구 범위</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ALTERNATIVE MATERIAL: RUTHENIUM</a:t>
            </a:r>
          </a:p>
          <a:p>
            <a:pPr algn="l">
              <a:spcAft>
                <a:spcPts val="400"/>
              </a:spcAft>
            </a:pPr>
            <a:r>
              <a:rPr sz="1500" b="1">
                <a:solidFill>
                  <a:srgbClr val="0F172A"/>
                </a:solidFill>
                <a:latin typeface="Noto Sans CJK KR"/>
              </a:rPr>
              <a:t>구리를 대체할 핵심 소재: 루테늄(Ru)의 부상</a:t>
            </a:r>
          </a:p>
          <a:p>
            <a:pPr algn="l">
              <a:lnSpc>
                <a:spcPct val="115000"/>
              </a:lnSpc>
              <a:spcAft>
                <a:spcPts val="400"/>
              </a:spcAft>
            </a:pPr>
            <a:r>
              <a:rPr sz="1100">
                <a:solidFill>
                  <a:srgbClr val="1E293B"/>
                </a:solidFill>
                <a:latin typeface="Noto Sans CJK KR"/>
              </a:rPr>
              <a:t>이러한 물리적 한계를 근본적으로 타개하기 위해, 세계 최고의 나노전자 연구 기관인 IMEC은 IBM 및 유수의 글로벌 반도체 장비, 소재 기업들과 협력하여 배리어 층이 필요 없는(Barrier-less) 백금족 전이금속, 특히 루테늄(Ruthenium, Ru)을 구리를 대체할 가장 유력한 차세대 인터커넥트 소재로 제시해 왔다2.</a:t>
            </a:r>
          </a:p>
          <a:p>
            <a:pPr algn="l">
              <a:lnSpc>
                <a:spcPct val="115000"/>
              </a:lnSpc>
              <a:spcAft>
                <a:spcPts val="400"/>
              </a:spcAft>
            </a:pPr>
            <a:r>
              <a:rPr sz="1100">
                <a:solidFill>
                  <a:srgbClr val="1E293B"/>
                </a:solidFill>
                <a:latin typeface="Noto Sans CJK KR"/>
              </a:rPr>
              <a:t>Ru는 구리에 비해 본연의 벌크 비저항은 다소 높으나, 전자의 평균 자유 행로(Electron Mean Free Path, e-MFP)가 현저히 짧고 원자 간 응집 에너지(Cohesive Energy)가 매우 높아 초미세 배선 폭에서도 결정립계 산란(Grain Boundary Scattering)에 의한 비저항 상승이 극도로 억제되는 특성을 지닌다4.</a:t>
            </a:r>
          </a:p>
          <a:p>
            <a:pPr algn="l">
              <a:lnSpc>
                <a:spcPct val="115000"/>
              </a:lnSpc>
              <a:spcAft>
                <a:spcPts val="400"/>
              </a:spcAft>
            </a:pPr>
            <a:r>
              <a:rPr sz="1100">
                <a:solidFill>
                  <a:srgbClr val="1E293B"/>
                </a:solidFill>
                <a:latin typeface="Noto Sans CJK KR"/>
              </a:rPr>
              <a:t>더욱 결정적인 장점은 Ru가 유전체 내부로의 확산 특성이 낮아 부피를 차지하는 배리어 층 없이 직접 좁은 트렌치를 채우거나 박막 증착 후 감산 식각(Subtractive Etch) 방식을 적용할 수 있다는 것이다3.</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RESEARCH SCOPE &amp; METHODOLOGY</a:t>
            </a:r>
          </a:p>
          <a:p>
            <a:pPr algn="l">
              <a:spcAft>
                <a:spcPts val="400"/>
              </a:spcAft>
            </a:pPr>
            <a:r>
              <a:rPr sz="1500" b="1">
                <a:solidFill>
                  <a:srgbClr val="0F172A"/>
                </a:solidFill>
                <a:latin typeface="Noto Sans CJK KR"/>
              </a:rPr>
              <a:t>보고서의 연구 분석 범위 및 핵심 통찰</a:t>
            </a:r>
          </a:p>
          <a:p>
            <a:pPr algn="l">
              <a:lnSpc>
                <a:spcPct val="115000"/>
              </a:lnSpc>
              <a:spcAft>
                <a:spcPts val="400"/>
              </a:spcAft>
            </a:pPr>
            <a:r>
              <a:rPr sz="1100">
                <a:solidFill>
                  <a:srgbClr val="1E293B"/>
                </a:solidFill>
                <a:latin typeface="Noto Sans CJK KR"/>
              </a:rPr>
              <a:t>본 심층 연구 보고서는 최근 IEEE 및 주요 국제 인터커넥트 기술 컨퍼런스(IITC, International Interconnect Technology Conference)에 발표된 IMEC의 광범위한 연구 논문과 측정 수치, 투과전자현미경(TEM) 및 주사전자현미경(SEM) 등 정밀한 미세 구조 분석 결과를 바탕으로 작성되었다.</a:t>
            </a:r>
          </a:p>
          <a:p>
            <a:pPr algn="l">
              <a:lnSpc>
                <a:spcPct val="115000"/>
              </a:lnSpc>
              <a:spcAft>
                <a:spcPts val="400"/>
              </a:spcAft>
            </a:pPr>
            <a:r>
              <a:rPr sz="1100">
                <a:solidFill>
                  <a:srgbClr val="1E293B"/>
                </a:solidFill>
                <a:latin typeface="Noto Sans CJK KR"/>
              </a:rPr>
              <a:t>이를 통해 차세대 BEOL Ru Interconnect 기술의 물리학적 기반, Semi-damascene(반-상감) 집적 공정으로의 패러다임 전환, 식각 및 평탄화 공정의 화학적 메커니즘, 장기 신뢰성, 그리고 1nm 이후의 초전도 및 신물질 배선 동향에 이르는 전 방위적인 통찰을 제공한다.</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03 /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2. 전자 산란 역학 및 반고전적 전송 모델 — 1/3</a:t>
            </a:r>
          </a:p>
          <a:p>
            <a:pPr algn="l"/>
            <a:r>
              <a:rPr sz="2400" b="1">
                <a:solidFill>
                  <a:srgbClr val="0F172A"/>
                </a:solidFill>
                <a:latin typeface="Noto Sans CJK KR"/>
              </a:rPr>
              <a:t>나노스케일 비저항 상승과 반고전적 Mayadas-Shatzkes (MS) 모델</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THEORETICAL FRAMEWORK</a:t>
            </a:r>
          </a:p>
          <a:p>
            <a:pPr algn="l">
              <a:spcAft>
                <a:spcPts val="400"/>
              </a:spcAft>
            </a:pPr>
            <a:r>
              <a:rPr sz="1500" b="1">
                <a:solidFill>
                  <a:srgbClr val="0F172A"/>
                </a:solidFill>
                <a:latin typeface="Noto Sans CJK KR"/>
              </a:rPr>
              <a:t>비저항 크기 효과(Resistivity Size Effect)</a:t>
            </a:r>
          </a:p>
          <a:p>
            <a:pPr algn="l">
              <a:lnSpc>
                <a:spcPct val="115000"/>
              </a:lnSpc>
              <a:spcAft>
                <a:spcPts val="600"/>
              </a:spcAft>
            </a:pPr>
            <a:r>
              <a:rPr sz="1150">
                <a:solidFill>
                  <a:srgbClr val="1E293B"/>
                </a:solidFill>
                <a:latin typeface="Noto Sans CJK KR"/>
              </a:rPr>
              <a:t>초미세 금속 배선에서 관찰되는 급격한 비저항 상승(Resistivity Size Effect) 현상을 정량적으로 이해하기 위해서는 금속 내부의 전자 수송 메커니즘을 규명하는 반고전적 모델이 필수적이다.</a:t>
            </a:r>
          </a:p>
          <a:p>
            <a:pPr algn="l">
              <a:lnSpc>
                <a:spcPct val="115000"/>
              </a:lnSpc>
              <a:spcAft>
                <a:spcPts val="600"/>
              </a:spcAft>
            </a:pPr>
            <a:r>
              <a:rPr sz="1150">
                <a:solidFill>
                  <a:srgbClr val="1E293B"/>
                </a:solidFill>
                <a:latin typeface="Noto Sans CJK KR"/>
              </a:rPr>
              <a:t>박막이나 나노와이어 형태의 제한된 기하학적 구조 내부에서 전자는 표면 산란(Surface Scattering)과 결정립계 산란(Grain Boundary Scattering)이라는 두 가지 주요 장벽에 부딪히게 되며, 이는 각각 Fuchs-Sondheimer (FS) 이론과 Mayadas-Shatzkes (MS) 이론의 결합 모델을 통해 수학적으로 정밀하게 해석된다9.</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spcAft>
                <a:spcPts val="200"/>
              </a:spcAft>
            </a:pPr>
            <a:r>
              <a:rPr sz="1050" b="1">
                <a:solidFill>
                  <a:srgbClr val="0284C7"/>
                </a:solidFill>
                <a:latin typeface="Noto Sans CJK KR"/>
              </a:rPr>
              <a:t>MAYADAS-SHATZKES (MS) MODEL</a:t>
            </a:r>
          </a:p>
          <a:p>
            <a:pPr>
              <a:spcAft>
                <a:spcPts val="400"/>
              </a:spcAft>
            </a:pPr>
            <a:r>
              <a:rPr sz="1500" b="1">
                <a:solidFill>
                  <a:srgbClr val="0F172A"/>
                </a:solidFill>
                <a:latin typeface="Noto Sans CJK KR"/>
              </a:rPr>
              <a:t>MS 반고전적 비저항 스케일링 수식</a:t>
            </a:r>
          </a:p>
          <a:p>
            <a:pPr>
              <a:lnSpc>
                <a:spcPct val="115000"/>
              </a:lnSpc>
              <a:spcAft>
                <a:spcPts val="600"/>
              </a:spcAft>
            </a:pPr>
            <a:r>
              <a:rPr sz="1100">
                <a:solidFill>
                  <a:srgbClr val="1E293B"/>
                </a:solidFill>
                <a:latin typeface="Noto Sans CJK KR"/>
              </a:rPr>
              <a:t>Mayadas와 Shatzkes가 제안한 반고전적 이론은 금속 내부의 결정립계를 전자가 통과할 때 일부분 반사되는 현상을 수학적으로 모델링하여, 다결정 금속 박막에서 나타나는 고유의 비저항 상승 페널티를 계산한다9. 이 이론에 따르면, 미세 배선에서 온도의 함수로 나타나는 총 비저항 ρ(T)는 벌크 비저항 ρ₀와 결정립 크기 d, 전자 평균 자유 행로 λ의 함수로 다음과 같이 근사적으로 정의된다9.</a:t>
            </a:r>
          </a:p>
          <a:p>
            <a:pPr algn="ctr">
              <a:spcAft>
                <a:spcPts val="600"/>
              </a:spcAft>
            </a:pPr>
            <a:r>
              <a:rPr sz="1400" b="1">
                <a:solidFill>
                  <a:srgbClr val="0284C7"/>
                </a:solidFill>
                <a:latin typeface="Noto Sans CJK KR"/>
              </a:rPr>
              <a:t>ρ(T) = ρ₀ · [ 1 + 3 · (λ / d) · (R / (1 - R)) ]</a:t>
            </a:r>
          </a:p>
          <a:p>
            <a:pPr>
              <a:lnSpc>
                <a:spcPct val="115000"/>
              </a:lnSpc>
              <a:spcAft>
                <a:spcPts val="400"/>
              </a:spcAft>
            </a:pPr>
            <a:r>
              <a:rPr sz="1100">
                <a:solidFill>
                  <a:srgbClr val="1E293B"/>
                </a:solidFill>
                <a:latin typeface="Noto Sans CJK KR"/>
              </a:rPr>
              <a:t>해당 수식에서 α 파라미터는 α = (λ/d) · (R/(1-R)) 로 정의되며, 여기서 R은 결정립계에서의 전자 반사 계수(Reflection Coefficient)를 의미한다9.</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04 /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2. 전자 산란 역학 및 반고전적 전송 모델 — 2/3</a:t>
            </a:r>
          </a:p>
          <a:p>
            <a:pPr algn="l"/>
            <a:r>
              <a:rPr sz="2400" b="1">
                <a:solidFill>
                  <a:srgbClr val="0F172A"/>
                </a:solidFill>
                <a:latin typeface="Noto Sans CJK KR"/>
              </a:rPr>
              <a:t>Cu vs Ru 산란 동역학 차이 및 비저항 성능 지표(ρ₀λ)</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SCATTERING DYNAMICS</a:t>
            </a:r>
          </a:p>
          <a:p>
            <a:pPr algn="l">
              <a:spcAft>
                <a:spcPts val="400"/>
              </a:spcAft>
            </a:pPr>
            <a:r>
              <a:rPr sz="1500" b="1">
                <a:solidFill>
                  <a:srgbClr val="0F172A"/>
                </a:solidFill>
                <a:latin typeface="Noto Sans CJK KR"/>
              </a:rPr>
              <a:t>Cu의 산란 급증과 Ru의 저항 역전 메커니즘</a:t>
            </a:r>
          </a:p>
          <a:p>
            <a:pPr algn="l">
              <a:lnSpc>
                <a:spcPct val="115000"/>
              </a:lnSpc>
              <a:spcAft>
                <a:spcPts val="400"/>
              </a:spcAft>
            </a:pPr>
            <a:r>
              <a:rPr sz="1050">
                <a:solidFill>
                  <a:srgbClr val="1E293B"/>
                </a:solidFill>
                <a:latin typeface="Noto Sans CJK KR"/>
              </a:rPr>
              <a:t>이 방정식이 시사하는 가장 핵심적인 통찰은, 전자의 평균 자유 행로 λ가 긴 금속일수록 배선 폭이나 결정립 크기 d가 λ 이하로 작아질 때 α 값이 급증하여 전체 비저항이 기하급수적으로 폭등한다는 점이다.</a:t>
            </a:r>
          </a:p>
          <a:p>
            <a:pPr algn="l">
              <a:lnSpc>
                <a:spcPct val="115000"/>
              </a:lnSpc>
              <a:spcAft>
                <a:spcPts val="400"/>
              </a:spcAft>
            </a:pPr>
            <a:r>
              <a:rPr sz="1050">
                <a:solidFill>
                  <a:srgbClr val="1E293B"/>
                </a:solidFill>
                <a:latin typeface="Noto Sans CJK KR"/>
              </a:rPr>
              <a:t>구리(Cu)의 경우 실온에서 λ가 약 39.9nm에 달하기 때문에, 20nm 이하의 금속 피치(선폭 약 10nm 내외)에서는 전자가 수많은 계면과 결정립계에 충돌하며 극심한 산란을 겪게 된다4.</a:t>
            </a:r>
          </a:p>
          <a:p>
            <a:pPr algn="l">
              <a:lnSpc>
                <a:spcPct val="115000"/>
              </a:lnSpc>
              <a:spcAft>
                <a:spcPts val="400"/>
              </a:spcAft>
            </a:pPr>
            <a:r>
              <a:rPr sz="1050">
                <a:solidFill>
                  <a:srgbClr val="1E293B"/>
                </a:solidFill>
                <a:latin typeface="Noto Sans CJK KR"/>
              </a:rPr>
              <a:t>반면 루테늄(Ru)은 결정학적 방향(예: c-축 등)에 따라 편차가 존재하나 전반적으로 λ가 6.7nm에서 6.9nm 수준으로 매우 짧다7. 따라서 MS 모델 수식에 대입할 경우 선폭이 10nm 수준으로 좁아지더라도 α의 증가폭이 제한적이며, 표면 및 결정립계 산란으로 인한 저항 상승 폭이 Cu 대비 획기적으로 낮다. 이는 벌크 상태에서는 Cu가 Ru보다 전도성이 우수하지만, 나노 스케일 영역에서는 Ru가 Cu의 전도도를 역전할 수 있는 근본적인 물리학적 근거가 된다.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FIGURE OF MERIT (Ρ₀Λ)</a:t>
            </a:r>
          </a:p>
          <a:p>
            <a:pPr algn="l">
              <a:spcAft>
                <a:spcPts val="400"/>
              </a:spcAft>
            </a:pPr>
            <a:r>
              <a:rPr sz="1500" b="1">
                <a:solidFill>
                  <a:srgbClr val="0F172A"/>
                </a:solidFill>
                <a:latin typeface="Noto Sans CJK KR"/>
              </a:rPr>
              <a:t>핵심 성능 지표: ρ₀λ 곱 (Figure of Merit)</a:t>
            </a:r>
          </a:p>
          <a:p>
            <a:pPr algn="l">
              <a:lnSpc>
                <a:spcPct val="115000"/>
              </a:lnSpc>
              <a:spcAft>
                <a:spcPts val="400"/>
              </a:spcAft>
            </a:pPr>
            <a:r>
              <a:rPr sz="1050">
                <a:solidFill>
                  <a:srgbClr val="1E293B"/>
                </a:solidFill>
                <a:latin typeface="Noto Sans CJK KR"/>
              </a:rPr>
              <a:t>추가적으로, 이론 물리학계와 IMEC 연구진은 금속의 비저항 스케일링 잠재력을 평가하는 핵심 성능 지표(Figure of Merit)로 벌크 비저항과 평균 자유 행로의 곱인 ρ₀λ 값을 채택하고 있다11.</a:t>
            </a:r>
          </a:p>
          <a:p>
            <a:pPr algn="l">
              <a:lnSpc>
                <a:spcPct val="115000"/>
              </a:lnSpc>
              <a:spcAft>
                <a:spcPts val="400"/>
              </a:spcAft>
            </a:pPr>
            <a:r>
              <a:rPr sz="1050">
                <a:solidFill>
                  <a:srgbClr val="1E293B"/>
                </a:solidFill>
                <a:latin typeface="Noto Sans CJK KR"/>
              </a:rPr>
              <a:t>이 수치는 페르미 면(Fermi Surface)의 기하학적 구조에서 유도되는 물질의 내재적 특성이며, 이 값이 작을수록 미세화에 따른 비저항 상승이 둔감하게 일어난다.</a:t>
            </a:r>
          </a:p>
          <a:p>
            <a:pPr algn="l">
              <a:lnSpc>
                <a:spcPct val="115000"/>
              </a:lnSpc>
              <a:spcAft>
                <a:spcPts val="400"/>
              </a:spcAft>
            </a:pPr>
            <a:r>
              <a:rPr sz="1050">
                <a:solidFill>
                  <a:srgbClr val="1E293B"/>
                </a:solidFill>
                <a:latin typeface="Noto Sans CJK KR"/>
              </a:rPr>
              <a:t>• Cu (구리): ρ₀λ ≈ 67.0 (두꺼운 TaN 배리어 필수, 선폭 15nm 이하 저항 폭등)
• Co (코발트): ρ₀λ ≈ 73.6 (1nm 얇은 배리어 가능, 40nm 피치 이하 Cu 대비 우위)
• Ru (루테늄): ρ₀λ ≈ 47.5 (완벽한 Barrier-less 집적, 17nm 영역에서 Cu 선저항 역전)
• Mo (몰리브덴): ρ₀λ ≈ 58.3 (감산 식각 가능, 우수한 응집 에너지로 함께 연구 중)</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05 /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2.1 물질 비교 데이터 — 3/3</a:t>
            </a:r>
          </a:p>
          <a:p>
            <a:pPr algn="l"/>
            <a:r>
              <a:rPr sz="2400" b="1">
                <a:solidFill>
                  <a:srgbClr val="0F172A"/>
                </a:solidFill>
                <a:latin typeface="Noto Sans CJK KR"/>
              </a:rPr>
              <a:t>초미세 배선 후보 물질별 특성 및 스케일링 비교</a:t>
            </a:r>
          </a:p>
        </p:txBody>
      </p:sp>
      <p:graphicFrame>
        <p:nvGraphicFramePr>
          <p:cNvPr id="4" name="Table 3"/>
          <p:cNvGraphicFramePr>
            <a:graphicFrameLocks noGrp="1"/>
          </p:cNvGraphicFramePr>
          <p:nvPr/>
        </p:nvGraphicFramePr>
        <p:xfrm>
          <a:off x="731520" y="1874519"/>
          <a:ext cx="10728655" cy="4114800"/>
        </p:xfrm>
        <a:graphic>
          <a:graphicData uri="http://schemas.openxmlformats.org/drawingml/2006/table">
            <a:tbl>
              <a:tblPr firstRow="1" bandRow="1">
                <a:tableStyleId>{5C22544A-7EE6-4342-B048-85BDC9FD1C3A}</a:tableStyleId>
              </a:tblPr>
              <a:tblGrid>
                <a:gridCol w="1645920"/>
                <a:gridCol w="2011680"/>
                <a:gridCol w="2011680"/>
                <a:gridCol w="1645920"/>
                <a:gridCol w="3413455"/>
              </a:tblGrid>
              <a:tr h="822960">
                <a:tc>
                  <a:txBody>
                    <a:bodyPr/>
                    <a:lstStyle/>
                    <a:p>
                      <a:pPr algn="ctr"/>
                      <a:r>
                        <a:rPr sz="1200" b="1">
                          <a:solidFill>
                            <a:srgbClr val="FFFFFF"/>
                          </a:solidFill>
                          <a:latin typeface="Noto Sans CJK KR"/>
                        </a:rPr>
                        <a:t>배선 재질
(Material)</a:t>
                      </a:r>
                    </a:p>
                  </a:txBody>
                  <a:tcPr marL="109728" marR="109728" marT="73152" marB="73152">
                    <a:solidFill>
                      <a:srgbClr val="0F172A"/>
                    </a:solidFill>
                  </a:tcPr>
                </a:tc>
                <a:tc>
                  <a:txBody>
                    <a:bodyPr/>
                    <a:lstStyle/>
                    <a:p>
                      <a:pPr algn="ctr"/>
                      <a:r>
                        <a:rPr sz="1200" b="1">
                          <a:solidFill>
                            <a:srgbClr val="FFFFFF"/>
                          </a:solidFill>
                          <a:latin typeface="Noto Sans CJK KR"/>
                        </a:rPr>
                        <a:t>벌크 비저항
ρ₀ (μΩ·cm)</a:t>
                      </a:r>
                    </a:p>
                  </a:txBody>
                  <a:tcPr marL="109728" marR="109728" marT="73152" marB="73152">
                    <a:solidFill>
                      <a:srgbClr val="0F172A"/>
                    </a:solidFill>
                  </a:tcPr>
                </a:tc>
                <a:tc>
                  <a:txBody>
                    <a:bodyPr/>
                    <a:lstStyle/>
                    <a:p>
                      <a:pPr algn="ctr"/>
                      <a:r>
                        <a:rPr sz="1200" b="1">
                          <a:solidFill>
                            <a:srgbClr val="FFFFFF"/>
                          </a:solidFill>
                          <a:latin typeface="Noto Sans CJK KR"/>
                        </a:rPr>
                        <a:t>전자 평균 자유 행로
λ (nm)</a:t>
                      </a:r>
                    </a:p>
                  </a:txBody>
                  <a:tcPr marL="109728" marR="109728" marT="73152" marB="73152">
                    <a:solidFill>
                      <a:srgbClr val="0F172A"/>
                    </a:solidFill>
                  </a:tcPr>
                </a:tc>
                <a:tc>
                  <a:txBody>
                    <a:bodyPr/>
                    <a:lstStyle/>
                    <a:p>
                      <a:pPr algn="ctr"/>
                      <a:r>
                        <a:rPr sz="1200" b="1">
                          <a:solidFill>
                            <a:srgbClr val="FFFFFF"/>
                          </a:solidFill>
                          <a:latin typeface="Noto Sans CJK KR"/>
                        </a:rPr>
                        <a:t>성능 지표
(ρ₀λ 곱)</a:t>
                      </a:r>
                    </a:p>
                  </a:txBody>
                  <a:tcPr marL="109728" marR="109728" marT="73152" marB="73152">
                    <a:solidFill>
                      <a:srgbClr val="0F172A"/>
                    </a:solidFill>
                  </a:tcPr>
                </a:tc>
                <a:tc>
                  <a:txBody>
                    <a:bodyPr/>
                    <a:lstStyle/>
                    <a:p>
                      <a:pPr algn="ctr"/>
                      <a:r>
                        <a:rPr sz="1200" b="1">
                          <a:solidFill>
                            <a:srgbClr val="FFFFFF"/>
                          </a:solidFill>
                          <a:latin typeface="Noto Sans CJK KR"/>
                        </a:rPr>
                        <a:t>초미세 선폭(10nm 부근)에서의
스케일링 특성 및 적용성</a:t>
                      </a:r>
                    </a:p>
                  </a:txBody>
                  <a:tcPr marL="109728" marR="109728" marT="73152" marB="73152">
                    <a:solidFill>
                      <a:srgbClr val="0F172A"/>
                    </a:solidFill>
                  </a:tcPr>
                </a:tc>
              </a:tr>
              <a:tr h="822960">
                <a:tc>
                  <a:txBody>
                    <a:bodyPr/>
                    <a:lstStyle/>
                    <a:p>
                      <a:pPr algn="ctr"/>
                      <a:r>
                        <a:rPr sz="1200">
                          <a:solidFill>
                            <a:srgbClr val="0F172A"/>
                          </a:solidFill>
                          <a:latin typeface="Noto Sans CJK KR"/>
                        </a:rPr>
                        <a:t>Cu (구리)</a:t>
                      </a:r>
                    </a:p>
                  </a:txBody>
                  <a:tcPr marL="109728" marR="109728" marT="73152" marB="73152">
                    <a:solidFill>
                      <a:srgbClr val="FFFFFF"/>
                    </a:solidFill>
                  </a:tcPr>
                </a:tc>
                <a:tc>
                  <a:txBody>
                    <a:bodyPr/>
                    <a:lstStyle/>
                    <a:p>
                      <a:pPr algn="ctr"/>
                      <a:r>
                        <a:rPr sz="1200">
                          <a:solidFill>
                            <a:srgbClr val="1E293B"/>
                          </a:solidFill>
                          <a:latin typeface="Noto Sans CJK KR"/>
                        </a:rPr>
                        <a:t>1.68</a:t>
                      </a:r>
                    </a:p>
                  </a:txBody>
                  <a:tcPr marL="109728" marR="109728" marT="73152" marB="73152">
                    <a:solidFill>
                      <a:srgbClr val="FFFFFF"/>
                    </a:solidFill>
                  </a:tcPr>
                </a:tc>
                <a:tc>
                  <a:txBody>
                    <a:bodyPr/>
                    <a:lstStyle/>
                    <a:p>
                      <a:pPr algn="ctr"/>
                      <a:r>
                        <a:rPr sz="1200">
                          <a:solidFill>
                            <a:srgbClr val="1E293B"/>
                          </a:solidFill>
                          <a:latin typeface="Noto Sans CJK KR"/>
                        </a:rPr>
                        <a:t>39.9</a:t>
                      </a:r>
                    </a:p>
                  </a:txBody>
                  <a:tcPr marL="109728" marR="109728" marT="73152" marB="73152">
                    <a:solidFill>
                      <a:srgbClr val="FFFFFF"/>
                    </a:solidFill>
                  </a:tcPr>
                </a:tc>
                <a:tc>
                  <a:txBody>
                    <a:bodyPr/>
                    <a:lstStyle/>
                    <a:p>
                      <a:pPr algn="ctr"/>
                      <a:r>
                        <a:rPr sz="1200">
                          <a:solidFill>
                            <a:srgbClr val="1E293B"/>
                          </a:solidFill>
                          <a:latin typeface="Noto Sans CJK KR"/>
                        </a:rPr>
                        <a:t>~67.0</a:t>
                      </a:r>
                    </a:p>
                  </a:txBody>
                  <a:tcPr marL="109728" marR="109728" marT="73152" marB="73152">
                    <a:solidFill>
                      <a:srgbClr val="FFFFFF"/>
                    </a:solidFill>
                  </a:tcPr>
                </a:tc>
                <a:tc>
                  <a:txBody>
                    <a:bodyPr/>
                    <a:lstStyle/>
                    <a:p>
                      <a:pPr algn="l"/>
                      <a:r>
                        <a:rPr sz="1100">
                          <a:solidFill>
                            <a:srgbClr val="1E293B"/>
                          </a:solidFill>
                          <a:latin typeface="Noto Sans CJK KR"/>
                        </a:rPr>
                        <a:t>두꺼운 확산 방지 배리어(TaN) 필수. 산란 급증으로 인해 선폭 15nm 이하에서 저항 폭등4.</a:t>
                      </a:r>
                    </a:p>
                  </a:txBody>
                  <a:tcPr marL="109728" marR="109728" marT="73152" marB="73152">
                    <a:solidFill>
                      <a:srgbClr val="FFFFFF"/>
                    </a:solidFill>
                  </a:tcPr>
                </a:tc>
              </a:tr>
              <a:tr h="822960">
                <a:tc>
                  <a:txBody>
                    <a:bodyPr/>
                    <a:lstStyle/>
                    <a:p>
                      <a:pPr algn="ctr"/>
                      <a:r>
                        <a:rPr sz="1200">
                          <a:solidFill>
                            <a:srgbClr val="0F172A"/>
                          </a:solidFill>
                          <a:latin typeface="Noto Sans CJK KR"/>
                        </a:rPr>
                        <a:t>Co (코발트)</a:t>
                      </a:r>
                    </a:p>
                  </a:txBody>
                  <a:tcPr marL="109728" marR="109728" marT="73152" marB="73152">
                    <a:solidFill>
                      <a:srgbClr val="F1F5F9"/>
                    </a:solidFill>
                  </a:tcPr>
                </a:tc>
                <a:tc>
                  <a:txBody>
                    <a:bodyPr/>
                    <a:lstStyle/>
                    <a:p>
                      <a:pPr algn="ctr"/>
                      <a:r>
                        <a:rPr sz="1200">
                          <a:solidFill>
                            <a:srgbClr val="1E293B"/>
                          </a:solidFill>
                          <a:latin typeface="Noto Sans CJK KR"/>
                        </a:rPr>
                        <a:t>6.24</a:t>
                      </a:r>
                    </a:p>
                  </a:txBody>
                  <a:tcPr marL="109728" marR="109728" marT="73152" marB="73152">
                    <a:solidFill>
                      <a:srgbClr val="F1F5F9"/>
                    </a:solidFill>
                  </a:tcPr>
                </a:tc>
                <a:tc>
                  <a:txBody>
                    <a:bodyPr/>
                    <a:lstStyle/>
                    <a:p>
                      <a:pPr algn="ctr"/>
                      <a:r>
                        <a:rPr sz="1200">
                          <a:solidFill>
                            <a:srgbClr val="1E293B"/>
                          </a:solidFill>
                          <a:latin typeface="Noto Sans CJK KR"/>
                        </a:rPr>
                        <a:t>11.8</a:t>
                      </a:r>
                    </a:p>
                  </a:txBody>
                  <a:tcPr marL="109728" marR="109728" marT="73152" marB="73152">
                    <a:solidFill>
                      <a:srgbClr val="F1F5F9"/>
                    </a:solidFill>
                  </a:tcPr>
                </a:tc>
                <a:tc>
                  <a:txBody>
                    <a:bodyPr/>
                    <a:lstStyle/>
                    <a:p>
                      <a:pPr algn="ctr"/>
                      <a:r>
                        <a:rPr sz="1200">
                          <a:solidFill>
                            <a:srgbClr val="1E293B"/>
                          </a:solidFill>
                          <a:latin typeface="Noto Sans CJK KR"/>
                        </a:rPr>
                        <a:t>~73.6</a:t>
                      </a:r>
                    </a:p>
                  </a:txBody>
                  <a:tcPr marL="109728" marR="109728" marT="73152" marB="73152">
                    <a:solidFill>
                      <a:srgbClr val="F1F5F9"/>
                    </a:solidFill>
                  </a:tcPr>
                </a:tc>
                <a:tc>
                  <a:txBody>
                    <a:bodyPr/>
                    <a:lstStyle/>
                    <a:p>
                      <a:pPr algn="l"/>
                      <a:r>
                        <a:rPr sz="1100">
                          <a:solidFill>
                            <a:srgbClr val="1E293B"/>
                          </a:solidFill>
                          <a:latin typeface="Noto Sans CJK KR"/>
                        </a:rPr>
                        <a:t>1nm 두께의 얇은 배리어 사용 가능. 40nm 피치 이하에서 부분적으로 Cu 대비 우위 유지3.</a:t>
                      </a:r>
                    </a:p>
                  </a:txBody>
                  <a:tcPr marL="109728" marR="109728" marT="73152" marB="73152">
                    <a:solidFill>
                      <a:srgbClr val="F1F5F9"/>
                    </a:solidFill>
                  </a:tcPr>
                </a:tc>
              </a:tr>
              <a:tr h="822960">
                <a:tc>
                  <a:txBody>
                    <a:bodyPr/>
                    <a:lstStyle/>
                    <a:p>
                      <a:pPr algn="ctr"/>
                      <a:r>
                        <a:rPr sz="1200" b="1">
                          <a:solidFill>
                            <a:srgbClr val="0284C7"/>
                          </a:solidFill>
                          <a:latin typeface="Noto Sans CJK KR"/>
                        </a:rPr>
                        <a:t>Ru (루테늄)</a:t>
                      </a:r>
                    </a:p>
                  </a:txBody>
                  <a:tcPr marL="109728" marR="109728" marT="73152" marB="73152">
                    <a:solidFill>
                      <a:srgbClr val="F0F9FF"/>
                    </a:solidFill>
                  </a:tcPr>
                </a:tc>
                <a:tc>
                  <a:txBody>
                    <a:bodyPr/>
                    <a:lstStyle/>
                    <a:p>
                      <a:pPr algn="ctr"/>
                      <a:r>
                        <a:rPr sz="1200" b="1">
                          <a:solidFill>
                            <a:srgbClr val="0284C7"/>
                          </a:solidFill>
                          <a:latin typeface="Noto Sans CJK KR"/>
                        </a:rPr>
                        <a:t>7.10</a:t>
                      </a:r>
                    </a:p>
                  </a:txBody>
                  <a:tcPr marL="109728" marR="109728" marT="73152" marB="73152">
                    <a:solidFill>
                      <a:srgbClr val="F0F9FF"/>
                    </a:solidFill>
                  </a:tcPr>
                </a:tc>
                <a:tc>
                  <a:txBody>
                    <a:bodyPr/>
                    <a:lstStyle/>
                    <a:p>
                      <a:pPr algn="ctr"/>
                      <a:r>
                        <a:rPr sz="1200" b="1">
                          <a:solidFill>
                            <a:srgbClr val="0284C7"/>
                          </a:solidFill>
                          <a:latin typeface="Noto Sans CJK KR"/>
                        </a:rPr>
                        <a:t>~6.7</a:t>
                      </a:r>
                    </a:p>
                  </a:txBody>
                  <a:tcPr marL="109728" marR="109728" marT="73152" marB="73152">
                    <a:solidFill>
                      <a:srgbClr val="F0F9FF"/>
                    </a:solidFill>
                  </a:tcPr>
                </a:tc>
                <a:tc>
                  <a:txBody>
                    <a:bodyPr/>
                    <a:lstStyle/>
                    <a:p>
                      <a:pPr algn="ctr"/>
                      <a:r>
                        <a:rPr sz="1200" b="1">
                          <a:solidFill>
                            <a:srgbClr val="0284C7"/>
                          </a:solidFill>
                          <a:latin typeface="Noto Sans CJK KR"/>
                        </a:rPr>
                        <a:t>~47.5</a:t>
                      </a:r>
                    </a:p>
                  </a:txBody>
                  <a:tcPr marL="109728" marR="109728" marT="73152" marB="73152">
                    <a:solidFill>
                      <a:srgbClr val="F0F9FF"/>
                    </a:solidFill>
                  </a:tcPr>
                </a:tc>
                <a:tc>
                  <a:txBody>
                    <a:bodyPr/>
                    <a:lstStyle/>
                    <a:p>
                      <a:pPr algn="l"/>
                      <a:r>
                        <a:rPr sz="1100" b="1">
                          <a:solidFill>
                            <a:srgbClr val="0F172A"/>
                          </a:solidFill>
                          <a:latin typeface="Noto Sans CJK KR"/>
                        </a:rPr>
                        <a:t>완벽한 Barrier-less 집적 가능. 산란 저항성이 탁월하여 선폭 약 17nm 영역에서 Cu의 실제 선저항을 역전3.</a:t>
                      </a:r>
                    </a:p>
                  </a:txBody>
                  <a:tcPr marL="109728" marR="109728" marT="73152" marB="73152">
                    <a:solidFill>
                      <a:srgbClr val="F0F9FF"/>
                    </a:solidFill>
                  </a:tcPr>
                </a:tc>
              </a:tr>
              <a:tr h="822960">
                <a:tc>
                  <a:txBody>
                    <a:bodyPr/>
                    <a:lstStyle/>
                    <a:p>
                      <a:pPr algn="ctr"/>
                      <a:r>
                        <a:rPr sz="1200">
                          <a:solidFill>
                            <a:srgbClr val="0F172A"/>
                          </a:solidFill>
                          <a:latin typeface="Noto Sans CJK KR"/>
                        </a:rPr>
                        <a:t>Mo (몰리브덴)</a:t>
                      </a:r>
                    </a:p>
                  </a:txBody>
                  <a:tcPr marL="109728" marR="109728" marT="73152" marB="73152">
                    <a:solidFill>
                      <a:srgbClr val="F1F5F9"/>
                    </a:solidFill>
                  </a:tcPr>
                </a:tc>
                <a:tc>
                  <a:txBody>
                    <a:bodyPr/>
                    <a:lstStyle/>
                    <a:p>
                      <a:pPr algn="ctr"/>
                      <a:r>
                        <a:rPr sz="1200">
                          <a:solidFill>
                            <a:srgbClr val="1E293B"/>
                          </a:solidFill>
                          <a:latin typeface="Noto Sans CJK KR"/>
                        </a:rPr>
                        <a:t>5.3</a:t>
                      </a:r>
                    </a:p>
                  </a:txBody>
                  <a:tcPr marL="109728" marR="109728" marT="73152" marB="73152">
                    <a:solidFill>
                      <a:srgbClr val="F1F5F9"/>
                    </a:solidFill>
                  </a:tcPr>
                </a:tc>
                <a:tc>
                  <a:txBody>
                    <a:bodyPr/>
                    <a:lstStyle/>
                    <a:p>
                      <a:pPr algn="ctr"/>
                      <a:r>
                        <a:rPr sz="1200">
                          <a:solidFill>
                            <a:srgbClr val="1E293B"/>
                          </a:solidFill>
                          <a:latin typeface="Noto Sans CJK KR"/>
                        </a:rPr>
                        <a:t>~11.0</a:t>
                      </a:r>
                    </a:p>
                  </a:txBody>
                  <a:tcPr marL="109728" marR="109728" marT="73152" marB="73152">
                    <a:solidFill>
                      <a:srgbClr val="F1F5F9"/>
                    </a:solidFill>
                  </a:tcPr>
                </a:tc>
                <a:tc>
                  <a:txBody>
                    <a:bodyPr/>
                    <a:lstStyle/>
                    <a:p>
                      <a:pPr algn="ctr"/>
                      <a:r>
                        <a:rPr sz="1200">
                          <a:solidFill>
                            <a:srgbClr val="1E293B"/>
                          </a:solidFill>
                          <a:latin typeface="Noto Sans CJK KR"/>
                        </a:rPr>
                        <a:t>~58.3</a:t>
                      </a:r>
                    </a:p>
                  </a:txBody>
                  <a:tcPr marL="109728" marR="109728" marT="73152" marB="73152">
                    <a:solidFill>
                      <a:srgbClr val="F1F5F9"/>
                    </a:solidFill>
                  </a:tcPr>
                </a:tc>
                <a:tc>
                  <a:txBody>
                    <a:bodyPr/>
                    <a:lstStyle/>
                    <a:p>
                      <a:pPr algn="l"/>
                      <a:r>
                        <a:rPr sz="1100">
                          <a:solidFill>
                            <a:srgbClr val="1E293B"/>
                          </a:solidFill>
                          <a:latin typeface="Noto Sans CJK KR"/>
                        </a:rPr>
                        <a:t>감산 식각 가능 소재. 우수한 응집 에너지를 지녀 차세대 대안 소재로 Ru와 함께 연구 중4.</a:t>
                      </a:r>
                    </a:p>
                  </a:txBody>
                  <a:tcPr marL="109728" marR="109728" marT="73152" marB="73152">
                    <a:solidFill>
                      <a:srgbClr val="F1F5F9"/>
                    </a:solidFill>
                  </a:tcPr>
                </a:tc>
              </a:tr>
            </a:tbl>
          </a:graphicData>
        </a:graphic>
      </p:graphicFrame>
      <p:sp>
        <p:nvSpPr>
          <p:cNvPr id="5" name="TextBox 4"/>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06 /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2.2 초저저항 박막 달성 기법</a:t>
            </a:r>
          </a:p>
          <a:p>
            <a:pPr algn="l"/>
            <a:r>
              <a:rPr sz="2400" b="1">
                <a:solidFill>
                  <a:srgbClr val="0F172A"/>
                </a:solidFill>
                <a:latin typeface="Noto Sans CJK KR"/>
              </a:rPr>
              <a:t>300mm 에피택셜 성장 및 서브 세컨드 레이저 어닐링(SLA)</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EPITAXIAL THIN FILM</a:t>
            </a:r>
          </a:p>
          <a:p>
            <a:pPr algn="l">
              <a:spcAft>
                <a:spcPts val="400"/>
              </a:spcAft>
            </a:pPr>
            <a:r>
              <a:rPr sz="1500" b="1">
                <a:solidFill>
                  <a:srgbClr val="0F172A"/>
                </a:solidFill>
                <a:latin typeface="Noto Sans CJK KR"/>
              </a:rPr>
              <a:t>300mm 에피택셜 박막과 초기 증착 한계</a:t>
            </a:r>
          </a:p>
          <a:p>
            <a:pPr algn="l">
              <a:lnSpc>
                <a:spcPct val="115000"/>
              </a:lnSpc>
              <a:spcAft>
                <a:spcPts val="400"/>
              </a:spcAft>
            </a:pPr>
            <a:r>
              <a:rPr sz="1050">
                <a:solidFill>
                  <a:srgbClr val="1E293B"/>
                </a:solidFill>
                <a:latin typeface="Noto Sans CJK KR"/>
              </a:rPr>
              <a:t>이러한 물리적 특성을 실제 반도체 공정에 구현하기 위해 IMEC은 다양한 증착 및 열처리 기법을 지속적으로 개선해 왔다.</a:t>
            </a:r>
          </a:p>
          <a:p>
            <a:pPr algn="l">
              <a:lnSpc>
                <a:spcPct val="115000"/>
              </a:lnSpc>
              <a:spcAft>
                <a:spcPts val="400"/>
              </a:spcAft>
            </a:pPr>
            <a:r>
              <a:rPr sz="1050">
                <a:solidFill>
                  <a:srgbClr val="1E293B"/>
                </a:solidFill>
                <a:latin typeface="Noto Sans CJK KR"/>
              </a:rPr>
              <a:t>가장 눈에 띄는 획기적인 성과는 300mm 웨이퍼 상에서 에피택셜(Epitaxial) 성장 메커니즘을 유도하여, 25~30nm 두께의 얇은 Ru 박막 영역에서 처음으로 Ru 벌크 비저항에 근접하는 극저저항 박막을 실험적으로 구현한 것이다2.</a:t>
            </a:r>
          </a:p>
          <a:p>
            <a:pPr algn="l">
              <a:lnSpc>
                <a:spcPct val="115000"/>
              </a:lnSpc>
              <a:spcAft>
                <a:spcPts val="400"/>
              </a:spcAft>
            </a:pPr>
            <a:r>
              <a:rPr sz="1050">
                <a:solidFill>
                  <a:srgbClr val="1E293B"/>
                </a:solidFill>
                <a:latin typeface="Noto Sans CJK KR"/>
              </a:rPr>
              <a:t>초기 원자층 증착(ALD)이나 물리적 기상 증착(PVD)으로 형성된 Ru 박막은 내부 결정립 크기가 박막의 두께보다도 작은 미세 다결정 구조를 지니고 있어 MS 모델에 따른 잦은 전자 산란을 유발한다.</a:t>
            </a:r>
          </a:p>
          <a:p>
            <a:pPr algn="l">
              <a:lnSpc>
                <a:spcPct val="115000"/>
              </a:lnSpc>
              <a:spcAft>
                <a:spcPts val="400"/>
              </a:spcAft>
            </a:pPr>
            <a:r>
              <a:rPr sz="1050">
                <a:solidFill>
                  <a:srgbClr val="1E293B"/>
                </a:solidFill>
                <a:latin typeface="Noto Sans CJK KR"/>
              </a:rPr>
              <a:t>IMEC은 이러한 초기 증착막의 한계를 극복하기 위해 서브 세컨드 레이저 어닐링(SLA, Sub-second Laser Annealing) 기술을 적용하였다15. 연구 결과에 따르면, 30nm 두께로 증착된 초기 Ru 박막의 비저항은 22.5 μΩ·cm (면저항 ~7.5 Ω/sq)에 달하며 15nm 수준의 작은 결정립들이 혼재된 상태였다15.</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SUB-SECOND LASER ANNEALING</a:t>
            </a:r>
          </a:p>
          <a:p>
            <a:pPr algn="l">
              <a:spcAft>
                <a:spcPts val="400"/>
              </a:spcAft>
            </a:pPr>
            <a:r>
              <a:rPr sz="1500" b="1">
                <a:solidFill>
                  <a:srgbClr val="0F172A"/>
                </a:solidFill>
                <a:latin typeface="Noto Sans CJK KR"/>
              </a:rPr>
              <a:t>SLA 공정을 통한 140nm 거대 결정립 형성 및 저항 50% 급감</a:t>
            </a:r>
          </a:p>
          <a:p>
            <a:pPr algn="l">
              <a:lnSpc>
                <a:spcPct val="115000"/>
              </a:lnSpc>
              <a:spcAft>
                <a:spcPts val="400"/>
              </a:spcAft>
            </a:pPr>
            <a:r>
              <a:rPr sz="1050">
                <a:solidFill>
                  <a:srgbClr val="1E293B"/>
                </a:solidFill>
                <a:latin typeface="Noto Sans CJK KR"/>
              </a:rPr>
              <a:t>그러나 SLA 공정을 통해 수십 J/cm²의 에너지 밀도 하에서 레이저 노출 시간(Illumination Time, IT)을 1.3 마이크로초(μs)에서 40 μs까지 정밀하게 제어하자, Ru 박막 내부의 결정립이 수직 방향뿐 아니라 수평(측면) 방향으로 폭발적으로 병합(Coalescence) 및 성장하는 현상이 확인되었다15.</a:t>
            </a:r>
          </a:p>
          <a:p>
            <a:pPr algn="l">
              <a:lnSpc>
                <a:spcPct val="115000"/>
              </a:lnSpc>
              <a:spcAft>
                <a:spcPts val="400"/>
              </a:spcAft>
            </a:pPr>
            <a:r>
              <a:rPr sz="1050">
                <a:solidFill>
                  <a:srgbClr val="1E293B"/>
                </a:solidFill>
                <a:latin typeface="Noto Sans CJK KR"/>
              </a:rPr>
              <a:t>특히 노출 시간 20~30 μs 구간을 넘어서면서 결정립 크기는 필름 두께를 완전히 채우고 측면으로 최대 140nm까지 뻗어나가는 거대한 기둥 형태(Column-shaped large grains)의 미세 구조로 변모하였다15.</a:t>
            </a:r>
          </a:p>
          <a:p>
            <a:pPr algn="l">
              <a:lnSpc>
                <a:spcPct val="115000"/>
              </a:lnSpc>
              <a:spcAft>
                <a:spcPts val="400"/>
              </a:spcAft>
            </a:pPr>
            <a:r>
              <a:rPr sz="1050">
                <a:solidFill>
                  <a:srgbClr val="1E293B"/>
                </a:solidFill>
                <a:latin typeface="Noto Sans CJK KR"/>
              </a:rPr>
              <a:t>이 과정에서 비저항은 선형적으로 급감하여 초기 대비 최대 약 50%까지 저항이 감소하는 플랫폼 체제(Plateau)에 진입하였다. 결정립 크기가 Ru의 전자의 평균 자유 행로(약 7nm 미만)를 아득히 초과하는 90~140nm 범위로 확장됨에 따라, 전자가 결정립계에 부딪혀 산란할 확률 자체가 물리적으로 차단된 결과이다15.</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07 /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3. 집적 공정의 패러다임 전환 — 1/5</a:t>
            </a:r>
          </a:p>
          <a:p>
            <a:pPr algn="l"/>
            <a:r>
              <a:rPr sz="2400" b="1">
                <a:solidFill>
                  <a:srgbClr val="0F172A"/>
                </a:solidFill>
                <a:latin typeface="Noto Sans CJK KR"/>
              </a:rPr>
              <a:t>Dual-Damascene 갭필 한계와 Semi-Damascene 패러다임 전환</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DUAL-DAMASCENE GAP-FILL BOTTLENECK</a:t>
            </a:r>
          </a:p>
          <a:p>
            <a:pPr algn="l">
              <a:spcAft>
                <a:spcPts val="400"/>
              </a:spcAft>
            </a:pPr>
            <a:r>
              <a:rPr sz="1500" b="1">
                <a:solidFill>
                  <a:srgbClr val="0F172A"/>
                </a:solidFill>
                <a:latin typeface="Noto Sans CJK KR"/>
              </a:rPr>
              <a:t>전통적 구리 상감 공정의 근본적 공학 한계</a:t>
            </a:r>
          </a:p>
          <a:p>
            <a:pPr algn="l">
              <a:lnSpc>
                <a:spcPct val="115000"/>
              </a:lnSpc>
              <a:spcAft>
                <a:spcPts val="400"/>
              </a:spcAft>
            </a:pPr>
            <a:r>
              <a:rPr sz="1150">
                <a:solidFill>
                  <a:srgbClr val="1E293B"/>
                </a:solidFill>
                <a:latin typeface="Noto Sans CJK KR"/>
              </a:rPr>
              <a:t>Ru를 도입하는 것만으로는 차세대 BEOL의 모든 문제가 해결되지 않는다.</a:t>
            </a:r>
          </a:p>
          <a:p>
            <a:pPr algn="l">
              <a:lnSpc>
                <a:spcPct val="115000"/>
              </a:lnSpc>
              <a:spcAft>
                <a:spcPts val="400"/>
              </a:spcAft>
            </a:pPr>
            <a:r>
              <a:rPr sz="1150">
                <a:solidFill>
                  <a:srgbClr val="1E293B"/>
                </a:solidFill>
                <a:latin typeface="Noto Sans CJK KR"/>
              </a:rPr>
              <a:t>전통적인 구리 공정에서 활용되는 이중 상감(Dual-damascene) 기법은 유전체에 배선 패턴(Trench)과 비아(Via) 홀을 먼저 식각한 후 금속을 채워 넣고 화학적 기계적 연마(CMP)로 평탄화하는 방식이다.</a:t>
            </a:r>
          </a:p>
          <a:p>
            <a:pPr algn="l">
              <a:lnSpc>
                <a:spcPct val="115000"/>
              </a:lnSpc>
              <a:spcAft>
                <a:spcPts val="400"/>
              </a:spcAft>
            </a:pPr>
            <a:r>
              <a:rPr sz="1150">
                <a:solidFill>
                  <a:srgbClr val="1E293B"/>
                </a:solidFill>
                <a:latin typeface="Noto Sans CJK KR"/>
              </a:rPr>
              <a:t>그러나 금속 피치가 20nm 이하로 좁아지면, 좁고 깊은 유전체 트렌치 내부에 배리어를 얇게 바르고 금속 씨앗층(Seed layer)을 올린 뒤 전해 도금으로 속을 빈틈없이 채워 넣는(Gap-fill) 공정이 근본적인 공학적 한계에 부딪히게 된다1.</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NEW INTEGRATION PARADIGM</a:t>
            </a:r>
          </a:p>
          <a:p>
            <a:pPr algn="l">
              <a:spcAft>
                <a:spcPts val="400"/>
              </a:spcAft>
            </a:pPr>
            <a:r>
              <a:rPr sz="1500" b="1">
                <a:solidFill>
                  <a:srgbClr val="0F172A"/>
                </a:solidFill>
                <a:latin typeface="Noto Sans CJK KR"/>
              </a:rPr>
              <a:t>IMEC Semi-Damascene (반-상감) 아키텍처 제안</a:t>
            </a:r>
          </a:p>
          <a:p>
            <a:pPr algn="l">
              <a:lnSpc>
                <a:spcPct val="115000"/>
              </a:lnSpc>
              <a:spcAft>
                <a:spcPts val="400"/>
              </a:spcAft>
            </a:pPr>
            <a:r>
              <a:rPr sz="1150">
                <a:solidFill>
                  <a:srgbClr val="1E293B"/>
                </a:solidFill>
                <a:latin typeface="Noto Sans CJK KR"/>
              </a:rPr>
              <a:t>이에 IMEC은 2017년 최초의 특허 출원을 시작으로 2020년 학계에 반-상감(Semi-damascene) 집적 공정이라는 완전히 새로운 패러다임을 제안하였으며, 매년 IITC 및 IEDM 학회를 통해 그 완성도를 극도로 끌어올리고 있다2.</a:t>
            </a:r>
          </a:p>
          <a:p>
            <a:pPr algn="l">
              <a:lnSpc>
                <a:spcPct val="115000"/>
              </a:lnSpc>
              <a:spcAft>
                <a:spcPts val="400"/>
              </a:spcAft>
            </a:pPr>
            <a:r>
              <a:rPr sz="1150">
                <a:solidFill>
                  <a:srgbClr val="1E293B"/>
                </a:solidFill>
                <a:latin typeface="Noto Sans CJK KR"/>
              </a:rPr>
              <a:t>반-상감(Semi-damascene) 공정은 이름에서 유추할 수 있듯이 구리 공정의 다마신 방식을 절반만 차용하고, 나머지는 과거 알루미늄 배선 시절에 사용되던 감산 식각(Subtractive Etch) 방식을 현대적인 극자외선(EUV) 리소그래피와 결합하여 부활시킨 혁신적인 융합 공정이다2.</a:t>
            </a:r>
          </a:p>
          <a:p>
            <a:pPr algn="l">
              <a:lnSpc>
                <a:spcPct val="115000"/>
              </a:lnSpc>
              <a:spcAft>
                <a:spcPts val="400"/>
              </a:spcAft>
            </a:pPr>
            <a:r>
              <a:rPr sz="1150">
                <a:solidFill>
                  <a:srgbClr val="1E293B"/>
                </a:solidFill>
                <a:latin typeface="Noto Sans CJK KR"/>
              </a:rPr>
              <a:t>이 공정은 금속 피치 20nm 이하의 극미세 환경에서 금속 CMP를 원천적으로 배제하여 라인 높이 제어의 안정성을 도모한다.</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08 / 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3.1 단계별 공정 원리 — 2/5</a:t>
            </a:r>
          </a:p>
          <a:p>
            <a:pPr algn="l"/>
            <a:r>
              <a:rPr sz="2400" b="1">
                <a:solidFill>
                  <a:srgbClr val="0F172A"/>
                </a:solidFill>
                <a:latin typeface="Noto Sans CJK KR"/>
              </a:rPr>
              <a:t>Semi-Damascene 집적 모듈의 4단계 공정 시퀀스</a:t>
            </a:r>
          </a:p>
        </p:txBody>
      </p:sp>
      <p:sp>
        <p:nvSpPr>
          <p:cNvPr id="4" name="Rounded Rectangle 3"/>
          <p:cNvSpPr/>
          <p:nvPr/>
        </p:nvSpPr>
        <p:spPr>
          <a:xfrm>
            <a:off x="731520" y="1874519"/>
            <a:ext cx="251460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896112" y="2039112"/>
            <a:ext cx="2185416" cy="3968496"/>
          </a:xfrm>
          <a:prstGeom prst="rect">
            <a:avLst/>
          </a:prstGeom>
          <a:noFill/>
        </p:spPr>
        <p:txBody>
          <a:bodyPr wrap="square" anchor="t" lIns="0" tIns="0" rIns="0" bIns="0">
            <a:spAutoFit/>
          </a:bodyPr>
          <a:lstStyle/>
          <a:p>
            <a:pPr>
              <a:spcAft>
                <a:spcPts val="200"/>
              </a:spcAft>
            </a:pPr>
            <a:r>
              <a:rPr sz="1100" b="1">
                <a:solidFill>
                  <a:srgbClr val="0284C7"/>
                </a:solidFill>
                <a:latin typeface="Noto Sans CJK KR"/>
              </a:rPr>
              <a:t>STEP 01</a:t>
            </a:r>
          </a:p>
          <a:p>
            <a:pPr>
              <a:spcAft>
                <a:spcPts val="600"/>
              </a:spcAft>
            </a:pPr>
            <a:r>
              <a:rPr sz="1450" b="1">
                <a:solidFill>
                  <a:srgbClr val="0F172A"/>
                </a:solidFill>
                <a:latin typeface="Noto Sans CJK KR"/>
              </a:rPr>
              <a:t>하부 금속층(M0)
패터닝</a:t>
            </a:r>
          </a:p>
          <a:p>
            <a:pPr>
              <a:lnSpc>
                <a:spcPct val="115000"/>
              </a:lnSpc>
            </a:pPr>
            <a:r>
              <a:rPr sz="1100">
                <a:solidFill>
                  <a:srgbClr val="1E293B"/>
                </a:solidFill>
                <a:latin typeface="Noto Sans CJK KR"/>
              </a:rPr>
              <a:t>절연막을 파내고 금속을 채우는 대신, 유전체 기판 위에 Ru 박막을 PVD 혹은 CVD 방식을 통해 전면 증착한다. 이후 패터닝용 SiN 혹은 옥사이드 계열의 하드마스크를 올린 뒤, EUV 기반의 자기 정렬 이중 패터닝(SADP, Spacer-is-Dielectric) 공정을 이용하여 Ru 박막을 수직으로 직접 깎아내어(Direct Metal Etch) 하부 금속 라인을 형성한다2.</a:t>
            </a:r>
          </a:p>
        </p:txBody>
      </p:sp>
      <p:sp>
        <p:nvSpPr>
          <p:cNvPr id="6" name="Rounded Rectangle 5"/>
          <p:cNvSpPr/>
          <p:nvPr/>
        </p:nvSpPr>
        <p:spPr>
          <a:xfrm>
            <a:off x="3469233" y="1874519"/>
            <a:ext cx="251460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3633825" y="2039112"/>
            <a:ext cx="2185416" cy="3968496"/>
          </a:xfrm>
          <a:prstGeom prst="rect">
            <a:avLst/>
          </a:prstGeom>
          <a:noFill/>
        </p:spPr>
        <p:txBody>
          <a:bodyPr wrap="square" anchor="t" lIns="0" tIns="0" rIns="0" bIns="0">
            <a:spAutoFit/>
          </a:bodyPr>
          <a:lstStyle/>
          <a:p>
            <a:pPr>
              <a:spcAft>
                <a:spcPts val="200"/>
              </a:spcAft>
            </a:pPr>
            <a:r>
              <a:rPr sz="1100" b="1">
                <a:solidFill>
                  <a:srgbClr val="0284C7"/>
                </a:solidFill>
                <a:latin typeface="Noto Sans CJK KR"/>
              </a:rPr>
              <a:t>STEP 02</a:t>
            </a:r>
          </a:p>
          <a:p>
            <a:pPr>
              <a:spcAft>
                <a:spcPts val="600"/>
              </a:spcAft>
            </a:pPr>
            <a:r>
              <a:rPr sz="1450" b="1">
                <a:solidFill>
                  <a:srgbClr val="0F172A"/>
                </a:solidFill>
                <a:latin typeface="Noto Sans CJK KR"/>
              </a:rPr>
              <a:t>유전체 갭필 또는
에어갭 형성</a:t>
            </a:r>
          </a:p>
          <a:p>
            <a:pPr>
              <a:lnSpc>
                <a:spcPct val="115000"/>
              </a:lnSpc>
            </a:pPr>
            <a:r>
              <a:rPr sz="1100">
                <a:solidFill>
                  <a:srgbClr val="1E293B"/>
                </a:solidFill>
                <a:latin typeface="Noto Sans CJK KR"/>
              </a:rPr>
              <a:t>감산 식각으로 우뚝 솟은 금속 라인들 사이의 빈 공간에 Low-k 유전체(Dielectric) 물질을 채워 넣거나, 정전용량을 극소화하기 위해 일부러 빈 공간을 남겨두는 에어갭(Airgap) 구조를 형성한다2.</a:t>
            </a:r>
          </a:p>
        </p:txBody>
      </p:sp>
      <p:sp>
        <p:nvSpPr>
          <p:cNvPr id="8" name="Rounded Rectangle 7"/>
          <p:cNvSpPr/>
          <p:nvPr/>
        </p:nvSpPr>
        <p:spPr>
          <a:xfrm>
            <a:off x="6206947" y="1874519"/>
            <a:ext cx="251460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71539" y="2039112"/>
            <a:ext cx="2185416" cy="3968496"/>
          </a:xfrm>
          <a:prstGeom prst="rect">
            <a:avLst/>
          </a:prstGeom>
          <a:noFill/>
        </p:spPr>
        <p:txBody>
          <a:bodyPr wrap="square" anchor="t" lIns="0" tIns="0" rIns="0" bIns="0">
            <a:spAutoFit/>
          </a:bodyPr>
          <a:lstStyle/>
          <a:p>
            <a:pPr>
              <a:spcAft>
                <a:spcPts val="200"/>
              </a:spcAft>
            </a:pPr>
            <a:r>
              <a:rPr sz="1100" b="1">
                <a:solidFill>
                  <a:srgbClr val="0284C7"/>
                </a:solidFill>
                <a:latin typeface="Noto Sans CJK KR"/>
              </a:rPr>
              <a:t>STEP 03</a:t>
            </a:r>
          </a:p>
          <a:p>
            <a:pPr>
              <a:spcAft>
                <a:spcPts val="600"/>
              </a:spcAft>
            </a:pPr>
            <a:r>
              <a:rPr sz="1450" b="1">
                <a:solidFill>
                  <a:srgbClr val="0F172A"/>
                </a:solidFill>
                <a:latin typeface="Noto Sans CJK KR"/>
              </a:rPr>
              <a:t>비아(Via) 및 상부
금속층 오버필</a:t>
            </a:r>
          </a:p>
          <a:p>
            <a:pPr>
              <a:lnSpc>
                <a:spcPct val="115000"/>
              </a:lnSpc>
            </a:pPr>
            <a:r>
              <a:rPr sz="1100">
                <a:solidFill>
                  <a:srgbClr val="1E293B"/>
                </a:solidFill>
                <a:latin typeface="Noto Sans CJK KR"/>
              </a:rPr>
              <a:t>절연층 위로 비아 홀을 단일 상감(Single-damascene) 방식으로 식각하여 하부 금속 라인(Ru)의 윗부분을 노출시킨다. 그 후 상부 금속 물질(Ru)을 증착하는데, 비아를 채움과 동시에 금속 증착을 멈추지 않고 흘러넘치게 하여(Overfill) 완전히 새로운 금속 평면 층을 형성한다2.</a:t>
            </a:r>
          </a:p>
        </p:txBody>
      </p:sp>
      <p:sp>
        <p:nvSpPr>
          <p:cNvPr id="10" name="Rounded Rectangle 9"/>
          <p:cNvSpPr/>
          <p:nvPr/>
        </p:nvSpPr>
        <p:spPr>
          <a:xfrm>
            <a:off x="8944660" y="1874519"/>
            <a:ext cx="251460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09252" y="2039112"/>
            <a:ext cx="2185416" cy="3968496"/>
          </a:xfrm>
          <a:prstGeom prst="rect">
            <a:avLst/>
          </a:prstGeom>
          <a:noFill/>
        </p:spPr>
        <p:txBody>
          <a:bodyPr wrap="square" anchor="t" lIns="0" tIns="0" rIns="0" bIns="0">
            <a:spAutoFit/>
          </a:bodyPr>
          <a:lstStyle/>
          <a:p>
            <a:pPr>
              <a:spcAft>
                <a:spcPts val="200"/>
              </a:spcAft>
            </a:pPr>
            <a:r>
              <a:rPr sz="1100" b="1">
                <a:solidFill>
                  <a:srgbClr val="0284C7"/>
                </a:solidFill>
                <a:latin typeface="Noto Sans CJK KR"/>
              </a:rPr>
              <a:t>STEP 04</a:t>
            </a:r>
          </a:p>
          <a:p>
            <a:pPr>
              <a:spcAft>
                <a:spcPts val="600"/>
              </a:spcAft>
            </a:pPr>
            <a:r>
              <a:rPr sz="1450" b="1">
                <a:solidFill>
                  <a:srgbClr val="0F172A"/>
                </a:solidFill>
                <a:latin typeface="Noto Sans CJK KR"/>
              </a:rPr>
              <a:t>상부 배선층(M1)
감산 식각</a:t>
            </a:r>
          </a:p>
          <a:p>
            <a:pPr>
              <a:lnSpc>
                <a:spcPct val="115000"/>
              </a:lnSpc>
            </a:pPr>
            <a:r>
              <a:rPr sz="1100">
                <a:solidFill>
                  <a:srgbClr val="1E293B"/>
                </a:solidFill>
                <a:latin typeface="Noto Sans CJK KR"/>
              </a:rPr>
              <a:t>마지막으로 이 상단 평면 층을 다시 감산 식각하여 하부 금속층과 직교하는 두 번째 배선층(M1)을 패터닝한다. 이로써 CMP 없이 초고종횡비의 2층 배선 구조가 완성된다.</a:t>
            </a:r>
          </a:p>
        </p:txBody>
      </p:sp>
      <p:sp>
        <p:nvSpPr>
          <p:cNvPr id="12" name="TextBox 11"/>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09 /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3.2 극저저항 한계 돌파 — 3/5</a:t>
            </a:r>
          </a:p>
          <a:p>
            <a:pPr algn="l"/>
            <a:r>
              <a:rPr sz="2400" b="1">
                <a:solidFill>
                  <a:srgbClr val="0F172A"/>
                </a:solidFill>
                <a:latin typeface="Noto Sans CJK KR"/>
              </a:rPr>
              <a:t>16nm Pitch Ru 배선 구현 및 기록적 초저저항 656 Ω/m 달성 (IITC 2025)</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16NM PITCH / 656 Ω/M</a:t>
            </a:r>
          </a:p>
          <a:p>
            <a:pPr algn="l">
              <a:spcAft>
                <a:spcPts val="400"/>
              </a:spcAft>
            </a:pPr>
            <a:r>
              <a:rPr sz="1500" b="1">
                <a:solidFill>
                  <a:srgbClr val="0F172A"/>
                </a:solidFill>
                <a:latin typeface="Noto Sans CJK KR"/>
              </a:rPr>
              <a:t>세계 최초 16nm Pitch Ru 배선 실측 성과</a:t>
            </a:r>
          </a:p>
          <a:p>
            <a:pPr algn="l">
              <a:lnSpc>
                <a:spcPct val="115000"/>
              </a:lnSpc>
              <a:spcAft>
                <a:spcPts val="400"/>
              </a:spcAft>
            </a:pPr>
            <a:r>
              <a:rPr sz="1100">
                <a:solidFill>
                  <a:srgbClr val="1E293B"/>
                </a:solidFill>
                <a:latin typeface="Noto Sans CJK KR"/>
              </a:rPr>
              <a:t>IMEC은 반-상감 공정의 성숙도를 증명하기 위해 2025년 IEEE IITC에서 세계 최초로 16nm 피치(금속 라인 폭 약 8nm)의 Ru 배선을 제조하고 전기적 특성을 성공적으로 측정한 결과를 발표했다2.</a:t>
            </a:r>
          </a:p>
          <a:p>
            <a:pPr algn="l">
              <a:lnSpc>
                <a:spcPct val="115000"/>
              </a:lnSpc>
              <a:spcAft>
                <a:spcPts val="400"/>
              </a:spcAft>
            </a:pPr>
            <a:r>
              <a:rPr sz="1100">
                <a:solidFill>
                  <a:srgbClr val="1E293B"/>
                </a:solidFill>
                <a:latin typeface="Noto Sans CJK KR"/>
              </a:rPr>
              <a:t>해당 연구는 차세대 A7 노드 이상을 겨냥한 M0 국부 배선층을 타깃으로 삼았으며, 측정된 Ru 배선의 평균 선저항은 무려 656 Ω/m에 불과한 기록적인 초저저항 상태를 달성하였다2.</a:t>
            </a:r>
          </a:p>
          <a:p>
            <a:pPr algn="l">
              <a:lnSpc>
                <a:spcPct val="115000"/>
              </a:lnSpc>
              <a:spcAft>
                <a:spcPts val="400"/>
              </a:spcAft>
            </a:pPr>
            <a:r>
              <a:rPr sz="1100">
                <a:solidFill>
                  <a:srgbClr val="1E293B"/>
                </a:solidFill>
                <a:latin typeface="Noto Sans CJK KR"/>
              </a:rPr>
              <a:t>이러한 수치는 단순한 연구실 단위의 실험을 넘어 양산 가능성을 타진할 수 있는 수준이다.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300MM YIELD VALIDATION</a:t>
            </a:r>
          </a:p>
          <a:p>
            <a:pPr algn="l">
              <a:spcAft>
                <a:spcPts val="400"/>
              </a:spcAft>
            </a:pPr>
            <a:r>
              <a:rPr sz="1500" b="1">
                <a:solidFill>
                  <a:srgbClr val="0F172A"/>
                </a:solidFill>
                <a:latin typeface="Noto Sans CJK KR"/>
              </a:rPr>
              <a:t>300mm 웨이퍼 수율 검증 및 독자적 식각 화학</a:t>
            </a:r>
          </a:p>
          <a:p>
            <a:pPr algn="l">
              <a:lnSpc>
                <a:spcPct val="115000"/>
              </a:lnSpc>
              <a:spcAft>
                <a:spcPts val="400"/>
              </a:spcAft>
            </a:pPr>
            <a:r>
              <a:rPr sz="1100">
                <a:solidFill>
                  <a:srgbClr val="1E293B"/>
                </a:solidFill>
                <a:latin typeface="Noto Sans CJK KR"/>
              </a:rPr>
              <a:t>18~22nm 금속 피치 대역에서는 300mm 웨이퍼 전면에서 90% 이상의 완벽에 가까운 패턴 수율을 기록하였으며, 극한의 미세도인 16nm 피치 구조에서도 웨이퍼 상의 측정된 라인의 40%가 Ru 박막의 벌크 비저항 예측치 기반의 이론적 타깃 저항치를 완벽히 충족하는 기염을 토했다2.</a:t>
            </a:r>
          </a:p>
          <a:p>
            <a:pPr algn="l">
              <a:lnSpc>
                <a:spcPct val="115000"/>
              </a:lnSpc>
              <a:spcAft>
                <a:spcPts val="400"/>
              </a:spcAft>
            </a:pPr>
            <a:r>
              <a:rPr sz="1100">
                <a:solidFill>
                  <a:srgbClr val="1E293B"/>
                </a:solidFill>
                <a:latin typeface="Noto Sans CJK KR"/>
              </a:rPr>
              <a:t>이 성과는 고비용의 복잡한 신물질 대신 저비용의 산화물(Oxide) 및 질화물(Nitride) 기반 재료를 하드마스크와 스페이서, 갭필 물질로 적극 활용하여 경제성을 유지한 상태에서 이루어졌다.</a:t>
            </a:r>
          </a:p>
          <a:p>
            <a:pPr algn="l">
              <a:lnSpc>
                <a:spcPct val="115000"/>
              </a:lnSpc>
              <a:spcAft>
                <a:spcPts val="400"/>
              </a:spcAft>
            </a:pPr>
            <a:r>
              <a:rPr sz="1100">
                <a:solidFill>
                  <a:srgbClr val="1E293B"/>
                </a:solidFill>
                <a:latin typeface="Noto Sans CJK KR"/>
              </a:rPr>
              <a:t>특히 패턴 역전(Pattern Inversion) 단계의 도입과 더불어 SiN 하드마스크의 산화를 막아 라인 간 융착(Line bridging defect)을 억제하는 독자적인 Ru 건식 식각 화학이 저항 달성의 1등 공신이었다2.</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10 /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3.3 비아 정렬 구조 진화 — 4/5</a:t>
            </a:r>
          </a:p>
          <a:p>
            <a:pPr algn="l"/>
            <a:r>
              <a:rPr sz="2400" b="1">
                <a:solidFill>
                  <a:srgbClr val="0F172A"/>
                </a:solidFill>
                <a:latin typeface="Noto Sans CJK KR"/>
              </a:rPr>
              <a:t>Fully Self-Aligned Vias (FSAV) 집적 모듈 3종 비교</a:t>
            </a:r>
          </a:p>
        </p:txBody>
      </p:sp>
      <p:sp>
        <p:nvSpPr>
          <p:cNvPr id="4" name="TextBox 3"/>
          <p:cNvSpPr txBox="1"/>
          <p:nvPr/>
        </p:nvSpPr>
        <p:spPr>
          <a:xfrm>
            <a:off x="731520" y="1828800"/>
            <a:ext cx="10728655" cy="868680"/>
          </a:xfrm>
          <a:prstGeom prst="rect">
            <a:avLst/>
          </a:prstGeom>
          <a:noFill/>
        </p:spPr>
        <p:txBody>
          <a:bodyPr wrap="square" anchor="t" lIns="0" tIns="0" rIns="0" bIns="0">
            <a:spAutoFit/>
          </a:bodyPr>
          <a:lstStyle/>
          <a:p>
            <a:pPr>
              <a:lnSpc>
                <a:spcPct val="115000"/>
              </a:lnSpc>
            </a:pPr>
            <a:r>
              <a:rPr sz="1100">
                <a:solidFill>
                  <a:srgbClr val="1E293B"/>
                </a:solidFill>
                <a:latin typeface="Noto Sans CJK KR"/>
              </a:rPr>
              <a:t>반-상감 공정이 단일 층을 넘어 여러 층으로 확장되기 위해서는 하부 금속층과 상부 금속층을 잇는 비아(Via)의 완벽한 수직 정렬이 필수적이다. 비아가 금속 라인의 폭을 벗어나 유전체를 침범할 경우, 인접한 라인으로 누설 전류가 발생하거나 TDDB 수명이 급감하기 때문이다. IMEC은 18nm 피치 수준에서 완벽히 자기 정렬된 비아 구조(Fully Self-Aligned Vias, FSAV) 모듈을 선보여 이러한 오버레이(Overlay) 정렬 에러의 공포를 종식시켰다2.</a:t>
            </a:r>
          </a:p>
        </p:txBody>
      </p:sp>
      <p:graphicFrame>
        <p:nvGraphicFramePr>
          <p:cNvPr id="5" name="Table 4"/>
          <p:cNvGraphicFramePr>
            <a:graphicFrameLocks noGrp="1"/>
          </p:cNvGraphicFramePr>
          <p:nvPr/>
        </p:nvGraphicFramePr>
        <p:xfrm>
          <a:off x="731520" y="2788920"/>
          <a:ext cx="10728655" cy="3383280"/>
        </p:xfrm>
        <a:graphic>
          <a:graphicData uri="http://schemas.openxmlformats.org/drawingml/2006/table">
            <a:tbl>
              <a:tblPr firstRow="1" bandRow="1">
                <a:tableStyleId>{5C22544A-7EE6-4342-B048-85BDC9FD1C3A}</a:tableStyleId>
              </a:tblPr>
              <a:tblGrid>
                <a:gridCol w="2286000"/>
                <a:gridCol w="2926080"/>
                <a:gridCol w="2560320"/>
                <a:gridCol w="2956255"/>
              </a:tblGrid>
              <a:tr h="845820">
                <a:tc>
                  <a:txBody>
                    <a:bodyPr/>
                    <a:lstStyle/>
                    <a:p>
                      <a:pPr algn="ctr"/>
                      <a:r>
                        <a:rPr sz="1150" b="1">
                          <a:solidFill>
                            <a:srgbClr val="FFFFFF"/>
                          </a:solidFill>
                          <a:latin typeface="Noto Sans CJK KR"/>
                        </a:rPr>
                        <a:t>FSAV 집적 모듈 종류</a:t>
                      </a:r>
                    </a:p>
                  </a:txBody>
                  <a:tcPr marL="109728" marR="109728" marT="73152" marB="73152">
                    <a:solidFill>
                      <a:srgbClr val="0F172A"/>
                    </a:solidFill>
                  </a:tcPr>
                </a:tc>
                <a:tc>
                  <a:txBody>
                    <a:bodyPr/>
                    <a:lstStyle/>
                    <a:p>
                      <a:pPr algn="ctr"/>
                      <a:r>
                        <a:rPr sz="1150" b="1">
                          <a:solidFill>
                            <a:srgbClr val="FFFFFF"/>
                          </a:solidFill>
                          <a:latin typeface="Noto Sans CJK KR"/>
                        </a:rPr>
                        <a:t>공정 방식 및 주요 특징</a:t>
                      </a:r>
                    </a:p>
                  </a:txBody>
                  <a:tcPr marL="109728" marR="109728" marT="73152" marB="73152">
                    <a:solidFill>
                      <a:srgbClr val="0F172A"/>
                    </a:solidFill>
                  </a:tcPr>
                </a:tc>
                <a:tc>
                  <a:txBody>
                    <a:bodyPr/>
                    <a:lstStyle/>
                    <a:p>
                      <a:pPr algn="ctr"/>
                      <a:r>
                        <a:rPr sz="1150" b="1">
                          <a:solidFill>
                            <a:srgbClr val="FFFFFF"/>
                          </a:solidFill>
                          <a:latin typeface="Noto Sans CJK KR"/>
                        </a:rPr>
                        <a:t>패터닝 / 리소그래피 접근법</a:t>
                      </a:r>
                    </a:p>
                  </a:txBody>
                  <a:tcPr marL="109728" marR="109728" marT="73152" marB="73152">
                    <a:solidFill>
                      <a:srgbClr val="0F172A"/>
                    </a:solidFill>
                  </a:tcPr>
                </a:tc>
                <a:tc>
                  <a:txBody>
                    <a:bodyPr/>
                    <a:lstStyle/>
                    <a:p>
                      <a:pPr algn="ctr"/>
                      <a:r>
                        <a:rPr sz="1150" b="1">
                          <a:solidFill>
                            <a:srgbClr val="FFFFFF"/>
                          </a:solidFill>
                          <a:latin typeface="Noto Sans CJK KR"/>
                        </a:rPr>
                        <a:t>제조 수율 및 기술적 이점</a:t>
                      </a:r>
                    </a:p>
                  </a:txBody>
                  <a:tcPr marL="109728" marR="109728" marT="73152" marB="73152">
                    <a:solidFill>
                      <a:srgbClr val="0F172A"/>
                    </a:solidFill>
                  </a:tcPr>
                </a:tc>
              </a:tr>
              <a:tr h="845820">
                <a:tc>
                  <a:txBody>
                    <a:bodyPr/>
                    <a:lstStyle/>
                    <a:p>
                      <a:pPr algn="ctr"/>
                      <a:r>
                        <a:rPr sz="1100" b="1">
                          <a:solidFill>
                            <a:srgbClr val="0284C7"/>
                          </a:solidFill>
                          <a:latin typeface="Noto Sans CJK KR"/>
                        </a:rPr>
                        <a:t>Conventional
Single-Damascene FSAV</a:t>
                      </a:r>
                    </a:p>
                  </a:txBody>
                  <a:tcPr marL="109728" marR="109728" marT="73152" marB="73152">
                    <a:solidFill>
                      <a:srgbClr val="FFFFFF"/>
                    </a:solidFill>
                  </a:tcPr>
                </a:tc>
                <a:tc>
                  <a:txBody>
                    <a:bodyPr/>
                    <a:lstStyle/>
                    <a:p>
                      <a:pPr algn="l"/>
                      <a:r>
                        <a:rPr sz="1100">
                          <a:solidFill>
                            <a:srgbClr val="1E293B"/>
                          </a:solidFill>
                          <a:latin typeface="Noto Sans CJK KR"/>
                        </a:rPr>
                        <a:t>기존처럼 유전체에 비아 홀을 파내고 금속을 채우는 보수적 방식.</a:t>
                      </a:r>
                    </a:p>
                  </a:txBody>
                  <a:tcPr marL="109728" marR="109728" marT="73152" marB="73152">
                    <a:solidFill>
                      <a:srgbClr val="FFFFFF"/>
                    </a:solidFill>
                  </a:tcPr>
                </a:tc>
                <a:tc>
                  <a:txBody>
                    <a:bodyPr/>
                    <a:lstStyle/>
                    <a:p>
                      <a:pPr algn="l"/>
                      <a:r>
                        <a:rPr sz="1100">
                          <a:solidFill>
                            <a:srgbClr val="1E293B"/>
                          </a:solidFill>
                          <a:latin typeface="Noto Sans CJK KR"/>
                        </a:rPr>
                        <a:t>EUV 리소그래피를 이용한 전통적 비아 홀 식각.</a:t>
                      </a:r>
                    </a:p>
                  </a:txBody>
                  <a:tcPr marL="109728" marR="109728" marT="73152" marB="73152">
                    <a:solidFill>
                      <a:srgbClr val="FFFFFF"/>
                    </a:solidFill>
                  </a:tcPr>
                </a:tc>
                <a:tc>
                  <a:txBody>
                    <a:bodyPr/>
                    <a:lstStyle/>
                    <a:p>
                      <a:pPr algn="l"/>
                      <a:r>
                        <a:rPr sz="1100">
                          <a:solidFill>
                            <a:srgbClr val="1E293B"/>
                          </a:solidFill>
                          <a:latin typeface="Noto Sans CJK KR"/>
                        </a:rPr>
                        <a:t>기존 장비와의 호환성이 가장 높으나, 극미세 간격에서 정렬 마진이 상대적으로 부족함.</a:t>
                      </a:r>
                    </a:p>
                  </a:txBody>
                  <a:tcPr marL="109728" marR="109728" marT="73152" marB="73152">
                    <a:solidFill>
                      <a:srgbClr val="FFFFFF"/>
                    </a:solidFill>
                  </a:tcPr>
                </a:tc>
              </a:tr>
              <a:tr h="845820">
                <a:tc>
                  <a:txBody>
                    <a:bodyPr/>
                    <a:lstStyle/>
                    <a:p>
                      <a:pPr algn="ctr"/>
                      <a:r>
                        <a:rPr sz="1100" b="1">
                          <a:solidFill>
                            <a:srgbClr val="0284C7"/>
                          </a:solidFill>
                          <a:latin typeface="Noto Sans CJK KR"/>
                        </a:rPr>
                        <a:t>Hybrid Pillar FSAV
(HP-FSAV)</a:t>
                      </a:r>
                    </a:p>
                  </a:txBody>
                  <a:tcPr marL="109728" marR="109728" marT="73152" marB="73152">
                    <a:solidFill>
                      <a:srgbClr val="F1F5F9"/>
                    </a:solidFill>
                  </a:tcPr>
                </a:tc>
                <a:tc>
                  <a:txBody>
                    <a:bodyPr/>
                    <a:lstStyle/>
                    <a:p>
                      <a:pPr algn="l"/>
                      <a:r>
                        <a:rPr sz="1100">
                          <a:solidFill>
                            <a:srgbClr val="1E293B"/>
                          </a:solidFill>
                          <a:latin typeface="Noto Sans CJK KR"/>
                        </a:rPr>
                        <a:t>감산 식각 공정 중 비아를 하부 배선 위에 우뚝 솟은 금속 기둥(Pillar) 형태로 미리 깎아 남기는 방식.</a:t>
                      </a:r>
                    </a:p>
                  </a:txBody>
                  <a:tcPr marL="109728" marR="109728" marT="73152" marB="73152">
                    <a:solidFill>
                      <a:srgbClr val="F1F5F9"/>
                    </a:solidFill>
                  </a:tcPr>
                </a:tc>
                <a:tc>
                  <a:txBody>
                    <a:bodyPr/>
                    <a:lstStyle/>
                    <a:p>
                      <a:pPr algn="l"/>
                      <a:r>
                        <a:rPr sz="1100">
                          <a:solidFill>
                            <a:srgbClr val="1E293B"/>
                          </a:solidFill>
                          <a:latin typeface="Noto Sans CJK KR"/>
                        </a:rPr>
                        <a:t>EUV 리소그래피 톤 역전(Tone inversion) 기술을 활용하여 기둥 패턴을 남김.</a:t>
                      </a:r>
                    </a:p>
                  </a:txBody>
                  <a:tcPr marL="109728" marR="109728" marT="73152" marB="73152">
                    <a:solidFill>
                      <a:srgbClr val="F1F5F9"/>
                    </a:solidFill>
                  </a:tcPr>
                </a:tc>
                <a:tc>
                  <a:txBody>
                    <a:bodyPr/>
                    <a:lstStyle/>
                    <a:p>
                      <a:pPr algn="l"/>
                      <a:r>
                        <a:rPr sz="1100">
                          <a:solidFill>
                            <a:srgbClr val="1E293B"/>
                          </a:solidFill>
                          <a:latin typeface="Noto Sans CJK KR"/>
                        </a:rPr>
                        <a:t>비아 바닥면이 금속 라인과 일체형으로 완벽히 정렬되며, 유전체 계면 결함이 원천 차단됨.</a:t>
                      </a:r>
                    </a:p>
                  </a:txBody>
                  <a:tcPr marL="109728" marR="109728" marT="73152" marB="73152">
                    <a:solidFill>
                      <a:srgbClr val="F1F5F9"/>
                    </a:solidFill>
                  </a:tcPr>
                </a:tc>
              </a:tr>
              <a:tr h="845820">
                <a:tc>
                  <a:txBody>
                    <a:bodyPr/>
                    <a:lstStyle/>
                    <a:p>
                      <a:pPr algn="ctr"/>
                      <a:r>
                        <a:rPr sz="1100" b="1">
                          <a:solidFill>
                            <a:srgbClr val="0284C7"/>
                          </a:solidFill>
                          <a:latin typeface="Noto Sans CJK KR"/>
                        </a:rPr>
                        <a:t>Pillar with Etch Stop Layer
(PE-FSAV)</a:t>
                      </a:r>
                    </a:p>
                  </a:txBody>
                  <a:tcPr marL="109728" marR="109728" marT="73152" marB="73152">
                    <a:solidFill>
                      <a:srgbClr val="F0F9FF"/>
                    </a:solidFill>
                  </a:tcPr>
                </a:tc>
                <a:tc>
                  <a:txBody>
                    <a:bodyPr/>
                    <a:lstStyle/>
                    <a:p>
                      <a:pPr algn="l"/>
                      <a:r>
                        <a:rPr sz="1100">
                          <a:solidFill>
                            <a:srgbClr val="1E293B"/>
                          </a:solidFill>
                          <a:latin typeface="Noto Sans CJK KR"/>
                        </a:rPr>
                        <a:t>기둥 형성 시 식각 정지층(Etch Stop Layer)을 삽입하여 높이 제어와 패터닝 정밀도를 높인 개량형 방식.</a:t>
                      </a:r>
                    </a:p>
                  </a:txBody>
                  <a:tcPr marL="109728" marR="109728" marT="73152" marB="73152">
                    <a:solidFill>
                      <a:srgbClr val="F0F9FF"/>
                    </a:solidFill>
                  </a:tcPr>
                </a:tc>
                <a:tc>
                  <a:txBody>
                    <a:bodyPr/>
                    <a:lstStyle/>
                    <a:p>
                      <a:pPr algn="l"/>
                      <a:r>
                        <a:rPr sz="1100">
                          <a:solidFill>
                            <a:srgbClr val="1E293B"/>
                          </a:solidFill>
                          <a:latin typeface="Noto Sans CJK KR"/>
                        </a:rPr>
                        <a:t>직접 금속 식각(DME) 시 정지층을 이용한 정밀 깊이 제어 병행.</a:t>
                      </a:r>
                    </a:p>
                  </a:txBody>
                  <a:tcPr marL="109728" marR="109728" marT="73152" marB="73152">
                    <a:solidFill>
                      <a:srgbClr val="F0F9FF"/>
                    </a:solidFill>
                  </a:tcPr>
                </a:tc>
                <a:tc>
                  <a:txBody>
                    <a:bodyPr/>
                    <a:lstStyle/>
                    <a:p>
                      <a:pPr algn="l"/>
                      <a:r>
                        <a:rPr sz="1100">
                          <a:solidFill>
                            <a:srgbClr val="1E293B"/>
                          </a:solidFill>
                          <a:latin typeface="Noto Sans CJK KR"/>
                        </a:rPr>
                        <a:t>양산 공정에서 발생하는 금속 선폭 및 높이 편차를 획기적으로 흡수할 수 있는 가장 진보된 형태.</a:t>
                      </a:r>
                    </a:p>
                  </a:txBody>
                  <a:tcPr marL="109728" marR="109728" marT="73152" marB="73152">
                    <a:solidFill>
                      <a:srgbClr val="F0F9FF"/>
                    </a:solidFill>
                  </a:tcPr>
                </a:tc>
              </a:tr>
            </a:tbl>
          </a:graphicData>
        </a:graphic>
      </p:graphicFrame>
      <p:sp>
        <p:nvSpPr>
          <p:cNvPr id="6" name="TextBox 5"/>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11 /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3.3 종횡비 및 정전용량 최적화 — 5/5</a:t>
            </a:r>
          </a:p>
          <a:p>
            <a:pPr algn="l"/>
            <a:r>
              <a:rPr sz="2400" b="1">
                <a:solidFill>
                  <a:srgbClr val="0F172A"/>
                </a:solidFill>
                <a:latin typeface="Noto Sans CJK KR"/>
              </a:rPr>
              <a:t>극한의 종횡비(Aspect Ratio 2~6) 스케일링과 에어갭(Airgap) 통합</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ASPECT RATIO 2 TO 6</a:t>
            </a:r>
          </a:p>
          <a:p>
            <a:pPr algn="l">
              <a:spcAft>
                <a:spcPts val="400"/>
              </a:spcAft>
            </a:pPr>
            <a:r>
              <a:rPr sz="1500" b="1">
                <a:solidFill>
                  <a:srgbClr val="0F172A"/>
                </a:solidFill>
                <a:latin typeface="Noto Sans CJK KR"/>
              </a:rPr>
              <a:t>감산 식각 기반 종횡비(AR) 스케일링</a:t>
            </a:r>
          </a:p>
          <a:p>
            <a:pPr algn="l">
              <a:lnSpc>
                <a:spcPct val="115000"/>
              </a:lnSpc>
              <a:spcAft>
                <a:spcPts val="400"/>
              </a:spcAft>
            </a:pPr>
            <a:r>
              <a:rPr sz="1150">
                <a:solidFill>
                  <a:srgbClr val="1E293B"/>
                </a:solidFill>
                <a:latin typeface="Noto Sans CJK KR"/>
              </a:rPr>
              <a:t>나아가 감산 식각 방식을 채용함으로써, Cu 상감 공정에서는 불가능했던 극한의 종횡비(Aspect Ratio, AR) 스케일링이 가능해졌다.</a:t>
            </a:r>
          </a:p>
          <a:p>
            <a:pPr algn="l">
              <a:lnSpc>
                <a:spcPct val="115000"/>
              </a:lnSpc>
              <a:spcAft>
                <a:spcPts val="400"/>
              </a:spcAft>
            </a:pPr>
            <a:r>
              <a:rPr sz="1150">
                <a:solidFill>
                  <a:srgbClr val="1E293B"/>
                </a:solidFill>
                <a:latin typeface="Noto Sans CJK KR"/>
              </a:rPr>
              <a:t>구리는 AR이 1.6을 초과하면 도금액이 트렌치 바닥까지 침투하지 못해 내부에 심각한 빈 공간(Void)을 남기지만, Ru 감산 식각은 1세대인 M0 층에서 AR 2를 시작으로, 에어갭을 결합한 2세대에서는 AR 3, 다층 집적을 전제로 하는 미래 공정에서는 AR 5에서 최대 6까지 배선을 뾰족하고 높게 형성할 수 있다2.</a:t>
            </a:r>
          </a:p>
          <a:p>
            <a:pPr algn="l">
              <a:lnSpc>
                <a:spcPct val="115000"/>
              </a:lnSpc>
              <a:spcAft>
                <a:spcPts val="400"/>
              </a:spcAft>
            </a:pPr>
            <a:r>
              <a:rPr sz="1150">
                <a:solidFill>
                  <a:srgbClr val="1E293B"/>
                </a:solidFill>
                <a:latin typeface="Noto Sans CJK KR"/>
              </a:rPr>
              <a:t>금속 라인이 위로 길어지면 선폭이 극도로 좁은 상태에서도 전류가 흐르는 총 단면적을 확보하여 저항을 40% 이상 극적으로 감축시킬 수 있다.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PARASITIC CAPACITANCE REDUCTION</a:t>
            </a:r>
          </a:p>
          <a:p>
            <a:pPr algn="l">
              <a:spcAft>
                <a:spcPts val="400"/>
              </a:spcAft>
            </a:pPr>
            <a:r>
              <a:rPr sz="1500" b="1">
                <a:solidFill>
                  <a:srgbClr val="0F172A"/>
                </a:solidFill>
                <a:latin typeface="Noto Sans CJK KR"/>
              </a:rPr>
              <a:t>에어갭(Airgap, k≈1)을 통한 기생 정전용량 상쇄</a:t>
            </a:r>
          </a:p>
          <a:p>
            <a:pPr algn="l">
              <a:lnSpc>
                <a:spcPct val="115000"/>
              </a:lnSpc>
              <a:spcAft>
                <a:spcPts val="400"/>
              </a:spcAft>
            </a:pPr>
            <a:r>
              <a:rPr sz="1150">
                <a:solidFill>
                  <a:srgbClr val="1E293B"/>
                </a:solidFill>
                <a:latin typeface="Noto Sans CJK KR"/>
              </a:rPr>
              <a:t>이때 기둥처럼 솟은 배선 사이에서 끔찍하게 치솟는 기생 정전용량(Parasitic Capacitance)은 금속 사이의 절연체를 완전히 걷어내고 진공에 가까운 에어갭(Airgap, 유전율 k≈1)을 형성함으로써 완벽히 상쇄할 수 있다2.</a:t>
            </a:r>
          </a:p>
          <a:p>
            <a:pPr algn="l">
              <a:lnSpc>
                <a:spcPct val="115000"/>
              </a:lnSpc>
              <a:spcAft>
                <a:spcPts val="400"/>
              </a:spcAft>
            </a:pPr>
            <a:r>
              <a:rPr sz="1150">
                <a:solidFill>
                  <a:srgbClr val="1E293B"/>
                </a:solidFill>
                <a:latin typeface="Noto Sans CJK KR"/>
              </a:rPr>
              <a:t>• 저항 감축 효과: 종횡비를 2에서 5~6으로 확장하여 협폭 배선 단면적 40% 이상 확보
• 정전용량 상쇄: k=2.5~3.0 수준의 Low-k 유전체 대신 k≈1.0 에어갭 도입으로 RC 딜레이 동시 억제
• 아키텍처 완성: 고종횡비 Ru 메탈 라인 + 에어갭 결합 모듈로 차세대 BEOL 성능 한계 돌파</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12 /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4. TEM/SEM 기반 미세 구조(MORPHOLOGY) 검증 — 1/2</a:t>
            </a:r>
          </a:p>
          <a:p>
            <a:pPr algn="l"/>
            <a:r>
              <a:rPr sz="2400" b="1">
                <a:solidFill>
                  <a:srgbClr val="0F172A"/>
                </a:solidFill>
                <a:latin typeface="Noto Sans CJK KR"/>
              </a:rPr>
              <a:t>고종횡비 수직 식각 프로파일의 우수성 (TEM 및 STEM 검증)</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CROSS-SECTIONAL ANALYSIS</a:t>
            </a:r>
          </a:p>
          <a:p>
            <a:pPr algn="l">
              <a:spcAft>
                <a:spcPts val="400"/>
              </a:spcAft>
            </a:pPr>
            <a:r>
              <a:rPr sz="1500" b="1">
                <a:solidFill>
                  <a:srgbClr val="0F172A"/>
                </a:solidFill>
                <a:latin typeface="Noto Sans CJK KR"/>
              </a:rPr>
              <a:t>전자현미경 단면 분석 개요 및 신뢰성 입증</a:t>
            </a:r>
          </a:p>
          <a:p>
            <a:pPr algn="l">
              <a:lnSpc>
                <a:spcPct val="115000"/>
              </a:lnSpc>
              <a:spcAft>
                <a:spcPts val="400"/>
              </a:spcAft>
            </a:pPr>
            <a:r>
              <a:rPr sz="1050">
                <a:solidFill>
                  <a:srgbClr val="1E293B"/>
                </a:solidFill>
                <a:latin typeface="Noto Sans CJK KR"/>
              </a:rPr>
              <a:t>IMEC이 학계에 발표한 IITC 논문들의 주된 신뢰성은 첨단 전자현미경을 통한 단면(Cross-sectional) 분석에서 기인한다.</a:t>
            </a:r>
          </a:p>
          <a:p>
            <a:pPr algn="l">
              <a:lnSpc>
                <a:spcPct val="115000"/>
              </a:lnSpc>
              <a:spcAft>
                <a:spcPts val="400"/>
              </a:spcAft>
            </a:pPr>
            <a:r>
              <a:rPr sz="1050">
                <a:solidFill>
                  <a:srgbClr val="1E293B"/>
                </a:solidFill>
                <a:latin typeface="Noto Sans CJK KR"/>
              </a:rPr>
              <a:t>미세화된 반-상감 Ru 구조의 형태학적 무결성(Morphological Integrity)을 입증하는 시각적 증거들은 다양한 두께와 조건에서 철저히 검증되었다.</a:t>
            </a:r>
          </a:p>
          <a:p>
            <a:pPr algn="l">
              <a:lnSpc>
                <a:spcPct val="115000"/>
              </a:lnSpc>
              <a:spcAft>
                <a:spcPts val="400"/>
              </a:spcAft>
            </a:pPr>
            <a:r>
              <a:rPr sz="1050">
                <a:solidFill>
                  <a:srgbClr val="1E293B"/>
                </a:solidFill>
                <a:latin typeface="Noto Sans CJK KR"/>
              </a:rPr>
              <a:t>특히 300mm 웨이퍼 전면에서의 균일성과 초미세 패턴의 수직도, 결함 발생률이 정밀하게 평가되었다.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VERTICAL SIDEWALL PROFILE</a:t>
            </a:r>
          </a:p>
          <a:p>
            <a:pPr algn="l">
              <a:spcAft>
                <a:spcPts val="400"/>
              </a:spcAft>
            </a:pPr>
            <a:r>
              <a:rPr sz="1500" b="1">
                <a:solidFill>
                  <a:srgbClr val="0F172A"/>
                </a:solidFill>
                <a:latin typeface="Noto Sans CJK KR"/>
              </a:rPr>
              <a:t>수직 측벽 각도 및 HAADF-STEM 거칠기 분석</a:t>
            </a:r>
          </a:p>
          <a:p>
            <a:pPr algn="l">
              <a:lnSpc>
                <a:spcPct val="115000"/>
              </a:lnSpc>
              <a:spcAft>
                <a:spcPts val="400"/>
              </a:spcAft>
            </a:pPr>
            <a:r>
              <a:rPr sz="1050">
                <a:solidFill>
                  <a:srgbClr val="1E293B"/>
                </a:solidFill>
                <a:latin typeface="Noto Sans CJK KR"/>
              </a:rPr>
              <a:t>첫째, 고종횡비 식각 프로파일의 우수성이다. 고해상도 투과전자현미경(TEM) 단면 이미지를 분석하면, 24nm, 36nm, 60nm 등 다양한 두께로 증착된 Ru 박막을 감산 식각하여 형성한 라인들이 거의 수직(Vertical)에 가까운 완벽한 측벽(Sidewall) 각도를 보임을 알 수 있다6.</a:t>
            </a:r>
          </a:p>
          <a:p>
            <a:pPr algn="l">
              <a:lnSpc>
                <a:spcPct val="115000"/>
              </a:lnSpc>
              <a:spcAft>
                <a:spcPts val="400"/>
              </a:spcAft>
            </a:pPr>
            <a:r>
              <a:rPr sz="1050">
                <a:solidFill>
                  <a:srgbClr val="1E293B"/>
                </a:solidFill>
                <a:latin typeface="Noto Sans CJK KR"/>
              </a:rPr>
              <a:t>AR이 3.8에서 최대 6에 이르는 거대한 절벽 같은 금속 라인 사이에 브릿지 결함이 전혀 없으며, 구리 공정에서 필연적으로 수반되는 바닥면 구석 부분의 배리어 뭉침이나 Voiding 현상 역시 근원적으로 부재한다.</a:t>
            </a:r>
          </a:p>
          <a:p>
            <a:pPr algn="l">
              <a:lnSpc>
                <a:spcPct val="115000"/>
              </a:lnSpc>
              <a:spcAft>
                <a:spcPts val="400"/>
              </a:spcAft>
            </a:pPr>
            <a:r>
              <a:rPr sz="1050">
                <a:solidFill>
                  <a:srgbClr val="1E293B"/>
                </a:solidFill>
                <a:latin typeface="Noto Sans CJK KR"/>
              </a:rPr>
              <a:t>특히 정량적인 고각 산란 환형 암시야 주사투과전자현미경(HAADF-STEM) 분석을 통해 서브 5nm 단위의 초박막의 경우 표면 거칠기 변동 계수(CV)가 초기 0.052에서 평탄화 공정 후 0.020으로 대폭 감소하여 구조적 매끄러움을 증명하였다25.</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13 /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4. TEM/SEM 기반 미세 구조(MORPHOLOGY) 검증 — 2/2</a:t>
            </a:r>
          </a:p>
          <a:p>
            <a:pPr algn="l"/>
            <a:r>
              <a:rPr sz="2400" b="1">
                <a:solidFill>
                  <a:srgbClr val="0F172A"/>
                </a:solidFill>
                <a:latin typeface="Noto Sans CJK KR"/>
              </a:rPr>
              <a:t>무-배리어 450°C 열안정성 및 에어갭 기계적 무결성 검증</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450°C THERMAL STABILITY</a:t>
            </a:r>
          </a:p>
          <a:p>
            <a:pPr algn="l">
              <a:spcAft>
                <a:spcPts val="400"/>
              </a:spcAft>
            </a:pPr>
            <a:r>
              <a:rPr sz="1500" b="1">
                <a:solidFill>
                  <a:srgbClr val="0F172A"/>
                </a:solidFill>
                <a:latin typeface="Noto Sans CJK KR"/>
              </a:rPr>
              <a:t>450°C 3시간 열처리 후 계면 상호 확산 전무</a:t>
            </a:r>
          </a:p>
          <a:p>
            <a:pPr algn="l">
              <a:lnSpc>
                <a:spcPct val="115000"/>
              </a:lnSpc>
              <a:spcAft>
                <a:spcPts val="400"/>
              </a:spcAft>
            </a:pPr>
            <a:r>
              <a:rPr sz="1100">
                <a:solidFill>
                  <a:srgbClr val="1E293B"/>
                </a:solidFill>
                <a:latin typeface="Noto Sans CJK KR"/>
              </a:rPr>
              <a:t>둘째, 무-배리어(Barrier-less) 집적 시의 화학적 및 열적 안정성이다. Cu 공정에서는 단 1nm의 틈이라도 발생하면 구리 이온이 산화막을 타고 들어가 트랜지스터를 파괴하지만, Ru는 자체적인 귀금속으로서의 불활성을 지닌다.</a:t>
            </a:r>
          </a:p>
          <a:p>
            <a:pPr algn="l">
              <a:lnSpc>
                <a:spcPct val="115000"/>
              </a:lnSpc>
              <a:spcAft>
                <a:spcPts val="400"/>
              </a:spcAft>
            </a:pPr>
            <a:r>
              <a:rPr sz="1100">
                <a:solidFill>
                  <a:srgbClr val="1E293B"/>
                </a:solidFill>
                <a:latin typeface="Noto Sans CJK KR"/>
              </a:rPr>
              <a:t>논문에 첨부된 원자층 증착(ALD) 기반 Ru 나노와이어의 단면 TEM 이미지는 이를 명확히 보여준다.</a:t>
            </a:r>
          </a:p>
          <a:p>
            <a:pPr algn="l">
              <a:lnSpc>
                <a:spcPct val="115000"/>
              </a:lnSpc>
              <a:spcAft>
                <a:spcPts val="400"/>
              </a:spcAft>
            </a:pPr>
            <a:r>
              <a:rPr sz="1100">
                <a:solidFill>
                  <a:srgbClr val="1E293B"/>
                </a:solidFill>
                <a:latin typeface="Noto Sans CJK KR"/>
              </a:rPr>
              <a:t>SiO2 유전체 트렌치 내부에 배리어 없이 Ru를 채워 넣고 무려 450°C의 고온 환경에서 3시간 동안 강도 높은 열처리(Annealing)를 진행했음에도 불구하고, 주변 SiO2 절연막 내부로 Ru 원자가 단 1나노미터도 상호 확산(Inter-diffusion)되지 않은 깨끗하고 선명한 계면 상태가 입증되었다8.</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AIRGAP MECHANICAL INTEGRITY</a:t>
            </a:r>
          </a:p>
          <a:p>
            <a:pPr algn="l">
              <a:spcAft>
                <a:spcPts val="400"/>
              </a:spcAft>
            </a:pPr>
            <a:r>
              <a:rPr sz="1500" b="1">
                <a:solidFill>
                  <a:srgbClr val="0F172A"/>
                </a:solidFill>
                <a:latin typeface="Noto Sans CJK KR"/>
              </a:rPr>
              <a:t>에어갭 핀치 오프 파괴 억제 및 FEA 탄성률 검증</a:t>
            </a:r>
          </a:p>
          <a:p>
            <a:pPr algn="l">
              <a:lnSpc>
                <a:spcPct val="115000"/>
              </a:lnSpc>
              <a:spcAft>
                <a:spcPts val="400"/>
              </a:spcAft>
            </a:pPr>
            <a:r>
              <a:rPr sz="1100">
                <a:solidFill>
                  <a:srgbClr val="1E293B"/>
                </a:solidFill>
                <a:latin typeface="Noto Sans CJK KR"/>
              </a:rPr>
              <a:t>셋째, 에어갭(Airgap) 구조의 기계적 안정성이다. 극단적으로 높게 솟은 Ru 배선 사이에 에어갭을 형성하는 경우, 최상부에 덮는 캡핑 유전체 층이 빈 공간을 이기지 못하고 함몰되어 라인 사이를 단락시키는 핀치 오프(Pinch-off) 실패가 우려된다.</a:t>
            </a:r>
          </a:p>
          <a:p>
            <a:pPr algn="l">
              <a:lnSpc>
                <a:spcPct val="115000"/>
              </a:lnSpc>
              <a:spcAft>
                <a:spcPts val="400"/>
              </a:spcAft>
            </a:pPr>
            <a:r>
              <a:rPr sz="1100">
                <a:solidFill>
                  <a:srgbClr val="1E293B"/>
                </a:solidFill>
                <a:latin typeface="Noto Sans CJK KR"/>
              </a:rPr>
              <a:t>그러나 IMEC이 공개한 에어갭 통합 Ru 배선의 TEM 사진을 살펴보면, 좁은 배선 피치 사이가 완벽히 빈 공기층으로 유지되며 상단부 하드마스크와의 경계면에서 매우 매끄러운 밀봉 궤적을 보여준다8.</a:t>
            </a:r>
          </a:p>
          <a:p>
            <a:pPr algn="l">
              <a:lnSpc>
                <a:spcPct val="115000"/>
              </a:lnSpc>
              <a:spcAft>
                <a:spcPts val="400"/>
              </a:spcAft>
            </a:pPr>
            <a:r>
              <a:rPr sz="1100">
                <a:solidFill>
                  <a:srgbClr val="1E293B"/>
                </a:solidFill>
                <a:latin typeface="Noto Sans CJK KR"/>
              </a:rPr>
              <a:t>유한요소해석(FEA)에 기반한 물리적 변형량 시뮬레이션 결과와 일치하게, Ru 구조체 자체가 지니는 강인한 탄성률이 에어갭 내부의 기계적 파괴 감수성(Fracture susceptibility)을 크게 억제하는 것으로 확인되었다25.</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14 /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5. RU 건식 식각 (DRY ETCH) 과제 — 1/2</a:t>
            </a:r>
          </a:p>
          <a:p>
            <a:pPr algn="l"/>
            <a:r>
              <a:rPr sz="2400" b="1">
                <a:solidFill>
                  <a:srgbClr val="0F172A"/>
                </a:solidFill>
                <a:latin typeface="Noto Sans CJK KR"/>
              </a:rPr>
              <a:t>RuO4 독성 가스 제어 및 정밀 원자층 식각(ALE) 메커니즘</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RUO4 SUBLIMATION &amp; TOXICITY</a:t>
            </a:r>
          </a:p>
          <a:p>
            <a:pPr algn="l">
              <a:spcAft>
                <a:spcPts val="400"/>
              </a:spcAft>
            </a:pPr>
            <a:r>
              <a:rPr sz="1500" b="1">
                <a:solidFill>
                  <a:srgbClr val="0F172A"/>
                </a:solidFill>
                <a:latin typeface="Noto Sans CJK KR"/>
              </a:rPr>
              <a:t>Ru 건식 식각 원리와 RuO4 가스의 치명적 양면성</a:t>
            </a:r>
          </a:p>
          <a:p>
            <a:pPr algn="l">
              <a:lnSpc>
                <a:spcPct val="115000"/>
              </a:lnSpc>
              <a:spcAft>
                <a:spcPts val="400"/>
              </a:spcAft>
            </a:pPr>
            <a:r>
              <a:rPr sz="1050">
                <a:solidFill>
                  <a:srgbClr val="1E293B"/>
                </a:solidFill>
                <a:latin typeface="Noto Sans CJK KR"/>
              </a:rPr>
              <a:t>반-상감 방식의 최대 과제는 단단하고 화학적으로 안정한 귀금속인 Ru를 어떻게 수직으로 깊게 파낼 것인가(Direct Metal Etch)이다. 건식 식각은 주로 산소(O2) 혼합 플라즈마나 할로겐 기반의 반응성 이온 식각(RIE)을 통해 비휘발성 금속 표면을 휘발성의 산화물 가스로 전환하여 진공 펌프로 배출하는 과정을 거친다27.</a:t>
            </a:r>
          </a:p>
          <a:p>
            <a:pPr algn="l">
              <a:lnSpc>
                <a:spcPct val="115000"/>
              </a:lnSpc>
              <a:spcAft>
                <a:spcPts val="400"/>
              </a:spcAft>
            </a:pPr>
            <a:r>
              <a:rPr sz="1050">
                <a:solidFill>
                  <a:srgbClr val="1E293B"/>
                </a:solidFill>
                <a:latin typeface="Noto Sans CJK KR"/>
              </a:rPr>
              <a:t>식각 과정에서 Ru 표면은 O2 또는 오존(O3)에 노출되면서 가장 대표적인 휘발성 산화물인 사산화루테늄(RuO4) 가스로 승화된다29.</a:t>
            </a:r>
          </a:p>
          <a:p>
            <a:pPr algn="l">
              <a:lnSpc>
                <a:spcPct val="115000"/>
              </a:lnSpc>
              <a:spcAft>
                <a:spcPts val="400"/>
              </a:spcAft>
            </a:pPr>
            <a:r>
              <a:rPr sz="1050">
                <a:solidFill>
                  <a:srgbClr val="1E293B"/>
                </a:solidFill>
                <a:latin typeface="Noto Sans CJK KR"/>
              </a:rPr>
              <a:t>RuO4는 실온 근처에서도 기화될 정도로 높은 증기압을 지녀 식각 속도를 끌어올리는 주된 메커니즘으로 작용하지만, 동시에 매우 강력한 산화력을 지닌 맹독성 가스라는 치명적인 양면성을 지닌다. 이 가스는 반도체 챔버 외부로 배출되는 과정에서 플라스틱 배관이나 O-링 등 고분자 물질과 접촉하면 심각한 흑색 변색(Coloration) 및 부식을 유발하며, 배기 펌프나 챔버 측벽에 재증착(Redeposition)되어 파티클 불량의 원인이 되기도 한다29.</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THERMAL ALE CONTROL</a:t>
            </a:r>
          </a:p>
          <a:p>
            <a:pPr algn="l">
              <a:spcAft>
                <a:spcPts val="400"/>
              </a:spcAft>
            </a:pPr>
            <a:r>
              <a:rPr sz="1500" b="1">
                <a:solidFill>
                  <a:srgbClr val="0F172A"/>
                </a:solidFill>
                <a:latin typeface="Noto Sans CJK KR"/>
              </a:rPr>
              <a:t>자연 산화 제어와 열적 ALE (Thermal ALE)</a:t>
            </a:r>
          </a:p>
          <a:p>
            <a:pPr algn="l">
              <a:lnSpc>
                <a:spcPct val="115000"/>
              </a:lnSpc>
              <a:spcAft>
                <a:spcPts val="400"/>
              </a:spcAft>
            </a:pPr>
            <a:r>
              <a:rPr sz="1050">
                <a:solidFill>
                  <a:srgbClr val="1E293B"/>
                </a:solidFill>
                <a:latin typeface="Noto Sans CJK KR"/>
              </a:rPr>
              <a:t>더욱이 ALD 장비를 이용해 유전체막을 덮는 후속 공정에서도, 반응 가스로 O3를 주입할 경우 노출된 하부 Ru 표면이 즉각적으로 RuO4로 산화되어 귀중한 배선 단면적이 유실되는 현상이 목격되었다29.</a:t>
            </a:r>
          </a:p>
          <a:p>
            <a:pPr algn="l">
              <a:lnSpc>
                <a:spcPct val="115000"/>
              </a:lnSpc>
              <a:spcAft>
                <a:spcPts val="400"/>
              </a:spcAft>
            </a:pPr>
            <a:r>
              <a:rPr sz="1050">
                <a:solidFill>
                  <a:srgbClr val="1E293B"/>
                </a:solidFill>
                <a:latin typeface="Noto Sans CJK KR"/>
              </a:rPr>
              <a:t>이러한 예측 불가능한 자연 산화 식각을 제어하기 위해, Cl2나 F2 플라즈마를 이용하여 불소(F) 계열의 수동막(Passivation Layer)을 얇게 덮었다가 특정 온도에서만 선택적으로 휘발시키는 정밀 원자층 식각(Atomic Layer Etching, ALE) 연구가 광범위하게 진행되고 있다.</a:t>
            </a:r>
          </a:p>
          <a:p>
            <a:pPr algn="l">
              <a:lnSpc>
                <a:spcPct val="115000"/>
              </a:lnSpc>
              <a:spcAft>
                <a:spcPts val="400"/>
              </a:spcAft>
            </a:pPr>
            <a:r>
              <a:rPr sz="1050">
                <a:solidFill>
                  <a:srgbClr val="1E293B"/>
                </a:solidFill>
                <a:latin typeface="Noto Sans CJK KR"/>
              </a:rPr>
              <a:t>열적 ALE(Thermal ALE) 프로세스는 화학적 시너지 효과(Synergy)를 82% 수준으로 높이면서도 에칭 속도를 사이클 당 1.1 옴스트롬(Å)으로 미세하게 통제할 수 있게 해 준다27.</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15 /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5.2 DUAL-DIRECT METAL ETCH 최적화 — 2/2</a:t>
            </a:r>
          </a:p>
          <a:p>
            <a:pPr algn="l"/>
            <a:r>
              <a:rPr sz="2400" b="1">
                <a:solidFill>
                  <a:srgbClr val="0F172A"/>
                </a:solidFill>
                <a:latin typeface="Noto Sans CJK KR"/>
              </a:rPr>
              <a:t>SiN 하드마스크 열화와 분할 식각-세정(Segmented Etch-Clean) 기법</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SIN HARDMASK DEGRADATION</a:t>
            </a:r>
          </a:p>
          <a:p>
            <a:pPr algn="l">
              <a:spcAft>
                <a:spcPts val="400"/>
              </a:spcAft>
            </a:pPr>
            <a:r>
              <a:rPr sz="1500" b="1">
                <a:solidFill>
                  <a:srgbClr val="0F172A"/>
                </a:solidFill>
                <a:latin typeface="Noto Sans CJK KR"/>
              </a:rPr>
              <a:t>플라즈마 유도 산화와 브릿지 결함(Bridging Defect)</a:t>
            </a:r>
          </a:p>
          <a:p>
            <a:pPr algn="l">
              <a:lnSpc>
                <a:spcPct val="115000"/>
              </a:lnSpc>
              <a:spcAft>
                <a:spcPts val="400"/>
              </a:spcAft>
            </a:pPr>
            <a:r>
              <a:rPr sz="1100">
                <a:solidFill>
                  <a:srgbClr val="1E293B"/>
                </a:solidFill>
                <a:latin typeface="Noto Sans CJK KR"/>
              </a:rPr>
              <a:t>가장 최신 규격인 18nm 피치(MP18) 규격의 Dual-Direct Metal Etch (DDME) 모듈에서, Ru 라인을 고종횡비로 깎아 내려갈 때 상단부를 보호하는 실리콘 질화막(SiN) 하드마스크가 플라즈마 환경에서 유도 산화(Plasma-induced oxidation)되는 심각한 불량이 관찰되었다25.</a:t>
            </a:r>
          </a:p>
          <a:p>
            <a:pPr algn="l">
              <a:lnSpc>
                <a:spcPct val="115000"/>
              </a:lnSpc>
              <a:spcAft>
                <a:spcPts val="400"/>
              </a:spcAft>
            </a:pPr>
            <a:r>
              <a:rPr sz="1100">
                <a:solidFill>
                  <a:srgbClr val="1E293B"/>
                </a:solidFill>
                <a:latin typeface="Noto Sans CJK KR"/>
              </a:rPr>
              <a:t>강한 식각 화학 물질과 이온 폭격이 장시간 지속되면, 하드마스크 모서리 부분의 SiN이 산화되어 부피가 비정상적으로 팽창하거나 식각 선택비가 무너지게 된다.</a:t>
            </a:r>
          </a:p>
          <a:p>
            <a:pPr algn="l">
              <a:lnSpc>
                <a:spcPct val="115000"/>
              </a:lnSpc>
              <a:spcAft>
                <a:spcPts val="400"/>
              </a:spcAft>
            </a:pPr>
            <a:r>
              <a:rPr sz="1100">
                <a:solidFill>
                  <a:srgbClr val="1E293B"/>
                </a:solidFill>
                <a:latin typeface="Noto Sans CJK KR"/>
              </a:rPr>
              <a:t>이는 마스크 아래로 형성되어야 할 트렌치 패턴을 좁혀, 결국 바닥 부분에서 인접한 Ru 라인들이 서로 분리되지 않고 달라붙어 버리는 '브릿지 결함(Bridging Defect)'으로 직결된다25.</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SEGMENTED ETCH-CLEAN SCHEME</a:t>
            </a:r>
          </a:p>
          <a:p>
            <a:pPr algn="l">
              <a:spcAft>
                <a:spcPts val="400"/>
              </a:spcAft>
            </a:pPr>
            <a:r>
              <a:rPr sz="1500" b="1">
                <a:solidFill>
                  <a:srgbClr val="0F172A"/>
                </a:solidFill>
                <a:latin typeface="Noto Sans CJK KR"/>
              </a:rPr>
              <a:t>분할 식각-세정 시퀀스 도입을 통한 공정 안정화</a:t>
            </a:r>
          </a:p>
          <a:p>
            <a:pPr algn="l">
              <a:lnSpc>
                <a:spcPct val="115000"/>
              </a:lnSpc>
              <a:spcAft>
                <a:spcPts val="400"/>
              </a:spcAft>
            </a:pPr>
            <a:r>
              <a:rPr sz="1100">
                <a:solidFill>
                  <a:srgbClr val="1E293B"/>
                </a:solidFill>
                <a:latin typeface="Noto Sans CJK KR"/>
              </a:rPr>
              <a:t>이를 근본적으로 해결하기 위해 IMEC은 단순히 식각 화학물의 조성을 바꾸는 것을 넘어 '분할 식각-세정 시퀀스(Segmented Etch-Clean Scheme)'라는 공정 구조 혁신을 도입했다25.</a:t>
            </a:r>
          </a:p>
          <a:p>
            <a:pPr algn="l">
              <a:lnSpc>
                <a:spcPct val="115000"/>
              </a:lnSpc>
              <a:spcAft>
                <a:spcPts val="400"/>
              </a:spcAft>
            </a:pPr>
            <a:r>
              <a:rPr sz="1100">
                <a:solidFill>
                  <a:srgbClr val="1E293B"/>
                </a:solidFill>
                <a:latin typeface="Noto Sans CJK KR"/>
              </a:rPr>
              <a:t>이는 한 번에 플라즈마를 켜서 바닥까지 식각하는 것이 아니라, 플라즈마가 지속되는 최대 컷오프(Cutoff) 시간을 엄격하게 제한하여 하드마스크가 부풀어 오르기 전에 공정을 멈추고 챔버를 정화(Clean)하는 방식을 여러 번 반복하는 것이다.</a:t>
            </a:r>
          </a:p>
          <a:p>
            <a:pPr algn="l">
              <a:lnSpc>
                <a:spcPct val="115000"/>
              </a:lnSpc>
              <a:spcAft>
                <a:spcPts val="400"/>
              </a:spcAft>
            </a:pPr>
            <a:r>
              <a:rPr sz="1100">
                <a:solidFill>
                  <a:srgbClr val="1E293B"/>
                </a:solidFill>
                <a:latin typeface="Noto Sans CJK KR"/>
              </a:rPr>
              <a:t>특히 결함을 유발하는 변수를 통계적으로 분석하여, 식각의 가장 긴 런타임(Longest continuous etch)을 초기 단계가 아닌 공정의 가장 마지막 후반부(Later stage)에 집중적으로 배치함으로써 하드마스크 열화를 최소화함과 동시에 단선(Line breaks)이나 브릿징을 완벽하게 억제하는 고종횡비 Ru 통합 모듈을 안정화시켰다25.</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16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6. 화학적 기계적 연마 (CMP) 공정 — 1/3</a:t>
            </a:r>
          </a:p>
          <a:p>
            <a:pPr algn="l"/>
            <a:r>
              <a:rPr sz="2400" b="1">
                <a:solidFill>
                  <a:srgbClr val="0F172A"/>
                </a:solidFill>
                <a:latin typeface="Noto Sans CJK KR"/>
              </a:rPr>
              <a:t>Ru CMP 평탄화 난제와 KIO3 산화제 기반 기계화학적 시너지</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CMP REMOVAL RATE BOTTLENECK</a:t>
            </a:r>
          </a:p>
          <a:p>
            <a:pPr algn="l">
              <a:spcAft>
                <a:spcPts val="400"/>
              </a:spcAft>
            </a:pPr>
            <a:r>
              <a:rPr sz="1500" b="1">
                <a:solidFill>
                  <a:srgbClr val="0F172A"/>
                </a:solidFill>
                <a:latin typeface="Noto Sans CJK KR"/>
              </a:rPr>
              <a:t>귀금속 Ru의 물리화학적 CMP 연마 난제</a:t>
            </a:r>
          </a:p>
          <a:p>
            <a:pPr algn="l">
              <a:lnSpc>
                <a:spcPct val="115000"/>
              </a:lnSpc>
              <a:spcAft>
                <a:spcPts val="400"/>
              </a:spcAft>
            </a:pPr>
            <a:r>
              <a:rPr sz="1050">
                <a:solidFill>
                  <a:srgbClr val="1E293B"/>
                </a:solidFill>
                <a:latin typeface="Noto Sans CJK KR"/>
              </a:rPr>
              <a:t>반-상감 집적 공정 외에도, 이중 상감 구조 내부에 무-배리어 구조로 Ru를 채워 넣는(Pre-fill) 하이브리드 공정이나 최상부 전면 증착 후 고립된 배선 형성을 위해서는 반드시 돌출된 잉여 금속을 깎아내어 윗면을 평평하게 만드는 화학적 기계적 연마(CMP, Chemical Mechanical Polishing) 공정이 필요하다34.</a:t>
            </a:r>
          </a:p>
          <a:p>
            <a:pPr algn="l">
              <a:lnSpc>
                <a:spcPct val="115000"/>
              </a:lnSpc>
              <a:spcAft>
                <a:spcPts val="400"/>
              </a:spcAft>
            </a:pPr>
            <a:r>
              <a:rPr sz="1050">
                <a:solidFill>
                  <a:srgbClr val="1E293B"/>
                </a:solidFill>
                <a:latin typeface="Noto Sans CJK KR"/>
              </a:rPr>
              <a:t>귀금속인 루테늄은 물리적인 경도(Hardness)가 높고 화학적 불활성(Inertness)이 강해, 기존 구리 CMP에 사용되던 슬러리(Slurry) 방식으로는 거의 깎여나가지 않아 제거율(Material Removal Rate, MRR) 확보가 심각한 과제로 대두되었다36.</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KIO3 OXIDIZER &amp; RADICAL REACTION</a:t>
            </a:r>
          </a:p>
          <a:p>
            <a:pPr algn="l">
              <a:spcAft>
                <a:spcPts val="400"/>
              </a:spcAft>
            </a:pPr>
            <a:r>
              <a:rPr sz="1500" b="1">
                <a:solidFill>
                  <a:srgbClr val="0F172A"/>
                </a:solidFill>
                <a:latin typeface="Noto Sans CJK KR"/>
              </a:rPr>
              <a:t>KIO3 산화제 반응 및 펜톤 유사 반응(Fenton-like Reaction)</a:t>
            </a:r>
          </a:p>
          <a:p>
            <a:pPr algn="l">
              <a:lnSpc>
                <a:spcPct val="115000"/>
              </a:lnSpc>
              <a:spcAft>
                <a:spcPts val="400"/>
              </a:spcAft>
            </a:pPr>
            <a:r>
              <a:rPr sz="1050">
                <a:solidFill>
                  <a:srgbClr val="1E293B"/>
                </a:solidFill>
                <a:latin typeface="Noto Sans CJK KR"/>
              </a:rPr>
              <a:t>Ru CMP 슬러리 설계의 핵심은 가장 강력한 산화제로 꼽히는 요오드산칼륨(KIO3)의 농도 최적화이다34. CMP 패드의 물리적 압력(Down Pressure)과 폴리싱 헤드의 회전 속도(Rotating Speed)가 결합된 전기화학 기계적 연마(ECMP) 메커니즘에서, KIO3 성분은 Ru 표면에 기계적으로 무르고 성글성글한 다공성(Porous)의 수화 산화루테늄 층을 지속적으로 유도한다34.</a:t>
            </a:r>
          </a:p>
          <a:p>
            <a:pPr algn="l">
              <a:lnSpc>
                <a:spcPct val="115000"/>
              </a:lnSpc>
              <a:spcAft>
                <a:spcPts val="400"/>
              </a:spcAft>
            </a:pPr>
            <a:r>
              <a:rPr sz="1050">
                <a:solidFill>
                  <a:srgbClr val="1E293B"/>
                </a:solidFill>
                <a:latin typeface="Noto Sans CJK KR"/>
              </a:rPr>
              <a:t>화학적 관점에서, RuO4²⁻ 형태의 양극 용해 반응이 일어난 후, 용해성 산화물이 점차 환원되어 불용성의 끈적한 RuO2 층으로 변환되며 이를 실리카(SiO2) 기반 연마 입자가 쓸고 지나가며 물질을 제거한다28.</a:t>
            </a:r>
          </a:p>
          <a:p>
            <a:pPr algn="l">
              <a:lnSpc>
                <a:spcPct val="115000"/>
              </a:lnSpc>
              <a:spcAft>
                <a:spcPts val="400"/>
              </a:spcAft>
            </a:pPr>
            <a:r>
              <a:rPr sz="1050">
                <a:solidFill>
                  <a:srgbClr val="1E293B"/>
                </a:solidFill>
                <a:latin typeface="Noto Sans CJK KR"/>
              </a:rPr>
              <a:t>특히 알루미나(Al2O3) 연마재 투입 시 과산화수소(H2O2)와 촉매 작용을 일으키는 펜톤 유사 반응(Fenton-like Reaction)을 점화시켜 대량의 하이드록실 라디칼(•OH)을 생성함으로써 제거율을 최대 5배까지 증폭시켰다34.</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17 / 33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6.1 전기화학적 평탄화 (ECMP) 특성 — 2/3</a:t>
            </a:r>
          </a:p>
          <a:p>
            <a:pPr algn="l"/>
            <a:r>
              <a:rPr sz="2400" b="1">
                <a:solidFill>
                  <a:srgbClr val="0F172A"/>
                </a:solidFill>
                <a:latin typeface="Noto Sans CJK KR"/>
              </a:rPr>
              <a:t>ECMP 인가 기계적 동력 변수별 임피던스 및 제거율 시너지</a:t>
            </a:r>
          </a:p>
        </p:txBody>
      </p:sp>
      <p:graphicFrame>
        <p:nvGraphicFramePr>
          <p:cNvPr id="4" name="Table 3"/>
          <p:cNvGraphicFramePr>
            <a:graphicFrameLocks noGrp="1"/>
          </p:cNvGraphicFramePr>
          <p:nvPr/>
        </p:nvGraphicFramePr>
        <p:xfrm>
          <a:off x="731520" y="1874519"/>
          <a:ext cx="10728655" cy="4114800"/>
        </p:xfrm>
        <a:graphic>
          <a:graphicData uri="http://schemas.openxmlformats.org/drawingml/2006/table">
            <a:tbl>
              <a:tblPr firstRow="1" bandRow="1">
                <a:tableStyleId>{5C22544A-7EE6-4342-B048-85BDC9FD1C3A}</a:tableStyleId>
              </a:tblPr>
              <a:tblGrid>
                <a:gridCol w="2926080"/>
                <a:gridCol w="3840480"/>
                <a:gridCol w="3962095"/>
              </a:tblGrid>
              <a:tr h="1028700">
                <a:tc>
                  <a:txBody>
                    <a:bodyPr/>
                    <a:lstStyle/>
                    <a:p>
                      <a:pPr algn="ctr"/>
                      <a:r>
                        <a:rPr sz="1200" b="1">
                          <a:solidFill>
                            <a:srgbClr val="FFFFFF"/>
                          </a:solidFill>
                          <a:latin typeface="Noto Sans CJK KR"/>
                        </a:rPr>
                        <a:t>인가된 기계적 동력 변수
(Mechanical Power)</a:t>
                      </a:r>
                    </a:p>
                  </a:txBody>
                  <a:tcPr marL="137160" marR="137160" marT="91440" marB="91440">
                    <a:solidFill>
                      <a:srgbClr val="0F172A"/>
                    </a:solidFill>
                  </a:tcPr>
                </a:tc>
                <a:tc>
                  <a:txBody>
                    <a:bodyPr/>
                    <a:lstStyle/>
                    <a:p>
                      <a:pPr algn="ctr"/>
                      <a:r>
                        <a:rPr sz="1200" b="1">
                          <a:solidFill>
                            <a:srgbClr val="FFFFFF"/>
                          </a:solidFill>
                          <a:latin typeface="Noto Sans CJK KR"/>
                        </a:rPr>
                        <a:t>전기화학적 임피던스 변화
(EIS 결과)</a:t>
                      </a:r>
                    </a:p>
                  </a:txBody>
                  <a:tcPr marL="137160" marR="137160" marT="91440" marB="91440">
                    <a:solidFill>
                      <a:srgbClr val="0F172A"/>
                    </a:solidFill>
                  </a:tcPr>
                </a:tc>
                <a:tc>
                  <a:txBody>
                    <a:bodyPr/>
                    <a:lstStyle/>
                    <a:p>
                      <a:pPr algn="ctr"/>
                      <a:r>
                        <a:rPr sz="1200" b="1">
                          <a:solidFill>
                            <a:srgbClr val="FFFFFF"/>
                          </a:solidFill>
                          <a:latin typeface="Noto Sans CJK KR"/>
                        </a:rPr>
                        <a:t>부식 전류(Corrosion Current) 응답 및
제거율(MRR) 시너지</a:t>
                      </a:r>
                    </a:p>
                  </a:txBody>
                  <a:tcPr marL="137160" marR="137160" marT="91440" marB="91440">
                    <a:solidFill>
                      <a:srgbClr val="0F172A"/>
                    </a:solidFill>
                  </a:tcPr>
                </a:tc>
              </a:tr>
              <a:tr h="1028700">
                <a:tc>
                  <a:txBody>
                    <a:bodyPr/>
                    <a:lstStyle/>
                    <a:p>
                      <a:pPr algn="ctr"/>
                      <a:r>
                        <a:rPr sz="1200" b="1">
                          <a:solidFill>
                            <a:srgbClr val="0F172A"/>
                          </a:solidFill>
                          <a:latin typeface="Noto Sans CJK KR"/>
                        </a:rPr>
                        <a:t>저부하 &amp; 저회전
(Low Load, 10 rpm)</a:t>
                      </a:r>
                    </a:p>
                  </a:txBody>
                  <a:tcPr marL="137160" marR="137160" marT="91440" marB="91440">
                    <a:solidFill>
                      <a:srgbClr val="FFFFFF"/>
                    </a:solidFill>
                  </a:tcPr>
                </a:tc>
                <a:tc>
                  <a:txBody>
                    <a:bodyPr/>
                    <a:lstStyle/>
                    <a:p>
                      <a:pPr algn="l"/>
                      <a:r>
                        <a:rPr sz="1100">
                          <a:solidFill>
                            <a:srgbClr val="1E293B"/>
                          </a:solidFill>
                          <a:latin typeface="Noto Sans CJK KR"/>
                        </a:rPr>
                        <a:t>표면 산화막 저항(Charge Transfer Resistance) 최대치 유지.</a:t>
                      </a:r>
                    </a:p>
                  </a:txBody>
                  <a:tcPr marL="137160" marR="137160" marT="91440" marB="91440">
                    <a:solidFill>
                      <a:srgbClr val="FFFFFF"/>
                    </a:solidFill>
                  </a:tcPr>
                </a:tc>
                <a:tc>
                  <a:txBody>
                    <a:bodyPr/>
                    <a:lstStyle/>
                    <a:p>
                      <a:pPr algn="l"/>
                      <a:r>
                        <a:rPr sz="1100">
                          <a:solidFill>
                            <a:srgbClr val="1E293B"/>
                          </a:solidFill>
                          <a:latin typeface="Noto Sans CJK KR"/>
                        </a:rPr>
                        <a:t>화학 반응 지연. 순수 연마에만 의존하여 MRR 극도로 저조34.</a:t>
                      </a:r>
                    </a:p>
                  </a:txBody>
                  <a:tcPr marL="137160" marR="137160" marT="91440" marB="91440">
                    <a:solidFill>
                      <a:srgbClr val="FFFFFF"/>
                    </a:solidFill>
                  </a:tcPr>
                </a:tc>
              </a:tr>
              <a:tr h="1028700">
                <a:tc>
                  <a:txBody>
                    <a:bodyPr/>
                    <a:lstStyle/>
                    <a:p>
                      <a:pPr algn="ctr"/>
                      <a:r>
                        <a:rPr sz="1200" b="1">
                          <a:solidFill>
                            <a:srgbClr val="0F172A"/>
                          </a:solidFill>
                          <a:latin typeface="Noto Sans CJK KR"/>
                        </a:rPr>
                        <a:t>고회전 속도 우위
(High Rotating Speed)</a:t>
                      </a:r>
                    </a:p>
                  </a:txBody>
                  <a:tcPr marL="137160" marR="137160" marT="91440" marB="91440">
                    <a:solidFill>
                      <a:srgbClr val="F1F5F9"/>
                    </a:solidFill>
                  </a:tcPr>
                </a:tc>
                <a:tc>
                  <a:txBody>
                    <a:bodyPr/>
                    <a:lstStyle/>
                    <a:p>
                      <a:pPr algn="l"/>
                      <a:r>
                        <a:rPr sz="1100">
                          <a:solidFill>
                            <a:srgbClr val="1E293B"/>
                          </a:solidFill>
                          <a:latin typeface="Noto Sans CJK KR"/>
                        </a:rPr>
                        <a:t>와버그 임피던스(Warburg Impedance)와 산화막 저항 혼재 구간.</a:t>
                      </a:r>
                    </a:p>
                  </a:txBody>
                  <a:tcPr marL="137160" marR="137160" marT="91440" marB="91440">
                    <a:solidFill>
                      <a:srgbClr val="F1F5F9"/>
                    </a:solidFill>
                  </a:tcPr>
                </a:tc>
                <a:tc>
                  <a:txBody>
                    <a:bodyPr/>
                    <a:lstStyle/>
                    <a:p>
                      <a:pPr algn="l"/>
                      <a:r>
                        <a:rPr sz="1100">
                          <a:solidFill>
                            <a:srgbClr val="1E293B"/>
                          </a:solidFill>
                          <a:latin typeface="Noto Sans CJK KR"/>
                        </a:rPr>
                        <a:t>물질 전달 속도 개선으로 혼합 제어 반응 촉진. 부식 전류 상승세 뚜렷34.</a:t>
                      </a:r>
                    </a:p>
                  </a:txBody>
                  <a:tcPr marL="137160" marR="137160" marT="91440" marB="91440">
                    <a:solidFill>
                      <a:srgbClr val="F1F5F9"/>
                    </a:solidFill>
                  </a:tcPr>
                </a:tc>
              </a:tr>
              <a:tr h="1028700">
                <a:tc>
                  <a:txBody>
                    <a:bodyPr/>
                    <a:lstStyle/>
                    <a:p>
                      <a:pPr algn="ctr"/>
                      <a:r>
                        <a:rPr sz="1200" b="1">
                          <a:solidFill>
                            <a:srgbClr val="0284C7"/>
                          </a:solidFill>
                          <a:latin typeface="Noto Sans CJK KR"/>
                        </a:rPr>
                        <a:t>고부하 &amp; 고회전
(10N Load &amp; High rpm)</a:t>
                      </a:r>
                    </a:p>
                  </a:txBody>
                  <a:tcPr marL="137160" marR="137160" marT="91440" marB="91440">
                    <a:solidFill>
                      <a:srgbClr val="F0F9FF"/>
                    </a:solidFill>
                  </a:tcPr>
                </a:tc>
                <a:tc>
                  <a:txBody>
                    <a:bodyPr/>
                    <a:lstStyle/>
                    <a:p>
                      <a:pPr algn="l"/>
                      <a:r>
                        <a:rPr sz="1100">
                          <a:solidFill>
                            <a:srgbClr val="1E293B"/>
                          </a:solidFill>
                          <a:latin typeface="Noto Sans CJK KR"/>
                        </a:rPr>
                        <a:t>연마 마찰계수 급증에 따른 임피던스 장벽 극소화.</a:t>
                      </a:r>
                    </a:p>
                  </a:txBody>
                  <a:tcPr marL="137160" marR="137160" marT="91440" marB="91440">
                    <a:solidFill>
                      <a:srgbClr val="F0F9FF"/>
                    </a:solidFill>
                  </a:tcPr>
                </a:tc>
                <a:tc>
                  <a:txBody>
                    <a:bodyPr/>
                    <a:lstStyle/>
                    <a:p>
                      <a:pPr algn="l"/>
                      <a:r>
                        <a:rPr sz="1100">
                          <a:solidFill>
                            <a:srgbClr val="1E293B"/>
                          </a:solidFill>
                          <a:latin typeface="Noto Sans CJK KR"/>
                        </a:rPr>
                        <a:t>물리적 에너지가 화학반응 활성화 에너지 장벽을 무너뜨려(Triboelectrochemical), 역대 최고 효율의 MRR 산출34.</a:t>
                      </a:r>
                    </a:p>
                  </a:txBody>
                  <a:tcPr marL="137160" marR="137160" marT="91440" marB="91440">
                    <a:solidFill>
                      <a:srgbClr val="F0F9FF"/>
                    </a:solidFill>
                  </a:tcPr>
                </a:tc>
              </a:tr>
            </a:tbl>
          </a:graphicData>
        </a:graphic>
      </p:graphicFrame>
      <p:sp>
        <p:nvSpPr>
          <p:cNvPr id="5" name="TextBox 4"/>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18 /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6.2 계면 화학 제어 — 3/3</a:t>
            </a:r>
          </a:p>
          <a:p>
            <a:pPr algn="l"/>
            <a:r>
              <a:rPr sz="2400" b="1">
                <a:solidFill>
                  <a:srgbClr val="0F172A"/>
                </a:solidFill>
                <a:latin typeface="Noto Sans CJK KR"/>
              </a:rPr>
              <a:t>Cu-Ru 혼합 모듈에서의 갈바닉 부식(Galvanic Corrosion) 억제</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GALVANIC CORROSION RISK</a:t>
            </a:r>
          </a:p>
          <a:p>
            <a:pPr algn="l">
              <a:spcAft>
                <a:spcPts val="400"/>
              </a:spcAft>
            </a:pPr>
            <a:r>
              <a:rPr sz="1500" b="1">
                <a:solidFill>
                  <a:srgbClr val="0F172A"/>
                </a:solidFill>
                <a:latin typeface="Noto Sans CJK KR"/>
              </a:rPr>
              <a:t>이종 금속 간 갈바닉 부식 발생 기전</a:t>
            </a:r>
          </a:p>
          <a:p>
            <a:pPr algn="l">
              <a:lnSpc>
                <a:spcPct val="115000"/>
              </a:lnSpc>
              <a:spcAft>
                <a:spcPts val="400"/>
              </a:spcAft>
            </a:pPr>
            <a:r>
              <a:rPr sz="1100">
                <a:solidFill>
                  <a:srgbClr val="1E293B"/>
                </a:solidFill>
                <a:latin typeface="Noto Sans CJK KR"/>
              </a:rPr>
              <a:t>만일 하부 라이너로 Ru를 사용하고 상부에 Cu를 덮어 다마신 구조를 채웠다면, CMP 과정 중에 필연적으로 두 금속이 세정액이나 슬러리에 동시에 노출되는 계면이 형성된다.</a:t>
            </a:r>
          </a:p>
          <a:p>
            <a:pPr algn="l">
              <a:lnSpc>
                <a:spcPct val="115000"/>
              </a:lnSpc>
              <a:spcAft>
                <a:spcPts val="400"/>
              </a:spcAft>
            </a:pPr>
            <a:r>
              <a:rPr sz="1100">
                <a:solidFill>
                  <a:srgbClr val="1E293B"/>
                </a:solidFill>
                <a:latin typeface="Noto Sans CJK KR"/>
              </a:rPr>
              <a:t>이때 자연 전위(Open-circuit Potential)가 크게 차이 나는 두 귀금속과 전이금속 사이에서는 전자가 한쪽으로 쏠리며 구리가 급격히 녹아내리는 갈바닉 부식 현상이 발생한다31.</a:t>
            </a:r>
          </a:p>
          <a:p>
            <a:pPr algn="l">
              <a:lnSpc>
                <a:spcPct val="115000"/>
              </a:lnSpc>
              <a:spcAft>
                <a:spcPts val="400"/>
              </a:spcAft>
            </a:pPr>
            <a:r>
              <a:rPr sz="1100">
                <a:solidFill>
                  <a:srgbClr val="1E293B"/>
                </a:solidFill>
                <a:latin typeface="Noto Sans CJK KR"/>
              </a:rPr>
              <a:t>이러한 부식은 미세 배선 패턴의 치명적인 디싱(Dishing) 및 단선 불량으로 직결된다.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EDA COMPLEXING AGENT (17MV)</a:t>
            </a:r>
          </a:p>
          <a:p>
            <a:pPr algn="l">
              <a:spcAft>
                <a:spcPts val="400"/>
              </a:spcAft>
            </a:pPr>
            <a:r>
              <a:rPr sz="1500" b="1">
                <a:solidFill>
                  <a:srgbClr val="0F172A"/>
                </a:solidFill>
                <a:latin typeface="Noto Sans CJK KR"/>
              </a:rPr>
              <a:t>EDA 착물화제 도입과 1.13:1 완벽한 제거율 선택비</a:t>
            </a:r>
          </a:p>
          <a:p>
            <a:pPr algn="l">
              <a:lnSpc>
                <a:spcPct val="115000"/>
              </a:lnSpc>
              <a:spcAft>
                <a:spcPts val="400"/>
              </a:spcAft>
            </a:pPr>
            <a:r>
              <a:rPr sz="1100">
                <a:solidFill>
                  <a:srgbClr val="1E293B"/>
                </a:solidFill>
                <a:latin typeface="Noto Sans CJK KR"/>
              </a:rPr>
              <a:t>이를 원천 차단하기 위해 유기 첨가제인 에틸렌디아민(EDA, Ethylenediamine)과 같은 아미노 기(Amino groups) 기반의 착물화제(Complexing Agent) 투입이 필수적이다.</a:t>
            </a:r>
          </a:p>
          <a:p>
            <a:pPr algn="l">
              <a:lnSpc>
                <a:spcPct val="115000"/>
              </a:lnSpc>
              <a:spcAft>
                <a:spcPts val="400"/>
              </a:spcAft>
            </a:pPr>
            <a:r>
              <a:rPr sz="1100">
                <a:solidFill>
                  <a:srgbClr val="1E293B"/>
                </a:solidFill>
                <a:latin typeface="Noto Sans CJK KR"/>
              </a:rPr>
              <a:t>EDA는 과산화수소 슬러리 내에서 분자의 짝지은 전자쌍(Lone pair electrons)을 통해 구리 표면의 용해를 효과적으로 억제하는 복합체를 형성함과 동시에 구리와 루테늄 사이의 부식 전위차를 단 17 mV 수준으로 극적으로 낮춘다38.</a:t>
            </a:r>
          </a:p>
          <a:p>
            <a:pPr algn="l">
              <a:lnSpc>
                <a:spcPct val="115000"/>
              </a:lnSpc>
              <a:spcAft>
                <a:spcPts val="400"/>
              </a:spcAft>
            </a:pPr>
            <a:r>
              <a:rPr sz="1100">
                <a:solidFill>
                  <a:srgbClr val="1E293B"/>
                </a:solidFill>
                <a:latin typeface="Noto Sans CJK KR"/>
              </a:rPr>
              <a:t>이 화학적 안정화 작용 덕분에 Cu:Ru 제거율 선택비를 1.13:1이라는 거의 1대 1에 가까운 완벽한 균형 상태로 통제하여 어느 한 금속이 푹 파이는 디싱(Dishing) 불량을 방지할 수 있다38.</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19 /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7. 최하부 배선(M0) 및 VIA 저항 최소화 — 1/2</a:t>
            </a:r>
          </a:p>
          <a:p>
            <a:pPr algn="l"/>
            <a:r>
              <a:rPr sz="2400" b="1">
                <a:solidFill>
                  <a:srgbClr val="0F172A"/>
                </a:solidFill>
                <a:latin typeface="Noto Sans CJK KR"/>
              </a:rPr>
              <a:t>최하부 배선(M0) 및 Via 저항에서 TaN 배리어의 치명적 병목</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LOCAL INTERCONNECT BOTTLENECK</a:t>
            </a:r>
          </a:p>
          <a:p>
            <a:pPr algn="l">
              <a:spcAft>
                <a:spcPts val="400"/>
              </a:spcAft>
            </a:pPr>
            <a:r>
              <a:rPr sz="1500" b="1">
                <a:solidFill>
                  <a:srgbClr val="0F172A"/>
                </a:solidFill>
                <a:latin typeface="Noto Sans CJK KR"/>
              </a:rPr>
              <a:t>하부 로컬 배선(M0~M1)에서의 비아 저항 지배성</a:t>
            </a:r>
          </a:p>
          <a:p>
            <a:pPr algn="l">
              <a:lnSpc>
                <a:spcPct val="115000"/>
              </a:lnSpc>
              <a:spcAft>
                <a:spcPts val="400"/>
              </a:spcAft>
            </a:pPr>
            <a:r>
              <a:rPr sz="1150">
                <a:solidFill>
                  <a:srgbClr val="1E293B"/>
                </a:solidFill>
                <a:latin typeface="Noto Sans CJK KR"/>
              </a:rPr>
              <a:t>트랜지스터와 가장 근접하게 배치되는 하부 로컬 배선 층(Local Interconnects, M0~M1)은 라인의 총 길이 자체가 상대적으로 짧기 때문에 선저항보다는 층과 층을 잇는 수직 기둥인 비아(Via) 저항이 전체 RC 지연 및 시스템 성능 하락에 훨씬 치명적인 비중을 차지한다3.</a:t>
            </a:r>
          </a:p>
          <a:p>
            <a:pPr algn="l">
              <a:lnSpc>
                <a:spcPct val="115000"/>
              </a:lnSpc>
              <a:spcAft>
                <a:spcPts val="400"/>
              </a:spcAft>
            </a:pPr>
            <a:r>
              <a:rPr sz="1150">
                <a:solidFill>
                  <a:srgbClr val="1E293B"/>
                </a:solidFill>
                <a:latin typeface="Noto Sans CJK KR"/>
              </a:rPr>
              <a:t>따라서 비아 저항을 낮추지 못하면 전공정(FEOL)의 스케일링 성능 이득이 후공정 인터커넥트 단에서 완전히 상쇄된다.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0.48X EFFECTIVE AREA LOSS</a:t>
            </a:r>
          </a:p>
          <a:p>
            <a:pPr algn="l">
              <a:spcAft>
                <a:spcPts val="400"/>
              </a:spcAft>
            </a:pPr>
            <a:r>
              <a:rPr sz="1500" b="1">
                <a:solidFill>
                  <a:srgbClr val="0F172A"/>
                </a:solidFill>
                <a:latin typeface="Noto Sans CJK KR"/>
              </a:rPr>
              <a:t>TaN 배리어층의 스케일다운 불가와 유효 단면적 급감</a:t>
            </a:r>
          </a:p>
          <a:p>
            <a:pPr algn="l">
              <a:lnSpc>
                <a:spcPct val="115000"/>
              </a:lnSpc>
              <a:spcAft>
                <a:spcPts val="400"/>
              </a:spcAft>
            </a:pPr>
            <a:r>
              <a:rPr sz="1150">
                <a:solidFill>
                  <a:srgbClr val="1E293B"/>
                </a:solidFill>
                <a:latin typeface="Noto Sans CJK KR"/>
              </a:rPr>
              <a:t>IMEC의 금속 전문가인 M.H. van der Veen 박사 연구팀이 분석한 바에 따르면, 현재 구리 비아 바닥면에 깔리는 약 1.5~2.0nm 두께의 TaN 배리어층은 비아 직경(Critical Dimension, CD)이 20nm 밑으로 내려가더라도 더 이상 얇게 스케일다운(Scale-down)되지 않아, 전자 흐름의 목을 조르는 치명적인 병목(Bottleneck) 저항체로 작용한다3.</a:t>
            </a:r>
          </a:p>
          <a:p>
            <a:pPr algn="l">
              <a:lnSpc>
                <a:spcPct val="115000"/>
              </a:lnSpc>
              <a:spcAft>
                <a:spcPts val="400"/>
              </a:spcAft>
            </a:pPr>
            <a:r>
              <a:rPr sz="1150">
                <a:solidFill>
                  <a:srgbClr val="1E293B"/>
                </a:solidFill>
                <a:latin typeface="Noto Sans CJK KR"/>
              </a:rPr>
              <a:t>이 두꺼운 배리어 때문에 14nm 노드에서 10nm 노드로 이동할 때, 동일한 두께의 2nm 배리어를 쓰더라도 실제 구리가 차지하는 단면적은 기존 대비 절반 이하(0.48x)로 추락하게 된다3.</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20 /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7. 최하부 배선(M0) 및 VIA 저항 최소화 — 2/2</a:t>
            </a:r>
          </a:p>
          <a:p>
            <a:pPr algn="l"/>
            <a:r>
              <a:rPr sz="2400" b="1">
                <a:solidFill>
                  <a:srgbClr val="0F172A"/>
                </a:solidFill>
                <a:latin typeface="Noto Sans CJK KR"/>
              </a:rPr>
              <a:t>무장벽(Barrier-less) Ru 설계를 통한 비아 저항 20~40% 급락</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BARRIER-LESS ADVANTAGE</a:t>
            </a:r>
          </a:p>
          <a:p>
            <a:pPr algn="l">
              <a:spcAft>
                <a:spcPts val="400"/>
              </a:spcAft>
            </a:pPr>
            <a:r>
              <a:rPr sz="1500" b="1">
                <a:solidFill>
                  <a:srgbClr val="0F172A"/>
                </a:solidFill>
                <a:latin typeface="Noto Sans CJK KR"/>
              </a:rPr>
              <a:t>무장벽 비아 충진(Pre-fill)을 통한 바닥 배리어 삭제</a:t>
            </a:r>
          </a:p>
          <a:p>
            <a:pPr algn="l">
              <a:lnSpc>
                <a:spcPct val="115000"/>
              </a:lnSpc>
              <a:spcAft>
                <a:spcPts val="400"/>
              </a:spcAft>
            </a:pPr>
            <a:r>
              <a:rPr sz="1150">
                <a:solidFill>
                  <a:srgbClr val="1E293B"/>
                </a:solidFill>
                <a:latin typeface="Noto Sans CJK KR"/>
              </a:rPr>
              <a:t>이러한 재난적 상황을 회피하는 가장 확실한 카드는 하부 배리어층을 완벽히 제거하는 무장벽(Barrier-less) 방식이다.</a:t>
            </a:r>
          </a:p>
          <a:p>
            <a:pPr algn="l">
              <a:lnSpc>
                <a:spcPct val="115000"/>
              </a:lnSpc>
              <a:spcAft>
                <a:spcPts val="400"/>
              </a:spcAft>
            </a:pPr>
            <a:r>
              <a:rPr sz="1150">
                <a:solidFill>
                  <a:srgbClr val="1E293B"/>
                </a:solidFill>
                <a:latin typeface="Noto Sans CJK KR"/>
              </a:rPr>
              <a:t>Ru를 반-상감 식각이나 CVD로 비아 내부에 선충진(Pre-fill)할 경우, 절연막을 파괴하지 않는 고유의 특성 덕에 바닥면 배리어 박막이 통째로 삭제된다6.</a:t>
            </a:r>
          </a:p>
          <a:p>
            <a:pPr algn="l">
              <a:lnSpc>
                <a:spcPct val="115000"/>
              </a:lnSpc>
              <a:spcAft>
                <a:spcPts val="400"/>
              </a:spcAft>
            </a:pPr>
            <a:r>
              <a:rPr sz="1150">
                <a:solidFill>
                  <a:srgbClr val="1E293B"/>
                </a:solidFill>
                <a:latin typeface="Noto Sans CJK KR"/>
              </a:rPr>
              <a:t>이를 통해 고저항 계면 박막 없이 순수 금속이 직결되는 완벽한 전기적 통로가 확보된다.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20~40% VIA RESISTANCE DROP</a:t>
            </a:r>
          </a:p>
          <a:p>
            <a:pPr algn="l">
              <a:spcAft>
                <a:spcPts val="400"/>
              </a:spcAft>
            </a:pPr>
            <a:r>
              <a:rPr sz="1500" b="1">
                <a:solidFill>
                  <a:srgbClr val="0F172A"/>
                </a:solidFill>
                <a:latin typeface="Noto Sans CJK KR"/>
              </a:rPr>
              <a:t>17nm 비아 저항 실측 데이터 및 하이브리드 조합</a:t>
            </a:r>
          </a:p>
          <a:p>
            <a:pPr algn="l">
              <a:lnSpc>
                <a:spcPct val="115000"/>
              </a:lnSpc>
              <a:spcAft>
                <a:spcPts val="400"/>
              </a:spcAft>
            </a:pPr>
            <a:r>
              <a:rPr sz="1150">
                <a:solidFill>
                  <a:srgbClr val="1E293B"/>
                </a:solidFill>
                <a:latin typeface="Noto Sans CJK KR"/>
              </a:rPr>
              <a:t>측정 데이터는 놀랍다. 17nm 수준의 초미세 비아 폭(CD) 구조에서, 하단부에 1.5nm TaN을 깐 기존 포맷의 구리 필링 비아와, 아무런 배리어 없이 순수하게 증착된 Ru 단일 필 비아의 저항 수치를 대조해 보면, Ru 적용 시 비아 저항이 최소 20%에서 최대 40%까지 급락하는 결과를 도출하였다3.</a:t>
            </a:r>
          </a:p>
          <a:p>
            <a:pPr algn="l">
              <a:lnSpc>
                <a:spcPct val="115000"/>
              </a:lnSpc>
              <a:spcAft>
                <a:spcPts val="400"/>
              </a:spcAft>
            </a:pPr>
            <a:r>
              <a:rPr sz="1150">
                <a:solidFill>
                  <a:srgbClr val="1E293B"/>
                </a:solidFill>
                <a:latin typeface="Noto Sans CJK KR"/>
              </a:rPr>
              <a:t>모든 선폭 구간에서 Ru와 배리어-프리 Co는 구리의 성능 한계를 가볍게 추월했으며, 불가피하게 배리어를 사용하더라도 ALD 기반 0.5nm 초박막 TaN 위에 Ru를 코팅하는 하이브리드 조합이 비아 저항과 장기 수명을 모두 잡는 차선책으로 활발히 연구되고 있다18.</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21 /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8. 획기적인 장기 신뢰성 (RELIABILITY) — 1/3</a:t>
            </a:r>
          </a:p>
          <a:p>
            <a:pPr algn="l"/>
            <a:r>
              <a:rPr sz="2400" b="1">
                <a:solidFill>
                  <a:srgbClr val="0F172A"/>
                </a:solidFill>
                <a:latin typeface="Noto Sans CJK KR"/>
              </a:rPr>
              <a:t>장기 신뢰성 평가와 구리(Cu)의 치명적인 전기이동(EM) 붕괴</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10-YEAR LIFETIME QUALIFICATION</a:t>
            </a:r>
          </a:p>
          <a:p>
            <a:pPr algn="l">
              <a:spcAft>
                <a:spcPts val="400"/>
              </a:spcAft>
            </a:pPr>
            <a:r>
              <a:rPr sz="1500" b="1">
                <a:solidFill>
                  <a:srgbClr val="0F172A"/>
                </a:solidFill>
                <a:latin typeface="Noto Sans CJK KR"/>
              </a:rPr>
              <a:t>반도체 양산 팹의 10년 수명 신뢰성 심사</a:t>
            </a:r>
          </a:p>
          <a:p>
            <a:pPr algn="l">
              <a:lnSpc>
                <a:spcPct val="115000"/>
              </a:lnSpc>
              <a:spcAft>
                <a:spcPts val="400"/>
              </a:spcAft>
            </a:pPr>
            <a:r>
              <a:rPr sz="1150">
                <a:solidFill>
                  <a:srgbClr val="1E293B"/>
                </a:solidFill>
                <a:latin typeface="Noto Sans CJK KR"/>
              </a:rPr>
              <a:t>어떠한 신물질이라도 반도체 칩이 가혹한 구동 환경에서 10년 이상의 끄떡없는 수명을 보장하는 장기 신뢰성 심사를 통과하지 못하면 양산 팹(Fab)에 도입될 수 없다.</a:t>
            </a:r>
          </a:p>
          <a:p>
            <a:pPr algn="l">
              <a:lnSpc>
                <a:spcPct val="115000"/>
              </a:lnSpc>
              <a:spcAft>
                <a:spcPts val="400"/>
              </a:spcAft>
            </a:pPr>
            <a:r>
              <a:rPr sz="1150">
                <a:solidFill>
                  <a:srgbClr val="1E293B"/>
                </a:solidFill>
                <a:latin typeface="Noto Sans CJK KR"/>
              </a:rPr>
              <a:t>구리가 한계에 부딪힌 근본 이유 중 하나가 바로 이 신뢰성의 붕괴이며, 루테늄은 이 영역에서 타의 추종을 불허하는 안정성을 증명했다1.</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COPPER EM COLLAPSE</a:t>
            </a:r>
          </a:p>
          <a:p>
            <a:pPr algn="l">
              <a:spcAft>
                <a:spcPts val="400"/>
              </a:spcAft>
            </a:pPr>
            <a:r>
              <a:rPr sz="1500" b="1">
                <a:solidFill>
                  <a:srgbClr val="0F172A"/>
                </a:solidFill>
                <a:latin typeface="Noto Sans CJK KR"/>
              </a:rPr>
              <a:t>구리 배선에서의 전자 충돌과 EM 보이드(Void) 형성</a:t>
            </a:r>
          </a:p>
          <a:p>
            <a:pPr algn="l">
              <a:lnSpc>
                <a:spcPct val="115000"/>
              </a:lnSpc>
              <a:spcAft>
                <a:spcPts val="400"/>
              </a:spcAft>
            </a:pPr>
            <a:r>
              <a:rPr sz="1150">
                <a:solidFill>
                  <a:srgbClr val="1E293B"/>
                </a:solidFill>
                <a:latin typeface="Noto Sans CJK KR"/>
              </a:rPr>
              <a:t>고성능 칩셋에서 구리 배선은 좁아진 단면적에 엄청난 밀도의 전류가 밀려들 때 전자의 물리적 충돌(Electron wind force)을 이기지 못하고 구리 원자 자체가 강물처럼 쓸려나가 빈 공간(Void)을 남기고 단락되는 치명적인 EM 불량을 겪는다4.</a:t>
            </a:r>
          </a:p>
          <a:p>
            <a:pPr algn="l">
              <a:lnSpc>
                <a:spcPct val="115000"/>
              </a:lnSpc>
              <a:spcAft>
                <a:spcPts val="400"/>
              </a:spcAft>
            </a:pPr>
            <a:r>
              <a:rPr sz="1150">
                <a:solidFill>
                  <a:srgbClr val="1E293B"/>
                </a:solidFill>
                <a:latin typeface="Noto Sans CJK KR"/>
              </a:rPr>
              <a:t>특히 구리는 녹는점이 상대적으로 낮고 자기 확산 계수가 커서 결정립계를 타고 원자가 쉽게 미끄러진다.</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22 /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8.1 전기이동(ELECTROMIGRATION) 메커니즘 — 2/3</a:t>
            </a:r>
          </a:p>
          <a:p>
            <a:pPr algn="l"/>
            <a:r>
              <a:rPr sz="2400" b="1">
                <a:solidFill>
                  <a:srgbClr val="0F172A"/>
                </a:solidFill>
                <a:latin typeface="Noto Sans CJK KR"/>
              </a:rPr>
              <a:t>Ru의 6.5 eV 응집 에너지, 300°C 1000h 생존 및 p-type EM 실측</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6.5 EV COHESIVE ENERGY</a:t>
            </a:r>
          </a:p>
          <a:p>
            <a:pPr algn="l">
              <a:spcAft>
                <a:spcPts val="400"/>
              </a:spcAft>
            </a:pPr>
            <a:r>
              <a:rPr sz="1500" b="1">
                <a:solidFill>
                  <a:srgbClr val="0F172A"/>
                </a:solidFill>
                <a:latin typeface="Noto Sans CJK KR"/>
              </a:rPr>
              <a:t>3000°C 융점과 6.5 eV/atom 막대한 응집 에너지</a:t>
            </a:r>
          </a:p>
          <a:p>
            <a:pPr algn="l">
              <a:lnSpc>
                <a:spcPct val="115000"/>
              </a:lnSpc>
              <a:spcAft>
                <a:spcPts val="400"/>
              </a:spcAft>
            </a:pPr>
            <a:r>
              <a:rPr sz="1100">
                <a:solidFill>
                  <a:srgbClr val="1E293B"/>
                </a:solidFill>
                <a:latin typeface="Noto Sans CJK KR"/>
              </a:rPr>
              <a:t>반면 Ru는 3000도가 넘는 높은 융점과 원자 간 강한 죔쇠 역할을 하는 6.5 eV/atom 이상의 막대한 응집 에너지(Cohesive Energy)를 지녀, 전자가 아무리 부딪혀도 격자 밖으로 원자가 밀려나지 않는 철옹성 같은 물리적 결합망을 유지한다4.</a:t>
            </a:r>
          </a:p>
          <a:p>
            <a:pPr algn="l">
              <a:lnSpc>
                <a:spcPct val="115000"/>
              </a:lnSpc>
              <a:spcAft>
                <a:spcPts val="400"/>
              </a:spcAft>
            </a:pPr>
            <a:r>
              <a:rPr sz="1100">
                <a:solidFill>
                  <a:srgbClr val="1E293B"/>
                </a:solidFill>
                <a:latin typeface="Noto Sans CJK KR"/>
              </a:rPr>
              <a:t>IMEC 연구원 크리스토프 크뢰즈(Kristof Croes) 및 졸트 토케이(Zsolt Tokei) 박사의 발표에 따르면, 반-상감 공정으로 제조된 Ru 배선은 배리어 층이 전혀 없는 혹독한 조건에서도 300°C 고온에서 1,000시간을 끄떡없이 견디는 극강의 EM 저항을 증명했다40.</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P-TYPE FAILURE DISCOVERY</a:t>
            </a:r>
          </a:p>
          <a:p>
            <a:pPr algn="l">
              <a:spcAft>
                <a:spcPts val="400"/>
              </a:spcAft>
            </a:pPr>
            <a:r>
              <a:rPr sz="1500" b="1">
                <a:solidFill>
                  <a:srgbClr val="0F172A"/>
                </a:solidFill>
                <a:latin typeface="Noto Sans CJK KR"/>
              </a:rPr>
              <a:t>활성화 에너지 Ea와 세계 최초 p-type EM Failure 실측</a:t>
            </a:r>
          </a:p>
          <a:p>
            <a:pPr algn="l">
              <a:lnSpc>
                <a:spcPct val="115000"/>
              </a:lnSpc>
              <a:spcAft>
                <a:spcPts val="400"/>
              </a:spcAft>
            </a:pPr>
            <a:r>
              <a:rPr sz="1100">
                <a:solidFill>
                  <a:srgbClr val="1E293B"/>
                </a:solidFill>
                <a:latin typeface="Noto Sans CJK KR"/>
              </a:rPr>
              <a:t>임계 CD 40nm 구간에서 산출된 Ru의 EM 활성화 에너지(Activation Energy, Ea)는 약 60 kJ/mol 혹은 0.27 eV 등으로 분석되었다.</a:t>
            </a:r>
          </a:p>
          <a:p>
            <a:pPr algn="l">
              <a:lnSpc>
                <a:spcPct val="115000"/>
              </a:lnSpc>
              <a:spcAft>
                <a:spcPts val="400"/>
              </a:spcAft>
            </a:pPr>
            <a:r>
              <a:rPr sz="1100">
                <a:solidFill>
                  <a:srgbClr val="1E293B"/>
                </a:solidFill>
                <a:latin typeface="Noto Sans CJK KR"/>
              </a:rPr>
              <a:t>특히 학계의 이목을 끈 성과는 순수 Ru 단일 배선에서 그간 이론으로만 예측되던 p-type EM Failure (양전하 성질을 띠는 홀(Hole) 매커니즘 기반 확산 형태) 붕괴 거동이 최초로 실측 관측되었다는 점이다40.</a:t>
            </a:r>
          </a:p>
          <a:p>
            <a:pPr algn="l">
              <a:lnSpc>
                <a:spcPct val="115000"/>
              </a:lnSpc>
              <a:spcAft>
                <a:spcPts val="400"/>
              </a:spcAft>
            </a:pPr>
            <a:r>
              <a:rPr sz="1100">
                <a:solidFill>
                  <a:srgbClr val="1E293B"/>
                </a:solidFill>
                <a:latin typeface="Noto Sans CJK KR"/>
              </a:rPr>
              <a:t>이는 Ru 내부에서 일어나는 미시적 원자 수송 역학이 구리와는 전혀 다른 근본적 패러다임에 기반함을 시사한다.</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23 /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8.2 절연막 파괴 및 표면 복원 — 3/3</a:t>
            </a:r>
          </a:p>
          <a:p>
            <a:pPr algn="l"/>
            <a:r>
              <a:rPr sz="2400" b="1">
                <a:solidFill>
                  <a:srgbClr val="0F172A"/>
                </a:solidFill>
                <a:latin typeface="Noto Sans CJK KR"/>
              </a:rPr>
              <a:t>Low-k TDDB 신뢰성 유지 및 플라즈마 유도 손상(PID) 치유</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TDDB DRIFT RESISTANCE</a:t>
            </a:r>
          </a:p>
          <a:p>
            <a:pPr algn="l">
              <a:spcAft>
                <a:spcPts val="400"/>
              </a:spcAft>
            </a:pPr>
            <a:r>
              <a:rPr sz="1500" b="1">
                <a:solidFill>
                  <a:srgbClr val="0F172A"/>
                </a:solidFill>
                <a:latin typeface="Noto Sans CJK KR"/>
              </a:rPr>
              <a:t>TDDB 절연 파괴 기전과 Ru의 본질적 내성</a:t>
            </a:r>
          </a:p>
          <a:p>
            <a:pPr algn="l">
              <a:lnSpc>
                <a:spcPct val="115000"/>
              </a:lnSpc>
              <a:spcAft>
                <a:spcPts val="400"/>
              </a:spcAft>
            </a:pPr>
            <a:r>
              <a:rPr sz="1050">
                <a:solidFill>
                  <a:srgbClr val="1E293B"/>
                </a:solidFill>
                <a:latin typeface="Noto Sans CJK KR"/>
              </a:rPr>
              <a:t>TDDB(Time-Dependent Dielectric Breakdown)는 배선에 지속적으로 전압이 걸릴 때, 금속 이온이 전기장에 이끌려 절연체(Low-k) 틈바구니 사이로 천천히 파고 들어가 결국 인접 라인과 미세한 누설 전류 폭포를 일으키는 소자 파괴 현상이다.</a:t>
            </a:r>
          </a:p>
          <a:p>
            <a:pPr algn="l">
              <a:lnSpc>
                <a:spcPct val="115000"/>
              </a:lnSpc>
              <a:spcAft>
                <a:spcPts val="400"/>
              </a:spcAft>
            </a:pPr>
            <a:r>
              <a:rPr sz="1050">
                <a:solidFill>
                  <a:srgbClr val="1E293B"/>
                </a:solidFill>
                <a:latin typeface="Noto Sans CJK KR"/>
              </a:rPr>
              <a:t>Ru는 앞서 살펴본 바와 같이 주변 실리콘 산화막과 반응성이 전무하고 이온 드리프트(Drift) 현상이 억제되어 본질적으로 탁월한 TDDB 내성을 갖는다5.</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PID HEALING / SIALYLATION</a:t>
            </a:r>
          </a:p>
          <a:p>
            <a:pPr algn="l">
              <a:spcAft>
                <a:spcPts val="400"/>
              </a:spcAft>
            </a:pPr>
            <a:r>
              <a:rPr sz="1500" b="1">
                <a:solidFill>
                  <a:srgbClr val="0F172A"/>
                </a:solidFill>
                <a:latin typeface="Noto Sans CJK KR"/>
              </a:rPr>
              <a:t>MP18 식각 PID 결함 발생 및 표면 복원 솔루션</a:t>
            </a:r>
          </a:p>
          <a:p>
            <a:pPr algn="l">
              <a:lnSpc>
                <a:spcPct val="115000"/>
              </a:lnSpc>
              <a:spcAft>
                <a:spcPts val="400"/>
              </a:spcAft>
            </a:pPr>
            <a:r>
              <a:rPr sz="1050">
                <a:solidFill>
                  <a:srgbClr val="1E293B"/>
                </a:solidFill>
                <a:latin typeface="Noto Sans CJK KR"/>
              </a:rPr>
              <a:t>다만 최신의 감산 식각 공정인 MP18 Direct Metal Etch (DME) 규격에서는 Ru를 깎아내는 강력한 플라즈마 폭격이 유전체 측벽에 플라즈마 유도 손상(Plasma-Induced Damage, PID)을 입히고 탄소 결핍층을 만들어 전기장 집중 점을 유발, TDDB 수명을 갉아먹는 주요 원인으로 지목되었다25.</a:t>
            </a:r>
          </a:p>
          <a:p>
            <a:pPr algn="l">
              <a:lnSpc>
                <a:spcPct val="115000"/>
              </a:lnSpc>
              <a:spcAft>
                <a:spcPts val="400"/>
              </a:spcAft>
            </a:pPr>
            <a:r>
              <a:rPr sz="1050">
                <a:solidFill>
                  <a:srgbClr val="1E293B"/>
                </a:solidFill>
                <a:latin typeface="Noto Sans CJK KR"/>
              </a:rPr>
              <a:t>IMEC은 이 결함을 복원하기 위해 다양한 표면 치유 요법을 도입했다. 화학 기상 증착(PECVD) 단계에서 히터 거리를 조절하고 유전체 소스(OMCTS)의 승온 속도(Ramp rate)를 미세하게 늦추어 막 내부 다공성 기공 구조를 치밀하게 닫아 플라즈마 충전을 물리적으로 막는 기법이 성공적으로 도입되었다25.</a:t>
            </a:r>
          </a:p>
          <a:p>
            <a:pPr algn="l">
              <a:lnSpc>
                <a:spcPct val="115000"/>
              </a:lnSpc>
              <a:spcAft>
                <a:spcPts val="400"/>
              </a:spcAft>
            </a:pPr>
            <a:r>
              <a:rPr sz="1050">
                <a:solidFill>
                  <a:srgbClr val="1E293B"/>
                </a:solidFill>
                <a:latin typeface="Noto Sans CJK KR"/>
              </a:rPr>
              <a:t>추가적으로 유기-무기 캡핑층 도포나 환원성 형성 가스 어닐링(Forming Gas Annealing)을 가해 끊어진 결합을 다시 봉합(Sialylation)함으로써 TDDB 파괴 시간을 연장하고 극대화된 신뢰성 마진을 확보하는 데 주력하고 있다25.</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24 /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9. 1NM 이후 차세대 배선 패러다임 — 1/2</a:t>
            </a:r>
          </a:p>
          <a:p>
            <a:pPr algn="l"/>
            <a:r>
              <a:rPr sz="2400" b="1">
                <a:solidFill>
                  <a:srgbClr val="0F172A"/>
                </a:solidFill>
                <a:latin typeface="Noto Sans CJK KR"/>
              </a:rPr>
              <a:t>상온 비저항 2.1 μΩ·cm의 기적: PtCoO2 델라포사이트(Delafossite) 박막</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BEYOND 1NM: DELAFOSSITE</a:t>
            </a:r>
          </a:p>
          <a:p>
            <a:pPr algn="l">
              <a:spcAft>
                <a:spcPts val="400"/>
              </a:spcAft>
            </a:pPr>
            <a:r>
              <a:rPr sz="1500" b="1">
                <a:solidFill>
                  <a:srgbClr val="0F172A"/>
                </a:solidFill>
                <a:latin typeface="Noto Sans CJK KR"/>
              </a:rPr>
              <a:t>1nm 미만 노드를 향한 신물질 탐색과 델라포사이트</a:t>
            </a:r>
          </a:p>
          <a:p>
            <a:pPr algn="l">
              <a:lnSpc>
                <a:spcPct val="115000"/>
              </a:lnSpc>
              <a:spcAft>
                <a:spcPts val="400"/>
              </a:spcAft>
            </a:pPr>
            <a:r>
              <a:rPr sz="1050">
                <a:solidFill>
                  <a:srgbClr val="1E293B"/>
                </a:solidFill>
                <a:latin typeface="Noto Sans CJK KR"/>
              </a:rPr>
              <a:t>산업계의 시선은 Ru의 도입을 기정사실화한 채, 더 나아가 양자 컴퓨팅과 극한의 하이퍼스케일(Hyperscale) AI 구동을 뒷받침할 1nm 미만 노드의 파격적인 신물질 시스템 탐색으로 향하고 있다. 향후 개최될 IITC 2026 어젠다와 최근 저널을 장식하고 있는 IMEC의 거대한 양대 비전은 차세대 화합물과 초전도 인터커넥트이다.</a:t>
            </a:r>
          </a:p>
          <a:p>
            <a:pPr algn="l">
              <a:lnSpc>
                <a:spcPct val="115000"/>
              </a:lnSpc>
              <a:spcAft>
                <a:spcPts val="400"/>
              </a:spcAft>
            </a:pPr>
            <a:r>
              <a:rPr sz="1050">
                <a:solidFill>
                  <a:srgbClr val="1E293B"/>
                </a:solidFill>
                <a:latin typeface="Noto Sans CJK KR"/>
              </a:rPr>
              <a:t>순수 금속을 뛰어넘어, 두 가지 이상의 원소가 규칙적인 층상 샌드위치 구조를 이루는 델라포사이트 산화물 화합물이 넥스트 브레이크스루로 지목되고 있다.</a:t>
            </a:r>
          </a:p>
          <a:p>
            <a:pPr algn="l">
              <a:lnSpc>
                <a:spcPct val="115000"/>
              </a:lnSpc>
              <a:spcAft>
                <a:spcPts val="400"/>
              </a:spcAft>
            </a:pPr>
            <a:r>
              <a:rPr sz="1050">
                <a:solidFill>
                  <a:srgbClr val="1E293B"/>
                </a:solidFill>
                <a:latin typeface="Noto Sans CJK KR"/>
              </a:rPr>
              <a:t>그 선봉에 선 백금-코발트 산화물(PtCoO2) 결정은 실온에서 비저항이 고작 2.1 μΩ·cm로 측정될 만큼 상상을 초월하는 전기 전도도를 자랑한다4.</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2.1 ΜΩ·CM / ANISOTROPIC TRANSPORT</a:t>
            </a:r>
          </a:p>
          <a:p>
            <a:pPr algn="l">
              <a:spcAft>
                <a:spcPts val="400"/>
              </a:spcAft>
            </a:pPr>
            <a:r>
              <a:rPr sz="1500" b="1">
                <a:solidFill>
                  <a:srgbClr val="0F172A"/>
                </a:solidFill>
                <a:latin typeface="Noto Sans CJK KR"/>
              </a:rPr>
              <a:t>강한 이방성(Anisotropic) 구조와 탄성 산란 메커니즘</a:t>
            </a:r>
          </a:p>
          <a:p>
            <a:pPr algn="l">
              <a:lnSpc>
                <a:spcPct val="115000"/>
              </a:lnSpc>
              <a:spcAft>
                <a:spcPts val="400"/>
              </a:spcAft>
            </a:pPr>
            <a:r>
              <a:rPr sz="1050">
                <a:solidFill>
                  <a:srgbClr val="1E293B"/>
                </a:solidFill>
                <a:latin typeface="Noto Sans CJK KR"/>
              </a:rPr>
              <a:t>이 기적 같은 전도도의 비밀은 지극히 강한 이방성(Anisotropic) 결정 구조에 숨어 있다. Pt 층과 CoO2 층이 교차하면서 전자가 이동할 수 있는 특정 2차원 평면이 형성되며, 다층 에피택셜(Multilayer Epitaxy) 성장 기술을 동원해 기판 위에 결정을 뉘여 깔게 되면 전자가 박막의 표면과 결정립계에 부딪히더라도 산란되어 에너지를 잃는 대신 거울처럼 튕겨나가며 탄성 있게 미끄러진다4.</a:t>
            </a:r>
          </a:p>
          <a:p>
            <a:pPr algn="l">
              <a:lnSpc>
                <a:spcPct val="115000"/>
              </a:lnSpc>
              <a:spcAft>
                <a:spcPts val="400"/>
              </a:spcAft>
            </a:pPr>
            <a:r>
              <a:rPr sz="1050">
                <a:solidFill>
                  <a:srgbClr val="1E293B"/>
                </a:solidFill>
                <a:latin typeface="Noto Sans CJK KR"/>
              </a:rPr>
              <a:t>이론적 밀도 범함수 강결합(DFTB) 비평형 그린 함수(NEGF) 모델을 통해 추출된 쌍정 경계(Twin Boundary)의 전자 반사 계수는 대략 0.48~0.5에 불과하여 통상적인 다결정 금속보다 산란 페널티가 월등히 적다4.</a:t>
            </a:r>
          </a:p>
          <a:p>
            <a:pPr algn="l">
              <a:lnSpc>
                <a:spcPct val="115000"/>
              </a:lnSpc>
              <a:spcAft>
                <a:spcPts val="400"/>
              </a:spcAft>
            </a:pPr>
            <a:r>
              <a:rPr sz="1050">
                <a:solidFill>
                  <a:srgbClr val="1E293B"/>
                </a:solidFill>
                <a:latin typeface="Noto Sans CJK KR"/>
              </a:rPr>
              <a:t>이는 폭이 수 나노미터에 불과한 극도로 얇고 좁은 터널에서도 Cu와 Ru를 모두 비웃듯 저항 상승이 둔화되는 압도적 스케일링 무기임을 증명한다25.</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25 /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9.2 극저온 디지털 초전도 회로 — 2/2</a:t>
            </a:r>
          </a:p>
          <a:p>
            <a:pPr algn="l"/>
            <a:r>
              <a:rPr sz="2400" b="1">
                <a:solidFill>
                  <a:srgbClr val="0F172A"/>
                </a:solidFill>
                <a:latin typeface="Noto Sans CJK KR"/>
              </a:rPr>
              <a:t>AI 및 양자 컴퓨팅을 위한 30nm 피치 NbTiN 초전도 배선 모듈</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THERMAL BOTTLENECK SOLVER</a:t>
            </a:r>
          </a:p>
          <a:p>
            <a:pPr algn="l">
              <a:spcAft>
                <a:spcPts val="400"/>
              </a:spcAft>
            </a:pPr>
            <a:r>
              <a:rPr sz="1500" b="1">
                <a:solidFill>
                  <a:srgbClr val="0F172A"/>
                </a:solidFill>
                <a:latin typeface="Noto Sans CJK KR"/>
              </a:rPr>
              <a:t>열 병목 극복을 위한 디지털 초전도 회로 필요성</a:t>
            </a:r>
          </a:p>
          <a:p>
            <a:pPr algn="l">
              <a:lnSpc>
                <a:spcPct val="115000"/>
              </a:lnSpc>
              <a:spcAft>
                <a:spcPts val="400"/>
              </a:spcAft>
            </a:pPr>
            <a:r>
              <a:rPr sz="1050">
                <a:solidFill>
                  <a:srgbClr val="1E293B"/>
                </a:solidFill>
                <a:latin typeface="Noto Sans CJK KR"/>
              </a:rPr>
              <a:t>발열로 인한 열 병목(Thermal Bottleneck)이 현대 컴퓨팅 구조의 가장 큰 약점으로 부각되면서, 극저온 기반의 디지털 초전도 회로(Superconducting Digital Technology)를 데이터 센터에 심으려는 웅장한 시도가 이어지고 있다45.</a:t>
            </a:r>
          </a:p>
          <a:p>
            <a:pPr algn="l">
              <a:lnSpc>
                <a:spcPct val="115000"/>
              </a:lnSpc>
              <a:spcAft>
                <a:spcPts val="400"/>
              </a:spcAft>
            </a:pPr>
            <a:r>
              <a:rPr sz="1050">
                <a:solidFill>
                  <a:srgbClr val="1E293B"/>
                </a:solidFill>
                <a:latin typeface="Noto Sans CJK KR"/>
              </a:rPr>
              <a:t>기존의 순수 니오븀(Nb) 초전도체는 성능은 우수하나 집적화 스케일링 한계에 봉착해 있었다.</a:t>
            </a:r>
          </a:p>
          <a:p>
            <a:pPr algn="l">
              <a:lnSpc>
                <a:spcPct val="115000"/>
              </a:lnSpc>
              <a:spcAft>
                <a:spcPts val="400"/>
              </a:spcAft>
            </a:pPr>
            <a:r>
              <a:rPr sz="1050">
                <a:solidFill>
                  <a:srgbClr val="1E293B"/>
                </a:solidFill>
                <a:latin typeface="Noto Sans CJK KR"/>
              </a:rPr>
              <a:t>초미세 피치 패터닝 및 기존 팹 라인과의 열적 호환성 확보가 극저온 반도체 배선의 최대 과제로 대두되었다.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30NM NBTIN / 420°C CMOS FAB COMPATIBLE</a:t>
            </a:r>
          </a:p>
          <a:p>
            <a:pPr algn="l">
              <a:spcAft>
                <a:spcPts val="400"/>
              </a:spcAft>
            </a:pPr>
            <a:r>
              <a:rPr sz="1500" b="1">
                <a:solidFill>
                  <a:srgbClr val="0F172A"/>
                </a:solidFill>
                <a:latin typeface="Noto Sans CJK KR"/>
              </a:rPr>
              <a:t>300mm 30nm 피치 NbTiN 및 420°C CMOS 팹 호환성</a:t>
            </a:r>
          </a:p>
          <a:p>
            <a:pPr algn="l">
              <a:lnSpc>
                <a:spcPct val="115000"/>
              </a:lnSpc>
              <a:spcAft>
                <a:spcPts val="400"/>
              </a:spcAft>
            </a:pPr>
            <a:r>
              <a:rPr sz="1050">
                <a:solidFill>
                  <a:srgbClr val="1E293B"/>
                </a:solidFill>
                <a:latin typeface="Noto Sans CJK KR"/>
              </a:rPr>
              <a:t>IMEC은 300mm 파일럿 라인에서 티타늄과 질소를 첨가한 니오븀 티타늄 질화물(NbTiN) 합금을 이용하여 세계 최초로 30nm 미세 피치의 초전도 인터커넥트를 통합한 완전한 단위 공정을 구축하는 데 성공했다47.</a:t>
            </a:r>
          </a:p>
          <a:p>
            <a:pPr algn="l">
              <a:lnSpc>
                <a:spcPct val="115000"/>
              </a:lnSpc>
              <a:spcAft>
                <a:spcPts val="400"/>
              </a:spcAft>
            </a:pPr>
            <a:r>
              <a:rPr sz="1050">
                <a:solidFill>
                  <a:srgbClr val="1E293B"/>
                </a:solidFill>
                <a:latin typeface="Noto Sans CJK KR"/>
              </a:rPr>
              <a:t>이 혁신적인 모듈은 고-운동인덕턴스(High-kinetic-inductance) NbTiN 배선, 자기 정렬 션트(Shunt)가 통합된 조셉슨 접합(Josephson Junction), 그리고 튜닝 가능한 HZO MIM 초고효율 캐패시터로 정교하게 짜여 있다45.</a:t>
            </a:r>
          </a:p>
          <a:p>
            <a:pPr algn="l">
              <a:lnSpc>
                <a:spcPct val="115000"/>
              </a:lnSpc>
              <a:spcAft>
                <a:spcPts val="400"/>
              </a:spcAft>
            </a:pPr>
            <a:r>
              <a:rPr sz="1050">
                <a:solidFill>
                  <a:srgbClr val="1E293B"/>
                </a:solidFill>
                <a:latin typeface="Noto Sans CJK KR"/>
              </a:rPr>
              <a:t>무엇보다 가장 큰 돌파구는 이 초전도 집적 공정이 기존 상용 CMOS 팹의 전통적 BEOL 열처리 상한선인 420°C 이하의 공정 온도를 완벽히 지키면서도 파괴되지 않는다는 호환성에 있다45.</a:t>
            </a:r>
          </a:p>
          <a:p>
            <a:pPr algn="l">
              <a:lnSpc>
                <a:spcPct val="115000"/>
              </a:lnSpc>
              <a:spcAft>
                <a:spcPts val="400"/>
              </a:spcAft>
            </a:pPr>
            <a:r>
              <a:rPr sz="1050">
                <a:solidFill>
                  <a:srgbClr val="1E293B"/>
                </a:solidFill>
                <a:latin typeface="Noto Sans CJK KR"/>
              </a:rPr>
              <a:t>0.5 μm 홀 격자망(20x20 μm² Grid)에서 자기 와류(Vortex)의 흐름을 통제함으로써, 30 GHz 클럭의 경이적인 초고속 스위칭 속도에서도 최대 90%에 달하는 구동 효율을 유지하여 발열 없이 양자 연산 칩과 AI 연산 코어를 연결할 차세대 데이터 고속도로를 설계해 냈다45.</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26 /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10. 결론 (CONCLUSION) — 1/2</a:t>
            </a:r>
          </a:p>
          <a:p>
            <a:pPr algn="l"/>
            <a:r>
              <a:rPr sz="2400" b="1">
                <a:solidFill>
                  <a:srgbClr val="0F172A"/>
                </a:solidFill>
                <a:latin typeface="Noto Sans CJK KR"/>
              </a:rPr>
              <a:t>Ru 배선 기술 혁신의 핵심 총괄: 물리적 규명과 16nm 초저저항</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ENGINEERING BLUEPRINT</a:t>
            </a:r>
          </a:p>
          <a:p>
            <a:pPr algn="l">
              <a:spcAft>
                <a:spcPts val="400"/>
              </a:spcAft>
            </a:pPr>
            <a:r>
              <a:rPr sz="1500" b="1">
                <a:solidFill>
                  <a:srgbClr val="0F172A"/>
                </a:solidFill>
                <a:latin typeface="Noto Sans CJK KR"/>
              </a:rPr>
              <a:t>IMEC 주도 Ru 연구 궤적과 엔지니어링 청사진</a:t>
            </a:r>
          </a:p>
          <a:p>
            <a:pPr algn="l">
              <a:lnSpc>
                <a:spcPct val="115000"/>
              </a:lnSpc>
              <a:spcAft>
                <a:spcPts val="400"/>
              </a:spcAft>
            </a:pPr>
            <a:r>
              <a:rPr sz="1150">
                <a:solidFill>
                  <a:srgbClr val="1E293B"/>
                </a:solidFill>
                <a:latin typeface="Noto Sans CJK KR"/>
              </a:rPr>
              <a:t>최신 IEEE 플랫폼 및 IITC 콘퍼런스를 통해 폭발적으로 누적된 IMEC 주도의 루테늄(Ru) 배선 기술 연구 궤적은, 무너져가는 구리 기반 이중 상감 공정의 물리적 장벽을 정면으로 돌파하는 구체적이고 상용화 직전 단계의 엔지니어링 청사진을 제시하고 있다.</a:t>
            </a:r>
          </a:p>
          <a:p>
            <a:pPr algn="l">
              <a:lnSpc>
                <a:spcPct val="115000"/>
              </a:lnSpc>
              <a:spcAft>
                <a:spcPts val="400"/>
              </a:spcAft>
            </a:pPr>
            <a:r>
              <a:rPr sz="1150">
                <a:solidFill>
                  <a:srgbClr val="1E293B"/>
                </a:solidFill>
                <a:latin typeface="Noto Sans CJK KR"/>
              </a:rPr>
              <a:t>단순히 벌크 비저항의 한계를 논하던 시기를 지나, 전자의 평균 자유 행로와 결정립계 반사 계수를 극한으로 제어하는 반고전적 물리학적(MS Model) 이해를 바탕으로 Sub-second Laser Annealing(SLA)과 같은 혁신적 박막 제어 기술이 도입되었다.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16NM PITCH RECORD 656 Ω/M</a:t>
            </a:r>
          </a:p>
          <a:p>
            <a:pPr algn="l">
              <a:spcAft>
                <a:spcPts val="400"/>
              </a:spcAft>
            </a:pPr>
            <a:r>
              <a:rPr sz="1500" b="1">
                <a:solidFill>
                  <a:srgbClr val="0F172A"/>
                </a:solidFill>
                <a:latin typeface="Noto Sans CJK KR"/>
              </a:rPr>
              <a:t>거대 결정립 배양과 Semi-Damascene 16nm Pitch 성과</a:t>
            </a:r>
          </a:p>
          <a:p>
            <a:pPr algn="l">
              <a:lnSpc>
                <a:spcPct val="115000"/>
              </a:lnSpc>
              <a:spcAft>
                <a:spcPts val="400"/>
              </a:spcAft>
            </a:pPr>
            <a:r>
              <a:rPr sz="1150">
                <a:solidFill>
                  <a:srgbClr val="1E293B"/>
                </a:solidFill>
                <a:latin typeface="Noto Sans CJK KR"/>
              </a:rPr>
              <a:t>이를 통해 30nm 두께에서도 140nm에 달하는 거대 결정립을 인공적으로 배양해 Ru 본연의 초저저항 가능성을 현실로 구현해 냈다.</a:t>
            </a:r>
          </a:p>
          <a:p>
            <a:pPr algn="l">
              <a:lnSpc>
                <a:spcPct val="115000"/>
              </a:lnSpc>
              <a:spcAft>
                <a:spcPts val="400"/>
              </a:spcAft>
            </a:pPr>
            <a:r>
              <a:rPr sz="1150">
                <a:solidFill>
                  <a:srgbClr val="1E293B"/>
                </a:solidFill>
                <a:latin typeface="Noto Sans CJK KR"/>
              </a:rPr>
              <a:t>나아가, 구리의 빈자리를 채우는 것을 넘어 배선 제조 패러다임 자체를 뒤엎는 감산 식각 중심의 반-상감(Semi-damascene) 집적 모듈을 통해, 16nm 금속 피치라는 전인미답의 경지에서 656 Ω/m이라는 세계 최저 저항과 고무적인 수율을 동시에 거머쥐었다.</a:t>
            </a:r>
          </a:p>
          <a:p>
            <a:pPr algn="l">
              <a:lnSpc>
                <a:spcPct val="115000"/>
              </a:lnSpc>
              <a:spcAft>
                <a:spcPts val="400"/>
              </a:spcAft>
            </a:pPr>
            <a:r>
              <a:rPr sz="1150">
                <a:solidFill>
                  <a:srgbClr val="1E293B"/>
                </a:solidFill>
                <a:latin typeface="Noto Sans CJK KR"/>
              </a:rPr>
              <a:t>이는 학술적 실험실 단계를 넘어 실질적인 300mm 양산 파운드리 공정으로의 전환 가능성을 확고히 입증한 역사적 이정표이다.</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27 / 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10. 결론 (CONCLUSION) — 2/2</a:t>
            </a:r>
          </a:p>
          <a:p>
            <a:pPr algn="l"/>
            <a:r>
              <a:rPr sz="2400" b="1">
                <a:solidFill>
                  <a:srgbClr val="0F172A"/>
                </a:solidFill>
                <a:latin typeface="Noto Sans CJK KR"/>
              </a:rPr>
              <a:t>무어의 법칙 계승과 옹스트롬 노드 및 초전도 시대로의 도약</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0120"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RELIABILITY GUARANTEE</a:t>
            </a:r>
          </a:p>
          <a:p>
            <a:pPr algn="l">
              <a:spcAft>
                <a:spcPts val="400"/>
              </a:spcAft>
            </a:pPr>
            <a:r>
              <a:rPr sz="1500" b="1">
                <a:solidFill>
                  <a:srgbClr val="0F172A"/>
                </a:solidFill>
                <a:latin typeface="Noto Sans CJK KR"/>
              </a:rPr>
              <a:t>공학적 신뢰성 보증과 A7 미만 노드 수명 보증 수표</a:t>
            </a:r>
          </a:p>
          <a:p>
            <a:pPr algn="l">
              <a:lnSpc>
                <a:spcPct val="115000"/>
              </a:lnSpc>
              <a:spcAft>
                <a:spcPts val="400"/>
              </a:spcAft>
            </a:pPr>
            <a:r>
              <a:rPr sz="1150">
                <a:solidFill>
                  <a:srgbClr val="1E293B"/>
                </a:solidFill>
                <a:latin typeface="Noto Sans CJK KR"/>
              </a:rPr>
              <a:t>이는 자기 정렬 비아(FSAV)와 에어갭 기술, 그리고 하드마스크 산화라는 플라즈마 화학적 난제를 정밀 분할 식각-세정 궤적(Segmented Etch-Clean Scheme)으로 극복해 낸 수많은 공학자들의 유기적인 통찰의 산물이다.</a:t>
            </a:r>
          </a:p>
          <a:p>
            <a:pPr algn="l">
              <a:lnSpc>
                <a:spcPct val="115000"/>
              </a:lnSpc>
              <a:spcAft>
                <a:spcPts val="400"/>
              </a:spcAft>
            </a:pPr>
            <a:r>
              <a:rPr sz="1150">
                <a:solidFill>
                  <a:srgbClr val="1E293B"/>
                </a:solidFill>
                <a:latin typeface="Noto Sans CJK KR"/>
              </a:rPr>
              <a:t>무장벽(Barrier-less) 적용으로 야기되는 비아 저항의 40% 삭감과, 귀금속 본연의 거대한 응집 에너지(Cohesive Energy)에서 분출되는 강인한 1,000시간 이상의 전기이동(EM) 생존력은 차세대 A7 미만 노드의 수명 보증 수표로서 손색이 없다.</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2057400"/>
            <a:ext cx="4709160" cy="3931920"/>
          </a:xfrm>
          <a:prstGeom prst="rect">
            <a:avLst/>
          </a:prstGeom>
          <a:noFill/>
        </p:spPr>
        <p:txBody>
          <a:bodyPr wrap="square" anchor="t" lIns="0" tIns="0" rIns="0" bIns="0">
            <a:spAutoFit/>
          </a:bodyPr>
          <a:lstStyle/>
          <a:p>
            <a:pPr algn="l">
              <a:spcAft>
                <a:spcPts val="200"/>
              </a:spcAft>
            </a:pPr>
            <a:r>
              <a:rPr sz="1050" b="1">
                <a:solidFill>
                  <a:srgbClr val="0284C7"/>
                </a:solidFill>
                <a:latin typeface="Noto Sans CJK KR"/>
              </a:rPr>
              <a:t>EXTENDING MOORE'S LAW</a:t>
            </a:r>
          </a:p>
          <a:p>
            <a:pPr algn="l">
              <a:spcAft>
                <a:spcPts val="400"/>
              </a:spcAft>
            </a:pPr>
            <a:r>
              <a:rPr sz="1500" b="1">
                <a:solidFill>
                  <a:srgbClr val="0F172A"/>
                </a:solidFill>
                <a:latin typeface="Noto Sans CJK KR"/>
              </a:rPr>
              <a:t>향후 10년의 로드맵: 무어의 법칙 생명 연장의 핵심 촉매제</a:t>
            </a:r>
          </a:p>
          <a:p>
            <a:pPr algn="l">
              <a:lnSpc>
                <a:spcPct val="115000"/>
              </a:lnSpc>
              <a:spcAft>
                <a:spcPts val="400"/>
              </a:spcAft>
            </a:pPr>
            <a:r>
              <a:rPr sz="1150">
                <a:solidFill>
                  <a:srgbClr val="1E293B"/>
                </a:solidFill>
                <a:latin typeface="Noto Sans CJK KR"/>
              </a:rPr>
              <a:t>현재 반도체 공학계는 Ru의 안정적인 양산 고도화와 더불어 다가올 10년 후의 하이퍼스케일 양자-초전도 컴퓨팅 시대를 장식할 PtCoO2 델라포사이트와 극저온 NbTiN 배선의 발굴로 시선을 돌리고 있다.</a:t>
            </a:r>
          </a:p>
          <a:p>
            <a:pPr algn="l">
              <a:lnSpc>
                <a:spcPct val="115000"/>
              </a:lnSpc>
              <a:spcAft>
                <a:spcPts val="400"/>
              </a:spcAft>
            </a:pPr>
            <a:r>
              <a:rPr sz="1150">
                <a:solidFill>
                  <a:srgbClr val="1E293B"/>
                </a:solidFill>
                <a:latin typeface="Noto Sans CJK KR"/>
              </a:rPr>
              <a:t>그 여정의 길목에서, 무-배리어 금속의 화학적 기계적 연마(ECMP) 메커니즘 해석과 휘발성 독성 가스(RuO4) 제어라는 미결 과제들이 남아 있으나, Ru 감산 식각 패러다임이 현대 마이크로일렉트로닉스의 BEOL 병목 현상을 해소하고 무어의 법칙(Moore's Law)의 생명 연장을 주도할 핵심 촉매제임은 논쟁의 여지가 없는 역사적 필연으로 다가오고 있다.</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28 /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참고 자료 (REFERENCES) — 1/4</a:t>
            </a:r>
          </a:p>
          <a:p>
            <a:pPr algn="l"/>
            <a:r>
              <a:rPr sz="2400" b="1">
                <a:solidFill>
                  <a:srgbClr val="0F172A"/>
                </a:solidFill>
                <a:latin typeface="Noto Sans CJK KR"/>
              </a:rPr>
              <a:t>주요 연구 논문, 컨퍼런스 발표 및 기술 문헌 (1 ~ 13)</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32688"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1. </a:t>
            </a:r>
            <a:r>
              <a:rPr sz="1000">
                <a:solidFill>
                  <a:srgbClr val="1E293B"/>
                </a:solidFill>
                <a:latin typeface="Noto Sans CJK KR"/>
              </a:rPr>
              <a:t>Semi-damascene metallization | imec</a:t>
            </a:r>
            <a:r>
              <a:rPr sz="1000">
                <a:solidFill>
                  <a:srgbClr val="64748B"/>
                </a:solidFill>
                <a:latin typeface="Noto Sans CJK KR"/>
              </a:rPr>
              <a:t> [https://www.imec-int.com/en/articles/semi-damascene-metallization-inflection-point-back-end-line-processing]</a:t>
            </a:r>
          </a:p>
          <a:p>
            <a:pPr algn="l">
              <a:lnSpc>
                <a:spcPct val="112000"/>
              </a:lnSpc>
              <a:spcAft>
                <a:spcPts val="400"/>
              </a:spcAft>
            </a:pPr>
            <a:r>
              <a:rPr sz="1000" b="1">
                <a:solidFill>
                  <a:srgbClr val="0284C7"/>
                </a:solidFill>
                <a:latin typeface="Noto Sans CJK KR"/>
              </a:rPr>
              <a:t>2. </a:t>
            </a:r>
            <a:r>
              <a:rPr sz="1000">
                <a:solidFill>
                  <a:srgbClr val="1E293B"/>
                </a:solidFill>
                <a:latin typeface="Noto Sans CJK KR"/>
              </a:rPr>
              <a:t>16nm Ru lines using semi-damascene integration approach - IMEC</a:t>
            </a:r>
            <a:r>
              <a:rPr sz="1000">
                <a:solidFill>
                  <a:srgbClr val="64748B"/>
                </a:solidFill>
                <a:latin typeface="Noto Sans CJK KR"/>
              </a:rPr>
              <a:t> [https://www.imec-int.com/en/press/imec-demonstrates-16nm-pitch-ru-lines-record-low-resistance-obtained-using-semi-damascene]</a:t>
            </a:r>
          </a:p>
          <a:p>
            <a:pPr algn="l">
              <a:lnSpc>
                <a:spcPct val="112000"/>
              </a:lnSpc>
              <a:spcAft>
                <a:spcPts val="400"/>
              </a:spcAft>
            </a:pPr>
            <a:r>
              <a:rPr sz="1000" b="1">
                <a:solidFill>
                  <a:srgbClr val="0284C7"/>
                </a:solidFill>
                <a:latin typeface="Noto Sans CJK KR"/>
              </a:rPr>
              <a:t>3. </a:t>
            </a:r>
            <a:r>
              <a:rPr sz="1000">
                <a:solidFill>
                  <a:srgbClr val="1E293B"/>
                </a:solidFill>
                <a:latin typeface="Noto Sans CJK KR"/>
              </a:rPr>
              <a:t>Imec Presents Copper, Cobalt and Ruthenium Interconnect Results</a:t>
            </a:r>
            <a:r>
              <a:rPr sz="1000">
                <a:solidFill>
                  <a:srgbClr val="64748B"/>
                </a:solidFill>
                <a:latin typeface="Noto Sans CJK KR"/>
              </a:rPr>
              <a:t> [https://semiwiki.com/semiconductor-services/techinsights/7569-iitc-imec-presents-copper-cobalt-and-ruthenium-interconnect-results/]</a:t>
            </a:r>
          </a:p>
          <a:p>
            <a:pPr algn="l">
              <a:lnSpc>
                <a:spcPct val="112000"/>
              </a:lnSpc>
              <a:spcAft>
                <a:spcPts val="400"/>
              </a:spcAft>
            </a:pPr>
            <a:r>
              <a:rPr sz="1000" b="1">
                <a:solidFill>
                  <a:srgbClr val="0284C7"/>
                </a:solidFill>
                <a:latin typeface="Noto Sans CJK KR"/>
              </a:rPr>
              <a:t>4. </a:t>
            </a:r>
            <a:r>
              <a:rPr sz="1000">
                <a:solidFill>
                  <a:srgbClr val="1E293B"/>
                </a:solidFill>
                <a:latin typeface="Noto Sans CJK KR"/>
              </a:rPr>
              <a:t>Future Interconnects for Computing Performance | PDF - Scribd</a:t>
            </a:r>
            <a:r>
              <a:rPr sz="1000">
                <a:solidFill>
                  <a:srgbClr val="64748B"/>
                </a:solidFill>
                <a:latin typeface="Noto Sans CJK KR"/>
              </a:rPr>
              <a:t> [https://www.scribd.com/document/804389200/science-adk6189]</a:t>
            </a:r>
          </a:p>
          <a:p>
            <a:pPr algn="l">
              <a:lnSpc>
                <a:spcPct val="112000"/>
              </a:lnSpc>
              <a:spcAft>
                <a:spcPts val="400"/>
              </a:spcAft>
            </a:pPr>
            <a:r>
              <a:rPr sz="1000" b="1">
                <a:solidFill>
                  <a:srgbClr val="0284C7"/>
                </a:solidFill>
                <a:latin typeface="Noto Sans CJK KR"/>
              </a:rPr>
              <a:t>5. </a:t>
            </a:r>
            <a:r>
              <a:rPr sz="1000">
                <a:solidFill>
                  <a:srgbClr val="1E293B"/>
                </a:solidFill>
                <a:latin typeface="Noto Sans CJK KR"/>
              </a:rPr>
              <a:t>Ruthenium interconnect resistivity and reliability at 48 nm pitch</a:t>
            </a:r>
            <a:r>
              <a:rPr sz="1000">
                <a:solidFill>
                  <a:srgbClr val="64748B"/>
                </a:solidFill>
                <a:latin typeface="Noto Sans CJK KR"/>
              </a:rPr>
              <a:t> [https://research.ibm.com/publications/ruthenium-interconnect-resistivity-and-reliability-at-48-nm-pitch]</a:t>
            </a:r>
          </a:p>
          <a:p>
            <a:pPr algn="l">
              <a:lnSpc>
                <a:spcPct val="112000"/>
              </a:lnSpc>
              <a:spcAft>
                <a:spcPts val="400"/>
              </a:spcAft>
            </a:pPr>
            <a:r>
              <a:rPr sz="1000" b="1">
                <a:solidFill>
                  <a:srgbClr val="0284C7"/>
                </a:solidFill>
                <a:latin typeface="Noto Sans CJK KR"/>
              </a:rPr>
              <a:t>6. </a:t>
            </a:r>
            <a:r>
              <a:rPr sz="1000">
                <a:solidFill>
                  <a:srgbClr val="1E293B"/>
                </a:solidFill>
                <a:latin typeface="Noto Sans CJK KR"/>
              </a:rPr>
              <a:t>Recent Trends in Copper Metallization - Encyclopedia.pub</a:t>
            </a:r>
            <a:r>
              <a:rPr sz="1000">
                <a:solidFill>
                  <a:srgbClr val="64748B"/>
                </a:solidFill>
                <a:latin typeface="Noto Sans CJK KR"/>
              </a:rPr>
              <a:t> [https://encyclopedia.pub/entry/27618]</a:t>
            </a:r>
          </a:p>
          <a:p>
            <a:pPr algn="l">
              <a:lnSpc>
                <a:spcPct val="112000"/>
              </a:lnSpc>
              <a:spcAft>
                <a:spcPts val="400"/>
              </a:spcAft>
            </a:pPr>
            <a:r>
              <a:rPr sz="1000" b="1">
                <a:solidFill>
                  <a:srgbClr val="0284C7"/>
                </a:solidFill>
                <a:latin typeface="Noto Sans CJK KR"/>
              </a:rPr>
              <a:t>7. </a:t>
            </a:r>
            <a:r>
              <a:rPr sz="1000">
                <a:solidFill>
                  <a:srgbClr val="1E293B"/>
                </a:solidFill>
                <a:latin typeface="Noto Sans CJK KR"/>
              </a:rPr>
              <a:t>Resistivity Scaling of Rhodium Nanowires for Advanced</a:t>
            </a:r>
            <a:r>
              <a:rPr sz="1000">
                <a:solidFill>
                  <a:srgbClr val="64748B"/>
                </a:solidFill>
                <a:latin typeface="Noto Sans CJK KR"/>
              </a:rPr>
              <a:t> [https://pubs.acs.org/doi/10.1021/acsanm.5c02653]</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92240"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8. </a:t>
            </a:r>
            <a:r>
              <a:rPr sz="1000">
                <a:solidFill>
                  <a:srgbClr val="1E293B"/>
                </a:solidFill>
                <a:latin typeface="Noto Sans CJK KR"/>
              </a:rPr>
              <a:t>Materials Quest for Advanced Interconnect Metallization ... - PMC - NIH</a:t>
            </a:r>
            <a:r>
              <a:rPr sz="1000">
                <a:solidFill>
                  <a:srgbClr val="64748B"/>
                </a:solidFill>
                <a:latin typeface="Noto Sans CJK KR"/>
              </a:rPr>
              <a:t> [https://pmc.ncbi.nlm.nih.gov/articles/PMC10427378/]</a:t>
            </a:r>
          </a:p>
          <a:p>
            <a:pPr algn="l">
              <a:lnSpc>
                <a:spcPct val="112000"/>
              </a:lnSpc>
              <a:spcAft>
                <a:spcPts val="400"/>
              </a:spcAft>
            </a:pPr>
            <a:r>
              <a:rPr sz="1000" b="1">
                <a:solidFill>
                  <a:srgbClr val="0284C7"/>
                </a:solidFill>
                <a:latin typeface="Noto Sans CJK KR"/>
              </a:rPr>
              <a:t>9. </a:t>
            </a:r>
            <a:r>
              <a:rPr sz="1000">
                <a:solidFill>
                  <a:srgbClr val="1E293B"/>
                </a:solidFill>
                <a:latin typeface="Noto Sans CJK KR"/>
              </a:rPr>
              <a:t>On the extraction of resistivity and area of nanoscale interconnect</a:t>
            </a:r>
            <a:r>
              <a:rPr sz="1000">
                <a:solidFill>
                  <a:srgbClr val="64748B"/>
                </a:solidFill>
                <a:latin typeface="Noto Sans CJK KR"/>
              </a:rPr>
              <a:t> [https://arxiv.org/html/1812.01379v1]</a:t>
            </a:r>
          </a:p>
          <a:p>
            <a:pPr algn="l">
              <a:lnSpc>
                <a:spcPct val="112000"/>
              </a:lnSpc>
              <a:spcAft>
                <a:spcPts val="400"/>
              </a:spcAft>
            </a:pPr>
            <a:r>
              <a:rPr sz="1000" b="1">
                <a:solidFill>
                  <a:srgbClr val="0284C7"/>
                </a:solidFill>
                <a:latin typeface="Noto Sans CJK KR"/>
              </a:rPr>
              <a:t>10. </a:t>
            </a:r>
            <a:r>
              <a:rPr sz="1000">
                <a:solidFill>
                  <a:srgbClr val="1E293B"/>
                </a:solidFill>
                <a:latin typeface="Noto Sans CJK KR"/>
              </a:rPr>
              <a:t>Selecting Alternative Metals for Advanced Interconnects - arXiv</a:t>
            </a:r>
            <a:r>
              <a:rPr sz="1000">
                <a:solidFill>
                  <a:srgbClr val="64748B"/>
                </a:solidFill>
                <a:latin typeface="Noto Sans CJK KR"/>
              </a:rPr>
              <a:t> [https://arxiv.org/html/2406.09106v2]</a:t>
            </a:r>
          </a:p>
          <a:p>
            <a:pPr algn="l">
              <a:lnSpc>
                <a:spcPct val="112000"/>
              </a:lnSpc>
              <a:spcAft>
                <a:spcPts val="400"/>
              </a:spcAft>
            </a:pPr>
            <a:r>
              <a:rPr sz="1000" b="1">
                <a:solidFill>
                  <a:srgbClr val="0284C7"/>
                </a:solidFill>
                <a:latin typeface="Noto Sans CJK KR"/>
              </a:rPr>
              <a:t>11. </a:t>
            </a:r>
            <a:r>
              <a:rPr sz="1000">
                <a:solidFill>
                  <a:srgbClr val="1E293B"/>
                </a:solidFill>
                <a:latin typeface="Noto Sans CJK KR"/>
              </a:rPr>
              <a:t>Prospects and challenges of compound conductors for advanced</a:t>
            </a:r>
            <a:r>
              <a:rPr sz="1000">
                <a:solidFill>
                  <a:srgbClr val="64748B"/>
                </a:solidFill>
                <a:latin typeface="Noto Sans CJK KR"/>
              </a:rPr>
              <a:t> [https://pubs.aip.org/aip/jap/article/138/9/090902/3361546/Prospects-and-challenges-of-compound-conductors]</a:t>
            </a:r>
          </a:p>
          <a:p>
            <a:pPr algn="l">
              <a:lnSpc>
                <a:spcPct val="112000"/>
              </a:lnSpc>
              <a:spcAft>
                <a:spcPts val="400"/>
              </a:spcAft>
            </a:pPr>
            <a:r>
              <a:rPr sz="1000" b="1">
                <a:solidFill>
                  <a:srgbClr val="0284C7"/>
                </a:solidFill>
                <a:latin typeface="Noto Sans CJK KR"/>
              </a:rPr>
              <a:t>12. </a:t>
            </a:r>
            <a:r>
              <a:rPr sz="1000">
                <a:solidFill>
                  <a:srgbClr val="1E293B"/>
                </a:solidFill>
                <a:latin typeface="Noto Sans CJK KR"/>
              </a:rPr>
              <a:t>Prospects and challenges of compound conductors for advanced</a:t>
            </a:r>
            <a:r>
              <a:rPr sz="1000">
                <a:solidFill>
                  <a:srgbClr val="64748B"/>
                </a:solidFill>
                <a:latin typeface="Noto Sans CJK KR"/>
              </a:rPr>
              <a:t> [https://pubs.aip.org/aip/jap/article-pdf/doi/10.1063/5.0284148/20681519/090902_1_5.0284148.pdf]</a:t>
            </a:r>
          </a:p>
          <a:p>
            <a:pPr algn="l">
              <a:lnSpc>
                <a:spcPct val="112000"/>
              </a:lnSpc>
              <a:spcAft>
                <a:spcPts val="400"/>
              </a:spcAft>
            </a:pPr>
            <a:r>
              <a:rPr sz="1000" b="1">
                <a:solidFill>
                  <a:srgbClr val="0284C7"/>
                </a:solidFill>
                <a:latin typeface="Noto Sans CJK KR"/>
              </a:rPr>
              <a:t>13. </a:t>
            </a:r>
            <a:r>
              <a:rPr sz="1000">
                <a:solidFill>
                  <a:srgbClr val="1E293B"/>
                </a:solidFill>
                <a:latin typeface="Noto Sans CJK KR"/>
              </a:rPr>
              <a:t>Methods to lower the resistivity of ruthenium interconnects at 7 nm</a:t>
            </a:r>
            <a:r>
              <a:rPr sz="1000">
                <a:solidFill>
                  <a:srgbClr val="64748B"/>
                </a:solidFill>
                <a:latin typeface="Noto Sans CJK KR"/>
              </a:rPr>
              <a:t> [https://research.ibm.com/publications/methods-to-lower-the-resistivity-of-ruthenium-interconnects-at-7-nm-node-and-beyond]</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29 /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참고 자료 (REFERENCES) — 2/4</a:t>
            </a:r>
          </a:p>
          <a:p>
            <a:pPr algn="l"/>
            <a:r>
              <a:rPr sz="2400" b="1">
                <a:solidFill>
                  <a:srgbClr val="0F172A"/>
                </a:solidFill>
                <a:latin typeface="Noto Sans CJK KR"/>
              </a:rPr>
              <a:t>주요 연구 논문, 컨퍼런스 발표 및 기술 문헌 (14 ~ 25)</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32688"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14. </a:t>
            </a:r>
            <a:r>
              <a:rPr sz="1000">
                <a:solidFill>
                  <a:srgbClr val="1E293B"/>
                </a:solidFill>
                <a:latin typeface="Noto Sans CJK KR"/>
              </a:rPr>
              <a:t>Imec demonstrates 16nm pitch Ru lines with record-low resistance</a:t>
            </a:r>
            <a:r>
              <a:rPr sz="1000">
                <a:solidFill>
                  <a:srgbClr val="64748B"/>
                </a:solidFill>
                <a:latin typeface="Noto Sans CJK KR"/>
              </a:rPr>
              <a:t> [https://siliconsemiconductor.net/article/121857/Imec_demonstrates_16nm_pitch_Ru_lines_with_record-low_resistance]</a:t>
            </a:r>
          </a:p>
          <a:p>
            <a:pPr algn="l">
              <a:lnSpc>
                <a:spcPct val="112000"/>
              </a:lnSpc>
              <a:spcAft>
                <a:spcPts val="400"/>
              </a:spcAft>
            </a:pPr>
            <a:r>
              <a:rPr sz="1000" b="1">
                <a:solidFill>
                  <a:srgbClr val="0284C7"/>
                </a:solidFill>
                <a:latin typeface="Noto Sans CJK KR"/>
              </a:rPr>
              <a:t>15. </a:t>
            </a:r>
            <a:r>
              <a:rPr sz="1000">
                <a:solidFill>
                  <a:srgbClr val="1E293B"/>
                </a:solidFill>
                <a:latin typeface="Noto Sans CJK KR"/>
              </a:rPr>
              <a:t>Structural, Electrical, and Failure Modes - imec's publication repository</a:t>
            </a:r>
            <a:r>
              <a:rPr sz="1000">
                <a:solidFill>
                  <a:srgbClr val="64748B"/>
                </a:solidFill>
                <a:latin typeface="Noto Sans CJK KR"/>
              </a:rPr>
              <a:t> [https://imec-publications.be/bitstreams/fe511e23-5377-4176-aa46-d3a21e1d0150/download]</a:t>
            </a:r>
          </a:p>
          <a:p>
            <a:pPr algn="l">
              <a:lnSpc>
                <a:spcPct val="112000"/>
              </a:lnSpc>
              <a:spcAft>
                <a:spcPts val="400"/>
              </a:spcAft>
            </a:pPr>
            <a:r>
              <a:rPr sz="1000" b="1">
                <a:solidFill>
                  <a:srgbClr val="0284C7"/>
                </a:solidFill>
                <a:latin typeface="Noto Sans CJK KR"/>
              </a:rPr>
              <a:t>16. </a:t>
            </a:r>
            <a:r>
              <a:rPr sz="1000">
                <a:solidFill>
                  <a:srgbClr val="1E293B"/>
                </a:solidFill>
                <a:latin typeface="Noto Sans CJK KR"/>
              </a:rPr>
              <a:t>Imec demonstrates semi-damascene interconnects with fully self</a:t>
            </a:r>
            <a:r>
              <a:rPr sz="1000">
                <a:solidFill>
                  <a:srgbClr val="64748B"/>
                </a:solidFill>
                <a:latin typeface="Noto Sans CJK KR"/>
              </a:rPr>
              <a:t> [https://www.imec-int.com/en/articles/imec-demonstrates-semi-damascene-interconnects-fully-self-aligned-vias-18nm-metal-pitch]</a:t>
            </a:r>
          </a:p>
          <a:p>
            <a:pPr algn="l">
              <a:lnSpc>
                <a:spcPct val="112000"/>
              </a:lnSpc>
              <a:spcAft>
                <a:spcPts val="400"/>
              </a:spcAft>
            </a:pPr>
            <a:r>
              <a:rPr sz="1000" b="1">
                <a:solidFill>
                  <a:srgbClr val="0284C7"/>
                </a:solidFill>
                <a:latin typeface="Noto Sans CJK KR"/>
              </a:rPr>
              <a:t>17. </a:t>
            </a:r>
            <a:r>
              <a:rPr sz="1000">
                <a:solidFill>
                  <a:srgbClr val="1E293B"/>
                </a:solidFill>
                <a:latin typeface="Noto Sans CJK KR"/>
              </a:rPr>
              <a:t>Semi-damascene Metallization: Inflection Point in Back-end-of-line</a:t>
            </a:r>
            <a:r>
              <a:rPr sz="1000">
                <a:solidFill>
                  <a:srgbClr val="64748B"/>
                </a:solidFill>
                <a:latin typeface="Noto Sans CJK KR"/>
              </a:rPr>
              <a:t> [https://www.semiconductor-digest.com/semi-damascene-metallization-inflection-point-in-back-end-of-line-processing/]</a:t>
            </a:r>
          </a:p>
          <a:p>
            <a:pPr algn="l">
              <a:lnSpc>
                <a:spcPct val="112000"/>
              </a:lnSpc>
              <a:spcAft>
                <a:spcPts val="400"/>
              </a:spcAft>
            </a:pPr>
            <a:r>
              <a:rPr sz="1000" b="1">
                <a:solidFill>
                  <a:srgbClr val="0284C7"/>
                </a:solidFill>
                <a:latin typeface="Noto Sans CJK KR"/>
              </a:rPr>
              <a:t>18. </a:t>
            </a:r>
            <a:r>
              <a:rPr sz="1000">
                <a:solidFill>
                  <a:srgbClr val="1E293B"/>
                </a:solidFill>
                <a:latin typeface="Noto Sans CJK KR"/>
              </a:rPr>
              <a:t>2024 IITC Program</a:t>
            </a:r>
            <a:r>
              <a:rPr sz="1000">
                <a:solidFill>
                  <a:srgbClr val="64748B"/>
                </a:solidFill>
                <a:latin typeface="Noto Sans CJK KR"/>
              </a:rPr>
              <a:t> [https://iitc-conference.org/2024-iitc-program/]</a:t>
            </a:r>
          </a:p>
          <a:p>
            <a:pPr algn="l">
              <a:lnSpc>
                <a:spcPct val="112000"/>
              </a:lnSpc>
              <a:spcAft>
                <a:spcPts val="400"/>
              </a:spcAft>
            </a:pPr>
            <a:r>
              <a:rPr sz="1000" b="1">
                <a:solidFill>
                  <a:srgbClr val="0284C7"/>
                </a:solidFill>
                <a:latin typeface="Noto Sans CJK KR"/>
              </a:rPr>
              <a:t>19. </a:t>
            </a:r>
            <a:r>
              <a:rPr sz="1000">
                <a:solidFill>
                  <a:srgbClr val="1E293B"/>
                </a:solidFill>
                <a:latin typeface="Noto Sans CJK KR"/>
              </a:rPr>
              <a:t>Imec Showcases 16nm-Pitch Ru Lines with Record-Low Resistance</a:t>
            </a:r>
            <a:r>
              <a:rPr sz="1000">
                <a:solidFill>
                  <a:srgbClr val="64748B"/>
                </a:solidFill>
                <a:latin typeface="Noto Sans CJK KR"/>
              </a:rPr>
              <a:t> [https://www.embedded.com/imec-showcases-16nm-pitch-ru-lines-with-record-low-resistance-achieved-through-a-semi-damascene-integration-method/]</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92240"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20. </a:t>
            </a:r>
            <a:r>
              <a:rPr sz="1000">
                <a:solidFill>
                  <a:srgbClr val="1E293B"/>
                </a:solidFill>
                <a:latin typeface="Noto Sans CJK KR"/>
              </a:rPr>
              <a:t>IEEE International Interconnect Technology Conference (IITC) 2025</a:t>
            </a:r>
            <a:r>
              <a:rPr sz="1000">
                <a:solidFill>
                  <a:srgbClr val="64748B"/>
                </a:solidFill>
                <a:latin typeface="Noto Sans CJK KR"/>
              </a:rPr>
              <a:t> [https://www.imec-int.com/en/events/ieee-international-interconnect-technology-conference-iitc-2025]</a:t>
            </a:r>
          </a:p>
          <a:p>
            <a:pPr algn="l">
              <a:lnSpc>
                <a:spcPct val="112000"/>
              </a:lnSpc>
              <a:spcAft>
                <a:spcPts val="400"/>
              </a:spcAft>
            </a:pPr>
            <a:r>
              <a:rPr sz="1000" b="1">
                <a:solidFill>
                  <a:srgbClr val="0284C7"/>
                </a:solidFill>
                <a:latin typeface="Noto Sans CJK KR"/>
              </a:rPr>
              <a:t>21. </a:t>
            </a:r>
            <a:r>
              <a:rPr sz="1000">
                <a:solidFill>
                  <a:srgbClr val="1E293B"/>
                </a:solidFill>
                <a:latin typeface="Noto Sans CJK KR"/>
              </a:rPr>
              <a:t>First demonstration of Two Metal Level Semi-damascene</a:t>
            </a:r>
            <a:r>
              <a:rPr sz="1000">
                <a:solidFill>
                  <a:srgbClr val="64748B"/>
                </a:solidFill>
                <a:latin typeface="Noto Sans CJK KR"/>
              </a:rPr>
              <a:t> [https://imec-publications.be/server/api/core/bitstreams/274523b3-0320-4c52-ba68-e48b971547c9/content]</a:t>
            </a:r>
          </a:p>
          <a:p>
            <a:pPr algn="l">
              <a:lnSpc>
                <a:spcPct val="112000"/>
              </a:lnSpc>
              <a:spcAft>
                <a:spcPts val="400"/>
              </a:spcAft>
            </a:pPr>
            <a:r>
              <a:rPr sz="1000" b="1">
                <a:solidFill>
                  <a:srgbClr val="0284C7"/>
                </a:solidFill>
                <a:latin typeface="Noto Sans CJK KR"/>
              </a:rPr>
              <a:t>22. </a:t>
            </a:r>
            <a:r>
              <a:rPr sz="1000">
                <a:solidFill>
                  <a:srgbClr val="1E293B"/>
                </a:solidFill>
                <a:latin typeface="Noto Sans CJK KR"/>
              </a:rPr>
              <a:t>IMEC: How to Reduce Ruthenium Resistance at Tight Metal Pitches</a:t>
            </a:r>
            <a:r>
              <a:rPr sz="1000">
                <a:solidFill>
                  <a:srgbClr val="64748B"/>
                </a:solidFill>
                <a:latin typeface="Noto Sans CJK KR"/>
              </a:rPr>
              <a:t> [https://passive-components.eu/imec-demonstrated-how-to-reduce-ruthenium-metal-line-resistance-at-tight-metal-pitches/]</a:t>
            </a:r>
          </a:p>
          <a:p>
            <a:pPr algn="l">
              <a:lnSpc>
                <a:spcPct val="112000"/>
              </a:lnSpc>
              <a:spcAft>
                <a:spcPts val="400"/>
              </a:spcAft>
            </a:pPr>
            <a:r>
              <a:rPr sz="1000" b="1">
                <a:solidFill>
                  <a:srgbClr val="0284C7"/>
                </a:solidFill>
                <a:latin typeface="Noto Sans CJK KR"/>
              </a:rPr>
              <a:t>23. </a:t>
            </a:r>
            <a:r>
              <a:rPr sz="1000">
                <a:solidFill>
                  <a:srgbClr val="1E293B"/>
                </a:solidFill>
                <a:latin typeface="Noto Sans CJK KR"/>
              </a:rPr>
              <a:t>Interconnect technologies and materials for logic at 2 nm and beyond</a:t>
            </a:r>
            <a:r>
              <a:rPr sz="1000">
                <a:solidFill>
                  <a:srgbClr val="64748B"/>
                </a:solidFill>
                <a:latin typeface="Noto Sans CJK KR"/>
              </a:rPr>
              <a:t> [https://www.researchgate.net/publication/378927316_Interconnect_technologies_and_materials_for_logic_at_2_nm_and_beyond]</a:t>
            </a:r>
          </a:p>
          <a:p>
            <a:pPr algn="l">
              <a:lnSpc>
                <a:spcPct val="112000"/>
              </a:lnSpc>
              <a:spcAft>
                <a:spcPts val="400"/>
              </a:spcAft>
            </a:pPr>
            <a:r>
              <a:rPr sz="1000" b="1">
                <a:solidFill>
                  <a:srgbClr val="0284C7"/>
                </a:solidFill>
                <a:latin typeface="Noto Sans CJK KR"/>
              </a:rPr>
              <a:t>24. </a:t>
            </a:r>
            <a:r>
              <a:rPr sz="1000">
                <a:solidFill>
                  <a:srgbClr val="1E293B"/>
                </a:solidFill>
                <a:latin typeface="Noto Sans CJK KR"/>
              </a:rPr>
              <a:t>2018 IITC Program</a:t>
            </a:r>
            <a:r>
              <a:rPr sz="1000">
                <a:solidFill>
                  <a:srgbClr val="64748B"/>
                </a:solidFill>
                <a:latin typeface="Noto Sans CJK KR"/>
              </a:rPr>
              <a:t> [https://iitc-conference.org/2018-iitc-program/]</a:t>
            </a:r>
          </a:p>
          <a:p>
            <a:pPr algn="l">
              <a:lnSpc>
                <a:spcPct val="112000"/>
              </a:lnSpc>
              <a:spcAft>
                <a:spcPts val="400"/>
              </a:spcAft>
            </a:pPr>
            <a:r>
              <a:rPr sz="1000" b="1">
                <a:solidFill>
                  <a:srgbClr val="0284C7"/>
                </a:solidFill>
                <a:latin typeface="Noto Sans CJK KR"/>
              </a:rPr>
              <a:t>25. </a:t>
            </a:r>
            <a:r>
              <a:rPr sz="1000">
                <a:solidFill>
                  <a:srgbClr val="1E293B"/>
                </a:solidFill>
                <a:latin typeface="Noto Sans CJK KR"/>
              </a:rPr>
              <a:t>2026 IITC Conference Program</a:t>
            </a:r>
            <a:r>
              <a:rPr sz="1000">
                <a:solidFill>
                  <a:srgbClr val="64748B"/>
                </a:solidFill>
                <a:latin typeface="Noto Sans CJK KR"/>
              </a:rPr>
              <a:t> [https://iitc-conference.org/2026-iitc-program/]</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30 / 33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참고 자료 (REFERENCES) — 3/4</a:t>
            </a:r>
          </a:p>
          <a:p>
            <a:pPr algn="l"/>
            <a:r>
              <a:rPr sz="2400" b="1">
                <a:solidFill>
                  <a:srgbClr val="0F172A"/>
                </a:solidFill>
                <a:latin typeface="Noto Sans CJK KR"/>
              </a:rPr>
              <a:t>주요 연구 논문, 컨퍼런스 발표 및 기술 문헌 (26 ~ 38)</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32688"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26. </a:t>
            </a:r>
            <a:r>
              <a:rPr sz="1000">
                <a:solidFill>
                  <a:srgbClr val="1E293B"/>
                </a:solidFill>
                <a:latin typeface="Noto Sans CJK KR"/>
              </a:rPr>
              <a:t>IEEE International Interconnect Technology Conference (IITC) 2026</a:t>
            </a:r>
            <a:r>
              <a:rPr sz="1000">
                <a:solidFill>
                  <a:srgbClr val="64748B"/>
                </a:solidFill>
                <a:latin typeface="Noto Sans CJK KR"/>
              </a:rPr>
              <a:t> [https://www.imec-int.com/en/events/ieee-international-interconnect-technology-conference-iitc]</a:t>
            </a:r>
          </a:p>
          <a:p>
            <a:pPr algn="l">
              <a:lnSpc>
                <a:spcPct val="112000"/>
              </a:lnSpc>
              <a:spcAft>
                <a:spcPts val="400"/>
              </a:spcAft>
            </a:pPr>
            <a:r>
              <a:rPr sz="1000" b="1">
                <a:solidFill>
                  <a:srgbClr val="0284C7"/>
                </a:solidFill>
                <a:latin typeface="Noto Sans CJK KR"/>
              </a:rPr>
              <a:t>27. </a:t>
            </a:r>
            <a:r>
              <a:rPr sz="1000">
                <a:solidFill>
                  <a:srgbClr val="1E293B"/>
                </a:solidFill>
                <a:latin typeface="Noto Sans CJK KR"/>
              </a:rPr>
              <a:t>Monday Morning, November 6, 2023 - AVS Symposium</a:t>
            </a:r>
            <a:r>
              <a:rPr sz="1000">
                <a:solidFill>
                  <a:srgbClr val="64748B"/>
                </a:solidFill>
                <a:latin typeface="Noto Sans CJK KR"/>
              </a:rPr>
              <a:t> [https://www.avsconferences.org/AVS2023/Topics/ProgramBookDownload?topicCode=PS]</a:t>
            </a:r>
          </a:p>
          <a:p>
            <a:pPr algn="l">
              <a:lnSpc>
                <a:spcPct val="112000"/>
              </a:lnSpc>
              <a:spcAft>
                <a:spcPts val="400"/>
              </a:spcAft>
            </a:pPr>
            <a:r>
              <a:rPr sz="1000" b="1">
                <a:solidFill>
                  <a:srgbClr val="0284C7"/>
                </a:solidFill>
                <a:latin typeface="Noto Sans CJK KR"/>
              </a:rPr>
              <a:t>28. </a:t>
            </a:r>
            <a:r>
              <a:rPr sz="1000">
                <a:solidFill>
                  <a:srgbClr val="1E293B"/>
                </a:solidFill>
                <a:latin typeface="Noto Sans CJK KR"/>
              </a:rPr>
              <a:t>Advances In Chemical Mechanical Planarization (cmp) [PDF]</a:t>
            </a:r>
            <a:r>
              <a:rPr sz="1000">
                <a:solidFill>
                  <a:srgbClr val="64748B"/>
                </a:solidFill>
                <a:latin typeface="Noto Sans CJK KR"/>
              </a:rPr>
              <a:t> [https://vdoc.pub/documents/advances-in-chemical-mechanical-planarization-cmp-2opkjf4dls0g]</a:t>
            </a:r>
          </a:p>
          <a:p>
            <a:pPr algn="l">
              <a:lnSpc>
                <a:spcPct val="112000"/>
              </a:lnSpc>
              <a:spcAft>
                <a:spcPts val="400"/>
              </a:spcAft>
            </a:pPr>
            <a:r>
              <a:rPr sz="1000" b="1">
                <a:solidFill>
                  <a:srgbClr val="0284C7"/>
                </a:solidFill>
                <a:latin typeface="Noto Sans CJK KR"/>
              </a:rPr>
              <a:t>29. </a:t>
            </a:r>
            <a:r>
              <a:rPr sz="1000">
                <a:solidFill>
                  <a:srgbClr val="1E293B"/>
                </a:solidFill>
                <a:latin typeface="Noto Sans CJK KR"/>
              </a:rPr>
              <a:t>Monday Afternoon, June 29, 2026</a:t>
            </a:r>
            <a:r>
              <a:rPr sz="1000">
                <a:solidFill>
                  <a:srgbClr val="64748B"/>
                </a:solidFill>
                <a:latin typeface="Noto Sans CJK KR"/>
              </a:rPr>
              <a:t> [https://avsconferences.org/ALD2026/Topics/ProgramBookDownload?topicCode=AA]</a:t>
            </a:r>
          </a:p>
          <a:p>
            <a:pPr algn="l">
              <a:lnSpc>
                <a:spcPct val="112000"/>
              </a:lnSpc>
              <a:spcAft>
                <a:spcPts val="400"/>
              </a:spcAft>
            </a:pPr>
            <a:r>
              <a:rPr sz="1000" b="1">
                <a:solidFill>
                  <a:srgbClr val="0284C7"/>
                </a:solidFill>
                <a:latin typeface="Noto Sans CJK KR"/>
              </a:rPr>
              <a:t>30. </a:t>
            </a:r>
            <a:r>
              <a:rPr sz="1000">
                <a:solidFill>
                  <a:srgbClr val="1E293B"/>
                </a:solidFill>
                <a:latin typeface="Noto Sans CJK KR"/>
              </a:rPr>
              <a:t>Monday Morning, September 22, 2025 - AVS Symposium</a:t>
            </a:r>
            <a:r>
              <a:rPr sz="1000">
                <a:solidFill>
                  <a:srgbClr val="64748B"/>
                </a:solidFill>
                <a:latin typeface="Noto Sans CJK KR"/>
              </a:rPr>
              <a:t> [https://www.avsconferences.org/AVS2025/Topics/ProgramBookDownload?topicCode=TF]</a:t>
            </a:r>
          </a:p>
          <a:p>
            <a:pPr algn="l">
              <a:lnSpc>
                <a:spcPct val="112000"/>
              </a:lnSpc>
              <a:spcAft>
                <a:spcPts val="400"/>
              </a:spcAft>
            </a:pPr>
            <a:r>
              <a:rPr sz="1000" b="1">
                <a:solidFill>
                  <a:srgbClr val="0284C7"/>
                </a:solidFill>
                <a:latin typeface="Noto Sans CJK KR"/>
              </a:rPr>
              <a:t>31. </a:t>
            </a:r>
            <a:r>
              <a:rPr sz="1000">
                <a:solidFill>
                  <a:srgbClr val="1E293B"/>
                </a:solidFill>
                <a:latin typeface="Noto Sans CJK KR"/>
              </a:rPr>
              <a:t>21st Edition Surface Preparation and Cleaning Conference</a:t>
            </a:r>
            <a:r>
              <a:rPr sz="1000">
                <a:solidFill>
                  <a:srgbClr val="64748B"/>
                </a:solidFill>
                <a:latin typeface="Noto Sans CJK KR"/>
              </a:rPr>
              <a:t> [https://www.linx-consulting.com/wp-content/uploads/2019/04/SPCC-2019-Proceedings-Binder.pdf]</a:t>
            </a:r>
          </a:p>
          <a:p>
            <a:pPr algn="l">
              <a:lnSpc>
                <a:spcPct val="112000"/>
              </a:lnSpc>
              <a:spcAft>
                <a:spcPts val="400"/>
              </a:spcAft>
            </a:pPr>
            <a:r>
              <a:rPr sz="1000" b="1">
                <a:solidFill>
                  <a:srgbClr val="0284C7"/>
                </a:solidFill>
                <a:latin typeface="Noto Sans CJK KR"/>
              </a:rPr>
              <a:t>32. </a:t>
            </a:r>
            <a:r>
              <a:rPr sz="1000">
                <a:solidFill>
                  <a:srgbClr val="1E293B"/>
                </a:solidFill>
                <a:latin typeface="Noto Sans CJK KR"/>
              </a:rPr>
              <a:t>Monday Afternoon, August 5, 2024</a:t>
            </a:r>
            <a:r>
              <a:rPr sz="1000">
                <a:solidFill>
                  <a:srgbClr val="64748B"/>
                </a:solidFill>
                <a:latin typeface="Noto Sans CJK KR"/>
              </a:rPr>
              <a:t> [https://www.avsconferences.org/ALD2024/Topics/ProgramBookDownload?topicCode=AF]</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92240"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33. </a:t>
            </a:r>
            <a:r>
              <a:rPr sz="1000">
                <a:solidFill>
                  <a:srgbClr val="1E293B"/>
                </a:solidFill>
                <a:latin typeface="Noto Sans CJK KR"/>
              </a:rPr>
              <a:t>Sunday Evening, August 4, 2024</a:t>
            </a:r>
            <a:r>
              <a:rPr sz="1000">
                <a:solidFill>
                  <a:srgbClr val="64748B"/>
                </a:solidFill>
                <a:latin typeface="Noto Sans CJK KR"/>
              </a:rPr>
              <a:t> [https://avsconferences.org/ALD2024/Topics/ProgramBookDownload?topicCode=ALE]</a:t>
            </a:r>
          </a:p>
          <a:p>
            <a:pPr algn="l">
              <a:lnSpc>
                <a:spcPct val="112000"/>
              </a:lnSpc>
              <a:spcAft>
                <a:spcPts val="400"/>
              </a:spcAft>
            </a:pPr>
            <a:r>
              <a:rPr sz="1000" b="1">
                <a:solidFill>
                  <a:srgbClr val="0284C7"/>
                </a:solidFill>
                <a:latin typeface="Noto Sans CJK KR"/>
              </a:rPr>
              <a:t>34. </a:t>
            </a:r>
            <a:r>
              <a:rPr sz="1000">
                <a:solidFill>
                  <a:srgbClr val="1E293B"/>
                </a:solidFill>
                <a:latin typeface="Noto Sans CJK KR"/>
              </a:rPr>
              <a:t>The Triboelectrochemical Properties and Mechanism of Ruthenium</a:t>
            </a:r>
            <a:r>
              <a:rPr sz="1000">
                <a:solidFill>
                  <a:srgbClr val="64748B"/>
                </a:solidFill>
                <a:latin typeface="Noto Sans CJK KR"/>
              </a:rPr>
              <a:t> [https://www.preprints.org/manuscript/202511.0450/v1/download]</a:t>
            </a:r>
          </a:p>
          <a:p>
            <a:pPr algn="l">
              <a:lnSpc>
                <a:spcPct val="112000"/>
              </a:lnSpc>
              <a:spcAft>
                <a:spcPts val="400"/>
              </a:spcAft>
            </a:pPr>
            <a:r>
              <a:rPr sz="1000" b="1">
                <a:solidFill>
                  <a:srgbClr val="0284C7"/>
                </a:solidFill>
                <a:latin typeface="Noto Sans CJK KR"/>
              </a:rPr>
              <a:t>35. </a:t>
            </a:r>
            <a:r>
              <a:rPr sz="1000">
                <a:solidFill>
                  <a:srgbClr val="1E293B"/>
                </a:solidFill>
                <a:latin typeface="Noto Sans CJK KR"/>
              </a:rPr>
              <a:t>Challenges and Innovations in Chemical Mechanical Polishing in</a:t>
            </a:r>
            <a:r>
              <a:rPr sz="1000">
                <a:solidFill>
                  <a:srgbClr val="64748B"/>
                </a:solidFill>
                <a:latin typeface="Noto Sans CJK KR"/>
              </a:rPr>
              <a:t> [https://pure.kaist.ac.kr/en/publications/challenges-and-innovations-in-chemical-mechanical-polishing-in-th/]</a:t>
            </a:r>
          </a:p>
          <a:p>
            <a:pPr algn="l">
              <a:lnSpc>
                <a:spcPct val="112000"/>
              </a:lnSpc>
              <a:spcAft>
                <a:spcPts val="400"/>
              </a:spcAft>
            </a:pPr>
            <a:r>
              <a:rPr sz="1000" b="1">
                <a:solidFill>
                  <a:srgbClr val="0284C7"/>
                </a:solidFill>
                <a:latin typeface="Noto Sans CJK KR"/>
              </a:rPr>
              <a:t>36. </a:t>
            </a:r>
            <a:r>
              <a:rPr sz="1000">
                <a:solidFill>
                  <a:srgbClr val="1E293B"/>
                </a:solidFill>
                <a:latin typeface="Noto Sans CJK KR"/>
              </a:rPr>
              <a:t>advances and challenges for the post-Moore's law era</a:t>
            </a:r>
            <a:r>
              <a:rPr sz="1000">
                <a:solidFill>
                  <a:srgbClr val="64748B"/>
                </a:solidFill>
                <a:latin typeface="Noto Sans CJK KR"/>
              </a:rPr>
              <a:t> [https://materialsfutures.org/article/doi/10.1088/2752-5724/ae1fa2]</a:t>
            </a:r>
          </a:p>
          <a:p>
            <a:pPr algn="l">
              <a:lnSpc>
                <a:spcPct val="112000"/>
              </a:lnSpc>
              <a:spcAft>
                <a:spcPts val="400"/>
              </a:spcAft>
            </a:pPr>
            <a:r>
              <a:rPr sz="1000" b="1">
                <a:solidFill>
                  <a:srgbClr val="0284C7"/>
                </a:solidFill>
                <a:latin typeface="Noto Sans CJK KR"/>
              </a:rPr>
              <a:t>37. </a:t>
            </a:r>
            <a:r>
              <a:rPr sz="1000">
                <a:solidFill>
                  <a:srgbClr val="1E293B"/>
                </a:solidFill>
                <a:latin typeface="Noto Sans CJK KR"/>
              </a:rPr>
              <a:t>The surface roughness of Ru after the CMP experiments at different</a:t>
            </a:r>
            <a:r>
              <a:rPr sz="1000">
                <a:solidFill>
                  <a:srgbClr val="64748B"/>
                </a:solidFill>
                <a:latin typeface="Noto Sans CJK KR"/>
              </a:rPr>
              <a:t> [https://www.researchgate.net/figure/The-surface-roughness-of-Ru-after-the-CMP-experiments-at-different-down-pressures-a-5_fig10_287404482]</a:t>
            </a:r>
          </a:p>
          <a:p>
            <a:pPr algn="l">
              <a:lnSpc>
                <a:spcPct val="112000"/>
              </a:lnSpc>
              <a:spcAft>
                <a:spcPts val="400"/>
              </a:spcAft>
            </a:pPr>
            <a:r>
              <a:rPr sz="1000" b="1">
                <a:solidFill>
                  <a:srgbClr val="0284C7"/>
                </a:solidFill>
                <a:latin typeface="Noto Sans CJK KR"/>
              </a:rPr>
              <a:t>38. </a:t>
            </a:r>
            <a:r>
              <a:rPr sz="1000">
                <a:solidFill>
                  <a:srgbClr val="1E293B"/>
                </a:solidFill>
                <a:latin typeface="Noto Sans CJK KR"/>
              </a:rPr>
              <a:t>Effect of ethylenediamine on CMP performance of ruthenium ... - PMC</a:t>
            </a:r>
            <a:r>
              <a:rPr sz="1000">
                <a:solidFill>
                  <a:srgbClr val="64748B"/>
                </a:solidFill>
                <a:latin typeface="Noto Sans CJK KR"/>
              </a:rPr>
              <a:t> [https://pmc.ncbi.nlm.nih.gov/articles/PMC8978706/]</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31 /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325880"/>
          </a:xfrm>
          <a:prstGeom prst="rect">
            <a:avLst/>
          </a:prstGeom>
          <a:noFill/>
        </p:spPr>
        <p:txBody>
          <a:bodyPr wrap="square" anchor="t" lIns="0" tIns="0" rIns="0" bIns="0">
            <a:spAutoFit/>
          </a:bodyPr>
          <a:lstStyle/>
          <a:p>
            <a:pPr algn="l">
              <a:spcAft>
                <a:spcPts val="300"/>
              </a:spcAft>
            </a:pPr>
            <a:r>
              <a:rPr sz="1250" b="1">
                <a:solidFill>
                  <a:srgbClr val="0284C7"/>
                </a:solidFill>
                <a:latin typeface="Noto Sans CJK KR"/>
              </a:rPr>
              <a:t>참고 자료 (REFERENCES) — 4/4</a:t>
            </a:r>
          </a:p>
          <a:p>
            <a:pPr algn="l"/>
            <a:r>
              <a:rPr sz="2400" b="1">
                <a:solidFill>
                  <a:srgbClr val="0F172A"/>
                </a:solidFill>
                <a:latin typeface="Noto Sans CJK KR"/>
              </a:rPr>
              <a:t>주요 연구 논문, 컨퍼런스 발표 및 기술 문헌 (39 ~ 50)</a:t>
            </a:r>
          </a:p>
        </p:txBody>
      </p:sp>
      <p:sp>
        <p:nvSpPr>
          <p:cNvPr id="4" name="Rounded Rectangle 3"/>
          <p:cNvSpPr/>
          <p:nvPr/>
        </p:nvSpPr>
        <p:spPr>
          <a:xfrm>
            <a:off x="731520"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32688"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39. </a:t>
            </a:r>
            <a:r>
              <a:rPr sz="1000">
                <a:solidFill>
                  <a:srgbClr val="1E293B"/>
                </a:solidFill>
                <a:latin typeface="Noto Sans CJK KR"/>
              </a:rPr>
              <a:t>Study on the Circuit Performance of Various Interconnect Metal</a:t>
            </a:r>
            <a:r>
              <a:rPr sz="1000">
                <a:solidFill>
                  <a:srgbClr val="64748B"/>
                </a:solidFill>
                <a:latin typeface="Noto Sans CJK KR"/>
              </a:rPr>
              <a:t> [https://jsts.org/jsts/XmlViewer/f424049]</a:t>
            </a:r>
          </a:p>
          <a:p>
            <a:pPr algn="l">
              <a:lnSpc>
                <a:spcPct val="112000"/>
              </a:lnSpc>
              <a:spcAft>
                <a:spcPts val="400"/>
              </a:spcAft>
            </a:pPr>
            <a:r>
              <a:rPr sz="1000" b="1">
                <a:solidFill>
                  <a:srgbClr val="0284C7"/>
                </a:solidFill>
                <a:latin typeface="Noto Sans CJK KR"/>
              </a:rPr>
              <a:t>40. </a:t>
            </a:r>
            <a:r>
              <a:rPr sz="1000">
                <a:solidFill>
                  <a:srgbClr val="1E293B"/>
                </a:solidFill>
                <a:latin typeface="Noto Sans CJK KR"/>
              </a:rPr>
              <a:t>Electromigration Activation Energies in Alternative Metal</a:t>
            </a:r>
            <a:r>
              <a:rPr sz="1000">
                <a:solidFill>
                  <a:srgbClr val="64748B"/>
                </a:solidFill>
                <a:latin typeface="Noto Sans CJK KR"/>
              </a:rPr>
              <a:t> [https://www.semanticscholar.org/paper/Electromigration-Activation-Energies-in-Alternative-Beyne-Pedreira/47dee67aaf9c1b33180cf810bf9b8fd161626f00]</a:t>
            </a:r>
          </a:p>
          <a:p>
            <a:pPr algn="l">
              <a:lnSpc>
                <a:spcPct val="112000"/>
              </a:lnSpc>
              <a:spcAft>
                <a:spcPts val="400"/>
              </a:spcAft>
            </a:pPr>
            <a:r>
              <a:rPr sz="1000" b="1">
                <a:solidFill>
                  <a:srgbClr val="0284C7"/>
                </a:solidFill>
                <a:latin typeface="Noto Sans CJK KR"/>
              </a:rPr>
              <a:t>41. </a:t>
            </a:r>
            <a:r>
              <a:rPr sz="1000">
                <a:solidFill>
                  <a:srgbClr val="1E293B"/>
                </a:solidFill>
                <a:latin typeface="Noto Sans CJK KR"/>
              </a:rPr>
              <a:t>2021 IRPS Conference Proceedings</a:t>
            </a:r>
            <a:r>
              <a:rPr sz="1000">
                <a:solidFill>
                  <a:srgbClr val="64748B"/>
                </a:solidFill>
                <a:latin typeface="Noto Sans CJK KR"/>
              </a:rPr>
              <a:t> [https://tuatara-minnow-9fzw.squarespace.com/s/2021-IRPS-Archive.pdf]</a:t>
            </a:r>
          </a:p>
          <a:p>
            <a:pPr algn="l">
              <a:lnSpc>
                <a:spcPct val="112000"/>
              </a:lnSpc>
              <a:spcAft>
                <a:spcPts val="400"/>
              </a:spcAft>
            </a:pPr>
            <a:r>
              <a:rPr sz="1000" b="1">
                <a:solidFill>
                  <a:srgbClr val="0284C7"/>
                </a:solidFill>
                <a:latin typeface="Noto Sans CJK KR"/>
              </a:rPr>
              <a:t>42. </a:t>
            </a:r>
            <a:r>
              <a:rPr sz="1000">
                <a:solidFill>
                  <a:srgbClr val="1E293B"/>
                </a:solidFill>
                <a:latin typeface="Noto Sans CJK KR"/>
              </a:rPr>
              <a:t>2025 Technical Program - Squarespace</a:t>
            </a:r>
            <a:r>
              <a:rPr sz="1000">
                <a:solidFill>
                  <a:srgbClr val="64748B"/>
                </a:solidFill>
                <a:latin typeface="Noto Sans CJK KR"/>
              </a:rPr>
              <a:t> [https://static1.squarespace.com/static/67a3eee4385dfb3390804f02/t/690e4eca5393d146db3b608c/1762545355037/IEDM+2025+Final+Program-v4.pdf]</a:t>
            </a:r>
          </a:p>
          <a:p>
            <a:pPr algn="l">
              <a:lnSpc>
                <a:spcPct val="112000"/>
              </a:lnSpc>
              <a:spcAft>
                <a:spcPts val="400"/>
              </a:spcAft>
            </a:pPr>
            <a:r>
              <a:rPr sz="1000" b="1">
                <a:solidFill>
                  <a:srgbClr val="0284C7"/>
                </a:solidFill>
                <a:latin typeface="Noto Sans CJK KR"/>
              </a:rPr>
              <a:t>43. </a:t>
            </a:r>
            <a:r>
              <a:rPr sz="1000">
                <a:solidFill>
                  <a:srgbClr val="1E293B"/>
                </a:solidFill>
                <a:latin typeface="Noto Sans CJK KR"/>
              </a:rPr>
              <a:t>Kristof CROES | Team Leader | PhD | imec, Leuven | Research profile</a:t>
            </a:r>
            <a:r>
              <a:rPr sz="1000">
                <a:solidFill>
                  <a:srgbClr val="64748B"/>
                </a:solidFill>
                <a:latin typeface="Noto Sans CJK KR"/>
              </a:rPr>
              <a:t> [https://www.researchgate.net/profile/Kristof-Croes]</a:t>
            </a:r>
          </a:p>
          <a:p>
            <a:pPr algn="l">
              <a:lnSpc>
                <a:spcPct val="112000"/>
              </a:lnSpc>
              <a:spcAft>
                <a:spcPts val="400"/>
              </a:spcAft>
            </a:pPr>
            <a:r>
              <a:rPr sz="1000" b="1">
                <a:solidFill>
                  <a:srgbClr val="0284C7"/>
                </a:solidFill>
                <a:latin typeface="Noto Sans CJK KR"/>
              </a:rPr>
              <a:t>44. </a:t>
            </a:r>
            <a:r>
              <a:rPr sz="1000">
                <a:solidFill>
                  <a:srgbClr val="1E293B"/>
                </a:solidFill>
                <a:latin typeface="Noto Sans CJK KR"/>
              </a:rPr>
              <a:t>Sunday Afternoon, November 3, 2024 - AVS70</a:t>
            </a:r>
            <a:r>
              <a:rPr sz="1000">
                <a:solidFill>
                  <a:srgbClr val="64748B"/>
                </a:solidFill>
                <a:latin typeface="Noto Sans CJK KR"/>
              </a:rPr>
              <a:t> [https://avs70.avs.org/wp-content/uploads/2024/07/ProgramBook_Complete.pdf]</a:t>
            </a:r>
          </a:p>
        </p:txBody>
      </p:sp>
      <p:sp>
        <p:nvSpPr>
          <p:cNvPr id="6" name="Rounded Rectangle 5"/>
          <p:cNvSpPr/>
          <p:nvPr/>
        </p:nvSpPr>
        <p:spPr>
          <a:xfrm>
            <a:off x="6291072" y="1874519"/>
            <a:ext cx="5166360" cy="4297680"/>
          </a:xfrm>
          <a:prstGeom prst="roundRect">
            <a:avLst>
              <a:gd name="adj" fmla="val 3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92240" y="2039112"/>
            <a:ext cx="4764024" cy="3968496"/>
          </a:xfrm>
          <a:prstGeom prst="rect">
            <a:avLst/>
          </a:prstGeom>
          <a:noFill/>
        </p:spPr>
        <p:txBody>
          <a:bodyPr wrap="square" anchor="t" lIns="0" tIns="0" rIns="0" bIns="0">
            <a:spAutoFit/>
          </a:bodyPr>
          <a:lstStyle/>
          <a:p>
            <a:pPr algn="l">
              <a:lnSpc>
                <a:spcPct val="112000"/>
              </a:lnSpc>
              <a:spcAft>
                <a:spcPts val="400"/>
              </a:spcAft>
            </a:pPr>
            <a:r>
              <a:rPr sz="1000" b="1">
                <a:solidFill>
                  <a:srgbClr val="0284C7"/>
                </a:solidFill>
                <a:latin typeface="Noto Sans CJK KR"/>
              </a:rPr>
              <a:t>45. </a:t>
            </a:r>
            <a:r>
              <a:rPr sz="1000">
                <a:solidFill>
                  <a:srgbClr val="1E293B"/>
                </a:solidFill>
                <a:latin typeface="Noto Sans CJK KR"/>
              </a:rPr>
              <a:t>Imec presents core superconducting building blocks</a:t>
            </a:r>
            <a:r>
              <a:rPr sz="1000">
                <a:solidFill>
                  <a:srgbClr val="64748B"/>
                </a:solidFill>
                <a:latin typeface="Noto Sans CJK KR"/>
              </a:rPr>
              <a:t> [https://www.imec-int.com/en/press/imec-demonstrates-core-building-blocks-scalable-cmos-fab-compatible-superconducting-digital]</a:t>
            </a:r>
          </a:p>
          <a:p>
            <a:pPr algn="l">
              <a:lnSpc>
                <a:spcPct val="112000"/>
              </a:lnSpc>
              <a:spcAft>
                <a:spcPts val="400"/>
              </a:spcAft>
            </a:pPr>
            <a:r>
              <a:rPr sz="1000" b="1">
                <a:solidFill>
                  <a:srgbClr val="0284C7"/>
                </a:solidFill>
                <a:latin typeface="Noto Sans CJK KR"/>
              </a:rPr>
              <a:t>46. </a:t>
            </a:r>
            <a:r>
              <a:rPr sz="1000">
                <a:solidFill>
                  <a:srgbClr val="1E293B"/>
                </a:solidFill>
                <a:latin typeface="Noto Sans CJK KR"/>
              </a:rPr>
              <a:t>Superconducting digital technology revolutionizes AI</a:t>
            </a:r>
            <a:r>
              <a:rPr sz="1000">
                <a:solidFill>
                  <a:srgbClr val="64748B"/>
                </a:solidFill>
                <a:latin typeface="Noto Sans CJK KR"/>
              </a:rPr>
              <a:t> [https://www.all-about-industries.com/superconducting-digital-technology-revolutionizes-ai-and-machine-learning-a-f22fe25046084c8a1fa24b1202d07bca/]</a:t>
            </a:r>
          </a:p>
          <a:p>
            <a:pPr algn="l">
              <a:lnSpc>
                <a:spcPct val="112000"/>
              </a:lnSpc>
              <a:spcAft>
                <a:spcPts val="400"/>
              </a:spcAft>
            </a:pPr>
            <a:r>
              <a:rPr sz="1000" b="1">
                <a:solidFill>
                  <a:srgbClr val="0284C7"/>
                </a:solidFill>
                <a:latin typeface="Noto Sans CJK KR"/>
              </a:rPr>
              <a:t>47. </a:t>
            </a:r>
            <a:r>
              <a:rPr sz="1000">
                <a:solidFill>
                  <a:srgbClr val="1E293B"/>
                </a:solidFill>
                <a:latin typeface="Noto Sans CJK KR"/>
              </a:rPr>
              <a:t>Connect technology centers | imec</a:t>
            </a:r>
            <a:r>
              <a:rPr sz="1000">
                <a:solidFill>
                  <a:srgbClr val="64748B"/>
                </a:solidFill>
                <a:latin typeface="Noto Sans CJK KR"/>
              </a:rPr>
              <a:t> [https://www.imec-int.com/en/expertise/cmos-advanced/connect]</a:t>
            </a:r>
          </a:p>
          <a:p>
            <a:pPr algn="l">
              <a:lnSpc>
                <a:spcPct val="112000"/>
              </a:lnSpc>
              <a:spcAft>
                <a:spcPts val="400"/>
              </a:spcAft>
            </a:pPr>
            <a:r>
              <a:rPr sz="1000" b="1">
                <a:solidFill>
                  <a:srgbClr val="0284C7"/>
                </a:solidFill>
                <a:latin typeface="Noto Sans CJK KR"/>
              </a:rPr>
              <a:t>48. </a:t>
            </a:r>
            <a:r>
              <a:rPr sz="1000">
                <a:solidFill>
                  <a:srgbClr val="1E293B"/>
                </a:solidFill>
                <a:latin typeface="Noto Sans CJK KR"/>
              </a:rPr>
              <a:t>hybrid graphene/metal structures for advanced interconnects - IMEC</a:t>
            </a:r>
            <a:r>
              <a:rPr sz="1000">
                <a:solidFill>
                  <a:srgbClr val="64748B"/>
                </a:solidFill>
                <a:latin typeface="Noto Sans CJK KR"/>
              </a:rPr>
              <a:t> [https://www.imec-int.com/en/articles/promise-hybrid-graphenemetal-structures-advanced-interconnects]</a:t>
            </a:r>
          </a:p>
          <a:p>
            <a:pPr algn="l">
              <a:lnSpc>
                <a:spcPct val="112000"/>
              </a:lnSpc>
              <a:spcAft>
                <a:spcPts val="400"/>
              </a:spcAft>
            </a:pPr>
            <a:r>
              <a:rPr sz="1000" b="1">
                <a:solidFill>
                  <a:srgbClr val="0284C7"/>
                </a:solidFill>
                <a:latin typeface="Noto Sans CJK KR"/>
              </a:rPr>
              <a:t>49. </a:t>
            </a:r>
            <a:r>
              <a:rPr sz="1000">
                <a:solidFill>
                  <a:srgbClr val="1E293B"/>
                </a:solidFill>
                <a:latin typeface="Noto Sans CJK KR"/>
              </a:rPr>
              <a:t>Optimized Two Metal Level Semi-Damascene Interconnects For</a:t>
            </a:r>
            <a:r>
              <a:rPr sz="1000">
                <a:solidFill>
                  <a:srgbClr val="64748B"/>
                </a:solidFill>
                <a:latin typeface="Noto Sans CJK KR"/>
              </a:rPr>
              <a:t> [https://imec-publications.be/entities/publication/2755b0f3-b557-4d8d-be2f-e9432f5fbd52]</a:t>
            </a:r>
          </a:p>
          <a:p>
            <a:pPr algn="l">
              <a:lnSpc>
                <a:spcPct val="112000"/>
              </a:lnSpc>
              <a:spcAft>
                <a:spcPts val="400"/>
              </a:spcAft>
            </a:pPr>
            <a:r>
              <a:rPr sz="1000" b="1">
                <a:solidFill>
                  <a:srgbClr val="0284C7"/>
                </a:solidFill>
                <a:latin typeface="Noto Sans CJK KR"/>
              </a:rPr>
              <a:t>50. </a:t>
            </a:r>
            <a:r>
              <a:rPr sz="1000">
                <a:solidFill>
                  <a:srgbClr val="1E293B"/>
                </a:solidFill>
                <a:latin typeface="Noto Sans CJK KR"/>
              </a:rPr>
              <a:t>arXiv:2303.16792v2 [physics.app-ph] 29 Apr 2023</a:t>
            </a:r>
            <a:r>
              <a:rPr sz="1000">
                <a:solidFill>
                  <a:srgbClr val="64748B"/>
                </a:solidFill>
                <a:latin typeface="Noto Sans CJK KR"/>
              </a:rPr>
              <a:t> [https://arxiv.org/pdf/2303.16792]</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r>
              <a:rPr sz="1050">
                <a:solidFill>
                  <a:srgbClr val="64748B"/>
                </a:solidFill>
                <a:latin typeface="Noto Sans CJK KR"/>
              </a:rPr>
              <a:t>차세대 BEOL Ru Interconnect 기술 심층 연구 | IMEC &amp; IEEE/IITC 최신 동향</a:t>
            </a:r>
            <a:r>
              <a:rPr sz="1050" b="1">
                <a:solidFill>
                  <a:srgbClr val="0284C7"/>
                </a:solidFill>
                <a:latin typeface="Noto Sans CJK KR"/>
              </a:rPr>
              <a:t>   —   Slide 32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200400"/>
          </a:xfrm>
          <a:prstGeom prst="rect">
            <a:avLst/>
          </a:prstGeom>
          <a:noFill/>
        </p:spPr>
        <p:txBody>
          <a:bodyPr wrap="square" anchor="ctr" lIns="0" tIns="0" rIns="0" bIns="0">
            <a:spAutoFit/>
          </a:bodyPr>
          <a:lstStyle/>
          <a:p>
            <a:pPr>
              <a:spcAft>
                <a:spcPts val="1200"/>
              </a:spcAft>
            </a:pPr>
            <a:r>
              <a:rPr sz="1300" b="1">
                <a:solidFill>
                  <a:srgbClr val="38BDF8"/>
                </a:solidFill>
                <a:latin typeface="Noto Sans CJK KR"/>
              </a:rPr>
              <a:t>NEXT-GENERATION BEOL INTERCONNECT</a:t>
            </a:r>
          </a:p>
          <a:p>
            <a:pPr>
              <a:spcAft>
                <a:spcPts val="1600"/>
              </a:spcAft>
            </a:pPr>
            <a:r>
              <a:rPr sz="3600" b="1">
                <a:solidFill>
                  <a:srgbClr val="F8FAFC"/>
                </a:solidFill>
                <a:latin typeface="Noto Sans CJK KR"/>
              </a:rPr>
              <a:t>차세대 반도체 배선의 새로운 패러다임</a:t>
            </a:r>
          </a:p>
          <a:p>
            <a:pPr>
              <a:spcAft>
                <a:spcPts val="2000"/>
              </a:spcAft>
            </a:pPr>
            <a:r>
              <a:rPr sz="1900">
                <a:solidFill>
                  <a:srgbClr val="94A3B8"/>
                </a:solidFill>
                <a:latin typeface="Noto Sans CJK KR"/>
              </a:rPr>
              <a:t>Ru Semi-Damascene 혁신이 이끄는 옹스트롬 시대의 개막</a:t>
            </a:r>
          </a:p>
          <a:p>
            <a:r>
              <a:rPr sz="1600" b="1">
                <a:solidFill>
                  <a:srgbClr val="38BDF8"/>
                </a:solidFill>
                <a:latin typeface="Noto Sans CJK KR"/>
              </a:rPr>
              <a:t>감사합니다 |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