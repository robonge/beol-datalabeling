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952805"/>
            <a:ext cx="2238451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KVFG QFICN095.68 ET results</a:t>
            </a:r>
            <a:endParaRPr lang="en-US" sz="2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22009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047902"/>
                <a:gridCol w="1047902"/>
                <a:gridCol w="1047902"/>
                <a:gridCol w="1047902"/>
                <a:gridCol w="1047902"/>
                <a:gridCol w="1047902"/>
              </a:tblGrid>
              <a:tr h="244551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(QFICN_22)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QFICN_4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QFICN_12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QFICN_19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QFICN_8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QFICN_9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LK depo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HDLK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HDLK+HMDS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HCLK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pSiCOH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pSiCOH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pSiCOH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CMP OP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OE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23.90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23.93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22.56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382305" y="2991002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3258007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7" name="Text 3"/>
          <p:cNvSpPr txBox="1"/>
          <p:nvPr/>
        </p:nvSpPr>
        <p:spPr>
          <a:xfrm>
            <a:off x="790956" y="3258007"/>
            <a:ext cx="333298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I2 LK depo / CMP OP / Via OE split 평가</a:t>
            </a:r>
            <a:endParaRPr lang="en-US" sz="975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3426257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9" name="Text 5"/>
          <p:cNvSpPr txBox="1"/>
          <p:nvPr/>
        </p:nvSpPr>
        <p:spPr>
          <a:xfrm>
            <a:off x="790956" y="3426257"/>
            <a:ext cx="667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3622853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(LK depo / CMP OP split, POR 대비)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571500" y="3791102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HDLK+HMDS/15% (QFICN_4):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Δ+0.09/+0.20, AHI 8.0로 POR과 근접</a:t>
            </a:r>
            <a:endParaRPr lang="en-US" sz="975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396026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HCLK/45%/70% (QFICN_12):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Δ-0.58/-0.39, AHI 7.8 (POR 7.9) 소폭 하향</a:t>
            </a:r>
            <a:endParaRPr lang="en-US" sz="975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4128516"/>
            <a:ext cx="699424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pSiCOH/15%/120% (QFICN_19):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Δ+1.27/+1.31로 변동 최대, AHI 9.2로 전 구간 +1.3~1.3 확대</a:t>
            </a:r>
            <a:endParaRPr lang="en-US" sz="975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429676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pSiCOH/45%/120% (QFICN_8):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Δ+1.30/+1.04, AHI 9.2로 전 구간 +1.3~1.3 확대</a:t>
            </a:r>
            <a:endParaRPr lang="en-US" sz="975" dirty="0"/>
          </a:p>
        </p:txBody>
      </p:sp>
      <p:sp>
        <p:nvSpPr>
          <p:cNvPr id="15" name="Text 11"/>
          <p:cNvSpPr txBox="1"/>
          <p:nvPr/>
        </p:nvSpPr>
        <p:spPr>
          <a:xfrm>
            <a:off x="571500" y="4465015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pSiCOH/45%/70% (QFICN_9):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Δ-0.07/+0.08, AHI 7.9로 POR과 근접</a:t>
            </a:r>
            <a:endParaRPr lang="en-US" sz="975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466252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975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4830775"/>
            <a:ext cx="6667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HDLK+HMDS/15%: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78%(-22%p)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95%로 POR 동등 → CMP 미연마 Cu/TaN residue 에 의한 line-to-line short 추정</a:t>
            </a:r>
            <a:endParaRPr lang="en-US" sz="975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5168189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HCLK/45%/70%: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98%로 POR 동등,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57%(-39%p)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line보다 via 연결부 열화</a:t>
            </a:r>
            <a:endParaRPr lang="en-US" sz="975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5336438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pSiCOH/15%/120%: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98%로 POR 동등, VCHN 95%로 POR 동등 → 유의차 없음</a:t>
            </a:r>
            <a:endParaRPr lang="en-US" sz="975" dirty="0"/>
          </a:p>
        </p:txBody>
      </p:sp>
      <p:sp>
        <p:nvSpPr>
          <p:cNvPr id="20" name="Text 16"/>
          <p:cNvSpPr txBox="1"/>
          <p:nvPr/>
        </p:nvSpPr>
        <p:spPr>
          <a:xfrm>
            <a:off x="571500" y="5504688"/>
            <a:ext cx="6667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pSiCOH/45%/120%: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65%(-31%p)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과연마 dishing 으로 line 단면적 감소, open성 fail</a:t>
            </a:r>
            <a:endParaRPr lang="en-US" sz="975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5842102"/>
            <a:ext cx="6667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pSiCOH/45%/70%: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100%로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0%(-96%p)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via bottom 미개구 / 잔류막에 의한 open 추정</a:t>
            </a:r>
            <a:endParaRPr lang="en-US" sz="975" dirty="0"/>
          </a:p>
        </p:txBody>
      </p:sp>
      <p:sp>
        <p:nvSpPr>
          <p:cNvPr id="22" name="Text 18"/>
          <p:cNvSpPr txBox="1"/>
          <p:nvPr/>
        </p:nvSpPr>
        <p:spPr>
          <a:xfrm>
            <a:off x="7524598" y="3286354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75" dirty="0"/>
          </a:p>
        </p:txBody>
      </p:sp>
      <p:sp>
        <p:nvSpPr>
          <p:cNvPr id="23" name="Text 19"/>
          <p:cNvSpPr txBox="1"/>
          <p:nvPr/>
        </p:nvSpPr>
        <p:spPr>
          <a:xfrm>
            <a:off x="7524598" y="3454603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POR 대비 전 항목 동등한 split 없음, fail mode는 split별로 구분됨 (HDLK+HMDS/15% Short / HCLK/45%/70% VCHN / pSiCOH/15%/120% VCHN / pSiCOH/45%/120% Open / pSiCOH/45%/70% Open)</a:t>
            </a:r>
            <a:endParaRPr lang="en-US" sz="975" dirty="0"/>
          </a:p>
        </p:txBody>
      </p:sp>
      <p:sp>
        <p:nvSpPr>
          <p:cNvPr id="24" name="Text 20"/>
          <p:cNvSpPr txBox="1"/>
          <p:nvPr/>
        </p:nvSpPr>
        <p:spPr>
          <a:xfrm>
            <a:off x="7524598" y="4128516"/>
            <a:ext cx="4096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pSiCOH/45%/120%·pSiCOH/45%/70%는 CMBSRP와 VCHN에서 같은 mode로 재현되어 split 기인으로 판단</a:t>
            </a:r>
            <a:endParaRPr lang="en-US" sz="975" dirty="0"/>
          </a:p>
        </p:txBody>
      </p:sp>
      <p:sp>
        <p:nvSpPr>
          <p:cNvPr id="25" name="Text 21"/>
          <p:cNvSpPr txBox="1"/>
          <p:nvPr/>
        </p:nvSpPr>
        <p:spPr>
          <a:xfrm>
            <a:off x="7524598" y="4465015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pSiCOH/45%/70% Open fail die 단면 분석 필요 (I2 DC 기준)</a:t>
            </a:r>
            <a:endParaRPr lang="en-US" sz="975" dirty="0"/>
          </a:p>
        </p:txBody>
      </p:sp>
      <p:sp>
        <p:nvSpPr>
          <p:cNvPr id="26" name="Text 22"/>
          <p:cNvSpPr txBox="1"/>
          <p:nvPr/>
        </p:nvSpPr>
        <p:spPr>
          <a:xfrm>
            <a:off x="7524598" y="4634179"/>
            <a:ext cx="429036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HTOL/EM 진행 시 Cu recess 초기 대비 2~3배 증가 여부 monitor</a:t>
            </a:r>
            <a:endParaRPr lang="en-US" sz="975" dirty="0"/>
          </a:p>
        </p:txBody>
      </p:sp>
      <p:sp>
        <p:nvSpPr>
          <p:cNvPr id="27" name="Text 23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선재석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Via Rc cumulative distribution</a:t>
            </a:r>
            <a:endParaRPr lang="en-US" sz="19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8.54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HDLK+HMDS/15% median 8.73 (+2.3%)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HCLK/45%/70% median 9.18 (+7.6%)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pSiCOH/15%/120% median 8.71 (+2.0%)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pSiCOH/45%/120% median 9.31 (+9.1%)</a:t>
            </a:r>
            <a:endParaRPr lang="en-US" sz="1275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272399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pSiCOH/45%/70% median 9.97 (+16.8%)</a:t>
            </a:r>
            <a:endParaRPr lang="en-US" sz="1275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298368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HCLK/45%/70%·pSiCOH/45%/120%·pSiCOH/45%/70% upper tail → open성 fail 과 일치</a:t>
            </a:r>
            <a:endParaRPr lang="en-US" sz="1275" dirty="0"/>
          </a:p>
        </p:txBody>
      </p:sp>
      <p:pic>
        <p:nvPicPr>
          <p:cNvPr id="10" name="Image 0" descr="gen-dedup-c016cbf75c89bae3aceb6d1b01e065e5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선재석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9b5de32318dd47d40652fe27cc7fec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5810098" cy="2952598"/>
          </a:xfrm>
          <a:prstGeom prst="rect">
            <a:avLst/>
          </a:prstGeom>
        </p:spPr>
      </p:pic>
      <p:pic>
        <p:nvPicPr>
          <p:cNvPr id="3" name="Image 1" descr="gen-dedup-be5d7c3aea6e36bf0beb2f3391b232f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407" y="1067105"/>
            <a:ext cx="3305556" cy="29525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단면 분석 결과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571500" y="4058107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Barrier/Cu 계면 HR-TEM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44384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chamfer 부 barrier overhang 확인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469818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void 및 pinch-off 흔적 관찰 (2/3 site)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495696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QFICN_9 (pSiCOH/45%/70%)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선재석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by split</a:t>
            </a:r>
            <a:endParaRPr lang="en-US" sz="2100" dirty="0"/>
          </a:p>
        </p:txBody>
      </p:sp>
      <p:pic>
        <p:nvPicPr>
          <p:cNvPr id="3" name="Image 0" descr="gen-dedup-d9d72fb51f5c3f00db916ea0e813cb2d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pSiCOH/45%/70% VCHN O 0%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98%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HDLK+HMDS/15% 평균 86%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667598" y="285750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HCLK/45%/70% 평균 78%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667598" y="311719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pSiCOH/15%/120% 평균 96%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8667598" y="337596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pSiCOH/45%/120% 평균 81%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8667598" y="363474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pSiCOH/45%/70% 평균 50%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선재석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Line Rs cumulative distribution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52.04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HDLK+HMDS/15% median 51.04 (-1.9%)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HCLK/45%/70% median 54.18 (+4.1%)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pSiCOH/15%/120% median 44.22 (-15.0%)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pSiCOH/45%/120% median 44.34 (-14.8%)</a:t>
            </a:r>
            <a:endParaRPr lang="en-US" sz="1275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272399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pSiCOH/45%/70% median 52.03 (-0.0%)</a:t>
            </a:r>
            <a:endParaRPr lang="en-US" sz="1275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298368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HCLK/45%/70%·pSiCOH/45%/120%·pSiCOH/45%/70% upper tail → open성 fail 과 일치</a:t>
            </a:r>
            <a:endParaRPr lang="en-US" sz="1275" dirty="0"/>
          </a:p>
        </p:txBody>
      </p:sp>
      <p:pic>
        <p:nvPicPr>
          <p:cNvPr id="10" name="Image 0" descr="gen-dedup-40b94bec6cf88dcda2ca71a3d1c133fa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선재석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2026-10-05T09:56:19Z</dcterms:created>
  <dcterms:modified xsi:type="dcterms:W3CDTF">2026-10-05T09:56:19Z</dcterms:modified>
</cp:coreProperties>
</file>