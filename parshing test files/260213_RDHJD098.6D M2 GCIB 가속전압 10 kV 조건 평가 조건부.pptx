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33495"/>
            <a:ext cx="3124505" cy="2790749"/>
          </a:xfrm>
          <a:prstGeom prst="rect">
            <a:avLst/>
          </a:prstGeom>
        </p:spPr>
      </p:pic>
      <p:pic>
        <p:nvPicPr>
          <p:cNvPr id="3" name="Image 1" descr="gen-dedup-9706e579900ac6ace927981c4b892f8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733495"/>
            <a:ext cx="1352398" cy="279074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KVED RDHJD098.6D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067105"/>
            <a:ext cx="309524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GCIB 가속전압 10 kV 조건 평가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5638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25638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445666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A(GCIB 5 kV) 진행 시 AMI CD 동등 수준 (Δ-0.04 nm)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634947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B(GCIB10k) AMI CD Δ+0.01 nm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824228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C(GCIB20k) AMI CD Δ+0.02 nm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013509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+3.3% 상승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202790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+2.4% 상승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392070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CMBSRP/VMA/CMA POR 대비 동등수준 / VCHN 1.5%p 개선 / MinA 1.7%p 열화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581351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GCIB 에 의한 Cu 표면 recess 1~2 nm, line Rs 소폭 상승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77063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1~2 nm 이내 에너지 분산, 하부 low-k 손상 미관찰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2959913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B(GCIB10k) 는 CMBSRP/VCHN/MinA POR 대비 동등수준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3149194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TDDB 결과 확인 뒤 호환 가능 판단됨 (M2 DC 기준)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6562649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BEOL X-SEM (TechInsights)</a:t>
            </a:r>
            <a:endParaRPr lang="en-US" sz="825" dirty="0"/>
          </a:p>
        </p:txBody>
      </p:sp>
      <p:sp>
        <p:nvSpPr>
          <p:cNvPr id="20" name="Text 16"/>
          <p:cNvSpPr txBox="1"/>
          <p:nvPr/>
        </p:nvSpPr>
        <p:spPr>
          <a:xfrm>
            <a:off x="5810098" y="36813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057900" y="3638398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4000500"/>
          <a:ext cx="5696712" cy="2638958"/>
        </p:xfrm>
        <a:graphic>
          <a:graphicData uri="http://schemas.openxmlformats.org/drawingml/2006/table">
            <a:tbl>
              <a:tblPr/>
              <a:tblGrid>
                <a:gridCol w="1163117"/>
                <a:gridCol w="1147572"/>
                <a:gridCol w="911657"/>
                <a:gridCol w="1224382"/>
                <a:gridCol w="1249070"/>
              </a:tblGrid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W22(POR)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20.79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20.90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10305"/>
            <a:ext cx="2980944" cy="26673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292047"/>
                <a:gridCol w="3153766"/>
                <a:gridCol w="4155034"/>
                <a:gridCol w="2218334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W14, 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CMP (GCIB 없음)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W05, W13,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GCIB 5 kV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W08, 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GCIB 10 kV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W10, 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GCIB 20 kV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420258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이전·이후 공정은 전 WF POR 동일 진행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46135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72104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AMI CD wafer map</a:t>
            </a:r>
            <a:endParaRPr lang="en-US" sz="2325" dirty="0"/>
          </a:p>
        </p:txBody>
      </p:sp>
      <p:pic>
        <p:nvPicPr>
          <p:cNvPr id="3" name="Image 0" descr="gen-dedup-f0efb138d1f26fd5afd1b0fc8c48db2a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859e7967c7ad68cbc099ceb442df5508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e9e524d0ec9f2692a298a4f205f17ab9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d3d6c4ded7dc4c17c9b091cb2f1d5021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Δ-0.04 nm, edge 영역 편차 확대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Δ+0.01 nm, edge 영역 편차 POR 동등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AMI CD POR 대비 Δ+0.02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Via Rc cumulative distribution</a:t>
            </a:r>
            <a:endParaRPr lang="en-US" sz="2325" dirty="0"/>
          </a:p>
        </p:txBody>
      </p:sp>
      <p:pic>
        <p:nvPicPr>
          <p:cNvPr id="3" name="Image 0" descr="gen-dedup-1cb7978661fa9e0a351cd154707a1a8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5.55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5.69 (+2.4%)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5.62 (+1.3%, 동등)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191195" y="220644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5.63 (+1.5%, 동등)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191195" y="2465222"/>
            <a:ext cx="33339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upper tail 다수 → via bottom 미개구 / 잔류막 영향 추정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aa0fdc884ea256085a4731339fb5533e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MinA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전 item POR 동등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MinA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by wafer</a:t>
            </a:r>
            <a:endParaRPr lang="en-US" sz="2325" dirty="0"/>
          </a:p>
        </p:txBody>
      </p:sp>
      <p:pic>
        <p:nvPicPr>
          <p:cNvPr id="3" name="Image 0" descr="gen-dedup-48b8338f213cf943db7f44e5762cea8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63.7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65.8 (+3.3%)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64.2 (+0.7%)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65.0 (+2.0%)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2026-10-04T15:01:08Z</dcterms:created>
  <dcterms:modified xsi:type="dcterms:W3CDTF">2026-10-04T15:01:08Z</dcterms:modified>
</cp:coreProperties>
</file>