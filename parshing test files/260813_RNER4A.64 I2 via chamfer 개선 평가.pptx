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jpeg"/><Relationship Id="rId3" Type="http://schemas.openxmlformats.org/officeDocument/2006/relationships/image" Target="../media/image-1-3.jpe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gen-dedup-bce400406de561cb3ef9bfbd3bcc007d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6907" y="1276502"/>
            <a:ext cx="5734202" cy="2419502"/>
          </a:xfrm>
          <a:prstGeom prst="rect">
            <a:avLst/>
          </a:prstGeom>
        </p:spPr>
      </p:pic>
      <p:pic>
        <p:nvPicPr>
          <p:cNvPr id="3" name="Image 1" descr="gen-dedup-389e498a7504d0c750b85e053ad6d666.jp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29146" y="3829507"/>
            <a:ext cx="3685946" cy="1714500"/>
          </a:xfrm>
          <a:prstGeom prst="rect">
            <a:avLst/>
          </a:prstGeom>
        </p:spPr>
      </p:pic>
      <p:pic>
        <p:nvPicPr>
          <p:cNvPr id="4" name="Image 2" descr="gen-dedup-05d5091fa0b67f85f725eac898026e17.jp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91902" y="3829507"/>
            <a:ext cx="1419149" cy="1714500"/>
          </a:xfrm>
          <a:prstGeom prst="rect">
            <a:avLst/>
          </a:prstGeom>
        </p:spPr>
      </p:pic>
      <p:sp>
        <p:nvSpPr>
          <p:cNvPr id="5" name="Text 0"/>
          <p:cNvSpPr txBox="1"/>
          <p:nvPr/>
        </p:nvSpPr>
        <p:spPr>
          <a:xfrm>
            <a:off x="838505" y="437998"/>
            <a:ext cx="10478110" cy="391363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2250" dirty="0">
                <a:solidFill>
                  <a:srgbClr val="000000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SF2X KVIP RNER4A.64 ET results</a:t>
            </a:r>
            <a:endParaRPr lang="en-US" sz="2250" dirty="0"/>
          </a:p>
        </p:txBody>
      </p:sp>
      <p:sp>
        <p:nvSpPr>
          <p:cNvPr id="6" name="Shape 1"/>
          <p:cNvSpPr/>
          <p:nvPr/>
        </p:nvSpPr>
        <p:spPr>
          <a:xfrm>
            <a:off x="5886907" y="1000354"/>
            <a:ext cx="761695" cy="228600"/>
          </a:xfrm>
          <a:prstGeom prst="roundRect">
            <a:avLst>
              <a:gd name="adj" fmla="val 12400"/>
            </a:avLst>
          </a:prstGeom>
          <a:solidFill>
            <a:srgbClr val="C62828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7" name="Text 2"/>
          <p:cNvSpPr txBox="1"/>
          <p:nvPr/>
        </p:nvSpPr>
        <p:spPr>
          <a:xfrm>
            <a:off x="5886907" y="1000354"/>
            <a:ext cx="762610" cy="228600"/>
          </a:xfrm>
          <a:prstGeom prst="rect">
            <a:avLst/>
          </a:prstGeom>
          <a:solidFill>
            <a:srgbClr val="FFFFFF">
              <a:alpha val="0"/>
            </a:srgbClr>
          </a:solidFill>
          <a:ln>
            <a:solidFill>
              <a:srgbClr val="FFFFFF">
                <a:alpha val="0"/>
              </a:srgbClr>
            </a:solidFill>
          </a:ln>
        </p:spPr>
        <p:txBody>
          <a:bodyPr wrap="none" lIns="101600" tIns="25400" rIns="101600" bIns="2540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OCR test</a:t>
            </a:r>
            <a:endParaRPr lang="en-US" sz="1050" dirty="0"/>
          </a:p>
        </p:txBody>
      </p:sp>
      <p:sp>
        <p:nvSpPr>
          <p:cNvPr id="8" name="Text 3"/>
          <p:cNvSpPr txBox="1"/>
          <p:nvPr/>
        </p:nvSpPr>
        <p:spPr>
          <a:xfrm>
            <a:off x="5886907" y="5581498"/>
            <a:ext cx="5734202" cy="152705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825" dirty="0">
                <a:solidFill>
                  <a:srgbClr val="555555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Cu DD trench/via X-SEM / BEOL metal stack X-SEM</a:t>
            </a:r>
            <a:endParaRPr lang="en-US" sz="825" dirty="0"/>
          </a:p>
        </p:txBody>
      </p:sp>
      <p:sp>
        <p:nvSpPr>
          <p:cNvPr id="9" name="Text 4"/>
          <p:cNvSpPr txBox="1"/>
          <p:nvPr/>
        </p:nvSpPr>
        <p:spPr>
          <a:xfrm>
            <a:off x="571500" y="990295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0" name="Text 5"/>
          <p:cNvSpPr txBox="1"/>
          <p:nvPr/>
        </p:nvSpPr>
        <p:spPr>
          <a:xfrm>
            <a:off x="819302" y="990295"/>
            <a:ext cx="279989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평가목적 ; I2 via chamfer 개선 평가</a:t>
            </a:r>
            <a:endParaRPr lang="en-US" sz="1200" dirty="0"/>
          </a:p>
        </p:txBody>
      </p:sp>
      <p:sp>
        <p:nvSpPr>
          <p:cNvPr id="11" name="Text 6"/>
          <p:cNvSpPr txBox="1"/>
          <p:nvPr/>
        </p:nvSpPr>
        <p:spPr>
          <a:xfrm>
            <a:off x="571500" y="1207008"/>
            <a:ext cx="162763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●</a:t>
            </a:r>
            <a:endParaRPr lang="en-US" sz="1200" dirty="0"/>
          </a:p>
        </p:txBody>
      </p:sp>
      <p:sp>
        <p:nvSpPr>
          <p:cNvPr id="12" name="Text 7"/>
          <p:cNvSpPr txBox="1"/>
          <p:nvPr/>
        </p:nvSpPr>
        <p:spPr>
          <a:xfrm>
            <a:off x="819302" y="1207008"/>
            <a:ext cx="82021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평가결과 ;</a:t>
            </a:r>
            <a:endParaRPr lang="en-US" sz="1200" dirty="0"/>
          </a:p>
        </p:txBody>
      </p:sp>
      <p:sp>
        <p:nvSpPr>
          <p:cNvPr id="13" name="Text 8"/>
          <p:cNvSpPr txBox="1"/>
          <p:nvPr/>
        </p:nvSpPr>
        <p:spPr>
          <a:xfrm>
            <a:off x="571500" y="1461211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CD profile (POR 대비)</a:t>
            </a:r>
            <a:endParaRPr lang="en-US" sz="1200" dirty="0"/>
          </a:p>
        </p:txBody>
      </p:sp>
      <p:sp>
        <p:nvSpPr>
          <p:cNvPr id="14" name="Text 9"/>
          <p:cNvSpPr txBox="1"/>
          <p:nvPr/>
        </p:nvSpPr>
        <p:spPr>
          <a:xfrm>
            <a:off x="571500" y="1677924"/>
            <a:ext cx="57726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 (RNER4A_6):</a:t>
            </a:r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AASI Δ+0.32, AMI 8.4/8.5 · ACI 8.0로 POR과 근접</a:t>
            </a:r>
            <a:endParaRPr lang="en-US" sz="1200" dirty="0"/>
          </a:p>
        </p:txBody>
      </p:sp>
      <p:sp>
        <p:nvSpPr>
          <p:cNvPr id="15" name="Text 10"/>
          <p:cNvSpPr txBox="1"/>
          <p:nvPr/>
        </p:nvSpPr>
        <p:spPr>
          <a:xfrm>
            <a:off x="571500" y="1932127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Yield (CMBSRP / VCHN Open·Short)</a:t>
            </a:r>
            <a:endParaRPr lang="en-US" sz="1200" dirty="0"/>
          </a:p>
        </p:txBody>
      </p:sp>
      <p:sp>
        <p:nvSpPr>
          <p:cNvPr id="16" name="Text 11"/>
          <p:cNvSpPr txBox="1"/>
          <p:nvPr/>
        </p:nvSpPr>
        <p:spPr>
          <a:xfrm>
            <a:off x="571500" y="2148840"/>
            <a:ext cx="5086807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Split A: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CMBSRP Open 96%(-4%p), </a:t>
            </a:r>
            <a:pPr algn="l" indent="0" marL="0">
              <a:lnSpc>
                <a:spcPts val="1704"/>
              </a:lnSpc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VCHN Open 21%(-79%p)</a:t>
            </a:r>
            <a:pPr algn="l" indent="0" marL="0">
              <a:lnSpc>
                <a:spcPts val="1704"/>
              </a:lnSpc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 → line보다 via 연결부 열화</a:t>
            </a:r>
            <a:endParaRPr lang="en-US" sz="1200" dirty="0"/>
          </a:p>
        </p:txBody>
      </p:sp>
      <p:sp>
        <p:nvSpPr>
          <p:cNvPr id="17" name="Text 12"/>
          <p:cNvSpPr txBox="1"/>
          <p:nvPr/>
        </p:nvSpPr>
        <p:spPr>
          <a:xfrm>
            <a:off x="571500" y="2619756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결론</a:t>
            </a:r>
            <a:endParaRPr lang="en-US" sz="1200" dirty="0"/>
          </a:p>
        </p:txBody>
      </p:sp>
      <p:sp>
        <p:nvSpPr>
          <p:cNvPr id="18" name="Text 13"/>
          <p:cNvSpPr txBox="1"/>
          <p:nvPr/>
        </p:nvSpPr>
        <p:spPr>
          <a:xfrm>
            <a:off x="571500" y="2836469"/>
            <a:ext cx="5308092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POR 대비 전 항목 동등한 split 없음, Split A Open mode 지배적</a:t>
            </a:r>
            <a:endParaRPr lang="en-US" sz="1200" dirty="0"/>
          </a:p>
        </p:txBody>
      </p:sp>
      <p:sp>
        <p:nvSpPr>
          <p:cNvPr id="19" name="Text 14"/>
          <p:cNvSpPr txBox="1"/>
          <p:nvPr/>
        </p:nvSpPr>
        <p:spPr>
          <a:xfrm>
            <a:off x="571500" y="3052267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Split A Open fail die 단면 분석 필요</a:t>
            </a:r>
            <a:endParaRPr lang="en-US" sz="1200" dirty="0"/>
          </a:p>
        </p:txBody>
      </p:sp>
      <p:sp>
        <p:nvSpPr>
          <p:cNvPr id="20" name="Text 15"/>
          <p:cNvSpPr txBox="1"/>
          <p:nvPr/>
        </p:nvSpPr>
        <p:spPr>
          <a:xfrm>
            <a:off x="571500" y="3268980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HMDS 처리 split 은 접촉각 80~88° 회복 여부 별도 확인</a:t>
            </a:r>
            <a:endParaRPr lang="en-US" sz="1200" dirty="0"/>
          </a:p>
        </p:txBody>
      </p:sp>
      <p:sp>
        <p:nvSpPr>
          <p:cNvPr id="21" name="Text 16"/>
          <p:cNvSpPr txBox="1"/>
          <p:nvPr/>
        </p:nvSpPr>
        <p:spPr>
          <a:xfrm>
            <a:off x="571500" y="3485693"/>
            <a:ext cx="5086807" cy="219456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111111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- 측벽 fence / residue 여부 TEM 확인</a:t>
            </a:r>
            <a:endParaRPr lang="en-US" sz="1200" dirty="0"/>
          </a:p>
        </p:txBody>
      </p:sp>
      <p:sp>
        <p:nvSpPr>
          <p:cNvPr id="22" name="Text 17"/>
          <p:cNvSpPr txBox="1"/>
          <p:nvPr/>
        </p:nvSpPr>
        <p:spPr>
          <a:xfrm>
            <a:off x="8382305" y="6610198"/>
            <a:ext cx="3429000" cy="143561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444444"/>
                </a:solidFill>
                <a:latin typeface="Malgun Gothic" pitchFamily="34" charset="0"/>
                <a:ea typeface="Malgun Gothic" pitchFamily="34" charset="-122"/>
                <a:cs typeface="Malgun Gothic" pitchFamily="34" charset="-120"/>
              </a:rPr>
              <a:t>LogicTD 권다은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Generated by Gen-Spark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Multi-page HTML Content</dc:title>
  <dc:subject>PptxGenJS Presentation</dc:subject>
  <dc:creator>Visual Extract to PPTX Converter</dc:creator>
  <cp:lastModifiedBy>Visual Extract to PPTX Converter</cp:lastModifiedBy>
  <cp:revision>1</cp:revision>
  <dcterms:created xsi:type="dcterms:W3CDTF">2026-10-05T09:56:40Z</dcterms:created>
  <dcterms:modified xsi:type="dcterms:W3CDTF">2026-10-05T09:56:40Z</dcterms:modified>
</cp:coreProperties>
</file>