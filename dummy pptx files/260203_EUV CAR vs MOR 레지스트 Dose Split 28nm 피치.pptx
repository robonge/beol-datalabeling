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1 — 실험 개요. CAR과 MOR의 정량 비교가 목적이며, four CD metrics (AASI 25.1, ASEI 15.3, AMI 8.2, ACI 8.0 nm) 위에 맞춰 dose·in-wafer uniformity·전기 특성까지 본다는 로드맵을 공유하는 페이지입니다. 우측 SEM 사진은 imec이 보고한 dense line/space 사진으로, 평가 컨텍스트(이 페이지 자체는 컨텍스트용 사진)를 보여줍니다. Key point는 동일 split lot 6 wafer 비교라는 점과 CAR vs MOR의 dose 차이가 이미 강조되어 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2 — 실험 조건. CAR split이 80 mJ/cm² 대, MOR split이 21 mJ/cm² 대로 dose가 큰 폭으로 갈립니다. PEB 온도도 CAR 110°C, MOR 90°C로 split 했습니다. Same wafer 6장에 대해 4 metrics, 25 측정점, 동일 lot, 동일 track recipe라는 점이 평가의 일관성을 보장합니다. Metrology table은 AASI/ASEI/AMI/ACI의 풀네임 표기이며, 측정 위치 정의는 slide 3부터 본격화됩니다.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3 — AASI. Target 25.1 nm에서 MOR은 24.92 ~ 25.10, CAR은 25.31 ~ 25.58 사이에 위치. 3σ ratio는 CAR ~4.8%, MOR ~2.4%로 MOR이 절반 수준. CAR의 양의 편향은 reference에 보고된 CAR의 산 확산 blur 경향과 정합적이며, MOR은 cluster 직접 반응으로 target에 거의 정확히 안착했습니다. 페이지 하단 보조 사진은 0.33 NA 다중 피치 SEM으로 본 슬라이드의 wafer들과 직접 동일 시료는 아니지만 L/S 컨텍스트용 사진입니다.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4 — ASEI. SE inner 의미로 active 영역 내부의 spacing 변동을 봅니다. Mean은 CAR +0.12 ~ +0.38 nm, MOR ±0.2 nm 범위. 우측 카드는 CAR 대비 MOR의 range 차이를 2.2배로 압축해 보여주고, 하단 작은 막대 차트는 3σ를 시각적으로 MOR vs CAR 비교. 페이지의 핵심은 MOR이 sub-3 nm 정밀도 영역에서 range·3σ 모두 절반 수준이라는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5 — AMI. Active M의 inner 영역으로 drive current와 직접 연결되는 CD metric. CAR은 target 대비 일관된 +0.2 ~ +0.42 nm 양 편향, MOR은 target 부근에서 ±0.17 nm 이내로 안착. 우측 카드 3개는 max/min Δ, range ratio, 좌측 하단에는 막대 차트로 6 wafer의 Δ 분포. Active 영역 정밀도가 drive current variation과 직결되므로 본 metric의 MOR 우위는 전기 결과로도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6 — ACI. 8.0 nm target에서 스펙은 ±0.20 nm로 잡았습니다 (우측 작은 차트의 빨간색 점선). MOR 세 wafer 모두 spec 통과 (W04 −0.05, W05 −0.10, W06 +0.01). CAR은 W03 +0.20으로 통과 경계, W01·W02는 spec 위반. Side-by-side 박스에는 평균값 요약 (3σ 0.68 vs 0.28 nm, range 2.41 vs 0.96 nm). 4개 metric을 종합하면 MOR은 4개 영역 모두 안착, CAR은 active 영역에서 spec 민감도가 특히 부족합니다.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7 — In-wafer 균일도. 25pt 측정 데이터로부터 WIWNU within-wafer non-uniformity와 WIDNU를 도출. CAR 평균 4.62%, MOR 평균 1.99%로 MOR이 절대값 −2.6 pp 더 균일. Site σ 값까지 비교하면 최대 site σ는 W03 CAR 1.21, 최소 site σ는 W06 MOR 0.48. 우측 막대 차트로 CAR의 bar가 모두 130 이상, MOR의 bar가 모두 60 이하로 시각 차이가 매우 큽니다. 5×5 지점 분해는 slide 8 (25pt wafer map)에서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8 — 25pt wafer map. CAR 대표 wafer W01과 MOR 대표 wafer W04를 5x5 map으로 비교합니다. 색조는 의미적 매핑으로 CAR은 베이지/살구 색조로 ±0.7 nm 스케일에서 표현, MOR은 블루그레이 색조로 ±0.2 nm의 좁은 범위. W01은 가장자리에서 25.7 ~ 25.8 nm로 상승, 중앙 25.2 ~ 25.4 nm 정도로 ring-shaped drift가 잘 보입니다. W04는 거의 평탄, 24.9 ~ 25.1 nm 사이의 좁은 분포를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9 — STEM 단면 사진. 좌측 큰 이미지는 IOP Science APEX 2016 metal resist STEM 자료를 컨텍스트 사진으로 사용했습니다. 우측에는 sidewall angle 89° vs 86°, local LWR ~1.8 vs ~3.9, etch selectivity 4.6:1 vs 1.4:1을 정리해 단면 사진에서 보이는 거동을 정량적으로 뒷받침합니다. 배경 자료에서 MOR의 무기 클러스터 반응이 sidewall taper를 줄이고 etch 선택비를 크게 끌어올린다고 보고한 것과 정합적입니다.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10 — 전기 특성. TLM 패턴, 5 site / wafer 평균. CAR은 Rs ~0.94, MOR은 ~0.88 Ω/sq. 누설은 MOR이 7.9e-10 ~ 9.1e-10, CAR은 1.41 ~ 1.62e-9로 MOR이 약 44% 적게 측정. BV는 MOR 평균 4.6 V, CAR 평균 4.03 V uplift 약 0.55 V. ΔVth shift는 MOR 평균 14.3 mV, CAR 평균 29.7 mV로 MOR이 절반 이하. 하단 4개 카드는 이 차이를 metric 별로 압축해 보여줍니다 — CD 폭이 균일할수록 drive current 분산이 작고 누설 경로의 변동도 작아집니다.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11 — 종합 비교. 5개 feature 행으로 dose, sidewall angle, WIWNU, etch selectivity, throughput을 정렬. 좌측 하단에 imec에서 보고된 EUV 옵션 비교 사진과 24 nm pitch 단일 노광 사진을 두 장 사용했고 우측에는 적합 영역 matrix 카드. 우측 사용 사진 출처: imec Magazine과 Semiconductor Digest. 결론성 슬라이드는 따로 두지 않고 이 페이지 권고 행에서 마무리합니다.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페이지 12 — 마지막 wafer별 종합 페이지. 결론 슬라이드를 따로 두지 말고 wafer별 카드로 종결합니다. 3×2 grid로 6 wafer를 정리하고 각 wafer에 대해 AASI/AMI/ACI 핵심 값 + WIWNU + 한 줄 코멘트, ✕는 ±0.20 nm spec 위반으로 표기. 하단 3개 종합 카드 — CAR 3/12, MOR 12/12 통과, dose 효율 ~3.9×. 페이지 자체가 권고 결론을 마지막 key takeaway 안에 자연스럽게 녹였습니다. 본 보고서는 더미 데이터이므로 production lot 의사결정에 직접 인용하지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1-2.png"/><Relationship Id="rId6" Type="http://schemas.openxmlformats.org/officeDocument/2006/relationships/image" Target="../media/image-1-6.jpe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6.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e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5.png"/><Relationship Id="rId7" Type="http://schemas.openxmlformats.org/officeDocument/2006/relationships/image" Target="../media/image-6-7.png"/><Relationship Id="rId8" Type="http://schemas.openxmlformats.org/officeDocument/2006/relationships/image" Target="../media/image-6-7.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6.png"/><Relationship Id="rId8" Type="http://schemas.openxmlformats.org/officeDocument/2006/relationships/image" Target="../media/image-7-6.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6.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571500" y="5048402"/>
            <a:ext cx="2686507" cy="1695298"/>
          </a:xfrm>
          <a:prstGeom prst="rect">
            <a:avLst/>
          </a:prstGeom>
          <a:solidFill>
            <a:srgbClr val="FFFFFF"/>
          </a:solidFill>
          <a:ln w="12700">
            <a:solidFill>
              <a:srgbClr val="C4CDD9"/>
            </a:solidFill>
            <a:prstDash val="solid"/>
          </a:ln>
        </p:spPr>
      </p:sp>
      <p:sp>
        <p:nvSpPr>
          <p:cNvPr id="5" name="Text 1"/>
          <p:cNvSpPr txBox="1"/>
          <p:nvPr/>
        </p:nvSpPr>
        <p:spPr>
          <a:xfrm>
            <a:off x="790956" y="5266944"/>
            <a:ext cx="2248510"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AA · SI</a:t>
            </a:r>
            <a:endParaRPr lang="en-US" sz="1050" dirty="0"/>
          </a:p>
        </p:txBody>
      </p:sp>
      <p:sp>
        <p:nvSpPr>
          <p:cNvPr id="6" name="Text 2"/>
          <p:cNvSpPr txBox="1"/>
          <p:nvPr/>
        </p:nvSpPr>
        <p:spPr>
          <a:xfrm>
            <a:off x="790956" y="5600700"/>
            <a:ext cx="2248510" cy="438912"/>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25.1 </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nm</a:t>
            </a:r>
            <a:endParaRPr lang="en-US" sz="3450" dirty="0"/>
          </a:p>
        </p:txBody>
      </p:sp>
      <p:pic>
        <p:nvPicPr>
          <p:cNvPr id="7" name="Image 1" descr="gen-dedup-2e3094511573e880144cb8ac3690bcb4.png">    </p:cNvPr>
          <p:cNvPicPr>
            <a:picLocks noChangeAspect="1"/>
          </p:cNvPicPr>
          <p:nvPr/>
        </p:nvPicPr>
        <p:blipFill>
          <a:blip r:embed="rId2"/>
          <a:srcRect l="-2083" r="-2083" t="0" b="0"/>
          <a:stretch/>
        </p:blipFill>
        <p:spPr>
          <a:xfrm>
            <a:off x="790956" y="6172200"/>
            <a:ext cx="2243023" cy="9144"/>
          </a:xfrm>
          <a:prstGeom prst="rect">
            <a:avLst/>
          </a:prstGeom>
        </p:spPr>
      </p:pic>
      <p:sp>
        <p:nvSpPr>
          <p:cNvPr id="8" name="Text 3"/>
          <p:cNvSpPr txBox="1"/>
          <p:nvPr/>
        </p:nvSpPr>
        <p:spPr>
          <a:xfrm>
            <a:off x="790956" y="6277356"/>
            <a:ext cx="2248510"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target</a:t>
            </a:r>
            <a:endParaRPr lang="en-US" sz="1200" dirty="0"/>
          </a:p>
        </p:txBody>
      </p:sp>
      <p:sp>
        <p:nvSpPr>
          <p:cNvPr id="9" name="Shape 4"/>
          <p:cNvSpPr/>
          <p:nvPr/>
        </p:nvSpPr>
        <p:spPr>
          <a:xfrm>
            <a:off x="3424428" y="5048402"/>
            <a:ext cx="2686507" cy="1695298"/>
          </a:xfrm>
          <a:prstGeom prst="rect">
            <a:avLst/>
          </a:prstGeom>
          <a:solidFill>
            <a:srgbClr val="FFFFFF"/>
          </a:solidFill>
          <a:ln w="12700">
            <a:solidFill>
              <a:srgbClr val="C4CDD9"/>
            </a:solidFill>
            <a:prstDash val="solid"/>
          </a:ln>
        </p:spPr>
      </p:sp>
      <p:sp>
        <p:nvSpPr>
          <p:cNvPr id="10" name="Text 5"/>
          <p:cNvSpPr txBox="1"/>
          <p:nvPr/>
        </p:nvSpPr>
        <p:spPr>
          <a:xfrm>
            <a:off x="3642970" y="5266944"/>
            <a:ext cx="2248510"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SE · I</a:t>
            </a:r>
            <a:endParaRPr lang="en-US" sz="1050" dirty="0"/>
          </a:p>
        </p:txBody>
      </p:sp>
      <p:sp>
        <p:nvSpPr>
          <p:cNvPr id="11" name="Text 6"/>
          <p:cNvSpPr txBox="1"/>
          <p:nvPr/>
        </p:nvSpPr>
        <p:spPr>
          <a:xfrm>
            <a:off x="3642970" y="5600700"/>
            <a:ext cx="2248510" cy="438912"/>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15.3 </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nm</a:t>
            </a:r>
            <a:endParaRPr lang="en-US" sz="3450" dirty="0"/>
          </a:p>
        </p:txBody>
      </p:sp>
      <p:pic>
        <p:nvPicPr>
          <p:cNvPr id="12" name="Image 2" descr="gen-dedup-2e3094511573e880144cb8ac3690bcb4.png">    </p:cNvPr>
          <p:cNvPicPr>
            <a:picLocks noChangeAspect="1"/>
          </p:cNvPicPr>
          <p:nvPr/>
        </p:nvPicPr>
        <p:blipFill>
          <a:blip r:embed="rId3"/>
          <a:srcRect l="-2083" r="-2083" t="0" b="0"/>
          <a:stretch/>
        </p:blipFill>
        <p:spPr>
          <a:xfrm>
            <a:off x="3642970" y="6172200"/>
            <a:ext cx="2243023" cy="9144"/>
          </a:xfrm>
          <a:prstGeom prst="rect">
            <a:avLst/>
          </a:prstGeom>
        </p:spPr>
      </p:pic>
      <p:sp>
        <p:nvSpPr>
          <p:cNvPr id="13" name="Text 7"/>
          <p:cNvSpPr txBox="1"/>
          <p:nvPr/>
        </p:nvSpPr>
        <p:spPr>
          <a:xfrm>
            <a:off x="3642970" y="6277356"/>
            <a:ext cx="2248510"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target</a:t>
            </a:r>
            <a:endParaRPr lang="en-US" sz="1200" dirty="0"/>
          </a:p>
        </p:txBody>
      </p:sp>
      <p:sp>
        <p:nvSpPr>
          <p:cNvPr id="14" name="Shape 8"/>
          <p:cNvSpPr/>
          <p:nvPr/>
        </p:nvSpPr>
        <p:spPr>
          <a:xfrm>
            <a:off x="6277356" y="5048402"/>
            <a:ext cx="2686507" cy="1695298"/>
          </a:xfrm>
          <a:prstGeom prst="rect">
            <a:avLst/>
          </a:prstGeom>
          <a:solidFill>
            <a:srgbClr val="FFFFFF"/>
          </a:solidFill>
          <a:ln w="12700">
            <a:solidFill>
              <a:srgbClr val="C4CDD9"/>
            </a:solidFill>
            <a:prstDash val="solid"/>
          </a:ln>
        </p:spPr>
      </p:sp>
      <p:sp>
        <p:nvSpPr>
          <p:cNvPr id="15" name="Text 9"/>
          <p:cNvSpPr txBox="1"/>
          <p:nvPr/>
        </p:nvSpPr>
        <p:spPr>
          <a:xfrm>
            <a:off x="6495898" y="5266944"/>
            <a:ext cx="2248510"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AM · I</a:t>
            </a:r>
            <a:endParaRPr lang="en-US" sz="1050" dirty="0"/>
          </a:p>
        </p:txBody>
      </p:sp>
      <p:sp>
        <p:nvSpPr>
          <p:cNvPr id="16" name="Text 10"/>
          <p:cNvSpPr txBox="1"/>
          <p:nvPr/>
        </p:nvSpPr>
        <p:spPr>
          <a:xfrm>
            <a:off x="6495898" y="5600700"/>
            <a:ext cx="2248510" cy="438912"/>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8.2 </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nm</a:t>
            </a:r>
            <a:endParaRPr lang="en-US" sz="3450" dirty="0"/>
          </a:p>
        </p:txBody>
      </p:sp>
      <p:pic>
        <p:nvPicPr>
          <p:cNvPr id="17" name="Image 3" descr="gen-dedup-2e3094511573e880144cb8ac3690bcb4.png">    </p:cNvPr>
          <p:cNvPicPr>
            <a:picLocks noChangeAspect="1"/>
          </p:cNvPicPr>
          <p:nvPr/>
        </p:nvPicPr>
        <p:blipFill>
          <a:blip r:embed="rId4"/>
          <a:srcRect l="-2083" r="-2083" t="0" b="0"/>
          <a:stretch/>
        </p:blipFill>
        <p:spPr>
          <a:xfrm>
            <a:off x="6495898" y="6172200"/>
            <a:ext cx="2243023" cy="9144"/>
          </a:xfrm>
          <a:prstGeom prst="rect">
            <a:avLst/>
          </a:prstGeom>
        </p:spPr>
      </p:pic>
      <p:sp>
        <p:nvSpPr>
          <p:cNvPr id="18" name="Text 11"/>
          <p:cNvSpPr txBox="1"/>
          <p:nvPr/>
        </p:nvSpPr>
        <p:spPr>
          <a:xfrm>
            <a:off x="6495898" y="6277356"/>
            <a:ext cx="2248510"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target</a:t>
            </a:r>
            <a:endParaRPr lang="en-US" sz="1200" dirty="0"/>
          </a:p>
        </p:txBody>
      </p:sp>
      <p:sp>
        <p:nvSpPr>
          <p:cNvPr id="19" name="Shape 12"/>
          <p:cNvSpPr/>
          <p:nvPr/>
        </p:nvSpPr>
        <p:spPr>
          <a:xfrm>
            <a:off x="9129370" y="5048402"/>
            <a:ext cx="2686507" cy="1695298"/>
          </a:xfrm>
          <a:prstGeom prst="rect">
            <a:avLst/>
          </a:prstGeom>
          <a:solidFill>
            <a:srgbClr val="FFFFFF"/>
          </a:solidFill>
          <a:ln w="12700">
            <a:solidFill>
              <a:srgbClr val="C4CDD9"/>
            </a:solidFill>
            <a:prstDash val="solid"/>
          </a:ln>
        </p:spPr>
      </p:sp>
      <p:sp>
        <p:nvSpPr>
          <p:cNvPr id="20" name="Text 13"/>
          <p:cNvSpPr txBox="1"/>
          <p:nvPr/>
        </p:nvSpPr>
        <p:spPr>
          <a:xfrm>
            <a:off x="9348826" y="5266944"/>
            <a:ext cx="2248510"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AC · I</a:t>
            </a:r>
            <a:endParaRPr lang="en-US" sz="1050" dirty="0"/>
          </a:p>
        </p:txBody>
      </p:sp>
      <p:sp>
        <p:nvSpPr>
          <p:cNvPr id="21" name="Text 14"/>
          <p:cNvSpPr txBox="1"/>
          <p:nvPr/>
        </p:nvSpPr>
        <p:spPr>
          <a:xfrm>
            <a:off x="9348826" y="5600700"/>
            <a:ext cx="2248510" cy="438912"/>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8.0 </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nm</a:t>
            </a:r>
            <a:endParaRPr lang="en-US" sz="3450" dirty="0"/>
          </a:p>
        </p:txBody>
      </p:sp>
      <p:pic>
        <p:nvPicPr>
          <p:cNvPr id="22" name="Image 4" descr="gen-dedup-2e3094511573e880144cb8ac3690bcb4.png">    </p:cNvPr>
          <p:cNvPicPr>
            <a:picLocks noChangeAspect="1"/>
          </p:cNvPicPr>
          <p:nvPr/>
        </p:nvPicPr>
        <p:blipFill>
          <a:blip r:embed="rId5"/>
          <a:srcRect l="-2083" r="-2083" t="0" b="0"/>
          <a:stretch/>
        </p:blipFill>
        <p:spPr>
          <a:xfrm>
            <a:off x="9348826" y="6172200"/>
            <a:ext cx="2243023" cy="9144"/>
          </a:xfrm>
          <a:prstGeom prst="rect">
            <a:avLst/>
          </a:prstGeom>
        </p:spPr>
      </p:pic>
      <p:sp>
        <p:nvSpPr>
          <p:cNvPr id="23" name="Text 15"/>
          <p:cNvSpPr txBox="1"/>
          <p:nvPr/>
        </p:nvSpPr>
        <p:spPr>
          <a:xfrm>
            <a:off x="9348826" y="6277356"/>
            <a:ext cx="2248510"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target</a:t>
            </a:r>
            <a:endParaRPr lang="en-US" sz="1200" dirty="0"/>
          </a:p>
        </p:txBody>
      </p:sp>
      <p:sp>
        <p:nvSpPr>
          <p:cNvPr id="24" name="Shape 16"/>
          <p:cNvSpPr/>
          <p:nvPr/>
        </p:nvSpPr>
        <p:spPr>
          <a:xfrm>
            <a:off x="571500" y="7429500"/>
            <a:ext cx="3409798" cy="619049"/>
          </a:xfrm>
          <a:prstGeom prst="rect">
            <a:avLst/>
          </a:prstGeom>
          <a:solidFill>
            <a:srgbClr val="FFFFFF"/>
          </a:solidFill>
          <a:ln w="12700">
            <a:solidFill>
              <a:srgbClr val="C4CDD9"/>
            </a:solidFill>
            <a:prstDash val="solid"/>
          </a:ln>
        </p:spPr>
      </p:sp>
      <p:sp>
        <p:nvSpPr>
          <p:cNvPr id="25" name="Shape 17"/>
          <p:cNvSpPr/>
          <p:nvPr/>
        </p:nvSpPr>
        <p:spPr>
          <a:xfrm>
            <a:off x="790956" y="7672730"/>
            <a:ext cx="133502" cy="133502"/>
          </a:xfrm>
          <a:prstGeom prst="rect">
            <a:avLst/>
          </a:prstGeom>
          <a:solidFill>
            <a:srgbClr val="B85C46"/>
          </a:solidFill>
          <a:ln w="12700">
            <a:solidFill>
              <a:srgbClr val="FFFFFF">
                <a:alpha val="0"/>
              </a:srgbClr>
            </a:solidFill>
            <a:prstDash val="solid"/>
          </a:ln>
        </p:spPr>
      </p:sp>
      <p:sp>
        <p:nvSpPr>
          <p:cNvPr id="26" name="Text 18"/>
          <p:cNvSpPr txBox="1"/>
          <p:nvPr/>
        </p:nvSpPr>
        <p:spPr>
          <a:xfrm>
            <a:off x="1057046" y="7610551"/>
            <a:ext cx="884225" cy="257861"/>
          </a:xfrm>
          <a:prstGeom prst="rect">
            <a:avLst/>
          </a:prstGeom>
          <a:noFill/>
          <a:ln/>
        </p:spPr>
        <p:txBody>
          <a:bodyPr wrap="none" lIns="0" tIns="0" rIns="0" bIns="0" rtlCol="0" anchor="ctr"/>
          <a:lstStyle/>
          <a:p>
            <a:pPr algn="l" indent="0" marL="0">
              <a:buNone/>
            </a:pPr>
            <a:r>
              <a:rPr lang="en-US" sz="1350" b="1" dirty="0">
                <a:solidFill>
                  <a:srgbClr val="1B2C45"/>
                </a:solidFill>
                <a:latin typeface="IBM Plex Sans KR" pitchFamily="34" charset="0"/>
                <a:ea typeface="IBM Plex Sans KR" pitchFamily="34" charset="-122"/>
                <a:cs typeface="IBM Plex Sans KR" pitchFamily="34" charset="-120"/>
              </a:rPr>
              <a:t>CAR split</a:t>
            </a:r>
            <a:endParaRPr lang="en-US" sz="1350" dirty="0"/>
          </a:p>
        </p:txBody>
      </p:sp>
      <p:sp>
        <p:nvSpPr>
          <p:cNvPr id="27" name="Text 19"/>
          <p:cNvSpPr txBox="1"/>
          <p:nvPr/>
        </p:nvSpPr>
        <p:spPr>
          <a:xfrm>
            <a:off x="2034540" y="7625182"/>
            <a:ext cx="2063801"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3 wafer · 80 ~ 82 mJ/cm²</a:t>
            </a:r>
            <a:endParaRPr lang="en-US" sz="1200" dirty="0"/>
          </a:p>
        </p:txBody>
      </p:sp>
      <p:sp>
        <p:nvSpPr>
          <p:cNvPr id="28" name="Shape 20"/>
          <p:cNvSpPr/>
          <p:nvPr/>
        </p:nvSpPr>
        <p:spPr>
          <a:xfrm>
            <a:off x="4209898" y="7429500"/>
            <a:ext cx="3409798" cy="619049"/>
          </a:xfrm>
          <a:prstGeom prst="rect">
            <a:avLst/>
          </a:prstGeom>
          <a:solidFill>
            <a:srgbClr val="FFFFFF"/>
          </a:solidFill>
          <a:ln w="12700">
            <a:solidFill>
              <a:srgbClr val="C4CDD9"/>
            </a:solidFill>
            <a:prstDash val="solid"/>
          </a:ln>
        </p:spPr>
      </p:sp>
      <p:sp>
        <p:nvSpPr>
          <p:cNvPr id="29" name="Shape 21"/>
          <p:cNvSpPr/>
          <p:nvPr/>
        </p:nvSpPr>
        <p:spPr>
          <a:xfrm>
            <a:off x="4429354" y="7672730"/>
            <a:ext cx="133502" cy="133502"/>
          </a:xfrm>
          <a:prstGeom prst="rect">
            <a:avLst/>
          </a:prstGeom>
          <a:solidFill>
            <a:srgbClr val="2D6F8C"/>
          </a:solidFill>
          <a:ln w="12700">
            <a:solidFill>
              <a:srgbClr val="FFFFFF">
                <a:alpha val="0"/>
              </a:srgbClr>
            </a:solidFill>
            <a:prstDash val="solid"/>
          </a:ln>
        </p:spPr>
      </p:sp>
      <p:sp>
        <p:nvSpPr>
          <p:cNvPr id="30" name="Text 22"/>
          <p:cNvSpPr txBox="1"/>
          <p:nvPr/>
        </p:nvSpPr>
        <p:spPr>
          <a:xfrm>
            <a:off x="4695444" y="7610551"/>
            <a:ext cx="929945" cy="257861"/>
          </a:xfrm>
          <a:prstGeom prst="rect">
            <a:avLst/>
          </a:prstGeom>
          <a:noFill/>
          <a:ln/>
        </p:spPr>
        <p:txBody>
          <a:bodyPr wrap="none" lIns="0" tIns="0" rIns="0" bIns="0" rtlCol="0" anchor="ctr"/>
          <a:lstStyle/>
          <a:p>
            <a:pPr algn="l" indent="0" marL="0">
              <a:buNone/>
            </a:pPr>
            <a:r>
              <a:rPr lang="en-US" sz="1350" b="1" dirty="0">
                <a:solidFill>
                  <a:srgbClr val="1B2C45"/>
                </a:solidFill>
                <a:latin typeface="IBM Plex Sans KR" pitchFamily="34" charset="0"/>
                <a:ea typeface="IBM Plex Sans KR" pitchFamily="34" charset="-122"/>
                <a:cs typeface="IBM Plex Sans KR" pitchFamily="34" charset="-120"/>
              </a:rPr>
              <a:t>MOR split</a:t>
            </a:r>
            <a:endParaRPr lang="en-US" sz="1350" dirty="0"/>
          </a:p>
        </p:txBody>
      </p:sp>
      <p:sp>
        <p:nvSpPr>
          <p:cNvPr id="31" name="Text 23"/>
          <p:cNvSpPr txBox="1"/>
          <p:nvPr/>
        </p:nvSpPr>
        <p:spPr>
          <a:xfrm>
            <a:off x="5673852" y="7625182"/>
            <a:ext cx="2063801"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3 wafer · 20 ~ 22 mJ/cm²</a:t>
            </a:r>
            <a:endParaRPr lang="en-US" sz="1200" dirty="0"/>
          </a:p>
        </p:txBody>
      </p:sp>
      <p:sp>
        <p:nvSpPr>
          <p:cNvPr id="32" name="Text 24"/>
          <p:cNvSpPr txBox="1"/>
          <p:nvPr/>
        </p:nvSpPr>
        <p:spPr>
          <a:xfrm>
            <a:off x="571500" y="342900"/>
            <a:ext cx="1722730" cy="1334110"/>
          </a:xfrm>
          <a:prstGeom prst="rect">
            <a:avLst/>
          </a:prstGeom>
          <a:noFill/>
          <a:ln/>
        </p:spPr>
        <p:txBody>
          <a:bodyPr wrap="none" lIns="0" tIns="0" rIns="0" bIns="0" rtlCol="0" anchor="ctr"/>
          <a:lstStyle/>
          <a:p>
            <a:pPr algn="l" indent="0" marL="0">
              <a:buNone/>
            </a:pPr>
            <a:r>
              <a:rPr lang="en-US" sz="10500" b="1" spc="-420" kern="0" dirty="0">
                <a:solidFill>
                  <a:srgbClr val="1B2C45">
                    <a:alpha val="18000"/>
                  </a:srgbClr>
                </a:solidFill>
                <a:latin typeface="IBM Plex Sans KR" pitchFamily="34" charset="0"/>
                <a:ea typeface="IBM Plex Sans KR" pitchFamily="34" charset="-122"/>
                <a:cs typeface="IBM Plex Sans KR" pitchFamily="34" charset="-120"/>
              </a:rPr>
              <a:t>01</a:t>
            </a:r>
            <a:endParaRPr lang="en-US" sz="10500" dirty="0"/>
          </a:p>
        </p:txBody>
      </p:sp>
      <p:sp>
        <p:nvSpPr>
          <p:cNvPr id="33" name="Shape 25"/>
          <p:cNvSpPr/>
          <p:nvPr/>
        </p:nvSpPr>
        <p:spPr>
          <a:xfrm>
            <a:off x="12382805" y="1143000"/>
            <a:ext cx="5352898" cy="6495898"/>
          </a:xfrm>
          <a:prstGeom prst="rect">
            <a:avLst/>
          </a:prstGeom>
          <a:solidFill>
            <a:srgbClr val="FFFFFF"/>
          </a:solidFill>
          <a:ln w="12700">
            <a:solidFill>
              <a:srgbClr val="C4CDD9"/>
            </a:solidFill>
            <a:prstDash val="solid"/>
          </a:ln>
        </p:spPr>
      </p:sp>
      <p:pic>
        <p:nvPicPr>
          <p:cNvPr id="34" name="Image 5" descr="gen-dedup-0bde63c994b6262b9fffe24bd93060d4.jpg">    </p:cNvPr>
          <p:cNvPicPr>
            <a:picLocks noChangeAspect="1"/>
          </p:cNvPicPr>
          <p:nvPr/>
        </p:nvPicPr>
        <p:blipFill>
          <a:blip r:embed="rId6"/>
          <a:stretch>
            <a:fillRect/>
          </a:stretch>
        </p:blipFill>
        <p:spPr>
          <a:xfrm>
            <a:off x="12391949" y="1152144"/>
            <a:ext cx="5333695" cy="6476695"/>
          </a:xfrm>
          <a:prstGeom prst="rect">
            <a:avLst/>
          </a:prstGeom>
        </p:spPr>
      </p:pic>
      <p:pic>
        <p:nvPicPr>
          <p:cNvPr id="35" name="Image 6" descr="gen-dedup-0cbd4f7104cf228df6fde3547c447ef1.png">    </p:cNvPr>
          <p:cNvPicPr>
            <a:picLocks noChangeAspect="1"/>
          </p:cNvPicPr>
          <p:nvPr/>
        </p:nvPicPr>
        <p:blipFill>
          <a:blip r:embed="rId7"/>
          <a:srcRect l="0" r="0" t="-1" b="-1"/>
          <a:stretch/>
        </p:blipFill>
        <p:spPr>
          <a:xfrm>
            <a:off x="12391949" y="1152144"/>
            <a:ext cx="5333695" cy="6476695"/>
          </a:xfrm>
          <a:prstGeom prst="rect">
            <a:avLst/>
          </a:prstGeom>
        </p:spPr>
      </p:pic>
      <p:sp>
        <p:nvSpPr>
          <p:cNvPr id="36" name="Text 26"/>
          <p:cNvSpPr txBox="1"/>
          <p:nvPr/>
        </p:nvSpPr>
        <p:spPr>
          <a:xfrm>
            <a:off x="12620549" y="6915607"/>
            <a:ext cx="1286561" cy="200254"/>
          </a:xfrm>
          <a:prstGeom prst="rect">
            <a:avLst/>
          </a:prstGeom>
          <a:noFill/>
          <a:ln/>
        </p:spPr>
        <p:txBody>
          <a:bodyPr wrap="none" lIns="0" tIns="0" rIns="0" bIns="0" rtlCol="0" anchor="ctr"/>
          <a:lstStyle/>
          <a:p>
            <a:pPr algn="l" indent="0" marL="0">
              <a:buNone/>
            </a:pPr>
            <a:r>
              <a:rPr lang="en-US" sz="1050" spc="189" kern="0" dirty="0">
                <a:solidFill>
                  <a:srgbClr val="FFFFFF"/>
                </a:solidFill>
                <a:latin typeface="IBM Plex Sans KR" pitchFamily="34" charset="0"/>
                <a:ea typeface="IBM Plex Sans KR" pitchFamily="34" charset="-122"/>
                <a:cs typeface="IBM Plex Sans KR" pitchFamily="34" charset="-120"/>
              </a:rPr>
              <a:t>Top-down SEM</a:t>
            </a:r>
            <a:endParaRPr lang="en-US" sz="1050" dirty="0"/>
          </a:p>
        </p:txBody>
      </p:sp>
      <p:sp>
        <p:nvSpPr>
          <p:cNvPr id="37" name="Text 27"/>
          <p:cNvSpPr txBox="1"/>
          <p:nvPr/>
        </p:nvSpPr>
        <p:spPr>
          <a:xfrm>
            <a:off x="12620549" y="7200900"/>
            <a:ext cx="3162910" cy="200254"/>
          </a:xfrm>
          <a:prstGeom prst="rect">
            <a:avLst/>
          </a:prstGeom>
          <a:noFill/>
          <a:ln/>
        </p:spPr>
        <p:txBody>
          <a:bodyPr wrap="none" lIns="0" tIns="0" rIns="0" bIns="0" rtlCol="0" anchor="ctr"/>
          <a:lstStyle/>
          <a:p>
            <a:pPr algn="l" indent="0" marL="0">
              <a:buNone/>
            </a:pPr>
            <a:r>
              <a:rPr lang="en-US" sz="1050" dirty="0">
                <a:solidFill>
                  <a:srgbClr val="FFFFFF"/>
                </a:solidFill>
                <a:latin typeface="IBM Plex Sans KR" pitchFamily="34" charset="0"/>
                <a:ea typeface="IBM Plex Sans KR" pitchFamily="34" charset="-122"/>
                <a:cs typeface="IBM Plex Sans KR" pitchFamily="34" charset="-120"/>
              </a:rPr>
              <a:t>EUV dense line / space, nominal 28 nm pitch</a:t>
            </a:r>
            <a:endParaRPr lang="en-US" sz="1050" dirty="0"/>
          </a:p>
        </p:txBody>
      </p:sp>
      <p:sp>
        <p:nvSpPr>
          <p:cNvPr id="38" name="Text 28"/>
          <p:cNvSpPr txBox="1"/>
          <p:nvPr/>
        </p:nvSpPr>
        <p:spPr>
          <a:xfrm>
            <a:off x="12382805" y="7753198"/>
            <a:ext cx="5334610" cy="210312"/>
          </a:xfrm>
          <a:prstGeom prst="rect">
            <a:avLst/>
          </a:prstGeom>
          <a:noFill/>
          <a:ln/>
        </p:spPr>
        <p:txBody>
          <a:bodyPr wrap="none" lIns="0" tIns="0" rIns="0" bIns="0" rtlCol="0" anchor="ctr"/>
          <a:lstStyle/>
          <a:p>
            <a:pPr algn="l" indent="0" marL="0">
              <a:buNone/>
            </a:pPr>
            <a:r>
              <a:rPr lang="en-US" sz="1125" dirty="0">
                <a:solidFill>
                  <a:srgbClr val="5C6B82"/>
                </a:solidFill>
                <a:latin typeface="IBM Plex Sans KR" pitchFamily="34" charset="0"/>
                <a:ea typeface="IBM Plex Sans KR" pitchFamily="34" charset="-122"/>
                <a:cs typeface="IBM Plex Sans KR" pitchFamily="34" charset="-120"/>
              </a:rPr>
              <a:t>출처: imec / Tech Xplore — 0.33 NA EUVL patterning 자료</a:t>
            </a:r>
            <a:endParaRPr lang="en-US" sz="1125" dirty="0"/>
          </a:p>
        </p:txBody>
      </p:sp>
      <p:sp>
        <p:nvSpPr>
          <p:cNvPr id="39" name="Text 29"/>
          <p:cNvSpPr txBox="1"/>
          <p:nvPr/>
        </p:nvSpPr>
        <p:spPr>
          <a:xfrm>
            <a:off x="571500" y="952805"/>
            <a:ext cx="12192610" cy="314554"/>
          </a:xfrm>
          <a:prstGeom prst="rect">
            <a:avLst/>
          </a:prstGeom>
          <a:noFill/>
          <a:ln/>
        </p:spPr>
        <p:txBody>
          <a:bodyPr wrap="none" lIns="0" tIns="0" rIns="0" bIns="0" rtlCol="0" anchor="ctr"/>
          <a:lstStyle/>
          <a:p>
            <a:pPr algn="l" indent="0" marL="0">
              <a:buNone/>
            </a:pPr>
            <a:r>
              <a:rPr lang="en-US" sz="1650" spc="297" kern="0" dirty="0">
                <a:solidFill>
                  <a:srgbClr val="5C6B82"/>
                </a:solidFill>
                <a:latin typeface="IBM Plex Sans KR" pitchFamily="34" charset="0"/>
                <a:ea typeface="IBM Plex Sans KR" pitchFamily="34" charset="-122"/>
                <a:cs typeface="IBM Plex Sans KR" pitchFamily="34" charset="-120"/>
              </a:rPr>
              <a:t>EU18 — Multi-patterning &amp; BEOL Evaluation</a:t>
            </a:r>
            <a:endParaRPr lang="en-US" sz="1650" dirty="0"/>
          </a:p>
        </p:txBody>
      </p:sp>
      <p:sp>
        <p:nvSpPr>
          <p:cNvPr id="40" name="Text 30"/>
          <p:cNvSpPr txBox="1"/>
          <p:nvPr/>
        </p:nvSpPr>
        <p:spPr>
          <a:xfrm>
            <a:off x="571500" y="1399946"/>
            <a:ext cx="12192610" cy="543154"/>
          </a:xfrm>
          <a:prstGeom prst="rect">
            <a:avLst/>
          </a:prstGeom>
          <a:noFill/>
          <a:ln/>
        </p:spPr>
        <p:txBody>
          <a:bodyPr wrap="none" lIns="0" tIns="0" rIns="0" bIns="0" rtlCol="0" anchor="ctr"/>
          <a:lstStyle/>
          <a:p>
            <a:pPr algn="l" indent="0" marL="0">
              <a:buNone/>
            </a:pPr>
            <a:r>
              <a:rPr lang="en-US" sz="4050" b="1" spc="-40" kern="0" dirty="0">
                <a:solidFill>
                  <a:srgbClr val="1B2C45"/>
                </a:solidFill>
                <a:latin typeface="IBM Plex Sans KR" pitchFamily="34" charset="0"/>
                <a:ea typeface="IBM Plex Sans KR" pitchFamily="34" charset="-122"/>
                <a:cs typeface="IBM Plex Sans KR" pitchFamily="34" charset="-120"/>
              </a:rPr>
              <a:t>실험 목적</a:t>
            </a:r>
            <a:endParaRPr lang="en-US" sz="4050" dirty="0"/>
          </a:p>
        </p:txBody>
      </p:sp>
      <p:pic>
        <p:nvPicPr>
          <p:cNvPr id="41" name="Image 7" descr="gen-dedup-5e2135935746597860324aad77e3eac5.png">    </p:cNvPr>
          <p:cNvPicPr>
            <a:picLocks noChangeAspect="1"/>
          </p:cNvPicPr>
          <p:nvPr/>
        </p:nvPicPr>
        <p:blipFill>
          <a:blip r:embed="rId8"/>
          <a:srcRect l="0" r="0" t="-400" b="-400"/>
          <a:stretch/>
        </p:blipFill>
        <p:spPr>
          <a:xfrm>
            <a:off x="571500" y="2168957"/>
            <a:ext cx="914400" cy="57607"/>
          </a:xfrm>
          <a:prstGeom prst="rect">
            <a:avLst/>
          </a:prstGeom>
        </p:spPr>
      </p:pic>
      <p:sp>
        <p:nvSpPr>
          <p:cNvPr id="42" name="Text 31"/>
          <p:cNvSpPr txBox="1"/>
          <p:nvPr/>
        </p:nvSpPr>
        <p:spPr>
          <a:xfrm>
            <a:off x="571500" y="2667305"/>
            <a:ext cx="11239805" cy="1543507"/>
          </a:xfrm>
          <a:prstGeom prst="rect">
            <a:avLst/>
          </a:prstGeom>
          <a:noFill/>
          <a:ln/>
        </p:spPr>
        <p:txBody>
          <a:bodyPr wrap="square" lIns="0" tIns="0" rIns="0" bIns="0" rtlCol="0" anchor="ctr"/>
          <a:lstStyle/>
          <a:p>
            <a:pPr algn="l" indent="0" marL="0">
              <a:lnSpc>
                <a:spcPts val="3023"/>
              </a:lnSpc>
              <a:buNone/>
            </a:pPr>
            <a:r>
              <a:rPr lang="en-US" sz="1950" dirty="0">
                <a:solidFill>
                  <a:srgbClr val="2F3D54"/>
                </a:solidFill>
                <a:latin typeface="IBM Plex Sans KR" pitchFamily="34" charset="0"/>
                <a:ea typeface="IBM Plex Sans KR" pitchFamily="34" charset="-122"/>
                <a:cs typeface="IBM Plex Sans KR" pitchFamily="34" charset="-120"/>
              </a:rPr>
              <a:t>M1 BEOL layer에서 동일 split lot을 대상으로 유기물 기반 </a:t>
            </a:r>
            <a:pPr algn="l" indent="0" marL="0">
              <a:lnSpc>
                <a:spcPts val="3023"/>
              </a:lnSpc>
              <a:buNone/>
            </a:pPr>
            <a:r>
              <a:rPr lang="en-US" sz="1950" b="1" dirty="0">
                <a:solidFill>
                  <a:srgbClr val="B85C46"/>
                </a:solidFill>
                <a:latin typeface="IBM Plex Sans KR" pitchFamily="34" charset="0"/>
                <a:ea typeface="IBM Plex Sans KR" pitchFamily="34" charset="-122"/>
                <a:cs typeface="IBM Plex Sans KR" pitchFamily="34" charset="-120"/>
              </a:rPr>
              <a:t>CAR</a:t>
            </a:r>
            <a:pPr algn="l" indent="0" marL="0">
              <a:lnSpc>
                <a:spcPts val="3023"/>
              </a:lnSpc>
              <a:buNone/>
            </a:pPr>
            <a:r>
              <a:rPr lang="en-US" sz="1950" dirty="0">
                <a:solidFill>
                  <a:srgbClr val="2F3D54"/>
                </a:solidFill>
                <a:latin typeface="IBM Plex Sans KR" pitchFamily="34" charset="0"/>
                <a:ea typeface="IBM Plex Sans KR" pitchFamily="34" charset="-122"/>
                <a:cs typeface="IBM Plex Sans KR" pitchFamily="34" charset="-120"/>
              </a:rPr>
              <a:t>과 무기물 기반 </a:t>
            </a:r>
            <a:pPr algn="l" indent="0" marL="0">
              <a:lnSpc>
                <a:spcPts val="3023"/>
              </a:lnSpc>
              <a:buNone/>
            </a:pPr>
            <a:r>
              <a:rPr lang="en-US" sz="1950" b="1" dirty="0">
                <a:solidFill>
                  <a:srgbClr val="2D6F8C"/>
                </a:solidFill>
                <a:latin typeface="IBM Plex Sans KR" pitchFamily="34" charset="0"/>
                <a:ea typeface="IBM Plex Sans KR" pitchFamily="34" charset="-122"/>
                <a:cs typeface="IBM Plex Sans KR" pitchFamily="34" charset="-120"/>
              </a:rPr>
              <a:t>MOR</a:t>
            </a:r>
            <a:pPr algn="l" indent="0" marL="0">
              <a:lnSpc>
                <a:spcPts val="3023"/>
              </a:lnSpc>
              <a:buNone/>
            </a:pPr>
            <a:r>
              <a:rPr lang="en-US" sz="1950" dirty="0">
                <a:solidFill>
                  <a:srgbClr val="2F3D54"/>
                </a:solidFill>
                <a:latin typeface="IBM Plex Sans KR" pitchFamily="34" charset="0"/>
                <a:ea typeface="IBM Plex Sans KR" pitchFamily="34" charset="-122"/>
                <a:cs typeface="IBM Plex Sans KR" pitchFamily="34" charset="-120"/>
              </a:rPr>
              <a:t> 레지스트의 EUV 다중 패터닝 거동을 정량 비교한다. 네 가지 CD 측정 영역 — AASI / ASEI / AMI / ACI — 에서 wafer별 평균·분산·편차 및 in-wafer 균일도, 25pt 지점 wafer map, 전기 특성까지 평가해 18 nm 피치급 BEOL에 적합한 레지스트 split을 판별한다.</a:t>
            </a:r>
            <a:endParaRPr lang="en-US" sz="1950" dirty="0"/>
          </a:p>
        </p:txBody>
      </p:sp>
      <p:sp>
        <p:nvSpPr>
          <p:cNvPr id="43" name="Shape 32"/>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44" name="Text 33"/>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45" name="Image 8" descr="gen-dedup-2384ac9fd3012b414377934d98f26f83.png">    </p:cNvPr>
          <p:cNvPicPr>
            <a:picLocks noChangeAspect="1"/>
          </p:cNvPicPr>
          <p:nvPr/>
        </p:nvPicPr>
        <p:blipFill>
          <a:blip r:embed="rId9"/>
          <a:srcRect l="0" r="0" t="-2083" b="-2083"/>
          <a:stretch/>
        </p:blipFill>
        <p:spPr>
          <a:xfrm>
            <a:off x="2288743" y="8934602"/>
            <a:ext cx="9144" cy="228600"/>
          </a:xfrm>
          <a:prstGeom prst="rect">
            <a:avLst/>
          </a:prstGeom>
        </p:spPr>
      </p:pic>
      <p:sp>
        <p:nvSpPr>
          <p:cNvPr id="46" name="Text 34"/>
          <p:cNvSpPr txBox="1"/>
          <p:nvPr/>
        </p:nvSpPr>
        <p:spPr>
          <a:xfrm>
            <a:off x="2469794" y="8915400"/>
            <a:ext cx="10249510"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동일 M1 BEOL split lot에서 CAR 3매와 MOR 3매를 동일 메트릭으로 평가해 dose–blur–균일도 trade-off를 정량 비교한다.</a:t>
            </a:r>
            <a:endParaRPr lang="en-US" sz="1500" dirty="0"/>
          </a:p>
        </p:txBody>
      </p:sp>
      <p:sp>
        <p:nvSpPr>
          <p:cNvPr id="47" name="Text 35"/>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CAR vs MOR · M1 · 6 wafer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14287500" y="857707"/>
            <a:ext cx="3620110" cy="2229307"/>
          </a:xfrm>
          <a:prstGeom prst="rect">
            <a:avLst/>
          </a:prstGeom>
          <a:noFill/>
          <a:ln/>
        </p:spPr>
        <p:txBody>
          <a:bodyPr wrap="none" lIns="0" tIns="0" rIns="0" bIns="0" rtlCol="0" anchor="ctr"/>
          <a:lstStyle/>
          <a:p>
            <a:pPr algn="r" indent="0" marL="0">
              <a:buNone/>
            </a:pPr>
            <a:r>
              <a:rPr lang="en-US" sz="19500" b="1" spc="-975" kern="0" dirty="0">
                <a:solidFill>
                  <a:srgbClr val="1B2C45">
                    <a:alpha val="55000"/>
                  </a:srgbClr>
                </a:solidFill>
                <a:latin typeface="IBM Plex Sans KR" pitchFamily="34" charset="0"/>
                <a:ea typeface="IBM Plex Sans KR" pitchFamily="34" charset="-122"/>
                <a:cs typeface="IBM Plex Sans KR" pitchFamily="34" charset="-120"/>
              </a:rPr>
              <a:t>02</a:t>
            </a:r>
            <a:endParaRPr lang="en-US" sz="19500" dirty="0"/>
          </a:p>
        </p:txBody>
      </p:sp>
      <p:sp>
        <p:nvSpPr>
          <p:cNvPr id="5" name="Shape 1"/>
          <p:cNvSpPr/>
          <p:nvPr/>
        </p:nvSpPr>
        <p:spPr>
          <a:xfrm>
            <a:off x="571500" y="7048195"/>
            <a:ext cx="5600700" cy="761695"/>
          </a:xfrm>
          <a:prstGeom prst="rect">
            <a:avLst/>
          </a:prstGeom>
          <a:solidFill>
            <a:srgbClr val="FFFFFF"/>
          </a:solidFill>
          <a:ln w="12700">
            <a:solidFill>
              <a:srgbClr val="C4CDD9"/>
            </a:solidFill>
            <a:prstDash val="solid"/>
          </a:ln>
        </p:spPr>
      </p:sp>
      <p:sp>
        <p:nvSpPr>
          <p:cNvPr id="6" name="Text 2"/>
          <p:cNvSpPr txBox="1"/>
          <p:nvPr/>
        </p:nvSpPr>
        <p:spPr>
          <a:xfrm>
            <a:off x="790956" y="7229246"/>
            <a:ext cx="1580083" cy="400507"/>
          </a:xfrm>
          <a:prstGeom prst="rect">
            <a:avLst/>
          </a:prstGeom>
          <a:noFill/>
          <a:ln/>
        </p:spPr>
        <p:txBody>
          <a:bodyPr wrap="none" lIns="0" tIns="0" rIns="0" bIns="0" rtlCol="0" anchor="ctr"/>
          <a:lstStyle/>
          <a:p>
            <a:pPr algn="l" indent="0" marL="0">
              <a:buNone/>
            </a:pPr>
            <a:r>
              <a:rPr lang="en-US" sz="3150" b="1" dirty="0">
                <a:solidFill>
                  <a:srgbClr val="1B2C45"/>
                </a:solidFill>
                <a:latin typeface="IBM Plex Sans KR" pitchFamily="34" charset="0"/>
                <a:ea typeface="IBM Plex Sans KR" pitchFamily="34" charset="-122"/>
                <a:cs typeface="IBM Plex Sans KR" pitchFamily="34" charset="-120"/>
              </a:rPr>
              <a:t>6</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wfrs</a:t>
            </a:r>
            <a:endParaRPr lang="en-US" sz="3150" dirty="0"/>
          </a:p>
        </p:txBody>
      </p:sp>
      <p:pic>
        <p:nvPicPr>
          <p:cNvPr id="7" name="Image 1" descr="gen-dedup-f65307ead209c4aa6a3a84b137b2e702.png">    </p:cNvPr>
          <p:cNvPicPr>
            <a:picLocks noChangeAspect="1"/>
          </p:cNvPicPr>
          <p:nvPr/>
        </p:nvPicPr>
        <p:blipFill>
          <a:blip r:embed="rId2"/>
          <a:srcRect l="0" r="0" t="-2105" b="-2105"/>
          <a:stretch/>
        </p:blipFill>
        <p:spPr>
          <a:xfrm>
            <a:off x="2104949" y="7248449"/>
            <a:ext cx="9144" cy="362102"/>
          </a:xfrm>
          <a:prstGeom prst="rect">
            <a:avLst/>
          </a:prstGeom>
        </p:spPr>
      </p:pic>
      <p:sp>
        <p:nvSpPr>
          <p:cNvPr id="8" name="Text 3"/>
          <p:cNvSpPr txBox="1"/>
          <p:nvPr/>
        </p:nvSpPr>
        <p:spPr>
          <a:xfrm>
            <a:off x="2286000" y="7214616"/>
            <a:ext cx="972007" cy="415138"/>
          </a:xfrm>
          <a:prstGeom prst="rect">
            <a:avLst/>
          </a:prstGeom>
          <a:noFill/>
          <a:ln/>
        </p:spPr>
        <p:txBody>
          <a:bodyPr wrap="square" lIns="0" tIns="0" rIns="0" bIns="0" rtlCol="0" anchor="t"/>
          <a:lstStyle/>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300 mm wafer,</a:t>
            </a:r>
            <a:pPr algn="l" indent="0" marL="0">
              <a:lnSpc>
                <a:spcPts val="1575"/>
              </a:lnSpc>
              <a:buNone/>
            </a:pPr>
            <a:endParaRPr lang="en-US" sz="1125" dirty="0"/>
          </a:p>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CAR 3 · MOR 3</a:t>
            </a:r>
            <a:endParaRPr lang="en-US" sz="1125" dirty="0"/>
          </a:p>
        </p:txBody>
      </p:sp>
      <p:sp>
        <p:nvSpPr>
          <p:cNvPr id="9" name="Shape 4"/>
          <p:cNvSpPr/>
          <p:nvPr/>
        </p:nvSpPr>
        <p:spPr>
          <a:xfrm>
            <a:off x="6344107" y="7048195"/>
            <a:ext cx="5600700" cy="761695"/>
          </a:xfrm>
          <a:prstGeom prst="rect">
            <a:avLst/>
          </a:prstGeom>
          <a:solidFill>
            <a:srgbClr val="FFFFFF"/>
          </a:solidFill>
          <a:ln w="12700">
            <a:solidFill>
              <a:srgbClr val="C4CDD9"/>
            </a:solidFill>
            <a:prstDash val="solid"/>
          </a:ln>
        </p:spPr>
      </p:sp>
      <p:sp>
        <p:nvSpPr>
          <p:cNvPr id="10" name="Text 5"/>
          <p:cNvSpPr txBox="1"/>
          <p:nvPr/>
        </p:nvSpPr>
        <p:spPr>
          <a:xfrm>
            <a:off x="6562649" y="7229246"/>
            <a:ext cx="1956816" cy="400507"/>
          </a:xfrm>
          <a:prstGeom prst="rect">
            <a:avLst/>
          </a:prstGeom>
          <a:noFill/>
          <a:ln/>
        </p:spPr>
        <p:txBody>
          <a:bodyPr wrap="none" lIns="0" tIns="0" rIns="0" bIns="0" rtlCol="0" anchor="ctr"/>
          <a:lstStyle/>
          <a:p>
            <a:pPr algn="l" indent="0" marL="0">
              <a:buNone/>
            </a:pPr>
            <a:r>
              <a:rPr lang="en-US" sz="3150" b="1" dirty="0">
                <a:solidFill>
                  <a:srgbClr val="1B2C45"/>
                </a:solidFill>
                <a:latin typeface="IBM Plex Sans KR" pitchFamily="34" charset="0"/>
                <a:ea typeface="IBM Plex Sans KR" pitchFamily="34" charset="-122"/>
                <a:cs typeface="IBM Plex Sans KR" pitchFamily="34" charset="-120"/>
              </a:rPr>
              <a:t>25</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pt/wafer</a:t>
            </a:r>
            <a:endParaRPr lang="en-US" sz="3150" dirty="0"/>
          </a:p>
        </p:txBody>
      </p:sp>
      <p:pic>
        <p:nvPicPr>
          <p:cNvPr id="11" name="Image 2" descr="gen-dedup-f65307ead209c4aa6a3a84b137b2e702.png">    </p:cNvPr>
          <p:cNvPicPr>
            <a:picLocks noChangeAspect="1"/>
          </p:cNvPicPr>
          <p:nvPr/>
        </p:nvPicPr>
        <p:blipFill>
          <a:blip r:embed="rId3"/>
          <a:srcRect l="0" r="0" t="-2105" b="-2105"/>
          <a:stretch/>
        </p:blipFill>
        <p:spPr>
          <a:xfrm>
            <a:off x="7968996" y="7248449"/>
            <a:ext cx="9144" cy="362102"/>
          </a:xfrm>
          <a:prstGeom prst="rect">
            <a:avLst/>
          </a:prstGeom>
        </p:spPr>
      </p:pic>
      <p:sp>
        <p:nvSpPr>
          <p:cNvPr id="12" name="Text 6"/>
          <p:cNvSpPr txBox="1"/>
          <p:nvPr/>
        </p:nvSpPr>
        <p:spPr>
          <a:xfrm>
            <a:off x="8150047" y="7214616"/>
            <a:ext cx="962863" cy="415138"/>
          </a:xfrm>
          <a:prstGeom prst="rect">
            <a:avLst/>
          </a:prstGeom>
          <a:noFill/>
          <a:ln/>
        </p:spPr>
        <p:txBody>
          <a:bodyPr wrap="square" lIns="0" tIns="0" rIns="0" bIns="0" rtlCol="0" anchor="t"/>
          <a:lstStyle/>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CD 측정 점수,</a:t>
            </a:r>
            <a:pPr algn="l" indent="0" marL="0">
              <a:lnSpc>
                <a:spcPts val="1575"/>
              </a:lnSpc>
              <a:buNone/>
            </a:pPr>
            <a:endParaRPr lang="en-US" sz="1125" dirty="0"/>
          </a:p>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균일도 산출 단위</a:t>
            </a:r>
            <a:endParaRPr lang="en-US" sz="1125" dirty="0"/>
          </a:p>
        </p:txBody>
      </p:sp>
      <p:sp>
        <p:nvSpPr>
          <p:cNvPr id="13" name="Shape 7"/>
          <p:cNvSpPr/>
          <p:nvPr/>
        </p:nvSpPr>
        <p:spPr>
          <a:xfrm>
            <a:off x="12115800" y="7048195"/>
            <a:ext cx="5600700" cy="761695"/>
          </a:xfrm>
          <a:prstGeom prst="rect">
            <a:avLst/>
          </a:prstGeom>
          <a:solidFill>
            <a:srgbClr val="FFFFFF"/>
          </a:solidFill>
          <a:ln w="12700">
            <a:solidFill>
              <a:srgbClr val="C4CDD9"/>
            </a:solidFill>
            <a:prstDash val="solid"/>
          </a:ln>
        </p:spPr>
      </p:sp>
      <p:sp>
        <p:nvSpPr>
          <p:cNvPr id="14" name="Text 8"/>
          <p:cNvSpPr txBox="1"/>
          <p:nvPr/>
        </p:nvSpPr>
        <p:spPr>
          <a:xfrm>
            <a:off x="12335256" y="7229246"/>
            <a:ext cx="1805940" cy="400507"/>
          </a:xfrm>
          <a:prstGeom prst="rect">
            <a:avLst/>
          </a:prstGeom>
          <a:noFill/>
          <a:ln/>
        </p:spPr>
        <p:txBody>
          <a:bodyPr wrap="none" lIns="0" tIns="0" rIns="0" bIns="0" rtlCol="0" anchor="ctr"/>
          <a:lstStyle/>
          <a:p>
            <a:pPr algn="l" indent="0" marL="0">
              <a:buNone/>
            </a:pPr>
            <a:r>
              <a:rPr lang="en-US" sz="3150" b="1" dirty="0">
                <a:solidFill>
                  <a:srgbClr val="1B2C45"/>
                </a:solidFill>
                <a:latin typeface="IBM Plex Sans KR" pitchFamily="34" charset="0"/>
                <a:ea typeface="IBM Plex Sans KR" pitchFamily="34" charset="-122"/>
                <a:cs typeface="IBM Plex Sans KR" pitchFamily="34" charset="-120"/>
              </a:rPr>
              <a:t>4</a:t>
            </a:r>
            <a:pPr algn="l" indent="0" marL="0">
              <a:buNone/>
            </a:pPr>
            <a:r>
              <a:rPr lang="en-US" sz="1350" b="1" dirty="0">
                <a:solidFill>
                  <a:srgbClr val="5C6B82"/>
                </a:solidFill>
                <a:latin typeface="IBM Plex Sans KR" pitchFamily="34" charset="0"/>
                <a:ea typeface="IBM Plex Sans KR" pitchFamily="34" charset="-122"/>
                <a:cs typeface="IBM Plex Sans KR" pitchFamily="34" charset="-120"/>
              </a:rPr>
              <a:t>metrics</a:t>
            </a:r>
            <a:endParaRPr lang="en-US" sz="3150" dirty="0"/>
          </a:p>
        </p:txBody>
      </p:sp>
      <p:pic>
        <p:nvPicPr>
          <p:cNvPr id="15" name="Image 3" descr="gen-dedup-f65307ead209c4aa6a3a84b137b2e702.png">    </p:cNvPr>
          <p:cNvPicPr>
            <a:picLocks noChangeAspect="1"/>
          </p:cNvPicPr>
          <p:nvPr/>
        </p:nvPicPr>
        <p:blipFill>
          <a:blip r:embed="rId4"/>
          <a:srcRect l="0" r="0" t="-2105" b="-2105"/>
          <a:stretch/>
        </p:blipFill>
        <p:spPr>
          <a:xfrm>
            <a:off x="13649249" y="7248449"/>
            <a:ext cx="9144" cy="362102"/>
          </a:xfrm>
          <a:prstGeom prst="rect">
            <a:avLst/>
          </a:prstGeom>
        </p:spPr>
      </p:pic>
      <p:sp>
        <p:nvSpPr>
          <p:cNvPr id="16" name="Text 9"/>
          <p:cNvSpPr txBox="1"/>
          <p:nvPr/>
        </p:nvSpPr>
        <p:spPr>
          <a:xfrm>
            <a:off x="13830300" y="7214616"/>
            <a:ext cx="1485900" cy="415138"/>
          </a:xfrm>
          <a:prstGeom prst="rect">
            <a:avLst/>
          </a:prstGeom>
          <a:noFill/>
          <a:ln/>
        </p:spPr>
        <p:txBody>
          <a:bodyPr wrap="square" lIns="0" tIns="0" rIns="0" bIns="0" rtlCol="0" anchor="t"/>
          <a:lstStyle/>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AASI · ASEI · AMI · ACI</a:t>
            </a:r>
            <a:pPr algn="l" indent="0" marL="0">
              <a:lnSpc>
                <a:spcPts val="1575"/>
              </a:lnSpc>
              <a:buNone/>
            </a:pPr>
            <a:endParaRPr lang="en-US" sz="1125" dirty="0"/>
          </a:p>
          <a:p>
            <a:pPr algn="l" indent="0" marL="0">
              <a:lnSpc>
                <a:spcPts val="1575"/>
              </a:lnSpc>
              <a:buNone/>
            </a:pPr>
            <a:r>
              <a:rPr lang="en-US" sz="1125" dirty="0">
                <a:solidFill>
                  <a:srgbClr val="5C6B82"/>
                </a:solidFill>
                <a:latin typeface="IBM Plex Sans KR" pitchFamily="34" charset="0"/>
                <a:ea typeface="IBM Plex Sans KR" pitchFamily="34" charset="-122"/>
                <a:cs typeface="IBM Plex Sans KR" pitchFamily="34" charset="-120"/>
              </a:rPr>
              <a:t>단일 lot 일관 측정</a:t>
            </a:r>
            <a:endParaRPr lang="en-US" sz="1125" dirty="0"/>
          </a:p>
        </p:txBody>
      </p:sp>
      <p:sp>
        <p:nvSpPr>
          <p:cNvPr id="17" name="Text 10"/>
          <p:cNvSpPr txBox="1"/>
          <p:nvPr/>
        </p:nvSpPr>
        <p:spPr>
          <a:xfrm>
            <a:off x="571500" y="571500"/>
            <a:ext cx="14287500" cy="257861"/>
          </a:xfrm>
          <a:prstGeom prst="rect">
            <a:avLst/>
          </a:prstGeom>
          <a:noFill/>
          <a:ln/>
        </p:spPr>
        <p:txBody>
          <a:bodyPr wrap="none" lIns="0" tIns="0" rIns="0" bIns="0" rtlCol="0" anchor="ctr"/>
          <a:lstStyle/>
          <a:p>
            <a:pPr algn="l" indent="0" marL="0">
              <a:buNone/>
            </a:pPr>
            <a:r>
              <a:rPr lang="en-US" sz="1350" spc="297" kern="0" dirty="0">
                <a:solidFill>
                  <a:srgbClr val="5C6B82"/>
                </a:solidFill>
                <a:latin typeface="IBM Plex Sans KR" pitchFamily="34" charset="0"/>
                <a:ea typeface="IBM Plex Sans KR" pitchFamily="34" charset="-122"/>
                <a:cs typeface="IBM Plex Sans KR" pitchFamily="34" charset="-120"/>
              </a:rPr>
              <a:t>Experimental conditions</a:t>
            </a:r>
            <a:endParaRPr lang="en-US" sz="1350" dirty="0"/>
          </a:p>
        </p:txBody>
      </p:sp>
      <p:sp>
        <p:nvSpPr>
          <p:cNvPr id="18" name="Text 11"/>
          <p:cNvSpPr txBox="1"/>
          <p:nvPr/>
        </p:nvSpPr>
        <p:spPr>
          <a:xfrm>
            <a:off x="571500" y="905256"/>
            <a:ext cx="1428750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실험 조건 — wafer 6매, split 2종, M1 layer</a:t>
            </a:r>
            <a:endParaRPr lang="en-US" sz="3450" dirty="0"/>
          </a:p>
        </p:txBody>
      </p:sp>
      <p:pic>
        <p:nvPicPr>
          <p:cNvPr id="19" name="Image 4" descr="gen-dedup-9ae55472b901721cbf9db1193a4c472d.png">    </p:cNvPr>
          <p:cNvPicPr>
            <a:picLocks noChangeAspect="1"/>
          </p:cNvPicPr>
          <p:nvPr/>
        </p:nvPicPr>
        <p:blipFill>
          <a:blip r:embed="rId5"/>
          <a:srcRect l="-80" r="-80" t="0" b="0"/>
          <a:stretch/>
        </p:blipFill>
        <p:spPr>
          <a:xfrm>
            <a:off x="571500" y="1555394"/>
            <a:ext cx="800100" cy="47549"/>
          </a:xfrm>
          <a:prstGeom prst="rect">
            <a:avLst/>
          </a:prstGeom>
        </p:spPr>
      </p:pic>
      <p:pic>
        <p:nvPicPr>
          <p:cNvPr id="20" name="Image 5" descr="gen-dedup-a8dbdd483bd98ed162c5335ff7a2180d.png">    </p:cNvPr>
          <p:cNvPicPr>
            <a:picLocks noChangeAspect="1"/>
          </p:cNvPicPr>
          <p:nvPr/>
        </p:nvPicPr>
        <p:blipFill>
          <a:blip r:embed="rId6"/>
          <a:srcRect l="0" r="0" t="-400" b="-400"/>
          <a:stretch/>
        </p:blipFill>
        <p:spPr>
          <a:xfrm>
            <a:off x="571500" y="2433218"/>
            <a:ext cx="342900" cy="19202"/>
          </a:xfrm>
          <a:prstGeom prst="rect">
            <a:avLst/>
          </a:prstGeom>
        </p:spPr>
      </p:pic>
      <p:sp>
        <p:nvSpPr>
          <p:cNvPr id="21" name="Text 12"/>
          <p:cNvSpPr txBox="1"/>
          <p:nvPr/>
        </p:nvSpPr>
        <p:spPr>
          <a:xfrm>
            <a:off x="1047902" y="2286000"/>
            <a:ext cx="1077163"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Wafer lot</a:t>
            </a:r>
            <a:endParaRPr lang="en-US" sz="1650" dirty="0"/>
          </a:p>
        </p:txBody>
      </p:sp>
      <p:sp>
        <p:nvSpPr>
          <p:cNvPr id="22" name="Text 13"/>
          <p:cNvSpPr txBox="1"/>
          <p:nvPr/>
        </p:nvSpPr>
        <p:spPr>
          <a:xfrm>
            <a:off x="2085746" y="2328977"/>
            <a:ext cx="3230575"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 6 wafer, EUV exposed, M1 BEOL layer</a:t>
            </a:r>
            <a:endParaRPr lang="en-US" sz="1200" dirty="0"/>
          </a:p>
        </p:txBody>
      </p:sp>
      <p:sp>
        <p:nvSpPr>
          <p:cNvPr id="23" name="Shape 14"/>
          <p:cNvSpPr/>
          <p:nvPr/>
        </p:nvSpPr>
        <p:spPr>
          <a:xfrm>
            <a:off x="571500" y="2857500"/>
            <a:ext cx="11811305" cy="552298"/>
          </a:xfrm>
          <a:prstGeom prst="rect">
            <a:avLst/>
          </a:prstGeom>
          <a:solidFill>
            <a:srgbClr val="1B2C45"/>
          </a:solidFill>
          <a:ln w="12700">
            <a:solidFill>
              <a:srgbClr val="FFFFFF">
                <a:alpha val="0"/>
              </a:srgbClr>
            </a:solidFill>
            <a:prstDash val="solid"/>
          </a:ln>
        </p:spPr>
      </p:sp>
      <p:sp>
        <p:nvSpPr>
          <p:cNvPr id="24" name="Text 15"/>
          <p:cNvSpPr txBox="1"/>
          <p:nvPr/>
        </p:nvSpPr>
        <p:spPr>
          <a:xfrm>
            <a:off x="571500" y="2857500"/>
            <a:ext cx="1714500" cy="553212"/>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Wafer ID</a:t>
            </a:r>
            <a:endParaRPr lang="en-US" sz="1500" dirty="0"/>
          </a:p>
        </p:txBody>
      </p:sp>
      <p:sp>
        <p:nvSpPr>
          <p:cNvPr id="25" name="Text 16"/>
          <p:cNvSpPr txBox="1"/>
          <p:nvPr/>
        </p:nvSpPr>
        <p:spPr>
          <a:xfrm>
            <a:off x="2286000" y="2857500"/>
            <a:ext cx="1905610" cy="553212"/>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Split</a:t>
            </a:r>
            <a:endParaRPr lang="en-US" sz="1500" dirty="0"/>
          </a:p>
        </p:txBody>
      </p:sp>
      <p:sp>
        <p:nvSpPr>
          <p:cNvPr id="26" name="Text 17"/>
          <p:cNvSpPr txBox="1"/>
          <p:nvPr/>
        </p:nvSpPr>
        <p:spPr>
          <a:xfrm>
            <a:off x="4190695" y="2857500"/>
            <a:ext cx="2286000" cy="553212"/>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Resist</a:t>
            </a:r>
            <a:endParaRPr lang="en-US" sz="1500" dirty="0"/>
          </a:p>
        </p:txBody>
      </p:sp>
      <p:sp>
        <p:nvSpPr>
          <p:cNvPr id="27" name="Text 18"/>
          <p:cNvSpPr txBox="1"/>
          <p:nvPr/>
        </p:nvSpPr>
        <p:spPr>
          <a:xfrm>
            <a:off x="6476695" y="2857500"/>
            <a:ext cx="2134210" cy="553212"/>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Dose (mJ/cm²)</a:t>
            </a:r>
            <a:endParaRPr lang="en-US" sz="1500" dirty="0"/>
          </a:p>
        </p:txBody>
      </p:sp>
      <p:sp>
        <p:nvSpPr>
          <p:cNvPr id="28" name="Text 19"/>
          <p:cNvSpPr txBox="1"/>
          <p:nvPr/>
        </p:nvSpPr>
        <p:spPr>
          <a:xfrm>
            <a:off x="8609990" y="2857500"/>
            <a:ext cx="1448410" cy="553212"/>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PEB (°C)</a:t>
            </a:r>
            <a:endParaRPr lang="en-US" sz="1500" dirty="0"/>
          </a:p>
        </p:txBody>
      </p:sp>
      <p:sp>
        <p:nvSpPr>
          <p:cNvPr id="29" name="Text 20"/>
          <p:cNvSpPr txBox="1"/>
          <p:nvPr/>
        </p:nvSpPr>
        <p:spPr>
          <a:xfrm>
            <a:off x="10049256" y="2857500"/>
            <a:ext cx="2334463" cy="553212"/>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Field count</a:t>
            </a:r>
            <a:endParaRPr lang="en-US" sz="1500" dirty="0"/>
          </a:p>
        </p:txBody>
      </p:sp>
      <p:sp>
        <p:nvSpPr>
          <p:cNvPr id="30" name="Shape 21"/>
          <p:cNvSpPr/>
          <p:nvPr/>
        </p:nvSpPr>
        <p:spPr>
          <a:xfrm>
            <a:off x="571500" y="3972154"/>
            <a:ext cx="11811305" cy="9144"/>
          </a:xfrm>
          <a:prstGeom prst="rect">
            <a:avLst/>
          </a:prstGeom>
          <a:solidFill>
            <a:srgbClr val="D6DCE5"/>
          </a:solidFill>
          <a:ln w="12700">
            <a:solidFill>
              <a:srgbClr val="D6DCE5">
                <a:alpha val="0"/>
              </a:srgbClr>
            </a:solidFill>
            <a:prstDash val="solid"/>
          </a:ln>
        </p:spPr>
      </p:sp>
      <p:sp>
        <p:nvSpPr>
          <p:cNvPr id="31" name="Text 22"/>
          <p:cNvSpPr txBox="1"/>
          <p:nvPr/>
        </p:nvSpPr>
        <p:spPr>
          <a:xfrm>
            <a:off x="571500" y="3409798"/>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W01</a:t>
            </a:r>
            <a:endParaRPr lang="en-US" sz="1500" dirty="0"/>
          </a:p>
        </p:txBody>
      </p:sp>
      <p:sp>
        <p:nvSpPr>
          <p:cNvPr id="32" name="Text 23"/>
          <p:cNvSpPr txBox="1"/>
          <p:nvPr/>
        </p:nvSpPr>
        <p:spPr>
          <a:xfrm>
            <a:off x="4190695" y="3409798"/>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Polymer resin + PAG</a:t>
            </a:r>
            <a:endParaRPr lang="en-US" sz="1500" dirty="0"/>
          </a:p>
        </p:txBody>
      </p:sp>
      <p:sp>
        <p:nvSpPr>
          <p:cNvPr id="33" name="Text 24"/>
          <p:cNvSpPr txBox="1"/>
          <p:nvPr/>
        </p:nvSpPr>
        <p:spPr>
          <a:xfrm>
            <a:off x="6476695" y="3409798"/>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82.0</a:t>
            </a:r>
            <a:endParaRPr lang="en-US" sz="1500" dirty="0"/>
          </a:p>
        </p:txBody>
      </p:sp>
      <p:sp>
        <p:nvSpPr>
          <p:cNvPr id="34" name="Text 25"/>
          <p:cNvSpPr txBox="1"/>
          <p:nvPr/>
        </p:nvSpPr>
        <p:spPr>
          <a:xfrm>
            <a:off x="8609990" y="3409798"/>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110</a:t>
            </a:r>
            <a:endParaRPr lang="en-US" sz="1500" dirty="0"/>
          </a:p>
        </p:txBody>
      </p:sp>
      <p:sp>
        <p:nvSpPr>
          <p:cNvPr id="35" name="Text 26"/>
          <p:cNvSpPr txBox="1"/>
          <p:nvPr/>
        </p:nvSpPr>
        <p:spPr>
          <a:xfrm>
            <a:off x="10049256" y="3409798"/>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36" name="Shape 27"/>
          <p:cNvSpPr/>
          <p:nvPr/>
        </p:nvSpPr>
        <p:spPr>
          <a:xfrm>
            <a:off x="571500" y="3976726"/>
            <a:ext cx="11811305" cy="571500"/>
          </a:xfrm>
          <a:prstGeom prst="rect">
            <a:avLst/>
          </a:prstGeom>
          <a:solidFill>
            <a:srgbClr val="F7F8FB"/>
          </a:solidFill>
          <a:ln/>
        </p:spPr>
      </p:sp>
      <p:sp>
        <p:nvSpPr>
          <p:cNvPr id="37" name="Shape 28"/>
          <p:cNvSpPr/>
          <p:nvPr/>
        </p:nvSpPr>
        <p:spPr>
          <a:xfrm>
            <a:off x="571500" y="4539082"/>
            <a:ext cx="11811305" cy="9144"/>
          </a:xfrm>
          <a:prstGeom prst="rect">
            <a:avLst/>
          </a:prstGeom>
          <a:solidFill>
            <a:srgbClr val="D6DCE5"/>
          </a:solidFill>
          <a:ln w="12700">
            <a:solidFill>
              <a:srgbClr val="D6DCE5">
                <a:alpha val="0"/>
              </a:srgbClr>
            </a:solidFill>
            <a:prstDash val="solid"/>
          </a:ln>
        </p:spPr>
      </p:sp>
      <p:sp>
        <p:nvSpPr>
          <p:cNvPr id="38" name="Text 29"/>
          <p:cNvSpPr txBox="1"/>
          <p:nvPr/>
        </p:nvSpPr>
        <p:spPr>
          <a:xfrm>
            <a:off x="571500" y="3976726"/>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W02</a:t>
            </a:r>
            <a:endParaRPr lang="en-US" sz="1500" dirty="0"/>
          </a:p>
        </p:txBody>
      </p:sp>
      <p:sp>
        <p:nvSpPr>
          <p:cNvPr id="39" name="Text 30"/>
          <p:cNvSpPr txBox="1"/>
          <p:nvPr/>
        </p:nvSpPr>
        <p:spPr>
          <a:xfrm>
            <a:off x="4190695" y="3976726"/>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Polymer resin + PAG</a:t>
            </a:r>
            <a:endParaRPr lang="en-US" sz="1500" dirty="0"/>
          </a:p>
        </p:txBody>
      </p:sp>
      <p:sp>
        <p:nvSpPr>
          <p:cNvPr id="40" name="Text 31"/>
          <p:cNvSpPr txBox="1"/>
          <p:nvPr/>
        </p:nvSpPr>
        <p:spPr>
          <a:xfrm>
            <a:off x="6476695" y="3976726"/>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81.5</a:t>
            </a:r>
            <a:endParaRPr lang="en-US" sz="1500" dirty="0"/>
          </a:p>
        </p:txBody>
      </p:sp>
      <p:sp>
        <p:nvSpPr>
          <p:cNvPr id="41" name="Text 32"/>
          <p:cNvSpPr txBox="1"/>
          <p:nvPr/>
        </p:nvSpPr>
        <p:spPr>
          <a:xfrm>
            <a:off x="8609990" y="3976726"/>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110</a:t>
            </a:r>
            <a:endParaRPr lang="en-US" sz="1500" dirty="0"/>
          </a:p>
        </p:txBody>
      </p:sp>
      <p:sp>
        <p:nvSpPr>
          <p:cNvPr id="42" name="Text 33"/>
          <p:cNvSpPr txBox="1"/>
          <p:nvPr/>
        </p:nvSpPr>
        <p:spPr>
          <a:xfrm>
            <a:off x="10049256" y="3976726"/>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43" name="Shape 34"/>
          <p:cNvSpPr/>
          <p:nvPr/>
        </p:nvSpPr>
        <p:spPr>
          <a:xfrm>
            <a:off x="571500" y="5110582"/>
            <a:ext cx="11811305" cy="9144"/>
          </a:xfrm>
          <a:prstGeom prst="rect">
            <a:avLst/>
          </a:prstGeom>
          <a:solidFill>
            <a:srgbClr val="D6DCE5"/>
          </a:solidFill>
          <a:ln w="12700">
            <a:solidFill>
              <a:srgbClr val="D6DCE5">
                <a:alpha val="0"/>
              </a:srgbClr>
            </a:solidFill>
            <a:prstDash val="solid"/>
          </a:ln>
        </p:spPr>
      </p:sp>
      <p:sp>
        <p:nvSpPr>
          <p:cNvPr id="44" name="Text 35"/>
          <p:cNvSpPr txBox="1"/>
          <p:nvPr/>
        </p:nvSpPr>
        <p:spPr>
          <a:xfrm>
            <a:off x="571500" y="4548226"/>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W03</a:t>
            </a:r>
            <a:endParaRPr lang="en-US" sz="1500" dirty="0"/>
          </a:p>
        </p:txBody>
      </p:sp>
      <p:sp>
        <p:nvSpPr>
          <p:cNvPr id="45" name="Text 36"/>
          <p:cNvSpPr txBox="1"/>
          <p:nvPr/>
        </p:nvSpPr>
        <p:spPr>
          <a:xfrm>
            <a:off x="4190695" y="4548226"/>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Polymer resin + PAG</a:t>
            </a:r>
            <a:endParaRPr lang="en-US" sz="1500" dirty="0"/>
          </a:p>
        </p:txBody>
      </p:sp>
      <p:sp>
        <p:nvSpPr>
          <p:cNvPr id="46" name="Text 37"/>
          <p:cNvSpPr txBox="1"/>
          <p:nvPr/>
        </p:nvSpPr>
        <p:spPr>
          <a:xfrm>
            <a:off x="6476695" y="4548226"/>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82.5</a:t>
            </a:r>
            <a:endParaRPr lang="en-US" sz="1500" dirty="0"/>
          </a:p>
        </p:txBody>
      </p:sp>
      <p:sp>
        <p:nvSpPr>
          <p:cNvPr id="47" name="Text 38"/>
          <p:cNvSpPr txBox="1"/>
          <p:nvPr/>
        </p:nvSpPr>
        <p:spPr>
          <a:xfrm>
            <a:off x="8609990" y="4548226"/>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110</a:t>
            </a:r>
            <a:endParaRPr lang="en-US" sz="1500" dirty="0"/>
          </a:p>
        </p:txBody>
      </p:sp>
      <p:sp>
        <p:nvSpPr>
          <p:cNvPr id="48" name="Text 39"/>
          <p:cNvSpPr txBox="1"/>
          <p:nvPr/>
        </p:nvSpPr>
        <p:spPr>
          <a:xfrm>
            <a:off x="10049256" y="4548226"/>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49" name="Shape 40"/>
          <p:cNvSpPr/>
          <p:nvPr/>
        </p:nvSpPr>
        <p:spPr>
          <a:xfrm>
            <a:off x="571500" y="5682082"/>
            <a:ext cx="11811305" cy="9144"/>
          </a:xfrm>
          <a:prstGeom prst="rect">
            <a:avLst/>
          </a:prstGeom>
          <a:solidFill>
            <a:srgbClr val="D6DCE5"/>
          </a:solidFill>
          <a:ln w="12700">
            <a:solidFill>
              <a:srgbClr val="D6DCE5">
                <a:alpha val="0"/>
              </a:srgbClr>
            </a:solidFill>
            <a:prstDash val="solid"/>
          </a:ln>
        </p:spPr>
      </p:sp>
      <p:sp>
        <p:nvSpPr>
          <p:cNvPr id="50" name="Text 41"/>
          <p:cNvSpPr txBox="1"/>
          <p:nvPr/>
        </p:nvSpPr>
        <p:spPr>
          <a:xfrm>
            <a:off x="571500" y="5119726"/>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W04</a:t>
            </a:r>
            <a:endParaRPr lang="en-US" sz="1500" dirty="0"/>
          </a:p>
        </p:txBody>
      </p:sp>
      <p:sp>
        <p:nvSpPr>
          <p:cNvPr id="51" name="Text 42"/>
          <p:cNvSpPr txBox="1"/>
          <p:nvPr/>
        </p:nvSpPr>
        <p:spPr>
          <a:xfrm>
            <a:off x="4190695" y="5119726"/>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Sn-oxo cluster</a:t>
            </a:r>
            <a:endParaRPr lang="en-US" sz="1500" dirty="0"/>
          </a:p>
        </p:txBody>
      </p:sp>
      <p:sp>
        <p:nvSpPr>
          <p:cNvPr id="52" name="Text 43"/>
          <p:cNvSpPr txBox="1"/>
          <p:nvPr/>
        </p:nvSpPr>
        <p:spPr>
          <a:xfrm>
            <a:off x="6476695" y="5119726"/>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21.0</a:t>
            </a:r>
            <a:endParaRPr lang="en-US" sz="1500" dirty="0"/>
          </a:p>
        </p:txBody>
      </p:sp>
      <p:sp>
        <p:nvSpPr>
          <p:cNvPr id="53" name="Text 44"/>
          <p:cNvSpPr txBox="1"/>
          <p:nvPr/>
        </p:nvSpPr>
        <p:spPr>
          <a:xfrm>
            <a:off x="8609990" y="5119726"/>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90</a:t>
            </a:r>
            <a:endParaRPr lang="en-US" sz="1500" dirty="0"/>
          </a:p>
        </p:txBody>
      </p:sp>
      <p:sp>
        <p:nvSpPr>
          <p:cNvPr id="54" name="Text 45"/>
          <p:cNvSpPr txBox="1"/>
          <p:nvPr/>
        </p:nvSpPr>
        <p:spPr>
          <a:xfrm>
            <a:off x="10049256" y="5119726"/>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55" name="Shape 46"/>
          <p:cNvSpPr/>
          <p:nvPr/>
        </p:nvSpPr>
        <p:spPr>
          <a:xfrm>
            <a:off x="571500" y="5691226"/>
            <a:ext cx="11811305" cy="571500"/>
          </a:xfrm>
          <a:prstGeom prst="rect">
            <a:avLst/>
          </a:prstGeom>
          <a:solidFill>
            <a:srgbClr val="F7F8FB"/>
          </a:solidFill>
          <a:ln/>
        </p:spPr>
      </p:sp>
      <p:sp>
        <p:nvSpPr>
          <p:cNvPr id="56" name="Shape 47"/>
          <p:cNvSpPr/>
          <p:nvPr/>
        </p:nvSpPr>
        <p:spPr>
          <a:xfrm>
            <a:off x="571500" y="6253582"/>
            <a:ext cx="11811305" cy="9144"/>
          </a:xfrm>
          <a:prstGeom prst="rect">
            <a:avLst/>
          </a:prstGeom>
          <a:solidFill>
            <a:srgbClr val="D6DCE5"/>
          </a:solidFill>
          <a:ln w="12700">
            <a:solidFill>
              <a:srgbClr val="D6DCE5">
                <a:alpha val="0"/>
              </a:srgbClr>
            </a:solidFill>
            <a:prstDash val="solid"/>
          </a:ln>
        </p:spPr>
      </p:sp>
      <p:sp>
        <p:nvSpPr>
          <p:cNvPr id="57" name="Text 48"/>
          <p:cNvSpPr txBox="1"/>
          <p:nvPr/>
        </p:nvSpPr>
        <p:spPr>
          <a:xfrm>
            <a:off x="571500" y="5691226"/>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W05</a:t>
            </a:r>
            <a:endParaRPr lang="en-US" sz="1500" dirty="0"/>
          </a:p>
        </p:txBody>
      </p:sp>
      <p:sp>
        <p:nvSpPr>
          <p:cNvPr id="58" name="Text 49"/>
          <p:cNvSpPr txBox="1"/>
          <p:nvPr/>
        </p:nvSpPr>
        <p:spPr>
          <a:xfrm>
            <a:off x="4190695" y="5691226"/>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Sn-oxo cluster</a:t>
            </a:r>
            <a:endParaRPr lang="en-US" sz="1500" dirty="0"/>
          </a:p>
        </p:txBody>
      </p:sp>
      <p:sp>
        <p:nvSpPr>
          <p:cNvPr id="59" name="Text 50"/>
          <p:cNvSpPr txBox="1"/>
          <p:nvPr/>
        </p:nvSpPr>
        <p:spPr>
          <a:xfrm>
            <a:off x="6476695" y="5691226"/>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20.5</a:t>
            </a:r>
            <a:endParaRPr lang="en-US" sz="1500" dirty="0"/>
          </a:p>
        </p:txBody>
      </p:sp>
      <p:sp>
        <p:nvSpPr>
          <p:cNvPr id="60" name="Text 51"/>
          <p:cNvSpPr txBox="1"/>
          <p:nvPr/>
        </p:nvSpPr>
        <p:spPr>
          <a:xfrm>
            <a:off x="8609990" y="5691226"/>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90</a:t>
            </a:r>
            <a:endParaRPr lang="en-US" sz="1500" dirty="0"/>
          </a:p>
        </p:txBody>
      </p:sp>
      <p:sp>
        <p:nvSpPr>
          <p:cNvPr id="61" name="Text 52"/>
          <p:cNvSpPr txBox="1"/>
          <p:nvPr/>
        </p:nvSpPr>
        <p:spPr>
          <a:xfrm>
            <a:off x="10049256" y="5691226"/>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62" name="Text 53"/>
          <p:cNvSpPr txBox="1"/>
          <p:nvPr/>
        </p:nvSpPr>
        <p:spPr>
          <a:xfrm>
            <a:off x="571500" y="6262726"/>
            <a:ext cx="17145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W06</a:t>
            </a:r>
            <a:endParaRPr lang="en-US" sz="1500" dirty="0"/>
          </a:p>
        </p:txBody>
      </p:sp>
      <p:sp>
        <p:nvSpPr>
          <p:cNvPr id="63" name="Text 54"/>
          <p:cNvSpPr txBox="1"/>
          <p:nvPr/>
        </p:nvSpPr>
        <p:spPr>
          <a:xfrm>
            <a:off x="4190695" y="6262726"/>
            <a:ext cx="2286000"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Sn-oxo cluster</a:t>
            </a:r>
            <a:endParaRPr lang="en-US" sz="1500" dirty="0"/>
          </a:p>
        </p:txBody>
      </p:sp>
      <p:sp>
        <p:nvSpPr>
          <p:cNvPr id="64" name="Text 55"/>
          <p:cNvSpPr txBox="1"/>
          <p:nvPr/>
        </p:nvSpPr>
        <p:spPr>
          <a:xfrm>
            <a:off x="6476695" y="6262726"/>
            <a:ext cx="21342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21.5</a:t>
            </a:r>
            <a:endParaRPr lang="en-US" sz="1500" dirty="0"/>
          </a:p>
        </p:txBody>
      </p:sp>
      <p:sp>
        <p:nvSpPr>
          <p:cNvPr id="65" name="Text 56"/>
          <p:cNvSpPr txBox="1"/>
          <p:nvPr/>
        </p:nvSpPr>
        <p:spPr>
          <a:xfrm>
            <a:off x="8609990" y="6262726"/>
            <a:ext cx="144841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90</a:t>
            </a:r>
            <a:endParaRPr lang="en-US" sz="1500" dirty="0"/>
          </a:p>
        </p:txBody>
      </p:sp>
      <p:sp>
        <p:nvSpPr>
          <p:cNvPr id="66" name="Text 57"/>
          <p:cNvSpPr txBox="1"/>
          <p:nvPr/>
        </p:nvSpPr>
        <p:spPr>
          <a:xfrm>
            <a:off x="10049256" y="6262726"/>
            <a:ext cx="2334463" cy="571500"/>
          </a:xfrm>
          <a:prstGeom prst="rect">
            <a:avLst/>
          </a:prstGeom>
          <a:noFill/>
          <a:ln/>
        </p:spPr>
        <p:txBody>
          <a:bodyPr wrap="none" lIns="0" tIns="0" rIns="0" bIns="0" rtlCol="0" anchor="ctr"/>
          <a:lstStyle/>
          <a:p>
            <a:pPr algn="l" indent="0" marL="0">
              <a:buNone/>
            </a:pPr>
            <a:r>
              <a:rPr lang="en-US" sz="1500" dirty="0">
                <a:solidFill>
                  <a:srgbClr val="2F3D54"/>
                </a:solidFill>
                <a:latin typeface="IBM Plex Sans KR" pitchFamily="34" charset="0"/>
                <a:ea typeface="IBM Plex Sans KR" pitchFamily="34" charset="-122"/>
                <a:cs typeface="IBM Plex Sans KR" pitchFamily="34" charset="-120"/>
              </a:rPr>
              <a:t>36 fields × 9 dies</a:t>
            </a:r>
            <a:endParaRPr lang="en-US" sz="1500" dirty="0"/>
          </a:p>
        </p:txBody>
      </p:sp>
      <p:sp>
        <p:nvSpPr>
          <p:cNvPr id="67" name="Text 58"/>
          <p:cNvSpPr txBox="1"/>
          <p:nvPr/>
        </p:nvSpPr>
        <p:spPr>
          <a:xfrm>
            <a:off x="2419502" y="3581705"/>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8" name="Text 59"/>
          <p:cNvSpPr txBox="1"/>
          <p:nvPr/>
        </p:nvSpPr>
        <p:spPr>
          <a:xfrm>
            <a:off x="2419502" y="4153205"/>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9" name="Text 60"/>
          <p:cNvSpPr txBox="1"/>
          <p:nvPr/>
        </p:nvSpPr>
        <p:spPr>
          <a:xfrm>
            <a:off x="2419502" y="4724705"/>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70" name="Text 61"/>
          <p:cNvSpPr txBox="1"/>
          <p:nvPr/>
        </p:nvSpPr>
        <p:spPr>
          <a:xfrm>
            <a:off x="2437790" y="5296205"/>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71" name="Text 62"/>
          <p:cNvSpPr txBox="1"/>
          <p:nvPr/>
        </p:nvSpPr>
        <p:spPr>
          <a:xfrm>
            <a:off x="2437790" y="5867705"/>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72" name="Text 63"/>
          <p:cNvSpPr txBox="1"/>
          <p:nvPr/>
        </p:nvSpPr>
        <p:spPr>
          <a:xfrm>
            <a:off x="2437790" y="6439205"/>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pic>
        <p:nvPicPr>
          <p:cNvPr id="73" name="Image 6" descr="gen-dedup-a8dbdd483bd98ed162c5335ff7a2180d.png">    </p:cNvPr>
          <p:cNvPicPr>
            <a:picLocks noChangeAspect="1"/>
          </p:cNvPicPr>
          <p:nvPr/>
        </p:nvPicPr>
        <p:blipFill>
          <a:blip r:embed="rId7"/>
          <a:srcRect l="0" r="0" t="-400" b="-400"/>
          <a:stretch/>
        </p:blipFill>
        <p:spPr>
          <a:xfrm>
            <a:off x="12763195" y="2433218"/>
            <a:ext cx="342900" cy="19202"/>
          </a:xfrm>
          <a:prstGeom prst="rect">
            <a:avLst/>
          </a:prstGeom>
        </p:spPr>
      </p:pic>
      <p:sp>
        <p:nvSpPr>
          <p:cNvPr id="74" name="Text 64"/>
          <p:cNvSpPr txBox="1"/>
          <p:nvPr/>
        </p:nvSpPr>
        <p:spPr>
          <a:xfrm>
            <a:off x="13239598" y="2286000"/>
            <a:ext cx="1179576"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Metrology</a:t>
            </a:r>
            <a:endParaRPr lang="en-US" sz="16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2763195" y="2857500"/>
          <a:ext cx="4953305" cy="2095805"/>
        </p:xfrm>
        <a:graphic>
          <a:graphicData uri="http://schemas.openxmlformats.org/drawingml/2006/table">
            <a:tbl>
              <a:tblPr/>
              <a:tblGrid>
                <a:gridCol w="1162202"/>
                <a:gridCol w="3791102"/>
              </a:tblGrid>
              <a:tr h="523951">
                <a:tc>
                  <a:txBody>
                    <a:bodyPr/>
                    <a:lstStyle/>
                    <a:p>
                      <a:pPr indent="0" marL="0">
                        <a:buNone/>
                      </a:pPr>
                      <a:r>
                        <a:rPr lang="en-US" sz="1350" b="1" dirty="0">
                          <a:solidFill>
                            <a:srgbClr val="2F3D54"/>
                          </a:solidFill>
                          <a:latin typeface="IBM Plex Sans KR" pitchFamily="34" charset="0"/>
                          <a:ea typeface="IBM Plex Sans KR" pitchFamily="34" charset="-122"/>
                          <a:cs typeface="IBM Plex Sans KR" pitchFamily="34" charset="-120"/>
                        </a:rPr>
                        <a:t>AASI</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F4F8"/>
                    </a:solidFill>
                  </a:tcPr>
                </a:tc>
                <a:tc>
                  <a:txBody>
                    <a:bodyPr/>
                    <a:lstStyle/>
                    <a:p>
                      <a:pPr indent="0" marL="0">
                        <a:buNone/>
                      </a:pPr>
                      <a:r>
                        <a:rPr lang="en-US" sz="1350" dirty="0">
                          <a:solidFill>
                            <a:srgbClr val="2F3D54"/>
                          </a:solidFill>
                          <a:latin typeface="IBM Plex Sans KR" pitchFamily="34" charset="0"/>
                          <a:ea typeface="IBM Plex Sans KR" pitchFamily="34" charset="-122"/>
                          <a:cs typeface="IBM Plex Sans KR" pitchFamily="34" charset="-120"/>
                        </a:rPr>
                        <a:t>AA Spacing — Inner</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23951">
                <a:tc>
                  <a:txBody>
                    <a:bodyPr/>
                    <a:lstStyle/>
                    <a:p>
                      <a:pPr indent="0" marL="0">
                        <a:buNone/>
                      </a:pPr>
                      <a:r>
                        <a:rPr lang="en-US" sz="1350" b="1" dirty="0">
                          <a:solidFill>
                            <a:srgbClr val="2F3D54"/>
                          </a:solidFill>
                          <a:latin typeface="IBM Plex Sans KR" pitchFamily="34" charset="0"/>
                          <a:ea typeface="IBM Plex Sans KR" pitchFamily="34" charset="-122"/>
                          <a:cs typeface="IBM Plex Sans KR" pitchFamily="34" charset="-120"/>
                        </a:rPr>
                        <a:t>ASEI</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F4F8"/>
                    </a:solidFill>
                  </a:tcPr>
                </a:tc>
                <a:tc>
                  <a:txBody>
                    <a:bodyPr/>
                    <a:lstStyle/>
                    <a:p>
                      <a:pPr indent="0" marL="0">
                        <a:buNone/>
                      </a:pPr>
                      <a:r>
                        <a:rPr lang="en-US" sz="1350" dirty="0">
                          <a:solidFill>
                            <a:srgbClr val="2F3D54"/>
                          </a:solidFill>
                          <a:latin typeface="IBM Plex Sans KR" pitchFamily="34" charset="0"/>
                          <a:ea typeface="IBM Plex Sans KR" pitchFamily="34" charset="-122"/>
                          <a:cs typeface="IBM Plex Sans KR" pitchFamily="34" charset="-120"/>
                        </a:rPr>
                        <a:t>Active SE — Inner</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23951">
                <a:tc>
                  <a:txBody>
                    <a:bodyPr/>
                    <a:lstStyle/>
                    <a:p>
                      <a:pPr indent="0" marL="0">
                        <a:buNone/>
                      </a:pPr>
                      <a:r>
                        <a:rPr lang="en-US" sz="1350" b="1" dirty="0">
                          <a:solidFill>
                            <a:srgbClr val="2F3D54"/>
                          </a:solidFill>
                          <a:latin typeface="IBM Plex Sans KR" pitchFamily="34" charset="0"/>
                          <a:ea typeface="IBM Plex Sans KR" pitchFamily="34" charset="-122"/>
                          <a:cs typeface="IBM Plex Sans KR" pitchFamily="34" charset="-120"/>
                        </a:rPr>
                        <a:t>AMI</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F4F8"/>
                    </a:solidFill>
                  </a:tcPr>
                </a:tc>
                <a:tc>
                  <a:txBody>
                    <a:bodyPr/>
                    <a:lstStyle/>
                    <a:p>
                      <a:pPr indent="0" marL="0">
                        <a:buNone/>
                      </a:pPr>
                      <a:r>
                        <a:rPr lang="en-US" sz="1350" dirty="0">
                          <a:solidFill>
                            <a:srgbClr val="2F3D54"/>
                          </a:solidFill>
                          <a:latin typeface="IBM Plex Sans KR" pitchFamily="34" charset="0"/>
                          <a:ea typeface="IBM Plex Sans KR" pitchFamily="34" charset="-122"/>
                          <a:cs typeface="IBM Plex Sans KR" pitchFamily="34" charset="-120"/>
                        </a:rPr>
                        <a:t>Active M — Inner</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r h="523951">
                <a:tc>
                  <a:txBody>
                    <a:bodyPr/>
                    <a:lstStyle/>
                    <a:p>
                      <a:pPr indent="0" marL="0">
                        <a:buNone/>
                      </a:pPr>
                      <a:r>
                        <a:rPr lang="en-US" sz="1350" b="1" dirty="0">
                          <a:solidFill>
                            <a:srgbClr val="2F3D54"/>
                          </a:solidFill>
                          <a:latin typeface="IBM Plex Sans KR" pitchFamily="34" charset="0"/>
                          <a:ea typeface="IBM Plex Sans KR" pitchFamily="34" charset="-122"/>
                          <a:cs typeface="IBM Plex Sans KR" pitchFamily="34" charset="-120"/>
                        </a:rPr>
                        <a:t>ACI</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2F4F8"/>
                    </a:solidFill>
                  </a:tcPr>
                </a:tc>
                <a:tc>
                  <a:txBody>
                    <a:bodyPr/>
                    <a:lstStyle/>
                    <a:p>
                      <a:pPr indent="0" marL="0">
                        <a:buNone/>
                      </a:pPr>
                      <a:r>
                        <a:rPr lang="en-US" sz="1350" dirty="0">
                          <a:solidFill>
                            <a:srgbClr val="2F3D54"/>
                          </a:solidFill>
                          <a:latin typeface="IBM Plex Sans KR" pitchFamily="34" charset="0"/>
                          <a:ea typeface="IBM Plex Sans KR" pitchFamily="34" charset="-122"/>
                          <a:cs typeface="IBM Plex Sans KR" pitchFamily="34" charset="-120"/>
                        </a:rPr>
                        <a:t>Active C — Inner</a:t>
                      </a:r>
                      <a:endParaRPr lang="en-US" sz="1350" dirty="0">
                        <a:latin typeface="IBM Plex Sans KR" charset="0"/>
                        <a:ea typeface="IBM Plex Sans KR" charset="0"/>
                        <a:cs typeface="IBM Plex Sans KR" charset="0"/>
                      </a:endParaRPr>
                    </a:p>
                  </a:txBody>
                  <a:tcPr marL="152705" marR="152705"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FFFFF"/>
                    </a:solidFill>
                  </a:tcPr>
                </a:tc>
              </a:tr>
            </a:tbl>
          </a:graphicData>
        </a:graphic>
      </p:graphicFrame>
      <p:sp>
        <p:nvSpPr>
          <p:cNvPr id="76" name="Shape 65"/>
          <p:cNvSpPr/>
          <p:nvPr/>
        </p:nvSpPr>
        <p:spPr>
          <a:xfrm>
            <a:off x="12763195" y="5143500"/>
            <a:ext cx="4953305" cy="1209751"/>
          </a:xfrm>
          <a:prstGeom prst="rect">
            <a:avLst/>
          </a:prstGeom>
          <a:solidFill>
            <a:srgbClr val="FFFFFF"/>
          </a:solidFill>
          <a:ln w="12700">
            <a:solidFill>
              <a:srgbClr val="C4CDD9"/>
            </a:solidFill>
            <a:prstDash val="solid"/>
          </a:ln>
        </p:spPr>
      </p:sp>
      <p:sp>
        <p:nvSpPr>
          <p:cNvPr id="77" name="Text 66"/>
          <p:cNvSpPr txBox="1"/>
          <p:nvPr/>
        </p:nvSpPr>
        <p:spPr>
          <a:xfrm>
            <a:off x="12963449" y="5324551"/>
            <a:ext cx="4553712" cy="200254"/>
          </a:xfrm>
          <a:prstGeom prst="rect">
            <a:avLst/>
          </a:prstGeom>
          <a:noFill/>
          <a:ln/>
        </p:spPr>
        <p:txBody>
          <a:bodyPr wrap="none" lIns="0" tIns="0" rIns="0" bIns="0" rtlCol="0" anchor="ctr"/>
          <a:lstStyle/>
          <a:p>
            <a:pPr algn="l" indent="0" marL="0">
              <a:buNone/>
            </a:pPr>
            <a:r>
              <a:rPr lang="en-US" sz="1050" spc="210" kern="0" dirty="0">
                <a:solidFill>
                  <a:srgbClr val="5C6B82"/>
                </a:solidFill>
                <a:latin typeface="IBM Plex Sans KR" pitchFamily="34" charset="0"/>
                <a:ea typeface="IBM Plex Sans KR" pitchFamily="34" charset="-122"/>
                <a:cs typeface="IBM Plex Sans KR" pitchFamily="34" charset="-120"/>
              </a:rPr>
              <a:t>Sampling</a:t>
            </a:r>
            <a:endParaRPr lang="en-US" sz="1050" dirty="0"/>
          </a:p>
        </p:txBody>
      </p:sp>
      <p:sp>
        <p:nvSpPr>
          <p:cNvPr id="78" name="Text 67"/>
          <p:cNvSpPr txBox="1"/>
          <p:nvPr/>
        </p:nvSpPr>
        <p:spPr>
          <a:xfrm>
            <a:off x="12963449" y="5639105"/>
            <a:ext cx="4553712" cy="534010"/>
          </a:xfrm>
          <a:prstGeom prst="rect">
            <a:avLst/>
          </a:prstGeom>
          <a:noFill/>
          <a:ln/>
        </p:spPr>
        <p:txBody>
          <a:bodyPr wrap="square" lIns="0" tIns="0" rIns="0" bIns="0" rtlCol="0" anchor="ctr"/>
          <a:lstStyle/>
          <a:p>
            <a:pPr algn="l" indent="0" marL="0">
              <a:lnSpc>
                <a:spcPts val="2092"/>
              </a:lnSpc>
              <a:buNone/>
            </a:pPr>
            <a:r>
              <a:rPr lang="en-US" sz="1350" dirty="0">
                <a:solidFill>
                  <a:srgbClr val="2F3D54"/>
                </a:solidFill>
                <a:latin typeface="IBM Plex Sans KR" pitchFamily="34" charset="0"/>
                <a:ea typeface="IBM Plex Sans KR" pitchFamily="34" charset="-122"/>
                <a:cs typeface="IBM Plex Sans KR" pitchFamily="34" charset="-120"/>
              </a:rPr>
              <a:t>CD-SEM 25pt / wafer (5 × 5), electrical은 TLM 구조 5 site / wafer, 모든 wafer는 동일 track recipe로 동일 시간 내 처리.</a:t>
            </a:r>
            <a:endParaRPr lang="en-US" sz="1350" dirty="0"/>
          </a:p>
        </p:txBody>
      </p:sp>
      <p:sp>
        <p:nvSpPr>
          <p:cNvPr id="79" name="Shape 68"/>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80" name="Text 69"/>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81" name="Image 7" descr="gen-dedup-2384ac9fd3012b414377934d98f26f83.png">    </p:cNvPr>
          <p:cNvPicPr>
            <a:picLocks noChangeAspect="1"/>
          </p:cNvPicPr>
          <p:nvPr/>
        </p:nvPicPr>
        <p:blipFill>
          <a:blip r:embed="rId8"/>
          <a:srcRect l="0" r="0" t="-2083" b="-2083"/>
          <a:stretch/>
        </p:blipFill>
        <p:spPr>
          <a:xfrm>
            <a:off x="2288743" y="8934602"/>
            <a:ext cx="9144" cy="228600"/>
          </a:xfrm>
          <a:prstGeom prst="rect">
            <a:avLst/>
          </a:prstGeom>
        </p:spPr>
      </p:pic>
      <p:sp>
        <p:nvSpPr>
          <p:cNvPr id="82" name="Text 70"/>
          <p:cNvSpPr txBox="1"/>
          <p:nvPr/>
        </p:nvSpPr>
        <p:spPr>
          <a:xfrm>
            <a:off x="2469794" y="8915400"/>
            <a:ext cx="10106863"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CAR은 ~82 mJ/cm², MOR은 ~21 mJ/cm² dose로 split 하였고 두 그룹 모두 25pt 측정을 통해 동일 메트릭으로 비교한다.</a:t>
            </a:r>
            <a:endParaRPr lang="en-US" sz="1500" dirty="0"/>
          </a:p>
        </p:txBody>
      </p:sp>
      <p:sp>
        <p:nvSpPr>
          <p:cNvPr id="83" name="Text 71"/>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CAR vs MOR · M1 · 6 wafer · 02 조건</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571500" y="5524805"/>
            <a:ext cx="5600700" cy="2857500"/>
          </a:xfrm>
          <a:prstGeom prst="rect">
            <a:avLst/>
          </a:prstGeom>
          <a:solidFill>
            <a:srgbClr val="FFFFFF"/>
          </a:solidFill>
          <a:ln w="12700">
            <a:solidFill>
              <a:srgbClr val="C4CDD9"/>
            </a:solidFill>
            <a:prstDash val="solid"/>
          </a:ln>
        </p:spPr>
      </p:sp>
      <p:sp>
        <p:nvSpPr>
          <p:cNvPr id="5" name="Text 1"/>
          <p:cNvSpPr txBox="1"/>
          <p:nvPr/>
        </p:nvSpPr>
        <p:spPr>
          <a:xfrm>
            <a:off x="828446" y="5762549"/>
            <a:ext cx="5086807" cy="210312"/>
          </a:xfrm>
          <a:prstGeom prst="rect">
            <a:avLst/>
          </a:prstGeom>
          <a:noFill/>
          <a:ln/>
        </p:spPr>
        <p:txBody>
          <a:bodyPr wrap="none" lIns="0" tIns="0" rIns="0" bIns="0" rtlCol="0" anchor="ctr"/>
          <a:lstStyle/>
          <a:p>
            <a:pPr algn="l" indent="0" marL="0">
              <a:buNone/>
            </a:pPr>
            <a:r>
              <a:rPr lang="en-US" sz="1050" b="1" spc="126" kern="0" dirty="0">
                <a:solidFill>
                  <a:srgbClr val="1B2C45"/>
                </a:solidFill>
                <a:latin typeface="IBM Plex Sans KR" pitchFamily="34" charset="0"/>
                <a:ea typeface="IBM Plex Sans KR" pitchFamily="34" charset="-122"/>
                <a:cs typeface="IBM Plex Sans KR" pitchFamily="34" charset="-120"/>
              </a:rPr>
              <a:t>CAR · 3σ ratio</a:t>
            </a:r>
            <a:endParaRPr lang="en-US" sz="1050" dirty="0"/>
          </a:p>
        </p:txBody>
      </p:sp>
      <p:sp>
        <p:nvSpPr>
          <p:cNvPr id="6" name="Text 2"/>
          <p:cNvSpPr txBox="1"/>
          <p:nvPr/>
        </p:nvSpPr>
        <p:spPr>
          <a:xfrm>
            <a:off x="828446" y="6086246"/>
            <a:ext cx="5086807" cy="342900"/>
          </a:xfrm>
          <a:prstGeom prst="rect">
            <a:avLst/>
          </a:prstGeom>
          <a:noFill/>
          <a:ln/>
        </p:spPr>
        <p:txBody>
          <a:bodyPr wrap="none" lIns="0" tIns="0" rIns="0" bIns="0" rtlCol="0" anchor="ctr"/>
          <a:lstStyle/>
          <a:p>
            <a:pPr algn="l" indent="0" marL="0">
              <a:buNone/>
            </a:pPr>
            <a:r>
              <a:rPr lang="en-US" sz="2700" b="1" dirty="0">
                <a:solidFill>
                  <a:srgbClr val="1B2C45"/>
                </a:solidFill>
                <a:latin typeface="IBM Plex Sans KR" pitchFamily="34" charset="0"/>
                <a:ea typeface="IBM Plex Sans KR" pitchFamily="34" charset="-122"/>
                <a:cs typeface="IBM Plex Sans KR" pitchFamily="34" charset="-120"/>
              </a:rPr>
              <a:t>~4.8%</a:t>
            </a:r>
            <a:endParaRPr lang="en-US" sz="2700" dirty="0"/>
          </a:p>
        </p:txBody>
      </p:sp>
      <p:pic>
        <p:nvPicPr>
          <p:cNvPr id="7" name="Image 1" descr="gen-dedup-732ad503602cab8f92e32ea10a3af504.png">    </p:cNvPr>
          <p:cNvPicPr>
            <a:picLocks noChangeAspect="1"/>
          </p:cNvPicPr>
          <p:nvPr/>
        </p:nvPicPr>
        <p:blipFill>
          <a:blip r:embed="rId2"/>
          <a:srcRect l="-404" r="-404" t="0" b="0"/>
          <a:stretch/>
        </p:blipFill>
        <p:spPr>
          <a:xfrm>
            <a:off x="828446" y="6601054"/>
            <a:ext cx="457200" cy="28346"/>
          </a:xfrm>
          <a:prstGeom prst="rect">
            <a:avLst/>
          </a:prstGeom>
        </p:spPr>
      </p:pic>
      <p:sp>
        <p:nvSpPr>
          <p:cNvPr id="8" name="Text 3"/>
          <p:cNvSpPr txBox="1"/>
          <p:nvPr/>
        </p:nvSpPr>
        <p:spPr>
          <a:xfrm>
            <a:off x="828446" y="6762902"/>
            <a:ext cx="5086807"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acid diffusion blur로 분산 확대</a:t>
            </a:r>
            <a:endParaRPr lang="en-US" sz="1125" dirty="0"/>
          </a:p>
        </p:txBody>
      </p:sp>
      <p:sp>
        <p:nvSpPr>
          <p:cNvPr id="9" name="Shape 4"/>
          <p:cNvSpPr/>
          <p:nvPr/>
        </p:nvSpPr>
        <p:spPr>
          <a:xfrm>
            <a:off x="6344107" y="5524805"/>
            <a:ext cx="5600700" cy="2857500"/>
          </a:xfrm>
          <a:prstGeom prst="rect">
            <a:avLst/>
          </a:prstGeom>
          <a:solidFill>
            <a:srgbClr val="FFFFFF"/>
          </a:solidFill>
          <a:ln w="12700">
            <a:solidFill>
              <a:srgbClr val="C4CDD9"/>
            </a:solidFill>
            <a:prstDash val="solid"/>
          </a:ln>
        </p:spPr>
      </p:sp>
      <p:sp>
        <p:nvSpPr>
          <p:cNvPr id="10" name="Shape 5"/>
          <p:cNvSpPr/>
          <p:nvPr/>
        </p:nvSpPr>
        <p:spPr>
          <a:xfrm>
            <a:off x="6344107" y="5524805"/>
            <a:ext cx="57607" cy="2857500"/>
          </a:xfrm>
          <a:prstGeom prst="rect">
            <a:avLst/>
          </a:prstGeom>
          <a:solidFill>
            <a:srgbClr val="2D6F8C"/>
          </a:solidFill>
          <a:ln w="12700">
            <a:solidFill>
              <a:srgbClr val="2D6F8C">
                <a:alpha val="0"/>
              </a:srgbClr>
            </a:solidFill>
            <a:prstDash val="solid"/>
          </a:ln>
        </p:spPr>
      </p:sp>
      <p:sp>
        <p:nvSpPr>
          <p:cNvPr id="11" name="Text 6"/>
          <p:cNvSpPr txBox="1"/>
          <p:nvPr/>
        </p:nvSpPr>
        <p:spPr>
          <a:xfrm>
            <a:off x="6648602" y="5762549"/>
            <a:ext cx="5039258" cy="210312"/>
          </a:xfrm>
          <a:prstGeom prst="rect">
            <a:avLst/>
          </a:prstGeom>
          <a:noFill/>
          <a:ln/>
        </p:spPr>
        <p:txBody>
          <a:bodyPr wrap="none" lIns="0" tIns="0" rIns="0" bIns="0" rtlCol="0" anchor="ctr"/>
          <a:lstStyle/>
          <a:p>
            <a:pPr algn="l" indent="0" marL="0">
              <a:buNone/>
            </a:pPr>
            <a:r>
              <a:rPr lang="en-US" sz="1050" b="1" spc="126" kern="0" dirty="0">
                <a:solidFill>
                  <a:srgbClr val="1B2C45"/>
                </a:solidFill>
                <a:latin typeface="IBM Plex Sans KR" pitchFamily="34" charset="0"/>
                <a:ea typeface="IBM Plex Sans KR" pitchFamily="34" charset="-122"/>
                <a:cs typeface="IBM Plex Sans KR" pitchFamily="34" charset="-120"/>
              </a:rPr>
              <a:t>MOR · 3σ ratio</a:t>
            </a:r>
            <a:endParaRPr lang="en-US" sz="1050" dirty="0"/>
          </a:p>
        </p:txBody>
      </p:sp>
      <p:sp>
        <p:nvSpPr>
          <p:cNvPr id="12" name="Text 7"/>
          <p:cNvSpPr txBox="1"/>
          <p:nvPr/>
        </p:nvSpPr>
        <p:spPr>
          <a:xfrm>
            <a:off x="6648602" y="6086246"/>
            <a:ext cx="5039258" cy="342900"/>
          </a:xfrm>
          <a:prstGeom prst="rect">
            <a:avLst/>
          </a:prstGeom>
          <a:noFill/>
          <a:ln/>
        </p:spPr>
        <p:txBody>
          <a:bodyPr wrap="none" lIns="0" tIns="0" rIns="0" bIns="0" rtlCol="0" anchor="ctr"/>
          <a:lstStyle/>
          <a:p>
            <a:pPr algn="l" indent="0" marL="0">
              <a:buNone/>
            </a:pPr>
            <a:r>
              <a:rPr lang="en-US" sz="2700" b="1" dirty="0">
                <a:solidFill>
                  <a:srgbClr val="2D6F8C"/>
                </a:solidFill>
                <a:latin typeface="IBM Plex Sans KR" pitchFamily="34" charset="0"/>
                <a:ea typeface="IBM Plex Sans KR" pitchFamily="34" charset="-122"/>
                <a:cs typeface="IBM Plex Sans KR" pitchFamily="34" charset="-120"/>
              </a:rPr>
              <a:t>~2.4%</a:t>
            </a:r>
            <a:endParaRPr lang="en-US" sz="2700" dirty="0"/>
          </a:p>
        </p:txBody>
      </p:sp>
      <p:pic>
        <p:nvPicPr>
          <p:cNvPr id="13" name="Image 2" descr="gen-dedup-3613979705dd1fbd4015dc71639ff1a9.png">    </p:cNvPr>
          <p:cNvPicPr>
            <a:picLocks noChangeAspect="1"/>
          </p:cNvPicPr>
          <p:nvPr/>
        </p:nvPicPr>
        <p:blipFill>
          <a:blip r:embed="rId3"/>
          <a:srcRect l="-404" r="-404" t="0" b="0"/>
          <a:stretch/>
        </p:blipFill>
        <p:spPr>
          <a:xfrm>
            <a:off x="6648602" y="6601054"/>
            <a:ext cx="457200" cy="28346"/>
          </a:xfrm>
          <a:prstGeom prst="rect">
            <a:avLst/>
          </a:prstGeom>
        </p:spPr>
      </p:pic>
      <p:sp>
        <p:nvSpPr>
          <p:cNvPr id="14" name="Text 8"/>
          <p:cNvSpPr txBox="1"/>
          <p:nvPr/>
        </p:nvSpPr>
        <p:spPr>
          <a:xfrm>
            <a:off x="6648602" y="6762902"/>
            <a:ext cx="5039258"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cluster 직접 반응으로 분산 ~1/2</a:t>
            </a:r>
            <a:endParaRPr lang="en-US" sz="1125" dirty="0"/>
          </a:p>
        </p:txBody>
      </p:sp>
      <p:sp>
        <p:nvSpPr>
          <p:cNvPr id="15" name="Shape 9"/>
          <p:cNvSpPr/>
          <p:nvPr/>
        </p:nvSpPr>
        <p:spPr>
          <a:xfrm>
            <a:off x="12115800" y="5524805"/>
            <a:ext cx="5600700" cy="2857500"/>
          </a:xfrm>
          <a:prstGeom prst="rect">
            <a:avLst/>
          </a:prstGeom>
          <a:solidFill>
            <a:srgbClr val="1B2C45"/>
          </a:solidFill>
          <a:ln w="12700">
            <a:solidFill>
              <a:srgbClr val="FFFFFF">
                <a:alpha val="0"/>
              </a:srgbClr>
            </a:solidFill>
            <a:prstDash val="solid"/>
          </a:ln>
        </p:spPr>
      </p:sp>
      <p:sp>
        <p:nvSpPr>
          <p:cNvPr id="16" name="Text 10"/>
          <p:cNvSpPr txBox="1"/>
          <p:nvPr/>
        </p:nvSpPr>
        <p:spPr>
          <a:xfrm>
            <a:off x="12363602" y="5753405"/>
            <a:ext cx="5106010" cy="210312"/>
          </a:xfrm>
          <a:prstGeom prst="rect">
            <a:avLst/>
          </a:prstGeom>
          <a:noFill/>
          <a:ln/>
        </p:spPr>
        <p:txBody>
          <a:bodyPr wrap="none" lIns="0" tIns="0" rIns="0" bIns="0" rtlCol="0" anchor="ctr"/>
          <a:lstStyle/>
          <a:p>
            <a:pPr algn="l" indent="0" marL="0">
              <a:buNone/>
            </a:pPr>
            <a:r>
              <a:rPr lang="en-US" sz="1050" b="1" spc="126" kern="0" dirty="0">
                <a:solidFill>
                  <a:srgbClr val="FFFFFF"/>
                </a:solidFill>
                <a:latin typeface="IBM Plex Sans KR" pitchFamily="34" charset="0"/>
                <a:ea typeface="IBM Plex Sans KR" pitchFamily="34" charset="-122"/>
                <a:cs typeface="IBM Plex Sans KR" pitchFamily="34" charset="-120"/>
              </a:rPr>
              <a:t>CAR − MOR Δ</a:t>
            </a:r>
            <a:endParaRPr lang="en-US" sz="1050" dirty="0"/>
          </a:p>
        </p:txBody>
      </p:sp>
      <p:sp>
        <p:nvSpPr>
          <p:cNvPr id="17" name="Text 11"/>
          <p:cNvSpPr txBox="1"/>
          <p:nvPr/>
        </p:nvSpPr>
        <p:spPr>
          <a:xfrm>
            <a:off x="12363602" y="6077102"/>
            <a:ext cx="5106010" cy="342900"/>
          </a:xfrm>
          <a:prstGeom prst="rect">
            <a:avLst/>
          </a:prstGeom>
          <a:noFill/>
          <a:ln/>
        </p:spPr>
        <p:txBody>
          <a:bodyPr wrap="none" lIns="0" tIns="0" rIns="0" bIns="0" rtlCol="0" anchor="ctr"/>
          <a:lstStyle/>
          <a:p>
            <a:pPr algn="l" indent="0" marL="0">
              <a:buNone/>
            </a:pPr>
            <a:r>
              <a:rPr lang="en-US" sz="2700" b="1" dirty="0">
                <a:solidFill>
                  <a:srgbClr val="FFFFFF"/>
                </a:solidFill>
                <a:latin typeface="IBM Plex Sans KR" pitchFamily="34" charset="0"/>
                <a:ea typeface="IBM Plex Sans KR" pitchFamily="34" charset="-122"/>
                <a:cs typeface="IBM Plex Sans KR" pitchFamily="34" charset="-120"/>
              </a:rPr>
              <a:t>+0.42 nm</a:t>
            </a:r>
            <a:endParaRPr lang="en-US" sz="2700" dirty="0"/>
          </a:p>
        </p:txBody>
      </p:sp>
      <p:pic>
        <p:nvPicPr>
          <p:cNvPr id="18" name="Image 3" descr="gen-dedup-4e82fbb095dc507999265c577e55abd8.png">    </p:cNvPr>
          <p:cNvPicPr>
            <a:picLocks noChangeAspect="1"/>
          </p:cNvPicPr>
          <p:nvPr/>
        </p:nvPicPr>
        <p:blipFill>
          <a:blip r:embed="rId4"/>
          <a:srcRect l="-404" r="-404" t="0" b="0"/>
          <a:stretch/>
        </p:blipFill>
        <p:spPr>
          <a:xfrm>
            <a:off x="12363602" y="6590995"/>
            <a:ext cx="457200" cy="28346"/>
          </a:xfrm>
          <a:prstGeom prst="rect">
            <a:avLst/>
          </a:prstGeom>
        </p:spPr>
      </p:pic>
      <p:sp>
        <p:nvSpPr>
          <p:cNvPr id="19" name="Text 12"/>
          <p:cNvSpPr txBox="1"/>
          <p:nvPr/>
        </p:nvSpPr>
        <p:spPr>
          <a:xfrm>
            <a:off x="12363602" y="6752844"/>
            <a:ext cx="5106010" cy="219456"/>
          </a:xfrm>
          <a:prstGeom prst="rect">
            <a:avLst/>
          </a:prstGeom>
          <a:noFill/>
          <a:ln/>
        </p:spPr>
        <p:txBody>
          <a:bodyPr wrap="none" lIns="0" tIns="0" rIns="0" bIns="0" rtlCol="0" anchor="ctr"/>
          <a:lstStyle/>
          <a:p>
            <a:pPr algn="l" indent="0" marL="0">
              <a:buNone/>
            </a:pPr>
            <a:r>
              <a:rPr lang="en-US" sz="1125" dirty="0">
                <a:solidFill>
                  <a:srgbClr val="D6DCE5"/>
                </a:solidFill>
                <a:latin typeface="IBM Plex Sans KR" pitchFamily="34" charset="0"/>
                <a:ea typeface="IBM Plex Sans KR" pitchFamily="34" charset="-122"/>
                <a:cs typeface="IBM Plex Sans KR" pitchFamily="34" charset="-120"/>
              </a:rPr>
              <a:t>CAR 평균이 일관되게 +편향, MOR은 0 부근 안착</a:t>
            </a:r>
            <a:endParaRPr lang="en-US" sz="1125" dirty="0"/>
          </a:p>
        </p:txBody>
      </p:sp>
      <p:sp>
        <p:nvSpPr>
          <p:cNvPr id="20" name="Shape 13"/>
          <p:cNvSpPr/>
          <p:nvPr/>
        </p:nvSpPr>
        <p:spPr>
          <a:xfrm>
            <a:off x="571500" y="2286000"/>
            <a:ext cx="4972507" cy="2876702"/>
          </a:xfrm>
          <a:prstGeom prst="rect">
            <a:avLst/>
          </a:prstGeom>
          <a:solidFill>
            <a:srgbClr val="FFFFFF"/>
          </a:solidFill>
          <a:ln w="12700">
            <a:solidFill>
              <a:srgbClr val="C4CDD9"/>
            </a:solidFill>
            <a:prstDash val="solid"/>
          </a:ln>
        </p:spPr>
      </p:sp>
      <p:pic>
        <p:nvPicPr>
          <p:cNvPr id="21" name="Image 4" descr="gen-dedup-59d7e011210397887d4406897b334030.jpg">    </p:cNvPr>
          <p:cNvPicPr>
            <a:picLocks noChangeAspect="1"/>
          </p:cNvPicPr>
          <p:nvPr/>
        </p:nvPicPr>
        <p:blipFill>
          <a:blip r:embed="rId5"/>
          <a:stretch>
            <a:fillRect/>
          </a:stretch>
        </p:blipFill>
        <p:spPr>
          <a:xfrm>
            <a:off x="580644" y="2295144"/>
            <a:ext cx="4953305" cy="2857500"/>
          </a:xfrm>
          <a:prstGeom prst="rect">
            <a:avLst/>
          </a:prstGeom>
        </p:spPr>
      </p:pic>
      <p:sp>
        <p:nvSpPr>
          <p:cNvPr id="22" name="Text 14"/>
          <p:cNvSpPr txBox="1"/>
          <p:nvPr/>
        </p:nvSpPr>
        <p:spPr>
          <a:xfrm>
            <a:off x="571500" y="5257800"/>
            <a:ext cx="4953305"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출처: 0.33 NA 다중 피치 L/S SEM, Tech Xplore 자료</a:t>
            </a:r>
            <a:endParaRPr lang="en-US" sz="1050" dirty="0"/>
          </a:p>
        </p:txBody>
      </p:sp>
      <p:sp>
        <p:nvSpPr>
          <p:cNvPr id="23" name="Text 15"/>
          <p:cNvSpPr txBox="1"/>
          <p:nvPr/>
        </p:nvSpPr>
        <p:spPr>
          <a:xfrm>
            <a:off x="571500" y="571500"/>
            <a:ext cx="4240987"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03 / CD variation · AA Spacing — Inner</a:t>
            </a:r>
            <a:endParaRPr lang="en-US" sz="1050" dirty="0"/>
          </a:p>
        </p:txBody>
      </p:sp>
      <p:pic>
        <p:nvPicPr>
          <p:cNvPr id="24" name="Image 5" descr="gen-dedup-72c8c855dd65dd3f7a058d199e994252.png">    </p:cNvPr>
          <p:cNvPicPr>
            <a:picLocks noChangeAspect="1"/>
          </p:cNvPicPr>
          <p:nvPr/>
        </p:nvPicPr>
        <p:blipFill>
          <a:blip r:embed="rId6"/>
          <a:srcRect l="-2083" r="-2083" t="0" b="0"/>
          <a:stretch/>
        </p:blipFill>
        <p:spPr>
          <a:xfrm>
            <a:off x="4433011" y="666598"/>
            <a:ext cx="342900" cy="9144"/>
          </a:xfrm>
          <a:prstGeom prst="rect">
            <a:avLst/>
          </a:prstGeom>
        </p:spPr>
      </p:pic>
      <p:sp>
        <p:nvSpPr>
          <p:cNvPr id="25" name="Text 16"/>
          <p:cNvSpPr txBox="1"/>
          <p:nvPr/>
        </p:nvSpPr>
        <p:spPr>
          <a:xfrm>
            <a:off x="4909414" y="571500"/>
            <a:ext cx="190286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split · CAR vs MOR</a:t>
            </a:r>
            <a:endParaRPr lang="en-US" sz="1050" dirty="0"/>
          </a:p>
        </p:txBody>
      </p:sp>
      <p:sp>
        <p:nvSpPr>
          <p:cNvPr id="26" name="Text 17"/>
          <p:cNvSpPr txBox="1"/>
          <p:nvPr/>
        </p:nvSpPr>
        <p:spPr>
          <a:xfrm>
            <a:off x="571500" y="905256"/>
            <a:ext cx="121926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AASI </a:t>
            </a:r>
            <a:pPr algn="l" indent="0" marL="0">
              <a:buNone/>
            </a:pPr>
            <a:r>
              <a:rPr lang="en-US" sz="1800" b="1" dirty="0">
                <a:solidFill>
                  <a:srgbClr val="5C6B82"/>
                </a:solidFill>
                <a:latin typeface="IBM Plex Sans KR" pitchFamily="34" charset="0"/>
                <a:ea typeface="IBM Plex Sans KR" pitchFamily="34" charset="-122"/>
                <a:cs typeface="IBM Plex Sans KR" pitchFamily="34" charset="-120"/>
              </a:rPr>
              <a:t>/ target 25.1 nm</a:t>
            </a:r>
            <a:endParaRPr lang="en-US" sz="3450" dirty="0"/>
          </a:p>
        </p:txBody>
      </p:sp>
      <p:pic>
        <p:nvPicPr>
          <p:cNvPr id="27" name="Image 6" descr="gen-dedup-9ae55472b901721cbf9db1193a4c472d.png">    </p:cNvPr>
          <p:cNvPicPr>
            <a:picLocks noChangeAspect="1"/>
          </p:cNvPicPr>
          <p:nvPr/>
        </p:nvPicPr>
        <p:blipFill>
          <a:blip r:embed="rId7"/>
          <a:srcRect l="-80" r="-80" t="0" b="0"/>
          <a:stretch/>
        </p:blipFill>
        <p:spPr>
          <a:xfrm>
            <a:off x="571500" y="1536192"/>
            <a:ext cx="800100" cy="47549"/>
          </a:xfrm>
          <a:prstGeom prst="rect">
            <a:avLst/>
          </a:prstGeom>
        </p:spPr>
      </p:pic>
      <p:sp>
        <p:nvSpPr>
          <p:cNvPr id="28" name="Shape 18"/>
          <p:cNvSpPr/>
          <p:nvPr/>
        </p:nvSpPr>
        <p:spPr>
          <a:xfrm>
            <a:off x="14097305" y="571500"/>
            <a:ext cx="1742846" cy="1143000"/>
          </a:xfrm>
          <a:prstGeom prst="rect">
            <a:avLst/>
          </a:prstGeom>
          <a:solidFill>
            <a:srgbClr val="FFFFFF"/>
          </a:solidFill>
          <a:ln w="12700">
            <a:solidFill>
              <a:srgbClr val="C4CDD9"/>
            </a:solidFill>
            <a:prstDash val="solid"/>
          </a:ln>
        </p:spPr>
      </p:sp>
      <p:sp>
        <p:nvSpPr>
          <p:cNvPr id="29" name="Text 19"/>
          <p:cNvSpPr txBox="1"/>
          <p:nvPr/>
        </p:nvSpPr>
        <p:spPr>
          <a:xfrm>
            <a:off x="14239951"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mean</a:t>
            </a:r>
            <a:endParaRPr lang="en-US" sz="900" dirty="0"/>
          </a:p>
        </p:txBody>
      </p:sp>
      <p:sp>
        <p:nvSpPr>
          <p:cNvPr id="30" name="Text 20"/>
          <p:cNvSpPr txBox="1"/>
          <p:nvPr/>
        </p:nvSpPr>
        <p:spPr>
          <a:xfrm>
            <a:off x="14239951" y="961949"/>
            <a:ext cx="1457554" cy="286207"/>
          </a:xfrm>
          <a:prstGeom prst="rect">
            <a:avLst/>
          </a:prstGeom>
          <a:noFill/>
          <a:ln/>
        </p:spPr>
        <p:txBody>
          <a:bodyPr wrap="none" lIns="0" tIns="0" rIns="0" bIns="0" rtlCol="0" anchor="ctr"/>
          <a:lstStyle/>
          <a:p>
            <a:pPr algn="l" indent="0" marL="0">
              <a:buNone/>
            </a:pPr>
            <a:r>
              <a:rPr lang="en-US" sz="2250" b="1" dirty="0">
                <a:solidFill>
                  <a:srgbClr val="B85C46"/>
                </a:solidFill>
                <a:latin typeface="IBM Plex Sans KR" pitchFamily="34" charset="0"/>
                <a:ea typeface="IBM Plex Sans KR" pitchFamily="34" charset="-122"/>
                <a:cs typeface="IBM Plex Sans KR" pitchFamily="34" charset="-120"/>
              </a:rPr>
              <a:t>25.44</a:t>
            </a:r>
            <a:endParaRPr lang="en-US" sz="2250" dirty="0"/>
          </a:p>
        </p:txBody>
      </p:sp>
      <p:sp>
        <p:nvSpPr>
          <p:cNvPr id="31" name="Text 21"/>
          <p:cNvSpPr txBox="1"/>
          <p:nvPr/>
        </p:nvSpPr>
        <p:spPr>
          <a:xfrm>
            <a:off x="14239951"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W01–W03</a:t>
            </a:r>
            <a:endParaRPr lang="en-US" sz="900" dirty="0"/>
          </a:p>
        </p:txBody>
      </p:sp>
      <p:sp>
        <p:nvSpPr>
          <p:cNvPr id="32" name="Shape 22"/>
          <p:cNvSpPr/>
          <p:nvPr/>
        </p:nvSpPr>
        <p:spPr>
          <a:xfrm>
            <a:off x="15973654" y="571500"/>
            <a:ext cx="1742846" cy="1143000"/>
          </a:xfrm>
          <a:prstGeom prst="rect">
            <a:avLst/>
          </a:prstGeom>
          <a:solidFill>
            <a:srgbClr val="FFFFFF"/>
          </a:solidFill>
          <a:ln w="12700">
            <a:solidFill>
              <a:srgbClr val="C4CDD9"/>
            </a:solidFill>
            <a:prstDash val="solid"/>
          </a:ln>
        </p:spPr>
      </p:sp>
      <p:sp>
        <p:nvSpPr>
          <p:cNvPr id="33" name="Text 23"/>
          <p:cNvSpPr txBox="1"/>
          <p:nvPr/>
        </p:nvSpPr>
        <p:spPr>
          <a:xfrm>
            <a:off x="16116300"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mean</a:t>
            </a:r>
            <a:endParaRPr lang="en-US" sz="900" dirty="0"/>
          </a:p>
        </p:txBody>
      </p:sp>
      <p:sp>
        <p:nvSpPr>
          <p:cNvPr id="34" name="Text 24"/>
          <p:cNvSpPr txBox="1"/>
          <p:nvPr/>
        </p:nvSpPr>
        <p:spPr>
          <a:xfrm>
            <a:off x="16116300" y="961949"/>
            <a:ext cx="1457554" cy="286207"/>
          </a:xfrm>
          <a:prstGeom prst="rect">
            <a:avLst/>
          </a:prstGeom>
          <a:noFill/>
          <a:ln/>
        </p:spPr>
        <p:txBody>
          <a:bodyPr wrap="none" lIns="0" tIns="0" rIns="0" bIns="0" rtlCol="0" anchor="ctr"/>
          <a:lstStyle/>
          <a:p>
            <a:pPr algn="l" indent="0" marL="0">
              <a:buNone/>
            </a:pPr>
            <a:r>
              <a:rPr lang="en-US" sz="2250" b="1" dirty="0">
                <a:solidFill>
                  <a:srgbClr val="2D6F8C"/>
                </a:solidFill>
                <a:latin typeface="IBM Plex Sans KR" pitchFamily="34" charset="0"/>
                <a:ea typeface="IBM Plex Sans KR" pitchFamily="34" charset="-122"/>
                <a:cs typeface="IBM Plex Sans KR" pitchFamily="34" charset="-120"/>
              </a:rPr>
              <a:t>25.02</a:t>
            </a:r>
            <a:endParaRPr lang="en-US" sz="2250" dirty="0"/>
          </a:p>
        </p:txBody>
      </p:sp>
      <p:sp>
        <p:nvSpPr>
          <p:cNvPr id="35" name="Text 25"/>
          <p:cNvSpPr txBox="1"/>
          <p:nvPr/>
        </p:nvSpPr>
        <p:spPr>
          <a:xfrm>
            <a:off x="16116300"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W04–W06</a:t>
            </a:r>
            <a:endParaRPr lang="en-US" sz="900" dirty="0"/>
          </a:p>
        </p:txBody>
      </p:sp>
      <p:sp>
        <p:nvSpPr>
          <p:cNvPr id="36" name="Shape 26"/>
          <p:cNvSpPr/>
          <p:nvPr/>
        </p:nvSpPr>
        <p:spPr>
          <a:xfrm>
            <a:off x="5905195" y="2286000"/>
            <a:ext cx="11811305" cy="562356"/>
          </a:xfrm>
          <a:prstGeom prst="rect">
            <a:avLst/>
          </a:prstGeom>
          <a:solidFill>
            <a:srgbClr val="1B2C45"/>
          </a:solidFill>
          <a:ln w="12700">
            <a:solidFill>
              <a:srgbClr val="FFFFFF">
                <a:alpha val="0"/>
              </a:srgbClr>
            </a:solidFill>
            <a:prstDash val="solid"/>
          </a:ln>
        </p:spPr>
      </p:sp>
      <p:sp>
        <p:nvSpPr>
          <p:cNvPr id="37" name="Text 27"/>
          <p:cNvSpPr txBox="1"/>
          <p:nvPr/>
        </p:nvSpPr>
        <p:spPr>
          <a:xfrm>
            <a:off x="5905195" y="2286000"/>
            <a:ext cx="148590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Wafer</a:t>
            </a:r>
            <a:endParaRPr lang="en-US" sz="1500" dirty="0"/>
          </a:p>
        </p:txBody>
      </p:sp>
      <p:sp>
        <p:nvSpPr>
          <p:cNvPr id="38" name="Text 28"/>
          <p:cNvSpPr txBox="1"/>
          <p:nvPr/>
        </p:nvSpPr>
        <p:spPr>
          <a:xfrm>
            <a:off x="7391095" y="2286000"/>
            <a:ext cx="167701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Split</a:t>
            </a:r>
            <a:endParaRPr lang="en-US" sz="1500" dirty="0"/>
          </a:p>
        </p:txBody>
      </p:sp>
      <p:sp>
        <p:nvSpPr>
          <p:cNvPr id="39" name="Text 29"/>
          <p:cNvSpPr txBox="1"/>
          <p:nvPr/>
        </p:nvSpPr>
        <p:spPr>
          <a:xfrm>
            <a:off x="9068105" y="2286000"/>
            <a:ext cx="2048256"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Mean (nm)</a:t>
            </a:r>
            <a:endParaRPr lang="en-US" sz="1500" dirty="0"/>
          </a:p>
        </p:txBody>
      </p:sp>
      <p:sp>
        <p:nvSpPr>
          <p:cNvPr id="40" name="Text 30"/>
          <p:cNvSpPr txBox="1"/>
          <p:nvPr/>
        </p:nvSpPr>
        <p:spPr>
          <a:xfrm>
            <a:off x="11109046" y="2286000"/>
            <a:ext cx="1648663"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3σ (nm)</a:t>
            </a:r>
            <a:endParaRPr lang="en-US" sz="1500" dirty="0"/>
          </a:p>
        </p:txBody>
      </p:sp>
      <p:sp>
        <p:nvSpPr>
          <p:cNvPr id="41" name="Text 31"/>
          <p:cNvSpPr txBox="1"/>
          <p:nvPr/>
        </p:nvSpPr>
        <p:spPr>
          <a:xfrm>
            <a:off x="12755880" y="2286000"/>
            <a:ext cx="2162556"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Range (nm)</a:t>
            </a:r>
            <a:endParaRPr lang="en-US" sz="1500" dirty="0"/>
          </a:p>
        </p:txBody>
      </p:sp>
      <p:sp>
        <p:nvSpPr>
          <p:cNvPr id="42" name="Text 32"/>
          <p:cNvSpPr txBox="1"/>
          <p:nvPr/>
        </p:nvSpPr>
        <p:spPr>
          <a:xfrm>
            <a:off x="14915693" y="2286000"/>
            <a:ext cx="2809951"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Δ vs target (nm)</a:t>
            </a:r>
            <a:endParaRPr lang="en-US" sz="1500" dirty="0"/>
          </a:p>
        </p:txBody>
      </p:sp>
      <p:sp>
        <p:nvSpPr>
          <p:cNvPr id="43" name="Shape 33"/>
          <p:cNvSpPr/>
          <p:nvPr/>
        </p:nvSpPr>
        <p:spPr>
          <a:xfrm>
            <a:off x="5905195" y="3410712"/>
            <a:ext cx="11811305" cy="9144"/>
          </a:xfrm>
          <a:prstGeom prst="rect">
            <a:avLst/>
          </a:prstGeom>
          <a:solidFill>
            <a:srgbClr val="D6DCE5"/>
          </a:solidFill>
          <a:ln w="12700">
            <a:solidFill>
              <a:srgbClr val="D6DCE5">
                <a:alpha val="0"/>
              </a:srgbClr>
            </a:solidFill>
            <a:prstDash val="solid"/>
          </a:ln>
        </p:spPr>
      </p:sp>
      <p:sp>
        <p:nvSpPr>
          <p:cNvPr id="44" name="Text 34"/>
          <p:cNvSpPr txBox="1"/>
          <p:nvPr/>
        </p:nvSpPr>
        <p:spPr>
          <a:xfrm>
            <a:off x="5905195" y="2848356"/>
            <a:ext cx="14859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W01</a:t>
            </a:r>
            <a:endParaRPr lang="en-US" sz="1500" dirty="0"/>
          </a:p>
        </p:txBody>
      </p:sp>
      <p:sp>
        <p:nvSpPr>
          <p:cNvPr id="45" name="Text 35"/>
          <p:cNvSpPr txBox="1"/>
          <p:nvPr/>
        </p:nvSpPr>
        <p:spPr>
          <a:xfrm>
            <a:off x="9068105" y="2848356"/>
            <a:ext cx="20482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25.42</a:t>
            </a:r>
            <a:endParaRPr lang="en-US" sz="1500" dirty="0"/>
          </a:p>
        </p:txBody>
      </p:sp>
      <p:sp>
        <p:nvSpPr>
          <p:cNvPr id="46" name="Text 36"/>
          <p:cNvSpPr txBox="1"/>
          <p:nvPr/>
        </p:nvSpPr>
        <p:spPr>
          <a:xfrm>
            <a:off x="11109046" y="2848356"/>
            <a:ext cx="1648663"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1.21</a:t>
            </a:r>
            <a:endParaRPr lang="en-US" sz="1500" dirty="0"/>
          </a:p>
        </p:txBody>
      </p:sp>
      <p:sp>
        <p:nvSpPr>
          <p:cNvPr id="47" name="Text 37"/>
          <p:cNvSpPr txBox="1"/>
          <p:nvPr/>
        </p:nvSpPr>
        <p:spPr>
          <a:xfrm>
            <a:off x="12755880" y="2848356"/>
            <a:ext cx="21625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4.30</a:t>
            </a:r>
            <a:endParaRPr lang="en-US" sz="1500" dirty="0"/>
          </a:p>
        </p:txBody>
      </p:sp>
      <p:sp>
        <p:nvSpPr>
          <p:cNvPr id="48" name="Text 38"/>
          <p:cNvSpPr txBox="1"/>
          <p:nvPr/>
        </p:nvSpPr>
        <p:spPr>
          <a:xfrm>
            <a:off x="14915693" y="2848356"/>
            <a:ext cx="2809951" cy="571500"/>
          </a:xfrm>
          <a:prstGeom prst="rect">
            <a:avLst/>
          </a:prstGeom>
          <a:noFill/>
          <a:ln/>
        </p:spPr>
        <p:txBody>
          <a:bodyPr wrap="none" lIns="0" tIns="0" rIns="0" bIns="0" rtlCol="0" anchor="ctr"/>
          <a:lstStyle/>
          <a:p>
            <a:pPr algn="r" indent="0" marL="0">
              <a:buNone/>
            </a:pPr>
            <a:r>
              <a:rPr lang="en-US" sz="1500" b="1" dirty="0">
                <a:solidFill>
                  <a:srgbClr val="B85C46"/>
                </a:solidFill>
                <a:latin typeface="IBM Plex Sans KR" pitchFamily="34" charset="0"/>
                <a:ea typeface="IBM Plex Sans KR" pitchFamily="34" charset="-122"/>
                <a:cs typeface="IBM Plex Sans KR" pitchFamily="34" charset="-120"/>
              </a:rPr>
              <a:t>+0.32</a:t>
            </a:r>
            <a:endParaRPr lang="en-US" sz="1500" dirty="0"/>
          </a:p>
        </p:txBody>
      </p:sp>
      <p:sp>
        <p:nvSpPr>
          <p:cNvPr id="49" name="Shape 39"/>
          <p:cNvSpPr/>
          <p:nvPr/>
        </p:nvSpPr>
        <p:spPr>
          <a:xfrm>
            <a:off x="5905195" y="3414370"/>
            <a:ext cx="11811305" cy="571500"/>
          </a:xfrm>
          <a:prstGeom prst="rect">
            <a:avLst/>
          </a:prstGeom>
          <a:solidFill>
            <a:srgbClr val="F7F8FB"/>
          </a:solidFill>
          <a:ln/>
        </p:spPr>
      </p:sp>
      <p:sp>
        <p:nvSpPr>
          <p:cNvPr id="50" name="Shape 40"/>
          <p:cNvSpPr/>
          <p:nvPr/>
        </p:nvSpPr>
        <p:spPr>
          <a:xfrm>
            <a:off x="5905195" y="3976726"/>
            <a:ext cx="11811305" cy="9144"/>
          </a:xfrm>
          <a:prstGeom prst="rect">
            <a:avLst/>
          </a:prstGeom>
          <a:solidFill>
            <a:srgbClr val="D6DCE5"/>
          </a:solidFill>
          <a:ln w="12700">
            <a:solidFill>
              <a:srgbClr val="D6DCE5">
                <a:alpha val="0"/>
              </a:srgbClr>
            </a:solidFill>
            <a:prstDash val="solid"/>
          </a:ln>
        </p:spPr>
      </p:sp>
      <p:sp>
        <p:nvSpPr>
          <p:cNvPr id="51" name="Text 41"/>
          <p:cNvSpPr txBox="1"/>
          <p:nvPr/>
        </p:nvSpPr>
        <p:spPr>
          <a:xfrm>
            <a:off x="5905195" y="3414370"/>
            <a:ext cx="14859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W02</a:t>
            </a:r>
            <a:endParaRPr lang="en-US" sz="1500" dirty="0"/>
          </a:p>
        </p:txBody>
      </p:sp>
      <p:sp>
        <p:nvSpPr>
          <p:cNvPr id="52" name="Text 42"/>
          <p:cNvSpPr txBox="1"/>
          <p:nvPr/>
        </p:nvSpPr>
        <p:spPr>
          <a:xfrm>
            <a:off x="9068105" y="3414370"/>
            <a:ext cx="20482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25.58</a:t>
            </a:r>
            <a:endParaRPr lang="en-US" sz="1500" dirty="0"/>
          </a:p>
        </p:txBody>
      </p:sp>
      <p:sp>
        <p:nvSpPr>
          <p:cNvPr id="53" name="Text 43"/>
          <p:cNvSpPr txBox="1"/>
          <p:nvPr/>
        </p:nvSpPr>
        <p:spPr>
          <a:xfrm>
            <a:off x="11109046" y="3414370"/>
            <a:ext cx="1648663"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1.18</a:t>
            </a:r>
            <a:endParaRPr lang="en-US" sz="1500" dirty="0"/>
          </a:p>
        </p:txBody>
      </p:sp>
      <p:sp>
        <p:nvSpPr>
          <p:cNvPr id="54" name="Text 44"/>
          <p:cNvSpPr txBox="1"/>
          <p:nvPr/>
        </p:nvSpPr>
        <p:spPr>
          <a:xfrm>
            <a:off x="12755880" y="3414370"/>
            <a:ext cx="21625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4.10</a:t>
            </a:r>
            <a:endParaRPr lang="en-US" sz="1500" dirty="0"/>
          </a:p>
        </p:txBody>
      </p:sp>
      <p:sp>
        <p:nvSpPr>
          <p:cNvPr id="55" name="Text 45"/>
          <p:cNvSpPr txBox="1"/>
          <p:nvPr/>
        </p:nvSpPr>
        <p:spPr>
          <a:xfrm>
            <a:off x="14915693" y="3414370"/>
            <a:ext cx="2809951" cy="571500"/>
          </a:xfrm>
          <a:prstGeom prst="rect">
            <a:avLst/>
          </a:prstGeom>
          <a:noFill/>
          <a:ln/>
        </p:spPr>
        <p:txBody>
          <a:bodyPr wrap="none" lIns="0" tIns="0" rIns="0" bIns="0" rtlCol="0" anchor="ctr"/>
          <a:lstStyle/>
          <a:p>
            <a:pPr algn="r" indent="0" marL="0">
              <a:buNone/>
            </a:pPr>
            <a:r>
              <a:rPr lang="en-US" sz="1500" b="1" dirty="0">
                <a:solidFill>
                  <a:srgbClr val="B85C46"/>
                </a:solidFill>
                <a:latin typeface="IBM Plex Sans KR" pitchFamily="34" charset="0"/>
                <a:ea typeface="IBM Plex Sans KR" pitchFamily="34" charset="-122"/>
                <a:cs typeface="IBM Plex Sans KR" pitchFamily="34" charset="-120"/>
              </a:rPr>
              <a:t>+0.48</a:t>
            </a:r>
            <a:endParaRPr lang="en-US" sz="1500" dirty="0"/>
          </a:p>
        </p:txBody>
      </p:sp>
      <p:sp>
        <p:nvSpPr>
          <p:cNvPr id="56" name="Shape 46"/>
          <p:cNvSpPr/>
          <p:nvPr/>
        </p:nvSpPr>
        <p:spPr>
          <a:xfrm>
            <a:off x="5905195" y="4557370"/>
            <a:ext cx="11811305" cy="9144"/>
          </a:xfrm>
          <a:prstGeom prst="rect">
            <a:avLst/>
          </a:prstGeom>
          <a:solidFill>
            <a:srgbClr val="D6DCE5"/>
          </a:solidFill>
          <a:ln w="12700">
            <a:solidFill>
              <a:srgbClr val="D6DCE5">
                <a:alpha val="0"/>
              </a:srgbClr>
            </a:solidFill>
            <a:prstDash val="solid"/>
          </a:ln>
        </p:spPr>
      </p:sp>
      <p:sp>
        <p:nvSpPr>
          <p:cNvPr id="57" name="Text 47"/>
          <p:cNvSpPr txBox="1"/>
          <p:nvPr/>
        </p:nvSpPr>
        <p:spPr>
          <a:xfrm>
            <a:off x="5905195" y="3985870"/>
            <a:ext cx="148590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W03</a:t>
            </a:r>
            <a:endParaRPr lang="en-US" sz="1500" dirty="0"/>
          </a:p>
        </p:txBody>
      </p:sp>
      <p:sp>
        <p:nvSpPr>
          <p:cNvPr id="58" name="Text 48"/>
          <p:cNvSpPr txBox="1"/>
          <p:nvPr/>
        </p:nvSpPr>
        <p:spPr>
          <a:xfrm>
            <a:off x="9068105" y="3985870"/>
            <a:ext cx="20482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25.31</a:t>
            </a:r>
            <a:endParaRPr lang="en-US" sz="1500" dirty="0"/>
          </a:p>
        </p:txBody>
      </p:sp>
      <p:sp>
        <p:nvSpPr>
          <p:cNvPr id="59" name="Text 49"/>
          <p:cNvSpPr txBox="1"/>
          <p:nvPr/>
        </p:nvSpPr>
        <p:spPr>
          <a:xfrm>
            <a:off x="11109046" y="3985870"/>
            <a:ext cx="1648663"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1.24</a:t>
            </a:r>
            <a:endParaRPr lang="en-US" sz="1500" dirty="0"/>
          </a:p>
        </p:txBody>
      </p:sp>
      <p:sp>
        <p:nvSpPr>
          <p:cNvPr id="60" name="Text 50"/>
          <p:cNvSpPr txBox="1"/>
          <p:nvPr/>
        </p:nvSpPr>
        <p:spPr>
          <a:xfrm>
            <a:off x="12755880" y="3985870"/>
            <a:ext cx="21625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4.55</a:t>
            </a:r>
            <a:endParaRPr lang="en-US" sz="1500" dirty="0"/>
          </a:p>
        </p:txBody>
      </p:sp>
      <p:sp>
        <p:nvSpPr>
          <p:cNvPr id="61" name="Text 51"/>
          <p:cNvSpPr txBox="1"/>
          <p:nvPr/>
        </p:nvSpPr>
        <p:spPr>
          <a:xfrm>
            <a:off x="14915693" y="3985870"/>
            <a:ext cx="2809951" cy="581558"/>
          </a:xfrm>
          <a:prstGeom prst="rect">
            <a:avLst/>
          </a:prstGeom>
          <a:noFill/>
          <a:ln/>
        </p:spPr>
        <p:txBody>
          <a:bodyPr wrap="square" lIns="0" tIns="0" rIns="0" bIns="0" rtlCol="0" anchor="ctr"/>
          <a:lstStyle/>
          <a:p>
            <a:pPr algn="r" indent="0" marL="0">
              <a:buNone/>
            </a:pPr>
            <a:r>
              <a:rPr lang="en-US" sz="1500" b="1" dirty="0">
                <a:solidFill>
                  <a:srgbClr val="B85C46"/>
                </a:solidFill>
                <a:latin typeface="IBM Plex Sans KR" pitchFamily="34" charset="0"/>
                <a:ea typeface="IBM Plex Sans KR" pitchFamily="34" charset="-122"/>
                <a:cs typeface="IBM Plex Sans KR" pitchFamily="34" charset="-120"/>
              </a:rPr>
              <a:t>+0.21</a:t>
            </a:r>
            <a:endParaRPr lang="en-US" sz="1500" dirty="0"/>
          </a:p>
        </p:txBody>
      </p:sp>
      <p:sp>
        <p:nvSpPr>
          <p:cNvPr id="62" name="Shape 52"/>
          <p:cNvSpPr/>
          <p:nvPr/>
        </p:nvSpPr>
        <p:spPr>
          <a:xfrm>
            <a:off x="5905195" y="4562856"/>
            <a:ext cx="11811305" cy="580644"/>
          </a:xfrm>
          <a:prstGeom prst="rect">
            <a:avLst/>
          </a:prstGeom>
          <a:solidFill>
            <a:srgbClr val="F2F4F8"/>
          </a:solidFill>
          <a:ln w="25400">
            <a:solidFill>
              <a:srgbClr val="B6C0CE"/>
            </a:solidFill>
            <a:prstDash val="solid"/>
          </a:ln>
        </p:spPr>
      </p:sp>
      <p:sp>
        <p:nvSpPr>
          <p:cNvPr id="63" name="Text 53"/>
          <p:cNvSpPr txBox="1"/>
          <p:nvPr/>
        </p:nvSpPr>
        <p:spPr>
          <a:xfrm>
            <a:off x="5905195" y="4562856"/>
            <a:ext cx="148590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W04</a:t>
            </a:r>
            <a:endParaRPr lang="en-US" sz="1500" dirty="0"/>
          </a:p>
        </p:txBody>
      </p:sp>
      <p:sp>
        <p:nvSpPr>
          <p:cNvPr id="64" name="Text 54"/>
          <p:cNvSpPr txBox="1"/>
          <p:nvPr/>
        </p:nvSpPr>
        <p:spPr>
          <a:xfrm>
            <a:off x="9068105" y="4562856"/>
            <a:ext cx="20482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25.04</a:t>
            </a:r>
            <a:endParaRPr lang="en-US" sz="1500" dirty="0"/>
          </a:p>
        </p:txBody>
      </p:sp>
      <p:sp>
        <p:nvSpPr>
          <p:cNvPr id="65" name="Text 55"/>
          <p:cNvSpPr txBox="1"/>
          <p:nvPr/>
        </p:nvSpPr>
        <p:spPr>
          <a:xfrm>
            <a:off x="11109046" y="4562856"/>
            <a:ext cx="1648663"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0.61</a:t>
            </a:r>
            <a:endParaRPr lang="en-US" sz="1500" dirty="0"/>
          </a:p>
        </p:txBody>
      </p:sp>
      <p:sp>
        <p:nvSpPr>
          <p:cNvPr id="66" name="Text 56"/>
          <p:cNvSpPr txBox="1"/>
          <p:nvPr/>
        </p:nvSpPr>
        <p:spPr>
          <a:xfrm>
            <a:off x="12755880" y="4562856"/>
            <a:ext cx="21625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2.02</a:t>
            </a:r>
            <a:endParaRPr lang="en-US" sz="1500" dirty="0"/>
          </a:p>
        </p:txBody>
      </p:sp>
      <p:sp>
        <p:nvSpPr>
          <p:cNvPr id="67" name="Text 57"/>
          <p:cNvSpPr txBox="1"/>
          <p:nvPr/>
        </p:nvSpPr>
        <p:spPr>
          <a:xfrm>
            <a:off x="14915693" y="4562856"/>
            <a:ext cx="2809951" cy="581558"/>
          </a:xfrm>
          <a:prstGeom prst="rect">
            <a:avLst/>
          </a:prstGeom>
          <a:noFill/>
          <a:ln/>
        </p:spPr>
        <p:txBody>
          <a:bodyPr wrap="square" lIns="0" tIns="0" rIns="0" bIns="0" rtlCol="0" anchor="ctr"/>
          <a:lstStyle/>
          <a:p>
            <a:pPr algn="r" indent="0" marL="0">
              <a:buNone/>
            </a:pPr>
            <a:r>
              <a:rPr lang="en-US" sz="1500" b="1" dirty="0">
                <a:solidFill>
                  <a:srgbClr val="2D6F8C"/>
                </a:solidFill>
                <a:latin typeface="IBM Plex Sans KR" pitchFamily="34" charset="0"/>
                <a:ea typeface="IBM Plex Sans KR" pitchFamily="34" charset="-122"/>
                <a:cs typeface="IBM Plex Sans KR" pitchFamily="34" charset="-120"/>
              </a:rPr>
              <a:t>−0.06</a:t>
            </a:r>
            <a:endParaRPr lang="en-US" sz="1500" dirty="0"/>
          </a:p>
        </p:txBody>
      </p:sp>
      <p:sp>
        <p:nvSpPr>
          <p:cNvPr id="68" name="Shape 58"/>
          <p:cNvSpPr/>
          <p:nvPr/>
        </p:nvSpPr>
        <p:spPr>
          <a:xfrm>
            <a:off x="5905195" y="5138928"/>
            <a:ext cx="11811305" cy="571500"/>
          </a:xfrm>
          <a:prstGeom prst="rect">
            <a:avLst/>
          </a:prstGeom>
          <a:solidFill>
            <a:srgbClr val="F7F8FB"/>
          </a:solidFill>
          <a:ln/>
        </p:spPr>
      </p:sp>
      <p:sp>
        <p:nvSpPr>
          <p:cNvPr id="69" name="Shape 59"/>
          <p:cNvSpPr/>
          <p:nvPr/>
        </p:nvSpPr>
        <p:spPr>
          <a:xfrm>
            <a:off x="5905195" y="5701284"/>
            <a:ext cx="11811305" cy="9144"/>
          </a:xfrm>
          <a:prstGeom prst="rect">
            <a:avLst/>
          </a:prstGeom>
          <a:solidFill>
            <a:srgbClr val="D6DCE5"/>
          </a:solidFill>
          <a:ln w="12700">
            <a:solidFill>
              <a:srgbClr val="D6DCE5">
                <a:alpha val="0"/>
              </a:srgbClr>
            </a:solidFill>
            <a:prstDash val="solid"/>
          </a:ln>
        </p:spPr>
      </p:sp>
      <p:sp>
        <p:nvSpPr>
          <p:cNvPr id="70" name="Text 60"/>
          <p:cNvSpPr txBox="1"/>
          <p:nvPr/>
        </p:nvSpPr>
        <p:spPr>
          <a:xfrm>
            <a:off x="5905195" y="5138928"/>
            <a:ext cx="14859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W05</a:t>
            </a:r>
            <a:endParaRPr lang="en-US" sz="1500" dirty="0"/>
          </a:p>
        </p:txBody>
      </p:sp>
      <p:sp>
        <p:nvSpPr>
          <p:cNvPr id="71" name="Text 61"/>
          <p:cNvSpPr txBox="1"/>
          <p:nvPr/>
        </p:nvSpPr>
        <p:spPr>
          <a:xfrm>
            <a:off x="9068105" y="5138928"/>
            <a:ext cx="20482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24.92</a:t>
            </a:r>
            <a:endParaRPr lang="en-US" sz="1500" dirty="0"/>
          </a:p>
        </p:txBody>
      </p:sp>
      <p:sp>
        <p:nvSpPr>
          <p:cNvPr id="72" name="Text 62"/>
          <p:cNvSpPr txBox="1"/>
          <p:nvPr/>
        </p:nvSpPr>
        <p:spPr>
          <a:xfrm>
            <a:off x="11109046" y="5138928"/>
            <a:ext cx="1648663"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0.58</a:t>
            </a:r>
            <a:endParaRPr lang="en-US" sz="1500" dirty="0"/>
          </a:p>
        </p:txBody>
      </p:sp>
      <p:sp>
        <p:nvSpPr>
          <p:cNvPr id="73" name="Text 63"/>
          <p:cNvSpPr txBox="1"/>
          <p:nvPr/>
        </p:nvSpPr>
        <p:spPr>
          <a:xfrm>
            <a:off x="12755880" y="5138928"/>
            <a:ext cx="21625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1.95</a:t>
            </a:r>
            <a:endParaRPr lang="en-US" sz="1500" dirty="0"/>
          </a:p>
        </p:txBody>
      </p:sp>
      <p:sp>
        <p:nvSpPr>
          <p:cNvPr id="74" name="Text 64"/>
          <p:cNvSpPr txBox="1"/>
          <p:nvPr/>
        </p:nvSpPr>
        <p:spPr>
          <a:xfrm>
            <a:off x="14915693" y="5138928"/>
            <a:ext cx="2809951" cy="571500"/>
          </a:xfrm>
          <a:prstGeom prst="rect">
            <a:avLst/>
          </a:prstGeom>
          <a:noFill/>
          <a:ln/>
        </p:spPr>
        <p:txBody>
          <a:bodyPr wrap="none" lIns="0" tIns="0" rIns="0" bIns="0" rtlCol="0" anchor="ctr"/>
          <a:lstStyle/>
          <a:p>
            <a:pPr algn="r" indent="0" marL="0">
              <a:buNone/>
            </a:pPr>
            <a:r>
              <a:rPr lang="en-US" sz="1500" b="1" dirty="0">
                <a:solidFill>
                  <a:srgbClr val="2D6F8C"/>
                </a:solidFill>
                <a:latin typeface="IBM Plex Sans KR" pitchFamily="34" charset="0"/>
                <a:ea typeface="IBM Plex Sans KR" pitchFamily="34" charset="-122"/>
                <a:cs typeface="IBM Plex Sans KR" pitchFamily="34" charset="-120"/>
              </a:rPr>
              <a:t>−0.18</a:t>
            </a:r>
            <a:endParaRPr lang="en-US" sz="1500" dirty="0"/>
          </a:p>
        </p:txBody>
      </p:sp>
      <p:sp>
        <p:nvSpPr>
          <p:cNvPr id="75" name="Text 65"/>
          <p:cNvSpPr txBox="1"/>
          <p:nvPr/>
        </p:nvSpPr>
        <p:spPr>
          <a:xfrm>
            <a:off x="5905195" y="5710428"/>
            <a:ext cx="148590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W06</a:t>
            </a:r>
            <a:endParaRPr lang="en-US" sz="1500" dirty="0"/>
          </a:p>
        </p:txBody>
      </p:sp>
      <p:sp>
        <p:nvSpPr>
          <p:cNvPr id="76" name="Text 66"/>
          <p:cNvSpPr txBox="1"/>
          <p:nvPr/>
        </p:nvSpPr>
        <p:spPr>
          <a:xfrm>
            <a:off x="9068105" y="5710428"/>
            <a:ext cx="20482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25.10</a:t>
            </a:r>
            <a:endParaRPr lang="en-US" sz="1500" dirty="0"/>
          </a:p>
        </p:txBody>
      </p:sp>
      <p:sp>
        <p:nvSpPr>
          <p:cNvPr id="77" name="Text 67"/>
          <p:cNvSpPr txBox="1"/>
          <p:nvPr/>
        </p:nvSpPr>
        <p:spPr>
          <a:xfrm>
            <a:off x="11109046" y="5710428"/>
            <a:ext cx="1648663"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0.65</a:t>
            </a:r>
            <a:endParaRPr lang="en-US" sz="1500" dirty="0"/>
          </a:p>
        </p:txBody>
      </p:sp>
      <p:sp>
        <p:nvSpPr>
          <p:cNvPr id="78" name="Text 68"/>
          <p:cNvSpPr txBox="1"/>
          <p:nvPr/>
        </p:nvSpPr>
        <p:spPr>
          <a:xfrm>
            <a:off x="12755880" y="5710428"/>
            <a:ext cx="21625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2.10</a:t>
            </a:r>
            <a:endParaRPr lang="en-US" sz="1500" dirty="0"/>
          </a:p>
        </p:txBody>
      </p:sp>
      <p:sp>
        <p:nvSpPr>
          <p:cNvPr id="79" name="Text 69"/>
          <p:cNvSpPr txBox="1"/>
          <p:nvPr/>
        </p:nvSpPr>
        <p:spPr>
          <a:xfrm>
            <a:off x="14915693" y="5710428"/>
            <a:ext cx="2809951" cy="571500"/>
          </a:xfrm>
          <a:prstGeom prst="rect">
            <a:avLst/>
          </a:prstGeom>
          <a:noFill/>
          <a:ln/>
        </p:spPr>
        <p:txBody>
          <a:bodyPr wrap="none" lIns="0" tIns="0" rIns="0" bIns="0" rtlCol="0" anchor="ctr"/>
          <a:lstStyle/>
          <a:p>
            <a:pPr algn="r" indent="0" marL="0">
              <a:buNone/>
            </a:pPr>
            <a:r>
              <a:rPr lang="en-US" sz="1500" b="1" dirty="0">
                <a:solidFill>
                  <a:srgbClr val="2D6F8C"/>
                </a:solidFill>
                <a:latin typeface="IBM Plex Sans KR" pitchFamily="34" charset="0"/>
                <a:ea typeface="IBM Plex Sans KR" pitchFamily="34" charset="-122"/>
                <a:cs typeface="IBM Plex Sans KR" pitchFamily="34" charset="-120"/>
              </a:rPr>
              <a:t>0.00</a:t>
            </a:r>
            <a:endParaRPr lang="en-US" sz="1500" dirty="0"/>
          </a:p>
        </p:txBody>
      </p:sp>
      <p:sp>
        <p:nvSpPr>
          <p:cNvPr id="80" name="Text 70"/>
          <p:cNvSpPr txBox="1"/>
          <p:nvPr/>
        </p:nvSpPr>
        <p:spPr>
          <a:xfrm>
            <a:off x="7505395" y="30193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81" name="Text 71"/>
          <p:cNvSpPr txBox="1"/>
          <p:nvPr/>
        </p:nvSpPr>
        <p:spPr>
          <a:xfrm>
            <a:off x="7505395" y="35908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82" name="Text 72"/>
          <p:cNvSpPr txBox="1"/>
          <p:nvPr/>
        </p:nvSpPr>
        <p:spPr>
          <a:xfrm>
            <a:off x="7505395" y="41623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83" name="Text 73"/>
          <p:cNvSpPr txBox="1"/>
          <p:nvPr/>
        </p:nvSpPr>
        <p:spPr>
          <a:xfrm>
            <a:off x="7524598" y="47439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84" name="Text 74"/>
          <p:cNvSpPr txBox="1"/>
          <p:nvPr/>
        </p:nvSpPr>
        <p:spPr>
          <a:xfrm>
            <a:off x="7524598" y="53154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85" name="Text 75"/>
          <p:cNvSpPr txBox="1"/>
          <p:nvPr/>
        </p:nvSpPr>
        <p:spPr>
          <a:xfrm>
            <a:off x="7524598" y="58869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86" name="Shape 76"/>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87" name="Text 77"/>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88" name="Image 7" descr="gen-dedup-2384ac9fd3012b414377934d98f26f83.png">    </p:cNvPr>
          <p:cNvPicPr>
            <a:picLocks noChangeAspect="1"/>
          </p:cNvPicPr>
          <p:nvPr/>
        </p:nvPicPr>
        <p:blipFill>
          <a:blip r:embed="rId8"/>
          <a:srcRect l="0" r="0" t="-2083" b="-2083"/>
          <a:stretch/>
        </p:blipFill>
        <p:spPr>
          <a:xfrm>
            <a:off x="2288743" y="8934602"/>
            <a:ext cx="9144" cy="228600"/>
          </a:xfrm>
          <a:prstGeom prst="rect">
            <a:avLst/>
          </a:prstGeom>
        </p:spPr>
      </p:pic>
      <p:sp>
        <p:nvSpPr>
          <p:cNvPr id="89" name="Text 78"/>
          <p:cNvSpPr txBox="1"/>
          <p:nvPr/>
        </p:nvSpPr>
        <p:spPr>
          <a:xfrm>
            <a:off x="2469794" y="8915400"/>
            <a:ext cx="10211105"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AASI에서 MOR은 target ±0.2 nm 안에 안착, CAR은 +0.2 ~ +0.5 nm로 일관되게 양의 편향을 보이며 3σ도 MOR의 약 2배.</a:t>
            </a:r>
            <a:endParaRPr lang="en-US" sz="1500" dirty="0"/>
          </a:p>
        </p:txBody>
      </p:sp>
      <p:sp>
        <p:nvSpPr>
          <p:cNvPr id="90" name="Text 79"/>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03 of 12 · AASI · unit nm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15319858" y="2952598"/>
            <a:ext cx="2396642" cy="1714500"/>
          </a:xfrm>
          <a:prstGeom prst="rect">
            <a:avLst/>
          </a:prstGeom>
          <a:noFill/>
          <a:ln/>
        </p:spPr>
        <p:txBody>
          <a:bodyPr wrap="none" lIns="0" tIns="0" rIns="0" bIns="0" rtlCol="0" anchor="ctr"/>
          <a:lstStyle/>
          <a:p>
            <a:pPr algn="r" indent="0" marL="0">
              <a:buNone/>
            </a:pPr>
            <a:r>
              <a:rPr lang="en-US" sz="15000" b="1" spc="-750" kern="0" dirty="0">
                <a:solidFill>
                  <a:srgbClr val="1B2C45">
                    <a:alpha val="10000"/>
                  </a:srgbClr>
                </a:solidFill>
                <a:latin typeface="IBM Plex Sans KR" pitchFamily="34" charset="0"/>
                <a:ea typeface="IBM Plex Sans KR" pitchFamily="34" charset="-122"/>
                <a:cs typeface="IBM Plex Sans KR" pitchFamily="34" charset="-120"/>
              </a:rPr>
              <a:t>04</a:t>
            </a:r>
            <a:endParaRPr lang="en-US" sz="15000" dirty="0"/>
          </a:p>
        </p:txBody>
      </p:sp>
      <p:sp>
        <p:nvSpPr>
          <p:cNvPr id="5" name="Text 1"/>
          <p:cNvSpPr txBox="1"/>
          <p:nvPr/>
        </p:nvSpPr>
        <p:spPr>
          <a:xfrm>
            <a:off x="571500" y="571500"/>
            <a:ext cx="4131259"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04 / CD variation · Active SE — Inner</a:t>
            </a:r>
            <a:endParaRPr lang="en-US" sz="1050" dirty="0"/>
          </a:p>
        </p:txBody>
      </p:sp>
      <p:pic>
        <p:nvPicPr>
          <p:cNvPr id="6" name="Image 1" descr="gen-dedup-72c8c855dd65dd3f7a058d199e994252.png">    </p:cNvPr>
          <p:cNvPicPr>
            <a:picLocks noChangeAspect="1"/>
          </p:cNvPicPr>
          <p:nvPr/>
        </p:nvPicPr>
        <p:blipFill>
          <a:blip r:embed="rId2"/>
          <a:srcRect l="-2083" r="-2083" t="0" b="0"/>
          <a:stretch/>
        </p:blipFill>
        <p:spPr>
          <a:xfrm>
            <a:off x="4281221" y="666598"/>
            <a:ext cx="342900" cy="9144"/>
          </a:xfrm>
          <a:prstGeom prst="rect">
            <a:avLst/>
          </a:prstGeom>
        </p:spPr>
      </p:pic>
      <p:sp>
        <p:nvSpPr>
          <p:cNvPr id="7" name="Text 2"/>
          <p:cNvSpPr txBox="1"/>
          <p:nvPr/>
        </p:nvSpPr>
        <p:spPr>
          <a:xfrm>
            <a:off x="4757623" y="571500"/>
            <a:ext cx="190286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split · CAR vs MOR</a:t>
            </a:r>
            <a:endParaRPr lang="en-US" sz="1050" dirty="0"/>
          </a:p>
        </p:txBody>
      </p:sp>
      <p:sp>
        <p:nvSpPr>
          <p:cNvPr id="8" name="Text 3"/>
          <p:cNvSpPr txBox="1"/>
          <p:nvPr/>
        </p:nvSpPr>
        <p:spPr>
          <a:xfrm>
            <a:off x="571500" y="905256"/>
            <a:ext cx="121926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ASEI </a:t>
            </a:r>
            <a:pPr algn="l" indent="0" marL="0">
              <a:buNone/>
            </a:pPr>
            <a:r>
              <a:rPr lang="en-US" sz="1800" b="1" dirty="0">
                <a:solidFill>
                  <a:srgbClr val="5C6B82"/>
                </a:solidFill>
                <a:latin typeface="IBM Plex Sans KR" pitchFamily="34" charset="0"/>
                <a:ea typeface="IBM Plex Sans KR" pitchFamily="34" charset="-122"/>
                <a:cs typeface="IBM Plex Sans KR" pitchFamily="34" charset="-120"/>
              </a:rPr>
              <a:t>/ target 15.3 nm</a:t>
            </a:r>
            <a:endParaRPr lang="en-US" sz="3450" dirty="0"/>
          </a:p>
        </p:txBody>
      </p:sp>
      <p:pic>
        <p:nvPicPr>
          <p:cNvPr id="9"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10" name="Shape 4"/>
          <p:cNvSpPr/>
          <p:nvPr/>
        </p:nvSpPr>
        <p:spPr>
          <a:xfrm>
            <a:off x="14097305" y="571500"/>
            <a:ext cx="1742846" cy="1143000"/>
          </a:xfrm>
          <a:prstGeom prst="rect">
            <a:avLst/>
          </a:prstGeom>
          <a:solidFill>
            <a:srgbClr val="FFFFFF"/>
          </a:solidFill>
          <a:ln w="12700">
            <a:solidFill>
              <a:srgbClr val="C4CDD9"/>
            </a:solidFill>
            <a:prstDash val="solid"/>
          </a:ln>
        </p:spPr>
      </p:sp>
      <p:sp>
        <p:nvSpPr>
          <p:cNvPr id="11" name="Text 5"/>
          <p:cNvSpPr txBox="1"/>
          <p:nvPr/>
        </p:nvSpPr>
        <p:spPr>
          <a:xfrm>
            <a:off x="14239951"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mean</a:t>
            </a:r>
            <a:endParaRPr lang="en-US" sz="900" dirty="0"/>
          </a:p>
        </p:txBody>
      </p:sp>
      <p:sp>
        <p:nvSpPr>
          <p:cNvPr id="12" name="Text 6"/>
          <p:cNvSpPr txBox="1"/>
          <p:nvPr/>
        </p:nvSpPr>
        <p:spPr>
          <a:xfrm>
            <a:off x="14239951" y="961949"/>
            <a:ext cx="1457554" cy="286207"/>
          </a:xfrm>
          <a:prstGeom prst="rect">
            <a:avLst/>
          </a:prstGeom>
          <a:noFill/>
          <a:ln/>
        </p:spPr>
        <p:txBody>
          <a:bodyPr wrap="none" lIns="0" tIns="0" rIns="0" bIns="0" rtlCol="0" anchor="ctr"/>
          <a:lstStyle/>
          <a:p>
            <a:pPr algn="l" indent="0" marL="0">
              <a:buNone/>
            </a:pPr>
            <a:r>
              <a:rPr lang="en-US" sz="2250" b="1" dirty="0">
                <a:solidFill>
                  <a:srgbClr val="B85C46"/>
                </a:solidFill>
                <a:latin typeface="IBM Plex Sans KR" pitchFamily="34" charset="0"/>
                <a:ea typeface="IBM Plex Sans KR" pitchFamily="34" charset="-122"/>
                <a:cs typeface="IBM Plex Sans KR" pitchFamily="34" charset="-120"/>
              </a:rPr>
              <a:t>15.54</a:t>
            </a:r>
            <a:endParaRPr lang="en-US" sz="2250" dirty="0"/>
          </a:p>
        </p:txBody>
      </p:sp>
      <p:sp>
        <p:nvSpPr>
          <p:cNvPr id="13" name="Text 7"/>
          <p:cNvSpPr txBox="1"/>
          <p:nvPr/>
        </p:nvSpPr>
        <p:spPr>
          <a:xfrm>
            <a:off x="14239951"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W01–W03</a:t>
            </a:r>
            <a:endParaRPr lang="en-US" sz="900" dirty="0"/>
          </a:p>
        </p:txBody>
      </p:sp>
      <p:sp>
        <p:nvSpPr>
          <p:cNvPr id="14" name="Shape 8"/>
          <p:cNvSpPr/>
          <p:nvPr/>
        </p:nvSpPr>
        <p:spPr>
          <a:xfrm>
            <a:off x="15973654" y="571500"/>
            <a:ext cx="1742846" cy="1143000"/>
          </a:xfrm>
          <a:prstGeom prst="rect">
            <a:avLst/>
          </a:prstGeom>
          <a:solidFill>
            <a:srgbClr val="FFFFFF"/>
          </a:solidFill>
          <a:ln w="12700">
            <a:solidFill>
              <a:srgbClr val="C4CDD9"/>
            </a:solidFill>
            <a:prstDash val="solid"/>
          </a:ln>
        </p:spPr>
      </p:sp>
      <p:sp>
        <p:nvSpPr>
          <p:cNvPr id="15" name="Text 9"/>
          <p:cNvSpPr txBox="1"/>
          <p:nvPr/>
        </p:nvSpPr>
        <p:spPr>
          <a:xfrm>
            <a:off x="16116300"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mean</a:t>
            </a:r>
            <a:endParaRPr lang="en-US" sz="900" dirty="0"/>
          </a:p>
        </p:txBody>
      </p:sp>
      <p:sp>
        <p:nvSpPr>
          <p:cNvPr id="16" name="Text 10"/>
          <p:cNvSpPr txBox="1"/>
          <p:nvPr/>
        </p:nvSpPr>
        <p:spPr>
          <a:xfrm>
            <a:off x="16116300" y="961949"/>
            <a:ext cx="1457554" cy="286207"/>
          </a:xfrm>
          <a:prstGeom prst="rect">
            <a:avLst/>
          </a:prstGeom>
          <a:noFill/>
          <a:ln/>
        </p:spPr>
        <p:txBody>
          <a:bodyPr wrap="none" lIns="0" tIns="0" rIns="0" bIns="0" rtlCol="0" anchor="ctr"/>
          <a:lstStyle/>
          <a:p>
            <a:pPr algn="l" indent="0" marL="0">
              <a:buNone/>
            </a:pPr>
            <a:r>
              <a:rPr lang="en-US" sz="2250" b="1" dirty="0">
                <a:solidFill>
                  <a:srgbClr val="2D6F8C"/>
                </a:solidFill>
                <a:latin typeface="IBM Plex Sans KR" pitchFamily="34" charset="0"/>
                <a:ea typeface="IBM Plex Sans KR" pitchFamily="34" charset="-122"/>
                <a:cs typeface="IBM Plex Sans KR" pitchFamily="34" charset="-120"/>
              </a:rPr>
              <a:t>15.20</a:t>
            </a:r>
            <a:endParaRPr lang="en-US" sz="2250" dirty="0"/>
          </a:p>
        </p:txBody>
      </p:sp>
      <p:sp>
        <p:nvSpPr>
          <p:cNvPr id="17" name="Text 11"/>
          <p:cNvSpPr txBox="1"/>
          <p:nvPr/>
        </p:nvSpPr>
        <p:spPr>
          <a:xfrm>
            <a:off x="16116300"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W04–W06</a:t>
            </a:r>
            <a:endParaRPr lang="en-US" sz="900" dirty="0"/>
          </a:p>
        </p:txBody>
      </p:sp>
      <p:sp>
        <p:nvSpPr>
          <p:cNvPr id="18" name="Shape 12"/>
          <p:cNvSpPr/>
          <p:nvPr/>
        </p:nvSpPr>
        <p:spPr>
          <a:xfrm>
            <a:off x="571500" y="2286000"/>
            <a:ext cx="14287500" cy="619049"/>
          </a:xfrm>
          <a:prstGeom prst="rect">
            <a:avLst/>
          </a:prstGeom>
          <a:solidFill>
            <a:srgbClr val="1B2C45"/>
          </a:solidFill>
          <a:ln w="12700">
            <a:solidFill>
              <a:srgbClr val="FFFFFF">
                <a:alpha val="0"/>
              </a:srgbClr>
            </a:solidFill>
            <a:prstDash val="solid"/>
          </a:ln>
        </p:spPr>
      </p:sp>
      <p:sp>
        <p:nvSpPr>
          <p:cNvPr id="19" name="Text 13"/>
          <p:cNvSpPr txBox="1"/>
          <p:nvPr/>
        </p:nvSpPr>
        <p:spPr>
          <a:xfrm>
            <a:off x="571500" y="2286000"/>
            <a:ext cx="1562710"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Wafer</a:t>
            </a:r>
            <a:endParaRPr lang="en-US" sz="1575" dirty="0"/>
          </a:p>
        </p:txBody>
      </p:sp>
      <p:sp>
        <p:nvSpPr>
          <p:cNvPr id="20" name="Text 14"/>
          <p:cNvSpPr txBox="1"/>
          <p:nvPr/>
        </p:nvSpPr>
        <p:spPr>
          <a:xfrm>
            <a:off x="2133295" y="2286000"/>
            <a:ext cx="1752905"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Split</a:t>
            </a:r>
            <a:endParaRPr lang="en-US" sz="1575" dirty="0"/>
          </a:p>
        </p:txBody>
      </p:sp>
      <p:sp>
        <p:nvSpPr>
          <p:cNvPr id="21" name="Text 15"/>
          <p:cNvSpPr txBox="1"/>
          <p:nvPr/>
        </p:nvSpPr>
        <p:spPr>
          <a:xfrm>
            <a:off x="3886200" y="2286000"/>
            <a:ext cx="2829154"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Mean (nm)</a:t>
            </a:r>
            <a:endParaRPr lang="en-US" sz="1575" dirty="0"/>
          </a:p>
        </p:txBody>
      </p:sp>
      <p:sp>
        <p:nvSpPr>
          <p:cNvPr id="22" name="Text 16"/>
          <p:cNvSpPr txBox="1"/>
          <p:nvPr/>
        </p:nvSpPr>
        <p:spPr>
          <a:xfrm>
            <a:off x="6709867" y="2286000"/>
            <a:ext cx="2305202"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3σ (nm)</a:t>
            </a:r>
            <a:endParaRPr lang="en-US" sz="1575" dirty="0"/>
          </a:p>
        </p:txBody>
      </p:sp>
      <p:sp>
        <p:nvSpPr>
          <p:cNvPr id="23" name="Text 17"/>
          <p:cNvSpPr txBox="1"/>
          <p:nvPr/>
        </p:nvSpPr>
        <p:spPr>
          <a:xfrm>
            <a:off x="9011412" y="2286000"/>
            <a:ext cx="29818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Range (nm)</a:t>
            </a:r>
            <a:endParaRPr lang="en-US" sz="1575" dirty="0"/>
          </a:p>
        </p:txBody>
      </p:sp>
      <p:sp>
        <p:nvSpPr>
          <p:cNvPr id="24" name="Text 18"/>
          <p:cNvSpPr txBox="1"/>
          <p:nvPr/>
        </p:nvSpPr>
        <p:spPr>
          <a:xfrm>
            <a:off x="11992356" y="2286000"/>
            <a:ext cx="28675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Δ vs target</a:t>
            </a:r>
            <a:endParaRPr lang="en-US" sz="1575" dirty="0"/>
          </a:p>
        </p:txBody>
      </p:sp>
      <p:sp>
        <p:nvSpPr>
          <p:cNvPr id="25" name="Shape 19"/>
          <p:cNvSpPr/>
          <p:nvPr/>
        </p:nvSpPr>
        <p:spPr>
          <a:xfrm>
            <a:off x="571500" y="3486607"/>
            <a:ext cx="14287500" cy="9144"/>
          </a:xfrm>
          <a:prstGeom prst="rect">
            <a:avLst/>
          </a:prstGeom>
          <a:solidFill>
            <a:srgbClr val="D6DCE5"/>
          </a:solidFill>
          <a:ln w="12700">
            <a:solidFill>
              <a:srgbClr val="D6DCE5">
                <a:alpha val="0"/>
              </a:srgbClr>
            </a:solidFill>
            <a:prstDash val="solid"/>
          </a:ln>
        </p:spPr>
      </p:sp>
      <p:sp>
        <p:nvSpPr>
          <p:cNvPr id="26" name="Text 20"/>
          <p:cNvSpPr txBox="1"/>
          <p:nvPr/>
        </p:nvSpPr>
        <p:spPr>
          <a:xfrm>
            <a:off x="571500" y="290504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W01</a:t>
            </a:r>
            <a:endParaRPr lang="en-US" sz="1575" dirty="0"/>
          </a:p>
        </p:txBody>
      </p:sp>
      <p:sp>
        <p:nvSpPr>
          <p:cNvPr id="27" name="Text 21"/>
          <p:cNvSpPr txBox="1"/>
          <p:nvPr/>
        </p:nvSpPr>
        <p:spPr>
          <a:xfrm>
            <a:off x="3886200" y="290504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15.51</a:t>
            </a:r>
            <a:endParaRPr lang="en-US" sz="1575" dirty="0"/>
          </a:p>
        </p:txBody>
      </p:sp>
      <p:sp>
        <p:nvSpPr>
          <p:cNvPr id="28" name="Text 22"/>
          <p:cNvSpPr txBox="1"/>
          <p:nvPr/>
        </p:nvSpPr>
        <p:spPr>
          <a:xfrm>
            <a:off x="6709867" y="290504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0.93</a:t>
            </a:r>
            <a:endParaRPr lang="en-US" sz="1575" dirty="0"/>
          </a:p>
        </p:txBody>
      </p:sp>
      <p:sp>
        <p:nvSpPr>
          <p:cNvPr id="29" name="Text 23"/>
          <p:cNvSpPr txBox="1"/>
          <p:nvPr/>
        </p:nvSpPr>
        <p:spPr>
          <a:xfrm>
            <a:off x="9011412" y="290504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3.42</a:t>
            </a:r>
            <a:endParaRPr lang="en-US" sz="1575" dirty="0"/>
          </a:p>
        </p:txBody>
      </p:sp>
      <p:sp>
        <p:nvSpPr>
          <p:cNvPr id="30" name="Text 24"/>
          <p:cNvSpPr txBox="1"/>
          <p:nvPr/>
        </p:nvSpPr>
        <p:spPr>
          <a:xfrm>
            <a:off x="11992356" y="290504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+0.21</a:t>
            </a:r>
            <a:endParaRPr lang="en-US" sz="1575" dirty="0"/>
          </a:p>
        </p:txBody>
      </p:sp>
      <p:sp>
        <p:nvSpPr>
          <p:cNvPr id="31" name="Shape 25"/>
          <p:cNvSpPr/>
          <p:nvPr/>
        </p:nvSpPr>
        <p:spPr>
          <a:xfrm>
            <a:off x="571500" y="3491179"/>
            <a:ext cx="14287500" cy="590702"/>
          </a:xfrm>
          <a:prstGeom prst="rect">
            <a:avLst/>
          </a:prstGeom>
          <a:solidFill>
            <a:srgbClr val="F7F8FB"/>
          </a:solidFill>
          <a:ln/>
        </p:spPr>
      </p:sp>
      <p:sp>
        <p:nvSpPr>
          <p:cNvPr id="32" name="Shape 26"/>
          <p:cNvSpPr/>
          <p:nvPr/>
        </p:nvSpPr>
        <p:spPr>
          <a:xfrm>
            <a:off x="571500" y="4072738"/>
            <a:ext cx="14287500" cy="9144"/>
          </a:xfrm>
          <a:prstGeom prst="rect">
            <a:avLst/>
          </a:prstGeom>
          <a:solidFill>
            <a:srgbClr val="D6DCE5"/>
          </a:solidFill>
          <a:ln w="12700">
            <a:solidFill>
              <a:srgbClr val="D6DCE5">
                <a:alpha val="0"/>
              </a:srgbClr>
            </a:solidFill>
            <a:prstDash val="solid"/>
          </a:ln>
        </p:spPr>
      </p:sp>
      <p:sp>
        <p:nvSpPr>
          <p:cNvPr id="33" name="Text 27"/>
          <p:cNvSpPr txBox="1"/>
          <p:nvPr/>
        </p:nvSpPr>
        <p:spPr>
          <a:xfrm>
            <a:off x="571500" y="349117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W02</a:t>
            </a:r>
            <a:endParaRPr lang="en-US" sz="1575" dirty="0"/>
          </a:p>
        </p:txBody>
      </p:sp>
      <p:sp>
        <p:nvSpPr>
          <p:cNvPr id="34" name="Text 28"/>
          <p:cNvSpPr txBox="1"/>
          <p:nvPr/>
        </p:nvSpPr>
        <p:spPr>
          <a:xfrm>
            <a:off x="3886200" y="349117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15.68</a:t>
            </a:r>
            <a:endParaRPr lang="en-US" sz="1575" dirty="0"/>
          </a:p>
        </p:txBody>
      </p:sp>
      <p:sp>
        <p:nvSpPr>
          <p:cNvPr id="35" name="Text 29"/>
          <p:cNvSpPr txBox="1"/>
          <p:nvPr/>
        </p:nvSpPr>
        <p:spPr>
          <a:xfrm>
            <a:off x="6709867" y="349117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0.96</a:t>
            </a:r>
            <a:endParaRPr lang="en-US" sz="1575" dirty="0"/>
          </a:p>
        </p:txBody>
      </p:sp>
      <p:sp>
        <p:nvSpPr>
          <p:cNvPr id="36" name="Text 30"/>
          <p:cNvSpPr txBox="1"/>
          <p:nvPr/>
        </p:nvSpPr>
        <p:spPr>
          <a:xfrm>
            <a:off x="9011412" y="349117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3.55</a:t>
            </a:r>
            <a:endParaRPr lang="en-US" sz="1575" dirty="0"/>
          </a:p>
        </p:txBody>
      </p:sp>
      <p:sp>
        <p:nvSpPr>
          <p:cNvPr id="37" name="Text 31"/>
          <p:cNvSpPr txBox="1"/>
          <p:nvPr/>
        </p:nvSpPr>
        <p:spPr>
          <a:xfrm>
            <a:off x="11992356" y="349117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+0.38</a:t>
            </a:r>
            <a:endParaRPr lang="en-US" sz="1575" dirty="0"/>
          </a:p>
        </p:txBody>
      </p:sp>
      <p:sp>
        <p:nvSpPr>
          <p:cNvPr id="38" name="Shape 32"/>
          <p:cNvSpPr/>
          <p:nvPr/>
        </p:nvSpPr>
        <p:spPr>
          <a:xfrm>
            <a:off x="571500" y="4672584"/>
            <a:ext cx="14287500" cy="9144"/>
          </a:xfrm>
          <a:prstGeom prst="rect">
            <a:avLst/>
          </a:prstGeom>
          <a:solidFill>
            <a:srgbClr val="D6DCE5"/>
          </a:solidFill>
          <a:ln w="12700">
            <a:solidFill>
              <a:srgbClr val="D6DCE5">
                <a:alpha val="0"/>
              </a:srgbClr>
            </a:solidFill>
            <a:prstDash val="solid"/>
          </a:ln>
        </p:spPr>
      </p:sp>
      <p:sp>
        <p:nvSpPr>
          <p:cNvPr id="39" name="Text 33"/>
          <p:cNvSpPr txBox="1"/>
          <p:nvPr/>
        </p:nvSpPr>
        <p:spPr>
          <a:xfrm>
            <a:off x="571500" y="4081882"/>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W03</a:t>
            </a:r>
            <a:endParaRPr lang="en-US" sz="1575" dirty="0"/>
          </a:p>
        </p:txBody>
      </p:sp>
      <p:sp>
        <p:nvSpPr>
          <p:cNvPr id="40" name="Text 34"/>
          <p:cNvSpPr txBox="1"/>
          <p:nvPr/>
        </p:nvSpPr>
        <p:spPr>
          <a:xfrm>
            <a:off x="3886200" y="4081882"/>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15.42</a:t>
            </a:r>
            <a:endParaRPr lang="en-US" sz="1575" dirty="0"/>
          </a:p>
        </p:txBody>
      </p:sp>
      <p:sp>
        <p:nvSpPr>
          <p:cNvPr id="41" name="Text 35"/>
          <p:cNvSpPr txBox="1"/>
          <p:nvPr/>
        </p:nvSpPr>
        <p:spPr>
          <a:xfrm>
            <a:off x="6709867" y="4081882"/>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0.91</a:t>
            </a:r>
            <a:endParaRPr lang="en-US" sz="1575" dirty="0"/>
          </a:p>
        </p:txBody>
      </p:sp>
      <p:sp>
        <p:nvSpPr>
          <p:cNvPr id="42" name="Text 36"/>
          <p:cNvSpPr txBox="1"/>
          <p:nvPr/>
        </p:nvSpPr>
        <p:spPr>
          <a:xfrm>
            <a:off x="9011412" y="4081882"/>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3.30</a:t>
            </a:r>
            <a:endParaRPr lang="en-US" sz="1575" dirty="0"/>
          </a:p>
        </p:txBody>
      </p:sp>
      <p:sp>
        <p:nvSpPr>
          <p:cNvPr id="43" name="Text 37"/>
          <p:cNvSpPr txBox="1"/>
          <p:nvPr/>
        </p:nvSpPr>
        <p:spPr>
          <a:xfrm>
            <a:off x="11992356" y="4081882"/>
            <a:ext cx="2867558" cy="600761"/>
          </a:xfrm>
          <a:prstGeom prst="rect">
            <a:avLst/>
          </a:prstGeom>
          <a:noFill/>
          <a:ln/>
        </p:spPr>
        <p:txBody>
          <a:bodyPr wrap="squar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+0.12</a:t>
            </a:r>
            <a:endParaRPr lang="en-US" sz="1575" dirty="0"/>
          </a:p>
        </p:txBody>
      </p:sp>
      <p:sp>
        <p:nvSpPr>
          <p:cNvPr id="44" name="Shape 38"/>
          <p:cNvSpPr/>
          <p:nvPr/>
        </p:nvSpPr>
        <p:spPr>
          <a:xfrm>
            <a:off x="571500" y="4677156"/>
            <a:ext cx="14287500" cy="599846"/>
          </a:xfrm>
          <a:prstGeom prst="rect">
            <a:avLst/>
          </a:prstGeom>
          <a:solidFill>
            <a:srgbClr val="F2F4F8"/>
          </a:solidFill>
          <a:ln w="25400">
            <a:solidFill>
              <a:srgbClr val="B6C0CE"/>
            </a:solidFill>
            <a:prstDash val="solid"/>
          </a:ln>
        </p:spPr>
      </p:sp>
      <p:sp>
        <p:nvSpPr>
          <p:cNvPr id="45" name="Text 39"/>
          <p:cNvSpPr txBox="1"/>
          <p:nvPr/>
        </p:nvSpPr>
        <p:spPr>
          <a:xfrm>
            <a:off x="571500" y="4677156"/>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W04</a:t>
            </a:r>
            <a:endParaRPr lang="en-US" sz="1575" dirty="0"/>
          </a:p>
        </p:txBody>
      </p:sp>
      <p:sp>
        <p:nvSpPr>
          <p:cNvPr id="46" name="Text 40"/>
          <p:cNvSpPr txBox="1"/>
          <p:nvPr/>
        </p:nvSpPr>
        <p:spPr>
          <a:xfrm>
            <a:off x="3886200" y="4677156"/>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15.21</a:t>
            </a:r>
            <a:endParaRPr lang="en-US" sz="1575" dirty="0"/>
          </a:p>
        </p:txBody>
      </p:sp>
      <p:sp>
        <p:nvSpPr>
          <p:cNvPr id="47" name="Text 41"/>
          <p:cNvSpPr txBox="1"/>
          <p:nvPr/>
        </p:nvSpPr>
        <p:spPr>
          <a:xfrm>
            <a:off x="6709867" y="4677156"/>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0.42</a:t>
            </a:r>
            <a:endParaRPr lang="en-US" sz="1575" dirty="0"/>
          </a:p>
        </p:txBody>
      </p:sp>
      <p:sp>
        <p:nvSpPr>
          <p:cNvPr id="48" name="Text 42"/>
          <p:cNvSpPr txBox="1"/>
          <p:nvPr/>
        </p:nvSpPr>
        <p:spPr>
          <a:xfrm>
            <a:off x="9011412" y="4677156"/>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1.48</a:t>
            </a:r>
            <a:endParaRPr lang="en-US" sz="1575" dirty="0"/>
          </a:p>
        </p:txBody>
      </p:sp>
      <p:sp>
        <p:nvSpPr>
          <p:cNvPr id="49" name="Text 43"/>
          <p:cNvSpPr txBox="1"/>
          <p:nvPr/>
        </p:nvSpPr>
        <p:spPr>
          <a:xfrm>
            <a:off x="11992356" y="4677156"/>
            <a:ext cx="2867558" cy="600761"/>
          </a:xfrm>
          <a:prstGeom prst="rect">
            <a:avLst/>
          </a:prstGeom>
          <a:noFill/>
          <a:ln/>
        </p:spPr>
        <p:txBody>
          <a:bodyPr wrap="squar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−0.09</a:t>
            </a:r>
            <a:endParaRPr lang="en-US" sz="1575" dirty="0"/>
          </a:p>
        </p:txBody>
      </p:sp>
      <p:sp>
        <p:nvSpPr>
          <p:cNvPr id="50" name="Shape 44"/>
          <p:cNvSpPr/>
          <p:nvPr/>
        </p:nvSpPr>
        <p:spPr>
          <a:xfrm>
            <a:off x="571500" y="5272430"/>
            <a:ext cx="14287500" cy="590702"/>
          </a:xfrm>
          <a:prstGeom prst="rect">
            <a:avLst/>
          </a:prstGeom>
          <a:solidFill>
            <a:srgbClr val="F7F8FB"/>
          </a:solidFill>
          <a:ln/>
        </p:spPr>
      </p:sp>
      <p:sp>
        <p:nvSpPr>
          <p:cNvPr id="51" name="Shape 45"/>
          <p:cNvSpPr/>
          <p:nvPr/>
        </p:nvSpPr>
        <p:spPr>
          <a:xfrm>
            <a:off x="571500" y="5853989"/>
            <a:ext cx="14287500" cy="9144"/>
          </a:xfrm>
          <a:prstGeom prst="rect">
            <a:avLst/>
          </a:prstGeom>
          <a:solidFill>
            <a:srgbClr val="D6DCE5"/>
          </a:solidFill>
          <a:ln w="12700">
            <a:solidFill>
              <a:srgbClr val="D6DCE5">
                <a:alpha val="0"/>
              </a:srgbClr>
            </a:solidFill>
            <a:prstDash val="solid"/>
          </a:ln>
        </p:spPr>
      </p:sp>
      <p:sp>
        <p:nvSpPr>
          <p:cNvPr id="52" name="Text 46"/>
          <p:cNvSpPr txBox="1"/>
          <p:nvPr/>
        </p:nvSpPr>
        <p:spPr>
          <a:xfrm>
            <a:off x="571500" y="5272430"/>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W05</a:t>
            </a:r>
            <a:endParaRPr lang="en-US" sz="1575" dirty="0"/>
          </a:p>
        </p:txBody>
      </p:sp>
      <p:sp>
        <p:nvSpPr>
          <p:cNvPr id="53" name="Text 47"/>
          <p:cNvSpPr txBox="1"/>
          <p:nvPr/>
        </p:nvSpPr>
        <p:spPr>
          <a:xfrm>
            <a:off x="3886200" y="5272430"/>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15.10</a:t>
            </a:r>
            <a:endParaRPr lang="en-US" sz="1575" dirty="0"/>
          </a:p>
        </p:txBody>
      </p:sp>
      <p:sp>
        <p:nvSpPr>
          <p:cNvPr id="54" name="Text 48"/>
          <p:cNvSpPr txBox="1"/>
          <p:nvPr/>
        </p:nvSpPr>
        <p:spPr>
          <a:xfrm>
            <a:off x="6709867" y="5272430"/>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0.45</a:t>
            </a:r>
            <a:endParaRPr lang="en-US" sz="1575" dirty="0"/>
          </a:p>
        </p:txBody>
      </p:sp>
      <p:sp>
        <p:nvSpPr>
          <p:cNvPr id="55" name="Text 49"/>
          <p:cNvSpPr txBox="1"/>
          <p:nvPr/>
        </p:nvSpPr>
        <p:spPr>
          <a:xfrm>
            <a:off x="9011412" y="5272430"/>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1.52</a:t>
            </a:r>
            <a:endParaRPr lang="en-US" sz="1575" dirty="0"/>
          </a:p>
        </p:txBody>
      </p:sp>
      <p:sp>
        <p:nvSpPr>
          <p:cNvPr id="56" name="Text 50"/>
          <p:cNvSpPr txBox="1"/>
          <p:nvPr/>
        </p:nvSpPr>
        <p:spPr>
          <a:xfrm>
            <a:off x="11992356" y="5272430"/>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−0.20</a:t>
            </a:r>
            <a:endParaRPr lang="en-US" sz="1575" dirty="0"/>
          </a:p>
        </p:txBody>
      </p:sp>
      <p:sp>
        <p:nvSpPr>
          <p:cNvPr id="57" name="Text 51"/>
          <p:cNvSpPr txBox="1"/>
          <p:nvPr/>
        </p:nvSpPr>
        <p:spPr>
          <a:xfrm>
            <a:off x="571500" y="5862218"/>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W06</a:t>
            </a:r>
            <a:endParaRPr lang="en-US" sz="1575" dirty="0"/>
          </a:p>
        </p:txBody>
      </p:sp>
      <p:sp>
        <p:nvSpPr>
          <p:cNvPr id="58" name="Text 52"/>
          <p:cNvSpPr txBox="1"/>
          <p:nvPr/>
        </p:nvSpPr>
        <p:spPr>
          <a:xfrm>
            <a:off x="3886200" y="5862218"/>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15.30</a:t>
            </a:r>
            <a:endParaRPr lang="en-US" sz="1575" dirty="0"/>
          </a:p>
        </p:txBody>
      </p:sp>
      <p:sp>
        <p:nvSpPr>
          <p:cNvPr id="59" name="Text 53"/>
          <p:cNvSpPr txBox="1"/>
          <p:nvPr/>
        </p:nvSpPr>
        <p:spPr>
          <a:xfrm>
            <a:off x="6709867" y="5862218"/>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0.43</a:t>
            </a:r>
            <a:endParaRPr lang="en-US" sz="1575" dirty="0"/>
          </a:p>
        </p:txBody>
      </p:sp>
      <p:sp>
        <p:nvSpPr>
          <p:cNvPr id="60" name="Text 54"/>
          <p:cNvSpPr txBox="1"/>
          <p:nvPr/>
        </p:nvSpPr>
        <p:spPr>
          <a:xfrm>
            <a:off x="9011412" y="5862218"/>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1.41</a:t>
            </a:r>
            <a:endParaRPr lang="en-US" sz="1575" dirty="0"/>
          </a:p>
        </p:txBody>
      </p:sp>
      <p:sp>
        <p:nvSpPr>
          <p:cNvPr id="61" name="Text 55"/>
          <p:cNvSpPr txBox="1"/>
          <p:nvPr/>
        </p:nvSpPr>
        <p:spPr>
          <a:xfrm>
            <a:off x="11992356" y="5862218"/>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0.00</a:t>
            </a:r>
            <a:endParaRPr lang="en-US" sz="1575" dirty="0"/>
          </a:p>
        </p:txBody>
      </p:sp>
      <p:sp>
        <p:nvSpPr>
          <p:cNvPr id="62" name="Text 56"/>
          <p:cNvSpPr txBox="1"/>
          <p:nvPr/>
        </p:nvSpPr>
        <p:spPr>
          <a:xfrm>
            <a:off x="2286000" y="307695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3" name="Text 57"/>
          <p:cNvSpPr txBox="1"/>
          <p:nvPr/>
        </p:nvSpPr>
        <p:spPr>
          <a:xfrm>
            <a:off x="2286000" y="3666744"/>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4" name="Text 58"/>
          <p:cNvSpPr txBox="1"/>
          <p:nvPr/>
        </p:nvSpPr>
        <p:spPr>
          <a:xfrm>
            <a:off x="2286000" y="425744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5" name="Text 59"/>
          <p:cNvSpPr txBox="1"/>
          <p:nvPr/>
        </p:nvSpPr>
        <p:spPr>
          <a:xfrm>
            <a:off x="2305202" y="4858207"/>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6" name="Text 60"/>
          <p:cNvSpPr txBox="1"/>
          <p:nvPr/>
        </p:nvSpPr>
        <p:spPr>
          <a:xfrm>
            <a:off x="2305202" y="5447995"/>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7" name="Text 61"/>
          <p:cNvSpPr txBox="1"/>
          <p:nvPr/>
        </p:nvSpPr>
        <p:spPr>
          <a:xfrm>
            <a:off x="2305202" y="6038698"/>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8" name="Shape 62"/>
          <p:cNvSpPr/>
          <p:nvPr/>
        </p:nvSpPr>
        <p:spPr>
          <a:xfrm>
            <a:off x="15240305" y="2286000"/>
            <a:ext cx="2476195" cy="4515307"/>
          </a:xfrm>
          <a:prstGeom prst="rect">
            <a:avLst/>
          </a:prstGeom>
          <a:solidFill>
            <a:srgbClr val="1B2C45"/>
          </a:solidFill>
          <a:ln w="12700">
            <a:solidFill>
              <a:srgbClr val="FFFFFF">
                <a:alpha val="0"/>
              </a:srgbClr>
            </a:solidFill>
            <a:prstDash val="solid"/>
          </a:ln>
        </p:spPr>
      </p:sp>
      <p:sp>
        <p:nvSpPr>
          <p:cNvPr id="69" name="Text 63"/>
          <p:cNvSpPr txBox="1"/>
          <p:nvPr/>
        </p:nvSpPr>
        <p:spPr>
          <a:xfrm>
            <a:off x="15449702" y="2495398"/>
            <a:ext cx="2057400" cy="181051"/>
          </a:xfrm>
          <a:prstGeom prst="rect">
            <a:avLst/>
          </a:prstGeom>
          <a:noFill/>
          <a:ln/>
        </p:spPr>
        <p:txBody>
          <a:bodyPr wrap="none" lIns="0" tIns="0" rIns="0" bIns="0" rtlCol="0" anchor="ctr"/>
          <a:lstStyle/>
          <a:p>
            <a:pPr algn="l" indent="0" marL="0">
              <a:buNone/>
            </a:pPr>
            <a:r>
              <a:rPr lang="en-US" sz="975" spc="215" kern="0" dirty="0">
                <a:solidFill>
                  <a:srgbClr val="93A4BC"/>
                </a:solidFill>
                <a:latin typeface="IBM Plex Sans KR" pitchFamily="34" charset="0"/>
                <a:ea typeface="IBM Plex Sans KR" pitchFamily="34" charset="-122"/>
                <a:cs typeface="IBM Plex Sans KR" pitchFamily="34" charset="-120"/>
              </a:rPr>
              <a:t>Spread</a:t>
            </a:r>
            <a:endParaRPr lang="en-US" sz="975" dirty="0"/>
          </a:p>
        </p:txBody>
      </p:sp>
      <p:sp>
        <p:nvSpPr>
          <p:cNvPr id="70" name="Text 64"/>
          <p:cNvSpPr txBox="1"/>
          <p:nvPr/>
        </p:nvSpPr>
        <p:spPr>
          <a:xfrm>
            <a:off x="15449702" y="2809951"/>
            <a:ext cx="2057400" cy="514807"/>
          </a:xfrm>
          <a:prstGeom prst="rect">
            <a:avLst/>
          </a:prstGeom>
          <a:noFill/>
          <a:ln/>
        </p:spPr>
        <p:txBody>
          <a:bodyPr wrap="none" lIns="0" tIns="0" rIns="0" bIns="0" rtlCol="0" anchor="ctr"/>
          <a:lstStyle/>
          <a:p>
            <a:pPr algn="l" indent="0" marL="0">
              <a:buNone/>
            </a:pPr>
            <a:r>
              <a:rPr lang="en-US" sz="4050" b="1" dirty="0">
                <a:solidFill>
                  <a:srgbClr val="FFFFFF"/>
                </a:solidFill>
                <a:latin typeface="IBM Plex Sans KR" pitchFamily="34" charset="0"/>
                <a:ea typeface="IBM Plex Sans KR" pitchFamily="34" charset="-122"/>
                <a:cs typeface="IBM Plex Sans KR" pitchFamily="34" charset="-120"/>
              </a:rPr>
              <a:t>2.2×</a:t>
            </a:r>
            <a:endParaRPr lang="en-US" sz="4050" dirty="0"/>
          </a:p>
        </p:txBody>
      </p:sp>
      <p:pic>
        <p:nvPicPr>
          <p:cNvPr id="71" name="Image 3" descr="gen-dedup-a89fa0f83c3e8c01fdcf925c354232c5.png">    </p:cNvPr>
          <p:cNvPicPr>
            <a:picLocks noChangeAspect="1"/>
          </p:cNvPicPr>
          <p:nvPr/>
        </p:nvPicPr>
        <p:blipFill>
          <a:blip r:embed="rId4"/>
          <a:srcRect l="0" r="0" t="-400" b="-400"/>
          <a:stretch/>
        </p:blipFill>
        <p:spPr>
          <a:xfrm>
            <a:off x="15449702" y="3457346"/>
            <a:ext cx="457200" cy="19202"/>
          </a:xfrm>
          <a:prstGeom prst="rect">
            <a:avLst/>
          </a:prstGeom>
        </p:spPr>
      </p:pic>
      <p:sp>
        <p:nvSpPr>
          <p:cNvPr id="72" name="Text 65"/>
          <p:cNvSpPr txBox="1"/>
          <p:nvPr/>
        </p:nvSpPr>
        <p:spPr>
          <a:xfrm>
            <a:off x="15449702" y="3610051"/>
            <a:ext cx="2057400" cy="685800"/>
          </a:xfrm>
          <a:prstGeom prst="rect">
            <a:avLst/>
          </a:prstGeom>
          <a:noFill/>
          <a:ln/>
        </p:spPr>
        <p:txBody>
          <a:bodyPr wrap="square" lIns="0" tIns="0" rIns="0" bIns="0" rtlCol="0" anchor="ctr"/>
          <a:lstStyle/>
          <a:p>
            <a:pPr algn="l" indent="0" marL="0">
              <a:lnSpc>
                <a:spcPts val="1800"/>
              </a:lnSpc>
              <a:buNone/>
            </a:pPr>
            <a:r>
              <a:rPr lang="en-US" sz="1200" dirty="0">
                <a:solidFill>
                  <a:srgbClr val="FFFFFF"/>
                </a:solidFill>
                <a:latin typeface="IBM Plex Sans KR" pitchFamily="34" charset="0"/>
                <a:ea typeface="IBM Plex Sans KR" pitchFamily="34" charset="-122"/>
                <a:cs typeface="IBM Plex Sans KR" pitchFamily="34" charset="-120"/>
              </a:rPr>
              <a:t>CAR 평균 range가 MOR 평균 range의 약 2.2배 — sub-nm 정밀도에서 차이는 더 분명.</a:t>
            </a:r>
            <a:endParaRPr lang="en-US" sz="1200" dirty="0"/>
          </a:p>
        </p:txBody>
      </p:sp>
      <p:sp>
        <p:nvSpPr>
          <p:cNvPr id="73" name="Shape 66"/>
          <p:cNvSpPr/>
          <p:nvPr/>
        </p:nvSpPr>
        <p:spPr>
          <a:xfrm>
            <a:off x="571500" y="6476695"/>
            <a:ext cx="14306702" cy="2115007"/>
          </a:xfrm>
          <a:prstGeom prst="rect">
            <a:avLst/>
          </a:prstGeom>
          <a:solidFill>
            <a:srgbClr val="FFFFFF"/>
          </a:solidFill>
          <a:ln w="12700">
            <a:solidFill>
              <a:srgbClr val="C4CDD9"/>
            </a:solidFill>
            <a:prstDash val="solid"/>
          </a:ln>
        </p:spPr>
      </p:sp>
      <p:sp>
        <p:nvSpPr>
          <p:cNvPr id="74" name="Text 67"/>
          <p:cNvSpPr txBox="1"/>
          <p:nvPr/>
        </p:nvSpPr>
        <p:spPr>
          <a:xfrm>
            <a:off x="790956" y="6638544"/>
            <a:ext cx="13868705" cy="210312"/>
          </a:xfrm>
          <a:prstGeom prst="rect">
            <a:avLst/>
          </a:prstGeom>
          <a:noFill/>
          <a:ln/>
        </p:spPr>
        <p:txBody>
          <a:bodyPr wrap="none" lIns="0" tIns="0" rIns="0" bIns="0" rtlCol="0" anchor="ctr"/>
          <a:lstStyle/>
          <a:p>
            <a:pPr algn="l" indent="0" marL="0">
              <a:buNone/>
            </a:pPr>
            <a:r>
              <a:rPr lang="en-US" sz="1050" spc="210" kern="0" dirty="0">
                <a:solidFill>
                  <a:srgbClr val="5C6B82"/>
                </a:solidFill>
                <a:latin typeface="IBM Plex Sans KR" pitchFamily="34" charset="0"/>
                <a:ea typeface="IBM Plex Sans KR" pitchFamily="34" charset="-122"/>
                <a:cs typeface="IBM Plex Sans KR" pitchFamily="34" charset="-120"/>
              </a:rPr>
              <a:t>3σ by wafer — ASEI (nm)</a:t>
            </a:r>
            <a:endParaRPr lang="en-US" sz="1050" dirty="0"/>
          </a:p>
        </p:txBody>
      </p:sp>
      <p:pic>
        <p:nvPicPr>
          <p:cNvPr id="75" name="Image 4" descr="gen-dedup-bb81cad3becf0afc6805ef12bc2df89b.png">    </p:cNvPr>
          <p:cNvPicPr>
            <a:picLocks noChangeAspect="1"/>
          </p:cNvPicPr>
          <p:nvPr/>
        </p:nvPicPr>
        <p:blipFill>
          <a:blip r:embed="rId5"/>
          <a:srcRect l="-2083" r="-2083" t="0" b="0"/>
          <a:stretch/>
        </p:blipFill>
        <p:spPr>
          <a:xfrm>
            <a:off x="1723644" y="8382305"/>
            <a:ext cx="12859207" cy="9144"/>
          </a:xfrm>
          <a:prstGeom prst="rect">
            <a:avLst/>
          </a:prstGeom>
        </p:spPr>
      </p:pic>
      <p:pic>
        <p:nvPicPr>
          <p:cNvPr id="76" name="Image 5" descr="gen-dedup-959cf21cbca2529ad8a6f75458779826.png">    </p:cNvPr>
          <p:cNvPicPr>
            <a:picLocks noChangeAspect="1"/>
          </p:cNvPicPr>
          <p:nvPr/>
        </p:nvPicPr>
        <p:blipFill>
          <a:blip r:embed="rId6"/>
          <a:srcRect l="-2083" r="-2083" t="0" b="0"/>
          <a:stretch/>
        </p:blipFill>
        <p:spPr>
          <a:xfrm>
            <a:off x="1723644" y="7667244"/>
            <a:ext cx="12859207" cy="9144"/>
          </a:xfrm>
          <a:prstGeom prst="rect">
            <a:avLst/>
          </a:prstGeom>
        </p:spPr>
      </p:pic>
      <p:pic>
        <p:nvPicPr>
          <p:cNvPr id="77" name="Image 6" descr="gen-dedup-959cf21cbca2529ad8a6f75458779826.png">    </p:cNvPr>
          <p:cNvPicPr>
            <a:picLocks noChangeAspect="1"/>
          </p:cNvPicPr>
          <p:nvPr/>
        </p:nvPicPr>
        <p:blipFill>
          <a:blip r:embed="rId7"/>
          <a:srcRect l="-2083" r="-2083" t="0" b="0"/>
          <a:stretch/>
        </p:blipFill>
        <p:spPr>
          <a:xfrm>
            <a:off x="1723644" y="7334402"/>
            <a:ext cx="12859207" cy="9144"/>
          </a:xfrm>
          <a:prstGeom prst="rect">
            <a:avLst/>
          </a:prstGeom>
        </p:spPr>
      </p:pic>
      <p:sp>
        <p:nvSpPr>
          <p:cNvPr id="78" name="Text 68"/>
          <p:cNvSpPr txBox="1"/>
          <p:nvPr/>
        </p:nvSpPr>
        <p:spPr>
          <a:xfrm>
            <a:off x="2212848" y="6867144"/>
            <a:ext cx="347472"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0.93</a:t>
            </a:r>
            <a:endParaRPr lang="en-US" sz="975" dirty="0"/>
          </a:p>
        </p:txBody>
      </p:sp>
      <p:sp>
        <p:nvSpPr>
          <p:cNvPr id="79" name="Shape 69"/>
          <p:cNvSpPr/>
          <p:nvPr/>
        </p:nvSpPr>
        <p:spPr>
          <a:xfrm>
            <a:off x="1914754" y="7105802"/>
            <a:ext cx="857707" cy="1028700"/>
          </a:xfrm>
          <a:prstGeom prst="rect">
            <a:avLst/>
          </a:prstGeom>
          <a:solidFill>
            <a:srgbClr val="B85C46"/>
          </a:solidFill>
          <a:ln w="12700">
            <a:solidFill>
              <a:srgbClr val="FFFFFF">
                <a:alpha val="0"/>
              </a:srgbClr>
            </a:solidFill>
            <a:prstDash val="solid"/>
          </a:ln>
        </p:spPr>
      </p:sp>
      <p:sp>
        <p:nvSpPr>
          <p:cNvPr id="80" name="Text 70"/>
          <p:cNvSpPr txBox="1"/>
          <p:nvPr/>
        </p:nvSpPr>
        <p:spPr>
          <a:xfrm>
            <a:off x="2198218"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W01</a:t>
            </a:r>
            <a:endParaRPr lang="en-US" sz="1050" dirty="0"/>
          </a:p>
        </p:txBody>
      </p:sp>
      <p:sp>
        <p:nvSpPr>
          <p:cNvPr id="81" name="Text 71"/>
          <p:cNvSpPr txBox="1"/>
          <p:nvPr/>
        </p:nvSpPr>
        <p:spPr>
          <a:xfrm>
            <a:off x="4536338" y="6829654"/>
            <a:ext cx="347472"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0.96</a:t>
            </a:r>
            <a:endParaRPr lang="en-US" sz="975" dirty="0"/>
          </a:p>
        </p:txBody>
      </p:sp>
      <p:sp>
        <p:nvSpPr>
          <p:cNvPr id="82" name="Shape 72"/>
          <p:cNvSpPr/>
          <p:nvPr/>
        </p:nvSpPr>
        <p:spPr>
          <a:xfrm>
            <a:off x="4238244" y="7067398"/>
            <a:ext cx="857707" cy="1067105"/>
          </a:xfrm>
          <a:prstGeom prst="rect">
            <a:avLst/>
          </a:prstGeom>
          <a:solidFill>
            <a:srgbClr val="B85C46"/>
          </a:solidFill>
          <a:ln w="12700">
            <a:solidFill>
              <a:srgbClr val="FFFFFF">
                <a:alpha val="0"/>
              </a:srgbClr>
            </a:solidFill>
            <a:prstDash val="solid"/>
          </a:ln>
        </p:spPr>
      </p:sp>
      <p:sp>
        <p:nvSpPr>
          <p:cNvPr id="83" name="Text 73"/>
          <p:cNvSpPr txBox="1"/>
          <p:nvPr/>
        </p:nvSpPr>
        <p:spPr>
          <a:xfrm>
            <a:off x="4522622"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W02</a:t>
            </a:r>
            <a:endParaRPr lang="en-US" sz="1050" dirty="0"/>
          </a:p>
        </p:txBody>
      </p:sp>
      <p:sp>
        <p:nvSpPr>
          <p:cNvPr id="84" name="Text 74"/>
          <p:cNvSpPr txBox="1"/>
          <p:nvPr/>
        </p:nvSpPr>
        <p:spPr>
          <a:xfrm>
            <a:off x="6860743" y="6886346"/>
            <a:ext cx="347472"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0.91</a:t>
            </a:r>
            <a:endParaRPr lang="en-US" sz="975" dirty="0"/>
          </a:p>
        </p:txBody>
      </p:sp>
      <p:sp>
        <p:nvSpPr>
          <p:cNvPr id="85" name="Shape 75"/>
          <p:cNvSpPr/>
          <p:nvPr/>
        </p:nvSpPr>
        <p:spPr>
          <a:xfrm>
            <a:off x="6562649" y="7125005"/>
            <a:ext cx="857707" cy="1009498"/>
          </a:xfrm>
          <a:prstGeom prst="rect">
            <a:avLst/>
          </a:prstGeom>
          <a:solidFill>
            <a:srgbClr val="B85C46"/>
          </a:solidFill>
          <a:ln w="12700">
            <a:solidFill>
              <a:srgbClr val="FFFFFF">
                <a:alpha val="0"/>
              </a:srgbClr>
            </a:solidFill>
            <a:prstDash val="solid"/>
          </a:ln>
        </p:spPr>
      </p:sp>
      <p:sp>
        <p:nvSpPr>
          <p:cNvPr id="86" name="Text 76"/>
          <p:cNvSpPr txBox="1"/>
          <p:nvPr/>
        </p:nvSpPr>
        <p:spPr>
          <a:xfrm>
            <a:off x="6846113"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W03</a:t>
            </a:r>
            <a:endParaRPr lang="en-US" sz="1050" dirty="0"/>
          </a:p>
        </p:txBody>
      </p:sp>
      <p:sp>
        <p:nvSpPr>
          <p:cNvPr id="87" name="Text 77"/>
          <p:cNvSpPr txBox="1"/>
          <p:nvPr/>
        </p:nvSpPr>
        <p:spPr>
          <a:xfrm>
            <a:off x="9185148" y="7438644"/>
            <a:ext cx="347472"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0.42</a:t>
            </a:r>
            <a:endParaRPr lang="en-US" sz="975" dirty="0"/>
          </a:p>
        </p:txBody>
      </p:sp>
      <p:sp>
        <p:nvSpPr>
          <p:cNvPr id="88" name="Shape 78"/>
          <p:cNvSpPr/>
          <p:nvPr/>
        </p:nvSpPr>
        <p:spPr>
          <a:xfrm>
            <a:off x="8887054" y="7677302"/>
            <a:ext cx="857707" cy="457200"/>
          </a:xfrm>
          <a:prstGeom prst="rect">
            <a:avLst/>
          </a:prstGeom>
          <a:solidFill>
            <a:srgbClr val="2D6F8C"/>
          </a:solidFill>
          <a:ln w="12700">
            <a:solidFill>
              <a:srgbClr val="FFFFFF">
                <a:alpha val="0"/>
              </a:srgbClr>
            </a:solidFill>
            <a:prstDash val="solid"/>
          </a:ln>
        </p:spPr>
      </p:sp>
      <p:sp>
        <p:nvSpPr>
          <p:cNvPr id="89" name="Text 79"/>
          <p:cNvSpPr txBox="1"/>
          <p:nvPr/>
        </p:nvSpPr>
        <p:spPr>
          <a:xfrm>
            <a:off x="9170518"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W04</a:t>
            </a:r>
            <a:endParaRPr lang="en-US" sz="1050" dirty="0"/>
          </a:p>
        </p:txBody>
      </p:sp>
      <p:sp>
        <p:nvSpPr>
          <p:cNvPr id="90" name="Text 80"/>
          <p:cNvSpPr txBox="1"/>
          <p:nvPr/>
        </p:nvSpPr>
        <p:spPr>
          <a:xfrm>
            <a:off x="11508638" y="7401154"/>
            <a:ext cx="347472"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0.45</a:t>
            </a:r>
            <a:endParaRPr lang="en-US" sz="975" dirty="0"/>
          </a:p>
        </p:txBody>
      </p:sp>
      <p:sp>
        <p:nvSpPr>
          <p:cNvPr id="91" name="Shape 81"/>
          <p:cNvSpPr/>
          <p:nvPr/>
        </p:nvSpPr>
        <p:spPr>
          <a:xfrm>
            <a:off x="11210544" y="7638898"/>
            <a:ext cx="857707" cy="495605"/>
          </a:xfrm>
          <a:prstGeom prst="rect">
            <a:avLst/>
          </a:prstGeom>
          <a:solidFill>
            <a:srgbClr val="2D6F8C"/>
          </a:solidFill>
          <a:ln w="12700">
            <a:solidFill>
              <a:srgbClr val="FFFFFF">
                <a:alpha val="0"/>
              </a:srgbClr>
            </a:solidFill>
            <a:prstDash val="solid"/>
          </a:ln>
        </p:spPr>
      </p:sp>
      <p:sp>
        <p:nvSpPr>
          <p:cNvPr id="92" name="Text 82"/>
          <p:cNvSpPr txBox="1"/>
          <p:nvPr/>
        </p:nvSpPr>
        <p:spPr>
          <a:xfrm>
            <a:off x="11494922"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W05</a:t>
            </a:r>
            <a:endParaRPr lang="en-US" sz="1050" dirty="0"/>
          </a:p>
        </p:txBody>
      </p:sp>
      <p:sp>
        <p:nvSpPr>
          <p:cNvPr id="93" name="Text 83"/>
          <p:cNvSpPr txBox="1"/>
          <p:nvPr/>
        </p:nvSpPr>
        <p:spPr>
          <a:xfrm>
            <a:off x="13833043" y="7420356"/>
            <a:ext cx="347472"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0.43</a:t>
            </a:r>
            <a:endParaRPr lang="en-US" sz="975" dirty="0"/>
          </a:p>
        </p:txBody>
      </p:sp>
      <p:sp>
        <p:nvSpPr>
          <p:cNvPr id="94" name="Shape 84"/>
          <p:cNvSpPr/>
          <p:nvPr/>
        </p:nvSpPr>
        <p:spPr>
          <a:xfrm>
            <a:off x="13534949" y="7658100"/>
            <a:ext cx="857707" cy="476402"/>
          </a:xfrm>
          <a:prstGeom prst="rect">
            <a:avLst/>
          </a:prstGeom>
          <a:solidFill>
            <a:srgbClr val="2D6F8C"/>
          </a:solidFill>
          <a:ln w="12700">
            <a:solidFill>
              <a:srgbClr val="FFFFFF">
                <a:alpha val="0"/>
              </a:srgbClr>
            </a:solidFill>
            <a:prstDash val="solid"/>
          </a:ln>
        </p:spPr>
      </p:sp>
      <p:sp>
        <p:nvSpPr>
          <p:cNvPr id="95" name="Text 85"/>
          <p:cNvSpPr txBox="1"/>
          <p:nvPr/>
        </p:nvSpPr>
        <p:spPr>
          <a:xfrm>
            <a:off x="13818413" y="8191195"/>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W06</a:t>
            </a:r>
            <a:endParaRPr lang="en-US" sz="1050" dirty="0"/>
          </a:p>
        </p:txBody>
      </p:sp>
      <p:sp>
        <p:nvSpPr>
          <p:cNvPr id="96" name="Text 86"/>
          <p:cNvSpPr txBox="1"/>
          <p:nvPr/>
        </p:nvSpPr>
        <p:spPr>
          <a:xfrm>
            <a:off x="1609344" y="8220456"/>
            <a:ext cx="76810"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0</a:t>
            </a:r>
            <a:endParaRPr lang="en-US" sz="900" dirty="0"/>
          </a:p>
        </p:txBody>
      </p:sp>
      <p:sp>
        <p:nvSpPr>
          <p:cNvPr id="97" name="Text 87"/>
          <p:cNvSpPr txBox="1"/>
          <p:nvPr/>
        </p:nvSpPr>
        <p:spPr>
          <a:xfrm>
            <a:off x="1438351" y="7505395"/>
            <a:ext cx="232258"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0.5</a:t>
            </a:r>
            <a:endParaRPr lang="en-US" sz="900" dirty="0"/>
          </a:p>
        </p:txBody>
      </p:sp>
      <p:sp>
        <p:nvSpPr>
          <p:cNvPr id="98" name="Text 88"/>
          <p:cNvSpPr txBox="1"/>
          <p:nvPr/>
        </p:nvSpPr>
        <p:spPr>
          <a:xfrm>
            <a:off x="1438351" y="7172554"/>
            <a:ext cx="232258"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0.8</a:t>
            </a:r>
            <a:endParaRPr lang="en-US" sz="900" dirty="0"/>
          </a:p>
        </p:txBody>
      </p:sp>
      <p:sp>
        <p:nvSpPr>
          <p:cNvPr id="99" name="Shape 89"/>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100" name="Text 90"/>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101" name="Image 7" descr="gen-dedup-2384ac9fd3012b414377934d98f26f83.png">    </p:cNvPr>
          <p:cNvPicPr>
            <a:picLocks noChangeAspect="1"/>
          </p:cNvPicPr>
          <p:nvPr/>
        </p:nvPicPr>
        <p:blipFill>
          <a:blip r:embed="rId8"/>
          <a:srcRect l="0" r="0" t="-2083" b="-2083"/>
          <a:stretch/>
        </p:blipFill>
        <p:spPr>
          <a:xfrm>
            <a:off x="2288743" y="8934602"/>
            <a:ext cx="9144" cy="228600"/>
          </a:xfrm>
          <a:prstGeom prst="rect">
            <a:avLst/>
          </a:prstGeom>
        </p:spPr>
      </p:pic>
      <p:sp>
        <p:nvSpPr>
          <p:cNvPr id="102" name="Text 91"/>
          <p:cNvSpPr txBox="1"/>
          <p:nvPr/>
        </p:nvSpPr>
        <p:spPr>
          <a:xfrm>
            <a:off x="2469794" y="8915400"/>
            <a:ext cx="10754258"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ASEI에서 MOR은 3σ 0.42 ~ 0.45 nm로 CAR의 절반 이하, range도 절반 수준으로 sub-15 nm 영역에서의 MOR 우위가 확인된다.</a:t>
            </a:r>
            <a:endParaRPr lang="en-US" sz="1500" dirty="0"/>
          </a:p>
        </p:txBody>
      </p:sp>
      <p:sp>
        <p:nvSpPr>
          <p:cNvPr id="103" name="Text 92"/>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04 of 12 · ASEI · unit nm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
            <a:ext cx="4021531"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05 / CD variation · Active M — Inner</a:t>
            </a:r>
            <a:endParaRPr lang="en-US" sz="1050" dirty="0"/>
          </a:p>
        </p:txBody>
      </p:sp>
      <p:pic>
        <p:nvPicPr>
          <p:cNvPr id="5" name="Image 1" descr="gen-dedup-72c8c855dd65dd3f7a058d199e994252.png">    </p:cNvPr>
          <p:cNvPicPr>
            <a:picLocks noChangeAspect="1"/>
          </p:cNvPicPr>
          <p:nvPr/>
        </p:nvPicPr>
        <p:blipFill>
          <a:blip r:embed="rId2"/>
          <a:srcRect l="-2083" r="-2083" t="0" b="0"/>
          <a:stretch/>
        </p:blipFill>
        <p:spPr>
          <a:xfrm>
            <a:off x="4205326" y="666598"/>
            <a:ext cx="342900" cy="9144"/>
          </a:xfrm>
          <a:prstGeom prst="rect">
            <a:avLst/>
          </a:prstGeom>
        </p:spPr>
      </p:pic>
      <p:sp>
        <p:nvSpPr>
          <p:cNvPr id="6" name="Text 1"/>
          <p:cNvSpPr txBox="1"/>
          <p:nvPr/>
        </p:nvSpPr>
        <p:spPr>
          <a:xfrm>
            <a:off x="4680814" y="571500"/>
            <a:ext cx="190286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split · CAR vs MOR</a:t>
            </a:r>
            <a:endParaRPr lang="en-US" sz="1050" dirty="0"/>
          </a:p>
        </p:txBody>
      </p:sp>
      <p:sp>
        <p:nvSpPr>
          <p:cNvPr id="7" name="Text 2"/>
          <p:cNvSpPr txBox="1"/>
          <p:nvPr/>
        </p:nvSpPr>
        <p:spPr>
          <a:xfrm>
            <a:off x="571500" y="905256"/>
            <a:ext cx="121926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AMI </a:t>
            </a:r>
            <a:pPr algn="l" indent="0" marL="0">
              <a:buNone/>
            </a:pPr>
            <a:r>
              <a:rPr lang="en-US" sz="1800" b="1" dirty="0">
                <a:solidFill>
                  <a:srgbClr val="5C6B82"/>
                </a:solidFill>
                <a:latin typeface="IBM Plex Sans KR" pitchFamily="34" charset="0"/>
                <a:ea typeface="IBM Plex Sans KR" pitchFamily="34" charset="-122"/>
                <a:cs typeface="IBM Plex Sans KR" pitchFamily="34" charset="-120"/>
              </a:rPr>
              <a:t>/ target 8.2 nm</a:t>
            </a:r>
            <a:endParaRPr lang="en-US" sz="3450" dirty="0"/>
          </a:p>
        </p:txBody>
      </p:sp>
      <p:pic>
        <p:nvPicPr>
          <p:cNvPr id="8"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9" name="Shape 3"/>
          <p:cNvSpPr/>
          <p:nvPr/>
        </p:nvSpPr>
        <p:spPr>
          <a:xfrm>
            <a:off x="14097305" y="571500"/>
            <a:ext cx="1742846" cy="1143000"/>
          </a:xfrm>
          <a:prstGeom prst="rect">
            <a:avLst/>
          </a:prstGeom>
          <a:solidFill>
            <a:srgbClr val="FFFFFF"/>
          </a:solidFill>
          <a:ln w="12700">
            <a:solidFill>
              <a:srgbClr val="C4CDD9"/>
            </a:solidFill>
            <a:prstDash val="solid"/>
          </a:ln>
        </p:spPr>
      </p:sp>
      <p:sp>
        <p:nvSpPr>
          <p:cNvPr id="10" name="Text 4"/>
          <p:cNvSpPr txBox="1"/>
          <p:nvPr/>
        </p:nvSpPr>
        <p:spPr>
          <a:xfrm>
            <a:off x="14239951"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mean</a:t>
            </a:r>
            <a:endParaRPr lang="en-US" sz="900" dirty="0"/>
          </a:p>
        </p:txBody>
      </p:sp>
      <p:sp>
        <p:nvSpPr>
          <p:cNvPr id="11" name="Text 5"/>
          <p:cNvSpPr txBox="1"/>
          <p:nvPr/>
        </p:nvSpPr>
        <p:spPr>
          <a:xfrm>
            <a:off x="14239951" y="961949"/>
            <a:ext cx="1457554" cy="286207"/>
          </a:xfrm>
          <a:prstGeom prst="rect">
            <a:avLst/>
          </a:prstGeom>
          <a:noFill/>
          <a:ln/>
        </p:spPr>
        <p:txBody>
          <a:bodyPr wrap="none" lIns="0" tIns="0" rIns="0" bIns="0" rtlCol="0" anchor="ctr"/>
          <a:lstStyle/>
          <a:p>
            <a:pPr algn="l" indent="0" marL="0">
              <a:buNone/>
            </a:pPr>
            <a:r>
              <a:rPr lang="en-US" sz="2250" b="1" dirty="0">
                <a:solidFill>
                  <a:srgbClr val="B85C46"/>
                </a:solidFill>
                <a:latin typeface="IBM Plex Sans KR" pitchFamily="34" charset="0"/>
                <a:ea typeface="IBM Plex Sans KR" pitchFamily="34" charset="-122"/>
                <a:cs typeface="IBM Plex Sans KR" pitchFamily="34" charset="-120"/>
              </a:rPr>
              <a:t>8.52</a:t>
            </a:r>
            <a:endParaRPr lang="en-US" sz="2250" dirty="0"/>
          </a:p>
        </p:txBody>
      </p:sp>
      <p:sp>
        <p:nvSpPr>
          <p:cNvPr id="12" name="Text 6"/>
          <p:cNvSpPr txBox="1"/>
          <p:nvPr/>
        </p:nvSpPr>
        <p:spPr>
          <a:xfrm>
            <a:off x="14239951"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W01–W03</a:t>
            </a:r>
            <a:endParaRPr lang="en-US" sz="900" dirty="0"/>
          </a:p>
        </p:txBody>
      </p:sp>
      <p:sp>
        <p:nvSpPr>
          <p:cNvPr id="13" name="Shape 7"/>
          <p:cNvSpPr/>
          <p:nvPr/>
        </p:nvSpPr>
        <p:spPr>
          <a:xfrm>
            <a:off x="15973654" y="571500"/>
            <a:ext cx="1742846" cy="1143000"/>
          </a:xfrm>
          <a:prstGeom prst="rect">
            <a:avLst/>
          </a:prstGeom>
          <a:solidFill>
            <a:srgbClr val="FFFFFF"/>
          </a:solidFill>
          <a:ln w="12700">
            <a:solidFill>
              <a:srgbClr val="C4CDD9"/>
            </a:solidFill>
            <a:prstDash val="solid"/>
          </a:ln>
        </p:spPr>
      </p:sp>
      <p:sp>
        <p:nvSpPr>
          <p:cNvPr id="14" name="Text 8"/>
          <p:cNvSpPr txBox="1"/>
          <p:nvPr/>
        </p:nvSpPr>
        <p:spPr>
          <a:xfrm>
            <a:off x="16116300"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mean</a:t>
            </a:r>
            <a:endParaRPr lang="en-US" sz="900" dirty="0"/>
          </a:p>
        </p:txBody>
      </p:sp>
      <p:sp>
        <p:nvSpPr>
          <p:cNvPr id="15" name="Text 9"/>
          <p:cNvSpPr txBox="1"/>
          <p:nvPr/>
        </p:nvSpPr>
        <p:spPr>
          <a:xfrm>
            <a:off x="16116300" y="961949"/>
            <a:ext cx="1457554" cy="286207"/>
          </a:xfrm>
          <a:prstGeom prst="rect">
            <a:avLst/>
          </a:prstGeom>
          <a:noFill/>
          <a:ln/>
        </p:spPr>
        <p:txBody>
          <a:bodyPr wrap="none" lIns="0" tIns="0" rIns="0" bIns="0" rtlCol="0" anchor="ctr"/>
          <a:lstStyle/>
          <a:p>
            <a:pPr algn="l" indent="0" marL="0">
              <a:buNone/>
            </a:pPr>
            <a:r>
              <a:rPr lang="en-US" sz="2250" b="1" dirty="0">
                <a:solidFill>
                  <a:srgbClr val="2D6F8C"/>
                </a:solidFill>
                <a:latin typeface="IBM Plex Sans KR" pitchFamily="34" charset="0"/>
                <a:ea typeface="IBM Plex Sans KR" pitchFamily="34" charset="-122"/>
                <a:cs typeface="IBM Plex Sans KR" pitchFamily="34" charset="-120"/>
              </a:rPr>
              <a:t>8.11</a:t>
            </a:r>
            <a:endParaRPr lang="en-US" sz="2250" dirty="0"/>
          </a:p>
        </p:txBody>
      </p:sp>
      <p:sp>
        <p:nvSpPr>
          <p:cNvPr id="16" name="Text 10"/>
          <p:cNvSpPr txBox="1"/>
          <p:nvPr/>
        </p:nvSpPr>
        <p:spPr>
          <a:xfrm>
            <a:off x="16116300"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W04–W06</a:t>
            </a:r>
            <a:endParaRPr lang="en-US" sz="900" dirty="0"/>
          </a:p>
        </p:txBody>
      </p:sp>
      <p:sp>
        <p:nvSpPr>
          <p:cNvPr id="17" name="Shape 11"/>
          <p:cNvSpPr/>
          <p:nvPr/>
        </p:nvSpPr>
        <p:spPr>
          <a:xfrm>
            <a:off x="571500" y="2286000"/>
            <a:ext cx="14287500" cy="619049"/>
          </a:xfrm>
          <a:prstGeom prst="rect">
            <a:avLst/>
          </a:prstGeom>
          <a:solidFill>
            <a:srgbClr val="1B2C45"/>
          </a:solidFill>
          <a:ln w="12700">
            <a:solidFill>
              <a:srgbClr val="FFFFFF">
                <a:alpha val="0"/>
              </a:srgbClr>
            </a:solidFill>
            <a:prstDash val="solid"/>
          </a:ln>
        </p:spPr>
      </p:sp>
      <p:sp>
        <p:nvSpPr>
          <p:cNvPr id="18" name="Text 12"/>
          <p:cNvSpPr txBox="1"/>
          <p:nvPr/>
        </p:nvSpPr>
        <p:spPr>
          <a:xfrm>
            <a:off x="571500" y="2286000"/>
            <a:ext cx="1562710"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Wafer</a:t>
            </a:r>
            <a:endParaRPr lang="en-US" sz="1575" dirty="0"/>
          </a:p>
        </p:txBody>
      </p:sp>
      <p:sp>
        <p:nvSpPr>
          <p:cNvPr id="19" name="Text 13"/>
          <p:cNvSpPr txBox="1"/>
          <p:nvPr/>
        </p:nvSpPr>
        <p:spPr>
          <a:xfrm>
            <a:off x="2133295" y="2286000"/>
            <a:ext cx="1752905"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Split</a:t>
            </a:r>
            <a:endParaRPr lang="en-US" sz="1575" dirty="0"/>
          </a:p>
        </p:txBody>
      </p:sp>
      <p:sp>
        <p:nvSpPr>
          <p:cNvPr id="20" name="Text 14"/>
          <p:cNvSpPr txBox="1"/>
          <p:nvPr/>
        </p:nvSpPr>
        <p:spPr>
          <a:xfrm>
            <a:off x="3886200" y="2286000"/>
            <a:ext cx="2829154"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Mean (nm)</a:t>
            </a:r>
            <a:endParaRPr lang="en-US" sz="1575" dirty="0"/>
          </a:p>
        </p:txBody>
      </p:sp>
      <p:sp>
        <p:nvSpPr>
          <p:cNvPr id="21" name="Text 15"/>
          <p:cNvSpPr txBox="1"/>
          <p:nvPr/>
        </p:nvSpPr>
        <p:spPr>
          <a:xfrm>
            <a:off x="6709867" y="2286000"/>
            <a:ext cx="2305202"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3σ (nm)</a:t>
            </a:r>
            <a:endParaRPr lang="en-US" sz="1575" dirty="0"/>
          </a:p>
        </p:txBody>
      </p:sp>
      <p:sp>
        <p:nvSpPr>
          <p:cNvPr id="22" name="Text 16"/>
          <p:cNvSpPr txBox="1"/>
          <p:nvPr/>
        </p:nvSpPr>
        <p:spPr>
          <a:xfrm>
            <a:off x="9011412" y="2286000"/>
            <a:ext cx="29818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Range (nm)</a:t>
            </a:r>
            <a:endParaRPr lang="en-US" sz="1575" dirty="0"/>
          </a:p>
        </p:txBody>
      </p:sp>
      <p:sp>
        <p:nvSpPr>
          <p:cNvPr id="23" name="Text 17"/>
          <p:cNvSpPr txBox="1"/>
          <p:nvPr/>
        </p:nvSpPr>
        <p:spPr>
          <a:xfrm>
            <a:off x="11992356" y="2286000"/>
            <a:ext cx="28675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Δ vs target</a:t>
            </a:r>
            <a:endParaRPr lang="en-US" sz="1575" dirty="0"/>
          </a:p>
        </p:txBody>
      </p:sp>
      <p:sp>
        <p:nvSpPr>
          <p:cNvPr id="24" name="Shape 18"/>
          <p:cNvSpPr/>
          <p:nvPr/>
        </p:nvSpPr>
        <p:spPr>
          <a:xfrm>
            <a:off x="571500" y="3486607"/>
            <a:ext cx="14287500" cy="9144"/>
          </a:xfrm>
          <a:prstGeom prst="rect">
            <a:avLst/>
          </a:prstGeom>
          <a:solidFill>
            <a:srgbClr val="D6DCE5"/>
          </a:solidFill>
          <a:ln w="12700">
            <a:solidFill>
              <a:srgbClr val="D6DCE5">
                <a:alpha val="0"/>
              </a:srgbClr>
            </a:solidFill>
            <a:prstDash val="solid"/>
          </a:ln>
        </p:spPr>
      </p:sp>
      <p:sp>
        <p:nvSpPr>
          <p:cNvPr id="25" name="Text 19"/>
          <p:cNvSpPr txBox="1"/>
          <p:nvPr/>
        </p:nvSpPr>
        <p:spPr>
          <a:xfrm>
            <a:off x="571500" y="290504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W01</a:t>
            </a:r>
            <a:endParaRPr lang="en-US" sz="1575" dirty="0"/>
          </a:p>
        </p:txBody>
      </p:sp>
      <p:sp>
        <p:nvSpPr>
          <p:cNvPr id="26" name="Text 20"/>
          <p:cNvSpPr txBox="1"/>
          <p:nvPr/>
        </p:nvSpPr>
        <p:spPr>
          <a:xfrm>
            <a:off x="3886200" y="290504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8.51</a:t>
            </a:r>
            <a:endParaRPr lang="en-US" sz="1575" dirty="0"/>
          </a:p>
        </p:txBody>
      </p:sp>
      <p:sp>
        <p:nvSpPr>
          <p:cNvPr id="27" name="Text 21"/>
          <p:cNvSpPr txBox="1"/>
          <p:nvPr/>
        </p:nvSpPr>
        <p:spPr>
          <a:xfrm>
            <a:off x="6709867" y="290504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0.71</a:t>
            </a:r>
            <a:endParaRPr lang="en-US" sz="1575" dirty="0"/>
          </a:p>
        </p:txBody>
      </p:sp>
      <p:sp>
        <p:nvSpPr>
          <p:cNvPr id="28" name="Text 22"/>
          <p:cNvSpPr txBox="1"/>
          <p:nvPr/>
        </p:nvSpPr>
        <p:spPr>
          <a:xfrm>
            <a:off x="9011412" y="290504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2.60</a:t>
            </a:r>
            <a:endParaRPr lang="en-US" sz="1575" dirty="0"/>
          </a:p>
        </p:txBody>
      </p:sp>
      <p:sp>
        <p:nvSpPr>
          <p:cNvPr id="29" name="Text 23"/>
          <p:cNvSpPr txBox="1"/>
          <p:nvPr/>
        </p:nvSpPr>
        <p:spPr>
          <a:xfrm>
            <a:off x="11992356" y="290504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+0.31</a:t>
            </a:r>
            <a:endParaRPr lang="en-US" sz="1575" dirty="0"/>
          </a:p>
        </p:txBody>
      </p:sp>
      <p:sp>
        <p:nvSpPr>
          <p:cNvPr id="30" name="Shape 24"/>
          <p:cNvSpPr/>
          <p:nvPr/>
        </p:nvSpPr>
        <p:spPr>
          <a:xfrm>
            <a:off x="571500" y="3491179"/>
            <a:ext cx="14287500" cy="590702"/>
          </a:xfrm>
          <a:prstGeom prst="rect">
            <a:avLst/>
          </a:prstGeom>
          <a:solidFill>
            <a:srgbClr val="F7F8FB"/>
          </a:solidFill>
          <a:ln/>
        </p:spPr>
      </p:sp>
      <p:sp>
        <p:nvSpPr>
          <p:cNvPr id="31" name="Shape 25"/>
          <p:cNvSpPr/>
          <p:nvPr/>
        </p:nvSpPr>
        <p:spPr>
          <a:xfrm>
            <a:off x="571500" y="4072738"/>
            <a:ext cx="14287500" cy="9144"/>
          </a:xfrm>
          <a:prstGeom prst="rect">
            <a:avLst/>
          </a:prstGeom>
          <a:solidFill>
            <a:srgbClr val="D6DCE5"/>
          </a:solidFill>
          <a:ln w="12700">
            <a:solidFill>
              <a:srgbClr val="D6DCE5">
                <a:alpha val="0"/>
              </a:srgbClr>
            </a:solidFill>
            <a:prstDash val="solid"/>
          </a:ln>
        </p:spPr>
      </p:sp>
      <p:sp>
        <p:nvSpPr>
          <p:cNvPr id="32" name="Text 26"/>
          <p:cNvSpPr txBox="1"/>
          <p:nvPr/>
        </p:nvSpPr>
        <p:spPr>
          <a:xfrm>
            <a:off x="571500" y="349117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W02</a:t>
            </a:r>
            <a:endParaRPr lang="en-US" sz="1575" dirty="0"/>
          </a:p>
        </p:txBody>
      </p:sp>
      <p:sp>
        <p:nvSpPr>
          <p:cNvPr id="33" name="Text 27"/>
          <p:cNvSpPr txBox="1"/>
          <p:nvPr/>
        </p:nvSpPr>
        <p:spPr>
          <a:xfrm>
            <a:off x="3886200" y="349117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8.62</a:t>
            </a:r>
            <a:endParaRPr lang="en-US" sz="1575" dirty="0"/>
          </a:p>
        </p:txBody>
      </p:sp>
      <p:sp>
        <p:nvSpPr>
          <p:cNvPr id="34" name="Text 28"/>
          <p:cNvSpPr txBox="1"/>
          <p:nvPr/>
        </p:nvSpPr>
        <p:spPr>
          <a:xfrm>
            <a:off x="6709867" y="349117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0.74</a:t>
            </a:r>
            <a:endParaRPr lang="en-US" sz="1575" dirty="0"/>
          </a:p>
        </p:txBody>
      </p:sp>
      <p:sp>
        <p:nvSpPr>
          <p:cNvPr id="35" name="Text 29"/>
          <p:cNvSpPr txBox="1"/>
          <p:nvPr/>
        </p:nvSpPr>
        <p:spPr>
          <a:xfrm>
            <a:off x="9011412" y="349117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2.73</a:t>
            </a:r>
            <a:endParaRPr lang="en-US" sz="1575" dirty="0"/>
          </a:p>
        </p:txBody>
      </p:sp>
      <p:sp>
        <p:nvSpPr>
          <p:cNvPr id="36" name="Text 30"/>
          <p:cNvSpPr txBox="1"/>
          <p:nvPr/>
        </p:nvSpPr>
        <p:spPr>
          <a:xfrm>
            <a:off x="11992356" y="349117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+0.42</a:t>
            </a:r>
            <a:endParaRPr lang="en-US" sz="1575" dirty="0"/>
          </a:p>
        </p:txBody>
      </p:sp>
      <p:sp>
        <p:nvSpPr>
          <p:cNvPr id="37" name="Shape 31"/>
          <p:cNvSpPr/>
          <p:nvPr/>
        </p:nvSpPr>
        <p:spPr>
          <a:xfrm>
            <a:off x="571500" y="4672584"/>
            <a:ext cx="14287500" cy="9144"/>
          </a:xfrm>
          <a:prstGeom prst="rect">
            <a:avLst/>
          </a:prstGeom>
          <a:solidFill>
            <a:srgbClr val="D6DCE5"/>
          </a:solidFill>
          <a:ln w="12700">
            <a:solidFill>
              <a:srgbClr val="D6DCE5">
                <a:alpha val="0"/>
              </a:srgbClr>
            </a:solidFill>
            <a:prstDash val="solid"/>
          </a:ln>
        </p:spPr>
      </p:sp>
      <p:sp>
        <p:nvSpPr>
          <p:cNvPr id="38" name="Text 32"/>
          <p:cNvSpPr txBox="1"/>
          <p:nvPr/>
        </p:nvSpPr>
        <p:spPr>
          <a:xfrm>
            <a:off x="571500" y="4081882"/>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W03</a:t>
            </a:r>
            <a:endParaRPr lang="en-US" sz="1575" dirty="0"/>
          </a:p>
        </p:txBody>
      </p:sp>
      <p:sp>
        <p:nvSpPr>
          <p:cNvPr id="39" name="Text 33"/>
          <p:cNvSpPr txBox="1"/>
          <p:nvPr/>
        </p:nvSpPr>
        <p:spPr>
          <a:xfrm>
            <a:off x="3886200" y="4081882"/>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8.43</a:t>
            </a:r>
            <a:endParaRPr lang="en-US" sz="1575" dirty="0"/>
          </a:p>
        </p:txBody>
      </p:sp>
      <p:sp>
        <p:nvSpPr>
          <p:cNvPr id="40" name="Text 34"/>
          <p:cNvSpPr txBox="1"/>
          <p:nvPr/>
        </p:nvSpPr>
        <p:spPr>
          <a:xfrm>
            <a:off x="6709867" y="4081882"/>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0.69</a:t>
            </a:r>
            <a:endParaRPr lang="en-US" sz="1575" dirty="0"/>
          </a:p>
        </p:txBody>
      </p:sp>
      <p:sp>
        <p:nvSpPr>
          <p:cNvPr id="41" name="Text 35"/>
          <p:cNvSpPr txBox="1"/>
          <p:nvPr/>
        </p:nvSpPr>
        <p:spPr>
          <a:xfrm>
            <a:off x="9011412" y="4081882"/>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2.55</a:t>
            </a:r>
            <a:endParaRPr lang="en-US" sz="1575" dirty="0"/>
          </a:p>
        </p:txBody>
      </p:sp>
      <p:sp>
        <p:nvSpPr>
          <p:cNvPr id="42" name="Text 36"/>
          <p:cNvSpPr txBox="1"/>
          <p:nvPr/>
        </p:nvSpPr>
        <p:spPr>
          <a:xfrm>
            <a:off x="11992356" y="4081882"/>
            <a:ext cx="2867558" cy="600761"/>
          </a:xfrm>
          <a:prstGeom prst="rect">
            <a:avLst/>
          </a:prstGeom>
          <a:noFill/>
          <a:ln/>
        </p:spPr>
        <p:txBody>
          <a:bodyPr wrap="squar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+0.23</a:t>
            </a:r>
            <a:endParaRPr lang="en-US" sz="1575" dirty="0"/>
          </a:p>
        </p:txBody>
      </p:sp>
      <p:sp>
        <p:nvSpPr>
          <p:cNvPr id="43" name="Shape 37"/>
          <p:cNvSpPr/>
          <p:nvPr/>
        </p:nvSpPr>
        <p:spPr>
          <a:xfrm>
            <a:off x="571500" y="4677156"/>
            <a:ext cx="14287500" cy="599846"/>
          </a:xfrm>
          <a:prstGeom prst="rect">
            <a:avLst/>
          </a:prstGeom>
          <a:solidFill>
            <a:srgbClr val="F2F4F8"/>
          </a:solidFill>
          <a:ln w="25400">
            <a:solidFill>
              <a:srgbClr val="B6C0CE"/>
            </a:solidFill>
            <a:prstDash val="solid"/>
          </a:ln>
        </p:spPr>
      </p:sp>
      <p:sp>
        <p:nvSpPr>
          <p:cNvPr id="44" name="Text 38"/>
          <p:cNvSpPr txBox="1"/>
          <p:nvPr/>
        </p:nvSpPr>
        <p:spPr>
          <a:xfrm>
            <a:off x="571500" y="4677156"/>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W04</a:t>
            </a:r>
            <a:endParaRPr lang="en-US" sz="1575" dirty="0"/>
          </a:p>
        </p:txBody>
      </p:sp>
      <p:sp>
        <p:nvSpPr>
          <p:cNvPr id="45" name="Text 39"/>
          <p:cNvSpPr txBox="1"/>
          <p:nvPr/>
        </p:nvSpPr>
        <p:spPr>
          <a:xfrm>
            <a:off x="3886200" y="4677156"/>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8.11</a:t>
            </a:r>
            <a:endParaRPr lang="en-US" sz="1575" dirty="0"/>
          </a:p>
        </p:txBody>
      </p:sp>
      <p:sp>
        <p:nvSpPr>
          <p:cNvPr id="46" name="Text 40"/>
          <p:cNvSpPr txBox="1"/>
          <p:nvPr/>
        </p:nvSpPr>
        <p:spPr>
          <a:xfrm>
            <a:off x="6709867" y="4677156"/>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0.30</a:t>
            </a:r>
            <a:endParaRPr lang="en-US" sz="1575" dirty="0"/>
          </a:p>
        </p:txBody>
      </p:sp>
      <p:sp>
        <p:nvSpPr>
          <p:cNvPr id="47" name="Text 41"/>
          <p:cNvSpPr txBox="1"/>
          <p:nvPr/>
        </p:nvSpPr>
        <p:spPr>
          <a:xfrm>
            <a:off x="9011412" y="4677156"/>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1.02</a:t>
            </a:r>
            <a:endParaRPr lang="en-US" sz="1575" dirty="0"/>
          </a:p>
        </p:txBody>
      </p:sp>
      <p:sp>
        <p:nvSpPr>
          <p:cNvPr id="48" name="Text 42"/>
          <p:cNvSpPr txBox="1"/>
          <p:nvPr/>
        </p:nvSpPr>
        <p:spPr>
          <a:xfrm>
            <a:off x="11992356" y="4677156"/>
            <a:ext cx="2867558" cy="600761"/>
          </a:xfrm>
          <a:prstGeom prst="rect">
            <a:avLst/>
          </a:prstGeom>
          <a:noFill/>
          <a:ln/>
        </p:spPr>
        <p:txBody>
          <a:bodyPr wrap="squar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−0.09</a:t>
            </a:r>
            <a:endParaRPr lang="en-US" sz="1575" dirty="0"/>
          </a:p>
        </p:txBody>
      </p:sp>
      <p:sp>
        <p:nvSpPr>
          <p:cNvPr id="49" name="Shape 43"/>
          <p:cNvSpPr/>
          <p:nvPr/>
        </p:nvSpPr>
        <p:spPr>
          <a:xfrm>
            <a:off x="571500" y="5272430"/>
            <a:ext cx="14287500" cy="590702"/>
          </a:xfrm>
          <a:prstGeom prst="rect">
            <a:avLst/>
          </a:prstGeom>
          <a:solidFill>
            <a:srgbClr val="F7F8FB"/>
          </a:solidFill>
          <a:ln/>
        </p:spPr>
      </p:sp>
      <p:sp>
        <p:nvSpPr>
          <p:cNvPr id="50" name="Shape 44"/>
          <p:cNvSpPr/>
          <p:nvPr/>
        </p:nvSpPr>
        <p:spPr>
          <a:xfrm>
            <a:off x="571500" y="5853989"/>
            <a:ext cx="14287500" cy="9144"/>
          </a:xfrm>
          <a:prstGeom prst="rect">
            <a:avLst/>
          </a:prstGeom>
          <a:solidFill>
            <a:srgbClr val="D6DCE5"/>
          </a:solidFill>
          <a:ln w="12700">
            <a:solidFill>
              <a:srgbClr val="D6DCE5">
                <a:alpha val="0"/>
              </a:srgbClr>
            </a:solidFill>
            <a:prstDash val="solid"/>
          </a:ln>
        </p:spPr>
      </p:sp>
      <p:sp>
        <p:nvSpPr>
          <p:cNvPr id="51" name="Text 45"/>
          <p:cNvSpPr txBox="1"/>
          <p:nvPr/>
        </p:nvSpPr>
        <p:spPr>
          <a:xfrm>
            <a:off x="571500" y="5272430"/>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W05</a:t>
            </a:r>
            <a:endParaRPr lang="en-US" sz="1575" dirty="0"/>
          </a:p>
        </p:txBody>
      </p:sp>
      <p:sp>
        <p:nvSpPr>
          <p:cNvPr id="52" name="Text 46"/>
          <p:cNvSpPr txBox="1"/>
          <p:nvPr/>
        </p:nvSpPr>
        <p:spPr>
          <a:xfrm>
            <a:off x="3886200" y="5272430"/>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8.03</a:t>
            </a:r>
            <a:endParaRPr lang="en-US" sz="1575" dirty="0"/>
          </a:p>
        </p:txBody>
      </p:sp>
      <p:sp>
        <p:nvSpPr>
          <p:cNvPr id="53" name="Text 47"/>
          <p:cNvSpPr txBox="1"/>
          <p:nvPr/>
        </p:nvSpPr>
        <p:spPr>
          <a:xfrm>
            <a:off x="6709867" y="5272430"/>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0.31</a:t>
            </a:r>
            <a:endParaRPr lang="en-US" sz="1575" dirty="0"/>
          </a:p>
        </p:txBody>
      </p:sp>
      <p:sp>
        <p:nvSpPr>
          <p:cNvPr id="54" name="Text 48"/>
          <p:cNvSpPr txBox="1"/>
          <p:nvPr/>
        </p:nvSpPr>
        <p:spPr>
          <a:xfrm>
            <a:off x="9011412" y="5272430"/>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1.08</a:t>
            </a:r>
            <a:endParaRPr lang="en-US" sz="1575" dirty="0"/>
          </a:p>
        </p:txBody>
      </p:sp>
      <p:sp>
        <p:nvSpPr>
          <p:cNvPr id="55" name="Text 49"/>
          <p:cNvSpPr txBox="1"/>
          <p:nvPr/>
        </p:nvSpPr>
        <p:spPr>
          <a:xfrm>
            <a:off x="11992356" y="5272430"/>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−0.17</a:t>
            </a:r>
            <a:endParaRPr lang="en-US" sz="1575" dirty="0"/>
          </a:p>
        </p:txBody>
      </p:sp>
      <p:sp>
        <p:nvSpPr>
          <p:cNvPr id="56" name="Text 50"/>
          <p:cNvSpPr txBox="1"/>
          <p:nvPr/>
        </p:nvSpPr>
        <p:spPr>
          <a:xfrm>
            <a:off x="571500" y="5862218"/>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W06</a:t>
            </a:r>
            <a:endParaRPr lang="en-US" sz="1575" dirty="0"/>
          </a:p>
        </p:txBody>
      </p:sp>
      <p:sp>
        <p:nvSpPr>
          <p:cNvPr id="57" name="Text 51"/>
          <p:cNvSpPr txBox="1"/>
          <p:nvPr/>
        </p:nvSpPr>
        <p:spPr>
          <a:xfrm>
            <a:off x="3886200" y="5862218"/>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8.20</a:t>
            </a:r>
            <a:endParaRPr lang="en-US" sz="1575" dirty="0"/>
          </a:p>
        </p:txBody>
      </p:sp>
      <p:sp>
        <p:nvSpPr>
          <p:cNvPr id="58" name="Text 52"/>
          <p:cNvSpPr txBox="1"/>
          <p:nvPr/>
        </p:nvSpPr>
        <p:spPr>
          <a:xfrm>
            <a:off x="6709867" y="5862218"/>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0.29</a:t>
            </a:r>
            <a:endParaRPr lang="en-US" sz="1575" dirty="0"/>
          </a:p>
        </p:txBody>
      </p:sp>
      <p:sp>
        <p:nvSpPr>
          <p:cNvPr id="59" name="Text 53"/>
          <p:cNvSpPr txBox="1"/>
          <p:nvPr/>
        </p:nvSpPr>
        <p:spPr>
          <a:xfrm>
            <a:off x="9011412" y="5862218"/>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0.98</a:t>
            </a:r>
            <a:endParaRPr lang="en-US" sz="1575" dirty="0"/>
          </a:p>
        </p:txBody>
      </p:sp>
      <p:sp>
        <p:nvSpPr>
          <p:cNvPr id="60" name="Text 54"/>
          <p:cNvSpPr txBox="1"/>
          <p:nvPr/>
        </p:nvSpPr>
        <p:spPr>
          <a:xfrm>
            <a:off x="11992356" y="5862218"/>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0.00</a:t>
            </a:r>
            <a:endParaRPr lang="en-US" sz="1575" dirty="0"/>
          </a:p>
        </p:txBody>
      </p:sp>
      <p:sp>
        <p:nvSpPr>
          <p:cNvPr id="61" name="Text 55"/>
          <p:cNvSpPr txBox="1"/>
          <p:nvPr/>
        </p:nvSpPr>
        <p:spPr>
          <a:xfrm>
            <a:off x="2286000" y="307695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2" name="Text 56"/>
          <p:cNvSpPr txBox="1"/>
          <p:nvPr/>
        </p:nvSpPr>
        <p:spPr>
          <a:xfrm>
            <a:off x="2286000" y="3666744"/>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3" name="Text 57"/>
          <p:cNvSpPr txBox="1"/>
          <p:nvPr/>
        </p:nvSpPr>
        <p:spPr>
          <a:xfrm>
            <a:off x="2286000" y="425744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4" name="Text 58"/>
          <p:cNvSpPr txBox="1"/>
          <p:nvPr/>
        </p:nvSpPr>
        <p:spPr>
          <a:xfrm>
            <a:off x="2305202" y="4858207"/>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5" name="Text 59"/>
          <p:cNvSpPr txBox="1"/>
          <p:nvPr/>
        </p:nvSpPr>
        <p:spPr>
          <a:xfrm>
            <a:off x="2305202" y="5447995"/>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6" name="Text 60"/>
          <p:cNvSpPr txBox="1"/>
          <p:nvPr/>
        </p:nvSpPr>
        <p:spPr>
          <a:xfrm>
            <a:off x="2305202" y="6038698"/>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7" name="Shape 61"/>
          <p:cNvSpPr/>
          <p:nvPr/>
        </p:nvSpPr>
        <p:spPr>
          <a:xfrm>
            <a:off x="15240305" y="2286000"/>
            <a:ext cx="2476195" cy="1152144"/>
          </a:xfrm>
          <a:prstGeom prst="rect">
            <a:avLst/>
          </a:prstGeom>
          <a:solidFill>
            <a:srgbClr val="FFFFFF"/>
          </a:solidFill>
          <a:ln w="12700">
            <a:solidFill>
              <a:srgbClr val="C4CDD9"/>
            </a:solidFill>
            <a:prstDash val="solid"/>
          </a:ln>
        </p:spPr>
      </p:sp>
      <p:sp>
        <p:nvSpPr>
          <p:cNvPr id="68" name="Text 62"/>
          <p:cNvSpPr txBox="1"/>
          <p:nvPr/>
        </p:nvSpPr>
        <p:spPr>
          <a:xfrm>
            <a:off x="15421356" y="2467051"/>
            <a:ext cx="2115007" cy="191110"/>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Max |Δ|</a:t>
            </a:r>
            <a:endParaRPr lang="en-US" sz="975" dirty="0"/>
          </a:p>
        </p:txBody>
      </p:sp>
      <p:sp>
        <p:nvSpPr>
          <p:cNvPr id="69" name="Text 63"/>
          <p:cNvSpPr txBox="1"/>
          <p:nvPr/>
        </p:nvSpPr>
        <p:spPr>
          <a:xfrm>
            <a:off x="15421356" y="2714854"/>
            <a:ext cx="2115007" cy="305410"/>
          </a:xfrm>
          <a:prstGeom prst="rect">
            <a:avLst/>
          </a:prstGeom>
          <a:noFill/>
          <a:ln/>
        </p:spPr>
        <p:txBody>
          <a:bodyPr wrap="none" lIns="0" tIns="0" rIns="0" bIns="0" rtlCol="0" anchor="ctr"/>
          <a:lstStyle/>
          <a:p>
            <a:pPr algn="l" indent="0" marL="0">
              <a:buNone/>
            </a:pPr>
            <a:r>
              <a:rPr lang="en-US" sz="2400" b="1" dirty="0">
                <a:solidFill>
                  <a:srgbClr val="1B2C45"/>
                </a:solidFill>
                <a:latin typeface="IBM Plex Sans KR" pitchFamily="34" charset="0"/>
                <a:ea typeface="IBM Plex Sans KR" pitchFamily="34" charset="-122"/>
                <a:cs typeface="IBM Plex Sans KR" pitchFamily="34" charset="-120"/>
              </a:rPr>
              <a:t>+0.42</a:t>
            </a:r>
            <a:endParaRPr lang="en-US" sz="2400" dirty="0"/>
          </a:p>
        </p:txBody>
      </p:sp>
      <p:sp>
        <p:nvSpPr>
          <p:cNvPr id="70" name="Text 64"/>
          <p:cNvSpPr txBox="1"/>
          <p:nvPr/>
        </p:nvSpPr>
        <p:spPr>
          <a:xfrm>
            <a:off x="15421356" y="3076956"/>
            <a:ext cx="2115007"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W02 (CAR)</a:t>
            </a:r>
            <a:endParaRPr lang="en-US" sz="975" dirty="0"/>
          </a:p>
        </p:txBody>
      </p:sp>
      <p:sp>
        <p:nvSpPr>
          <p:cNvPr id="71" name="Shape 65"/>
          <p:cNvSpPr/>
          <p:nvPr/>
        </p:nvSpPr>
        <p:spPr>
          <a:xfrm>
            <a:off x="15240305" y="3571646"/>
            <a:ext cx="2476195" cy="1152144"/>
          </a:xfrm>
          <a:prstGeom prst="rect">
            <a:avLst/>
          </a:prstGeom>
          <a:solidFill>
            <a:srgbClr val="FFFFFF"/>
          </a:solidFill>
          <a:ln w="12700">
            <a:solidFill>
              <a:srgbClr val="C4CDD9"/>
            </a:solidFill>
            <a:prstDash val="solid"/>
          </a:ln>
        </p:spPr>
      </p:sp>
      <p:sp>
        <p:nvSpPr>
          <p:cNvPr id="72" name="Text 66"/>
          <p:cNvSpPr txBox="1"/>
          <p:nvPr/>
        </p:nvSpPr>
        <p:spPr>
          <a:xfrm>
            <a:off x="15421356" y="3752698"/>
            <a:ext cx="2115007" cy="191110"/>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Min |Δ|</a:t>
            </a:r>
            <a:endParaRPr lang="en-US" sz="975" dirty="0"/>
          </a:p>
        </p:txBody>
      </p:sp>
      <p:sp>
        <p:nvSpPr>
          <p:cNvPr id="73" name="Text 67"/>
          <p:cNvSpPr txBox="1"/>
          <p:nvPr/>
        </p:nvSpPr>
        <p:spPr>
          <a:xfrm>
            <a:off x="15421356" y="4000500"/>
            <a:ext cx="2115007" cy="305410"/>
          </a:xfrm>
          <a:prstGeom prst="rect">
            <a:avLst/>
          </a:prstGeom>
          <a:noFill/>
          <a:ln/>
        </p:spPr>
        <p:txBody>
          <a:bodyPr wrap="none" lIns="0" tIns="0" rIns="0" bIns="0" rtlCol="0" anchor="ctr"/>
          <a:lstStyle/>
          <a:p>
            <a:pPr algn="l" indent="0" marL="0">
              <a:buNone/>
            </a:pPr>
            <a:r>
              <a:rPr lang="en-US" sz="2400" b="1" dirty="0">
                <a:solidFill>
                  <a:srgbClr val="1B2C45"/>
                </a:solidFill>
                <a:latin typeface="IBM Plex Sans KR" pitchFamily="34" charset="0"/>
                <a:ea typeface="IBM Plex Sans KR" pitchFamily="34" charset="-122"/>
                <a:cs typeface="IBM Plex Sans KR" pitchFamily="34" charset="-120"/>
              </a:rPr>
              <a:t>0.00</a:t>
            </a:r>
            <a:endParaRPr lang="en-US" sz="2400" dirty="0"/>
          </a:p>
        </p:txBody>
      </p:sp>
      <p:sp>
        <p:nvSpPr>
          <p:cNvPr id="74" name="Text 68"/>
          <p:cNvSpPr txBox="1"/>
          <p:nvPr/>
        </p:nvSpPr>
        <p:spPr>
          <a:xfrm>
            <a:off x="15421356" y="4362602"/>
            <a:ext cx="2115007"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W06 (MOR)</a:t>
            </a:r>
            <a:endParaRPr lang="en-US" sz="975" dirty="0"/>
          </a:p>
        </p:txBody>
      </p:sp>
      <p:sp>
        <p:nvSpPr>
          <p:cNvPr id="75" name="Shape 69"/>
          <p:cNvSpPr/>
          <p:nvPr/>
        </p:nvSpPr>
        <p:spPr>
          <a:xfrm>
            <a:off x="15240305" y="4858207"/>
            <a:ext cx="2476195" cy="1123798"/>
          </a:xfrm>
          <a:prstGeom prst="rect">
            <a:avLst/>
          </a:prstGeom>
          <a:solidFill>
            <a:srgbClr val="1B2C45"/>
          </a:solidFill>
          <a:ln w="12700">
            <a:solidFill>
              <a:srgbClr val="FFFFFF">
                <a:alpha val="0"/>
              </a:srgbClr>
            </a:solidFill>
            <a:prstDash val="solid"/>
          </a:ln>
        </p:spPr>
      </p:sp>
      <p:sp>
        <p:nvSpPr>
          <p:cNvPr id="76" name="Text 70"/>
          <p:cNvSpPr txBox="1"/>
          <p:nvPr/>
        </p:nvSpPr>
        <p:spPr>
          <a:xfrm>
            <a:off x="15411298" y="5029200"/>
            <a:ext cx="2134210" cy="181051"/>
          </a:xfrm>
          <a:prstGeom prst="rect">
            <a:avLst/>
          </a:prstGeom>
          <a:noFill/>
          <a:ln/>
        </p:spPr>
        <p:txBody>
          <a:bodyPr wrap="none" lIns="0" tIns="0" rIns="0" bIns="0" rtlCol="0" anchor="ctr"/>
          <a:lstStyle/>
          <a:p>
            <a:pPr algn="l" indent="0" marL="0">
              <a:buNone/>
            </a:pPr>
            <a:r>
              <a:rPr lang="en-US" sz="975" spc="215" kern="0" dirty="0">
                <a:solidFill>
                  <a:srgbClr val="93A4BC"/>
                </a:solidFill>
                <a:latin typeface="IBM Plex Sans KR" pitchFamily="34" charset="0"/>
                <a:ea typeface="IBM Plex Sans KR" pitchFamily="34" charset="-122"/>
                <a:cs typeface="IBM Plex Sans KR" pitchFamily="34" charset="-120"/>
              </a:rPr>
              <a:t>Range ratio</a:t>
            </a:r>
            <a:endParaRPr lang="en-US" sz="975" dirty="0"/>
          </a:p>
        </p:txBody>
      </p:sp>
      <p:sp>
        <p:nvSpPr>
          <p:cNvPr id="77" name="Text 71"/>
          <p:cNvSpPr txBox="1"/>
          <p:nvPr/>
        </p:nvSpPr>
        <p:spPr>
          <a:xfrm>
            <a:off x="15411298" y="5266944"/>
            <a:ext cx="2134210" cy="305410"/>
          </a:xfrm>
          <a:prstGeom prst="rect">
            <a:avLst/>
          </a:prstGeom>
          <a:noFill/>
          <a:ln/>
        </p:spPr>
        <p:txBody>
          <a:bodyPr wrap="none" lIns="0" tIns="0" rIns="0" bIns="0" rtlCol="0" anchor="ctr"/>
          <a:lstStyle/>
          <a:p>
            <a:pPr algn="l" indent="0" marL="0">
              <a:buNone/>
            </a:pPr>
            <a:r>
              <a:rPr lang="en-US" sz="2400" b="1" dirty="0">
                <a:solidFill>
                  <a:srgbClr val="FFFFFF"/>
                </a:solidFill>
                <a:latin typeface="IBM Plex Sans KR" pitchFamily="34" charset="0"/>
                <a:ea typeface="IBM Plex Sans KR" pitchFamily="34" charset="-122"/>
                <a:cs typeface="IBM Plex Sans KR" pitchFamily="34" charset="-120"/>
              </a:rPr>
              <a:t>2.5×</a:t>
            </a:r>
            <a:endParaRPr lang="en-US" sz="2400" dirty="0"/>
          </a:p>
        </p:txBody>
      </p:sp>
      <p:sp>
        <p:nvSpPr>
          <p:cNvPr id="78" name="Text 72"/>
          <p:cNvSpPr txBox="1"/>
          <p:nvPr/>
        </p:nvSpPr>
        <p:spPr>
          <a:xfrm>
            <a:off x="15411298" y="5629046"/>
            <a:ext cx="2134210" cy="181051"/>
          </a:xfrm>
          <a:prstGeom prst="rect">
            <a:avLst/>
          </a:prstGeom>
          <a:noFill/>
          <a:ln/>
        </p:spPr>
        <p:txBody>
          <a:bodyPr wrap="none" lIns="0" tIns="0" rIns="0" bIns="0" rtlCol="0" anchor="ctr"/>
          <a:lstStyle/>
          <a:p>
            <a:pPr algn="l" indent="0" marL="0">
              <a:buNone/>
            </a:pPr>
            <a:r>
              <a:rPr lang="en-US" sz="975" dirty="0">
                <a:solidFill>
                  <a:srgbClr val="93A4BC"/>
                </a:solidFill>
                <a:latin typeface="IBM Plex Sans KR" pitchFamily="34" charset="0"/>
                <a:ea typeface="IBM Plex Sans KR" pitchFamily="34" charset="-122"/>
                <a:cs typeface="IBM Plex Sans KR" pitchFamily="34" charset="-120"/>
              </a:rPr>
              <a:t>CAR avg / MOR avg</a:t>
            </a:r>
            <a:endParaRPr lang="en-US" sz="975" dirty="0"/>
          </a:p>
        </p:txBody>
      </p:sp>
      <p:sp>
        <p:nvSpPr>
          <p:cNvPr id="79" name="Shape 73"/>
          <p:cNvSpPr/>
          <p:nvPr/>
        </p:nvSpPr>
        <p:spPr>
          <a:xfrm>
            <a:off x="571500" y="7048195"/>
            <a:ext cx="17164202" cy="1543507"/>
          </a:xfrm>
          <a:prstGeom prst="rect">
            <a:avLst/>
          </a:prstGeom>
          <a:solidFill>
            <a:srgbClr val="FFFFFF"/>
          </a:solidFill>
          <a:ln w="12700">
            <a:solidFill>
              <a:srgbClr val="C4CDD9"/>
            </a:solidFill>
            <a:prstDash val="solid"/>
          </a:ln>
        </p:spPr>
      </p:sp>
      <p:sp>
        <p:nvSpPr>
          <p:cNvPr id="80" name="Text 74"/>
          <p:cNvSpPr txBox="1"/>
          <p:nvPr/>
        </p:nvSpPr>
        <p:spPr>
          <a:xfrm>
            <a:off x="866851" y="7233818"/>
            <a:ext cx="3805733" cy="200254"/>
          </a:xfrm>
          <a:prstGeom prst="rect">
            <a:avLst/>
          </a:prstGeom>
          <a:noFill/>
          <a:ln/>
        </p:spPr>
        <p:txBody>
          <a:bodyPr wrap="none" lIns="0" tIns="0" rIns="0" bIns="0" rtlCol="0" anchor="ctr"/>
          <a:lstStyle/>
          <a:p>
            <a:pPr algn="l" indent="0" marL="0">
              <a:buNone/>
            </a:pPr>
            <a:r>
              <a:rPr lang="en-US" sz="1050" b="1" spc="210" kern="0" dirty="0">
                <a:solidFill>
                  <a:srgbClr val="2F3D54"/>
                </a:solidFill>
                <a:latin typeface="IBM Plex Sans KR" pitchFamily="34" charset="0"/>
                <a:ea typeface="IBM Plex Sans KR" pitchFamily="34" charset="-122"/>
                <a:cs typeface="IBM Plex Sans KR" pitchFamily="34" charset="-120"/>
              </a:rPr>
              <a:t>Mean offset from target (nm) — AMI</a:t>
            </a:r>
            <a:endParaRPr lang="en-US" sz="1050" dirty="0"/>
          </a:p>
        </p:txBody>
      </p:sp>
      <p:sp>
        <p:nvSpPr>
          <p:cNvPr id="81" name="Text 75"/>
          <p:cNvSpPr txBox="1"/>
          <p:nvPr/>
        </p:nvSpPr>
        <p:spPr>
          <a:xfrm>
            <a:off x="4572000" y="7229246"/>
            <a:ext cx="60076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CAR (+)</a:t>
            </a:r>
            <a:endParaRPr lang="en-US" sz="975" dirty="0"/>
          </a:p>
        </p:txBody>
      </p:sp>
      <p:sp>
        <p:nvSpPr>
          <p:cNvPr id="82" name="Text 76"/>
          <p:cNvSpPr txBox="1"/>
          <p:nvPr/>
        </p:nvSpPr>
        <p:spPr>
          <a:xfrm>
            <a:off x="5298948" y="7229246"/>
            <a:ext cx="7525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MOR (−/0)</a:t>
            </a:r>
            <a:endParaRPr lang="en-US" sz="975" dirty="0"/>
          </a:p>
        </p:txBody>
      </p:sp>
      <p:sp>
        <p:nvSpPr>
          <p:cNvPr id="83" name="Text 77"/>
          <p:cNvSpPr txBox="1"/>
          <p:nvPr/>
        </p:nvSpPr>
        <p:spPr>
          <a:xfrm>
            <a:off x="15770657" y="7233818"/>
            <a:ext cx="1995221" cy="191110"/>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막대 길이 = |Δ| · 위 = +, 아래 = −</a:t>
            </a:r>
            <a:endParaRPr lang="en-US" sz="975" dirty="0"/>
          </a:p>
        </p:txBody>
      </p:sp>
      <p:pic>
        <p:nvPicPr>
          <p:cNvPr id="84" name="Image 3" descr="gen-dedup-0f02e903ee9b0d28bcace92cf2278edc.png">    </p:cNvPr>
          <p:cNvPicPr>
            <a:picLocks noChangeAspect="1"/>
          </p:cNvPicPr>
          <p:nvPr/>
        </p:nvPicPr>
        <p:blipFill>
          <a:blip r:embed="rId4"/>
          <a:srcRect l="0" r="0" t="-400" b="-400"/>
          <a:stretch/>
        </p:blipFill>
        <p:spPr>
          <a:xfrm>
            <a:off x="1152144" y="7948879"/>
            <a:ext cx="16002000" cy="19202"/>
          </a:xfrm>
          <a:prstGeom prst="rect">
            <a:avLst/>
          </a:prstGeom>
        </p:spPr>
      </p:pic>
      <p:sp>
        <p:nvSpPr>
          <p:cNvPr id="85" name="Shape 78"/>
          <p:cNvSpPr/>
          <p:nvPr/>
        </p:nvSpPr>
        <p:spPr>
          <a:xfrm>
            <a:off x="2467051" y="7605979"/>
            <a:ext cx="228600" cy="342900"/>
          </a:xfrm>
          <a:prstGeom prst="rect">
            <a:avLst/>
          </a:prstGeom>
          <a:solidFill>
            <a:srgbClr val="B85C46"/>
          </a:solidFill>
          <a:ln w="12700">
            <a:solidFill>
              <a:srgbClr val="FFFFFF">
                <a:alpha val="0"/>
              </a:srgbClr>
            </a:solidFill>
            <a:prstDash val="solid"/>
          </a:ln>
        </p:spPr>
      </p:sp>
      <p:sp>
        <p:nvSpPr>
          <p:cNvPr id="86" name="Text 79"/>
          <p:cNvSpPr txBox="1"/>
          <p:nvPr/>
        </p:nvSpPr>
        <p:spPr>
          <a:xfrm>
            <a:off x="2413102" y="7968082"/>
            <a:ext cx="436169" cy="181051"/>
          </a:xfrm>
          <a:prstGeom prst="rect">
            <a:avLst/>
          </a:prstGeom>
          <a:noFill/>
          <a:ln/>
        </p:spPr>
        <p:txBody>
          <a:bodyPr wrap="none" lIns="0" tIns="0" rIns="0" bIns="0" rtlCol="0" anchor="ctr"/>
          <a:lstStyle/>
          <a:p>
            <a:pPr algn="l" indent="0" marL="0">
              <a:buNone/>
            </a:pPr>
            <a:r>
              <a:rPr lang="en-US" sz="975" b="1" dirty="0">
                <a:solidFill>
                  <a:srgbClr val="B85C46"/>
                </a:solidFill>
                <a:latin typeface="IBM Plex Sans KR" pitchFamily="34" charset="0"/>
                <a:ea typeface="IBM Plex Sans KR" pitchFamily="34" charset="-122"/>
                <a:cs typeface="IBM Plex Sans KR" pitchFamily="34" charset="-120"/>
              </a:rPr>
              <a:t>+0.31</a:t>
            </a:r>
            <a:endParaRPr lang="en-US" sz="975" dirty="0"/>
          </a:p>
        </p:txBody>
      </p:sp>
      <p:sp>
        <p:nvSpPr>
          <p:cNvPr id="87" name="Text 80"/>
          <p:cNvSpPr txBox="1"/>
          <p:nvPr/>
        </p:nvSpPr>
        <p:spPr>
          <a:xfrm>
            <a:off x="2435962" y="8225028"/>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W01</a:t>
            </a:r>
            <a:endParaRPr lang="en-US" sz="1050" dirty="0"/>
          </a:p>
        </p:txBody>
      </p:sp>
      <p:sp>
        <p:nvSpPr>
          <p:cNvPr id="88" name="Shape 81"/>
          <p:cNvSpPr/>
          <p:nvPr/>
        </p:nvSpPr>
        <p:spPr>
          <a:xfrm>
            <a:off x="5038344" y="7548372"/>
            <a:ext cx="228600" cy="400507"/>
          </a:xfrm>
          <a:prstGeom prst="rect">
            <a:avLst/>
          </a:prstGeom>
          <a:solidFill>
            <a:srgbClr val="B85C46"/>
          </a:solidFill>
          <a:ln w="12700">
            <a:solidFill>
              <a:srgbClr val="FFFFFF">
                <a:alpha val="0"/>
              </a:srgbClr>
            </a:solidFill>
            <a:prstDash val="solid"/>
          </a:ln>
        </p:spPr>
      </p:sp>
      <p:sp>
        <p:nvSpPr>
          <p:cNvPr id="89" name="Text 82"/>
          <p:cNvSpPr txBox="1"/>
          <p:nvPr/>
        </p:nvSpPr>
        <p:spPr>
          <a:xfrm>
            <a:off x="4985309" y="7968082"/>
            <a:ext cx="436169" cy="181051"/>
          </a:xfrm>
          <a:prstGeom prst="rect">
            <a:avLst/>
          </a:prstGeom>
          <a:noFill/>
          <a:ln/>
        </p:spPr>
        <p:txBody>
          <a:bodyPr wrap="none" lIns="0" tIns="0" rIns="0" bIns="0" rtlCol="0" anchor="ctr"/>
          <a:lstStyle/>
          <a:p>
            <a:pPr algn="l" indent="0" marL="0">
              <a:buNone/>
            </a:pPr>
            <a:r>
              <a:rPr lang="en-US" sz="975" b="1" dirty="0">
                <a:solidFill>
                  <a:srgbClr val="B85C46"/>
                </a:solidFill>
                <a:latin typeface="IBM Plex Sans KR" pitchFamily="34" charset="0"/>
                <a:ea typeface="IBM Plex Sans KR" pitchFamily="34" charset="-122"/>
                <a:cs typeface="IBM Plex Sans KR" pitchFamily="34" charset="-120"/>
              </a:rPr>
              <a:t>+0.42</a:t>
            </a:r>
            <a:endParaRPr lang="en-US" sz="975" dirty="0"/>
          </a:p>
        </p:txBody>
      </p:sp>
      <p:sp>
        <p:nvSpPr>
          <p:cNvPr id="90" name="Text 83"/>
          <p:cNvSpPr txBox="1"/>
          <p:nvPr/>
        </p:nvSpPr>
        <p:spPr>
          <a:xfrm>
            <a:off x="5008169" y="8225028"/>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W02</a:t>
            </a:r>
            <a:endParaRPr lang="en-US" sz="1050" dirty="0"/>
          </a:p>
        </p:txBody>
      </p:sp>
      <p:sp>
        <p:nvSpPr>
          <p:cNvPr id="91" name="Shape 84"/>
          <p:cNvSpPr/>
          <p:nvPr/>
        </p:nvSpPr>
        <p:spPr>
          <a:xfrm>
            <a:off x="7610551" y="7662672"/>
            <a:ext cx="228600" cy="286207"/>
          </a:xfrm>
          <a:prstGeom prst="rect">
            <a:avLst/>
          </a:prstGeom>
          <a:solidFill>
            <a:srgbClr val="B85C46"/>
          </a:solidFill>
          <a:ln w="12700">
            <a:solidFill>
              <a:srgbClr val="FFFFFF">
                <a:alpha val="0"/>
              </a:srgbClr>
            </a:solidFill>
            <a:prstDash val="solid"/>
          </a:ln>
        </p:spPr>
      </p:sp>
      <p:sp>
        <p:nvSpPr>
          <p:cNvPr id="92" name="Text 85"/>
          <p:cNvSpPr txBox="1"/>
          <p:nvPr/>
        </p:nvSpPr>
        <p:spPr>
          <a:xfrm>
            <a:off x="7556602" y="7968082"/>
            <a:ext cx="436169" cy="181051"/>
          </a:xfrm>
          <a:prstGeom prst="rect">
            <a:avLst/>
          </a:prstGeom>
          <a:noFill/>
          <a:ln/>
        </p:spPr>
        <p:txBody>
          <a:bodyPr wrap="none" lIns="0" tIns="0" rIns="0" bIns="0" rtlCol="0" anchor="ctr"/>
          <a:lstStyle/>
          <a:p>
            <a:pPr algn="l" indent="0" marL="0">
              <a:buNone/>
            </a:pPr>
            <a:r>
              <a:rPr lang="en-US" sz="975" b="1" dirty="0">
                <a:solidFill>
                  <a:srgbClr val="B85C46"/>
                </a:solidFill>
                <a:latin typeface="IBM Plex Sans KR" pitchFamily="34" charset="0"/>
                <a:ea typeface="IBM Plex Sans KR" pitchFamily="34" charset="-122"/>
                <a:cs typeface="IBM Plex Sans KR" pitchFamily="34" charset="-120"/>
              </a:rPr>
              <a:t>+0.23</a:t>
            </a:r>
            <a:endParaRPr lang="en-US" sz="975" dirty="0"/>
          </a:p>
        </p:txBody>
      </p:sp>
      <p:sp>
        <p:nvSpPr>
          <p:cNvPr id="93" name="Text 86"/>
          <p:cNvSpPr txBox="1"/>
          <p:nvPr/>
        </p:nvSpPr>
        <p:spPr>
          <a:xfrm>
            <a:off x="7579462" y="8225028"/>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W03</a:t>
            </a:r>
            <a:endParaRPr lang="en-US" sz="1050" dirty="0"/>
          </a:p>
        </p:txBody>
      </p:sp>
      <p:sp>
        <p:nvSpPr>
          <p:cNvPr id="94" name="Shape 87"/>
          <p:cNvSpPr/>
          <p:nvPr/>
        </p:nvSpPr>
        <p:spPr>
          <a:xfrm>
            <a:off x="10181844" y="7968082"/>
            <a:ext cx="228600" cy="133502"/>
          </a:xfrm>
          <a:prstGeom prst="rect">
            <a:avLst/>
          </a:prstGeom>
          <a:solidFill>
            <a:srgbClr val="2D6F8C"/>
          </a:solidFill>
          <a:ln w="12700">
            <a:solidFill>
              <a:srgbClr val="FFFFFF">
                <a:alpha val="0"/>
              </a:srgbClr>
            </a:solidFill>
            <a:prstDash val="solid"/>
          </a:ln>
        </p:spPr>
      </p:sp>
      <p:sp>
        <p:nvSpPr>
          <p:cNvPr id="95" name="Text 88"/>
          <p:cNvSpPr txBox="1"/>
          <p:nvPr/>
        </p:nvSpPr>
        <p:spPr>
          <a:xfrm>
            <a:off x="10128809" y="8119872"/>
            <a:ext cx="436169"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−0.09</a:t>
            </a:r>
            <a:endParaRPr lang="en-US" sz="975" dirty="0"/>
          </a:p>
        </p:txBody>
      </p:sp>
      <p:sp>
        <p:nvSpPr>
          <p:cNvPr id="96" name="Text 89"/>
          <p:cNvSpPr txBox="1"/>
          <p:nvPr/>
        </p:nvSpPr>
        <p:spPr>
          <a:xfrm>
            <a:off x="10151669" y="8320126"/>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W04</a:t>
            </a:r>
            <a:endParaRPr lang="en-US" sz="1050" dirty="0"/>
          </a:p>
        </p:txBody>
      </p:sp>
      <p:sp>
        <p:nvSpPr>
          <p:cNvPr id="97" name="Shape 90"/>
          <p:cNvSpPr/>
          <p:nvPr/>
        </p:nvSpPr>
        <p:spPr>
          <a:xfrm>
            <a:off x="12754051" y="7968082"/>
            <a:ext cx="228600" cy="190195"/>
          </a:xfrm>
          <a:prstGeom prst="rect">
            <a:avLst/>
          </a:prstGeom>
          <a:solidFill>
            <a:srgbClr val="2D6F8C"/>
          </a:solidFill>
          <a:ln w="12700">
            <a:solidFill>
              <a:srgbClr val="FFFFFF">
                <a:alpha val="0"/>
              </a:srgbClr>
            </a:solidFill>
            <a:prstDash val="solid"/>
          </a:ln>
        </p:spPr>
      </p:sp>
      <p:sp>
        <p:nvSpPr>
          <p:cNvPr id="98" name="Text 91"/>
          <p:cNvSpPr txBox="1"/>
          <p:nvPr/>
        </p:nvSpPr>
        <p:spPr>
          <a:xfrm>
            <a:off x="12700102" y="8177479"/>
            <a:ext cx="436169"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−0.17</a:t>
            </a:r>
            <a:endParaRPr lang="en-US" sz="975" dirty="0"/>
          </a:p>
        </p:txBody>
      </p:sp>
      <p:sp>
        <p:nvSpPr>
          <p:cNvPr id="99" name="Text 92"/>
          <p:cNvSpPr txBox="1"/>
          <p:nvPr/>
        </p:nvSpPr>
        <p:spPr>
          <a:xfrm>
            <a:off x="12722962" y="8358530"/>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W05</a:t>
            </a:r>
            <a:endParaRPr lang="en-US" sz="1050" dirty="0"/>
          </a:p>
        </p:txBody>
      </p:sp>
      <p:sp>
        <p:nvSpPr>
          <p:cNvPr id="100" name="Text 93"/>
          <p:cNvSpPr txBox="1"/>
          <p:nvPr/>
        </p:nvSpPr>
        <p:spPr>
          <a:xfrm>
            <a:off x="15309799" y="8119872"/>
            <a:ext cx="347472" cy="181051"/>
          </a:xfrm>
          <a:prstGeom prst="rect">
            <a:avLst/>
          </a:prstGeom>
          <a:noFill/>
          <a:ln/>
        </p:spPr>
        <p:txBody>
          <a:bodyPr wrap="none" lIns="0" tIns="0" rIns="0" bIns="0" rtlCol="0" anchor="ctr"/>
          <a:lstStyle/>
          <a:p>
            <a:pPr algn="l" indent="0" marL="0">
              <a:buNone/>
            </a:pPr>
            <a:r>
              <a:rPr lang="en-US" sz="975" b="1" dirty="0">
                <a:solidFill>
                  <a:srgbClr val="2D6F8C"/>
                </a:solidFill>
                <a:latin typeface="IBM Plex Sans KR" pitchFamily="34" charset="0"/>
                <a:ea typeface="IBM Plex Sans KR" pitchFamily="34" charset="-122"/>
                <a:cs typeface="IBM Plex Sans KR" pitchFamily="34" charset="-120"/>
              </a:rPr>
              <a:t>0.00</a:t>
            </a:r>
            <a:endParaRPr lang="en-US" sz="975" dirty="0"/>
          </a:p>
        </p:txBody>
      </p:sp>
      <p:sp>
        <p:nvSpPr>
          <p:cNvPr id="101" name="Text 94"/>
          <p:cNvSpPr txBox="1"/>
          <p:nvPr/>
        </p:nvSpPr>
        <p:spPr>
          <a:xfrm>
            <a:off x="15295169" y="8320126"/>
            <a:ext cx="295351" cy="200254"/>
          </a:xfrm>
          <a:prstGeom prst="rect">
            <a:avLst/>
          </a:prstGeom>
          <a:noFill/>
          <a:ln/>
        </p:spPr>
        <p:txBody>
          <a:bodyPr wrap="none" lIns="0" tIns="0" rIns="0" bIns="0" rtlCol="0" anchor="ctr"/>
          <a:lstStyle/>
          <a:p>
            <a:pPr algn="l" indent="0" marL="0">
              <a:buNone/>
            </a:pPr>
            <a:r>
              <a:rPr lang="en-US" sz="1050" b="1" dirty="0">
                <a:solidFill>
                  <a:srgbClr val="1B2C45"/>
                </a:solidFill>
                <a:latin typeface="IBM Plex Sans KR" pitchFamily="34" charset="0"/>
                <a:ea typeface="IBM Plex Sans KR" pitchFamily="34" charset="-122"/>
                <a:cs typeface="IBM Plex Sans KR" pitchFamily="34" charset="-120"/>
              </a:rPr>
              <a:t>W06</a:t>
            </a:r>
            <a:endParaRPr lang="en-US" sz="1050" dirty="0"/>
          </a:p>
        </p:txBody>
      </p:sp>
      <p:sp>
        <p:nvSpPr>
          <p:cNvPr id="102" name="Shape 95"/>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103" name="Text 96"/>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104" name="Image 4" descr="gen-dedup-2384ac9fd3012b414377934d98f26f83.png">    </p:cNvPr>
          <p:cNvPicPr>
            <a:picLocks noChangeAspect="1"/>
          </p:cNvPicPr>
          <p:nvPr/>
        </p:nvPicPr>
        <p:blipFill>
          <a:blip r:embed="rId5"/>
          <a:srcRect l="0" r="0" t="-2083" b="-2083"/>
          <a:stretch/>
        </p:blipFill>
        <p:spPr>
          <a:xfrm>
            <a:off x="2288743" y="8934602"/>
            <a:ext cx="9144" cy="228600"/>
          </a:xfrm>
          <a:prstGeom prst="rect">
            <a:avLst/>
          </a:prstGeom>
        </p:spPr>
      </p:pic>
      <p:sp>
        <p:nvSpPr>
          <p:cNvPr id="105" name="Text 97"/>
          <p:cNvSpPr txBox="1"/>
          <p:nvPr/>
        </p:nvSpPr>
        <p:spPr>
          <a:xfrm>
            <a:off x="2469794" y="8915400"/>
            <a:ext cx="13040258"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AMI 8.2 nm target에서 CAR은 +0.2 ~ +0.4 nm 일관된 양 편향, MOR은 0 ~ −0.17 nm — drive current에 직접 영향하는 active 영역에서 MOR이 명백히 유리.</a:t>
            </a:r>
            <a:endParaRPr lang="en-US" sz="1500" dirty="0"/>
          </a:p>
        </p:txBody>
      </p:sp>
      <p:sp>
        <p:nvSpPr>
          <p:cNvPr id="106" name="Text 98"/>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05 of 12 · AMI · unit nm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15312542" y="3047695"/>
            <a:ext cx="2404872" cy="1714500"/>
          </a:xfrm>
          <a:prstGeom prst="rect">
            <a:avLst/>
          </a:prstGeom>
          <a:noFill/>
          <a:ln/>
        </p:spPr>
        <p:txBody>
          <a:bodyPr wrap="none" lIns="0" tIns="0" rIns="0" bIns="0" rtlCol="0" anchor="ctr"/>
          <a:lstStyle/>
          <a:p>
            <a:pPr algn="r" indent="0" marL="0">
              <a:buNone/>
            </a:pPr>
            <a:r>
              <a:rPr lang="en-US" sz="15000" b="1" spc="-750" kern="0" dirty="0">
                <a:solidFill>
                  <a:srgbClr val="1B2C45">
                    <a:alpha val="10000"/>
                  </a:srgbClr>
                </a:solidFill>
                <a:latin typeface="IBM Plex Sans KR" pitchFamily="34" charset="0"/>
                <a:ea typeface="IBM Plex Sans KR" pitchFamily="34" charset="-122"/>
                <a:cs typeface="IBM Plex Sans KR" pitchFamily="34" charset="-120"/>
              </a:rPr>
              <a:t>06</a:t>
            </a:r>
            <a:endParaRPr lang="en-US" sz="15000" dirty="0"/>
          </a:p>
        </p:txBody>
      </p:sp>
      <p:sp>
        <p:nvSpPr>
          <p:cNvPr id="5" name="Text 1"/>
          <p:cNvSpPr txBox="1"/>
          <p:nvPr/>
        </p:nvSpPr>
        <p:spPr>
          <a:xfrm>
            <a:off x="571500" y="571500"/>
            <a:ext cx="4021531"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06 / CD variation · Active C — Inner</a:t>
            </a:r>
            <a:endParaRPr lang="en-US" sz="1050" dirty="0"/>
          </a:p>
        </p:txBody>
      </p:sp>
      <p:pic>
        <p:nvPicPr>
          <p:cNvPr id="6" name="Image 1" descr="gen-dedup-72c8c855dd65dd3f7a058d199e994252.png">    </p:cNvPr>
          <p:cNvPicPr>
            <a:picLocks noChangeAspect="1"/>
          </p:cNvPicPr>
          <p:nvPr/>
        </p:nvPicPr>
        <p:blipFill>
          <a:blip r:embed="rId2"/>
          <a:srcRect l="-2083" r="-2083" t="0" b="0"/>
          <a:stretch/>
        </p:blipFill>
        <p:spPr>
          <a:xfrm>
            <a:off x="4179722" y="666598"/>
            <a:ext cx="342900" cy="9144"/>
          </a:xfrm>
          <a:prstGeom prst="rect">
            <a:avLst/>
          </a:prstGeom>
        </p:spPr>
      </p:pic>
      <p:sp>
        <p:nvSpPr>
          <p:cNvPr id="7" name="Text 2"/>
          <p:cNvSpPr txBox="1"/>
          <p:nvPr/>
        </p:nvSpPr>
        <p:spPr>
          <a:xfrm>
            <a:off x="4656125" y="571500"/>
            <a:ext cx="190286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split · CAR vs MOR</a:t>
            </a:r>
            <a:endParaRPr lang="en-US" sz="1050" dirty="0"/>
          </a:p>
        </p:txBody>
      </p:sp>
      <p:sp>
        <p:nvSpPr>
          <p:cNvPr id="8" name="Text 3"/>
          <p:cNvSpPr txBox="1"/>
          <p:nvPr/>
        </p:nvSpPr>
        <p:spPr>
          <a:xfrm>
            <a:off x="571500" y="905256"/>
            <a:ext cx="121926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ACI </a:t>
            </a:r>
            <a:pPr algn="l" indent="0" marL="0">
              <a:buNone/>
            </a:pPr>
            <a:r>
              <a:rPr lang="en-US" sz="1800" b="1" dirty="0">
                <a:solidFill>
                  <a:srgbClr val="5C6B82"/>
                </a:solidFill>
                <a:latin typeface="IBM Plex Sans KR" pitchFamily="34" charset="0"/>
                <a:ea typeface="IBM Plex Sans KR" pitchFamily="34" charset="-122"/>
                <a:cs typeface="IBM Plex Sans KR" pitchFamily="34" charset="-120"/>
              </a:rPr>
              <a:t>/ target 8.0 nm</a:t>
            </a:r>
            <a:endParaRPr lang="en-US" sz="3450" dirty="0"/>
          </a:p>
        </p:txBody>
      </p:sp>
      <p:pic>
        <p:nvPicPr>
          <p:cNvPr id="9"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10" name="Shape 4"/>
          <p:cNvSpPr/>
          <p:nvPr/>
        </p:nvSpPr>
        <p:spPr>
          <a:xfrm>
            <a:off x="14097305" y="571500"/>
            <a:ext cx="1742846" cy="1143000"/>
          </a:xfrm>
          <a:prstGeom prst="rect">
            <a:avLst/>
          </a:prstGeom>
          <a:solidFill>
            <a:srgbClr val="FFFFFF"/>
          </a:solidFill>
          <a:ln w="12700">
            <a:solidFill>
              <a:srgbClr val="C4CDD9"/>
            </a:solidFill>
            <a:prstDash val="solid"/>
          </a:ln>
        </p:spPr>
      </p:sp>
      <p:sp>
        <p:nvSpPr>
          <p:cNvPr id="11" name="Text 5"/>
          <p:cNvSpPr txBox="1"/>
          <p:nvPr/>
        </p:nvSpPr>
        <p:spPr>
          <a:xfrm>
            <a:off x="14239951"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mean</a:t>
            </a:r>
            <a:endParaRPr lang="en-US" sz="900" dirty="0"/>
          </a:p>
        </p:txBody>
      </p:sp>
      <p:sp>
        <p:nvSpPr>
          <p:cNvPr id="12" name="Text 6"/>
          <p:cNvSpPr txBox="1"/>
          <p:nvPr/>
        </p:nvSpPr>
        <p:spPr>
          <a:xfrm>
            <a:off x="14239951" y="961949"/>
            <a:ext cx="1457554" cy="286207"/>
          </a:xfrm>
          <a:prstGeom prst="rect">
            <a:avLst/>
          </a:prstGeom>
          <a:noFill/>
          <a:ln/>
        </p:spPr>
        <p:txBody>
          <a:bodyPr wrap="none" lIns="0" tIns="0" rIns="0" bIns="0" rtlCol="0" anchor="ctr"/>
          <a:lstStyle/>
          <a:p>
            <a:pPr algn="l" indent="0" marL="0">
              <a:buNone/>
            </a:pPr>
            <a:r>
              <a:rPr lang="en-US" sz="2250" b="1" dirty="0">
                <a:solidFill>
                  <a:srgbClr val="B85C46"/>
                </a:solidFill>
                <a:latin typeface="IBM Plex Sans KR" pitchFamily="34" charset="0"/>
                <a:ea typeface="IBM Plex Sans KR" pitchFamily="34" charset="-122"/>
                <a:cs typeface="IBM Plex Sans KR" pitchFamily="34" charset="-120"/>
              </a:rPr>
              <a:t>8.32</a:t>
            </a:r>
            <a:endParaRPr lang="en-US" sz="2250" dirty="0"/>
          </a:p>
        </p:txBody>
      </p:sp>
      <p:sp>
        <p:nvSpPr>
          <p:cNvPr id="13" name="Text 7"/>
          <p:cNvSpPr txBox="1"/>
          <p:nvPr/>
        </p:nvSpPr>
        <p:spPr>
          <a:xfrm>
            <a:off x="14239951"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W01–W03</a:t>
            </a:r>
            <a:endParaRPr lang="en-US" sz="900" dirty="0"/>
          </a:p>
        </p:txBody>
      </p:sp>
      <p:sp>
        <p:nvSpPr>
          <p:cNvPr id="14" name="Shape 8"/>
          <p:cNvSpPr/>
          <p:nvPr/>
        </p:nvSpPr>
        <p:spPr>
          <a:xfrm>
            <a:off x="15973654" y="571500"/>
            <a:ext cx="1742846" cy="1143000"/>
          </a:xfrm>
          <a:prstGeom prst="rect">
            <a:avLst/>
          </a:prstGeom>
          <a:solidFill>
            <a:srgbClr val="FFFFFF"/>
          </a:solidFill>
          <a:ln w="12700">
            <a:solidFill>
              <a:srgbClr val="C4CDD9"/>
            </a:solidFill>
            <a:prstDash val="solid"/>
          </a:ln>
        </p:spPr>
      </p:sp>
      <p:sp>
        <p:nvSpPr>
          <p:cNvPr id="15" name="Text 9"/>
          <p:cNvSpPr txBox="1"/>
          <p:nvPr/>
        </p:nvSpPr>
        <p:spPr>
          <a:xfrm>
            <a:off x="16116300" y="714146"/>
            <a:ext cx="1457554"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mean</a:t>
            </a:r>
            <a:endParaRPr lang="en-US" sz="900" dirty="0"/>
          </a:p>
        </p:txBody>
      </p:sp>
      <p:sp>
        <p:nvSpPr>
          <p:cNvPr id="16" name="Text 10"/>
          <p:cNvSpPr txBox="1"/>
          <p:nvPr/>
        </p:nvSpPr>
        <p:spPr>
          <a:xfrm>
            <a:off x="16116300" y="961949"/>
            <a:ext cx="1457554" cy="286207"/>
          </a:xfrm>
          <a:prstGeom prst="rect">
            <a:avLst/>
          </a:prstGeom>
          <a:noFill/>
          <a:ln/>
        </p:spPr>
        <p:txBody>
          <a:bodyPr wrap="none" lIns="0" tIns="0" rIns="0" bIns="0" rtlCol="0" anchor="ctr"/>
          <a:lstStyle/>
          <a:p>
            <a:pPr algn="l" indent="0" marL="0">
              <a:buNone/>
            </a:pPr>
            <a:r>
              <a:rPr lang="en-US" sz="2250" b="1" dirty="0">
                <a:solidFill>
                  <a:srgbClr val="2D6F8C"/>
                </a:solidFill>
                <a:latin typeface="IBM Plex Sans KR" pitchFamily="34" charset="0"/>
                <a:ea typeface="IBM Plex Sans KR" pitchFamily="34" charset="-122"/>
                <a:cs typeface="IBM Plex Sans KR" pitchFamily="34" charset="-120"/>
              </a:rPr>
              <a:t>7.95</a:t>
            </a:r>
            <a:endParaRPr lang="en-US" sz="2250" dirty="0"/>
          </a:p>
        </p:txBody>
      </p:sp>
      <p:sp>
        <p:nvSpPr>
          <p:cNvPr id="17" name="Text 11"/>
          <p:cNvSpPr txBox="1"/>
          <p:nvPr/>
        </p:nvSpPr>
        <p:spPr>
          <a:xfrm>
            <a:off x="16116300" y="1285646"/>
            <a:ext cx="1457554"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avg of W04–W06</a:t>
            </a:r>
            <a:endParaRPr lang="en-US" sz="900" dirty="0"/>
          </a:p>
        </p:txBody>
      </p:sp>
      <p:sp>
        <p:nvSpPr>
          <p:cNvPr id="18" name="Shape 12"/>
          <p:cNvSpPr/>
          <p:nvPr/>
        </p:nvSpPr>
        <p:spPr>
          <a:xfrm>
            <a:off x="571500" y="2286000"/>
            <a:ext cx="14287500" cy="619049"/>
          </a:xfrm>
          <a:prstGeom prst="rect">
            <a:avLst/>
          </a:prstGeom>
          <a:solidFill>
            <a:srgbClr val="1B2C45"/>
          </a:solidFill>
          <a:ln w="12700">
            <a:solidFill>
              <a:srgbClr val="FFFFFF">
                <a:alpha val="0"/>
              </a:srgbClr>
            </a:solidFill>
            <a:prstDash val="solid"/>
          </a:ln>
        </p:spPr>
      </p:sp>
      <p:sp>
        <p:nvSpPr>
          <p:cNvPr id="19" name="Text 13"/>
          <p:cNvSpPr txBox="1"/>
          <p:nvPr/>
        </p:nvSpPr>
        <p:spPr>
          <a:xfrm>
            <a:off x="571500" y="2286000"/>
            <a:ext cx="1562710"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Wafer</a:t>
            </a:r>
            <a:endParaRPr lang="en-US" sz="1575" dirty="0"/>
          </a:p>
        </p:txBody>
      </p:sp>
      <p:sp>
        <p:nvSpPr>
          <p:cNvPr id="20" name="Text 14"/>
          <p:cNvSpPr txBox="1"/>
          <p:nvPr/>
        </p:nvSpPr>
        <p:spPr>
          <a:xfrm>
            <a:off x="2133295" y="2286000"/>
            <a:ext cx="1752905" cy="619963"/>
          </a:xfrm>
          <a:prstGeom prst="rect">
            <a:avLst/>
          </a:prstGeom>
          <a:noFill/>
          <a:ln/>
        </p:spPr>
        <p:txBody>
          <a:bodyPr wrap="none" lIns="0" tIns="0" rIns="0" bIns="0" rtlCol="0" anchor="ctr"/>
          <a:lstStyle/>
          <a:p>
            <a:pPr algn="l" indent="0" marL="0">
              <a:buNone/>
            </a:pPr>
            <a:r>
              <a:rPr lang="en-US" sz="1575" b="1" dirty="0">
                <a:solidFill>
                  <a:srgbClr val="FFFFFF"/>
                </a:solidFill>
                <a:latin typeface="IBM Plex Sans KR" pitchFamily="34" charset="0"/>
                <a:ea typeface="IBM Plex Sans KR" pitchFamily="34" charset="-122"/>
                <a:cs typeface="IBM Plex Sans KR" pitchFamily="34" charset="-120"/>
              </a:rPr>
              <a:t>Split</a:t>
            </a:r>
            <a:endParaRPr lang="en-US" sz="1575" dirty="0"/>
          </a:p>
        </p:txBody>
      </p:sp>
      <p:sp>
        <p:nvSpPr>
          <p:cNvPr id="21" name="Text 15"/>
          <p:cNvSpPr txBox="1"/>
          <p:nvPr/>
        </p:nvSpPr>
        <p:spPr>
          <a:xfrm>
            <a:off x="3886200" y="2286000"/>
            <a:ext cx="2829154"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Mean (nm)</a:t>
            </a:r>
            <a:endParaRPr lang="en-US" sz="1575" dirty="0"/>
          </a:p>
        </p:txBody>
      </p:sp>
      <p:sp>
        <p:nvSpPr>
          <p:cNvPr id="22" name="Text 16"/>
          <p:cNvSpPr txBox="1"/>
          <p:nvPr/>
        </p:nvSpPr>
        <p:spPr>
          <a:xfrm>
            <a:off x="6709867" y="2286000"/>
            <a:ext cx="2305202"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3σ (nm)</a:t>
            </a:r>
            <a:endParaRPr lang="en-US" sz="1575" dirty="0"/>
          </a:p>
        </p:txBody>
      </p:sp>
      <p:sp>
        <p:nvSpPr>
          <p:cNvPr id="23" name="Text 17"/>
          <p:cNvSpPr txBox="1"/>
          <p:nvPr/>
        </p:nvSpPr>
        <p:spPr>
          <a:xfrm>
            <a:off x="9011412" y="2286000"/>
            <a:ext cx="29818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Range (nm)</a:t>
            </a:r>
            <a:endParaRPr lang="en-US" sz="1575" dirty="0"/>
          </a:p>
        </p:txBody>
      </p:sp>
      <p:sp>
        <p:nvSpPr>
          <p:cNvPr id="24" name="Text 18"/>
          <p:cNvSpPr txBox="1"/>
          <p:nvPr/>
        </p:nvSpPr>
        <p:spPr>
          <a:xfrm>
            <a:off x="11992356" y="2286000"/>
            <a:ext cx="2867558" cy="619963"/>
          </a:xfrm>
          <a:prstGeom prst="rect">
            <a:avLst/>
          </a:prstGeom>
          <a:noFill/>
          <a:ln/>
        </p:spPr>
        <p:txBody>
          <a:bodyPr wrap="none" lIns="0" tIns="0" rIns="0" bIns="0" rtlCol="0" anchor="ctr"/>
          <a:lstStyle/>
          <a:p>
            <a:pPr algn="r" indent="0" marL="0">
              <a:buNone/>
            </a:pPr>
            <a:r>
              <a:rPr lang="en-US" sz="1575" b="1" dirty="0">
                <a:solidFill>
                  <a:srgbClr val="FFFFFF"/>
                </a:solidFill>
                <a:latin typeface="IBM Plex Sans KR" pitchFamily="34" charset="0"/>
                <a:ea typeface="IBM Plex Sans KR" pitchFamily="34" charset="-122"/>
                <a:cs typeface="IBM Plex Sans KR" pitchFamily="34" charset="-120"/>
              </a:rPr>
              <a:t>Δ vs target</a:t>
            </a:r>
            <a:endParaRPr lang="en-US" sz="1575" dirty="0"/>
          </a:p>
        </p:txBody>
      </p:sp>
      <p:sp>
        <p:nvSpPr>
          <p:cNvPr id="25" name="Shape 19"/>
          <p:cNvSpPr/>
          <p:nvPr/>
        </p:nvSpPr>
        <p:spPr>
          <a:xfrm>
            <a:off x="571500" y="3486607"/>
            <a:ext cx="14287500" cy="9144"/>
          </a:xfrm>
          <a:prstGeom prst="rect">
            <a:avLst/>
          </a:prstGeom>
          <a:solidFill>
            <a:srgbClr val="D6DCE5"/>
          </a:solidFill>
          <a:ln w="12700">
            <a:solidFill>
              <a:srgbClr val="D6DCE5">
                <a:alpha val="0"/>
              </a:srgbClr>
            </a:solidFill>
            <a:prstDash val="solid"/>
          </a:ln>
        </p:spPr>
      </p:sp>
      <p:sp>
        <p:nvSpPr>
          <p:cNvPr id="26" name="Text 20"/>
          <p:cNvSpPr txBox="1"/>
          <p:nvPr/>
        </p:nvSpPr>
        <p:spPr>
          <a:xfrm>
            <a:off x="571500" y="290504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W01</a:t>
            </a:r>
            <a:endParaRPr lang="en-US" sz="1575" dirty="0"/>
          </a:p>
        </p:txBody>
      </p:sp>
      <p:sp>
        <p:nvSpPr>
          <p:cNvPr id="27" name="Text 21"/>
          <p:cNvSpPr txBox="1"/>
          <p:nvPr/>
        </p:nvSpPr>
        <p:spPr>
          <a:xfrm>
            <a:off x="3886200" y="290504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8.32</a:t>
            </a:r>
            <a:endParaRPr lang="en-US" sz="1575" dirty="0"/>
          </a:p>
        </p:txBody>
      </p:sp>
      <p:sp>
        <p:nvSpPr>
          <p:cNvPr id="28" name="Text 22"/>
          <p:cNvSpPr txBox="1"/>
          <p:nvPr/>
        </p:nvSpPr>
        <p:spPr>
          <a:xfrm>
            <a:off x="6709867" y="290504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0.68</a:t>
            </a:r>
            <a:endParaRPr lang="en-US" sz="1575" dirty="0"/>
          </a:p>
        </p:txBody>
      </p:sp>
      <p:sp>
        <p:nvSpPr>
          <p:cNvPr id="29" name="Text 23"/>
          <p:cNvSpPr txBox="1"/>
          <p:nvPr/>
        </p:nvSpPr>
        <p:spPr>
          <a:xfrm>
            <a:off x="9011412" y="290504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2.40</a:t>
            </a:r>
            <a:endParaRPr lang="en-US" sz="1575" dirty="0"/>
          </a:p>
        </p:txBody>
      </p:sp>
      <p:sp>
        <p:nvSpPr>
          <p:cNvPr id="30" name="Text 24"/>
          <p:cNvSpPr txBox="1"/>
          <p:nvPr/>
        </p:nvSpPr>
        <p:spPr>
          <a:xfrm>
            <a:off x="11992356" y="290504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+0.32</a:t>
            </a:r>
            <a:endParaRPr lang="en-US" sz="1575" dirty="0"/>
          </a:p>
        </p:txBody>
      </p:sp>
      <p:sp>
        <p:nvSpPr>
          <p:cNvPr id="31" name="Shape 25"/>
          <p:cNvSpPr/>
          <p:nvPr/>
        </p:nvSpPr>
        <p:spPr>
          <a:xfrm>
            <a:off x="571500" y="3491179"/>
            <a:ext cx="14287500" cy="590702"/>
          </a:xfrm>
          <a:prstGeom prst="rect">
            <a:avLst/>
          </a:prstGeom>
          <a:solidFill>
            <a:srgbClr val="F7F8FB"/>
          </a:solidFill>
          <a:ln/>
        </p:spPr>
      </p:sp>
      <p:sp>
        <p:nvSpPr>
          <p:cNvPr id="32" name="Shape 26"/>
          <p:cNvSpPr/>
          <p:nvPr/>
        </p:nvSpPr>
        <p:spPr>
          <a:xfrm>
            <a:off x="571500" y="4072738"/>
            <a:ext cx="14287500" cy="9144"/>
          </a:xfrm>
          <a:prstGeom prst="rect">
            <a:avLst/>
          </a:prstGeom>
          <a:solidFill>
            <a:srgbClr val="D6DCE5"/>
          </a:solidFill>
          <a:ln w="12700">
            <a:solidFill>
              <a:srgbClr val="D6DCE5">
                <a:alpha val="0"/>
              </a:srgbClr>
            </a:solidFill>
            <a:prstDash val="solid"/>
          </a:ln>
        </p:spPr>
      </p:sp>
      <p:sp>
        <p:nvSpPr>
          <p:cNvPr id="33" name="Text 27"/>
          <p:cNvSpPr txBox="1"/>
          <p:nvPr/>
        </p:nvSpPr>
        <p:spPr>
          <a:xfrm>
            <a:off x="571500" y="3491179"/>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W02</a:t>
            </a:r>
            <a:endParaRPr lang="en-US" sz="1575" dirty="0"/>
          </a:p>
        </p:txBody>
      </p:sp>
      <p:sp>
        <p:nvSpPr>
          <p:cNvPr id="34" name="Text 28"/>
          <p:cNvSpPr txBox="1"/>
          <p:nvPr/>
        </p:nvSpPr>
        <p:spPr>
          <a:xfrm>
            <a:off x="3886200" y="3491179"/>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8.45</a:t>
            </a:r>
            <a:endParaRPr lang="en-US" sz="1575" dirty="0"/>
          </a:p>
        </p:txBody>
      </p:sp>
      <p:sp>
        <p:nvSpPr>
          <p:cNvPr id="35" name="Text 29"/>
          <p:cNvSpPr txBox="1"/>
          <p:nvPr/>
        </p:nvSpPr>
        <p:spPr>
          <a:xfrm>
            <a:off x="6709867" y="3491179"/>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0.71</a:t>
            </a:r>
            <a:endParaRPr lang="en-US" sz="1575" dirty="0"/>
          </a:p>
        </p:txBody>
      </p:sp>
      <p:sp>
        <p:nvSpPr>
          <p:cNvPr id="36" name="Text 30"/>
          <p:cNvSpPr txBox="1"/>
          <p:nvPr/>
        </p:nvSpPr>
        <p:spPr>
          <a:xfrm>
            <a:off x="9011412" y="3491179"/>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2.51</a:t>
            </a:r>
            <a:endParaRPr lang="en-US" sz="1575" dirty="0"/>
          </a:p>
        </p:txBody>
      </p:sp>
      <p:sp>
        <p:nvSpPr>
          <p:cNvPr id="37" name="Text 31"/>
          <p:cNvSpPr txBox="1"/>
          <p:nvPr/>
        </p:nvSpPr>
        <p:spPr>
          <a:xfrm>
            <a:off x="11992356" y="3491179"/>
            <a:ext cx="2867558" cy="590702"/>
          </a:xfrm>
          <a:prstGeom prst="rect">
            <a:avLst/>
          </a:prstGeom>
          <a:noFill/>
          <a:ln/>
        </p:spPr>
        <p:txBody>
          <a:bodyPr wrap="non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+0.45</a:t>
            </a:r>
            <a:endParaRPr lang="en-US" sz="1575" dirty="0"/>
          </a:p>
        </p:txBody>
      </p:sp>
      <p:sp>
        <p:nvSpPr>
          <p:cNvPr id="38" name="Shape 32"/>
          <p:cNvSpPr/>
          <p:nvPr/>
        </p:nvSpPr>
        <p:spPr>
          <a:xfrm>
            <a:off x="571500" y="4672584"/>
            <a:ext cx="14287500" cy="9144"/>
          </a:xfrm>
          <a:prstGeom prst="rect">
            <a:avLst/>
          </a:prstGeom>
          <a:solidFill>
            <a:srgbClr val="D6DCE5"/>
          </a:solidFill>
          <a:ln w="12700">
            <a:solidFill>
              <a:srgbClr val="D6DCE5">
                <a:alpha val="0"/>
              </a:srgbClr>
            </a:solidFill>
            <a:prstDash val="solid"/>
          </a:ln>
        </p:spPr>
      </p:sp>
      <p:sp>
        <p:nvSpPr>
          <p:cNvPr id="39" name="Text 33"/>
          <p:cNvSpPr txBox="1"/>
          <p:nvPr/>
        </p:nvSpPr>
        <p:spPr>
          <a:xfrm>
            <a:off x="571500" y="4081882"/>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W03</a:t>
            </a:r>
            <a:endParaRPr lang="en-US" sz="1575" dirty="0"/>
          </a:p>
        </p:txBody>
      </p:sp>
      <p:sp>
        <p:nvSpPr>
          <p:cNvPr id="40" name="Text 34"/>
          <p:cNvSpPr txBox="1"/>
          <p:nvPr/>
        </p:nvSpPr>
        <p:spPr>
          <a:xfrm>
            <a:off x="3886200" y="4081882"/>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8.20</a:t>
            </a:r>
            <a:endParaRPr lang="en-US" sz="1575" dirty="0"/>
          </a:p>
        </p:txBody>
      </p:sp>
      <p:sp>
        <p:nvSpPr>
          <p:cNvPr id="41" name="Text 35"/>
          <p:cNvSpPr txBox="1"/>
          <p:nvPr/>
        </p:nvSpPr>
        <p:spPr>
          <a:xfrm>
            <a:off x="6709867" y="4081882"/>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0.66</a:t>
            </a:r>
            <a:endParaRPr lang="en-US" sz="1575" dirty="0"/>
          </a:p>
        </p:txBody>
      </p:sp>
      <p:sp>
        <p:nvSpPr>
          <p:cNvPr id="42" name="Text 36"/>
          <p:cNvSpPr txBox="1"/>
          <p:nvPr/>
        </p:nvSpPr>
        <p:spPr>
          <a:xfrm>
            <a:off x="9011412" y="4081882"/>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2.31</a:t>
            </a:r>
            <a:endParaRPr lang="en-US" sz="1575" dirty="0"/>
          </a:p>
        </p:txBody>
      </p:sp>
      <p:sp>
        <p:nvSpPr>
          <p:cNvPr id="43" name="Text 37"/>
          <p:cNvSpPr txBox="1"/>
          <p:nvPr/>
        </p:nvSpPr>
        <p:spPr>
          <a:xfrm>
            <a:off x="11992356" y="4081882"/>
            <a:ext cx="2867558" cy="600761"/>
          </a:xfrm>
          <a:prstGeom prst="rect">
            <a:avLst/>
          </a:prstGeom>
          <a:noFill/>
          <a:ln/>
        </p:spPr>
        <p:txBody>
          <a:bodyPr wrap="square" lIns="0" tIns="0" rIns="0" bIns="0" rtlCol="0" anchor="ctr"/>
          <a:lstStyle/>
          <a:p>
            <a:pPr algn="r" indent="0" marL="0">
              <a:buNone/>
            </a:pPr>
            <a:r>
              <a:rPr lang="en-US" sz="1575" b="1" dirty="0">
                <a:solidFill>
                  <a:srgbClr val="B85C46"/>
                </a:solidFill>
                <a:latin typeface="IBM Plex Sans KR" pitchFamily="34" charset="0"/>
                <a:ea typeface="IBM Plex Sans KR" pitchFamily="34" charset="-122"/>
                <a:cs typeface="IBM Plex Sans KR" pitchFamily="34" charset="-120"/>
              </a:rPr>
              <a:t>+0.20</a:t>
            </a:r>
            <a:endParaRPr lang="en-US" sz="1575" dirty="0"/>
          </a:p>
        </p:txBody>
      </p:sp>
      <p:sp>
        <p:nvSpPr>
          <p:cNvPr id="44" name="Shape 38"/>
          <p:cNvSpPr/>
          <p:nvPr/>
        </p:nvSpPr>
        <p:spPr>
          <a:xfrm>
            <a:off x="571500" y="4677156"/>
            <a:ext cx="14287500" cy="599846"/>
          </a:xfrm>
          <a:prstGeom prst="rect">
            <a:avLst/>
          </a:prstGeom>
          <a:solidFill>
            <a:srgbClr val="F2F4F8"/>
          </a:solidFill>
          <a:ln w="25400">
            <a:solidFill>
              <a:srgbClr val="B6C0CE"/>
            </a:solidFill>
            <a:prstDash val="solid"/>
          </a:ln>
        </p:spPr>
      </p:sp>
      <p:sp>
        <p:nvSpPr>
          <p:cNvPr id="45" name="Text 39"/>
          <p:cNvSpPr txBox="1"/>
          <p:nvPr/>
        </p:nvSpPr>
        <p:spPr>
          <a:xfrm>
            <a:off x="571500" y="4677156"/>
            <a:ext cx="1562710" cy="600761"/>
          </a:xfrm>
          <a:prstGeom prst="rect">
            <a:avLst/>
          </a:prstGeom>
          <a:noFill/>
          <a:ln/>
        </p:spPr>
        <p:txBody>
          <a:bodyPr wrap="squar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W04</a:t>
            </a:r>
            <a:endParaRPr lang="en-US" sz="1575" dirty="0"/>
          </a:p>
        </p:txBody>
      </p:sp>
      <p:sp>
        <p:nvSpPr>
          <p:cNvPr id="46" name="Text 40"/>
          <p:cNvSpPr txBox="1"/>
          <p:nvPr/>
        </p:nvSpPr>
        <p:spPr>
          <a:xfrm>
            <a:off x="3886200" y="4677156"/>
            <a:ext cx="2829154"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7.95</a:t>
            </a:r>
            <a:endParaRPr lang="en-US" sz="1575" dirty="0"/>
          </a:p>
        </p:txBody>
      </p:sp>
      <p:sp>
        <p:nvSpPr>
          <p:cNvPr id="47" name="Text 41"/>
          <p:cNvSpPr txBox="1"/>
          <p:nvPr/>
        </p:nvSpPr>
        <p:spPr>
          <a:xfrm>
            <a:off x="6709867" y="4677156"/>
            <a:ext cx="2305202"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0.28</a:t>
            </a:r>
            <a:endParaRPr lang="en-US" sz="1575" dirty="0"/>
          </a:p>
        </p:txBody>
      </p:sp>
      <p:sp>
        <p:nvSpPr>
          <p:cNvPr id="48" name="Text 42"/>
          <p:cNvSpPr txBox="1"/>
          <p:nvPr/>
        </p:nvSpPr>
        <p:spPr>
          <a:xfrm>
            <a:off x="9011412" y="4677156"/>
            <a:ext cx="2981858" cy="600761"/>
          </a:xfrm>
          <a:prstGeom prst="rect">
            <a:avLst/>
          </a:prstGeom>
          <a:noFill/>
          <a:ln/>
        </p:spPr>
        <p:txBody>
          <a:bodyPr wrap="squar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0.95</a:t>
            </a:r>
            <a:endParaRPr lang="en-US" sz="1575" dirty="0"/>
          </a:p>
        </p:txBody>
      </p:sp>
      <p:sp>
        <p:nvSpPr>
          <p:cNvPr id="49" name="Text 43"/>
          <p:cNvSpPr txBox="1"/>
          <p:nvPr/>
        </p:nvSpPr>
        <p:spPr>
          <a:xfrm>
            <a:off x="11992356" y="4677156"/>
            <a:ext cx="2867558" cy="600761"/>
          </a:xfrm>
          <a:prstGeom prst="rect">
            <a:avLst/>
          </a:prstGeom>
          <a:noFill/>
          <a:ln/>
        </p:spPr>
        <p:txBody>
          <a:bodyPr wrap="squar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−0.05</a:t>
            </a:r>
            <a:endParaRPr lang="en-US" sz="1575" dirty="0"/>
          </a:p>
        </p:txBody>
      </p:sp>
      <p:sp>
        <p:nvSpPr>
          <p:cNvPr id="50" name="Shape 44"/>
          <p:cNvSpPr/>
          <p:nvPr/>
        </p:nvSpPr>
        <p:spPr>
          <a:xfrm>
            <a:off x="571500" y="5272430"/>
            <a:ext cx="14287500" cy="590702"/>
          </a:xfrm>
          <a:prstGeom prst="rect">
            <a:avLst/>
          </a:prstGeom>
          <a:solidFill>
            <a:srgbClr val="F7F8FB"/>
          </a:solidFill>
          <a:ln/>
        </p:spPr>
      </p:sp>
      <p:sp>
        <p:nvSpPr>
          <p:cNvPr id="51" name="Shape 45"/>
          <p:cNvSpPr/>
          <p:nvPr/>
        </p:nvSpPr>
        <p:spPr>
          <a:xfrm>
            <a:off x="571500" y="5853989"/>
            <a:ext cx="14287500" cy="9144"/>
          </a:xfrm>
          <a:prstGeom prst="rect">
            <a:avLst/>
          </a:prstGeom>
          <a:solidFill>
            <a:srgbClr val="D6DCE5"/>
          </a:solidFill>
          <a:ln w="12700">
            <a:solidFill>
              <a:srgbClr val="D6DCE5">
                <a:alpha val="0"/>
              </a:srgbClr>
            </a:solidFill>
            <a:prstDash val="solid"/>
          </a:ln>
        </p:spPr>
      </p:sp>
      <p:sp>
        <p:nvSpPr>
          <p:cNvPr id="52" name="Text 46"/>
          <p:cNvSpPr txBox="1"/>
          <p:nvPr/>
        </p:nvSpPr>
        <p:spPr>
          <a:xfrm>
            <a:off x="571500" y="5272430"/>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W05</a:t>
            </a:r>
            <a:endParaRPr lang="en-US" sz="1575" dirty="0"/>
          </a:p>
        </p:txBody>
      </p:sp>
      <p:sp>
        <p:nvSpPr>
          <p:cNvPr id="53" name="Text 47"/>
          <p:cNvSpPr txBox="1"/>
          <p:nvPr/>
        </p:nvSpPr>
        <p:spPr>
          <a:xfrm>
            <a:off x="3886200" y="5272430"/>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7.90</a:t>
            </a:r>
            <a:endParaRPr lang="en-US" sz="1575" dirty="0"/>
          </a:p>
        </p:txBody>
      </p:sp>
      <p:sp>
        <p:nvSpPr>
          <p:cNvPr id="54" name="Text 48"/>
          <p:cNvSpPr txBox="1"/>
          <p:nvPr/>
        </p:nvSpPr>
        <p:spPr>
          <a:xfrm>
            <a:off x="6709867" y="5272430"/>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0.30</a:t>
            </a:r>
            <a:endParaRPr lang="en-US" sz="1575" dirty="0"/>
          </a:p>
        </p:txBody>
      </p:sp>
      <p:sp>
        <p:nvSpPr>
          <p:cNvPr id="55" name="Text 49"/>
          <p:cNvSpPr txBox="1"/>
          <p:nvPr/>
        </p:nvSpPr>
        <p:spPr>
          <a:xfrm>
            <a:off x="9011412" y="5272430"/>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1.02</a:t>
            </a:r>
            <a:endParaRPr lang="en-US" sz="1575" dirty="0"/>
          </a:p>
        </p:txBody>
      </p:sp>
      <p:sp>
        <p:nvSpPr>
          <p:cNvPr id="56" name="Text 50"/>
          <p:cNvSpPr txBox="1"/>
          <p:nvPr/>
        </p:nvSpPr>
        <p:spPr>
          <a:xfrm>
            <a:off x="11992356" y="5272430"/>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−0.10</a:t>
            </a:r>
            <a:endParaRPr lang="en-US" sz="1575" dirty="0"/>
          </a:p>
        </p:txBody>
      </p:sp>
      <p:sp>
        <p:nvSpPr>
          <p:cNvPr id="57" name="Text 51"/>
          <p:cNvSpPr txBox="1"/>
          <p:nvPr/>
        </p:nvSpPr>
        <p:spPr>
          <a:xfrm>
            <a:off x="571500" y="5862218"/>
            <a:ext cx="1562710" cy="590702"/>
          </a:xfrm>
          <a:prstGeom prst="rect">
            <a:avLst/>
          </a:prstGeom>
          <a:noFill/>
          <a:ln/>
        </p:spPr>
        <p:txBody>
          <a:bodyPr wrap="none" lIns="0" tIns="0" rIns="0" bIns="0" rtlCol="0" anchor="ctr"/>
          <a:lstStyle/>
          <a:p>
            <a:pPr algn="l" indent="0" marL="0">
              <a:buNone/>
            </a:pPr>
            <a:r>
              <a:rPr lang="en-US" sz="1575" b="1" dirty="0">
                <a:solidFill>
                  <a:srgbClr val="2F3D54"/>
                </a:solidFill>
                <a:latin typeface="IBM Plex Sans KR" pitchFamily="34" charset="0"/>
                <a:ea typeface="IBM Plex Sans KR" pitchFamily="34" charset="-122"/>
                <a:cs typeface="IBM Plex Sans KR" pitchFamily="34" charset="-120"/>
              </a:rPr>
              <a:t>W06</a:t>
            </a:r>
            <a:endParaRPr lang="en-US" sz="1575" dirty="0"/>
          </a:p>
        </p:txBody>
      </p:sp>
      <p:sp>
        <p:nvSpPr>
          <p:cNvPr id="58" name="Text 52"/>
          <p:cNvSpPr txBox="1"/>
          <p:nvPr/>
        </p:nvSpPr>
        <p:spPr>
          <a:xfrm>
            <a:off x="3886200" y="5862218"/>
            <a:ext cx="2829154"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8.01</a:t>
            </a:r>
            <a:endParaRPr lang="en-US" sz="1575" dirty="0"/>
          </a:p>
        </p:txBody>
      </p:sp>
      <p:sp>
        <p:nvSpPr>
          <p:cNvPr id="59" name="Text 53"/>
          <p:cNvSpPr txBox="1"/>
          <p:nvPr/>
        </p:nvSpPr>
        <p:spPr>
          <a:xfrm>
            <a:off x="6709867" y="5862218"/>
            <a:ext cx="2305202"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0.27</a:t>
            </a:r>
            <a:endParaRPr lang="en-US" sz="1575" dirty="0"/>
          </a:p>
        </p:txBody>
      </p:sp>
      <p:sp>
        <p:nvSpPr>
          <p:cNvPr id="60" name="Text 54"/>
          <p:cNvSpPr txBox="1"/>
          <p:nvPr/>
        </p:nvSpPr>
        <p:spPr>
          <a:xfrm>
            <a:off x="9011412" y="5862218"/>
            <a:ext cx="2981858" cy="590702"/>
          </a:xfrm>
          <a:prstGeom prst="rect">
            <a:avLst/>
          </a:prstGeom>
          <a:noFill/>
          <a:ln/>
        </p:spPr>
        <p:txBody>
          <a:bodyPr wrap="none" lIns="0" tIns="0" rIns="0" bIns="0" rtlCol="0" anchor="ctr"/>
          <a:lstStyle/>
          <a:p>
            <a:pPr algn="r" indent="0" marL="0">
              <a:buNone/>
            </a:pPr>
            <a:r>
              <a:rPr lang="en-US" sz="1575" dirty="0">
                <a:solidFill>
                  <a:srgbClr val="2F3D54"/>
                </a:solidFill>
                <a:latin typeface="IBM Plex Sans KR" pitchFamily="34" charset="0"/>
                <a:ea typeface="IBM Plex Sans KR" pitchFamily="34" charset="-122"/>
                <a:cs typeface="IBM Plex Sans KR" pitchFamily="34" charset="-120"/>
              </a:rPr>
              <a:t>0.91</a:t>
            </a:r>
            <a:endParaRPr lang="en-US" sz="1575" dirty="0"/>
          </a:p>
        </p:txBody>
      </p:sp>
      <p:sp>
        <p:nvSpPr>
          <p:cNvPr id="61" name="Text 55"/>
          <p:cNvSpPr txBox="1"/>
          <p:nvPr/>
        </p:nvSpPr>
        <p:spPr>
          <a:xfrm>
            <a:off x="11992356" y="5862218"/>
            <a:ext cx="2867558" cy="590702"/>
          </a:xfrm>
          <a:prstGeom prst="rect">
            <a:avLst/>
          </a:prstGeom>
          <a:noFill/>
          <a:ln/>
        </p:spPr>
        <p:txBody>
          <a:bodyPr wrap="none" lIns="0" tIns="0" rIns="0" bIns="0" rtlCol="0" anchor="ctr"/>
          <a:lstStyle/>
          <a:p>
            <a:pPr algn="r" indent="0" marL="0">
              <a:buNone/>
            </a:pPr>
            <a:r>
              <a:rPr lang="en-US" sz="1575" b="1" dirty="0">
                <a:solidFill>
                  <a:srgbClr val="2D6F8C"/>
                </a:solidFill>
                <a:latin typeface="IBM Plex Sans KR" pitchFamily="34" charset="0"/>
                <a:ea typeface="IBM Plex Sans KR" pitchFamily="34" charset="-122"/>
                <a:cs typeface="IBM Plex Sans KR" pitchFamily="34" charset="-120"/>
              </a:rPr>
              <a:t>+0.01</a:t>
            </a:r>
            <a:endParaRPr lang="en-US" sz="1575" dirty="0"/>
          </a:p>
        </p:txBody>
      </p:sp>
      <p:sp>
        <p:nvSpPr>
          <p:cNvPr id="62" name="Text 56"/>
          <p:cNvSpPr txBox="1"/>
          <p:nvPr/>
        </p:nvSpPr>
        <p:spPr>
          <a:xfrm>
            <a:off x="2286000" y="307695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3" name="Text 57"/>
          <p:cNvSpPr txBox="1"/>
          <p:nvPr/>
        </p:nvSpPr>
        <p:spPr>
          <a:xfrm>
            <a:off x="2286000" y="3666744"/>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4" name="Text 58"/>
          <p:cNvSpPr txBox="1"/>
          <p:nvPr/>
        </p:nvSpPr>
        <p:spPr>
          <a:xfrm>
            <a:off x="2286000" y="4257446"/>
            <a:ext cx="648310" cy="277063"/>
          </a:xfrm>
          <a:prstGeom prst="rect">
            <a:avLst/>
          </a:prstGeom>
          <a:solidFill>
            <a:srgbClr val="B85C46"/>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5" name="Text 59"/>
          <p:cNvSpPr txBox="1"/>
          <p:nvPr/>
        </p:nvSpPr>
        <p:spPr>
          <a:xfrm>
            <a:off x="2305202" y="4858207"/>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6" name="Text 60"/>
          <p:cNvSpPr txBox="1"/>
          <p:nvPr/>
        </p:nvSpPr>
        <p:spPr>
          <a:xfrm>
            <a:off x="2305202" y="5447995"/>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7" name="Text 61"/>
          <p:cNvSpPr txBox="1"/>
          <p:nvPr/>
        </p:nvSpPr>
        <p:spPr>
          <a:xfrm>
            <a:off x="2305202" y="6038698"/>
            <a:ext cx="648310" cy="277063"/>
          </a:xfrm>
          <a:prstGeom prst="rect">
            <a:avLst/>
          </a:prstGeom>
          <a:solidFill>
            <a:srgbClr val="2D6F8C"/>
          </a:solidFill>
          <a:ln>
            <a:solidFill>
              <a:srgbClr val="FFFFFF">
                <a:alpha val="0"/>
              </a:srgbClr>
            </a:solidFill>
          </a:ln>
        </p:spPr>
        <p:txBody>
          <a:bodyPr wrap="none" lIns="114300" tIns="38100" rIns="114300" bIns="381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8" name="Shape 62"/>
          <p:cNvSpPr/>
          <p:nvPr/>
        </p:nvSpPr>
        <p:spPr>
          <a:xfrm>
            <a:off x="15240305" y="2286000"/>
            <a:ext cx="2495398" cy="4114800"/>
          </a:xfrm>
          <a:prstGeom prst="rect">
            <a:avLst/>
          </a:prstGeom>
          <a:solidFill>
            <a:srgbClr val="FFFFFF"/>
          </a:solidFill>
          <a:ln w="12700">
            <a:solidFill>
              <a:srgbClr val="C4CDD9"/>
            </a:solidFill>
            <a:prstDash val="solid"/>
          </a:ln>
        </p:spPr>
      </p:sp>
      <p:sp>
        <p:nvSpPr>
          <p:cNvPr id="69" name="Text 63"/>
          <p:cNvSpPr txBox="1"/>
          <p:nvPr/>
        </p:nvSpPr>
        <p:spPr>
          <a:xfrm>
            <a:off x="15421356" y="2467051"/>
            <a:ext cx="2134210"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Pass/fail</a:t>
            </a:r>
            <a:endParaRPr lang="en-US" sz="975" dirty="0"/>
          </a:p>
        </p:txBody>
      </p:sp>
      <p:sp>
        <p:nvSpPr>
          <p:cNvPr id="70" name="Text 64"/>
          <p:cNvSpPr txBox="1"/>
          <p:nvPr/>
        </p:nvSpPr>
        <p:spPr>
          <a:xfrm>
            <a:off x="15421356" y="2686507"/>
            <a:ext cx="2134210"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±0.20 nm spec</a:t>
            </a:r>
            <a:endParaRPr lang="en-US" sz="975" dirty="0"/>
          </a:p>
        </p:txBody>
      </p:sp>
      <p:pic>
        <p:nvPicPr>
          <p:cNvPr id="71" name="Image 3" descr="gen-dedup-55d4b486e40f6172b359f97d923622af.png">    </p:cNvPr>
          <p:cNvPicPr>
            <a:picLocks noChangeAspect="1"/>
          </p:cNvPicPr>
          <p:nvPr/>
        </p:nvPicPr>
        <p:blipFill>
          <a:blip r:embed="rId4"/>
          <a:srcRect l="-2078" r="-2078" t="0" b="0"/>
          <a:stretch/>
        </p:blipFill>
        <p:spPr>
          <a:xfrm>
            <a:off x="15421356" y="3933749"/>
            <a:ext cx="2476195" cy="9144"/>
          </a:xfrm>
          <a:prstGeom prst="rect">
            <a:avLst/>
          </a:prstGeom>
        </p:spPr>
      </p:pic>
      <p:pic>
        <p:nvPicPr>
          <p:cNvPr id="72" name="Image 4" descr="gen-dedup-e69e3e9287483cfa123e899185651bb9.png">    </p:cNvPr>
          <p:cNvPicPr>
            <a:picLocks noChangeAspect="1"/>
          </p:cNvPicPr>
          <p:nvPr/>
        </p:nvPicPr>
        <p:blipFill>
          <a:blip r:embed="rId5"/>
          <a:srcRect l="-2078" r="-2078" t="0" b="0"/>
          <a:stretch/>
        </p:blipFill>
        <p:spPr>
          <a:xfrm>
            <a:off x="15421356" y="3476549"/>
            <a:ext cx="2476195" cy="9144"/>
          </a:xfrm>
          <a:prstGeom prst="rect">
            <a:avLst/>
          </a:prstGeom>
        </p:spPr>
      </p:pic>
      <p:pic>
        <p:nvPicPr>
          <p:cNvPr id="73" name="Image 5" descr="gen-dedup-e69e3e9287483cfa123e899185651bb9.png">    </p:cNvPr>
          <p:cNvPicPr>
            <a:picLocks noChangeAspect="1"/>
          </p:cNvPicPr>
          <p:nvPr/>
        </p:nvPicPr>
        <p:blipFill>
          <a:blip r:embed="rId6"/>
          <a:srcRect l="-2078" r="-2078" t="0" b="0"/>
          <a:stretch/>
        </p:blipFill>
        <p:spPr>
          <a:xfrm>
            <a:off x="15421356" y="4390949"/>
            <a:ext cx="2476195" cy="9144"/>
          </a:xfrm>
          <a:prstGeom prst="rect">
            <a:avLst/>
          </a:prstGeom>
        </p:spPr>
      </p:pic>
      <p:pic>
        <p:nvPicPr>
          <p:cNvPr id="74" name="Image 6" descr="gen-dedup-13e21c811766a2cb38793dcd1203a762.png">    </p:cNvPr>
          <p:cNvPicPr>
            <a:picLocks noChangeAspect="1"/>
          </p:cNvPicPr>
          <p:nvPr/>
        </p:nvPicPr>
        <p:blipFill>
          <a:blip r:embed="rId7">
            <a:alphaModFix amt="60000"/>
          </a:blip>
          <a:srcRect l="-2078" r="-2078" t="0" b="0"/>
          <a:stretch/>
        </p:blipFill>
        <p:spPr>
          <a:xfrm>
            <a:off x="15421356" y="3705149"/>
            <a:ext cx="2476195" cy="9144"/>
          </a:xfrm>
          <a:prstGeom prst="rect">
            <a:avLst/>
          </a:prstGeom>
        </p:spPr>
      </p:pic>
      <p:pic>
        <p:nvPicPr>
          <p:cNvPr id="75" name="Image 7" descr="gen-dedup-13e21c811766a2cb38793dcd1203a762.png">    </p:cNvPr>
          <p:cNvPicPr>
            <a:picLocks noChangeAspect="1"/>
          </p:cNvPicPr>
          <p:nvPr/>
        </p:nvPicPr>
        <p:blipFill>
          <a:blip r:embed="rId8">
            <a:alphaModFix amt="60000"/>
          </a:blip>
          <a:srcRect l="-2078" r="-2078" t="0" b="0"/>
          <a:stretch/>
        </p:blipFill>
        <p:spPr>
          <a:xfrm>
            <a:off x="15421356" y="4162349"/>
            <a:ext cx="2476195" cy="9144"/>
          </a:xfrm>
          <a:prstGeom prst="rect">
            <a:avLst/>
          </a:prstGeom>
        </p:spPr>
      </p:pic>
      <p:sp>
        <p:nvSpPr>
          <p:cNvPr id="76" name="Text 65"/>
          <p:cNvSpPr txBox="1"/>
          <p:nvPr/>
        </p:nvSpPr>
        <p:spPr>
          <a:xfrm>
            <a:off x="15421356" y="3419856"/>
            <a:ext cx="284378" cy="162763"/>
          </a:xfrm>
          <a:prstGeom prst="rect">
            <a:avLst/>
          </a:prstGeom>
          <a:noFill/>
          <a:ln/>
        </p:spPr>
        <p:txBody>
          <a:bodyPr wrap="none" lIns="0" tIns="0" rIns="0" bIns="0" rtlCol="0" anchor="ctr"/>
          <a:lstStyle/>
          <a:p>
            <a:pPr algn="l" indent="0" marL="0">
              <a:buNone/>
            </a:pPr>
            <a:r>
              <a:rPr lang="en-US" sz="825" dirty="0">
                <a:solidFill>
                  <a:srgbClr val="5C6B82"/>
                </a:solidFill>
                <a:latin typeface="IBM Plex Sans KR" pitchFamily="34" charset="0"/>
                <a:ea typeface="IBM Plex Sans KR" pitchFamily="34" charset="-122"/>
                <a:cs typeface="IBM Plex Sans KR" pitchFamily="34" charset="-120"/>
              </a:rPr>
              <a:t>+0.5</a:t>
            </a:r>
            <a:endParaRPr lang="en-US" sz="825" dirty="0"/>
          </a:p>
        </p:txBody>
      </p:sp>
      <p:sp>
        <p:nvSpPr>
          <p:cNvPr id="77" name="Text 66"/>
          <p:cNvSpPr txBox="1"/>
          <p:nvPr/>
        </p:nvSpPr>
        <p:spPr>
          <a:xfrm>
            <a:off x="15421356" y="3877056"/>
            <a:ext cx="284378" cy="162763"/>
          </a:xfrm>
          <a:prstGeom prst="rect">
            <a:avLst/>
          </a:prstGeom>
          <a:noFill/>
          <a:ln/>
        </p:spPr>
        <p:txBody>
          <a:bodyPr wrap="none" lIns="0" tIns="0" rIns="0" bIns="0" rtlCol="0" anchor="ctr"/>
          <a:lstStyle/>
          <a:p>
            <a:pPr algn="l" indent="0" marL="0">
              <a:buNone/>
            </a:pPr>
            <a:r>
              <a:rPr lang="en-US" sz="825" dirty="0">
                <a:solidFill>
                  <a:srgbClr val="5C6B82"/>
                </a:solidFill>
                <a:latin typeface="IBM Plex Sans KR" pitchFamily="34" charset="0"/>
                <a:ea typeface="IBM Plex Sans KR" pitchFamily="34" charset="-122"/>
                <a:cs typeface="IBM Plex Sans KR" pitchFamily="34" charset="-120"/>
              </a:rPr>
              <a:t>+0.2</a:t>
            </a:r>
            <a:endParaRPr lang="en-US" sz="825" dirty="0"/>
          </a:p>
        </p:txBody>
      </p:sp>
      <p:sp>
        <p:nvSpPr>
          <p:cNvPr id="78" name="Text 67"/>
          <p:cNvSpPr txBox="1"/>
          <p:nvPr/>
        </p:nvSpPr>
        <p:spPr>
          <a:xfrm>
            <a:off x="15421356" y="4334256"/>
            <a:ext cx="284378" cy="162763"/>
          </a:xfrm>
          <a:prstGeom prst="rect">
            <a:avLst/>
          </a:prstGeom>
          <a:noFill/>
          <a:ln/>
        </p:spPr>
        <p:txBody>
          <a:bodyPr wrap="none" lIns="0" tIns="0" rIns="0" bIns="0" rtlCol="0" anchor="ctr"/>
          <a:lstStyle/>
          <a:p>
            <a:pPr algn="l" indent="0" marL="0">
              <a:buNone/>
            </a:pPr>
            <a:r>
              <a:rPr lang="en-US" sz="825" dirty="0">
                <a:solidFill>
                  <a:srgbClr val="5C6B82"/>
                </a:solidFill>
                <a:latin typeface="IBM Plex Sans KR" pitchFamily="34" charset="0"/>
                <a:ea typeface="IBM Plex Sans KR" pitchFamily="34" charset="-122"/>
                <a:cs typeface="IBM Plex Sans KR" pitchFamily="34" charset="-120"/>
              </a:rPr>
              <a:t>−0.2</a:t>
            </a:r>
            <a:endParaRPr lang="en-US" sz="825" dirty="0"/>
          </a:p>
        </p:txBody>
      </p:sp>
      <p:sp>
        <p:nvSpPr>
          <p:cNvPr id="79" name="Shape 68"/>
          <p:cNvSpPr/>
          <p:nvPr/>
        </p:nvSpPr>
        <p:spPr>
          <a:xfrm>
            <a:off x="15896844" y="3610051"/>
            <a:ext cx="171907" cy="171907"/>
          </a:xfrm>
          <a:prstGeom prst="ellipse">
            <a:avLst/>
          </a:prstGeom>
          <a:solidFill>
            <a:srgbClr val="B85C46"/>
          </a:solidFill>
          <a:ln w="12700">
            <a:solidFill>
              <a:srgbClr val="FFFFFF">
                <a:alpha val="0"/>
              </a:srgbClr>
            </a:solidFill>
            <a:prstDash val="solid"/>
          </a:ln>
        </p:spPr>
      </p:sp>
      <p:sp>
        <p:nvSpPr>
          <p:cNvPr id="80" name="Shape 69"/>
          <p:cNvSpPr/>
          <p:nvPr/>
        </p:nvSpPr>
        <p:spPr>
          <a:xfrm>
            <a:off x="16278149" y="3476549"/>
            <a:ext cx="171907" cy="171907"/>
          </a:xfrm>
          <a:prstGeom prst="ellipse">
            <a:avLst/>
          </a:prstGeom>
          <a:solidFill>
            <a:srgbClr val="B85C46"/>
          </a:solidFill>
          <a:ln w="12700">
            <a:solidFill>
              <a:srgbClr val="FFFFFF">
                <a:alpha val="0"/>
              </a:srgbClr>
            </a:solidFill>
            <a:prstDash val="solid"/>
          </a:ln>
        </p:spPr>
      </p:sp>
      <p:sp>
        <p:nvSpPr>
          <p:cNvPr id="81" name="Shape 70"/>
          <p:cNvSpPr/>
          <p:nvPr/>
        </p:nvSpPr>
        <p:spPr>
          <a:xfrm>
            <a:off x="16659454" y="3705149"/>
            <a:ext cx="171907" cy="171907"/>
          </a:xfrm>
          <a:prstGeom prst="ellipse">
            <a:avLst/>
          </a:prstGeom>
          <a:solidFill>
            <a:srgbClr val="B85C46"/>
          </a:solidFill>
          <a:ln w="12700">
            <a:solidFill>
              <a:srgbClr val="FFFFFF">
                <a:alpha val="0"/>
              </a:srgbClr>
            </a:solidFill>
            <a:prstDash val="solid"/>
          </a:ln>
        </p:spPr>
      </p:sp>
      <p:sp>
        <p:nvSpPr>
          <p:cNvPr id="82" name="Shape 71"/>
          <p:cNvSpPr/>
          <p:nvPr/>
        </p:nvSpPr>
        <p:spPr>
          <a:xfrm>
            <a:off x="17039844" y="4200754"/>
            <a:ext cx="171907" cy="171907"/>
          </a:xfrm>
          <a:prstGeom prst="ellipse">
            <a:avLst/>
          </a:prstGeom>
          <a:solidFill>
            <a:srgbClr val="2D6F8C"/>
          </a:solidFill>
          <a:ln w="12700">
            <a:solidFill>
              <a:srgbClr val="FFFFFF">
                <a:alpha val="0"/>
              </a:srgbClr>
            </a:solidFill>
            <a:prstDash val="solid"/>
          </a:ln>
        </p:spPr>
      </p:sp>
      <p:sp>
        <p:nvSpPr>
          <p:cNvPr id="83" name="Shape 72"/>
          <p:cNvSpPr/>
          <p:nvPr/>
        </p:nvSpPr>
        <p:spPr>
          <a:xfrm>
            <a:off x="15945307" y="4295851"/>
            <a:ext cx="171907" cy="171907"/>
          </a:xfrm>
          <a:prstGeom prst="ellipse">
            <a:avLst/>
          </a:prstGeom>
          <a:solidFill>
            <a:srgbClr val="2D6F8C"/>
          </a:solidFill>
          <a:ln w="12700">
            <a:solidFill>
              <a:srgbClr val="FFFFFF">
                <a:alpha val="0"/>
              </a:srgbClr>
            </a:solidFill>
            <a:prstDash val="solid"/>
          </a:ln>
        </p:spPr>
      </p:sp>
      <p:sp>
        <p:nvSpPr>
          <p:cNvPr id="84" name="Shape 73"/>
          <p:cNvSpPr/>
          <p:nvPr/>
        </p:nvSpPr>
        <p:spPr>
          <a:xfrm>
            <a:off x="16516807" y="4143146"/>
            <a:ext cx="171907" cy="171907"/>
          </a:xfrm>
          <a:prstGeom prst="ellipse">
            <a:avLst/>
          </a:prstGeom>
          <a:solidFill>
            <a:srgbClr val="2D6F8C"/>
          </a:solidFill>
          <a:ln w="12700">
            <a:solidFill>
              <a:srgbClr val="FFFFFF">
                <a:alpha val="0"/>
              </a:srgbClr>
            </a:solidFill>
            <a:prstDash val="solid"/>
          </a:ln>
        </p:spPr>
      </p:sp>
      <p:sp>
        <p:nvSpPr>
          <p:cNvPr id="85" name="Shape 74"/>
          <p:cNvSpPr/>
          <p:nvPr/>
        </p:nvSpPr>
        <p:spPr>
          <a:xfrm>
            <a:off x="571500" y="7048195"/>
            <a:ext cx="17164202" cy="1543507"/>
          </a:xfrm>
          <a:prstGeom prst="rect">
            <a:avLst/>
          </a:prstGeom>
          <a:solidFill>
            <a:srgbClr val="FFFFFF"/>
          </a:solidFill>
          <a:ln w="12700">
            <a:solidFill>
              <a:srgbClr val="C4CDD9"/>
            </a:solidFill>
            <a:prstDash val="solid"/>
          </a:ln>
        </p:spPr>
      </p:sp>
      <p:sp>
        <p:nvSpPr>
          <p:cNvPr id="86" name="Text 75"/>
          <p:cNvSpPr txBox="1"/>
          <p:nvPr/>
        </p:nvSpPr>
        <p:spPr>
          <a:xfrm>
            <a:off x="847649" y="7229246"/>
            <a:ext cx="16611905" cy="200254"/>
          </a:xfrm>
          <a:prstGeom prst="rect">
            <a:avLst/>
          </a:prstGeom>
          <a:noFill/>
          <a:ln/>
        </p:spPr>
        <p:txBody>
          <a:bodyPr wrap="none" lIns="0" tIns="0" rIns="0" bIns="0" rtlCol="0" anchor="ctr"/>
          <a:lstStyle/>
          <a:p>
            <a:pPr algn="l" indent="0" marL="0">
              <a:buNone/>
            </a:pPr>
            <a:r>
              <a:rPr lang="en-US" sz="1050" spc="210" kern="0" dirty="0">
                <a:solidFill>
                  <a:srgbClr val="5C6B82"/>
                </a:solidFill>
                <a:latin typeface="IBM Plex Sans KR" pitchFamily="34" charset="0"/>
                <a:ea typeface="IBM Plex Sans KR" pitchFamily="34" charset="-122"/>
                <a:cs typeface="IBM Plex Sans KR" pitchFamily="34" charset="-120"/>
              </a:rPr>
              <a:t>Side-by-side · ACI summary</a:t>
            </a:r>
            <a:endParaRPr lang="en-US" sz="1050" dirty="0"/>
          </a:p>
        </p:txBody>
      </p:sp>
      <p:sp>
        <p:nvSpPr>
          <p:cNvPr id="87" name="Shape 76"/>
          <p:cNvSpPr/>
          <p:nvPr/>
        </p:nvSpPr>
        <p:spPr>
          <a:xfrm>
            <a:off x="847649" y="7563002"/>
            <a:ext cx="8162849" cy="19202"/>
          </a:xfrm>
          <a:prstGeom prst="rect">
            <a:avLst/>
          </a:prstGeom>
          <a:solidFill>
            <a:srgbClr val="B85C46"/>
          </a:solidFill>
          <a:ln w="12700">
            <a:solidFill>
              <a:srgbClr val="B85C46">
                <a:alpha val="0"/>
              </a:srgbClr>
            </a:solidFill>
            <a:prstDash val="solid"/>
          </a:ln>
        </p:spPr>
      </p:sp>
      <p:sp>
        <p:nvSpPr>
          <p:cNvPr id="88" name="Text 77"/>
          <p:cNvSpPr txBox="1"/>
          <p:nvPr/>
        </p:nvSpPr>
        <p:spPr>
          <a:xfrm>
            <a:off x="847649" y="7696505"/>
            <a:ext cx="1478585" cy="238658"/>
          </a:xfrm>
          <a:prstGeom prst="rect">
            <a:avLst/>
          </a:prstGeom>
          <a:noFill/>
          <a:ln/>
        </p:spPr>
        <p:txBody>
          <a:bodyPr wrap="none" lIns="0" tIns="0" rIns="0" bIns="0" rtlCol="0" anchor="ctr"/>
          <a:lstStyle/>
          <a:p>
            <a:pPr algn="l" indent="0" marL="0">
              <a:buNone/>
            </a:pPr>
            <a:r>
              <a:rPr lang="en-US" sz="1275" b="1" spc="77" kern="0" dirty="0">
                <a:solidFill>
                  <a:srgbClr val="B85C46"/>
                </a:solidFill>
                <a:latin typeface="IBM Plex Sans KR" pitchFamily="34" charset="0"/>
                <a:ea typeface="IBM Plex Sans KR" pitchFamily="34" charset="-122"/>
                <a:cs typeface="IBM Plex Sans KR" pitchFamily="34" charset="-120"/>
              </a:rPr>
              <a:t>CAR (W01–W03)</a:t>
            </a:r>
            <a:endParaRPr lang="en-US" sz="1275" dirty="0"/>
          </a:p>
        </p:txBody>
      </p:sp>
      <p:sp>
        <p:nvSpPr>
          <p:cNvPr id="89" name="Text 78"/>
          <p:cNvSpPr txBox="1"/>
          <p:nvPr/>
        </p:nvSpPr>
        <p:spPr>
          <a:xfrm>
            <a:off x="8049463" y="7733995"/>
            <a:ext cx="1164946"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3 wafer · mean</a:t>
            </a:r>
            <a:endParaRPr lang="en-US" sz="975" dirty="0"/>
          </a:p>
        </p:txBody>
      </p:sp>
      <p:sp>
        <p:nvSpPr>
          <p:cNvPr id="90" name="Text 79"/>
          <p:cNvSpPr txBox="1"/>
          <p:nvPr/>
        </p:nvSpPr>
        <p:spPr>
          <a:xfrm>
            <a:off x="847649" y="8010144"/>
            <a:ext cx="400507" cy="238658"/>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Mean</a:t>
            </a:r>
            <a:endParaRPr lang="en-US" sz="1275" dirty="0"/>
          </a:p>
        </p:txBody>
      </p:sp>
      <p:sp>
        <p:nvSpPr>
          <p:cNvPr id="91" name="Text 80"/>
          <p:cNvSpPr txBox="1"/>
          <p:nvPr/>
        </p:nvSpPr>
        <p:spPr>
          <a:xfrm>
            <a:off x="8256118" y="8010144"/>
            <a:ext cx="728777" cy="238658"/>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8.32 nm</a:t>
            </a:r>
            <a:endParaRPr lang="en-US" sz="1275" dirty="0"/>
          </a:p>
        </p:txBody>
      </p:sp>
      <p:sp>
        <p:nvSpPr>
          <p:cNvPr id="92" name="Text 81"/>
          <p:cNvSpPr txBox="1"/>
          <p:nvPr/>
        </p:nvSpPr>
        <p:spPr>
          <a:xfrm>
            <a:off x="847649" y="8287207"/>
            <a:ext cx="578815" cy="257861"/>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3σ avg</a:t>
            </a:r>
            <a:endParaRPr lang="en-US" sz="1275" dirty="0"/>
          </a:p>
        </p:txBody>
      </p:sp>
      <p:sp>
        <p:nvSpPr>
          <p:cNvPr id="93" name="Text 82"/>
          <p:cNvSpPr txBox="1"/>
          <p:nvPr/>
        </p:nvSpPr>
        <p:spPr>
          <a:xfrm>
            <a:off x="8256118" y="8287207"/>
            <a:ext cx="728777" cy="257861"/>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0.68 nm</a:t>
            </a:r>
            <a:endParaRPr lang="en-US" sz="1275" dirty="0"/>
          </a:p>
        </p:txBody>
      </p:sp>
      <p:sp>
        <p:nvSpPr>
          <p:cNvPr id="94" name="Text 83"/>
          <p:cNvSpPr txBox="1"/>
          <p:nvPr/>
        </p:nvSpPr>
        <p:spPr>
          <a:xfrm>
            <a:off x="847649" y="8581644"/>
            <a:ext cx="884225" cy="238658"/>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Range avg</a:t>
            </a:r>
            <a:endParaRPr lang="en-US" sz="1275" dirty="0"/>
          </a:p>
        </p:txBody>
      </p:sp>
      <p:sp>
        <p:nvSpPr>
          <p:cNvPr id="95" name="Text 84"/>
          <p:cNvSpPr txBox="1"/>
          <p:nvPr/>
        </p:nvSpPr>
        <p:spPr>
          <a:xfrm>
            <a:off x="8256118" y="8581644"/>
            <a:ext cx="728777" cy="238658"/>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2.41 nm</a:t>
            </a:r>
            <a:endParaRPr lang="en-US" sz="1275" dirty="0"/>
          </a:p>
        </p:txBody>
      </p:sp>
      <p:sp>
        <p:nvSpPr>
          <p:cNvPr id="96" name="Shape 85"/>
          <p:cNvSpPr/>
          <p:nvPr/>
        </p:nvSpPr>
        <p:spPr>
          <a:xfrm>
            <a:off x="9296705" y="7563002"/>
            <a:ext cx="8162849" cy="19202"/>
          </a:xfrm>
          <a:prstGeom prst="rect">
            <a:avLst/>
          </a:prstGeom>
          <a:solidFill>
            <a:srgbClr val="2D6F8C"/>
          </a:solidFill>
          <a:ln w="12700">
            <a:solidFill>
              <a:srgbClr val="2D6F8C">
                <a:alpha val="0"/>
              </a:srgbClr>
            </a:solidFill>
            <a:prstDash val="solid"/>
          </a:ln>
        </p:spPr>
      </p:sp>
      <p:sp>
        <p:nvSpPr>
          <p:cNvPr id="97" name="Text 86"/>
          <p:cNvSpPr txBox="1"/>
          <p:nvPr/>
        </p:nvSpPr>
        <p:spPr>
          <a:xfrm>
            <a:off x="9430207" y="7696505"/>
            <a:ext cx="1438351" cy="238658"/>
          </a:xfrm>
          <a:prstGeom prst="rect">
            <a:avLst/>
          </a:prstGeom>
          <a:noFill/>
          <a:ln/>
        </p:spPr>
        <p:txBody>
          <a:bodyPr wrap="none" lIns="0" tIns="0" rIns="0" bIns="0" rtlCol="0" anchor="ctr"/>
          <a:lstStyle/>
          <a:p>
            <a:pPr algn="l" indent="0" marL="0">
              <a:buNone/>
            </a:pPr>
            <a:r>
              <a:rPr lang="en-US" sz="1275" b="1" spc="77" kern="0" dirty="0">
                <a:solidFill>
                  <a:srgbClr val="2D6F8C"/>
                </a:solidFill>
                <a:latin typeface="IBM Plex Sans KR" pitchFamily="34" charset="0"/>
                <a:ea typeface="IBM Plex Sans KR" pitchFamily="34" charset="-122"/>
                <a:cs typeface="IBM Plex Sans KR" pitchFamily="34" charset="-120"/>
              </a:rPr>
              <a:t>MOR (W04–W06)</a:t>
            </a:r>
            <a:endParaRPr lang="en-US" sz="1275" dirty="0"/>
          </a:p>
        </p:txBody>
      </p:sp>
      <p:sp>
        <p:nvSpPr>
          <p:cNvPr id="98" name="Text 87"/>
          <p:cNvSpPr txBox="1"/>
          <p:nvPr/>
        </p:nvSpPr>
        <p:spPr>
          <a:xfrm>
            <a:off x="16631107" y="7733995"/>
            <a:ext cx="1164946"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3 wafer · mean</a:t>
            </a:r>
            <a:endParaRPr lang="en-US" sz="975" dirty="0"/>
          </a:p>
        </p:txBody>
      </p:sp>
      <p:sp>
        <p:nvSpPr>
          <p:cNvPr id="99" name="Text 88"/>
          <p:cNvSpPr txBox="1"/>
          <p:nvPr/>
        </p:nvSpPr>
        <p:spPr>
          <a:xfrm>
            <a:off x="9430207" y="8010144"/>
            <a:ext cx="400507" cy="238658"/>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Mean</a:t>
            </a:r>
            <a:endParaRPr lang="en-US" sz="1275" dirty="0"/>
          </a:p>
        </p:txBody>
      </p:sp>
      <p:sp>
        <p:nvSpPr>
          <p:cNvPr id="100" name="Text 89"/>
          <p:cNvSpPr txBox="1"/>
          <p:nvPr/>
        </p:nvSpPr>
        <p:spPr>
          <a:xfrm>
            <a:off x="16837762" y="8010144"/>
            <a:ext cx="728777" cy="238658"/>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7.95 nm</a:t>
            </a:r>
            <a:endParaRPr lang="en-US" sz="1275" dirty="0"/>
          </a:p>
        </p:txBody>
      </p:sp>
      <p:sp>
        <p:nvSpPr>
          <p:cNvPr id="101" name="Text 90"/>
          <p:cNvSpPr txBox="1"/>
          <p:nvPr/>
        </p:nvSpPr>
        <p:spPr>
          <a:xfrm>
            <a:off x="9430207" y="8287207"/>
            <a:ext cx="578815" cy="257861"/>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3σ avg</a:t>
            </a:r>
            <a:endParaRPr lang="en-US" sz="1275" dirty="0"/>
          </a:p>
        </p:txBody>
      </p:sp>
      <p:sp>
        <p:nvSpPr>
          <p:cNvPr id="102" name="Text 91"/>
          <p:cNvSpPr txBox="1"/>
          <p:nvPr/>
        </p:nvSpPr>
        <p:spPr>
          <a:xfrm>
            <a:off x="16837762" y="8287207"/>
            <a:ext cx="728777" cy="257861"/>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0.28 nm</a:t>
            </a:r>
            <a:endParaRPr lang="en-US" sz="1275" dirty="0"/>
          </a:p>
        </p:txBody>
      </p:sp>
      <p:sp>
        <p:nvSpPr>
          <p:cNvPr id="103" name="Text 92"/>
          <p:cNvSpPr txBox="1"/>
          <p:nvPr/>
        </p:nvSpPr>
        <p:spPr>
          <a:xfrm>
            <a:off x="9430207" y="8581644"/>
            <a:ext cx="884225" cy="238658"/>
          </a:xfrm>
          <a:prstGeom prst="rect">
            <a:avLst/>
          </a:prstGeom>
          <a:noFill/>
          <a:ln/>
        </p:spPr>
        <p:txBody>
          <a:bodyPr wrap="none" lIns="0" tIns="0" rIns="0" bIns="0" rtlCol="0" anchor="ctr"/>
          <a:lstStyle/>
          <a:p>
            <a:pPr algn="l" indent="0" marL="0">
              <a:buNone/>
            </a:pPr>
            <a:r>
              <a:rPr lang="en-US" sz="1275" dirty="0">
                <a:solidFill>
                  <a:srgbClr val="2F3D54"/>
                </a:solidFill>
                <a:latin typeface="IBM Plex Sans KR" pitchFamily="34" charset="0"/>
                <a:ea typeface="IBM Plex Sans KR" pitchFamily="34" charset="-122"/>
                <a:cs typeface="IBM Plex Sans KR" pitchFamily="34" charset="-120"/>
              </a:rPr>
              <a:t>Range avg</a:t>
            </a:r>
            <a:endParaRPr lang="en-US" sz="1275" dirty="0"/>
          </a:p>
        </p:txBody>
      </p:sp>
      <p:sp>
        <p:nvSpPr>
          <p:cNvPr id="104" name="Text 93"/>
          <p:cNvSpPr txBox="1"/>
          <p:nvPr/>
        </p:nvSpPr>
        <p:spPr>
          <a:xfrm>
            <a:off x="16837762" y="8581644"/>
            <a:ext cx="728777" cy="238658"/>
          </a:xfrm>
          <a:prstGeom prst="rect">
            <a:avLst/>
          </a:prstGeom>
          <a:noFill/>
          <a:ln/>
        </p:spPr>
        <p:txBody>
          <a:bodyPr wrap="none" lIns="0" tIns="0" rIns="0" bIns="0" rtlCol="0" anchor="ctr"/>
          <a:lstStyle/>
          <a:p>
            <a:pPr algn="l" indent="0" marL="0">
              <a:buNone/>
            </a:pPr>
            <a:r>
              <a:rPr lang="en-US" sz="1275" b="1" dirty="0">
                <a:solidFill>
                  <a:srgbClr val="2F3D54"/>
                </a:solidFill>
                <a:latin typeface="IBM Plex Sans KR" pitchFamily="34" charset="0"/>
                <a:ea typeface="IBM Plex Sans KR" pitchFamily="34" charset="-122"/>
                <a:cs typeface="IBM Plex Sans KR" pitchFamily="34" charset="-120"/>
              </a:rPr>
              <a:t>0.96 nm</a:t>
            </a:r>
            <a:endParaRPr lang="en-US" sz="1275" dirty="0"/>
          </a:p>
        </p:txBody>
      </p:sp>
      <p:sp>
        <p:nvSpPr>
          <p:cNvPr id="105" name="Shape 94"/>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106" name="Text 95"/>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107" name="Image 8" descr="gen-dedup-2384ac9fd3012b414377934d98f26f83.png">    </p:cNvPr>
          <p:cNvPicPr>
            <a:picLocks noChangeAspect="1"/>
          </p:cNvPicPr>
          <p:nvPr/>
        </p:nvPicPr>
        <p:blipFill>
          <a:blip r:embed="rId9"/>
          <a:srcRect l="0" r="0" t="-2083" b="-2083"/>
          <a:stretch/>
        </p:blipFill>
        <p:spPr>
          <a:xfrm>
            <a:off x="2288743" y="8934602"/>
            <a:ext cx="9144" cy="228600"/>
          </a:xfrm>
          <a:prstGeom prst="rect">
            <a:avLst/>
          </a:prstGeom>
        </p:spPr>
      </p:pic>
      <p:sp>
        <p:nvSpPr>
          <p:cNvPr id="108" name="Text 96"/>
          <p:cNvSpPr txBox="1"/>
          <p:nvPr/>
        </p:nvSpPr>
        <p:spPr>
          <a:xfrm>
            <a:off x="2469794" y="8915400"/>
            <a:ext cx="10458907"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ACI 8.0 nm target에서 MOR 3 wafer 모두 ±0.10 nm spec 통과, CAR W03만 spec 안, W01·W02는 양 편향으로 spec 위반.</a:t>
            </a:r>
            <a:endParaRPr lang="en-US" sz="1500" dirty="0"/>
          </a:p>
        </p:txBody>
      </p:sp>
      <p:sp>
        <p:nvSpPr>
          <p:cNvPr id="109" name="Text 97"/>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06 of 12 · ACI · unit nm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
            <a:ext cx="2693822"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07 / In-wafer uniformity</a:t>
            </a:r>
            <a:endParaRPr lang="en-US" sz="1050" dirty="0"/>
          </a:p>
        </p:txBody>
      </p:sp>
      <p:pic>
        <p:nvPicPr>
          <p:cNvPr id="5" name="Image 1" descr="gen-dedup-72c8c855dd65dd3f7a058d199e994252.png">    </p:cNvPr>
          <p:cNvPicPr>
            <a:picLocks noChangeAspect="1"/>
          </p:cNvPicPr>
          <p:nvPr/>
        </p:nvPicPr>
        <p:blipFill>
          <a:blip r:embed="rId2"/>
          <a:srcRect l="-2083" r="-2083" t="0" b="0"/>
          <a:stretch/>
        </p:blipFill>
        <p:spPr>
          <a:xfrm>
            <a:off x="3161995" y="666598"/>
            <a:ext cx="342900" cy="9144"/>
          </a:xfrm>
          <a:prstGeom prst="rect">
            <a:avLst/>
          </a:prstGeom>
        </p:spPr>
      </p:pic>
      <p:sp>
        <p:nvSpPr>
          <p:cNvPr id="6" name="Text 1"/>
          <p:cNvSpPr txBox="1"/>
          <p:nvPr/>
        </p:nvSpPr>
        <p:spPr>
          <a:xfrm>
            <a:off x="3638398" y="571500"/>
            <a:ext cx="190286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25pt decomposition</a:t>
            </a:r>
            <a:endParaRPr lang="en-US" sz="1050" dirty="0"/>
          </a:p>
        </p:txBody>
      </p:sp>
      <p:sp>
        <p:nvSpPr>
          <p:cNvPr id="7" name="Text 2"/>
          <p:cNvSpPr txBox="1"/>
          <p:nvPr/>
        </p:nvSpPr>
        <p:spPr>
          <a:xfrm>
            <a:off x="571500" y="905256"/>
            <a:ext cx="121926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In-wafer 균일도 — WIWNU / WIDNU</a:t>
            </a:r>
            <a:endParaRPr lang="en-US" sz="3450" dirty="0"/>
          </a:p>
        </p:txBody>
      </p:sp>
      <p:pic>
        <p:nvPicPr>
          <p:cNvPr id="8"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9" name="Shape 3"/>
          <p:cNvSpPr/>
          <p:nvPr/>
        </p:nvSpPr>
        <p:spPr>
          <a:xfrm>
            <a:off x="14287500" y="571500"/>
            <a:ext cx="1647749" cy="1143000"/>
          </a:xfrm>
          <a:prstGeom prst="rect">
            <a:avLst/>
          </a:prstGeom>
          <a:solidFill>
            <a:srgbClr val="FFFFFF"/>
          </a:solidFill>
          <a:ln w="12700">
            <a:solidFill>
              <a:srgbClr val="C4CDD9"/>
            </a:solidFill>
            <a:prstDash val="solid"/>
          </a:ln>
        </p:spPr>
      </p:sp>
      <p:sp>
        <p:nvSpPr>
          <p:cNvPr id="10" name="Text 4"/>
          <p:cNvSpPr txBox="1"/>
          <p:nvPr/>
        </p:nvSpPr>
        <p:spPr>
          <a:xfrm>
            <a:off x="14430146" y="714146"/>
            <a:ext cx="1362456"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 WIWNU avg</a:t>
            </a:r>
            <a:endParaRPr lang="en-US" sz="900" dirty="0"/>
          </a:p>
        </p:txBody>
      </p:sp>
      <p:sp>
        <p:nvSpPr>
          <p:cNvPr id="11" name="Text 5"/>
          <p:cNvSpPr txBox="1"/>
          <p:nvPr/>
        </p:nvSpPr>
        <p:spPr>
          <a:xfrm>
            <a:off x="14430146" y="961949"/>
            <a:ext cx="1362456" cy="286207"/>
          </a:xfrm>
          <a:prstGeom prst="rect">
            <a:avLst/>
          </a:prstGeom>
          <a:noFill/>
          <a:ln/>
        </p:spPr>
        <p:txBody>
          <a:bodyPr wrap="none" lIns="0" tIns="0" rIns="0" bIns="0" rtlCol="0" anchor="ctr"/>
          <a:lstStyle/>
          <a:p>
            <a:pPr algn="l" indent="0" marL="0">
              <a:buNone/>
            </a:pPr>
            <a:r>
              <a:rPr lang="en-US" sz="2250" b="1" dirty="0">
                <a:solidFill>
                  <a:srgbClr val="B85C46"/>
                </a:solidFill>
                <a:latin typeface="IBM Plex Sans KR" pitchFamily="34" charset="0"/>
                <a:ea typeface="IBM Plex Sans KR" pitchFamily="34" charset="-122"/>
                <a:cs typeface="IBM Plex Sans KR" pitchFamily="34" charset="-120"/>
              </a:rPr>
              <a:t>4.62%</a:t>
            </a:r>
            <a:endParaRPr lang="en-US" sz="2250" dirty="0"/>
          </a:p>
        </p:txBody>
      </p:sp>
      <p:sp>
        <p:nvSpPr>
          <p:cNvPr id="12" name="Shape 6"/>
          <p:cNvSpPr/>
          <p:nvPr/>
        </p:nvSpPr>
        <p:spPr>
          <a:xfrm>
            <a:off x="16068751" y="571500"/>
            <a:ext cx="1647749" cy="1143000"/>
          </a:xfrm>
          <a:prstGeom prst="rect">
            <a:avLst/>
          </a:prstGeom>
          <a:solidFill>
            <a:srgbClr val="FFFFFF"/>
          </a:solidFill>
          <a:ln w="12700">
            <a:solidFill>
              <a:srgbClr val="C4CDD9"/>
            </a:solidFill>
            <a:prstDash val="solid"/>
          </a:ln>
        </p:spPr>
      </p:sp>
      <p:sp>
        <p:nvSpPr>
          <p:cNvPr id="13" name="Text 7"/>
          <p:cNvSpPr txBox="1"/>
          <p:nvPr/>
        </p:nvSpPr>
        <p:spPr>
          <a:xfrm>
            <a:off x="16211398" y="714146"/>
            <a:ext cx="1362456"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 WIWNU avg</a:t>
            </a:r>
            <a:endParaRPr lang="en-US" sz="900" dirty="0"/>
          </a:p>
        </p:txBody>
      </p:sp>
      <p:sp>
        <p:nvSpPr>
          <p:cNvPr id="14" name="Text 8"/>
          <p:cNvSpPr txBox="1"/>
          <p:nvPr/>
        </p:nvSpPr>
        <p:spPr>
          <a:xfrm>
            <a:off x="16211398" y="961949"/>
            <a:ext cx="1362456" cy="286207"/>
          </a:xfrm>
          <a:prstGeom prst="rect">
            <a:avLst/>
          </a:prstGeom>
          <a:noFill/>
          <a:ln/>
        </p:spPr>
        <p:txBody>
          <a:bodyPr wrap="none" lIns="0" tIns="0" rIns="0" bIns="0" rtlCol="0" anchor="ctr"/>
          <a:lstStyle/>
          <a:p>
            <a:pPr algn="l" indent="0" marL="0">
              <a:buNone/>
            </a:pPr>
            <a:r>
              <a:rPr lang="en-US" sz="2250" b="1" dirty="0">
                <a:solidFill>
                  <a:srgbClr val="2D6F8C"/>
                </a:solidFill>
                <a:latin typeface="IBM Plex Sans KR" pitchFamily="34" charset="0"/>
                <a:ea typeface="IBM Plex Sans KR" pitchFamily="34" charset="-122"/>
                <a:cs typeface="IBM Plex Sans KR" pitchFamily="34" charset="-120"/>
              </a:rPr>
              <a:t>1.99%</a:t>
            </a:r>
            <a:endParaRPr lang="en-US" sz="2250" dirty="0"/>
          </a:p>
        </p:txBody>
      </p:sp>
      <p:sp>
        <p:nvSpPr>
          <p:cNvPr id="15" name="Shape 9"/>
          <p:cNvSpPr/>
          <p:nvPr/>
        </p:nvSpPr>
        <p:spPr>
          <a:xfrm>
            <a:off x="571500" y="2286000"/>
            <a:ext cx="10477195" cy="562356"/>
          </a:xfrm>
          <a:prstGeom prst="rect">
            <a:avLst/>
          </a:prstGeom>
          <a:solidFill>
            <a:srgbClr val="1B2C45"/>
          </a:solidFill>
          <a:ln w="12700">
            <a:solidFill>
              <a:srgbClr val="FFFFFF">
                <a:alpha val="0"/>
              </a:srgbClr>
            </a:solidFill>
            <a:prstDash val="solid"/>
          </a:ln>
        </p:spPr>
      </p:sp>
      <p:sp>
        <p:nvSpPr>
          <p:cNvPr id="16" name="Text 10"/>
          <p:cNvSpPr txBox="1"/>
          <p:nvPr/>
        </p:nvSpPr>
        <p:spPr>
          <a:xfrm>
            <a:off x="571500" y="2286000"/>
            <a:ext cx="156271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Wafer</a:t>
            </a:r>
            <a:endParaRPr lang="en-US" sz="1500" dirty="0"/>
          </a:p>
        </p:txBody>
      </p:sp>
      <p:sp>
        <p:nvSpPr>
          <p:cNvPr id="17" name="Text 11"/>
          <p:cNvSpPr txBox="1"/>
          <p:nvPr/>
        </p:nvSpPr>
        <p:spPr>
          <a:xfrm>
            <a:off x="2133295" y="2286000"/>
            <a:ext cx="156271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Split</a:t>
            </a:r>
            <a:endParaRPr lang="en-US" sz="1500" dirty="0"/>
          </a:p>
        </p:txBody>
      </p:sp>
      <p:sp>
        <p:nvSpPr>
          <p:cNvPr id="18" name="Text 12"/>
          <p:cNvSpPr txBox="1"/>
          <p:nvPr/>
        </p:nvSpPr>
        <p:spPr>
          <a:xfrm>
            <a:off x="3696005" y="2286000"/>
            <a:ext cx="1838858"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WIWNU (%)</a:t>
            </a:r>
            <a:endParaRPr lang="en-US" sz="1500" dirty="0"/>
          </a:p>
        </p:txBody>
      </p:sp>
      <p:sp>
        <p:nvSpPr>
          <p:cNvPr id="19" name="Text 13"/>
          <p:cNvSpPr txBox="1"/>
          <p:nvPr/>
        </p:nvSpPr>
        <p:spPr>
          <a:xfrm>
            <a:off x="5525719" y="2286000"/>
            <a:ext cx="1772107"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WIDNU (%)</a:t>
            </a:r>
            <a:endParaRPr lang="en-US" sz="1500" dirty="0"/>
          </a:p>
        </p:txBody>
      </p:sp>
      <p:sp>
        <p:nvSpPr>
          <p:cNvPr id="20" name="Text 14"/>
          <p:cNvSpPr txBox="1"/>
          <p:nvPr/>
        </p:nvSpPr>
        <p:spPr>
          <a:xfrm>
            <a:off x="7291426" y="2286000"/>
            <a:ext cx="2057400"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Max−Min (nm)</a:t>
            </a:r>
            <a:endParaRPr lang="en-US" sz="1500" dirty="0"/>
          </a:p>
        </p:txBody>
      </p:sp>
      <p:sp>
        <p:nvSpPr>
          <p:cNvPr id="21" name="Text 15"/>
          <p:cNvSpPr txBox="1"/>
          <p:nvPr/>
        </p:nvSpPr>
        <p:spPr>
          <a:xfrm>
            <a:off x="9346997" y="2286000"/>
            <a:ext cx="1705356"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Site σ (nm)</a:t>
            </a:r>
            <a:endParaRPr lang="en-US" sz="1500" dirty="0"/>
          </a:p>
        </p:txBody>
      </p:sp>
      <p:sp>
        <p:nvSpPr>
          <p:cNvPr id="22" name="Shape 16"/>
          <p:cNvSpPr/>
          <p:nvPr/>
        </p:nvSpPr>
        <p:spPr>
          <a:xfrm>
            <a:off x="571500" y="3410712"/>
            <a:ext cx="10477195" cy="9144"/>
          </a:xfrm>
          <a:prstGeom prst="rect">
            <a:avLst/>
          </a:prstGeom>
          <a:solidFill>
            <a:srgbClr val="D6DCE5"/>
          </a:solidFill>
          <a:ln w="12700">
            <a:solidFill>
              <a:srgbClr val="D6DCE5">
                <a:alpha val="0"/>
              </a:srgbClr>
            </a:solidFill>
            <a:prstDash val="solid"/>
          </a:ln>
        </p:spPr>
      </p:sp>
      <p:sp>
        <p:nvSpPr>
          <p:cNvPr id="23" name="Text 17"/>
          <p:cNvSpPr txBox="1"/>
          <p:nvPr/>
        </p:nvSpPr>
        <p:spPr>
          <a:xfrm>
            <a:off x="571500" y="2848356"/>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W01</a:t>
            </a:r>
            <a:endParaRPr lang="en-US" sz="1500" dirty="0"/>
          </a:p>
        </p:txBody>
      </p:sp>
      <p:sp>
        <p:nvSpPr>
          <p:cNvPr id="24" name="Text 18"/>
          <p:cNvSpPr txBox="1"/>
          <p:nvPr/>
        </p:nvSpPr>
        <p:spPr>
          <a:xfrm>
            <a:off x="3696005" y="2848356"/>
            <a:ext cx="1838858"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4.62</a:t>
            </a:r>
            <a:endParaRPr lang="en-US" sz="1500" dirty="0"/>
          </a:p>
        </p:txBody>
      </p:sp>
      <p:sp>
        <p:nvSpPr>
          <p:cNvPr id="25" name="Text 19"/>
          <p:cNvSpPr txBox="1"/>
          <p:nvPr/>
        </p:nvSpPr>
        <p:spPr>
          <a:xfrm>
            <a:off x="5525719" y="2848356"/>
            <a:ext cx="17721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5.18</a:t>
            </a:r>
            <a:endParaRPr lang="en-US" sz="1500" dirty="0"/>
          </a:p>
        </p:txBody>
      </p:sp>
      <p:sp>
        <p:nvSpPr>
          <p:cNvPr id="26" name="Text 20"/>
          <p:cNvSpPr txBox="1"/>
          <p:nvPr/>
        </p:nvSpPr>
        <p:spPr>
          <a:xfrm>
            <a:off x="7291426" y="2848356"/>
            <a:ext cx="205740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3.95</a:t>
            </a:r>
            <a:endParaRPr lang="en-US" sz="1500" dirty="0"/>
          </a:p>
        </p:txBody>
      </p:sp>
      <p:sp>
        <p:nvSpPr>
          <p:cNvPr id="27" name="Text 21"/>
          <p:cNvSpPr txBox="1"/>
          <p:nvPr/>
        </p:nvSpPr>
        <p:spPr>
          <a:xfrm>
            <a:off x="9346997" y="2848356"/>
            <a:ext cx="17053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1.18</a:t>
            </a:r>
            <a:endParaRPr lang="en-US" sz="1500" dirty="0"/>
          </a:p>
        </p:txBody>
      </p:sp>
      <p:sp>
        <p:nvSpPr>
          <p:cNvPr id="28" name="Shape 22"/>
          <p:cNvSpPr/>
          <p:nvPr/>
        </p:nvSpPr>
        <p:spPr>
          <a:xfrm>
            <a:off x="571500" y="3414370"/>
            <a:ext cx="10477195" cy="571500"/>
          </a:xfrm>
          <a:prstGeom prst="rect">
            <a:avLst/>
          </a:prstGeom>
          <a:solidFill>
            <a:srgbClr val="F7F8FB"/>
          </a:solidFill>
          <a:ln/>
        </p:spPr>
      </p:sp>
      <p:sp>
        <p:nvSpPr>
          <p:cNvPr id="29" name="Shape 23"/>
          <p:cNvSpPr/>
          <p:nvPr/>
        </p:nvSpPr>
        <p:spPr>
          <a:xfrm>
            <a:off x="571500" y="3976726"/>
            <a:ext cx="10477195" cy="9144"/>
          </a:xfrm>
          <a:prstGeom prst="rect">
            <a:avLst/>
          </a:prstGeom>
          <a:solidFill>
            <a:srgbClr val="D6DCE5"/>
          </a:solidFill>
          <a:ln w="12700">
            <a:solidFill>
              <a:srgbClr val="D6DCE5">
                <a:alpha val="0"/>
              </a:srgbClr>
            </a:solidFill>
            <a:prstDash val="solid"/>
          </a:ln>
        </p:spPr>
      </p:sp>
      <p:sp>
        <p:nvSpPr>
          <p:cNvPr id="30" name="Text 24"/>
          <p:cNvSpPr txBox="1"/>
          <p:nvPr/>
        </p:nvSpPr>
        <p:spPr>
          <a:xfrm>
            <a:off x="571500" y="3414370"/>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W02</a:t>
            </a:r>
            <a:endParaRPr lang="en-US" sz="1500" dirty="0"/>
          </a:p>
        </p:txBody>
      </p:sp>
      <p:sp>
        <p:nvSpPr>
          <p:cNvPr id="31" name="Text 25"/>
          <p:cNvSpPr txBox="1"/>
          <p:nvPr/>
        </p:nvSpPr>
        <p:spPr>
          <a:xfrm>
            <a:off x="3696005" y="3414370"/>
            <a:ext cx="1838858"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4.45</a:t>
            </a:r>
            <a:endParaRPr lang="en-US" sz="1500" dirty="0"/>
          </a:p>
        </p:txBody>
      </p:sp>
      <p:sp>
        <p:nvSpPr>
          <p:cNvPr id="32" name="Text 26"/>
          <p:cNvSpPr txBox="1"/>
          <p:nvPr/>
        </p:nvSpPr>
        <p:spPr>
          <a:xfrm>
            <a:off x="5525719" y="3414370"/>
            <a:ext cx="17721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5.04</a:t>
            </a:r>
            <a:endParaRPr lang="en-US" sz="1500" dirty="0"/>
          </a:p>
        </p:txBody>
      </p:sp>
      <p:sp>
        <p:nvSpPr>
          <p:cNvPr id="33" name="Text 27"/>
          <p:cNvSpPr txBox="1"/>
          <p:nvPr/>
        </p:nvSpPr>
        <p:spPr>
          <a:xfrm>
            <a:off x="7291426" y="3414370"/>
            <a:ext cx="205740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3.78</a:t>
            </a:r>
            <a:endParaRPr lang="en-US" sz="1500" dirty="0"/>
          </a:p>
        </p:txBody>
      </p:sp>
      <p:sp>
        <p:nvSpPr>
          <p:cNvPr id="34" name="Text 28"/>
          <p:cNvSpPr txBox="1"/>
          <p:nvPr/>
        </p:nvSpPr>
        <p:spPr>
          <a:xfrm>
            <a:off x="9346997" y="3414370"/>
            <a:ext cx="17053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1.13</a:t>
            </a:r>
            <a:endParaRPr lang="en-US" sz="1500" dirty="0"/>
          </a:p>
        </p:txBody>
      </p:sp>
      <p:sp>
        <p:nvSpPr>
          <p:cNvPr id="35" name="Shape 29"/>
          <p:cNvSpPr/>
          <p:nvPr/>
        </p:nvSpPr>
        <p:spPr>
          <a:xfrm>
            <a:off x="571500" y="4557370"/>
            <a:ext cx="10477195" cy="9144"/>
          </a:xfrm>
          <a:prstGeom prst="rect">
            <a:avLst/>
          </a:prstGeom>
          <a:solidFill>
            <a:srgbClr val="D6DCE5"/>
          </a:solidFill>
          <a:ln w="12700">
            <a:solidFill>
              <a:srgbClr val="D6DCE5">
                <a:alpha val="0"/>
              </a:srgbClr>
            </a:solidFill>
            <a:prstDash val="solid"/>
          </a:ln>
        </p:spPr>
      </p:sp>
      <p:sp>
        <p:nvSpPr>
          <p:cNvPr id="36" name="Text 30"/>
          <p:cNvSpPr txBox="1"/>
          <p:nvPr/>
        </p:nvSpPr>
        <p:spPr>
          <a:xfrm>
            <a:off x="571500" y="3985870"/>
            <a:ext cx="156271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W03</a:t>
            </a:r>
            <a:endParaRPr lang="en-US" sz="1500" dirty="0"/>
          </a:p>
        </p:txBody>
      </p:sp>
      <p:sp>
        <p:nvSpPr>
          <p:cNvPr id="37" name="Text 31"/>
          <p:cNvSpPr txBox="1"/>
          <p:nvPr/>
        </p:nvSpPr>
        <p:spPr>
          <a:xfrm>
            <a:off x="3696005" y="3985870"/>
            <a:ext cx="1838858"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4.78</a:t>
            </a:r>
            <a:endParaRPr lang="en-US" sz="1500" dirty="0"/>
          </a:p>
        </p:txBody>
      </p:sp>
      <p:sp>
        <p:nvSpPr>
          <p:cNvPr id="38" name="Text 32"/>
          <p:cNvSpPr txBox="1"/>
          <p:nvPr/>
        </p:nvSpPr>
        <p:spPr>
          <a:xfrm>
            <a:off x="5525719" y="3985870"/>
            <a:ext cx="1772107"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5.32</a:t>
            </a:r>
            <a:endParaRPr lang="en-US" sz="1500" dirty="0"/>
          </a:p>
        </p:txBody>
      </p:sp>
      <p:sp>
        <p:nvSpPr>
          <p:cNvPr id="39" name="Text 33"/>
          <p:cNvSpPr txBox="1"/>
          <p:nvPr/>
        </p:nvSpPr>
        <p:spPr>
          <a:xfrm>
            <a:off x="7291426" y="3985870"/>
            <a:ext cx="2057400"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4.21</a:t>
            </a:r>
            <a:endParaRPr lang="en-US" sz="1500" dirty="0"/>
          </a:p>
        </p:txBody>
      </p:sp>
      <p:sp>
        <p:nvSpPr>
          <p:cNvPr id="40" name="Text 34"/>
          <p:cNvSpPr txBox="1"/>
          <p:nvPr/>
        </p:nvSpPr>
        <p:spPr>
          <a:xfrm>
            <a:off x="9346997" y="3985870"/>
            <a:ext cx="17053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1.21</a:t>
            </a:r>
            <a:endParaRPr lang="en-US" sz="1500" dirty="0"/>
          </a:p>
        </p:txBody>
      </p:sp>
      <p:sp>
        <p:nvSpPr>
          <p:cNvPr id="41" name="Shape 35"/>
          <p:cNvSpPr/>
          <p:nvPr/>
        </p:nvSpPr>
        <p:spPr>
          <a:xfrm>
            <a:off x="571500" y="4562856"/>
            <a:ext cx="10477195" cy="580644"/>
          </a:xfrm>
          <a:prstGeom prst="rect">
            <a:avLst/>
          </a:prstGeom>
          <a:solidFill>
            <a:srgbClr val="F2F4F8"/>
          </a:solidFill>
          <a:ln w="25400">
            <a:solidFill>
              <a:srgbClr val="B6C0CE"/>
            </a:solidFill>
            <a:prstDash val="solid"/>
          </a:ln>
        </p:spPr>
      </p:sp>
      <p:sp>
        <p:nvSpPr>
          <p:cNvPr id="42" name="Text 36"/>
          <p:cNvSpPr txBox="1"/>
          <p:nvPr/>
        </p:nvSpPr>
        <p:spPr>
          <a:xfrm>
            <a:off x="571500" y="4562856"/>
            <a:ext cx="156271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W04</a:t>
            </a:r>
            <a:endParaRPr lang="en-US" sz="1500" dirty="0"/>
          </a:p>
        </p:txBody>
      </p:sp>
      <p:sp>
        <p:nvSpPr>
          <p:cNvPr id="43" name="Text 37"/>
          <p:cNvSpPr txBox="1"/>
          <p:nvPr/>
        </p:nvSpPr>
        <p:spPr>
          <a:xfrm>
            <a:off x="3696005" y="4562856"/>
            <a:ext cx="1838858"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1.98</a:t>
            </a:r>
            <a:endParaRPr lang="en-US" sz="1500" dirty="0"/>
          </a:p>
        </p:txBody>
      </p:sp>
      <p:sp>
        <p:nvSpPr>
          <p:cNvPr id="44" name="Text 38"/>
          <p:cNvSpPr txBox="1"/>
          <p:nvPr/>
        </p:nvSpPr>
        <p:spPr>
          <a:xfrm>
            <a:off x="5525719" y="4562856"/>
            <a:ext cx="1772107"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2.41</a:t>
            </a:r>
            <a:endParaRPr lang="en-US" sz="1500" dirty="0"/>
          </a:p>
        </p:txBody>
      </p:sp>
      <p:sp>
        <p:nvSpPr>
          <p:cNvPr id="45" name="Text 39"/>
          <p:cNvSpPr txBox="1"/>
          <p:nvPr/>
        </p:nvSpPr>
        <p:spPr>
          <a:xfrm>
            <a:off x="7291426" y="4562856"/>
            <a:ext cx="2057400"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1.78</a:t>
            </a:r>
            <a:endParaRPr lang="en-US" sz="1500" dirty="0"/>
          </a:p>
        </p:txBody>
      </p:sp>
      <p:sp>
        <p:nvSpPr>
          <p:cNvPr id="46" name="Text 40"/>
          <p:cNvSpPr txBox="1"/>
          <p:nvPr/>
        </p:nvSpPr>
        <p:spPr>
          <a:xfrm>
            <a:off x="9346997" y="4562856"/>
            <a:ext cx="1705356"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0.50</a:t>
            </a:r>
            <a:endParaRPr lang="en-US" sz="1500" dirty="0"/>
          </a:p>
        </p:txBody>
      </p:sp>
      <p:sp>
        <p:nvSpPr>
          <p:cNvPr id="47" name="Shape 41"/>
          <p:cNvSpPr/>
          <p:nvPr/>
        </p:nvSpPr>
        <p:spPr>
          <a:xfrm>
            <a:off x="571500" y="5138928"/>
            <a:ext cx="10477195" cy="571500"/>
          </a:xfrm>
          <a:prstGeom prst="rect">
            <a:avLst/>
          </a:prstGeom>
          <a:solidFill>
            <a:srgbClr val="F7F8FB"/>
          </a:solidFill>
          <a:ln/>
        </p:spPr>
      </p:sp>
      <p:sp>
        <p:nvSpPr>
          <p:cNvPr id="48" name="Shape 42"/>
          <p:cNvSpPr/>
          <p:nvPr/>
        </p:nvSpPr>
        <p:spPr>
          <a:xfrm>
            <a:off x="571500" y="5701284"/>
            <a:ext cx="10477195" cy="9144"/>
          </a:xfrm>
          <a:prstGeom prst="rect">
            <a:avLst/>
          </a:prstGeom>
          <a:solidFill>
            <a:srgbClr val="D6DCE5"/>
          </a:solidFill>
          <a:ln w="12700">
            <a:solidFill>
              <a:srgbClr val="D6DCE5">
                <a:alpha val="0"/>
              </a:srgbClr>
            </a:solidFill>
            <a:prstDash val="solid"/>
          </a:ln>
        </p:spPr>
      </p:sp>
      <p:sp>
        <p:nvSpPr>
          <p:cNvPr id="49" name="Text 43"/>
          <p:cNvSpPr txBox="1"/>
          <p:nvPr/>
        </p:nvSpPr>
        <p:spPr>
          <a:xfrm>
            <a:off x="571500" y="5138928"/>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W05</a:t>
            </a:r>
            <a:endParaRPr lang="en-US" sz="1500" dirty="0"/>
          </a:p>
        </p:txBody>
      </p:sp>
      <p:sp>
        <p:nvSpPr>
          <p:cNvPr id="50" name="Text 44"/>
          <p:cNvSpPr txBox="1"/>
          <p:nvPr/>
        </p:nvSpPr>
        <p:spPr>
          <a:xfrm>
            <a:off x="3696005" y="5138928"/>
            <a:ext cx="1838858"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2.07</a:t>
            </a:r>
            <a:endParaRPr lang="en-US" sz="1500" dirty="0"/>
          </a:p>
        </p:txBody>
      </p:sp>
      <p:sp>
        <p:nvSpPr>
          <p:cNvPr id="51" name="Text 45"/>
          <p:cNvSpPr txBox="1"/>
          <p:nvPr/>
        </p:nvSpPr>
        <p:spPr>
          <a:xfrm>
            <a:off x="5525719" y="5138928"/>
            <a:ext cx="17721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2.48</a:t>
            </a:r>
            <a:endParaRPr lang="en-US" sz="1500" dirty="0"/>
          </a:p>
        </p:txBody>
      </p:sp>
      <p:sp>
        <p:nvSpPr>
          <p:cNvPr id="52" name="Text 46"/>
          <p:cNvSpPr txBox="1"/>
          <p:nvPr/>
        </p:nvSpPr>
        <p:spPr>
          <a:xfrm>
            <a:off x="7291426" y="5138928"/>
            <a:ext cx="205740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1.85</a:t>
            </a:r>
            <a:endParaRPr lang="en-US" sz="1500" dirty="0"/>
          </a:p>
        </p:txBody>
      </p:sp>
      <p:sp>
        <p:nvSpPr>
          <p:cNvPr id="53" name="Text 47"/>
          <p:cNvSpPr txBox="1"/>
          <p:nvPr/>
        </p:nvSpPr>
        <p:spPr>
          <a:xfrm>
            <a:off x="9346997" y="5138928"/>
            <a:ext cx="17053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0.52</a:t>
            </a:r>
            <a:endParaRPr lang="en-US" sz="1500" dirty="0"/>
          </a:p>
        </p:txBody>
      </p:sp>
      <p:sp>
        <p:nvSpPr>
          <p:cNvPr id="54" name="Text 48"/>
          <p:cNvSpPr txBox="1"/>
          <p:nvPr/>
        </p:nvSpPr>
        <p:spPr>
          <a:xfrm>
            <a:off x="571500" y="5710428"/>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W06</a:t>
            </a:r>
            <a:endParaRPr lang="en-US" sz="1500" dirty="0"/>
          </a:p>
        </p:txBody>
      </p:sp>
      <p:sp>
        <p:nvSpPr>
          <p:cNvPr id="55" name="Text 49"/>
          <p:cNvSpPr txBox="1"/>
          <p:nvPr/>
        </p:nvSpPr>
        <p:spPr>
          <a:xfrm>
            <a:off x="3696005" y="5710428"/>
            <a:ext cx="1838858"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1.92</a:t>
            </a:r>
            <a:endParaRPr lang="en-US" sz="1500" dirty="0"/>
          </a:p>
        </p:txBody>
      </p:sp>
      <p:sp>
        <p:nvSpPr>
          <p:cNvPr id="56" name="Text 50"/>
          <p:cNvSpPr txBox="1"/>
          <p:nvPr/>
        </p:nvSpPr>
        <p:spPr>
          <a:xfrm>
            <a:off x="5525719" y="5710428"/>
            <a:ext cx="17721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2.32</a:t>
            </a:r>
            <a:endParaRPr lang="en-US" sz="1500" dirty="0"/>
          </a:p>
        </p:txBody>
      </p:sp>
      <p:sp>
        <p:nvSpPr>
          <p:cNvPr id="57" name="Text 51"/>
          <p:cNvSpPr txBox="1"/>
          <p:nvPr/>
        </p:nvSpPr>
        <p:spPr>
          <a:xfrm>
            <a:off x="7291426" y="5710428"/>
            <a:ext cx="2057400"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1.74</a:t>
            </a:r>
            <a:endParaRPr lang="en-US" sz="1500" dirty="0"/>
          </a:p>
        </p:txBody>
      </p:sp>
      <p:sp>
        <p:nvSpPr>
          <p:cNvPr id="58" name="Text 52"/>
          <p:cNvSpPr txBox="1"/>
          <p:nvPr/>
        </p:nvSpPr>
        <p:spPr>
          <a:xfrm>
            <a:off x="9346997" y="5710428"/>
            <a:ext cx="1705356"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0.48</a:t>
            </a:r>
            <a:endParaRPr lang="en-US" sz="1500" dirty="0"/>
          </a:p>
        </p:txBody>
      </p:sp>
      <p:sp>
        <p:nvSpPr>
          <p:cNvPr id="59" name="Text 53"/>
          <p:cNvSpPr txBox="1"/>
          <p:nvPr/>
        </p:nvSpPr>
        <p:spPr>
          <a:xfrm>
            <a:off x="2286000" y="30193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0" name="Text 54"/>
          <p:cNvSpPr txBox="1"/>
          <p:nvPr/>
        </p:nvSpPr>
        <p:spPr>
          <a:xfrm>
            <a:off x="2286000" y="35908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1" name="Text 55"/>
          <p:cNvSpPr txBox="1"/>
          <p:nvPr/>
        </p:nvSpPr>
        <p:spPr>
          <a:xfrm>
            <a:off x="2286000" y="4162349"/>
            <a:ext cx="610819" cy="257861"/>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62" name="Text 56"/>
          <p:cNvSpPr txBox="1"/>
          <p:nvPr/>
        </p:nvSpPr>
        <p:spPr>
          <a:xfrm>
            <a:off x="2305202" y="47439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3" name="Text 57"/>
          <p:cNvSpPr txBox="1"/>
          <p:nvPr/>
        </p:nvSpPr>
        <p:spPr>
          <a:xfrm>
            <a:off x="2305202" y="53154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64" name="Text 58"/>
          <p:cNvSpPr txBox="1"/>
          <p:nvPr/>
        </p:nvSpPr>
        <p:spPr>
          <a:xfrm>
            <a:off x="2305202" y="5886907"/>
            <a:ext cx="610819" cy="257861"/>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pic>
        <p:nvPicPr>
          <p:cNvPr id="65" name="Image 3" descr="gen-dedup-a8dbdd483bd98ed162c5335ff7a2180d.png">    </p:cNvPr>
          <p:cNvPicPr>
            <a:picLocks noChangeAspect="1"/>
          </p:cNvPicPr>
          <p:nvPr/>
        </p:nvPicPr>
        <p:blipFill>
          <a:blip r:embed="rId4"/>
          <a:srcRect l="0" r="0" t="-400" b="-400"/>
          <a:stretch/>
        </p:blipFill>
        <p:spPr>
          <a:xfrm>
            <a:off x="11430000" y="2419502"/>
            <a:ext cx="342900" cy="19202"/>
          </a:xfrm>
          <a:prstGeom prst="rect">
            <a:avLst/>
          </a:prstGeom>
        </p:spPr>
      </p:pic>
      <p:sp>
        <p:nvSpPr>
          <p:cNvPr id="66" name="Text 59"/>
          <p:cNvSpPr txBox="1"/>
          <p:nvPr/>
        </p:nvSpPr>
        <p:spPr>
          <a:xfrm>
            <a:off x="11906402" y="2286000"/>
            <a:ext cx="2448763" cy="286207"/>
          </a:xfrm>
          <a:prstGeom prst="rect">
            <a:avLst/>
          </a:prstGeom>
          <a:noFill/>
          <a:ln/>
        </p:spPr>
        <p:txBody>
          <a:bodyPr wrap="none" lIns="0" tIns="0" rIns="0" bIns="0" rtlCol="0" anchor="ctr"/>
          <a:lstStyle/>
          <a:p>
            <a:pPr algn="l" indent="0" marL="0">
              <a:buNone/>
            </a:pPr>
            <a:r>
              <a:rPr lang="en-US" sz="1500" b="1" dirty="0">
                <a:solidFill>
                  <a:srgbClr val="1B2C45"/>
                </a:solidFill>
                <a:latin typeface="IBM Plex Sans KR" pitchFamily="34" charset="0"/>
                <a:ea typeface="IBM Plex Sans KR" pitchFamily="34" charset="-122"/>
                <a:cs typeface="IBM Plex Sans KR" pitchFamily="34" charset="-120"/>
              </a:rPr>
              <a:t>WIWNU bar comparison</a:t>
            </a:r>
            <a:endParaRPr lang="en-US" sz="1500" dirty="0"/>
          </a:p>
        </p:txBody>
      </p:sp>
      <p:sp>
        <p:nvSpPr>
          <p:cNvPr id="67" name="Shape 60"/>
          <p:cNvSpPr/>
          <p:nvPr/>
        </p:nvSpPr>
        <p:spPr>
          <a:xfrm>
            <a:off x="11430000" y="2762402"/>
            <a:ext cx="6305702" cy="2876702"/>
          </a:xfrm>
          <a:prstGeom prst="rect">
            <a:avLst/>
          </a:prstGeom>
          <a:solidFill>
            <a:srgbClr val="FFFFFF"/>
          </a:solidFill>
          <a:ln w="12700">
            <a:solidFill>
              <a:srgbClr val="C4CDD9"/>
            </a:solidFill>
            <a:prstDash val="solid"/>
          </a:ln>
        </p:spPr>
      </p:sp>
      <p:sp>
        <p:nvSpPr>
          <p:cNvPr id="68" name="Text 61"/>
          <p:cNvSpPr txBox="1"/>
          <p:nvPr/>
        </p:nvSpPr>
        <p:spPr>
          <a:xfrm>
            <a:off x="11649456" y="2943454"/>
            <a:ext cx="5867705" cy="181051"/>
          </a:xfrm>
          <a:prstGeom prst="rect">
            <a:avLst/>
          </a:prstGeom>
          <a:noFill/>
          <a:ln/>
        </p:spPr>
        <p:txBody>
          <a:bodyPr wrap="none" lIns="0" tIns="0" rIns="0" bIns="0" rtlCol="0" anchor="ctr"/>
          <a:lstStyle/>
          <a:p>
            <a:pPr algn="l" indent="0" marL="0">
              <a:buNone/>
            </a:pPr>
            <a:r>
              <a:rPr lang="en-US" sz="975" spc="195" kern="0" dirty="0">
                <a:solidFill>
                  <a:srgbClr val="5C6B82"/>
                </a:solidFill>
                <a:latin typeface="IBM Plex Sans KR" pitchFamily="34" charset="0"/>
                <a:ea typeface="IBM Plex Sans KR" pitchFamily="34" charset="-122"/>
                <a:cs typeface="IBM Plex Sans KR" pitchFamily="34" charset="-120"/>
              </a:rPr>
              <a:t>WIWNU % per wafer</a:t>
            </a:r>
            <a:endParaRPr lang="en-US" sz="975" dirty="0"/>
          </a:p>
        </p:txBody>
      </p:sp>
      <p:pic>
        <p:nvPicPr>
          <p:cNvPr id="69" name="Image 4" descr="gen-dedup-ec8f1a2e3e78b732240927d597e564b0.png">    </p:cNvPr>
          <p:cNvPicPr>
            <a:picLocks noChangeAspect="1"/>
          </p:cNvPicPr>
          <p:nvPr/>
        </p:nvPicPr>
        <p:blipFill>
          <a:blip r:embed="rId5"/>
          <a:srcRect l="-2083" r="-2083" t="0" b="0"/>
          <a:stretch/>
        </p:blipFill>
        <p:spPr>
          <a:xfrm>
            <a:off x="12201754" y="5238598"/>
            <a:ext cx="5238598" cy="9144"/>
          </a:xfrm>
          <a:prstGeom prst="rect">
            <a:avLst/>
          </a:prstGeom>
        </p:spPr>
      </p:pic>
      <p:pic>
        <p:nvPicPr>
          <p:cNvPr id="70" name="Image 5" descr="gen-dedup-48909234199ca5a7eab7057ec16eb2c2.png">    </p:cNvPr>
          <p:cNvPicPr>
            <a:picLocks noChangeAspect="1"/>
          </p:cNvPicPr>
          <p:nvPr/>
        </p:nvPicPr>
        <p:blipFill>
          <a:blip r:embed="rId6"/>
          <a:srcRect l="-2083" r="-2083" t="0" b="0"/>
          <a:stretch/>
        </p:blipFill>
        <p:spPr>
          <a:xfrm>
            <a:off x="12201754" y="4667098"/>
            <a:ext cx="5238598" cy="9144"/>
          </a:xfrm>
          <a:prstGeom prst="rect">
            <a:avLst/>
          </a:prstGeom>
        </p:spPr>
      </p:pic>
      <p:pic>
        <p:nvPicPr>
          <p:cNvPr id="71" name="Image 6" descr="gen-dedup-48909234199ca5a7eab7057ec16eb2c2.png">    </p:cNvPr>
          <p:cNvPicPr>
            <a:picLocks noChangeAspect="1"/>
          </p:cNvPicPr>
          <p:nvPr/>
        </p:nvPicPr>
        <p:blipFill>
          <a:blip r:embed="rId7"/>
          <a:srcRect l="-2083" r="-2083" t="0" b="0"/>
          <a:stretch/>
        </p:blipFill>
        <p:spPr>
          <a:xfrm>
            <a:off x="12201754" y="4095598"/>
            <a:ext cx="5238598" cy="9144"/>
          </a:xfrm>
          <a:prstGeom prst="rect">
            <a:avLst/>
          </a:prstGeom>
        </p:spPr>
      </p:pic>
      <p:pic>
        <p:nvPicPr>
          <p:cNvPr id="72" name="Image 7" descr="gen-dedup-48909234199ca5a7eab7057ec16eb2c2.png">    </p:cNvPr>
          <p:cNvPicPr>
            <a:picLocks noChangeAspect="1"/>
          </p:cNvPicPr>
          <p:nvPr/>
        </p:nvPicPr>
        <p:blipFill>
          <a:blip r:embed="rId8"/>
          <a:srcRect l="-2083" r="-2083" t="0" b="0"/>
          <a:stretch/>
        </p:blipFill>
        <p:spPr>
          <a:xfrm>
            <a:off x="12201754" y="3524098"/>
            <a:ext cx="5238598" cy="9144"/>
          </a:xfrm>
          <a:prstGeom prst="rect">
            <a:avLst/>
          </a:prstGeom>
        </p:spPr>
      </p:pic>
      <p:sp>
        <p:nvSpPr>
          <p:cNvPr id="73" name="Text 62"/>
          <p:cNvSpPr txBox="1"/>
          <p:nvPr/>
        </p:nvSpPr>
        <p:spPr>
          <a:xfrm>
            <a:off x="11782044" y="5134356"/>
            <a:ext cx="76810"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0</a:t>
            </a:r>
            <a:endParaRPr lang="en-US" sz="900" dirty="0"/>
          </a:p>
        </p:txBody>
      </p:sp>
      <p:sp>
        <p:nvSpPr>
          <p:cNvPr id="74" name="Text 63"/>
          <p:cNvSpPr txBox="1"/>
          <p:nvPr/>
        </p:nvSpPr>
        <p:spPr>
          <a:xfrm>
            <a:off x="11782044" y="4505249"/>
            <a:ext cx="76810"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2</a:t>
            </a:r>
            <a:endParaRPr lang="en-US" sz="900" dirty="0"/>
          </a:p>
        </p:txBody>
      </p:sp>
      <p:sp>
        <p:nvSpPr>
          <p:cNvPr id="75" name="Text 64"/>
          <p:cNvSpPr txBox="1"/>
          <p:nvPr/>
        </p:nvSpPr>
        <p:spPr>
          <a:xfrm>
            <a:off x="11782044" y="3933749"/>
            <a:ext cx="76810"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4</a:t>
            </a:r>
            <a:endParaRPr lang="en-US" sz="900" dirty="0"/>
          </a:p>
        </p:txBody>
      </p:sp>
      <p:sp>
        <p:nvSpPr>
          <p:cNvPr id="76" name="Text 65"/>
          <p:cNvSpPr txBox="1"/>
          <p:nvPr/>
        </p:nvSpPr>
        <p:spPr>
          <a:xfrm>
            <a:off x="11782044" y="3362249"/>
            <a:ext cx="181051"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6%</a:t>
            </a:r>
            <a:endParaRPr lang="en-US" sz="900" dirty="0"/>
          </a:p>
        </p:txBody>
      </p:sp>
      <p:sp>
        <p:nvSpPr>
          <p:cNvPr id="77" name="Text 66"/>
          <p:cNvSpPr txBox="1"/>
          <p:nvPr/>
        </p:nvSpPr>
        <p:spPr>
          <a:xfrm>
            <a:off x="12443155" y="3457346"/>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4.62</a:t>
            </a:r>
            <a:endParaRPr lang="en-US" sz="900" dirty="0"/>
          </a:p>
        </p:txBody>
      </p:sp>
      <p:sp>
        <p:nvSpPr>
          <p:cNvPr id="78" name="Shape 67"/>
          <p:cNvSpPr/>
          <p:nvPr/>
        </p:nvSpPr>
        <p:spPr>
          <a:xfrm>
            <a:off x="12258446" y="3685946"/>
            <a:ext cx="609905" cy="1324051"/>
          </a:xfrm>
          <a:prstGeom prst="rect">
            <a:avLst/>
          </a:prstGeom>
          <a:solidFill>
            <a:srgbClr val="B85C46"/>
          </a:solidFill>
          <a:ln w="12700">
            <a:solidFill>
              <a:srgbClr val="FFFFFF">
                <a:alpha val="0"/>
              </a:srgbClr>
            </a:solidFill>
            <a:prstDash val="solid"/>
          </a:ln>
        </p:spPr>
      </p:sp>
      <p:sp>
        <p:nvSpPr>
          <p:cNvPr id="79" name="Text 68"/>
          <p:cNvSpPr txBox="1"/>
          <p:nvPr/>
        </p:nvSpPr>
        <p:spPr>
          <a:xfrm>
            <a:off x="12428525"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W01</a:t>
            </a:r>
            <a:endParaRPr lang="en-US" sz="975" dirty="0"/>
          </a:p>
        </p:txBody>
      </p:sp>
      <p:sp>
        <p:nvSpPr>
          <p:cNvPr id="80" name="Text 69"/>
          <p:cNvSpPr txBox="1"/>
          <p:nvPr/>
        </p:nvSpPr>
        <p:spPr>
          <a:xfrm>
            <a:off x="13345668" y="3504895"/>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4.45</a:t>
            </a:r>
            <a:endParaRPr lang="en-US" sz="900" dirty="0"/>
          </a:p>
        </p:txBody>
      </p:sp>
      <p:sp>
        <p:nvSpPr>
          <p:cNvPr id="81" name="Shape 70"/>
          <p:cNvSpPr/>
          <p:nvPr/>
        </p:nvSpPr>
        <p:spPr>
          <a:xfrm>
            <a:off x="13161874" y="3733495"/>
            <a:ext cx="609905" cy="1276502"/>
          </a:xfrm>
          <a:prstGeom prst="rect">
            <a:avLst/>
          </a:prstGeom>
          <a:solidFill>
            <a:srgbClr val="B85C46"/>
          </a:solidFill>
          <a:ln w="12700">
            <a:solidFill>
              <a:srgbClr val="FFFFFF">
                <a:alpha val="0"/>
              </a:srgbClr>
            </a:solidFill>
            <a:prstDash val="solid"/>
          </a:ln>
        </p:spPr>
      </p:sp>
      <p:sp>
        <p:nvSpPr>
          <p:cNvPr id="82" name="Text 71"/>
          <p:cNvSpPr txBox="1"/>
          <p:nvPr/>
        </p:nvSpPr>
        <p:spPr>
          <a:xfrm>
            <a:off x="13331952"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W02</a:t>
            </a:r>
            <a:endParaRPr lang="en-US" sz="975" dirty="0"/>
          </a:p>
        </p:txBody>
      </p:sp>
      <p:sp>
        <p:nvSpPr>
          <p:cNvPr id="83" name="Text 72"/>
          <p:cNvSpPr txBox="1"/>
          <p:nvPr/>
        </p:nvSpPr>
        <p:spPr>
          <a:xfrm>
            <a:off x="14249095" y="3409798"/>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4.78</a:t>
            </a:r>
            <a:endParaRPr lang="en-US" sz="900" dirty="0"/>
          </a:p>
        </p:txBody>
      </p:sp>
      <p:sp>
        <p:nvSpPr>
          <p:cNvPr id="84" name="Shape 73"/>
          <p:cNvSpPr/>
          <p:nvPr/>
        </p:nvSpPr>
        <p:spPr>
          <a:xfrm>
            <a:off x="14064386" y="3638398"/>
            <a:ext cx="609905" cy="1371600"/>
          </a:xfrm>
          <a:prstGeom prst="rect">
            <a:avLst/>
          </a:prstGeom>
          <a:solidFill>
            <a:srgbClr val="B85C46"/>
          </a:solidFill>
          <a:ln w="12700">
            <a:solidFill>
              <a:srgbClr val="FFFFFF">
                <a:alpha val="0"/>
              </a:srgbClr>
            </a:solidFill>
            <a:prstDash val="solid"/>
          </a:ln>
        </p:spPr>
      </p:sp>
      <p:sp>
        <p:nvSpPr>
          <p:cNvPr id="85" name="Text 74"/>
          <p:cNvSpPr txBox="1"/>
          <p:nvPr/>
        </p:nvSpPr>
        <p:spPr>
          <a:xfrm>
            <a:off x="14234465"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W03</a:t>
            </a:r>
            <a:endParaRPr lang="en-US" sz="975" dirty="0"/>
          </a:p>
        </p:txBody>
      </p:sp>
      <p:sp>
        <p:nvSpPr>
          <p:cNvPr id="86" name="Text 75"/>
          <p:cNvSpPr txBox="1"/>
          <p:nvPr/>
        </p:nvSpPr>
        <p:spPr>
          <a:xfrm>
            <a:off x="15151608" y="4209898"/>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1.98</a:t>
            </a:r>
            <a:endParaRPr lang="en-US" sz="900" dirty="0"/>
          </a:p>
        </p:txBody>
      </p:sp>
      <p:sp>
        <p:nvSpPr>
          <p:cNvPr id="87" name="Shape 76"/>
          <p:cNvSpPr/>
          <p:nvPr/>
        </p:nvSpPr>
        <p:spPr>
          <a:xfrm>
            <a:off x="14967814" y="4438498"/>
            <a:ext cx="609905" cy="571500"/>
          </a:xfrm>
          <a:prstGeom prst="rect">
            <a:avLst/>
          </a:prstGeom>
          <a:solidFill>
            <a:srgbClr val="2D6F8C"/>
          </a:solidFill>
          <a:ln w="12700">
            <a:solidFill>
              <a:srgbClr val="FFFFFF">
                <a:alpha val="0"/>
              </a:srgbClr>
            </a:solidFill>
            <a:prstDash val="solid"/>
          </a:ln>
        </p:spPr>
      </p:sp>
      <p:sp>
        <p:nvSpPr>
          <p:cNvPr id="88" name="Text 77"/>
          <p:cNvSpPr txBox="1"/>
          <p:nvPr/>
        </p:nvSpPr>
        <p:spPr>
          <a:xfrm>
            <a:off x="15137892"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W04</a:t>
            </a:r>
            <a:endParaRPr lang="en-US" sz="975" dirty="0"/>
          </a:p>
        </p:txBody>
      </p:sp>
      <p:sp>
        <p:nvSpPr>
          <p:cNvPr id="89" name="Text 78"/>
          <p:cNvSpPr txBox="1"/>
          <p:nvPr/>
        </p:nvSpPr>
        <p:spPr>
          <a:xfrm>
            <a:off x="16055035" y="4190695"/>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2.07</a:t>
            </a:r>
            <a:endParaRPr lang="en-US" sz="900" dirty="0"/>
          </a:p>
        </p:txBody>
      </p:sp>
      <p:sp>
        <p:nvSpPr>
          <p:cNvPr id="90" name="Shape 79"/>
          <p:cNvSpPr/>
          <p:nvPr/>
        </p:nvSpPr>
        <p:spPr>
          <a:xfrm>
            <a:off x="15870326" y="4419295"/>
            <a:ext cx="609905" cy="590702"/>
          </a:xfrm>
          <a:prstGeom prst="rect">
            <a:avLst/>
          </a:prstGeom>
          <a:solidFill>
            <a:srgbClr val="2D6F8C"/>
          </a:solidFill>
          <a:ln w="12700">
            <a:solidFill>
              <a:srgbClr val="FFFFFF">
                <a:alpha val="0"/>
              </a:srgbClr>
            </a:solidFill>
            <a:prstDash val="solid"/>
          </a:ln>
        </p:spPr>
      </p:sp>
      <p:sp>
        <p:nvSpPr>
          <p:cNvPr id="91" name="Text 80"/>
          <p:cNvSpPr txBox="1"/>
          <p:nvPr/>
        </p:nvSpPr>
        <p:spPr>
          <a:xfrm>
            <a:off x="16040405"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W05</a:t>
            </a:r>
            <a:endParaRPr lang="en-US" sz="975" dirty="0"/>
          </a:p>
        </p:txBody>
      </p:sp>
      <p:sp>
        <p:nvSpPr>
          <p:cNvPr id="92" name="Text 81"/>
          <p:cNvSpPr txBox="1"/>
          <p:nvPr/>
        </p:nvSpPr>
        <p:spPr>
          <a:xfrm>
            <a:off x="16957548" y="4229100"/>
            <a:ext cx="320954" cy="171907"/>
          </a:xfrm>
          <a:prstGeom prst="rect">
            <a:avLst/>
          </a:prstGeom>
          <a:noFill/>
          <a:ln/>
        </p:spPr>
        <p:txBody>
          <a:bodyPr wrap="none" lIns="0" tIns="0" rIns="0" bIns="0" rtlCol="0" anchor="ctr"/>
          <a:lstStyle/>
          <a:p>
            <a:pPr algn="l" indent="0" marL="0">
              <a:buNone/>
            </a:pPr>
            <a:r>
              <a:rPr lang="en-US" sz="900" b="1" dirty="0">
                <a:solidFill>
                  <a:srgbClr val="1B2C45"/>
                </a:solidFill>
                <a:latin typeface="IBM Plex Sans KR" pitchFamily="34" charset="0"/>
                <a:ea typeface="IBM Plex Sans KR" pitchFamily="34" charset="-122"/>
                <a:cs typeface="IBM Plex Sans KR" pitchFamily="34" charset="-120"/>
              </a:rPr>
              <a:t>1.92</a:t>
            </a:r>
            <a:endParaRPr lang="en-US" sz="900" dirty="0"/>
          </a:p>
        </p:txBody>
      </p:sp>
      <p:sp>
        <p:nvSpPr>
          <p:cNvPr id="93" name="Shape 82"/>
          <p:cNvSpPr/>
          <p:nvPr/>
        </p:nvSpPr>
        <p:spPr>
          <a:xfrm>
            <a:off x="16773754" y="4457700"/>
            <a:ext cx="609905" cy="552298"/>
          </a:xfrm>
          <a:prstGeom prst="rect">
            <a:avLst/>
          </a:prstGeom>
          <a:solidFill>
            <a:srgbClr val="2D6F8C"/>
          </a:solidFill>
          <a:ln w="12700">
            <a:solidFill>
              <a:srgbClr val="FFFFFF">
                <a:alpha val="0"/>
              </a:srgbClr>
            </a:solidFill>
            <a:prstDash val="solid"/>
          </a:ln>
        </p:spPr>
      </p:sp>
      <p:sp>
        <p:nvSpPr>
          <p:cNvPr id="94" name="Text 83"/>
          <p:cNvSpPr txBox="1"/>
          <p:nvPr/>
        </p:nvSpPr>
        <p:spPr>
          <a:xfrm>
            <a:off x="16943832" y="5067605"/>
            <a:ext cx="277063" cy="181051"/>
          </a:xfrm>
          <a:prstGeom prst="rect">
            <a:avLst/>
          </a:prstGeom>
          <a:noFill/>
          <a:ln/>
        </p:spPr>
        <p:txBody>
          <a:bodyPr wrap="none" lIns="0" tIns="0" rIns="0" bIns="0" rtlCol="0" anchor="ctr"/>
          <a:lstStyle/>
          <a:p>
            <a:pPr algn="l" indent="0" marL="0">
              <a:buNone/>
            </a:pPr>
            <a:r>
              <a:rPr lang="en-US" sz="975" b="1" dirty="0">
                <a:solidFill>
                  <a:srgbClr val="1B2C45"/>
                </a:solidFill>
                <a:latin typeface="IBM Plex Sans KR" pitchFamily="34" charset="0"/>
                <a:ea typeface="IBM Plex Sans KR" pitchFamily="34" charset="-122"/>
                <a:cs typeface="IBM Plex Sans KR" pitchFamily="34" charset="-120"/>
              </a:rPr>
              <a:t>W06</a:t>
            </a:r>
            <a:endParaRPr lang="en-US" sz="975" dirty="0"/>
          </a:p>
        </p:txBody>
      </p:sp>
      <p:sp>
        <p:nvSpPr>
          <p:cNvPr id="95" name="Shape 84"/>
          <p:cNvSpPr/>
          <p:nvPr/>
        </p:nvSpPr>
        <p:spPr>
          <a:xfrm>
            <a:off x="571500" y="6858000"/>
            <a:ext cx="6305702" cy="1742846"/>
          </a:xfrm>
          <a:prstGeom prst="rect">
            <a:avLst/>
          </a:prstGeom>
          <a:solidFill>
            <a:srgbClr val="FFFFFF"/>
          </a:solidFill>
          <a:ln w="12700">
            <a:solidFill>
              <a:srgbClr val="C4CDD9"/>
            </a:solidFill>
            <a:prstDash val="solid"/>
          </a:ln>
        </p:spPr>
      </p:sp>
      <p:sp>
        <p:nvSpPr>
          <p:cNvPr id="96" name="Text 85"/>
          <p:cNvSpPr txBox="1"/>
          <p:nvPr/>
        </p:nvSpPr>
        <p:spPr>
          <a:xfrm>
            <a:off x="828446" y="7077456"/>
            <a:ext cx="5791810"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Reduction ratio</a:t>
            </a:r>
            <a:endParaRPr lang="en-US" sz="975" dirty="0"/>
          </a:p>
        </p:txBody>
      </p:sp>
      <p:sp>
        <p:nvSpPr>
          <p:cNvPr id="97" name="Text 86"/>
          <p:cNvSpPr txBox="1"/>
          <p:nvPr/>
        </p:nvSpPr>
        <p:spPr>
          <a:xfrm>
            <a:off x="828446" y="7334402"/>
            <a:ext cx="5791810" cy="514807"/>
          </a:xfrm>
          <a:prstGeom prst="rect">
            <a:avLst/>
          </a:prstGeom>
          <a:noFill/>
          <a:ln/>
        </p:spPr>
        <p:txBody>
          <a:bodyPr wrap="none" lIns="0" tIns="0" rIns="0" bIns="0" rtlCol="0" anchor="ctr"/>
          <a:lstStyle/>
          <a:p>
            <a:pPr algn="l" indent="0" marL="0">
              <a:buNone/>
            </a:pPr>
            <a:r>
              <a:rPr lang="en-US" sz="4050" b="1" dirty="0">
                <a:solidFill>
                  <a:srgbClr val="1B2C45"/>
                </a:solidFill>
                <a:latin typeface="IBM Plex Sans KR" pitchFamily="34" charset="0"/>
                <a:ea typeface="IBM Plex Sans KR" pitchFamily="34" charset="-122"/>
                <a:cs typeface="IBM Plex Sans KR" pitchFamily="34" charset="-120"/>
              </a:rPr>
              <a:t>−2.6</a:t>
            </a:r>
            <a:pPr algn="l" indent="0" marL="0">
              <a:buNone/>
            </a:pPr>
            <a:r>
              <a:rPr lang="en-US" sz="1500" b="1" dirty="0">
                <a:solidFill>
                  <a:srgbClr val="5C6B82"/>
                </a:solidFill>
                <a:latin typeface="IBM Plex Sans KR" pitchFamily="34" charset="0"/>
                <a:ea typeface="IBM Plex Sans KR" pitchFamily="34" charset="-122"/>
                <a:cs typeface="IBM Plex Sans KR" pitchFamily="34" charset="-120"/>
              </a:rPr>
              <a:t>pp</a:t>
            </a:r>
            <a:endParaRPr lang="en-US" sz="4050" dirty="0"/>
          </a:p>
        </p:txBody>
      </p:sp>
      <p:pic>
        <p:nvPicPr>
          <p:cNvPr id="98" name="Image 8" descr="gen-dedup-544e2ee1d00b270b2890d14069717a1d.png">    </p:cNvPr>
          <p:cNvPicPr>
            <a:picLocks noChangeAspect="1"/>
          </p:cNvPicPr>
          <p:nvPr/>
        </p:nvPicPr>
        <p:blipFill>
          <a:blip r:embed="rId9"/>
          <a:srcRect l="-404" r="-404" t="0" b="0"/>
          <a:stretch/>
        </p:blipFill>
        <p:spPr>
          <a:xfrm>
            <a:off x="828446" y="7981798"/>
            <a:ext cx="457200" cy="28346"/>
          </a:xfrm>
          <a:prstGeom prst="rect">
            <a:avLst/>
          </a:prstGeom>
        </p:spPr>
      </p:pic>
      <p:sp>
        <p:nvSpPr>
          <p:cNvPr id="99" name="Text 87"/>
          <p:cNvSpPr txBox="1"/>
          <p:nvPr/>
        </p:nvSpPr>
        <p:spPr>
          <a:xfrm>
            <a:off x="828446" y="8143646"/>
            <a:ext cx="5791810" cy="228600"/>
          </a:xfrm>
          <a:prstGeom prst="rect">
            <a:avLst/>
          </a:prstGeom>
          <a:noFill/>
          <a:ln/>
        </p:spPr>
        <p:txBody>
          <a:bodyPr wrap="none" lIns="0" tIns="0" rIns="0" bIns="0" rtlCol="0" anchor="ctr"/>
          <a:lstStyle/>
          <a:p>
            <a:pPr algn="l" indent="0" marL="0">
              <a:buNone/>
            </a:pPr>
            <a:r>
              <a:rPr lang="en-US" sz="1200" dirty="0">
                <a:solidFill>
                  <a:srgbClr val="2F3D54"/>
                </a:solidFill>
                <a:latin typeface="IBM Plex Sans KR" pitchFamily="34" charset="0"/>
                <a:ea typeface="IBM Plex Sans KR" pitchFamily="34" charset="-122"/>
                <a:cs typeface="IBM Plex Sans KR" pitchFamily="34" charset="-120"/>
              </a:rPr>
              <a:t>CAR 평균 4.62% → MOR 평균 1.99%, 절대값 −2.6 percentage points.</a:t>
            </a:r>
            <a:endParaRPr lang="en-US" sz="1200" dirty="0"/>
          </a:p>
        </p:txBody>
      </p:sp>
      <p:sp>
        <p:nvSpPr>
          <p:cNvPr id="100" name="Shape 88"/>
          <p:cNvSpPr/>
          <p:nvPr/>
        </p:nvSpPr>
        <p:spPr>
          <a:xfrm>
            <a:off x="7043623" y="6858000"/>
            <a:ext cx="5257800" cy="1742846"/>
          </a:xfrm>
          <a:prstGeom prst="rect">
            <a:avLst/>
          </a:prstGeom>
          <a:solidFill>
            <a:srgbClr val="FFFFFF"/>
          </a:solidFill>
          <a:ln w="12700">
            <a:solidFill>
              <a:srgbClr val="C4CDD9"/>
            </a:solidFill>
            <a:prstDash val="solid"/>
          </a:ln>
        </p:spPr>
      </p:sp>
      <p:sp>
        <p:nvSpPr>
          <p:cNvPr id="101" name="Text 89"/>
          <p:cNvSpPr txBox="1"/>
          <p:nvPr/>
        </p:nvSpPr>
        <p:spPr>
          <a:xfrm>
            <a:off x="7300570" y="7077456"/>
            <a:ext cx="4743907" cy="191110"/>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Max site σ</a:t>
            </a:r>
            <a:endParaRPr lang="en-US" sz="975" dirty="0"/>
          </a:p>
        </p:txBody>
      </p:sp>
      <p:sp>
        <p:nvSpPr>
          <p:cNvPr id="102" name="Text 90"/>
          <p:cNvSpPr txBox="1"/>
          <p:nvPr/>
        </p:nvSpPr>
        <p:spPr>
          <a:xfrm>
            <a:off x="7300570" y="7343546"/>
            <a:ext cx="4743907" cy="514807"/>
          </a:xfrm>
          <a:prstGeom prst="rect">
            <a:avLst/>
          </a:prstGeom>
          <a:noFill/>
          <a:ln/>
        </p:spPr>
        <p:txBody>
          <a:bodyPr wrap="none" lIns="0" tIns="0" rIns="0" bIns="0" rtlCol="0" anchor="ctr"/>
          <a:lstStyle/>
          <a:p>
            <a:pPr algn="l" indent="0" marL="0">
              <a:buNone/>
            </a:pPr>
            <a:r>
              <a:rPr lang="en-US" sz="4050" b="1" dirty="0">
                <a:solidFill>
                  <a:srgbClr val="B85C46"/>
                </a:solidFill>
                <a:latin typeface="IBM Plex Sans KR" pitchFamily="34" charset="0"/>
                <a:ea typeface="IBM Plex Sans KR" pitchFamily="34" charset="-122"/>
                <a:cs typeface="IBM Plex Sans KR" pitchFamily="34" charset="-120"/>
              </a:rPr>
              <a:t>1.21</a:t>
            </a:r>
            <a:endParaRPr lang="en-US" sz="4050" dirty="0"/>
          </a:p>
        </p:txBody>
      </p:sp>
      <p:pic>
        <p:nvPicPr>
          <p:cNvPr id="103" name="Image 9" descr="gen-dedup-732ad503602cab8f92e32ea10a3af504.png">    </p:cNvPr>
          <p:cNvPicPr>
            <a:picLocks noChangeAspect="1"/>
          </p:cNvPicPr>
          <p:nvPr/>
        </p:nvPicPr>
        <p:blipFill>
          <a:blip r:embed="rId10"/>
          <a:srcRect l="-404" r="-404" t="0" b="0"/>
          <a:stretch/>
        </p:blipFill>
        <p:spPr>
          <a:xfrm>
            <a:off x="7300570" y="7991856"/>
            <a:ext cx="457200" cy="28346"/>
          </a:xfrm>
          <a:prstGeom prst="rect">
            <a:avLst/>
          </a:prstGeom>
        </p:spPr>
      </p:pic>
      <p:sp>
        <p:nvSpPr>
          <p:cNvPr id="104" name="Text 91"/>
          <p:cNvSpPr txBox="1"/>
          <p:nvPr/>
        </p:nvSpPr>
        <p:spPr>
          <a:xfrm>
            <a:off x="7300570" y="8153705"/>
            <a:ext cx="4743907" cy="228600"/>
          </a:xfrm>
          <a:prstGeom prst="rect">
            <a:avLst/>
          </a:prstGeom>
          <a:noFill/>
          <a:ln/>
        </p:spPr>
        <p:txBody>
          <a:bodyPr wrap="none" lIns="0" tIns="0" rIns="0" bIns="0" rtlCol="0" anchor="ctr"/>
          <a:lstStyle/>
          <a:p>
            <a:pPr algn="l" indent="0" marL="0">
              <a:buNone/>
            </a:pPr>
            <a:r>
              <a:rPr lang="en-US" sz="1200" dirty="0">
                <a:solidFill>
                  <a:srgbClr val="2F3D54"/>
                </a:solidFill>
                <a:latin typeface="IBM Plex Sans KR" pitchFamily="34" charset="0"/>
                <a:ea typeface="IBM Plex Sans KR" pitchFamily="34" charset="-122"/>
                <a:cs typeface="IBM Plex Sans KR" pitchFamily="34" charset="-120"/>
              </a:rPr>
              <a:t>W03 (CAR) 최대 site σ, MOR 최대 0.52의 약 2.3배.</a:t>
            </a:r>
            <a:endParaRPr lang="en-US" sz="1200" dirty="0"/>
          </a:p>
        </p:txBody>
      </p:sp>
      <p:sp>
        <p:nvSpPr>
          <p:cNvPr id="105" name="Shape 92"/>
          <p:cNvSpPr/>
          <p:nvPr/>
        </p:nvSpPr>
        <p:spPr>
          <a:xfrm>
            <a:off x="12466015" y="6858000"/>
            <a:ext cx="5257800" cy="1742846"/>
          </a:xfrm>
          <a:prstGeom prst="rect">
            <a:avLst/>
          </a:prstGeom>
          <a:solidFill>
            <a:srgbClr val="FFFFFF"/>
          </a:solidFill>
          <a:ln w="12700">
            <a:solidFill>
              <a:srgbClr val="C4CDD9"/>
            </a:solidFill>
            <a:prstDash val="solid"/>
          </a:ln>
        </p:spPr>
      </p:sp>
      <p:sp>
        <p:nvSpPr>
          <p:cNvPr id="106" name="Text 93"/>
          <p:cNvSpPr txBox="1"/>
          <p:nvPr/>
        </p:nvSpPr>
        <p:spPr>
          <a:xfrm>
            <a:off x="12722962" y="7077456"/>
            <a:ext cx="4743907" cy="191110"/>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Best site σ</a:t>
            </a:r>
            <a:endParaRPr lang="en-US" sz="975" dirty="0"/>
          </a:p>
        </p:txBody>
      </p:sp>
      <p:sp>
        <p:nvSpPr>
          <p:cNvPr id="107" name="Text 94"/>
          <p:cNvSpPr txBox="1"/>
          <p:nvPr/>
        </p:nvSpPr>
        <p:spPr>
          <a:xfrm>
            <a:off x="12722962" y="7343546"/>
            <a:ext cx="4743907" cy="514807"/>
          </a:xfrm>
          <a:prstGeom prst="rect">
            <a:avLst/>
          </a:prstGeom>
          <a:noFill/>
          <a:ln/>
        </p:spPr>
        <p:txBody>
          <a:bodyPr wrap="none" lIns="0" tIns="0" rIns="0" bIns="0" rtlCol="0" anchor="ctr"/>
          <a:lstStyle/>
          <a:p>
            <a:pPr algn="l" indent="0" marL="0">
              <a:buNone/>
            </a:pPr>
            <a:r>
              <a:rPr lang="en-US" sz="4050" b="1" dirty="0">
                <a:solidFill>
                  <a:srgbClr val="2D6F8C"/>
                </a:solidFill>
                <a:latin typeface="IBM Plex Sans KR" pitchFamily="34" charset="0"/>
                <a:ea typeface="IBM Plex Sans KR" pitchFamily="34" charset="-122"/>
                <a:cs typeface="IBM Plex Sans KR" pitchFamily="34" charset="-120"/>
              </a:rPr>
              <a:t>0.48</a:t>
            </a:r>
            <a:endParaRPr lang="en-US" sz="4050" dirty="0"/>
          </a:p>
        </p:txBody>
      </p:sp>
      <p:pic>
        <p:nvPicPr>
          <p:cNvPr id="108" name="Image 10" descr="gen-dedup-3613979705dd1fbd4015dc71639ff1a9.png">    </p:cNvPr>
          <p:cNvPicPr>
            <a:picLocks noChangeAspect="1"/>
          </p:cNvPicPr>
          <p:nvPr/>
        </p:nvPicPr>
        <p:blipFill>
          <a:blip r:embed="rId11"/>
          <a:srcRect l="-404" r="-404" t="0" b="0"/>
          <a:stretch/>
        </p:blipFill>
        <p:spPr>
          <a:xfrm>
            <a:off x="12722962" y="7991856"/>
            <a:ext cx="457200" cy="28346"/>
          </a:xfrm>
          <a:prstGeom prst="rect">
            <a:avLst/>
          </a:prstGeom>
        </p:spPr>
      </p:pic>
      <p:sp>
        <p:nvSpPr>
          <p:cNvPr id="109" name="Text 95"/>
          <p:cNvSpPr txBox="1"/>
          <p:nvPr/>
        </p:nvSpPr>
        <p:spPr>
          <a:xfrm>
            <a:off x="12722962" y="8153705"/>
            <a:ext cx="4743907" cy="228600"/>
          </a:xfrm>
          <a:prstGeom prst="rect">
            <a:avLst/>
          </a:prstGeom>
          <a:noFill/>
          <a:ln/>
        </p:spPr>
        <p:txBody>
          <a:bodyPr wrap="none" lIns="0" tIns="0" rIns="0" bIns="0" rtlCol="0" anchor="ctr"/>
          <a:lstStyle/>
          <a:p>
            <a:pPr algn="l" indent="0" marL="0">
              <a:buNone/>
            </a:pPr>
            <a:r>
              <a:rPr lang="en-US" sz="1200" dirty="0">
                <a:solidFill>
                  <a:srgbClr val="2F3D54"/>
                </a:solidFill>
                <a:latin typeface="IBM Plex Sans KR" pitchFamily="34" charset="0"/>
                <a:ea typeface="IBM Plex Sans KR" pitchFamily="34" charset="-122"/>
                <a:cs typeface="IBM Plex Sans KR" pitchFamily="34" charset="-120"/>
              </a:rPr>
              <a:t>W06 (MOR) 가장 안정적인 wafer, 0.48 nm site σ 기록.</a:t>
            </a:r>
            <a:endParaRPr lang="en-US" sz="1200" dirty="0"/>
          </a:p>
        </p:txBody>
      </p:sp>
      <p:sp>
        <p:nvSpPr>
          <p:cNvPr id="110" name="Shape 96"/>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111" name="Text 97"/>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112" name="Image 11" descr="gen-dedup-2384ac9fd3012b414377934d98f26f83.png">    </p:cNvPr>
          <p:cNvPicPr>
            <a:picLocks noChangeAspect="1"/>
          </p:cNvPicPr>
          <p:nvPr/>
        </p:nvPicPr>
        <p:blipFill>
          <a:blip r:embed="rId12"/>
          <a:srcRect l="0" r="0" t="-2083" b="-2083"/>
          <a:stretch/>
        </p:blipFill>
        <p:spPr>
          <a:xfrm>
            <a:off x="2288743" y="8934602"/>
            <a:ext cx="9144" cy="228600"/>
          </a:xfrm>
          <a:prstGeom prst="rect">
            <a:avLst/>
          </a:prstGeom>
        </p:spPr>
      </p:pic>
      <p:sp>
        <p:nvSpPr>
          <p:cNvPr id="113" name="Text 98"/>
          <p:cNvSpPr txBox="1"/>
          <p:nvPr/>
        </p:nvSpPr>
        <p:spPr>
          <a:xfrm>
            <a:off x="2469794" y="8915400"/>
            <a:ext cx="8439912"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MOR은 wafer 3매 모두 WIWNU &lt; 2.1%, site σ &lt; 0.55 nm, CAR 대비 균일도가 평균 2.3배 안정적.</a:t>
            </a:r>
            <a:endParaRPr lang="en-US" sz="1500" dirty="0"/>
          </a:p>
        </p:txBody>
      </p:sp>
      <p:sp>
        <p:nvSpPr>
          <p:cNvPr id="114" name="Text 99"/>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07 of 12 · WIWNU / WIDNU</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
            <a:ext cx="3475634"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08 / 25pt wafer measurement map</a:t>
            </a:r>
            <a:endParaRPr lang="en-US" sz="1050" dirty="0"/>
          </a:p>
        </p:txBody>
      </p:sp>
      <p:pic>
        <p:nvPicPr>
          <p:cNvPr id="5" name="Image 1" descr="gen-dedup-72c8c855dd65dd3f7a058d199e994252.png">    </p:cNvPr>
          <p:cNvPicPr>
            <a:picLocks noChangeAspect="1"/>
          </p:cNvPicPr>
          <p:nvPr/>
        </p:nvPicPr>
        <p:blipFill>
          <a:blip r:embed="rId2"/>
          <a:srcRect l="-2083" r="-2083" t="0" b="0"/>
          <a:stretch/>
        </p:blipFill>
        <p:spPr>
          <a:xfrm>
            <a:off x="3974897" y="666598"/>
            <a:ext cx="342900" cy="9144"/>
          </a:xfrm>
          <a:prstGeom prst="rect">
            <a:avLst/>
          </a:prstGeom>
        </p:spPr>
      </p:pic>
      <p:sp>
        <p:nvSpPr>
          <p:cNvPr id="6" name="Text 1"/>
          <p:cNvSpPr txBox="1"/>
          <p:nvPr/>
        </p:nvSpPr>
        <p:spPr>
          <a:xfrm>
            <a:off x="4451299" y="571500"/>
            <a:ext cx="248259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representative wafer · AASI</a:t>
            </a:r>
            <a:endParaRPr lang="en-US" sz="1050" dirty="0"/>
          </a:p>
        </p:txBody>
      </p:sp>
      <p:sp>
        <p:nvSpPr>
          <p:cNvPr id="7" name="Text 2"/>
          <p:cNvSpPr txBox="1"/>
          <p:nvPr/>
        </p:nvSpPr>
        <p:spPr>
          <a:xfrm>
            <a:off x="571500" y="905256"/>
            <a:ext cx="1714500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25pt wafer map — W01 (CAR) vs W04 (MOR)</a:t>
            </a:r>
            <a:endParaRPr lang="en-US" sz="3450" dirty="0"/>
          </a:p>
        </p:txBody>
      </p:sp>
      <p:pic>
        <p:nvPicPr>
          <p:cNvPr id="8"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9" name="Shape 3"/>
          <p:cNvSpPr/>
          <p:nvPr/>
        </p:nvSpPr>
        <p:spPr>
          <a:xfrm>
            <a:off x="571500" y="2200046"/>
            <a:ext cx="133502" cy="133502"/>
          </a:xfrm>
          <a:prstGeom prst="rect">
            <a:avLst/>
          </a:prstGeom>
          <a:solidFill>
            <a:srgbClr val="B85C46"/>
          </a:solidFill>
          <a:ln w="12700">
            <a:solidFill>
              <a:srgbClr val="FFFFFF">
                <a:alpha val="0"/>
              </a:srgbClr>
            </a:solidFill>
            <a:prstDash val="solid"/>
          </a:ln>
        </p:spPr>
      </p:sp>
      <p:sp>
        <p:nvSpPr>
          <p:cNvPr id="10" name="Text 4"/>
          <p:cNvSpPr txBox="1"/>
          <p:nvPr/>
        </p:nvSpPr>
        <p:spPr>
          <a:xfrm>
            <a:off x="838505" y="2095805"/>
            <a:ext cx="1322222" cy="342900"/>
          </a:xfrm>
          <a:prstGeom prst="rect">
            <a:avLst/>
          </a:prstGeom>
          <a:noFill/>
          <a:ln/>
        </p:spPr>
        <p:txBody>
          <a:bodyPr wrap="none" lIns="0" tIns="0" rIns="0" bIns="0" rtlCol="0" anchor="ctr"/>
          <a:lstStyle/>
          <a:p>
            <a:pPr algn="l" indent="0" marL="0">
              <a:buNone/>
            </a:pPr>
            <a:r>
              <a:rPr lang="en-US" sz="1800" b="1" dirty="0">
                <a:solidFill>
                  <a:srgbClr val="1B2C45"/>
                </a:solidFill>
                <a:latin typeface="IBM Plex Sans KR" pitchFamily="34" charset="0"/>
                <a:ea typeface="IBM Plex Sans KR" pitchFamily="34" charset="-122"/>
                <a:cs typeface="IBM Plex Sans KR" pitchFamily="34" charset="-120"/>
              </a:rPr>
              <a:t>W01 · CAR</a:t>
            </a:r>
            <a:endParaRPr lang="en-US" sz="1800" dirty="0"/>
          </a:p>
        </p:txBody>
      </p:sp>
      <p:sp>
        <p:nvSpPr>
          <p:cNvPr id="11" name="Text 5"/>
          <p:cNvSpPr txBox="1"/>
          <p:nvPr/>
        </p:nvSpPr>
        <p:spPr>
          <a:xfrm>
            <a:off x="7649870" y="2167128"/>
            <a:ext cx="1791310" cy="200254"/>
          </a:xfrm>
          <a:prstGeom prst="rect">
            <a:avLst/>
          </a:prstGeom>
          <a:noFill/>
          <a:ln/>
        </p:spPr>
        <p:txBody>
          <a:bodyPr wrap="none" lIns="0" tIns="0" rIns="0" bIns="0" rtlCol="0" anchor="ctr"/>
          <a:lstStyle/>
          <a:p>
            <a:pPr algn="l" indent="0" marL="0">
              <a:buNone/>
            </a:pPr>
            <a:r>
              <a:rPr lang="en-US" sz="1050" spc="168" kern="0" dirty="0">
                <a:solidFill>
                  <a:srgbClr val="5C6B82"/>
                </a:solidFill>
                <a:latin typeface="IBM Plex Sans KR" pitchFamily="34" charset="0"/>
                <a:ea typeface="IBM Plex Sans KR" pitchFamily="34" charset="-122"/>
                <a:cs typeface="IBM Plex Sans KR" pitchFamily="34" charset="-120"/>
              </a:rPr>
              <a:t>25 sites · 5 × 5</a:t>
            </a:r>
            <a:endParaRPr lang="en-US" sz="1050" dirty="0"/>
          </a:p>
        </p:txBody>
      </p:sp>
      <p:sp>
        <p:nvSpPr>
          <p:cNvPr id="12" name="Text 6"/>
          <p:cNvSpPr txBox="1"/>
          <p:nvPr/>
        </p:nvSpPr>
        <p:spPr>
          <a:xfrm>
            <a:off x="1333195" y="3010205"/>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25.8</a:t>
            </a:r>
            <a:endParaRPr lang="en-US" sz="1650" dirty="0"/>
          </a:p>
        </p:txBody>
      </p:sp>
      <p:sp>
        <p:nvSpPr>
          <p:cNvPr id="13" name="Text 7"/>
          <p:cNvSpPr txBox="1"/>
          <p:nvPr/>
        </p:nvSpPr>
        <p:spPr>
          <a:xfrm>
            <a:off x="2704795" y="3010205"/>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25.5</a:t>
            </a:r>
            <a:endParaRPr lang="en-US" sz="1650" dirty="0"/>
          </a:p>
        </p:txBody>
      </p:sp>
      <p:sp>
        <p:nvSpPr>
          <p:cNvPr id="14" name="Text 8"/>
          <p:cNvSpPr txBox="1"/>
          <p:nvPr/>
        </p:nvSpPr>
        <p:spPr>
          <a:xfrm>
            <a:off x="4076395" y="3010205"/>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25.4</a:t>
            </a:r>
            <a:endParaRPr lang="en-US" sz="1650" dirty="0"/>
          </a:p>
        </p:txBody>
      </p:sp>
      <p:sp>
        <p:nvSpPr>
          <p:cNvPr id="15" name="Text 9"/>
          <p:cNvSpPr txBox="1"/>
          <p:nvPr/>
        </p:nvSpPr>
        <p:spPr>
          <a:xfrm>
            <a:off x="5447995" y="3010205"/>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25.3</a:t>
            </a:r>
            <a:endParaRPr lang="en-US" sz="1650" dirty="0"/>
          </a:p>
        </p:txBody>
      </p:sp>
      <p:sp>
        <p:nvSpPr>
          <p:cNvPr id="16" name="Text 10"/>
          <p:cNvSpPr txBox="1"/>
          <p:nvPr/>
        </p:nvSpPr>
        <p:spPr>
          <a:xfrm>
            <a:off x="6819595" y="3010205"/>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25.6</a:t>
            </a:r>
            <a:endParaRPr lang="en-US" sz="1650" dirty="0"/>
          </a:p>
        </p:txBody>
      </p:sp>
      <p:sp>
        <p:nvSpPr>
          <p:cNvPr id="17" name="Text 11"/>
          <p:cNvSpPr txBox="1"/>
          <p:nvPr/>
        </p:nvSpPr>
        <p:spPr>
          <a:xfrm>
            <a:off x="1333195" y="4000500"/>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25.5</a:t>
            </a:r>
            <a:endParaRPr lang="en-US" sz="1650" dirty="0"/>
          </a:p>
        </p:txBody>
      </p:sp>
      <p:sp>
        <p:nvSpPr>
          <p:cNvPr id="18" name="Text 12"/>
          <p:cNvSpPr txBox="1"/>
          <p:nvPr/>
        </p:nvSpPr>
        <p:spPr>
          <a:xfrm>
            <a:off x="2704795" y="4000500"/>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25.3</a:t>
            </a:r>
            <a:endParaRPr lang="en-US" sz="1650" dirty="0"/>
          </a:p>
        </p:txBody>
      </p:sp>
      <p:sp>
        <p:nvSpPr>
          <p:cNvPr id="19" name="Text 13"/>
          <p:cNvSpPr txBox="1"/>
          <p:nvPr/>
        </p:nvSpPr>
        <p:spPr>
          <a:xfrm>
            <a:off x="4076395" y="4000500"/>
            <a:ext cx="1353312" cy="972007"/>
          </a:xfrm>
          <a:prstGeom prst="rect">
            <a:avLst/>
          </a:prstGeom>
          <a:solidFill>
            <a:srgbClr val="EDE0DA"/>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25.2</a:t>
            </a:r>
            <a:endParaRPr lang="en-US" sz="1650" dirty="0"/>
          </a:p>
        </p:txBody>
      </p:sp>
      <p:sp>
        <p:nvSpPr>
          <p:cNvPr id="20" name="Text 14"/>
          <p:cNvSpPr txBox="1"/>
          <p:nvPr/>
        </p:nvSpPr>
        <p:spPr>
          <a:xfrm>
            <a:off x="5447995" y="4000500"/>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25.4</a:t>
            </a:r>
            <a:endParaRPr lang="en-US" sz="1650" dirty="0"/>
          </a:p>
        </p:txBody>
      </p:sp>
      <p:sp>
        <p:nvSpPr>
          <p:cNvPr id="21" name="Text 15"/>
          <p:cNvSpPr txBox="1"/>
          <p:nvPr/>
        </p:nvSpPr>
        <p:spPr>
          <a:xfrm>
            <a:off x="6819595" y="4000500"/>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25.7</a:t>
            </a:r>
            <a:endParaRPr lang="en-US" sz="1650" dirty="0"/>
          </a:p>
        </p:txBody>
      </p:sp>
      <p:sp>
        <p:nvSpPr>
          <p:cNvPr id="22" name="Text 16"/>
          <p:cNvSpPr txBox="1"/>
          <p:nvPr/>
        </p:nvSpPr>
        <p:spPr>
          <a:xfrm>
            <a:off x="1333195" y="4990795"/>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25.4</a:t>
            </a:r>
            <a:endParaRPr lang="en-US" sz="1650" dirty="0"/>
          </a:p>
        </p:txBody>
      </p:sp>
      <p:sp>
        <p:nvSpPr>
          <p:cNvPr id="23" name="Text 17"/>
          <p:cNvSpPr txBox="1"/>
          <p:nvPr/>
        </p:nvSpPr>
        <p:spPr>
          <a:xfrm>
            <a:off x="2704795" y="4990795"/>
            <a:ext cx="1353312" cy="972007"/>
          </a:xfrm>
          <a:prstGeom prst="rect">
            <a:avLst/>
          </a:prstGeom>
          <a:solidFill>
            <a:srgbClr val="EDE0DA"/>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25.2</a:t>
            </a:r>
            <a:endParaRPr lang="en-US" sz="1650" dirty="0"/>
          </a:p>
        </p:txBody>
      </p:sp>
      <p:sp>
        <p:nvSpPr>
          <p:cNvPr id="24" name="Text 18"/>
          <p:cNvSpPr txBox="1"/>
          <p:nvPr/>
        </p:nvSpPr>
        <p:spPr>
          <a:xfrm>
            <a:off x="4076395" y="4990795"/>
            <a:ext cx="1353312" cy="972007"/>
          </a:xfrm>
          <a:prstGeom prst="rect">
            <a:avLst/>
          </a:prstGeom>
          <a:solidFill>
            <a:srgbClr val="ECDDD5"/>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25.3</a:t>
            </a:r>
            <a:endParaRPr lang="en-US" sz="1650" dirty="0"/>
          </a:p>
        </p:txBody>
      </p:sp>
      <p:sp>
        <p:nvSpPr>
          <p:cNvPr id="25" name="Text 19"/>
          <p:cNvSpPr txBox="1"/>
          <p:nvPr/>
        </p:nvSpPr>
        <p:spPr>
          <a:xfrm>
            <a:off x="5447995" y="4990795"/>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25.4</a:t>
            </a:r>
            <a:endParaRPr lang="en-US" sz="1650" dirty="0"/>
          </a:p>
        </p:txBody>
      </p:sp>
      <p:sp>
        <p:nvSpPr>
          <p:cNvPr id="26" name="Text 20"/>
          <p:cNvSpPr txBox="1"/>
          <p:nvPr/>
        </p:nvSpPr>
        <p:spPr>
          <a:xfrm>
            <a:off x="6819595" y="4990795"/>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25.6</a:t>
            </a:r>
            <a:endParaRPr lang="en-US" sz="1650" dirty="0"/>
          </a:p>
        </p:txBody>
      </p:sp>
      <p:sp>
        <p:nvSpPr>
          <p:cNvPr id="27" name="Text 21"/>
          <p:cNvSpPr txBox="1"/>
          <p:nvPr/>
        </p:nvSpPr>
        <p:spPr>
          <a:xfrm>
            <a:off x="1333195" y="5982005"/>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25.6</a:t>
            </a:r>
            <a:endParaRPr lang="en-US" sz="1650" dirty="0"/>
          </a:p>
        </p:txBody>
      </p:sp>
      <p:sp>
        <p:nvSpPr>
          <p:cNvPr id="28" name="Text 22"/>
          <p:cNvSpPr txBox="1"/>
          <p:nvPr/>
        </p:nvSpPr>
        <p:spPr>
          <a:xfrm>
            <a:off x="2704795" y="5982005"/>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25.4</a:t>
            </a:r>
            <a:endParaRPr lang="en-US" sz="1650" dirty="0"/>
          </a:p>
        </p:txBody>
      </p:sp>
      <p:sp>
        <p:nvSpPr>
          <p:cNvPr id="29" name="Text 23"/>
          <p:cNvSpPr txBox="1"/>
          <p:nvPr/>
        </p:nvSpPr>
        <p:spPr>
          <a:xfrm>
            <a:off x="4076395" y="5982005"/>
            <a:ext cx="1353312" cy="972007"/>
          </a:xfrm>
          <a:prstGeom prst="rect">
            <a:avLst/>
          </a:prstGeom>
          <a:solidFill>
            <a:srgbClr val="ECDAD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25.3</a:t>
            </a:r>
            <a:endParaRPr lang="en-US" sz="1650" dirty="0"/>
          </a:p>
        </p:txBody>
      </p:sp>
      <p:sp>
        <p:nvSpPr>
          <p:cNvPr id="30" name="Text 24"/>
          <p:cNvSpPr txBox="1"/>
          <p:nvPr/>
        </p:nvSpPr>
        <p:spPr>
          <a:xfrm>
            <a:off x="5447995" y="5982005"/>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25.5</a:t>
            </a:r>
            <a:endParaRPr lang="en-US" sz="1650" dirty="0"/>
          </a:p>
        </p:txBody>
      </p:sp>
      <p:sp>
        <p:nvSpPr>
          <p:cNvPr id="31" name="Text 25"/>
          <p:cNvSpPr txBox="1"/>
          <p:nvPr/>
        </p:nvSpPr>
        <p:spPr>
          <a:xfrm>
            <a:off x="6819595" y="5982005"/>
            <a:ext cx="1353312" cy="972007"/>
          </a:xfrm>
          <a:prstGeom prst="rect">
            <a:avLst/>
          </a:prstGeom>
          <a:solidFill>
            <a:srgbClr val="E5CCC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25.7</a:t>
            </a:r>
            <a:endParaRPr lang="en-US" sz="1650" dirty="0"/>
          </a:p>
        </p:txBody>
      </p:sp>
      <p:sp>
        <p:nvSpPr>
          <p:cNvPr id="32" name="Text 26"/>
          <p:cNvSpPr txBox="1"/>
          <p:nvPr/>
        </p:nvSpPr>
        <p:spPr>
          <a:xfrm>
            <a:off x="1333195" y="6972300"/>
            <a:ext cx="1353312" cy="972007"/>
          </a:xfrm>
          <a:prstGeom prst="rect">
            <a:avLst/>
          </a:prstGeom>
          <a:solidFill>
            <a:srgbClr val="E5CCC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25.8</a:t>
            </a:r>
            <a:endParaRPr lang="en-US" sz="1650" dirty="0"/>
          </a:p>
        </p:txBody>
      </p:sp>
      <p:sp>
        <p:nvSpPr>
          <p:cNvPr id="33" name="Text 27"/>
          <p:cNvSpPr txBox="1"/>
          <p:nvPr/>
        </p:nvSpPr>
        <p:spPr>
          <a:xfrm>
            <a:off x="2704795" y="6972300"/>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25.6</a:t>
            </a:r>
            <a:endParaRPr lang="en-US" sz="1650" dirty="0"/>
          </a:p>
        </p:txBody>
      </p:sp>
      <p:sp>
        <p:nvSpPr>
          <p:cNvPr id="34" name="Text 28"/>
          <p:cNvSpPr txBox="1"/>
          <p:nvPr/>
        </p:nvSpPr>
        <p:spPr>
          <a:xfrm>
            <a:off x="4076395" y="6972300"/>
            <a:ext cx="1353312" cy="972007"/>
          </a:xfrm>
          <a:prstGeom prst="rect">
            <a:avLst/>
          </a:prstGeom>
          <a:solidFill>
            <a:srgbClr val="EBD8D0"/>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25.5</a:t>
            </a:r>
            <a:endParaRPr lang="en-US" sz="1650" dirty="0"/>
          </a:p>
        </p:txBody>
      </p:sp>
      <p:sp>
        <p:nvSpPr>
          <p:cNvPr id="35" name="Text 29"/>
          <p:cNvSpPr txBox="1"/>
          <p:nvPr/>
        </p:nvSpPr>
        <p:spPr>
          <a:xfrm>
            <a:off x="5447995" y="6972300"/>
            <a:ext cx="1353312" cy="972007"/>
          </a:xfrm>
          <a:prstGeom prst="rect">
            <a:avLst/>
          </a:prstGeom>
          <a:solidFill>
            <a:srgbClr val="E8D2C8"/>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25.6</a:t>
            </a:r>
            <a:endParaRPr lang="en-US" sz="1650" dirty="0"/>
          </a:p>
        </p:txBody>
      </p:sp>
      <p:sp>
        <p:nvSpPr>
          <p:cNvPr id="36" name="Text 30"/>
          <p:cNvSpPr txBox="1"/>
          <p:nvPr/>
        </p:nvSpPr>
        <p:spPr>
          <a:xfrm>
            <a:off x="6819595" y="6972300"/>
            <a:ext cx="1353312" cy="972007"/>
          </a:xfrm>
          <a:prstGeom prst="rect">
            <a:avLst/>
          </a:prstGeom>
          <a:solidFill>
            <a:srgbClr val="E5CCC2"/>
          </a:solidFill>
          <a:ln w="12700">
            <a:solidFill>
              <a:srgbClr val="B85C46"/>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25.8</a:t>
            </a:r>
            <a:endParaRPr lang="en-US" sz="1650" dirty="0"/>
          </a:p>
        </p:txBody>
      </p:sp>
      <p:sp>
        <p:nvSpPr>
          <p:cNvPr id="37" name="Text 31"/>
          <p:cNvSpPr txBox="1"/>
          <p:nvPr/>
        </p:nvSpPr>
        <p:spPr>
          <a:xfrm>
            <a:off x="571500" y="8076895"/>
            <a:ext cx="3375965" cy="191110"/>
          </a:xfrm>
          <a:prstGeom prst="rect">
            <a:avLst/>
          </a:prstGeom>
          <a:noFill/>
          <a:ln/>
        </p:spPr>
        <p:txBody>
          <a:bodyPr wrap="none" lIns="0" tIns="0" rIns="0" bIns="0" rtlCol="0" anchor="ctr"/>
          <a:lstStyle/>
          <a:p>
            <a:pPr algn="l" indent="0" marL="0">
              <a:buNone/>
            </a:pPr>
            <a:r>
              <a:rPr lang="en-US" sz="975" spc="176" kern="0" dirty="0">
                <a:solidFill>
                  <a:srgbClr val="5C6B82"/>
                </a:solidFill>
                <a:latin typeface="IBM Plex Sans KR" pitchFamily="34" charset="0"/>
                <a:ea typeface="IBM Plex Sans KR" pitchFamily="34" charset="-122"/>
                <a:cs typeface="IBM Plex Sans KR" pitchFamily="34" charset="-120"/>
              </a:rPr>
              <a:t>mean 25.42 · 3σ 1.21 · WIWNU 4.62%</a:t>
            </a:r>
            <a:endParaRPr lang="en-US" sz="975" dirty="0"/>
          </a:p>
        </p:txBody>
      </p:sp>
      <p:sp>
        <p:nvSpPr>
          <p:cNvPr id="38" name="Shape 32"/>
          <p:cNvSpPr/>
          <p:nvPr/>
        </p:nvSpPr>
        <p:spPr>
          <a:xfrm>
            <a:off x="9334195" y="2200046"/>
            <a:ext cx="133502" cy="133502"/>
          </a:xfrm>
          <a:prstGeom prst="rect">
            <a:avLst/>
          </a:prstGeom>
          <a:solidFill>
            <a:srgbClr val="2D6F8C"/>
          </a:solidFill>
          <a:ln w="12700">
            <a:solidFill>
              <a:srgbClr val="FFFFFF">
                <a:alpha val="0"/>
              </a:srgbClr>
            </a:solidFill>
            <a:prstDash val="solid"/>
          </a:ln>
        </p:spPr>
      </p:sp>
      <p:sp>
        <p:nvSpPr>
          <p:cNvPr id="39" name="Text 33"/>
          <p:cNvSpPr txBox="1"/>
          <p:nvPr/>
        </p:nvSpPr>
        <p:spPr>
          <a:xfrm>
            <a:off x="9601200" y="2095805"/>
            <a:ext cx="1324051" cy="342900"/>
          </a:xfrm>
          <a:prstGeom prst="rect">
            <a:avLst/>
          </a:prstGeom>
          <a:noFill/>
          <a:ln/>
        </p:spPr>
        <p:txBody>
          <a:bodyPr wrap="none" lIns="0" tIns="0" rIns="0" bIns="0" rtlCol="0" anchor="ctr"/>
          <a:lstStyle/>
          <a:p>
            <a:pPr algn="l" indent="0" marL="0">
              <a:buNone/>
            </a:pPr>
            <a:r>
              <a:rPr lang="en-US" sz="1800" b="1" dirty="0">
                <a:solidFill>
                  <a:srgbClr val="1B2C45"/>
                </a:solidFill>
                <a:latin typeface="IBM Plex Sans KR" pitchFamily="34" charset="0"/>
                <a:ea typeface="IBM Plex Sans KR" pitchFamily="34" charset="-122"/>
                <a:cs typeface="IBM Plex Sans KR" pitchFamily="34" charset="-120"/>
              </a:rPr>
              <a:t>W04 · MOR</a:t>
            </a:r>
            <a:endParaRPr lang="en-US" sz="1800" dirty="0"/>
          </a:p>
        </p:txBody>
      </p:sp>
      <p:sp>
        <p:nvSpPr>
          <p:cNvPr id="40" name="Text 34"/>
          <p:cNvSpPr txBox="1"/>
          <p:nvPr/>
        </p:nvSpPr>
        <p:spPr>
          <a:xfrm>
            <a:off x="16412566" y="2167128"/>
            <a:ext cx="1791310" cy="200254"/>
          </a:xfrm>
          <a:prstGeom prst="rect">
            <a:avLst/>
          </a:prstGeom>
          <a:noFill/>
          <a:ln/>
        </p:spPr>
        <p:txBody>
          <a:bodyPr wrap="none" lIns="0" tIns="0" rIns="0" bIns="0" rtlCol="0" anchor="ctr"/>
          <a:lstStyle/>
          <a:p>
            <a:pPr algn="l" indent="0" marL="0">
              <a:buNone/>
            </a:pPr>
            <a:r>
              <a:rPr lang="en-US" sz="1050" spc="168" kern="0" dirty="0">
                <a:solidFill>
                  <a:srgbClr val="5C6B82"/>
                </a:solidFill>
                <a:latin typeface="IBM Plex Sans KR" pitchFamily="34" charset="0"/>
                <a:ea typeface="IBM Plex Sans KR" pitchFamily="34" charset="-122"/>
                <a:cs typeface="IBM Plex Sans KR" pitchFamily="34" charset="-120"/>
              </a:rPr>
              <a:t>25 sites · 5 × 5</a:t>
            </a:r>
            <a:endParaRPr lang="en-US" sz="1050" dirty="0"/>
          </a:p>
        </p:txBody>
      </p:sp>
      <p:sp>
        <p:nvSpPr>
          <p:cNvPr id="41" name="Text 35"/>
          <p:cNvSpPr txBox="1"/>
          <p:nvPr/>
        </p:nvSpPr>
        <p:spPr>
          <a:xfrm>
            <a:off x="10096805" y="3010205"/>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42" name="Text 36"/>
          <p:cNvSpPr txBox="1"/>
          <p:nvPr/>
        </p:nvSpPr>
        <p:spPr>
          <a:xfrm>
            <a:off x="11468405" y="301020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43" name="Text 37"/>
          <p:cNvSpPr txBox="1"/>
          <p:nvPr/>
        </p:nvSpPr>
        <p:spPr>
          <a:xfrm>
            <a:off x="12840005" y="3010205"/>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44" name="Text 38"/>
          <p:cNvSpPr txBox="1"/>
          <p:nvPr/>
        </p:nvSpPr>
        <p:spPr>
          <a:xfrm>
            <a:off x="14211605" y="301020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45" name="Text 39"/>
          <p:cNvSpPr txBox="1"/>
          <p:nvPr/>
        </p:nvSpPr>
        <p:spPr>
          <a:xfrm>
            <a:off x="15583205" y="3010205"/>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46" name="Text 40"/>
          <p:cNvSpPr txBox="1"/>
          <p:nvPr/>
        </p:nvSpPr>
        <p:spPr>
          <a:xfrm>
            <a:off x="10096805" y="4000500"/>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47" name="Text 41"/>
          <p:cNvSpPr txBox="1"/>
          <p:nvPr/>
        </p:nvSpPr>
        <p:spPr>
          <a:xfrm>
            <a:off x="11468405" y="4000500"/>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48" name="Text 42"/>
          <p:cNvSpPr txBox="1"/>
          <p:nvPr/>
        </p:nvSpPr>
        <p:spPr>
          <a:xfrm>
            <a:off x="12840005" y="4000500"/>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49" name="Text 43"/>
          <p:cNvSpPr txBox="1"/>
          <p:nvPr/>
        </p:nvSpPr>
        <p:spPr>
          <a:xfrm>
            <a:off x="14211605" y="4000500"/>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50" name="Text 44"/>
          <p:cNvSpPr txBox="1"/>
          <p:nvPr/>
        </p:nvSpPr>
        <p:spPr>
          <a:xfrm>
            <a:off x="15583205" y="4000500"/>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51" name="Text 45"/>
          <p:cNvSpPr txBox="1"/>
          <p:nvPr/>
        </p:nvSpPr>
        <p:spPr>
          <a:xfrm>
            <a:off x="10096805" y="4990795"/>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52" name="Text 46"/>
          <p:cNvSpPr txBox="1"/>
          <p:nvPr/>
        </p:nvSpPr>
        <p:spPr>
          <a:xfrm>
            <a:off x="11468405" y="499079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53" name="Text 47"/>
          <p:cNvSpPr txBox="1"/>
          <p:nvPr/>
        </p:nvSpPr>
        <p:spPr>
          <a:xfrm>
            <a:off x="12840005" y="4990795"/>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54" name="Text 48"/>
          <p:cNvSpPr txBox="1"/>
          <p:nvPr/>
        </p:nvSpPr>
        <p:spPr>
          <a:xfrm>
            <a:off x="14211605" y="499079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55" name="Text 49"/>
          <p:cNvSpPr txBox="1"/>
          <p:nvPr/>
        </p:nvSpPr>
        <p:spPr>
          <a:xfrm>
            <a:off x="15583205" y="4990795"/>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56" name="Text 50"/>
          <p:cNvSpPr txBox="1"/>
          <p:nvPr/>
        </p:nvSpPr>
        <p:spPr>
          <a:xfrm>
            <a:off x="10096805" y="598200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57" name="Text 51"/>
          <p:cNvSpPr txBox="1"/>
          <p:nvPr/>
        </p:nvSpPr>
        <p:spPr>
          <a:xfrm>
            <a:off x="11468405" y="5982005"/>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58" name="Text 52"/>
          <p:cNvSpPr txBox="1"/>
          <p:nvPr/>
        </p:nvSpPr>
        <p:spPr>
          <a:xfrm>
            <a:off x="12840005" y="5982005"/>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59" name="Text 53"/>
          <p:cNvSpPr txBox="1"/>
          <p:nvPr/>
        </p:nvSpPr>
        <p:spPr>
          <a:xfrm>
            <a:off x="14211605" y="598200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60" name="Text 54"/>
          <p:cNvSpPr txBox="1"/>
          <p:nvPr/>
        </p:nvSpPr>
        <p:spPr>
          <a:xfrm>
            <a:off x="15583205" y="5982005"/>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61" name="Text 55"/>
          <p:cNvSpPr txBox="1"/>
          <p:nvPr/>
        </p:nvSpPr>
        <p:spPr>
          <a:xfrm>
            <a:off x="10096805" y="6972300"/>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62" name="Text 56"/>
          <p:cNvSpPr txBox="1"/>
          <p:nvPr/>
        </p:nvSpPr>
        <p:spPr>
          <a:xfrm>
            <a:off x="11468405" y="6972300"/>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63" name="Text 57"/>
          <p:cNvSpPr txBox="1"/>
          <p:nvPr/>
        </p:nvSpPr>
        <p:spPr>
          <a:xfrm>
            <a:off x="12840005" y="6972300"/>
            <a:ext cx="1353312" cy="972007"/>
          </a:xfrm>
          <a:prstGeom prst="rect">
            <a:avLst/>
          </a:prstGeom>
          <a:solidFill>
            <a:srgbClr val="DEE8EE"/>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24.9</a:t>
            </a:r>
            <a:endParaRPr lang="en-US" sz="1650" dirty="0"/>
          </a:p>
        </p:txBody>
      </p:sp>
      <p:sp>
        <p:nvSpPr>
          <p:cNvPr id="64" name="Text 58"/>
          <p:cNvSpPr txBox="1"/>
          <p:nvPr/>
        </p:nvSpPr>
        <p:spPr>
          <a:xfrm>
            <a:off x="14211605" y="6972300"/>
            <a:ext cx="1353312" cy="972007"/>
          </a:xfrm>
          <a:prstGeom prst="rect">
            <a:avLst/>
          </a:prstGeom>
          <a:solidFill>
            <a:srgbClr val="DCE6EC"/>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25.0</a:t>
            </a:r>
            <a:endParaRPr lang="en-US" sz="1650" dirty="0"/>
          </a:p>
        </p:txBody>
      </p:sp>
      <p:sp>
        <p:nvSpPr>
          <p:cNvPr id="65" name="Text 59"/>
          <p:cNvSpPr txBox="1"/>
          <p:nvPr/>
        </p:nvSpPr>
        <p:spPr>
          <a:xfrm>
            <a:off x="15583205" y="6972300"/>
            <a:ext cx="1353312" cy="972007"/>
          </a:xfrm>
          <a:prstGeom prst="rect">
            <a:avLst/>
          </a:prstGeom>
          <a:solidFill>
            <a:srgbClr val="D8E3EA"/>
          </a:solidFill>
          <a:ln w="12700">
            <a:solidFill>
              <a:srgbClr val="2D6F8C"/>
            </a:solidFill>
          </a:ln>
        </p:spPr>
        <p:txBody>
          <a:bodyPr wrap="square" lIns="0" tIns="0" rIns="0" bIns="0" rtlCol="0" anchor="ctr"/>
          <a:lstStyle/>
          <a:p>
            <a:pPr algn="ctr" indent="0" marL="0">
              <a:buNone/>
            </a:pPr>
            <a:r>
              <a:rPr lang="en-US" sz="1650" b="1" dirty="0">
                <a:solidFill>
                  <a:srgbClr val="2F3D54"/>
                </a:solidFill>
                <a:latin typeface="IBM Plex Sans KR" pitchFamily="34" charset="0"/>
                <a:ea typeface="IBM Plex Sans KR" pitchFamily="34" charset="-122"/>
                <a:cs typeface="IBM Plex Sans KR" pitchFamily="34" charset="-120"/>
              </a:rPr>
              <a:t>25.1</a:t>
            </a:r>
            <a:endParaRPr lang="en-US" sz="1650" dirty="0"/>
          </a:p>
        </p:txBody>
      </p:sp>
      <p:sp>
        <p:nvSpPr>
          <p:cNvPr id="66" name="Text 60"/>
          <p:cNvSpPr txBox="1"/>
          <p:nvPr/>
        </p:nvSpPr>
        <p:spPr>
          <a:xfrm>
            <a:off x="9334195" y="8076895"/>
            <a:ext cx="3375965" cy="191110"/>
          </a:xfrm>
          <a:prstGeom prst="rect">
            <a:avLst/>
          </a:prstGeom>
          <a:noFill/>
          <a:ln/>
        </p:spPr>
        <p:txBody>
          <a:bodyPr wrap="none" lIns="0" tIns="0" rIns="0" bIns="0" rtlCol="0" anchor="ctr"/>
          <a:lstStyle/>
          <a:p>
            <a:pPr algn="l" indent="0" marL="0">
              <a:buNone/>
            </a:pPr>
            <a:r>
              <a:rPr lang="en-US" sz="975" spc="176" kern="0" dirty="0">
                <a:solidFill>
                  <a:srgbClr val="5C6B82"/>
                </a:solidFill>
                <a:latin typeface="IBM Plex Sans KR" pitchFamily="34" charset="0"/>
                <a:ea typeface="IBM Plex Sans KR" pitchFamily="34" charset="-122"/>
                <a:cs typeface="IBM Plex Sans KR" pitchFamily="34" charset="-120"/>
              </a:rPr>
              <a:t>mean 25.04 · 3σ 0.61 · WIWNU 1.98%</a:t>
            </a:r>
            <a:endParaRPr lang="en-US" sz="975" dirty="0"/>
          </a:p>
        </p:txBody>
      </p:sp>
      <p:sp>
        <p:nvSpPr>
          <p:cNvPr id="67" name="Text 61"/>
          <p:cNvSpPr txBox="1"/>
          <p:nvPr/>
        </p:nvSpPr>
        <p:spPr>
          <a:xfrm>
            <a:off x="571500" y="8477402"/>
            <a:ext cx="2416759" cy="181051"/>
          </a:xfrm>
          <a:prstGeom prst="rect">
            <a:avLst/>
          </a:prstGeom>
          <a:noFill/>
          <a:ln/>
        </p:spPr>
        <p:txBody>
          <a:bodyPr wrap="none" lIns="0" tIns="0" rIns="0" bIns="0" rtlCol="0" anchor="ctr"/>
          <a:lstStyle/>
          <a:p>
            <a:pPr algn="l" indent="0" marL="0">
              <a:buNone/>
            </a:pPr>
            <a:r>
              <a:rPr lang="en-US" sz="975" spc="156" kern="0" dirty="0">
                <a:solidFill>
                  <a:srgbClr val="5C6B82"/>
                </a:solidFill>
                <a:latin typeface="IBM Plex Sans KR" pitchFamily="34" charset="0"/>
                <a:ea typeface="IBM Plex Sans KR" pitchFamily="34" charset="-122"/>
                <a:cs typeface="IBM Plex Sans KR" pitchFamily="34" charset="-120"/>
              </a:rPr>
              <a:t>Cell value — AASI CD (nm)</a:t>
            </a:r>
            <a:endParaRPr lang="en-US" sz="975" dirty="0"/>
          </a:p>
        </p:txBody>
      </p:sp>
      <p:sp>
        <p:nvSpPr>
          <p:cNvPr id="68" name="Shape 62"/>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69" name="Text 63"/>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70" name="Image 3" descr="gen-dedup-2384ac9fd3012b414377934d98f26f83.png">    </p:cNvPr>
          <p:cNvPicPr>
            <a:picLocks noChangeAspect="1"/>
          </p:cNvPicPr>
          <p:nvPr/>
        </p:nvPicPr>
        <p:blipFill>
          <a:blip r:embed="rId4"/>
          <a:srcRect l="0" r="0" t="-2083" b="-2083"/>
          <a:stretch/>
        </p:blipFill>
        <p:spPr>
          <a:xfrm>
            <a:off x="2288743" y="8934602"/>
            <a:ext cx="9144" cy="228600"/>
          </a:xfrm>
          <a:prstGeom prst="rect">
            <a:avLst/>
          </a:prstGeom>
        </p:spPr>
      </p:pic>
      <p:sp>
        <p:nvSpPr>
          <p:cNvPr id="71" name="Text 64"/>
          <p:cNvSpPr txBox="1"/>
          <p:nvPr/>
        </p:nvSpPr>
        <p:spPr>
          <a:xfrm>
            <a:off x="2469794" y="8915400"/>
            <a:ext cx="10449763"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W01 (CAR)은 가장자리 사이트에서 +0.4 nm 상승하는 ring-shaped drift, W04 (MOR)은 24.9 ~ 25.1 nm로 0.2 nm 내 분포.</a:t>
            </a:r>
            <a:endParaRPr lang="en-US" sz="1500" dirty="0"/>
          </a:p>
        </p:txBody>
      </p:sp>
      <p:sp>
        <p:nvSpPr>
          <p:cNvPr id="72" name="Text 65"/>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08 of 12 · 25 pt decomposition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571500" y="2286000"/>
            <a:ext cx="10306202" cy="6305702"/>
          </a:xfrm>
          <a:prstGeom prst="rect">
            <a:avLst/>
          </a:prstGeom>
          <a:solidFill>
            <a:srgbClr val="FFFFFF"/>
          </a:solidFill>
          <a:ln w="12700">
            <a:solidFill>
              <a:srgbClr val="C4CDD9"/>
            </a:solidFill>
            <a:prstDash val="solid"/>
          </a:ln>
        </p:spPr>
      </p:sp>
      <p:pic>
        <p:nvPicPr>
          <p:cNvPr id="5" name="Image 1" descr="gen-dedup-d57f812043c52235702bf6d3227acc5c.jpg">    </p:cNvPr>
          <p:cNvPicPr>
            <a:picLocks noChangeAspect="1"/>
          </p:cNvPicPr>
          <p:nvPr/>
        </p:nvPicPr>
        <p:blipFill>
          <a:blip r:embed="rId2"/>
          <a:srcRect l="-17400" r="-17400" t="0" b="0"/>
          <a:stretch/>
        </p:blipFill>
        <p:spPr>
          <a:xfrm>
            <a:off x="580644" y="2295144"/>
            <a:ext cx="10287000" cy="6286500"/>
          </a:xfrm>
          <a:prstGeom prst="rect">
            <a:avLst/>
          </a:prstGeom>
        </p:spPr>
      </p:pic>
      <p:sp>
        <p:nvSpPr>
          <p:cNvPr id="6" name="Text 1"/>
          <p:cNvSpPr txBox="1"/>
          <p:nvPr/>
        </p:nvSpPr>
        <p:spPr>
          <a:xfrm>
            <a:off x="571500" y="8686800"/>
            <a:ext cx="10287000"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출처: IOP Science — APEX 9, 031601 (2016), metal resist EUV STEM 단면 이미지</a:t>
            </a:r>
            <a:endParaRPr lang="en-US" sz="1050" dirty="0"/>
          </a:p>
        </p:txBody>
      </p:sp>
      <p:sp>
        <p:nvSpPr>
          <p:cNvPr id="7" name="Text 2"/>
          <p:cNvSpPr txBox="1"/>
          <p:nvPr/>
        </p:nvSpPr>
        <p:spPr>
          <a:xfrm>
            <a:off x="571500" y="571500"/>
            <a:ext cx="2921508"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09 / Cross-section imaging</a:t>
            </a:r>
            <a:endParaRPr lang="en-US" sz="1050" dirty="0"/>
          </a:p>
        </p:txBody>
      </p:sp>
      <p:pic>
        <p:nvPicPr>
          <p:cNvPr id="8" name="Image 2" descr="gen-dedup-72c8c855dd65dd3f7a058d199e994252.png">    </p:cNvPr>
          <p:cNvPicPr>
            <a:picLocks noChangeAspect="1"/>
          </p:cNvPicPr>
          <p:nvPr/>
        </p:nvPicPr>
        <p:blipFill>
          <a:blip r:embed="rId3"/>
          <a:srcRect l="-2083" r="-2083" t="0" b="0"/>
          <a:stretch/>
        </p:blipFill>
        <p:spPr>
          <a:xfrm>
            <a:off x="3373222" y="666598"/>
            <a:ext cx="342900" cy="9144"/>
          </a:xfrm>
          <a:prstGeom prst="rect">
            <a:avLst/>
          </a:prstGeom>
        </p:spPr>
      </p:pic>
      <p:sp>
        <p:nvSpPr>
          <p:cNvPr id="9" name="Text 3"/>
          <p:cNvSpPr txBox="1"/>
          <p:nvPr/>
        </p:nvSpPr>
        <p:spPr>
          <a:xfrm>
            <a:off x="3849624" y="571500"/>
            <a:ext cx="2585009"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post-development / pre-etch</a:t>
            </a:r>
            <a:endParaRPr lang="en-US" sz="1050" dirty="0"/>
          </a:p>
        </p:txBody>
      </p:sp>
      <p:sp>
        <p:nvSpPr>
          <p:cNvPr id="10" name="Text 4"/>
          <p:cNvSpPr txBox="1"/>
          <p:nvPr/>
        </p:nvSpPr>
        <p:spPr>
          <a:xfrm>
            <a:off x="571500" y="905256"/>
            <a:ext cx="1428750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단면 분석 — STEM 단면 사진과 관찰</a:t>
            </a:r>
            <a:endParaRPr lang="en-US" sz="3450" dirty="0"/>
          </a:p>
        </p:txBody>
      </p:sp>
      <p:pic>
        <p:nvPicPr>
          <p:cNvPr id="11" name="Image 3" descr="gen-dedup-9ae55472b901721cbf9db1193a4c472d.png">    </p:cNvPr>
          <p:cNvPicPr>
            <a:picLocks noChangeAspect="1"/>
          </p:cNvPicPr>
          <p:nvPr/>
        </p:nvPicPr>
        <p:blipFill>
          <a:blip r:embed="rId4"/>
          <a:srcRect l="-80" r="-80" t="0" b="0"/>
          <a:stretch/>
        </p:blipFill>
        <p:spPr>
          <a:xfrm>
            <a:off x="571500" y="1536192"/>
            <a:ext cx="800100" cy="47549"/>
          </a:xfrm>
          <a:prstGeom prst="rect">
            <a:avLst/>
          </a:prstGeom>
        </p:spPr>
      </p:pic>
      <p:sp>
        <p:nvSpPr>
          <p:cNvPr id="12" name="Shape 5"/>
          <p:cNvSpPr/>
          <p:nvPr/>
        </p:nvSpPr>
        <p:spPr>
          <a:xfrm>
            <a:off x="11239805" y="2286000"/>
            <a:ext cx="6495898" cy="1923898"/>
          </a:xfrm>
          <a:prstGeom prst="rect">
            <a:avLst/>
          </a:prstGeom>
          <a:solidFill>
            <a:srgbClr val="FFFFFF"/>
          </a:solidFill>
          <a:ln w="12700">
            <a:solidFill>
              <a:srgbClr val="C4CDD9"/>
            </a:solidFill>
            <a:prstDash val="solid"/>
          </a:ln>
        </p:spPr>
      </p:sp>
      <p:sp>
        <p:nvSpPr>
          <p:cNvPr id="13" name="Text 6"/>
          <p:cNvSpPr txBox="1"/>
          <p:nvPr/>
        </p:nvSpPr>
        <p:spPr>
          <a:xfrm>
            <a:off x="11477549" y="2486254"/>
            <a:ext cx="6020410" cy="181051"/>
          </a:xfrm>
          <a:prstGeom prst="rect">
            <a:avLst/>
          </a:prstGeom>
          <a:noFill/>
          <a:ln/>
        </p:spPr>
        <p:txBody>
          <a:bodyPr wrap="none" lIns="0" tIns="0" rIns="0" bIns="0" rtlCol="0" anchor="ctr"/>
          <a:lstStyle/>
          <a:p>
            <a:pPr algn="l" indent="0" marL="0">
              <a:buNone/>
            </a:pPr>
            <a:r>
              <a:rPr lang="en-US" sz="975" b="1" spc="215" kern="0" dirty="0">
                <a:solidFill>
                  <a:srgbClr val="2F3D54"/>
                </a:solidFill>
                <a:latin typeface="IBM Plex Sans KR" pitchFamily="34" charset="0"/>
                <a:ea typeface="IBM Plex Sans KR" pitchFamily="34" charset="-122"/>
                <a:cs typeface="IBM Plex Sans KR" pitchFamily="34" charset="-120"/>
              </a:rPr>
              <a:t>Observation 01 · Sidewall 각도</a:t>
            </a:r>
            <a:endParaRPr lang="en-US" sz="975" dirty="0"/>
          </a:p>
        </p:txBody>
      </p:sp>
      <p:sp>
        <p:nvSpPr>
          <p:cNvPr id="14" name="Text 7"/>
          <p:cNvSpPr txBox="1"/>
          <p:nvPr/>
        </p:nvSpPr>
        <p:spPr>
          <a:xfrm>
            <a:off x="11477549" y="2781605"/>
            <a:ext cx="543154" cy="181051"/>
          </a:xfrm>
          <a:prstGeom prst="rect">
            <a:avLst/>
          </a:prstGeom>
          <a:noFill/>
          <a:ln/>
        </p:spPr>
        <p:txBody>
          <a:bodyPr wrap="none" lIns="0" tIns="0" rIns="0" bIns="0" rtlCol="0" anchor="ctr"/>
          <a:lstStyle/>
          <a:p>
            <a:pPr algn="l" indent="0" marL="0">
              <a:buNone/>
            </a:pPr>
            <a:r>
              <a:rPr lang="en-US" sz="975" b="1" spc="156" kern="0" dirty="0">
                <a:solidFill>
                  <a:srgbClr val="B85C46"/>
                </a:solidFill>
                <a:latin typeface="IBM Plex Sans KR" pitchFamily="34" charset="0"/>
                <a:ea typeface="IBM Plex Sans KR" pitchFamily="34" charset="-122"/>
                <a:cs typeface="IBM Plex Sans KR" pitchFamily="34" charset="-120"/>
              </a:rPr>
              <a:t>CAR</a:t>
            </a:r>
            <a:endParaRPr lang="en-US" sz="975" dirty="0"/>
          </a:p>
        </p:txBody>
      </p:sp>
      <p:sp>
        <p:nvSpPr>
          <p:cNvPr id="15" name="Text 8"/>
          <p:cNvSpPr txBox="1"/>
          <p:nvPr/>
        </p:nvSpPr>
        <p:spPr>
          <a:xfrm>
            <a:off x="11477549" y="3000146"/>
            <a:ext cx="624535" cy="324612"/>
          </a:xfrm>
          <a:prstGeom prst="rect">
            <a:avLst/>
          </a:prstGeom>
          <a:noFill/>
          <a:ln/>
        </p:spPr>
        <p:txBody>
          <a:bodyPr wrap="none" lIns="0" tIns="0" rIns="0" bIns="0" rtlCol="0" anchor="ctr"/>
          <a:lstStyle/>
          <a:p>
            <a:pPr algn="l" indent="0" marL="0">
              <a:buNone/>
            </a:pPr>
            <a:r>
              <a:rPr lang="en-US" sz="2550" b="1" dirty="0">
                <a:solidFill>
                  <a:srgbClr val="1B2C45"/>
                </a:solidFill>
                <a:latin typeface="IBM Plex Sans KR" pitchFamily="34" charset="0"/>
                <a:ea typeface="IBM Plex Sans KR" pitchFamily="34" charset="-122"/>
                <a:cs typeface="IBM Plex Sans KR" pitchFamily="34" charset="-120"/>
              </a:rPr>
              <a:t>86°</a:t>
            </a:r>
            <a:endParaRPr lang="en-US" sz="2550" dirty="0"/>
          </a:p>
        </p:txBody>
      </p:sp>
      <p:pic>
        <p:nvPicPr>
          <p:cNvPr id="16" name="Image 4" descr="gen-dedup-60b59ac88ddef109dde3c543b3b098ca.png">    </p:cNvPr>
          <p:cNvPicPr>
            <a:picLocks noChangeAspect="1"/>
          </p:cNvPicPr>
          <p:nvPr/>
        </p:nvPicPr>
        <p:blipFill>
          <a:blip r:embed="rId5"/>
          <a:srcRect l="0" r="0" t="-2083" b="-2083"/>
          <a:stretch/>
        </p:blipFill>
        <p:spPr>
          <a:xfrm>
            <a:off x="12189866" y="2866644"/>
            <a:ext cx="9144" cy="457200"/>
          </a:xfrm>
          <a:prstGeom prst="rect">
            <a:avLst/>
          </a:prstGeom>
        </p:spPr>
      </p:pic>
      <p:sp>
        <p:nvSpPr>
          <p:cNvPr id="17" name="Text 9"/>
          <p:cNvSpPr txBox="1"/>
          <p:nvPr/>
        </p:nvSpPr>
        <p:spPr>
          <a:xfrm>
            <a:off x="12370918" y="2781605"/>
            <a:ext cx="543154" cy="181051"/>
          </a:xfrm>
          <a:prstGeom prst="rect">
            <a:avLst/>
          </a:prstGeom>
          <a:noFill/>
          <a:ln/>
        </p:spPr>
        <p:txBody>
          <a:bodyPr wrap="none" lIns="0" tIns="0" rIns="0" bIns="0" rtlCol="0" anchor="ctr"/>
          <a:lstStyle/>
          <a:p>
            <a:pPr algn="l" indent="0" marL="0">
              <a:buNone/>
            </a:pPr>
            <a:r>
              <a:rPr lang="en-US" sz="975" b="1" spc="156" kern="0" dirty="0">
                <a:solidFill>
                  <a:srgbClr val="2D6F8C"/>
                </a:solidFill>
                <a:latin typeface="IBM Plex Sans KR" pitchFamily="34" charset="0"/>
                <a:ea typeface="IBM Plex Sans KR" pitchFamily="34" charset="-122"/>
                <a:cs typeface="IBM Plex Sans KR" pitchFamily="34" charset="-120"/>
              </a:rPr>
              <a:t>MOR</a:t>
            </a:r>
            <a:endParaRPr lang="en-US" sz="975" dirty="0"/>
          </a:p>
        </p:txBody>
      </p:sp>
      <p:sp>
        <p:nvSpPr>
          <p:cNvPr id="18" name="Text 10"/>
          <p:cNvSpPr txBox="1"/>
          <p:nvPr/>
        </p:nvSpPr>
        <p:spPr>
          <a:xfrm>
            <a:off x="12370918" y="3000146"/>
            <a:ext cx="624535" cy="324612"/>
          </a:xfrm>
          <a:prstGeom prst="rect">
            <a:avLst/>
          </a:prstGeom>
          <a:noFill/>
          <a:ln/>
        </p:spPr>
        <p:txBody>
          <a:bodyPr wrap="none" lIns="0" tIns="0" rIns="0" bIns="0" rtlCol="0" anchor="ctr"/>
          <a:lstStyle/>
          <a:p>
            <a:pPr algn="l" indent="0" marL="0">
              <a:buNone/>
            </a:pPr>
            <a:r>
              <a:rPr lang="en-US" sz="2550" b="1" dirty="0">
                <a:solidFill>
                  <a:srgbClr val="1B2C45"/>
                </a:solidFill>
                <a:latin typeface="IBM Plex Sans KR" pitchFamily="34" charset="0"/>
                <a:ea typeface="IBM Plex Sans KR" pitchFamily="34" charset="-122"/>
                <a:cs typeface="IBM Plex Sans KR" pitchFamily="34" charset="-120"/>
              </a:rPr>
              <a:t>89°</a:t>
            </a:r>
            <a:endParaRPr lang="en-US" sz="2550" dirty="0"/>
          </a:p>
        </p:txBody>
      </p:sp>
      <p:pic>
        <p:nvPicPr>
          <p:cNvPr id="19" name="Image 5" descr="gen-dedup-af16c988b86217abcf1142435d04987a.png">    </p:cNvPr>
          <p:cNvPicPr>
            <a:picLocks noChangeAspect="1"/>
          </p:cNvPicPr>
          <p:nvPr/>
        </p:nvPicPr>
        <p:blipFill>
          <a:blip r:embed="rId6"/>
          <a:srcRect l="-2083" r="-2083" t="0" b="0"/>
          <a:stretch/>
        </p:blipFill>
        <p:spPr>
          <a:xfrm>
            <a:off x="11477549" y="3457346"/>
            <a:ext cx="6019495" cy="9144"/>
          </a:xfrm>
          <a:prstGeom prst="rect">
            <a:avLst/>
          </a:prstGeom>
        </p:spPr>
      </p:pic>
      <p:sp>
        <p:nvSpPr>
          <p:cNvPr id="20" name="Text 11"/>
          <p:cNvSpPr txBox="1"/>
          <p:nvPr/>
        </p:nvSpPr>
        <p:spPr>
          <a:xfrm>
            <a:off x="11477549" y="3581705"/>
            <a:ext cx="6020410" cy="428854"/>
          </a:xfrm>
          <a:prstGeom prst="rect">
            <a:avLst/>
          </a:prstGeom>
          <a:noFill/>
          <a:ln/>
        </p:spPr>
        <p:txBody>
          <a:bodyPr wrap="square" lIns="0" tIns="0" rIns="0" bIns="0" rtlCol="0" anchor="ctr"/>
          <a:lstStyle/>
          <a:p>
            <a:pPr algn="l" indent="0" marL="0">
              <a:lnSpc>
                <a:spcPts val="1688"/>
              </a:lnSpc>
              <a:buNone/>
            </a:pPr>
            <a:r>
              <a:rPr lang="en-US" sz="1125" dirty="0">
                <a:solidFill>
                  <a:srgbClr val="2F3D54"/>
                </a:solidFill>
                <a:latin typeface="IBM Plex Sans KR" pitchFamily="34" charset="0"/>
                <a:ea typeface="IBM Plex Sans KR" pitchFamily="34" charset="-122"/>
                <a:cs typeface="IBM Plex Sans KR" pitchFamily="34" charset="-120"/>
              </a:rPr>
              <a:t>MOR sidewall이 vertical에 가깝고 CAR은 taper 발생 — stack PR 두께 대비 패턴 전사 품질에 직접 영향.</a:t>
            </a:r>
            <a:endParaRPr lang="en-US" sz="1125" dirty="0"/>
          </a:p>
        </p:txBody>
      </p:sp>
      <p:sp>
        <p:nvSpPr>
          <p:cNvPr id="21" name="Shape 12"/>
          <p:cNvSpPr/>
          <p:nvPr/>
        </p:nvSpPr>
        <p:spPr>
          <a:xfrm>
            <a:off x="11239805" y="4381805"/>
            <a:ext cx="6495898" cy="1923898"/>
          </a:xfrm>
          <a:prstGeom prst="rect">
            <a:avLst/>
          </a:prstGeom>
          <a:solidFill>
            <a:srgbClr val="FFFFFF"/>
          </a:solidFill>
          <a:ln w="12700">
            <a:solidFill>
              <a:srgbClr val="C4CDD9"/>
            </a:solidFill>
            <a:prstDash val="solid"/>
          </a:ln>
        </p:spPr>
      </p:sp>
      <p:sp>
        <p:nvSpPr>
          <p:cNvPr id="22" name="Text 13"/>
          <p:cNvSpPr txBox="1"/>
          <p:nvPr/>
        </p:nvSpPr>
        <p:spPr>
          <a:xfrm>
            <a:off x="11477549" y="4581144"/>
            <a:ext cx="6020410" cy="181051"/>
          </a:xfrm>
          <a:prstGeom prst="rect">
            <a:avLst/>
          </a:prstGeom>
          <a:noFill/>
          <a:ln/>
        </p:spPr>
        <p:txBody>
          <a:bodyPr wrap="none" lIns="0" tIns="0" rIns="0" bIns="0" rtlCol="0" anchor="ctr"/>
          <a:lstStyle/>
          <a:p>
            <a:pPr algn="l" indent="0" marL="0">
              <a:buNone/>
            </a:pPr>
            <a:r>
              <a:rPr lang="en-US" sz="975" b="1" spc="215" kern="0" dirty="0">
                <a:solidFill>
                  <a:srgbClr val="2F3D54"/>
                </a:solidFill>
                <a:latin typeface="IBM Plex Sans KR" pitchFamily="34" charset="0"/>
                <a:ea typeface="IBM Plex Sans KR" pitchFamily="34" charset="-122"/>
                <a:cs typeface="IBM Plex Sans KR" pitchFamily="34" charset="-120"/>
              </a:rPr>
              <a:t>Observation 02 · LWR, local bowing</a:t>
            </a:r>
            <a:endParaRPr lang="en-US" sz="975" dirty="0"/>
          </a:p>
        </p:txBody>
      </p:sp>
      <p:sp>
        <p:nvSpPr>
          <p:cNvPr id="23" name="Text 14"/>
          <p:cNvSpPr txBox="1"/>
          <p:nvPr/>
        </p:nvSpPr>
        <p:spPr>
          <a:xfrm>
            <a:off x="11477549" y="4876495"/>
            <a:ext cx="2924251" cy="181051"/>
          </a:xfrm>
          <a:prstGeom prst="rect">
            <a:avLst/>
          </a:prstGeom>
          <a:noFill/>
          <a:ln/>
        </p:spPr>
        <p:txBody>
          <a:bodyPr wrap="none" lIns="0" tIns="0" rIns="0" bIns="0" rtlCol="0" anchor="ctr"/>
          <a:lstStyle/>
          <a:p>
            <a:pPr algn="l" indent="0" marL="0">
              <a:buNone/>
            </a:pPr>
            <a:r>
              <a:rPr lang="en-US" sz="975" b="1" spc="156" kern="0" dirty="0">
                <a:solidFill>
                  <a:srgbClr val="B85C46"/>
                </a:solidFill>
                <a:latin typeface="IBM Plex Sans KR" pitchFamily="34" charset="0"/>
                <a:ea typeface="IBM Plex Sans KR" pitchFamily="34" charset="-122"/>
                <a:cs typeface="IBM Plex Sans KR" pitchFamily="34" charset="-120"/>
              </a:rPr>
              <a:t>CAR</a:t>
            </a:r>
            <a:endParaRPr lang="en-US" sz="975" dirty="0"/>
          </a:p>
        </p:txBody>
      </p:sp>
      <p:sp>
        <p:nvSpPr>
          <p:cNvPr id="24" name="Text 15"/>
          <p:cNvSpPr txBox="1"/>
          <p:nvPr/>
        </p:nvSpPr>
        <p:spPr>
          <a:xfrm>
            <a:off x="11477549" y="5095951"/>
            <a:ext cx="2924251" cy="286207"/>
          </a:xfrm>
          <a:prstGeom prst="rect">
            <a:avLst/>
          </a:prstGeom>
          <a:noFill/>
          <a:ln/>
        </p:spPr>
        <p:txBody>
          <a:bodyPr wrap="none" lIns="0" tIns="0" rIns="0" bIns="0" rtlCol="0" anchor="ctr"/>
          <a:lstStyle/>
          <a:p>
            <a:pPr algn="l" indent="0" marL="0">
              <a:buNone/>
            </a:pPr>
            <a:r>
              <a:rPr lang="en-US" sz="2250" b="1" dirty="0">
                <a:solidFill>
                  <a:srgbClr val="1B2C45"/>
                </a:solidFill>
                <a:latin typeface="IBM Plex Sans KR" pitchFamily="34" charset="0"/>
                <a:ea typeface="IBM Plex Sans KR" pitchFamily="34" charset="-122"/>
                <a:cs typeface="IBM Plex Sans KR" pitchFamily="34" charset="-120"/>
              </a:rPr>
              <a:t>~3.9 nm</a:t>
            </a:r>
            <a:endParaRPr lang="en-US" sz="2250" dirty="0"/>
          </a:p>
        </p:txBody>
      </p:sp>
      <p:sp>
        <p:nvSpPr>
          <p:cNvPr id="25" name="Text 16"/>
          <p:cNvSpPr txBox="1"/>
          <p:nvPr/>
        </p:nvSpPr>
        <p:spPr>
          <a:xfrm>
            <a:off x="11477549" y="5419649"/>
            <a:ext cx="29242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local LWR</a:t>
            </a:r>
            <a:endParaRPr lang="en-US" sz="975" dirty="0"/>
          </a:p>
        </p:txBody>
      </p:sp>
      <p:sp>
        <p:nvSpPr>
          <p:cNvPr id="26" name="Text 17"/>
          <p:cNvSpPr txBox="1"/>
          <p:nvPr/>
        </p:nvSpPr>
        <p:spPr>
          <a:xfrm>
            <a:off x="14573707" y="4876495"/>
            <a:ext cx="2924251" cy="181051"/>
          </a:xfrm>
          <a:prstGeom prst="rect">
            <a:avLst/>
          </a:prstGeom>
          <a:noFill/>
          <a:ln/>
        </p:spPr>
        <p:txBody>
          <a:bodyPr wrap="none" lIns="0" tIns="0" rIns="0" bIns="0" rtlCol="0" anchor="ctr"/>
          <a:lstStyle/>
          <a:p>
            <a:pPr algn="l" indent="0" marL="0">
              <a:buNone/>
            </a:pPr>
            <a:r>
              <a:rPr lang="en-US" sz="975" b="1" spc="156" kern="0" dirty="0">
                <a:solidFill>
                  <a:srgbClr val="2D6F8C"/>
                </a:solidFill>
                <a:latin typeface="IBM Plex Sans KR" pitchFamily="34" charset="0"/>
                <a:ea typeface="IBM Plex Sans KR" pitchFamily="34" charset="-122"/>
                <a:cs typeface="IBM Plex Sans KR" pitchFamily="34" charset="-120"/>
              </a:rPr>
              <a:t>MOR</a:t>
            </a:r>
            <a:endParaRPr lang="en-US" sz="975" dirty="0"/>
          </a:p>
        </p:txBody>
      </p:sp>
      <p:sp>
        <p:nvSpPr>
          <p:cNvPr id="27" name="Text 18"/>
          <p:cNvSpPr txBox="1"/>
          <p:nvPr/>
        </p:nvSpPr>
        <p:spPr>
          <a:xfrm>
            <a:off x="14573707" y="5095951"/>
            <a:ext cx="2924251" cy="286207"/>
          </a:xfrm>
          <a:prstGeom prst="rect">
            <a:avLst/>
          </a:prstGeom>
          <a:noFill/>
          <a:ln/>
        </p:spPr>
        <p:txBody>
          <a:bodyPr wrap="none" lIns="0" tIns="0" rIns="0" bIns="0" rtlCol="0" anchor="ctr"/>
          <a:lstStyle/>
          <a:p>
            <a:pPr algn="l" indent="0" marL="0">
              <a:buNone/>
            </a:pPr>
            <a:r>
              <a:rPr lang="en-US" sz="2250" b="1" dirty="0">
                <a:solidFill>
                  <a:srgbClr val="1B2C45"/>
                </a:solidFill>
                <a:latin typeface="IBM Plex Sans KR" pitchFamily="34" charset="0"/>
                <a:ea typeface="IBM Plex Sans KR" pitchFamily="34" charset="-122"/>
                <a:cs typeface="IBM Plex Sans KR" pitchFamily="34" charset="-120"/>
              </a:rPr>
              <a:t>~1.8 nm</a:t>
            </a:r>
            <a:endParaRPr lang="en-US" sz="2250" dirty="0"/>
          </a:p>
        </p:txBody>
      </p:sp>
      <p:sp>
        <p:nvSpPr>
          <p:cNvPr id="28" name="Text 19"/>
          <p:cNvSpPr txBox="1"/>
          <p:nvPr/>
        </p:nvSpPr>
        <p:spPr>
          <a:xfrm>
            <a:off x="14573707" y="5419649"/>
            <a:ext cx="29242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local LWR</a:t>
            </a:r>
            <a:endParaRPr lang="en-US" sz="975" dirty="0"/>
          </a:p>
        </p:txBody>
      </p:sp>
      <p:pic>
        <p:nvPicPr>
          <p:cNvPr id="29" name="Image 6" descr="gen-dedup-af16c988b86217abcf1142435d04987a.png">    </p:cNvPr>
          <p:cNvPicPr>
            <a:picLocks noChangeAspect="1"/>
          </p:cNvPicPr>
          <p:nvPr/>
        </p:nvPicPr>
        <p:blipFill>
          <a:blip r:embed="rId7"/>
          <a:srcRect l="-2083" r="-2083" t="0" b="0"/>
          <a:stretch/>
        </p:blipFill>
        <p:spPr>
          <a:xfrm>
            <a:off x="11477549" y="5734202"/>
            <a:ext cx="6019495" cy="9144"/>
          </a:xfrm>
          <a:prstGeom prst="rect">
            <a:avLst/>
          </a:prstGeom>
        </p:spPr>
      </p:pic>
      <p:sp>
        <p:nvSpPr>
          <p:cNvPr id="30" name="Text 20"/>
          <p:cNvSpPr txBox="1"/>
          <p:nvPr/>
        </p:nvSpPr>
        <p:spPr>
          <a:xfrm>
            <a:off x="11477549" y="5857646"/>
            <a:ext cx="6706210"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CAR은 diffusive blur로 line edge가 bow, MOR은 cluster 직접 반응으로 직선형 edge 유지.</a:t>
            </a:r>
            <a:endParaRPr lang="en-US" sz="1125" dirty="0"/>
          </a:p>
        </p:txBody>
      </p:sp>
      <p:sp>
        <p:nvSpPr>
          <p:cNvPr id="31" name="Shape 21"/>
          <p:cNvSpPr/>
          <p:nvPr/>
        </p:nvSpPr>
        <p:spPr>
          <a:xfrm>
            <a:off x="11239805" y="6476695"/>
            <a:ext cx="6476695" cy="2095805"/>
          </a:xfrm>
          <a:prstGeom prst="rect">
            <a:avLst/>
          </a:prstGeom>
          <a:solidFill>
            <a:srgbClr val="1B2C45"/>
          </a:solidFill>
          <a:ln w="12700">
            <a:solidFill>
              <a:srgbClr val="FFFFFF">
                <a:alpha val="0"/>
              </a:srgbClr>
            </a:solidFill>
            <a:prstDash val="solid"/>
          </a:ln>
        </p:spPr>
      </p:sp>
      <p:sp>
        <p:nvSpPr>
          <p:cNvPr id="32" name="Text 22"/>
          <p:cNvSpPr txBox="1"/>
          <p:nvPr/>
        </p:nvSpPr>
        <p:spPr>
          <a:xfrm>
            <a:off x="11468405" y="6667805"/>
            <a:ext cx="6020410" cy="181051"/>
          </a:xfrm>
          <a:prstGeom prst="rect">
            <a:avLst/>
          </a:prstGeom>
          <a:noFill/>
          <a:ln/>
        </p:spPr>
        <p:txBody>
          <a:bodyPr wrap="none" lIns="0" tIns="0" rIns="0" bIns="0" rtlCol="0" anchor="ctr"/>
          <a:lstStyle/>
          <a:p>
            <a:pPr algn="l" indent="0" marL="0">
              <a:buNone/>
            </a:pPr>
            <a:r>
              <a:rPr lang="en-US" sz="975" b="1" spc="215" kern="0" dirty="0">
                <a:solidFill>
                  <a:srgbClr val="93A4BC"/>
                </a:solidFill>
                <a:latin typeface="IBM Plex Sans KR" pitchFamily="34" charset="0"/>
                <a:ea typeface="IBM Plex Sans KR" pitchFamily="34" charset="-122"/>
                <a:cs typeface="IBM Plex Sans KR" pitchFamily="34" charset="-120"/>
              </a:rPr>
              <a:t>Observation 03 · Etch selectivity preview</a:t>
            </a:r>
            <a:endParaRPr lang="en-US" sz="975" dirty="0"/>
          </a:p>
        </p:txBody>
      </p:sp>
      <p:sp>
        <p:nvSpPr>
          <p:cNvPr id="33" name="Text 23"/>
          <p:cNvSpPr txBox="1"/>
          <p:nvPr/>
        </p:nvSpPr>
        <p:spPr>
          <a:xfrm>
            <a:off x="11468405" y="6981444"/>
            <a:ext cx="1151230" cy="181051"/>
          </a:xfrm>
          <a:prstGeom prst="rect">
            <a:avLst/>
          </a:prstGeom>
          <a:noFill/>
          <a:ln/>
        </p:spPr>
        <p:txBody>
          <a:bodyPr wrap="none" lIns="0" tIns="0" rIns="0" bIns="0" rtlCol="0" anchor="ctr"/>
          <a:lstStyle/>
          <a:p>
            <a:pPr algn="l" indent="0" marL="0">
              <a:buNone/>
            </a:pPr>
            <a:r>
              <a:rPr lang="en-US" sz="975" spc="156" kern="0" dirty="0">
                <a:solidFill>
                  <a:srgbClr val="93A4BC"/>
                </a:solidFill>
                <a:latin typeface="IBM Plex Sans KR" pitchFamily="34" charset="0"/>
                <a:ea typeface="IBM Plex Sans KR" pitchFamily="34" charset="-122"/>
                <a:cs typeface="IBM Plex Sans KR" pitchFamily="34" charset="-120"/>
              </a:rPr>
              <a:t>CAR : SiARC</a:t>
            </a:r>
            <a:endParaRPr lang="en-US" sz="975" dirty="0"/>
          </a:p>
        </p:txBody>
      </p:sp>
      <p:sp>
        <p:nvSpPr>
          <p:cNvPr id="34" name="Text 24"/>
          <p:cNvSpPr txBox="1"/>
          <p:nvPr/>
        </p:nvSpPr>
        <p:spPr>
          <a:xfrm>
            <a:off x="11468405" y="7200900"/>
            <a:ext cx="1077163" cy="305410"/>
          </a:xfrm>
          <a:prstGeom prst="rect">
            <a:avLst/>
          </a:prstGeom>
          <a:noFill/>
          <a:ln/>
        </p:spPr>
        <p:txBody>
          <a:bodyPr wrap="none" lIns="0" tIns="0" rIns="0" bIns="0" rtlCol="0" anchor="ctr"/>
          <a:lstStyle/>
          <a:p>
            <a:pPr algn="l" indent="0" marL="0">
              <a:buNone/>
            </a:pPr>
            <a:r>
              <a:rPr lang="en-US" sz="2400" b="1" dirty="0">
                <a:solidFill>
                  <a:srgbClr val="FFFFFF"/>
                </a:solidFill>
                <a:latin typeface="IBM Plex Sans KR" pitchFamily="34" charset="0"/>
                <a:ea typeface="IBM Plex Sans KR" pitchFamily="34" charset="-122"/>
                <a:cs typeface="IBM Plex Sans KR" pitchFamily="34" charset="-120"/>
              </a:rPr>
              <a:t>1.4 : 1</a:t>
            </a:r>
            <a:endParaRPr lang="en-US" sz="2400" dirty="0"/>
          </a:p>
        </p:txBody>
      </p:sp>
      <p:sp>
        <p:nvSpPr>
          <p:cNvPr id="35" name="Text 25"/>
          <p:cNvSpPr txBox="1"/>
          <p:nvPr/>
        </p:nvSpPr>
        <p:spPr>
          <a:xfrm>
            <a:off x="12714732" y="6981444"/>
            <a:ext cx="1157630" cy="181051"/>
          </a:xfrm>
          <a:prstGeom prst="rect">
            <a:avLst/>
          </a:prstGeom>
          <a:noFill/>
          <a:ln/>
        </p:spPr>
        <p:txBody>
          <a:bodyPr wrap="none" lIns="0" tIns="0" rIns="0" bIns="0" rtlCol="0" anchor="ctr"/>
          <a:lstStyle/>
          <a:p>
            <a:pPr algn="l" indent="0" marL="0">
              <a:buNone/>
            </a:pPr>
            <a:r>
              <a:rPr lang="en-US" sz="975" spc="156" kern="0" dirty="0">
                <a:solidFill>
                  <a:srgbClr val="93A4BC"/>
                </a:solidFill>
                <a:latin typeface="IBM Plex Sans KR" pitchFamily="34" charset="0"/>
                <a:ea typeface="IBM Plex Sans KR" pitchFamily="34" charset="-122"/>
                <a:cs typeface="IBM Plex Sans KR" pitchFamily="34" charset="-120"/>
              </a:rPr>
              <a:t>MOR : SiARC</a:t>
            </a:r>
            <a:endParaRPr lang="en-US" sz="975" dirty="0"/>
          </a:p>
        </p:txBody>
      </p:sp>
      <p:sp>
        <p:nvSpPr>
          <p:cNvPr id="36" name="Text 26"/>
          <p:cNvSpPr txBox="1"/>
          <p:nvPr/>
        </p:nvSpPr>
        <p:spPr>
          <a:xfrm>
            <a:off x="12714732" y="7200900"/>
            <a:ext cx="1122883" cy="305410"/>
          </a:xfrm>
          <a:prstGeom prst="rect">
            <a:avLst/>
          </a:prstGeom>
          <a:noFill/>
          <a:ln/>
        </p:spPr>
        <p:txBody>
          <a:bodyPr wrap="none" lIns="0" tIns="0" rIns="0" bIns="0" rtlCol="0" anchor="ctr"/>
          <a:lstStyle/>
          <a:p>
            <a:pPr algn="l" indent="0" marL="0">
              <a:buNone/>
            </a:pPr>
            <a:r>
              <a:rPr lang="en-US" sz="2400" b="1" dirty="0">
                <a:solidFill>
                  <a:srgbClr val="FFFFFF"/>
                </a:solidFill>
                <a:latin typeface="IBM Plex Sans KR" pitchFamily="34" charset="0"/>
                <a:ea typeface="IBM Plex Sans KR" pitchFamily="34" charset="-122"/>
                <a:cs typeface="IBM Plex Sans KR" pitchFamily="34" charset="-120"/>
              </a:rPr>
              <a:t>4.6 : 1</a:t>
            </a:r>
            <a:endParaRPr lang="en-US" sz="2400" dirty="0"/>
          </a:p>
        </p:txBody>
      </p:sp>
      <p:pic>
        <p:nvPicPr>
          <p:cNvPr id="37" name="Image 7" descr="gen-dedup-a0eda27b9742767a8a208458be6ef52c.png">    </p:cNvPr>
          <p:cNvPicPr>
            <a:picLocks noChangeAspect="1"/>
          </p:cNvPicPr>
          <p:nvPr/>
        </p:nvPicPr>
        <p:blipFill>
          <a:blip r:embed="rId8"/>
          <a:srcRect l="-2083" r="-2083" t="0" b="0"/>
          <a:stretch/>
        </p:blipFill>
        <p:spPr>
          <a:xfrm>
            <a:off x="11468405" y="7638898"/>
            <a:ext cx="6019495" cy="9144"/>
          </a:xfrm>
          <a:prstGeom prst="rect">
            <a:avLst/>
          </a:prstGeom>
        </p:spPr>
      </p:pic>
      <p:sp>
        <p:nvSpPr>
          <p:cNvPr id="38" name="Text 27"/>
          <p:cNvSpPr txBox="1"/>
          <p:nvPr/>
        </p:nvSpPr>
        <p:spPr>
          <a:xfrm>
            <a:off x="11468405" y="7763256"/>
            <a:ext cx="6020410" cy="428854"/>
          </a:xfrm>
          <a:prstGeom prst="rect">
            <a:avLst/>
          </a:prstGeom>
          <a:noFill/>
          <a:ln/>
        </p:spPr>
        <p:txBody>
          <a:bodyPr wrap="square" lIns="0" tIns="0" rIns="0" bIns="0" rtlCol="0" anchor="ctr"/>
          <a:lstStyle/>
          <a:p>
            <a:pPr algn="l" indent="0" marL="0">
              <a:lnSpc>
                <a:spcPts val="1688"/>
              </a:lnSpc>
              <a:buNone/>
            </a:pPr>
            <a:r>
              <a:rPr lang="en-US" sz="1125" dirty="0">
                <a:solidFill>
                  <a:srgbClr val="FFFFFF">
                    <a:alpha val="92000"/>
                  </a:srgbClr>
                </a:solidFill>
                <a:latin typeface="IBM Plex Sans KR" pitchFamily="34" charset="0"/>
                <a:ea typeface="IBM Plex Sans KR" pitchFamily="34" charset="-122"/>
                <a:cs typeface="IBM Plex Sans KR" pitchFamily="34" charset="-120"/>
              </a:rPr>
              <a:t>MOR의 metal-oxide network이 plasma에서 빠르게 손실되지 않아 10 ~ 20 nm 박막 두께에서도 hard mask 역할 유지.</a:t>
            </a:r>
            <a:endParaRPr lang="en-US" sz="1125" dirty="0"/>
          </a:p>
        </p:txBody>
      </p:sp>
      <p:sp>
        <p:nvSpPr>
          <p:cNvPr id="39" name="Shape 28"/>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40" name="Text 29"/>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41" name="Image 8" descr="gen-dedup-2384ac9fd3012b414377934d98f26f83.png">    </p:cNvPr>
          <p:cNvPicPr>
            <a:picLocks noChangeAspect="1"/>
          </p:cNvPicPr>
          <p:nvPr/>
        </p:nvPicPr>
        <p:blipFill>
          <a:blip r:embed="rId9"/>
          <a:srcRect l="0" r="0" t="-2083" b="-2083"/>
          <a:stretch/>
        </p:blipFill>
        <p:spPr>
          <a:xfrm>
            <a:off x="2288743" y="8934602"/>
            <a:ext cx="9144" cy="228600"/>
          </a:xfrm>
          <a:prstGeom prst="rect">
            <a:avLst/>
          </a:prstGeom>
        </p:spPr>
      </p:pic>
      <p:sp>
        <p:nvSpPr>
          <p:cNvPr id="42" name="Text 30"/>
          <p:cNvSpPr txBox="1"/>
          <p:nvPr/>
        </p:nvSpPr>
        <p:spPr>
          <a:xfrm>
            <a:off x="2469794" y="8915400"/>
            <a:ext cx="11163910"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단면 사진에서 MOR sidewall 89° vs CAR 86°, MOR LWR ~1.8 nm, MOR 식각 선택비 약 4.6 : 1 — High-NA 박막 대응성에 직접 우위.</a:t>
            </a:r>
            <a:endParaRPr lang="en-US" sz="1500" dirty="0"/>
          </a:p>
        </p:txBody>
      </p:sp>
      <p:sp>
        <p:nvSpPr>
          <p:cNvPr id="43" name="Text 31"/>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09 of 12 · STEM cross-section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
            <a:ext cx="3475634"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10 / Electrical characteristics</a:t>
            </a:r>
            <a:endParaRPr lang="en-US" sz="1050" dirty="0"/>
          </a:p>
        </p:txBody>
      </p:sp>
      <p:pic>
        <p:nvPicPr>
          <p:cNvPr id="5" name="Image 1" descr="gen-dedup-72c8c855dd65dd3f7a058d199e994252.png">    </p:cNvPr>
          <p:cNvPicPr>
            <a:picLocks noChangeAspect="1"/>
          </p:cNvPicPr>
          <p:nvPr/>
        </p:nvPicPr>
        <p:blipFill>
          <a:blip r:embed="rId2"/>
          <a:srcRect l="-2083" r="-2083" t="0" b="0"/>
          <a:stretch/>
        </p:blipFill>
        <p:spPr>
          <a:xfrm>
            <a:off x="3846881" y="666598"/>
            <a:ext cx="342900" cy="9144"/>
          </a:xfrm>
          <a:prstGeom prst="rect">
            <a:avLst/>
          </a:prstGeom>
        </p:spPr>
      </p:pic>
      <p:sp>
        <p:nvSpPr>
          <p:cNvPr id="6" name="Text 1"/>
          <p:cNvSpPr txBox="1"/>
          <p:nvPr/>
        </p:nvSpPr>
        <p:spPr>
          <a:xfrm>
            <a:off x="4323283" y="571500"/>
            <a:ext cx="2188159"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TLM structure · M1 layer</a:t>
            </a:r>
            <a:endParaRPr lang="en-US" sz="1050" dirty="0"/>
          </a:p>
        </p:txBody>
      </p:sp>
      <p:sp>
        <p:nvSpPr>
          <p:cNvPr id="7" name="Text 2"/>
          <p:cNvSpPr txBox="1"/>
          <p:nvPr/>
        </p:nvSpPr>
        <p:spPr>
          <a:xfrm>
            <a:off x="571500" y="905256"/>
            <a:ext cx="1619311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전기 특성 — Rs · leak · BV · Cw · ΔVth</a:t>
            </a:r>
            <a:endParaRPr lang="en-US" sz="3450" dirty="0"/>
          </a:p>
        </p:txBody>
      </p:sp>
      <p:pic>
        <p:nvPicPr>
          <p:cNvPr id="8"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9" name="Shape 3"/>
          <p:cNvSpPr/>
          <p:nvPr/>
        </p:nvSpPr>
        <p:spPr>
          <a:xfrm>
            <a:off x="14287500" y="571500"/>
            <a:ext cx="1647749" cy="1143000"/>
          </a:xfrm>
          <a:prstGeom prst="rect">
            <a:avLst/>
          </a:prstGeom>
          <a:solidFill>
            <a:srgbClr val="FFFFFF"/>
          </a:solidFill>
          <a:ln w="12700">
            <a:solidFill>
              <a:srgbClr val="C4CDD9"/>
            </a:solidFill>
            <a:prstDash val="solid"/>
          </a:ln>
        </p:spPr>
      </p:sp>
      <p:sp>
        <p:nvSpPr>
          <p:cNvPr id="10" name="Text 4"/>
          <p:cNvSpPr txBox="1"/>
          <p:nvPr/>
        </p:nvSpPr>
        <p:spPr>
          <a:xfrm>
            <a:off x="14430146" y="714146"/>
            <a:ext cx="1362456"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CAR · leak avg</a:t>
            </a:r>
            <a:endParaRPr lang="en-US" sz="900" dirty="0"/>
          </a:p>
        </p:txBody>
      </p:sp>
      <p:sp>
        <p:nvSpPr>
          <p:cNvPr id="11" name="Text 5"/>
          <p:cNvSpPr txBox="1"/>
          <p:nvPr/>
        </p:nvSpPr>
        <p:spPr>
          <a:xfrm>
            <a:off x="14430146" y="961949"/>
            <a:ext cx="1362456" cy="267005"/>
          </a:xfrm>
          <a:prstGeom prst="rect">
            <a:avLst/>
          </a:prstGeom>
          <a:noFill/>
          <a:ln/>
        </p:spPr>
        <p:txBody>
          <a:bodyPr wrap="none" lIns="0" tIns="0" rIns="0" bIns="0" rtlCol="0" anchor="ctr"/>
          <a:lstStyle/>
          <a:p>
            <a:pPr algn="l" indent="0" marL="0">
              <a:buNone/>
            </a:pPr>
            <a:r>
              <a:rPr lang="en-US" sz="2100" b="1" dirty="0">
                <a:solidFill>
                  <a:srgbClr val="B85C46"/>
                </a:solidFill>
                <a:latin typeface="IBM Plex Sans KR" pitchFamily="34" charset="0"/>
                <a:ea typeface="IBM Plex Sans KR" pitchFamily="34" charset="-122"/>
                <a:cs typeface="IBM Plex Sans KR" pitchFamily="34" charset="-120"/>
              </a:rPr>
              <a:t>1.50e-9</a:t>
            </a:r>
            <a:endParaRPr lang="en-US" sz="2100" dirty="0"/>
          </a:p>
        </p:txBody>
      </p:sp>
      <p:sp>
        <p:nvSpPr>
          <p:cNvPr id="12" name="Text 6"/>
          <p:cNvSpPr txBox="1"/>
          <p:nvPr/>
        </p:nvSpPr>
        <p:spPr>
          <a:xfrm>
            <a:off x="14430146" y="1266444"/>
            <a:ext cx="1362456"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A/cm²</a:t>
            </a:r>
            <a:endParaRPr lang="en-US" sz="900" dirty="0"/>
          </a:p>
        </p:txBody>
      </p:sp>
      <p:sp>
        <p:nvSpPr>
          <p:cNvPr id="13" name="Shape 7"/>
          <p:cNvSpPr/>
          <p:nvPr/>
        </p:nvSpPr>
        <p:spPr>
          <a:xfrm>
            <a:off x="16068751" y="571500"/>
            <a:ext cx="1647749" cy="1143000"/>
          </a:xfrm>
          <a:prstGeom prst="rect">
            <a:avLst/>
          </a:prstGeom>
          <a:solidFill>
            <a:srgbClr val="FFFFFF"/>
          </a:solidFill>
          <a:ln w="12700">
            <a:solidFill>
              <a:srgbClr val="C4CDD9"/>
            </a:solidFill>
            <a:prstDash val="solid"/>
          </a:ln>
        </p:spPr>
      </p:sp>
      <p:sp>
        <p:nvSpPr>
          <p:cNvPr id="14" name="Text 8"/>
          <p:cNvSpPr txBox="1"/>
          <p:nvPr/>
        </p:nvSpPr>
        <p:spPr>
          <a:xfrm>
            <a:off x="16211398" y="714146"/>
            <a:ext cx="1362456" cy="171907"/>
          </a:xfrm>
          <a:prstGeom prst="rect">
            <a:avLst/>
          </a:prstGeom>
          <a:noFill/>
          <a:ln/>
        </p:spPr>
        <p:txBody>
          <a:bodyPr wrap="none" lIns="0" tIns="0" rIns="0" bIns="0" rtlCol="0" anchor="ctr"/>
          <a:lstStyle/>
          <a:p>
            <a:pPr algn="l" indent="0" marL="0">
              <a:buNone/>
            </a:pPr>
            <a:r>
              <a:rPr lang="en-US" sz="900" spc="180" kern="0" dirty="0">
                <a:solidFill>
                  <a:srgbClr val="5C6B82"/>
                </a:solidFill>
                <a:latin typeface="IBM Plex Sans KR" pitchFamily="34" charset="0"/>
                <a:ea typeface="IBM Plex Sans KR" pitchFamily="34" charset="-122"/>
                <a:cs typeface="IBM Plex Sans KR" pitchFamily="34" charset="-120"/>
              </a:rPr>
              <a:t>MOR · leak avg</a:t>
            </a:r>
            <a:endParaRPr lang="en-US" sz="900" dirty="0"/>
          </a:p>
        </p:txBody>
      </p:sp>
      <p:sp>
        <p:nvSpPr>
          <p:cNvPr id="15" name="Text 9"/>
          <p:cNvSpPr txBox="1"/>
          <p:nvPr/>
        </p:nvSpPr>
        <p:spPr>
          <a:xfrm>
            <a:off x="16211398" y="961949"/>
            <a:ext cx="1362456" cy="267005"/>
          </a:xfrm>
          <a:prstGeom prst="rect">
            <a:avLst/>
          </a:prstGeom>
          <a:noFill/>
          <a:ln/>
        </p:spPr>
        <p:txBody>
          <a:bodyPr wrap="none" lIns="0" tIns="0" rIns="0" bIns="0" rtlCol="0" anchor="ctr"/>
          <a:lstStyle/>
          <a:p>
            <a:pPr algn="l" indent="0" marL="0">
              <a:buNone/>
            </a:pPr>
            <a:r>
              <a:rPr lang="en-US" sz="2100" b="1" dirty="0">
                <a:solidFill>
                  <a:srgbClr val="2D6F8C"/>
                </a:solidFill>
                <a:latin typeface="IBM Plex Sans KR" pitchFamily="34" charset="0"/>
                <a:ea typeface="IBM Plex Sans KR" pitchFamily="34" charset="-122"/>
                <a:cs typeface="IBM Plex Sans KR" pitchFamily="34" charset="-120"/>
              </a:rPr>
              <a:t>8.43e-10</a:t>
            </a:r>
            <a:endParaRPr lang="en-US" sz="2100" dirty="0"/>
          </a:p>
        </p:txBody>
      </p:sp>
      <p:sp>
        <p:nvSpPr>
          <p:cNvPr id="16" name="Text 10"/>
          <p:cNvSpPr txBox="1"/>
          <p:nvPr/>
        </p:nvSpPr>
        <p:spPr>
          <a:xfrm>
            <a:off x="16211398" y="1266444"/>
            <a:ext cx="1362456" cy="171907"/>
          </a:xfrm>
          <a:prstGeom prst="rect">
            <a:avLst/>
          </a:prstGeom>
          <a:noFill/>
          <a:ln/>
        </p:spPr>
        <p:txBody>
          <a:bodyPr wrap="none" lIns="0" tIns="0" rIns="0" bIns="0" rtlCol="0" anchor="ctr"/>
          <a:lstStyle/>
          <a:p>
            <a:pPr algn="l" indent="0" marL="0">
              <a:buNone/>
            </a:pPr>
            <a:r>
              <a:rPr lang="en-US" sz="900" dirty="0">
                <a:solidFill>
                  <a:srgbClr val="5C6B82"/>
                </a:solidFill>
                <a:latin typeface="IBM Plex Sans KR" pitchFamily="34" charset="0"/>
                <a:ea typeface="IBM Plex Sans KR" pitchFamily="34" charset="-122"/>
                <a:cs typeface="IBM Plex Sans KR" pitchFamily="34" charset="-120"/>
              </a:rPr>
              <a:t>A/cm²</a:t>
            </a:r>
            <a:endParaRPr lang="en-US" sz="900" dirty="0"/>
          </a:p>
        </p:txBody>
      </p:sp>
      <p:sp>
        <p:nvSpPr>
          <p:cNvPr id="17" name="Shape 11"/>
          <p:cNvSpPr/>
          <p:nvPr/>
        </p:nvSpPr>
        <p:spPr>
          <a:xfrm>
            <a:off x="571500" y="2095805"/>
            <a:ext cx="17145000" cy="562356"/>
          </a:xfrm>
          <a:prstGeom prst="rect">
            <a:avLst/>
          </a:prstGeom>
          <a:solidFill>
            <a:srgbClr val="1B2C45"/>
          </a:solidFill>
          <a:ln w="12700">
            <a:solidFill>
              <a:srgbClr val="FFFFFF">
                <a:alpha val="0"/>
              </a:srgbClr>
            </a:solidFill>
            <a:prstDash val="solid"/>
          </a:ln>
        </p:spPr>
      </p:sp>
      <p:sp>
        <p:nvSpPr>
          <p:cNvPr id="18" name="Text 12"/>
          <p:cNvSpPr txBox="1"/>
          <p:nvPr/>
        </p:nvSpPr>
        <p:spPr>
          <a:xfrm>
            <a:off x="571500" y="2095805"/>
            <a:ext cx="156271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Wafer</a:t>
            </a:r>
            <a:endParaRPr lang="en-US" sz="1500" dirty="0"/>
          </a:p>
        </p:txBody>
      </p:sp>
      <p:sp>
        <p:nvSpPr>
          <p:cNvPr id="19" name="Text 13"/>
          <p:cNvSpPr txBox="1"/>
          <p:nvPr/>
        </p:nvSpPr>
        <p:spPr>
          <a:xfrm>
            <a:off x="2133295" y="2095805"/>
            <a:ext cx="1562710" cy="562356"/>
          </a:xfrm>
          <a:prstGeom prst="rect">
            <a:avLst/>
          </a:prstGeom>
          <a:noFill/>
          <a:ln/>
        </p:spPr>
        <p:txBody>
          <a:bodyPr wrap="none" lIns="0" tIns="0" rIns="0" bIns="0" rtlCol="0" anchor="ctr"/>
          <a:lstStyle/>
          <a:p>
            <a:pPr algn="l" indent="0" marL="0">
              <a:buNone/>
            </a:pPr>
            <a:r>
              <a:rPr lang="en-US" sz="1500" b="1" dirty="0">
                <a:solidFill>
                  <a:srgbClr val="FFFFFF"/>
                </a:solidFill>
                <a:latin typeface="IBM Plex Sans KR" pitchFamily="34" charset="0"/>
                <a:ea typeface="IBM Plex Sans KR" pitchFamily="34" charset="-122"/>
                <a:cs typeface="IBM Plex Sans KR" pitchFamily="34" charset="-120"/>
              </a:rPr>
              <a:t>Split</a:t>
            </a:r>
            <a:endParaRPr lang="en-US" sz="1500" dirty="0"/>
          </a:p>
        </p:txBody>
      </p:sp>
      <p:sp>
        <p:nvSpPr>
          <p:cNvPr id="20" name="Text 14"/>
          <p:cNvSpPr txBox="1"/>
          <p:nvPr/>
        </p:nvSpPr>
        <p:spPr>
          <a:xfrm>
            <a:off x="3696005" y="2095805"/>
            <a:ext cx="2200961"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Rs (Ω/sq)</a:t>
            </a:r>
            <a:endParaRPr lang="en-US" sz="1500" dirty="0"/>
          </a:p>
        </p:txBody>
      </p:sp>
      <p:sp>
        <p:nvSpPr>
          <p:cNvPr id="21" name="Text 15"/>
          <p:cNvSpPr txBox="1"/>
          <p:nvPr/>
        </p:nvSpPr>
        <p:spPr>
          <a:xfrm>
            <a:off x="5888736" y="2095805"/>
            <a:ext cx="2457907"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Rw (Ω/μm)</a:t>
            </a:r>
            <a:endParaRPr lang="en-US" sz="1500" dirty="0"/>
          </a:p>
        </p:txBody>
      </p:sp>
      <p:sp>
        <p:nvSpPr>
          <p:cNvPr id="22" name="Text 16"/>
          <p:cNvSpPr txBox="1"/>
          <p:nvPr/>
        </p:nvSpPr>
        <p:spPr>
          <a:xfrm>
            <a:off x="8339328" y="2095805"/>
            <a:ext cx="2943454"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I_leak (A/cm²)</a:t>
            </a:r>
            <a:endParaRPr lang="en-US" sz="1500" dirty="0"/>
          </a:p>
        </p:txBody>
      </p:sp>
      <p:sp>
        <p:nvSpPr>
          <p:cNvPr id="23" name="Text 17"/>
          <p:cNvSpPr txBox="1"/>
          <p:nvPr/>
        </p:nvSpPr>
        <p:spPr>
          <a:xfrm>
            <a:off x="11276381" y="2095805"/>
            <a:ext cx="1686154"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BV (V)</a:t>
            </a:r>
            <a:endParaRPr lang="en-US" sz="1500" dirty="0"/>
          </a:p>
        </p:txBody>
      </p:sp>
      <p:sp>
        <p:nvSpPr>
          <p:cNvPr id="24" name="Text 18"/>
          <p:cNvSpPr txBox="1"/>
          <p:nvPr/>
        </p:nvSpPr>
        <p:spPr>
          <a:xfrm>
            <a:off x="12953390" y="2095805"/>
            <a:ext cx="2467051"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Cw (fF/μm)</a:t>
            </a:r>
            <a:endParaRPr lang="en-US" sz="1500" dirty="0"/>
          </a:p>
        </p:txBody>
      </p:sp>
      <p:sp>
        <p:nvSpPr>
          <p:cNvPr id="25" name="Text 19"/>
          <p:cNvSpPr txBox="1"/>
          <p:nvPr/>
        </p:nvSpPr>
        <p:spPr>
          <a:xfrm>
            <a:off x="15417698" y="2095805"/>
            <a:ext cx="2305202" cy="562356"/>
          </a:xfrm>
          <a:prstGeom prst="rect">
            <a:avLst/>
          </a:prstGeom>
          <a:noFill/>
          <a:ln/>
        </p:spPr>
        <p:txBody>
          <a:bodyPr wrap="none" lIns="0" tIns="0" rIns="0" bIns="0" rtlCol="0" anchor="ctr"/>
          <a:lstStyle/>
          <a:p>
            <a:pPr algn="r" indent="0" marL="0">
              <a:buNone/>
            </a:pPr>
            <a:r>
              <a:rPr lang="en-US" sz="1500" b="1" dirty="0">
                <a:solidFill>
                  <a:srgbClr val="FFFFFF"/>
                </a:solidFill>
                <a:latin typeface="IBM Plex Sans KR" pitchFamily="34" charset="0"/>
                <a:ea typeface="IBM Plex Sans KR" pitchFamily="34" charset="-122"/>
                <a:cs typeface="IBM Plex Sans KR" pitchFamily="34" charset="-120"/>
              </a:rPr>
              <a:t>ΔVth (mV)</a:t>
            </a:r>
            <a:endParaRPr lang="en-US" sz="1500" dirty="0"/>
          </a:p>
        </p:txBody>
      </p:sp>
      <p:sp>
        <p:nvSpPr>
          <p:cNvPr id="26" name="Shape 20"/>
          <p:cNvSpPr/>
          <p:nvPr/>
        </p:nvSpPr>
        <p:spPr>
          <a:xfrm>
            <a:off x="571500" y="3219602"/>
            <a:ext cx="17145000" cy="9144"/>
          </a:xfrm>
          <a:prstGeom prst="rect">
            <a:avLst/>
          </a:prstGeom>
          <a:solidFill>
            <a:srgbClr val="D6DCE5"/>
          </a:solidFill>
          <a:ln w="12700">
            <a:solidFill>
              <a:srgbClr val="D6DCE5">
                <a:alpha val="0"/>
              </a:srgbClr>
            </a:solidFill>
            <a:prstDash val="solid"/>
          </a:ln>
        </p:spPr>
      </p:sp>
      <p:sp>
        <p:nvSpPr>
          <p:cNvPr id="27" name="Text 21"/>
          <p:cNvSpPr txBox="1"/>
          <p:nvPr/>
        </p:nvSpPr>
        <p:spPr>
          <a:xfrm>
            <a:off x="571500" y="2657246"/>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W01</a:t>
            </a:r>
            <a:endParaRPr lang="en-US" sz="1500" dirty="0"/>
          </a:p>
        </p:txBody>
      </p:sp>
      <p:sp>
        <p:nvSpPr>
          <p:cNvPr id="28" name="Text 22"/>
          <p:cNvSpPr txBox="1"/>
          <p:nvPr/>
        </p:nvSpPr>
        <p:spPr>
          <a:xfrm>
            <a:off x="3696005" y="2657246"/>
            <a:ext cx="220096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0.93</a:t>
            </a:r>
            <a:endParaRPr lang="en-US" sz="1500" dirty="0"/>
          </a:p>
        </p:txBody>
      </p:sp>
      <p:sp>
        <p:nvSpPr>
          <p:cNvPr id="29" name="Text 23"/>
          <p:cNvSpPr txBox="1"/>
          <p:nvPr/>
        </p:nvSpPr>
        <p:spPr>
          <a:xfrm>
            <a:off x="5888736" y="2657246"/>
            <a:ext cx="24579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11.7</a:t>
            </a:r>
            <a:endParaRPr lang="en-US" sz="1500" dirty="0"/>
          </a:p>
        </p:txBody>
      </p:sp>
      <p:sp>
        <p:nvSpPr>
          <p:cNvPr id="30" name="Text 24"/>
          <p:cNvSpPr txBox="1"/>
          <p:nvPr/>
        </p:nvSpPr>
        <p:spPr>
          <a:xfrm>
            <a:off x="8339328" y="2657246"/>
            <a:ext cx="29434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1.41e-9</a:t>
            </a:r>
            <a:endParaRPr lang="en-US" sz="1500" dirty="0"/>
          </a:p>
        </p:txBody>
      </p:sp>
      <p:sp>
        <p:nvSpPr>
          <p:cNvPr id="31" name="Text 25"/>
          <p:cNvSpPr txBox="1"/>
          <p:nvPr/>
        </p:nvSpPr>
        <p:spPr>
          <a:xfrm>
            <a:off x="11276381" y="2657246"/>
            <a:ext cx="16861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4.10</a:t>
            </a:r>
            <a:endParaRPr lang="en-US" sz="1500" dirty="0"/>
          </a:p>
        </p:txBody>
      </p:sp>
      <p:sp>
        <p:nvSpPr>
          <p:cNvPr id="32" name="Text 26"/>
          <p:cNvSpPr txBox="1"/>
          <p:nvPr/>
        </p:nvSpPr>
        <p:spPr>
          <a:xfrm>
            <a:off x="12953390" y="2657246"/>
            <a:ext cx="246705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0.46</a:t>
            </a:r>
            <a:endParaRPr lang="en-US" sz="1500" dirty="0"/>
          </a:p>
        </p:txBody>
      </p:sp>
      <p:sp>
        <p:nvSpPr>
          <p:cNvPr id="33" name="Text 27"/>
          <p:cNvSpPr txBox="1"/>
          <p:nvPr/>
        </p:nvSpPr>
        <p:spPr>
          <a:xfrm>
            <a:off x="15417698" y="2657246"/>
            <a:ext cx="2305202"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28</a:t>
            </a:r>
            <a:endParaRPr lang="en-US" sz="1500" dirty="0"/>
          </a:p>
        </p:txBody>
      </p:sp>
      <p:sp>
        <p:nvSpPr>
          <p:cNvPr id="34" name="Shape 28"/>
          <p:cNvSpPr/>
          <p:nvPr/>
        </p:nvSpPr>
        <p:spPr>
          <a:xfrm>
            <a:off x="571500" y="3224174"/>
            <a:ext cx="17145000" cy="571500"/>
          </a:xfrm>
          <a:prstGeom prst="rect">
            <a:avLst/>
          </a:prstGeom>
          <a:solidFill>
            <a:srgbClr val="F7F8FB"/>
          </a:solidFill>
          <a:ln/>
        </p:spPr>
      </p:sp>
      <p:sp>
        <p:nvSpPr>
          <p:cNvPr id="35" name="Shape 29"/>
          <p:cNvSpPr/>
          <p:nvPr/>
        </p:nvSpPr>
        <p:spPr>
          <a:xfrm>
            <a:off x="571500" y="3786530"/>
            <a:ext cx="17145000" cy="9144"/>
          </a:xfrm>
          <a:prstGeom prst="rect">
            <a:avLst/>
          </a:prstGeom>
          <a:solidFill>
            <a:srgbClr val="D6DCE5"/>
          </a:solidFill>
          <a:ln w="12700">
            <a:solidFill>
              <a:srgbClr val="D6DCE5">
                <a:alpha val="0"/>
              </a:srgbClr>
            </a:solidFill>
            <a:prstDash val="solid"/>
          </a:ln>
        </p:spPr>
      </p:sp>
      <p:sp>
        <p:nvSpPr>
          <p:cNvPr id="36" name="Text 30"/>
          <p:cNvSpPr txBox="1"/>
          <p:nvPr/>
        </p:nvSpPr>
        <p:spPr>
          <a:xfrm>
            <a:off x="571500" y="3224174"/>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W02</a:t>
            </a:r>
            <a:endParaRPr lang="en-US" sz="1500" dirty="0"/>
          </a:p>
        </p:txBody>
      </p:sp>
      <p:sp>
        <p:nvSpPr>
          <p:cNvPr id="37" name="Text 31"/>
          <p:cNvSpPr txBox="1"/>
          <p:nvPr/>
        </p:nvSpPr>
        <p:spPr>
          <a:xfrm>
            <a:off x="3696005" y="3224174"/>
            <a:ext cx="220096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0.95</a:t>
            </a:r>
            <a:endParaRPr lang="en-US" sz="1500" dirty="0"/>
          </a:p>
        </p:txBody>
      </p:sp>
      <p:sp>
        <p:nvSpPr>
          <p:cNvPr id="38" name="Text 32"/>
          <p:cNvSpPr txBox="1"/>
          <p:nvPr/>
        </p:nvSpPr>
        <p:spPr>
          <a:xfrm>
            <a:off x="5888736" y="3224174"/>
            <a:ext cx="24579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12.0</a:t>
            </a:r>
            <a:endParaRPr lang="en-US" sz="1500" dirty="0"/>
          </a:p>
        </p:txBody>
      </p:sp>
      <p:sp>
        <p:nvSpPr>
          <p:cNvPr id="39" name="Text 33"/>
          <p:cNvSpPr txBox="1"/>
          <p:nvPr/>
        </p:nvSpPr>
        <p:spPr>
          <a:xfrm>
            <a:off x="8339328" y="3224174"/>
            <a:ext cx="29434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1.62e-9</a:t>
            </a:r>
            <a:endParaRPr lang="en-US" sz="1500" dirty="0"/>
          </a:p>
        </p:txBody>
      </p:sp>
      <p:sp>
        <p:nvSpPr>
          <p:cNvPr id="40" name="Text 34"/>
          <p:cNvSpPr txBox="1"/>
          <p:nvPr/>
        </p:nvSpPr>
        <p:spPr>
          <a:xfrm>
            <a:off x="11276381" y="3224174"/>
            <a:ext cx="16861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3.95</a:t>
            </a:r>
            <a:endParaRPr lang="en-US" sz="1500" dirty="0"/>
          </a:p>
        </p:txBody>
      </p:sp>
      <p:sp>
        <p:nvSpPr>
          <p:cNvPr id="41" name="Text 35"/>
          <p:cNvSpPr txBox="1"/>
          <p:nvPr/>
        </p:nvSpPr>
        <p:spPr>
          <a:xfrm>
            <a:off x="12953390" y="3224174"/>
            <a:ext cx="246705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0.47</a:t>
            </a:r>
            <a:endParaRPr lang="en-US" sz="1500" dirty="0"/>
          </a:p>
        </p:txBody>
      </p:sp>
      <p:sp>
        <p:nvSpPr>
          <p:cNvPr id="42" name="Text 36"/>
          <p:cNvSpPr txBox="1"/>
          <p:nvPr/>
        </p:nvSpPr>
        <p:spPr>
          <a:xfrm>
            <a:off x="15417698" y="3224174"/>
            <a:ext cx="2305202"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31</a:t>
            </a:r>
            <a:endParaRPr lang="en-US" sz="1500" dirty="0"/>
          </a:p>
        </p:txBody>
      </p:sp>
      <p:sp>
        <p:nvSpPr>
          <p:cNvPr id="43" name="Shape 37"/>
          <p:cNvSpPr/>
          <p:nvPr/>
        </p:nvSpPr>
        <p:spPr>
          <a:xfrm>
            <a:off x="571500" y="4367174"/>
            <a:ext cx="17145000" cy="9144"/>
          </a:xfrm>
          <a:prstGeom prst="rect">
            <a:avLst/>
          </a:prstGeom>
          <a:solidFill>
            <a:srgbClr val="D6DCE5"/>
          </a:solidFill>
          <a:ln w="12700">
            <a:solidFill>
              <a:srgbClr val="D6DCE5">
                <a:alpha val="0"/>
              </a:srgbClr>
            </a:solidFill>
            <a:prstDash val="solid"/>
          </a:ln>
        </p:spPr>
      </p:sp>
      <p:sp>
        <p:nvSpPr>
          <p:cNvPr id="44" name="Text 38"/>
          <p:cNvSpPr txBox="1"/>
          <p:nvPr/>
        </p:nvSpPr>
        <p:spPr>
          <a:xfrm>
            <a:off x="571500" y="3795674"/>
            <a:ext cx="156271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W03</a:t>
            </a:r>
            <a:endParaRPr lang="en-US" sz="1500" dirty="0"/>
          </a:p>
        </p:txBody>
      </p:sp>
      <p:sp>
        <p:nvSpPr>
          <p:cNvPr id="45" name="Text 39"/>
          <p:cNvSpPr txBox="1"/>
          <p:nvPr/>
        </p:nvSpPr>
        <p:spPr>
          <a:xfrm>
            <a:off x="3696005" y="3795674"/>
            <a:ext cx="2200961"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0.94</a:t>
            </a:r>
            <a:endParaRPr lang="en-US" sz="1500" dirty="0"/>
          </a:p>
        </p:txBody>
      </p:sp>
      <p:sp>
        <p:nvSpPr>
          <p:cNvPr id="46" name="Text 40"/>
          <p:cNvSpPr txBox="1"/>
          <p:nvPr/>
        </p:nvSpPr>
        <p:spPr>
          <a:xfrm>
            <a:off x="5888736" y="3795674"/>
            <a:ext cx="2457907"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11.9</a:t>
            </a:r>
            <a:endParaRPr lang="en-US" sz="1500" dirty="0"/>
          </a:p>
        </p:txBody>
      </p:sp>
      <p:sp>
        <p:nvSpPr>
          <p:cNvPr id="47" name="Text 41"/>
          <p:cNvSpPr txBox="1"/>
          <p:nvPr/>
        </p:nvSpPr>
        <p:spPr>
          <a:xfrm>
            <a:off x="8339328" y="3795674"/>
            <a:ext cx="2943454"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1.48e-9</a:t>
            </a:r>
            <a:endParaRPr lang="en-US" sz="1500" dirty="0"/>
          </a:p>
        </p:txBody>
      </p:sp>
      <p:sp>
        <p:nvSpPr>
          <p:cNvPr id="48" name="Text 42"/>
          <p:cNvSpPr txBox="1"/>
          <p:nvPr/>
        </p:nvSpPr>
        <p:spPr>
          <a:xfrm>
            <a:off x="11276381" y="3795674"/>
            <a:ext cx="1686154"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4.05</a:t>
            </a:r>
            <a:endParaRPr lang="en-US" sz="1500" dirty="0"/>
          </a:p>
        </p:txBody>
      </p:sp>
      <p:sp>
        <p:nvSpPr>
          <p:cNvPr id="49" name="Text 43"/>
          <p:cNvSpPr txBox="1"/>
          <p:nvPr/>
        </p:nvSpPr>
        <p:spPr>
          <a:xfrm>
            <a:off x="12953390" y="3795674"/>
            <a:ext cx="2467051"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0.46</a:t>
            </a:r>
            <a:endParaRPr lang="en-US" sz="1500" dirty="0"/>
          </a:p>
        </p:txBody>
      </p:sp>
      <p:sp>
        <p:nvSpPr>
          <p:cNvPr id="50" name="Text 44"/>
          <p:cNvSpPr txBox="1"/>
          <p:nvPr/>
        </p:nvSpPr>
        <p:spPr>
          <a:xfrm>
            <a:off x="15417698" y="3795674"/>
            <a:ext cx="2305202"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30</a:t>
            </a:r>
            <a:endParaRPr lang="en-US" sz="1500" dirty="0"/>
          </a:p>
        </p:txBody>
      </p:sp>
      <p:sp>
        <p:nvSpPr>
          <p:cNvPr id="51" name="Shape 45"/>
          <p:cNvSpPr/>
          <p:nvPr/>
        </p:nvSpPr>
        <p:spPr>
          <a:xfrm>
            <a:off x="571500" y="4371746"/>
            <a:ext cx="17145000" cy="580644"/>
          </a:xfrm>
          <a:prstGeom prst="rect">
            <a:avLst/>
          </a:prstGeom>
          <a:solidFill>
            <a:srgbClr val="F2F4F8"/>
          </a:solidFill>
          <a:ln w="25400">
            <a:solidFill>
              <a:srgbClr val="B6C0CE"/>
            </a:solidFill>
            <a:prstDash val="solid"/>
          </a:ln>
        </p:spPr>
      </p:sp>
      <p:sp>
        <p:nvSpPr>
          <p:cNvPr id="52" name="Text 46"/>
          <p:cNvSpPr txBox="1"/>
          <p:nvPr/>
        </p:nvSpPr>
        <p:spPr>
          <a:xfrm>
            <a:off x="571500" y="4371746"/>
            <a:ext cx="1562710" cy="581558"/>
          </a:xfrm>
          <a:prstGeom prst="rect">
            <a:avLst/>
          </a:prstGeom>
          <a:noFill/>
          <a:ln/>
        </p:spPr>
        <p:txBody>
          <a:bodyPr wrap="squar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W04</a:t>
            </a:r>
            <a:endParaRPr lang="en-US" sz="1500" dirty="0"/>
          </a:p>
        </p:txBody>
      </p:sp>
      <p:sp>
        <p:nvSpPr>
          <p:cNvPr id="53" name="Text 47"/>
          <p:cNvSpPr txBox="1"/>
          <p:nvPr/>
        </p:nvSpPr>
        <p:spPr>
          <a:xfrm>
            <a:off x="3696005" y="4371746"/>
            <a:ext cx="2200961"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0.88</a:t>
            </a:r>
            <a:endParaRPr lang="en-US" sz="1500" dirty="0"/>
          </a:p>
        </p:txBody>
      </p:sp>
      <p:sp>
        <p:nvSpPr>
          <p:cNvPr id="54" name="Text 48"/>
          <p:cNvSpPr txBox="1"/>
          <p:nvPr/>
        </p:nvSpPr>
        <p:spPr>
          <a:xfrm>
            <a:off x="5888736" y="4371746"/>
            <a:ext cx="2457907"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11.1</a:t>
            </a:r>
            <a:endParaRPr lang="en-US" sz="1500" dirty="0"/>
          </a:p>
        </p:txBody>
      </p:sp>
      <p:sp>
        <p:nvSpPr>
          <p:cNvPr id="55" name="Text 49"/>
          <p:cNvSpPr txBox="1"/>
          <p:nvPr/>
        </p:nvSpPr>
        <p:spPr>
          <a:xfrm>
            <a:off x="8339328" y="4371746"/>
            <a:ext cx="2943454"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8.30e-10</a:t>
            </a:r>
            <a:endParaRPr lang="en-US" sz="1500" dirty="0"/>
          </a:p>
        </p:txBody>
      </p:sp>
      <p:sp>
        <p:nvSpPr>
          <p:cNvPr id="56" name="Text 50"/>
          <p:cNvSpPr txBox="1"/>
          <p:nvPr/>
        </p:nvSpPr>
        <p:spPr>
          <a:xfrm>
            <a:off x="11276381" y="4371746"/>
            <a:ext cx="1686154"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4.60</a:t>
            </a:r>
            <a:endParaRPr lang="en-US" sz="1500" dirty="0"/>
          </a:p>
        </p:txBody>
      </p:sp>
      <p:sp>
        <p:nvSpPr>
          <p:cNvPr id="57" name="Text 51"/>
          <p:cNvSpPr txBox="1"/>
          <p:nvPr/>
        </p:nvSpPr>
        <p:spPr>
          <a:xfrm>
            <a:off x="12953390" y="4371746"/>
            <a:ext cx="2467051"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0.43</a:t>
            </a:r>
            <a:endParaRPr lang="en-US" sz="1500" dirty="0"/>
          </a:p>
        </p:txBody>
      </p:sp>
      <p:sp>
        <p:nvSpPr>
          <p:cNvPr id="58" name="Text 52"/>
          <p:cNvSpPr txBox="1"/>
          <p:nvPr/>
        </p:nvSpPr>
        <p:spPr>
          <a:xfrm>
            <a:off x="15417698" y="4371746"/>
            <a:ext cx="2305202" cy="581558"/>
          </a:xfrm>
          <a:prstGeom prst="rect">
            <a:avLst/>
          </a:prstGeom>
          <a:noFill/>
          <a:ln/>
        </p:spPr>
        <p:txBody>
          <a:bodyPr wrap="squar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14</a:t>
            </a:r>
            <a:endParaRPr lang="en-US" sz="1500" dirty="0"/>
          </a:p>
        </p:txBody>
      </p:sp>
      <p:sp>
        <p:nvSpPr>
          <p:cNvPr id="59" name="Shape 53"/>
          <p:cNvSpPr/>
          <p:nvPr/>
        </p:nvSpPr>
        <p:spPr>
          <a:xfrm>
            <a:off x="571500" y="4947818"/>
            <a:ext cx="17145000" cy="571500"/>
          </a:xfrm>
          <a:prstGeom prst="rect">
            <a:avLst/>
          </a:prstGeom>
          <a:solidFill>
            <a:srgbClr val="F7F8FB"/>
          </a:solidFill>
          <a:ln/>
        </p:spPr>
      </p:sp>
      <p:sp>
        <p:nvSpPr>
          <p:cNvPr id="60" name="Shape 54"/>
          <p:cNvSpPr/>
          <p:nvPr/>
        </p:nvSpPr>
        <p:spPr>
          <a:xfrm>
            <a:off x="571500" y="5510174"/>
            <a:ext cx="17145000" cy="9144"/>
          </a:xfrm>
          <a:prstGeom prst="rect">
            <a:avLst/>
          </a:prstGeom>
          <a:solidFill>
            <a:srgbClr val="D6DCE5"/>
          </a:solidFill>
          <a:ln w="12700">
            <a:solidFill>
              <a:srgbClr val="D6DCE5">
                <a:alpha val="0"/>
              </a:srgbClr>
            </a:solidFill>
            <a:prstDash val="solid"/>
          </a:ln>
        </p:spPr>
      </p:sp>
      <p:sp>
        <p:nvSpPr>
          <p:cNvPr id="61" name="Text 55"/>
          <p:cNvSpPr txBox="1"/>
          <p:nvPr/>
        </p:nvSpPr>
        <p:spPr>
          <a:xfrm>
            <a:off x="571500" y="4947818"/>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W05</a:t>
            </a:r>
            <a:endParaRPr lang="en-US" sz="1500" dirty="0"/>
          </a:p>
        </p:txBody>
      </p:sp>
      <p:sp>
        <p:nvSpPr>
          <p:cNvPr id="62" name="Text 56"/>
          <p:cNvSpPr txBox="1"/>
          <p:nvPr/>
        </p:nvSpPr>
        <p:spPr>
          <a:xfrm>
            <a:off x="3696005" y="4947818"/>
            <a:ext cx="220096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0.87</a:t>
            </a:r>
            <a:endParaRPr lang="en-US" sz="1500" dirty="0"/>
          </a:p>
        </p:txBody>
      </p:sp>
      <p:sp>
        <p:nvSpPr>
          <p:cNvPr id="63" name="Text 57"/>
          <p:cNvSpPr txBox="1"/>
          <p:nvPr/>
        </p:nvSpPr>
        <p:spPr>
          <a:xfrm>
            <a:off x="5888736" y="4947818"/>
            <a:ext cx="24579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11.0</a:t>
            </a:r>
            <a:endParaRPr lang="en-US" sz="1500" dirty="0"/>
          </a:p>
        </p:txBody>
      </p:sp>
      <p:sp>
        <p:nvSpPr>
          <p:cNvPr id="64" name="Text 58"/>
          <p:cNvSpPr txBox="1"/>
          <p:nvPr/>
        </p:nvSpPr>
        <p:spPr>
          <a:xfrm>
            <a:off x="8339328" y="4947818"/>
            <a:ext cx="29434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9.10e-10</a:t>
            </a:r>
            <a:endParaRPr lang="en-US" sz="1500" dirty="0"/>
          </a:p>
        </p:txBody>
      </p:sp>
      <p:sp>
        <p:nvSpPr>
          <p:cNvPr id="65" name="Text 59"/>
          <p:cNvSpPr txBox="1"/>
          <p:nvPr/>
        </p:nvSpPr>
        <p:spPr>
          <a:xfrm>
            <a:off x="11276381" y="4947818"/>
            <a:ext cx="16861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4.50</a:t>
            </a:r>
            <a:endParaRPr lang="en-US" sz="1500" dirty="0"/>
          </a:p>
        </p:txBody>
      </p:sp>
      <p:sp>
        <p:nvSpPr>
          <p:cNvPr id="66" name="Text 60"/>
          <p:cNvSpPr txBox="1"/>
          <p:nvPr/>
        </p:nvSpPr>
        <p:spPr>
          <a:xfrm>
            <a:off x="12953390" y="4947818"/>
            <a:ext cx="246705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0.43</a:t>
            </a:r>
            <a:endParaRPr lang="en-US" sz="1500" dirty="0"/>
          </a:p>
        </p:txBody>
      </p:sp>
      <p:sp>
        <p:nvSpPr>
          <p:cNvPr id="67" name="Text 61"/>
          <p:cNvSpPr txBox="1"/>
          <p:nvPr/>
        </p:nvSpPr>
        <p:spPr>
          <a:xfrm>
            <a:off x="15417698" y="4947818"/>
            <a:ext cx="2305202"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16</a:t>
            </a:r>
            <a:endParaRPr lang="en-US" sz="1500" dirty="0"/>
          </a:p>
        </p:txBody>
      </p:sp>
      <p:sp>
        <p:nvSpPr>
          <p:cNvPr id="68" name="Text 62"/>
          <p:cNvSpPr txBox="1"/>
          <p:nvPr/>
        </p:nvSpPr>
        <p:spPr>
          <a:xfrm>
            <a:off x="571500" y="5519318"/>
            <a:ext cx="1562710" cy="571500"/>
          </a:xfrm>
          <a:prstGeom prst="rect">
            <a:avLst/>
          </a:prstGeom>
          <a:noFill/>
          <a:ln/>
        </p:spPr>
        <p:txBody>
          <a:bodyPr wrap="none" lIns="0" tIns="0" rIns="0" bIns="0" rtlCol="0" anchor="ctr"/>
          <a:lstStyle/>
          <a:p>
            <a:pPr algn="l" indent="0" marL="0">
              <a:buNone/>
            </a:pPr>
            <a:r>
              <a:rPr lang="en-US" sz="1500" b="1" dirty="0">
                <a:solidFill>
                  <a:srgbClr val="2F3D54"/>
                </a:solidFill>
                <a:latin typeface="IBM Plex Sans KR" pitchFamily="34" charset="0"/>
                <a:ea typeface="IBM Plex Sans KR" pitchFamily="34" charset="-122"/>
                <a:cs typeface="IBM Plex Sans KR" pitchFamily="34" charset="-120"/>
              </a:rPr>
              <a:t>W06</a:t>
            </a:r>
            <a:endParaRPr lang="en-US" sz="1500" dirty="0"/>
          </a:p>
        </p:txBody>
      </p:sp>
      <p:sp>
        <p:nvSpPr>
          <p:cNvPr id="69" name="Text 63"/>
          <p:cNvSpPr txBox="1"/>
          <p:nvPr/>
        </p:nvSpPr>
        <p:spPr>
          <a:xfrm>
            <a:off x="3696005" y="5519318"/>
            <a:ext cx="220096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0.88</a:t>
            </a:r>
            <a:endParaRPr lang="en-US" sz="1500" dirty="0"/>
          </a:p>
        </p:txBody>
      </p:sp>
      <p:sp>
        <p:nvSpPr>
          <p:cNvPr id="70" name="Text 64"/>
          <p:cNvSpPr txBox="1"/>
          <p:nvPr/>
        </p:nvSpPr>
        <p:spPr>
          <a:xfrm>
            <a:off x="5888736" y="5519318"/>
            <a:ext cx="2457907"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11.1</a:t>
            </a:r>
            <a:endParaRPr lang="en-US" sz="1500" dirty="0"/>
          </a:p>
        </p:txBody>
      </p:sp>
      <p:sp>
        <p:nvSpPr>
          <p:cNvPr id="71" name="Text 65"/>
          <p:cNvSpPr txBox="1"/>
          <p:nvPr/>
        </p:nvSpPr>
        <p:spPr>
          <a:xfrm>
            <a:off x="8339328" y="5519318"/>
            <a:ext cx="29434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7.90e-10</a:t>
            </a:r>
            <a:endParaRPr lang="en-US" sz="1500" dirty="0"/>
          </a:p>
        </p:txBody>
      </p:sp>
      <p:sp>
        <p:nvSpPr>
          <p:cNvPr id="72" name="Text 66"/>
          <p:cNvSpPr txBox="1"/>
          <p:nvPr/>
        </p:nvSpPr>
        <p:spPr>
          <a:xfrm>
            <a:off x="11276381" y="5519318"/>
            <a:ext cx="1686154"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4.70</a:t>
            </a:r>
            <a:endParaRPr lang="en-US" sz="1500" dirty="0"/>
          </a:p>
        </p:txBody>
      </p:sp>
      <p:sp>
        <p:nvSpPr>
          <p:cNvPr id="73" name="Text 67"/>
          <p:cNvSpPr txBox="1"/>
          <p:nvPr/>
        </p:nvSpPr>
        <p:spPr>
          <a:xfrm>
            <a:off x="12953390" y="5519318"/>
            <a:ext cx="2467051"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0.42</a:t>
            </a:r>
            <a:endParaRPr lang="en-US" sz="1500" dirty="0"/>
          </a:p>
        </p:txBody>
      </p:sp>
      <p:sp>
        <p:nvSpPr>
          <p:cNvPr id="74" name="Text 68"/>
          <p:cNvSpPr txBox="1"/>
          <p:nvPr/>
        </p:nvSpPr>
        <p:spPr>
          <a:xfrm>
            <a:off x="15417698" y="5519318"/>
            <a:ext cx="2305202" cy="571500"/>
          </a:xfrm>
          <a:prstGeom prst="rect">
            <a:avLst/>
          </a:prstGeom>
          <a:noFill/>
          <a:ln/>
        </p:spPr>
        <p:txBody>
          <a:bodyPr wrap="none" lIns="0" tIns="0" rIns="0" bIns="0" rtlCol="0" anchor="ctr"/>
          <a:lstStyle/>
          <a:p>
            <a:pPr algn="r" indent="0" marL="0">
              <a:buNone/>
            </a:pPr>
            <a:r>
              <a:rPr lang="en-US" sz="1500" dirty="0">
                <a:solidFill>
                  <a:srgbClr val="2F3D54"/>
                </a:solidFill>
                <a:latin typeface="IBM Plex Sans KR" pitchFamily="34" charset="0"/>
                <a:ea typeface="IBM Plex Sans KR" pitchFamily="34" charset="-122"/>
                <a:cs typeface="IBM Plex Sans KR" pitchFamily="34" charset="-120"/>
              </a:rPr>
              <a:t>13</a:t>
            </a:r>
            <a:endParaRPr lang="en-US" sz="1500" dirty="0"/>
          </a:p>
        </p:txBody>
      </p:sp>
      <p:sp>
        <p:nvSpPr>
          <p:cNvPr id="75" name="Text 69"/>
          <p:cNvSpPr txBox="1"/>
          <p:nvPr/>
        </p:nvSpPr>
        <p:spPr>
          <a:xfrm>
            <a:off x="2286000" y="2829154"/>
            <a:ext cx="648310" cy="257861"/>
          </a:xfrm>
          <a:prstGeom prst="rect">
            <a:avLst/>
          </a:prstGeom>
          <a:solidFill>
            <a:srgbClr val="B85C46"/>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76" name="Text 70"/>
          <p:cNvSpPr txBox="1"/>
          <p:nvPr/>
        </p:nvSpPr>
        <p:spPr>
          <a:xfrm>
            <a:off x="2286000" y="3400654"/>
            <a:ext cx="648310" cy="257861"/>
          </a:xfrm>
          <a:prstGeom prst="rect">
            <a:avLst/>
          </a:prstGeom>
          <a:solidFill>
            <a:srgbClr val="B85C46"/>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77" name="Text 71"/>
          <p:cNvSpPr txBox="1"/>
          <p:nvPr/>
        </p:nvSpPr>
        <p:spPr>
          <a:xfrm>
            <a:off x="2286000" y="3972154"/>
            <a:ext cx="648310" cy="257861"/>
          </a:xfrm>
          <a:prstGeom prst="rect">
            <a:avLst/>
          </a:prstGeom>
          <a:solidFill>
            <a:srgbClr val="B85C46"/>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CAR</a:t>
            </a:r>
            <a:endParaRPr lang="en-US" sz="1050" dirty="0"/>
          </a:p>
        </p:txBody>
      </p:sp>
      <p:sp>
        <p:nvSpPr>
          <p:cNvPr id="78" name="Text 72"/>
          <p:cNvSpPr txBox="1"/>
          <p:nvPr/>
        </p:nvSpPr>
        <p:spPr>
          <a:xfrm>
            <a:off x="2305202" y="4552798"/>
            <a:ext cx="648310" cy="257861"/>
          </a:xfrm>
          <a:prstGeom prst="rect">
            <a:avLst/>
          </a:prstGeom>
          <a:solidFill>
            <a:srgbClr val="2D6F8C"/>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79" name="Text 73"/>
          <p:cNvSpPr txBox="1"/>
          <p:nvPr/>
        </p:nvSpPr>
        <p:spPr>
          <a:xfrm>
            <a:off x="2305202" y="5124298"/>
            <a:ext cx="648310" cy="257861"/>
          </a:xfrm>
          <a:prstGeom prst="rect">
            <a:avLst/>
          </a:prstGeom>
          <a:solidFill>
            <a:srgbClr val="2D6F8C"/>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80" name="Text 74"/>
          <p:cNvSpPr txBox="1"/>
          <p:nvPr/>
        </p:nvSpPr>
        <p:spPr>
          <a:xfrm>
            <a:off x="2305202" y="5695798"/>
            <a:ext cx="648310" cy="257861"/>
          </a:xfrm>
          <a:prstGeom prst="rect">
            <a:avLst/>
          </a:prstGeom>
          <a:solidFill>
            <a:srgbClr val="2D6F8C"/>
          </a:solidFill>
          <a:ln>
            <a:solidFill>
              <a:srgbClr val="FFFFFF">
                <a:alpha val="0"/>
              </a:srgbClr>
            </a:solidFill>
          </a:ln>
        </p:spPr>
        <p:txBody>
          <a:bodyPr wrap="none" lIns="114300" tIns="25400" rIns="114300" bIns="25400" rtlCol="0" anchor="ctr"/>
          <a:lstStyle/>
          <a:p>
            <a:pPr algn="l" indent="0" marL="0">
              <a:buNone/>
            </a:pPr>
            <a:r>
              <a:rPr lang="en-US" sz="1050" spc="126" kern="0" dirty="0">
                <a:solidFill>
                  <a:srgbClr val="FFFFFF"/>
                </a:solidFill>
                <a:latin typeface="IBM Plex Sans KR" pitchFamily="34" charset="0"/>
                <a:ea typeface="IBM Plex Sans KR" pitchFamily="34" charset="-122"/>
                <a:cs typeface="IBM Plex Sans KR" pitchFamily="34" charset="-120"/>
              </a:rPr>
              <a:t>MOR</a:t>
            </a:r>
            <a:endParaRPr lang="en-US" sz="1050" dirty="0"/>
          </a:p>
        </p:txBody>
      </p:sp>
      <p:sp>
        <p:nvSpPr>
          <p:cNvPr id="81" name="Shape 75"/>
          <p:cNvSpPr/>
          <p:nvPr/>
        </p:nvSpPr>
        <p:spPr>
          <a:xfrm>
            <a:off x="571500" y="6476695"/>
            <a:ext cx="4162349" cy="2095805"/>
          </a:xfrm>
          <a:prstGeom prst="rect">
            <a:avLst/>
          </a:prstGeom>
          <a:solidFill>
            <a:srgbClr val="FFFFFF"/>
          </a:solidFill>
          <a:ln w="12700">
            <a:solidFill>
              <a:srgbClr val="C4CDD9"/>
            </a:solidFill>
            <a:prstDash val="solid"/>
          </a:ln>
        </p:spPr>
      </p:sp>
      <p:sp>
        <p:nvSpPr>
          <p:cNvPr id="82" name="Text 76"/>
          <p:cNvSpPr txBox="1"/>
          <p:nvPr/>
        </p:nvSpPr>
        <p:spPr>
          <a:xfrm>
            <a:off x="790956" y="6657746"/>
            <a:ext cx="3724351"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Rs delta</a:t>
            </a:r>
            <a:endParaRPr lang="en-US" sz="975" dirty="0"/>
          </a:p>
        </p:txBody>
      </p:sp>
      <p:sp>
        <p:nvSpPr>
          <p:cNvPr id="83" name="Text 77"/>
          <p:cNvSpPr txBox="1"/>
          <p:nvPr/>
        </p:nvSpPr>
        <p:spPr>
          <a:xfrm>
            <a:off x="790956" y="6915607"/>
            <a:ext cx="3724351" cy="342900"/>
          </a:xfrm>
          <a:prstGeom prst="rect">
            <a:avLst/>
          </a:prstGeom>
          <a:noFill/>
          <a:ln/>
        </p:spPr>
        <p:txBody>
          <a:bodyPr wrap="none" lIns="0" tIns="0" rIns="0" bIns="0" rtlCol="0" anchor="ctr"/>
          <a:lstStyle/>
          <a:p>
            <a:pPr algn="l" indent="0" marL="0">
              <a:buNone/>
            </a:pPr>
            <a:r>
              <a:rPr lang="en-US" sz="2700" b="1" dirty="0">
                <a:solidFill>
                  <a:srgbClr val="1B2C45"/>
                </a:solidFill>
                <a:latin typeface="IBM Plex Sans KR" pitchFamily="34" charset="0"/>
                <a:ea typeface="IBM Plex Sans KR" pitchFamily="34" charset="-122"/>
                <a:cs typeface="IBM Plex Sans KR" pitchFamily="34" charset="-120"/>
              </a:rPr>
              <a:t>−0.06</a:t>
            </a:r>
            <a:endParaRPr lang="en-US" sz="2700" dirty="0"/>
          </a:p>
        </p:txBody>
      </p:sp>
      <p:sp>
        <p:nvSpPr>
          <p:cNvPr id="84" name="Text 78"/>
          <p:cNvSpPr txBox="1"/>
          <p:nvPr/>
        </p:nvSpPr>
        <p:spPr>
          <a:xfrm>
            <a:off x="790956" y="7315200"/>
            <a:ext cx="3724351" cy="191110"/>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Ω/sq · MOR avg vs CAR</a:t>
            </a:r>
            <a:endParaRPr lang="en-US" sz="975" dirty="0"/>
          </a:p>
        </p:txBody>
      </p:sp>
      <p:sp>
        <p:nvSpPr>
          <p:cNvPr id="85" name="Shape 79"/>
          <p:cNvSpPr/>
          <p:nvPr/>
        </p:nvSpPr>
        <p:spPr>
          <a:xfrm>
            <a:off x="4900270" y="6476695"/>
            <a:ext cx="4162349" cy="2095805"/>
          </a:xfrm>
          <a:prstGeom prst="rect">
            <a:avLst/>
          </a:prstGeom>
          <a:solidFill>
            <a:srgbClr val="FFFFFF"/>
          </a:solidFill>
          <a:ln w="12700">
            <a:solidFill>
              <a:srgbClr val="C4CDD9"/>
            </a:solidFill>
            <a:prstDash val="solid"/>
          </a:ln>
        </p:spPr>
      </p:sp>
      <p:sp>
        <p:nvSpPr>
          <p:cNvPr id="86" name="Text 80"/>
          <p:cNvSpPr txBox="1"/>
          <p:nvPr/>
        </p:nvSpPr>
        <p:spPr>
          <a:xfrm>
            <a:off x="5119726" y="6657746"/>
            <a:ext cx="3724351"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Leak ratio</a:t>
            </a:r>
            <a:endParaRPr lang="en-US" sz="975" dirty="0"/>
          </a:p>
        </p:txBody>
      </p:sp>
      <p:sp>
        <p:nvSpPr>
          <p:cNvPr id="87" name="Text 81"/>
          <p:cNvSpPr txBox="1"/>
          <p:nvPr/>
        </p:nvSpPr>
        <p:spPr>
          <a:xfrm>
            <a:off x="5119726" y="6915607"/>
            <a:ext cx="3724351" cy="342900"/>
          </a:xfrm>
          <a:prstGeom prst="rect">
            <a:avLst/>
          </a:prstGeom>
          <a:noFill/>
          <a:ln/>
        </p:spPr>
        <p:txBody>
          <a:bodyPr wrap="none" lIns="0" tIns="0" rIns="0" bIns="0" rtlCol="0" anchor="ctr"/>
          <a:lstStyle/>
          <a:p>
            <a:pPr algn="l" indent="0" marL="0">
              <a:buNone/>
            </a:pPr>
            <a:r>
              <a:rPr lang="en-US" sz="2700" b="1" dirty="0">
                <a:solidFill>
                  <a:srgbClr val="2D6F8C"/>
                </a:solidFill>
                <a:latin typeface="IBM Plex Sans KR" pitchFamily="34" charset="0"/>
                <a:ea typeface="IBM Plex Sans KR" pitchFamily="34" charset="-122"/>
                <a:cs typeface="IBM Plex Sans KR" pitchFamily="34" charset="-120"/>
              </a:rPr>
              <a:t>−44%</a:t>
            </a:r>
            <a:endParaRPr lang="en-US" sz="2700" dirty="0"/>
          </a:p>
        </p:txBody>
      </p:sp>
      <p:sp>
        <p:nvSpPr>
          <p:cNvPr id="88" name="Text 82"/>
          <p:cNvSpPr txBox="1"/>
          <p:nvPr/>
        </p:nvSpPr>
        <p:spPr>
          <a:xfrm>
            <a:off x="5119726" y="7315200"/>
            <a:ext cx="37243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MOR vs CAR (A/cm²)</a:t>
            </a:r>
            <a:endParaRPr lang="en-US" sz="975" dirty="0"/>
          </a:p>
        </p:txBody>
      </p:sp>
      <p:sp>
        <p:nvSpPr>
          <p:cNvPr id="89" name="Shape 83"/>
          <p:cNvSpPr/>
          <p:nvPr/>
        </p:nvSpPr>
        <p:spPr>
          <a:xfrm>
            <a:off x="9229954" y="6476695"/>
            <a:ext cx="4162349" cy="2095805"/>
          </a:xfrm>
          <a:prstGeom prst="rect">
            <a:avLst/>
          </a:prstGeom>
          <a:solidFill>
            <a:srgbClr val="FFFFFF"/>
          </a:solidFill>
          <a:ln w="12700">
            <a:solidFill>
              <a:srgbClr val="C4CDD9"/>
            </a:solidFill>
            <a:prstDash val="solid"/>
          </a:ln>
        </p:spPr>
      </p:sp>
      <p:sp>
        <p:nvSpPr>
          <p:cNvPr id="90" name="Text 84"/>
          <p:cNvSpPr txBox="1"/>
          <p:nvPr/>
        </p:nvSpPr>
        <p:spPr>
          <a:xfrm>
            <a:off x="9448495" y="6657746"/>
            <a:ext cx="3724351"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BV uplift</a:t>
            </a:r>
            <a:endParaRPr lang="en-US" sz="975" dirty="0"/>
          </a:p>
        </p:txBody>
      </p:sp>
      <p:sp>
        <p:nvSpPr>
          <p:cNvPr id="91" name="Text 85"/>
          <p:cNvSpPr txBox="1"/>
          <p:nvPr/>
        </p:nvSpPr>
        <p:spPr>
          <a:xfrm>
            <a:off x="9448495" y="6915607"/>
            <a:ext cx="3724351" cy="342900"/>
          </a:xfrm>
          <a:prstGeom prst="rect">
            <a:avLst/>
          </a:prstGeom>
          <a:noFill/>
          <a:ln/>
        </p:spPr>
        <p:txBody>
          <a:bodyPr wrap="none" lIns="0" tIns="0" rIns="0" bIns="0" rtlCol="0" anchor="ctr"/>
          <a:lstStyle/>
          <a:p>
            <a:pPr algn="l" indent="0" marL="0">
              <a:buNone/>
            </a:pPr>
            <a:r>
              <a:rPr lang="en-US" sz="2700" b="1" dirty="0">
                <a:solidFill>
                  <a:srgbClr val="2D6F8C"/>
                </a:solidFill>
                <a:latin typeface="IBM Plex Sans KR" pitchFamily="34" charset="0"/>
                <a:ea typeface="IBM Plex Sans KR" pitchFamily="34" charset="-122"/>
                <a:cs typeface="IBM Plex Sans KR" pitchFamily="34" charset="-120"/>
              </a:rPr>
              <a:t>+0.55</a:t>
            </a:r>
            <a:endParaRPr lang="en-US" sz="2700" dirty="0"/>
          </a:p>
        </p:txBody>
      </p:sp>
      <p:sp>
        <p:nvSpPr>
          <p:cNvPr id="92" name="Text 86"/>
          <p:cNvSpPr txBox="1"/>
          <p:nvPr/>
        </p:nvSpPr>
        <p:spPr>
          <a:xfrm>
            <a:off x="9448495" y="7315200"/>
            <a:ext cx="37243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V · MOR vs CAR mean</a:t>
            </a:r>
            <a:endParaRPr lang="en-US" sz="975" dirty="0"/>
          </a:p>
        </p:txBody>
      </p:sp>
      <p:sp>
        <p:nvSpPr>
          <p:cNvPr id="93" name="Shape 87"/>
          <p:cNvSpPr/>
          <p:nvPr/>
        </p:nvSpPr>
        <p:spPr>
          <a:xfrm>
            <a:off x="13558723" y="6476695"/>
            <a:ext cx="4162349" cy="2095805"/>
          </a:xfrm>
          <a:prstGeom prst="rect">
            <a:avLst/>
          </a:prstGeom>
          <a:solidFill>
            <a:srgbClr val="FFFFFF"/>
          </a:solidFill>
          <a:ln w="12700">
            <a:solidFill>
              <a:srgbClr val="C4CDD9"/>
            </a:solidFill>
            <a:prstDash val="solid"/>
          </a:ln>
        </p:spPr>
      </p:sp>
      <p:sp>
        <p:nvSpPr>
          <p:cNvPr id="94" name="Text 88"/>
          <p:cNvSpPr txBox="1"/>
          <p:nvPr/>
        </p:nvSpPr>
        <p:spPr>
          <a:xfrm>
            <a:off x="13778179" y="6657746"/>
            <a:ext cx="3724351" cy="191110"/>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ΔVth shift</a:t>
            </a:r>
            <a:endParaRPr lang="en-US" sz="975" dirty="0"/>
          </a:p>
        </p:txBody>
      </p:sp>
      <p:sp>
        <p:nvSpPr>
          <p:cNvPr id="95" name="Text 89"/>
          <p:cNvSpPr txBox="1"/>
          <p:nvPr/>
        </p:nvSpPr>
        <p:spPr>
          <a:xfrm>
            <a:off x="13778179" y="6924751"/>
            <a:ext cx="3724351" cy="342900"/>
          </a:xfrm>
          <a:prstGeom prst="rect">
            <a:avLst/>
          </a:prstGeom>
          <a:noFill/>
          <a:ln/>
        </p:spPr>
        <p:txBody>
          <a:bodyPr wrap="none" lIns="0" tIns="0" rIns="0" bIns="0" rtlCol="0" anchor="ctr"/>
          <a:lstStyle/>
          <a:p>
            <a:pPr algn="l" indent="0" marL="0">
              <a:buNone/>
            </a:pPr>
            <a:r>
              <a:rPr lang="en-US" sz="2700" b="1" dirty="0">
                <a:solidFill>
                  <a:srgbClr val="2D6F8C"/>
                </a:solidFill>
                <a:latin typeface="IBM Plex Sans KR" pitchFamily="34" charset="0"/>
                <a:ea typeface="IBM Plex Sans KR" pitchFamily="34" charset="-122"/>
                <a:cs typeface="IBM Plex Sans KR" pitchFamily="34" charset="-120"/>
              </a:rPr>
              <a:t>−15</a:t>
            </a:r>
            <a:endParaRPr lang="en-US" sz="2700" dirty="0"/>
          </a:p>
        </p:txBody>
      </p:sp>
      <p:sp>
        <p:nvSpPr>
          <p:cNvPr id="96" name="Text 90"/>
          <p:cNvSpPr txBox="1"/>
          <p:nvPr/>
        </p:nvSpPr>
        <p:spPr>
          <a:xfrm>
            <a:off x="13778179" y="7324344"/>
            <a:ext cx="3724351" cy="181051"/>
          </a:xfrm>
          <a:prstGeom prst="rect">
            <a:avLst/>
          </a:prstGeom>
          <a:noFill/>
          <a:ln/>
        </p:spPr>
        <p:txBody>
          <a:bodyPr wrap="none" lIns="0" tIns="0" rIns="0" bIns="0" rtlCol="0" anchor="ctr"/>
          <a:lstStyle/>
          <a:p>
            <a:pPr algn="l" indent="0" marL="0">
              <a:buNone/>
            </a:pPr>
            <a:r>
              <a:rPr lang="en-US" sz="975" dirty="0">
                <a:solidFill>
                  <a:srgbClr val="5C6B82"/>
                </a:solidFill>
                <a:latin typeface="IBM Plex Sans KR" pitchFamily="34" charset="0"/>
                <a:ea typeface="IBM Plex Sans KR" pitchFamily="34" charset="-122"/>
                <a:cs typeface="IBM Plex Sans KR" pitchFamily="34" charset="-120"/>
              </a:rPr>
              <a:t>mV · MOR avg vs CAR</a:t>
            </a:r>
            <a:endParaRPr lang="en-US" sz="975" dirty="0"/>
          </a:p>
        </p:txBody>
      </p:sp>
      <p:sp>
        <p:nvSpPr>
          <p:cNvPr id="97" name="Shape 91"/>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98" name="Text 92"/>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99" name="Image 3" descr="gen-dedup-2384ac9fd3012b414377934d98f26f83.png">    </p:cNvPr>
          <p:cNvPicPr>
            <a:picLocks noChangeAspect="1"/>
          </p:cNvPicPr>
          <p:nvPr/>
        </p:nvPicPr>
        <p:blipFill>
          <a:blip r:embed="rId4"/>
          <a:srcRect l="0" r="0" t="-2083" b="-2083"/>
          <a:stretch/>
        </p:blipFill>
        <p:spPr>
          <a:xfrm>
            <a:off x="2288743" y="8934602"/>
            <a:ext cx="9144" cy="228600"/>
          </a:xfrm>
          <a:prstGeom prst="rect">
            <a:avLst/>
          </a:prstGeom>
        </p:spPr>
      </p:pic>
      <p:sp>
        <p:nvSpPr>
          <p:cNvPr id="100" name="Text 93"/>
          <p:cNvSpPr txBox="1"/>
          <p:nvPr/>
        </p:nvSpPr>
        <p:spPr>
          <a:xfrm>
            <a:off x="2469794" y="8915400"/>
            <a:ext cx="9354312"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MOR은 누설 −44%, BV +0.55 V, ΔVth −15 mV로 모두 CAR 대비 우위 — CD 균일도가 전기 결과로 직접 환산됨.</a:t>
            </a:r>
            <a:endParaRPr lang="en-US" sz="1500" dirty="0"/>
          </a:p>
        </p:txBody>
      </p:sp>
      <p:sp>
        <p:nvSpPr>
          <p:cNvPr id="101" name="Text 94"/>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10 of 12 · Electrical TLM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15464333" y="7429500"/>
            <a:ext cx="2442362" cy="1714500"/>
          </a:xfrm>
          <a:prstGeom prst="rect">
            <a:avLst/>
          </a:prstGeom>
          <a:noFill/>
          <a:ln/>
        </p:spPr>
        <p:txBody>
          <a:bodyPr wrap="none" lIns="0" tIns="0" rIns="0" bIns="0" rtlCol="0" anchor="ctr"/>
          <a:lstStyle/>
          <a:p>
            <a:pPr algn="r" indent="0" marL="0">
              <a:buNone/>
            </a:pPr>
            <a:r>
              <a:rPr lang="en-US" sz="15000" b="1" spc="-750" kern="0" dirty="0">
                <a:solidFill>
                  <a:srgbClr val="1B2C45">
                    <a:alpha val="10000"/>
                  </a:srgbClr>
                </a:solidFill>
                <a:latin typeface="IBM Plex Sans KR" pitchFamily="34" charset="0"/>
                <a:ea typeface="IBM Plex Sans KR" pitchFamily="34" charset="-122"/>
                <a:cs typeface="IBM Plex Sans KR" pitchFamily="34" charset="-120"/>
              </a:rPr>
              <a:t>11</a:t>
            </a:r>
            <a:endParaRPr lang="en-US" sz="15000" dirty="0"/>
          </a:p>
        </p:txBody>
      </p:sp>
      <p:sp>
        <p:nvSpPr>
          <p:cNvPr id="5" name="Shape 1"/>
          <p:cNvSpPr/>
          <p:nvPr/>
        </p:nvSpPr>
        <p:spPr>
          <a:xfrm>
            <a:off x="571500" y="7048195"/>
            <a:ext cx="5162702" cy="1543507"/>
          </a:xfrm>
          <a:prstGeom prst="rect">
            <a:avLst/>
          </a:prstGeom>
          <a:solidFill>
            <a:srgbClr val="FFFFFF"/>
          </a:solidFill>
          <a:ln w="12700">
            <a:solidFill>
              <a:srgbClr val="C4CDD9"/>
            </a:solidFill>
            <a:prstDash val="solid"/>
          </a:ln>
        </p:spPr>
      </p:sp>
      <p:pic>
        <p:nvPicPr>
          <p:cNvPr id="6" name="Image 1" descr="gen-dedup-8d76059b9573d8bf46bdb512bd196f68.jpg">    </p:cNvPr>
          <p:cNvPicPr>
            <a:picLocks noChangeAspect="1"/>
          </p:cNvPicPr>
          <p:nvPr/>
        </p:nvPicPr>
        <p:blipFill>
          <a:blip r:embed="rId2"/>
          <a:stretch>
            <a:fillRect/>
          </a:stretch>
        </p:blipFill>
        <p:spPr>
          <a:xfrm>
            <a:off x="580644" y="7058254"/>
            <a:ext cx="5143500" cy="1524305"/>
          </a:xfrm>
          <a:prstGeom prst="rect">
            <a:avLst/>
          </a:prstGeom>
        </p:spPr>
      </p:pic>
      <p:sp>
        <p:nvSpPr>
          <p:cNvPr id="7" name="Text 2"/>
          <p:cNvSpPr txBox="1"/>
          <p:nvPr/>
        </p:nvSpPr>
        <p:spPr>
          <a:xfrm>
            <a:off x="571500" y="8686800"/>
            <a:ext cx="5143500"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출처: imec Magazine, EUV patterning 비교 컨텍스트</a:t>
            </a:r>
            <a:endParaRPr lang="en-US" sz="1050" dirty="0"/>
          </a:p>
        </p:txBody>
      </p:sp>
      <p:sp>
        <p:nvSpPr>
          <p:cNvPr id="8" name="Shape 3"/>
          <p:cNvSpPr/>
          <p:nvPr/>
        </p:nvSpPr>
        <p:spPr>
          <a:xfrm>
            <a:off x="6096305" y="7048195"/>
            <a:ext cx="5162702" cy="1543507"/>
          </a:xfrm>
          <a:prstGeom prst="rect">
            <a:avLst/>
          </a:prstGeom>
          <a:solidFill>
            <a:srgbClr val="FFFFFF"/>
          </a:solidFill>
          <a:ln w="12700">
            <a:solidFill>
              <a:srgbClr val="C4CDD9"/>
            </a:solidFill>
            <a:prstDash val="solid"/>
          </a:ln>
        </p:spPr>
      </p:sp>
      <p:pic>
        <p:nvPicPr>
          <p:cNvPr id="9" name="Image 2" descr="gen-dedup-446f48bfa7a95a4a51a1f5e82ee35422.jpg">    </p:cNvPr>
          <p:cNvPicPr>
            <a:picLocks noChangeAspect="1"/>
          </p:cNvPicPr>
          <p:nvPr/>
        </p:nvPicPr>
        <p:blipFill>
          <a:blip r:embed="rId3"/>
          <a:stretch>
            <a:fillRect/>
          </a:stretch>
        </p:blipFill>
        <p:spPr>
          <a:xfrm>
            <a:off x="6105449" y="7058254"/>
            <a:ext cx="5143500" cy="1524305"/>
          </a:xfrm>
          <a:prstGeom prst="rect">
            <a:avLst/>
          </a:prstGeom>
        </p:spPr>
      </p:pic>
      <p:sp>
        <p:nvSpPr>
          <p:cNvPr id="10" name="Text 4"/>
          <p:cNvSpPr txBox="1"/>
          <p:nvPr/>
        </p:nvSpPr>
        <p:spPr>
          <a:xfrm>
            <a:off x="6096305" y="8686800"/>
            <a:ext cx="5143500"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출처: imec · Semiconductor Digest, 24 nm pitch 단일 노광 결과</a:t>
            </a:r>
            <a:endParaRPr lang="en-US" sz="1050" dirty="0"/>
          </a:p>
        </p:txBody>
      </p:sp>
      <p:sp>
        <p:nvSpPr>
          <p:cNvPr id="11" name="Text 5"/>
          <p:cNvSpPr txBox="1"/>
          <p:nvPr/>
        </p:nvSpPr>
        <p:spPr>
          <a:xfrm>
            <a:off x="571500" y="571500"/>
            <a:ext cx="2020824"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11 / Side-by-side</a:t>
            </a:r>
            <a:endParaRPr lang="en-US" sz="1050" dirty="0"/>
          </a:p>
        </p:txBody>
      </p:sp>
      <p:pic>
        <p:nvPicPr>
          <p:cNvPr id="12" name="Image 3" descr="gen-dedup-72c8c855dd65dd3f7a058d199e994252.png">    </p:cNvPr>
          <p:cNvPicPr>
            <a:picLocks noChangeAspect="1"/>
          </p:cNvPicPr>
          <p:nvPr/>
        </p:nvPicPr>
        <p:blipFill>
          <a:blip r:embed="rId4"/>
          <a:srcRect l="-2083" r="-2083" t="0" b="0"/>
          <a:stretch/>
        </p:blipFill>
        <p:spPr>
          <a:xfrm>
            <a:off x="2332634" y="666598"/>
            <a:ext cx="342900" cy="9144"/>
          </a:xfrm>
          <a:prstGeom prst="rect">
            <a:avLst/>
          </a:prstGeom>
        </p:spPr>
      </p:pic>
      <p:sp>
        <p:nvSpPr>
          <p:cNvPr id="13" name="Text 6"/>
          <p:cNvSpPr txBox="1"/>
          <p:nvPr/>
        </p:nvSpPr>
        <p:spPr>
          <a:xfrm>
            <a:off x="2809037" y="571500"/>
            <a:ext cx="2108606"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photoresist comparison</a:t>
            </a:r>
            <a:endParaRPr lang="en-US" sz="1050" dirty="0"/>
          </a:p>
        </p:txBody>
      </p:sp>
      <p:sp>
        <p:nvSpPr>
          <p:cNvPr id="14" name="Text 7"/>
          <p:cNvSpPr txBox="1"/>
          <p:nvPr/>
        </p:nvSpPr>
        <p:spPr>
          <a:xfrm>
            <a:off x="571500" y="905256"/>
            <a:ext cx="1428750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CAR vs MOR — 종합 비교</a:t>
            </a:r>
            <a:endParaRPr lang="en-US" sz="3450" dirty="0"/>
          </a:p>
        </p:txBody>
      </p:sp>
      <p:pic>
        <p:nvPicPr>
          <p:cNvPr id="15" name="Image 4" descr="gen-dedup-9ae55472b901721cbf9db1193a4c472d.png">    </p:cNvPr>
          <p:cNvPicPr>
            <a:picLocks noChangeAspect="1"/>
          </p:cNvPicPr>
          <p:nvPr/>
        </p:nvPicPr>
        <p:blipFill>
          <a:blip r:embed="rId5"/>
          <a:srcRect l="-80" r="-80" t="0" b="0"/>
          <a:stretch/>
        </p:blipFill>
        <p:spPr>
          <a:xfrm>
            <a:off x="571500" y="1536192"/>
            <a:ext cx="800100" cy="47549"/>
          </a:xfrm>
          <a:prstGeom prst="rect">
            <a:avLst/>
          </a:prstGeom>
        </p:spPr>
      </p:pic>
      <p:sp>
        <p:nvSpPr>
          <p:cNvPr id="16" name="Shape 8"/>
          <p:cNvSpPr/>
          <p:nvPr/>
        </p:nvSpPr>
        <p:spPr>
          <a:xfrm>
            <a:off x="571500" y="2286000"/>
            <a:ext cx="8572500" cy="1200607"/>
          </a:xfrm>
          <a:prstGeom prst="rect">
            <a:avLst/>
          </a:prstGeom>
          <a:solidFill>
            <a:srgbClr val="FFFFFF"/>
          </a:solidFill>
          <a:ln/>
        </p:spPr>
      </p:sp>
      <p:sp>
        <p:nvSpPr>
          <p:cNvPr id="17" name="Shape 9"/>
          <p:cNvSpPr/>
          <p:nvPr/>
        </p:nvSpPr>
        <p:spPr>
          <a:xfrm>
            <a:off x="571500" y="2286000"/>
            <a:ext cx="8572500" cy="57607"/>
          </a:xfrm>
          <a:prstGeom prst="rect">
            <a:avLst/>
          </a:prstGeom>
          <a:solidFill>
            <a:srgbClr val="B85C46"/>
          </a:solidFill>
          <a:ln w="12700">
            <a:solidFill>
              <a:srgbClr val="B85C46">
                <a:alpha val="0"/>
              </a:srgbClr>
            </a:solidFill>
            <a:prstDash val="solid"/>
          </a:ln>
        </p:spPr>
      </p:sp>
      <p:sp>
        <p:nvSpPr>
          <p:cNvPr id="18" name="Text 10"/>
          <p:cNvSpPr txBox="1"/>
          <p:nvPr/>
        </p:nvSpPr>
        <p:spPr>
          <a:xfrm>
            <a:off x="838505" y="2572207"/>
            <a:ext cx="8039405" cy="181051"/>
          </a:xfrm>
          <a:prstGeom prst="rect">
            <a:avLst/>
          </a:prstGeom>
          <a:noFill/>
          <a:ln/>
        </p:spPr>
        <p:txBody>
          <a:bodyPr wrap="none" lIns="0" tIns="0" rIns="0" bIns="0" rtlCol="0" anchor="ctr"/>
          <a:lstStyle/>
          <a:p>
            <a:pPr algn="l" indent="0" marL="0">
              <a:buNone/>
            </a:pPr>
            <a:r>
              <a:rPr lang="en-US" sz="975" spc="234" kern="0" dirty="0">
                <a:solidFill>
                  <a:srgbClr val="5C6B82"/>
                </a:solidFill>
                <a:latin typeface="IBM Plex Sans KR" pitchFamily="34" charset="0"/>
                <a:ea typeface="IBM Plex Sans KR" pitchFamily="34" charset="-122"/>
                <a:cs typeface="IBM Plex Sans KR" pitchFamily="34" charset="-120"/>
              </a:rPr>
              <a:t>Photoresist split A</a:t>
            </a:r>
            <a:endParaRPr lang="en-US" sz="975" dirty="0"/>
          </a:p>
        </p:txBody>
      </p:sp>
      <p:sp>
        <p:nvSpPr>
          <p:cNvPr id="19" name="Text 11"/>
          <p:cNvSpPr txBox="1"/>
          <p:nvPr/>
        </p:nvSpPr>
        <p:spPr>
          <a:xfrm>
            <a:off x="838505" y="2829154"/>
            <a:ext cx="734263" cy="362102"/>
          </a:xfrm>
          <a:prstGeom prst="rect">
            <a:avLst/>
          </a:prstGeom>
          <a:noFill/>
          <a:ln/>
        </p:spPr>
        <p:txBody>
          <a:bodyPr wrap="none" lIns="0" tIns="0" rIns="0" bIns="0" rtlCol="0" anchor="ctr"/>
          <a:lstStyle/>
          <a:p>
            <a:pPr algn="l" indent="0" marL="0">
              <a:buNone/>
            </a:pPr>
            <a:r>
              <a:rPr lang="en-US" sz="2850" b="1" dirty="0">
                <a:solidFill>
                  <a:srgbClr val="B85C46"/>
                </a:solidFill>
                <a:latin typeface="IBM Plex Sans KR" pitchFamily="34" charset="0"/>
                <a:ea typeface="IBM Plex Sans KR" pitchFamily="34" charset="-122"/>
                <a:cs typeface="IBM Plex Sans KR" pitchFamily="34" charset="-120"/>
              </a:rPr>
              <a:t>CAR</a:t>
            </a:r>
            <a:endParaRPr lang="en-US" sz="2850" dirty="0"/>
          </a:p>
        </p:txBody>
      </p:sp>
      <p:sp>
        <p:nvSpPr>
          <p:cNvPr id="20" name="Text 12"/>
          <p:cNvSpPr txBox="1"/>
          <p:nvPr/>
        </p:nvSpPr>
        <p:spPr>
          <a:xfrm>
            <a:off x="1791310" y="2962656"/>
            <a:ext cx="2652674"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polymer + PAG · 80 ~ 82 mJ/cm²</a:t>
            </a:r>
            <a:endParaRPr lang="en-US" sz="1200" dirty="0"/>
          </a:p>
        </p:txBody>
      </p:sp>
      <p:sp>
        <p:nvSpPr>
          <p:cNvPr id="21" name="Shape 13"/>
          <p:cNvSpPr/>
          <p:nvPr/>
        </p:nvSpPr>
        <p:spPr>
          <a:xfrm>
            <a:off x="9144000" y="2286000"/>
            <a:ext cx="8572500" cy="1200607"/>
          </a:xfrm>
          <a:prstGeom prst="rect">
            <a:avLst/>
          </a:prstGeom>
          <a:solidFill>
            <a:srgbClr val="FFFFFF"/>
          </a:solidFill>
          <a:ln/>
        </p:spPr>
      </p:sp>
      <p:sp>
        <p:nvSpPr>
          <p:cNvPr id="22" name="Shape 14"/>
          <p:cNvSpPr/>
          <p:nvPr/>
        </p:nvSpPr>
        <p:spPr>
          <a:xfrm>
            <a:off x="9144000" y="2286000"/>
            <a:ext cx="8572500" cy="57607"/>
          </a:xfrm>
          <a:prstGeom prst="rect">
            <a:avLst/>
          </a:prstGeom>
          <a:solidFill>
            <a:srgbClr val="2D6F8C"/>
          </a:solidFill>
          <a:ln w="12700">
            <a:solidFill>
              <a:srgbClr val="2D6F8C">
                <a:alpha val="0"/>
              </a:srgbClr>
            </a:solidFill>
            <a:prstDash val="solid"/>
          </a:ln>
        </p:spPr>
      </p:sp>
      <p:sp>
        <p:nvSpPr>
          <p:cNvPr id="23" name="Text 15"/>
          <p:cNvSpPr txBox="1"/>
          <p:nvPr/>
        </p:nvSpPr>
        <p:spPr>
          <a:xfrm>
            <a:off x="9411005" y="2572207"/>
            <a:ext cx="8039405" cy="181051"/>
          </a:xfrm>
          <a:prstGeom prst="rect">
            <a:avLst/>
          </a:prstGeom>
          <a:noFill/>
          <a:ln/>
        </p:spPr>
        <p:txBody>
          <a:bodyPr wrap="none" lIns="0" tIns="0" rIns="0" bIns="0" rtlCol="0" anchor="ctr"/>
          <a:lstStyle/>
          <a:p>
            <a:pPr algn="l" indent="0" marL="0">
              <a:buNone/>
            </a:pPr>
            <a:r>
              <a:rPr lang="en-US" sz="975" spc="234" kern="0" dirty="0">
                <a:solidFill>
                  <a:srgbClr val="5C6B82"/>
                </a:solidFill>
                <a:latin typeface="IBM Plex Sans KR" pitchFamily="34" charset="0"/>
                <a:ea typeface="IBM Plex Sans KR" pitchFamily="34" charset="-122"/>
                <a:cs typeface="IBM Plex Sans KR" pitchFamily="34" charset="-120"/>
              </a:rPr>
              <a:t>Photoresist split B</a:t>
            </a:r>
            <a:endParaRPr lang="en-US" sz="975" dirty="0"/>
          </a:p>
        </p:txBody>
      </p:sp>
      <p:sp>
        <p:nvSpPr>
          <p:cNvPr id="24" name="Text 16"/>
          <p:cNvSpPr txBox="1"/>
          <p:nvPr/>
        </p:nvSpPr>
        <p:spPr>
          <a:xfrm>
            <a:off x="9411005" y="2829154"/>
            <a:ext cx="800100" cy="362102"/>
          </a:xfrm>
          <a:prstGeom prst="rect">
            <a:avLst/>
          </a:prstGeom>
          <a:noFill/>
          <a:ln/>
        </p:spPr>
        <p:txBody>
          <a:bodyPr wrap="none" lIns="0" tIns="0" rIns="0" bIns="0" rtlCol="0" anchor="ctr"/>
          <a:lstStyle/>
          <a:p>
            <a:pPr algn="l" indent="0" marL="0">
              <a:buNone/>
            </a:pPr>
            <a:r>
              <a:rPr lang="en-US" sz="2850" b="1" dirty="0">
                <a:solidFill>
                  <a:srgbClr val="2D6F8C"/>
                </a:solidFill>
                <a:latin typeface="IBM Plex Sans KR" pitchFamily="34" charset="0"/>
                <a:ea typeface="IBM Plex Sans KR" pitchFamily="34" charset="-122"/>
                <a:cs typeface="IBM Plex Sans KR" pitchFamily="34" charset="-120"/>
              </a:rPr>
              <a:t>MOR</a:t>
            </a:r>
            <a:endParaRPr lang="en-US" sz="2850" dirty="0"/>
          </a:p>
        </p:txBody>
      </p:sp>
      <p:sp>
        <p:nvSpPr>
          <p:cNvPr id="25" name="Text 17"/>
          <p:cNvSpPr txBox="1"/>
          <p:nvPr/>
        </p:nvSpPr>
        <p:spPr>
          <a:xfrm>
            <a:off x="10437876" y="2962656"/>
            <a:ext cx="2629814" cy="228600"/>
          </a:xfrm>
          <a:prstGeom prst="rect">
            <a:avLst/>
          </a:prstGeom>
          <a:noFill/>
          <a:ln/>
        </p:spPr>
        <p:txBody>
          <a:bodyPr wrap="none" lIns="0" tIns="0" rIns="0" bIns="0" rtlCol="0" anchor="ctr"/>
          <a:lstStyle/>
          <a:p>
            <a:pPr algn="l" indent="0" marL="0">
              <a:buNone/>
            </a:pPr>
            <a:r>
              <a:rPr lang="en-US" sz="1200" dirty="0">
                <a:solidFill>
                  <a:srgbClr val="5C6B82"/>
                </a:solidFill>
                <a:latin typeface="IBM Plex Sans KR" pitchFamily="34" charset="0"/>
                <a:ea typeface="IBM Plex Sans KR" pitchFamily="34" charset="-122"/>
                <a:cs typeface="IBM Plex Sans KR" pitchFamily="34" charset="-120"/>
              </a:rPr>
              <a:t>Sn-oxo cluster · 20 ~ 22 mJ/cm²</a:t>
            </a:r>
            <a:endParaRPr lang="en-US" sz="1200" dirty="0"/>
          </a:p>
        </p:txBody>
      </p:sp>
      <p:sp>
        <p:nvSpPr>
          <p:cNvPr id="26" name="Text 18"/>
          <p:cNvSpPr txBox="1"/>
          <p:nvPr/>
        </p:nvSpPr>
        <p:spPr>
          <a:xfrm>
            <a:off x="571500" y="3619195"/>
            <a:ext cx="762610" cy="705002"/>
          </a:xfrm>
          <a:prstGeom prst="rect">
            <a:avLst/>
          </a:prstGeom>
          <a:solidFill>
            <a:srgbClr val="1B2C45"/>
          </a:solidFill>
          <a:ln>
            <a:solidFill>
              <a:srgbClr val="FFFFFF">
                <a:alpha val="0"/>
              </a:srgbClr>
            </a:solidFill>
          </a:ln>
        </p:spPr>
        <p:txBody>
          <a:bodyPr wrap="square" lIns="0" tIns="0" rIns="0" bIns="0" rtlCol="0" anchor="ctr"/>
          <a:lstStyle/>
          <a:p>
            <a:pPr algn="ctr" indent="0" marL="0">
              <a:buNone/>
            </a:pPr>
            <a:r>
              <a:rPr lang="en-US" sz="975" spc="176" kern="0" dirty="0">
                <a:solidFill>
                  <a:srgbClr val="93A4BC"/>
                </a:solidFill>
                <a:latin typeface="IBM Plex Sans KR" pitchFamily="34" charset="0"/>
                <a:ea typeface="IBM Plex Sans KR" pitchFamily="34" charset="-122"/>
                <a:cs typeface="IBM Plex Sans KR" pitchFamily="34" charset="-120"/>
              </a:rPr>
              <a:t>01</a:t>
            </a:r>
            <a:endParaRPr lang="en-US" sz="975" dirty="0"/>
          </a:p>
        </p:txBody>
      </p:sp>
      <p:sp>
        <p:nvSpPr>
          <p:cNvPr id="27" name="Shape 19"/>
          <p:cNvSpPr/>
          <p:nvPr/>
        </p:nvSpPr>
        <p:spPr>
          <a:xfrm>
            <a:off x="1466698" y="3619195"/>
            <a:ext cx="8058607" cy="705002"/>
          </a:xfrm>
          <a:prstGeom prst="rect">
            <a:avLst/>
          </a:prstGeom>
          <a:solidFill>
            <a:srgbClr val="FFFFFF"/>
          </a:solidFill>
          <a:ln w="12700">
            <a:solidFill>
              <a:srgbClr val="C4CDD9"/>
            </a:solidFill>
            <a:prstDash val="solid"/>
          </a:ln>
        </p:spPr>
      </p:sp>
      <p:sp>
        <p:nvSpPr>
          <p:cNvPr id="28" name="Text 20"/>
          <p:cNvSpPr txBox="1"/>
          <p:nvPr/>
        </p:nvSpPr>
        <p:spPr>
          <a:xfrm>
            <a:off x="1686154" y="3843223"/>
            <a:ext cx="427939"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Dose</a:t>
            </a:r>
            <a:endParaRPr lang="en-US" sz="1350" dirty="0"/>
          </a:p>
        </p:txBody>
      </p:sp>
      <p:sp>
        <p:nvSpPr>
          <p:cNvPr id="29" name="Text 21"/>
          <p:cNvSpPr txBox="1"/>
          <p:nvPr/>
        </p:nvSpPr>
        <p:spPr>
          <a:xfrm>
            <a:off x="8155534" y="3800246"/>
            <a:ext cx="1322222" cy="342900"/>
          </a:xfrm>
          <a:prstGeom prst="rect">
            <a:avLst/>
          </a:prstGeom>
          <a:noFill/>
          <a:ln/>
        </p:spPr>
        <p:txBody>
          <a:bodyPr wrap="none" lIns="0" tIns="0" rIns="0" bIns="0" rtlCol="0" anchor="ctr"/>
          <a:lstStyle/>
          <a:p>
            <a:pPr algn="l" indent="0" marL="0">
              <a:buNone/>
            </a:pPr>
            <a:r>
              <a:rPr lang="en-US" sz="1800" b="1" dirty="0">
                <a:solidFill>
                  <a:srgbClr val="B85C46"/>
                </a:solidFill>
                <a:latin typeface="IBM Plex Sans KR" pitchFamily="34" charset="0"/>
                <a:ea typeface="IBM Plex Sans KR" pitchFamily="34" charset="-122"/>
                <a:cs typeface="IBM Plex Sans KR" pitchFamily="34" charset="-120"/>
              </a:rPr>
              <a:t>82 mJ/cm²</a:t>
            </a:r>
            <a:endParaRPr lang="en-US" sz="1800" dirty="0"/>
          </a:p>
        </p:txBody>
      </p:sp>
      <p:sp>
        <p:nvSpPr>
          <p:cNvPr id="30" name="Shape 22"/>
          <p:cNvSpPr/>
          <p:nvPr/>
        </p:nvSpPr>
        <p:spPr>
          <a:xfrm>
            <a:off x="9658807" y="3619195"/>
            <a:ext cx="8058607" cy="705002"/>
          </a:xfrm>
          <a:prstGeom prst="rect">
            <a:avLst/>
          </a:prstGeom>
          <a:solidFill>
            <a:srgbClr val="FFFFFF"/>
          </a:solidFill>
          <a:ln w="12700">
            <a:solidFill>
              <a:srgbClr val="C4CDD9"/>
            </a:solidFill>
            <a:prstDash val="solid"/>
          </a:ln>
        </p:spPr>
      </p:sp>
      <p:sp>
        <p:nvSpPr>
          <p:cNvPr id="31" name="Text 23"/>
          <p:cNvSpPr txBox="1"/>
          <p:nvPr/>
        </p:nvSpPr>
        <p:spPr>
          <a:xfrm>
            <a:off x="9877349" y="3843223"/>
            <a:ext cx="427939"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Dose</a:t>
            </a:r>
            <a:endParaRPr lang="en-US" sz="1350" dirty="0"/>
          </a:p>
        </p:txBody>
      </p:sp>
      <p:sp>
        <p:nvSpPr>
          <p:cNvPr id="32" name="Text 24"/>
          <p:cNvSpPr txBox="1"/>
          <p:nvPr/>
        </p:nvSpPr>
        <p:spPr>
          <a:xfrm>
            <a:off x="16346729" y="3800246"/>
            <a:ext cx="1322222" cy="342900"/>
          </a:xfrm>
          <a:prstGeom prst="rect">
            <a:avLst/>
          </a:prstGeom>
          <a:noFill/>
          <a:ln/>
        </p:spPr>
        <p:txBody>
          <a:bodyPr wrap="none" lIns="0" tIns="0" rIns="0" bIns="0" rtlCol="0" anchor="ctr"/>
          <a:lstStyle/>
          <a:p>
            <a:pPr algn="l" indent="0" marL="0">
              <a:buNone/>
            </a:pPr>
            <a:r>
              <a:rPr lang="en-US" sz="1800" b="1" dirty="0">
                <a:solidFill>
                  <a:srgbClr val="2D6F8C"/>
                </a:solidFill>
                <a:latin typeface="IBM Plex Sans KR" pitchFamily="34" charset="0"/>
                <a:ea typeface="IBM Plex Sans KR" pitchFamily="34" charset="-122"/>
                <a:cs typeface="IBM Plex Sans KR" pitchFamily="34" charset="-120"/>
              </a:rPr>
              <a:t>21 mJ/cm²</a:t>
            </a:r>
            <a:endParaRPr lang="en-US" sz="1800" dirty="0"/>
          </a:p>
        </p:txBody>
      </p:sp>
      <p:sp>
        <p:nvSpPr>
          <p:cNvPr id="33" name="Text 25"/>
          <p:cNvSpPr txBox="1"/>
          <p:nvPr/>
        </p:nvSpPr>
        <p:spPr>
          <a:xfrm>
            <a:off x="571500" y="4457700"/>
            <a:ext cx="762610" cy="619963"/>
          </a:xfrm>
          <a:prstGeom prst="rect">
            <a:avLst/>
          </a:prstGeom>
          <a:solidFill>
            <a:srgbClr val="1B2C45"/>
          </a:solidFill>
          <a:ln>
            <a:solidFill>
              <a:srgbClr val="FFFFFF">
                <a:alpha val="0"/>
              </a:srgbClr>
            </a:solidFill>
          </a:ln>
        </p:spPr>
        <p:txBody>
          <a:bodyPr wrap="square" lIns="0" tIns="0" rIns="0" bIns="0" rtlCol="0" anchor="ctr"/>
          <a:lstStyle/>
          <a:p>
            <a:pPr algn="ctr" indent="0" marL="0">
              <a:buNone/>
            </a:pPr>
            <a:r>
              <a:rPr lang="en-US" sz="975" spc="176" kern="0" dirty="0">
                <a:solidFill>
                  <a:srgbClr val="93A4BC"/>
                </a:solidFill>
                <a:latin typeface="IBM Plex Sans KR" pitchFamily="34" charset="0"/>
                <a:ea typeface="IBM Plex Sans KR" pitchFamily="34" charset="-122"/>
                <a:cs typeface="IBM Plex Sans KR" pitchFamily="34" charset="-120"/>
              </a:rPr>
              <a:t>02</a:t>
            </a:r>
            <a:endParaRPr lang="en-US" sz="975" dirty="0"/>
          </a:p>
        </p:txBody>
      </p:sp>
      <p:sp>
        <p:nvSpPr>
          <p:cNvPr id="34" name="Shape 26"/>
          <p:cNvSpPr/>
          <p:nvPr/>
        </p:nvSpPr>
        <p:spPr>
          <a:xfrm>
            <a:off x="1466698" y="4457700"/>
            <a:ext cx="8058607" cy="619049"/>
          </a:xfrm>
          <a:prstGeom prst="rect">
            <a:avLst/>
          </a:prstGeom>
          <a:solidFill>
            <a:srgbClr val="FFFFFF"/>
          </a:solidFill>
          <a:ln w="12700">
            <a:solidFill>
              <a:srgbClr val="C4CDD9"/>
            </a:solidFill>
            <a:prstDash val="solid"/>
          </a:ln>
        </p:spPr>
      </p:sp>
      <p:sp>
        <p:nvSpPr>
          <p:cNvPr id="35" name="Text 27"/>
          <p:cNvSpPr txBox="1"/>
          <p:nvPr/>
        </p:nvSpPr>
        <p:spPr>
          <a:xfrm>
            <a:off x="1686154" y="4638751"/>
            <a:ext cx="1768450"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Sidewall 89° → 86°</a:t>
            </a:r>
            <a:endParaRPr lang="en-US" sz="1350" dirty="0"/>
          </a:p>
        </p:txBody>
      </p:sp>
      <p:sp>
        <p:nvSpPr>
          <p:cNvPr id="36" name="Text 28"/>
          <p:cNvSpPr txBox="1"/>
          <p:nvPr/>
        </p:nvSpPr>
        <p:spPr>
          <a:xfrm>
            <a:off x="8571586" y="4638751"/>
            <a:ext cx="884225" cy="257861"/>
          </a:xfrm>
          <a:prstGeom prst="rect">
            <a:avLst/>
          </a:prstGeom>
          <a:noFill/>
          <a:ln/>
        </p:spPr>
        <p:txBody>
          <a:bodyPr wrap="none" lIns="0" tIns="0" rIns="0" bIns="0" rtlCol="0" anchor="ctr"/>
          <a:lstStyle/>
          <a:p>
            <a:pPr algn="l" indent="0" marL="0">
              <a:buNone/>
            </a:pPr>
            <a:r>
              <a:rPr lang="en-US" sz="1350" dirty="0">
                <a:solidFill>
                  <a:srgbClr val="B85C46"/>
                </a:solidFill>
                <a:latin typeface="IBM Plex Sans KR" pitchFamily="34" charset="0"/>
                <a:ea typeface="IBM Plex Sans KR" pitchFamily="34" charset="-122"/>
                <a:cs typeface="IBM Plex Sans KR" pitchFamily="34" charset="-120"/>
              </a:rPr>
              <a:t>−3° taper</a:t>
            </a:r>
            <a:endParaRPr lang="en-US" sz="1350" dirty="0"/>
          </a:p>
        </p:txBody>
      </p:sp>
      <p:sp>
        <p:nvSpPr>
          <p:cNvPr id="37" name="Shape 29"/>
          <p:cNvSpPr/>
          <p:nvPr/>
        </p:nvSpPr>
        <p:spPr>
          <a:xfrm>
            <a:off x="9658807" y="4457700"/>
            <a:ext cx="8058607" cy="619049"/>
          </a:xfrm>
          <a:prstGeom prst="rect">
            <a:avLst/>
          </a:prstGeom>
          <a:solidFill>
            <a:srgbClr val="FFFFFF"/>
          </a:solidFill>
          <a:ln w="12700">
            <a:solidFill>
              <a:srgbClr val="C4CDD9"/>
            </a:solidFill>
            <a:prstDash val="solid"/>
          </a:ln>
        </p:spPr>
      </p:sp>
      <p:sp>
        <p:nvSpPr>
          <p:cNvPr id="38" name="Text 30"/>
          <p:cNvSpPr txBox="1"/>
          <p:nvPr/>
        </p:nvSpPr>
        <p:spPr>
          <a:xfrm>
            <a:off x="9877349" y="4638751"/>
            <a:ext cx="1915668"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Sidewall vertical 유지</a:t>
            </a:r>
            <a:endParaRPr lang="en-US" sz="1350" dirty="0"/>
          </a:p>
        </p:txBody>
      </p:sp>
      <p:sp>
        <p:nvSpPr>
          <p:cNvPr id="39" name="Text 31"/>
          <p:cNvSpPr txBox="1"/>
          <p:nvPr/>
        </p:nvSpPr>
        <p:spPr>
          <a:xfrm>
            <a:off x="17211751" y="4638751"/>
            <a:ext cx="320954" cy="257861"/>
          </a:xfrm>
          <a:prstGeom prst="rect">
            <a:avLst/>
          </a:prstGeom>
          <a:noFill/>
          <a:ln/>
        </p:spPr>
        <p:txBody>
          <a:bodyPr wrap="none" lIns="0" tIns="0" rIns="0" bIns="0" rtlCol="0" anchor="ctr"/>
          <a:lstStyle/>
          <a:p>
            <a:pPr algn="l" indent="0" marL="0">
              <a:buNone/>
            </a:pPr>
            <a:r>
              <a:rPr lang="en-US" sz="1350" dirty="0">
                <a:solidFill>
                  <a:srgbClr val="2D6F8C"/>
                </a:solidFill>
                <a:latin typeface="IBM Plex Sans KR" pitchFamily="34" charset="0"/>
                <a:ea typeface="IBM Plex Sans KR" pitchFamily="34" charset="-122"/>
                <a:cs typeface="IBM Plex Sans KR" pitchFamily="34" charset="-120"/>
              </a:rPr>
              <a:t>89°</a:t>
            </a:r>
            <a:endParaRPr lang="en-US" sz="1350" dirty="0"/>
          </a:p>
        </p:txBody>
      </p:sp>
      <p:sp>
        <p:nvSpPr>
          <p:cNvPr id="40" name="Text 32"/>
          <p:cNvSpPr txBox="1"/>
          <p:nvPr/>
        </p:nvSpPr>
        <p:spPr>
          <a:xfrm>
            <a:off x="571500" y="5210251"/>
            <a:ext cx="762610" cy="705002"/>
          </a:xfrm>
          <a:prstGeom prst="rect">
            <a:avLst/>
          </a:prstGeom>
          <a:solidFill>
            <a:srgbClr val="1B2C45"/>
          </a:solidFill>
          <a:ln>
            <a:solidFill>
              <a:srgbClr val="FFFFFF">
                <a:alpha val="0"/>
              </a:srgbClr>
            </a:solidFill>
          </a:ln>
        </p:spPr>
        <p:txBody>
          <a:bodyPr wrap="square" lIns="0" tIns="0" rIns="0" bIns="0" rtlCol="0" anchor="ctr"/>
          <a:lstStyle/>
          <a:p>
            <a:pPr algn="ctr" indent="0" marL="0">
              <a:buNone/>
            </a:pPr>
            <a:r>
              <a:rPr lang="en-US" sz="975" spc="176" kern="0" dirty="0">
                <a:solidFill>
                  <a:srgbClr val="93A4BC"/>
                </a:solidFill>
                <a:latin typeface="IBM Plex Sans KR" pitchFamily="34" charset="0"/>
                <a:ea typeface="IBM Plex Sans KR" pitchFamily="34" charset="-122"/>
                <a:cs typeface="IBM Plex Sans KR" pitchFamily="34" charset="-120"/>
              </a:rPr>
              <a:t>03</a:t>
            </a:r>
            <a:endParaRPr lang="en-US" sz="975" dirty="0"/>
          </a:p>
        </p:txBody>
      </p:sp>
      <p:sp>
        <p:nvSpPr>
          <p:cNvPr id="41" name="Shape 33"/>
          <p:cNvSpPr/>
          <p:nvPr/>
        </p:nvSpPr>
        <p:spPr>
          <a:xfrm>
            <a:off x="1466698" y="5210251"/>
            <a:ext cx="8058607" cy="705002"/>
          </a:xfrm>
          <a:prstGeom prst="rect">
            <a:avLst/>
          </a:prstGeom>
          <a:solidFill>
            <a:srgbClr val="FFFFFF"/>
          </a:solidFill>
          <a:ln w="12700">
            <a:solidFill>
              <a:srgbClr val="C4CDD9"/>
            </a:solidFill>
            <a:prstDash val="solid"/>
          </a:ln>
        </p:spPr>
      </p:sp>
      <p:sp>
        <p:nvSpPr>
          <p:cNvPr id="42" name="Text 34"/>
          <p:cNvSpPr txBox="1"/>
          <p:nvPr/>
        </p:nvSpPr>
        <p:spPr>
          <a:xfrm>
            <a:off x="1686154" y="5434279"/>
            <a:ext cx="619963"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WIWNU</a:t>
            </a:r>
            <a:endParaRPr lang="en-US" sz="1350" dirty="0"/>
          </a:p>
        </p:txBody>
      </p:sp>
      <p:sp>
        <p:nvSpPr>
          <p:cNvPr id="43" name="Text 35"/>
          <p:cNvSpPr txBox="1"/>
          <p:nvPr/>
        </p:nvSpPr>
        <p:spPr>
          <a:xfrm>
            <a:off x="8600846" y="5391302"/>
            <a:ext cx="715061" cy="342900"/>
          </a:xfrm>
          <a:prstGeom prst="rect">
            <a:avLst/>
          </a:prstGeom>
          <a:noFill/>
          <a:ln/>
        </p:spPr>
        <p:txBody>
          <a:bodyPr wrap="none" lIns="0" tIns="0" rIns="0" bIns="0" rtlCol="0" anchor="ctr"/>
          <a:lstStyle/>
          <a:p>
            <a:pPr algn="l" indent="0" marL="0">
              <a:buNone/>
            </a:pPr>
            <a:r>
              <a:rPr lang="en-US" sz="1800" b="1" dirty="0">
                <a:solidFill>
                  <a:srgbClr val="B85C46"/>
                </a:solidFill>
                <a:latin typeface="IBM Plex Sans KR" pitchFamily="34" charset="0"/>
                <a:ea typeface="IBM Plex Sans KR" pitchFamily="34" charset="-122"/>
                <a:cs typeface="IBM Plex Sans KR" pitchFamily="34" charset="-120"/>
              </a:rPr>
              <a:t>4.62%</a:t>
            </a:r>
            <a:endParaRPr lang="en-US" sz="1800" dirty="0"/>
          </a:p>
        </p:txBody>
      </p:sp>
      <p:sp>
        <p:nvSpPr>
          <p:cNvPr id="44" name="Shape 36"/>
          <p:cNvSpPr/>
          <p:nvPr/>
        </p:nvSpPr>
        <p:spPr>
          <a:xfrm>
            <a:off x="9658807" y="5210251"/>
            <a:ext cx="8058607" cy="705002"/>
          </a:xfrm>
          <a:prstGeom prst="rect">
            <a:avLst/>
          </a:prstGeom>
          <a:solidFill>
            <a:srgbClr val="FFFFFF"/>
          </a:solidFill>
          <a:ln w="12700">
            <a:solidFill>
              <a:srgbClr val="C4CDD9"/>
            </a:solidFill>
            <a:prstDash val="solid"/>
          </a:ln>
        </p:spPr>
      </p:sp>
      <p:sp>
        <p:nvSpPr>
          <p:cNvPr id="45" name="Text 37"/>
          <p:cNvSpPr txBox="1"/>
          <p:nvPr/>
        </p:nvSpPr>
        <p:spPr>
          <a:xfrm>
            <a:off x="9877349" y="5434279"/>
            <a:ext cx="619963"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WIWNU</a:t>
            </a:r>
            <a:endParaRPr lang="en-US" sz="1350" dirty="0"/>
          </a:p>
        </p:txBody>
      </p:sp>
      <p:sp>
        <p:nvSpPr>
          <p:cNvPr id="46" name="Text 38"/>
          <p:cNvSpPr txBox="1"/>
          <p:nvPr/>
        </p:nvSpPr>
        <p:spPr>
          <a:xfrm>
            <a:off x="16792042" y="5391302"/>
            <a:ext cx="715061" cy="342900"/>
          </a:xfrm>
          <a:prstGeom prst="rect">
            <a:avLst/>
          </a:prstGeom>
          <a:noFill/>
          <a:ln/>
        </p:spPr>
        <p:txBody>
          <a:bodyPr wrap="none" lIns="0" tIns="0" rIns="0" bIns="0" rtlCol="0" anchor="ctr"/>
          <a:lstStyle/>
          <a:p>
            <a:pPr algn="l" indent="0" marL="0">
              <a:buNone/>
            </a:pPr>
            <a:r>
              <a:rPr lang="en-US" sz="1800" b="1" dirty="0">
                <a:solidFill>
                  <a:srgbClr val="2D6F8C"/>
                </a:solidFill>
                <a:latin typeface="IBM Plex Sans KR" pitchFamily="34" charset="0"/>
                <a:ea typeface="IBM Plex Sans KR" pitchFamily="34" charset="-122"/>
                <a:cs typeface="IBM Plex Sans KR" pitchFamily="34" charset="-120"/>
              </a:rPr>
              <a:t>1.99%</a:t>
            </a:r>
            <a:endParaRPr lang="en-US" sz="1800" dirty="0"/>
          </a:p>
        </p:txBody>
      </p:sp>
      <p:sp>
        <p:nvSpPr>
          <p:cNvPr id="47" name="Text 39"/>
          <p:cNvSpPr txBox="1"/>
          <p:nvPr/>
        </p:nvSpPr>
        <p:spPr>
          <a:xfrm>
            <a:off x="571500" y="6048756"/>
            <a:ext cx="762610" cy="705002"/>
          </a:xfrm>
          <a:prstGeom prst="rect">
            <a:avLst/>
          </a:prstGeom>
          <a:solidFill>
            <a:srgbClr val="1B2C45"/>
          </a:solidFill>
          <a:ln>
            <a:solidFill>
              <a:srgbClr val="FFFFFF">
                <a:alpha val="0"/>
              </a:srgbClr>
            </a:solidFill>
          </a:ln>
        </p:spPr>
        <p:txBody>
          <a:bodyPr wrap="square" lIns="0" tIns="0" rIns="0" bIns="0" rtlCol="0" anchor="ctr"/>
          <a:lstStyle/>
          <a:p>
            <a:pPr algn="ctr" indent="0" marL="0">
              <a:buNone/>
            </a:pPr>
            <a:r>
              <a:rPr lang="en-US" sz="975" spc="176" kern="0" dirty="0">
                <a:solidFill>
                  <a:srgbClr val="93A4BC"/>
                </a:solidFill>
                <a:latin typeface="IBM Plex Sans KR" pitchFamily="34" charset="0"/>
                <a:ea typeface="IBM Plex Sans KR" pitchFamily="34" charset="-122"/>
                <a:cs typeface="IBM Plex Sans KR" pitchFamily="34" charset="-120"/>
              </a:rPr>
              <a:t>04</a:t>
            </a:r>
            <a:endParaRPr lang="en-US" sz="975" dirty="0"/>
          </a:p>
        </p:txBody>
      </p:sp>
      <p:sp>
        <p:nvSpPr>
          <p:cNvPr id="48" name="Shape 40"/>
          <p:cNvSpPr/>
          <p:nvPr/>
        </p:nvSpPr>
        <p:spPr>
          <a:xfrm>
            <a:off x="1466698" y="6048756"/>
            <a:ext cx="8058607" cy="705002"/>
          </a:xfrm>
          <a:prstGeom prst="rect">
            <a:avLst/>
          </a:prstGeom>
          <a:solidFill>
            <a:srgbClr val="FFFFFF"/>
          </a:solidFill>
          <a:ln w="12700">
            <a:solidFill>
              <a:srgbClr val="C4CDD9"/>
            </a:solidFill>
            <a:prstDash val="solid"/>
          </a:ln>
        </p:spPr>
      </p:sp>
      <p:sp>
        <p:nvSpPr>
          <p:cNvPr id="49" name="Text 41"/>
          <p:cNvSpPr txBox="1"/>
          <p:nvPr/>
        </p:nvSpPr>
        <p:spPr>
          <a:xfrm>
            <a:off x="1686154" y="6271870"/>
            <a:ext cx="1394460"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Etch selectivity</a:t>
            </a:r>
            <a:endParaRPr lang="en-US" sz="1350" dirty="0"/>
          </a:p>
        </p:txBody>
      </p:sp>
      <p:sp>
        <p:nvSpPr>
          <p:cNvPr id="50" name="Text 42"/>
          <p:cNvSpPr txBox="1"/>
          <p:nvPr/>
        </p:nvSpPr>
        <p:spPr>
          <a:xfrm>
            <a:off x="8640166" y="6229807"/>
            <a:ext cx="793699" cy="342900"/>
          </a:xfrm>
          <a:prstGeom prst="rect">
            <a:avLst/>
          </a:prstGeom>
          <a:noFill/>
          <a:ln/>
        </p:spPr>
        <p:txBody>
          <a:bodyPr wrap="none" lIns="0" tIns="0" rIns="0" bIns="0" rtlCol="0" anchor="ctr"/>
          <a:lstStyle/>
          <a:p>
            <a:pPr algn="l" indent="0" marL="0">
              <a:buNone/>
            </a:pPr>
            <a:r>
              <a:rPr lang="en-US" sz="1800" b="1" dirty="0">
                <a:solidFill>
                  <a:srgbClr val="B85C46"/>
                </a:solidFill>
                <a:latin typeface="IBM Plex Sans KR" pitchFamily="34" charset="0"/>
                <a:ea typeface="IBM Plex Sans KR" pitchFamily="34" charset="-122"/>
                <a:cs typeface="IBM Plex Sans KR" pitchFamily="34" charset="-120"/>
              </a:rPr>
              <a:t>1.4 : 1</a:t>
            </a:r>
            <a:endParaRPr lang="en-US" sz="1800" dirty="0"/>
          </a:p>
        </p:txBody>
      </p:sp>
      <p:sp>
        <p:nvSpPr>
          <p:cNvPr id="51" name="Shape 43"/>
          <p:cNvSpPr/>
          <p:nvPr/>
        </p:nvSpPr>
        <p:spPr>
          <a:xfrm>
            <a:off x="9658807" y="6048756"/>
            <a:ext cx="8058607" cy="705002"/>
          </a:xfrm>
          <a:prstGeom prst="rect">
            <a:avLst/>
          </a:prstGeom>
          <a:solidFill>
            <a:srgbClr val="FFFFFF"/>
          </a:solidFill>
          <a:ln w="12700">
            <a:solidFill>
              <a:srgbClr val="C4CDD9"/>
            </a:solidFill>
            <a:prstDash val="solid"/>
          </a:ln>
        </p:spPr>
      </p:sp>
      <p:sp>
        <p:nvSpPr>
          <p:cNvPr id="52" name="Text 44"/>
          <p:cNvSpPr txBox="1"/>
          <p:nvPr/>
        </p:nvSpPr>
        <p:spPr>
          <a:xfrm>
            <a:off x="9877349" y="6271870"/>
            <a:ext cx="1394460"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Etch selectivity</a:t>
            </a:r>
            <a:endParaRPr lang="en-US" sz="1350" dirty="0"/>
          </a:p>
        </p:txBody>
      </p:sp>
      <p:sp>
        <p:nvSpPr>
          <p:cNvPr id="53" name="Text 45"/>
          <p:cNvSpPr txBox="1"/>
          <p:nvPr/>
        </p:nvSpPr>
        <p:spPr>
          <a:xfrm>
            <a:off x="16831361" y="6229807"/>
            <a:ext cx="793699" cy="342900"/>
          </a:xfrm>
          <a:prstGeom prst="rect">
            <a:avLst/>
          </a:prstGeom>
          <a:noFill/>
          <a:ln/>
        </p:spPr>
        <p:txBody>
          <a:bodyPr wrap="none" lIns="0" tIns="0" rIns="0" bIns="0" rtlCol="0" anchor="ctr"/>
          <a:lstStyle/>
          <a:p>
            <a:pPr algn="l" indent="0" marL="0">
              <a:buNone/>
            </a:pPr>
            <a:r>
              <a:rPr lang="en-US" sz="1800" b="1" dirty="0">
                <a:solidFill>
                  <a:srgbClr val="2D6F8C"/>
                </a:solidFill>
                <a:latin typeface="IBM Plex Sans KR" pitchFamily="34" charset="0"/>
                <a:ea typeface="IBM Plex Sans KR" pitchFamily="34" charset="-122"/>
                <a:cs typeface="IBM Plex Sans KR" pitchFamily="34" charset="-120"/>
              </a:rPr>
              <a:t>4.6 : 1</a:t>
            </a:r>
            <a:endParaRPr lang="en-US" sz="1800" dirty="0"/>
          </a:p>
        </p:txBody>
      </p:sp>
      <p:sp>
        <p:nvSpPr>
          <p:cNvPr id="54" name="Text 46"/>
          <p:cNvSpPr txBox="1"/>
          <p:nvPr/>
        </p:nvSpPr>
        <p:spPr>
          <a:xfrm>
            <a:off x="571500" y="6886346"/>
            <a:ext cx="762610" cy="619963"/>
          </a:xfrm>
          <a:prstGeom prst="rect">
            <a:avLst/>
          </a:prstGeom>
          <a:solidFill>
            <a:srgbClr val="1B2C45"/>
          </a:solidFill>
          <a:ln>
            <a:solidFill>
              <a:srgbClr val="FFFFFF">
                <a:alpha val="0"/>
              </a:srgbClr>
            </a:solidFill>
          </a:ln>
        </p:spPr>
        <p:txBody>
          <a:bodyPr wrap="square" lIns="0" tIns="0" rIns="0" bIns="0" rtlCol="0" anchor="ctr"/>
          <a:lstStyle/>
          <a:p>
            <a:pPr algn="ctr" indent="0" marL="0">
              <a:buNone/>
            </a:pPr>
            <a:r>
              <a:rPr lang="en-US" sz="975" spc="176" kern="0" dirty="0">
                <a:solidFill>
                  <a:srgbClr val="93A4BC"/>
                </a:solidFill>
                <a:latin typeface="IBM Plex Sans KR" pitchFamily="34" charset="0"/>
                <a:ea typeface="IBM Plex Sans KR" pitchFamily="34" charset="-122"/>
                <a:cs typeface="IBM Plex Sans KR" pitchFamily="34" charset="-120"/>
              </a:rPr>
              <a:t>05</a:t>
            </a:r>
            <a:endParaRPr lang="en-US" sz="975" dirty="0"/>
          </a:p>
        </p:txBody>
      </p:sp>
      <p:sp>
        <p:nvSpPr>
          <p:cNvPr id="55" name="Shape 47"/>
          <p:cNvSpPr/>
          <p:nvPr/>
        </p:nvSpPr>
        <p:spPr>
          <a:xfrm>
            <a:off x="1466698" y="6886346"/>
            <a:ext cx="8058607" cy="619049"/>
          </a:xfrm>
          <a:prstGeom prst="rect">
            <a:avLst/>
          </a:prstGeom>
          <a:solidFill>
            <a:srgbClr val="FFFFFF"/>
          </a:solidFill>
          <a:ln w="12700">
            <a:solidFill>
              <a:srgbClr val="C4CDD9"/>
            </a:solidFill>
            <a:prstDash val="solid"/>
          </a:ln>
        </p:spPr>
      </p:sp>
      <p:sp>
        <p:nvSpPr>
          <p:cNvPr id="56" name="Text 48"/>
          <p:cNvSpPr txBox="1"/>
          <p:nvPr/>
        </p:nvSpPr>
        <p:spPr>
          <a:xfrm>
            <a:off x="1686154" y="7067398"/>
            <a:ext cx="1065276"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Throughput</a:t>
            </a:r>
            <a:endParaRPr lang="en-US" sz="1350" dirty="0"/>
          </a:p>
        </p:txBody>
      </p:sp>
      <p:sp>
        <p:nvSpPr>
          <p:cNvPr id="57" name="Text 49"/>
          <p:cNvSpPr txBox="1"/>
          <p:nvPr/>
        </p:nvSpPr>
        <p:spPr>
          <a:xfrm>
            <a:off x="8135417" y="7067398"/>
            <a:ext cx="1394460" cy="257861"/>
          </a:xfrm>
          <a:prstGeom prst="rect">
            <a:avLst/>
          </a:prstGeom>
          <a:noFill/>
          <a:ln/>
        </p:spPr>
        <p:txBody>
          <a:bodyPr wrap="none" lIns="0" tIns="0" rIns="0" bIns="0" rtlCol="0" anchor="ctr"/>
          <a:lstStyle/>
          <a:p>
            <a:pPr algn="l" indent="0" marL="0">
              <a:buNone/>
            </a:pPr>
            <a:r>
              <a:rPr lang="en-US" sz="1350" dirty="0">
                <a:solidFill>
                  <a:srgbClr val="B85C46"/>
                </a:solidFill>
                <a:latin typeface="IBM Plex Sans KR" pitchFamily="34" charset="0"/>
                <a:ea typeface="IBM Plex Sans KR" pitchFamily="34" charset="-122"/>
                <a:cs typeface="IBM Plex Sans KR" pitchFamily="34" charset="-120"/>
              </a:rPr>
              <a:t>low (high dose)</a:t>
            </a:r>
            <a:endParaRPr lang="en-US" sz="1350" dirty="0"/>
          </a:p>
        </p:txBody>
      </p:sp>
      <p:sp>
        <p:nvSpPr>
          <p:cNvPr id="58" name="Shape 50"/>
          <p:cNvSpPr/>
          <p:nvPr/>
        </p:nvSpPr>
        <p:spPr>
          <a:xfrm>
            <a:off x="9658807" y="6886346"/>
            <a:ext cx="8058607" cy="619049"/>
          </a:xfrm>
          <a:prstGeom prst="rect">
            <a:avLst/>
          </a:prstGeom>
          <a:solidFill>
            <a:srgbClr val="FFFFFF"/>
          </a:solidFill>
          <a:ln w="12700">
            <a:solidFill>
              <a:srgbClr val="C4CDD9"/>
            </a:solidFill>
            <a:prstDash val="solid"/>
          </a:ln>
        </p:spPr>
      </p:sp>
      <p:sp>
        <p:nvSpPr>
          <p:cNvPr id="59" name="Text 51"/>
          <p:cNvSpPr txBox="1"/>
          <p:nvPr/>
        </p:nvSpPr>
        <p:spPr>
          <a:xfrm>
            <a:off x="9877349" y="7067398"/>
            <a:ext cx="1065276" cy="257861"/>
          </a:xfrm>
          <a:prstGeom prst="rect">
            <a:avLst/>
          </a:prstGeom>
          <a:noFill/>
          <a:ln/>
        </p:spPr>
        <p:txBody>
          <a:bodyPr wrap="none" lIns="0" tIns="0" rIns="0" bIns="0" rtlCol="0" anchor="ctr"/>
          <a:lstStyle/>
          <a:p>
            <a:pPr algn="l" indent="0" marL="0">
              <a:buNone/>
            </a:pPr>
            <a:r>
              <a:rPr lang="en-US" sz="1350" dirty="0">
                <a:solidFill>
                  <a:srgbClr val="2F3D54"/>
                </a:solidFill>
                <a:latin typeface="IBM Plex Sans KR" pitchFamily="34" charset="0"/>
                <a:ea typeface="IBM Plex Sans KR" pitchFamily="34" charset="-122"/>
                <a:cs typeface="IBM Plex Sans KR" pitchFamily="34" charset="-120"/>
              </a:rPr>
              <a:t>Throughput</a:t>
            </a:r>
            <a:endParaRPr lang="en-US" sz="1350" dirty="0"/>
          </a:p>
        </p:txBody>
      </p:sp>
      <p:sp>
        <p:nvSpPr>
          <p:cNvPr id="60" name="Text 52"/>
          <p:cNvSpPr txBox="1"/>
          <p:nvPr/>
        </p:nvSpPr>
        <p:spPr>
          <a:xfrm>
            <a:off x="15796260" y="7067398"/>
            <a:ext cx="2029054" cy="257861"/>
          </a:xfrm>
          <a:prstGeom prst="rect">
            <a:avLst/>
          </a:prstGeom>
          <a:noFill/>
          <a:ln/>
        </p:spPr>
        <p:txBody>
          <a:bodyPr wrap="none" lIns="0" tIns="0" rIns="0" bIns="0" rtlCol="0" anchor="ctr"/>
          <a:lstStyle/>
          <a:p>
            <a:pPr algn="l" indent="0" marL="0">
              <a:buNone/>
            </a:pPr>
            <a:r>
              <a:rPr lang="en-US" sz="1350" dirty="0">
                <a:solidFill>
                  <a:srgbClr val="2D6F8C"/>
                </a:solidFill>
                <a:latin typeface="IBM Plex Sans KR" pitchFamily="34" charset="0"/>
                <a:ea typeface="IBM Plex Sans KR" pitchFamily="34" charset="-122"/>
                <a:cs typeface="IBM Plex Sans KR" pitchFamily="34" charset="-120"/>
              </a:rPr>
              <a:t>+3 ~ 4× dose 절감 효과</a:t>
            </a:r>
            <a:endParaRPr lang="en-US" sz="1350" dirty="0"/>
          </a:p>
        </p:txBody>
      </p:sp>
      <p:sp>
        <p:nvSpPr>
          <p:cNvPr id="61" name="Shape 53"/>
          <p:cNvSpPr/>
          <p:nvPr/>
        </p:nvSpPr>
        <p:spPr>
          <a:xfrm>
            <a:off x="11620195" y="7048195"/>
            <a:ext cx="6096305" cy="1524305"/>
          </a:xfrm>
          <a:prstGeom prst="rect">
            <a:avLst/>
          </a:prstGeom>
          <a:solidFill>
            <a:srgbClr val="1B2C45"/>
          </a:solidFill>
          <a:ln w="12700">
            <a:solidFill>
              <a:srgbClr val="FFFFFF">
                <a:alpha val="0"/>
              </a:srgbClr>
            </a:solidFill>
            <a:prstDash val="solid"/>
          </a:ln>
        </p:spPr>
      </p:sp>
      <p:sp>
        <p:nvSpPr>
          <p:cNvPr id="62" name="Text 54"/>
          <p:cNvSpPr txBox="1"/>
          <p:nvPr/>
        </p:nvSpPr>
        <p:spPr>
          <a:xfrm>
            <a:off x="11867998" y="7258507"/>
            <a:ext cx="5600700" cy="181051"/>
          </a:xfrm>
          <a:prstGeom prst="rect">
            <a:avLst/>
          </a:prstGeom>
          <a:noFill/>
          <a:ln/>
        </p:spPr>
        <p:txBody>
          <a:bodyPr wrap="none" lIns="0" tIns="0" rIns="0" bIns="0" rtlCol="0" anchor="ctr"/>
          <a:lstStyle/>
          <a:p>
            <a:pPr algn="l" indent="0" marL="0">
              <a:buNone/>
            </a:pPr>
            <a:r>
              <a:rPr lang="en-US" sz="975" spc="215" kern="0" dirty="0">
                <a:solidFill>
                  <a:srgbClr val="93A4BC"/>
                </a:solidFill>
                <a:latin typeface="IBM Plex Sans KR" pitchFamily="34" charset="0"/>
                <a:ea typeface="IBM Plex Sans KR" pitchFamily="34" charset="-122"/>
                <a:cs typeface="IBM Plex Sans KR" pitchFamily="34" charset="-120"/>
              </a:rPr>
              <a:t>Belongs where</a:t>
            </a:r>
            <a:endParaRPr lang="en-US" sz="975" dirty="0"/>
          </a:p>
        </p:txBody>
      </p:sp>
      <p:sp>
        <p:nvSpPr>
          <p:cNvPr id="63" name="Text 55"/>
          <p:cNvSpPr txBox="1"/>
          <p:nvPr/>
        </p:nvSpPr>
        <p:spPr>
          <a:xfrm>
            <a:off x="11867998" y="7572146"/>
            <a:ext cx="2714854" cy="181051"/>
          </a:xfrm>
          <a:prstGeom prst="rect">
            <a:avLst/>
          </a:prstGeom>
          <a:noFill/>
          <a:ln/>
        </p:spPr>
        <p:txBody>
          <a:bodyPr wrap="none" lIns="0" tIns="0" rIns="0" bIns="0" rtlCol="0" anchor="ctr"/>
          <a:lstStyle/>
          <a:p>
            <a:pPr algn="l" indent="0" marL="0">
              <a:buNone/>
            </a:pPr>
            <a:r>
              <a:rPr lang="en-US" sz="975" spc="117" kern="0" dirty="0">
                <a:solidFill>
                  <a:srgbClr val="93A4BC"/>
                </a:solidFill>
                <a:latin typeface="IBM Plex Sans KR" pitchFamily="34" charset="0"/>
                <a:ea typeface="IBM Plex Sans KR" pitchFamily="34" charset="-122"/>
                <a:cs typeface="IBM Plex Sans KR" pitchFamily="34" charset="-120"/>
              </a:rPr>
              <a:t>CAR 유리</a:t>
            </a:r>
            <a:endParaRPr lang="en-US" sz="975" dirty="0"/>
          </a:p>
        </p:txBody>
      </p:sp>
      <p:sp>
        <p:nvSpPr>
          <p:cNvPr id="64" name="Text 56"/>
          <p:cNvSpPr txBox="1"/>
          <p:nvPr/>
        </p:nvSpPr>
        <p:spPr>
          <a:xfrm>
            <a:off x="11867998" y="7830007"/>
            <a:ext cx="2714854" cy="514807"/>
          </a:xfrm>
          <a:prstGeom prst="rect">
            <a:avLst/>
          </a:prstGeom>
          <a:noFill/>
          <a:ln/>
        </p:spPr>
        <p:txBody>
          <a:bodyPr wrap="square" lIns="0" tIns="0" rIns="0" bIns="0" rtlCol="0" anchor="ctr"/>
          <a:lstStyle/>
          <a:p>
            <a:pPr algn="l" indent="0" marL="0">
              <a:lnSpc>
                <a:spcPts val="2025"/>
              </a:lnSpc>
              <a:buNone/>
            </a:pPr>
            <a:r>
              <a:rPr lang="en-US" sz="1350" dirty="0">
                <a:solidFill>
                  <a:srgbClr val="FFFFFF"/>
                </a:solidFill>
                <a:latin typeface="IBM Plex Sans KR" pitchFamily="34" charset="0"/>
                <a:ea typeface="IBM Plex Sans KR" pitchFamily="34" charset="-122"/>
                <a:cs typeface="IBM Plex Sans KR" pitchFamily="34" charset="-120"/>
              </a:rPr>
              <a:t>legacy PR 호환 · M0/Mx 두꺼운 film · 28 nm 피치 이상</a:t>
            </a:r>
            <a:endParaRPr lang="en-US" sz="1350" dirty="0"/>
          </a:p>
        </p:txBody>
      </p:sp>
      <p:sp>
        <p:nvSpPr>
          <p:cNvPr id="65" name="Text 57"/>
          <p:cNvSpPr txBox="1"/>
          <p:nvPr/>
        </p:nvSpPr>
        <p:spPr>
          <a:xfrm>
            <a:off x="14753844" y="7572146"/>
            <a:ext cx="2714854" cy="181051"/>
          </a:xfrm>
          <a:prstGeom prst="rect">
            <a:avLst/>
          </a:prstGeom>
          <a:noFill/>
          <a:ln/>
        </p:spPr>
        <p:txBody>
          <a:bodyPr wrap="none" lIns="0" tIns="0" rIns="0" bIns="0" rtlCol="0" anchor="ctr"/>
          <a:lstStyle/>
          <a:p>
            <a:pPr algn="l" indent="0" marL="0">
              <a:buNone/>
            </a:pPr>
            <a:r>
              <a:rPr lang="en-US" sz="975" spc="117" kern="0" dirty="0">
                <a:solidFill>
                  <a:srgbClr val="93A4BC"/>
                </a:solidFill>
                <a:latin typeface="IBM Plex Sans KR" pitchFamily="34" charset="0"/>
                <a:ea typeface="IBM Plex Sans KR" pitchFamily="34" charset="-122"/>
                <a:cs typeface="IBM Plex Sans KR" pitchFamily="34" charset="-120"/>
              </a:rPr>
              <a:t>MOR 유리</a:t>
            </a:r>
            <a:endParaRPr lang="en-US" sz="975" dirty="0"/>
          </a:p>
        </p:txBody>
      </p:sp>
      <p:sp>
        <p:nvSpPr>
          <p:cNvPr id="66" name="Text 58"/>
          <p:cNvSpPr txBox="1"/>
          <p:nvPr/>
        </p:nvSpPr>
        <p:spPr>
          <a:xfrm>
            <a:off x="14753844" y="7830007"/>
            <a:ext cx="2714854" cy="514807"/>
          </a:xfrm>
          <a:prstGeom prst="rect">
            <a:avLst/>
          </a:prstGeom>
          <a:noFill/>
          <a:ln/>
        </p:spPr>
        <p:txBody>
          <a:bodyPr wrap="square" lIns="0" tIns="0" rIns="0" bIns="0" rtlCol="0" anchor="ctr"/>
          <a:lstStyle/>
          <a:p>
            <a:pPr algn="l" indent="0" marL="0">
              <a:lnSpc>
                <a:spcPts val="2025"/>
              </a:lnSpc>
              <a:buNone/>
            </a:pPr>
            <a:r>
              <a:rPr lang="en-US" sz="1350" dirty="0">
                <a:solidFill>
                  <a:srgbClr val="FFFFFF"/>
                </a:solidFill>
                <a:latin typeface="IBM Plex Sans KR" pitchFamily="34" charset="0"/>
                <a:ea typeface="IBM Plex Sans KR" pitchFamily="34" charset="-122"/>
                <a:cs typeface="IBM Plex Sans KR" pitchFamily="34" charset="-120"/>
              </a:rPr>
              <a:t>18 nm 이하 · 0.55 NA · throughput 민감 · High-NA 박막</a:t>
            </a:r>
            <a:endParaRPr lang="en-US" sz="1350" dirty="0"/>
          </a:p>
        </p:txBody>
      </p:sp>
      <p:sp>
        <p:nvSpPr>
          <p:cNvPr id="67" name="Shape 59"/>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68" name="Text 60"/>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69" name="Image 5" descr="gen-dedup-2384ac9fd3012b414377934d98f26f83.png">    </p:cNvPr>
          <p:cNvPicPr>
            <a:picLocks noChangeAspect="1"/>
          </p:cNvPicPr>
          <p:nvPr/>
        </p:nvPicPr>
        <p:blipFill>
          <a:blip r:embed="rId6"/>
          <a:srcRect l="0" r="0" t="-2083" b="-2083"/>
          <a:stretch/>
        </p:blipFill>
        <p:spPr>
          <a:xfrm>
            <a:off x="2288743" y="8934602"/>
            <a:ext cx="9144" cy="228600"/>
          </a:xfrm>
          <a:prstGeom prst="rect">
            <a:avLst/>
          </a:prstGeom>
        </p:spPr>
      </p:pic>
      <p:sp>
        <p:nvSpPr>
          <p:cNvPr id="70" name="Text 61"/>
          <p:cNvSpPr txBox="1"/>
          <p:nvPr/>
        </p:nvSpPr>
        <p:spPr>
          <a:xfrm>
            <a:off x="2469794" y="8915400"/>
            <a:ext cx="9992563"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5개 평가 축에서 MOR이 4개 우위, CAR은 throughput과 legacy 호환 영역에서 한정적 강점 — 다음 lot는 MOR 우선 권고.</a:t>
            </a:r>
            <a:endParaRPr lang="en-US" sz="1500" dirty="0"/>
          </a:p>
        </p:txBody>
      </p:sp>
      <p:sp>
        <p:nvSpPr>
          <p:cNvPr id="71" name="Text 62"/>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11 of 12 · CAR vs MOR matrix</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gen-dedup-fcd982c3e1c8c9796cfc3182ea2156d9.png">    </p:cNvPr>
          <p:cNvPicPr>
            <a:picLocks noChangeAspect="1"/>
          </p:cNvPicPr>
          <p:nvPr/>
        </p:nvPicPr>
        <p:blipFill>
          <a:blip r:embed="rId1"/>
          <a:srcRect l="0" r="0" t="0" b="0"/>
          <a:stretch/>
        </p:blipFill>
        <p:spPr>
          <a:xfrm>
            <a:off x="0" y="0"/>
            <a:ext cx="18288000" cy="10287000"/>
          </a:xfrm>
          <a:prstGeom prst="rect">
            <a:avLst/>
          </a:prstGeom>
        </p:spPr>
      </p:pic>
      <p:sp>
        <p:nvSpPr>
          <p:cNvPr id="4" name="Text 0"/>
          <p:cNvSpPr txBox="1"/>
          <p:nvPr/>
        </p:nvSpPr>
        <p:spPr>
          <a:xfrm>
            <a:off x="571500" y="571500"/>
            <a:ext cx="2580437" cy="200254"/>
          </a:xfrm>
          <a:prstGeom prst="rect">
            <a:avLst/>
          </a:prstGeom>
          <a:noFill/>
          <a:ln/>
        </p:spPr>
        <p:txBody>
          <a:bodyPr wrap="none" lIns="0" tIns="0" rIns="0" bIns="0" rtlCol="0" anchor="ctr"/>
          <a:lstStyle/>
          <a:p>
            <a:pPr algn="l" indent="0" marL="0">
              <a:buNone/>
            </a:pPr>
            <a:r>
              <a:rPr lang="en-US" sz="1050" spc="231" kern="0" dirty="0">
                <a:solidFill>
                  <a:srgbClr val="5C6B82"/>
                </a:solidFill>
                <a:latin typeface="IBM Plex Sans KR" pitchFamily="34" charset="0"/>
                <a:ea typeface="IBM Plex Sans KR" pitchFamily="34" charset="-122"/>
                <a:cs typeface="IBM Plex Sans KR" pitchFamily="34" charset="-120"/>
              </a:rPr>
              <a:t>12 / Per-wafer synopsis</a:t>
            </a:r>
            <a:endParaRPr lang="en-US" sz="1050" dirty="0"/>
          </a:p>
        </p:txBody>
      </p:sp>
      <p:pic>
        <p:nvPicPr>
          <p:cNvPr id="5" name="Image 1" descr="gen-dedup-72c8c855dd65dd3f7a058d199e994252.png">    </p:cNvPr>
          <p:cNvPicPr>
            <a:picLocks noChangeAspect="1"/>
          </p:cNvPicPr>
          <p:nvPr/>
        </p:nvPicPr>
        <p:blipFill>
          <a:blip r:embed="rId2"/>
          <a:srcRect l="-2083" r="-2083" t="0" b="0"/>
          <a:stretch/>
        </p:blipFill>
        <p:spPr>
          <a:xfrm>
            <a:off x="3053182" y="666598"/>
            <a:ext cx="342900" cy="9144"/>
          </a:xfrm>
          <a:prstGeom prst="rect">
            <a:avLst/>
          </a:prstGeom>
        </p:spPr>
      </p:pic>
      <p:sp>
        <p:nvSpPr>
          <p:cNvPr id="6" name="Text 1"/>
          <p:cNvSpPr txBox="1"/>
          <p:nvPr/>
        </p:nvSpPr>
        <p:spPr>
          <a:xfrm>
            <a:off x="3529584" y="571500"/>
            <a:ext cx="1961388" cy="200254"/>
          </a:xfrm>
          <a:prstGeom prst="rect">
            <a:avLst/>
          </a:prstGeom>
          <a:noFill/>
          <a:ln/>
        </p:spPr>
        <p:txBody>
          <a:bodyPr wrap="none" lIns="0" tIns="0" rIns="0" bIns="0" rtlCol="0" anchor="ctr"/>
          <a:lstStyle/>
          <a:p>
            <a:pPr algn="l" indent="0" marL="0">
              <a:buNone/>
            </a:pPr>
            <a:r>
              <a:rPr lang="en-US" sz="1050" spc="126" kern="0" dirty="0">
                <a:solidFill>
                  <a:srgbClr val="5C6B82"/>
                </a:solidFill>
                <a:latin typeface="IBM Plex Sans KR" pitchFamily="34" charset="0"/>
                <a:ea typeface="IBM Plex Sans KR" pitchFamily="34" charset="-122"/>
                <a:cs typeface="IBM Plex Sans KR" pitchFamily="34" charset="-120"/>
              </a:rPr>
              <a:t>cross-metric synopsis</a:t>
            </a:r>
            <a:endParaRPr lang="en-US" sz="1050" dirty="0"/>
          </a:p>
        </p:txBody>
      </p:sp>
      <p:sp>
        <p:nvSpPr>
          <p:cNvPr id="7" name="Text 2"/>
          <p:cNvSpPr txBox="1"/>
          <p:nvPr/>
        </p:nvSpPr>
        <p:spPr>
          <a:xfrm>
            <a:off x="571500" y="905256"/>
            <a:ext cx="14287500" cy="467258"/>
          </a:xfrm>
          <a:prstGeom prst="rect">
            <a:avLst/>
          </a:prstGeom>
          <a:noFill/>
          <a:ln/>
        </p:spPr>
        <p:txBody>
          <a:bodyPr wrap="none" lIns="0" tIns="0" rIns="0" bIns="0" rtlCol="0" anchor="ctr"/>
          <a:lstStyle/>
          <a:p>
            <a:pPr algn="l" indent="0" marL="0">
              <a:buNone/>
            </a:pPr>
            <a:r>
              <a:rPr lang="en-US" sz="3450" b="1" dirty="0">
                <a:solidFill>
                  <a:srgbClr val="1B2C45"/>
                </a:solidFill>
                <a:latin typeface="IBM Plex Sans KR" pitchFamily="34" charset="0"/>
                <a:ea typeface="IBM Plex Sans KR" pitchFamily="34" charset="-122"/>
                <a:cs typeface="IBM Plex Sans KR" pitchFamily="34" charset="-120"/>
              </a:rPr>
              <a:t>Wafer별 종합 — 6 매 요약</a:t>
            </a:r>
            <a:endParaRPr lang="en-US" sz="3450" dirty="0"/>
          </a:p>
        </p:txBody>
      </p:sp>
      <p:pic>
        <p:nvPicPr>
          <p:cNvPr id="8" name="Image 2" descr="gen-dedup-9ae55472b901721cbf9db1193a4c472d.png">    </p:cNvPr>
          <p:cNvPicPr>
            <a:picLocks noChangeAspect="1"/>
          </p:cNvPicPr>
          <p:nvPr/>
        </p:nvPicPr>
        <p:blipFill>
          <a:blip r:embed="rId3"/>
          <a:srcRect l="-80" r="-80" t="0" b="0"/>
          <a:stretch/>
        </p:blipFill>
        <p:spPr>
          <a:xfrm>
            <a:off x="571500" y="1536192"/>
            <a:ext cx="800100" cy="47549"/>
          </a:xfrm>
          <a:prstGeom prst="rect">
            <a:avLst/>
          </a:prstGeom>
        </p:spPr>
      </p:pic>
      <p:sp>
        <p:nvSpPr>
          <p:cNvPr id="9" name="Shape 3"/>
          <p:cNvSpPr/>
          <p:nvPr/>
        </p:nvSpPr>
        <p:spPr>
          <a:xfrm>
            <a:off x="571500" y="2190902"/>
            <a:ext cx="5600700" cy="2200046"/>
          </a:xfrm>
          <a:prstGeom prst="rect">
            <a:avLst/>
          </a:prstGeom>
          <a:solidFill>
            <a:srgbClr val="FFFFFF"/>
          </a:solidFill>
          <a:ln w="12700">
            <a:solidFill>
              <a:srgbClr val="C4CDD9"/>
            </a:solidFill>
            <a:prstDash val="solid"/>
          </a:ln>
        </p:spPr>
      </p:sp>
      <p:sp>
        <p:nvSpPr>
          <p:cNvPr id="10" name="Shape 4"/>
          <p:cNvSpPr/>
          <p:nvPr/>
        </p:nvSpPr>
        <p:spPr>
          <a:xfrm>
            <a:off x="571500" y="2190902"/>
            <a:ext cx="5600700" cy="38405"/>
          </a:xfrm>
          <a:prstGeom prst="rect">
            <a:avLst/>
          </a:prstGeom>
          <a:solidFill>
            <a:srgbClr val="B85C46"/>
          </a:solidFill>
          <a:ln w="12700">
            <a:solidFill>
              <a:srgbClr val="B85C46">
                <a:alpha val="0"/>
              </a:srgbClr>
            </a:solidFill>
            <a:prstDash val="solid"/>
          </a:ln>
        </p:spPr>
      </p:sp>
      <p:sp>
        <p:nvSpPr>
          <p:cNvPr id="11" name="Text 5"/>
          <p:cNvSpPr txBox="1"/>
          <p:nvPr/>
        </p:nvSpPr>
        <p:spPr>
          <a:xfrm>
            <a:off x="790956" y="2400300"/>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W01</a:t>
            </a:r>
            <a:endParaRPr lang="en-US" sz="1650" dirty="0"/>
          </a:p>
        </p:txBody>
      </p:sp>
      <p:sp>
        <p:nvSpPr>
          <p:cNvPr id="12" name="Text 6"/>
          <p:cNvSpPr txBox="1"/>
          <p:nvPr/>
        </p:nvSpPr>
        <p:spPr>
          <a:xfrm>
            <a:off x="1341425" y="2452421"/>
            <a:ext cx="457200" cy="210312"/>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CAR</a:t>
            </a:r>
            <a:endParaRPr lang="en-US" sz="900" dirty="0"/>
          </a:p>
        </p:txBody>
      </p:sp>
      <p:sp>
        <p:nvSpPr>
          <p:cNvPr id="13" name="Text 7"/>
          <p:cNvSpPr txBox="1"/>
          <p:nvPr/>
        </p:nvSpPr>
        <p:spPr>
          <a:xfrm>
            <a:off x="5435194" y="2471623"/>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82.0 mJ</a:t>
            </a:r>
            <a:endParaRPr lang="en-US" sz="900" dirty="0"/>
          </a:p>
        </p:txBody>
      </p:sp>
      <p:sp>
        <p:nvSpPr>
          <p:cNvPr id="14" name="Text 8"/>
          <p:cNvSpPr txBox="1"/>
          <p:nvPr/>
        </p:nvSpPr>
        <p:spPr>
          <a:xfrm>
            <a:off x="790956" y="2848356"/>
            <a:ext cx="356616"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15" name="Text 9"/>
          <p:cNvSpPr txBox="1"/>
          <p:nvPr/>
        </p:nvSpPr>
        <p:spPr>
          <a:xfrm>
            <a:off x="5045659" y="2848356"/>
            <a:ext cx="108813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25.42 / +0.32</a:t>
            </a:r>
            <a:endParaRPr lang="en-US" sz="1125" dirty="0"/>
          </a:p>
        </p:txBody>
      </p:sp>
      <p:sp>
        <p:nvSpPr>
          <p:cNvPr id="16" name="Text 10"/>
          <p:cNvSpPr txBox="1"/>
          <p:nvPr/>
        </p:nvSpPr>
        <p:spPr>
          <a:xfrm>
            <a:off x="790956" y="3114446"/>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17" name="Text 11"/>
          <p:cNvSpPr txBox="1"/>
          <p:nvPr/>
        </p:nvSpPr>
        <p:spPr>
          <a:xfrm>
            <a:off x="5131613" y="3114446"/>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8.51 / +0.31</a:t>
            </a:r>
            <a:endParaRPr lang="en-US" sz="1125" dirty="0"/>
          </a:p>
        </p:txBody>
      </p:sp>
      <p:sp>
        <p:nvSpPr>
          <p:cNvPr id="18" name="Text 12"/>
          <p:cNvSpPr txBox="1"/>
          <p:nvPr/>
        </p:nvSpPr>
        <p:spPr>
          <a:xfrm>
            <a:off x="790956" y="3381451"/>
            <a:ext cx="267005"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19" name="Text 13"/>
          <p:cNvSpPr txBox="1"/>
          <p:nvPr/>
        </p:nvSpPr>
        <p:spPr>
          <a:xfrm>
            <a:off x="4980737" y="3381451"/>
            <a:ext cx="1167689" cy="219456"/>
          </a:xfrm>
          <a:prstGeom prst="rect">
            <a:avLst/>
          </a:prstGeom>
          <a:noFill/>
          <a:ln/>
        </p:spPr>
        <p:txBody>
          <a:bodyPr wrap="none" lIns="0" tIns="0" rIns="0" bIns="0" rtlCol="0" anchor="ctr"/>
          <a:lstStyle/>
          <a:p>
            <a:pPr algn="l" indent="0" marL="0">
              <a:buNone/>
            </a:pPr>
            <a:r>
              <a:rPr lang="en-US" sz="1125" b="1" dirty="0">
                <a:solidFill>
                  <a:srgbClr val="B85C46"/>
                </a:solidFill>
                <a:latin typeface="IBM Plex Sans KR" pitchFamily="34" charset="0"/>
                <a:ea typeface="IBM Plex Sans KR" pitchFamily="34" charset="-122"/>
                <a:cs typeface="IBM Plex Sans KR" pitchFamily="34" charset="-120"/>
              </a:rPr>
              <a:t>8.32 / +0.32 ✕</a:t>
            </a:r>
            <a:endParaRPr lang="en-US" sz="1125" dirty="0"/>
          </a:p>
        </p:txBody>
      </p:sp>
      <p:sp>
        <p:nvSpPr>
          <p:cNvPr id="20" name="Text 14"/>
          <p:cNvSpPr txBox="1"/>
          <p:nvPr/>
        </p:nvSpPr>
        <p:spPr>
          <a:xfrm>
            <a:off x="790956" y="3657600"/>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21" name="Text 15"/>
          <p:cNvSpPr txBox="1"/>
          <p:nvPr/>
        </p:nvSpPr>
        <p:spPr>
          <a:xfrm>
            <a:off x="5512003" y="3657600"/>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4.62%</a:t>
            </a:r>
            <a:endParaRPr lang="en-US" sz="1125" dirty="0"/>
          </a:p>
        </p:txBody>
      </p:sp>
      <p:sp>
        <p:nvSpPr>
          <p:cNvPr id="22" name="Shape 16"/>
          <p:cNvSpPr/>
          <p:nvPr/>
        </p:nvSpPr>
        <p:spPr>
          <a:xfrm>
            <a:off x="790956" y="3905402"/>
            <a:ext cx="5162702" cy="9144"/>
          </a:xfrm>
          <a:prstGeom prst="rect">
            <a:avLst/>
          </a:prstGeom>
          <a:solidFill>
            <a:srgbClr val="D6DCE5"/>
          </a:solidFill>
          <a:ln w="12700">
            <a:solidFill>
              <a:srgbClr val="D6DCE5">
                <a:alpha val="0"/>
              </a:srgbClr>
            </a:solidFill>
            <a:prstDash val="solid"/>
          </a:ln>
        </p:spPr>
      </p:sp>
      <p:sp>
        <p:nvSpPr>
          <p:cNvPr id="23" name="Text 17"/>
          <p:cNvSpPr txBox="1"/>
          <p:nvPr/>
        </p:nvSpPr>
        <p:spPr>
          <a:xfrm>
            <a:off x="790956" y="4009644"/>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Edge 부근에서 ring-shaped drift, ACI spec 위반.</a:t>
            </a:r>
            <a:endParaRPr lang="en-US" sz="1050" dirty="0"/>
          </a:p>
        </p:txBody>
      </p:sp>
      <p:sp>
        <p:nvSpPr>
          <p:cNvPr id="24" name="Shape 18"/>
          <p:cNvSpPr/>
          <p:nvPr/>
        </p:nvSpPr>
        <p:spPr>
          <a:xfrm>
            <a:off x="6344107" y="2190902"/>
            <a:ext cx="5600700" cy="2200046"/>
          </a:xfrm>
          <a:prstGeom prst="rect">
            <a:avLst/>
          </a:prstGeom>
          <a:solidFill>
            <a:srgbClr val="FFFFFF"/>
          </a:solidFill>
          <a:ln w="12700">
            <a:solidFill>
              <a:srgbClr val="C4CDD9"/>
            </a:solidFill>
            <a:prstDash val="solid"/>
          </a:ln>
        </p:spPr>
      </p:sp>
      <p:sp>
        <p:nvSpPr>
          <p:cNvPr id="25" name="Shape 19"/>
          <p:cNvSpPr/>
          <p:nvPr/>
        </p:nvSpPr>
        <p:spPr>
          <a:xfrm>
            <a:off x="6344107" y="2190902"/>
            <a:ext cx="5600700" cy="38405"/>
          </a:xfrm>
          <a:prstGeom prst="rect">
            <a:avLst/>
          </a:prstGeom>
          <a:solidFill>
            <a:srgbClr val="B85C46"/>
          </a:solidFill>
          <a:ln w="12700">
            <a:solidFill>
              <a:srgbClr val="B85C46">
                <a:alpha val="0"/>
              </a:srgbClr>
            </a:solidFill>
            <a:prstDash val="solid"/>
          </a:ln>
        </p:spPr>
      </p:sp>
      <p:sp>
        <p:nvSpPr>
          <p:cNvPr id="26" name="Text 20"/>
          <p:cNvSpPr txBox="1"/>
          <p:nvPr/>
        </p:nvSpPr>
        <p:spPr>
          <a:xfrm>
            <a:off x="6562649" y="2400300"/>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W02</a:t>
            </a:r>
            <a:endParaRPr lang="en-US" sz="1650" dirty="0"/>
          </a:p>
        </p:txBody>
      </p:sp>
      <p:sp>
        <p:nvSpPr>
          <p:cNvPr id="27" name="Text 21"/>
          <p:cNvSpPr txBox="1"/>
          <p:nvPr/>
        </p:nvSpPr>
        <p:spPr>
          <a:xfrm>
            <a:off x="7113118" y="2452421"/>
            <a:ext cx="457200" cy="210312"/>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CAR</a:t>
            </a:r>
            <a:endParaRPr lang="en-US" sz="900" dirty="0"/>
          </a:p>
        </p:txBody>
      </p:sp>
      <p:sp>
        <p:nvSpPr>
          <p:cNvPr id="28" name="Text 22"/>
          <p:cNvSpPr txBox="1"/>
          <p:nvPr/>
        </p:nvSpPr>
        <p:spPr>
          <a:xfrm>
            <a:off x="11207801" y="2471623"/>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81.5 mJ</a:t>
            </a:r>
            <a:endParaRPr lang="en-US" sz="900" dirty="0"/>
          </a:p>
        </p:txBody>
      </p:sp>
      <p:sp>
        <p:nvSpPr>
          <p:cNvPr id="29" name="Text 23"/>
          <p:cNvSpPr txBox="1"/>
          <p:nvPr/>
        </p:nvSpPr>
        <p:spPr>
          <a:xfrm>
            <a:off x="6562649" y="2848356"/>
            <a:ext cx="356616"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30" name="Text 24"/>
          <p:cNvSpPr txBox="1"/>
          <p:nvPr/>
        </p:nvSpPr>
        <p:spPr>
          <a:xfrm>
            <a:off x="10667390" y="2848356"/>
            <a:ext cx="1270102" cy="219456"/>
          </a:xfrm>
          <a:prstGeom prst="rect">
            <a:avLst/>
          </a:prstGeom>
          <a:noFill/>
          <a:ln/>
        </p:spPr>
        <p:txBody>
          <a:bodyPr wrap="none" lIns="0" tIns="0" rIns="0" bIns="0" rtlCol="0" anchor="ctr"/>
          <a:lstStyle/>
          <a:p>
            <a:pPr algn="l" indent="0" marL="0">
              <a:buNone/>
            </a:pPr>
            <a:r>
              <a:rPr lang="en-US" sz="1125" b="1" dirty="0">
                <a:solidFill>
                  <a:srgbClr val="B85C46"/>
                </a:solidFill>
                <a:latin typeface="IBM Plex Sans KR" pitchFamily="34" charset="0"/>
                <a:ea typeface="IBM Plex Sans KR" pitchFamily="34" charset="-122"/>
                <a:cs typeface="IBM Plex Sans KR" pitchFamily="34" charset="-120"/>
              </a:rPr>
              <a:t>25.58 / +0.48 ✕</a:t>
            </a:r>
            <a:endParaRPr lang="en-US" sz="1125" dirty="0"/>
          </a:p>
        </p:txBody>
      </p:sp>
      <p:sp>
        <p:nvSpPr>
          <p:cNvPr id="31" name="Text 25"/>
          <p:cNvSpPr txBox="1"/>
          <p:nvPr/>
        </p:nvSpPr>
        <p:spPr>
          <a:xfrm>
            <a:off x="6562649" y="3124505"/>
            <a:ext cx="267005"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32" name="Text 26"/>
          <p:cNvSpPr txBox="1"/>
          <p:nvPr/>
        </p:nvSpPr>
        <p:spPr>
          <a:xfrm>
            <a:off x="10753344" y="3124505"/>
            <a:ext cx="1167689" cy="219456"/>
          </a:xfrm>
          <a:prstGeom prst="rect">
            <a:avLst/>
          </a:prstGeom>
          <a:noFill/>
          <a:ln/>
        </p:spPr>
        <p:txBody>
          <a:bodyPr wrap="none" lIns="0" tIns="0" rIns="0" bIns="0" rtlCol="0" anchor="ctr"/>
          <a:lstStyle/>
          <a:p>
            <a:pPr algn="l" indent="0" marL="0">
              <a:buNone/>
            </a:pPr>
            <a:r>
              <a:rPr lang="en-US" sz="1125" b="1" dirty="0">
                <a:solidFill>
                  <a:srgbClr val="B85C46"/>
                </a:solidFill>
                <a:latin typeface="IBM Plex Sans KR" pitchFamily="34" charset="0"/>
                <a:ea typeface="IBM Plex Sans KR" pitchFamily="34" charset="-122"/>
                <a:cs typeface="IBM Plex Sans KR" pitchFamily="34" charset="-120"/>
              </a:rPr>
              <a:t>8.62 / +0.42 ✕</a:t>
            </a:r>
            <a:endParaRPr lang="en-US" sz="1125" dirty="0"/>
          </a:p>
        </p:txBody>
      </p:sp>
      <p:sp>
        <p:nvSpPr>
          <p:cNvPr id="33" name="Text 27"/>
          <p:cNvSpPr txBox="1"/>
          <p:nvPr/>
        </p:nvSpPr>
        <p:spPr>
          <a:xfrm>
            <a:off x="6562649" y="3400654"/>
            <a:ext cx="267005" cy="219456"/>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34" name="Text 28"/>
          <p:cNvSpPr txBox="1"/>
          <p:nvPr/>
        </p:nvSpPr>
        <p:spPr>
          <a:xfrm>
            <a:off x="10753344" y="3400654"/>
            <a:ext cx="1167689" cy="219456"/>
          </a:xfrm>
          <a:prstGeom prst="rect">
            <a:avLst/>
          </a:prstGeom>
          <a:noFill/>
          <a:ln/>
        </p:spPr>
        <p:txBody>
          <a:bodyPr wrap="none" lIns="0" tIns="0" rIns="0" bIns="0" rtlCol="0" anchor="ctr"/>
          <a:lstStyle/>
          <a:p>
            <a:pPr algn="l" indent="0" marL="0">
              <a:buNone/>
            </a:pPr>
            <a:r>
              <a:rPr lang="en-US" sz="1125" b="1" dirty="0">
                <a:solidFill>
                  <a:srgbClr val="B85C46"/>
                </a:solidFill>
                <a:latin typeface="IBM Plex Sans KR" pitchFamily="34" charset="0"/>
                <a:ea typeface="IBM Plex Sans KR" pitchFamily="34" charset="-122"/>
                <a:cs typeface="IBM Plex Sans KR" pitchFamily="34" charset="-120"/>
              </a:rPr>
              <a:t>8.45 / +0.45 ✕</a:t>
            </a:r>
            <a:endParaRPr lang="en-US" sz="1125" dirty="0"/>
          </a:p>
        </p:txBody>
      </p:sp>
      <p:sp>
        <p:nvSpPr>
          <p:cNvPr id="35" name="Text 29"/>
          <p:cNvSpPr txBox="1"/>
          <p:nvPr/>
        </p:nvSpPr>
        <p:spPr>
          <a:xfrm>
            <a:off x="6562649" y="3676802"/>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36" name="Text 30"/>
          <p:cNvSpPr txBox="1"/>
          <p:nvPr/>
        </p:nvSpPr>
        <p:spPr>
          <a:xfrm>
            <a:off x="11284610" y="3676802"/>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4.45%</a:t>
            </a:r>
            <a:endParaRPr lang="en-US" sz="1125" dirty="0"/>
          </a:p>
        </p:txBody>
      </p:sp>
      <p:sp>
        <p:nvSpPr>
          <p:cNvPr id="37" name="Shape 31"/>
          <p:cNvSpPr/>
          <p:nvPr/>
        </p:nvSpPr>
        <p:spPr>
          <a:xfrm>
            <a:off x="6562649" y="3905402"/>
            <a:ext cx="5162702" cy="9144"/>
          </a:xfrm>
          <a:prstGeom prst="rect">
            <a:avLst/>
          </a:prstGeom>
          <a:solidFill>
            <a:srgbClr val="D6DCE5"/>
          </a:solidFill>
          <a:ln w="12700">
            <a:solidFill>
              <a:srgbClr val="D6DCE5">
                <a:alpha val="0"/>
              </a:srgbClr>
            </a:solidFill>
            <a:prstDash val="solid"/>
          </a:ln>
        </p:spPr>
      </p:sp>
      <p:sp>
        <p:nvSpPr>
          <p:cNvPr id="38" name="Text 32"/>
          <p:cNvSpPr txBox="1"/>
          <p:nvPr/>
        </p:nvSpPr>
        <p:spPr>
          <a:xfrm>
            <a:off x="6562649" y="4009644"/>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가장 큰 양 편향 wafer, AASI/AMI/ACI 모두 spec 위반.</a:t>
            </a:r>
            <a:endParaRPr lang="en-US" sz="1050" dirty="0"/>
          </a:p>
        </p:txBody>
      </p:sp>
      <p:sp>
        <p:nvSpPr>
          <p:cNvPr id="39" name="Shape 33"/>
          <p:cNvSpPr/>
          <p:nvPr/>
        </p:nvSpPr>
        <p:spPr>
          <a:xfrm>
            <a:off x="12115800" y="2190902"/>
            <a:ext cx="5600700" cy="2200046"/>
          </a:xfrm>
          <a:prstGeom prst="rect">
            <a:avLst/>
          </a:prstGeom>
          <a:solidFill>
            <a:srgbClr val="FFFFFF"/>
          </a:solidFill>
          <a:ln w="12700">
            <a:solidFill>
              <a:srgbClr val="C4CDD9"/>
            </a:solidFill>
            <a:prstDash val="solid"/>
          </a:ln>
        </p:spPr>
      </p:sp>
      <p:sp>
        <p:nvSpPr>
          <p:cNvPr id="40" name="Shape 34"/>
          <p:cNvSpPr/>
          <p:nvPr/>
        </p:nvSpPr>
        <p:spPr>
          <a:xfrm>
            <a:off x="12115800" y="2190902"/>
            <a:ext cx="5600700" cy="38405"/>
          </a:xfrm>
          <a:prstGeom prst="rect">
            <a:avLst/>
          </a:prstGeom>
          <a:solidFill>
            <a:srgbClr val="B85C46"/>
          </a:solidFill>
          <a:ln w="12700">
            <a:solidFill>
              <a:srgbClr val="B85C46">
                <a:alpha val="0"/>
              </a:srgbClr>
            </a:solidFill>
            <a:prstDash val="solid"/>
          </a:ln>
        </p:spPr>
      </p:sp>
      <p:sp>
        <p:nvSpPr>
          <p:cNvPr id="41" name="Text 35"/>
          <p:cNvSpPr txBox="1"/>
          <p:nvPr/>
        </p:nvSpPr>
        <p:spPr>
          <a:xfrm>
            <a:off x="12335256" y="2400300"/>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W03</a:t>
            </a:r>
            <a:endParaRPr lang="en-US" sz="1650" dirty="0"/>
          </a:p>
        </p:txBody>
      </p:sp>
      <p:sp>
        <p:nvSpPr>
          <p:cNvPr id="42" name="Text 36"/>
          <p:cNvSpPr txBox="1"/>
          <p:nvPr/>
        </p:nvSpPr>
        <p:spPr>
          <a:xfrm>
            <a:off x="12885725" y="2452421"/>
            <a:ext cx="457200" cy="210312"/>
          </a:xfrm>
          <a:prstGeom prst="rect">
            <a:avLst/>
          </a:prstGeom>
          <a:solidFill>
            <a:srgbClr val="B85C46"/>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CAR</a:t>
            </a:r>
            <a:endParaRPr lang="en-US" sz="900" dirty="0"/>
          </a:p>
        </p:txBody>
      </p:sp>
      <p:sp>
        <p:nvSpPr>
          <p:cNvPr id="43" name="Text 37"/>
          <p:cNvSpPr txBox="1"/>
          <p:nvPr/>
        </p:nvSpPr>
        <p:spPr>
          <a:xfrm>
            <a:off x="16979494" y="2471623"/>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82.5 mJ</a:t>
            </a:r>
            <a:endParaRPr lang="en-US" sz="900" dirty="0"/>
          </a:p>
        </p:txBody>
      </p:sp>
      <p:sp>
        <p:nvSpPr>
          <p:cNvPr id="44" name="Text 38"/>
          <p:cNvSpPr txBox="1"/>
          <p:nvPr/>
        </p:nvSpPr>
        <p:spPr>
          <a:xfrm>
            <a:off x="12335256" y="2848356"/>
            <a:ext cx="356616"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45" name="Text 39"/>
          <p:cNvSpPr txBox="1"/>
          <p:nvPr/>
        </p:nvSpPr>
        <p:spPr>
          <a:xfrm>
            <a:off x="16589959" y="2848356"/>
            <a:ext cx="108813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25.31 / +0.21</a:t>
            </a:r>
            <a:endParaRPr lang="en-US" sz="1125" dirty="0"/>
          </a:p>
        </p:txBody>
      </p:sp>
      <p:sp>
        <p:nvSpPr>
          <p:cNvPr id="46" name="Text 40"/>
          <p:cNvSpPr txBox="1"/>
          <p:nvPr/>
        </p:nvSpPr>
        <p:spPr>
          <a:xfrm>
            <a:off x="12335256" y="3114446"/>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47" name="Text 41"/>
          <p:cNvSpPr txBox="1"/>
          <p:nvPr/>
        </p:nvSpPr>
        <p:spPr>
          <a:xfrm>
            <a:off x="16675913" y="3114446"/>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8.43 / +0.23</a:t>
            </a:r>
            <a:endParaRPr lang="en-US" sz="1125" dirty="0"/>
          </a:p>
        </p:txBody>
      </p:sp>
      <p:sp>
        <p:nvSpPr>
          <p:cNvPr id="48" name="Text 42"/>
          <p:cNvSpPr txBox="1"/>
          <p:nvPr/>
        </p:nvSpPr>
        <p:spPr>
          <a:xfrm>
            <a:off x="12335256" y="3381451"/>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49" name="Text 43"/>
          <p:cNvSpPr txBox="1"/>
          <p:nvPr/>
        </p:nvSpPr>
        <p:spPr>
          <a:xfrm>
            <a:off x="16675913" y="3381451"/>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8.20 / +0.20</a:t>
            </a:r>
            <a:endParaRPr lang="en-US" sz="1125" dirty="0"/>
          </a:p>
        </p:txBody>
      </p:sp>
      <p:sp>
        <p:nvSpPr>
          <p:cNvPr id="50" name="Text 44"/>
          <p:cNvSpPr txBox="1"/>
          <p:nvPr/>
        </p:nvSpPr>
        <p:spPr>
          <a:xfrm>
            <a:off x="12335256" y="3648456"/>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51" name="Text 45"/>
          <p:cNvSpPr txBox="1"/>
          <p:nvPr/>
        </p:nvSpPr>
        <p:spPr>
          <a:xfrm>
            <a:off x="17056303" y="3648456"/>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4.78%</a:t>
            </a:r>
            <a:endParaRPr lang="en-US" sz="1125" dirty="0"/>
          </a:p>
        </p:txBody>
      </p:sp>
      <p:sp>
        <p:nvSpPr>
          <p:cNvPr id="52" name="Shape 46"/>
          <p:cNvSpPr/>
          <p:nvPr/>
        </p:nvSpPr>
        <p:spPr>
          <a:xfrm>
            <a:off x="12335256" y="3905402"/>
            <a:ext cx="5162702" cy="9144"/>
          </a:xfrm>
          <a:prstGeom prst="rect">
            <a:avLst/>
          </a:prstGeom>
          <a:solidFill>
            <a:srgbClr val="D6DCE5"/>
          </a:solidFill>
          <a:ln w="12700">
            <a:solidFill>
              <a:srgbClr val="D6DCE5">
                <a:alpha val="0"/>
              </a:srgbClr>
            </a:solidFill>
            <a:prstDash val="solid"/>
          </a:ln>
        </p:spPr>
      </p:sp>
      <p:sp>
        <p:nvSpPr>
          <p:cNvPr id="53" name="Text 47"/>
          <p:cNvSpPr txBox="1"/>
          <p:nvPr/>
        </p:nvSpPr>
        <p:spPr>
          <a:xfrm>
            <a:off x="12335256" y="4009644"/>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CAR 중 가장 site σ 큼, ACI spec 통과 경계.</a:t>
            </a:r>
            <a:endParaRPr lang="en-US" sz="1050" dirty="0"/>
          </a:p>
        </p:txBody>
      </p:sp>
      <p:sp>
        <p:nvSpPr>
          <p:cNvPr id="54" name="Shape 48"/>
          <p:cNvSpPr/>
          <p:nvPr/>
        </p:nvSpPr>
        <p:spPr>
          <a:xfrm>
            <a:off x="571500" y="4562856"/>
            <a:ext cx="5600700" cy="2200046"/>
          </a:xfrm>
          <a:prstGeom prst="rect">
            <a:avLst/>
          </a:prstGeom>
          <a:solidFill>
            <a:srgbClr val="FFFFFF"/>
          </a:solidFill>
          <a:ln w="12700">
            <a:solidFill>
              <a:srgbClr val="C4CDD9"/>
            </a:solidFill>
            <a:prstDash val="solid"/>
          </a:ln>
        </p:spPr>
      </p:sp>
      <p:sp>
        <p:nvSpPr>
          <p:cNvPr id="55" name="Shape 49"/>
          <p:cNvSpPr/>
          <p:nvPr/>
        </p:nvSpPr>
        <p:spPr>
          <a:xfrm>
            <a:off x="571500" y="4562856"/>
            <a:ext cx="5600700" cy="38405"/>
          </a:xfrm>
          <a:prstGeom prst="rect">
            <a:avLst/>
          </a:prstGeom>
          <a:solidFill>
            <a:srgbClr val="2D6F8C"/>
          </a:solidFill>
          <a:ln w="12700">
            <a:solidFill>
              <a:srgbClr val="2D6F8C">
                <a:alpha val="0"/>
              </a:srgbClr>
            </a:solidFill>
            <a:prstDash val="solid"/>
          </a:ln>
        </p:spPr>
      </p:sp>
      <p:sp>
        <p:nvSpPr>
          <p:cNvPr id="56" name="Text 50"/>
          <p:cNvSpPr txBox="1"/>
          <p:nvPr/>
        </p:nvSpPr>
        <p:spPr>
          <a:xfrm>
            <a:off x="790956" y="4772254"/>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W04</a:t>
            </a:r>
            <a:endParaRPr lang="en-US" sz="1650" dirty="0"/>
          </a:p>
        </p:txBody>
      </p:sp>
      <p:sp>
        <p:nvSpPr>
          <p:cNvPr id="57" name="Text 51"/>
          <p:cNvSpPr txBox="1"/>
          <p:nvPr/>
        </p:nvSpPr>
        <p:spPr>
          <a:xfrm>
            <a:off x="1341425" y="4824374"/>
            <a:ext cx="486461" cy="210312"/>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MOR</a:t>
            </a:r>
            <a:endParaRPr lang="en-US" sz="900" dirty="0"/>
          </a:p>
        </p:txBody>
      </p:sp>
      <p:sp>
        <p:nvSpPr>
          <p:cNvPr id="58" name="Text 52"/>
          <p:cNvSpPr txBox="1"/>
          <p:nvPr/>
        </p:nvSpPr>
        <p:spPr>
          <a:xfrm>
            <a:off x="5435194" y="4843577"/>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21.0 mJ</a:t>
            </a:r>
            <a:endParaRPr lang="en-US" sz="900" dirty="0"/>
          </a:p>
        </p:txBody>
      </p:sp>
      <p:sp>
        <p:nvSpPr>
          <p:cNvPr id="59" name="Text 53"/>
          <p:cNvSpPr txBox="1"/>
          <p:nvPr/>
        </p:nvSpPr>
        <p:spPr>
          <a:xfrm>
            <a:off x="790956" y="5219395"/>
            <a:ext cx="356616"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60" name="Text 54"/>
          <p:cNvSpPr txBox="1"/>
          <p:nvPr/>
        </p:nvSpPr>
        <p:spPr>
          <a:xfrm>
            <a:off x="5045659" y="5219395"/>
            <a:ext cx="108813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25.04 / −0.06</a:t>
            </a:r>
            <a:endParaRPr lang="en-US" sz="1125" dirty="0"/>
          </a:p>
        </p:txBody>
      </p:sp>
      <p:sp>
        <p:nvSpPr>
          <p:cNvPr id="61" name="Text 55"/>
          <p:cNvSpPr txBox="1"/>
          <p:nvPr/>
        </p:nvSpPr>
        <p:spPr>
          <a:xfrm>
            <a:off x="790956" y="5486400"/>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62" name="Text 56"/>
          <p:cNvSpPr txBox="1"/>
          <p:nvPr/>
        </p:nvSpPr>
        <p:spPr>
          <a:xfrm>
            <a:off x="5131613" y="5486400"/>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8.11 / −0.09</a:t>
            </a:r>
            <a:endParaRPr lang="en-US" sz="1125" dirty="0"/>
          </a:p>
        </p:txBody>
      </p:sp>
      <p:sp>
        <p:nvSpPr>
          <p:cNvPr id="63" name="Text 57"/>
          <p:cNvSpPr txBox="1"/>
          <p:nvPr/>
        </p:nvSpPr>
        <p:spPr>
          <a:xfrm>
            <a:off x="790956" y="5753405"/>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64" name="Text 58"/>
          <p:cNvSpPr txBox="1"/>
          <p:nvPr/>
        </p:nvSpPr>
        <p:spPr>
          <a:xfrm>
            <a:off x="5131613" y="5753405"/>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7.95 / −0.05</a:t>
            </a:r>
            <a:endParaRPr lang="en-US" sz="1125" dirty="0"/>
          </a:p>
        </p:txBody>
      </p:sp>
      <p:sp>
        <p:nvSpPr>
          <p:cNvPr id="65" name="Text 59"/>
          <p:cNvSpPr txBox="1"/>
          <p:nvPr/>
        </p:nvSpPr>
        <p:spPr>
          <a:xfrm>
            <a:off x="790956" y="6019495"/>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66" name="Text 60"/>
          <p:cNvSpPr txBox="1"/>
          <p:nvPr/>
        </p:nvSpPr>
        <p:spPr>
          <a:xfrm>
            <a:off x="5512003" y="6019495"/>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1.98%</a:t>
            </a:r>
            <a:endParaRPr lang="en-US" sz="1125" dirty="0"/>
          </a:p>
        </p:txBody>
      </p:sp>
      <p:sp>
        <p:nvSpPr>
          <p:cNvPr id="67" name="Shape 61"/>
          <p:cNvSpPr/>
          <p:nvPr/>
        </p:nvSpPr>
        <p:spPr>
          <a:xfrm>
            <a:off x="790956" y="6277356"/>
            <a:ext cx="5162702" cy="9144"/>
          </a:xfrm>
          <a:prstGeom prst="rect">
            <a:avLst/>
          </a:prstGeom>
          <a:solidFill>
            <a:srgbClr val="D6DCE5"/>
          </a:solidFill>
          <a:ln w="12700">
            <a:solidFill>
              <a:srgbClr val="D6DCE5">
                <a:alpha val="0"/>
              </a:srgbClr>
            </a:solidFill>
            <a:prstDash val="solid"/>
          </a:ln>
        </p:spPr>
      </p:sp>
      <p:sp>
        <p:nvSpPr>
          <p:cNvPr id="68" name="Text 62"/>
          <p:cNvSpPr txBox="1"/>
          <p:nvPr/>
        </p:nvSpPr>
        <p:spPr>
          <a:xfrm>
            <a:off x="790956" y="6381598"/>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대표 MOR wafer, 모든 metric spec 통과.</a:t>
            </a:r>
            <a:endParaRPr lang="en-US" sz="1050" dirty="0"/>
          </a:p>
        </p:txBody>
      </p:sp>
      <p:sp>
        <p:nvSpPr>
          <p:cNvPr id="69" name="Shape 63"/>
          <p:cNvSpPr/>
          <p:nvPr/>
        </p:nvSpPr>
        <p:spPr>
          <a:xfrm>
            <a:off x="6344107" y="4562856"/>
            <a:ext cx="5600700" cy="2200046"/>
          </a:xfrm>
          <a:prstGeom prst="rect">
            <a:avLst/>
          </a:prstGeom>
          <a:solidFill>
            <a:srgbClr val="FFFFFF"/>
          </a:solidFill>
          <a:ln w="12700">
            <a:solidFill>
              <a:srgbClr val="C4CDD9"/>
            </a:solidFill>
            <a:prstDash val="solid"/>
          </a:ln>
        </p:spPr>
      </p:sp>
      <p:sp>
        <p:nvSpPr>
          <p:cNvPr id="70" name="Shape 64"/>
          <p:cNvSpPr/>
          <p:nvPr/>
        </p:nvSpPr>
        <p:spPr>
          <a:xfrm>
            <a:off x="6344107" y="4562856"/>
            <a:ext cx="5600700" cy="38405"/>
          </a:xfrm>
          <a:prstGeom prst="rect">
            <a:avLst/>
          </a:prstGeom>
          <a:solidFill>
            <a:srgbClr val="2D6F8C"/>
          </a:solidFill>
          <a:ln w="12700">
            <a:solidFill>
              <a:srgbClr val="2D6F8C">
                <a:alpha val="0"/>
              </a:srgbClr>
            </a:solidFill>
            <a:prstDash val="solid"/>
          </a:ln>
        </p:spPr>
      </p:sp>
      <p:sp>
        <p:nvSpPr>
          <p:cNvPr id="71" name="Text 65"/>
          <p:cNvSpPr txBox="1"/>
          <p:nvPr/>
        </p:nvSpPr>
        <p:spPr>
          <a:xfrm>
            <a:off x="6562649" y="4772254"/>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W05</a:t>
            </a:r>
            <a:endParaRPr lang="en-US" sz="1650" dirty="0"/>
          </a:p>
        </p:txBody>
      </p:sp>
      <p:sp>
        <p:nvSpPr>
          <p:cNvPr id="72" name="Text 66"/>
          <p:cNvSpPr txBox="1"/>
          <p:nvPr/>
        </p:nvSpPr>
        <p:spPr>
          <a:xfrm>
            <a:off x="7113118" y="4824374"/>
            <a:ext cx="486461" cy="210312"/>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MOR</a:t>
            </a:r>
            <a:endParaRPr lang="en-US" sz="900" dirty="0"/>
          </a:p>
        </p:txBody>
      </p:sp>
      <p:sp>
        <p:nvSpPr>
          <p:cNvPr id="73" name="Text 67"/>
          <p:cNvSpPr txBox="1"/>
          <p:nvPr/>
        </p:nvSpPr>
        <p:spPr>
          <a:xfrm>
            <a:off x="11207801" y="4843577"/>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20.5 mJ</a:t>
            </a:r>
            <a:endParaRPr lang="en-US" sz="900" dirty="0"/>
          </a:p>
        </p:txBody>
      </p:sp>
      <p:sp>
        <p:nvSpPr>
          <p:cNvPr id="74" name="Text 68"/>
          <p:cNvSpPr txBox="1"/>
          <p:nvPr/>
        </p:nvSpPr>
        <p:spPr>
          <a:xfrm>
            <a:off x="6562649" y="5219395"/>
            <a:ext cx="356616"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75" name="Text 69"/>
          <p:cNvSpPr txBox="1"/>
          <p:nvPr/>
        </p:nvSpPr>
        <p:spPr>
          <a:xfrm>
            <a:off x="10817352" y="5219395"/>
            <a:ext cx="108813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24.92 / −0.18</a:t>
            </a:r>
            <a:endParaRPr lang="en-US" sz="1125" dirty="0"/>
          </a:p>
        </p:txBody>
      </p:sp>
      <p:sp>
        <p:nvSpPr>
          <p:cNvPr id="76" name="Text 70"/>
          <p:cNvSpPr txBox="1"/>
          <p:nvPr/>
        </p:nvSpPr>
        <p:spPr>
          <a:xfrm>
            <a:off x="6562649" y="5486400"/>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77" name="Text 71"/>
          <p:cNvSpPr txBox="1"/>
          <p:nvPr/>
        </p:nvSpPr>
        <p:spPr>
          <a:xfrm>
            <a:off x="10903306" y="5486400"/>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8.03 / −0.17</a:t>
            </a:r>
            <a:endParaRPr lang="en-US" sz="1125" dirty="0"/>
          </a:p>
        </p:txBody>
      </p:sp>
      <p:sp>
        <p:nvSpPr>
          <p:cNvPr id="78" name="Text 72"/>
          <p:cNvSpPr txBox="1"/>
          <p:nvPr/>
        </p:nvSpPr>
        <p:spPr>
          <a:xfrm>
            <a:off x="6562649" y="5753405"/>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79" name="Text 73"/>
          <p:cNvSpPr txBox="1"/>
          <p:nvPr/>
        </p:nvSpPr>
        <p:spPr>
          <a:xfrm>
            <a:off x="10903306" y="5753405"/>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7.90 / −0.10</a:t>
            </a:r>
            <a:endParaRPr lang="en-US" sz="1125" dirty="0"/>
          </a:p>
        </p:txBody>
      </p:sp>
      <p:sp>
        <p:nvSpPr>
          <p:cNvPr id="80" name="Text 74"/>
          <p:cNvSpPr txBox="1"/>
          <p:nvPr/>
        </p:nvSpPr>
        <p:spPr>
          <a:xfrm>
            <a:off x="6562649" y="6019495"/>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81" name="Text 75"/>
          <p:cNvSpPr txBox="1"/>
          <p:nvPr/>
        </p:nvSpPr>
        <p:spPr>
          <a:xfrm>
            <a:off x="11284610" y="6019495"/>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2.07%</a:t>
            </a:r>
            <a:endParaRPr lang="en-US" sz="1125" dirty="0"/>
          </a:p>
        </p:txBody>
      </p:sp>
      <p:sp>
        <p:nvSpPr>
          <p:cNvPr id="82" name="Shape 76"/>
          <p:cNvSpPr/>
          <p:nvPr/>
        </p:nvSpPr>
        <p:spPr>
          <a:xfrm>
            <a:off x="6562649" y="6277356"/>
            <a:ext cx="5162702" cy="9144"/>
          </a:xfrm>
          <a:prstGeom prst="rect">
            <a:avLst/>
          </a:prstGeom>
          <a:solidFill>
            <a:srgbClr val="D6DCE5"/>
          </a:solidFill>
          <a:ln w="12700">
            <a:solidFill>
              <a:srgbClr val="D6DCE5">
                <a:alpha val="0"/>
              </a:srgbClr>
            </a:solidFill>
            <a:prstDash val="solid"/>
          </a:ln>
        </p:spPr>
      </p:sp>
      <p:sp>
        <p:nvSpPr>
          <p:cNvPr id="83" name="Text 77"/>
          <p:cNvSpPr txBox="1"/>
          <p:nvPr/>
        </p:nvSpPr>
        <p:spPr>
          <a:xfrm>
            <a:off x="6562649" y="6381598"/>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가장 작은 평균 CD, AASI/AMI 양 끝값에서도 spec 통과.</a:t>
            </a:r>
            <a:endParaRPr lang="en-US" sz="1050" dirty="0"/>
          </a:p>
        </p:txBody>
      </p:sp>
      <p:sp>
        <p:nvSpPr>
          <p:cNvPr id="84" name="Shape 78"/>
          <p:cNvSpPr/>
          <p:nvPr/>
        </p:nvSpPr>
        <p:spPr>
          <a:xfrm>
            <a:off x="12115800" y="4562856"/>
            <a:ext cx="5600700" cy="2200046"/>
          </a:xfrm>
          <a:prstGeom prst="rect">
            <a:avLst/>
          </a:prstGeom>
          <a:solidFill>
            <a:srgbClr val="FFFFFF"/>
          </a:solidFill>
          <a:ln w="12700">
            <a:solidFill>
              <a:srgbClr val="C4CDD9"/>
            </a:solidFill>
            <a:prstDash val="solid"/>
          </a:ln>
        </p:spPr>
      </p:sp>
      <p:sp>
        <p:nvSpPr>
          <p:cNvPr id="85" name="Shape 79"/>
          <p:cNvSpPr/>
          <p:nvPr/>
        </p:nvSpPr>
        <p:spPr>
          <a:xfrm>
            <a:off x="12115800" y="4562856"/>
            <a:ext cx="5600700" cy="38405"/>
          </a:xfrm>
          <a:prstGeom prst="rect">
            <a:avLst/>
          </a:prstGeom>
          <a:solidFill>
            <a:srgbClr val="2D6F8C"/>
          </a:solidFill>
          <a:ln w="12700">
            <a:solidFill>
              <a:srgbClr val="2D6F8C">
                <a:alpha val="0"/>
              </a:srgbClr>
            </a:solidFill>
            <a:prstDash val="solid"/>
          </a:ln>
        </p:spPr>
      </p:sp>
      <p:sp>
        <p:nvSpPr>
          <p:cNvPr id="86" name="Text 80"/>
          <p:cNvSpPr txBox="1"/>
          <p:nvPr/>
        </p:nvSpPr>
        <p:spPr>
          <a:xfrm>
            <a:off x="12335256" y="4772254"/>
            <a:ext cx="457200" cy="314554"/>
          </a:xfrm>
          <a:prstGeom prst="rect">
            <a:avLst/>
          </a:prstGeom>
          <a:noFill/>
          <a:ln/>
        </p:spPr>
        <p:txBody>
          <a:bodyPr wrap="none" lIns="0" tIns="0" rIns="0" bIns="0" rtlCol="0" anchor="ctr"/>
          <a:lstStyle/>
          <a:p>
            <a:pPr algn="l" indent="0" marL="0">
              <a:buNone/>
            </a:pPr>
            <a:r>
              <a:rPr lang="en-US" sz="1650" b="1" dirty="0">
                <a:solidFill>
                  <a:srgbClr val="1B2C45"/>
                </a:solidFill>
                <a:latin typeface="IBM Plex Sans KR" pitchFamily="34" charset="0"/>
                <a:ea typeface="IBM Plex Sans KR" pitchFamily="34" charset="-122"/>
                <a:cs typeface="IBM Plex Sans KR" pitchFamily="34" charset="-120"/>
              </a:rPr>
              <a:t>W06</a:t>
            </a:r>
            <a:endParaRPr lang="en-US" sz="1650" dirty="0"/>
          </a:p>
        </p:txBody>
      </p:sp>
      <p:sp>
        <p:nvSpPr>
          <p:cNvPr id="87" name="Text 81"/>
          <p:cNvSpPr txBox="1"/>
          <p:nvPr/>
        </p:nvSpPr>
        <p:spPr>
          <a:xfrm>
            <a:off x="12885725" y="4824374"/>
            <a:ext cx="486461" cy="210312"/>
          </a:xfrm>
          <a:prstGeom prst="rect">
            <a:avLst/>
          </a:prstGeom>
          <a:solidFill>
            <a:srgbClr val="2D6F8C"/>
          </a:solidFill>
          <a:ln>
            <a:solidFill>
              <a:srgbClr val="FFFFFF">
                <a:alpha val="0"/>
              </a:srgbClr>
            </a:solidFill>
          </a:ln>
        </p:spPr>
        <p:txBody>
          <a:bodyPr wrap="none" lIns="101600" tIns="25400" rIns="101600" bIns="25400" rtlCol="0" anchor="ctr"/>
          <a:lstStyle/>
          <a:p>
            <a:pPr algn="l" indent="0" marL="0">
              <a:buNone/>
            </a:pPr>
            <a:r>
              <a:rPr lang="en-US" sz="900" spc="108" kern="0" dirty="0">
                <a:solidFill>
                  <a:srgbClr val="FFFFFF"/>
                </a:solidFill>
                <a:latin typeface="IBM Plex Sans KR" pitchFamily="34" charset="0"/>
                <a:ea typeface="IBM Plex Sans KR" pitchFamily="34" charset="-122"/>
                <a:cs typeface="IBM Plex Sans KR" pitchFamily="34" charset="-120"/>
              </a:rPr>
              <a:t>MOR</a:t>
            </a:r>
            <a:endParaRPr lang="en-US" sz="900" dirty="0"/>
          </a:p>
        </p:txBody>
      </p:sp>
      <p:sp>
        <p:nvSpPr>
          <p:cNvPr id="88" name="Text 82"/>
          <p:cNvSpPr txBox="1"/>
          <p:nvPr/>
        </p:nvSpPr>
        <p:spPr>
          <a:xfrm>
            <a:off x="16979494" y="4843577"/>
            <a:ext cx="640994" cy="171907"/>
          </a:xfrm>
          <a:prstGeom prst="rect">
            <a:avLst/>
          </a:prstGeom>
          <a:noFill/>
          <a:ln/>
        </p:spPr>
        <p:txBody>
          <a:bodyPr wrap="none" lIns="0" tIns="0" rIns="0" bIns="0" rtlCol="0" anchor="ctr"/>
          <a:lstStyle/>
          <a:p>
            <a:pPr algn="l" indent="0" marL="0">
              <a:buNone/>
            </a:pPr>
            <a:r>
              <a:rPr lang="en-US" sz="900" spc="108" kern="0" dirty="0">
                <a:solidFill>
                  <a:srgbClr val="5C6B82"/>
                </a:solidFill>
                <a:latin typeface="IBM Plex Sans KR" pitchFamily="34" charset="0"/>
                <a:ea typeface="IBM Plex Sans KR" pitchFamily="34" charset="-122"/>
                <a:cs typeface="IBM Plex Sans KR" pitchFamily="34" charset="-120"/>
              </a:rPr>
              <a:t>21.5 mJ</a:t>
            </a:r>
            <a:endParaRPr lang="en-US" sz="900" dirty="0"/>
          </a:p>
        </p:txBody>
      </p:sp>
      <p:sp>
        <p:nvSpPr>
          <p:cNvPr id="89" name="Text 83"/>
          <p:cNvSpPr txBox="1"/>
          <p:nvPr/>
        </p:nvSpPr>
        <p:spPr>
          <a:xfrm>
            <a:off x="12335256" y="5219395"/>
            <a:ext cx="356616"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AASI</a:t>
            </a:r>
            <a:endParaRPr lang="en-US" sz="1125" dirty="0"/>
          </a:p>
        </p:txBody>
      </p:sp>
      <p:sp>
        <p:nvSpPr>
          <p:cNvPr id="90" name="Text 84"/>
          <p:cNvSpPr txBox="1"/>
          <p:nvPr/>
        </p:nvSpPr>
        <p:spPr>
          <a:xfrm>
            <a:off x="16675913" y="5219395"/>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25.10 / 0.00</a:t>
            </a:r>
            <a:endParaRPr lang="en-US" sz="1125" dirty="0"/>
          </a:p>
        </p:txBody>
      </p:sp>
      <p:sp>
        <p:nvSpPr>
          <p:cNvPr id="91" name="Text 85"/>
          <p:cNvSpPr txBox="1"/>
          <p:nvPr/>
        </p:nvSpPr>
        <p:spPr>
          <a:xfrm>
            <a:off x="12335256" y="5486400"/>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AMI</a:t>
            </a:r>
            <a:endParaRPr lang="en-US" sz="1125" dirty="0"/>
          </a:p>
        </p:txBody>
      </p:sp>
      <p:sp>
        <p:nvSpPr>
          <p:cNvPr id="92" name="Text 86"/>
          <p:cNvSpPr txBox="1"/>
          <p:nvPr/>
        </p:nvSpPr>
        <p:spPr>
          <a:xfrm>
            <a:off x="16760952" y="5486400"/>
            <a:ext cx="884225"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8.20 / 0.00</a:t>
            </a:r>
            <a:endParaRPr lang="en-US" sz="1125" dirty="0"/>
          </a:p>
        </p:txBody>
      </p:sp>
      <p:sp>
        <p:nvSpPr>
          <p:cNvPr id="93" name="Text 87"/>
          <p:cNvSpPr txBox="1"/>
          <p:nvPr/>
        </p:nvSpPr>
        <p:spPr>
          <a:xfrm>
            <a:off x="12335256" y="5753405"/>
            <a:ext cx="267005"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ACI</a:t>
            </a:r>
            <a:endParaRPr lang="en-US" sz="1125" dirty="0"/>
          </a:p>
        </p:txBody>
      </p:sp>
      <p:sp>
        <p:nvSpPr>
          <p:cNvPr id="94" name="Text 88"/>
          <p:cNvSpPr txBox="1"/>
          <p:nvPr/>
        </p:nvSpPr>
        <p:spPr>
          <a:xfrm>
            <a:off x="16675913" y="5753405"/>
            <a:ext cx="986638"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8.01 / +0.01</a:t>
            </a:r>
            <a:endParaRPr lang="en-US" sz="1125" dirty="0"/>
          </a:p>
        </p:txBody>
      </p:sp>
      <p:sp>
        <p:nvSpPr>
          <p:cNvPr id="95" name="Text 89"/>
          <p:cNvSpPr txBox="1"/>
          <p:nvPr/>
        </p:nvSpPr>
        <p:spPr>
          <a:xfrm>
            <a:off x="12335256" y="6019495"/>
            <a:ext cx="514807" cy="210312"/>
          </a:xfrm>
          <a:prstGeom prst="rect">
            <a:avLst/>
          </a:prstGeom>
          <a:noFill/>
          <a:ln/>
        </p:spPr>
        <p:txBody>
          <a:bodyPr wrap="none" lIns="0" tIns="0" rIns="0" bIns="0" rtlCol="0" anchor="ctr"/>
          <a:lstStyle/>
          <a:p>
            <a:pPr algn="l" indent="0" marL="0">
              <a:buNone/>
            </a:pPr>
            <a:r>
              <a:rPr lang="en-US" sz="1125" dirty="0">
                <a:solidFill>
                  <a:srgbClr val="2F3D54"/>
                </a:solidFill>
                <a:latin typeface="IBM Plex Sans KR" pitchFamily="34" charset="0"/>
                <a:ea typeface="IBM Plex Sans KR" pitchFamily="34" charset="-122"/>
                <a:cs typeface="IBM Plex Sans KR" pitchFamily="34" charset="-120"/>
              </a:rPr>
              <a:t>WIWNU</a:t>
            </a:r>
            <a:endParaRPr lang="en-US" sz="1125" dirty="0"/>
          </a:p>
        </p:txBody>
      </p:sp>
      <p:sp>
        <p:nvSpPr>
          <p:cNvPr id="96" name="Text 90"/>
          <p:cNvSpPr txBox="1"/>
          <p:nvPr/>
        </p:nvSpPr>
        <p:spPr>
          <a:xfrm>
            <a:off x="17056303" y="6019495"/>
            <a:ext cx="448056" cy="210312"/>
          </a:xfrm>
          <a:prstGeom prst="rect">
            <a:avLst/>
          </a:prstGeom>
          <a:noFill/>
          <a:ln/>
        </p:spPr>
        <p:txBody>
          <a:bodyPr wrap="none" lIns="0" tIns="0" rIns="0" bIns="0" rtlCol="0" anchor="ctr"/>
          <a:lstStyle/>
          <a:p>
            <a:pPr algn="l" indent="0" marL="0">
              <a:buNone/>
            </a:pPr>
            <a:r>
              <a:rPr lang="en-US" sz="1125" b="1" dirty="0">
                <a:solidFill>
                  <a:srgbClr val="2F3D54"/>
                </a:solidFill>
                <a:latin typeface="IBM Plex Sans KR" pitchFamily="34" charset="0"/>
                <a:ea typeface="IBM Plex Sans KR" pitchFamily="34" charset="-122"/>
                <a:cs typeface="IBM Plex Sans KR" pitchFamily="34" charset="-120"/>
              </a:rPr>
              <a:t>1.92%</a:t>
            </a:r>
            <a:endParaRPr lang="en-US" sz="1125" dirty="0"/>
          </a:p>
        </p:txBody>
      </p:sp>
      <p:sp>
        <p:nvSpPr>
          <p:cNvPr id="97" name="Shape 91"/>
          <p:cNvSpPr/>
          <p:nvPr/>
        </p:nvSpPr>
        <p:spPr>
          <a:xfrm>
            <a:off x="12335256" y="6277356"/>
            <a:ext cx="5162702" cy="9144"/>
          </a:xfrm>
          <a:prstGeom prst="rect">
            <a:avLst/>
          </a:prstGeom>
          <a:solidFill>
            <a:srgbClr val="D6DCE5"/>
          </a:solidFill>
          <a:ln w="12700">
            <a:solidFill>
              <a:srgbClr val="D6DCE5">
                <a:alpha val="0"/>
              </a:srgbClr>
            </a:solidFill>
            <a:prstDash val="solid"/>
          </a:ln>
        </p:spPr>
      </p:sp>
      <p:sp>
        <p:nvSpPr>
          <p:cNvPr id="98" name="Text 92"/>
          <p:cNvSpPr txBox="1"/>
          <p:nvPr/>
        </p:nvSpPr>
        <p:spPr>
          <a:xfrm>
            <a:off x="12335256" y="6381598"/>
            <a:ext cx="5162702" cy="201168"/>
          </a:xfrm>
          <a:prstGeom prst="rect">
            <a:avLst/>
          </a:prstGeom>
          <a:solidFill>
            <a:srgbClr val="FFFFFF">
              <a:alpha val="0"/>
            </a:srgbClr>
          </a:solidFill>
          <a:ln>
            <a:solidFill>
              <a:srgbClr val="FFFFFF">
                <a:alpha val="0"/>
              </a:srgbClr>
            </a:solidFill>
          </a:ln>
        </p:spPr>
        <p:txBody>
          <a:bodyPr wrap="none" lIns="101600" tIns="0" rIns="101600" bIns="101600" rtlCol="0" anchor="ctr"/>
          <a:lstStyle/>
          <a:p>
            <a:pPr algn="l" indent="0" marL="0">
              <a:lnSpc>
                <a:spcPts val="1575"/>
              </a:lnSpc>
              <a:buNone/>
            </a:pPr>
            <a:r>
              <a:rPr lang="en-US" sz="1050" dirty="0">
                <a:solidFill>
                  <a:srgbClr val="5C6B82"/>
                </a:solidFill>
                <a:latin typeface="IBM Plex Sans KR" pitchFamily="34" charset="0"/>
                <a:ea typeface="IBM Plex Sans KR" pitchFamily="34" charset="-122"/>
                <a:cs typeface="IBM Plex Sans KR" pitchFamily="34" charset="-120"/>
              </a:rPr>
              <a:t>가장 균일 wafer, AASI / AMI 모두 target 정중앙.</a:t>
            </a:r>
            <a:endParaRPr lang="en-US" sz="1050" dirty="0"/>
          </a:p>
        </p:txBody>
      </p:sp>
      <p:sp>
        <p:nvSpPr>
          <p:cNvPr id="99" name="Shape 93"/>
          <p:cNvSpPr/>
          <p:nvPr/>
        </p:nvSpPr>
        <p:spPr>
          <a:xfrm>
            <a:off x="571500" y="6953098"/>
            <a:ext cx="5600700" cy="1619402"/>
          </a:xfrm>
          <a:prstGeom prst="rect">
            <a:avLst/>
          </a:prstGeom>
          <a:solidFill>
            <a:srgbClr val="FFFFFF"/>
          </a:solidFill>
          <a:ln w="12700">
            <a:solidFill>
              <a:srgbClr val="C4CDD9"/>
            </a:solidFill>
            <a:prstDash val="solid"/>
          </a:ln>
        </p:spPr>
      </p:sp>
      <p:sp>
        <p:nvSpPr>
          <p:cNvPr id="100" name="Text 94"/>
          <p:cNvSpPr txBox="1"/>
          <p:nvPr/>
        </p:nvSpPr>
        <p:spPr>
          <a:xfrm>
            <a:off x="790956" y="7134149"/>
            <a:ext cx="5162702"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CAR · pass count</a:t>
            </a:r>
            <a:endParaRPr lang="en-US" sz="975" dirty="0"/>
          </a:p>
        </p:txBody>
      </p:sp>
      <p:sp>
        <p:nvSpPr>
          <p:cNvPr id="101" name="Text 95"/>
          <p:cNvSpPr txBox="1"/>
          <p:nvPr/>
        </p:nvSpPr>
        <p:spPr>
          <a:xfrm>
            <a:off x="790956" y="7372807"/>
            <a:ext cx="5162702" cy="514807"/>
          </a:xfrm>
          <a:prstGeom prst="rect">
            <a:avLst/>
          </a:prstGeom>
          <a:noFill/>
          <a:ln/>
        </p:spPr>
        <p:txBody>
          <a:bodyPr wrap="none" lIns="0" tIns="0" rIns="0" bIns="0" rtlCol="0" anchor="ctr"/>
          <a:lstStyle/>
          <a:p>
            <a:pPr algn="l" indent="0" marL="0">
              <a:buNone/>
            </a:pPr>
            <a:r>
              <a:rPr lang="en-US" sz="4050" b="1" dirty="0">
                <a:solidFill>
                  <a:srgbClr val="1B2C45"/>
                </a:solidFill>
                <a:latin typeface="IBM Plex Sans KR" pitchFamily="34" charset="0"/>
                <a:ea typeface="IBM Plex Sans KR" pitchFamily="34" charset="-122"/>
                <a:cs typeface="IBM Plex Sans KR" pitchFamily="34" charset="-120"/>
              </a:rPr>
              <a:t>3 / 12</a:t>
            </a:r>
            <a:endParaRPr lang="en-US" sz="4050" dirty="0"/>
          </a:p>
        </p:txBody>
      </p:sp>
      <p:sp>
        <p:nvSpPr>
          <p:cNvPr id="102" name="Text 96"/>
          <p:cNvSpPr txBox="1"/>
          <p:nvPr/>
        </p:nvSpPr>
        <p:spPr>
          <a:xfrm>
            <a:off x="790956" y="7944307"/>
            <a:ext cx="5162702"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W03 만 ACI 통과, AASI·AMI는 모두 위반</a:t>
            </a:r>
            <a:endParaRPr lang="en-US" sz="1050" dirty="0"/>
          </a:p>
        </p:txBody>
      </p:sp>
      <p:sp>
        <p:nvSpPr>
          <p:cNvPr id="103" name="Shape 97"/>
          <p:cNvSpPr/>
          <p:nvPr/>
        </p:nvSpPr>
        <p:spPr>
          <a:xfrm>
            <a:off x="6344107" y="6953098"/>
            <a:ext cx="5600700" cy="1619402"/>
          </a:xfrm>
          <a:prstGeom prst="rect">
            <a:avLst/>
          </a:prstGeom>
          <a:solidFill>
            <a:srgbClr val="1B2C45"/>
          </a:solidFill>
          <a:ln w="12700">
            <a:solidFill>
              <a:srgbClr val="FFFFFF">
                <a:alpha val="0"/>
              </a:srgbClr>
            </a:solidFill>
            <a:prstDash val="solid"/>
          </a:ln>
        </p:spPr>
      </p:sp>
      <p:sp>
        <p:nvSpPr>
          <p:cNvPr id="104" name="Text 98"/>
          <p:cNvSpPr txBox="1"/>
          <p:nvPr/>
        </p:nvSpPr>
        <p:spPr>
          <a:xfrm>
            <a:off x="6553505" y="7125005"/>
            <a:ext cx="5181905" cy="181051"/>
          </a:xfrm>
          <a:prstGeom prst="rect">
            <a:avLst/>
          </a:prstGeom>
          <a:noFill/>
          <a:ln/>
        </p:spPr>
        <p:txBody>
          <a:bodyPr wrap="none" lIns="0" tIns="0" rIns="0" bIns="0" rtlCol="0" anchor="ctr"/>
          <a:lstStyle/>
          <a:p>
            <a:pPr algn="l" indent="0" marL="0">
              <a:buNone/>
            </a:pPr>
            <a:r>
              <a:rPr lang="en-US" sz="975" spc="215" kern="0" dirty="0">
                <a:solidFill>
                  <a:srgbClr val="93A4BC"/>
                </a:solidFill>
                <a:latin typeface="IBM Plex Sans KR" pitchFamily="34" charset="0"/>
                <a:ea typeface="IBM Plex Sans KR" pitchFamily="34" charset="-122"/>
                <a:cs typeface="IBM Plex Sans KR" pitchFamily="34" charset="-120"/>
              </a:rPr>
              <a:t>MOR · pass count</a:t>
            </a:r>
            <a:endParaRPr lang="en-US" sz="975" dirty="0"/>
          </a:p>
        </p:txBody>
      </p:sp>
      <p:sp>
        <p:nvSpPr>
          <p:cNvPr id="105" name="Text 99"/>
          <p:cNvSpPr txBox="1"/>
          <p:nvPr/>
        </p:nvSpPr>
        <p:spPr>
          <a:xfrm>
            <a:off x="6553505" y="7362749"/>
            <a:ext cx="5181905" cy="514807"/>
          </a:xfrm>
          <a:prstGeom prst="rect">
            <a:avLst/>
          </a:prstGeom>
          <a:noFill/>
          <a:ln/>
        </p:spPr>
        <p:txBody>
          <a:bodyPr wrap="none" lIns="0" tIns="0" rIns="0" bIns="0" rtlCol="0" anchor="ctr"/>
          <a:lstStyle/>
          <a:p>
            <a:pPr algn="l" indent="0" marL="0">
              <a:buNone/>
            </a:pPr>
            <a:r>
              <a:rPr lang="en-US" sz="4050" b="1" dirty="0">
                <a:solidFill>
                  <a:srgbClr val="FFFFFF"/>
                </a:solidFill>
                <a:latin typeface="IBM Plex Sans KR" pitchFamily="34" charset="0"/>
                <a:ea typeface="IBM Plex Sans KR" pitchFamily="34" charset="-122"/>
                <a:cs typeface="IBM Plex Sans KR" pitchFamily="34" charset="-120"/>
              </a:rPr>
              <a:t>12 / 12</a:t>
            </a:r>
            <a:endParaRPr lang="en-US" sz="4050" dirty="0"/>
          </a:p>
        </p:txBody>
      </p:sp>
      <p:sp>
        <p:nvSpPr>
          <p:cNvPr id="106" name="Shape 100"/>
          <p:cNvSpPr/>
          <p:nvPr/>
        </p:nvSpPr>
        <p:spPr>
          <a:xfrm>
            <a:off x="12115800" y="6953098"/>
            <a:ext cx="5600700" cy="1619402"/>
          </a:xfrm>
          <a:prstGeom prst="rect">
            <a:avLst/>
          </a:prstGeom>
          <a:solidFill>
            <a:srgbClr val="FFFFFF"/>
          </a:solidFill>
          <a:ln w="12700">
            <a:solidFill>
              <a:srgbClr val="C4CDD9"/>
            </a:solidFill>
            <a:prstDash val="solid"/>
          </a:ln>
        </p:spPr>
      </p:sp>
      <p:sp>
        <p:nvSpPr>
          <p:cNvPr id="107" name="Text 101"/>
          <p:cNvSpPr txBox="1"/>
          <p:nvPr/>
        </p:nvSpPr>
        <p:spPr>
          <a:xfrm>
            <a:off x="12335256" y="7134149"/>
            <a:ext cx="5162702" cy="181051"/>
          </a:xfrm>
          <a:prstGeom prst="rect">
            <a:avLst/>
          </a:prstGeom>
          <a:noFill/>
          <a:ln/>
        </p:spPr>
        <p:txBody>
          <a:bodyPr wrap="none" lIns="0" tIns="0" rIns="0" bIns="0" rtlCol="0" anchor="ctr"/>
          <a:lstStyle/>
          <a:p>
            <a:pPr algn="l" indent="0" marL="0">
              <a:buNone/>
            </a:pPr>
            <a:r>
              <a:rPr lang="en-US" sz="975" spc="215" kern="0" dirty="0">
                <a:solidFill>
                  <a:srgbClr val="5C6B82"/>
                </a:solidFill>
                <a:latin typeface="IBM Plex Sans KR" pitchFamily="34" charset="0"/>
                <a:ea typeface="IBM Plex Sans KR" pitchFamily="34" charset="-122"/>
                <a:cs typeface="IBM Plex Sans KR" pitchFamily="34" charset="-120"/>
              </a:rPr>
              <a:t>Dose efficiency</a:t>
            </a:r>
            <a:endParaRPr lang="en-US" sz="975" dirty="0"/>
          </a:p>
        </p:txBody>
      </p:sp>
      <p:sp>
        <p:nvSpPr>
          <p:cNvPr id="108" name="Text 102"/>
          <p:cNvSpPr txBox="1"/>
          <p:nvPr/>
        </p:nvSpPr>
        <p:spPr>
          <a:xfrm>
            <a:off x="12335256" y="7372807"/>
            <a:ext cx="5162702" cy="514807"/>
          </a:xfrm>
          <a:prstGeom prst="rect">
            <a:avLst/>
          </a:prstGeom>
          <a:noFill/>
          <a:ln/>
        </p:spPr>
        <p:txBody>
          <a:bodyPr wrap="none" lIns="0" tIns="0" rIns="0" bIns="0" rtlCol="0" anchor="ctr"/>
          <a:lstStyle/>
          <a:p>
            <a:pPr algn="l" indent="0" marL="0">
              <a:buNone/>
            </a:pPr>
            <a:r>
              <a:rPr lang="en-US" sz="4050" b="1" dirty="0">
                <a:solidFill>
                  <a:srgbClr val="2D6F8C"/>
                </a:solidFill>
                <a:latin typeface="IBM Plex Sans KR" pitchFamily="34" charset="0"/>
                <a:ea typeface="IBM Plex Sans KR" pitchFamily="34" charset="-122"/>
                <a:cs typeface="IBM Plex Sans KR" pitchFamily="34" charset="-120"/>
              </a:rPr>
              <a:t>~3.9×</a:t>
            </a:r>
            <a:endParaRPr lang="en-US" sz="4050" dirty="0"/>
          </a:p>
        </p:txBody>
      </p:sp>
      <p:sp>
        <p:nvSpPr>
          <p:cNvPr id="109" name="Text 103"/>
          <p:cNvSpPr txBox="1"/>
          <p:nvPr/>
        </p:nvSpPr>
        <p:spPr>
          <a:xfrm>
            <a:off x="12335256" y="7944307"/>
            <a:ext cx="5162702" cy="200254"/>
          </a:xfrm>
          <a:prstGeom prst="rect">
            <a:avLst/>
          </a:prstGeom>
          <a:noFill/>
          <a:ln/>
        </p:spPr>
        <p:txBody>
          <a:bodyPr wrap="none" lIns="0" tIns="0" rIns="0" bIns="0" rtlCol="0" anchor="ctr"/>
          <a:lstStyle/>
          <a:p>
            <a:pPr algn="l" indent="0" marL="0">
              <a:buNone/>
            </a:pPr>
            <a:r>
              <a:rPr lang="en-US" sz="1050" dirty="0">
                <a:solidFill>
                  <a:srgbClr val="5C6B82"/>
                </a:solidFill>
                <a:latin typeface="IBM Plex Sans KR" pitchFamily="34" charset="0"/>
                <a:ea typeface="IBM Plex Sans KR" pitchFamily="34" charset="-122"/>
                <a:cs typeface="IBM Plex Sans KR" pitchFamily="34" charset="-120"/>
              </a:rPr>
              <a:t>MOR이 단위 면적당 dose 21/82 ≈ 0.26</a:t>
            </a:r>
            <a:endParaRPr lang="en-US" sz="1050" dirty="0"/>
          </a:p>
        </p:txBody>
      </p:sp>
      <p:sp>
        <p:nvSpPr>
          <p:cNvPr id="110" name="Text 104"/>
          <p:cNvSpPr txBox="1"/>
          <p:nvPr/>
        </p:nvSpPr>
        <p:spPr>
          <a:xfrm>
            <a:off x="6553505" y="7934249"/>
            <a:ext cx="5181905" cy="200254"/>
          </a:xfrm>
          <a:prstGeom prst="rect">
            <a:avLst/>
          </a:prstGeom>
          <a:noFill/>
          <a:ln/>
        </p:spPr>
        <p:txBody>
          <a:bodyPr wrap="none" lIns="0" tIns="0" rIns="0" bIns="0" rtlCol="0" anchor="ctr"/>
          <a:lstStyle/>
          <a:p>
            <a:pPr algn="l" indent="0" marL="0">
              <a:buNone/>
            </a:pPr>
            <a:r>
              <a:rPr lang="en-US" sz="1050" dirty="0">
                <a:solidFill>
                  <a:srgbClr val="FFFFFF">
                    <a:alpha val="90000"/>
                  </a:srgbClr>
                </a:solidFill>
                <a:latin typeface="IBM Plex Sans KR" pitchFamily="34" charset="0"/>
                <a:ea typeface="IBM Plex Sans KR" pitchFamily="34" charset="-122"/>
                <a:cs typeface="IBM Plex Sans KR" pitchFamily="34" charset="-120"/>
              </a:rPr>
              <a:t>W04·W05·W06 모든 metric spec 통과</a:t>
            </a:r>
            <a:endParaRPr lang="en-US" sz="1050" dirty="0"/>
          </a:p>
        </p:txBody>
      </p:sp>
      <p:sp>
        <p:nvSpPr>
          <p:cNvPr id="111" name="Shape 105"/>
          <p:cNvSpPr/>
          <p:nvPr/>
        </p:nvSpPr>
        <p:spPr>
          <a:xfrm>
            <a:off x="571500" y="8762695"/>
            <a:ext cx="17145000" cy="609905"/>
          </a:xfrm>
          <a:prstGeom prst="rect">
            <a:avLst/>
          </a:prstGeom>
          <a:solidFill>
            <a:srgbClr val="1B2C45"/>
          </a:solidFill>
          <a:ln w="12700">
            <a:solidFill>
              <a:srgbClr val="FFFFFF">
                <a:alpha val="0"/>
              </a:srgbClr>
            </a:solidFill>
            <a:prstDash val="solid"/>
          </a:ln>
        </p:spPr>
      </p:sp>
      <p:sp>
        <p:nvSpPr>
          <p:cNvPr id="112" name="Text 106"/>
          <p:cNvSpPr txBox="1"/>
          <p:nvPr/>
        </p:nvSpPr>
        <p:spPr>
          <a:xfrm>
            <a:off x="819302" y="8948318"/>
            <a:ext cx="1305763" cy="200254"/>
          </a:xfrm>
          <a:prstGeom prst="rect">
            <a:avLst/>
          </a:prstGeom>
          <a:noFill/>
          <a:ln/>
        </p:spPr>
        <p:txBody>
          <a:bodyPr wrap="none" lIns="0" tIns="0" rIns="0" bIns="0" rtlCol="0" anchor="ctr"/>
          <a:lstStyle/>
          <a:p>
            <a:pPr algn="l" indent="0" marL="0">
              <a:buNone/>
            </a:pPr>
            <a:r>
              <a:rPr lang="en-US" sz="1050" spc="231" kern="0" dirty="0">
                <a:solidFill>
                  <a:srgbClr val="93A4BC"/>
                </a:solidFill>
                <a:latin typeface="IBM Plex Sans KR" pitchFamily="34" charset="0"/>
                <a:ea typeface="IBM Plex Sans KR" pitchFamily="34" charset="-122"/>
                <a:cs typeface="IBM Plex Sans KR" pitchFamily="34" charset="-120"/>
              </a:rPr>
              <a:t>Key takeaway</a:t>
            </a:r>
            <a:endParaRPr lang="en-US" sz="1050" dirty="0"/>
          </a:p>
        </p:txBody>
      </p:sp>
      <p:pic>
        <p:nvPicPr>
          <p:cNvPr id="113" name="Image 3" descr="gen-dedup-2384ac9fd3012b414377934d98f26f83.png">    </p:cNvPr>
          <p:cNvPicPr>
            <a:picLocks noChangeAspect="1"/>
          </p:cNvPicPr>
          <p:nvPr/>
        </p:nvPicPr>
        <p:blipFill>
          <a:blip r:embed="rId4"/>
          <a:srcRect l="0" r="0" t="-2083" b="-2083"/>
          <a:stretch/>
        </p:blipFill>
        <p:spPr>
          <a:xfrm>
            <a:off x="2288743" y="8934602"/>
            <a:ext cx="9144" cy="228600"/>
          </a:xfrm>
          <a:prstGeom prst="rect">
            <a:avLst/>
          </a:prstGeom>
        </p:spPr>
      </p:pic>
      <p:sp>
        <p:nvSpPr>
          <p:cNvPr id="114" name="Text 107"/>
          <p:cNvSpPr txBox="1"/>
          <p:nvPr/>
        </p:nvSpPr>
        <p:spPr>
          <a:xfrm>
            <a:off x="2469794" y="8915400"/>
            <a:ext cx="9506102" cy="267005"/>
          </a:xfrm>
          <a:prstGeom prst="rect">
            <a:avLst/>
          </a:prstGeom>
          <a:noFill/>
          <a:ln/>
        </p:spPr>
        <p:txBody>
          <a:bodyPr wrap="none" lIns="0" tIns="0" rIns="0" bIns="0" rtlCol="0" anchor="ctr"/>
          <a:lstStyle/>
          <a:p>
            <a:pPr algn="l" indent="0" marL="0">
              <a:buNone/>
            </a:pPr>
            <a:r>
              <a:rPr lang="en-US" sz="1500" dirty="0">
                <a:solidFill>
                  <a:srgbClr val="FFFFFF"/>
                </a:solidFill>
                <a:latin typeface="IBM Plex Sans KR" pitchFamily="34" charset="0"/>
                <a:ea typeface="IBM Plex Sans KR" pitchFamily="34" charset="-122"/>
                <a:cs typeface="IBM Plex Sans KR" pitchFamily="34" charset="-120"/>
              </a:rPr>
              <a:t>6 wafer 4 metric 12 평가 점수 중 MOR 12/12 통과, CAR 3/12 — 동일 M1 BEOL 평가에서 MOR 우선 split 권고.</a:t>
            </a:r>
            <a:endParaRPr lang="en-US" sz="1500" dirty="0"/>
          </a:p>
        </p:txBody>
      </p:sp>
      <p:sp>
        <p:nvSpPr>
          <p:cNvPr id="115" name="Text 108"/>
          <p:cNvSpPr txBox="1"/>
          <p:nvPr/>
        </p:nvSpPr>
        <p:spPr>
          <a:xfrm>
            <a:off x="571500" y="9620402"/>
            <a:ext cx="17145000" cy="200254"/>
          </a:xfrm>
          <a:prstGeom prst="rect">
            <a:avLst/>
          </a:prstGeom>
          <a:noFill/>
          <a:ln/>
        </p:spPr>
        <p:txBody>
          <a:bodyPr wrap="none" lIns="0" tIns="0" rIns="0" bIns="0" rtlCol="0" anchor="ctr"/>
          <a:lstStyle/>
          <a:p>
            <a:pPr algn="l" indent="0" marL="0">
              <a:buNone/>
            </a:pPr>
            <a:r>
              <a:rPr lang="en-US" sz="1050" spc="42" kern="0" dirty="0">
                <a:solidFill>
                  <a:srgbClr val="8895AB"/>
                </a:solidFill>
                <a:latin typeface="IBM Plex Sans KR" pitchFamily="34" charset="0"/>
                <a:ea typeface="IBM Plex Sans KR" pitchFamily="34" charset="-122"/>
                <a:cs typeface="IBM Plex Sans KR" pitchFamily="34" charset="-120"/>
              </a:rPr>
              <a:t>※ 내부 테스트용 더미(가상) 데이터 · set 10 / 15 · 12 of 12 · 6 wafer synopsis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2026-10-04T07:29:08Z</dcterms:created>
  <dcterms:modified xsi:type="dcterms:W3CDTF">2026-10-04T07:29:08Z</dcterms:modified>
</cp:coreProperties>
</file>