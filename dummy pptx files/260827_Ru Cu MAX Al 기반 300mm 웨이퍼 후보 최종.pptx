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jpe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jpeg"/><Relationship Id="rId8" Type="http://schemas.openxmlformats.org/officeDocument/2006/relationships/image" Target="../media/image-3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197b2f8f471c7f99764e0358fe800f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714500" y="7048195"/>
            <a:ext cx="5333695" cy="53336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0A0C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382805" y="1238098"/>
            <a:ext cx="5524805" cy="6476695"/>
          </a:xfrm>
          <a:prstGeom prst="rect">
            <a:avLst/>
          </a:prstGeom>
          <a:solidFill>
            <a:srgbClr val="E8DFCD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8a1ebe8739cf8fb605a1bb5c9e007ae0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48356" y="0"/>
            <a:ext cx="9144" cy="10287000"/>
          </a:xfrm>
          <a:prstGeom prst="rect">
            <a:avLst/>
          </a:prstGeom>
        </p:spPr>
      </p:pic>
      <p:pic>
        <p:nvPicPr>
          <p:cNvPr id="6" name="Image 2" descr="gen-dedup-13d873c1a5c66c2aef87b40d0702b37a.png">    </p:cNvPr>
          <p:cNvPicPr>
            <a:picLocks noChangeAspect="1"/>
          </p:cNvPicPr>
          <p:nvPr/>
        </p:nvPicPr>
        <p:blipFill>
          <a:blip r:embed="rId3"/>
          <a:srcRect l="-2089" r="-2089" t="0" b="0"/>
          <a:stretch/>
        </p:blipFill>
        <p:spPr>
          <a:xfrm>
            <a:off x="12382805" y="1238098"/>
            <a:ext cx="5524805" cy="9144"/>
          </a:xfrm>
          <a:prstGeom prst="rect">
            <a:avLst/>
          </a:prstGeom>
        </p:spPr>
      </p:pic>
      <p:pic>
        <p:nvPicPr>
          <p:cNvPr id="7" name="Image 3" descr="gen-dedup-3e3e63b62661cdce5b9d1a23f417508d.png">    </p:cNvPr>
          <p:cNvPicPr>
            <a:picLocks noChangeAspect="1"/>
          </p:cNvPicPr>
          <p:nvPr/>
        </p:nvPicPr>
        <p:blipFill>
          <a:blip r:embed="rId4"/>
          <a:srcRect l="0" r="0" t="-373" b="-373"/>
          <a:stretch/>
        </p:blipFill>
        <p:spPr>
          <a:xfrm>
            <a:off x="571500" y="4647895"/>
            <a:ext cx="857707" cy="19202"/>
          </a:xfrm>
          <a:prstGeom prst="rect">
            <a:avLst/>
          </a:prstGeom>
        </p:spPr>
      </p:pic>
      <p:pic>
        <p:nvPicPr>
          <p:cNvPr id="8" name="Image 4" descr="gen-dedup-2bf45fa0a6764654dc8ef53151ab732f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3619195" y="1238098"/>
            <a:ext cx="571500" cy="19202"/>
          </a:xfrm>
          <a:prstGeom prst="rect">
            <a:avLst/>
          </a:prstGeom>
        </p:spPr>
      </p:pic>
      <p:pic>
        <p:nvPicPr>
          <p:cNvPr id="9" name="Image 5" descr="gen-dedup-2cbd05b1858f631018be04d461103311.png">    </p:cNvPr>
          <p:cNvPicPr>
            <a:picLocks noChangeAspect="1"/>
          </p:cNvPicPr>
          <p:nvPr/>
        </p:nvPicPr>
        <p:blipFill>
          <a:blip r:embed="rId6"/>
          <a:srcRect l="-415" r="-415" t="0" b="0"/>
          <a:stretch/>
        </p:blipFill>
        <p:spPr>
          <a:xfrm>
            <a:off x="3619195" y="3733495"/>
            <a:ext cx="1524305" cy="28346"/>
          </a:xfrm>
          <a:prstGeom prst="rect">
            <a:avLst/>
          </a:prstGeom>
        </p:spPr>
      </p:pic>
      <p:pic>
        <p:nvPicPr>
          <p:cNvPr id="10" name="Image 6" descr="gen-dedup-8eb8888272f519c74c34fd30f8ea5e4d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0" y="1524305"/>
            <a:ext cx="5143500" cy="5524805"/>
          </a:xfrm>
          <a:prstGeom prst="rect">
            <a:avLst/>
          </a:prstGeom>
        </p:spPr>
      </p:pic>
      <p:pic>
        <p:nvPicPr>
          <p:cNvPr id="11" name="Image 7" descr="gen-dedup-d3877c1edd698df868475b1a6000e589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3619195" y="9334195"/>
            <a:ext cx="14287500" cy="9144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571500" y="7616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</a:t>
            </a:r>
            <a:endParaRPr lang="en-US" sz="975" dirty="0"/>
          </a:p>
        </p:txBody>
      </p:sp>
      <p:sp>
        <p:nvSpPr>
          <p:cNvPr id="13" name="Text 3"/>
          <p:cNvSpPr txBox="1"/>
          <p:nvPr/>
        </p:nvSpPr>
        <p:spPr>
          <a:xfrm>
            <a:off x="457200" y="1028700"/>
            <a:ext cx="3363163" cy="2457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0" spc="-1125" kern="0" dirty="0">
                <a:solidFill>
                  <a:srgbClr val="E8DF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22500" dirty="0"/>
          </a:p>
        </p:txBody>
      </p:sp>
      <p:sp>
        <p:nvSpPr>
          <p:cNvPr id="14" name="Text 4"/>
          <p:cNvSpPr txBox="1"/>
          <p:nvPr/>
        </p:nvSpPr>
        <p:spPr>
          <a:xfrm>
            <a:off x="571500" y="4095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30</a:t>
            </a:r>
            <a:endParaRPr lang="en-US" sz="1650" dirty="0"/>
          </a:p>
        </p:txBody>
      </p:sp>
      <p:sp>
        <p:nvSpPr>
          <p:cNvPr id="15" name="Text 5"/>
          <p:cNvSpPr txBox="1"/>
          <p:nvPr/>
        </p:nvSpPr>
        <p:spPr>
          <a:xfrm>
            <a:off x="571500" y="4953305"/>
            <a:ext cx="2095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SCREENS</a:t>
            </a:r>
            <a:endParaRPr lang="en-US" sz="900" dirty="0"/>
          </a:p>
        </p:txBody>
      </p:sp>
      <p:sp>
        <p:nvSpPr>
          <p:cNvPr id="16" name="Text 6"/>
          <p:cNvSpPr txBox="1"/>
          <p:nvPr/>
        </p:nvSpPr>
        <p:spPr>
          <a:xfrm>
            <a:off x="571500" y="526694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</a:t>
            </a:r>
            <a:endParaRPr lang="en-US" sz="1500" dirty="0"/>
          </a:p>
        </p:txBody>
      </p:sp>
      <p:sp>
        <p:nvSpPr>
          <p:cNvPr id="17" name="Text 7"/>
          <p:cNvSpPr txBox="1"/>
          <p:nvPr/>
        </p:nvSpPr>
        <p:spPr>
          <a:xfrm>
            <a:off x="571500" y="5648249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</a:t>
            </a:r>
            <a:endParaRPr lang="en-US" sz="1500" dirty="0"/>
          </a:p>
        </p:txBody>
      </p:sp>
      <p:sp>
        <p:nvSpPr>
          <p:cNvPr id="18" name="Text 8"/>
          <p:cNvSpPr txBox="1"/>
          <p:nvPr/>
        </p:nvSpPr>
        <p:spPr>
          <a:xfrm>
            <a:off x="571500" y="602955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</a:t>
            </a:r>
            <a:endParaRPr lang="en-US" sz="1500" dirty="0"/>
          </a:p>
        </p:txBody>
      </p:sp>
      <p:sp>
        <p:nvSpPr>
          <p:cNvPr id="19" name="Text 9"/>
          <p:cNvSpPr txBox="1"/>
          <p:nvPr/>
        </p:nvSpPr>
        <p:spPr>
          <a:xfrm>
            <a:off x="571500" y="640994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Al 기반</a:t>
            </a:r>
            <a:endParaRPr lang="en-US" sz="1500" dirty="0"/>
          </a:p>
        </p:txBody>
      </p:sp>
      <p:sp>
        <p:nvSpPr>
          <p:cNvPr id="20" name="Text 10"/>
          <p:cNvSpPr txBox="1"/>
          <p:nvPr/>
        </p:nvSpPr>
        <p:spPr>
          <a:xfrm>
            <a:off x="571500" y="9294876"/>
            <a:ext cx="209580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spc="83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dummy plate</a:t>
            </a:r>
            <a:pPr algn="l" indent="0" marL="0">
              <a:lnSpc>
                <a:spcPts val="1402"/>
              </a:lnSpc>
              <a:buNone/>
            </a:pP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spc="83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: 9 · 한국어</a:t>
            </a:r>
            <a:endParaRPr lang="en-US" sz="825" dirty="0"/>
          </a:p>
        </p:txBody>
      </p:sp>
      <p:sp>
        <p:nvSpPr>
          <p:cNvPr id="21" name="Text 11"/>
          <p:cNvSpPr txBox="1"/>
          <p:nvPr/>
        </p:nvSpPr>
        <p:spPr>
          <a:xfrm>
            <a:off x="3619195" y="914400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B869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 · Cu · MAX 상 · 300 mm 웨이퍼</a:t>
            </a:r>
            <a:endParaRPr lang="en-US" sz="975" dirty="0"/>
          </a:p>
        </p:txBody>
      </p:sp>
      <p:sp>
        <p:nvSpPr>
          <p:cNvPr id="22" name="Text 12"/>
          <p:cNvSpPr txBox="1"/>
          <p:nvPr/>
        </p:nvSpPr>
        <p:spPr>
          <a:xfrm>
            <a:off x="3619195" y="1619402"/>
            <a:ext cx="8382305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spc="-132" kern="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 지표로 본</a:t>
            </a:r>
            <a:pPr algn="l" indent="0" marL="0">
              <a:lnSpc>
                <a:spcPct val="105000"/>
              </a:lnSpc>
              <a:buNone/>
            </a:pPr>
            <a:endParaRPr lang="en-US" sz="6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600" spc="-132" kern="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후보군</a:t>
            </a:r>
            <a:endParaRPr lang="en-US" sz="6600" dirty="0"/>
          </a:p>
        </p:txBody>
      </p:sp>
      <p:sp>
        <p:nvSpPr>
          <p:cNvPr id="23" name="Text 13"/>
          <p:cNvSpPr txBox="1"/>
          <p:nvPr/>
        </p:nvSpPr>
        <p:spPr>
          <a:xfrm>
            <a:off x="3619195" y="3995928"/>
            <a:ext cx="8382305" cy="1196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BEB29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 · Cu · MAX 상 · Al 기반 금속간화합물 —</a:t>
            </a:r>
            <a:pPr algn="l" indent="0" marL="0">
              <a:lnSpc>
                <a:spcPts val="3023"/>
              </a:lnSpc>
              <a:buNone/>
            </a:pPr>
            <a:endParaRPr lang="en-US" sz="1950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BEB29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300 mm 웨이퍼에서 돌아간 후보군과</a:t>
            </a:r>
            <a:pPr algn="l" indent="0" marL="0">
              <a:lnSpc>
                <a:spcPts val="3023"/>
              </a:lnSpc>
              <a:buNone/>
            </a:pPr>
            <a:endParaRPr lang="en-US" sz="1950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BEB29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아직 계산 단계에 머문 후보군을 가릅니다.</a:t>
            </a:r>
            <a:endParaRPr lang="en-US" sz="1950" dirty="0"/>
          </a:p>
        </p:txBody>
      </p:sp>
      <p:sp>
        <p:nvSpPr>
          <p:cNvPr id="24" name="Text 14"/>
          <p:cNvSpPr txBox="1"/>
          <p:nvPr/>
        </p:nvSpPr>
        <p:spPr>
          <a:xfrm>
            <a:off x="3619195" y="6240780"/>
            <a:ext cx="8382305" cy="7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i="1" dirty="0">
                <a:solidFill>
                  <a:srgbClr val="D9CFB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“CuAl₂가 10 nm 이상 두께에서 Ru를 이기고,</a:t>
            </a:r>
            <a:pPr algn="l" indent="0" marL="0">
              <a:lnSpc>
                <a:spcPts val="2880"/>
              </a:lnSpc>
              <a:buNone/>
            </a:pPr>
            <a:endParaRPr lang="en-US" sz="1800" dirty="0"/>
          </a:p>
          <a:p>
            <a:pPr algn="l" indent="0" marL="0">
              <a:lnSpc>
                <a:spcPts val="2880"/>
              </a:lnSpc>
              <a:buNone/>
            </a:pPr>
            <a:r>
              <a:rPr lang="en-US" sz="1800" i="1" dirty="0">
                <a:solidFill>
                  <a:srgbClr val="D9CFB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CuAl·CuAl₂ 둘 다 조사한 전 두께 범위에서 Mo를 이겼다.”</a:t>
            </a:r>
            <a:endParaRPr lang="en-US" sz="1800" dirty="0"/>
          </a:p>
        </p:txBody>
      </p:sp>
      <p:sp>
        <p:nvSpPr>
          <p:cNvPr id="25" name="Text 15"/>
          <p:cNvSpPr txBox="1"/>
          <p:nvPr/>
        </p:nvSpPr>
        <p:spPr>
          <a:xfrm>
            <a:off x="3619195" y="7189013"/>
            <a:ext cx="8382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소울리에 · JAP 2024</a:t>
            </a:r>
            <a:endParaRPr lang="en-US" sz="975" dirty="0"/>
          </a:p>
        </p:txBody>
      </p:sp>
      <p:sp>
        <p:nvSpPr>
          <p:cNvPr id="26" name="Text 16"/>
          <p:cNvSpPr txBox="1"/>
          <p:nvPr/>
        </p:nvSpPr>
        <p:spPr>
          <a:xfrm>
            <a:off x="12573000" y="7239305"/>
            <a:ext cx="5143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Ruthenium interconnect roadmap · viksnewsletter.com</a:t>
            </a:r>
            <a:endParaRPr lang="en-US" sz="975" dirty="0"/>
          </a:p>
        </p:txBody>
      </p:sp>
      <p:sp>
        <p:nvSpPr>
          <p:cNvPr id="27" name="Text 17"/>
          <p:cNvSpPr txBox="1"/>
          <p:nvPr/>
        </p:nvSpPr>
        <p:spPr>
          <a:xfrm>
            <a:off x="3619195" y="9562795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CANDIDATE SCREEN · TEST PLATE 30</a:t>
            </a:r>
            <a:endParaRPr lang="en-US" sz="975" dirty="0"/>
          </a:p>
        </p:txBody>
      </p:sp>
      <p:sp>
        <p:nvSpPr>
          <p:cNvPr id="28" name="Text 18"/>
          <p:cNvSpPr txBox="1"/>
          <p:nvPr/>
        </p:nvSpPr>
        <p:spPr>
          <a:xfrm>
            <a:off x="14287500" y="9562795"/>
            <a:ext cx="3429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표지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ab1714bd938a5291fc50fbcce12fe4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859000" y="-1524305"/>
            <a:ext cx="5333695" cy="53336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0A0C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8a1ebe8739cf8fb605a1bb5c9e007ae0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48356" y="0"/>
            <a:ext cx="9144" cy="10287000"/>
          </a:xfrm>
          <a:prstGeom prst="rect">
            <a:avLst/>
          </a:prstGeom>
        </p:spPr>
      </p:pic>
      <p:pic>
        <p:nvPicPr>
          <p:cNvPr id="5" name="Image 2" descr="gen-dedup-3e3e63b62661cdce5b9d1a23f417508d.png">    </p:cNvPr>
          <p:cNvPicPr>
            <a:picLocks noChangeAspect="1"/>
          </p:cNvPicPr>
          <p:nvPr/>
        </p:nvPicPr>
        <p:blipFill>
          <a:blip r:embed="rId3"/>
          <a:srcRect l="0" r="0" t="-373" b="-373"/>
          <a:stretch/>
        </p:blipFill>
        <p:spPr>
          <a:xfrm>
            <a:off x="571500" y="4647895"/>
            <a:ext cx="857707" cy="19202"/>
          </a:xfrm>
          <a:prstGeom prst="rect">
            <a:avLst/>
          </a:prstGeom>
        </p:spPr>
      </p:pic>
      <p:pic>
        <p:nvPicPr>
          <p:cNvPr id="6" name="Image 3" descr="gen-dedup-7e852fb610adb85f4d214e15f6a1602c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3619195" y="2095805"/>
            <a:ext cx="1333195" cy="28346"/>
          </a:xfrm>
          <a:prstGeom prst="rect">
            <a:avLst/>
          </a:prstGeom>
        </p:spPr>
      </p:pic>
      <p:pic>
        <p:nvPicPr>
          <p:cNvPr id="7" name="Image 4" descr="gen-dedup-d3877c1edd698df868475b1a6000e589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3619195" y="6953098"/>
            <a:ext cx="14097305" cy="9144"/>
          </a:xfrm>
          <a:prstGeom prst="rect">
            <a:avLst/>
          </a:prstGeom>
        </p:spPr>
      </p:pic>
      <p:pic>
        <p:nvPicPr>
          <p:cNvPr id="8" name="Image 5" descr="gen-dedup-3303d3b9d206be1f3591ce5850f7d25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195" y="7239305"/>
            <a:ext cx="6858000" cy="2095805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571500" y="7616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</a:t>
            </a:r>
            <a:endParaRPr lang="en-US" sz="975" dirty="0"/>
          </a:p>
        </p:txBody>
      </p:sp>
      <p:sp>
        <p:nvSpPr>
          <p:cNvPr id="10" name="Text 2"/>
          <p:cNvSpPr txBox="1"/>
          <p:nvPr/>
        </p:nvSpPr>
        <p:spPr>
          <a:xfrm>
            <a:off x="457200" y="1028700"/>
            <a:ext cx="3363163" cy="2457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0" spc="-1125" kern="0" dirty="0">
                <a:solidFill>
                  <a:srgbClr val="E8DF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22500" dirty="0"/>
          </a:p>
        </p:txBody>
      </p:sp>
      <p:sp>
        <p:nvSpPr>
          <p:cNvPr id="11" name="Text 3"/>
          <p:cNvSpPr txBox="1"/>
          <p:nvPr/>
        </p:nvSpPr>
        <p:spPr>
          <a:xfrm>
            <a:off x="571500" y="4095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30</a:t>
            </a:r>
            <a:endParaRPr lang="en-US" sz="1650" dirty="0"/>
          </a:p>
        </p:txBody>
      </p:sp>
      <p:sp>
        <p:nvSpPr>
          <p:cNvPr id="12" name="Text 4"/>
          <p:cNvSpPr txBox="1"/>
          <p:nvPr/>
        </p:nvSpPr>
        <p:spPr>
          <a:xfrm>
            <a:off x="571500" y="4953305"/>
            <a:ext cx="2095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SCREENS</a:t>
            </a:r>
            <a:endParaRPr lang="en-US" sz="900" dirty="0"/>
          </a:p>
        </p:txBody>
      </p:sp>
      <p:sp>
        <p:nvSpPr>
          <p:cNvPr id="13" name="Text 5"/>
          <p:cNvSpPr txBox="1"/>
          <p:nvPr/>
        </p:nvSpPr>
        <p:spPr>
          <a:xfrm>
            <a:off x="571500" y="526694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</a:t>
            </a:r>
            <a:endParaRPr lang="en-US" sz="1500" dirty="0"/>
          </a:p>
        </p:txBody>
      </p:sp>
      <p:sp>
        <p:nvSpPr>
          <p:cNvPr id="14" name="Text 6"/>
          <p:cNvSpPr txBox="1"/>
          <p:nvPr/>
        </p:nvSpPr>
        <p:spPr>
          <a:xfrm>
            <a:off x="571500" y="5648249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602955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</a:t>
            </a:r>
            <a:endParaRPr lang="en-US" sz="15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640994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Al 기반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571500" y="9294876"/>
            <a:ext cx="209580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spc="83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dummy plate</a:t>
            </a:r>
            <a:pPr algn="l" indent="0" marL="0">
              <a:lnSpc>
                <a:spcPts val="1402"/>
              </a:lnSpc>
              <a:buNone/>
            </a:pP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spc="83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: 9 · 한국어</a:t>
            </a:r>
            <a:endParaRPr lang="en-US" sz="825" dirty="0"/>
          </a:p>
        </p:txBody>
      </p:sp>
      <p:sp>
        <p:nvSpPr>
          <p:cNvPr id="18" name="Text 10"/>
          <p:cNvSpPr txBox="1"/>
          <p:nvPr/>
        </p:nvSpPr>
        <p:spPr>
          <a:xfrm>
            <a:off x="3619195" y="60990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B869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박막 저항률 · 두께 · 열처리 · 300 mm</a:t>
            </a:r>
            <a:endParaRPr lang="en-US" sz="975" dirty="0"/>
          </a:p>
        </p:txBody>
      </p:sp>
      <p:sp>
        <p:nvSpPr>
          <p:cNvPr id="19" name="Text 11"/>
          <p:cNvSpPr txBox="1"/>
          <p:nvPr/>
        </p:nvSpPr>
        <p:spPr>
          <a:xfrm>
            <a:off x="3619195" y="1028700"/>
            <a:ext cx="12382805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재료 데이터</a:t>
            </a:r>
            <a:endParaRPr lang="en-US" sz="6000" dirty="0"/>
          </a:p>
        </p:txBody>
      </p:sp>
      <p:sp>
        <p:nvSpPr>
          <p:cNvPr id="20" name="Text 12"/>
          <p:cNvSpPr txBox="1"/>
          <p:nvPr/>
        </p:nvSpPr>
        <p:spPr>
          <a:xfrm>
            <a:off x="5143500" y="2018995"/>
            <a:ext cx="10478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BEB29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두께 · 저항률 · 열처리 · 출처 — 박막 측정값</a:t>
            </a:r>
            <a:endParaRPr lang="en-US" sz="16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9195" y="2667305"/>
          <a:ext cx="14097305" cy="4096512"/>
        </p:xfrm>
        <a:graphic>
          <a:graphicData uri="http://schemas.openxmlformats.org/drawingml/2006/table">
            <a:tbl>
              <a:tblPr/>
              <a:tblGrid>
                <a:gridCol w="3568672"/>
                <a:gridCol w="2208133"/>
                <a:gridCol w="2918575"/>
                <a:gridCol w="3066699"/>
                <a:gridCol w="233522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DF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재료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DF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두께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DF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저항률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DF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열처리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DF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출처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NiAl (Ge(100) 에피탑사)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7.7 nm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11.5 µΩ·cm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BEB29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—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A8A09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JAP 2024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NiAl (PVD)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56 nm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13.9 µΩ·cm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BEB29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600 °C PDA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A8A09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JAP 2024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NiAl (420 °C 증착)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 nm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 µΩ·cm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BEB29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in-situ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A8A09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JAP 2024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CuAl / CuAl₂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93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 nm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93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9.5 µΩ·cm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93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400 °C PDA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93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A8A09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JVST B 2024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93E">
                        <a:alpha val="6000"/>
                      </a:srgbClr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Al₂Cu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~30 nm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&lt;10 µΩ·cm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BEB29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500 °C PDA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A8A09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JAP 2024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Al₃Sc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 nm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12.6 µΩ·cm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BEB29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500 °C PDA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A8A09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JAP 2024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E8DFC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Cu₂Mg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 nm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D9CFB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25.5 µΩ·cm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BEB29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—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A8A09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JAP 2024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28600" marR="0" marT="0" marB="0" anchor="ctr">
                    <a:lnL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86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3"/>
          <p:cNvSpPr txBox="1"/>
          <p:nvPr/>
        </p:nvSpPr>
        <p:spPr>
          <a:xfrm>
            <a:off x="3619195" y="9486900"/>
            <a:ext cx="6858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nm pitch Ru lines, semi-damascene · imec</a:t>
            </a:r>
            <a:endParaRPr lang="en-US" sz="975" dirty="0"/>
          </a:p>
        </p:txBody>
      </p:sp>
      <p:sp>
        <p:nvSpPr>
          <p:cNvPr id="23" name="Text 14"/>
          <p:cNvSpPr txBox="1"/>
          <p:nvPr/>
        </p:nvSpPr>
        <p:spPr>
          <a:xfrm>
            <a:off x="10858500" y="7239305"/>
            <a:ext cx="6858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CuAl₂의 28 nm 막 값 9.5 µΩ·cm는 그 상의 벌크 저항률 6.5 µΩ·cm에 꾸준히 접근한 수치입니다.</a:t>
            </a:r>
            <a:endParaRPr lang="en-US" sz="1650" dirty="0"/>
          </a:p>
        </p:txBody>
      </p:sp>
      <p:pic>
        <p:nvPicPr>
          <p:cNvPr id="24" name="Image 6" descr="gen-dedup-8efea12217e4a335e49046a8b694b9bc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0858500" y="8020202"/>
            <a:ext cx="571500" cy="914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858500" y="8182051"/>
            <a:ext cx="6858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BEB29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상이 계산상 가장 낮지만 아직 증착·에칭 실증이 없습니다 — 300 mm에서 Ru, Mo, 그리고 Al 기반 금속간화합물만이 실제로 돌아갑니다.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23e322c8d27c53c9e687e0b34d3aa8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68805" y="3619195"/>
            <a:ext cx="5715000" cy="5715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0A0C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19195" y="6953098"/>
            <a:ext cx="6858000" cy="2667305"/>
          </a:xfrm>
          <a:prstGeom prst="rect">
            <a:avLst/>
          </a:prstGeom>
          <a:solidFill>
            <a:srgbClr val="E8DFCD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858500" y="6953098"/>
            <a:ext cx="6858000" cy="2667305"/>
          </a:xfrm>
          <a:prstGeom prst="rect">
            <a:avLst/>
          </a:prstGeom>
          <a:solidFill>
            <a:srgbClr val="E8DFCD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8a1ebe8739cf8fb605a1bb5c9e007ae0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48356" y="0"/>
            <a:ext cx="9144" cy="10287000"/>
          </a:xfrm>
          <a:prstGeom prst="rect">
            <a:avLst/>
          </a:prstGeom>
        </p:spPr>
      </p:pic>
      <p:pic>
        <p:nvPicPr>
          <p:cNvPr id="7" name="Image 2" descr="gen-dedup-a771fcb0230bd541aac32f8cecd4211b.png">    </p:cNvPr>
          <p:cNvPicPr>
            <a:picLocks noChangeAspect="1"/>
          </p:cNvPicPr>
          <p:nvPr/>
        </p:nvPicPr>
        <p:blipFill>
          <a:blip r:embed="rId3"/>
          <a:srcRect l="-404" r="-404" t="0" b="0"/>
          <a:stretch/>
        </p:blipFill>
        <p:spPr>
          <a:xfrm>
            <a:off x="3619195" y="6953098"/>
            <a:ext cx="6858000" cy="28346"/>
          </a:xfrm>
          <a:prstGeom prst="rect">
            <a:avLst/>
          </a:prstGeom>
        </p:spPr>
      </p:pic>
      <p:pic>
        <p:nvPicPr>
          <p:cNvPr id="8" name="Image 3" descr="gen-dedup-a771fcb0230bd541aac32f8cecd4211b.png">    </p:cNvPr>
          <p:cNvPicPr>
            <a:picLocks noChangeAspect="1"/>
          </p:cNvPicPr>
          <p:nvPr/>
        </p:nvPicPr>
        <p:blipFill>
          <a:blip r:embed="rId4"/>
          <a:srcRect l="-404" r="-404" t="0" b="0"/>
          <a:stretch/>
        </p:blipFill>
        <p:spPr>
          <a:xfrm>
            <a:off x="10858500" y="6953098"/>
            <a:ext cx="6858000" cy="28346"/>
          </a:xfrm>
          <a:prstGeom prst="rect">
            <a:avLst/>
          </a:prstGeom>
        </p:spPr>
      </p:pic>
      <p:pic>
        <p:nvPicPr>
          <p:cNvPr id="9" name="Image 4" descr="gen-dedup-3e3e63b62661cdce5b9d1a23f417508d.png">    </p:cNvPr>
          <p:cNvPicPr>
            <a:picLocks noChangeAspect="1"/>
          </p:cNvPicPr>
          <p:nvPr/>
        </p:nvPicPr>
        <p:blipFill>
          <a:blip r:embed="rId5"/>
          <a:srcRect l="0" r="0" t="-373" b="-373"/>
          <a:stretch/>
        </p:blipFill>
        <p:spPr>
          <a:xfrm>
            <a:off x="571500" y="4647895"/>
            <a:ext cx="857707" cy="19202"/>
          </a:xfrm>
          <a:prstGeom prst="rect">
            <a:avLst/>
          </a:prstGeom>
        </p:spPr>
      </p:pic>
      <p:pic>
        <p:nvPicPr>
          <p:cNvPr id="10" name="Image 5" descr="gen-dedup-7172e82708ad48607c4e578358d7fcd4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3619195" y="2361895"/>
            <a:ext cx="1714500" cy="19202"/>
          </a:xfrm>
          <a:prstGeom prst="rect">
            <a:avLst/>
          </a:prstGeom>
        </p:spPr>
      </p:pic>
      <p:pic>
        <p:nvPicPr>
          <p:cNvPr id="11" name="Image 6" descr="gen-dedup-7079998d6386b4c4c07bbe0bed7391bb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195" y="2667305"/>
            <a:ext cx="6858000" cy="3619195"/>
          </a:xfrm>
          <a:prstGeom prst="rect">
            <a:avLst/>
          </a:prstGeom>
        </p:spPr>
      </p:pic>
      <p:pic>
        <p:nvPicPr>
          <p:cNvPr id="12" name="Image 7" descr="gen-dedup-bb25f9334934864d465114115a7fa900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0" y="2667305"/>
            <a:ext cx="6858000" cy="3619195"/>
          </a:xfrm>
          <a:prstGeom prst="rect">
            <a:avLst/>
          </a:prstGeom>
        </p:spPr>
      </p:pic>
      <p:sp>
        <p:nvSpPr>
          <p:cNvPr id="13" name="Text 3"/>
          <p:cNvSpPr txBox="1"/>
          <p:nvPr/>
        </p:nvSpPr>
        <p:spPr>
          <a:xfrm>
            <a:off x="571500" y="7616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</a:t>
            </a:r>
            <a:endParaRPr lang="en-US" sz="975" dirty="0"/>
          </a:p>
        </p:txBody>
      </p:sp>
      <p:sp>
        <p:nvSpPr>
          <p:cNvPr id="14" name="Text 4"/>
          <p:cNvSpPr txBox="1"/>
          <p:nvPr/>
        </p:nvSpPr>
        <p:spPr>
          <a:xfrm>
            <a:off x="457200" y="1028700"/>
            <a:ext cx="3363163" cy="2457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0" spc="-1125" kern="0" dirty="0">
                <a:solidFill>
                  <a:srgbClr val="E8DF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22500" dirty="0"/>
          </a:p>
        </p:txBody>
      </p:sp>
      <p:sp>
        <p:nvSpPr>
          <p:cNvPr id="15" name="Text 5"/>
          <p:cNvSpPr txBox="1"/>
          <p:nvPr/>
        </p:nvSpPr>
        <p:spPr>
          <a:xfrm>
            <a:off x="571500" y="4095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30</a:t>
            </a:r>
            <a:endParaRPr lang="en-US" sz="1650" dirty="0"/>
          </a:p>
        </p:txBody>
      </p:sp>
      <p:sp>
        <p:nvSpPr>
          <p:cNvPr id="16" name="Text 6"/>
          <p:cNvSpPr txBox="1"/>
          <p:nvPr/>
        </p:nvSpPr>
        <p:spPr>
          <a:xfrm>
            <a:off x="571500" y="4953305"/>
            <a:ext cx="2095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SCREENS</a:t>
            </a:r>
            <a:endParaRPr lang="en-US" sz="900" dirty="0"/>
          </a:p>
        </p:txBody>
      </p:sp>
      <p:sp>
        <p:nvSpPr>
          <p:cNvPr id="17" name="Text 7"/>
          <p:cNvSpPr txBox="1"/>
          <p:nvPr/>
        </p:nvSpPr>
        <p:spPr>
          <a:xfrm>
            <a:off x="571500" y="526694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</a:t>
            </a:r>
            <a:endParaRPr lang="en-US" sz="1500" dirty="0"/>
          </a:p>
        </p:txBody>
      </p:sp>
      <p:sp>
        <p:nvSpPr>
          <p:cNvPr id="18" name="Text 8"/>
          <p:cNvSpPr txBox="1"/>
          <p:nvPr/>
        </p:nvSpPr>
        <p:spPr>
          <a:xfrm>
            <a:off x="571500" y="5648249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</a:t>
            </a:r>
            <a:endParaRPr lang="en-US" sz="1500" dirty="0"/>
          </a:p>
        </p:txBody>
      </p:sp>
      <p:sp>
        <p:nvSpPr>
          <p:cNvPr id="19" name="Text 9"/>
          <p:cNvSpPr txBox="1"/>
          <p:nvPr/>
        </p:nvSpPr>
        <p:spPr>
          <a:xfrm>
            <a:off x="571500" y="602955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</a:t>
            </a:r>
            <a:endParaRPr lang="en-US" sz="1500" dirty="0"/>
          </a:p>
        </p:txBody>
      </p:sp>
      <p:sp>
        <p:nvSpPr>
          <p:cNvPr id="20" name="Text 10"/>
          <p:cNvSpPr txBox="1"/>
          <p:nvPr/>
        </p:nvSpPr>
        <p:spPr>
          <a:xfrm>
            <a:off x="571500" y="6409944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A09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Al 기반</a:t>
            </a:r>
            <a:endParaRPr lang="en-US" sz="1500" dirty="0"/>
          </a:p>
        </p:txBody>
      </p:sp>
      <p:sp>
        <p:nvSpPr>
          <p:cNvPr id="21" name="Text 11"/>
          <p:cNvSpPr txBox="1"/>
          <p:nvPr/>
        </p:nvSpPr>
        <p:spPr>
          <a:xfrm>
            <a:off x="571500" y="9294876"/>
            <a:ext cx="209580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spc="83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dummy plate</a:t>
            </a:r>
            <a:pPr algn="l" indent="0" marL="0">
              <a:lnSpc>
                <a:spcPts val="1402"/>
              </a:lnSpc>
              <a:buNone/>
            </a:pP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spc="83" kern="0" dirty="0">
                <a:solidFill>
                  <a:srgbClr val="5C56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: 9 · 한국어</a:t>
            </a:r>
            <a:endParaRPr lang="en-US" sz="825" dirty="0"/>
          </a:p>
        </p:txBody>
      </p:sp>
      <p:sp>
        <p:nvSpPr>
          <p:cNvPr id="22" name="Text 12"/>
          <p:cNvSpPr txBox="1"/>
          <p:nvPr/>
        </p:nvSpPr>
        <p:spPr>
          <a:xfrm>
            <a:off x="3619195" y="60990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B869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 배선 · AR 로드맵 · EM · 비아·계측</a:t>
            </a:r>
            <a:endParaRPr lang="en-US" sz="975" dirty="0"/>
          </a:p>
        </p:txBody>
      </p:sp>
      <p:sp>
        <p:nvSpPr>
          <p:cNvPr id="23" name="Text 13"/>
          <p:cNvSpPr txBox="1"/>
          <p:nvPr/>
        </p:nvSpPr>
        <p:spPr>
          <a:xfrm>
            <a:off x="3619195" y="990295"/>
            <a:ext cx="14287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spc="-90" kern="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신뢰성: 단일 배선으로 잠금하던</a:t>
            </a:r>
            <a:pPr algn="l" indent="0" marL="0">
              <a:lnSpc>
                <a:spcPct val="110000"/>
              </a:lnSpc>
              <a:buNone/>
            </a:pPr>
            <a:endParaRPr lang="en-US" sz="4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500" spc="-90" kern="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기준이 무너지는 중</a:t>
            </a:r>
            <a:endParaRPr lang="en-US" sz="4500" dirty="0"/>
          </a:p>
        </p:txBody>
      </p:sp>
      <p:sp>
        <p:nvSpPr>
          <p:cNvPr id="24" name="Text 14"/>
          <p:cNvSpPr txBox="1"/>
          <p:nvPr/>
        </p:nvSpPr>
        <p:spPr>
          <a:xfrm>
            <a:off x="3619195" y="6381598"/>
            <a:ext cx="6858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 interconnect metallization · imec / passive-components.eu</a:t>
            </a:r>
            <a:endParaRPr lang="en-US" sz="975" dirty="0"/>
          </a:p>
        </p:txBody>
      </p:sp>
      <p:sp>
        <p:nvSpPr>
          <p:cNvPr id="25" name="Text 15"/>
          <p:cNvSpPr txBox="1"/>
          <p:nvPr/>
        </p:nvSpPr>
        <p:spPr>
          <a:xfrm>
            <a:off x="10858500" y="6381598"/>
            <a:ext cx="685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Diffusion barrier Ta</a:t>
            </a:r>
            <a:pPr algn="l" indent="0" marL="0">
              <a:buNone/>
            </a:pPr>
            <a:r>
              <a:rPr lang="en-US" sz="812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pPr algn="l" indent="0" marL="0">
              <a:buNone/>
            </a:pPr>
            <a:r>
              <a:rPr lang="en-US" sz="975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Mn</a:t>
            </a:r>
            <a:pPr algn="l" indent="0" marL="0">
              <a:buNone/>
            </a:pPr>
            <a:r>
              <a:rPr lang="en-US" sz="812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</a:t>
            </a:r>
            <a:pPr algn="l" indent="0" marL="0">
              <a:buNone/>
            </a:pPr>
            <a:r>
              <a:rPr lang="en-US" sz="975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</a:t>
            </a:r>
            <a:pPr algn="l" indent="0" marL="0">
              <a:buNone/>
            </a:pPr>
            <a:r>
              <a:rPr lang="en-US" sz="812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</a:t>
            </a:r>
            <a:pPr algn="l" indent="0" marL="0">
              <a:buNone/>
            </a:pPr>
            <a:r>
              <a:rPr lang="en-US" sz="975" spc="59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for advanced Cu · Nature Sci. Reports</a:t>
            </a:r>
            <a:endParaRPr lang="en-US" sz="975" dirty="0"/>
          </a:p>
        </p:txBody>
      </p:sp>
      <p:sp>
        <p:nvSpPr>
          <p:cNvPr id="26" name="Text 16"/>
          <p:cNvSpPr txBox="1"/>
          <p:nvPr/>
        </p:nvSpPr>
        <p:spPr>
          <a:xfrm>
            <a:off x="3924605" y="7181698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패턴·AR · EM</a:t>
            </a:r>
            <a:endParaRPr lang="en-US" sz="975" dirty="0"/>
          </a:p>
        </p:txBody>
      </p:sp>
      <p:sp>
        <p:nvSpPr>
          <p:cNvPr id="27" name="Text 17"/>
          <p:cNvSpPr txBox="1"/>
          <p:nvPr/>
        </p:nvSpPr>
        <p:spPr>
          <a:xfrm>
            <a:off x="3924605" y="7438644"/>
            <a:ext cx="6286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semi-damascene에서 1세대 2 → 2세대 3 → 이후 4, 5, 6으로 올리는 5세대 로드맵.</a:t>
            </a:r>
            <a:endParaRPr lang="en-US" sz="1650" dirty="0"/>
          </a:p>
        </p:txBody>
      </p:sp>
      <p:sp>
        <p:nvSpPr>
          <p:cNvPr id="28" name="Text 18"/>
          <p:cNvSpPr txBox="1"/>
          <p:nvPr/>
        </p:nvSpPr>
        <p:spPr>
          <a:xfrm>
            <a:off x="3924605" y="8162849"/>
            <a:ext cx="6286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EB29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imec은 AR=6 Ru 선이 AR=3 대비 선 저항을 약 40% 낮춘다고 보고했습니다. 21 nm 피치 무배리어 Ru는 30 MA/cm² 초과에서도 고장을 유도하지 못했고, 150–200 MA/cm²에서야 고장이 나왔습니다.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11162995" y="7181698"/>
            <a:ext cx="6286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C84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슈퍼비아 · 계측</a:t>
            </a:r>
            <a:endParaRPr lang="en-US" sz="975" dirty="0"/>
          </a:p>
        </p:txBody>
      </p:sp>
      <p:sp>
        <p:nvSpPr>
          <p:cNvPr id="30" name="Text 20"/>
          <p:cNvSpPr txBox="1"/>
          <p:nvPr/>
        </p:nvSpPr>
        <p:spPr>
          <a:xfrm>
            <a:off x="11162995" y="7438644"/>
            <a:ext cx="6286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8DFC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종횡비 7.7, 높이 118.5 nm, M1 피치 36 nm에서 Kelvin 저항 중간값 58 Ω — 2단 적층 비아 66.3 Ω 대비 13% 낮음.</a:t>
            </a:r>
            <a:endParaRPr lang="en-US" sz="1650" dirty="0"/>
          </a:p>
        </p:txBody>
      </p:sp>
      <p:sp>
        <p:nvSpPr>
          <p:cNvPr id="31" name="Text 21"/>
          <p:cNvSpPr txBox="1"/>
          <p:nvPr/>
        </p:nvSpPr>
        <p:spPr>
          <a:xfrm>
            <a:off x="11162995" y="8162849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EB29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머신러닝으로 광점보다 작은 타겟을 풀이. LER 예측 R² = 0.85 / RMSE 0.03 nm, 메앤더 저항 예측 R² &gt; 0.93.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2026-10-03T16:50:03Z</dcterms:created>
  <dcterms:modified xsi:type="dcterms:W3CDTF">2026-10-03T16:50:03Z</dcterms:modified>
</cp:coreProperties>
</file>