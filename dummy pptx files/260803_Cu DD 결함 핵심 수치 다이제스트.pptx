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8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종합" id="{6c702ee5-da59-94ff-0a8b-09c20c91a0eb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RC 지연 상대값</c:v>
                </c:pt>
              </c:strCache>
            </c:strRef>
          </c:tx>
          <c:spPr>
            <a:solidFill>
              <a:srgbClr val="00D9F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9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Al 배선</c:v>
                  </c:pt>
                  <c:pt idx="1">
                    <c:v>Cu 배선 (하한)</c:v>
                  </c:pt>
                  <c:pt idx="2">
                    <c:v>Cu 배선 (상한)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70</c:v>
                </c:pt>
                <c:pt idx="2">
                  <c:v>60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A5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2E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E"/>
        </a:solidFill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종합 · 핵심 수치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Cu DD 결함 평가 핵심 수치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00D9FF"/>
                </a:solidFill>
              </a:rPr>
              <a:t>30–40%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01368"/>
            <a:ext cx="20725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Cu RC 지연 감소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2712659" y="128016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00B8A9"/>
                </a:solidFill>
              </a:rPr>
              <a:t>수백 배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712659" y="1801368"/>
            <a:ext cx="20725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펀치스루 누설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968118" y="128016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8E72"/>
                </a:solidFill>
              </a:rPr>
              <a:t>+10%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968118" y="1801368"/>
            <a:ext cx="20725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저항 Failure 기준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223577" y="128016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6B6B"/>
                </a:solidFill>
              </a:rPr>
              <a:t>2–3배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223577" y="1801368"/>
            <a:ext cx="20725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응력 후 Cu Recess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9479036" y="128016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00D9FF"/>
                </a:solidFill>
              </a:rPr>
              <a:t>80–88°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9479036" y="1801368"/>
            <a:ext cx="20725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HMDS 후 접촉각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176272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7711135" cy="914400"/>
        </p:xfrm>
        <a:graphic>
          <a:graphicData uri="http://schemas.openxmlformats.org/drawingml/2006/table">
            <a:tbl>
              <a:tblPr/>
              <a:tblGrid>
                <a:gridCol w="1185977"/>
                <a:gridCol w="2224735"/>
                <a:gridCol w="2224735"/>
                <a:gridCol w="2075688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unCMP 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overCMP 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제어 수단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연마량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부족 → 잔류·단락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과다 → Dishing·저항↑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Down-force, 시간, 다단계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슬러리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BTA 과다 → 둔화층 미관통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산화제 과다 → Cu 과제거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BTA·산화제 농도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레이아웃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밀도 낮음 → 잔류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밀도 불균일 → 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Dummy Fill 최적화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8442655" y="23317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포인트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442655" y="2679192"/>
            <a:ext cx="3291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CMP는 극히 좁은 공정 창.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하드마스크 마진이 선결 조건.</a:t>
            </a:r>
            <a:endParaRPr lang="en-US" sz="105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종합 · 결함 지도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결함 지도와 RC 이득의 대가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42062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52044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RC 지연 상대값 — CU는 AL 대비 30–40% 감소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5029200" y="1280160"/>
            <a:ext cx="6705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결함 지도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1609344"/>
            <a:ext cx="6705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RC 이득은 다마신·CMP·Low-k를 전제로 하며 그 전제가 결함의 근원.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295144"/>
          <a:ext cx="6705295" cy="914400"/>
        </p:xfrm>
        <a:graphic>
          <a:graphicData uri="http://schemas.openxmlformats.org/drawingml/2006/table">
            <a:tbl>
              <a:tblPr/>
              <a:tblGrid>
                <a:gridCol w="1676095"/>
                <a:gridCol w="1196950"/>
                <a:gridCol w="2155241"/>
                <a:gridCol w="167609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결함 유형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발생 공정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직접 결과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신뢰성 파급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하드마스크 고갈 / 펀치스루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트렌치·비아 식각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CD 확장, 금속 브릿지 → Metal Short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TDDB TTF 수십 배 단축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unCMP 잔류물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Cu/배리어 CMP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Cu·TaN 잔류 → 횡방향 누설·단락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WAT Short Failure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overCMP Dishing / Erosion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과연마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단면적 감소 → 선저항 +10–20%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J↑·줄 발열 → EM MTTF 급감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비아 챔퍼 무너짐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트렌치 과식각 (VFTL)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PVD 오버행 → 핀치오프 → Cu Void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비아 Open, 배리어 단절 → TDDB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ink">
  <a:themeElements>
    <a:clrScheme name="Turquoise DS ink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D9FF"/>
      </a:accent1>
      <a:accent2>
        <a:srgbClr val="00B8A9"/>
      </a:accent2>
      <a:accent3>
        <a:srgbClr val="FF8E72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ink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DD Key Numbers Digest</dc:title>
  <dc:subject>PptxGenJS Presentation</dc:subject>
  <dc:creator>공정 AI팀</dc:creator>
  <cp:lastModifiedBy>공정 AI팀</cp:lastModifiedBy>
  <cp:revision>1</cp:revision>
  <dcterms:created xsi:type="dcterms:W3CDTF">2026-10-03T16:30:18Z</dcterms:created>
  <dcterms:modified xsi:type="dcterms:W3CDTF">2026-10-03T16:30:18Z</dcterms:modified>
</cp:coreProperties>
</file>