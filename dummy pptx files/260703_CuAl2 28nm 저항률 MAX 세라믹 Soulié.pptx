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63402" y="0"/>
            <a:ext cx="7524598" cy="10287000"/>
          </a:xfrm>
          <a:prstGeom prst="rect">
            <a:avLst/>
          </a:prstGeom>
          <a:solidFill>
            <a:srgbClr val="1F2A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76cf0c03e6b92f6bfa9631d27109912f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61695" y="1828800"/>
            <a:ext cx="1714500" cy="57607"/>
          </a:xfrm>
          <a:prstGeom prst="rect">
            <a:avLst/>
          </a:prstGeom>
        </p:spPr>
      </p:pic>
      <p:pic>
        <p:nvPicPr>
          <p:cNvPr id="4" name="Image 1" descr="gen-dedup-a76c78cde0cd57a355a8b1a382d96968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239805" y="2400300"/>
            <a:ext cx="1143000" cy="57607"/>
          </a:xfrm>
          <a:prstGeom prst="rect">
            <a:avLst/>
          </a:prstGeom>
        </p:spPr>
      </p:pic>
      <p:pic>
        <p:nvPicPr>
          <p:cNvPr id="5" name="Image 2" descr="gen-dedup-ea9f142645572fde8f4b37b377e8815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239805" y="6096305"/>
            <a:ext cx="6476695" cy="9144"/>
          </a:xfrm>
          <a:prstGeom prst="rect">
            <a:avLst/>
          </a:prstGeom>
        </p:spPr>
      </p:pic>
      <p:pic>
        <p:nvPicPr>
          <p:cNvPr id="6" name="Image 3" descr="gen-dedup-189d1d3dad330eb1eebdbe25281f26a0.png">    </p:cNvPr>
          <p:cNvPicPr>
            <a:picLocks noChangeAspect="1"/>
          </p:cNvPicPr>
          <p:nvPr/>
        </p:nvPicPr>
        <p:blipFill>
          <a:blip r:embed="rId4"/>
          <a:srcRect l="0" r="0" t="-204" b="-204"/>
          <a:stretch/>
        </p:blipFill>
        <p:spPr>
          <a:xfrm>
            <a:off x="761695" y="7258507"/>
            <a:ext cx="75895" cy="219090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61695" y="2210105"/>
            <a:ext cx="9544507" cy="4629607"/>
          </a:xfrm>
          <a:prstGeom prst="rect">
            <a:avLst/>
          </a:prstGeom>
          <a:solidFill>
            <a:srgbClr val="FAFBFC"/>
          </a:solidFill>
          <a:ln w="12700">
            <a:solidFill>
              <a:srgbClr val="C5CCD3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1754" y="2219249"/>
          <a:ext cx="9525305" cy="4610405"/>
        </p:xfrm>
        <a:graphic>
          <a:graphicData uri="http://schemas.openxmlformats.org/drawingml/2006/table">
            <a:tbl>
              <a:tblPr/>
              <a:tblGrid>
                <a:gridCol w="3200400"/>
                <a:gridCol w="1210666"/>
                <a:gridCol w="1646834"/>
                <a:gridCol w="1663294"/>
                <a:gridCol w="1804111"/>
              </a:tblGrid>
              <a:tr h="5763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4A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42646" marB="142646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4A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두께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42646" marB="142646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4A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저항률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42646" marB="142646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4A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열처리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42646" marB="142646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4A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42646" marB="142646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7"/>
                    </a:solidFill>
                  </a:tcPr>
                </a:tc>
              </a:tr>
              <a:tr h="576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NiAl (Ge(100) 에피탑사)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7.7 nm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 µΩ·cm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7A86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 2024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NiAl (PVD)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 nm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13.9 µΩ·cm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°C PDA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7A86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 2024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NiAl (420 °C 증착)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 nm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 µΩ·cm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in-situ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7A86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 2024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CuAl / CuAl₂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 nm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 µΩ·cm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 °C PDA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7A86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JVST B 2024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0"/>
                    </a:solidFill>
                  </a:tcPr>
                </a:tc>
              </a:tr>
              <a:tr h="576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Al₂Cu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~30 nm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&lt;10 µΩ·cm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 °C PDA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7A86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 2024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Al₃Sc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nm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12.6 µΩ·cm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 °C PDA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7A86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 2024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Cu₂Mg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nm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25.5 µΩ·cm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7A86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 2024</a:t>
                      </a:r>
                      <a:endParaRPr lang="en-US" sz="1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907" marR="171907" marT="123444" marB="123444" anchor="ctr">
                    <a:lnL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5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2"/>
          <p:cNvSpPr/>
          <p:nvPr/>
        </p:nvSpPr>
        <p:spPr>
          <a:xfrm>
            <a:off x="7487107" y="7258507"/>
            <a:ext cx="2819095" cy="2553005"/>
          </a:xfrm>
          <a:prstGeom prst="rect">
            <a:avLst/>
          </a:prstGeom>
          <a:solidFill>
            <a:srgbClr val="111111"/>
          </a:solidFill>
          <a:ln w="12700">
            <a:solidFill>
              <a:srgbClr val="C5CCD3"/>
            </a:solidFill>
            <a:prstDash val="solid"/>
          </a:ln>
        </p:spPr>
      </p:sp>
      <p:pic>
        <p:nvPicPr>
          <p:cNvPr id="10" name="Image 4" descr="gen-dedup-79357999dbaa167f6420bae90b7d77f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251" y="7267651"/>
            <a:ext cx="2800807" cy="2533802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761695" y="571500"/>
            <a:ext cx="8572500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0" b="1" spc="-150" kern="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</a:t>
            </a:r>
            <a:endParaRPr lang="en-US" sz="7500" dirty="0"/>
          </a:p>
        </p:txBody>
      </p:sp>
      <p:sp>
        <p:nvSpPr>
          <p:cNvPr id="12" name="Text 4"/>
          <p:cNvSpPr txBox="1"/>
          <p:nvPr/>
        </p:nvSpPr>
        <p:spPr>
          <a:xfrm>
            <a:off x="1067105" y="7258507"/>
            <a:ext cx="609630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CuAl₂의 28 nm 막 값 9.5 µΩ·cm는 그 상의 벌크 저항률 6.5 µΩ·cm에 꾸준히 접근한 수치입니다. Soulié는 "CuAl₂가 10 nm 이상 두께에서 Ru를 이기고, CuAl·CuAl₂ 둘 다 조사한 전 두께 범위에서 Mo를 이겼다"고 씫습니다.</a:t>
            </a:r>
            <a:endParaRPr lang="en-US" sz="1800" dirty="0"/>
          </a:p>
        </p:txBody>
      </p:sp>
      <p:sp>
        <p:nvSpPr>
          <p:cNvPr id="13" name="Text 5"/>
          <p:cNvSpPr txBox="1"/>
          <p:nvPr/>
        </p:nvSpPr>
        <p:spPr>
          <a:xfrm>
            <a:off x="7487107" y="9868205"/>
            <a:ext cx="34006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6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J. Alloys Compd. (ScienceDirect, 2025)</a:t>
            </a:r>
            <a:endParaRPr lang="en-US" sz="1050" dirty="0"/>
          </a:p>
        </p:txBody>
      </p:sp>
      <p:sp>
        <p:nvSpPr>
          <p:cNvPr id="14" name="Text 6"/>
          <p:cNvSpPr txBox="1"/>
          <p:nvPr/>
        </p:nvSpPr>
        <p:spPr>
          <a:xfrm>
            <a:off x="11239805" y="1047902"/>
            <a:ext cx="647761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spc="-33" kern="0" dirty="0">
                <a:solidFill>
                  <a:srgbClr val="F4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세라믹: 이론상 Cu보다 5–11배 좋은 지표</a:t>
            </a:r>
            <a:endParaRPr lang="en-US" sz="3300" dirty="0"/>
          </a:p>
        </p:txBody>
      </p:sp>
      <p:sp>
        <p:nvSpPr>
          <p:cNvPr id="15" name="Text 7"/>
          <p:cNvSpPr txBox="1"/>
          <p:nvPr/>
        </p:nvSpPr>
        <p:spPr>
          <a:xfrm>
            <a:off x="11239805" y="2762402"/>
            <a:ext cx="64776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D5D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Sankaran은 MAX 상 170개를 전자구조 계산으로 걸렀고, 그중 69개 안정상이 Cu보다 높은 응집에너지와 낮은 ρ₀·λ를 동시에 가졌으며, 24개는 Ru보다도 좋았습니다. 최저값은 β-Ti₄InN₃의 0.6×10⁻¹⁶ Ω·m² — Cu의 1/11입니다. 다만 이들은 아직 박막 증착·에칭 실증이 없는 계산 단계입니다.</a:t>
            </a:r>
            <a:endParaRPr lang="en-US" sz="1800" dirty="0"/>
          </a:p>
        </p:txBody>
      </p:sp>
      <p:sp>
        <p:nvSpPr>
          <p:cNvPr id="16" name="Text 8"/>
          <p:cNvSpPr txBox="1"/>
          <p:nvPr/>
        </p:nvSpPr>
        <p:spPr>
          <a:xfrm>
            <a:off x="11239805" y="6344107"/>
            <a:ext cx="6477610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A8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Moors는 여기서 한 발 더 나가, 비등방성 금속을 스칼라 ρ₀λ로 줄이면 잘못된 순위가 나온다고 지적하고 유한온도 수송 텐서를 제안했습니다. 결정계에 따라 독립 성분 수가 입방정 1개에서 삼사정 9개까지 달라지고, 300 K 계산 결과 Ru는 전 방향, V₂AlC는 면내 방향, MoPt는 x·y 방향에서 Cu를 능가할 여지가 있다고 봤습니다.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1543507"/>
            <a:ext cx="16782898" cy="2572207"/>
          </a:xfrm>
          <a:prstGeom prst="rect">
            <a:avLst/>
          </a:prstGeom>
          <a:solidFill>
            <a:srgbClr val="FAFBFC"/>
          </a:solidFill>
          <a:ln w="12700">
            <a:solidFill>
              <a:srgbClr val="C5C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695" y="7905902"/>
            <a:ext cx="10687507" cy="1923898"/>
          </a:xfrm>
          <a:prstGeom prst="rect">
            <a:avLst/>
          </a:prstGeom>
          <a:solidFill>
            <a:srgbClr val="F2F4F7"/>
          </a:solidFill>
          <a:ln w="12700">
            <a:solidFill>
              <a:srgbClr val="C5CC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6207" y="4362602"/>
            <a:ext cx="5810098" cy="5447995"/>
          </a:xfrm>
          <a:prstGeom prst="rect">
            <a:avLst/>
          </a:prstGeom>
          <a:solidFill>
            <a:srgbClr val="1F2A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47161b3088d3f9e17f0862b478eb1665.png">    </p:cNvPr>
          <p:cNvPicPr>
            <a:picLocks noChangeAspect="1"/>
          </p:cNvPicPr>
          <p:nvPr/>
        </p:nvPicPr>
        <p:blipFill>
          <a:blip r:embed="rId1"/>
          <a:srcRect l="0" r="0" t="-207" b="-207"/>
          <a:stretch/>
        </p:blipFill>
        <p:spPr>
          <a:xfrm>
            <a:off x="761695" y="1543507"/>
            <a:ext cx="75895" cy="2553005"/>
          </a:xfrm>
          <a:prstGeom prst="rect">
            <a:avLst/>
          </a:prstGeom>
        </p:spPr>
      </p:pic>
      <p:pic>
        <p:nvPicPr>
          <p:cNvPr id="6" name="Image 1" descr="gen-dedup-08948c710502ae817c812b7e50608ab7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7905902"/>
            <a:ext cx="10668305" cy="5760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1695" y="4362602"/>
            <a:ext cx="10687507" cy="3161995"/>
          </a:xfrm>
          <a:prstGeom prst="rect">
            <a:avLst/>
          </a:prstGeom>
          <a:solidFill>
            <a:srgbClr val="DADADA"/>
          </a:solidFill>
          <a:ln w="12700">
            <a:solidFill>
              <a:srgbClr val="C5CCD3"/>
            </a:solidFill>
            <a:prstDash val="solid"/>
          </a:ln>
        </p:spPr>
      </p:sp>
      <p:pic>
        <p:nvPicPr>
          <p:cNvPr id="8" name="Image 2" descr="gen-dedup-80c133e3b98c2b48f39c08ffeb53e1a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371746"/>
            <a:ext cx="10668305" cy="31437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571500"/>
            <a:ext cx="16764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65" kern="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Ru의 복병: 열처리가 선을 원통형으로 만든다</a:t>
            </a:r>
            <a:endParaRPr lang="en-US" sz="435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1752905"/>
            <a:ext cx="1609801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18–22 nm 피치 Ru 배선을 300 mm 웨이퍼에서 열처리했더니 </a:t>
            </a:r>
            <a:pPr algn="l" indent="0" marL="0">
              <a:lnSpc>
                <a:spcPts val="3000"/>
              </a:lnSpc>
              <a:buNone/>
            </a:pPr>
            <a:r>
              <a:rPr lang="en-US" sz="1875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 저항이 10% 떨어지면서 시단면이 원통형으로 변형(cylinderization)</a:t>
            </a:r>
            <a:pPr algn="l"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웨이퍼 전역에서 다중 단락이 나타났습니다. 원인은 입계 모서리에서 시작된 면간 자기확산 — Ru(0002) 면의 원자가 측벽면 Ru(1̅0̅0)·Ru(11̅20)으로 옮겨가 쌓입니다. 420 °C에서 Ru 벌크 확산계수는 1.83×10⁻⁴³ m²/s에 불과하지만, 특정 원자 배열은 이를 크게 올립니다. 동일 그룹의 IITC 2025 발표는 명목 선폭 10 nm Ru 선을 325·420·650 °C에서 최대 5시간 열처리했을 때 온도가 올라갈수록 원통화가 심해졌다고 보고합니다.</a:t>
            </a:r>
            <a:endParaRPr lang="en-US" sz="1875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7582205"/>
            <a:ext cx="10668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6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imec (imec-int.com)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1047902" y="8134502"/>
            <a:ext cx="10096805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74"/>
              </a:lnSpc>
              <a:buNone/>
            </a:pPr>
            <a:r>
              <a:rPr lang="en-US" sz="1725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반면 Ru의 전자이동 내성은 뛰어납니다. 21 nm 피치 무배리어 Ru는 30 MA/cm² 초과에서도 고장을 유도하지 못했고, 150–200 MA/cm²까지 올려 자기발열 ~260 °C에 도달해서야 고장이 나왔습니다. Mo–Ru 하이브리드 구조는 330 °C, 5 MA/cm²에서 600시간 이상 무고장입니다.</a:t>
            </a:r>
            <a:endParaRPr lang="en-US" sz="1725" dirty="0"/>
          </a:p>
        </p:txBody>
      </p:sp>
      <p:sp>
        <p:nvSpPr>
          <p:cNvPr id="13" name="Text 8"/>
          <p:cNvSpPr txBox="1"/>
          <p:nvPr/>
        </p:nvSpPr>
        <p:spPr>
          <a:xfrm>
            <a:off x="12059107" y="4762195"/>
            <a:ext cx="541782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spc="-114" kern="0" dirty="0">
                <a:solidFill>
                  <a:srgbClr val="7E9D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0.80–1.05 eV</a:t>
            </a:r>
            <a:endParaRPr lang="en-US" sz="5700" dirty="0"/>
          </a:p>
        </p:txBody>
      </p:sp>
      <p:sp>
        <p:nvSpPr>
          <p:cNvPr id="14" name="Text 9"/>
          <p:cNvSpPr txBox="1"/>
          <p:nvPr/>
        </p:nvSpPr>
        <p:spPr>
          <a:xfrm>
            <a:off x="12059107" y="5829300"/>
            <a:ext cx="5143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D5DA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장배선의 활성화에너지가 라이너 종류에 따라 0.80–1.05 eV 구간에 흔터지는 것과 대조됩니다(TaN/Co 0.84·1.02–1.05 eV, TaN/Ru 0.94–0.98 eV).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f283ce86ca0d67d0a6bdc74038aa63d.png">    </p:cNvPr>
          <p:cNvPicPr>
            <a:picLocks noChangeAspect="1"/>
          </p:cNvPicPr>
          <p:nvPr/>
        </p:nvPicPr>
        <p:blipFill>
          <a:blip r:embed="rId1"/>
          <a:srcRect l="0" r="0" t="-403" b="-403"/>
          <a:stretch/>
        </p:blipFill>
        <p:spPr>
          <a:xfrm>
            <a:off x="0" y="0"/>
            <a:ext cx="5333695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39205" y="8268005"/>
            <a:ext cx="6286500" cy="1543507"/>
          </a:xfrm>
          <a:prstGeom prst="rect">
            <a:avLst/>
          </a:prstGeom>
          <a:solidFill>
            <a:srgbClr val="1F2A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106095" y="3810305"/>
            <a:ext cx="4438498" cy="6019495"/>
          </a:xfrm>
          <a:prstGeom prst="rect">
            <a:avLst/>
          </a:prstGeom>
          <a:solidFill>
            <a:srgbClr val="F2F4F7"/>
          </a:solidFill>
          <a:ln w="12700">
            <a:solidFill>
              <a:srgbClr val="C5CCD3"/>
            </a:solidFill>
            <a:prstDash val="solid"/>
          </a:ln>
        </p:spPr>
      </p:sp>
      <p:pic>
        <p:nvPicPr>
          <p:cNvPr id="5" name="Image 1" descr="gen-dedup-36da79a05431f0cf5ac75dd7472b05e2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761695" y="1390802"/>
            <a:ext cx="57607" cy="2857500"/>
          </a:xfrm>
          <a:prstGeom prst="rect">
            <a:avLst/>
          </a:prstGeom>
        </p:spPr>
      </p:pic>
      <p:pic>
        <p:nvPicPr>
          <p:cNvPr id="6" name="Image 2" descr="gen-dedup-9517fe1b07d06986fe5a6ec59285d318.png">    </p:cNvPr>
          <p:cNvPicPr>
            <a:picLocks noChangeAspect="1"/>
          </p:cNvPicPr>
          <p:nvPr/>
        </p:nvPicPr>
        <p:blipFill>
          <a:blip r:embed="rId3"/>
          <a:srcRect l="0" r="0" t="-403" b="-403"/>
          <a:stretch/>
        </p:blipFill>
        <p:spPr>
          <a:xfrm>
            <a:off x="13106095" y="3810305"/>
            <a:ext cx="4419295" cy="5760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61695" y="5715000"/>
            <a:ext cx="5315407" cy="3524098"/>
          </a:xfrm>
          <a:prstGeom prst="rect">
            <a:avLst/>
          </a:prstGeom>
          <a:solidFill>
            <a:srgbClr val="111111"/>
          </a:solidFill>
          <a:ln w="12700">
            <a:solidFill>
              <a:srgbClr val="C5CCD3"/>
            </a:solidFill>
            <a:prstDash val="solid"/>
          </a:ln>
        </p:spPr>
      </p:sp>
      <p:pic>
        <p:nvPicPr>
          <p:cNvPr id="8" name="Image 3" descr="gen-dedup-3841295278e06641255bb010fa73b1fa.jpg">    </p:cNvPr>
          <p:cNvPicPr>
            <a:picLocks noChangeAspect="1"/>
          </p:cNvPicPr>
          <p:nvPr/>
        </p:nvPicPr>
        <p:blipFill>
          <a:blip r:embed="rId4"/>
          <a:srcRect l="0" r="0" t="-1" b="-1"/>
          <a:stretch/>
        </p:blipFill>
        <p:spPr>
          <a:xfrm>
            <a:off x="771754" y="5724144"/>
            <a:ext cx="5296205" cy="350489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439205" y="2476195"/>
            <a:ext cx="6305702" cy="4705502"/>
          </a:xfrm>
          <a:prstGeom prst="rect">
            <a:avLst/>
          </a:prstGeom>
          <a:solidFill>
            <a:srgbClr val="FAFBFC"/>
          </a:solidFill>
          <a:ln w="12700">
            <a:solidFill>
              <a:srgbClr val="C5CCD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8349" y="2486254"/>
          <a:ext cx="6286500" cy="4686300"/>
        </p:xfrm>
        <a:graphic>
          <a:graphicData uri="http://schemas.openxmlformats.org/drawingml/2006/table">
            <a:tbl>
              <a:tblPr/>
              <a:tblGrid>
                <a:gridCol w="2076602"/>
                <a:gridCol w="4209898"/>
              </a:tblGrid>
              <a:tr h="390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E5E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85954" marB="85954" anchor="ctr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E5E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85954" marB="85954" anchor="ctr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금속 피치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 → 18 nm (2소재 실증)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선폭(CD)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 nm, PVD Ru 30 nm → AR ≈ 3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전도 단면적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명목 270 nm² / 전기적 250 nm² / 물리적 257 nm²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EUV 비아 홀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20 nm → 접촉면적 180 nm²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비아 저항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Ω &lt; R &lt; 60 Ω (18–26 nm 피치 전 구간)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저항률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에칭 후 13–15 µΩ·cm, 420 °C 열처리 후 14–15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Ru가 Cu를 이기는 지점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전도 단면적 268 nm² 미만 (≈ CD 12 nm 미만)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허용도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의도적 오정렬 ±5 nm까지 비아 저항 유지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절연파괴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&gt;9 MV/cm @100 °C, 26 nm 피치에서 &gt;16 V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MA/cm², 300 h 저항 변화 없음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열저장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 °C, 120 h 저항·수율 손실 없음</a:t>
                      </a:r>
                      <a:endParaRPr lang="en-US" sz="14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66751" marB="66751" anchor="t">
                    <a:lnL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4"/>
          <p:cNvSpPr/>
          <p:nvPr/>
        </p:nvSpPr>
        <p:spPr>
          <a:xfrm>
            <a:off x="13106095" y="1390802"/>
            <a:ext cx="4438498" cy="2048256"/>
          </a:xfrm>
          <a:prstGeom prst="rect">
            <a:avLst/>
          </a:prstGeom>
          <a:solidFill>
            <a:srgbClr val="111111"/>
          </a:solidFill>
          <a:ln w="12700">
            <a:solidFill>
              <a:srgbClr val="C5CCD3"/>
            </a:solidFill>
            <a:prstDash val="solid"/>
          </a:ln>
        </p:spPr>
      </p:sp>
      <p:pic>
        <p:nvPicPr>
          <p:cNvPr id="12" name="Image 4" descr="gen-dedup-c01ebd3e93eb33a8ad92fb6bb129773b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6154" y="1399946"/>
            <a:ext cx="4419295" cy="2029054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761695" y="457200"/>
            <a:ext cx="1676461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spc="-58" kern="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패터닝·집적: 다마신을 버리고 금속을 직접 긎는다</a:t>
            </a:r>
            <a:endParaRPr lang="en-US" sz="3900" dirty="0"/>
          </a:p>
        </p:txBody>
      </p:sp>
      <p:sp>
        <p:nvSpPr>
          <p:cNvPr id="14" name="Text 6"/>
          <p:cNvSpPr txBox="1"/>
          <p:nvPr/>
        </p:nvSpPr>
        <p:spPr>
          <a:xfrm>
            <a:off x="1009498" y="1390802"/>
            <a:ext cx="5048402" cy="235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semi-damascene은 도랑을 파고 금속을 채우는 대신 금속을 먼저 깔고 직접 에칭합니다. 그 결과 배리어가 필요 없고, CMP가 제한하던 종횡비(AR)를 올릴 수 있습니다. 기존 Cu 다마신 선의 AR은 대략 1.6, </a:t>
            </a:r>
            <a:pPr algn="l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2C5E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semi-damascene은 1세대 2 → 2세대 3 → 이후 4, 5, 6으로 올리는 5세대 로드맵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imec은 AR=6 Ru 선이 AR=3 대비 선 저항을 약 40% 낮춘다고 보고했습니다.</a:t>
            </a:r>
            <a:endParaRPr lang="en-US" sz="165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9296705"/>
            <a:ext cx="52962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6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imec (imec-int.com)</a:t>
            </a:r>
            <a:endParaRPr lang="en-US" sz="1050" dirty="0"/>
          </a:p>
        </p:txBody>
      </p:sp>
      <p:sp>
        <p:nvSpPr>
          <p:cNvPr id="16" name="Text 8"/>
          <p:cNvSpPr txBox="1"/>
          <p:nvPr/>
        </p:nvSpPr>
        <p:spPr>
          <a:xfrm>
            <a:off x="6439205" y="1390802"/>
            <a:ext cx="6972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nm 피치 2소재 완전 자기정렬 비아(Murdoch, VLSI 2022)</a:t>
            </a:r>
            <a:endParaRPr lang="en-US" sz="1800" dirty="0"/>
          </a:p>
        </p:txBody>
      </p:sp>
      <p:sp>
        <p:nvSpPr>
          <p:cNvPr id="17" name="Text 9"/>
          <p:cNvSpPr txBox="1"/>
          <p:nvPr/>
        </p:nvSpPr>
        <p:spPr>
          <a:xfrm>
            <a:off x="6439205" y="1744675"/>
            <a:ext cx="6286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유명한 "holy grail" 논문입니다. 핵심 수치: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6705295" y="8458200"/>
            <a:ext cx="57534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E5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패터닝 조합은 Mx가 EUV+SADP, Mx+1과 비아가 EUV 단일 노광입니다. 상부 금속은 정전용량 증가를 상쇄하려고 에어갭과 조합합니다.</a:t>
            </a:r>
            <a:endParaRPr lang="en-US" sz="1575" dirty="0"/>
          </a:p>
        </p:txBody>
      </p:sp>
      <p:sp>
        <p:nvSpPr>
          <p:cNvPr id="19" name="Text 11"/>
          <p:cNvSpPr txBox="1"/>
          <p:nvPr/>
        </p:nvSpPr>
        <p:spPr>
          <a:xfrm>
            <a:off x="13106095" y="3486607"/>
            <a:ext cx="4420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6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imec (imec-int.com)</a:t>
            </a:r>
            <a:endParaRPr lang="en-US" sz="1050" dirty="0"/>
          </a:p>
        </p:txBody>
      </p:sp>
      <p:sp>
        <p:nvSpPr>
          <p:cNvPr id="20" name="Text 12"/>
          <p:cNvSpPr txBox="1"/>
          <p:nvPr/>
        </p:nvSpPr>
        <p:spPr>
          <a:xfrm>
            <a:off x="13353898" y="4076395"/>
            <a:ext cx="3924605" cy="235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"완전 자기정렬"은 두 번 정렬된다는 뜻입니다.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아래쪽은 Ru 선 위에 남은 SiN 캐핑 안에서 고선택비 가스에칭으로 비아를 뚫어 SiO₂ 걡필을 건드리지 않고, 위쪽은 Ru 과에칭으로 상부 선 가장자에 맞춥니다. 20 nm 비아 홀이 9 nm 선에 내려앉으면서 스스로 180 nm²로 줌어드는 게 핵심입니다.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2026-10-03T16:43:51Z</dcterms:created>
  <dcterms:modified xsi:type="dcterms:W3CDTF">2026-10-03T16:43:51Z</dcterms:modified>
</cp:coreProperties>
</file>