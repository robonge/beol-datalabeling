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305" y="-3429000"/>
            <a:ext cx="6858000" cy="6858000"/>
          </a:xfrm>
          <a:prstGeom prst="ellipse">
            <a:avLst/>
          </a:prstGeom>
          <a:solidFill>
            <a:srgbClr val="E2D6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86ba93c54259123bd4750d65021d40d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914400" y="3238805"/>
            <a:ext cx="914400" cy="192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382805" y="4533595"/>
            <a:ext cx="5143500" cy="3504895"/>
          </a:xfrm>
          <a:prstGeom prst="rect">
            <a:avLst/>
          </a:prstGeom>
          <a:solidFill>
            <a:srgbClr val="1612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46539658538c91a43cc07a7aef5a565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700" y="4610405"/>
            <a:ext cx="4990795" cy="33531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4400" y="914400"/>
            <a:ext cx="9335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spc="360" kern="0" dirty="0">
                <a:solidFill>
                  <a:srgbClr val="6B5A4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Screening the candidate metals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33195"/>
            <a:ext cx="1047811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스크리닝 지표로 본</a:t>
            </a:r>
            <a:pPr algn="l" indent="0" marL="0">
              <a:lnSpc>
                <a:spcPct val="100000"/>
              </a:lnSpc>
              <a:buNone/>
            </a:pP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후보군</a:t>
            </a:r>
            <a:endParaRPr lang="en-US" sz="7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533595"/>
          <a:ext cx="11049610" cy="4134002"/>
        </p:xfrm>
        <a:graphic>
          <a:graphicData uri="http://schemas.openxmlformats.org/drawingml/2006/table">
            <a:tbl>
              <a:tblPr/>
              <a:tblGrid>
                <a:gridCol w="3314700"/>
                <a:gridCol w="1215238"/>
                <a:gridCol w="1988820"/>
                <a:gridCol w="1988820"/>
                <a:gridCol w="2541118"/>
              </a:tblGrid>
              <a:tr h="516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6B5A4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재료</a:t>
                      </a:r>
                      <a:endParaRPr lang="en-US" sz="1125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0" marR="171907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6B5A4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두께</a:t>
                      </a:r>
                      <a:endParaRPr lang="en-US" sz="1125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6B5A4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저항률</a:t>
                      </a:r>
                      <a:endParaRPr lang="en-US" sz="1125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6B5A4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열처리</a:t>
                      </a:r>
                      <a:endParaRPr lang="en-US" sz="1125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6B5A4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출처</a:t>
                      </a:r>
                      <a:endParaRPr lang="en-US" sz="1125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NiAl (Ge(100) 에피탑사)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71907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7.7 nm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11.5 µΩ·cm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—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2F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JAP 2024</a:t>
                      </a:r>
                      <a:endParaRPr lang="en-US" sz="13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NiAl (PVD)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71907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56 nm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13.9 µΩ·cm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600 °C PDA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2F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JAP 2024</a:t>
                      </a:r>
                      <a:endParaRPr lang="en-US" sz="13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NiAl (420 °C 증착)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71907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22 nm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18 µΩ·cm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in-situ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2F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JAP 2024</a:t>
                      </a:r>
                      <a:endParaRPr lang="en-US" sz="13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CuAl / CuAl</a:t>
                      </a:r>
                      <a:pPr indent="0" marL="0">
                        <a:buNone/>
                      </a:pPr>
                      <a:r>
                        <a:rPr lang="en-US" sz="1375" b="1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9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B23A1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28 nm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9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B23A1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9.5 µΩ·cm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9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400 °C PDA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9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2F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JVST B 2024</a:t>
                      </a:r>
                      <a:endParaRPr lang="en-US" sz="13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9B7"/>
                    </a:solidFill>
                  </a:tcPr>
                </a:tc>
              </a:tr>
              <a:tr h="516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Al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Cu</a:t>
                      </a:r>
                      <a:endParaRPr lang="en-US" sz="1200" dirty="0"/>
                    </a:p>
                  </a:txBody>
                  <a:tcPr marL="0" marR="171907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~30 nm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&lt;10 µΩ·cm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500 °C PDA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2F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JAP 2024</a:t>
                      </a:r>
                      <a:endParaRPr lang="en-US" sz="13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Al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3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Sc</a:t>
                      </a:r>
                      <a:endParaRPr lang="en-US" sz="1200" dirty="0"/>
                    </a:p>
                  </a:txBody>
                  <a:tcPr marL="0" marR="171907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24 nm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12.6 µΩ·cm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500 °C PDA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2F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JAP 2024</a:t>
                      </a:r>
                      <a:endParaRPr lang="en-US" sz="13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114300" marB="11430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Cu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Mg</a:t>
                      </a:r>
                      <a:endParaRPr lang="en-US" sz="1200" dirty="0"/>
                    </a:p>
                  </a:txBody>
                  <a:tcPr marL="0" marR="171907" marT="114300" marB="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 nm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25.5 µΩ·cm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3502" marR="133502" marT="114300" marB="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—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133502" marT="114300" marB="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2F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JAP 2024</a:t>
                      </a:r>
                      <a:endParaRPr lang="en-US" sz="13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114300" marB="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2382805" y="8172907"/>
            <a:ext cx="5829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A2F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Semiconductor Digest — Intel 4 BEOL Cu interconnect (M0–M15 단면 SEM).</a:t>
            </a:r>
            <a:endParaRPr lang="en-US" sz="1050" dirty="0"/>
          </a:p>
        </p:txBody>
      </p:sp>
      <p:pic>
        <p:nvPicPr>
          <p:cNvPr id="10" name="Image 2" descr="gen-dedup-611e67754a7b68f074600d851f947b4d.png">    </p:cNvPr>
          <p:cNvPicPr>
            <a:picLocks noChangeAspect="1"/>
          </p:cNvPicPr>
          <p:nvPr/>
        </p:nvPicPr>
        <p:blipFill>
          <a:blip r:embed="rId3"/>
          <a:srcRect l="0" r="0" t="-1174" b="-1174"/>
          <a:stretch/>
        </p:blipFill>
        <p:spPr>
          <a:xfrm>
            <a:off x="914400" y="9103766"/>
            <a:ext cx="609905" cy="1463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695298" y="8991295"/>
            <a:ext cx="898215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2F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2382805" y="87626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88" kern="0" dirty="0">
                <a:solidFill>
                  <a:srgbClr val="6B5A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rows · 5 columns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2382805" y="8973007"/>
            <a:ext cx="2857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21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9.5 µΩ·cm</a:t>
            </a:r>
            <a:endParaRPr lang="en-US" sz="2250" dirty="0"/>
          </a:p>
        </p:txBody>
      </p:sp>
      <p:sp>
        <p:nvSpPr>
          <p:cNvPr id="14" name="Text 8"/>
          <p:cNvSpPr txBox="1"/>
          <p:nvPr/>
        </p:nvSpPr>
        <p:spPr>
          <a:xfrm>
            <a:off x="12382805" y="9391802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3A2F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CuAl/CuAl</a:t>
            </a:r>
            <a:pPr algn="l" indent="0" marL="0">
              <a:buNone/>
            </a:pPr>
            <a:r>
              <a:rPr lang="en-US" sz="812" dirty="0">
                <a:solidFill>
                  <a:srgbClr val="3A2F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pPr algn="l" indent="0" marL="0">
              <a:buNone/>
            </a:pPr>
            <a:r>
              <a:rPr lang="en-US" sz="975" dirty="0">
                <a:solidFill>
                  <a:srgbClr val="3A2F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28 nm · JVST B 2024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01000" cy="10287000"/>
          </a:xfrm>
          <a:prstGeom prst="rect">
            <a:avLst/>
          </a:prstGeom>
          <a:solidFill>
            <a:srgbClr val="E5D8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84b4006e74196100569ab7143c7227f1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914400" y="914400"/>
            <a:ext cx="609905" cy="576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8496605"/>
            <a:ext cx="6286500" cy="1067105"/>
          </a:xfrm>
          <a:prstGeom prst="rect">
            <a:avLst/>
          </a:prstGeom>
          <a:solidFill>
            <a:srgbClr val="1612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62695" y="6286500"/>
            <a:ext cx="2667305" cy="2286000"/>
          </a:xfrm>
          <a:prstGeom prst="rect">
            <a:avLst/>
          </a:prstGeom>
          <a:solidFill>
            <a:srgbClr val="B23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9c34cd83d5a4c77f9e4a95d81bf30715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-1198" r="-1198" t="0" b="0"/>
          <a:stretch/>
        </p:blipFill>
        <p:spPr>
          <a:xfrm>
            <a:off x="8382305" y="1143000"/>
            <a:ext cx="14630" cy="8382305"/>
          </a:xfrm>
          <a:prstGeom prst="rect">
            <a:avLst/>
          </a:prstGeom>
        </p:spPr>
      </p:pic>
      <p:pic>
        <p:nvPicPr>
          <p:cNvPr id="7" name="Image 2" descr="gen-dedup-58211d02a40fe1e0803471e9e2c1372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695" y="2971800"/>
            <a:ext cx="8762695" cy="268650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14400" y="1143000"/>
            <a:ext cx="6477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6B5A4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· Out of 170 candidates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914400" y="1524305"/>
            <a:ext cx="6477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spc="-30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MAX 세라믹:</a:t>
            </a:r>
            <a:pPr algn="l" indent="0" marL="0">
              <a:lnSpc>
                <a:spcPct val="112000"/>
              </a:lnSpc>
              <a:buNone/>
            </a:pPr>
            <a:endParaRPr lang="en-US" sz="3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000" b="1" spc="-30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이론상 Cu보다 5–11배</a:t>
            </a:r>
            <a:pPr algn="l" indent="0" marL="0">
              <a:lnSpc>
                <a:spcPct val="112000"/>
              </a:lnSpc>
              <a:buNone/>
            </a:pPr>
            <a:endParaRPr lang="en-US" sz="3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000" b="1" spc="-30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좋은 지표</a:t>
            </a:r>
            <a:endParaRPr lang="en-US" sz="300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3504895"/>
            <a:ext cx="6477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Sankaran은 MAX 상 170개를 전자구조 계산으로 걸렀고, 그중 69개 안정상이 Cu보다 높은 응집에너지와 낮은 ρ</a:t>
            </a:r>
            <a:pPr algn="l" indent="0" marL="0">
              <a:lnSpc>
                <a:spcPts val="2325"/>
              </a:lnSpc>
              <a:buNone/>
            </a:pPr>
            <a:r>
              <a:rPr lang="en-US" sz="12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</a:t>
            </a:r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·λ를 동시에 가졌으며, 24개는 Ru보다도 좋았습니다. 최저값은 β-Ti</a:t>
            </a:r>
            <a:pPr algn="l" indent="0" marL="0">
              <a:lnSpc>
                <a:spcPts val="2325"/>
              </a:lnSpc>
              <a:buNone/>
            </a:pPr>
            <a:r>
              <a:rPr lang="en-US" sz="12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InN</a:t>
            </a:r>
            <a:pPr algn="l" indent="0" marL="0">
              <a:lnSpc>
                <a:spcPts val="2325"/>
              </a:lnSpc>
              <a:buNone/>
            </a:pPr>
            <a:r>
              <a:rPr lang="en-US" sz="12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의 0.6×10</a:t>
            </a:r>
            <a:pPr algn="l" indent="0" marL="0">
              <a:lnSpc>
                <a:spcPts val="2325"/>
              </a:lnSpc>
              <a:buNone/>
            </a:pPr>
            <a:r>
              <a:rPr lang="en-US" sz="12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−16</a:t>
            </a:r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Ω·m² — Cu의 1/11입니다. 다만 이들은 아직 박막 증착·에칭 실증이 없는 계산 단계입니다.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914400" y="5790895"/>
            <a:ext cx="6477610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Moors는 여기서 한 발 더 나가, 비등방성 금속을 스칼라 ρ</a:t>
            </a:r>
            <a:pPr algn="l" indent="0" marL="0">
              <a:lnSpc>
                <a:spcPts val="2325"/>
              </a:lnSpc>
              <a:buNone/>
            </a:pPr>
            <a:r>
              <a:rPr lang="en-US" sz="12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</a:t>
            </a:r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λ로 줄이면 잘못된 순위가 나온다고 지적하고 유한온도 수송 텐서를 제안했습니다. 결정계에 따라 독립 성분 수가 입방정 1개에서 삼사정 9개까지 달라지고, 300 K 계산 결과 Ru는 전 방향, V</a:t>
            </a:r>
            <a:pPr algn="l" indent="0" marL="0">
              <a:lnSpc>
                <a:spcPts val="2325"/>
              </a:lnSpc>
              <a:buNone/>
            </a:pPr>
            <a:r>
              <a:rPr lang="en-US" sz="12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AlC는 면내 방향, MoPt는 x·y 방향에서 Cu를 능가할 여지가 있다고 봤습니다.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8725205"/>
            <a:ext cx="55248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D89B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69 / 170</a:t>
            </a:r>
            <a:endParaRPr lang="en-US" sz="315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9201607"/>
            <a:ext cx="5524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EFE6D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안정상 — Cu보다 응집에너지 높고 λ는 낮음</a:t>
            </a:r>
            <a:endParaRPr lang="en-US" sz="1125" dirty="0"/>
          </a:p>
        </p:txBody>
      </p:sp>
      <p:sp>
        <p:nvSpPr>
          <p:cNvPr id="14" name="Text 9"/>
          <p:cNvSpPr txBox="1"/>
          <p:nvPr/>
        </p:nvSpPr>
        <p:spPr>
          <a:xfrm>
            <a:off x="8762695" y="1143000"/>
            <a:ext cx="8572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6B5A4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II · Ru cylinderizes when it anneals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762695" y="1524305"/>
            <a:ext cx="8763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spc="-30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Ru의 복병:</a:t>
            </a:r>
            <a:pPr algn="l" indent="0" marL="0">
              <a:lnSpc>
                <a:spcPct val="112000"/>
              </a:lnSpc>
              <a:buNone/>
            </a:pPr>
            <a:endParaRPr lang="en-US" sz="3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000" b="1" spc="-30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열처리가 선을 원통형으로 만든다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8762695" y="5734202"/>
            <a:ext cx="94494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A2F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Lam Research Newsroom — imec CMOS scaling roadmap (FinFET·Nanosheet·Dual-damascene·Air-gap·Zero-Via 등 단면 모음).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8762695" y="6458407"/>
            <a:ext cx="2667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264" kern="0" dirty="0">
                <a:solidFill>
                  <a:srgbClr val="F1E9D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Line resistance</a:t>
            </a:r>
            <a:endParaRPr lang="en-US" sz="825" dirty="0"/>
          </a:p>
        </p:txBody>
      </p:sp>
      <p:sp>
        <p:nvSpPr>
          <p:cNvPr id="18" name="Text 13"/>
          <p:cNvSpPr txBox="1"/>
          <p:nvPr/>
        </p:nvSpPr>
        <p:spPr>
          <a:xfrm>
            <a:off x="8545068" y="6676949"/>
            <a:ext cx="3103474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0" b="1" spc="-312" kern="0" dirty="0">
                <a:solidFill>
                  <a:srgbClr val="F1E9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−10</a:t>
            </a:r>
            <a:pPr algn="ctr" indent="0" marL="0">
              <a:buNone/>
            </a:pPr>
            <a:r>
              <a:rPr lang="en-US" sz="4500" b="1" spc="-312" kern="0" dirty="0">
                <a:solidFill>
                  <a:srgbClr val="F1E9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%</a:t>
            </a:r>
            <a:endParaRPr lang="en-US" sz="7800" dirty="0"/>
          </a:p>
        </p:txBody>
      </p:sp>
      <p:sp>
        <p:nvSpPr>
          <p:cNvPr id="19" name="Text 14"/>
          <p:cNvSpPr txBox="1"/>
          <p:nvPr/>
        </p:nvSpPr>
        <p:spPr>
          <a:xfrm>
            <a:off x="8762695" y="7724851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1E9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18–22 nm 피치, 300 mm 웨이퍼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11697005" y="6286500"/>
            <a:ext cx="58293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18–22 nm 피치 Ru 배선을 300 mm 웨이퍼에서 열처리했더니 </a:t>
            </a:r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선 저항이 10% 떨어지면서 시단면이 원통형으로 변형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(cylinderization)하고, 웨이퍼 전역에서 다중 단락이 나타났습니다. 원인은 입계 모서리에서 시작된 면간 자기확산 — Ru(0002) 면의 원자가 측벽면 Ru(1̅0̅0)·Ru(11̅20)으로 옮겨가 쌓입니다.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1697005" y="7905902"/>
            <a:ext cx="5829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420 °C에서 Ru 벌크 확산계수는 1.83×10</a:t>
            </a:r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−43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m²/s에 불과하지만, 특정 원자 배열은 이를 크게 올립니다. IITC 2025 발표는 10 nm Ru 선을 325·420·650 °C에서 최대 5시간 열처리했을 때 온도가 올라갈수록 원통화가 심해졌다고 보고합니다.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8762695" y="9144000"/>
            <a:ext cx="87636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반면 Ru의 전자이동 내성은 뛰어납니다. 21 nm 피치 무배리어 Ru는 30 MA/cm² 초과에서도 고장을 유도하지 못했고, 자기발열 ~260 °C에 도달해서야 고장이 나왔습니다. Mo–Ru 하이브리드는 330 °C, 5 MA/cm²에서 600시간 이상 무고장. Cu 활성화에너지는 0.80–1.05 eV (TaN/Co 0.84·1.02–1.05 eV, TaN/Ru 0.94–0.98 eV).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805" y="0"/>
            <a:ext cx="5905195" cy="7239305"/>
          </a:xfrm>
          <a:prstGeom prst="rect">
            <a:avLst/>
          </a:prstGeom>
          <a:solidFill>
            <a:srgbClr val="E5D8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239305"/>
            <a:ext cx="18288000" cy="3047695"/>
          </a:xfrm>
          <a:prstGeom prst="rect">
            <a:avLst/>
          </a:prstGeom>
          <a:solidFill>
            <a:srgbClr val="1612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86ba93c54259123bd4750d65021d40d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914400" y="2514600"/>
            <a:ext cx="914400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477902" y="800100"/>
            <a:ext cx="5143500" cy="2857500"/>
          </a:xfrm>
          <a:prstGeom prst="rect">
            <a:avLst/>
          </a:prstGeom>
          <a:solidFill>
            <a:srgbClr val="1612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0b6bc3f39ccaf83c9092852979425cd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595" y="7467905"/>
            <a:ext cx="2095805" cy="2076602"/>
          </a:xfrm>
          <a:prstGeom prst="rect">
            <a:avLst/>
          </a:prstGeom>
        </p:spPr>
      </p:pic>
      <p:pic>
        <p:nvPicPr>
          <p:cNvPr id="7" name="Image 2" descr="gen-dedup-3a44cf6ab709692ad14e378ee02b4eb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798" y="875995"/>
            <a:ext cx="4990795" cy="2704795"/>
          </a:xfrm>
          <a:prstGeom prst="rect">
            <a:avLst/>
          </a:prstGeom>
        </p:spPr>
      </p:pic>
      <p:pic>
        <p:nvPicPr>
          <p:cNvPr id="8" name="Image 3" descr="gen-dedup-4b2c2edd980228e3c9d9a78dc0a869eb.png">    </p:cNvPr>
          <p:cNvPicPr>
            <a:picLocks noChangeAspect="1"/>
          </p:cNvPicPr>
          <p:nvPr/>
        </p:nvPicPr>
        <p:blipFill>
          <a:blip r:embed="rId4">
            <a:alphaModFix amt="45000"/>
          </a:blip>
          <a:srcRect l="0" r="0" t="-2089" b="-2089"/>
          <a:stretch/>
        </p:blipFill>
        <p:spPr>
          <a:xfrm>
            <a:off x="6629400" y="7658100"/>
            <a:ext cx="9144" cy="2095805"/>
          </a:xfrm>
          <a:prstGeom prst="rect">
            <a:avLst/>
          </a:prstGeom>
        </p:spPr>
      </p:pic>
      <p:pic>
        <p:nvPicPr>
          <p:cNvPr id="9" name="Image 4" descr="gen-dedup-4b2c2edd980228e3c9d9a78dc0a869eb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rcRect l="0" r="0" t="-2089" b="-2089"/>
          <a:stretch/>
        </p:blipFill>
        <p:spPr>
          <a:xfrm>
            <a:off x="9105595" y="7658100"/>
            <a:ext cx="9144" cy="2095805"/>
          </a:xfrm>
          <a:prstGeom prst="rect">
            <a:avLst/>
          </a:prstGeom>
        </p:spPr>
      </p:pic>
      <p:pic>
        <p:nvPicPr>
          <p:cNvPr id="10" name="Image 5" descr="gen-dedup-4b2c2edd980228e3c9d9a78dc0a869eb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rcRect l="0" r="0" t="-2089" b="-2089"/>
          <a:stretch/>
        </p:blipFill>
        <p:spPr>
          <a:xfrm>
            <a:off x="14058900" y="7658100"/>
            <a:ext cx="9144" cy="2095805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914400" y="800100"/>
            <a:ext cx="11239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61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이것이 유명한 </a:t>
            </a:r>
            <a:pPr algn="l" indent="0" marL="0">
              <a:buNone/>
            </a:pPr>
            <a:r>
              <a:rPr lang="en-US" sz="4050" b="1" i="1" spc="-61" kern="0" dirty="0">
                <a:solidFill>
                  <a:srgbClr val="B23A1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‘holy grail’</a:t>
            </a:r>
            <a:pPr algn="l" indent="0" marL="0">
              <a:buNone/>
            </a:pPr>
            <a:r>
              <a:rPr lang="en-US" sz="4050" b="1" spc="-61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논문입니다.</a:t>
            </a:r>
            <a:endParaRPr lang="en-US" sz="4050" dirty="0"/>
          </a:p>
        </p:txBody>
      </p:sp>
      <p:sp>
        <p:nvSpPr>
          <p:cNvPr id="12" name="Text 4"/>
          <p:cNvSpPr txBox="1"/>
          <p:nvPr/>
        </p:nvSpPr>
        <p:spPr>
          <a:xfrm>
            <a:off x="914400" y="1402690"/>
            <a:ext cx="11239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61" kern="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핵심 수치:</a:t>
            </a:r>
            <a:endParaRPr lang="en-US" sz="4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19095"/>
          <a:ext cx="11239805" cy="4172407"/>
        </p:xfrm>
        <a:graphic>
          <a:graphicData uri="http://schemas.openxmlformats.org/drawingml/2006/table">
            <a:tbl>
              <a:tblPr/>
              <a:tblGrid>
                <a:gridCol w="3596335"/>
                <a:gridCol w="7642555"/>
              </a:tblGrid>
              <a:tr h="3477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B5A4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항목</a:t>
                      </a:r>
                      <a:endParaRPr lang="en-US" sz="975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B5A4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값</a:t>
                      </a:r>
                      <a:endParaRPr lang="en-US" sz="975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금속 피치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26 → 18 nm (2소재 실증)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선폭(CD)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9 nm, PVD Ru 30 nm → AR ≈ 3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전도 단면적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명목 270 nm² / 전기적 250 nm² / 물리적 257 nm²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EUV 비아 홀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최소 20 nm → 접촉면적 180 nm²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비아 저항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75895" marB="75895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9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40 Ω &lt; R &lt; 60 Ω (18–26 nm 피치 전 구간)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75895" marB="75895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9B7"/>
                    </a:solidFill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Ru 저항률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에칭 후 13–15 µΩ·cm, 420 °C 열처리 후 14–15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Ru가 Cu를 이기는 지점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전도 단면적 268 nm² 미만 (≈ CD 12 nm 미만)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정렬 허용도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의도적 오정렬 ±5 nm까지 비아 저항 유지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절연파괴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&gt;9 MV/cm @100 °C, 26 nm 피치에서 &gt;16 V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EM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10 MA/cm², 300 h 저항 변화 없음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57607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A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열저장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0" marR="133502" marT="57607" marB="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61210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200 °C, 120 h 저항·수율 손실 없음</a:t>
                      </a:r>
                      <a:endParaRPr lang="en-US" sz="1275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33502" marR="0" marT="57607" marB="0" anchor="ctr">
                    <a:lnL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5"/>
          <p:cNvSpPr txBox="1"/>
          <p:nvPr/>
        </p:nvSpPr>
        <p:spPr>
          <a:xfrm>
            <a:off x="12477902" y="3752698"/>
            <a:ext cx="5143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3A2F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semivision Substack — barrier-free BEOL interconnect 구조 (metal line·via·level, global/local interconnect).</a:t>
            </a:r>
            <a:endParaRPr lang="en-US" sz="975" dirty="0"/>
          </a:p>
        </p:txBody>
      </p:sp>
      <p:sp>
        <p:nvSpPr>
          <p:cNvPr id="15" name="Text 6"/>
          <p:cNvSpPr txBox="1"/>
          <p:nvPr/>
        </p:nvSpPr>
        <p:spPr>
          <a:xfrm>
            <a:off x="12477902" y="4114800"/>
            <a:ext cx="5143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“완전 자기정렬”은 두 번 정렬된다는 뜻입니다. 아래쪽은 Ru 선 위에 남은 SiN 캐핑 안에서 고선택비 가스에칭으로 비아를 뚫어 SiO</a:t>
            </a:r>
            <a:pPr algn="l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걡필을 건드리지 않고, 위쪽은 Ru 과에칭으로 상부 선 가장자에 맞춥니다. 20 nm 비아 홀이 9 nm 선에 내려앉으면서 스스로 180 nm²로 줌어드는 게 핵심입니다.</a:t>
            </a:r>
            <a:endParaRPr lang="en-US" sz="1200" dirty="0"/>
          </a:p>
        </p:txBody>
      </p:sp>
      <p:sp>
        <p:nvSpPr>
          <p:cNvPr id="16" name="Text 7"/>
          <p:cNvSpPr txBox="1"/>
          <p:nvPr/>
        </p:nvSpPr>
        <p:spPr>
          <a:xfrm>
            <a:off x="12477902" y="5182819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21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패터닝 조합은 Mx가 EUV+SADP, Mx+1과 비아가 EUV 단일 노광입니다. 상부 금속은 정전용량 증가를 상쇄하려고 에어갭과 조합합니다.</a:t>
            </a:r>
            <a:endParaRPr lang="en-US" sz="12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7467905"/>
            <a:ext cx="5524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88" kern="0" dirty="0">
                <a:solidFill>
                  <a:srgbClr val="D89B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· Super-via, 3-stack</a:t>
            </a:r>
            <a:endParaRPr lang="en-US" sz="900" dirty="0"/>
          </a:p>
        </p:txBody>
      </p:sp>
      <p:sp>
        <p:nvSpPr>
          <p:cNvPr id="18" name="Text 9"/>
          <p:cNvSpPr txBox="1"/>
          <p:nvPr/>
        </p:nvSpPr>
        <p:spPr>
          <a:xfrm>
            <a:off x="914400" y="7705649"/>
            <a:ext cx="6142939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1E9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3단 고종횡비 슈퍼비아 (Montero Alvarez, IITC 2022)</a:t>
            </a:r>
            <a:endParaRPr lang="en-US" sz="1650" dirty="0"/>
          </a:p>
        </p:txBody>
      </p:sp>
      <p:sp>
        <p:nvSpPr>
          <p:cNvPr id="19" name="Text 10"/>
          <p:cNvSpPr txBox="1"/>
          <p:nvPr/>
        </p:nvSpPr>
        <p:spPr>
          <a:xfrm>
            <a:off x="914400" y="8056778"/>
            <a:ext cx="55248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E2D6B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종횡비 7.7 · 높이 118.5 nm · 하단 CD 15.5 / 상단 CD 22.7 nm · TiO</a:t>
            </a:r>
            <a:pPr algn="l" indent="0" marL="0">
              <a:lnSpc>
                <a:spcPts val="1688"/>
              </a:lnSpc>
              <a:buNone/>
            </a:pPr>
            <a:r>
              <a:rPr lang="en-US" sz="938" dirty="0">
                <a:solidFill>
                  <a:srgbClr val="E2D6B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x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E2D6B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0.3 nm + CVD Ru 70 nm · M1 피치 36 nm · Kelvin 58 Ω (2단 66.3 Ω 대비 −13%) · 전기적 수율 &gt;95% · −50°C↔+125°C 1000사이클 500 h 후 저항 거의 불변.</a:t>
            </a:r>
            <a:endParaRPr lang="en-US" sz="1125" dirty="0"/>
          </a:p>
        </p:txBody>
      </p:sp>
      <p:sp>
        <p:nvSpPr>
          <p:cNvPr id="20" name="Text 11"/>
          <p:cNvSpPr txBox="1"/>
          <p:nvPr/>
        </p:nvSpPr>
        <p:spPr>
          <a:xfrm>
            <a:off x="6819595" y="9620402"/>
            <a:ext cx="249448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2D6B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ScienceDirect — air gap on PMSSQ.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9296705" y="7467905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88" kern="0" dirty="0">
                <a:solidFill>
                  <a:srgbClr val="D89B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 · Metrology, optical</a:t>
            </a:r>
            <a:endParaRPr lang="en-US" sz="900" dirty="0"/>
          </a:p>
        </p:txBody>
      </p:sp>
      <p:sp>
        <p:nvSpPr>
          <p:cNvPr id="22" name="Text 13"/>
          <p:cNvSpPr txBox="1"/>
          <p:nvPr/>
        </p:nvSpPr>
        <p:spPr>
          <a:xfrm>
            <a:off x="9296705" y="7705649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b="1" dirty="0">
                <a:solidFill>
                  <a:srgbClr val="F1E9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계측: 14 nm 하프피치를 광학으로 잃지 않고 잡기 (Das, SPIE 2021)</a:t>
            </a:r>
            <a:endParaRPr lang="en-US" sz="1650" dirty="0"/>
          </a:p>
        </p:txBody>
      </p:sp>
      <p:sp>
        <p:nvSpPr>
          <p:cNvPr id="23" name="Text 14"/>
          <p:cNvSpPr txBox="1"/>
          <p:nvPr/>
        </p:nvSpPr>
        <p:spPr>
          <a:xfrm>
            <a:off x="9296705" y="8311896"/>
            <a:ext cx="45720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E2D6B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P28·P30 피치, 산화막 도랑 60 nm, TiN 1.5 nm + Ru 충진 — ML로 풀고: LER R² = 0.85 / RMSE 0.03 nm · 메앤더 R² &gt; 0.93 · LER 1.6–2.0 nm · tip-to-tip 22–26 nm. iN5세대는 M2 32 / M1 42 nm에서 T2T CD &lt;1 nm 3σ, EPE ~5 nm 3σ.</a:t>
            </a:r>
            <a:endParaRPr lang="en-US" sz="1125" dirty="0"/>
          </a:p>
        </p:txBody>
      </p:sp>
      <p:sp>
        <p:nvSpPr>
          <p:cNvPr id="24" name="Text 15"/>
          <p:cNvSpPr txBox="1"/>
          <p:nvPr/>
        </p:nvSpPr>
        <p:spPr>
          <a:xfrm>
            <a:off x="14249095" y="74679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88" kern="0" dirty="0">
                <a:solidFill>
                  <a:srgbClr val="D89B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 · Reliability</a:t>
            </a:r>
            <a:endParaRPr lang="en-US" sz="900" dirty="0"/>
          </a:p>
        </p:txBody>
      </p:sp>
      <p:sp>
        <p:nvSpPr>
          <p:cNvPr id="25" name="Text 16"/>
          <p:cNvSpPr txBox="1"/>
          <p:nvPr/>
        </p:nvSpPr>
        <p:spPr>
          <a:xfrm>
            <a:off x="14249095" y="7724851"/>
            <a:ext cx="38103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100" b="1" i="1" dirty="0">
                <a:solidFill>
                  <a:srgbClr val="F1E9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단일 배선으로</a:t>
            </a:r>
            <a:pPr algn="l" indent="0" marL="0">
              <a:lnSpc>
                <a:spcPct val="122000"/>
              </a:lnSpc>
              <a:buNone/>
            </a:pPr>
            <a:endParaRPr lang="en-US" sz="2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100" b="1" i="1" dirty="0">
                <a:solidFill>
                  <a:srgbClr val="F1E9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잠금하던 기준이</a:t>
            </a:r>
            <a:pPr algn="l" indent="0" marL="0">
              <a:lnSpc>
                <a:spcPct val="122000"/>
              </a:lnSpc>
              <a:buNone/>
            </a:pPr>
            <a:endParaRPr lang="en-US" sz="2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2100" b="1" i="1" dirty="0">
                <a:solidFill>
                  <a:srgbClr val="F1E9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무너지는 중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2026-10-03T16:49:31Z</dcterms:created>
  <dcterms:modified xsi:type="dcterms:W3CDTF">2026-10-03T16:49:31Z</dcterms:modified>
</cp:coreProperties>
</file>