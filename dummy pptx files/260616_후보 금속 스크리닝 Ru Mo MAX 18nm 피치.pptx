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jpe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jpe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jpeg"/><Relationship Id="rId11" Type="http://schemas.openxmlformats.org/officeDocument/2006/relationships/image" Target="../media/image-3-11.jpeg"/><Relationship Id="rId12" Type="http://schemas.openxmlformats.org/officeDocument/2006/relationships/image" Target="../media/image-3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CE4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695" y="857707"/>
            <a:ext cx="133502" cy="133502"/>
          </a:xfrm>
          <a:prstGeom prst="rect">
            <a:avLst/>
          </a:prstGeom>
          <a:solidFill>
            <a:srgbClr val="B2562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gen-dedup-bf40da03e42b648fa691d149b66efa57.png">    </p:cNvPr>
          <p:cNvPicPr>
            <a:picLocks noChangeAspect="1"/>
          </p:cNvPicPr>
          <p:nvPr/>
        </p:nvPicPr>
        <p:blipFill>
          <a:blip r:embed="rId1"/>
          <a:srcRect l="-404" r="-404" t="0" b="0"/>
          <a:stretch/>
        </p:blipFill>
        <p:spPr>
          <a:xfrm>
            <a:off x="1047902" y="895198"/>
            <a:ext cx="571500" cy="28346"/>
          </a:xfrm>
          <a:prstGeom prst="rect">
            <a:avLst/>
          </a:prstGeom>
        </p:spPr>
      </p:pic>
      <p:pic>
        <p:nvPicPr>
          <p:cNvPr id="4" name="Image 1" descr="gen-dedup-3deb024ea6b48f4ad36d6588058664ab.png">    </p:cNvPr>
          <p:cNvPicPr>
            <a:picLocks noChangeAspect="1"/>
          </p:cNvPicPr>
          <p:nvPr/>
        </p:nvPicPr>
        <p:blipFill>
          <a:blip r:embed="rId2"/>
          <a:srcRect l="-538" r="-538" t="0" b="0"/>
          <a:stretch/>
        </p:blipFill>
        <p:spPr>
          <a:xfrm>
            <a:off x="1733702" y="895198"/>
            <a:ext cx="171907" cy="28346"/>
          </a:xfrm>
          <a:prstGeom prst="rect">
            <a:avLst/>
          </a:prstGeom>
        </p:spPr>
      </p:pic>
      <p:pic>
        <p:nvPicPr>
          <p:cNvPr id="5" name="Image 2" descr="gen-dedup-c9cae16c1d6daefc9dd0b22068be0e38.png">    </p:cNvPr>
          <p:cNvPicPr>
            <a:picLocks noChangeAspect="1"/>
          </p:cNvPicPr>
          <p:nvPr/>
        </p:nvPicPr>
        <p:blipFill>
          <a:blip r:embed="rId3"/>
          <a:srcRect l="-404" r="-404" t="0" b="0"/>
          <a:stretch/>
        </p:blipFill>
        <p:spPr>
          <a:xfrm>
            <a:off x="761695" y="7429500"/>
            <a:ext cx="457200" cy="28346"/>
          </a:xfrm>
          <a:prstGeom prst="rect">
            <a:avLst/>
          </a:prstGeom>
        </p:spPr>
      </p:pic>
      <p:pic>
        <p:nvPicPr>
          <p:cNvPr id="6" name="Image 3" descr="gen-dedup-7ccdd7ee1078d627939357855a0d1a36.png">    </p:cNvPr>
          <p:cNvPicPr>
            <a:picLocks noChangeAspect="1"/>
          </p:cNvPicPr>
          <p:nvPr/>
        </p:nvPicPr>
        <p:blipFill>
          <a:blip r:embed="rId4"/>
          <a:srcRect l="0" r="0" t="-420" b="-420"/>
          <a:stretch/>
        </p:blipFill>
        <p:spPr>
          <a:xfrm>
            <a:off x="761695" y="9620402"/>
            <a:ext cx="761695" cy="19202"/>
          </a:xfrm>
          <a:prstGeom prst="rect">
            <a:avLst/>
          </a:prstGeom>
        </p:spPr>
      </p:pic>
      <p:pic>
        <p:nvPicPr>
          <p:cNvPr id="7" name="Image 4" descr="gen-dedup-052591ecd492e8f23cfb8ac9d0e0a411.png">    </p:cNvPr>
          <p:cNvPicPr>
            <a:picLocks noChangeAspect="1"/>
          </p:cNvPicPr>
          <p:nvPr/>
        </p:nvPicPr>
        <p:blipFill>
          <a:blip r:embed="rId5"/>
          <a:srcRect l="-211" r="-211" t="0" b="0"/>
          <a:stretch/>
        </p:blipFill>
        <p:spPr>
          <a:xfrm>
            <a:off x="761695" y="9753905"/>
            <a:ext cx="1524305" cy="75895"/>
          </a:xfrm>
          <a:prstGeom prst="rect">
            <a:avLst/>
          </a:prstGeom>
        </p:spPr>
      </p:pic>
      <p:sp>
        <p:nvSpPr>
          <p:cNvPr id="8" name="Shape 1"/>
          <p:cNvSpPr/>
          <p:nvPr/>
        </p:nvSpPr>
        <p:spPr>
          <a:xfrm>
            <a:off x="10477195" y="1524305"/>
            <a:ext cx="7239305" cy="7239305"/>
          </a:xfrm>
          <a:prstGeom prst="rect">
            <a:avLst/>
          </a:prstGeom>
          <a:solidFill>
            <a:srgbClr val="1B223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5" descr="gen-dedup-55fa2195c381833dc5c9d6185c0af517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9900" y="1676095"/>
            <a:ext cx="6933895" cy="6933895"/>
          </a:xfrm>
          <a:prstGeom prst="rect">
            <a:avLst/>
          </a:prstGeom>
        </p:spPr>
      </p:pic>
      <p:pic>
        <p:nvPicPr>
          <p:cNvPr id="10" name="Image 6" descr="gen-dedup-be520d573207a3c1748ca4cab2cee2bd.png">    </p:cNvPr>
          <p:cNvPicPr>
            <a:picLocks noChangeAspect="1"/>
          </p:cNvPicPr>
          <p:nvPr/>
        </p:nvPicPr>
        <p:blipFill>
          <a:blip r:embed="rId7"/>
          <a:srcRect l="-445" r="-445" t="0" b="0"/>
          <a:stretch/>
        </p:blipFill>
        <p:spPr>
          <a:xfrm>
            <a:off x="10629900" y="1371600"/>
            <a:ext cx="381305" cy="28346"/>
          </a:xfrm>
          <a:prstGeom prst="rect">
            <a:avLst/>
          </a:prstGeom>
        </p:spPr>
      </p:pic>
      <p:pic>
        <p:nvPicPr>
          <p:cNvPr id="11" name="Image 7" descr="gen-dedup-c403d49b5bb115a6483b6e1ceda5f99e.png">    </p:cNvPr>
          <p:cNvPicPr>
            <a:picLocks noChangeAspect="1"/>
          </p:cNvPicPr>
          <p:nvPr/>
        </p:nvPicPr>
        <p:blipFill>
          <a:blip r:embed="rId8"/>
          <a:srcRect l="0" r="0" t="-201" b="-201"/>
          <a:stretch/>
        </p:blipFill>
        <p:spPr>
          <a:xfrm>
            <a:off x="17678095" y="9353398"/>
            <a:ext cx="75895" cy="571500"/>
          </a:xfrm>
          <a:prstGeom prst="rect">
            <a:avLst/>
          </a:prstGeom>
        </p:spPr>
      </p:pic>
      <p:sp>
        <p:nvSpPr>
          <p:cNvPr id="12" name="Shape 2"/>
          <p:cNvSpPr/>
          <p:nvPr/>
        </p:nvSpPr>
        <p:spPr>
          <a:xfrm>
            <a:off x="17373600" y="9620402"/>
            <a:ext cx="228600" cy="75895"/>
          </a:xfrm>
          <a:prstGeom prst="rect">
            <a:avLst/>
          </a:prstGeom>
          <a:solidFill>
            <a:srgbClr val="5C6E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3"/>
          <p:cNvSpPr txBox="1"/>
          <p:nvPr/>
        </p:nvSpPr>
        <p:spPr>
          <a:xfrm>
            <a:off x="761695" y="2857500"/>
            <a:ext cx="9335110" cy="2915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800" b="1" spc="-195" kern="0" dirty="0">
                <a:solidFill>
                  <a:srgbClr val="1B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스크리닝</a:t>
            </a:r>
            <a:pPr algn="l" indent="0" marL="0">
              <a:lnSpc>
                <a:spcPct val="98000"/>
              </a:lnSpc>
              <a:buNone/>
            </a:pPr>
            <a:endParaRPr lang="en-US" sz="78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7800" b="1" spc="-195" kern="0" dirty="0">
                <a:solidFill>
                  <a:srgbClr val="1B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지표로 본</a:t>
            </a:r>
            <a:pPr algn="l" indent="0" marL="0">
              <a:lnSpc>
                <a:spcPct val="98000"/>
              </a:lnSpc>
              <a:buNone/>
            </a:pPr>
            <a:endParaRPr lang="en-US" sz="78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7800" b="1" spc="-195" kern="0" dirty="0">
                <a:solidFill>
                  <a:srgbClr val="1B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후보군</a:t>
            </a:r>
            <a:endParaRPr lang="en-US" sz="7800" dirty="0"/>
          </a:p>
        </p:txBody>
      </p:sp>
      <p:sp>
        <p:nvSpPr>
          <p:cNvPr id="14" name="Text 4"/>
          <p:cNvSpPr txBox="1"/>
          <p:nvPr/>
        </p:nvSpPr>
        <p:spPr>
          <a:xfrm>
            <a:off x="761695" y="7619695"/>
            <a:ext cx="933511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50" dirty="0">
                <a:solidFill>
                  <a:srgbClr val="3D46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MAX 상이 계산상 가장 낮지만 아직 증착·에칭 실증이 없습니다. 실제로 300 mm 웨이퍼에서 돌아간 건 Ru, Mo, 그리고 Al 기반 금속간화합물뿐입니다.</a:t>
            </a:r>
            <a:endParaRPr lang="en-US" sz="1950" dirty="0"/>
          </a:p>
        </p:txBody>
      </p:sp>
      <p:sp>
        <p:nvSpPr>
          <p:cNvPr id="15" name="Text 5"/>
          <p:cNvSpPr txBox="1"/>
          <p:nvPr/>
        </p:nvSpPr>
        <p:spPr>
          <a:xfrm>
            <a:off x="10763402" y="8762695"/>
            <a:ext cx="6858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FAF5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 — viksnewsletter.com · Ru interconnect optical image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E4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695" y="761695"/>
            <a:ext cx="133502" cy="133502"/>
          </a:xfrm>
          <a:prstGeom prst="rect">
            <a:avLst/>
          </a:prstGeom>
          <a:solidFill>
            <a:srgbClr val="B2562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gen-dedup-bf40da03e42b648fa691d149b66efa57.png">    </p:cNvPr>
          <p:cNvPicPr>
            <a:picLocks noChangeAspect="1"/>
          </p:cNvPicPr>
          <p:nvPr/>
        </p:nvPicPr>
        <p:blipFill>
          <a:blip r:embed="rId1"/>
          <a:srcRect l="-404" r="-404" t="0" b="0"/>
          <a:stretch/>
        </p:blipFill>
        <p:spPr>
          <a:xfrm>
            <a:off x="1028700" y="800100"/>
            <a:ext cx="571500" cy="28346"/>
          </a:xfrm>
          <a:prstGeom prst="rect">
            <a:avLst/>
          </a:prstGeom>
        </p:spPr>
      </p:pic>
      <p:pic>
        <p:nvPicPr>
          <p:cNvPr id="4" name="Image 1" descr="gen-dedup-3deb024ea6b48f4ad36d6588058664ab.png">    </p:cNvPr>
          <p:cNvPicPr>
            <a:picLocks noChangeAspect="1"/>
          </p:cNvPicPr>
          <p:nvPr/>
        </p:nvPicPr>
        <p:blipFill>
          <a:blip r:embed="rId2"/>
          <a:srcRect l="-538" r="-538" t="0" b="0"/>
          <a:stretch/>
        </p:blipFill>
        <p:spPr>
          <a:xfrm>
            <a:off x="1695298" y="800100"/>
            <a:ext cx="171907" cy="28346"/>
          </a:xfrm>
          <a:prstGeom prst="rect">
            <a:avLst/>
          </a:prstGeom>
        </p:spPr>
      </p:pic>
      <p:pic>
        <p:nvPicPr>
          <p:cNvPr id="5" name="Image 2" descr="gen-dedup-c970ba08e93aae791d67cf306638337f.png">    </p:cNvPr>
          <p:cNvPicPr>
            <a:picLocks noChangeAspect="1"/>
          </p:cNvPicPr>
          <p:nvPr/>
        </p:nvPicPr>
        <p:blipFill>
          <a:blip r:embed="rId3"/>
          <a:srcRect l="-385" r="-385" t="0" b="0"/>
          <a:stretch/>
        </p:blipFill>
        <p:spPr>
          <a:xfrm>
            <a:off x="761695" y="2266798"/>
            <a:ext cx="761695" cy="28346"/>
          </a:xfrm>
          <a:prstGeom prst="rect">
            <a:avLst/>
          </a:prstGeom>
        </p:spPr>
      </p:pic>
      <p:pic>
        <p:nvPicPr>
          <p:cNvPr id="6" name="Image 3" descr="gen-dedup-db9ce3cc0b8b89e6cf1825dc99eea350.png">    </p:cNvPr>
          <p:cNvPicPr>
            <a:picLocks noChangeAspect="1"/>
          </p:cNvPicPr>
          <p:nvPr/>
        </p:nvPicPr>
        <p:blipFill>
          <a:blip r:embed="rId4"/>
          <a:srcRect l="0" r="0" t="-360" b="-360"/>
          <a:stretch/>
        </p:blipFill>
        <p:spPr>
          <a:xfrm>
            <a:off x="1638605" y="2286000"/>
            <a:ext cx="381305" cy="19202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571500" y="2667305"/>
            <a:ext cx="7239305" cy="4572000"/>
          </a:xfrm>
          <a:prstGeom prst="rect">
            <a:avLst/>
          </a:prstGeom>
          <a:solidFill>
            <a:srgbClr val="1B223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2"/>
          <p:cNvSpPr/>
          <p:nvPr/>
        </p:nvSpPr>
        <p:spPr>
          <a:xfrm>
            <a:off x="8382305" y="2667305"/>
            <a:ext cx="9334195" cy="7239305"/>
          </a:xfrm>
          <a:prstGeom prst="rect">
            <a:avLst/>
          </a:prstGeom>
          <a:solidFill>
            <a:srgbClr val="FAF5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4" descr="gen-dedup-c4901859e763541eb9437640a43230f8.png">    </p:cNvPr>
          <p:cNvPicPr>
            <a:picLocks noChangeAspect="1"/>
          </p:cNvPicPr>
          <p:nvPr/>
        </p:nvPicPr>
        <p:blipFill>
          <a:blip r:embed="rId5"/>
          <a:srcRect l="0" r="0" t="-400" b="-400"/>
          <a:stretch/>
        </p:blipFill>
        <p:spPr>
          <a:xfrm>
            <a:off x="761695" y="10058400"/>
            <a:ext cx="571500" cy="19202"/>
          </a:xfrm>
          <a:prstGeom prst="rect">
            <a:avLst/>
          </a:prstGeom>
        </p:spPr>
      </p:pic>
      <p:pic>
        <p:nvPicPr>
          <p:cNvPr id="10" name="Image 5" descr="gen-dedup-9a2fabc9f12c214db1dae81d3473e835.png">    </p:cNvPr>
          <p:cNvPicPr>
            <a:picLocks noChangeAspect="1"/>
          </p:cNvPicPr>
          <p:nvPr/>
        </p:nvPicPr>
        <p:blipFill>
          <a:blip r:embed="rId6"/>
          <a:srcRect l="0" r="0" t="-481" b="-481"/>
          <a:stretch/>
        </p:blipFill>
        <p:spPr>
          <a:xfrm>
            <a:off x="1524305" y="10058400"/>
            <a:ext cx="190195" cy="19202"/>
          </a:xfrm>
          <a:prstGeom prst="rect">
            <a:avLst/>
          </a:prstGeom>
        </p:spPr>
      </p:pic>
      <p:pic>
        <p:nvPicPr>
          <p:cNvPr id="11" name="Image 6" descr="gen-dedup-8a8a2a577eea7938b2191b032cf9b6bf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781605"/>
            <a:ext cx="7010705" cy="4343400"/>
          </a:xfrm>
          <a:prstGeom prst="rect">
            <a:avLst/>
          </a:prstGeom>
        </p:spPr>
      </p:pic>
      <p:sp>
        <p:nvSpPr>
          <p:cNvPr id="12" name="Shape 3"/>
          <p:cNvSpPr/>
          <p:nvPr/>
        </p:nvSpPr>
        <p:spPr>
          <a:xfrm>
            <a:off x="8382305" y="2667305"/>
            <a:ext cx="9334195" cy="761695"/>
          </a:xfrm>
          <a:prstGeom prst="rect">
            <a:avLst/>
          </a:prstGeom>
          <a:solidFill>
            <a:srgbClr val="1B223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4"/>
          <p:cNvSpPr/>
          <p:nvPr/>
        </p:nvSpPr>
        <p:spPr>
          <a:xfrm>
            <a:off x="8382305" y="3448202"/>
            <a:ext cx="9334195" cy="571500"/>
          </a:xfrm>
          <a:prstGeom prst="rect">
            <a:avLst/>
          </a:prstGeom>
          <a:solidFill>
            <a:srgbClr val="EFE6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5"/>
          <p:cNvSpPr/>
          <p:nvPr/>
        </p:nvSpPr>
        <p:spPr>
          <a:xfrm>
            <a:off x="8382305" y="4019702"/>
            <a:ext cx="9334195" cy="571500"/>
          </a:xfrm>
          <a:prstGeom prst="rect">
            <a:avLst/>
          </a:prstGeom>
          <a:solidFill>
            <a:srgbClr val="FAF5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6"/>
          <p:cNvSpPr/>
          <p:nvPr/>
        </p:nvSpPr>
        <p:spPr>
          <a:xfrm>
            <a:off x="8382305" y="4591202"/>
            <a:ext cx="9334195" cy="571500"/>
          </a:xfrm>
          <a:prstGeom prst="rect">
            <a:avLst/>
          </a:prstGeom>
          <a:solidFill>
            <a:srgbClr val="EFE6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7"/>
          <p:cNvSpPr/>
          <p:nvPr/>
        </p:nvSpPr>
        <p:spPr>
          <a:xfrm>
            <a:off x="8382305" y="5162702"/>
            <a:ext cx="9334195" cy="571500"/>
          </a:xfrm>
          <a:prstGeom prst="rect">
            <a:avLst/>
          </a:prstGeom>
          <a:solidFill>
            <a:srgbClr val="FAF5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8"/>
          <p:cNvSpPr/>
          <p:nvPr/>
        </p:nvSpPr>
        <p:spPr>
          <a:xfrm>
            <a:off x="8382305" y="5734202"/>
            <a:ext cx="9334195" cy="571500"/>
          </a:xfrm>
          <a:prstGeom prst="rect">
            <a:avLst/>
          </a:prstGeom>
          <a:solidFill>
            <a:srgbClr val="EFE6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9"/>
          <p:cNvSpPr/>
          <p:nvPr/>
        </p:nvSpPr>
        <p:spPr>
          <a:xfrm>
            <a:off x="8382305" y="6305702"/>
            <a:ext cx="9334195" cy="571500"/>
          </a:xfrm>
          <a:prstGeom prst="rect">
            <a:avLst/>
          </a:prstGeom>
          <a:solidFill>
            <a:srgbClr val="FAF5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0"/>
          <p:cNvSpPr/>
          <p:nvPr/>
        </p:nvSpPr>
        <p:spPr>
          <a:xfrm>
            <a:off x="8382305" y="6877202"/>
            <a:ext cx="9334195" cy="571500"/>
          </a:xfrm>
          <a:prstGeom prst="rect">
            <a:avLst/>
          </a:prstGeom>
          <a:solidFill>
            <a:srgbClr val="EFE6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1"/>
          <p:cNvSpPr/>
          <p:nvPr/>
        </p:nvSpPr>
        <p:spPr>
          <a:xfrm>
            <a:off x="8382305" y="7448702"/>
            <a:ext cx="9334195" cy="571500"/>
          </a:xfrm>
          <a:prstGeom prst="rect">
            <a:avLst/>
          </a:prstGeom>
          <a:solidFill>
            <a:srgbClr val="FAF5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2"/>
          <p:cNvSpPr/>
          <p:nvPr/>
        </p:nvSpPr>
        <p:spPr>
          <a:xfrm>
            <a:off x="8382305" y="8020202"/>
            <a:ext cx="9334195" cy="571500"/>
          </a:xfrm>
          <a:prstGeom prst="rect">
            <a:avLst/>
          </a:prstGeom>
          <a:solidFill>
            <a:srgbClr val="EFE6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3"/>
          <p:cNvSpPr/>
          <p:nvPr/>
        </p:nvSpPr>
        <p:spPr>
          <a:xfrm>
            <a:off x="8382305" y="8591702"/>
            <a:ext cx="9334195" cy="571500"/>
          </a:xfrm>
          <a:prstGeom prst="rect">
            <a:avLst/>
          </a:prstGeom>
          <a:solidFill>
            <a:srgbClr val="FAF5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4"/>
          <p:cNvSpPr/>
          <p:nvPr/>
        </p:nvSpPr>
        <p:spPr>
          <a:xfrm>
            <a:off x="8382305" y="9163202"/>
            <a:ext cx="9334195" cy="571500"/>
          </a:xfrm>
          <a:prstGeom prst="rect">
            <a:avLst/>
          </a:prstGeom>
          <a:solidFill>
            <a:srgbClr val="EFE6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7" descr="gen-dedup-2be56d174b8722fe80a10695ea035048.png">    </p:cNvPr>
          <p:cNvPicPr>
            <a:picLocks noChangeAspect="1"/>
          </p:cNvPicPr>
          <p:nvPr/>
        </p:nvPicPr>
        <p:blipFill>
          <a:blip r:embed="rId8"/>
          <a:srcRect l="0" r="0" t="-402" b="-402"/>
          <a:stretch/>
        </p:blipFill>
        <p:spPr>
          <a:xfrm>
            <a:off x="8382305" y="3429000"/>
            <a:ext cx="9334195" cy="19202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761695" y="1143000"/>
            <a:ext cx="7239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spc="132" kern="0" dirty="0">
                <a:solidFill>
                  <a:srgbClr val="5C6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MURDOCH · VLSI 2022</a:t>
            </a:r>
            <a:endParaRPr lang="en-US" sz="1650" dirty="0"/>
          </a:p>
        </p:txBody>
      </p:sp>
      <p:sp>
        <p:nvSpPr>
          <p:cNvPr id="26" name="Text 16"/>
          <p:cNvSpPr txBox="1"/>
          <p:nvPr/>
        </p:nvSpPr>
        <p:spPr>
          <a:xfrm>
            <a:off x="761695" y="1524305"/>
            <a:ext cx="1676461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750" b="1" spc="-75" kern="0" dirty="0">
                <a:solidFill>
                  <a:srgbClr val="1B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 nm 피치 2소재 완전 자기정렬 비아</a:t>
            </a:r>
            <a:endParaRPr lang="en-US" sz="3750" dirty="0"/>
          </a:p>
        </p:txBody>
      </p:sp>
      <p:sp>
        <p:nvSpPr>
          <p:cNvPr id="27" name="Text 17"/>
          <p:cNvSpPr txBox="1"/>
          <p:nvPr/>
        </p:nvSpPr>
        <p:spPr>
          <a:xfrm>
            <a:off x="571500" y="7334402"/>
            <a:ext cx="740115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i="1" dirty="0">
                <a:solidFill>
                  <a:srgbClr val="3D46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 — semiconductor-digest.com · Intel 4 interconnect cross-section (M0–M15 stack)</a:t>
            </a:r>
            <a:endParaRPr lang="en-US" sz="1125" dirty="0"/>
          </a:p>
        </p:txBody>
      </p:sp>
      <p:sp>
        <p:nvSpPr>
          <p:cNvPr id="28" name="Text 18"/>
          <p:cNvSpPr txBox="1"/>
          <p:nvPr/>
        </p:nvSpPr>
        <p:spPr>
          <a:xfrm>
            <a:off x="571500" y="7810805"/>
            <a:ext cx="72393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B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이것이 유명한 "holy grail" 논문입니다. 핵심 수치:</a:t>
            </a:r>
            <a:endParaRPr lang="en-US" sz="1650" dirty="0"/>
          </a:p>
        </p:txBody>
      </p:sp>
      <p:sp>
        <p:nvSpPr>
          <p:cNvPr id="29" name="Text 19"/>
          <p:cNvSpPr txBox="1"/>
          <p:nvPr/>
        </p:nvSpPr>
        <p:spPr>
          <a:xfrm>
            <a:off x="571500" y="8287207"/>
            <a:ext cx="7239305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D46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"완전 자기정렬"은 두 번 정렬된다는 뜻입니다. 아래쪽은 Ru 선 위에 남은 SiN 캐핑 안에서 고선택비 가스에칭으로 비아를 뚫어 SiO₂ 캐필을 건드리지 않고, 위쪽은 Ru 과에칭으로 상부 선 가장자에 맞춥니다. 20 nm 비아 홀이 9 nm 선에 내려앉으면서 스스로 180 nm²로 줌어드는 게 핵심입니다. 패터닝 조합은 Mx가 EUV+SADP, Mx+1과 비아가 EUV 단일 노광입니다. 상부 금속은 정전용량 증가를 상쇄하려고 에어갭과 조합합니다.</a:t>
            </a:r>
            <a:endParaRPr lang="en-US" sz="1350" dirty="0"/>
          </a:p>
        </p:txBody>
      </p:sp>
      <p:sp>
        <p:nvSpPr>
          <p:cNvPr id="30" name="Text 20"/>
          <p:cNvSpPr txBox="1"/>
          <p:nvPr/>
        </p:nvSpPr>
        <p:spPr>
          <a:xfrm>
            <a:off x="8610905" y="2933395"/>
            <a:ext cx="2667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CE4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항목</a:t>
            </a:r>
            <a:endParaRPr lang="en-US" sz="1800" dirty="0"/>
          </a:p>
        </p:txBody>
      </p:sp>
      <p:sp>
        <p:nvSpPr>
          <p:cNvPr id="31" name="Text 21"/>
          <p:cNvSpPr txBox="1"/>
          <p:nvPr/>
        </p:nvSpPr>
        <p:spPr>
          <a:xfrm>
            <a:off x="11430000" y="2933395"/>
            <a:ext cx="5906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CE4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값</a:t>
            </a:r>
            <a:endParaRPr lang="en-US" sz="1800" dirty="0"/>
          </a:p>
        </p:txBody>
      </p:sp>
      <p:sp>
        <p:nvSpPr>
          <p:cNvPr id="32" name="Text 22"/>
          <p:cNvSpPr txBox="1"/>
          <p:nvPr/>
        </p:nvSpPr>
        <p:spPr>
          <a:xfrm>
            <a:off x="8610905" y="3638398"/>
            <a:ext cx="2667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B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금속 피치</a:t>
            </a:r>
            <a:endParaRPr lang="en-US" sz="1650" dirty="0"/>
          </a:p>
        </p:txBody>
      </p:sp>
      <p:sp>
        <p:nvSpPr>
          <p:cNvPr id="33" name="Text 23"/>
          <p:cNvSpPr txBox="1"/>
          <p:nvPr/>
        </p:nvSpPr>
        <p:spPr>
          <a:xfrm>
            <a:off x="11430000" y="3638398"/>
            <a:ext cx="5906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B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26 → 18 nm (2소재 실증)</a:t>
            </a:r>
            <a:endParaRPr lang="en-US" sz="1650" dirty="0"/>
          </a:p>
        </p:txBody>
      </p:sp>
      <p:sp>
        <p:nvSpPr>
          <p:cNvPr id="34" name="Text 24"/>
          <p:cNvSpPr txBox="1"/>
          <p:nvPr/>
        </p:nvSpPr>
        <p:spPr>
          <a:xfrm>
            <a:off x="8610905" y="4209898"/>
            <a:ext cx="2667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B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선폭(CD)</a:t>
            </a:r>
            <a:endParaRPr lang="en-US" sz="1650" dirty="0"/>
          </a:p>
        </p:txBody>
      </p:sp>
      <p:sp>
        <p:nvSpPr>
          <p:cNvPr id="35" name="Text 25"/>
          <p:cNvSpPr txBox="1"/>
          <p:nvPr/>
        </p:nvSpPr>
        <p:spPr>
          <a:xfrm>
            <a:off x="11430000" y="4209898"/>
            <a:ext cx="5906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B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 nm, PVD Ru 30 nm → AR ≈ 3</a:t>
            </a:r>
            <a:endParaRPr lang="en-US" sz="1650" dirty="0"/>
          </a:p>
        </p:txBody>
      </p:sp>
      <p:sp>
        <p:nvSpPr>
          <p:cNvPr id="36" name="Text 26"/>
          <p:cNvSpPr txBox="1"/>
          <p:nvPr/>
        </p:nvSpPr>
        <p:spPr>
          <a:xfrm>
            <a:off x="8610905" y="4781398"/>
            <a:ext cx="2667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B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전도 단면적</a:t>
            </a:r>
            <a:endParaRPr lang="en-US" sz="1650" dirty="0"/>
          </a:p>
        </p:txBody>
      </p:sp>
      <p:sp>
        <p:nvSpPr>
          <p:cNvPr id="37" name="Text 27"/>
          <p:cNvSpPr txBox="1"/>
          <p:nvPr/>
        </p:nvSpPr>
        <p:spPr>
          <a:xfrm>
            <a:off x="11430000" y="4781398"/>
            <a:ext cx="5906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B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명목 270 nm² / 전기적 250 nm² / 물리적 257 nm²</a:t>
            </a:r>
            <a:endParaRPr lang="en-US" sz="1650" dirty="0"/>
          </a:p>
        </p:txBody>
      </p:sp>
      <p:sp>
        <p:nvSpPr>
          <p:cNvPr id="38" name="Text 28"/>
          <p:cNvSpPr txBox="1"/>
          <p:nvPr/>
        </p:nvSpPr>
        <p:spPr>
          <a:xfrm>
            <a:off x="8610905" y="5352898"/>
            <a:ext cx="2667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B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EUV 비아 홀</a:t>
            </a:r>
            <a:endParaRPr lang="en-US" sz="1650" dirty="0"/>
          </a:p>
        </p:txBody>
      </p:sp>
      <p:sp>
        <p:nvSpPr>
          <p:cNvPr id="39" name="Text 29"/>
          <p:cNvSpPr txBox="1"/>
          <p:nvPr/>
        </p:nvSpPr>
        <p:spPr>
          <a:xfrm>
            <a:off x="11430000" y="5352898"/>
            <a:ext cx="5906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B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최소 20 nm → 접촉면적 180 nm²</a:t>
            </a:r>
            <a:endParaRPr lang="en-US" sz="1650" dirty="0"/>
          </a:p>
        </p:txBody>
      </p:sp>
      <p:sp>
        <p:nvSpPr>
          <p:cNvPr id="40" name="Text 30"/>
          <p:cNvSpPr txBox="1"/>
          <p:nvPr/>
        </p:nvSpPr>
        <p:spPr>
          <a:xfrm>
            <a:off x="8610905" y="5924398"/>
            <a:ext cx="2667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B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비아 저항</a:t>
            </a:r>
            <a:endParaRPr lang="en-US" sz="1650" dirty="0"/>
          </a:p>
        </p:txBody>
      </p:sp>
      <p:sp>
        <p:nvSpPr>
          <p:cNvPr id="41" name="Text 31"/>
          <p:cNvSpPr txBox="1"/>
          <p:nvPr/>
        </p:nvSpPr>
        <p:spPr>
          <a:xfrm>
            <a:off x="11430000" y="5924398"/>
            <a:ext cx="5906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B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 Ω &lt; R &lt; 60 Ω (18–26 nm 피치 전 구간)</a:t>
            </a:r>
            <a:endParaRPr lang="en-US" sz="1650" dirty="0"/>
          </a:p>
        </p:txBody>
      </p:sp>
      <p:sp>
        <p:nvSpPr>
          <p:cNvPr id="42" name="Text 32"/>
          <p:cNvSpPr txBox="1"/>
          <p:nvPr/>
        </p:nvSpPr>
        <p:spPr>
          <a:xfrm>
            <a:off x="8610905" y="6495898"/>
            <a:ext cx="2667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B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 저항률</a:t>
            </a:r>
            <a:endParaRPr lang="en-US" sz="1650" dirty="0"/>
          </a:p>
        </p:txBody>
      </p:sp>
      <p:sp>
        <p:nvSpPr>
          <p:cNvPr id="43" name="Text 33"/>
          <p:cNvSpPr txBox="1"/>
          <p:nvPr/>
        </p:nvSpPr>
        <p:spPr>
          <a:xfrm>
            <a:off x="11430000" y="6495898"/>
            <a:ext cx="5906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B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에칭 후 13–15 µΩ·cm, 420 °C 열처리 후 14–15</a:t>
            </a:r>
            <a:endParaRPr lang="en-US" sz="1650" dirty="0"/>
          </a:p>
        </p:txBody>
      </p:sp>
      <p:sp>
        <p:nvSpPr>
          <p:cNvPr id="44" name="Text 34"/>
          <p:cNvSpPr txBox="1"/>
          <p:nvPr/>
        </p:nvSpPr>
        <p:spPr>
          <a:xfrm>
            <a:off x="8610905" y="7067398"/>
            <a:ext cx="2667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B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Ru가 Cu를 이기는 지점</a:t>
            </a:r>
            <a:endParaRPr lang="en-US" sz="1650" dirty="0"/>
          </a:p>
        </p:txBody>
      </p:sp>
      <p:sp>
        <p:nvSpPr>
          <p:cNvPr id="45" name="Text 35"/>
          <p:cNvSpPr txBox="1"/>
          <p:nvPr/>
        </p:nvSpPr>
        <p:spPr>
          <a:xfrm>
            <a:off x="11430000" y="7067398"/>
            <a:ext cx="5906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B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전도 단면적 268 nm² 미만 (≈ CD 12 nm 미만)</a:t>
            </a:r>
            <a:endParaRPr lang="en-US" sz="1650" dirty="0"/>
          </a:p>
        </p:txBody>
      </p:sp>
      <p:sp>
        <p:nvSpPr>
          <p:cNvPr id="46" name="Text 36"/>
          <p:cNvSpPr txBox="1"/>
          <p:nvPr/>
        </p:nvSpPr>
        <p:spPr>
          <a:xfrm>
            <a:off x="8610905" y="7638898"/>
            <a:ext cx="2667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B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정렬 허용도</a:t>
            </a:r>
            <a:endParaRPr lang="en-US" sz="1650" dirty="0"/>
          </a:p>
        </p:txBody>
      </p:sp>
      <p:sp>
        <p:nvSpPr>
          <p:cNvPr id="47" name="Text 37"/>
          <p:cNvSpPr txBox="1"/>
          <p:nvPr/>
        </p:nvSpPr>
        <p:spPr>
          <a:xfrm>
            <a:off x="11430000" y="7638898"/>
            <a:ext cx="5906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B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의도적 오정렬 ±5 nm까지 비아 저항 유지</a:t>
            </a:r>
            <a:endParaRPr lang="en-US" sz="1650" dirty="0"/>
          </a:p>
        </p:txBody>
      </p:sp>
      <p:sp>
        <p:nvSpPr>
          <p:cNvPr id="48" name="Text 38"/>
          <p:cNvSpPr txBox="1"/>
          <p:nvPr/>
        </p:nvSpPr>
        <p:spPr>
          <a:xfrm>
            <a:off x="8610905" y="8210398"/>
            <a:ext cx="2667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B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절연파괴</a:t>
            </a:r>
            <a:endParaRPr lang="en-US" sz="1650" dirty="0"/>
          </a:p>
        </p:txBody>
      </p:sp>
      <p:sp>
        <p:nvSpPr>
          <p:cNvPr id="49" name="Text 39"/>
          <p:cNvSpPr txBox="1"/>
          <p:nvPr/>
        </p:nvSpPr>
        <p:spPr>
          <a:xfrm>
            <a:off x="11430000" y="8210398"/>
            <a:ext cx="5906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B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&gt;9 MV/cm @100 °C, 26 nm 피치에서 &gt;16 V</a:t>
            </a:r>
            <a:endParaRPr lang="en-US" sz="1650" dirty="0"/>
          </a:p>
        </p:txBody>
      </p:sp>
      <p:sp>
        <p:nvSpPr>
          <p:cNvPr id="50" name="Text 40"/>
          <p:cNvSpPr txBox="1"/>
          <p:nvPr/>
        </p:nvSpPr>
        <p:spPr>
          <a:xfrm>
            <a:off x="8610905" y="8781898"/>
            <a:ext cx="2667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B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EM</a:t>
            </a:r>
            <a:endParaRPr lang="en-US" sz="1650" dirty="0"/>
          </a:p>
        </p:txBody>
      </p:sp>
      <p:sp>
        <p:nvSpPr>
          <p:cNvPr id="51" name="Text 41"/>
          <p:cNvSpPr txBox="1"/>
          <p:nvPr/>
        </p:nvSpPr>
        <p:spPr>
          <a:xfrm>
            <a:off x="11430000" y="8781898"/>
            <a:ext cx="5906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B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 MA/cm², 300 h 저항 변화 없음</a:t>
            </a:r>
            <a:endParaRPr lang="en-US" sz="1650" dirty="0"/>
          </a:p>
        </p:txBody>
      </p:sp>
      <p:sp>
        <p:nvSpPr>
          <p:cNvPr id="52" name="Text 42"/>
          <p:cNvSpPr txBox="1"/>
          <p:nvPr/>
        </p:nvSpPr>
        <p:spPr>
          <a:xfrm>
            <a:off x="8610905" y="9353398"/>
            <a:ext cx="2667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B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열저장</a:t>
            </a:r>
            <a:endParaRPr lang="en-US" sz="1650" dirty="0"/>
          </a:p>
        </p:txBody>
      </p:sp>
      <p:sp>
        <p:nvSpPr>
          <p:cNvPr id="53" name="Text 43"/>
          <p:cNvSpPr txBox="1"/>
          <p:nvPr/>
        </p:nvSpPr>
        <p:spPr>
          <a:xfrm>
            <a:off x="11430000" y="9353398"/>
            <a:ext cx="5906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B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 °C, 120 h 저항·수율 손실 없음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E4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deb024ea6b48f4ad36d6588058664ab.png">    </p:cNvPr>
          <p:cNvPicPr>
            <a:picLocks noChangeAspect="1"/>
          </p:cNvPicPr>
          <p:nvPr/>
        </p:nvPicPr>
        <p:blipFill>
          <a:blip r:embed="rId1"/>
          <a:srcRect l="-538" r="-538" t="0" b="0"/>
          <a:stretch/>
        </p:blipFill>
        <p:spPr>
          <a:xfrm>
            <a:off x="17335195" y="800100"/>
            <a:ext cx="171907" cy="2834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621402" y="761695"/>
            <a:ext cx="133502" cy="133502"/>
          </a:xfrm>
          <a:prstGeom prst="rect">
            <a:avLst/>
          </a:prstGeom>
          <a:solidFill>
            <a:srgbClr val="B2562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0de5f566ee84bfdbf1b20b2ac89cefce.png">    </p:cNvPr>
          <p:cNvPicPr>
            <a:picLocks noChangeAspect="1"/>
          </p:cNvPicPr>
          <p:nvPr/>
        </p:nvPicPr>
        <p:blipFill>
          <a:blip r:embed="rId2"/>
          <a:srcRect l="-404" r="-404" t="0" b="0"/>
          <a:stretch/>
        </p:blipFill>
        <p:spPr>
          <a:xfrm>
            <a:off x="761695" y="2018995"/>
            <a:ext cx="1143000" cy="28346"/>
          </a:xfrm>
          <a:prstGeom prst="rect">
            <a:avLst/>
          </a:prstGeom>
        </p:spPr>
      </p:pic>
      <p:pic>
        <p:nvPicPr>
          <p:cNvPr id="5" name="Image 2" descr="gen-dedup-db9ce3cc0b8b89e6cf1825dc99eea350.png">    </p:cNvPr>
          <p:cNvPicPr>
            <a:picLocks noChangeAspect="1"/>
          </p:cNvPicPr>
          <p:nvPr/>
        </p:nvPicPr>
        <p:blipFill>
          <a:blip r:embed="rId3"/>
          <a:srcRect l="0" r="0" t="-360" b="-360"/>
          <a:stretch/>
        </p:blipFill>
        <p:spPr>
          <a:xfrm>
            <a:off x="2095805" y="2038198"/>
            <a:ext cx="381305" cy="19202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571500" y="2476195"/>
            <a:ext cx="7429500" cy="7619695"/>
          </a:xfrm>
          <a:prstGeom prst="rect">
            <a:avLst/>
          </a:prstGeom>
          <a:solidFill>
            <a:srgbClr val="FAF5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8287207" y="2476195"/>
            <a:ext cx="9430207" cy="2476195"/>
          </a:xfrm>
          <a:prstGeom prst="rect">
            <a:avLst/>
          </a:prstGeom>
          <a:solidFill>
            <a:srgbClr val="FAF5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8287207" y="5143500"/>
            <a:ext cx="9430207" cy="2667305"/>
          </a:xfrm>
          <a:prstGeom prst="rect">
            <a:avLst/>
          </a:prstGeom>
          <a:solidFill>
            <a:srgbClr val="FAF5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8287207" y="8001000"/>
            <a:ext cx="9430207" cy="2095805"/>
          </a:xfrm>
          <a:prstGeom prst="rect">
            <a:avLst/>
          </a:prstGeom>
          <a:solidFill>
            <a:srgbClr val="FAF5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761695" y="10058400"/>
            <a:ext cx="571500" cy="19202"/>
          </a:xfrm>
          <a:prstGeom prst="rect">
            <a:avLst/>
          </a:prstGeom>
          <a:solidFill>
            <a:srgbClr val="B2562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3" descr="gen-dedup-9a2fabc9f12c214db1dae81d3473e835.png">    </p:cNvPr>
          <p:cNvPicPr>
            <a:picLocks noChangeAspect="1"/>
          </p:cNvPicPr>
          <p:nvPr/>
        </p:nvPicPr>
        <p:blipFill>
          <a:blip r:embed="rId4"/>
          <a:srcRect l="0" r="0" t="-481" b="-481"/>
          <a:stretch/>
        </p:blipFill>
        <p:spPr>
          <a:xfrm>
            <a:off x="1524305" y="10058400"/>
            <a:ext cx="190195" cy="19202"/>
          </a:xfrm>
          <a:prstGeom prst="rect">
            <a:avLst/>
          </a:prstGeom>
        </p:spPr>
      </p:pic>
      <p:pic>
        <p:nvPicPr>
          <p:cNvPr id="12" name="Image 4" descr="gen-dedup-5ed78a79af6b8b57a81e773186791a1c.png">    </p:cNvPr>
          <p:cNvPicPr>
            <a:picLocks noChangeAspect="1"/>
          </p:cNvPicPr>
          <p:nvPr/>
        </p:nvPicPr>
        <p:blipFill>
          <a:blip r:embed="rId5"/>
          <a:srcRect l="-402" r="-402" t="0" b="0"/>
          <a:stretch/>
        </p:blipFill>
        <p:spPr>
          <a:xfrm>
            <a:off x="571500" y="2476195"/>
            <a:ext cx="57607" cy="7619695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857707" y="4552798"/>
            <a:ext cx="6953098" cy="571500"/>
          </a:xfrm>
          <a:prstGeom prst="rect">
            <a:avLst/>
          </a:prstGeom>
          <a:solidFill>
            <a:srgbClr val="1B223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857707" y="5124298"/>
            <a:ext cx="6953098" cy="761695"/>
          </a:xfrm>
          <a:prstGeom prst="rect">
            <a:avLst/>
          </a:prstGeom>
          <a:solidFill>
            <a:srgbClr val="EFE6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857707" y="5886907"/>
            <a:ext cx="6953098" cy="761695"/>
          </a:xfrm>
          <a:prstGeom prst="rect">
            <a:avLst/>
          </a:prstGeom>
          <a:solidFill>
            <a:srgbClr val="FAF5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857707" y="6648602"/>
            <a:ext cx="6953098" cy="819302"/>
          </a:xfrm>
          <a:prstGeom prst="rect">
            <a:avLst/>
          </a:prstGeom>
          <a:solidFill>
            <a:srgbClr val="EFE6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5" descr="gen-dedup-f657a8eb101dc328e7af112794b6bd88.png">    </p:cNvPr>
          <p:cNvPicPr>
            <a:picLocks noChangeAspect="1"/>
          </p:cNvPicPr>
          <p:nvPr/>
        </p:nvPicPr>
        <p:blipFill>
          <a:blip r:embed="rId6"/>
          <a:srcRect l="0" r="0" t="-400" b="-400"/>
          <a:stretch/>
        </p:blipFill>
        <p:spPr>
          <a:xfrm>
            <a:off x="857707" y="7696505"/>
            <a:ext cx="571500" cy="19202"/>
          </a:xfrm>
          <a:prstGeom prst="rect">
            <a:avLst/>
          </a:prstGeom>
        </p:spPr>
      </p:pic>
      <p:pic>
        <p:nvPicPr>
          <p:cNvPr id="18" name="Image 6" descr="gen-dedup-4d385532f560ed5aac92828a954b3b7b.png">    </p:cNvPr>
          <p:cNvPicPr>
            <a:picLocks noChangeAspect="1"/>
          </p:cNvPicPr>
          <p:nvPr/>
        </p:nvPicPr>
        <p:blipFill>
          <a:blip r:embed="rId7"/>
          <a:srcRect l="-406" r="-406" t="0" b="0"/>
          <a:stretch/>
        </p:blipFill>
        <p:spPr>
          <a:xfrm>
            <a:off x="8287207" y="2476195"/>
            <a:ext cx="38405" cy="2476195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8477402" y="2667305"/>
            <a:ext cx="2286000" cy="1904695"/>
          </a:xfrm>
          <a:prstGeom prst="rect">
            <a:avLst/>
          </a:prstGeom>
          <a:solidFill>
            <a:srgbClr val="1B223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7" descr="gen-dedup-e1b9ea683499ff0e694b01313cb8e939.png">    </p:cNvPr>
          <p:cNvPicPr>
            <a:picLocks noChangeAspect="1"/>
          </p:cNvPicPr>
          <p:nvPr/>
        </p:nvPicPr>
        <p:blipFill>
          <a:blip r:embed="rId8"/>
          <a:srcRect l="-394" r="-394" t="0" b="0"/>
          <a:stretch/>
        </p:blipFill>
        <p:spPr>
          <a:xfrm>
            <a:off x="17678095" y="5143500"/>
            <a:ext cx="38405" cy="2667305"/>
          </a:xfrm>
          <a:prstGeom prst="rect">
            <a:avLst/>
          </a:prstGeom>
        </p:spPr>
      </p:pic>
      <p:sp>
        <p:nvSpPr>
          <p:cNvPr id="21" name="Shape 11"/>
          <p:cNvSpPr/>
          <p:nvPr/>
        </p:nvSpPr>
        <p:spPr>
          <a:xfrm>
            <a:off x="14382598" y="5524805"/>
            <a:ext cx="3238805" cy="1904695"/>
          </a:xfrm>
          <a:prstGeom prst="rect">
            <a:avLst/>
          </a:prstGeom>
          <a:solidFill>
            <a:srgbClr val="1B223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8" descr="gen-dedup-74055eecd6872f19eac3a01016efe7eb.png">    </p:cNvPr>
          <p:cNvPicPr>
            <a:picLocks noChangeAspect="1"/>
          </p:cNvPicPr>
          <p:nvPr/>
        </p:nvPicPr>
        <p:blipFill>
          <a:blip r:embed="rId9"/>
          <a:srcRect l="-393" r="-393" t="0" b="0"/>
          <a:stretch/>
        </p:blipFill>
        <p:spPr>
          <a:xfrm>
            <a:off x="8287207" y="8001000"/>
            <a:ext cx="38405" cy="2095805"/>
          </a:xfrm>
          <a:prstGeom prst="rect">
            <a:avLst/>
          </a:prstGeom>
        </p:spPr>
      </p:pic>
      <p:sp>
        <p:nvSpPr>
          <p:cNvPr id="23" name="Shape 12"/>
          <p:cNvSpPr/>
          <p:nvPr/>
        </p:nvSpPr>
        <p:spPr>
          <a:xfrm>
            <a:off x="8477402" y="8172907"/>
            <a:ext cx="3047695" cy="1580998"/>
          </a:xfrm>
          <a:prstGeom prst="rect">
            <a:avLst/>
          </a:prstGeom>
          <a:solidFill>
            <a:srgbClr val="1B223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9" descr="gen-dedup-3e7b5556a05907cb42a7ca31c294ac52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53298" y="2743200"/>
            <a:ext cx="2133295" cy="1752905"/>
          </a:xfrm>
          <a:prstGeom prst="rect">
            <a:avLst/>
          </a:prstGeom>
        </p:spPr>
      </p:pic>
      <p:pic>
        <p:nvPicPr>
          <p:cNvPr id="25" name="Image 10" descr="gen-dedup-79125a519ac7707a2a7236d5622d8f52.jp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59407" y="5600700"/>
            <a:ext cx="3086100" cy="1752905"/>
          </a:xfrm>
          <a:prstGeom prst="rect">
            <a:avLst/>
          </a:prstGeom>
        </p:spPr>
      </p:pic>
      <p:pic>
        <p:nvPicPr>
          <p:cNvPr id="26" name="Image 11" descr="gen-dedup-836d95b13a2b97aa7a8993ce6c0e33d8.jp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53298" y="8248802"/>
            <a:ext cx="2895905" cy="1429207"/>
          </a:xfrm>
          <a:prstGeom prst="rect">
            <a:avLst/>
          </a:prstGeom>
        </p:spPr>
      </p:pic>
      <p:sp>
        <p:nvSpPr>
          <p:cNvPr id="27" name="Text 13"/>
          <p:cNvSpPr txBox="1"/>
          <p:nvPr/>
        </p:nvSpPr>
        <p:spPr>
          <a:xfrm>
            <a:off x="761695" y="761695"/>
            <a:ext cx="11430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spc="132" kern="0" dirty="0">
                <a:solidFill>
                  <a:srgbClr val="5C6E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RELIABILITY · 단일 배선 기준의 붕괴</a:t>
            </a:r>
            <a:endParaRPr lang="en-US" sz="1650" dirty="0"/>
          </a:p>
        </p:txBody>
      </p:sp>
      <p:sp>
        <p:nvSpPr>
          <p:cNvPr id="28" name="Text 14"/>
          <p:cNvSpPr txBox="1"/>
          <p:nvPr/>
        </p:nvSpPr>
        <p:spPr>
          <a:xfrm>
            <a:off x="761695" y="1143000"/>
            <a:ext cx="1428750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1B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신뢰성: 단일 배선으로 잠금하던 기준이 무너지는 중</a:t>
            </a:r>
            <a:endParaRPr lang="en-US" sz="3450" dirty="0"/>
          </a:p>
        </p:txBody>
      </p:sp>
      <p:sp>
        <p:nvSpPr>
          <p:cNvPr id="29" name="Text 15"/>
          <p:cNvSpPr txBox="1"/>
          <p:nvPr/>
        </p:nvSpPr>
        <p:spPr>
          <a:xfrm>
            <a:off x="857707" y="2686507"/>
            <a:ext cx="6954012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spc="66" kern="0" dirty="0">
                <a:solidFill>
                  <a:srgbClr val="B2562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유전체 자체의 품질</a:t>
            </a:r>
            <a:endParaRPr lang="en-US" sz="1650" dirty="0"/>
          </a:p>
        </p:txBody>
      </p:sp>
      <p:sp>
        <p:nvSpPr>
          <p:cNvPr id="30" name="Text 16"/>
          <p:cNvSpPr txBox="1"/>
          <p:nvPr/>
        </p:nvSpPr>
        <p:spPr>
          <a:xfrm>
            <a:off x="857707" y="2971800"/>
            <a:ext cx="695401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저주파 잡음으로 본 MIM</a:t>
            </a:r>
            <a:endParaRPr lang="en-US" sz="1800" dirty="0"/>
          </a:p>
        </p:txBody>
      </p:sp>
      <p:sp>
        <p:nvSpPr>
          <p:cNvPr id="31" name="Text 17"/>
          <p:cNvSpPr txBox="1"/>
          <p:nvPr/>
        </p:nvSpPr>
        <p:spPr>
          <a:xfrm>
            <a:off x="857707" y="3372307"/>
            <a:ext cx="6954012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D46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Giusi는 TiN 전극 사이의 SiO₂ 6 nm(εᵣ 4.2), Al₂O₃ 5 nm(8.9), OSG3.0 12 nm(3.0, 기공률 7%) MIM을 25–200 °C, 최대 ~12 MV/cm에서 비교했습니다. 전도 기구가 재료마다 다릅니다.</a:t>
            </a:r>
            <a:endParaRPr lang="en-US" sz="1500" dirty="0"/>
          </a:p>
        </p:txBody>
      </p:sp>
      <p:sp>
        <p:nvSpPr>
          <p:cNvPr id="32" name="Text 18"/>
          <p:cNvSpPr txBox="1"/>
          <p:nvPr/>
        </p:nvSpPr>
        <p:spPr>
          <a:xfrm>
            <a:off x="1047902" y="4743907"/>
            <a:ext cx="1524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ECE4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유전체</a:t>
            </a:r>
            <a:endParaRPr lang="en-US" sz="1575" dirty="0"/>
          </a:p>
        </p:txBody>
      </p:sp>
      <p:sp>
        <p:nvSpPr>
          <p:cNvPr id="33" name="Text 19"/>
          <p:cNvSpPr txBox="1"/>
          <p:nvPr/>
        </p:nvSpPr>
        <p:spPr>
          <a:xfrm>
            <a:off x="2857500" y="4743907"/>
            <a:ext cx="19056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ECE4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지배 기구</a:t>
            </a:r>
            <a:endParaRPr lang="en-US" sz="1575" dirty="0"/>
          </a:p>
        </p:txBody>
      </p:sp>
      <p:sp>
        <p:nvSpPr>
          <p:cNvPr id="34" name="Text 20"/>
          <p:cNvSpPr txBox="1"/>
          <p:nvPr/>
        </p:nvSpPr>
        <p:spPr>
          <a:xfrm>
            <a:off x="4953305" y="4743907"/>
            <a:ext cx="2667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ECE4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트랩 준위</a:t>
            </a:r>
            <a:endParaRPr lang="en-US" sz="1575" dirty="0"/>
          </a:p>
        </p:txBody>
      </p:sp>
      <p:sp>
        <p:nvSpPr>
          <p:cNvPr id="35" name="Text 21"/>
          <p:cNvSpPr txBox="1"/>
          <p:nvPr/>
        </p:nvSpPr>
        <p:spPr>
          <a:xfrm>
            <a:off x="1047902" y="5410505"/>
            <a:ext cx="1524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B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SiO₂</a:t>
            </a:r>
            <a:endParaRPr lang="en-US" sz="1650" dirty="0"/>
          </a:p>
        </p:txBody>
      </p:sp>
      <p:sp>
        <p:nvSpPr>
          <p:cNvPr id="36" name="Text 22"/>
          <p:cNvSpPr txBox="1"/>
          <p:nvPr/>
        </p:nvSpPr>
        <p:spPr>
          <a:xfrm>
            <a:off x="2857500" y="5410505"/>
            <a:ext cx="1905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B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Poole-Frenkel</a:t>
            </a:r>
            <a:endParaRPr lang="en-US" sz="1650" dirty="0"/>
          </a:p>
        </p:txBody>
      </p:sp>
      <p:sp>
        <p:nvSpPr>
          <p:cNvPr id="37" name="Text 23"/>
          <p:cNvSpPr txBox="1"/>
          <p:nvPr/>
        </p:nvSpPr>
        <p:spPr>
          <a:xfrm>
            <a:off x="4953305" y="5410505"/>
            <a:ext cx="2667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1B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φ_T = 0.77 ± 0.01 eV</a:t>
            </a:r>
            <a:endParaRPr lang="en-US" sz="1575" dirty="0"/>
          </a:p>
        </p:txBody>
      </p:sp>
      <p:sp>
        <p:nvSpPr>
          <p:cNvPr id="38" name="Text 24"/>
          <p:cNvSpPr txBox="1"/>
          <p:nvPr/>
        </p:nvSpPr>
        <p:spPr>
          <a:xfrm>
            <a:off x="1047902" y="6172200"/>
            <a:ext cx="1524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B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OSG3.0</a:t>
            </a:r>
            <a:endParaRPr lang="en-US" sz="1650" dirty="0"/>
          </a:p>
        </p:txBody>
      </p:sp>
      <p:sp>
        <p:nvSpPr>
          <p:cNvPr id="39" name="Text 25"/>
          <p:cNvSpPr txBox="1"/>
          <p:nvPr/>
        </p:nvSpPr>
        <p:spPr>
          <a:xfrm>
            <a:off x="2857500" y="6172200"/>
            <a:ext cx="1905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B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호핑 / 비정상 PF</a:t>
            </a:r>
            <a:endParaRPr lang="en-US" sz="1650" dirty="0"/>
          </a:p>
        </p:txBody>
      </p:sp>
      <p:sp>
        <p:nvSpPr>
          <p:cNvPr id="40" name="Text 26"/>
          <p:cNvSpPr txBox="1"/>
          <p:nvPr/>
        </p:nvSpPr>
        <p:spPr>
          <a:xfrm>
            <a:off x="4953305" y="6172200"/>
            <a:ext cx="26673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1B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φ_T = 0.44 ± 0.01 eV, 호핑 0.6 nm, E_a 0.47 eV</a:t>
            </a:r>
            <a:endParaRPr lang="en-US" sz="1425" dirty="0"/>
          </a:p>
        </p:txBody>
      </p:sp>
      <p:sp>
        <p:nvSpPr>
          <p:cNvPr id="41" name="Text 27"/>
          <p:cNvSpPr txBox="1"/>
          <p:nvPr/>
        </p:nvSpPr>
        <p:spPr>
          <a:xfrm>
            <a:off x="1047902" y="6953098"/>
            <a:ext cx="1524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B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Al₂O₃</a:t>
            </a:r>
            <a:endParaRPr lang="en-US" sz="1650" dirty="0"/>
          </a:p>
        </p:txBody>
      </p:sp>
      <p:sp>
        <p:nvSpPr>
          <p:cNvPr id="42" name="Text 28"/>
          <p:cNvSpPr txBox="1"/>
          <p:nvPr/>
        </p:nvSpPr>
        <p:spPr>
          <a:xfrm>
            <a:off x="2857500" y="6953098"/>
            <a:ext cx="22860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1B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FN 트랩보조 터널링</a:t>
            </a:r>
            <a:endParaRPr lang="en-US" sz="1575" dirty="0"/>
          </a:p>
        </p:txBody>
      </p:sp>
      <p:sp>
        <p:nvSpPr>
          <p:cNvPr id="43" name="Text 29"/>
          <p:cNvSpPr txBox="1"/>
          <p:nvPr/>
        </p:nvSpPr>
        <p:spPr>
          <a:xfrm>
            <a:off x="4953305" y="6953098"/>
            <a:ext cx="340065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Φ 1.36 eV(상부) / 1.33 eV(하부)</a:t>
            </a:r>
            <a:endParaRPr lang="en-US" sz="1500" dirty="0"/>
          </a:p>
        </p:txBody>
      </p:sp>
      <p:sp>
        <p:nvSpPr>
          <p:cNvPr id="44" name="Text 30"/>
          <p:cNvSpPr txBox="1"/>
          <p:nvPr/>
        </p:nvSpPr>
        <p:spPr>
          <a:xfrm>
            <a:off x="857707" y="7848295"/>
            <a:ext cx="6954012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dirty="0">
                <a:solidFill>
                  <a:srgbClr val="1B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결론은 간단합니다. 누설·잡음 모두 SiO₂가 최고, Al₂O₃는 누설이 가장 크고, OSG3.0은 잡음이 가장 나쁜 데다 수많은 비정상 RTS 이벤트로 전기적 불안정성을 드러냅니다. 저유전율 도입의 대가가 정전용량만의 문제가 아니라는 증거입니다.</a:t>
            </a:r>
            <a:endParaRPr lang="en-US" sz="1575" dirty="0"/>
          </a:p>
        </p:txBody>
      </p:sp>
      <p:sp>
        <p:nvSpPr>
          <p:cNvPr id="45" name="Text 31"/>
          <p:cNvSpPr txBox="1"/>
          <p:nvPr/>
        </p:nvSpPr>
        <p:spPr>
          <a:xfrm>
            <a:off x="8477402" y="4629607"/>
            <a:ext cx="2286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i="1" dirty="0">
                <a:solidFill>
                  <a:srgbClr val="3D46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 — link.springer.com</a:t>
            </a:r>
            <a:endParaRPr lang="en-US" sz="975" dirty="0"/>
          </a:p>
        </p:txBody>
      </p:sp>
      <p:sp>
        <p:nvSpPr>
          <p:cNvPr id="46" name="Text 32"/>
          <p:cNvSpPr txBox="1"/>
          <p:nvPr/>
        </p:nvSpPr>
        <p:spPr>
          <a:xfrm>
            <a:off x="10953598" y="2628900"/>
            <a:ext cx="66678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spc="66" kern="0" dirty="0">
                <a:solidFill>
                  <a:srgbClr val="B2562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전자이동</a:t>
            </a:r>
            <a:endParaRPr lang="en-US" sz="1650" dirty="0"/>
          </a:p>
        </p:txBody>
      </p:sp>
      <p:sp>
        <p:nvSpPr>
          <p:cNvPr id="47" name="Text 33"/>
          <p:cNvSpPr txBox="1"/>
          <p:nvPr/>
        </p:nvSpPr>
        <p:spPr>
          <a:xfrm>
            <a:off x="10953598" y="2895905"/>
            <a:ext cx="66678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B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망 구조를 무시한 대가가 80%</a:t>
            </a:r>
            <a:endParaRPr lang="en-US" sz="1650" dirty="0"/>
          </a:p>
        </p:txBody>
      </p:sp>
      <p:sp>
        <p:nvSpPr>
          <p:cNvPr id="48" name="Text 34"/>
          <p:cNvSpPr txBox="1"/>
          <p:nvPr/>
        </p:nvSpPr>
        <p:spPr>
          <a:xfrm>
            <a:off x="10953598" y="3238805"/>
            <a:ext cx="6667805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3D46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Zahedmanesh는 단일 배선 기준(standard SEB)이 전력망의 중더성을 무시해 과도하게 보수적임을 정량화했습니다. 설정은 선폭 45 nm, 선 높이 90 nm, 활성화에너지 1.15 eV, 응력 310 °C, 유효전하 Z* = 3, 벌크계수 15 GPa입니다.</a:t>
            </a:r>
            <a:endParaRPr lang="en-US" sz="1275" dirty="0"/>
          </a:p>
        </p:txBody>
      </p:sp>
      <p:sp>
        <p:nvSpPr>
          <p:cNvPr id="49" name="Text 35"/>
          <p:cNvSpPr txBox="1"/>
          <p:nvPr/>
        </p:nvSpPr>
        <p:spPr>
          <a:xfrm>
            <a:off x="10953598" y="4114800"/>
            <a:ext cx="691743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허용 전류밀도: SEB 1.1 MA/cm² → 타일 기준 2.26 MA/cm² — 기존 방법이 80% 과소평가</a:t>
            </a:r>
            <a:endParaRPr lang="en-US" sz="1200" dirty="0"/>
          </a:p>
        </p:txBody>
      </p:sp>
      <p:sp>
        <p:nvSpPr>
          <p:cNvPr id="50" name="Text 36"/>
          <p:cNvSpPr txBox="1"/>
          <p:nvPr/>
        </p:nvSpPr>
        <p:spPr>
          <a:xfrm>
            <a:off x="10953598" y="4381805"/>
            <a:ext cx="6667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단일 배선 TTF₅₀ = 400 h · PDN 타일 σ 0.27로 줄어듬 (전체 55% 감소)</a:t>
            </a:r>
            <a:endParaRPr lang="en-US" sz="1200" dirty="0"/>
          </a:p>
        </p:txBody>
      </p:sp>
      <p:sp>
        <p:nvSpPr>
          <p:cNvPr id="51" name="Text 37"/>
          <p:cNvSpPr txBox="1"/>
          <p:nvPr/>
        </p:nvSpPr>
        <p:spPr>
          <a:xfrm>
            <a:off x="8477402" y="5296205"/>
            <a:ext cx="53346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spc="66" kern="0" dirty="0">
                <a:solidFill>
                  <a:srgbClr val="B2562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TDDB</a:t>
            </a:r>
            <a:endParaRPr lang="en-US" sz="1650" dirty="0"/>
          </a:p>
        </p:txBody>
      </p:sp>
      <p:sp>
        <p:nvSpPr>
          <p:cNvPr id="52" name="Text 38"/>
          <p:cNvSpPr txBox="1"/>
          <p:nvPr/>
        </p:nvSpPr>
        <p:spPr>
          <a:xfrm>
            <a:off x="8477402" y="5562295"/>
            <a:ext cx="6286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B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임계값이 아니라 퍼콜레이션 경로의 통계</a:t>
            </a:r>
            <a:endParaRPr lang="en-US" sz="1650" dirty="0"/>
          </a:p>
        </p:txBody>
      </p:sp>
      <p:sp>
        <p:nvSpPr>
          <p:cNvPr id="53" name="Text 39"/>
          <p:cNvSpPr txBox="1"/>
          <p:nvPr/>
        </p:nvSpPr>
        <p:spPr>
          <a:xfrm>
            <a:off x="8477402" y="5886907"/>
            <a:ext cx="57150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3D46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Croes의 2015년 종합은 impact damage 모델과 멱법칙(power law)이 데이터를 가장 잘 설명한다고 결론지었습니다. 수명이 간격에 반비례한다는 가정이 깔려 있습니다.</a:t>
            </a:r>
            <a:endParaRPr lang="en-US" sz="1275" dirty="0"/>
          </a:p>
        </p:txBody>
      </p:sp>
      <p:sp>
        <p:nvSpPr>
          <p:cNvPr id="54" name="Text 40"/>
          <p:cNvSpPr txBox="1"/>
          <p:nvPr/>
        </p:nvSpPr>
        <p:spPr>
          <a:xfrm>
            <a:off x="8477402" y="6762902"/>
            <a:ext cx="57150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3D46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Fang은 2025년에 3차원 2단계 모델로 비아 오정렬, tip-to-tip 변동, LER, 다이간 간격 변동을 넣고 10년 수명 변동 스펙을 도출, 결론은 선–선 간격 7 nm는 EUV, 5 nm는 FSAV입니다.</a:t>
            </a:r>
            <a:endParaRPr lang="en-US" sz="1275" dirty="0"/>
          </a:p>
        </p:txBody>
      </p:sp>
      <p:sp>
        <p:nvSpPr>
          <p:cNvPr id="55" name="Text 41"/>
          <p:cNvSpPr txBox="1"/>
          <p:nvPr/>
        </p:nvSpPr>
        <p:spPr>
          <a:xfrm>
            <a:off x="14382598" y="7487107"/>
            <a:ext cx="3238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i="1" dirty="0">
                <a:solidFill>
                  <a:srgbClr val="3D46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 — Springer · J. Mater. Res.</a:t>
            </a:r>
            <a:endParaRPr lang="en-US" sz="975" dirty="0"/>
          </a:p>
        </p:txBody>
      </p:sp>
      <p:sp>
        <p:nvSpPr>
          <p:cNvPr id="56" name="Text 42"/>
          <p:cNvSpPr txBox="1"/>
          <p:nvPr/>
        </p:nvSpPr>
        <p:spPr>
          <a:xfrm>
            <a:off x="11716207" y="8153705"/>
            <a:ext cx="59061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spc="66" kern="0" dirty="0">
                <a:solidFill>
                  <a:srgbClr val="B2562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기계적 파괴</a:t>
            </a:r>
            <a:endParaRPr lang="en-US" sz="1650" dirty="0"/>
          </a:p>
        </p:txBody>
      </p:sp>
      <p:sp>
        <p:nvSpPr>
          <p:cNvPr id="57" name="Text 43"/>
          <p:cNvSpPr txBox="1"/>
          <p:nvPr/>
        </p:nvSpPr>
        <p:spPr>
          <a:xfrm>
            <a:off x="11716207" y="8419795"/>
            <a:ext cx="5906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B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금속층 위가 아니라 금속층을 관통해 금이 간다</a:t>
            </a:r>
            <a:endParaRPr lang="en-US" sz="1575" dirty="0"/>
          </a:p>
        </p:txBody>
      </p:sp>
      <p:sp>
        <p:nvSpPr>
          <p:cNvPr id="58" name="Text 44"/>
          <p:cNvSpPr txBox="1"/>
          <p:nvPr/>
        </p:nvSpPr>
        <p:spPr>
          <a:xfrm>
            <a:off x="11716207" y="8762695"/>
            <a:ext cx="590611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B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Vanstreels는 FIB로 깎은 BEOL 마이크로빔을 SEM 안에서 굽히며 균열 발생·전파·계면 박리를 직접 관찰했습니다. 빔 네 개를 200–750 µN/s로 가압했고, k &lt; 2.0 Cu/low-k 스택에서 균열은 금속 상부 계면을 관통했습니다.</a:t>
            </a:r>
            <a:endParaRPr lang="en-US" sz="1275" dirty="0"/>
          </a:p>
        </p:txBody>
      </p:sp>
      <p:sp>
        <p:nvSpPr>
          <p:cNvPr id="59" name="Text 45"/>
          <p:cNvSpPr txBox="1"/>
          <p:nvPr/>
        </p:nvSpPr>
        <p:spPr>
          <a:xfrm>
            <a:off x="8287207" y="9810598"/>
            <a:ext cx="943020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i="1" dirty="0">
                <a:solidFill>
                  <a:srgbClr val="3D46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 — link.springer.com · J. Electron. Mater. (crack SEM, micrograph inset)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2026-10-03T16:44:17Z</dcterms:created>
  <dcterms:modified xsi:type="dcterms:W3CDTF">2026-10-03T16:44:17Z</dcterms:modified>
</cp:coreProperties>
</file>