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복구·차세대" id="{bbd98d8d-5c2d-ebec-6603-17c6e5b3429e}">
          <p14:sldIdLst>
            <p14:sldId id="256"/>
            <p14:sldId id="257"/>
          </p14:sldIdLst>
        </p14:section>
        <p14:section name="일정" id="{c2f3c907-9fc9-4c68-5d9d-76a573567e64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SP-NEXT · SEMI-DAMASCENE · RU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CMP를 배제하는 Semi-Damascene — Cu DD와의 구조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tmp/claude-0/-home-claude/e70767da-955c-5cc3-beb4-741bbeefa4c6/scratchpad/img/fsav_18m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572000" cy="2103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4290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NM PITCH RU SEMI-DAMASCENE · X-TEM · © IMEC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49040"/>
            <a:ext cx="4572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Ru/Mo 내화 금속 전면 증착 → 서브트랙티브 RIE로 배선 직접 형성 → 사이를 유전막/에어갭 충진.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완전 배제 → unCMP 단락, overCMP Dishing/Erosion·저항 증가 원천 제거.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금속 선식각 → 고종횡비 배선 → 전류 밀도 획기적 감소.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1.5–2 nm 이하 노드의 구조적 모순 타파 수단.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280160"/>
            <a:ext cx="6339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구조 비교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591056"/>
          <a:ext cx="6339535" cy="914400"/>
        </p:xfrm>
        <a:graphic>
          <a:graphicData uri="http://schemas.openxmlformats.org/drawingml/2006/table">
            <a:tbl>
              <a:tblPr/>
              <a:tblGrid>
                <a:gridCol w="1391717"/>
                <a:gridCol w="2474366"/>
                <a:gridCol w="2474366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Cu Dual Damascene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Semi-Damascene (Ru/Mo)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배선 형성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ILD 식각 → 충진 →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증착 → 직접 식각 → 갭필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필수 (un/overCMP 창 협소)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불필요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배리어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TaN/Ta 필수 (체적 잠식)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불필요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종횡비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≈ 1.6 (CMP 제한)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고종횡비 가능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주요 결함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단락·Dishing·챔퍼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에칭 프로파일·열처리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394960" y="5303520"/>
            <a:ext cx="6339535" cy="0"/>
          </a:xfrm>
          <a:prstGeom prst="line">
            <a:avLst/>
          </a:prstGeom>
          <a:noFill/>
          <a:ln w="9525">
            <a:solidFill>
              <a:srgbClr val="00A8D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394960" y="5376672"/>
            <a:ext cx="633953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단위 공정 최적화(HMDS·ALD 라이너·에어갭)로 기존 공정 수명을 연장하되, 1.5 nm 이후는 Semi-Damascene + BSPDN 패러다임 전환이 필수.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SP-NEXT · 패러다임 전환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Semi-Damascene와 BSPDN이 제거하는 결함 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SEMI-DAMASCENE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CMP 결함 원천 제거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65376"/>
            <a:ext cx="3454298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unCMP 단락·overCMP Dishing/Erosion 이슈 소멸.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고종횡비 배선 → 전류 밀도 감소 → EM 여유.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Ru/Mo 직접 RIE 식각 — 에칭 프로파일·열처리가 새 변수.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40098" y="1280160"/>
            <a:ext cx="0" cy="48920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8698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BSPDN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368698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BEOL 혼잡 일소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68698" y="1865376"/>
            <a:ext cx="3454298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신호·전력선을 전면 BEOL에 모두 넣던 방식에서 탈피 — nTSV로 후면에서 직접 전력 공급.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전면 배선층 라우팅 혼잡·패턴 밀도 불균형 해소 → CMP 국부 압력 분산 → 평탄도 극대화.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배선 저항·IR Drop 최소화 → 미세화 스케일링 동력.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51597" y="1280160"/>
            <a:ext cx="0" cy="48920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80197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남는 과제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280197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전환 비용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80197" y="1865376"/>
            <a:ext cx="3454298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Ru 저항률·계면 스캐터링.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에어갭 기계적 강도·지붕 형상.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nTSV 열 경로 — 비균일 전력 가정 재검토.</a:t>
            </a:r>
            <a:endParaRPr lang="en-US" sz="10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통합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DD 결함 평가 통합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613584" cy="0"/>
          </a:xfrm>
          <a:prstGeom prst="line">
            <a:avLst/>
          </a:prstGeom>
          <a:noFill/>
          <a:ln w="9525">
            <a:solidFill>
              <a:srgbClr val="00A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Split 설계·웨이퍼 배정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하드마스크 FTIR/XPS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38144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" y="3511296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ECP·CMP 베이스라인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85216" y="3895344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345104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45104" y="1627632"/>
            <a:ext cx="2613584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45104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3120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Comb-Serpentine WAT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73120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45104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3120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EBAC 국소화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473120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45104" y="3438144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3120" y="3511296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비아 TEM/EDX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473120" y="3895344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233008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검토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33008" y="1627632"/>
            <a:ext cx="2613584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3008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61024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Dishing/Erosion AFM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361024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33008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61024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HMDS 접촉각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361024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9120911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20911" y="1627632"/>
            <a:ext cx="2613584" cy="0"/>
          </a:xfrm>
          <a:prstGeom prst="line">
            <a:avLst/>
          </a:prstGeom>
          <a:noFill/>
          <a:ln w="9525">
            <a:solidFill>
              <a:srgbClr val="00A8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20911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48927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TDDB 1000 h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248927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W04–W09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120911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48927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HTOL/EM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248927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W05–W08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120911" y="3438144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48927" y="3511296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Dummy Fill 재설계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9248927" y="3895344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120911" y="4279392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248927" y="4352544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판정 보고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9248927" y="4736592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W10</a:t>
            </a:r>
            <a:endParaRPr lang="en-US" sz="850" dirty="0"/>
          </a:p>
        </p:txBody>
      </p:sp>
      <p:sp>
        <p:nvSpPr>
          <p:cNvPr id="4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yan">
  <a:themeElements>
    <a:clrScheme name="Turquoise DS cyan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A8D8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yan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Semi Damascene BSPDN Transition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