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8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계측" id="{320cf49e-a1e3-eac4-0a14-800fb683a845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예측 LER (nm)</c:v>
                </c:pt>
              </c:strCache>
            </c:strRef>
          </c:tx>
          <c:spPr>
            <a:solidFill>
              <a:srgbClr val="00B8A9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0B8A9"/>
              </a:solidFill>
              <a:ln w="9525" cap="flat">
                <a:solidFill>
                  <a:srgbClr val="00B8A9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1.6</c:v>
                </c:pt>
                <c:pt idx="1">
                  <c:v>1.7</c:v>
                </c:pt>
                <c:pt idx="2">
                  <c:v>1.75</c:v>
                </c:pt>
                <c:pt idx="3">
                  <c:v>1.8</c:v>
                </c:pt>
                <c:pt idx="4">
                  <c:v>1.85</c:v>
                </c:pt>
                <c:pt idx="5">
                  <c:v>1.9</c:v>
                </c:pt>
                <c:pt idx="6">
                  <c:v>1.95</c:v>
                </c:pt>
                <c:pt idx="7">
                  <c:v>2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1.62</c:v>
                </c:pt>
                <c:pt idx="1">
                  <c:v>1.68</c:v>
                </c:pt>
                <c:pt idx="2">
                  <c:v>1.78</c:v>
                </c:pt>
                <c:pt idx="3">
                  <c:v>1.79</c:v>
                </c:pt>
                <c:pt idx="4">
                  <c:v>1.88</c:v>
                </c:pt>
                <c:pt idx="5">
                  <c:v>1.87</c:v>
                </c:pt>
                <c:pt idx="6">
                  <c:v>1.97</c:v>
                </c:pt>
                <c:pt idx="7">
                  <c:v>1.98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실측 LER (nm)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2.1"/>
          <c:min val="1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예측 LER (nm)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계측 · 스캐터로메트리 + ML · SPIE 2021 (DAS)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14 nm 하프피치를 광학으로 잃지 않고 잡기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00B8A9"/>
                </a:solidFill>
              </a:rPr>
              <a:t>R² = 0.85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LER 예측 (RMSE 0.03 nm)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3704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00A8D8"/>
                </a:solidFill>
              </a:rPr>
              <a:t>R² &gt; 0.93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메앤더 저항 예측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FF6B6B"/>
                </a:solidFill>
              </a:rPr>
              <a:t>1.6–2.0 nm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실측 LER (초점 범위 전체)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9511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8E72"/>
                </a:solidFill>
              </a:rPr>
              <a:t>22–26 nm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tip-to-tip (60 nm 섬 사이)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구조: P28·P30 피치, 산화막 도랑 깊이 60 nm, TiN 배리어 1.5 nm + Ru 충진.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광학 산란계 광점보다 훨씬 작은 타겟을 머신러닝으로 풀어 14 nm 하프피치 계측 유지.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계측 · LER 예측 vs 실측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ML 산란계 LER 예측 — R² 0.85, RMSE 0.03 nm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40080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설명용 분포 — 초점 범위 전체 실측 LER 1.6–2.0 NM 구간을 재구성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28016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광점보다 작은 타겟을 ML로 해독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664208"/>
            <a:ext cx="4556455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30 µm × 30 µm 산란계 광점 대비 훨씬 작은 타겟.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메앤더 저항 예측 R² &gt; 0.93 — 전기 특성까지 비파괴 추정.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tip-to-tip 22–26 nm (60 nm 섬 사이).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계측 · 예산 재배분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iN5 계측 기준과 18 nm 피치 전망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631643"/>
                <a:gridCol w="2443277"/>
                <a:gridCol w="4510735"/>
                <a:gridCol w="1691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iN5 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18 nm 피치 전망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M2 / M1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32 / 42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18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T2T CD 균일도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&lt; 1 nm 3σ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예산 유지 불가 → SALELE 가상공정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팁 위치 EPE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~5 nm 3σ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재배분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산란계 타겟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 µm × 30 µm 광점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ML로 더 작은 타겟 해독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18 nm 피치에서는 iN5의 T2T CDU &lt;1 nm 3σ·EPE ~5 nm 3σ 예산이 그대로 남을 수 없음 — SALELE 가상공정 연구의 출발점.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 nm 하프피치 광학 계측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