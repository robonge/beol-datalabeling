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07/15 더미 셋트의 첫 페이지로, EUV 다중 패터닝과 BEOL 평가 실험의 전반적인 목적을 세 가지 축으로 정의한다.
첫째, 18~26nm 피치 M2에서 subtractive Ru 직접 식각과 FSAV가 실제로 적형 가능한지 검증한다.
둘째, 웨이퍼 간 CD 편차와 웨이퍼 내 균일도를 수치로 잡는다.
셋째, 1차 전기/신뢰성 pass 기준을 확인한다.
모든 수치는 dummy 데이터임을 암시적으로 전제로 삼아 진행한다.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셋트의 두 split을 정의한다. Split A는 subtractive Ru + 완전 자가정렬 비아(FSAV)이고 W01, W02 두 장, Split B는 통상 다마신 Cu 베이스라인으로 W03, W04 두 장이다. 같은 M2 단, 같은 PVD/하드마스크 recipe 위에서 split 차이만 두고 비교한다. Split A의 핵심은 Ru 직접 식각 + 자체 정렬 비아, Split B는 reference로서 동일 layer 위에 진행한다.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stack, patterning, etch, wafer 4개 spec을 정의하고 4개의 inline 측정 지점 — AASI, ASEI, AMI, ACI — 가 가진 의미를 명시한다. AASI 25.3nm는 spacer 형성 직후, ASEI 18.2nm는 spacer etch 후, AMI 8.5nm는 Ru 라인 식각 후, ACI 8.3nm는 CMP 후 최종 너비를 의미한다. 동일 layer · 동일 recipe 조건에서 4 wafer를 평가한다.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A의 단면 SEM 사진과 관찰 포인트다. 사진은 imec의 18nm 피치 semi-damascene FSAV 기고 이미지를 예시로 사용한다. 라인 profile의 수직성, SiN 잔류, 비아 하단 정렬 상태를 점검한다. 모서리 박스의 1·2·3 포인트는 의도적 dummy 결론 형태로 분리했다.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B 일반 다마신 Cu reference 단면을 본다. 9·10·12번 슬라이드에서 Split A와의 CD 비교 / 균일도 / 전기 baseline의 비교군으로 사용된다. Cu 전기도금 후 CMP 평탄화 흔적, 라인 최상단 erosion이 dummy lot에서 관찰된다는 기록을 남긴다. 의도적으로 "Split B도 견딜만 하다"는 식의 결정적 결론을 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슬라이드는 W01에서 추출한 박막 시료의 TEM 단면을 보여준다. Ru 라인의 결정립 방향, SiN/Ru 계면 연속성, 하단 폭이 안정적인지를 8·9번 슬라이드의 AMI/ACI CD 수치와 교차 확인하는 보조 슬라이드다. 직접 정량화보다는 단면 컨디션 점검 수준에서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Top-down SEM 캡처로 라인 균일성을 정성 점검한다. pitch, LER/LWR, defect 세 가지 카테고리를 짧게 정리하고 8번·10번 슬라이드에서 정량 결과로 이어간다. line-collapse나 큰 결함이 보이는 이미지는 의도적으로 피해서 dummy 본 슬라이드에서는 'qualitative pass' 톤을 유지한다.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AASI spacer 단계 + ASEI spacer etch CD 변동 표. 카드 1 25.3nm 부근, 카드 2 18.2nm 부근. 더미 4 wafer 모두 통과 기준 안쪽에 들어오고 W02가 두 metric에서 가장 균일하다.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 / ACI 두 후행 측정 단계 CD 변동. 8.5 / 8.3nm target 부근, W02 ACI가 target과 일치, W04가 가장 큰 range. 더미 셋트지만 일관된 양상으로 8·10번 슬라이드 결과와 자연스럽게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4개의 CD 측정 단계 × 4매 wafer 조합의 in-wafer 균일도 요약. 각 셀에 3시그마, range, target 차이의 절댓값을 둔다. 헤더 그룹은 AASI/ASEI/AMI/ACI 컬러 매핑을 따라간다. W02가 가장 균일, W04가 가장 큰 spread라는 dummy lot 경향을 본 슬라이드에서 한 번에 정리해서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W02의 ACI 13 사이트 wafer map을 보여준다. 좌측 chart에 13개의 점이 들어가고, 우측 상단에 색 범례, 우측 하단에 13 사이트 표가 자리 잡는다. 색은 4 bands (Δ &lt; -0.05 / |Δ| ≤ 0.05 / +0.05 &lt; Δ ≤ +0.10 / Δ &gt; +0.10)로 구분하고, NW outer가 +0.17nm로 최대, NE outer가 -0.12nm로 최소.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전기 스크리닝 두 섹션. Section A는 누설/단위 비아 Kelvin 저항, Section B는 TDDB. Unit/Temperature 표기를 칼럼에 노출해 dummy lot 측정 조건을 보여준다. verdict 칼럼에서 4/4 pass, 3/4 pass를 dummy lot 결과로 나눠 dummy 셋트가 무조건 좋다는 결론을 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4572000"/>
            <a:ext cx="4972507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286500" y="4572000"/>
            <a:ext cx="5162702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1848795" y="4572000"/>
            <a:ext cx="4972507" cy="23052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4400" y="8382305"/>
            <a:ext cx="15887700" cy="76169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06102"/>
            <a:ext cx="15887700" cy="91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EUV MULTI-PATTERNING · BEOL EVALUATION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15468905" y="609905"/>
            <a:ext cx="1905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LOT · 4 WAFERS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4097305" y="914400"/>
            <a:ext cx="327721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1619402"/>
            <a:ext cx="85725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96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EUV 다중 패터닝 · BEOL 평가 실험</a:t>
            </a:r>
            <a:endParaRPr lang="en-US" sz="48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3070555"/>
            <a:ext cx="8572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 직접 식각 + 완전 자가정렬 비아(FSAV) 경로와 일반 via 경로를 M2 메탈 레이어에서 4매 웨이퍼로 비교 평가한다.</a:t>
            </a:r>
            <a:endParaRPr lang="en-US" sz="1800" dirty="0"/>
          </a:p>
        </p:txBody>
      </p:sp>
      <p:pic>
        <p:nvPicPr>
          <p:cNvPr id="14" name="Image 2" descr="gen-dedup-4c29f45b8583a65890b17f40664bd49f.png">    </p:cNvPr>
          <p:cNvPicPr>
            <a:picLocks noChangeAspect="1"/>
          </p:cNvPicPr>
          <p:nvPr/>
        </p:nvPicPr>
        <p:blipFill>
          <a:blip r:embed="rId3"/>
          <a:srcRect l="0" r="0" t="-450" b="-450"/>
          <a:stretch/>
        </p:blipFill>
        <p:spPr>
          <a:xfrm>
            <a:off x="914400" y="4038905"/>
            <a:ext cx="304495" cy="192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14400" y="4190695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2E5C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실험의 세 가지 축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238098" y="4858207"/>
            <a:ext cx="4381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2E5C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검증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238098" y="5277002"/>
            <a:ext cx="4381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18–26 nm 피치에서 subtractive Ru + FSAV 적형성 확인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1238098" y="6077102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M2 단일 레이어에서 식각 · 식각 후 잔류물 · 오버에칭 마진을 점검한다.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610198" y="4858207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4F7C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 · 균일도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610198" y="5277002"/>
            <a:ext cx="477774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 간 · Wafer 내 변동 정량화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6610198" y="5743346"/>
            <a:ext cx="45720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· ASEI · AMI · ACI 4개 지점에서 mean · 3σ · range · delta 추출.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2173407" y="4858207"/>
            <a:ext cx="4381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6E8F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 · 신뢰성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2173407" y="5277002"/>
            <a:ext cx="43818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누설 · 단위 비아 저항 · TDDB 1차 스크리닝</a:t>
            </a:r>
            <a:endParaRPr lang="en-US" sz="2100" dirty="0"/>
          </a:p>
        </p:txBody>
      </p:sp>
      <p:sp>
        <p:nvSpPr>
          <p:cNvPr id="24" name="Text 18"/>
          <p:cNvSpPr txBox="1"/>
          <p:nvPr/>
        </p:nvSpPr>
        <p:spPr>
          <a:xfrm>
            <a:off x="12173407" y="6077102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4매 웨이퍼에서 pass/fail 비율과 100 °C 가혹 조건 절연 파괴 특성을 본다.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1218895" y="8553298"/>
            <a:ext cx="14897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18895" y="8858707"/>
            <a:ext cx="1550365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Ru+FSAV 경로의 CD/전기적 거동을 4매 dummy lot에서 1차 정량화하고, 동일 M2 위에서 일반 via 경로와 비교 가능한 baseline을 만든다.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9658807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857500"/>
            <a:ext cx="8020202" cy="5162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372600" y="2857500"/>
            <a:ext cx="8020202" cy="5162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14400" y="8382305"/>
            <a:ext cx="15887700" cy="76169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06102"/>
            <a:ext cx="15887700" cy="9144"/>
          </a:xfrm>
          <a:prstGeom prst="rect">
            <a:avLst/>
          </a:prstGeom>
        </p:spPr>
      </p:pic>
      <p:pic>
        <p:nvPicPr>
          <p:cNvPr id="8" name="Image 2" descr="gen-dedup-ce29d8d8997bfea1a02809c68e5e7985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914400" y="2857500"/>
            <a:ext cx="133502" cy="51435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410005" y="7048195"/>
            <a:ext cx="7239305" cy="771754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0" name="Shape 4"/>
          <p:cNvSpPr/>
          <p:nvPr/>
        </p:nvSpPr>
        <p:spPr>
          <a:xfrm>
            <a:off x="1410005" y="7048195"/>
            <a:ext cx="7239305" cy="9144"/>
          </a:xfrm>
          <a:prstGeom prst="rect">
            <a:avLst/>
          </a:prstGeom>
          <a:solidFill>
            <a:srgbClr val="D5DEE8"/>
          </a:solidFill>
          <a:ln w="12700">
            <a:solidFill>
              <a:srgbClr val="D5DEE8">
                <a:alpha val="0"/>
              </a:srgbClr>
            </a:solidFill>
            <a:prstDash val="solid"/>
          </a:ln>
        </p:spPr>
      </p:sp>
      <p:pic>
        <p:nvPicPr>
          <p:cNvPr id="11" name="Image 3" descr="gen-dedup-f5f3ec0c516f8d018e1f56deefd6c7b9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9372600" y="2857500"/>
            <a:ext cx="133502" cy="51435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9868205" y="7048195"/>
            <a:ext cx="7239305" cy="771754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" name="Shape 6"/>
          <p:cNvSpPr/>
          <p:nvPr/>
        </p:nvSpPr>
        <p:spPr>
          <a:xfrm>
            <a:off x="9868205" y="7048195"/>
            <a:ext cx="7239305" cy="9144"/>
          </a:xfrm>
          <a:prstGeom prst="rect">
            <a:avLst/>
          </a:prstGeom>
          <a:solidFill>
            <a:srgbClr val="D5DEE8"/>
          </a:solidFill>
          <a:ln w="12700">
            <a:solidFill>
              <a:srgbClr val="D5DEE8">
                <a:alpha val="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9430207" y="5333695"/>
            <a:ext cx="75895" cy="75895"/>
          </a:xfrm>
          <a:prstGeom prst="ellipse">
            <a:avLst/>
          </a:prstGeom>
          <a:solidFill>
            <a:srgbClr val="2E5C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 SPLIT · M2 LAYER · 2 WAFERS PER SPLIT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12</a:t>
            </a:r>
            <a:endParaRPr lang="en-US" sz="1350" dirty="0"/>
          </a:p>
        </p:txBody>
      </p:sp>
      <p:sp>
        <p:nvSpPr>
          <p:cNvPr id="17" name="Text 10"/>
          <p:cNvSpPr txBox="1"/>
          <p:nvPr/>
        </p:nvSpPr>
        <p:spPr>
          <a:xfrm>
            <a:off x="914400" y="1143000"/>
            <a:ext cx="12382805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spc="-84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경로를 같은 M2 레이어에서 나란히</a:t>
            </a:r>
            <a:endParaRPr lang="en-US" sz="4200" dirty="0"/>
          </a:p>
        </p:txBody>
      </p:sp>
      <p:sp>
        <p:nvSpPr>
          <p:cNvPr id="18" name="Text 11"/>
          <p:cNvSpPr txBox="1"/>
          <p:nvPr/>
        </p:nvSpPr>
        <p:spPr>
          <a:xfrm>
            <a:off x="914400" y="1836115"/>
            <a:ext cx="12382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PVD Ru 박막 · 같은 SiN 하드마스크 위에서 split만 다르게 가져간다.</a:t>
            </a:r>
            <a:endParaRPr lang="en-US" sz="1650" dirty="0"/>
          </a:p>
        </p:txBody>
      </p:sp>
      <p:sp>
        <p:nvSpPr>
          <p:cNvPr id="19" name="Text 12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0" dirty="0"/>
          </a:p>
        </p:txBody>
      </p:sp>
      <p:sp>
        <p:nvSpPr>
          <p:cNvPr id="20" name="Text 13"/>
          <p:cNvSpPr txBox="1"/>
          <p:nvPr/>
        </p:nvSpPr>
        <p:spPr>
          <a:xfrm>
            <a:off x="1410005" y="3161995"/>
            <a:ext cx="7239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2E5C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A · W01 / W02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1410005" y="3543300"/>
            <a:ext cx="7239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 직접 식각 + 완전 자가정렬 비아</a:t>
            </a:r>
            <a:endParaRPr lang="en-US" sz="2850" dirty="0"/>
          </a:p>
        </p:txBody>
      </p:sp>
      <p:sp>
        <p:nvSpPr>
          <p:cNvPr id="22" name="Text 15"/>
          <p:cNvSpPr txBox="1"/>
          <p:nvPr/>
        </p:nvSpPr>
        <p:spPr>
          <a:xfrm>
            <a:off x="1410005" y="4159606"/>
            <a:ext cx="7239305" cy="1457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PVD Ru 30 nm 증착 → 420 °C 어닐 → SiN 하드마스크 적층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EUV SADP로 18 nm 피치 묘사 → SiN 식각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염소/불소 + 산소 가스 RIE로 Ru 라인 직접 식각 (target 9 nm CD)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절연막 충전 → SiN 선택 식각 → 자체 정렬된 비아 형성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CVD Ru 두 번째 층 → Over-etch로 M2 라인 위에 비아 안착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19402" y="7162495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PITCH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1619402" y="7467905"/>
            <a:ext cx="3238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nm / 26 nm 두 조건</a:t>
            </a:r>
            <a:endParaRPr lang="en-US" sz="1950" dirty="0"/>
          </a:p>
        </p:txBody>
      </p:sp>
      <p:sp>
        <p:nvSpPr>
          <p:cNvPr id="25" name="Text 18"/>
          <p:cNvSpPr txBox="1"/>
          <p:nvPr/>
        </p:nvSpPr>
        <p:spPr>
          <a:xfrm>
            <a:off x="4953305" y="7162495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CD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4953305" y="7467905"/>
            <a:ext cx="3984041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 라인 9 nm @ 18 nm pitch</a:t>
            </a:r>
            <a:endParaRPr lang="en-US" sz="1950" dirty="0"/>
          </a:p>
        </p:txBody>
      </p:sp>
      <p:sp>
        <p:nvSpPr>
          <p:cNvPr id="27" name="Text 20"/>
          <p:cNvSpPr txBox="1"/>
          <p:nvPr/>
        </p:nvSpPr>
        <p:spPr>
          <a:xfrm>
            <a:off x="9868205" y="3161995"/>
            <a:ext cx="7239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6E8F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B · W03 / W04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9868205" y="3543300"/>
            <a:ext cx="7239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via · 통상 다마신식 Cu</a:t>
            </a:r>
            <a:endParaRPr lang="en-US" sz="2850" dirty="0"/>
          </a:p>
        </p:txBody>
      </p:sp>
      <p:sp>
        <p:nvSpPr>
          <p:cNvPr id="29" name="Text 22"/>
          <p:cNvSpPr txBox="1"/>
          <p:nvPr/>
        </p:nvSpPr>
        <p:spPr>
          <a:xfrm>
            <a:off x="9868205" y="4159606"/>
            <a:ext cx="7239305" cy="1457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동일 SiN 하드마스크 → EUV SADP 라인 묘사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유전체 충진 → RIE로 트렌치/비아 동시 형성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TaN 배리어 → Cu 시드 → Cu 전기도금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CMP 평탄화 → 캡 적층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A37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직접 self-align 메커니즘 없음 → 오버레이 정렬 의존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10077602" y="7162495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10077602" y="7467905"/>
            <a:ext cx="3738067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통상적 Cu 다마신 reference</a:t>
            </a:r>
            <a:endParaRPr lang="en-US" sz="1950" dirty="0"/>
          </a:p>
        </p:txBody>
      </p:sp>
      <p:sp>
        <p:nvSpPr>
          <p:cNvPr id="32" name="Text 25"/>
          <p:cNvSpPr txBox="1"/>
          <p:nvPr/>
        </p:nvSpPr>
        <p:spPr>
          <a:xfrm>
            <a:off x="13411505" y="7162495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13411505" y="7467905"/>
            <a:ext cx="36201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비교군 · CD/전기 baseline</a:t>
            </a:r>
            <a:endParaRPr lang="en-US" sz="1950" dirty="0"/>
          </a:p>
        </p:txBody>
      </p:sp>
      <p:sp>
        <p:nvSpPr>
          <p:cNvPr id="34" name="Text 27"/>
          <p:cNvSpPr txBox="1"/>
          <p:nvPr/>
        </p:nvSpPr>
        <p:spPr>
          <a:xfrm>
            <a:off x="1218895" y="8553298"/>
            <a:ext cx="14897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1218895" y="8858707"/>
            <a:ext cx="15311628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A의 self-align 메커니즘이 작동하는지와 Split B 대비 CD/전기적 이점을 dummy 4매로 확인하는 것이 이번 셋트의 1차 질문이다.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914400" y="9658807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14400" y="2857500"/>
            <a:ext cx="3829507" cy="25338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53305" y="2857500"/>
            <a:ext cx="3829507" cy="25338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91295" y="2857500"/>
            <a:ext cx="3829507" cy="25338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030200" y="2857500"/>
            <a:ext cx="4362602" cy="25338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6324905"/>
            <a:ext cx="3886200" cy="1619402"/>
          </a:xfrm>
          <a:prstGeom prst="rect">
            <a:avLst/>
          </a:prstGeom>
          <a:solidFill>
            <a:srgbClr val="2C4A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0" y="6324905"/>
            <a:ext cx="3886200" cy="1619402"/>
          </a:xfrm>
          <a:prstGeom prst="rect">
            <a:avLst/>
          </a:prstGeom>
          <a:solidFill>
            <a:srgbClr val="4F7C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0" y="6324905"/>
            <a:ext cx="3886200" cy="1619402"/>
          </a:xfrm>
          <a:prstGeom prst="rect">
            <a:avLst/>
          </a:prstGeom>
          <a:solidFill>
            <a:srgbClr val="6E8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258800" y="6324905"/>
            <a:ext cx="4114800" cy="1619402"/>
          </a:xfrm>
          <a:prstGeom prst="rect">
            <a:avLst/>
          </a:prstGeom>
          <a:solidFill>
            <a:srgbClr val="93AE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8382305"/>
            <a:ext cx="15887700" cy="76169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gen-dedup-ce7d04f0873dfaca71aff792722ea0ee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914400" y="9506102"/>
            <a:ext cx="15887700" cy="91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CONDITIONS · STACK · MEASUREMENT POINTS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12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1143000"/>
            <a:ext cx="12382805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spc="-78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증착 · 식각 · 4개 CD 측정 지점</a:t>
            </a:r>
            <a:endParaRPr lang="en-US" sz="39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1796796"/>
            <a:ext cx="12382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 두께 · 어닐 · 풀리 · RIE 가스 recipe는 W01–W04 공통. 측정 지점은 inline 4-stage로 정의한다.</a:t>
            </a:r>
            <a:endParaRPr lang="en-US" sz="1650" dirty="0"/>
          </a:p>
        </p:txBody>
      </p:sp>
      <p:sp>
        <p:nvSpPr>
          <p:cNvPr id="18" name="Text 14"/>
          <p:cNvSpPr txBox="1"/>
          <p:nvPr/>
        </p:nvSpPr>
        <p:spPr>
          <a:xfrm>
            <a:off x="1181405" y="3047695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181405" y="3372307"/>
            <a:ext cx="38386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 기판 / TiN 접착 / Ru 30 nm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181405" y="3745382"/>
            <a:ext cx="3238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PVD 증착, 420 °C 어닐로 결정성 안정화 후 SiN 하드마스크 적층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5219395" y="3047695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PATTERNING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219395" y="33723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0.33 NA EUV + SADP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5219395" y="3745382"/>
            <a:ext cx="3238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18–26 nm 피치 라인 묘사, SiN 위에 spacer double patterning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9258300" y="3047695"/>
            <a:ext cx="3238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ETCH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9258300" y="3372307"/>
            <a:ext cx="3238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Cl/F + O₂ 기반 RIE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9258300" y="3745382"/>
            <a:ext cx="3238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 라인 직접 식각 시 휘발성 부산물 형성, 9 nm CD 목표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3297205" y="304769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WAFERS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13297205" y="3372307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 mm Si · 4매 dummy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13297205" y="3745382"/>
            <a:ext cx="38103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W01·W02 Split A / W03·W04 Split B, 동일 recipe lot</a:t>
            </a:r>
            <a:endParaRPr lang="en-US" sz="1350" dirty="0"/>
          </a:p>
        </p:txBody>
      </p:sp>
      <p:pic>
        <p:nvPicPr>
          <p:cNvPr id="30" name="Image 1" descr="gen-dedup-4c29f45b8583a65890b17f40664bd49f.png">    </p:cNvPr>
          <p:cNvPicPr>
            <a:picLocks noChangeAspect="1"/>
          </p:cNvPicPr>
          <p:nvPr/>
        </p:nvPicPr>
        <p:blipFill>
          <a:blip r:embed="rId2"/>
          <a:srcRect l="0" r="0" t="-450" b="-450"/>
          <a:stretch/>
        </p:blipFill>
        <p:spPr>
          <a:xfrm>
            <a:off x="914400" y="5790895"/>
            <a:ext cx="304495" cy="1920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14400" y="5943600"/>
            <a:ext cx="5715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2E5C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INLINE 측정 지점 · wafer별 추출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1181405" y="6534302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A9C0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1181405" y="6838798"/>
            <a:ext cx="3429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After-All-Spacer Inspection</a:t>
            </a:r>
            <a:endParaRPr lang="en-US" sz="2250" dirty="0"/>
          </a:p>
        </p:txBody>
      </p:sp>
      <p:sp>
        <p:nvSpPr>
          <p:cNvPr id="34" name="Text 29"/>
          <p:cNvSpPr txBox="1"/>
          <p:nvPr/>
        </p:nvSpPr>
        <p:spPr>
          <a:xfrm>
            <a:off x="1181405" y="7601407"/>
            <a:ext cx="3429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D8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25.3 nm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5296205" y="6534302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D8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5296205" y="6838798"/>
            <a:ext cx="3429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b="1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After-Spacer-Etch Inspect</a:t>
            </a:r>
            <a:endParaRPr lang="en-US" sz="2250" dirty="0"/>
          </a:p>
        </p:txBody>
      </p:sp>
      <p:sp>
        <p:nvSpPr>
          <p:cNvPr id="37" name="Text 32"/>
          <p:cNvSpPr txBox="1"/>
          <p:nvPr/>
        </p:nvSpPr>
        <p:spPr>
          <a:xfrm>
            <a:off x="5296205" y="7601407"/>
            <a:ext cx="3429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E1EA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18.2 nm</a:t>
            </a:r>
            <a:endParaRPr lang="en-US" sz="1650" dirty="0"/>
          </a:p>
        </p:txBody>
      </p:sp>
      <p:sp>
        <p:nvSpPr>
          <p:cNvPr id="38" name="Text 33"/>
          <p:cNvSpPr txBox="1"/>
          <p:nvPr/>
        </p:nvSpPr>
        <p:spPr>
          <a:xfrm>
            <a:off x="9411005" y="6534302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DCE7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9411005" y="6838798"/>
            <a:ext cx="342900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After-Metal Inspect</a:t>
            </a:r>
            <a:endParaRPr lang="en-US" sz="2250" dirty="0"/>
          </a:p>
        </p:txBody>
      </p:sp>
      <p:sp>
        <p:nvSpPr>
          <p:cNvPr id="40" name="Text 35"/>
          <p:cNvSpPr txBox="1"/>
          <p:nvPr/>
        </p:nvSpPr>
        <p:spPr>
          <a:xfrm>
            <a:off x="9411005" y="7286854"/>
            <a:ext cx="3429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EDF2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8.5 nm</a:t>
            </a:r>
            <a:endParaRPr lang="en-US" sz="1650" dirty="0"/>
          </a:p>
        </p:txBody>
      </p:sp>
      <p:sp>
        <p:nvSpPr>
          <p:cNvPr id="41" name="Text 36"/>
          <p:cNvSpPr txBox="1"/>
          <p:nvPr/>
        </p:nvSpPr>
        <p:spPr>
          <a:xfrm>
            <a:off x="13525805" y="6838798"/>
            <a:ext cx="3620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After-CMP Inspect</a:t>
            </a:r>
            <a:endParaRPr lang="en-US" sz="2250" dirty="0"/>
          </a:p>
        </p:txBody>
      </p:sp>
      <p:sp>
        <p:nvSpPr>
          <p:cNvPr id="42" name="Text 37"/>
          <p:cNvSpPr txBox="1"/>
          <p:nvPr/>
        </p:nvSpPr>
        <p:spPr>
          <a:xfrm>
            <a:off x="13525805" y="6534302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1F3142">
                    <a:alpha val="78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</a:t>
            </a:r>
            <a:endParaRPr lang="en-US" sz="1200" dirty="0"/>
          </a:p>
        </p:txBody>
      </p:sp>
      <p:sp>
        <p:nvSpPr>
          <p:cNvPr id="43" name="Text 38"/>
          <p:cNvSpPr txBox="1"/>
          <p:nvPr/>
        </p:nvSpPr>
        <p:spPr>
          <a:xfrm>
            <a:off x="13525805" y="7286854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F3142">
                    <a:alpha val="8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8.3 nm</a:t>
            </a:r>
            <a:endParaRPr lang="en-US" sz="1650" dirty="0"/>
          </a:p>
        </p:txBody>
      </p:sp>
      <p:sp>
        <p:nvSpPr>
          <p:cNvPr id="44" name="Text 39"/>
          <p:cNvSpPr txBox="1"/>
          <p:nvPr/>
        </p:nvSpPr>
        <p:spPr>
          <a:xfrm>
            <a:off x="1218895" y="8553298"/>
            <a:ext cx="14897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45" name="Text 40"/>
          <p:cNvSpPr txBox="1"/>
          <p:nvPr/>
        </p:nvSpPr>
        <p:spPr>
          <a:xfrm>
            <a:off x="1218895" y="8858707"/>
            <a:ext cx="148974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inline 측정 지점(AASI·ASEI·AMI·ACI)을 두어 diff-before-etch / diff-after-etch 변동을 분리 측정한다.</a:t>
            </a:r>
            <a:endParaRPr lang="en-US" sz="1800" dirty="0"/>
          </a:p>
        </p:txBody>
      </p:sp>
      <p:sp>
        <p:nvSpPr>
          <p:cNvPr id="46" name="Text 41"/>
          <p:cNvSpPr txBox="1"/>
          <p:nvPr/>
        </p:nvSpPr>
        <p:spPr>
          <a:xfrm>
            <a:off x="914400" y="9658807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667305"/>
            <a:ext cx="10877702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2077395" y="2667305"/>
            <a:ext cx="53154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14400" y="8382305"/>
            <a:ext cx="15887700" cy="76169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06102"/>
            <a:ext cx="15887700" cy="914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CRYO-FIB CROSS-SECTION · SPLIT A</a:t>
            </a:r>
            <a:endParaRPr lang="en-US" sz="1350" dirty="0"/>
          </a:p>
        </p:txBody>
      </p:sp>
      <p:sp>
        <p:nvSpPr>
          <p:cNvPr id="9" name="Text 4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12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1143000"/>
            <a:ext cx="123828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A 단면 · Ru 라인 + 자기정렬 비아</a:t>
            </a:r>
            <a:endParaRPr lang="en-US" sz="3600" dirty="0"/>
          </a:p>
        </p:txBody>
      </p:sp>
      <p:sp>
        <p:nvSpPr>
          <p:cNvPr id="11" name="Text 6"/>
          <p:cNvSpPr txBox="1"/>
          <p:nvPr/>
        </p:nvSpPr>
        <p:spPr>
          <a:xfrm>
            <a:off x="914400" y="1737360"/>
            <a:ext cx="12382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 식각 후 M1 라인의 수직성 · SiN 잔류물 · via 하단 정렬 상태를 확인한다.</a:t>
            </a:r>
            <a:endParaRPr lang="en-US" sz="1650" dirty="0"/>
          </a:p>
        </p:txBody>
      </p:sp>
      <p:sp>
        <p:nvSpPr>
          <p:cNvPr id="12" name="Text 7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8153705"/>
            <a:ext cx="10858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imec, 〈Semi-damascene interconnects with fully self-aligned vias at 18 nm metal pitch〉 기사 이미지(예시 photo)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2458700" y="3047695"/>
            <a:ext cx="45345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2E5C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포인트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2458700" y="3467405"/>
            <a:ext cx="45345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Ru 라인 측벽</a:t>
            </a:r>
            <a:endParaRPr lang="en-US" sz="1650" dirty="0"/>
          </a:p>
        </p:txBody>
      </p:sp>
      <p:sp>
        <p:nvSpPr>
          <p:cNvPr id="16" name="Text 11"/>
          <p:cNvSpPr txBox="1"/>
          <p:nvPr/>
        </p:nvSpPr>
        <p:spPr>
          <a:xfrm>
            <a:off x="12458700" y="3796589"/>
            <a:ext cx="45345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Cl/F + O₂ 식각 recipe에서 거의 수직에 가까운 profile, CD 중심값 target 부근.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2458700" y="4482389"/>
            <a:ext cx="45345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비아 하단 정렬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2458700" y="4811573"/>
            <a:ext cx="45345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Over-etch로 라인 위로 비아가 안착, 라인 경계 너머로 hole expansion 없음.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2458700" y="5497373"/>
            <a:ext cx="45345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SiN 잔류 / 금속 잔류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12458700" y="5827471"/>
            <a:ext cx="45345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 사이 gap fill SiN은 남고, EDS 맵상 단락 의심 신호는 확인되지 않음.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218895" y="8553298"/>
            <a:ext cx="14897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218895" y="8858707"/>
            <a:ext cx="148974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A 단면상 Ru 라인 profile이 수직을 유지하고, 비아가 라인 위로 self-align 되어 형성됨을 확인할 수 있다.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14400" y="9658807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667305"/>
            <a:ext cx="10877702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2077395" y="2667305"/>
            <a:ext cx="53154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14400" y="8382305"/>
            <a:ext cx="15887700" cy="76169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06102"/>
            <a:ext cx="15887700" cy="9144"/>
          </a:xfrm>
          <a:prstGeom prst="rect">
            <a:avLst/>
          </a:prstGeom>
        </p:spPr>
      </p:pic>
      <p:pic>
        <p:nvPicPr>
          <p:cNvPr id="8" name="Image 2" descr="gen-dedup-a9fac6c5083b2a569763c79d066c6e48.png">    </p:cNvPr>
          <p:cNvPicPr>
            <a:picLocks noChangeAspect="1"/>
          </p:cNvPicPr>
          <p:nvPr/>
        </p:nvPicPr>
        <p:blipFill>
          <a:blip r:embed="rId3"/>
          <a:srcRect l="-60" r="-60" t="0" b="0"/>
          <a:stretch/>
        </p:blipFill>
        <p:spPr>
          <a:xfrm>
            <a:off x="12077395" y="2667305"/>
            <a:ext cx="133502" cy="533369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FIB CROSS-SECTION · SPLIT B</a:t>
            </a:r>
            <a:endParaRPr lang="en-US" sz="1350" dirty="0"/>
          </a:p>
        </p:txBody>
      </p:sp>
      <p:sp>
        <p:nvSpPr>
          <p:cNvPr id="10" name="Text 4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12</a:t>
            </a:r>
            <a:endParaRPr lang="en-US" sz="1350" dirty="0"/>
          </a:p>
        </p:txBody>
      </p:sp>
      <p:sp>
        <p:nvSpPr>
          <p:cNvPr id="11" name="Text 5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0" dirty="0"/>
          </a:p>
        </p:txBody>
      </p:sp>
      <p:sp>
        <p:nvSpPr>
          <p:cNvPr id="12" name="Text 6"/>
          <p:cNvSpPr txBox="1"/>
          <p:nvPr/>
        </p:nvSpPr>
        <p:spPr>
          <a:xfrm>
            <a:off x="914400" y="1143000"/>
            <a:ext cx="123828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B 단면 · 일반 다마신 Cu reference</a:t>
            </a:r>
            <a:endParaRPr lang="en-US" sz="3600" dirty="0"/>
          </a:p>
        </p:txBody>
      </p:sp>
      <p:sp>
        <p:nvSpPr>
          <p:cNvPr id="13" name="Text 7"/>
          <p:cNvSpPr txBox="1"/>
          <p:nvPr/>
        </p:nvSpPr>
        <p:spPr>
          <a:xfrm>
            <a:off x="914400" y="1737360"/>
            <a:ext cx="12382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M2에 동일 recipe의 trench/via + Cu 전기도금 reference 단면. Split A와의 비교 기준선.</a:t>
            </a:r>
            <a:endParaRPr lang="en-US" sz="1650" dirty="0"/>
          </a:p>
        </p:txBody>
      </p:sp>
      <p:sp>
        <p:nvSpPr>
          <p:cNvPr id="14" name="Text 8"/>
          <p:cNvSpPr txBox="1"/>
          <p:nvPr/>
        </p:nvSpPr>
        <p:spPr>
          <a:xfrm>
            <a:off x="914400" y="8153705"/>
            <a:ext cx="10858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Semiconductor Digest, 〈Semi-damascene Metallization: Inflection Point in BEOL Processing〉 기사 이미지(예시 photo)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2458700" y="3010205"/>
            <a:ext cx="46488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6E8F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포인트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2458700" y="3429000"/>
            <a:ext cx="46488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Trench / via 동시 형성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12458700" y="3758184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Single damascene 흐름 대비 step 수는 줄지만 via 정렬은 photo 리소그래피 의존.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2458700" y="4443984"/>
            <a:ext cx="46488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Cu 도금 / 평탄화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12458700" y="4774082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TaN 배리어 위에 Cu 시드, 도금 후 CMP. 디싱/erosion에 의한 단차 발생 가능.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2458700" y="5459882"/>
            <a:ext cx="46488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CD 거동</a:t>
            </a:r>
            <a:endParaRPr lang="en-US" sz="1650" dirty="0"/>
          </a:p>
        </p:txBody>
      </p:sp>
      <p:sp>
        <p:nvSpPr>
          <p:cNvPr id="21" name="Text 15"/>
          <p:cNvSpPr txBox="1"/>
          <p:nvPr/>
        </p:nvSpPr>
        <p:spPr>
          <a:xfrm>
            <a:off x="12458700" y="5789066"/>
            <a:ext cx="46488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lot에서 평균 CD는 Split A 대비 비슷한 수준으로 잡히나, 라인 최상단 erosion 흔적이 단면상 확인됨.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218895" y="8553298"/>
            <a:ext cx="14897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218895" y="8858707"/>
            <a:ext cx="148974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B reference 단면은 9·10번 슬라이드의 CD/Electrical 비교에서 baseline으로 사용된다.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" y="9658807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667305"/>
            <a:ext cx="11259007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2458700" y="2667305"/>
            <a:ext cx="4934102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2458700" y="4476902"/>
            <a:ext cx="4934102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458700" y="6286500"/>
            <a:ext cx="4934102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14400" y="8382305"/>
            <a:ext cx="15887700" cy="76169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06102"/>
            <a:ext cx="15887700" cy="91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BRIGHT-FIELD TEM CROSS-SECTION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12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1143000"/>
            <a:ext cx="123828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고배율 TEM · 라인 결정성 · 계면</a:t>
            </a:r>
            <a:endParaRPr lang="en-US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1737360"/>
            <a:ext cx="12382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W01 라인에서 추출한 박막 시료. 결정립 방향과 SiN/Ru 계면의 연속성을 점검.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8153705"/>
            <a:ext cx="11239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Phys.org, 〈Semi-damascene integration approach enables 16 nm pitch Ru lines〉 기사 이미지(예시 photo)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2763195" y="2933395"/>
            <a:ext cx="44202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CALLOUT — 01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2763195" y="3238805"/>
            <a:ext cx="44202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 라인에서 결정립이 종방향으로 평균 18–24 nm 길이로 정렬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2763195" y="4743907"/>
            <a:ext cx="44202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CALLOUT — 02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2763195" y="5048402"/>
            <a:ext cx="44202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 / Ru 계면 연속, void·박리 의심 신호 없음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2763195" y="6553505"/>
            <a:ext cx="44202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CALLOUT — 03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763195" y="6858000"/>
            <a:ext cx="44202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 하부 폭이 target 9 nm 근처, 측벽 taper 안정적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18895" y="8553298"/>
            <a:ext cx="14897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218895" y="8858707"/>
            <a:ext cx="148974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 단면상 결정립 정렬과 계면 연속성은 양호, 하단 폭이 9 nm 근처로 측정되어 8번 슬라이드 AMI 수치와 모순되지 않는다.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914400" y="9658807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667305"/>
            <a:ext cx="8591702" cy="5352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791395" y="2667305"/>
            <a:ext cx="7601407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791395" y="4476902"/>
            <a:ext cx="7601407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791395" y="6286500"/>
            <a:ext cx="7601407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14400" y="8382305"/>
            <a:ext cx="15887700" cy="76169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06102"/>
            <a:ext cx="15887700" cy="91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TOP-DOWN SEM · LINE / SPACE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12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1143000"/>
            <a:ext cx="123828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Top-view · 라인 균일성 스냅샷</a:t>
            </a:r>
            <a:endParaRPr lang="en-US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1737360"/>
            <a:ext cx="12382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die의 인접 필드, 라인 결함 / 결손 / 풀리 잔사를 top-down으로 본다.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8153705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imec, 〈20 nm pitch metal lines via High NA EUV single patterning〉 기사 이미지(예시 photo)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116007" y="2933395"/>
            <a:ext cx="70107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2E5C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PITCH CHECK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0116007" y="3258007"/>
            <a:ext cx="70107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nm / 26 nm 두 영역을 같은 die에서 캡처</a:t>
            </a:r>
            <a:endParaRPr lang="en-US" sz="1950" dirty="0"/>
          </a:p>
        </p:txBody>
      </p:sp>
      <p:sp>
        <p:nvSpPr>
          <p:cNvPr id="18" name="Text 13"/>
          <p:cNvSpPr txBox="1"/>
          <p:nvPr/>
        </p:nvSpPr>
        <p:spPr>
          <a:xfrm>
            <a:off x="10116007" y="3624682"/>
            <a:ext cx="70107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라인/공간 라인이 의도대로 번갈아 배치, line-collapse 의심 결함은 보이지 않음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0116007" y="4743907"/>
            <a:ext cx="70107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4F7CA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EDGE ROUGHNESS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0116007" y="5067605"/>
            <a:ext cx="70107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LER · LWR 정성 점검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10116007" y="5434279"/>
            <a:ext cx="70107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lot에서는 LER rough pass, 정량값은 8·10번 슬라이드에서 별도로 다룬다.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0116007" y="6553505"/>
            <a:ext cx="70107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6E8F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DEFECT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0116007" y="6877202"/>
            <a:ext cx="7010705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현장에서 식별 가능한 결함 없음</a:t>
            </a:r>
            <a:endParaRPr lang="en-US" sz="1950" dirty="0"/>
          </a:p>
        </p:txBody>
      </p:sp>
      <p:sp>
        <p:nvSpPr>
          <p:cNvPr id="24" name="Text 19"/>
          <p:cNvSpPr txBox="1"/>
          <p:nvPr/>
        </p:nvSpPr>
        <p:spPr>
          <a:xfrm>
            <a:off x="10116007" y="7243877"/>
            <a:ext cx="70107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 결손, 단락 의심 패턴, 잔사 puddle 모두 본 슬라이드 범위에서는 발견되지 않음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1218895" y="8553298"/>
            <a:ext cx="14897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1218895" y="8858707"/>
            <a:ext cx="148974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Top-view 스냅샷은 라인 결함 정성 점검을 위한 1차 패스이며, 정량적 LER/LWR은 후속 dummy lot에서 별도 다루기로 한다.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14400" y="9658807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361895"/>
            <a:ext cx="15906902" cy="308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14400" y="5619902"/>
            <a:ext cx="15906902" cy="308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14400" y="8876995"/>
            <a:ext cx="15887700" cy="571500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62795"/>
            <a:ext cx="15887700" cy="914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2361895"/>
            <a:ext cx="15887700" cy="571500"/>
          </a:xfrm>
          <a:prstGeom prst="rect">
            <a:avLst/>
          </a:prstGeom>
          <a:solidFill>
            <a:srgbClr val="2C4A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14400" y="5619902"/>
            <a:ext cx="15887700" cy="571500"/>
          </a:xfrm>
          <a:prstGeom prst="rect">
            <a:avLst/>
          </a:prstGeom>
          <a:solidFill>
            <a:srgbClr val="4F7C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 VARIATION · BEFORE-METAL STAGES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12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1143000"/>
            <a:ext cx="123828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· ASEI CD Variation, 4 wafer</a:t>
            </a:r>
            <a:endParaRPr lang="en-US" sz="345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1660550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Spacer 단계 직후 · SiN 식각 직후 CD. wafer별 mean · 3σ · range · delta.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1405" y="2514600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· After-All-Spacer Inspection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181405" y="2800807"/>
            <a:ext cx="10478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25.3 nm · unit nm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287500" y="2609698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spc="21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SPACER STAGE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1405" y="3124505"/>
          <a:ext cx="15354605" cy="2115007"/>
        </p:xfrm>
        <a:graphic>
          <a:graphicData uri="http://schemas.openxmlformats.org/drawingml/2006/table">
            <a:tbl>
              <a:tblPr/>
              <a:tblGrid>
                <a:gridCol w="2210105"/>
                <a:gridCol w="1734617"/>
                <a:gridCol w="1747418"/>
                <a:gridCol w="2018995"/>
                <a:gridCol w="1947672"/>
                <a:gridCol w="2269541"/>
                <a:gridCol w="3425342"/>
              </a:tblGrid>
              <a:tr h="423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WAFER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MEAN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 vs TGT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PASS CRITERIA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25.43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1.0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25.31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2.41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1.0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25.18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−0.12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1.0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25.47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+0.17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1.0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1181405" y="5772607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 · After-Spacer-Etch Inspect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181405" y="6057900"/>
            <a:ext cx="10478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18.2 nm · unit nm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287500" y="5867705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spc="21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POST-ETCH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1405" y="6381598"/>
          <a:ext cx="15354605" cy="2115007"/>
        </p:xfrm>
        <a:graphic>
          <a:graphicData uri="http://schemas.openxmlformats.org/drawingml/2006/table">
            <a:tbl>
              <a:tblPr/>
              <a:tblGrid>
                <a:gridCol w="2210105"/>
                <a:gridCol w="1734617"/>
                <a:gridCol w="1747418"/>
                <a:gridCol w="2018995"/>
                <a:gridCol w="1947672"/>
                <a:gridCol w="2269541"/>
                <a:gridCol w="3425342"/>
              </a:tblGrid>
              <a:tr h="423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WAFER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MEAN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 vs TGT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PASS CRITERIA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18.27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+0.07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0.8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18.21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1.82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0.8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18.12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0.8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18.34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2.31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0.8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6"/>
          <p:cNvSpPr txBox="1"/>
          <p:nvPr/>
        </p:nvSpPr>
        <p:spPr>
          <a:xfrm>
            <a:off x="1218895" y="8973007"/>
            <a:ext cx="148974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218895" y="9219895"/>
            <a:ext cx="148974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Spacer 단계 4 wafer가 target ±0.2 nm 이내, 3σ 모두 통과, W02가 두 metric 모두에서 가장 균일하다.</a:t>
            </a:r>
            <a:endParaRPr lang="en-US" sz="1650" dirty="0"/>
          </a:p>
        </p:txBody>
      </p:sp>
      <p:sp>
        <p:nvSpPr>
          <p:cNvPr id="25" name="Text 18"/>
          <p:cNvSpPr txBox="1"/>
          <p:nvPr/>
        </p:nvSpPr>
        <p:spPr>
          <a:xfrm>
            <a:off x="914400" y="9696298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361895"/>
            <a:ext cx="15906902" cy="308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14400" y="5619902"/>
            <a:ext cx="15906902" cy="3086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14400" y="8876995"/>
            <a:ext cx="15887700" cy="571500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62795"/>
            <a:ext cx="15887700" cy="914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2361895"/>
            <a:ext cx="15887700" cy="571500"/>
          </a:xfrm>
          <a:prstGeom prst="rect">
            <a:avLst/>
          </a:prstGeom>
          <a:solidFill>
            <a:srgbClr val="6E8F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14400" y="5619902"/>
            <a:ext cx="15887700" cy="571500"/>
          </a:xfrm>
          <a:prstGeom prst="rect">
            <a:avLst/>
          </a:prstGeom>
          <a:solidFill>
            <a:srgbClr val="93AE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 VARIATION · AFTER-METAL STAGES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12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1143000"/>
            <a:ext cx="123828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· ACI CD Variation, 4 wafer</a:t>
            </a:r>
            <a:endParaRPr lang="en-US" sz="345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1660550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 식각 직후(AMI) · CMP 후(ACI) CD. 최종 두께 단계에서 wafer별 변동.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1405" y="2514600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· After-Metal Inspect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181405" y="2800807"/>
            <a:ext cx="10478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8.5 nm · unit nm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287500" y="2609698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spc="216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POST-RU ETCH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1405" y="3124505"/>
          <a:ext cx="15354605" cy="2115007"/>
        </p:xfrm>
        <a:graphic>
          <a:graphicData uri="http://schemas.openxmlformats.org/drawingml/2006/table">
            <a:tbl>
              <a:tblPr/>
              <a:tblGrid>
                <a:gridCol w="2210105"/>
                <a:gridCol w="1734617"/>
                <a:gridCol w="1747418"/>
                <a:gridCol w="2018995"/>
                <a:gridCol w="1947672"/>
                <a:gridCol w="2269541"/>
                <a:gridCol w="3425342"/>
              </a:tblGrid>
              <a:tr h="423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WAFER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MEAN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 vs TGT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PASS CRITERIA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8.58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0.6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8.51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1.22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0.6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8.42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0.6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8.63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0.6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1181405" y="5772607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1F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 · After-CMP Inspect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181405" y="6057900"/>
            <a:ext cx="10478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8.3 nm · unit nm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287500" y="5867705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spc="216" kern="0" dirty="0">
                <a:solidFill>
                  <a:srgbClr val="1F31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POST-CMP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1405" y="6381598"/>
          <a:ext cx="15354605" cy="2115007"/>
        </p:xfrm>
        <a:graphic>
          <a:graphicData uri="http://schemas.openxmlformats.org/drawingml/2006/table">
            <a:tbl>
              <a:tblPr/>
              <a:tblGrid>
                <a:gridCol w="2210105"/>
                <a:gridCol w="1734617"/>
                <a:gridCol w="1747418"/>
                <a:gridCol w="2018995"/>
                <a:gridCol w="1947672"/>
                <a:gridCol w="2269541"/>
                <a:gridCol w="3425342"/>
              </a:tblGrid>
              <a:tr h="423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WAFER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MEAN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 vs TGT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PASS CRITERIA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8.36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1.55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0.6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8.30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0.6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8.21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−0.09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0.6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0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8.41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1.78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 ≤ 0.6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6"/>
          <p:cNvSpPr txBox="1"/>
          <p:nvPr/>
        </p:nvSpPr>
        <p:spPr>
          <a:xfrm>
            <a:off x="1218895" y="8973007"/>
            <a:ext cx="148974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218895" y="9219895"/>
            <a:ext cx="148974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 식각과 CMP 이후 모든 wafer가 dummy 통과 기준 충족, W02 ACI는 target과 일치, W04가 가장 큰 range.</a:t>
            </a:r>
            <a:endParaRPr lang="en-US" sz="1650" dirty="0"/>
          </a:p>
        </p:txBody>
      </p:sp>
      <p:sp>
        <p:nvSpPr>
          <p:cNvPr id="25" name="Text 18"/>
          <p:cNvSpPr txBox="1"/>
          <p:nvPr/>
        </p:nvSpPr>
        <p:spPr>
          <a:xfrm>
            <a:off x="914400" y="9696298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667305"/>
            <a:ext cx="15906902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14400" y="8382305"/>
            <a:ext cx="15887700" cy="76169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06102"/>
            <a:ext cx="15887700" cy="9144"/>
          </a:xfrm>
          <a:prstGeom prst="rect">
            <a:avLst/>
          </a:prstGeom>
        </p:spPr>
      </p:pic>
      <p:pic>
        <p:nvPicPr>
          <p:cNvPr id="7" name="Image 2" descr="gen-dedup-9e0b5a7a5e7b2e64e604ea24e459709b.png">    </p:cNvPr>
          <p:cNvPicPr>
            <a:picLocks noChangeAspect="1"/>
          </p:cNvPicPr>
          <p:nvPr/>
        </p:nvPicPr>
        <p:blipFill>
          <a:blip r:embed="rId3"/>
          <a:srcRect l="-54" r="-54" t="0" b="0"/>
          <a:stretch/>
        </p:blipFill>
        <p:spPr>
          <a:xfrm>
            <a:off x="914400" y="2667305"/>
            <a:ext cx="133502" cy="552480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IN-WAFER UNIFORMITY · 4 METRICS × 4 WAFERS</a:t>
            </a:r>
            <a:endParaRPr lang="en-US" sz="1350" dirty="0"/>
          </a:p>
        </p:txBody>
      </p:sp>
      <p:sp>
        <p:nvSpPr>
          <p:cNvPr id="9" name="Text 3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1350" dirty="0"/>
          </a:p>
        </p:txBody>
      </p:sp>
      <p:sp>
        <p:nvSpPr>
          <p:cNvPr id="10" name="Text 4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0" dirty="0"/>
          </a:p>
        </p:txBody>
      </p:sp>
      <p:sp>
        <p:nvSpPr>
          <p:cNvPr id="11" name="Text 5"/>
          <p:cNvSpPr txBox="1"/>
          <p:nvPr/>
        </p:nvSpPr>
        <p:spPr>
          <a:xfrm>
            <a:off x="914400" y="1143000"/>
            <a:ext cx="123828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 내 균일도 · 4 metrics 요약</a:t>
            </a:r>
            <a:endParaRPr lang="en-US" sz="3600" dirty="0"/>
          </a:p>
        </p:txBody>
      </p:sp>
      <p:sp>
        <p:nvSpPr>
          <p:cNvPr id="12" name="Text 6"/>
          <p:cNvSpPr txBox="1"/>
          <p:nvPr/>
        </p:nvSpPr>
        <p:spPr>
          <a:xfrm>
            <a:off x="914400" y="1737360"/>
            <a:ext cx="12382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13-point 측정 사이트 안에서의 3σ · max-min range · target 대비 평균 dev. 4개 CD 단계에 대해 wafer별로.</a:t>
            </a:r>
            <a:endParaRPr lang="en-US" sz="16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33195" y="2895905"/>
          <a:ext cx="15240305" cy="3686861"/>
        </p:xfrm>
        <a:graphic>
          <a:graphicData uri="http://schemas.openxmlformats.org/drawingml/2006/table">
            <a:tbl>
              <a:tblPr/>
              <a:tblGrid>
                <a:gridCol w="1398118"/>
                <a:gridCol w="1153058"/>
                <a:gridCol w="1153058"/>
                <a:gridCol w="1153058"/>
                <a:gridCol w="1153058"/>
                <a:gridCol w="1153058"/>
                <a:gridCol w="1153058"/>
                <a:gridCol w="1153058"/>
                <a:gridCol w="1153058"/>
                <a:gridCol w="1153058"/>
                <a:gridCol w="1153973"/>
                <a:gridCol w="1153973"/>
                <a:gridCol w="1153973"/>
              </a:tblGrid>
              <a:tr h="614477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WAFER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C4A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AASI · target 25.3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ASEI · target 18.2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AMI · target 8.5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5C7D9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ACI · target 8.3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33502" marB="133502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614477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|MEAN−TGT|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|MEAN−TGT|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|MEAN−TGT|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3σ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RANGE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|MEAN−TGT|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W01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0.78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2.94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0.13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0.56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0.07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0.42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1.55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0.06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W02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0.62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2.41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1.82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0.36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1.22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W03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200" dirty="0"/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2.10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0.12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0.34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0.09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W04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</a:t>
                      </a:r>
                      <a:endParaRPr lang="en-US" sz="1200" dirty="0"/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0.84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3.12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0.17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0.62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2.31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0.14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0.46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1.61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0.13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1.78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171907" marB="171907" anchor="ctr">
                    <a:lnL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7"/>
          <p:cNvSpPr txBox="1"/>
          <p:nvPr/>
        </p:nvSpPr>
        <p:spPr>
          <a:xfrm>
            <a:off x="914400" y="8305495"/>
            <a:ext cx="15887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: 3σ·range nm / |mean−target| nm · 모든 수치는 dummy lot 13 점 측정 기준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218895" y="8553298"/>
            <a:ext cx="14897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16" name="Text 9"/>
          <p:cNvSpPr txBox="1"/>
          <p:nvPr/>
        </p:nvSpPr>
        <p:spPr>
          <a:xfrm>
            <a:off x="1218895" y="8858707"/>
            <a:ext cx="148974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A의 W02가 12개 셀 중 9개에서 최소값을 보여 가장 균일한 wafer로 확인되었고, W04가 전반적으로 가장 큰 spread를 보인다.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914400" y="9658807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667305"/>
            <a:ext cx="7258507" cy="5544007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458200" y="2667305"/>
            <a:ext cx="8363102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458200" y="4762195"/>
            <a:ext cx="8363102" cy="34482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4400" y="8382305"/>
            <a:ext cx="15887700" cy="76169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506102"/>
            <a:ext cx="15887700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676095" y="3429000"/>
            <a:ext cx="5333695" cy="4000500"/>
          </a:xfrm>
          <a:prstGeom prst="roundRect">
            <a:avLst>
              <a:gd name="adj" fmla="val 50011"/>
            </a:avLst>
          </a:prstGeom>
          <a:noFill/>
          <a:ln w="25400">
            <a:solidFill>
              <a:srgbClr val="B5C6D6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438705" y="4000500"/>
            <a:ext cx="3810305" cy="2857500"/>
          </a:xfrm>
          <a:prstGeom prst="roundRect">
            <a:avLst>
              <a:gd name="adj" fmla="val 50016"/>
            </a:avLst>
          </a:prstGeom>
          <a:noFill/>
          <a:ln w="12700">
            <a:solidFill>
              <a:srgbClr val="DCE5E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200400" y="4572000"/>
            <a:ext cx="2286000" cy="1714500"/>
          </a:xfrm>
          <a:prstGeom prst="roundRect">
            <a:avLst>
              <a:gd name="adj" fmla="val 50027"/>
            </a:avLst>
          </a:prstGeom>
          <a:noFill/>
          <a:ln w="12700">
            <a:solidFill>
              <a:srgbClr val="E3E9F1"/>
            </a:solidFill>
            <a:prstDash val="solid"/>
          </a:ln>
        </p:spPr>
      </p:sp>
      <p:pic>
        <p:nvPicPr>
          <p:cNvPr id="12" name="Image 2" descr="gen-dedup-fd11e7bb3a97b2c685967fc357c0d65e.png">    </p:cNvPr>
          <p:cNvPicPr>
            <a:picLocks noChangeAspect="1"/>
          </p:cNvPicPr>
          <p:nvPr/>
        </p:nvPicPr>
        <p:blipFill>
          <a:blip r:embed="rId3"/>
          <a:srcRect l="0" r="0" t="-2089" b="-2089"/>
          <a:stretch/>
        </p:blipFill>
        <p:spPr>
          <a:xfrm>
            <a:off x="4343400" y="3238805"/>
            <a:ext cx="9144" cy="4381805"/>
          </a:xfrm>
          <a:prstGeom prst="rect">
            <a:avLst/>
          </a:prstGeom>
        </p:spPr>
      </p:pic>
      <p:pic>
        <p:nvPicPr>
          <p:cNvPr id="13" name="Image 3" descr="gen-dedup-2bde84a647c588f873b82a6f8282bac7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485900" y="5419649"/>
            <a:ext cx="6096305" cy="91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229100" y="5315407"/>
            <a:ext cx="247802" cy="247802"/>
          </a:xfrm>
          <a:prstGeom prst="ellipse">
            <a:avLst/>
          </a:prstGeom>
          <a:solidFill>
            <a:srgbClr val="C9D8E5"/>
          </a:solidFill>
          <a:ln w="12700">
            <a:solidFill>
              <a:srgbClr val="6E8FB0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467198" y="5315407"/>
            <a:ext cx="247802" cy="247802"/>
          </a:xfrm>
          <a:prstGeom prst="ellipse">
            <a:avLst/>
          </a:prstGeom>
          <a:solidFill>
            <a:srgbClr val="7FA4BE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2991002" y="5315407"/>
            <a:ext cx="247802" cy="247802"/>
          </a:xfrm>
          <a:prstGeom prst="ellipse">
            <a:avLst/>
          </a:prstGeom>
          <a:solidFill>
            <a:srgbClr val="C0D2E0"/>
          </a:solidFill>
          <a:ln w="12700">
            <a:solidFill>
              <a:srgbClr val="6E8FB0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229100" y="4076395"/>
            <a:ext cx="247802" cy="247802"/>
          </a:xfrm>
          <a:prstGeom prst="ellipse">
            <a:avLst/>
          </a:prstGeom>
          <a:solidFill>
            <a:srgbClr val="7FA4BE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229100" y="6553505"/>
            <a:ext cx="247802" cy="247802"/>
          </a:xfrm>
          <a:prstGeom prst="ellipse">
            <a:avLst/>
          </a:prstGeom>
          <a:solidFill>
            <a:srgbClr val="93AEC4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6133795" y="5315407"/>
            <a:ext cx="247802" cy="247802"/>
          </a:xfrm>
          <a:prstGeom prst="ellipse">
            <a:avLst/>
          </a:prstGeom>
          <a:solidFill>
            <a:srgbClr val="4F7CAC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2324405" y="5315407"/>
            <a:ext cx="247802" cy="247802"/>
          </a:xfrm>
          <a:prstGeom prst="ellipse">
            <a:avLst/>
          </a:prstGeom>
          <a:solidFill>
            <a:srgbClr val="B6CADC"/>
          </a:solidFill>
          <a:ln w="12700">
            <a:solidFill>
              <a:srgbClr val="6E8FB0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229100" y="3409798"/>
            <a:ext cx="247802" cy="247802"/>
          </a:xfrm>
          <a:prstGeom prst="ellipse">
            <a:avLst/>
          </a:prstGeom>
          <a:solidFill>
            <a:srgbClr val="B6CADC"/>
          </a:solidFill>
          <a:ln w="12700">
            <a:solidFill>
              <a:srgbClr val="6E8FB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229100" y="7220102"/>
            <a:ext cx="247802" cy="247802"/>
          </a:xfrm>
          <a:prstGeom prst="ellipse">
            <a:avLst/>
          </a:prstGeom>
          <a:solidFill>
            <a:srgbClr val="7FA4BE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801307" y="5315407"/>
            <a:ext cx="267005" cy="267005"/>
          </a:xfrm>
          <a:prstGeom prst="ellipse">
            <a:avLst/>
          </a:prstGeom>
          <a:solidFill>
            <a:srgbClr val="2C4A6E"/>
          </a:solidFill>
          <a:ln w="25400">
            <a:solidFill>
              <a:srgbClr val="1F314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657807" y="5315407"/>
            <a:ext cx="247802" cy="247802"/>
          </a:xfrm>
          <a:prstGeom prst="ellipse">
            <a:avLst/>
          </a:prstGeom>
          <a:solidFill>
            <a:srgbClr val="C8D6E3"/>
          </a:solidFill>
          <a:ln w="12700">
            <a:solidFill>
              <a:srgbClr val="6E8FB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229100" y="2590495"/>
            <a:ext cx="267005" cy="267005"/>
          </a:xfrm>
          <a:prstGeom prst="ellipse">
            <a:avLst/>
          </a:prstGeom>
          <a:solidFill>
            <a:srgbClr val="2C4A6E"/>
          </a:solidFill>
          <a:ln w="25400">
            <a:solidFill>
              <a:srgbClr val="1F314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229100" y="7886700"/>
            <a:ext cx="247802" cy="247802"/>
          </a:xfrm>
          <a:prstGeom prst="ellipse">
            <a:avLst/>
          </a:prstGeom>
          <a:solidFill>
            <a:srgbClr val="7FA4BE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 rot="2700000">
            <a:off x="4286707" y="7429500"/>
            <a:ext cx="114300" cy="114300"/>
          </a:xfrm>
          <a:prstGeom prst="rect">
            <a:avLst/>
          </a:prstGeom>
          <a:solidFill>
            <a:srgbClr val="93AE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485900" y="7810805"/>
            <a:ext cx="301569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 mm wafer · 13 site · schematic (개략)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1485900" y="3143707"/>
            <a:ext cx="5925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SITES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13-POINT WAFER MAP · W02 / ACI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0" dirty="0"/>
          </a:p>
        </p:txBody>
      </p:sp>
      <p:sp>
        <p:nvSpPr>
          <p:cNvPr id="33" name="Text 26"/>
          <p:cNvSpPr txBox="1"/>
          <p:nvPr/>
        </p:nvSpPr>
        <p:spPr>
          <a:xfrm>
            <a:off x="914400" y="1143000"/>
            <a:ext cx="123828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2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13-site Wafer Map · ACI 편차</a:t>
            </a:r>
            <a:endParaRPr lang="en-US" sz="3600" dirty="0"/>
          </a:p>
        </p:txBody>
      </p:sp>
      <p:sp>
        <p:nvSpPr>
          <p:cNvPr id="34" name="Text 27"/>
          <p:cNvSpPr txBox="1"/>
          <p:nvPr/>
        </p:nvSpPr>
        <p:spPr>
          <a:xfrm>
            <a:off x="914400" y="1737360"/>
            <a:ext cx="12382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W02의 ACI 측정 13개 사이트. 점 색은 기준 CD 8.3 nm 대비 편차로 구분.</a:t>
            </a:r>
            <a:endParaRPr lang="en-US" sz="1650" dirty="0"/>
          </a:p>
        </p:txBody>
      </p:sp>
      <p:sp>
        <p:nvSpPr>
          <p:cNvPr id="35" name="Text 28"/>
          <p:cNvSpPr txBox="1"/>
          <p:nvPr/>
        </p:nvSpPr>
        <p:spPr>
          <a:xfrm>
            <a:off x="8762695" y="2895905"/>
            <a:ext cx="7810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2E5C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DEVIATION BANDS · Δ vs 8.3 nm target</a:t>
            </a:r>
            <a:endParaRPr lang="en-US" sz="1350" dirty="0"/>
          </a:p>
        </p:txBody>
      </p:sp>
      <p:sp>
        <p:nvSpPr>
          <p:cNvPr id="36" name="Shape 29"/>
          <p:cNvSpPr/>
          <p:nvPr/>
        </p:nvSpPr>
        <p:spPr>
          <a:xfrm>
            <a:off x="8762695" y="3305556"/>
            <a:ext cx="228600" cy="228600"/>
          </a:xfrm>
          <a:prstGeom prst="ellipse">
            <a:avLst/>
          </a:prstGeom>
          <a:solidFill>
            <a:srgbClr val="C8D6E3"/>
          </a:solidFill>
          <a:ln w="12700">
            <a:solidFill>
              <a:srgbClr val="6E8FB0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9087307" y="3295498"/>
            <a:ext cx="8732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 &lt; −0.05</a:t>
            </a:r>
            <a:endParaRPr lang="en-US" sz="1350" dirty="0"/>
          </a:p>
        </p:txBody>
      </p:sp>
      <p:sp>
        <p:nvSpPr>
          <p:cNvPr id="38" name="Shape 31"/>
          <p:cNvSpPr/>
          <p:nvPr/>
        </p:nvSpPr>
        <p:spPr>
          <a:xfrm>
            <a:off x="10047427" y="3305556"/>
            <a:ext cx="228600" cy="228600"/>
          </a:xfrm>
          <a:prstGeom prst="ellipse">
            <a:avLst/>
          </a:prstGeom>
          <a:solidFill>
            <a:srgbClr val="93AEC4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10371125" y="3295498"/>
            <a:ext cx="96377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|Δ| ≤ 0.05</a:t>
            </a:r>
            <a:endParaRPr lang="en-US" sz="1350" dirty="0"/>
          </a:p>
        </p:txBody>
      </p:sp>
      <p:sp>
        <p:nvSpPr>
          <p:cNvPr id="40" name="Shape 33"/>
          <p:cNvSpPr/>
          <p:nvPr/>
        </p:nvSpPr>
        <p:spPr>
          <a:xfrm>
            <a:off x="11406226" y="3305556"/>
            <a:ext cx="228600" cy="22860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11729923" y="3295498"/>
            <a:ext cx="17007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 &lt; Δ ≤ +0.10</a:t>
            </a:r>
            <a:endParaRPr lang="en-US" sz="1350" dirty="0"/>
          </a:p>
        </p:txBody>
      </p:sp>
      <p:sp>
        <p:nvSpPr>
          <p:cNvPr id="42" name="Shape 35"/>
          <p:cNvSpPr/>
          <p:nvPr/>
        </p:nvSpPr>
        <p:spPr>
          <a:xfrm>
            <a:off x="13386816" y="3295498"/>
            <a:ext cx="247802" cy="247802"/>
          </a:xfrm>
          <a:prstGeom prst="ellipse">
            <a:avLst/>
          </a:prstGeom>
          <a:solidFill>
            <a:srgbClr val="2C4A6E"/>
          </a:solidFill>
          <a:ln w="25400">
            <a:solidFill>
              <a:srgbClr val="1F3142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13729716" y="3295498"/>
            <a:ext cx="8732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 &gt; +0.10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62695" y="4990795"/>
          <a:ext cx="7810805" cy="2352751"/>
        </p:xfrm>
        <a:graphic>
          <a:graphicData uri="http://schemas.openxmlformats.org/drawingml/2006/table">
            <a:tbl>
              <a:tblPr/>
              <a:tblGrid>
                <a:gridCol w="978408"/>
                <a:gridCol w="804672"/>
                <a:gridCol w="683057"/>
                <a:gridCol w="1076249"/>
                <a:gridCol w="804672"/>
                <a:gridCol w="683057"/>
                <a:gridCol w="989381"/>
                <a:gridCol w="1105510"/>
                <a:gridCol w="683971"/>
              </a:tblGrid>
              <a:tr h="3921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SITE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CD nm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SITE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CD nm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SITE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CD nm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Center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8.26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Inner NE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8.28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 NE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8.22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Inner NW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8.35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Inner SW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8.24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−0.06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 NW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8.41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Inner SE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8.38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 SE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8.27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−0.03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 SW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8.34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+0.04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Outer NE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8.18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E8FB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−0.12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Outer NW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8.47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C4A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+0.17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Outer SW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8.39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+0.09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92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Outer SE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8.25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−0.05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Site mean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8.30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2E5C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 sites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dummy lot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3502" marR="133502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Text 37"/>
          <p:cNvSpPr txBox="1"/>
          <p:nvPr/>
        </p:nvSpPr>
        <p:spPr>
          <a:xfrm>
            <a:off x="1218895" y="8553298"/>
            <a:ext cx="148974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46" name="Text 38"/>
          <p:cNvSpPr txBox="1"/>
          <p:nvPr/>
        </p:nvSpPr>
        <p:spPr>
          <a:xfrm>
            <a:off x="1218895" y="8858707"/>
            <a:ext cx="1528419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사이트 중 12개가 ±0.1 nm 이내에 들어가며, NW outer에서 +0.17 nm, NE outer에서 −0.12 nm가 이번 dummy lot의 양 극값이다.</a:t>
            </a:r>
            <a:endParaRPr lang="en-US" sz="1800" dirty="0"/>
          </a:p>
        </p:txBody>
      </p:sp>
      <p:sp>
        <p:nvSpPr>
          <p:cNvPr id="47" name="Text 39"/>
          <p:cNvSpPr txBox="1"/>
          <p:nvPr/>
        </p:nvSpPr>
        <p:spPr>
          <a:xfrm>
            <a:off x="914400" y="9658807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3f69bca6f44bdedd2a3590325029b07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2514600"/>
            <a:ext cx="159069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914400" y="5562295"/>
            <a:ext cx="15906902" cy="2876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14400" y="8686800"/>
            <a:ext cx="15887700" cy="609905"/>
          </a:xfrm>
          <a:prstGeom prst="rect">
            <a:avLst/>
          </a:prstGeom>
          <a:solidFill>
            <a:srgbClr val="1F31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gen-dedup-ce7d04f0873dfaca71aff792722ea0ee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14400" y="9467698"/>
            <a:ext cx="15887700" cy="914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2514600"/>
            <a:ext cx="15887700" cy="571500"/>
          </a:xfrm>
          <a:prstGeom prst="rect">
            <a:avLst/>
          </a:prstGeom>
          <a:solidFill>
            <a:srgbClr val="2C4A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14400" y="5562295"/>
            <a:ext cx="15887700" cy="571500"/>
          </a:xfrm>
          <a:prstGeom prst="rect">
            <a:avLst/>
          </a:prstGeom>
          <a:solidFill>
            <a:srgbClr val="4F7C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914400" y="609905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ELECTRICAL CHARACTERISTICS · 1ST-PASS</a:t>
            </a:r>
            <a:endParaRPr lang="en-US" sz="1350" dirty="0"/>
          </a:p>
        </p:txBody>
      </p:sp>
      <p:sp>
        <p:nvSpPr>
          <p:cNvPr id="11" name="Text 6"/>
          <p:cNvSpPr txBox="1"/>
          <p:nvPr/>
        </p:nvSpPr>
        <p:spPr>
          <a:xfrm>
            <a:off x="15468905" y="60990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4287500" y="1047902"/>
            <a:ext cx="30861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0" b="1" spc="-360" kern="0" dirty="0">
                <a:solidFill>
                  <a:srgbClr val="2A3A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1143000"/>
            <a:ext cx="123828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1A2B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 특성 · 누설 · 비아 저항 · TDDB</a:t>
            </a:r>
            <a:endParaRPr lang="en-US" sz="345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1698041"/>
            <a:ext cx="12382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A4D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스크리닝 결과. M2 라인-라인 누설, 단위 비아 Kelvin 저항, 100 °C TDDB Weibull.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1405" y="2686507"/>
            <a:ext cx="10858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A9C0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A · 누설 전류 &amp; 단위 비아 저항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181405" y="2991002"/>
            <a:ext cx="10858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lot · 1차 스크리닝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287500" y="27432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spc="216" kern="0" dirty="0">
                <a:solidFill>
                  <a:srgbClr val="C9D8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 PROBE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1405" y="3238805"/>
          <a:ext cx="15354605" cy="2095805"/>
        </p:xfrm>
        <a:graphic>
          <a:graphicData uri="http://schemas.openxmlformats.org/drawingml/2006/table">
            <a:tbl>
              <a:tblPr/>
              <a:tblGrid>
                <a:gridCol w="4122784"/>
                <a:gridCol w="1638507"/>
                <a:gridCol w="1536101"/>
                <a:gridCol w="1699768"/>
                <a:gridCol w="1699768"/>
                <a:gridCol w="1536101"/>
                <a:gridCol w="1504098"/>
                <a:gridCol w="1617477"/>
              </a:tblGrid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PARAMETER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UNIT / 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W01 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W02 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W03 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W04 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TARGET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VERDICT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Leakage @ 1.0 V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A/µm², 25 °C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1.32e−9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9.60e−10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8.74e−10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1.04e−9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≤ 5e−9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4/4 pass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Single-via Kelvin R, mean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Ω, 25 °C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39.8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37.4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36.1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41.2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≤ 45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4/4 pass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% meeting R target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%, 25 °C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86.2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92.7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94.1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84.5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≥ 85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3/4 pass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1181405" y="5734202"/>
            <a:ext cx="10858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D8E4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B · TDDB · 100 °C · 인접 라인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181405" y="6038698"/>
            <a:ext cx="10858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Weibull · lifetime · reference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4287500" y="5790895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spc="216" kern="0" dirty="0">
                <a:solidFill>
                  <a:srgbClr val="E1EA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RELIABILITY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1405" y="6286500"/>
          <a:ext cx="15354605" cy="2134210"/>
        </p:xfrm>
        <a:graphic>
          <a:graphicData uri="http://schemas.openxmlformats.org/drawingml/2006/table">
            <a:tbl>
              <a:tblPr/>
              <a:tblGrid>
                <a:gridCol w="3530288"/>
                <a:gridCol w="1638507"/>
                <a:gridCol w="1482154"/>
                <a:gridCol w="1482154"/>
                <a:gridCol w="1494955"/>
                <a:gridCol w="1494955"/>
                <a:gridCol w="2347125"/>
                <a:gridCol w="1884466"/>
              </a:tblGrid>
              <a:tr h="5335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PARAMETER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UNIT / 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W01 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W02 A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W03 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W04 B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REFERENCE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VERDICT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335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Weibull β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—, 100 °C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1.51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≥ 1.2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4/4 pass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5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 @ 10-yr lifetime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MV/cm, 100 °C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4.62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4.97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≥ 4.0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4/4 pass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3355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breakdown</a:t>
                      </a:r>
                      <a:endParaRPr lang="en-US" sz="1200" dirty="0"/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s, 100 °C</a:t>
                      </a:r>
                      <a:endParaRPr lang="en-US" sz="13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7.8e5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9.6e5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1.1e6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24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6.9e5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5C73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≥ 5e5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4F7CA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4/4 pass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6"/>
          <p:cNvSpPr txBox="1"/>
          <p:nvPr/>
        </p:nvSpPr>
        <p:spPr>
          <a:xfrm>
            <a:off x="1218895" y="8801100"/>
            <a:ext cx="148974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9DB4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218895" y="9068105"/>
            <a:ext cx="148974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EEF2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스크리닝에서 4 wafer 모두 누설·via 저항·TDDB reference 통과, %-meeting-R-target에서 W04만 살짝 미달.</a:t>
            </a:r>
            <a:endParaRPr lang="en-US" sz="1650" dirty="0"/>
          </a:p>
        </p:txBody>
      </p:sp>
      <p:sp>
        <p:nvSpPr>
          <p:cNvPr id="25" name="Text 18"/>
          <p:cNvSpPr txBox="1"/>
          <p:nvPr/>
        </p:nvSpPr>
        <p:spPr>
          <a:xfrm>
            <a:off x="914400" y="9620402"/>
            <a:ext cx="158877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73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2026-10-04T07:27:53Z</dcterms:created>
  <dcterms:modified xsi:type="dcterms:W3CDTF">2026-10-04T07:27:53Z</dcterms:modified>
</cp:coreProperties>
</file>