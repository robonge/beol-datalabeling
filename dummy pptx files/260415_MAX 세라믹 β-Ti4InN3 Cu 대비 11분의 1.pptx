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18288000" cy="10287000"/>
  <p:notesSz cx="10287000" cy="1828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jpeg"/><Relationship Id="rId4" Type="http://schemas.openxmlformats.org/officeDocument/2006/relationships/image" Target="../media/image-1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1.png"/><Relationship Id="rId3" Type="http://schemas.openxmlformats.org/officeDocument/2006/relationships/image" Target="../media/image-2-3.png"/><Relationship Id="rId4" Type="http://schemas.openxmlformats.org/officeDocument/2006/relationships/image" Target="../media/image-2-4.jpeg"/><Relationship Id="rId5" Type="http://schemas.openxmlformats.org/officeDocument/2006/relationships/image" Target="../media/image-2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3.png"/><Relationship Id="rId5" Type="http://schemas.openxmlformats.org/officeDocument/2006/relationships/image" Target="../media/image-3-5.jpeg"/><Relationship Id="rId6" Type="http://schemas.openxmlformats.org/officeDocument/2006/relationships/image" Target="../media/image-3-6.jpeg"/><Relationship Id="rId7" Type="http://schemas.openxmlformats.org/officeDocument/2006/relationships/image" Target="../media/image-3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EFE9D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239805" y="2095805"/>
            <a:ext cx="6286500" cy="5715000"/>
          </a:xfrm>
          <a:prstGeom prst="rect">
            <a:avLst/>
          </a:prstGeom>
          <a:solidFill>
            <a:srgbClr val="1A1F2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43000" y="1143000"/>
            <a:ext cx="171907" cy="171907"/>
          </a:xfrm>
          <a:prstGeom prst="rect">
            <a:avLst/>
          </a:prstGeom>
          <a:solidFill>
            <a:srgbClr val="C44A2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4" name="Image 0" descr="gen-dedup-a9e2ca47eff7fb283b57a7b4dc419188.png">    </p:cNvPr>
          <p:cNvPicPr>
            <a:picLocks noChangeAspect="1"/>
          </p:cNvPicPr>
          <p:nvPr/>
        </p:nvPicPr>
        <p:blipFill>
          <a:blip r:embed="rId1"/>
          <a:srcRect l="-2083" r="-2083" t="0" b="0"/>
          <a:stretch/>
        </p:blipFill>
        <p:spPr>
          <a:xfrm>
            <a:off x="1143000" y="1638605"/>
            <a:ext cx="2286000" cy="9144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1143000" y="5143500"/>
            <a:ext cx="9715500" cy="2667305"/>
          </a:xfrm>
          <a:prstGeom prst="rect">
            <a:avLst/>
          </a:prstGeom>
          <a:solidFill>
            <a:srgbClr val="1A1F2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6" name="Image 1" descr="gen-dedup-47160f70491119893ce4b5731b7945be.png">    </p:cNvPr>
          <p:cNvPicPr>
            <a:picLocks noChangeAspect="1"/>
          </p:cNvPicPr>
          <p:nvPr/>
        </p:nvPicPr>
        <p:blipFill>
          <a:blip r:embed="rId2"/>
          <a:srcRect l="0" r="0" t="-400" b="-400"/>
          <a:stretch/>
        </p:blipFill>
        <p:spPr>
          <a:xfrm>
            <a:off x="1524305" y="5848502"/>
            <a:ext cx="571500" cy="19202"/>
          </a:xfrm>
          <a:prstGeom prst="rect">
            <a:avLst/>
          </a:prstGeom>
        </p:spPr>
      </p:pic>
      <p:pic>
        <p:nvPicPr>
          <p:cNvPr id="7" name="Image 2" descr="gen-dedup-cce07bcb9a40e399d533b257d79d9bee.jp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30000" y="2286000"/>
            <a:ext cx="5905195" cy="2714854"/>
          </a:xfrm>
          <a:prstGeom prst="rect">
            <a:avLst/>
          </a:prstGeom>
        </p:spPr>
      </p:pic>
      <p:pic>
        <p:nvPicPr>
          <p:cNvPr id="8" name="Image 3" descr="gen-dedup-af6e99a33c39414b5458d06609f34dc2.png">    </p:cNvPr>
          <p:cNvPicPr>
            <a:picLocks noChangeAspect="1"/>
          </p:cNvPicPr>
          <p:nvPr/>
        </p:nvPicPr>
        <p:blipFill>
          <a:blip r:embed="rId4"/>
          <a:srcRect l="-400" r="-400" t="0" b="0"/>
          <a:stretch/>
        </p:blipFill>
        <p:spPr>
          <a:xfrm>
            <a:off x="11239805" y="2095805"/>
            <a:ext cx="57607" cy="5715000"/>
          </a:xfrm>
          <a:prstGeom prst="rect">
            <a:avLst/>
          </a:prstGeom>
        </p:spPr>
      </p:pic>
      <p:sp>
        <p:nvSpPr>
          <p:cNvPr id="9" name="Text 3"/>
          <p:cNvSpPr txBox="1"/>
          <p:nvPr/>
        </p:nvSpPr>
        <p:spPr>
          <a:xfrm>
            <a:off x="1524305" y="1123798"/>
            <a:ext cx="5715000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650" spc="561" kern="0" dirty="0">
                <a:solidFill>
                  <a:srgbClr val="1A1F2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04 / 30</a:t>
            </a:r>
            <a:endParaRPr lang="en-US" sz="1650" dirty="0"/>
          </a:p>
        </p:txBody>
      </p:sp>
      <p:sp>
        <p:nvSpPr>
          <p:cNvPr id="10" name="Text 4"/>
          <p:cNvSpPr txBox="1"/>
          <p:nvPr/>
        </p:nvSpPr>
        <p:spPr>
          <a:xfrm>
            <a:off x="1143000" y="2095805"/>
            <a:ext cx="9715500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6000"/>
              </a:lnSpc>
              <a:buNone/>
            </a:pPr>
            <a:r>
              <a:rPr lang="en-US" sz="4650" b="1" spc="-56" kern="0" dirty="0">
                <a:solidFill>
                  <a:srgbClr val="1A1F2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MAX 세라믹:</a:t>
            </a:r>
            <a:pPr algn="l" indent="0" marL="0">
              <a:lnSpc>
                <a:spcPct val="116000"/>
              </a:lnSpc>
              <a:buNone/>
            </a:pPr>
            <a:endParaRPr lang="en-US" sz="4650" dirty="0"/>
          </a:p>
          <a:p>
            <a:pPr algn="l" indent="0" marL="0">
              <a:lnSpc>
                <a:spcPct val="116000"/>
              </a:lnSpc>
              <a:buNone/>
            </a:pPr>
            <a:r>
              <a:rPr lang="en-US" sz="4650" b="1" spc="-56" kern="0" dirty="0">
                <a:solidFill>
                  <a:srgbClr val="1A1F2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이론상 Cu보다 5–11배</a:t>
            </a:r>
            <a:pPr algn="l" indent="0" marL="0">
              <a:lnSpc>
                <a:spcPct val="116000"/>
              </a:lnSpc>
              <a:buNone/>
            </a:pPr>
            <a:endParaRPr lang="en-US" sz="4650" dirty="0"/>
          </a:p>
          <a:p>
            <a:pPr algn="l" indent="0" marL="0">
              <a:lnSpc>
                <a:spcPct val="116000"/>
              </a:lnSpc>
              <a:buNone/>
            </a:pPr>
            <a:r>
              <a:rPr lang="en-US" sz="4650" b="1" spc="-56" kern="0" dirty="0">
                <a:solidFill>
                  <a:srgbClr val="1A1F2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좋은 지표</a:t>
            </a:r>
            <a:endParaRPr lang="en-US" sz="4650" dirty="0"/>
          </a:p>
        </p:txBody>
      </p:sp>
      <p:sp>
        <p:nvSpPr>
          <p:cNvPr id="11" name="Text 5"/>
          <p:cNvSpPr txBox="1"/>
          <p:nvPr/>
        </p:nvSpPr>
        <p:spPr>
          <a:xfrm>
            <a:off x="11620195" y="7487107"/>
            <a:ext cx="57150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00" spc="24" kern="0" dirty="0">
                <a:solidFill>
                  <a:srgbClr val="FBF7EE">
                    <a:alpha val="78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출처 imec · 18 nm metal pitch · semi-damascene</a:t>
            </a:r>
            <a:endParaRPr lang="en-US" sz="1200" dirty="0"/>
          </a:p>
        </p:txBody>
      </p:sp>
      <p:sp>
        <p:nvSpPr>
          <p:cNvPr id="12" name="Text 6"/>
          <p:cNvSpPr txBox="1"/>
          <p:nvPr/>
        </p:nvSpPr>
        <p:spPr>
          <a:xfrm>
            <a:off x="1524305" y="5467198"/>
            <a:ext cx="5715000" cy="2578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500" spc="420" kern="0" dirty="0">
                <a:solidFill>
                  <a:srgbClr val="C44A2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β-Ti₄InN₃</a:t>
            </a:r>
            <a:endParaRPr lang="en-US" sz="1500" dirty="0"/>
          </a:p>
        </p:txBody>
      </p:sp>
      <p:sp>
        <p:nvSpPr>
          <p:cNvPr id="13" name="Text 7"/>
          <p:cNvSpPr txBox="1"/>
          <p:nvPr/>
        </p:nvSpPr>
        <p:spPr>
          <a:xfrm>
            <a:off x="1524305" y="6057900"/>
            <a:ext cx="8572500" cy="19056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5000" b="1" spc="-600" kern="0" dirty="0">
                <a:solidFill>
                  <a:srgbClr val="FBF7E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</a:t>
            </a:r>
            <a:pPr algn="l" indent="0" marL="0">
              <a:buNone/>
            </a:pPr>
            <a:r>
              <a:rPr lang="en-US" sz="7200" b="1" spc="-600" kern="0" dirty="0">
                <a:solidFill>
                  <a:srgbClr val="C44A2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/</a:t>
            </a:r>
            <a:pPr algn="l" indent="0" marL="0">
              <a:buNone/>
            </a:pPr>
            <a:r>
              <a:rPr lang="en-US" sz="15000" b="1" spc="-600" kern="0" dirty="0">
                <a:solidFill>
                  <a:srgbClr val="FBF7E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11</a:t>
            </a:r>
            <a:endParaRPr lang="en-US" sz="15000" dirty="0"/>
          </a:p>
        </p:txBody>
      </p:sp>
      <p:sp>
        <p:nvSpPr>
          <p:cNvPr id="14" name="Text 8"/>
          <p:cNvSpPr txBox="1"/>
          <p:nvPr/>
        </p:nvSpPr>
        <p:spPr>
          <a:xfrm>
            <a:off x="9620402" y="7487107"/>
            <a:ext cx="952805" cy="2770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1500" spc="270" kern="0" dirty="0">
                <a:solidFill>
                  <a:srgbClr val="FBF7EE">
                    <a:alpha val="85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Cu 대비</a:t>
            </a:r>
            <a:endParaRPr lang="en-US" sz="1500" dirty="0"/>
          </a:p>
        </p:txBody>
      </p:sp>
      <p:sp>
        <p:nvSpPr>
          <p:cNvPr id="15" name="Text 9"/>
          <p:cNvSpPr txBox="1"/>
          <p:nvPr/>
        </p:nvSpPr>
        <p:spPr>
          <a:xfrm>
            <a:off x="1143000" y="8115300"/>
            <a:ext cx="9715500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800" spc="-9" kern="0" dirty="0">
                <a:solidFill>
                  <a:srgbClr val="1A1F2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β-Ti₄InN₃의 0.6×10⁻¹⁶ Ω·m² — Cu의 1/11</a:t>
            </a:r>
            <a:endParaRPr lang="en-US" sz="1800" dirty="0"/>
          </a:p>
        </p:txBody>
      </p:sp>
      <p:sp>
        <p:nvSpPr>
          <p:cNvPr id="16" name="Text 10"/>
          <p:cNvSpPr txBox="1"/>
          <p:nvPr/>
        </p:nvSpPr>
        <p:spPr>
          <a:xfrm>
            <a:off x="1143000" y="8630107"/>
            <a:ext cx="9715500" cy="2578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8A847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170개 중 </a:t>
            </a:r>
            <a:pPr algn="l" indent="0" marL="0">
              <a:buNone/>
            </a:pPr>
            <a:r>
              <a:rPr lang="en-US" sz="1350" b="1" dirty="0">
                <a:solidFill>
                  <a:srgbClr val="C44A2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69</a:t>
            </a:r>
            <a:pPr algn="l" indent="0" marL="0">
              <a:buNone/>
            </a:pPr>
            <a:r>
              <a:rPr lang="en-US" sz="1350" dirty="0">
                <a:solidFill>
                  <a:srgbClr val="8A847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안정상이 Cu보다 높음 · </a:t>
            </a:r>
            <a:pPr algn="l" indent="0" marL="0">
              <a:buNone/>
            </a:pPr>
            <a:r>
              <a:rPr lang="en-US" sz="1350" dirty="0">
                <a:solidFill>
                  <a:srgbClr val="1A1F2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24</a:t>
            </a:r>
            <a:pPr algn="l" indent="0" marL="0">
              <a:buNone/>
            </a:pPr>
            <a:r>
              <a:rPr lang="en-US" sz="1350" dirty="0">
                <a:solidFill>
                  <a:srgbClr val="8A847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개는 Ru보다도 좋음 · 계산 단계 — 박막 증착·에칭 실증은 아직 없음</a:t>
            </a:r>
            <a:endParaRPr lang="en-US" sz="13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EFE9D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gen-dedup-cda98a4a323646a8c46f23bf95f1f88a.png">    </p:cNvPr>
          <p:cNvPicPr>
            <a:picLocks noChangeAspect="1"/>
          </p:cNvPicPr>
          <p:nvPr/>
        </p:nvPicPr>
        <p:blipFill>
          <a:blip r:embed="rId1"/>
          <a:srcRect l="-2072" r="-2072" t="0" b="0"/>
          <a:stretch/>
        </p:blipFill>
        <p:spPr>
          <a:xfrm>
            <a:off x="1143000" y="1638605"/>
            <a:ext cx="1904695" cy="9144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1143000" y="3810305"/>
            <a:ext cx="8762695" cy="5524805"/>
          </a:xfrm>
          <a:prstGeom prst="rect">
            <a:avLst/>
          </a:prstGeom>
          <a:solidFill>
            <a:srgbClr val="1A1F2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10287000" y="3619195"/>
            <a:ext cx="7048195" cy="2286000"/>
          </a:xfrm>
          <a:prstGeom prst="rect">
            <a:avLst/>
          </a:prstGeom>
          <a:solidFill>
            <a:srgbClr val="FBF7E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10287000" y="6096305"/>
            <a:ext cx="3429000" cy="1904695"/>
          </a:xfrm>
          <a:prstGeom prst="rect">
            <a:avLst/>
          </a:prstGeom>
          <a:solidFill>
            <a:srgbClr val="1A1F2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13906195" y="6096305"/>
            <a:ext cx="3429000" cy="1904695"/>
          </a:xfrm>
          <a:prstGeom prst="rect">
            <a:avLst/>
          </a:prstGeom>
          <a:solidFill>
            <a:srgbClr val="2D5F5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7" name="Image 1" descr="gen-dedup-cda98a4a323646a8c46f23bf95f1f88a.png">    </p:cNvPr>
          <p:cNvPicPr>
            <a:picLocks noChangeAspect="1"/>
          </p:cNvPicPr>
          <p:nvPr/>
        </p:nvPicPr>
        <p:blipFill>
          <a:blip r:embed="rId2"/>
          <a:srcRect l="-2072" r="-2072" t="0" b="0"/>
          <a:stretch/>
        </p:blipFill>
        <p:spPr>
          <a:xfrm>
            <a:off x="1143000" y="9620402"/>
            <a:ext cx="1904695" cy="9144"/>
          </a:xfrm>
          <a:prstGeom prst="rect">
            <a:avLst/>
          </a:prstGeom>
        </p:spPr>
      </p:pic>
      <p:pic>
        <p:nvPicPr>
          <p:cNvPr id="8" name="Image 2" descr="gen-dedup-589c972d37b57cea5a18579c3f96dff0.png">    </p:cNvPr>
          <p:cNvPicPr>
            <a:picLocks noChangeAspect="1"/>
          </p:cNvPicPr>
          <p:nvPr/>
        </p:nvPicPr>
        <p:blipFill>
          <a:blip r:embed="rId3"/>
          <a:srcRect l="-400" r="-400" t="0" b="0"/>
          <a:stretch/>
        </p:blipFill>
        <p:spPr>
          <a:xfrm>
            <a:off x="10287000" y="3619195"/>
            <a:ext cx="57607" cy="2286000"/>
          </a:xfrm>
          <a:prstGeom prst="rect">
            <a:avLst/>
          </a:prstGeom>
        </p:spPr>
      </p:pic>
      <p:pic>
        <p:nvPicPr>
          <p:cNvPr id="9" name="Image 3" descr="gen-dedup-791f7576f57829ce5c4b3557cbdd855c.jp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33195" y="4000500"/>
            <a:ext cx="8382305" cy="4762195"/>
          </a:xfrm>
          <a:prstGeom prst="rect">
            <a:avLst/>
          </a:prstGeom>
        </p:spPr>
      </p:pic>
      <p:pic>
        <p:nvPicPr>
          <p:cNvPr id="10" name="Image 4" descr="gen-dedup-e866602e239e7b3c1b4d2425cd4abb00.png">    </p:cNvPr>
          <p:cNvPicPr>
            <a:picLocks noChangeAspect="1"/>
          </p:cNvPicPr>
          <p:nvPr/>
        </p:nvPicPr>
        <p:blipFill>
          <a:blip r:embed="rId5"/>
          <a:srcRect l="-397" r="-397" t="0" b="0"/>
          <a:stretch/>
        </p:blipFill>
        <p:spPr>
          <a:xfrm>
            <a:off x="1143000" y="3810305"/>
            <a:ext cx="57607" cy="5524805"/>
          </a:xfrm>
          <a:prstGeom prst="rect">
            <a:avLst/>
          </a:prstGeom>
        </p:spPr>
      </p:pic>
      <p:sp>
        <p:nvSpPr>
          <p:cNvPr id="11" name="Text 4"/>
          <p:cNvSpPr txBox="1"/>
          <p:nvPr/>
        </p:nvSpPr>
        <p:spPr>
          <a:xfrm>
            <a:off x="1143000" y="1143000"/>
            <a:ext cx="5715000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650" spc="561" kern="0" dirty="0">
                <a:solidFill>
                  <a:srgbClr val="1A1F2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04 / 30</a:t>
            </a:r>
            <a:endParaRPr lang="en-US" sz="1650" dirty="0"/>
          </a:p>
        </p:txBody>
      </p:sp>
      <p:sp>
        <p:nvSpPr>
          <p:cNvPr id="12" name="Text 5"/>
          <p:cNvSpPr txBox="1"/>
          <p:nvPr/>
        </p:nvSpPr>
        <p:spPr>
          <a:xfrm>
            <a:off x="14287500" y="1143000"/>
            <a:ext cx="2857500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1650" spc="297" kern="0" dirty="0">
                <a:solidFill>
                  <a:srgbClr val="2D5F5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DASHBOARD</a:t>
            </a:r>
            <a:endParaRPr lang="en-US" sz="1650" dirty="0"/>
          </a:p>
        </p:txBody>
      </p:sp>
      <p:sp>
        <p:nvSpPr>
          <p:cNvPr id="13" name="Text 6"/>
          <p:cNvSpPr txBox="1"/>
          <p:nvPr/>
        </p:nvSpPr>
        <p:spPr>
          <a:xfrm>
            <a:off x="1143000" y="1904695"/>
            <a:ext cx="14287500" cy="12198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4050" b="1" spc="-49" kern="0" dirty="0">
                <a:solidFill>
                  <a:srgbClr val="1A1F2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Ru의 복병:</a:t>
            </a:r>
            <a:pPr algn="l" indent="0" marL="0">
              <a:lnSpc>
                <a:spcPct val="118000"/>
              </a:lnSpc>
              <a:buNone/>
            </a:pPr>
            <a:endParaRPr lang="en-US" sz="4050" dirty="0"/>
          </a:p>
          <a:p>
            <a:pPr algn="l" indent="0" marL="0">
              <a:lnSpc>
                <a:spcPct val="118000"/>
              </a:lnSpc>
              <a:buNone/>
            </a:pPr>
            <a:r>
              <a:rPr lang="en-US" sz="4050" b="1" spc="-49" kern="0" dirty="0">
                <a:solidFill>
                  <a:srgbClr val="1A1F2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열처리가 선을 원통형으로 만든다</a:t>
            </a:r>
            <a:endParaRPr lang="en-US" sz="4050" dirty="0"/>
          </a:p>
        </p:txBody>
      </p:sp>
      <p:sp>
        <p:nvSpPr>
          <p:cNvPr id="14" name="Text 7"/>
          <p:cNvSpPr txBox="1"/>
          <p:nvPr/>
        </p:nvSpPr>
        <p:spPr>
          <a:xfrm>
            <a:off x="1333195" y="8876995"/>
            <a:ext cx="8382305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00" spc="24" kern="0" dirty="0">
                <a:solidFill>
                  <a:srgbClr val="8A847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출처 Nature · Ru interconnect cross-section · 2025</a:t>
            </a:r>
            <a:endParaRPr lang="en-US" sz="1200" dirty="0"/>
          </a:p>
        </p:txBody>
      </p:sp>
      <p:sp>
        <p:nvSpPr>
          <p:cNvPr id="15" name="Text 8"/>
          <p:cNvSpPr txBox="1"/>
          <p:nvPr/>
        </p:nvSpPr>
        <p:spPr>
          <a:xfrm>
            <a:off x="10629900" y="3847795"/>
            <a:ext cx="6477610" cy="2002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350" spc="351" kern="0" dirty="0">
                <a:solidFill>
                  <a:srgbClr val="C44A2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01 · CYLINDERIZATION</a:t>
            </a:r>
            <a:endParaRPr lang="en-US" sz="1350" dirty="0"/>
          </a:p>
        </p:txBody>
      </p:sp>
      <p:sp>
        <p:nvSpPr>
          <p:cNvPr id="16" name="Text 9"/>
          <p:cNvSpPr txBox="1"/>
          <p:nvPr/>
        </p:nvSpPr>
        <p:spPr>
          <a:xfrm>
            <a:off x="10629900" y="4172407"/>
            <a:ext cx="6477610" cy="11055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2250" b="1" spc="-11" kern="0" dirty="0">
                <a:solidFill>
                  <a:srgbClr val="1A1F2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18–22 nm 피치 Ru 배선을 300 mm 웨이퍼에서 열처리했더니 선 저항이 10% 떨어지면서 시단면이 원통형으로 변형</a:t>
            </a:r>
            <a:endParaRPr lang="en-US" sz="2250" dirty="0"/>
          </a:p>
        </p:txBody>
      </p:sp>
      <p:sp>
        <p:nvSpPr>
          <p:cNvPr id="17" name="Text 10"/>
          <p:cNvSpPr txBox="1"/>
          <p:nvPr/>
        </p:nvSpPr>
        <p:spPr>
          <a:xfrm>
            <a:off x="10629900" y="5449824"/>
            <a:ext cx="6477610" cy="5038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90"/>
              </a:lnSpc>
              <a:buNone/>
            </a:pPr>
            <a:r>
              <a:rPr lang="en-US" sz="1350" dirty="0">
                <a:solidFill>
                  <a:srgbClr val="8A847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입계 모서리에서 시작된 면간 자기확산</a:t>
            </a:r>
            <a:pPr algn="l" indent="0" marL="0">
              <a:lnSpc>
                <a:spcPts val="1890"/>
              </a:lnSpc>
              <a:buNone/>
            </a:pPr>
            <a:endParaRPr lang="en-US" sz="1350" dirty="0"/>
          </a:p>
          <a:p>
            <a:pPr algn="l" indent="0" marL="0">
              <a:lnSpc>
                <a:spcPts val="1890"/>
              </a:lnSpc>
              <a:buNone/>
            </a:pPr>
            <a:r>
              <a:rPr lang="en-US" sz="1350" dirty="0">
                <a:solidFill>
                  <a:srgbClr val="8A847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Ru(0002) → Ru(1̅0̅0)·Ru(11̅20)</a:t>
            </a:r>
            <a:endParaRPr lang="en-US" sz="1350" dirty="0"/>
          </a:p>
        </p:txBody>
      </p:sp>
      <p:sp>
        <p:nvSpPr>
          <p:cNvPr id="18" name="Text 11"/>
          <p:cNvSpPr txBox="1"/>
          <p:nvPr/>
        </p:nvSpPr>
        <p:spPr>
          <a:xfrm>
            <a:off x="10573207" y="6324905"/>
            <a:ext cx="2857500" cy="1911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00" spc="312" kern="0" dirty="0">
                <a:solidFill>
                  <a:srgbClr val="C44A2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02 · 420 °C</a:t>
            </a:r>
            <a:endParaRPr lang="en-US" sz="1200" dirty="0"/>
          </a:p>
        </p:txBody>
      </p:sp>
      <p:sp>
        <p:nvSpPr>
          <p:cNvPr id="19" name="Text 12"/>
          <p:cNvSpPr txBox="1"/>
          <p:nvPr/>
        </p:nvSpPr>
        <p:spPr>
          <a:xfrm>
            <a:off x="10573207" y="6629400"/>
            <a:ext cx="28575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3600" b="1" spc="-72" kern="0" dirty="0">
                <a:solidFill>
                  <a:srgbClr val="FBF7E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1.83×10⁻⁴³</a:t>
            </a:r>
            <a:endParaRPr lang="en-US" sz="3600" dirty="0"/>
          </a:p>
        </p:txBody>
      </p:sp>
      <p:sp>
        <p:nvSpPr>
          <p:cNvPr id="20" name="Text 13"/>
          <p:cNvSpPr txBox="1"/>
          <p:nvPr/>
        </p:nvSpPr>
        <p:spPr>
          <a:xfrm>
            <a:off x="10573207" y="7220102"/>
            <a:ext cx="2857500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FBF7EE">
                    <a:alpha val="85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m²/s · Ru 벌크 확산계수</a:t>
            </a:r>
            <a:endParaRPr lang="en-US" sz="1350" dirty="0"/>
          </a:p>
        </p:txBody>
      </p:sp>
      <p:sp>
        <p:nvSpPr>
          <p:cNvPr id="21" name="Text 14"/>
          <p:cNvSpPr txBox="1"/>
          <p:nvPr/>
        </p:nvSpPr>
        <p:spPr>
          <a:xfrm>
            <a:off x="14192402" y="6324905"/>
            <a:ext cx="2857500" cy="1911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00" spc="312" kern="0" dirty="0">
                <a:solidFill>
                  <a:srgbClr val="FBF7EE">
                    <a:alpha val="92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03 · 21 nm</a:t>
            </a:r>
            <a:endParaRPr lang="en-US" sz="1200" dirty="0"/>
          </a:p>
        </p:txBody>
      </p:sp>
      <p:sp>
        <p:nvSpPr>
          <p:cNvPr id="22" name="Text 15"/>
          <p:cNvSpPr txBox="1"/>
          <p:nvPr/>
        </p:nvSpPr>
        <p:spPr>
          <a:xfrm>
            <a:off x="14192402" y="6629400"/>
            <a:ext cx="28575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3600" b="1" spc="-72" kern="0" dirty="0">
                <a:solidFill>
                  <a:srgbClr val="FBF7E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30 MA/cm²</a:t>
            </a:r>
            <a:endParaRPr lang="en-US" sz="3600" dirty="0"/>
          </a:p>
        </p:txBody>
      </p:sp>
      <p:sp>
        <p:nvSpPr>
          <p:cNvPr id="23" name="Text 16"/>
          <p:cNvSpPr txBox="1"/>
          <p:nvPr/>
        </p:nvSpPr>
        <p:spPr>
          <a:xfrm>
            <a:off x="14192402" y="7220102"/>
            <a:ext cx="2857500" cy="4956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FBF7EE">
                    <a:alpha val="92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초과에서도 고장 없음 · ~260 °C 자기발열 후 고장</a:t>
            </a:r>
            <a:endParaRPr lang="en-US" sz="1350" dirty="0"/>
          </a:p>
        </p:txBody>
      </p:sp>
      <p:sp>
        <p:nvSpPr>
          <p:cNvPr id="24" name="Text 17"/>
          <p:cNvSpPr txBox="1"/>
          <p:nvPr/>
        </p:nvSpPr>
        <p:spPr>
          <a:xfrm>
            <a:off x="14287500" y="9696298"/>
            <a:ext cx="28575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1200" spc="336" kern="0" dirty="0">
                <a:solidFill>
                  <a:srgbClr val="8A847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Ru 배선 / 04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EFE9D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gen-dedup-6c66582129064bf3ea0c169ae9056c18.png">    </p:cNvPr>
          <p:cNvPicPr>
            <a:picLocks noChangeAspect="1"/>
          </p:cNvPicPr>
          <p:nvPr/>
        </p:nvPicPr>
        <p:blipFill>
          <a:blip r:embed="rId1"/>
          <a:srcRect l="-2083" r="-2083" t="0" b="0"/>
          <a:stretch/>
        </p:blipFill>
        <p:spPr>
          <a:xfrm>
            <a:off x="12573000" y="1285646"/>
            <a:ext cx="4572000" cy="9144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1143000" y="5143500"/>
            <a:ext cx="10477195" cy="3047695"/>
          </a:xfrm>
          <a:prstGeom prst="rect">
            <a:avLst/>
          </a:prstGeom>
          <a:solidFill>
            <a:srgbClr val="1A1F2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1143000" y="8630107"/>
            <a:ext cx="10477195" cy="857707"/>
          </a:xfrm>
          <a:prstGeom prst="rect">
            <a:avLst/>
          </a:prstGeom>
          <a:solidFill>
            <a:srgbClr val="FBF7E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12001500" y="5143500"/>
            <a:ext cx="5333695" cy="1809598"/>
          </a:xfrm>
          <a:prstGeom prst="rect">
            <a:avLst/>
          </a:prstGeom>
          <a:solidFill>
            <a:srgbClr val="1A1F2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12001500" y="7144207"/>
            <a:ext cx="5333695" cy="1809598"/>
          </a:xfrm>
          <a:prstGeom prst="rect">
            <a:avLst/>
          </a:prstGeom>
          <a:solidFill>
            <a:srgbClr val="FBF7E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7" name="Image 1" descr="gen-dedup-cda98a4a323646a8c46f23bf95f1f88a.png">    </p:cNvPr>
          <p:cNvPicPr>
            <a:picLocks noChangeAspect="1"/>
          </p:cNvPicPr>
          <p:nvPr/>
        </p:nvPicPr>
        <p:blipFill>
          <a:blip r:embed="rId2"/>
          <a:srcRect l="-2072" r="-2072" t="0" b="0"/>
          <a:stretch/>
        </p:blipFill>
        <p:spPr>
          <a:xfrm>
            <a:off x="1143000" y="10001707"/>
            <a:ext cx="1904695" cy="9144"/>
          </a:xfrm>
          <a:prstGeom prst="rect">
            <a:avLst/>
          </a:prstGeom>
        </p:spPr>
      </p:pic>
      <p:pic>
        <p:nvPicPr>
          <p:cNvPr id="8" name="Image 2" descr="gen-dedup-443519ed0a07af56f0264c130215d586.png">    </p:cNvPr>
          <p:cNvPicPr>
            <a:picLocks noChangeAspect="1"/>
          </p:cNvPicPr>
          <p:nvPr/>
        </p:nvPicPr>
        <p:blipFill>
          <a:blip r:embed="rId3"/>
          <a:srcRect l="0" r="0" t="-384" b="-384"/>
          <a:stretch/>
        </p:blipFill>
        <p:spPr>
          <a:xfrm>
            <a:off x="12382805" y="5715000"/>
            <a:ext cx="476402" cy="19202"/>
          </a:xfrm>
          <a:prstGeom prst="rect">
            <a:avLst/>
          </a:prstGeom>
        </p:spPr>
      </p:pic>
      <p:sp>
        <p:nvSpPr>
          <p:cNvPr id="9" name="Shape 4"/>
          <p:cNvSpPr/>
          <p:nvPr/>
        </p:nvSpPr>
        <p:spPr>
          <a:xfrm>
            <a:off x="16954805" y="7144207"/>
            <a:ext cx="390449" cy="9144"/>
          </a:xfrm>
          <a:prstGeom prst="rect">
            <a:avLst/>
          </a:prstGeom>
          <a:solidFill>
            <a:srgbClr val="C44A2C"/>
          </a:solidFill>
          <a:ln w="12700">
            <a:solidFill>
              <a:srgbClr val="C44A2C">
                <a:alpha val="0"/>
              </a:srgbClr>
            </a:solidFill>
            <a:prstDash val="solid"/>
          </a:ln>
        </p:spPr>
      </p:sp>
      <p:sp>
        <p:nvSpPr>
          <p:cNvPr id="10" name="Shape 5"/>
          <p:cNvSpPr/>
          <p:nvPr/>
        </p:nvSpPr>
        <p:spPr>
          <a:xfrm>
            <a:off x="17336110" y="7144207"/>
            <a:ext cx="9144" cy="390449"/>
          </a:xfrm>
          <a:prstGeom prst="rect">
            <a:avLst/>
          </a:prstGeom>
          <a:solidFill>
            <a:srgbClr val="C44A2C"/>
          </a:solidFill>
          <a:ln w="12700">
            <a:solidFill>
              <a:srgbClr val="C44A2C">
                <a:alpha val="0"/>
              </a:srgbClr>
            </a:solidFill>
            <a:prstDash val="solid"/>
          </a:ln>
        </p:spPr>
      </p:sp>
      <p:sp>
        <p:nvSpPr>
          <p:cNvPr id="11" name="Shape 6"/>
          <p:cNvSpPr/>
          <p:nvPr/>
        </p:nvSpPr>
        <p:spPr>
          <a:xfrm>
            <a:off x="12001500" y="8953805"/>
            <a:ext cx="390449" cy="9144"/>
          </a:xfrm>
          <a:prstGeom prst="rect">
            <a:avLst/>
          </a:prstGeom>
          <a:solidFill>
            <a:srgbClr val="C44A2C"/>
          </a:solidFill>
          <a:ln w="12700">
            <a:solidFill>
              <a:srgbClr val="C44A2C">
                <a:alpha val="0"/>
              </a:srgbClr>
            </a:solidFill>
            <a:prstDash val="solid"/>
          </a:ln>
        </p:spPr>
      </p:sp>
      <p:sp>
        <p:nvSpPr>
          <p:cNvPr id="12" name="Shape 7"/>
          <p:cNvSpPr/>
          <p:nvPr/>
        </p:nvSpPr>
        <p:spPr>
          <a:xfrm>
            <a:off x="12001500" y="8572500"/>
            <a:ext cx="9144" cy="390449"/>
          </a:xfrm>
          <a:prstGeom prst="rect">
            <a:avLst/>
          </a:prstGeom>
          <a:solidFill>
            <a:srgbClr val="C44A2C"/>
          </a:solidFill>
          <a:ln w="12700">
            <a:solidFill>
              <a:srgbClr val="C44A2C">
                <a:alpha val="0"/>
              </a:srgbClr>
            </a:solidFill>
            <a:prstDash val="solid"/>
          </a:ln>
        </p:spPr>
      </p:sp>
      <p:pic>
        <p:nvPicPr>
          <p:cNvPr id="13" name="Image 3" descr="gen-dedup-443519ed0a07af56f0264c130215d586.png">    </p:cNvPr>
          <p:cNvPicPr>
            <a:picLocks noChangeAspect="1"/>
          </p:cNvPicPr>
          <p:nvPr/>
        </p:nvPicPr>
        <p:blipFill>
          <a:blip r:embed="rId4"/>
          <a:srcRect l="0" r="0" t="-384" b="-384"/>
          <a:stretch/>
        </p:blipFill>
        <p:spPr>
          <a:xfrm>
            <a:off x="12382805" y="7715707"/>
            <a:ext cx="476402" cy="19202"/>
          </a:xfrm>
          <a:prstGeom prst="rect">
            <a:avLst/>
          </a:prstGeom>
        </p:spPr>
      </p:pic>
      <p:pic>
        <p:nvPicPr>
          <p:cNvPr id="14" name="Image 4" descr="gen-dedup-949c36313aa04c31b7181bee8deda22b.jp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33195" y="5333695"/>
            <a:ext cx="10096805" cy="2667305"/>
          </a:xfrm>
          <a:prstGeom prst="rect">
            <a:avLst/>
          </a:prstGeom>
        </p:spPr>
      </p:pic>
      <p:pic>
        <p:nvPicPr>
          <p:cNvPr id="15" name="Image 5" descr="gen-dedup-ec92cf67fe90ea8c8c0a59bdae3b08f1.jp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333195" y="8725205"/>
            <a:ext cx="7429500" cy="666598"/>
          </a:xfrm>
          <a:prstGeom prst="rect">
            <a:avLst/>
          </a:prstGeom>
        </p:spPr>
      </p:pic>
      <p:pic>
        <p:nvPicPr>
          <p:cNvPr id="16" name="Image 6" descr="gen-dedup-9bfead37f99e77afab2b07699d19c417.png">    </p:cNvPr>
          <p:cNvPicPr>
            <a:picLocks noChangeAspect="1"/>
          </p:cNvPicPr>
          <p:nvPr/>
        </p:nvPicPr>
        <p:blipFill>
          <a:blip r:embed="rId7"/>
          <a:srcRect l="-405" r="-405" t="0" b="0"/>
          <a:stretch/>
        </p:blipFill>
        <p:spPr>
          <a:xfrm>
            <a:off x="1143000" y="5143500"/>
            <a:ext cx="57607" cy="3047695"/>
          </a:xfrm>
          <a:prstGeom prst="rect">
            <a:avLst/>
          </a:prstGeom>
        </p:spPr>
      </p:pic>
      <p:sp>
        <p:nvSpPr>
          <p:cNvPr id="17" name="Text 8"/>
          <p:cNvSpPr txBox="1"/>
          <p:nvPr/>
        </p:nvSpPr>
        <p:spPr>
          <a:xfrm>
            <a:off x="1143000" y="1143000"/>
            <a:ext cx="5715000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650" spc="561" kern="0" dirty="0">
                <a:solidFill>
                  <a:srgbClr val="1A1F2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04 / 30</a:t>
            </a:r>
            <a:endParaRPr lang="en-US" sz="1650" dirty="0"/>
          </a:p>
        </p:txBody>
      </p:sp>
      <p:sp>
        <p:nvSpPr>
          <p:cNvPr id="18" name="Text 9"/>
          <p:cNvSpPr txBox="1"/>
          <p:nvPr/>
        </p:nvSpPr>
        <p:spPr>
          <a:xfrm>
            <a:off x="12573000" y="1505102"/>
            <a:ext cx="4572000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1650" spc="528" kern="0" dirty="0">
                <a:solidFill>
                  <a:srgbClr val="2D5F5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STATISTICS</a:t>
            </a:r>
            <a:endParaRPr lang="en-US" sz="1650" dirty="0"/>
          </a:p>
        </p:txBody>
      </p:sp>
      <p:sp>
        <p:nvSpPr>
          <p:cNvPr id="19" name="Text 10"/>
          <p:cNvSpPr txBox="1"/>
          <p:nvPr/>
        </p:nvSpPr>
        <p:spPr>
          <a:xfrm>
            <a:off x="1143000" y="1904695"/>
            <a:ext cx="16193110" cy="6099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4050" b="1" spc="-49" kern="0" dirty="0">
                <a:solidFill>
                  <a:srgbClr val="1A1F2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TDDB — 임계값이 아니라 퍼콜레이션 경로의 통계</a:t>
            </a:r>
            <a:endParaRPr lang="en-US" sz="4050" dirty="0"/>
          </a:p>
        </p:txBody>
      </p:sp>
      <p:sp>
        <p:nvSpPr>
          <p:cNvPr id="20" name="Text 11"/>
          <p:cNvSpPr txBox="1"/>
          <p:nvPr/>
        </p:nvSpPr>
        <p:spPr>
          <a:xfrm>
            <a:off x="1143000" y="3143707"/>
            <a:ext cx="16193110" cy="4956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3000" spc="-15" kern="0" dirty="0">
                <a:solidFill>
                  <a:srgbClr val="1A1F2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어떤 전계 가속 모델을 고르느냐가 수명 예측을 </a:t>
            </a:r>
            <a:pPr algn="l" indent="0" marL="0">
              <a:buNone/>
            </a:pPr>
            <a:r>
              <a:rPr lang="en-US" sz="3000" b="1" spc="-15" kern="0" dirty="0">
                <a:solidFill>
                  <a:srgbClr val="C44A2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100배</a:t>
            </a:r>
            <a:pPr algn="l" indent="0" marL="0">
              <a:buNone/>
            </a:pPr>
            <a:r>
              <a:rPr lang="en-US" sz="3000" spc="-15" kern="0" dirty="0">
                <a:solidFill>
                  <a:srgbClr val="1A1F2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가른다는 뜻입니다</a:t>
            </a:r>
            <a:endParaRPr lang="en-US" sz="3000" dirty="0"/>
          </a:p>
        </p:txBody>
      </p:sp>
      <p:sp>
        <p:nvSpPr>
          <p:cNvPr id="21" name="Text 12"/>
          <p:cNvSpPr txBox="1"/>
          <p:nvPr/>
        </p:nvSpPr>
        <p:spPr>
          <a:xfrm>
            <a:off x="1333195" y="8324698"/>
            <a:ext cx="10096805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00" spc="24" kern="0" dirty="0">
                <a:solidFill>
                  <a:srgbClr val="8A847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출처 Nature Electronics · low-k barrier / interconnect · 2026</a:t>
            </a:r>
            <a:endParaRPr lang="en-US" sz="1200" dirty="0"/>
          </a:p>
        </p:txBody>
      </p:sp>
      <p:sp>
        <p:nvSpPr>
          <p:cNvPr id="22" name="Text 13"/>
          <p:cNvSpPr txBox="1"/>
          <p:nvPr/>
        </p:nvSpPr>
        <p:spPr>
          <a:xfrm>
            <a:off x="8953805" y="8876995"/>
            <a:ext cx="2477110" cy="3529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spc="21" kern="0" dirty="0">
                <a:solidFill>
                  <a:srgbClr val="8A847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출처 Semiconductor Engineering · air gap BEOL</a:t>
            </a:r>
            <a:endParaRPr lang="en-US" sz="1050" dirty="0"/>
          </a:p>
        </p:txBody>
      </p:sp>
      <p:sp>
        <p:nvSpPr>
          <p:cNvPr id="23" name="Text 14"/>
          <p:cNvSpPr txBox="1"/>
          <p:nvPr/>
        </p:nvSpPr>
        <p:spPr>
          <a:xfrm>
            <a:off x="12382805" y="5391302"/>
            <a:ext cx="3620110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350" spc="351" kern="0" dirty="0">
                <a:solidFill>
                  <a:srgbClr val="C44A2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멱법칙</a:t>
            </a:r>
            <a:endParaRPr lang="en-US" sz="1350" dirty="0"/>
          </a:p>
        </p:txBody>
      </p:sp>
      <p:sp>
        <p:nvSpPr>
          <p:cNvPr id="24" name="Text 15"/>
          <p:cNvSpPr txBox="1"/>
          <p:nvPr/>
        </p:nvSpPr>
        <p:spPr>
          <a:xfrm>
            <a:off x="12382805" y="5886907"/>
            <a:ext cx="4572000" cy="9336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7350" b="1" spc="-294" kern="0" dirty="0">
                <a:solidFill>
                  <a:srgbClr val="FBF7E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~3</a:t>
            </a:r>
            <a:pPr algn="l" indent="0" marL="0">
              <a:buNone/>
            </a:pPr>
            <a:r>
              <a:rPr lang="en-US" sz="2700" b="1" spc="-294" kern="0" dirty="0">
                <a:solidFill>
                  <a:srgbClr val="FBF7E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자릿수</a:t>
            </a:r>
            <a:endParaRPr lang="en-US" sz="7350" dirty="0"/>
          </a:p>
        </p:txBody>
      </p:sp>
      <p:sp>
        <p:nvSpPr>
          <p:cNvPr id="25" name="Text 16"/>
          <p:cNvSpPr txBox="1"/>
          <p:nvPr/>
        </p:nvSpPr>
        <p:spPr>
          <a:xfrm>
            <a:off x="12382805" y="7391095"/>
            <a:ext cx="3620110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350" spc="351" kern="0" dirty="0">
                <a:solidFill>
                  <a:srgbClr val="C44A2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√E 가정</a:t>
            </a:r>
            <a:endParaRPr lang="en-US" sz="1350" dirty="0"/>
          </a:p>
        </p:txBody>
      </p:sp>
      <p:sp>
        <p:nvSpPr>
          <p:cNvPr id="26" name="Text 17"/>
          <p:cNvSpPr txBox="1"/>
          <p:nvPr/>
        </p:nvSpPr>
        <p:spPr>
          <a:xfrm>
            <a:off x="12382805" y="7886700"/>
            <a:ext cx="4572000" cy="9336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7350" b="1" spc="-294" kern="0" dirty="0">
                <a:solidFill>
                  <a:srgbClr val="1A1F2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~1</a:t>
            </a:r>
            <a:pPr algn="l" indent="0" marL="0">
              <a:buNone/>
            </a:pPr>
            <a:r>
              <a:rPr lang="en-US" sz="2700" b="1" spc="-294" kern="0" dirty="0">
                <a:solidFill>
                  <a:srgbClr val="1A1F2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자릿수</a:t>
            </a:r>
            <a:endParaRPr lang="en-US" sz="7350" dirty="0"/>
          </a:p>
        </p:txBody>
      </p:sp>
      <p:sp>
        <p:nvSpPr>
          <p:cNvPr id="27" name="Text 18"/>
          <p:cNvSpPr txBox="1"/>
          <p:nvPr/>
        </p:nvSpPr>
        <p:spPr>
          <a:xfrm>
            <a:off x="1143000" y="9620402"/>
            <a:ext cx="10287000" cy="2578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1A1F2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16 nm 하프피치</a:t>
            </a:r>
            <a:pPr algn="l" indent="0" marL="0">
              <a:buNone/>
            </a:pPr>
            <a:r>
              <a:rPr lang="en-US" sz="1350" dirty="0">
                <a:solidFill>
                  <a:srgbClr val="8A847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·</a:t>
            </a:r>
            <a:pPr algn="l" indent="0" marL="0">
              <a:buNone/>
            </a:pPr>
            <a:r>
              <a:rPr lang="en-US" sz="1350" dirty="0">
                <a:solidFill>
                  <a:srgbClr val="1A1F2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다이간 간격 편차 1σ = 0.6 nm</a:t>
            </a:r>
            <a:pPr algn="l" indent="0" marL="0">
              <a:buNone/>
            </a:pPr>
            <a:r>
              <a:rPr lang="en-US" sz="1350" dirty="0">
                <a:solidFill>
                  <a:srgbClr val="8A847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·</a:t>
            </a:r>
            <a:pPr algn="l" indent="0" marL="0">
              <a:buNone/>
            </a:pPr>
            <a:r>
              <a:rPr lang="en-US" sz="1350" dirty="0">
                <a:solidFill>
                  <a:srgbClr val="1A1F2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LER 1σ = 1 nm</a:t>
            </a:r>
            <a:pPr algn="l" indent="0" marL="0">
              <a:buNone/>
            </a:pPr>
            <a:r>
              <a:rPr lang="en-US" sz="1350" dirty="0">
                <a:solidFill>
                  <a:srgbClr val="8A847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|</a:t>
            </a:r>
            <a:pPr algn="l" indent="0" marL="0">
              <a:buNone/>
            </a:pPr>
            <a:r>
              <a:rPr lang="en-US" sz="1350" dirty="0">
                <a:solidFill>
                  <a:srgbClr val="2D5F5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7 nm · EUV 패터닝</a:t>
            </a:r>
            <a:pPr algn="l" indent="0" marL="0">
              <a:buNone/>
            </a:pPr>
            <a:r>
              <a:rPr lang="en-US" sz="1350" dirty="0">
                <a:solidFill>
                  <a:srgbClr val="8A847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·</a:t>
            </a:r>
            <a:pPr algn="l" indent="0" marL="0">
              <a:buNone/>
            </a:pPr>
            <a:r>
              <a:rPr lang="en-US" sz="1350" dirty="0">
                <a:solidFill>
                  <a:srgbClr val="2D5F5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 nm · FSAV 공정</a:t>
            </a:r>
            <a:endParaRPr lang="en-US" sz="1350" dirty="0"/>
          </a:p>
        </p:txBody>
      </p:sp>
      <p:sp>
        <p:nvSpPr>
          <p:cNvPr id="28" name="Text 19"/>
          <p:cNvSpPr txBox="1"/>
          <p:nvPr/>
        </p:nvSpPr>
        <p:spPr>
          <a:xfrm>
            <a:off x="14287500" y="10077602"/>
            <a:ext cx="2857500" cy="1810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1125" spc="315" kern="0" dirty="0">
                <a:solidFill>
                  <a:srgbClr val="8A847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PERCOLATION / 04</a:t>
            </a:r>
            <a:endParaRPr lang="en-US" sz="1125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Generated by Gen-Spark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Multi-page HTML Content</dc:title>
  <dc:subject>PptxGenJS Presentation</dc:subject>
  <dc:creator>Visual Extract to PPTX Converter</dc:creator>
  <cp:lastModifiedBy>Visual Extract to PPTX Converter</cp:lastModifiedBy>
  <cp:revision>1</cp:revision>
  <dcterms:created xsi:type="dcterms:W3CDTF">2026-10-03T16:44:03Z</dcterms:created>
  <dcterms:modified xsi:type="dcterms:W3CDTF">2026-10-03T16:44:03Z</dcterms:modified>
</cp:coreProperties>
</file>