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배경" id="{2da067bb-12ea-24c5-226b-2d9584b792e8}">
          <p14:sldIdLst>
            <p14:sldId id="256"/>
          </p14:sldIdLst>
        </p14:section>
        <p14:section name="하드마스크·Metal Short" id="{ab67fb14-1628-befc-fd35-5b41c888e011}">
          <p14:sldIdLst>
            <p14:sldId id="257"/>
            <p14:sldId id="258"/>
          </p14:sldIdLst>
        </p14:section>
        <p14:section name="unCMP" id="{0f9b5465-65a4-ab00-12f2-a5e4d5137073}">
          <p14:sldIdLst>
            <p14:sldId id="259"/>
          </p14:sldIdLst>
        </p14:section>
        <p14:section name="overCMP" id="{0845e2e6-c35b-2a4e-1684-c423db091bb0}">
          <p14:sldIdLst>
            <p14:sldId id="260"/>
            <p14:sldId id="261"/>
          </p14:sldIdLst>
        </p14:section>
        <p14:section name="비아 챔퍼" id="{7782ad31-d5d3-d50a-d5cb-b1b0f707111c}">
          <p14:sldIdLst>
            <p14:sldId id="262"/>
          </p14:sldIdLst>
        </p14:section>
        <p14:section name="복구·차세대" id="{69f7c896-4a0f-bdcd-6b0f-2ead627074a1}">
          <p14:sldIdLst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rgbClr val="1A1A2E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R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6473952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 DUAL DAMASCENE · 공정 AI팀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배경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Cu 다마신의 전제 · Al 대비 장점과 RIE 제약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2428646"/>
                <a:gridCol w="364297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Al 배선 (RIE 서브트랙티브)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Cu 배선 (다마신)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패터닝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RIE 식각 용이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휘발성 할로겐 화합물(CuCl₂, CuF) 미형성 → RIE 불가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RC 지연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30–40% 감소 (낮은 비저항)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EM 저항성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한계 도달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훨씬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공정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증착 →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ILD 식각(트렌치+비아) → 배리어/시드 → ECP → CMP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이중 상감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트렌치+비아 동시 충진, 공정 단계·비용 절감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trench_xsec_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117476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443356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트렌치 단면 TEM (기준 / 에어갭 제외 / 포함) — 유사 구조 참고, CC BY ELECTRONICS 2022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799972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집적화 과제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129156"/>
            <a:ext cx="3367735" cy="3043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Via-First / Trench-First 두 흐름. 첨단 노드는 다공성 Low-k(k ≤ 2.5) 보호를 위해 금속 하드마스크(MHM) 통합 공정 채택.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다공성 유전체는 기계적 강도가 약하고 화학적 변형에 취약 → 후속 공정 결함의 근원.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10 nm 이하 노드에서 식각·금속화·CMP 상호작용이 수율·신뢰성 이슈로 직결.</a:t>
            </a:r>
            <a:endParaRPr lang="en-US" sz="1050" dirty="0"/>
          </a:p>
        </p:txBody>
      </p:sp>
      <p:sp>
        <p:nvSpPr>
          <p:cNvPr id="10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마모 → 펀치스루 → Metal Short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794053"/>
                <a:gridCol w="3035808"/>
                <a:gridCol w="2759659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Si-CH₃ → Si-OH 전환 (O₂·플루오로카본)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유전율 급증, 누설 전류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MHM 적용 (TiN/TaN, 32 nm~)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PR 스트립·식각 중 Low-k 보호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하드마스크 자체 침식 시작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 과식각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이온 각도 분산 → 모서리(Shoulder)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국부 두께 부족·조기 소실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Low-k 직접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식각 저항성 낮음 → CD 확장, 측벽 거칠기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좁은 스페이스 절연막 소실 → 펀치스루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배리어/시드 PVD + ECP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병합된 트렌치에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배선 금속 브릿지 → Metal Short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8366760" y="1280160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잔류물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8366760" y="1609344"/>
            <a:ext cx="3367735" cy="4562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옥사이드 마스크 패터닝 시 마이크로마스킹 → 금속 식각 후 잔류물, 차단된 금속 섬(Blocked etch metal island).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Cl 기반 플라즈마의 금속 측벽 공격, CHF₃ 과도 패시베이션 시 폴리머 잔류물 관찰.</a:t>
            </a:r>
            <a:endParaRPr lang="en-US" sz="1050" dirty="0"/>
          </a:p>
        </p:txBody>
      </p:sp>
      <p:sp>
        <p:nvSpPr>
          <p:cNvPr id="8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SP-HM · 평가 · 결과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하드마스크 검증 방법과 결과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검증 방법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189634"/>
                <a:gridCol w="2718511"/>
                <a:gridCol w="4077310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구분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방법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검출 대상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Comb-Serpentine 구조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Open/Short Failure, Line-to-Line Leakage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전기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Voltage Ramp / TDDB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절연 파괴 시간, SILC 증가 패턴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물리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FIB 절단 → TEM + EDS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잔존 두께, 트렌치 폭 확장, 브릿지 유무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FTIR / XPS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탄소 고갈층 두께, Si-OH 생성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3656769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결과</a:t>
            </a:r>
            <a:endParaRPr lang="en-US" sz="13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967665"/>
          <a:ext cx="7985455" cy="914400"/>
        </p:xfrm>
        <a:graphic>
          <a:graphicData uri="http://schemas.openxmlformats.org/drawingml/2006/table">
            <a:tbl>
              <a:tblPr/>
              <a:tblGrid>
                <a:gridCol w="2191817"/>
                <a:gridCol w="4697273"/>
                <a:gridCol w="1096366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평가 항목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손상 구조 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판정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Comb 간 누설 전류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정상 대비 수백 배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브릿지 저항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설계 스펙 이탈, 최악 Hard Short (수율 0%)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TDDB TTF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온전 구조 대비 수십 배 단축 (Cu⁺ 드리프트 가속)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C2244D"/>
                          </a:solidFill>
                        </a:rPr>
                        <a:t>FAIL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F1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단면 (ARDE)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좁은 패턴일수록 Shoulder 침식 심화, Defect adder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B36B00"/>
                          </a:solidFill>
                        </a:rPr>
                        <a:t>조건부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6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하드마스크 두께 마진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누설 억제·신뢰성의 최우선 선결 조건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008B7C"/>
                          </a:solidFill>
                        </a:rPr>
                        <a:t>PASS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AF1"/>
                    </a:solidFill>
                  </a:tcPr>
                </a:tc>
              </a:tr>
            </a:tbl>
          </a:graphicData>
        </a:graphic>
      </p:graphicFrame>
      <p:pic>
        <p:nvPicPr>
          <p:cNvPr id="9" name="Image 0" descr="/tmp/claude-0/-home-claude/e70767da-955c-5cc3-beb4-741bbeefa4c6/scratchpad/img/ru_lines_t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16975" y="1280160"/>
            <a:ext cx="3017520" cy="125364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716975" y="2579522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패터닝된 금속 배선 단면 TEM (AR 2.2–3.8) — 유사 구조 참고, CC BY</a:t>
            </a:r>
            <a:endParaRPr lang="en-US" sz="800" dirty="0"/>
          </a:p>
        </p:txBody>
      </p:sp>
      <p:sp>
        <p:nvSpPr>
          <p:cNvPr id="11" name="Text 6"/>
          <p:cNvSpPr txBox="1"/>
          <p:nvPr/>
        </p:nvSpPr>
        <p:spPr>
          <a:xfrm>
            <a:off x="8716975" y="293613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2" name="Text 7"/>
          <p:cNvSpPr txBox="1"/>
          <p:nvPr/>
        </p:nvSpPr>
        <p:spPr>
          <a:xfrm>
            <a:off x="8716975" y="3301898"/>
            <a:ext cx="3017520" cy="195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수백 배 누설, TTF 수십 배 단축.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FF8E72"/>
            </a:solidFill>
            <a:prstDash val="solid"/>
          </a:ln>
        </p:spPr>
      </p:sp>
      <p:sp>
        <p:nvSpPr>
          <p:cNvPr id="14" name="Text 9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하드마스크 두께 마진 확보가 배선 간 누설 억제와 신뢰성 보장의 최우선 선결 조건.</a:t>
            </a:r>
            <a:endParaRPr lang="en-US" sz="1000" dirty="0"/>
          </a:p>
        </p:txBody>
      </p:sp>
      <p:sp>
        <p:nvSpPr>
          <p:cNvPr id="15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SP-UN · 기전 · 대응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unCMP 기전과 대응 옵션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기전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91056"/>
          <a:ext cx="7985455" cy="914400"/>
        </p:xfrm>
        <a:graphic>
          <a:graphicData uri="http://schemas.openxmlformats.org/drawingml/2006/table">
            <a:tbl>
              <a:tblPr/>
              <a:tblGrid>
                <a:gridCol w="1887322"/>
                <a:gridCol w="3484778"/>
                <a:gridCol w="2613355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요인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메커니즘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ECP 과잉층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가속제·억제제·평탄제 Bottom-up 충진 후 Overburden 형성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CMP로 Cu + Ta/TaN 제거 필요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슬러리 화학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H₂O₂ 산화 → CuO, 흄드 실리카 100–300 nm 마찰 제거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기계·화학 작용 균형 필요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BTA 부식 방지제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Cu(I)-BTA 둔화층 — 트렌치 내부 갈바닉 부식 차단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패드 압력 미도달 영역 보호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패드 Glazing / 컨디셔너 저하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국부 기계적 연마력 저하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둔화층 미관통 → Cu·TaN 잔류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낮은 패턴 밀도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압력 불균일, 지형적 굴곡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Ta/TaN–산화막 경계 잔류 급증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024191"/>
            <a:ext cx="7985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대응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335087"/>
          <a:ext cx="7985455" cy="914400"/>
        </p:xfrm>
        <a:graphic>
          <a:graphicData uri="http://schemas.openxmlformats.org/drawingml/2006/table">
            <a:tbl>
              <a:tblPr/>
              <a:tblGrid>
                <a:gridCol w="2521915"/>
                <a:gridCol w="2941625"/>
                <a:gridCol w="2521915"/>
              </a:tblGrid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조치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효과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2E"/>
                          </a:solidFill>
                        </a:rPr>
                        <a:t>부작용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Down-force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제거율↑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overCMP 위험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BTA 농도 감소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둔화층 약화, 잔류 감소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갈바닉 부식 증가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산화제 비율 조정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Removal Rate↑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Dishing 가속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74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다단계 연마 (선택비)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TaN/Ta vs Cu 선택비 제어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B5563"/>
                          </a:solidFill>
                        </a:rPr>
                        <a:t>공정 시간↑</a:t>
                      </a:r>
                      <a:endParaRPr lang="en-US" sz="9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8716975" y="128016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포인트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8716975" y="1645920"/>
            <a:ext cx="301752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특정 패턴 밀도 다이 주변부에서 Metal-to-Metal Leakage 집중 → 수율 급감.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지형적 굴곡 존재 시 Ta/TaN–산화막 경계에서 잔류 비율 기하급수 증가.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8716975" y="5303520"/>
            <a:ext cx="3017520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716975" y="5376672"/>
            <a:ext cx="301752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unCMP 단락 방지와 overCMP 저항 증가 사이의 트레이드오프 · CMP는 매우 좁은 공정 창에서 제어되어야 함.</a:t>
            </a:r>
            <a:endParaRPr lang="en-US" sz="1000" dirty="0"/>
          </a:p>
        </p:txBody>
      </p:sp>
      <p:sp>
        <p:nvSpPr>
          <p:cNvPr id="13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BLACK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overCMP와 블랙 방정식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80160"/>
            <a:ext cx="112772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MTTF = A · J⁻ⁿ · exp(Ea / kB·T)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103120"/>
          <a:ext cx="6949440" cy="914400"/>
        </p:xfrm>
        <a:graphic>
          <a:graphicData uri="http://schemas.openxmlformats.org/drawingml/2006/table">
            <a:tbl>
              <a:tblPr/>
              <a:tblGrid>
                <a:gridCol w="847649"/>
                <a:gridCol w="2712110"/>
                <a:gridCol w="3389681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의미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overCMP 영향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재료·구조 상수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J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단면적↓ → J↑ (1차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전류 밀도 지수 (1–2, Void 성장)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Ea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원자 확산 활성화 에너지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줄 발열로 쉽게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절대 온도 (지수항)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미세 상승이 수명 수십 배 단축 (2차 효과)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8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2103120"/>
            <a:ext cx="3962095" cy="145517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772400" y="3604010"/>
            <a:ext cx="396209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10" name="Text 6"/>
          <p:cNvSpPr txBox="1"/>
          <p:nvPr/>
        </p:nvSpPr>
        <p:spPr>
          <a:xfrm>
            <a:off x="7772400" y="3960626"/>
            <a:ext cx="39620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해석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7772400" y="4308098"/>
            <a:ext cx="3962095" cy="1845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 = ρL/(W·T): 두께 T 감소 → 선저항 즉시 증가. 첨단 노드는 수 nm Dishing만으로 10–20% 이상 저항 상승 → RC 허용치 이탈.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단면적 감소 → 전류 밀도 J 증가 → MTTF ∝ J⁻ⁿ (n = 1–2).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저항 증가 → 줄 발열 → 지수항 exp(Ea/kT) 급감 → Void 핵생성·성장 수십 배 가속 (열 폭주).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57200" y="5440680"/>
            <a:ext cx="6949440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457200" y="5513832"/>
            <a:ext cx="6949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측정 저항이 초기 기준 대비 10% 이상 증가하면 Failure. 더미 필 최적화와 CMP 시뮬레이션 피드백으로 저항·신뢰성 동시 억제.</a:t>
            </a:r>
            <a:endParaRPr lang="en-US" sz="1000" dirty="0"/>
          </a:p>
        </p:txBody>
      </p:sp>
      <p:sp>
        <p:nvSpPr>
          <p:cNvPr id="14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SP-OV · DUMMY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Dummy Fill 트레이드오프 관계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2138782"/>
                <a:gridCol w="3110789"/>
                <a:gridCol w="2916936"/>
                <a:gridCol w="3110789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Dummy Fill 방식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CMP 평탄도 (Dishing/Erosion)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기생 정전용량·RC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크로스토크·전자기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미적용 (희소 패턴)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압력 불균형 → 심각한 Dishing/Erosion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신호선 낮은 C 유지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간섭 위험 낮음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플로팅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금속 밀도 균일화 → 평탄도 크게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인접 능동선과 커플링 → C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노이즈 매개 안테나 → 간섭 증폭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접지 Dummy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밀도 제어·평탄도 우수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Ground 결합 → 총 C 변동 폭 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차폐 효과 → 크로스토크 억제, 열 분산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플로팅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 증가, 안테나 효과.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4338218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접지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338218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차폐·열 분산.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8219237" y="3566160"/>
            <a:ext cx="351525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최적화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19237" y="3913632"/>
            <a:ext cx="3515258" cy="2258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시뮬레이터 결합.</a:t>
            </a:r>
            <a:endParaRPr lang="en-US" sz="105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SP-VIA · 기전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비아 챔퍼 붕괴 도미노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7589520" cy="914400"/>
        </p:xfrm>
        <a:graphic>
          <a:graphicData uri="http://schemas.openxmlformats.org/drawingml/2006/table">
            <a:tbl>
              <a:tblPr/>
              <a:tblGrid>
                <a:gridCol w="1517904"/>
                <a:gridCol w="3035808"/>
                <a:gridCol w="3035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단계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현상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결과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VFTL 흐름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M1까지 비아 선식각 → 재포토 → 트렌치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상단 모서리 장시간 플라즈마 노출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ARDE 극복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입사 에너지·과식각 시간 증가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BARC 희생층에도 모서리 집중 식각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각도 분산·시스 스퍼터링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최상단 모서리 집중 타격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챔퍼 무너짐 (Shoulder Loss), V자형·나팔형 프로파일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PVD TaN/Ta + Cu 시드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직진성 → 무너진 모서리에 두껍게 누적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오버행(Overhang), 입구 축소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ECP Cu 충진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입구 선폐쇄 (Top pinch-off)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비아 하단·경계 Void → 비아 R↑, Open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배리어 측벽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Zero Step Coverage 영역 발생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Cu → Low-k 침투 방어선 단절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6" name="Image 0" descr="/tmp/claude-0/-home-claude/e70767da-955c-5cc3-beb4-741bbeefa4c6/scratchpad/img/hts_void_se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1280160"/>
            <a:ext cx="3367735" cy="1236877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8366760" y="2562757"/>
            <a:ext cx="33677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00" kern="0" dirty="0">
                <a:solidFill>
                  <a:srgbClr val="9CA3A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고온 저장 후 CU 배선 산화물·VOID SEM — 유사 결함 참고, CC BY MICROMACHINES 2026</a:t>
            </a:r>
            <a:endParaRPr lang="en-US" sz="800" dirty="0"/>
          </a:p>
        </p:txBody>
      </p:sp>
      <p:sp>
        <p:nvSpPr>
          <p:cNvPr id="8" name="Text 4"/>
          <p:cNvSpPr txBox="1"/>
          <p:nvPr/>
        </p:nvSpPr>
        <p:spPr>
          <a:xfrm>
            <a:off x="8366760" y="2919373"/>
            <a:ext cx="33677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평가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8366760" y="3248557"/>
            <a:ext cx="3367735" cy="19178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TEM/EDX Ta·Recess.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HTOL 후 Recess 2–3배.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TDDB E/E² 모델.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8366760" y="5212080"/>
            <a:ext cx="3367735" cy="0"/>
          </a:xfrm>
          <a:prstGeom prst="line">
            <a:avLst/>
          </a:prstGeom>
          <a:noFill/>
          <a:ln w="9525">
            <a:solidFill>
              <a:srgbClr val="00A8D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366760" y="5285232"/>
            <a:ext cx="3367735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챔퍼 붕괴는 Void(Open)와 배리어 단절(TDDB) 두 경로로 동시에 수명을 깎는 도미노 기전.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6B72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SP-FIX · 표 3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</a:rPr>
              <a:t>복구·차세대 기술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115568"/>
            <a:ext cx="11277295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77295" cy="914400"/>
        </p:xfrm>
        <a:graphic>
          <a:graphicData uri="http://schemas.openxmlformats.org/drawingml/2006/table">
            <a:tbl>
              <a:tblPr/>
              <a:tblGrid>
                <a:gridCol w="1879092"/>
                <a:gridCol w="3383280"/>
                <a:gridCol w="3383280"/>
                <a:gridCol w="263164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 기술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주요 개선 메커니즘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신뢰성 효과 (EM / TDDB)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2E"/>
                          </a:solidFill>
                        </a:rPr>
                        <a:t>적용상 한계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HMDS 실릴화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Si-OH → 소수성 트리메틸기 치환, 기공 밀봉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누설 감소, TDDB TTF 대폭 증가, 접촉각 80° 이상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침투 깊이 한계 → 벌크 복구 불완전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ALD Ru 라이너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Ta → Ru 대체, Cu 체적 극대화, Seedless 도금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저항 급감, 오버행/Pinch-off 방지 → Void 억제, EM 연장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Ru–Cu 계면 스캐터링 저항 상승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에어 갭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절연막 일부 제거 → k = 1.0 공기층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기생 C 17–20% 감소, 신호 지연 개선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B5563"/>
                          </a:solidFill>
                        </a:rPr>
                        <a:t>기계적 강도↓, 갭 지붕 불안정</a:t>
                      </a:r>
                      <a:endParaRPr lang="en-US" sz="1050" dirty="0"/>
                    </a:p>
                  </a:txBody>
                  <a:tcPr marL="73152" marR="73152" marT="45720" marB="45720" anchor="ctr">
                    <a:lnL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Semi-DD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Ru/Mo 내화 금속 전면 증착 → 서브트랙티브 RIE로 배선 직접 형성 → 사이를 유전막/에어갭 충진.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CMP 완전 배제 → unCMP 단락, overCMP Dishing/Erosion·저항 증가 원천 제거.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278728" y="3383280"/>
            <a:ext cx="545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</a:rPr>
              <a:t>BSPDN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3730752"/>
            <a:ext cx="5455768" cy="1618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신호·전력선을 전면 BEOL에 모두 넣던 방식에서 탈피 — nTSV로 후면에서 직접 전력 공급.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B5563"/>
                </a:solidFill>
              </a:rPr>
              <a:t>전면 배선층 라우팅 혼잡·패턴 밀도 불균형 해소 → CMP 국부 압력 분산 → 평탄도 극대화.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5440680"/>
            <a:ext cx="11277295" cy="0"/>
          </a:xfrm>
          <a:prstGeom prst="line">
            <a:avLst/>
          </a:prstGeom>
          <a:noFill/>
          <a:ln w="9525">
            <a:solidFill>
              <a:srgbClr val="00B8A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5513832"/>
            <a:ext cx="1127729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1A2E"/>
                </a:solidFill>
              </a:rPr>
              <a:t>판정  </a:t>
            </a:r>
            <a:pPr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단위 공정 최적화(HMDS·ALD 라이너·에어갭)로 기존 공정 수명을 연장하되, 1.5 nm 이후는 Semi-Damascene + BSPDN 패러다임 전환이 필수.</a:t>
            </a:r>
            <a:endParaRPr lang="en-US" sz="1000" dirty="0"/>
          </a:p>
        </p:txBody>
      </p:sp>
      <p:sp>
        <p:nvSpPr>
          <p:cNvPr id="12" name="Text 1"/>
          <p:cNvSpPr/>
          <p:nvPr>
            <p:ph idx="101" type="title" hasCustomPrompt="1"/>
          </p:nvPr>
        </p:nvSpPr>
        <p:spPr>
          <a:xfrm>
            <a:off x="621792" y="50292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9CA3AF"/>
                </a:solidFill>
                <a:latin typeface="JetBrains Mono"/>
                <a:ea typeface="JetBrains Mono"/>
                <a:cs typeface="JetBrains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rquoise DS cyan">
  <a:themeElements>
    <a:clrScheme name="Turquoise DS cyan">
      <a:dk1>
        <a:srgbClr val="1A1A2E"/>
      </a:dk1>
      <a:lt1>
        <a:srgbClr val="FFFFFF"/>
      </a:lt1>
      <a:dk2>
        <a:srgbClr val="16213E"/>
      </a:dk2>
      <a:lt2>
        <a:srgbClr val="F5F5F5"/>
      </a:lt2>
      <a:accent1>
        <a:srgbClr val="00A8D8"/>
      </a:accent1>
      <a:accent2>
        <a:srgbClr val="00B8A9"/>
      </a:accent2>
      <a:accent3>
        <a:srgbClr val="FF8E72"/>
      </a:accent3>
      <a:accent4>
        <a:srgbClr val="FF8E72"/>
      </a:accent4>
      <a:accent5>
        <a:srgbClr val="008B7C"/>
      </a:accent5>
      <a:accent6>
        <a:srgbClr val="0085B6"/>
      </a:accent6>
      <a:hlink>
        <a:srgbClr val="0085B6"/>
      </a:hlink>
      <a:folHlink>
        <a:srgbClr val="006B5E"/>
      </a:folHlink>
    </a:clrScheme>
    <a:fontScheme name="Turquoise DS cyan">
      <a:majorFont>
        <a:latin typeface="Plus Jakarta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lus Jakarta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BEOL Cu DD Dense Full Report</dc:title>
  <dc:subject>PptxGenJS Presentation</dc:subject>
  <dc:creator>공정 AI팀</dc:creator>
  <cp:lastModifiedBy>공정 AI팀</cp:lastModifiedBy>
  <cp:revision>1</cp:revision>
  <dcterms:created xsi:type="dcterms:W3CDTF">2026-10-03T16:48:15Z</dcterms:created>
  <dcterms:modified xsi:type="dcterms:W3CDTF">2026-10-03T16:48:15Z</dcterms:modified>
</cp:coreProperties>
</file>