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7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jpe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5.png"/><Relationship Id="rId9" Type="http://schemas.openxmlformats.org/officeDocument/2006/relationships/image" Target="../media/image-3-9.png"/><Relationship Id="rId10" Type="http://schemas.openxmlformats.org/officeDocument/2006/relationships/image" Target="../media/image-3-10.jpeg"/><Relationship Id="rId11" Type="http://schemas.openxmlformats.org/officeDocument/2006/relationships/image" Target="../media/image-3-11.jpe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058713938ab36171a2cbcf2e7e0ddd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3186cc5221fc6102b3cec4fe4c76f370.png">    </p:cNvPr>
          <p:cNvPicPr>
            <a:picLocks noChangeAspect="1"/>
          </p:cNvPicPr>
          <p:nvPr/>
        </p:nvPicPr>
        <p:blipFill>
          <a:blip r:embed="rId2"/>
          <a:srcRect l="-429" r="-429" t="0" b="0"/>
          <a:stretch/>
        </p:blipFill>
        <p:spPr>
          <a:xfrm>
            <a:off x="1047902" y="571500"/>
            <a:ext cx="609905" cy="2834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47902" y="3524098"/>
            <a:ext cx="10477195" cy="1619402"/>
          </a:xfrm>
          <a:prstGeom prst="rect">
            <a:avLst/>
          </a:prstGeom>
          <a:solidFill>
            <a:srgbClr val="252D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2" descr="gen-dedup-37c8d460ea40dc0a4fe8768c81b0230c.png">    </p:cNvPr>
          <p:cNvPicPr>
            <a:picLocks noChangeAspect="1"/>
          </p:cNvPicPr>
          <p:nvPr/>
        </p:nvPicPr>
        <p:blipFill>
          <a:blip r:embed="rId3"/>
          <a:srcRect l="0" r="0" t="-399" b="-399"/>
          <a:stretch/>
        </p:blipFill>
        <p:spPr>
          <a:xfrm>
            <a:off x="1238098" y="8382305"/>
            <a:ext cx="15811805" cy="19202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6505956" y="8762695"/>
            <a:ext cx="10582351" cy="743407"/>
          </a:xfrm>
          <a:prstGeom prst="rect">
            <a:avLst/>
          </a:prstGeom>
          <a:solidFill>
            <a:srgbClr val="D77256">
              <a:alpha val="8000"/>
            </a:srgbClr>
          </a:solidFill>
          <a:ln/>
        </p:spPr>
      </p:sp>
      <p:sp>
        <p:nvSpPr>
          <p:cNvPr id="7" name="Shape 2"/>
          <p:cNvSpPr/>
          <p:nvPr/>
        </p:nvSpPr>
        <p:spPr>
          <a:xfrm>
            <a:off x="6505956" y="8762695"/>
            <a:ext cx="10582351" cy="9144"/>
          </a:xfrm>
          <a:prstGeom prst="rect">
            <a:avLst/>
          </a:prstGeom>
          <a:solidFill>
            <a:srgbClr val="D77256"/>
          </a:solidFill>
          <a:ln w="12700">
            <a:solidFill>
              <a:srgbClr val="D77256">
                <a:alpha val="0"/>
              </a:srgbClr>
            </a:solidFill>
            <a:prstDash val="solid"/>
          </a:ln>
        </p:spPr>
      </p:sp>
      <p:pic>
        <p:nvPicPr>
          <p:cNvPr id="8" name="Image 3" descr="gen-dedup-3f8fe3bda5e710434424db1fd27f77cf.png">    </p:cNvPr>
          <p:cNvPicPr>
            <a:picLocks noChangeAspect="1"/>
          </p:cNvPicPr>
          <p:nvPr/>
        </p:nvPicPr>
        <p:blipFill>
          <a:blip r:embed="rId4"/>
          <a:srcRect l="-2061" r="-2061" t="0" b="0"/>
          <a:stretch/>
        </p:blipFill>
        <p:spPr>
          <a:xfrm>
            <a:off x="1047902" y="9905695"/>
            <a:ext cx="761695" cy="9144"/>
          </a:xfrm>
          <a:prstGeom prst="rect">
            <a:avLst/>
          </a:prstGeom>
        </p:spPr>
      </p:pic>
      <p:pic>
        <p:nvPicPr>
          <p:cNvPr id="9" name="Image 4" descr="gen-dedup-bd2d3761a59f37dd2d31d2d4de7a6c77.png">    </p:cNvPr>
          <p:cNvPicPr>
            <a:picLocks noChangeAspect="1"/>
          </p:cNvPicPr>
          <p:nvPr/>
        </p:nvPicPr>
        <p:blipFill>
          <a:blip r:embed="rId5"/>
          <a:srcRect l="0" r="0" t="-409" b="-409"/>
          <a:stretch/>
        </p:blipFill>
        <p:spPr>
          <a:xfrm>
            <a:off x="1047902" y="3524098"/>
            <a:ext cx="28346" cy="1619402"/>
          </a:xfrm>
          <a:prstGeom prst="rect">
            <a:avLst/>
          </a:prstGeom>
        </p:spPr>
      </p:pic>
      <p:pic>
        <p:nvPicPr>
          <p:cNvPr id="10" name="Image 5" descr="gen-dedup-32e70baf140af68b9b41fffeebf61492.png">    </p:cNvPr>
          <p:cNvPicPr>
            <a:picLocks noChangeAspect="1"/>
          </p:cNvPicPr>
          <p:nvPr/>
        </p:nvPicPr>
        <p:blipFill>
          <a:blip r:embed="rId6"/>
          <a:srcRect l="-400" r="-400" t="0" b="0"/>
          <a:stretch/>
        </p:blipFill>
        <p:spPr>
          <a:xfrm>
            <a:off x="1333195" y="4048049"/>
            <a:ext cx="57607" cy="342900"/>
          </a:xfrm>
          <a:prstGeom prst="rect">
            <a:avLst/>
          </a:prstGeom>
        </p:spPr>
      </p:pic>
      <p:pic>
        <p:nvPicPr>
          <p:cNvPr id="11" name="Image 6" descr="gen-dedup-e65de53a5ffde332efa5fd4bdddbd732.png">    </p:cNvPr>
          <p:cNvPicPr>
            <a:picLocks noChangeAspect="1"/>
          </p:cNvPicPr>
          <p:nvPr/>
        </p:nvPicPr>
        <p:blipFill>
          <a:blip r:embed="rId7"/>
          <a:srcRect l="0" r="0" t="-2083" b="-2083"/>
          <a:stretch/>
        </p:blipFill>
        <p:spPr>
          <a:xfrm>
            <a:off x="4762195" y="4172407"/>
            <a:ext cx="9144" cy="342900"/>
          </a:xfrm>
          <a:prstGeom prst="rect">
            <a:avLst/>
          </a:prstGeom>
        </p:spPr>
      </p:pic>
      <p:pic>
        <p:nvPicPr>
          <p:cNvPr id="12" name="Image 7" descr="gen-dedup-db803fc3527aace325c279754d9c5a0d.png">    </p:cNvPr>
          <p:cNvPicPr>
            <a:picLocks noChangeAspect="1"/>
          </p:cNvPicPr>
          <p:nvPr/>
        </p:nvPicPr>
        <p:blipFill>
          <a:blip r:embed="rId8"/>
          <a:srcRect l="-400" r="-400" t="0" b="0"/>
          <a:stretch/>
        </p:blipFill>
        <p:spPr>
          <a:xfrm>
            <a:off x="5143500" y="4048049"/>
            <a:ext cx="57607" cy="342900"/>
          </a:xfrm>
          <a:prstGeom prst="rect">
            <a:avLst/>
          </a:prstGeom>
        </p:spPr>
      </p:pic>
      <p:pic>
        <p:nvPicPr>
          <p:cNvPr id="13" name="Image 8" descr="gen-dedup-e65de53a5ffde332efa5fd4bdddbd732.png">    </p:cNvPr>
          <p:cNvPicPr>
            <a:picLocks noChangeAspect="1"/>
          </p:cNvPicPr>
          <p:nvPr/>
        </p:nvPicPr>
        <p:blipFill>
          <a:blip r:embed="rId9"/>
          <a:srcRect l="0" r="0" t="-2083" b="-2083"/>
          <a:stretch/>
        </p:blipFill>
        <p:spPr>
          <a:xfrm>
            <a:off x="8191195" y="4172407"/>
            <a:ext cx="9144" cy="342900"/>
          </a:xfrm>
          <a:prstGeom prst="rect">
            <a:avLst/>
          </a:prstGeom>
        </p:spPr>
      </p:pic>
      <p:pic>
        <p:nvPicPr>
          <p:cNvPr id="14" name="Image 9" descr="gen-dedup-afb2c75b40544de547cda58db7192094.png">    </p:cNvPr>
          <p:cNvPicPr>
            <a:picLocks noChangeAspect="1"/>
          </p:cNvPicPr>
          <p:nvPr/>
        </p:nvPicPr>
        <p:blipFill>
          <a:blip r:embed="rId10"/>
          <a:srcRect l="-400" r="-400" t="0" b="0"/>
          <a:stretch/>
        </p:blipFill>
        <p:spPr>
          <a:xfrm>
            <a:off x="8572500" y="4048049"/>
            <a:ext cx="57607" cy="342900"/>
          </a:xfrm>
          <a:prstGeom prst="rect">
            <a:avLst/>
          </a:prstGeom>
        </p:spPr>
      </p:pic>
      <p:pic>
        <p:nvPicPr>
          <p:cNvPr id="15" name="Image 10" descr="gen-dedup-079190c7baa6d38562b00348c59569ce.png">    </p:cNvPr>
          <p:cNvPicPr>
            <a:picLocks noChangeAspect="1"/>
          </p:cNvPicPr>
          <p:nvPr/>
        </p:nvPicPr>
        <p:blipFill>
          <a:blip r:embed="rId11"/>
          <a:srcRect l="0" r="0" t="-397" b="-397"/>
          <a:stretch/>
        </p:blipFill>
        <p:spPr>
          <a:xfrm>
            <a:off x="11811305" y="5162702"/>
            <a:ext cx="5524805" cy="19202"/>
          </a:xfrm>
          <a:prstGeom prst="rect">
            <a:avLst/>
          </a:prstGeom>
        </p:spPr>
      </p:pic>
      <p:sp>
        <p:nvSpPr>
          <p:cNvPr id="16" name="Shape 3"/>
          <p:cNvSpPr/>
          <p:nvPr/>
        </p:nvSpPr>
        <p:spPr>
          <a:xfrm>
            <a:off x="1238098" y="8343900"/>
            <a:ext cx="114300" cy="114300"/>
          </a:xfrm>
          <a:prstGeom prst="ellipse">
            <a:avLst/>
          </a:prstGeom>
          <a:solidFill>
            <a:srgbClr val="6E94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4"/>
          <p:cNvSpPr/>
          <p:nvPr/>
        </p:nvSpPr>
        <p:spPr>
          <a:xfrm>
            <a:off x="3866998" y="8343900"/>
            <a:ext cx="114300" cy="114300"/>
          </a:xfrm>
          <a:prstGeom prst="ellipse">
            <a:avLst/>
          </a:prstGeom>
          <a:solidFill>
            <a:srgbClr val="E8A4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5"/>
          <p:cNvSpPr/>
          <p:nvPr/>
        </p:nvSpPr>
        <p:spPr>
          <a:xfrm>
            <a:off x="6505956" y="8343900"/>
            <a:ext cx="114300" cy="114300"/>
          </a:xfrm>
          <a:prstGeom prst="ellipse">
            <a:avLst/>
          </a:prstGeom>
          <a:solidFill>
            <a:srgbClr val="E8A4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6"/>
          <p:cNvSpPr/>
          <p:nvPr/>
        </p:nvSpPr>
        <p:spPr>
          <a:xfrm>
            <a:off x="9144000" y="8343900"/>
            <a:ext cx="114300" cy="114300"/>
          </a:xfrm>
          <a:prstGeom prst="ellipse">
            <a:avLst/>
          </a:prstGeom>
          <a:solidFill>
            <a:srgbClr val="E8A4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7"/>
          <p:cNvSpPr/>
          <p:nvPr/>
        </p:nvSpPr>
        <p:spPr>
          <a:xfrm>
            <a:off x="11782044" y="8343900"/>
            <a:ext cx="114300" cy="114300"/>
          </a:xfrm>
          <a:prstGeom prst="ellipse">
            <a:avLst/>
          </a:prstGeom>
          <a:solidFill>
            <a:srgbClr val="E8A45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8"/>
          <p:cNvSpPr/>
          <p:nvPr/>
        </p:nvSpPr>
        <p:spPr>
          <a:xfrm>
            <a:off x="14421002" y="8343900"/>
            <a:ext cx="114300" cy="114300"/>
          </a:xfrm>
          <a:prstGeom prst="ellipse">
            <a:avLst/>
          </a:prstGeom>
          <a:solidFill>
            <a:srgbClr val="D772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11" descr="gen-dedup-945e33bc540fe757512b6cf68df862ea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11305" y="2115007"/>
            <a:ext cx="5524805" cy="3047695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1809598" y="476402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SCREENING · AR ROADMAP</a:t>
            </a:r>
            <a:endParaRPr lang="en-US" sz="1125" dirty="0"/>
          </a:p>
        </p:txBody>
      </p:sp>
      <p:sp>
        <p:nvSpPr>
          <p:cNvPr id="24" name="Text 10"/>
          <p:cNvSpPr txBox="1"/>
          <p:nvPr/>
        </p:nvSpPr>
        <p:spPr>
          <a:xfrm>
            <a:off x="1047902" y="819302"/>
            <a:ext cx="1428750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스크리닝 지표로 본 후보군</a:t>
            </a:r>
            <a:endParaRPr lang="en-US" sz="3900" dirty="0"/>
          </a:p>
        </p:txBody>
      </p:sp>
      <p:sp>
        <p:nvSpPr>
          <p:cNvPr id="25" name="Text 11"/>
          <p:cNvSpPr txBox="1"/>
          <p:nvPr/>
        </p:nvSpPr>
        <p:spPr>
          <a:xfrm>
            <a:off x="1067105" y="1505102"/>
            <a:ext cx="1428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C8BF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Soulié et al., J. Appl. Phys. 136, 171101 (2024) Table II·III와 Sankaran et al., Phys. Rev. Mater. 5, 056002 (2021)의 계산값을 합쳐 재작도</a:t>
            </a:r>
            <a:endParaRPr lang="en-US" sz="1275" dirty="0"/>
          </a:p>
        </p:txBody>
      </p:sp>
      <p:sp>
        <p:nvSpPr>
          <p:cNvPr id="26" name="Text 12"/>
          <p:cNvSpPr txBox="1"/>
          <p:nvPr/>
        </p:nvSpPr>
        <p:spPr>
          <a:xfrm>
            <a:off x="1047902" y="2115007"/>
            <a:ext cx="104781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E8A4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 상</a:t>
            </a:r>
            <a:pPr algn="l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계산상 가장 낮지만 아직 증착·에칭 실증이 없습니다. 실제로 </a:t>
            </a:r>
            <a:pPr algn="l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D7725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300 mm</a:t>
            </a:r>
            <a:pPr algn="l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웨이퍼에서 돌아간 건 </a:t>
            </a:r>
            <a:pPr algn="l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</a:t>
            </a:r>
            <a:pPr algn="l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</a:t>
            </a:r>
            <a:pPr algn="l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Mo</a:t>
            </a:r>
            <a:pPr algn="l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그리고 </a:t>
            </a:r>
            <a:pPr algn="l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Al 기반 금속간화합물</a:t>
            </a:r>
            <a:pPr algn="l" indent="0" marL="0">
              <a:lnSpc>
                <a:spcPts val="2588"/>
              </a:lnSpc>
              <a:buNone/>
            </a:pPr>
            <a:r>
              <a:rPr lang="en-US" sz="172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뿐입니다.</a:t>
            </a:r>
            <a:endParaRPr lang="en-US" sz="1725" dirty="0"/>
          </a:p>
        </p:txBody>
      </p:sp>
      <p:sp>
        <p:nvSpPr>
          <p:cNvPr id="27" name="Text 13"/>
          <p:cNvSpPr txBox="1"/>
          <p:nvPr/>
        </p:nvSpPr>
        <p:spPr>
          <a:xfrm>
            <a:off x="1333195" y="3676802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300 mm 실증 후보</a:t>
            </a:r>
            <a:endParaRPr lang="en-US" sz="900" dirty="0"/>
          </a:p>
        </p:txBody>
      </p:sp>
      <p:sp>
        <p:nvSpPr>
          <p:cNvPr id="28" name="Text 14"/>
          <p:cNvSpPr txBox="1"/>
          <p:nvPr/>
        </p:nvSpPr>
        <p:spPr>
          <a:xfrm>
            <a:off x="1580998" y="4009644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</a:t>
            </a:r>
            <a:endParaRPr lang="en-US" sz="2700" dirty="0"/>
          </a:p>
        </p:txBody>
      </p:sp>
      <p:sp>
        <p:nvSpPr>
          <p:cNvPr id="29" name="Text 15"/>
          <p:cNvSpPr txBox="1"/>
          <p:nvPr/>
        </p:nvSpPr>
        <p:spPr>
          <a:xfrm>
            <a:off x="5391302" y="4009644"/>
            <a:ext cx="1905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Mo</a:t>
            </a:r>
            <a:endParaRPr lang="en-US" sz="2700" dirty="0"/>
          </a:p>
        </p:txBody>
      </p:sp>
      <p:sp>
        <p:nvSpPr>
          <p:cNvPr id="30" name="Text 16"/>
          <p:cNvSpPr txBox="1"/>
          <p:nvPr/>
        </p:nvSpPr>
        <p:spPr>
          <a:xfrm>
            <a:off x="8820302" y="4552798"/>
            <a:ext cx="24771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Al 기반</a:t>
            </a:r>
            <a:pPr algn="l" indent="0" marL="0">
              <a:lnSpc>
                <a:spcPct val="105000"/>
              </a:lnSpc>
              <a:buNone/>
            </a:pPr>
            <a:endParaRPr lang="en-US" sz="1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금속간화합물</a:t>
            </a:r>
            <a:endParaRPr lang="en-US" sz="1650" dirty="0"/>
          </a:p>
        </p:txBody>
      </p:sp>
      <p:sp>
        <p:nvSpPr>
          <p:cNvPr id="31" name="Text 17"/>
          <p:cNvSpPr txBox="1"/>
          <p:nvPr/>
        </p:nvSpPr>
        <p:spPr>
          <a:xfrm>
            <a:off x="1333195" y="4714646"/>
            <a:ext cx="7429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MAX는 계산상 최우위지만 300 mm 실증은 부재.</a:t>
            </a:r>
            <a:endParaRPr lang="en-US" sz="975" dirty="0"/>
          </a:p>
        </p:txBody>
      </p:sp>
      <p:sp>
        <p:nvSpPr>
          <p:cNvPr id="32" name="Text 18"/>
          <p:cNvSpPr txBox="1"/>
          <p:nvPr/>
        </p:nvSpPr>
        <p:spPr>
          <a:xfrm>
            <a:off x="11811305" y="5257800"/>
            <a:ext cx="5524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 · imec.be — Path to Line Resistance halves using Semi-Damascene</a:t>
            </a:r>
            <a:endParaRPr lang="en-US" sz="975" dirty="0"/>
          </a:p>
        </p:txBody>
      </p:sp>
      <p:sp>
        <p:nvSpPr>
          <p:cNvPr id="33" name="Text 19"/>
          <p:cNvSpPr txBox="1"/>
          <p:nvPr/>
        </p:nvSpPr>
        <p:spPr>
          <a:xfrm>
            <a:off x="1047902" y="5524805"/>
            <a:ext cx="161931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E94A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패터닝·집적: 다마신을 버리고 금속을 직접 긎는다</a:t>
            </a:r>
            <a:endParaRPr lang="en-US" sz="2100" dirty="0"/>
          </a:p>
        </p:txBody>
      </p:sp>
      <p:sp>
        <p:nvSpPr>
          <p:cNvPr id="34" name="Text 20"/>
          <p:cNvSpPr txBox="1"/>
          <p:nvPr/>
        </p:nvSpPr>
        <p:spPr>
          <a:xfrm>
            <a:off x="1047902" y="5982005"/>
            <a:ext cx="1619311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semi-damascene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은 도랑을 파고 금속을 채우는 대신 금속을 먼저 깔고 직접 에칭합니다. 그 결과 배리어가 필요 없고, 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8A4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CMP가 제한하던 종횡비(AR)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를 올릴 수 있습니다. 기존 Cu 다마신 선의 AR은 대략 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8A4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semi-damascene은 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1세대 2 → 2세대 3 → 이후 4, 5, 6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으로 올리는 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D7725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5세대 로드맵</a:t>
            </a:r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입니다.</a:t>
            </a:r>
            <a:endParaRPr lang="en-US" sz="1650" dirty="0"/>
          </a:p>
        </p:txBody>
      </p:sp>
      <p:sp>
        <p:nvSpPr>
          <p:cNvPr id="35" name="Text 21"/>
          <p:cNvSpPr txBox="1"/>
          <p:nvPr/>
        </p:nvSpPr>
        <p:spPr>
          <a:xfrm>
            <a:off x="1047902" y="7048195"/>
            <a:ext cx="5715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 generaciones · semi-damascene</a:t>
            </a:r>
            <a:endParaRPr lang="en-US" sz="975" dirty="0"/>
          </a:p>
        </p:txBody>
      </p:sp>
      <p:sp>
        <p:nvSpPr>
          <p:cNvPr id="36" name="Text 22"/>
          <p:cNvSpPr txBox="1"/>
          <p:nvPr/>
        </p:nvSpPr>
        <p:spPr>
          <a:xfrm>
            <a:off x="1238098" y="7524598"/>
            <a:ext cx="2477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 다마신</a:t>
            </a:r>
            <a:endParaRPr lang="en-US" sz="900" dirty="0"/>
          </a:p>
        </p:txBody>
      </p:sp>
      <p:sp>
        <p:nvSpPr>
          <p:cNvPr id="37" name="Text 23"/>
          <p:cNvSpPr txBox="1"/>
          <p:nvPr/>
        </p:nvSpPr>
        <p:spPr>
          <a:xfrm>
            <a:off x="1238098" y="7744054"/>
            <a:ext cx="2477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6E94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 1.6</a:t>
            </a:r>
            <a:endParaRPr lang="en-US" sz="3150" dirty="0"/>
          </a:p>
        </p:txBody>
      </p:sp>
      <p:sp>
        <p:nvSpPr>
          <p:cNvPr id="38" name="Text 24"/>
          <p:cNvSpPr txBox="1"/>
          <p:nvPr/>
        </p:nvSpPr>
        <p:spPr>
          <a:xfrm>
            <a:off x="3866998" y="7524598"/>
            <a:ext cx="2477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1세대</a:t>
            </a:r>
            <a:endParaRPr lang="en-US" sz="900" dirty="0"/>
          </a:p>
        </p:txBody>
      </p:sp>
      <p:sp>
        <p:nvSpPr>
          <p:cNvPr id="39" name="Text 25"/>
          <p:cNvSpPr txBox="1"/>
          <p:nvPr/>
        </p:nvSpPr>
        <p:spPr>
          <a:xfrm>
            <a:off x="3866998" y="7744054"/>
            <a:ext cx="2477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8A4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 2</a:t>
            </a:r>
            <a:endParaRPr lang="en-US" sz="3150" dirty="0"/>
          </a:p>
        </p:txBody>
      </p:sp>
      <p:sp>
        <p:nvSpPr>
          <p:cNvPr id="40" name="Text 26"/>
          <p:cNvSpPr txBox="1"/>
          <p:nvPr/>
        </p:nvSpPr>
        <p:spPr>
          <a:xfrm>
            <a:off x="6505956" y="7524598"/>
            <a:ext cx="2477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2세대</a:t>
            </a:r>
            <a:endParaRPr lang="en-US" sz="900" dirty="0"/>
          </a:p>
        </p:txBody>
      </p:sp>
      <p:sp>
        <p:nvSpPr>
          <p:cNvPr id="41" name="Text 27"/>
          <p:cNvSpPr txBox="1"/>
          <p:nvPr/>
        </p:nvSpPr>
        <p:spPr>
          <a:xfrm>
            <a:off x="6505956" y="7744054"/>
            <a:ext cx="2477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8A4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 3</a:t>
            </a:r>
            <a:endParaRPr lang="en-US" sz="3150" dirty="0"/>
          </a:p>
        </p:txBody>
      </p:sp>
      <p:sp>
        <p:nvSpPr>
          <p:cNvPr id="42" name="Text 28"/>
          <p:cNvSpPr txBox="1"/>
          <p:nvPr/>
        </p:nvSpPr>
        <p:spPr>
          <a:xfrm>
            <a:off x="9144000" y="7524598"/>
            <a:ext cx="2477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3세대</a:t>
            </a:r>
            <a:endParaRPr lang="en-US" sz="900" dirty="0"/>
          </a:p>
        </p:txBody>
      </p:sp>
      <p:sp>
        <p:nvSpPr>
          <p:cNvPr id="43" name="Text 29"/>
          <p:cNvSpPr txBox="1"/>
          <p:nvPr/>
        </p:nvSpPr>
        <p:spPr>
          <a:xfrm>
            <a:off x="9144000" y="7744054"/>
            <a:ext cx="2477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 4</a:t>
            </a:r>
            <a:endParaRPr lang="en-US" sz="3150" dirty="0"/>
          </a:p>
        </p:txBody>
      </p:sp>
      <p:sp>
        <p:nvSpPr>
          <p:cNvPr id="44" name="Text 30"/>
          <p:cNvSpPr txBox="1"/>
          <p:nvPr/>
        </p:nvSpPr>
        <p:spPr>
          <a:xfrm>
            <a:off x="11782044" y="7524598"/>
            <a:ext cx="2477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4세대</a:t>
            </a:r>
            <a:endParaRPr lang="en-US" sz="900" dirty="0"/>
          </a:p>
        </p:txBody>
      </p:sp>
      <p:sp>
        <p:nvSpPr>
          <p:cNvPr id="45" name="Text 31"/>
          <p:cNvSpPr txBox="1"/>
          <p:nvPr/>
        </p:nvSpPr>
        <p:spPr>
          <a:xfrm>
            <a:off x="11782044" y="7744054"/>
            <a:ext cx="2477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 5</a:t>
            </a:r>
            <a:endParaRPr lang="en-US" sz="3150" dirty="0"/>
          </a:p>
        </p:txBody>
      </p:sp>
      <p:sp>
        <p:nvSpPr>
          <p:cNvPr id="46" name="Text 32"/>
          <p:cNvSpPr txBox="1"/>
          <p:nvPr/>
        </p:nvSpPr>
        <p:spPr>
          <a:xfrm>
            <a:off x="14421002" y="7524598"/>
            <a:ext cx="2667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5세대</a:t>
            </a:r>
            <a:endParaRPr lang="en-US" sz="900" dirty="0"/>
          </a:p>
        </p:txBody>
      </p:sp>
      <p:sp>
        <p:nvSpPr>
          <p:cNvPr id="47" name="Text 33"/>
          <p:cNvSpPr txBox="1"/>
          <p:nvPr/>
        </p:nvSpPr>
        <p:spPr>
          <a:xfrm>
            <a:off x="14421002" y="7744054"/>
            <a:ext cx="2667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D7725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 6</a:t>
            </a:r>
            <a:endParaRPr lang="en-US" sz="3150" dirty="0"/>
          </a:p>
        </p:txBody>
      </p:sp>
      <p:sp>
        <p:nvSpPr>
          <p:cNvPr id="48" name="Text 34"/>
          <p:cNvSpPr txBox="1"/>
          <p:nvPr/>
        </p:nvSpPr>
        <p:spPr>
          <a:xfrm>
            <a:off x="6762902" y="8934602"/>
            <a:ext cx="10096805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D7725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imec</a:t>
            </a:r>
            <a:pPr algn="l" indent="0" marL="0">
              <a:buNone/>
            </a:pPr>
            <a:r>
              <a:rPr lang="en-US" sz="157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은 </a:t>
            </a:r>
            <a:pPr algn="l" indent="0" marL="0">
              <a:buNone/>
            </a:pPr>
            <a:r>
              <a:rPr lang="en-US" sz="1575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AR=6 Ru</a:t>
            </a:r>
            <a:pPr algn="l" indent="0" marL="0">
              <a:buNone/>
            </a:pPr>
            <a:r>
              <a:rPr lang="en-US" sz="157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선이 </a:t>
            </a:r>
            <a:pPr algn="l" indent="0" marL="0">
              <a:buNone/>
            </a:pPr>
            <a:r>
              <a:rPr lang="en-US" sz="1575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AR=3</a:t>
            </a:r>
            <a:pPr algn="l" indent="0" marL="0">
              <a:buNone/>
            </a:pPr>
            <a:r>
              <a:rPr lang="en-US" sz="157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대비 선 저항을 </a:t>
            </a:r>
            <a:pPr algn="l" indent="0" marL="0">
              <a:buNone/>
            </a:pPr>
            <a:r>
              <a:rPr lang="en-US" sz="1575" dirty="0">
                <a:solidFill>
                  <a:srgbClr val="D7725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약 40%</a:t>
            </a:r>
            <a:pPr algn="l" indent="0" marL="0">
              <a:buNone/>
            </a:pPr>
            <a:r>
              <a:rPr lang="en-US" sz="157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낮춘다고 보고했습니다.</a:t>
            </a:r>
            <a:endParaRPr lang="en-US" sz="15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5d88ae48fabef72f51eeb3d8a478fcf4.png">    </p:cNvPr>
          <p:cNvPicPr>
            <a:picLocks noChangeAspect="1"/>
          </p:cNvPicPr>
          <p:nvPr/>
        </p:nvPicPr>
        <p:blipFill>
          <a:blip r:embed="rId1"/>
          <a:srcRect l="-429" r="-429" t="0" b="0"/>
          <a:stretch/>
        </p:blipFill>
        <p:spPr>
          <a:xfrm>
            <a:off x="1047902" y="571500"/>
            <a:ext cx="609905" cy="2834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191695" y="3829507"/>
            <a:ext cx="5333695" cy="1904695"/>
          </a:xfrm>
          <a:prstGeom prst="rect">
            <a:avLst/>
          </a:prstGeom>
          <a:solidFill>
            <a:srgbClr val="252D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47902" y="8858707"/>
            <a:ext cx="16192195" cy="857707"/>
          </a:xfrm>
          <a:prstGeom prst="rect">
            <a:avLst/>
          </a:prstGeom>
          <a:solidFill>
            <a:srgbClr val="252D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bcfe32c248e08a1e7415447bd574b0c9.png">    </p:cNvPr>
          <p:cNvPicPr>
            <a:picLocks noChangeAspect="1"/>
          </p:cNvPicPr>
          <p:nvPr/>
        </p:nvPicPr>
        <p:blipFill>
          <a:blip r:embed="rId2"/>
          <a:srcRect l="0" r="0" t="-403" b="-403"/>
          <a:stretch/>
        </p:blipFill>
        <p:spPr>
          <a:xfrm>
            <a:off x="12191695" y="3333902"/>
            <a:ext cx="5333695" cy="19202"/>
          </a:xfrm>
          <a:prstGeom prst="rect">
            <a:avLst/>
          </a:prstGeom>
        </p:spPr>
      </p:pic>
      <p:pic>
        <p:nvPicPr>
          <p:cNvPr id="6" name="Image 2" descr="gen-dedup-d70296056b4b961ddfc11a176d34bbc6.png">    </p:cNvPr>
          <p:cNvPicPr>
            <a:picLocks noChangeAspect="1"/>
          </p:cNvPicPr>
          <p:nvPr/>
        </p:nvPicPr>
        <p:blipFill>
          <a:blip r:embed="rId3"/>
          <a:srcRect l="0" r="0" t="-403" b="-403"/>
          <a:stretch/>
        </p:blipFill>
        <p:spPr>
          <a:xfrm>
            <a:off x="12191695" y="3829507"/>
            <a:ext cx="5333695" cy="19202"/>
          </a:xfrm>
          <a:prstGeom prst="rect">
            <a:avLst/>
          </a:prstGeom>
        </p:spPr>
      </p:pic>
      <p:pic>
        <p:nvPicPr>
          <p:cNvPr id="7" name="Image 3" descr="gen-dedup-e2c11258bd4de1754373982a2d36e6c4.png">    </p:cNvPr>
          <p:cNvPicPr>
            <a:picLocks noChangeAspect="1"/>
          </p:cNvPicPr>
          <p:nvPr/>
        </p:nvPicPr>
        <p:blipFill>
          <a:blip r:embed="rId4"/>
          <a:srcRect l="-2089" r="-2089" t="0" b="0"/>
          <a:stretch/>
        </p:blipFill>
        <p:spPr>
          <a:xfrm>
            <a:off x="12430354" y="4924044"/>
            <a:ext cx="4858207" cy="9144"/>
          </a:xfrm>
          <a:prstGeom prst="rect">
            <a:avLst/>
          </a:prstGeom>
        </p:spPr>
      </p:pic>
      <p:pic>
        <p:nvPicPr>
          <p:cNvPr id="8" name="Image 4" descr="gen-dedup-fa3fee11e0528993cb8170369e9b0ce9.png">    </p:cNvPr>
          <p:cNvPicPr>
            <a:picLocks noChangeAspect="1"/>
          </p:cNvPicPr>
          <p:nvPr/>
        </p:nvPicPr>
        <p:blipFill>
          <a:blip r:embed="rId5"/>
          <a:srcRect l="0" r="0" t="-430" b="-430"/>
          <a:stretch/>
        </p:blipFill>
        <p:spPr>
          <a:xfrm>
            <a:off x="1047902" y="8858707"/>
            <a:ext cx="28346" cy="857707"/>
          </a:xfrm>
          <a:prstGeom prst="rect">
            <a:avLst/>
          </a:prstGeom>
        </p:spPr>
      </p:pic>
      <p:pic>
        <p:nvPicPr>
          <p:cNvPr id="9" name="Image 5" descr="gen-dedup-f23072181813838f646cee8b0724268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1695" y="857707"/>
            <a:ext cx="5333695" cy="2476195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1047902" y="857707"/>
            <a:ext cx="8572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VLSI 2022 · 18 nm 2-METAL SELF-ALIGNED VIA</a:t>
            </a:r>
            <a:endParaRPr lang="en-US" sz="1050" dirty="0"/>
          </a:p>
        </p:txBody>
      </p:sp>
      <p:sp>
        <p:nvSpPr>
          <p:cNvPr id="11" name="Text 3"/>
          <p:cNvSpPr txBox="1"/>
          <p:nvPr/>
        </p:nvSpPr>
        <p:spPr>
          <a:xfrm>
            <a:off x="1047902" y="1123798"/>
            <a:ext cx="104781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이것이 유명한 </a:t>
            </a:r>
            <a:pPr algn="l" indent="0" marL="0">
              <a:buNone/>
            </a:pPr>
            <a:r>
              <a:rPr lang="en-US" sz="3600" b="1" i="1" dirty="0">
                <a:solidFill>
                  <a:srgbClr val="E8A4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“holy grail”</a:t>
            </a:r>
            <a:pPr algn="l" indent="0" marL="0">
              <a:buNone/>
            </a:pPr>
            <a:r>
              <a:rPr lang="en-US" sz="3600" b="1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논문입니다</a:t>
            </a:r>
            <a:endParaRPr lang="en-US" sz="3600" dirty="0"/>
          </a:p>
        </p:txBody>
      </p:sp>
      <p:sp>
        <p:nvSpPr>
          <p:cNvPr id="12" name="Text 4"/>
          <p:cNvSpPr txBox="1"/>
          <p:nvPr/>
        </p:nvSpPr>
        <p:spPr>
          <a:xfrm>
            <a:off x="1067105" y="1790395"/>
            <a:ext cx="10478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E94A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 nm 피치 2소재 완전 자기정렬 비아(Murdoch, VLSI 2022)</a:t>
            </a:r>
            <a:endParaRPr lang="en-US" sz="1500" dirty="0"/>
          </a:p>
        </p:txBody>
      </p:sp>
      <p:sp>
        <p:nvSpPr>
          <p:cNvPr id="13" name="Text 5"/>
          <p:cNvSpPr txBox="1"/>
          <p:nvPr/>
        </p:nvSpPr>
        <p:spPr>
          <a:xfrm>
            <a:off x="12191695" y="3429000"/>
            <a:ext cx="547908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 · imec — semi-damascene interconnects with FSAV at 18 nm metal pitch</a:t>
            </a:r>
            <a:endParaRPr lang="en-US" sz="975" dirty="0"/>
          </a:p>
        </p:txBody>
      </p:sp>
      <p:sp>
        <p:nvSpPr>
          <p:cNvPr id="14" name="Text 6"/>
          <p:cNvSpPr txBox="1"/>
          <p:nvPr/>
        </p:nvSpPr>
        <p:spPr>
          <a:xfrm>
            <a:off x="1047902" y="2286000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E8A4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CORE METRICS · 핵심 수치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7902" y="2667305"/>
          <a:ext cx="10287000" cy="5058461"/>
        </p:xfrm>
        <a:graphic>
          <a:graphicData uri="http://schemas.openxmlformats.org/drawingml/2006/table">
            <a:tbl>
              <a:tblPr/>
              <a:tblGrid>
                <a:gridCol w="3086100"/>
                <a:gridCol w="7200900"/>
              </a:tblGrid>
              <a:tr h="4215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항목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05156" marB="105156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75" b="1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값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105156" marB="105156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D38"/>
                    </a:solidFill>
                  </a:tcPr>
                </a:tc>
              </a:tr>
              <a:tr h="4215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C8BFA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금속 피치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26 → 18 nm (2소재 실증)</a:t>
                      </a:r>
                      <a:endParaRPr lang="en-US" sz="1200" dirty="0"/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C8BFA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선폭(CD)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 nm, PVD Ru 30 nm → AR ≈ 3</a:t>
                      </a:r>
                      <a:endParaRPr lang="en-US" sz="1200" dirty="0"/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C8BFA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전도 단면적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명목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270 nm²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/ 전기적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250 nm²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/ 물리적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257 nm²</a:t>
                      </a:r>
                      <a:endParaRPr lang="en-US" sz="1200" dirty="0"/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C8BFA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EUV 비아 홀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20 nm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→ 접촉면적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8A45C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180 nm²</a:t>
                      </a:r>
                      <a:endParaRPr lang="en-US" sz="1200" dirty="0"/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C8BFA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비아 저항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40 Ω &lt; R &lt; 60 Ω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(18–26 nm 피치 전 구간)</a:t>
                      </a:r>
                      <a:endParaRPr lang="en-US" sz="1200" dirty="0"/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C8BFA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Ru 저항률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에칭 후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13–15 µΩ·cm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420 °C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열처리 후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14–15</a:t>
                      </a:r>
                      <a:endParaRPr lang="en-US" sz="1200" dirty="0"/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C8BFA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Ru가 Cu를 이기는 지점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전도 단면적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268 nm²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미만 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8A8F98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(≈ CD 12 nm 미만)</a:t>
                      </a:r>
                      <a:endParaRPr lang="en-US" sz="1200" dirty="0"/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C8BFA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정렬 허용도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의도적 오정렬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±5 nm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까지 비아 저항 유지</a:t>
                      </a:r>
                      <a:endParaRPr lang="en-US" sz="1200" dirty="0"/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C8BFA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절연파괴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&gt;9 MV/cm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@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100 °C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26 nm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피치에서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&gt;16 V</a:t>
                      </a:r>
                      <a:endParaRPr lang="en-US" sz="1200" dirty="0"/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C8BFA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EM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10 MA/cm²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300 h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저항 변화 없음</a:t>
                      </a:r>
                      <a:endParaRPr lang="en-US" sz="1200" dirty="0"/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53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C8BFA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열저장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200 °C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120 h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EDE3D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 저항·수율 손실 없음</a:t>
                      </a:r>
                      <a:endParaRPr lang="en-US" sz="1200" dirty="0"/>
                    </a:p>
                  </a:txBody>
                  <a:tcPr marL="209398" marR="209398" marT="85954" marB="85954" anchor="ctr">
                    <a:lnL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A4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7"/>
          <p:cNvSpPr txBox="1"/>
          <p:nvPr/>
        </p:nvSpPr>
        <p:spPr>
          <a:xfrm>
            <a:off x="12430354" y="3981298"/>
            <a:ext cx="4953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두 번 정렬</a:t>
            </a:r>
            <a:endParaRPr lang="en-US" sz="900" dirty="0"/>
          </a:p>
        </p:txBody>
      </p:sp>
      <p:sp>
        <p:nvSpPr>
          <p:cNvPr id="17" name="Text 8"/>
          <p:cNvSpPr txBox="1"/>
          <p:nvPr/>
        </p:nvSpPr>
        <p:spPr>
          <a:xfrm>
            <a:off x="12430354" y="4229100"/>
            <a:ext cx="4953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4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아래쪽 비아</a:t>
            </a:r>
            <a:endParaRPr lang="en-US" sz="1200" dirty="0"/>
          </a:p>
        </p:txBody>
      </p:sp>
      <p:sp>
        <p:nvSpPr>
          <p:cNvPr id="18" name="Text 9"/>
          <p:cNvSpPr txBox="1"/>
          <p:nvPr/>
        </p:nvSpPr>
        <p:spPr>
          <a:xfrm>
            <a:off x="12430354" y="4515307"/>
            <a:ext cx="495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 선 위 SiN 캐핑 안에서 고선택비 가스에칭, SiO₂ 걡필 미터치</a:t>
            </a:r>
            <a:endParaRPr lang="en-US" sz="1125" dirty="0"/>
          </a:p>
        </p:txBody>
      </p:sp>
      <p:sp>
        <p:nvSpPr>
          <p:cNvPr id="19" name="Text 10"/>
          <p:cNvSpPr txBox="1"/>
          <p:nvPr/>
        </p:nvSpPr>
        <p:spPr>
          <a:xfrm>
            <a:off x="12430354" y="5048402"/>
            <a:ext cx="4953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4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위쪽 비아</a:t>
            </a:r>
            <a:endParaRPr lang="en-US" sz="1200" dirty="0"/>
          </a:p>
        </p:txBody>
      </p:sp>
      <p:sp>
        <p:nvSpPr>
          <p:cNvPr id="20" name="Text 11"/>
          <p:cNvSpPr txBox="1"/>
          <p:nvPr/>
        </p:nvSpPr>
        <p:spPr>
          <a:xfrm>
            <a:off x="12430354" y="5333695"/>
            <a:ext cx="495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Ru 과에칭으로 상부 선 가장자리에 맞춤</a:t>
            </a:r>
            <a:endParaRPr lang="en-US" sz="1125" dirty="0"/>
          </a:p>
        </p:txBody>
      </p:sp>
      <p:sp>
        <p:nvSpPr>
          <p:cNvPr id="21" name="Text 12"/>
          <p:cNvSpPr txBox="1"/>
          <p:nvPr/>
        </p:nvSpPr>
        <p:spPr>
          <a:xfrm>
            <a:off x="1047902" y="7524598"/>
            <a:ext cx="1133490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“완전 자기정렬”은 두 번 정렬된다는 뜻입니다. 아래쪽은 Ru 선 위에 남은 SiN 캐핑 안에서 고선택비 가스에칭으로 비아를 뚫어 SiO₂ 걡필을 건드리지 않고, 위쪽은 Ru 과에칭으로 상부 선 가장자리에 맞춥니다.</a:t>
            </a:r>
            <a:endParaRPr lang="en-US" sz="1650" dirty="0"/>
          </a:p>
        </p:txBody>
      </p:sp>
      <p:sp>
        <p:nvSpPr>
          <p:cNvPr id="22" name="Text 13"/>
          <p:cNvSpPr txBox="1"/>
          <p:nvPr/>
        </p:nvSpPr>
        <p:spPr>
          <a:xfrm>
            <a:off x="1333195" y="9048902"/>
            <a:ext cx="15621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패터닝 조합은 </a:t>
            </a:r>
            <a:pPr algn="l" indent="0" marL="0">
              <a:buNone/>
            </a:pPr>
            <a:r>
              <a:rPr lang="en-US" sz="1500" dirty="0">
                <a:solidFill>
                  <a:srgbClr val="E8A4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Mx가 EUV+SADP</a:t>
            </a:r>
            <a:pPr algn="l" indent="0" marL="0">
              <a:buNone/>
            </a:pPr>
            <a:r>
              <a:rPr lang="en-US" sz="150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</a:t>
            </a:r>
            <a:pPr algn="l" indent="0" marL="0">
              <a:buNone/>
            </a:pPr>
            <a:r>
              <a:rPr lang="en-US" sz="1500" dirty="0">
                <a:solidFill>
                  <a:srgbClr val="E8A4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Mx+1과 비아가 EUV 단일 노광</a:t>
            </a:r>
            <a:pPr algn="l" indent="0" marL="0">
              <a:buNone/>
            </a:pPr>
            <a:r>
              <a:rPr lang="en-US" sz="150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입니다. 상부 금속은 정전용량 증가를 상쇄하려고 에어갭과 조합합니다.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fd335a184c37be7bf45db76728488a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ed91acbdb088efb794cd94f46d53d742.png">    </p:cNvPr>
          <p:cNvPicPr>
            <a:picLocks noChangeAspect="1"/>
          </p:cNvPicPr>
          <p:nvPr/>
        </p:nvPicPr>
        <p:blipFill>
          <a:blip r:embed="rId2"/>
          <a:srcRect l="-429" r="-429" t="0" b="0"/>
          <a:stretch/>
        </p:blipFill>
        <p:spPr>
          <a:xfrm>
            <a:off x="1047902" y="571500"/>
            <a:ext cx="609905" cy="2834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5030907" y="1447495"/>
            <a:ext cx="457200" cy="9144"/>
          </a:xfrm>
          <a:prstGeom prst="rect">
            <a:avLst/>
          </a:prstGeom>
          <a:solidFill>
            <a:srgbClr val="3A4150"/>
          </a:solidFill>
          <a:ln w="12700">
            <a:solidFill>
              <a:srgbClr val="3A4150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5478963" y="1447495"/>
            <a:ext cx="9144" cy="286207"/>
          </a:xfrm>
          <a:prstGeom prst="rect">
            <a:avLst/>
          </a:prstGeom>
          <a:solidFill>
            <a:srgbClr val="3A4150"/>
          </a:solidFill>
          <a:ln w="12700">
            <a:solidFill>
              <a:srgbClr val="3A4150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5602407" y="2171700"/>
            <a:ext cx="457200" cy="9144"/>
          </a:xfrm>
          <a:prstGeom prst="rect">
            <a:avLst/>
          </a:prstGeom>
          <a:solidFill>
            <a:srgbClr val="3A4150"/>
          </a:solidFill>
          <a:ln w="12700">
            <a:solidFill>
              <a:srgbClr val="3A4150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6050463" y="2171700"/>
            <a:ext cx="9144" cy="286207"/>
          </a:xfrm>
          <a:prstGeom prst="rect">
            <a:avLst/>
          </a:prstGeom>
          <a:solidFill>
            <a:srgbClr val="3A4150"/>
          </a:solidFill>
          <a:ln w="12700">
            <a:solidFill>
              <a:srgbClr val="3A4150">
                <a:alpha val="0"/>
              </a:srgbClr>
            </a:solidFill>
            <a:prstDash val="solid"/>
          </a:ln>
        </p:spPr>
      </p:sp>
      <p:pic>
        <p:nvPicPr>
          <p:cNvPr id="8" name="Image 2" descr="gen-dedup-428db9f5777fc561cc08cce213ecaa76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047902" y="2857500"/>
            <a:ext cx="16192195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047902" y="3095244"/>
            <a:ext cx="7429500" cy="743407"/>
          </a:xfrm>
          <a:prstGeom prst="rect">
            <a:avLst/>
          </a:prstGeom>
          <a:solidFill>
            <a:srgbClr val="252D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047902" y="3952951"/>
            <a:ext cx="7429500" cy="743407"/>
          </a:xfrm>
          <a:prstGeom prst="rect">
            <a:avLst/>
          </a:prstGeom>
          <a:solidFill>
            <a:srgbClr val="252D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047902" y="4809744"/>
            <a:ext cx="7429500" cy="743407"/>
          </a:xfrm>
          <a:prstGeom prst="rect">
            <a:avLst/>
          </a:prstGeom>
          <a:solidFill>
            <a:srgbClr val="252D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047902" y="5667451"/>
            <a:ext cx="7429500" cy="743407"/>
          </a:xfrm>
          <a:prstGeom prst="rect">
            <a:avLst/>
          </a:prstGeom>
          <a:solidFill>
            <a:srgbClr val="252D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3" descr="gen-dedup-428db9f5777fc561cc08cce213ecaa76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047902" y="6667805"/>
            <a:ext cx="16192195" cy="91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047902" y="9477756"/>
            <a:ext cx="10858500" cy="714146"/>
          </a:xfrm>
          <a:prstGeom prst="rect">
            <a:avLst/>
          </a:prstGeom>
          <a:noFill/>
          <a:ln w="12700">
            <a:solidFill>
              <a:srgbClr val="D77256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3811098" y="1333195"/>
            <a:ext cx="514807" cy="514807"/>
          </a:xfrm>
          <a:prstGeom prst="ellipse">
            <a:avLst/>
          </a:prstGeom>
          <a:noFill/>
          <a:ln w="12700">
            <a:solidFill>
              <a:srgbClr val="3A4150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15583205" y="1333195"/>
            <a:ext cx="514807" cy="514807"/>
          </a:xfrm>
          <a:prstGeom prst="ellipse">
            <a:avLst/>
          </a:prstGeom>
          <a:solidFill>
            <a:srgbClr val="252D38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14382598" y="2048256"/>
            <a:ext cx="514807" cy="514807"/>
          </a:xfrm>
          <a:prstGeom prst="ellipse">
            <a:avLst/>
          </a:prstGeom>
          <a:noFill/>
          <a:ln w="12700">
            <a:solidFill>
              <a:srgbClr val="3A415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6135502" y="2048256"/>
            <a:ext cx="724205" cy="514807"/>
          </a:xfrm>
          <a:prstGeom prst="roundRect">
            <a:avLst>
              <a:gd name="adj" fmla="val 49911"/>
            </a:avLst>
          </a:prstGeom>
          <a:solidFill>
            <a:srgbClr val="D772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4" descr="gen-dedup-1ed008faf0de6cd08467980c1d6756fe.png">    </p:cNvPr>
          <p:cNvPicPr>
            <a:picLocks noChangeAspect="1"/>
          </p:cNvPicPr>
          <p:nvPr/>
        </p:nvPicPr>
        <p:blipFill>
          <a:blip r:embed="rId5"/>
          <a:srcRect l="0" r="0" t="-436" b="-436"/>
          <a:stretch/>
        </p:blipFill>
        <p:spPr>
          <a:xfrm>
            <a:off x="1047902" y="3095244"/>
            <a:ext cx="28346" cy="743407"/>
          </a:xfrm>
          <a:prstGeom prst="rect">
            <a:avLst/>
          </a:prstGeom>
        </p:spPr>
      </p:pic>
      <p:pic>
        <p:nvPicPr>
          <p:cNvPr id="20" name="Image 5" descr="gen-dedup-09a8cfde34a7a1a42611225468ae959f.png">    </p:cNvPr>
          <p:cNvPicPr>
            <a:picLocks noChangeAspect="1"/>
          </p:cNvPicPr>
          <p:nvPr/>
        </p:nvPicPr>
        <p:blipFill>
          <a:blip r:embed="rId6"/>
          <a:srcRect l="0" r="0" t="-436" b="-436"/>
          <a:stretch/>
        </p:blipFill>
        <p:spPr>
          <a:xfrm>
            <a:off x="1047902" y="3952951"/>
            <a:ext cx="28346" cy="743407"/>
          </a:xfrm>
          <a:prstGeom prst="rect">
            <a:avLst/>
          </a:prstGeom>
        </p:spPr>
      </p:pic>
      <p:pic>
        <p:nvPicPr>
          <p:cNvPr id="21" name="Image 6" descr="gen-dedup-ae4d7d7e4a4425f2507fa78f5a6c4b9f.png">    </p:cNvPr>
          <p:cNvPicPr>
            <a:picLocks noChangeAspect="1"/>
          </p:cNvPicPr>
          <p:nvPr/>
        </p:nvPicPr>
        <p:blipFill>
          <a:blip r:embed="rId7"/>
          <a:srcRect l="0" r="0" t="-436" b="-436"/>
          <a:stretch/>
        </p:blipFill>
        <p:spPr>
          <a:xfrm>
            <a:off x="1047902" y="4809744"/>
            <a:ext cx="28346" cy="743407"/>
          </a:xfrm>
          <a:prstGeom prst="rect">
            <a:avLst/>
          </a:prstGeom>
        </p:spPr>
      </p:pic>
      <p:pic>
        <p:nvPicPr>
          <p:cNvPr id="22" name="Image 7" descr="gen-dedup-1ed008faf0de6cd08467980c1d6756fe.png">    </p:cNvPr>
          <p:cNvPicPr>
            <a:picLocks noChangeAspect="1"/>
          </p:cNvPicPr>
          <p:nvPr/>
        </p:nvPicPr>
        <p:blipFill>
          <a:blip r:embed="rId8"/>
          <a:srcRect l="0" r="0" t="-436" b="-436"/>
          <a:stretch/>
        </p:blipFill>
        <p:spPr>
          <a:xfrm>
            <a:off x="1047902" y="5667451"/>
            <a:ext cx="28346" cy="743407"/>
          </a:xfrm>
          <a:prstGeom prst="rect">
            <a:avLst/>
          </a:prstGeom>
        </p:spPr>
      </p:pic>
      <p:pic>
        <p:nvPicPr>
          <p:cNvPr id="23" name="Image 8" descr="gen-dedup-b998e4991ae340f111f07d469cf4d9f7.png">    </p:cNvPr>
          <p:cNvPicPr>
            <a:picLocks noChangeAspect="1"/>
          </p:cNvPicPr>
          <p:nvPr/>
        </p:nvPicPr>
        <p:blipFill>
          <a:blip r:embed="rId9"/>
          <a:srcRect l="-404" r="-404" t="0" b="0"/>
          <a:stretch/>
        </p:blipFill>
        <p:spPr>
          <a:xfrm>
            <a:off x="1047902" y="9477756"/>
            <a:ext cx="10858500" cy="28346"/>
          </a:xfrm>
          <a:prstGeom prst="rect">
            <a:avLst/>
          </a:prstGeom>
        </p:spPr>
      </p:pic>
      <p:pic>
        <p:nvPicPr>
          <p:cNvPr id="24" name="Image 9" descr="gen-dedup-51a916631155339f3a1cccb299a58b7c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44500" y="3095244"/>
            <a:ext cx="4095598" cy="2704795"/>
          </a:xfrm>
          <a:prstGeom prst="rect">
            <a:avLst/>
          </a:prstGeom>
        </p:spPr>
      </p:pic>
      <p:pic>
        <p:nvPicPr>
          <p:cNvPr id="25" name="Image 10" descr="gen-dedup-fd52761b20bb8b3ac595ba20473f54b3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1695" y="6858000"/>
            <a:ext cx="2667305" cy="1904695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1047902" y="857707"/>
            <a:ext cx="8572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SUPER VIA · METROLOGY · RELIABILITY</a:t>
            </a:r>
            <a:endParaRPr lang="en-US" sz="1050" dirty="0"/>
          </a:p>
        </p:txBody>
      </p:sp>
      <p:sp>
        <p:nvSpPr>
          <p:cNvPr id="27" name="Text 14"/>
          <p:cNvSpPr txBox="1"/>
          <p:nvPr/>
        </p:nvSpPr>
        <p:spPr>
          <a:xfrm>
            <a:off x="1047902" y="1123798"/>
            <a:ext cx="12795199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3단 고종횡비 슈퍼비아</a:t>
            </a:r>
            <a:pPr algn="l" indent="0" marL="0">
              <a:buNone/>
            </a:pPr>
            <a:r>
              <a:rPr lang="en-US" sz="2250" b="1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(Montero Alvarez, IITC 2022)</a:t>
            </a:r>
            <a:endParaRPr lang="en-US" sz="3450" dirty="0"/>
          </a:p>
        </p:txBody>
      </p:sp>
      <p:sp>
        <p:nvSpPr>
          <p:cNvPr id="28" name="Text 15"/>
          <p:cNvSpPr txBox="1"/>
          <p:nvPr/>
        </p:nvSpPr>
        <p:spPr>
          <a:xfrm>
            <a:off x="1067105" y="1790395"/>
            <a:ext cx="10478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8BF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M1에서 M4로 두 레벨을 건너뛰는 단일 비아입니다.</a:t>
            </a:r>
            <a:endParaRPr lang="en-US" sz="1500" dirty="0"/>
          </a:p>
        </p:txBody>
      </p:sp>
      <p:sp>
        <p:nvSpPr>
          <p:cNvPr id="29" name="Text 16"/>
          <p:cNvSpPr txBox="1"/>
          <p:nvPr/>
        </p:nvSpPr>
        <p:spPr>
          <a:xfrm>
            <a:off x="13811098" y="857707"/>
            <a:ext cx="3620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78" kern="0" dirty="0">
                <a:solidFill>
                  <a:srgbClr val="E8A4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PROCESS FLOW · A → D</a:t>
            </a:r>
            <a:endParaRPr lang="en-US" sz="975" dirty="0"/>
          </a:p>
        </p:txBody>
      </p:sp>
      <p:sp>
        <p:nvSpPr>
          <p:cNvPr id="30" name="Text 17"/>
          <p:cNvSpPr txBox="1"/>
          <p:nvPr/>
        </p:nvSpPr>
        <p:spPr>
          <a:xfrm>
            <a:off x="13811098" y="1333195"/>
            <a:ext cx="5148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94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500" dirty="0"/>
          </a:p>
        </p:txBody>
      </p:sp>
      <p:sp>
        <p:nvSpPr>
          <p:cNvPr id="31" name="Text 18"/>
          <p:cNvSpPr txBox="1"/>
          <p:nvPr/>
        </p:nvSpPr>
        <p:spPr>
          <a:xfrm>
            <a:off x="15583205" y="1333195"/>
            <a:ext cx="5148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1500" dirty="0"/>
          </a:p>
        </p:txBody>
      </p:sp>
      <p:sp>
        <p:nvSpPr>
          <p:cNvPr id="32" name="Text 19"/>
          <p:cNvSpPr txBox="1"/>
          <p:nvPr/>
        </p:nvSpPr>
        <p:spPr>
          <a:xfrm>
            <a:off x="14382598" y="2048256"/>
            <a:ext cx="5148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1500" dirty="0"/>
          </a:p>
        </p:txBody>
      </p:sp>
      <p:sp>
        <p:nvSpPr>
          <p:cNvPr id="33" name="Text 20"/>
          <p:cNvSpPr txBox="1"/>
          <p:nvPr/>
        </p:nvSpPr>
        <p:spPr>
          <a:xfrm>
            <a:off x="16135502" y="2048256"/>
            <a:ext cx="7242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</a:t>
            </a:r>
            <a:endParaRPr lang="en-US" sz="1500" dirty="0"/>
          </a:p>
        </p:txBody>
      </p:sp>
      <p:sp>
        <p:nvSpPr>
          <p:cNvPr id="34" name="Text 21"/>
          <p:cNvSpPr txBox="1"/>
          <p:nvPr/>
        </p:nvSpPr>
        <p:spPr>
          <a:xfrm>
            <a:off x="1333195" y="3247949"/>
            <a:ext cx="7049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종횡비 </a:t>
            </a:r>
            <a:pPr algn="l" indent="0" marL="0">
              <a:buNone/>
            </a:pPr>
            <a:r>
              <a:rPr lang="en-US" sz="1350" dirty="0">
                <a:solidFill>
                  <a:srgbClr val="E8A4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7.7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높이 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118.5 nm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하단 CD 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15.5 nm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상단 CD 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22.7 nm</a:t>
            </a:r>
            <a:endParaRPr lang="en-US" sz="1350" dirty="0"/>
          </a:p>
        </p:txBody>
      </p:sp>
      <p:sp>
        <p:nvSpPr>
          <p:cNvPr id="35" name="Text 22"/>
          <p:cNvSpPr txBox="1"/>
          <p:nvPr/>
        </p:nvSpPr>
        <p:spPr>
          <a:xfrm>
            <a:off x="1333195" y="4105656"/>
            <a:ext cx="7049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접착층 </a:t>
            </a:r>
            <a:pPr algn="l" indent="0" marL="0">
              <a:buNone/>
            </a:pPr>
            <a:r>
              <a:rPr lang="en-US" sz="1350" dirty="0">
                <a:solidFill>
                  <a:srgbClr val="E8A4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 nm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ALD TiO</a:t>
            </a:r>
            <a:pPr algn="l" indent="0" marL="0">
              <a:buNone/>
            </a:pPr>
            <a:r>
              <a:rPr lang="en-US" sz="84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x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충진 CVD Ru 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 nm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M1 피치 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36 nm</a:t>
            </a:r>
            <a:endParaRPr lang="en-US" sz="1350" dirty="0"/>
          </a:p>
        </p:txBody>
      </p:sp>
      <p:sp>
        <p:nvSpPr>
          <p:cNvPr id="36" name="Text 23"/>
          <p:cNvSpPr txBox="1"/>
          <p:nvPr/>
        </p:nvSpPr>
        <p:spPr>
          <a:xfrm>
            <a:off x="1333195" y="4962449"/>
            <a:ext cx="7049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Kelvin 저항 중간값 </a:t>
            </a:r>
            <a:pPr algn="l" indent="0" marL="0">
              <a:buNone/>
            </a:pPr>
            <a:r>
              <a:rPr lang="en-US" sz="1350" dirty="0">
                <a:solidFill>
                  <a:srgbClr val="D7725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58 Ω</a:t>
            </a:r>
            <a:pPr algn="l" indent="0" marL="0">
              <a:buNone/>
            </a:pPr>
            <a:r>
              <a:rPr lang="en-US" sz="135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—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2단 적층 비아 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66.3 Ω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대비 </a:t>
            </a:r>
            <a:pPr algn="l" indent="0" marL="0">
              <a:buNone/>
            </a:pPr>
            <a:r>
              <a:rPr lang="en-US" sz="1350" dirty="0">
                <a:solidFill>
                  <a:srgbClr val="E8A4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13%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낮음</a:t>
            </a:r>
            <a:endParaRPr lang="en-US" sz="1350" dirty="0"/>
          </a:p>
        </p:txBody>
      </p:sp>
      <p:sp>
        <p:nvSpPr>
          <p:cNvPr id="37" name="Text 24"/>
          <p:cNvSpPr txBox="1"/>
          <p:nvPr/>
        </p:nvSpPr>
        <p:spPr>
          <a:xfrm>
            <a:off x="1333195" y="5820156"/>
            <a:ext cx="7049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전기적 수율 </a:t>
            </a:r>
            <a:pPr algn="l" indent="0" marL="0">
              <a:buNone/>
            </a:pPr>
            <a:r>
              <a:rPr lang="en-US" sz="1350" dirty="0">
                <a:solidFill>
                  <a:srgbClr val="E8A4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&gt;95%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−50°C ↔ +125°C 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1000사이클 500시간</a:t>
            </a:r>
            <a:pPr algn="l" indent="0" marL="0"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후 저항 거의 불변</a:t>
            </a:r>
            <a:endParaRPr lang="en-US" sz="1350" dirty="0"/>
          </a:p>
        </p:txBody>
      </p:sp>
      <p:sp>
        <p:nvSpPr>
          <p:cNvPr id="38" name="Text 25"/>
          <p:cNvSpPr txBox="1"/>
          <p:nvPr/>
        </p:nvSpPr>
        <p:spPr>
          <a:xfrm>
            <a:off x="8667598" y="3095244"/>
            <a:ext cx="409651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공정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A→D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로 가면서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E8A4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TiN 하드마스크 침식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과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E8A4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언더캣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을 줄인 과정이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6E94A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HAADF-STEM 단면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과 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6E94A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top-down CD-SEM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으로 나란히 비교됩니다</a:t>
            </a:r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(Fig. 3, 8패널).</a:t>
            </a:r>
            <a:endParaRPr lang="en-US" sz="1275" dirty="0"/>
          </a:p>
        </p:txBody>
      </p:sp>
      <p:sp>
        <p:nvSpPr>
          <p:cNvPr id="39" name="Text 26"/>
          <p:cNvSpPr txBox="1"/>
          <p:nvPr/>
        </p:nvSpPr>
        <p:spPr>
          <a:xfrm>
            <a:off x="13144500" y="5838444"/>
            <a:ext cx="421538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 · ScienceDirect — high aspect ratio Cu interconnect</a:t>
            </a:r>
            <a:endParaRPr lang="en-US" sz="975" dirty="0"/>
          </a:p>
        </p:txBody>
      </p:sp>
      <p:sp>
        <p:nvSpPr>
          <p:cNvPr id="40" name="Text 27"/>
          <p:cNvSpPr txBox="1"/>
          <p:nvPr/>
        </p:nvSpPr>
        <p:spPr>
          <a:xfrm>
            <a:off x="1047902" y="6858000"/>
            <a:ext cx="10858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8A4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계측: 14 nm 하프피치를 광학으로 잃지 않고 잡기</a:t>
            </a:r>
            <a:pPr algn="l" indent="0" marL="0">
              <a:buNone/>
            </a:pPr>
            <a:r>
              <a:rPr lang="en-US" sz="1350" b="1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(Das, SPIE 2021)</a:t>
            </a:r>
            <a:endParaRPr lang="en-US" sz="1950" dirty="0"/>
          </a:p>
        </p:txBody>
      </p:sp>
      <p:sp>
        <p:nvSpPr>
          <p:cNvPr id="41" name="Text 28"/>
          <p:cNvSpPr txBox="1"/>
          <p:nvPr/>
        </p:nvSpPr>
        <p:spPr>
          <a:xfrm>
            <a:off x="1047902" y="7334402"/>
            <a:ext cx="10858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P28·P30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피치, 산화막 도랑 깊이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 nm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TiN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배리어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 nm + Ru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충진 구조에서,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µm × 30 µm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나 되는 산란계 광점보다 훨씬 작은 타겟을 머신러닝으로 풀어냈습니다.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A4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LER 예측 R² = 0.85 / RMSE 0.03 nm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메앤더 저항 예측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A45C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R² &gt; 0.93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.</a:t>
            </a:r>
            <a:endParaRPr lang="en-US" sz="1350" dirty="0"/>
          </a:p>
        </p:txBody>
      </p:sp>
      <p:sp>
        <p:nvSpPr>
          <p:cNvPr id="42" name="Text 29"/>
          <p:cNvSpPr txBox="1"/>
          <p:nvPr/>
        </p:nvSpPr>
        <p:spPr>
          <a:xfrm>
            <a:off x="12191695" y="8801100"/>
            <a:ext cx="293248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출처 · ScienceDirect — nanoimprint air-gap</a:t>
            </a:r>
            <a:endParaRPr lang="en-US" sz="900" dirty="0"/>
          </a:p>
        </p:txBody>
      </p:sp>
      <p:sp>
        <p:nvSpPr>
          <p:cNvPr id="43" name="Text 30"/>
          <p:cNvSpPr txBox="1"/>
          <p:nvPr/>
        </p:nvSpPr>
        <p:spPr>
          <a:xfrm>
            <a:off x="1047902" y="8191195"/>
            <a:ext cx="1085850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실측 LER은 초점 범위 전체에서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1.6–2.0 nm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였고, tip-to-tip은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 nm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섬 사이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22–26 nm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였습니다. 참고로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6E94A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iN5세대 계측 기준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은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 피치 32 nm / M1 42 nm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에서 금속 T2T CD 균일도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8A4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&lt;1 nm 3σ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금속 팁 위치 EPE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 nm 3σ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였습니다. 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D7725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 nm 피치로 내려오면 이 예산이 그대로 남을 수 없다는 게 SALELE 가상공정 연구의 출발점</a:t>
            </a:r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DE3D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입니다.</a:t>
            </a:r>
            <a:endParaRPr lang="en-US" sz="1350" dirty="0"/>
          </a:p>
        </p:txBody>
      </p:sp>
      <p:sp>
        <p:nvSpPr>
          <p:cNvPr id="44" name="Text 31"/>
          <p:cNvSpPr txBox="1"/>
          <p:nvPr/>
        </p:nvSpPr>
        <p:spPr>
          <a:xfrm>
            <a:off x="1333195" y="9620402"/>
            <a:ext cx="10287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8A8F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RELIABILITY · 차기</a:t>
            </a:r>
            <a:endParaRPr lang="en-US" sz="825" dirty="0"/>
          </a:p>
        </p:txBody>
      </p:sp>
      <p:sp>
        <p:nvSpPr>
          <p:cNvPr id="45" name="Text 32"/>
          <p:cNvSpPr txBox="1"/>
          <p:nvPr/>
        </p:nvSpPr>
        <p:spPr>
          <a:xfrm>
            <a:off x="1333195" y="9829800"/>
            <a:ext cx="10287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D7725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신뢰성: 단일 배선으로 잠금하던 기준이 무너지는 중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2026-10-03T16:48:47Z</dcterms:created>
  <dcterms:modified xsi:type="dcterms:W3CDTF">2026-10-03T16:48:47Z</dcterms:modified>
</cp:coreProperties>
</file>