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종합" id="{99816f0c-452f-3345-1820-e958c5e68871}">
          <p14:sldIdLst>
            <p14:sldId id="256"/>
            <p14:sldId id="257"/>
          </p14:sldIdLst>
        </p14:section>
        <p14:section name="복구·차세대" id="{a4168b69-975a-60b8-982d-36c46061ff9a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TTF</c:v>
                </c:pt>
              </c:strCache>
            </c:strRef>
          </c:tx>
          <c:spPr>
            <a:solidFill>
              <a:srgbClr val="1A1A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1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온전 구조</c:v>
                  </c:pt>
                  <c:pt idx="1">
                    <c:v>유전막 손상</c:v>
                  </c:pt>
                  <c:pt idx="2">
                    <c:v>HMDS 처리 후 (설명용)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· 세 불량의 공통 분모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TDDB를 깎는 세 경로 · 하드마스크·챔퍼·복구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cu_rdl_fi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2720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34095" y="40462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배선 FIB 단면 (AS-FABRICATED) — DISHING/형상 참고, CC BY MICROMACHINES 2026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하드마스크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친수성 경로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865376"/>
            <a:ext cx="226557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손상 Low-k의 Si-OH 경로로 Cu⁺ 드리프트 가속 → TTF 수십 배 단축. 누설은 트랩 → SILC → 파괴 패턴.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51378" y="1280160"/>
            <a:ext cx="0" cy="4892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79978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챔퍼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3179978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배리어 단절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179978" y="1865376"/>
            <a:ext cx="226557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Zero Step Coverage 모서리로 Cu 침투, 전기장 하 Cu⁺ 산화·드리프트 (E / E² 모델). 수분과 반응해 트랩 포화 → 관통 단락.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74157" y="1280160"/>
            <a:ext cx="0" cy="4892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02757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HMDS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902757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복구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902757" y="1865376"/>
            <a:ext cx="226557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Si-OH → 트리메틸실릴기 치환, 기공 밀봉 → TTF 수 배 연장. 침투 깊이 한계.</a:t>
            </a:r>
            <a:endParaRPr lang="en-US" sz="1000" dirty="0"/>
          </a:p>
        </p:txBody>
      </p:sp>
      <p:sp>
        <p:nvSpPr>
          <p:cNvPr id="1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· TTF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TTF 상대값 · 손상 구조와 복구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1206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손상 3 = '수십 배 단축', HMDS 후 15 = '수 배 연장' 서술 기반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280160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하드마스크 결과 정리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91056"/>
          <a:ext cx="5790895" cy="914400"/>
        </p:xfrm>
        <a:graphic>
          <a:graphicData uri="http://schemas.openxmlformats.org/drawingml/2006/table">
            <a:tbl>
              <a:tblPr/>
              <a:tblGrid>
                <a:gridCol w="1589227"/>
                <a:gridCol w="3406140"/>
                <a:gridCol w="79461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TDDB · 대응 기술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대응 기술과 한계 (표 3 발췌)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711135" cy="914400"/>
        </p:xfrm>
        <a:graphic>
          <a:graphicData uri="http://schemas.openxmlformats.org/drawingml/2006/table">
            <a:tbl>
              <a:tblPr/>
              <a:tblGrid>
                <a:gridCol w="1284732"/>
                <a:gridCol w="2313432"/>
                <a:gridCol w="2313432"/>
                <a:gridCol w="179953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 기술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주요 개선 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효과 (EM / TDDB)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적용상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HMDS 실릴화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Si-OH → 소수성 트리메틸기 치환, 기공 밀봉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누설 감소, TDDB TTF 대폭 증가, 접촉각 80°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침투 깊이 한계 → 벌크 복구 불완전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ALD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 → Ru 대체, Cu 체적 극대화, Seedless 도금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저항 급감, 오버행/Pinch-off 방지 → Void 억제, EM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Ru–Cu 계면 스캐터링 저항 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cu_graphene_t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16496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34095" y="2975541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CU/그래핀/SIO₂ 계면 TEM — 2D 배리어 참고, CC BY MATERIALS 2020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423597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HMDS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771069"/>
            <a:ext cx="5455768" cy="1578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친수성 Si-OH → 소수성 트리메틸실릴 그룹으로 치환, 기공 밀봉(Sealing).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FTIR: 3350 cm⁻¹ Si-OH 피크 소멸. 수분 접촉각 80–88° 이상 회복.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278728" y="3423597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Ru 라이너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3771069"/>
            <a:ext cx="5455768" cy="1578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ALD Ru/Co 라이너 1–2 nm: 젖음성·연속성 유지, Ru는 시드 없이 직접 ECP 가능.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챔퍼 무너짐 부근 오버행·핀치오프 확률 획기적 감소.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mono">
  <a:themeElements>
    <a:clrScheme name="Turquoise DS mono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1A1A2E"/>
      </a:accent1>
      <a:accent2>
        <a:srgbClr val="6B7280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mono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ULK TDDB Three Paths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