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평가 설계" id="{8b7a4815-3340-5d40-cee7-885a9c5b5945}">
          <p14:sldIdLst>
            <p14:sldId id="256"/>
          </p14:sldIdLst>
        </p14:section>
        <p14:section name="금속화" id="{17f861a4-e34e-67ec-75fb-0f0f71b2bc67}">
          <p14:sldIdLst>
            <p14:sldId id="257"/>
            <p14:sldId id="258"/>
          </p14:sldIdLst>
        </p14:section>
        <p14:section name="패터닝" id="{f7f0bcb8-9ccb-26b2-25bd-1573dae5822d}">
          <p14:sldIdLst>
            <p14:sldId id="259"/>
            <p14:sldId id="260"/>
            <p14:sldId id="261"/>
            <p14:sldId id="262"/>
          </p14:sldIdLst>
        </p14:section>
        <p14:section name="출처" id="{f946975c-d8fc-139b-cd5a-ef2dd8a39c8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µΩ·cm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CuAl₂ 28nm</c:v>
                  </c:pt>
                  <c:pt idx="1">
                    <c:v>Al₂Cu ~30nm</c:v>
                  </c:pt>
                  <c:pt idx="2">
                    <c:v>NiAl epi 7.7nm</c:v>
                  </c:pt>
                  <c:pt idx="3">
                    <c:v>Al₃Sc 24nm</c:v>
                  </c:pt>
                  <c:pt idx="4">
                    <c:v>NiAl PVD 56nm</c:v>
                  </c:pt>
                  <c:pt idx="5">
                    <c:v>Ru 18MP</c:v>
                  </c:pt>
                  <c:pt idx="6">
                    <c:v>NiAl 420°C 22nm</c:v>
                  </c:pt>
                  <c:pt idx="7">
                    <c:v>Cu₂Mg 5nm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</c:v>
                </c:pt>
                <c:pt idx="1">
                  <c:v>9.9</c:v>
                </c:pt>
                <c:pt idx="2">
                  <c:v>11.5</c:v>
                </c:pt>
                <c:pt idx="3">
                  <c:v>12.6</c:v>
                </c:pt>
                <c:pt idx="4">
                  <c:v>13.9</c:v>
                </c:pt>
                <c:pt idx="5">
                  <c:v>14</c:v>
                </c:pt>
                <c:pt idx="6">
                  <c:v>18</c:v>
                </c:pt>
                <c:pt idx="7">
                  <c:v>25.5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SPLIT MATRIX · 금속화 + 패터닝 · 5 SPLITS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금속화·패터닝 split 조건 매트릭스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금속화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패터닝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207008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2070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신뢰성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207008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20700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열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12070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PASS 목표 충족 · 조건부 보조 조건 전제 · FAIL 채택 불가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391095" cy="914400"/>
        </p:xfrm>
        <a:graphic>
          <a:graphicData uri="http://schemas.openxmlformats.org/drawingml/2006/table">
            <a:tbl>
              <a:tblPr/>
              <a:tblGrid>
                <a:gridCol w="697687"/>
                <a:gridCol w="1301191"/>
                <a:gridCol w="2788920"/>
                <a:gridCol w="1766621"/>
                <a:gridCol w="8366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Split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조건 수준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핵심 평가 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SP-01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배선 금속 종류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NiAl · CuAl₂ · Al₂Cu · Al₃Sc · Cu₂Mg vs Ru/Mo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박막 저항률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 열처리 온도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as-etched / 420 °C / 325·420·650 °C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선저항, 단면, 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SP-03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 종횡비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 3 vs AR 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26 / 22 / 18 / 16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비아저항, 수율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구조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적층 vs 슈퍼비아 AR 7.7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Kelvin R, 수율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168335" y="1207008"/>
            <a:ext cx="3566160" cy="1682496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16" name="Image 0" descr="/tmp/claude-0/-home-claude/e70767da-955c-5cc3-beb4-741bbeefa4c6/scratchpad/img/mp16_wi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59775" y="1298448"/>
            <a:ext cx="3383280" cy="11887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278063" y="254203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PITCH RU · STEM · © IMEC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8168335" y="3163824"/>
            <a:ext cx="3566160" cy="296265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351215" y="339242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20편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8351215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imec BEOL 논문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10042855" y="339242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A8D8"/>
                </a:solidFill>
              </a:rPr>
              <a:t>3종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10042855" y="38679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300 mm 실증 금속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351215" y="4398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18 nm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8351215" y="4873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기준 피치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10042855" y="43982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8E72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Text 22"/>
          <p:cNvSpPr txBox="1"/>
          <p:nvPr/>
        </p:nvSpPr>
        <p:spPr>
          <a:xfrm>
            <a:off x="10042855" y="48737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split 수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SP-01 · 금속화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SP-01 금속 후보 박막 저항률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76656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543800" y="1280160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Ru를 넘는 후보는 CuAl₂·Al₂Cu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1664208"/>
            <a:ext cx="4190695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CuAl₂ 28 nm 막 9.5 µΩ·cm은 벌크 6.5 µΩ·cm에 접근 — 10 nm 이상 두께에서 Ru를, 조사 전 두께 범위에서 Mo를 이김.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NiAl은 에피 기판 또는 600 °C PDA가 전제. Cu₂Mg는 5 nm에서 Ru 대비 열위.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300 mm 웨이퍼 실증은 Ru, Mo, Al계 금속간화합물뿐 — MAX 상은 계산 단계.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5120640"/>
            <a:ext cx="4190695" cy="1005840"/>
          </a:xfrm>
          <a:prstGeom prst="roundRect">
            <a:avLst>
              <a:gd name="adj" fmla="val 14545"/>
            </a:avLst>
          </a:prstGeom>
          <a:solidFill>
            <a:srgbClr val="E6FBFF"/>
          </a:solidFill>
          <a:ln w="12700">
            <a:solidFill>
              <a:srgbClr val="E6FB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521208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CuAl₂·Al₂Cu PASS, NiAl·Al₃Sc 조건부, Cu₂Mg FAIL.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SP-02 · 금속화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SP-02 Ru 열처리 — 선저항 −10% vs 원통화·단락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962656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mp16_post_et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374904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9534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NM PITCH RU · POST-ETCH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4389120"/>
            <a:ext cx="3931920" cy="1737360"/>
          </a:xfrm>
          <a:prstGeom prst="roundRect">
            <a:avLst>
              <a:gd name="adj" fmla="val 8421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244D"/>
                </a:solidFill>
              </a:rPr>
              <a:t>메커니즘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8006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입계 모서리에서 시작, Ru(0002) 면 원자가 측벽 Ru(1-100)·Ru(11-20) 면으로 이동·적층.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420 °C 벌크 D = 1.83×10⁻⁴³ m²/s인데도 특정 원자 배열이 확산을 크게 올림.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80160"/>
          <a:ext cx="7025335" cy="914400"/>
        </p:xfrm>
        <a:graphic>
          <a:graphicData uri="http://schemas.openxmlformats.org/drawingml/2006/table">
            <a:tbl>
              <a:tblPr/>
              <a:tblGrid>
                <a:gridCol w="2432304"/>
                <a:gridCol w="811073"/>
                <a:gridCol w="1351483"/>
                <a:gridCol w="1531620"/>
                <a:gridCol w="90068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선저항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단면 형상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as-etched, 18–22 nm 피치 (300 mm)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사각, 수직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420 °C 열처리, 18–22 nm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−10%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원통형 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웨이퍼 전역 다중 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325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경미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420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진행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650 °C, 최대 5 h (명목 10 nm 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원통화 심화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709160" y="4078224"/>
            <a:ext cx="7025335" cy="2048256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892040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−10%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선저항 (420 °C)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111898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A8D8"/>
                </a:solidFill>
              </a:rPr>
              <a:t>다중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7111898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웨이퍼 전역 단락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9331757" y="4306824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&lt;325 °C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9331757" y="4782312"/>
            <a:ext cx="2128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허용 공정 창 (잠정)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5266944"/>
            <a:ext cx="66595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저항 이득 10%는 단락과 교환 불가 → 후속 열 공정은 as-etched 유지 또는 저온 한정. FSAV 모듈 열저장 200 °C·120 h는 무손실.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SP-03 · 패터닝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SP-03 AR 3 vs AR 6 — 선저항 −40%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2779776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6" name="Image 0" descr="/tmp/claude-0/-home-claude/e70767da-955c-5cc3-beb4-741bbeefa4c6/scratchpad/img/ar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318608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7124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3 · 18 NM PITCH · © IMEC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501488" cy="2779776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pic>
        <p:nvPicPr>
          <p:cNvPr id="9" name="Image 1" descr="/tmp/claude-0/-home-claude/e70767da-955c-5cc3-beb4-741bbeefa4c6/scratchpad/img/ar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4448" y="1371600"/>
            <a:ext cx="5318608" cy="22860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42736" y="3712464"/>
            <a:ext cx="528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 6 · 18 NM PITCH · © IMEC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7295" cy="914400"/>
        </p:xfrm>
        <a:graphic>
          <a:graphicData uri="http://schemas.openxmlformats.org/drawingml/2006/table">
            <a:tbl>
              <a:tblPr/>
              <a:tblGrid>
                <a:gridCol w="2863901"/>
                <a:gridCol w="2684678"/>
                <a:gridCol w="4117543"/>
                <a:gridCol w="161117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AR 3 (1세대)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AR 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선저항 (동일 면적)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약 −40%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서브트랙티브 Ru 에칭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고도화 Ru 에칭, CMP 제약 없음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측벽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거의 수직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수직 유지, AR 확장 가능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정전용량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증가 → 에어갭 결합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SP-04 · 패터닝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SP-04 금속 피치 — FSAV 모듈 피치별 판정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26 nm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45104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27984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22 nm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27984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37712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65728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15888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18 nm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15888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5616" y="1943100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3632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20911" y="1280160"/>
            <a:ext cx="2613584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03791" y="1389888"/>
            <a:ext cx="2247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16 nm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03791" y="1847088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6E6"/>
          </a:solidFill>
          <a:ln w="12700">
            <a:solidFill>
              <a:srgbClr val="FFF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3519" y="1943100"/>
            <a:ext cx="82296" cy="82296"/>
          </a:xfrm>
          <a:prstGeom prst="ellipse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41535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36B00"/>
                </a:solidFill>
              </a:rPr>
              <a:t>조건부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7223760" cy="914400"/>
        </p:xfrm>
        <a:graphic>
          <a:graphicData uri="http://schemas.openxmlformats.org/drawingml/2006/table">
            <a:tbl>
              <a:tblPr/>
              <a:tblGrid>
                <a:gridCol w="2079346"/>
                <a:gridCol w="4158691"/>
                <a:gridCol w="98480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측정값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EUV 비아 홀 → 접촉면적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최소 20 nm → 180 nm² (9 nm 선 위 자기축소)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비아 저항 (18–26 nm 피치)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40 Ω &lt; R &lt; 60 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정렬 허용도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의도적 오정렬 ±5 nm까지 비아저항 유지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절연파괴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&gt;9 MV/cm @100 °C · &gt;16 V @26 nm 피치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10 MA/cm², 300 h 저항 변화 없음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열저장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200 °C, 120 h 저항·수율 손실 없음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8001000" y="2834640"/>
            <a:ext cx="373349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2022년 18 nm 피치 실증 이후 2025 IITC에서 16 nm 피치 Ru 선 — 기록적 저저항.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16 nm은 저항 목표 충족률 40%로 수율 과제가 남음 → 조건부.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20 nm 비아 홀이 9 nm 선에 내려앉으며 스스로 180 nm²로 줄어드는 것이 핵심.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SP-05 · 패터닝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SP-05 2단 적층 비아 vs 3단 슈퍼비아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4475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기준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2단 적층 비아 (M1→V1→M2→V2→M3→V3→M4)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6B7280"/>
                </a:solidFill>
              </a:rPr>
              <a:t>66.3 Ω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78608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Kelvin 저항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48840"/>
            <a:ext cx="321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레벨마다 비아·금속 패터닝 반복 → 정렬 오차 누적.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중간 금속층 면적 점유.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B5563"/>
                </a:solidFill>
              </a:rPr>
              <a:t>저항은 적층 비아 수에 비례해 증가.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96412"/>
            <a:ext cx="82296" cy="82296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참조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33008" y="1280160"/>
            <a:ext cx="5501488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B8A9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5888" y="144475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5888" y="1444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제안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1737360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3단 슈퍼비아 (M1→M4 직결, 단일 비아)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58 Ω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415888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Kelvin 저항 중간값 (−13%)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127797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&gt;95%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127797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전기적 수율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839706" y="210312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00B8A9"/>
                </a:solidFill>
              </a:rPr>
              <a:t>1000 cyc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839706" y="2578608"/>
            <a:ext cx="16204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−50↔+125 °C, 500 h 저항 불변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15888" y="3200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FAF1"/>
          </a:solidFill>
          <a:ln w="12700">
            <a:solidFill>
              <a:srgbClr val="EDFA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5616" y="3296412"/>
            <a:ext cx="82296" cy="82296"/>
          </a:xfrm>
          <a:prstGeom prst="ellipse">
            <a:avLst/>
          </a:prstGeom>
          <a:solidFill>
            <a:srgbClr val="4ECB71"/>
          </a:solidFill>
          <a:ln w="12700">
            <a:solidFill>
              <a:srgbClr val="4ECB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53632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B7C"/>
                </a:solidFill>
              </a:rPr>
              <a:t>PASS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467448" y="315468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AR 7.7 · 높이 118.5 nm · 하단 CD 15.5 / 상단 CD 22.7 nm · 접착층 0.3 nm ALD TiOₓ · 충진 CVD Ru 70 nm · M1 피치 36 nm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7253935" cy="914400"/>
        </p:xfrm>
        <a:graphic>
          <a:graphicData uri="http://schemas.openxmlformats.org/drawingml/2006/table">
            <a:tbl>
              <a:tblPr/>
              <a:tblGrid>
                <a:gridCol w="1813255"/>
                <a:gridCol w="1813255"/>
                <a:gridCol w="1133856"/>
                <a:gridCol w="1359713"/>
                <a:gridCol w="11338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에칭 공정 split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TiN 하드마스크 침식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언더컷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측벽 각도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A (챔버 A)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있음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완만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B (챔버 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D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수직 근접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985455" y="3931920"/>
            <a:ext cx="3749040" cy="219456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168335" y="40233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 포인트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168335" y="43891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A→D 개선은 HAADF-STEM 단면과 top-down CD-SEM 8패널(Fig. 3)로 병렬 비교 — 정량값은 원문 참조.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B5563"/>
                </a:solidFill>
              </a:rPr>
              <a:t>ABF-STEM(Fig. 4): AR 7.7 비아 내부 Ru 충진 품질과 M1 착지면 확인.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집적 흐름 · SEMI-DAMASCENE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semi-damascene 4단계 흐름과 split 변수 매핑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Ru 증착 (PVD 30 nm)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8347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9495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783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783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97783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Ru 직접 에칭 (EUV+SADP)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123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3271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1559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559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31559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유전체 갭필 / 에어갭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58985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70465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53345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3345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653345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비아 에칭 (SiN 캐핑 내 자기정렬)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96740" y="1737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08220" y="1280160"/>
            <a:ext cx="1926275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991100" y="1463040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91100" y="14630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9991100" y="1783080"/>
            <a:ext cx="15605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비아 충진 + 상부 선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6949440" cy="914400"/>
        </p:xfrm>
        <a:graphic>
          <a:graphicData uri="http://schemas.openxmlformats.org/drawingml/2006/table">
            <a:tbl>
              <a:tblPr/>
              <a:tblGrid>
                <a:gridCol w="2316175"/>
                <a:gridCol w="2702966"/>
                <a:gridCol w="193029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split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관련 split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 증착·열처리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열처리 온도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 에칭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 3 / 6, 피치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SP-03, 04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갭필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SiO₂ / 에어갭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SP-08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FSAV / 슈퍼비아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SP-04, 05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726680" y="3017520"/>
            <a:ext cx="4007815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909560" y="3154680"/>
            <a:ext cx="3642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다마신 대비 달라지는 점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909560" y="3566160"/>
            <a:ext cx="36420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배리어 없음 → 금속 선택 자유도 (SP-01).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제약 없음 → AR 확장 (SP-03).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에어갭은 정전용량 상쇄, 자기발열 +30% (SP-08).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미세구조 영상 인덱스 · 금속화·패터닝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원문 figure 인덱스 — 금속화·패터닝 관련 TEM/STEM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438705"/>
                <a:gridCol w="1218895"/>
                <a:gridCol w="2133295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원문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Figure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촬영법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보여주는 것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17(b)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Mo–Ru 하이브리드 배선 단면 (330 °C·5 MA/cm² 600 h 무고장 구조)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18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Ru 배선 EM 보이드 — (a) 입계, (b) 유전체 계면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JAP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1(a)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Intel 4의 16층 배선 스택 전체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Soulié JVST B 2024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 + HAADF/EDS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500 °C 열처리 CuAl₂ 막의 대나무형 입계, 자연산화막 ~4 nm, 계면층 1–2 nm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X-TEM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18 nm 피치 Ru 선 위 자기정렬 비아 — 선 방향·직교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TEM + EDS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18MP 선 사이 누설 경로 없음을 원소분포로 증명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Murdoch VLSI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7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9 nm 선 단독 및 2소재 집적 후 Mx 단면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HAADF-STEM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챔버 A vs B 에칭 — 언더컷 소거, 측벽 각도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3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HAADF-STEM + CD-SEM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8패널: 공정 A–D 하드마스크 침식 / top-down 잔류물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Montero Alvarez IITC 2022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Fig. 4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ABF-STEM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AR 7.7 슈퍼비아 Ru 충진과 M1 착지면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금속화·패터닝 통합 split 리뷰</dc:title>
  <dc:subject>PptxGenJS Presentation</dc:subject>
  <dc:creator>공정 AI팀</dc:creator>
  <cp:lastModifiedBy>공정 AI팀</cp:lastModifiedBy>
  <cp:revision>1</cp:revision>
  <dcterms:created xsi:type="dcterms:W3CDTF">2026-10-03T16:10:14Z</dcterms:created>
  <dcterms:modified xsi:type="dcterms:W3CDTF">2026-10-03T16:10:14Z</dcterms:modified>
</cp:coreProperties>
</file>