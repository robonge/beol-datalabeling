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4.png"/><Relationship Id="rId8" Type="http://schemas.openxmlformats.org/officeDocument/2006/relationships/image" Target="../media/image-2-4.png"/><Relationship Id="rId9" Type="http://schemas.openxmlformats.org/officeDocument/2006/relationships/image" Target="../media/image-2-4.png"/><Relationship Id="rId10" Type="http://schemas.openxmlformats.org/officeDocument/2006/relationships/image" Target="../media/image-2-4.png"/><Relationship Id="rId11" Type="http://schemas.openxmlformats.org/officeDocument/2006/relationships/image" Target="../media/image-2-4.png"/><Relationship Id="rId12" Type="http://schemas.openxmlformats.org/officeDocument/2006/relationships/image" Target="../media/image-2-4.png"/><Relationship Id="rId13" Type="http://schemas.openxmlformats.org/officeDocument/2006/relationships/image" Target="../media/image-2-4.png"/><Relationship Id="rId14" Type="http://schemas.openxmlformats.org/officeDocument/2006/relationships/image" Target="../media/image-2-4.png"/><Relationship Id="rId15" Type="http://schemas.openxmlformats.org/officeDocument/2006/relationships/image" Target="../media/image-2-4.png"/><Relationship Id="rId16" Type="http://schemas.openxmlformats.org/officeDocument/2006/relationships/image" Target="../media/image-2-2.png"/><Relationship Id="rId17" Type="http://schemas.openxmlformats.org/officeDocument/2006/relationships/image" Target="../media/image-2-17.jpe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9f314d8a7480d85b52f70b945148268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1143000" y="761695"/>
            <a:ext cx="761695" cy="19202"/>
          </a:xfrm>
          <a:prstGeom prst="rect">
            <a:avLst/>
          </a:prstGeom>
        </p:spPr>
      </p:pic>
      <p:pic>
        <p:nvPicPr>
          <p:cNvPr id="3" name="Image 1" descr="gen-dedup-2e843d464eac0a01441b1a32401cdd14.png">    </p:cNvPr>
          <p:cNvPicPr>
            <a:picLocks noChangeAspect="1"/>
          </p:cNvPicPr>
          <p:nvPr/>
        </p:nvPicPr>
        <p:blipFill>
          <a:blip r:embed="rId2"/>
          <a:srcRect l="-2089" r="-2089" t="0" b="0"/>
          <a:stretch/>
        </p:blipFill>
        <p:spPr>
          <a:xfrm>
            <a:off x="1181405" y="4572000"/>
            <a:ext cx="4953305" cy="9144"/>
          </a:xfrm>
          <a:prstGeom prst="rect">
            <a:avLst/>
          </a:prstGeom>
        </p:spPr>
      </p:pic>
      <p:pic>
        <p:nvPicPr>
          <p:cNvPr id="4" name="Image 2" descr="gen-dedup-0d40bb5fd7e32e286b86b545abc7fb14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143000" y="7696505"/>
            <a:ext cx="1143000" cy="192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143000" y="8096098"/>
            <a:ext cx="171907" cy="171907"/>
          </a:xfrm>
          <a:prstGeom prst="rect">
            <a:avLst/>
          </a:prstGeom>
          <a:solidFill>
            <a:srgbClr val="7A2E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143000" y="8762695"/>
            <a:ext cx="171907" cy="171907"/>
          </a:xfrm>
          <a:prstGeom prst="rect">
            <a:avLst/>
          </a:prstGeom>
          <a:solidFill>
            <a:srgbClr val="2F4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953305" y="8096098"/>
            <a:ext cx="171907" cy="171907"/>
          </a:xfrm>
          <a:prstGeom prst="rect">
            <a:avLst/>
          </a:prstGeom>
          <a:solidFill>
            <a:srgbClr val="5B6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953305" y="8762695"/>
            <a:ext cx="171907" cy="171907"/>
          </a:xfrm>
          <a:prstGeom prst="rect">
            <a:avLst/>
          </a:prstGeom>
          <a:solidFill>
            <a:srgbClr val="B047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096805" y="1524305"/>
            <a:ext cx="7239305" cy="5905195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 descr="gen-dedup-9e1d2944d96cf78afc1f24c1a088a15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805" y="1524305"/>
            <a:ext cx="7239305" cy="5905195"/>
          </a:xfrm>
          <a:prstGeom prst="rect">
            <a:avLst/>
          </a:prstGeom>
        </p:spPr>
      </p:pic>
      <p:pic>
        <p:nvPicPr>
          <p:cNvPr id="11" name="Image 4" descr="gen-dedup-a2d8141a6f7f92ed2954af1daf57b36d.png">    </p:cNvPr>
          <p:cNvPicPr>
            <a:picLocks noChangeAspect="1"/>
          </p:cNvPicPr>
          <p:nvPr/>
        </p:nvPicPr>
        <p:blipFill>
          <a:blip r:embed="rId5"/>
          <a:srcRect l="0" r="0" t="-398" b="-398"/>
          <a:stretch/>
        </p:blipFill>
        <p:spPr>
          <a:xfrm>
            <a:off x="10096805" y="1524305"/>
            <a:ext cx="7239305" cy="192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96805" y="7638898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spc="42" kern="0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nature.com — copper damascene cross-section.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952805"/>
            <a:ext cx="6477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93" kern="0" dirty="0">
                <a:solidFill>
                  <a:srgbClr val="6E5F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3, 2026 · @Eric Lee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2095805"/>
            <a:ext cx="8572500" cy="1162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600" b="1" spc="-240" kern="0" dirty="0">
                <a:solidFill>
                  <a:srgbClr val="16151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imec BEOL</a:t>
            </a:r>
            <a:endParaRPr lang="en-US" sz="9600" dirty="0"/>
          </a:p>
        </p:txBody>
      </p:sp>
      <p:sp>
        <p:nvSpPr>
          <p:cNvPr id="15" name="Text 8"/>
          <p:cNvSpPr txBox="1"/>
          <p:nvPr/>
        </p:nvSpPr>
        <p:spPr>
          <a:xfrm>
            <a:off x="1181405" y="3429000"/>
            <a:ext cx="85725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54" kern="0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논문 20편 심층 리뷰</a:t>
            </a:r>
            <a:endParaRPr lang="en-US" sz="5400" dirty="0"/>
          </a:p>
        </p:txBody>
      </p:sp>
      <p:sp>
        <p:nvSpPr>
          <p:cNvPr id="16" name="Text 9"/>
          <p:cNvSpPr txBox="1"/>
          <p:nvPr/>
        </p:nvSpPr>
        <p:spPr>
          <a:xfrm>
            <a:off x="1181405" y="4895698"/>
            <a:ext cx="78108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2C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Institutional Repository에서 BEOL 관련 논문 20편을 골라, 금속화·패터닝·신뢰성·열 네 축으로 읽은 기록입니다.</a:t>
            </a:r>
            <a:endParaRPr lang="en-US" sz="1650" dirty="0"/>
          </a:p>
        </p:txBody>
      </p:sp>
      <p:sp>
        <p:nvSpPr>
          <p:cNvPr id="17" name="Text 10"/>
          <p:cNvSpPr txBox="1"/>
          <p:nvPr/>
        </p:nvSpPr>
        <p:spPr>
          <a:xfrm>
            <a:off x="1181405" y="6191402"/>
            <a:ext cx="7429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수치와 그래프는 원문에서 뽑아 재작도했고, 오픈액세스(CC-BY) 논문을 우선 선정했습니다.</a:t>
            </a:r>
            <a:endParaRPr lang="en-US" sz="1575" dirty="0"/>
          </a:p>
        </p:txBody>
      </p:sp>
      <p:sp>
        <p:nvSpPr>
          <p:cNvPr id="18" name="Text 11"/>
          <p:cNvSpPr txBox="1"/>
          <p:nvPr/>
        </p:nvSpPr>
        <p:spPr>
          <a:xfrm>
            <a:off x="1466698" y="8001000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금속화</a:t>
            </a:r>
            <a:endParaRPr lang="en-US" sz="2700" dirty="0"/>
          </a:p>
        </p:txBody>
      </p:sp>
      <p:sp>
        <p:nvSpPr>
          <p:cNvPr id="19" name="Text 12"/>
          <p:cNvSpPr txBox="1"/>
          <p:nvPr/>
        </p:nvSpPr>
        <p:spPr>
          <a:xfrm>
            <a:off x="1466698" y="8667598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패터닝</a:t>
            </a:r>
            <a:endParaRPr lang="en-US" sz="2700" dirty="0"/>
          </a:p>
        </p:txBody>
      </p:sp>
      <p:sp>
        <p:nvSpPr>
          <p:cNvPr id="20" name="Text 13"/>
          <p:cNvSpPr txBox="1"/>
          <p:nvPr/>
        </p:nvSpPr>
        <p:spPr>
          <a:xfrm>
            <a:off x="5277002" y="8001000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신뢰성</a:t>
            </a:r>
            <a:endParaRPr lang="en-US" sz="2700" dirty="0"/>
          </a:p>
        </p:txBody>
      </p:sp>
      <p:sp>
        <p:nvSpPr>
          <p:cNvPr id="21" name="Text 14"/>
          <p:cNvSpPr txBox="1"/>
          <p:nvPr/>
        </p:nvSpPr>
        <p:spPr>
          <a:xfrm>
            <a:off x="5277002" y="8667598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열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aed474e2f532804af0bd1dc6554031c.png">    </p:cNvPr>
          <p:cNvPicPr>
            <a:picLocks noChangeAspect="1"/>
          </p:cNvPicPr>
          <p:nvPr/>
        </p:nvPicPr>
        <p:blipFill>
          <a:blip r:embed="rId1"/>
          <a:srcRect l="-402" r="-402" t="0" b="0"/>
          <a:stretch/>
        </p:blipFill>
        <p:spPr>
          <a:xfrm>
            <a:off x="1143000" y="761695"/>
            <a:ext cx="19202" cy="87626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763195" y="2971800"/>
            <a:ext cx="4572000" cy="6286500"/>
          </a:xfrm>
          <a:prstGeom prst="rect">
            <a:avLst/>
          </a:prstGeom>
          <a:solidFill>
            <a:srgbClr val="E2D9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279a574ee18da1327c33b7e37b3f51e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2743200"/>
            <a:ext cx="10858500" cy="9144"/>
          </a:xfrm>
          <a:prstGeom prst="rect">
            <a:avLst/>
          </a:prstGeom>
        </p:spPr>
      </p:pic>
      <p:pic>
        <p:nvPicPr>
          <p:cNvPr id="5" name="Image 2" descr="gen-dedup-cb54ee65c7f515bd48865a2f948e2ae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524305" y="3143707"/>
            <a:ext cx="10858500" cy="9144"/>
          </a:xfrm>
          <a:prstGeom prst="rect">
            <a:avLst/>
          </a:prstGeom>
        </p:spPr>
      </p:pic>
      <p:pic>
        <p:nvPicPr>
          <p:cNvPr id="6" name="Image 3" descr="gen-dedup-0d2c8f3a59023cb2305e868b746cdbc5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524305" y="3619195"/>
            <a:ext cx="10858500" cy="9144"/>
          </a:xfrm>
          <a:prstGeom prst="rect">
            <a:avLst/>
          </a:prstGeom>
        </p:spPr>
      </p:pic>
      <p:pic>
        <p:nvPicPr>
          <p:cNvPr id="7" name="Image 4" descr="gen-dedup-0d2c8f3a59023cb2305e868b746cdbc5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524305" y="4058107"/>
            <a:ext cx="10858500" cy="9144"/>
          </a:xfrm>
          <a:prstGeom prst="rect">
            <a:avLst/>
          </a:prstGeom>
        </p:spPr>
      </p:pic>
      <p:pic>
        <p:nvPicPr>
          <p:cNvPr id="8" name="Image 5" descr="gen-dedup-0d2c8f3a59023cb2305e868b746cdbc5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1524305" y="4496105"/>
            <a:ext cx="10858500" cy="9144"/>
          </a:xfrm>
          <a:prstGeom prst="rect">
            <a:avLst/>
          </a:prstGeom>
        </p:spPr>
      </p:pic>
      <p:pic>
        <p:nvPicPr>
          <p:cNvPr id="9" name="Image 6" descr="gen-dedup-0d2c8f3a59023cb2305e868b746cdbc5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524305" y="4934102"/>
            <a:ext cx="10858500" cy="9144"/>
          </a:xfrm>
          <a:prstGeom prst="rect">
            <a:avLst/>
          </a:prstGeom>
        </p:spPr>
      </p:pic>
      <p:pic>
        <p:nvPicPr>
          <p:cNvPr id="10" name="Image 7" descr="gen-dedup-0d2c8f3a59023cb2305e868b746cdbc5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1524305" y="5372100"/>
            <a:ext cx="10858500" cy="9144"/>
          </a:xfrm>
          <a:prstGeom prst="rect">
            <a:avLst/>
          </a:prstGeom>
        </p:spPr>
      </p:pic>
      <p:pic>
        <p:nvPicPr>
          <p:cNvPr id="11" name="Image 8" descr="gen-dedup-0d2c8f3a59023cb2305e868b746cdbc5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1524305" y="5810098"/>
            <a:ext cx="10858500" cy="9144"/>
          </a:xfrm>
          <a:prstGeom prst="rect">
            <a:avLst/>
          </a:prstGeom>
        </p:spPr>
      </p:pic>
      <p:pic>
        <p:nvPicPr>
          <p:cNvPr id="12" name="Image 9" descr="gen-dedup-0d2c8f3a59023cb2305e868b746cdbc5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1524305" y="6248095"/>
            <a:ext cx="10858500" cy="9144"/>
          </a:xfrm>
          <a:prstGeom prst="rect">
            <a:avLst/>
          </a:prstGeom>
        </p:spPr>
      </p:pic>
      <p:pic>
        <p:nvPicPr>
          <p:cNvPr id="13" name="Image 10" descr="gen-dedup-0d2c8f3a59023cb2305e868b746cdbc5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1524305" y="6687007"/>
            <a:ext cx="10858500" cy="9144"/>
          </a:xfrm>
          <a:prstGeom prst="rect">
            <a:avLst/>
          </a:prstGeom>
        </p:spPr>
      </p:pic>
      <p:pic>
        <p:nvPicPr>
          <p:cNvPr id="14" name="Image 11" descr="gen-dedup-0d2c8f3a59023cb2305e868b746cdbc5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1524305" y="7125005"/>
            <a:ext cx="10858500" cy="9144"/>
          </a:xfrm>
          <a:prstGeom prst="rect">
            <a:avLst/>
          </a:prstGeom>
        </p:spPr>
      </p:pic>
      <p:pic>
        <p:nvPicPr>
          <p:cNvPr id="15" name="Image 12" descr="gen-dedup-0d2c8f3a59023cb2305e868b746cdbc5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1524305" y="7563002"/>
            <a:ext cx="10858500" cy="9144"/>
          </a:xfrm>
          <a:prstGeom prst="rect">
            <a:avLst/>
          </a:prstGeom>
        </p:spPr>
      </p:pic>
      <p:pic>
        <p:nvPicPr>
          <p:cNvPr id="16" name="Image 13" descr="gen-dedup-0d2c8f3a59023cb2305e868b746cdbc5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1524305" y="8001000"/>
            <a:ext cx="10858500" cy="9144"/>
          </a:xfrm>
          <a:prstGeom prst="rect">
            <a:avLst/>
          </a:prstGeom>
        </p:spPr>
      </p:pic>
      <p:pic>
        <p:nvPicPr>
          <p:cNvPr id="17" name="Image 14" descr="gen-dedup-0d2c8f3a59023cb2305e868b746cdbc5.png">    </p:cNvPr>
          <p:cNvPicPr>
            <a:picLocks noChangeAspect="1"/>
          </p:cNvPicPr>
          <p:nvPr/>
        </p:nvPicPr>
        <p:blipFill>
          <a:blip r:embed="rId15"/>
          <a:srcRect l="-2083" r="-2083" t="0" b="0"/>
          <a:stretch/>
        </p:blipFill>
        <p:spPr>
          <a:xfrm>
            <a:off x="1524305" y="8438998"/>
            <a:ext cx="10858500" cy="9144"/>
          </a:xfrm>
          <a:prstGeom prst="rect">
            <a:avLst/>
          </a:prstGeom>
        </p:spPr>
      </p:pic>
      <p:pic>
        <p:nvPicPr>
          <p:cNvPr id="18" name="Image 15" descr="gen-dedup-279a574ee18da1327c33b7e37b3f51e7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1524305" y="8953805"/>
            <a:ext cx="10858500" cy="9144"/>
          </a:xfrm>
          <a:prstGeom prst="rect">
            <a:avLst/>
          </a:prstGeom>
        </p:spPr>
      </p:pic>
      <p:sp>
        <p:nvSpPr>
          <p:cNvPr id="19" name="Shape 1"/>
          <p:cNvSpPr/>
          <p:nvPr/>
        </p:nvSpPr>
        <p:spPr>
          <a:xfrm>
            <a:off x="12954305" y="3124505"/>
            <a:ext cx="4190695" cy="57150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6" descr="gen-dedup-e4a25830befacd67e39ac52ee69e7788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954305" y="3124505"/>
            <a:ext cx="4190695" cy="5715000"/>
          </a:xfrm>
          <a:prstGeom prst="rect">
            <a:avLst/>
          </a:prstGeom>
        </p:spPr>
      </p:pic>
      <p:pic>
        <p:nvPicPr>
          <p:cNvPr id="21" name="Image 17" descr="gen-dedup-91b0009cf25789dcca5fcc19c739b4a8.png">    </p:cNvPr>
          <p:cNvPicPr>
            <a:picLocks noChangeAspect="1"/>
          </p:cNvPicPr>
          <p:nvPr/>
        </p:nvPicPr>
        <p:blipFill>
          <a:blip r:embed="rId18"/>
          <a:srcRect l="0" r="0" t="-420" b="-420"/>
          <a:stretch/>
        </p:blipFill>
        <p:spPr>
          <a:xfrm>
            <a:off x="12954305" y="8991295"/>
            <a:ext cx="761695" cy="19202"/>
          </a:xfrm>
          <a:prstGeom prst="rect">
            <a:avLst/>
          </a:prstGeom>
        </p:spPr>
      </p:pic>
      <p:sp>
        <p:nvSpPr>
          <p:cNvPr id="22" name="Text 2"/>
          <p:cNvSpPr txBox="1"/>
          <p:nvPr/>
        </p:nvSpPr>
        <p:spPr>
          <a:xfrm>
            <a:off x="1524305" y="914400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6E5F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975" dirty="0"/>
          </a:p>
        </p:txBody>
      </p:sp>
      <p:sp>
        <p:nvSpPr>
          <p:cNvPr id="23" name="Text 3"/>
          <p:cNvSpPr txBox="1"/>
          <p:nvPr/>
        </p:nvSpPr>
        <p:spPr>
          <a:xfrm>
            <a:off x="1524305" y="1238098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전문을 읽은 것</a:t>
            </a:r>
            <a:endParaRPr lang="en-US" sz="4500" dirty="0"/>
          </a:p>
        </p:txBody>
      </p:sp>
      <p:sp>
        <p:nvSpPr>
          <p:cNvPr id="24" name="Text 4"/>
          <p:cNvSpPr txBox="1"/>
          <p:nvPr/>
        </p:nvSpPr>
        <p:spPr>
          <a:xfrm>
            <a:off x="1524305" y="2115007"/>
            <a:ext cx="11430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33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전문을 열어본 것과, 초록·메타데이터만 확인한 것을 구분했습니다.</a:t>
            </a:r>
            <a:endParaRPr lang="en-US" sz="1500" dirty="0"/>
          </a:p>
        </p:txBody>
      </p:sp>
      <p:sp>
        <p:nvSpPr>
          <p:cNvPr id="25" name="Text 5"/>
          <p:cNvSpPr txBox="1"/>
          <p:nvPr/>
        </p:nvSpPr>
        <p:spPr>
          <a:xfrm>
            <a:off x="12954305" y="9105595"/>
            <a:ext cx="437631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spc="42" kern="0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springer.com — interconnect cross-section.</a:t>
            </a:r>
            <a:endParaRPr lang="en-US" sz="1050" dirty="0"/>
          </a:p>
        </p:txBody>
      </p:sp>
      <p:sp>
        <p:nvSpPr>
          <p:cNvPr id="26" name="Text 6"/>
          <p:cNvSpPr txBox="1"/>
          <p:nvPr/>
        </p:nvSpPr>
        <p:spPr>
          <a:xfrm>
            <a:off x="1524305" y="2857500"/>
            <a:ext cx="6477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31" kern="0" dirty="0">
                <a:solidFill>
                  <a:srgbClr val="6E5F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논문</a:t>
            </a:r>
            <a:endParaRPr lang="en-US" sz="825" dirty="0"/>
          </a:p>
        </p:txBody>
      </p:sp>
      <p:sp>
        <p:nvSpPr>
          <p:cNvPr id="27" name="Text 7"/>
          <p:cNvSpPr txBox="1"/>
          <p:nvPr/>
        </p:nvSpPr>
        <p:spPr>
          <a:xfrm>
            <a:off x="8191195" y="28575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31" kern="0" dirty="0">
                <a:solidFill>
                  <a:srgbClr val="6E5F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학회 · 연도</a:t>
            </a:r>
            <a:endParaRPr lang="en-US" sz="825" dirty="0"/>
          </a:p>
        </p:txBody>
      </p:sp>
      <p:sp>
        <p:nvSpPr>
          <p:cNvPr id="28" name="Text 8"/>
          <p:cNvSpPr txBox="1"/>
          <p:nvPr/>
        </p:nvSpPr>
        <p:spPr>
          <a:xfrm>
            <a:off x="10573207" y="2857500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31" kern="0" dirty="0">
                <a:solidFill>
                  <a:srgbClr val="6E5F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공개 형태</a:t>
            </a:r>
            <a:endParaRPr lang="en-US" sz="825" dirty="0"/>
          </a:p>
        </p:txBody>
      </p:sp>
      <p:sp>
        <p:nvSpPr>
          <p:cNvPr id="29" name="Text 9"/>
          <p:cNvSpPr txBox="1"/>
          <p:nvPr/>
        </p:nvSpPr>
        <p:spPr>
          <a:xfrm>
            <a:off x="1524305" y="3276295"/>
            <a:ext cx="7163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Murdoch et al., Two Metal Level Semi-damascene Interconnects with FSAV at 18MP</a:t>
            </a:r>
            <a:endParaRPr lang="en-US" sz="1200" dirty="0"/>
          </a:p>
        </p:txBody>
      </p:sp>
      <p:sp>
        <p:nvSpPr>
          <p:cNvPr id="30" name="Text 10"/>
          <p:cNvSpPr txBox="1"/>
          <p:nvPr/>
        </p:nvSpPr>
        <p:spPr>
          <a:xfrm>
            <a:off x="8191195" y="327629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VLSI 2022</a:t>
            </a:r>
            <a:endParaRPr lang="en-US" sz="1200" dirty="0"/>
          </a:p>
        </p:txBody>
      </p:sp>
      <p:sp>
        <p:nvSpPr>
          <p:cNvPr id="31" name="Text 11"/>
          <p:cNvSpPr txBox="1"/>
          <p:nvPr/>
        </p:nvSpPr>
        <p:spPr>
          <a:xfrm>
            <a:off x="10573207" y="327629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무료</a:t>
            </a:r>
            <a:endParaRPr lang="en-US" sz="1125" dirty="0"/>
          </a:p>
        </p:txBody>
      </p:sp>
      <p:sp>
        <p:nvSpPr>
          <p:cNvPr id="32" name="Text 12"/>
          <p:cNvSpPr txBox="1"/>
          <p:nvPr/>
        </p:nvSpPr>
        <p:spPr>
          <a:xfrm>
            <a:off x="1524305" y="3715207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Montero Alvarez et al., 3-level High Aspect Ratio Supervias</a:t>
            </a:r>
            <a:endParaRPr lang="en-US" sz="1200" dirty="0"/>
          </a:p>
        </p:txBody>
      </p:sp>
      <p:sp>
        <p:nvSpPr>
          <p:cNvPr id="33" name="Text 13"/>
          <p:cNvSpPr txBox="1"/>
          <p:nvPr/>
        </p:nvSpPr>
        <p:spPr>
          <a:xfrm>
            <a:off x="8191195" y="3715207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IITC 2022</a:t>
            </a:r>
            <a:endParaRPr lang="en-US" sz="1200" dirty="0"/>
          </a:p>
        </p:txBody>
      </p:sp>
      <p:sp>
        <p:nvSpPr>
          <p:cNvPr id="34" name="Text 14"/>
          <p:cNvSpPr txBox="1"/>
          <p:nvPr/>
        </p:nvSpPr>
        <p:spPr>
          <a:xfrm>
            <a:off x="10573207" y="3715207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무료</a:t>
            </a:r>
            <a:endParaRPr lang="en-US" sz="1125" dirty="0"/>
          </a:p>
        </p:txBody>
      </p:sp>
      <p:sp>
        <p:nvSpPr>
          <p:cNvPr id="35" name="Text 15"/>
          <p:cNvSpPr txBox="1"/>
          <p:nvPr/>
        </p:nvSpPr>
        <p:spPr>
          <a:xfrm>
            <a:off x="1524305" y="4153205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Zahedmanesh, EM in Nano-Interconnects</a:t>
            </a:r>
            <a:endParaRPr lang="en-US" sz="1200" dirty="0"/>
          </a:p>
        </p:txBody>
      </p:sp>
      <p:sp>
        <p:nvSpPr>
          <p:cNvPr id="36" name="Text 16"/>
          <p:cNvSpPr txBox="1"/>
          <p:nvPr/>
        </p:nvSpPr>
        <p:spPr>
          <a:xfrm>
            <a:off x="8191195" y="4153205"/>
            <a:ext cx="265267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Micromachines 15, 956 (2024)</a:t>
            </a:r>
            <a:endParaRPr lang="en-US" sz="1200" dirty="0"/>
          </a:p>
        </p:txBody>
      </p:sp>
      <p:sp>
        <p:nvSpPr>
          <p:cNvPr id="37" name="Text 17"/>
          <p:cNvSpPr txBox="1"/>
          <p:nvPr/>
        </p:nvSpPr>
        <p:spPr>
          <a:xfrm>
            <a:off x="10573207" y="4153205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 BY</a:t>
            </a:r>
            <a:endParaRPr lang="en-US" sz="1125" dirty="0"/>
          </a:p>
        </p:txBody>
      </p:sp>
      <p:sp>
        <p:nvSpPr>
          <p:cNvPr id="38" name="Text 18"/>
          <p:cNvSpPr txBox="1"/>
          <p:nvPr/>
        </p:nvSpPr>
        <p:spPr>
          <a:xfrm>
            <a:off x="1524305" y="4591202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Giusi et al., LF Noise in BEOL MIM Capacitors</a:t>
            </a:r>
            <a:endParaRPr lang="en-US" sz="1200" dirty="0"/>
          </a:p>
        </p:txBody>
      </p:sp>
      <p:sp>
        <p:nvSpPr>
          <p:cNvPr id="39" name="Text 19"/>
          <p:cNvSpPr txBox="1"/>
          <p:nvPr/>
        </p:nvSpPr>
        <p:spPr>
          <a:xfrm>
            <a:off x="8191195" y="4591202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TED 72, 1933 (2025)</a:t>
            </a:r>
            <a:endParaRPr lang="en-US" sz="1200" dirty="0"/>
          </a:p>
        </p:txBody>
      </p:sp>
      <p:sp>
        <p:nvSpPr>
          <p:cNvPr id="40" name="Text 20"/>
          <p:cNvSpPr txBox="1"/>
          <p:nvPr/>
        </p:nvSpPr>
        <p:spPr>
          <a:xfrm>
            <a:off x="10573207" y="45912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무료</a:t>
            </a:r>
            <a:endParaRPr lang="en-US" sz="1125" dirty="0"/>
          </a:p>
        </p:txBody>
      </p:sp>
      <p:sp>
        <p:nvSpPr>
          <p:cNvPr id="41" name="Text 21"/>
          <p:cNvSpPr txBox="1"/>
          <p:nvPr/>
        </p:nvSpPr>
        <p:spPr>
          <a:xfrm>
            <a:off x="1524305" y="5029200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 et al., CNT On-Chip Interconnects</a:t>
            </a:r>
            <a:endParaRPr lang="en-US" sz="1200" dirty="0"/>
          </a:p>
        </p:txBody>
      </p:sp>
      <p:sp>
        <p:nvSpPr>
          <p:cNvPr id="42" name="Text 22"/>
          <p:cNvSpPr txBox="1"/>
          <p:nvPr/>
        </p:nvSpPr>
        <p:spPr>
          <a:xfrm>
            <a:off x="8191195" y="5029200"/>
            <a:ext cx="27203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Micromachines 13, 1148 (2022)</a:t>
            </a:r>
            <a:endParaRPr lang="en-US" sz="1200" dirty="0"/>
          </a:p>
        </p:txBody>
      </p:sp>
      <p:sp>
        <p:nvSpPr>
          <p:cNvPr id="43" name="Text 23"/>
          <p:cNvSpPr txBox="1"/>
          <p:nvPr/>
        </p:nvSpPr>
        <p:spPr>
          <a:xfrm>
            <a:off x="10573207" y="5029200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 BY</a:t>
            </a:r>
            <a:endParaRPr lang="en-US" sz="1125" dirty="0"/>
          </a:p>
        </p:txBody>
      </p:sp>
      <p:sp>
        <p:nvSpPr>
          <p:cNvPr id="44" name="Text 24"/>
          <p:cNvSpPr txBox="1"/>
          <p:nvPr/>
        </p:nvSpPr>
        <p:spPr>
          <a:xfrm>
            <a:off x="1524305" y="5467198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Pei et al., Graphene Interconnect for SRAM Caches</a:t>
            </a:r>
            <a:endParaRPr lang="en-US" sz="1200" dirty="0"/>
          </a:p>
        </p:txBody>
      </p:sp>
      <p:sp>
        <p:nvSpPr>
          <p:cNvPr id="45" name="Text 25"/>
          <p:cNvSpPr txBox="1"/>
          <p:nvPr/>
        </p:nvSpPr>
        <p:spPr>
          <a:xfrm>
            <a:off x="8191195" y="5467198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TED 70, 230 (2023)</a:t>
            </a:r>
            <a:endParaRPr lang="en-US" sz="1200" dirty="0"/>
          </a:p>
        </p:txBody>
      </p:sp>
      <p:sp>
        <p:nvSpPr>
          <p:cNvPr id="46" name="Text 26"/>
          <p:cNvSpPr txBox="1"/>
          <p:nvPr/>
        </p:nvSpPr>
        <p:spPr>
          <a:xfrm>
            <a:off x="10573207" y="5467198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NSF-PAR 무료</a:t>
            </a:r>
            <a:endParaRPr lang="en-US" sz="1125" dirty="0"/>
          </a:p>
        </p:txBody>
      </p:sp>
      <p:sp>
        <p:nvSpPr>
          <p:cNvPr id="47" name="Text 27"/>
          <p:cNvSpPr txBox="1"/>
          <p:nvPr/>
        </p:nvSpPr>
        <p:spPr>
          <a:xfrm>
            <a:off x="1524305" y="5905195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Soulié et al., Selecting alternative metals</a:t>
            </a:r>
            <a:endParaRPr lang="en-US" sz="1200" dirty="0"/>
          </a:p>
        </p:txBody>
      </p:sp>
      <p:sp>
        <p:nvSpPr>
          <p:cNvPr id="48" name="Text 28"/>
          <p:cNvSpPr txBox="1"/>
          <p:nvPr/>
        </p:nvSpPr>
        <p:spPr>
          <a:xfrm>
            <a:off x="8191195" y="5905195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Appl. Phys. 136, 171101 (2024)</a:t>
            </a:r>
            <a:endParaRPr lang="en-US" sz="1200" dirty="0"/>
          </a:p>
        </p:txBody>
      </p:sp>
      <p:sp>
        <p:nvSpPr>
          <p:cNvPr id="49" name="Text 29"/>
          <p:cNvSpPr txBox="1"/>
          <p:nvPr/>
        </p:nvSpPr>
        <p:spPr>
          <a:xfrm>
            <a:off x="10573207" y="5905195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 BY-NC</a:t>
            </a:r>
            <a:endParaRPr lang="en-US" sz="1125" dirty="0"/>
          </a:p>
        </p:txBody>
      </p:sp>
      <p:sp>
        <p:nvSpPr>
          <p:cNvPr id="50" name="Text 30"/>
          <p:cNvSpPr txBox="1"/>
          <p:nvPr/>
        </p:nvSpPr>
        <p:spPr>
          <a:xfrm>
            <a:off x="1524305" y="6344107"/>
            <a:ext cx="6477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Soulié et al., Cu</a:t>
            </a:r>
            <a:pPr algn="l" indent="0" marL="0">
              <a:buNone/>
            </a:pPr>
            <a:r>
              <a:rPr lang="en-US" sz="10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1−x</a:t>
            </a:r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</a:t>
            </a:r>
            <a:pPr algn="l" indent="0" marL="0">
              <a:buNone/>
            </a:pPr>
            <a:r>
              <a:rPr lang="en-US" sz="10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</a:t>
            </a:r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films</a:t>
            </a:r>
            <a:endParaRPr lang="en-US" sz="1200" dirty="0"/>
          </a:p>
        </p:txBody>
      </p:sp>
      <p:sp>
        <p:nvSpPr>
          <p:cNvPr id="51" name="Text 31"/>
          <p:cNvSpPr txBox="1"/>
          <p:nvPr/>
        </p:nvSpPr>
        <p:spPr>
          <a:xfrm>
            <a:off x="8191195" y="6344107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JVST B 42, 043203 (2024)</a:t>
            </a:r>
            <a:endParaRPr lang="en-US" sz="1200" dirty="0"/>
          </a:p>
        </p:txBody>
      </p:sp>
      <p:sp>
        <p:nvSpPr>
          <p:cNvPr id="52" name="Text 32"/>
          <p:cNvSpPr txBox="1"/>
          <p:nvPr/>
        </p:nvSpPr>
        <p:spPr>
          <a:xfrm>
            <a:off x="10573207" y="6344107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25" dirty="0"/>
          </a:p>
        </p:txBody>
      </p:sp>
      <p:sp>
        <p:nvSpPr>
          <p:cNvPr id="53" name="Text 33"/>
          <p:cNvSpPr txBox="1"/>
          <p:nvPr/>
        </p:nvSpPr>
        <p:spPr>
          <a:xfrm>
            <a:off x="1524305" y="6782105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Sankaran et al., MAX ceramics screening</a:t>
            </a:r>
            <a:endParaRPr lang="en-US" sz="1200" dirty="0"/>
          </a:p>
        </p:txBody>
      </p:sp>
      <p:sp>
        <p:nvSpPr>
          <p:cNvPr id="54" name="Text 34"/>
          <p:cNvSpPr txBox="1"/>
          <p:nvPr/>
        </p:nvSpPr>
        <p:spPr>
          <a:xfrm>
            <a:off x="8191195" y="6782105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Phys. Rev. Mater. 5, 056002 (2021)</a:t>
            </a:r>
            <a:endParaRPr lang="en-US" sz="1200" dirty="0"/>
          </a:p>
        </p:txBody>
      </p:sp>
      <p:sp>
        <p:nvSpPr>
          <p:cNvPr id="55" name="Text 35"/>
          <p:cNvSpPr txBox="1"/>
          <p:nvPr/>
        </p:nvSpPr>
        <p:spPr>
          <a:xfrm>
            <a:off x="10573207" y="6782105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25" dirty="0"/>
          </a:p>
        </p:txBody>
      </p:sp>
      <p:sp>
        <p:nvSpPr>
          <p:cNvPr id="56" name="Text 36"/>
          <p:cNvSpPr txBox="1"/>
          <p:nvPr/>
        </p:nvSpPr>
        <p:spPr>
          <a:xfrm>
            <a:off x="1524305" y="7220102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Moors et al., Anisotropic metal screening</a:t>
            </a:r>
            <a:endParaRPr lang="en-US" sz="1200" dirty="0"/>
          </a:p>
        </p:txBody>
      </p:sp>
      <p:sp>
        <p:nvSpPr>
          <p:cNvPr id="57" name="Text 37"/>
          <p:cNvSpPr txBox="1"/>
          <p:nvPr/>
        </p:nvSpPr>
        <p:spPr>
          <a:xfrm>
            <a:off x="8191195" y="7220102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Phys. Rev. Mater. 6, 123804 (2022)</a:t>
            </a:r>
            <a:endParaRPr lang="en-US" sz="1200" dirty="0"/>
          </a:p>
        </p:txBody>
      </p:sp>
      <p:sp>
        <p:nvSpPr>
          <p:cNvPr id="58" name="Text 38"/>
          <p:cNvSpPr txBox="1"/>
          <p:nvPr/>
        </p:nvSpPr>
        <p:spPr>
          <a:xfrm>
            <a:off x="10573207" y="72201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25" dirty="0"/>
          </a:p>
        </p:txBody>
      </p:sp>
      <p:sp>
        <p:nvSpPr>
          <p:cNvPr id="59" name="Text 39"/>
          <p:cNvSpPr txBox="1"/>
          <p:nvPr/>
        </p:nvSpPr>
        <p:spPr>
          <a:xfrm>
            <a:off x="1524305" y="7658100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 et al., Scatterometry for 14 nm HP BEOL</a:t>
            </a:r>
            <a:endParaRPr lang="en-US" sz="1200" dirty="0"/>
          </a:p>
        </p:txBody>
      </p:sp>
      <p:sp>
        <p:nvSpPr>
          <p:cNvPr id="60" name="Text 40"/>
          <p:cNvSpPr txBox="1"/>
          <p:nvPr/>
        </p:nvSpPr>
        <p:spPr>
          <a:xfrm>
            <a:off x="8191195" y="7658100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Proc. SPIE 11611 (2021)</a:t>
            </a:r>
            <a:endParaRPr lang="en-US" sz="1200" dirty="0"/>
          </a:p>
        </p:txBody>
      </p:sp>
      <p:sp>
        <p:nvSpPr>
          <p:cNvPr id="61" name="Text 41"/>
          <p:cNvSpPr txBox="1"/>
          <p:nvPr/>
        </p:nvSpPr>
        <p:spPr>
          <a:xfrm>
            <a:off x="10573207" y="7658100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리프린트</a:t>
            </a:r>
            <a:endParaRPr lang="en-US" sz="1125" dirty="0"/>
          </a:p>
        </p:txBody>
      </p:sp>
      <p:sp>
        <p:nvSpPr>
          <p:cNvPr id="62" name="Text 42"/>
          <p:cNvSpPr txBox="1"/>
          <p:nvPr/>
        </p:nvSpPr>
        <p:spPr>
          <a:xfrm>
            <a:off x="1524305" y="8096098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Chen et al., Non-uniform power in BSPDN chiplets</a:t>
            </a:r>
            <a:endParaRPr lang="en-US" sz="1200" dirty="0"/>
          </a:p>
        </p:txBody>
      </p:sp>
      <p:sp>
        <p:nvSpPr>
          <p:cNvPr id="63" name="Text 43"/>
          <p:cNvSpPr txBox="1"/>
          <p:nvPr/>
        </p:nvSpPr>
        <p:spPr>
          <a:xfrm>
            <a:off x="8191195" y="8096098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arXiv:2508.02284</a:t>
            </a:r>
            <a:endParaRPr lang="en-US" sz="1200" dirty="0"/>
          </a:p>
        </p:txBody>
      </p:sp>
      <p:sp>
        <p:nvSpPr>
          <p:cNvPr id="64" name="Text 44"/>
          <p:cNvSpPr txBox="1"/>
          <p:nvPr/>
        </p:nvSpPr>
        <p:spPr>
          <a:xfrm>
            <a:off x="10573207" y="8096098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imec, 오픈</a:t>
            </a:r>
            <a:endParaRPr lang="en-US" sz="1125" dirty="0"/>
          </a:p>
        </p:txBody>
      </p:sp>
      <p:sp>
        <p:nvSpPr>
          <p:cNvPr id="65" name="Text 45"/>
          <p:cNvSpPr txBox="1"/>
          <p:nvPr/>
        </p:nvSpPr>
        <p:spPr>
          <a:xfrm>
            <a:off x="1524305" y="8534095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151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Shen et al., BEOL thermal transport metrology</a:t>
            </a:r>
            <a:endParaRPr lang="en-US" sz="1200" dirty="0"/>
          </a:p>
        </p:txBody>
      </p:sp>
      <p:sp>
        <p:nvSpPr>
          <p:cNvPr id="66" name="Text 46"/>
          <p:cNvSpPr txBox="1"/>
          <p:nvPr/>
        </p:nvSpPr>
        <p:spPr>
          <a:xfrm>
            <a:off x="8191195" y="8534095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arXiv:2508.07740</a:t>
            </a:r>
            <a:endParaRPr lang="en-US" sz="1200" dirty="0"/>
          </a:p>
        </p:txBody>
      </p:sp>
      <p:sp>
        <p:nvSpPr>
          <p:cNvPr id="67" name="Text 47"/>
          <p:cNvSpPr txBox="1"/>
          <p:nvPr/>
        </p:nvSpPr>
        <p:spPr>
          <a:xfrm>
            <a:off x="10573207" y="853409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0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 등가 열전도도 출처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d40bb5fd7e32e286b86b545abc7fb14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914400"/>
            <a:ext cx="1143000" cy="19202"/>
          </a:xfrm>
          <a:prstGeom prst="rect">
            <a:avLst/>
          </a:prstGeom>
        </p:spPr>
      </p:pic>
      <p:pic>
        <p:nvPicPr>
          <p:cNvPr id="3" name="Image 1" descr="gen-dedup-bf38a718efa3159edf25dac615150654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9525305"/>
            <a:ext cx="571500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2476195"/>
            <a:ext cx="8572500" cy="5524805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2" descr="gen-dedup-7815797cf237d5a1a541d15bd2bcbef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76195"/>
            <a:ext cx="8572500" cy="55248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0287000" y="2476195"/>
            <a:ext cx="6858000" cy="4190695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3" descr="gen-dedup-e914aba853c34b99a96c269c3751363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476195"/>
            <a:ext cx="6858000" cy="4190695"/>
          </a:xfrm>
          <a:prstGeom prst="rect">
            <a:avLst/>
          </a:prstGeom>
        </p:spPr>
      </p:pic>
      <p:pic>
        <p:nvPicPr>
          <p:cNvPr id="8" name="Image 4" descr="gen-dedup-91b0009cf25789dcca5fcc19c739b4a8.png">    </p:cNvPr>
          <p:cNvPicPr>
            <a:picLocks noChangeAspect="1"/>
          </p:cNvPicPr>
          <p:nvPr/>
        </p:nvPicPr>
        <p:blipFill>
          <a:blip r:embed="rId5"/>
          <a:srcRect l="0" r="0" t="-420" b="-420"/>
          <a:stretch/>
        </p:blipFill>
        <p:spPr>
          <a:xfrm>
            <a:off x="1143000" y="8153705"/>
            <a:ext cx="761695" cy="19202"/>
          </a:xfrm>
          <a:prstGeom prst="rect">
            <a:avLst/>
          </a:prstGeom>
        </p:spPr>
      </p:pic>
      <p:pic>
        <p:nvPicPr>
          <p:cNvPr id="9" name="Image 5" descr="gen-dedup-18da158fe3f462acb96469c0441fbd5c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0287000" y="6819595"/>
            <a:ext cx="571500" cy="19202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143000" y="1218895"/>
            <a:ext cx="12382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3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수치와 그래프는 원문에서 뽑아 재작도했고, 오픈액세스(CC-BY) 논문을 우선 선정했습니다.</a:t>
            </a:r>
            <a:endParaRPr lang="en-US" sz="165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8268005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spc="42" kern="0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nature.com — Cu diffusion-barrier cross-section.</a:t>
            </a:r>
            <a:endParaRPr lang="en-US" sz="1050" dirty="0"/>
          </a:p>
        </p:txBody>
      </p:sp>
      <p:sp>
        <p:nvSpPr>
          <p:cNvPr id="12" name="Text 4"/>
          <p:cNvSpPr txBox="1"/>
          <p:nvPr/>
        </p:nvSpPr>
        <p:spPr>
          <a:xfrm>
            <a:off x="10287000" y="6933895"/>
            <a:ext cx="6858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spc="42" kern="0" dirty="0">
                <a:solidFill>
                  <a:srgbClr val="5C5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semanticscholar.org — Ru tracks, &lt;1000 nm².</a:t>
            </a:r>
            <a:endParaRPr lang="en-US" sz="1050" dirty="0"/>
          </a:p>
        </p:txBody>
      </p:sp>
      <p:sp>
        <p:nvSpPr>
          <p:cNvPr id="13" name="Text 5"/>
          <p:cNvSpPr txBox="1"/>
          <p:nvPr/>
        </p:nvSpPr>
        <p:spPr>
          <a:xfrm>
            <a:off x="10287000" y="7886700"/>
            <a:ext cx="6858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i="1" dirty="0">
                <a:solidFill>
                  <a:srgbClr val="1615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imec Institutional Repository에서 BEOL 관련 논문 20편을 골라, 금속화·패터닝·신뢰성·열 네 축으로 읽은 기록입니다.</a:t>
            </a:r>
            <a:endParaRPr lang="en-US" sz="165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9658807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6E5F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3, 2026 · @Eric Lee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2026-10-03T16:46:06Z</dcterms:created>
  <dcterms:modified xsi:type="dcterms:W3CDTF">2026-10-03T16:46:06Z</dcterms:modified>
</cp:coreProperties>
</file>