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F13 보고서의 평가 개요입니다. 본 lot은 internal screening용 dummy lot으로 진행되었습니다. 평가 목적은 trench etch time을 W1 nominal(25초), W2 +15%(28.75초), W3 +30%(32.5초)로 split하여 M8 metal layer에서 CD variation, wafer 내 uniformity, line resistance, via resistance, electromigration 수명 등 핵심 항목이 어떻게 반응하는지를 동시에 평가하는 것입니다. 평가 도구는 Cu damascene stack 기준이며 실제 production lot이 아니므로 절대 production reference로 활용하시면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split의 구체 design을 보여줍니다. 3 wafer 모두 동일 chamber, 동일 base recipe에서 진행되었으며 main etch step의 time만 변경되었습니다. W1은 25초 control, W2는 28.75초로 약 15% 증가, W3는 32.5초로 30% 증가입니다. step 1, step 3, step 4는 모두 동일하게 lock되었으며 OES endpoint detection도 공통 적용되었습니다. over-etch 비율은 8%로 lock되어 있고 RF power, pressure, gas flow도 모두 동일하게 유지되었습니다.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표준 6-step via-first dual damascene flow를 보여줍니다. step 1 litho, step 2 via etch, step 3 trench main etch, step 4 strip/clean, step 5 PVD barrier, step 6 Cu plating+anneal 순입니다. step 3이 본 split의 가변 step입니다. 또는 step 03 셀을 강조할 예정. 아래 표는 step 03의 parameter 비교를 보여주며 W1 25초, W2 28.75초, W3 32.5초로 진행되었음을 명시합니다.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M8 wafer의 단면 SEM 관찰 결과입니다. 대표 이미지는 published literature에서 차용한 BEOL damascene 단면을 시각 reference로 사용하였으며 본 lot 실제 사진이 아닙니다. 3 wafer 모두 동일 die 위치에서 cross-section을 진행한 SEM 관찰 결과는 다음과 같이 요약됩니다. W1 control에서는 sidewall angle 약 88.2도로 안정적, W2 약 86.4도로 미세 bow, W3 약 84.1도로 taper 감소와 corner rounding이 관찰되었습니다. dummy lot 한정이므로 production data로 인용하시면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TEM 단면 분석 결과입니다. STEM HAADF 200kV 조건에서 M8 line 및 via 영역을 관찰했습니다. Cu seam height는 W1에서 7.4nm, W2에서 8.9nm, W3에서 11.2nm로 측정되어 etch time 증가에 비례하여 seam height가 커지는 패턴이 관찰되었습니다. W3에서는 bow 시작과 void 1건이 보고되어 production 적용 시 추가 검증이 필요한 watch 항목입니다. dummy lot 결과이므로 production baseline 인용은 불가합니다.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4가지 CD 메트릭에 대한 wafer별 측정값 정리입니다. AASI trench top 24.3nm, ASEI trench mid 14.5nm, AMI trench bottom 8.4nm, ACI via bottom 10.0nm. etch time이 길어질수록 mean이 target에서 멀어지고 3 sigma와 range가 증가하는 패턴이 dummy lot에서 일관되게 관찰됩니다. W3의 3 sigma와 range가 가장 커 split 한계 가늠이 가능합니다. dummy lot 한정 결과로 production baseline 인용은 절대 불가합니다.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wafer 내 uniformity 통계 요약입니다. 25 site 측정 후 5 sigma trim을 거쳐 20 site를 사용했습니다. AASI 기준 NIU는 W1 1.84%, W2 3.42%, W3 5.78%로 etch time 30% 증가에 NIU가 약 3배 가까이 악화되었습니다. 3 sigma도 W1 0.45nm, W2 0.81nm, W3 1.34nm로 W2 대비 W3에서 가장 큰 폭의 증가가 관찰됩니다. edge-low 특성이 뚜렷해 wafer edge 영역에서 CD가 낮게 측정되는 경향이 dummy lot에서도 확인됩니다.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13-point wafer map 시각화입니다. 5x5 영역 안에서 13 die를 선정해 측정했습니다. W1 control wafer는 모든 die가 target 24.3nm 근처에 cyan 영역으로 표시되며 매우 균일한 분포를 보입니다. W2 wafer는 중앙에서는 moderate 영역으로, edge 쪽에서 far 영역으로 나타나기 시작합니다. W3 wafer는 edge-low 특성이 강하게 나타나 BR corner die에서 22.4nm까지 떨어지고 mean이 23.05로 줄어들었습니다. dummy lot 한정 결과이며 production statistics로 인용 불가합니다.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line resistance 측정 결과입니다. 24, 32, 48 nm 폭에 대해 1 mm single line 측정 결과 W1 172.8, 128.4, 88.2, W2 158.6, 119.7, 82.5, W3 149.1, 113.2, 78.6 ohm-micrometer로 모두 W1에서 W3로 갈수록 감소했습니다. 24 nm 폭에서 W1 대비 W3 약 13.7% 감소가 가장 큰 폭을 보였습니다. effective resistivity로 환산 시 W1 4.18, W2 3.96, W3 3.74 micro-ohm-cm 수준이고 bulk Cu 1.68 대비 dummy lot 보정값을 고려하면 합리적입니다. dummy lot 결과로 production의 design rule 인용은 불가합니다.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via resistance와 electromigration 결과를 한 페이지에서 정리합니다. via chain R은 V0 single 기준 W1 5.84, W2 5.62, W3 5.39 ohm-per-via로 감소했고, 1000단 chain에서도 동일 경향이 유지됩니다. EM TTF는 300도 10MA 조건에서 W1 1184, W2 1427, W3 1648 시간으로 측정되어 약 39% 향상이 가장 큰 응답이었습니다. 325도, 350도에서도 모두 동일 경향이며 activation energy는 0.91~0.94 eV 범위로 wafer 간 큰 차이가 없습니다. dummy lot 한정 결과로 production spec 인용은 불가합니다.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보고서 종합 결론입니다. 4가지 핵심 finding을 정리했습니다. 첫째, R과 EM 수명은 W1에서 W3로 갈수록 개선됩니다. 둘째, NIU는 가속도劣惡化됩니다. 셋째, TEM에서 seam/bow가 누적됩니다. 넷째, edge corner die 위험 구간이 식별됩니다. 의사결정 표에서 W1 reference, W2 consider, W3 watch로 구분했습니다. 다음 split은 W2 부근 fine-tuning, TDDB 평가 추가, edge 13pt 보강 데이터 누적을 권고합니다. 본 보고서는 dummy lot 결과이므로 production baseline 인용은 절대 불가함을 다시 한번 명시합니다.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5.png"/><Relationship Id="rId6" Type="http://schemas.openxmlformats.org/officeDocument/2006/relationships/image" Target="../media/image-6-3.png"/><Relationship Id="rId7" Type="http://schemas.openxmlformats.org/officeDocument/2006/relationships/image" Target="../media/image-6-3.png"/><Relationship Id="rId8" Type="http://schemas.openxmlformats.org/officeDocument/2006/relationships/image" Target="../media/image-6-8.png"/><Relationship Id="rId9" Type="http://schemas.openxmlformats.org/officeDocument/2006/relationships/image" Target="../media/image-6-3.png"/><Relationship Id="rId10" Type="http://schemas.openxmlformats.org/officeDocument/2006/relationships/image" Target="../media/image-6-3.png"/><Relationship Id="rId11" Type="http://schemas.openxmlformats.org/officeDocument/2006/relationships/image" Target="../media/image-6-11.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3.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8.png"/><Relationship Id="rId11" Type="http://schemas.openxmlformats.org/officeDocument/2006/relationships/image" Target="../media/image-7-11.png"/><Relationship Id="rId12" Type="http://schemas.openxmlformats.org/officeDocument/2006/relationships/image" Target="../media/image-7-8.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image" Target="../media/image-9-4.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4.png"/><Relationship Id="rId6" Type="http://schemas.openxmlformats.org/officeDocument/2006/relationships/image" Target="../media/image-10-4.png"/><Relationship Id="rId7" Type="http://schemas.openxmlformats.org/officeDocument/2006/relationships/image" Target="../media/image-10-7.png"/><Relationship Id="rId8" Type="http://schemas.openxmlformats.org/officeDocument/2006/relationships/image" Target="../media/image-10-4.png"/><Relationship Id="rId9" Type="http://schemas.openxmlformats.org/officeDocument/2006/relationships/image" Target="../media/image-10-4.png"/><Relationship Id="rId10" Type="http://schemas.openxmlformats.org/officeDocument/2006/relationships/image" Target="../media/image-10-4.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B"/>
        </a:solidFill>
      </p:bgPr>
    </p:bg>
    <p:spTree>
      <p:nvGrpSpPr>
        <p:cNvPr id="1" name=""/>
        <p:cNvGrpSpPr/>
        <p:nvPr/>
      </p:nvGrpSpPr>
      <p:grpSpPr>
        <a:xfrm>
          <a:off x="0" y="0"/>
          <a:ext cx="0" cy="0"/>
          <a:chOff x="0" y="0"/>
          <a:chExt cx="0" cy="0"/>
        </a:xfrm>
      </p:grpSpPr>
      <p:pic>
        <p:nvPicPr>
          <p:cNvPr id="3" name="Image 0" descr="gen-dedup-d72b27459e07ce905e0d7cdbf4f576b9.jp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14ae3668e00b87a32701d2d18eafd94f.png">    </p:cNvPr>
          <p:cNvPicPr>
            <a:picLocks noChangeAspect="1"/>
          </p:cNvPicPr>
          <p:nvPr/>
        </p:nvPicPr>
        <p:blipFill>
          <a:blip r:embed="rId2"/>
          <a:srcRect l="-395" r="-395" t="0" b="0"/>
          <a:stretch/>
        </p:blipFill>
        <p:spPr>
          <a:xfrm>
            <a:off x="761695" y="5810098"/>
            <a:ext cx="19202" cy="3238805"/>
          </a:xfrm>
          <a:prstGeom prst="rect">
            <a:avLst/>
          </a:prstGeom>
        </p:spPr>
      </p:pic>
      <p:sp>
        <p:nvSpPr>
          <p:cNvPr id="5" name="Shape 0"/>
          <p:cNvSpPr/>
          <p:nvPr/>
        </p:nvSpPr>
        <p:spPr>
          <a:xfrm>
            <a:off x="1238098" y="5810098"/>
            <a:ext cx="3638398" cy="1543507"/>
          </a:xfrm>
          <a:prstGeom prst="rect">
            <a:avLst/>
          </a:prstGeom>
          <a:solidFill>
            <a:srgbClr val="141A28"/>
          </a:solidFill>
          <a:ln w="12700">
            <a:solidFill>
              <a:srgbClr val="1F2A40"/>
            </a:solidFill>
            <a:prstDash val="solid"/>
          </a:ln>
        </p:spPr>
      </p:sp>
      <p:sp>
        <p:nvSpPr>
          <p:cNvPr id="6" name="Shape 1"/>
          <p:cNvSpPr/>
          <p:nvPr/>
        </p:nvSpPr>
        <p:spPr>
          <a:xfrm>
            <a:off x="5048402" y="5810098"/>
            <a:ext cx="3638398" cy="1543507"/>
          </a:xfrm>
          <a:prstGeom prst="rect">
            <a:avLst/>
          </a:prstGeom>
          <a:solidFill>
            <a:srgbClr val="141A28"/>
          </a:solidFill>
          <a:ln w="12700">
            <a:solidFill>
              <a:srgbClr val="1F2A40"/>
            </a:solidFill>
            <a:prstDash val="solid"/>
          </a:ln>
        </p:spPr>
      </p:sp>
      <p:sp>
        <p:nvSpPr>
          <p:cNvPr id="7" name="Shape 2"/>
          <p:cNvSpPr/>
          <p:nvPr/>
        </p:nvSpPr>
        <p:spPr>
          <a:xfrm>
            <a:off x="8858707" y="5810098"/>
            <a:ext cx="3638398" cy="1543507"/>
          </a:xfrm>
          <a:prstGeom prst="rect">
            <a:avLst/>
          </a:prstGeom>
          <a:solidFill>
            <a:srgbClr val="141A28"/>
          </a:solidFill>
          <a:ln w="12700">
            <a:solidFill>
              <a:srgbClr val="1F2A40"/>
            </a:solidFill>
            <a:prstDash val="solid"/>
          </a:ln>
        </p:spPr>
      </p:sp>
      <p:sp>
        <p:nvSpPr>
          <p:cNvPr id="8" name="Shape 3"/>
          <p:cNvSpPr/>
          <p:nvPr/>
        </p:nvSpPr>
        <p:spPr>
          <a:xfrm>
            <a:off x="12763195" y="5810098"/>
            <a:ext cx="3638398" cy="1543507"/>
          </a:xfrm>
          <a:prstGeom prst="rect">
            <a:avLst/>
          </a:prstGeom>
          <a:solidFill>
            <a:srgbClr val="141A28"/>
          </a:solidFill>
          <a:ln w="12700">
            <a:solidFill>
              <a:srgbClr val="1F2A40"/>
            </a:solidFill>
            <a:prstDash val="solid"/>
          </a:ln>
        </p:spPr>
      </p:sp>
      <p:sp>
        <p:nvSpPr>
          <p:cNvPr id="9" name="Shape 4"/>
          <p:cNvSpPr/>
          <p:nvPr/>
        </p:nvSpPr>
        <p:spPr>
          <a:xfrm>
            <a:off x="1238098" y="7524598"/>
            <a:ext cx="15163495" cy="1543507"/>
          </a:xfrm>
          <a:prstGeom prst="rect">
            <a:avLst/>
          </a:prstGeom>
          <a:solidFill>
            <a:srgbClr val="5EEAD4">
              <a:alpha val="6000"/>
            </a:srgbClr>
          </a:solidFill>
          <a:ln w="12700">
            <a:solidFill>
              <a:srgbClr val="5EEAD4">
                <a:alpha val="25000"/>
              </a:srgbClr>
            </a:solidFill>
            <a:prstDash val="solid"/>
          </a:ln>
        </p:spPr>
      </p:sp>
      <p:sp>
        <p:nvSpPr>
          <p:cNvPr id="10" name="Shape 5"/>
          <p:cNvSpPr/>
          <p:nvPr/>
        </p:nvSpPr>
        <p:spPr>
          <a:xfrm>
            <a:off x="0" y="9905695"/>
            <a:ext cx="18288000" cy="381305"/>
          </a:xfrm>
          <a:prstGeom prst="rect">
            <a:avLst/>
          </a:prstGeom>
          <a:solidFill>
            <a:srgbClr val="0B0F1B"/>
          </a:solidFill>
          <a:ln w="12700">
            <a:solidFill>
              <a:srgbClr val="FFFFFF">
                <a:alpha val="0"/>
              </a:srgbClr>
            </a:solidFill>
            <a:prstDash val="solid"/>
          </a:ln>
        </p:spPr>
      </p:sp>
      <p:pic>
        <p:nvPicPr>
          <p:cNvPr id="11" name="Image 2" descr="gen-dedup-fb7284239b65d37878da76aad5baf72f.png">    </p:cNvPr>
          <p:cNvPicPr>
            <a:picLocks noChangeAspect="1"/>
          </p:cNvPicPr>
          <p:nvPr/>
        </p:nvPicPr>
        <p:blipFill>
          <a:blip r:embed="rId3"/>
          <a:srcRect l="0" r="0" t="-437" b="-437"/>
          <a:stretch/>
        </p:blipFill>
        <p:spPr>
          <a:xfrm>
            <a:off x="761695" y="662026"/>
            <a:ext cx="418795" cy="19202"/>
          </a:xfrm>
          <a:prstGeom prst="rect">
            <a:avLst/>
          </a:prstGeom>
        </p:spPr>
      </p:pic>
      <p:sp>
        <p:nvSpPr>
          <p:cNvPr id="12" name="Text 6"/>
          <p:cNvSpPr txBox="1"/>
          <p:nvPr/>
        </p:nvSpPr>
        <p:spPr>
          <a:xfrm>
            <a:off x="1352398" y="590702"/>
            <a:ext cx="2743200"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01 — EVAL OVERVIEW</a:t>
            </a:r>
            <a:endParaRPr lang="en-US" sz="975" dirty="0"/>
          </a:p>
        </p:txBody>
      </p:sp>
      <p:sp>
        <p:nvSpPr>
          <p:cNvPr id="13" name="Text 7"/>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01</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14" name="Text 8"/>
          <p:cNvSpPr txBox="1"/>
          <p:nvPr/>
        </p:nvSpPr>
        <p:spPr>
          <a:xfrm>
            <a:off x="761695" y="1333195"/>
            <a:ext cx="11811305" cy="2171700"/>
          </a:xfrm>
          <a:prstGeom prst="rect">
            <a:avLst/>
          </a:prstGeom>
          <a:noFill/>
          <a:ln/>
        </p:spPr>
        <p:txBody>
          <a:bodyPr wrap="square" lIns="0" tIns="0" rIns="0" bIns="0" rtlCol="0" anchor="t"/>
          <a:lstStyle/>
          <a:p>
            <a:pPr algn="l" indent="0" marL="0">
              <a:lnSpc>
                <a:spcPct val="95000"/>
              </a:lnSpc>
              <a:buNone/>
            </a:pPr>
            <a:r>
              <a:rPr lang="en-US" sz="9000" b="1" spc="-405" kern="0" dirty="0">
                <a:solidFill>
                  <a:srgbClr val="E8EDF5"/>
                </a:solidFill>
                <a:latin typeface="Inter" pitchFamily="34" charset="0"/>
                <a:ea typeface="Inter" pitchFamily="34" charset="-122"/>
                <a:cs typeface="Inter" pitchFamily="34" charset="-120"/>
              </a:rPr>
              <a:t>Trench Depth</a:t>
            </a:r>
            <a:pPr algn="l" indent="0" marL="0">
              <a:lnSpc>
                <a:spcPct val="95000"/>
              </a:lnSpc>
              <a:buNone/>
            </a:pPr>
            <a:endParaRPr lang="en-US" sz="9000" dirty="0"/>
          </a:p>
          <a:p>
            <a:pPr algn="l" indent="0" marL="0">
              <a:lnSpc>
                <a:spcPct val="95000"/>
              </a:lnSpc>
              <a:buNone/>
            </a:pPr>
            <a:r>
              <a:rPr lang="en-US" sz="9000" b="1" spc="-405" kern="0" dirty="0">
                <a:solidFill>
                  <a:srgbClr val="5EEAD4"/>
                </a:solidFill>
                <a:latin typeface="Inter" pitchFamily="34" charset="0"/>
                <a:ea typeface="Inter" pitchFamily="34" charset="-122"/>
                <a:cs typeface="Inter" pitchFamily="34" charset="-120"/>
              </a:rPr>
              <a:t>Split</a:t>
            </a:r>
            <a:pPr algn="l" indent="0" marL="0">
              <a:lnSpc>
                <a:spcPct val="95000"/>
              </a:lnSpc>
              <a:buNone/>
            </a:pPr>
            <a:r>
              <a:rPr lang="en-US" sz="9000" b="1" spc="-405" kern="0" dirty="0">
                <a:solidFill>
                  <a:srgbClr val="E8EDF5"/>
                </a:solidFill>
                <a:latin typeface="Inter" pitchFamily="34" charset="0"/>
                <a:ea typeface="Inter" pitchFamily="34" charset="-122"/>
                <a:cs typeface="Inter" pitchFamily="34" charset="-120"/>
              </a:rPr>
              <a:t> Evaluation</a:t>
            </a:r>
            <a:endParaRPr lang="en-US" sz="9000" dirty="0"/>
          </a:p>
        </p:txBody>
      </p:sp>
      <p:sp>
        <p:nvSpPr>
          <p:cNvPr id="15" name="Text 9"/>
          <p:cNvSpPr txBox="1"/>
          <p:nvPr/>
        </p:nvSpPr>
        <p:spPr>
          <a:xfrm>
            <a:off x="1009498" y="4095598"/>
            <a:ext cx="4038905" cy="162763"/>
          </a:xfrm>
          <a:prstGeom prst="rect">
            <a:avLst/>
          </a:prstGeom>
          <a:noFill/>
          <a:ln/>
        </p:spPr>
        <p:txBody>
          <a:bodyPr wrap="none" lIns="0" tIns="0" rIns="0" bIns="0" rtlCol="0" anchor="ctr"/>
          <a:lstStyle/>
          <a:p>
            <a:pPr algn="l" indent="0" marL="0">
              <a:buNone/>
            </a:pPr>
            <a:r>
              <a:rPr lang="en-US" sz="975" b="1" spc="273" kern="0" dirty="0">
                <a:solidFill>
                  <a:srgbClr val="FB923C"/>
                </a:solidFill>
                <a:latin typeface="JetBrains Mono" pitchFamily="34" charset="0"/>
                <a:ea typeface="JetBrains Mono" pitchFamily="34" charset="-122"/>
                <a:cs typeface="JetBrains Mono" pitchFamily="34" charset="-120"/>
              </a:rPr>
              <a:t>M8 / IMD + RSBM / 3-WAFER DUMMY SPLIT</a:t>
            </a:r>
            <a:endParaRPr lang="en-US" sz="975" dirty="0"/>
          </a:p>
        </p:txBody>
      </p:sp>
      <p:sp>
        <p:nvSpPr>
          <p:cNvPr id="16" name="Text 10"/>
          <p:cNvSpPr txBox="1"/>
          <p:nvPr/>
        </p:nvSpPr>
        <p:spPr>
          <a:xfrm>
            <a:off x="761695" y="4394606"/>
            <a:ext cx="10287000" cy="663854"/>
          </a:xfrm>
          <a:prstGeom prst="rect">
            <a:avLst/>
          </a:prstGeom>
          <a:noFill/>
          <a:ln/>
        </p:spPr>
        <p:txBody>
          <a:bodyPr wrap="square" lIns="0" tIns="0" rIns="0" bIns="0" rtlCol="0" anchor="t"/>
          <a:lstStyle/>
          <a:p>
            <a:pPr algn="l" indent="0" marL="0">
              <a:lnSpc>
                <a:spcPts val="2441"/>
              </a:lnSpc>
              <a:buNone/>
            </a:pPr>
            <a:r>
              <a:rPr lang="en-US" sz="1575" dirty="0">
                <a:solidFill>
                  <a:srgbClr val="94A3B8"/>
                </a:solidFill>
                <a:latin typeface="Inter" pitchFamily="34" charset="0"/>
                <a:ea typeface="Inter" pitchFamily="34" charset="-122"/>
                <a:cs typeface="Inter" pitchFamily="34" charset="-120"/>
              </a:rPr>
              <a:t>BEOL M8 metal trench etch time을 변수로 한 process split 평가.</a:t>
            </a:r>
            <a:pPr algn="l" indent="0" marL="0">
              <a:lnSpc>
                <a:spcPts val="2441"/>
              </a:lnSpc>
              <a:buNone/>
            </a:pPr>
            <a:endParaRPr lang="en-US" sz="1575" dirty="0"/>
          </a:p>
          <a:p>
            <a:pPr algn="l" indent="0" marL="0">
              <a:lnSpc>
                <a:spcPts val="2441"/>
              </a:lnSpc>
              <a:buNone/>
            </a:pPr>
            <a:r>
              <a:rPr lang="en-US" sz="1575" dirty="0">
                <a:solidFill>
                  <a:srgbClr val="94A3B8"/>
                </a:solidFill>
                <a:latin typeface="Inter" pitchFamily="34" charset="0"/>
                <a:ea typeface="Inter" pitchFamily="34" charset="-122"/>
                <a:cs typeface="Inter" pitchFamily="34" charset="-120"/>
              </a:rPr>
              <a:t>Damascene + low-k IMD, PVD TaN/Ta barrier + Cu seed 기반 dummy lot 결과.</a:t>
            </a:r>
            <a:endParaRPr lang="en-US" sz="1575" dirty="0"/>
          </a:p>
        </p:txBody>
      </p:sp>
      <p:sp>
        <p:nvSpPr>
          <p:cNvPr id="17" name="Shape 11"/>
          <p:cNvSpPr/>
          <p:nvPr/>
        </p:nvSpPr>
        <p:spPr>
          <a:xfrm rot="2700000">
            <a:off x="761695" y="4147718"/>
            <a:ext cx="57607" cy="57607"/>
          </a:xfrm>
          <a:prstGeom prst="rect">
            <a:avLst/>
          </a:prstGeom>
          <a:solidFill>
            <a:srgbClr val="FB923C"/>
          </a:solidFill>
          <a:ln w="12700">
            <a:solidFill>
              <a:srgbClr val="FFFFFF">
                <a:alpha val="0"/>
              </a:srgbClr>
            </a:solidFill>
            <a:prstDash val="solid"/>
          </a:ln>
        </p:spPr>
      </p:sp>
      <p:sp>
        <p:nvSpPr>
          <p:cNvPr id="18" name="Text 12"/>
          <p:cNvSpPr txBox="1"/>
          <p:nvPr/>
        </p:nvSpPr>
        <p:spPr>
          <a:xfrm>
            <a:off x="1466698" y="6019495"/>
            <a:ext cx="3143707"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METAL LAYER</a:t>
            </a:r>
            <a:endParaRPr lang="en-US" sz="825" dirty="0"/>
          </a:p>
        </p:txBody>
      </p:sp>
      <p:sp>
        <p:nvSpPr>
          <p:cNvPr id="19" name="Text 13"/>
          <p:cNvSpPr txBox="1"/>
          <p:nvPr/>
        </p:nvSpPr>
        <p:spPr>
          <a:xfrm>
            <a:off x="1466698" y="6286500"/>
            <a:ext cx="3143707" cy="400507"/>
          </a:xfrm>
          <a:prstGeom prst="rect">
            <a:avLst/>
          </a:prstGeom>
          <a:noFill/>
          <a:ln/>
        </p:spPr>
        <p:txBody>
          <a:bodyPr wrap="none" lIns="0" tIns="0" rIns="0" bIns="0" rtlCol="0" anchor="ctr"/>
          <a:lstStyle/>
          <a:p>
            <a:pPr algn="l" indent="0" marL="0">
              <a:buNone/>
            </a:pPr>
            <a:r>
              <a:rPr lang="en-US" sz="3150" b="1" dirty="0">
                <a:solidFill>
                  <a:srgbClr val="E8EDF5"/>
                </a:solidFill>
                <a:latin typeface="Inter" pitchFamily="34" charset="0"/>
                <a:ea typeface="Inter" pitchFamily="34" charset="-122"/>
                <a:cs typeface="Inter" pitchFamily="34" charset="-120"/>
              </a:rPr>
              <a:t>M8</a:t>
            </a:r>
            <a:endParaRPr lang="en-US" sz="3150" dirty="0"/>
          </a:p>
        </p:txBody>
      </p:sp>
      <p:sp>
        <p:nvSpPr>
          <p:cNvPr id="20" name="Text 14"/>
          <p:cNvSpPr txBox="1"/>
          <p:nvPr/>
        </p:nvSpPr>
        <p:spPr>
          <a:xfrm>
            <a:off x="1466698" y="6762902"/>
            <a:ext cx="3143707"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Cu dual-damascene · low-k IMD</a:t>
            </a:r>
            <a:endParaRPr lang="en-US" sz="1050" dirty="0"/>
          </a:p>
        </p:txBody>
      </p:sp>
      <p:sp>
        <p:nvSpPr>
          <p:cNvPr id="21" name="Text 15"/>
          <p:cNvSpPr txBox="1"/>
          <p:nvPr/>
        </p:nvSpPr>
        <p:spPr>
          <a:xfrm>
            <a:off x="5277002" y="6019495"/>
            <a:ext cx="3143707"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SPLIT VARIABLE</a:t>
            </a:r>
            <a:endParaRPr lang="en-US" sz="825" dirty="0"/>
          </a:p>
        </p:txBody>
      </p:sp>
      <p:sp>
        <p:nvSpPr>
          <p:cNvPr id="22" name="Text 16"/>
          <p:cNvSpPr txBox="1"/>
          <p:nvPr/>
        </p:nvSpPr>
        <p:spPr>
          <a:xfrm>
            <a:off x="5277002" y="6286500"/>
            <a:ext cx="3143707" cy="400507"/>
          </a:xfrm>
          <a:prstGeom prst="rect">
            <a:avLst/>
          </a:prstGeom>
          <a:noFill/>
          <a:ln/>
        </p:spPr>
        <p:txBody>
          <a:bodyPr wrap="none" lIns="0" tIns="0" rIns="0" bIns="0" rtlCol="0" anchor="ctr"/>
          <a:lstStyle/>
          <a:p>
            <a:pPr algn="l" indent="0" marL="0">
              <a:buNone/>
            </a:pPr>
            <a:r>
              <a:rPr lang="en-US" sz="3150" b="1" dirty="0">
                <a:solidFill>
                  <a:srgbClr val="E8EDF5"/>
                </a:solidFill>
                <a:latin typeface="Inter" pitchFamily="34" charset="0"/>
                <a:ea typeface="Inter" pitchFamily="34" charset="-122"/>
                <a:cs typeface="Inter" pitchFamily="34" charset="-120"/>
              </a:rPr>
              <a:t>Etch Time</a:t>
            </a:r>
            <a:endParaRPr lang="en-US" sz="3150" dirty="0"/>
          </a:p>
        </p:txBody>
      </p:sp>
      <p:sp>
        <p:nvSpPr>
          <p:cNvPr id="23" name="Text 17"/>
          <p:cNvSpPr txBox="1"/>
          <p:nvPr/>
        </p:nvSpPr>
        <p:spPr>
          <a:xfrm>
            <a:off x="5277002" y="6762902"/>
            <a:ext cx="3143707" cy="191110"/>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Trench depth 조절</a:t>
            </a:r>
            <a:endParaRPr lang="en-US" sz="1050" dirty="0"/>
          </a:p>
        </p:txBody>
      </p:sp>
      <p:sp>
        <p:nvSpPr>
          <p:cNvPr id="24" name="Text 18"/>
          <p:cNvSpPr txBox="1"/>
          <p:nvPr/>
        </p:nvSpPr>
        <p:spPr>
          <a:xfrm>
            <a:off x="9087307" y="6019495"/>
            <a:ext cx="3143707"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WAFER COUNT</a:t>
            </a:r>
            <a:endParaRPr lang="en-US" sz="825" dirty="0"/>
          </a:p>
        </p:txBody>
      </p:sp>
      <p:sp>
        <p:nvSpPr>
          <p:cNvPr id="25" name="Text 19"/>
          <p:cNvSpPr txBox="1"/>
          <p:nvPr/>
        </p:nvSpPr>
        <p:spPr>
          <a:xfrm>
            <a:off x="9087307" y="6286500"/>
            <a:ext cx="3143707" cy="400507"/>
          </a:xfrm>
          <a:prstGeom prst="rect">
            <a:avLst/>
          </a:prstGeom>
          <a:noFill/>
          <a:ln/>
        </p:spPr>
        <p:txBody>
          <a:bodyPr wrap="none" lIns="0" tIns="0" rIns="0" bIns="0" rtlCol="0" anchor="ctr"/>
          <a:lstStyle/>
          <a:p>
            <a:pPr algn="l" indent="0" marL="0">
              <a:buNone/>
            </a:pPr>
            <a:r>
              <a:rPr lang="en-US" sz="3150" b="1" dirty="0">
                <a:solidFill>
                  <a:srgbClr val="E8EDF5"/>
                </a:solidFill>
                <a:latin typeface="Inter" pitchFamily="34" charset="0"/>
                <a:ea typeface="Inter" pitchFamily="34" charset="-122"/>
                <a:cs typeface="Inter" pitchFamily="34" charset="-120"/>
              </a:rPr>
              <a:t>3 </a:t>
            </a:r>
            <a:pPr algn="l" indent="0" marL="0">
              <a:buNone/>
            </a:pPr>
            <a:r>
              <a:rPr lang="en-US" sz="1800" b="1" dirty="0">
                <a:solidFill>
                  <a:srgbClr val="94A3B8"/>
                </a:solidFill>
                <a:latin typeface="Inter" pitchFamily="34" charset="0"/>
                <a:ea typeface="Inter" pitchFamily="34" charset="-122"/>
                <a:cs typeface="Inter" pitchFamily="34" charset="-120"/>
              </a:rPr>
              <a:t>매</a:t>
            </a:r>
            <a:endParaRPr lang="en-US" sz="3150" dirty="0"/>
          </a:p>
        </p:txBody>
      </p:sp>
      <p:sp>
        <p:nvSpPr>
          <p:cNvPr id="26" name="Text 20"/>
          <p:cNvSpPr txBox="1"/>
          <p:nvPr/>
        </p:nvSpPr>
        <p:spPr>
          <a:xfrm>
            <a:off x="9087307" y="6762902"/>
            <a:ext cx="3143707" cy="191110"/>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300 mm · 동일 lot block</a:t>
            </a:r>
            <a:endParaRPr lang="en-US" sz="1050" dirty="0"/>
          </a:p>
        </p:txBody>
      </p:sp>
      <p:sp>
        <p:nvSpPr>
          <p:cNvPr id="27" name="Text 21"/>
          <p:cNvSpPr txBox="1"/>
          <p:nvPr/>
        </p:nvSpPr>
        <p:spPr>
          <a:xfrm>
            <a:off x="12991795" y="6019495"/>
            <a:ext cx="3143707"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TOOL SET</a:t>
            </a:r>
            <a:endParaRPr lang="en-US" sz="825" dirty="0"/>
          </a:p>
        </p:txBody>
      </p:sp>
      <p:sp>
        <p:nvSpPr>
          <p:cNvPr id="28" name="Text 22"/>
          <p:cNvSpPr txBox="1"/>
          <p:nvPr/>
        </p:nvSpPr>
        <p:spPr>
          <a:xfrm>
            <a:off x="12991795" y="6286500"/>
            <a:ext cx="3143707" cy="400507"/>
          </a:xfrm>
          <a:prstGeom prst="rect">
            <a:avLst/>
          </a:prstGeom>
          <a:noFill/>
          <a:ln/>
        </p:spPr>
        <p:txBody>
          <a:bodyPr wrap="none" lIns="0" tIns="0" rIns="0" bIns="0" rtlCol="0" anchor="ctr"/>
          <a:lstStyle/>
          <a:p>
            <a:pPr algn="l" indent="0" marL="0">
              <a:buNone/>
            </a:pPr>
            <a:r>
              <a:rPr lang="en-US" sz="3150" b="1" dirty="0">
                <a:solidFill>
                  <a:srgbClr val="E8EDF5"/>
                </a:solidFill>
                <a:latin typeface="Inter" pitchFamily="34" charset="0"/>
                <a:ea typeface="Inter" pitchFamily="34" charset="-122"/>
                <a:cs typeface="Inter" pitchFamily="34" charset="-120"/>
              </a:rPr>
              <a:t>DUMMY</a:t>
            </a:r>
            <a:endParaRPr lang="en-US" sz="3150" dirty="0"/>
          </a:p>
        </p:txBody>
      </p:sp>
      <p:sp>
        <p:nvSpPr>
          <p:cNvPr id="29" name="Text 23"/>
          <p:cNvSpPr txBox="1"/>
          <p:nvPr/>
        </p:nvSpPr>
        <p:spPr>
          <a:xfrm>
            <a:off x="12991795" y="6762902"/>
            <a:ext cx="3143707" cy="191110"/>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Production 미사용 lot</a:t>
            </a:r>
            <a:endParaRPr lang="en-US" sz="1050" dirty="0"/>
          </a:p>
        </p:txBody>
      </p:sp>
      <p:sp>
        <p:nvSpPr>
          <p:cNvPr id="30" name="Text 24"/>
          <p:cNvSpPr txBox="1"/>
          <p:nvPr/>
        </p:nvSpPr>
        <p:spPr>
          <a:xfrm>
            <a:off x="1524305" y="7696505"/>
            <a:ext cx="14573707"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EXPERIMENT PURPOSE</a:t>
            </a:r>
            <a:endParaRPr lang="en-US" sz="825" dirty="0"/>
          </a:p>
        </p:txBody>
      </p:sp>
      <p:sp>
        <p:nvSpPr>
          <p:cNvPr id="31" name="Text 25"/>
          <p:cNvSpPr txBox="1"/>
          <p:nvPr/>
        </p:nvSpPr>
        <p:spPr>
          <a:xfrm>
            <a:off x="1524305" y="7944307"/>
            <a:ext cx="14573707" cy="590702"/>
          </a:xfrm>
          <a:prstGeom prst="rect">
            <a:avLst/>
          </a:prstGeom>
          <a:noFill/>
          <a:ln/>
        </p:spPr>
        <p:txBody>
          <a:bodyPr wrap="square" lIns="0" tIns="0" rIns="0" bIns="0" rtlCol="0" anchor="ctr"/>
          <a:lstStyle/>
          <a:p>
            <a:pPr algn="l" indent="0" marL="0">
              <a:lnSpc>
                <a:spcPts val="2325"/>
              </a:lnSpc>
              <a:buNone/>
            </a:pPr>
            <a:r>
              <a:rPr lang="en-US" sz="1500" dirty="0">
                <a:solidFill>
                  <a:srgbClr val="E8EDF5"/>
                </a:solidFill>
                <a:latin typeface="Inter" pitchFamily="34" charset="0"/>
                <a:ea typeface="Inter" pitchFamily="34" charset="-122"/>
                <a:cs typeface="Inter" pitchFamily="34" charset="-120"/>
              </a:rPr>
              <a:t>Trench etch time 변화가 M8 CD variation / wafer 내 uniformity / line·via resistance / EM 수명에 미치는 영향을 동시 평가하고, dummy lot data를 기준으로 split dose 응답 경향성을 1차 정리한다. 도출값은 절대 production 결과로 인용 불가.</a:t>
            </a:r>
            <a:endParaRPr lang="en-US" sz="1500" dirty="0"/>
          </a:p>
        </p:txBody>
      </p:sp>
      <p:pic>
        <p:nvPicPr>
          <p:cNvPr id="32" name="Image 3" descr="gen-dedup-41df4fb73e13824d9bf43e735c70451d.png">    </p:cNvPr>
          <p:cNvPicPr>
            <a:picLocks noChangeAspect="1"/>
          </p:cNvPicPr>
          <p:nvPr/>
        </p:nvPicPr>
        <p:blipFill>
          <a:blip r:embed="rId4"/>
          <a:srcRect l="-2029" r="-2029" t="0" b="0"/>
          <a:stretch/>
        </p:blipFill>
        <p:spPr>
          <a:xfrm>
            <a:off x="761695" y="10067544"/>
            <a:ext cx="304495" cy="9144"/>
          </a:xfrm>
          <a:prstGeom prst="rect">
            <a:avLst/>
          </a:prstGeom>
        </p:spPr>
      </p:pic>
      <p:sp>
        <p:nvSpPr>
          <p:cNvPr id="33" name="Text 26"/>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B"/>
        </a:solidFill>
      </p:bgPr>
    </p:bg>
    <p:spTree>
      <p:nvGrpSpPr>
        <p:cNvPr id="1" name=""/>
        <p:cNvGrpSpPr/>
        <p:nvPr/>
      </p:nvGrpSpPr>
      <p:grpSpPr>
        <a:xfrm>
          <a:off x="0" y="0"/>
          <a:ext cx="0" cy="0"/>
          <a:chOff x="0" y="0"/>
          <a:chExt cx="0" cy="0"/>
        </a:xfrm>
      </p:grpSpPr>
      <p:pic>
        <p:nvPicPr>
          <p:cNvPr id="3" name="Image 0" descr="gen-dedup-d24e419ec9899dcc17a682e7ccfecc44.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2573000" y="1238098"/>
            <a:ext cx="4972507" cy="1923898"/>
          </a:xfrm>
          <a:prstGeom prst="rect">
            <a:avLst/>
          </a:prstGeom>
          <a:solidFill>
            <a:srgbClr val="141A28"/>
          </a:solidFill>
          <a:ln w="12700">
            <a:solidFill>
              <a:srgbClr val="1F2A40"/>
            </a:solidFill>
            <a:prstDash val="solid"/>
          </a:ln>
        </p:spPr>
      </p:sp>
      <p:pic>
        <p:nvPicPr>
          <p:cNvPr id="5" name="Image 1" descr="gen-dedup-2e4d9dac4e413dad58c652b96a69ebb1.png">    </p:cNvPr>
          <p:cNvPicPr>
            <a:picLocks noChangeAspect="1"/>
          </p:cNvPicPr>
          <p:nvPr/>
        </p:nvPicPr>
        <p:blipFill>
          <a:blip r:embed="rId2"/>
          <a:srcRect l="-4" r="-4" t="0" b="0"/>
          <a:stretch/>
        </p:blipFill>
        <p:spPr>
          <a:xfrm>
            <a:off x="761695" y="3810305"/>
            <a:ext cx="5162702" cy="3638398"/>
          </a:xfrm>
          <a:prstGeom prst="rect">
            <a:avLst/>
          </a:prstGeom>
        </p:spPr>
      </p:pic>
      <p:pic>
        <p:nvPicPr>
          <p:cNvPr id="6" name="Image 2" descr="gen-dedup-2e4d9dac4e413dad58c652b96a69ebb1.png">    </p:cNvPr>
          <p:cNvPicPr>
            <a:picLocks noChangeAspect="1"/>
          </p:cNvPicPr>
          <p:nvPr/>
        </p:nvPicPr>
        <p:blipFill>
          <a:blip r:embed="rId3"/>
          <a:srcRect l="-4" r="-4" t="0" b="0"/>
          <a:stretch/>
        </p:blipFill>
        <p:spPr>
          <a:xfrm>
            <a:off x="6286500" y="3810305"/>
            <a:ext cx="5162702" cy="3638398"/>
          </a:xfrm>
          <a:prstGeom prst="rect">
            <a:avLst/>
          </a:prstGeom>
        </p:spPr>
      </p:pic>
      <p:pic>
        <p:nvPicPr>
          <p:cNvPr id="7" name="Image 3" descr="gen-dedup-c9b11ddf43d8d180262f2b2d6b03461a.png">    </p:cNvPr>
          <p:cNvPicPr>
            <a:picLocks noChangeAspect="1"/>
          </p:cNvPicPr>
          <p:nvPr/>
        </p:nvPicPr>
        <p:blipFill>
          <a:blip r:embed="rId4"/>
          <a:srcRect l="-3" r="-3" t="0" b="0"/>
          <a:stretch/>
        </p:blipFill>
        <p:spPr>
          <a:xfrm>
            <a:off x="11811305" y="3810305"/>
            <a:ext cx="5734202" cy="3638398"/>
          </a:xfrm>
          <a:prstGeom prst="rect">
            <a:avLst/>
          </a:prstGeom>
        </p:spPr>
      </p:pic>
      <p:sp>
        <p:nvSpPr>
          <p:cNvPr id="8" name="Shape 1"/>
          <p:cNvSpPr/>
          <p:nvPr/>
        </p:nvSpPr>
        <p:spPr>
          <a:xfrm>
            <a:off x="761695" y="7905902"/>
            <a:ext cx="16782898" cy="1352398"/>
          </a:xfrm>
          <a:prstGeom prst="rect">
            <a:avLst/>
          </a:prstGeom>
          <a:solidFill>
            <a:srgbClr val="141A28"/>
          </a:solidFill>
          <a:ln w="12700">
            <a:solidFill>
              <a:srgbClr val="1F2A40"/>
            </a:solidFill>
            <a:prstDash val="solid"/>
          </a:ln>
        </p:spPr>
      </p:sp>
      <p:pic>
        <p:nvPicPr>
          <p:cNvPr id="9" name="Image 4" descr="gen-dedup-4ec13ed727be78487c97ff0889c8b3b3.png">    </p:cNvPr>
          <p:cNvPicPr>
            <a:picLocks noChangeAspect="1"/>
          </p:cNvPicPr>
          <p:nvPr/>
        </p:nvPicPr>
        <p:blipFill>
          <a:blip r:embed="rId5"/>
          <a:srcRect l="0" r="0" t="-400" b="-400"/>
          <a:stretch/>
        </p:blipFill>
        <p:spPr>
          <a:xfrm>
            <a:off x="761695" y="3810305"/>
            <a:ext cx="5143500" cy="38405"/>
          </a:xfrm>
          <a:prstGeom prst="rect">
            <a:avLst/>
          </a:prstGeom>
        </p:spPr>
      </p:pic>
      <p:sp>
        <p:nvSpPr>
          <p:cNvPr id="10" name="Shape 2"/>
          <p:cNvSpPr/>
          <p:nvPr/>
        </p:nvSpPr>
        <p:spPr>
          <a:xfrm>
            <a:off x="990295" y="4114800"/>
            <a:ext cx="761695" cy="304495"/>
          </a:xfrm>
          <a:prstGeom prst="rect">
            <a:avLst/>
          </a:prstGeom>
          <a:solidFill>
            <a:srgbClr val="5EEAD4">
              <a:alpha val="16000"/>
            </a:srgbClr>
          </a:solidFill>
          <a:ln w="12700">
            <a:solidFill>
              <a:srgbClr val="FFFFFF">
                <a:alpha val="0"/>
              </a:srgbClr>
            </a:solidFill>
            <a:prstDash val="solid"/>
          </a:ln>
        </p:spPr>
      </p:sp>
      <p:sp>
        <p:nvSpPr>
          <p:cNvPr id="11" name="Shape 3"/>
          <p:cNvSpPr/>
          <p:nvPr/>
        </p:nvSpPr>
        <p:spPr>
          <a:xfrm>
            <a:off x="990295" y="5848502"/>
            <a:ext cx="3638398" cy="629107"/>
          </a:xfrm>
          <a:prstGeom prst="rect">
            <a:avLst/>
          </a:prstGeom>
          <a:solidFill>
            <a:srgbClr val="0B0F1B"/>
          </a:solidFill>
          <a:ln w="12700">
            <a:solidFill>
              <a:srgbClr val="1F2A40"/>
            </a:solidFill>
            <a:prstDash val="solid"/>
          </a:ln>
        </p:spPr>
      </p:sp>
      <p:pic>
        <p:nvPicPr>
          <p:cNvPr id="12" name="Image 5" descr="gen-dedup-73c561d236758399feec1f6bc872edb6.png">    </p:cNvPr>
          <p:cNvPicPr>
            <a:picLocks noChangeAspect="1"/>
          </p:cNvPicPr>
          <p:nvPr/>
        </p:nvPicPr>
        <p:blipFill>
          <a:blip r:embed="rId6"/>
          <a:srcRect l="0" r="0" t="-400" b="-400"/>
          <a:stretch/>
        </p:blipFill>
        <p:spPr>
          <a:xfrm>
            <a:off x="6286500" y="3810305"/>
            <a:ext cx="5143500" cy="38405"/>
          </a:xfrm>
          <a:prstGeom prst="rect">
            <a:avLst/>
          </a:prstGeom>
        </p:spPr>
      </p:pic>
      <p:sp>
        <p:nvSpPr>
          <p:cNvPr id="13" name="Shape 4"/>
          <p:cNvSpPr/>
          <p:nvPr/>
        </p:nvSpPr>
        <p:spPr>
          <a:xfrm>
            <a:off x="6515100" y="4114800"/>
            <a:ext cx="761695" cy="304495"/>
          </a:xfrm>
          <a:prstGeom prst="rect">
            <a:avLst/>
          </a:prstGeom>
          <a:solidFill>
            <a:srgbClr val="FB923C">
              <a:alpha val="16000"/>
            </a:srgbClr>
          </a:solidFill>
          <a:ln w="12700">
            <a:solidFill>
              <a:srgbClr val="FFFFFF">
                <a:alpha val="0"/>
              </a:srgbClr>
            </a:solidFill>
            <a:prstDash val="solid"/>
          </a:ln>
        </p:spPr>
      </p:sp>
      <p:sp>
        <p:nvSpPr>
          <p:cNvPr id="14" name="Shape 5"/>
          <p:cNvSpPr/>
          <p:nvPr/>
        </p:nvSpPr>
        <p:spPr>
          <a:xfrm>
            <a:off x="6515100" y="5848502"/>
            <a:ext cx="3638398" cy="629107"/>
          </a:xfrm>
          <a:prstGeom prst="rect">
            <a:avLst/>
          </a:prstGeom>
          <a:solidFill>
            <a:srgbClr val="0B0F1B"/>
          </a:solidFill>
          <a:ln w="12700">
            <a:solidFill>
              <a:srgbClr val="1F2A40"/>
            </a:solidFill>
            <a:prstDash val="solid"/>
          </a:ln>
        </p:spPr>
      </p:sp>
      <p:pic>
        <p:nvPicPr>
          <p:cNvPr id="15" name="Image 6" descr="gen-dedup-0ae18066feb8987cf62125d82dd5b5a2.png">    </p:cNvPr>
          <p:cNvPicPr>
            <a:picLocks noChangeAspect="1"/>
          </p:cNvPicPr>
          <p:nvPr/>
        </p:nvPicPr>
        <p:blipFill>
          <a:blip r:embed="rId7"/>
          <a:srcRect l="0" r="0" t="-400" b="-400"/>
          <a:stretch/>
        </p:blipFill>
        <p:spPr>
          <a:xfrm>
            <a:off x="11811305" y="3810305"/>
            <a:ext cx="5715000" cy="38405"/>
          </a:xfrm>
          <a:prstGeom prst="rect">
            <a:avLst/>
          </a:prstGeom>
        </p:spPr>
      </p:pic>
      <p:sp>
        <p:nvSpPr>
          <p:cNvPr id="16" name="Shape 6"/>
          <p:cNvSpPr/>
          <p:nvPr/>
        </p:nvSpPr>
        <p:spPr>
          <a:xfrm>
            <a:off x="12039905" y="4114800"/>
            <a:ext cx="761695" cy="304495"/>
          </a:xfrm>
          <a:prstGeom prst="rect">
            <a:avLst/>
          </a:prstGeom>
          <a:solidFill>
            <a:srgbClr val="F472B6">
              <a:alpha val="16000"/>
            </a:srgbClr>
          </a:solidFill>
          <a:ln w="12700">
            <a:solidFill>
              <a:srgbClr val="FFFFFF">
                <a:alpha val="0"/>
              </a:srgbClr>
            </a:solidFill>
            <a:prstDash val="solid"/>
          </a:ln>
        </p:spPr>
      </p:sp>
      <p:sp>
        <p:nvSpPr>
          <p:cNvPr id="17" name="Shape 7"/>
          <p:cNvSpPr/>
          <p:nvPr/>
        </p:nvSpPr>
        <p:spPr>
          <a:xfrm>
            <a:off x="12039905" y="5848502"/>
            <a:ext cx="4209898" cy="629107"/>
          </a:xfrm>
          <a:prstGeom prst="rect">
            <a:avLst/>
          </a:prstGeom>
          <a:solidFill>
            <a:srgbClr val="0B0F1B"/>
          </a:solidFill>
          <a:ln w="12700">
            <a:solidFill>
              <a:srgbClr val="1F2A40"/>
            </a:solidFill>
            <a:prstDash val="solid"/>
          </a:ln>
        </p:spPr>
      </p:sp>
      <p:pic>
        <p:nvPicPr>
          <p:cNvPr id="18" name="Image 7" descr="gen-dedup-fb7284239b65d37878da76aad5baf72f.png">    </p:cNvPr>
          <p:cNvPicPr>
            <a:picLocks noChangeAspect="1"/>
          </p:cNvPicPr>
          <p:nvPr/>
        </p:nvPicPr>
        <p:blipFill>
          <a:blip r:embed="rId8"/>
          <a:srcRect l="0" r="0" t="-437" b="-437"/>
          <a:stretch/>
        </p:blipFill>
        <p:spPr>
          <a:xfrm>
            <a:off x="761695" y="662026"/>
            <a:ext cx="418795" cy="19202"/>
          </a:xfrm>
          <a:prstGeom prst="rect">
            <a:avLst/>
          </a:prstGeom>
        </p:spPr>
      </p:pic>
      <p:sp>
        <p:nvSpPr>
          <p:cNvPr id="19" name="Text 8"/>
          <p:cNvSpPr txBox="1"/>
          <p:nvPr/>
        </p:nvSpPr>
        <p:spPr>
          <a:xfrm>
            <a:off x="1352398" y="590702"/>
            <a:ext cx="2628900"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02 — SPLIT DESIGN</a:t>
            </a:r>
            <a:endParaRPr lang="en-US" sz="975" dirty="0"/>
          </a:p>
        </p:txBody>
      </p:sp>
      <p:sp>
        <p:nvSpPr>
          <p:cNvPr id="20" name="Text 9"/>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02</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1" name="Text 10"/>
          <p:cNvSpPr txBox="1"/>
          <p:nvPr/>
        </p:nvSpPr>
        <p:spPr>
          <a:xfrm>
            <a:off x="761695" y="1238098"/>
            <a:ext cx="10478110" cy="609905"/>
          </a:xfrm>
          <a:prstGeom prst="rect">
            <a:avLst/>
          </a:prstGeom>
          <a:noFill/>
          <a:ln/>
        </p:spPr>
        <p:txBody>
          <a:bodyPr wrap="none" lIns="0" tIns="0" rIns="0" bIns="0" rtlCol="0" anchor="ctr"/>
          <a:lstStyle/>
          <a:p>
            <a:pPr algn="l" indent="0" marL="0">
              <a:buNone/>
            </a:pPr>
            <a:r>
              <a:rPr lang="en-US" sz="4800" b="1" spc="-168" kern="0" dirty="0">
                <a:solidFill>
                  <a:srgbClr val="E8EDF5"/>
                </a:solidFill>
                <a:latin typeface="Inter" pitchFamily="34" charset="0"/>
                <a:ea typeface="Inter" pitchFamily="34" charset="-122"/>
                <a:cs typeface="Inter" pitchFamily="34" charset="-120"/>
              </a:rPr>
              <a:t>Etch Time을 </a:t>
            </a:r>
            <a:pPr algn="l" indent="0" marL="0">
              <a:buNone/>
            </a:pPr>
            <a:r>
              <a:rPr lang="en-US" sz="4800" b="1" spc="-168" kern="0" dirty="0">
                <a:solidFill>
                  <a:srgbClr val="5EEAD4"/>
                </a:solidFill>
                <a:latin typeface="Inter" pitchFamily="34" charset="0"/>
                <a:ea typeface="Inter" pitchFamily="34" charset="-122"/>
                <a:cs typeface="Inter" pitchFamily="34" charset="-120"/>
              </a:rPr>
              <a:t>3 levels</a:t>
            </a:r>
            <a:pPr algn="l" indent="0" marL="0">
              <a:buNone/>
            </a:pPr>
            <a:r>
              <a:rPr lang="en-US" sz="4800" b="1" spc="-168" kern="0" dirty="0">
                <a:solidFill>
                  <a:srgbClr val="E8EDF5"/>
                </a:solidFill>
                <a:latin typeface="Inter" pitchFamily="34" charset="0"/>
                <a:ea typeface="Inter" pitchFamily="34" charset="-122"/>
                <a:cs typeface="Inter" pitchFamily="34" charset="-120"/>
              </a:rPr>
              <a:t>로 분할</a:t>
            </a:r>
            <a:endParaRPr lang="en-US" sz="4800" dirty="0"/>
          </a:p>
        </p:txBody>
      </p:sp>
      <p:sp>
        <p:nvSpPr>
          <p:cNvPr id="22" name="Text 11"/>
          <p:cNvSpPr txBox="1"/>
          <p:nvPr/>
        </p:nvSpPr>
        <p:spPr>
          <a:xfrm>
            <a:off x="761695" y="2018995"/>
            <a:ext cx="10478110" cy="267005"/>
          </a:xfrm>
          <a:prstGeom prst="rect">
            <a:avLst/>
          </a:prstGeom>
          <a:noFill/>
          <a:ln/>
        </p:spPr>
        <p:txBody>
          <a:bodyPr wrap="none" lIns="0" tIns="0" rIns="0" bIns="0" rtlCol="0" anchor="ctr"/>
          <a:lstStyle/>
          <a:p>
            <a:pPr algn="l" indent="0" marL="0">
              <a:buNone/>
            </a:pPr>
            <a:r>
              <a:rPr lang="en-US" sz="1350" dirty="0">
                <a:solidFill>
                  <a:srgbClr val="94A3B8"/>
                </a:solidFill>
                <a:latin typeface="Inter" pitchFamily="34" charset="0"/>
                <a:ea typeface="Inter" pitchFamily="34" charset="-122"/>
                <a:cs typeface="Inter" pitchFamily="34" charset="-120"/>
              </a:rPr>
              <a:t>동일 chamber / 동일 recipe base · etch time 외 모든 항목 lock · 3매 wafer 모두 동일 lot block에서 인출.</a:t>
            </a:r>
            <a:endParaRPr lang="en-US" sz="1350" dirty="0"/>
          </a:p>
        </p:txBody>
      </p:sp>
      <p:sp>
        <p:nvSpPr>
          <p:cNvPr id="23" name="Text 12"/>
          <p:cNvSpPr txBox="1"/>
          <p:nvPr/>
        </p:nvSpPr>
        <p:spPr>
          <a:xfrm>
            <a:off x="12877495" y="1505102"/>
            <a:ext cx="4381805" cy="133502"/>
          </a:xfrm>
          <a:prstGeom prst="rect">
            <a:avLst/>
          </a:prstGeom>
          <a:noFill/>
          <a:ln/>
        </p:spPr>
        <p:txBody>
          <a:bodyPr wrap="none" lIns="0" tIns="0" rIns="0" bIns="0" rtlCol="0" anchor="ctr"/>
          <a:lstStyle/>
          <a:p>
            <a:pPr algn="l" indent="0" marL="0">
              <a:buNone/>
            </a:pPr>
            <a:r>
              <a:rPr lang="en-US" sz="825" b="1" spc="247" kern="0" dirty="0">
                <a:solidFill>
                  <a:srgbClr val="94A3B8"/>
                </a:solidFill>
                <a:latin typeface="JetBrains Mono" pitchFamily="34" charset="0"/>
                <a:ea typeface="JetBrains Mono" pitchFamily="34" charset="-122"/>
                <a:cs typeface="JetBrains Mono" pitchFamily="34" charset="-120"/>
              </a:rPr>
              <a:t>TARGET TRENCH DEPTH</a:t>
            </a:r>
            <a:endParaRPr lang="en-US" sz="825" dirty="0"/>
          </a:p>
        </p:txBody>
      </p:sp>
      <p:sp>
        <p:nvSpPr>
          <p:cNvPr id="24" name="Text 13"/>
          <p:cNvSpPr txBox="1"/>
          <p:nvPr/>
        </p:nvSpPr>
        <p:spPr>
          <a:xfrm>
            <a:off x="12877495" y="1772107"/>
            <a:ext cx="1532534" cy="800100"/>
          </a:xfrm>
          <a:prstGeom prst="rect">
            <a:avLst/>
          </a:prstGeom>
          <a:noFill/>
          <a:ln/>
        </p:spPr>
        <p:txBody>
          <a:bodyPr wrap="none" lIns="0" tIns="0" rIns="0" bIns="0" rtlCol="0" anchor="ctr"/>
          <a:lstStyle/>
          <a:p>
            <a:pPr algn="l" indent="0" marL="0">
              <a:buNone/>
            </a:pPr>
            <a:r>
              <a:rPr lang="en-US" sz="6300" b="1" spc="-252" kern="0" dirty="0">
                <a:solidFill>
                  <a:srgbClr val="FB923C"/>
                </a:solidFill>
                <a:latin typeface="Inter" pitchFamily="34" charset="0"/>
                <a:ea typeface="Inter" pitchFamily="34" charset="-122"/>
                <a:cs typeface="Inter" pitchFamily="34" charset="-120"/>
              </a:rPr>
              <a:t>120</a:t>
            </a:r>
            <a:endParaRPr lang="en-US" sz="6300" dirty="0"/>
          </a:p>
        </p:txBody>
      </p:sp>
      <p:sp>
        <p:nvSpPr>
          <p:cNvPr id="25" name="Text 14"/>
          <p:cNvSpPr txBox="1"/>
          <p:nvPr/>
        </p:nvSpPr>
        <p:spPr>
          <a:xfrm>
            <a:off x="14324990" y="2162556"/>
            <a:ext cx="467258" cy="372161"/>
          </a:xfrm>
          <a:prstGeom prst="rect">
            <a:avLst/>
          </a:prstGeom>
          <a:noFill/>
          <a:ln/>
        </p:spPr>
        <p:txBody>
          <a:bodyPr wrap="none" lIns="0" tIns="0" rIns="0" bIns="0" rtlCol="0" anchor="ctr"/>
          <a:lstStyle/>
          <a:p>
            <a:pPr algn="l" indent="0" marL="0">
              <a:buNone/>
            </a:pPr>
            <a:r>
              <a:rPr lang="en-US" sz="2400" b="1" dirty="0">
                <a:solidFill>
                  <a:srgbClr val="94A3B8"/>
                </a:solidFill>
                <a:latin typeface="Inter" pitchFamily="34" charset="0"/>
                <a:ea typeface="Inter" pitchFamily="34" charset="-122"/>
                <a:cs typeface="Inter" pitchFamily="34" charset="-120"/>
              </a:rPr>
              <a:t>nm</a:t>
            </a:r>
            <a:endParaRPr lang="en-US" sz="2400" dirty="0"/>
          </a:p>
        </p:txBody>
      </p:sp>
      <p:sp>
        <p:nvSpPr>
          <p:cNvPr id="26" name="Text 15"/>
          <p:cNvSpPr txBox="1"/>
          <p:nvPr/>
        </p:nvSpPr>
        <p:spPr>
          <a:xfrm>
            <a:off x="16624706" y="2295144"/>
            <a:ext cx="746150" cy="200254"/>
          </a:xfrm>
          <a:prstGeom prst="rect">
            <a:avLst/>
          </a:prstGeom>
          <a:noFill/>
          <a:ln/>
        </p:spPr>
        <p:txBody>
          <a:bodyPr wrap="none" lIns="0" tIns="0" rIns="0" bIns="0" rtlCol="0" anchor="ctr"/>
          <a:lstStyle/>
          <a:p>
            <a:pPr algn="l" indent="0" marL="0">
              <a:buNone/>
            </a:pPr>
            <a:r>
              <a:rPr lang="en-US" sz="1350" dirty="0">
                <a:solidFill>
                  <a:srgbClr val="64748B"/>
                </a:solidFill>
                <a:latin typeface="Inter" pitchFamily="34" charset="0"/>
                <a:ea typeface="Inter" pitchFamily="34" charset="-122"/>
                <a:cs typeface="Inter" pitchFamily="34" charset="-120"/>
              </a:rPr>
              <a:t>nominal</a:t>
            </a:r>
            <a:endParaRPr lang="en-US" sz="1350" dirty="0"/>
          </a:p>
        </p:txBody>
      </p:sp>
      <p:sp>
        <p:nvSpPr>
          <p:cNvPr id="27" name="Text 16"/>
          <p:cNvSpPr txBox="1"/>
          <p:nvPr/>
        </p:nvSpPr>
        <p:spPr>
          <a:xfrm>
            <a:off x="12877495" y="2743200"/>
            <a:ext cx="4381805"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Nominal 기준 etch time </a:t>
            </a:r>
            <a:pPr algn="l" indent="0" marL="0">
              <a:buNone/>
            </a:pPr>
            <a:r>
              <a:rPr lang="en-US" sz="1050" dirty="0">
                <a:solidFill>
                  <a:srgbClr val="5EEAD4"/>
                </a:solidFill>
                <a:latin typeface="JetBrains Mono" pitchFamily="34" charset="0"/>
                <a:ea typeface="JetBrains Mono" pitchFamily="34" charset="-122"/>
                <a:cs typeface="JetBrains Mono" pitchFamily="34" charset="-120"/>
              </a:rPr>
              <a:t>25.0 s</a:t>
            </a:r>
            <a:pPr algn="l" indent="0" marL="0">
              <a:buNone/>
            </a:pPr>
            <a:r>
              <a:rPr lang="en-US" sz="1050" dirty="0">
                <a:solidFill>
                  <a:srgbClr val="94A3B8"/>
                </a:solidFill>
                <a:latin typeface="Inter" pitchFamily="34" charset="0"/>
                <a:ea typeface="Inter" pitchFamily="34" charset="-122"/>
                <a:cs typeface="Inter" pitchFamily="34" charset="-120"/>
              </a:rPr>
              <a:t>, depth 분해능 ±2 nm.</a:t>
            </a:r>
            <a:endParaRPr lang="en-US" sz="1050" dirty="0"/>
          </a:p>
        </p:txBody>
      </p:sp>
      <p:sp>
        <p:nvSpPr>
          <p:cNvPr id="28" name="Text 17"/>
          <p:cNvSpPr txBox="1"/>
          <p:nvPr/>
        </p:nvSpPr>
        <p:spPr>
          <a:xfrm>
            <a:off x="990295" y="4114800"/>
            <a:ext cx="762610" cy="305410"/>
          </a:xfrm>
          <a:prstGeom prst="rect">
            <a:avLst/>
          </a:prstGeom>
          <a:noFill/>
          <a:ln/>
        </p:spPr>
        <p:txBody>
          <a:bodyPr wrap="none" lIns="0" tIns="0" rIns="0" bIns="0" rtlCol="0" anchor="ctr"/>
          <a:lstStyle/>
          <a:p>
            <a:pPr algn="ctr" indent="0" marL="0">
              <a:buNone/>
            </a:pPr>
            <a:r>
              <a:rPr lang="en-US" sz="975" b="1" dirty="0">
                <a:solidFill>
                  <a:srgbClr val="5EEAD4"/>
                </a:solidFill>
                <a:latin typeface="JetBrains Mono" pitchFamily="34" charset="0"/>
                <a:ea typeface="JetBrains Mono" pitchFamily="34" charset="-122"/>
                <a:cs typeface="JetBrains Mono" pitchFamily="34" charset="-120"/>
              </a:rPr>
              <a:t>W1</a:t>
            </a:r>
            <a:endParaRPr lang="en-US" sz="975" dirty="0"/>
          </a:p>
        </p:txBody>
      </p:sp>
      <p:sp>
        <p:nvSpPr>
          <p:cNvPr id="29" name="Text 18"/>
          <p:cNvSpPr txBox="1"/>
          <p:nvPr/>
        </p:nvSpPr>
        <p:spPr>
          <a:xfrm>
            <a:off x="1904695" y="4114800"/>
            <a:ext cx="2857500" cy="247802"/>
          </a:xfrm>
          <a:prstGeom prst="rect">
            <a:avLst/>
          </a:prstGeom>
          <a:noFill/>
          <a:ln/>
        </p:spPr>
        <p:txBody>
          <a:bodyPr wrap="none" lIns="0" tIns="0" rIns="0" bIns="0" rtlCol="0" anchor="ctr"/>
          <a:lstStyle/>
          <a:p>
            <a:pPr algn="l" indent="0" marL="0">
              <a:buNone/>
            </a:pPr>
            <a:r>
              <a:rPr lang="en-US" sz="1650" b="1" dirty="0">
                <a:solidFill>
                  <a:srgbClr val="E8EDF5"/>
                </a:solidFill>
                <a:latin typeface="Inter" pitchFamily="34" charset="0"/>
                <a:ea typeface="Inter" pitchFamily="34" charset="-122"/>
                <a:cs typeface="Inter" pitchFamily="34" charset="-120"/>
              </a:rPr>
              <a:t>CONTROL</a:t>
            </a:r>
            <a:endParaRPr lang="en-US" sz="1650" dirty="0"/>
          </a:p>
        </p:txBody>
      </p:sp>
      <p:sp>
        <p:nvSpPr>
          <p:cNvPr id="30" name="Text 19"/>
          <p:cNvSpPr txBox="1"/>
          <p:nvPr/>
        </p:nvSpPr>
        <p:spPr>
          <a:xfrm>
            <a:off x="990295" y="4629607"/>
            <a:ext cx="3810305" cy="133502"/>
          </a:xfrm>
          <a:prstGeom prst="rect">
            <a:avLst/>
          </a:prstGeom>
          <a:noFill/>
          <a:ln/>
        </p:spPr>
        <p:txBody>
          <a:bodyPr wrap="none" lIns="0" tIns="0" rIns="0" bIns="0" rtlCol="0" anchor="ctr"/>
          <a:lstStyle/>
          <a:p>
            <a:pPr algn="l" indent="0" marL="0">
              <a:buNone/>
            </a:pPr>
            <a:r>
              <a:rPr lang="en-US" sz="825" b="1" spc="247" kern="0" dirty="0">
                <a:solidFill>
                  <a:srgbClr val="64748B"/>
                </a:solidFill>
                <a:latin typeface="JetBrains Mono" pitchFamily="34" charset="0"/>
                <a:ea typeface="JetBrains Mono" pitchFamily="34" charset="-122"/>
                <a:cs typeface="JetBrains Mono" pitchFamily="34" charset="-120"/>
              </a:rPr>
              <a:t>ETCH TIME</a:t>
            </a:r>
            <a:endParaRPr lang="en-US" sz="825" dirty="0"/>
          </a:p>
        </p:txBody>
      </p:sp>
      <p:sp>
        <p:nvSpPr>
          <p:cNvPr id="31" name="Text 20"/>
          <p:cNvSpPr txBox="1"/>
          <p:nvPr/>
        </p:nvSpPr>
        <p:spPr>
          <a:xfrm>
            <a:off x="990295" y="4876495"/>
            <a:ext cx="2317090" cy="914400"/>
          </a:xfrm>
          <a:prstGeom prst="rect">
            <a:avLst/>
          </a:prstGeom>
          <a:noFill/>
          <a:ln/>
        </p:spPr>
        <p:txBody>
          <a:bodyPr wrap="none" lIns="0" tIns="0" rIns="0" bIns="0" rtlCol="0" anchor="ctr"/>
          <a:lstStyle/>
          <a:p>
            <a:pPr algn="l" indent="0" marL="0">
              <a:buNone/>
            </a:pPr>
            <a:r>
              <a:rPr lang="en-US" sz="7200" b="1" spc="-288" kern="0" dirty="0">
                <a:solidFill>
                  <a:srgbClr val="E8EDF5"/>
                </a:solidFill>
                <a:latin typeface="Inter" pitchFamily="34" charset="0"/>
                <a:ea typeface="Inter" pitchFamily="34" charset="-122"/>
                <a:cs typeface="Inter" pitchFamily="34" charset="-120"/>
              </a:rPr>
              <a:t>25.0</a:t>
            </a:r>
            <a:endParaRPr lang="en-US" sz="7200" dirty="0"/>
          </a:p>
        </p:txBody>
      </p:sp>
      <p:sp>
        <p:nvSpPr>
          <p:cNvPr id="32" name="Text 21"/>
          <p:cNvSpPr txBox="1"/>
          <p:nvPr/>
        </p:nvSpPr>
        <p:spPr>
          <a:xfrm>
            <a:off x="3065983" y="5391302"/>
            <a:ext cx="183794" cy="342900"/>
          </a:xfrm>
          <a:prstGeom prst="rect">
            <a:avLst/>
          </a:prstGeom>
          <a:noFill/>
          <a:ln/>
        </p:spPr>
        <p:txBody>
          <a:bodyPr wrap="none" lIns="0" tIns="0" rIns="0" bIns="0" rtlCol="0" anchor="ctr"/>
          <a:lstStyle/>
          <a:p>
            <a:pPr algn="l" indent="0" marL="0">
              <a:buNone/>
            </a:pPr>
            <a:r>
              <a:rPr lang="en-US" sz="2250" b="1" dirty="0">
                <a:solidFill>
                  <a:srgbClr val="5EEAD4"/>
                </a:solidFill>
                <a:latin typeface="Inter" pitchFamily="34" charset="0"/>
                <a:ea typeface="Inter" pitchFamily="34" charset="-122"/>
                <a:cs typeface="Inter" pitchFamily="34" charset="-120"/>
              </a:rPr>
              <a:t>s</a:t>
            </a:r>
            <a:endParaRPr lang="en-US" sz="2250" dirty="0"/>
          </a:p>
        </p:txBody>
      </p:sp>
      <p:sp>
        <p:nvSpPr>
          <p:cNvPr id="33" name="Text 22"/>
          <p:cNvSpPr txBox="1"/>
          <p:nvPr/>
        </p:nvSpPr>
        <p:spPr>
          <a:xfrm>
            <a:off x="1181405" y="5848502"/>
            <a:ext cx="3238805" cy="609905"/>
          </a:xfrm>
          <a:prstGeom prst="rect">
            <a:avLst/>
          </a:prstGeom>
          <a:noFill/>
          <a:ln/>
        </p:spPr>
        <p:txBody>
          <a:bodyPr wrap="none" lIns="0" tIns="0" rIns="0" bIns="0" rtlCol="0" anchor="ctr"/>
          <a:lstStyle/>
          <a:p>
            <a:pPr algn="l" indent="0" marL="0">
              <a:buNone/>
            </a:pPr>
            <a:r>
              <a:rPr lang="en-US" sz="825" b="1" spc="198" kern="0" dirty="0">
                <a:solidFill>
                  <a:srgbClr val="94A3B8"/>
                </a:solidFill>
                <a:latin typeface="JetBrains Mono" pitchFamily="34" charset="0"/>
                <a:ea typeface="JetBrains Mono" pitchFamily="34" charset="-122"/>
                <a:cs typeface="JetBrains Mono" pitchFamily="34" charset="-120"/>
              </a:rPr>
              <a:t>DEPTH ≈ 120 nm</a:t>
            </a:r>
            <a:endParaRPr lang="en-US" sz="825" dirty="0"/>
          </a:p>
        </p:txBody>
      </p:sp>
      <p:sp>
        <p:nvSpPr>
          <p:cNvPr id="34" name="Text 23"/>
          <p:cNvSpPr txBox="1"/>
          <p:nvPr/>
        </p:nvSpPr>
        <p:spPr>
          <a:xfrm>
            <a:off x="990295" y="6687007"/>
            <a:ext cx="5138928"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Bom 기준 baseline · nominal dose · 모든 후속 공정은 split 표준 유지.</a:t>
            </a:r>
            <a:endParaRPr lang="en-US" sz="1050" dirty="0"/>
          </a:p>
        </p:txBody>
      </p:sp>
      <p:sp>
        <p:nvSpPr>
          <p:cNvPr id="35" name="Text 24"/>
          <p:cNvSpPr txBox="1"/>
          <p:nvPr/>
        </p:nvSpPr>
        <p:spPr>
          <a:xfrm>
            <a:off x="6515100" y="4114800"/>
            <a:ext cx="762610" cy="305410"/>
          </a:xfrm>
          <a:prstGeom prst="rect">
            <a:avLst/>
          </a:prstGeom>
          <a:noFill/>
          <a:ln/>
        </p:spPr>
        <p:txBody>
          <a:bodyPr wrap="none" lIns="0" tIns="0" rIns="0" bIns="0" rtlCol="0" anchor="ctr"/>
          <a:lstStyle/>
          <a:p>
            <a:pPr algn="ctr" indent="0" marL="0">
              <a:buNone/>
            </a:pPr>
            <a:r>
              <a:rPr lang="en-US" sz="975" b="1" dirty="0">
                <a:solidFill>
                  <a:srgbClr val="FB923C"/>
                </a:solidFill>
                <a:latin typeface="JetBrains Mono" pitchFamily="34" charset="0"/>
                <a:ea typeface="JetBrains Mono" pitchFamily="34" charset="-122"/>
                <a:cs typeface="JetBrains Mono" pitchFamily="34" charset="-120"/>
              </a:rPr>
              <a:t>W2</a:t>
            </a:r>
            <a:endParaRPr lang="en-US" sz="975" dirty="0"/>
          </a:p>
        </p:txBody>
      </p:sp>
      <p:sp>
        <p:nvSpPr>
          <p:cNvPr id="36" name="Text 25"/>
          <p:cNvSpPr txBox="1"/>
          <p:nvPr/>
        </p:nvSpPr>
        <p:spPr>
          <a:xfrm>
            <a:off x="7429500" y="4114800"/>
            <a:ext cx="2857500" cy="247802"/>
          </a:xfrm>
          <a:prstGeom prst="rect">
            <a:avLst/>
          </a:prstGeom>
          <a:noFill/>
          <a:ln/>
        </p:spPr>
        <p:txBody>
          <a:bodyPr wrap="none" lIns="0" tIns="0" rIns="0" bIns="0" rtlCol="0" anchor="ctr"/>
          <a:lstStyle/>
          <a:p>
            <a:pPr algn="l" indent="0" marL="0">
              <a:buNone/>
            </a:pPr>
            <a:r>
              <a:rPr lang="en-US" sz="1650" b="1" dirty="0">
                <a:solidFill>
                  <a:srgbClr val="E8EDF5"/>
                </a:solidFill>
                <a:latin typeface="Inter" pitchFamily="34" charset="0"/>
                <a:ea typeface="Inter" pitchFamily="34" charset="-122"/>
                <a:cs typeface="Inter" pitchFamily="34" charset="-120"/>
              </a:rPr>
              <a:t>+15% ETCH</a:t>
            </a:r>
            <a:endParaRPr lang="en-US" sz="1650" dirty="0"/>
          </a:p>
        </p:txBody>
      </p:sp>
      <p:sp>
        <p:nvSpPr>
          <p:cNvPr id="37" name="Text 26"/>
          <p:cNvSpPr txBox="1"/>
          <p:nvPr/>
        </p:nvSpPr>
        <p:spPr>
          <a:xfrm>
            <a:off x="6515100" y="4629607"/>
            <a:ext cx="3810305" cy="133502"/>
          </a:xfrm>
          <a:prstGeom prst="rect">
            <a:avLst/>
          </a:prstGeom>
          <a:noFill/>
          <a:ln/>
        </p:spPr>
        <p:txBody>
          <a:bodyPr wrap="none" lIns="0" tIns="0" rIns="0" bIns="0" rtlCol="0" anchor="ctr"/>
          <a:lstStyle/>
          <a:p>
            <a:pPr algn="l" indent="0" marL="0">
              <a:buNone/>
            </a:pPr>
            <a:r>
              <a:rPr lang="en-US" sz="825" b="1" spc="247" kern="0" dirty="0">
                <a:solidFill>
                  <a:srgbClr val="64748B"/>
                </a:solidFill>
                <a:latin typeface="JetBrains Mono" pitchFamily="34" charset="0"/>
                <a:ea typeface="JetBrains Mono" pitchFamily="34" charset="-122"/>
                <a:cs typeface="JetBrains Mono" pitchFamily="34" charset="-120"/>
              </a:rPr>
              <a:t>ETCH TIME</a:t>
            </a:r>
            <a:endParaRPr lang="en-US" sz="825" dirty="0"/>
          </a:p>
        </p:txBody>
      </p:sp>
      <p:sp>
        <p:nvSpPr>
          <p:cNvPr id="38" name="Text 27"/>
          <p:cNvSpPr txBox="1"/>
          <p:nvPr/>
        </p:nvSpPr>
        <p:spPr>
          <a:xfrm>
            <a:off x="6515100" y="4876495"/>
            <a:ext cx="2317090" cy="914400"/>
          </a:xfrm>
          <a:prstGeom prst="rect">
            <a:avLst/>
          </a:prstGeom>
          <a:noFill/>
          <a:ln/>
        </p:spPr>
        <p:txBody>
          <a:bodyPr wrap="none" lIns="0" tIns="0" rIns="0" bIns="0" rtlCol="0" anchor="ctr"/>
          <a:lstStyle/>
          <a:p>
            <a:pPr algn="l" indent="0" marL="0">
              <a:buNone/>
            </a:pPr>
            <a:r>
              <a:rPr lang="en-US" sz="7200" b="1" spc="-288" kern="0" dirty="0">
                <a:solidFill>
                  <a:srgbClr val="E8EDF5"/>
                </a:solidFill>
                <a:latin typeface="Inter" pitchFamily="34" charset="0"/>
                <a:ea typeface="Inter" pitchFamily="34" charset="-122"/>
                <a:cs typeface="Inter" pitchFamily="34" charset="-120"/>
              </a:rPr>
              <a:t>28.8</a:t>
            </a:r>
            <a:endParaRPr lang="en-US" sz="7200" dirty="0"/>
          </a:p>
        </p:txBody>
      </p:sp>
      <p:sp>
        <p:nvSpPr>
          <p:cNvPr id="39" name="Text 28"/>
          <p:cNvSpPr txBox="1"/>
          <p:nvPr/>
        </p:nvSpPr>
        <p:spPr>
          <a:xfrm>
            <a:off x="8588959" y="5391302"/>
            <a:ext cx="183794" cy="342900"/>
          </a:xfrm>
          <a:prstGeom prst="rect">
            <a:avLst/>
          </a:prstGeom>
          <a:noFill/>
          <a:ln/>
        </p:spPr>
        <p:txBody>
          <a:bodyPr wrap="none" lIns="0" tIns="0" rIns="0" bIns="0" rtlCol="0" anchor="ctr"/>
          <a:lstStyle/>
          <a:p>
            <a:pPr algn="l" indent="0" marL="0">
              <a:buNone/>
            </a:pPr>
            <a:r>
              <a:rPr lang="en-US" sz="2250" b="1" dirty="0">
                <a:solidFill>
                  <a:srgbClr val="FB923C"/>
                </a:solidFill>
                <a:latin typeface="Inter" pitchFamily="34" charset="0"/>
                <a:ea typeface="Inter" pitchFamily="34" charset="-122"/>
                <a:cs typeface="Inter" pitchFamily="34" charset="-120"/>
              </a:rPr>
              <a:t>s</a:t>
            </a:r>
            <a:endParaRPr lang="en-US" sz="2250" dirty="0"/>
          </a:p>
        </p:txBody>
      </p:sp>
      <p:sp>
        <p:nvSpPr>
          <p:cNvPr id="40" name="Text 29"/>
          <p:cNvSpPr txBox="1"/>
          <p:nvPr/>
        </p:nvSpPr>
        <p:spPr>
          <a:xfrm>
            <a:off x="6705295" y="5848502"/>
            <a:ext cx="3238805" cy="609905"/>
          </a:xfrm>
          <a:prstGeom prst="rect">
            <a:avLst/>
          </a:prstGeom>
          <a:noFill/>
          <a:ln/>
        </p:spPr>
        <p:txBody>
          <a:bodyPr wrap="none" lIns="0" tIns="0" rIns="0" bIns="0" rtlCol="0" anchor="ctr"/>
          <a:lstStyle/>
          <a:p>
            <a:pPr algn="l" indent="0" marL="0">
              <a:buNone/>
            </a:pPr>
            <a:r>
              <a:rPr lang="en-US" sz="825" b="1" spc="198" kern="0" dirty="0">
                <a:solidFill>
                  <a:srgbClr val="94A3B8"/>
                </a:solidFill>
                <a:latin typeface="JetBrains Mono" pitchFamily="34" charset="0"/>
                <a:ea typeface="JetBrains Mono" pitchFamily="34" charset="-122"/>
                <a:cs typeface="JetBrains Mono" pitchFamily="34" charset="-120"/>
              </a:rPr>
              <a:t>DEPTH ≈ 138 nm · +15%</a:t>
            </a:r>
            <a:endParaRPr lang="en-US" sz="825" dirty="0"/>
          </a:p>
        </p:txBody>
      </p:sp>
      <p:sp>
        <p:nvSpPr>
          <p:cNvPr id="41" name="Text 30"/>
          <p:cNvSpPr txBox="1"/>
          <p:nvPr/>
        </p:nvSpPr>
        <p:spPr>
          <a:xfrm>
            <a:off x="6515100" y="6687007"/>
            <a:ext cx="5010912"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중간 depth split · W1 대비 14.9% 깊이 증가 가정 · 1차 screening용.</a:t>
            </a:r>
            <a:endParaRPr lang="en-US" sz="1050" dirty="0"/>
          </a:p>
        </p:txBody>
      </p:sp>
      <p:sp>
        <p:nvSpPr>
          <p:cNvPr id="42" name="Text 31"/>
          <p:cNvSpPr txBox="1"/>
          <p:nvPr/>
        </p:nvSpPr>
        <p:spPr>
          <a:xfrm>
            <a:off x="12039905" y="4114800"/>
            <a:ext cx="762610" cy="305410"/>
          </a:xfrm>
          <a:prstGeom prst="rect">
            <a:avLst/>
          </a:prstGeom>
          <a:noFill/>
          <a:ln/>
        </p:spPr>
        <p:txBody>
          <a:bodyPr wrap="none" lIns="0" tIns="0" rIns="0" bIns="0" rtlCol="0" anchor="ctr"/>
          <a:lstStyle/>
          <a:p>
            <a:pPr algn="ctr" indent="0" marL="0">
              <a:buNone/>
            </a:pPr>
            <a:r>
              <a:rPr lang="en-US" sz="975" b="1" dirty="0">
                <a:solidFill>
                  <a:srgbClr val="F472B6"/>
                </a:solidFill>
                <a:latin typeface="JetBrains Mono" pitchFamily="34" charset="0"/>
                <a:ea typeface="JetBrains Mono" pitchFamily="34" charset="-122"/>
                <a:cs typeface="JetBrains Mono" pitchFamily="34" charset="-120"/>
              </a:rPr>
              <a:t>W3</a:t>
            </a:r>
            <a:endParaRPr lang="en-US" sz="975" dirty="0"/>
          </a:p>
        </p:txBody>
      </p:sp>
      <p:sp>
        <p:nvSpPr>
          <p:cNvPr id="43" name="Text 32"/>
          <p:cNvSpPr txBox="1"/>
          <p:nvPr/>
        </p:nvSpPr>
        <p:spPr>
          <a:xfrm>
            <a:off x="12954305" y="4114800"/>
            <a:ext cx="2857500" cy="247802"/>
          </a:xfrm>
          <a:prstGeom prst="rect">
            <a:avLst/>
          </a:prstGeom>
          <a:noFill/>
          <a:ln/>
        </p:spPr>
        <p:txBody>
          <a:bodyPr wrap="none" lIns="0" tIns="0" rIns="0" bIns="0" rtlCol="0" anchor="ctr"/>
          <a:lstStyle/>
          <a:p>
            <a:pPr algn="l" indent="0" marL="0">
              <a:buNone/>
            </a:pPr>
            <a:r>
              <a:rPr lang="en-US" sz="1650" b="1" dirty="0">
                <a:solidFill>
                  <a:srgbClr val="E8EDF5"/>
                </a:solidFill>
                <a:latin typeface="Inter" pitchFamily="34" charset="0"/>
                <a:ea typeface="Inter" pitchFamily="34" charset="-122"/>
                <a:cs typeface="Inter" pitchFamily="34" charset="-120"/>
              </a:rPr>
              <a:t>+30% ETCH</a:t>
            </a:r>
            <a:endParaRPr lang="en-US" sz="1650" dirty="0"/>
          </a:p>
        </p:txBody>
      </p:sp>
      <p:sp>
        <p:nvSpPr>
          <p:cNvPr id="44" name="Text 33"/>
          <p:cNvSpPr txBox="1"/>
          <p:nvPr/>
        </p:nvSpPr>
        <p:spPr>
          <a:xfrm>
            <a:off x="12039905" y="4629607"/>
            <a:ext cx="3810305" cy="133502"/>
          </a:xfrm>
          <a:prstGeom prst="rect">
            <a:avLst/>
          </a:prstGeom>
          <a:noFill/>
          <a:ln/>
        </p:spPr>
        <p:txBody>
          <a:bodyPr wrap="none" lIns="0" tIns="0" rIns="0" bIns="0" rtlCol="0" anchor="ctr"/>
          <a:lstStyle/>
          <a:p>
            <a:pPr algn="l" indent="0" marL="0">
              <a:buNone/>
            </a:pPr>
            <a:r>
              <a:rPr lang="en-US" sz="825" b="1" spc="247" kern="0" dirty="0">
                <a:solidFill>
                  <a:srgbClr val="64748B"/>
                </a:solidFill>
                <a:latin typeface="JetBrains Mono" pitchFamily="34" charset="0"/>
                <a:ea typeface="JetBrains Mono" pitchFamily="34" charset="-122"/>
                <a:cs typeface="JetBrains Mono" pitchFamily="34" charset="-120"/>
              </a:rPr>
              <a:t>ETCH TIME</a:t>
            </a:r>
            <a:endParaRPr lang="en-US" sz="825" dirty="0"/>
          </a:p>
        </p:txBody>
      </p:sp>
      <p:sp>
        <p:nvSpPr>
          <p:cNvPr id="45" name="Text 34"/>
          <p:cNvSpPr txBox="1"/>
          <p:nvPr/>
        </p:nvSpPr>
        <p:spPr>
          <a:xfrm>
            <a:off x="12039905" y="4876495"/>
            <a:ext cx="2318004" cy="914400"/>
          </a:xfrm>
          <a:prstGeom prst="rect">
            <a:avLst/>
          </a:prstGeom>
          <a:noFill/>
          <a:ln/>
        </p:spPr>
        <p:txBody>
          <a:bodyPr wrap="none" lIns="0" tIns="0" rIns="0" bIns="0" rtlCol="0" anchor="ctr"/>
          <a:lstStyle/>
          <a:p>
            <a:pPr algn="l" indent="0" marL="0">
              <a:buNone/>
            </a:pPr>
            <a:r>
              <a:rPr lang="en-US" sz="7200" b="1" spc="-288" kern="0" dirty="0">
                <a:solidFill>
                  <a:srgbClr val="E8EDF5"/>
                </a:solidFill>
                <a:latin typeface="Inter" pitchFamily="34" charset="0"/>
                <a:ea typeface="Inter" pitchFamily="34" charset="-122"/>
                <a:cs typeface="Inter" pitchFamily="34" charset="-120"/>
              </a:rPr>
              <a:t>32.5</a:t>
            </a:r>
            <a:endParaRPr lang="en-US" sz="7200" dirty="0"/>
          </a:p>
        </p:txBody>
      </p:sp>
      <p:sp>
        <p:nvSpPr>
          <p:cNvPr id="46" name="Text 35"/>
          <p:cNvSpPr txBox="1"/>
          <p:nvPr/>
        </p:nvSpPr>
        <p:spPr>
          <a:xfrm>
            <a:off x="14123822" y="5391302"/>
            <a:ext cx="183794" cy="342900"/>
          </a:xfrm>
          <a:prstGeom prst="rect">
            <a:avLst/>
          </a:prstGeom>
          <a:noFill/>
          <a:ln/>
        </p:spPr>
        <p:txBody>
          <a:bodyPr wrap="none" lIns="0" tIns="0" rIns="0" bIns="0" rtlCol="0" anchor="ctr"/>
          <a:lstStyle/>
          <a:p>
            <a:pPr algn="l" indent="0" marL="0">
              <a:buNone/>
            </a:pPr>
            <a:r>
              <a:rPr lang="en-US" sz="2250" b="1" dirty="0">
                <a:solidFill>
                  <a:srgbClr val="F472B6"/>
                </a:solidFill>
                <a:latin typeface="Inter" pitchFamily="34" charset="0"/>
                <a:ea typeface="Inter" pitchFamily="34" charset="-122"/>
                <a:cs typeface="Inter" pitchFamily="34" charset="-120"/>
              </a:rPr>
              <a:t>s</a:t>
            </a:r>
            <a:endParaRPr lang="en-US" sz="2250" dirty="0"/>
          </a:p>
        </p:txBody>
      </p:sp>
      <p:sp>
        <p:nvSpPr>
          <p:cNvPr id="47" name="Text 36"/>
          <p:cNvSpPr txBox="1"/>
          <p:nvPr/>
        </p:nvSpPr>
        <p:spPr>
          <a:xfrm>
            <a:off x="12230100" y="5848502"/>
            <a:ext cx="3810305" cy="609905"/>
          </a:xfrm>
          <a:prstGeom prst="rect">
            <a:avLst/>
          </a:prstGeom>
          <a:noFill/>
          <a:ln/>
        </p:spPr>
        <p:txBody>
          <a:bodyPr wrap="none" lIns="0" tIns="0" rIns="0" bIns="0" rtlCol="0" anchor="ctr"/>
          <a:lstStyle/>
          <a:p>
            <a:pPr algn="l" indent="0" marL="0">
              <a:buNone/>
            </a:pPr>
            <a:r>
              <a:rPr lang="en-US" sz="825" b="1" spc="198" kern="0" dirty="0">
                <a:solidFill>
                  <a:srgbClr val="94A3B8"/>
                </a:solidFill>
                <a:latin typeface="JetBrains Mono" pitchFamily="34" charset="0"/>
                <a:ea typeface="JetBrains Mono" pitchFamily="34" charset="-122"/>
                <a:cs typeface="JetBrains Mono" pitchFamily="34" charset="-120"/>
              </a:rPr>
              <a:t>DEPTH ≈ 156 nm · +30%</a:t>
            </a:r>
            <a:endParaRPr lang="en-US" sz="825" dirty="0"/>
          </a:p>
        </p:txBody>
      </p:sp>
      <p:sp>
        <p:nvSpPr>
          <p:cNvPr id="48" name="Text 37"/>
          <p:cNvSpPr txBox="1"/>
          <p:nvPr/>
        </p:nvSpPr>
        <p:spPr>
          <a:xfrm>
            <a:off x="12039905" y="6687007"/>
            <a:ext cx="5143500"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한계 split · over-etch 상태 모사 · plasma damage 영향 watch 항목.</a:t>
            </a:r>
            <a:endParaRPr lang="en-US" sz="1050" dirty="0"/>
          </a:p>
        </p:txBody>
      </p:sp>
      <p:sp>
        <p:nvSpPr>
          <p:cNvPr id="49" name="Text 38"/>
          <p:cNvSpPr txBox="1"/>
          <p:nvPr/>
        </p:nvSpPr>
        <p:spPr>
          <a:xfrm>
            <a:off x="1047902" y="8134502"/>
            <a:ext cx="3810305" cy="133502"/>
          </a:xfrm>
          <a:prstGeom prst="rect">
            <a:avLst/>
          </a:prstGeom>
          <a:noFill/>
          <a:ln/>
        </p:spPr>
        <p:txBody>
          <a:bodyPr wrap="none" lIns="0" tIns="0" rIns="0" bIns="0" rtlCol="0" anchor="ctr"/>
          <a:lstStyle/>
          <a:p>
            <a:pPr algn="l" indent="0" marL="0">
              <a:buNone/>
            </a:pPr>
            <a:r>
              <a:rPr lang="en-US" sz="825" b="1" spc="247" kern="0" dirty="0">
                <a:solidFill>
                  <a:srgbClr val="94A3B8"/>
                </a:solidFill>
                <a:latin typeface="JetBrains Mono" pitchFamily="34" charset="0"/>
                <a:ea typeface="JetBrains Mono" pitchFamily="34" charset="-122"/>
                <a:cs typeface="JetBrains Mono" pitchFamily="34" charset="-120"/>
              </a:rPr>
              <a:t>SHARED CONDITIONS</a:t>
            </a:r>
            <a:endParaRPr lang="en-US" sz="825" dirty="0"/>
          </a:p>
        </p:txBody>
      </p:sp>
      <p:sp>
        <p:nvSpPr>
          <p:cNvPr id="50" name="Text 39"/>
          <p:cNvSpPr txBox="1"/>
          <p:nvPr/>
        </p:nvSpPr>
        <p:spPr>
          <a:xfrm>
            <a:off x="1047902" y="8354873"/>
            <a:ext cx="3810305" cy="577901"/>
          </a:xfrm>
          <a:prstGeom prst="rect">
            <a:avLst/>
          </a:prstGeom>
          <a:noFill/>
          <a:ln/>
        </p:spPr>
        <p:txBody>
          <a:bodyPr wrap="square" lIns="0" tIns="0" rIns="0" bIns="0" rtlCol="0" anchor="t"/>
          <a:lstStyle/>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동일 chamber lock · base pressure &lt; 1e-7 Torr</a:t>
            </a:r>
            <a:pPr algn="l" indent="0" marL="0">
              <a:lnSpc>
                <a:spcPts val="2081"/>
              </a:lnSpc>
              <a:buNone/>
            </a:pPr>
            <a:endParaRPr lang="en-US" sz="1125" dirty="0"/>
          </a:p>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OES endpoint detection 사용 · over-etch 8%</a:t>
            </a:r>
            <a:endParaRPr lang="en-US" sz="1125" dirty="0"/>
          </a:p>
        </p:txBody>
      </p:sp>
      <p:sp>
        <p:nvSpPr>
          <p:cNvPr id="51" name="Text 40"/>
          <p:cNvSpPr txBox="1"/>
          <p:nvPr/>
        </p:nvSpPr>
        <p:spPr>
          <a:xfrm>
            <a:off x="5333695" y="8134502"/>
            <a:ext cx="5715000" cy="133502"/>
          </a:xfrm>
          <a:prstGeom prst="rect">
            <a:avLst/>
          </a:prstGeom>
          <a:noFill/>
          <a:ln/>
        </p:spPr>
        <p:txBody>
          <a:bodyPr wrap="none" lIns="0" tIns="0" rIns="0" bIns="0" rtlCol="0" anchor="ctr"/>
          <a:lstStyle/>
          <a:p>
            <a:pPr algn="l" indent="0" marL="0">
              <a:buNone/>
            </a:pPr>
            <a:r>
              <a:rPr lang="en-US" sz="825" b="1" spc="247" kern="0" dirty="0">
                <a:solidFill>
                  <a:srgbClr val="94A3B8"/>
                </a:solidFill>
                <a:latin typeface="JetBrains Mono" pitchFamily="34" charset="0"/>
                <a:ea typeface="JetBrains Mono" pitchFamily="34" charset="-122"/>
                <a:cs typeface="JetBrains Mono" pitchFamily="34" charset="-120"/>
              </a:rPr>
              <a:t>LOCKED PARAMETERS</a:t>
            </a:r>
            <a:endParaRPr lang="en-US" sz="825" dirty="0"/>
          </a:p>
        </p:txBody>
      </p:sp>
      <p:sp>
        <p:nvSpPr>
          <p:cNvPr id="52" name="Text 41"/>
          <p:cNvSpPr txBox="1"/>
          <p:nvPr/>
        </p:nvSpPr>
        <p:spPr>
          <a:xfrm>
            <a:off x="5333695" y="8354873"/>
            <a:ext cx="5715000" cy="577901"/>
          </a:xfrm>
          <a:prstGeom prst="rect">
            <a:avLst/>
          </a:prstGeom>
          <a:noFill/>
          <a:ln/>
        </p:spPr>
        <p:txBody>
          <a:bodyPr wrap="square" lIns="0" tIns="0" rIns="0" bIns="0" rtlCol="0" anchor="t"/>
          <a:lstStyle/>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RF power / pressure / gas flow 동일</a:t>
            </a:r>
            <a:pPr algn="l" indent="0" marL="0">
              <a:lnSpc>
                <a:spcPts val="2081"/>
              </a:lnSpc>
              <a:buNone/>
            </a:pPr>
            <a:endParaRPr lang="en-US" sz="1125" dirty="0"/>
          </a:p>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SiCN cap / Cu seed / barrier PVD 구성 동일</a:t>
            </a:r>
            <a:endParaRPr lang="en-US" sz="1125" dirty="0"/>
          </a:p>
        </p:txBody>
      </p:sp>
      <p:sp>
        <p:nvSpPr>
          <p:cNvPr id="53" name="Text 42"/>
          <p:cNvSpPr txBox="1"/>
          <p:nvPr/>
        </p:nvSpPr>
        <p:spPr>
          <a:xfrm>
            <a:off x="11239805" y="8134502"/>
            <a:ext cx="5715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VARIABLE</a:t>
            </a:r>
            <a:endParaRPr lang="en-US" sz="825" dirty="0"/>
          </a:p>
        </p:txBody>
      </p:sp>
      <p:sp>
        <p:nvSpPr>
          <p:cNvPr id="54" name="Text 43"/>
          <p:cNvSpPr txBox="1"/>
          <p:nvPr/>
        </p:nvSpPr>
        <p:spPr>
          <a:xfrm>
            <a:off x="11239805" y="8354873"/>
            <a:ext cx="5715000" cy="577901"/>
          </a:xfrm>
          <a:prstGeom prst="rect">
            <a:avLst/>
          </a:prstGeom>
          <a:noFill/>
          <a:ln/>
        </p:spPr>
        <p:txBody>
          <a:bodyPr wrap="square" lIns="0" tIns="0" rIns="0" bIns="0" rtlCol="0" anchor="t"/>
          <a:lstStyle/>
          <a:p>
            <a:pPr algn="l" indent="0" marL="0">
              <a:lnSpc>
                <a:spcPts val="2081"/>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081"/>
              </a:lnSpc>
              <a:buNone/>
            </a:pPr>
            <a:r>
              <a:rPr lang="en-US" sz="1125" dirty="0">
                <a:solidFill>
                  <a:srgbClr val="E8EDF5"/>
                </a:solidFill>
                <a:latin typeface="Inter" pitchFamily="34" charset="0"/>
                <a:ea typeface="Inter" pitchFamily="34" charset="-122"/>
                <a:cs typeface="Inter" pitchFamily="34" charset="-120"/>
              </a:rPr>
              <a:t>· Main etch step time만 조정 · step 1·3·4 lock</a:t>
            </a:r>
            <a:pPr algn="l" indent="0" marL="0">
              <a:lnSpc>
                <a:spcPts val="2081"/>
              </a:lnSpc>
              <a:buNone/>
            </a:pPr>
            <a:endParaRPr lang="en-US" sz="1125" dirty="0"/>
          </a:p>
          <a:p>
            <a:pPr algn="l" indent="0" marL="0">
              <a:lnSpc>
                <a:spcPts val="2081"/>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081"/>
              </a:lnSpc>
              <a:buNone/>
            </a:pPr>
            <a:r>
              <a:rPr lang="en-US" sz="1125" dirty="0">
                <a:solidFill>
                  <a:srgbClr val="E8EDF5"/>
                </a:solidFill>
                <a:latin typeface="Inter" pitchFamily="34" charset="0"/>
                <a:ea typeface="Inter" pitchFamily="34" charset="-122"/>
                <a:cs typeface="Inter" pitchFamily="34" charset="-120"/>
              </a:rPr>
              <a:t>· W2/W3 동일 chamber, W1 다음 slot 즉시 인출</a:t>
            </a:r>
            <a:endParaRPr lang="en-US" sz="1125" dirty="0"/>
          </a:p>
        </p:txBody>
      </p:sp>
      <p:pic>
        <p:nvPicPr>
          <p:cNvPr id="55" name="Image 8" descr="gen-dedup-41df4fb73e13824d9bf43e735c70451d.png">    </p:cNvPr>
          <p:cNvPicPr>
            <a:picLocks noChangeAspect="1"/>
          </p:cNvPicPr>
          <p:nvPr/>
        </p:nvPicPr>
        <p:blipFill>
          <a:blip r:embed="rId9"/>
          <a:srcRect l="-2029" r="-2029" t="0" b="0"/>
          <a:stretch/>
        </p:blipFill>
        <p:spPr>
          <a:xfrm>
            <a:off x="761695" y="10067544"/>
            <a:ext cx="304495" cy="9144"/>
          </a:xfrm>
          <a:prstGeom prst="rect">
            <a:avLst/>
          </a:prstGeom>
        </p:spPr>
      </p:pic>
      <p:sp>
        <p:nvSpPr>
          <p:cNvPr id="56" name="Text 44"/>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B"/>
        </a:solidFill>
      </p:bgPr>
    </p:bg>
    <p:spTree>
      <p:nvGrpSpPr>
        <p:cNvPr id="1" name=""/>
        <p:cNvGrpSpPr/>
        <p:nvPr/>
      </p:nvGrpSpPr>
      <p:grpSpPr>
        <a:xfrm>
          <a:off x="0" y="0"/>
          <a:ext cx="0" cy="0"/>
          <a:chOff x="0" y="0"/>
          <a:chExt cx="0" cy="0"/>
        </a:xfrm>
      </p:grpSpPr>
      <p:pic>
        <p:nvPicPr>
          <p:cNvPr id="3" name="Image 0" descr="gen-dedup-48b0ab256f45affea9d2a3065874d80c.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c12f935762f9f810f353e728dbbb4aea.png">    </p:cNvPr>
          <p:cNvPicPr>
            <a:picLocks noChangeAspect="1"/>
          </p:cNvPicPr>
          <p:nvPr/>
        </p:nvPicPr>
        <p:blipFill>
          <a:blip r:embed="rId2"/>
          <a:srcRect l="0" r="0" t="-401" b="-401"/>
          <a:stretch/>
        </p:blipFill>
        <p:spPr>
          <a:xfrm>
            <a:off x="1143000" y="3238805"/>
            <a:ext cx="16192195" cy="19202"/>
          </a:xfrm>
          <a:prstGeom prst="rect">
            <a:avLst/>
          </a:prstGeom>
        </p:spPr>
      </p:pic>
      <p:sp>
        <p:nvSpPr>
          <p:cNvPr id="5" name="Shape 0"/>
          <p:cNvSpPr/>
          <p:nvPr/>
        </p:nvSpPr>
        <p:spPr>
          <a:xfrm>
            <a:off x="1123798" y="2743200"/>
            <a:ext cx="2115007" cy="2115007"/>
          </a:xfrm>
          <a:prstGeom prst="rect">
            <a:avLst/>
          </a:prstGeom>
          <a:solidFill>
            <a:srgbClr val="141A28"/>
          </a:solidFill>
          <a:ln w="12700">
            <a:solidFill>
              <a:srgbClr val="2A3550"/>
            </a:solidFill>
            <a:prstDash val="solid"/>
          </a:ln>
        </p:spPr>
      </p:sp>
      <p:sp>
        <p:nvSpPr>
          <p:cNvPr id="6" name="Shape 1"/>
          <p:cNvSpPr/>
          <p:nvPr/>
        </p:nvSpPr>
        <p:spPr>
          <a:xfrm>
            <a:off x="3847795" y="2743200"/>
            <a:ext cx="2115007" cy="2115007"/>
          </a:xfrm>
          <a:prstGeom prst="rect">
            <a:avLst/>
          </a:prstGeom>
          <a:solidFill>
            <a:srgbClr val="141A28"/>
          </a:solidFill>
          <a:ln w="12700">
            <a:solidFill>
              <a:srgbClr val="2A3550"/>
            </a:solidFill>
            <a:prstDash val="solid"/>
          </a:ln>
        </p:spPr>
      </p:sp>
      <p:sp>
        <p:nvSpPr>
          <p:cNvPr id="7" name="Shape 2"/>
          <p:cNvSpPr/>
          <p:nvPr/>
        </p:nvSpPr>
        <p:spPr>
          <a:xfrm>
            <a:off x="9486900" y="2743200"/>
            <a:ext cx="2115007" cy="2115007"/>
          </a:xfrm>
          <a:prstGeom prst="rect">
            <a:avLst/>
          </a:prstGeom>
          <a:solidFill>
            <a:srgbClr val="141A28"/>
          </a:solidFill>
          <a:ln w="12700">
            <a:solidFill>
              <a:srgbClr val="2A3550"/>
            </a:solidFill>
            <a:prstDash val="solid"/>
          </a:ln>
        </p:spPr>
      </p:sp>
      <p:sp>
        <p:nvSpPr>
          <p:cNvPr id="8" name="Shape 3"/>
          <p:cNvSpPr/>
          <p:nvPr/>
        </p:nvSpPr>
        <p:spPr>
          <a:xfrm>
            <a:off x="12210898" y="2743200"/>
            <a:ext cx="2115007" cy="2115007"/>
          </a:xfrm>
          <a:prstGeom prst="rect">
            <a:avLst/>
          </a:prstGeom>
          <a:solidFill>
            <a:srgbClr val="141A28"/>
          </a:solidFill>
          <a:ln w="12700">
            <a:solidFill>
              <a:srgbClr val="2A3550"/>
            </a:solidFill>
            <a:prstDash val="solid"/>
          </a:ln>
        </p:spPr>
      </p:sp>
      <p:pic>
        <p:nvPicPr>
          <p:cNvPr id="9" name="Image 2" descr="gen-dedup-1c0b1de77cc27cd4c7348f385c8440b8.png">    </p:cNvPr>
          <p:cNvPicPr>
            <a:picLocks noChangeAspect="1"/>
          </p:cNvPicPr>
          <p:nvPr/>
        </p:nvPicPr>
        <p:blipFill>
          <a:blip r:embed="rId3"/>
          <a:srcRect l="0" r="0" t="-8" b="-8"/>
          <a:stretch/>
        </p:blipFill>
        <p:spPr>
          <a:xfrm>
            <a:off x="14934895" y="2743200"/>
            <a:ext cx="2305202" cy="2115007"/>
          </a:xfrm>
          <a:prstGeom prst="rect">
            <a:avLst/>
          </a:prstGeom>
        </p:spPr>
      </p:pic>
      <p:sp>
        <p:nvSpPr>
          <p:cNvPr id="10" name="Shape 4"/>
          <p:cNvSpPr/>
          <p:nvPr/>
        </p:nvSpPr>
        <p:spPr>
          <a:xfrm>
            <a:off x="761695" y="5715000"/>
            <a:ext cx="16782898" cy="3638398"/>
          </a:xfrm>
          <a:prstGeom prst="rect">
            <a:avLst/>
          </a:prstGeom>
          <a:solidFill>
            <a:srgbClr val="141A28"/>
          </a:solidFill>
          <a:ln w="12700">
            <a:solidFill>
              <a:srgbClr val="1F2A40"/>
            </a:solidFill>
            <a:prstDash val="solid"/>
          </a:ln>
        </p:spPr>
      </p:sp>
      <p:sp>
        <p:nvSpPr>
          <p:cNvPr id="11" name="Shape 5"/>
          <p:cNvSpPr/>
          <p:nvPr/>
        </p:nvSpPr>
        <p:spPr>
          <a:xfrm rot="2700000">
            <a:off x="3372307" y="3676802"/>
            <a:ext cx="286207" cy="171907"/>
          </a:xfrm>
          <a:prstGeom prst="rect">
            <a:avLst/>
          </a:prstGeom>
          <a:solidFill>
            <a:srgbClr val="5EEAD4"/>
          </a:solidFill>
          <a:ln w="12700">
            <a:solidFill>
              <a:srgbClr val="FFFFFF">
                <a:alpha val="0"/>
              </a:srgbClr>
            </a:solidFill>
            <a:prstDash val="solid"/>
          </a:ln>
        </p:spPr>
      </p:sp>
      <p:sp>
        <p:nvSpPr>
          <p:cNvPr id="12" name="Shape 6"/>
          <p:cNvSpPr/>
          <p:nvPr/>
        </p:nvSpPr>
        <p:spPr>
          <a:xfrm rot="2700000">
            <a:off x="6096305" y="3676802"/>
            <a:ext cx="286207" cy="171907"/>
          </a:xfrm>
          <a:prstGeom prst="rect">
            <a:avLst/>
          </a:prstGeom>
          <a:solidFill>
            <a:srgbClr val="5EEAD4"/>
          </a:solidFill>
          <a:ln w="12700">
            <a:solidFill>
              <a:srgbClr val="FFFFFF">
                <a:alpha val="0"/>
              </a:srgbClr>
            </a:solidFill>
            <a:prstDash val="solid"/>
          </a:ln>
        </p:spPr>
      </p:sp>
      <p:sp>
        <p:nvSpPr>
          <p:cNvPr id="13" name="Shape 7"/>
          <p:cNvSpPr/>
          <p:nvPr/>
        </p:nvSpPr>
        <p:spPr>
          <a:xfrm rot="2700000">
            <a:off x="8973007" y="3676802"/>
            <a:ext cx="286207" cy="171907"/>
          </a:xfrm>
          <a:prstGeom prst="rect">
            <a:avLst/>
          </a:prstGeom>
          <a:solidFill>
            <a:srgbClr val="FB923C"/>
          </a:solidFill>
          <a:ln w="12700">
            <a:solidFill>
              <a:srgbClr val="FFFFFF">
                <a:alpha val="0"/>
              </a:srgbClr>
            </a:solidFill>
            <a:prstDash val="solid"/>
          </a:ln>
        </p:spPr>
      </p:sp>
      <p:sp>
        <p:nvSpPr>
          <p:cNvPr id="14" name="Shape 8"/>
          <p:cNvSpPr/>
          <p:nvPr/>
        </p:nvSpPr>
        <p:spPr>
          <a:xfrm rot="2700000">
            <a:off x="11734495" y="3676802"/>
            <a:ext cx="286207" cy="171907"/>
          </a:xfrm>
          <a:prstGeom prst="rect">
            <a:avLst/>
          </a:prstGeom>
          <a:solidFill>
            <a:srgbClr val="5EEAD4"/>
          </a:solidFill>
          <a:ln w="12700">
            <a:solidFill>
              <a:srgbClr val="FFFFFF">
                <a:alpha val="0"/>
              </a:srgbClr>
            </a:solidFill>
            <a:prstDash val="solid"/>
          </a:ln>
        </p:spPr>
      </p:sp>
      <p:sp>
        <p:nvSpPr>
          <p:cNvPr id="15" name="Shape 9"/>
          <p:cNvSpPr/>
          <p:nvPr/>
        </p:nvSpPr>
        <p:spPr>
          <a:xfrm rot="2700000">
            <a:off x="14459407" y="3676802"/>
            <a:ext cx="286207" cy="171907"/>
          </a:xfrm>
          <a:prstGeom prst="rect">
            <a:avLst/>
          </a:prstGeom>
          <a:solidFill>
            <a:srgbClr val="5EEAD4"/>
          </a:solidFill>
          <a:ln w="12700">
            <a:solidFill>
              <a:srgbClr val="FFFFFF">
                <a:alpha val="0"/>
              </a:srgbClr>
            </a:solidFill>
            <a:prstDash val="solid"/>
          </a:ln>
        </p:spPr>
      </p:sp>
      <p:sp>
        <p:nvSpPr>
          <p:cNvPr id="16" name="Shape 10"/>
          <p:cNvSpPr/>
          <p:nvPr/>
        </p:nvSpPr>
        <p:spPr>
          <a:xfrm>
            <a:off x="1047902" y="6458407"/>
            <a:ext cx="16211398" cy="2686507"/>
          </a:xfrm>
          <a:prstGeom prst="rect">
            <a:avLst/>
          </a:prstGeom>
          <a:solidFill>
            <a:srgbClr val="0F1424"/>
          </a:solidFill>
          <a:ln w="12700">
            <a:solidFill>
              <a:srgbClr val="1F2A40"/>
            </a:solidFill>
            <a:prstDash val="solid"/>
          </a:ln>
        </p:spPr>
      </p:sp>
      <p:pic>
        <p:nvPicPr>
          <p:cNvPr id="17" name="Image 3" descr="gen-dedup-0dc5a52b54a94a5813d4104db489de86.png">    </p:cNvPr>
          <p:cNvPicPr>
            <a:picLocks noChangeAspect="1"/>
          </p:cNvPicPr>
          <p:nvPr/>
        </p:nvPicPr>
        <p:blipFill>
          <a:blip r:embed="rId4"/>
          <a:srcRect l="-6" r="-6" t="0" b="0"/>
          <a:stretch/>
        </p:blipFill>
        <p:spPr>
          <a:xfrm>
            <a:off x="6572707" y="2553005"/>
            <a:ext cx="2305202" cy="2495398"/>
          </a:xfrm>
          <a:prstGeom prst="rect">
            <a:avLst/>
          </a:prstGeom>
        </p:spPr>
      </p:pic>
      <p:sp>
        <p:nvSpPr>
          <p:cNvPr id="18" name="Shape 11"/>
          <p:cNvSpPr/>
          <p:nvPr/>
        </p:nvSpPr>
        <p:spPr>
          <a:xfrm>
            <a:off x="1047902" y="6458407"/>
            <a:ext cx="16192195" cy="457200"/>
          </a:xfrm>
          <a:prstGeom prst="rect">
            <a:avLst/>
          </a:prstGeom>
          <a:solidFill>
            <a:srgbClr val="1A2238"/>
          </a:solidFill>
          <a:ln w="12700">
            <a:solidFill>
              <a:srgbClr val="FFFFFF">
                <a:alpha val="0"/>
              </a:srgbClr>
            </a:solidFill>
            <a:prstDash val="solid"/>
          </a:ln>
        </p:spPr>
      </p:sp>
      <p:pic>
        <p:nvPicPr>
          <p:cNvPr id="19" name="Image 4" descr="gen-dedup-fb7284239b65d37878da76aad5baf72f.png">    </p:cNvPr>
          <p:cNvPicPr>
            <a:picLocks noChangeAspect="1"/>
          </p:cNvPicPr>
          <p:nvPr/>
        </p:nvPicPr>
        <p:blipFill>
          <a:blip r:embed="rId5"/>
          <a:srcRect l="0" r="0" t="-437" b="-437"/>
          <a:stretch/>
        </p:blipFill>
        <p:spPr>
          <a:xfrm>
            <a:off x="761695" y="662026"/>
            <a:ext cx="418795" cy="19202"/>
          </a:xfrm>
          <a:prstGeom prst="rect">
            <a:avLst/>
          </a:prstGeom>
        </p:spPr>
      </p:pic>
      <p:sp>
        <p:nvSpPr>
          <p:cNvPr id="20" name="Text 12"/>
          <p:cNvSpPr txBox="1"/>
          <p:nvPr/>
        </p:nvSpPr>
        <p:spPr>
          <a:xfrm>
            <a:off x="1352398" y="590702"/>
            <a:ext cx="2628900"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03 — PROCESS FLOW</a:t>
            </a:r>
            <a:endParaRPr lang="en-US" sz="975" dirty="0"/>
          </a:p>
        </p:txBody>
      </p:sp>
      <p:sp>
        <p:nvSpPr>
          <p:cNvPr id="21" name="Text 13"/>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03</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2" name="Text 14"/>
          <p:cNvSpPr txBox="1"/>
          <p:nvPr/>
        </p:nvSpPr>
        <p:spPr>
          <a:xfrm>
            <a:off x="761695" y="1238098"/>
            <a:ext cx="12382805" cy="571500"/>
          </a:xfrm>
          <a:prstGeom prst="rect">
            <a:avLst/>
          </a:prstGeom>
          <a:noFill/>
          <a:ln/>
        </p:spPr>
        <p:txBody>
          <a:bodyPr wrap="none" lIns="0" tIns="0" rIns="0" bIns="0" rtlCol="0" anchor="ctr"/>
          <a:lstStyle/>
          <a:p>
            <a:pPr algn="l" indent="0" marL="0">
              <a:buNone/>
            </a:pPr>
            <a:r>
              <a:rPr lang="en-US" sz="4500" b="1" spc="-158" kern="0" dirty="0">
                <a:solidFill>
                  <a:srgbClr val="E8EDF5"/>
                </a:solidFill>
                <a:latin typeface="Inter" pitchFamily="34" charset="0"/>
                <a:ea typeface="Inter" pitchFamily="34" charset="-122"/>
                <a:cs typeface="Inter" pitchFamily="34" charset="-120"/>
              </a:rPr>
              <a:t>M8 단 </a:t>
            </a:r>
            <a:pPr algn="l" indent="0" marL="0">
              <a:buNone/>
            </a:pPr>
            <a:r>
              <a:rPr lang="en-US" sz="4500" b="1" spc="-158" kern="0" dirty="0">
                <a:solidFill>
                  <a:srgbClr val="5EEAD4"/>
                </a:solidFill>
                <a:latin typeface="Inter" pitchFamily="34" charset="0"/>
                <a:ea typeface="Inter" pitchFamily="34" charset="-122"/>
                <a:cs typeface="Inter" pitchFamily="34" charset="-120"/>
              </a:rPr>
              <a:t>Dual-Damascene</a:t>
            </a:r>
            <a:pPr algn="l" indent="0" marL="0">
              <a:buNone/>
            </a:pPr>
            <a:r>
              <a:rPr lang="en-US" sz="4500" b="1" spc="-158" kern="0" dirty="0">
                <a:solidFill>
                  <a:srgbClr val="E8EDF5"/>
                </a:solidFill>
                <a:latin typeface="Inter" pitchFamily="34" charset="0"/>
                <a:ea typeface="Inter" pitchFamily="34" charset="-122"/>
                <a:cs typeface="Inter" pitchFamily="34" charset="-120"/>
              </a:rPr>
              <a:t> flow</a:t>
            </a:r>
            <a:endParaRPr lang="en-US" sz="4500" dirty="0"/>
          </a:p>
        </p:txBody>
      </p:sp>
      <p:sp>
        <p:nvSpPr>
          <p:cNvPr id="23" name="Text 15"/>
          <p:cNvSpPr txBox="1"/>
          <p:nvPr/>
        </p:nvSpPr>
        <p:spPr>
          <a:xfrm>
            <a:off x="761695" y="1962302"/>
            <a:ext cx="12382805" cy="247802"/>
          </a:xfrm>
          <a:prstGeom prst="rect">
            <a:avLst/>
          </a:prstGeom>
          <a:noFill/>
          <a:ln/>
        </p:spPr>
        <p:txBody>
          <a:bodyPr wrap="none" lIns="0" tIns="0" rIns="0" bIns="0" rtlCol="0" anchor="ctr"/>
          <a:lstStyle/>
          <a:p>
            <a:pPr algn="l" indent="0" marL="0">
              <a:buNone/>
            </a:pPr>
            <a:r>
              <a:rPr lang="en-US" sz="1350" dirty="0">
                <a:solidFill>
                  <a:srgbClr val="94A3B8"/>
                </a:solidFill>
                <a:latin typeface="Inter" pitchFamily="34" charset="0"/>
                <a:ea typeface="Inter" pitchFamily="34" charset="-122"/>
                <a:cs typeface="Inter" pitchFamily="34" charset="-120"/>
              </a:rPr>
              <a:t>Via-first dual damascene, low-k k≈2.7 IMD, PVD TaN/Ta + Cu seed 기반 dummy lot sequence.</a:t>
            </a:r>
            <a:endParaRPr lang="en-US" sz="1350" dirty="0"/>
          </a:p>
        </p:txBody>
      </p:sp>
      <p:sp>
        <p:nvSpPr>
          <p:cNvPr id="24" name="Text 16"/>
          <p:cNvSpPr txBox="1"/>
          <p:nvPr/>
        </p:nvSpPr>
        <p:spPr>
          <a:xfrm>
            <a:off x="14097305" y="1333195"/>
            <a:ext cx="3429000" cy="133502"/>
          </a:xfrm>
          <a:prstGeom prst="rect">
            <a:avLst/>
          </a:prstGeom>
          <a:noFill/>
          <a:ln/>
        </p:spPr>
        <p:txBody>
          <a:bodyPr wrap="none" lIns="0" tIns="0" rIns="0" bIns="0" rtlCol="0" anchor="ctr"/>
          <a:lstStyle/>
          <a:p>
            <a:pPr algn="l" indent="0" marL="0">
              <a:buNone/>
            </a:pPr>
            <a:r>
              <a:rPr lang="en-US" sz="825" b="1" spc="231" kern="0" dirty="0">
                <a:solidFill>
                  <a:srgbClr val="94A3B8"/>
                </a:solidFill>
                <a:latin typeface="JetBrains Mono" pitchFamily="34" charset="0"/>
                <a:ea typeface="JetBrains Mono" pitchFamily="34" charset="-122"/>
                <a:cs typeface="JetBrains Mono" pitchFamily="34" charset="-120"/>
              </a:rPr>
              <a:t>FLOW TYPE</a:t>
            </a:r>
            <a:endParaRPr lang="en-US" sz="825" dirty="0"/>
          </a:p>
        </p:txBody>
      </p:sp>
      <p:sp>
        <p:nvSpPr>
          <p:cNvPr id="25" name="Text 17"/>
          <p:cNvSpPr txBox="1"/>
          <p:nvPr/>
        </p:nvSpPr>
        <p:spPr>
          <a:xfrm>
            <a:off x="14097305" y="1600200"/>
            <a:ext cx="3429000" cy="286207"/>
          </a:xfrm>
          <a:prstGeom prst="rect">
            <a:avLst/>
          </a:prstGeom>
          <a:noFill/>
          <a:ln/>
        </p:spPr>
        <p:txBody>
          <a:bodyPr wrap="none" lIns="0" tIns="0" rIns="0" bIns="0" rtlCol="0" anchor="ctr"/>
          <a:lstStyle/>
          <a:p>
            <a:pPr algn="l" indent="0" marL="0">
              <a:buNone/>
            </a:pPr>
            <a:r>
              <a:rPr lang="en-US" sz="2250" b="1" dirty="0">
                <a:solidFill>
                  <a:srgbClr val="FB923C"/>
                </a:solidFill>
                <a:latin typeface="Inter" pitchFamily="34" charset="0"/>
                <a:ea typeface="Inter" pitchFamily="34" charset="-122"/>
                <a:cs typeface="Inter" pitchFamily="34" charset="-120"/>
              </a:rPr>
              <a:t>VIA-FIRST DD</a:t>
            </a:r>
            <a:endParaRPr lang="en-US" sz="2250" dirty="0"/>
          </a:p>
        </p:txBody>
      </p:sp>
      <p:sp>
        <p:nvSpPr>
          <p:cNvPr id="26" name="Text 18"/>
          <p:cNvSpPr txBox="1"/>
          <p:nvPr/>
        </p:nvSpPr>
        <p:spPr>
          <a:xfrm>
            <a:off x="14097305" y="2000707"/>
            <a:ext cx="3429000"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Split focus: trench main etch step only.</a:t>
            </a:r>
            <a:endParaRPr lang="en-US" sz="1050" dirty="0"/>
          </a:p>
        </p:txBody>
      </p:sp>
      <p:sp>
        <p:nvSpPr>
          <p:cNvPr id="27" name="Text 19"/>
          <p:cNvSpPr txBox="1"/>
          <p:nvPr/>
        </p:nvSpPr>
        <p:spPr>
          <a:xfrm>
            <a:off x="1123798" y="2971800"/>
            <a:ext cx="2095805" cy="162763"/>
          </a:xfrm>
          <a:prstGeom prst="rect">
            <a:avLst/>
          </a:prstGeom>
          <a:noFill/>
          <a:ln/>
        </p:spPr>
        <p:txBody>
          <a:bodyPr wrap="none" lIns="0" tIns="0" rIns="0" bIns="0" rtlCol="0" anchor="ctr"/>
          <a:lstStyle/>
          <a:p>
            <a:pPr algn="ctr" indent="0" marL="0">
              <a:buNone/>
            </a:pPr>
            <a:r>
              <a:rPr lang="en-US" sz="975" b="1" dirty="0">
                <a:solidFill>
                  <a:srgbClr val="94A3B8"/>
                </a:solidFill>
                <a:latin typeface="JetBrains Mono" pitchFamily="34" charset="0"/>
                <a:ea typeface="JetBrains Mono" pitchFamily="34" charset="-122"/>
                <a:cs typeface="JetBrains Mono" pitchFamily="34" charset="-120"/>
              </a:rPr>
              <a:t>STEP 01</a:t>
            </a:r>
            <a:endParaRPr lang="en-US" sz="975" dirty="0"/>
          </a:p>
        </p:txBody>
      </p:sp>
      <p:sp>
        <p:nvSpPr>
          <p:cNvPr id="28" name="Text 20"/>
          <p:cNvSpPr txBox="1"/>
          <p:nvPr/>
        </p:nvSpPr>
        <p:spPr>
          <a:xfrm>
            <a:off x="1123798" y="3267151"/>
            <a:ext cx="2095805" cy="438912"/>
          </a:xfrm>
          <a:prstGeom prst="rect">
            <a:avLst/>
          </a:prstGeom>
          <a:noFill/>
          <a:ln/>
        </p:spPr>
        <p:txBody>
          <a:bodyPr wrap="none" lIns="0" tIns="0" rIns="0" bIns="0" rtlCol="0" anchor="ctr"/>
          <a:lstStyle/>
          <a:p>
            <a:pPr algn="ctr" indent="0" marL="0">
              <a:buNone/>
            </a:pPr>
            <a:r>
              <a:rPr lang="en-US" sz="3450" b="1" spc="-103" kern="0" dirty="0">
                <a:solidFill>
                  <a:srgbClr val="5EEAD4"/>
                </a:solidFill>
                <a:latin typeface="Inter" pitchFamily="34" charset="0"/>
                <a:ea typeface="Inter" pitchFamily="34" charset="-122"/>
                <a:cs typeface="Inter" pitchFamily="34" charset="-120"/>
              </a:rPr>
              <a:t>LITHO</a:t>
            </a:r>
            <a:endParaRPr lang="en-US" sz="3450" dirty="0"/>
          </a:p>
        </p:txBody>
      </p:sp>
      <p:sp>
        <p:nvSpPr>
          <p:cNvPr id="29" name="Text 21"/>
          <p:cNvSpPr txBox="1"/>
          <p:nvPr/>
        </p:nvSpPr>
        <p:spPr>
          <a:xfrm>
            <a:off x="1123798" y="3824935"/>
            <a:ext cx="2095805" cy="395021"/>
          </a:xfrm>
          <a:prstGeom prst="rect">
            <a:avLst/>
          </a:prstGeom>
          <a:noFill/>
          <a:ln/>
        </p:spPr>
        <p:txBody>
          <a:bodyPr wrap="square" lIns="0" tIns="0" rIns="0" bIns="0" rtlCol="0" anchor="t"/>
          <a:lstStyle/>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Via patterning</a:t>
            </a:r>
            <a:pPr algn="ctr" indent="0" marL="0">
              <a:lnSpc>
                <a:spcPts val="1470"/>
              </a:lnSpc>
              <a:buNone/>
            </a:pPr>
            <a:endParaRPr lang="en-US" sz="1050" dirty="0"/>
          </a:p>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193nm · NTD</a:t>
            </a:r>
            <a:endParaRPr lang="en-US" sz="1050" dirty="0"/>
          </a:p>
        </p:txBody>
      </p:sp>
      <p:sp>
        <p:nvSpPr>
          <p:cNvPr id="30" name="Text 22"/>
          <p:cNvSpPr txBox="1"/>
          <p:nvPr/>
        </p:nvSpPr>
        <p:spPr>
          <a:xfrm>
            <a:off x="3847795" y="2971800"/>
            <a:ext cx="2095805" cy="162763"/>
          </a:xfrm>
          <a:prstGeom prst="rect">
            <a:avLst/>
          </a:prstGeom>
          <a:noFill/>
          <a:ln/>
        </p:spPr>
        <p:txBody>
          <a:bodyPr wrap="none" lIns="0" tIns="0" rIns="0" bIns="0" rtlCol="0" anchor="ctr"/>
          <a:lstStyle/>
          <a:p>
            <a:pPr algn="ctr" indent="0" marL="0">
              <a:buNone/>
            </a:pPr>
            <a:r>
              <a:rPr lang="en-US" sz="975" b="1" dirty="0">
                <a:solidFill>
                  <a:srgbClr val="94A3B8"/>
                </a:solidFill>
                <a:latin typeface="JetBrains Mono" pitchFamily="34" charset="0"/>
                <a:ea typeface="JetBrains Mono" pitchFamily="34" charset="-122"/>
                <a:cs typeface="JetBrains Mono" pitchFamily="34" charset="-120"/>
              </a:rPr>
              <a:t>STEP 02</a:t>
            </a:r>
            <a:endParaRPr lang="en-US" sz="975" dirty="0"/>
          </a:p>
        </p:txBody>
      </p:sp>
      <p:sp>
        <p:nvSpPr>
          <p:cNvPr id="31" name="Text 23"/>
          <p:cNvSpPr txBox="1"/>
          <p:nvPr/>
        </p:nvSpPr>
        <p:spPr>
          <a:xfrm>
            <a:off x="3847795" y="3267151"/>
            <a:ext cx="2095805" cy="438912"/>
          </a:xfrm>
          <a:prstGeom prst="rect">
            <a:avLst/>
          </a:prstGeom>
          <a:noFill/>
          <a:ln/>
        </p:spPr>
        <p:txBody>
          <a:bodyPr wrap="none" lIns="0" tIns="0" rIns="0" bIns="0" rtlCol="0" anchor="ctr"/>
          <a:lstStyle/>
          <a:p>
            <a:pPr algn="ctr" indent="0" marL="0">
              <a:buNone/>
            </a:pPr>
            <a:r>
              <a:rPr lang="en-US" sz="3450" b="1" spc="-103" kern="0" dirty="0">
                <a:solidFill>
                  <a:srgbClr val="5EEAD4"/>
                </a:solidFill>
                <a:latin typeface="Inter" pitchFamily="34" charset="0"/>
                <a:ea typeface="Inter" pitchFamily="34" charset="-122"/>
                <a:cs typeface="Inter" pitchFamily="34" charset="-120"/>
              </a:rPr>
              <a:t>VIA ETCH</a:t>
            </a:r>
            <a:endParaRPr lang="en-US" sz="3450" dirty="0"/>
          </a:p>
        </p:txBody>
      </p:sp>
      <p:sp>
        <p:nvSpPr>
          <p:cNvPr id="32" name="Text 24"/>
          <p:cNvSpPr txBox="1"/>
          <p:nvPr/>
        </p:nvSpPr>
        <p:spPr>
          <a:xfrm>
            <a:off x="3847795" y="3824935"/>
            <a:ext cx="2095805" cy="395021"/>
          </a:xfrm>
          <a:prstGeom prst="rect">
            <a:avLst/>
          </a:prstGeom>
          <a:noFill/>
          <a:ln/>
        </p:spPr>
        <p:txBody>
          <a:bodyPr wrap="square" lIns="0" tIns="0" rIns="0" bIns="0" rtlCol="0" anchor="t"/>
          <a:lstStyle/>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Partial via</a:t>
            </a:r>
            <a:pPr algn="ctr" indent="0" marL="0">
              <a:lnSpc>
                <a:spcPts val="1470"/>
              </a:lnSpc>
              <a:buNone/>
            </a:pPr>
            <a:endParaRPr lang="en-US" sz="1050" dirty="0"/>
          </a:p>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stop on IMD</a:t>
            </a:r>
            <a:endParaRPr lang="en-US" sz="1050" dirty="0"/>
          </a:p>
        </p:txBody>
      </p:sp>
      <p:sp>
        <p:nvSpPr>
          <p:cNvPr id="33" name="Text 25"/>
          <p:cNvSpPr txBox="1"/>
          <p:nvPr/>
        </p:nvSpPr>
        <p:spPr>
          <a:xfrm>
            <a:off x="6572707" y="2781605"/>
            <a:ext cx="2286000" cy="162763"/>
          </a:xfrm>
          <a:prstGeom prst="rect">
            <a:avLst/>
          </a:prstGeom>
          <a:noFill/>
          <a:ln/>
        </p:spPr>
        <p:txBody>
          <a:bodyPr wrap="none" lIns="0" tIns="0" rIns="0" bIns="0" rtlCol="0" anchor="ctr"/>
          <a:lstStyle/>
          <a:p>
            <a:pPr algn="ctr" indent="0" marL="0">
              <a:buNone/>
            </a:pPr>
            <a:r>
              <a:rPr lang="en-US" sz="975" b="1" dirty="0">
                <a:solidFill>
                  <a:srgbClr val="FB923C"/>
                </a:solidFill>
                <a:latin typeface="JetBrains Mono" pitchFamily="34" charset="0"/>
                <a:ea typeface="JetBrains Mono" pitchFamily="34" charset="-122"/>
                <a:cs typeface="JetBrains Mono" pitchFamily="34" charset="-120"/>
              </a:rPr>
              <a:t>STEP 03 · SPLIT</a:t>
            </a:r>
            <a:endParaRPr lang="en-US" sz="975" dirty="0"/>
          </a:p>
        </p:txBody>
      </p:sp>
      <p:sp>
        <p:nvSpPr>
          <p:cNvPr id="34" name="Text 26"/>
          <p:cNvSpPr txBox="1"/>
          <p:nvPr/>
        </p:nvSpPr>
        <p:spPr>
          <a:xfrm>
            <a:off x="6572707" y="3076956"/>
            <a:ext cx="2286000" cy="438912"/>
          </a:xfrm>
          <a:prstGeom prst="rect">
            <a:avLst/>
          </a:prstGeom>
          <a:noFill/>
          <a:ln/>
        </p:spPr>
        <p:txBody>
          <a:bodyPr wrap="none" lIns="0" tIns="0" rIns="0" bIns="0" rtlCol="0" anchor="ctr"/>
          <a:lstStyle/>
          <a:p>
            <a:pPr algn="ctr" indent="0" marL="0">
              <a:buNone/>
            </a:pPr>
            <a:r>
              <a:rPr lang="en-US" sz="3450" b="1" spc="-103" kern="0" dirty="0">
                <a:solidFill>
                  <a:srgbClr val="FB923C"/>
                </a:solidFill>
                <a:latin typeface="Inter" pitchFamily="34" charset="0"/>
                <a:ea typeface="Inter" pitchFamily="34" charset="-122"/>
                <a:cs typeface="Inter" pitchFamily="34" charset="-120"/>
              </a:rPr>
              <a:t>TRENCH</a:t>
            </a:r>
            <a:endParaRPr lang="en-US" sz="3450" dirty="0"/>
          </a:p>
        </p:txBody>
      </p:sp>
      <p:sp>
        <p:nvSpPr>
          <p:cNvPr id="35" name="Text 27"/>
          <p:cNvSpPr txBox="1"/>
          <p:nvPr/>
        </p:nvSpPr>
        <p:spPr>
          <a:xfrm>
            <a:off x="6572707" y="3634740"/>
            <a:ext cx="2286000" cy="395021"/>
          </a:xfrm>
          <a:prstGeom prst="rect">
            <a:avLst/>
          </a:prstGeom>
          <a:noFill/>
          <a:ln/>
        </p:spPr>
        <p:txBody>
          <a:bodyPr wrap="square" lIns="0" tIns="0" rIns="0" bIns="0" rtlCol="0" anchor="t"/>
          <a:lstStyle/>
          <a:p>
            <a:pPr algn="ctr" indent="0" marL="0">
              <a:lnSpc>
                <a:spcPts val="1470"/>
              </a:lnSpc>
              <a:buNone/>
            </a:pPr>
            <a:r>
              <a:rPr lang="en-US" sz="1050" dirty="0">
                <a:solidFill>
                  <a:srgbClr val="E8EDF5"/>
                </a:solidFill>
                <a:latin typeface="Inter" pitchFamily="34" charset="0"/>
                <a:ea typeface="Inter" pitchFamily="34" charset="-122"/>
                <a:cs typeface="Inter" pitchFamily="34" charset="-120"/>
              </a:rPr>
              <a:t>Main etch +</a:t>
            </a:r>
            <a:pPr algn="ctr" indent="0" marL="0">
              <a:lnSpc>
                <a:spcPts val="1470"/>
              </a:lnSpc>
              <a:buNone/>
            </a:pPr>
            <a:endParaRPr lang="en-US" sz="1050" dirty="0"/>
          </a:p>
          <a:p>
            <a:pPr algn="ctr" indent="0" marL="0">
              <a:lnSpc>
                <a:spcPts val="1470"/>
              </a:lnSpc>
              <a:buNone/>
            </a:pPr>
            <a:r>
              <a:rPr lang="en-US" sz="1050" dirty="0">
                <a:solidFill>
                  <a:srgbClr val="E8EDF5"/>
                </a:solidFill>
                <a:latin typeface="Inter" pitchFamily="34" charset="0"/>
                <a:ea typeface="Inter" pitchFamily="34" charset="-122"/>
                <a:cs typeface="Inter" pitchFamily="34" charset="-120"/>
              </a:rPr>
              <a:t>variable time</a:t>
            </a:r>
            <a:endParaRPr lang="en-US" sz="1050" dirty="0"/>
          </a:p>
        </p:txBody>
      </p:sp>
      <p:sp>
        <p:nvSpPr>
          <p:cNvPr id="36" name="Text 28"/>
          <p:cNvSpPr txBox="1"/>
          <p:nvPr/>
        </p:nvSpPr>
        <p:spPr>
          <a:xfrm>
            <a:off x="9486900" y="2971800"/>
            <a:ext cx="2095805" cy="162763"/>
          </a:xfrm>
          <a:prstGeom prst="rect">
            <a:avLst/>
          </a:prstGeom>
          <a:noFill/>
          <a:ln/>
        </p:spPr>
        <p:txBody>
          <a:bodyPr wrap="none" lIns="0" tIns="0" rIns="0" bIns="0" rtlCol="0" anchor="ctr"/>
          <a:lstStyle/>
          <a:p>
            <a:pPr algn="ctr" indent="0" marL="0">
              <a:buNone/>
            </a:pPr>
            <a:r>
              <a:rPr lang="en-US" sz="975" b="1" dirty="0">
                <a:solidFill>
                  <a:srgbClr val="94A3B8"/>
                </a:solidFill>
                <a:latin typeface="JetBrains Mono" pitchFamily="34" charset="0"/>
                <a:ea typeface="JetBrains Mono" pitchFamily="34" charset="-122"/>
                <a:cs typeface="JetBrains Mono" pitchFamily="34" charset="-120"/>
              </a:rPr>
              <a:t>STEP 04</a:t>
            </a:r>
            <a:endParaRPr lang="en-US" sz="975" dirty="0"/>
          </a:p>
        </p:txBody>
      </p:sp>
      <p:sp>
        <p:nvSpPr>
          <p:cNvPr id="37" name="Text 29"/>
          <p:cNvSpPr txBox="1"/>
          <p:nvPr/>
        </p:nvSpPr>
        <p:spPr>
          <a:xfrm>
            <a:off x="9486900" y="3267151"/>
            <a:ext cx="2095805" cy="400507"/>
          </a:xfrm>
          <a:prstGeom prst="rect">
            <a:avLst/>
          </a:prstGeom>
          <a:noFill/>
          <a:ln/>
        </p:spPr>
        <p:txBody>
          <a:bodyPr wrap="none" lIns="0" tIns="0" rIns="0" bIns="0" rtlCol="0" anchor="ctr"/>
          <a:lstStyle/>
          <a:p>
            <a:pPr algn="ctr" indent="0" marL="0">
              <a:buNone/>
            </a:pPr>
            <a:r>
              <a:rPr lang="en-US" sz="3150" b="1" spc="-94" kern="0" dirty="0">
                <a:solidFill>
                  <a:srgbClr val="5EEAD4"/>
                </a:solidFill>
                <a:latin typeface="Inter" pitchFamily="34" charset="0"/>
                <a:ea typeface="Inter" pitchFamily="34" charset="-122"/>
                <a:cs typeface="Inter" pitchFamily="34" charset="-120"/>
              </a:rPr>
              <a:t>STRIP</a:t>
            </a:r>
            <a:endParaRPr lang="en-US" sz="3150" dirty="0"/>
          </a:p>
        </p:txBody>
      </p:sp>
      <p:sp>
        <p:nvSpPr>
          <p:cNvPr id="38" name="Text 30"/>
          <p:cNvSpPr txBox="1"/>
          <p:nvPr/>
        </p:nvSpPr>
        <p:spPr>
          <a:xfrm>
            <a:off x="9486900" y="3786530"/>
            <a:ext cx="2095805" cy="395021"/>
          </a:xfrm>
          <a:prstGeom prst="rect">
            <a:avLst/>
          </a:prstGeom>
          <a:noFill/>
          <a:ln/>
        </p:spPr>
        <p:txBody>
          <a:bodyPr wrap="square" lIns="0" tIns="0" rIns="0" bIns="0" rtlCol="0" anchor="t"/>
          <a:lstStyle/>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Resist + sidewall</a:t>
            </a:r>
            <a:pPr algn="ctr" indent="0" marL="0">
              <a:lnSpc>
                <a:spcPts val="1470"/>
              </a:lnSpc>
              <a:buNone/>
            </a:pPr>
            <a:endParaRPr lang="en-US" sz="1050" dirty="0"/>
          </a:p>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clean</a:t>
            </a:r>
            <a:endParaRPr lang="en-US" sz="1050" dirty="0"/>
          </a:p>
        </p:txBody>
      </p:sp>
      <p:sp>
        <p:nvSpPr>
          <p:cNvPr id="39" name="Text 31"/>
          <p:cNvSpPr txBox="1"/>
          <p:nvPr/>
        </p:nvSpPr>
        <p:spPr>
          <a:xfrm>
            <a:off x="12210898" y="2971800"/>
            <a:ext cx="2095805" cy="162763"/>
          </a:xfrm>
          <a:prstGeom prst="rect">
            <a:avLst/>
          </a:prstGeom>
          <a:noFill/>
          <a:ln/>
        </p:spPr>
        <p:txBody>
          <a:bodyPr wrap="none" lIns="0" tIns="0" rIns="0" bIns="0" rtlCol="0" anchor="ctr"/>
          <a:lstStyle/>
          <a:p>
            <a:pPr algn="ctr" indent="0" marL="0">
              <a:buNone/>
            </a:pPr>
            <a:r>
              <a:rPr lang="en-US" sz="975" b="1" dirty="0">
                <a:solidFill>
                  <a:srgbClr val="94A3B8"/>
                </a:solidFill>
                <a:latin typeface="JetBrains Mono" pitchFamily="34" charset="0"/>
                <a:ea typeface="JetBrains Mono" pitchFamily="34" charset="-122"/>
                <a:cs typeface="JetBrains Mono" pitchFamily="34" charset="-120"/>
              </a:rPr>
              <a:t>STEP 05</a:t>
            </a:r>
            <a:endParaRPr lang="en-US" sz="975" dirty="0"/>
          </a:p>
        </p:txBody>
      </p:sp>
      <p:sp>
        <p:nvSpPr>
          <p:cNvPr id="40" name="Text 32"/>
          <p:cNvSpPr txBox="1"/>
          <p:nvPr/>
        </p:nvSpPr>
        <p:spPr>
          <a:xfrm>
            <a:off x="12210898" y="3267151"/>
            <a:ext cx="2095805" cy="400507"/>
          </a:xfrm>
          <a:prstGeom prst="rect">
            <a:avLst/>
          </a:prstGeom>
          <a:noFill/>
          <a:ln/>
        </p:spPr>
        <p:txBody>
          <a:bodyPr wrap="none" lIns="0" tIns="0" rIns="0" bIns="0" rtlCol="0" anchor="ctr"/>
          <a:lstStyle/>
          <a:p>
            <a:pPr algn="ctr" indent="0" marL="0">
              <a:buNone/>
            </a:pPr>
            <a:r>
              <a:rPr lang="en-US" sz="3150" b="1" spc="-94" kern="0" dirty="0">
                <a:solidFill>
                  <a:srgbClr val="5EEAD4"/>
                </a:solidFill>
                <a:latin typeface="Inter" pitchFamily="34" charset="0"/>
                <a:ea typeface="Inter" pitchFamily="34" charset="-122"/>
                <a:cs typeface="Inter" pitchFamily="34" charset="-120"/>
              </a:rPr>
              <a:t>BARRIER</a:t>
            </a:r>
            <a:endParaRPr lang="en-US" sz="3150" dirty="0"/>
          </a:p>
        </p:txBody>
      </p:sp>
      <p:sp>
        <p:nvSpPr>
          <p:cNvPr id="41" name="Text 33"/>
          <p:cNvSpPr txBox="1"/>
          <p:nvPr/>
        </p:nvSpPr>
        <p:spPr>
          <a:xfrm>
            <a:off x="12210898" y="3786530"/>
            <a:ext cx="2095805" cy="395021"/>
          </a:xfrm>
          <a:prstGeom prst="rect">
            <a:avLst/>
          </a:prstGeom>
          <a:noFill/>
          <a:ln/>
        </p:spPr>
        <p:txBody>
          <a:bodyPr wrap="square" lIns="0" tIns="0" rIns="0" bIns="0" rtlCol="0" anchor="t"/>
          <a:lstStyle/>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PVD TaN 1.5nm</a:t>
            </a:r>
            <a:pPr algn="ctr" indent="0" marL="0">
              <a:lnSpc>
                <a:spcPts val="1470"/>
              </a:lnSpc>
              <a:buNone/>
            </a:pPr>
            <a:endParaRPr lang="en-US" sz="1050" dirty="0"/>
          </a:p>
          <a:p>
            <a:pPr algn="ctr" indent="0" marL="0">
              <a:lnSpc>
                <a:spcPts val="1470"/>
              </a:lnSpc>
              <a:buNone/>
            </a:pPr>
            <a:r>
              <a:rPr lang="en-US" sz="1050" dirty="0">
                <a:solidFill>
                  <a:srgbClr val="94A3B8"/>
                </a:solidFill>
                <a:latin typeface="Inter" pitchFamily="34" charset="0"/>
                <a:ea typeface="Inter" pitchFamily="34" charset="-122"/>
                <a:cs typeface="Inter" pitchFamily="34" charset="-120"/>
              </a:rPr>
              <a:t>+ Ta 2nm</a:t>
            </a:r>
            <a:endParaRPr lang="en-US" sz="1050" dirty="0"/>
          </a:p>
        </p:txBody>
      </p:sp>
      <p:sp>
        <p:nvSpPr>
          <p:cNvPr id="42" name="Text 34"/>
          <p:cNvSpPr txBox="1"/>
          <p:nvPr/>
        </p:nvSpPr>
        <p:spPr>
          <a:xfrm>
            <a:off x="14934895" y="2971800"/>
            <a:ext cx="2286000" cy="162763"/>
          </a:xfrm>
          <a:prstGeom prst="rect">
            <a:avLst/>
          </a:prstGeom>
          <a:noFill/>
          <a:ln/>
        </p:spPr>
        <p:txBody>
          <a:bodyPr wrap="none" lIns="0" tIns="0" rIns="0" bIns="0" rtlCol="0" anchor="ctr"/>
          <a:lstStyle/>
          <a:p>
            <a:pPr algn="ctr" indent="0" marL="0">
              <a:buNone/>
            </a:pPr>
            <a:r>
              <a:rPr lang="en-US" sz="975" b="1" dirty="0">
                <a:solidFill>
                  <a:srgbClr val="F472B6"/>
                </a:solidFill>
                <a:latin typeface="JetBrains Mono" pitchFamily="34" charset="0"/>
                <a:ea typeface="JetBrains Mono" pitchFamily="34" charset="-122"/>
                <a:cs typeface="JetBrains Mono" pitchFamily="34" charset="-120"/>
              </a:rPr>
              <a:t>STEP 06</a:t>
            </a:r>
            <a:endParaRPr lang="en-US" sz="975" dirty="0"/>
          </a:p>
        </p:txBody>
      </p:sp>
      <p:sp>
        <p:nvSpPr>
          <p:cNvPr id="43" name="Text 35"/>
          <p:cNvSpPr txBox="1"/>
          <p:nvPr/>
        </p:nvSpPr>
        <p:spPr>
          <a:xfrm>
            <a:off x="14934895" y="3267151"/>
            <a:ext cx="2286000" cy="800100"/>
          </a:xfrm>
          <a:prstGeom prst="rect">
            <a:avLst/>
          </a:prstGeom>
          <a:noFill/>
          <a:ln/>
        </p:spPr>
        <p:txBody>
          <a:bodyPr wrap="square" lIns="0" tIns="0" rIns="0" bIns="0" rtlCol="0" anchor="ctr"/>
          <a:lstStyle/>
          <a:p>
            <a:pPr algn="ctr" indent="0" marL="0">
              <a:lnSpc>
                <a:spcPct val="100000"/>
              </a:lnSpc>
              <a:buNone/>
            </a:pPr>
            <a:r>
              <a:rPr lang="en-US" sz="3150" b="1" spc="-94" kern="0" dirty="0">
                <a:solidFill>
                  <a:srgbClr val="F472B6"/>
                </a:solidFill>
                <a:latin typeface="Inter" pitchFamily="34" charset="0"/>
                <a:ea typeface="Inter" pitchFamily="34" charset="-122"/>
                <a:cs typeface="Inter" pitchFamily="34" charset="-120"/>
              </a:rPr>
              <a:t>Cu PLATING</a:t>
            </a:r>
            <a:endParaRPr lang="en-US" sz="3150" dirty="0"/>
          </a:p>
        </p:txBody>
      </p:sp>
      <p:sp>
        <p:nvSpPr>
          <p:cNvPr id="44" name="Text 36"/>
          <p:cNvSpPr txBox="1"/>
          <p:nvPr/>
        </p:nvSpPr>
        <p:spPr>
          <a:xfrm>
            <a:off x="14934895" y="4187038"/>
            <a:ext cx="2286000" cy="395021"/>
          </a:xfrm>
          <a:prstGeom prst="rect">
            <a:avLst/>
          </a:prstGeom>
          <a:noFill/>
          <a:ln/>
        </p:spPr>
        <p:txBody>
          <a:bodyPr wrap="square" lIns="0" tIns="0" rIns="0" bIns="0" rtlCol="0" anchor="t"/>
          <a:lstStyle/>
          <a:p>
            <a:pPr algn="ctr" indent="0" marL="0">
              <a:lnSpc>
                <a:spcPts val="1470"/>
              </a:lnSpc>
              <a:buNone/>
            </a:pPr>
            <a:r>
              <a:rPr lang="en-US" sz="1050" dirty="0">
                <a:solidFill>
                  <a:srgbClr val="E8EDF5"/>
                </a:solidFill>
                <a:latin typeface="Inter" pitchFamily="34" charset="0"/>
                <a:ea typeface="Inter" pitchFamily="34" charset="-122"/>
                <a:cs typeface="Inter" pitchFamily="34" charset="-120"/>
              </a:rPr>
              <a:t>Seed + ECD Cu</a:t>
            </a:r>
            <a:pPr algn="ctr" indent="0" marL="0">
              <a:lnSpc>
                <a:spcPts val="1470"/>
              </a:lnSpc>
              <a:buNone/>
            </a:pPr>
            <a:endParaRPr lang="en-US" sz="1050" dirty="0"/>
          </a:p>
          <a:p>
            <a:pPr algn="ctr" indent="0" marL="0">
              <a:lnSpc>
                <a:spcPts val="1470"/>
              </a:lnSpc>
              <a:buNone/>
            </a:pPr>
            <a:r>
              <a:rPr lang="en-US" sz="1050" dirty="0">
                <a:solidFill>
                  <a:srgbClr val="E8EDF5"/>
                </a:solidFill>
                <a:latin typeface="Inter" pitchFamily="34" charset="0"/>
                <a:ea typeface="Inter" pitchFamily="34" charset="-122"/>
                <a:cs typeface="Inter" pitchFamily="34" charset="-120"/>
              </a:rPr>
              <a:t>anneal 250°C</a:t>
            </a:r>
            <a:endParaRPr lang="en-US" sz="1050" dirty="0"/>
          </a:p>
        </p:txBody>
      </p:sp>
      <p:sp>
        <p:nvSpPr>
          <p:cNvPr id="45" name="Text 37"/>
          <p:cNvSpPr txBox="1"/>
          <p:nvPr/>
        </p:nvSpPr>
        <p:spPr>
          <a:xfrm>
            <a:off x="1047902" y="5943600"/>
            <a:ext cx="5715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FOCUS DELTA</a:t>
            </a:r>
            <a:endParaRPr lang="en-US" sz="825" dirty="0"/>
          </a:p>
        </p:txBody>
      </p:sp>
      <p:sp>
        <p:nvSpPr>
          <p:cNvPr id="46" name="Text 38"/>
          <p:cNvSpPr txBox="1"/>
          <p:nvPr/>
        </p:nvSpPr>
        <p:spPr>
          <a:xfrm>
            <a:off x="1047902" y="6172200"/>
            <a:ext cx="5715000" cy="305410"/>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Step 03 — Trench Main Etch time 가변</a:t>
            </a:r>
            <a:endParaRPr lang="en-US" sz="1800" dirty="0"/>
          </a:p>
        </p:txBody>
      </p:sp>
      <p:sp>
        <p:nvSpPr>
          <p:cNvPr id="47" name="Text 39"/>
          <p:cNvSpPr txBox="1"/>
          <p:nvPr/>
        </p:nvSpPr>
        <p:spPr>
          <a:xfrm>
            <a:off x="1333195" y="6458407"/>
            <a:ext cx="2857500" cy="457200"/>
          </a:xfrm>
          <a:prstGeom prst="rect">
            <a:avLst/>
          </a:prstGeom>
          <a:noFill/>
          <a:ln/>
        </p:spPr>
        <p:txBody>
          <a:bodyPr wrap="none" lIns="0" tIns="0" rIns="0" bIns="0" rtlCol="0" anchor="ctr"/>
          <a:lstStyle/>
          <a:p>
            <a:pPr algn="l" indent="0" marL="0">
              <a:buNone/>
            </a:pPr>
            <a:r>
              <a:rPr lang="en-US" sz="975" b="1" spc="78" kern="0" dirty="0">
                <a:solidFill>
                  <a:srgbClr val="94A3B8"/>
                </a:solidFill>
                <a:latin typeface="Inter" pitchFamily="34" charset="0"/>
                <a:ea typeface="Inter" pitchFamily="34" charset="-122"/>
                <a:cs typeface="Inter" pitchFamily="34" charset="-120"/>
              </a:rPr>
              <a:t>PARAMETER</a:t>
            </a:r>
            <a:endParaRPr lang="en-US" sz="975" dirty="0"/>
          </a:p>
        </p:txBody>
      </p:sp>
      <p:sp>
        <p:nvSpPr>
          <p:cNvPr id="48" name="Text 40"/>
          <p:cNvSpPr txBox="1"/>
          <p:nvPr/>
        </p:nvSpPr>
        <p:spPr>
          <a:xfrm>
            <a:off x="5143500" y="6458407"/>
            <a:ext cx="3810305" cy="457200"/>
          </a:xfrm>
          <a:prstGeom prst="rect">
            <a:avLst/>
          </a:prstGeom>
          <a:noFill/>
          <a:ln/>
        </p:spPr>
        <p:txBody>
          <a:bodyPr wrap="none" lIns="0" tIns="0" rIns="0" bIns="0" rtlCol="0" anchor="ctr"/>
          <a:lstStyle/>
          <a:p>
            <a:pPr algn="ctr" indent="0" marL="0">
              <a:buNone/>
            </a:pPr>
            <a:r>
              <a:rPr lang="en-US" sz="975" b="1" spc="78" kern="0" dirty="0">
                <a:solidFill>
                  <a:srgbClr val="5EEAD4"/>
                </a:solidFill>
                <a:latin typeface="Inter" pitchFamily="34" charset="0"/>
                <a:ea typeface="Inter" pitchFamily="34" charset="-122"/>
                <a:cs typeface="Inter" pitchFamily="34" charset="-120"/>
              </a:rPr>
              <a:t>W1 · CONTROL</a:t>
            </a:r>
            <a:endParaRPr lang="en-US" sz="975" dirty="0"/>
          </a:p>
        </p:txBody>
      </p:sp>
      <p:sp>
        <p:nvSpPr>
          <p:cNvPr id="49" name="Text 41"/>
          <p:cNvSpPr txBox="1"/>
          <p:nvPr/>
        </p:nvSpPr>
        <p:spPr>
          <a:xfrm>
            <a:off x="8953805" y="6458407"/>
            <a:ext cx="3810305" cy="457200"/>
          </a:xfrm>
          <a:prstGeom prst="rect">
            <a:avLst/>
          </a:prstGeom>
          <a:noFill/>
          <a:ln/>
        </p:spPr>
        <p:txBody>
          <a:bodyPr wrap="none" lIns="0" tIns="0" rIns="0" bIns="0" rtlCol="0" anchor="ctr"/>
          <a:lstStyle/>
          <a:p>
            <a:pPr algn="ctr" indent="0" marL="0">
              <a:buNone/>
            </a:pPr>
            <a:r>
              <a:rPr lang="en-US" sz="975" b="1" spc="78" kern="0" dirty="0">
                <a:solidFill>
                  <a:srgbClr val="FB923C"/>
                </a:solidFill>
                <a:latin typeface="Inter" pitchFamily="34" charset="0"/>
                <a:ea typeface="Inter" pitchFamily="34" charset="-122"/>
                <a:cs typeface="Inter" pitchFamily="34" charset="-120"/>
              </a:rPr>
              <a:t>W2 · +15%</a:t>
            </a:r>
            <a:endParaRPr lang="en-US" sz="975" dirty="0"/>
          </a:p>
        </p:txBody>
      </p:sp>
      <p:sp>
        <p:nvSpPr>
          <p:cNvPr id="50" name="Text 42"/>
          <p:cNvSpPr txBox="1"/>
          <p:nvPr/>
        </p:nvSpPr>
        <p:spPr>
          <a:xfrm>
            <a:off x="12763195" y="6458407"/>
            <a:ext cx="4286707" cy="457200"/>
          </a:xfrm>
          <a:prstGeom prst="rect">
            <a:avLst/>
          </a:prstGeom>
          <a:noFill/>
          <a:ln/>
        </p:spPr>
        <p:txBody>
          <a:bodyPr wrap="none" lIns="0" tIns="0" rIns="0" bIns="0" rtlCol="0" anchor="ctr"/>
          <a:lstStyle/>
          <a:p>
            <a:pPr algn="ctr" indent="0" marL="0">
              <a:buNone/>
            </a:pPr>
            <a:r>
              <a:rPr lang="en-US" sz="975" b="1" spc="78" kern="0" dirty="0">
                <a:solidFill>
                  <a:srgbClr val="F472B6"/>
                </a:solidFill>
                <a:latin typeface="Inter" pitchFamily="34" charset="0"/>
                <a:ea typeface="Inter" pitchFamily="34" charset="-122"/>
                <a:cs typeface="Inter" pitchFamily="34" charset="-120"/>
              </a:rPr>
              <a:t>W3 · +30%</a:t>
            </a:r>
            <a:endParaRPr lang="en-US" sz="975" dirty="0"/>
          </a:p>
        </p:txBody>
      </p:sp>
      <p:sp>
        <p:nvSpPr>
          <p:cNvPr id="51" name="Text 43"/>
          <p:cNvSpPr txBox="1"/>
          <p:nvPr/>
        </p:nvSpPr>
        <p:spPr>
          <a:xfrm>
            <a:off x="1333195" y="7029907"/>
            <a:ext cx="2857500" cy="381305"/>
          </a:xfrm>
          <a:prstGeom prst="rect">
            <a:avLst/>
          </a:prstGeom>
          <a:noFill/>
          <a:ln/>
        </p:spPr>
        <p:txBody>
          <a:bodyPr wrap="none" lIns="0" tIns="0" rIns="0" bIns="0" rtlCol="0" anchor="ctr"/>
          <a:lstStyle/>
          <a:p>
            <a:pPr algn="l" indent="0" marL="0">
              <a:buNone/>
            </a:pPr>
            <a:r>
              <a:rPr lang="en-US" sz="1200" dirty="0">
                <a:solidFill>
                  <a:srgbClr val="E8EDF5"/>
                </a:solidFill>
                <a:latin typeface="Inter" pitchFamily="34" charset="0"/>
                <a:ea typeface="Inter" pitchFamily="34" charset="-122"/>
                <a:cs typeface="Inter" pitchFamily="34" charset="-120"/>
              </a:rPr>
              <a:t>Main etch time</a:t>
            </a:r>
            <a:endParaRPr lang="en-US" sz="1200" dirty="0"/>
          </a:p>
        </p:txBody>
      </p:sp>
      <p:sp>
        <p:nvSpPr>
          <p:cNvPr id="52" name="Text 44"/>
          <p:cNvSpPr txBox="1"/>
          <p:nvPr/>
        </p:nvSpPr>
        <p:spPr>
          <a:xfrm>
            <a:off x="5143500" y="7029907"/>
            <a:ext cx="3810305" cy="381305"/>
          </a:xfrm>
          <a:prstGeom prst="rect">
            <a:avLst/>
          </a:prstGeom>
          <a:noFill/>
          <a:ln/>
        </p:spPr>
        <p:txBody>
          <a:bodyPr wrap="none" lIns="0" tIns="0" rIns="0" bIns="0" rtlCol="0" anchor="ctr"/>
          <a:lstStyle/>
          <a:p>
            <a:pPr algn="ctr" indent="0" marL="0">
              <a:buNone/>
            </a:pPr>
            <a:r>
              <a:rPr lang="en-US" sz="1350" b="1" dirty="0">
                <a:solidFill>
                  <a:srgbClr val="5EEAD4"/>
                </a:solidFill>
                <a:latin typeface="JetBrains Mono" pitchFamily="34" charset="0"/>
                <a:ea typeface="JetBrains Mono" pitchFamily="34" charset="-122"/>
                <a:cs typeface="JetBrains Mono" pitchFamily="34" charset="-120"/>
              </a:rPr>
              <a:t>25.0 s</a:t>
            </a:r>
            <a:endParaRPr lang="en-US" sz="1350" dirty="0"/>
          </a:p>
        </p:txBody>
      </p:sp>
      <p:sp>
        <p:nvSpPr>
          <p:cNvPr id="53" name="Text 45"/>
          <p:cNvSpPr txBox="1"/>
          <p:nvPr/>
        </p:nvSpPr>
        <p:spPr>
          <a:xfrm>
            <a:off x="8953805" y="7029907"/>
            <a:ext cx="3810305" cy="381305"/>
          </a:xfrm>
          <a:prstGeom prst="rect">
            <a:avLst/>
          </a:prstGeom>
          <a:noFill/>
          <a:ln/>
        </p:spPr>
        <p:txBody>
          <a:bodyPr wrap="none" lIns="0" tIns="0" rIns="0" bIns="0" rtlCol="0" anchor="ctr"/>
          <a:lstStyle/>
          <a:p>
            <a:pPr algn="ctr" indent="0" marL="0">
              <a:buNone/>
            </a:pPr>
            <a:r>
              <a:rPr lang="en-US" sz="1350" b="1" dirty="0">
                <a:solidFill>
                  <a:srgbClr val="FB923C"/>
                </a:solidFill>
                <a:latin typeface="JetBrains Mono" pitchFamily="34" charset="0"/>
                <a:ea typeface="JetBrains Mono" pitchFamily="34" charset="-122"/>
                <a:cs typeface="JetBrains Mono" pitchFamily="34" charset="-120"/>
              </a:rPr>
              <a:t>28.75 s</a:t>
            </a:r>
            <a:endParaRPr lang="en-US" sz="1350" dirty="0"/>
          </a:p>
        </p:txBody>
      </p:sp>
      <p:sp>
        <p:nvSpPr>
          <p:cNvPr id="54" name="Text 46"/>
          <p:cNvSpPr txBox="1"/>
          <p:nvPr/>
        </p:nvSpPr>
        <p:spPr>
          <a:xfrm>
            <a:off x="12763195" y="7029907"/>
            <a:ext cx="4286707" cy="381305"/>
          </a:xfrm>
          <a:prstGeom prst="rect">
            <a:avLst/>
          </a:prstGeom>
          <a:noFill/>
          <a:ln/>
        </p:spPr>
        <p:txBody>
          <a:bodyPr wrap="none" lIns="0" tIns="0" rIns="0" bIns="0" rtlCol="0" anchor="ctr"/>
          <a:lstStyle/>
          <a:p>
            <a:pPr algn="ctr" indent="0" marL="0">
              <a:buNone/>
            </a:pPr>
            <a:r>
              <a:rPr lang="en-US" sz="1350" b="1" dirty="0">
                <a:solidFill>
                  <a:srgbClr val="F472B6"/>
                </a:solidFill>
                <a:latin typeface="JetBrains Mono" pitchFamily="34" charset="0"/>
                <a:ea typeface="JetBrains Mono" pitchFamily="34" charset="-122"/>
                <a:cs typeface="JetBrains Mono" pitchFamily="34" charset="-120"/>
              </a:rPr>
              <a:t>32.5 s</a:t>
            </a:r>
            <a:endParaRPr lang="en-US" sz="1350" dirty="0"/>
          </a:p>
        </p:txBody>
      </p:sp>
      <p:sp>
        <p:nvSpPr>
          <p:cNvPr id="55" name="Text 47"/>
          <p:cNvSpPr txBox="1"/>
          <p:nvPr/>
        </p:nvSpPr>
        <p:spPr>
          <a:xfrm>
            <a:off x="1333195" y="7524598"/>
            <a:ext cx="2857500" cy="381305"/>
          </a:xfrm>
          <a:prstGeom prst="rect">
            <a:avLst/>
          </a:prstGeom>
          <a:noFill/>
          <a:ln/>
        </p:spPr>
        <p:txBody>
          <a:bodyPr wrap="none" lIns="0" tIns="0" rIns="0" bIns="0" rtlCol="0" anchor="ctr"/>
          <a:lstStyle/>
          <a:p>
            <a:pPr algn="l" indent="0" marL="0">
              <a:buNone/>
            </a:pPr>
            <a:r>
              <a:rPr lang="en-US" sz="1200" dirty="0">
                <a:solidFill>
                  <a:srgbClr val="E8EDF5"/>
                </a:solidFill>
                <a:latin typeface="Inter" pitchFamily="34" charset="0"/>
                <a:ea typeface="Inter" pitchFamily="34" charset="-122"/>
                <a:cs typeface="Inter" pitchFamily="34" charset="-120"/>
              </a:rPr>
              <a:t>Target depth</a:t>
            </a:r>
            <a:endParaRPr lang="en-US" sz="1200" dirty="0"/>
          </a:p>
        </p:txBody>
      </p:sp>
      <p:sp>
        <p:nvSpPr>
          <p:cNvPr id="56" name="Text 48"/>
          <p:cNvSpPr txBox="1"/>
          <p:nvPr/>
        </p:nvSpPr>
        <p:spPr>
          <a:xfrm>
            <a:off x="5143500" y="7524598"/>
            <a:ext cx="3810305" cy="381305"/>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120 nm</a:t>
            </a:r>
            <a:endParaRPr lang="en-US" sz="1350" dirty="0"/>
          </a:p>
        </p:txBody>
      </p:sp>
      <p:sp>
        <p:nvSpPr>
          <p:cNvPr id="57" name="Text 49"/>
          <p:cNvSpPr txBox="1"/>
          <p:nvPr/>
        </p:nvSpPr>
        <p:spPr>
          <a:xfrm>
            <a:off x="8953805" y="7524598"/>
            <a:ext cx="3810305" cy="381305"/>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~138 nm</a:t>
            </a:r>
            <a:endParaRPr lang="en-US" sz="1350" dirty="0"/>
          </a:p>
        </p:txBody>
      </p:sp>
      <p:sp>
        <p:nvSpPr>
          <p:cNvPr id="58" name="Text 50"/>
          <p:cNvSpPr txBox="1"/>
          <p:nvPr/>
        </p:nvSpPr>
        <p:spPr>
          <a:xfrm>
            <a:off x="12763195" y="7524598"/>
            <a:ext cx="4286707" cy="381305"/>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~156 nm</a:t>
            </a:r>
            <a:endParaRPr lang="en-US" sz="1350" dirty="0"/>
          </a:p>
        </p:txBody>
      </p:sp>
      <p:sp>
        <p:nvSpPr>
          <p:cNvPr id="59" name="Text 51"/>
          <p:cNvSpPr txBox="1"/>
          <p:nvPr/>
        </p:nvSpPr>
        <p:spPr>
          <a:xfrm>
            <a:off x="1333195" y="8020202"/>
            <a:ext cx="2857500" cy="381305"/>
          </a:xfrm>
          <a:prstGeom prst="rect">
            <a:avLst/>
          </a:prstGeom>
          <a:noFill/>
          <a:ln/>
        </p:spPr>
        <p:txBody>
          <a:bodyPr wrap="none" lIns="0" tIns="0" rIns="0" bIns="0" rtlCol="0" anchor="ctr"/>
          <a:lstStyle/>
          <a:p>
            <a:pPr algn="l" indent="0" marL="0">
              <a:buNone/>
            </a:pPr>
            <a:r>
              <a:rPr lang="en-US" sz="1200" dirty="0">
                <a:solidFill>
                  <a:srgbClr val="E8EDF5"/>
                </a:solidFill>
                <a:latin typeface="Inter" pitchFamily="34" charset="0"/>
                <a:ea typeface="Inter" pitchFamily="34" charset="-122"/>
                <a:cs typeface="Inter" pitchFamily="34" charset="-120"/>
              </a:rPr>
              <a:t>Other steps</a:t>
            </a:r>
            <a:endParaRPr lang="en-US" sz="1200" dirty="0"/>
          </a:p>
        </p:txBody>
      </p:sp>
      <p:sp>
        <p:nvSpPr>
          <p:cNvPr id="60" name="Text 52"/>
          <p:cNvSpPr txBox="1"/>
          <p:nvPr/>
        </p:nvSpPr>
        <p:spPr>
          <a:xfrm>
            <a:off x="5143500" y="8020202"/>
            <a:ext cx="3810305"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locked</a:t>
            </a:r>
            <a:endParaRPr lang="en-US" sz="1200" dirty="0"/>
          </a:p>
        </p:txBody>
      </p:sp>
      <p:sp>
        <p:nvSpPr>
          <p:cNvPr id="61" name="Text 53"/>
          <p:cNvSpPr txBox="1"/>
          <p:nvPr/>
        </p:nvSpPr>
        <p:spPr>
          <a:xfrm>
            <a:off x="8953805" y="8020202"/>
            <a:ext cx="3810305"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locked</a:t>
            </a:r>
            <a:endParaRPr lang="en-US" sz="1200" dirty="0"/>
          </a:p>
        </p:txBody>
      </p:sp>
      <p:sp>
        <p:nvSpPr>
          <p:cNvPr id="62" name="Text 54"/>
          <p:cNvSpPr txBox="1"/>
          <p:nvPr/>
        </p:nvSpPr>
        <p:spPr>
          <a:xfrm>
            <a:off x="12763195" y="8020202"/>
            <a:ext cx="4286707"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locked</a:t>
            </a:r>
            <a:endParaRPr lang="en-US" sz="1200" dirty="0"/>
          </a:p>
        </p:txBody>
      </p:sp>
      <p:sp>
        <p:nvSpPr>
          <p:cNvPr id="63" name="Text 55"/>
          <p:cNvSpPr txBox="1"/>
          <p:nvPr/>
        </p:nvSpPr>
        <p:spPr>
          <a:xfrm>
            <a:off x="1333195" y="8515807"/>
            <a:ext cx="2857500" cy="381305"/>
          </a:xfrm>
          <a:prstGeom prst="rect">
            <a:avLst/>
          </a:prstGeom>
          <a:noFill/>
          <a:ln/>
        </p:spPr>
        <p:txBody>
          <a:bodyPr wrap="none" lIns="0" tIns="0" rIns="0" bIns="0" rtlCol="0" anchor="ctr"/>
          <a:lstStyle/>
          <a:p>
            <a:pPr algn="l" indent="0" marL="0">
              <a:buNone/>
            </a:pPr>
            <a:r>
              <a:rPr lang="en-US" sz="1200" dirty="0">
                <a:solidFill>
                  <a:srgbClr val="E8EDF5"/>
                </a:solidFill>
                <a:latin typeface="Inter" pitchFamily="34" charset="0"/>
                <a:ea typeface="Inter" pitchFamily="34" charset="-122"/>
                <a:cs typeface="Inter" pitchFamily="34" charset="-120"/>
              </a:rPr>
              <a:t>RF / pressure / flow</a:t>
            </a:r>
            <a:endParaRPr lang="en-US" sz="1200" dirty="0"/>
          </a:p>
        </p:txBody>
      </p:sp>
      <p:sp>
        <p:nvSpPr>
          <p:cNvPr id="64" name="Text 56"/>
          <p:cNvSpPr txBox="1"/>
          <p:nvPr/>
        </p:nvSpPr>
        <p:spPr>
          <a:xfrm>
            <a:off x="5143500" y="8515807"/>
            <a:ext cx="3810305"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identical</a:t>
            </a:r>
            <a:endParaRPr lang="en-US" sz="1200" dirty="0"/>
          </a:p>
        </p:txBody>
      </p:sp>
      <p:sp>
        <p:nvSpPr>
          <p:cNvPr id="65" name="Text 57"/>
          <p:cNvSpPr txBox="1"/>
          <p:nvPr/>
        </p:nvSpPr>
        <p:spPr>
          <a:xfrm>
            <a:off x="8953805" y="8515807"/>
            <a:ext cx="3810305"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identical</a:t>
            </a:r>
            <a:endParaRPr lang="en-US" sz="1200" dirty="0"/>
          </a:p>
        </p:txBody>
      </p:sp>
      <p:sp>
        <p:nvSpPr>
          <p:cNvPr id="66" name="Text 58"/>
          <p:cNvSpPr txBox="1"/>
          <p:nvPr/>
        </p:nvSpPr>
        <p:spPr>
          <a:xfrm>
            <a:off x="12763195" y="8515807"/>
            <a:ext cx="4286707" cy="381305"/>
          </a:xfrm>
          <a:prstGeom prst="rect">
            <a:avLst/>
          </a:prstGeom>
          <a:noFill/>
          <a:ln/>
        </p:spPr>
        <p:txBody>
          <a:bodyPr wrap="none" lIns="0" tIns="0" rIns="0" bIns="0" rtlCol="0" anchor="ctr"/>
          <a:lstStyle/>
          <a:p>
            <a:pPr algn="ctr" indent="0" marL="0">
              <a:buNone/>
            </a:pPr>
            <a:r>
              <a:rPr lang="en-US" sz="1200" dirty="0">
                <a:solidFill>
                  <a:srgbClr val="64748B"/>
                </a:solidFill>
                <a:latin typeface="Inter" pitchFamily="34" charset="0"/>
                <a:ea typeface="Inter" pitchFamily="34" charset="-122"/>
                <a:cs typeface="Inter" pitchFamily="34" charset="-120"/>
              </a:rPr>
              <a:t>identical</a:t>
            </a:r>
            <a:endParaRPr lang="en-US" sz="1200" dirty="0"/>
          </a:p>
        </p:txBody>
      </p:sp>
      <p:pic>
        <p:nvPicPr>
          <p:cNvPr id="67" name="Image 5" descr="gen-dedup-41df4fb73e13824d9bf43e735c70451d.png">    </p:cNvPr>
          <p:cNvPicPr>
            <a:picLocks noChangeAspect="1"/>
          </p:cNvPicPr>
          <p:nvPr/>
        </p:nvPicPr>
        <p:blipFill>
          <a:blip r:embed="rId6"/>
          <a:srcRect l="-2029" r="-2029" t="0" b="0"/>
          <a:stretch/>
        </p:blipFill>
        <p:spPr>
          <a:xfrm>
            <a:off x="761695" y="10067544"/>
            <a:ext cx="304495" cy="9144"/>
          </a:xfrm>
          <a:prstGeom prst="rect">
            <a:avLst/>
          </a:prstGeom>
        </p:spPr>
      </p:pic>
      <p:sp>
        <p:nvSpPr>
          <p:cNvPr id="68" name="Text 59"/>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B"/>
        </a:solidFill>
      </p:bgPr>
    </p:bg>
    <p:spTree>
      <p:nvGrpSpPr>
        <p:cNvPr id="1" name=""/>
        <p:cNvGrpSpPr/>
        <p:nvPr/>
      </p:nvGrpSpPr>
      <p:grpSpPr>
        <a:xfrm>
          <a:off x="0" y="0"/>
          <a:ext cx="0" cy="0"/>
          <a:chOff x="0" y="0"/>
          <a:chExt cx="0" cy="0"/>
        </a:xfrm>
      </p:grpSpPr>
      <p:pic>
        <p:nvPicPr>
          <p:cNvPr id="3" name="Image 0" descr="gen-dedup-710fff55a5c824ffc4e1c657d02acde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857500"/>
            <a:ext cx="10306202" cy="6495898"/>
          </a:xfrm>
          <a:prstGeom prst="rect">
            <a:avLst/>
          </a:prstGeom>
          <a:solidFill>
            <a:srgbClr val="0A0D17"/>
          </a:solidFill>
          <a:ln w="12700">
            <a:solidFill>
              <a:srgbClr val="1F2A40"/>
            </a:solidFill>
            <a:prstDash val="solid"/>
          </a:ln>
        </p:spPr>
      </p:sp>
      <p:sp>
        <p:nvSpPr>
          <p:cNvPr id="5" name="Shape 1"/>
          <p:cNvSpPr/>
          <p:nvPr/>
        </p:nvSpPr>
        <p:spPr>
          <a:xfrm>
            <a:off x="11430000" y="2857500"/>
            <a:ext cx="6115507" cy="6495898"/>
          </a:xfrm>
          <a:prstGeom prst="rect">
            <a:avLst/>
          </a:prstGeom>
          <a:solidFill>
            <a:srgbClr val="141A28"/>
          </a:solidFill>
          <a:ln w="12700">
            <a:solidFill>
              <a:srgbClr val="1F2A40"/>
            </a:solidFill>
            <a:prstDash val="solid"/>
          </a:ln>
        </p:spPr>
      </p:sp>
      <p:sp>
        <p:nvSpPr>
          <p:cNvPr id="6" name="Shape 2"/>
          <p:cNvSpPr/>
          <p:nvPr/>
        </p:nvSpPr>
        <p:spPr>
          <a:xfrm>
            <a:off x="952805" y="3047695"/>
            <a:ext cx="9905695" cy="5715000"/>
          </a:xfrm>
          <a:prstGeom prst="rect">
            <a:avLst/>
          </a:prstGeom>
          <a:solidFill>
            <a:srgbClr val="000000"/>
          </a:solidFill>
          <a:ln w="12700">
            <a:solidFill>
              <a:srgbClr val="FFFFFF">
                <a:alpha val="0"/>
              </a:srgbClr>
            </a:solidFill>
            <a:prstDash val="solid"/>
          </a:ln>
        </p:spPr>
      </p:sp>
      <p:pic>
        <p:nvPicPr>
          <p:cNvPr id="7" name="Image 1" descr="gen-dedup-21191343635a67a676ab9eecfd9bb37f.png">    </p:cNvPr>
          <p:cNvPicPr>
            <a:picLocks noChangeAspect="1"/>
          </p:cNvPicPr>
          <p:nvPr/>
        </p:nvPicPr>
        <p:blipFill>
          <a:blip r:embed="rId2"/>
          <a:srcRect l="-2089" r="-2089" t="0" b="0"/>
          <a:stretch/>
        </p:blipFill>
        <p:spPr>
          <a:xfrm>
            <a:off x="11734495" y="4496105"/>
            <a:ext cx="5524805" cy="9144"/>
          </a:xfrm>
          <a:prstGeom prst="rect">
            <a:avLst/>
          </a:prstGeom>
        </p:spPr>
      </p:pic>
      <p:pic>
        <p:nvPicPr>
          <p:cNvPr id="8" name="Image 2" descr="gen-dedup-97824ad0a0a4d92e964ce0de681d0aef.png">    </p:cNvPr>
          <p:cNvPicPr>
            <a:picLocks noChangeAspect="1"/>
          </p:cNvPicPr>
          <p:nvPr/>
        </p:nvPicPr>
        <p:blipFill>
          <a:blip r:embed="rId3"/>
          <a:srcRect l="-400" r="-400" t="0" b="0"/>
          <a:stretch/>
        </p:blipFill>
        <p:spPr>
          <a:xfrm>
            <a:off x="11734495" y="4705502"/>
            <a:ext cx="57607" cy="571500"/>
          </a:xfrm>
          <a:prstGeom prst="rect">
            <a:avLst/>
          </a:prstGeom>
        </p:spPr>
      </p:pic>
      <p:pic>
        <p:nvPicPr>
          <p:cNvPr id="9" name="Image 3" descr="gen-dedup-09e7c4f1c348c0c7f36d9dfda88e2c1f.png">    </p:cNvPr>
          <p:cNvPicPr>
            <a:picLocks noChangeAspect="1"/>
          </p:cNvPicPr>
          <p:nvPr/>
        </p:nvPicPr>
        <p:blipFill>
          <a:blip r:embed="rId4"/>
          <a:srcRect l="-400" r="-400" t="0" b="0"/>
          <a:stretch/>
        </p:blipFill>
        <p:spPr>
          <a:xfrm>
            <a:off x="11734495" y="5619902"/>
            <a:ext cx="57607" cy="571500"/>
          </a:xfrm>
          <a:prstGeom prst="rect">
            <a:avLst/>
          </a:prstGeom>
        </p:spPr>
      </p:pic>
      <p:pic>
        <p:nvPicPr>
          <p:cNvPr id="10" name="Image 4" descr="gen-dedup-a8fa2bb660fa645140023d2f01fe55c3.png">    </p:cNvPr>
          <p:cNvPicPr>
            <a:picLocks noChangeAspect="1"/>
          </p:cNvPicPr>
          <p:nvPr/>
        </p:nvPicPr>
        <p:blipFill>
          <a:blip r:embed="rId5"/>
          <a:srcRect l="-400" r="-400" t="0" b="0"/>
          <a:stretch/>
        </p:blipFill>
        <p:spPr>
          <a:xfrm>
            <a:off x="11734495" y="6534302"/>
            <a:ext cx="57607" cy="571500"/>
          </a:xfrm>
          <a:prstGeom prst="rect">
            <a:avLst/>
          </a:prstGeom>
        </p:spPr>
      </p:pic>
      <p:sp>
        <p:nvSpPr>
          <p:cNvPr id="11" name="Shape 3"/>
          <p:cNvSpPr/>
          <p:nvPr/>
        </p:nvSpPr>
        <p:spPr>
          <a:xfrm>
            <a:off x="11734495" y="7429500"/>
            <a:ext cx="5544007" cy="1733702"/>
          </a:xfrm>
          <a:prstGeom prst="rect">
            <a:avLst/>
          </a:prstGeom>
          <a:solidFill>
            <a:srgbClr val="0F1424"/>
          </a:solidFill>
          <a:ln w="12700">
            <a:solidFill>
              <a:srgbClr val="1F2A40"/>
            </a:solidFill>
            <a:prstDash val="solid"/>
          </a:ln>
        </p:spPr>
      </p:sp>
      <p:sp>
        <p:nvSpPr>
          <p:cNvPr id="12" name="Shape 4"/>
          <p:cNvSpPr/>
          <p:nvPr/>
        </p:nvSpPr>
        <p:spPr>
          <a:xfrm>
            <a:off x="761695" y="2857500"/>
            <a:ext cx="190195" cy="19202"/>
          </a:xfrm>
          <a:prstGeom prst="rect">
            <a:avLst/>
          </a:prstGeom>
          <a:solidFill>
            <a:srgbClr val="5EEAD4"/>
          </a:solidFill>
          <a:ln w="12700">
            <a:solidFill>
              <a:srgbClr val="5EEAD4">
                <a:alpha val="0"/>
              </a:srgbClr>
            </a:solidFill>
            <a:prstDash val="solid"/>
          </a:ln>
        </p:spPr>
      </p:sp>
      <p:sp>
        <p:nvSpPr>
          <p:cNvPr id="13" name="Shape 5"/>
          <p:cNvSpPr/>
          <p:nvPr/>
        </p:nvSpPr>
        <p:spPr>
          <a:xfrm>
            <a:off x="761695" y="2857500"/>
            <a:ext cx="19202" cy="190195"/>
          </a:xfrm>
          <a:prstGeom prst="rect">
            <a:avLst/>
          </a:prstGeom>
          <a:solidFill>
            <a:srgbClr val="5EEAD4"/>
          </a:solidFill>
          <a:ln w="12700">
            <a:solidFill>
              <a:srgbClr val="5EEAD4">
                <a:alpha val="0"/>
              </a:srgbClr>
            </a:solidFill>
            <a:prstDash val="solid"/>
          </a:ln>
        </p:spPr>
      </p:sp>
      <p:sp>
        <p:nvSpPr>
          <p:cNvPr id="14" name="Shape 6"/>
          <p:cNvSpPr/>
          <p:nvPr/>
        </p:nvSpPr>
        <p:spPr>
          <a:xfrm>
            <a:off x="10877702" y="2857500"/>
            <a:ext cx="190195" cy="19202"/>
          </a:xfrm>
          <a:prstGeom prst="rect">
            <a:avLst/>
          </a:prstGeom>
          <a:solidFill>
            <a:srgbClr val="5EEAD4"/>
          </a:solidFill>
          <a:ln w="12700">
            <a:solidFill>
              <a:srgbClr val="5EEAD4">
                <a:alpha val="0"/>
              </a:srgbClr>
            </a:solidFill>
            <a:prstDash val="solid"/>
          </a:ln>
        </p:spPr>
      </p:sp>
      <p:sp>
        <p:nvSpPr>
          <p:cNvPr id="15" name="Shape 7"/>
          <p:cNvSpPr/>
          <p:nvPr/>
        </p:nvSpPr>
        <p:spPr>
          <a:xfrm>
            <a:off x="11048695" y="2857500"/>
            <a:ext cx="19202" cy="190195"/>
          </a:xfrm>
          <a:prstGeom prst="rect">
            <a:avLst/>
          </a:prstGeom>
          <a:solidFill>
            <a:srgbClr val="5EEAD4"/>
          </a:solidFill>
          <a:ln w="12700">
            <a:solidFill>
              <a:srgbClr val="5EEAD4">
                <a:alpha val="0"/>
              </a:srgbClr>
            </a:solidFill>
            <a:prstDash val="solid"/>
          </a:ln>
        </p:spPr>
      </p:sp>
      <p:sp>
        <p:nvSpPr>
          <p:cNvPr id="16" name="Shape 8"/>
          <p:cNvSpPr/>
          <p:nvPr/>
        </p:nvSpPr>
        <p:spPr>
          <a:xfrm>
            <a:off x="761695" y="9334195"/>
            <a:ext cx="190195" cy="19202"/>
          </a:xfrm>
          <a:prstGeom prst="rect">
            <a:avLst/>
          </a:prstGeom>
          <a:solidFill>
            <a:srgbClr val="5EEAD4"/>
          </a:solidFill>
          <a:ln w="12700">
            <a:solidFill>
              <a:srgbClr val="5EEAD4">
                <a:alpha val="0"/>
              </a:srgbClr>
            </a:solidFill>
            <a:prstDash val="solid"/>
          </a:ln>
        </p:spPr>
      </p:sp>
      <p:sp>
        <p:nvSpPr>
          <p:cNvPr id="17" name="Shape 9"/>
          <p:cNvSpPr/>
          <p:nvPr/>
        </p:nvSpPr>
        <p:spPr>
          <a:xfrm>
            <a:off x="761695" y="9163202"/>
            <a:ext cx="19202" cy="190195"/>
          </a:xfrm>
          <a:prstGeom prst="rect">
            <a:avLst/>
          </a:prstGeom>
          <a:solidFill>
            <a:srgbClr val="5EEAD4"/>
          </a:solidFill>
          <a:ln w="12700">
            <a:solidFill>
              <a:srgbClr val="5EEAD4">
                <a:alpha val="0"/>
              </a:srgbClr>
            </a:solidFill>
            <a:prstDash val="solid"/>
          </a:ln>
        </p:spPr>
      </p:sp>
      <p:sp>
        <p:nvSpPr>
          <p:cNvPr id="18" name="Shape 10"/>
          <p:cNvSpPr/>
          <p:nvPr/>
        </p:nvSpPr>
        <p:spPr>
          <a:xfrm>
            <a:off x="10877702" y="9334195"/>
            <a:ext cx="190195" cy="19202"/>
          </a:xfrm>
          <a:prstGeom prst="rect">
            <a:avLst/>
          </a:prstGeom>
          <a:solidFill>
            <a:srgbClr val="5EEAD4"/>
          </a:solidFill>
          <a:ln w="12700">
            <a:solidFill>
              <a:srgbClr val="5EEAD4">
                <a:alpha val="0"/>
              </a:srgbClr>
            </a:solidFill>
            <a:prstDash val="solid"/>
          </a:ln>
        </p:spPr>
      </p:sp>
      <p:sp>
        <p:nvSpPr>
          <p:cNvPr id="19" name="Shape 11"/>
          <p:cNvSpPr/>
          <p:nvPr/>
        </p:nvSpPr>
        <p:spPr>
          <a:xfrm>
            <a:off x="11048695" y="9163202"/>
            <a:ext cx="19202" cy="190195"/>
          </a:xfrm>
          <a:prstGeom prst="rect">
            <a:avLst/>
          </a:prstGeom>
          <a:solidFill>
            <a:srgbClr val="5EEAD4"/>
          </a:solidFill>
          <a:ln w="12700">
            <a:solidFill>
              <a:srgbClr val="5EEAD4">
                <a:alpha val="0"/>
              </a:srgbClr>
            </a:solidFill>
            <a:prstDash val="solid"/>
          </a:ln>
        </p:spPr>
      </p:sp>
      <p:sp>
        <p:nvSpPr>
          <p:cNvPr id="20" name="Shape 12"/>
          <p:cNvSpPr/>
          <p:nvPr/>
        </p:nvSpPr>
        <p:spPr>
          <a:xfrm>
            <a:off x="761695" y="8762695"/>
            <a:ext cx="10287000" cy="571500"/>
          </a:xfrm>
          <a:prstGeom prst="rect">
            <a:avLst/>
          </a:prstGeom>
          <a:solidFill>
            <a:srgbClr val="0B0F1B">
              <a:alpha val="85000"/>
            </a:srgbClr>
          </a:solidFill>
          <a:ln w="12700">
            <a:solidFill>
              <a:srgbClr val="FFFFFF">
                <a:alpha val="0"/>
              </a:srgbClr>
            </a:solidFill>
            <a:prstDash val="solid"/>
          </a:ln>
        </p:spPr>
      </p:sp>
      <p:pic>
        <p:nvPicPr>
          <p:cNvPr id="21" name="Image 5" descr="gen-dedup-fb7284239b65d37878da76aad5baf72f.png">    </p:cNvPr>
          <p:cNvPicPr>
            <a:picLocks noChangeAspect="1"/>
          </p:cNvPicPr>
          <p:nvPr/>
        </p:nvPicPr>
        <p:blipFill>
          <a:blip r:embed="rId6"/>
          <a:srcRect l="0" r="0" t="-437" b="-437"/>
          <a:stretch/>
        </p:blipFill>
        <p:spPr>
          <a:xfrm>
            <a:off x="761695" y="662026"/>
            <a:ext cx="418795" cy="19202"/>
          </a:xfrm>
          <a:prstGeom prst="rect">
            <a:avLst/>
          </a:prstGeom>
        </p:spPr>
      </p:pic>
      <p:sp>
        <p:nvSpPr>
          <p:cNvPr id="22" name="Text 13"/>
          <p:cNvSpPr txBox="1"/>
          <p:nvPr/>
        </p:nvSpPr>
        <p:spPr>
          <a:xfrm>
            <a:off x="1352398" y="590702"/>
            <a:ext cx="31912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04 — SEM CROSS-SECTION</a:t>
            </a:r>
            <a:endParaRPr lang="en-US" sz="975" dirty="0"/>
          </a:p>
        </p:txBody>
      </p:sp>
      <p:sp>
        <p:nvSpPr>
          <p:cNvPr id="23" name="Text 14"/>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04</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4" name="Text 15"/>
          <p:cNvSpPr txBox="1"/>
          <p:nvPr/>
        </p:nvSpPr>
        <p:spPr>
          <a:xfrm>
            <a:off x="761695" y="1238098"/>
            <a:ext cx="13335610" cy="571500"/>
          </a:xfrm>
          <a:prstGeom prst="rect">
            <a:avLst/>
          </a:prstGeom>
          <a:noFill/>
          <a:ln/>
        </p:spPr>
        <p:txBody>
          <a:bodyPr wrap="none" lIns="0" tIns="0" rIns="0" bIns="0" rtlCol="0" anchor="ctr"/>
          <a:lstStyle/>
          <a:p>
            <a:pPr algn="l" indent="0" marL="0">
              <a:buNone/>
            </a:pPr>
            <a:r>
              <a:rPr lang="en-US" sz="4500" b="1" spc="-158" kern="0" dirty="0">
                <a:solidFill>
                  <a:srgbClr val="E8EDF5"/>
                </a:solidFill>
                <a:latin typeface="Inter" pitchFamily="34" charset="0"/>
                <a:ea typeface="Inter" pitchFamily="34" charset="-122"/>
                <a:cs typeface="Inter" pitchFamily="34" charset="-120"/>
              </a:rPr>
              <a:t>Wafer 단면 </a:t>
            </a:r>
            <a:pPr algn="l" indent="0" marL="0">
              <a:buNone/>
            </a:pPr>
            <a:r>
              <a:rPr lang="en-US" sz="4500" b="1" spc="-158" kern="0" dirty="0">
                <a:solidFill>
                  <a:srgbClr val="5EEAD4"/>
                </a:solidFill>
                <a:latin typeface="Inter" pitchFamily="34" charset="0"/>
                <a:ea typeface="Inter" pitchFamily="34" charset="-122"/>
                <a:cs typeface="Inter" pitchFamily="34" charset="-120"/>
              </a:rPr>
              <a:t>SEM</a:t>
            </a:r>
            <a:pPr algn="l" indent="0" marL="0">
              <a:buNone/>
            </a:pPr>
            <a:r>
              <a:rPr lang="en-US" sz="4500" b="1" spc="-158" kern="0" dirty="0">
                <a:solidFill>
                  <a:srgbClr val="E8EDF5"/>
                </a:solidFill>
                <a:latin typeface="Inter" pitchFamily="34" charset="0"/>
                <a:ea typeface="Inter" pitchFamily="34" charset="-122"/>
                <a:cs typeface="Inter" pitchFamily="34" charset="-120"/>
              </a:rPr>
              <a:t> 비교</a:t>
            </a:r>
            <a:endParaRPr lang="en-US" sz="4500" dirty="0"/>
          </a:p>
        </p:txBody>
      </p:sp>
      <p:sp>
        <p:nvSpPr>
          <p:cNvPr id="25" name="Text 16"/>
          <p:cNvSpPr txBox="1"/>
          <p:nvPr/>
        </p:nvSpPr>
        <p:spPr>
          <a:xfrm>
            <a:off x="761695" y="1962302"/>
            <a:ext cx="13335610" cy="247802"/>
          </a:xfrm>
          <a:prstGeom prst="rect">
            <a:avLst/>
          </a:prstGeom>
          <a:noFill/>
          <a:ln/>
        </p:spPr>
        <p:txBody>
          <a:bodyPr wrap="none" lIns="0" tIns="0" rIns="0" bIns="0" rtlCol="0" anchor="ctr"/>
          <a:lstStyle/>
          <a:p>
            <a:pPr algn="l" indent="0" marL="0">
              <a:buNone/>
            </a:pPr>
            <a:r>
              <a:rPr lang="en-US" sz="1350" dirty="0">
                <a:solidFill>
                  <a:srgbClr val="94A3B8"/>
                </a:solidFill>
                <a:latin typeface="Inter" pitchFamily="34" charset="0"/>
                <a:ea typeface="Inter" pitchFamily="34" charset="-122"/>
                <a:cs typeface="Inter" pitchFamily="34" charset="-120"/>
              </a:rPr>
              <a:t>M8 단 post-CMP 상태 · 5kx magnification 대표 단면 · wafer별 동일 die 위치.</a:t>
            </a:r>
            <a:endParaRPr lang="en-US" sz="1350" dirty="0"/>
          </a:p>
        </p:txBody>
      </p:sp>
      <p:sp>
        <p:nvSpPr>
          <p:cNvPr id="26" name="Text 17"/>
          <p:cNvSpPr txBox="1"/>
          <p:nvPr/>
        </p:nvSpPr>
        <p:spPr>
          <a:xfrm>
            <a:off x="14097305" y="1601114"/>
            <a:ext cx="3429000" cy="390449"/>
          </a:xfrm>
          <a:prstGeom prst="rect">
            <a:avLst/>
          </a:prstGeom>
          <a:noFill/>
          <a:ln/>
        </p:spPr>
        <p:txBody>
          <a:bodyPr wrap="square" lIns="0" tIns="0" rIns="0" bIns="0" rtlCol="0" anchor="t"/>
          <a:lstStyle/>
          <a:p>
            <a:pPr algn="l" indent="0" marL="0">
              <a:lnSpc>
                <a:spcPts val="1463"/>
              </a:lnSpc>
              <a:buNone/>
            </a:pPr>
            <a:r>
              <a:rPr lang="en-US" sz="975" dirty="0">
                <a:solidFill>
                  <a:srgbClr val="64748B"/>
                </a:solidFill>
                <a:latin typeface="Inter" pitchFamily="34" charset="0"/>
                <a:ea typeface="Inter" pitchFamily="34" charset="-122"/>
                <a:cs typeface="Inter" pitchFamily="34" charset="-120"/>
              </a:rPr>
              <a:t>Referenced image</a:t>
            </a:r>
            <a:pPr algn="l" indent="0" marL="0">
              <a:lnSpc>
                <a:spcPts val="1463"/>
              </a:lnSpc>
              <a:buNone/>
            </a:pPr>
            <a:endParaRPr lang="en-US" sz="975" dirty="0"/>
          </a:p>
          <a:p>
            <a:pPr algn="l" indent="0" marL="0">
              <a:lnSpc>
                <a:spcPts val="1463"/>
              </a:lnSpc>
              <a:buNone/>
            </a:pPr>
            <a:r>
              <a:rPr lang="en-US" sz="975" dirty="0">
                <a:solidFill>
                  <a:srgbClr val="64748B"/>
                </a:solidFill>
                <a:latin typeface="Inter" pitchFamily="34" charset="0"/>
                <a:ea typeface="Inter" pitchFamily="34" charset="-122"/>
                <a:cs typeface="Inter" pitchFamily="34" charset="-120"/>
              </a:rPr>
              <a:t>(structure reference, SEM source via open literature)</a:t>
            </a:r>
            <a:endParaRPr lang="en-US" sz="975" dirty="0"/>
          </a:p>
        </p:txBody>
      </p:sp>
      <p:sp>
        <p:nvSpPr>
          <p:cNvPr id="27" name="Text 18"/>
          <p:cNvSpPr txBox="1"/>
          <p:nvPr/>
        </p:nvSpPr>
        <p:spPr>
          <a:xfrm>
            <a:off x="990295" y="8762695"/>
            <a:ext cx="5715000" cy="571500"/>
          </a:xfrm>
          <a:prstGeom prst="rect">
            <a:avLst/>
          </a:prstGeom>
          <a:noFill/>
          <a:ln/>
        </p:spPr>
        <p:txBody>
          <a:bodyPr wrap="none" lIns="0" tIns="0" rIns="0" bIns="0" rtlCol="0" anchor="ctr"/>
          <a:lstStyle/>
          <a:p>
            <a:pPr algn="l" indent="0" marL="0">
              <a:buNone/>
            </a:pPr>
            <a:r>
              <a:rPr lang="en-US" sz="900" b="1" spc="135" kern="0" dirty="0">
                <a:solidFill>
                  <a:srgbClr val="5EEAD4"/>
                </a:solidFill>
                <a:latin typeface="JetBrains Mono" pitchFamily="34" charset="0"/>
                <a:ea typeface="JetBrains Mono" pitchFamily="34" charset="-122"/>
                <a:cs typeface="JetBrains Mono" pitchFamily="34" charset="-120"/>
              </a:rPr>
              <a:t>SEM · 5.0 kx · TILT 0° · 5 µm scale</a:t>
            </a:r>
            <a:endParaRPr lang="en-US" sz="900" dirty="0"/>
          </a:p>
        </p:txBody>
      </p:sp>
      <p:sp>
        <p:nvSpPr>
          <p:cNvPr id="28" name="Text 19"/>
          <p:cNvSpPr txBox="1"/>
          <p:nvPr/>
        </p:nvSpPr>
        <p:spPr>
          <a:xfrm>
            <a:off x="6705295" y="8762695"/>
            <a:ext cx="4191610" cy="571500"/>
          </a:xfrm>
          <a:prstGeom prst="rect">
            <a:avLst/>
          </a:prstGeom>
          <a:noFill/>
          <a:ln/>
        </p:spPr>
        <p:txBody>
          <a:bodyPr wrap="non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Reference image source: research publications</a:t>
            </a:r>
            <a:endParaRPr lang="en-US" sz="900" dirty="0"/>
          </a:p>
        </p:txBody>
      </p:sp>
      <p:sp>
        <p:nvSpPr>
          <p:cNvPr id="29" name="Text 20"/>
          <p:cNvSpPr txBox="1"/>
          <p:nvPr/>
        </p:nvSpPr>
        <p:spPr>
          <a:xfrm>
            <a:off x="11734495" y="3143707"/>
            <a:ext cx="5715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VISUAL OBSERVATIONS</a:t>
            </a:r>
            <a:endParaRPr lang="en-US" sz="825" dirty="0"/>
          </a:p>
        </p:txBody>
      </p:sp>
      <p:sp>
        <p:nvSpPr>
          <p:cNvPr id="30" name="Text 21"/>
          <p:cNvSpPr txBox="1"/>
          <p:nvPr/>
        </p:nvSpPr>
        <p:spPr>
          <a:xfrm>
            <a:off x="11734495" y="3409798"/>
            <a:ext cx="5715000" cy="734263"/>
          </a:xfrm>
          <a:prstGeom prst="rect">
            <a:avLst/>
          </a:prstGeom>
          <a:noFill/>
          <a:ln/>
        </p:spPr>
        <p:txBody>
          <a:bodyPr wrap="square" lIns="0" tIns="0" rIns="0" bIns="0" rtlCol="0" anchor="t"/>
          <a:lstStyle/>
          <a:p>
            <a:pPr algn="l" indent="0" marL="0">
              <a:lnSpc>
                <a:spcPct val="120000"/>
              </a:lnSpc>
              <a:buNone/>
            </a:pPr>
            <a:r>
              <a:rPr lang="en-US" sz="2400" b="1" spc="-60" kern="0" dirty="0">
                <a:solidFill>
                  <a:srgbClr val="E8EDF5"/>
                </a:solidFill>
                <a:latin typeface="Inter" pitchFamily="34" charset="0"/>
                <a:ea typeface="Inter" pitchFamily="34" charset="-122"/>
                <a:cs typeface="Inter" pitchFamily="34" charset="-120"/>
              </a:rPr>
              <a:t>Sidewall taper</a:t>
            </a:r>
            <a:pPr algn="l" indent="0" marL="0">
              <a:lnSpc>
                <a:spcPct val="120000"/>
              </a:lnSpc>
              <a:buNone/>
            </a:pPr>
            <a:endParaRPr lang="en-US" sz="2400" dirty="0"/>
          </a:p>
          <a:p>
            <a:pPr algn="l" indent="0" marL="0">
              <a:lnSpc>
                <a:spcPct val="120000"/>
              </a:lnSpc>
              <a:buNone/>
            </a:pPr>
            <a:r>
              <a:rPr lang="en-US" sz="2400" b="1" spc="-60" kern="0" dirty="0">
                <a:solidFill>
                  <a:srgbClr val="E8EDF5"/>
                </a:solidFill>
                <a:latin typeface="Inter" pitchFamily="34" charset="0"/>
                <a:ea typeface="Inter" pitchFamily="34" charset="-122"/>
                <a:cs typeface="Inter" pitchFamily="34" charset="-120"/>
              </a:rPr>
              <a:t>etch time과 </a:t>
            </a:r>
            <a:pPr algn="l" indent="0" marL="0">
              <a:lnSpc>
                <a:spcPct val="120000"/>
              </a:lnSpc>
              <a:buNone/>
            </a:pPr>
            <a:r>
              <a:rPr lang="en-US" sz="2400" b="1" spc="-60" kern="0" dirty="0">
                <a:solidFill>
                  <a:srgbClr val="FB923C"/>
                </a:solidFill>
                <a:latin typeface="Inter" pitchFamily="34" charset="0"/>
                <a:ea typeface="Inter" pitchFamily="34" charset="-122"/>
                <a:cs typeface="Inter" pitchFamily="34" charset="-120"/>
              </a:rPr>
              <a:t>비례 증가</a:t>
            </a:r>
            <a:endParaRPr lang="en-US" sz="2400" dirty="0"/>
          </a:p>
        </p:txBody>
      </p:sp>
      <p:sp>
        <p:nvSpPr>
          <p:cNvPr id="31" name="Text 22"/>
          <p:cNvSpPr txBox="1"/>
          <p:nvPr/>
        </p:nvSpPr>
        <p:spPr>
          <a:xfrm>
            <a:off x="11963095" y="4667098"/>
            <a:ext cx="5334610" cy="200254"/>
          </a:xfrm>
          <a:prstGeom prst="rect">
            <a:avLst/>
          </a:prstGeom>
          <a:noFill/>
          <a:ln/>
        </p:spPr>
        <p:txBody>
          <a:bodyPr wrap="none" lIns="0" tIns="0" rIns="0" bIns="0" rtlCol="0" anchor="ctr"/>
          <a:lstStyle/>
          <a:p>
            <a:pPr algn="l" indent="0" marL="0">
              <a:buNone/>
            </a:pPr>
            <a:r>
              <a:rPr lang="en-US" sz="1350" b="1" dirty="0">
                <a:solidFill>
                  <a:srgbClr val="E8EDF5"/>
                </a:solidFill>
                <a:latin typeface="Inter" pitchFamily="34" charset="0"/>
                <a:ea typeface="Inter" pitchFamily="34" charset="-122"/>
                <a:cs typeface="Inter" pitchFamily="34" charset="-120"/>
              </a:rPr>
              <a:t>W1 · nominal profile</a:t>
            </a:r>
            <a:endParaRPr lang="en-US" sz="1350" dirty="0"/>
          </a:p>
        </p:txBody>
      </p:sp>
      <p:sp>
        <p:nvSpPr>
          <p:cNvPr id="32" name="Text 23"/>
          <p:cNvSpPr txBox="1"/>
          <p:nvPr/>
        </p:nvSpPr>
        <p:spPr>
          <a:xfrm>
            <a:off x="11963095" y="4924044"/>
            <a:ext cx="5334610" cy="200254"/>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Sidewall 각도 ≈88°, Cu seam 중앙 정렬, void 없음.</a:t>
            </a:r>
            <a:endParaRPr lang="en-US" sz="1050" dirty="0"/>
          </a:p>
        </p:txBody>
      </p:sp>
      <p:sp>
        <p:nvSpPr>
          <p:cNvPr id="33" name="Text 24"/>
          <p:cNvSpPr txBox="1"/>
          <p:nvPr/>
        </p:nvSpPr>
        <p:spPr>
          <a:xfrm>
            <a:off x="11963095" y="5581498"/>
            <a:ext cx="5334610" cy="200254"/>
          </a:xfrm>
          <a:prstGeom prst="rect">
            <a:avLst/>
          </a:prstGeom>
          <a:noFill/>
          <a:ln/>
        </p:spPr>
        <p:txBody>
          <a:bodyPr wrap="none" lIns="0" tIns="0" rIns="0" bIns="0" rtlCol="0" anchor="ctr"/>
          <a:lstStyle/>
          <a:p>
            <a:pPr algn="l" indent="0" marL="0">
              <a:buNone/>
            </a:pPr>
            <a:r>
              <a:rPr lang="en-US" sz="1350" b="1" dirty="0">
                <a:solidFill>
                  <a:srgbClr val="E8EDF5"/>
                </a:solidFill>
                <a:latin typeface="Inter" pitchFamily="34" charset="0"/>
                <a:ea typeface="Inter" pitchFamily="34" charset="-122"/>
                <a:cs typeface="Inter" pitchFamily="34" charset="-120"/>
              </a:rPr>
              <a:t>W2 · medium swell</a:t>
            </a:r>
            <a:endParaRPr lang="en-US" sz="1350" dirty="0"/>
          </a:p>
        </p:txBody>
      </p:sp>
      <p:sp>
        <p:nvSpPr>
          <p:cNvPr id="34" name="Text 25"/>
          <p:cNvSpPr txBox="1"/>
          <p:nvPr/>
        </p:nvSpPr>
        <p:spPr>
          <a:xfrm>
            <a:off x="11963095" y="5838444"/>
            <a:ext cx="5334610" cy="200254"/>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Taper 86°, bow 발생 미세 관찰, CD 감축 3% 미만.</a:t>
            </a:r>
            <a:endParaRPr lang="en-US" sz="1050" dirty="0"/>
          </a:p>
        </p:txBody>
      </p:sp>
      <p:sp>
        <p:nvSpPr>
          <p:cNvPr id="35" name="Text 26"/>
          <p:cNvSpPr txBox="1"/>
          <p:nvPr/>
        </p:nvSpPr>
        <p:spPr>
          <a:xfrm>
            <a:off x="11963095" y="6495898"/>
            <a:ext cx="5334610" cy="247802"/>
          </a:xfrm>
          <a:prstGeom prst="rect">
            <a:avLst/>
          </a:prstGeom>
          <a:noFill/>
          <a:ln/>
        </p:spPr>
        <p:txBody>
          <a:bodyPr wrap="none" lIns="0" tIns="0" rIns="0" bIns="0" rtlCol="0" anchor="ctr"/>
          <a:lstStyle/>
          <a:p>
            <a:pPr algn="l" indent="0" marL="0">
              <a:buNone/>
            </a:pPr>
            <a:r>
              <a:rPr lang="en-US" sz="1350" b="1" dirty="0">
                <a:solidFill>
                  <a:srgbClr val="E8EDF5"/>
                </a:solidFill>
                <a:latin typeface="Inter" pitchFamily="34" charset="0"/>
                <a:ea typeface="Inter" pitchFamily="34" charset="-122"/>
                <a:cs typeface="Inter" pitchFamily="34" charset="-120"/>
              </a:rPr>
              <a:t>W3 · micro-trench 관찰</a:t>
            </a:r>
            <a:endParaRPr lang="en-US" sz="1350" dirty="0"/>
          </a:p>
        </p:txBody>
      </p:sp>
      <p:sp>
        <p:nvSpPr>
          <p:cNvPr id="36" name="Text 27"/>
          <p:cNvSpPr txBox="1"/>
          <p:nvPr/>
        </p:nvSpPr>
        <p:spPr>
          <a:xfrm>
            <a:off x="11963095" y="6801307"/>
            <a:ext cx="5334610" cy="200254"/>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Taper 84°, 일부 corner rounding, sidewall damage 누적.</a:t>
            </a:r>
            <a:endParaRPr lang="en-US" sz="1050" dirty="0"/>
          </a:p>
        </p:txBody>
      </p:sp>
      <p:sp>
        <p:nvSpPr>
          <p:cNvPr id="37" name="Text 28"/>
          <p:cNvSpPr txBox="1"/>
          <p:nvPr/>
        </p:nvSpPr>
        <p:spPr>
          <a:xfrm>
            <a:off x="11963095" y="7601407"/>
            <a:ext cx="514350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SEM-BASED TILT SUMMARY</a:t>
            </a:r>
            <a:endParaRPr lang="en-US" sz="825" dirty="0"/>
          </a:p>
        </p:txBody>
      </p:sp>
      <p:sp>
        <p:nvSpPr>
          <p:cNvPr id="38" name="Text 29"/>
          <p:cNvSpPr txBox="1"/>
          <p:nvPr/>
        </p:nvSpPr>
        <p:spPr>
          <a:xfrm>
            <a:off x="11963095" y="7905902"/>
            <a:ext cx="1527962"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W1 sidewall angle</a:t>
            </a:r>
            <a:endParaRPr lang="en-US" sz="1050" dirty="0"/>
          </a:p>
        </p:txBody>
      </p:sp>
      <p:sp>
        <p:nvSpPr>
          <p:cNvPr id="39" name="Text 30"/>
          <p:cNvSpPr txBox="1"/>
          <p:nvPr/>
        </p:nvSpPr>
        <p:spPr>
          <a:xfrm>
            <a:off x="16592702" y="7867498"/>
            <a:ext cx="514807" cy="219456"/>
          </a:xfrm>
          <a:prstGeom prst="rect">
            <a:avLst/>
          </a:prstGeom>
          <a:noFill/>
          <a:ln/>
        </p:spPr>
        <p:txBody>
          <a:bodyPr wrap="none" lIns="0" tIns="0" rIns="0" bIns="0" rtlCol="0" anchor="ctr"/>
          <a:lstStyle/>
          <a:p>
            <a:pPr algn="l" indent="0" marL="0">
              <a:buNone/>
            </a:pPr>
            <a:r>
              <a:rPr lang="en-US" sz="1350" b="1" dirty="0">
                <a:solidFill>
                  <a:srgbClr val="5EEAD4"/>
                </a:solidFill>
                <a:latin typeface="JetBrains Mono" pitchFamily="34" charset="0"/>
                <a:ea typeface="JetBrains Mono" pitchFamily="34" charset="-122"/>
                <a:cs typeface="JetBrains Mono" pitchFamily="34" charset="-120"/>
              </a:rPr>
              <a:t>88.2°</a:t>
            </a:r>
            <a:endParaRPr lang="en-US" sz="1350" dirty="0"/>
          </a:p>
        </p:txBody>
      </p:sp>
      <p:sp>
        <p:nvSpPr>
          <p:cNvPr id="40" name="Text 31"/>
          <p:cNvSpPr txBox="1"/>
          <p:nvPr/>
        </p:nvSpPr>
        <p:spPr>
          <a:xfrm>
            <a:off x="11963095" y="8220456"/>
            <a:ext cx="1531620"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W2 sidewall angle</a:t>
            </a:r>
            <a:endParaRPr lang="en-US" sz="1050" dirty="0"/>
          </a:p>
        </p:txBody>
      </p:sp>
      <p:sp>
        <p:nvSpPr>
          <p:cNvPr id="41" name="Text 32"/>
          <p:cNvSpPr txBox="1"/>
          <p:nvPr/>
        </p:nvSpPr>
        <p:spPr>
          <a:xfrm>
            <a:off x="16592702" y="8182051"/>
            <a:ext cx="514807" cy="219456"/>
          </a:xfrm>
          <a:prstGeom prst="rect">
            <a:avLst/>
          </a:prstGeom>
          <a:noFill/>
          <a:ln/>
        </p:spPr>
        <p:txBody>
          <a:bodyPr wrap="none" lIns="0" tIns="0" rIns="0" bIns="0" rtlCol="0" anchor="ctr"/>
          <a:lstStyle/>
          <a:p>
            <a:pPr algn="l" indent="0" marL="0">
              <a:buNone/>
            </a:pPr>
            <a:r>
              <a:rPr lang="en-US" sz="1350" b="1" dirty="0">
                <a:solidFill>
                  <a:srgbClr val="FB923C"/>
                </a:solidFill>
                <a:latin typeface="JetBrains Mono" pitchFamily="34" charset="0"/>
                <a:ea typeface="JetBrains Mono" pitchFamily="34" charset="-122"/>
                <a:cs typeface="JetBrains Mono" pitchFamily="34" charset="-120"/>
              </a:rPr>
              <a:t>86.4°</a:t>
            </a:r>
            <a:endParaRPr lang="en-US" sz="1350" dirty="0"/>
          </a:p>
        </p:txBody>
      </p:sp>
      <p:sp>
        <p:nvSpPr>
          <p:cNvPr id="42" name="Text 33"/>
          <p:cNvSpPr txBox="1"/>
          <p:nvPr/>
        </p:nvSpPr>
        <p:spPr>
          <a:xfrm>
            <a:off x="11963095" y="8534095"/>
            <a:ext cx="1531620"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W3 sidewall angle</a:t>
            </a:r>
            <a:endParaRPr lang="en-US" sz="1050" dirty="0"/>
          </a:p>
        </p:txBody>
      </p:sp>
      <p:sp>
        <p:nvSpPr>
          <p:cNvPr id="43" name="Text 34"/>
          <p:cNvSpPr txBox="1"/>
          <p:nvPr/>
        </p:nvSpPr>
        <p:spPr>
          <a:xfrm>
            <a:off x="16592702" y="8496605"/>
            <a:ext cx="514807" cy="219456"/>
          </a:xfrm>
          <a:prstGeom prst="rect">
            <a:avLst/>
          </a:prstGeom>
          <a:noFill/>
          <a:ln/>
        </p:spPr>
        <p:txBody>
          <a:bodyPr wrap="none" lIns="0" tIns="0" rIns="0" bIns="0" rtlCol="0" anchor="ctr"/>
          <a:lstStyle/>
          <a:p>
            <a:pPr algn="l" indent="0" marL="0">
              <a:buNone/>
            </a:pPr>
            <a:r>
              <a:rPr lang="en-US" sz="1350" b="1" dirty="0">
                <a:solidFill>
                  <a:srgbClr val="F472B6"/>
                </a:solidFill>
                <a:latin typeface="JetBrains Mono" pitchFamily="34" charset="0"/>
                <a:ea typeface="JetBrains Mono" pitchFamily="34" charset="-122"/>
                <a:cs typeface="JetBrains Mono" pitchFamily="34" charset="-120"/>
              </a:rPr>
              <a:t>84.1°</a:t>
            </a:r>
            <a:endParaRPr lang="en-US" sz="1350" dirty="0"/>
          </a:p>
        </p:txBody>
      </p:sp>
      <p:pic>
        <p:nvPicPr>
          <p:cNvPr id="44" name="Image 6" descr="gen-dedup-41df4fb73e13824d9bf43e735c70451d.png">    </p:cNvPr>
          <p:cNvPicPr>
            <a:picLocks noChangeAspect="1"/>
          </p:cNvPicPr>
          <p:nvPr/>
        </p:nvPicPr>
        <p:blipFill>
          <a:blip r:embed="rId7"/>
          <a:srcRect l="-2029" r="-2029" t="0" b="0"/>
          <a:stretch/>
        </p:blipFill>
        <p:spPr>
          <a:xfrm>
            <a:off x="761695" y="10067544"/>
            <a:ext cx="304495" cy="9144"/>
          </a:xfrm>
          <a:prstGeom prst="rect">
            <a:avLst/>
          </a:prstGeom>
        </p:spPr>
      </p:pic>
      <p:sp>
        <p:nvSpPr>
          <p:cNvPr id="45" name="Text 35"/>
          <p:cNvSpPr txBox="1"/>
          <p:nvPr/>
        </p:nvSpPr>
        <p:spPr>
          <a:xfrm>
            <a:off x="1238098" y="9982505"/>
            <a:ext cx="4715561"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 · Reference 이미지 출처: 공개 문헌</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B"/>
        </a:solidFill>
      </p:bgPr>
    </p:bg>
    <p:spTree>
      <p:nvGrpSpPr>
        <p:cNvPr id="1" name=""/>
        <p:cNvGrpSpPr/>
        <p:nvPr/>
      </p:nvGrpSpPr>
      <p:grpSpPr>
        <a:xfrm>
          <a:off x="0" y="0"/>
          <a:ext cx="0" cy="0"/>
          <a:chOff x="0" y="0"/>
          <a:chExt cx="0" cy="0"/>
        </a:xfrm>
      </p:grpSpPr>
      <p:pic>
        <p:nvPicPr>
          <p:cNvPr id="3" name="Image 0" descr="gen-dedup-59ddb795a4e509bb1b76a8ed891b19a5.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857500"/>
            <a:ext cx="10877702" cy="6495898"/>
          </a:xfrm>
          <a:prstGeom prst="rect">
            <a:avLst/>
          </a:prstGeom>
          <a:solidFill>
            <a:srgbClr val="000000"/>
          </a:solidFill>
          <a:ln w="12700">
            <a:solidFill>
              <a:srgbClr val="1F2A40"/>
            </a:solidFill>
            <a:prstDash val="solid"/>
          </a:ln>
        </p:spPr>
      </p:sp>
      <p:pic>
        <p:nvPicPr>
          <p:cNvPr id="5" name="Image 1" descr="gen-dedup-d81888af360c8eb5fa7c9eec8f69e239.png">    </p:cNvPr>
          <p:cNvPicPr>
            <a:picLocks noChangeAspect="1"/>
          </p:cNvPicPr>
          <p:nvPr/>
        </p:nvPicPr>
        <p:blipFill>
          <a:blip r:embed="rId2"/>
          <a:srcRect l="-8" r="-8" t="0" b="0"/>
          <a:stretch/>
        </p:blipFill>
        <p:spPr>
          <a:xfrm>
            <a:off x="12001500" y="2857500"/>
            <a:ext cx="5544007" cy="1923898"/>
          </a:xfrm>
          <a:prstGeom prst="rect">
            <a:avLst/>
          </a:prstGeom>
        </p:spPr>
      </p:pic>
      <p:sp>
        <p:nvSpPr>
          <p:cNvPr id="6" name="Shape 1"/>
          <p:cNvSpPr/>
          <p:nvPr/>
        </p:nvSpPr>
        <p:spPr>
          <a:xfrm>
            <a:off x="12001500" y="4953305"/>
            <a:ext cx="2686507" cy="2115007"/>
          </a:xfrm>
          <a:prstGeom prst="rect">
            <a:avLst/>
          </a:prstGeom>
          <a:solidFill>
            <a:srgbClr val="141A28"/>
          </a:solidFill>
          <a:ln w="12700">
            <a:solidFill>
              <a:srgbClr val="1F2A40"/>
            </a:solidFill>
            <a:prstDash val="solid"/>
          </a:ln>
        </p:spPr>
      </p:sp>
      <p:sp>
        <p:nvSpPr>
          <p:cNvPr id="7" name="Shape 2"/>
          <p:cNvSpPr/>
          <p:nvPr/>
        </p:nvSpPr>
        <p:spPr>
          <a:xfrm>
            <a:off x="14859000" y="4953305"/>
            <a:ext cx="2686507" cy="2115007"/>
          </a:xfrm>
          <a:prstGeom prst="rect">
            <a:avLst/>
          </a:prstGeom>
          <a:solidFill>
            <a:srgbClr val="141A28"/>
          </a:solidFill>
          <a:ln w="12700">
            <a:solidFill>
              <a:srgbClr val="1F2A40"/>
            </a:solidFill>
            <a:prstDash val="solid"/>
          </a:ln>
        </p:spPr>
      </p:sp>
      <p:sp>
        <p:nvSpPr>
          <p:cNvPr id="8" name="Shape 3"/>
          <p:cNvSpPr/>
          <p:nvPr/>
        </p:nvSpPr>
        <p:spPr>
          <a:xfrm>
            <a:off x="12001500" y="7239305"/>
            <a:ext cx="2686507" cy="2115007"/>
          </a:xfrm>
          <a:prstGeom prst="rect">
            <a:avLst/>
          </a:prstGeom>
          <a:solidFill>
            <a:srgbClr val="141A28"/>
          </a:solidFill>
          <a:ln w="12700">
            <a:solidFill>
              <a:srgbClr val="1F2A40"/>
            </a:solidFill>
            <a:prstDash val="solid"/>
          </a:ln>
        </p:spPr>
      </p:sp>
      <p:pic>
        <p:nvPicPr>
          <p:cNvPr id="9" name="Image 2" descr="gen-dedup-8c02edb9cc0ef449ec39d081b64ea89f.png">    </p:cNvPr>
          <p:cNvPicPr>
            <a:picLocks noChangeAspect="1"/>
          </p:cNvPicPr>
          <p:nvPr/>
        </p:nvPicPr>
        <p:blipFill>
          <a:blip r:embed="rId3"/>
          <a:srcRect l="0" r="0" t="-2" b="-2"/>
          <a:stretch/>
        </p:blipFill>
        <p:spPr>
          <a:xfrm>
            <a:off x="14859000" y="7239305"/>
            <a:ext cx="2686507" cy="2115007"/>
          </a:xfrm>
          <a:prstGeom prst="rect">
            <a:avLst/>
          </a:prstGeom>
        </p:spPr>
      </p:pic>
      <p:sp>
        <p:nvSpPr>
          <p:cNvPr id="10" name="Shape 4"/>
          <p:cNvSpPr/>
          <p:nvPr/>
        </p:nvSpPr>
        <p:spPr>
          <a:xfrm>
            <a:off x="952805" y="3047695"/>
            <a:ext cx="10477195" cy="6096305"/>
          </a:xfrm>
          <a:prstGeom prst="rect">
            <a:avLst/>
          </a:prstGeom>
          <a:solidFill>
            <a:srgbClr val="000000"/>
          </a:solidFill>
          <a:ln w="12700">
            <a:solidFill>
              <a:srgbClr val="FFFFFF">
                <a:alpha val="0"/>
              </a:srgbClr>
            </a:solidFill>
            <a:prstDash val="solid"/>
          </a:ln>
        </p:spPr>
      </p:sp>
      <p:pic>
        <p:nvPicPr>
          <p:cNvPr id="11" name="Image 3" descr="gen-dedup-65e3fc51e43c342ba93ebf822673ea6c.png">    </p:cNvPr>
          <p:cNvPicPr>
            <a:picLocks noChangeAspect="1"/>
          </p:cNvPicPr>
          <p:nvPr/>
        </p:nvPicPr>
        <p:blipFill>
          <a:blip r:embed="rId4"/>
          <a:srcRect l="0" r="0" t="-397" b="-397"/>
          <a:stretch/>
        </p:blipFill>
        <p:spPr>
          <a:xfrm>
            <a:off x="12001500" y="2857500"/>
            <a:ext cx="5524805" cy="38405"/>
          </a:xfrm>
          <a:prstGeom prst="rect">
            <a:avLst/>
          </a:prstGeom>
        </p:spPr>
      </p:pic>
      <p:sp>
        <p:nvSpPr>
          <p:cNvPr id="12" name="Shape 5"/>
          <p:cNvSpPr/>
          <p:nvPr/>
        </p:nvSpPr>
        <p:spPr>
          <a:xfrm>
            <a:off x="761695" y="8762695"/>
            <a:ext cx="10858500" cy="571500"/>
          </a:xfrm>
          <a:prstGeom prst="rect">
            <a:avLst/>
          </a:prstGeom>
          <a:solidFill>
            <a:srgbClr val="0B0F1B">
              <a:alpha val="85000"/>
            </a:srgbClr>
          </a:solidFill>
          <a:ln w="12700">
            <a:solidFill>
              <a:srgbClr val="FFFFFF">
                <a:alpha val="0"/>
              </a:srgbClr>
            </a:solidFill>
            <a:prstDash val="solid"/>
          </a:ln>
        </p:spPr>
      </p:sp>
      <p:pic>
        <p:nvPicPr>
          <p:cNvPr id="13" name="Image 4" descr="gen-dedup-fb7284239b65d37878da76aad5baf72f.png">    </p:cNvPr>
          <p:cNvPicPr>
            <a:picLocks noChangeAspect="1"/>
          </p:cNvPicPr>
          <p:nvPr/>
        </p:nvPicPr>
        <p:blipFill>
          <a:blip r:embed="rId5"/>
          <a:srcRect l="0" r="0" t="-437" b="-437"/>
          <a:stretch/>
        </p:blipFill>
        <p:spPr>
          <a:xfrm>
            <a:off x="761695" y="662026"/>
            <a:ext cx="418795" cy="19202"/>
          </a:xfrm>
          <a:prstGeom prst="rect">
            <a:avLst/>
          </a:prstGeom>
        </p:spPr>
      </p:pic>
      <p:sp>
        <p:nvSpPr>
          <p:cNvPr id="14" name="Text 6"/>
          <p:cNvSpPr txBox="1"/>
          <p:nvPr/>
        </p:nvSpPr>
        <p:spPr>
          <a:xfrm>
            <a:off x="1352398" y="590702"/>
            <a:ext cx="31912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05 — TEM CROSS-SECTION</a:t>
            </a:r>
            <a:endParaRPr lang="en-US" sz="975" dirty="0"/>
          </a:p>
        </p:txBody>
      </p:sp>
      <p:sp>
        <p:nvSpPr>
          <p:cNvPr id="15" name="Text 7"/>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05</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16" name="Text 8"/>
          <p:cNvSpPr txBox="1"/>
          <p:nvPr/>
        </p:nvSpPr>
        <p:spPr>
          <a:xfrm>
            <a:off x="761695" y="1238098"/>
            <a:ext cx="13335610" cy="571500"/>
          </a:xfrm>
          <a:prstGeom prst="rect">
            <a:avLst/>
          </a:prstGeom>
          <a:noFill/>
          <a:ln/>
        </p:spPr>
        <p:txBody>
          <a:bodyPr wrap="none" lIns="0" tIns="0" rIns="0" bIns="0" rtlCol="0" anchor="ctr"/>
          <a:lstStyle/>
          <a:p>
            <a:pPr algn="l" indent="0" marL="0">
              <a:buNone/>
            </a:pPr>
            <a:r>
              <a:rPr lang="en-US" sz="4500" b="1" spc="-158" kern="0" dirty="0">
                <a:solidFill>
                  <a:srgbClr val="E8EDF5"/>
                </a:solidFill>
                <a:latin typeface="Inter" pitchFamily="34" charset="0"/>
                <a:ea typeface="Inter" pitchFamily="34" charset="-122"/>
                <a:cs typeface="Inter" pitchFamily="34" charset="-120"/>
              </a:rPr>
              <a:t>Fine 구조 </a:t>
            </a:r>
            <a:pPr algn="l" indent="0" marL="0">
              <a:buNone/>
            </a:pPr>
            <a:r>
              <a:rPr lang="en-US" sz="4500" b="1" spc="-158" kern="0" dirty="0">
                <a:solidFill>
                  <a:srgbClr val="5EEAD4"/>
                </a:solidFill>
                <a:latin typeface="Inter" pitchFamily="34" charset="0"/>
                <a:ea typeface="Inter" pitchFamily="34" charset="-122"/>
                <a:cs typeface="Inter" pitchFamily="34" charset="-120"/>
              </a:rPr>
              <a:t>TEM</a:t>
            </a:r>
            <a:pPr algn="l" indent="0" marL="0">
              <a:buNone/>
            </a:pPr>
            <a:r>
              <a:rPr lang="en-US" sz="4500" b="1" spc="-158" kern="0" dirty="0">
                <a:solidFill>
                  <a:srgbClr val="E8EDF5"/>
                </a:solidFill>
                <a:latin typeface="Inter" pitchFamily="34" charset="0"/>
                <a:ea typeface="Inter" pitchFamily="34" charset="-122"/>
                <a:cs typeface="Inter" pitchFamily="34" charset="-120"/>
              </a:rPr>
              <a:t> 분석</a:t>
            </a:r>
            <a:endParaRPr lang="en-US" sz="4500" dirty="0"/>
          </a:p>
        </p:txBody>
      </p:sp>
      <p:sp>
        <p:nvSpPr>
          <p:cNvPr id="17" name="Text 9"/>
          <p:cNvSpPr txBox="1"/>
          <p:nvPr/>
        </p:nvSpPr>
        <p:spPr>
          <a:xfrm>
            <a:off x="761695" y="1962302"/>
            <a:ext cx="13335610" cy="247802"/>
          </a:xfrm>
          <a:prstGeom prst="rect">
            <a:avLst/>
          </a:prstGeom>
          <a:noFill/>
          <a:ln/>
        </p:spPr>
        <p:txBody>
          <a:bodyPr wrap="none" lIns="0" tIns="0" rIns="0" bIns="0" rtlCol="0" anchor="ctr"/>
          <a:lstStyle/>
          <a:p>
            <a:pPr algn="l" indent="0" marL="0">
              <a:buNone/>
            </a:pPr>
            <a:r>
              <a:rPr lang="en-US" sz="1350" dirty="0">
                <a:solidFill>
                  <a:srgbClr val="94A3B8"/>
                </a:solidFill>
                <a:latin typeface="Inter" pitchFamily="34" charset="0"/>
                <a:ea typeface="Inter" pitchFamily="34" charset="-122"/>
                <a:cs typeface="Inter" pitchFamily="34" charset="-120"/>
              </a:rPr>
              <a:t>M8 line + via area · Lamella prep · 200kV STEM mode · reference 구조 시각화.</a:t>
            </a:r>
            <a:endParaRPr lang="en-US" sz="1350" dirty="0"/>
          </a:p>
        </p:txBody>
      </p:sp>
      <p:sp>
        <p:nvSpPr>
          <p:cNvPr id="18" name="Text 10"/>
          <p:cNvSpPr txBox="1"/>
          <p:nvPr/>
        </p:nvSpPr>
        <p:spPr>
          <a:xfrm>
            <a:off x="990295" y="8762695"/>
            <a:ext cx="5715000" cy="571500"/>
          </a:xfrm>
          <a:prstGeom prst="rect">
            <a:avLst/>
          </a:prstGeom>
          <a:noFill/>
          <a:ln/>
        </p:spPr>
        <p:txBody>
          <a:bodyPr wrap="none" lIns="0" tIns="0" rIns="0" bIns="0" rtlCol="0" anchor="ctr"/>
          <a:lstStyle/>
          <a:p>
            <a:pPr algn="l" indent="0" marL="0">
              <a:buNone/>
            </a:pPr>
            <a:r>
              <a:rPr lang="en-US" sz="900" b="1" spc="135" kern="0" dirty="0">
                <a:solidFill>
                  <a:srgbClr val="5EEAD4"/>
                </a:solidFill>
                <a:latin typeface="JetBrains Mono" pitchFamily="34" charset="0"/>
                <a:ea typeface="JetBrains Mono" pitchFamily="34" charset="-122"/>
                <a:cs typeface="JetBrains Mono" pitchFamily="34" charset="-120"/>
              </a:rPr>
              <a:t>STEM · 200 kV · HAADF · 50 nm scale</a:t>
            </a:r>
            <a:endParaRPr lang="en-US" sz="900" dirty="0"/>
          </a:p>
        </p:txBody>
      </p:sp>
      <p:sp>
        <p:nvSpPr>
          <p:cNvPr id="19" name="Text 11"/>
          <p:cNvSpPr txBox="1"/>
          <p:nvPr/>
        </p:nvSpPr>
        <p:spPr>
          <a:xfrm>
            <a:off x="6705295" y="8762695"/>
            <a:ext cx="4763110" cy="571500"/>
          </a:xfrm>
          <a:prstGeom prst="rect">
            <a:avLst/>
          </a:prstGeom>
          <a:noFill/>
          <a:ln/>
        </p:spPr>
        <p:txBody>
          <a:bodyPr wrap="non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Referenced via AtomicLimits publications</a:t>
            </a:r>
            <a:endParaRPr lang="en-US" sz="900" dirty="0"/>
          </a:p>
        </p:txBody>
      </p:sp>
      <p:sp>
        <p:nvSpPr>
          <p:cNvPr id="20" name="Text 12"/>
          <p:cNvSpPr txBox="1"/>
          <p:nvPr/>
        </p:nvSpPr>
        <p:spPr>
          <a:xfrm>
            <a:off x="12287707" y="3143707"/>
            <a:ext cx="4953305"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Cu SEAM HEIGHT</a:t>
            </a:r>
            <a:endParaRPr lang="en-US" sz="825" dirty="0"/>
          </a:p>
        </p:txBody>
      </p:sp>
      <p:sp>
        <p:nvSpPr>
          <p:cNvPr id="21" name="Text 13"/>
          <p:cNvSpPr txBox="1"/>
          <p:nvPr/>
        </p:nvSpPr>
        <p:spPr>
          <a:xfrm>
            <a:off x="12287707" y="3409798"/>
            <a:ext cx="1732788" cy="914400"/>
          </a:xfrm>
          <a:prstGeom prst="rect">
            <a:avLst/>
          </a:prstGeom>
          <a:noFill/>
          <a:ln/>
        </p:spPr>
        <p:txBody>
          <a:bodyPr wrap="none" lIns="0" tIns="0" rIns="0" bIns="0" rtlCol="0" anchor="ctr"/>
          <a:lstStyle/>
          <a:p>
            <a:pPr algn="l" indent="0" marL="0">
              <a:buNone/>
            </a:pPr>
            <a:r>
              <a:rPr lang="en-US" sz="7200" b="1" spc="-288" kern="0" dirty="0">
                <a:solidFill>
                  <a:srgbClr val="E8EDF5"/>
                </a:solidFill>
                <a:latin typeface="Inter" pitchFamily="34" charset="0"/>
                <a:ea typeface="Inter" pitchFamily="34" charset="-122"/>
                <a:cs typeface="Inter" pitchFamily="34" charset="-120"/>
              </a:rPr>
              <a:t>7.4</a:t>
            </a:r>
            <a:endParaRPr lang="en-US" sz="7200" dirty="0"/>
          </a:p>
        </p:txBody>
      </p:sp>
      <p:sp>
        <p:nvSpPr>
          <p:cNvPr id="22" name="Text 14"/>
          <p:cNvSpPr txBox="1"/>
          <p:nvPr/>
        </p:nvSpPr>
        <p:spPr>
          <a:xfrm>
            <a:off x="13723315" y="3943807"/>
            <a:ext cx="409651" cy="324612"/>
          </a:xfrm>
          <a:prstGeom prst="rect">
            <a:avLst/>
          </a:prstGeom>
          <a:noFill/>
          <a:ln/>
        </p:spPr>
        <p:txBody>
          <a:bodyPr wrap="none" lIns="0" tIns="0" rIns="0" bIns="0" rtlCol="0" anchor="ctr"/>
          <a:lstStyle/>
          <a:p>
            <a:pPr algn="l" indent="0" marL="0">
              <a:buNone/>
            </a:pPr>
            <a:r>
              <a:rPr lang="en-US" sz="2100" b="1" dirty="0">
                <a:solidFill>
                  <a:srgbClr val="94A3B8"/>
                </a:solidFill>
                <a:latin typeface="Inter" pitchFamily="34" charset="0"/>
                <a:ea typeface="Inter" pitchFamily="34" charset="-122"/>
                <a:cs typeface="Inter" pitchFamily="34" charset="-120"/>
              </a:rPr>
              <a:t>nm</a:t>
            </a:r>
            <a:endParaRPr lang="en-US" sz="2100" dirty="0"/>
          </a:p>
        </p:txBody>
      </p:sp>
      <p:sp>
        <p:nvSpPr>
          <p:cNvPr id="23" name="Text 15"/>
          <p:cNvSpPr txBox="1"/>
          <p:nvPr/>
        </p:nvSpPr>
        <p:spPr>
          <a:xfrm>
            <a:off x="16447313" y="4067251"/>
            <a:ext cx="1080821" cy="162763"/>
          </a:xfrm>
          <a:prstGeom prst="rect">
            <a:avLst/>
          </a:prstGeom>
          <a:noFill/>
          <a:ln/>
        </p:spPr>
        <p:txBody>
          <a:bodyPr wrap="none" lIns="0" tIns="0" rIns="0" bIns="0" rtlCol="0" anchor="ctr"/>
          <a:lstStyle/>
          <a:p>
            <a:pPr algn="l" indent="0" marL="0">
              <a:buNone/>
            </a:pPr>
            <a:r>
              <a:rPr lang="en-US" sz="1050" dirty="0">
                <a:solidFill>
                  <a:srgbClr val="64748B"/>
                </a:solidFill>
                <a:latin typeface="Inter" pitchFamily="34" charset="0"/>
                <a:ea typeface="Inter" pitchFamily="34" charset="-122"/>
                <a:cs typeface="Inter" pitchFamily="34" charset="-120"/>
              </a:rPr>
              <a:t>W1 · nominal</a:t>
            </a:r>
            <a:endParaRPr lang="en-US" sz="1050" dirty="0"/>
          </a:p>
        </p:txBody>
      </p:sp>
      <p:sp>
        <p:nvSpPr>
          <p:cNvPr id="24" name="Text 16"/>
          <p:cNvSpPr txBox="1"/>
          <p:nvPr/>
        </p:nvSpPr>
        <p:spPr>
          <a:xfrm>
            <a:off x="12230100" y="5143500"/>
            <a:ext cx="2248510" cy="124358"/>
          </a:xfrm>
          <a:prstGeom prst="rect">
            <a:avLst/>
          </a:prstGeom>
          <a:noFill/>
          <a:ln/>
        </p:spPr>
        <p:txBody>
          <a:bodyPr wrap="none" lIns="0" tIns="0" rIns="0" bIns="0" rtlCol="0" anchor="ctr"/>
          <a:lstStyle/>
          <a:p>
            <a:pPr algn="l" indent="0" marL="0">
              <a:buNone/>
            </a:pPr>
            <a:r>
              <a:rPr lang="en-US" sz="800" b="1" spc="210" kern="0" dirty="0">
                <a:solidFill>
                  <a:srgbClr val="94A3B8"/>
                </a:solidFill>
                <a:latin typeface="JetBrains Mono" pitchFamily="34" charset="0"/>
                <a:ea typeface="JetBrains Mono" pitchFamily="34" charset="-122"/>
                <a:cs typeface="JetBrains Mono" pitchFamily="34" charset="-120"/>
              </a:rPr>
              <a:t>W1 SEAM</a:t>
            </a:r>
            <a:endParaRPr lang="en-US" sz="800" dirty="0"/>
          </a:p>
        </p:txBody>
      </p:sp>
      <p:sp>
        <p:nvSpPr>
          <p:cNvPr id="25" name="Text 17"/>
          <p:cNvSpPr txBox="1"/>
          <p:nvPr/>
        </p:nvSpPr>
        <p:spPr>
          <a:xfrm>
            <a:off x="12230100" y="5400446"/>
            <a:ext cx="2248510" cy="342900"/>
          </a:xfrm>
          <a:prstGeom prst="rect">
            <a:avLst/>
          </a:prstGeom>
          <a:noFill/>
          <a:ln/>
        </p:spPr>
        <p:txBody>
          <a:bodyPr wrap="none" lIns="0" tIns="0" rIns="0" bIns="0" rtlCol="0" anchor="ctr"/>
          <a:lstStyle/>
          <a:p>
            <a:pPr algn="l" indent="0" marL="0">
              <a:buNone/>
            </a:pPr>
            <a:r>
              <a:rPr lang="en-US" sz="2700" b="1" dirty="0">
                <a:solidFill>
                  <a:srgbClr val="5EEAD4"/>
                </a:solidFill>
                <a:latin typeface="JetBrains Mono" pitchFamily="34" charset="0"/>
                <a:ea typeface="JetBrains Mono" pitchFamily="34" charset="-122"/>
                <a:cs typeface="JetBrains Mono" pitchFamily="34" charset="-120"/>
              </a:rPr>
              <a:t>7.4 nm</a:t>
            </a:r>
            <a:endParaRPr lang="en-US" sz="2700" dirty="0"/>
          </a:p>
        </p:txBody>
      </p:sp>
      <p:sp>
        <p:nvSpPr>
          <p:cNvPr id="26" name="Text 18"/>
          <p:cNvSpPr txBox="1"/>
          <p:nvPr/>
        </p:nvSpPr>
        <p:spPr>
          <a:xfrm>
            <a:off x="12230100" y="5915254"/>
            <a:ext cx="2248510" cy="191110"/>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Seam 중앙 정렬, void 없음.</a:t>
            </a:r>
            <a:endParaRPr lang="en-US" sz="975" dirty="0"/>
          </a:p>
        </p:txBody>
      </p:sp>
      <p:sp>
        <p:nvSpPr>
          <p:cNvPr id="27" name="Text 19"/>
          <p:cNvSpPr txBox="1"/>
          <p:nvPr/>
        </p:nvSpPr>
        <p:spPr>
          <a:xfrm>
            <a:off x="15087600" y="5143500"/>
            <a:ext cx="2248510" cy="124358"/>
          </a:xfrm>
          <a:prstGeom prst="rect">
            <a:avLst/>
          </a:prstGeom>
          <a:noFill/>
          <a:ln/>
        </p:spPr>
        <p:txBody>
          <a:bodyPr wrap="none" lIns="0" tIns="0" rIns="0" bIns="0" rtlCol="0" anchor="ctr"/>
          <a:lstStyle/>
          <a:p>
            <a:pPr algn="l" indent="0" marL="0">
              <a:buNone/>
            </a:pPr>
            <a:r>
              <a:rPr lang="en-US" sz="800" b="1" spc="210" kern="0" dirty="0">
                <a:solidFill>
                  <a:srgbClr val="FB923C"/>
                </a:solidFill>
                <a:latin typeface="JetBrains Mono" pitchFamily="34" charset="0"/>
                <a:ea typeface="JetBrains Mono" pitchFamily="34" charset="-122"/>
                <a:cs typeface="JetBrains Mono" pitchFamily="34" charset="-120"/>
              </a:rPr>
              <a:t>W2 SEAM</a:t>
            </a:r>
            <a:endParaRPr lang="en-US" sz="800" dirty="0"/>
          </a:p>
        </p:txBody>
      </p:sp>
      <p:sp>
        <p:nvSpPr>
          <p:cNvPr id="28" name="Text 20"/>
          <p:cNvSpPr txBox="1"/>
          <p:nvPr/>
        </p:nvSpPr>
        <p:spPr>
          <a:xfrm>
            <a:off x="15087600" y="5400446"/>
            <a:ext cx="2248510" cy="342900"/>
          </a:xfrm>
          <a:prstGeom prst="rect">
            <a:avLst/>
          </a:prstGeom>
          <a:noFill/>
          <a:ln/>
        </p:spPr>
        <p:txBody>
          <a:bodyPr wrap="none" lIns="0" tIns="0" rIns="0" bIns="0" rtlCol="0" anchor="ctr"/>
          <a:lstStyle/>
          <a:p>
            <a:pPr algn="l" indent="0" marL="0">
              <a:buNone/>
            </a:pPr>
            <a:r>
              <a:rPr lang="en-US" sz="2700" b="1" dirty="0">
                <a:solidFill>
                  <a:srgbClr val="FB923C"/>
                </a:solidFill>
                <a:latin typeface="JetBrains Mono" pitchFamily="34" charset="0"/>
                <a:ea typeface="JetBrains Mono" pitchFamily="34" charset="-122"/>
                <a:cs typeface="JetBrains Mono" pitchFamily="34" charset="-120"/>
              </a:rPr>
              <a:t>8.9 nm</a:t>
            </a:r>
            <a:endParaRPr lang="en-US" sz="2700" dirty="0"/>
          </a:p>
        </p:txBody>
      </p:sp>
      <p:sp>
        <p:nvSpPr>
          <p:cNvPr id="29" name="Text 21"/>
          <p:cNvSpPr txBox="1"/>
          <p:nvPr/>
        </p:nvSpPr>
        <p:spPr>
          <a:xfrm>
            <a:off x="15087600" y="5915254"/>
            <a:ext cx="2248510" cy="191110"/>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Seam 미세 비대칭 관찰.</a:t>
            </a:r>
            <a:endParaRPr lang="en-US" sz="975" dirty="0"/>
          </a:p>
        </p:txBody>
      </p:sp>
      <p:sp>
        <p:nvSpPr>
          <p:cNvPr id="30" name="Text 22"/>
          <p:cNvSpPr txBox="1"/>
          <p:nvPr/>
        </p:nvSpPr>
        <p:spPr>
          <a:xfrm>
            <a:off x="12230100" y="7429500"/>
            <a:ext cx="2248510" cy="124358"/>
          </a:xfrm>
          <a:prstGeom prst="rect">
            <a:avLst/>
          </a:prstGeom>
          <a:noFill/>
          <a:ln/>
        </p:spPr>
        <p:txBody>
          <a:bodyPr wrap="none" lIns="0" tIns="0" rIns="0" bIns="0" rtlCol="0" anchor="ctr"/>
          <a:lstStyle/>
          <a:p>
            <a:pPr algn="l" indent="0" marL="0">
              <a:buNone/>
            </a:pPr>
            <a:r>
              <a:rPr lang="en-US" sz="800" b="1" spc="210" kern="0" dirty="0">
                <a:solidFill>
                  <a:srgbClr val="F472B6"/>
                </a:solidFill>
                <a:latin typeface="JetBrains Mono" pitchFamily="34" charset="0"/>
                <a:ea typeface="JetBrains Mono" pitchFamily="34" charset="-122"/>
                <a:cs typeface="JetBrains Mono" pitchFamily="34" charset="-120"/>
              </a:rPr>
              <a:t>W3 SEAM</a:t>
            </a:r>
            <a:endParaRPr lang="en-US" sz="800" dirty="0"/>
          </a:p>
        </p:txBody>
      </p:sp>
      <p:sp>
        <p:nvSpPr>
          <p:cNvPr id="31" name="Text 23"/>
          <p:cNvSpPr txBox="1"/>
          <p:nvPr/>
        </p:nvSpPr>
        <p:spPr>
          <a:xfrm>
            <a:off x="12230100" y="7686446"/>
            <a:ext cx="2248510" cy="342900"/>
          </a:xfrm>
          <a:prstGeom prst="rect">
            <a:avLst/>
          </a:prstGeom>
          <a:noFill/>
          <a:ln/>
        </p:spPr>
        <p:txBody>
          <a:bodyPr wrap="none" lIns="0" tIns="0" rIns="0" bIns="0" rtlCol="0" anchor="ctr"/>
          <a:lstStyle/>
          <a:p>
            <a:pPr algn="l" indent="0" marL="0">
              <a:buNone/>
            </a:pPr>
            <a:r>
              <a:rPr lang="en-US" sz="2700" b="1" dirty="0">
                <a:solidFill>
                  <a:srgbClr val="F472B6"/>
                </a:solidFill>
                <a:latin typeface="JetBrains Mono" pitchFamily="34" charset="0"/>
                <a:ea typeface="JetBrains Mono" pitchFamily="34" charset="-122"/>
                <a:cs typeface="JetBrains Mono" pitchFamily="34" charset="-120"/>
              </a:rPr>
              <a:t>11.2 nm</a:t>
            </a:r>
            <a:endParaRPr lang="en-US" sz="2700" dirty="0"/>
          </a:p>
        </p:txBody>
      </p:sp>
      <p:sp>
        <p:nvSpPr>
          <p:cNvPr id="32" name="Text 24"/>
          <p:cNvSpPr txBox="1"/>
          <p:nvPr/>
        </p:nvSpPr>
        <p:spPr>
          <a:xfrm>
            <a:off x="12230100" y="8201254"/>
            <a:ext cx="2248510" cy="191110"/>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Bow 시작 + void 1건.</a:t>
            </a:r>
            <a:endParaRPr lang="en-US" sz="975" dirty="0"/>
          </a:p>
        </p:txBody>
      </p:sp>
      <p:sp>
        <p:nvSpPr>
          <p:cNvPr id="33" name="Text 25"/>
          <p:cNvSpPr txBox="1"/>
          <p:nvPr/>
        </p:nvSpPr>
        <p:spPr>
          <a:xfrm>
            <a:off x="15087600" y="7429500"/>
            <a:ext cx="2248510" cy="124358"/>
          </a:xfrm>
          <a:prstGeom prst="rect">
            <a:avLst/>
          </a:prstGeom>
          <a:noFill/>
          <a:ln/>
        </p:spPr>
        <p:txBody>
          <a:bodyPr wrap="none" lIns="0" tIns="0" rIns="0" bIns="0" rtlCol="0" anchor="ctr"/>
          <a:lstStyle/>
          <a:p>
            <a:pPr algn="l" indent="0" marL="0">
              <a:buNone/>
            </a:pPr>
            <a:r>
              <a:rPr lang="en-US" sz="800" b="1" spc="210" kern="0" dirty="0">
                <a:solidFill>
                  <a:srgbClr val="5EEAD4"/>
                </a:solidFill>
                <a:latin typeface="JetBrains Mono" pitchFamily="34" charset="0"/>
                <a:ea typeface="JetBrains Mono" pitchFamily="34" charset="-122"/>
                <a:cs typeface="JetBrains Mono" pitchFamily="34" charset="-120"/>
              </a:rPr>
              <a:t>KEY WATCH</a:t>
            </a:r>
            <a:endParaRPr lang="en-US" sz="800" dirty="0"/>
          </a:p>
        </p:txBody>
      </p:sp>
      <p:sp>
        <p:nvSpPr>
          <p:cNvPr id="34" name="Text 26"/>
          <p:cNvSpPr txBox="1"/>
          <p:nvPr/>
        </p:nvSpPr>
        <p:spPr>
          <a:xfrm>
            <a:off x="15087600" y="7686446"/>
            <a:ext cx="2471623" cy="228600"/>
          </a:xfrm>
          <a:prstGeom prst="rect">
            <a:avLst/>
          </a:prstGeom>
          <a:noFill/>
          <a:ln/>
        </p:spPr>
        <p:txBody>
          <a:bodyPr wrap="none" lIns="0" tIns="0" rIns="0" bIns="0" rtlCol="0" anchor="ctr"/>
          <a:lstStyle/>
          <a:p>
            <a:pPr algn="l" indent="0" marL="0">
              <a:buNone/>
            </a:pPr>
            <a:r>
              <a:rPr lang="en-US" sz="1350" b="1" dirty="0">
                <a:solidFill>
                  <a:srgbClr val="E8EDF5"/>
                </a:solidFill>
                <a:latin typeface="Inter" pitchFamily="34" charset="0"/>
                <a:ea typeface="Inter" pitchFamily="34" charset="-122"/>
                <a:cs typeface="Inter" pitchFamily="34" charset="-120"/>
              </a:rPr>
              <a:t>+etch time이 seam에 누적</a:t>
            </a:r>
            <a:endParaRPr lang="en-US" sz="1350" dirty="0"/>
          </a:p>
        </p:txBody>
      </p:sp>
      <p:sp>
        <p:nvSpPr>
          <p:cNvPr id="35" name="Text 27"/>
          <p:cNvSpPr txBox="1"/>
          <p:nvPr/>
        </p:nvSpPr>
        <p:spPr>
          <a:xfrm>
            <a:off x="15087600" y="8080553"/>
            <a:ext cx="2248510" cy="372161"/>
          </a:xfrm>
          <a:prstGeom prst="rect">
            <a:avLst/>
          </a:prstGeom>
          <a:noFill/>
          <a:ln/>
        </p:spPr>
        <p:txBody>
          <a:bodyPr wrap="square" lIns="0" tIns="0" rIns="0" bIns="0" rtlCol="0" anchor="ctr"/>
          <a:lstStyle/>
          <a:p>
            <a:pPr algn="l" indent="0" marL="0">
              <a:lnSpc>
                <a:spcPts val="1463"/>
              </a:lnSpc>
              <a:buNone/>
            </a:pPr>
            <a:r>
              <a:rPr lang="en-US" sz="975" dirty="0">
                <a:solidFill>
                  <a:srgbClr val="94A3B8"/>
                </a:solidFill>
                <a:latin typeface="Inter" pitchFamily="34" charset="0"/>
                <a:ea typeface="Inter" pitchFamily="34" charset="-122"/>
                <a:cs typeface="Inter" pitchFamily="34" charset="-120"/>
              </a:rPr>
              <a:t>Longer etch → bow → electron migration path 단축 우려.</a:t>
            </a:r>
            <a:endParaRPr lang="en-US" sz="975" dirty="0"/>
          </a:p>
        </p:txBody>
      </p:sp>
      <p:pic>
        <p:nvPicPr>
          <p:cNvPr id="36" name="Image 5" descr="gen-dedup-41df4fb73e13824d9bf43e735c70451d.png">    </p:cNvPr>
          <p:cNvPicPr>
            <a:picLocks noChangeAspect="1"/>
          </p:cNvPicPr>
          <p:nvPr/>
        </p:nvPicPr>
        <p:blipFill>
          <a:blip r:embed="rId6"/>
          <a:srcRect l="-2029" r="-2029" t="0" b="0"/>
          <a:stretch/>
        </p:blipFill>
        <p:spPr>
          <a:xfrm>
            <a:off x="761695" y="10067544"/>
            <a:ext cx="304495" cy="9144"/>
          </a:xfrm>
          <a:prstGeom prst="rect">
            <a:avLst/>
          </a:prstGeom>
        </p:spPr>
      </p:pic>
      <p:sp>
        <p:nvSpPr>
          <p:cNvPr id="37" name="Text 28"/>
          <p:cNvSpPr txBox="1"/>
          <p:nvPr/>
        </p:nvSpPr>
        <p:spPr>
          <a:xfrm>
            <a:off x="1238098" y="9982505"/>
            <a:ext cx="4715561"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 · Reference 이미지 출처: 공개 문헌</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B"/>
        </a:solidFill>
      </p:bgPr>
    </p:bg>
    <p:spTree>
      <p:nvGrpSpPr>
        <p:cNvPr id="1" name=""/>
        <p:cNvGrpSpPr/>
        <p:nvPr/>
      </p:nvGrpSpPr>
      <p:grpSpPr>
        <a:xfrm>
          <a:off x="0" y="0"/>
          <a:ext cx="0" cy="0"/>
          <a:chOff x="0" y="0"/>
          <a:chExt cx="0" cy="0"/>
        </a:xfrm>
      </p:grpSpPr>
      <p:pic>
        <p:nvPicPr>
          <p:cNvPr id="3" name="Image 0" descr="gen-dedup-af39d2827c8f497cdf9211706bc7c20d.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572207"/>
            <a:ext cx="8115300" cy="3258007"/>
          </a:xfrm>
          <a:prstGeom prst="rect">
            <a:avLst/>
          </a:prstGeom>
          <a:solidFill>
            <a:srgbClr val="141A28"/>
          </a:solidFill>
          <a:ln w="12700">
            <a:solidFill>
              <a:srgbClr val="1F2A40"/>
            </a:solidFill>
            <a:prstDash val="solid"/>
          </a:ln>
        </p:spPr>
      </p:sp>
      <p:sp>
        <p:nvSpPr>
          <p:cNvPr id="5" name="Shape 1"/>
          <p:cNvSpPr/>
          <p:nvPr/>
        </p:nvSpPr>
        <p:spPr>
          <a:xfrm>
            <a:off x="9430207" y="2572207"/>
            <a:ext cx="8115300" cy="3258007"/>
          </a:xfrm>
          <a:prstGeom prst="rect">
            <a:avLst/>
          </a:prstGeom>
          <a:solidFill>
            <a:srgbClr val="141A28"/>
          </a:solidFill>
          <a:ln w="12700">
            <a:solidFill>
              <a:srgbClr val="1F2A40"/>
            </a:solidFill>
            <a:prstDash val="solid"/>
          </a:ln>
        </p:spPr>
      </p:sp>
      <p:sp>
        <p:nvSpPr>
          <p:cNvPr id="6" name="Shape 2"/>
          <p:cNvSpPr/>
          <p:nvPr/>
        </p:nvSpPr>
        <p:spPr>
          <a:xfrm>
            <a:off x="761695" y="6001207"/>
            <a:ext cx="8115300" cy="3258007"/>
          </a:xfrm>
          <a:prstGeom prst="rect">
            <a:avLst/>
          </a:prstGeom>
          <a:solidFill>
            <a:srgbClr val="141A28"/>
          </a:solidFill>
          <a:ln w="12700">
            <a:solidFill>
              <a:srgbClr val="1F2A40"/>
            </a:solidFill>
            <a:prstDash val="solid"/>
          </a:ln>
        </p:spPr>
      </p:sp>
      <p:sp>
        <p:nvSpPr>
          <p:cNvPr id="7" name="Shape 3"/>
          <p:cNvSpPr/>
          <p:nvPr/>
        </p:nvSpPr>
        <p:spPr>
          <a:xfrm>
            <a:off x="9430207" y="6001207"/>
            <a:ext cx="8115300" cy="3258007"/>
          </a:xfrm>
          <a:prstGeom prst="rect">
            <a:avLst/>
          </a:prstGeom>
          <a:solidFill>
            <a:srgbClr val="141A28"/>
          </a:solidFill>
          <a:ln w="12700">
            <a:solidFill>
              <a:srgbClr val="1F2A40"/>
            </a:solidFill>
            <a:prstDash val="solid"/>
          </a:ln>
        </p:spPr>
      </p:sp>
      <p:pic>
        <p:nvPicPr>
          <p:cNvPr id="8" name="Image 1" descr="gen-dedup-e15446c516ad92605b2ac8d27e063e20.png">    </p:cNvPr>
          <p:cNvPicPr>
            <a:picLocks noChangeAspect="1"/>
          </p:cNvPicPr>
          <p:nvPr/>
        </p:nvPicPr>
        <p:blipFill>
          <a:blip r:embed="rId2"/>
          <a:srcRect l="-395" r="-395" t="0" b="0"/>
          <a:stretch/>
        </p:blipFill>
        <p:spPr>
          <a:xfrm>
            <a:off x="761695" y="2572207"/>
            <a:ext cx="57607" cy="3238805"/>
          </a:xfrm>
          <a:prstGeom prst="rect">
            <a:avLst/>
          </a:prstGeom>
        </p:spPr>
      </p:pic>
      <p:sp>
        <p:nvSpPr>
          <p:cNvPr id="9" name="Shape 4"/>
          <p:cNvSpPr/>
          <p:nvPr/>
        </p:nvSpPr>
        <p:spPr>
          <a:xfrm>
            <a:off x="1009498" y="3619195"/>
            <a:ext cx="7619695" cy="342900"/>
          </a:xfrm>
          <a:prstGeom prst="rect">
            <a:avLst/>
          </a:prstGeom>
          <a:solidFill>
            <a:srgbClr val="0F1424"/>
          </a:solidFill>
          <a:ln w="12700">
            <a:solidFill>
              <a:srgbClr val="FFFFFF">
                <a:alpha val="0"/>
              </a:srgbClr>
            </a:solidFill>
            <a:prstDash val="solid"/>
          </a:ln>
        </p:spPr>
      </p:sp>
      <p:pic>
        <p:nvPicPr>
          <p:cNvPr id="10" name="Image 2" descr="gen-dedup-58feccc2d2639b631eea795ee2484ea0.png">    </p:cNvPr>
          <p:cNvPicPr>
            <a:picLocks noChangeAspect="1"/>
          </p:cNvPicPr>
          <p:nvPr/>
        </p:nvPicPr>
        <p:blipFill>
          <a:blip r:embed="rId3"/>
          <a:srcRect l="-2083" r="-2083" t="0" b="0"/>
          <a:stretch/>
        </p:blipFill>
        <p:spPr>
          <a:xfrm>
            <a:off x="1009498" y="4419295"/>
            <a:ext cx="7619695" cy="9144"/>
          </a:xfrm>
          <a:prstGeom prst="rect">
            <a:avLst/>
          </a:prstGeom>
        </p:spPr>
      </p:pic>
      <p:pic>
        <p:nvPicPr>
          <p:cNvPr id="11" name="Image 3" descr="gen-dedup-58feccc2d2639b631eea795ee2484ea0.png">    </p:cNvPr>
          <p:cNvPicPr>
            <a:picLocks noChangeAspect="1"/>
          </p:cNvPicPr>
          <p:nvPr/>
        </p:nvPicPr>
        <p:blipFill>
          <a:blip r:embed="rId4"/>
          <a:srcRect l="-2083" r="-2083" t="0" b="0"/>
          <a:stretch/>
        </p:blipFill>
        <p:spPr>
          <a:xfrm>
            <a:off x="1009498" y="4839005"/>
            <a:ext cx="7619695" cy="9144"/>
          </a:xfrm>
          <a:prstGeom prst="rect">
            <a:avLst/>
          </a:prstGeom>
        </p:spPr>
      </p:pic>
      <p:pic>
        <p:nvPicPr>
          <p:cNvPr id="12" name="Image 4" descr="gen-dedup-a0dc624e9e68a719544330f855204bad.png">    </p:cNvPr>
          <p:cNvPicPr>
            <a:picLocks noChangeAspect="1"/>
          </p:cNvPicPr>
          <p:nvPr/>
        </p:nvPicPr>
        <p:blipFill>
          <a:blip r:embed="rId5"/>
          <a:srcRect l="-395" r="-395" t="0" b="0"/>
          <a:stretch/>
        </p:blipFill>
        <p:spPr>
          <a:xfrm>
            <a:off x="9430207" y="2572207"/>
            <a:ext cx="57607" cy="3238805"/>
          </a:xfrm>
          <a:prstGeom prst="rect">
            <a:avLst/>
          </a:prstGeom>
        </p:spPr>
      </p:pic>
      <p:sp>
        <p:nvSpPr>
          <p:cNvPr id="13" name="Shape 5"/>
          <p:cNvSpPr/>
          <p:nvPr/>
        </p:nvSpPr>
        <p:spPr>
          <a:xfrm>
            <a:off x="9677095" y="3619195"/>
            <a:ext cx="7619695" cy="342900"/>
          </a:xfrm>
          <a:prstGeom prst="rect">
            <a:avLst/>
          </a:prstGeom>
          <a:solidFill>
            <a:srgbClr val="0F1424"/>
          </a:solidFill>
          <a:ln w="12700">
            <a:solidFill>
              <a:srgbClr val="FFFFFF">
                <a:alpha val="0"/>
              </a:srgbClr>
            </a:solidFill>
            <a:prstDash val="solid"/>
          </a:ln>
        </p:spPr>
      </p:sp>
      <p:pic>
        <p:nvPicPr>
          <p:cNvPr id="14" name="Image 5" descr="gen-dedup-58feccc2d2639b631eea795ee2484ea0.png">    </p:cNvPr>
          <p:cNvPicPr>
            <a:picLocks noChangeAspect="1"/>
          </p:cNvPicPr>
          <p:nvPr/>
        </p:nvPicPr>
        <p:blipFill>
          <a:blip r:embed="rId6"/>
          <a:srcRect l="-2083" r="-2083" t="0" b="0"/>
          <a:stretch/>
        </p:blipFill>
        <p:spPr>
          <a:xfrm>
            <a:off x="9677095" y="4419295"/>
            <a:ext cx="7619695" cy="9144"/>
          </a:xfrm>
          <a:prstGeom prst="rect">
            <a:avLst/>
          </a:prstGeom>
        </p:spPr>
      </p:pic>
      <p:pic>
        <p:nvPicPr>
          <p:cNvPr id="15" name="Image 6" descr="gen-dedup-58feccc2d2639b631eea795ee2484ea0.png">    </p:cNvPr>
          <p:cNvPicPr>
            <a:picLocks noChangeAspect="1"/>
          </p:cNvPicPr>
          <p:nvPr/>
        </p:nvPicPr>
        <p:blipFill>
          <a:blip r:embed="rId7"/>
          <a:srcRect l="-2083" r="-2083" t="0" b="0"/>
          <a:stretch/>
        </p:blipFill>
        <p:spPr>
          <a:xfrm>
            <a:off x="9677095" y="4839005"/>
            <a:ext cx="7619695" cy="9144"/>
          </a:xfrm>
          <a:prstGeom prst="rect">
            <a:avLst/>
          </a:prstGeom>
        </p:spPr>
      </p:pic>
      <p:pic>
        <p:nvPicPr>
          <p:cNvPr id="16" name="Image 7" descr="gen-dedup-c99a9553131319a353dceb8af312220b.png">    </p:cNvPr>
          <p:cNvPicPr>
            <a:picLocks noChangeAspect="1"/>
          </p:cNvPicPr>
          <p:nvPr/>
        </p:nvPicPr>
        <p:blipFill>
          <a:blip r:embed="rId8"/>
          <a:srcRect l="-395" r="-395" t="0" b="0"/>
          <a:stretch/>
        </p:blipFill>
        <p:spPr>
          <a:xfrm>
            <a:off x="761695" y="6001207"/>
            <a:ext cx="57607" cy="3238805"/>
          </a:xfrm>
          <a:prstGeom prst="rect">
            <a:avLst/>
          </a:prstGeom>
        </p:spPr>
      </p:pic>
      <p:sp>
        <p:nvSpPr>
          <p:cNvPr id="17" name="Shape 6"/>
          <p:cNvSpPr/>
          <p:nvPr/>
        </p:nvSpPr>
        <p:spPr>
          <a:xfrm>
            <a:off x="1009498" y="7048195"/>
            <a:ext cx="7619695" cy="342900"/>
          </a:xfrm>
          <a:prstGeom prst="rect">
            <a:avLst/>
          </a:prstGeom>
          <a:solidFill>
            <a:srgbClr val="0F1424"/>
          </a:solidFill>
          <a:ln w="12700">
            <a:solidFill>
              <a:srgbClr val="FFFFFF">
                <a:alpha val="0"/>
              </a:srgbClr>
            </a:solidFill>
            <a:prstDash val="solid"/>
          </a:ln>
        </p:spPr>
      </p:sp>
      <p:pic>
        <p:nvPicPr>
          <p:cNvPr id="18" name="Image 8" descr="gen-dedup-58feccc2d2639b631eea795ee2484ea0.png">    </p:cNvPr>
          <p:cNvPicPr>
            <a:picLocks noChangeAspect="1"/>
          </p:cNvPicPr>
          <p:nvPr/>
        </p:nvPicPr>
        <p:blipFill>
          <a:blip r:embed="rId9"/>
          <a:srcRect l="-2083" r="-2083" t="0" b="0"/>
          <a:stretch/>
        </p:blipFill>
        <p:spPr>
          <a:xfrm>
            <a:off x="1009498" y="7848295"/>
            <a:ext cx="7619695" cy="9144"/>
          </a:xfrm>
          <a:prstGeom prst="rect">
            <a:avLst/>
          </a:prstGeom>
        </p:spPr>
      </p:pic>
      <p:pic>
        <p:nvPicPr>
          <p:cNvPr id="19" name="Image 9" descr="gen-dedup-58feccc2d2639b631eea795ee2484ea0.png">    </p:cNvPr>
          <p:cNvPicPr>
            <a:picLocks noChangeAspect="1"/>
          </p:cNvPicPr>
          <p:nvPr/>
        </p:nvPicPr>
        <p:blipFill>
          <a:blip r:embed="rId10"/>
          <a:srcRect l="-2083" r="-2083" t="0" b="0"/>
          <a:stretch/>
        </p:blipFill>
        <p:spPr>
          <a:xfrm>
            <a:off x="1009498" y="8268005"/>
            <a:ext cx="7619695" cy="9144"/>
          </a:xfrm>
          <a:prstGeom prst="rect">
            <a:avLst/>
          </a:prstGeom>
        </p:spPr>
      </p:pic>
      <p:pic>
        <p:nvPicPr>
          <p:cNvPr id="20" name="Image 10" descr="gen-dedup-2ad4f31b578c76461c0c02c42cbf057c.png">    </p:cNvPr>
          <p:cNvPicPr>
            <a:picLocks noChangeAspect="1"/>
          </p:cNvPicPr>
          <p:nvPr/>
        </p:nvPicPr>
        <p:blipFill>
          <a:blip r:embed="rId11"/>
          <a:srcRect l="-395" r="-395" t="0" b="0"/>
          <a:stretch/>
        </p:blipFill>
        <p:spPr>
          <a:xfrm>
            <a:off x="9430207" y="6001207"/>
            <a:ext cx="57607" cy="3238805"/>
          </a:xfrm>
          <a:prstGeom prst="rect">
            <a:avLst/>
          </a:prstGeom>
        </p:spPr>
      </p:pic>
      <p:sp>
        <p:nvSpPr>
          <p:cNvPr id="21" name="Shape 7"/>
          <p:cNvSpPr/>
          <p:nvPr/>
        </p:nvSpPr>
        <p:spPr>
          <a:xfrm>
            <a:off x="9677095" y="7048195"/>
            <a:ext cx="7619695" cy="342900"/>
          </a:xfrm>
          <a:prstGeom prst="rect">
            <a:avLst/>
          </a:prstGeom>
          <a:solidFill>
            <a:srgbClr val="0F1424"/>
          </a:solidFill>
          <a:ln w="12700">
            <a:solidFill>
              <a:srgbClr val="FFFFFF">
                <a:alpha val="0"/>
              </a:srgbClr>
            </a:solidFill>
            <a:prstDash val="solid"/>
          </a:ln>
        </p:spPr>
      </p:sp>
      <p:pic>
        <p:nvPicPr>
          <p:cNvPr id="22" name="Image 11" descr="gen-dedup-58feccc2d2639b631eea795ee2484ea0.png">    </p:cNvPr>
          <p:cNvPicPr>
            <a:picLocks noChangeAspect="1"/>
          </p:cNvPicPr>
          <p:nvPr/>
        </p:nvPicPr>
        <p:blipFill>
          <a:blip r:embed="rId12"/>
          <a:srcRect l="-2083" r="-2083" t="0" b="0"/>
          <a:stretch/>
        </p:blipFill>
        <p:spPr>
          <a:xfrm>
            <a:off x="9677095" y="7848295"/>
            <a:ext cx="7619695" cy="9144"/>
          </a:xfrm>
          <a:prstGeom prst="rect">
            <a:avLst/>
          </a:prstGeom>
        </p:spPr>
      </p:pic>
      <p:pic>
        <p:nvPicPr>
          <p:cNvPr id="23" name="Image 12" descr="gen-dedup-58feccc2d2639b631eea795ee2484ea0.png">    </p:cNvPr>
          <p:cNvPicPr>
            <a:picLocks noChangeAspect="1"/>
          </p:cNvPicPr>
          <p:nvPr/>
        </p:nvPicPr>
        <p:blipFill>
          <a:blip r:embed="rId13"/>
          <a:srcRect l="-2083" r="-2083" t="0" b="0"/>
          <a:stretch/>
        </p:blipFill>
        <p:spPr>
          <a:xfrm>
            <a:off x="9677095" y="8268005"/>
            <a:ext cx="7619695" cy="9144"/>
          </a:xfrm>
          <a:prstGeom prst="rect">
            <a:avLst/>
          </a:prstGeom>
        </p:spPr>
      </p:pic>
      <p:pic>
        <p:nvPicPr>
          <p:cNvPr id="24" name="Image 13" descr="gen-dedup-fb7284239b65d37878da76aad5baf72f.png">    </p:cNvPr>
          <p:cNvPicPr>
            <a:picLocks noChangeAspect="1"/>
          </p:cNvPicPr>
          <p:nvPr/>
        </p:nvPicPr>
        <p:blipFill>
          <a:blip r:embed="rId14"/>
          <a:srcRect l="0" r="0" t="-437" b="-437"/>
          <a:stretch/>
        </p:blipFill>
        <p:spPr>
          <a:xfrm>
            <a:off x="761695" y="662026"/>
            <a:ext cx="418795" cy="19202"/>
          </a:xfrm>
          <a:prstGeom prst="rect">
            <a:avLst/>
          </a:prstGeom>
        </p:spPr>
      </p:pic>
      <p:sp>
        <p:nvSpPr>
          <p:cNvPr id="25" name="Text 8"/>
          <p:cNvSpPr txBox="1"/>
          <p:nvPr/>
        </p:nvSpPr>
        <p:spPr>
          <a:xfrm>
            <a:off x="1352398" y="590702"/>
            <a:ext cx="2628900"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06 — CD VARIATION</a:t>
            </a:r>
            <a:endParaRPr lang="en-US" sz="975" dirty="0"/>
          </a:p>
        </p:txBody>
      </p:sp>
      <p:sp>
        <p:nvSpPr>
          <p:cNvPr id="26" name="Text 9"/>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06</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7" name="Text 10"/>
          <p:cNvSpPr txBox="1"/>
          <p:nvPr/>
        </p:nvSpPr>
        <p:spPr>
          <a:xfrm>
            <a:off x="761695" y="1238098"/>
            <a:ext cx="12382805" cy="476402"/>
          </a:xfrm>
          <a:prstGeom prst="rect">
            <a:avLst/>
          </a:prstGeom>
          <a:noFill/>
          <a:ln/>
        </p:spPr>
        <p:txBody>
          <a:bodyPr wrap="none" lIns="0" tIns="0" rIns="0" bIns="0" rtlCol="0" anchor="ctr"/>
          <a:lstStyle/>
          <a:p>
            <a:pPr algn="l" indent="0" marL="0">
              <a:buNone/>
            </a:pPr>
            <a:r>
              <a:rPr lang="en-US" sz="3750" b="1" spc="-131" kern="0" dirty="0">
                <a:solidFill>
                  <a:srgbClr val="E8EDF5"/>
                </a:solidFill>
                <a:latin typeface="Inter" pitchFamily="34" charset="0"/>
                <a:ea typeface="Inter" pitchFamily="34" charset="-122"/>
                <a:cs typeface="Inter" pitchFamily="34" charset="-120"/>
              </a:rPr>
              <a:t>4 metrics × 3 wafers </a:t>
            </a:r>
            <a:pPr algn="l" indent="0" marL="0">
              <a:buNone/>
            </a:pPr>
            <a:r>
              <a:rPr lang="en-US" sz="3750" b="1" spc="-131" kern="0" dirty="0">
                <a:solidFill>
                  <a:srgbClr val="5EEAD4"/>
                </a:solidFill>
                <a:latin typeface="Inter" pitchFamily="34" charset="0"/>
                <a:ea typeface="Inter" pitchFamily="34" charset="-122"/>
                <a:cs typeface="Inter" pitchFamily="34" charset="-120"/>
              </a:rPr>
              <a:t>CD</a:t>
            </a:r>
            <a:pPr algn="l" indent="0" marL="0">
              <a:buNone/>
            </a:pPr>
            <a:r>
              <a:rPr lang="en-US" sz="3750" b="1" spc="-131" kern="0" dirty="0">
                <a:solidFill>
                  <a:srgbClr val="E8EDF5"/>
                </a:solidFill>
                <a:latin typeface="Inter" pitchFamily="34" charset="0"/>
                <a:ea typeface="Inter" pitchFamily="34" charset="-122"/>
                <a:cs typeface="Inter" pitchFamily="34" charset="-120"/>
              </a:rPr>
              <a:t> 변화</a:t>
            </a:r>
            <a:endParaRPr lang="en-US" sz="3750" dirty="0"/>
          </a:p>
        </p:txBody>
      </p:sp>
      <p:sp>
        <p:nvSpPr>
          <p:cNvPr id="28" name="Text 11"/>
          <p:cNvSpPr txBox="1"/>
          <p:nvPr/>
        </p:nvSpPr>
        <p:spPr>
          <a:xfrm>
            <a:off x="761695" y="1828800"/>
            <a:ext cx="12382805" cy="228600"/>
          </a:xfrm>
          <a:prstGeom prst="rect">
            <a:avLst/>
          </a:prstGeom>
          <a:noFill/>
          <a:ln/>
        </p:spPr>
        <p:txBody>
          <a:bodyPr wrap="none" lIns="0" tIns="0" rIns="0" bIns="0" rtlCol="0" anchor="ctr"/>
          <a:lstStyle/>
          <a:p>
            <a:pPr algn="l" indent="0" marL="0">
              <a:buNone/>
            </a:pPr>
            <a:r>
              <a:rPr lang="en-US" sz="1200" dirty="0">
                <a:solidFill>
                  <a:srgbClr val="94A3B8"/>
                </a:solidFill>
                <a:latin typeface="Inter" pitchFamily="34" charset="0"/>
                <a:ea typeface="Inter" pitchFamily="34" charset="-122"/>
                <a:cs typeface="Inter" pitchFamily="34" charset="-120"/>
              </a:rPr>
              <a:t>AASI · ASEI · AMI · ACI · wafer별 mean / 3σ / range / target delta · 측정 in-line CD-SEM, 25 site → 5σ trim</a:t>
            </a:r>
            <a:endParaRPr lang="en-US" sz="1200" dirty="0"/>
          </a:p>
        </p:txBody>
      </p:sp>
      <p:sp>
        <p:nvSpPr>
          <p:cNvPr id="29" name="Text 12"/>
          <p:cNvSpPr txBox="1"/>
          <p:nvPr/>
        </p:nvSpPr>
        <p:spPr>
          <a:xfrm>
            <a:off x="14287500" y="1314907"/>
            <a:ext cx="3238805" cy="390449"/>
          </a:xfrm>
          <a:prstGeom prst="rect">
            <a:avLst/>
          </a:prstGeom>
          <a:noFill/>
          <a:ln/>
        </p:spPr>
        <p:txBody>
          <a:bodyPr wrap="square" lIns="0" tIns="0" rIns="0" bIns="0" rtlCol="0" anchor="t"/>
          <a:lstStyle/>
          <a:p>
            <a:pPr algn="l" indent="0" marL="0">
              <a:lnSpc>
                <a:spcPts val="1463"/>
              </a:lnSpc>
              <a:buNone/>
            </a:pPr>
            <a:r>
              <a:rPr lang="en-US" sz="975" dirty="0">
                <a:solidFill>
                  <a:srgbClr val="64748B"/>
                </a:solidFill>
                <a:latin typeface="Inter" pitchFamily="34" charset="0"/>
                <a:ea typeface="Inter" pitchFamily="34" charset="-122"/>
                <a:cs typeface="Inter" pitchFamily="34" charset="-120"/>
              </a:rPr>
              <a:t>측정: in-line CD-SEM</a:t>
            </a:r>
            <a:pPr algn="l" indent="0" marL="0">
              <a:lnSpc>
                <a:spcPts val="1463"/>
              </a:lnSpc>
              <a:buNone/>
            </a:pPr>
            <a:endParaRPr lang="en-US" sz="975" dirty="0"/>
          </a:p>
          <a:p>
            <a:pPr algn="l" indent="0" marL="0">
              <a:lnSpc>
                <a:spcPts val="1463"/>
              </a:lnSpc>
              <a:buNone/>
            </a:pPr>
            <a:r>
              <a:rPr lang="en-US" sz="975" dirty="0">
                <a:solidFill>
                  <a:srgbClr val="64748B"/>
                </a:solidFill>
                <a:latin typeface="Inter" pitchFamily="34" charset="0"/>
                <a:ea typeface="Inter" pitchFamily="34" charset="-122"/>
                <a:cs typeface="Inter" pitchFamily="34" charset="-120"/>
              </a:rPr>
              <a:t>per wafer 25 site 후 5σ trim</a:t>
            </a:r>
            <a:endParaRPr lang="en-US" sz="975" dirty="0"/>
          </a:p>
        </p:txBody>
      </p:sp>
      <p:sp>
        <p:nvSpPr>
          <p:cNvPr id="30" name="Text 13"/>
          <p:cNvSpPr txBox="1"/>
          <p:nvPr/>
        </p:nvSpPr>
        <p:spPr>
          <a:xfrm>
            <a:off x="1009498" y="2743200"/>
            <a:ext cx="5715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CD METRIC · 01</a:t>
            </a:r>
            <a:endParaRPr lang="en-US" sz="825" dirty="0"/>
          </a:p>
        </p:txBody>
      </p:sp>
      <p:sp>
        <p:nvSpPr>
          <p:cNvPr id="31" name="Text 14"/>
          <p:cNvSpPr txBox="1"/>
          <p:nvPr/>
        </p:nvSpPr>
        <p:spPr>
          <a:xfrm>
            <a:off x="1009498" y="3010205"/>
            <a:ext cx="734263" cy="305410"/>
          </a:xfrm>
          <a:prstGeom prst="rect">
            <a:avLst/>
          </a:prstGeom>
          <a:noFill/>
          <a:ln/>
        </p:spPr>
        <p:txBody>
          <a:bodyPr wrap="none" lIns="0" tIns="0" rIns="0" bIns="0" rtlCol="0" anchor="ctr"/>
          <a:lstStyle/>
          <a:p>
            <a:pPr algn="l" indent="0" marL="0">
              <a:buNone/>
            </a:pPr>
            <a:r>
              <a:rPr lang="en-US" sz="2400" b="1" spc="-60" kern="0" dirty="0">
                <a:solidFill>
                  <a:srgbClr val="E8EDF5"/>
                </a:solidFill>
                <a:latin typeface="Inter" pitchFamily="34" charset="0"/>
                <a:ea typeface="Inter" pitchFamily="34" charset="-122"/>
                <a:cs typeface="Inter" pitchFamily="34" charset="-120"/>
              </a:rPr>
              <a:t>AASI</a:t>
            </a:r>
            <a:endParaRPr lang="en-US" sz="2400" dirty="0"/>
          </a:p>
        </p:txBody>
      </p:sp>
      <p:sp>
        <p:nvSpPr>
          <p:cNvPr id="32" name="Text 15"/>
          <p:cNvSpPr txBox="1"/>
          <p:nvPr/>
        </p:nvSpPr>
        <p:spPr>
          <a:xfrm>
            <a:off x="1868119" y="3133649"/>
            <a:ext cx="1172261"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trench top CD</a:t>
            </a:r>
            <a:endParaRPr lang="en-US" sz="1050" dirty="0"/>
          </a:p>
        </p:txBody>
      </p:sp>
      <p:sp>
        <p:nvSpPr>
          <p:cNvPr id="33" name="Text 16"/>
          <p:cNvSpPr txBox="1"/>
          <p:nvPr/>
        </p:nvSpPr>
        <p:spPr>
          <a:xfrm>
            <a:off x="6152998" y="2819095"/>
            <a:ext cx="2667305" cy="133502"/>
          </a:xfrm>
          <a:prstGeom prst="rect">
            <a:avLst/>
          </a:prstGeom>
          <a:noFill/>
          <a:ln/>
        </p:spPr>
        <p:txBody>
          <a:bodyPr wrap="none" lIns="0" tIns="0" rIns="0" bIns="0" rtlCol="0" anchor="ctr"/>
          <a:lstStyle/>
          <a:p>
            <a:pPr algn="r" indent="0" marL="0">
              <a:buNone/>
            </a:pPr>
            <a:r>
              <a:rPr lang="en-US" sz="825" spc="247" kern="0" dirty="0">
                <a:solidFill>
                  <a:srgbClr val="64748B"/>
                </a:solidFill>
                <a:latin typeface="JetBrains Mono" pitchFamily="34" charset="0"/>
                <a:ea typeface="JetBrains Mono" pitchFamily="34" charset="-122"/>
                <a:cs typeface="JetBrains Mono" pitchFamily="34" charset="-120"/>
              </a:rPr>
              <a:t>TARGET</a:t>
            </a:r>
            <a:endParaRPr lang="en-US" sz="825" dirty="0"/>
          </a:p>
        </p:txBody>
      </p:sp>
      <p:sp>
        <p:nvSpPr>
          <p:cNvPr id="34" name="Text 17"/>
          <p:cNvSpPr txBox="1"/>
          <p:nvPr/>
        </p:nvSpPr>
        <p:spPr>
          <a:xfrm>
            <a:off x="6152998" y="3010205"/>
            <a:ext cx="2667305" cy="267005"/>
          </a:xfrm>
          <a:prstGeom prst="rect">
            <a:avLst/>
          </a:prstGeom>
          <a:noFill/>
          <a:ln/>
        </p:spPr>
        <p:txBody>
          <a:bodyPr wrap="none" lIns="0" tIns="0" rIns="0" bIns="0" rtlCol="0" anchor="ctr"/>
          <a:lstStyle/>
          <a:p>
            <a:pPr algn="r" indent="0" marL="0">
              <a:buNone/>
            </a:pPr>
            <a:r>
              <a:rPr lang="en-US" sz="2100" b="1" dirty="0">
                <a:solidFill>
                  <a:srgbClr val="FB923C"/>
                </a:solidFill>
                <a:latin typeface="JetBrains Mono" pitchFamily="34" charset="0"/>
                <a:ea typeface="JetBrains Mono" pitchFamily="34" charset="-122"/>
                <a:cs typeface="JetBrains Mono" pitchFamily="34" charset="-120"/>
              </a:rPr>
              <a:t>24.3 nm</a:t>
            </a:r>
            <a:endParaRPr lang="en-US" sz="2100" dirty="0"/>
          </a:p>
        </p:txBody>
      </p:sp>
      <p:sp>
        <p:nvSpPr>
          <p:cNvPr id="35" name="Text 18"/>
          <p:cNvSpPr txBox="1"/>
          <p:nvPr/>
        </p:nvSpPr>
        <p:spPr>
          <a:xfrm>
            <a:off x="1238098" y="3619195"/>
            <a:ext cx="1905610" cy="342900"/>
          </a:xfrm>
          <a:prstGeom prst="rect">
            <a:avLst/>
          </a:prstGeom>
          <a:noFill/>
          <a:ln/>
        </p:spPr>
        <p:txBody>
          <a:bodyPr wrap="none" lIns="0" tIns="0" rIns="0" bIns="0" rtlCol="0" anchor="ctr"/>
          <a:lstStyle/>
          <a:p>
            <a:pPr algn="l" indent="0" marL="0">
              <a:buNone/>
            </a:pPr>
            <a:r>
              <a:rPr lang="en-US" sz="900" b="1" spc="72" kern="0" dirty="0">
                <a:solidFill>
                  <a:srgbClr val="94A3B8"/>
                </a:solidFill>
                <a:latin typeface="Inter" pitchFamily="34" charset="0"/>
                <a:ea typeface="Inter" pitchFamily="34" charset="-122"/>
                <a:cs typeface="Inter" pitchFamily="34" charset="-120"/>
              </a:rPr>
              <a:t>Wafer</a:t>
            </a:r>
            <a:endParaRPr lang="en-US" sz="900" dirty="0"/>
          </a:p>
        </p:txBody>
      </p:sp>
      <p:sp>
        <p:nvSpPr>
          <p:cNvPr id="36" name="Text 19"/>
          <p:cNvSpPr txBox="1"/>
          <p:nvPr/>
        </p:nvSpPr>
        <p:spPr>
          <a:xfrm>
            <a:off x="2915107"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mean</a:t>
            </a:r>
            <a:endParaRPr lang="en-US" sz="900" dirty="0"/>
          </a:p>
        </p:txBody>
      </p:sp>
      <p:sp>
        <p:nvSpPr>
          <p:cNvPr id="37" name="Text 20"/>
          <p:cNvSpPr txBox="1"/>
          <p:nvPr/>
        </p:nvSpPr>
        <p:spPr>
          <a:xfrm>
            <a:off x="4248302"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3σ</a:t>
            </a:r>
            <a:endParaRPr lang="en-US" sz="900" dirty="0"/>
          </a:p>
        </p:txBody>
      </p:sp>
      <p:sp>
        <p:nvSpPr>
          <p:cNvPr id="38" name="Text 21"/>
          <p:cNvSpPr txBox="1"/>
          <p:nvPr/>
        </p:nvSpPr>
        <p:spPr>
          <a:xfrm>
            <a:off x="5581498"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range</a:t>
            </a:r>
            <a:endParaRPr lang="en-US" sz="900" dirty="0"/>
          </a:p>
        </p:txBody>
      </p:sp>
      <p:sp>
        <p:nvSpPr>
          <p:cNvPr id="39" name="Text 22"/>
          <p:cNvSpPr txBox="1"/>
          <p:nvPr/>
        </p:nvSpPr>
        <p:spPr>
          <a:xfrm>
            <a:off x="6915607" y="3619195"/>
            <a:ext cx="1619402"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Δ target</a:t>
            </a:r>
            <a:endParaRPr lang="en-US" sz="900" dirty="0"/>
          </a:p>
        </p:txBody>
      </p:sp>
      <p:sp>
        <p:nvSpPr>
          <p:cNvPr id="40" name="Text 23"/>
          <p:cNvSpPr txBox="1"/>
          <p:nvPr/>
        </p:nvSpPr>
        <p:spPr>
          <a:xfrm>
            <a:off x="1238098" y="4038905"/>
            <a:ext cx="1905610" cy="342900"/>
          </a:xfrm>
          <a:prstGeom prst="rect">
            <a:avLst/>
          </a:prstGeom>
          <a:noFill/>
          <a:ln/>
        </p:spPr>
        <p:txBody>
          <a:bodyPr wrap="none" lIns="0" tIns="0" rIns="0" bIns="0" rtlCol="0" anchor="ctr"/>
          <a:lstStyle/>
          <a:p>
            <a:pPr algn="l" indent="0" marL="0">
              <a:buNone/>
            </a:pPr>
            <a:r>
              <a:rPr lang="en-US" sz="1125" b="1" dirty="0">
                <a:solidFill>
                  <a:srgbClr val="5EEAD4"/>
                </a:solidFill>
                <a:latin typeface="Inter" pitchFamily="34" charset="0"/>
                <a:ea typeface="Inter" pitchFamily="34" charset="-122"/>
                <a:cs typeface="Inter" pitchFamily="34" charset="-120"/>
              </a:rPr>
              <a:t>W1</a:t>
            </a:r>
            <a:endParaRPr lang="en-US" sz="1125" dirty="0"/>
          </a:p>
        </p:txBody>
      </p:sp>
      <p:sp>
        <p:nvSpPr>
          <p:cNvPr id="41" name="Text 24"/>
          <p:cNvSpPr txBox="1"/>
          <p:nvPr/>
        </p:nvSpPr>
        <p:spPr>
          <a:xfrm>
            <a:off x="2915107"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24.1</a:t>
            </a:r>
            <a:endParaRPr lang="en-US" sz="1275" dirty="0"/>
          </a:p>
        </p:txBody>
      </p:sp>
      <p:sp>
        <p:nvSpPr>
          <p:cNvPr id="42" name="Text 25"/>
          <p:cNvSpPr txBox="1"/>
          <p:nvPr/>
        </p:nvSpPr>
        <p:spPr>
          <a:xfrm>
            <a:off x="4248302"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1.8</a:t>
            </a:r>
            <a:endParaRPr lang="en-US" sz="1275" dirty="0"/>
          </a:p>
        </p:txBody>
      </p:sp>
      <p:sp>
        <p:nvSpPr>
          <p:cNvPr id="43" name="Text 26"/>
          <p:cNvSpPr txBox="1"/>
          <p:nvPr/>
        </p:nvSpPr>
        <p:spPr>
          <a:xfrm>
            <a:off x="5581498"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4.2</a:t>
            </a:r>
            <a:endParaRPr lang="en-US" sz="1275" dirty="0"/>
          </a:p>
        </p:txBody>
      </p:sp>
      <p:sp>
        <p:nvSpPr>
          <p:cNvPr id="44" name="Text 27"/>
          <p:cNvSpPr txBox="1"/>
          <p:nvPr/>
        </p:nvSpPr>
        <p:spPr>
          <a:xfrm>
            <a:off x="6915607" y="4038905"/>
            <a:ext cx="1619402" cy="342900"/>
          </a:xfrm>
          <a:prstGeom prst="rect">
            <a:avLst/>
          </a:prstGeom>
          <a:noFill/>
          <a:ln/>
        </p:spPr>
        <p:txBody>
          <a:bodyPr wrap="none" lIns="0" tIns="0" rIns="0" bIns="0" rtlCol="0" anchor="ctr"/>
          <a:lstStyle/>
          <a:p>
            <a:pPr algn="ctr" indent="0" marL="0">
              <a:buNone/>
            </a:pPr>
            <a:r>
              <a:rPr lang="en-US" sz="1125" dirty="0">
                <a:solidFill>
                  <a:srgbClr val="34D399"/>
                </a:solidFill>
                <a:latin typeface="JetBrains Mono" pitchFamily="34" charset="0"/>
                <a:ea typeface="JetBrains Mono" pitchFamily="34" charset="-122"/>
                <a:cs typeface="JetBrains Mono" pitchFamily="34" charset="-120"/>
              </a:rPr>
              <a:t>−0.2</a:t>
            </a:r>
            <a:endParaRPr lang="en-US" sz="1125" dirty="0"/>
          </a:p>
        </p:txBody>
      </p:sp>
      <p:sp>
        <p:nvSpPr>
          <p:cNvPr id="45" name="Text 28"/>
          <p:cNvSpPr txBox="1"/>
          <p:nvPr/>
        </p:nvSpPr>
        <p:spPr>
          <a:xfrm>
            <a:off x="1238098" y="4457700"/>
            <a:ext cx="1905610" cy="342900"/>
          </a:xfrm>
          <a:prstGeom prst="rect">
            <a:avLst/>
          </a:prstGeom>
          <a:noFill/>
          <a:ln/>
        </p:spPr>
        <p:txBody>
          <a:bodyPr wrap="none" lIns="0" tIns="0" rIns="0" bIns="0" rtlCol="0" anchor="ctr"/>
          <a:lstStyle/>
          <a:p>
            <a:pPr algn="l" indent="0" marL="0">
              <a:buNone/>
            </a:pPr>
            <a:r>
              <a:rPr lang="en-US" sz="1125" b="1" dirty="0">
                <a:solidFill>
                  <a:srgbClr val="FB923C"/>
                </a:solidFill>
                <a:latin typeface="Inter" pitchFamily="34" charset="0"/>
                <a:ea typeface="Inter" pitchFamily="34" charset="-122"/>
                <a:cs typeface="Inter" pitchFamily="34" charset="-120"/>
              </a:rPr>
              <a:t>W2</a:t>
            </a:r>
            <a:endParaRPr lang="en-US" sz="1125" dirty="0"/>
          </a:p>
        </p:txBody>
      </p:sp>
      <p:sp>
        <p:nvSpPr>
          <p:cNvPr id="46" name="Text 29"/>
          <p:cNvSpPr txBox="1"/>
          <p:nvPr/>
        </p:nvSpPr>
        <p:spPr>
          <a:xfrm>
            <a:off x="2915107"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23.7</a:t>
            </a:r>
            <a:endParaRPr lang="en-US" sz="1275" dirty="0"/>
          </a:p>
        </p:txBody>
      </p:sp>
      <p:sp>
        <p:nvSpPr>
          <p:cNvPr id="47" name="Text 30"/>
          <p:cNvSpPr txBox="1"/>
          <p:nvPr/>
        </p:nvSpPr>
        <p:spPr>
          <a:xfrm>
            <a:off x="4248302"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2.4</a:t>
            </a:r>
            <a:endParaRPr lang="en-US" sz="1275" dirty="0"/>
          </a:p>
        </p:txBody>
      </p:sp>
      <p:sp>
        <p:nvSpPr>
          <p:cNvPr id="48" name="Text 31"/>
          <p:cNvSpPr txBox="1"/>
          <p:nvPr/>
        </p:nvSpPr>
        <p:spPr>
          <a:xfrm>
            <a:off x="5581498"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5.6</a:t>
            </a:r>
            <a:endParaRPr lang="en-US" sz="1275" dirty="0"/>
          </a:p>
        </p:txBody>
      </p:sp>
      <p:sp>
        <p:nvSpPr>
          <p:cNvPr id="49" name="Text 32"/>
          <p:cNvSpPr txBox="1"/>
          <p:nvPr/>
        </p:nvSpPr>
        <p:spPr>
          <a:xfrm>
            <a:off x="6915607" y="4457700"/>
            <a:ext cx="1619402" cy="342900"/>
          </a:xfrm>
          <a:prstGeom prst="rect">
            <a:avLst/>
          </a:prstGeom>
          <a:noFill/>
          <a:ln/>
        </p:spPr>
        <p:txBody>
          <a:bodyPr wrap="none" lIns="0" tIns="0" rIns="0" bIns="0" rtlCol="0" anchor="ctr"/>
          <a:lstStyle/>
          <a:p>
            <a:pPr algn="ctr" indent="0" marL="0">
              <a:buNone/>
            </a:pPr>
            <a:r>
              <a:rPr lang="en-US" sz="1125" dirty="0">
                <a:solidFill>
                  <a:srgbClr val="FB923C"/>
                </a:solidFill>
                <a:latin typeface="JetBrains Mono" pitchFamily="34" charset="0"/>
                <a:ea typeface="JetBrains Mono" pitchFamily="34" charset="-122"/>
                <a:cs typeface="JetBrains Mono" pitchFamily="34" charset="-120"/>
              </a:rPr>
              <a:t>−0.6</a:t>
            </a:r>
            <a:endParaRPr lang="en-US" sz="1125" dirty="0"/>
          </a:p>
        </p:txBody>
      </p:sp>
      <p:sp>
        <p:nvSpPr>
          <p:cNvPr id="50" name="Text 33"/>
          <p:cNvSpPr txBox="1"/>
          <p:nvPr/>
        </p:nvSpPr>
        <p:spPr>
          <a:xfrm>
            <a:off x="1238098" y="4876495"/>
            <a:ext cx="1905610" cy="342900"/>
          </a:xfrm>
          <a:prstGeom prst="rect">
            <a:avLst/>
          </a:prstGeom>
          <a:noFill/>
          <a:ln/>
        </p:spPr>
        <p:txBody>
          <a:bodyPr wrap="none" lIns="0" tIns="0" rIns="0" bIns="0" rtlCol="0" anchor="ctr"/>
          <a:lstStyle/>
          <a:p>
            <a:pPr algn="l" indent="0" marL="0">
              <a:buNone/>
            </a:pPr>
            <a:r>
              <a:rPr lang="en-US" sz="1125" b="1" dirty="0">
                <a:solidFill>
                  <a:srgbClr val="F472B6"/>
                </a:solidFill>
                <a:latin typeface="Inter" pitchFamily="34" charset="0"/>
                <a:ea typeface="Inter" pitchFamily="34" charset="-122"/>
                <a:cs typeface="Inter" pitchFamily="34" charset="-120"/>
              </a:rPr>
              <a:t>W3</a:t>
            </a:r>
            <a:endParaRPr lang="en-US" sz="1125" dirty="0"/>
          </a:p>
        </p:txBody>
      </p:sp>
      <p:sp>
        <p:nvSpPr>
          <p:cNvPr id="51" name="Text 34"/>
          <p:cNvSpPr txBox="1"/>
          <p:nvPr/>
        </p:nvSpPr>
        <p:spPr>
          <a:xfrm>
            <a:off x="2915107"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23.2</a:t>
            </a:r>
            <a:endParaRPr lang="en-US" sz="1275" dirty="0"/>
          </a:p>
        </p:txBody>
      </p:sp>
      <p:sp>
        <p:nvSpPr>
          <p:cNvPr id="52" name="Text 35"/>
          <p:cNvSpPr txBox="1"/>
          <p:nvPr/>
        </p:nvSpPr>
        <p:spPr>
          <a:xfrm>
            <a:off x="4248302"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3.2</a:t>
            </a:r>
            <a:endParaRPr lang="en-US" sz="1275" dirty="0"/>
          </a:p>
        </p:txBody>
      </p:sp>
      <p:sp>
        <p:nvSpPr>
          <p:cNvPr id="53" name="Text 36"/>
          <p:cNvSpPr txBox="1"/>
          <p:nvPr/>
        </p:nvSpPr>
        <p:spPr>
          <a:xfrm>
            <a:off x="5581498"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7.4</a:t>
            </a:r>
            <a:endParaRPr lang="en-US" sz="1275" dirty="0"/>
          </a:p>
        </p:txBody>
      </p:sp>
      <p:sp>
        <p:nvSpPr>
          <p:cNvPr id="54" name="Text 37"/>
          <p:cNvSpPr txBox="1"/>
          <p:nvPr/>
        </p:nvSpPr>
        <p:spPr>
          <a:xfrm>
            <a:off x="6915607" y="4876495"/>
            <a:ext cx="1619402" cy="342900"/>
          </a:xfrm>
          <a:prstGeom prst="rect">
            <a:avLst/>
          </a:prstGeom>
          <a:noFill/>
          <a:ln/>
        </p:spPr>
        <p:txBody>
          <a:bodyPr wrap="none" lIns="0" tIns="0" rIns="0" bIns="0" rtlCol="0" anchor="ctr"/>
          <a:lstStyle/>
          <a:p>
            <a:pPr algn="ctr" indent="0" marL="0">
              <a:buNone/>
            </a:pPr>
            <a:r>
              <a:rPr lang="en-US" sz="1125" dirty="0">
                <a:solidFill>
                  <a:srgbClr val="F472B6"/>
                </a:solidFill>
                <a:latin typeface="JetBrains Mono" pitchFamily="34" charset="0"/>
                <a:ea typeface="JetBrains Mono" pitchFamily="34" charset="-122"/>
                <a:cs typeface="JetBrains Mono" pitchFamily="34" charset="-120"/>
              </a:rPr>
              <a:t>−1.1</a:t>
            </a:r>
            <a:endParaRPr lang="en-US" sz="1125" dirty="0"/>
          </a:p>
        </p:txBody>
      </p:sp>
      <p:sp>
        <p:nvSpPr>
          <p:cNvPr id="55" name="Text 38"/>
          <p:cNvSpPr txBox="1"/>
          <p:nvPr/>
        </p:nvSpPr>
        <p:spPr>
          <a:xfrm>
            <a:off x="1009498" y="5391302"/>
            <a:ext cx="7620610" cy="228600"/>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단위: nm · Δ target = wafer mean − target</a:t>
            </a:r>
            <a:endParaRPr lang="en-US" sz="900" dirty="0"/>
          </a:p>
        </p:txBody>
      </p:sp>
      <p:sp>
        <p:nvSpPr>
          <p:cNvPr id="56" name="Text 39"/>
          <p:cNvSpPr txBox="1"/>
          <p:nvPr/>
        </p:nvSpPr>
        <p:spPr>
          <a:xfrm>
            <a:off x="9677095" y="2743200"/>
            <a:ext cx="571500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CD METRIC · 02</a:t>
            </a:r>
            <a:endParaRPr lang="en-US" sz="825" dirty="0"/>
          </a:p>
        </p:txBody>
      </p:sp>
      <p:sp>
        <p:nvSpPr>
          <p:cNvPr id="57" name="Text 40"/>
          <p:cNvSpPr txBox="1"/>
          <p:nvPr/>
        </p:nvSpPr>
        <p:spPr>
          <a:xfrm>
            <a:off x="9677095" y="3010205"/>
            <a:ext cx="760781" cy="305410"/>
          </a:xfrm>
          <a:prstGeom prst="rect">
            <a:avLst/>
          </a:prstGeom>
          <a:noFill/>
          <a:ln/>
        </p:spPr>
        <p:txBody>
          <a:bodyPr wrap="none" lIns="0" tIns="0" rIns="0" bIns="0" rtlCol="0" anchor="ctr"/>
          <a:lstStyle/>
          <a:p>
            <a:pPr algn="l" indent="0" marL="0">
              <a:buNone/>
            </a:pPr>
            <a:r>
              <a:rPr lang="en-US" sz="2400" b="1" spc="-60" kern="0" dirty="0">
                <a:solidFill>
                  <a:srgbClr val="E8EDF5"/>
                </a:solidFill>
                <a:latin typeface="Inter" pitchFamily="34" charset="0"/>
                <a:ea typeface="Inter" pitchFamily="34" charset="-122"/>
                <a:cs typeface="Inter" pitchFamily="34" charset="-120"/>
              </a:rPr>
              <a:t>ASEI</a:t>
            </a:r>
            <a:endParaRPr lang="en-US" sz="2400" dirty="0"/>
          </a:p>
        </p:txBody>
      </p:sp>
      <p:sp>
        <p:nvSpPr>
          <p:cNvPr id="58" name="Text 41"/>
          <p:cNvSpPr txBox="1"/>
          <p:nvPr/>
        </p:nvSpPr>
        <p:spPr>
          <a:xfrm>
            <a:off x="10482682" y="3133649"/>
            <a:ext cx="1175918"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trench mid CD</a:t>
            </a:r>
            <a:endParaRPr lang="en-US" sz="1050" dirty="0"/>
          </a:p>
        </p:txBody>
      </p:sp>
      <p:sp>
        <p:nvSpPr>
          <p:cNvPr id="59" name="Text 42"/>
          <p:cNvSpPr txBox="1"/>
          <p:nvPr/>
        </p:nvSpPr>
        <p:spPr>
          <a:xfrm>
            <a:off x="14820595" y="2819095"/>
            <a:ext cx="2667305" cy="133502"/>
          </a:xfrm>
          <a:prstGeom prst="rect">
            <a:avLst/>
          </a:prstGeom>
          <a:noFill/>
          <a:ln/>
        </p:spPr>
        <p:txBody>
          <a:bodyPr wrap="none" lIns="0" tIns="0" rIns="0" bIns="0" rtlCol="0" anchor="ctr"/>
          <a:lstStyle/>
          <a:p>
            <a:pPr algn="r" indent="0" marL="0">
              <a:buNone/>
            </a:pPr>
            <a:r>
              <a:rPr lang="en-US" sz="825" spc="247" kern="0" dirty="0">
                <a:solidFill>
                  <a:srgbClr val="64748B"/>
                </a:solidFill>
                <a:latin typeface="JetBrains Mono" pitchFamily="34" charset="0"/>
                <a:ea typeface="JetBrains Mono" pitchFamily="34" charset="-122"/>
                <a:cs typeface="JetBrains Mono" pitchFamily="34" charset="-120"/>
              </a:rPr>
              <a:t>TARGET</a:t>
            </a:r>
            <a:endParaRPr lang="en-US" sz="825" dirty="0"/>
          </a:p>
        </p:txBody>
      </p:sp>
      <p:sp>
        <p:nvSpPr>
          <p:cNvPr id="60" name="Text 43"/>
          <p:cNvSpPr txBox="1"/>
          <p:nvPr/>
        </p:nvSpPr>
        <p:spPr>
          <a:xfrm>
            <a:off x="14820595" y="3010205"/>
            <a:ext cx="2667305" cy="267005"/>
          </a:xfrm>
          <a:prstGeom prst="rect">
            <a:avLst/>
          </a:prstGeom>
          <a:noFill/>
          <a:ln/>
        </p:spPr>
        <p:txBody>
          <a:bodyPr wrap="none" lIns="0" tIns="0" rIns="0" bIns="0" rtlCol="0" anchor="ctr"/>
          <a:lstStyle/>
          <a:p>
            <a:pPr algn="r" indent="0" marL="0">
              <a:buNone/>
            </a:pPr>
            <a:r>
              <a:rPr lang="en-US" sz="2100" b="1" dirty="0">
                <a:solidFill>
                  <a:srgbClr val="FB923C"/>
                </a:solidFill>
                <a:latin typeface="JetBrains Mono" pitchFamily="34" charset="0"/>
                <a:ea typeface="JetBrains Mono" pitchFamily="34" charset="-122"/>
                <a:cs typeface="JetBrains Mono" pitchFamily="34" charset="-120"/>
              </a:rPr>
              <a:t>14.5 nm</a:t>
            </a:r>
            <a:endParaRPr lang="en-US" sz="2100" dirty="0"/>
          </a:p>
        </p:txBody>
      </p:sp>
      <p:sp>
        <p:nvSpPr>
          <p:cNvPr id="61" name="Text 44"/>
          <p:cNvSpPr txBox="1"/>
          <p:nvPr/>
        </p:nvSpPr>
        <p:spPr>
          <a:xfrm>
            <a:off x="9905695" y="3619195"/>
            <a:ext cx="1905610" cy="342900"/>
          </a:xfrm>
          <a:prstGeom prst="rect">
            <a:avLst/>
          </a:prstGeom>
          <a:noFill/>
          <a:ln/>
        </p:spPr>
        <p:txBody>
          <a:bodyPr wrap="none" lIns="0" tIns="0" rIns="0" bIns="0" rtlCol="0" anchor="ctr"/>
          <a:lstStyle/>
          <a:p>
            <a:pPr algn="l" indent="0" marL="0">
              <a:buNone/>
            </a:pPr>
            <a:r>
              <a:rPr lang="en-US" sz="900" b="1" spc="72" kern="0" dirty="0">
                <a:solidFill>
                  <a:srgbClr val="94A3B8"/>
                </a:solidFill>
                <a:latin typeface="Inter" pitchFamily="34" charset="0"/>
                <a:ea typeface="Inter" pitchFamily="34" charset="-122"/>
                <a:cs typeface="Inter" pitchFamily="34" charset="-120"/>
              </a:rPr>
              <a:t>Wafer</a:t>
            </a:r>
            <a:endParaRPr lang="en-US" sz="900" dirty="0"/>
          </a:p>
        </p:txBody>
      </p:sp>
      <p:sp>
        <p:nvSpPr>
          <p:cNvPr id="62" name="Text 45"/>
          <p:cNvSpPr txBox="1"/>
          <p:nvPr/>
        </p:nvSpPr>
        <p:spPr>
          <a:xfrm>
            <a:off x="11582705"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mean</a:t>
            </a:r>
            <a:endParaRPr lang="en-US" sz="900" dirty="0"/>
          </a:p>
        </p:txBody>
      </p:sp>
      <p:sp>
        <p:nvSpPr>
          <p:cNvPr id="63" name="Text 46"/>
          <p:cNvSpPr txBox="1"/>
          <p:nvPr/>
        </p:nvSpPr>
        <p:spPr>
          <a:xfrm>
            <a:off x="12915900"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3σ</a:t>
            </a:r>
            <a:endParaRPr lang="en-US" sz="900" dirty="0"/>
          </a:p>
        </p:txBody>
      </p:sp>
      <p:sp>
        <p:nvSpPr>
          <p:cNvPr id="64" name="Text 47"/>
          <p:cNvSpPr txBox="1"/>
          <p:nvPr/>
        </p:nvSpPr>
        <p:spPr>
          <a:xfrm>
            <a:off x="14249095" y="3619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range</a:t>
            </a:r>
            <a:endParaRPr lang="en-US" sz="900" dirty="0"/>
          </a:p>
        </p:txBody>
      </p:sp>
      <p:sp>
        <p:nvSpPr>
          <p:cNvPr id="65" name="Text 48"/>
          <p:cNvSpPr txBox="1"/>
          <p:nvPr/>
        </p:nvSpPr>
        <p:spPr>
          <a:xfrm>
            <a:off x="15583205" y="3619195"/>
            <a:ext cx="1619402"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Δ target</a:t>
            </a:r>
            <a:endParaRPr lang="en-US" sz="900" dirty="0"/>
          </a:p>
        </p:txBody>
      </p:sp>
      <p:sp>
        <p:nvSpPr>
          <p:cNvPr id="66" name="Text 49"/>
          <p:cNvSpPr txBox="1"/>
          <p:nvPr/>
        </p:nvSpPr>
        <p:spPr>
          <a:xfrm>
            <a:off x="9905695" y="4038905"/>
            <a:ext cx="1905610" cy="342900"/>
          </a:xfrm>
          <a:prstGeom prst="rect">
            <a:avLst/>
          </a:prstGeom>
          <a:noFill/>
          <a:ln/>
        </p:spPr>
        <p:txBody>
          <a:bodyPr wrap="none" lIns="0" tIns="0" rIns="0" bIns="0" rtlCol="0" anchor="ctr"/>
          <a:lstStyle/>
          <a:p>
            <a:pPr algn="l" indent="0" marL="0">
              <a:buNone/>
            </a:pPr>
            <a:r>
              <a:rPr lang="en-US" sz="1125" b="1" dirty="0">
                <a:solidFill>
                  <a:srgbClr val="5EEAD4"/>
                </a:solidFill>
                <a:latin typeface="Inter" pitchFamily="34" charset="0"/>
                <a:ea typeface="Inter" pitchFamily="34" charset="-122"/>
                <a:cs typeface="Inter" pitchFamily="34" charset="-120"/>
              </a:rPr>
              <a:t>W1</a:t>
            </a:r>
            <a:endParaRPr lang="en-US" sz="1125" dirty="0"/>
          </a:p>
        </p:txBody>
      </p:sp>
      <p:sp>
        <p:nvSpPr>
          <p:cNvPr id="67" name="Text 50"/>
          <p:cNvSpPr txBox="1"/>
          <p:nvPr/>
        </p:nvSpPr>
        <p:spPr>
          <a:xfrm>
            <a:off x="11582705"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14.4</a:t>
            </a:r>
            <a:endParaRPr lang="en-US" sz="1275" dirty="0"/>
          </a:p>
        </p:txBody>
      </p:sp>
      <p:sp>
        <p:nvSpPr>
          <p:cNvPr id="68" name="Text 51"/>
          <p:cNvSpPr txBox="1"/>
          <p:nvPr/>
        </p:nvSpPr>
        <p:spPr>
          <a:xfrm>
            <a:off x="12915900"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1.4</a:t>
            </a:r>
            <a:endParaRPr lang="en-US" sz="1275" dirty="0"/>
          </a:p>
        </p:txBody>
      </p:sp>
      <p:sp>
        <p:nvSpPr>
          <p:cNvPr id="69" name="Text 52"/>
          <p:cNvSpPr txBox="1"/>
          <p:nvPr/>
        </p:nvSpPr>
        <p:spPr>
          <a:xfrm>
            <a:off x="14249095" y="4038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3.3</a:t>
            </a:r>
            <a:endParaRPr lang="en-US" sz="1275" dirty="0"/>
          </a:p>
        </p:txBody>
      </p:sp>
      <p:sp>
        <p:nvSpPr>
          <p:cNvPr id="70" name="Text 53"/>
          <p:cNvSpPr txBox="1"/>
          <p:nvPr/>
        </p:nvSpPr>
        <p:spPr>
          <a:xfrm>
            <a:off x="15583205" y="4038905"/>
            <a:ext cx="1619402" cy="342900"/>
          </a:xfrm>
          <a:prstGeom prst="rect">
            <a:avLst/>
          </a:prstGeom>
          <a:noFill/>
          <a:ln/>
        </p:spPr>
        <p:txBody>
          <a:bodyPr wrap="none" lIns="0" tIns="0" rIns="0" bIns="0" rtlCol="0" anchor="ctr"/>
          <a:lstStyle/>
          <a:p>
            <a:pPr algn="ctr" indent="0" marL="0">
              <a:buNone/>
            </a:pPr>
            <a:r>
              <a:rPr lang="en-US" sz="1125" dirty="0">
                <a:solidFill>
                  <a:srgbClr val="34D399"/>
                </a:solidFill>
                <a:latin typeface="JetBrains Mono" pitchFamily="34" charset="0"/>
                <a:ea typeface="JetBrains Mono" pitchFamily="34" charset="-122"/>
                <a:cs typeface="JetBrains Mono" pitchFamily="34" charset="-120"/>
              </a:rPr>
              <a:t>−0.1</a:t>
            </a:r>
            <a:endParaRPr lang="en-US" sz="1125" dirty="0"/>
          </a:p>
        </p:txBody>
      </p:sp>
      <p:sp>
        <p:nvSpPr>
          <p:cNvPr id="71" name="Text 54"/>
          <p:cNvSpPr txBox="1"/>
          <p:nvPr/>
        </p:nvSpPr>
        <p:spPr>
          <a:xfrm>
            <a:off x="9905695" y="4457700"/>
            <a:ext cx="1905610" cy="342900"/>
          </a:xfrm>
          <a:prstGeom prst="rect">
            <a:avLst/>
          </a:prstGeom>
          <a:noFill/>
          <a:ln/>
        </p:spPr>
        <p:txBody>
          <a:bodyPr wrap="none" lIns="0" tIns="0" rIns="0" bIns="0" rtlCol="0" anchor="ctr"/>
          <a:lstStyle/>
          <a:p>
            <a:pPr algn="l" indent="0" marL="0">
              <a:buNone/>
            </a:pPr>
            <a:r>
              <a:rPr lang="en-US" sz="1125" b="1" dirty="0">
                <a:solidFill>
                  <a:srgbClr val="FB923C"/>
                </a:solidFill>
                <a:latin typeface="Inter" pitchFamily="34" charset="0"/>
                <a:ea typeface="Inter" pitchFamily="34" charset="-122"/>
                <a:cs typeface="Inter" pitchFamily="34" charset="-120"/>
              </a:rPr>
              <a:t>W2</a:t>
            </a:r>
            <a:endParaRPr lang="en-US" sz="1125" dirty="0"/>
          </a:p>
        </p:txBody>
      </p:sp>
      <p:sp>
        <p:nvSpPr>
          <p:cNvPr id="72" name="Text 55"/>
          <p:cNvSpPr txBox="1"/>
          <p:nvPr/>
        </p:nvSpPr>
        <p:spPr>
          <a:xfrm>
            <a:off x="11582705"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14.1</a:t>
            </a:r>
            <a:endParaRPr lang="en-US" sz="1275" dirty="0"/>
          </a:p>
        </p:txBody>
      </p:sp>
      <p:sp>
        <p:nvSpPr>
          <p:cNvPr id="73" name="Text 56"/>
          <p:cNvSpPr txBox="1"/>
          <p:nvPr/>
        </p:nvSpPr>
        <p:spPr>
          <a:xfrm>
            <a:off x="12915900"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1.9</a:t>
            </a:r>
            <a:endParaRPr lang="en-US" sz="1275" dirty="0"/>
          </a:p>
        </p:txBody>
      </p:sp>
      <p:sp>
        <p:nvSpPr>
          <p:cNvPr id="74" name="Text 57"/>
          <p:cNvSpPr txBox="1"/>
          <p:nvPr/>
        </p:nvSpPr>
        <p:spPr>
          <a:xfrm>
            <a:off x="14249095" y="4457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4.4</a:t>
            </a:r>
            <a:endParaRPr lang="en-US" sz="1275" dirty="0"/>
          </a:p>
        </p:txBody>
      </p:sp>
      <p:sp>
        <p:nvSpPr>
          <p:cNvPr id="75" name="Text 58"/>
          <p:cNvSpPr txBox="1"/>
          <p:nvPr/>
        </p:nvSpPr>
        <p:spPr>
          <a:xfrm>
            <a:off x="15583205" y="4457700"/>
            <a:ext cx="1619402" cy="342900"/>
          </a:xfrm>
          <a:prstGeom prst="rect">
            <a:avLst/>
          </a:prstGeom>
          <a:noFill/>
          <a:ln/>
        </p:spPr>
        <p:txBody>
          <a:bodyPr wrap="none" lIns="0" tIns="0" rIns="0" bIns="0" rtlCol="0" anchor="ctr"/>
          <a:lstStyle/>
          <a:p>
            <a:pPr algn="ctr" indent="0" marL="0">
              <a:buNone/>
            </a:pPr>
            <a:r>
              <a:rPr lang="en-US" sz="1125" dirty="0">
                <a:solidFill>
                  <a:srgbClr val="FB923C"/>
                </a:solidFill>
                <a:latin typeface="JetBrains Mono" pitchFamily="34" charset="0"/>
                <a:ea typeface="JetBrains Mono" pitchFamily="34" charset="-122"/>
                <a:cs typeface="JetBrains Mono" pitchFamily="34" charset="-120"/>
              </a:rPr>
              <a:t>−0.4</a:t>
            </a:r>
            <a:endParaRPr lang="en-US" sz="1125" dirty="0"/>
          </a:p>
        </p:txBody>
      </p:sp>
      <p:sp>
        <p:nvSpPr>
          <p:cNvPr id="76" name="Text 59"/>
          <p:cNvSpPr txBox="1"/>
          <p:nvPr/>
        </p:nvSpPr>
        <p:spPr>
          <a:xfrm>
            <a:off x="9905695" y="4876495"/>
            <a:ext cx="1905610" cy="342900"/>
          </a:xfrm>
          <a:prstGeom prst="rect">
            <a:avLst/>
          </a:prstGeom>
          <a:noFill/>
          <a:ln/>
        </p:spPr>
        <p:txBody>
          <a:bodyPr wrap="none" lIns="0" tIns="0" rIns="0" bIns="0" rtlCol="0" anchor="ctr"/>
          <a:lstStyle/>
          <a:p>
            <a:pPr algn="l" indent="0" marL="0">
              <a:buNone/>
            </a:pPr>
            <a:r>
              <a:rPr lang="en-US" sz="1125" b="1" dirty="0">
                <a:solidFill>
                  <a:srgbClr val="F472B6"/>
                </a:solidFill>
                <a:latin typeface="Inter" pitchFamily="34" charset="0"/>
                <a:ea typeface="Inter" pitchFamily="34" charset="-122"/>
                <a:cs typeface="Inter" pitchFamily="34" charset="-120"/>
              </a:rPr>
              <a:t>W3</a:t>
            </a:r>
            <a:endParaRPr lang="en-US" sz="1125" dirty="0"/>
          </a:p>
        </p:txBody>
      </p:sp>
      <p:sp>
        <p:nvSpPr>
          <p:cNvPr id="77" name="Text 60"/>
          <p:cNvSpPr txBox="1"/>
          <p:nvPr/>
        </p:nvSpPr>
        <p:spPr>
          <a:xfrm>
            <a:off x="11582705"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13.7</a:t>
            </a:r>
            <a:endParaRPr lang="en-US" sz="1275" dirty="0"/>
          </a:p>
        </p:txBody>
      </p:sp>
      <p:sp>
        <p:nvSpPr>
          <p:cNvPr id="78" name="Text 61"/>
          <p:cNvSpPr txBox="1"/>
          <p:nvPr/>
        </p:nvSpPr>
        <p:spPr>
          <a:xfrm>
            <a:off x="12915900"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2.5</a:t>
            </a:r>
            <a:endParaRPr lang="en-US" sz="1275" dirty="0"/>
          </a:p>
        </p:txBody>
      </p:sp>
      <p:sp>
        <p:nvSpPr>
          <p:cNvPr id="79" name="Text 62"/>
          <p:cNvSpPr txBox="1"/>
          <p:nvPr/>
        </p:nvSpPr>
        <p:spPr>
          <a:xfrm>
            <a:off x="14249095" y="4876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5.7</a:t>
            </a:r>
            <a:endParaRPr lang="en-US" sz="1275" dirty="0"/>
          </a:p>
        </p:txBody>
      </p:sp>
      <p:sp>
        <p:nvSpPr>
          <p:cNvPr id="80" name="Text 63"/>
          <p:cNvSpPr txBox="1"/>
          <p:nvPr/>
        </p:nvSpPr>
        <p:spPr>
          <a:xfrm>
            <a:off x="15583205" y="4876495"/>
            <a:ext cx="1619402" cy="342900"/>
          </a:xfrm>
          <a:prstGeom prst="rect">
            <a:avLst/>
          </a:prstGeom>
          <a:noFill/>
          <a:ln/>
        </p:spPr>
        <p:txBody>
          <a:bodyPr wrap="none" lIns="0" tIns="0" rIns="0" bIns="0" rtlCol="0" anchor="ctr"/>
          <a:lstStyle/>
          <a:p>
            <a:pPr algn="ctr" indent="0" marL="0">
              <a:buNone/>
            </a:pPr>
            <a:r>
              <a:rPr lang="en-US" sz="1125" dirty="0">
                <a:solidFill>
                  <a:srgbClr val="F472B6"/>
                </a:solidFill>
                <a:latin typeface="JetBrains Mono" pitchFamily="34" charset="0"/>
                <a:ea typeface="JetBrains Mono" pitchFamily="34" charset="-122"/>
                <a:cs typeface="JetBrains Mono" pitchFamily="34" charset="-120"/>
              </a:rPr>
              <a:t>−0.8</a:t>
            </a:r>
            <a:endParaRPr lang="en-US" sz="1125" dirty="0"/>
          </a:p>
        </p:txBody>
      </p:sp>
      <p:sp>
        <p:nvSpPr>
          <p:cNvPr id="81" name="Text 64"/>
          <p:cNvSpPr txBox="1"/>
          <p:nvPr/>
        </p:nvSpPr>
        <p:spPr>
          <a:xfrm>
            <a:off x="9677095" y="5391302"/>
            <a:ext cx="7620610" cy="228600"/>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단위: nm · Δ target = wafer mean − target</a:t>
            </a:r>
            <a:endParaRPr lang="en-US" sz="900" dirty="0"/>
          </a:p>
        </p:txBody>
      </p:sp>
      <p:sp>
        <p:nvSpPr>
          <p:cNvPr id="82" name="Text 65"/>
          <p:cNvSpPr txBox="1"/>
          <p:nvPr/>
        </p:nvSpPr>
        <p:spPr>
          <a:xfrm>
            <a:off x="1009498" y="6172200"/>
            <a:ext cx="5715000" cy="133502"/>
          </a:xfrm>
          <a:prstGeom prst="rect">
            <a:avLst/>
          </a:prstGeom>
          <a:noFill/>
          <a:ln/>
        </p:spPr>
        <p:txBody>
          <a:bodyPr wrap="none" lIns="0" tIns="0" rIns="0" bIns="0" rtlCol="0" anchor="ctr"/>
          <a:lstStyle/>
          <a:p>
            <a:pPr algn="l" indent="0" marL="0">
              <a:buNone/>
            </a:pPr>
            <a:r>
              <a:rPr lang="en-US" sz="825" b="1" spc="247" kern="0" dirty="0">
                <a:solidFill>
                  <a:srgbClr val="F472B6"/>
                </a:solidFill>
                <a:latin typeface="JetBrains Mono" pitchFamily="34" charset="0"/>
                <a:ea typeface="JetBrains Mono" pitchFamily="34" charset="-122"/>
                <a:cs typeface="JetBrains Mono" pitchFamily="34" charset="-120"/>
              </a:rPr>
              <a:t>CD METRIC · 03</a:t>
            </a:r>
            <a:endParaRPr lang="en-US" sz="825" dirty="0"/>
          </a:p>
        </p:txBody>
      </p:sp>
      <p:sp>
        <p:nvSpPr>
          <p:cNvPr id="83" name="Text 66"/>
          <p:cNvSpPr txBox="1"/>
          <p:nvPr/>
        </p:nvSpPr>
        <p:spPr>
          <a:xfrm>
            <a:off x="1009498" y="6439205"/>
            <a:ext cx="590702" cy="305410"/>
          </a:xfrm>
          <a:prstGeom prst="rect">
            <a:avLst/>
          </a:prstGeom>
          <a:noFill/>
          <a:ln/>
        </p:spPr>
        <p:txBody>
          <a:bodyPr wrap="none" lIns="0" tIns="0" rIns="0" bIns="0" rtlCol="0" anchor="ctr"/>
          <a:lstStyle/>
          <a:p>
            <a:pPr algn="l" indent="0" marL="0">
              <a:buNone/>
            </a:pPr>
            <a:r>
              <a:rPr lang="en-US" sz="2400" b="1" spc="-60" kern="0" dirty="0">
                <a:solidFill>
                  <a:srgbClr val="E8EDF5"/>
                </a:solidFill>
                <a:latin typeface="Inter" pitchFamily="34" charset="0"/>
                <a:ea typeface="Inter" pitchFamily="34" charset="-122"/>
                <a:cs typeface="Inter" pitchFamily="34" charset="-120"/>
              </a:rPr>
              <a:t>AMI</a:t>
            </a:r>
            <a:endParaRPr lang="en-US" sz="2400" dirty="0"/>
          </a:p>
        </p:txBody>
      </p:sp>
      <p:sp>
        <p:nvSpPr>
          <p:cNvPr id="84" name="Text 67"/>
          <p:cNvSpPr txBox="1"/>
          <p:nvPr/>
        </p:nvSpPr>
        <p:spPr>
          <a:xfrm>
            <a:off x="1729130" y="6562649"/>
            <a:ext cx="1173175"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trench bottom</a:t>
            </a:r>
            <a:endParaRPr lang="en-US" sz="1050" dirty="0"/>
          </a:p>
        </p:txBody>
      </p:sp>
      <p:sp>
        <p:nvSpPr>
          <p:cNvPr id="85" name="Text 68"/>
          <p:cNvSpPr txBox="1"/>
          <p:nvPr/>
        </p:nvSpPr>
        <p:spPr>
          <a:xfrm>
            <a:off x="6152998" y="6248095"/>
            <a:ext cx="2667305" cy="133502"/>
          </a:xfrm>
          <a:prstGeom prst="rect">
            <a:avLst/>
          </a:prstGeom>
          <a:noFill/>
          <a:ln/>
        </p:spPr>
        <p:txBody>
          <a:bodyPr wrap="none" lIns="0" tIns="0" rIns="0" bIns="0" rtlCol="0" anchor="ctr"/>
          <a:lstStyle/>
          <a:p>
            <a:pPr algn="r" indent="0" marL="0">
              <a:buNone/>
            </a:pPr>
            <a:r>
              <a:rPr lang="en-US" sz="825" spc="247" kern="0" dirty="0">
                <a:solidFill>
                  <a:srgbClr val="64748B"/>
                </a:solidFill>
                <a:latin typeface="JetBrains Mono" pitchFamily="34" charset="0"/>
                <a:ea typeface="JetBrains Mono" pitchFamily="34" charset="-122"/>
                <a:cs typeface="JetBrains Mono" pitchFamily="34" charset="-120"/>
              </a:rPr>
              <a:t>TARGET</a:t>
            </a:r>
            <a:endParaRPr lang="en-US" sz="825" dirty="0"/>
          </a:p>
        </p:txBody>
      </p:sp>
      <p:sp>
        <p:nvSpPr>
          <p:cNvPr id="86" name="Text 69"/>
          <p:cNvSpPr txBox="1"/>
          <p:nvPr/>
        </p:nvSpPr>
        <p:spPr>
          <a:xfrm>
            <a:off x="6152998" y="6439205"/>
            <a:ext cx="2667305" cy="267005"/>
          </a:xfrm>
          <a:prstGeom prst="rect">
            <a:avLst/>
          </a:prstGeom>
          <a:noFill/>
          <a:ln/>
        </p:spPr>
        <p:txBody>
          <a:bodyPr wrap="none" lIns="0" tIns="0" rIns="0" bIns="0" rtlCol="0" anchor="ctr"/>
          <a:lstStyle/>
          <a:p>
            <a:pPr algn="r" indent="0" marL="0">
              <a:buNone/>
            </a:pPr>
            <a:r>
              <a:rPr lang="en-US" sz="2100" b="1" dirty="0">
                <a:solidFill>
                  <a:srgbClr val="FB923C"/>
                </a:solidFill>
                <a:latin typeface="JetBrains Mono" pitchFamily="34" charset="0"/>
                <a:ea typeface="JetBrains Mono" pitchFamily="34" charset="-122"/>
                <a:cs typeface="JetBrains Mono" pitchFamily="34" charset="-120"/>
              </a:rPr>
              <a:t>8.4 nm</a:t>
            </a:r>
            <a:endParaRPr lang="en-US" sz="2100" dirty="0"/>
          </a:p>
        </p:txBody>
      </p:sp>
      <p:sp>
        <p:nvSpPr>
          <p:cNvPr id="87" name="Text 70"/>
          <p:cNvSpPr txBox="1"/>
          <p:nvPr/>
        </p:nvSpPr>
        <p:spPr>
          <a:xfrm>
            <a:off x="1238098" y="7048195"/>
            <a:ext cx="1905610" cy="342900"/>
          </a:xfrm>
          <a:prstGeom prst="rect">
            <a:avLst/>
          </a:prstGeom>
          <a:noFill/>
          <a:ln/>
        </p:spPr>
        <p:txBody>
          <a:bodyPr wrap="none" lIns="0" tIns="0" rIns="0" bIns="0" rtlCol="0" anchor="ctr"/>
          <a:lstStyle/>
          <a:p>
            <a:pPr algn="l" indent="0" marL="0">
              <a:buNone/>
            </a:pPr>
            <a:r>
              <a:rPr lang="en-US" sz="900" b="1" spc="72" kern="0" dirty="0">
                <a:solidFill>
                  <a:srgbClr val="94A3B8"/>
                </a:solidFill>
                <a:latin typeface="Inter" pitchFamily="34" charset="0"/>
                <a:ea typeface="Inter" pitchFamily="34" charset="-122"/>
                <a:cs typeface="Inter" pitchFamily="34" charset="-120"/>
              </a:rPr>
              <a:t>Wafer</a:t>
            </a:r>
            <a:endParaRPr lang="en-US" sz="900" dirty="0"/>
          </a:p>
        </p:txBody>
      </p:sp>
      <p:sp>
        <p:nvSpPr>
          <p:cNvPr id="88" name="Text 71"/>
          <p:cNvSpPr txBox="1"/>
          <p:nvPr/>
        </p:nvSpPr>
        <p:spPr>
          <a:xfrm>
            <a:off x="2915107"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mean</a:t>
            </a:r>
            <a:endParaRPr lang="en-US" sz="900" dirty="0"/>
          </a:p>
        </p:txBody>
      </p:sp>
      <p:sp>
        <p:nvSpPr>
          <p:cNvPr id="89" name="Text 72"/>
          <p:cNvSpPr txBox="1"/>
          <p:nvPr/>
        </p:nvSpPr>
        <p:spPr>
          <a:xfrm>
            <a:off x="4248302"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3σ</a:t>
            </a:r>
            <a:endParaRPr lang="en-US" sz="900" dirty="0"/>
          </a:p>
        </p:txBody>
      </p:sp>
      <p:sp>
        <p:nvSpPr>
          <p:cNvPr id="90" name="Text 73"/>
          <p:cNvSpPr txBox="1"/>
          <p:nvPr/>
        </p:nvSpPr>
        <p:spPr>
          <a:xfrm>
            <a:off x="5581498"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range</a:t>
            </a:r>
            <a:endParaRPr lang="en-US" sz="900" dirty="0"/>
          </a:p>
        </p:txBody>
      </p:sp>
      <p:sp>
        <p:nvSpPr>
          <p:cNvPr id="91" name="Text 74"/>
          <p:cNvSpPr txBox="1"/>
          <p:nvPr/>
        </p:nvSpPr>
        <p:spPr>
          <a:xfrm>
            <a:off x="6915607" y="7048195"/>
            <a:ext cx="1619402"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Δ target</a:t>
            </a:r>
            <a:endParaRPr lang="en-US" sz="900" dirty="0"/>
          </a:p>
        </p:txBody>
      </p:sp>
      <p:sp>
        <p:nvSpPr>
          <p:cNvPr id="92" name="Text 75"/>
          <p:cNvSpPr txBox="1"/>
          <p:nvPr/>
        </p:nvSpPr>
        <p:spPr>
          <a:xfrm>
            <a:off x="1238098" y="7467905"/>
            <a:ext cx="1905610" cy="342900"/>
          </a:xfrm>
          <a:prstGeom prst="rect">
            <a:avLst/>
          </a:prstGeom>
          <a:noFill/>
          <a:ln/>
        </p:spPr>
        <p:txBody>
          <a:bodyPr wrap="none" lIns="0" tIns="0" rIns="0" bIns="0" rtlCol="0" anchor="ctr"/>
          <a:lstStyle/>
          <a:p>
            <a:pPr algn="l" indent="0" marL="0">
              <a:buNone/>
            </a:pPr>
            <a:r>
              <a:rPr lang="en-US" sz="1125" b="1" dirty="0">
                <a:solidFill>
                  <a:srgbClr val="5EEAD4"/>
                </a:solidFill>
                <a:latin typeface="Inter" pitchFamily="34" charset="0"/>
                <a:ea typeface="Inter" pitchFamily="34" charset="-122"/>
                <a:cs typeface="Inter" pitchFamily="34" charset="-120"/>
              </a:rPr>
              <a:t>W1</a:t>
            </a:r>
            <a:endParaRPr lang="en-US" sz="1125" dirty="0"/>
          </a:p>
        </p:txBody>
      </p:sp>
      <p:sp>
        <p:nvSpPr>
          <p:cNvPr id="93" name="Text 76"/>
          <p:cNvSpPr txBox="1"/>
          <p:nvPr/>
        </p:nvSpPr>
        <p:spPr>
          <a:xfrm>
            <a:off x="2915107"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8.5</a:t>
            </a:r>
            <a:endParaRPr lang="en-US" sz="1275" dirty="0"/>
          </a:p>
        </p:txBody>
      </p:sp>
      <p:sp>
        <p:nvSpPr>
          <p:cNvPr id="94" name="Text 77"/>
          <p:cNvSpPr txBox="1"/>
          <p:nvPr/>
        </p:nvSpPr>
        <p:spPr>
          <a:xfrm>
            <a:off x="4248302"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0.9</a:t>
            </a:r>
            <a:endParaRPr lang="en-US" sz="1275" dirty="0"/>
          </a:p>
        </p:txBody>
      </p:sp>
      <p:sp>
        <p:nvSpPr>
          <p:cNvPr id="95" name="Text 78"/>
          <p:cNvSpPr txBox="1"/>
          <p:nvPr/>
        </p:nvSpPr>
        <p:spPr>
          <a:xfrm>
            <a:off x="5581498"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2.1</a:t>
            </a:r>
            <a:endParaRPr lang="en-US" sz="1275" dirty="0"/>
          </a:p>
        </p:txBody>
      </p:sp>
      <p:sp>
        <p:nvSpPr>
          <p:cNvPr id="96" name="Text 79"/>
          <p:cNvSpPr txBox="1"/>
          <p:nvPr/>
        </p:nvSpPr>
        <p:spPr>
          <a:xfrm>
            <a:off x="6915607" y="7467905"/>
            <a:ext cx="1619402" cy="342900"/>
          </a:xfrm>
          <a:prstGeom prst="rect">
            <a:avLst/>
          </a:prstGeom>
          <a:noFill/>
          <a:ln/>
        </p:spPr>
        <p:txBody>
          <a:bodyPr wrap="none" lIns="0" tIns="0" rIns="0" bIns="0" rtlCol="0" anchor="ctr"/>
          <a:lstStyle/>
          <a:p>
            <a:pPr algn="ctr" indent="0" marL="0">
              <a:buNone/>
            </a:pPr>
            <a:r>
              <a:rPr lang="en-US" sz="1125" dirty="0">
                <a:solidFill>
                  <a:srgbClr val="34D399"/>
                </a:solidFill>
                <a:latin typeface="JetBrains Mono" pitchFamily="34" charset="0"/>
                <a:ea typeface="JetBrains Mono" pitchFamily="34" charset="-122"/>
                <a:cs typeface="JetBrains Mono" pitchFamily="34" charset="-120"/>
              </a:rPr>
              <a:t>+0.1</a:t>
            </a:r>
            <a:endParaRPr lang="en-US" sz="1125" dirty="0"/>
          </a:p>
        </p:txBody>
      </p:sp>
      <p:sp>
        <p:nvSpPr>
          <p:cNvPr id="97" name="Text 80"/>
          <p:cNvSpPr txBox="1"/>
          <p:nvPr/>
        </p:nvSpPr>
        <p:spPr>
          <a:xfrm>
            <a:off x="1238098" y="7886700"/>
            <a:ext cx="1905610" cy="342900"/>
          </a:xfrm>
          <a:prstGeom prst="rect">
            <a:avLst/>
          </a:prstGeom>
          <a:noFill/>
          <a:ln/>
        </p:spPr>
        <p:txBody>
          <a:bodyPr wrap="none" lIns="0" tIns="0" rIns="0" bIns="0" rtlCol="0" anchor="ctr"/>
          <a:lstStyle/>
          <a:p>
            <a:pPr algn="l" indent="0" marL="0">
              <a:buNone/>
            </a:pPr>
            <a:r>
              <a:rPr lang="en-US" sz="1125" b="1" dirty="0">
                <a:solidFill>
                  <a:srgbClr val="FB923C"/>
                </a:solidFill>
                <a:latin typeface="Inter" pitchFamily="34" charset="0"/>
                <a:ea typeface="Inter" pitchFamily="34" charset="-122"/>
                <a:cs typeface="Inter" pitchFamily="34" charset="-120"/>
              </a:rPr>
              <a:t>W2</a:t>
            </a:r>
            <a:endParaRPr lang="en-US" sz="1125" dirty="0"/>
          </a:p>
        </p:txBody>
      </p:sp>
      <p:sp>
        <p:nvSpPr>
          <p:cNvPr id="98" name="Text 81"/>
          <p:cNvSpPr txBox="1"/>
          <p:nvPr/>
        </p:nvSpPr>
        <p:spPr>
          <a:xfrm>
            <a:off x="2915107"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8.7</a:t>
            </a:r>
            <a:endParaRPr lang="en-US" sz="1275" dirty="0"/>
          </a:p>
        </p:txBody>
      </p:sp>
      <p:sp>
        <p:nvSpPr>
          <p:cNvPr id="99" name="Text 82"/>
          <p:cNvSpPr txBox="1"/>
          <p:nvPr/>
        </p:nvSpPr>
        <p:spPr>
          <a:xfrm>
            <a:off x="4248302"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1.3</a:t>
            </a:r>
            <a:endParaRPr lang="en-US" sz="1275" dirty="0"/>
          </a:p>
        </p:txBody>
      </p:sp>
      <p:sp>
        <p:nvSpPr>
          <p:cNvPr id="100" name="Text 83"/>
          <p:cNvSpPr txBox="1"/>
          <p:nvPr/>
        </p:nvSpPr>
        <p:spPr>
          <a:xfrm>
            <a:off x="5581498"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3.0</a:t>
            </a:r>
            <a:endParaRPr lang="en-US" sz="1275" dirty="0"/>
          </a:p>
        </p:txBody>
      </p:sp>
      <p:sp>
        <p:nvSpPr>
          <p:cNvPr id="101" name="Text 84"/>
          <p:cNvSpPr txBox="1"/>
          <p:nvPr/>
        </p:nvSpPr>
        <p:spPr>
          <a:xfrm>
            <a:off x="6915607" y="7886700"/>
            <a:ext cx="1619402" cy="342900"/>
          </a:xfrm>
          <a:prstGeom prst="rect">
            <a:avLst/>
          </a:prstGeom>
          <a:noFill/>
          <a:ln/>
        </p:spPr>
        <p:txBody>
          <a:bodyPr wrap="none" lIns="0" tIns="0" rIns="0" bIns="0" rtlCol="0" anchor="ctr"/>
          <a:lstStyle/>
          <a:p>
            <a:pPr algn="ctr" indent="0" marL="0">
              <a:buNone/>
            </a:pPr>
            <a:r>
              <a:rPr lang="en-US" sz="1125" dirty="0">
                <a:solidFill>
                  <a:srgbClr val="FB923C"/>
                </a:solidFill>
                <a:latin typeface="JetBrains Mono" pitchFamily="34" charset="0"/>
                <a:ea typeface="JetBrains Mono" pitchFamily="34" charset="-122"/>
                <a:cs typeface="JetBrains Mono" pitchFamily="34" charset="-120"/>
              </a:rPr>
              <a:t>+0.3</a:t>
            </a:r>
            <a:endParaRPr lang="en-US" sz="1125" dirty="0"/>
          </a:p>
        </p:txBody>
      </p:sp>
      <p:sp>
        <p:nvSpPr>
          <p:cNvPr id="102" name="Text 85"/>
          <p:cNvSpPr txBox="1"/>
          <p:nvPr/>
        </p:nvSpPr>
        <p:spPr>
          <a:xfrm>
            <a:off x="1238098" y="8305495"/>
            <a:ext cx="1905610" cy="342900"/>
          </a:xfrm>
          <a:prstGeom prst="rect">
            <a:avLst/>
          </a:prstGeom>
          <a:noFill/>
          <a:ln/>
        </p:spPr>
        <p:txBody>
          <a:bodyPr wrap="none" lIns="0" tIns="0" rIns="0" bIns="0" rtlCol="0" anchor="ctr"/>
          <a:lstStyle/>
          <a:p>
            <a:pPr algn="l" indent="0" marL="0">
              <a:buNone/>
            </a:pPr>
            <a:r>
              <a:rPr lang="en-US" sz="1125" b="1" dirty="0">
                <a:solidFill>
                  <a:srgbClr val="F472B6"/>
                </a:solidFill>
                <a:latin typeface="Inter" pitchFamily="34" charset="0"/>
                <a:ea typeface="Inter" pitchFamily="34" charset="-122"/>
                <a:cs typeface="Inter" pitchFamily="34" charset="-120"/>
              </a:rPr>
              <a:t>W3</a:t>
            </a:r>
            <a:endParaRPr lang="en-US" sz="1125" dirty="0"/>
          </a:p>
        </p:txBody>
      </p:sp>
      <p:sp>
        <p:nvSpPr>
          <p:cNvPr id="103" name="Text 86"/>
          <p:cNvSpPr txBox="1"/>
          <p:nvPr/>
        </p:nvSpPr>
        <p:spPr>
          <a:xfrm>
            <a:off x="2915107"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9.0</a:t>
            </a:r>
            <a:endParaRPr lang="en-US" sz="1275" dirty="0"/>
          </a:p>
        </p:txBody>
      </p:sp>
      <p:sp>
        <p:nvSpPr>
          <p:cNvPr id="104" name="Text 87"/>
          <p:cNvSpPr txBox="1"/>
          <p:nvPr/>
        </p:nvSpPr>
        <p:spPr>
          <a:xfrm>
            <a:off x="4248302"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1.8</a:t>
            </a:r>
            <a:endParaRPr lang="en-US" sz="1275" dirty="0"/>
          </a:p>
        </p:txBody>
      </p:sp>
      <p:sp>
        <p:nvSpPr>
          <p:cNvPr id="105" name="Text 88"/>
          <p:cNvSpPr txBox="1"/>
          <p:nvPr/>
        </p:nvSpPr>
        <p:spPr>
          <a:xfrm>
            <a:off x="5581498"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4.2</a:t>
            </a:r>
            <a:endParaRPr lang="en-US" sz="1275" dirty="0"/>
          </a:p>
        </p:txBody>
      </p:sp>
      <p:sp>
        <p:nvSpPr>
          <p:cNvPr id="106" name="Text 89"/>
          <p:cNvSpPr txBox="1"/>
          <p:nvPr/>
        </p:nvSpPr>
        <p:spPr>
          <a:xfrm>
            <a:off x="6915607" y="8305495"/>
            <a:ext cx="1619402" cy="342900"/>
          </a:xfrm>
          <a:prstGeom prst="rect">
            <a:avLst/>
          </a:prstGeom>
          <a:noFill/>
          <a:ln/>
        </p:spPr>
        <p:txBody>
          <a:bodyPr wrap="none" lIns="0" tIns="0" rIns="0" bIns="0" rtlCol="0" anchor="ctr"/>
          <a:lstStyle/>
          <a:p>
            <a:pPr algn="ctr" indent="0" marL="0">
              <a:buNone/>
            </a:pPr>
            <a:r>
              <a:rPr lang="en-US" sz="1125" dirty="0">
                <a:solidFill>
                  <a:srgbClr val="F472B6"/>
                </a:solidFill>
                <a:latin typeface="JetBrains Mono" pitchFamily="34" charset="0"/>
                <a:ea typeface="JetBrains Mono" pitchFamily="34" charset="-122"/>
                <a:cs typeface="JetBrains Mono" pitchFamily="34" charset="-120"/>
              </a:rPr>
              <a:t>+0.6</a:t>
            </a:r>
            <a:endParaRPr lang="en-US" sz="1125" dirty="0"/>
          </a:p>
        </p:txBody>
      </p:sp>
      <p:sp>
        <p:nvSpPr>
          <p:cNvPr id="107" name="Text 90"/>
          <p:cNvSpPr txBox="1"/>
          <p:nvPr/>
        </p:nvSpPr>
        <p:spPr>
          <a:xfrm>
            <a:off x="1009498" y="8820302"/>
            <a:ext cx="7620610" cy="228600"/>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단위: nm · Δ target = wafer mean − target</a:t>
            </a:r>
            <a:endParaRPr lang="en-US" sz="900" dirty="0"/>
          </a:p>
        </p:txBody>
      </p:sp>
      <p:sp>
        <p:nvSpPr>
          <p:cNvPr id="108" name="Text 91"/>
          <p:cNvSpPr txBox="1"/>
          <p:nvPr/>
        </p:nvSpPr>
        <p:spPr>
          <a:xfrm>
            <a:off x="9677095" y="6172200"/>
            <a:ext cx="5715000" cy="133502"/>
          </a:xfrm>
          <a:prstGeom prst="rect">
            <a:avLst/>
          </a:prstGeom>
          <a:noFill/>
          <a:ln/>
        </p:spPr>
        <p:txBody>
          <a:bodyPr wrap="none" lIns="0" tIns="0" rIns="0" bIns="0" rtlCol="0" anchor="ctr"/>
          <a:lstStyle/>
          <a:p>
            <a:pPr algn="l" indent="0" marL="0">
              <a:buNone/>
            </a:pPr>
            <a:r>
              <a:rPr lang="en-US" sz="825" b="1" spc="247" kern="0" dirty="0">
                <a:solidFill>
                  <a:srgbClr val="FBBF24"/>
                </a:solidFill>
                <a:latin typeface="JetBrains Mono" pitchFamily="34" charset="0"/>
                <a:ea typeface="JetBrains Mono" pitchFamily="34" charset="-122"/>
                <a:cs typeface="JetBrains Mono" pitchFamily="34" charset="-120"/>
              </a:rPr>
              <a:t>CD METRIC · 04</a:t>
            </a:r>
            <a:endParaRPr lang="en-US" sz="825" dirty="0"/>
          </a:p>
        </p:txBody>
      </p:sp>
      <p:sp>
        <p:nvSpPr>
          <p:cNvPr id="109" name="Text 92"/>
          <p:cNvSpPr txBox="1"/>
          <p:nvPr/>
        </p:nvSpPr>
        <p:spPr>
          <a:xfrm>
            <a:off x="9677095" y="6439205"/>
            <a:ext cx="572414" cy="305410"/>
          </a:xfrm>
          <a:prstGeom prst="rect">
            <a:avLst/>
          </a:prstGeom>
          <a:noFill/>
          <a:ln/>
        </p:spPr>
        <p:txBody>
          <a:bodyPr wrap="none" lIns="0" tIns="0" rIns="0" bIns="0" rtlCol="0" anchor="ctr"/>
          <a:lstStyle/>
          <a:p>
            <a:pPr algn="l" indent="0" marL="0">
              <a:buNone/>
            </a:pPr>
            <a:r>
              <a:rPr lang="en-US" sz="2400" b="1" spc="-60" kern="0" dirty="0">
                <a:solidFill>
                  <a:srgbClr val="E8EDF5"/>
                </a:solidFill>
                <a:latin typeface="Inter" pitchFamily="34" charset="0"/>
                <a:ea typeface="Inter" pitchFamily="34" charset="-122"/>
                <a:cs typeface="Inter" pitchFamily="34" charset="-120"/>
              </a:rPr>
              <a:t>ACI</a:t>
            </a:r>
            <a:endParaRPr lang="en-US" sz="2400" dirty="0"/>
          </a:p>
        </p:txBody>
      </p:sp>
      <p:sp>
        <p:nvSpPr>
          <p:cNvPr id="110" name="Text 93"/>
          <p:cNvSpPr txBox="1"/>
          <p:nvPr/>
        </p:nvSpPr>
        <p:spPr>
          <a:xfrm>
            <a:off x="10322662" y="6562649"/>
            <a:ext cx="1175004" cy="162763"/>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via bottom CD</a:t>
            </a:r>
            <a:endParaRPr lang="en-US" sz="1050" dirty="0"/>
          </a:p>
        </p:txBody>
      </p:sp>
      <p:sp>
        <p:nvSpPr>
          <p:cNvPr id="111" name="Text 94"/>
          <p:cNvSpPr txBox="1"/>
          <p:nvPr/>
        </p:nvSpPr>
        <p:spPr>
          <a:xfrm>
            <a:off x="14820595" y="6248095"/>
            <a:ext cx="2667305" cy="133502"/>
          </a:xfrm>
          <a:prstGeom prst="rect">
            <a:avLst/>
          </a:prstGeom>
          <a:noFill/>
          <a:ln/>
        </p:spPr>
        <p:txBody>
          <a:bodyPr wrap="none" lIns="0" tIns="0" rIns="0" bIns="0" rtlCol="0" anchor="ctr"/>
          <a:lstStyle/>
          <a:p>
            <a:pPr algn="r" indent="0" marL="0">
              <a:buNone/>
            </a:pPr>
            <a:r>
              <a:rPr lang="en-US" sz="825" spc="247" kern="0" dirty="0">
                <a:solidFill>
                  <a:srgbClr val="64748B"/>
                </a:solidFill>
                <a:latin typeface="JetBrains Mono" pitchFamily="34" charset="0"/>
                <a:ea typeface="JetBrains Mono" pitchFamily="34" charset="-122"/>
                <a:cs typeface="JetBrains Mono" pitchFamily="34" charset="-120"/>
              </a:rPr>
              <a:t>TARGET</a:t>
            </a:r>
            <a:endParaRPr lang="en-US" sz="825" dirty="0"/>
          </a:p>
        </p:txBody>
      </p:sp>
      <p:sp>
        <p:nvSpPr>
          <p:cNvPr id="112" name="Text 95"/>
          <p:cNvSpPr txBox="1"/>
          <p:nvPr/>
        </p:nvSpPr>
        <p:spPr>
          <a:xfrm>
            <a:off x="14820595" y="6439205"/>
            <a:ext cx="2667305" cy="267005"/>
          </a:xfrm>
          <a:prstGeom prst="rect">
            <a:avLst/>
          </a:prstGeom>
          <a:noFill/>
          <a:ln/>
        </p:spPr>
        <p:txBody>
          <a:bodyPr wrap="none" lIns="0" tIns="0" rIns="0" bIns="0" rtlCol="0" anchor="ctr"/>
          <a:lstStyle/>
          <a:p>
            <a:pPr algn="r" indent="0" marL="0">
              <a:buNone/>
            </a:pPr>
            <a:r>
              <a:rPr lang="en-US" sz="2100" b="1" dirty="0">
                <a:solidFill>
                  <a:srgbClr val="FB923C"/>
                </a:solidFill>
                <a:latin typeface="JetBrains Mono" pitchFamily="34" charset="0"/>
                <a:ea typeface="JetBrains Mono" pitchFamily="34" charset="-122"/>
                <a:cs typeface="JetBrains Mono" pitchFamily="34" charset="-120"/>
              </a:rPr>
              <a:t>10.0 nm</a:t>
            </a:r>
            <a:endParaRPr lang="en-US" sz="2100" dirty="0"/>
          </a:p>
        </p:txBody>
      </p:sp>
      <p:sp>
        <p:nvSpPr>
          <p:cNvPr id="113" name="Text 96"/>
          <p:cNvSpPr txBox="1"/>
          <p:nvPr/>
        </p:nvSpPr>
        <p:spPr>
          <a:xfrm>
            <a:off x="9905695" y="7048195"/>
            <a:ext cx="1905610" cy="342900"/>
          </a:xfrm>
          <a:prstGeom prst="rect">
            <a:avLst/>
          </a:prstGeom>
          <a:noFill/>
          <a:ln/>
        </p:spPr>
        <p:txBody>
          <a:bodyPr wrap="none" lIns="0" tIns="0" rIns="0" bIns="0" rtlCol="0" anchor="ctr"/>
          <a:lstStyle/>
          <a:p>
            <a:pPr algn="l" indent="0" marL="0">
              <a:buNone/>
            </a:pPr>
            <a:r>
              <a:rPr lang="en-US" sz="900" b="1" spc="72" kern="0" dirty="0">
                <a:solidFill>
                  <a:srgbClr val="94A3B8"/>
                </a:solidFill>
                <a:latin typeface="Inter" pitchFamily="34" charset="0"/>
                <a:ea typeface="Inter" pitchFamily="34" charset="-122"/>
                <a:cs typeface="Inter" pitchFamily="34" charset="-120"/>
              </a:rPr>
              <a:t>Wafer</a:t>
            </a:r>
            <a:endParaRPr lang="en-US" sz="900" dirty="0"/>
          </a:p>
        </p:txBody>
      </p:sp>
      <p:sp>
        <p:nvSpPr>
          <p:cNvPr id="114" name="Text 97"/>
          <p:cNvSpPr txBox="1"/>
          <p:nvPr/>
        </p:nvSpPr>
        <p:spPr>
          <a:xfrm>
            <a:off x="11582705"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mean</a:t>
            </a:r>
            <a:endParaRPr lang="en-US" sz="900" dirty="0"/>
          </a:p>
        </p:txBody>
      </p:sp>
      <p:sp>
        <p:nvSpPr>
          <p:cNvPr id="115" name="Text 98"/>
          <p:cNvSpPr txBox="1"/>
          <p:nvPr/>
        </p:nvSpPr>
        <p:spPr>
          <a:xfrm>
            <a:off x="12915900"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3σ</a:t>
            </a:r>
            <a:endParaRPr lang="en-US" sz="900" dirty="0"/>
          </a:p>
        </p:txBody>
      </p:sp>
      <p:sp>
        <p:nvSpPr>
          <p:cNvPr id="116" name="Text 99"/>
          <p:cNvSpPr txBox="1"/>
          <p:nvPr/>
        </p:nvSpPr>
        <p:spPr>
          <a:xfrm>
            <a:off x="14249095" y="7048195"/>
            <a:ext cx="1334110"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range</a:t>
            </a:r>
            <a:endParaRPr lang="en-US" sz="900" dirty="0"/>
          </a:p>
        </p:txBody>
      </p:sp>
      <p:sp>
        <p:nvSpPr>
          <p:cNvPr id="117" name="Text 100"/>
          <p:cNvSpPr txBox="1"/>
          <p:nvPr/>
        </p:nvSpPr>
        <p:spPr>
          <a:xfrm>
            <a:off x="15583205" y="7048195"/>
            <a:ext cx="1619402" cy="342900"/>
          </a:xfrm>
          <a:prstGeom prst="rect">
            <a:avLst/>
          </a:prstGeom>
          <a:noFill/>
          <a:ln/>
        </p:spPr>
        <p:txBody>
          <a:bodyPr wrap="none" lIns="0" tIns="0" rIns="0" bIns="0" rtlCol="0" anchor="ctr"/>
          <a:lstStyle/>
          <a:p>
            <a:pPr algn="ctr" indent="0" marL="0">
              <a:buNone/>
            </a:pPr>
            <a:r>
              <a:rPr lang="en-US" sz="900" b="1" dirty="0">
                <a:solidFill>
                  <a:srgbClr val="94A3B8"/>
                </a:solidFill>
                <a:latin typeface="Inter" pitchFamily="34" charset="0"/>
                <a:ea typeface="Inter" pitchFamily="34" charset="-122"/>
                <a:cs typeface="Inter" pitchFamily="34" charset="-120"/>
              </a:rPr>
              <a:t>Δ target</a:t>
            </a:r>
            <a:endParaRPr lang="en-US" sz="900" dirty="0"/>
          </a:p>
        </p:txBody>
      </p:sp>
      <p:sp>
        <p:nvSpPr>
          <p:cNvPr id="118" name="Text 101"/>
          <p:cNvSpPr txBox="1"/>
          <p:nvPr/>
        </p:nvSpPr>
        <p:spPr>
          <a:xfrm>
            <a:off x="9905695" y="7467905"/>
            <a:ext cx="1905610" cy="342900"/>
          </a:xfrm>
          <a:prstGeom prst="rect">
            <a:avLst/>
          </a:prstGeom>
          <a:noFill/>
          <a:ln/>
        </p:spPr>
        <p:txBody>
          <a:bodyPr wrap="none" lIns="0" tIns="0" rIns="0" bIns="0" rtlCol="0" anchor="ctr"/>
          <a:lstStyle/>
          <a:p>
            <a:pPr algn="l" indent="0" marL="0">
              <a:buNone/>
            </a:pPr>
            <a:r>
              <a:rPr lang="en-US" sz="1125" b="1" dirty="0">
                <a:solidFill>
                  <a:srgbClr val="5EEAD4"/>
                </a:solidFill>
                <a:latin typeface="Inter" pitchFamily="34" charset="0"/>
                <a:ea typeface="Inter" pitchFamily="34" charset="-122"/>
                <a:cs typeface="Inter" pitchFamily="34" charset="-120"/>
              </a:rPr>
              <a:t>W1</a:t>
            </a:r>
            <a:endParaRPr lang="en-US" sz="1125" dirty="0"/>
          </a:p>
        </p:txBody>
      </p:sp>
      <p:sp>
        <p:nvSpPr>
          <p:cNvPr id="119" name="Text 102"/>
          <p:cNvSpPr txBox="1"/>
          <p:nvPr/>
        </p:nvSpPr>
        <p:spPr>
          <a:xfrm>
            <a:off x="11582705"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10.0</a:t>
            </a:r>
            <a:endParaRPr lang="en-US" sz="1275" dirty="0"/>
          </a:p>
        </p:txBody>
      </p:sp>
      <p:sp>
        <p:nvSpPr>
          <p:cNvPr id="120" name="Text 103"/>
          <p:cNvSpPr txBox="1"/>
          <p:nvPr/>
        </p:nvSpPr>
        <p:spPr>
          <a:xfrm>
            <a:off x="12915900"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1.1</a:t>
            </a:r>
            <a:endParaRPr lang="en-US" sz="1275" dirty="0"/>
          </a:p>
        </p:txBody>
      </p:sp>
      <p:sp>
        <p:nvSpPr>
          <p:cNvPr id="121" name="Text 104"/>
          <p:cNvSpPr txBox="1"/>
          <p:nvPr/>
        </p:nvSpPr>
        <p:spPr>
          <a:xfrm>
            <a:off x="14249095" y="746790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2.6</a:t>
            </a:r>
            <a:endParaRPr lang="en-US" sz="1275" dirty="0"/>
          </a:p>
        </p:txBody>
      </p:sp>
      <p:sp>
        <p:nvSpPr>
          <p:cNvPr id="122" name="Text 105"/>
          <p:cNvSpPr txBox="1"/>
          <p:nvPr/>
        </p:nvSpPr>
        <p:spPr>
          <a:xfrm>
            <a:off x="15583205" y="7467905"/>
            <a:ext cx="1619402" cy="342900"/>
          </a:xfrm>
          <a:prstGeom prst="rect">
            <a:avLst/>
          </a:prstGeom>
          <a:noFill/>
          <a:ln/>
        </p:spPr>
        <p:txBody>
          <a:bodyPr wrap="none" lIns="0" tIns="0" rIns="0" bIns="0" rtlCol="0" anchor="ctr"/>
          <a:lstStyle/>
          <a:p>
            <a:pPr algn="ctr" indent="0" marL="0">
              <a:buNone/>
            </a:pPr>
            <a:r>
              <a:rPr lang="en-US" sz="1125" dirty="0">
                <a:solidFill>
                  <a:srgbClr val="94A3B8"/>
                </a:solidFill>
                <a:latin typeface="JetBrains Mono" pitchFamily="34" charset="0"/>
                <a:ea typeface="JetBrains Mono" pitchFamily="34" charset="-122"/>
                <a:cs typeface="JetBrains Mono" pitchFamily="34" charset="-120"/>
              </a:rPr>
              <a:t>±0.0</a:t>
            </a:r>
            <a:endParaRPr lang="en-US" sz="1125" dirty="0"/>
          </a:p>
        </p:txBody>
      </p:sp>
      <p:sp>
        <p:nvSpPr>
          <p:cNvPr id="123" name="Text 106"/>
          <p:cNvSpPr txBox="1"/>
          <p:nvPr/>
        </p:nvSpPr>
        <p:spPr>
          <a:xfrm>
            <a:off x="9905695" y="7886700"/>
            <a:ext cx="1905610" cy="342900"/>
          </a:xfrm>
          <a:prstGeom prst="rect">
            <a:avLst/>
          </a:prstGeom>
          <a:noFill/>
          <a:ln/>
        </p:spPr>
        <p:txBody>
          <a:bodyPr wrap="none" lIns="0" tIns="0" rIns="0" bIns="0" rtlCol="0" anchor="ctr"/>
          <a:lstStyle/>
          <a:p>
            <a:pPr algn="l" indent="0" marL="0">
              <a:buNone/>
            </a:pPr>
            <a:r>
              <a:rPr lang="en-US" sz="1125" b="1" dirty="0">
                <a:solidFill>
                  <a:srgbClr val="FB923C"/>
                </a:solidFill>
                <a:latin typeface="Inter" pitchFamily="34" charset="0"/>
                <a:ea typeface="Inter" pitchFamily="34" charset="-122"/>
                <a:cs typeface="Inter" pitchFamily="34" charset="-120"/>
              </a:rPr>
              <a:t>W2</a:t>
            </a:r>
            <a:endParaRPr lang="en-US" sz="1125" dirty="0"/>
          </a:p>
        </p:txBody>
      </p:sp>
      <p:sp>
        <p:nvSpPr>
          <p:cNvPr id="124" name="Text 107"/>
          <p:cNvSpPr txBox="1"/>
          <p:nvPr/>
        </p:nvSpPr>
        <p:spPr>
          <a:xfrm>
            <a:off x="11582705"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10.2</a:t>
            </a:r>
            <a:endParaRPr lang="en-US" sz="1275" dirty="0"/>
          </a:p>
        </p:txBody>
      </p:sp>
      <p:sp>
        <p:nvSpPr>
          <p:cNvPr id="125" name="Text 108"/>
          <p:cNvSpPr txBox="1"/>
          <p:nvPr/>
        </p:nvSpPr>
        <p:spPr>
          <a:xfrm>
            <a:off x="12915900"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1.5</a:t>
            </a:r>
            <a:endParaRPr lang="en-US" sz="1275" dirty="0"/>
          </a:p>
        </p:txBody>
      </p:sp>
      <p:sp>
        <p:nvSpPr>
          <p:cNvPr id="126" name="Text 109"/>
          <p:cNvSpPr txBox="1"/>
          <p:nvPr/>
        </p:nvSpPr>
        <p:spPr>
          <a:xfrm>
            <a:off x="14249095" y="7886700"/>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3.4</a:t>
            </a:r>
            <a:endParaRPr lang="en-US" sz="1275" dirty="0"/>
          </a:p>
        </p:txBody>
      </p:sp>
      <p:sp>
        <p:nvSpPr>
          <p:cNvPr id="127" name="Text 110"/>
          <p:cNvSpPr txBox="1"/>
          <p:nvPr/>
        </p:nvSpPr>
        <p:spPr>
          <a:xfrm>
            <a:off x="15583205" y="7886700"/>
            <a:ext cx="1619402" cy="342900"/>
          </a:xfrm>
          <a:prstGeom prst="rect">
            <a:avLst/>
          </a:prstGeom>
          <a:noFill/>
          <a:ln/>
        </p:spPr>
        <p:txBody>
          <a:bodyPr wrap="none" lIns="0" tIns="0" rIns="0" bIns="0" rtlCol="0" anchor="ctr"/>
          <a:lstStyle/>
          <a:p>
            <a:pPr algn="ctr" indent="0" marL="0">
              <a:buNone/>
            </a:pPr>
            <a:r>
              <a:rPr lang="en-US" sz="1125" dirty="0">
                <a:solidFill>
                  <a:srgbClr val="FB923C"/>
                </a:solidFill>
                <a:latin typeface="JetBrains Mono" pitchFamily="34" charset="0"/>
                <a:ea typeface="JetBrains Mono" pitchFamily="34" charset="-122"/>
                <a:cs typeface="JetBrains Mono" pitchFamily="34" charset="-120"/>
              </a:rPr>
              <a:t>+0.2</a:t>
            </a:r>
            <a:endParaRPr lang="en-US" sz="1125" dirty="0"/>
          </a:p>
        </p:txBody>
      </p:sp>
      <p:sp>
        <p:nvSpPr>
          <p:cNvPr id="128" name="Text 111"/>
          <p:cNvSpPr txBox="1"/>
          <p:nvPr/>
        </p:nvSpPr>
        <p:spPr>
          <a:xfrm>
            <a:off x="9905695" y="8305495"/>
            <a:ext cx="1905610" cy="342900"/>
          </a:xfrm>
          <a:prstGeom prst="rect">
            <a:avLst/>
          </a:prstGeom>
          <a:noFill/>
          <a:ln/>
        </p:spPr>
        <p:txBody>
          <a:bodyPr wrap="none" lIns="0" tIns="0" rIns="0" bIns="0" rtlCol="0" anchor="ctr"/>
          <a:lstStyle/>
          <a:p>
            <a:pPr algn="l" indent="0" marL="0">
              <a:buNone/>
            </a:pPr>
            <a:r>
              <a:rPr lang="en-US" sz="1125" b="1" dirty="0">
                <a:solidFill>
                  <a:srgbClr val="F472B6"/>
                </a:solidFill>
                <a:latin typeface="Inter" pitchFamily="34" charset="0"/>
                <a:ea typeface="Inter" pitchFamily="34" charset="-122"/>
                <a:cs typeface="Inter" pitchFamily="34" charset="-120"/>
              </a:rPr>
              <a:t>W3</a:t>
            </a:r>
            <a:endParaRPr lang="en-US" sz="1125" dirty="0"/>
          </a:p>
        </p:txBody>
      </p:sp>
      <p:sp>
        <p:nvSpPr>
          <p:cNvPr id="129" name="Text 112"/>
          <p:cNvSpPr txBox="1"/>
          <p:nvPr/>
        </p:nvSpPr>
        <p:spPr>
          <a:xfrm>
            <a:off x="11582705"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10.5</a:t>
            </a:r>
            <a:endParaRPr lang="en-US" sz="1275" dirty="0"/>
          </a:p>
        </p:txBody>
      </p:sp>
      <p:sp>
        <p:nvSpPr>
          <p:cNvPr id="130" name="Text 113"/>
          <p:cNvSpPr txBox="1"/>
          <p:nvPr/>
        </p:nvSpPr>
        <p:spPr>
          <a:xfrm>
            <a:off x="12915900"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2.0</a:t>
            </a:r>
            <a:endParaRPr lang="en-US" sz="1275" dirty="0"/>
          </a:p>
        </p:txBody>
      </p:sp>
      <p:sp>
        <p:nvSpPr>
          <p:cNvPr id="131" name="Text 114"/>
          <p:cNvSpPr txBox="1"/>
          <p:nvPr/>
        </p:nvSpPr>
        <p:spPr>
          <a:xfrm>
            <a:off x="14249095" y="8305495"/>
            <a:ext cx="1334110" cy="342900"/>
          </a:xfrm>
          <a:prstGeom prst="rect">
            <a:avLst/>
          </a:prstGeom>
          <a:noFill/>
          <a:ln/>
        </p:spPr>
        <p:txBody>
          <a:bodyPr wrap="none" lIns="0" tIns="0" rIns="0" bIns="0" rtlCol="0" anchor="ctr"/>
          <a:lstStyle/>
          <a:p>
            <a:pPr algn="ctr" indent="0" marL="0">
              <a:buNone/>
            </a:pPr>
            <a:r>
              <a:rPr lang="en-US" sz="1275" dirty="0">
                <a:solidFill>
                  <a:srgbClr val="E8EDF5"/>
                </a:solidFill>
                <a:latin typeface="JetBrains Mono" pitchFamily="34" charset="0"/>
                <a:ea typeface="JetBrains Mono" pitchFamily="34" charset="-122"/>
                <a:cs typeface="JetBrains Mono" pitchFamily="34" charset="-120"/>
              </a:rPr>
              <a:t>4.7</a:t>
            </a:r>
            <a:endParaRPr lang="en-US" sz="1275" dirty="0"/>
          </a:p>
        </p:txBody>
      </p:sp>
      <p:sp>
        <p:nvSpPr>
          <p:cNvPr id="132" name="Text 115"/>
          <p:cNvSpPr txBox="1"/>
          <p:nvPr/>
        </p:nvSpPr>
        <p:spPr>
          <a:xfrm>
            <a:off x="15583205" y="8305495"/>
            <a:ext cx="1619402" cy="342900"/>
          </a:xfrm>
          <a:prstGeom prst="rect">
            <a:avLst/>
          </a:prstGeom>
          <a:noFill/>
          <a:ln/>
        </p:spPr>
        <p:txBody>
          <a:bodyPr wrap="none" lIns="0" tIns="0" rIns="0" bIns="0" rtlCol="0" anchor="ctr"/>
          <a:lstStyle/>
          <a:p>
            <a:pPr algn="ctr" indent="0" marL="0">
              <a:buNone/>
            </a:pPr>
            <a:r>
              <a:rPr lang="en-US" sz="1125" dirty="0">
                <a:solidFill>
                  <a:srgbClr val="F472B6"/>
                </a:solidFill>
                <a:latin typeface="JetBrains Mono" pitchFamily="34" charset="0"/>
                <a:ea typeface="JetBrains Mono" pitchFamily="34" charset="-122"/>
                <a:cs typeface="JetBrains Mono" pitchFamily="34" charset="-120"/>
              </a:rPr>
              <a:t>+0.5</a:t>
            </a:r>
            <a:endParaRPr lang="en-US" sz="1125" dirty="0"/>
          </a:p>
        </p:txBody>
      </p:sp>
      <p:sp>
        <p:nvSpPr>
          <p:cNvPr id="133" name="Text 116"/>
          <p:cNvSpPr txBox="1"/>
          <p:nvPr/>
        </p:nvSpPr>
        <p:spPr>
          <a:xfrm>
            <a:off x="9677095" y="8820302"/>
            <a:ext cx="7620610" cy="228600"/>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단위: nm · Δ target = wafer mean − target</a:t>
            </a:r>
            <a:endParaRPr lang="en-US" sz="900" dirty="0"/>
          </a:p>
        </p:txBody>
      </p:sp>
      <p:pic>
        <p:nvPicPr>
          <p:cNvPr id="134" name="Image 14" descr="gen-dedup-41df4fb73e13824d9bf43e735c70451d.png">    </p:cNvPr>
          <p:cNvPicPr>
            <a:picLocks noChangeAspect="1"/>
          </p:cNvPicPr>
          <p:nvPr/>
        </p:nvPicPr>
        <p:blipFill>
          <a:blip r:embed="rId15"/>
          <a:srcRect l="-2029" r="-2029" t="0" b="0"/>
          <a:stretch/>
        </p:blipFill>
        <p:spPr>
          <a:xfrm>
            <a:off x="761695" y="10067544"/>
            <a:ext cx="304495" cy="9144"/>
          </a:xfrm>
          <a:prstGeom prst="rect">
            <a:avLst/>
          </a:prstGeom>
        </p:spPr>
      </p:pic>
      <p:sp>
        <p:nvSpPr>
          <p:cNvPr id="135" name="Text 117"/>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B"/>
        </a:solidFill>
      </p:bgPr>
    </p:bg>
    <p:spTree>
      <p:nvGrpSpPr>
        <p:cNvPr id="1" name=""/>
        <p:cNvGrpSpPr/>
        <p:nvPr/>
      </p:nvGrpSpPr>
      <p:grpSpPr>
        <a:xfrm>
          <a:off x="0" y="0"/>
          <a:ext cx="0" cy="0"/>
          <a:chOff x="0" y="0"/>
          <a:chExt cx="0" cy="0"/>
        </a:xfrm>
      </p:grpSpPr>
      <p:pic>
        <p:nvPicPr>
          <p:cNvPr id="3" name="Image 0" descr="gen-dedup-86ad54deeb2b27ec19417c6296aaba2c.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0a20d2ff62e8c6dfc7666e15530436ea.png">    </p:cNvPr>
          <p:cNvPicPr>
            <a:picLocks noChangeAspect="1"/>
          </p:cNvPicPr>
          <p:nvPr/>
        </p:nvPicPr>
        <p:blipFill>
          <a:blip r:embed="rId2"/>
          <a:srcRect l="-3" r="-3" t="0" b="0"/>
          <a:stretch/>
        </p:blipFill>
        <p:spPr>
          <a:xfrm>
            <a:off x="761695" y="2667305"/>
            <a:ext cx="16782898" cy="2495398"/>
          </a:xfrm>
          <a:prstGeom prst="rect">
            <a:avLst/>
          </a:prstGeom>
        </p:spPr>
      </p:pic>
      <p:sp>
        <p:nvSpPr>
          <p:cNvPr id="5" name="Shape 0"/>
          <p:cNvSpPr/>
          <p:nvPr/>
        </p:nvSpPr>
        <p:spPr>
          <a:xfrm>
            <a:off x="761695" y="5524805"/>
            <a:ext cx="16782898" cy="3638398"/>
          </a:xfrm>
          <a:prstGeom prst="rect">
            <a:avLst/>
          </a:prstGeom>
          <a:solidFill>
            <a:srgbClr val="141A28"/>
          </a:solidFill>
          <a:ln w="12700">
            <a:solidFill>
              <a:srgbClr val="1F2A40"/>
            </a:solidFill>
            <a:prstDash val="solid"/>
          </a:ln>
        </p:spPr>
      </p:sp>
      <p:sp>
        <p:nvSpPr>
          <p:cNvPr id="6" name="Shape 1"/>
          <p:cNvSpPr/>
          <p:nvPr/>
        </p:nvSpPr>
        <p:spPr>
          <a:xfrm>
            <a:off x="1047902" y="6286500"/>
            <a:ext cx="16192195" cy="457200"/>
          </a:xfrm>
          <a:prstGeom prst="rect">
            <a:avLst/>
          </a:prstGeom>
          <a:solidFill>
            <a:srgbClr val="0F1424"/>
          </a:solidFill>
          <a:ln w="12700">
            <a:solidFill>
              <a:srgbClr val="FFFFFF">
                <a:alpha val="0"/>
              </a:srgbClr>
            </a:solidFill>
            <a:prstDash val="solid"/>
          </a:ln>
        </p:spPr>
      </p:sp>
      <p:pic>
        <p:nvPicPr>
          <p:cNvPr id="7" name="Image 2" descr="gen-dedup-f260fd42319e4e5df9ea72606cd81eb8.png">    </p:cNvPr>
          <p:cNvPicPr>
            <a:picLocks noChangeAspect="1"/>
          </p:cNvPicPr>
          <p:nvPr/>
        </p:nvPicPr>
        <p:blipFill>
          <a:blip r:embed="rId3"/>
          <a:srcRect l="-2083" r="-2083" t="0" b="0"/>
          <a:stretch/>
        </p:blipFill>
        <p:spPr>
          <a:xfrm>
            <a:off x="1047902" y="7220102"/>
            <a:ext cx="16192195" cy="9144"/>
          </a:xfrm>
          <a:prstGeom prst="rect">
            <a:avLst/>
          </a:prstGeom>
        </p:spPr>
      </p:pic>
      <p:pic>
        <p:nvPicPr>
          <p:cNvPr id="8" name="Image 3" descr="gen-dedup-f260fd42319e4e5df9ea72606cd81eb8.png">    </p:cNvPr>
          <p:cNvPicPr>
            <a:picLocks noChangeAspect="1"/>
          </p:cNvPicPr>
          <p:nvPr/>
        </p:nvPicPr>
        <p:blipFill>
          <a:blip r:embed="rId4"/>
          <a:srcRect l="-2083" r="-2083" t="0" b="0"/>
          <a:stretch/>
        </p:blipFill>
        <p:spPr>
          <a:xfrm>
            <a:off x="1047902" y="7619695"/>
            <a:ext cx="16192195" cy="9144"/>
          </a:xfrm>
          <a:prstGeom prst="rect">
            <a:avLst/>
          </a:prstGeom>
        </p:spPr>
      </p:pic>
      <p:pic>
        <p:nvPicPr>
          <p:cNvPr id="9" name="Image 4" descr="gen-dedup-f260fd42319e4e5df9ea72606cd81eb8.png">    </p:cNvPr>
          <p:cNvPicPr>
            <a:picLocks noChangeAspect="1"/>
          </p:cNvPicPr>
          <p:nvPr/>
        </p:nvPicPr>
        <p:blipFill>
          <a:blip r:embed="rId5"/>
          <a:srcRect l="-2083" r="-2083" t="0" b="0"/>
          <a:stretch/>
        </p:blipFill>
        <p:spPr>
          <a:xfrm>
            <a:off x="1047902" y="8020202"/>
            <a:ext cx="16192195" cy="9144"/>
          </a:xfrm>
          <a:prstGeom prst="rect">
            <a:avLst/>
          </a:prstGeom>
        </p:spPr>
      </p:pic>
      <p:pic>
        <p:nvPicPr>
          <p:cNvPr id="10" name="Image 5" descr="gen-dedup-f260fd42319e4e5df9ea72606cd81eb8.png">    </p:cNvPr>
          <p:cNvPicPr>
            <a:picLocks noChangeAspect="1"/>
          </p:cNvPicPr>
          <p:nvPr/>
        </p:nvPicPr>
        <p:blipFill>
          <a:blip r:embed="rId6"/>
          <a:srcRect l="-2083" r="-2083" t="0" b="0"/>
          <a:stretch/>
        </p:blipFill>
        <p:spPr>
          <a:xfrm>
            <a:off x="1047902" y="8419795"/>
            <a:ext cx="16192195" cy="9144"/>
          </a:xfrm>
          <a:prstGeom prst="rect">
            <a:avLst/>
          </a:prstGeom>
        </p:spPr>
      </p:pic>
      <p:pic>
        <p:nvPicPr>
          <p:cNvPr id="11" name="Image 6" descr="gen-dedup-fb7284239b65d37878da76aad5baf72f.png">    </p:cNvPr>
          <p:cNvPicPr>
            <a:picLocks noChangeAspect="1"/>
          </p:cNvPicPr>
          <p:nvPr/>
        </p:nvPicPr>
        <p:blipFill>
          <a:blip r:embed="rId7"/>
          <a:srcRect l="0" r="0" t="-437" b="-437"/>
          <a:stretch/>
        </p:blipFill>
        <p:spPr>
          <a:xfrm>
            <a:off x="761695" y="662026"/>
            <a:ext cx="418795" cy="19202"/>
          </a:xfrm>
          <a:prstGeom prst="rect">
            <a:avLst/>
          </a:prstGeom>
        </p:spPr>
      </p:pic>
      <p:sp>
        <p:nvSpPr>
          <p:cNvPr id="12" name="Text 2"/>
          <p:cNvSpPr txBox="1"/>
          <p:nvPr/>
        </p:nvSpPr>
        <p:spPr>
          <a:xfrm>
            <a:off x="1352398" y="590702"/>
            <a:ext cx="34198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07 — IN-WAFER UNIFORMITY</a:t>
            </a:r>
            <a:endParaRPr lang="en-US" sz="975" dirty="0"/>
          </a:p>
        </p:txBody>
      </p:sp>
      <p:sp>
        <p:nvSpPr>
          <p:cNvPr id="13" name="Text 3"/>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07</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14" name="Text 4"/>
          <p:cNvSpPr txBox="1"/>
          <p:nvPr/>
        </p:nvSpPr>
        <p:spPr>
          <a:xfrm>
            <a:off x="761695" y="1238098"/>
            <a:ext cx="14287500" cy="514807"/>
          </a:xfrm>
          <a:prstGeom prst="rect">
            <a:avLst/>
          </a:prstGeom>
          <a:noFill/>
          <a:ln/>
        </p:spPr>
        <p:txBody>
          <a:bodyPr wrap="none" lIns="0" tIns="0" rIns="0" bIns="0" rtlCol="0" anchor="ctr"/>
          <a:lstStyle/>
          <a:p>
            <a:pPr algn="l" indent="0" marL="0">
              <a:buNone/>
            </a:pPr>
            <a:r>
              <a:rPr lang="en-US" sz="4050" b="1" spc="-142" kern="0" dirty="0">
                <a:solidFill>
                  <a:srgbClr val="E8EDF5"/>
                </a:solidFill>
                <a:latin typeface="Inter" pitchFamily="34" charset="0"/>
                <a:ea typeface="Inter" pitchFamily="34" charset="-122"/>
                <a:cs typeface="Inter" pitchFamily="34" charset="-120"/>
              </a:rPr>
              <a:t>In-wafer </a:t>
            </a:r>
            <a:pPr algn="l" indent="0" marL="0">
              <a:buNone/>
            </a:pPr>
            <a:r>
              <a:rPr lang="en-US" sz="4050" b="1" spc="-142" kern="0" dirty="0">
                <a:solidFill>
                  <a:srgbClr val="5EEAD4"/>
                </a:solidFill>
                <a:latin typeface="Inter" pitchFamily="34" charset="0"/>
                <a:ea typeface="Inter" pitchFamily="34" charset="-122"/>
                <a:cs typeface="Inter" pitchFamily="34" charset="-120"/>
              </a:rPr>
              <a:t>Uniformity</a:t>
            </a:r>
            <a:pPr algn="l" indent="0" marL="0">
              <a:buNone/>
            </a:pPr>
            <a:r>
              <a:rPr lang="en-US" sz="4050" b="1" spc="-142" kern="0" dirty="0">
                <a:solidFill>
                  <a:srgbClr val="E8EDF5"/>
                </a:solidFill>
                <a:latin typeface="Inter" pitchFamily="34" charset="0"/>
                <a:ea typeface="Inter" pitchFamily="34" charset="-122"/>
                <a:cs typeface="Inter" pitchFamily="34" charset="-120"/>
              </a:rPr>
              <a:t> 요약</a:t>
            </a:r>
            <a:endParaRPr lang="en-US" sz="4050" dirty="0"/>
          </a:p>
        </p:txBody>
      </p:sp>
      <p:sp>
        <p:nvSpPr>
          <p:cNvPr id="15" name="Text 5"/>
          <p:cNvSpPr txBox="1"/>
          <p:nvPr/>
        </p:nvSpPr>
        <p:spPr>
          <a:xfrm>
            <a:off x="761695" y="1886407"/>
            <a:ext cx="14287500" cy="238658"/>
          </a:xfrm>
          <a:prstGeom prst="rect">
            <a:avLst/>
          </a:prstGeom>
          <a:noFill/>
          <a:ln/>
        </p:spPr>
        <p:txBody>
          <a:bodyPr wrap="none" lIns="0" tIns="0" rIns="0" bIns="0" rtlCol="0" anchor="ctr"/>
          <a:lstStyle/>
          <a:p>
            <a:pPr algn="l" indent="0" marL="0">
              <a:buNone/>
            </a:pPr>
            <a:r>
              <a:rPr lang="en-US" sz="1275" dirty="0">
                <a:solidFill>
                  <a:srgbClr val="94A3B8"/>
                </a:solidFill>
                <a:latin typeface="Inter" pitchFamily="34" charset="0"/>
                <a:ea typeface="Inter" pitchFamily="34" charset="-122"/>
                <a:cs typeface="Inter" pitchFamily="34" charset="-120"/>
              </a:rPr>
              <a:t>25 site 측정 → 5σ trim 후 20 site · NIU = (3σ / mean) × 100 % · AASI 기준 해석.</a:t>
            </a:r>
            <a:endParaRPr lang="en-US" sz="1275" dirty="0"/>
          </a:p>
        </p:txBody>
      </p:sp>
      <p:sp>
        <p:nvSpPr>
          <p:cNvPr id="16" name="Text 6"/>
          <p:cNvSpPr txBox="1"/>
          <p:nvPr/>
        </p:nvSpPr>
        <p:spPr>
          <a:xfrm>
            <a:off x="1047902" y="2933395"/>
            <a:ext cx="5715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AASI NIU · PRIMARY KPI</a:t>
            </a:r>
            <a:endParaRPr lang="en-US" sz="825" dirty="0"/>
          </a:p>
        </p:txBody>
      </p:sp>
      <p:sp>
        <p:nvSpPr>
          <p:cNvPr id="17" name="Text 7"/>
          <p:cNvSpPr txBox="1"/>
          <p:nvPr/>
        </p:nvSpPr>
        <p:spPr>
          <a:xfrm>
            <a:off x="1047902" y="3177540"/>
            <a:ext cx="5715000" cy="671170"/>
          </a:xfrm>
          <a:prstGeom prst="rect">
            <a:avLst/>
          </a:prstGeom>
          <a:noFill/>
          <a:ln/>
        </p:spPr>
        <p:txBody>
          <a:bodyPr wrap="square" lIns="0" tIns="0" rIns="0" bIns="0" rtlCol="0" anchor="t"/>
          <a:lstStyle/>
          <a:p>
            <a:pPr algn="l" indent="0" marL="0">
              <a:lnSpc>
                <a:spcPts val="2520"/>
              </a:lnSpc>
              <a:buNone/>
            </a:pPr>
            <a:r>
              <a:rPr lang="en-US" sz="1800" dirty="0">
                <a:solidFill>
                  <a:srgbClr val="94A3B8"/>
                </a:solidFill>
                <a:latin typeface="Inter" pitchFamily="34" charset="0"/>
                <a:ea typeface="Inter" pitchFamily="34" charset="-122"/>
                <a:cs typeface="Inter" pitchFamily="34" charset="-120"/>
              </a:rPr>
              <a:t>Etch time이 길어질수록</a:t>
            </a:r>
            <a:pPr algn="l" indent="0" marL="0">
              <a:lnSpc>
                <a:spcPts val="2520"/>
              </a:lnSpc>
              <a:buNone/>
            </a:pPr>
            <a:endParaRPr lang="en-US" sz="1800" dirty="0"/>
          </a:p>
          <a:p>
            <a:pPr algn="l" indent="0" marL="0">
              <a:lnSpc>
                <a:spcPts val="2520"/>
              </a:lnSpc>
              <a:buNone/>
            </a:pPr>
            <a:r>
              <a:rPr lang="en-US" sz="1800" dirty="0">
                <a:solidFill>
                  <a:srgbClr val="94A3B8"/>
                </a:solidFill>
                <a:latin typeface="Inter" pitchFamily="34" charset="0"/>
                <a:ea typeface="Inter" pitchFamily="34" charset="-122"/>
                <a:cs typeface="Inter" pitchFamily="34" charset="-120"/>
              </a:rPr>
              <a:t>wafer 내 uniformity 저하 가속</a:t>
            </a:r>
            <a:endParaRPr lang="en-US" sz="1800" dirty="0"/>
          </a:p>
        </p:txBody>
      </p:sp>
      <p:sp>
        <p:nvSpPr>
          <p:cNvPr id="18" name="Text 8"/>
          <p:cNvSpPr txBox="1"/>
          <p:nvPr/>
        </p:nvSpPr>
        <p:spPr>
          <a:xfrm>
            <a:off x="6667805" y="2952598"/>
            <a:ext cx="1406347" cy="571500"/>
          </a:xfrm>
          <a:prstGeom prst="rect">
            <a:avLst/>
          </a:prstGeom>
          <a:noFill/>
          <a:ln/>
        </p:spPr>
        <p:txBody>
          <a:bodyPr wrap="none" lIns="0" tIns="0" rIns="0" bIns="0" rtlCol="0" anchor="ctr"/>
          <a:lstStyle/>
          <a:p>
            <a:pPr algn="l" indent="0" marL="0">
              <a:buNone/>
            </a:pPr>
            <a:r>
              <a:rPr lang="en-US" sz="4500" b="1" spc="-180" kern="0" dirty="0">
                <a:solidFill>
                  <a:srgbClr val="5EEAD4"/>
                </a:solidFill>
                <a:latin typeface="JetBrains Mono" pitchFamily="34" charset="0"/>
                <a:ea typeface="JetBrains Mono" pitchFamily="34" charset="-122"/>
                <a:cs typeface="JetBrains Mono" pitchFamily="34" charset="-120"/>
              </a:rPr>
              <a:t>1.84</a:t>
            </a:r>
            <a:endParaRPr lang="en-US" sz="4500" dirty="0"/>
          </a:p>
        </p:txBody>
      </p:sp>
      <p:sp>
        <p:nvSpPr>
          <p:cNvPr id="19" name="Text 9"/>
          <p:cNvSpPr txBox="1"/>
          <p:nvPr/>
        </p:nvSpPr>
        <p:spPr>
          <a:xfrm>
            <a:off x="8081467" y="3238805"/>
            <a:ext cx="219456" cy="247802"/>
          </a:xfrm>
          <a:prstGeom prst="rect">
            <a:avLst/>
          </a:prstGeom>
          <a:noFill/>
          <a:ln/>
        </p:spPr>
        <p:txBody>
          <a:bodyPr wrap="none" lIns="0" tIns="0" rIns="0" bIns="0" rtlCol="0" anchor="ctr"/>
          <a:lstStyle/>
          <a:p>
            <a:pPr algn="l" indent="0" marL="0">
              <a:buNone/>
            </a:pPr>
            <a:r>
              <a:rPr lang="en-US" sz="1650" b="1" dirty="0">
                <a:solidFill>
                  <a:srgbClr val="94A3B8"/>
                </a:solidFill>
                <a:latin typeface="Inter" pitchFamily="34" charset="0"/>
                <a:ea typeface="Inter" pitchFamily="34" charset="-122"/>
                <a:cs typeface="Inter" pitchFamily="34" charset="-120"/>
              </a:rPr>
              <a:t>%</a:t>
            </a:r>
            <a:endParaRPr lang="en-US" sz="1650" dirty="0"/>
          </a:p>
        </p:txBody>
      </p:sp>
      <p:sp>
        <p:nvSpPr>
          <p:cNvPr id="20" name="Text 10"/>
          <p:cNvSpPr txBox="1"/>
          <p:nvPr/>
        </p:nvSpPr>
        <p:spPr>
          <a:xfrm>
            <a:off x="6667805" y="3619195"/>
            <a:ext cx="3238805" cy="152705"/>
          </a:xfrm>
          <a:prstGeom prst="rect">
            <a:avLst/>
          </a:prstGeom>
          <a:noFill/>
          <a:ln/>
        </p:spPr>
        <p:txBody>
          <a:bodyPr wrap="none" lIns="0" tIns="0" rIns="0" bIns="0" rtlCol="0" anchor="ctr"/>
          <a:lstStyle/>
          <a:p>
            <a:pPr algn="l" indent="0" marL="0">
              <a:buNone/>
            </a:pPr>
            <a:r>
              <a:rPr lang="en-US" sz="900" b="1" spc="252" kern="0" dirty="0">
                <a:solidFill>
                  <a:srgbClr val="5EEAD4"/>
                </a:solidFill>
                <a:latin typeface="JetBrains Mono" pitchFamily="34" charset="0"/>
                <a:ea typeface="JetBrains Mono" pitchFamily="34" charset="-122"/>
                <a:cs typeface="JetBrains Mono" pitchFamily="34" charset="-120"/>
              </a:rPr>
              <a:t>W1 · CONTROL</a:t>
            </a:r>
            <a:endParaRPr lang="en-US" sz="900" dirty="0"/>
          </a:p>
        </p:txBody>
      </p:sp>
      <p:pic>
        <p:nvPicPr>
          <p:cNvPr id="21" name="Image 7" descr="gen-dedup-75ac4b1574104444773725e910dbad18.png">    </p:cNvPr>
          <p:cNvPicPr>
            <a:picLocks noChangeAspect="1"/>
          </p:cNvPicPr>
          <p:nvPr/>
        </p:nvPicPr>
        <p:blipFill>
          <a:blip r:embed="rId8"/>
          <a:srcRect l="0" r="0" t="-400" b="-400"/>
          <a:stretch/>
        </p:blipFill>
        <p:spPr>
          <a:xfrm>
            <a:off x="6667805" y="3905402"/>
            <a:ext cx="2286000" cy="57607"/>
          </a:xfrm>
          <a:prstGeom prst="rect">
            <a:avLst/>
          </a:prstGeom>
        </p:spPr>
      </p:pic>
      <p:pic>
        <p:nvPicPr>
          <p:cNvPr id="22" name="Image 8" descr="gen-dedup-fc376cd893b4fa0ec78d3e621c60bbf0.png">    </p:cNvPr>
          <p:cNvPicPr>
            <a:picLocks noChangeAspect="1"/>
          </p:cNvPicPr>
          <p:nvPr/>
        </p:nvPicPr>
        <p:blipFill>
          <a:blip r:embed="rId9"/>
          <a:srcRect l="0" r="0" t="-400" b="-400"/>
          <a:stretch/>
        </p:blipFill>
        <p:spPr>
          <a:xfrm>
            <a:off x="13334695" y="7048195"/>
            <a:ext cx="914400" cy="57607"/>
          </a:xfrm>
          <a:prstGeom prst="rect">
            <a:avLst/>
          </a:prstGeom>
        </p:spPr>
      </p:pic>
      <p:sp>
        <p:nvSpPr>
          <p:cNvPr id="23" name="Text 11"/>
          <p:cNvSpPr txBox="1"/>
          <p:nvPr/>
        </p:nvSpPr>
        <p:spPr>
          <a:xfrm>
            <a:off x="10477195" y="2952598"/>
            <a:ext cx="1406347" cy="571500"/>
          </a:xfrm>
          <a:prstGeom prst="rect">
            <a:avLst/>
          </a:prstGeom>
          <a:noFill/>
          <a:ln/>
        </p:spPr>
        <p:txBody>
          <a:bodyPr wrap="none" lIns="0" tIns="0" rIns="0" bIns="0" rtlCol="0" anchor="ctr"/>
          <a:lstStyle/>
          <a:p>
            <a:pPr algn="l" indent="0" marL="0">
              <a:buNone/>
            </a:pPr>
            <a:r>
              <a:rPr lang="en-US" sz="4500" b="1" spc="-180" kern="0" dirty="0">
                <a:solidFill>
                  <a:srgbClr val="FB923C"/>
                </a:solidFill>
                <a:latin typeface="JetBrains Mono" pitchFamily="34" charset="0"/>
                <a:ea typeface="JetBrains Mono" pitchFamily="34" charset="-122"/>
                <a:cs typeface="JetBrains Mono" pitchFamily="34" charset="-120"/>
              </a:rPr>
              <a:t>3.42</a:t>
            </a:r>
            <a:endParaRPr lang="en-US" sz="4500" dirty="0"/>
          </a:p>
        </p:txBody>
      </p:sp>
      <p:sp>
        <p:nvSpPr>
          <p:cNvPr id="24" name="Text 12"/>
          <p:cNvSpPr txBox="1"/>
          <p:nvPr/>
        </p:nvSpPr>
        <p:spPr>
          <a:xfrm>
            <a:off x="11890858" y="3238805"/>
            <a:ext cx="219456" cy="247802"/>
          </a:xfrm>
          <a:prstGeom prst="rect">
            <a:avLst/>
          </a:prstGeom>
          <a:noFill/>
          <a:ln/>
        </p:spPr>
        <p:txBody>
          <a:bodyPr wrap="none" lIns="0" tIns="0" rIns="0" bIns="0" rtlCol="0" anchor="ctr"/>
          <a:lstStyle/>
          <a:p>
            <a:pPr algn="l" indent="0" marL="0">
              <a:buNone/>
            </a:pPr>
            <a:r>
              <a:rPr lang="en-US" sz="1650" b="1" dirty="0">
                <a:solidFill>
                  <a:srgbClr val="FB923C"/>
                </a:solidFill>
                <a:latin typeface="Inter" pitchFamily="34" charset="0"/>
                <a:ea typeface="Inter" pitchFamily="34" charset="-122"/>
                <a:cs typeface="Inter" pitchFamily="34" charset="-120"/>
              </a:rPr>
              <a:t>%</a:t>
            </a:r>
            <a:endParaRPr lang="en-US" sz="1650" dirty="0"/>
          </a:p>
        </p:txBody>
      </p:sp>
      <p:sp>
        <p:nvSpPr>
          <p:cNvPr id="25" name="Text 13"/>
          <p:cNvSpPr txBox="1"/>
          <p:nvPr/>
        </p:nvSpPr>
        <p:spPr>
          <a:xfrm>
            <a:off x="10477195" y="3619195"/>
            <a:ext cx="3238805" cy="152705"/>
          </a:xfrm>
          <a:prstGeom prst="rect">
            <a:avLst/>
          </a:prstGeom>
          <a:noFill/>
          <a:ln/>
        </p:spPr>
        <p:txBody>
          <a:bodyPr wrap="none" lIns="0" tIns="0" rIns="0" bIns="0" rtlCol="0" anchor="ctr"/>
          <a:lstStyle/>
          <a:p>
            <a:pPr algn="l" indent="0" marL="0">
              <a:buNone/>
            </a:pPr>
            <a:r>
              <a:rPr lang="en-US" sz="900" b="1" spc="252" kern="0" dirty="0">
                <a:solidFill>
                  <a:srgbClr val="FB923C"/>
                </a:solidFill>
                <a:latin typeface="JetBrains Mono" pitchFamily="34" charset="0"/>
                <a:ea typeface="JetBrains Mono" pitchFamily="34" charset="-122"/>
                <a:cs typeface="JetBrains Mono" pitchFamily="34" charset="-120"/>
              </a:rPr>
              <a:t>W2 · +15%</a:t>
            </a:r>
            <a:endParaRPr lang="en-US" sz="900" dirty="0"/>
          </a:p>
        </p:txBody>
      </p:sp>
      <p:pic>
        <p:nvPicPr>
          <p:cNvPr id="26" name="Image 9" descr="gen-dedup-75ac4b1574104444773725e910dbad18.png">    </p:cNvPr>
          <p:cNvPicPr>
            <a:picLocks noChangeAspect="1"/>
          </p:cNvPicPr>
          <p:nvPr/>
        </p:nvPicPr>
        <p:blipFill>
          <a:blip r:embed="rId10"/>
          <a:srcRect l="0" r="0" t="-400" b="-400"/>
          <a:stretch/>
        </p:blipFill>
        <p:spPr>
          <a:xfrm>
            <a:off x="10477195" y="3905402"/>
            <a:ext cx="2286000" cy="57607"/>
          </a:xfrm>
          <a:prstGeom prst="rect">
            <a:avLst/>
          </a:prstGeom>
        </p:spPr>
      </p:pic>
      <p:pic>
        <p:nvPicPr>
          <p:cNvPr id="27" name="Image 10" descr="gen-dedup-0a5cab8fd2bcea1b59ceca1e53426af8.png">    </p:cNvPr>
          <p:cNvPicPr>
            <a:picLocks noChangeAspect="1"/>
          </p:cNvPicPr>
          <p:nvPr/>
        </p:nvPicPr>
        <p:blipFill>
          <a:blip r:embed="rId11"/>
          <a:srcRect l="0" r="0" t="-390" b="-390"/>
          <a:stretch/>
        </p:blipFill>
        <p:spPr>
          <a:xfrm>
            <a:off x="20955305" y="7048195"/>
            <a:ext cx="1524305" cy="57607"/>
          </a:xfrm>
          <a:prstGeom prst="rect">
            <a:avLst/>
          </a:prstGeom>
        </p:spPr>
      </p:pic>
      <p:sp>
        <p:nvSpPr>
          <p:cNvPr id="28" name="Text 14"/>
          <p:cNvSpPr txBox="1"/>
          <p:nvPr/>
        </p:nvSpPr>
        <p:spPr>
          <a:xfrm>
            <a:off x="14287500" y="2952598"/>
            <a:ext cx="1406347" cy="571500"/>
          </a:xfrm>
          <a:prstGeom prst="rect">
            <a:avLst/>
          </a:prstGeom>
          <a:noFill/>
          <a:ln/>
        </p:spPr>
        <p:txBody>
          <a:bodyPr wrap="none" lIns="0" tIns="0" rIns="0" bIns="0" rtlCol="0" anchor="ctr"/>
          <a:lstStyle/>
          <a:p>
            <a:pPr algn="l" indent="0" marL="0">
              <a:buNone/>
            </a:pPr>
            <a:r>
              <a:rPr lang="en-US" sz="4500" b="1" spc="-180" kern="0" dirty="0">
                <a:solidFill>
                  <a:srgbClr val="F472B6"/>
                </a:solidFill>
                <a:latin typeface="JetBrains Mono" pitchFamily="34" charset="0"/>
                <a:ea typeface="JetBrains Mono" pitchFamily="34" charset="-122"/>
                <a:cs typeface="JetBrains Mono" pitchFamily="34" charset="-120"/>
              </a:rPr>
              <a:t>5.78</a:t>
            </a:r>
            <a:endParaRPr lang="en-US" sz="4500" dirty="0"/>
          </a:p>
        </p:txBody>
      </p:sp>
      <p:sp>
        <p:nvSpPr>
          <p:cNvPr id="29" name="Text 15"/>
          <p:cNvSpPr txBox="1"/>
          <p:nvPr/>
        </p:nvSpPr>
        <p:spPr>
          <a:xfrm>
            <a:off x="15701162" y="3238805"/>
            <a:ext cx="219456" cy="247802"/>
          </a:xfrm>
          <a:prstGeom prst="rect">
            <a:avLst/>
          </a:prstGeom>
          <a:noFill/>
          <a:ln/>
        </p:spPr>
        <p:txBody>
          <a:bodyPr wrap="none" lIns="0" tIns="0" rIns="0" bIns="0" rtlCol="0" anchor="ctr"/>
          <a:lstStyle/>
          <a:p>
            <a:pPr algn="l" indent="0" marL="0">
              <a:buNone/>
            </a:pPr>
            <a:r>
              <a:rPr lang="en-US" sz="1650" b="1" dirty="0">
                <a:solidFill>
                  <a:srgbClr val="F472B6"/>
                </a:solidFill>
                <a:latin typeface="Inter" pitchFamily="34" charset="0"/>
                <a:ea typeface="Inter" pitchFamily="34" charset="-122"/>
                <a:cs typeface="Inter" pitchFamily="34" charset="-120"/>
              </a:rPr>
              <a:t>%</a:t>
            </a:r>
            <a:endParaRPr lang="en-US" sz="1650" dirty="0"/>
          </a:p>
        </p:txBody>
      </p:sp>
      <p:sp>
        <p:nvSpPr>
          <p:cNvPr id="30" name="Text 16"/>
          <p:cNvSpPr txBox="1"/>
          <p:nvPr/>
        </p:nvSpPr>
        <p:spPr>
          <a:xfrm>
            <a:off x="14287500" y="3619195"/>
            <a:ext cx="3048610" cy="152705"/>
          </a:xfrm>
          <a:prstGeom prst="rect">
            <a:avLst/>
          </a:prstGeom>
          <a:noFill/>
          <a:ln/>
        </p:spPr>
        <p:txBody>
          <a:bodyPr wrap="none" lIns="0" tIns="0" rIns="0" bIns="0" rtlCol="0" anchor="ctr"/>
          <a:lstStyle/>
          <a:p>
            <a:pPr algn="l" indent="0" marL="0">
              <a:buNone/>
            </a:pPr>
            <a:r>
              <a:rPr lang="en-US" sz="900" b="1" spc="252" kern="0" dirty="0">
                <a:solidFill>
                  <a:srgbClr val="F472B6"/>
                </a:solidFill>
                <a:latin typeface="JetBrains Mono" pitchFamily="34" charset="0"/>
                <a:ea typeface="JetBrains Mono" pitchFamily="34" charset="-122"/>
                <a:cs typeface="JetBrains Mono" pitchFamily="34" charset="-120"/>
              </a:rPr>
              <a:t>W3 · +30%</a:t>
            </a:r>
            <a:endParaRPr lang="en-US" sz="900" dirty="0"/>
          </a:p>
        </p:txBody>
      </p:sp>
      <p:pic>
        <p:nvPicPr>
          <p:cNvPr id="31" name="Image 11" descr="gen-dedup-75ac4b1574104444773725e910dbad18.png">    </p:cNvPr>
          <p:cNvPicPr>
            <a:picLocks noChangeAspect="1"/>
          </p:cNvPicPr>
          <p:nvPr/>
        </p:nvPicPr>
        <p:blipFill>
          <a:blip r:embed="rId12"/>
          <a:srcRect l="0" r="0" t="-400" b="-400"/>
          <a:stretch/>
        </p:blipFill>
        <p:spPr>
          <a:xfrm>
            <a:off x="14287500" y="3905402"/>
            <a:ext cx="2286000" cy="57607"/>
          </a:xfrm>
          <a:prstGeom prst="rect">
            <a:avLst/>
          </a:prstGeom>
        </p:spPr>
      </p:pic>
      <p:pic>
        <p:nvPicPr>
          <p:cNvPr id="32" name="Image 12" descr="gen-dedup-9cdac25fc04aecf161c8445ed19e77e3.png">    </p:cNvPr>
          <p:cNvPicPr>
            <a:picLocks noChangeAspect="1"/>
          </p:cNvPicPr>
          <p:nvPr/>
        </p:nvPicPr>
        <p:blipFill>
          <a:blip r:embed="rId13"/>
          <a:srcRect l="0" r="0" t="-400" b="-400"/>
          <a:stretch/>
        </p:blipFill>
        <p:spPr>
          <a:xfrm>
            <a:off x="28575000" y="7048195"/>
            <a:ext cx="2286000" cy="57607"/>
          </a:xfrm>
          <a:prstGeom prst="rect">
            <a:avLst/>
          </a:prstGeom>
        </p:spPr>
      </p:pic>
      <p:sp>
        <p:nvSpPr>
          <p:cNvPr id="33" name="Text 17"/>
          <p:cNvSpPr txBox="1"/>
          <p:nvPr/>
        </p:nvSpPr>
        <p:spPr>
          <a:xfrm>
            <a:off x="1047902" y="5753405"/>
            <a:ext cx="6667805"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AASI · DETAIL BREAKDOWN</a:t>
            </a:r>
            <a:endParaRPr lang="en-US" sz="825" dirty="0"/>
          </a:p>
        </p:txBody>
      </p:sp>
      <p:sp>
        <p:nvSpPr>
          <p:cNvPr id="34" name="Text 18"/>
          <p:cNvSpPr txBox="1"/>
          <p:nvPr/>
        </p:nvSpPr>
        <p:spPr>
          <a:xfrm>
            <a:off x="1047902" y="5982005"/>
            <a:ext cx="6667805" cy="305410"/>
          </a:xfrm>
          <a:prstGeom prst="rect">
            <a:avLst/>
          </a:prstGeom>
          <a:noFill/>
          <a:ln/>
        </p:spPr>
        <p:txBody>
          <a:bodyPr wrap="none" lIns="0" tIns="0" rIns="0" bIns="0" rtlCol="0" anchor="ctr"/>
          <a:lstStyle/>
          <a:p>
            <a:pPr algn="l" indent="0" marL="0">
              <a:buNone/>
            </a:pPr>
            <a:r>
              <a:rPr lang="en-US" sz="1650" b="1" dirty="0">
                <a:solidFill>
                  <a:srgbClr val="E8EDF5"/>
                </a:solidFill>
                <a:latin typeface="Inter" pitchFamily="34" charset="0"/>
                <a:ea typeface="Inter" pitchFamily="34" charset="-122"/>
                <a:cs typeface="Inter" pitchFamily="34" charset="-120"/>
              </a:rPr>
              <a:t>Wafer별 25-site 통계</a:t>
            </a:r>
            <a:endParaRPr lang="en-US" sz="1650" dirty="0"/>
          </a:p>
        </p:txBody>
      </p:sp>
      <p:sp>
        <p:nvSpPr>
          <p:cNvPr id="35" name="Text 19"/>
          <p:cNvSpPr txBox="1"/>
          <p:nvPr/>
        </p:nvSpPr>
        <p:spPr>
          <a:xfrm>
            <a:off x="1333195" y="6286500"/>
            <a:ext cx="1905610" cy="457200"/>
          </a:xfrm>
          <a:prstGeom prst="rect">
            <a:avLst/>
          </a:prstGeom>
          <a:noFill/>
          <a:ln/>
        </p:spPr>
        <p:txBody>
          <a:bodyPr wrap="none" lIns="0" tIns="0" rIns="0" bIns="0" rtlCol="0" anchor="ctr"/>
          <a:lstStyle/>
          <a:p>
            <a:pPr algn="l" indent="0" marL="0">
              <a:buNone/>
            </a:pPr>
            <a:r>
              <a:rPr lang="en-US" sz="975" b="1" spc="78" kern="0" dirty="0">
                <a:solidFill>
                  <a:srgbClr val="94A3B8"/>
                </a:solidFill>
                <a:latin typeface="Inter" pitchFamily="34" charset="0"/>
                <a:ea typeface="Inter" pitchFamily="34" charset="-122"/>
                <a:cs typeface="Inter" pitchFamily="34" charset="-120"/>
              </a:rPr>
              <a:t>METRIC</a:t>
            </a:r>
            <a:endParaRPr lang="en-US" sz="975" dirty="0"/>
          </a:p>
        </p:txBody>
      </p:sp>
      <p:sp>
        <p:nvSpPr>
          <p:cNvPr id="36" name="Text 20"/>
          <p:cNvSpPr txBox="1"/>
          <p:nvPr/>
        </p:nvSpPr>
        <p:spPr>
          <a:xfrm>
            <a:off x="3619195" y="6286500"/>
            <a:ext cx="1714500"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W1</a:t>
            </a:r>
            <a:endParaRPr lang="en-US" sz="975" dirty="0"/>
          </a:p>
        </p:txBody>
      </p:sp>
      <p:sp>
        <p:nvSpPr>
          <p:cNvPr id="37" name="Text 21"/>
          <p:cNvSpPr txBox="1"/>
          <p:nvPr/>
        </p:nvSpPr>
        <p:spPr>
          <a:xfrm>
            <a:off x="5524805" y="6286500"/>
            <a:ext cx="1714500"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W2</a:t>
            </a:r>
            <a:endParaRPr lang="en-US" sz="975" dirty="0"/>
          </a:p>
        </p:txBody>
      </p:sp>
      <p:sp>
        <p:nvSpPr>
          <p:cNvPr id="38" name="Text 22"/>
          <p:cNvSpPr txBox="1"/>
          <p:nvPr/>
        </p:nvSpPr>
        <p:spPr>
          <a:xfrm>
            <a:off x="7429500" y="6286500"/>
            <a:ext cx="1714500"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W3</a:t>
            </a:r>
            <a:endParaRPr lang="en-US" sz="975" dirty="0"/>
          </a:p>
        </p:txBody>
      </p:sp>
      <p:sp>
        <p:nvSpPr>
          <p:cNvPr id="39" name="Text 23"/>
          <p:cNvSpPr txBox="1"/>
          <p:nvPr/>
        </p:nvSpPr>
        <p:spPr>
          <a:xfrm>
            <a:off x="9525305" y="6286500"/>
            <a:ext cx="2286000"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W2 vs W1</a:t>
            </a:r>
            <a:endParaRPr lang="en-US" sz="975" dirty="0"/>
          </a:p>
        </p:txBody>
      </p:sp>
      <p:sp>
        <p:nvSpPr>
          <p:cNvPr id="40" name="Text 24"/>
          <p:cNvSpPr txBox="1"/>
          <p:nvPr/>
        </p:nvSpPr>
        <p:spPr>
          <a:xfrm>
            <a:off x="12001500" y="6286500"/>
            <a:ext cx="2667305"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W3 vs W1</a:t>
            </a:r>
            <a:endParaRPr lang="en-US" sz="975" dirty="0"/>
          </a:p>
        </p:txBody>
      </p:sp>
      <p:sp>
        <p:nvSpPr>
          <p:cNvPr id="41" name="Text 25"/>
          <p:cNvSpPr txBox="1"/>
          <p:nvPr/>
        </p:nvSpPr>
        <p:spPr>
          <a:xfrm>
            <a:off x="14859000" y="6286500"/>
            <a:ext cx="2286000" cy="457200"/>
          </a:xfrm>
          <a:prstGeom prst="rect">
            <a:avLst/>
          </a:prstGeom>
          <a:noFill/>
          <a:ln/>
        </p:spPr>
        <p:txBody>
          <a:bodyPr wrap="none" lIns="0" tIns="0" rIns="0" bIns="0" rtlCol="0" anchor="ctr"/>
          <a:lstStyle/>
          <a:p>
            <a:pPr algn="ctr" indent="0" marL="0">
              <a:buNone/>
            </a:pPr>
            <a:r>
              <a:rPr lang="en-US" sz="975" b="1" dirty="0">
                <a:solidFill>
                  <a:srgbClr val="94A3B8"/>
                </a:solidFill>
                <a:latin typeface="Inter" pitchFamily="34" charset="0"/>
                <a:ea typeface="Inter" pitchFamily="34" charset="-122"/>
                <a:cs typeface="Inter" pitchFamily="34" charset="-120"/>
              </a:rPr>
              <a:t>NOTES</a:t>
            </a:r>
            <a:endParaRPr lang="en-US" sz="975" dirty="0"/>
          </a:p>
        </p:txBody>
      </p:sp>
      <p:sp>
        <p:nvSpPr>
          <p:cNvPr id="42" name="Text 26"/>
          <p:cNvSpPr txBox="1"/>
          <p:nvPr/>
        </p:nvSpPr>
        <p:spPr>
          <a:xfrm>
            <a:off x="1333195" y="6858000"/>
            <a:ext cx="1905610" cy="342900"/>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Mean (nm)</a:t>
            </a:r>
            <a:endParaRPr lang="en-US" sz="1125" dirty="0"/>
          </a:p>
        </p:txBody>
      </p:sp>
      <p:sp>
        <p:nvSpPr>
          <p:cNvPr id="43" name="Text 27"/>
          <p:cNvSpPr txBox="1"/>
          <p:nvPr/>
        </p:nvSpPr>
        <p:spPr>
          <a:xfrm>
            <a:off x="3619195" y="6858000"/>
            <a:ext cx="1714500" cy="342900"/>
          </a:xfrm>
          <a:prstGeom prst="rect">
            <a:avLst/>
          </a:prstGeom>
          <a:noFill/>
          <a:ln/>
        </p:spPr>
        <p:txBody>
          <a:bodyPr wrap="none" lIns="0" tIns="0" rIns="0" bIns="0" rtlCol="0" anchor="ctr"/>
          <a:lstStyle/>
          <a:p>
            <a:pPr algn="ctr" indent="0" marL="0">
              <a:buNone/>
            </a:pPr>
            <a:r>
              <a:rPr lang="en-US" sz="1350" dirty="0">
                <a:solidFill>
                  <a:srgbClr val="5EEAD4"/>
                </a:solidFill>
                <a:latin typeface="JetBrains Mono" pitchFamily="34" charset="0"/>
                <a:ea typeface="JetBrains Mono" pitchFamily="34" charset="-122"/>
                <a:cs typeface="JetBrains Mono" pitchFamily="34" charset="-120"/>
              </a:rPr>
              <a:t>24.1</a:t>
            </a:r>
            <a:endParaRPr lang="en-US" sz="1350" dirty="0"/>
          </a:p>
        </p:txBody>
      </p:sp>
      <p:sp>
        <p:nvSpPr>
          <p:cNvPr id="44" name="Text 28"/>
          <p:cNvSpPr txBox="1"/>
          <p:nvPr/>
        </p:nvSpPr>
        <p:spPr>
          <a:xfrm>
            <a:off x="5524805" y="6858000"/>
            <a:ext cx="1714500" cy="342900"/>
          </a:xfrm>
          <a:prstGeom prst="rect">
            <a:avLst/>
          </a:prstGeom>
          <a:noFill/>
          <a:ln/>
        </p:spPr>
        <p:txBody>
          <a:bodyPr wrap="none" lIns="0" tIns="0" rIns="0" bIns="0" rtlCol="0" anchor="ctr"/>
          <a:lstStyle/>
          <a:p>
            <a:pPr algn="ctr" indent="0" marL="0">
              <a:buNone/>
            </a:pPr>
            <a:r>
              <a:rPr lang="en-US" sz="1350" dirty="0">
                <a:solidFill>
                  <a:srgbClr val="FB923C"/>
                </a:solidFill>
                <a:latin typeface="JetBrains Mono" pitchFamily="34" charset="0"/>
                <a:ea typeface="JetBrains Mono" pitchFamily="34" charset="-122"/>
                <a:cs typeface="JetBrains Mono" pitchFamily="34" charset="-120"/>
              </a:rPr>
              <a:t>23.7</a:t>
            </a:r>
            <a:endParaRPr lang="en-US" sz="1350" dirty="0"/>
          </a:p>
        </p:txBody>
      </p:sp>
      <p:sp>
        <p:nvSpPr>
          <p:cNvPr id="45" name="Text 29"/>
          <p:cNvSpPr txBox="1"/>
          <p:nvPr/>
        </p:nvSpPr>
        <p:spPr>
          <a:xfrm>
            <a:off x="7429500" y="6858000"/>
            <a:ext cx="1714500" cy="342900"/>
          </a:xfrm>
          <a:prstGeom prst="rect">
            <a:avLst/>
          </a:prstGeom>
          <a:noFill/>
          <a:ln/>
        </p:spPr>
        <p:txBody>
          <a:bodyPr wrap="none" lIns="0" tIns="0" rIns="0" bIns="0" rtlCol="0" anchor="ctr"/>
          <a:lstStyle/>
          <a:p>
            <a:pPr algn="ctr" indent="0" marL="0">
              <a:buNone/>
            </a:pPr>
            <a:r>
              <a:rPr lang="en-US" sz="1350" dirty="0">
                <a:solidFill>
                  <a:srgbClr val="F472B6"/>
                </a:solidFill>
                <a:latin typeface="JetBrains Mono" pitchFamily="34" charset="0"/>
                <a:ea typeface="JetBrains Mono" pitchFamily="34" charset="-122"/>
                <a:cs typeface="JetBrains Mono" pitchFamily="34" charset="-120"/>
              </a:rPr>
              <a:t>23.2</a:t>
            </a:r>
            <a:endParaRPr lang="en-US" sz="1350" dirty="0"/>
          </a:p>
        </p:txBody>
      </p:sp>
      <p:sp>
        <p:nvSpPr>
          <p:cNvPr id="46" name="Text 30"/>
          <p:cNvSpPr txBox="1"/>
          <p:nvPr/>
        </p:nvSpPr>
        <p:spPr>
          <a:xfrm>
            <a:off x="9525305" y="6858000"/>
            <a:ext cx="2286000" cy="342900"/>
          </a:xfrm>
          <a:prstGeom prst="rect">
            <a:avLst/>
          </a:prstGeom>
          <a:noFill/>
          <a:ln/>
        </p:spPr>
        <p:txBody>
          <a:bodyPr wrap="none" lIns="0" tIns="0" rIns="0" bIns="0" rtlCol="0" anchor="ctr"/>
          <a:lstStyle/>
          <a:p>
            <a:pPr algn="ctr" indent="0" marL="0">
              <a:buNone/>
            </a:pPr>
            <a:r>
              <a:rPr lang="en-US" sz="1200" dirty="0">
                <a:solidFill>
                  <a:srgbClr val="FB923C"/>
                </a:solidFill>
                <a:latin typeface="JetBrains Mono" pitchFamily="34" charset="0"/>
                <a:ea typeface="JetBrains Mono" pitchFamily="34" charset="-122"/>
                <a:cs typeface="JetBrains Mono" pitchFamily="34" charset="-120"/>
              </a:rPr>
              <a:t>−0.4</a:t>
            </a:r>
            <a:endParaRPr lang="en-US" sz="1200" dirty="0"/>
          </a:p>
        </p:txBody>
      </p:sp>
      <p:sp>
        <p:nvSpPr>
          <p:cNvPr id="47" name="Text 31"/>
          <p:cNvSpPr txBox="1"/>
          <p:nvPr/>
        </p:nvSpPr>
        <p:spPr>
          <a:xfrm>
            <a:off x="12001500" y="6858000"/>
            <a:ext cx="2667305" cy="342900"/>
          </a:xfrm>
          <a:prstGeom prst="rect">
            <a:avLst/>
          </a:prstGeom>
          <a:noFill/>
          <a:ln/>
        </p:spPr>
        <p:txBody>
          <a:bodyPr wrap="none" lIns="0" tIns="0" rIns="0" bIns="0" rtlCol="0" anchor="ctr"/>
          <a:lstStyle/>
          <a:p>
            <a:pPr algn="ctr" indent="0" marL="0">
              <a:buNone/>
            </a:pPr>
            <a:r>
              <a:rPr lang="en-US" sz="1200" dirty="0">
                <a:solidFill>
                  <a:srgbClr val="F472B6"/>
                </a:solidFill>
                <a:latin typeface="JetBrains Mono" pitchFamily="34" charset="0"/>
                <a:ea typeface="JetBrains Mono" pitchFamily="34" charset="-122"/>
                <a:cs typeface="JetBrains Mono" pitchFamily="34" charset="-120"/>
              </a:rPr>
              <a:t>−0.9</a:t>
            </a:r>
            <a:endParaRPr lang="en-US" sz="1200" dirty="0"/>
          </a:p>
        </p:txBody>
      </p:sp>
      <p:sp>
        <p:nvSpPr>
          <p:cNvPr id="48" name="Text 32"/>
          <p:cNvSpPr txBox="1"/>
          <p:nvPr/>
        </p:nvSpPr>
        <p:spPr>
          <a:xfrm>
            <a:off x="14859000" y="6858000"/>
            <a:ext cx="2286000" cy="342900"/>
          </a:xfrm>
          <a:prstGeom prst="rect">
            <a:avLst/>
          </a:prstGeom>
          <a:noFill/>
          <a:ln/>
        </p:spPr>
        <p:txBody>
          <a:bodyPr wrap="none" lIns="0" tIns="0" rIns="0" bIns="0" rtlCol="0" anchor="ctr"/>
          <a:lstStyle/>
          <a:p>
            <a:pPr algn="ctr" indent="0" marL="0">
              <a:buNone/>
            </a:pPr>
            <a:r>
              <a:rPr lang="en-US" sz="975" dirty="0">
                <a:solidFill>
                  <a:srgbClr val="94A3B8"/>
                </a:solidFill>
                <a:latin typeface="Inter" pitchFamily="34" charset="0"/>
                <a:ea typeface="Inter" pitchFamily="34" charset="-122"/>
                <a:cs typeface="Inter" pitchFamily="34" charset="-120"/>
              </a:rPr>
              <a:t>shrinks with etch</a:t>
            </a:r>
            <a:endParaRPr lang="en-US" sz="975" dirty="0"/>
          </a:p>
        </p:txBody>
      </p:sp>
      <p:sp>
        <p:nvSpPr>
          <p:cNvPr id="49" name="Text 33"/>
          <p:cNvSpPr txBox="1"/>
          <p:nvPr/>
        </p:nvSpPr>
        <p:spPr>
          <a:xfrm>
            <a:off x="1333195" y="7258507"/>
            <a:ext cx="1905610" cy="342900"/>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3σ (nm)</a:t>
            </a:r>
            <a:endParaRPr lang="en-US" sz="1125" dirty="0"/>
          </a:p>
        </p:txBody>
      </p:sp>
      <p:sp>
        <p:nvSpPr>
          <p:cNvPr id="50" name="Text 34"/>
          <p:cNvSpPr txBox="1"/>
          <p:nvPr/>
        </p:nvSpPr>
        <p:spPr>
          <a:xfrm>
            <a:off x="3619195" y="7258507"/>
            <a:ext cx="1714500" cy="342900"/>
          </a:xfrm>
          <a:prstGeom prst="rect">
            <a:avLst/>
          </a:prstGeom>
          <a:noFill/>
          <a:ln/>
        </p:spPr>
        <p:txBody>
          <a:bodyPr wrap="none" lIns="0" tIns="0" rIns="0" bIns="0" rtlCol="0" anchor="ctr"/>
          <a:lstStyle/>
          <a:p>
            <a:pPr algn="ctr" indent="0" marL="0">
              <a:buNone/>
            </a:pPr>
            <a:r>
              <a:rPr lang="en-US" sz="1350" dirty="0">
                <a:solidFill>
                  <a:srgbClr val="5EEAD4"/>
                </a:solidFill>
                <a:latin typeface="JetBrains Mono" pitchFamily="34" charset="0"/>
                <a:ea typeface="JetBrains Mono" pitchFamily="34" charset="-122"/>
                <a:cs typeface="JetBrains Mono" pitchFamily="34" charset="-120"/>
              </a:rPr>
              <a:t>0.45</a:t>
            </a:r>
            <a:endParaRPr lang="en-US" sz="1350" dirty="0"/>
          </a:p>
        </p:txBody>
      </p:sp>
      <p:sp>
        <p:nvSpPr>
          <p:cNvPr id="51" name="Text 35"/>
          <p:cNvSpPr txBox="1"/>
          <p:nvPr/>
        </p:nvSpPr>
        <p:spPr>
          <a:xfrm>
            <a:off x="5524805" y="7258507"/>
            <a:ext cx="1714500" cy="342900"/>
          </a:xfrm>
          <a:prstGeom prst="rect">
            <a:avLst/>
          </a:prstGeom>
          <a:noFill/>
          <a:ln/>
        </p:spPr>
        <p:txBody>
          <a:bodyPr wrap="none" lIns="0" tIns="0" rIns="0" bIns="0" rtlCol="0" anchor="ctr"/>
          <a:lstStyle/>
          <a:p>
            <a:pPr algn="ctr" indent="0" marL="0">
              <a:buNone/>
            </a:pPr>
            <a:r>
              <a:rPr lang="en-US" sz="1350" dirty="0">
                <a:solidFill>
                  <a:srgbClr val="FB923C"/>
                </a:solidFill>
                <a:latin typeface="JetBrains Mono" pitchFamily="34" charset="0"/>
                <a:ea typeface="JetBrains Mono" pitchFamily="34" charset="-122"/>
                <a:cs typeface="JetBrains Mono" pitchFamily="34" charset="-120"/>
              </a:rPr>
              <a:t>0.81</a:t>
            </a:r>
            <a:endParaRPr lang="en-US" sz="1350" dirty="0"/>
          </a:p>
        </p:txBody>
      </p:sp>
      <p:sp>
        <p:nvSpPr>
          <p:cNvPr id="52" name="Text 36"/>
          <p:cNvSpPr txBox="1"/>
          <p:nvPr/>
        </p:nvSpPr>
        <p:spPr>
          <a:xfrm>
            <a:off x="7429500" y="7258507"/>
            <a:ext cx="1714500" cy="342900"/>
          </a:xfrm>
          <a:prstGeom prst="rect">
            <a:avLst/>
          </a:prstGeom>
          <a:noFill/>
          <a:ln/>
        </p:spPr>
        <p:txBody>
          <a:bodyPr wrap="none" lIns="0" tIns="0" rIns="0" bIns="0" rtlCol="0" anchor="ctr"/>
          <a:lstStyle/>
          <a:p>
            <a:pPr algn="ctr" indent="0" marL="0">
              <a:buNone/>
            </a:pPr>
            <a:r>
              <a:rPr lang="en-US" sz="1350" dirty="0">
                <a:solidFill>
                  <a:srgbClr val="F472B6"/>
                </a:solidFill>
                <a:latin typeface="JetBrains Mono" pitchFamily="34" charset="0"/>
                <a:ea typeface="JetBrains Mono" pitchFamily="34" charset="-122"/>
                <a:cs typeface="JetBrains Mono" pitchFamily="34" charset="-120"/>
              </a:rPr>
              <a:t>1.34</a:t>
            </a:r>
            <a:endParaRPr lang="en-US" sz="1350" dirty="0"/>
          </a:p>
        </p:txBody>
      </p:sp>
      <p:sp>
        <p:nvSpPr>
          <p:cNvPr id="53" name="Text 37"/>
          <p:cNvSpPr txBox="1"/>
          <p:nvPr/>
        </p:nvSpPr>
        <p:spPr>
          <a:xfrm>
            <a:off x="9525305" y="7258507"/>
            <a:ext cx="2286000" cy="342900"/>
          </a:xfrm>
          <a:prstGeom prst="rect">
            <a:avLst/>
          </a:prstGeom>
          <a:noFill/>
          <a:ln/>
        </p:spPr>
        <p:txBody>
          <a:bodyPr wrap="none" lIns="0" tIns="0" rIns="0" bIns="0" rtlCol="0" anchor="ctr"/>
          <a:lstStyle/>
          <a:p>
            <a:pPr algn="ctr" indent="0" marL="0">
              <a:buNone/>
            </a:pPr>
            <a:r>
              <a:rPr lang="en-US" sz="1200" dirty="0">
                <a:solidFill>
                  <a:srgbClr val="FB923C"/>
                </a:solidFill>
                <a:latin typeface="JetBrains Mono" pitchFamily="34" charset="0"/>
                <a:ea typeface="JetBrains Mono" pitchFamily="34" charset="-122"/>
                <a:cs typeface="JetBrains Mono" pitchFamily="34" charset="-120"/>
              </a:rPr>
              <a:t>+80 %</a:t>
            </a:r>
            <a:endParaRPr lang="en-US" sz="1200" dirty="0"/>
          </a:p>
        </p:txBody>
      </p:sp>
      <p:sp>
        <p:nvSpPr>
          <p:cNvPr id="54" name="Text 38"/>
          <p:cNvSpPr txBox="1"/>
          <p:nvPr/>
        </p:nvSpPr>
        <p:spPr>
          <a:xfrm>
            <a:off x="12001500" y="7258507"/>
            <a:ext cx="2667305" cy="342900"/>
          </a:xfrm>
          <a:prstGeom prst="rect">
            <a:avLst/>
          </a:prstGeom>
          <a:noFill/>
          <a:ln/>
        </p:spPr>
        <p:txBody>
          <a:bodyPr wrap="none" lIns="0" tIns="0" rIns="0" bIns="0" rtlCol="0" anchor="ctr"/>
          <a:lstStyle/>
          <a:p>
            <a:pPr algn="ctr" indent="0" marL="0">
              <a:buNone/>
            </a:pPr>
            <a:r>
              <a:rPr lang="en-US" sz="1200" dirty="0">
                <a:solidFill>
                  <a:srgbClr val="F472B6"/>
                </a:solidFill>
                <a:latin typeface="JetBrains Mono" pitchFamily="34" charset="0"/>
                <a:ea typeface="JetBrains Mono" pitchFamily="34" charset="-122"/>
                <a:cs typeface="JetBrains Mono" pitchFamily="34" charset="-120"/>
              </a:rPr>
              <a:t>+198 %</a:t>
            </a:r>
            <a:endParaRPr lang="en-US" sz="1200" dirty="0"/>
          </a:p>
        </p:txBody>
      </p:sp>
      <p:sp>
        <p:nvSpPr>
          <p:cNvPr id="55" name="Text 39"/>
          <p:cNvSpPr txBox="1"/>
          <p:nvPr/>
        </p:nvSpPr>
        <p:spPr>
          <a:xfrm>
            <a:off x="14859000" y="7258507"/>
            <a:ext cx="2286000" cy="342900"/>
          </a:xfrm>
          <a:prstGeom prst="rect">
            <a:avLst/>
          </a:prstGeom>
          <a:noFill/>
          <a:ln/>
        </p:spPr>
        <p:txBody>
          <a:bodyPr wrap="none" lIns="0" tIns="0" rIns="0" bIns="0" rtlCol="0" anchor="ctr"/>
          <a:lstStyle/>
          <a:p>
            <a:pPr algn="ctr" indent="0" marL="0">
              <a:buNone/>
            </a:pPr>
            <a:r>
              <a:rPr lang="en-US" sz="975" dirty="0">
                <a:solidFill>
                  <a:srgbClr val="94A3B8"/>
                </a:solidFill>
                <a:latin typeface="Inter" pitchFamily="34" charset="0"/>
                <a:ea typeface="Inter" pitchFamily="34" charset="-122"/>
                <a:cs typeface="Inter" pitchFamily="34" charset="-120"/>
              </a:rPr>
              <a:t>sharp rise at W3</a:t>
            </a:r>
            <a:endParaRPr lang="en-US" sz="975" dirty="0"/>
          </a:p>
        </p:txBody>
      </p:sp>
      <p:sp>
        <p:nvSpPr>
          <p:cNvPr id="56" name="Text 40"/>
          <p:cNvSpPr txBox="1"/>
          <p:nvPr/>
        </p:nvSpPr>
        <p:spPr>
          <a:xfrm>
            <a:off x="1333195" y="7658100"/>
            <a:ext cx="1905610" cy="342900"/>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NIU (%)</a:t>
            </a:r>
            <a:endParaRPr lang="en-US" sz="1125" dirty="0"/>
          </a:p>
        </p:txBody>
      </p:sp>
      <p:sp>
        <p:nvSpPr>
          <p:cNvPr id="57" name="Text 41"/>
          <p:cNvSpPr txBox="1"/>
          <p:nvPr/>
        </p:nvSpPr>
        <p:spPr>
          <a:xfrm>
            <a:off x="3619195" y="7658100"/>
            <a:ext cx="1714500" cy="342900"/>
          </a:xfrm>
          <a:prstGeom prst="rect">
            <a:avLst/>
          </a:prstGeom>
          <a:noFill/>
          <a:ln/>
        </p:spPr>
        <p:txBody>
          <a:bodyPr wrap="none" lIns="0" tIns="0" rIns="0" bIns="0" rtlCol="0" anchor="ctr"/>
          <a:lstStyle/>
          <a:p>
            <a:pPr algn="ctr" indent="0" marL="0">
              <a:buNone/>
            </a:pPr>
            <a:r>
              <a:rPr lang="en-US" sz="1350" dirty="0">
                <a:solidFill>
                  <a:srgbClr val="5EEAD4"/>
                </a:solidFill>
                <a:latin typeface="JetBrains Mono" pitchFamily="34" charset="0"/>
                <a:ea typeface="JetBrains Mono" pitchFamily="34" charset="-122"/>
                <a:cs typeface="JetBrains Mono" pitchFamily="34" charset="-120"/>
              </a:rPr>
              <a:t>1.84</a:t>
            </a:r>
            <a:endParaRPr lang="en-US" sz="1350" dirty="0"/>
          </a:p>
        </p:txBody>
      </p:sp>
      <p:sp>
        <p:nvSpPr>
          <p:cNvPr id="58" name="Text 42"/>
          <p:cNvSpPr txBox="1"/>
          <p:nvPr/>
        </p:nvSpPr>
        <p:spPr>
          <a:xfrm>
            <a:off x="5524805" y="7658100"/>
            <a:ext cx="1714500" cy="342900"/>
          </a:xfrm>
          <a:prstGeom prst="rect">
            <a:avLst/>
          </a:prstGeom>
          <a:noFill/>
          <a:ln/>
        </p:spPr>
        <p:txBody>
          <a:bodyPr wrap="none" lIns="0" tIns="0" rIns="0" bIns="0" rtlCol="0" anchor="ctr"/>
          <a:lstStyle/>
          <a:p>
            <a:pPr algn="ctr" indent="0" marL="0">
              <a:buNone/>
            </a:pPr>
            <a:r>
              <a:rPr lang="en-US" sz="1350" dirty="0">
                <a:solidFill>
                  <a:srgbClr val="FB923C"/>
                </a:solidFill>
                <a:latin typeface="JetBrains Mono" pitchFamily="34" charset="0"/>
                <a:ea typeface="JetBrains Mono" pitchFamily="34" charset="-122"/>
                <a:cs typeface="JetBrains Mono" pitchFamily="34" charset="-120"/>
              </a:rPr>
              <a:t>3.42</a:t>
            </a:r>
            <a:endParaRPr lang="en-US" sz="1350" dirty="0"/>
          </a:p>
        </p:txBody>
      </p:sp>
      <p:sp>
        <p:nvSpPr>
          <p:cNvPr id="59" name="Text 43"/>
          <p:cNvSpPr txBox="1"/>
          <p:nvPr/>
        </p:nvSpPr>
        <p:spPr>
          <a:xfrm>
            <a:off x="7429500" y="7658100"/>
            <a:ext cx="1714500" cy="342900"/>
          </a:xfrm>
          <a:prstGeom prst="rect">
            <a:avLst/>
          </a:prstGeom>
          <a:noFill/>
          <a:ln/>
        </p:spPr>
        <p:txBody>
          <a:bodyPr wrap="none" lIns="0" tIns="0" rIns="0" bIns="0" rtlCol="0" anchor="ctr"/>
          <a:lstStyle/>
          <a:p>
            <a:pPr algn="ctr" indent="0" marL="0">
              <a:buNone/>
            </a:pPr>
            <a:r>
              <a:rPr lang="en-US" sz="1350" dirty="0">
                <a:solidFill>
                  <a:srgbClr val="F472B6"/>
                </a:solidFill>
                <a:latin typeface="JetBrains Mono" pitchFamily="34" charset="0"/>
                <a:ea typeface="JetBrains Mono" pitchFamily="34" charset="-122"/>
                <a:cs typeface="JetBrains Mono" pitchFamily="34" charset="-120"/>
              </a:rPr>
              <a:t>5.78</a:t>
            </a:r>
            <a:endParaRPr lang="en-US" sz="1350" dirty="0"/>
          </a:p>
        </p:txBody>
      </p:sp>
      <p:sp>
        <p:nvSpPr>
          <p:cNvPr id="60" name="Text 44"/>
          <p:cNvSpPr txBox="1"/>
          <p:nvPr/>
        </p:nvSpPr>
        <p:spPr>
          <a:xfrm>
            <a:off x="9525305" y="7658100"/>
            <a:ext cx="2286000" cy="342900"/>
          </a:xfrm>
          <a:prstGeom prst="rect">
            <a:avLst/>
          </a:prstGeom>
          <a:noFill/>
          <a:ln/>
        </p:spPr>
        <p:txBody>
          <a:bodyPr wrap="none" lIns="0" tIns="0" rIns="0" bIns="0" rtlCol="0" anchor="ctr"/>
          <a:lstStyle/>
          <a:p>
            <a:pPr algn="ctr" indent="0" marL="0">
              <a:buNone/>
            </a:pPr>
            <a:r>
              <a:rPr lang="en-US" sz="1200" dirty="0">
                <a:solidFill>
                  <a:srgbClr val="FB923C"/>
                </a:solidFill>
                <a:latin typeface="JetBrains Mono" pitchFamily="34" charset="0"/>
                <a:ea typeface="JetBrains Mono" pitchFamily="34" charset="-122"/>
                <a:cs typeface="JetBrains Mono" pitchFamily="34" charset="-120"/>
              </a:rPr>
              <a:t>+1.58 pp</a:t>
            </a:r>
            <a:endParaRPr lang="en-US" sz="1200" dirty="0"/>
          </a:p>
        </p:txBody>
      </p:sp>
      <p:sp>
        <p:nvSpPr>
          <p:cNvPr id="61" name="Text 45"/>
          <p:cNvSpPr txBox="1"/>
          <p:nvPr/>
        </p:nvSpPr>
        <p:spPr>
          <a:xfrm>
            <a:off x="12001500" y="7658100"/>
            <a:ext cx="2667305" cy="342900"/>
          </a:xfrm>
          <a:prstGeom prst="rect">
            <a:avLst/>
          </a:prstGeom>
          <a:noFill/>
          <a:ln/>
        </p:spPr>
        <p:txBody>
          <a:bodyPr wrap="none" lIns="0" tIns="0" rIns="0" bIns="0" rtlCol="0" anchor="ctr"/>
          <a:lstStyle/>
          <a:p>
            <a:pPr algn="ctr" indent="0" marL="0">
              <a:buNone/>
            </a:pPr>
            <a:r>
              <a:rPr lang="en-US" sz="1200" dirty="0">
                <a:solidFill>
                  <a:srgbClr val="F472B6"/>
                </a:solidFill>
                <a:latin typeface="JetBrains Mono" pitchFamily="34" charset="0"/>
                <a:ea typeface="JetBrains Mono" pitchFamily="34" charset="-122"/>
                <a:cs typeface="JetBrains Mono" pitchFamily="34" charset="-120"/>
              </a:rPr>
              <a:t>+3.94 pp</a:t>
            </a:r>
            <a:endParaRPr lang="en-US" sz="1200" dirty="0"/>
          </a:p>
        </p:txBody>
      </p:sp>
      <p:sp>
        <p:nvSpPr>
          <p:cNvPr id="62" name="Text 46"/>
          <p:cNvSpPr txBox="1"/>
          <p:nvPr/>
        </p:nvSpPr>
        <p:spPr>
          <a:xfrm>
            <a:off x="14859000" y="7658100"/>
            <a:ext cx="2286000" cy="342900"/>
          </a:xfrm>
          <a:prstGeom prst="rect">
            <a:avLst/>
          </a:prstGeom>
          <a:noFill/>
          <a:ln/>
        </p:spPr>
        <p:txBody>
          <a:bodyPr wrap="none" lIns="0" tIns="0" rIns="0" bIns="0" rtlCol="0" anchor="ctr"/>
          <a:lstStyle/>
          <a:p>
            <a:pPr algn="ctr" indent="0" marL="0">
              <a:buNone/>
            </a:pPr>
            <a:r>
              <a:rPr lang="en-US" sz="975" dirty="0">
                <a:solidFill>
                  <a:srgbClr val="94A3B8"/>
                </a:solidFill>
                <a:latin typeface="Inter" pitchFamily="34" charset="0"/>
                <a:ea typeface="Inter" pitchFamily="34" charset="-122"/>
                <a:cs typeface="Inter" pitchFamily="34" charset="-120"/>
              </a:rPr>
              <a:t>progressive degrade</a:t>
            </a:r>
            <a:endParaRPr lang="en-US" sz="975" dirty="0"/>
          </a:p>
        </p:txBody>
      </p:sp>
      <p:sp>
        <p:nvSpPr>
          <p:cNvPr id="63" name="Text 47"/>
          <p:cNvSpPr txBox="1"/>
          <p:nvPr/>
        </p:nvSpPr>
        <p:spPr>
          <a:xfrm>
            <a:off x="1333195" y="8058607"/>
            <a:ext cx="1905610" cy="342900"/>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Min (nm)</a:t>
            </a:r>
            <a:endParaRPr lang="en-US" sz="1125" dirty="0"/>
          </a:p>
        </p:txBody>
      </p:sp>
      <p:sp>
        <p:nvSpPr>
          <p:cNvPr id="64" name="Text 48"/>
          <p:cNvSpPr txBox="1"/>
          <p:nvPr/>
        </p:nvSpPr>
        <p:spPr>
          <a:xfrm>
            <a:off x="3619195" y="8058607"/>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22.7</a:t>
            </a:r>
            <a:endParaRPr lang="en-US" sz="1350" dirty="0"/>
          </a:p>
        </p:txBody>
      </p:sp>
      <p:sp>
        <p:nvSpPr>
          <p:cNvPr id="65" name="Text 49"/>
          <p:cNvSpPr txBox="1"/>
          <p:nvPr/>
        </p:nvSpPr>
        <p:spPr>
          <a:xfrm>
            <a:off x="5524805" y="8058607"/>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22.1</a:t>
            </a:r>
            <a:endParaRPr lang="en-US" sz="1350" dirty="0"/>
          </a:p>
        </p:txBody>
      </p:sp>
      <p:sp>
        <p:nvSpPr>
          <p:cNvPr id="66" name="Text 50"/>
          <p:cNvSpPr txBox="1"/>
          <p:nvPr/>
        </p:nvSpPr>
        <p:spPr>
          <a:xfrm>
            <a:off x="7429500" y="8058607"/>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21.4</a:t>
            </a:r>
            <a:endParaRPr lang="en-US" sz="1350" dirty="0"/>
          </a:p>
        </p:txBody>
      </p:sp>
      <p:sp>
        <p:nvSpPr>
          <p:cNvPr id="67" name="Text 51"/>
          <p:cNvSpPr txBox="1"/>
          <p:nvPr/>
        </p:nvSpPr>
        <p:spPr>
          <a:xfrm>
            <a:off x="9525305" y="8058607"/>
            <a:ext cx="2286000" cy="342900"/>
          </a:xfrm>
          <a:prstGeom prst="rect">
            <a:avLst/>
          </a:prstGeom>
          <a:noFill/>
          <a:ln/>
        </p:spPr>
        <p:txBody>
          <a:bodyPr wrap="none" lIns="0" tIns="0" rIns="0" bIns="0" rtlCol="0" anchor="ctr"/>
          <a:lstStyle/>
          <a:p>
            <a:pPr algn="ctr" indent="0" marL="0">
              <a:buNone/>
            </a:pPr>
            <a:r>
              <a:rPr lang="en-US" sz="1200" dirty="0">
                <a:solidFill>
                  <a:srgbClr val="94A3B8"/>
                </a:solidFill>
                <a:latin typeface="JetBrains Mono" pitchFamily="34" charset="0"/>
                <a:ea typeface="JetBrains Mono" pitchFamily="34" charset="-122"/>
                <a:cs typeface="JetBrains Mono" pitchFamily="34" charset="-120"/>
              </a:rPr>
              <a:t>−0.6</a:t>
            </a:r>
            <a:endParaRPr lang="en-US" sz="1200" dirty="0"/>
          </a:p>
        </p:txBody>
      </p:sp>
      <p:sp>
        <p:nvSpPr>
          <p:cNvPr id="68" name="Text 52"/>
          <p:cNvSpPr txBox="1"/>
          <p:nvPr/>
        </p:nvSpPr>
        <p:spPr>
          <a:xfrm>
            <a:off x="12001500" y="8058607"/>
            <a:ext cx="2667305" cy="342900"/>
          </a:xfrm>
          <a:prstGeom prst="rect">
            <a:avLst/>
          </a:prstGeom>
          <a:noFill/>
          <a:ln/>
        </p:spPr>
        <p:txBody>
          <a:bodyPr wrap="none" lIns="0" tIns="0" rIns="0" bIns="0" rtlCol="0" anchor="ctr"/>
          <a:lstStyle/>
          <a:p>
            <a:pPr algn="ctr" indent="0" marL="0">
              <a:buNone/>
            </a:pPr>
            <a:r>
              <a:rPr lang="en-US" sz="1200" dirty="0">
                <a:solidFill>
                  <a:srgbClr val="94A3B8"/>
                </a:solidFill>
                <a:latin typeface="JetBrains Mono" pitchFamily="34" charset="0"/>
                <a:ea typeface="JetBrains Mono" pitchFamily="34" charset="-122"/>
                <a:cs typeface="JetBrains Mono" pitchFamily="34" charset="-120"/>
              </a:rPr>
              <a:t>−1.3</a:t>
            </a:r>
            <a:endParaRPr lang="en-US" sz="1200" dirty="0"/>
          </a:p>
        </p:txBody>
      </p:sp>
      <p:sp>
        <p:nvSpPr>
          <p:cNvPr id="69" name="Text 53"/>
          <p:cNvSpPr txBox="1"/>
          <p:nvPr/>
        </p:nvSpPr>
        <p:spPr>
          <a:xfrm>
            <a:off x="14859000" y="8058607"/>
            <a:ext cx="2286000" cy="342900"/>
          </a:xfrm>
          <a:prstGeom prst="rect">
            <a:avLst/>
          </a:prstGeom>
          <a:noFill/>
          <a:ln/>
        </p:spPr>
        <p:txBody>
          <a:bodyPr wrap="none" lIns="0" tIns="0" rIns="0" bIns="0" rtlCol="0" anchor="ctr"/>
          <a:lstStyle/>
          <a:p>
            <a:pPr algn="ctr" indent="0" marL="0">
              <a:buNone/>
            </a:pPr>
            <a:r>
              <a:rPr lang="en-US" sz="975" dirty="0">
                <a:solidFill>
                  <a:srgbClr val="94A3B8"/>
                </a:solidFill>
                <a:latin typeface="Inter" pitchFamily="34" charset="0"/>
                <a:ea typeface="Inter" pitchFamily="34" charset="-122"/>
                <a:cs typeface="Inter" pitchFamily="34" charset="-120"/>
              </a:rPr>
              <a:t>edge-low trend</a:t>
            </a:r>
            <a:endParaRPr lang="en-US" sz="975" dirty="0"/>
          </a:p>
        </p:txBody>
      </p:sp>
      <p:sp>
        <p:nvSpPr>
          <p:cNvPr id="70" name="Text 54"/>
          <p:cNvSpPr txBox="1"/>
          <p:nvPr/>
        </p:nvSpPr>
        <p:spPr>
          <a:xfrm>
            <a:off x="1333195" y="8458200"/>
            <a:ext cx="1905610" cy="342900"/>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Max (nm)</a:t>
            </a:r>
            <a:endParaRPr lang="en-US" sz="1125" dirty="0"/>
          </a:p>
        </p:txBody>
      </p:sp>
      <p:sp>
        <p:nvSpPr>
          <p:cNvPr id="71" name="Text 55"/>
          <p:cNvSpPr txBox="1"/>
          <p:nvPr/>
        </p:nvSpPr>
        <p:spPr>
          <a:xfrm>
            <a:off x="3619195" y="8458200"/>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25.4</a:t>
            </a:r>
            <a:endParaRPr lang="en-US" sz="1350" dirty="0"/>
          </a:p>
        </p:txBody>
      </p:sp>
      <p:sp>
        <p:nvSpPr>
          <p:cNvPr id="72" name="Text 56"/>
          <p:cNvSpPr txBox="1"/>
          <p:nvPr/>
        </p:nvSpPr>
        <p:spPr>
          <a:xfrm>
            <a:off x="5524805" y="8458200"/>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25.6</a:t>
            </a:r>
            <a:endParaRPr lang="en-US" sz="1350" dirty="0"/>
          </a:p>
        </p:txBody>
      </p:sp>
      <p:sp>
        <p:nvSpPr>
          <p:cNvPr id="73" name="Text 57"/>
          <p:cNvSpPr txBox="1"/>
          <p:nvPr/>
        </p:nvSpPr>
        <p:spPr>
          <a:xfrm>
            <a:off x="7429500" y="8458200"/>
            <a:ext cx="1714500" cy="342900"/>
          </a:xfrm>
          <a:prstGeom prst="rect">
            <a:avLst/>
          </a:prstGeom>
          <a:noFill/>
          <a:ln/>
        </p:spPr>
        <p:txBody>
          <a:bodyPr wrap="non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25.7</a:t>
            </a:r>
            <a:endParaRPr lang="en-US" sz="1350" dirty="0"/>
          </a:p>
        </p:txBody>
      </p:sp>
      <p:sp>
        <p:nvSpPr>
          <p:cNvPr id="74" name="Text 58"/>
          <p:cNvSpPr txBox="1"/>
          <p:nvPr/>
        </p:nvSpPr>
        <p:spPr>
          <a:xfrm>
            <a:off x="9525305" y="8458200"/>
            <a:ext cx="2286000" cy="342900"/>
          </a:xfrm>
          <a:prstGeom prst="rect">
            <a:avLst/>
          </a:prstGeom>
          <a:noFill/>
          <a:ln/>
        </p:spPr>
        <p:txBody>
          <a:bodyPr wrap="none" lIns="0" tIns="0" rIns="0" bIns="0" rtlCol="0" anchor="ctr"/>
          <a:lstStyle/>
          <a:p>
            <a:pPr algn="ctr" indent="0" marL="0">
              <a:buNone/>
            </a:pPr>
            <a:r>
              <a:rPr lang="en-US" sz="1200" dirty="0">
                <a:solidFill>
                  <a:srgbClr val="94A3B8"/>
                </a:solidFill>
                <a:latin typeface="JetBrains Mono" pitchFamily="34" charset="0"/>
                <a:ea typeface="JetBrains Mono" pitchFamily="34" charset="-122"/>
                <a:cs typeface="JetBrains Mono" pitchFamily="34" charset="-120"/>
              </a:rPr>
              <a:t>+0.2</a:t>
            </a:r>
            <a:endParaRPr lang="en-US" sz="1200" dirty="0"/>
          </a:p>
        </p:txBody>
      </p:sp>
      <p:sp>
        <p:nvSpPr>
          <p:cNvPr id="75" name="Text 59"/>
          <p:cNvSpPr txBox="1"/>
          <p:nvPr/>
        </p:nvSpPr>
        <p:spPr>
          <a:xfrm>
            <a:off x="12001500" y="8458200"/>
            <a:ext cx="2667305" cy="342900"/>
          </a:xfrm>
          <a:prstGeom prst="rect">
            <a:avLst/>
          </a:prstGeom>
          <a:noFill/>
          <a:ln/>
        </p:spPr>
        <p:txBody>
          <a:bodyPr wrap="none" lIns="0" tIns="0" rIns="0" bIns="0" rtlCol="0" anchor="ctr"/>
          <a:lstStyle/>
          <a:p>
            <a:pPr algn="ctr" indent="0" marL="0">
              <a:buNone/>
            </a:pPr>
            <a:r>
              <a:rPr lang="en-US" sz="1200" dirty="0">
                <a:solidFill>
                  <a:srgbClr val="94A3B8"/>
                </a:solidFill>
                <a:latin typeface="JetBrains Mono" pitchFamily="34" charset="0"/>
                <a:ea typeface="JetBrains Mono" pitchFamily="34" charset="-122"/>
                <a:cs typeface="JetBrains Mono" pitchFamily="34" charset="-120"/>
              </a:rPr>
              <a:t>+0.3</a:t>
            </a:r>
            <a:endParaRPr lang="en-US" sz="1200" dirty="0"/>
          </a:p>
        </p:txBody>
      </p:sp>
      <p:sp>
        <p:nvSpPr>
          <p:cNvPr id="76" name="Text 60"/>
          <p:cNvSpPr txBox="1"/>
          <p:nvPr/>
        </p:nvSpPr>
        <p:spPr>
          <a:xfrm>
            <a:off x="14859000" y="8458200"/>
            <a:ext cx="2286000" cy="342900"/>
          </a:xfrm>
          <a:prstGeom prst="rect">
            <a:avLst/>
          </a:prstGeom>
          <a:noFill/>
          <a:ln/>
        </p:spPr>
        <p:txBody>
          <a:bodyPr wrap="none" lIns="0" tIns="0" rIns="0" bIns="0" rtlCol="0" anchor="ctr"/>
          <a:lstStyle/>
          <a:p>
            <a:pPr algn="ctr" indent="0" marL="0">
              <a:buNone/>
            </a:pPr>
            <a:r>
              <a:rPr lang="en-US" sz="975" dirty="0">
                <a:solidFill>
                  <a:srgbClr val="94A3B8"/>
                </a:solidFill>
                <a:latin typeface="Inter" pitchFamily="34" charset="0"/>
                <a:ea typeface="Inter" pitchFamily="34" charset="-122"/>
                <a:cs typeface="Inter" pitchFamily="34" charset="-120"/>
              </a:rPr>
              <a:t>max drift only</a:t>
            </a:r>
            <a:endParaRPr lang="en-US" sz="975" dirty="0"/>
          </a:p>
        </p:txBody>
      </p:sp>
      <p:pic>
        <p:nvPicPr>
          <p:cNvPr id="77" name="Image 13" descr="gen-dedup-41df4fb73e13824d9bf43e735c70451d.png">    </p:cNvPr>
          <p:cNvPicPr>
            <a:picLocks noChangeAspect="1"/>
          </p:cNvPicPr>
          <p:nvPr/>
        </p:nvPicPr>
        <p:blipFill>
          <a:blip r:embed="rId14"/>
          <a:srcRect l="-2029" r="-2029" t="0" b="0"/>
          <a:stretch/>
        </p:blipFill>
        <p:spPr>
          <a:xfrm>
            <a:off x="761695" y="10067544"/>
            <a:ext cx="304495" cy="9144"/>
          </a:xfrm>
          <a:prstGeom prst="rect">
            <a:avLst/>
          </a:prstGeom>
        </p:spPr>
      </p:pic>
      <p:sp>
        <p:nvSpPr>
          <p:cNvPr id="78" name="Text 61"/>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B"/>
        </a:solidFill>
      </p:bgPr>
    </p:bg>
    <p:spTree>
      <p:nvGrpSpPr>
        <p:cNvPr id="1" name=""/>
        <p:cNvGrpSpPr/>
        <p:nvPr/>
      </p:nvGrpSpPr>
      <p:grpSpPr>
        <a:xfrm>
          <a:off x="0" y="0"/>
          <a:ext cx="0" cy="0"/>
          <a:chOff x="0" y="0"/>
          <a:chExt cx="0" cy="0"/>
        </a:xfrm>
      </p:grpSpPr>
      <p:pic>
        <p:nvPicPr>
          <p:cNvPr id="3" name="Image 0" descr="gen-dedup-8850ef6236cd1d8bea23af979e37e23c.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667305"/>
            <a:ext cx="4972507" cy="6877202"/>
          </a:xfrm>
          <a:prstGeom prst="rect">
            <a:avLst/>
          </a:prstGeom>
          <a:solidFill>
            <a:srgbClr val="141A28"/>
          </a:solidFill>
          <a:ln w="12700">
            <a:solidFill>
              <a:srgbClr val="1F2A40"/>
            </a:solidFill>
            <a:prstDash val="solid"/>
          </a:ln>
        </p:spPr>
      </p:sp>
      <p:sp>
        <p:nvSpPr>
          <p:cNvPr id="5" name="Shape 1"/>
          <p:cNvSpPr/>
          <p:nvPr/>
        </p:nvSpPr>
        <p:spPr>
          <a:xfrm>
            <a:off x="6667805" y="2667305"/>
            <a:ext cx="4972507" cy="6877202"/>
          </a:xfrm>
          <a:prstGeom prst="rect">
            <a:avLst/>
          </a:prstGeom>
          <a:solidFill>
            <a:srgbClr val="141A28"/>
          </a:solidFill>
          <a:ln w="12700">
            <a:solidFill>
              <a:srgbClr val="1F2A40"/>
            </a:solidFill>
            <a:prstDash val="solid"/>
          </a:ln>
        </p:spPr>
      </p:sp>
      <p:sp>
        <p:nvSpPr>
          <p:cNvPr id="6" name="Shape 2"/>
          <p:cNvSpPr/>
          <p:nvPr/>
        </p:nvSpPr>
        <p:spPr>
          <a:xfrm>
            <a:off x="12573000" y="2667305"/>
            <a:ext cx="4972507" cy="6877202"/>
          </a:xfrm>
          <a:prstGeom prst="rect">
            <a:avLst/>
          </a:prstGeom>
          <a:solidFill>
            <a:srgbClr val="141A28"/>
          </a:solidFill>
          <a:ln w="12700">
            <a:solidFill>
              <a:srgbClr val="1F2A40"/>
            </a:solidFill>
            <a:prstDash val="solid"/>
          </a:ln>
        </p:spPr>
      </p:sp>
      <p:pic>
        <p:nvPicPr>
          <p:cNvPr id="7" name="Image 1" descr="gen-dedup-10f6f064eef363f5c5298f5fb18806fe.png">    </p:cNvPr>
          <p:cNvPicPr>
            <a:picLocks noChangeAspect="1"/>
          </p:cNvPicPr>
          <p:nvPr/>
        </p:nvPicPr>
        <p:blipFill>
          <a:blip r:embed="rId2"/>
          <a:srcRect l="0" r="0" t="-397" b="-397"/>
          <a:stretch/>
        </p:blipFill>
        <p:spPr>
          <a:xfrm>
            <a:off x="761695" y="2667305"/>
            <a:ext cx="4953305" cy="38405"/>
          </a:xfrm>
          <a:prstGeom prst="rect">
            <a:avLst/>
          </a:prstGeom>
        </p:spPr>
      </p:pic>
      <p:pic>
        <p:nvPicPr>
          <p:cNvPr id="8" name="Image 2" descr="gen-dedup-74b52183a7325440aaa5d6a16db81101.png">    </p:cNvPr>
          <p:cNvPicPr>
            <a:picLocks noChangeAspect="1"/>
          </p:cNvPicPr>
          <p:nvPr/>
        </p:nvPicPr>
        <p:blipFill>
          <a:blip r:embed="rId3"/>
          <a:srcRect l="0" r="0" t="0" b="0"/>
          <a:stretch/>
        </p:blipFill>
        <p:spPr>
          <a:xfrm>
            <a:off x="1524305" y="3619195"/>
            <a:ext cx="3448202" cy="3448202"/>
          </a:xfrm>
          <a:prstGeom prst="rect">
            <a:avLst/>
          </a:prstGeom>
        </p:spPr>
      </p:pic>
      <p:sp>
        <p:nvSpPr>
          <p:cNvPr id="9" name="Shape 3"/>
          <p:cNvSpPr/>
          <p:nvPr/>
        </p:nvSpPr>
        <p:spPr>
          <a:xfrm>
            <a:off x="990295" y="7239305"/>
            <a:ext cx="4515307" cy="1923898"/>
          </a:xfrm>
          <a:prstGeom prst="rect">
            <a:avLst/>
          </a:prstGeom>
          <a:solidFill>
            <a:srgbClr val="0F1424"/>
          </a:solidFill>
          <a:ln w="12700">
            <a:solidFill>
              <a:srgbClr val="1F2A40"/>
            </a:solidFill>
            <a:prstDash val="solid"/>
          </a:ln>
        </p:spPr>
      </p:sp>
      <p:pic>
        <p:nvPicPr>
          <p:cNvPr id="10" name="Image 3" descr="gen-dedup-a3d0b5b4554b9f74cbce4349d87f3de6.png">    </p:cNvPr>
          <p:cNvPicPr>
            <a:picLocks noChangeAspect="1"/>
          </p:cNvPicPr>
          <p:nvPr/>
        </p:nvPicPr>
        <p:blipFill>
          <a:blip r:embed="rId4"/>
          <a:srcRect l="0" r="0" t="-397" b="-397"/>
          <a:stretch/>
        </p:blipFill>
        <p:spPr>
          <a:xfrm>
            <a:off x="6667805" y="2667305"/>
            <a:ext cx="4953305" cy="38405"/>
          </a:xfrm>
          <a:prstGeom prst="rect">
            <a:avLst/>
          </a:prstGeom>
        </p:spPr>
      </p:pic>
      <p:pic>
        <p:nvPicPr>
          <p:cNvPr id="11" name="Image 4" descr="gen-dedup-81ad6a39c9ecd5852009a924adb10bdc.png">    </p:cNvPr>
          <p:cNvPicPr>
            <a:picLocks noChangeAspect="1"/>
          </p:cNvPicPr>
          <p:nvPr/>
        </p:nvPicPr>
        <p:blipFill>
          <a:blip r:embed="rId5"/>
          <a:srcRect l="0" r="0" t="0" b="0"/>
          <a:stretch/>
        </p:blipFill>
        <p:spPr>
          <a:xfrm>
            <a:off x="7429500" y="3619195"/>
            <a:ext cx="3448202" cy="3448202"/>
          </a:xfrm>
          <a:prstGeom prst="rect">
            <a:avLst/>
          </a:prstGeom>
        </p:spPr>
      </p:pic>
      <p:sp>
        <p:nvSpPr>
          <p:cNvPr id="12" name="Shape 4"/>
          <p:cNvSpPr/>
          <p:nvPr/>
        </p:nvSpPr>
        <p:spPr>
          <a:xfrm>
            <a:off x="6896405" y="7239305"/>
            <a:ext cx="4515307" cy="1923898"/>
          </a:xfrm>
          <a:prstGeom prst="rect">
            <a:avLst/>
          </a:prstGeom>
          <a:solidFill>
            <a:srgbClr val="0F1424"/>
          </a:solidFill>
          <a:ln w="12700">
            <a:solidFill>
              <a:srgbClr val="1F2A40"/>
            </a:solidFill>
            <a:prstDash val="solid"/>
          </a:ln>
        </p:spPr>
      </p:sp>
      <p:pic>
        <p:nvPicPr>
          <p:cNvPr id="13" name="Image 5" descr="gen-dedup-c3a2391f6dfb4b88ea89609d8641c955.png">    </p:cNvPr>
          <p:cNvPicPr>
            <a:picLocks noChangeAspect="1"/>
          </p:cNvPicPr>
          <p:nvPr/>
        </p:nvPicPr>
        <p:blipFill>
          <a:blip r:embed="rId6"/>
          <a:srcRect l="0" r="0" t="-397" b="-397"/>
          <a:stretch/>
        </p:blipFill>
        <p:spPr>
          <a:xfrm>
            <a:off x="12573000" y="2667305"/>
            <a:ext cx="4953305" cy="38405"/>
          </a:xfrm>
          <a:prstGeom prst="rect">
            <a:avLst/>
          </a:prstGeom>
        </p:spPr>
      </p:pic>
      <p:pic>
        <p:nvPicPr>
          <p:cNvPr id="14" name="Image 6" descr="gen-dedup-fccf35ac95e3f0685ea6c763250a3f39.png">    </p:cNvPr>
          <p:cNvPicPr>
            <a:picLocks noChangeAspect="1"/>
          </p:cNvPicPr>
          <p:nvPr/>
        </p:nvPicPr>
        <p:blipFill>
          <a:blip r:embed="rId7"/>
          <a:srcRect l="0" r="0" t="0" b="0"/>
          <a:stretch/>
        </p:blipFill>
        <p:spPr>
          <a:xfrm>
            <a:off x="13334695" y="3619195"/>
            <a:ext cx="3448202" cy="3448202"/>
          </a:xfrm>
          <a:prstGeom prst="rect">
            <a:avLst/>
          </a:prstGeom>
        </p:spPr>
      </p:pic>
      <p:sp>
        <p:nvSpPr>
          <p:cNvPr id="15" name="Shape 5"/>
          <p:cNvSpPr/>
          <p:nvPr/>
        </p:nvSpPr>
        <p:spPr>
          <a:xfrm>
            <a:off x="12801600" y="7239305"/>
            <a:ext cx="4515307" cy="1923898"/>
          </a:xfrm>
          <a:prstGeom prst="rect">
            <a:avLst/>
          </a:prstGeom>
          <a:solidFill>
            <a:srgbClr val="0F1424"/>
          </a:solidFill>
          <a:ln w="12700">
            <a:solidFill>
              <a:srgbClr val="1F2A40"/>
            </a:solidFill>
            <a:prstDash val="solid"/>
          </a:ln>
        </p:spPr>
      </p:sp>
      <p:sp>
        <p:nvSpPr>
          <p:cNvPr id="16" name="Shape 6"/>
          <p:cNvSpPr/>
          <p:nvPr/>
        </p:nvSpPr>
        <p:spPr>
          <a:xfrm>
            <a:off x="1657807" y="3752698"/>
            <a:ext cx="609905" cy="362102"/>
          </a:xfrm>
          <a:prstGeom prst="rect">
            <a:avLst/>
          </a:prstGeom>
          <a:solidFill>
            <a:srgbClr val="5EEAD4">
              <a:alpha val="45000"/>
            </a:srgbClr>
          </a:solidFill>
          <a:ln w="12700">
            <a:solidFill>
              <a:srgbClr val="FFFFFF">
                <a:alpha val="0"/>
              </a:srgbClr>
            </a:solidFill>
            <a:prstDash val="solid"/>
          </a:ln>
        </p:spPr>
      </p:sp>
      <p:sp>
        <p:nvSpPr>
          <p:cNvPr id="17" name="Shape 7"/>
          <p:cNvSpPr/>
          <p:nvPr/>
        </p:nvSpPr>
        <p:spPr>
          <a:xfrm>
            <a:off x="2933395" y="3752698"/>
            <a:ext cx="609905" cy="362102"/>
          </a:xfrm>
          <a:prstGeom prst="rect">
            <a:avLst/>
          </a:prstGeom>
          <a:solidFill>
            <a:srgbClr val="5EEAD4">
              <a:alpha val="50000"/>
            </a:srgbClr>
          </a:solidFill>
          <a:ln w="12700">
            <a:solidFill>
              <a:srgbClr val="FFFFFF">
                <a:alpha val="0"/>
              </a:srgbClr>
            </a:solidFill>
            <a:prstDash val="solid"/>
          </a:ln>
        </p:spPr>
      </p:sp>
      <p:sp>
        <p:nvSpPr>
          <p:cNvPr id="18" name="Shape 8"/>
          <p:cNvSpPr/>
          <p:nvPr/>
        </p:nvSpPr>
        <p:spPr>
          <a:xfrm>
            <a:off x="4209898" y="3752698"/>
            <a:ext cx="609905" cy="362102"/>
          </a:xfrm>
          <a:prstGeom prst="rect">
            <a:avLst/>
          </a:prstGeom>
          <a:solidFill>
            <a:srgbClr val="5EEAD4">
              <a:alpha val="45000"/>
            </a:srgbClr>
          </a:solidFill>
          <a:ln w="12700">
            <a:solidFill>
              <a:srgbClr val="FFFFFF">
                <a:alpha val="0"/>
              </a:srgbClr>
            </a:solidFill>
            <a:prstDash val="solid"/>
          </a:ln>
        </p:spPr>
      </p:sp>
      <p:sp>
        <p:nvSpPr>
          <p:cNvPr id="19" name="Shape 9"/>
          <p:cNvSpPr/>
          <p:nvPr/>
        </p:nvSpPr>
        <p:spPr>
          <a:xfrm>
            <a:off x="2171700" y="4552798"/>
            <a:ext cx="609905" cy="362102"/>
          </a:xfrm>
          <a:prstGeom prst="rect">
            <a:avLst/>
          </a:prstGeom>
          <a:solidFill>
            <a:srgbClr val="5EEAD4">
              <a:alpha val="55000"/>
            </a:srgbClr>
          </a:solidFill>
          <a:ln w="12700">
            <a:solidFill>
              <a:srgbClr val="FFFFFF">
                <a:alpha val="0"/>
              </a:srgbClr>
            </a:solidFill>
            <a:prstDash val="solid"/>
          </a:ln>
        </p:spPr>
      </p:sp>
      <p:sp>
        <p:nvSpPr>
          <p:cNvPr id="20" name="Shape 10"/>
          <p:cNvSpPr/>
          <p:nvPr/>
        </p:nvSpPr>
        <p:spPr>
          <a:xfrm>
            <a:off x="3696005" y="4552798"/>
            <a:ext cx="609905" cy="362102"/>
          </a:xfrm>
          <a:prstGeom prst="rect">
            <a:avLst/>
          </a:prstGeom>
          <a:solidFill>
            <a:srgbClr val="5EEAD4">
              <a:alpha val="55000"/>
            </a:srgbClr>
          </a:solidFill>
          <a:ln w="12700">
            <a:solidFill>
              <a:srgbClr val="FFFFFF">
                <a:alpha val="0"/>
              </a:srgbClr>
            </a:solidFill>
            <a:prstDash val="solid"/>
          </a:ln>
        </p:spPr>
      </p:sp>
      <p:sp>
        <p:nvSpPr>
          <p:cNvPr id="21" name="Shape 11"/>
          <p:cNvSpPr/>
          <p:nvPr/>
        </p:nvSpPr>
        <p:spPr>
          <a:xfrm>
            <a:off x="1657807" y="5143500"/>
            <a:ext cx="609905" cy="362102"/>
          </a:xfrm>
          <a:prstGeom prst="rect">
            <a:avLst/>
          </a:prstGeom>
          <a:solidFill>
            <a:srgbClr val="5EEAD4">
              <a:alpha val="40000"/>
            </a:srgbClr>
          </a:solidFill>
          <a:ln w="12700">
            <a:solidFill>
              <a:srgbClr val="FFFFFF">
                <a:alpha val="0"/>
              </a:srgbClr>
            </a:solidFill>
            <a:prstDash val="solid"/>
          </a:ln>
        </p:spPr>
      </p:sp>
      <p:sp>
        <p:nvSpPr>
          <p:cNvPr id="22" name="Shape 12"/>
          <p:cNvSpPr/>
          <p:nvPr/>
        </p:nvSpPr>
        <p:spPr>
          <a:xfrm>
            <a:off x="2933395" y="5143500"/>
            <a:ext cx="609905" cy="362102"/>
          </a:xfrm>
          <a:prstGeom prst="rect">
            <a:avLst/>
          </a:prstGeom>
          <a:solidFill>
            <a:srgbClr val="5EEAD4"/>
          </a:solidFill>
          <a:ln w="12700">
            <a:solidFill>
              <a:srgbClr val="FFFFFF">
                <a:alpha val="0"/>
              </a:srgbClr>
            </a:solidFill>
            <a:prstDash val="solid"/>
          </a:ln>
        </p:spPr>
      </p:sp>
      <p:sp>
        <p:nvSpPr>
          <p:cNvPr id="23" name="Shape 13"/>
          <p:cNvSpPr/>
          <p:nvPr/>
        </p:nvSpPr>
        <p:spPr>
          <a:xfrm>
            <a:off x="4209898" y="5143500"/>
            <a:ext cx="609905" cy="362102"/>
          </a:xfrm>
          <a:prstGeom prst="rect">
            <a:avLst/>
          </a:prstGeom>
          <a:solidFill>
            <a:srgbClr val="5EEAD4">
              <a:alpha val="45000"/>
            </a:srgbClr>
          </a:solidFill>
          <a:ln w="12700">
            <a:solidFill>
              <a:srgbClr val="FFFFFF">
                <a:alpha val="0"/>
              </a:srgbClr>
            </a:solidFill>
            <a:prstDash val="solid"/>
          </a:ln>
        </p:spPr>
      </p:sp>
      <p:sp>
        <p:nvSpPr>
          <p:cNvPr id="24" name="Shape 14"/>
          <p:cNvSpPr/>
          <p:nvPr/>
        </p:nvSpPr>
        <p:spPr>
          <a:xfrm>
            <a:off x="2171700" y="5734202"/>
            <a:ext cx="609905" cy="362102"/>
          </a:xfrm>
          <a:prstGeom prst="rect">
            <a:avLst/>
          </a:prstGeom>
          <a:solidFill>
            <a:srgbClr val="5EEAD4">
              <a:alpha val="50000"/>
            </a:srgbClr>
          </a:solidFill>
          <a:ln w="12700">
            <a:solidFill>
              <a:srgbClr val="FFFFFF">
                <a:alpha val="0"/>
              </a:srgbClr>
            </a:solidFill>
            <a:prstDash val="solid"/>
          </a:ln>
        </p:spPr>
      </p:sp>
      <p:sp>
        <p:nvSpPr>
          <p:cNvPr id="25" name="Shape 15"/>
          <p:cNvSpPr/>
          <p:nvPr/>
        </p:nvSpPr>
        <p:spPr>
          <a:xfrm>
            <a:off x="3696005" y="5734202"/>
            <a:ext cx="609905" cy="362102"/>
          </a:xfrm>
          <a:prstGeom prst="rect">
            <a:avLst/>
          </a:prstGeom>
          <a:solidFill>
            <a:srgbClr val="5EEAD4">
              <a:alpha val="50000"/>
            </a:srgbClr>
          </a:solidFill>
          <a:ln w="12700">
            <a:solidFill>
              <a:srgbClr val="FFFFFF">
                <a:alpha val="0"/>
              </a:srgbClr>
            </a:solidFill>
            <a:prstDash val="solid"/>
          </a:ln>
        </p:spPr>
      </p:sp>
      <p:sp>
        <p:nvSpPr>
          <p:cNvPr id="26" name="Shape 16"/>
          <p:cNvSpPr/>
          <p:nvPr/>
        </p:nvSpPr>
        <p:spPr>
          <a:xfrm>
            <a:off x="1657807" y="6534302"/>
            <a:ext cx="609905" cy="362102"/>
          </a:xfrm>
          <a:prstGeom prst="rect">
            <a:avLst/>
          </a:prstGeom>
          <a:solidFill>
            <a:srgbClr val="5EEAD4">
              <a:alpha val="40000"/>
            </a:srgbClr>
          </a:solidFill>
          <a:ln w="12700">
            <a:solidFill>
              <a:srgbClr val="FFFFFF">
                <a:alpha val="0"/>
              </a:srgbClr>
            </a:solidFill>
            <a:prstDash val="solid"/>
          </a:ln>
        </p:spPr>
      </p:sp>
      <p:sp>
        <p:nvSpPr>
          <p:cNvPr id="27" name="Shape 17"/>
          <p:cNvSpPr/>
          <p:nvPr/>
        </p:nvSpPr>
        <p:spPr>
          <a:xfrm>
            <a:off x="2933395" y="6534302"/>
            <a:ext cx="609905" cy="362102"/>
          </a:xfrm>
          <a:prstGeom prst="rect">
            <a:avLst/>
          </a:prstGeom>
          <a:solidFill>
            <a:srgbClr val="5EEAD4">
              <a:alpha val="40000"/>
            </a:srgbClr>
          </a:solidFill>
          <a:ln w="12700">
            <a:solidFill>
              <a:srgbClr val="FFFFFF">
                <a:alpha val="0"/>
              </a:srgbClr>
            </a:solidFill>
            <a:prstDash val="solid"/>
          </a:ln>
        </p:spPr>
      </p:sp>
      <p:sp>
        <p:nvSpPr>
          <p:cNvPr id="28" name="Shape 18"/>
          <p:cNvSpPr/>
          <p:nvPr/>
        </p:nvSpPr>
        <p:spPr>
          <a:xfrm>
            <a:off x="4209898" y="6534302"/>
            <a:ext cx="609905" cy="362102"/>
          </a:xfrm>
          <a:prstGeom prst="rect">
            <a:avLst/>
          </a:prstGeom>
          <a:solidFill>
            <a:srgbClr val="5EEAD4">
              <a:alpha val="40000"/>
            </a:srgbClr>
          </a:solidFill>
          <a:ln w="12700">
            <a:solidFill>
              <a:srgbClr val="FFFFFF">
                <a:alpha val="0"/>
              </a:srgbClr>
            </a:solidFill>
            <a:prstDash val="solid"/>
          </a:ln>
        </p:spPr>
      </p:sp>
      <p:sp>
        <p:nvSpPr>
          <p:cNvPr id="29" name="Shape 19"/>
          <p:cNvSpPr/>
          <p:nvPr/>
        </p:nvSpPr>
        <p:spPr>
          <a:xfrm>
            <a:off x="7563002" y="3752698"/>
            <a:ext cx="609905" cy="362102"/>
          </a:xfrm>
          <a:prstGeom prst="rect">
            <a:avLst/>
          </a:prstGeom>
          <a:solidFill>
            <a:srgbClr val="5EEAD4">
              <a:alpha val="30000"/>
            </a:srgbClr>
          </a:solidFill>
          <a:ln w="12700">
            <a:solidFill>
              <a:srgbClr val="FFFFFF">
                <a:alpha val="0"/>
              </a:srgbClr>
            </a:solidFill>
            <a:prstDash val="solid"/>
          </a:ln>
        </p:spPr>
      </p:sp>
      <p:sp>
        <p:nvSpPr>
          <p:cNvPr id="30" name="Shape 20"/>
          <p:cNvSpPr/>
          <p:nvPr/>
        </p:nvSpPr>
        <p:spPr>
          <a:xfrm>
            <a:off x="8839505" y="3752698"/>
            <a:ext cx="609905" cy="362102"/>
          </a:xfrm>
          <a:prstGeom prst="rect">
            <a:avLst/>
          </a:prstGeom>
          <a:solidFill>
            <a:srgbClr val="5EEAD4">
              <a:alpha val="25000"/>
            </a:srgbClr>
          </a:solidFill>
          <a:ln w="12700">
            <a:solidFill>
              <a:srgbClr val="FFFFFF">
                <a:alpha val="0"/>
              </a:srgbClr>
            </a:solidFill>
            <a:prstDash val="solid"/>
          </a:ln>
        </p:spPr>
      </p:sp>
      <p:sp>
        <p:nvSpPr>
          <p:cNvPr id="31" name="Shape 21"/>
          <p:cNvSpPr/>
          <p:nvPr/>
        </p:nvSpPr>
        <p:spPr>
          <a:xfrm>
            <a:off x="10116007" y="3752698"/>
            <a:ext cx="609905" cy="362102"/>
          </a:xfrm>
          <a:prstGeom prst="rect">
            <a:avLst/>
          </a:prstGeom>
          <a:solidFill>
            <a:srgbClr val="FB923C">
              <a:alpha val="45000"/>
            </a:srgbClr>
          </a:solidFill>
          <a:ln w="12700">
            <a:solidFill>
              <a:srgbClr val="FFFFFF">
                <a:alpha val="0"/>
              </a:srgbClr>
            </a:solidFill>
            <a:prstDash val="solid"/>
          </a:ln>
        </p:spPr>
      </p:sp>
      <p:sp>
        <p:nvSpPr>
          <p:cNvPr id="32" name="Shape 22"/>
          <p:cNvSpPr/>
          <p:nvPr/>
        </p:nvSpPr>
        <p:spPr>
          <a:xfrm>
            <a:off x="8076895" y="4552798"/>
            <a:ext cx="609905" cy="362102"/>
          </a:xfrm>
          <a:prstGeom prst="rect">
            <a:avLst/>
          </a:prstGeom>
          <a:solidFill>
            <a:srgbClr val="FB923C">
              <a:alpha val="40000"/>
            </a:srgbClr>
          </a:solidFill>
          <a:ln w="12700">
            <a:solidFill>
              <a:srgbClr val="FFFFFF">
                <a:alpha val="0"/>
              </a:srgbClr>
            </a:solidFill>
            <a:prstDash val="solid"/>
          </a:ln>
        </p:spPr>
      </p:sp>
      <p:sp>
        <p:nvSpPr>
          <p:cNvPr id="33" name="Shape 23"/>
          <p:cNvSpPr/>
          <p:nvPr/>
        </p:nvSpPr>
        <p:spPr>
          <a:xfrm>
            <a:off x="9601200" y="4552798"/>
            <a:ext cx="609905" cy="362102"/>
          </a:xfrm>
          <a:prstGeom prst="rect">
            <a:avLst/>
          </a:prstGeom>
          <a:solidFill>
            <a:srgbClr val="FB923C">
              <a:alpha val="40000"/>
            </a:srgbClr>
          </a:solidFill>
          <a:ln w="12700">
            <a:solidFill>
              <a:srgbClr val="FFFFFF">
                <a:alpha val="0"/>
              </a:srgbClr>
            </a:solidFill>
            <a:prstDash val="solid"/>
          </a:ln>
        </p:spPr>
      </p:sp>
      <p:sp>
        <p:nvSpPr>
          <p:cNvPr id="34" name="Shape 24"/>
          <p:cNvSpPr/>
          <p:nvPr/>
        </p:nvSpPr>
        <p:spPr>
          <a:xfrm>
            <a:off x="7563002" y="5143500"/>
            <a:ext cx="609905" cy="362102"/>
          </a:xfrm>
          <a:prstGeom prst="rect">
            <a:avLst/>
          </a:prstGeom>
          <a:solidFill>
            <a:srgbClr val="5EEAD4">
              <a:alpha val="30000"/>
            </a:srgbClr>
          </a:solidFill>
          <a:ln w="12700">
            <a:solidFill>
              <a:srgbClr val="FFFFFF">
                <a:alpha val="0"/>
              </a:srgbClr>
            </a:solidFill>
            <a:prstDash val="solid"/>
          </a:ln>
        </p:spPr>
      </p:sp>
      <p:sp>
        <p:nvSpPr>
          <p:cNvPr id="35" name="Shape 25"/>
          <p:cNvSpPr/>
          <p:nvPr/>
        </p:nvSpPr>
        <p:spPr>
          <a:xfrm>
            <a:off x="8839505" y="5143500"/>
            <a:ext cx="609905" cy="362102"/>
          </a:xfrm>
          <a:prstGeom prst="rect">
            <a:avLst/>
          </a:prstGeom>
          <a:solidFill>
            <a:srgbClr val="FB923C">
              <a:alpha val="50000"/>
            </a:srgbClr>
          </a:solidFill>
          <a:ln w="12700">
            <a:solidFill>
              <a:srgbClr val="FFFFFF">
                <a:alpha val="0"/>
              </a:srgbClr>
            </a:solidFill>
            <a:prstDash val="solid"/>
          </a:ln>
        </p:spPr>
      </p:sp>
      <p:sp>
        <p:nvSpPr>
          <p:cNvPr id="36" name="Shape 26"/>
          <p:cNvSpPr/>
          <p:nvPr/>
        </p:nvSpPr>
        <p:spPr>
          <a:xfrm>
            <a:off x="10116007" y="5143500"/>
            <a:ext cx="609905" cy="362102"/>
          </a:xfrm>
          <a:prstGeom prst="rect">
            <a:avLst/>
          </a:prstGeom>
          <a:solidFill>
            <a:srgbClr val="5EEAD4">
              <a:alpha val="30000"/>
            </a:srgbClr>
          </a:solidFill>
          <a:ln w="12700">
            <a:solidFill>
              <a:srgbClr val="FFFFFF">
                <a:alpha val="0"/>
              </a:srgbClr>
            </a:solidFill>
            <a:prstDash val="solid"/>
          </a:ln>
        </p:spPr>
      </p:sp>
      <p:sp>
        <p:nvSpPr>
          <p:cNvPr id="37" name="Shape 27"/>
          <p:cNvSpPr/>
          <p:nvPr/>
        </p:nvSpPr>
        <p:spPr>
          <a:xfrm>
            <a:off x="8076895" y="5734202"/>
            <a:ext cx="609905" cy="362102"/>
          </a:xfrm>
          <a:prstGeom prst="rect">
            <a:avLst/>
          </a:prstGeom>
          <a:solidFill>
            <a:srgbClr val="FB923C">
              <a:alpha val="40000"/>
            </a:srgbClr>
          </a:solidFill>
          <a:ln w="12700">
            <a:solidFill>
              <a:srgbClr val="FFFFFF">
                <a:alpha val="0"/>
              </a:srgbClr>
            </a:solidFill>
            <a:prstDash val="solid"/>
          </a:ln>
        </p:spPr>
      </p:sp>
      <p:sp>
        <p:nvSpPr>
          <p:cNvPr id="38" name="Shape 28"/>
          <p:cNvSpPr/>
          <p:nvPr/>
        </p:nvSpPr>
        <p:spPr>
          <a:xfrm>
            <a:off x="9601200" y="5734202"/>
            <a:ext cx="609905" cy="362102"/>
          </a:xfrm>
          <a:prstGeom prst="rect">
            <a:avLst/>
          </a:prstGeom>
          <a:solidFill>
            <a:srgbClr val="FB923C">
              <a:alpha val="50000"/>
            </a:srgbClr>
          </a:solidFill>
          <a:ln w="12700">
            <a:solidFill>
              <a:srgbClr val="FFFFFF">
                <a:alpha val="0"/>
              </a:srgbClr>
            </a:solidFill>
            <a:prstDash val="solid"/>
          </a:ln>
        </p:spPr>
      </p:sp>
      <p:sp>
        <p:nvSpPr>
          <p:cNvPr id="39" name="Shape 29"/>
          <p:cNvSpPr/>
          <p:nvPr/>
        </p:nvSpPr>
        <p:spPr>
          <a:xfrm>
            <a:off x="7563002" y="6534302"/>
            <a:ext cx="609905" cy="362102"/>
          </a:xfrm>
          <a:prstGeom prst="rect">
            <a:avLst/>
          </a:prstGeom>
          <a:solidFill>
            <a:srgbClr val="FB923C">
              <a:alpha val="45000"/>
            </a:srgbClr>
          </a:solidFill>
          <a:ln w="12700">
            <a:solidFill>
              <a:srgbClr val="FFFFFF">
                <a:alpha val="0"/>
              </a:srgbClr>
            </a:solidFill>
            <a:prstDash val="solid"/>
          </a:ln>
        </p:spPr>
      </p:sp>
      <p:sp>
        <p:nvSpPr>
          <p:cNvPr id="40" name="Shape 30"/>
          <p:cNvSpPr/>
          <p:nvPr/>
        </p:nvSpPr>
        <p:spPr>
          <a:xfrm>
            <a:off x="8839505" y="6534302"/>
            <a:ext cx="609905" cy="362102"/>
          </a:xfrm>
          <a:prstGeom prst="rect">
            <a:avLst/>
          </a:prstGeom>
          <a:solidFill>
            <a:srgbClr val="FB923C">
              <a:alpha val="50000"/>
            </a:srgbClr>
          </a:solidFill>
          <a:ln w="12700">
            <a:solidFill>
              <a:srgbClr val="FFFFFF">
                <a:alpha val="0"/>
              </a:srgbClr>
            </a:solidFill>
            <a:prstDash val="solid"/>
          </a:ln>
        </p:spPr>
      </p:sp>
      <p:sp>
        <p:nvSpPr>
          <p:cNvPr id="41" name="Shape 31"/>
          <p:cNvSpPr/>
          <p:nvPr/>
        </p:nvSpPr>
        <p:spPr>
          <a:xfrm>
            <a:off x="10116007" y="6534302"/>
            <a:ext cx="609905" cy="362102"/>
          </a:xfrm>
          <a:prstGeom prst="rect">
            <a:avLst/>
          </a:prstGeom>
          <a:solidFill>
            <a:srgbClr val="FB923C">
              <a:alpha val="45000"/>
            </a:srgbClr>
          </a:solidFill>
          <a:ln w="12700">
            <a:solidFill>
              <a:srgbClr val="FFFFFF">
                <a:alpha val="0"/>
              </a:srgbClr>
            </a:solidFill>
            <a:prstDash val="solid"/>
          </a:ln>
        </p:spPr>
      </p:sp>
      <p:sp>
        <p:nvSpPr>
          <p:cNvPr id="42" name="Shape 32"/>
          <p:cNvSpPr/>
          <p:nvPr/>
        </p:nvSpPr>
        <p:spPr>
          <a:xfrm>
            <a:off x="13468198" y="3752698"/>
            <a:ext cx="609905" cy="362102"/>
          </a:xfrm>
          <a:prstGeom prst="rect">
            <a:avLst/>
          </a:prstGeom>
          <a:solidFill>
            <a:srgbClr val="5EEAD4">
              <a:alpha val="25000"/>
            </a:srgbClr>
          </a:solidFill>
          <a:ln w="12700">
            <a:solidFill>
              <a:srgbClr val="FFFFFF">
                <a:alpha val="0"/>
              </a:srgbClr>
            </a:solidFill>
            <a:prstDash val="solid"/>
          </a:ln>
        </p:spPr>
      </p:sp>
      <p:sp>
        <p:nvSpPr>
          <p:cNvPr id="43" name="Shape 33"/>
          <p:cNvSpPr/>
          <p:nvPr/>
        </p:nvSpPr>
        <p:spPr>
          <a:xfrm>
            <a:off x="14744700" y="3752698"/>
            <a:ext cx="609905" cy="362102"/>
          </a:xfrm>
          <a:prstGeom prst="rect">
            <a:avLst/>
          </a:prstGeom>
          <a:solidFill>
            <a:srgbClr val="F472B6">
              <a:alpha val="50000"/>
            </a:srgbClr>
          </a:solidFill>
          <a:ln w="12700">
            <a:solidFill>
              <a:srgbClr val="FFFFFF">
                <a:alpha val="0"/>
              </a:srgbClr>
            </a:solidFill>
            <a:prstDash val="solid"/>
          </a:ln>
        </p:spPr>
      </p:sp>
      <p:sp>
        <p:nvSpPr>
          <p:cNvPr id="44" name="Shape 34"/>
          <p:cNvSpPr/>
          <p:nvPr/>
        </p:nvSpPr>
        <p:spPr>
          <a:xfrm>
            <a:off x="16021202" y="3752698"/>
            <a:ext cx="609905" cy="362102"/>
          </a:xfrm>
          <a:prstGeom prst="rect">
            <a:avLst/>
          </a:prstGeom>
          <a:solidFill>
            <a:srgbClr val="F472B6">
              <a:alpha val="65000"/>
            </a:srgbClr>
          </a:solidFill>
          <a:ln w="12700">
            <a:solidFill>
              <a:srgbClr val="FFFFFF">
                <a:alpha val="0"/>
              </a:srgbClr>
            </a:solidFill>
            <a:prstDash val="solid"/>
          </a:ln>
        </p:spPr>
      </p:sp>
      <p:sp>
        <p:nvSpPr>
          <p:cNvPr id="45" name="Shape 35"/>
          <p:cNvSpPr/>
          <p:nvPr/>
        </p:nvSpPr>
        <p:spPr>
          <a:xfrm>
            <a:off x="13983005" y="4552798"/>
            <a:ext cx="609905" cy="362102"/>
          </a:xfrm>
          <a:prstGeom prst="rect">
            <a:avLst/>
          </a:prstGeom>
          <a:solidFill>
            <a:srgbClr val="F472B6">
              <a:alpha val="55000"/>
            </a:srgbClr>
          </a:solidFill>
          <a:ln w="12700">
            <a:solidFill>
              <a:srgbClr val="FFFFFF">
                <a:alpha val="0"/>
              </a:srgbClr>
            </a:solidFill>
            <a:prstDash val="solid"/>
          </a:ln>
        </p:spPr>
      </p:sp>
      <p:sp>
        <p:nvSpPr>
          <p:cNvPr id="46" name="Shape 36"/>
          <p:cNvSpPr/>
          <p:nvPr/>
        </p:nvSpPr>
        <p:spPr>
          <a:xfrm>
            <a:off x="15506395" y="4552798"/>
            <a:ext cx="609905" cy="362102"/>
          </a:xfrm>
          <a:prstGeom prst="rect">
            <a:avLst/>
          </a:prstGeom>
          <a:solidFill>
            <a:srgbClr val="F472B6">
              <a:alpha val="55000"/>
            </a:srgbClr>
          </a:solidFill>
          <a:ln w="12700">
            <a:solidFill>
              <a:srgbClr val="FFFFFF">
                <a:alpha val="0"/>
              </a:srgbClr>
            </a:solidFill>
            <a:prstDash val="solid"/>
          </a:ln>
        </p:spPr>
      </p:sp>
      <p:sp>
        <p:nvSpPr>
          <p:cNvPr id="47" name="Shape 37"/>
          <p:cNvSpPr/>
          <p:nvPr/>
        </p:nvSpPr>
        <p:spPr>
          <a:xfrm>
            <a:off x="13468198" y="5143500"/>
            <a:ext cx="609905" cy="362102"/>
          </a:xfrm>
          <a:prstGeom prst="rect">
            <a:avLst/>
          </a:prstGeom>
          <a:solidFill>
            <a:srgbClr val="F472B6">
              <a:alpha val="60000"/>
            </a:srgbClr>
          </a:solidFill>
          <a:ln w="12700">
            <a:solidFill>
              <a:srgbClr val="FFFFFF">
                <a:alpha val="0"/>
              </a:srgbClr>
            </a:solidFill>
            <a:prstDash val="solid"/>
          </a:ln>
        </p:spPr>
      </p:sp>
      <p:sp>
        <p:nvSpPr>
          <p:cNvPr id="48" name="Shape 38"/>
          <p:cNvSpPr/>
          <p:nvPr/>
        </p:nvSpPr>
        <p:spPr>
          <a:xfrm>
            <a:off x="14744700" y="5143500"/>
            <a:ext cx="609905" cy="362102"/>
          </a:xfrm>
          <a:prstGeom prst="rect">
            <a:avLst/>
          </a:prstGeom>
          <a:solidFill>
            <a:srgbClr val="F472B6">
              <a:alpha val="40000"/>
            </a:srgbClr>
          </a:solidFill>
          <a:ln w="12700">
            <a:solidFill>
              <a:srgbClr val="FFFFFF">
                <a:alpha val="0"/>
              </a:srgbClr>
            </a:solidFill>
            <a:prstDash val="solid"/>
          </a:ln>
        </p:spPr>
      </p:sp>
      <p:sp>
        <p:nvSpPr>
          <p:cNvPr id="49" name="Shape 39"/>
          <p:cNvSpPr/>
          <p:nvPr/>
        </p:nvSpPr>
        <p:spPr>
          <a:xfrm>
            <a:off x="16021202" y="5143500"/>
            <a:ext cx="609905" cy="362102"/>
          </a:xfrm>
          <a:prstGeom prst="rect">
            <a:avLst/>
          </a:prstGeom>
          <a:solidFill>
            <a:srgbClr val="F472B6">
              <a:alpha val="55000"/>
            </a:srgbClr>
          </a:solidFill>
          <a:ln w="12700">
            <a:solidFill>
              <a:srgbClr val="FFFFFF">
                <a:alpha val="0"/>
              </a:srgbClr>
            </a:solidFill>
            <a:prstDash val="solid"/>
          </a:ln>
        </p:spPr>
      </p:sp>
      <p:sp>
        <p:nvSpPr>
          <p:cNvPr id="50" name="Shape 40"/>
          <p:cNvSpPr/>
          <p:nvPr/>
        </p:nvSpPr>
        <p:spPr>
          <a:xfrm>
            <a:off x="13983005" y="5734202"/>
            <a:ext cx="609905" cy="362102"/>
          </a:xfrm>
          <a:prstGeom prst="rect">
            <a:avLst/>
          </a:prstGeom>
          <a:solidFill>
            <a:srgbClr val="5EEAD4">
              <a:alpha val="25000"/>
            </a:srgbClr>
          </a:solidFill>
          <a:ln w="12700">
            <a:solidFill>
              <a:srgbClr val="FFFFFF">
                <a:alpha val="0"/>
              </a:srgbClr>
            </a:solidFill>
            <a:prstDash val="solid"/>
          </a:ln>
        </p:spPr>
      </p:sp>
      <p:sp>
        <p:nvSpPr>
          <p:cNvPr id="51" name="Shape 41"/>
          <p:cNvSpPr/>
          <p:nvPr/>
        </p:nvSpPr>
        <p:spPr>
          <a:xfrm>
            <a:off x="15506395" y="5734202"/>
            <a:ext cx="609905" cy="362102"/>
          </a:xfrm>
          <a:prstGeom prst="rect">
            <a:avLst/>
          </a:prstGeom>
          <a:solidFill>
            <a:srgbClr val="F472B6">
              <a:alpha val="50000"/>
            </a:srgbClr>
          </a:solidFill>
          <a:ln w="12700">
            <a:solidFill>
              <a:srgbClr val="FFFFFF">
                <a:alpha val="0"/>
              </a:srgbClr>
            </a:solidFill>
            <a:prstDash val="solid"/>
          </a:ln>
        </p:spPr>
      </p:sp>
      <p:sp>
        <p:nvSpPr>
          <p:cNvPr id="52" name="Shape 42"/>
          <p:cNvSpPr/>
          <p:nvPr/>
        </p:nvSpPr>
        <p:spPr>
          <a:xfrm>
            <a:off x="13468198" y="6534302"/>
            <a:ext cx="609905" cy="362102"/>
          </a:xfrm>
          <a:prstGeom prst="rect">
            <a:avLst/>
          </a:prstGeom>
          <a:solidFill>
            <a:srgbClr val="F472B6">
              <a:alpha val="55000"/>
            </a:srgbClr>
          </a:solidFill>
          <a:ln w="12700">
            <a:solidFill>
              <a:srgbClr val="FFFFFF">
                <a:alpha val="0"/>
              </a:srgbClr>
            </a:solidFill>
            <a:prstDash val="solid"/>
          </a:ln>
        </p:spPr>
      </p:sp>
      <p:sp>
        <p:nvSpPr>
          <p:cNvPr id="53" name="Shape 43"/>
          <p:cNvSpPr/>
          <p:nvPr/>
        </p:nvSpPr>
        <p:spPr>
          <a:xfrm>
            <a:off x="14744700" y="6534302"/>
            <a:ext cx="609905" cy="362102"/>
          </a:xfrm>
          <a:prstGeom prst="rect">
            <a:avLst/>
          </a:prstGeom>
          <a:solidFill>
            <a:srgbClr val="F472B6">
              <a:alpha val="60000"/>
            </a:srgbClr>
          </a:solidFill>
          <a:ln w="12700">
            <a:solidFill>
              <a:srgbClr val="FFFFFF">
                <a:alpha val="0"/>
              </a:srgbClr>
            </a:solidFill>
            <a:prstDash val="solid"/>
          </a:ln>
        </p:spPr>
      </p:sp>
      <p:sp>
        <p:nvSpPr>
          <p:cNvPr id="54" name="Shape 44"/>
          <p:cNvSpPr/>
          <p:nvPr/>
        </p:nvSpPr>
        <p:spPr>
          <a:xfrm>
            <a:off x="16021202" y="6534302"/>
            <a:ext cx="609905" cy="362102"/>
          </a:xfrm>
          <a:prstGeom prst="rect">
            <a:avLst/>
          </a:prstGeom>
          <a:solidFill>
            <a:srgbClr val="F472B6">
              <a:alpha val="65000"/>
            </a:srgbClr>
          </a:solidFill>
          <a:ln w="12700">
            <a:solidFill>
              <a:srgbClr val="FFFFFF">
                <a:alpha val="0"/>
              </a:srgbClr>
            </a:solidFill>
            <a:prstDash val="solid"/>
          </a:ln>
        </p:spPr>
      </p:sp>
      <p:pic>
        <p:nvPicPr>
          <p:cNvPr id="55" name="Image 7" descr="gen-dedup-fb7284239b65d37878da76aad5baf72f.png">    </p:cNvPr>
          <p:cNvPicPr>
            <a:picLocks noChangeAspect="1"/>
          </p:cNvPicPr>
          <p:nvPr/>
        </p:nvPicPr>
        <p:blipFill>
          <a:blip r:embed="rId8"/>
          <a:srcRect l="0" r="0" t="-437" b="-437"/>
          <a:stretch/>
        </p:blipFill>
        <p:spPr>
          <a:xfrm>
            <a:off x="761695" y="662026"/>
            <a:ext cx="418795" cy="19202"/>
          </a:xfrm>
          <a:prstGeom prst="rect">
            <a:avLst/>
          </a:prstGeom>
        </p:spPr>
      </p:pic>
      <p:sp>
        <p:nvSpPr>
          <p:cNvPr id="56" name="Text 45"/>
          <p:cNvSpPr txBox="1"/>
          <p:nvPr/>
        </p:nvSpPr>
        <p:spPr>
          <a:xfrm>
            <a:off x="1352398" y="590702"/>
            <a:ext cx="33055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08 — 13-POINT WAFER MAP</a:t>
            </a:r>
            <a:endParaRPr lang="en-US" sz="975" dirty="0"/>
          </a:p>
        </p:txBody>
      </p:sp>
      <p:sp>
        <p:nvSpPr>
          <p:cNvPr id="57" name="Text 46"/>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08</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58" name="Text 47"/>
          <p:cNvSpPr txBox="1"/>
          <p:nvPr/>
        </p:nvSpPr>
        <p:spPr>
          <a:xfrm>
            <a:off x="761695" y="1238098"/>
            <a:ext cx="14287500" cy="514807"/>
          </a:xfrm>
          <a:prstGeom prst="rect">
            <a:avLst/>
          </a:prstGeom>
          <a:noFill/>
          <a:ln/>
        </p:spPr>
        <p:txBody>
          <a:bodyPr wrap="none" lIns="0" tIns="0" rIns="0" bIns="0" rtlCol="0" anchor="ctr"/>
          <a:lstStyle/>
          <a:p>
            <a:pPr algn="l" indent="0" marL="0">
              <a:buNone/>
            </a:pPr>
            <a:r>
              <a:rPr lang="en-US" sz="4050" b="1" spc="-142" kern="0" dirty="0">
                <a:solidFill>
                  <a:srgbClr val="5EEAD4"/>
                </a:solidFill>
                <a:latin typeface="Inter" pitchFamily="34" charset="0"/>
                <a:ea typeface="Inter" pitchFamily="34" charset="-122"/>
                <a:cs typeface="Inter" pitchFamily="34" charset="-120"/>
              </a:rPr>
              <a:t>13-point</a:t>
            </a:r>
            <a:pPr algn="l" indent="0" marL="0">
              <a:buNone/>
            </a:pPr>
            <a:r>
              <a:rPr lang="en-US" sz="4050" b="1" spc="-142" kern="0" dirty="0">
                <a:solidFill>
                  <a:srgbClr val="E8EDF5"/>
                </a:solidFill>
                <a:latin typeface="Inter" pitchFamily="34" charset="0"/>
                <a:ea typeface="Inter" pitchFamily="34" charset="-122"/>
                <a:cs typeface="Inter" pitchFamily="34" charset="-120"/>
              </a:rPr>
              <a:t> Wafer Map · AASI</a:t>
            </a:r>
            <a:endParaRPr lang="en-US" sz="4050" dirty="0"/>
          </a:p>
        </p:txBody>
      </p:sp>
      <p:sp>
        <p:nvSpPr>
          <p:cNvPr id="59" name="Text 48"/>
          <p:cNvSpPr txBox="1"/>
          <p:nvPr/>
        </p:nvSpPr>
        <p:spPr>
          <a:xfrm>
            <a:off x="761695" y="1886407"/>
            <a:ext cx="14287500" cy="238658"/>
          </a:xfrm>
          <a:prstGeom prst="rect">
            <a:avLst/>
          </a:prstGeom>
          <a:noFill/>
          <a:ln/>
        </p:spPr>
        <p:txBody>
          <a:bodyPr wrap="none" lIns="0" tIns="0" rIns="0" bIns="0" rtlCol="0" anchor="ctr"/>
          <a:lstStyle/>
          <a:p>
            <a:pPr algn="l" indent="0" marL="0">
              <a:buNone/>
            </a:pPr>
            <a:r>
              <a:rPr lang="en-US" sz="1275" dirty="0">
                <a:solidFill>
                  <a:srgbClr val="94A3B8"/>
                </a:solidFill>
                <a:latin typeface="Inter" pitchFamily="34" charset="0"/>
                <a:ea typeface="Inter" pitchFamily="34" charset="-122"/>
                <a:cs typeface="Inter" pitchFamily="34" charset="-120"/>
              </a:rPr>
              <a:t>5×5 영역 안 13 die 측정 · AASI deviation from target (24.3 nm) · unit: nm.</a:t>
            </a:r>
            <a:endParaRPr lang="en-US" sz="1275" dirty="0"/>
          </a:p>
        </p:txBody>
      </p:sp>
      <p:sp>
        <p:nvSpPr>
          <p:cNvPr id="60" name="Text 49"/>
          <p:cNvSpPr txBox="1"/>
          <p:nvPr/>
        </p:nvSpPr>
        <p:spPr>
          <a:xfrm>
            <a:off x="990295" y="2895905"/>
            <a:ext cx="4572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WAFER 01 · CONTROL</a:t>
            </a:r>
            <a:endParaRPr lang="en-US" sz="825" dirty="0"/>
          </a:p>
        </p:txBody>
      </p:sp>
      <p:sp>
        <p:nvSpPr>
          <p:cNvPr id="61" name="Text 50"/>
          <p:cNvSpPr txBox="1"/>
          <p:nvPr/>
        </p:nvSpPr>
        <p:spPr>
          <a:xfrm>
            <a:off x="990295" y="3086100"/>
            <a:ext cx="4572000" cy="295351"/>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W1 · mean 24.18</a:t>
            </a:r>
            <a:endParaRPr lang="en-US" sz="1950" dirty="0"/>
          </a:p>
        </p:txBody>
      </p:sp>
      <p:sp>
        <p:nvSpPr>
          <p:cNvPr id="62" name="Text 51"/>
          <p:cNvSpPr txBox="1"/>
          <p:nvPr/>
        </p:nvSpPr>
        <p:spPr>
          <a:xfrm>
            <a:off x="1181405" y="7410298"/>
            <a:ext cx="419161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W1 SUMMARY</a:t>
            </a:r>
            <a:endParaRPr lang="en-US" sz="825" dirty="0"/>
          </a:p>
        </p:txBody>
      </p:sp>
      <p:sp>
        <p:nvSpPr>
          <p:cNvPr id="63" name="Text 52"/>
          <p:cNvSpPr txBox="1"/>
          <p:nvPr/>
        </p:nvSpPr>
        <p:spPr>
          <a:xfrm>
            <a:off x="1181405" y="7744054"/>
            <a:ext cx="256032"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NIU</a:t>
            </a:r>
            <a:endParaRPr lang="en-US" sz="975" dirty="0"/>
          </a:p>
        </p:txBody>
      </p:sp>
      <p:sp>
        <p:nvSpPr>
          <p:cNvPr id="64" name="Text 53"/>
          <p:cNvSpPr txBox="1"/>
          <p:nvPr/>
        </p:nvSpPr>
        <p:spPr>
          <a:xfrm>
            <a:off x="4686300" y="7677302"/>
            <a:ext cx="685800" cy="247802"/>
          </a:xfrm>
          <a:prstGeom prst="rect">
            <a:avLst/>
          </a:prstGeom>
          <a:noFill/>
          <a:ln/>
        </p:spPr>
        <p:txBody>
          <a:bodyPr wrap="none" lIns="0" tIns="0" rIns="0" bIns="0" rtlCol="0" anchor="ctr"/>
          <a:lstStyle/>
          <a:p>
            <a:pPr algn="l" indent="0" marL="0">
              <a:buNone/>
            </a:pPr>
            <a:r>
              <a:rPr lang="en-US" sz="1500" b="1" dirty="0">
                <a:solidFill>
                  <a:srgbClr val="5EEAD4"/>
                </a:solidFill>
                <a:latin typeface="JetBrains Mono" pitchFamily="34" charset="0"/>
                <a:ea typeface="JetBrains Mono" pitchFamily="34" charset="-122"/>
                <a:cs typeface="JetBrains Mono" pitchFamily="34" charset="-120"/>
              </a:rPr>
              <a:t>1.84 %</a:t>
            </a:r>
            <a:endParaRPr lang="en-US" sz="1500" dirty="0"/>
          </a:p>
        </p:txBody>
      </p:sp>
      <p:sp>
        <p:nvSpPr>
          <p:cNvPr id="65" name="Text 54"/>
          <p:cNvSpPr txBox="1"/>
          <p:nvPr/>
        </p:nvSpPr>
        <p:spPr>
          <a:xfrm>
            <a:off x="1181405" y="8086954"/>
            <a:ext cx="372161"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Range</a:t>
            </a:r>
            <a:endParaRPr lang="en-US" sz="975" dirty="0"/>
          </a:p>
        </p:txBody>
      </p:sp>
      <p:sp>
        <p:nvSpPr>
          <p:cNvPr id="66" name="Text 55"/>
          <p:cNvSpPr txBox="1"/>
          <p:nvPr/>
        </p:nvSpPr>
        <p:spPr>
          <a:xfrm>
            <a:off x="4114800" y="8020202"/>
            <a:ext cx="1257300" cy="247802"/>
          </a:xfrm>
          <a:prstGeom prst="rect">
            <a:avLst/>
          </a:prstGeom>
          <a:noFill/>
          <a:ln/>
        </p:spPr>
        <p:txBody>
          <a:bodyPr wrap="none" lIns="0" tIns="0" rIns="0" bIns="0" rtlCol="0" anchor="ctr"/>
          <a:lstStyle/>
          <a:p>
            <a:pPr algn="l" indent="0" marL="0">
              <a:buNone/>
            </a:pPr>
            <a:r>
              <a:rPr lang="en-US" sz="1500" b="1" dirty="0">
                <a:solidFill>
                  <a:srgbClr val="E8EDF5"/>
                </a:solidFill>
                <a:latin typeface="JetBrains Mono" pitchFamily="34" charset="0"/>
                <a:ea typeface="JetBrains Mono" pitchFamily="34" charset="-122"/>
                <a:cs typeface="JetBrains Mono" pitchFamily="34" charset="-120"/>
              </a:rPr>
              <a:t>22.7 ~ 25.4</a:t>
            </a:r>
            <a:endParaRPr lang="en-US" sz="1500" dirty="0"/>
          </a:p>
        </p:txBody>
      </p:sp>
      <p:sp>
        <p:nvSpPr>
          <p:cNvPr id="67" name="Text 56"/>
          <p:cNvSpPr txBox="1"/>
          <p:nvPr/>
        </p:nvSpPr>
        <p:spPr>
          <a:xfrm>
            <a:off x="1181405" y="8401507"/>
            <a:ext cx="4191610" cy="162763"/>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Center-bright · 안정 분포</a:t>
            </a:r>
            <a:endParaRPr lang="en-US" sz="900" dirty="0"/>
          </a:p>
        </p:txBody>
      </p:sp>
      <p:sp>
        <p:nvSpPr>
          <p:cNvPr id="68" name="Text 57"/>
          <p:cNvSpPr txBox="1"/>
          <p:nvPr/>
        </p:nvSpPr>
        <p:spPr>
          <a:xfrm>
            <a:off x="6896405" y="2895905"/>
            <a:ext cx="457200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WAFER 02 · +15% ETCH</a:t>
            </a:r>
            <a:endParaRPr lang="en-US" sz="825" dirty="0"/>
          </a:p>
        </p:txBody>
      </p:sp>
      <p:sp>
        <p:nvSpPr>
          <p:cNvPr id="69" name="Text 58"/>
          <p:cNvSpPr txBox="1"/>
          <p:nvPr/>
        </p:nvSpPr>
        <p:spPr>
          <a:xfrm>
            <a:off x="6896405" y="3086100"/>
            <a:ext cx="4572000" cy="295351"/>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W2 · mean 23.74</a:t>
            </a:r>
            <a:endParaRPr lang="en-US" sz="1950" dirty="0"/>
          </a:p>
        </p:txBody>
      </p:sp>
      <p:sp>
        <p:nvSpPr>
          <p:cNvPr id="70" name="Text 59"/>
          <p:cNvSpPr txBox="1"/>
          <p:nvPr/>
        </p:nvSpPr>
        <p:spPr>
          <a:xfrm>
            <a:off x="7086600" y="7410298"/>
            <a:ext cx="419161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W2 SUMMARY</a:t>
            </a:r>
            <a:endParaRPr lang="en-US" sz="825" dirty="0"/>
          </a:p>
        </p:txBody>
      </p:sp>
      <p:sp>
        <p:nvSpPr>
          <p:cNvPr id="71" name="Text 60"/>
          <p:cNvSpPr txBox="1"/>
          <p:nvPr/>
        </p:nvSpPr>
        <p:spPr>
          <a:xfrm>
            <a:off x="7086600" y="7744054"/>
            <a:ext cx="256032"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NIU</a:t>
            </a:r>
            <a:endParaRPr lang="en-US" sz="975" dirty="0"/>
          </a:p>
        </p:txBody>
      </p:sp>
      <p:sp>
        <p:nvSpPr>
          <p:cNvPr id="72" name="Text 61"/>
          <p:cNvSpPr txBox="1"/>
          <p:nvPr/>
        </p:nvSpPr>
        <p:spPr>
          <a:xfrm>
            <a:off x="10591495" y="7677302"/>
            <a:ext cx="685800" cy="247802"/>
          </a:xfrm>
          <a:prstGeom prst="rect">
            <a:avLst/>
          </a:prstGeom>
          <a:noFill/>
          <a:ln/>
        </p:spPr>
        <p:txBody>
          <a:bodyPr wrap="none" lIns="0" tIns="0" rIns="0" bIns="0" rtlCol="0" anchor="ctr"/>
          <a:lstStyle/>
          <a:p>
            <a:pPr algn="l" indent="0" marL="0">
              <a:buNone/>
            </a:pPr>
            <a:r>
              <a:rPr lang="en-US" sz="1500" b="1" dirty="0">
                <a:solidFill>
                  <a:srgbClr val="FB923C"/>
                </a:solidFill>
                <a:latin typeface="JetBrains Mono" pitchFamily="34" charset="0"/>
                <a:ea typeface="JetBrains Mono" pitchFamily="34" charset="-122"/>
                <a:cs typeface="JetBrains Mono" pitchFamily="34" charset="-120"/>
              </a:rPr>
              <a:t>3.42 %</a:t>
            </a:r>
            <a:endParaRPr lang="en-US" sz="1500" dirty="0"/>
          </a:p>
        </p:txBody>
      </p:sp>
      <p:sp>
        <p:nvSpPr>
          <p:cNvPr id="73" name="Text 62"/>
          <p:cNvSpPr txBox="1"/>
          <p:nvPr/>
        </p:nvSpPr>
        <p:spPr>
          <a:xfrm>
            <a:off x="7086600" y="8086954"/>
            <a:ext cx="372161"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Range</a:t>
            </a:r>
            <a:endParaRPr lang="en-US" sz="975" dirty="0"/>
          </a:p>
        </p:txBody>
      </p:sp>
      <p:sp>
        <p:nvSpPr>
          <p:cNvPr id="74" name="Text 63"/>
          <p:cNvSpPr txBox="1"/>
          <p:nvPr/>
        </p:nvSpPr>
        <p:spPr>
          <a:xfrm>
            <a:off x="10019995" y="8020202"/>
            <a:ext cx="1257300" cy="247802"/>
          </a:xfrm>
          <a:prstGeom prst="rect">
            <a:avLst/>
          </a:prstGeom>
          <a:noFill/>
          <a:ln/>
        </p:spPr>
        <p:txBody>
          <a:bodyPr wrap="none" lIns="0" tIns="0" rIns="0" bIns="0" rtlCol="0" anchor="ctr"/>
          <a:lstStyle/>
          <a:p>
            <a:pPr algn="l" indent="0" marL="0">
              <a:buNone/>
            </a:pPr>
            <a:r>
              <a:rPr lang="en-US" sz="1500" b="1" dirty="0">
                <a:solidFill>
                  <a:srgbClr val="E8EDF5"/>
                </a:solidFill>
                <a:latin typeface="JetBrains Mono" pitchFamily="34" charset="0"/>
                <a:ea typeface="JetBrains Mono" pitchFamily="34" charset="-122"/>
                <a:cs typeface="JetBrains Mono" pitchFamily="34" charset="-120"/>
              </a:rPr>
              <a:t>22.1 ~ 25.6</a:t>
            </a:r>
            <a:endParaRPr lang="en-US" sz="1500" dirty="0"/>
          </a:p>
        </p:txBody>
      </p:sp>
      <p:sp>
        <p:nvSpPr>
          <p:cNvPr id="75" name="Text 64"/>
          <p:cNvSpPr txBox="1"/>
          <p:nvPr/>
        </p:nvSpPr>
        <p:spPr>
          <a:xfrm>
            <a:off x="7086600" y="8401507"/>
            <a:ext cx="4191610" cy="162763"/>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Edge-low 가속 · mean 음 방향</a:t>
            </a:r>
            <a:endParaRPr lang="en-US" sz="900" dirty="0"/>
          </a:p>
        </p:txBody>
      </p:sp>
      <p:sp>
        <p:nvSpPr>
          <p:cNvPr id="76" name="Text 65"/>
          <p:cNvSpPr txBox="1"/>
          <p:nvPr/>
        </p:nvSpPr>
        <p:spPr>
          <a:xfrm>
            <a:off x="12801600" y="2895905"/>
            <a:ext cx="4572000" cy="133502"/>
          </a:xfrm>
          <a:prstGeom prst="rect">
            <a:avLst/>
          </a:prstGeom>
          <a:noFill/>
          <a:ln/>
        </p:spPr>
        <p:txBody>
          <a:bodyPr wrap="none" lIns="0" tIns="0" rIns="0" bIns="0" rtlCol="0" anchor="ctr"/>
          <a:lstStyle/>
          <a:p>
            <a:pPr algn="l" indent="0" marL="0">
              <a:buNone/>
            </a:pPr>
            <a:r>
              <a:rPr lang="en-US" sz="825" b="1" spc="247" kern="0" dirty="0">
                <a:solidFill>
                  <a:srgbClr val="F472B6"/>
                </a:solidFill>
                <a:latin typeface="JetBrains Mono" pitchFamily="34" charset="0"/>
                <a:ea typeface="JetBrains Mono" pitchFamily="34" charset="-122"/>
                <a:cs typeface="JetBrains Mono" pitchFamily="34" charset="-120"/>
              </a:rPr>
              <a:t>WAFER 03 · +30% ETCH</a:t>
            </a:r>
            <a:endParaRPr lang="en-US" sz="825" dirty="0"/>
          </a:p>
        </p:txBody>
      </p:sp>
      <p:sp>
        <p:nvSpPr>
          <p:cNvPr id="77" name="Text 66"/>
          <p:cNvSpPr txBox="1"/>
          <p:nvPr/>
        </p:nvSpPr>
        <p:spPr>
          <a:xfrm>
            <a:off x="12801600" y="3086100"/>
            <a:ext cx="4572000" cy="295351"/>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W3 · mean 23.05</a:t>
            </a:r>
            <a:endParaRPr lang="en-US" sz="1950" dirty="0"/>
          </a:p>
        </p:txBody>
      </p:sp>
      <p:sp>
        <p:nvSpPr>
          <p:cNvPr id="78" name="Text 67"/>
          <p:cNvSpPr txBox="1"/>
          <p:nvPr/>
        </p:nvSpPr>
        <p:spPr>
          <a:xfrm>
            <a:off x="12991795" y="7410298"/>
            <a:ext cx="4191610" cy="133502"/>
          </a:xfrm>
          <a:prstGeom prst="rect">
            <a:avLst/>
          </a:prstGeom>
          <a:noFill/>
          <a:ln/>
        </p:spPr>
        <p:txBody>
          <a:bodyPr wrap="none" lIns="0" tIns="0" rIns="0" bIns="0" rtlCol="0" anchor="ctr"/>
          <a:lstStyle/>
          <a:p>
            <a:pPr algn="l" indent="0" marL="0">
              <a:buNone/>
            </a:pPr>
            <a:r>
              <a:rPr lang="en-US" sz="825" b="1" spc="247" kern="0" dirty="0">
                <a:solidFill>
                  <a:srgbClr val="F472B6"/>
                </a:solidFill>
                <a:latin typeface="JetBrains Mono" pitchFamily="34" charset="0"/>
                <a:ea typeface="JetBrains Mono" pitchFamily="34" charset="-122"/>
                <a:cs typeface="JetBrains Mono" pitchFamily="34" charset="-120"/>
              </a:rPr>
              <a:t>W3 SUMMARY</a:t>
            </a:r>
            <a:endParaRPr lang="en-US" sz="825" dirty="0"/>
          </a:p>
        </p:txBody>
      </p:sp>
      <p:sp>
        <p:nvSpPr>
          <p:cNvPr id="79" name="Text 68"/>
          <p:cNvSpPr txBox="1"/>
          <p:nvPr/>
        </p:nvSpPr>
        <p:spPr>
          <a:xfrm>
            <a:off x="12991795" y="7744054"/>
            <a:ext cx="256032"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NIU</a:t>
            </a:r>
            <a:endParaRPr lang="en-US" sz="975" dirty="0"/>
          </a:p>
        </p:txBody>
      </p:sp>
      <p:sp>
        <p:nvSpPr>
          <p:cNvPr id="80" name="Text 69"/>
          <p:cNvSpPr txBox="1"/>
          <p:nvPr/>
        </p:nvSpPr>
        <p:spPr>
          <a:xfrm>
            <a:off x="16497605" y="7677302"/>
            <a:ext cx="685800" cy="247802"/>
          </a:xfrm>
          <a:prstGeom prst="rect">
            <a:avLst/>
          </a:prstGeom>
          <a:noFill/>
          <a:ln/>
        </p:spPr>
        <p:txBody>
          <a:bodyPr wrap="none" lIns="0" tIns="0" rIns="0" bIns="0" rtlCol="0" anchor="ctr"/>
          <a:lstStyle/>
          <a:p>
            <a:pPr algn="l" indent="0" marL="0">
              <a:buNone/>
            </a:pPr>
            <a:r>
              <a:rPr lang="en-US" sz="1500" b="1" dirty="0">
                <a:solidFill>
                  <a:srgbClr val="F472B6"/>
                </a:solidFill>
                <a:latin typeface="JetBrains Mono" pitchFamily="34" charset="0"/>
                <a:ea typeface="JetBrains Mono" pitchFamily="34" charset="-122"/>
                <a:cs typeface="JetBrains Mono" pitchFamily="34" charset="-120"/>
              </a:rPr>
              <a:t>5.78 %</a:t>
            </a:r>
            <a:endParaRPr lang="en-US" sz="1500" dirty="0"/>
          </a:p>
        </p:txBody>
      </p:sp>
      <p:sp>
        <p:nvSpPr>
          <p:cNvPr id="81" name="Text 70"/>
          <p:cNvSpPr txBox="1"/>
          <p:nvPr/>
        </p:nvSpPr>
        <p:spPr>
          <a:xfrm>
            <a:off x="12991795" y="8086954"/>
            <a:ext cx="372161"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Range</a:t>
            </a:r>
            <a:endParaRPr lang="en-US" sz="975" dirty="0"/>
          </a:p>
        </p:txBody>
      </p:sp>
      <p:sp>
        <p:nvSpPr>
          <p:cNvPr id="82" name="Text 71"/>
          <p:cNvSpPr txBox="1"/>
          <p:nvPr/>
        </p:nvSpPr>
        <p:spPr>
          <a:xfrm>
            <a:off x="15926105" y="8020202"/>
            <a:ext cx="1257300" cy="247802"/>
          </a:xfrm>
          <a:prstGeom prst="rect">
            <a:avLst/>
          </a:prstGeom>
          <a:noFill/>
          <a:ln/>
        </p:spPr>
        <p:txBody>
          <a:bodyPr wrap="none" lIns="0" tIns="0" rIns="0" bIns="0" rtlCol="0" anchor="ctr"/>
          <a:lstStyle/>
          <a:p>
            <a:pPr algn="l" indent="0" marL="0">
              <a:buNone/>
            </a:pPr>
            <a:r>
              <a:rPr lang="en-US" sz="1500" b="1" dirty="0">
                <a:solidFill>
                  <a:srgbClr val="E8EDF5"/>
                </a:solidFill>
                <a:latin typeface="JetBrains Mono" pitchFamily="34" charset="0"/>
                <a:ea typeface="JetBrains Mono" pitchFamily="34" charset="-122"/>
                <a:cs typeface="JetBrains Mono" pitchFamily="34" charset="-120"/>
              </a:rPr>
              <a:t>21.4 ~ 25.7</a:t>
            </a:r>
            <a:endParaRPr lang="en-US" sz="1500" dirty="0"/>
          </a:p>
        </p:txBody>
      </p:sp>
      <p:sp>
        <p:nvSpPr>
          <p:cNvPr id="83" name="Text 72"/>
          <p:cNvSpPr txBox="1"/>
          <p:nvPr/>
        </p:nvSpPr>
        <p:spPr>
          <a:xfrm>
            <a:off x="12991795" y="8401507"/>
            <a:ext cx="4191610" cy="162763"/>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Edge dip 顯著 · 양극화 분포</a:t>
            </a:r>
            <a:endParaRPr lang="en-US" sz="900" dirty="0"/>
          </a:p>
        </p:txBody>
      </p:sp>
      <p:sp>
        <p:nvSpPr>
          <p:cNvPr id="84" name="Text 73"/>
          <p:cNvSpPr txBox="1"/>
          <p:nvPr/>
        </p:nvSpPr>
        <p:spPr>
          <a:xfrm>
            <a:off x="761695" y="9629546"/>
            <a:ext cx="876910" cy="143561"/>
          </a:xfrm>
          <a:prstGeom prst="rect">
            <a:avLst/>
          </a:prstGeom>
          <a:noFill/>
          <a:ln/>
        </p:spPr>
        <p:txBody>
          <a:bodyPr wrap="none" lIns="0" tIns="0" rIns="0" bIns="0" rtlCol="0" anchor="ctr"/>
          <a:lstStyle/>
          <a:p>
            <a:pPr algn="l" indent="0" marL="0">
              <a:buNone/>
            </a:pPr>
            <a:r>
              <a:rPr lang="en-US" sz="900" spc="135" kern="0" dirty="0">
                <a:solidFill>
                  <a:srgbClr val="64748B"/>
                </a:solidFill>
                <a:latin typeface="Inter" pitchFamily="34" charset="0"/>
                <a:ea typeface="Inter" pitchFamily="34" charset="-122"/>
                <a:cs typeface="Inter" pitchFamily="34" charset="-120"/>
              </a:rPr>
              <a:t>HEAT SCALE</a:t>
            </a:r>
            <a:endParaRPr lang="en-US" sz="900" dirty="0"/>
          </a:p>
        </p:txBody>
      </p:sp>
      <p:sp>
        <p:nvSpPr>
          <p:cNvPr id="85" name="Shape 74"/>
          <p:cNvSpPr/>
          <p:nvPr/>
        </p:nvSpPr>
        <p:spPr>
          <a:xfrm>
            <a:off x="1858061" y="9634118"/>
            <a:ext cx="228600" cy="133502"/>
          </a:xfrm>
          <a:prstGeom prst="rect">
            <a:avLst/>
          </a:prstGeom>
          <a:solidFill>
            <a:srgbClr val="5EEAD4">
              <a:alpha val="65000"/>
            </a:srgbClr>
          </a:solidFill>
          <a:ln w="12700">
            <a:solidFill>
              <a:srgbClr val="FFFFFF">
                <a:alpha val="0"/>
              </a:srgbClr>
            </a:solidFill>
            <a:prstDash val="solid"/>
          </a:ln>
        </p:spPr>
      </p:sp>
      <p:sp>
        <p:nvSpPr>
          <p:cNvPr id="86" name="Text 75"/>
          <p:cNvSpPr txBox="1"/>
          <p:nvPr/>
        </p:nvSpPr>
        <p:spPr>
          <a:xfrm>
            <a:off x="2143354" y="9629546"/>
            <a:ext cx="690372" cy="143561"/>
          </a:xfrm>
          <a:prstGeom prst="rect">
            <a:avLst/>
          </a:prstGeom>
          <a:noFill/>
          <a:ln/>
        </p:spPr>
        <p:txBody>
          <a:bodyPr wrap="non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on target</a:t>
            </a:r>
            <a:endParaRPr lang="en-US" sz="900" dirty="0"/>
          </a:p>
        </p:txBody>
      </p:sp>
      <p:sp>
        <p:nvSpPr>
          <p:cNvPr id="87" name="Shape 76"/>
          <p:cNvSpPr/>
          <p:nvPr/>
        </p:nvSpPr>
        <p:spPr>
          <a:xfrm>
            <a:off x="2857500" y="9634118"/>
            <a:ext cx="228600" cy="133502"/>
          </a:xfrm>
          <a:prstGeom prst="rect">
            <a:avLst/>
          </a:prstGeom>
          <a:solidFill>
            <a:srgbClr val="FB923C">
              <a:alpha val="55000"/>
            </a:srgbClr>
          </a:solidFill>
          <a:ln w="12700">
            <a:solidFill>
              <a:srgbClr val="FFFFFF">
                <a:alpha val="0"/>
              </a:srgbClr>
            </a:solidFill>
            <a:prstDash val="solid"/>
          </a:ln>
        </p:spPr>
      </p:sp>
      <p:sp>
        <p:nvSpPr>
          <p:cNvPr id="88" name="Text 77"/>
          <p:cNvSpPr txBox="1"/>
          <p:nvPr/>
        </p:nvSpPr>
        <p:spPr>
          <a:xfrm>
            <a:off x="3143707" y="9629546"/>
            <a:ext cx="627278" cy="143561"/>
          </a:xfrm>
          <a:prstGeom prst="rect">
            <a:avLst/>
          </a:prstGeom>
          <a:noFill/>
          <a:ln/>
        </p:spPr>
        <p:txBody>
          <a:bodyPr wrap="non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moderate</a:t>
            </a:r>
            <a:endParaRPr lang="en-US" sz="900" dirty="0"/>
          </a:p>
        </p:txBody>
      </p:sp>
      <p:sp>
        <p:nvSpPr>
          <p:cNvPr id="89" name="Shape 78"/>
          <p:cNvSpPr/>
          <p:nvPr/>
        </p:nvSpPr>
        <p:spPr>
          <a:xfrm>
            <a:off x="3887114" y="9634118"/>
            <a:ext cx="228600" cy="133502"/>
          </a:xfrm>
          <a:prstGeom prst="rect">
            <a:avLst/>
          </a:prstGeom>
          <a:solidFill>
            <a:srgbClr val="F472B6">
              <a:alpha val="70000"/>
            </a:srgbClr>
          </a:solidFill>
          <a:ln w="12700">
            <a:solidFill>
              <a:srgbClr val="FFFFFF">
                <a:alpha val="0"/>
              </a:srgbClr>
            </a:solidFill>
            <a:prstDash val="solid"/>
          </a:ln>
        </p:spPr>
      </p:sp>
      <p:sp>
        <p:nvSpPr>
          <p:cNvPr id="90" name="Text 79"/>
          <p:cNvSpPr txBox="1"/>
          <p:nvPr/>
        </p:nvSpPr>
        <p:spPr>
          <a:xfrm>
            <a:off x="4173322" y="9629546"/>
            <a:ext cx="1147572" cy="143561"/>
          </a:xfrm>
          <a:prstGeom prst="rect">
            <a:avLst/>
          </a:prstGeom>
          <a:noFill/>
          <a:ln/>
        </p:spPr>
        <p:txBody>
          <a:bodyPr wrap="none" lIns="0" tIns="0" rIns="0" bIns="0" rtlCol="0" anchor="ctr"/>
          <a:lstStyle/>
          <a:p>
            <a:pPr algn="l" indent="0" marL="0">
              <a:buNone/>
            </a:pPr>
            <a:r>
              <a:rPr lang="en-US" sz="900" dirty="0">
                <a:solidFill>
                  <a:srgbClr val="94A3B8"/>
                </a:solidFill>
                <a:latin typeface="Inter" pitchFamily="34" charset="0"/>
                <a:ea typeface="Inter" pitchFamily="34" charset="-122"/>
                <a:cs typeface="Inter" pitchFamily="34" charset="-120"/>
              </a:rPr>
              <a:t>far from target</a:t>
            </a:r>
            <a:endParaRPr lang="en-US" sz="900" dirty="0"/>
          </a:p>
        </p:txBody>
      </p:sp>
      <p:sp>
        <p:nvSpPr>
          <p:cNvPr id="91" name="Text 80"/>
          <p:cNvSpPr txBox="1"/>
          <p:nvPr/>
        </p:nvSpPr>
        <p:spPr>
          <a:xfrm>
            <a:off x="16230600" y="9620402"/>
            <a:ext cx="1541678" cy="162763"/>
          </a:xfrm>
          <a:prstGeom prst="rect">
            <a:avLst/>
          </a:prstGeom>
          <a:noFill/>
          <a:ln/>
        </p:spPr>
        <p:txBody>
          <a:bodyPr wrap="none" lIns="0" tIns="0" rIns="0" bIns="0" rtlCol="0" anchor="ctr"/>
          <a:lstStyle/>
          <a:p>
            <a:pPr algn="l" indent="0" marL="0">
              <a:buNone/>
            </a:pPr>
            <a:r>
              <a:rPr lang="en-US" sz="900" dirty="0">
                <a:solidFill>
                  <a:srgbClr val="64748B"/>
                </a:solidFill>
                <a:latin typeface="Inter" pitchFamily="34" charset="0"/>
                <a:ea typeface="Inter" pitchFamily="34" charset="-122"/>
                <a:cs typeface="Inter" pitchFamily="34" charset="-120"/>
              </a:rPr>
              <a:t>target 24.3 nm · nm 단위</a:t>
            </a:r>
            <a:endParaRPr lang="en-US" sz="900" dirty="0"/>
          </a:p>
        </p:txBody>
      </p:sp>
      <p:pic>
        <p:nvPicPr>
          <p:cNvPr id="92" name="Image 8" descr="gen-dedup-41df4fb73e13824d9bf43e735c70451d.png">    </p:cNvPr>
          <p:cNvPicPr>
            <a:picLocks noChangeAspect="1"/>
          </p:cNvPicPr>
          <p:nvPr/>
        </p:nvPicPr>
        <p:blipFill>
          <a:blip r:embed="rId9"/>
          <a:srcRect l="-2029" r="-2029" t="0" b="0"/>
          <a:stretch/>
        </p:blipFill>
        <p:spPr>
          <a:xfrm>
            <a:off x="761695" y="10067544"/>
            <a:ext cx="304495" cy="9144"/>
          </a:xfrm>
          <a:prstGeom prst="rect">
            <a:avLst/>
          </a:prstGeom>
        </p:spPr>
      </p:pic>
      <p:sp>
        <p:nvSpPr>
          <p:cNvPr id="93" name="Text 81"/>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
        <p:nvSpPr>
          <p:cNvPr id="94" name="Text 82"/>
          <p:cNvSpPr txBox="1"/>
          <p:nvPr/>
        </p:nvSpPr>
        <p:spPr>
          <a:xfrm>
            <a:off x="1657807"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24.5</a:t>
            </a:r>
            <a:endParaRPr lang="en-US" sz="900" dirty="0"/>
          </a:p>
        </p:txBody>
      </p:sp>
      <p:sp>
        <p:nvSpPr>
          <p:cNvPr id="95" name="Text 83"/>
          <p:cNvSpPr txBox="1"/>
          <p:nvPr/>
        </p:nvSpPr>
        <p:spPr>
          <a:xfrm>
            <a:off x="2933395"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24.6</a:t>
            </a:r>
            <a:endParaRPr lang="en-US" sz="900" dirty="0"/>
          </a:p>
        </p:txBody>
      </p:sp>
      <p:sp>
        <p:nvSpPr>
          <p:cNvPr id="96" name="Text 84"/>
          <p:cNvSpPr txBox="1"/>
          <p:nvPr/>
        </p:nvSpPr>
        <p:spPr>
          <a:xfrm>
            <a:off x="4209898"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24.4</a:t>
            </a:r>
            <a:endParaRPr lang="en-US" sz="900" dirty="0"/>
          </a:p>
        </p:txBody>
      </p:sp>
      <p:sp>
        <p:nvSpPr>
          <p:cNvPr id="97" name="Text 85"/>
          <p:cNvSpPr txBox="1"/>
          <p:nvPr/>
        </p:nvSpPr>
        <p:spPr>
          <a:xfrm>
            <a:off x="2171700"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98" name="Text 86"/>
          <p:cNvSpPr txBox="1"/>
          <p:nvPr/>
        </p:nvSpPr>
        <p:spPr>
          <a:xfrm>
            <a:off x="3696005"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99" name="Text 87"/>
          <p:cNvSpPr txBox="1"/>
          <p:nvPr/>
        </p:nvSpPr>
        <p:spPr>
          <a:xfrm>
            <a:off x="1657807"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23.8</a:t>
            </a:r>
            <a:endParaRPr lang="en-US" sz="900" dirty="0"/>
          </a:p>
        </p:txBody>
      </p:sp>
      <p:sp>
        <p:nvSpPr>
          <p:cNvPr id="100" name="Text 88"/>
          <p:cNvSpPr txBox="1"/>
          <p:nvPr/>
        </p:nvSpPr>
        <p:spPr>
          <a:xfrm>
            <a:off x="2933395"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24.1</a:t>
            </a:r>
            <a:endParaRPr lang="en-US" sz="900" dirty="0"/>
          </a:p>
        </p:txBody>
      </p:sp>
      <p:sp>
        <p:nvSpPr>
          <p:cNvPr id="101" name="Text 89"/>
          <p:cNvSpPr txBox="1"/>
          <p:nvPr/>
        </p:nvSpPr>
        <p:spPr>
          <a:xfrm>
            <a:off x="4209898"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102" name="Text 90"/>
          <p:cNvSpPr txBox="1"/>
          <p:nvPr/>
        </p:nvSpPr>
        <p:spPr>
          <a:xfrm>
            <a:off x="2171700"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24.2</a:t>
            </a:r>
            <a:endParaRPr lang="en-US" sz="900" dirty="0"/>
          </a:p>
        </p:txBody>
      </p:sp>
      <p:sp>
        <p:nvSpPr>
          <p:cNvPr id="103" name="Text 91"/>
          <p:cNvSpPr txBox="1"/>
          <p:nvPr/>
        </p:nvSpPr>
        <p:spPr>
          <a:xfrm>
            <a:off x="3696005"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104" name="Text 92"/>
          <p:cNvSpPr txBox="1"/>
          <p:nvPr/>
        </p:nvSpPr>
        <p:spPr>
          <a:xfrm>
            <a:off x="1657807"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23.9</a:t>
            </a:r>
            <a:endParaRPr lang="en-US" sz="900" dirty="0"/>
          </a:p>
        </p:txBody>
      </p:sp>
      <p:sp>
        <p:nvSpPr>
          <p:cNvPr id="105" name="Text 93"/>
          <p:cNvSpPr txBox="1"/>
          <p:nvPr/>
        </p:nvSpPr>
        <p:spPr>
          <a:xfrm>
            <a:off x="2933395"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23.8</a:t>
            </a:r>
            <a:endParaRPr lang="en-US" sz="900" dirty="0"/>
          </a:p>
        </p:txBody>
      </p:sp>
      <p:sp>
        <p:nvSpPr>
          <p:cNvPr id="106" name="Text 94"/>
          <p:cNvSpPr txBox="1"/>
          <p:nvPr/>
        </p:nvSpPr>
        <p:spPr>
          <a:xfrm>
            <a:off x="4209898"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23.9</a:t>
            </a:r>
            <a:endParaRPr lang="en-US" sz="900" dirty="0"/>
          </a:p>
        </p:txBody>
      </p:sp>
      <p:sp>
        <p:nvSpPr>
          <p:cNvPr id="107" name="Text 95"/>
          <p:cNvSpPr txBox="1"/>
          <p:nvPr/>
        </p:nvSpPr>
        <p:spPr>
          <a:xfrm>
            <a:off x="7563002"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24.6</a:t>
            </a:r>
            <a:endParaRPr lang="en-US" sz="900" dirty="0"/>
          </a:p>
        </p:txBody>
      </p:sp>
      <p:sp>
        <p:nvSpPr>
          <p:cNvPr id="108" name="Text 96"/>
          <p:cNvSpPr txBox="1"/>
          <p:nvPr/>
        </p:nvSpPr>
        <p:spPr>
          <a:xfrm>
            <a:off x="8839505"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109" name="Text 97"/>
          <p:cNvSpPr txBox="1"/>
          <p:nvPr/>
        </p:nvSpPr>
        <p:spPr>
          <a:xfrm>
            <a:off x="10116007"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23.4</a:t>
            </a:r>
            <a:endParaRPr lang="en-US" sz="900" dirty="0"/>
          </a:p>
        </p:txBody>
      </p:sp>
      <p:sp>
        <p:nvSpPr>
          <p:cNvPr id="110" name="Text 98"/>
          <p:cNvSpPr txBox="1"/>
          <p:nvPr/>
        </p:nvSpPr>
        <p:spPr>
          <a:xfrm>
            <a:off x="8076895"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23.8</a:t>
            </a:r>
            <a:endParaRPr lang="en-US" sz="900" dirty="0"/>
          </a:p>
        </p:txBody>
      </p:sp>
      <p:sp>
        <p:nvSpPr>
          <p:cNvPr id="111" name="Text 99"/>
          <p:cNvSpPr txBox="1"/>
          <p:nvPr/>
        </p:nvSpPr>
        <p:spPr>
          <a:xfrm>
            <a:off x="9601200"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23.7</a:t>
            </a:r>
            <a:endParaRPr lang="en-US" sz="900" dirty="0"/>
          </a:p>
        </p:txBody>
      </p:sp>
      <p:sp>
        <p:nvSpPr>
          <p:cNvPr id="112" name="Text 100"/>
          <p:cNvSpPr txBox="1"/>
          <p:nvPr/>
        </p:nvSpPr>
        <p:spPr>
          <a:xfrm>
            <a:off x="7563002"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23.5</a:t>
            </a:r>
            <a:endParaRPr lang="en-US" sz="900" dirty="0"/>
          </a:p>
        </p:txBody>
      </p:sp>
      <p:sp>
        <p:nvSpPr>
          <p:cNvPr id="113" name="Text 101"/>
          <p:cNvSpPr txBox="1"/>
          <p:nvPr/>
        </p:nvSpPr>
        <p:spPr>
          <a:xfrm>
            <a:off x="8839505"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23.7</a:t>
            </a:r>
            <a:endParaRPr lang="en-US" sz="900" dirty="0"/>
          </a:p>
        </p:txBody>
      </p:sp>
      <p:sp>
        <p:nvSpPr>
          <p:cNvPr id="114" name="Text 102"/>
          <p:cNvSpPr txBox="1"/>
          <p:nvPr/>
        </p:nvSpPr>
        <p:spPr>
          <a:xfrm>
            <a:off x="10116007"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115" name="Text 103"/>
          <p:cNvSpPr txBox="1"/>
          <p:nvPr/>
        </p:nvSpPr>
        <p:spPr>
          <a:xfrm>
            <a:off x="8076895"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23.6</a:t>
            </a:r>
            <a:endParaRPr lang="en-US" sz="900" dirty="0"/>
          </a:p>
        </p:txBody>
      </p:sp>
      <p:sp>
        <p:nvSpPr>
          <p:cNvPr id="116" name="Text 104"/>
          <p:cNvSpPr txBox="1"/>
          <p:nvPr/>
        </p:nvSpPr>
        <p:spPr>
          <a:xfrm>
            <a:off x="9601200"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23.9</a:t>
            </a:r>
            <a:endParaRPr lang="en-US" sz="900" dirty="0"/>
          </a:p>
        </p:txBody>
      </p:sp>
      <p:sp>
        <p:nvSpPr>
          <p:cNvPr id="117" name="Text 105"/>
          <p:cNvSpPr txBox="1"/>
          <p:nvPr/>
        </p:nvSpPr>
        <p:spPr>
          <a:xfrm>
            <a:off x="7563002"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23.5</a:t>
            </a:r>
            <a:endParaRPr lang="en-US" sz="900" dirty="0"/>
          </a:p>
        </p:txBody>
      </p:sp>
      <p:sp>
        <p:nvSpPr>
          <p:cNvPr id="118" name="Text 106"/>
          <p:cNvSpPr txBox="1"/>
          <p:nvPr/>
        </p:nvSpPr>
        <p:spPr>
          <a:xfrm>
            <a:off x="8839505"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23.8</a:t>
            </a:r>
            <a:endParaRPr lang="en-US" sz="900" dirty="0"/>
          </a:p>
        </p:txBody>
      </p:sp>
      <p:sp>
        <p:nvSpPr>
          <p:cNvPr id="119" name="Text 107"/>
          <p:cNvSpPr txBox="1"/>
          <p:nvPr/>
        </p:nvSpPr>
        <p:spPr>
          <a:xfrm>
            <a:off x="10116007"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23.5</a:t>
            </a:r>
            <a:endParaRPr lang="en-US" sz="900" dirty="0"/>
          </a:p>
        </p:txBody>
      </p:sp>
      <p:sp>
        <p:nvSpPr>
          <p:cNvPr id="120" name="Text 108"/>
          <p:cNvSpPr txBox="1"/>
          <p:nvPr/>
        </p:nvSpPr>
        <p:spPr>
          <a:xfrm>
            <a:off x="13468198"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24.5</a:t>
            </a:r>
            <a:endParaRPr lang="en-US" sz="900" dirty="0"/>
          </a:p>
        </p:txBody>
      </p:sp>
      <p:sp>
        <p:nvSpPr>
          <p:cNvPr id="121" name="Text 109"/>
          <p:cNvSpPr txBox="1"/>
          <p:nvPr/>
        </p:nvSpPr>
        <p:spPr>
          <a:xfrm>
            <a:off x="14744700"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23.5</a:t>
            </a:r>
            <a:endParaRPr lang="en-US" sz="900" dirty="0"/>
          </a:p>
        </p:txBody>
      </p:sp>
      <p:sp>
        <p:nvSpPr>
          <p:cNvPr id="122" name="Text 110"/>
          <p:cNvSpPr txBox="1"/>
          <p:nvPr/>
        </p:nvSpPr>
        <p:spPr>
          <a:xfrm>
            <a:off x="16021202" y="37526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22.7</a:t>
            </a:r>
            <a:endParaRPr lang="en-US" sz="900" dirty="0"/>
          </a:p>
        </p:txBody>
      </p:sp>
      <p:sp>
        <p:nvSpPr>
          <p:cNvPr id="123" name="Text 111"/>
          <p:cNvSpPr txBox="1"/>
          <p:nvPr/>
        </p:nvSpPr>
        <p:spPr>
          <a:xfrm>
            <a:off x="13983005"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22.9</a:t>
            </a:r>
            <a:endParaRPr lang="en-US" sz="900" dirty="0"/>
          </a:p>
        </p:txBody>
      </p:sp>
      <p:sp>
        <p:nvSpPr>
          <p:cNvPr id="124" name="Text 112"/>
          <p:cNvSpPr txBox="1"/>
          <p:nvPr/>
        </p:nvSpPr>
        <p:spPr>
          <a:xfrm>
            <a:off x="15506395" y="4552798"/>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23.1</a:t>
            </a:r>
            <a:endParaRPr lang="en-US" sz="900" dirty="0"/>
          </a:p>
        </p:txBody>
      </p:sp>
      <p:sp>
        <p:nvSpPr>
          <p:cNvPr id="125" name="Text 113"/>
          <p:cNvSpPr txBox="1"/>
          <p:nvPr/>
        </p:nvSpPr>
        <p:spPr>
          <a:xfrm>
            <a:off x="13468198"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23.0</a:t>
            </a:r>
            <a:endParaRPr lang="en-US" sz="900" dirty="0"/>
          </a:p>
        </p:txBody>
      </p:sp>
      <p:sp>
        <p:nvSpPr>
          <p:cNvPr id="126" name="Text 114"/>
          <p:cNvSpPr txBox="1"/>
          <p:nvPr/>
        </p:nvSpPr>
        <p:spPr>
          <a:xfrm>
            <a:off x="14744700"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23.2</a:t>
            </a:r>
            <a:endParaRPr lang="en-US" sz="900" dirty="0"/>
          </a:p>
        </p:txBody>
      </p:sp>
      <p:sp>
        <p:nvSpPr>
          <p:cNvPr id="127" name="Text 115"/>
          <p:cNvSpPr txBox="1"/>
          <p:nvPr/>
        </p:nvSpPr>
        <p:spPr>
          <a:xfrm>
            <a:off x="16021202" y="5143500"/>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23.0</a:t>
            </a:r>
            <a:endParaRPr lang="en-US" sz="900" dirty="0"/>
          </a:p>
        </p:txBody>
      </p:sp>
      <p:sp>
        <p:nvSpPr>
          <p:cNvPr id="128" name="Text 116"/>
          <p:cNvSpPr txBox="1"/>
          <p:nvPr/>
        </p:nvSpPr>
        <p:spPr>
          <a:xfrm>
            <a:off x="13983005"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24.0</a:t>
            </a:r>
            <a:endParaRPr lang="en-US" sz="900" dirty="0"/>
          </a:p>
        </p:txBody>
      </p:sp>
      <p:sp>
        <p:nvSpPr>
          <p:cNvPr id="129" name="Text 117"/>
          <p:cNvSpPr txBox="1"/>
          <p:nvPr/>
        </p:nvSpPr>
        <p:spPr>
          <a:xfrm>
            <a:off x="15506395" y="57342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23.1</a:t>
            </a:r>
            <a:endParaRPr lang="en-US" sz="900" dirty="0"/>
          </a:p>
        </p:txBody>
      </p:sp>
      <p:sp>
        <p:nvSpPr>
          <p:cNvPr id="130" name="Text 118"/>
          <p:cNvSpPr txBox="1"/>
          <p:nvPr/>
        </p:nvSpPr>
        <p:spPr>
          <a:xfrm>
            <a:off x="13468198"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22.8</a:t>
            </a:r>
            <a:endParaRPr lang="en-US" sz="900" dirty="0"/>
          </a:p>
        </p:txBody>
      </p:sp>
      <p:sp>
        <p:nvSpPr>
          <p:cNvPr id="131" name="Text 119"/>
          <p:cNvSpPr txBox="1"/>
          <p:nvPr/>
        </p:nvSpPr>
        <p:spPr>
          <a:xfrm>
            <a:off x="14744700"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23.0</a:t>
            </a:r>
            <a:endParaRPr lang="en-US" sz="900" dirty="0"/>
          </a:p>
        </p:txBody>
      </p:sp>
      <p:sp>
        <p:nvSpPr>
          <p:cNvPr id="132" name="Text 120"/>
          <p:cNvSpPr txBox="1"/>
          <p:nvPr/>
        </p:nvSpPr>
        <p:spPr>
          <a:xfrm>
            <a:off x="16021202" y="6534302"/>
            <a:ext cx="609905" cy="362102"/>
          </a:xfrm>
          <a:prstGeom prst="rect">
            <a:avLst/>
          </a:prstGeom>
          <a:noFill/>
          <a:ln/>
        </p:spPr>
        <p:txBody>
          <a:bodyPr wrap="none" lIns="0" tIns="0" rIns="0" bIns="0" rtlCol="0" anchor="ctr"/>
          <a:lstStyle/>
          <a:p>
            <a:pPr algn="ctr" indent="0" marL="0">
              <a:buNone/>
            </a:pPr>
            <a:r>
              <a:rPr lang="en-US" sz="900" b="1" dirty="0">
                <a:solidFill>
                  <a:srgbClr val="0B0F1B"/>
                </a:solidFill>
                <a:latin typeface="JetBrains Mono" pitchFamily="34" charset="0"/>
                <a:ea typeface="JetBrains Mono" pitchFamily="34" charset="-122"/>
                <a:cs typeface="JetBrains Mono" pitchFamily="34" charset="-120"/>
              </a:rPr>
              <a:t>22.4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B"/>
        </a:solidFill>
      </p:bgPr>
    </p:bg>
    <p:spTree>
      <p:nvGrpSpPr>
        <p:cNvPr id="1" name=""/>
        <p:cNvGrpSpPr/>
        <p:nvPr/>
      </p:nvGrpSpPr>
      <p:grpSpPr>
        <a:xfrm>
          <a:off x="0" y="0"/>
          <a:ext cx="0" cy="0"/>
          <a:chOff x="0" y="0"/>
          <a:chExt cx="0" cy="0"/>
        </a:xfrm>
      </p:grpSpPr>
      <p:pic>
        <p:nvPicPr>
          <p:cNvPr id="3" name="Image 0" descr="gen-dedup-0e4a8abaab5a896af9e65f969efa8716.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e0cd682a493c1547ad84460c3b519786.png">    </p:cNvPr>
          <p:cNvPicPr>
            <a:picLocks noChangeAspect="1"/>
          </p:cNvPicPr>
          <p:nvPr/>
        </p:nvPicPr>
        <p:blipFill>
          <a:blip r:embed="rId2"/>
          <a:srcRect l="0" r="0" t="-4" b="-4"/>
          <a:stretch/>
        </p:blipFill>
        <p:spPr>
          <a:xfrm>
            <a:off x="761695" y="2667305"/>
            <a:ext cx="5352898" cy="2876702"/>
          </a:xfrm>
          <a:prstGeom prst="rect">
            <a:avLst/>
          </a:prstGeom>
        </p:spPr>
      </p:pic>
      <p:sp>
        <p:nvSpPr>
          <p:cNvPr id="5" name="Shape 0"/>
          <p:cNvSpPr/>
          <p:nvPr/>
        </p:nvSpPr>
        <p:spPr>
          <a:xfrm>
            <a:off x="6476695" y="2667305"/>
            <a:ext cx="11067898" cy="5162702"/>
          </a:xfrm>
          <a:prstGeom prst="rect">
            <a:avLst/>
          </a:prstGeom>
          <a:solidFill>
            <a:srgbClr val="141A28"/>
          </a:solidFill>
          <a:ln w="12700">
            <a:solidFill>
              <a:srgbClr val="1F2A40"/>
            </a:solidFill>
            <a:prstDash val="solid"/>
          </a:ln>
        </p:spPr>
      </p:sp>
      <p:sp>
        <p:nvSpPr>
          <p:cNvPr id="6" name="Shape 1"/>
          <p:cNvSpPr/>
          <p:nvPr/>
        </p:nvSpPr>
        <p:spPr>
          <a:xfrm>
            <a:off x="761695" y="5905195"/>
            <a:ext cx="5352898" cy="3543300"/>
          </a:xfrm>
          <a:prstGeom prst="rect">
            <a:avLst/>
          </a:prstGeom>
          <a:solidFill>
            <a:srgbClr val="141A28"/>
          </a:solidFill>
          <a:ln w="12700">
            <a:solidFill>
              <a:srgbClr val="1F2A40"/>
            </a:solidFill>
            <a:prstDash val="solid"/>
          </a:ln>
        </p:spPr>
      </p:sp>
      <p:pic>
        <p:nvPicPr>
          <p:cNvPr id="7" name="Image 2" descr="gen-dedup-a53873be19f0f049f0bd09becbbbe0fe.png">    </p:cNvPr>
          <p:cNvPicPr>
            <a:picLocks noChangeAspect="1"/>
          </p:cNvPicPr>
          <p:nvPr/>
        </p:nvPicPr>
        <p:blipFill>
          <a:blip r:embed="rId3"/>
          <a:srcRect l="0" r="0" t="-403" b="-403"/>
          <a:stretch/>
        </p:blipFill>
        <p:spPr>
          <a:xfrm>
            <a:off x="761695" y="2667305"/>
            <a:ext cx="5333695" cy="38405"/>
          </a:xfrm>
          <a:prstGeom prst="rect">
            <a:avLst/>
          </a:prstGeom>
        </p:spPr>
      </p:pic>
      <p:sp>
        <p:nvSpPr>
          <p:cNvPr id="8" name="Shape 2"/>
          <p:cNvSpPr/>
          <p:nvPr/>
        </p:nvSpPr>
        <p:spPr>
          <a:xfrm>
            <a:off x="6762902" y="3619195"/>
            <a:ext cx="10477195" cy="457200"/>
          </a:xfrm>
          <a:prstGeom prst="rect">
            <a:avLst/>
          </a:prstGeom>
          <a:solidFill>
            <a:srgbClr val="0F1424"/>
          </a:solidFill>
          <a:ln w="12700">
            <a:solidFill>
              <a:srgbClr val="FFFFFF">
                <a:alpha val="0"/>
              </a:srgbClr>
            </a:solidFill>
            <a:prstDash val="solid"/>
          </a:ln>
        </p:spPr>
      </p:sp>
      <p:pic>
        <p:nvPicPr>
          <p:cNvPr id="9" name="Image 3" descr="gen-dedup-c31d0602c974d717e0a487f6b8f64de8.png">    </p:cNvPr>
          <p:cNvPicPr>
            <a:picLocks noChangeAspect="1"/>
          </p:cNvPicPr>
          <p:nvPr/>
        </p:nvPicPr>
        <p:blipFill>
          <a:blip r:embed="rId4"/>
          <a:srcRect l="-2083" r="-2083" t="0" b="0"/>
          <a:stretch/>
        </p:blipFill>
        <p:spPr>
          <a:xfrm>
            <a:off x="6762902" y="4743907"/>
            <a:ext cx="10477195" cy="9144"/>
          </a:xfrm>
          <a:prstGeom prst="rect">
            <a:avLst/>
          </a:prstGeom>
        </p:spPr>
      </p:pic>
      <p:pic>
        <p:nvPicPr>
          <p:cNvPr id="10" name="Image 4" descr="gen-dedup-c31d0602c974d717e0a487f6b8f64de8.png">    </p:cNvPr>
          <p:cNvPicPr>
            <a:picLocks noChangeAspect="1"/>
          </p:cNvPicPr>
          <p:nvPr/>
        </p:nvPicPr>
        <p:blipFill>
          <a:blip r:embed="rId5"/>
          <a:srcRect l="-2083" r="-2083" t="0" b="0"/>
          <a:stretch/>
        </p:blipFill>
        <p:spPr>
          <a:xfrm>
            <a:off x="6762902" y="5372100"/>
            <a:ext cx="10477195" cy="9144"/>
          </a:xfrm>
          <a:prstGeom prst="rect">
            <a:avLst/>
          </a:prstGeom>
        </p:spPr>
      </p:pic>
      <p:pic>
        <p:nvPicPr>
          <p:cNvPr id="11" name="Image 5" descr="gen-dedup-c31d0602c974d717e0a487f6b8f64de8.png">    </p:cNvPr>
          <p:cNvPicPr>
            <a:picLocks noChangeAspect="1"/>
          </p:cNvPicPr>
          <p:nvPr/>
        </p:nvPicPr>
        <p:blipFill>
          <a:blip r:embed="rId6"/>
          <a:srcRect l="-2083" r="-2083" t="0" b="0"/>
          <a:stretch/>
        </p:blipFill>
        <p:spPr>
          <a:xfrm>
            <a:off x="6762902" y="6001207"/>
            <a:ext cx="10477195" cy="9144"/>
          </a:xfrm>
          <a:prstGeom prst="rect">
            <a:avLst/>
          </a:prstGeom>
        </p:spPr>
      </p:pic>
      <p:sp>
        <p:nvSpPr>
          <p:cNvPr id="12" name="Shape 3"/>
          <p:cNvSpPr/>
          <p:nvPr/>
        </p:nvSpPr>
        <p:spPr>
          <a:xfrm>
            <a:off x="6762902" y="7181698"/>
            <a:ext cx="10496398" cy="647395"/>
          </a:xfrm>
          <a:prstGeom prst="rect">
            <a:avLst/>
          </a:prstGeom>
          <a:solidFill>
            <a:srgbClr val="5EEAD4">
              <a:alpha val="6000"/>
            </a:srgbClr>
          </a:solidFill>
          <a:ln w="12700">
            <a:solidFill>
              <a:srgbClr val="5EEAD4">
                <a:alpha val="25000"/>
              </a:srgbClr>
            </a:solidFill>
            <a:prstDash val="solid"/>
          </a:ln>
        </p:spPr>
      </p:sp>
      <p:pic>
        <p:nvPicPr>
          <p:cNvPr id="13" name="Image 6" descr="gen-dedup-fb7284239b65d37878da76aad5baf72f.png">    </p:cNvPr>
          <p:cNvPicPr>
            <a:picLocks noChangeAspect="1"/>
          </p:cNvPicPr>
          <p:nvPr/>
        </p:nvPicPr>
        <p:blipFill>
          <a:blip r:embed="rId7"/>
          <a:srcRect l="0" r="0" t="-437" b="-437"/>
          <a:stretch/>
        </p:blipFill>
        <p:spPr>
          <a:xfrm>
            <a:off x="761695" y="662026"/>
            <a:ext cx="418795" cy="19202"/>
          </a:xfrm>
          <a:prstGeom prst="rect">
            <a:avLst/>
          </a:prstGeom>
        </p:spPr>
      </p:pic>
      <p:sp>
        <p:nvSpPr>
          <p:cNvPr id="14" name="Text 4"/>
          <p:cNvSpPr txBox="1"/>
          <p:nvPr/>
        </p:nvSpPr>
        <p:spPr>
          <a:xfrm>
            <a:off x="1352398" y="590702"/>
            <a:ext cx="29626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09 — LINE RESISTANCE</a:t>
            </a:r>
            <a:endParaRPr lang="en-US" sz="975" dirty="0"/>
          </a:p>
        </p:txBody>
      </p:sp>
      <p:sp>
        <p:nvSpPr>
          <p:cNvPr id="15" name="Text 5"/>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09</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16" name="Text 6"/>
          <p:cNvSpPr txBox="1"/>
          <p:nvPr/>
        </p:nvSpPr>
        <p:spPr>
          <a:xfrm>
            <a:off x="761695" y="1238098"/>
            <a:ext cx="14287500" cy="514807"/>
          </a:xfrm>
          <a:prstGeom prst="rect">
            <a:avLst/>
          </a:prstGeom>
          <a:noFill/>
          <a:ln/>
        </p:spPr>
        <p:txBody>
          <a:bodyPr wrap="none" lIns="0" tIns="0" rIns="0" bIns="0" rtlCol="0" anchor="ctr"/>
          <a:lstStyle/>
          <a:p>
            <a:pPr algn="l" indent="0" marL="0">
              <a:buNone/>
            </a:pPr>
            <a:r>
              <a:rPr lang="en-US" sz="4050" b="1" spc="-142" kern="0" dirty="0">
                <a:solidFill>
                  <a:srgbClr val="5EEAD4"/>
                </a:solidFill>
                <a:latin typeface="Inter" pitchFamily="34" charset="0"/>
                <a:ea typeface="Inter" pitchFamily="34" charset="-122"/>
                <a:cs typeface="Inter" pitchFamily="34" charset="-120"/>
              </a:rPr>
              <a:t>Line R</a:t>
            </a:r>
            <a:pPr algn="l" indent="0" marL="0">
              <a:buNone/>
            </a:pPr>
            <a:r>
              <a:rPr lang="en-US" sz="4050" b="1" spc="-142" kern="0" dirty="0">
                <a:solidFill>
                  <a:srgbClr val="E8EDF5"/>
                </a:solidFill>
                <a:latin typeface="Inter" pitchFamily="34" charset="0"/>
                <a:ea typeface="Inter" pitchFamily="34" charset="-122"/>
                <a:cs typeface="Inter" pitchFamily="34" charset="-120"/>
              </a:rPr>
              <a:t> 측정 결과</a:t>
            </a:r>
            <a:endParaRPr lang="en-US" sz="4050" dirty="0"/>
          </a:p>
        </p:txBody>
      </p:sp>
      <p:sp>
        <p:nvSpPr>
          <p:cNvPr id="17" name="Text 7"/>
          <p:cNvSpPr txBox="1"/>
          <p:nvPr/>
        </p:nvSpPr>
        <p:spPr>
          <a:xfrm>
            <a:off x="761695" y="1886407"/>
            <a:ext cx="14287500" cy="238658"/>
          </a:xfrm>
          <a:prstGeom prst="rect">
            <a:avLst/>
          </a:prstGeom>
          <a:noFill/>
          <a:ln/>
        </p:spPr>
        <p:txBody>
          <a:bodyPr wrap="none" lIns="0" tIns="0" rIns="0" bIns="0" rtlCol="0" anchor="ctr"/>
          <a:lstStyle/>
          <a:p>
            <a:pPr algn="l" indent="0" marL="0">
              <a:buNone/>
            </a:pPr>
            <a:r>
              <a:rPr lang="en-US" sz="1275" dirty="0">
                <a:solidFill>
                  <a:srgbClr val="94A3B8"/>
                </a:solidFill>
                <a:latin typeface="Inter" pitchFamily="34" charset="0"/>
                <a:ea typeface="Inter" pitchFamily="34" charset="-122"/>
                <a:cs typeface="Inter" pitchFamily="34" charset="-120"/>
              </a:rPr>
              <a:t>25 °C, 4-wire Kelvin · 24/32/48 nm 폭 × 1 mm single line · unit Ω/μm.</a:t>
            </a:r>
            <a:endParaRPr lang="en-US" sz="1275" dirty="0"/>
          </a:p>
        </p:txBody>
      </p:sp>
      <p:sp>
        <p:nvSpPr>
          <p:cNvPr id="18" name="Text 8"/>
          <p:cNvSpPr txBox="1"/>
          <p:nvPr/>
        </p:nvSpPr>
        <p:spPr>
          <a:xfrm>
            <a:off x="1086307" y="2971800"/>
            <a:ext cx="4572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DELTA · M8 24 nm 1 mm</a:t>
            </a:r>
            <a:endParaRPr lang="en-US" sz="825" dirty="0"/>
          </a:p>
        </p:txBody>
      </p:sp>
      <p:sp>
        <p:nvSpPr>
          <p:cNvPr id="19" name="Text 9"/>
          <p:cNvSpPr txBox="1"/>
          <p:nvPr/>
        </p:nvSpPr>
        <p:spPr>
          <a:xfrm>
            <a:off x="1086307" y="3238805"/>
            <a:ext cx="2395728" cy="762610"/>
          </a:xfrm>
          <a:prstGeom prst="rect">
            <a:avLst/>
          </a:prstGeom>
          <a:noFill/>
          <a:ln/>
        </p:spPr>
        <p:txBody>
          <a:bodyPr wrap="none" lIns="0" tIns="0" rIns="0" bIns="0" rtlCol="0" anchor="ctr"/>
          <a:lstStyle/>
          <a:p>
            <a:pPr algn="l" indent="0" marL="0">
              <a:buNone/>
            </a:pPr>
            <a:r>
              <a:rPr lang="en-US" sz="6000" b="1" spc="-240" kern="0" dirty="0">
                <a:solidFill>
                  <a:srgbClr val="E8EDF5"/>
                </a:solidFill>
                <a:latin typeface="Inter" pitchFamily="34" charset="0"/>
                <a:ea typeface="Inter" pitchFamily="34" charset="-122"/>
                <a:cs typeface="Inter" pitchFamily="34" charset="-120"/>
              </a:rPr>
              <a:t>−13.7</a:t>
            </a:r>
            <a:endParaRPr lang="en-US" sz="6000" dirty="0"/>
          </a:p>
        </p:txBody>
      </p:sp>
      <p:sp>
        <p:nvSpPr>
          <p:cNvPr id="20" name="Text 10"/>
          <p:cNvSpPr txBox="1"/>
          <p:nvPr/>
        </p:nvSpPr>
        <p:spPr>
          <a:xfrm>
            <a:off x="3145536" y="3638398"/>
            <a:ext cx="277063" cy="324612"/>
          </a:xfrm>
          <a:prstGeom prst="rect">
            <a:avLst/>
          </a:prstGeom>
          <a:noFill/>
          <a:ln/>
        </p:spPr>
        <p:txBody>
          <a:bodyPr wrap="none" lIns="0" tIns="0" rIns="0" bIns="0" rtlCol="0" anchor="ctr"/>
          <a:lstStyle/>
          <a:p>
            <a:pPr algn="l" indent="0" marL="0">
              <a:buNone/>
            </a:pPr>
            <a:r>
              <a:rPr lang="en-US" sz="2100" b="1" dirty="0">
                <a:solidFill>
                  <a:srgbClr val="5EEAD4"/>
                </a:solidFill>
                <a:latin typeface="Inter" pitchFamily="34" charset="0"/>
                <a:ea typeface="Inter" pitchFamily="34" charset="-122"/>
                <a:cs typeface="Inter" pitchFamily="34" charset="-120"/>
              </a:rPr>
              <a:t>%</a:t>
            </a:r>
            <a:endParaRPr lang="en-US" sz="2100" dirty="0"/>
          </a:p>
        </p:txBody>
      </p:sp>
      <p:sp>
        <p:nvSpPr>
          <p:cNvPr id="21" name="Text 11"/>
          <p:cNvSpPr txBox="1"/>
          <p:nvPr/>
        </p:nvSpPr>
        <p:spPr>
          <a:xfrm>
            <a:off x="1086307" y="4112971"/>
            <a:ext cx="4572000" cy="449885"/>
          </a:xfrm>
          <a:prstGeom prst="rect">
            <a:avLst/>
          </a:prstGeom>
          <a:noFill/>
          <a:ln/>
        </p:spPr>
        <p:txBody>
          <a:bodyPr wrap="square" lIns="0" tIns="0" rIns="0" bIns="0" rtlCol="0" anchor="t"/>
          <a:lstStyle/>
          <a:p>
            <a:pPr algn="l" indent="0" marL="0">
              <a:lnSpc>
                <a:spcPts val="1688"/>
              </a:lnSpc>
              <a:buNone/>
            </a:pPr>
            <a:r>
              <a:rPr lang="en-US" sz="1125" dirty="0">
                <a:solidFill>
                  <a:srgbClr val="94A3B8"/>
                </a:solidFill>
                <a:latin typeface="Inter" pitchFamily="34" charset="0"/>
                <a:ea typeface="Inter" pitchFamily="34" charset="-122"/>
                <a:cs typeface="Inter" pitchFamily="34" charset="-120"/>
              </a:rPr>
              <a:t>W1 → W3 평균 line R 감소폭.</a:t>
            </a:r>
            <a:pPr algn="l" indent="0" marL="0">
              <a:lnSpc>
                <a:spcPts val="1688"/>
              </a:lnSpc>
              <a:buNone/>
            </a:pPr>
            <a:endParaRPr lang="en-US" sz="1125" dirty="0"/>
          </a:p>
          <a:p>
            <a:pPr algn="l" indent="0" marL="0">
              <a:lnSpc>
                <a:spcPts val="1688"/>
              </a:lnSpc>
              <a:buNone/>
            </a:pPr>
            <a:r>
              <a:rPr lang="en-US" sz="1125" dirty="0">
                <a:solidFill>
                  <a:srgbClr val="94A3B8"/>
                </a:solidFill>
                <a:latin typeface="Inter" pitchFamily="34" charset="0"/>
                <a:ea typeface="Inter" pitchFamily="34" charset="-122"/>
                <a:cs typeface="Inter" pitchFamily="34" charset="-120"/>
              </a:rPr>
              <a:t>깊은 trench → Cu 부피 ↑ → R 저하.</a:t>
            </a:r>
            <a:endParaRPr lang="en-US" sz="1125" dirty="0"/>
          </a:p>
        </p:txBody>
      </p:sp>
      <p:sp>
        <p:nvSpPr>
          <p:cNvPr id="22" name="Text 12"/>
          <p:cNvSpPr txBox="1"/>
          <p:nvPr/>
        </p:nvSpPr>
        <p:spPr>
          <a:xfrm>
            <a:off x="6762902" y="2895905"/>
            <a:ext cx="1047811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M8 LINE R · MULTI-WIDTH</a:t>
            </a:r>
            <a:endParaRPr lang="en-US" sz="825" dirty="0"/>
          </a:p>
        </p:txBody>
      </p:sp>
      <p:sp>
        <p:nvSpPr>
          <p:cNvPr id="23" name="Text 13"/>
          <p:cNvSpPr txBox="1"/>
          <p:nvPr/>
        </p:nvSpPr>
        <p:spPr>
          <a:xfrm>
            <a:off x="6762902" y="3124505"/>
            <a:ext cx="10478110" cy="277063"/>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Test struct 1mm single line, 25 °C</a:t>
            </a:r>
            <a:endParaRPr lang="en-US" sz="1800" dirty="0"/>
          </a:p>
        </p:txBody>
      </p:sp>
      <p:sp>
        <p:nvSpPr>
          <p:cNvPr id="24" name="Text 14"/>
          <p:cNvSpPr txBox="1"/>
          <p:nvPr/>
        </p:nvSpPr>
        <p:spPr>
          <a:xfrm>
            <a:off x="7048195" y="3619195"/>
            <a:ext cx="2286000" cy="457200"/>
          </a:xfrm>
          <a:prstGeom prst="rect">
            <a:avLst/>
          </a:prstGeom>
          <a:noFill/>
          <a:ln/>
        </p:spPr>
        <p:txBody>
          <a:bodyPr wrap="none" lIns="0" tIns="0" rIns="0" bIns="0" rtlCol="0" anchor="ctr"/>
          <a:lstStyle/>
          <a:p>
            <a:pPr algn="l" indent="0" marL="0">
              <a:buNone/>
            </a:pPr>
            <a:r>
              <a:rPr lang="en-US" sz="975" b="1" spc="78" kern="0" dirty="0">
                <a:solidFill>
                  <a:srgbClr val="94A3B8"/>
                </a:solidFill>
                <a:latin typeface="Inter" pitchFamily="34" charset="0"/>
                <a:ea typeface="Inter" pitchFamily="34" charset="-122"/>
                <a:cs typeface="Inter" pitchFamily="34" charset="-120"/>
              </a:rPr>
              <a:t>CD × length</a:t>
            </a:r>
            <a:endParaRPr lang="en-US" sz="975" dirty="0"/>
          </a:p>
        </p:txBody>
      </p:sp>
      <p:sp>
        <p:nvSpPr>
          <p:cNvPr id="25" name="Text 15"/>
          <p:cNvSpPr txBox="1"/>
          <p:nvPr/>
        </p:nvSpPr>
        <p:spPr>
          <a:xfrm>
            <a:off x="9430207" y="3619195"/>
            <a:ext cx="2572207" cy="457200"/>
          </a:xfrm>
          <a:prstGeom prst="rect">
            <a:avLst/>
          </a:prstGeom>
          <a:noFill/>
          <a:ln/>
        </p:spPr>
        <p:txBody>
          <a:bodyPr wrap="none" lIns="0" tIns="0" rIns="0" bIns="0" rtlCol="0" anchor="ctr"/>
          <a:lstStyle/>
          <a:p>
            <a:pPr algn="ctr" indent="0" marL="0">
              <a:buNone/>
            </a:pPr>
            <a:r>
              <a:rPr lang="en-US" sz="975" b="1" dirty="0">
                <a:solidFill>
                  <a:srgbClr val="5EEAD4"/>
                </a:solidFill>
                <a:latin typeface="Inter" pitchFamily="34" charset="0"/>
                <a:ea typeface="Inter" pitchFamily="34" charset="-122"/>
                <a:cs typeface="Inter" pitchFamily="34" charset="-120"/>
              </a:rPr>
              <a:t>W1 · control</a:t>
            </a:r>
            <a:endParaRPr lang="en-US" sz="975" dirty="0"/>
          </a:p>
        </p:txBody>
      </p:sp>
      <p:sp>
        <p:nvSpPr>
          <p:cNvPr id="26" name="Text 16"/>
          <p:cNvSpPr txBox="1"/>
          <p:nvPr/>
        </p:nvSpPr>
        <p:spPr>
          <a:xfrm>
            <a:off x="12001500" y="3619195"/>
            <a:ext cx="2572207" cy="457200"/>
          </a:xfrm>
          <a:prstGeom prst="rect">
            <a:avLst/>
          </a:prstGeom>
          <a:noFill/>
          <a:ln/>
        </p:spPr>
        <p:txBody>
          <a:bodyPr wrap="none" lIns="0" tIns="0" rIns="0" bIns="0" rtlCol="0" anchor="ctr"/>
          <a:lstStyle/>
          <a:p>
            <a:pPr algn="ctr" indent="0" marL="0">
              <a:buNone/>
            </a:pPr>
            <a:r>
              <a:rPr lang="en-US" sz="975" b="1" dirty="0">
                <a:solidFill>
                  <a:srgbClr val="FB923C"/>
                </a:solidFill>
                <a:latin typeface="Inter" pitchFamily="34" charset="0"/>
                <a:ea typeface="Inter" pitchFamily="34" charset="-122"/>
                <a:cs typeface="Inter" pitchFamily="34" charset="-120"/>
              </a:rPr>
              <a:t>W2 · +15%</a:t>
            </a:r>
            <a:endParaRPr lang="en-US" sz="975" dirty="0"/>
          </a:p>
        </p:txBody>
      </p:sp>
      <p:sp>
        <p:nvSpPr>
          <p:cNvPr id="27" name="Text 17"/>
          <p:cNvSpPr txBox="1"/>
          <p:nvPr/>
        </p:nvSpPr>
        <p:spPr>
          <a:xfrm>
            <a:off x="14573707" y="3619195"/>
            <a:ext cx="2667305" cy="457200"/>
          </a:xfrm>
          <a:prstGeom prst="rect">
            <a:avLst/>
          </a:prstGeom>
          <a:noFill/>
          <a:ln/>
        </p:spPr>
        <p:txBody>
          <a:bodyPr wrap="none" lIns="0" tIns="0" rIns="0" bIns="0" rtlCol="0" anchor="ctr"/>
          <a:lstStyle/>
          <a:p>
            <a:pPr algn="ctr" indent="0" marL="0">
              <a:buNone/>
            </a:pPr>
            <a:r>
              <a:rPr lang="en-US" sz="975" b="1" dirty="0">
                <a:solidFill>
                  <a:srgbClr val="F472B6"/>
                </a:solidFill>
                <a:latin typeface="Inter" pitchFamily="34" charset="0"/>
                <a:ea typeface="Inter" pitchFamily="34" charset="-122"/>
                <a:cs typeface="Inter" pitchFamily="34" charset="-120"/>
              </a:rPr>
              <a:t>W3 · +30%</a:t>
            </a:r>
            <a:endParaRPr lang="en-US" sz="975" dirty="0"/>
          </a:p>
        </p:txBody>
      </p:sp>
      <p:sp>
        <p:nvSpPr>
          <p:cNvPr id="28" name="Text 18"/>
          <p:cNvSpPr txBox="1"/>
          <p:nvPr/>
        </p:nvSpPr>
        <p:spPr>
          <a:xfrm>
            <a:off x="7048195" y="4229100"/>
            <a:ext cx="2286000" cy="514807"/>
          </a:xfrm>
          <a:prstGeom prst="rect">
            <a:avLst/>
          </a:prstGeom>
          <a:noFill/>
          <a:ln/>
        </p:spPr>
        <p:txBody>
          <a:bodyPr wrap="none" lIns="0" tIns="0" rIns="0" bIns="0" rtlCol="0" anchor="ctr"/>
          <a:lstStyle/>
          <a:p>
            <a:pPr algn="l" indent="0" marL="0">
              <a:buNone/>
            </a:pPr>
            <a:r>
              <a:rPr lang="en-US" sz="1200" b="1" dirty="0">
                <a:solidFill>
                  <a:srgbClr val="E8EDF5"/>
                </a:solidFill>
                <a:latin typeface="Inter" pitchFamily="34" charset="0"/>
                <a:ea typeface="Inter" pitchFamily="34" charset="-122"/>
                <a:cs typeface="Inter" pitchFamily="34" charset="-120"/>
              </a:rPr>
              <a:t>24 nm × 1 mm</a:t>
            </a:r>
            <a:endParaRPr lang="en-US" sz="1200" dirty="0"/>
          </a:p>
        </p:txBody>
      </p:sp>
      <p:sp>
        <p:nvSpPr>
          <p:cNvPr id="29" name="Text 19"/>
          <p:cNvSpPr txBox="1"/>
          <p:nvPr/>
        </p:nvSpPr>
        <p:spPr>
          <a:xfrm>
            <a:off x="9430207" y="4229100"/>
            <a:ext cx="2572207" cy="514807"/>
          </a:xfrm>
          <a:prstGeom prst="rect">
            <a:avLst/>
          </a:prstGeom>
          <a:noFill/>
          <a:ln/>
        </p:spPr>
        <p:txBody>
          <a:bodyPr wrap="none" lIns="0" tIns="0" rIns="0" bIns="0" rtlCol="0" anchor="ctr"/>
          <a:lstStyle/>
          <a:p>
            <a:pPr algn="ctr" indent="0" marL="0">
              <a:buNone/>
            </a:pPr>
            <a:r>
              <a:rPr lang="en-US" sz="1800" dirty="0">
                <a:solidFill>
                  <a:srgbClr val="5EEAD4"/>
                </a:solidFill>
                <a:latin typeface="JetBrains Mono" pitchFamily="34" charset="0"/>
                <a:ea typeface="JetBrains Mono" pitchFamily="34" charset="-122"/>
                <a:cs typeface="JetBrains Mono" pitchFamily="34" charset="-120"/>
              </a:rPr>
              <a:t>172.8</a:t>
            </a:r>
            <a:endParaRPr lang="en-US" sz="1800" dirty="0"/>
          </a:p>
        </p:txBody>
      </p:sp>
      <p:sp>
        <p:nvSpPr>
          <p:cNvPr id="30" name="Text 20"/>
          <p:cNvSpPr txBox="1"/>
          <p:nvPr/>
        </p:nvSpPr>
        <p:spPr>
          <a:xfrm>
            <a:off x="12001500" y="4229100"/>
            <a:ext cx="2572207" cy="514807"/>
          </a:xfrm>
          <a:prstGeom prst="rect">
            <a:avLst/>
          </a:prstGeom>
          <a:noFill/>
          <a:ln/>
        </p:spPr>
        <p:txBody>
          <a:bodyPr wrap="none" lIns="0" tIns="0" rIns="0" bIns="0" rtlCol="0" anchor="ctr"/>
          <a:lstStyle/>
          <a:p>
            <a:pPr algn="ctr" indent="0" marL="0">
              <a:buNone/>
            </a:pPr>
            <a:r>
              <a:rPr lang="en-US" sz="1800" dirty="0">
                <a:solidFill>
                  <a:srgbClr val="FB923C"/>
                </a:solidFill>
                <a:latin typeface="JetBrains Mono" pitchFamily="34" charset="0"/>
                <a:ea typeface="JetBrains Mono" pitchFamily="34" charset="-122"/>
                <a:cs typeface="JetBrains Mono" pitchFamily="34" charset="-120"/>
              </a:rPr>
              <a:t>158.6</a:t>
            </a:r>
            <a:endParaRPr lang="en-US" sz="1800" dirty="0"/>
          </a:p>
        </p:txBody>
      </p:sp>
      <p:sp>
        <p:nvSpPr>
          <p:cNvPr id="31" name="Text 21"/>
          <p:cNvSpPr txBox="1"/>
          <p:nvPr/>
        </p:nvSpPr>
        <p:spPr>
          <a:xfrm>
            <a:off x="14573707" y="4229100"/>
            <a:ext cx="2667305" cy="514807"/>
          </a:xfrm>
          <a:prstGeom prst="rect">
            <a:avLst/>
          </a:prstGeom>
          <a:noFill/>
          <a:ln/>
        </p:spPr>
        <p:txBody>
          <a:bodyPr wrap="none" lIns="0" tIns="0" rIns="0" bIns="0" rtlCol="0" anchor="ctr"/>
          <a:lstStyle/>
          <a:p>
            <a:pPr algn="ctr" indent="0" marL="0">
              <a:buNone/>
            </a:pPr>
            <a:r>
              <a:rPr lang="en-US" sz="1800" dirty="0">
                <a:solidFill>
                  <a:srgbClr val="F472B6"/>
                </a:solidFill>
                <a:latin typeface="JetBrains Mono" pitchFamily="34" charset="0"/>
                <a:ea typeface="JetBrains Mono" pitchFamily="34" charset="-122"/>
                <a:cs typeface="JetBrains Mono" pitchFamily="34" charset="-120"/>
              </a:rPr>
              <a:t>149.1</a:t>
            </a:r>
            <a:endParaRPr lang="en-US" sz="1800" dirty="0"/>
          </a:p>
        </p:txBody>
      </p:sp>
      <p:sp>
        <p:nvSpPr>
          <p:cNvPr id="32" name="Text 22"/>
          <p:cNvSpPr txBox="1"/>
          <p:nvPr/>
        </p:nvSpPr>
        <p:spPr>
          <a:xfrm>
            <a:off x="7048195" y="4858207"/>
            <a:ext cx="2286000" cy="514807"/>
          </a:xfrm>
          <a:prstGeom prst="rect">
            <a:avLst/>
          </a:prstGeom>
          <a:noFill/>
          <a:ln/>
        </p:spPr>
        <p:txBody>
          <a:bodyPr wrap="none" lIns="0" tIns="0" rIns="0" bIns="0" rtlCol="0" anchor="ctr"/>
          <a:lstStyle/>
          <a:p>
            <a:pPr algn="l" indent="0" marL="0">
              <a:buNone/>
            </a:pPr>
            <a:r>
              <a:rPr lang="en-US" sz="1200" b="1" dirty="0">
                <a:solidFill>
                  <a:srgbClr val="E8EDF5"/>
                </a:solidFill>
                <a:latin typeface="Inter" pitchFamily="34" charset="0"/>
                <a:ea typeface="Inter" pitchFamily="34" charset="-122"/>
                <a:cs typeface="Inter" pitchFamily="34" charset="-120"/>
              </a:rPr>
              <a:t>32 nm × 1 mm</a:t>
            </a:r>
            <a:endParaRPr lang="en-US" sz="1200" dirty="0"/>
          </a:p>
        </p:txBody>
      </p:sp>
      <p:sp>
        <p:nvSpPr>
          <p:cNvPr id="33" name="Text 23"/>
          <p:cNvSpPr txBox="1"/>
          <p:nvPr/>
        </p:nvSpPr>
        <p:spPr>
          <a:xfrm>
            <a:off x="9430207" y="4858207"/>
            <a:ext cx="2572207" cy="514807"/>
          </a:xfrm>
          <a:prstGeom prst="rect">
            <a:avLst/>
          </a:prstGeom>
          <a:noFill/>
          <a:ln/>
        </p:spPr>
        <p:txBody>
          <a:bodyPr wrap="none" lIns="0" tIns="0" rIns="0" bIns="0" rtlCol="0" anchor="ctr"/>
          <a:lstStyle/>
          <a:p>
            <a:pPr algn="ctr" indent="0" marL="0">
              <a:buNone/>
            </a:pPr>
            <a:r>
              <a:rPr lang="en-US" sz="1800" dirty="0">
                <a:solidFill>
                  <a:srgbClr val="5EEAD4"/>
                </a:solidFill>
                <a:latin typeface="JetBrains Mono" pitchFamily="34" charset="0"/>
                <a:ea typeface="JetBrains Mono" pitchFamily="34" charset="-122"/>
                <a:cs typeface="JetBrains Mono" pitchFamily="34" charset="-120"/>
              </a:rPr>
              <a:t>128.4</a:t>
            </a:r>
            <a:endParaRPr lang="en-US" sz="1800" dirty="0"/>
          </a:p>
        </p:txBody>
      </p:sp>
      <p:sp>
        <p:nvSpPr>
          <p:cNvPr id="34" name="Text 24"/>
          <p:cNvSpPr txBox="1"/>
          <p:nvPr/>
        </p:nvSpPr>
        <p:spPr>
          <a:xfrm>
            <a:off x="12001500" y="4858207"/>
            <a:ext cx="2572207" cy="514807"/>
          </a:xfrm>
          <a:prstGeom prst="rect">
            <a:avLst/>
          </a:prstGeom>
          <a:noFill/>
          <a:ln/>
        </p:spPr>
        <p:txBody>
          <a:bodyPr wrap="none" lIns="0" tIns="0" rIns="0" bIns="0" rtlCol="0" anchor="ctr"/>
          <a:lstStyle/>
          <a:p>
            <a:pPr algn="ctr" indent="0" marL="0">
              <a:buNone/>
            </a:pPr>
            <a:r>
              <a:rPr lang="en-US" sz="1800" dirty="0">
                <a:solidFill>
                  <a:srgbClr val="FB923C"/>
                </a:solidFill>
                <a:latin typeface="JetBrains Mono" pitchFamily="34" charset="0"/>
                <a:ea typeface="JetBrains Mono" pitchFamily="34" charset="-122"/>
                <a:cs typeface="JetBrains Mono" pitchFamily="34" charset="-120"/>
              </a:rPr>
              <a:t>119.7</a:t>
            </a:r>
            <a:endParaRPr lang="en-US" sz="1800" dirty="0"/>
          </a:p>
        </p:txBody>
      </p:sp>
      <p:sp>
        <p:nvSpPr>
          <p:cNvPr id="35" name="Text 25"/>
          <p:cNvSpPr txBox="1"/>
          <p:nvPr/>
        </p:nvSpPr>
        <p:spPr>
          <a:xfrm>
            <a:off x="14573707" y="4858207"/>
            <a:ext cx="2667305" cy="514807"/>
          </a:xfrm>
          <a:prstGeom prst="rect">
            <a:avLst/>
          </a:prstGeom>
          <a:noFill/>
          <a:ln/>
        </p:spPr>
        <p:txBody>
          <a:bodyPr wrap="none" lIns="0" tIns="0" rIns="0" bIns="0" rtlCol="0" anchor="ctr"/>
          <a:lstStyle/>
          <a:p>
            <a:pPr algn="ctr" indent="0" marL="0">
              <a:buNone/>
            </a:pPr>
            <a:r>
              <a:rPr lang="en-US" sz="1800" dirty="0">
                <a:solidFill>
                  <a:srgbClr val="F472B6"/>
                </a:solidFill>
                <a:latin typeface="JetBrains Mono" pitchFamily="34" charset="0"/>
                <a:ea typeface="JetBrains Mono" pitchFamily="34" charset="-122"/>
                <a:cs typeface="JetBrains Mono" pitchFamily="34" charset="-120"/>
              </a:rPr>
              <a:t>113.2</a:t>
            </a:r>
            <a:endParaRPr lang="en-US" sz="1800" dirty="0"/>
          </a:p>
        </p:txBody>
      </p:sp>
      <p:sp>
        <p:nvSpPr>
          <p:cNvPr id="36" name="Text 26"/>
          <p:cNvSpPr txBox="1"/>
          <p:nvPr/>
        </p:nvSpPr>
        <p:spPr>
          <a:xfrm>
            <a:off x="7048195" y="5486400"/>
            <a:ext cx="2286000" cy="514807"/>
          </a:xfrm>
          <a:prstGeom prst="rect">
            <a:avLst/>
          </a:prstGeom>
          <a:noFill/>
          <a:ln/>
        </p:spPr>
        <p:txBody>
          <a:bodyPr wrap="none" lIns="0" tIns="0" rIns="0" bIns="0" rtlCol="0" anchor="ctr"/>
          <a:lstStyle/>
          <a:p>
            <a:pPr algn="l" indent="0" marL="0">
              <a:buNone/>
            </a:pPr>
            <a:r>
              <a:rPr lang="en-US" sz="1200" b="1" dirty="0">
                <a:solidFill>
                  <a:srgbClr val="E8EDF5"/>
                </a:solidFill>
                <a:latin typeface="Inter" pitchFamily="34" charset="0"/>
                <a:ea typeface="Inter" pitchFamily="34" charset="-122"/>
                <a:cs typeface="Inter" pitchFamily="34" charset="-120"/>
              </a:rPr>
              <a:t>48 nm × 1 mm</a:t>
            </a:r>
            <a:endParaRPr lang="en-US" sz="1200" dirty="0"/>
          </a:p>
        </p:txBody>
      </p:sp>
      <p:sp>
        <p:nvSpPr>
          <p:cNvPr id="37" name="Text 27"/>
          <p:cNvSpPr txBox="1"/>
          <p:nvPr/>
        </p:nvSpPr>
        <p:spPr>
          <a:xfrm>
            <a:off x="9430207" y="5486400"/>
            <a:ext cx="2572207" cy="514807"/>
          </a:xfrm>
          <a:prstGeom prst="rect">
            <a:avLst/>
          </a:prstGeom>
          <a:noFill/>
          <a:ln/>
        </p:spPr>
        <p:txBody>
          <a:bodyPr wrap="none" lIns="0" tIns="0" rIns="0" bIns="0" rtlCol="0" anchor="ctr"/>
          <a:lstStyle/>
          <a:p>
            <a:pPr algn="ctr" indent="0" marL="0">
              <a:buNone/>
            </a:pPr>
            <a:r>
              <a:rPr lang="en-US" sz="1800" dirty="0">
                <a:solidFill>
                  <a:srgbClr val="5EEAD4"/>
                </a:solidFill>
                <a:latin typeface="JetBrains Mono" pitchFamily="34" charset="0"/>
                <a:ea typeface="JetBrains Mono" pitchFamily="34" charset="-122"/>
                <a:cs typeface="JetBrains Mono" pitchFamily="34" charset="-120"/>
              </a:rPr>
              <a:t>88.2</a:t>
            </a:r>
            <a:endParaRPr lang="en-US" sz="1800" dirty="0"/>
          </a:p>
        </p:txBody>
      </p:sp>
      <p:sp>
        <p:nvSpPr>
          <p:cNvPr id="38" name="Text 28"/>
          <p:cNvSpPr txBox="1"/>
          <p:nvPr/>
        </p:nvSpPr>
        <p:spPr>
          <a:xfrm>
            <a:off x="12001500" y="5486400"/>
            <a:ext cx="2572207" cy="514807"/>
          </a:xfrm>
          <a:prstGeom prst="rect">
            <a:avLst/>
          </a:prstGeom>
          <a:noFill/>
          <a:ln/>
        </p:spPr>
        <p:txBody>
          <a:bodyPr wrap="none" lIns="0" tIns="0" rIns="0" bIns="0" rtlCol="0" anchor="ctr"/>
          <a:lstStyle/>
          <a:p>
            <a:pPr algn="ctr" indent="0" marL="0">
              <a:buNone/>
            </a:pPr>
            <a:r>
              <a:rPr lang="en-US" sz="1800" dirty="0">
                <a:solidFill>
                  <a:srgbClr val="FB923C"/>
                </a:solidFill>
                <a:latin typeface="JetBrains Mono" pitchFamily="34" charset="0"/>
                <a:ea typeface="JetBrains Mono" pitchFamily="34" charset="-122"/>
                <a:cs typeface="JetBrains Mono" pitchFamily="34" charset="-120"/>
              </a:rPr>
              <a:t>82.5</a:t>
            </a:r>
            <a:endParaRPr lang="en-US" sz="1800" dirty="0"/>
          </a:p>
        </p:txBody>
      </p:sp>
      <p:sp>
        <p:nvSpPr>
          <p:cNvPr id="39" name="Text 29"/>
          <p:cNvSpPr txBox="1"/>
          <p:nvPr/>
        </p:nvSpPr>
        <p:spPr>
          <a:xfrm>
            <a:off x="14573707" y="5486400"/>
            <a:ext cx="2667305" cy="514807"/>
          </a:xfrm>
          <a:prstGeom prst="rect">
            <a:avLst/>
          </a:prstGeom>
          <a:noFill/>
          <a:ln/>
        </p:spPr>
        <p:txBody>
          <a:bodyPr wrap="none" lIns="0" tIns="0" rIns="0" bIns="0" rtlCol="0" anchor="ctr"/>
          <a:lstStyle/>
          <a:p>
            <a:pPr algn="ctr" indent="0" marL="0">
              <a:buNone/>
            </a:pPr>
            <a:r>
              <a:rPr lang="en-US" sz="1800" dirty="0">
                <a:solidFill>
                  <a:srgbClr val="F472B6"/>
                </a:solidFill>
                <a:latin typeface="JetBrains Mono" pitchFamily="34" charset="0"/>
                <a:ea typeface="JetBrains Mono" pitchFamily="34" charset="-122"/>
                <a:cs typeface="JetBrains Mono" pitchFamily="34" charset="-120"/>
              </a:rPr>
              <a:t>78.6</a:t>
            </a:r>
            <a:endParaRPr lang="en-US" sz="1800" dirty="0"/>
          </a:p>
        </p:txBody>
      </p:sp>
      <p:sp>
        <p:nvSpPr>
          <p:cNvPr id="40" name="Text 30"/>
          <p:cNvSpPr txBox="1"/>
          <p:nvPr/>
        </p:nvSpPr>
        <p:spPr>
          <a:xfrm>
            <a:off x="7048195" y="6115507"/>
            <a:ext cx="2286000" cy="514807"/>
          </a:xfrm>
          <a:prstGeom prst="rect">
            <a:avLst/>
          </a:prstGeom>
          <a:noFill/>
          <a:ln/>
        </p:spPr>
        <p:txBody>
          <a:bodyPr wrap="none" lIns="0" tIns="0" rIns="0" bIns="0" rtlCol="0" anchor="ctr"/>
          <a:lstStyle/>
          <a:p>
            <a:pPr algn="l" indent="0" marL="0">
              <a:buNone/>
            </a:pPr>
            <a:r>
              <a:rPr lang="en-US" sz="1200" b="1" dirty="0">
                <a:solidFill>
                  <a:srgbClr val="E8EDF5"/>
                </a:solidFill>
                <a:latin typeface="Inter" pitchFamily="34" charset="0"/>
                <a:ea typeface="Inter" pitchFamily="34" charset="-122"/>
                <a:cs typeface="Inter" pitchFamily="34" charset="-120"/>
              </a:rPr>
              <a:t>Serpentine 10m</a:t>
            </a:r>
            <a:endParaRPr lang="en-US" sz="1200" dirty="0"/>
          </a:p>
        </p:txBody>
      </p:sp>
      <p:sp>
        <p:nvSpPr>
          <p:cNvPr id="41" name="Text 31"/>
          <p:cNvSpPr txBox="1"/>
          <p:nvPr/>
        </p:nvSpPr>
        <p:spPr>
          <a:xfrm>
            <a:off x="9430207" y="6115507"/>
            <a:ext cx="2572207" cy="514807"/>
          </a:xfrm>
          <a:prstGeom prst="rect">
            <a:avLst/>
          </a:prstGeom>
          <a:noFill/>
          <a:ln/>
        </p:spPr>
        <p:txBody>
          <a:bodyPr wrap="none" lIns="0" tIns="0" rIns="0" bIns="0" rtlCol="0" anchor="ctr"/>
          <a:lstStyle/>
          <a:p>
            <a:pPr algn="ctr" indent="0" marL="0">
              <a:buNone/>
            </a:pPr>
            <a:r>
              <a:rPr lang="en-US" sz="1650" dirty="0">
                <a:solidFill>
                  <a:srgbClr val="5EEAD4"/>
                </a:solidFill>
                <a:latin typeface="JetBrains Mono" pitchFamily="34" charset="0"/>
                <a:ea typeface="JetBrains Mono" pitchFamily="34" charset="-122"/>
                <a:cs typeface="JetBrains Mono" pitchFamily="34" charset="-120"/>
              </a:rPr>
              <a:t>0.183</a:t>
            </a:r>
            <a:endParaRPr lang="en-US" sz="1650" dirty="0"/>
          </a:p>
        </p:txBody>
      </p:sp>
      <p:sp>
        <p:nvSpPr>
          <p:cNvPr id="42" name="Text 32"/>
          <p:cNvSpPr txBox="1"/>
          <p:nvPr/>
        </p:nvSpPr>
        <p:spPr>
          <a:xfrm>
            <a:off x="12001500" y="6115507"/>
            <a:ext cx="2572207" cy="514807"/>
          </a:xfrm>
          <a:prstGeom prst="rect">
            <a:avLst/>
          </a:prstGeom>
          <a:noFill/>
          <a:ln/>
        </p:spPr>
        <p:txBody>
          <a:bodyPr wrap="none" lIns="0" tIns="0" rIns="0" bIns="0" rtlCol="0" anchor="ctr"/>
          <a:lstStyle/>
          <a:p>
            <a:pPr algn="ctr" indent="0" marL="0">
              <a:buNone/>
            </a:pPr>
            <a:r>
              <a:rPr lang="en-US" sz="1650" dirty="0">
                <a:solidFill>
                  <a:srgbClr val="FB923C"/>
                </a:solidFill>
                <a:latin typeface="JetBrains Mono" pitchFamily="34" charset="0"/>
                <a:ea typeface="JetBrains Mono" pitchFamily="34" charset="-122"/>
                <a:cs typeface="JetBrains Mono" pitchFamily="34" charset="-120"/>
              </a:rPr>
              <a:t>0.171</a:t>
            </a:r>
            <a:endParaRPr lang="en-US" sz="1650" dirty="0"/>
          </a:p>
        </p:txBody>
      </p:sp>
      <p:sp>
        <p:nvSpPr>
          <p:cNvPr id="43" name="Text 33"/>
          <p:cNvSpPr txBox="1"/>
          <p:nvPr/>
        </p:nvSpPr>
        <p:spPr>
          <a:xfrm>
            <a:off x="14573707" y="6115507"/>
            <a:ext cx="2667305" cy="514807"/>
          </a:xfrm>
          <a:prstGeom prst="rect">
            <a:avLst/>
          </a:prstGeom>
          <a:noFill/>
          <a:ln/>
        </p:spPr>
        <p:txBody>
          <a:bodyPr wrap="none" lIns="0" tIns="0" rIns="0" bIns="0" rtlCol="0" anchor="ctr"/>
          <a:lstStyle/>
          <a:p>
            <a:pPr algn="ctr" indent="0" marL="0">
              <a:buNone/>
            </a:pPr>
            <a:r>
              <a:rPr lang="en-US" sz="1650" dirty="0">
                <a:solidFill>
                  <a:srgbClr val="F472B6"/>
                </a:solidFill>
                <a:latin typeface="JetBrains Mono" pitchFamily="34" charset="0"/>
                <a:ea typeface="JetBrains Mono" pitchFamily="34" charset="-122"/>
                <a:cs typeface="JetBrains Mono" pitchFamily="34" charset="-120"/>
              </a:rPr>
              <a:t>0.162</a:t>
            </a:r>
            <a:endParaRPr lang="en-US" sz="1650" dirty="0"/>
          </a:p>
        </p:txBody>
      </p:sp>
      <p:sp>
        <p:nvSpPr>
          <p:cNvPr id="44" name="Text 34"/>
          <p:cNvSpPr txBox="1"/>
          <p:nvPr/>
        </p:nvSpPr>
        <p:spPr>
          <a:xfrm>
            <a:off x="6762902" y="6762902"/>
            <a:ext cx="10478110" cy="181051"/>
          </a:xfrm>
          <a:prstGeom prst="rect">
            <a:avLst/>
          </a:prstGeom>
          <a:noFill/>
          <a:ln/>
        </p:spPr>
        <p:txBody>
          <a:bodyPr wrap="none" lIns="0" tIns="0" rIns="0" bIns="0" rtlCol="0" anchor="ctr"/>
          <a:lstStyle/>
          <a:p>
            <a:pPr algn="l" indent="0" marL="0">
              <a:buNone/>
            </a:pPr>
            <a:r>
              <a:rPr lang="en-US" sz="975" dirty="0">
                <a:solidFill>
                  <a:srgbClr val="64748B"/>
                </a:solidFill>
                <a:latin typeface="Inter" pitchFamily="34" charset="0"/>
                <a:ea typeface="Inter" pitchFamily="34" charset="-122"/>
                <a:cs typeface="Inter" pitchFamily="34" charset="-120"/>
              </a:rPr>
              <a:t>단위: Ω/μm (single line) · Ω total (serpentine 10 m total)</a:t>
            </a:r>
            <a:endParaRPr lang="en-US" sz="975" dirty="0"/>
          </a:p>
        </p:txBody>
      </p:sp>
      <p:sp>
        <p:nvSpPr>
          <p:cNvPr id="45" name="Text 35"/>
          <p:cNvSpPr txBox="1"/>
          <p:nvPr/>
        </p:nvSpPr>
        <p:spPr>
          <a:xfrm>
            <a:off x="7048195" y="7181698"/>
            <a:ext cx="10001707" cy="210312"/>
          </a:xfrm>
          <a:prstGeom prst="rect">
            <a:avLst/>
          </a:prstGeom>
          <a:noFill/>
          <a:ln/>
        </p:spPr>
        <p:txBody>
          <a:bodyPr wrap="none" lIns="0" tIns="0" rIns="0" bIns="0" rtlCol="0" anchor="ctr"/>
          <a:lstStyle/>
          <a:p>
            <a:pPr algn="l" indent="0" marL="0">
              <a:buNone/>
            </a:pPr>
            <a:r>
              <a:rPr lang="en-US" sz="1050" dirty="0">
                <a:solidFill>
                  <a:srgbClr val="E8EDF5"/>
                </a:solidFill>
                <a:latin typeface="Inter" pitchFamily="34" charset="0"/>
                <a:ea typeface="Inter" pitchFamily="34" charset="-122"/>
                <a:cs typeface="Inter" pitchFamily="34" charset="-120"/>
              </a:rPr>
              <a:t>Trench 깊이 30 %p 증가 → 모든 width에서 line R 감소 경향, 폭이 작을수록 절대 감소폭 큼 (24 nm에서 −13.7 %).</a:t>
            </a:r>
            <a:endParaRPr lang="en-US" sz="1050" dirty="0"/>
          </a:p>
        </p:txBody>
      </p:sp>
      <p:sp>
        <p:nvSpPr>
          <p:cNvPr id="46" name="Text 36"/>
          <p:cNvSpPr txBox="1"/>
          <p:nvPr/>
        </p:nvSpPr>
        <p:spPr>
          <a:xfrm>
            <a:off x="1086307" y="6152998"/>
            <a:ext cx="4572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24 nm RESISTIVITY CALC</a:t>
            </a:r>
            <a:endParaRPr lang="en-US" sz="825" dirty="0"/>
          </a:p>
        </p:txBody>
      </p:sp>
      <p:sp>
        <p:nvSpPr>
          <p:cNvPr id="47" name="Text 37"/>
          <p:cNvSpPr txBox="1"/>
          <p:nvPr/>
        </p:nvSpPr>
        <p:spPr>
          <a:xfrm>
            <a:off x="1086307" y="6420002"/>
            <a:ext cx="4572000" cy="200254"/>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Cu 막 resistivity 추출 (effective)</a:t>
            </a:r>
            <a:endParaRPr lang="en-US" sz="1050" dirty="0"/>
          </a:p>
        </p:txBody>
      </p:sp>
      <p:sp>
        <p:nvSpPr>
          <p:cNvPr id="48" name="Text 38"/>
          <p:cNvSpPr txBox="1"/>
          <p:nvPr/>
        </p:nvSpPr>
        <p:spPr>
          <a:xfrm>
            <a:off x="1086307" y="6953098"/>
            <a:ext cx="762610"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W1</a:t>
            </a:r>
            <a:endParaRPr lang="en-US" sz="975" dirty="0"/>
          </a:p>
        </p:txBody>
      </p:sp>
      <p:sp>
        <p:nvSpPr>
          <p:cNvPr id="49" name="Text 39"/>
          <p:cNvSpPr txBox="1"/>
          <p:nvPr/>
        </p:nvSpPr>
        <p:spPr>
          <a:xfrm>
            <a:off x="1981505" y="6848856"/>
            <a:ext cx="1371600" cy="295351"/>
          </a:xfrm>
          <a:prstGeom prst="rect">
            <a:avLst/>
          </a:prstGeom>
          <a:noFill/>
          <a:ln/>
        </p:spPr>
        <p:txBody>
          <a:bodyPr wrap="none" lIns="0" tIns="0" rIns="0" bIns="0" rtlCol="0" anchor="ctr"/>
          <a:lstStyle/>
          <a:p>
            <a:pPr algn="l" indent="0" marL="0">
              <a:buNone/>
            </a:pPr>
            <a:r>
              <a:rPr lang="en-US" sz="1800" b="1" dirty="0">
                <a:solidFill>
                  <a:srgbClr val="5EEAD4"/>
                </a:solidFill>
                <a:latin typeface="JetBrains Mono" pitchFamily="34" charset="0"/>
                <a:ea typeface="JetBrains Mono" pitchFamily="34" charset="-122"/>
                <a:cs typeface="JetBrains Mono" pitchFamily="34" charset="-120"/>
              </a:rPr>
              <a:t>4.18 μΩ·cm</a:t>
            </a:r>
            <a:endParaRPr lang="en-US" sz="1800" dirty="0"/>
          </a:p>
        </p:txBody>
      </p:sp>
      <p:sp>
        <p:nvSpPr>
          <p:cNvPr id="50" name="Text 40"/>
          <p:cNvSpPr txBox="1"/>
          <p:nvPr/>
        </p:nvSpPr>
        <p:spPr>
          <a:xfrm>
            <a:off x="1086307" y="7343546"/>
            <a:ext cx="762610"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W2</a:t>
            </a:r>
            <a:endParaRPr lang="en-US" sz="975" dirty="0"/>
          </a:p>
        </p:txBody>
      </p:sp>
      <p:sp>
        <p:nvSpPr>
          <p:cNvPr id="51" name="Text 41"/>
          <p:cNvSpPr txBox="1"/>
          <p:nvPr/>
        </p:nvSpPr>
        <p:spPr>
          <a:xfrm>
            <a:off x="1981505" y="7239305"/>
            <a:ext cx="1371600" cy="295351"/>
          </a:xfrm>
          <a:prstGeom prst="rect">
            <a:avLst/>
          </a:prstGeom>
          <a:noFill/>
          <a:ln/>
        </p:spPr>
        <p:txBody>
          <a:bodyPr wrap="none" lIns="0" tIns="0" rIns="0" bIns="0" rtlCol="0" anchor="ctr"/>
          <a:lstStyle/>
          <a:p>
            <a:pPr algn="l" indent="0" marL="0">
              <a:buNone/>
            </a:pPr>
            <a:r>
              <a:rPr lang="en-US" sz="1800" b="1" dirty="0">
                <a:solidFill>
                  <a:srgbClr val="FB923C"/>
                </a:solidFill>
                <a:latin typeface="JetBrains Mono" pitchFamily="34" charset="0"/>
                <a:ea typeface="JetBrains Mono" pitchFamily="34" charset="-122"/>
                <a:cs typeface="JetBrains Mono" pitchFamily="34" charset="-120"/>
              </a:rPr>
              <a:t>3.96 μΩ·cm</a:t>
            </a:r>
            <a:endParaRPr lang="en-US" sz="1800" dirty="0"/>
          </a:p>
        </p:txBody>
      </p:sp>
      <p:sp>
        <p:nvSpPr>
          <p:cNvPr id="52" name="Text 42"/>
          <p:cNvSpPr txBox="1"/>
          <p:nvPr/>
        </p:nvSpPr>
        <p:spPr>
          <a:xfrm>
            <a:off x="1086307" y="7733995"/>
            <a:ext cx="762610" cy="152705"/>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W3</a:t>
            </a:r>
            <a:endParaRPr lang="en-US" sz="975" dirty="0"/>
          </a:p>
        </p:txBody>
      </p:sp>
      <p:sp>
        <p:nvSpPr>
          <p:cNvPr id="53" name="Text 43"/>
          <p:cNvSpPr txBox="1"/>
          <p:nvPr/>
        </p:nvSpPr>
        <p:spPr>
          <a:xfrm>
            <a:off x="1981505" y="7629754"/>
            <a:ext cx="1371600" cy="295351"/>
          </a:xfrm>
          <a:prstGeom prst="rect">
            <a:avLst/>
          </a:prstGeom>
          <a:noFill/>
          <a:ln/>
        </p:spPr>
        <p:txBody>
          <a:bodyPr wrap="none" lIns="0" tIns="0" rIns="0" bIns="0" rtlCol="0" anchor="ctr"/>
          <a:lstStyle/>
          <a:p>
            <a:pPr algn="l" indent="0" marL="0">
              <a:buNone/>
            </a:pPr>
            <a:r>
              <a:rPr lang="en-US" sz="1800" b="1" dirty="0">
                <a:solidFill>
                  <a:srgbClr val="F472B6"/>
                </a:solidFill>
                <a:latin typeface="JetBrains Mono" pitchFamily="34" charset="0"/>
                <a:ea typeface="JetBrains Mono" pitchFamily="34" charset="-122"/>
                <a:cs typeface="JetBrains Mono" pitchFamily="34" charset="-120"/>
              </a:rPr>
              <a:t>3.74 μΩ·cm</a:t>
            </a:r>
            <a:endParaRPr lang="en-US" sz="1800" dirty="0"/>
          </a:p>
        </p:txBody>
      </p:sp>
      <p:pic>
        <p:nvPicPr>
          <p:cNvPr id="54" name="Image 7" descr="gen-dedup-4be533235cc4bf1dc97d2ffc45d552a8.png">    </p:cNvPr>
          <p:cNvPicPr>
            <a:picLocks noChangeAspect="1"/>
          </p:cNvPicPr>
          <p:nvPr/>
        </p:nvPicPr>
        <p:blipFill>
          <a:blip r:embed="rId8"/>
          <a:srcRect l="-2083" r="-2083" t="0" b="0"/>
          <a:stretch/>
        </p:blipFill>
        <p:spPr>
          <a:xfrm>
            <a:off x="1086307" y="8153705"/>
            <a:ext cx="4572000" cy="9144"/>
          </a:xfrm>
          <a:prstGeom prst="rect">
            <a:avLst/>
          </a:prstGeom>
        </p:spPr>
      </p:pic>
      <p:sp>
        <p:nvSpPr>
          <p:cNvPr id="55" name="Text 44"/>
          <p:cNvSpPr txBox="1"/>
          <p:nvPr/>
        </p:nvSpPr>
        <p:spPr>
          <a:xfrm>
            <a:off x="1086307" y="8391449"/>
            <a:ext cx="4572000" cy="191110"/>
          </a:xfrm>
          <a:prstGeom prst="rect">
            <a:avLst/>
          </a:prstGeom>
          <a:noFill/>
          <a:ln/>
        </p:spPr>
        <p:txBody>
          <a:bodyPr wrap="none" lIns="0" tIns="0" rIns="0" bIns="0" rtlCol="0" anchor="ctr"/>
          <a:lstStyle/>
          <a:p>
            <a:pPr algn="l" indent="0" marL="0">
              <a:buNone/>
            </a:pPr>
            <a:r>
              <a:rPr lang="en-US" sz="975" dirty="0">
                <a:solidFill>
                  <a:srgbClr val="64748B"/>
                </a:solidFill>
                <a:latin typeface="Inter" pitchFamily="34" charset="0"/>
                <a:ea typeface="Inter" pitchFamily="34" charset="-122"/>
                <a:cs typeface="Inter" pitchFamily="34" charset="-120"/>
              </a:rPr>
              <a:t>Bulk Cu 1.68 μΩ·cm 기준 dummy lot 보정값.</a:t>
            </a:r>
            <a:endParaRPr lang="en-US" sz="975" dirty="0"/>
          </a:p>
        </p:txBody>
      </p:sp>
      <p:pic>
        <p:nvPicPr>
          <p:cNvPr id="56" name="Image 8" descr="gen-dedup-41df4fb73e13824d9bf43e735c70451d.png">    </p:cNvPr>
          <p:cNvPicPr>
            <a:picLocks noChangeAspect="1"/>
          </p:cNvPicPr>
          <p:nvPr/>
        </p:nvPicPr>
        <p:blipFill>
          <a:blip r:embed="rId9"/>
          <a:srcRect l="-2029" r="-2029" t="0" b="0"/>
          <a:stretch/>
        </p:blipFill>
        <p:spPr>
          <a:xfrm>
            <a:off x="761695" y="10067544"/>
            <a:ext cx="304495" cy="9144"/>
          </a:xfrm>
          <a:prstGeom prst="rect">
            <a:avLst/>
          </a:prstGeom>
        </p:spPr>
      </p:pic>
      <p:sp>
        <p:nvSpPr>
          <p:cNvPr id="57" name="Text 45"/>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B"/>
        </a:solidFill>
      </p:bgPr>
    </p:bg>
    <p:spTree>
      <p:nvGrpSpPr>
        <p:cNvPr id="1" name=""/>
        <p:cNvGrpSpPr/>
        <p:nvPr/>
      </p:nvGrpSpPr>
      <p:grpSpPr>
        <a:xfrm>
          <a:off x="0" y="0"/>
          <a:ext cx="0" cy="0"/>
          <a:chOff x="0" y="0"/>
          <a:chExt cx="0" cy="0"/>
        </a:xfrm>
      </p:grpSpPr>
      <p:pic>
        <p:nvPicPr>
          <p:cNvPr id="3" name="Image 0" descr="gen-dedup-5143d3a16c9ba985538b4cd56ba4a2e0.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667305"/>
            <a:ext cx="8305495" cy="4972507"/>
          </a:xfrm>
          <a:prstGeom prst="rect">
            <a:avLst/>
          </a:prstGeom>
          <a:solidFill>
            <a:srgbClr val="141A28"/>
          </a:solidFill>
          <a:ln w="12700">
            <a:solidFill>
              <a:srgbClr val="1F2A40"/>
            </a:solidFill>
            <a:prstDash val="solid"/>
          </a:ln>
        </p:spPr>
      </p:sp>
      <p:sp>
        <p:nvSpPr>
          <p:cNvPr id="5" name="Shape 1"/>
          <p:cNvSpPr/>
          <p:nvPr/>
        </p:nvSpPr>
        <p:spPr>
          <a:xfrm>
            <a:off x="9239098" y="2667305"/>
            <a:ext cx="8305495" cy="4972507"/>
          </a:xfrm>
          <a:prstGeom prst="rect">
            <a:avLst/>
          </a:prstGeom>
          <a:solidFill>
            <a:srgbClr val="141A28"/>
          </a:solidFill>
          <a:ln w="12700">
            <a:solidFill>
              <a:srgbClr val="1F2A40"/>
            </a:solidFill>
            <a:prstDash val="solid"/>
          </a:ln>
        </p:spPr>
      </p:sp>
      <p:pic>
        <p:nvPicPr>
          <p:cNvPr id="6" name="Image 1" descr="gen-dedup-b234e4e483b2b12125684993d7b95f97.png">    </p:cNvPr>
          <p:cNvPicPr>
            <a:picLocks noChangeAspect="1"/>
          </p:cNvPicPr>
          <p:nvPr/>
        </p:nvPicPr>
        <p:blipFill>
          <a:blip r:embed="rId2"/>
          <a:srcRect l="0" r="0" t="-5" b="-5"/>
          <a:stretch/>
        </p:blipFill>
        <p:spPr>
          <a:xfrm>
            <a:off x="761695" y="7905902"/>
            <a:ext cx="16782898" cy="1733702"/>
          </a:xfrm>
          <a:prstGeom prst="rect">
            <a:avLst/>
          </a:prstGeom>
        </p:spPr>
      </p:pic>
      <p:pic>
        <p:nvPicPr>
          <p:cNvPr id="7" name="Image 2" descr="gen-dedup-708e90346271b59468a731e1bc80ffa5.png">    </p:cNvPr>
          <p:cNvPicPr>
            <a:picLocks noChangeAspect="1"/>
          </p:cNvPicPr>
          <p:nvPr/>
        </p:nvPicPr>
        <p:blipFill>
          <a:blip r:embed="rId3"/>
          <a:srcRect l="-397" r="-397" t="0" b="0"/>
          <a:stretch/>
        </p:blipFill>
        <p:spPr>
          <a:xfrm>
            <a:off x="761695" y="2667305"/>
            <a:ext cx="57607" cy="4953305"/>
          </a:xfrm>
          <a:prstGeom prst="rect">
            <a:avLst/>
          </a:prstGeom>
        </p:spPr>
      </p:pic>
      <p:sp>
        <p:nvSpPr>
          <p:cNvPr id="8" name="Shape 2"/>
          <p:cNvSpPr/>
          <p:nvPr/>
        </p:nvSpPr>
        <p:spPr>
          <a:xfrm>
            <a:off x="1086307" y="3696005"/>
            <a:ext cx="7619695" cy="418795"/>
          </a:xfrm>
          <a:prstGeom prst="rect">
            <a:avLst/>
          </a:prstGeom>
          <a:solidFill>
            <a:srgbClr val="0F1424"/>
          </a:solidFill>
          <a:ln w="12700">
            <a:solidFill>
              <a:srgbClr val="FFFFFF">
                <a:alpha val="0"/>
              </a:srgbClr>
            </a:solidFill>
            <a:prstDash val="solid"/>
          </a:ln>
        </p:spPr>
      </p:sp>
      <p:pic>
        <p:nvPicPr>
          <p:cNvPr id="9" name="Image 3" descr="gen-dedup-58feccc2d2639b631eea795ee2484ea0.png">    </p:cNvPr>
          <p:cNvPicPr>
            <a:picLocks noChangeAspect="1"/>
          </p:cNvPicPr>
          <p:nvPr/>
        </p:nvPicPr>
        <p:blipFill>
          <a:blip r:embed="rId4"/>
          <a:srcRect l="-2083" r="-2083" t="0" b="0"/>
          <a:stretch/>
        </p:blipFill>
        <p:spPr>
          <a:xfrm>
            <a:off x="1086307" y="4705502"/>
            <a:ext cx="7619695" cy="9144"/>
          </a:xfrm>
          <a:prstGeom prst="rect">
            <a:avLst/>
          </a:prstGeom>
        </p:spPr>
      </p:pic>
      <p:pic>
        <p:nvPicPr>
          <p:cNvPr id="10" name="Image 4" descr="gen-dedup-58feccc2d2639b631eea795ee2484ea0.png">    </p:cNvPr>
          <p:cNvPicPr>
            <a:picLocks noChangeAspect="1"/>
          </p:cNvPicPr>
          <p:nvPr/>
        </p:nvPicPr>
        <p:blipFill>
          <a:blip r:embed="rId5"/>
          <a:srcRect l="-2083" r="-2083" t="0" b="0"/>
          <a:stretch/>
        </p:blipFill>
        <p:spPr>
          <a:xfrm>
            <a:off x="1086307" y="5219395"/>
            <a:ext cx="7619695" cy="9144"/>
          </a:xfrm>
          <a:prstGeom prst="rect">
            <a:avLst/>
          </a:prstGeom>
        </p:spPr>
      </p:pic>
      <p:pic>
        <p:nvPicPr>
          <p:cNvPr id="11" name="Image 5" descr="gen-dedup-58feccc2d2639b631eea795ee2484ea0.png">    </p:cNvPr>
          <p:cNvPicPr>
            <a:picLocks noChangeAspect="1"/>
          </p:cNvPicPr>
          <p:nvPr/>
        </p:nvPicPr>
        <p:blipFill>
          <a:blip r:embed="rId6"/>
          <a:srcRect l="-2083" r="-2083" t="0" b="0"/>
          <a:stretch/>
        </p:blipFill>
        <p:spPr>
          <a:xfrm>
            <a:off x="1086307" y="5734202"/>
            <a:ext cx="7619695" cy="9144"/>
          </a:xfrm>
          <a:prstGeom prst="rect">
            <a:avLst/>
          </a:prstGeom>
        </p:spPr>
      </p:pic>
      <p:sp>
        <p:nvSpPr>
          <p:cNvPr id="12" name="Shape 3"/>
          <p:cNvSpPr/>
          <p:nvPr/>
        </p:nvSpPr>
        <p:spPr>
          <a:xfrm>
            <a:off x="1086307" y="6476695"/>
            <a:ext cx="7638898" cy="972007"/>
          </a:xfrm>
          <a:prstGeom prst="rect">
            <a:avLst/>
          </a:prstGeom>
          <a:solidFill>
            <a:srgbClr val="5EEAD4">
              <a:alpha val="5000"/>
            </a:srgbClr>
          </a:solidFill>
          <a:ln w="12700">
            <a:solidFill>
              <a:srgbClr val="5EEAD4">
                <a:alpha val="20000"/>
              </a:srgbClr>
            </a:solidFill>
            <a:prstDash val="solid"/>
          </a:ln>
        </p:spPr>
      </p:sp>
      <p:pic>
        <p:nvPicPr>
          <p:cNvPr id="13" name="Image 6" descr="gen-dedup-add5a3d2c6e069436468d238150e7ed8.png">    </p:cNvPr>
          <p:cNvPicPr>
            <a:picLocks noChangeAspect="1"/>
          </p:cNvPicPr>
          <p:nvPr/>
        </p:nvPicPr>
        <p:blipFill>
          <a:blip r:embed="rId7"/>
          <a:srcRect l="-397" r="-397" t="0" b="0"/>
          <a:stretch/>
        </p:blipFill>
        <p:spPr>
          <a:xfrm>
            <a:off x="9239098" y="2667305"/>
            <a:ext cx="57607" cy="4953305"/>
          </a:xfrm>
          <a:prstGeom prst="rect">
            <a:avLst/>
          </a:prstGeom>
        </p:spPr>
      </p:pic>
      <p:sp>
        <p:nvSpPr>
          <p:cNvPr id="14" name="Shape 4"/>
          <p:cNvSpPr/>
          <p:nvPr/>
        </p:nvSpPr>
        <p:spPr>
          <a:xfrm>
            <a:off x="9562795" y="3696005"/>
            <a:ext cx="7619695" cy="418795"/>
          </a:xfrm>
          <a:prstGeom prst="rect">
            <a:avLst/>
          </a:prstGeom>
          <a:solidFill>
            <a:srgbClr val="0F1424"/>
          </a:solidFill>
          <a:ln w="12700">
            <a:solidFill>
              <a:srgbClr val="FFFFFF">
                <a:alpha val="0"/>
              </a:srgbClr>
            </a:solidFill>
            <a:prstDash val="solid"/>
          </a:ln>
        </p:spPr>
      </p:sp>
      <p:pic>
        <p:nvPicPr>
          <p:cNvPr id="15" name="Image 7" descr="gen-dedup-58feccc2d2639b631eea795ee2484ea0.png">    </p:cNvPr>
          <p:cNvPicPr>
            <a:picLocks noChangeAspect="1"/>
          </p:cNvPicPr>
          <p:nvPr/>
        </p:nvPicPr>
        <p:blipFill>
          <a:blip r:embed="rId8"/>
          <a:srcRect l="-2083" r="-2083" t="0" b="0"/>
          <a:stretch/>
        </p:blipFill>
        <p:spPr>
          <a:xfrm>
            <a:off x="9562795" y="4705502"/>
            <a:ext cx="7619695" cy="9144"/>
          </a:xfrm>
          <a:prstGeom prst="rect">
            <a:avLst/>
          </a:prstGeom>
        </p:spPr>
      </p:pic>
      <p:pic>
        <p:nvPicPr>
          <p:cNvPr id="16" name="Image 8" descr="gen-dedup-58feccc2d2639b631eea795ee2484ea0.png">    </p:cNvPr>
          <p:cNvPicPr>
            <a:picLocks noChangeAspect="1"/>
          </p:cNvPicPr>
          <p:nvPr/>
        </p:nvPicPr>
        <p:blipFill>
          <a:blip r:embed="rId9"/>
          <a:srcRect l="-2083" r="-2083" t="0" b="0"/>
          <a:stretch/>
        </p:blipFill>
        <p:spPr>
          <a:xfrm>
            <a:off x="9562795" y="5219395"/>
            <a:ext cx="7619695" cy="9144"/>
          </a:xfrm>
          <a:prstGeom prst="rect">
            <a:avLst/>
          </a:prstGeom>
        </p:spPr>
      </p:pic>
      <p:pic>
        <p:nvPicPr>
          <p:cNvPr id="17" name="Image 9" descr="gen-dedup-58feccc2d2639b631eea795ee2484ea0.png">    </p:cNvPr>
          <p:cNvPicPr>
            <a:picLocks noChangeAspect="1"/>
          </p:cNvPicPr>
          <p:nvPr/>
        </p:nvPicPr>
        <p:blipFill>
          <a:blip r:embed="rId10"/>
          <a:srcRect l="-2083" r="-2083" t="0" b="0"/>
          <a:stretch/>
        </p:blipFill>
        <p:spPr>
          <a:xfrm>
            <a:off x="9562795" y="5734202"/>
            <a:ext cx="7619695" cy="9144"/>
          </a:xfrm>
          <a:prstGeom prst="rect">
            <a:avLst/>
          </a:prstGeom>
        </p:spPr>
      </p:pic>
      <p:sp>
        <p:nvSpPr>
          <p:cNvPr id="18" name="Shape 5"/>
          <p:cNvSpPr/>
          <p:nvPr/>
        </p:nvSpPr>
        <p:spPr>
          <a:xfrm>
            <a:off x="9562795" y="6476695"/>
            <a:ext cx="7638898" cy="972007"/>
          </a:xfrm>
          <a:prstGeom prst="rect">
            <a:avLst/>
          </a:prstGeom>
          <a:solidFill>
            <a:srgbClr val="FB923C">
              <a:alpha val="5000"/>
            </a:srgbClr>
          </a:solidFill>
          <a:ln w="12700">
            <a:solidFill>
              <a:srgbClr val="FB923C">
                <a:alpha val="20000"/>
              </a:srgbClr>
            </a:solidFill>
            <a:prstDash val="solid"/>
          </a:ln>
        </p:spPr>
      </p:sp>
      <p:pic>
        <p:nvPicPr>
          <p:cNvPr id="19" name="Image 10" descr="gen-dedup-725e771859916ea110cd29898fb0e6ad.png">    </p:cNvPr>
          <p:cNvPicPr>
            <a:picLocks noChangeAspect="1"/>
          </p:cNvPicPr>
          <p:nvPr/>
        </p:nvPicPr>
        <p:blipFill>
          <a:blip r:embed="rId11"/>
          <a:srcRect l="0" r="0" t="-2083" b="-2083"/>
          <a:stretch/>
        </p:blipFill>
        <p:spPr>
          <a:xfrm>
            <a:off x="9791395" y="8248802"/>
            <a:ext cx="9144" cy="1143000"/>
          </a:xfrm>
          <a:prstGeom prst="rect">
            <a:avLst/>
          </a:prstGeom>
        </p:spPr>
      </p:pic>
      <p:pic>
        <p:nvPicPr>
          <p:cNvPr id="20" name="Image 11" descr="gen-dedup-fb7284239b65d37878da76aad5baf72f.png">    </p:cNvPr>
          <p:cNvPicPr>
            <a:picLocks noChangeAspect="1"/>
          </p:cNvPicPr>
          <p:nvPr/>
        </p:nvPicPr>
        <p:blipFill>
          <a:blip r:embed="rId12"/>
          <a:srcRect l="0" r="0" t="-437" b="-437"/>
          <a:stretch/>
        </p:blipFill>
        <p:spPr>
          <a:xfrm>
            <a:off x="761695" y="662026"/>
            <a:ext cx="418795" cy="19202"/>
          </a:xfrm>
          <a:prstGeom prst="rect">
            <a:avLst/>
          </a:prstGeom>
        </p:spPr>
      </p:pic>
      <p:sp>
        <p:nvSpPr>
          <p:cNvPr id="21" name="Text 6"/>
          <p:cNvSpPr txBox="1"/>
          <p:nvPr/>
        </p:nvSpPr>
        <p:spPr>
          <a:xfrm>
            <a:off x="1352398" y="590702"/>
            <a:ext cx="2400300"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10 — VIA R + EM</a:t>
            </a:r>
            <a:endParaRPr lang="en-US" sz="975" dirty="0"/>
          </a:p>
        </p:txBody>
      </p:sp>
      <p:sp>
        <p:nvSpPr>
          <p:cNvPr id="22" name="Text 7"/>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10</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3" name="Text 8"/>
          <p:cNvSpPr txBox="1"/>
          <p:nvPr/>
        </p:nvSpPr>
        <p:spPr>
          <a:xfrm>
            <a:off x="761695" y="1238098"/>
            <a:ext cx="14287500" cy="514807"/>
          </a:xfrm>
          <a:prstGeom prst="rect">
            <a:avLst/>
          </a:prstGeom>
          <a:noFill/>
          <a:ln/>
        </p:spPr>
        <p:txBody>
          <a:bodyPr wrap="none" lIns="0" tIns="0" rIns="0" bIns="0" rtlCol="0" anchor="ctr"/>
          <a:lstStyle/>
          <a:p>
            <a:pPr algn="l" indent="0" marL="0">
              <a:buNone/>
            </a:pPr>
            <a:r>
              <a:rPr lang="en-US" sz="4050" b="1" spc="-142" kern="0" dirty="0">
                <a:solidFill>
                  <a:srgbClr val="5EEAD4"/>
                </a:solidFill>
                <a:latin typeface="Inter" pitchFamily="34" charset="0"/>
                <a:ea typeface="Inter" pitchFamily="34" charset="-122"/>
                <a:cs typeface="Inter" pitchFamily="34" charset="-120"/>
              </a:rPr>
              <a:t>Via</a:t>
            </a:r>
            <a:pPr algn="l" indent="0" marL="0">
              <a:buNone/>
            </a:pPr>
            <a:r>
              <a:rPr lang="en-US" sz="4050" b="1" spc="-142" kern="0" dirty="0">
                <a:solidFill>
                  <a:srgbClr val="E8EDF5"/>
                </a:solidFill>
                <a:latin typeface="Inter" pitchFamily="34" charset="0"/>
                <a:ea typeface="Inter" pitchFamily="34" charset="-122"/>
                <a:cs typeface="Inter" pitchFamily="34" charset="-120"/>
              </a:rPr>
              <a:t> Resistance &amp; </a:t>
            </a:r>
            <a:pPr algn="l" indent="0" marL="0">
              <a:buNone/>
            </a:pPr>
            <a:r>
              <a:rPr lang="en-US" sz="4050" b="1" spc="-142" kern="0" dirty="0">
                <a:solidFill>
                  <a:srgbClr val="FB923C"/>
                </a:solidFill>
                <a:latin typeface="Inter" pitchFamily="34" charset="0"/>
                <a:ea typeface="Inter" pitchFamily="34" charset="-122"/>
                <a:cs typeface="Inter" pitchFamily="34" charset="-120"/>
              </a:rPr>
              <a:t>EM</a:t>
            </a:r>
            <a:pPr algn="l" indent="0" marL="0">
              <a:buNone/>
            </a:pPr>
            <a:r>
              <a:rPr lang="en-US" sz="4050" b="1" spc="-142" kern="0" dirty="0">
                <a:solidFill>
                  <a:srgbClr val="E8EDF5"/>
                </a:solidFill>
                <a:latin typeface="Inter" pitchFamily="34" charset="0"/>
                <a:ea typeface="Inter" pitchFamily="34" charset="-122"/>
                <a:cs typeface="Inter" pitchFamily="34" charset="-120"/>
              </a:rPr>
              <a:t> 수명</a:t>
            </a:r>
            <a:endParaRPr lang="en-US" sz="4050" dirty="0"/>
          </a:p>
        </p:txBody>
      </p:sp>
      <p:sp>
        <p:nvSpPr>
          <p:cNvPr id="24" name="Text 9"/>
          <p:cNvSpPr txBox="1"/>
          <p:nvPr/>
        </p:nvSpPr>
        <p:spPr>
          <a:xfrm>
            <a:off x="761695" y="1886407"/>
            <a:ext cx="14287500" cy="238658"/>
          </a:xfrm>
          <a:prstGeom prst="rect">
            <a:avLst/>
          </a:prstGeom>
          <a:noFill/>
          <a:ln/>
        </p:spPr>
        <p:txBody>
          <a:bodyPr wrap="none" lIns="0" tIns="0" rIns="0" bIns="0" rtlCol="0" anchor="ctr"/>
          <a:lstStyle/>
          <a:p>
            <a:pPr algn="l" indent="0" marL="0">
              <a:buNone/>
            </a:pPr>
            <a:r>
              <a:rPr lang="en-US" sz="1275" dirty="0">
                <a:solidFill>
                  <a:srgbClr val="94A3B8"/>
                </a:solidFill>
                <a:latin typeface="Inter" pitchFamily="34" charset="0"/>
                <a:ea typeface="Inter" pitchFamily="34" charset="-122"/>
                <a:cs typeface="Inter" pitchFamily="34" charset="-120"/>
              </a:rPr>
              <a:t>Via chain 구조 25 °C · EM package-level · 10 MA/cm², 300 °C accelerated · dummy lot 결과.</a:t>
            </a:r>
            <a:endParaRPr lang="en-US" sz="1275" dirty="0"/>
          </a:p>
        </p:txBody>
      </p:sp>
      <p:sp>
        <p:nvSpPr>
          <p:cNvPr id="25" name="Text 10"/>
          <p:cNvSpPr txBox="1"/>
          <p:nvPr/>
        </p:nvSpPr>
        <p:spPr>
          <a:xfrm>
            <a:off x="1086307" y="2933395"/>
            <a:ext cx="762061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A · VIA CHAIN R</a:t>
            </a:r>
            <a:endParaRPr lang="en-US" sz="825" dirty="0"/>
          </a:p>
        </p:txBody>
      </p:sp>
      <p:sp>
        <p:nvSpPr>
          <p:cNvPr id="26" name="Text 11"/>
          <p:cNvSpPr txBox="1"/>
          <p:nvPr/>
        </p:nvSpPr>
        <p:spPr>
          <a:xfrm>
            <a:off x="1086307" y="3161995"/>
            <a:ext cx="7620610" cy="305410"/>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Single via sheet resistance</a:t>
            </a:r>
            <a:endParaRPr lang="en-US" sz="1950" dirty="0"/>
          </a:p>
        </p:txBody>
      </p:sp>
      <p:sp>
        <p:nvSpPr>
          <p:cNvPr id="27" name="Text 12"/>
          <p:cNvSpPr txBox="1"/>
          <p:nvPr/>
        </p:nvSpPr>
        <p:spPr>
          <a:xfrm>
            <a:off x="1371600" y="3696005"/>
            <a:ext cx="2286000" cy="419710"/>
          </a:xfrm>
          <a:prstGeom prst="rect">
            <a:avLst/>
          </a:prstGeom>
          <a:noFill/>
          <a:ln/>
        </p:spPr>
        <p:txBody>
          <a:bodyPr wrap="none" lIns="0" tIns="0" rIns="0" bIns="0" rtlCol="0" anchor="ctr"/>
          <a:lstStyle/>
          <a:p>
            <a:pPr algn="l" indent="0" marL="0">
              <a:buNone/>
            </a:pPr>
            <a:r>
              <a:rPr lang="en-US" sz="975" b="1" dirty="0">
                <a:solidFill>
                  <a:srgbClr val="94A3B8"/>
                </a:solidFill>
                <a:latin typeface="Inter" pitchFamily="34" charset="0"/>
                <a:ea typeface="Inter" pitchFamily="34" charset="-122"/>
                <a:cs typeface="Inter" pitchFamily="34" charset="-120"/>
              </a:rPr>
              <a:t>Structure</a:t>
            </a:r>
            <a:endParaRPr lang="en-US" sz="975" dirty="0"/>
          </a:p>
        </p:txBody>
      </p:sp>
      <p:sp>
        <p:nvSpPr>
          <p:cNvPr id="28" name="Text 13"/>
          <p:cNvSpPr txBox="1"/>
          <p:nvPr/>
        </p:nvSpPr>
        <p:spPr>
          <a:xfrm>
            <a:off x="3657600" y="3696005"/>
            <a:ext cx="1619402" cy="419710"/>
          </a:xfrm>
          <a:prstGeom prst="rect">
            <a:avLst/>
          </a:prstGeom>
          <a:noFill/>
          <a:ln/>
        </p:spPr>
        <p:txBody>
          <a:bodyPr wrap="none" lIns="0" tIns="0" rIns="0" bIns="0" rtlCol="0" anchor="ctr"/>
          <a:lstStyle/>
          <a:p>
            <a:pPr algn="ctr" indent="0" marL="0">
              <a:buNone/>
            </a:pPr>
            <a:r>
              <a:rPr lang="en-US" sz="975" b="1" dirty="0">
                <a:solidFill>
                  <a:srgbClr val="5EEAD4"/>
                </a:solidFill>
                <a:latin typeface="Inter" pitchFamily="34" charset="0"/>
                <a:ea typeface="Inter" pitchFamily="34" charset="-122"/>
                <a:cs typeface="Inter" pitchFamily="34" charset="-120"/>
              </a:rPr>
              <a:t>W1</a:t>
            </a:r>
            <a:endParaRPr lang="en-US" sz="975" dirty="0"/>
          </a:p>
        </p:txBody>
      </p:sp>
      <p:sp>
        <p:nvSpPr>
          <p:cNvPr id="29" name="Text 14"/>
          <p:cNvSpPr txBox="1"/>
          <p:nvPr/>
        </p:nvSpPr>
        <p:spPr>
          <a:xfrm>
            <a:off x="5277002" y="3696005"/>
            <a:ext cx="1619402" cy="419710"/>
          </a:xfrm>
          <a:prstGeom prst="rect">
            <a:avLst/>
          </a:prstGeom>
          <a:noFill/>
          <a:ln/>
        </p:spPr>
        <p:txBody>
          <a:bodyPr wrap="none" lIns="0" tIns="0" rIns="0" bIns="0" rtlCol="0" anchor="ctr"/>
          <a:lstStyle/>
          <a:p>
            <a:pPr algn="ctr" indent="0" marL="0">
              <a:buNone/>
            </a:pPr>
            <a:r>
              <a:rPr lang="en-US" sz="975" b="1" dirty="0">
                <a:solidFill>
                  <a:srgbClr val="FB923C"/>
                </a:solidFill>
                <a:latin typeface="Inter" pitchFamily="34" charset="0"/>
                <a:ea typeface="Inter" pitchFamily="34" charset="-122"/>
                <a:cs typeface="Inter" pitchFamily="34" charset="-120"/>
              </a:rPr>
              <a:t>W2</a:t>
            </a:r>
            <a:endParaRPr lang="en-US" sz="975" dirty="0"/>
          </a:p>
        </p:txBody>
      </p:sp>
      <p:sp>
        <p:nvSpPr>
          <p:cNvPr id="30" name="Text 15"/>
          <p:cNvSpPr txBox="1"/>
          <p:nvPr/>
        </p:nvSpPr>
        <p:spPr>
          <a:xfrm>
            <a:off x="6896405" y="3696005"/>
            <a:ext cx="1810512" cy="419710"/>
          </a:xfrm>
          <a:prstGeom prst="rect">
            <a:avLst/>
          </a:prstGeom>
          <a:noFill/>
          <a:ln/>
        </p:spPr>
        <p:txBody>
          <a:bodyPr wrap="none" lIns="0" tIns="0" rIns="0" bIns="0" rtlCol="0" anchor="ctr"/>
          <a:lstStyle/>
          <a:p>
            <a:pPr algn="ctr" indent="0" marL="0">
              <a:buNone/>
            </a:pPr>
            <a:r>
              <a:rPr lang="en-US" sz="975" b="1" dirty="0">
                <a:solidFill>
                  <a:srgbClr val="F472B6"/>
                </a:solidFill>
                <a:latin typeface="Inter" pitchFamily="34" charset="0"/>
                <a:ea typeface="Inter" pitchFamily="34" charset="-122"/>
                <a:cs typeface="Inter" pitchFamily="34" charset="-120"/>
              </a:rPr>
              <a:t>W3</a:t>
            </a:r>
            <a:endParaRPr lang="en-US" sz="975" dirty="0"/>
          </a:p>
        </p:txBody>
      </p:sp>
      <p:sp>
        <p:nvSpPr>
          <p:cNvPr id="31" name="Text 16"/>
          <p:cNvSpPr txBox="1"/>
          <p:nvPr/>
        </p:nvSpPr>
        <p:spPr>
          <a:xfrm>
            <a:off x="1371600" y="4229100"/>
            <a:ext cx="2286000" cy="438912"/>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V0 single</a:t>
            </a:r>
            <a:endParaRPr lang="en-US" sz="1125" dirty="0"/>
          </a:p>
        </p:txBody>
      </p:sp>
      <p:sp>
        <p:nvSpPr>
          <p:cNvPr id="32" name="Text 17"/>
          <p:cNvSpPr txBox="1"/>
          <p:nvPr/>
        </p:nvSpPr>
        <p:spPr>
          <a:xfrm>
            <a:off x="3657600" y="4229100"/>
            <a:ext cx="1619402"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5.84</a:t>
            </a:r>
            <a:endParaRPr lang="en-US" sz="1500" dirty="0"/>
          </a:p>
        </p:txBody>
      </p:sp>
      <p:sp>
        <p:nvSpPr>
          <p:cNvPr id="33" name="Text 18"/>
          <p:cNvSpPr txBox="1"/>
          <p:nvPr/>
        </p:nvSpPr>
        <p:spPr>
          <a:xfrm>
            <a:off x="5277002" y="4229100"/>
            <a:ext cx="1619402"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5.62</a:t>
            </a:r>
            <a:endParaRPr lang="en-US" sz="1500" dirty="0"/>
          </a:p>
        </p:txBody>
      </p:sp>
      <p:sp>
        <p:nvSpPr>
          <p:cNvPr id="34" name="Text 19"/>
          <p:cNvSpPr txBox="1"/>
          <p:nvPr/>
        </p:nvSpPr>
        <p:spPr>
          <a:xfrm>
            <a:off x="6896405" y="4229100"/>
            <a:ext cx="181051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5.39</a:t>
            </a:r>
            <a:endParaRPr lang="en-US" sz="1500" dirty="0"/>
          </a:p>
        </p:txBody>
      </p:sp>
      <p:sp>
        <p:nvSpPr>
          <p:cNvPr id="35" name="Text 20"/>
          <p:cNvSpPr txBox="1"/>
          <p:nvPr/>
        </p:nvSpPr>
        <p:spPr>
          <a:xfrm>
            <a:off x="1371600" y="4743907"/>
            <a:ext cx="2286000" cy="438912"/>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V1 chain ×5</a:t>
            </a:r>
            <a:endParaRPr lang="en-US" sz="1125" dirty="0"/>
          </a:p>
        </p:txBody>
      </p:sp>
      <p:sp>
        <p:nvSpPr>
          <p:cNvPr id="36" name="Text 21"/>
          <p:cNvSpPr txBox="1"/>
          <p:nvPr/>
        </p:nvSpPr>
        <p:spPr>
          <a:xfrm>
            <a:off x="3657600" y="4743907"/>
            <a:ext cx="1619402"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28.4</a:t>
            </a:r>
            <a:endParaRPr lang="en-US" sz="1500" dirty="0"/>
          </a:p>
        </p:txBody>
      </p:sp>
      <p:sp>
        <p:nvSpPr>
          <p:cNvPr id="37" name="Text 22"/>
          <p:cNvSpPr txBox="1"/>
          <p:nvPr/>
        </p:nvSpPr>
        <p:spPr>
          <a:xfrm>
            <a:off x="5277002" y="4743907"/>
            <a:ext cx="1619402"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27.1</a:t>
            </a:r>
            <a:endParaRPr lang="en-US" sz="1500" dirty="0"/>
          </a:p>
        </p:txBody>
      </p:sp>
      <p:sp>
        <p:nvSpPr>
          <p:cNvPr id="38" name="Text 23"/>
          <p:cNvSpPr txBox="1"/>
          <p:nvPr/>
        </p:nvSpPr>
        <p:spPr>
          <a:xfrm>
            <a:off x="6896405" y="4743907"/>
            <a:ext cx="181051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25.6</a:t>
            </a:r>
            <a:endParaRPr lang="en-US" sz="1500" dirty="0"/>
          </a:p>
        </p:txBody>
      </p:sp>
      <p:sp>
        <p:nvSpPr>
          <p:cNvPr id="39" name="Text 24"/>
          <p:cNvSpPr txBox="1"/>
          <p:nvPr/>
        </p:nvSpPr>
        <p:spPr>
          <a:xfrm>
            <a:off x="1371600" y="5257800"/>
            <a:ext cx="2286000" cy="438912"/>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V7 chain ×1000</a:t>
            </a:r>
            <a:endParaRPr lang="en-US" sz="1125" dirty="0"/>
          </a:p>
        </p:txBody>
      </p:sp>
      <p:sp>
        <p:nvSpPr>
          <p:cNvPr id="40" name="Text 25"/>
          <p:cNvSpPr txBox="1"/>
          <p:nvPr/>
        </p:nvSpPr>
        <p:spPr>
          <a:xfrm>
            <a:off x="3657600" y="5257800"/>
            <a:ext cx="1619402"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5.92k</a:t>
            </a:r>
            <a:endParaRPr lang="en-US" sz="1500" dirty="0"/>
          </a:p>
        </p:txBody>
      </p:sp>
      <p:sp>
        <p:nvSpPr>
          <p:cNvPr id="41" name="Text 26"/>
          <p:cNvSpPr txBox="1"/>
          <p:nvPr/>
        </p:nvSpPr>
        <p:spPr>
          <a:xfrm>
            <a:off x="5277002" y="5257800"/>
            <a:ext cx="1619402"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5.71k</a:t>
            </a:r>
            <a:endParaRPr lang="en-US" sz="1500" dirty="0"/>
          </a:p>
        </p:txBody>
      </p:sp>
      <p:sp>
        <p:nvSpPr>
          <p:cNvPr id="42" name="Text 27"/>
          <p:cNvSpPr txBox="1"/>
          <p:nvPr/>
        </p:nvSpPr>
        <p:spPr>
          <a:xfrm>
            <a:off x="6896405" y="5257800"/>
            <a:ext cx="181051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5.43k</a:t>
            </a:r>
            <a:endParaRPr lang="en-US" sz="1500" dirty="0"/>
          </a:p>
        </p:txBody>
      </p:sp>
      <p:sp>
        <p:nvSpPr>
          <p:cNvPr id="43" name="Text 28"/>
          <p:cNvSpPr txBox="1"/>
          <p:nvPr/>
        </p:nvSpPr>
        <p:spPr>
          <a:xfrm>
            <a:off x="1371600" y="5772607"/>
            <a:ext cx="2286000" cy="438912"/>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Unit via (Ω/via)</a:t>
            </a:r>
            <a:endParaRPr lang="en-US" sz="1125" dirty="0"/>
          </a:p>
        </p:txBody>
      </p:sp>
      <p:sp>
        <p:nvSpPr>
          <p:cNvPr id="44" name="Text 29"/>
          <p:cNvSpPr txBox="1"/>
          <p:nvPr/>
        </p:nvSpPr>
        <p:spPr>
          <a:xfrm>
            <a:off x="3657600" y="5772607"/>
            <a:ext cx="1619402"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5.92</a:t>
            </a:r>
            <a:endParaRPr lang="en-US" sz="1500" dirty="0"/>
          </a:p>
        </p:txBody>
      </p:sp>
      <p:sp>
        <p:nvSpPr>
          <p:cNvPr id="45" name="Text 30"/>
          <p:cNvSpPr txBox="1"/>
          <p:nvPr/>
        </p:nvSpPr>
        <p:spPr>
          <a:xfrm>
            <a:off x="5277002" y="5772607"/>
            <a:ext cx="1619402"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5.71</a:t>
            </a:r>
            <a:endParaRPr lang="en-US" sz="1500" dirty="0"/>
          </a:p>
        </p:txBody>
      </p:sp>
      <p:sp>
        <p:nvSpPr>
          <p:cNvPr id="46" name="Text 31"/>
          <p:cNvSpPr txBox="1"/>
          <p:nvPr/>
        </p:nvSpPr>
        <p:spPr>
          <a:xfrm>
            <a:off x="6896405" y="5772607"/>
            <a:ext cx="181051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5.43</a:t>
            </a:r>
            <a:endParaRPr lang="en-US" sz="1500" dirty="0"/>
          </a:p>
        </p:txBody>
      </p:sp>
      <p:sp>
        <p:nvSpPr>
          <p:cNvPr id="47" name="Text 32"/>
          <p:cNvSpPr txBox="1"/>
          <p:nvPr/>
        </p:nvSpPr>
        <p:spPr>
          <a:xfrm>
            <a:off x="1314907" y="6590995"/>
            <a:ext cx="7239305"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NOTE</a:t>
            </a:r>
            <a:endParaRPr lang="en-US" sz="825" dirty="0"/>
          </a:p>
        </p:txBody>
      </p:sp>
      <p:sp>
        <p:nvSpPr>
          <p:cNvPr id="48" name="Text 33"/>
          <p:cNvSpPr txBox="1"/>
          <p:nvPr/>
        </p:nvSpPr>
        <p:spPr>
          <a:xfrm>
            <a:off x="1314907" y="6777533"/>
            <a:ext cx="7239305" cy="443484"/>
          </a:xfrm>
          <a:prstGeom prst="rect">
            <a:avLst/>
          </a:prstGeom>
          <a:noFill/>
          <a:ln/>
        </p:spPr>
        <p:txBody>
          <a:bodyPr wrap="square" lIns="0" tIns="0" rIns="0" bIns="0" rtlCol="0" anchor="t"/>
          <a:lstStyle/>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V0/V1 chain에서 etch time 증가에 따라 via R −8 %, −10 % 범위로 미세 감소.</a:t>
            </a:r>
            <a:pPr algn="l" indent="0" marL="0">
              <a:lnSpc>
                <a:spcPts val="1627"/>
              </a:lnSpc>
              <a:buNone/>
            </a:pPr>
            <a:endParaRPr lang="en-US" sz="1050" dirty="0"/>
          </a:p>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Trench→via step coverage 개선 영향으로 추정.</a:t>
            </a:r>
            <a:endParaRPr lang="en-US" sz="1050" dirty="0"/>
          </a:p>
        </p:txBody>
      </p:sp>
      <p:sp>
        <p:nvSpPr>
          <p:cNvPr id="49" name="Text 34"/>
          <p:cNvSpPr txBox="1"/>
          <p:nvPr/>
        </p:nvSpPr>
        <p:spPr>
          <a:xfrm>
            <a:off x="9562795" y="2933395"/>
            <a:ext cx="762061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B · EM MTTF</a:t>
            </a:r>
            <a:endParaRPr lang="en-US" sz="825" dirty="0"/>
          </a:p>
        </p:txBody>
      </p:sp>
      <p:sp>
        <p:nvSpPr>
          <p:cNvPr id="50" name="Text 35"/>
          <p:cNvSpPr txBox="1"/>
          <p:nvPr/>
        </p:nvSpPr>
        <p:spPr>
          <a:xfrm>
            <a:off x="9562795" y="3161995"/>
            <a:ext cx="7620610" cy="305410"/>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Electromigration TTF</a:t>
            </a:r>
            <a:endParaRPr lang="en-US" sz="1950" dirty="0"/>
          </a:p>
        </p:txBody>
      </p:sp>
      <p:sp>
        <p:nvSpPr>
          <p:cNvPr id="51" name="Text 36"/>
          <p:cNvSpPr txBox="1"/>
          <p:nvPr/>
        </p:nvSpPr>
        <p:spPr>
          <a:xfrm>
            <a:off x="9849002" y="3696005"/>
            <a:ext cx="2667305" cy="419710"/>
          </a:xfrm>
          <a:prstGeom prst="rect">
            <a:avLst/>
          </a:prstGeom>
          <a:noFill/>
          <a:ln/>
        </p:spPr>
        <p:txBody>
          <a:bodyPr wrap="none" lIns="0" tIns="0" rIns="0" bIns="0" rtlCol="0" anchor="ctr"/>
          <a:lstStyle/>
          <a:p>
            <a:pPr algn="l" indent="0" marL="0">
              <a:buNone/>
            </a:pPr>
            <a:r>
              <a:rPr lang="en-US" sz="975" b="1" dirty="0">
                <a:solidFill>
                  <a:srgbClr val="94A3B8"/>
                </a:solidFill>
                <a:latin typeface="Inter" pitchFamily="34" charset="0"/>
                <a:ea typeface="Inter" pitchFamily="34" charset="-122"/>
                <a:cs typeface="Inter" pitchFamily="34" charset="-120"/>
              </a:rPr>
              <a:t>Stress condition</a:t>
            </a:r>
            <a:endParaRPr lang="en-US" sz="975" dirty="0"/>
          </a:p>
        </p:txBody>
      </p:sp>
      <p:sp>
        <p:nvSpPr>
          <p:cNvPr id="52" name="Text 37"/>
          <p:cNvSpPr txBox="1"/>
          <p:nvPr/>
        </p:nvSpPr>
        <p:spPr>
          <a:xfrm>
            <a:off x="12516307" y="3696005"/>
            <a:ext cx="1524305" cy="419710"/>
          </a:xfrm>
          <a:prstGeom prst="rect">
            <a:avLst/>
          </a:prstGeom>
          <a:noFill/>
          <a:ln/>
        </p:spPr>
        <p:txBody>
          <a:bodyPr wrap="none" lIns="0" tIns="0" rIns="0" bIns="0" rtlCol="0" anchor="ctr"/>
          <a:lstStyle/>
          <a:p>
            <a:pPr algn="ctr" indent="0" marL="0">
              <a:buNone/>
            </a:pPr>
            <a:r>
              <a:rPr lang="en-US" sz="975" b="1" dirty="0">
                <a:solidFill>
                  <a:srgbClr val="5EEAD4"/>
                </a:solidFill>
                <a:latin typeface="Inter" pitchFamily="34" charset="0"/>
                <a:ea typeface="Inter" pitchFamily="34" charset="-122"/>
                <a:cs typeface="Inter" pitchFamily="34" charset="-120"/>
              </a:rPr>
              <a:t>W1</a:t>
            </a:r>
            <a:endParaRPr lang="en-US" sz="975" dirty="0"/>
          </a:p>
        </p:txBody>
      </p:sp>
      <p:sp>
        <p:nvSpPr>
          <p:cNvPr id="53" name="Text 38"/>
          <p:cNvSpPr txBox="1"/>
          <p:nvPr/>
        </p:nvSpPr>
        <p:spPr>
          <a:xfrm>
            <a:off x="14039698" y="3696005"/>
            <a:ext cx="1524305" cy="419710"/>
          </a:xfrm>
          <a:prstGeom prst="rect">
            <a:avLst/>
          </a:prstGeom>
          <a:noFill/>
          <a:ln/>
        </p:spPr>
        <p:txBody>
          <a:bodyPr wrap="none" lIns="0" tIns="0" rIns="0" bIns="0" rtlCol="0" anchor="ctr"/>
          <a:lstStyle/>
          <a:p>
            <a:pPr algn="ctr" indent="0" marL="0">
              <a:buNone/>
            </a:pPr>
            <a:r>
              <a:rPr lang="en-US" sz="975" b="1" dirty="0">
                <a:solidFill>
                  <a:srgbClr val="FB923C"/>
                </a:solidFill>
                <a:latin typeface="Inter" pitchFamily="34" charset="0"/>
                <a:ea typeface="Inter" pitchFamily="34" charset="-122"/>
                <a:cs typeface="Inter" pitchFamily="34" charset="-120"/>
              </a:rPr>
              <a:t>W2</a:t>
            </a:r>
            <a:endParaRPr lang="en-US" sz="975" dirty="0"/>
          </a:p>
        </p:txBody>
      </p:sp>
      <p:sp>
        <p:nvSpPr>
          <p:cNvPr id="54" name="Text 39"/>
          <p:cNvSpPr txBox="1"/>
          <p:nvPr/>
        </p:nvSpPr>
        <p:spPr>
          <a:xfrm>
            <a:off x="15564002" y="3696005"/>
            <a:ext cx="1619402" cy="419710"/>
          </a:xfrm>
          <a:prstGeom prst="rect">
            <a:avLst/>
          </a:prstGeom>
          <a:noFill/>
          <a:ln/>
        </p:spPr>
        <p:txBody>
          <a:bodyPr wrap="none" lIns="0" tIns="0" rIns="0" bIns="0" rtlCol="0" anchor="ctr"/>
          <a:lstStyle/>
          <a:p>
            <a:pPr algn="ctr" indent="0" marL="0">
              <a:buNone/>
            </a:pPr>
            <a:r>
              <a:rPr lang="en-US" sz="975" b="1" dirty="0">
                <a:solidFill>
                  <a:srgbClr val="F472B6"/>
                </a:solidFill>
                <a:latin typeface="Inter" pitchFamily="34" charset="0"/>
                <a:ea typeface="Inter" pitchFamily="34" charset="-122"/>
                <a:cs typeface="Inter" pitchFamily="34" charset="-120"/>
              </a:rPr>
              <a:t>W3</a:t>
            </a:r>
            <a:endParaRPr lang="en-US" sz="975" dirty="0"/>
          </a:p>
        </p:txBody>
      </p:sp>
      <p:sp>
        <p:nvSpPr>
          <p:cNvPr id="55" name="Text 40"/>
          <p:cNvSpPr txBox="1"/>
          <p:nvPr/>
        </p:nvSpPr>
        <p:spPr>
          <a:xfrm>
            <a:off x="9849002" y="4229100"/>
            <a:ext cx="2667305" cy="438912"/>
          </a:xfrm>
          <a:prstGeom prst="rect">
            <a:avLst/>
          </a:prstGeom>
          <a:noFill/>
          <a:ln/>
        </p:spPr>
        <p:txBody>
          <a:bodyPr wrap="none" lIns="0" tIns="0" rIns="0" bIns="0" rtlCol="0" anchor="ctr"/>
          <a:lstStyle/>
          <a:p>
            <a:pPr algn="l" indent="0" marL="0">
              <a:buNone/>
            </a:pPr>
            <a:r>
              <a:rPr lang="en-US" sz="1050" dirty="0">
                <a:solidFill>
                  <a:srgbClr val="E8EDF5"/>
                </a:solidFill>
                <a:latin typeface="Inter" pitchFamily="34" charset="0"/>
                <a:ea typeface="Inter" pitchFamily="34" charset="-122"/>
                <a:cs typeface="Inter" pitchFamily="34" charset="-120"/>
              </a:rPr>
              <a:t>300 °C · 10 MA/cm²</a:t>
            </a:r>
            <a:endParaRPr lang="en-US" sz="1050" dirty="0"/>
          </a:p>
        </p:txBody>
      </p:sp>
      <p:sp>
        <p:nvSpPr>
          <p:cNvPr id="56" name="Text 41"/>
          <p:cNvSpPr txBox="1"/>
          <p:nvPr/>
        </p:nvSpPr>
        <p:spPr>
          <a:xfrm>
            <a:off x="12516307" y="4229100"/>
            <a:ext cx="1524305"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1,184</a:t>
            </a:r>
            <a:endParaRPr lang="en-US" sz="1500" dirty="0"/>
          </a:p>
        </p:txBody>
      </p:sp>
      <p:sp>
        <p:nvSpPr>
          <p:cNvPr id="57" name="Text 42"/>
          <p:cNvSpPr txBox="1"/>
          <p:nvPr/>
        </p:nvSpPr>
        <p:spPr>
          <a:xfrm>
            <a:off x="14039698" y="4229100"/>
            <a:ext cx="1524305"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1,427</a:t>
            </a:r>
            <a:endParaRPr lang="en-US" sz="1500" dirty="0"/>
          </a:p>
        </p:txBody>
      </p:sp>
      <p:sp>
        <p:nvSpPr>
          <p:cNvPr id="58" name="Text 43"/>
          <p:cNvSpPr txBox="1"/>
          <p:nvPr/>
        </p:nvSpPr>
        <p:spPr>
          <a:xfrm>
            <a:off x="15564002" y="4229100"/>
            <a:ext cx="161940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1,648</a:t>
            </a:r>
            <a:endParaRPr lang="en-US" sz="1500" dirty="0"/>
          </a:p>
        </p:txBody>
      </p:sp>
      <p:sp>
        <p:nvSpPr>
          <p:cNvPr id="59" name="Text 44"/>
          <p:cNvSpPr txBox="1"/>
          <p:nvPr/>
        </p:nvSpPr>
        <p:spPr>
          <a:xfrm>
            <a:off x="9849002" y="4743907"/>
            <a:ext cx="2667305" cy="438912"/>
          </a:xfrm>
          <a:prstGeom prst="rect">
            <a:avLst/>
          </a:prstGeom>
          <a:noFill/>
          <a:ln/>
        </p:spPr>
        <p:txBody>
          <a:bodyPr wrap="none" lIns="0" tIns="0" rIns="0" bIns="0" rtlCol="0" anchor="ctr"/>
          <a:lstStyle/>
          <a:p>
            <a:pPr algn="l" indent="0" marL="0">
              <a:buNone/>
            </a:pPr>
            <a:r>
              <a:rPr lang="en-US" sz="1050" dirty="0">
                <a:solidFill>
                  <a:srgbClr val="E8EDF5"/>
                </a:solidFill>
                <a:latin typeface="Inter" pitchFamily="34" charset="0"/>
                <a:ea typeface="Inter" pitchFamily="34" charset="-122"/>
                <a:cs typeface="Inter" pitchFamily="34" charset="-120"/>
              </a:rPr>
              <a:t>325 °C · 10 MA/cm²</a:t>
            </a:r>
            <a:endParaRPr lang="en-US" sz="1050" dirty="0"/>
          </a:p>
        </p:txBody>
      </p:sp>
      <p:sp>
        <p:nvSpPr>
          <p:cNvPr id="60" name="Text 45"/>
          <p:cNvSpPr txBox="1"/>
          <p:nvPr/>
        </p:nvSpPr>
        <p:spPr>
          <a:xfrm>
            <a:off x="12516307" y="4743907"/>
            <a:ext cx="1524305"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486</a:t>
            </a:r>
            <a:endParaRPr lang="en-US" sz="1500" dirty="0"/>
          </a:p>
        </p:txBody>
      </p:sp>
      <p:sp>
        <p:nvSpPr>
          <p:cNvPr id="61" name="Text 46"/>
          <p:cNvSpPr txBox="1"/>
          <p:nvPr/>
        </p:nvSpPr>
        <p:spPr>
          <a:xfrm>
            <a:off x="14039698" y="4743907"/>
            <a:ext cx="1524305"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604</a:t>
            </a:r>
            <a:endParaRPr lang="en-US" sz="1500" dirty="0"/>
          </a:p>
        </p:txBody>
      </p:sp>
      <p:sp>
        <p:nvSpPr>
          <p:cNvPr id="62" name="Text 47"/>
          <p:cNvSpPr txBox="1"/>
          <p:nvPr/>
        </p:nvSpPr>
        <p:spPr>
          <a:xfrm>
            <a:off x="15564002" y="4743907"/>
            <a:ext cx="161940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728</a:t>
            </a:r>
            <a:endParaRPr lang="en-US" sz="1500" dirty="0"/>
          </a:p>
        </p:txBody>
      </p:sp>
      <p:sp>
        <p:nvSpPr>
          <p:cNvPr id="63" name="Text 48"/>
          <p:cNvSpPr txBox="1"/>
          <p:nvPr/>
        </p:nvSpPr>
        <p:spPr>
          <a:xfrm>
            <a:off x="9849002" y="5257800"/>
            <a:ext cx="2667305" cy="438912"/>
          </a:xfrm>
          <a:prstGeom prst="rect">
            <a:avLst/>
          </a:prstGeom>
          <a:noFill/>
          <a:ln/>
        </p:spPr>
        <p:txBody>
          <a:bodyPr wrap="none" lIns="0" tIns="0" rIns="0" bIns="0" rtlCol="0" anchor="ctr"/>
          <a:lstStyle/>
          <a:p>
            <a:pPr algn="l" indent="0" marL="0">
              <a:buNone/>
            </a:pPr>
            <a:r>
              <a:rPr lang="en-US" sz="1050" dirty="0">
                <a:solidFill>
                  <a:srgbClr val="E8EDF5"/>
                </a:solidFill>
                <a:latin typeface="Inter" pitchFamily="34" charset="0"/>
                <a:ea typeface="Inter" pitchFamily="34" charset="-122"/>
                <a:cs typeface="Inter" pitchFamily="34" charset="-120"/>
              </a:rPr>
              <a:t>350 °C · 10 MA/cm²</a:t>
            </a:r>
            <a:endParaRPr lang="en-US" sz="1050" dirty="0"/>
          </a:p>
        </p:txBody>
      </p:sp>
      <p:sp>
        <p:nvSpPr>
          <p:cNvPr id="64" name="Text 49"/>
          <p:cNvSpPr txBox="1"/>
          <p:nvPr/>
        </p:nvSpPr>
        <p:spPr>
          <a:xfrm>
            <a:off x="12516307" y="5257800"/>
            <a:ext cx="1524305" cy="438912"/>
          </a:xfrm>
          <a:prstGeom prst="rect">
            <a:avLst/>
          </a:prstGeom>
          <a:noFill/>
          <a:ln/>
        </p:spPr>
        <p:txBody>
          <a:bodyPr wrap="none" lIns="0" tIns="0" rIns="0" bIns="0" rtlCol="0" anchor="ctr"/>
          <a:lstStyle/>
          <a:p>
            <a:pPr algn="ctr" indent="0" marL="0">
              <a:buNone/>
            </a:pPr>
            <a:r>
              <a:rPr lang="en-US" sz="1500" dirty="0">
                <a:solidFill>
                  <a:srgbClr val="5EEAD4"/>
                </a:solidFill>
                <a:latin typeface="JetBrains Mono" pitchFamily="34" charset="0"/>
                <a:ea typeface="JetBrains Mono" pitchFamily="34" charset="-122"/>
                <a:cs typeface="JetBrains Mono" pitchFamily="34" charset="-120"/>
              </a:rPr>
              <a:t>198</a:t>
            </a:r>
            <a:endParaRPr lang="en-US" sz="1500" dirty="0"/>
          </a:p>
        </p:txBody>
      </p:sp>
      <p:sp>
        <p:nvSpPr>
          <p:cNvPr id="65" name="Text 50"/>
          <p:cNvSpPr txBox="1"/>
          <p:nvPr/>
        </p:nvSpPr>
        <p:spPr>
          <a:xfrm>
            <a:off x="14039698" y="5257800"/>
            <a:ext cx="1524305" cy="438912"/>
          </a:xfrm>
          <a:prstGeom prst="rect">
            <a:avLst/>
          </a:prstGeom>
          <a:noFill/>
          <a:ln/>
        </p:spPr>
        <p:txBody>
          <a:bodyPr wrap="none" lIns="0" tIns="0" rIns="0" bIns="0" rtlCol="0" anchor="ctr"/>
          <a:lstStyle/>
          <a:p>
            <a:pPr algn="ctr" indent="0" marL="0">
              <a:buNone/>
            </a:pPr>
            <a:r>
              <a:rPr lang="en-US" sz="1500" dirty="0">
                <a:solidFill>
                  <a:srgbClr val="FB923C"/>
                </a:solidFill>
                <a:latin typeface="JetBrains Mono" pitchFamily="34" charset="0"/>
                <a:ea typeface="JetBrains Mono" pitchFamily="34" charset="-122"/>
                <a:cs typeface="JetBrains Mono" pitchFamily="34" charset="-120"/>
              </a:rPr>
              <a:t>254</a:t>
            </a:r>
            <a:endParaRPr lang="en-US" sz="1500" dirty="0"/>
          </a:p>
        </p:txBody>
      </p:sp>
      <p:sp>
        <p:nvSpPr>
          <p:cNvPr id="66" name="Text 51"/>
          <p:cNvSpPr txBox="1"/>
          <p:nvPr/>
        </p:nvSpPr>
        <p:spPr>
          <a:xfrm>
            <a:off x="15564002" y="5257800"/>
            <a:ext cx="1619402" cy="438912"/>
          </a:xfrm>
          <a:prstGeom prst="rect">
            <a:avLst/>
          </a:prstGeom>
          <a:noFill/>
          <a:ln/>
        </p:spPr>
        <p:txBody>
          <a:bodyPr wrap="none" lIns="0" tIns="0" rIns="0" bIns="0" rtlCol="0" anchor="ctr"/>
          <a:lstStyle/>
          <a:p>
            <a:pPr algn="ctr" indent="0" marL="0">
              <a:buNone/>
            </a:pPr>
            <a:r>
              <a:rPr lang="en-US" sz="1500" dirty="0">
                <a:solidFill>
                  <a:srgbClr val="F472B6"/>
                </a:solidFill>
                <a:latin typeface="JetBrains Mono" pitchFamily="34" charset="0"/>
                <a:ea typeface="JetBrains Mono" pitchFamily="34" charset="-122"/>
                <a:cs typeface="JetBrains Mono" pitchFamily="34" charset="-120"/>
              </a:rPr>
              <a:t>312</a:t>
            </a:r>
            <a:endParaRPr lang="en-US" sz="1500" dirty="0"/>
          </a:p>
        </p:txBody>
      </p:sp>
      <p:sp>
        <p:nvSpPr>
          <p:cNvPr id="67" name="Text 52"/>
          <p:cNvSpPr txBox="1"/>
          <p:nvPr/>
        </p:nvSpPr>
        <p:spPr>
          <a:xfrm>
            <a:off x="9849002" y="5772607"/>
            <a:ext cx="2667305" cy="438912"/>
          </a:xfrm>
          <a:prstGeom prst="rect">
            <a:avLst/>
          </a:prstGeom>
          <a:noFill/>
          <a:ln/>
        </p:spPr>
        <p:txBody>
          <a:bodyPr wrap="none" lIns="0" tIns="0" rIns="0" bIns="0" rtlCol="0" anchor="ctr"/>
          <a:lstStyle/>
          <a:p>
            <a:pPr algn="l" indent="0" marL="0">
              <a:buNone/>
            </a:pPr>
            <a:r>
              <a:rPr lang="en-US" sz="1050" dirty="0">
                <a:solidFill>
                  <a:srgbClr val="E8EDF5"/>
                </a:solidFill>
                <a:latin typeface="Inter" pitchFamily="34" charset="0"/>
                <a:ea typeface="Inter" pitchFamily="34" charset="-122"/>
                <a:cs typeface="Inter" pitchFamily="34" charset="-120"/>
              </a:rPr>
              <a:t>eV (rough)</a:t>
            </a:r>
            <a:endParaRPr lang="en-US" sz="1050" dirty="0"/>
          </a:p>
        </p:txBody>
      </p:sp>
      <p:sp>
        <p:nvSpPr>
          <p:cNvPr id="68" name="Text 53"/>
          <p:cNvSpPr txBox="1"/>
          <p:nvPr/>
        </p:nvSpPr>
        <p:spPr>
          <a:xfrm>
            <a:off x="12516307" y="5772607"/>
            <a:ext cx="1524305" cy="438912"/>
          </a:xfrm>
          <a:prstGeom prst="rect">
            <a:avLst/>
          </a:prstGeom>
          <a:noFill/>
          <a:ln/>
        </p:spPr>
        <p:txBody>
          <a:bodyPr wrap="none" lIns="0" tIns="0" rIns="0" bIns="0" rtlCol="0" anchor="ctr"/>
          <a:lstStyle/>
          <a:p>
            <a:pPr algn="ctr" indent="0" marL="0">
              <a:buNone/>
            </a:pPr>
            <a:r>
              <a:rPr lang="en-US" sz="1500" dirty="0">
                <a:solidFill>
                  <a:srgbClr val="94A3B8"/>
                </a:solidFill>
                <a:latin typeface="JetBrains Mono" pitchFamily="34" charset="0"/>
                <a:ea typeface="JetBrains Mono" pitchFamily="34" charset="-122"/>
                <a:cs typeface="JetBrains Mono" pitchFamily="34" charset="-120"/>
              </a:rPr>
              <a:t>0.94</a:t>
            </a:r>
            <a:endParaRPr lang="en-US" sz="1500" dirty="0"/>
          </a:p>
        </p:txBody>
      </p:sp>
      <p:sp>
        <p:nvSpPr>
          <p:cNvPr id="69" name="Text 54"/>
          <p:cNvSpPr txBox="1"/>
          <p:nvPr/>
        </p:nvSpPr>
        <p:spPr>
          <a:xfrm>
            <a:off x="14039698" y="5772607"/>
            <a:ext cx="1524305" cy="438912"/>
          </a:xfrm>
          <a:prstGeom prst="rect">
            <a:avLst/>
          </a:prstGeom>
          <a:noFill/>
          <a:ln/>
        </p:spPr>
        <p:txBody>
          <a:bodyPr wrap="none" lIns="0" tIns="0" rIns="0" bIns="0" rtlCol="0" anchor="ctr"/>
          <a:lstStyle/>
          <a:p>
            <a:pPr algn="ctr" indent="0" marL="0">
              <a:buNone/>
            </a:pPr>
            <a:r>
              <a:rPr lang="en-US" sz="1500" dirty="0">
                <a:solidFill>
                  <a:srgbClr val="94A3B8"/>
                </a:solidFill>
                <a:latin typeface="JetBrains Mono" pitchFamily="34" charset="0"/>
                <a:ea typeface="JetBrains Mono" pitchFamily="34" charset="-122"/>
                <a:cs typeface="JetBrains Mono" pitchFamily="34" charset="-120"/>
              </a:rPr>
              <a:t>0.93</a:t>
            </a:r>
            <a:endParaRPr lang="en-US" sz="1500" dirty="0"/>
          </a:p>
        </p:txBody>
      </p:sp>
      <p:sp>
        <p:nvSpPr>
          <p:cNvPr id="70" name="Text 55"/>
          <p:cNvSpPr txBox="1"/>
          <p:nvPr/>
        </p:nvSpPr>
        <p:spPr>
          <a:xfrm>
            <a:off x="15564002" y="5772607"/>
            <a:ext cx="1619402" cy="438912"/>
          </a:xfrm>
          <a:prstGeom prst="rect">
            <a:avLst/>
          </a:prstGeom>
          <a:noFill/>
          <a:ln/>
        </p:spPr>
        <p:txBody>
          <a:bodyPr wrap="none" lIns="0" tIns="0" rIns="0" bIns="0" rtlCol="0" anchor="ctr"/>
          <a:lstStyle/>
          <a:p>
            <a:pPr algn="ctr" indent="0" marL="0">
              <a:buNone/>
            </a:pPr>
            <a:r>
              <a:rPr lang="en-US" sz="1500" dirty="0">
                <a:solidFill>
                  <a:srgbClr val="94A3B8"/>
                </a:solidFill>
                <a:latin typeface="JetBrains Mono" pitchFamily="34" charset="0"/>
                <a:ea typeface="JetBrains Mono" pitchFamily="34" charset="-122"/>
                <a:cs typeface="JetBrains Mono" pitchFamily="34" charset="-120"/>
              </a:rPr>
              <a:t>0.91</a:t>
            </a:r>
            <a:endParaRPr lang="en-US" sz="1500" dirty="0"/>
          </a:p>
        </p:txBody>
      </p:sp>
      <p:sp>
        <p:nvSpPr>
          <p:cNvPr id="71" name="Text 56"/>
          <p:cNvSpPr txBox="1"/>
          <p:nvPr/>
        </p:nvSpPr>
        <p:spPr>
          <a:xfrm>
            <a:off x="9791395" y="6590995"/>
            <a:ext cx="7239305"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NOTE</a:t>
            </a:r>
            <a:endParaRPr lang="en-US" sz="825" dirty="0"/>
          </a:p>
        </p:txBody>
      </p:sp>
      <p:sp>
        <p:nvSpPr>
          <p:cNvPr id="72" name="Text 57"/>
          <p:cNvSpPr txBox="1"/>
          <p:nvPr/>
        </p:nvSpPr>
        <p:spPr>
          <a:xfrm>
            <a:off x="9791395" y="6777533"/>
            <a:ext cx="7239305" cy="443484"/>
          </a:xfrm>
          <a:prstGeom prst="rect">
            <a:avLst/>
          </a:prstGeom>
          <a:noFill/>
          <a:ln/>
        </p:spPr>
        <p:txBody>
          <a:bodyPr wrap="square" lIns="0" tIns="0" rIns="0" bIns="0" rtlCol="0" anchor="t"/>
          <a:lstStyle/>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W3에서 동일 조건에서 +39 % MTTF 향상.</a:t>
            </a:r>
            <a:pPr algn="l" indent="0" marL="0">
              <a:lnSpc>
                <a:spcPts val="1627"/>
              </a:lnSpc>
              <a:buNone/>
            </a:pPr>
            <a:endParaRPr lang="en-US" sz="1050" dirty="0"/>
          </a:p>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깊은 trench → Cu 단면적 ↑ → mass transport에 대한 robuster.</a:t>
            </a:r>
            <a:endParaRPr lang="en-US" sz="1050" dirty="0"/>
          </a:p>
        </p:txBody>
      </p:sp>
      <p:sp>
        <p:nvSpPr>
          <p:cNvPr id="73" name="Text 58"/>
          <p:cNvSpPr txBox="1"/>
          <p:nvPr/>
        </p:nvSpPr>
        <p:spPr>
          <a:xfrm>
            <a:off x="1086307" y="8134502"/>
            <a:ext cx="7620610" cy="133502"/>
          </a:xfrm>
          <a:prstGeom prst="rect">
            <a:avLst/>
          </a:prstGeom>
          <a:noFill/>
          <a:ln/>
        </p:spPr>
        <p:txBody>
          <a:bodyPr wrap="none" lIns="0" tIns="0" rIns="0" bIns="0" rtlCol="0" anchor="ctr"/>
          <a:lstStyle/>
          <a:p>
            <a:pPr algn="l" indent="0" marL="0">
              <a:buNone/>
            </a:pPr>
            <a:r>
              <a:rPr lang="en-US" sz="825" b="1" spc="247" kern="0" dirty="0">
                <a:solidFill>
                  <a:srgbClr val="FBBF24"/>
                </a:solidFill>
                <a:latin typeface="JetBrains Mono" pitchFamily="34" charset="0"/>
                <a:ea typeface="JetBrains Mono" pitchFamily="34" charset="-122"/>
                <a:cs typeface="JetBrains Mono" pitchFamily="34" charset="-120"/>
              </a:rPr>
              <a:t>CROSS-CUT SUMMARY</a:t>
            </a:r>
            <a:endParaRPr lang="en-US" sz="825" dirty="0"/>
          </a:p>
        </p:txBody>
      </p:sp>
      <p:sp>
        <p:nvSpPr>
          <p:cNvPr id="74" name="Text 59"/>
          <p:cNvSpPr txBox="1"/>
          <p:nvPr/>
        </p:nvSpPr>
        <p:spPr>
          <a:xfrm>
            <a:off x="1086307" y="8354873"/>
            <a:ext cx="7620610" cy="842162"/>
          </a:xfrm>
          <a:prstGeom prst="rect">
            <a:avLst/>
          </a:prstGeom>
          <a:noFill/>
          <a:ln/>
        </p:spPr>
        <p:txBody>
          <a:bodyPr wrap="square" lIns="0" tIns="0" rIns="0" bIns="0" rtlCol="0" anchor="t"/>
          <a:lstStyle/>
          <a:p>
            <a:pPr algn="l" indent="0" marL="0">
              <a:lnSpc>
                <a:spcPts val="2081"/>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081"/>
              </a:lnSpc>
              <a:buNone/>
            </a:pPr>
            <a:r>
              <a:rPr lang="en-US" sz="1125" dirty="0">
                <a:solidFill>
                  <a:srgbClr val="E8EDF5"/>
                </a:solidFill>
                <a:latin typeface="Inter" pitchFamily="34" charset="0"/>
                <a:ea typeface="Inter" pitchFamily="34" charset="-122"/>
                <a:cs typeface="Inter" pitchFamily="34" charset="-120"/>
              </a:rPr>
              <a:t>· W2 vs W1: R 약간 감소, EM TTF +20 %, CD uniformity 약간 악화</a:t>
            </a:r>
            <a:pPr algn="l" indent="0" marL="0">
              <a:lnSpc>
                <a:spcPts val="2081"/>
              </a:lnSpc>
              <a:buNone/>
            </a:pPr>
            <a:endParaRPr lang="en-US" sz="1125" dirty="0"/>
          </a:p>
          <a:p>
            <a:pPr algn="l" indent="0" marL="0">
              <a:lnSpc>
                <a:spcPts val="2081"/>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081"/>
              </a:lnSpc>
              <a:buNone/>
            </a:pPr>
            <a:r>
              <a:rPr lang="en-US" sz="1125" dirty="0">
                <a:solidFill>
                  <a:srgbClr val="E8EDF5"/>
                </a:solidFill>
                <a:latin typeface="Inter" pitchFamily="34" charset="0"/>
                <a:ea typeface="Inter" pitchFamily="34" charset="-122"/>
                <a:cs typeface="Inter" pitchFamily="34" charset="-120"/>
              </a:rPr>
              <a:t>· W3 vs W2: R 추가 감소, EM TTF 추가 +15 %, uniformity −50% 신뢰구간 retreat</a:t>
            </a:r>
            <a:pPr algn="l" indent="0" marL="0">
              <a:lnSpc>
                <a:spcPts val="2081"/>
              </a:lnSpc>
              <a:buNone/>
            </a:pPr>
            <a:endParaRPr lang="en-US" sz="1125" dirty="0"/>
          </a:p>
          <a:p>
            <a:pPr algn="l" indent="0" marL="0">
              <a:lnSpc>
                <a:spcPts val="2081"/>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081"/>
              </a:lnSpc>
              <a:buNone/>
            </a:pPr>
            <a:r>
              <a:rPr lang="en-US" sz="1125" dirty="0">
                <a:solidFill>
                  <a:srgbClr val="E8EDF5"/>
                </a:solidFill>
                <a:latin typeface="Inter" pitchFamily="34" charset="0"/>
                <a:ea typeface="Inter" pitchFamily="34" charset="-122"/>
                <a:cs typeface="Inter" pitchFamily="34" charset="-120"/>
              </a:rPr>
              <a:t>· MTTF 향상분은 CD drift보다 두드러짐</a:t>
            </a:r>
            <a:endParaRPr lang="en-US" sz="1125" dirty="0"/>
          </a:p>
        </p:txBody>
      </p:sp>
      <p:sp>
        <p:nvSpPr>
          <p:cNvPr id="75" name="Text 60"/>
          <p:cNvSpPr txBox="1"/>
          <p:nvPr/>
        </p:nvSpPr>
        <p:spPr>
          <a:xfrm>
            <a:off x="10116007" y="8134502"/>
            <a:ext cx="7429500" cy="133502"/>
          </a:xfrm>
          <a:prstGeom prst="rect">
            <a:avLst/>
          </a:prstGeom>
          <a:noFill/>
          <a:ln/>
        </p:spPr>
        <p:txBody>
          <a:bodyPr wrap="none" lIns="0" tIns="0" rIns="0" bIns="0" rtlCol="0" anchor="ctr"/>
          <a:lstStyle/>
          <a:p>
            <a:pPr algn="l" indent="0" marL="0">
              <a:buNone/>
            </a:pPr>
            <a:r>
              <a:rPr lang="en-US" sz="825" b="1" spc="247" kern="0" dirty="0">
                <a:solidFill>
                  <a:srgbClr val="94A3B8"/>
                </a:solidFill>
                <a:latin typeface="JetBrains Mono" pitchFamily="34" charset="0"/>
                <a:ea typeface="JetBrains Mono" pitchFamily="34" charset="-122"/>
                <a:cs typeface="JetBrains Mono" pitchFamily="34" charset="-120"/>
              </a:rPr>
              <a:t>OUTLIER / WATCH</a:t>
            </a:r>
            <a:endParaRPr lang="en-US" sz="825" dirty="0"/>
          </a:p>
        </p:txBody>
      </p:sp>
      <p:sp>
        <p:nvSpPr>
          <p:cNvPr id="76" name="Text 61"/>
          <p:cNvSpPr txBox="1"/>
          <p:nvPr/>
        </p:nvSpPr>
        <p:spPr>
          <a:xfrm>
            <a:off x="10116007" y="8354873"/>
            <a:ext cx="7429500" cy="842162"/>
          </a:xfrm>
          <a:prstGeom prst="rect">
            <a:avLst/>
          </a:prstGeom>
          <a:noFill/>
          <a:ln/>
        </p:spPr>
        <p:txBody>
          <a:bodyPr wrap="square" lIns="0" tIns="0" rIns="0" bIns="0" rtlCol="0" anchor="t"/>
          <a:lstStyle/>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W3 일부 corner die (BR)에서 AASI 22.4 nm 관측 → yield watch</a:t>
            </a:r>
            <a:pPr algn="l" indent="0" marL="0">
              <a:lnSpc>
                <a:spcPts val="2081"/>
              </a:lnSpc>
              <a:buNone/>
            </a:pPr>
            <a:endParaRPr lang="en-US" sz="1125" dirty="0"/>
          </a:p>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etch time +30 %p 초과 시 sidewall damage 누적</a:t>
            </a:r>
            <a:pPr algn="l" indent="0" marL="0">
              <a:lnSpc>
                <a:spcPts val="2081"/>
              </a:lnSpc>
              <a:buNone/>
            </a:pPr>
            <a:endParaRPr lang="en-US" sz="1125" dirty="0"/>
          </a:p>
          <a:p>
            <a:pPr algn="l" indent="0" marL="0">
              <a:lnSpc>
                <a:spcPts val="2081"/>
              </a:lnSpc>
              <a:buNone/>
            </a:pPr>
            <a:r>
              <a:rPr lang="en-US" sz="1125" dirty="0">
                <a:solidFill>
                  <a:srgbClr val="94A3B8"/>
                </a:solidFill>
                <a:latin typeface="Inter" pitchFamily="34" charset="0"/>
                <a:ea typeface="Inter" pitchFamily="34" charset="-122"/>
                <a:cs typeface="Inter" pitchFamily="34" charset="-120"/>
              </a:rPr>
              <a:t>​</a:t>
            </a:r>
            <a:pPr algn="l" indent="0" marL="0">
              <a:lnSpc>
                <a:spcPts val="2081"/>
              </a:lnSpc>
              <a:buNone/>
            </a:pPr>
            <a:r>
              <a:rPr lang="en-US" sz="1125" dirty="0">
                <a:solidFill>
                  <a:srgbClr val="94A3B8"/>
                </a:solidFill>
                <a:latin typeface="Inter" pitchFamily="34" charset="0"/>
                <a:ea typeface="Inter" pitchFamily="34" charset="-122"/>
                <a:cs typeface="Inter" pitchFamily="34" charset="-120"/>
              </a:rPr>
              <a:t>· dummy lot 한정 결과 · production 사양서 인용 금지</a:t>
            </a:r>
            <a:endParaRPr lang="en-US" sz="1125" dirty="0"/>
          </a:p>
        </p:txBody>
      </p:sp>
      <p:pic>
        <p:nvPicPr>
          <p:cNvPr id="77" name="Image 12" descr="gen-dedup-41df4fb73e13824d9bf43e735c70451d.png">    </p:cNvPr>
          <p:cNvPicPr>
            <a:picLocks noChangeAspect="1"/>
          </p:cNvPicPr>
          <p:nvPr/>
        </p:nvPicPr>
        <p:blipFill>
          <a:blip r:embed="rId13"/>
          <a:srcRect l="-2029" r="-2029" t="0" b="0"/>
          <a:stretch/>
        </p:blipFill>
        <p:spPr>
          <a:xfrm>
            <a:off x="761695" y="10067544"/>
            <a:ext cx="304495" cy="9144"/>
          </a:xfrm>
          <a:prstGeom prst="rect">
            <a:avLst/>
          </a:prstGeom>
        </p:spPr>
      </p:pic>
      <p:sp>
        <p:nvSpPr>
          <p:cNvPr id="78" name="Text 62"/>
          <p:cNvSpPr txBox="1"/>
          <p:nvPr/>
        </p:nvSpPr>
        <p:spPr>
          <a:xfrm>
            <a:off x="1238098" y="9982505"/>
            <a:ext cx="2340864"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B"/>
        </a:solidFill>
      </p:bgPr>
    </p:bg>
    <p:spTree>
      <p:nvGrpSpPr>
        <p:cNvPr id="1" name=""/>
        <p:cNvGrpSpPr/>
        <p:nvPr/>
      </p:nvGrpSpPr>
      <p:grpSpPr>
        <a:xfrm>
          <a:off x="0" y="0"/>
          <a:ext cx="0" cy="0"/>
          <a:chOff x="0" y="0"/>
          <a:chExt cx="0" cy="0"/>
        </a:xfrm>
      </p:grpSpPr>
      <p:pic>
        <p:nvPicPr>
          <p:cNvPr id="3" name="Image 0" descr="gen-dedup-8bb71b037c4f6826beb03d6d7e7f3d5c.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667305"/>
            <a:ext cx="4019702" cy="2305202"/>
          </a:xfrm>
          <a:prstGeom prst="rect">
            <a:avLst/>
          </a:prstGeom>
          <a:solidFill>
            <a:srgbClr val="141A28"/>
          </a:solidFill>
          <a:ln w="12700">
            <a:solidFill>
              <a:srgbClr val="1F2A40"/>
            </a:solidFill>
            <a:prstDash val="solid"/>
          </a:ln>
        </p:spPr>
      </p:sp>
      <p:sp>
        <p:nvSpPr>
          <p:cNvPr id="5" name="Shape 1"/>
          <p:cNvSpPr/>
          <p:nvPr/>
        </p:nvSpPr>
        <p:spPr>
          <a:xfrm>
            <a:off x="4953305" y="2667305"/>
            <a:ext cx="4019702" cy="2305202"/>
          </a:xfrm>
          <a:prstGeom prst="rect">
            <a:avLst/>
          </a:prstGeom>
          <a:solidFill>
            <a:srgbClr val="141A28"/>
          </a:solidFill>
          <a:ln w="12700">
            <a:solidFill>
              <a:srgbClr val="1F2A40"/>
            </a:solidFill>
            <a:prstDash val="solid"/>
          </a:ln>
        </p:spPr>
      </p:sp>
      <p:sp>
        <p:nvSpPr>
          <p:cNvPr id="6" name="Shape 2"/>
          <p:cNvSpPr/>
          <p:nvPr/>
        </p:nvSpPr>
        <p:spPr>
          <a:xfrm>
            <a:off x="9144000" y="2667305"/>
            <a:ext cx="4019702" cy="2305202"/>
          </a:xfrm>
          <a:prstGeom prst="rect">
            <a:avLst/>
          </a:prstGeom>
          <a:solidFill>
            <a:srgbClr val="141A28"/>
          </a:solidFill>
          <a:ln w="12700">
            <a:solidFill>
              <a:srgbClr val="1F2A40"/>
            </a:solidFill>
            <a:prstDash val="solid"/>
          </a:ln>
        </p:spPr>
      </p:sp>
      <p:sp>
        <p:nvSpPr>
          <p:cNvPr id="7" name="Shape 3"/>
          <p:cNvSpPr/>
          <p:nvPr/>
        </p:nvSpPr>
        <p:spPr>
          <a:xfrm>
            <a:off x="13334695" y="2667305"/>
            <a:ext cx="4209898" cy="2305202"/>
          </a:xfrm>
          <a:prstGeom prst="rect">
            <a:avLst/>
          </a:prstGeom>
          <a:solidFill>
            <a:srgbClr val="141A28"/>
          </a:solidFill>
          <a:ln w="12700">
            <a:solidFill>
              <a:srgbClr val="1F2A40"/>
            </a:solidFill>
            <a:prstDash val="solid"/>
          </a:ln>
        </p:spPr>
      </p:sp>
      <p:sp>
        <p:nvSpPr>
          <p:cNvPr id="8" name="Shape 4"/>
          <p:cNvSpPr/>
          <p:nvPr/>
        </p:nvSpPr>
        <p:spPr>
          <a:xfrm>
            <a:off x="761695" y="5333695"/>
            <a:ext cx="10496398" cy="4114800"/>
          </a:xfrm>
          <a:prstGeom prst="rect">
            <a:avLst/>
          </a:prstGeom>
          <a:solidFill>
            <a:srgbClr val="141A28"/>
          </a:solidFill>
          <a:ln w="12700">
            <a:solidFill>
              <a:srgbClr val="1F2A40"/>
            </a:solidFill>
            <a:prstDash val="solid"/>
          </a:ln>
        </p:spPr>
      </p:sp>
      <p:pic>
        <p:nvPicPr>
          <p:cNvPr id="9" name="Image 1" descr="gen-dedup-bafe998a518bd31531ee1ccd6046d1f8.png">    </p:cNvPr>
          <p:cNvPicPr>
            <a:picLocks noChangeAspect="1"/>
          </p:cNvPicPr>
          <p:nvPr/>
        </p:nvPicPr>
        <p:blipFill>
          <a:blip r:embed="rId2"/>
          <a:srcRect l="-4" r="-4" t="0" b="0"/>
          <a:stretch/>
        </p:blipFill>
        <p:spPr>
          <a:xfrm>
            <a:off x="11430000" y="5333695"/>
            <a:ext cx="6115507" cy="4114800"/>
          </a:xfrm>
          <a:prstGeom prst="rect">
            <a:avLst/>
          </a:prstGeom>
        </p:spPr>
      </p:pic>
      <p:pic>
        <p:nvPicPr>
          <p:cNvPr id="10" name="Image 2" descr="gen-dedup-78614aa5e50555dc03aa85bf7cf87284.png">    </p:cNvPr>
          <p:cNvPicPr>
            <a:picLocks noChangeAspect="1"/>
          </p:cNvPicPr>
          <p:nvPr/>
        </p:nvPicPr>
        <p:blipFill>
          <a:blip r:embed="rId3"/>
          <a:srcRect l="-400" r="-400" t="0" b="0"/>
          <a:stretch/>
        </p:blipFill>
        <p:spPr>
          <a:xfrm>
            <a:off x="761695" y="2667305"/>
            <a:ext cx="57607" cy="2286000"/>
          </a:xfrm>
          <a:prstGeom prst="rect">
            <a:avLst/>
          </a:prstGeom>
        </p:spPr>
      </p:pic>
      <p:pic>
        <p:nvPicPr>
          <p:cNvPr id="11" name="Image 3" descr="gen-dedup-d02786fe47f88e789f83ec3cbc2cfc59.png">    </p:cNvPr>
          <p:cNvPicPr>
            <a:picLocks noChangeAspect="1"/>
          </p:cNvPicPr>
          <p:nvPr/>
        </p:nvPicPr>
        <p:blipFill>
          <a:blip r:embed="rId4"/>
          <a:srcRect l="-400" r="-400" t="0" b="0"/>
          <a:stretch/>
        </p:blipFill>
        <p:spPr>
          <a:xfrm>
            <a:off x="4953305" y="2667305"/>
            <a:ext cx="57607" cy="2286000"/>
          </a:xfrm>
          <a:prstGeom prst="rect">
            <a:avLst/>
          </a:prstGeom>
        </p:spPr>
      </p:pic>
      <p:pic>
        <p:nvPicPr>
          <p:cNvPr id="12" name="Image 4" descr="gen-dedup-d047cb288adc54d381a81db1c155467b.png">    </p:cNvPr>
          <p:cNvPicPr>
            <a:picLocks noChangeAspect="1"/>
          </p:cNvPicPr>
          <p:nvPr/>
        </p:nvPicPr>
        <p:blipFill>
          <a:blip r:embed="rId5"/>
          <a:srcRect l="-400" r="-400" t="0" b="0"/>
          <a:stretch/>
        </p:blipFill>
        <p:spPr>
          <a:xfrm>
            <a:off x="9144000" y="2667305"/>
            <a:ext cx="57607" cy="2286000"/>
          </a:xfrm>
          <a:prstGeom prst="rect">
            <a:avLst/>
          </a:prstGeom>
        </p:spPr>
      </p:pic>
      <p:pic>
        <p:nvPicPr>
          <p:cNvPr id="13" name="Image 5" descr="gen-dedup-140cfb0d995f50e2e722639deb9c3295.png">    </p:cNvPr>
          <p:cNvPicPr>
            <a:picLocks noChangeAspect="1"/>
          </p:cNvPicPr>
          <p:nvPr/>
        </p:nvPicPr>
        <p:blipFill>
          <a:blip r:embed="rId6"/>
          <a:srcRect l="-400" r="-400" t="0" b="0"/>
          <a:stretch/>
        </p:blipFill>
        <p:spPr>
          <a:xfrm>
            <a:off x="13334695" y="2667305"/>
            <a:ext cx="57607" cy="2286000"/>
          </a:xfrm>
          <a:prstGeom prst="rect">
            <a:avLst/>
          </a:prstGeom>
        </p:spPr>
      </p:pic>
      <p:pic>
        <p:nvPicPr>
          <p:cNvPr id="14" name="Image 6" descr="gen-dedup-9cbb5288a7e3d49384e203bfaaf14f75.png">    </p:cNvPr>
          <p:cNvPicPr>
            <a:picLocks noChangeAspect="1"/>
          </p:cNvPicPr>
          <p:nvPr/>
        </p:nvPicPr>
        <p:blipFill>
          <a:blip r:embed="rId7"/>
          <a:srcRect l="-402" r="-402" t="0" b="0"/>
          <a:stretch/>
        </p:blipFill>
        <p:spPr>
          <a:xfrm>
            <a:off x="761695" y="5333695"/>
            <a:ext cx="38405" cy="4095598"/>
          </a:xfrm>
          <a:prstGeom prst="rect">
            <a:avLst/>
          </a:prstGeom>
        </p:spPr>
      </p:pic>
      <p:sp>
        <p:nvSpPr>
          <p:cNvPr id="15" name="Shape 5"/>
          <p:cNvSpPr/>
          <p:nvPr/>
        </p:nvSpPr>
        <p:spPr>
          <a:xfrm>
            <a:off x="1086307" y="6286500"/>
            <a:ext cx="9696298" cy="895198"/>
          </a:xfrm>
          <a:prstGeom prst="rect">
            <a:avLst/>
          </a:prstGeom>
          <a:solidFill>
            <a:srgbClr val="5EEAD4">
              <a:alpha val="6000"/>
            </a:srgbClr>
          </a:solidFill>
          <a:ln w="12700">
            <a:solidFill>
              <a:srgbClr val="5EEAD4">
                <a:alpha val="25000"/>
              </a:srgbClr>
            </a:solidFill>
            <a:prstDash val="solid"/>
          </a:ln>
        </p:spPr>
      </p:sp>
      <p:sp>
        <p:nvSpPr>
          <p:cNvPr id="16" name="Shape 6"/>
          <p:cNvSpPr/>
          <p:nvPr/>
        </p:nvSpPr>
        <p:spPr>
          <a:xfrm>
            <a:off x="1086307" y="7276795"/>
            <a:ext cx="9696298" cy="895198"/>
          </a:xfrm>
          <a:prstGeom prst="rect">
            <a:avLst/>
          </a:prstGeom>
          <a:solidFill>
            <a:srgbClr val="FB923C">
              <a:alpha val="6000"/>
            </a:srgbClr>
          </a:solidFill>
          <a:ln w="12700">
            <a:solidFill>
              <a:srgbClr val="FB923C">
                <a:alpha val="25000"/>
              </a:srgbClr>
            </a:solidFill>
            <a:prstDash val="solid"/>
          </a:ln>
        </p:spPr>
      </p:sp>
      <p:sp>
        <p:nvSpPr>
          <p:cNvPr id="17" name="Shape 7"/>
          <p:cNvSpPr/>
          <p:nvPr/>
        </p:nvSpPr>
        <p:spPr>
          <a:xfrm>
            <a:off x="1086307" y="8268005"/>
            <a:ext cx="9696298" cy="895198"/>
          </a:xfrm>
          <a:prstGeom prst="rect">
            <a:avLst/>
          </a:prstGeom>
          <a:solidFill>
            <a:srgbClr val="F472B6">
              <a:alpha val="6000"/>
            </a:srgbClr>
          </a:solidFill>
          <a:ln w="12700">
            <a:solidFill>
              <a:srgbClr val="F472B6">
                <a:alpha val="25000"/>
              </a:srgbClr>
            </a:solidFill>
            <a:prstDash val="solid"/>
          </a:ln>
        </p:spPr>
      </p:sp>
      <p:pic>
        <p:nvPicPr>
          <p:cNvPr id="18" name="Image 7" descr="gen-dedup-fb7284239b65d37878da76aad5baf72f.png">    </p:cNvPr>
          <p:cNvPicPr>
            <a:picLocks noChangeAspect="1"/>
          </p:cNvPicPr>
          <p:nvPr/>
        </p:nvPicPr>
        <p:blipFill>
          <a:blip r:embed="rId8"/>
          <a:srcRect l="0" r="0" t="-437" b="-437"/>
          <a:stretch/>
        </p:blipFill>
        <p:spPr>
          <a:xfrm>
            <a:off x="761695" y="662026"/>
            <a:ext cx="418795" cy="19202"/>
          </a:xfrm>
          <a:prstGeom prst="rect">
            <a:avLst/>
          </a:prstGeom>
        </p:spPr>
      </p:pic>
      <p:sp>
        <p:nvSpPr>
          <p:cNvPr id="19" name="Text 8"/>
          <p:cNvSpPr txBox="1"/>
          <p:nvPr/>
        </p:nvSpPr>
        <p:spPr>
          <a:xfrm>
            <a:off x="1352398" y="590702"/>
            <a:ext cx="3534156" cy="162763"/>
          </a:xfrm>
          <a:prstGeom prst="rect">
            <a:avLst/>
          </a:prstGeom>
          <a:noFill/>
          <a:ln/>
        </p:spPr>
        <p:txBody>
          <a:bodyPr wrap="none" lIns="0" tIns="0" rIns="0" bIns="0" rtlCol="0" anchor="ctr"/>
          <a:lstStyle/>
          <a:p>
            <a:pPr algn="l" indent="0" marL="0">
              <a:buNone/>
            </a:pPr>
            <a:r>
              <a:rPr lang="en-US" sz="975" b="1" spc="312" kern="0" dirty="0">
                <a:solidFill>
                  <a:srgbClr val="5EEAD4"/>
                </a:solidFill>
                <a:latin typeface="JetBrains Mono" pitchFamily="34" charset="0"/>
                <a:ea typeface="JetBrains Mono" pitchFamily="34" charset="-122"/>
                <a:cs typeface="JetBrains Mono" pitchFamily="34" charset="-120"/>
              </a:rPr>
              <a:t>F13 / 11 — SUMMARY &amp; CONCLUSION</a:t>
            </a:r>
            <a:endParaRPr lang="en-US" sz="975" dirty="0"/>
          </a:p>
        </p:txBody>
      </p:sp>
      <p:sp>
        <p:nvSpPr>
          <p:cNvPr id="20" name="Text 9"/>
          <p:cNvSpPr txBox="1"/>
          <p:nvPr/>
        </p:nvSpPr>
        <p:spPr>
          <a:xfrm>
            <a:off x="15430500" y="590702"/>
            <a:ext cx="2095805" cy="171907"/>
          </a:xfrm>
          <a:prstGeom prst="rect">
            <a:avLst/>
          </a:prstGeom>
          <a:noFill/>
          <a:ln/>
        </p:spPr>
        <p:txBody>
          <a:bodyPr wrap="none" lIns="0" tIns="0" rIns="0" bIns="0" rtlCol="0" anchor="ctr"/>
          <a:lstStyle/>
          <a:p>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pPr algn="r" indent="0" marL="0">
              <a:buNone/>
            </a:pPr>
            <a:r>
              <a:rPr lang="en-US" sz="1050" dirty="0">
                <a:solidFill>
                  <a:srgbClr val="475569"/>
                </a:solidFill>
                <a:latin typeface="JetBrains Mono" pitchFamily="34" charset="0"/>
                <a:ea typeface="JetBrains Mono" pitchFamily="34" charset="-122"/>
                <a:cs typeface="JetBrains Mono" pitchFamily="34" charset="-120"/>
              </a:rPr>
              <a:t>/</a:t>
            </a:r>
            <a:pPr algn="r" indent="0" marL="0">
              <a:buNone/>
            </a:pPr>
            <a:r>
              <a:rPr lang="en-US" sz="1050" dirty="0">
                <a:solidFill>
                  <a:srgbClr val="94A3B8"/>
                </a:solidFill>
                <a:latin typeface="JetBrains Mono" pitchFamily="34" charset="0"/>
                <a:ea typeface="JetBrains Mono" pitchFamily="34" charset="-122"/>
                <a:cs typeface="JetBrains Mono" pitchFamily="34" charset="-120"/>
              </a:rPr>
              <a:t>11</a:t>
            </a:r>
            <a:endParaRPr lang="en-US" sz="1050" dirty="0"/>
          </a:p>
        </p:txBody>
      </p:sp>
      <p:sp>
        <p:nvSpPr>
          <p:cNvPr id="21" name="Text 10"/>
          <p:cNvSpPr txBox="1"/>
          <p:nvPr/>
        </p:nvSpPr>
        <p:spPr>
          <a:xfrm>
            <a:off x="761695" y="1238098"/>
            <a:ext cx="14287500" cy="609905"/>
          </a:xfrm>
          <a:prstGeom prst="rect">
            <a:avLst/>
          </a:prstGeom>
          <a:noFill/>
          <a:ln/>
        </p:spPr>
        <p:txBody>
          <a:bodyPr wrap="none" lIns="0" tIns="0" rIns="0" bIns="0" rtlCol="0" anchor="ctr"/>
          <a:lstStyle/>
          <a:p>
            <a:pPr algn="l" indent="0" marL="0">
              <a:buNone/>
            </a:pPr>
            <a:r>
              <a:rPr lang="en-US" sz="4800" b="1" spc="-192" kern="0" dirty="0">
                <a:solidFill>
                  <a:srgbClr val="E8EDF5"/>
                </a:solidFill>
                <a:latin typeface="Inter" pitchFamily="34" charset="0"/>
                <a:ea typeface="Inter" pitchFamily="34" charset="-122"/>
                <a:cs typeface="Inter" pitchFamily="34" charset="-120"/>
              </a:rPr>
              <a:t>Split 응답 </a:t>
            </a:r>
            <a:pPr algn="l" indent="0" marL="0">
              <a:buNone/>
            </a:pPr>
            <a:r>
              <a:rPr lang="en-US" sz="4800" b="1" spc="-192" kern="0" dirty="0">
                <a:solidFill>
                  <a:srgbClr val="5EEAD4"/>
                </a:solidFill>
                <a:latin typeface="Inter" pitchFamily="34" charset="0"/>
                <a:ea typeface="Inter" pitchFamily="34" charset="-122"/>
                <a:cs typeface="Inter" pitchFamily="34" charset="-120"/>
              </a:rPr>
              <a:t>요약</a:t>
            </a:r>
            <a:pPr algn="l" indent="0" marL="0">
              <a:buNone/>
            </a:pPr>
            <a:r>
              <a:rPr lang="en-US" sz="4800" b="1" spc="-192" kern="0" dirty="0">
                <a:solidFill>
                  <a:srgbClr val="E8EDF5"/>
                </a:solidFill>
                <a:latin typeface="Inter" pitchFamily="34" charset="0"/>
                <a:ea typeface="Inter" pitchFamily="34" charset="-122"/>
                <a:cs typeface="Inter" pitchFamily="34" charset="-120"/>
              </a:rPr>
              <a:t> &amp; 권고</a:t>
            </a:r>
            <a:endParaRPr lang="en-US" sz="4800" dirty="0"/>
          </a:p>
        </p:txBody>
      </p:sp>
      <p:sp>
        <p:nvSpPr>
          <p:cNvPr id="22" name="Text 11"/>
          <p:cNvSpPr txBox="1"/>
          <p:nvPr/>
        </p:nvSpPr>
        <p:spPr>
          <a:xfrm>
            <a:off x="761695" y="1981505"/>
            <a:ext cx="14287500" cy="238658"/>
          </a:xfrm>
          <a:prstGeom prst="rect">
            <a:avLst/>
          </a:prstGeom>
          <a:noFill/>
          <a:ln/>
        </p:spPr>
        <p:txBody>
          <a:bodyPr wrap="none" lIns="0" tIns="0" rIns="0" bIns="0" rtlCol="0" anchor="ctr"/>
          <a:lstStyle/>
          <a:p>
            <a:pPr algn="l" indent="0" marL="0">
              <a:buNone/>
            </a:pPr>
            <a:r>
              <a:rPr lang="en-US" sz="1275" dirty="0">
                <a:solidFill>
                  <a:srgbClr val="94A3B8"/>
                </a:solidFill>
                <a:latin typeface="Inter" pitchFamily="34" charset="0"/>
                <a:ea typeface="Inter" pitchFamily="34" charset="-122"/>
                <a:cs typeface="Inter" pitchFamily="34" charset="-120"/>
              </a:rPr>
              <a:t>3매 wafer dummy lot 응답 종합 · internal screening reference.</a:t>
            </a:r>
            <a:endParaRPr lang="en-US" sz="1275" dirty="0"/>
          </a:p>
        </p:txBody>
      </p:sp>
      <p:sp>
        <p:nvSpPr>
          <p:cNvPr id="23" name="Text 12"/>
          <p:cNvSpPr txBox="1"/>
          <p:nvPr/>
        </p:nvSpPr>
        <p:spPr>
          <a:xfrm>
            <a:off x="1047902" y="2915107"/>
            <a:ext cx="342900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FINDING 01</a:t>
            </a:r>
            <a:endParaRPr lang="en-US" sz="825" dirty="0"/>
          </a:p>
        </p:txBody>
      </p:sp>
      <p:sp>
        <p:nvSpPr>
          <p:cNvPr id="24" name="Text 13"/>
          <p:cNvSpPr txBox="1"/>
          <p:nvPr/>
        </p:nvSpPr>
        <p:spPr>
          <a:xfrm>
            <a:off x="1047902" y="3181198"/>
            <a:ext cx="3429000" cy="286207"/>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R은 개선, CD drift는 누적</a:t>
            </a:r>
            <a:endParaRPr lang="en-US" sz="1800" dirty="0"/>
          </a:p>
        </p:txBody>
      </p:sp>
      <p:sp>
        <p:nvSpPr>
          <p:cNvPr id="25" name="Text 14"/>
          <p:cNvSpPr txBox="1"/>
          <p:nvPr/>
        </p:nvSpPr>
        <p:spPr>
          <a:xfrm>
            <a:off x="1047902" y="3600907"/>
            <a:ext cx="3429000" cy="419710"/>
          </a:xfrm>
          <a:prstGeom prst="rect">
            <a:avLst/>
          </a:prstGeom>
          <a:noFill/>
          <a:ln/>
        </p:spPr>
        <p:txBody>
          <a:bodyPr wrap="square" lIns="0" tIns="0" rIns="0" bIns="0" rtlCol="0" anchor="ctr"/>
          <a:lstStyle/>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W1→W3 line R −13.7 %, via R −7.7 %, EM TTF +39 % 효과 확인.</a:t>
            </a:r>
            <a:endParaRPr lang="en-US" sz="1050" dirty="0"/>
          </a:p>
        </p:txBody>
      </p:sp>
      <p:sp>
        <p:nvSpPr>
          <p:cNvPr id="26" name="Text 15"/>
          <p:cNvSpPr txBox="1"/>
          <p:nvPr/>
        </p:nvSpPr>
        <p:spPr>
          <a:xfrm>
            <a:off x="5238598" y="2915107"/>
            <a:ext cx="3429000"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FINDING 02</a:t>
            </a:r>
            <a:endParaRPr lang="en-US" sz="825" dirty="0"/>
          </a:p>
        </p:txBody>
      </p:sp>
      <p:sp>
        <p:nvSpPr>
          <p:cNvPr id="27" name="Text 16"/>
          <p:cNvSpPr txBox="1"/>
          <p:nvPr/>
        </p:nvSpPr>
        <p:spPr>
          <a:xfrm>
            <a:off x="5238598" y="3181198"/>
            <a:ext cx="3429000" cy="286207"/>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NIU 가속 악화</a:t>
            </a:r>
            <a:endParaRPr lang="en-US" sz="1800" dirty="0"/>
          </a:p>
        </p:txBody>
      </p:sp>
      <p:sp>
        <p:nvSpPr>
          <p:cNvPr id="28" name="Text 17"/>
          <p:cNvSpPr txBox="1"/>
          <p:nvPr/>
        </p:nvSpPr>
        <p:spPr>
          <a:xfrm>
            <a:off x="5238598" y="3600907"/>
            <a:ext cx="3890772"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AASI NIU 1.84 → 5.78 %로 단조 증가. edge-low 뚜렷.</a:t>
            </a:r>
            <a:endParaRPr lang="en-US" sz="1050" dirty="0"/>
          </a:p>
        </p:txBody>
      </p:sp>
      <p:sp>
        <p:nvSpPr>
          <p:cNvPr id="29" name="Text 18"/>
          <p:cNvSpPr txBox="1"/>
          <p:nvPr/>
        </p:nvSpPr>
        <p:spPr>
          <a:xfrm>
            <a:off x="9430207" y="2915107"/>
            <a:ext cx="3429000" cy="133502"/>
          </a:xfrm>
          <a:prstGeom prst="rect">
            <a:avLst/>
          </a:prstGeom>
          <a:noFill/>
          <a:ln/>
        </p:spPr>
        <p:txBody>
          <a:bodyPr wrap="none" lIns="0" tIns="0" rIns="0" bIns="0" rtlCol="0" anchor="ctr"/>
          <a:lstStyle/>
          <a:p>
            <a:pPr algn="l" indent="0" marL="0">
              <a:buNone/>
            </a:pPr>
            <a:r>
              <a:rPr lang="en-US" sz="825" b="1" spc="247" kern="0" dirty="0">
                <a:solidFill>
                  <a:srgbClr val="FBBF24"/>
                </a:solidFill>
                <a:latin typeface="JetBrains Mono" pitchFamily="34" charset="0"/>
                <a:ea typeface="JetBrains Mono" pitchFamily="34" charset="-122"/>
                <a:cs typeface="JetBrains Mono" pitchFamily="34" charset="-120"/>
              </a:rPr>
              <a:t>FINDING 03</a:t>
            </a:r>
            <a:endParaRPr lang="en-US" sz="825" dirty="0"/>
          </a:p>
        </p:txBody>
      </p:sp>
      <p:sp>
        <p:nvSpPr>
          <p:cNvPr id="30" name="Text 19"/>
          <p:cNvSpPr txBox="1"/>
          <p:nvPr/>
        </p:nvSpPr>
        <p:spPr>
          <a:xfrm>
            <a:off x="9430207" y="3181198"/>
            <a:ext cx="3429000" cy="286207"/>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Seam / bow 누적</a:t>
            </a:r>
            <a:endParaRPr lang="en-US" sz="1800" dirty="0"/>
          </a:p>
        </p:txBody>
      </p:sp>
      <p:sp>
        <p:nvSpPr>
          <p:cNvPr id="31" name="Text 20"/>
          <p:cNvSpPr txBox="1"/>
          <p:nvPr/>
        </p:nvSpPr>
        <p:spPr>
          <a:xfrm>
            <a:off x="9430207" y="3600907"/>
            <a:ext cx="3986784" cy="210312"/>
          </a:xfrm>
          <a:prstGeom prst="rect">
            <a:avLst/>
          </a:prstGeom>
          <a:noFill/>
          <a:ln/>
        </p:spPr>
        <p:txBody>
          <a:bodyPr wrap="none" lIns="0" tIns="0" rIns="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TEM seam 7.4 → 11.2 nm, W3 void 1건. 신뢰성 watch.</a:t>
            </a:r>
            <a:endParaRPr lang="en-US" sz="1050" dirty="0"/>
          </a:p>
        </p:txBody>
      </p:sp>
      <p:sp>
        <p:nvSpPr>
          <p:cNvPr id="32" name="Text 21"/>
          <p:cNvSpPr txBox="1"/>
          <p:nvPr/>
        </p:nvSpPr>
        <p:spPr>
          <a:xfrm>
            <a:off x="13620902" y="2915107"/>
            <a:ext cx="3620110" cy="133502"/>
          </a:xfrm>
          <a:prstGeom prst="rect">
            <a:avLst/>
          </a:prstGeom>
          <a:noFill/>
          <a:ln/>
        </p:spPr>
        <p:txBody>
          <a:bodyPr wrap="none" lIns="0" tIns="0" rIns="0" bIns="0" rtlCol="0" anchor="ctr"/>
          <a:lstStyle/>
          <a:p>
            <a:pPr algn="l" indent="0" marL="0">
              <a:buNone/>
            </a:pPr>
            <a:r>
              <a:rPr lang="en-US" sz="825" b="1" spc="247" kern="0" dirty="0">
                <a:solidFill>
                  <a:srgbClr val="F472B6"/>
                </a:solidFill>
                <a:latin typeface="JetBrains Mono" pitchFamily="34" charset="0"/>
                <a:ea typeface="JetBrains Mono" pitchFamily="34" charset="-122"/>
                <a:cs typeface="JetBrains Mono" pitchFamily="34" charset="-120"/>
              </a:rPr>
              <a:t>FINDING 04</a:t>
            </a:r>
            <a:endParaRPr lang="en-US" sz="825" dirty="0"/>
          </a:p>
        </p:txBody>
      </p:sp>
      <p:sp>
        <p:nvSpPr>
          <p:cNvPr id="33" name="Text 22"/>
          <p:cNvSpPr txBox="1"/>
          <p:nvPr/>
        </p:nvSpPr>
        <p:spPr>
          <a:xfrm>
            <a:off x="13620902" y="3181198"/>
            <a:ext cx="3620110" cy="286207"/>
          </a:xfrm>
          <a:prstGeom prst="rect">
            <a:avLst/>
          </a:prstGeom>
          <a:noFill/>
          <a:ln/>
        </p:spPr>
        <p:txBody>
          <a:bodyPr wrap="none" lIns="0" tIns="0" rIns="0" bIns="0" rtlCol="0" anchor="ctr"/>
          <a:lstStyle/>
          <a:p>
            <a:pPr algn="l" indent="0" marL="0">
              <a:buNone/>
            </a:pPr>
            <a:r>
              <a:rPr lang="en-US" sz="1800" b="1" dirty="0">
                <a:solidFill>
                  <a:srgbClr val="E8EDF5"/>
                </a:solidFill>
                <a:latin typeface="Inter" pitchFamily="34" charset="0"/>
                <a:ea typeface="Inter" pitchFamily="34" charset="-122"/>
                <a:cs typeface="Inter" pitchFamily="34" charset="-120"/>
              </a:rPr>
              <a:t>edge corner die 위험</a:t>
            </a:r>
            <a:endParaRPr lang="en-US" sz="1800" dirty="0"/>
          </a:p>
        </p:txBody>
      </p:sp>
      <p:sp>
        <p:nvSpPr>
          <p:cNvPr id="34" name="Text 23"/>
          <p:cNvSpPr txBox="1"/>
          <p:nvPr/>
        </p:nvSpPr>
        <p:spPr>
          <a:xfrm>
            <a:off x="13620902" y="3600907"/>
            <a:ext cx="3620110" cy="419710"/>
          </a:xfrm>
          <a:prstGeom prst="rect">
            <a:avLst/>
          </a:prstGeom>
          <a:noFill/>
          <a:ln/>
        </p:spPr>
        <p:txBody>
          <a:bodyPr wrap="square" lIns="0" tIns="0" rIns="0" bIns="0" rtlCol="0" anchor="ctr"/>
          <a:lstStyle/>
          <a:p>
            <a:pPr algn="l" indent="0" marL="0">
              <a:lnSpc>
                <a:spcPts val="1627"/>
              </a:lnSpc>
              <a:buNone/>
            </a:pPr>
            <a:r>
              <a:rPr lang="en-US" sz="1050" dirty="0">
                <a:solidFill>
                  <a:srgbClr val="94A3B8"/>
                </a:solidFill>
                <a:latin typeface="Inter" pitchFamily="34" charset="0"/>
                <a:ea typeface="Inter" pitchFamily="34" charset="-122"/>
                <a:cs typeface="Inter" pitchFamily="34" charset="-120"/>
              </a:rPr>
              <a:t>W3 BR corner 22.4 nm · yield margin watch out of nominal doze.</a:t>
            </a:r>
            <a:endParaRPr lang="en-US" sz="1050" dirty="0"/>
          </a:p>
        </p:txBody>
      </p:sp>
      <p:sp>
        <p:nvSpPr>
          <p:cNvPr id="35" name="Text 24"/>
          <p:cNvSpPr txBox="1"/>
          <p:nvPr/>
        </p:nvSpPr>
        <p:spPr>
          <a:xfrm>
            <a:off x="1086307" y="5562295"/>
            <a:ext cx="9906610"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DECISION TABLE</a:t>
            </a:r>
            <a:endParaRPr lang="en-US" sz="825" dirty="0"/>
          </a:p>
        </p:txBody>
      </p:sp>
      <p:sp>
        <p:nvSpPr>
          <p:cNvPr id="36" name="Text 25"/>
          <p:cNvSpPr txBox="1"/>
          <p:nvPr/>
        </p:nvSpPr>
        <p:spPr>
          <a:xfrm>
            <a:off x="1086307" y="5790895"/>
            <a:ext cx="9906610" cy="352958"/>
          </a:xfrm>
          <a:prstGeom prst="rect">
            <a:avLst/>
          </a:prstGeom>
          <a:noFill/>
          <a:ln/>
        </p:spPr>
        <p:txBody>
          <a:bodyPr wrap="none" lIns="0" tIns="0" rIns="0" bIns="0" rtlCol="0" anchor="ctr"/>
          <a:lstStyle/>
          <a:p>
            <a:pPr algn="l" indent="0" marL="0">
              <a:buNone/>
            </a:pPr>
            <a:r>
              <a:rPr lang="en-US" sz="1950" b="1" dirty="0">
                <a:solidFill>
                  <a:srgbClr val="E8EDF5"/>
                </a:solidFill>
                <a:latin typeface="Inter" pitchFamily="34" charset="0"/>
                <a:ea typeface="Inter" pitchFamily="34" charset="-122"/>
                <a:cs typeface="Inter" pitchFamily="34" charset="-120"/>
              </a:rPr>
              <a:t>Wafer별 trade-off 한 줄 정리</a:t>
            </a:r>
            <a:endParaRPr lang="en-US" sz="1950" dirty="0"/>
          </a:p>
        </p:txBody>
      </p:sp>
      <p:sp>
        <p:nvSpPr>
          <p:cNvPr id="37" name="Text 26"/>
          <p:cNvSpPr txBox="1"/>
          <p:nvPr/>
        </p:nvSpPr>
        <p:spPr>
          <a:xfrm>
            <a:off x="1333195" y="6638544"/>
            <a:ext cx="571500" cy="171907"/>
          </a:xfrm>
          <a:prstGeom prst="rect">
            <a:avLst/>
          </a:prstGeom>
          <a:noFill/>
          <a:ln/>
        </p:spPr>
        <p:txBody>
          <a:bodyPr wrap="none" lIns="0" tIns="0" rIns="0" bIns="0" rtlCol="0" anchor="ctr"/>
          <a:lstStyle/>
          <a:p>
            <a:pPr algn="l" indent="0" marL="0">
              <a:buNone/>
            </a:pPr>
            <a:r>
              <a:rPr lang="en-US" sz="1050" b="1" dirty="0">
                <a:solidFill>
                  <a:srgbClr val="5EEAD4"/>
                </a:solidFill>
                <a:latin typeface="JetBrains Mono" pitchFamily="34" charset="0"/>
                <a:ea typeface="JetBrains Mono" pitchFamily="34" charset="-122"/>
                <a:cs typeface="JetBrains Mono" pitchFamily="34" charset="-120"/>
              </a:rPr>
              <a:t>W1</a:t>
            </a:r>
            <a:endParaRPr lang="en-US" sz="1050" dirty="0"/>
          </a:p>
        </p:txBody>
      </p:sp>
      <p:sp>
        <p:nvSpPr>
          <p:cNvPr id="38" name="Text 27"/>
          <p:cNvSpPr txBox="1"/>
          <p:nvPr/>
        </p:nvSpPr>
        <p:spPr>
          <a:xfrm>
            <a:off x="2210105" y="6617513"/>
            <a:ext cx="3740810" cy="219456"/>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UM 양호 · R/EM baseline · split reference로 적합</a:t>
            </a:r>
            <a:endParaRPr lang="en-US" sz="1125" dirty="0"/>
          </a:p>
        </p:txBody>
      </p:sp>
      <p:sp>
        <p:nvSpPr>
          <p:cNvPr id="39" name="Text 28"/>
          <p:cNvSpPr txBox="1"/>
          <p:nvPr/>
        </p:nvSpPr>
        <p:spPr>
          <a:xfrm>
            <a:off x="9334195" y="6286500"/>
            <a:ext cx="1334110" cy="876910"/>
          </a:xfrm>
          <a:prstGeom prst="rect">
            <a:avLst/>
          </a:prstGeom>
          <a:noFill/>
          <a:ln/>
        </p:spPr>
        <p:txBody>
          <a:bodyPr wrap="none" lIns="0" tIns="0" rIns="0" bIns="0" rtlCol="0" anchor="ctr"/>
          <a:lstStyle/>
          <a:p>
            <a:pPr algn="r" indent="0" marL="0">
              <a:buNone/>
            </a:pPr>
            <a:r>
              <a:rPr lang="en-US" sz="975" b="1" spc="49" kern="0" dirty="0">
                <a:solidFill>
                  <a:srgbClr val="5EEAD4"/>
                </a:solidFill>
                <a:latin typeface="Inter" pitchFamily="34" charset="0"/>
                <a:ea typeface="Inter" pitchFamily="34" charset="-122"/>
                <a:cs typeface="Inter" pitchFamily="34" charset="-120"/>
              </a:rPr>
              <a:t>REFERENCE</a:t>
            </a:r>
            <a:endParaRPr lang="en-US" sz="975" dirty="0"/>
          </a:p>
        </p:txBody>
      </p:sp>
      <p:sp>
        <p:nvSpPr>
          <p:cNvPr id="40" name="Text 29"/>
          <p:cNvSpPr txBox="1"/>
          <p:nvPr/>
        </p:nvSpPr>
        <p:spPr>
          <a:xfrm>
            <a:off x="1333195" y="7629754"/>
            <a:ext cx="571500" cy="171907"/>
          </a:xfrm>
          <a:prstGeom prst="rect">
            <a:avLst/>
          </a:prstGeom>
          <a:noFill/>
          <a:ln/>
        </p:spPr>
        <p:txBody>
          <a:bodyPr wrap="none" lIns="0" tIns="0" rIns="0" bIns="0" rtlCol="0" anchor="ctr"/>
          <a:lstStyle/>
          <a:p>
            <a:pPr algn="l" indent="0" marL="0">
              <a:buNone/>
            </a:pPr>
            <a:r>
              <a:rPr lang="en-US" sz="1050" b="1" dirty="0">
                <a:solidFill>
                  <a:srgbClr val="FB923C"/>
                </a:solidFill>
                <a:latin typeface="JetBrains Mono" pitchFamily="34" charset="0"/>
                <a:ea typeface="JetBrains Mono" pitchFamily="34" charset="-122"/>
                <a:cs typeface="JetBrains Mono" pitchFamily="34" charset="-120"/>
              </a:rPr>
              <a:t>W2</a:t>
            </a:r>
            <a:endParaRPr lang="en-US" sz="1050" dirty="0"/>
          </a:p>
        </p:txBody>
      </p:sp>
      <p:sp>
        <p:nvSpPr>
          <p:cNvPr id="41" name="Text 30"/>
          <p:cNvSpPr txBox="1"/>
          <p:nvPr/>
        </p:nvSpPr>
        <p:spPr>
          <a:xfrm>
            <a:off x="2210105" y="7607808"/>
            <a:ext cx="4167835" cy="219456"/>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R/EM 개선 +20 % · UM 1.86x 악화 · 1차 screening 적정</a:t>
            </a:r>
            <a:endParaRPr lang="en-US" sz="1125" dirty="0"/>
          </a:p>
        </p:txBody>
      </p:sp>
      <p:sp>
        <p:nvSpPr>
          <p:cNvPr id="42" name="Text 31"/>
          <p:cNvSpPr txBox="1"/>
          <p:nvPr/>
        </p:nvSpPr>
        <p:spPr>
          <a:xfrm>
            <a:off x="9334195" y="7276795"/>
            <a:ext cx="1334110" cy="876910"/>
          </a:xfrm>
          <a:prstGeom prst="rect">
            <a:avLst/>
          </a:prstGeom>
          <a:noFill/>
          <a:ln/>
        </p:spPr>
        <p:txBody>
          <a:bodyPr wrap="none" lIns="0" tIns="0" rIns="0" bIns="0" rtlCol="0" anchor="ctr"/>
          <a:lstStyle/>
          <a:p>
            <a:pPr algn="r" indent="0" marL="0">
              <a:buNone/>
            </a:pPr>
            <a:r>
              <a:rPr lang="en-US" sz="975" b="1" spc="49" kern="0" dirty="0">
                <a:solidFill>
                  <a:srgbClr val="FB923C"/>
                </a:solidFill>
                <a:latin typeface="Inter" pitchFamily="34" charset="0"/>
                <a:ea typeface="Inter" pitchFamily="34" charset="-122"/>
                <a:cs typeface="Inter" pitchFamily="34" charset="-120"/>
              </a:rPr>
              <a:t>CONSIDER</a:t>
            </a:r>
            <a:endParaRPr lang="en-US" sz="975" dirty="0"/>
          </a:p>
        </p:txBody>
      </p:sp>
      <p:sp>
        <p:nvSpPr>
          <p:cNvPr id="43" name="Text 32"/>
          <p:cNvSpPr txBox="1"/>
          <p:nvPr/>
        </p:nvSpPr>
        <p:spPr>
          <a:xfrm>
            <a:off x="1333195" y="8620049"/>
            <a:ext cx="571500" cy="171907"/>
          </a:xfrm>
          <a:prstGeom prst="rect">
            <a:avLst/>
          </a:prstGeom>
          <a:noFill/>
          <a:ln/>
        </p:spPr>
        <p:txBody>
          <a:bodyPr wrap="none" lIns="0" tIns="0" rIns="0" bIns="0" rtlCol="0" anchor="ctr"/>
          <a:lstStyle/>
          <a:p>
            <a:pPr algn="l" indent="0" marL="0">
              <a:buNone/>
            </a:pPr>
            <a:r>
              <a:rPr lang="en-US" sz="1050" b="1" dirty="0">
                <a:solidFill>
                  <a:srgbClr val="F472B6"/>
                </a:solidFill>
                <a:latin typeface="JetBrains Mono" pitchFamily="34" charset="0"/>
                <a:ea typeface="JetBrains Mono" pitchFamily="34" charset="-122"/>
                <a:cs typeface="JetBrains Mono" pitchFamily="34" charset="-120"/>
              </a:rPr>
              <a:t>W3</a:t>
            </a:r>
            <a:endParaRPr lang="en-US" sz="1050" dirty="0"/>
          </a:p>
        </p:txBody>
      </p:sp>
      <p:sp>
        <p:nvSpPr>
          <p:cNvPr id="44" name="Text 33"/>
          <p:cNvSpPr txBox="1"/>
          <p:nvPr/>
        </p:nvSpPr>
        <p:spPr>
          <a:xfrm>
            <a:off x="2210105" y="8599018"/>
            <a:ext cx="4981651" cy="219456"/>
          </a:xfrm>
          <a:prstGeom prst="rect">
            <a:avLst/>
          </a:prstGeom>
          <a:noFill/>
          <a:ln/>
        </p:spPr>
        <p:txBody>
          <a:bodyPr wrap="none" lIns="0" tIns="0" rIns="0" bIns="0" rtlCol="0" anchor="ctr"/>
          <a:lstStyle/>
          <a:p>
            <a:pPr algn="l" indent="0" marL="0">
              <a:buNone/>
            </a:pPr>
            <a:r>
              <a:rPr lang="en-US" sz="1125" dirty="0">
                <a:solidFill>
                  <a:srgbClr val="E8EDF5"/>
                </a:solidFill>
                <a:latin typeface="Inter" pitchFamily="34" charset="0"/>
                <a:ea typeface="Inter" pitchFamily="34" charset="-122"/>
                <a:cs typeface="Inter" pitchFamily="34" charset="-120"/>
              </a:rPr>
              <a:t>R/EM 추가 개선 · edge corner outlier 1건 · yield margin 재평가 필요</a:t>
            </a:r>
            <a:endParaRPr lang="en-US" sz="1125" dirty="0"/>
          </a:p>
        </p:txBody>
      </p:sp>
      <p:sp>
        <p:nvSpPr>
          <p:cNvPr id="45" name="Text 34"/>
          <p:cNvSpPr txBox="1"/>
          <p:nvPr/>
        </p:nvSpPr>
        <p:spPr>
          <a:xfrm>
            <a:off x="9334195" y="8268005"/>
            <a:ext cx="1334110" cy="876910"/>
          </a:xfrm>
          <a:prstGeom prst="rect">
            <a:avLst/>
          </a:prstGeom>
          <a:noFill/>
          <a:ln/>
        </p:spPr>
        <p:txBody>
          <a:bodyPr wrap="none" lIns="0" tIns="0" rIns="0" bIns="0" rtlCol="0" anchor="ctr"/>
          <a:lstStyle/>
          <a:p>
            <a:pPr algn="r" indent="0" marL="0">
              <a:buNone/>
            </a:pPr>
            <a:r>
              <a:rPr lang="en-US" sz="975" b="1" spc="49" kern="0" dirty="0">
                <a:solidFill>
                  <a:srgbClr val="F472B6"/>
                </a:solidFill>
                <a:latin typeface="Inter" pitchFamily="34" charset="0"/>
                <a:ea typeface="Inter" pitchFamily="34" charset="-122"/>
                <a:cs typeface="Inter" pitchFamily="34" charset="-120"/>
              </a:rPr>
              <a:t>WATCH</a:t>
            </a:r>
            <a:endParaRPr lang="en-US" sz="975" dirty="0"/>
          </a:p>
        </p:txBody>
      </p:sp>
      <p:sp>
        <p:nvSpPr>
          <p:cNvPr id="46" name="Text 35"/>
          <p:cNvSpPr txBox="1"/>
          <p:nvPr/>
        </p:nvSpPr>
        <p:spPr>
          <a:xfrm>
            <a:off x="11734495" y="5562295"/>
            <a:ext cx="5524805" cy="133502"/>
          </a:xfrm>
          <a:prstGeom prst="rect">
            <a:avLst/>
          </a:prstGeom>
          <a:noFill/>
          <a:ln/>
        </p:spPr>
        <p:txBody>
          <a:bodyPr wrap="none" lIns="0" tIns="0" rIns="0" bIns="0" rtlCol="0" anchor="ctr"/>
          <a:lstStyle/>
          <a:p>
            <a:pPr algn="l" indent="0" marL="0">
              <a:buNone/>
            </a:pPr>
            <a:r>
              <a:rPr lang="en-US" sz="825" b="1" spc="247" kern="0" dirty="0">
                <a:solidFill>
                  <a:srgbClr val="5EEAD4"/>
                </a:solidFill>
                <a:latin typeface="JetBrains Mono" pitchFamily="34" charset="0"/>
                <a:ea typeface="JetBrains Mono" pitchFamily="34" charset="-122"/>
                <a:cs typeface="JetBrains Mono" pitchFamily="34" charset="-120"/>
              </a:rPr>
              <a:t>RECOMMENDATIONS</a:t>
            </a:r>
            <a:endParaRPr lang="en-US" sz="825" dirty="0"/>
          </a:p>
        </p:txBody>
      </p:sp>
      <p:sp>
        <p:nvSpPr>
          <p:cNvPr id="47" name="Text 36"/>
          <p:cNvSpPr txBox="1"/>
          <p:nvPr/>
        </p:nvSpPr>
        <p:spPr>
          <a:xfrm>
            <a:off x="11734495" y="5829300"/>
            <a:ext cx="5524805" cy="324612"/>
          </a:xfrm>
          <a:prstGeom prst="rect">
            <a:avLst/>
          </a:prstGeom>
          <a:noFill/>
          <a:ln/>
        </p:spPr>
        <p:txBody>
          <a:bodyPr wrap="none" lIns="0" tIns="0" rIns="0" bIns="0" rtlCol="0" anchor="ctr"/>
          <a:lstStyle/>
          <a:p>
            <a:pPr algn="l" indent="0" marL="0">
              <a:buNone/>
            </a:pPr>
            <a:r>
              <a:rPr lang="en-US" sz="2100" b="1" dirty="0">
                <a:solidFill>
                  <a:srgbClr val="E8EDF5"/>
                </a:solidFill>
                <a:latin typeface="Inter" pitchFamily="34" charset="0"/>
                <a:ea typeface="Inter" pitchFamily="34" charset="-122"/>
                <a:cs typeface="Inter" pitchFamily="34" charset="-120"/>
              </a:rPr>
              <a:t>다음 split 제안</a:t>
            </a:r>
            <a:endParaRPr lang="en-US" sz="2100" dirty="0"/>
          </a:p>
        </p:txBody>
      </p:sp>
      <p:sp>
        <p:nvSpPr>
          <p:cNvPr id="48" name="Text 37"/>
          <p:cNvSpPr txBox="1"/>
          <p:nvPr/>
        </p:nvSpPr>
        <p:spPr>
          <a:xfrm>
            <a:off x="11734495" y="6422746"/>
            <a:ext cx="5524805" cy="1175918"/>
          </a:xfrm>
          <a:prstGeom prst="rect">
            <a:avLst/>
          </a:prstGeom>
          <a:noFill/>
          <a:ln/>
        </p:spPr>
        <p:txBody>
          <a:bodyPr wrap="square" lIns="0" tIns="0" rIns="0" bIns="0" rtlCol="0" anchor="t"/>
          <a:lstStyle/>
          <a:p>
            <a:pPr algn="l" indent="0" marL="0">
              <a:lnSpc>
                <a:spcPts val="2194"/>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a:t>
            </a:r>
            <a:pPr algn="l" indent="0" marL="0">
              <a:lnSpc>
                <a:spcPts val="2194"/>
              </a:lnSpc>
              <a:buNone/>
            </a:pPr>
            <a:r>
              <a:rPr lang="en-US" sz="1125" b="1" dirty="0">
                <a:solidFill>
                  <a:srgbClr val="5EEAD4"/>
                </a:solidFill>
                <a:latin typeface="Inter" pitchFamily="34" charset="0"/>
                <a:ea typeface="Inter" pitchFamily="34" charset="-122"/>
                <a:cs typeface="Inter" pitchFamily="34" charset="-120"/>
              </a:rPr>
              <a:t>W2 etch time</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부근 fine-tuning split 추가</a:t>
            </a:r>
            <a:pPr algn="l" indent="0" marL="0">
              <a:lnSpc>
                <a:spcPts val="2194"/>
              </a:lnSpc>
              <a:buNone/>
            </a:pPr>
            <a:endParaRPr lang="en-US" sz="1125" dirty="0"/>
          </a:p>
          <a:p>
            <a:pPr algn="l" indent="0" marL="0">
              <a:lnSpc>
                <a:spcPts val="2194"/>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a:t>
            </a:r>
            <a:pPr algn="l" indent="0" marL="0">
              <a:lnSpc>
                <a:spcPts val="2194"/>
              </a:lnSpc>
              <a:buNone/>
            </a:pPr>
            <a:r>
              <a:rPr lang="en-US" sz="1125" b="1" dirty="0">
                <a:solidFill>
                  <a:srgbClr val="FB923C"/>
                </a:solidFill>
                <a:latin typeface="Inter" pitchFamily="34" charset="0"/>
                <a:ea typeface="Inter" pitchFamily="34" charset="-122"/>
                <a:cs typeface="Inter" pitchFamily="34" charset="-120"/>
              </a:rPr>
              <a:t>sidewall damage</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영향 정량화를 위한 TDDB 추가 평가</a:t>
            </a:r>
            <a:pPr algn="l" indent="0" marL="0">
              <a:lnSpc>
                <a:spcPts val="2194"/>
              </a:lnSpc>
              <a:buNone/>
            </a:pPr>
            <a:endParaRPr lang="en-US" sz="1125" dirty="0"/>
          </a:p>
          <a:p>
            <a:pPr algn="l" indent="0" marL="0">
              <a:lnSpc>
                <a:spcPts val="2194"/>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a:t>
            </a:r>
            <a:pPr algn="l" indent="0" marL="0">
              <a:lnSpc>
                <a:spcPts val="2194"/>
              </a:lnSpc>
              <a:buNone/>
            </a:pPr>
            <a:r>
              <a:rPr lang="en-US" sz="1125" b="1" dirty="0">
                <a:solidFill>
                  <a:srgbClr val="F472B6"/>
                </a:solidFill>
                <a:latin typeface="Inter" pitchFamily="34" charset="0"/>
                <a:ea typeface="Inter" pitchFamily="34" charset="-122"/>
                <a:cs typeface="Inter" pitchFamily="34" charset="-120"/>
              </a:rPr>
              <a:t>edge 13pt suppl.</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데이터 누적해 uniformity 미세 조정</a:t>
            </a:r>
            <a:pPr algn="l" indent="0" marL="0">
              <a:lnSpc>
                <a:spcPts val="2194"/>
              </a:lnSpc>
              <a:buNone/>
            </a:pPr>
            <a:endParaRPr lang="en-US" sz="1125" dirty="0"/>
          </a:p>
          <a:p>
            <a:pPr algn="l" indent="0" marL="0">
              <a:lnSpc>
                <a:spcPts val="2194"/>
              </a:lnSpc>
              <a:buNone/>
            </a:pPr>
            <a:r>
              <a:rPr lang="en-US" sz="1125" dirty="0">
                <a:solidFill>
                  <a:srgbClr val="E8EDF5"/>
                </a:solidFill>
                <a:latin typeface="Inter" pitchFamily="34" charset="0"/>
                <a:ea typeface="Inter" pitchFamily="34" charset="-122"/>
                <a:cs typeface="Inter" pitchFamily="34" charset="-120"/>
              </a:rPr>
              <a:t>​</a:t>
            </a:r>
            <a:pPr algn="l" indent="0" marL="0">
              <a:lnSpc>
                <a:spcPts val="2194"/>
              </a:lnSpc>
              <a:buNone/>
            </a:pPr>
            <a:r>
              <a:rPr lang="en-US" sz="1125" dirty="0">
                <a:solidFill>
                  <a:srgbClr val="E8EDF5"/>
                </a:solidFill>
                <a:latin typeface="Inter" pitchFamily="34" charset="0"/>
                <a:ea typeface="Inter" pitchFamily="34" charset="-122"/>
                <a:cs typeface="Inter" pitchFamily="34" charset="-120"/>
              </a:rPr>
              <a:t>· dummy 결과이므로 production 재현성 검증 별도 진행</a:t>
            </a:r>
            <a:endParaRPr lang="en-US" sz="1125" dirty="0"/>
          </a:p>
        </p:txBody>
      </p:sp>
      <p:sp>
        <p:nvSpPr>
          <p:cNvPr id="49" name="Text 38"/>
          <p:cNvSpPr txBox="1"/>
          <p:nvPr/>
        </p:nvSpPr>
        <p:spPr>
          <a:xfrm>
            <a:off x="11734495" y="8762695"/>
            <a:ext cx="5524805" cy="133502"/>
          </a:xfrm>
          <a:prstGeom prst="rect">
            <a:avLst/>
          </a:prstGeom>
          <a:noFill/>
          <a:ln/>
        </p:spPr>
        <p:txBody>
          <a:bodyPr wrap="none" lIns="0" tIns="0" rIns="0" bIns="0" rtlCol="0" anchor="ctr"/>
          <a:lstStyle/>
          <a:p>
            <a:pPr algn="l" indent="0" marL="0">
              <a:buNone/>
            </a:pPr>
            <a:r>
              <a:rPr lang="en-US" sz="825" b="1" spc="247" kern="0" dirty="0">
                <a:solidFill>
                  <a:srgbClr val="FB923C"/>
                </a:solidFill>
                <a:latin typeface="JetBrains Mono" pitchFamily="34" charset="0"/>
                <a:ea typeface="JetBrains Mono" pitchFamily="34" charset="-122"/>
                <a:cs typeface="JetBrains Mono" pitchFamily="34" charset="-120"/>
              </a:rPr>
              <a:t>FILE TAG</a:t>
            </a:r>
            <a:endParaRPr lang="en-US" sz="825" dirty="0"/>
          </a:p>
        </p:txBody>
      </p:sp>
      <p:sp>
        <p:nvSpPr>
          <p:cNvPr id="50" name="Text 39"/>
          <p:cNvSpPr txBox="1"/>
          <p:nvPr/>
        </p:nvSpPr>
        <p:spPr>
          <a:xfrm>
            <a:off x="11734495" y="8953805"/>
            <a:ext cx="5524805" cy="181051"/>
          </a:xfrm>
          <a:prstGeom prst="rect">
            <a:avLst/>
          </a:prstGeom>
          <a:noFill/>
          <a:ln/>
        </p:spPr>
        <p:txBody>
          <a:bodyPr wrap="none" lIns="0" tIns="0" rIns="0" bIns="0" rtlCol="0" anchor="ctr"/>
          <a:lstStyle/>
          <a:p>
            <a:pPr algn="l" indent="0" marL="0">
              <a:buNone/>
            </a:pPr>
            <a:r>
              <a:rPr lang="en-US" sz="975" dirty="0">
                <a:solidFill>
                  <a:srgbClr val="94A3B8"/>
                </a:solidFill>
                <a:latin typeface="Inter" pitchFamily="34" charset="0"/>
                <a:ea typeface="Inter" pitchFamily="34" charset="-122"/>
                <a:cs typeface="Inter" pitchFamily="34" charset="-120"/>
              </a:rPr>
              <a:t>F13 / 11 — internal test dummy data · 절대 production reference로 인용 불가</a:t>
            </a:r>
            <a:endParaRPr lang="en-US" sz="975" dirty="0"/>
          </a:p>
        </p:txBody>
      </p:sp>
      <p:pic>
        <p:nvPicPr>
          <p:cNvPr id="51" name="Image 8" descr="gen-dedup-6df70f18c3be35e93fd30890118e2ffc.png">    </p:cNvPr>
          <p:cNvPicPr>
            <a:picLocks noChangeAspect="1"/>
          </p:cNvPicPr>
          <p:nvPr/>
        </p:nvPicPr>
        <p:blipFill>
          <a:blip r:embed="rId9"/>
          <a:srcRect l="0" r="0" t="-450" b="-450"/>
          <a:stretch/>
        </p:blipFill>
        <p:spPr>
          <a:xfrm>
            <a:off x="761695" y="10062972"/>
            <a:ext cx="304495" cy="19202"/>
          </a:xfrm>
          <a:prstGeom prst="rect">
            <a:avLst/>
          </a:prstGeom>
        </p:spPr>
      </p:pic>
      <p:sp>
        <p:nvSpPr>
          <p:cNvPr id="52" name="Text 40"/>
          <p:cNvSpPr txBox="1"/>
          <p:nvPr/>
        </p:nvSpPr>
        <p:spPr>
          <a:xfrm>
            <a:off x="1238098" y="9982505"/>
            <a:ext cx="3038551" cy="181051"/>
          </a:xfrm>
          <a:prstGeom prst="rect">
            <a:avLst/>
          </a:prstGeom>
          <a:noFill/>
          <a:ln/>
        </p:spPr>
        <p:txBody>
          <a:bodyPr wrap="none" lIns="0" tIns="0" rIns="0" bIns="0" rtlCol="0" anchor="ctr"/>
          <a:lstStyle/>
          <a:p>
            <a:pPr algn="l" indent="0" marL="0">
              <a:buNone/>
            </a:pPr>
            <a:r>
              <a:rPr lang="en-US" sz="975" spc="49" kern="0" dirty="0">
                <a:solidFill>
                  <a:srgbClr val="64748B"/>
                </a:solidFill>
                <a:latin typeface="Inter" pitchFamily="34" charset="0"/>
                <a:ea typeface="Inter" pitchFamily="34" charset="-122"/>
                <a:cs typeface="Inter" pitchFamily="34" charset="-120"/>
              </a:rPr>
              <a:t>※ 내부 테스트용 더미(가상) 데이터 · F13 / 11</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2026-10-03T16:12:26Z</dcterms:created>
  <dcterms:modified xsi:type="dcterms:W3CDTF">2026-10-03T16:12:26Z</dcterms:modified>
</cp:coreProperties>
</file>