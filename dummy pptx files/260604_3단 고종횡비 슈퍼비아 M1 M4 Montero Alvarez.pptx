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4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8.png"/><Relationship Id="rId11" Type="http://schemas.openxmlformats.org/officeDocument/2006/relationships/image" Target="../media/image-1-9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jpe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jpe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4.png"/><Relationship Id="rId6" Type="http://schemas.openxmlformats.org/officeDocument/2006/relationships/image" Target="../media/image-2-4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jpeg"/><Relationship Id="rId20" Type="http://schemas.openxmlformats.org/officeDocument/2006/relationships/image" Target="../media/image-2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jpeg"/><Relationship Id="rId10" Type="http://schemas.openxmlformats.org/officeDocument/2006/relationships/image" Target="../media/image-3-10.jpe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8f7c341a78ec1eba785928b97df9dea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04077c43600d7401683ee8bf585cc3ca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rcRect l="0" r="0" t="-400" b="-400"/>
          <a:stretch/>
        </p:blipFill>
        <p:spPr>
          <a:xfrm>
            <a:off x="0" y="0"/>
            <a:ext cx="18288000" cy="1920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763402" y="3619195"/>
            <a:ext cx="6667805" cy="4572000"/>
          </a:xfrm>
          <a:prstGeom prst="rect">
            <a:avLst/>
          </a:prstGeom>
          <a:solidFill>
            <a:srgbClr val="04080F"/>
          </a:solidFill>
          <a:ln w="12700">
            <a:solidFill>
              <a:srgbClr val="7691C7">
                <a:alpha val="20000"/>
              </a:srgbClr>
            </a:solidFill>
            <a:prstDash val="solid"/>
          </a:ln>
        </p:spPr>
      </p:sp>
      <p:pic>
        <p:nvPicPr>
          <p:cNvPr id="5" name="Image 2" descr="gen-dedup-da6c4aae0a237e76ef385174b0de3781.png">    </p:cNvPr>
          <p:cNvPicPr>
            <a:picLocks noChangeAspect="1"/>
          </p:cNvPicPr>
          <p:nvPr/>
        </p:nvPicPr>
        <p:blipFill>
          <a:blip r:embed="rId3"/>
          <a:srcRect l="-2" r="-2" t="0" b="0"/>
          <a:stretch/>
        </p:blipFill>
        <p:spPr>
          <a:xfrm>
            <a:off x="857707" y="3619195"/>
            <a:ext cx="5905195" cy="3047695"/>
          </a:xfrm>
          <a:prstGeom prst="rect">
            <a:avLst/>
          </a:prstGeom>
        </p:spPr>
      </p:pic>
      <p:pic>
        <p:nvPicPr>
          <p:cNvPr id="6" name="Image 3" descr="gen-dedup-8f4e61436fb683904321684d27d6f26a.png">    </p:cNvPr>
          <p:cNvPicPr>
            <a:picLocks noChangeAspect="1"/>
          </p:cNvPicPr>
          <p:nvPr/>
        </p:nvPicPr>
        <p:blipFill>
          <a:blip r:embed="rId4"/>
          <a:srcRect l="0" r="0" t="-17" b="-17"/>
          <a:stretch/>
        </p:blipFill>
        <p:spPr>
          <a:xfrm>
            <a:off x="6953098" y="3619195"/>
            <a:ext cx="3619195" cy="1476756"/>
          </a:xfrm>
          <a:prstGeom prst="rect">
            <a:avLst/>
          </a:prstGeom>
        </p:spPr>
      </p:pic>
      <p:pic>
        <p:nvPicPr>
          <p:cNvPr id="7" name="Image 4" descr="gen-dedup-8f4e61436fb683904321684d27d6f26a.png">    </p:cNvPr>
          <p:cNvPicPr>
            <a:picLocks noChangeAspect="1"/>
          </p:cNvPicPr>
          <p:nvPr/>
        </p:nvPicPr>
        <p:blipFill>
          <a:blip r:embed="rId5"/>
          <a:srcRect l="0" r="0" t="-17" b="-17"/>
          <a:stretch/>
        </p:blipFill>
        <p:spPr>
          <a:xfrm>
            <a:off x="6953098" y="5191049"/>
            <a:ext cx="3619195" cy="1476756"/>
          </a:xfrm>
          <a:prstGeom prst="rect">
            <a:avLst/>
          </a:prstGeom>
        </p:spPr>
      </p:pic>
      <p:pic>
        <p:nvPicPr>
          <p:cNvPr id="8" name="Image 5" descr="gen-dedup-0bc1dc7f150ac800cb7befdc7cb10136.png">    </p:cNvPr>
          <p:cNvPicPr>
            <a:picLocks noChangeAspect="1"/>
          </p:cNvPicPr>
          <p:nvPr/>
        </p:nvPicPr>
        <p:blipFill>
          <a:blip r:embed="rId6"/>
          <a:srcRect l="-5" r="-5" t="0" b="0"/>
          <a:stretch/>
        </p:blipFill>
        <p:spPr>
          <a:xfrm>
            <a:off x="857707" y="6858000"/>
            <a:ext cx="5905195" cy="1904695"/>
          </a:xfrm>
          <a:prstGeom prst="rect">
            <a:avLst/>
          </a:prstGeom>
        </p:spPr>
      </p:pic>
      <p:sp>
        <p:nvSpPr>
          <p:cNvPr id="9" name="Shape 1"/>
          <p:cNvSpPr/>
          <p:nvPr/>
        </p:nvSpPr>
        <p:spPr>
          <a:xfrm>
            <a:off x="6953098" y="6858000"/>
            <a:ext cx="3619195" cy="1904695"/>
          </a:xfrm>
          <a:prstGeom prst="rect">
            <a:avLst/>
          </a:prstGeom>
          <a:solidFill>
            <a:srgbClr val="62D6FF">
              <a:alpha val="4000"/>
            </a:srgbClr>
          </a:solidFill>
          <a:ln w="12700">
            <a:solidFill>
              <a:srgbClr val="4F6084"/>
            </a:solidFill>
            <a:prstDash val="solid"/>
          </a:ln>
        </p:spPr>
      </p:sp>
      <p:pic>
        <p:nvPicPr>
          <p:cNvPr id="10" name="Image 6" descr="gen-dedup-084bfc03c0ef46d40733e98f05b268d6.png">    </p:cNvPr>
          <p:cNvPicPr>
            <a:picLocks noChangeAspect="1"/>
          </p:cNvPicPr>
          <p:nvPr/>
        </p:nvPicPr>
        <p:blipFill>
          <a:blip r:embed="rId7"/>
          <a:srcRect l="0" r="0" t="-27" b="-27"/>
          <a:stretch/>
        </p:blipFill>
        <p:spPr>
          <a:xfrm>
            <a:off x="857707" y="9001354"/>
            <a:ext cx="16573500" cy="857707"/>
          </a:xfrm>
          <a:prstGeom prst="rect">
            <a:avLst/>
          </a:prstGeom>
        </p:spPr>
      </p:pic>
      <p:pic>
        <p:nvPicPr>
          <p:cNvPr id="11" name="Image 7" descr="gen-dedup-aceeef354799cc564a7d5e4f1dd82179.png">    </p:cNvPr>
          <p:cNvPicPr>
            <a:picLocks noChangeAspect="1"/>
          </p:cNvPicPr>
          <p:nvPr/>
        </p:nvPicPr>
        <p:blipFill>
          <a:blip r:embed="rId8"/>
          <a:srcRect l="0" r="0" t="-400" b="-400"/>
          <a:stretch/>
        </p:blipFill>
        <p:spPr>
          <a:xfrm>
            <a:off x="10763402" y="3619195"/>
            <a:ext cx="342900" cy="19202"/>
          </a:xfrm>
          <a:prstGeom prst="rect">
            <a:avLst/>
          </a:prstGeom>
        </p:spPr>
      </p:pic>
      <p:pic>
        <p:nvPicPr>
          <p:cNvPr id="12" name="Image 8" descr="gen-dedup-c1fb3f60f5d71c693c39268c9dbcc3b5.png">    </p:cNvPr>
          <p:cNvPicPr>
            <a:picLocks noChangeAspect="1"/>
          </p:cNvPicPr>
          <p:nvPr/>
        </p:nvPicPr>
        <p:blipFill>
          <a:blip r:embed="rId9"/>
          <a:srcRect l="-400" r="-400" t="0" b="0"/>
          <a:stretch/>
        </p:blipFill>
        <p:spPr>
          <a:xfrm>
            <a:off x="10763402" y="3619195"/>
            <a:ext cx="19202" cy="342900"/>
          </a:xfrm>
          <a:prstGeom prst="rect">
            <a:avLst/>
          </a:prstGeom>
        </p:spPr>
      </p:pic>
      <p:pic>
        <p:nvPicPr>
          <p:cNvPr id="13" name="Image 9" descr="gen-dedup-aceeef354799cc564a7d5e4f1dd82179.png">    </p:cNvPr>
          <p:cNvPicPr>
            <a:picLocks noChangeAspect="1"/>
          </p:cNvPicPr>
          <p:nvPr/>
        </p:nvPicPr>
        <p:blipFill>
          <a:blip r:embed="rId10"/>
          <a:srcRect l="0" r="0" t="-400" b="-400"/>
          <a:stretch/>
        </p:blipFill>
        <p:spPr>
          <a:xfrm>
            <a:off x="857707" y="3619195"/>
            <a:ext cx="342900" cy="19202"/>
          </a:xfrm>
          <a:prstGeom prst="rect">
            <a:avLst/>
          </a:prstGeom>
        </p:spPr>
      </p:pic>
      <p:pic>
        <p:nvPicPr>
          <p:cNvPr id="14" name="Image 10" descr="gen-dedup-c1fb3f60f5d71c693c39268c9dbcc3b5.png">    </p:cNvPr>
          <p:cNvPicPr>
            <a:picLocks noChangeAspect="1"/>
          </p:cNvPicPr>
          <p:nvPr/>
        </p:nvPicPr>
        <p:blipFill>
          <a:blip r:embed="rId11"/>
          <a:srcRect l="-400" r="-400" t="0" b="0"/>
          <a:stretch/>
        </p:blipFill>
        <p:spPr>
          <a:xfrm>
            <a:off x="857707" y="3619195"/>
            <a:ext cx="19202" cy="342900"/>
          </a:xfrm>
          <a:prstGeom prst="rect">
            <a:avLst/>
          </a:prstGeom>
        </p:spPr>
      </p:pic>
      <p:sp>
        <p:nvSpPr>
          <p:cNvPr id="15" name="Shape 2"/>
          <p:cNvSpPr/>
          <p:nvPr/>
        </p:nvSpPr>
        <p:spPr>
          <a:xfrm>
            <a:off x="3981298" y="7048195"/>
            <a:ext cx="2667305" cy="1524305"/>
          </a:xfrm>
          <a:prstGeom prst="rect">
            <a:avLst/>
          </a:prstGeom>
          <a:solidFill>
            <a:srgbClr val="04080F"/>
          </a:solidFill>
          <a:ln w="12700">
            <a:solidFill>
              <a:srgbClr val="7691C7">
                <a:alpha val="20000"/>
              </a:srgbClr>
            </a:solidFill>
            <a:prstDash val="solid"/>
          </a:ln>
        </p:spPr>
      </p:sp>
      <p:pic>
        <p:nvPicPr>
          <p:cNvPr id="16" name="Image 11" descr="gen-dedup-a8a094963ec9b8a8118e6492bbf1d7c9.png">    </p:cNvPr>
          <p:cNvPicPr>
            <a:picLocks noChangeAspect="1"/>
          </p:cNvPicPr>
          <p:nvPr/>
        </p:nvPicPr>
        <p:blipFill>
          <a:blip r:embed="rId12"/>
          <a:srcRect l="0" r="0" t="-404" b="-404"/>
          <a:stretch/>
        </p:blipFill>
        <p:spPr>
          <a:xfrm>
            <a:off x="6953098" y="6858000"/>
            <a:ext cx="3619195" cy="19202"/>
          </a:xfrm>
          <a:prstGeom prst="rect">
            <a:avLst/>
          </a:prstGeom>
        </p:spPr>
      </p:pic>
      <p:pic>
        <p:nvPicPr>
          <p:cNvPr id="17" name="Image 12" descr="gen-dedup-2029135c9ff7cdd389a1817daed1ec09.png">    </p:cNvPr>
          <p:cNvPicPr>
            <a:picLocks noChangeAspect="1"/>
          </p:cNvPicPr>
          <p:nvPr/>
        </p:nvPicPr>
        <p:blipFill>
          <a:blip r:embed="rId13"/>
          <a:srcRect l="0" r="0" t="-430" b="-430"/>
          <a:stretch/>
        </p:blipFill>
        <p:spPr>
          <a:xfrm>
            <a:off x="857707" y="9001354"/>
            <a:ext cx="28346" cy="857707"/>
          </a:xfrm>
          <a:prstGeom prst="rect">
            <a:avLst/>
          </a:prstGeom>
        </p:spPr>
      </p:pic>
      <p:pic>
        <p:nvPicPr>
          <p:cNvPr id="18" name="Image 13" descr="gen-dedup-15df88c2627355f51b38bbdafafcfbf3.jp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53598" y="3810305"/>
            <a:ext cx="6286500" cy="4048049"/>
          </a:xfrm>
          <a:prstGeom prst="rect">
            <a:avLst/>
          </a:prstGeom>
        </p:spPr>
      </p:pic>
      <p:pic>
        <p:nvPicPr>
          <p:cNvPr id="19" name="Image 14" descr="gen-dedup-10ecc9626d5b256107d790eb499f6cdb.png">    </p:cNvPr>
          <p:cNvPicPr>
            <a:picLocks noChangeAspect="1"/>
          </p:cNvPicPr>
          <p:nvPr/>
        </p:nvPicPr>
        <p:blipFill>
          <a:blip r:embed="rId15"/>
          <a:srcRect l="0" r="0" t="-416" b="-416"/>
          <a:stretch/>
        </p:blipFill>
        <p:spPr>
          <a:xfrm>
            <a:off x="6953098" y="3619195"/>
            <a:ext cx="28346" cy="1476756"/>
          </a:xfrm>
          <a:prstGeom prst="rect">
            <a:avLst/>
          </a:prstGeom>
        </p:spPr>
      </p:pic>
      <p:pic>
        <p:nvPicPr>
          <p:cNvPr id="20" name="Image 15" descr="gen-dedup-0154d05f057cf8c17575bb2bbd87f834.png">    </p:cNvPr>
          <p:cNvPicPr>
            <a:picLocks noChangeAspect="1"/>
          </p:cNvPicPr>
          <p:nvPr/>
        </p:nvPicPr>
        <p:blipFill>
          <a:blip r:embed="rId16"/>
          <a:srcRect l="-400" r="-400" t="0" b="0"/>
          <a:stretch/>
        </p:blipFill>
        <p:spPr>
          <a:xfrm>
            <a:off x="6953098" y="5191049"/>
            <a:ext cx="3619195" cy="28346"/>
          </a:xfrm>
          <a:prstGeom prst="rect">
            <a:avLst/>
          </a:prstGeom>
        </p:spPr>
      </p:pic>
      <p:pic>
        <p:nvPicPr>
          <p:cNvPr id="21" name="Image 16" descr="gen-dedup-8d6344dafd0b25d44f981cf0d3b3e42e.png">    </p:cNvPr>
          <p:cNvPicPr>
            <a:picLocks noChangeAspect="1"/>
          </p:cNvPicPr>
          <p:nvPr/>
        </p:nvPicPr>
        <p:blipFill>
          <a:blip r:embed="rId17"/>
          <a:srcRect l="0" r="0" t="-395" b="-395"/>
          <a:stretch/>
        </p:blipFill>
        <p:spPr>
          <a:xfrm>
            <a:off x="857707" y="6858000"/>
            <a:ext cx="28346" cy="1904695"/>
          </a:xfrm>
          <a:prstGeom prst="rect">
            <a:avLst/>
          </a:prstGeom>
        </p:spPr>
      </p:pic>
      <p:pic>
        <p:nvPicPr>
          <p:cNvPr id="22" name="Image 17" descr="gen-dedup-53c4a4e0baf3e18a38340eb048f54ccc.jp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28846" y="7095744"/>
            <a:ext cx="2572207" cy="1429207"/>
          </a:xfrm>
          <a:prstGeom prst="rect">
            <a:avLst/>
          </a:prstGeom>
        </p:spPr>
      </p:pic>
      <p:sp>
        <p:nvSpPr>
          <p:cNvPr id="23" name="Text 3"/>
          <p:cNvSpPr txBox="1"/>
          <p:nvPr/>
        </p:nvSpPr>
        <p:spPr>
          <a:xfrm>
            <a:off x="857707" y="571500"/>
            <a:ext cx="2857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849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DUMMY · 02 / 30</a:t>
            </a:r>
            <a:endParaRPr lang="en-US" sz="975" dirty="0"/>
          </a:p>
        </p:txBody>
      </p:sp>
      <p:sp>
        <p:nvSpPr>
          <p:cNvPr id="24" name="Text 4"/>
          <p:cNvSpPr txBox="1"/>
          <p:nvPr/>
        </p:nvSpPr>
        <p:spPr>
          <a:xfrm>
            <a:off x="14287500" y="571500"/>
            <a:ext cx="3048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273" kern="0" dirty="0">
                <a:solidFill>
                  <a:srgbClr val="849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IITC 2022 · MONTERO ALVAREZ</a:t>
            </a:r>
            <a:endParaRPr lang="en-US" sz="975" dirty="0"/>
          </a:p>
        </p:txBody>
      </p:sp>
      <p:sp>
        <p:nvSpPr>
          <p:cNvPr id="25" name="Shape 5"/>
          <p:cNvSpPr/>
          <p:nvPr/>
        </p:nvSpPr>
        <p:spPr>
          <a:xfrm>
            <a:off x="857707" y="1095451"/>
            <a:ext cx="2467051" cy="352044"/>
          </a:xfrm>
          <a:prstGeom prst="roundRect">
            <a:avLst>
              <a:gd name="adj" fmla="val 5455"/>
            </a:avLst>
          </a:prstGeom>
          <a:noFill/>
          <a:ln w="12700">
            <a:solidFill>
              <a:srgbClr val="62D6FF"/>
            </a:solidFill>
            <a:prstDash val="solid"/>
          </a:ln>
        </p:spPr>
      </p:sp>
      <p:sp>
        <p:nvSpPr>
          <p:cNvPr id="26" name="Text 6"/>
          <p:cNvSpPr txBox="1"/>
          <p:nvPr/>
        </p:nvSpPr>
        <p:spPr>
          <a:xfrm>
            <a:off x="857707" y="1095451"/>
            <a:ext cx="2467051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2D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VIA · ARCHITECTURE</a:t>
            </a:r>
            <a:endParaRPr lang="en-US" sz="1200" dirty="0"/>
          </a:p>
        </p:txBody>
      </p:sp>
      <p:sp>
        <p:nvSpPr>
          <p:cNvPr id="27" name="Text 7"/>
          <p:cNvSpPr txBox="1"/>
          <p:nvPr/>
        </p:nvSpPr>
        <p:spPr>
          <a:xfrm>
            <a:off x="857707" y="1524305"/>
            <a:ext cx="17240098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ECF2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3단 고종횡비 슈퍼비아</a:t>
            </a:r>
            <a:pPr algn="l" indent="0" marL="0">
              <a:buNone/>
            </a:pPr>
            <a:r>
              <a:rPr lang="en-US" sz="2850" b="1" spc="-96" kern="0" dirty="0">
                <a:solidFill>
                  <a:srgbClr val="849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(Montero Alvarez, IITC 2022)</a:t>
            </a:r>
            <a:endParaRPr lang="en-US" sz="4800" dirty="0"/>
          </a:p>
        </p:txBody>
      </p:sp>
      <p:sp>
        <p:nvSpPr>
          <p:cNvPr id="28" name="Text 8"/>
          <p:cNvSpPr txBox="1"/>
          <p:nvPr/>
        </p:nvSpPr>
        <p:spPr>
          <a:xfrm>
            <a:off x="857707" y="2667305"/>
            <a:ext cx="12382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ECF2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M1에서 M4로 두 레벨을 건너뛰는 단일 비아입니다.</a:t>
            </a:r>
            <a:endParaRPr lang="en-US" sz="1950" dirty="0"/>
          </a:p>
        </p:txBody>
      </p:sp>
      <p:sp>
        <p:nvSpPr>
          <p:cNvPr id="29" name="Text 9"/>
          <p:cNvSpPr txBox="1"/>
          <p:nvPr/>
        </p:nvSpPr>
        <p:spPr>
          <a:xfrm>
            <a:off x="10953598" y="7905902"/>
            <a:ext cx="6286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0" kern="0" dirty="0">
                <a:solidFill>
                  <a:srgbClr val="849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출처: Semiconductor Digest — Intel 4 BEOL Cu + Co liner/cap cross section</a:t>
            </a:r>
            <a:endParaRPr lang="en-US" sz="975" dirty="0"/>
          </a:p>
        </p:txBody>
      </p:sp>
      <p:sp>
        <p:nvSpPr>
          <p:cNvPr id="30" name="Text 10"/>
          <p:cNvSpPr txBox="1"/>
          <p:nvPr/>
        </p:nvSpPr>
        <p:spPr>
          <a:xfrm>
            <a:off x="1143000" y="3857854"/>
            <a:ext cx="4381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312" kern="0" dirty="0">
                <a:solidFill>
                  <a:srgbClr val="62D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단일 비아 · 종횡비</a:t>
            </a:r>
            <a:endParaRPr lang="en-US" sz="975" dirty="0"/>
          </a:p>
        </p:txBody>
      </p:sp>
      <p:sp>
        <p:nvSpPr>
          <p:cNvPr id="31" name="Text 11"/>
          <p:cNvSpPr txBox="1"/>
          <p:nvPr/>
        </p:nvSpPr>
        <p:spPr>
          <a:xfrm>
            <a:off x="1143000" y="4095598"/>
            <a:ext cx="5524805" cy="1905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0" b="1" spc="-600" kern="0" dirty="0">
                <a:solidFill>
                  <a:srgbClr val="ECF2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7.7</a:t>
            </a:r>
            <a:endParaRPr lang="en-US" sz="15000" dirty="0"/>
          </a:p>
        </p:txBody>
      </p:sp>
      <p:sp>
        <p:nvSpPr>
          <p:cNvPr id="32" name="Text 12"/>
          <p:cNvSpPr txBox="1"/>
          <p:nvPr/>
        </p:nvSpPr>
        <p:spPr>
          <a:xfrm>
            <a:off x="1143000" y="6172200"/>
            <a:ext cx="5524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CF2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높이 </a:t>
            </a:r>
            <a:pPr algn="l" indent="0" marL="0">
              <a:buNone/>
            </a:pPr>
            <a:r>
              <a:rPr lang="en-US" sz="1500" dirty="0">
                <a:solidFill>
                  <a:srgbClr val="62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118.5 nm</a:t>
            </a:r>
            <a:pPr algn="l" indent="0" marL="0">
              <a:buNone/>
            </a:pPr>
            <a:r>
              <a:rPr lang="en-US" sz="1500" dirty="0">
                <a:solidFill>
                  <a:srgbClr val="ECF2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하단 CD </a:t>
            </a:r>
            <a:pPr algn="l" indent="0" marL="0">
              <a:buNone/>
            </a:pPr>
            <a:r>
              <a:rPr lang="en-US" sz="1500" dirty="0">
                <a:solidFill>
                  <a:srgbClr val="62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15.5 nm</a:t>
            </a:r>
            <a:pPr algn="l" indent="0" marL="0">
              <a:buNone/>
            </a:pPr>
            <a:r>
              <a:rPr lang="en-US" sz="1500" dirty="0">
                <a:solidFill>
                  <a:srgbClr val="ECF2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상단 CD </a:t>
            </a:r>
            <a:pPr algn="l" indent="0" marL="0">
              <a:buNone/>
            </a:pPr>
            <a:r>
              <a:rPr lang="en-US" sz="1500" dirty="0">
                <a:solidFill>
                  <a:srgbClr val="62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22.7 nm</a:t>
            </a:r>
            <a:endParaRPr lang="en-US" sz="1500" dirty="0"/>
          </a:p>
        </p:txBody>
      </p:sp>
      <p:sp>
        <p:nvSpPr>
          <p:cNvPr id="33" name="Text 13"/>
          <p:cNvSpPr txBox="1"/>
          <p:nvPr/>
        </p:nvSpPr>
        <p:spPr>
          <a:xfrm>
            <a:off x="7239305" y="3791102"/>
            <a:ext cx="31437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252" kern="0" dirty="0">
                <a:solidFill>
                  <a:srgbClr val="849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KELVIN 저항 중간값</a:t>
            </a:r>
            <a:endParaRPr lang="en-US" sz="900" dirty="0"/>
          </a:p>
        </p:txBody>
      </p:sp>
      <p:sp>
        <p:nvSpPr>
          <p:cNvPr id="34" name="Text 14"/>
          <p:cNvSpPr txBox="1"/>
          <p:nvPr/>
        </p:nvSpPr>
        <p:spPr>
          <a:xfrm>
            <a:off x="7239305" y="3981298"/>
            <a:ext cx="3143707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spc="-90" kern="0" dirty="0">
                <a:solidFill>
                  <a:srgbClr val="ECF2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58</a:t>
            </a:r>
            <a:pPr algn="l" indent="0" marL="0">
              <a:buNone/>
            </a:pPr>
            <a:r>
              <a:rPr lang="en-US" sz="2100" b="1" spc="-90" kern="0" dirty="0">
                <a:solidFill>
                  <a:srgbClr val="C2CF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Ω</a:t>
            </a:r>
            <a:endParaRPr lang="en-US" sz="4500" dirty="0"/>
          </a:p>
        </p:txBody>
      </p:sp>
      <p:sp>
        <p:nvSpPr>
          <p:cNvPr id="35" name="Text 15"/>
          <p:cNvSpPr txBox="1"/>
          <p:nvPr/>
        </p:nvSpPr>
        <p:spPr>
          <a:xfrm>
            <a:off x="7239305" y="4743907"/>
            <a:ext cx="314370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D3B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2단 적층 비아 66.3 Ω 대비 13% 낮음</a:t>
            </a:r>
            <a:endParaRPr lang="en-US" sz="1200" dirty="0"/>
          </a:p>
        </p:txBody>
      </p:sp>
      <p:sp>
        <p:nvSpPr>
          <p:cNvPr id="36" name="Text 16"/>
          <p:cNvSpPr txBox="1"/>
          <p:nvPr/>
        </p:nvSpPr>
        <p:spPr>
          <a:xfrm>
            <a:off x="7239305" y="5362956"/>
            <a:ext cx="31437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252" kern="0" dirty="0">
                <a:solidFill>
                  <a:srgbClr val="849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전기적 수율</a:t>
            </a:r>
            <a:endParaRPr lang="en-US" sz="900" dirty="0"/>
          </a:p>
        </p:txBody>
      </p:sp>
      <p:sp>
        <p:nvSpPr>
          <p:cNvPr id="37" name="Text 17"/>
          <p:cNvSpPr txBox="1"/>
          <p:nvPr/>
        </p:nvSpPr>
        <p:spPr>
          <a:xfrm>
            <a:off x="7239305" y="5553151"/>
            <a:ext cx="3143707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spc="-90" kern="0" dirty="0">
                <a:solidFill>
                  <a:srgbClr val="ECF2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&gt;95</a:t>
            </a:r>
            <a:pPr algn="l" indent="0" marL="0">
              <a:buNone/>
            </a:pPr>
            <a:r>
              <a:rPr lang="en-US" sz="2100" b="1" spc="-90" kern="0" dirty="0">
                <a:solidFill>
                  <a:srgbClr val="C2CF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%</a:t>
            </a:r>
            <a:endParaRPr lang="en-US" sz="4500" dirty="0"/>
          </a:p>
        </p:txBody>
      </p:sp>
      <p:sp>
        <p:nvSpPr>
          <p:cNvPr id="38" name="Text 18"/>
          <p:cNvSpPr txBox="1"/>
          <p:nvPr/>
        </p:nvSpPr>
        <p:spPr>
          <a:xfrm>
            <a:off x="7239305" y="6286500"/>
            <a:ext cx="314370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CF2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−50°C↔+125°C</a:t>
            </a:r>
            <a:endParaRPr lang="en-US" sz="1125" dirty="0"/>
          </a:p>
        </p:txBody>
      </p:sp>
      <p:sp>
        <p:nvSpPr>
          <p:cNvPr id="39" name="Text 19"/>
          <p:cNvSpPr txBox="1"/>
          <p:nvPr/>
        </p:nvSpPr>
        <p:spPr>
          <a:xfrm>
            <a:off x="1143000" y="7048195"/>
            <a:ext cx="2667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252" kern="0" dirty="0">
                <a:solidFill>
                  <a:srgbClr val="849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M1 피치</a:t>
            </a:r>
            <a:endParaRPr lang="en-US" sz="900" dirty="0"/>
          </a:p>
        </p:txBody>
      </p:sp>
      <p:sp>
        <p:nvSpPr>
          <p:cNvPr id="40" name="Text 20"/>
          <p:cNvSpPr txBox="1"/>
          <p:nvPr/>
        </p:nvSpPr>
        <p:spPr>
          <a:xfrm>
            <a:off x="1143000" y="7239305"/>
            <a:ext cx="2667305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ECF2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36</a:t>
            </a:r>
            <a:pPr algn="l" indent="0" marL="0">
              <a:buNone/>
            </a:pPr>
            <a:r>
              <a:rPr lang="en-US" sz="2250" b="1" spc="-96" kern="0" dirty="0">
                <a:solidFill>
                  <a:srgbClr val="C2CF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nm</a:t>
            </a:r>
            <a:endParaRPr lang="en-US" sz="4800" dirty="0"/>
          </a:p>
        </p:txBody>
      </p:sp>
      <p:sp>
        <p:nvSpPr>
          <p:cNvPr id="41" name="Text 21"/>
          <p:cNvSpPr txBox="1"/>
          <p:nvPr/>
        </p:nvSpPr>
        <p:spPr>
          <a:xfrm>
            <a:off x="1143000" y="8029346"/>
            <a:ext cx="2667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CF2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접착층 0.3 nm ALD TiOₓ</a:t>
            </a:r>
            <a:endParaRPr lang="en-US" sz="1050" dirty="0"/>
          </a:p>
        </p:txBody>
      </p:sp>
      <p:sp>
        <p:nvSpPr>
          <p:cNvPr id="42" name="Text 22"/>
          <p:cNvSpPr txBox="1"/>
          <p:nvPr/>
        </p:nvSpPr>
        <p:spPr>
          <a:xfrm>
            <a:off x="1143000" y="8257946"/>
            <a:ext cx="2667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2CFE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충진 CVD Ru 70 nm</a:t>
            </a:r>
            <a:endParaRPr lang="en-US" sz="1050" dirty="0"/>
          </a:p>
        </p:txBody>
      </p:sp>
      <p:sp>
        <p:nvSpPr>
          <p:cNvPr id="43" name="Text 23"/>
          <p:cNvSpPr txBox="1"/>
          <p:nvPr/>
        </p:nvSpPr>
        <p:spPr>
          <a:xfrm>
            <a:off x="3981298" y="8600846"/>
            <a:ext cx="26673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49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출처: ResearchGate — 30 nm Ru filled structure TEM</a:t>
            </a:r>
            <a:endParaRPr lang="en-US" sz="900" dirty="0"/>
          </a:p>
        </p:txBody>
      </p:sp>
      <p:sp>
        <p:nvSpPr>
          <p:cNvPr id="44" name="Text 24"/>
          <p:cNvSpPr txBox="1"/>
          <p:nvPr/>
        </p:nvSpPr>
        <p:spPr>
          <a:xfrm>
            <a:off x="7239305" y="7048195"/>
            <a:ext cx="132588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CF2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0.3</a:t>
            </a:r>
            <a:pPr algn="l" indent="0" marL="0">
              <a:buNone/>
            </a:pPr>
            <a:r>
              <a:rPr lang="en-US" sz="1200" b="1" dirty="0">
                <a:solidFill>
                  <a:srgbClr val="C2CF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nm</a:t>
            </a:r>
            <a:endParaRPr lang="en-US" sz="2700" dirty="0"/>
          </a:p>
        </p:txBody>
      </p:sp>
      <p:sp>
        <p:nvSpPr>
          <p:cNvPr id="45" name="Text 25"/>
          <p:cNvSpPr txBox="1"/>
          <p:nvPr/>
        </p:nvSpPr>
        <p:spPr>
          <a:xfrm>
            <a:off x="7239305" y="7448702"/>
            <a:ext cx="1143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49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ALD TiOₓ</a:t>
            </a:r>
            <a:endParaRPr lang="en-US" sz="900" dirty="0"/>
          </a:p>
        </p:txBody>
      </p:sp>
      <p:sp>
        <p:nvSpPr>
          <p:cNvPr id="46" name="Text 26"/>
          <p:cNvSpPr txBox="1"/>
          <p:nvPr/>
        </p:nvSpPr>
        <p:spPr>
          <a:xfrm>
            <a:off x="8477402" y="7048195"/>
            <a:ext cx="1143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CF2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70</a:t>
            </a:r>
            <a:pPr algn="l" indent="0" marL="0">
              <a:buNone/>
            </a:pPr>
            <a:r>
              <a:rPr lang="en-US" sz="1200" b="1" dirty="0">
                <a:solidFill>
                  <a:srgbClr val="C2CF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nm</a:t>
            </a:r>
            <a:endParaRPr lang="en-US" sz="2700" dirty="0"/>
          </a:p>
        </p:txBody>
      </p:sp>
      <p:sp>
        <p:nvSpPr>
          <p:cNvPr id="47" name="Text 27"/>
          <p:cNvSpPr txBox="1"/>
          <p:nvPr/>
        </p:nvSpPr>
        <p:spPr>
          <a:xfrm>
            <a:off x="8477402" y="7448702"/>
            <a:ext cx="1143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49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CVD Ru</a:t>
            </a:r>
            <a:endParaRPr lang="en-US" sz="900" dirty="0"/>
          </a:p>
        </p:txBody>
      </p:sp>
      <p:sp>
        <p:nvSpPr>
          <p:cNvPr id="48" name="Text 28"/>
          <p:cNvSpPr txBox="1"/>
          <p:nvPr/>
        </p:nvSpPr>
        <p:spPr>
          <a:xfrm>
            <a:off x="7239305" y="7858354"/>
            <a:ext cx="31437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849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CD · nm</a:t>
            </a:r>
            <a:endParaRPr lang="en-US" sz="975" dirty="0"/>
          </a:p>
        </p:txBody>
      </p:sp>
      <p:sp>
        <p:nvSpPr>
          <p:cNvPr id="49" name="Text 29"/>
          <p:cNvSpPr txBox="1"/>
          <p:nvPr/>
        </p:nvSpPr>
        <p:spPr>
          <a:xfrm>
            <a:off x="7239305" y="8096098"/>
            <a:ext cx="314370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CF2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하단 </a:t>
            </a:r>
            <a:pPr algn="l" indent="0" marL="0">
              <a:buNone/>
            </a:pPr>
            <a:r>
              <a:rPr lang="en-US" sz="1200" dirty="0">
                <a:solidFill>
                  <a:srgbClr val="62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15.5</a:t>
            </a:r>
            <a:pPr algn="l" indent="0" marL="0">
              <a:buNone/>
            </a:pPr>
            <a:r>
              <a:rPr lang="en-US" sz="1200" dirty="0">
                <a:solidFill>
                  <a:srgbClr val="ECF2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상단 </a:t>
            </a:r>
            <a:pPr algn="l" indent="0" marL="0">
              <a:buNone/>
            </a:pPr>
            <a:r>
              <a:rPr lang="en-US" sz="1200" dirty="0">
                <a:solidFill>
                  <a:srgbClr val="62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22.7</a:t>
            </a:r>
            <a:endParaRPr lang="en-US" sz="1200" dirty="0"/>
          </a:p>
        </p:txBody>
      </p:sp>
      <p:sp>
        <p:nvSpPr>
          <p:cNvPr id="50" name="Text 30"/>
          <p:cNvSpPr txBox="1"/>
          <p:nvPr/>
        </p:nvSpPr>
        <p:spPr>
          <a:xfrm>
            <a:off x="4095598" y="9124798"/>
            <a:ext cx="1369405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2CFE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공정 A→D로 가면서 TiN 하드마스크 침식과 언더캷을 줄인 과정이 HAADF-STEM 단면과 top-down CD-SEM으로 나란히 비교됩니다</a:t>
            </a:r>
            <a:pPr algn="l" indent="0" marL="0">
              <a:buNone/>
            </a:pPr>
            <a:r>
              <a:rPr lang="en-US" sz="1500" b="1" dirty="0">
                <a:solidFill>
                  <a:srgbClr val="62D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(Fig. 3, 8패널)</a:t>
            </a:r>
            <a:pPr algn="l" indent="0" marL="0">
              <a:buNone/>
            </a:pPr>
            <a:r>
              <a:rPr lang="en-US" sz="1500" dirty="0">
                <a:solidFill>
                  <a:srgbClr val="C2CFE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500" dirty="0"/>
          </a:p>
        </p:txBody>
      </p:sp>
      <p:sp>
        <p:nvSpPr>
          <p:cNvPr id="51" name="Text 31"/>
          <p:cNvSpPr txBox="1"/>
          <p:nvPr/>
        </p:nvSpPr>
        <p:spPr>
          <a:xfrm>
            <a:off x="15430500" y="9924898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8493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001 / 003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f07bdf4bed76b8289a821439bea695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2651909f6ecb7660368a26a94b50b45c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2" descr="gen-dedup-957c1054cc9ea4978000765615a24f1a.png">    </p:cNvPr>
          <p:cNvPicPr>
            <a:picLocks noChangeAspect="1"/>
          </p:cNvPicPr>
          <p:nvPr/>
        </p:nvPicPr>
        <p:blipFill>
          <a:blip r:embed="rId3">
            <a:alphaModFix amt="70000"/>
          </a:blip>
          <a:srcRect l="0" r="0" t="-400" b="-400"/>
          <a:stretch/>
        </p:blipFill>
        <p:spPr>
          <a:xfrm>
            <a:off x="0" y="0"/>
            <a:ext cx="18288000" cy="19202"/>
          </a:xfrm>
          <a:prstGeom prst="rect">
            <a:avLst/>
          </a:prstGeom>
        </p:spPr>
      </p:pic>
      <p:pic>
        <p:nvPicPr>
          <p:cNvPr id="5" name="Image 3" descr="gen-dedup-fabc45418f30aaf837a5290362a12fce.png">    </p:cNvPr>
          <p:cNvPicPr>
            <a:picLocks noChangeAspect="1"/>
          </p:cNvPicPr>
          <p:nvPr/>
        </p:nvPicPr>
        <p:blipFill>
          <a:blip r:embed="rId4"/>
          <a:srcRect l="0" r="0" t="-3" b="-3"/>
          <a:stretch/>
        </p:blipFill>
        <p:spPr>
          <a:xfrm>
            <a:off x="857707" y="4000500"/>
            <a:ext cx="5333695" cy="2286000"/>
          </a:xfrm>
          <a:prstGeom prst="rect">
            <a:avLst/>
          </a:prstGeom>
        </p:spPr>
      </p:pic>
      <p:pic>
        <p:nvPicPr>
          <p:cNvPr id="6" name="Image 4" descr="gen-dedup-fabc45418f30aaf837a5290362a12fce.png">    </p:cNvPr>
          <p:cNvPicPr>
            <a:picLocks noChangeAspect="1"/>
          </p:cNvPicPr>
          <p:nvPr/>
        </p:nvPicPr>
        <p:blipFill>
          <a:blip r:embed="rId5"/>
          <a:srcRect l="0" r="0" t="-3" b="-3"/>
          <a:stretch/>
        </p:blipFill>
        <p:spPr>
          <a:xfrm>
            <a:off x="6476695" y="4000500"/>
            <a:ext cx="5333695" cy="2286000"/>
          </a:xfrm>
          <a:prstGeom prst="rect">
            <a:avLst/>
          </a:prstGeom>
        </p:spPr>
      </p:pic>
      <p:pic>
        <p:nvPicPr>
          <p:cNvPr id="7" name="Image 5" descr="gen-dedup-fabc45418f30aaf837a5290362a12fce.png">    </p:cNvPr>
          <p:cNvPicPr>
            <a:picLocks noChangeAspect="1"/>
          </p:cNvPicPr>
          <p:nvPr/>
        </p:nvPicPr>
        <p:blipFill>
          <a:blip r:embed="rId6"/>
          <a:srcRect l="0" r="0" t="-3" b="-3"/>
          <a:stretch/>
        </p:blipFill>
        <p:spPr>
          <a:xfrm>
            <a:off x="12096598" y="4000500"/>
            <a:ext cx="5333695" cy="2286000"/>
          </a:xfrm>
          <a:prstGeom prst="rect">
            <a:avLst/>
          </a:prstGeom>
        </p:spPr>
      </p:pic>
      <p:sp>
        <p:nvSpPr>
          <p:cNvPr id="8" name="Shape 0"/>
          <p:cNvSpPr/>
          <p:nvPr/>
        </p:nvSpPr>
        <p:spPr>
          <a:xfrm>
            <a:off x="857707" y="6620256"/>
            <a:ext cx="8572500" cy="2667305"/>
          </a:xfrm>
          <a:prstGeom prst="rect">
            <a:avLst/>
          </a:prstGeom>
          <a:solidFill>
            <a:srgbClr val="04080F"/>
          </a:solidFill>
          <a:ln w="12700">
            <a:solidFill>
              <a:srgbClr val="7691C7">
                <a:alpha val="20000"/>
              </a:srgbClr>
            </a:solidFill>
            <a:prstDash val="solid"/>
          </a:ln>
        </p:spPr>
      </p:sp>
      <p:pic>
        <p:nvPicPr>
          <p:cNvPr id="9" name="Image 6" descr="gen-dedup-835cddc9559ab9494883f4d16f5b7c40.png">    </p:cNvPr>
          <p:cNvPicPr>
            <a:picLocks noChangeAspect="1"/>
          </p:cNvPicPr>
          <p:nvPr/>
        </p:nvPicPr>
        <p:blipFill>
          <a:blip r:embed="rId7"/>
          <a:srcRect l="-11" r="-11" t="0" b="0"/>
          <a:stretch/>
        </p:blipFill>
        <p:spPr>
          <a:xfrm>
            <a:off x="9620402" y="6620256"/>
            <a:ext cx="7810805" cy="1285646"/>
          </a:xfrm>
          <a:prstGeom prst="rect">
            <a:avLst/>
          </a:prstGeom>
        </p:spPr>
      </p:pic>
      <p:pic>
        <p:nvPicPr>
          <p:cNvPr id="10" name="Image 7" descr="gen-dedup-1e5997329ee33de8decf1cd743a9b9fb.png">    </p:cNvPr>
          <p:cNvPicPr>
            <a:picLocks noChangeAspect="1"/>
          </p:cNvPicPr>
          <p:nvPr/>
        </p:nvPicPr>
        <p:blipFill>
          <a:blip r:embed="rId8"/>
          <a:srcRect l="-5" r="-5" t="0" b="0"/>
          <a:stretch/>
        </p:blipFill>
        <p:spPr>
          <a:xfrm>
            <a:off x="9620402" y="8096098"/>
            <a:ext cx="7810805" cy="1190549"/>
          </a:xfrm>
          <a:prstGeom prst="rect">
            <a:avLst/>
          </a:prstGeom>
        </p:spPr>
      </p:pic>
      <p:pic>
        <p:nvPicPr>
          <p:cNvPr id="11" name="Image 8" descr="gen-dedup-51ed4da380e3aa0bf7633806c72111a7.png">    </p:cNvPr>
          <p:cNvPicPr>
            <a:picLocks noChangeAspect="1"/>
          </p:cNvPicPr>
          <p:nvPr/>
        </p:nvPicPr>
        <p:blipFill>
          <a:blip r:embed="rId9"/>
          <a:srcRect l="-400" r="-400" t="0" b="0"/>
          <a:stretch/>
        </p:blipFill>
        <p:spPr>
          <a:xfrm>
            <a:off x="857707" y="4000500"/>
            <a:ext cx="5333695" cy="28346"/>
          </a:xfrm>
          <a:prstGeom prst="rect">
            <a:avLst/>
          </a:prstGeom>
        </p:spPr>
      </p:pic>
      <p:pic>
        <p:nvPicPr>
          <p:cNvPr id="12" name="Image 9" descr="gen-dedup-bb4b290f0ac90949ed50bc29696b6192.png">    </p:cNvPr>
          <p:cNvPicPr>
            <a:picLocks noChangeAspect="1"/>
          </p:cNvPicPr>
          <p:nvPr/>
        </p:nvPicPr>
        <p:blipFill>
          <a:blip r:embed="rId10"/>
          <a:srcRect l="-400" r="-400" t="0" b="0"/>
          <a:stretch/>
        </p:blipFill>
        <p:spPr>
          <a:xfrm>
            <a:off x="6476695" y="4000500"/>
            <a:ext cx="5333695" cy="28346"/>
          </a:xfrm>
          <a:prstGeom prst="rect">
            <a:avLst/>
          </a:prstGeom>
        </p:spPr>
      </p:pic>
      <p:pic>
        <p:nvPicPr>
          <p:cNvPr id="13" name="Image 10" descr="gen-dedup-d81ebed9c34d2d2a03e4f2374db51511.png">    </p:cNvPr>
          <p:cNvPicPr>
            <a:picLocks noChangeAspect="1"/>
          </p:cNvPicPr>
          <p:nvPr/>
        </p:nvPicPr>
        <p:blipFill>
          <a:blip r:embed="rId11"/>
          <a:srcRect l="-400" r="-400" t="0" b="0"/>
          <a:stretch/>
        </p:blipFill>
        <p:spPr>
          <a:xfrm>
            <a:off x="12096598" y="4000500"/>
            <a:ext cx="5333695" cy="28346"/>
          </a:xfrm>
          <a:prstGeom prst="rect">
            <a:avLst/>
          </a:prstGeom>
        </p:spPr>
      </p:pic>
      <p:pic>
        <p:nvPicPr>
          <p:cNvPr id="14" name="Image 11" descr="gen-dedup-aceeef354799cc564a7d5e4f1dd82179.png">    </p:cNvPr>
          <p:cNvPicPr>
            <a:picLocks noChangeAspect="1"/>
          </p:cNvPicPr>
          <p:nvPr/>
        </p:nvPicPr>
        <p:blipFill>
          <a:blip r:embed="rId12"/>
          <a:srcRect l="0" r="0" t="-400" b="-400"/>
          <a:stretch/>
        </p:blipFill>
        <p:spPr>
          <a:xfrm>
            <a:off x="857707" y="6620256"/>
            <a:ext cx="342900" cy="19202"/>
          </a:xfrm>
          <a:prstGeom prst="rect">
            <a:avLst/>
          </a:prstGeom>
        </p:spPr>
      </p:pic>
      <p:pic>
        <p:nvPicPr>
          <p:cNvPr id="15" name="Image 12" descr="gen-dedup-c1fb3f60f5d71c693c39268c9dbcc3b5.png">    </p:cNvPr>
          <p:cNvPicPr>
            <a:picLocks noChangeAspect="1"/>
          </p:cNvPicPr>
          <p:nvPr/>
        </p:nvPicPr>
        <p:blipFill>
          <a:blip r:embed="rId13"/>
          <a:srcRect l="-400" r="-400" t="0" b="0"/>
          <a:stretch/>
        </p:blipFill>
        <p:spPr>
          <a:xfrm>
            <a:off x="857707" y="6620256"/>
            <a:ext cx="19202" cy="342900"/>
          </a:xfrm>
          <a:prstGeom prst="rect">
            <a:avLst/>
          </a:prstGeom>
        </p:spPr>
      </p:pic>
      <p:pic>
        <p:nvPicPr>
          <p:cNvPr id="16" name="Image 13" descr="gen-dedup-cbb29a29cac9c37aff997d1e03ad75e9.png">    </p:cNvPr>
          <p:cNvPicPr>
            <a:picLocks noChangeAspect="1"/>
          </p:cNvPicPr>
          <p:nvPr/>
        </p:nvPicPr>
        <p:blipFill>
          <a:blip r:embed="rId14"/>
          <a:srcRect l="0" r="0" t="-395" b="-395"/>
          <a:stretch/>
        </p:blipFill>
        <p:spPr>
          <a:xfrm>
            <a:off x="9620402" y="6620256"/>
            <a:ext cx="28346" cy="1285646"/>
          </a:xfrm>
          <a:prstGeom prst="rect">
            <a:avLst/>
          </a:prstGeom>
        </p:spPr>
      </p:pic>
      <p:pic>
        <p:nvPicPr>
          <p:cNvPr id="17" name="Image 14" descr="gen-dedup-5876e80461f38276e642e0526d93b2b8.png">    </p:cNvPr>
          <p:cNvPicPr>
            <a:picLocks noChangeAspect="1"/>
          </p:cNvPicPr>
          <p:nvPr/>
        </p:nvPicPr>
        <p:blipFill>
          <a:blip r:embed="rId15"/>
          <a:srcRect l="0" r="0" t="-400" b="-400"/>
          <a:stretch/>
        </p:blipFill>
        <p:spPr>
          <a:xfrm>
            <a:off x="9620402" y="8096098"/>
            <a:ext cx="28346" cy="1190549"/>
          </a:xfrm>
          <a:prstGeom prst="rect">
            <a:avLst/>
          </a:prstGeom>
        </p:spPr>
      </p:pic>
      <p:pic>
        <p:nvPicPr>
          <p:cNvPr id="18" name="Image 15" descr="gen-dedup-1021691256cb598c8723946f26da6406.png">    </p:cNvPr>
          <p:cNvPicPr>
            <a:picLocks noChangeAspect="1"/>
          </p:cNvPicPr>
          <p:nvPr/>
        </p:nvPicPr>
        <p:blipFill>
          <a:blip r:embed="rId16"/>
          <a:srcRect l="-2083" r="-2083" t="0" b="0"/>
          <a:stretch/>
        </p:blipFill>
        <p:spPr>
          <a:xfrm>
            <a:off x="1143000" y="5952744"/>
            <a:ext cx="571500" cy="9144"/>
          </a:xfrm>
          <a:prstGeom prst="rect">
            <a:avLst/>
          </a:prstGeom>
        </p:spPr>
      </p:pic>
      <p:pic>
        <p:nvPicPr>
          <p:cNvPr id="19" name="Image 16" descr="gen-dedup-8eebb34ba184a10a2fbfe8fe7b807425.png">    </p:cNvPr>
          <p:cNvPicPr>
            <a:picLocks noChangeAspect="1"/>
          </p:cNvPicPr>
          <p:nvPr/>
        </p:nvPicPr>
        <p:blipFill>
          <a:blip r:embed="rId17"/>
          <a:srcRect l="-2083" r="-2083" t="0" b="0"/>
          <a:stretch/>
        </p:blipFill>
        <p:spPr>
          <a:xfrm>
            <a:off x="6762902" y="5952744"/>
            <a:ext cx="571500" cy="9144"/>
          </a:xfrm>
          <a:prstGeom prst="rect">
            <a:avLst/>
          </a:prstGeom>
        </p:spPr>
      </p:pic>
      <p:pic>
        <p:nvPicPr>
          <p:cNvPr id="20" name="Image 17" descr="gen-dedup-ecc8d32e38007826e2666019053d1f4f.png">    </p:cNvPr>
          <p:cNvPicPr>
            <a:picLocks noChangeAspect="1"/>
          </p:cNvPicPr>
          <p:nvPr/>
        </p:nvPicPr>
        <p:blipFill>
          <a:blip r:embed="rId18"/>
          <a:srcRect l="-2083" r="-2083" t="0" b="0"/>
          <a:stretch/>
        </p:blipFill>
        <p:spPr>
          <a:xfrm>
            <a:off x="12382805" y="5952744"/>
            <a:ext cx="571500" cy="9144"/>
          </a:xfrm>
          <a:prstGeom prst="rect">
            <a:avLst/>
          </a:prstGeom>
        </p:spPr>
      </p:pic>
      <p:pic>
        <p:nvPicPr>
          <p:cNvPr id="21" name="Image 18" descr="gen-dedup-5ed56337a10a1071ab3d65bf86999bb1.jp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47902" y="6810451"/>
            <a:ext cx="8191195" cy="2190902"/>
          </a:xfrm>
          <a:prstGeom prst="rect">
            <a:avLst/>
          </a:prstGeom>
        </p:spPr>
      </p:pic>
      <p:pic>
        <p:nvPicPr>
          <p:cNvPr id="22" name="Image 19" descr="gen-dedup-9260499eba3fcfda6b50b1ebf23dac2c.png">    </p:cNvPr>
          <p:cNvPicPr>
            <a:picLocks noChangeAspect="1"/>
          </p:cNvPicPr>
          <p:nvPr/>
        </p:nvPicPr>
        <p:blipFill>
          <a:blip r:embed="rId20"/>
          <a:srcRect l="0" r="0" t="-2111" b="-2111"/>
          <a:stretch/>
        </p:blipFill>
        <p:spPr>
          <a:xfrm>
            <a:off x="12191695" y="6858000"/>
            <a:ext cx="9144" cy="857707"/>
          </a:xfrm>
          <a:prstGeom prst="rect">
            <a:avLst/>
          </a:prstGeom>
        </p:spPr>
      </p:pic>
      <p:sp>
        <p:nvSpPr>
          <p:cNvPr id="23" name="Text 1"/>
          <p:cNvSpPr txBox="1"/>
          <p:nvPr/>
        </p:nvSpPr>
        <p:spPr>
          <a:xfrm>
            <a:off x="857707" y="571500"/>
            <a:ext cx="2857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849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DUMMY · 02 / 30</a:t>
            </a:r>
            <a:endParaRPr lang="en-US" sz="975" dirty="0"/>
          </a:p>
        </p:txBody>
      </p:sp>
      <p:sp>
        <p:nvSpPr>
          <p:cNvPr id="24" name="Text 2"/>
          <p:cNvSpPr txBox="1"/>
          <p:nvPr/>
        </p:nvSpPr>
        <p:spPr>
          <a:xfrm>
            <a:off x="14287500" y="571500"/>
            <a:ext cx="3048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273" kern="0" dirty="0">
                <a:solidFill>
                  <a:srgbClr val="849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SPIE 2021 · DAS</a:t>
            </a:r>
            <a:endParaRPr lang="en-US" sz="975" dirty="0"/>
          </a:p>
        </p:txBody>
      </p:sp>
      <p:sp>
        <p:nvSpPr>
          <p:cNvPr id="25" name="Shape 3"/>
          <p:cNvSpPr/>
          <p:nvPr/>
        </p:nvSpPr>
        <p:spPr>
          <a:xfrm>
            <a:off x="857707" y="1076249"/>
            <a:ext cx="2638044" cy="352044"/>
          </a:xfrm>
          <a:prstGeom prst="roundRect">
            <a:avLst>
              <a:gd name="adj" fmla="val 5455"/>
            </a:avLst>
          </a:prstGeom>
          <a:noFill/>
          <a:ln w="12700">
            <a:solidFill>
              <a:srgbClr val="22D3B7"/>
            </a:solidFill>
            <a:prstDash val="solid"/>
          </a:ln>
        </p:spPr>
      </p:sp>
      <p:sp>
        <p:nvSpPr>
          <p:cNvPr id="26" name="Text 4"/>
          <p:cNvSpPr txBox="1"/>
          <p:nvPr/>
        </p:nvSpPr>
        <p:spPr>
          <a:xfrm>
            <a:off x="857707" y="1076249"/>
            <a:ext cx="2638958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2D3B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METROLOGY · OPTICAL</a:t>
            </a:r>
            <a:endParaRPr lang="en-US" sz="1200" dirty="0"/>
          </a:p>
        </p:txBody>
      </p:sp>
      <p:sp>
        <p:nvSpPr>
          <p:cNvPr id="27" name="Text 5"/>
          <p:cNvSpPr txBox="1"/>
          <p:nvPr/>
        </p:nvSpPr>
        <p:spPr>
          <a:xfrm>
            <a:off x="857707" y="1476756"/>
            <a:ext cx="18859500" cy="6574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650" b="1" spc="-93" kern="0" dirty="0">
                <a:solidFill>
                  <a:srgbClr val="ECF2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계측: 14 nm 하프피치를 </a:t>
            </a:r>
            <a:pPr algn="l" indent="0" marL="0">
              <a:buNone/>
            </a:pPr>
            <a:r>
              <a:rPr lang="en-US" sz="4650" b="1" spc="-93" kern="0" dirty="0">
                <a:solidFill>
                  <a:srgbClr val="62D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광학으로 잃지 않고 잡기</a:t>
            </a:r>
            <a:pPr algn="l" indent="0" marL="0">
              <a:buNone/>
            </a:pPr>
            <a:r>
              <a:rPr lang="en-US" sz="2850" b="1" spc="-93" kern="0" dirty="0">
                <a:solidFill>
                  <a:srgbClr val="849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(Das, SPIE 2021)</a:t>
            </a:r>
            <a:endParaRPr lang="en-US" sz="4650" dirty="0"/>
          </a:p>
        </p:txBody>
      </p:sp>
      <p:sp>
        <p:nvSpPr>
          <p:cNvPr id="28" name="Text 6"/>
          <p:cNvSpPr txBox="1"/>
          <p:nvPr/>
        </p:nvSpPr>
        <p:spPr>
          <a:xfrm>
            <a:off x="857707" y="2809951"/>
            <a:ext cx="168789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ECF2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P28·P30 피치, 산화막 도랑 깊이 </a:t>
            </a:r>
            <a:pPr algn="l" indent="0" marL="0">
              <a:buNone/>
            </a:pPr>
            <a:r>
              <a:rPr lang="en-US" sz="1650" b="1" dirty="0">
                <a:solidFill>
                  <a:srgbClr val="62D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60 nm</a:t>
            </a:r>
            <a:pPr algn="l" indent="0" marL="0">
              <a:buNone/>
            </a:pPr>
            <a:r>
              <a:rPr lang="en-US" sz="1650" dirty="0">
                <a:solidFill>
                  <a:srgbClr val="ECF2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TiN 배리어 </a:t>
            </a:r>
            <a:pPr algn="l" indent="0" marL="0">
              <a:buNone/>
            </a:pPr>
            <a:r>
              <a:rPr lang="en-US" sz="1650" b="1" dirty="0">
                <a:solidFill>
                  <a:srgbClr val="62D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1.5 nm</a:t>
            </a:r>
            <a:pPr algn="l" indent="0" marL="0">
              <a:buNone/>
            </a:pPr>
            <a:r>
              <a:rPr lang="en-US" sz="1650" dirty="0">
                <a:solidFill>
                  <a:srgbClr val="ECF2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Ru 충진 구조에서, </a:t>
            </a:r>
            <a:pPr algn="l" indent="0" marL="0">
              <a:buNone/>
            </a:pPr>
            <a:r>
              <a:rPr lang="en-US" sz="1650" b="1" dirty="0">
                <a:solidFill>
                  <a:srgbClr val="F5A35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 µm × 30 µm</a:t>
            </a:r>
            <a:pPr algn="l" indent="0" marL="0">
              <a:buNone/>
            </a:pPr>
            <a:r>
              <a:rPr lang="en-US" sz="1650" dirty="0">
                <a:solidFill>
                  <a:srgbClr val="ECF2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나 되는 산란계 광점보다 훨씬 작은 타겟을 머신러닝으로 풀어냈습니다.</a:t>
            </a:r>
            <a:endParaRPr lang="en-US" sz="1650" dirty="0"/>
          </a:p>
        </p:txBody>
      </p:sp>
      <p:sp>
        <p:nvSpPr>
          <p:cNvPr id="29" name="Text 7"/>
          <p:cNvSpPr txBox="1"/>
          <p:nvPr/>
        </p:nvSpPr>
        <p:spPr>
          <a:xfrm>
            <a:off x="1143000" y="4238244"/>
            <a:ext cx="3620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312" kern="0" dirty="0">
                <a:solidFill>
                  <a:srgbClr val="62D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LER PREDICTION</a:t>
            </a:r>
            <a:endParaRPr lang="en-US" sz="975" dirty="0"/>
          </a:p>
        </p:txBody>
      </p:sp>
      <p:sp>
        <p:nvSpPr>
          <p:cNvPr id="30" name="Text 8"/>
          <p:cNvSpPr txBox="1"/>
          <p:nvPr/>
        </p:nvSpPr>
        <p:spPr>
          <a:xfrm>
            <a:off x="1095451" y="4533595"/>
            <a:ext cx="4953305" cy="1028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100" b="1" spc="-324" kern="0" dirty="0">
                <a:solidFill>
                  <a:srgbClr val="ECF2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0.85</a:t>
            </a:r>
            <a:endParaRPr lang="en-US" sz="8100" dirty="0"/>
          </a:p>
        </p:txBody>
      </p:sp>
      <p:sp>
        <p:nvSpPr>
          <p:cNvPr id="31" name="Text 9"/>
          <p:cNvSpPr txBox="1"/>
          <p:nvPr/>
        </p:nvSpPr>
        <p:spPr>
          <a:xfrm>
            <a:off x="1143000" y="5715000"/>
            <a:ext cx="1143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849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R²</a:t>
            </a:r>
            <a:endParaRPr lang="en-US" sz="975" dirty="0"/>
          </a:p>
        </p:txBody>
      </p:sp>
      <p:sp>
        <p:nvSpPr>
          <p:cNvPr id="32" name="Text 10"/>
          <p:cNvSpPr txBox="1"/>
          <p:nvPr/>
        </p:nvSpPr>
        <p:spPr>
          <a:xfrm>
            <a:off x="1143000" y="6048756"/>
            <a:ext cx="4191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D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RMSE 0.03 nm</a:t>
            </a:r>
            <a:endParaRPr lang="en-US" sz="1350" dirty="0"/>
          </a:p>
        </p:txBody>
      </p:sp>
      <p:sp>
        <p:nvSpPr>
          <p:cNvPr id="33" name="Text 11"/>
          <p:cNvSpPr txBox="1"/>
          <p:nvPr/>
        </p:nvSpPr>
        <p:spPr>
          <a:xfrm>
            <a:off x="6762902" y="4238244"/>
            <a:ext cx="3620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312" kern="0" dirty="0">
                <a:solidFill>
                  <a:srgbClr val="22D3B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MEANDER RESISTANCE</a:t>
            </a:r>
            <a:endParaRPr lang="en-US" sz="975" dirty="0"/>
          </a:p>
        </p:txBody>
      </p:sp>
      <p:sp>
        <p:nvSpPr>
          <p:cNvPr id="34" name="Text 12"/>
          <p:cNvSpPr txBox="1"/>
          <p:nvPr/>
        </p:nvSpPr>
        <p:spPr>
          <a:xfrm>
            <a:off x="6715354" y="4533595"/>
            <a:ext cx="4953305" cy="1028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100" b="1" spc="-324" kern="0" dirty="0">
                <a:solidFill>
                  <a:srgbClr val="ECF2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&gt;0.93</a:t>
            </a:r>
            <a:endParaRPr lang="en-US" sz="8100" dirty="0"/>
          </a:p>
        </p:txBody>
      </p:sp>
      <p:sp>
        <p:nvSpPr>
          <p:cNvPr id="35" name="Text 13"/>
          <p:cNvSpPr txBox="1"/>
          <p:nvPr/>
        </p:nvSpPr>
        <p:spPr>
          <a:xfrm>
            <a:off x="6762902" y="5715000"/>
            <a:ext cx="1143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849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R²</a:t>
            </a:r>
            <a:endParaRPr lang="en-US" sz="975" dirty="0"/>
          </a:p>
        </p:txBody>
      </p:sp>
      <p:sp>
        <p:nvSpPr>
          <p:cNvPr id="36" name="Text 14"/>
          <p:cNvSpPr txBox="1"/>
          <p:nvPr/>
        </p:nvSpPr>
        <p:spPr>
          <a:xfrm>
            <a:off x="6762902" y="6048756"/>
            <a:ext cx="4191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CF2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메앤더 저항 예측</a:t>
            </a:r>
            <a:endParaRPr lang="en-US" sz="1350" dirty="0"/>
          </a:p>
        </p:txBody>
      </p:sp>
      <p:sp>
        <p:nvSpPr>
          <p:cNvPr id="37" name="Text 15"/>
          <p:cNvSpPr txBox="1"/>
          <p:nvPr/>
        </p:nvSpPr>
        <p:spPr>
          <a:xfrm>
            <a:off x="12382805" y="4238244"/>
            <a:ext cx="3620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312" kern="0" dirty="0">
                <a:solidFill>
                  <a:srgbClr val="F5A35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MEASURED · LER</a:t>
            </a:r>
            <a:endParaRPr lang="en-US" sz="975" dirty="0"/>
          </a:p>
        </p:txBody>
      </p:sp>
      <p:sp>
        <p:nvSpPr>
          <p:cNvPr id="38" name="Text 16"/>
          <p:cNvSpPr txBox="1"/>
          <p:nvPr/>
        </p:nvSpPr>
        <p:spPr>
          <a:xfrm>
            <a:off x="12335256" y="4533595"/>
            <a:ext cx="4953305" cy="1028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100" b="1" spc="-324" kern="0" dirty="0">
                <a:solidFill>
                  <a:srgbClr val="ECF2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1.6–2.0</a:t>
            </a:r>
            <a:endParaRPr lang="en-US" sz="8100" dirty="0"/>
          </a:p>
        </p:txBody>
      </p:sp>
      <p:sp>
        <p:nvSpPr>
          <p:cNvPr id="39" name="Text 17"/>
          <p:cNvSpPr txBox="1"/>
          <p:nvPr/>
        </p:nvSpPr>
        <p:spPr>
          <a:xfrm>
            <a:off x="12382805" y="5715000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849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nm · LER</a:t>
            </a:r>
            <a:endParaRPr lang="en-US" sz="975" dirty="0"/>
          </a:p>
        </p:txBody>
      </p:sp>
      <p:sp>
        <p:nvSpPr>
          <p:cNvPr id="40" name="Text 18"/>
          <p:cNvSpPr txBox="1"/>
          <p:nvPr/>
        </p:nvSpPr>
        <p:spPr>
          <a:xfrm>
            <a:off x="12382805" y="6048756"/>
            <a:ext cx="4763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CF2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초점 범위 전체</a:t>
            </a:r>
            <a:endParaRPr lang="en-US" sz="1350" dirty="0"/>
          </a:p>
        </p:txBody>
      </p:sp>
      <p:sp>
        <p:nvSpPr>
          <p:cNvPr id="41" name="Text 19"/>
          <p:cNvSpPr txBox="1"/>
          <p:nvPr/>
        </p:nvSpPr>
        <p:spPr>
          <a:xfrm>
            <a:off x="857707" y="9353398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49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출처: ScienceDirect — 56 nm pitch Cu dual-damascene interconnects (P28·P30 피치, 100 nm 스케일)</a:t>
            </a:r>
            <a:endParaRPr lang="en-US" sz="975" dirty="0"/>
          </a:p>
        </p:txBody>
      </p:sp>
      <p:sp>
        <p:nvSpPr>
          <p:cNvPr id="42" name="Text 20"/>
          <p:cNvSpPr txBox="1"/>
          <p:nvPr/>
        </p:nvSpPr>
        <p:spPr>
          <a:xfrm>
            <a:off x="9905695" y="6782105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252" kern="0" dirty="0">
                <a:solidFill>
                  <a:srgbClr val="62D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TIP-TO-TIP 실측</a:t>
            </a:r>
            <a:endParaRPr lang="en-US" sz="900" dirty="0"/>
          </a:p>
        </p:txBody>
      </p:sp>
      <p:sp>
        <p:nvSpPr>
          <p:cNvPr id="43" name="Text 21"/>
          <p:cNvSpPr txBox="1"/>
          <p:nvPr/>
        </p:nvSpPr>
        <p:spPr>
          <a:xfrm>
            <a:off x="9905695" y="7019849"/>
            <a:ext cx="1905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CF2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22–26</a:t>
            </a:r>
            <a:pPr algn="l" indent="0" marL="0">
              <a:buNone/>
            </a:pPr>
            <a:r>
              <a:rPr lang="en-US" sz="1350" b="1" dirty="0">
                <a:solidFill>
                  <a:srgbClr val="C2CF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nm</a:t>
            </a:r>
            <a:endParaRPr lang="en-US" sz="2400" dirty="0"/>
          </a:p>
        </p:txBody>
      </p:sp>
      <p:sp>
        <p:nvSpPr>
          <p:cNvPr id="44" name="Text 22"/>
          <p:cNvSpPr txBox="1"/>
          <p:nvPr/>
        </p:nvSpPr>
        <p:spPr>
          <a:xfrm>
            <a:off x="9905695" y="7392924"/>
            <a:ext cx="190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2CFE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60 nm 섬 사이</a:t>
            </a:r>
            <a:endParaRPr lang="en-US" sz="1050" dirty="0"/>
          </a:p>
        </p:txBody>
      </p:sp>
      <p:sp>
        <p:nvSpPr>
          <p:cNvPr id="45" name="Text 23"/>
          <p:cNvSpPr txBox="1"/>
          <p:nvPr/>
        </p:nvSpPr>
        <p:spPr>
          <a:xfrm>
            <a:off x="12477902" y="6782105"/>
            <a:ext cx="47631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2CFE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실측 LER은 초점 범위 전체에서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2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1.6–2.0 nm</a:t>
            </a:r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2CFE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였고, tip-to-tip은 60 nm 섬 사이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2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22–26 nm</a:t>
            </a:r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2CFE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였습니다.</a:t>
            </a:r>
            <a:endParaRPr lang="en-US" sz="1050" dirty="0"/>
          </a:p>
        </p:txBody>
      </p:sp>
      <p:sp>
        <p:nvSpPr>
          <p:cNvPr id="46" name="Text 24"/>
          <p:cNvSpPr txBox="1"/>
          <p:nvPr/>
        </p:nvSpPr>
        <p:spPr>
          <a:xfrm>
            <a:off x="9905695" y="8238744"/>
            <a:ext cx="5906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252" kern="0" dirty="0">
                <a:solidFill>
                  <a:srgbClr val="F5A35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iN5 세대 계측 기준</a:t>
            </a:r>
            <a:endParaRPr lang="en-US" sz="900" dirty="0"/>
          </a:p>
        </p:txBody>
      </p:sp>
      <p:sp>
        <p:nvSpPr>
          <p:cNvPr id="47" name="Text 25"/>
          <p:cNvSpPr txBox="1"/>
          <p:nvPr/>
        </p:nvSpPr>
        <p:spPr>
          <a:xfrm>
            <a:off x="9905695" y="8477402"/>
            <a:ext cx="59061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ECF2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M2 피치 32 nm / M1 42 nm · 금속 T2T CD 균일도 </a:t>
            </a:r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F5A3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&lt;1 nm</a:t>
            </a:r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ECF2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3σ · 금속 팁 위치 EPE </a:t>
            </a:r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F5A3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~5 nm</a:t>
            </a:r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ECF2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3σ</a:t>
            </a:r>
            <a:endParaRPr lang="en-US" sz="1275" dirty="0"/>
          </a:p>
        </p:txBody>
      </p:sp>
      <p:sp>
        <p:nvSpPr>
          <p:cNvPr id="48" name="Text 26"/>
          <p:cNvSpPr txBox="1"/>
          <p:nvPr/>
        </p:nvSpPr>
        <p:spPr>
          <a:xfrm>
            <a:off x="14287500" y="8906256"/>
            <a:ext cx="29535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b="1" spc="252" kern="0" dirty="0">
                <a:solidFill>
                  <a:srgbClr val="849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SALELE · 18 nm</a:t>
            </a:r>
            <a:endParaRPr lang="en-US" sz="900" dirty="0"/>
          </a:p>
        </p:txBody>
      </p:sp>
      <p:sp>
        <p:nvSpPr>
          <p:cNvPr id="49" name="Text 27"/>
          <p:cNvSpPr txBox="1"/>
          <p:nvPr/>
        </p:nvSpPr>
        <p:spPr>
          <a:xfrm>
            <a:off x="14287500" y="9124798"/>
            <a:ext cx="29535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2CFE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가상공정 연구 출발점</a:t>
            </a:r>
            <a:endParaRPr lang="en-US" sz="1050" dirty="0"/>
          </a:p>
        </p:txBody>
      </p:sp>
      <p:sp>
        <p:nvSpPr>
          <p:cNvPr id="50" name="Text 28"/>
          <p:cNvSpPr txBox="1"/>
          <p:nvPr/>
        </p:nvSpPr>
        <p:spPr>
          <a:xfrm>
            <a:off x="857707" y="9667951"/>
            <a:ext cx="6667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i="1" dirty="0">
                <a:solidFill>
                  <a:srgbClr val="849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 nm 피치로 내려오면 이 예산이 그대로 남을 수 없다는 게 SALELE 가상공정 연구의 출발점입니다.</a:t>
            </a:r>
            <a:endParaRPr lang="en-US" sz="975" dirty="0"/>
          </a:p>
        </p:txBody>
      </p:sp>
      <p:sp>
        <p:nvSpPr>
          <p:cNvPr id="51" name="Text 29"/>
          <p:cNvSpPr txBox="1"/>
          <p:nvPr/>
        </p:nvSpPr>
        <p:spPr>
          <a:xfrm>
            <a:off x="15430500" y="9924898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8493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002 / 003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3b9740b3b2193c1faca90efe89ce9d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6d63136b635ef0301eab6bda01007493.png">    </p:cNvPr>
          <p:cNvPicPr>
            <a:picLocks noChangeAspect="1"/>
          </p:cNvPicPr>
          <p:nvPr/>
        </p:nvPicPr>
        <p:blipFill>
          <a:blip r:embed="rId2"/>
          <a:srcRect l="0" r="0" t="-2083" b="-2083"/>
          <a:stretch/>
        </p:blipFill>
        <p:spPr>
          <a:xfrm>
            <a:off x="571500" y="0"/>
            <a:ext cx="9144" cy="10287000"/>
          </a:xfrm>
          <a:prstGeom prst="rect">
            <a:avLst/>
          </a:prstGeom>
        </p:spPr>
      </p:pic>
      <p:pic>
        <p:nvPicPr>
          <p:cNvPr id="4" name="Image 2" descr="gen-dedup-4052b5466ce4382ac861c303fb2c4b2b.png">    </p:cNvPr>
          <p:cNvPicPr>
            <a:picLocks noChangeAspect="1"/>
          </p:cNvPicPr>
          <p:nvPr/>
        </p:nvPicPr>
        <p:blipFill>
          <a:blip r:embed="rId3"/>
          <a:srcRect l="-4" r="-4" t="0" b="0"/>
          <a:stretch/>
        </p:blipFill>
        <p:spPr>
          <a:xfrm>
            <a:off x="13811098" y="1524305"/>
            <a:ext cx="3619195" cy="1904695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3811098" y="3619195"/>
            <a:ext cx="3619195" cy="2190902"/>
          </a:xfrm>
          <a:prstGeom prst="rect">
            <a:avLst/>
          </a:prstGeom>
          <a:solidFill>
            <a:srgbClr val="04080F"/>
          </a:solidFill>
          <a:ln w="12700">
            <a:solidFill>
              <a:srgbClr val="7691C7">
                <a:alpha val="20000"/>
              </a:srgbClr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13811098" y="6286500"/>
            <a:ext cx="3619195" cy="2095805"/>
          </a:xfrm>
          <a:prstGeom prst="rect">
            <a:avLst/>
          </a:prstGeom>
          <a:solidFill>
            <a:srgbClr val="04080F"/>
          </a:solidFill>
          <a:ln w="12700">
            <a:solidFill>
              <a:srgbClr val="7691C7">
                <a:alpha val="20000"/>
              </a:srgbClr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857707" y="4714646"/>
            <a:ext cx="12763195" cy="1095451"/>
          </a:xfrm>
          <a:prstGeom prst="rect">
            <a:avLst/>
          </a:prstGeom>
          <a:solidFill>
            <a:srgbClr val="0F1B30">
              <a:alpha val="65000"/>
            </a:srgbClr>
          </a:solidFill>
          <a:ln w="12700">
            <a:solidFill>
              <a:srgbClr val="7691C7">
                <a:alpha val="20000"/>
              </a:srgbClr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857707" y="5952744"/>
            <a:ext cx="12763195" cy="1095451"/>
          </a:xfrm>
          <a:prstGeom prst="rect">
            <a:avLst/>
          </a:prstGeom>
          <a:solidFill>
            <a:srgbClr val="0F1B30">
              <a:alpha val="65000"/>
            </a:srgbClr>
          </a:solidFill>
          <a:ln w="12700">
            <a:solidFill>
              <a:srgbClr val="7691C7">
                <a:alpha val="2000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857707" y="7191756"/>
            <a:ext cx="12763195" cy="1095451"/>
          </a:xfrm>
          <a:prstGeom prst="rect">
            <a:avLst/>
          </a:prstGeom>
          <a:solidFill>
            <a:srgbClr val="0F1B30">
              <a:alpha val="65000"/>
            </a:srgbClr>
          </a:solidFill>
          <a:ln w="12700">
            <a:solidFill>
              <a:srgbClr val="7691C7">
                <a:alpha val="20000"/>
              </a:srgbClr>
            </a:solidFill>
            <a:prstDash val="solid"/>
          </a:ln>
        </p:spPr>
      </p:sp>
      <p:pic>
        <p:nvPicPr>
          <p:cNvPr id="10" name="Image 3" descr="gen-dedup-d550d170cc4314449acb05ed09e7b751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857707" y="8524951"/>
            <a:ext cx="12763195" cy="9144"/>
          </a:xfrm>
          <a:prstGeom prst="rect">
            <a:avLst/>
          </a:prstGeom>
        </p:spPr>
      </p:pic>
      <p:pic>
        <p:nvPicPr>
          <p:cNvPr id="11" name="Image 4" descr="gen-dedup-84eddcdd02e487bef2ec3c22e803d70e.png">    </p:cNvPr>
          <p:cNvPicPr>
            <a:picLocks noChangeAspect="1"/>
          </p:cNvPicPr>
          <p:nvPr/>
        </p:nvPicPr>
        <p:blipFill>
          <a:blip r:embed="rId5"/>
          <a:srcRect l="-400" r="-400" t="0" b="0"/>
          <a:stretch/>
        </p:blipFill>
        <p:spPr>
          <a:xfrm>
            <a:off x="13811098" y="1524305"/>
            <a:ext cx="3619195" cy="28346"/>
          </a:xfrm>
          <a:prstGeom prst="rect">
            <a:avLst/>
          </a:prstGeom>
        </p:spPr>
      </p:pic>
      <p:pic>
        <p:nvPicPr>
          <p:cNvPr id="12" name="Image 5" descr="gen-dedup-f9998b6a0b16e1bee63714415caf93c5.png">    </p:cNvPr>
          <p:cNvPicPr>
            <a:picLocks noChangeAspect="1"/>
          </p:cNvPicPr>
          <p:nvPr/>
        </p:nvPicPr>
        <p:blipFill>
          <a:blip r:embed="rId6"/>
          <a:srcRect l="0" r="0" t="-320" b="-320"/>
          <a:stretch/>
        </p:blipFill>
        <p:spPr>
          <a:xfrm>
            <a:off x="13811098" y="3619195"/>
            <a:ext cx="286207" cy="19202"/>
          </a:xfrm>
          <a:prstGeom prst="rect">
            <a:avLst/>
          </a:prstGeom>
        </p:spPr>
      </p:pic>
      <p:pic>
        <p:nvPicPr>
          <p:cNvPr id="13" name="Image 6" descr="gen-dedup-33d1a811266595df1b0b2b5d8178b5f1.png">    </p:cNvPr>
          <p:cNvPicPr>
            <a:picLocks noChangeAspect="1"/>
          </p:cNvPicPr>
          <p:nvPr/>
        </p:nvPicPr>
        <p:blipFill>
          <a:blip r:embed="rId7"/>
          <a:srcRect l="-320" r="-320" t="0" b="0"/>
          <a:stretch/>
        </p:blipFill>
        <p:spPr>
          <a:xfrm>
            <a:off x="13811098" y="3619195"/>
            <a:ext cx="19202" cy="286207"/>
          </a:xfrm>
          <a:prstGeom prst="rect">
            <a:avLst/>
          </a:prstGeom>
        </p:spPr>
      </p:pic>
      <p:sp>
        <p:nvSpPr>
          <p:cNvPr id="14" name="Shape 5"/>
          <p:cNvSpPr/>
          <p:nvPr/>
        </p:nvSpPr>
        <p:spPr>
          <a:xfrm>
            <a:off x="857707" y="4714646"/>
            <a:ext cx="571500" cy="1095451"/>
          </a:xfrm>
          <a:prstGeom prst="rect">
            <a:avLst/>
          </a:prstGeom>
          <a:solidFill>
            <a:srgbClr val="62D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6"/>
          <p:cNvSpPr/>
          <p:nvPr/>
        </p:nvSpPr>
        <p:spPr>
          <a:xfrm>
            <a:off x="857707" y="5952744"/>
            <a:ext cx="571500" cy="1095451"/>
          </a:xfrm>
          <a:prstGeom prst="rect">
            <a:avLst/>
          </a:prstGeom>
          <a:solidFill>
            <a:srgbClr val="22D3B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7"/>
          <p:cNvSpPr/>
          <p:nvPr/>
        </p:nvSpPr>
        <p:spPr>
          <a:xfrm>
            <a:off x="857707" y="7191756"/>
            <a:ext cx="571500" cy="1095451"/>
          </a:xfrm>
          <a:prstGeom prst="rect">
            <a:avLst/>
          </a:prstGeom>
          <a:solidFill>
            <a:srgbClr val="F5A3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7" descr="gen-dedup-fd8e3fc5537b1e5db9ec543d0c8b659c.png">    </p:cNvPr>
          <p:cNvPicPr>
            <a:picLocks noChangeAspect="1"/>
          </p:cNvPicPr>
          <p:nvPr/>
        </p:nvPicPr>
        <p:blipFill>
          <a:blip r:embed="rId8"/>
          <a:srcRect l="-395" r="-395" t="0" b="0"/>
          <a:stretch/>
        </p:blipFill>
        <p:spPr>
          <a:xfrm>
            <a:off x="857707" y="3619195"/>
            <a:ext cx="1904695" cy="28346"/>
          </a:xfrm>
          <a:prstGeom prst="rect">
            <a:avLst/>
          </a:prstGeom>
        </p:spPr>
      </p:pic>
      <p:pic>
        <p:nvPicPr>
          <p:cNvPr id="18" name="Image 8" descr="gen-dedup-f0a2c61f1e331f4f5675d9c13f298ed9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53744" y="3762756"/>
            <a:ext cx="3333902" cy="1904695"/>
          </a:xfrm>
          <a:prstGeom prst="rect">
            <a:avLst/>
          </a:prstGeom>
        </p:spPr>
      </p:pic>
      <p:pic>
        <p:nvPicPr>
          <p:cNvPr id="19" name="Image 9" descr="gen-dedup-20628e02614326cb957507db3e59db32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953744" y="6429146"/>
            <a:ext cx="3333902" cy="1809598"/>
          </a:xfrm>
          <a:prstGeom prst="rect">
            <a:avLst/>
          </a:prstGeom>
        </p:spPr>
      </p:pic>
      <p:sp>
        <p:nvSpPr>
          <p:cNvPr id="20" name="Shape 8"/>
          <p:cNvSpPr/>
          <p:nvPr/>
        </p:nvSpPr>
        <p:spPr>
          <a:xfrm>
            <a:off x="17526305" y="9525305"/>
            <a:ext cx="57607" cy="57607"/>
          </a:xfrm>
          <a:prstGeom prst="rect">
            <a:avLst/>
          </a:prstGeom>
          <a:solidFill>
            <a:srgbClr val="F5A3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9"/>
          <p:cNvSpPr txBox="1"/>
          <p:nvPr/>
        </p:nvSpPr>
        <p:spPr>
          <a:xfrm>
            <a:off x="857707" y="571500"/>
            <a:ext cx="2857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849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DUMMY · 02 / 30</a:t>
            </a:r>
            <a:endParaRPr lang="en-US" sz="975" dirty="0"/>
          </a:p>
        </p:txBody>
      </p:sp>
      <p:sp>
        <p:nvSpPr>
          <p:cNvPr id="22" name="Text 10"/>
          <p:cNvSpPr txBox="1"/>
          <p:nvPr/>
        </p:nvSpPr>
        <p:spPr>
          <a:xfrm>
            <a:off x="14287500" y="571500"/>
            <a:ext cx="3048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273" kern="0" dirty="0">
                <a:solidFill>
                  <a:srgbClr val="849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CLOSING · SUMMARY</a:t>
            </a:r>
            <a:endParaRPr lang="en-US" sz="975" dirty="0"/>
          </a:p>
        </p:txBody>
      </p:sp>
      <p:sp>
        <p:nvSpPr>
          <p:cNvPr id="23" name="Shape 11"/>
          <p:cNvSpPr/>
          <p:nvPr/>
        </p:nvSpPr>
        <p:spPr>
          <a:xfrm>
            <a:off x="857707" y="1076249"/>
            <a:ext cx="1647749" cy="352044"/>
          </a:xfrm>
          <a:prstGeom prst="roundRect">
            <a:avLst>
              <a:gd name="adj" fmla="val 5455"/>
            </a:avLst>
          </a:prstGeom>
          <a:noFill/>
          <a:ln w="12700">
            <a:solidFill>
              <a:srgbClr val="F5A35D"/>
            </a:solidFill>
            <a:prstDash val="solid"/>
          </a:ln>
        </p:spPr>
      </p:sp>
      <p:sp>
        <p:nvSpPr>
          <p:cNvPr id="24" name="Text 12"/>
          <p:cNvSpPr txBox="1"/>
          <p:nvPr/>
        </p:nvSpPr>
        <p:spPr>
          <a:xfrm>
            <a:off x="857707" y="1076249"/>
            <a:ext cx="1648663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A35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신뢰성 · SHIFT</a:t>
            </a:r>
            <a:endParaRPr lang="en-US" sz="1200" dirty="0"/>
          </a:p>
        </p:txBody>
      </p:sp>
      <p:sp>
        <p:nvSpPr>
          <p:cNvPr id="25" name="Text 13"/>
          <p:cNvSpPr txBox="1"/>
          <p:nvPr/>
        </p:nvSpPr>
        <p:spPr>
          <a:xfrm>
            <a:off x="857707" y="1524305"/>
            <a:ext cx="15916046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550" b="1" spc="-111" kern="0" dirty="0">
                <a:solidFill>
                  <a:srgbClr val="ECF2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신뢰성: </a:t>
            </a:r>
            <a:pPr algn="l" indent="0" marL="0">
              <a:buNone/>
            </a:pPr>
            <a:r>
              <a:rPr lang="en-US" sz="5550" b="1" spc="-111" kern="0" dirty="0">
                <a:solidFill>
                  <a:srgbClr val="F5A35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단일 배선으로 잠금하던 기준</a:t>
            </a:r>
            <a:pPr algn="l" indent="0" marL="0">
              <a:buNone/>
            </a:pPr>
            <a:r>
              <a:rPr lang="en-US" sz="5550" b="1" spc="-111" kern="0" dirty="0">
                <a:solidFill>
                  <a:srgbClr val="ECF2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이</a:t>
            </a:r>
            <a:endParaRPr lang="en-US" sz="5550" dirty="0"/>
          </a:p>
        </p:txBody>
      </p:sp>
      <p:sp>
        <p:nvSpPr>
          <p:cNvPr id="26" name="Text 14"/>
          <p:cNvSpPr txBox="1"/>
          <p:nvPr/>
        </p:nvSpPr>
        <p:spPr>
          <a:xfrm>
            <a:off x="857707" y="2359152"/>
            <a:ext cx="12382805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550" b="1" spc="-111" kern="0" dirty="0">
                <a:solidFill>
                  <a:srgbClr val="ECF2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무너지는 중</a:t>
            </a:r>
            <a:endParaRPr lang="en-US" sz="5550" dirty="0"/>
          </a:p>
        </p:txBody>
      </p:sp>
      <p:sp>
        <p:nvSpPr>
          <p:cNvPr id="27" name="Text 15"/>
          <p:cNvSpPr txBox="1"/>
          <p:nvPr/>
        </p:nvSpPr>
        <p:spPr>
          <a:xfrm>
            <a:off x="857707" y="3905402"/>
            <a:ext cx="10478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ECF2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단일 비아 공정, 머신러닝 계측, iN5 예산의 세 갈래가 동시에 흔들리고 있습니다.</a:t>
            </a:r>
            <a:endParaRPr lang="en-US" sz="1650" dirty="0"/>
          </a:p>
        </p:txBody>
      </p:sp>
      <p:sp>
        <p:nvSpPr>
          <p:cNvPr id="28" name="Text 16"/>
          <p:cNvSpPr txBox="1"/>
          <p:nvPr/>
        </p:nvSpPr>
        <p:spPr>
          <a:xfrm>
            <a:off x="14097305" y="1762049"/>
            <a:ext cx="31437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288" kern="0" dirty="0">
                <a:solidFill>
                  <a:srgbClr val="F5A35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CLOSING QUESTION</a:t>
            </a:r>
            <a:endParaRPr lang="en-US" sz="900" dirty="0"/>
          </a:p>
        </p:txBody>
      </p:sp>
      <p:sp>
        <p:nvSpPr>
          <p:cNvPr id="29" name="Text 17"/>
          <p:cNvSpPr txBox="1"/>
          <p:nvPr/>
        </p:nvSpPr>
        <p:spPr>
          <a:xfrm>
            <a:off x="14097305" y="2048256"/>
            <a:ext cx="3143707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50" b="1" spc="-234" kern="0" dirty="0">
                <a:solidFill>
                  <a:srgbClr val="ECF2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</a:t>
            </a:r>
            <a:pPr algn="l" indent="0" marL="0">
              <a:buNone/>
            </a:pPr>
            <a:r>
              <a:rPr lang="en-US" sz="2400" b="1" spc="-234" kern="0" dirty="0">
                <a:solidFill>
                  <a:srgbClr val="C2CF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nm</a:t>
            </a:r>
            <a:endParaRPr lang="en-US" sz="5850" dirty="0"/>
          </a:p>
        </p:txBody>
      </p:sp>
      <p:sp>
        <p:nvSpPr>
          <p:cNvPr id="30" name="Text 18"/>
          <p:cNvSpPr txBox="1"/>
          <p:nvPr/>
        </p:nvSpPr>
        <p:spPr>
          <a:xfrm>
            <a:off x="14097305" y="2924251"/>
            <a:ext cx="31437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C2CFE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피치로 내려가도 이 예산이 남을 수 있는가</a:t>
            </a:r>
            <a:endParaRPr lang="en-US" sz="975" dirty="0"/>
          </a:p>
        </p:txBody>
      </p:sp>
      <p:sp>
        <p:nvSpPr>
          <p:cNvPr id="31" name="Text 19"/>
          <p:cNvSpPr txBox="1"/>
          <p:nvPr/>
        </p:nvSpPr>
        <p:spPr>
          <a:xfrm>
            <a:off x="14097305" y="3238805"/>
            <a:ext cx="31437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198" kern="0" dirty="0">
                <a:solidFill>
                  <a:srgbClr val="849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SALELE 가상공정 출발점</a:t>
            </a:r>
            <a:endParaRPr lang="en-US" sz="825" dirty="0"/>
          </a:p>
        </p:txBody>
      </p:sp>
      <p:sp>
        <p:nvSpPr>
          <p:cNvPr id="32" name="Text 20"/>
          <p:cNvSpPr txBox="1"/>
          <p:nvPr/>
        </p:nvSpPr>
        <p:spPr>
          <a:xfrm>
            <a:off x="13811098" y="5857646"/>
            <a:ext cx="403707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49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출처: Semantic Scholar — Air-gap layer in Cu damascene SEM</a:t>
            </a:r>
            <a:endParaRPr lang="en-US" sz="900" dirty="0"/>
          </a:p>
        </p:txBody>
      </p:sp>
      <p:sp>
        <p:nvSpPr>
          <p:cNvPr id="33" name="Text 21"/>
          <p:cNvSpPr txBox="1"/>
          <p:nvPr/>
        </p:nvSpPr>
        <p:spPr>
          <a:xfrm>
            <a:off x="13811098" y="8429854"/>
            <a:ext cx="3620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49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출처: ScienceDirect — Ru silicidation in-situ TEM</a:t>
            </a:r>
            <a:endParaRPr lang="en-US" sz="900" dirty="0"/>
          </a:p>
        </p:txBody>
      </p:sp>
      <p:sp>
        <p:nvSpPr>
          <p:cNvPr id="34" name="Text 22"/>
          <p:cNvSpPr txBox="1"/>
          <p:nvPr/>
        </p:nvSpPr>
        <p:spPr>
          <a:xfrm>
            <a:off x="960120" y="5057546"/>
            <a:ext cx="372161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60E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400" dirty="0"/>
          </a:p>
        </p:txBody>
      </p:sp>
      <p:sp>
        <p:nvSpPr>
          <p:cNvPr id="35" name="Text 23"/>
          <p:cNvSpPr txBox="1"/>
          <p:nvPr/>
        </p:nvSpPr>
        <p:spPr>
          <a:xfrm>
            <a:off x="1666951" y="4886554"/>
            <a:ext cx="1524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252" kern="0" dirty="0">
                <a:solidFill>
                  <a:srgbClr val="62D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VIA</a:t>
            </a:r>
            <a:endParaRPr lang="en-US" sz="900" dirty="0"/>
          </a:p>
        </p:txBody>
      </p:sp>
      <p:sp>
        <p:nvSpPr>
          <p:cNvPr id="36" name="Text 24"/>
          <p:cNvSpPr txBox="1"/>
          <p:nvPr/>
        </p:nvSpPr>
        <p:spPr>
          <a:xfrm>
            <a:off x="1666951" y="5086807"/>
            <a:ext cx="1524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공정 진화</a:t>
            </a:r>
            <a:endParaRPr lang="en-US" sz="1050" dirty="0"/>
          </a:p>
        </p:txBody>
      </p:sp>
      <p:sp>
        <p:nvSpPr>
          <p:cNvPr id="37" name="Text 25"/>
          <p:cNvSpPr txBox="1"/>
          <p:nvPr/>
        </p:nvSpPr>
        <p:spPr>
          <a:xfrm>
            <a:off x="3381451" y="4867351"/>
            <a:ext cx="10096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ECF2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M1에서 M4로 두 레벨을 건너뛰는 단일 비아 — 공정 A→D로 가면서 TiN 하드마스크 침식과 언더캷을 줄인 과정이 HAADF-STEM 단면과 top-down CD-SEM으로 나란히 비교됩니다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62D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(Fig. 3, 8패널)</a:t>
            </a:r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ECF2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575" dirty="0"/>
          </a:p>
        </p:txBody>
      </p:sp>
      <p:sp>
        <p:nvSpPr>
          <p:cNvPr id="38" name="Text 26"/>
          <p:cNvSpPr txBox="1"/>
          <p:nvPr/>
        </p:nvSpPr>
        <p:spPr>
          <a:xfrm>
            <a:off x="960120" y="6295644"/>
            <a:ext cx="372161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60E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400" dirty="0"/>
          </a:p>
        </p:txBody>
      </p:sp>
      <p:sp>
        <p:nvSpPr>
          <p:cNvPr id="39" name="Text 27"/>
          <p:cNvSpPr txBox="1"/>
          <p:nvPr/>
        </p:nvSpPr>
        <p:spPr>
          <a:xfrm>
            <a:off x="1666951" y="6124651"/>
            <a:ext cx="1524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252" kern="0" dirty="0">
                <a:solidFill>
                  <a:srgbClr val="22D3B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METROLOGY</a:t>
            </a:r>
            <a:endParaRPr lang="en-US" sz="900" dirty="0"/>
          </a:p>
        </p:txBody>
      </p:sp>
      <p:sp>
        <p:nvSpPr>
          <p:cNvPr id="40" name="Text 28"/>
          <p:cNvSpPr txBox="1"/>
          <p:nvPr/>
        </p:nvSpPr>
        <p:spPr>
          <a:xfrm>
            <a:off x="1666951" y="6324905"/>
            <a:ext cx="1524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예측과 실측</a:t>
            </a:r>
            <a:endParaRPr lang="en-US" sz="1050" dirty="0"/>
          </a:p>
        </p:txBody>
      </p:sp>
      <p:sp>
        <p:nvSpPr>
          <p:cNvPr id="41" name="Text 29"/>
          <p:cNvSpPr txBox="1"/>
          <p:nvPr/>
        </p:nvSpPr>
        <p:spPr>
          <a:xfrm>
            <a:off x="3381451" y="6105449"/>
            <a:ext cx="10096805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ECF2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LER 예측 </a:t>
            </a:r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62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R² = 0.85</a:t>
            </a:r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ECF2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RMSE </a:t>
            </a:r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62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0.03 nm</a:t>
            </a:r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ECF2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메앤더 저항 예측 </a:t>
            </a:r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62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R² &gt; 0.93</a:t>
            </a:r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ECF2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 실측 LER은 초점 범위 전체에서 </a:t>
            </a:r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62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1.6–2.0 nm</a:t>
            </a:r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ECF2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였고, tip-to-tip은 60 nm 섬 사이 </a:t>
            </a:r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62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22–26 nm</a:t>
            </a:r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ECF2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였습니다.</a:t>
            </a:r>
            <a:endParaRPr lang="en-US" sz="1575" dirty="0"/>
          </a:p>
        </p:txBody>
      </p:sp>
      <p:sp>
        <p:nvSpPr>
          <p:cNvPr id="42" name="Text 30"/>
          <p:cNvSpPr txBox="1"/>
          <p:nvPr/>
        </p:nvSpPr>
        <p:spPr>
          <a:xfrm>
            <a:off x="960120" y="7534656"/>
            <a:ext cx="372161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60E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400" dirty="0"/>
          </a:p>
        </p:txBody>
      </p:sp>
      <p:sp>
        <p:nvSpPr>
          <p:cNvPr id="43" name="Text 31"/>
          <p:cNvSpPr txBox="1"/>
          <p:nvPr/>
        </p:nvSpPr>
        <p:spPr>
          <a:xfrm>
            <a:off x="1666951" y="7362749"/>
            <a:ext cx="1524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252" kern="0" dirty="0">
                <a:solidFill>
                  <a:srgbClr val="F5A35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BUDGET</a:t>
            </a:r>
            <a:endParaRPr lang="en-US" sz="900" dirty="0"/>
          </a:p>
        </p:txBody>
      </p:sp>
      <p:sp>
        <p:nvSpPr>
          <p:cNvPr id="44" name="Text 32"/>
          <p:cNvSpPr txBox="1"/>
          <p:nvPr/>
        </p:nvSpPr>
        <p:spPr>
          <a:xfrm>
            <a:off x="1666951" y="7563002"/>
            <a:ext cx="1524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iN5 기준선</a:t>
            </a:r>
            <a:endParaRPr lang="en-US" sz="1050" dirty="0"/>
          </a:p>
        </p:txBody>
      </p:sp>
      <p:sp>
        <p:nvSpPr>
          <p:cNvPr id="45" name="Text 33"/>
          <p:cNvSpPr txBox="1"/>
          <p:nvPr/>
        </p:nvSpPr>
        <p:spPr>
          <a:xfrm>
            <a:off x="3381451" y="7343546"/>
            <a:ext cx="10096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ECF2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iN5세대 계측 기준은 M2 피치 32 nm / M1 42 nm에서 금속 T2T CD 균일도 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F5A35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&lt;1 nm</a:t>
            </a:r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ECF2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3σ, 금속 팁 위치 EPE 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F5A35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~5 nm</a:t>
            </a:r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ECF2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3σ였습니다. 18 nm 피치로 내려오면 이 예산이 그대로 남을 수 없다는 게 SALELE 가상공정 연구의 출발점입니다.</a:t>
            </a:r>
            <a:endParaRPr lang="en-US" sz="1575" dirty="0"/>
          </a:p>
        </p:txBody>
      </p:sp>
      <p:sp>
        <p:nvSpPr>
          <p:cNvPr id="46" name="Text 34"/>
          <p:cNvSpPr txBox="1"/>
          <p:nvPr/>
        </p:nvSpPr>
        <p:spPr>
          <a:xfrm>
            <a:off x="857707" y="8762695"/>
            <a:ext cx="8572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849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단일 배선 잠금 해제 · 다중 축 동시 검토</a:t>
            </a:r>
            <a:endParaRPr lang="en-US" sz="1050" dirty="0"/>
          </a:p>
        </p:txBody>
      </p:sp>
      <p:sp>
        <p:nvSpPr>
          <p:cNvPr id="47" name="Text 35"/>
          <p:cNvSpPr txBox="1"/>
          <p:nvPr/>
        </p:nvSpPr>
        <p:spPr>
          <a:xfrm>
            <a:off x="857707" y="9525305"/>
            <a:ext cx="2857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493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003 / 003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2026-10-03T16:43:38Z</dcterms:created>
  <dcterms:modified xsi:type="dcterms:W3CDTF">2026-10-03T16:43:38Z</dcterms:modified>
</cp:coreProperties>
</file>