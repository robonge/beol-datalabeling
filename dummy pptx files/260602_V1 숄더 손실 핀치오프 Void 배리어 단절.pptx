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비아 챔퍼" id="{96cc3f5e-e6f6-e8aa-c941-7c7058c65f1b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Recess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9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초기 (WAT 통과)</c:v>
                  </c:pt>
                  <c:pt idx="1">
                    <c:v>스트레스 후 (하한)</c:v>
                  </c:pt>
                  <c:pt idx="2">
                    <c:v>스트레스 후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A5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2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2E"/>
        </a:solidFill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VFTL · SHOULDER LOSS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비아 챔퍼 붕괴 → PVD 오버행 → 핀치오프 Void → 배리어 단절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1D5DB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em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8253" y="1280160"/>
            <a:ext cx="3164750" cy="2103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3429000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 시험 후 CU 배선 VOID·박리 단면 SEM — 유사 결함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3785616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도미노 기전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4114800"/>
            <a:ext cx="3367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침투한 Cu⁺는 수분(Si-OH)과 반응해 Low-k 내부 전하 트랩을 포화시키고 절연막을 단숨에 관통.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전기장이 활성화 에너지를 낮춘다는 E-Model / E²-Model로 해석.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1D5DB"/>
                </a:solidFill>
              </a:rPr>
              <a:t>구조적 무너짐 → 확산 방어선 파괴 + 유전막 화학적 취약성 극대화 → 전기적 수명 근본 박탈.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챔퍼 붕괴는 Void(Open)와 배리어 단절(TDDB) 두 경로로 동시에 수명을 깎는 도미노 기전.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평가 · HTOL / TDDB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스트레스 후 Cu Recess 2–3배 · 검증 방법과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93776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RECESS 상대 깊이 — 수십 H 열·전기 응력 후 2–3배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760720" y="1280160"/>
            <a:ext cx="5973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검증 방법·판독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591056"/>
          <a:ext cx="5973775" cy="914400"/>
        </p:xfrm>
        <a:graphic>
          <a:graphicData uri="http://schemas.openxmlformats.org/drawingml/2006/table">
            <a:tbl>
              <a:tblPr/>
              <a:tblGrid>
                <a:gridCol w="889711"/>
                <a:gridCol w="2033626"/>
                <a:gridCol w="305043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측정·판독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0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물리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단계별 TEM + EDX 매핑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비아 프로파일, 모서리 Ta 두께, 바닥 Cu Recess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물리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과도 플라즈마 파워 조건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비아 바닥·챔퍼 Cu 산화·유실, TaN 단절 관찰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신뢰성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HTOL / 고전류 EM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WAT 통과 칩도 수십 h 후 Recess 2–3배 → 급격 고장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신뢰성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TDDB (E / E² 모델)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</a:rPr>
                        <a:t>챔퍼 경유 Cu⁺ 드리프트 → 트랩 포화 → 단락 경로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판독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Void(Open)와 배리어 단절(TDDB) · 두 경로가 동시에 수명을 깎는다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2E3A5C"/>
            </a:solidFill>
            <a:prstDash val="solid"/>
          </a:ln>
        </p:spPr>
      </p:sp>
      <p:pic>
        <p:nvPicPr>
          <p:cNvPr id="5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1280160"/>
            <a:ext cx="3200400" cy="11754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534095" y="25013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경로 1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 Gap-fill 실패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865376"/>
            <a:ext cx="226557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D1D5DB"/>
                </a:solidFill>
              </a:rPr>
              <a:t>오버행으로 좁아진 입구가 도금액이 바닥을 채우기 전에 막힘(Top pinch-off). 비아 하단·트렌치 경계에 거대 Void → 비아 저항 비정상 상승, 최악 Open.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951378" y="1280160"/>
            <a:ext cx="0" cy="39776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79978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경로 2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3179978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Barrier Step Coverage 붕괴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179978" y="1865376"/>
            <a:ext cx="226557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D1D5DB"/>
                </a:solidFill>
              </a:rPr>
              <a:t>무너진 챔퍼 측벽에 TaN이 극히 얇거나 없음(Zero Step Coverage). Cu 원자가 다공성 Low-k로 침투하는 것을 막는 핵심 방어막 단절.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74157" y="1280160"/>
            <a:ext cx="0" cy="3977640"/>
          </a:xfrm>
          <a:prstGeom prst="line">
            <a:avLst/>
          </a:prstGeom>
          <a:noFill/>
          <a:ln w="6350">
            <a:solidFill>
              <a:srgbClr val="2E3A5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02757" y="1280160"/>
            <a:ext cx="22655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장기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5902757" y="1517904"/>
            <a:ext cx="2265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HTOL·EM·TDDB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902757" y="1865376"/>
            <a:ext cx="2265578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D1D5DB"/>
                </a:solidFill>
              </a:rPr>
              <a:t>WAT 통과 칩도 수십 h 응력 후 Recess 2–3배 → 급격 고장. Cu⁺가 Si-OH와 반응해 트랩 포화 → 절연막 관통 단락 경로 (E / E² 모델).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7711135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5513832"/>
            <a:ext cx="77111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</a:rPr>
              <a:t>챔퍼 붕괴는 Void(Open)와 배리어 단절(TDDB) 두 경로로 동시에 수명을 깎는 도미노 기전.</a:t>
            </a:r>
            <a:endParaRPr lang="en-US" sz="1000" dirty="0"/>
          </a:p>
        </p:txBody>
      </p:sp>
      <p:sp>
        <p:nvSpPr>
          <p:cNvPr id="2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inkCoral">
  <a:themeElements>
    <a:clrScheme name="Turquoise DS inkCoral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FF6B6B"/>
      </a:accent1>
      <a:accent2>
        <a:srgbClr val="FF8E72"/>
      </a:accent2>
      <a:accent3>
        <a:srgbClr val="00D9FF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inkCoral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V1 Shoulder Loss Pinchoff Void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