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금속화" id="{722173b5-8c76-0cbe-79a1-d2caa73bbf25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저항률 (µΩ·cm)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8E7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B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CA3A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CuAl₂ 28nm</c:v>
                  </c:pt>
                  <c:pt idx="1">
                    <c:v>Al₂Cu ~30nm</c:v>
                  </c:pt>
                  <c:pt idx="2">
                    <c:v>NiAl epi 7.7nm</c:v>
                  </c:pt>
                  <c:pt idx="3">
                    <c:v>Al₃Sc 24nm</c:v>
                  </c:pt>
                  <c:pt idx="4">
                    <c:v>NiAl PVD 56nm</c:v>
                  </c:pt>
                  <c:pt idx="5">
                    <c:v>Ru 18MP</c:v>
                  </c:pt>
                  <c:pt idx="6">
                    <c:v>NiAl 420°C 22nm</c:v>
                  </c:pt>
                  <c:pt idx="7">
                    <c:v>Cu₂Mg 5nm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9.5</c:v>
                </c:pt>
                <c:pt idx="1">
                  <c:v>9.9</c:v>
                </c:pt>
                <c:pt idx="2">
                  <c:v>11.5</c:v>
                </c:pt>
                <c:pt idx="3">
                  <c:v>12.6</c:v>
                </c:pt>
                <c:pt idx="4">
                  <c:v>13.9</c:v>
                </c:pt>
                <c:pt idx="5">
                  <c:v>14</c:v>
                </c:pt>
                <c:pt idx="6">
                  <c:v>18</c:v>
                </c:pt>
                <c:pt idx="7">
                  <c:v>25.5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B7280"/>
                    </a:solidFill>
                    <a:latin typeface="+mn-lt"/>
                  </a:rPr>
                  <a:t>µΩ·cm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BEOL SPLIT TEST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SP-01 · 금속화 · 박막 저항률 · JAP 2024 / JVST B 2024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대체 금속 후보 박막 저항률 — 수평 막대 비교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6766560" cy="484632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64008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576072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두께·열처리 조건 상이 — 다음 장 표 참조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543800" y="128016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43800" y="12801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선택 지표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1664208"/>
            <a:ext cx="4190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Ru 13–15 µΩ·cm을 넘는 후보는 둘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2048256"/>
            <a:ext cx="2003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9.5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543800" y="2523744"/>
            <a:ext cx="20039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CuAl₂ 28 nm (400 °C PDA)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639148" y="2048256"/>
            <a:ext cx="20039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A8D8"/>
                </a:solidFill>
              </a:rPr>
              <a:t>&lt;10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639148" y="2523744"/>
            <a:ext cx="20039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Al₂Cu ~30 nm (500 °C PDA)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3099816"/>
            <a:ext cx="4190695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CuAl₂ 28 nm 막 9.5 µΩ·cm은 벌크 6.5 µΩ·cm에 접근 — 10 nm 이상 두께에서 Ru를, 조사 전 두께 범위에서 Mo를 이김.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NiAl은 에피 기판 또는 600 °C PDA가 전제. Cu₂Mg는 5 nm에서 Ru 대비 열위.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543800" y="5120640"/>
            <a:ext cx="4190695" cy="1005840"/>
          </a:xfrm>
          <a:prstGeom prst="roundRect">
            <a:avLst>
              <a:gd name="adj" fmla="val 14545"/>
            </a:avLst>
          </a:prstGeom>
          <a:solidFill>
            <a:srgbClr val="E6F8F6"/>
          </a:solidFill>
          <a:ln w="12700">
            <a:solidFill>
              <a:srgbClr val="E6F8F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80960" y="5212080"/>
            <a:ext cx="3916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CuAl₂·Al₂Cu PASS, NiAl·Al₃Sc 조건부, Cu₂Mg FAIL.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SP-01 · 금속화 · 조건별 상세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재료별 두께·열처리 조건과 판정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939735" cy="914400"/>
        </p:xfrm>
        <a:graphic>
          <a:graphicData uri="http://schemas.openxmlformats.org/drawingml/2006/table">
            <a:tbl>
              <a:tblPr/>
              <a:tblGrid>
                <a:gridCol w="2061972"/>
                <a:gridCol w="928116"/>
                <a:gridCol w="1340510"/>
                <a:gridCol w="1340510"/>
                <a:gridCol w="1237183"/>
                <a:gridCol w="1031443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재료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저항률 (µΩ·cm)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열처리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출처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NiAl (Ge(100) 에피)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7.7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11.5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JAP 2024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NiAl (PVD)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56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13.9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600 °C PDA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JAP 2024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NiAl (420 °C 증착)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22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18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in-situ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JAP 2024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CuAl / CuAl₂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28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9.5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400 °C PDA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JVST B 2024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Al₂Cu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~30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&lt;10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500 °C PDA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JAP 2024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Al₃Sc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24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12.6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500 °C PDA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JAP 2024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Cu₂Mg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5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25.5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JAP 2024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 (참조, 18MP 에칭 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CD 9 nm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13–15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420 °C → 14–15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VLSI 2022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</a:rPr>
                        <a:t>참조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716975" y="1280160"/>
            <a:ext cx="3017520" cy="48463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E5E7EB">
                <a:alpha val="6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899855" y="1417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ρ₀·λ 지표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899855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B8A9"/>
                </a:solidFill>
              </a:rPr>
              <a:t>6.8×10⁻¹⁶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899855" y="23042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Cu, ρ₀·λ (Ω·m²), λ = 40.7 nm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899855" y="27889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A8D8"/>
                </a:solidFill>
              </a:rPr>
              <a:t>0.6×10⁻¹⁶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8899855" y="326440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β-Ti₄InN₃ — Cu의 1/11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899855" y="3749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6B6B"/>
                </a:solidFill>
              </a:rPr>
              <a:t>69 / 170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899855" y="42245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MAX 안정상 중 Cu 대비 우위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SP-01 · 금속화 · 스크리닝 논리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576072"/>
            <a:ext cx="64008" cy="42062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왜 ρ₀가 아니라 ρ₀·λ인가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원리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평균자유경로가 결정한다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Cu의 약점은 ρ₀ 1.68 µΩ·cm이 아니라 λ 40.7 nm — 선폭 &lt; λ에서 표면·입계 산란이 지배하고 저항률이 치수에 반비례해 치솟음.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선택 지표는 ρ₀가 아니라 ρ₀·λ 곱. Cu는 후보군 중 가장 나쁜 축.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218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계산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4338218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MAX 상과 비등방성 금속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338218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Sankaran: MAX 상 170개 전자구조 계산 → 69개 안정상이 Cu 대비 응집에너지↑·ρ₀λ↓, 24개는 Ru보다 우위. 최저 β-Ti₄InN₃ 0.6×10⁻¹⁶ Ω·m² (Cu의 1/11). 단, 박막 증착·에칭 실증 없음.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비등방성 금속은 스칼라 ρ₀λ로 줄이면 순위가 틀림 → 300 K 수송 텐서 (입방정 1개 ~ 삼사정 9개 성분). Ru 전 방향, V₂AlC 면내, MoPt x·y 방향에서 Cu 능가 여지.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19237" y="128016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9237" y="12801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실증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8219237" y="1627632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300 mm에서 돌아간 것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19237" y="2011680"/>
            <a:ext cx="3515258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300 mm 웨이퍼 실증은 Ru, Mo, Al계 금속간화합물뿐 — MAX 상은 계산 단계.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B5563"/>
                </a:solidFill>
              </a:rPr>
              <a:t>배리어는 기능 유지 하한 2–3 nm → 12 nm 피치에서 단면 대부분 잠식. 무배리어 금속 탐색이 본질.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11277295" cy="914400"/>
          </a:xfrm>
          <a:prstGeom prst="roundRect">
            <a:avLst>
              <a:gd name="adj" fmla="val 16000"/>
            </a:avLst>
          </a:prstGeom>
          <a:solidFill>
            <a:srgbClr val="FFF0F0"/>
          </a:solidFill>
          <a:ln w="12700">
            <a:solidFill>
              <a:srgbClr val="FFF0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</a:rPr>
              <a:t>재료 선택은 단일 정답이 아니라 치수별 구간 분할 문제 — CuAl₂는 10 nm 이상, Ru는 단면 268 nm² 미만에서 유리.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대체 금속 박막 저항률 스크리닝</dc:title>
  <dc:subject>PptxGenJS Presentation</dc:subject>
  <dc:creator>공정 AI팀</dc:creator>
  <cp:lastModifiedBy>공정 AI팀</cp:lastModifiedBy>
  <cp:revision>1</cp:revision>
  <dcterms:created xsi:type="dcterms:W3CDTF">2026-10-03T16:10:12Z</dcterms:created>
  <dcterms:modified xsi:type="dcterms:W3CDTF">2026-10-03T16:10:12Z</dcterms:modified>
</cp:coreProperties>
</file>