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CMP" id="{ee16cb09-1250-06cf-0653-c9592defe5df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상대 MTTF (%) vs J/J₀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= 1</c:v>
                </c:pt>
              </c:strCache>
            </c:strRef>
          </c:tx>
          <c:spPr>
            <a:solidFill>
              <a:srgbClr val="00B8A9"/>
            </a:solidFill>
            <a:ln w="31750" cap="flat">
              <a:solidFill>
                <a:srgbClr val="00B8A9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B8A9"/>
              </a:solidFill>
              <a:ln w="9525" cap="flat">
                <a:solidFill>
                  <a:srgbClr val="00B8A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83</c:v>
                </c:pt>
                <c:pt idx="2">
                  <c:v>71</c:v>
                </c:pt>
                <c:pt idx="3">
                  <c:v>63</c:v>
                </c:pt>
                <c:pt idx="4">
                  <c:v>56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2</c:v>
                </c:pt>
              </c:strCache>
            </c:strRef>
          </c:tx>
          <c:spPr>
            <a:solidFill>
              <a:srgbClr val="00A8D8"/>
            </a:solidFill>
            <a:ln w="31750" cap="flat">
              <a:solidFill>
                <a:srgbClr val="00A8D8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A8D8"/>
              </a:solidFill>
              <a:ln w="9525" cap="flat">
                <a:solidFill>
                  <a:srgbClr val="00A8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1.0</c:v>
                  </c:pt>
                  <c:pt idx="1">
                    <c:v>1.2</c:v>
                  </c:pt>
                  <c:pt idx="2">
                    <c:v>1.4</c:v>
                  </c:pt>
                  <c:pt idx="3">
                    <c:v>1.6</c:v>
                  </c:pt>
                  <c:pt idx="4">
                    <c:v>1.8</c:v>
                  </c:pt>
                  <c:pt idx="5">
                    <c:v>2.0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69</c:v>
                </c:pt>
                <c:pt idx="2">
                  <c:v>51</c:v>
                </c:pt>
                <c:pt idx="3">
                  <c:v>39</c:v>
                </c:pt>
                <c:pt idx="4">
                  <c:v>31</c:v>
                </c:pt>
                <c:pt idx="5">
                  <c:v>25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+mj-lt"/>
              </a:rPr>
              <a:t>선저항 증가 (%) vs Dishing (nm)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선저항 증가 (%)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4.2</c:v>
                </c:pt>
                <c:pt idx="2">
                  <c:v>8.7</c:v>
                </c:pt>
                <c:pt idx="3">
                  <c:v>13.6</c:v>
                </c:pt>
                <c:pt idx="4">
                  <c:v>19</c:v>
                </c:pt>
                <c:pt idx="5">
                  <c:v>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BLACK'S EQUATION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블랙 방정식과 overCMP — 전류 밀도·온도의 이중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772400" y="2103120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450592"/>
            <a:ext cx="396209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표면 평탄도 훼손 → 상위 층 포토 DOF 불량.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MTTF · 저항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상대 MTTF와 Dishing에 따른 저항 증가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상대 전류 밀도 J/J₀ VS 상대 MTTF(%) — BLACK 식, N=1 / N=2 (온도 고정)</a:t>
            </a:r>
            <a:endParaRPr lang="en-US" sz="8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78728" y="1280160"/>
          <a:ext cx="5455768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278728" y="3977640"/>
            <a:ext cx="5455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DISHING 깊이(NM) VS 선저항 증가(%) — 두께 50 NM 가정 R ∝ 1/T 설명용</a:t>
            </a:r>
            <a:endParaRPr lang="en-US" sz="8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1차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단면적↓ → J↑ → MTTF ∝ J⁻ⁿ.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4338218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2차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338218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저항↑ → 줄 발열 → exp(Ea/kT) 급감 → 열 폭주.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219237" y="434340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기준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19237" y="4690872"/>
            <a:ext cx="35152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+10% 초과 = Failure. 수 nm Dishing으로 도달.</a:t>
            </a:r>
            <a:endParaRPr lang="en-US" sz="105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요약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 핵심 수치와 평가 방법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B8A9"/>
                </a:solidFill>
              </a:rPr>
              <a:t>10–20%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수 nm Dishing 저항 상승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276524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00A8D8"/>
                </a:solidFill>
              </a:rPr>
              <a:t>+10%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3276524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Failure 기준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6B6B"/>
                </a:solidFill>
              </a:rPr>
              <a:t>n = 1–2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전류 밀도 지수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8915171" y="1280160"/>
            <a:ext cx="26364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8E72"/>
                </a:solidFill>
              </a:rPr>
              <a:t>×수십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915171" y="1801368"/>
            <a:ext cx="2636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Void 성장 가속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7711135" cy="914400"/>
        </p:xfrm>
        <a:graphic>
          <a:graphicData uri="http://schemas.openxmlformats.org/drawingml/2006/table">
            <a:tbl>
              <a:tblPr/>
              <a:tblGrid>
                <a:gridCol w="1101852"/>
                <a:gridCol w="3304642"/>
                <a:gridCol w="330464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측정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 SEM / AFM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두께 소실 깊이 (Recess)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Cross-bridge 저항 패턴, 4-point probe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면저항 Rs, CD 변동량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초기 기준치 대비 R +10% 초과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동작 마진 이탈 →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설계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 시뮬레이션 → 레이아웃 피드백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더미 크기·밀도·경계선 길이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8442655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442655" y="2679192"/>
            <a:ext cx="3291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AFM/SEM Recess, Cross-bridge Rs, 4-pt probe.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시뮬레이션 → 더미 필 피드백.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5440680"/>
            <a:ext cx="771113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5513832"/>
            <a:ext cx="7711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Mx Line Resistance EM Black Equation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