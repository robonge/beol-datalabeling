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하드마스크·Metal Short" id="{31245e06-a000-ef54-6747-6e7217e5869b}">
          <p14:sldIdLst>
            <p14:sldId id="256"/>
            <p14:sldId id="257"/>
            <p14:sldId id="258"/>
            <p14:sldId id="260"/>
            <p14:sldId id="261"/>
          </p14:sldIdLst>
        </p14:section>
        <p14:section name="일정" id="{657d8226-8977-ef60-280b-a4903f409d9a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+mj-lt"/>
              </a:rPr>
              <a:t>Comb 누설 전류 (상대)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누설</c:v>
                </c:pt>
              </c:strCache>
            </c:strRef>
          </c:tx>
          <c:spPr>
            <a:solidFill>
              <a:srgbClr val="00B8A9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온전 구조</c:v>
                  </c:pt>
                  <c:pt idx="1">
                    <c:v>국부 침식</c:v>
                  </c:pt>
                  <c:pt idx="2">
                    <c:v>펀치스루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50</c:v>
                </c:pt>
                <c:pt idx="2">
                  <c:v>300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+mj-lt"/>
              </a:rPr>
              <a:t>TDDB TTF (상대)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TTF</c:v>
                </c:pt>
              </c:strCache>
            </c:strRef>
          </c:tx>
          <c:spPr>
            <a:solidFill>
              <a:srgbClr val="00B8A9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D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온전 구조</c:v>
                  </c:pt>
                  <c:pt idx="1">
                    <c:v>유전막 손상 구조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원인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하드마스크 고갈 및 식각 손상에 의한 Metal Short — 원인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794053"/>
                <a:gridCol w="3035808"/>
                <a:gridCol w="2759659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현상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Low-k 플라즈마 노출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Si-CH₃ → Si-OH 전환 (O₂·플루오로카본)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유전율 급증, 누설 전류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MHM 적용 (TiN/TaN, 32 nm~)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PR 스트립·식각 중 Low-k 보호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하드마스크 자체 침식 시작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ARDE 극복 과식각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이온 각도 분산 → 모서리(Shoulder) 집중 타격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국부 두께 부족·조기 소실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Low-k 직접 노출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식각 저항성 낮음 → CD 확장, 측벽 거칠기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좁은 스페이스 절연막 소실 → 펀치스루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배리어/시드 PVD + ECP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병합된 트렌치에 Cu 충진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인접 배선 금속 브릿지 → Metal Short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마이크로마스킹 잔류물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09344"/>
            <a:ext cx="3367735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옥사이드 마스크 패터닝 시 마이크로마스킹 → 금속 식각 후 잔류물, 차단된 금속 섬(Blocked etch metal island).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Cl 기반 플라즈마의 금속 측벽 공격, CHF₃ 과도 패시베이션 시 폴리머 잔류물 관찰.</a:t>
            </a:r>
            <a:endParaRPr lang="en-US" sz="1050" dirty="0"/>
          </a:p>
        </p:txBody>
      </p:sp>
      <p:sp>
        <p:nvSpPr>
          <p:cNvPr id="8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평가 방법 · 결과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평가 방법과 결과 — 교차 검증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평가 방법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11277295" cy="914400"/>
        </p:xfrm>
        <a:graphic>
          <a:graphicData uri="http://schemas.openxmlformats.org/drawingml/2006/table">
            <a:tbl>
              <a:tblPr/>
              <a:tblGrid>
                <a:gridCol w="1679753"/>
                <a:gridCol w="3838651"/>
                <a:gridCol w="5758891"/>
              </a:tblGrid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구분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검출 대상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전기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Comb-Serpentine 구조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Open/Short Failure, Line-to-Line Leakage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전기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Voltage Ramp / TDDB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절연 파괴 시간, SILC 증가 패턴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FIB 절단 → TEM + EDS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하드마스크 잔존 두께, 트렌치 폭 확장, 브릿지 유무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화학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FTIR / XPS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탄소 고갈층 두께, Si-OH 생성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656769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평가 결과</a:t>
            </a:r>
            <a:endParaRPr lang="en-US" sz="13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67665"/>
          <a:ext cx="11277295" cy="914400"/>
        </p:xfrm>
        <a:graphic>
          <a:graphicData uri="http://schemas.openxmlformats.org/drawingml/2006/table">
            <a:tbl>
              <a:tblPr/>
              <a:tblGrid>
                <a:gridCol w="3096158"/>
                <a:gridCol w="6633972"/>
                <a:gridCol w="1548079"/>
              </a:tblGrid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평가 항목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손상 구조 결과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Comb 간 누설 전류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정상 대비 수백 배 급증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브릿지 저항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설계 스펙 이탈, 최악 Hard Short (수율 0%)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TDDB TTF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온전 구조 대비 수십 배 단축 (Cu⁺ 드리프트 가속)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단면 (ARDE)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좁은 패턴일수록 Shoulder 침식 심화, Defect adder 증가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하드마스크 두께 마진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누설 억제·신뢰성의 최우선 선결 조건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</a:tbl>
          </a:graphicData>
        </a:graphic>
      </p:graphicFrame>
      <p:sp>
        <p:nvSpPr>
          <p:cNvPr id="9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누설 · TTF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누설 전류 급증과 TDDB TTF 단축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45576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977640"/>
            <a:ext cx="545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COMB 누설 전류 상대값 (설명용: '수백 배' 기술 기반)</a:t>
            </a:r>
            <a:endParaRPr lang="en-US" sz="8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78728" y="1280160"/>
          <a:ext cx="545576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278728" y="3977640"/>
            <a:ext cx="545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TDDB TTF 상대값 — 수십 배 단축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34340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누설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690872"/>
            <a:ext cx="3515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펀치스루 영역 수백 배 급증, Hard Short 시 수율 0%.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4338218" y="434340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TTF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338218" y="4690872"/>
            <a:ext cx="3515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손상 유전막 친수성 경로로 Cu⁺ 드리프트 가속 → 수십 배 단축.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8219237" y="434340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단면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219237" y="4690872"/>
            <a:ext cx="3515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좁은 패턴일수록 Shoulder 침식, Defect adder 증가.</a:t>
            </a:r>
            <a:endParaRPr lang="en-US" sz="1050" dirty="0"/>
          </a:p>
        </p:txBody>
      </p:sp>
      <p:sp>
        <p:nvSpPr>
          <p:cNvPr id="15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하드마스크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하드마스크 평가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3576218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55648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MHM 두께 split 투입 (3수준)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트렌치 식각 과식각 시간 split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438144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" y="3511296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FTIR/XPS 탄소 고갈 측정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85216" y="3895344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307738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07738" y="1627632"/>
            <a:ext cx="3576218" cy="0"/>
          </a:xfrm>
          <a:prstGeom prst="line">
            <a:avLst/>
          </a:prstGeom>
          <a:noFill/>
          <a:ln w="9525">
            <a:solidFill>
              <a:srgbClr val="00D9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07738" y="1755648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35754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Comb-Serpentine E-test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435754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07738" y="2596896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35754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FIB-TEM 단면 5점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435754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307738" y="3438144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35754" y="3511296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Voltage Ramp 누설 모니터링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435754" y="3895344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8158277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대기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58277" y="1627632"/>
            <a:ext cx="3576218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58277" y="1755648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86293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TDDB 125 °C 1000 h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286293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W04–W09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158277" y="2596896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86293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ARDE 모서리 침식 정량화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286293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158277" y="3438144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86293" y="3511296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하드마스크 마진 스펙 제안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86293" y="3895344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W10</a:t>
            </a:r>
            <a:endParaRPr lang="en-US" sz="850" dirty="0"/>
          </a:p>
        </p:txBody>
      </p:sp>
      <p:sp>
        <p:nvSpPr>
          <p:cNvPr id="38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판독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플라즈마 손상 → 펀치스루 → 브릿지, 세 단계 판독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Low-k 플라즈마 손상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65376"/>
            <a:ext cx="3454298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B5563"/>
                </a:solidFill>
              </a:rPr>
              <a:t>다공성 SiCOH의 Si-CH₃가 O₂·플루오로카본 플라즈마에 노출되면 Si-OH로 전환 — 유전율 급증, 누설 증가. MHM(TiN/TaN)이 이를 막지만 ARDE 과식각 중 모서리에서 침식.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40098" y="1280160"/>
            <a:ext cx="0" cy="39776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68698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368698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CD 확장과 펀치스루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368698" y="1865376"/>
            <a:ext cx="3454298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B5563"/>
                </a:solidFill>
              </a:rPr>
              <a:t>하드마스크 소실 영역의 Low-k가 직접 노출 → 트렌치 CD 확장, 측벽 거칠기. 미세 피치에서 스페이스 절연막이 완전히 식각되어 이웃 트렌치가 병합.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51597" y="1280160"/>
            <a:ext cx="0" cy="39776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80197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280197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브릿지 형성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80197" y="1865376"/>
            <a:ext cx="3454298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B5563"/>
                </a:solidFill>
              </a:rPr>
              <a:t>PVD 배리어/시드 + ECP가 병합 구조를 채워 금속 브릿지 → Metal Short. 옥사이드 마스크 마이크로마스킹은 잔류물·금속 섬을 남겨 후속 층과 단락.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5440680"/>
            <a:ext cx="11277295" cy="0"/>
          </a:xfrm>
          <a:prstGeom prst="line">
            <a:avLst/>
          </a:prstGeom>
          <a:noFill/>
          <a:ln w="9525">
            <a:solidFill>
              <a:srgbClr val="00D9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5513832"/>
            <a:ext cx="11277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하드마스크 두께 마진 확보가 배선 간 누설 억제와 신뢰성 보장의 최우선 선결 조건.</a:t>
            </a:r>
            <a:endParaRPr lang="en-US" sz="1000" dirty="0"/>
          </a:p>
        </p:txBody>
      </p:sp>
      <p:sp>
        <p:nvSpPr>
          <p:cNvPr id="18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핵심 수치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핵심 수치와 판정 요약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26364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00B8A9"/>
                </a:solidFill>
              </a:rPr>
              <a:t>수백 배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01368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Comb 누설 급증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3276524" y="1280160"/>
            <a:ext cx="26364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00A8D8"/>
                </a:solidFill>
              </a:rPr>
              <a:t>0%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276524" y="1801368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Hard Short 수율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095848" y="1280160"/>
            <a:ext cx="26364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6B6B"/>
                </a:solidFill>
              </a:rPr>
              <a:t>수십 배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095848" y="1801368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TTF 단축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915171" y="1280160"/>
            <a:ext cx="26364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8E72"/>
                </a:solidFill>
              </a:rPr>
              <a:t>32 nm~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915171" y="1801368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MHM 적용 세대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176272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7711135" cy="914400"/>
        </p:xfrm>
        <a:graphic>
          <a:graphicData uri="http://schemas.openxmlformats.org/drawingml/2006/table">
            <a:tbl>
              <a:tblPr/>
              <a:tblGrid>
                <a:gridCol w="2116836"/>
                <a:gridCol w="4536338"/>
                <a:gridCol w="105796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평가 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손상 구조 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Comb 간 누설 전류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정상 대비 수백 배 급증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브릿지 저항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설계 스펙 이탈, 최악 Hard Short (수율 0%)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TDDB TTF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온전 구조 대비 수십 배 단축 (Cu⁺ 드리프트 가속)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 (ARDE)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좁은 패턴일수록 Shoulder 침식 심화, Defect adder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하드마스크 두께 마진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누설 억제·신뢰성의 최우선 선결 조건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8442655" y="23317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포인트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442655" y="2679192"/>
            <a:ext cx="3291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하드마스크 두께 마진 = 최우선 선결 조건.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FTIR/XPS 탄소 고갈층 정량화 병행.</a:t>
            </a:r>
            <a:endParaRPr lang="en-US" sz="1050" dirty="0"/>
          </a:p>
        </p:txBody>
      </p:sp>
      <p:sp>
        <p:nvSpPr>
          <p:cNvPr id="17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turquoise">
  <a:themeElements>
    <a:clrScheme name="Turquoise DS turquoise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B8A9"/>
      </a:accent1>
      <a:accent2>
        <a:srgbClr val="00D9FF"/>
      </a:accent2>
      <a:accent3>
        <a:srgbClr val="FF6B6B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turquois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 Hardmask Punchthrough Full Eval</dc:title>
  <dc:subject>PptxGenJS Presentation</dc:subject>
  <dc:creator>공정 AI팀</dc:creator>
  <cp:lastModifiedBy>공정 AI팀</cp:lastModifiedBy>
  <cp:revision>1</cp:revision>
  <dcterms:created xsi:type="dcterms:W3CDTF">2026-10-03T16:30:17Z</dcterms:created>
  <dcterms:modified xsi:type="dcterms:W3CDTF">2026-10-03T16:30:17Z</dcterms:modified>
</cp:coreProperties>
</file>