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11번 세트 보고서 개요입니다. 이번 평가는 M3 BEOL의 18 나노미터 피치 패터닝에서
spacer 두께를 알디(ALD) 단계에서 세 가지로 쪼개서 — split-A, split-B, split-C — 각기 다른
웨이퍼 한 장씩, 총 세 장에 적층해서 평가한 내부 테스트 결론을 정리한 자료예요. 핵심 목적은
네 가지로 압축되는데, 첫째는 스테이지별 CD 분포의 정량화, 둘째는 인-웨이퍼와 웨이퍼 간의
균일도 비교, 셋째는 QALE 적용에 따른 피치 워크 억제 효과 검증, 넷째는 전기 특성으로의
영향 평가입니다. 본 자료에 등장하는 모든 수치는 명시적으로 테스트용 더미 데이터임을
미리 알려드리며, 출처 사진만 외부 문헌에서 인용했습니다.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조건을 정리한 페이지입니다. 메탈 레이어는 M3 BEOL, 목표 피치 18 나노미터 P18 구조예요.
패터닝 방식은 EUV 단일 노광 패턴 위에 SADP를 한 번 더 적용하는 방식이고, 그 위에
컷 마스크까지 더해서 최종 라인을 형성했습니다. 스페이서 물질은 SiOCH 계열을 ALD로
증착하고, 이를 세 가지 두께 — split-A 16나노미터, split-B 17.5나노미터, split-C
15나노미터 — 로 나눴어요. 식각 단계에서는 W1은 연속적인 RIE 기준 조건, W2와 W3는
QALE를 적용해서 비교했습니다. 검출 포인트는 49 사이트로 wafer당 7×7 격자를
측정했고, 네 단계 AASI부터 ACI까지 동일 사이트에서 CD를 검출했습니다. 메트로러지는
CD-SEM과 단면 TEM을 같이 사용했고, 가속 전압은 5kV와 30kV 두 가지를 혼용했습니다.
QALE는 사이클당 불소 흡착 후 아르곤 이온 조사 한 사이클로 정의했고, step은 반복
횟수를 의미합니다.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슬라이드입니다. 단면 사진 두 장을 좌우로 배치했습니다. 왼쪽 03-A는 SADP 단계에서
만드릴 양쪽에 spacer가 형성되는 모습이고, 오른쪽 03-B는 만드릴을 pull-out하고 spacer만
남은 단계입니다. 본 보고서의 W1, W2, W3 모두 동일한 single-mandrel SADP 흐름을
따르지만, spacer 두께가 16, 17.5, 15 나노미터로 나뉘어 있어서 목표 라인 폭의 분포가
달라집니다. 사진 출처는 모두 외부 문헌에서 가져왔고, 본 실험의 수치 데이터와 직접 연결되지는
않으며, 형상 참고용으로 사용했습니다. 관찰할 때 세 가지에 포인트를 맞췄는데, 첫째 spacer
측벽의 수직성, 둘째 만드릴 pull 후 라인 top의 라운딩, 셋째 인접 라인 간격이 1대1로
유지되는지 또는 a-b-a-b 형태의 pitch walk가 나타나는지입니다. 이 사진들의 좌우 폭
자체는 실제 측정 단면이 아니라 형상 비교용임을 미리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슬라이드입니다. 왼쪽에는 cut 적용 후의 top-view SEM 사진 — Imec이 18 나노미터
피치에서 시연한 line/space 패턴을 참고용으로 인용했습니다 — 을 배치했고, 오른쪽에는
CD variation 표를 두었습니다. 표는 3 웨이퍼 × 4 스테이지로 12행이고, 열은 웨이퍼,
스테이지 이름, 목표 CD, 평균, 3시그마, range, 그리고 목표 대비 델타로 구성했습니다.
네 가지 스테이지 — AASI는 알디 후, ASEI는 spacer 식각 후, AMI는 metal 식각 후,
ACI는 cut 후입니다. 단위는 전부 나노미터입니다. 표를 보면 W1이 비교적 큰 positive
델타, 즉 목표보다 약간 두껍게 형성되는 경향이 있고, W2는 목표에 가장 가깝게 떨어지며
3시그마도 가장 작습니다. W3는 음의 델타, 즉 약간 가는 방향으로 형성됩니다. 다만 본
수치는 명시적으로 테스트용 더미임을 미리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페이지입니다. AMI 단계, 즉 메탈 식각 직후의 CD를 49지점에서 측정한 wafer map을
세 장 나란히 배치했습니다. 컬러 스케일은 파랑이 목표보다 얇은 영역, 슬레이트가 목표 근처,
따뜻한 톤이 목표보다 두꺼운 영역입니다. W1은 mean 9.04, 3시그마 0.82로 가장 변동이
크고, 네 모서리에 9.5 이상 빨간 오렌지 셀이 산발적으로 분포합니다. 형상적으로 봤을 때 W1은
연속 RIE 기준 조건으로 가장자리에서 over-etch가 누적된 패턴으로 해석할 수 있습니다. W2는
mean 8.92, 3시그마 0.41로 가장 안정적이고, 거의 모든 셀이 슬레이트-라이트블루 영역에
위치합니다. QALE step-220이 spacer 식각의 변동을 잘 제어했다는 신호로 읽힙니다. W3는
mean 8.81, 3시그마 0.51로 전체적으로 목표보다 약간 얇은 영역에 치우쳐 있고, 좌하단
모서리에 더 진한 파랑 셀이 보입니다. 정량 수치라기보다는 분포 패턴을 가시화하기 위한
더미 데이터임을 미리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페이지, in-wafer &amp; wafer간 균일도입니다. 상단에는 wafer별 평균 균일도
요약 카드 세 장이 있습니다. W1은 평균 U% 6.78%로 가장 위쪽에 있고, 특히 ACI 단계에서
9.69%로 가장 안 좋습니다. W2는 평균 3.16%, W3는 평균 3.94%입니다. W2는 AMI에서
3시그마 0.41, 즉 U 4.6%로 가장 안정적이고, W3는 stage별 편차가 2.89에서 4.29까지
작게 움직입니다. 하단의 12행 테이블은 stage별로 mean, 3시그마, U%, 그리고 wafer간
델타를 정리했습니다. U 막대는 12% 기준 정규화돼 있어서 길이만으로 wafer·stage 간
균일도 차이를 한눈에 비교할 수 있도록 했고, W1의 ACI 행만 빨간색이라 임계 영역
표시에 신경 썼습니다. 본 자료의 모든 수치는 명시적인 더미 데이터임을 다시 한번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슬라이드는 전기 특성 평가입니다. 도식은 사용하지 않고 수치표로만 정리했습니다.
아홉 행으로 구성했고, 각각 시트 저항, 라인 저항, 비아 저항, 라인간 누설 전류, 라인간
커패시턴스, TDDB 항복 전압, 시트 Rs 균일도, probe yield, yield 통과율 3시그마입니다.
W2가 전반적으로 가장 균일도와 수율이 좋고 — 94.7% probe yield, 누설 64.7pA, Rs
균일도 2.14%로 안정적입니다. W1은 누설이 128.4 pA로 빨간색 경고 표시했고 probe
yield는 82.1%로 가장 낮습니다. W3는 그 중간입니다. 동일 라인 CD 부근에서도 누설
특성과 수율 차이가 두드러져서 spacer 분할과 식각 모드가 전기적 수율에 영향을 준다는
신호로 읽힙니다. 측정 조건은 표 안에 명기해 두었습니다. 본 수치 역시 명시적
테스트용 더미입니다.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요약/결론 페이지입니다. 네 개의 핵심 발견 — F1부터 F4까지 — 카드 형태로 정리했습니다.
F1은 CD 평균이 목표로부터 얼마나 떨어져 있는지 — W1은 +0.14, W2는 +0.02, W3는
-0.09로 W2가 중심에 가장 가깝다는 점. F2는 균일도 비교 — W2 3.16%, W3 3.94%, W1
6.78%로 W1이 cut stage에서 가장 큰 spike를 보인다는 점. F3는 피치 워크 —
QALE를 적용한 W2와 W3에서 라인 간격 a-b-a-b 변동이 거의 사라졌다는 점.
F4는 전기적 영향 — 누설 128에서 64 pA, yield 82에서 95%로 W2가 최적이라는 점.
좌측 하단의 어두운 박스는 권장 조건으로 QALE step-220에 split-B를 1차 채택했다는
요약입니다. 우측 하단에는 next steps — 반복 lot, ACI 단계 추가 DOE, 그리고
M2/M4로의 동일 split 전파 가능성 평가가 있습니다. 본 자료의 모든 수치는 명시적
테스트용 더미임을 다시 한번 강조드리며 발표를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8.png"/><Relationship Id="rId10" Type="http://schemas.openxmlformats.org/officeDocument/2006/relationships/image" Target="../media/image-2-7.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5.jpe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4.png"/><Relationship Id="rId7" Type="http://schemas.openxmlformats.org/officeDocument/2006/relationships/image" Target="../media/image-5-7.png"/><Relationship Id="rId8" Type="http://schemas.openxmlformats.org/officeDocument/2006/relationships/image" Target="../media/image-5-4.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8.png"/><Relationship Id="rId10" Type="http://schemas.openxmlformats.org/officeDocument/2006/relationships/image" Target="../media/image-6-8.png"/><Relationship Id="rId11" Type="http://schemas.openxmlformats.org/officeDocument/2006/relationships/image" Target="../media/image-6-8.png"/><Relationship Id="rId12" Type="http://schemas.openxmlformats.org/officeDocument/2006/relationships/image" Target="../media/image-6-8.png"/><Relationship Id="rId13" Type="http://schemas.openxmlformats.org/officeDocument/2006/relationships/image" Target="../media/image-6-8.png"/><Relationship Id="rId14" Type="http://schemas.openxmlformats.org/officeDocument/2006/relationships/image" Target="../media/image-6-8.png"/><Relationship Id="rId15" Type="http://schemas.openxmlformats.org/officeDocument/2006/relationships/image" Target="../media/image-6-8.png"/><Relationship Id="rId16" Type="http://schemas.openxmlformats.org/officeDocument/2006/relationships/image" Target="../media/image-6-8.png"/><Relationship Id="rId17" Type="http://schemas.openxmlformats.org/officeDocument/2006/relationships/image" Target="../media/image-6-8.png"/><Relationship Id="rId18" Type="http://schemas.openxmlformats.org/officeDocument/2006/relationships/image" Target="../media/image-6-8.png"/><Relationship Id="rId19" Type="http://schemas.openxmlformats.org/officeDocument/2006/relationships/image" Target="../media/image-6-8.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image" Target="../media/image-6-25.png"/><Relationship Id="rId26" Type="http://schemas.openxmlformats.org/officeDocument/2006/relationships/image" Target="../media/image-6-26.png"/><Relationship Id="rId27" Type="http://schemas.openxmlformats.org/officeDocument/2006/relationships/image" Target="../media/image-6-27.png"/><Relationship Id="rId28" Type="http://schemas.openxmlformats.org/officeDocument/2006/relationships/image" Target="../media/image-6-28.png"/><Relationship Id="rId29" Type="http://schemas.openxmlformats.org/officeDocument/2006/relationships/image" Target="../media/image-6-29.png"/><Relationship Id="rId30" Type="http://schemas.openxmlformats.org/officeDocument/2006/relationships/image" Target="../media/image-6-30.png"/><Relationship Id="rId31" Type="http://schemas.openxmlformats.org/officeDocument/2006/relationships/image" Target="../media/image-6-31.png"/><Relationship Id="rId32" Type="http://schemas.openxmlformats.org/officeDocument/2006/relationships/slideLayout" Target="../slideLayouts/slideLayout1.xml"/><Relationship Id="rId3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pic>
        <p:nvPicPr>
          <p:cNvPr id="3" name="Image 0" descr="gen-dedup-6a910f31b2a9f578fa95f0244b75d09a.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13144500" y="1333195"/>
            <a:ext cx="4572000" cy="3238805"/>
          </a:xfrm>
          <a:prstGeom prst="rect">
            <a:avLst/>
          </a:prstGeom>
          <a:noFill/>
          <a:ln/>
        </p:spPr>
        <p:txBody>
          <a:bodyPr wrap="none" lIns="0" tIns="0" rIns="0" bIns="0" rtlCol="0" anchor="ctr"/>
          <a:lstStyle/>
          <a:p>
            <a:pPr algn="r" indent="0" marL="0">
              <a:buNone/>
            </a:pPr>
            <a:r>
              <a:rPr lang="en-US" sz="25500" b="1" spc="-1020" kern="0" dirty="0">
                <a:solidFill>
                  <a:srgbClr val="1E40AF">
                    <a:alpha val="10000"/>
                  </a:srgbClr>
                </a:solidFill>
                <a:latin typeface="IBM Plex Mono" pitchFamily="34" charset="0"/>
                <a:ea typeface="IBM Plex Mono" pitchFamily="34" charset="-122"/>
                <a:cs typeface="IBM Plex Mono" pitchFamily="34" charset="-120"/>
              </a:rPr>
              <a:t>11</a:t>
            </a:r>
            <a:endParaRPr lang="en-US" sz="25500" dirty="0"/>
          </a:p>
        </p:txBody>
      </p:sp>
      <p:pic>
        <p:nvPicPr>
          <p:cNvPr id="5" name="Image 1" descr="gen-dedup-5a0ba8ca655a299c416b119e75c6720d.png">    </p:cNvPr>
          <p:cNvPicPr>
            <a:picLocks noChangeAspect="1"/>
          </p:cNvPicPr>
          <p:nvPr/>
        </p:nvPicPr>
        <p:blipFill>
          <a:blip r:embed="rId2"/>
          <a:srcRect l="-2083" r="-2083" t="0" b="0"/>
          <a:stretch/>
        </p:blipFill>
        <p:spPr>
          <a:xfrm>
            <a:off x="761695" y="3276295"/>
            <a:ext cx="16763695" cy="9144"/>
          </a:xfrm>
          <a:prstGeom prst="rect">
            <a:avLst/>
          </a:prstGeom>
        </p:spPr>
      </p:pic>
      <p:sp>
        <p:nvSpPr>
          <p:cNvPr id="6" name="Shape 1"/>
          <p:cNvSpPr/>
          <p:nvPr/>
        </p:nvSpPr>
        <p:spPr>
          <a:xfrm>
            <a:off x="761695" y="3619195"/>
            <a:ext cx="8210398" cy="2305202"/>
          </a:xfrm>
          <a:prstGeom prst="rect">
            <a:avLst/>
          </a:prstGeom>
          <a:solidFill>
            <a:srgbClr val="FFFFFF"/>
          </a:solidFill>
          <a:ln w="12700">
            <a:solidFill>
              <a:srgbClr val="E2E8F0"/>
            </a:solidFill>
            <a:prstDash val="solid"/>
          </a:ln>
        </p:spPr>
      </p:sp>
      <p:sp>
        <p:nvSpPr>
          <p:cNvPr id="7" name="Shape 2"/>
          <p:cNvSpPr/>
          <p:nvPr/>
        </p:nvSpPr>
        <p:spPr>
          <a:xfrm>
            <a:off x="9334195" y="3619195"/>
            <a:ext cx="8210398" cy="2305202"/>
          </a:xfrm>
          <a:prstGeom prst="rect">
            <a:avLst/>
          </a:prstGeom>
          <a:solidFill>
            <a:srgbClr val="FFFFFF"/>
          </a:solidFill>
          <a:ln w="12700">
            <a:solidFill>
              <a:srgbClr val="E2E8F0"/>
            </a:solidFill>
            <a:prstDash val="solid"/>
          </a:ln>
        </p:spPr>
      </p:sp>
      <p:sp>
        <p:nvSpPr>
          <p:cNvPr id="8" name="Shape 3"/>
          <p:cNvSpPr/>
          <p:nvPr/>
        </p:nvSpPr>
        <p:spPr>
          <a:xfrm>
            <a:off x="761695" y="6286500"/>
            <a:ext cx="8210398" cy="2305202"/>
          </a:xfrm>
          <a:prstGeom prst="rect">
            <a:avLst/>
          </a:prstGeom>
          <a:solidFill>
            <a:srgbClr val="FFFFFF"/>
          </a:solidFill>
          <a:ln w="12700">
            <a:solidFill>
              <a:srgbClr val="E2E8F0"/>
            </a:solidFill>
            <a:prstDash val="solid"/>
          </a:ln>
        </p:spPr>
      </p:sp>
      <p:sp>
        <p:nvSpPr>
          <p:cNvPr id="9" name="Shape 4"/>
          <p:cNvSpPr/>
          <p:nvPr/>
        </p:nvSpPr>
        <p:spPr>
          <a:xfrm>
            <a:off x="9334195" y="6286500"/>
            <a:ext cx="8210398" cy="2305202"/>
          </a:xfrm>
          <a:prstGeom prst="rect">
            <a:avLst/>
          </a:prstGeom>
          <a:solidFill>
            <a:srgbClr val="FFFFFF"/>
          </a:solidFill>
          <a:ln w="12700">
            <a:solidFill>
              <a:srgbClr val="E2E8F0"/>
            </a:solidFill>
            <a:prstDash val="solid"/>
          </a:ln>
        </p:spPr>
      </p:sp>
      <p:pic>
        <p:nvPicPr>
          <p:cNvPr id="10" name="Image 2" descr="gen-dedup-5a0ba8ca655a299c416b119e75c6720d.png">    </p:cNvPr>
          <p:cNvPicPr>
            <a:picLocks noChangeAspect="1"/>
          </p:cNvPicPr>
          <p:nvPr/>
        </p:nvPicPr>
        <p:blipFill>
          <a:blip r:embed="rId3"/>
          <a:srcRect l="-2083" r="-2083" t="0" b="0"/>
          <a:stretch/>
        </p:blipFill>
        <p:spPr>
          <a:xfrm>
            <a:off x="761695" y="9525305"/>
            <a:ext cx="16763695" cy="9144"/>
          </a:xfrm>
          <a:prstGeom prst="rect">
            <a:avLst/>
          </a:prstGeom>
        </p:spPr>
      </p:pic>
      <p:pic>
        <p:nvPicPr>
          <p:cNvPr id="11" name="Image 3" descr="gen-dedup-3870d035d5173dd7242b1eda2fc7783b.png">    </p:cNvPr>
          <p:cNvPicPr>
            <a:picLocks noChangeAspect="1"/>
          </p:cNvPicPr>
          <p:nvPr/>
        </p:nvPicPr>
        <p:blipFill>
          <a:blip r:embed="rId4"/>
          <a:srcRect l="-400" r="-400" t="0" b="0"/>
          <a:stretch/>
        </p:blipFill>
        <p:spPr>
          <a:xfrm>
            <a:off x="761695" y="3619195"/>
            <a:ext cx="57607" cy="2286000"/>
          </a:xfrm>
          <a:prstGeom prst="rect">
            <a:avLst/>
          </a:prstGeom>
        </p:spPr>
      </p:pic>
      <p:pic>
        <p:nvPicPr>
          <p:cNvPr id="12" name="Image 4" descr="gen-dedup-5c7b80912649882a4319f72a0cc4f4b8.png">    </p:cNvPr>
          <p:cNvPicPr>
            <a:picLocks noChangeAspect="1"/>
          </p:cNvPicPr>
          <p:nvPr/>
        </p:nvPicPr>
        <p:blipFill>
          <a:blip r:embed="rId5"/>
          <a:srcRect l="-400" r="-400" t="0" b="0"/>
          <a:stretch/>
        </p:blipFill>
        <p:spPr>
          <a:xfrm>
            <a:off x="9334195" y="3619195"/>
            <a:ext cx="57607" cy="2286000"/>
          </a:xfrm>
          <a:prstGeom prst="rect">
            <a:avLst/>
          </a:prstGeom>
        </p:spPr>
      </p:pic>
      <p:pic>
        <p:nvPicPr>
          <p:cNvPr id="13" name="Image 5" descr="gen-dedup-05cbcb1bf86b557624c0eadc2506e72c.png">    </p:cNvPr>
          <p:cNvPicPr>
            <a:picLocks noChangeAspect="1"/>
          </p:cNvPicPr>
          <p:nvPr/>
        </p:nvPicPr>
        <p:blipFill>
          <a:blip r:embed="rId6"/>
          <a:srcRect l="-400" r="-400" t="0" b="0"/>
          <a:stretch/>
        </p:blipFill>
        <p:spPr>
          <a:xfrm>
            <a:off x="761695" y="6286500"/>
            <a:ext cx="57607" cy="2286000"/>
          </a:xfrm>
          <a:prstGeom prst="rect">
            <a:avLst/>
          </a:prstGeom>
        </p:spPr>
      </p:pic>
      <p:pic>
        <p:nvPicPr>
          <p:cNvPr id="14" name="Image 6" descr="gen-dedup-c4c4e0b5cf052e7c89ba98002d956f5c.png">    </p:cNvPr>
          <p:cNvPicPr>
            <a:picLocks noChangeAspect="1"/>
          </p:cNvPicPr>
          <p:nvPr/>
        </p:nvPicPr>
        <p:blipFill>
          <a:blip r:embed="rId7"/>
          <a:srcRect l="-400" r="-400" t="0" b="0"/>
          <a:stretch/>
        </p:blipFill>
        <p:spPr>
          <a:xfrm>
            <a:off x="9334195" y="6286500"/>
            <a:ext cx="57607" cy="2286000"/>
          </a:xfrm>
          <a:prstGeom prst="rect">
            <a:avLst/>
          </a:prstGeom>
        </p:spPr>
      </p:pic>
      <p:sp>
        <p:nvSpPr>
          <p:cNvPr id="15" name="Text 5"/>
          <p:cNvSpPr txBox="1"/>
          <p:nvPr/>
        </p:nvSpPr>
        <p:spPr>
          <a:xfrm>
            <a:off x="761695" y="761695"/>
            <a:ext cx="8572500"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EUV-MP / BEOL · SET 11 / 15 · 01 PURPOSE</a:t>
            </a:r>
            <a:endParaRPr lang="en-US" sz="1050" dirty="0"/>
          </a:p>
        </p:txBody>
      </p:sp>
      <p:sp>
        <p:nvSpPr>
          <p:cNvPr id="16" name="Text 6"/>
          <p:cNvSpPr txBox="1"/>
          <p:nvPr/>
        </p:nvSpPr>
        <p:spPr>
          <a:xfrm>
            <a:off x="761695" y="1123798"/>
            <a:ext cx="11811305" cy="838505"/>
          </a:xfrm>
          <a:prstGeom prst="rect">
            <a:avLst/>
          </a:prstGeom>
          <a:noFill/>
          <a:ln/>
        </p:spPr>
        <p:txBody>
          <a:bodyPr wrap="none" lIns="0" tIns="0" rIns="0" bIns="0" rtlCol="0" anchor="ctr"/>
          <a:lstStyle/>
          <a:p>
            <a:pPr algn="l" indent="0" marL="0">
              <a:buNone/>
            </a:pPr>
            <a:r>
              <a:rPr lang="en-US" sz="6600" b="1" spc="-165" kern="0" dirty="0">
                <a:solidFill>
                  <a:srgbClr val="0F172A"/>
                </a:solidFill>
                <a:latin typeface="IBM Plex Sans KR" pitchFamily="34" charset="0"/>
                <a:ea typeface="IBM Plex Sans KR" pitchFamily="34" charset="-122"/>
                <a:cs typeface="IBM Plex Sans KR" pitchFamily="34" charset="-120"/>
              </a:rPr>
              <a:t>실험 목적</a:t>
            </a:r>
            <a:endParaRPr lang="en-US" sz="6600" dirty="0"/>
          </a:p>
        </p:txBody>
      </p:sp>
      <p:sp>
        <p:nvSpPr>
          <p:cNvPr id="17" name="Text 7"/>
          <p:cNvSpPr txBox="1"/>
          <p:nvPr/>
        </p:nvSpPr>
        <p:spPr>
          <a:xfrm>
            <a:off x="800100" y="2247595"/>
            <a:ext cx="12192610" cy="724205"/>
          </a:xfrm>
          <a:prstGeom prst="rect">
            <a:avLst/>
          </a:prstGeom>
          <a:noFill/>
          <a:ln/>
        </p:spPr>
        <p:txBody>
          <a:bodyPr wrap="square" lIns="0" tIns="0" rIns="0" bIns="0" rtlCol="0" anchor="t"/>
          <a:lstStyle/>
          <a:p>
            <a:pPr algn="l" indent="0" marL="0">
              <a:lnSpc>
                <a:spcPct val="135000"/>
              </a:lnSpc>
              <a:buNone/>
            </a:pPr>
            <a:r>
              <a:rPr lang="en-US" sz="2100" dirty="0">
                <a:solidFill>
                  <a:srgbClr val="334155"/>
                </a:solidFill>
                <a:latin typeface="IBM Plex Sans KR" pitchFamily="34" charset="0"/>
                <a:ea typeface="IBM Plex Sans KR" pitchFamily="34" charset="-122"/>
                <a:cs typeface="IBM Plex Sans KR" pitchFamily="34" charset="-120"/>
              </a:rPr>
              <a:t>SADP(Spacer 두께 ALD 3-split)로 형성한 M3 BEOL </a:t>
            </a:r>
            <a:pPr algn="l" indent="0" marL="0">
              <a:lnSpc>
                <a:spcPct val="135000"/>
              </a:lnSpc>
              <a:buNone/>
            </a:pPr>
            <a:r>
              <a:rPr lang="en-US" sz="2100" b="1" dirty="0">
                <a:solidFill>
                  <a:srgbClr val="1E40AF"/>
                </a:solidFill>
                <a:latin typeface="IBM Plex Sans KR" pitchFamily="34" charset="0"/>
                <a:ea typeface="IBM Plex Sans KR" pitchFamily="34" charset="-122"/>
                <a:cs typeface="IBM Plex Sans KR" pitchFamily="34" charset="-120"/>
              </a:rPr>
              <a:t>18 nm pitch</a:t>
            </a:r>
            <a:pPr algn="l" indent="0" marL="0">
              <a:lnSpc>
                <a:spcPct val="135000"/>
              </a:lnSpc>
              <a:buNone/>
            </a:pPr>
            <a:r>
              <a:rPr lang="en-US" sz="2100" dirty="0">
                <a:solidFill>
                  <a:srgbClr val="334155"/>
                </a:solidFill>
                <a:latin typeface="IBM Plex Sans KR" pitchFamily="34" charset="0"/>
                <a:ea typeface="IBM Plex Sans KR" pitchFamily="34" charset="-122"/>
                <a:cs typeface="IBM Plex Sans KR" pitchFamily="34" charset="-120"/>
              </a:rPr>
              <a:t> 라인에서, QALE 적용 여부에 따른</a:t>
            </a:r>
            <a:pPr algn="l" indent="0" marL="0">
              <a:lnSpc>
                <a:spcPct val="135000"/>
              </a:lnSpc>
              <a:buNone/>
            </a:pPr>
            <a:endParaRPr lang="en-US" sz="2100" dirty="0"/>
          </a:p>
          <a:p>
            <a:pPr algn="l" indent="0" marL="0">
              <a:lnSpc>
                <a:spcPct val="135000"/>
              </a:lnSpc>
              <a:buNone/>
            </a:pPr>
            <a:r>
              <a:rPr lang="en-US" sz="2100" dirty="0">
                <a:solidFill>
                  <a:srgbClr val="334155"/>
                </a:solidFill>
                <a:latin typeface="IBM Plex Sans KR" pitchFamily="34" charset="0"/>
                <a:ea typeface="IBM Plex Sans KR" pitchFamily="34" charset="-122"/>
                <a:cs typeface="IBM Plex Sans KR" pitchFamily="34" charset="-120"/>
              </a:rPr>
              <a:t>CD 균일도 / 피치 워크 / EPE / 전기적 수율의 거동을 정량 비교한다.</a:t>
            </a:r>
            <a:endParaRPr lang="en-US" sz="2100" dirty="0"/>
          </a:p>
        </p:txBody>
      </p:sp>
      <p:sp>
        <p:nvSpPr>
          <p:cNvPr id="18" name="Text 8"/>
          <p:cNvSpPr txBox="1"/>
          <p:nvPr/>
        </p:nvSpPr>
        <p:spPr>
          <a:xfrm>
            <a:off x="1143000" y="3829507"/>
            <a:ext cx="1905610" cy="514807"/>
          </a:xfrm>
          <a:prstGeom prst="rect">
            <a:avLst/>
          </a:prstGeom>
          <a:noFill/>
          <a:ln/>
        </p:spPr>
        <p:txBody>
          <a:bodyPr wrap="none" lIns="0" tIns="0" rIns="0" bIns="0" rtlCol="0" anchor="ctr"/>
          <a:lstStyle/>
          <a:p>
            <a:pPr algn="l" indent="0" marL="0">
              <a:buNone/>
            </a:pPr>
            <a:r>
              <a:rPr lang="en-US" sz="4050" b="1" spc="-81" kern="0" dirty="0">
                <a:solidFill>
                  <a:srgbClr val="1E40AF"/>
                </a:solidFill>
                <a:latin typeface="IBM Plex Mono" pitchFamily="34" charset="0"/>
                <a:ea typeface="IBM Plex Mono" pitchFamily="34" charset="-122"/>
                <a:cs typeface="IBM Plex Mono" pitchFamily="34" charset="-120"/>
              </a:rPr>
              <a:t>01</a:t>
            </a:r>
            <a:endParaRPr lang="en-US" sz="4050" dirty="0"/>
          </a:p>
        </p:txBody>
      </p:sp>
      <p:sp>
        <p:nvSpPr>
          <p:cNvPr id="19" name="Text 9"/>
          <p:cNvSpPr txBox="1"/>
          <p:nvPr/>
        </p:nvSpPr>
        <p:spPr>
          <a:xfrm>
            <a:off x="2190902" y="3981298"/>
            <a:ext cx="6477610" cy="342900"/>
          </a:xfrm>
          <a:prstGeom prst="rect">
            <a:avLst/>
          </a:prstGeom>
          <a:noFill/>
          <a:ln/>
        </p:spPr>
        <p:txBody>
          <a:bodyPr wrap="none" lIns="0" tIns="0" rIns="0" bIns="0" rtlCol="0" anchor="ctr"/>
          <a:lstStyle/>
          <a:p>
            <a:pPr algn="l" indent="0" marL="0">
              <a:buNone/>
            </a:pPr>
            <a:r>
              <a:rPr lang="en-US" sz="1800" b="1" dirty="0">
                <a:solidFill>
                  <a:srgbClr val="0F172A"/>
                </a:solidFill>
                <a:latin typeface="IBM Plex Sans KR" pitchFamily="34" charset="0"/>
                <a:ea typeface="IBM Plex Sans KR" pitchFamily="34" charset="-122"/>
                <a:cs typeface="IBM Plex Sans KR" pitchFamily="34" charset="-120"/>
              </a:rPr>
              <a:t>Stage별 CD Variation 정량화</a:t>
            </a:r>
            <a:endParaRPr lang="en-US" sz="1800" dirty="0"/>
          </a:p>
        </p:txBody>
      </p:sp>
      <p:sp>
        <p:nvSpPr>
          <p:cNvPr id="20" name="Text 10"/>
          <p:cNvSpPr txBox="1"/>
          <p:nvPr/>
        </p:nvSpPr>
        <p:spPr>
          <a:xfrm>
            <a:off x="2190902" y="4432097"/>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AASI / ASEI / AMI / ACI 네 단계에서 wafer별 mean·3σ·range를 기록하고,</a:t>
            </a:r>
            <a:pPr algn="l" indent="0" marL="0">
              <a:lnSpc>
                <a:spcPts val="2025"/>
              </a:lnSpc>
              <a:buNone/>
            </a:pPr>
            <a:endParaRPr lang="en-US" sz="1350" dirty="0"/>
          </a:p>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목표 CD로부터의 Δ-target을 통해 분할(split)별 오프셋 거동을 비교한다.</a:t>
            </a:r>
            <a:endParaRPr lang="en-US" sz="1350" dirty="0"/>
          </a:p>
        </p:txBody>
      </p:sp>
      <p:sp>
        <p:nvSpPr>
          <p:cNvPr id="21" name="Text 11"/>
          <p:cNvSpPr txBox="1"/>
          <p:nvPr/>
        </p:nvSpPr>
        <p:spPr>
          <a:xfrm>
            <a:off x="9715500" y="3829507"/>
            <a:ext cx="1905610" cy="514807"/>
          </a:xfrm>
          <a:prstGeom prst="rect">
            <a:avLst/>
          </a:prstGeom>
          <a:noFill/>
          <a:ln/>
        </p:spPr>
        <p:txBody>
          <a:bodyPr wrap="none" lIns="0" tIns="0" rIns="0" bIns="0" rtlCol="0" anchor="ctr"/>
          <a:lstStyle/>
          <a:p>
            <a:pPr algn="l" indent="0" marL="0">
              <a:buNone/>
            </a:pPr>
            <a:r>
              <a:rPr lang="en-US" sz="4050" b="1" spc="-81" kern="0" dirty="0">
                <a:solidFill>
                  <a:srgbClr val="0E7490"/>
                </a:solidFill>
                <a:latin typeface="IBM Plex Mono" pitchFamily="34" charset="0"/>
                <a:ea typeface="IBM Plex Mono" pitchFamily="34" charset="-122"/>
                <a:cs typeface="IBM Plex Mono" pitchFamily="34" charset="-120"/>
              </a:rPr>
              <a:t>02</a:t>
            </a:r>
            <a:endParaRPr lang="en-US" sz="4050" dirty="0"/>
          </a:p>
        </p:txBody>
      </p:sp>
      <p:sp>
        <p:nvSpPr>
          <p:cNvPr id="22" name="Text 12"/>
          <p:cNvSpPr txBox="1"/>
          <p:nvPr/>
        </p:nvSpPr>
        <p:spPr>
          <a:xfrm>
            <a:off x="10763402" y="3981298"/>
            <a:ext cx="6477610" cy="342900"/>
          </a:xfrm>
          <a:prstGeom prst="rect">
            <a:avLst/>
          </a:prstGeom>
          <a:noFill/>
          <a:ln/>
        </p:spPr>
        <p:txBody>
          <a:bodyPr wrap="none" lIns="0" tIns="0" rIns="0" bIns="0" rtlCol="0" anchor="ctr"/>
          <a:lstStyle/>
          <a:p>
            <a:pPr algn="l" indent="0" marL="0">
              <a:buNone/>
            </a:pPr>
            <a:r>
              <a:rPr lang="en-US" sz="1800" b="1" dirty="0">
                <a:solidFill>
                  <a:srgbClr val="0F172A"/>
                </a:solidFill>
                <a:latin typeface="IBM Plex Sans KR" pitchFamily="34" charset="0"/>
                <a:ea typeface="IBM Plex Sans KR" pitchFamily="34" charset="-122"/>
                <a:cs typeface="IBM Plex Sans KR" pitchFamily="34" charset="-120"/>
              </a:rPr>
              <a:t>In-wafer &amp; Wafer간 균일도</a:t>
            </a:r>
            <a:endParaRPr lang="en-US" sz="1800" dirty="0"/>
          </a:p>
        </p:txBody>
      </p:sp>
      <p:sp>
        <p:nvSpPr>
          <p:cNvPr id="23" name="Text 13"/>
          <p:cNvSpPr txBox="1"/>
          <p:nvPr/>
        </p:nvSpPr>
        <p:spPr>
          <a:xfrm>
            <a:off x="10763402" y="4432097"/>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Wafer당 49pt 측정 사이트에서 검출한 CD 분포의 3σ/mean(%)을 산출하고,</a:t>
            </a:r>
            <a:pPr algn="l" indent="0" marL="0">
              <a:lnSpc>
                <a:spcPts val="2025"/>
              </a:lnSpc>
              <a:buNone/>
            </a:pPr>
            <a:endParaRPr lang="en-US" sz="1350" dirty="0"/>
          </a:p>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wafer간 평균 차이를 Δ로 정량화해 공정 변동을 가시화한다.</a:t>
            </a:r>
            <a:endParaRPr lang="en-US" sz="1350" dirty="0"/>
          </a:p>
        </p:txBody>
      </p:sp>
      <p:sp>
        <p:nvSpPr>
          <p:cNvPr id="24" name="Text 14"/>
          <p:cNvSpPr txBox="1"/>
          <p:nvPr/>
        </p:nvSpPr>
        <p:spPr>
          <a:xfrm>
            <a:off x="1143000" y="6495898"/>
            <a:ext cx="1905610" cy="514807"/>
          </a:xfrm>
          <a:prstGeom prst="rect">
            <a:avLst/>
          </a:prstGeom>
          <a:noFill/>
          <a:ln/>
        </p:spPr>
        <p:txBody>
          <a:bodyPr wrap="none" lIns="0" tIns="0" rIns="0" bIns="0" rtlCol="0" anchor="ctr"/>
          <a:lstStyle/>
          <a:p>
            <a:pPr algn="l" indent="0" marL="0">
              <a:buNone/>
            </a:pPr>
            <a:r>
              <a:rPr lang="en-US" sz="4050" b="1" spc="-81" kern="0" dirty="0">
                <a:solidFill>
                  <a:srgbClr val="475569"/>
                </a:solidFill>
                <a:latin typeface="IBM Plex Mono" pitchFamily="34" charset="0"/>
                <a:ea typeface="IBM Plex Mono" pitchFamily="34" charset="-122"/>
                <a:cs typeface="IBM Plex Mono" pitchFamily="34" charset="-120"/>
              </a:rPr>
              <a:t>03</a:t>
            </a:r>
            <a:endParaRPr lang="en-US" sz="4050" dirty="0"/>
          </a:p>
        </p:txBody>
      </p:sp>
      <p:sp>
        <p:nvSpPr>
          <p:cNvPr id="25" name="Text 15"/>
          <p:cNvSpPr txBox="1"/>
          <p:nvPr/>
        </p:nvSpPr>
        <p:spPr>
          <a:xfrm>
            <a:off x="2190902" y="6648602"/>
            <a:ext cx="6477610" cy="342900"/>
          </a:xfrm>
          <a:prstGeom prst="rect">
            <a:avLst/>
          </a:prstGeom>
          <a:noFill/>
          <a:ln/>
        </p:spPr>
        <p:txBody>
          <a:bodyPr wrap="none" lIns="0" tIns="0" rIns="0" bIns="0" rtlCol="0" anchor="ctr"/>
          <a:lstStyle/>
          <a:p>
            <a:pPr algn="l" indent="0" marL="0">
              <a:buNone/>
            </a:pPr>
            <a:r>
              <a:rPr lang="en-US" sz="1800" b="1" dirty="0">
                <a:solidFill>
                  <a:srgbClr val="0F172A"/>
                </a:solidFill>
                <a:latin typeface="IBM Plex Sans KR" pitchFamily="34" charset="0"/>
                <a:ea typeface="IBM Plex Sans KR" pitchFamily="34" charset="-122"/>
                <a:cs typeface="IBM Plex Sans KR" pitchFamily="34" charset="-120"/>
              </a:rPr>
              <a:t>피치 워크 &amp; EPE 억제</a:t>
            </a:r>
            <a:endParaRPr lang="en-US" sz="1800" dirty="0"/>
          </a:p>
        </p:txBody>
      </p:sp>
      <p:sp>
        <p:nvSpPr>
          <p:cNvPr id="26" name="Text 16"/>
          <p:cNvSpPr txBox="1"/>
          <p:nvPr/>
        </p:nvSpPr>
        <p:spPr>
          <a:xfrm>
            <a:off x="2190902" y="7099402"/>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QALE(Quasi-ALE) 적용 wafer와 연속 RIE 기준 wafer의 피치 워크 변동폭을</a:t>
            </a:r>
            <a:pPr algn="l" indent="0" marL="0">
              <a:lnSpc>
                <a:spcPts val="2025"/>
              </a:lnSpc>
              <a:buNone/>
            </a:pPr>
            <a:endParaRPr lang="en-US" sz="1350" dirty="0"/>
          </a:p>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비교하고, 상층 비아 랜딩 마진 확보 가능 여부를 단면 관찰로 확인한다.</a:t>
            </a:r>
            <a:endParaRPr lang="en-US" sz="1350" dirty="0"/>
          </a:p>
        </p:txBody>
      </p:sp>
      <p:sp>
        <p:nvSpPr>
          <p:cNvPr id="27" name="Text 17"/>
          <p:cNvSpPr txBox="1"/>
          <p:nvPr/>
        </p:nvSpPr>
        <p:spPr>
          <a:xfrm>
            <a:off x="9715500" y="6495898"/>
            <a:ext cx="1905610" cy="514807"/>
          </a:xfrm>
          <a:prstGeom prst="rect">
            <a:avLst/>
          </a:prstGeom>
          <a:noFill/>
          <a:ln/>
        </p:spPr>
        <p:txBody>
          <a:bodyPr wrap="none" lIns="0" tIns="0" rIns="0" bIns="0" rtlCol="0" anchor="ctr"/>
          <a:lstStyle/>
          <a:p>
            <a:pPr algn="l" indent="0" marL="0">
              <a:buNone/>
            </a:pPr>
            <a:r>
              <a:rPr lang="en-US" sz="4050" b="1" spc="-81" kern="0" dirty="0">
                <a:solidFill>
                  <a:srgbClr val="2563EB"/>
                </a:solidFill>
                <a:latin typeface="IBM Plex Mono" pitchFamily="34" charset="0"/>
                <a:ea typeface="IBM Plex Mono" pitchFamily="34" charset="-122"/>
                <a:cs typeface="IBM Plex Mono" pitchFamily="34" charset="-120"/>
              </a:rPr>
              <a:t>04</a:t>
            </a:r>
            <a:endParaRPr lang="en-US" sz="4050" dirty="0"/>
          </a:p>
        </p:txBody>
      </p:sp>
      <p:sp>
        <p:nvSpPr>
          <p:cNvPr id="28" name="Text 18"/>
          <p:cNvSpPr txBox="1"/>
          <p:nvPr/>
        </p:nvSpPr>
        <p:spPr>
          <a:xfrm>
            <a:off x="10763402" y="6648602"/>
            <a:ext cx="6477610" cy="342900"/>
          </a:xfrm>
          <a:prstGeom prst="rect">
            <a:avLst/>
          </a:prstGeom>
          <a:noFill/>
          <a:ln/>
        </p:spPr>
        <p:txBody>
          <a:bodyPr wrap="none" lIns="0" tIns="0" rIns="0" bIns="0" rtlCol="0" anchor="ctr"/>
          <a:lstStyle/>
          <a:p>
            <a:pPr algn="l" indent="0" marL="0">
              <a:buNone/>
            </a:pPr>
            <a:r>
              <a:rPr lang="en-US" sz="1800" b="1" dirty="0">
                <a:solidFill>
                  <a:srgbClr val="0F172A"/>
                </a:solidFill>
                <a:latin typeface="IBM Plex Sans KR" pitchFamily="34" charset="0"/>
                <a:ea typeface="IBM Plex Sans KR" pitchFamily="34" charset="-122"/>
                <a:cs typeface="IBM Plex Sans KR" pitchFamily="34" charset="-120"/>
              </a:rPr>
              <a:t>전기적 영향 평가</a:t>
            </a:r>
            <a:endParaRPr lang="en-US" sz="1800" dirty="0"/>
          </a:p>
        </p:txBody>
      </p:sp>
      <p:sp>
        <p:nvSpPr>
          <p:cNvPr id="29" name="Text 19"/>
          <p:cNvSpPr txBox="1"/>
          <p:nvPr/>
        </p:nvSpPr>
        <p:spPr>
          <a:xfrm>
            <a:off x="10763402" y="7099402"/>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Rs / Rline / Rvia / Ioff / Probe yield를 wafer별 수치로 기록하여,</a:t>
            </a:r>
            <a:pPr algn="l" indent="0" marL="0">
              <a:lnSpc>
                <a:spcPts val="2025"/>
              </a:lnSpc>
              <a:buNone/>
            </a:pPr>
            <a:endParaRPr lang="en-US" sz="1350" dirty="0"/>
          </a:p>
          <a:p>
            <a:pPr algn="l" indent="0" marL="0">
              <a:lnSpc>
                <a:spcPts val="2025"/>
              </a:lnSpc>
              <a:buNone/>
            </a:pPr>
            <a:r>
              <a:rPr lang="en-US" sz="1350" dirty="0">
                <a:solidFill>
                  <a:srgbClr val="475569"/>
                </a:solidFill>
                <a:latin typeface="IBM Plex Sans KR" pitchFamily="34" charset="0"/>
                <a:ea typeface="IBM Plex Sans KR" pitchFamily="34" charset="-122"/>
                <a:cs typeface="IBM Plex Sans KR" pitchFamily="34" charset="-120"/>
              </a:rPr>
              <a:t>spacer 분할 결정이 전기적 수율로 직결되는지를 정량 데이터로 확인한다.</a:t>
            </a:r>
            <a:endParaRPr lang="en-US" sz="1350" dirty="0"/>
          </a:p>
        </p:txBody>
      </p:sp>
      <p:sp>
        <p:nvSpPr>
          <p:cNvPr id="30" name="Text 20"/>
          <p:cNvSpPr txBox="1"/>
          <p:nvPr/>
        </p:nvSpPr>
        <p:spPr>
          <a:xfrm>
            <a:off x="761695" y="9696298"/>
            <a:ext cx="11430000" cy="200254"/>
          </a:xfrm>
          <a:prstGeom prst="rect">
            <a:avLst/>
          </a:prstGeom>
          <a:noFill/>
          <a:ln/>
        </p:spPr>
        <p:txBody>
          <a:bodyPr wrap="none" lIns="0" tIns="0" rIns="0" bIns="0" rtlCol="0" anchor="ctr"/>
          <a:lstStyle/>
          <a:p>
            <a:pPr algn="l" indent="0" marL="0">
              <a:buNone/>
            </a:pPr>
            <a:r>
              <a:rPr lang="en-US" sz="1050" spc="21" kern="0" dirty="0">
                <a:solidFill>
                  <a:srgbClr val="64748B"/>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
        <p:nvSpPr>
          <p:cNvPr id="31" name="Text 21"/>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EUVDUM / 2026-Q4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743200"/>
            <a:ext cx="8401507" cy="4972507"/>
          </a:xfrm>
          <a:prstGeom prst="rect">
            <a:avLst/>
          </a:prstGeom>
          <a:solidFill>
            <a:srgbClr val="FFFFFF"/>
          </a:solidFill>
          <a:ln w="12700">
            <a:solidFill>
              <a:srgbClr val="E2E8F0"/>
            </a:solidFill>
            <a:prstDash val="solid"/>
          </a:ln>
        </p:spPr>
      </p:sp>
      <p:pic>
        <p:nvPicPr>
          <p:cNvPr id="5" name="Image 1" descr="gen-dedup-f9ae59d81241b5c676263fb0787f0a18.png">    </p:cNvPr>
          <p:cNvPicPr>
            <a:picLocks noChangeAspect="1"/>
          </p:cNvPicPr>
          <p:nvPr/>
        </p:nvPicPr>
        <p:blipFill>
          <a:blip r:embed="rId2"/>
          <a:srcRect l="-2083" r="-2083" t="0" b="0"/>
          <a:stretch/>
        </p:blipFill>
        <p:spPr>
          <a:xfrm>
            <a:off x="1143000" y="3733495"/>
            <a:ext cx="7619695" cy="9144"/>
          </a:xfrm>
          <a:prstGeom prst="rect">
            <a:avLst/>
          </a:prstGeom>
        </p:spPr>
      </p:pic>
      <p:pic>
        <p:nvPicPr>
          <p:cNvPr id="6" name="Image 2" descr="gen-dedup-f9ae59d81241b5c676263fb0787f0a18.png">    </p:cNvPr>
          <p:cNvPicPr>
            <a:picLocks noChangeAspect="1"/>
          </p:cNvPicPr>
          <p:nvPr/>
        </p:nvPicPr>
        <p:blipFill>
          <a:blip r:embed="rId3"/>
          <a:srcRect l="-2083" r="-2083" t="0" b="0"/>
          <a:stretch/>
        </p:blipFill>
        <p:spPr>
          <a:xfrm>
            <a:off x="1143000" y="4304995"/>
            <a:ext cx="7619695" cy="9144"/>
          </a:xfrm>
          <a:prstGeom prst="rect">
            <a:avLst/>
          </a:prstGeom>
        </p:spPr>
      </p:pic>
      <p:pic>
        <p:nvPicPr>
          <p:cNvPr id="7" name="Image 3" descr="gen-dedup-f9ae59d81241b5c676263fb0787f0a18.png">    </p:cNvPr>
          <p:cNvPicPr>
            <a:picLocks noChangeAspect="1"/>
          </p:cNvPicPr>
          <p:nvPr/>
        </p:nvPicPr>
        <p:blipFill>
          <a:blip r:embed="rId4"/>
          <a:srcRect l="-2083" r="-2083" t="0" b="0"/>
          <a:stretch/>
        </p:blipFill>
        <p:spPr>
          <a:xfrm>
            <a:off x="1143000" y="4876495"/>
            <a:ext cx="7619695" cy="9144"/>
          </a:xfrm>
          <a:prstGeom prst="rect">
            <a:avLst/>
          </a:prstGeom>
        </p:spPr>
      </p:pic>
      <p:pic>
        <p:nvPicPr>
          <p:cNvPr id="8" name="Image 4" descr="gen-dedup-f9ae59d81241b5c676263fb0787f0a18.png">    </p:cNvPr>
          <p:cNvPicPr>
            <a:picLocks noChangeAspect="1"/>
          </p:cNvPicPr>
          <p:nvPr/>
        </p:nvPicPr>
        <p:blipFill>
          <a:blip r:embed="rId5"/>
          <a:srcRect l="-2083" r="-2083" t="0" b="0"/>
          <a:stretch/>
        </p:blipFill>
        <p:spPr>
          <a:xfrm>
            <a:off x="1143000" y="5447995"/>
            <a:ext cx="7619695" cy="9144"/>
          </a:xfrm>
          <a:prstGeom prst="rect">
            <a:avLst/>
          </a:prstGeom>
        </p:spPr>
      </p:pic>
      <p:pic>
        <p:nvPicPr>
          <p:cNvPr id="9" name="Image 5" descr="gen-dedup-f9ae59d81241b5c676263fb0787f0a18.png">    </p:cNvPr>
          <p:cNvPicPr>
            <a:picLocks noChangeAspect="1"/>
          </p:cNvPicPr>
          <p:nvPr/>
        </p:nvPicPr>
        <p:blipFill>
          <a:blip r:embed="rId6"/>
          <a:srcRect l="-2083" r="-2083" t="0" b="0"/>
          <a:stretch/>
        </p:blipFill>
        <p:spPr>
          <a:xfrm>
            <a:off x="1143000" y="6019495"/>
            <a:ext cx="7619695" cy="9144"/>
          </a:xfrm>
          <a:prstGeom prst="rect">
            <a:avLst/>
          </a:prstGeom>
        </p:spPr>
      </p:pic>
      <p:sp>
        <p:nvSpPr>
          <p:cNvPr id="10" name="Shape 1"/>
          <p:cNvSpPr/>
          <p:nvPr/>
        </p:nvSpPr>
        <p:spPr>
          <a:xfrm>
            <a:off x="9525305" y="2743200"/>
            <a:ext cx="8020202" cy="4972507"/>
          </a:xfrm>
          <a:prstGeom prst="rect">
            <a:avLst/>
          </a:prstGeom>
          <a:solidFill>
            <a:srgbClr val="FFFFFF"/>
          </a:solidFill>
          <a:ln w="12700">
            <a:solidFill>
              <a:srgbClr val="E2E8F0"/>
            </a:solidFill>
            <a:prstDash val="solid"/>
          </a:ln>
        </p:spPr>
      </p:sp>
      <p:pic>
        <p:nvPicPr>
          <p:cNvPr id="11" name="Image 6" descr="gen-dedup-f39b3761092de34488a16786cd95d254.png">    </p:cNvPr>
          <p:cNvPicPr>
            <a:picLocks noChangeAspect="1"/>
          </p:cNvPicPr>
          <p:nvPr/>
        </p:nvPicPr>
        <p:blipFill>
          <a:blip r:embed="rId7"/>
          <a:srcRect l="-2083" r="-2083" t="0" b="0"/>
          <a:stretch/>
        </p:blipFill>
        <p:spPr>
          <a:xfrm>
            <a:off x="9905695" y="3619195"/>
            <a:ext cx="7429500" cy="9144"/>
          </a:xfrm>
          <a:prstGeom prst="rect">
            <a:avLst/>
          </a:prstGeom>
        </p:spPr>
      </p:pic>
      <p:pic>
        <p:nvPicPr>
          <p:cNvPr id="12" name="Image 7" descr="gen-dedup-4304fe1b0b1d713798b7291bb0c26413.png">    </p:cNvPr>
          <p:cNvPicPr>
            <a:picLocks noChangeAspect="1"/>
          </p:cNvPicPr>
          <p:nvPr/>
        </p:nvPicPr>
        <p:blipFill>
          <a:blip r:embed="rId8"/>
          <a:srcRect l="-2083" r="-2083" t="0" b="0"/>
          <a:stretch/>
        </p:blipFill>
        <p:spPr>
          <a:xfrm>
            <a:off x="9905695" y="4572000"/>
            <a:ext cx="7429500" cy="9144"/>
          </a:xfrm>
          <a:prstGeom prst="rect">
            <a:avLst/>
          </a:prstGeom>
        </p:spPr>
      </p:pic>
      <p:pic>
        <p:nvPicPr>
          <p:cNvPr id="13" name="Image 8" descr="gen-dedup-4304fe1b0b1d713798b7291bb0c26413.png">    </p:cNvPr>
          <p:cNvPicPr>
            <a:picLocks noChangeAspect="1"/>
          </p:cNvPicPr>
          <p:nvPr/>
        </p:nvPicPr>
        <p:blipFill>
          <a:blip r:embed="rId9"/>
          <a:srcRect l="-2083" r="-2083" t="0" b="0"/>
          <a:stretch/>
        </p:blipFill>
        <p:spPr>
          <a:xfrm>
            <a:off x="9905695" y="5524805"/>
            <a:ext cx="7429500" cy="9144"/>
          </a:xfrm>
          <a:prstGeom prst="rect">
            <a:avLst/>
          </a:prstGeom>
        </p:spPr>
      </p:pic>
      <p:pic>
        <p:nvPicPr>
          <p:cNvPr id="14" name="Image 9" descr="gen-dedup-f39b3761092de34488a16786cd95d254.png">    </p:cNvPr>
          <p:cNvPicPr>
            <a:picLocks noChangeAspect="1"/>
          </p:cNvPicPr>
          <p:nvPr/>
        </p:nvPicPr>
        <p:blipFill>
          <a:blip r:embed="rId10"/>
          <a:srcRect l="-2083" r="-2083" t="0" b="0"/>
          <a:stretch/>
        </p:blipFill>
        <p:spPr>
          <a:xfrm>
            <a:off x="9905695" y="6476695"/>
            <a:ext cx="7429500" cy="9144"/>
          </a:xfrm>
          <a:prstGeom prst="rect">
            <a:avLst/>
          </a:prstGeom>
        </p:spPr>
      </p:pic>
      <p:sp>
        <p:nvSpPr>
          <p:cNvPr id="15" name="Shape 2"/>
          <p:cNvSpPr/>
          <p:nvPr/>
        </p:nvSpPr>
        <p:spPr>
          <a:xfrm>
            <a:off x="761695" y="8001000"/>
            <a:ext cx="4000500" cy="1333195"/>
          </a:xfrm>
          <a:prstGeom prst="rect">
            <a:avLst/>
          </a:prstGeom>
          <a:solidFill>
            <a:srgbClr val="0F172A"/>
          </a:solidFill>
          <a:ln w="12700">
            <a:solidFill>
              <a:srgbClr val="FFFFFF">
                <a:alpha val="0"/>
              </a:srgbClr>
            </a:solidFill>
            <a:prstDash val="solid"/>
          </a:ln>
        </p:spPr>
      </p:sp>
      <p:sp>
        <p:nvSpPr>
          <p:cNvPr id="16" name="Shape 3"/>
          <p:cNvSpPr/>
          <p:nvPr/>
        </p:nvSpPr>
        <p:spPr>
          <a:xfrm>
            <a:off x="4953305" y="8001000"/>
            <a:ext cx="4000500" cy="1333195"/>
          </a:xfrm>
          <a:prstGeom prst="rect">
            <a:avLst/>
          </a:prstGeom>
          <a:solidFill>
            <a:srgbClr val="1E40AF"/>
          </a:solidFill>
          <a:ln w="12700">
            <a:solidFill>
              <a:srgbClr val="FFFFFF">
                <a:alpha val="0"/>
              </a:srgbClr>
            </a:solidFill>
            <a:prstDash val="solid"/>
          </a:ln>
        </p:spPr>
      </p:sp>
      <p:sp>
        <p:nvSpPr>
          <p:cNvPr id="17" name="Shape 4"/>
          <p:cNvSpPr/>
          <p:nvPr/>
        </p:nvSpPr>
        <p:spPr>
          <a:xfrm>
            <a:off x="9144000" y="8001000"/>
            <a:ext cx="4000500" cy="1333195"/>
          </a:xfrm>
          <a:prstGeom prst="rect">
            <a:avLst/>
          </a:prstGeom>
          <a:solidFill>
            <a:srgbClr val="0E7490"/>
          </a:solidFill>
          <a:ln w="12700">
            <a:solidFill>
              <a:srgbClr val="FFFFFF">
                <a:alpha val="0"/>
              </a:srgbClr>
            </a:solidFill>
            <a:prstDash val="solid"/>
          </a:ln>
        </p:spPr>
      </p:sp>
      <p:sp>
        <p:nvSpPr>
          <p:cNvPr id="18" name="Shape 5"/>
          <p:cNvSpPr/>
          <p:nvPr/>
        </p:nvSpPr>
        <p:spPr>
          <a:xfrm>
            <a:off x="13334695" y="8001000"/>
            <a:ext cx="4190695" cy="1333195"/>
          </a:xfrm>
          <a:prstGeom prst="rect">
            <a:avLst/>
          </a:prstGeom>
          <a:solidFill>
            <a:srgbClr val="334155"/>
          </a:solidFill>
          <a:ln w="12700">
            <a:solidFill>
              <a:srgbClr val="FFFFFF">
                <a:alpha val="0"/>
              </a:srgbClr>
            </a:solidFill>
            <a:prstDash val="solid"/>
          </a:ln>
        </p:spPr>
      </p:sp>
      <p:pic>
        <p:nvPicPr>
          <p:cNvPr id="19" name="Image 10" descr="gen-dedup-5a0ba8ca655a299c416b119e75c6720d.png">    </p:cNvPr>
          <p:cNvPicPr>
            <a:picLocks noChangeAspect="1"/>
          </p:cNvPicPr>
          <p:nvPr/>
        </p:nvPicPr>
        <p:blipFill>
          <a:blip r:embed="rId11"/>
          <a:srcRect l="-2083" r="-2083" t="0" b="0"/>
          <a:stretch/>
        </p:blipFill>
        <p:spPr>
          <a:xfrm>
            <a:off x="761695" y="9525305"/>
            <a:ext cx="16763695" cy="9144"/>
          </a:xfrm>
          <a:prstGeom prst="rect">
            <a:avLst/>
          </a:prstGeom>
        </p:spPr>
      </p:pic>
      <p:sp>
        <p:nvSpPr>
          <p:cNvPr id="20" name="Shape 6"/>
          <p:cNvSpPr/>
          <p:nvPr/>
        </p:nvSpPr>
        <p:spPr>
          <a:xfrm>
            <a:off x="761695" y="2743200"/>
            <a:ext cx="8382305" cy="342900"/>
          </a:xfrm>
          <a:prstGeom prst="rect">
            <a:avLst/>
          </a:prstGeom>
          <a:solidFill>
            <a:srgbClr val="0F172A"/>
          </a:solidFill>
          <a:ln w="12700">
            <a:solidFill>
              <a:srgbClr val="FFFFFF">
                <a:alpha val="0"/>
              </a:srgbClr>
            </a:solidFill>
            <a:prstDash val="solid"/>
          </a:ln>
        </p:spPr>
      </p:sp>
      <p:sp>
        <p:nvSpPr>
          <p:cNvPr id="21" name="Shape 7"/>
          <p:cNvSpPr/>
          <p:nvPr/>
        </p:nvSpPr>
        <p:spPr>
          <a:xfrm>
            <a:off x="9525305" y="2743200"/>
            <a:ext cx="8001000" cy="342900"/>
          </a:xfrm>
          <a:prstGeom prst="rect">
            <a:avLst/>
          </a:prstGeom>
          <a:solidFill>
            <a:srgbClr val="0F172A"/>
          </a:solidFill>
          <a:ln w="12700">
            <a:solidFill>
              <a:srgbClr val="FFFFFF">
                <a:alpha val="0"/>
              </a:srgbClr>
            </a:solidFill>
            <a:prstDash val="solid"/>
          </a:ln>
        </p:spPr>
      </p:sp>
      <p:sp>
        <p:nvSpPr>
          <p:cNvPr id="22" name="Shape 8"/>
          <p:cNvSpPr/>
          <p:nvPr/>
        </p:nvSpPr>
        <p:spPr>
          <a:xfrm>
            <a:off x="9810598" y="3829507"/>
            <a:ext cx="114300" cy="571500"/>
          </a:xfrm>
          <a:prstGeom prst="rect">
            <a:avLst/>
          </a:prstGeom>
          <a:solidFill>
            <a:srgbClr val="1E40AF"/>
          </a:solidFill>
          <a:ln w="12700">
            <a:solidFill>
              <a:srgbClr val="FFFFFF">
                <a:alpha val="0"/>
              </a:srgbClr>
            </a:solidFill>
            <a:prstDash val="solid"/>
          </a:ln>
        </p:spPr>
      </p:sp>
      <p:sp>
        <p:nvSpPr>
          <p:cNvPr id="23" name="Shape 9"/>
          <p:cNvSpPr/>
          <p:nvPr/>
        </p:nvSpPr>
        <p:spPr>
          <a:xfrm>
            <a:off x="9810598" y="4781398"/>
            <a:ext cx="114300" cy="571500"/>
          </a:xfrm>
          <a:prstGeom prst="rect">
            <a:avLst/>
          </a:prstGeom>
          <a:solidFill>
            <a:srgbClr val="0E7490"/>
          </a:solidFill>
          <a:ln w="12700">
            <a:solidFill>
              <a:srgbClr val="FFFFFF">
                <a:alpha val="0"/>
              </a:srgbClr>
            </a:solidFill>
            <a:prstDash val="solid"/>
          </a:ln>
        </p:spPr>
      </p:sp>
      <p:sp>
        <p:nvSpPr>
          <p:cNvPr id="24" name="Shape 10"/>
          <p:cNvSpPr/>
          <p:nvPr/>
        </p:nvSpPr>
        <p:spPr>
          <a:xfrm>
            <a:off x="9810598" y="5734202"/>
            <a:ext cx="114300" cy="571500"/>
          </a:xfrm>
          <a:prstGeom prst="rect">
            <a:avLst/>
          </a:prstGeom>
          <a:solidFill>
            <a:srgbClr val="475569"/>
          </a:solidFill>
          <a:ln w="12700">
            <a:solidFill>
              <a:srgbClr val="FFFFFF">
                <a:alpha val="0"/>
              </a:srgbClr>
            </a:solidFill>
            <a:prstDash val="solid"/>
          </a:ln>
        </p:spPr>
      </p:sp>
      <p:sp>
        <p:nvSpPr>
          <p:cNvPr id="25" name="Text 11"/>
          <p:cNvSpPr txBox="1"/>
          <p:nvPr/>
        </p:nvSpPr>
        <p:spPr>
          <a:xfrm>
            <a:off x="761695" y="761695"/>
            <a:ext cx="8572500"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EXPERIMENT CONDITIONS · 02 / 08</a:t>
            </a:r>
            <a:endParaRPr lang="en-US" sz="1050" dirty="0"/>
          </a:p>
        </p:txBody>
      </p:sp>
      <p:sp>
        <p:nvSpPr>
          <p:cNvPr id="26" name="Text 12"/>
          <p:cNvSpPr txBox="1"/>
          <p:nvPr/>
        </p:nvSpPr>
        <p:spPr>
          <a:xfrm>
            <a:off x="761695" y="1123798"/>
            <a:ext cx="10478110" cy="609905"/>
          </a:xfrm>
          <a:prstGeom prst="rect">
            <a:avLst/>
          </a:prstGeom>
          <a:noFill/>
          <a:ln/>
        </p:spPr>
        <p:txBody>
          <a:bodyPr wrap="none" lIns="0" tIns="0" rIns="0" bIns="0" rtlCol="0" anchor="ctr"/>
          <a:lstStyle/>
          <a:p>
            <a:pPr algn="l" indent="0" marL="0">
              <a:buNone/>
            </a:pPr>
            <a:r>
              <a:rPr lang="en-US" sz="4800" b="1" spc="-96" kern="0" dirty="0">
                <a:solidFill>
                  <a:srgbClr val="0F172A"/>
                </a:solidFill>
                <a:latin typeface="IBM Plex Sans KR" pitchFamily="34" charset="0"/>
                <a:ea typeface="IBM Plex Sans KR" pitchFamily="34" charset="-122"/>
                <a:cs typeface="IBM Plex Sans KR" pitchFamily="34" charset="-120"/>
              </a:rPr>
              <a:t>실험 조건</a:t>
            </a:r>
            <a:endParaRPr lang="en-US" sz="4800" dirty="0"/>
          </a:p>
        </p:txBody>
      </p:sp>
      <p:sp>
        <p:nvSpPr>
          <p:cNvPr id="27" name="Text 13"/>
          <p:cNvSpPr txBox="1"/>
          <p:nvPr/>
        </p:nvSpPr>
        <p:spPr>
          <a:xfrm>
            <a:off x="761695" y="2018995"/>
            <a:ext cx="12382805" cy="305410"/>
          </a:xfrm>
          <a:prstGeom prst="rect">
            <a:avLst/>
          </a:prstGeom>
          <a:noFill/>
          <a:ln/>
        </p:spPr>
        <p:txBody>
          <a:bodyPr wrap="none" lIns="0" tIns="0" rIns="0" bIns="0" rtlCol="0" anchor="ctr"/>
          <a:lstStyle/>
          <a:p>
            <a:pPr algn="l" indent="0" marL="0">
              <a:buNone/>
            </a:pPr>
            <a:r>
              <a:rPr lang="en-US" sz="1650" dirty="0">
                <a:solidFill>
                  <a:srgbClr val="475569"/>
                </a:solidFill>
                <a:latin typeface="IBM Plex Sans KR" pitchFamily="34" charset="0"/>
                <a:ea typeface="IBM Plex Sans KR" pitchFamily="34" charset="-122"/>
                <a:cs typeface="IBM Plex Sans KR" pitchFamily="34" charset="-120"/>
              </a:rPr>
              <a:t>동일 300 mm 기판에서 M3 BEOL 18 nm pitch 라인을 SADP로 형성하고, spacer 형성·식각 단계에 분할을 적용했다.</a:t>
            </a:r>
            <a:endParaRPr lang="en-US" sz="1650" dirty="0"/>
          </a:p>
        </p:txBody>
      </p:sp>
      <p:sp>
        <p:nvSpPr>
          <p:cNvPr id="28" name="Text 14"/>
          <p:cNvSpPr txBox="1"/>
          <p:nvPr/>
        </p:nvSpPr>
        <p:spPr>
          <a:xfrm>
            <a:off x="990295" y="2800807"/>
            <a:ext cx="5715000" cy="210312"/>
          </a:xfrm>
          <a:prstGeom prst="rect">
            <a:avLst/>
          </a:prstGeom>
          <a:noFill/>
          <a:ln/>
        </p:spPr>
        <p:txBody>
          <a:bodyPr wrap="none" lIns="0" tIns="0" rIns="0" bIns="0" rtlCol="0" anchor="ctr"/>
          <a:lstStyle/>
          <a:p>
            <a:pPr algn="l" indent="0" marL="0">
              <a:buNone/>
            </a:pPr>
            <a:r>
              <a:rPr lang="en-US" sz="1125" b="1" spc="90" kern="0" dirty="0">
                <a:solidFill>
                  <a:srgbClr val="E2E8F0"/>
                </a:solidFill>
                <a:latin typeface="IBM Plex Sans KR" pitchFamily="34" charset="0"/>
                <a:ea typeface="IBM Plex Sans KR" pitchFamily="34" charset="-122"/>
                <a:cs typeface="IBM Plex Sans KR" pitchFamily="34" charset="-120"/>
              </a:rPr>
              <a:t>A · 공정 변수</a:t>
            </a:r>
            <a:endParaRPr lang="en-US" sz="1125" dirty="0"/>
          </a:p>
        </p:txBody>
      </p:sp>
      <p:sp>
        <p:nvSpPr>
          <p:cNvPr id="29" name="Text 15"/>
          <p:cNvSpPr txBox="1"/>
          <p:nvPr/>
        </p:nvSpPr>
        <p:spPr>
          <a:xfrm>
            <a:off x="6953098" y="2800807"/>
            <a:ext cx="2000707" cy="162763"/>
          </a:xfrm>
          <a:prstGeom prst="rect">
            <a:avLst/>
          </a:prstGeom>
          <a:noFill/>
          <a:ln/>
        </p:spPr>
        <p:txBody>
          <a:bodyPr wrap="none" lIns="0" tIns="0" rIns="0" bIns="0" rtlCol="0" anchor="ctr"/>
          <a:lstStyle/>
          <a:p>
            <a:pPr algn="r" indent="0" marL="0">
              <a:buNone/>
            </a:pPr>
            <a:r>
              <a:rPr lang="en-US" sz="975" spc="98" kern="0" dirty="0">
                <a:solidFill>
                  <a:srgbClr val="94A3B8"/>
                </a:solidFill>
                <a:latin typeface="IBM Plex Mono" pitchFamily="34" charset="0"/>
                <a:ea typeface="IBM Plex Mono" pitchFamily="34" charset="-122"/>
                <a:cs typeface="IBM Plex Mono" pitchFamily="34" charset="-120"/>
              </a:rPr>
              <a:t>/ PROCESS PARAMETERS</a:t>
            </a:r>
            <a:endParaRPr lang="en-US" sz="975" dirty="0"/>
          </a:p>
        </p:txBody>
      </p:sp>
      <p:sp>
        <p:nvSpPr>
          <p:cNvPr id="30" name="Text 16"/>
          <p:cNvSpPr txBox="1"/>
          <p:nvPr/>
        </p:nvSpPr>
        <p:spPr>
          <a:xfrm>
            <a:off x="1143000" y="33531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Metal layer</a:t>
            </a:r>
            <a:endParaRPr lang="en-US" sz="1200" dirty="0"/>
          </a:p>
        </p:txBody>
      </p:sp>
      <p:sp>
        <p:nvSpPr>
          <p:cNvPr id="31" name="Text 17"/>
          <p:cNvSpPr txBox="1"/>
          <p:nvPr/>
        </p:nvSpPr>
        <p:spPr>
          <a:xfrm>
            <a:off x="1143000" y="3353105"/>
            <a:ext cx="7620610" cy="257861"/>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M3 · BEOL</a:t>
            </a:r>
            <a:endParaRPr lang="en-US" sz="1500" dirty="0"/>
          </a:p>
        </p:txBody>
      </p:sp>
      <p:sp>
        <p:nvSpPr>
          <p:cNvPr id="32" name="Text 18"/>
          <p:cNvSpPr txBox="1"/>
          <p:nvPr/>
        </p:nvSpPr>
        <p:spPr>
          <a:xfrm>
            <a:off x="1143000" y="39246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Target pitch</a:t>
            </a:r>
            <a:endParaRPr lang="en-US" sz="1200" dirty="0"/>
          </a:p>
        </p:txBody>
      </p:sp>
      <p:sp>
        <p:nvSpPr>
          <p:cNvPr id="33" name="Text 19"/>
          <p:cNvSpPr txBox="1"/>
          <p:nvPr/>
        </p:nvSpPr>
        <p:spPr>
          <a:xfrm>
            <a:off x="1143000" y="3924605"/>
            <a:ext cx="7620610" cy="257861"/>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18 nm · P18</a:t>
            </a:r>
            <a:endParaRPr lang="en-US" sz="1500" dirty="0"/>
          </a:p>
        </p:txBody>
      </p:sp>
      <p:sp>
        <p:nvSpPr>
          <p:cNvPr id="34" name="Text 20"/>
          <p:cNvSpPr txBox="1"/>
          <p:nvPr/>
        </p:nvSpPr>
        <p:spPr>
          <a:xfrm>
            <a:off x="1143000" y="44961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Patterning scheme</a:t>
            </a:r>
            <a:endParaRPr lang="en-US" sz="1200" dirty="0"/>
          </a:p>
        </p:txBody>
      </p:sp>
      <p:sp>
        <p:nvSpPr>
          <p:cNvPr id="35" name="Text 21"/>
          <p:cNvSpPr txBox="1"/>
          <p:nvPr/>
        </p:nvSpPr>
        <p:spPr>
          <a:xfrm>
            <a:off x="1143000" y="4496105"/>
            <a:ext cx="7620610" cy="257861"/>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EUV SADP + Cut mask</a:t>
            </a:r>
            <a:endParaRPr lang="en-US" sz="1500" dirty="0"/>
          </a:p>
        </p:txBody>
      </p:sp>
      <p:sp>
        <p:nvSpPr>
          <p:cNvPr id="36" name="Text 22"/>
          <p:cNvSpPr txBox="1"/>
          <p:nvPr/>
        </p:nvSpPr>
        <p:spPr>
          <a:xfrm>
            <a:off x="1143000" y="50676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Spacer material / deposition</a:t>
            </a:r>
            <a:endParaRPr lang="en-US" sz="1200" dirty="0"/>
          </a:p>
        </p:txBody>
      </p:sp>
      <p:sp>
        <p:nvSpPr>
          <p:cNvPr id="37" name="Text 23"/>
          <p:cNvSpPr txBox="1"/>
          <p:nvPr/>
        </p:nvSpPr>
        <p:spPr>
          <a:xfrm>
            <a:off x="1143000" y="5067605"/>
            <a:ext cx="7620610" cy="257861"/>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SiOCH · ALD 3-split</a:t>
            </a:r>
            <a:endParaRPr lang="en-US" sz="1500" dirty="0"/>
          </a:p>
        </p:txBody>
      </p:sp>
      <p:sp>
        <p:nvSpPr>
          <p:cNvPr id="38" name="Text 24"/>
          <p:cNvSpPr txBox="1"/>
          <p:nvPr/>
        </p:nvSpPr>
        <p:spPr>
          <a:xfrm>
            <a:off x="1143000" y="56391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Spacer etch</a:t>
            </a:r>
            <a:endParaRPr lang="en-US" sz="1200" dirty="0"/>
          </a:p>
        </p:txBody>
      </p:sp>
      <p:sp>
        <p:nvSpPr>
          <p:cNvPr id="39" name="Text 25"/>
          <p:cNvSpPr txBox="1"/>
          <p:nvPr/>
        </p:nvSpPr>
        <p:spPr>
          <a:xfrm>
            <a:off x="1143000" y="5639105"/>
            <a:ext cx="7620610" cy="277063"/>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W1 연속 RIE / W2·W3 QALE</a:t>
            </a:r>
            <a:endParaRPr lang="en-US" sz="1500" dirty="0"/>
          </a:p>
        </p:txBody>
      </p:sp>
      <p:sp>
        <p:nvSpPr>
          <p:cNvPr id="40" name="Text 26"/>
          <p:cNvSpPr txBox="1"/>
          <p:nvPr/>
        </p:nvSpPr>
        <p:spPr>
          <a:xfrm>
            <a:off x="1143000" y="6210605"/>
            <a:ext cx="2857500" cy="228600"/>
          </a:xfrm>
          <a:prstGeom prst="rect">
            <a:avLst/>
          </a:prstGeom>
          <a:noFill/>
          <a:ln/>
        </p:spPr>
        <p:txBody>
          <a:bodyPr wrap="none" lIns="0" tIns="0" rIns="0" bIns="0" rtlCol="0" anchor="ctr"/>
          <a:lstStyle/>
          <a:p>
            <a:pPr algn="l" indent="0" marL="0">
              <a:buNone/>
            </a:pPr>
            <a:r>
              <a:rPr lang="en-US" sz="1200" dirty="0">
                <a:solidFill>
                  <a:srgbClr val="64748B"/>
                </a:solidFill>
                <a:latin typeface="IBM Plex Sans KR" pitchFamily="34" charset="0"/>
                <a:ea typeface="IBM Plex Sans KR" pitchFamily="34" charset="-122"/>
                <a:cs typeface="IBM Plex Sans KR" pitchFamily="34" charset="-120"/>
              </a:rPr>
              <a:t>Inspection points</a:t>
            </a:r>
            <a:endParaRPr lang="en-US" sz="1200" dirty="0"/>
          </a:p>
        </p:txBody>
      </p:sp>
      <p:sp>
        <p:nvSpPr>
          <p:cNvPr id="41" name="Text 27"/>
          <p:cNvSpPr txBox="1"/>
          <p:nvPr/>
        </p:nvSpPr>
        <p:spPr>
          <a:xfrm>
            <a:off x="1143000" y="6210605"/>
            <a:ext cx="7620610" cy="257861"/>
          </a:xfrm>
          <a:prstGeom prst="rect">
            <a:avLst/>
          </a:prstGeom>
          <a:noFill/>
          <a:ln/>
        </p:spPr>
        <p:txBody>
          <a:bodyPr wrap="none" lIns="0" tIns="0" rIns="0" bIns="0" rtlCol="0" anchor="ctr"/>
          <a:lstStyle/>
          <a:p>
            <a:pPr algn="r" indent="0" marL="0">
              <a:buNone/>
            </a:pPr>
            <a:r>
              <a:rPr lang="en-US" sz="1500" dirty="0">
                <a:solidFill>
                  <a:srgbClr val="0F172A"/>
                </a:solidFill>
                <a:latin typeface="IBM Plex Mono" pitchFamily="34" charset="0"/>
                <a:ea typeface="IBM Plex Mono" pitchFamily="34" charset="-122"/>
                <a:cs typeface="IBM Plex Mono" pitchFamily="34" charset="-120"/>
              </a:rPr>
              <a:t>AASI · ASEI · AMI · ACI</a:t>
            </a:r>
            <a:endParaRPr lang="en-US" sz="1500" dirty="0"/>
          </a:p>
        </p:txBody>
      </p:sp>
      <p:sp>
        <p:nvSpPr>
          <p:cNvPr id="42" name="Text 28"/>
          <p:cNvSpPr txBox="1"/>
          <p:nvPr/>
        </p:nvSpPr>
        <p:spPr>
          <a:xfrm>
            <a:off x="9753905" y="2800807"/>
            <a:ext cx="5715000" cy="210312"/>
          </a:xfrm>
          <a:prstGeom prst="rect">
            <a:avLst/>
          </a:prstGeom>
          <a:noFill/>
          <a:ln/>
        </p:spPr>
        <p:txBody>
          <a:bodyPr wrap="none" lIns="0" tIns="0" rIns="0" bIns="0" rtlCol="0" anchor="ctr"/>
          <a:lstStyle/>
          <a:p>
            <a:pPr algn="l" indent="0" marL="0">
              <a:buNone/>
            </a:pPr>
            <a:r>
              <a:rPr lang="en-US" sz="1125" b="1" spc="90" kern="0" dirty="0">
                <a:solidFill>
                  <a:srgbClr val="E2E8F0"/>
                </a:solidFill>
                <a:latin typeface="IBM Plex Sans KR" pitchFamily="34" charset="0"/>
                <a:ea typeface="IBM Plex Sans KR" pitchFamily="34" charset="-122"/>
                <a:cs typeface="IBM Plex Sans KR" pitchFamily="34" charset="-120"/>
              </a:rPr>
              <a:t>B · Wafer Matrix</a:t>
            </a:r>
            <a:endParaRPr lang="en-US" sz="1125" dirty="0"/>
          </a:p>
        </p:txBody>
      </p:sp>
      <p:sp>
        <p:nvSpPr>
          <p:cNvPr id="43" name="Text 29"/>
          <p:cNvSpPr txBox="1"/>
          <p:nvPr/>
        </p:nvSpPr>
        <p:spPr>
          <a:xfrm>
            <a:off x="15620695" y="2800807"/>
            <a:ext cx="1714500" cy="162763"/>
          </a:xfrm>
          <a:prstGeom prst="rect">
            <a:avLst/>
          </a:prstGeom>
          <a:noFill/>
          <a:ln/>
        </p:spPr>
        <p:txBody>
          <a:bodyPr wrap="none" lIns="0" tIns="0" rIns="0" bIns="0" rtlCol="0" anchor="ctr"/>
          <a:lstStyle/>
          <a:p>
            <a:pPr algn="r" indent="0" marL="0">
              <a:buNone/>
            </a:pPr>
            <a:r>
              <a:rPr lang="en-US" sz="975" spc="98" kern="0" dirty="0">
                <a:solidFill>
                  <a:srgbClr val="94A3B8"/>
                </a:solidFill>
                <a:latin typeface="IBM Plex Mono" pitchFamily="34" charset="0"/>
                <a:ea typeface="IBM Plex Mono" pitchFamily="34" charset="-122"/>
                <a:cs typeface="IBM Plex Mono" pitchFamily="34" charset="-120"/>
              </a:rPr>
              <a:t>3 WAFERS</a:t>
            </a:r>
            <a:endParaRPr lang="en-US" sz="975" dirty="0"/>
          </a:p>
        </p:txBody>
      </p:sp>
      <p:sp>
        <p:nvSpPr>
          <p:cNvPr id="44" name="Text 30"/>
          <p:cNvSpPr txBox="1"/>
          <p:nvPr/>
        </p:nvSpPr>
        <p:spPr>
          <a:xfrm>
            <a:off x="9905695" y="3353105"/>
            <a:ext cx="1143000" cy="162763"/>
          </a:xfrm>
          <a:prstGeom prst="rect">
            <a:avLst/>
          </a:prstGeom>
          <a:noFill/>
          <a:ln/>
        </p:spPr>
        <p:txBody>
          <a:bodyPr wrap="none" lIns="0" tIns="0" rIns="0" bIns="0" rtlCol="0" anchor="ctr"/>
          <a:lstStyle/>
          <a:p>
            <a:pPr algn="l" indent="0" marL="0">
              <a:buNone/>
            </a:pPr>
            <a:r>
              <a:rPr lang="en-US" sz="975" spc="78" kern="0" dirty="0">
                <a:solidFill>
                  <a:srgbClr val="94A3B8"/>
                </a:solidFill>
                <a:latin typeface="IBM Plex Mono" pitchFamily="34" charset="0"/>
                <a:ea typeface="IBM Plex Mono" pitchFamily="34" charset="-122"/>
                <a:cs typeface="IBM Plex Mono" pitchFamily="34" charset="-120"/>
              </a:rPr>
              <a:t>WAFER</a:t>
            </a:r>
            <a:endParaRPr lang="en-US" sz="975" dirty="0"/>
          </a:p>
        </p:txBody>
      </p:sp>
      <p:sp>
        <p:nvSpPr>
          <p:cNvPr id="45" name="Text 31"/>
          <p:cNvSpPr txBox="1"/>
          <p:nvPr/>
        </p:nvSpPr>
        <p:spPr>
          <a:xfrm>
            <a:off x="11239805" y="3353105"/>
            <a:ext cx="2286000" cy="162763"/>
          </a:xfrm>
          <a:prstGeom prst="rect">
            <a:avLst/>
          </a:prstGeom>
          <a:noFill/>
          <a:ln/>
        </p:spPr>
        <p:txBody>
          <a:bodyPr wrap="none" lIns="0" tIns="0" rIns="0" bIns="0" rtlCol="0" anchor="ctr"/>
          <a:lstStyle/>
          <a:p>
            <a:pPr algn="l" indent="0" marL="0">
              <a:buNone/>
            </a:pPr>
            <a:r>
              <a:rPr lang="en-US" sz="975" spc="78" kern="0" dirty="0">
                <a:solidFill>
                  <a:srgbClr val="94A3B8"/>
                </a:solidFill>
                <a:latin typeface="IBM Plex Mono" pitchFamily="34" charset="0"/>
                <a:ea typeface="IBM Plex Mono" pitchFamily="34" charset="-122"/>
                <a:cs typeface="IBM Plex Mono" pitchFamily="34" charset="-120"/>
              </a:rPr>
              <a:t>SPACER SPLIT</a:t>
            </a:r>
            <a:endParaRPr lang="en-US" sz="975" dirty="0"/>
          </a:p>
        </p:txBody>
      </p:sp>
      <p:sp>
        <p:nvSpPr>
          <p:cNvPr id="46" name="Text 32"/>
          <p:cNvSpPr txBox="1"/>
          <p:nvPr/>
        </p:nvSpPr>
        <p:spPr>
          <a:xfrm>
            <a:off x="13620902" y="3353105"/>
            <a:ext cx="1905610" cy="162763"/>
          </a:xfrm>
          <a:prstGeom prst="rect">
            <a:avLst/>
          </a:prstGeom>
          <a:noFill/>
          <a:ln/>
        </p:spPr>
        <p:txBody>
          <a:bodyPr wrap="none" lIns="0" tIns="0" rIns="0" bIns="0" rtlCol="0" anchor="ctr"/>
          <a:lstStyle/>
          <a:p>
            <a:pPr algn="l" indent="0" marL="0">
              <a:buNone/>
            </a:pPr>
            <a:r>
              <a:rPr lang="en-US" sz="975" spc="78" kern="0" dirty="0">
                <a:solidFill>
                  <a:srgbClr val="94A3B8"/>
                </a:solidFill>
                <a:latin typeface="IBM Plex Mono" pitchFamily="34" charset="0"/>
                <a:ea typeface="IBM Plex Mono" pitchFamily="34" charset="-122"/>
                <a:cs typeface="IBM Plex Mono" pitchFamily="34" charset="-120"/>
              </a:rPr>
              <a:t>ETCH MODE</a:t>
            </a:r>
            <a:endParaRPr lang="en-US" sz="975" dirty="0"/>
          </a:p>
        </p:txBody>
      </p:sp>
      <p:sp>
        <p:nvSpPr>
          <p:cNvPr id="47" name="Text 33"/>
          <p:cNvSpPr txBox="1"/>
          <p:nvPr/>
        </p:nvSpPr>
        <p:spPr>
          <a:xfrm>
            <a:off x="15620695" y="3353105"/>
            <a:ext cx="1714500" cy="162763"/>
          </a:xfrm>
          <a:prstGeom prst="rect">
            <a:avLst/>
          </a:prstGeom>
          <a:noFill/>
          <a:ln/>
        </p:spPr>
        <p:txBody>
          <a:bodyPr wrap="none" lIns="0" tIns="0" rIns="0" bIns="0" rtlCol="0" anchor="ctr"/>
          <a:lstStyle/>
          <a:p>
            <a:pPr algn="r" indent="0" marL="0">
              <a:buNone/>
            </a:pPr>
            <a:r>
              <a:rPr lang="en-US" sz="975" spc="78" kern="0" dirty="0">
                <a:solidFill>
                  <a:srgbClr val="94A3B8"/>
                </a:solidFill>
                <a:latin typeface="IBM Plex Mono" pitchFamily="34" charset="0"/>
                <a:ea typeface="IBM Plex Mono" pitchFamily="34" charset="-122"/>
                <a:cs typeface="IBM Plex Mono" pitchFamily="34" charset="-120"/>
              </a:rPr>
              <a:t>DUMMY LOT</a:t>
            </a:r>
            <a:endParaRPr lang="en-US" sz="975" dirty="0"/>
          </a:p>
        </p:txBody>
      </p:sp>
      <p:sp>
        <p:nvSpPr>
          <p:cNvPr id="48" name="Text 34"/>
          <p:cNvSpPr txBox="1"/>
          <p:nvPr/>
        </p:nvSpPr>
        <p:spPr>
          <a:xfrm>
            <a:off x="10096805" y="3981298"/>
            <a:ext cx="1143000" cy="305410"/>
          </a:xfrm>
          <a:prstGeom prst="rect">
            <a:avLst/>
          </a:prstGeom>
          <a:noFill/>
          <a:ln/>
        </p:spPr>
        <p:txBody>
          <a:bodyPr wrap="none" lIns="0" tIns="0" rIns="0" bIns="0" rtlCol="0" anchor="ctr"/>
          <a:lstStyle/>
          <a:p>
            <a:pPr algn="l" indent="0" marL="0">
              <a:buNone/>
            </a:pPr>
            <a:r>
              <a:rPr lang="en-US" sz="1800" b="1" dirty="0">
                <a:solidFill>
                  <a:srgbClr val="1E40AF"/>
                </a:solidFill>
                <a:latin typeface="IBM Plex Mono" pitchFamily="34" charset="0"/>
                <a:ea typeface="IBM Plex Mono" pitchFamily="34" charset="-122"/>
                <a:cs typeface="IBM Plex Mono" pitchFamily="34" charset="-120"/>
              </a:rPr>
              <a:t>W1</a:t>
            </a:r>
            <a:endParaRPr lang="en-US" sz="1800" dirty="0"/>
          </a:p>
        </p:txBody>
      </p:sp>
      <p:sp>
        <p:nvSpPr>
          <p:cNvPr id="49" name="Text 35"/>
          <p:cNvSpPr txBox="1"/>
          <p:nvPr/>
        </p:nvSpPr>
        <p:spPr>
          <a:xfrm>
            <a:off x="11239805" y="3981298"/>
            <a:ext cx="2286000"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split-A </a:t>
            </a:r>
            <a:pPr algn="l" indent="0" marL="0">
              <a:buNone/>
            </a:pPr>
            <a:r>
              <a:rPr lang="en-US" sz="1050" dirty="0">
                <a:solidFill>
                  <a:srgbClr val="64748B"/>
                </a:solidFill>
                <a:latin typeface="IBM Plex Mono" pitchFamily="34" charset="0"/>
                <a:ea typeface="IBM Plex Mono" pitchFamily="34" charset="-122"/>
                <a:cs typeface="IBM Plex Mono" pitchFamily="34" charset="-120"/>
              </a:rPr>
              <a:t>16.0 nm</a:t>
            </a:r>
            <a:endParaRPr lang="en-US" sz="1350" dirty="0"/>
          </a:p>
        </p:txBody>
      </p:sp>
      <p:sp>
        <p:nvSpPr>
          <p:cNvPr id="50" name="Text 36"/>
          <p:cNvSpPr txBox="1"/>
          <p:nvPr/>
        </p:nvSpPr>
        <p:spPr>
          <a:xfrm>
            <a:off x="13620902" y="3981298"/>
            <a:ext cx="1905610" cy="257861"/>
          </a:xfrm>
          <a:prstGeom prst="rect">
            <a:avLst/>
          </a:prstGeom>
          <a:noFill/>
          <a:ln/>
        </p:spPr>
        <p:txBody>
          <a:bodyPr wrap="none" lIns="0" tIns="0" rIns="0" bIns="0" rtlCol="0" anchor="ctr"/>
          <a:lstStyle/>
          <a:p>
            <a:pPr algn="l" indent="0" marL="0">
              <a:buNone/>
            </a:pPr>
            <a:r>
              <a:rPr lang="en-US" sz="1350" dirty="0">
                <a:solidFill>
                  <a:srgbClr val="334155"/>
                </a:solidFill>
                <a:latin typeface="IBM Plex Sans KR" pitchFamily="34" charset="0"/>
                <a:ea typeface="IBM Plex Sans KR" pitchFamily="34" charset="-122"/>
                <a:cs typeface="IBM Plex Sans KR" pitchFamily="34" charset="-120"/>
              </a:rPr>
              <a:t>연속 RIE</a:t>
            </a:r>
            <a:endParaRPr lang="en-US" sz="1350" dirty="0"/>
          </a:p>
        </p:txBody>
      </p:sp>
      <p:sp>
        <p:nvSpPr>
          <p:cNvPr id="51" name="Text 37"/>
          <p:cNvSpPr txBox="1"/>
          <p:nvPr/>
        </p:nvSpPr>
        <p:spPr>
          <a:xfrm>
            <a:off x="15620695" y="3981298"/>
            <a:ext cx="1714500" cy="191110"/>
          </a:xfrm>
          <a:prstGeom prst="rect">
            <a:avLst/>
          </a:prstGeom>
          <a:noFill/>
          <a:ln/>
        </p:spPr>
        <p:txBody>
          <a:bodyPr wrap="none" lIns="0" tIns="0" rIns="0" bIns="0" rtlCol="0" anchor="ctr"/>
          <a:lstStyle/>
          <a:p>
            <a:pPr algn="r" indent="0" marL="0">
              <a:buNone/>
            </a:pPr>
            <a:r>
              <a:rPr lang="en-US" sz="1200" dirty="0">
                <a:solidFill>
                  <a:srgbClr val="475569"/>
                </a:solidFill>
                <a:latin typeface="IBM Plex Mono" pitchFamily="34" charset="0"/>
                <a:ea typeface="IBM Plex Mono" pitchFamily="34" charset="-122"/>
                <a:cs typeface="IBM Plex Mono" pitchFamily="34" charset="-120"/>
              </a:rPr>
              <a:t>DUM-A1</a:t>
            </a:r>
            <a:endParaRPr lang="en-US" sz="1200" dirty="0"/>
          </a:p>
        </p:txBody>
      </p:sp>
      <p:sp>
        <p:nvSpPr>
          <p:cNvPr id="52" name="Text 38"/>
          <p:cNvSpPr txBox="1"/>
          <p:nvPr/>
        </p:nvSpPr>
        <p:spPr>
          <a:xfrm>
            <a:off x="10096805" y="4934102"/>
            <a:ext cx="1143000" cy="305410"/>
          </a:xfrm>
          <a:prstGeom prst="rect">
            <a:avLst/>
          </a:prstGeom>
          <a:noFill/>
          <a:ln/>
        </p:spPr>
        <p:txBody>
          <a:bodyPr wrap="none" lIns="0" tIns="0" rIns="0" bIns="0" rtlCol="0" anchor="ctr"/>
          <a:lstStyle/>
          <a:p>
            <a:pPr algn="l" indent="0" marL="0">
              <a:buNone/>
            </a:pPr>
            <a:r>
              <a:rPr lang="en-US" sz="1800" b="1" dirty="0">
                <a:solidFill>
                  <a:srgbClr val="0E7490"/>
                </a:solidFill>
                <a:latin typeface="IBM Plex Mono" pitchFamily="34" charset="0"/>
                <a:ea typeface="IBM Plex Mono" pitchFamily="34" charset="-122"/>
                <a:cs typeface="IBM Plex Mono" pitchFamily="34" charset="-120"/>
              </a:rPr>
              <a:t>W2</a:t>
            </a:r>
            <a:endParaRPr lang="en-US" sz="1800" dirty="0"/>
          </a:p>
        </p:txBody>
      </p:sp>
      <p:sp>
        <p:nvSpPr>
          <p:cNvPr id="53" name="Text 39"/>
          <p:cNvSpPr txBox="1"/>
          <p:nvPr/>
        </p:nvSpPr>
        <p:spPr>
          <a:xfrm>
            <a:off x="11239805" y="4934102"/>
            <a:ext cx="2286000"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split-B </a:t>
            </a:r>
            <a:pPr algn="l" indent="0" marL="0">
              <a:buNone/>
            </a:pPr>
            <a:r>
              <a:rPr lang="en-US" sz="1050" dirty="0">
                <a:solidFill>
                  <a:srgbClr val="64748B"/>
                </a:solidFill>
                <a:latin typeface="IBM Plex Mono" pitchFamily="34" charset="0"/>
                <a:ea typeface="IBM Plex Mono" pitchFamily="34" charset="-122"/>
                <a:cs typeface="IBM Plex Mono" pitchFamily="34" charset="-120"/>
              </a:rPr>
              <a:t>17.5 nm</a:t>
            </a:r>
            <a:endParaRPr lang="en-US" sz="1350" dirty="0"/>
          </a:p>
        </p:txBody>
      </p:sp>
      <p:sp>
        <p:nvSpPr>
          <p:cNvPr id="54" name="Text 40"/>
          <p:cNvSpPr txBox="1"/>
          <p:nvPr/>
        </p:nvSpPr>
        <p:spPr>
          <a:xfrm>
            <a:off x="13620902" y="4934102"/>
            <a:ext cx="1905610" cy="257861"/>
          </a:xfrm>
          <a:prstGeom prst="rect">
            <a:avLst/>
          </a:prstGeom>
          <a:noFill/>
          <a:ln/>
        </p:spPr>
        <p:txBody>
          <a:bodyPr wrap="none" lIns="0" tIns="0" rIns="0" bIns="0" rtlCol="0" anchor="ctr"/>
          <a:lstStyle/>
          <a:p>
            <a:pPr algn="l" indent="0" marL="0">
              <a:buNone/>
            </a:pPr>
            <a:r>
              <a:rPr lang="en-US" sz="1350" dirty="0">
                <a:solidFill>
                  <a:srgbClr val="334155"/>
                </a:solidFill>
                <a:latin typeface="IBM Plex Sans KR" pitchFamily="34" charset="0"/>
                <a:ea typeface="IBM Plex Sans KR" pitchFamily="34" charset="-122"/>
                <a:cs typeface="IBM Plex Sans KR" pitchFamily="34" charset="-120"/>
              </a:rPr>
              <a:t>QALE </a:t>
            </a:r>
            <a:pPr algn="l" indent="0" marL="0">
              <a:buNone/>
            </a:pPr>
            <a:r>
              <a:rPr lang="en-US" sz="1050" dirty="0">
                <a:solidFill>
                  <a:srgbClr val="0E7490"/>
                </a:solidFill>
                <a:latin typeface="IBM Plex Mono" pitchFamily="34" charset="0"/>
                <a:ea typeface="IBM Plex Mono" pitchFamily="34" charset="-122"/>
                <a:cs typeface="IBM Plex Mono" pitchFamily="34" charset="-120"/>
              </a:rPr>
              <a:t>— step 220</a:t>
            </a:r>
            <a:endParaRPr lang="en-US" sz="1350" dirty="0"/>
          </a:p>
        </p:txBody>
      </p:sp>
      <p:sp>
        <p:nvSpPr>
          <p:cNvPr id="55" name="Text 41"/>
          <p:cNvSpPr txBox="1"/>
          <p:nvPr/>
        </p:nvSpPr>
        <p:spPr>
          <a:xfrm>
            <a:off x="15620695" y="4934102"/>
            <a:ext cx="1714500" cy="191110"/>
          </a:xfrm>
          <a:prstGeom prst="rect">
            <a:avLst/>
          </a:prstGeom>
          <a:noFill/>
          <a:ln/>
        </p:spPr>
        <p:txBody>
          <a:bodyPr wrap="none" lIns="0" tIns="0" rIns="0" bIns="0" rtlCol="0" anchor="ctr"/>
          <a:lstStyle/>
          <a:p>
            <a:pPr algn="r" indent="0" marL="0">
              <a:buNone/>
            </a:pPr>
            <a:r>
              <a:rPr lang="en-US" sz="1200" dirty="0">
                <a:solidFill>
                  <a:srgbClr val="475569"/>
                </a:solidFill>
                <a:latin typeface="IBM Plex Mono" pitchFamily="34" charset="0"/>
                <a:ea typeface="IBM Plex Mono" pitchFamily="34" charset="-122"/>
                <a:cs typeface="IBM Plex Mono" pitchFamily="34" charset="-120"/>
              </a:rPr>
              <a:t>DUM-B1</a:t>
            </a:r>
            <a:endParaRPr lang="en-US" sz="1200" dirty="0"/>
          </a:p>
        </p:txBody>
      </p:sp>
      <p:sp>
        <p:nvSpPr>
          <p:cNvPr id="56" name="Text 42"/>
          <p:cNvSpPr txBox="1"/>
          <p:nvPr/>
        </p:nvSpPr>
        <p:spPr>
          <a:xfrm>
            <a:off x="10096805" y="5886907"/>
            <a:ext cx="1143000" cy="305410"/>
          </a:xfrm>
          <a:prstGeom prst="rect">
            <a:avLst/>
          </a:prstGeom>
          <a:noFill/>
          <a:ln/>
        </p:spPr>
        <p:txBody>
          <a:bodyPr wrap="none" lIns="0" tIns="0" rIns="0" bIns="0" rtlCol="0" anchor="ctr"/>
          <a:lstStyle/>
          <a:p>
            <a:pPr algn="l" indent="0" marL="0">
              <a:buNone/>
            </a:pPr>
            <a:r>
              <a:rPr lang="en-US" sz="1800" b="1" dirty="0">
                <a:solidFill>
                  <a:srgbClr val="475569"/>
                </a:solidFill>
                <a:latin typeface="IBM Plex Mono" pitchFamily="34" charset="0"/>
                <a:ea typeface="IBM Plex Mono" pitchFamily="34" charset="-122"/>
                <a:cs typeface="IBM Plex Mono" pitchFamily="34" charset="-120"/>
              </a:rPr>
              <a:t>W3</a:t>
            </a:r>
            <a:endParaRPr lang="en-US" sz="1800" dirty="0"/>
          </a:p>
        </p:txBody>
      </p:sp>
      <p:sp>
        <p:nvSpPr>
          <p:cNvPr id="57" name="Text 43"/>
          <p:cNvSpPr txBox="1"/>
          <p:nvPr/>
        </p:nvSpPr>
        <p:spPr>
          <a:xfrm>
            <a:off x="11239805" y="5886907"/>
            <a:ext cx="2286000"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split-C </a:t>
            </a:r>
            <a:pPr algn="l" indent="0" marL="0">
              <a:buNone/>
            </a:pPr>
            <a:r>
              <a:rPr lang="en-US" sz="1050" dirty="0">
                <a:solidFill>
                  <a:srgbClr val="64748B"/>
                </a:solidFill>
                <a:latin typeface="IBM Plex Mono" pitchFamily="34" charset="0"/>
                <a:ea typeface="IBM Plex Mono" pitchFamily="34" charset="-122"/>
                <a:cs typeface="IBM Plex Mono" pitchFamily="34" charset="-120"/>
              </a:rPr>
              <a:t>15.0 nm</a:t>
            </a:r>
            <a:endParaRPr lang="en-US" sz="1350" dirty="0"/>
          </a:p>
        </p:txBody>
      </p:sp>
      <p:sp>
        <p:nvSpPr>
          <p:cNvPr id="58" name="Text 44"/>
          <p:cNvSpPr txBox="1"/>
          <p:nvPr/>
        </p:nvSpPr>
        <p:spPr>
          <a:xfrm>
            <a:off x="13620902" y="5886907"/>
            <a:ext cx="1905610" cy="257861"/>
          </a:xfrm>
          <a:prstGeom prst="rect">
            <a:avLst/>
          </a:prstGeom>
          <a:noFill/>
          <a:ln/>
        </p:spPr>
        <p:txBody>
          <a:bodyPr wrap="none" lIns="0" tIns="0" rIns="0" bIns="0" rtlCol="0" anchor="ctr"/>
          <a:lstStyle/>
          <a:p>
            <a:pPr algn="l" indent="0" marL="0">
              <a:buNone/>
            </a:pPr>
            <a:r>
              <a:rPr lang="en-US" sz="1350" dirty="0">
                <a:solidFill>
                  <a:srgbClr val="334155"/>
                </a:solidFill>
                <a:latin typeface="IBM Plex Sans KR" pitchFamily="34" charset="0"/>
                <a:ea typeface="IBM Plex Sans KR" pitchFamily="34" charset="-122"/>
                <a:cs typeface="IBM Plex Sans KR" pitchFamily="34" charset="-120"/>
              </a:rPr>
              <a:t>QALE </a:t>
            </a:r>
            <a:pPr algn="l" indent="0" marL="0">
              <a:buNone/>
            </a:pPr>
            <a:r>
              <a:rPr lang="en-US" sz="1050" dirty="0">
                <a:solidFill>
                  <a:srgbClr val="475569"/>
                </a:solidFill>
                <a:latin typeface="IBM Plex Mono" pitchFamily="34" charset="0"/>
                <a:ea typeface="IBM Plex Mono" pitchFamily="34" charset="-122"/>
                <a:cs typeface="IBM Plex Mono" pitchFamily="34" charset="-120"/>
              </a:rPr>
              <a:t>— step 320</a:t>
            </a:r>
            <a:endParaRPr lang="en-US" sz="1350" dirty="0"/>
          </a:p>
        </p:txBody>
      </p:sp>
      <p:sp>
        <p:nvSpPr>
          <p:cNvPr id="59" name="Text 45"/>
          <p:cNvSpPr txBox="1"/>
          <p:nvPr/>
        </p:nvSpPr>
        <p:spPr>
          <a:xfrm>
            <a:off x="15620695" y="5886907"/>
            <a:ext cx="1714500" cy="191110"/>
          </a:xfrm>
          <a:prstGeom prst="rect">
            <a:avLst/>
          </a:prstGeom>
          <a:noFill/>
          <a:ln/>
        </p:spPr>
        <p:txBody>
          <a:bodyPr wrap="none" lIns="0" tIns="0" rIns="0" bIns="0" rtlCol="0" anchor="ctr"/>
          <a:lstStyle/>
          <a:p>
            <a:pPr algn="r" indent="0" marL="0">
              <a:buNone/>
            </a:pPr>
            <a:r>
              <a:rPr lang="en-US" sz="1200" dirty="0">
                <a:solidFill>
                  <a:srgbClr val="475569"/>
                </a:solidFill>
                <a:latin typeface="IBM Plex Mono" pitchFamily="34" charset="0"/>
                <a:ea typeface="IBM Plex Mono" pitchFamily="34" charset="-122"/>
                <a:cs typeface="IBM Plex Mono" pitchFamily="34" charset="-120"/>
              </a:rPr>
              <a:t>DUM-C1</a:t>
            </a:r>
            <a:endParaRPr lang="en-US" sz="1200" dirty="0"/>
          </a:p>
        </p:txBody>
      </p:sp>
      <p:sp>
        <p:nvSpPr>
          <p:cNvPr id="60" name="Text 46"/>
          <p:cNvSpPr txBox="1"/>
          <p:nvPr/>
        </p:nvSpPr>
        <p:spPr>
          <a:xfrm>
            <a:off x="9905695" y="6782105"/>
            <a:ext cx="7429500" cy="228600"/>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spacer 두께 기준값은 split별 ALD 사이클 수로 구현. QALE step은 fluorine 흡착 + Ar</a:t>
            </a:r>
            <a:pPr algn="l" indent="0" marL="0">
              <a:buNone/>
            </a:pPr>
            <a:r>
              <a:rPr lang="en-US" sz="875" dirty="0">
                <a:solidFill>
                  <a:srgbClr val="64748B"/>
                </a:solidFill>
                <a:latin typeface="IBM Plex Sans KR" pitchFamily="34" charset="0"/>
                <a:ea typeface="IBM Plex Sans KR" pitchFamily="34" charset="-122"/>
                <a:cs typeface="IBM Plex Sans KR" pitchFamily="34" charset="-120"/>
              </a:rPr>
              <a:t>+</a:t>
            </a:r>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조사 한 cycle.</a:t>
            </a:r>
            <a:endParaRPr lang="en-US" sz="1050" dirty="0"/>
          </a:p>
        </p:txBody>
      </p:sp>
      <p:sp>
        <p:nvSpPr>
          <p:cNvPr id="61" name="Text 47"/>
          <p:cNvSpPr txBox="1"/>
          <p:nvPr/>
        </p:nvSpPr>
        <p:spPr>
          <a:xfrm>
            <a:off x="990295" y="8172907"/>
            <a:ext cx="3620110" cy="143561"/>
          </a:xfrm>
          <a:prstGeom prst="rect">
            <a:avLst/>
          </a:prstGeom>
          <a:noFill/>
          <a:ln/>
        </p:spPr>
        <p:txBody>
          <a:bodyPr wrap="none" lIns="0" tIns="0" rIns="0" bIns="0" rtlCol="0" anchor="ctr"/>
          <a:lstStyle/>
          <a:p>
            <a:pPr algn="l" indent="0" marL="0">
              <a:buNone/>
            </a:pPr>
            <a:r>
              <a:rPr lang="en-US" sz="900" spc="162" kern="0" dirty="0">
                <a:solidFill>
                  <a:srgbClr val="94A3B8"/>
                </a:solidFill>
                <a:latin typeface="IBM Plex Mono" pitchFamily="34" charset="0"/>
                <a:ea typeface="IBM Plex Mono" pitchFamily="34" charset="-122"/>
                <a:cs typeface="IBM Plex Mono" pitchFamily="34" charset="-120"/>
              </a:rPr>
              <a:t>WAFER COUNT</a:t>
            </a:r>
            <a:endParaRPr lang="en-US" sz="900" dirty="0"/>
          </a:p>
        </p:txBody>
      </p:sp>
      <p:sp>
        <p:nvSpPr>
          <p:cNvPr id="62" name="Text 48"/>
          <p:cNvSpPr txBox="1"/>
          <p:nvPr/>
        </p:nvSpPr>
        <p:spPr>
          <a:xfrm>
            <a:off x="990295" y="8419795"/>
            <a:ext cx="4799686" cy="609905"/>
          </a:xfrm>
          <a:prstGeom prst="rect">
            <a:avLst/>
          </a:prstGeom>
          <a:noFill/>
          <a:ln/>
        </p:spPr>
        <p:txBody>
          <a:bodyPr wrap="none" lIns="0" tIns="0" rIns="0" bIns="0" rtlCol="0" anchor="ctr"/>
          <a:lstStyle/>
          <a:p>
            <a:pPr algn="l" indent="0" marL="0">
              <a:buNone/>
            </a:pPr>
            <a:r>
              <a:rPr lang="en-US" sz="4800" b="1" spc="-96" kern="0" dirty="0">
                <a:solidFill>
                  <a:srgbClr val="FFFFFF"/>
                </a:solidFill>
                <a:latin typeface="IBM Plex Mono" pitchFamily="34" charset="0"/>
                <a:ea typeface="IBM Plex Mono" pitchFamily="34" charset="-122"/>
                <a:cs typeface="IBM Plex Mono" pitchFamily="34" charset="-120"/>
              </a:rPr>
              <a:t>3</a:t>
            </a:r>
            <a:pPr algn="l" indent="0" marL="0">
              <a:buNone/>
            </a:pPr>
            <a:r>
              <a:rPr lang="en-US" sz="1800" b="1" spc="-96" kern="0" dirty="0">
                <a:solidFill>
                  <a:srgbClr val="64748B"/>
                </a:solidFill>
                <a:latin typeface="IBM Plex Mono" pitchFamily="34" charset="0"/>
                <a:ea typeface="IBM Plex Mono" pitchFamily="34" charset="-122"/>
                <a:cs typeface="IBM Plex Mono" pitchFamily="34" charset="-120"/>
              </a:rPr>
              <a:t> ea · 300 mm</a:t>
            </a:r>
            <a:endParaRPr lang="en-US" sz="4800" dirty="0"/>
          </a:p>
        </p:txBody>
      </p:sp>
      <p:sp>
        <p:nvSpPr>
          <p:cNvPr id="63" name="Text 49"/>
          <p:cNvSpPr txBox="1"/>
          <p:nvPr/>
        </p:nvSpPr>
        <p:spPr>
          <a:xfrm>
            <a:off x="5181905" y="8172907"/>
            <a:ext cx="3620110" cy="143561"/>
          </a:xfrm>
          <a:prstGeom prst="rect">
            <a:avLst/>
          </a:prstGeom>
          <a:noFill/>
          <a:ln/>
        </p:spPr>
        <p:txBody>
          <a:bodyPr wrap="none" lIns="0" tIns="0" rIns="0" bIns="0" rtlCol="0" anchor="ctr"/>
          <a:lstStyle/>
          <a:p>
            <a:pPr algn="l" indent="0" marL="0">
              <a:buNone/>
            </a:pPr>
            <a:r>
              <a:rPr lang="en-US" sz="900" spc="162" kern="0" dirty="0">
                <a:solidFill>
                  <a:srgbClr val="BFDBFE"/>
                </a:solidFill>
                <a:latin typeface="IBM Plex Mono" pitchFamily="34" charset="0"/>
                <a:ea typeface="IBM Plex Mono" pitchFamily="34" charset="-122"/>
                <a:cs typeface="IBM Plex Mono" pitchFamily="34" charset="-120"/>
              </a:rPr>
              <a:t>SITES / WAFER</a:t>
            </a:r>
            <a:endParaRPr lang="en-US" sz="900" dirty="0"/>
          </a:p>
        </p:txBody>
      </p:sp>
      <p:sp>
        <p:nvSpPr>
          <p:cNvPr id="64" name="Text 50"/>
          <p:cNvSpPr txBox="1"/>
          <p:nvPr/>
        </p:nvSpPr>
        <p:spPr>
          <a:xfrm>
            <a:off x="5181905" y="8419795"/>
            <a:ext cx="4799686" cy="609905"/>
          </a:xfrm>
          <a:prstGeom prst="rect">
            <a:avLst/>
          </a:prstGeom>
          <a:noFill/>
          <a:ln/>
        </p:spPr>
        <p:txBody>
          <a:bodyPr wrap="none" lIns="0" tIns="0" rIns="0" bIns="0" rtlCol="0" anchor="ctr"/>
          <a:lstStyle/>
          <a:p>
            <a:pPr algn="l" indent="0" marL="0">
              <a:buNone/>
            </a:pPr>
            <a:r>
              <a:rPr lang="en-US" sz="4800" b="1" spc="-96" kern="0" dirty="0">
                <a:solidFill>
                  <a:srgbClr val="FFFFFF"/>
                </a:solidFill>
                <a:latin typeface="IBM Plex Mono" pitchFamily="34" charset="0"/>
                <a:ea typeface="IBM Plex Mono" pitchFamily="34" charset="-122"/>
                <a:cs typeface="IBM Plex Mono" pitchFamily="34" charset="-120"/>
              </a:rPr>
              <a:t>49</a:t>
            </a:r>
            <a:pPr algn="l" indent="0" marL="0">
              <a:buNone/>
            </a:pPr>
            <a:r>
              <a:rPr lang="en-US" sz="1800" b="1" spc="-96" kern="0" dirty="0">
                <a:solidFill>
                  <a:srgbClr val="BFDBFE"/>
                </a:solidFill>
                <a:latin typeface="IBM Plex Mono" pitchFamily="34" charset="0"/>
                <a:ea typeface="IBM Plex Mono" pitchFamily="34" charset="-122"/>
                <a:cs typeface="IBM Plex Mono" pitchFamily="34" charset="-120"/>
              </a:rPr>
              <a:t> pt · 7 × 7</a:t>
            </a:r>
            <a:endParaRPr lang="en-US" sz="4800" dirty="0"/>
          </a:p>
        </p:txBody>
      </p:sp>
      <p:sp>
        <p:nvSpPr>
          <p:cNvPr id="65" name="Text 51"/>
          <p:cNvSpPr txBox="1"/>
          <p:nvPr/>
        </p:nvSpPr>
        <p:spPr>
          <a:xfrm>
            <a:off x="9372600" y="8172907"/>
            <a:ext cx="3620110" cy="143561"/>
          </a:xfrm>
          <a:prstGeom prst="rect">
            <a:avLst/>
          </a:prstGeom>
          <a:noFill/>
          <a:ln/>
        </p:spPr>
        <p:txBody>
          <a:bodyPr wrap="none" lIns="0" tIns="0" rIns="0" bIns="0" rtlCol="0" anchor="ctr"/>
          <a:lstStyle/>
          <a:p>
            <a:pPr algn="l" indent="0" marL="0">
              <a:buNone/>
            </a:pPr>
            <a:r>
              <a:rPr lang="en-US" sz="900" spc="162" kern="0" dirty="0">
                <a:solidFill>
                  <a:srgbClr val="A5F3FC"/>
                </a:solidFill>
                <a:latin typeface="IBM Plex Mono" pitchFamily="34" charset="0"/>
                <a:ea typeface="IBM Plex Mono" pitchFamily="34" charset="-122"/>
                <a:cs typeface="IBM Plex Mono" pitchFamily="34" charset="-120"/>
              </a:rPr>
              <a:t>CD STAGES</a:t>
            </a:r>
            <a:endParaRPr lang="en-US" sz="900" dirty="0"/>
          </a:p>
        </p:txBody>
      </p:sp>
      <p:sp>
        <p:nvSpPr>
          <p:cNvPr id="66" name="Text 52"/>
          <p:cNvSpPr txBox="1"/>
          <p:nvPr/>
        </p:nvSpPr>
        <p:spPr>
          <a:xfrm>
            <a:off x="9334195" y="8419795"/>
            <a:ext cx="3810305" cy="333756"/>
          </a:xfrm>
          <a:prstGeom prst="rect">
            <a:avLst/>
          </a:prstGeom>
          <a:noFill/>
          <a:ln/>
        </p:spPr>
        <p:txBody>
          <a:bodyPr wrap="none" lIns="0" tIns="0" rIns="0" bIns="0" rtlCol="0" anchor="ctr"/>
          <a:lstStyle/>
          <a:p>
            <a:pPr algn="l" indent="0" marL="0">
              <a:buNone/>
            </a:pPr>
            <a:r>
              <a:rPr lang="en-US" sz="2100" b="1" spc="-11" kern="0" dirty="0">
                <a:solidFill>
                  <a:srgbClr val="FFFFFF"/>
                </a:solidFill>
                <a:latin typeface="IBM Plex Mono" pitchFamily="34" charset="0"/>
                <a:ea typeface="IBM Plex Mono" pitchFamily="34" charset="-122"/>
                <a:cs typeface="IBM Plex Mono" pitchFamily="34" charset="-120"/>
              </a:rPr>
              <a:t>AASI · ASEI · AMI · ACI</a:t>
            </a:r>
            <a:endParaRPr lang="en-US" sz="2100" dirty="0"/>
          </a:p>
        </p:txBody>
      </p:sp>
      <p:sp>
        <p:nvSpPr>
          <p:cNvPr id="67" name="Text 53"/>
          <p:cNvSpPr txBox="1"/>
          <p:nvPr/>
        </p:nvSpPr>
        <p:spPr>
          <a:xfrm>
            <a:off x="13563295" y="8172907"/>
            <a:ext cx="3810305" cy="143561"/>
          </a:xfrm>
          <a:prstGeom prst="rect">
            <a:avLst/>
          </a:prstGeom>
          <a:noFill/>
          <a:ln/>
        </p:spPr>
        <p:txBody>
          <a:bodyPr wrap="none" lIns="0" tIns="0" rIns="0" bIns="0" rtlCol="0" anchor="ctr"/>
          <a:lstStyle/>
          <a:p>
            <a:pPr algn="l" indent="0" marL="0">
              <a:buNone/>
            </a:pPr>
            <a:r>
              <a:rPr lang="en-US" sz="900" spc="162" kern="0" dirty="0">
                <a:solidFill>
                  <a:srgbClr val="CBD5E1"/>
                </a:solidFill>
                <a:latin typeface="IBM Plex Mono" pitchFamily="34" charset="0"/>
                <a:ea typeface="IBM Plex Mono" pitchFamily="34" charset="-122"/>
                <a:cs typeface="IBM Plex Mono" pitchFamily="34" charset="-120"/>
              </a:rPr>
              <a:t>METROLOGY</a:t>
            </a:r>
            <a:endParaRPr lang="en-US" sz="900" dirty="0"/>
          </a:p>
        </p:txBody>
      </p:sp>
      <p:sp>
        <p:nvSpPr>
          <p:cNvPr id="68" name="Text 54"/>
          <p:cNvSpPr txBox="1"/>
          <p:nvPr/>
        </p:nvSpPr>
        <p:spPr>
          <a:xfrm>
            <a:off x="13563295" y="8458200"/>
            <a:ext cx="3810305" cy="553212"/>
          </a:xfrm>
          <a:prstGeom prst="rect">
            <a:avLst/>
          </a:prstGeom>
          <a:noFill/>
          <a:ln/>
        </p:spPr>
        <p:txBody>
          <a:bodyPr wrap="square" lIns="0" tIns="0" rIns="0" bIns="0" rtlCol="0" anchor="t"/>
          <a:lstStyle/>
          <a:p>
            <a:pPr algn="l" indent="0" marL="0">
              <a:lnSpc>
                <a:spcPct val="130000"/>
              </a:lnSpc>
              <a:buNone/>
            </a:pPr>
            <a:r>
              <a:rPr lang="en-US" sz="1650" dirty="0">
                <a:solidFill>
                  <a:srgbClr val="FFFFFF"/>
                </a:solidFill>
                <a:latin typeface="IBM Plex Sans KR" pitchFamily="34" charset="0"/>
                <a:ea typeface="IBM Plex Sans KR" pitchFamily="34" charset="-122"/>
                <a:cs typeface="IBM Plex Sans KR" pitchFamily="34" charset="-120"/>
              </a:rPr>
              <a:t>CD-SEM + Cross-section</a:t>
            </a:r>
            <a:pPr algn="l" indent="0" marL="0">
              <a:lnSpc>
                <a:spcPct val="130000"/>
              </a:lnSpc>
              <a:buNone/>
            </a:pPr>
            <a:endParaRPr lang="en-US" sz="1650" dirty="0"/>
          </a:p>
          <a:p>
            <a:pPr algn="l" indent="0" marL="0">
              <a:lnSpc>
                <a:spcPct val="130000"/>
              </a:lnSpc>
              <a:buNone/>
            </a:pPr>
            <a:r>
              <a:rPr lang="en-US" sz="1650" dirty="0">
                <a:solidFill>
                  <a:srgbClr val="FFFFFF"/>
                </a:solidFill>
                <a:latin typeface="IBM Plex Sans KR" pitchFamily="34" charset="0"/>
                <a:ea typeface="IBM Plex Sans KR" pitchFamily="34" charset="-122"/>
                <a:cs typeface="IBM Plex Sans KR" pitchFamily="34" charset="-120"/>
              </a:rPr>
              <a:t>TEM · 5 kV / 30 kV</a:t>
            </a:r>
            <a:endParaRPr lang="en-US" sz="1650" dirty="0"/>
          </a:p>
        </p:txBody>
      </p:sp>
      <p:sp>
        <p:nvSpPr>
          <p:cNvPr id="69" name="Text 55"/>
          <p:cNvSpPr txBox="1"/>
          <p:nvPr/>
        </p:nvSpPr>
        <p:spPr>
          <a:xfrm>
            <a:off x="761695" y="9696298"/>
            <a:ext cx="11430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
        <p:nvSpPr>
          <p:cNvPr id="70" name="Text 56"/>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02 / 08 · CONDITIONS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857500"/>
            <a:ext cx="8020202" cy="4591202"/>
          </a:xfrm>
          <a:prstGeom prst="rect">
            <a:avLst/>
          </a:prstGeom>
          <a:solidFill>
            <a:srgbClr val="FFFFFF"/>
          </a:solidFill>
          <a:ln w="12700">
            <a:solidFill>
              <a:srgbClr val="CBD5E1"/>
            </a:solidFill>
            <a:prstDash val="solid"/>
          </a:ln>
        </p:spPr>
      </p:sp>
      <p:sp>
        <p:nvSpPr>
          <p:cNvPr id="5" name="Shape 1"/>
          <p:cNvSpPr/>
          <p:nvPr/>
        </p:nvSpPr>
        <p:spPr>
          <a:xfrm>
            <a:off x="9525305" y="2857500"/>
            <a:ext cx="8020202" cy="4591202"/>
          </a:xfrm>
          <a:prstGeom prst="rect">
            <a:avLst/>
          </a:prstGeom>
          <a:solidFill>
            <a:srgbClr val="FFFFFF"/>
          </a:solidFill>
          <a:ln w="12700">
            <a:solidFill>
              <a:srgbClr val="CBD5E1"/>
            </a:solidFill>
            <a:prstDash val="solid"/>
          </a:ln>
        </p:spPr>
      </p:sp>
      <p:sp>
        <p:nvSpPr>
          <p:cNvPr id="6" name="Shape 2"/>
          <p:cNvSpPr/>
          <p:nvPr/>
        </p:nvSpPr>
        <p:spPr>
          <a:xfrm>
            <a:off x="761695" y="8667598"/>
            <a:ext cx="16763695" cy="571500"/>
          </a:xfrm>
          <a:prstGeom prst="rect">
            <a:avLst/>
          </a:prstGeom>
          <a:solidFill>
            <a:srgbClr val="0F172A"/>
          </a:solidFill>
          <a:ln w="12700">
            <a:solidFill>
              <a:srgbClr val="FFFFFF">
                <a:alpha val="0"/>
              </a:srgbClr>
            </a:solidFill>
            <a:prstDash val="solid"/>
          </a:ln>
        </p:spPr>
      </p:sp>
      <p:pic>
        <p:nvPicPr>
          <p:cNvPr id="7" name="Image 1" descr="gen-dedup-5a0ba8ca655a299c416b119e75c6720d.png">    </p:cNvPr>
          <p:cNvPicPr>
            <a:picLocks noChangeAspect="1"/>
          </p:cNvPicPr>
          <p:nvPr/>
        </p:nvPicPr>
        <p:blipFill>
          <a:blip r:embed="rId2"/>
          <a:srcRect l="-2083" r="-2083" t="0" b="0"/>
          <a:stretch/>
        </p:blipFill>
        <p:spPr>
          <a:xfrm>
            <a:off x="761695" y="9525305"/>
            <a:ext cx="16763695" cy="9144"/>
          </a:xfrm>
          <a:prstGeom prst="rect">
            <a:avLst/>
          </a:prstGeom>
        </p:spPr>
      </p:pic>
      <p:sp>
        <p:nvSpPr>
          <p:cNvPr id="8" name="Shape 3"/>
          <p:cNvSpPr/>
          <p:nvPr/>
        </p:nvSpPr>
        <p:spPr>
          <a:xfrm>
            <a:off x="761695" y="2857500"/>
            <a:ext cx="8001000" cy="342900"/>
          </a:xfrm>
          <a:prstGeom prst="rect">
            <a:avLst/>
          </a:prstGeom>
          <a:solidFill>
            <a:srgbClr val="1E40AF"/>
          </a:solidFill>
          <a:ln w="12700">
            <a:solidFill>
              <a:srgbClr val="FFFFFF">
                <a:alpha val="0"/>
              </a:srgbClr>
            </a:solidFill>
            <a:prstDash val="solid"/>
          </a:ln>
        </p:spPr>
      </p:sp>
      <p:sp>
        <p:nvSpPr>
          <p:cNvPr id="9" name="Shape 4"/>
          <p:cNvSpPr/>
          <p:nvPr/>
        </p:nvSpPr>
        <p:spPr>
          <a:xfrm>
            <a:off x="9525305" y="2857500"/>
            <a:ext cx="8001000" cy="342900"/>
          </a:xfrm>
          <a:prstGeom prst="rect">
            <a:avLst/>
          </a:prstGeom>
          <a:solidFill>
            <a:srgbClr val="0E7490"/>
          </a:solidFill>
          <a:ln w="12700">
            <a:solidFill>
              <a:srgbClr val="FFFFFF">
                <a:alpha val="0"/>
              </a:srgbClr>
            </a:solidFill>
            <a:prstDash val="solid"/>
          </a:ln>
        </p:spPr>
      </p:sp>
      <p:pic>
        <p:nvPicPr>
          <p:cNvPr id="10" name="Image 2" descr="gen-dedup-e9f630c4902b2e846e5815101c9e65fe.jpg">    </p:cNvPr>
          <p:cNvPicPr>
            <a:picLocks noChangeAspect="1"/>
          </p:cNvPicPr>
          <p:nvPr/>
        </p:nvPicPr>
        <p:blipFill>
          <a:blip r:embed="rId3"/>
          <a:srcRect l="-16653" r="-16653" t="0" b="0"/>
          <a:stretch/>
        </p:blipFill>
        <p:spPr>
          <a:xfrm>
            <a:off x="952805" y="3353105"/>
            <a:ext cx="7619695" cy="3504895"/>
          </a:xfrm>
          <a:prstGeom prst="rect">
            <a:avLst/>
          </a:prstGeom>
        </p:spPr>
      </p:pic>
      <p:pic>
        <p:nvPicPr>
          <p:cNvPr id="11" name="Image 3" descr="gen-dedup-16f055b30e3efcbeb116f8f89f2d442e.jpg">    </p:cNvPr>
          <p:cNvPicPr>
            <a:picLocks noChangeAspect="1"/>
          </p:cNvPicPr>
          <p:nvPr/>
        </p:nvPicPr>
        <p:blipFill>
          <a:blip r:embed="rId4"/>
          <a:srcRect l="-25081" r="-25081" t="0" b="0"/>
          <a:stretch/>
        </p:blipFill>
        <p:spPr>
          <a:xfrm>
            <a:off x="9715500" y="3353105"/>
            <a:ext cx="7619695" cy="3504895"/>
          </a:xfrm>
          <a:prstGeom prst="rect">
            <a:avLst/>
          </a:prstGeom>
        </p:spPr>
      </p:pic>
      <p:sp>
        <p:nvSpPr>
          <p:cNvPr id="12" name="Text 5"/>
          <p:cNvSpPr txBox="1"/>
          <p:nvPr/>
        </p:nvSpPr>
        <p:spPr>
          <a:xfrm>
            <a:off x="761695" y="761695"/>
            <a:ext cx="8572500"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CROSS-SECTION IMAGES · 03 / 08</a:t>
            </a:r>
            <a:endParaRPr lang="en-US" sz="1050" dirty="0"/>
          </a:p>
        </p:txBody>
      </p:sp>
      <p:sp>
        <p:nvSpPr>
          <p:cNvPr id="13" name="Text 6"/>
          <p:cNvSpPr txBox="1"/>
          <p:nvPr/>
        </p:nvSpPr>
        <p:spPr>
          <a:xfrm>
            <a:off x="761695" y="1123798"/>
            <a:ext cx="14287500" cy="609905"/>
          </a:xfrm>
          <a:prstGeom prst="rect">
            <a:avLst/>
          </a:prstGeom>
          <a:noFill/>
          <a:ln/>
        </p:spPr>
        <p:txBody>
          <a:bodyPr wrap="none" lIns="0" tIns="0" rIns="0" bIns="0" rtlCol="0" anchor="ctr"/>
          <a:lstStyle/>
          <a:p>
            <a:pPr algn="l" indent="0" marL="0">
              <a:buNone/>
            </a:pPr>
            <a:r>
              <a:rPr lang="en-US" sz="4800" b="1" spc="-96" kern="0" dirty="0">
                <a:solidFill>
                  <a:srgbClr val="0F172A"/>
                </a:solidFill>
                <a:latin typeface="IBM Plex Sans KR" pitchFamily="34" charset="0"/>
                <a:ea typeface="IBM Plex Sans KR" pitchFamily="34" charset="-122"/>
                <a:cs typeface="IBM Plex Sans KR" pitchFamily="34" charset="-120"/>
              </a:rPr>
              <a:t>단면 SEM / TEM 관찰</a:t>
            </a:r>
            <a:endParaRPr lang="en-US" sz="4800" dirty="0"/>
          </a:p>
        </p:txBody>
      </p:sp>
      <p:sp>
        <p:nvSpPr>
          <p:cNvPr id="14" name="Text 7"/>
          <p:cNvSpPr txBox="1"/>
          <p:nvPr/>
        </p:nvSpPr>
        <p:spPr>
          <a:xfrm>
            <a:off x="761695" y="2018995"/>
            <a:ext cx="14287500" cy="295351"/>
          </a:xfrm>
          <a:prstGeom prst="rect">
            <a:avLst/>
          </a:prstGeom>
          <a:noFill/>
          <a:ln/>
        </p:spPr>
        <p:txBody>
          <a:bodyPr wrap="none" lIns="0" tIns="0" rIns="0" bIns="0" rtlCol="0" anchor="ctr"/>
          <a:lstStyle/>
          <a:p>
            <a:pPr algn="l" indent="0" marL="0">
              <a:buNone/>
            </a:pPr>
            <a:r>
              <a:rPr lang="en-US" sz="1650" dirty="0">
                <a:solidFill>
                  <a:srgbClr val="475569"/>
                </a:solidFill>
                <a:latin typeface="IBM Plex Sans KR" pitchFamily="34" charset="0"/>
                <a:ea typeface="IBM Plex Sans KR" pitchFamily="34" charset="-122"/>
                <a:cs typeface="IBM Plex Sans KR" pitchFamily="34" charset="-120"/>
              </a:rPr>
              <a:t>SADP 단계별 라인과 spacer 형성을 단면으로 확인하고, W1 / W2·W3 라인 거동을 비교한다.</a:t>
            </a:r>
            <a:endParaRPr lang="en-US" sz="1650" dirty="0"/>
          </a:p>
        </p:txBody>
      </p:sp>
      <p:sp>
        <p:nvSpPr>
          <p:cNvPr id="15" name="Text 8"/>
          <p:cNvSpPr txBox="1"/>
          <p:nvPr/>
        </p:nvSpPr>
        <p:spPr>
          <a:xfrm>
            <a:off x="990295" y="2915107"/>
            <a:ext cx="6667805" cy="200254"/>
          </a:xfrm>
          <a:prstGeom prst="rect">
            <a:avLst/>
          </a:prstGeom>
          <a:noFill/>
          <a:ln/>
        </p:spPr>
        <p:txBody>
          <a:bodyPr wrap="none" lIns="0" tIns="0" rIns="0" bIns="0" rtlCol="0" anchor="ctr"/>
          <a:lstStyle/>
          <a:p>
            <a:pPr algn="l" indent="0" marL="0">
              <a:buNone/>
            </a:pPr>
            <a:r>
              <a:rPr lang="en-US" sz="1050" b="1" spc="105" kern="0" dirty="0">
                <a:solidFill>
                  <a:srgbClr val="FFFFFF"/>
                </a:solidFill>
                <a:latin typeface="IBM Plex Sans KR" pitchFamily="34" charset="0"/>
                <a:ea typeface="IBM Plex Sans KR" pitchFamily="34" charset="-122"/>
                <a:cs typeface="IBM Plex Sans KR" pitchFamily="34" charset="-120"/>
              </a:rPr>
              <a:t>FIGURE 03-A · SADP sidewall spacer 단면</a:t>
            </a:r>
            <a:endParaRPr lang="en-US" sz="1050" dirty="0"/>
          </a:p>
        </p:txBody>
      </p:sp>
      <p:sp>
        <p:nvSpPr>
          <p:cNvPr id="16" name="Text 9"/>
          <p:cNvSpPr txBox="1"/>
          <p:nvPr/>
        </p:nvSpPr>
        <p:spPr>
          <a:xfrm>
            <a:off x="6476695" y="2915107"/>
            <a:ext cx="2095805" cy="162763"/>
          </a:xfrm>
          <a:prstGeom prst="rect">
            <a:avLst/>
          </a:prstGeom>
          <a:noFill/>
          <a:ln/>
        </p:spPr>
        <p:txBody>
          <a:bodyPr wrap="none" lIns="0" tIns="0" rIns="0" bIns="0" rtlCol="0" anchor="ctr"/>
          <a:lstStyle/>
          <a:p>
            <a:pPr algn="r" indent="0" marL="0">
              <a:buNone/>
            </a:pPr>
            <a:r>
              <a:rPr lang="en-US" sz="975" dirty="0">
                <a:solidFill>
                  <a:srgbClr val="BFDBFE"/>
                </a:solidFill>
                <a:latin typeface="IBM Plex Mono" pitchFamily="34" charset="0"/>
                <a:ea typeface="IBM Plex Mono" pitchFamily="34" charset="-122"/>
                <a:cs typeface="IBM Plex Mono" pitchFamily="34" charset="-120"/>
              </a:rPr>
              <a:t>REFERENCE LITERATURE</a:t>
            </a:r>
            <a:endParaRPr lang="en-US" sz="975" dirty="0"/>
          </a:p>
        </p:txBody>
      </p:sp>
      <p:sp>
        <p:nvSpPr>
          <p:cNvPr id="17" name="Text 10"/>
          <p:cNvSpPr txBox="1"/>
          <p:nvPr/>
        </p:nvSpPr>
        <p:spPr>
          <a:xfrm>
            <a:off x="761695" y="7619695"/>
            <a:ext cx="8001000" cy="247802"/>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Mandrel 양쪽 spacer 형성과 좌우 두께 비대칭 가능성 (pitch walk 후보)</a:t>
            </a:r>
            <a:endParaRPr lang="en-US" sz="1350" dirty="0"/>
          </a:p>
        </p:txBody>
      </p:sp>
      <p:sp>
        <p:nvSpPr>
          <p:cNvPr id="18" name="Text 11"/>
          <p:cNvSpPr txBox="1"/>
          <p:nvPr/>
        </p:nvSpPr>
        <p:spPr>
          <a:xfrm>
            <a:off x="761695" y="8020202"/>
            <a:ext cx="8001000" cy="191110"/>
          </a:xfrm>
          <a:prstGeom prst="rect">
            <a:avLst/>
          </a:prstGeom>
          <a:noFill/>
          <a:ln/>
        </p:spPr>
        <p:txBody>
          <a:bodyPr wrap="none" lIns="0" tIns="0" rIns="0" bIns="0" rtlCol="0" anchor="ctr"/>
          <a:lstStyle/>
          <a:p>
            <a:pPr algn="l" indent="0" marL="0">
              <a:buNone/>
            </a:pPr>
            <a:r>
              <a:rPr lang="en-US" sz="1050" dirty="0">
                <a:solidFill>
                  <a:srgbClr val="64748B"/>
                </a:solidFill>
                <a:latin typeface="IBM Plex Mono" pitchFamily="34" charset="0"/>
                <a:ea typeface="IBM Plex Mono" pitchFamily="34" charset="-122"/>
                <a:cs typeface="IBM Plex Mono" pitchFamily="34" charset="-120"/>
              </a:rPr>
              <a:t>출처 — Semiconductor Engineering, “What Drives SADP BEOL Variability?” (semiengineering.com)</a:t>
            </a:r>
            <a:endParaRPr lang="en-US" sz="1050" dirty="0"/>
          </a:p>
        </p:txBody>
      </p:sp>
      <p:sp>
        <p:nvSpPr>
          <p:cNvPr id="19" name="Text 12"/>
          <p:cNvSpPr txBox="1"/>
          <p:nvPr/>
        </p:nvSpPr>
        <p:spPr>
          <a:xfrm>
            <a:off x="9753905" y="2915107"/>
            <a:ext cx="6667805" cy="200254"/>
          </a:xfrm>
          <a:prstGeom prst="rect">
            <a:avLst/>
          </a:prstGeom>
          <a:noFill/>
          <a:ln/>
        </p:spPr>
        <p:txBody>
          <a:bodyPr wrap="none" lIns="0" tIns="0" rIns="0" bIns="0" rtlCol="0" anchor="ctr"/>
          <a:lstStyle/>
          <a:p>
            <a:pPr algn="l" indent="0" marL="0">
              <a:buNone/>
            </a:pPr>
            <a:r>
              <a:rPr lang="en-US" sz="1050" b="1" spc="105" kern="0" dirty="0">
                <a:solidFill>
                  <a:srgbClr val="FFFFFF"/>
                </a:solidFill>
                <a:latin typeface="IBM Plex Sans KR" pitchFamily="34" charset="0"/>
                <a:ea typeface="IBM Plex Sans KR" pitchFamily="34" charset="-122"/>
                <a:cs typeface="IBM Plex Sans KR" pitchFamily="34" charset="-120"/>
              </a:rPr>
              <a:t>FIGURE 03-B · Spacer 정의 후 mandrel 분리</a:t>
            </a:r>
            <a:endParaRPr lang="en-US" sz="1050" dirty="0"/>
          </a:p>
        </p:txBody>
      </p:sp>
      <p:sp>
        <p:nvSpPr>
          <p:cNvPr id="20" name="Text 13"/>
          <p:cNvSpPr txBox="1"/>
          <p:nvPr/>
        </p:nvSpPr>
        <p:spPr>
          <a:xfrm>
            <a:off x="15240305" y="2915107"/>
            <a:ext cx="2095805" cy="162763"/>
          </a:xfrm>
          <a:prstGeom prst="rect">
            <a:avLst/>
          </a:prstGeom>
          <a:noFill/>
          <a:ln/>
        </p:spPr>
        <p:txBody>
          <a:bodyPr wrap="none" lIns="0" tIns="0" rIns="0" bIns="0" rtlCol="0" anchor="ctr"/>
          <a:lstStyle/>
          <a:p>
            <a:pPr algn="r" indent="0" marL="0">
              <a:buNone/>
            </a:pPr>
            <a:r>
              <a:rPr lang="en-US" sz="975" dirty="0">
                <a:solidFill>
                  <a:srgbClr val="A5F3FC"/>
                </a:solidFill>
                <a:latin typeface="IBM Plex Mono" pitchFamily="34" charset="0"/>
                <a:ea typeface="IBM Plex Mono" pitchFamily="34" charset="-122"/>
                <a:cs typeface="IBM Plex Mono" pitchFamily="34" charset="-120"/>
              </a:rPr>
              <a:t>REFERENCE LITERATURE</a:t>
            </a:r>
            <a:endParaRPr lang="en-US" sz="975" dirty="0"/>
          </a:p>
        </p:txBody>
      </p:sp>
      <p:sp>
        <p:nvSpPr>
          <p:cNvPr id="21" name="Text 14"/>
          <p:cNvSpPr txBox="1"/>
          <p:nvPr/>
        </p:nvSpPr>
        <p:spPr>
          <a:xfrm>
            <a:off x="9525305" y="7619695"/>
            <a:ext cx="8001000" cy="247802"/>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Mandrel pull 직후 spacer 라인 — QALE 적용 시 잔존 손상층 거동 비교용</a:t>
            </a:r>
            <a:endParaRPr lang="en-US" sz="1350" dirty="0"/>
          </a:p>
        </p:txBody>
      </p:sp>
      <p:sp>
        <p:nvSpPr>
          <p:cNvPr id="22" name="Text 15"/>
          <p:cNvSpPr txBox="1"/>
          <p:nvPr/>
        </p:nvSpPr>
        <p:spPr>
          <a:xfrm>
            <a:off x="9525305" y="8020202"/>
            <a:ext cx="8001000" cy="362102"/>
          </a:xfrm>
          <a:prstGeom prst="rect">
            <a:avLst/>
          </a:prstGeom>
          <a:noFill/>
          <a:ln/>
        </p:spPr>
        <p:txBody>
          <a:bodyPr wrap="square" lIns="0" tIns="0" rIns="0" bIns="0" rtlCol="0" anchor="ctr"/>
          <a:lstStyle/>
          <a:p>
            <a:pPr algn="l" indent="0" marL="0">
              <a:buNone/>
            </a:pPr>
            <a:r>
              <a:rPr lang="en-US" sz="1050" dirty="0">
                <a:solidFill>
                  <a:srgbClr val="64748B"/>
                </a:solidFill>
                <a:latin typeface="IBM Plex Mono" pitchFamily="34" charset="0"/>
                <a:ea typeface="IBM Plex Mono" pitchFamily="34" charset="-122"/>
                <a:cs typeface="IBM Plex Mono" pitchFamily="34" charset="-120"/>
              </a:rPr>
              <a:t>출처 — Practical Electron Microscopy and Database, “SADP (Self-Aligned Double Patterning)” (globalsino.com)</a:t>
            </a:r>
            <a:endParaRPr lang="en-US" sz="1050" dirty="0"/>
          </a:p>
        </p:txBody>
      </p:sp>
      <p:sp>
        <p:nvSpPr>
          <p:cNvPr id="23" name="Text 16"/>
          <p:cNvSpPr txBox="1"/>
          <p:nvPr/>
        </p:nvSpPr>
        <p:spPr>
          <a:xfrm>
            <a:off x="1143000" y="8762695"/>
            <a:ext cx="16383305" cy="257861"/>
          </a:xfrm>
          <a:prstGeom prst="rect">
            <a:avLst/>
          </a:prstGeom>
          <a:noFill/>
          <a:ln/>
        </p:spPr>
        <p:txBody>
          <a:bodyPr wrap="none" lIns="0" tIns="0" rIns="0" bIns="0" rtlCol="0" anchor="ctr"/>
          <a:lstStyle/>
          <a:p>
            <a:pPr algn="l" indent="0" marL="0">
              <a:buNone/>
            </a:pPr>
            <a:r>
              <a:rPr lang="en-US" sz="1350" dirty="0">
                <a:solidFill>
                  <a:srgbClr val="E2E8F0"/>
                </a:solidFill>
                <a:latin typeface="IBM Plex Sans KR" pitchFamily="34" charset="0"/>
                <a:ea typeface="IBM Plex Sans KR" pitchFamily="34" charset="-122"/>
                <a:cs typeface="IBM Plex Sans KR" pitchFamily="34" charset="-120"/>
              </a:rPr>
              <a:t>관찰 포인트 · </a:t>
            </a:r>
            <a:pPr algn="l" indent="0" marL="0">
              <a:buNone/>
            </a:pPr>
            <a:r>
              <a:rPr lang="en-US" sz="1350" b="1" dirty="0">
                <a:solidFill>
                  <a:srgbClr val="FFFFFF"/>
                </a:solidFill>
                <a:latin typeface="IBM Plex Sans KR" pitchFamily="34" charset="0"/>
                <a:ea typeface="IBM Plex Sans KR" pitchFamily="34" charset="-122"/>
                <a:cs typeface="IBM Plex Sans KR" pitchFamily="34" charset="-120"/>
              </a:rPr>
              <a:t>①</a:t>
            </a:r>
            <a:pPr algn="l" indent="0" marL="0">
              <a:buNone/>
            </a:pPr>
            <a:r>
              <a:rPr lang="en-US" sz="1350" dirty="0">
                <a:solidFill>
                  <a:srgbClr val="E2E8F0"/>
                </a:solidFill>
                <a:latin typeface="IBM Plex Sans KR" pitchFamily="34" charset="0"/>
                <a:ea typeface="IBM Plex Sans KR" pitchFamily="34" charset="-122"/>
                <a:cs typeface="IBM Plex Sans KR" pitchFamily="34" charset="-120"/>
              </a:rPr>
              <a:t> spacer / mandrel 측벽 각도 · </a:t>
            </a:r>
            <a:pPr algn="l" indent="0" marL="0">
              <a:buNone/>
            </a:pPr>
            <a:r>
              <a:rPr lang="en-US" sz="1350" b="1" dirty="0">
                <a:solidFill>
                  <a:srgbClr val="FFFFFF"/>
                </a:solidFill>
                <a:latin typeface="IBM Plex Sans KR" pitchFamily="34" charset="0"/>
                <a:ea typeface="IBM Plex Sans KR" pitchFamily="34" charset="-122"/>
                <a:cs typeface="IBM Plex Sans KR" pitchFamily="34" charset="-120"/>
              </a:rPr>
              <a:t>②</a:t>
            </a:r>
            <a:pPr algn="l" indent="0" marL="0">
              <a:buNone/>
            </a:pPr>
            <a:r>
              <a:rPr lang="en-US" sz="1350" dirty="0">
                <a:solidFill>
                  <a:srgbClr val="E2E8F0"/>
                </a:solidFill>
                <a:latin typeface="IBM Plex Sans KR" pitchFamily="34" charset="0"/>
                <a:ea typeface="IBM Plex Sans KR" pitchFamily="34" charset="-122"/>
                <a:cs typeface="IBM Plex Sans KR" pitchFamily="34" charset="-120"/>
              </a:rPr>
              <a:t> 라인 top rounding · </a:t>
            </a:r>
            <a:pPr algn="l" indent="0" marL="0">
              <a:buNone/>
            </a:pPr>
            <a:r>
              <a:rPr lang="en-US" sz="1350" b="1" dirty="0">
                <a:solidFill>
                  <a:srgbClr val="FFFFFF"/>
                </a:solidFill>
                <a:latin typeface="IBM Plex Sans KR" pitchFamily="34" charset="0"/>
                <a:ea typeface="IBM Plex Sans KR" pitchFamily="34" charset="-122"/>
                <a:cs typeface="IBM Plex Sans KR" pitchFamily="34" charset="-120"/>
              </a:rPr>
              <a:t>③</a:t>
            </a:r>
            <a:pPr algn="l" indent="0" marL="0">
              <a:buNone/>
            </a:pPr>
            <a:r>
              <a:rPr lang="en-US" sz="1350" dirty="0">
                <a:solidFill>
                  <a:srgbClr val="E2E8F0"/>
                </a:solidFill>
                <a:latin typeface="IBM Plex Sans KR" pitchFamily="34" charset="0"/>
                <a:ea typeface="IBM Plex Sans KR" pitchFamily="34" charset="-122"/>
                <a:cs typeface="IBM Plex Sans KR" pitchFamily="34" charset="-120"/>
              </a:rPr>
              <a:t> 인접 라인 간격 불균일도 (a-b-a-b 패턴 여부)</a:t>
            </a:r>
            <a:endParaRPr lang="en-US" sz="1350" dirty="0"/>
          </a:p>
        </p:txBody>
      </p:sp>
      <p:sp>
        <p:nvSpPr>
          <p:cNvPr id="24" name="Text 17"/>
          <p:cNvSpPr txBox="1"/>
          <p:nvPr/>
        </p:nvSpPr>
        <p:spPr>
          <a:xfrm>
            <a:off x="761695" y="9696298"/>
            <a:ext cx="11430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사진은 공개 문헌에서 발췌, 분석은 본 평가에 한정</a:t>
            </a:r>
            <a:endParaRPr lang="en-US" sz="1050" dirty="0"/>
          </a:p>
        </p:txBody>
      </p:sp>
      <p:sp>
        <p:nvSpPr>
          <p:cNvPr id="25" name="Text 18"/>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03 / 08 · X-SECTION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667305"/>
            <a:ext cx="7258507" cy="6115507"/>
          </a:xfrm>
          <a:prstGeom prst="rect">
            <a:avLst/>
          </a:prstGeom>
          <a:solidFill>
            <a:srgbClr val="FFFFFF"/>
          </a:solidFill>
          <a:ln w="12700">
            <a:solidFill>
              <a:srgbClr val="CBD5E1"/>
            </a:solidFill>
            <a:prstDash val="solid"/>
          </a:ln>
        </p:spPr>
      </p:sp>
      <p:sp>
        <p:nvSpPr>
          <p:cNvPr id="5" name="Shape 1"/>
          <p:cNvSpPr/>
          <p:nvPr/>
        </p:nvSpPr>
        <p:spPr>
          <a:xfrm>
            <a:off x="8382305" y="2667305"/>
            <a:ext cx="9163202" cy="6115507"/>
          </a:xfrm>
          <a:prstGeom prst="rect">
            <a:avLst/>
          </a:prstGeom>
          <a:solidFill>
            <a:srgbClr val="FFFFFF"/>
          </a:solidFill>
          <a:ln w="12700">
            <a:solidFill>
              <a:srgbClr val="CBD5E1"/>
            </a:solidFill>
            <a:prstDash val="solid"/>
          </a:ln>
        </p:spPr>
      </p:sp>
      <p:sp>
        <p:nvSpPr>
          <p:cNvPr id="6" name="Shape 2"/>
          <p:cNvSpPr/>
          <p:nvPr/>
        </p:nvSpPr>
        <p:spPr>
          <a:xfrm>
            <a:off x="8382305" y="3010205"/>
            <a:ext cx="9144000" cy="437998"/>
          </a:xfrm>
          <a:prstGeom prst="rect">
            <a:avLst/>
          </a:prstGeom>
          <a:solidFill>
            <a:srgbClr val="F1F5F9"/>
          </a:solidFill>
          <a:ln w="12700">
            <a:solidFill>
              <a:srgbClr val="CBD5E1"/>
            </a:solidFill>
            <a:prstDash val="solid"/>
          </a:ln>
        </p:spPr>
      </p:sp>
      <p:pic>
        <p:nvPicPr>
          <p:cNvPr id="7" name="Image 1" descr="gen-dedup-57ebdef797aa331d4d77514a75c1383b.png">    </p:cNvPr>
          <p:cNvPicPr>
            <a:picLocks noChangeAspect="1"/>
          </p:cNvPicPr>
          <p:nvPr/>
        </p:nvPicPr>
        <p:blipFill>
          <a:blip r:embed="rId2"/>
          <a:srcRect l="-2083" r="-2083" t="0" b="0"/>
          <a:stretch/>
        </p:blipFill>
        <p:spPr>
          <a:xfrm>
            <a:off x="8382305" y="5238598"/>
            <a:ext cx="9144000" cy="9144"/>
          </a:xfrm>
          <a:prstGeom prst="rect">
            <a:avLst/>
          </a:prstGeom>
        </p:spPr>
      </p:pic>
      <p:pic>
        <p:nvPicPr>
          <p:cNvPr id="8" name="Image 2" descr="gen-dedup-57ebdef797aa331d4d77514a75c1383b.png">    </p:cNvPr>
          <p:cNvPicPr>
            <a:picLocks noChangeAspect="1"/>
          </p:cNvPicPr>
          <p:nvPr/>
        </p:nvPicPr>
        <p:blipFill>
          <a:blip r:embed="rId3"/>
          <a:srcRect l="-2083" r="-2083" t="0" b="0"/>
          <a:stretch/>
        </p:blipFill>
        <p:spPr>
          <a:xfrm>
            <a:off x="8382305" y="7105802"/>
            <a:ext cx="9144000" cy="9144"/>
          </a:xfrm>
          <a:prstGeom prst="rect">
            <a:avLst/>
          </a:prstGeom>
        </p:spPr>
      </p:pic>
      <p:pic>
        <p:nvPicPr>
          <p:cNvPr id="9" name="Image 3" descr="gen-dedup-5a0ba8ca655a299c416b119e75c6720d.png">    </p:cNvPr>
          <p:cNvPicPr>
            <a:picLocks noChangeAspect="1"/>
          </p:cNvPicPr>
          <p:nvPr/>
        </p:nvPicPr>
        <p:blipFill>
          <a:blip r:embed="rId4"/>
          <a:srcRect l="-2083" r="-2083" t="0" b="0"/>
          <a:stretch/>
        </p:blipFill>
        <p:spPr>
          <a:xfrm>
            <a:off x="761695" y="9525305"/>
            <a:ext cx="16763695" cy="9144"/>
          </a:xfrm>
          <a:prstGeom prst="rect">
            <a:avLst/>
          </a:prstGeom>
        </p:spPr>
      </p:pic>
      <p:sp>
        <p:nvSpPr>
          <p:cNvPr id="10" name="Shape 3"/>
          <p:cNvSpPr/>
          <p:nvPr/>
        </p:nvSpPr>
        <p:spPr>
          <a:xfrm>
            <a:off x="761695" y="2667305"/>
            <a:ext cx="7239305" cy="342900"/>
          </a:xfrm>
          <a:prstGeom prst="rect">
            <a:avLst/>
          </a:prstGeom>
          <a:solidFill>
            <a:srgbClr val="475569"/>
          </a:solidFill>
          <a:ln w="12700">
            <a:solidFill>
              <a:srgbClr val="FFFFFF">
                <a:alpha val="0"/>
              </a:srgbClr>
            </a:solidFill>
            <a:prstDash val="solid"/>
          </a:ln>
        </p:spPr>
      </p:sp>
      <p:sp>
        <p:nvSpPr>
          <p:cNvPr id="11" name="Shape 4"/>
          <p:cNvSpPr/>
          <p:nvPr/>
        </p:nvSpPr>
        <p:spPr>
          <a:xfrm>
            <a:off x="8382305" y="2667305"/>
            <a:ext cx="9144000" cy="342900"/>
          </a:xfrm>
          <a:prstGeom prst="rect">
            <a:avLst/>
          </a:prstGeom>
          <a:solidFill>
            <a:srgbClr val="0F172A"/>
          </a:solidFill>
          <a:ln w="12700">
            <a:solidFill>
              <a:srgbClr val="FFFFFF">
                <a:alpha val="0"/>
              </a:srgbClr>
            </a:solidFill>
            <a:prstDash val="solid"/>
          </a:ln>
        </p:spPr>
      </p:sp>
      <p:sp>
        <p:nvSpPr>
          <p:cNvPr id="12" name="Shape 5"/>
          <p:cNvSpPr/>
          <p:nvPr/>
        </p:nvSpPr>
        <p:spPr>
          <a:xfrm>
            <a:off x="8382305" y="3429000"/>
            <a:ext cx="114300" cy="437998"/>
          </a:xfrm>
          <a:prstGeom prst="rect">
            <a:avLst/>
          </a:prstGeom>
          <a:solidFill>
            <a:srgbClr val="1E40AF"/>
          </a:solidFill>
          <a:ln w="12700">
            <a:solidFill>
              <a:srgbClr val="FFFFFF">
                <a:alpha val="0"/>
              </a:srgbClr>
            </a:solidFill>
            <a:prstDash val="solid"/>
          </a:ln>
        </p:spPr>
      </p:sp>
      <p:sp>
        <p:nvSpPr>
          <p:cNvPr id="13" name="Shape 6"/>
          <p:cNvSpPr/>
          <p:nvPr/>
        </p:nvSpPr>
        <p:spPr>
          <a:xfrm>
            <a:off x="8382305" y="3866998"/>
            <a:ext cx="114300" cy="437998"/>
          </a:xfrm>
          <a:prstGeom prst="rect">
            <a:avLst/>
          </a:prstGeom>
          <a:solidFill>
            <a:srgbClr val="1E40AF"/>
          </a:solidFill>
          <a:ln w="12700">
            <a:solidFill>
              <a:srgbClr val="FFFFFF">
                <a:alpha val="0"/>
              </a:srgbClr>
            </a:solidFill>
            <a:prstDash val="solid"/>
          </a:ln>
        </p:spPr>
      </p:sp>
      <p:sp>
        <p:nvSpPr>
          <p:cNvPr id="14" name="Shape 7"/>
          <p:cNvSpPr/>
          <p:nvPr/>
        </p:nvSpPr>
        <p:spPr>
          <a:xfrm>
            <a:off x="8382305" y="4304995"/>
            <a:ext cx="114300" cy="437998"/>
          </a:xfrm>
          <a:prstGeom prst="rect">
            <a:avLst/>
          </a:prstGeom>
          <a:solidFill>
            <a:srgbClr val="1E40AF"/>
          </a:solidFill>
          <a:ln w="12700">
            <a:solidFill>
              <a:srgbClr val="FFFFFF">
                <a:alpha val="0"/>
              </a:srgbClr>
            </a:solidFill>
            <a:prstDash val="solid"/>
          </a:ln>
        </p:spPr>
      </p:sp>
      <p:sp>
        <p:nvSpPr>
          <p:cNvPr id="15" name="Shape 8"/>
          <p:cNvSpPr/>
          <p:nvPr/>
        </p:nvSpPr>
        <p:spPr>
          <a:xfrm>
            <a:off x="8382305" y="4743907"/>
            <a:ext cx="114300" cy="437998"/>
          </a:xfrm>
          <a:prstGeom prst="rect">
            <a:avLst/>
          </a:prstGeom>
          <a:solidFill>
            <a:srgbClr val="1E40AF"/>
          </a:solidFill>
          <a:ln w="12700">
            <a:solidFill>
              <a:srgbClr val="FFFFFF">
                <a:alpha val="0"/>
              </a:srgbClr>
            </a:solidFill>
            <a:prstDash val="solid"/>
          </a:ln>
        </p:spPr>
      </p:sp>
      <p:sp>
        <p:nvSpPr>
          <p:cNvPr id="16" name="Shape 9"/>
          <p:cNvSpPr/>
          <p:nvPr/>
        </p:nvSpPr>
        <p:spPr>
          <a:xfrm>
            <a:off x="8382305" y="5296205"/>
            <a:ext cx="114300" cy="437998"/>
          </a:xfrm>
          <a:prstGeom prst="rect">
            <a:avLst/>
          </a:prstGeom>
          <a:solidFill>
            <a:srgbClr val="0E7490"/>
          </a:solidFill>
          <a:ln w="12700">
            <a:solidFill>
              <a:srgbClr val="FFFFFF">
                <a:alpha val="0"/>
              </a:srgbClr>
            </a:solidFill>
            <a:prstDash val="solid"/>
          </a:ln>
        </p:spPr>
      </p:sp>
      <p:sp>
        <p:nvSpPr>
          <p:cNvPr id="17" name="Shape 10"/>
          <p:cNvSpPr/>
          <p:nvPr/>
        </p:nvSpPr>
        <p:spPr>
          <a:xfrm>
            <a:off x="8382305" y="5734202"/>
            <a:ext cx="114300" cy="437998"/>
          </a:xfrm>
          <a:prstGeom prst="rect">
            <a:avLst/>
          </a:prstGeom>
          <a:solidFill>
            <a:srgbClr val="0E7490"/>
          </a:solidFill>
          <a:ln w="12700">
            <a:solidFill>
              <a:srgbClr val="FFFFFF">
                <a:alpha val="0"/>
              </a:srgbClr>
            </a:solidFill>
            <a:prstDash val="solid"/>
          </a:ln>
        </p:spPr>
      </p:sp>
      <p:sp>
        <p:nvSpPr>
          <p:cNvPr id="18" name="Shape 11"/>
          <p:cNvSpPr/>
          <p:nvPr/>
        </p:nvSpPr>
        <p:spPr>
          <a:xfrm>
            <a:off x="8382305" y="6172200"/>
            <a:ext cx="114300" cy="437998"/>
          </a:xfrm>
          <a:prstGeom prst="rect">
            <a:avLst/>
          </a:prstGeom>
          <a:solidFill>
            <a:srgbClr val="0E7490"/>
          </a:solidFill>
          <a:ln w="12700">
            <a:solidFill>
              <a:srgbClr val="FFFFFF">
                <a:alpha val="0"/>
              </a:srgbClr>
            </a:solidFill>
            <a:prstDash val="solid"/>
          </a:ln>
        </p:spPr>
      </p:sp>
      <p:sp>
        <p:nvSpPr>
          <p:cNvPr id="19" name="Shape 12"/>
          <p:cNvSpPr/>
          <p:nvPr/>
        </p:nvSpPr>
        <p:spPr>
          <a:xfrm>
            <a:off x="8382305" y="6610198"/>
            <a:ext cx="114300" cy="437998"/>
          </a:xfrm>
          <a:prstGeom prst="rect">
            <a:avLst/>
          </a:prstGeom>
          <a:solidFill>
            <a:srgbClr val="0E7490"/>
          </a:solidFill>
          <a:ln w="12700">
            <a:solidFill>
              <a:srgbClr val="FFFFFF">
                <a:alpha val="0"/>
              </a:srgbClr>
            </a:solidFill>
            <a:prstDash val="solid"/>
          </a:ln>
        </p:spPr>
      </p:sp>
      <p:sp>
        <p:nvSpPr>
          <p:cNvPr id="20" name="Shape 13"/>
          <p:cNvSpPr/>
          <p:nvPr/>
        </p:nvSpPr>
        <p:spPr>
          <a:xfrm>
            <a:off x="8382305" y="7162495"/>
            <a:ext cx="114300" cy="437998"/>
          </a:xfrm>
          <a:prstGeom prst="rect">
            <a:avLst/>
          </a:prstGeom>
          <a:solidFill>
            <a:srgbClr val="475569"/>
          </a:solidFill>
          <a:ln w="12700">
            <a:solidFill>
              <a:srgbClr val="FFFFFF">
                <a:alpha val="0"/>
              </a:srgbClr>
            </a:solidFill>
            <a:prstDash val="solid"/>
          </a:ln>
        </p:spPr>
      </p:sp>
      <p:sp>
        <p:nvSpPr>
          <p:cNvPr id="21" name="Shape 14"/>
          <p:cNvSpPr/>
          <p:nvPr/>
        </p:nvSpPr>
        <p:spPr>
          <a:xfrm>
            <a:off x="8382305" y="7601407"/>
            <a:ext cx="114300" cy="437998"/>
          </a:xfrm>
          <a:prstGeom prst="rect">
            <a:avLst/>
          </a:prstGeom>
          <a:solidFill>
            <a:srgbClr val="475569"/>
          </a:solidFill>
          <a:ln w="12700">
            <a:solidFill>
              <a:srgbClr val="FFFFFF">
                <a:alpha val="0"/>
              </a:srgbClr>
            </a:solidFill>
            <a:prstDash val="solid"/>
          </a:ln>
        </p:spPr>
      </p:sp>
      <p:sp>
        <p:nvSpPr>
          <p:cNvPr id="22" name="Shape 15"/>
          <p:cNvSpPr/>
          <p:nvPr/>
        </p:nvSpPr>
        <p:spPr>
          <a:xfrm>
            <a:off x="8382305" y="8039405"/>
            <a:ext cx="114300" cy="437998"/>
          </a:xfrm>
          <a:prstGeom prst="rect">
            <a:avLst/>
          </a:prstGeom>
          <a:solidFill>
            <a:srgbClr val="475569"/>
          </a:solidFill>
          <a:ln w="12700">
            <a:solidFill>
              <a:srgbClr val="FFFFFF">
                <a:alpha val="0"/>
              </a:srgbClr>
            </a:solidFill>
            <a:prstDash val="solid"/>
          </a:ln>
        </p:spPr>
      </p:sp>
      <p:pic>
        <p:nvPicPr>
          <p:cNvPr id="23" name="Image 4" descr="gen-dedup-ba9d445da70abdbaea6f66ccef99d103.jpg">    </p:cNvPr>
          <p:cNvPicPr>
            <a:picLocks noChangeAspect="1"/>
          </p:cNvPicPr>
          <p:nvPr/>
        </p:nvPicPr>
        <p:blipFill>
          <a:blip r:embed="rId5"/>
          <a:srcRect l="0" r="0" t="-27924" b="-27924"/>
          <a:stretch/>
        </p:blipFill>
        <p:spPr>
          <a:xfrm>
            <a:off x="952805" y="3161995"/>
            <a:ext cx="6858000" cy="4572000"/>
          </a:xfrm>
          <a:prstGeom prst="rect">
            <a:avLst/>
          </a:prstGeom>
        </p:spPr>
      </p:pic>
      <p:sp>
        <p:nvSpPr>
          <p:cNvPr id="24" name="Text 16"/>
          <p:cNvSpPr txBox="1"/>
          <p:nvPr/>
        </p:nvSpPr>
        <p:spPr>
          <a:xfrm>
            <a:off x="761695" y="761695"/>
            <a:ext cx="8572500"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TOP-VIEW + CD VARIATION · 04 / 08</a:t>
            </a:r>
            <a:endParaRPr lang="en-US" sz="1050" dirty="0"/>
          </a:p>
        </p:txBody>
      </p:sp>
      <p:sp>
        <p:nvSpPr>
          <p:cNvPr id="25" name="Text 17"/>
          <p:cNvSpPr txBox="1"/>
          <p:nvPr/>
        </p:nvSpPr>
        <p:spPr>
          <a:xfrm>
            <a:off x="761695" y="1123798"/>
            <a:ext cx="14287500" cy="534010"/>
          </a:xfrm>
          <a:prstGeom prst="rect">
            <a:avLst/>
          </a:prstGeom>
          <a:noFill/>
          <a:ln/>
        </p:spPr>
        <p:txBody>
          <a:bodyPr wrap="none" lIns="0" tIns="0" rIns="0" bIns="0" rtlCol="0" anchor="ctr"/>
          <a:lstStyle/>
          <a:p>
            <a:pPr algn="l" indent="0" marL="0">
              <a:buNone/>
            </a:pPr>
            <a:r>
              <a:rPr lang="en-US" sz="4200" b="1" spc="-84" kern="0" dirty="0">
                <a:solidFill>
                  <a:srgbClr val="0F172A"/>
                </a:solidFill>
                <a:latin typeface="IBM Plex Sans KR" pitchFamily="34" charset="0"/>
                <a:ea typeface="IBM Plex Sans KR" pitchFamily="34" charset="-122"/>
                <a:cs typeface="IBM Plex Sans KR" pitchFamily="34" charset="-120"/>
              </a:rPr>
              <a:t>Top-view SEM &amp; CD Variation</a:t>
            </a:r>
            <a:endParaRPr lang="en-US" sz="4200" dirty="0"/>
          </a:p>
        </p:txBody>
      </p:sp>
      <p:sp>
        <p:nvSpPr>
          <p:cNvPr id="26" name="Text 18"/>
          <p:cNvSpPr txBox="1"/>
          <p:nvPr/>
        </p:nvSpPr>
        <p:spPr>
          <a:xfrm>
            <a:off x="761695" y="1904695"/>
            <a:ext cx="14287500" cy="267005"/>
          </a:xfrm>
          <a:prstGeom prst="rect">
            <a:avLst/>
          </a:prstGeom>
          <a:noFill/>
          <a:ln/>
        </p:spPr>
        <p:txBody>
          <a:bodyPr wrap="none" lIns="0" tIns="0" rIns="0" bIns="0" rtlCol="0" anchor="ctr"/>
          <a:lstStyle/>
          <a:p>
            <a:pPr algn="l" indent="0" marL="0">
              <a:buNone/>
            </a:pPr>
            <a:r>
              <a:rPr lang="en-US" sz="1500" dirty="0">
                <a:solidFill>
                  <a:srgbClr val="475569"/>
                </a:solidFill>
                <a:latin typeface="IBM Plex Sans KR" pitchFamily="34" charset="0"/>
                <a:ea typeface="IBM Plex Sans KR" pitchFamily="34" charset="-122"/>
                <a:cs typeface="IBM Plex Sans KR" pitchFamily="34" charset="-120"/>
              </a:rPr>
              <a:t>18 nm pitch P18 단면 위에 Cut mask를 함께 적용한 후의 Top-view 형상과 wafer별 4-stage CD 분포.</a:t>
            </a:r>
            <a:endParaRPr lang="en-US" sz="1500" dirty="0"/>
          </a:p>
        </p:txBody>
      </p:sp>
      <p:sp>
        <p:nvSpPr>
          <p:cNvPr id="27" name="Text 19"/>
          <p:cNvSpPr txBox="1"/>
          <p:nvPr/>
        </p:nvSpPr>
        <p:spPr>
          <a:xfrm>
            <a:off x="990295" y="2723998"/>
            <a:ext cx="6286500" cy="200254"/>
          </a:xfrm>
          <a:prstGeom prst="rect">
            <a:avLst/>
          </a:prstGeom>
          <a:noFill/>
          <a:ln/>
        </p:spPr>
        <p:txBody>
          <a:bodyPr wrap="none" lIns="0" tIns="0" rIns="0" bIns="0" rtlCol="0" anchor="ctr"/>
          <a:lstStyle/>
          <a:p>
            <a:pPr algn="l" indent="0" marL="0">
              <a:buNone/>
            </a:pPr>
            <a:r>
              <a:rPr lang="en-US" sz="1050" b="1" spc="105" kern="0" dirty="0">
                <a:solidFill>
                  <a:srgbClr val="FFFFFF"/>
                </a:solidFill>
                <a:latin typeface="IBM Plex Sans KR" pitchFamily="34" charset="0"/>
                <a:ea typeface="IBM Plex Sans KR" pitchFamily="34" charset="-122"/>
                <a:cs typeface="IBM Plex Sans KR" pitchFamily="34" charset="-120"/>
              </a:rPr>
              <a:t>FIGURE 04-A · 18 nm pitch line / space Top-view</a:t>
            </a:r>
            <a:endParaRPr lang="en-US" sz="1050" dirty="0"/>
          </a:p>
        </p:txBody>
      </p:sp>
      <p:sp>
        <p:nvSpPr>
          <p:cNvPr id="28" name="Text 20"/>
          <p:cNvSpPr txBox="1"/>
          <p:nvPr/>
        </p:nvSpPr>
        <p:spPr>
          <a:xfrm>
            <a:off x="5333695" y="2723998"/>
            <a:ext cx="2477110" cy="162763"/>
          </a:xfrm>
          <a:prstGeom prst="rect">
            <a:avLst/>
          </a:prstGeom>
          <a:noFill/>
          <a:ln/>
        </p:spPr>
        <p:txBody>
          <a:bodyPr wrap="none" lIns="0" tIns="0" rIns="0" bIns="0" rtlCol="0" anchor="ctr"/>
          <a:lstStyle/>
          <a:p>
            <a:pPr algn="r" indent="0" marL="0">
              <a:buNone/>
            </a:pPr>
            <a:r>
              <a:rPr lang="en-US" sz="975" dirty="0">
                <a:solidFill>
                  <a:srgbClr val="E2E8F0"/>
                </a:solidFill>
                <a:latin typeface="IBM Plex Mono" pitchFamily="34" charset="0"/>
                <a:ea typeface="IBM Plex Mono" pitchFamily="34" charset="-122"/>
                <a:cs typeface="IBM Plex Mono" pitchFamily="34" charset="-120"/>
              </a:rPr>
              <a:t>REFERENCE LITERATURE</a:t>
            </a:r>
            <a:endParaRPr lang="en-US" sz="975" dirty="0"/>
          </a:p>
        </p:txBody>
      </p:sp>
      <p:sp>
        <p:nvSpPr>
          <p:cNvPr id="29" name="Text 21"/>
          <p:cNvSpPr txBox="1"/>
          <p:nvPr/>
        </p:nvSpPr>
        <p:spPr>
          <a:xfrm>
            <a:off x="952805" y="7905902"/>
            <a:ext cx="5715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18 nm line/space 패턴, cut 적용 후 최종</a:t>
            </a:r>
            <a:endParaRPr lang="en-US" sz="1200" dirty="0"/>
          </a:p>
        </p:txBody>
      </p:sp>
      <p:sp>
        <p:nvSpPr>
          <p:cNvPr id="30" name="Text 22"/>
          <p:cNvSpPr txBox="1"/>
          <p:nvPr/>
        </p:nvSpPr>
        <p:spPr>
          <a:xfrm>
            <a:off x="952805" y="8287207"/>
            <a:ext cx="6858000" cy="342900"/>
          </a:xfrm>
          <a:prstGeom prst="rect">
            <a:avLst/>
          </a:prstGeom>
          <a:noFill/>
          <a:ln/>
        </p:spPr>
        <p:txBody>
          <a:bodyPr wrap="square" lIns="0" tIns="0" rIns="0" bIns="0" rtlCol="0" anchor="ctr"/>
          <a:lstStyle/>
          <a:p>
            <a:pPr algn="l" indent="0" marL="0">
              <a:buNone/>
            </a:pPr>
            <a:r>
              <a:rPr lang="en-US" sz="975" dirty="0">
                <a:solidFill>
                  <a:srgbClr val="64748B"/>
                </a:solidFill>
                <a:latin typeface="IBM Plex Mono" pitchFamily="34" charset="0"/>
                <a:ea typeface="IBM Plex Mono" pitchFamily="34" charset="-122"/>
                <a:cs typeface="IBM Plex Mono" pitchFamily="34" charset="-120"/>
              </a:rPr>
              <a:t>출처 — Silicon Semiconductor, “Imec 18 nm pitch line/space patterning” (siliconsemiconductor.net)</a:t>
            </a:r>
            <a:endParaRPr lang="en-US" sz="975" dirty="0"/>
          </a:p>
        </p:txBody>
      </p:sp>
      <p:sp>
        <p:nvSpPr>
          <p:cNvPr id="31" name="Text 23"/>
          <p:cNvSpPr txBox="1"/>
          <p:nvPr/>
        </p:nvSpPr>
        <p:spPr>
          <a:xfrm>
            <a:off x="8610905" y="2723998"/>
            <a:ext cx="5715000" cy="200254"/>
          </a:xfrm>
          <a:prstGeom prst="rect">
            <a:avLst/>
          </a:prstGeom>
          <a:noFill/>
          <a:ln/>
        </p:spPr>
        <p:txBody>
          <a:bodyPr wrap="none" lIns="0" tIns="0" rIns="0" bIns="0" rtlCol="0" anchor="ctr"/>
          <a:lstStyle/>
          <a:p>
            <a:pPr algn="l" indent="0" marL="0">
              <a:buNone/>
            </a:pPr>
            <a:r>
              <a:rPr lang="en-US" sz="1050" b="1" spc="105" kern="0" dirty="0">
                <a:solidFill>
                  <a:srgbClr val="E2E8F0"/>
                </a:solidFill>
                <a:latin typeface="IBM Plex Sans KR" pitchFamily="34" charset="0"/>
                <a:ea typeface="IBM Plex Sans KR" pitchFamily="34" charset="-122"/>
                <a:cs typeface="IBM Plex Sans KR" pitchFamily="34" charset="-120"/>
              </a:rPr>
              <a:t>TABLE 04-B · 4-stage CD Variation (wafer × stage)</a:t>
            </a:r>
            <a:endParaRPr lang="en-US" sz="1050" dirty="0"/>
          </a:p>
        </p:txBody>
      </p:sp>
      <p:sp>
        <p:nvSpPr>
          <p:cNvPr id="32" name="Text 24"/>
          <p:cNvSpPr txBox="1"/>
          <p:nvPr/>
        </p:nvSpPr>
        <p:spPr>
          <a:xfrm>
            <a:off x="15335402" y="2723998"/>
            <a:ext cx="2000707" cy="162763"/>
          </a:xfrm>
          <a:prstGeom prst="rect">
            <a:avLst/>
          </a:prstGeom>
          <a:noFill/>
          <a:ln/>
        </p:spPr>
        <p:txBody>
          <a:bodyPr wrap="none" lIns="0" tIns="0" rIns="0" bIns="0" rtlCol="0" anchor="ctr"/>
          <a:lstStyle/>
          <a:p>
            <a:pPr algn="r" indent="0" marL="0">
              <a:buNone/>
            </a:pPr>
            <a:r>
              <a:rPr lang="en-US" sz="975" dirty="0">
                <a:solidFill>
                  <a:srgbClr val="94A3B8"/>
                </a:solidFill>
                <a:latin typeface="IBM Plex Mono" pitchFamily="34" charset="0"/>
                <a:ea typeface="IBM Plex Mono" pitchFamily="34" charset="-122"/>
                <a:cs typeface="IBM Plex Mono" pitchFamily="34" charset="-120"/>
              </a:rPr>
              <a:t>n = 49 sites / wafer</a:t>
            </a:r>
            <a:endParaRPr lang="en-US" sz="975" dirty="0"/>
          </a:p>
        </p:txBody>
      </p:sp>
      <p:sp>
        <p:nvSpPr>
          <p:cNvPr id="33" name="Text 25"/>
          <p:cNvSpPr txBox="1"/>
          <p:nvPr/>
        </p:nvSpPr>
        <p:spPr>
          <a:xfrm>
            <a:off x="8572500" y="3161995"/>
            <a:ext cx="571500" cy="171907"/>
          </a:xfrm>
          <a:prstGeom prst="rect">
            <a:avLst/>
          </a:prstGeom>
          <a:noFill/>
          <a:ln/>
        </p:spPr>
        <p:txBody>
          <a:bodyPr wrap="none" lIns="0" tIns="0" rIns="0" bIns="0" rtlCol="0" anchor="ctr"/>
          <a:lstStyle/>
          <a:p>
            <a:pPr algn="l" indent="0" marL="0">
              <a:buNone/>
            </a:pPr>
            <a:r>
              <a:rPr lang="en-US" sz="1050" b="1" spc="84" kern="0" dirty="0">
                <a:solidFill>
                  <a:srgbClr val="475569"/>
                </a:solidFill>
                <a:latin typeface="IBM Plex Mono" pitchFamily="34" charset="0"/>
                <a:ea typeface="IBM Plex Mono" pitchFamily="34" charset="-122"/>
                <a:cs typeface="IBM Plex Mono" pitchFamily="34" charset="-120"/>
              </a:rPr>
              <a:t>WF</a:t>
            </a:r>
            <a:endParaRPr lang="en-US" sz="1050" dirty="0"/>
          </a:p>
        </p:txBody>
      </p:sp>
      <p:sp>
        <p:nvSpPr>
          <p:cNvPr id="34" name="Text 26"/>
          <p:cNvSpPr txBox="1"/>
          <p:nvPr/>
        </p:nvSpPr>
        <p:spPr>
          <a:xfrm>
            <a:off x="9334195" y="3161995"/>
            <a:ext cx="857707" cy="171907"/>
          </a:xfrm>
          <a:prstGeom prst="rect">
            <a:avLst/>
          </a:prstGeom>
          <a:noFill/>
          <a:ln/>
        </p:spPr>
        <p:txBody>
          <a:bodyPr wrap="none" lIns="0" tIns="0" rIns="0" bIns="0" rtlCol="0" anchor="ctr"/>
          <a:lstStyle/>
          <a:p>
            <a:pPr algn="l" indent="0" marL="0">
              <a:buNone/>
            </a:pPr>
            <a:r>
              <a:rPr lang="en-US" sz="1050" b="1" spc="84" kern="0" dirty="0">
                <a:solidFill>
                  <a:srgbClr val="475569"/>
                </a:solidFill>
                <a:latin typeface="IBM Plex Mono" pitchFamily="34" charset="0"/>
                <a:ea typeface="IBM Plex Mono" pitchFamily="34" charset="-122"/>
                <a:cs typeface="IBM Plex Mono" pitchFamily="34" charset="-120"/>
              </a:rPr>
              <a:t>STAGE</a:t>
            </a:r>
            <a:endParaRPr lang="en-US" sz="1050" dirty="0"/>
          </a:p>
        </p:txBody>
      </p:sp>
      <p:sp>
        <p:nvSpPr>
          <p:cNvPr id="35" name="Text 27"/>
          <p:cNvSpPr txBox="1"/>
          <p:nvPr/>
        </p:nvSpPr>
        <p:spPr>
          <a:xfrm>
            <a:off x="10477195" y="3161995"/>
            <a:ext cx="1334110" cy="171907"/>
          </a:xfrm>
          <a:prstGeom prst="rect">
            <a:avLst/>
          </a:prstGeom>
          <a:noFill/>
          <a:ln/>
        </p:spPr>
        <p:txBody>
          <a:bodyPr wrap="none" lIns="0" tIns="0" rIns="0" bIns="0" rtlCol="0" anchor="ctr"/>
          <a:lstStyle/>
          <a:p>
            <a:pPr algn="r" indent="0" marL="0">
              <a:buNone/>
            </a:pPr>
            <a:r>
              <a:rPr lang="en-US" sz="1050" b="1" spc="84" kern="0" dirty="0">
                <a:solidFill>
                  <a:srgbClr val="475569"/>
                </a:solidFill>
                <a:latin typeface="IBM Plex Mono" pitchFamily="34" charset="0"/>
                <a:ea typeface="IBM Plex Mono" pitchFamily="34" charset="-122"/>
                <a:cs typeface="IBM Plex Mono" pitchFamily="34" charset="-120"/>
              </a:rPr>
              <a:t>TARGET</a:t>
            </a:r>
            <a:endParaRPr lang="en-US" sz="1050" dirty="0"/>
          </a:p>
        </p:txBody>
      </p:sp>
      <p:sp>
        <p:nvSpPr>
          <p:cNvPr id="36" name="Text 28"/>
          <p:cNvSpPr txBox="1"/>
          <p:nvPr/>
        </p:nvSpPr>
        <p:spPr>
          <a:xfrm>
            <a:off x="12001500" y="3161995"/>
            <a:ext cx="1334110" cy="171907"/>
          </a:xfrm>
          <a:prstGeom prst="rect">
            <a:avLst/>
          </a:prstGeom>
          <a:noFill/>
          <a:ln/>
        </p:spPr>
        <p:txBody>
          <a:bodyPr wrap="none" lIns="0" tIns="0" rIns="0" bIns="0" rtlCol="0" anchor="ctr"/>
          <a:lstStyle/>
          <a:p>
            <a:pPr algn="r" indent="0" marL="0">
              <a:buNone/>
            </a:pPr>
            <a:r>
              <a:rPr lang="en-US" sz="1050" b="1" spc="84" kern="0" dirty="0">
                <a:solidFill>
                  <a:srgbClr val="475569"/>
                </a:solidFill>
                <a:latin typeface="IBM Plex Mono" pitchFamily="34" charset="0"/>
                <a:ea typeface="IBM Plex Mono" pitchFamily="34" charset="-122"/>
                <a:cs typeface="IBM Plex Mono" pitchFamily="34" charset="-120"/>
              </a:rPr>
              <a:t>MEAN</a:t>
            </a:r>
            <a:endParaRPr lang="en-US" sz="1050" dirty="0"/>
          </a:p>
        </p:txBody>
      </p:sp>
      <p:sp>
        <p:nvSpPr>
          <p:cNvPr id="37" name="Text 29"/>
          <p:cNvSpPr txBox="1"/>
          <p:nvPr/>
        </p:nvSpPr>
        <p:spPr>
          <a:xfrm>
            <a:off x="13430707" y="3161995"/>
            <a:ext cx="1143000" cy="171907"/>
          </a:xfrm>
          <a:prstGeom prst="rect">
            <a:avLst/>
          </a:prstGeom>
          <a:noFill/>
          <a:ln/>
        </p:spPr>
        <p:txBody>
          <a:bodyPr wrap="none" lIns="0" tIns="0" rIns="0" bIns="0" rtlCol="0" anchor="ctr"/>
          <a:lstStyle/>
          <a:p>
            <a:pPr algn="r" indent="0" marL="0">
              <a:buNone/>
            </a:pPr>
            <a:r>
              <a:rPr lang="en-US" sz="1050" b="1" spc="84" kern="0" dirty="0">
                <a:solidFill>
                  <a:srgbClr val="475569"/>
                </a:solidFill>
                <a:latin typeface="IBM Plex Mono" pitchFamily="34" charset="0"/>
                <a:ea typeface="IBM Plex Mono" pitchFamily="34" charset="-122"/>
                <a:cs typeface="IBM Plex Mono" pitchFamily="34" charset="-120"/>
              </a:rPr>
              <a:t>3σ</a:t>
            </a:r>
            <a:endParaRPr lang="en-US" sz="1050" dirty="0"/>
          </a:p>
        </p:txBody>
      </p:sp>
      <p:sp>
        <p:nvSpPr>
          <p:cNvPr id="38" name="Text 30"/>
          <p:cNvSpPr txBox="1"/>
          <p:nvPr/>
        </p:nvSpPr>
        <p:spPr>
          <a:xfrm>
            <a:off x="14668805" y="3161995"/>
            <a:ext cx="1524305" cy="171907"/>
          </a:xfrm>
          <a:prstGeom prst="rect">
            <a:avLst/>
          </a:prstGeom>
          <a:noFill/>
          <a:ln/>
        </p:spPr>
        <p:txBody>
          <a:bodyPr wrap="none" lIns="0" tIns="0" rIns="0" bIns="0" rtlCol="0" anchor="ctr"/>
          <a:lstStyle/>
          <a:p>
            <a:pPr algn="r" indent="0" marL="0">
              <a:buNone/>
            </a:pPr>
            <a:r>
              <a:rPr lang="en-US" sz="1050" b="1" spc="84" kern="0" dirty="0">
                <a:solidFill>
                  <a:srgbClr val="475569"/>
                </a:solidFill>
                <a:latin typeface="IBM Plex Mono" pitchFamily="34" charset="0"/>
                <a:ea typeface="IBM Plex Mono" pitchFamily="34" charset="-122"/>
                <a:cs typeface="IBM Plex Mono" pitchFamily="34" charset="-120"/>
              </a:rPr>
              <a:t>RANGE</a:t>
            </a:r>
            <a:endParaRPr lang="en-US" sz="1050" dirty="0"/>
          </a:p>
        </p:txBody>
      </p:sp>
      <p:sp>
        <p:nvSpPr>
          <p:cNvPr id="39" name="Text 31"/>
          <p:cNvSpPr txBox="1"/>
          <p:nvPr/>
        </p:nvSpPr>
        <p:spPr>
          <a:xfrm>
            <a:off x="16288207" y="3161995"/>
            <a:ext cx="1143000" cy="171907"/>
          </a:xfrm>
          <a:prstGeom prst="rect">
            <a:avLst/>
          </a:prstGeom>
          <a:noFill/>
          <a:ln/>
        </p:spPr>
        <p:txBody>
          <a:bodyPr wrap="none" lIns="0" tIns="0" rIns="0" bIns="0" rtlCol="0" anchor="ctr"/>
          <a:lstStyle/>
          <a:p>
            <a:pPr algn="r" indent="0" marL="0">
              <a:buNone/>
            </a:pPr>
            <a:r>
              <a:rPr lang="en-US" sz="1050" b="1" spc="84" kern="0" dirty="0">
                <a:solidFill>
                  <a:srgbClr val="475569"/>
                </a:solidFill>
                <a:latin typeface="IBM Plex Mono" pitchFamily="34" charset="0"/>
                <a:ea typeface="IBM Plex Mono" pitchFamily="34" charset="-122"/>
                <a:cs typeface="IBM Plex Mono" pitchFamily="34" charset="-120"/>
              </a:rPr>
              <a:t>Δ-TGT</a:t>
            </a:r>
            <a:endParaRPr lang="en-US" sz="1050" dirty="0"/>
          </a:p>
        </p:txBody>
      </p:sp>
      <p:sp>
        <p:nvSpPr>
          <p:cNvPr id="40" name="Text 32"/>
          <p:cNvSpPr txBox="1"/>
          <p:nvPr/>
        </p:nvSpPr>
        <p:spPr>
          <a:xfrm>
            <a:off x="8572500" y="3619195"/>
            <a:ext cx="571500" cy="219456"/>
          </a:xfrm>
          <a:prstGeom prst="rect">
            <a:avLst/>
          </a:prstGeom>
          <a:noFill/>
          <a:ln/>
        </p:spPr>
        <p:txBody>
          <a:bodyPr wrap="none" lIns="0" tIns="0" rIns="0" bIns="0" rtlCol="0" anchor="ctr"/>
          <a:lstStyle/>
          <a:p>
            <a:pPr algn="l" indent="0" marL="0">
              <a:buNone/>
            </a:pPr>
            <a:r>
              <a:rPr lang="en-US" sz="1350" b="1" dirty="0">
                <a:solidFill>
                  <a:srgbClr val="1E40AF"/>
                </a:solidFill>
                <a:latin typeface="IBM Plex Mono" pitchFamily="34" charset="0"/>
                <a:ea typeface="IBM Plex Mono" pitchFamily="34" charset="-122"/>
                <a:cs typeface="IBM Plex Mono" pitchFamily="34" charset="-120"/>
              </a:rPr>
              <a:t>W1</a:t>
            </a:r>
            <a:endParaRPr lang="en-US" sz="1350" dirty="0"/>
          </a:p>
        </p:txBody>
      </p:sp>
      <p:sp>
        <p:nvSpPr>
          <p:cNvPr id="41" name="Text 33"/>
          <p:cNvSpPr txBox="1"/>
          <p:nvPr/>
        </p:nvSpPr>
        <p:spPr>
          <a:xfrm>
            <a:off x="9334195" y="3619195"/>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AASI</a:t>
            </a:r>
            <a:endParaRPr lang="en-US" sz="1200" dirty="0"/>
          </a:p>
        </p:txBody>
      </p:sp>
      <p:sp>
        <p:nvSpPr>
          <p:cNvPr id="42" name="Text 34"/>
          <p:cNvSpPr txBox="1"/>
          <p:nvPr/>
        </p:nvSpPr>
        <p:spPr>
          <a:xfrm>
            <a:off x="10477195" y="3619195"/>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25.80</a:t>
            </a:r>
            <a:endParaRPr lang="en-US" sz="1200" dirty="0"/>
          </a:p>
        </p:txBody>
      </p:sp>
      <p:sp>
        <p:nvSpPr>
          <p:cNvPr id="43" name="Text 35"/>
          <p:cNvSpPr txBox="1"/>
          <p:nvPr/>
        </p:nvSpPr>
        <p:spPr>
          <a:xfrm>
            <a:off x="12001500" y="3619195"/>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25.95</a:t>
            </a:r>
            <a:endParaRPr lang="en-US" sz="1200" dirty="0"/>
          </a:p>
        </p:txBody>
      </p:sp>
      <p:sp>
        <p:nvSpPr>
          <p:cNvPr id="44" name="Text 36"/>
          <p:cNvSpPr txBox="1"/>
          <p:nvPr/>
        </p:nvSpPr>
        <p:spPr>
          <a:xfrm>
            <a:off x="13430707" y="3619195"/>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0.92</a:t>
            </a:r>
            <a:endParaRPr lang="en-US" sz="1200" dirty="0"/>
          </a:p>
        </p:txBody>
      </p:sp>
      <p:sp>
        <p:nvSpPr>
          <p:cNvPr id="45" name="Text 37"/>
          <p:cNvSpPr txBox="1"/>
          <p:nvPr/>
        </p:nvSpPr>
        <p:spPr>
          <a:xfrm>
            <a:off x="14668805" y="3619195"/>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24.6 – 27.2</a:t>
            </a:r>
            <a:endParaRPr lang="en-US" sz="1200" dirty="0"/>
          </a:p>
        </p:txBody>
      </p:sp>
      <p:sp>
        <p:nvSpPr>
          <p:cNvPr id="46" name="Text 38"/>
          <p:cNvSpPr txBox="1"/>
          <p:nvPr/>
        </p:nvSpPr>
        <p:spPr>
          <a:xfrm>
            <a:off x="16288207" y="3619195"/>
            <a:ext cx="1143000" cy="191110"/>
          </a:xfrm>
          <a:prstGeom prst="rect">
            <a:avLst/>
          </a:prstGeom>
          <a:noFill/>
          <a:ln/>
        </p:spPr>
        <p:txBody>
          <a:bodyPr wrap="none" lIns="0" tIns="0" rIns="0" bIns="0" rtlCol="0" anchor="ctr"/>
          <a:lstStyle/>
          <a:p>
            <a:pPr algn="r" indent="0" marL="0">
              <a:buNone/>
            </a:pPr>
            <a:r>
              <a:rPr lang="en-US" sz="1200" b="1" dirty="0">
                <a:solidFill>
                  <a:srgbClr val="DC2626"/>
                </a:solidFill>
                <a:latin typeface="IBM Plex Mono" pitchFamily="34" charset="0"/>
                <a:ea typeface="IBM Plex Mono" pitchFamily="34" charset="-122"/>
                <a:cs typeface="IBM Plex Mono" pitchFamily="34" charset="-120"/>
              </a:rPr>
              <a:t>+0.15</a:t>
            </a:r>
            <a:endParaRPr lang="en-US" sz="1200" dirty="0"/>
          </a:p>
        </p:txBody>
      </p:sp>
      <p:sp>
        <p:nvSpPr>
          <p:cNvPr id="47" name="Text 39"/>
          <p:cNvSpPr txBox="1"/>
          <p:nvPr/>
        </p:nvSpPr>
        <p:spPr>
          <a:xfrm>
            <a:off x="8572500" y="4058107"/>
            <a:ext cx="571500" cy="219456"/>
          </a:xfrm>
          <a:prstGeom prst="rect">
            <a:avLst/>
          </a:prstGeom>
          <a:noFill/>
          <a:ln/>
        </p:spPr>
        <p:txBody>
          <a:bodyPr wrap="none" lIns="0" tIns="0" rIns="0" bIns="0" rtlCol="0" anchor="ctr"/>
          <a:lstStyle/>
          <a:p>
            <a:pPr algn="l" indent="0" marL="0">
              <a:buNone/>
            </a:pPr>
            <a:r>
              <a:rPr lang="en-US" sz="1350" b="1" dirty="0">
                <a:solidFill>
                  <a:srgbClr val="1E40AF"/>
                </a:solidFill>
                <a:latin typeface="IBM Plex Mono" pitchFamily="34" charset="0"/>
                <a:ea typeface="IBM Plex Mono" pitchFamily="34" charset="-122"/>
                <a:cs typeface="IBM Plex Mono" pitchFamily="34" charset="-120"/>
              </a:rPr>
              <a:t>W1</a:t>
            </a:r>
            <a:endParaRPr lang="en-US" sz="1350" dirty="0"/>
          </a:p>
        </p:txBody>
      </p:sp>
      <p:sp>
        <p:nvSpPr>
          <p:cNvPr id="48" name="Text 40"/>
          <p:cNvSpPr txBox="1"/>
          <p:nvPr/>
        </p:nvSpPr>
        <p:spPr>
          <a:xfrm>
            <a:off x="9334195" y="4058107"/>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ASEI</a:t>
            </a:r>
            <a:endParaRPr lang="en-US" sz="1200" dirty="0"/>
          </a:p>
        </p:txBody>
      </p:sp>
      <p:sp>
        <p:nvSpPr>
          <p:cNvPr id="49" name="Text 41"/>
          <p:cNvSpPr txBox="1"/>
          <p:nvPr/>
        </p:nvSpPr>
        <p:spPr>
          <a:xfrm>
            <a:off x="10477195" y="4058107"/>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15.50</a:t>
            </a:r>
            <a:endParaRPr lang="en-US" sz="1200" dirty="0"/>
          </a:p>
        </p:txBody>
      </p:sp>
      <p:sp>
        <p:nvSpPr>
          <p:cNvPr id="50" name="Text 42"/>
          <p:cNvSpPr txBox="1"/>
          <p:nvPr/>
        </p:nvSpPr>
        <p:spPr>
          <a:xfrm>
            <a:off x="12001500" y="4058107"/>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15.61</a:t>
            </a:r>
            <a:endParaRPr lang="en-US" sz="1200" dirty="0"/>
          </a:p>
        </p:txBody>
      </p:sp>
      <p:sp>
        <p:nvSpPr>
          <p:cNvPr id="51" name="Text 43"/>
          <p:cNvSpPr txBox="1"/>
          <p:nvPr/>
        </p:nvSpPr>
        <p:spPr>
          <a:xfrm>
            <a:off x="13430707" y="4058107"/>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0.78</a:t>
            </a:r>
            <a:endParaRPr lang="en-US" sz="1200" dirty="0"/>
          </a:p>
        </p:txBody>
      </p:sp>
      <p:sp>
        <p:nvSpPr>
          <p:cNvPr id="52" name="Text 44"/>
          <p:cNvSpPr txBox="1"/>
          <p:nvPr/>
        </p:nvSpPr>
        <p:spPr>
          <a:xfrm>
            <a:off x="14668805" y="4058107"/>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14.4 – 16.7</a:t>
            </a:r>
            <a:endParaRPr lang="en-US" sz="1200" dirty="0"/>
          </a:p>
        </p:txBody>
      </p:sp>
      <p:sp>
        <p:nvSpPr>
          <p:cNvPr id="53" name="Text 45"/>
          <p:cNvSpPr txBox="1"/>
          <p:nvPr/>
        </p:nvSpPr>
        <p:spPr>
          <a:xfrm>
            <a:off x="16288207" y="4058107"/>
            <a:ext cx="1143000" cy="191110"/>
          </a:xfrm>
          <a:prstGeom prst="rect">
            <a:avLst/>
          </a:prstGeom>
          <a:noFill/>
          <a:ln/>
        </p:spPr>
        <p:txBody>
          <a:bodyPr wrap="none" lIns="0" tIns="0" rIns="0" bIns="0" rtlCol="0" anchor="ctr"/>
          <a:lstStyle/>
          <a:p>
            <a:pPr algn="r" indent="0" marL="0">
              <a:buNone/>
            </a:pPr>
            <a:r>
              <a:rPr lang="en-US" sz="1200" b="1" dirty="0">
                <a:solidFill>
                  <a:srgbClr val="DC2626"/>
                </a:solidFill>
                <a:latin typeface="IBM Plex Mono" pitchFamily="34" charset="0"/>
                <a:ea typeface="IBM Plex Mono" pitchFamily="34" charset="-122"/>
                <a:cs typeface="IBM Plex Mono" pitchFamily="34" charset="-120"/>
              </a:rPr>
              <a:t>+0.11</a:t>
            </a:r>
            <a:endParaRPr lang="en-US" sz="1200" dirty="0"/>
          </a:p>
        </p:txBody>
      </p:sp>
      <p:sp>
        <p:nvSpPr>
          <p:cNvPr id="54" name="Text 46"/>
          <p:cNvSpPr txBox="1"/>
          <p:nvPr/>
        </p:nvSpPr>
        <p:spPr>
          <a:xfrm>
            <a:off x="8572500" y="4496105"/>
            <a:ext cx="571500" cy="219456"/>
          </a:xfrm>
          <a:prstGeom prst="rect">
            <a:avLst/>
          </a:prstGeom>
          <a:noFill/>
          <a:ln/>
        </p:spPr>
        <p:txBody>
          <a:bodyPr wrap="none" lIns="0" tIns="0" rIns="0" bIns="0" rtlCol="0" anchor="ctr"/>
          <a:lstStyle/>
          <a:p>
            <a:pPr algn="l" indent="0" marL="0">
              <a:buNone/>
            </a:pPr>
            <a:r>
              <a:rPr lang="en-US" sz="1350" b="1" dirty="0">
                <a:solidFill>
                  <a:srgbClr val="1E40AF"/>
                </a:solidFill>
                <a:latin typeface="IBM Plex Mono" pitchFamily="34" charset="0"/>
                <a:ea typeface="IBM Plex Mono" pitchFamily="34" charset="-122"/>
                <a:cs typeface="IBM Plex Mono" pitchFamily="34" charset="-120"/>
              </a:rPr>
              <a:t>W1</a:t>
            </a:r>
            <a:endParaRPr lang="en-US" sz="1350" dirty="0"/>
          </a:p>
        </p:txBody>
      </p:sp>
      <p:sp>
        <p:nvSpPr>
          <p:cNvPr id="55" name="Text 47"/>
          <p:cNvSpPr txBox="1"/>
          <p:nvPr/>
        </p:nvSpPr>
        <p:spPr>
          <a:xfrm>
            <a:off x="9334195" y="4496105"/>
            <a:ext cx="1143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AMI</a:t>
            </a:r>
            <a:endParaRPr lang="en-US" sz="1200" dirty="0"/>
          </a:p>
        </p:txBody>
      </p:sp>
      <p:sp>
        <p:nvSpPr>
          <p:cNvPr id="56" name="Text 48"/>
          <p:cNvSpPr txBox="1"/>
          <p:nvPr/>
        </p:nvSpPr>
        <p:spPr>
          <a:xfrm>
            <a:off x="10477195" y="4496105"/>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8.90</a:t>
            </a:r>
            <a:endParaRPr lang="en-US" sz="1200" dirty="0"/>
          </a:p>
        </p:txBody>
      </p:sp>
      <p:sp>
        <p:nvSpPr>
          <p:cNvPr id="57" name="Text 49"/>
          <p:cNvSpPr txBox="1"/>
          <p:nvPr/>
        </p:nvSpPr>
        <p:spPr>
          <a:xfrm>
            <a:off x="12001500" y="4496105"/>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9.04</a:t>
            </a:r>
            <a:endParaRPr lang="en-US" sz="1200" dirty="0"/>
          </a:p>
        </p:txBody>
      </p:sp>
      <p:sp>
        <p:nvSpPr>
          <p:cNvPr id="58" name="Text 50"/>
          <p:cNvSpPr txBox="1"/>
          <p:nvPr/>
        </p:nvSpPr>
        <p:spPr>
          <a:xfrm>
            <a:off x="13430707" y="4496105"/>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0.82</a:t>
            </a:r>
            <a:endParaRPr lang="en-US" sz="1200" dirty="0"/>
          </a:p>
        </p:txBody>
      </p:sp>
      <p:sp>
        <p:nvSpPr>
          <p:cNvPr id="59" name="Text 51"/>
          <p:cNvSpPr txBox="1"/>
          <p:nvPr/>
        </p:nvSpPr>
        <p:spPr>
          <a:xfrm>
            <a:off x="14668805" y="4496105"/>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7.9 – 10.1</a:t>
            </a:r>
            <a:endParaRPr lang="en-US" sz="1200" dirty="0"/>
          </a:p>
        </p:txBody>
      </p:sp>
      <p:sp>
        <p:nvSpPr>
          <p:cNvPr id="60" name="Text 52"/>
          <p:cNvSpPr txBox="1"/>
          <p:nvPr/>
        </p:nvSpPr>
        <p:spPr>
          <a:xfrm>
            <a:off x="16288207" y="4496105"/>
            <a:ext cx="1143000" cy="191110"/>
          </a:xfrm>
          <a:prstGeom prst="rect">
            <a:avLst/>
          </a:prstGeom>
          <a:noFill/>
          <a:ln/>
        </p:spPr>
        <p:txBody>
          <a:bodyPr wrap="none" lIns="0" tIns="0" rIns="0" bIns="0" rtlCol="0" anchor="ctr"/>
          <a:lstStyle/>
          <a:p>
            <a:pPr algn="r" indent="0" marL="0">
              <a:buNone/>
            </a:pPr>
            <a:r>
              <a:rPr lang="en-US" sz="1200" b="1" dirty="0">
                <a:solidFill>
                  <a:srgbClr val="DC2626"/>
                </a:solidFill>
                <a:latin typeface="IBM Plex Mono" pitchFamily="34" charset="0"/>
                <a:ea typeface="IBM Plex Mono" pitchFamily="34" charset="-122"/>
                <a:cs typeface="IBM Plex Mono" pitchFamily="34" charset="-120"/>
              </a:rPr>
              <a:t>+0.14</a:t>
            </a:r>
            <a:endParaRPr lang="en-US" sz="1200" dirty="0"/>
          </a:p>
        </p:txBody>
      </p:sp>
      <p:sp>
        <p:nvSpPr>
          <p:cNvPr id="61" name="Text 53"/>
          <p:cNvSpPr txBox="1"/>
          <p:nvPr/>
        </p:nvSpPr>
        <p:spPr>
          <a:xfrm>
            <a:off x="8572500" y="4934102"/>
            <a:ext cx="571500" cy="219456"/>
          </a:xfrm>
          <a:prstGeom prst="rect">
            <a:avLst/>
          </a:prstGeom>
          <a:noFill/>
          <a:ln/>
        </p:spPr>
        <p:txBody>
          <a:bodyPr wrap="none" lIns="0" tIns="0" rIns="0" bIns="0" rtlCol="0" anchor="ctr"/>
          <a:lstStyle/>
          <a:p>
            <a:pPr algn="l" indent="0" marL="0">
              <a:buNone/>
            </a:pPr>
            <a:r>
              <a:rPr lang="en-US" sz="1350" b="1" dirty="0">
                <a:solidFill>
                  <a:srgbClr val="1E40AF"/>
                </a:solidFill>
                <a:latin typeface="IBM Plex Mono" pitchFamily="34" charset="0"/>
                <a:ea typeface="IBM Plex Mono" pitchFamily="34" charset="-122"/>
                <a:cs typeface="IBM Plex Mono" pitchFamily="34" charset="-120"/>
              </a:rPr>
              <a:t>W1</a:t>
            </a:r>
            <a:endParaRPr lang="en-US" sz="1350" dirty="0"/>
          </a:p>
        </p:txBody>
      </p:sp>
      <p:sp>
        <p:nvSpPr>
          <p:cNvPr id="62" name="Text 54"/>
          <p:cNvSpPr txBox="1"/>
          <p:nvPr/>
        </p:nvSpPr>
        <p:spPr>
          <a:xfrm>
            <a:off x="9334195" y="4934102"/>
            <a:ext cx="1143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ACI</a:t>
            </a:r>
            <a:endParaRPr lang="en-US" sz="1200" dirty="0"/>
          </a:p>
        </p:txBody>
      </p:sp>
      <p:sp>
        <p:nvSpPr>
          <p:cNvPr id="63" name="Text 55"/>
          <p:cNvSpPr txBox="1"/>
          <p:nvPr/>
        </p:nvSpPr>
        <p:spPr>
          <a:xfrm>
            <a:off x="10477195" y="4934102"/>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9.10</a:t>
            </a:r>
            <a:endParaRPr lang="en-US" sz="1200" dirty="0"/>
          </a:p>
        </p:txBody>
      </p:sp>
      <p:sp>
        <p:nvSpPr>
          <p:cNvPr id="64" name="Text 56"/>
          <p:cNvSpPr txBox="1"/>
          <p:nvPr/>
        </p:nvSpPr>
        <p:spPr>
          <a:xfrm>
            <a:off x="12001500" y="4934102"/>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9.18</a:t>
            </a:r>
            <a:endParaRPr lang="en-US" sz="1200" dirty="0"/>
          </a:p>
        </p:txBody>
      </p:sp>
      <p:sp>
        <p:nvSpPr>
          <p:cNvPr id="65" name="Text 57"/>
          <p:cNvSpPr txBox="1"/>
          <p:nvPr/>
        </p:nvSpPr>
        <p:spPr>
          <a:xfrm>
            <a:off x="13430707" y="4934102"/>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0.89</a:t>
            </a:r>
            <a:endParaRPr lang="en-US" sz="1200" dirty="0"/>
          </a:p>
        </p:txBody>
      </p:sp>
      <p:sp>
        <p:nvSpPr>
          <p:cNvPr id="66" name="Text 58"/>
          <p:cNvSpPr txBox="1"/>
          <p:nvPr/>
        </p:nvSpPr>
        <p:spPr>
          <a:xfrm>
            <a:off x="14668805" y="4934102"/>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8.0 – 10.4</a:t>
            </a:r>
            <a:endParaRPr lang="en-US" sz="1200" dirty="0"/>
          </a:p>
        </p:txBody>
      </p:sp>
      <p:sp>
        <p:nvSpPr>
          <p:cNvPr id="67" name="Text 59"/>
          <p:cNvSpPr txBox="1"/>
          <p:nvPr/>
        </p:nvSpPr>
        <p:spPr>
          <a:xfrm>
            <a:off x="16288207" y="4934102"/>
            <a:ext cx="1143000" cy="191110"/>
          </a:xfrm>
          <a:prstGeom prst="rect">
            <a:avLst/>
          </a:prstGeom>
          <a:noFill/>
          <a:ln/>
        </p:spPr>
        <p:txBody>
          <a:bodyPr wrap="none" lIns="0" tIns="0" rIns="0" bIns="0" rtlCol="0" anchor="ctr"/>
          <a:lstStyle/>
          <a:p>
            <a:pPr algn="r" indent="0" marL="0">
              <a:buNone/>
            </a:pPr>
            <a:r>
              <a:rPr lang="en-US" sz="1200" b="1" dirty="0">
                <a:solidFill>
                  <a:srgbClr val="DC2626"/>
                </a:solidFill>
                <a:latin typeface="IBM Plex Mono" pitchFamily="34" charset="0"/>
                <a:ea typeface="IBM Plex Mono" pitchFamily="34" charset="-122"/>
                <a:cs typeface="IBM Plex Mono" pitchFamily="34" charset="-120"/>
              </a:rPr>
              <a:t>+0.08</a:t>
            </a:r>
            <a:endParaRPr lang="en-US" sz="1200" dirty="0"/>
          </a:p>
        </p:txBody>
      </p:sp>
      <p:sp>
        <p:nvSpPr>
          <p:cNvPr id="68" name="Text 60"/>
          <p:cNvSpPr txBox="1"/>
          <p:nvPr/>
        </p:nvSpPr>
        <p:spPr>
          <a:xfrm>
            <a:off x="8572500" y="5486400"/>
            <a:ext cx="571500" cy="219456"/>
          </a:xfrm>
          <a:prstGeom prst="rect">
            <a:avLst/>
          </a:prstGeom>
          <a:noFill/>
          <a:ln/>
        </p:spPr>
        <p:txBody>
          <a:bodyPr wrap="none" lIns="0" tIns="0" rIns="0" bIns="0" rtlCol="0" anchor="ctr"/>
          <a:lstStyle/>
          <a:p>
            <a:pPr algn="l" indent="0" marL="0">
              <a:buNone/>
            </a:pPr>
            <a:r>
              <a:rPr lang="en-US" sz="1350" b="1" dirty="0">
                <a:solidFill>
                  <a:srgbClr val="0E7490"/>
                </a:solidFill>
                <a:latin typeface="IBM Plex Mono" pitchFamily="34" charset="0"/>
                <a:ea typeface="IBM Plex Mono" pitchFamily="34" charset="-122"/>
                <a:cs typeface="IBM Plex Mono" pitchFamily="34" charset="-120"/>
              </a:rPr>
              <a:t>W2</a:t>
            </a:r>
            <a:endParaRPr lang="en-US" sz="1350" dirty="0"/>
          </a:p>
        </p:txBody>
      </p:sp>
      <p:sp>
        <p:nvSpPr>
          <p:cNvPr id="69" name="Text 61"/>
          <p:cNvSpPr txBox="1"/>
          <p:nvPr/>
        </p:nvSpPr>
        <p:spPr>
          <a:xfrm>
            <a:off x="9334195" y="5486400"/>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AASI</a:t>
            </a:r>
            <a:endParaRPr lang="en-US" sz="1200" dirty="0"/>
          </a:p>
        </p:txBody>
      </p:sp>
      <p:sp>
        <p:nvSpPr>
          <p:cNvPr id="70" name="Text 62"/>
          <p:cNvSpPr txBox="1"/>
          <p:nvPr/>
        </p:nvSpPr>
        <p:spPr>
          <a:xfrm>
            <a:off x="10477195" y="5486400"/>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25.80</a:t>
            </a:r>
            <a:endParaRPr lang="en-US" sz="1200" dirty="0"/>
          </a:p>
        </p:txBody>
      </p:sp>
      <p:sp>
        <p:nvSpPr>
          <p:cNvPr id="71" name="Text 63"/>
          <p:cNvSpPr txBox="1"/>
          <p:nvPr/>
        </p:nvSpPr>
        <p:spPr>
          <a:xfrm>
            <a:off x="12001500" y="5486400"/>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25.78</a:t>
            </a:r>
            <a:endParaRPr lang="en-US" sz="1200" dirty="0"/>
          </a:p>
        </p:txBody>
      </p:sp>
      <p:sp>
        <p:nvSpPr>
          <p:cNvPr id="72" name="Text 64"/>
          <p:cNvSpPr txBox="1"/>
          <p:nvPr/>
        </p:nvSpPr>
        <p:spPr>
          <a:xfrm>
            <a:off x="13430707" y="5486400"/>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0.61</a:t>
            </a:r>
            <a:endParaRPr lang="en-US" sz="1200" dirty="0"/>
          </a:p>
        </p:txBody>
      </p:sp>
      <p:sp>
        <p:nvSpPr>
          <p:cNvPr id="73" name="Text 65"/>
          <p:cNvSpPr txBox="1"/>
          <p:nvPr/>
        </p:nvSpPr>
        <p:spPr>
          <a:xfrm>
            <a:off x="14668805" y="5486400"/>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24.8 – 26.6</a:t>
            </a:r>
            <a:endParaRPr lang="en-US" sz="1200" dirty="0"/>
          </a:p>
        </p:txBody>
      </p:sp>
      <p:sp>
        <p:nvSpPr>
          <p:cNvPr id="74" name="Text 66"/>
          <p:cNvSpPr txBox="1"/>
          <p:nvPr/>
        </p:nvSpPr>
        <p:spPr>
          <a:xfrm>
            <a:off x="16288207" y="5486400"/>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−0.02</a:t>
            </a:r>
            <a:endParaRPr lang="en-US" sz="1200" dirty="0"/>
          </a:p>
        </p:txBody>
      </p:sp>
      <p:sp>
        <p:nvSpPr>
          <p:cNvPr id="75" name="Text 67"/>
          <p:cNvSpPr txBox="1"/>
          <p:nvPr/>
        </p:nvSpPr>
        <p:spPr>
          <a:xfrm>
            <a:off x="8572500" y="5924398"/>
            <a:ext cx="571500" cy="219456"/>
          </a:xfrm>
          <a:prstGeom prst="rect">
            <a:avLst/>
          </a:prstGeom>
          <a:noFill/>
          <a:ln/>
        </p:spPr>
        <p:txBody>
          <a:bodyPr wrap="none" lIns="0" tIns="0" rIns="0" bIns="0" rtlCol="0" anchor="ctr"/>
          <a:lstStyle/>
          <a:p>
            <a:pPr algn="l" indent="0" marL="0">
              <a:buNone/>
            </a:pPr>
            <a:r>
              <a:rPr lang="en-US" sz="1350" b="1" dirty="0">
                <a:solidFill>
                  <a:srgbClr val="0E7490"/>
                </a:solidFill>
                <a:latin typeface="IBM Plex Mono" pitchFamily="34" charset="0"/>
                <a:ea typeface="IBM Plex Mono" pitchFamily="34" charset="-122"/>
                <a:cs typeface="IBM Plex Mono" pitchFamily="34" charset="-120"/>
              </a:rPr>
              <a:t>W2</a:t>
            </a:r>
            <a:endParaRPr lang="en-US" sz="1350" dirty="0"/>
          </a:p>
        </p:txBody>
      </p:sp>
      <p:sp>
        <p:nvSpPr>
          <p:cNvPr id="76" name="Text 68"/>
          <p:cNvSpPr txBox="1"/>
          <p:nvPr/>
        </p:nvSpPr>
        <p:spPr>
          <a:xfrm>
            <a:off x="9334195" y="5924398"/>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ASEI</a:t>
            </a:r>
            <a:endParaRPr lang="en-US" sz="1200" dirty="0"/>
          </a:p>
        </p:txBody>
      </p:sp>
      <p:sp>
        <p:nvSpPr>
          <p:cNvPr id="77" name="Text 69"/>
          <p:cNvSpPr txBox="1"/>
          <p:nvPr/>
        </p:nvSpPr>
        <p:spPr>
          <a:xfrm>
            <a:off x="10477195" y="5924398"/>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15.50</a:t>
            </a:r>
            <a:endParaRPr lang="en-US" sz="1200" dirty="0"/>
          </a:p>
        </p:txBody>
      </p:sp>
      <p:sp>
        <p:nvSpPr>
          <p:cNvPr id="78" name="Text 70"/>
          <p:cNvSpPr txBox="1"/>
          <p:nvPr/>
        </p:nvSpPr>
        <p:spPr>
          <a:xfrm>
            <a:off x="12001500" y="5924398"/>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15.46</a:t>
            </a:r>
            <a:endParaRPr lang="en-US" sz="1200" dirty="0"/>
          </a:p>
        </p:txBody>
      </p:sp>
      <p:sp>
        <p:nvSpPr>
          <p:cNvPr id="79" name="Text 71"/>
          <p:cNvSpPr txBox="1"/>
          <p:nvPr/>
        </p:nvSpPr>
        <p:spPr>
          <a:xfrm>
            <a:off x="13430707" y="5924398"/>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0.55</a:t>
            </a:r>
            <a:endParaRPr lang="en-US" sz="1200" dirty="0"/>
          </a:p>
        </p:txBody>
      </p:sp>
      <p:sp>
        <p:nvSpPr>
          <p:cNvPr id="80" name="Text 72"/>
          <p:cNvSpPr txBox="1"/>
          <p:nvPr/>
        </p:nvSpPr>
        <p:spPr>
          <a:xfrm>
            <a:off x="14668805" y="5924398"/>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14.7 – 16.3</a:t>
            </a:r>
            <a:endParaRPr lang="en-US" sz="1200" dirty="0"/>
          </a:p>
        </p:txBody>
      </p:sp>
      <p:sp>
        <p:nvSpPr>
          <p:cNvPr id="81" name="Text 73"/>
          <p:cNvSpPr txBox="1"/>
          <p:nvPr/>
        </p:nvSpPr>
        <p:spPr>
          <a:xfrm>
            <a:off x="16288207" y="5924398"/>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−0.04</a:t>
            </a:r>
            <a:endParaRPr lang="en-US" sz="1200" dirty="0"/>
          </a:p>
        </p:txBody>
      </p:sp>
      <p:sp>
        <p:nvSpPr>
          <p:cNvPr id="82" name="Text 74"/>
          <p:cNvSpPr txBox="1"/>
          <p:nvPr/>
        </p:nvSpPr>
        <p:spPr>
          <a:xfrm>
            <a:off x="8572500" y="6362395"/>
            <a:ext cx="571500" cy="219456"/>
          </a:xfrm>
          <a:prstGeom prst="rect">
            <a:avLst/>
          </a:prstGeom>
          <a:noFill/>
          <a:ln/>
        </p:spPr>
        <p:txBody>
          <a:bodyPr wrap="none" lIns="0" tIns="0" rIns="0" bIns="0" rtlCol="0" anchor="ctr"/>
          <a:lstStyle/>
          <a:p>
            <a:pPr algn="l" indent="0" marL="0">
              <a:buNone/>
            </a:pPr>
            <a:r>
              <a:rPr lang="en-US" sz="1350" b="1" dirty="0">
                <a:solidFill>
                  <a:srgbClr val="0E7490"/>
                </a:solidFill>
                <a:latin typeface="IBM Plex Mono" pitchFamily="34" charset="0"/>
                <a:ea typeface="IBM Plex Mono" pitchFamily="34" charset="-122"/>
                <a:cs typeface="IBM Plex Mono" pitchFamily="34" charset="-120"/>
              </a:rPr>
              <a:t>W2</a:t>
            </a:r>
            <a:endParaRPr lang="en-US" sz="1350" dirty="0"/>
          </a:p>
        </p:txBody>
      </p:sp>
      <p:sp>
        <p:nvSpPr>
          <p:cNvPr id="83" name="Text 75"/>
          <p:cNvSpPr txBox="1"/>
          <p:nvPr/>
        </p:nvSpPr>
        <p:spPr>
          <a:xfrm>
            <a:off x="9334195" y="6362395"/>
            <a:ext cx="1143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AMI</a:t>
            </a:r>
            <a:endParaRPr lang="en-US" sz="1200" dirty="0"/>
          </a:p>
        </p:txBody>
      </p:sp>
      <p:sp>
        <p:nvSpPr>
          <p:cNvPr id="84" name="Text 76"/>
          <p:cNvSpPr txBox="1"/>
          <p:nvPr/>
        </p:nvSpPr>
        <p:spPr>
          <a:xfrm>
            <a:off x="10477195" y="6362395"/>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8.90</a:t>
            </a:r>
            <a:endParaRPr lang="en-US" sz="1200" dirty="0"/>
          </a:p>
        </p:txBody>
      </p:sp>
      <p:sp>
        <p:nvSpPr>
          <p:cNvPr id="85" name="Text 77"/>
          <p:cNvSpPr txBox="1"/>
          <p:nvPr/>
        </p:nvSpPr>
        <p:spPr>
          <a:xfrm>
            <a:off x="12001500" y="6362395"/>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8.92</a:t>
            </a:r>
            <a:endParaRPr lang="en-US" sz="1200" dirty="0"/>
          </a:p>
        </p:txBody>
      </p:sp>
      <p:sp>
        <p:nvSpPr>
          <p:cNvPr id="86" name="Text 78"/>
          <p:cNvSpPr txBox="1"/>
          <p:nvPr/>
        </p:nvSpPr>
        <p:spPr>
          <a:xfrm>
            <a:off x="13430707" y="6362395"/>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0.41</a:t>
            </a:r>
            <a:endParaRPr lang="en-US" sz="1200" dirty="0"/>
          </a:p>
        </p:txBody>
      </p:sp>
      <p:sp>
        <p:nvSpPr>
          <p:cNvPr id="87" name="Text 79"/>
          <p:cNvSpPr txBox="1"/>
          <p:nvPr/>
        </p:nvSpPr>
        <p:spPr>
          <a:xfrm>
            <a:off x="14668805" y="6362395"/>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8.3 – 9.5</a:t>
            </a:r>
            <a:endParaRPr lang="en-US" sz="1200" dirty="0"/>
          </a:p>
        </p:txBody>
      </p:sp>
      <p:sp>
        <p:nvSpPr>
          <p:cNvPr id="88" name="Text 80"/>
          <p:cNvSpPr txBox="1"/>
          <p:nvPr/>
        </p:nvSpPr>
        <p:spPr>
          <a:xfrm>
            <a:off x="16288207" y="6362395"/>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+0.02</a:t>
            </a:r>
            <a:endParaRPr lang="en-US" sz="1200" dirty="0"/>
          </a:p>
        </p:txBody>
      </p:sp>
      <p:sp>
        <p:nvSpPr>
          <p:cNvPr id="89" name="Text 81"/>
          <p:cNvSpPr txBox="1"/>
          <p:nvPr/>
        </p:nvSpPr>
        <p:spPr>
          <a:xfrm>
            <a:off x="8572500" y="6801307"/>
            <a:ext cx="571500" cy="219456"/>
          </a:xfrm>
          <a:prstGeom prst="rect">
            <a:avLst/>
          </a:prstGeom>
          <a:noFill/>
          <a:ln/>
        </p:spPr>
        <p:txBody>
          <a:bodyPr wrap="none" lIns="0" tIns="0" rIns="0" bIns="0" rtlCol="0" anchor="ctr"/>
          <a:lstStyle/>
          <a:p>
            <a:pPr algn="l" indent="0" marL="0">
              <a:buNone/>
            </a:pPr>
            <a:r>
              <a:rPr lang="en-US" sz="1350" b="1" dirty="0">
                <a:solidFill>
                  <a:srgbClr val="0E7490"/>
                </a:solidFill>
                <a:latin typeface="IBM Plex Mono" pitchFamily="34" charset="0"/>
                <a:ea typeface="IBM Plex Mono" pitchFamily="34" charset="-122"/>
                <a:cs typeface="IBM Plex Mono" pitchFamily="34" charset="-120"/>
              </a:rPr>
              <a:t>W2</a:t>
            </a:r>
            <a:endParaRPr lang="en-US" sz="1350" dirty="0"/>
          </a:p>
        </p:txBody>
      </p:sp>
      <p:sp>
        <p:nvSpPr>
          <p:cNvPr id="90" name="Text 82"/>
          <p:cNvSpPr txBox="1"/>
          <p:nvPr/>
        </p:nvSpPr>
        <p:spPr>
          <a:xfrm>
            <a:off x="9334195" y="6801307"/>
            <a:ext cx="1143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ACI</a:t>
            </a:r>
            <a:endParaRPr lang="en-US" sz="1200" dirty="0"/>
          </a:p>
        </p:txBody>
      </p:sp>
      <p:sp>
        <p:nvSpPr>
          <p:cNvPr id="91" name="Text 83"/>
          <p:cNvSpPr txBox="1"/>
          <p:nvPr/>
        </p:nvSpPr>
        <p:spPr>
          <a:xfrm>
            <a:off x="10477195" y="6801307"/>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9.10</a:t>
            </a:r>
            <a:endParaRPr lang="en-US" sz="1200" dirty="0"/>
          </a:p>
        </p:txBody>
      </p:sp>
      <p:sp>
        <p:nvSpPr>
          <p:cNvPr id="92" name="Text 84"/>
          <p:cNvSpPr txBox="1"/>
          <p:nvPr/>
        </p:nvSpPr>
        <p:spPr>
          <a:xfrm>
            <a:off x="12001500" y="6801307"/>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9.06</a:t>
            </a:r>
            <a:endParaRPr lang="en-US" sz="1200" dirty="0"/>
          </a:p>
        </p:txBody>
      </p:sp>
      <p:sp>
        <p:nvSpPr>
          <p:cNvPr id="93" name="Text 85"/>
          <p:cNvSpPr txBox="1"/>
          <p:nvPr/>
        </p:nvSpPr>
        <p:spPr>
          <a:xfrm>
            <a:off x="13430707" y="6801307"/>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0.45</a:t>
            </a:r>
            <a:endParaRPr lang="en-US" sz="1200" dirty="0"/>
          </a:p>
        </p:txBody>
      </p:sp>
      <p:sp>
        <p:nvSpPr>
          <p:cNvPr id="94" name="Text 86"/>
          <p:cNvSpPr txBox="1"/>
          <p:nvPr/>
        </p:nvSpPr>
        <p:spPr>
          <a:xfrm>
            <a:off x="14668805" y="6801307"/>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8.4 – 9.7</a:t>
            </a:r>
            <a:endParaRPr lang="en-US" sz="1200" dirty="0"/>
          </a:p>
        </p:txBody>
      </p:sp>
      <p:sp>
        <p:nvSpPr>
          <p:cNvPr id="95" name="Text 87"/>
          <p:cNvSpPr txBox="1"/>
          <p:nvPr/>
        </p:nvSpPr>
        <p:spPr>
          <a:xfrm>
            <a:off x="16288207" y="6801307"/>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−0.04</a:t>
            </a:r>
            <a:endParaRPr lang="en-US" sz="1200" dirty="0"/>
          </a:p>
        </p:txBody>
      </p:sp>
      <p:sp>
        <p:nvSpPr>
          <p:cNvPr id="96" name="Text 88"/>
          <p:cNvSpPr txBox="1"/>
          <p:nvPr/>
        </p:nvSpPr>
        <p:spPr>
          <a:xfrm>
            <a:off x="8572500" y="7353605"/>
            <a:ext cx="571500" cy="219456"/>
          </a:xfrm>
          <a:prstGeom prst="rect">
            <a:avLst/>
          </a:prstGeom>
          <a:noFill/>
          <a:ln/>
        </p:spPr>
        <p:txBody>
          <a:bodyPr wrap="none" lIns="0" tIns="0" rIns="0" bIns="0" rtlCol="0" anchor="ctr"/>
          <a:lstStyle/>
          <a:p>
            <a:pPr algn="l" indent="0" marL="0">
              <a:buNone/>
            </a:pPr>
            <a:r>
              <a:rPr lang="en-US" sz="1350" b="1" dirty="0">
                <a:solidFill>
                  <a:srgbClr val="475569"/>
                </a:solidFill>
                <a:latin typeface="IBM Plex Mono" pitchFamily="34" charset="0"/>
                <a:ea typeface="IBM Plex Mono" pitchFamily="34" charset="-122"/>
                <a:cs typeface="IBM Plex Mono" pitchFamily="34" charset="-120"/>
              </a:rPr>
              <a:t>W3</a:t>
            </a:r>
            <a:endParaRPr lang="en-US" sz="1350" dirty="0"/>
          </a:p>
        </p:txBody>
      </p:sp>
      <p:sp>
        <p:nvSpPr>
          <p:cNvPr id="97" name="Text 89"/>
          <p:cNvSpPr txBox="1"/>
          <p:nvPr/>
        </p:nvSpPr>
        <p:spPr>
          <a:xfrm>
            <a:off x="9334195" y="7353605"/>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AASI</a:t>
            </a:r>
            <a:endParaRPr lang="en-US" sz="1200" dirty="0"/>
          </a:p>
        </p:txBody>
      </p:sp>
      <p:sp>
        <p:nvSpPr>
          <p:cNvPr id="98" name="Text 90"/>
          <p:cNvSpPr txBox="1"/>
          <p:nvPr/>
        </p:nvSpPr>
        <p:spPr>
          <a:xfrm>
            <a:off x="10477195" y="7353605"/>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25.80</a:t>
            </a:r>
            <a:endParaRPr lang="en-US" sz="1200" dirty="0"/>
          </a:p>
        </p:txBody>
      </p:sp>
      <p:sp>
        <p:nvSpPr>
          <p:cNvPr id="99" name="Text 91"/>
          <p:cNvSpPr txBox="1"/>
          <p:nvPr/>
        </p:nvSpPr>
        <p:spPr>
          <a:xfrm>
            <a:off x="12001500" y="7353605"/>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25.61</a:t>
            </a:r>
            <a:endParaRPr lang="en-US" sz="1200" dirty="0"/>
          </a:p>
        </p:txBody>
      </p:sp>
      <p:sp>
        <p:nvSpPr>
          <p:cNvPr id="100" name="Text 92"/>
          <p:cNvSpPr txBox="1"/>
          <p:nvPr/>
        </p:nvSpPr>
        <p:spPr>
          <a:xfrm>
            <a:off x="13430707" y="7353605"/>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0.74</a:t>
            </a:r>
            <a:endParaRPr lang="en-US" sz="1200" dirty="0"/>
          </a:p>
        </p:txBody>
      </p:sp>
      <p:sp>
        <p:nvSpPr>
          <p:cNvPr id="101" name="Text 93"/>
          <p:cNvSpPr txBox="1"/>
          <p:nvPr/>
        </p:nvSpPr>
        <p:spPr>
          <a:xfrm>
            <a:off x="14668805" y="7353605"/>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24.5 – 26.7</a:t>
            </a:r>
            <a:endParaRPr lang="en-US" sz="1200" dirty="0"/>
          </a:p>
        </p:txBody>
      </p:sp>
      <p:sp>
        <p:nvSpPr>
          <p:cNvPr id="102" name="Text 94"/>
          <p:cNvSpPr txBox="1"/>
          <p:nvPr/>
        </p:nvSpPr>
        <p:spPr>
          <a:xfrm>
            <a:off x="16288207" y="7353605"/>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−0.19</a:t>
            </a:r>
            <a:endParaRPr lang="en-US" sz="1200" dirty="0"/>
          </a:p>
        </p:txBody>
      </p:sp>
      <p:sp>
        <p:nvSpPr>
          <p:cNvPr id="103" name="Text 95"/>
          <p:cNvSpPr txBox="1"/>
          <p:nvPr/>
        </p:nvSpPr>
        <p:spPr>
          <a:xfrm>
            <a:off x="8572500" y="7791602"/>
            <a:ext cx="571500" cy="219456"/>
          </a:xfrm>
          <a:prstGeom prst="rect">
            <a:avLst/>
          </a:prstGeom>
          <a:noFill/>
          <a:ln/>
        </p:spPr>
        <p:txBody>
          <a:bodyPr wrap="none" lIns="0" tIns="0" rIns="0" bIns="0" rtlCol="0" anchor="ctr"/>
          <a:lstStyle/>
          <a:p>
            <a:pPr algn="l" indent="0" marL="0">
              <a:buNone/>
            </a:pPr>
            <a:r>
              <a:rPr lang="en-US" sz="1350" b="1" dirty="0">
                <a:solidFill>
                  <a:srgbClr val="475569"/>
                </a:solidFill>
                <a:latin typeface="IBM Plex Mono" pitchFamily="34" charset="0"/>
                <a:ea typeface="IBM Plex Mono" pitchFamily="34" charset="-122"/>
                <a:cs typeface="IBM Plex Mono" pitchFamily="34" charset="-120"/>
              </a:rPr>
              <a:t>W3</a:t>
            </a:r>
            <a:endParaRPr lang="en-US" sz="1350" dirty="0"/>
          </a:p>
        </p:txBody>
      </p:sp>
      <p:sp>
        <p:nvSpPr>
          <p:cNvPr id="104" name="Text 96"/>
          <p:cNvSpPr txBox="1"/>
          <p:nvPr/>
        </p:nvSpPr>
        <p:spPr>
          <a:xfrm>
            <a:off x="9334195" y="7791602"/>
            <a:ext cx="952805"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ASEI</a:t>
            </a:r>
            <a:endParaRPr lang="en-US" sz="1200" dirty="0"/>
          </a:p>
        </p:txBody>
      </p:sp>
      <p:sp>
        <p:nvSpPr>
          <p:cNvPr id="105" name="Text 97"/>
          <p:cNvSpPr txBox="1"/>
          <p:nvPr/>
        </p:nvSpPr>
        <p:spPr>
          <a:xfrm>
            <a:off x="10477195" y="7791602"/>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15.50</a:t>
            </a:r>
            <a:endParaRPr lang="en-US" sz="1200" dirty="0"/>
          </a:p>
        </p:txBody>
      </p:sp>
      <p:sp>
        <p:nvSpPr>
          <p:cNvPr id="106" name="Text 98"/>
          <p:cNvSpPr txBox="1"/>
          <p:nvPr/>
        </p:nvSpPr>
        <p:spPr>
          <a:xfrm>
            <a:off x="12001500" y="7791602"/>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15.38</a:t>
            </a:r>
            <a:endParaRPr lang="en-US" sz="1200" dirty="0"/>
          </a:p>
        </p:txBody>
      </p:sp>
      <p:sp>
        <p:nvSpPr>
          <p:cNvPr id="107" name="Text 99"/>
          <p:cNvSpPr txBox="1"/>
          <p:nvPr/>
        </p:nvSpPr>
        <p:spPr>
          <a:xfrm>
            <a:off x="13430707" y="7791602"/>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0.66</a:t>
            </a:r>
            <a:endParaRPr lang="en-US" sz="1200" dirty="0"/>
          </a:p>
        </p:txBody>
      </p:sp>
      <p:sp>
        <p:nvSpPr>
          <p:cNvPr id="108" name="Text 100"/>
          <p:cNvSpPr txBox="1"/>
          <p:nvPr/>
        </p:nvSpPr>
        <p:spPr>
          <a:xfrm>
            <a:off x="14668805" y="7791602"/>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14.4 – 16.2</a:t>
            </a:r>
            <a:endParaRPr lang="en-US" sz="1200" dirty="0"/>
          </a:p>
        </p:txBody>
      </p:sp>
      <p:sp>
        <p:nvSpPr>
          <p:cNvPr id="109" name="Text 101"/>
          <p:cNvSpPr txBox="1"/>
          <p:nvPr/>
        </p:nvSpPr>
        <p:spPr>
          <a:xfrm>
            <a:off x="16288207" y="7791602"/>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−0.12</a:t>
            </a:r>
            <a:endParaRPr lang="en-US" sz="1200" dirty="0"/>
          </a:p>
        </p:txBody>
      </p:sp>
      <p:sp>
        <p:nvSpPr>
          <p:cNvPr id="110" name="Text 102"/>
          <p:cNvSpPr txBox="1"/>
          <p:nvPr/>
        </p:nvSpPr>
        <p:spPr>
          <a:xfrm>
            <a:off x="8572500" y="8229600"/>
            <a:ext cx="571500" cy="219456"/>
          </a:xfrm>
          <a:prstGeom prst="rect">
            <a:avLst/>
          </a:prstGeom>
          <a:noFill/>
          <a:ln/>
        </p:spPr>
        <p:txBody>
          <a:bodyPr wrap="none" lIns="0" tIns="0" rIns="0" bIns="0" rtlCol="0" anchor="ctr"/>
          <a:lstStyle/>
          <a:p>
            <a:pPr algn="l" indent="0" marL="0">
              <a:buNone/>
            </a:pPr>
            <a:r>
              <a:rPr lang="en-US" sz="1350" b="1" dirty="0">
                <a:solidFill>
                  <a:srgbClr val="475569"/>
                </a:solidFill>
                <a:latin typeface="IBM Plex Mono" pitchFamily="34" charset="0"/>
                <a:ea typeface="IBM Plex Mono" pitchFamily="34" charset="-122"/>
                <a:cs typeface="IBM Plex Mono" pitchFamily="34" charset="-120"/>
              </a:rPr>
              <a:t>W3</a:t>
            </a:r>
            <a:endParaRPr lang="en-US" sz="1350" dirty="0"/>
          </a:p>
        </p:txBody>
      </p:sp>
      <p:sp>
        <p:nvSpPr>
          <p:cNvPr id="111" name="Text 103"/>
          <p:cNvSpPr txBox="1"/>
          <p:nvPr/>
        </p:nvSpPr>
        <p:spPr>
          <a:xfrm>
            <a:off x="9334195" y="8229600"/>
            <a:ext cx="1143000" cy="228600"/>
          </a:xfrm>
          <a:prstGeom prst="rect">
            <a:avLst/>
          </a:prstGeom>
          <a:noFill/>
          <a:ln/>
        </p:spPr>
        <p:txBody>
          <a:bodyPr wrap="none" lIns="0" tIns="0" rIns="0" bIns="0" rtlCol="0" anchor="ctr"/>
          <a:lstStyle/>
          <a:p>
            <a:pPr algn="l" indent="0" marL="0">
              <a:buNone/>
            </a:pPr>
            <a:r>
              <a:rPr lang="en-US" sz="1200" dirty="0">
                <a:solidFill>
                  <a:srgbClr val="0F172A"/>
                </a:solidFill>
                <a:latin typeface="IBM Plex Sans KR" pitchFamily="34" charset="0"/>
                <a:ea typeface="IBM Plex Sans KR" pitchFamily="34" charset="-122"/>
                <a:cs typeface="IBM Plex Sans KR" pitchFamily="34" charset="-120"/>
              </a:rPr>
              <a:t>AMI</a:t>
            </a:r>
            <a:endParaRPr lang="en-US" sz="1200" dirty="0"/>
          </a:p>
        </p:txBody>
      </p:sp>
      <p:sp>
        <p:nvSpPr>
          <p:cNvPr id="112" name="Text 104"/>
          <p:cNvSpPr txBox="1"/>
          <p:nvPr/>
        </p:nvSpPr>
        <p:spPr>
          <a:xfrm>
            <a:off x="10477195" y="8229600"/>
            <a:ext cx="1334110" cy="191110"/>
          </a:xfrm>
          <a:prstGeom prst="rect">
            <a:avLst/>
          </a:prstGeom>
          <a:noFill/>
          <a:ln/>
        </p:spPr>
        <p:txBody>
          <a:bodyPr wrap="none" lIns="0" tIns="0" rIns="0" bIns="0" rtlCol="0" anchor="ctr"/>
          <a:lstStyle/>
          <a:p>
            <a:pPr algn="r" indent="0" marL="0">
              <a:buNone/>
            </a:pPr>
            <a:r>
              <a:rPr lang="en-US" sz="1200" dirty="0">
                <a:solidFill>
                  <a:srgbClr val="64748B"/>
                </a:solidFill>
                <a:latin typeface="IBM Plex Mono" pitchFamily="34" charset="0"/>
                <a:ea typeface="IBM Plex Mono" pitchFamily="34" charset="-122"/>
                <a:cs typeface="IBM Plex Mono" pitchFamily="34" charset="-120"/>
              </a:rPr>
              <a:t>8.90</a:t>
            </a:r>
            <a:endParaRPr lang="en-US" sz="1200" dirty="0"/>
          </a:p>
        </p:txBody>
      </p:sp>
      <p:sp>
        <p:nvSpPr>
          <p:cNvPr id="113" name="Text 105"/>
          <p:cNvSpPr txBox="1"/>
          <p:nvPr/>
        </p:nvSpPr>
        <p:spPr>
          <a:xfrm>
            <a:off x="12001500" y="8229600"/>
            <a:ext cx="133411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8.81</a:t>
            </a:r>
            <a:endParaRPr lang="en-US" sz="1200" dirty="0"/>
          </a:p>
        </p:txBody>
      </p:sp>
      <p:sp>
        <p:nvSpPr>
          <p:cNvPr id="114" name="Text 106"/>
          <p:cNvSpPr txBox="1"/>
          <p:nvPr/>
        </p:nvSpPr>
        <p:spPr>
          <a:xfrm>
            <a:off x="13430707" y="8229600"/>
            <a:ext cx="1143000"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0.51</a:t>
            </a:r>
            <a:endParaRPr lang="en-US" sz="1200" dirty="0"/>
          </a:p>
        </p:txBody>
      </p:sp>
      <p:sp>
        <p:nvSpPr>
          <p:cNvPr id="115" name="Text 107"/>
          <p:cNvSpPr txBox="1"/>
          <p:nvPr/>
        </p:nvSpPr>
        <p:spPr>
          <a:xfrm>
            <a:off x="14668805" y="8229600"/>
            <a:ext cx="1524305" cy="191110"/>
          </a:xfrm>
          <a:prstGeom prst="rect">
            <a:avLst/>
          </a:prstGeom>
          <a:noFill/>
          <a:ln/>
        </p:spPr>
        <p:txBody>
          <a:bodyPr wrap="none" lIns="0" tIns="0" rIns="0" bIns="0" rtlCol="0" anchor="ctr"/>
          <a:lstStyle/>
          <a:p>
            <a:pPr algn="r" indent="0" marL="0">
              <a:buNone/>
            </a:pPr>
            <a:r>
              <a:rPr lang="en-US" sz="1200" dirty="0">
                <a:solidFill>
                  <a:srgbClr val="0F172A"/>
                </a:solidFill>
                <a:latin typeface="IBM Plex Mono" pitchFamily="34" charset="0"/>
                <a:ea typeface="IBM Plex Mono" pitchFamily="34" charset="-122"/>
                <a:cs typeface="IBM Plex Mono" pitchFamily="34" charset="-120"/>
              </a:rPr>
              <a:t>8.1 – 9.6</a:t>
            </a:r>
            <a:endParaRPr lang="en-US" sz="1200" dirty="0"/>
          </a:p>
        </p:txBody>
      </p:sp>
      <p:sp>
        <p:nvSpPr>
          <p:cNvPr id="116" name="Text 108"/>
          <p:cNvSpPr txBox="1"/>
          <p:nvPr/>
        </p:nvSpPr>
        <p:spPr>
          <a:xfrm>
            <a:off x="16288207" y="8229600"/>
            <a:ext cx="1143000" cy="191110"/>
          </a:xfrm>
          <a:prstGeom prst="rect">
            <a:avLst/>
          </a:prstGeom>
          <a:noFill/>
          <a:ln/>
        </p:spPr>
        <p:txBody>
          <a:bodyPr wrap="none" lIns="0" tIns="0" rIns="0" bIns="0" rtlCol="0" anchor="ctr"/>
          <a:lstStyle/>
          <a:p>
            <a:pPr algn="r" indent="0" marL="0">
              <a:buNone/>
            </a:pPr>
            <a:r>
              <a:rPr lang="en-US" sz="1200" b="1" dirty="0">
                <a:solidFill>
                  <a:srgbClr val="475569"/>
                </a:solidFill>
                <a:latin typeface="IBM Plex Mono" pitchFamily="34" charset="0"/>
                <a:ea typeface="IBM Plex Mono" pitchFamily="34" charset="-122"/>
                <a:cs typeface="IBM Plex Mono" pitchFamily="34" charset="-120"/>
              </a:rPr>
              <a:t>−0.09</a:t>
            </a:r>
            <a:endParaRPr lang="en-US" sz="1200" dirty="0"/>
          </a:p>
        </p:txBody>
      </p:sp>
      <p:sp>
        <p:nvSpPr>
          <p:cNvPr id="117" name="Text 109"/>
          <p:cNvSpPr txBox="1"/>
          <p:nvPr/>
        </p:nvSpPr>
        <p:spPr>
          <a:xfrm>
            <a:off x="761695" y="9696298"/>
            <a:ext cx="1333561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모든 수치 단위는 nm</a:t>
            </a:r>
            <a:endParaRPr lang="en-US" sz="1050" dirty="0"/>
          </a:p>
        </p:txBody>
      </p:sp>
      <p:sp>
        <p:nvSpPr>
          <p:cNvPr id="118" name="Text 110"/>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04 / 08 · TOPVIEW + CD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2476195"/>
            <a:ext cx="4972507" cy="5734202"/>
          </a:xfrm>
          <a:prstGeom prst="rect">
            <a:avLst/>
          </a:prstGeom>
          <a:solidFill>
            <a:srgbClr val="FFFFFF"/>
          </a:solidFill>
          <a:ln w="12700">
            <a:solidFill>
              <a:srgbClr val="E2E8F0"/>
            </a:solidFill>
            <a:prstDash val="solid"/>
          </a:ln>
        </p:spPr>
      </p:sp>
      <p:sp>
        <p:nvSpPr>
          <p:cNvPr id="5" name="Shape 1"/>
          <p:cNvSpPr/>
          <p:nvPr/>
        </p:nvSpPr>
        <p:spPr>
          <a:xfrm>
            <a:off x="6667805" y="2476195"/>
            <a:ext cx="4972507" cy="5734202"/>
          </a:xfrm>
          <a:prstGeom prst="rect">
            <a:avLst/>
          </a:prstGeom>
          <a:solidFill>
            <a:srgbClr val="FFFFFF"/>
          </a:solidFill>
          <a:ln w="12700">
            <a:solidFill>
              <a:srgbClr val="E2E8F0"/>
            </a:solidFill>
            <a:prstDash val="solid"/>
          </a:ln>
        </p:spPr>
      </p:sp>
      <p:sp>
        <p:nvSpPr>
          <p:cNvPr id="6" name="Shape 2"/>
          <p:cNvSpPr/>
          <p:nvPr/>
        </p:nvSpPr>
        <p:spPr>
          <a:xfrm>
            <a:off x="12191695" y="2476195"/>
            <a:ext cx="4972507" cy="5734202"/>
          </a:xfrm>
          <a:prstGeom prst="rect">
            <a:avLst/>
          </a:prstGeom>
          <a:solidFill>
            <a:srgbClr val="FFFFFF"/>
          </a:solidFill>
          <a:ln w="12700">
            <a:solidFill>
              <a:srgbClr val="E2E8F0"/>
            </a:solidFill>
            <a:prstDash val="solid"/>
          </a:ln>
        </p:spPr>
      </p:sp>
      <p:sp>
        <p:nvSpPr>
          <p:cNvPr id="7" name="Shape 3"/>
          <p:cNvSpPr/>
          <p:nvPr/>
        </p:nvSpPr>
        <p:spPr>
          <a:xfrm>
            <a:off x="1143000" y="8458200"/>
            <a:ext cx="16021202" cy="780898"/>
          </a:xfrm>
          <a:prstGeom prst="rect">
            <a:avLst/>
          </a:prstGeom>
          <a:solidFill>
            <a:srgbClr val="FFFFFF"/>
          </a:solidFill>
          <a:ln w="12700">
            <a:solidFill>
              <a:srgbClr val="E2E8F0"/>
            </a:solidFill>
            <a:prstDash val="solid"/>
          </a:ln>
        </p:spPr>
      </p:sp>
      <p:pic>
        <p:nvPicPr>
          <p:cNvPr id="8" name="Image 1" descr="gen-dedup-5a0ba8ca655a299c416b119e75c6720d.png">    </p:cNvPr>
          <p:cNvPicPr>
            <a:picLocks noChangeAspect="1"/>
          </p:cNvPicPr>
          <p:nvPr/>
        </p:nvPicPr>
        <p:blipFill>
          <a:blip r:embed="rId2"/>
          <a:srcRect l="-2083" r="-2083" t="0" b="0"/>
          <a:stretch/>
        </p:blipFill>
        <p:spPr>
          <a:xfrm>
            <a:off x="761695" y="9525305"/>
            <a:ext cx="16763695" cy="9144"/>
          </a:xfrm>
          <a:prstGeom prst="rect">
            <a:avLst/>
          </a:prstGeom>
        </p:spPr>
      </p:pic>
      <p:pic>
        <p:nvPicPr>
          <p:cNvPr id="9" name="Image 2" descr="gen-dedup-6085319e0e5151c07beb09468126a3ca.png">    </p:cNvPr>
          <p:cNvPicPr>
            <a:picLocks noChangeAspect="1"/>
          </p:cNvPicPr>
          <p:nvPr/>
        </p:nvPicPr>
        <p:blipFill>
          <a:blip r:embed="rId3"/>
          <a:srcRect l="0" r="0" t="-397" b="-397"/>
          <a:stretch/>
        </p:blipFill>
        <p:spPr>
          <a:xfrm>
            <a:off x="1143000" y="2476195"/>
            <a:ext cx="4953305" cy="57607"/>
          </a:xfrm>
          <a:prstGeom prst="rect">
            <a:avLst/>
          </a:prstGeom>
        </p:spPr>
      </p:pic>
      <p:pic>
        <p:nvPicPr>
          <p:cNvPr id="10" name="Image 3" descr="gen-dedup-b9b61f5828af4d614fbddabfc588af1d.png">    </p:cNvPr>
          <p:cNvPicPr>
            <a:picLocks noChangeAspect="1"/>
          </p:cNvPicPr>
          <p:nvPr/>
        </p:nvPicPr>
        <p:blipFill>
          <a:blip r:embed="rId4"/>
          <a:srcRect l="-2083" r="-2083" t="0" b="0"/>
          <a:stretch/>
        </p:blipFill>
        <p:spPr>
          <a:xfrm>
            <a:off x="1333195" y="7048195"/>
            <a:ext cx="4572000" cy="9144"/>
          </a:xfrm>
          <a:prstGeom prst="rect">
            <a:avLst/>
          </a:prstGeom>
        </p:spPr>
      </p:pic>
      <p:pic>
        <p:nvPicPr>
          <p:cNvPr id="11" name="Image 4" descr="gen-dedup-9e9c876f1a9785f402b8b37664b2ae8d.png">    </p:cNvPr>
          <p:cNvPicPr>
            <a:picLocks noChangeAspect="1"/>
          </p:cNvPicPr>
          <p:nvPr/>
        </p:nvPicPr>
        <p:blipFill>
          <a:blip r:embed="rId5"/>
          <a:srcRect l="0" r="0" t="-397" b="-397"/>
          <a:stretch/>
        </p:blipFill>
        <p:spPr>
          <a:xfrm>
            <a:off x="6667805" y="2476195"/>
            <a:ext cx="4953305" cy="57607"/>
          </a:xfrm>
          <a:prstGeom prst="rect">
            <a:avLst/>
          </a:prstGeom>
        </p:spPr>
      </p:pic>
      <p:pic>
        <p:nvPicPr>
          <p:cNvPr id="12" name="Image 5" descr="gen-dedup-b9b61f5828af4d614fbddabfc588af1d.png">    </p:cNvPr>
          <p:cNvPicPr>
            <a:picLocks noChangeAspect="1"/>
          </p:cNvPicPr>
          <p:nvPr/>
        </p:nvPicPr>
        <p:blipFill>
          <a:blip r:embed="rId6"/>
          <a:srcRect l="-2083" r="-2083" t="0" b="0"/>
          <a:stretch/>
        </p:blipFill>
        <p:spPr>
          <a:xfrm>
            <a:off x="6858000" y="7048195"/>
            <a:ext cx="4572000" cy="9144"/>
          </a:xfrm>
          <a:prstGeom prst="rect">
            <a:avLst/>
          </a:prstGeom>
        </p:spPr>
      </p:pic>
      <p:pic>
        <p:nvPicPr>
          <p:cNvPr id="13" name="Image 6" descr="gen-dedup-85f9bc68e7ff5f695685ecd31feca91f.png">    </p:cNvPr>
          <p:cNvPicPr>
            <a:picLocks noChangeAspect="1"/>
          </p:cNvPicPr>
          <p:nvPr/>
        </p:nvPicPr>
        <p:blipFill>
          <a:blip r:embed="rId7"/>
          <a:srcRect l="0" r="0" t="-397" b="-397"/>
          <a:stretch/>
        </p:blipFill>
        <p:spPr>
          <a:xfrm>
            <a:off x="12191695" y="2476195"/>
            <a:ext cx="4953305" cy="57607"/>
          </a:xfrm>
          <a:prstGeom prst="rect">
            <a:avLst/>
          </a:prstGeom>
        </p:spPr>
      </p:pic>
      <p:pic>
        <p:nvPicPr>
          <p:cNvPr id="14" name="Image 7" descr="gen-dedup-b9b61f5828af4d614fbddabfc588af1d.png">    </p:cNvPr>
          <p:cNvPicPr>
            <a:picLocks noChangeAspect="1"/>
          </p:cNvPicPr>
          <p:nvPr/>
        </p:nvPicPr>
        <p:blipFill>
          <a:blip r:embed="rId8"/>
          <a:srcRect l="-2083" r="-2083" t="0" b="0"/>
          <a:stretch/>
        </p:blipFill>
        <p:spPr>
          <a:xfrm>
            <a:off x="12382805" y="7048195"/>
            <a:ext cx="4572000" cy="9144"/>
          </a:xfrm>
          <a:prstGeom prst="rect">
            <a:avLst/>
          </a:prstGeom>
        </p:spPr>
      </p:pic>
      <p:sp>
        <p:nvSpPr>
          <p:cNvPr id="15" name="Shape 4"/>
          <p:cNvSpPr/>
          <p:nvPr/>
        </p:nvSpPr>
        <p:spPr>
          <a:xfrm>
            <a:off x="1333195" y="8839505"/>
            <a:ext cx="2286000" cy="228600"/>
          </a:xfrm>
          <a:prstGeom prst="rect">
            <a:avLst/>
          </a:prstGeom>
          <a:solidFill>
            <a:srgbClr val="1E40AF"/>
          </a:solidFill>
          <a:ln w="12700">
            <a:solidFill>
              <a:srgbClr val="FFFFFF">
                <a:alpha val="0"/>
              </a:srgbClr>
            </a:solidFill>
            <a:prstDash val="solid"/>
          </a:ln>
        </p:spPr>
      </p:sp>
      <p:sp>
        <p:nvSpPr>
          <p:cNvPr id="16" name="Shape 5"/>
          <p:cNvSpPr/>
          <p:nvPr/>
        </p:nvSpPr>
        <p:spPr>
          <a:xfrm>
            <a:off x="3619195" y="8839505"/>
            <a:ext cx="2286000" cy="228600"/>
          </a:xfrm>
          <a:prstGeom prst="rect">
            <a:avLst/>
          </a:prstGeom>
          <a:solidFill>
            <a:srgbClr val="2563EB"/>
          </a:solidFill>
          <a:ln w="12700">
            <a:solidFill>
              <a:srgbClr val="FFFFFF">
                <a:alpha val="0"/>
              </a:srgbClr>
            </a:solidFill>
            <a:prstDash val="solid"/>
          </a:ln>
        </p:spPr>
      </p:sp>
      <p:sp>
        <p:nvSpPr>
          <p:cNvPr id="17" name="Shape 6"/>
          <p:cNvSpPr/>
          <p:nvPr/>
        </p:nvSpPr>
        <p:spPr>
          <a:xfrm>
            <a:off x="5905195" y="8839505"/>
            <a:ext cx="2286000" cy="228600"/>
          </a:xfrm>
          <a:prstGeom prst="rect">
            <a:avLst/>
          </a:prstGeom>
          <a:solidFill>
            <a:srgbClr val="BFDBFE"/>
          </a:solidFill>
          <a:ln w="12700">
            <a:solidFill>
              <a:srgbClr val="FFFFFF">
                <a:alpha val="0"/>
              </a:srgbClr>
            </a:solidFill>
            <a:prstDash val="solid"/>
          </a:ln>
        </p:spPr>
      </p:sp>
      <p:sp>
        <p:nvSpPr>
          <p:cNvPr id="18" name="Shape 7"/>
          <p:cNvSpPr/>
          <p:nvPr/>
        </p:nvSpPr>
        <p:spPr>
          <a:xfrm>
            <a:off x="8191195" y="8839505"/>
            <a:ext cx="2286000" cy="228600"/>
          </a:xfrm>
          <a:prstGeom prst="rect">
            <a:avLst/>
          </a:prstGeom>
          <a:solidFill>
            <a:srgbClr val="E2E8F0"/>
          </a:solidFill>
          <a:ln w="12700">
            <a:solidFill>
              <a:srgbClr val="FFFFFF">
                <a:alpha val="0"/>
              </a:srgbClr>
            </a:solidFill>
            <a:prstDash val="solid"/>
          </a:ln>
        </p:spPr>
      </p:sp>
      <p:sp>
        <p:nvSpPr>
          <p:cNvPr id="19" name="Shape 8"/>
          <p:cNvSpPr/>
          <p:nvPr/>
        </p:nvSpPr>
        <p:spPr>
          <a:xfrm>
            <a:off x="10477195" y="8839505"/>
            <a:ext cx="2286000" cy="228600"/>
          </a:xfrm>
          <a:prstGeom prst="rect">
            <a:avLst/>
          </a:prstGeom>
          <a:solidFill>
            <a:srgbClr val="FED7AA"/>
          </a:solidFill>
          <a:ln w="12700">
            <a:solidFill>
              <a:srgbClr val="FFFFFF">
                <a:alpha val="0"/>
              </a:srgbClr>
            </a:solidFill>
            <a:prstDash val="solid"/>
          </a:ln>
        </p:spPr>
      </p:sp>
      <p:sp>
        <p:nvSpPr>
          <p:cNvPr id="20" name="Shape 9"/>
          <p:cNvSpPr/>
          <p:nvPr/>
        </p:nvSpPr>
        <p:spPr>
          <a:xfrm>
            <a:off x="12763195" y="8839505"/>
            <a:ext cx="2286000" cy="228600"/>
          </a:xfrm>
          <a:prstGeom prst="rect">
            <a:avLst/>
          </a:prstGeom>
          <a:solidFill>
            <a:srgbClr val="FB923C"/>
          </a:solidFill>
          <a:ln w="12700">
            <a:solidFill>
              <a:srgbClr val="FFFFFF">
                <a:alpha val="0"/>
              </a:srgbClr>
            </a:solidFill>
            <a:prstDash val="solid"/>
          </a:ln>
        </p:spPr>
      </p:sp>
      <p:sp>
        <p:nvSpPr>
          <p:cNvPr id="21" name="Shape 10"/>
          <p:cNvSpPr/>
          <p:nvPr/>
        </p:nvSpPr>
        <p:spPr>
          <a:xfrm>
            <a:off x="15049195" y="8839505"/>
            <a:ext cx="1714500" cy="228600"/>
          </a:xfrm>
          <a:prstGeom prst="rect">
            <a:avLst/>
          </a:prstGeom>
          <a:solidFill>
            <a:srgbClr val="B91C1C"/>
          </a:solidFill>
          <a:ln w="12700">
            <a:solidFill>
              <a:srgbClr val="FFFFFF">
                <a:alpha val="0"/>
              </a:srgbClr>
            </a:solidFill>
            <a:prstDash val="solid"/>
          </a:ln>
        </p:spPr>
      </p:sp>
      <p:sp>
        <p:nvSpPr>
          <p:cNvPr id="22" name="Shape 11"/>
          <p:cNvSpPr/>
          <p:nvPr/>
        </p:nvSpPr>
        <p:spPr>
          <a:xfrm>
            <a:off x="1333195" y="3238805"/>
            <a:ext cx="571500" cy="495605"/>
          </a:xfrm>
          <a:prstGeom prst="rect">
            <a:avLst/>
          </a:prstGeom>
          <a:solidFill>
            <a:srgbClr val="F97316"/>
          </a:solidFill>
          <a:ln w="12700">
            <a:solidFill>
              <a:srgbClr val="FFFFFF">
                <a:alpha val="0"/>
              </a:srgbClr>
            </a:solidFill>
            <a:prstDash val="solid"/>
          </a:ln>
        </p:spPr>
      </p:sp>
      <p:sp>
        <p:nvSpPr>
          <p:cNvPr id="23" name="Shape 12"/>
          <p:cNvSpPr/>
          <p:nvPr/>
        </p:nvSpPr>
        <p:spPr>
          <a:xfrm>
            <a:off x="1962302" y="3238805"/>
            <a:ext cx="571500" cy="495605"/>
          </a:xfrm>
          <a:prstGeom prst="rect">
            <a:avLst/>
          </a:prstGeom>
          <a:solidFill>
            <a:srgbClr val="FB923C"/>
          </a:solidFill>
          <a:ln w="12700">
            <a:solidFill>
              <a:srgbClr val="FFFFFF">
                <a:alpha val="0"/>
              </a:srgbClr>
            </a:solidFill>
            <a:prstDash val="solid"/>
          </a:ln>
        </p:spPr>
      </p:sp>
      <p:sp>
        <p:nvSpPr>
          <p:cNvPr id="24" name="Shape 13"/>
          <p:cNvSpPr/>
          <p:nvPr/>
        </p:nvSpPr>
        <p:spPr>
          <a:xfrm>
            <a:off x="2590495" y="3238805"/>
            <a:ext cx="571500" cy="495605"/>
          </a:xfrm>
          <a:prstGeom prst="rect">
            <a:avLst/>
          </a:prstGeom>
          <a:solidFill>
            <a:srgbClr val="FED7AA"/>
          </a:solidFill>
          <a:ln w="12700">
            <a:solidFill>
              <a:srgbClr val="FFFFFF">
                <a:alpha val="0"/>
              </a:srgbClr>
            </a:solidFill>
            <a:prstDash val="solid"/>
          </a:ln>
        </p:spPr>
      </p:sp>
      <p:sp>
        <p:nvSpPr>
          <p:cNvPr id="25" name="Shape 14"/>
          <p:cNvSpPr/>
          <p:nvPr/>
        </p:nvSpPr>
        <p:spPr>
          <a:xfrm>
            <a:off x="3219602" y="3238805"/>
            <a:ext cx="571500" cy="495605"/>
          </a:xfrm>
          <a:prstGeom prst="rect">
            <a:avLst/>
          </a:prstGeom>
          <a:solidFill>
            <a:srgbClr val="FED7AA"/>
          </a:solidFill>
          <a:ln w="12700">
            <a:solidFill>
              <a:srgbClr val="FFFFFF">
                <a:alpha val="0"/>
              </a:srgbClr>
            </a:solidFill>
            <a:prstDash val="solid"/>
          </a:ln>
        </p:spPr>
      </p:sp>
      <p:sp>
        <p:nvSpPr>
          <p:cNvPr id="26" name="Shape 15"/>
          <p:cNvSpPr/>
          <p:nvPr/>
        </p:nvSpPr>
        <p:spPr>
          <a:xfrm>
            <a:off x="3847795" y="3238805"/>
            <a:ext cx="571500" cy="495605"/>
          </a:xfrm>
          <a:prstGeom prst="rect">
            <a:avLst/>
          </a:prstGeom>
          <a:solidFill>
            <a:srgbClr val="FED7AA"/>
          </a:solidFill>
          <a:ln w="12700">
            <a:solidFill>
              <a:srgbClr val="FFFFFF">
                <a:alpha val="0"/>
              </a:srgbClr>
            </a:solidFill>
            <a:prstDash val="solid"/>
          </a:ln>
        </p:spPr>
      </p:sp>
      <p:sp>
        <p:nvSpPr>
          <p:cNvPr id="27" name="Shape 16"/>
          <p:cNvSpPr/>
          <p:nvPr/>
        </p:nvSpPr>
        <p:spPr>
          <a:xfrm>
            <a:off x="4476902" y="3238805"/>
            <a:ext cx="571500" cy="495605"/>
          </a:xfrm>
          <a:prstGeom prst="rect">
            <a:avLst/>
          </a:prstGeom>
          <a:solidFill>
            <a:srgbClr val="FB923C"/>
          </a:solidFill>
          <a:ln w="12700">
            <a:solidFill>
              <a:srgbClr val="FFFFFF">
                <a:alpha val="0"/>
              </a:srgbClr>
            </a:solidFill>
            <a:prstDash val="solid"/>
          </a:ln>
        </p:spPr>
      </p:sp>
      <p:sp>
        <p:nvSpPr>
          <p:cNvPr id="28" name="Shape 17"/>
          <p:cNvSpPr/>
          <p:nvPr/>
        </p:nvSpPr>
        <p:spPr>
          <a:xfrm>
            <a:off x="5105095" y="3238805"/>
            <a:ext cx="571500" cy="495605"/>
          </a:xfrm>
          <a:prstGeom prst="rect">
            <a:avLst/>
          </a:prstGeom>
          <a:solidFill>
            <a:srgbClr val="F97316"/>
          </a:solidFill>
          <a:ln w="12700">
            <a:solidFill>
              <a:srgbClr val="FFFFFF">
                <a:alpha val="0"/>
              </a:srgbClr>
            </a:solidFill>
            <a:prstDash val="solid"/>
          </a:ln>
        </p:spPr>
      </p:sp>
      <p:sp>
        <p:nvSpPr>
          <p:cNvPr id="29" name="Shape 18"/>
          <p:cNvSpPr/>
          <p:nvPr/>
        </p:nvSpPr>
        <p:spPr>
          <a:xfrm>
            <a:off x="1333195" y="3791102"/>
            <a:ext cx="571500" cy="495605"/>
          </a:xfrm>
          <a:prstGeom prst="rect">
            <a:avLst/>
          </a:prstGeom>
          <a:solidFill>
            <a:srgbClr val="FB923C"/>
          </a:solidFill>
          <a:ln w="12700">
            <a:solidFill>
              <a:srgbClr val="FFFFFF">
                <a:alpha val="0"/>
              </a:srgbClr>
            </a:solidFill>
            <a:prstDash val="solid"/>
          </a:ln>
        </p:spPr>
      </p:sp>
      <p:sp>
        <p:nvSpPr>
          <p:cNvPr id="30" name="Shape 19"/>
          <p:cNvSpPr/>
          <p:nvPr/>
        </p:nvSpPr>
        <p:spPr>
          <a:xfrm>
            <a:off x="1962302" y="3791102"/>
            <a:ext cx="571500" cy="495605"/>
          </a:xfrm>
          <a:prstGeom prst="rect">
            <a:avLst/>
          </a:prstGeom>
          <a:solidFill>
            <a:srgbClr val="FED7AA"/>
          </a:solidFill>
          <a:ln w="12700">
            <a:solidFill>
              <a:srgbClr val="FFFFFF">
                <a:alpha val="0"/>
              </a:srgbClr>
            </a:solidFill>
            <a:prstDash val="solid"/>
          </a:ln>
        </p:spPr>
      </p:sp>
      <p:sp>
        <p:nvSpPr>
          <p:cNvPr id="31" name="Shape 20"/>
          <p:cNvSpPr/>
          <p:nvPr/>
        </p:nvSpPr>
        <p:spPr>
          <a:xfrm>
            <a:off x="2590495" y="3791102"/>
            <a:ext cx="571500" cy="495605"/>
          </a:xfrm>
          <a:prstGeom prst="rect">
            <a:avLst/>
          </a:prstGeom>
          <a:solidFill>
            <a:srgbClr val="FED7AA"/>
          </a:solidFill>
          <a:ln w="12700">
            <a:solidFill>
              <a:srgbClr val="FFFFFF">
                <a:alpha val="0"/>
              </a:srgbClr>
            </a:solidFill>
            <a:prstDash val="solid"/>
          </a:ln>
        </p:spPr>
      </p:sp>
      <p:sp>
        <p:nvSpPr>
          <p:cNvPr id="32" name="Shape 21"/>
          <p:cNvSpPr/>
          <p:nvPr/>
        </p:nvSpPr>
        <p:spPr>
          <a:xfrm>
            <a:off x="3219602" y="3791102"/>
            <a:ext cx="571500" cy="495605"/>
          </a:xfrm>
          <a:prstGeom prst="rect">
            <a:avLst/>
          </a:prstGeom>
          <a:solidFill>
            <a:srgbClr val="E2E8F0"/>
          </a:solidFill>
          <a:ln w="12700">
            <a:solidFill>
              <a:srgbClr val="FFFFFF">
                <a:alpha val="0"/>
              </a:srgbClr>
            </a:solidFill>
            <a:prstDash val="solid"/>
          </a:ln>
        </p:spPr>
      </p:sp>
      <p:sp>
        <p:nvSpPr>
          <p:cNvPr id="33" name="Shape 22"/>
          <p:cNvSpPr/>
          <p:nvPr/>
        </p:nvSpPr>
        <p:spPr>
          <a:xfrm>
            <a:off x="3847795" y="3791102"/>
            <a:ext cx="571500" cy="495605"/>
          </a:xfrm>
          <a:prstGeom prst="rect">
            <a:avLst/>
          </a:prstGeom>
          <a:solidFill>
            <a:srgbClr val="FED7AA"/>
          </a:solidFill>
          <a:ln w="12700">
            <a:solidFill>
              <a:srgbClr val="FFFFFF">
                <a:alpha val="0"/>
              </a:srgbClr>
            </a:solidFill>
            <a:prstDash val="solid"/>
          </a:ln>
        </p:spPr>
      </p:sp>
      <p:sp>
        <p:nvSpPr>
          <p:cNvPr id="34" name="Shape 23"/>
          <p:cNvSpPr/>
          <p:nvPr/>
        </p:nvSpPr>
        <p:spPr>
          <a:xfrm>
            <a:off x="4476902" y="3791102"/>
            <a:ext cx="571500" cy="495605"/>
          </a:xfrm>
          <a:prstGeom prst="rect">
            <a:avLst/>
          </a:prstGeom>
          <a:solidFill>
            <a:srgbClr val="FED7AA"/>
          </a:solidFill>
          <a:ln w="12700">
            <a:solidFill>
              <a:srgbClr val="FFFFFF">
                <a:alpha val="0"/>
              </a:srgbClr>
            </a:solidFill>
            <a:prstDash val="solid"/>
          </a:ln>
        </p:spPr>
      </p:sp>
      <p:sp>
        <p:nvSpPr>
          <p:cNvPr id="35" name="Shape 24"/>
          <p:cNvSpPr/>
          <p:nvPr/>
        </p:nvSpPr>
        <p:spPr>
          <a:xfrm>
            <a:off x="5105095" y="3791102"/>
            <a:ext cx="571500" cy="495605"/>
          </a:xfrm>
          <a:prstGeom prst="rect">
            <a:avLst/>
          </a:prstGeom>
          <a:solidFill>
            <a:srgbClr val="FB923C"/>
          </a:solidFill>
          <a:ln w="12700">
            <a:solidFill>
              <a:srgbClr val="FFFFFF">
                <a:alpha val="0"/>
              </a:srgbClr>
            </a:solidFill>
            <a:prstDash val="solid"/>
          </a:ln>
        </p:spPr>
      </p:sp>
      <p:sp>
        <p:nvSpPr>
          <p:cNvPr id="36" name="Shape 25"/>
          <p:cNvSpPr/>
          <p:nvPr/>
        </p:nvSpPr>
        <p:spPr>
          <a:xfrm>
            <a:off x="1333195" y="4343400"/>
            <a:ext cx="571500" cy="495605"/>
          </a:xfrm>
          <a:prstGeom prst="rect">
            <a:avLst/>
          </a:prstGeom>
          <a:solidFill>
            <a:srgbClr val="FED7AA"/>
          </a:solidFill>
          <a:ln w="12700">
            <a:solidFill>
              <a:srgbClr val="FFFFFF">
                <a:alpha val="0"/>
              </a:srgbClr>
            </a:solidFill>
            <a:prstDash val="solid"/>
          </a:ln>
        </p:spPr>
      </p:sp>
      <p:sp>
        <p:nvSpPr>
          <p:cNvPr id="37" name="Shape 26"/>
          <p:cNvSpPr/>
          <p:nvPr/>
        </p:nvSpPr>
        <p:spPr>
          <a:xfrm>
            <a:off x="1962302" y="4343400"/>
            <a:ext cx="571500" cy="495605"/>
          </a:xfrm>
          <a:prstGeom prst="rect">
            <a:avLst/>
          </a:prstGeom>
          <a:solidFill>
            <a:srgbClr val="FED7AA"/>
          </a:solidFill>
          <a:ln w="12700">
            <a:solidFill>
              <a:srgbClr val="FFFFFF">
                <a:alpha val="0"/>
              </a:srgbClr>
            </a:solidFill>
            <a:prstDash val="solid"/>
          </a:ln>
        </p:spPr>
      </p:sp>
      <p:sp>
        <p:nvSpPr>
          <p:cNvPr id="38" name="Shape 27"/>
          <p:cNvSpPr/>
          <p:nvPr/>
        </p:nvSpPr>
        <p:spPr>
          <a:xfrm>
            <a:off x="2590495" y="4343400"/>
            <a:ext cx="571500" cy="495605"/>
          </a:xfrm>
          <a:prstGeom prst="rect">
            <a:avLst/>
          </a:prstGeom>
          <a:solidFill>
            <a:srgbClr val="E2E8F0"/>
          </a:solidFill>
          <a:ln w="12700">
            <a:solidFill>
              <a:srgbClr val="FFFFFF">
                <a:alpha val="0"/>
              </a:srgbClr>
            </a:solidFill>
            <a:prstDash val="solid"/>
          </a:ln>
        </p:spPr>
      </p:sp>
      <p:sp>
        <p:nvSpPr>
          <p:cNvPr id="39" name="Shape 28"/>
          <p:cNvSpPr/>
          <p:nvPr/>
        </p:nvSpPr>
        <p:spPr>
          <a:xfrm>
            <a:off x="3219602" y="4343400"/>
            <a:ext cx="571500" cy="495605"/>
          </a:xfrm>
          <a:prstGeom prst="rect">
            <a:avLst/>
          </a:prstGeom>
          <a:solidFill>
            <a:srgbClr val="BFDBFE"/>
          </a:solidFill>
          <a:ln w="12700">
            <a:solidFill>
              <a:srgbClr val="FFFFFF">
                <a:alpha val="0"/>
              </a:srgbClr>
            </a:solidFill>
            <a:prstDash val="solid"/>
          </a:ln>
        </p:spPr>
      </p:sp>
      <p:sp>
        <p:nvSpPr>
          <p:cNvPr id="40" name="Shape 29"/>
          <p:cNvSpPr/>
          <p:nvPr/>
        </p:nvSpPr>
        <p:spPr>
          <a:xfrm>
            <a:off x="3847795" y="4343400"/>
            <a:ext cx="571500" cy="495605"/>
          </a:xfrm>
          <a:prstGeom prst="rect">
            <a:avLst/>
          </a:prstGeom>
          <a:solidFill>
            <a:srgbClr val="E2E8F0"/>
          </a:solidFill>
          <a:ln w="12700">
            <a:solidFill>
              <a:srgbClr val="FFFFFF">
                <a:alpha val="0"/>
              </a:srgbClr>
            </a:solidFill>
            <a:prstDash val="solid"/>
          </a:ln>
        </p:spPr>
      </p:sp>
      <p:sp>
        <p:nvSpPr>
          <p:cNvPr id="41" name="Shape 30"/>
          <p:cNvSpPr/>
          <p:nvPr/>
        </p:nvSpPr>
        <p:spPr>
          <a:xfrm>
            <a:off x="4476902" y="4343400"/>
            <a:ext cx="571500" cy="495605"/>
          </a:xfrm>
          <a:prstGeom prst="rect">
            <a:avLst/>
          </a:prstGeom>
          <a:solidFill>
            <a:srgbClr val="FED7AA"/>
          </a:solidFill>
          <a:ln w="12700">
            <a:solidFill>
              <a:srgbClr val="FFFFFF">
                <a:alpha val="0"/>
              </a:srgbClr>
            </a:solidFill>
            <a:prstDash val="solid"/>
          </a:ln>
        </p:spPr>
      </p:sp>
      <p:sp>
        <p:nvSpPr>
          <p:cNvPr id="42" name="Shape 31"/>
          <p:cNvSpPr/>
          <p:nvPr/>
        </p:nvSpPr>
        <p:spPr>
          <a:xfrm>
            <a:off x="5105095" y="4343400"/>
            <a:ext cx="571500" cy="495605"/>
          </a:xfrm>
          <a:prstGeom prst="rect">
            <a:avLst/>
          </a:prstGeom>
          <a:solidFill>
            <a:srgbClr val="FED7AA"/>
          </a:solidFill>
          <a:ln w="12700">
            <a:solidFill>
              <a:srgbClr val="FFFFFF">
                <a:alpha val="0"/>
              </a:srgbClr>
            </a:solidFill>
            <a:prstDash val="solid"/>
          </a:ln>
        </p:spPr>
      </p:sp>
      <p:sp>
        <p:nvSpPr>
          <p:cNvPr id="43" name="Shape 32"/>
          <p:cNvSpPr/>
          <p:nvPr/>
        </p:nvSpPr>
        <p:spPr>
          <a:xfrm>
            <a:off x="1333195" y="4895698"/>
            <a:ext cx="571500" cy="495605"/>
          </a:xfrm>
          <a:prstGeom prst="rect">
            <a:avLst/>
          </a:prstGeom>
          <a:solidFill>
            <a:srgbClr val="FB923C"/>
          </a:solidFill>
          <a:ln w="12700">
            <a:solidFill>
              <a:srgbClr val="FFFFFF">
                <a:alpha val="0"/>
              </a:srgbClr>
            </a:solidFill>
            <a:prstDash val="solid"/>
          </a:ln>
        </p:spPr>
      </p:sp>
      <p:sp>
        <p:nvSpPr>
          <p:cNvPr id="44" name="Shape 33"/>
          <p:cNvSpPr/>
          <p:nvPr/>
        </p:nvSpPr>
        <p:spPr>
          <a:xfrm>
            <a:off x="1962302" y="4895698"/>
            <a:ext cx="571500" cy="495605"/>
          </a:xfrm>
          <a:prstGeom prst="rect">
            <a:avLst/>
          </a:prstGeom>
          <a:solidFill>
            <a:srgbClr val="FED7AA"/>
          </a:solidFill>
          <a:ln w="12700">
            <a:solidFill>
              <a:srgbClr val="FFFFFF">
                <a:alpha val="0"/>
              </a:srgbClr>
            </a:solidFill>
            <a:prstDash val="solid"/>
          </a:ln>
        </p:spPr>
      </p:sp>
      <p:sp>
        <p:nvSpPr>
          <p:cNvPr id="45" name="Shape 34"/>
          <p:cNvSpPr/>
          <p:nvPr/>
        </p:nvSpPr>
        <p:spPr>
          <a:xfrm>
            <a:off x="2590495" y="4895698"/>
            <a:ext cx="571500" cy="495605"/>
          </a:xfrm>
          <a:prstGeom prst="rect">
            <a:avLst/>
          </a:prstGeom>
          <a:solidFill>
            <a:srgbClr val="BFDBFE"/>
          </a:solidFill>
          <a:ln w="12700">
            <a:solidFill>
              <a:srgbClr val="FFFFFF">
                <a:alpha val="0"/>
              </a:srgbClr>
            </a:solidFill>
            <a:prstDash val="solid"/>
          </a:ln>
        </p:spPr>
      </p:sp>
      <p:sp>
        <p:nvSpPr>
          <p:cNvPr id="46" name="Shape 35"/>
          <p:cNvSpPr/>
          <p:nvPr/>
        </p:nvSpPr>
        <p:spPr>
          <a:xfrm>
            <a:off x="3219602" y="4895698"/>
            <a:ext cx="571500" cy="495605"/>
          </a:xfrm>
          <a:prstGeom prst="rect">
            <a:avLst/>
          </a:prstGeom>
          <a:solidFill>
            <a:srgbClr val="93C5FD"/>
          </a:solidFill>
          <a:ln w="12700">
            <a:solidFill>
              <a:srgbClr val="FFFFFF">
                <a:alpha val="0"/>
              </a:srgbClr>
            </a:solidFill>
            <a:prstDash val="solid"/>
          </a:ln>
        </p:spPr>
      </p:sp>
      <p:sp>
        <p:nvSpPr>
          <p:cNvPr id="47" name="Shape 36"/>
          <p:cNvSpPr/>
          <p:nvPr/>
        </p:nvSpPr>
        <p:spPr>
          <a:xfrm>
            <a:off x="3847795" y="4895698"/>
            <a:ext cx="571500" cy="495605"/>
          </a:xfrm>
          <a:prstGeom prst="rect">
            <a:avLst/>
          </a:prstGeom>
          <a:solidFill>
            <a:srgbClr val="BFDBFE"/>
          </a:solidFill>
          <a:ln w="12700">
            <a:solidFill>
              <a:srgbClr val="FFFFFF">
                <a:alpha val="0"/>
              </a:srgbClr>
            </a:solidFill>
            <a:prstDash val="solid"/>
          </a:ln>
        </p:spPr>
      </p:sp>
      <p:sp>
        <p:nvSpPr>
          <p:cNvPr id="48" name="Shape 37"/>
          <p:cNvSpPr/>
          <p:nvPr/>
        </p:nvSpPr>
        <p:spPr>
          <a:xfrm>
            <a:off x="4476902" y="4895698"/>
            <a:ext cx="571500" cy="495605"/>
          </a:xfrm>
          <a:prstGeom prst="rect">
            <a:avLst/>
          </a:prstGeom>
          <a:solidFill>
            <a:srgbClr val="E2E8F0"/>
          </a:solidFill>
          <a:ln w="12700">
            <a:solidFill>
              <a:srgbClr val="FFFFFF">
                <a:alpha val="0"/>
              </a:srgbClr>
            </a:solidFill>
            <a:prstDash val="solid"/>
          </a:ln>
        </p:spPr>
      </p:sp>
      <p:sp>
        <p:nvSpPr>
          <p:cNvPr id="49" name="Shape 38"/>
          <p:cNvSpPr/>
          <p:nvPr/>
        </p:nvSpPr>
        <p:spPr>
          <a:xfrm>
            <a:off x="5105095" y="4895698"/>
            <a:ext cx="571500" cy="495605"/>
          </a:xfrm>
          <a:prstGeom prst="rect">
            <a:avLst/>
          </a:prstGeom>
          <a:solidFill>
            <a:srgbClr val="FED7AA"/>
          </a:solidFill>
          <a:ln w="12700">
            <a:solidFill>
              <a:srgbClr val="FFFFFF">
                <a:alpha val="0"/>
              </a:srgbClr>
            </a:solidFill>
            <a:prstDash val="solid"/>
          </a:ln>
        </p:spPr>
      </p:sp>
      <p:sp>
        <p:nvSpPr>
          <p:cNvPr id="50" name="Shape 39"/>
          <p:cNvSpPr/>
          <p:nvPr/>
        </p:nvSpPr>
        <p:spPr>
          <a:xfrm>
            <a:off x="1333195" y="5447995"/>
            <a:ext cx="571500" cy="495605"/>
          </a:xfrm>
          <a:prstGeom prst="rect">
            <a:avLst/>
          </a:prstGeom>
          <a:solidFill>
            <a:srgbClr val="FB923C"/>
          </a:solidFill>
          <a:ln w="12700">
            <a:solidFill>
              <a:srgbClr val="FFFFFF">
                <a:alpha val="0"/>
              </a:srgbClr>
            </a:solidFill>
            <a:prstDash val="solid"/>
          </a:ln>
        </p:spPr>
      </p:sp>
      <p:sp>
        <p:nvSpPr>
          <p:cNvPr id="51" name="Shape 40"/>
          <p:cNvSpPr/>
          <p:nvPr/>
        </p:nvSpPr>
        <p:spPr>
          <a:xfrm>
            <a:off x="1962302" y="5447995"/>
            <a:ext cx="571500" cy="495605"/>
          </a:xfrm>
          <a:prstGeom prst="rect">
            <a:avLst/>
          </a:prstGeom>
          <a:solidFill>
            <a:srgbClr val="FED7AA"/>
          </a:solidFill>
          <a:ln w="12700">
            <a:solidFill>
              <a:srgbClr val="FFFFFF">
                <a:alpha val="0"/>
              </a:srgbClr>
            </a:solidFill>
            <a:prstDash val="solid"/>
          </a:ln>
        </p:spPr>
      </p:sp>
      <p:sp>
        <p:nvSpPr>
          <p:cNvPr id="52" name="Shape 41"/>
          <p:cNvSpPr/>
          <p:nvPr/>
        </p:nvSpPr>
        <p:spPr>
          <a:xfrm>
            <a:off x="2590495" y="5447995"/>
            <a:ext cx="571500" cy="495605"/>
          </a:xfrm>
          <a:prstGeom prst="rect">
            <a:avLst/>
          </a:prstGeom>
          <a:solidFill>
            <a:srgbClr val="E2E8F0"/>
          </a:solidFill>
          <a:ln w="12700">
            <a:solidFill>
              <a:srgbClr val="FFFFFF">
                <a:alpha val="0"/>
              </a:srgbClr>
            </a:solidFill>
            <a:prstDash val="solid"/>
          </a:ln>
        </p:spPr>
      </p:sp>
      <p:sp>
        <p:nvSpPr>
          <p:cNvPr id="53" name="Shape 42"/>
          <p:cNvSpPr/>
          <p:nvPr/>
        </p:nvSpPr>
        <p:spPr>
          <a:xfrm>
            <a:off x="3219602" y="5447995"/>
            <a:ext cx="571500" cy="495605"/>
          </a:xfrm>
          <a:prstGeom prst="rect">
            <a:avLst/>
          </a:prstGeom>
          <a:solidFill>
            <a:srgbClr val="BFDBFE"/>
          </a:solidFill>
          <a:ln w="12700">
            <a:solidFill>
              <a:srgbClr val="FFFFFF">
                <a:alpha val="0"/>
              </a:srgbClr>
            </a:solidFill>
            <a:prstDash val="solid"/>
          </a:ln>
        </p:spPr>
      </p:sp>
      <p:sp>
        <p:nvSpPr>
          <p:cNvPr id="54" name="Shape 43"/>
          <p:cNvSpPr/>
          <p:nvPr/>
        </p:nvSpPr>
        <p:spPr>
          <a:xfrm>
            <a:off x="3847795" y="5447995"/>
            <a:ext cx="571500" cy="495605"/>
          </a:xfrm>
          <a:prstGeom prst="rect">
            <a:avLst/>
          </a:prstGeom>
          <a:solidFill>
            <a:srgbClr val="E2E8F0"/>
          </a:solidFill>
          <a:ln w="12700">
            <a:solidFill>
              <a:srgbClr val="FFFFFF">
                <a:alpha val="0"/>
              </a:srgbClr>
            </a:solidFill>
            <a:prstDash val="solid"/>
          </a:ln>
        </p:spPr>
      </p:sp>
      <p:sp>
        <p:nvSpPr>
          <p:cNvPr id="55" name="Shape 44"/>
          <p:cNvSpPr/>
          <p:nvPr/>
        </p:nvSpPr>
        <p:spPr>
          <a:xfrm>
            <a:off x="4476902" y="5447995"/>
            <a:ext cx="571500" cy="495605"/>
          </a:xfrm>
          <a:prstGeom prst="rect">
            <a:avLst/>
          </a:prstGeom>
          <a:solidFill>
            <a:srgbClr val="FED7AA"/>
          </a:solidFill>
          <a:ln w="12700">
            <a:solidFill>
              <a:srgbClr val="FFFFFF">
                <a:alpha val="0"/>
              </a:srgbClr>
            </a:solidFill>
            <a:prstDash val="solid"/>
          </a:ln>
        </p:spPr>
      </p:sp>
      <p:sp>
        <p:nvSpPr>
          <p:cNvPr id="56" name="Shape 45"/>
          <p:cNvSpPr/>
          <p:nvPr/>
        </p:nvSpPr>
        <p:spPr>
          <a:xfrm>
            <a:off x="5105095" y="5447995"/>
            <a:ext cx="571500" cy="495605"/>
          </a:xfrm>
          <a:prstGeom prst="rect">
            <a:avLst/>
          </a:prstGeom>
          <a:solidFill>
            <a:srgbClr val="FB923C"/>
          </a:solidFill>
          <a:ln w="12700">
            <a:solidFill>
              <a:srgbClr val="FFFFFF">
                <a:alpha val="0"/>
              </a:srgbClr>
            </a:solidFill>
            <a:prstDash val="solid"/>
          </a:ln>
        </p:spPr>
      </p:sp>
      <p:sp>
        <p:nvSpPr>
          <p:cNvPr id="57" name="Shape 46"/>
          <p:cNvSpPr/>
          <p:nvPr/>
        </p:nvSpPr>
        <p:spPr>
          <a:xfrm>
            <a:off x="1333195" y="6001207"/>
            <a:ext cx="571500" cy="495605"/>
          </a:xfrm>
          <a:prstGeom prst="rect">
            <a:avLst/>
          </a:prstGeom>
          <a:solidFill>
            <a:srgbClr val="FB923C"/>
          </a:solidFill>
          <a:ln w="12700">
            <a:solidFill>
              <a:srgbClr val="FFFFFF">
                <a:alpha val="0"/>
              </a:srgbClr>
            </a:solidFill>
            <a:prstDash val="solid"/>
          </a:ln>
        </p:spPr>
      </p:sp>
      <p:sp>
        <p:nvSpPr>
          <p:cNvPr id="58" name="Shape 47"/>
          <p:cNvSpPr/>
          <p:nvPr/>
        </p:nvSpPr>
        <p:spPr>
          <a:xfrm>
            <a:off x="1962302" y="6001207"/>
            <a:ext cx="571500" cy="495605"/>
          </a:xfrm>
          <a:prstGeom prst="rect">
            <a:avLst/>
          </a:prstGeom>
          <a:solidFill>
            <a:srgbClr val="FED7AA"/>
          </a:solidFill>
          <a:ln w="12700">
            <a:solidFill>
              <a:srgbClr val="FFFFFF">
                <a:alpha val="0"/>
              </a:srgbClr>
            </a:solidFill>
            <a:prstDash val="solid"/>
          </a:ln>
        </p:spPr>
      </p:sp>
      <p:sp>
        <p:nvSpPr>
          <p:cNvPr id="59" name="Shape 48"/>
          <p:cNvSpPr/>
          <p:nvPr/>
        </p:nvSpPr>
        <p:spPr>
          <a:xfrm>
            <a:off x="2590495" y="6001207"/>
            <a:ext cx="571500" cy="495605"/>
          </a:xfrm>
          <a:prstGeom prst="rect">
            <a:avLst/>
          </a:prstGeom>
          <a:solidFill>
            <a:srgbClr val="FED7AA"/>
          </a:solidFill>
          <a:ln w="12700">
            <a:solidFill>
              <a:srgbClr val="FFFFFF">
                <a:alpha val="0"/>
              </a:srgbClr>
            </a:solidFill>
            <a:prstDash val="solid"/>
          </a:ln>
        </p:spPr>
      </p:sp>
      <p:sp>
        <p:nvSpPr>
          <p:cNvPr id="60" name="Shape 49"/>
          <p:cNvSpPr/>
          <p:nvPr/>
        </p:nvSpPr>
        <p:spPr>
          <a:xfrm>
            <a:off x="3219602" y="6001207"/>
            <a:ext cx="571500" cy="495605"/>
          </a:xfrm>
          <a:prstGeom prst="rect">
            <a:avLst/>
          </a:prstGeom>
          <a:solidFill>
            <a:srgbClr val="E2E8F0"/>
          </a:solidFill>
          <a:ln w="12700">
            <a:solidFill>
              <a:srgbClr val="FFFFFF">
                <a:alpha val="0"/>
              </a:srgbClr>
            </a:solidFill>
            <a:prstDash val="solid"/>
          </a:ln>
        </p:spPr>
      </p:sp>
      <p:sp>
        <p:nvSpPr>
          <p:cNvPr id="61" name="Shape 50"/>
          <p:cNvSpPr/>
          <p:nvPr/>
        </p:nvSpPr>
        <p:spPr>
          <a:xfrm>
            <a:off x="3847795" y="6001207"/>
            <a:ext cx="571500" cy="495605"/>
          </a:xfrm>
          <a:prstGeom prst="rect">
            <a:avLst/>
          </a:prstGeom>
          <a:solidFill>
            <a:srgbClr val="FED7AA"/>
          </a:solidFill>
          <a:ln w="12700">
            <a:solidFill>
              <a:srgbClr val="FFFFFF">
                <a:alpha val="0"/>
              </a:srgbClr>
            </a:solidFill>
            <a:prstDash val="solid"/>
          </a:ln>
        </p:spPr>
      </p:sp>
      <p:sp>
        <p:nvSpPr>
          <p:cNvPr id="62" name="Shape 51"/>
          <p:cNvSpPr/>
          <p:nvPr/>
        </p:nvSpPr>
        <p:spPr>
          <a:xfrm>
            <a:off x="4476902" y="6001207"/>
            <a:ext cx="571500" cy="495605"/>
          </a:xfrm>
          <a:prstGeom prst="rect">
            <a:avLst/>
          </a:prstGeom>
          <a:solidFill>
            <a:srgbClr val="FED7AA"/>
          </a:solidFill>
          <a:ln w="12700">
            <a:solidFill>
              <a:srgbClr val="FFFFFF">
                <a:alpha val="0"/>
              </a:srgbClr>
            </a:solidFill>
            <a:prstDash val="solid"/>
          </a:ln>
        </p:spPr>
      </p:sp>
      <p:sp>
        <p:nvSpPr>
          <p:cNvPr id="63" name="Shape 52"/>
          <p:cNvSpPr/>
          <p:nvPr/>
        </p:nvSpPr>
        <p:spPr>
          <a:xfrm>
            <a:off x="5105095" y="6001207"/>
            <a:ext cx="571500" cy="495605"/>
          </a:xfrm>
          <a:prstGeom prst="rect">
            <a:avLst/>
          </a:prstGeom>
          <a:solidFill>
            <a:srgbClr val="FB923C"/>
          </a:solidFill>
          <a:ln w="12700">
            <a:solidFill>
              <a:srgbClr val="FFFFFF">
                <a:alpha val="0"/>
              </a:srgbClr>
            </a:solidFill>
            <a:prstDash val="solid"/>
          </a:ln>
        </p:spPr>
      </p:sp>
      <p:sp>
        <p:nvSpPr>
          <p:cNvPr id="64" name="Shape 53"/>
          <p:cNvSpPr/>
          <p:nvPr/>
        </p:nvSpPr>
        <p:spPr>
          <a:xfrm>
            <a:off x="1333195" y="6553505"/>
            <a:ext cx="571500" cy="495605"/>
          </a:xfrm>
          <a:prstGeom prst="rect">
            <a:avLst/>
          </a:prstGeom>
          <a:solidFill>
            <a:srgbClr val="F97316"/>
          </a:solidFill>
          <a:ln w="12700">
            <a:solidFill>
              <a:srgbClr val="FFFFFF">
                <a:alpha val="0"/>
              </a:srgbClr>
            </a:solidFill>
            <a:prstDash val="solid"/>
          </a:ln>
        </p:spPr>
      </p:sp>
      <p:sp>
        <p:nvSpPr>
          <p:cNvPr id="65" name="Shape 54"/>
          <p:cNvSpPr/>
          <p:nvPr/>
        </p:nvSpPr>
        <p:spPr>
          <a:xfrm>
            <a:off x="1962302" y="6553505"/>
            <a:ext cx="571500" cy="495605"/>
          </a:xfrm>
          <a:prstGeom prst="rect">
            <a:avLst/>
          </a:prstGeom>
          <a:solidFill>
            <a:srgbClr val="FB923C"/>
          </a:solidFill>
          <a:ln w="12700">
            <a:solidFill>
              <a:srgbClr val="FFFFFF">
                <a:alpha val="0"/>
              </a:srgbClr>
            </a:solidFill>
            <a:prstDash val="solid"/>
          </a:ln>
        </p:spPr>
      </p:sp>
      <p:sp>
        <p:nvSpPr>
          <p:cNvPr id="66" name="Shape 55"/>
          <p:cNvSpPr/>
          <p:nvPr/>
        </p:nvSpPr>
        <p:spPr>
          <a:xfrm>
            <a:off x="2590495" y="6553505"/>
            <a:ext cx="571500" cy="495605"/>
          </a:xfrm>
          <a:prstGeom prst="rect">
            <a:avLst/>
          </a:prstGeom>
          <a:solidFill>
            <a:srgbClr val="FB923C"/>
          </a:solidFill>
          <a:ln w="12700">
            <a:solidFill>
              <a:srgbClr val="FFFFFF">
                <a:alpha val="0"/>
              </a:srgbClr>
            </a:solidFill>
            <a:prstDash val="solid"/>
          </a:ln>
        </p:spPr>
      </p:sp>
      <p:sp>
        <p:nvSpPr>
          <p:cNvPr id="67" name="Shape 56"/>
          <p:cNvSpPr/>
          <p:nvPr/>
        </p:nvSpPr>
        <p:spPr>
          <a:xfrm>
            <a:off x="3219602" y="6553505"/>
            <a:ext cx="571500" cy="495605"/>
          </a:xfrm>
          <a:prstGeom prst="rect">
            <a:avLst/>
          </a:prstGeom>
          <a:solidFill>
            <a:srgbClr val="FED7AA"/>
          </a:solidFill>
          <a:ln w="12700">
            <a:solidFill>
              <a:srgbClr val="FFFFFF">
                <a:alpha val="0"/>
              </a:srgbClr>
            </a:solidFill>
            <a:prstDash val="solid"/>
          </a:ln>
        </p:spPr>
      </p:sp>
      <p:sp>
        <p:nvSpPr>
          <p:cNvPr id="68" name="Shape 57"/>
          <p:cNvSpPr/>
          <p:nvPr/>
        </p:nvSpPr>
        <p:spPr>
          <a:xfrm>
            <a:off x="3847795" y="6553505"/>
            <a:ext cx="571500" cy="495605"/>
          </a:xfrm>
          <a:prstGeom prst="rect">
            <a:avLst/>
          </a:prstGeom>
          <a:solidFill>
            <a:srgbClr val="FB923C"/>
          </a:solidFill>
          <a:ln w="12700">
            <a:solidFill>
              <a:srgbClr val="FFFFFF">
                <a:alpha val="0"/>
              </a:srgbClr>
            </a:solidFill>
            <a:prstDash val="solid"/>
          </a:ln>
        </p:spPr>
      </p:sp>
      <p:sp>
        <p:nvSpPr>
          <p:cNvPr id="69" name="Shape 58"/>
          <p:cNvSpPr/>
          <p:nvPr/>
        </p:nvSpPr>
        <p:spPr>
          <a:xfrm>
            <a:off x="4476902" y="6553505"/>
            <a:ext cx="571500" cy="495605"/>
          </a:xfrm>
          <a:prstGeom prst="rect">
            <a:avLst/>
          </a:prstGeom>
          <a:solidFill>
            <a:srgbClr val="F97316"/>
          </a:solidFill>
          <a:ln w="12700">
            <a:solidFill>
              <a:srgbClr val="FFFFFF">
                <a:alpha val="0"/>
              </a:srgbClr>
            </a:solidFill>
            <a:prstDash val="solid"/>
          </a:ln>
        </p:spPr>
      </p:sp>
      <p:sp>
        <p:nvSpPr>
          <p:cNvPr id="70" name="Shape 59"/>
          <p:cNvSpPr/>
          <p:nvPr/>
        </p:nvSpPr>
        <p:spPr>
          <a:xfrm>
            <a:off x="5105095" y="6553505"/>
            <a:ext cx="571500" cy="495605"/>
          </a:xfrm>
          <a:prstGeom prst="rect">
            <a:avLst/>
          </a:prstGeom>
          <a:solidFill>
            <a:srgbClr val="B91C1C"/>
          </a:solidFill>
          <a:ln w="12700">
            <a:solidFill>
              <a:srgbClr val="FFFFFF">
                <a:alpha val="0"/>
              </a:srgbClr>
            </a:solidFill>
            <a:prstDash val="solid"/>
          </a:ln>
        </p:spPr>
      </p:sp>
      <p:sp>
        <p:nvSpPr>
          <p:cNvPr id="71" name="Shape 60"/>
          <p:cNvSpPr/>
          <p:nvPr/>
        </p:nvSpPr>
        <p:spPr>
          <a:xfrm>
            <a:off x="6858000" y="3238805"/>
            <a:ext cx="571500" cy="495605"/>
          </a:xfrm>
          <a:prstGeom prst="rect">
            <a:avLst/>
          </a:prstGeom>
          <a:solidFill>
            <a:srgbClr val="FED7AA"/>
          </a:solidFill>
          <a:ln w="12700">
            <a:solidFill>
              <a:srgbClr val="FFFFFF">
                <a:alpha val="0"/>
              </a:srgbClr>
            </a:solidFill>
            <a:prstDash val="solid"/>
          </a:ln>
        </p:spPr>
      </p:sp>
      <p:sp>
        <p:nvSpPr>
          <p:cNvPr id="72" name="Shape 61"/>
          <p:cNvSpPr/>
          <p:nvPr/>
        </p:nvSpPr>
        <p:spPr>
          <a:xfrm>
            <a:off x="7487107" y="3238805"/>
            <a:ext cx="571500" cy="495605"/>
          </a:xfrm>
          <a:prstGeom prst="rect">
            <a:avLst/>
          </a:prstGeom>
          <a:solidFill>
            <a:srgbClr val="FED7AA"/>
          </a:solidFill>
          <a:ln w="12700">
            <a:solidFill>
              <a:srgbClr val="FFFFFF">
                <a:alpha val="0"/>
              </a:srgbClr>
            </a:solidFill>
            <a:prstDash val="solid"/>
          </a:ln>
        </p:spPr>
      </p:sp>
      <p:sp>
        <p:nvSpPr>
          <p:cNvPr id="73" name="Shape 62"/>
          <p:cNvSpPr/>
          <p:nvPr/>
        </p:nvSpPr>
        <p:spPr>
          <a:xfrm>
            <a:off x="8115300" y="3238805"/>
            <a:ext cx="571500" cy="495605"/>
          </a:xfrm>
          <a:prstGeom prst="rect">
            <a:avLst/>
          </a:prstGeom>
          <a:solidFill>
            <a:srgbClr val="E2E8F0"/>
          </a:solidFill>
          <a:ln w="12700">
            <a:solidFill>
              <a:srgbClr val="FFFFFF">
                <a:alpha val="0"/>
              </a:srgbClr>
            </a:solidFill>
            <a:prstDash val="solid"/>
          </a:ln>
        </p:spPr>
      </p:sp>
      <p:sp>
        <p:nvSpPr>
          <p:cNvPr id="74" name="Shape 63"/>
          <p:cNvSpPr/>
          <p:nvPr/>
        </p:nvSpPr>
        <p:spPr>
          <a:xfrm>
            <a:off x="8744407" y="3238805"/>
            <a:ext cx="571500" cy="495605"/>
          </a:xfrm>
          <a:prstGeom prst="rect">
            <a:avLst/>
          </a:prstGeom>
          <a:solidFill>
            <a:srgbClr val="E2E8F0"/>
          </a:solidFill>
          <a:ln w="12700">
            <a:solidFill>
              <a:srgbClr val="FFFFFF">
                <a:alpha val="0"/>
              </a:srgbClr>
            </a:solidFill>
            <a:prstDash val="solid"/>
          </a:ln>
        </p:spPr>
      </p:sp>
      <p:sp>
        <p:nvSpPr>
          <p:cNvPr id="75" name="Shape 64"/>
          <p:cNvSpPr/>
          <p:nvPr/>
        </p:nvSpPr>
        <p:spPr>
          <a:xfrm>
            <a:off x="9372600" y="3238805"/>
            <a:ext cx="571500" cy="495605"/>
          </a:xfrm>
          <a:prstGeom prst="rect">
            <a:avLst/>
          </a:prstGeom>
          <a:solidFill>
            <a:srgbClr val="E2E8F0"/>
          </a:solidFill>
          <a:ln w="12700">
            <a:solidFill>
              <a:srgbClr val="FFFFFF">
                <a:alpha val="0"/>
              </a:srgbClr>
            </a:solidFill>
            <a:prstDash val="solid"/>
          </a:ln>
        </p:spPr>
      </p:sp>
      <p:sp>
        <p:nvSpPr>
          <p:cNvPr id="76" name="Shape 65"/>
          <p:cNvSpPr/>
          <p:nvPr/>
        </p:nvSpPr>
        <p:spPr>
          <a:xfrm>
            <a:off x="10001707" y="3238805"/>
            <a:ext cx="571500" cy="495605"/>
          </a:xfrm>
          <a:prstGeom prst="rect">
            <a:avLst/>
          </a:prstGeom>
          <a:solidFill>
            <a:srgbClr val="FED7AA"/>
          </a:solidFill>
          <a:ln w="12700">
            <a:solidFill>
              <a:srgbClr val="FFFFFF">
                <a:alpha val="0"/>
              </a:srgbClr>
            </a:solidFill>
            <a:prstDash val="solid"/>
          </a:ln>
        </p:spPr>
      </p:sp>
      <p:sp>
        <p:nvSpPr>
          <p:cNvPr id="77" name="Shape 66"/>
          <p:cNvSpPr/>
          <p:nvPr/>
        </p:nvSpPr>
        <p:spPr>
          <a:xfrm>
            <a:off x="10629900" y="3238805"/>
            <a:ext cx="571500" cy="495605"/>
          </a:xfrm>
          <a:prstGeom prst="rect">
            <a:avLst/>
          </a:prstGeom>
          <a:solidFill>
            <a:srgbClr val="FED7AA"/>
          </a:solidFill>
          <a:ln w="12700">
            <a:solidFill>
              <a:srgbClr val="FFFFFF">
                <a:alpha val="0"/>
              </a:srgbClr>
            </a:solidFill>
            <a:prstDash val="solid"/>
          </a:ln>
        </p:spPr>
      </p:sp>
      <p:sp>
        <p:nvSpPr>
          <p:cNvPr id="78" name="Shape 67"/>
          <p:cNvSpPr/>
          <p:nvPr/>
        </p:nvSpPr>
        <p:spPr>
          <a:xfrm>
            <a:off x="6858000" y="3791102"/>
            <a:ext cx="571500" cy="495605"/>
          </a:xfrm>
          <a:prstGeom prst="rect">
            <a:avLst/>
          </a:prstGeom>
          <a:solidFill>
            <a:srgbClr val="FED7AA"/>
          </a:solidFill>
          <a:ln w="12700">
            <a:solidFill>
              <a:srgbClr val="FFFFFF">
                <a:alpha val="0"/>
              </a:srgbClr>
            </a:solidFill>
            <a:prstDash val="solid"/>
          </a:ln>
        </p:spPr>
      </p:sp>
      <p:sp>
        <p:nvSpPr>
          <p:cNvPr id="79" name="Shape 68"/>
          <p:cNvSpPr/>
          <p:nvPr/>
        </p:nvSpPr>
        <p:spPr>
          <a:xfrm>
            <a:off x="7487107" y="3791102"/>
            <a:ext cx="571500" cy="495605"/>
          </a:xfrm>
          <a:prstGeom prst="rect">
            <a:avLst/>
          </a:prstGeom>
          <a:solidFill>
            <a:srgbClr val="E2E8F0"/>
          </a:solidFill>
          <a:ln w="12700">
            <a:solidFill>
              <a:srgbClr val="FFFFFF">
                <a:alpha val="0"/>
              </a:srgbClr>
            </a:solidFill>
            <a:prstDash val="solid"/>
          </a:ln>
        </p:spPr>
      </p:sp>
      <p:sp>
        <p:nvSpPr>
          <p:cNvPr id="80" name="Shape 69"/>
          <p:cNvSpPr/>
          <p:nvPr/>
        </p:nvSpPr>
        <p:spPr>
          <a:xfrm>
            <a:off x="8115300" y="3791102"/>
            <a:ext cx="571500" cy="495605"/>
          </a:xfrm>
          <a:prstGeom prst="rect">
            <a:avLst/>
          </a:prstGeom>
          <a:solidFill>
            <a:srgbClr val="E2E8F0"/>
          </a:solidFill>
          <a:ln w="12700">
            <a:solidFill>
              <a:srgbClr val="FFFFFF">
                <a:alpha val="0"/>
              </a:srgbClr>
            </a:solidFill>
            <a:prstDash val="solid"/>
          </a:ln>
        </p:spPr>
      </p:sp>
      <p:sp>
        <p:nvSpPr>
          <p:cNvPr id="81" name="Shape 70"/>
          <p:cNvSpPr/>
          <p:nvPr/>
        </p:nvSpPr>
        <p:spPr>
          <a:xfrm>
            <a:off x="8744407" y="3791102"/>
            <a:ext cx="571500" cy="495605"/>
          </a:xfrm>
          <a:prstGeom prst="rect">
            <a:avLst/>
          </a:prstGeom>
          <a:solidFill>
            <a:srgbClr val="BFDBFE"/>
          </a:solidFill>
          <a:ln w="12700">
            <a:solidFill>
              <a:srgbClr val="FFFFFF">
                <a:alpha val="0"/>
              </a:srgbClr>
            </a:solidFill>
            <a:prstDash val="solid"/>
          </a:ln>
        </p:spPr>
      </p:sp>
      <p:sp>
        <p:nvSpPr>
          <p:cNvPr id="82" name="Shape 71"/>
          <p:cNvSpPr/>
          <p:nvPr/>
        </p:nvSpPr>
        <p:spPr>
          <a:xfrm>
            <a:off x="9372600" y="3791102"/>
            <a:ext cx="571500" cy="495605"/>
          </a:xfrm>
          <a:prstGeom prst="rect">
            <a:avLst/>
          </a:prstGeom>
          <a:solidFill>
            <a:srgbClr val="E2E8F0"/>
          </a:solidFill>
          <a:ln w="12700">
            <a:solidFill>
              <a:srgbClr val="FFFFFF">
                <a:alpha val="0"/>
              </a:srgbClr>
            </a:solidFill>
            <a:prstDash val="solid"/>
          </a:ln>
        </p:spPr>
      </p:sp>
      <p:sp>
        <p:nvSpPr>
          <p:cNvPr id="83" name="Shape 72"/>
          <p:cNvSpPr/>
          <p:nvPr/>
        </p:nvSpPr>
        <p:spPr>
          <a:xfrm>
            <a:off x="10001707" y="3791102"/>
            <a:ext cx="571500" cy="495605"/>
          </a:xfrm>
          <a:prstGeom prst="rect">
            <a:avLst/>
          </a:prstGeom>
          <a:solidFill>
            <a:srgbClr val="E2E8F0"/>
          </a:solidFill>
          <a:ln w="12700">
            <a:solidFill>
              <a:srgbClr val="FFFFFF">
                <a:alpha val="0"/>
              </a:srgbClr>
            </a:solidFill>
            <a:prstDash val="solid"/>
          </a:ln>
        </p:spPr>
      </p:sp>
      <p:sp>
        <p:nvSpPr>
          <p:cNvPr id="84" name="Shape 73"/>
          <p:cNvSpPr/>
          <p:nvPr/>
        </p:nvSpPr>
        <p:spPr>
          <a:xfrm>
            <a:off x="10629900" y="3791102"/>
            <a:ext cx="571500" cy="495605"/>
          </a:xfrm>
          <a:prstGeom prst="rect">
            <a:avLst/>
          </a:prstGeom>
          <a:solidFill>
            <a:srgbClr val="FED7AA"/>
          </a:solidFill>
          <a:ln w="12700">
            <a:solidFill>
              <a:srgbClr val="FFFFFF">
                <a:alpha val="0"/>
              </a:srgbClr>
            </a:solidFill>
            <a:prstDash val="solid"/>
          </a:ln>
        </p:spPr>
      </p:sp>
      <p:sp>
        <p:nvSpPr>
          <p:cNvPr id="85" name="Shape 74"/>
          <p:cNvSpPr/>
          <p:nvPr/>
        </p:nvSpPr>
        <p:spPr>
          <a:xfrm>
            <a:off x="6858000" y="4343400"/>
            <a:ext cx="571500" cy="495605"/>
          </a:xfrm>
          <a:prstGeom prst="rect">
            <a:avLst/>
          </a:prstGeom>
          <a:solidFill>
            <a:srgbClr val="E2E8F0"/>
          </a:solidFill>
          <a:ln w="12700">
            <a:solidFill>
              <a:srgbClr val="FFFFFF">
                <a:alpha val="0"/>
              </a:srgbClr>
            </a:solidFill>
            <a:prstDash val="solid"/>
          </a:ln>
        </p:spPr>
      </p:sp>
      <p:sp>
        <p:nvSpPr>
          <p:cNvPr id="86" name="Shape 75"/>
          <p:cNvSpPr/>
          <p:nvPr/>
        </p:nvSpPr>
        <p:spPr>
          <a:xfrm>
            <a:off x="7487107" y="4343400"/>
            <a:ext cx="571500" cy="495605"/>
          </a:xfrm>
          <a:prstGeom prst="rect">
            <a:avLst/>
          </a:prstGeom>
          <a:solidFill>
            <a:srgbClr val="E2E8F0"/>
          </a:solidFill>
          <a:ln w="12700">
            <a:solidFill>
              <a:srgbClr val="FFFFFF">
                <a:alpha val="0"/>
              </a:srgbClr>
            </a:solidFill>
            <a:prstDash val="solid"/>
          </a:ln>
        </p:spPr>
      </p:sp>
      <p:sp>
        <p:nvSpPr>
          <p:cNvPr id="87" name="Shape 76"/>
          <p:cNvSpPr/>
          <p:nvPr/>
        </p:nvSpPr>
        <p:spPr>
          <a:xfrm>
            <a:off x="8115300" y="4343400"/>
            <a:ext cx="571500" cy="495605"/>
          </a:xfrm>
          <a:prstGeom prst="rect">
            <a:avLst/>
          </a:prstGeom>
          <a:solidFill>
            <a:srgbClr val="BFDBFE"/>
          </a:solidFill>
          <a:ln w="12700">
            <a:solidFill>
              <a:srgbClr val="FFFFFF">
                <a:alpha val="0"/>
              </a:srgbClr>
            </a:solidFill>
            <a:prstDash val="solid"/>
          </a:ln>
        </p:spPr>
      </p:sp>
      <p:sp>
        <p:nvSpPr>
          <p:cNvPr id="88" name="Shape 77"/>
          <p:cNvSpPr/>
          <p:nvPr/>
        </p:nvSpPr>
        <p:spPr>
          <a:xfrm>
            <a:off x="8744407" y="4343400"/>
            <a:ext cx="571500" cy="495605"/>
          </a:xfrm>
          <a:prstGeom prst="rect">
            <a:avLst/>
          </a:prstGeom>
          <a:solidFill>
            <a:srgbClr val="BFDBFE"/>
          </a:solidFill>
          <a:ln w="12700">
            <a:solidFill>
              <a:srgbClr val="FFFFFF">
                <a:alpha val="0"/>
              </a:srgbClr>
            </a:solidFill>
            <a:prstDash val="solid"/>
          </a:ln>
        </p:spPr>
      </p:sp>
      <p:sp>
        <p:nvSpPr>
          <p:cNvPr id="89" name="Shape 78"/>
          <p:cNvSpPr/>
          <p:nvPr/>
        </p:nvSpPr>
        <p:spPr>
          <a:xfrm>
            <a:off x="9372600" y="4343400"/>
            <a:ext cx="571500" cy="495605"/>
          </a:xfrm>
          <a:prstGeom prst="rect">
            <a:avLst/>
          </a:prstGeom>
          <a:solidFill>
            <a:srgbClr val="BFDBFE"/>
          </a:solidFill>
          <a:ln w="12700">
            <a:solidFill>
              <a:srgbClr val="FFFFFF">
                <a:alpha val="0"/>
              </a:srgbClr>
            </a:solidFill>
            <a:prstDash val="solid"/>
          </a:ln>
        </p:spPr>
      </p:sp>
      <p:sp>
        <p:nvSpPr>
          <p:cNvPr id="90" name="Shape 79"/>
          <p:cNvSpPr/>
          <p:nvPr/>
        </p:nvSpPr>
        <p:spPr>
          <a:xfrm>
            <a:off x="10001707" y="4343400"/>
            <a:ext cx="571500" cy="495605"/>
          </a:xfrm>
          <a:prstGeom prst="rect">
            <a:avLst/>
          </a:prstGeom>
          <a:solidFill>
            <a:srgbClr val="E2E8F0"/>
          </a:solidFill>
          <a:ln w="12700">
            <a:solidFill>
              <a:srgbClr val="FFFFFF">
                <a:alpha val="0"/>
              </a:srgbClr>
            </a:solidFill>
            <a:prstDash val="solid"/>
          </a:ln>
        </p:spPr>
      </p:sp>
      <p:sp>
        <p:nvSpPr>
          <p:cNvPr id="91" name="Shape 80"/>
          <p:cNvSpPr/>
          <p:nvPr/>
        </p:nvSpPr>
        <p:spPr>
          <a:xfrm>
            <a:off x="10629900" y="4343400"/>
            <a:ext cx="571500" cy="495605"/>
          </a:xfrm>
          <a:prstGeom prst="rect">
            <a:avLst/>
          </a:prstGeom>
          <a:solidFill>
            <a:srgbClr val="E2E8F0"/>
          </a:solidFill>
          <a:ln w="12700">
            <a:solidFill>
              <a:srgbClr val="FFFFFF">
                <a:alpha val="0"/>
              </a:srgbClr>
            </a:solidFill>
            <a:prstDash val="solid"/>
          </a:ln>
        </p:spPr>
      </p:sp>
      <p:sp>
        <p:nvSpPr>
          <p:cNvPr id="92" name="Shape 81"/>
          <p:cNvSpPr/>
          <p:nvPr/>
        </p:nvSpPr>
        <p:spPr>
          <a:xfrm>
            <a:off x="6858000" y="4895698"/>
            <a:ext cx="571500" cy="495605"/>
          </a:xfrm>
          <a:prstGeom prst="rect">
            <a:avLst/>
          </a:prstGeom>
          <a:solidFill>
            <a:srgbClr val="E2E8F0"/>
          </a:solidFill>
          <a:ln w="12700">
            <a:solidFill>
              <a:srgbClr val="FFFFFF">
                <a:alpha val="0"/>
              </a:srgbClr>
            </a:solidFill>
            <a:prstDash val="solid"/>
          </a:ln>
        </p:spPr>
      </p:sp>
      <p:sp>
        <p:nvSpPr>
          <p:cNvPr id="93" name="Shape 82"/>
          <p:cNvSpPr/>
          <p:nvPr/>
        </p:nvSpPr>
        <p:spPr>
          <a:xfrm>
            <a:off x="7487107" y="4895698"/>
            <a:ext cx="571500" cy="495605"/>
          </a:xfrm>
          <a:prstGeom prst="rect">
            <a:avLst/>
          </a:prstGeom>
          <a:solidFill>
            <a:srgbClr val="BFDBFE"/>
          </a:solidFill>
          <a:ln w="12700">
            <a:solidFill>
              <a:srgbClr val="FFFFFF">
                <a:alpha val="0"/>
              </a:srgbClr>
            </a:solidFill>
            <a:prstDash val="solid"/>
          </a:ln>
        </p:spPr>
      </p:sp>
      <p:sp>
        <p:nvSpPr>
          <p:cNvPr id="94" name="Shape 83"/>
          <p:cNvSpPr/>
          <p:nvPr/>
        </p:nvSpPr>
        <p:spPr>
          <a:xfrm>
            <a:off x="8115300" y="4895698"/>
            <a:ext cx="571500" cy="495605"/>
          </a:xfrm>
          <a:prstGeom prst="rect">
            <a:avLst/>
          </a:prstGeom>
          <a:solidFill>
            <a:srgbClr val="BFDBFE"/>
          </a:solidFill>
          <a:ln w="12700">
            <a:solidFill>
              <a:srgbClr val="FFFFFF">
                <a:alpha val="0"/>
              </a:srgbClr>
            </a:solidFill>
            <a:prstDash val="solid"/>
          </a:ln>
        </p:spPr>
      </p:sp>
      <p:sp>
        <p:nvSpPr>
          <p:cNvPr id="95" name="Shape 84"/>
          <p:cNvSpPr/>
          <p:nvPr/>
        </p:nvSpPr>
        <p:spPr>
          <a:xfrm>
            <a:off x="8744407" y="4895698"/>
            <a:ext cx="571500" cy="495605"/>
          </a:xfrm>
          <a:prstGeom prst="rect">
            <a:avLst/>
          </a:prstGeom>
          <a:solidFill>
            <a:srgbClr val="2563EB"/>
          </a:solidFill>
          <a:ln w="12700">
            <a:solidFill>
              <a:srgbClr val="FFFFFF">
                <a:alpha val="0"/>
              </a:srgbClr>
            </a:solidFill>
            <a:prstDash val="solid"/>
          </a:ln>
        </p:spPr>
      </p:sp>
      <p:sp>
        <p:nvSpPr>
          <p:cNvPr id="96" name="Shape 85"/>
          <p:cNvSpPr/>
          <p:nvPr/>
        </p:nvSpPr>
        <p:spPr>
          <a:xfrm>
            <a:off x="9372600" y="4895698"/>
            <a:ext cx="571500" cy="495605"/>
          </a:xfrm>
          <a:prstGeom prst="rect">
            <a:avLst/>
          </a:prstGeom>
          <a:solidFill>
            <a:srgbClr val="BFDBFE"/>
          </a:solidFill>
          <a:ln w="12700">
            <a:solidFill>
              <a:srgbClr val="FFFFFF">
                <a:alpha val="0"/>
              </a:srgbClr>
            </a:solidFill>
            <a:prstDash val="solid"/>
          </a:ln>
        </p:spPr>
      </p:sp>
      <p:sp>
        <p:nvSpPr>
          <p:cNvPr id="97" name="Shape 86"/>
          <p:cNvSpPr/>
          <p:nvPr/>
        </p:nvSpPr>
        <p:spPr>
          <a:xfrm>
            <a:off x="10001707" y="4895698"/>
            <a:ext cx="571500" cy="495605"/>
          </a:xfrm>
          <a:prstGeom prst="rect">
            <a:avLst/>
          </a:prstGeom>
          <a:solidFill>
            <a:srgbClr val="BFDBFE"/>
          </a:solidFill>
          <a:ln w="12700">
            <a:solidFill>
              <a:srgbClr val="FFFFFF">
                <a:alpha val="0"/>
              </a:srgbClr>
            </a:solidFill>
            <a:prstDash val="solid"/>
          </a:ln>
        </p:spPr>
      </p:sp>
      <p:sp>
        <p:nvSpPr>
          <p:cNvPr id="98" name="Shape 87"/>
          <p:cNvSpPr/>
          <p:nvPr/>
        </p:nvSpPr>
        <p:spPr>
          <a:xfrm>
            <a:off x="10629900" y="4895698"/>
            <a:ext cx="571500" cy="495605"/>
          </a:xfrm>
          <a:prstGeom prst="rect">
            <a:avLst/>
          </a:prstGeom>
          <a:solidFill>
            <a:srgbClr val="E2E8F0"/>
          </a:solidFill>
          <a:ln w="12700">
            <a:solidFill>
              <a:srgbClr val="FFFFFF">
                <a:alpha val="0"/>
              </a:srgbClr>
            </a:solidFill>
            <a:prstDash val="solid"/>
          </a:ln>
        </p:spPr>
      </p:sp>
      <p:sp>
        <p:nvSpPr>
          <p:cNvPr id="99" name="Shape 88"/>
          <p:cNvSpPr/>
          <p:nvPr/>
        </p:nvSpPr>
        <p:spPr>
          <a:xfrm>
            <a:off x="6858000" y="5447995"/>
            <a:ext cx="571500" cy="495605"/>
          </a:xfrm>
          <a:prstGeom prst="rect">
            <a:avLst/>
          </a:prstGeom>
          <a:solidFill>
            <a:srgbClr val="E2E8F0"/>
          </a:solidFill>
          <a:ln w="12700">
            <a:solidFill>
              <a:srgbClr val="FFFFFF">
                <a:alpha val="0"/>
              </a:srgbClr>
            </a:solidFill>
            <a:prstDash val="solid"/>
          </a:ln>
        </p:spPr>
      </p:sp>
      <p:sp>
        <p:nvSpPr>
          <p:cNvPr id="100" name="Shape 89"/>
          <p:cNvSpPr/>
          <p:nvPr/>
        </p:nvSpPr>
        <p:spPr>
          <a:xfrm>
            <a:off x="7487107" y="5447995"/>
            <a:ext cx="571500" cy="495605"/>
          </a:xfrm>
          <a:prstGeom prst="rect">
            <a:avLst/>
          </a:prstGeom>
          <a:solidFill>
            <a:srgbClr val="E2E8F0"/>
          </a:solidFill>
          <a:ln w="12700">
            <a:solidFill>
              <a:srgbClr val="FFFFFF">
                <a:alpha val="0"/>
              </a:srgbClr>
            </a:solidFill>
            <a:prstDash val="solid"/>
          </a:ln>
        </p:spPr>
      </p:sp>
      <p:sp>
        <p:nvSpPr>
          <p:cNvPr id="101" name="Shape 90"/>
          <p:cNvSpPr/>
          <p:nvPr/>
        </p:nvSpPr>
        <p:spPr>
          <a:xfrm>
            <a:off x="8115300" y="5447995"/>
            <a:ext cx="571500" cy="495605"/>
          </a:xfrm>
          <a:prstGeom prst="rect">
            <a:avLst/>
          </a:prstGeom>
          <a:solidFill>
            <a:srgbClr val="BFDBFE"/>
          </a:solidFill>
          <a:ln w="12700">
            <a:solidFill>
              <a:srgbClr val="FFFFFF">
                <a:alpha val="0"/>
              </a:srgbClr>
            </a:solidFill>
            <a:prstDash val="solid"/>
          </a:ln>
        </p:spPr>
      </p:sp>
      <p:sp>
        <p:nvSpPr>
          <p:cNvPr id="102" name="Shape 91"/>
          <p:cNvSpPr/>
          <p:nvPr/>
        </p:nvSpPr>
        <p:spPr>
          <a:xfrm>
            <a:off x="8744407" y="5447995"/>
            <a:ext cx="571500" cy="495605"/>
          </a:xfrm>
          <a:prstGeom prst="rect">
            <a:avLst/>
          </a:prstGeom>
          <a:solidFill>
            <a:srgbClr val="BFDBFE"/>
          </a:solidFill>
          <a:ln w="12700">
            <a:solidFill>
              <a:srgbClr val="FFFFFF">
                <a:alpha val="0"/>
              </a:srgbClr>
            </a:solidFill>
            <a:prstDash val="solid"/>
          </a:ln>
        </p:spPr>
      </p:sp>
      <p:sp>
        <p:nvSpPr>
          <p:cNvPr id="103" name="Shape 92"/>
          <p:cNvSpPr/>
          <p:nvPr/>
        </p:nvSpPr>
        <p:spPr>
          <a:xfrm>
            <a:off x="9372600" y="5447995"/>
            <a:ext cx="571500" cy="495605"/>
          </a:xfrm>
          <a:prstGeom prst="rect">
            <a:avLst/>
          </a:prstGeom>
          <a:solidFill>
            <a:srgbClr val="BFDBFE"/>
          </a:solidFill>
          <a:ln w="12700">
            <a:solidFill>
              <a:srgbClr val="FFFFFF">
                <a:alpha val="0"/>
              </a:srgbClr>
            </a:solidFill>
            <a:prstDash val="solid"/>
          </a:ln>
        </p:spPr>
      </p:sp>
      <p:sp>
        <p:nvSpPr>
          <p:cNvPr id="104" name="Shape 93"/>
          <p:cNvSpPr/>
          <p:nvPr/>
        </p:nvSpPr>
        <p:spPr>
          <a:xfrm>
            <a:off x="10001707" y="5447995"/>
            <a:ext cx="571500" cy="495605"/>
          </a:xfrm>
          <a:prstGeom prst="rect">
            <a:avLst/>
          </a:prstGeom>
          <a:solidFill>
            <a:srgbClr val="E2E8F0"/>
          </a:solidFill>
          <a:ln w="12700">
            <a:solidFill>
              <a:srgbClr val="FFFFFF">
                <a:alpha val="0"/>
              </a:srgbClr>
            </a:solidFill>
            <a:prstDash val="solid"/>
          </a:ln>
        </p:spPr>
      </p:sp>
      <p:sp>
        <p:nvSpPr>
          <p:cNvPr id="105" name="Shape 94"/>
          <p:cNvSpPr/>
          <p:nvPr/>
        </p:nvSpPr>
        <p:spPr>
          <a:xfrm>
            <a:off x="10629900" y="5447995"/>
            <a:ext cx="571500" cy="495605"/>
          </a:xfrm>
          <a:prstGeom prst="rect">
            <a:avLst/>
          </a:prstGeom>
          <a:solidFill>
            <a:srgbClr val="E2E8F0"/>
          </a:solidFill>
          <a:ln w="12700">
            <a:solidFill>
              <a:srgbClr val="FFFFFF">
                <a:alpha val="0"/>
              </a:srgbClr>
            </a:solidFill>
            <a:prstDash val="solid"/>
          </a:ln>
        </p:spPr>
      </p:sp>
      <p:sp>
        <p:nvSpPr>
          <p:cNvPr id="106" name="Shape 95"/>
          <p:cNvSpPr/>
          <p:nvPr/>
        </p:nvSpPr>
        <p:spPr>
          <a:xfrm>
            <a:off x="6858000" y="6001207"/>
            <a:ext cx="571500" cy="495605"/>
          </a:xfrm>
          <a:prstGeom prst="rect">
            <a:avLst/>
          </a:prstGeom>
          <a:solidFill>
            <a:srgbClr val="FED7AA"/>
          </a:solidFill>
          <a:ln w="12700">
            <a:solidFill>
              <a:srgbClr val="FFFFFF">
                <a:alpha val="0"/>
              </a:srgbClr>
            </a:solidFill>
            <a:prstDash val="solid"/>
          </a:ln>
        </p:spPr>
      </p:sp>
      <p:sp>
        <p:nvSpPr>
          <p:cNvPr id="107" name="Shape 96"/>
          <p:cNvSpPr/>
          <p:nvPr/>
        </p:nvSpPr>
        <p:spPr>
          <a:xfrm>
            <a:off x="7487107" y="6001207"/>
            <a:ext cx="571500" cy="495605"/>
          </a:xfrm>
          <a:prstGeom prst="rect">
            <a:avLst/>
          </a:prstGeom>
          <a:solidFill>
            <a:srgbClr val="E2E8F0"/>
          </a:solidFill>
          <a:ln w="12700">
            <a:solidFill>
              <a:srgbClr val="FFFFFF">
                <a:alpha val="0"/>
              </a:srgbClr>
            </a:solidFill>
            <a:prstDash val="solid"/>
          </a:ln>
        </p:spPr>
      </p:sp>
      <p:sp>
        <p:nvSpPr>
          <p:cNvPr id="108" name="Shape 97"/>
          <p:cNvSpPr/>
          <p:nvPr/>
        </p:nvSpPr>
        <p:spPr>
          <a:xfrm>
            <a:off x="8115300" y="6001207"/>
            <a:ext cx="571500" cy="495605"/>
          </a:xfrm>
          <a:prstGeom prst="rect">
            <a:avLst/>
          </a:prstGeom>
          <a:solidFill>
            <a:srgbClr val="E2E8F0"/>
          </a:solidFill>
          <a:ln w="12700">
            <a:solidFill>
              <a:srgbClr val="FFFFFF">
                <a:alpha val="0"/>
              </a:srgbClr>
            </a:solidFill>
            <a:prstDash val="solid"/>
          </a:ln>
        </p:spPr>
      </p:sp>
      <p:sp>
        <p:nvSpPr>
          <p:cNvPr id="109" name="Shape 98"/>
          <p:cNvSpPr/>
          <p:nvPr/>
        </p:nvSpPr>
        <p:spPr>
          <a:xfrm>
            <a:off x="8744407" y="6001207"/>
            <a:ext cx="571500" cy="495605"/>
          </a:xfrm>
          <a:prstGeom prst="rect">
            <a:avLst/>
          </a:prstGeom>
          <a:solidFill>
            <a:srgbClr val="BFDBFE"/>
          </a:solidFill>
          <a:ln w="12700">
            <a:solidFill>
              <a:srgbClr val="FFFFFF">
                <a:alpha val="0"/>
              </a:srgbClr>
            </a:solidFill>
            <a:prstDash val="solid"/>
          </a:ln>
        </p:spPr>
      </p:sp>
      <p:sp>
        <p:nvSpPr>
          <p:cNvPr id="110" name="Shape 99"/>
          <p:cNvSpPr/>
          <p:nvPr/>
        </p:nvSpPr>
        <p:spPr>
          <a:xfrm>
            <a:off x="9372600" y="6001207"/>
            <a:ext cx="571500" cy="495605"/>
          </a:xfrm>
          <a:prstGeom prst="rect">
            <a:avLst/>
          </a:prstGeom>
          <a:solidFill>
            <a:srgbClr val="E2E8F0"/>
          </a:solidFill>
          <a:ln w="12700">
            <a:solidFill>
              <a:srgbClr val="FFFFFF">
                <a:alpha val="0"/>
              </a:srgbClr>
            </a:solidFill>
            <a:prstDash val="solid"/>
          </a:ln>
        </p:spPr>
      </p:sp>
      <p:sp>
        <p:nvSpPr>
          <p:cNvPr id="111" name="Shape 100"/>
          <p:cNvSpPr/>
          <p:nvPr/>
        </p:nvSpPr>
        <p:spPr>
          <a:xfrm>
            <a:off x="10001707" y="6001207"/>
            <a:ext cx="571500" cy="495605"/>
          </a:xfrm>
          <a:prstGeom prst="rect">
            <a:avLst/>
          </a:prstGeom>
          <a:solidFill>
            <a:srgbClr val="E2E8F0"/>
          </a:solidFill>
          <a:ln w="12700">
            <a:solidFill>
              <a:srgbClr val="FFFFFF">
                <a:alpha val="0"/>
              </a:srgbClr>
            </a:solidFill>
            <a:prstDash val="solid"/>
          </a:ln>
        </p:spPr>
      </p:sp>
      <p:sp>
        <p:nvSpPr>
          <p:cNvPr id="112" name="Shape 101"/>
          <p:cNvSpPr/>
          <p:nvPr/>
        </p:nvSpPr>
        <p:spPr>
          <a:xfrm>
            <a:off x="10629900" y="6001207"/>
            <a:ext cx="571500" cy="495605"/>
          </a:xfrm>
          <a:prstGeom prst="rect">
            <a:avLst/>
          </a:prstGeom>
          <a:solidFill>
            <a:srgbClr val="FED7AA"/>
          </a:solidFill>
          <a:ln w="12700">
            <a:solidFill>
              <a:srgbClr val="FFFFFF">
                <a:alpha val="0"/>
              </a:srgbClr>
            </a:solidFill>
            <a:prstDash val="solid"/>
          </a:ln>
        </p:spPr>
      </p:sp>
      <p:sp>
        <p:nvSpPr>
          <p:cNvPr id="113" name="Shape 102"/>
          <p:cNvSpPr/>
          <p:nvPr/>
        </p:nvSpPr>
        <p:spPr>
          <a:xfrm>
            <a:off x="6858000" y="6553505"/>
            <a:ext cx="571500" cy="495605"/>
          </a:xfrm>
          <a:prstGeom prst="rect">
            <a:avLst/>
          </a:prstGeom>
          <a:solidFill>
            <a:srgbClr val="FED7AA"/>
          </a:solidFill>
          <a:ln w="12700">
            <a:solidFill>
              <a:srgbClr val="FFFFFF">
                <a:alpha val="0"/>
              </a:srgbClr>
            </a:solidFill>
            <a:prstDash val="solid"/>
          </a:ln>
        </p:spPr>
      </p:sp>
      <p:sp>
        <p:nvSpPr>
          <p:cNvPr id="114" name="Shape 103"/>
          <p:cNvSpPr/>
          <p:nvPr/>
        </p:nvSpPr>
        <p:spPr>
          <a:xfrm>
            <a:off x="7487107" y="6553505"/>
            <a:ext cx="571500" cy="495605"/>
          </a:xfrm>
          <a:prstGeom prst="rect">
            <a:avLst/>
          </a:prstGeom>
          <a:solidFill>
            <a:srgbClr val="FED7AA"/>
          </a:solidFill>
          <a:ln w="12700">
            <a:solidFill>
              <a:srgbClr val="FFFFFF">
                <a:alpha val="0"/>
              </a:srgbClr>
            </a:solidFill>
            <a:prstDash val="solid"/>
          </a:ln>
        </p:spPr>
      </p:sp>
      <p:sp>
        <p:nvSpPr>
          <p:cNvPr id="115" name="Shape 104"/>
          <p:cNvSpPr/>
          <p:nvPr/>
        </p:nvSpPr>
        <p:spPr>
          <a:xfrm>
            <a:off x="8115300" y="6553505"/>
            <a:ext cx="571500" cy="495605"/>
          </a:xfrm>
          <a:prstGeom prst="rect">
            <a:avLst/>
          </a:prstGeom>
          <a:solidFill>
            <a:srgbClr val="E2E8F0"/>
          </a:solidFill>
          <a:ln w="12700">
            <a:solidFill>
              <a:srgbClr val="FFFFFF">
                <a:alpha val="0"/>
              </a:srgbClr>
            </a:solidFill>
            <a:prstDash val="solid"/>
          </a:ln>
        </p:spPr>
      </p:sp>
      <p:sp>
        <p:nvSpPr>
          <p:cNvPr id="116" name="Shape 105"/>
          <p:cNvSpPr/>
          <p:nvPr/>
        </p:nvSpPr>
        <p:spPr>
          <a:xfrm>
            <a:off x="8744407" y="6553505"/>
            <a:ext cx="571500" cy="495605"/>
          </a:xfrm>
          <a:prstGeom prst="rect">
            <a:avLst/>
          </a:prstGeom>
          <a:solidFill>
            <a:srgbClr val="E2E8F0"/>
          </a:solidFill>
          <a:ln w="12700">
            <a:solidFill>
              <a:srgbClr val="FFFFFF">
                <a:alpha val="0"/>
              </a:srgbClr>
            </a:solidFill>
            <a:prstDash val="solid"/>
          </a:ln>
        </p:spPr>
      </p:sp>
      <p:sp>
        <p:nvSpPr>
          <p:cNvPr id="117" name="Shape 106"/>
          <p:cNvSpPr/>
          <p:nvPr/>
        </p:nvSpPr>
        <p:spPr>
          <a:xfrm>
            <a:off x="9372600" y="6553505"/>
            <a:ext cx="571500" cy="495605"/>
          </a:xfrm>
          <a:prstGeom prst="rect">
            <a:avLst/>
          </a:prstGeom>
          <a:solidFill>
            <a:srgbClr val="E2E8F0"/>
          </a:solidFill>
          <a:ln w="12700">
            <a:solidFill>
              <a:srgbClr val="FFFFFF">
                <a:alpha val="0"/>
              </a:srgbClr>
            </a:solidFill>
            <a:prstDash val="solid"/>
          </a:ln>
        </p:spPr>
      </p:sp>
      <p:sp>
        <p:nvSpPr>
          <p:cNvPr id="118" name="Shape 107"/>
          <p:cNvSpPr/>
          <p:nvPr/>
        </p:nvSpPr>
        <p:spPr>
          <a:xfrm>
            <a:off x="10001707" y="6553505"/>
            <a:ext cx="571500" cy="495605"/>
          </a:xfrm>
          <a:prstGeom prst="rect">
            <a:avLst/>
          </a:prstGeom>
          <a:solidFill>
            <a:srgbClr val="FED7AA"/>
          </a:solidFill>
          <a:ln w="12700">
            <a:solidFill>
              <a:srgbClr val="FFFFFF">
                <a:alpha val="0"/>
              </a:srgbClr>
            </a:solidFill>
            <a:prstDash val="solid"/>
          </a:ln>
        </p:spPr>
      </p:sp>
      <p:sp>
        <p:nvSpPr>
          <p:cNvPr id="119" name="Shape 108"/>
          <p:cNvSpPr/>
          <p:nvPr/>
        </p:nvSpPr>
        <p:spPr>
          <a:xfrm>
            <a:off x="10629900" y="6553505"/>
            <a:ext cx="571500" cy="495605"/>
          </a:xfrm>
          <a:prstGeom prst="rect">
            <a:avLst/>
          </a:prstGeom>
          <a:solidFill>
            <a:srgbClr val="FB923C"/>
          </a:solidFill>
          <a:ln w="12700">
            <a:solidFill>
              <a:srgbClr val="FFFFFF">
                <a:alpha val="0"/>
              </a:srgbClr>
            </a:solidFill>
            <a:prstDash val="solid"/>
          </a:ln>
        </p:spPr>
      </p:sp>
      <p:sp>
        <p:nvSpPr>
          <p:cNvPr id="120" name="Shape 109"/>
          <p:cNvSpPr/>
          <p:nvPr/>
        </p:nvSpPr>
        <p:spPr>
          <a:xfrm>
            <a:off x="12382805" y="3238805"/>
            <a:ext cx="571500" cy="495605"/>
          </a:xfrm>
          <a:prstGeom prst="rect">
            <a:avLst/>
          </a:prstGeom>
          <a:solidFill>
            <a:srgbClr val="E2E8F0"/>
          </a:solidFill>
          <a:ln w="12700">
            <a:solidFill>
              <a:srgbClr val="FFFFFF">
                <a:alpha val="0"/>
              </a:srgbClr>
            </a:solidFill>
            <a:prstDash val="solid"/>
          </a:ln>
        </p:spPr>
      </p:sp>
      <p:sp>
        <p:nvSpPr>
          <p:cNvPr id="121" name="Shape 110"/>
          <p:cNvSpPr/>
          <p:nvPr/>
        </p:nvSpPr>
        <p:spPr>
          <a:xfrm>
            <a:off x="13010998" y="3238805"/>
            <a:ext cx="571500" cy="495605"/>
          </a:xfrm>
          <a:prstGeom prst="rect">
            <a:avLst/>
          </a:prstGeom>
          <a:solidFill>
            <a:srgbClr val="E2E8F0"/>
          </a:solidFill>
          <a:ln w="12700">
            <a:solidFill>
              <a:srgbClr val="FFFFFF">
                <a:alpha val="0"/>
              </a:srgbClr>
            </a:solidFill>
            <a:prstDash val="solid"/>
          </a:ln>
        </p:spPr>
      </p:sp>
      <p:sp>
        <p:nvSpPr>
          <p:cNvPr id="122" name="Shape 111"/>
          <p:cNvSpPr/>
          <p:nvPr/>
        </p:nvSpPr>
        <p:spPr>
          <a:xfrm>
            <a:off x="13640105" y="3238805"/>
            <a:ext cx="571500" cy="495605"/>
          </a:xfrm>
          <a:prstGeom prst="rect">
            <a:avLst/>
          </a:prstGeom>
          <a:solidFill>
            <a:srgbClr val="BFDBFE"/>
          </a:solidFill>
          <a:ln w="12700">
            <a:solidFill>
              <a:srgbClr val="FFFFFF">
                <a:alpha val="0"/>
              </a:srgbClr>
            </a:solidFill>
            <a:prstDash val="solid"/>
          </a:ln>
        </p:spPr>
      </p:sp>
      <p:sp>
        <p:nvSpPr>
          <p:cNvPr id="123" name="Shape 112"/>
          <p:cNvSpPr/>
          <p:nvPr/>
        </p:nvSpPr>
        <p:spPr>
          <a:xfrm>
            <a:off x="14268298" y="3238805"/>
            <a:ext cx="571500" cy="495605"/>
          </a:xfrm>
          <a:prstGeom prst="rect">
            <a:avLst/>
          </a:prstGeom>
          <a:solidFill>
            <a:srgbClr val="BFDBFE"/>
          </a:solidFill>
          <a:ln w="12700">
            <a:solidFill>
              <a:srgbClr val="FFFFFF">
                <a:alpha val="0"/>
              </a:srgbClr>
            </a:solidFill>
            <a:prstDash val="solid"/>
          </a:ln>
        </p:spPr>
      </p:sp>
      <p:sp>
        <p:nvSpPr>
          <p:cNvPr id="124" name="Shape 113"/>
          <p:cNvSpPr/>
          <p:nvPr/>
        </p:nvSpPr>
        <p:spPr>
          <a:xfrm>
            <a:off x="14897405" y="3238805"/>
            <a:ext cx="571500" cy="495605"/>
          </a:xfrm>
          <a:prstGeom prst="rect">
            <a:avLst/>
          </a:prstGeom>
          <a:solidFill>
            <a:srgbClr val="BFDBFE"/>
          </a:solidFill>
          <a:ln w="12700">
            <a:solidFill>
              <a:srgbClr val="FFFFFF">
                <a:alpha val="0"/>
              </a:srgbClr>
            </a:solidFill>
            <a:prstDash val="solid"/>
          </a:ln>
        </p:spPr>
      </p:sp>
      <p:sp>
        <p:nvSpPr>
          <p:cNvPr id="125" name="Shape 114"/>
          <p:cNvSpPr/>
          <p:nvPr/>
        </p:nvSpPr>
        <p:spPr>
          <a:xfrm>
            <a:off x="15525598" y="3238805"/>
            <a:ext cx="571500" cy="495605"/>
          </a:xfrm>
          <a:prstGeom prst="rect">
            <a:avLst/>
          </a:prstGeom>
          <a:solidFill>
            <a:srgbClr val="E2E8F0"/>
          </a:solidFill>
          <a:ln w="12700">
            <a:solidFill>
              <a:srgbClr val="FFFFFF">
                <a:alpha val="0"/>
              </a:srgbClr>
            </a:solidFill>
            <a:prstDash val="solid"/>
          </a:ln>
        </p:spPr>
      </p:sp>
      <p:sp>
        <p:nvSpPr>
          <p:cNvPr id="126" name="Shape 115"/>
          <p:cNvSpPr/>
          <p:nvPr/>
        </p:nvSpPr>
        <p:spPr>
          <a:xfrm>
            <a:off x="16154705" y="3238805"/>
            <a:ext cx="571500" cy="495605"/>
          </a:xfrm>
          <a:prstGeom prst="rect">
            <a:avLst/>
          </a:prstGeom>
          <a:solidFill>
            <a:srgbClr val="E2E8F0"/>
          </a:solidFill>
          <a:ln w="12700">
            <a:solidFill>
              <a:srgbClr val="FFFFFF">
                <a:alpha val="0"/>
              </a:srgbClr>
            </a:solidFill>
            <a:prstDash val="solid"/>
          </a:ln>
        </p:spPr>
      </p:sp>
      <p:sp>
        <p:nvSpPr>
          <p:cNvPr id="127" name="Shape 116"/>
          <p:cNvSpPr/>
          <p:nvPr/>
        </p:nvSpPr>
        <p:spPr>
          <a:xfrm>
            <a:off x="12382805" y="3791102"/>
            <a:ext cx="571500" cy="495605"/>
          </a:xfrm>
          <a:prstGeom prst="rect">
            <a:avLst/>
          </a:prstGeom>
          <a:solidFill>
            <a:srgbClr val="E2E8F0"/>
          </a:solidFill>
          <a:ln w="12700">
            <a:solidFill>
              <a:srgbClr val="FFFFFF">
                <a:alpha val="0"/>
              </a:srgbClr>
            </a:solidFill>
            <a:prstDash val="solid"/>
          </a:ln>
        </p:spPr>
      </p:sp>
      <p:sp>
        <p:nvSpPr>
          <p:cNvPr id="128" name="Shape 117"/>
          <p:cNvSpPr/>
          <p:nvPr/>
        </p:nvSpPr>
        <p:spPr>
          <a:xfrm>
            <a:off x="13010998" y="3791102"/>
            <a:ext cx="571500" cy="495605"/>
          </a:xfrm>
          <a:prstGeom prst="rect">
            <a:avLst/>
          </a:prstGeom>
          <a:solidFill>
            <a:srgbClr val="BFDBFE"/>
          </a:solidFill>
          <a:ln w="12700">
            <a:solidFill>
              <a:srgbClr val="FFFFFF">
                <a:alpha val="0"/>
              </a:srgbClr>
            </a:solidFill>
            <a:prstDash val="solid"/>
          </a:ln>
        </p:spPr>
      </p:sp>
      <p:sp>
        <p:nvSpPr>
          <p:cNvPr id="129" name="Shape 118"/>
          <p:cNvSpPr/>
          <p:nvPr/>
        </p:nvSpPr>
        <p:spPr>
          <a:xfrm>
            <a:off x="13640105" y="3791102"/>
            <a:ext cx="571500" cy="495605"/>
          </a:xfrm>
          <a:prstGeom prst="rect">
            <a:avLst/>
          </a:prstGeom>
          <a:solidFill>
            <a:srgbClr val="BFDBFE"/>
          </a:solidFill>
          <a:ln w="12700">
            <a:solidFill>
              <a:srgbClr val="FFFFFF">
                <a:alpha val="0"/>
              </a:srgbClr>
            </a:solidFill>
            <a:prstDash val="solid"/>
          </a:ln>
        </p:spPr>
      </p:sp>
      <p:sp>
        <p:nvSpPr>
          <p:cNvPr id="130" name="Shape 119"/>
          <p:cNvSpPr/>
          <p:nvPr/>
        </p:nvSpPr>
        <p:spPr>
          <a:xfrm>
            <a:off x="14268298" y="3791102"/>
            <a:ext cx="571500" cy="495605"/>
          </a:xfrm>
          <a:prstGeom prst="rect">
            <a:avLst/>
          </a:prstGeom>
          <a:solidFill>
            <a:srgbClr val="93C5FD"/>
          </a:solidFill>
          <a:ln w="12700">
            <a:solidFill>
              <a:srgbClr val="FFFFFF">
                <a:alpha val="0"/>
              </a:srgbClr>
            </a:solidFill>
            <a:prstDash val="solid"/>
          </a:ln>
        </p:spPr>
      </p:sp>
      <p:sp>
        <p:nvSpPr>
          <p:cNvPr id="131" name="Shape 120"/>
          <p:cNvSpPr/>
          <p:nvPr/>
        </p:nvSpPr>
        <p:spPr>
          <a:xfrm>
            <a:off x="14897405" y="3791102"/>
            <a:ext cx="571500" cy="495605"/>
          </a:xfrm>
          <a:prstGeom prst="rect">
            <a:avLst/>
          </a:prstGeom>
          <a:solidFill>
            <a:srgbClr val="BFDBFE"/>
          </a:solidFill>
          <a:ln w="12700">
            <a:solidFill>
              <a:srgbClr val="FFFFFF">
                <a:alpha val="0"/>
              </a:srgbClr>
            </a:solidFill>
            <a:prstDash val="solid"/>
          </a:ln>
        </p:spPr>
      </p:sp>
      <p:sp>
        <p:nvSpPr>
          <p:cNvPr id="132" name="Shape 121"/>
          <p:cNvSpPr/>
          <p:nvPr/>
        </p:nvSpPr>
        <p:spPr>
          <a:xfrm>
            <a:off x="15525598" y="3791102"/>
            <a:ext cx="571500" cy="495605"/>
          </a:xfrm>
          <a:prstGeom prst="rect">
            <a:avLst/>
          </a:prstGeom>
          <a:solidFill>
            <a:srgbClr val="BFDBFE"/>
          </a:solidFill>
          <a:ln w="12700">
            <a:solidFill>
              <a:srgbClr val="FFFFFF">
                <a:alpha val="0"/>
              </a:srgbClr>
            </a:solidFill>
            <a:prstDash val="solid"/>
          </a:ln>
        </p:spPr>
      </p:sp>
      <p:sp>
        <p:nvSpPr>
          <p:cNvPr id="133" name="Shape 122"/>
          <p:cNvSpPr/>
          <p:nvPr/>
        </p:nvSpPr>
        <p:spPr>
          <a:xfrm>
            <a:off x="16154705" y="3791102"/>
            <a:ext cx="571500" cy="495605"/>
          </a:xfrm>
          <a:prstGeom prst="rect">
            <a:avLst/>
          </a:prstGeom>
          <a:solidFill>
            <a:srgbClr val="E2E8F0"/>
          </a:solidFill>
          <a:ln w="12700">
            <a:solidFill>
              <a:srgbClr val="FFFFFF">
                <a:alpha val="0"/>
              </a:srgbClr>
            </a:solidFill>
            <a:prstDash val="solid"/>
          </a:ln>
        </p:spPr>
      </p:sp>
      <p:sp>
        <p:nvSpPr>
          <p:cNvPr id="134" name="Shape 123"/>
          <p:cNvSpPr/>
          <p:nvPr/>
        </p:nvSpPr>
        <p:spPr>
          <a:xfrm>
            <a:off x="12382805" y="4343400"/>
            <a:ext cx="571500" cy="495605"/>
          </a:xfrm>
          <a:prstGeom prst="rect">
            <a:avLst/>
          </a:prstGeom>
          <a:solidFill>
            <a:srgbClr val="BFDBFE"/>
          </a:solidFill>
          <a:ln w="12700">
            <a:solidFill>
              <a:srgbClr val="FFFFFF">
                <a:alpha val="0"/>
              </a:srgbClr>
            </a:solidFill>
            <a:prstDash val="solid"/>
          </a:ln>
        </p:spPr>
      </p:sp>
      <p:sp>
        <p:nvSpPr>
          <p:cNvPr id="135" name="Shape 124"/>
          <p:cNvSpPr/>
          <p:nvPr/>
        </p:nvSpPr>
        <p:spPr>
          <a:xfrm>
            <a:off x="13010998" y="4343400"/>
            <a:ext cx="571500" cy="495605"/>
          </a:xfrm>
          <a:prstGeom prst="rect">
            <a:avLst/>
          </a:prstGeom>
          <a:solidFill>
            <a:srgbClr val="BFDBFE"/>
          </a:solidFill>
          <a:ln w="12700">
            <a:solidFill>
              <a:srgbClr val="FFFFFF">
                <a:alpha val="0"/>
              </a:srgbClr>
            </a:solidFill>
            <a:prstDash val="solid"/>
          </a:ln>
        </p:spPr>
      </p:sp>
      <p:sp>
        <p:nvSpPr>
          <p:cNvPr id="136" name="Shape 125"/>
          <p:cNvSpPr/>
          <p:nvPr/>
        </p:nvSpPr>
        <p:spPr>
          <a:xfrm>
            <a:off x="13640105" y="4343400"/>
            <a:ext cx="571500" cy="495605"/>
          </a:xfrm>
          <a:prstGeom prst="rect">
            <a:avLst/>
          </a:prstGeom>
          <a:solidFill>
            <a:srgbClr val="93C5FD"/>
          </a:solidFill>
          <a:ln w="12700">
            <a:solidFill>
              <a:srgbClr val="FFFFFF">
                <a:alpha val="0"/>
              </a:srgbClr>
            </a:solidFill>
            <a:prstDash val="solid"/>
          </a:ln>
        </p:spPr>
      </p:sp>
      <p:sp>
        <p:nvSpPr>
          <p:cNvPr id="137" name="Shape 126"/>
          <p:cNvSpPr/>
          <p:nvPr/>
        </p:nvSpPr>
        <p:spPr>
          <a:xfrm>
            <a:off x="14268298" y="4343400"/>
            <a:ext cx="571500" cy="495605"/>
          </a:xfrm>
          <a:prstGeom prst="rect">
            <a:avLst/>
          </a:prstGeom>
          <a:solidFill>
            <a:srgbClr val="60A5FA"/>
          </a:solidFill>
          <a:ln w="12700">
            <a:solidFill>
              <a:srgbClr val="FFFFFF">
                <a:alpha val="0"/>
              </a:srgbClr>
            </a:solidFill>
            <a:prstDash val="solid"/>
          </a:ln>
        </p:spPr>
      </p:sp>
      <p:sp>
        <p:nvSpPr>
          <p:cNvPr id="138" name="Shape 127"/>
          <p:cNvSpPr/>
          <p:nvPr/>
        </p:nvSpPr>
        <p:spPr>
          <a:xfrm>
            <a:off x="14897405" y="4343400"/>
            <a:ext cx="571500" cy="495605"/>
          </a:xfrm>
          <a:prstGeom prst="rect">
            <a:avLst/>
          </a:prstGeom>
          <a:solidFill>
            <a:srgbClr val="60A5FA"/>
          </a:solidFill>
          <a:ln w="12700">
            <a:solidFill>
              <a:srgbClr val="FFFFFF">
                <a:alpha val="0"/>
              </a:srgbClr>
            </a:solidFill>
            <a:prstDash val="solid"/>
          </a:ln>
        </p:spPr>
      </p:sp>
      <p:sp>
        <p:nvSpPr>
          <p:cNvPr id="139" name="Shape 128"/>
          <p:cNvSpPr/>
          <p:nvPr/>
        </p:nvSpPr>
        <p:spPr>
          <a:xfrm>
            <a:off x="15525598" y="4343400"/>
            <a:ext cx="571500" cy="495605"/>
          </a:xfrm>
          <a:prstGeom prst="rect">
            <a:avLst/>
          </a:prstGeom>
          <a:solidFill>
            <a:srgbClr val="93C5FD"/>
          </a:solidFill>
          <a:ln w="12700">
            <a:solidFill>
              <a:srgbClr val="FFFFFF">
                <a:alpha val="0"/>
              </a:srgbClr>
            </a:solidFill>
            <a:prstDash val="solid"/>
          </a:ln>
        </p:spPr>
      </p:sp>
      <p:sp>
        <p:nvSpPr>
          <p:cNvPr id="140" name="Shape 129"/>
          <p:cNvSpPr/>
          <p:nvPr/>
        </p:nvSpPr>
        <p:spPr>
          <a:xfrm>
            <a:off x="16154705" y="4343400"/>
            <a:ext cx="571500" cy="495605"/>
          </a:xfrm>
          <a:prstGeom prst="rect">
            <a:avLst/>
          </a:prstGeom>
          <a:solidFill>
            <a:srgbClr val="BFDBFE"/>
          </a:solidFill>
          <a:ln w="12700">
            <a:solidFill>
              <a:srgbClr val="FFFFFF">
                <a:alpha val="0"/>
              </a:srgbClr>
            </a:solidFill>
            <a:prstDash val="solid"/>
          </a:ln>
        </p:spPr>
      </p:sp>
      <p:sp>
        <p:nvSpPr>
          <p:cNvPr id="141" name="Shape 130"/>
          <p:cNvSpPr/>
          <p:nvPr/>
        </p:nvSpPr>
        <p:spPr>
          <a:xfrm>
            <a:off x="12382805" y="4895698"/>
            <a:ext cx="571500" cy="495605"/>
          </a:xfrm>
          <a:prstGeom prst="rect">
            <a:avLst/>
          </a:prstGeom>
          <a:solidFill>
            <a:srgbClr val="BFDBFE"/>
          </a:solidFill>
          <a:ln w="12700">
            <a:solidFill>
              <a:srgbClr val="FFFFFF">
                <a:alpha val="0"/>
              </a:srgbClr>
            </a:solidFill>
            <a:prstDash val="solid"/>
          </a:ln>
        </p:spPr>
      </p:sp>
      <p:sp>
        <p:nvSpPr>
          <p:cNvPr id="142" name="Shape 131"/>
          <p:cNvSpPr/>
          <p:nvPr/>
        </p:nvSpPr>
        <p:spPr>
          <a:xfrm>
            <a:off x="13010998" y="4895698"/>
            <a:ext cx="571500" cy="495605"/>
          </a:xfrm>
          <a:prstGeom prst="rect">
            <a:avLst/>
          </a:prstGeom>
          <a:solidFill>
            <a:srgbClr val="93C5FD"/>
          </a:solidFill>
          <a:ln w="12700">
            <a:solidFill>
              <a:srgbClr val="FFFFFF">
                <a:alpha val="0"/>
              </a:srgbClr>
            </a:solidFill>
            <a:prstDash val="solid"/>
          </a:ln>
        </p:spPr>
      </p:sp>
      <p:sp>
        <p:nvSpPr>
          <p:cNvPr id="143" name="Shape 132"/>
          <p:cNvSpPr/>
          <p:nvPr/>
        </p:nvSpPr>
        <p:spPr>
          <a:xfrm>
            <a:off x="13640105" y="4895698"/>
            <a:ext cx="571500" cy="495605"/>
          </a:xfrm>
          <a:prstGeom prst="rect">
            <a:avLst/>
          </a:prstGeom>
          <a:solidFill>
            <a:srgbClr val="60A5FA"/>
          </a:solidFill>
          <a:ln w="12700">
            <a:solidFill>
              <a:srgbClr val="FFFFFF">
                <a:alpha val="0"/>
              </a:srgbClr>
            </a:solidFill>
            <a:prstDash val="solid"/>
          </a:ln>
        </p:spPr>
      </p:sp>
      <p:sp>
        <p:nvSpPr>
          <p:cNvPr id="144" name="Shape 133"/>
          <p:cNvSpPr/>
          <p:nvPr/>
        </p:nvSpPr>
        <p:spPr>
          <a:xfrm>
            <a:off x="14268298" y="4895698"/>
            <a:ext cx="571500" cy="495605"/>
          </a:xfrm>
          <a:prstGeom prst="rect">
            <a:avLst/>
          </a:prstGeom>
          <a:solidFill>
            <a:srgbClr val="1E40AF"/>
          </a:solidFill>
          <a:ln w="12700">
            <a:solidFill>
              <a:srgbClr val="FFFFFF">
                <a:alpha val="0"/>
              </a:srgbClr>
            </a:solidFill>
            <a:prstDash val="solid"/>
          </a:ln>
        </p:spPr>
      </p:sp>
      <p:sp>
        <p:nvSpPr>
          <p:cNvPr id="145" name="Shape 134"/>
          <p:cNvSpPr/>
          <p:nvPr/>
        </p:nvSpPr>
        <p:spPr>
          <a:xfrm>
            <a:off x="14897405" y="4895698"/>
            <a:ext cx="571500" cy="495605"/>
          </a:xfrm>
          <a:prstGeom prst="rect">
            <a:avLst/>
          </a:prstGeom>
          <a:solidFill>
            <a:srgbClr val="60A5FA"/>
          </a:solidFill>
          <a:ln w="12700">
            <a:solidFill>
              <a:srgbClr val="FFFFFF">
                <a:alpha val="0"/>
              </a:srgbClr>
            </a:solidFill>
            <a:prstDash val="solid"/>
          </a:ln>
        </p:spPr>
      </p:sp>
      <p:sp>
        <p:nvSpPr>
          <p:cNvPr id="146" name="Shape 135"/>
          <p:cNvSpPr/>
          <p:nvPr/>
        </p:nvSpPr>
        <p:spPr>
          <a:xfrm>
            <a:off x="15525598" y="4895698"/>
            <a:ext cx="571500" cy="495605"/>
          </a:xfrm>
          <a:prstGeom prst="rect">
            <a:avLst/>
          </a:prstGeom>
          <a:solidFill>
            <a:srgbClr val="93C5FD"/>
          </a:solidFill>
          <a:ln w="12700">
            <a:solidFill>
              <a:srgbClr val="FFFFFF">
                <a:alpha val="0"/>
              </a:srgbClr>
            </a:solidFill>
            <a:prstDash val="solid"/>
          </a:ln>
        </p:spPr>
      </p:sp>
      <p:sp>
        <p:nvSpPr>
          <p:cNvPr id="147" name="Shape 136"/>
          <p:cNvSpPr/>
          <p:nvPr/>
        </p:nvSpPr>
        <p:spPr>
          <a:xfrm>
            <a:off x="16154705" y="4895698"/>
            <a:ext cx="571500" cy="495605"/>
          </a:xfrm>
          <a:prstGeom prst="rect">
            <a:avLst/>
          </a:prstGeom>
          <a:solidFill>
            <a:srgbClr val="BFDBFE"/>
          </a:solidFill>
          <a:ln w="12700">
            <a:solidFill>
              <a:srgbClr val="FFFFFF">
                <a:alpha val="0"/>
              </a:srgbClr>
            </a:solidFill>
            <a:prstDash val="solid"/>
          </a:ln>
        </p:spPr>
      </p:sp>
      <p:sp>
        <p:nvSpPr>
          <p:cNvPr id="148" name="Shape 137"/>
          <p:cNvSpPr/>
          <p:nvPr/>
        </p:nvSpPr>
        <p:spPr>
          <a:xfrm>
            <a:off x="12382805" y="5447995"/>
            <a:ext cx="571500" cy="495605"/>
          </a:xfrm>
          <a:prstGeom prst="rect">
            <a:avLst/>
          </a:prstGeom>
          <a:solidFill>
            <a:srgbClr val="BFDBFE"/>
          </a:solidFill>
          <a:ln w="12700">
            <a:solidFill>
              <a:srgbClr val="FFFFFF">
                <a:alpha val="0"/>
              </a:srgbClr>
            </a:solidFill>
            <a:prstDash val="solid"/>
          </a:ln>
        </p:spPr>
      </p:sp>
      <p:sp>
        <p:nvSpPr>
          <p:cNvPr id="149" name="Shape 138"/>
          <p:cNvSpPr/>
          <p:nvPr/>
        </p:nvSpPr>
        <p:spPr>
          <a:xfrm>
            <a:off x="13010998" y="5447995"/>
            <a:ext cx="571500" cy="495605"/>
          </a:xfrm>
          <a:prstGeom prst="rect">
            <a:avLst/>
          </a:prstGeom>
          <a:solidFill>
            <a:srgbClr val="93C5FD"/>
          </a:solidFill>
          <a:ln w="12700">
            <a:solidFill>
              <a:srgbClr val="FFFFFF">
                <a:alpha val="0"/>
              </a:srgbClr>
            </a:solidFill>
            <a:prstDash val="solid"/>
          </a:ln>
        </p:spPr>
      </p:sp>
      <p:sp>
        <p:nvSpPr>
          <p:cNvPr id="150" name="Shape 139"/>
          <p:cNvSpPr/>
          <p:nvPr/>
        </p:nvSpPr>
        <p:spPr>
          <a:xfrm>
            <a:off x="13640105" y="5447995"/>
            <a:ext cx="571500" cy="495605"/>
          </a:xfrm>
          <a:prstGeom prst="rect">
            <a:avLst/>
          </a:prstGeom>
          <a:solidFill>
            <a:srgbClr val="60A5FA"/>
          </a:solidFill>
          <a:ln w="12700">
            <a:solidFill>
              <a:srgbClr val="FFFFFF">
                <a:alpha val="0"/>
              </a:srgbClr>
            </a:solidFill>
            <a:prstDash val="solid"/>
          </a:ln>
        </p:spPr>
      </p:sp>
      <p:sp>
        <p:nvSpPr>
          <p:cNvPr id="151" name="Shape 140"/>
          <p:cNvSpPr/>
          <p:nvPr/>
        </p:nvSpPr>
        <p:spPr>
          <a:xfrm>
            <a:off x="14268298" y="5447995"/>
            <a:ext cx="571500" cy="495605"/>
          </a:xfrm>
          <a:prstGeom prst="rect">
            <a:avLst/>
          </a:prstGeom>
          <a:solidFill>
            <a:srgbClr val="60A5FA"/>
          </a:solidFill>
          <a:ln w="12700">
            <a:solidFill>
              <a:srgbClr val="FFFFFF">
                <a:alpha val="0"/>
              </a:srgbClr>
            </a:solidFill>
            <a:prstDash val="solid"/>
          </a:ln>
        </p:spPr>
      </p:sp>
      <p:sp>
        <p:nvSpPr>
          <p:cNvPr id="152" name="Shape 141"/>
          <p:cNvSpPr/>
          <p:nvPr/>
        </p:nvSpPr>
        <p:spPr>
          <a:xfrm>
            <a:off x="14897405" y="5447995"/>
            <a:ext cx="571500" cy="495605"/>
          </a:xfrm>
          <a:prstGeom prst="rect">
            <a:avLst/>
          </a:prstGeom>
          <a:solidFill>
            <a:srgbClr val="93C5FD"/>
          </a:solidFill>
          <a:ln w="12700">
            <a:solidFill>
              <a:srgbClr val="FFFFFF">
                <a:alpha val="0"/>
              </a:srgbClr>
            </a:solidFill>
            <a:prstDash val="solid"/>
          </a:ln>
        </p:spPr>
      </p:sp>
      <p:sp>
        <p:nvSpPr>
          <p:cNvPr id="153" name="Shape 142"/>
          <p:cNvSpPr/>
          <p:nvPr/>
        </p:nvSpPr>
        <p:spPr>
          <a:xfrm>
            <a:off x="15525598" y="5447995"/>
            <a:ext cx="571500" cy="495605"/>
          </a:xfrm>
          <a:prstGeom prst="rect">
            <a:avLst/>
          </a:prstGeom>
          <a:solidFill>
            <a:srgbClr val="BFDBFE"/>
          </a:solidFill>
          <a:ln w="12700">
            <a:solidFill>
              <a:srgbClr val="FFFFFF">
                <a:alpha val="0"/>
              </a:srgbClr>
            </a:solidFill>
            <a:prstDash val="solid"/>
          </a:ln>
        </p:spPr>
      </p:sp>
      <p:sp>
        <p:nvSpPr>
          <p:cNvPr id="154" name="Shape 143"/>
          <p:cNvSpPr/>
          <p:nvPr/>
        </p:nvSpPr>
        <p:spPr>
          <a:xfrm>
            <a:off x="16154705" y="5447995"/>
            <a:ext cx="571500" cy="495605"/>
          </a:xfrm>
          <a:prstGeom prst="rect">
            <a:avLst/>
          </a:prstGeom>
          <a:solidFill>
            <a:srgbClr val="BFDBFE"/>
          </a:solidFill>
          <a:ln w="12700">
            <a:solidFill>
              <a:srgbClr val="FFFFFF">
                <a:alpha val="0"/>
              </a:srgbClr>
            </a:solidFill>
            <a:prstDash val="solid"/>
          </a:ln>
        </p:spPr>
      </p:sp>
      <p:sp>
        <p:nvSpPr>
          <p:cNvPr id="155" name="Shape 144"/>
          <p:cNvSpPr/>
          <p:nvPr/>
        </p:nvSpPr>
        <p:spPr>
          <a:xfrm>
            <a:off x="12382805" y="6001207"/>
            <a:ext cx="571500" cy="495605"/>
          </a:xfrm>
          <a:prstGeom prst="rect">
            <a:avLst/>
          </a:prstGeom>
          <a:solidFill>
            <a:srgbClr val="E2E8F0"/>
          </a:solidFill>
          <a:ln w="12700">
            <a:solidFill>
              <a:srgbClr val="FFFFFF">
                <a:alpha val="0"/>
              </a:srgbClr>
            </a:solidFill>
            <a:prstDash val="solid"/>
          </a:ln>
        </p:spPr>
      </p:sp>
      <p:sp>
        <p:nvSpPr>
          <p:cNvPr id="156" name="Shape 145"/>
          <p:cNvSpPr/>
          <p:nvPr/>
        </p:nvSpPr>
        <p:spPr>
          <a:xfrm>
            <a:off x="13010998" y="6001207"/>
            <a:ext cx="571500" cy="495605"/>
          </a:xfrm>
          <a:prstGeom prst="rect">
            <a:avLst/>
          </a:prstGeom>
          <a:solidFill>
            <a:srgbClr val="BFDBFE"/>
          </a:solidFill>
          <a:ln w="12700">
            <a:solidFill>
              <a:srgbClr val="FFFFFF">
                <a:alpha val="0"/>
              </a:srgbClr>
            </a:solidFill>
            <a:prstDash val="solid"/>
          </a:ln>
        </p:spPr>
      </p:sp>
      <p:sp>
        <p:nvSpPr>
          <p:cNvPr id="157" name="Shape 146"/>
          <p:cNvSpPr/>
          <p:nvPr/>
        </p:nvSpPr>
        <p:spPr>
          <a:xfrm>
            <a:off x="13640105" y="6001207"/>
            <a:ext cx="571500" cy="495605"/>
          </a:xfrm>
          <a:prstGeom prst="rect">
            <a:avLst/>
          </a:prstGeom>
          <a:solidFill>
            <a:srgbClr val="BFDBFE"/>
          </a:solidFill>
          <a:ln w="12700">
            <a:solidFill>
              <a:srgbClr val="FFFFFF">
                <a:alpha val="0"/>
              </a:srgbClr>
            </a:solidFill>
            <a:prstDash val="solid"/>
          </a:ln>
        </p:spPr>
      </p:sp>
      <p:sp>
        <p:nvSpPr>
          <p:cNvPr id="158" name="Shape 147"/>
          <p:cNvSpPr/>
          <p:nvPr/>
        </p:nvSpPr>
        <p:spPr>
          <a:xfrm>
            <a:off x="14268298" y="6001207"/>
            <a:ext cx="571500" cy="495605"/>
          </a:xfrm>
          <a:prstGeom prst="rect">
            <a:avLst/>
          </a:prstGeom>
          <a:solidFill>
            <a:srgbClr val="93C5FD"/>
          </a:solidFill>
          <a:ln w="12700">
            <a:solidFill>
              <a:srgbClr val="FFFFFF">
                <a:alpha val="0"/>
              </a:srgbClr>
            </a:solidFill>
            <a:prstDash val="solid"/>
          </a:ln>
        </p:spPr>
      </p:sp>
      <p:sp>
        <p:nvSpPr>
          <p:cNvPr id="159" name="Shape 148"/>
          <p:cNvSpPr/>
          <p:nvPr/>
        </p:nvSpPr>
        <p:spPr>
          <a:xfrm>
            <a:off x="14897405" y="6001207"/>
            <a:ext cx="571500" cy="495605"/>
          </a:xfrm>
          <a:prstGeom prst="rect">
            <a:avLst/>
          </a:prstGeom>
          <a:solidFill>
            <a:srgbClr val="BFDBFE"/>
          </a:solidFill>
          <a:ln w="12700">
            <a:solidFill>
              <a:srgbClr val="FFFFFF">
                <a:alpha val="0"/>
              </a:srgbClr>
            </a:solidFill>
            <a:prstDash val="solid"/>
          </a:ln>
        </p:spPr>
      </p:sp>
      <p:sp>
        <p:nvSpPr>
          <p:cNvPr id="160" name="Shape 149"/>
          <p:cNvSpPr/>
          <p:nvPr/>
        </p:nvSpPr>
        <p:spPr>
          <a:xfrm>
            <a:off x="15525598" y="6001207"/>
            <a:ext cx="571500" cy="495605"/>
          </a:xfrm>
          <a:prstGeom prst="rect">
            <a:avLst/>
          </a:prstGeom>
          <a:solidFill>
            <a:srgbClr val="BFDBFE"/>
          </a:solidFill>
          <a:ln w="12700">
            <a:solidFill>
              <a:srgbClr val="FFFFFF">
                <a:alpha val="0"/>
              </a:srgbClr>
            </a:solidFill>
            <a:prstDash val="solid"/>
          </a:ln>
        </p:spPr>
      </p:sp>
      <p:sp>
        <p:nvSpPr>
          <p:cNvPr id="161" name="Shape 150"/>
          <p:cNvSpPr/>
          <p:nvPr/>
        </p:nvSpPr>
        <p:spPr>
          <a:xfrm>
            <a:off x="16154705" y="6001207"/>
            <a:ext cx="571500" cy="495605"/>
          </a:xfrm>
          <a:prstGeom prst="rect">
            <a:avLst/>
          </a:prstGeom>
          <a:solidFill>
            <a:srgbClr val="E2E8F0"/>
          </a:solidFill>
          <a:ln w="12700">
            <a:solidFill>
              <a:srgbClr val="FFFFFF">
                <a:alpha val="0"/>
              </a:srgbClr>
            </a:solidFill>
            <a:prstDash val="solid"/>
          </a:ln>
        </p:spPr>
      </p:sp>
      <p:sp>
        <p:nvSpPr>
          <p:cNvPr id="162" name="Shape 151"/>
          <p:cNvSpPr/>
          <p:nvPr/>
        </p:nvSpPr>
        <p:spPr>
          <a:xfrm>
            <a:off x="12382805" y="6553505"/>
            <a:ext cx="571500" cy="495605"/>
          </a:xfrm>
          <a:prstGeom prst="rect">
            <a:avLst/>
          </a:prstGeom>
          <a:solidFill>
            <a:srgbClr val="FED7AA"/>
          </a:solidFill>
          <a:ln w="12700">
            <a:solidFill>
              <a:srgbClr val="FFFFFF">
                <a:alpha val="0"/>
              </a:srgbClr>
            </a:solidFill>
            <a:prstDash val="solid"/>
          </a:ln>
        </p:spPr>
      </p:sp>
      <p:sp>
        <p:nvSpPr>
          <p:cNvPr id="163" name="Shape 152"/>
          <p:cNvSpPr/>
          <p:nvPr/>
        </p:nvSpPr>
        <p:spPr>
          <a:xfrm>
            <a:off x="13010998" y="6553505"/>
            <a:ext cx="571500" cy="495605"/>
          </a:xfrm>
          <a:prstGeom prst="rect">
            <a:avLst/>
          </a:prstGeom>
          <a:solidFill>
            <a:srgbClr val="E2E8F0"/>
          </a:solidFill>
          <a:ln w="12700">
            <a:solidFill>
              <a:srgbClr val="FFFFFF">
                <a:alpha val="0"/>
              </a:srgbClr>
            </a:solidFill>
            <a:prstDash val="solid"/>
          </a:ln>
        </p:spPr>
      </p:sp>
      <p:sp>
        <p:nvSpPr>
          <p:cNvPr id="164" name="Shape 153"/>
          <p:cNvSpPr/>
          <p:nvPr/>
        </p:nvSpPr>
        <p:spPr>
          <a:xfrm>
            <a:off x="13640105" y="6553505"/>
            <a:ext cx="571500" cy="495605"/>
          </a:xfrm>
          <a:prstGeom prst="rect">
            <a:avLst/>
          </a:prstGeom>
          <a:solidFill>
            <a:srgbClr val="BFDBFE"/>
          </a:solidFill>
          <a:ln w="12700">
            <a:solidFill>
              <a:srgbClr val="FFFFFF">
                <a:alpha val="0"/>
              </a:srgbClr>
            </a:solidFill>
            <a:prstDash val="solid"/>
          </a:ln>
        </p:spPr>
      </p:sp>
      <p:sp>
        <p:nvSpPr>
          <p:cNvPr id="165" name="Shape 154"/>
          <p:cNvSpPr/>
          <p:nvPr/>
        </p:nvSpPr>
        <p:spPr>
          <a:xfrm>
            <a:off x="14268298" y="6553505"/>
            <a:ext cx="571500" cy="495605"/>
          </a:xfrm>
          <a:prstGeom prst="rect">
            <a:avLst/>
          </a:prstGeom>
          <a:solidFill>
            <a:srgbClr val="BFDBFE"/>
          </a:solidFill>
          <a:ln w="12700">
            <a:solidFill>
              <a:srgbClr val="FFFFFF">
                <a:alpha val="0"/>
              </a:srgbClr>
            </a:solidFill>
            <a:prstDash val="solid"/>
          </a:ln>
        </p:spPr>
      </p:sp>
      <p:sp>
        <p:nvSpPr>
          <p:cNvPr id="166" name="Shape 155"/>
          <p:cNvSpPr/>
          <p:nvPr/>
        </p:nvSpPr>
        <p:spPr>
          <a:xfrm>
            <a:off x="14897405" y="6553505"/>
            <a:ext cx="571500" cy="495605"/>
          </a:xfrm>
          <a:prstGeom prst="rect">
            <a:avLst/>
          </a:prstGeom>
          <a:solidFill>
            <a:srgbClr val="E2E8F0"/>
          </a:solidFill>
          <a:ln w="12700">
            <a:solidFill>
              <a:srgbClr val="FFFFFF">
                <a:alpha val="0"/>
              </a:srgbClr>
            </a:solidFill>
            <a:prstDash val="solid"/>
          </a:ln>
        </p:spPr>
      </p:sp>
      <p:sp>
        <p:nvSpPr>
          <p:cNvPr id="167" name="Shape 156"/>
          <p:cNvSpPr/>
          <p:nvPr/>
        </p:nvSpPr>
        <p:spPr>
          <a:xfrm>
            <a:off x="15525598" y="6553505"/>
            <a:ext cx="571500" cy="495605"/>
          </a:xfrm>
          <a:prstGeom prst="rect">
            <a:avLst/>
          </a:prstGeom>
          <a:solidFill>
            <a:srgbClr val="FED7AA"/>
          </a:solidFill>
          <a:ln w="12700">
            <a:solidFill>
              <a:srgbClr val="FFFFFF">
                <a:alpha val="0"/>
              </a:srgbClr>
            </a:solidFill>
            <a:prstDash val="solid"/>
          </a:ln>
        </p:spPr>
      </p:sp>
      <p:sp>
        <p:nvSpPr>
          <p:cNvPr id="168" name="Shape 157"/>
          <p:cNvSpPr/>
          <p:nvPr/>
        </p:nvSpPr>
        <p:spPr>
          <a:xfrm>
            <a:off x="16154705" y="6553505"/>
            <a:ext cx="571500" cy="495605"/>
          </a:xfrm>
          <a:prstGeom prst="rect">
            <a:avLst/>
          </a:prstGeom>
          <a:solidFill>
            <a:srgbClr val="FB923C"/>
          </a:solidFill>
          <a:ln w="12700">
            <a:solidFill>
              <a:srgbClr val="FFFFFF">
                <a:alpha val="0"/>
              </a:srgbClr>
            </a:solidFill>
            <a:prstDash val="solid"/>
          </a:ln>
        </p:spPr>
      </p:sp>
      <p:sp>
        <p:nvSpPr>
          <p:cNvPr id="169" name="Text 158"/>
          <p:cNvSpPr txBox="1"/>
          <p:nvPr/>
        </p:nvSpPr>
        <p:spPr>
          <a:xfrm>
            <a:off x="761695" y="761695"/>
            <a:ext cx="9525305"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49pt IN-WAFER CD MAP · 05 / 08</a:t>
            </a:r>
            <a:endParaRPr lang="en-US" sz="1050" dirty="0"/>
          </a:p>
        </p:txBody>
      </p:sp>
      <p:sp>
        <p:nvSpPr>
          <p:cNvPr id="170" name="Text 159"/>
          <p:cNvSpPr txBox="1"/>
          <p:nvPr/>
        </p:nvSpPr>
        <p:spPr>
          <a:xfrm>
            <a:off x="761695" y="1123798"/>
            <a:ext cx="15240305" cy="534010"/>
          </a:xfrm>
          <a:prstGeom prst="rect">
            <a:avLst/>
          </a:prstGeom>
          <a:noFill/>
          <a:ln/>
        </p:spPr>
        <p:txBody>
          <a:bodyPr wrap="none" lIns="0" tIns="0" rIns="0" bIns="0" rtlCol="0" anchor="ctr"/>
          <a:lstStyle/>
          <a:p>
            <a:pPr algn="l" indent="0" marL="0">
              <a:buNone/>
            </a:pPr>
            <a:r>
              <a:rPr lang="en-US" sz="4200" b="1" spc="-84" kern="0" dirty="0">
                <a:solidFill>
                  <a:srgbClr val="0F172A"/>
                </a:solidFill>
                <a:latin typeface="IBM Plex Sans KR" pitchFamily="34" charset="0"/>
                <a:ea typeface="IBM Plex Sans KR" pitchFamily="34" charset="-122"/>
                <a:cs typeface="IBM Plex Sans KR" pitchFamily="34" charset="-120"/>
              </a:rPr>
              <a:t>49pt Wafer Map </a:t>
            </a:r>
            <a:pPr algn="l" indent="0" marL="0">
              <a:buNone/>
            </a:pPr>
            <a:r>
              <a:rPr lang="en-US" sz="2550" b="1" spc="-84" kern="0" dirty="0">
                <a:solidFill>
                  <a:srgbClr val="64748B"/>
                </a:solidFill>
                <a:latin typeface="IBM Plex Mono" pitchFamily="34" charset="0"/>
                <a:ea typeface="IBM Plex Mono" pitchFamily="34" charset="-122"/>
                <a:cs typeface="IBM Plex Mono" pitchFamily="34" charset="-120"/>
              </a:rPr>
              <a:t>— stage AMI</a:t>
            </a:r>
            <a:endParaRPr lang="en-US" sz="4200" dirty="0"/>
          </a:p>
        </p:txBody>
      </p:sp>
      <p:sp>
        <p:nvSpPr>
          <p:cNvPr id="171" name="Text 160"/>
          <p:cNvSpPr txBox="1"/>
          <p:nvPr/>
        </p:nvSpPr>
        <p:spPr>
          <a:xfrm>
            <a:off x="761695" y="1904695"/>
            <a:ext cx="15240305" cy="267005"/>
          </a:xfrm>
          <a:prstGeom prst="rect">
            <a:avLst/>
          </a:prstGeom>
          <a:noFill/>
          <a:ln/>
        </p:spPr>
        <p:txBody>
          <a:bodyPr wrap="none" lIns="0" tIns="0" rIns="0" bIns="0" rtlCol="0" anchor="ctr"/>
          <a:lstStyle/>
          <a:p>
            <a:pPr algn="l" indent="0" marL="0">
              <a:buNone/>
            </a:pPr>
            <a:r>
              <a:rPr lang="en-US" sz="1500" dirty="0">
                <a:solidFill>
                  <a:srgbClr val="475569"/>
                </a:solidFill>
                <a:latin typeface="IBM Plex Sans KR" pitchFamily="34" charset="0"/>
                <a:ea typeface="IBM Plex Sans KR" pitchFamily="34" charset="-122"/>
                <a:cs typeface="IBM Plex Sans KR" pitchFamily="34" charset="-120"/>
              </a:rPr>
              <a:t>Wafer별 7 × 7 = 49 사이트에서 추출한 AMI 단계 CD 분포 · target 8.9 nm (단위 nm)</a:t>
            </a:r>
            <a:endParaRPr lang="en-US" sz="1500" dirty="0"/>
          </a:p>
        </p:txBody>
      </p:sp>
      <p:sp>
        <p:nvSpPr>
          <p:cNvPr id="172" name="Text 161"/>
          <p:cNvSpPr txBox="1"/>
          <p:nvPr/>
        </p:nvSpPr>
        <p:spPr>
          <a:xfrm>
            <a:off x="1333195" y="2743200"/>
            <a:ext cx="1905610" cy="419710"/>
          </a:xfrm>
          <a:prstGeom prst="rect">
            <a:avLst/>
          </a:prstGeom>
          <a:noFill/>
          <a:ln/>
        </p:spPr>
        <p:txBody>
          <a:bodyPr wrap="none" lIns="0" tIns="0" rIns="0" bIns="0" rtlCol="0" anchor="ctr"/>
          <a:lstStyle/>
          <a:p>
            <a:pPr algn="l" indent="0" marL="0">
              <a:buNone/>
            </a:pPr>
            <a:r>
              <a:rPr lang="en-US" sz="2550" b="1" spc="-25" kern="0" dirty="0">
                <a:solidFill>
                  <a:srgbClr val="1E40AF"/>
                </a:solidFill>
                <a:latin typeface="IBM Plex Mono" pitchFamily="34" charset="0"/>
                <a:ea typeface="IBM Plex Mono" pitchFamily="34" charset="-122"/>
                <a:cs typeface="IBM Plex Mono" pitchFamily="34" charset="-120"/>
              </a:rPr>
              <a:t>W1</a:t>
            </a:r>
            <a:endParaRPr lang="en-US" sz="2550" dirty="0"/>
          </a:p>
        </p:txBody>
      </p:sp>
      <p:sp>
        <p:nvSpPr>
          <p:cNvPr id="173" name="Text 162"/>
          <p:cNvSpPr txBox="1"/>
          <p:nvPr/>
        </p:nvSpPr>
        <p:spPr>
          <a:xfrm>
            <a:off x="2095805" y="2838298"/>
            <a:ext cx="2286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continuous RIE · split-A</a:t>
            </a:r>
            <a:endParaRPr lang="en-US" sz="1050" dirty="0"/>
          </a:p>
        </p:txBody>
      </p:sp>
      <p:sp>
        <p:nvSpPr>
          <p:cNvPr id="174" name="Text 163"/>
          <p:cNvSpPr txBox="1"/>
          <p:nvPr/>
        </p:nvSpPr>
        <p:spPr>
          <a:xfrm>
            <a:off x="4572000" y="2743200"/>
            <a:ext cx="1334110" cy="143561"/>
          </a:xfrm>
          <a:prstGeom prst="rect">
            <a:avLst/>
          </a:prstGeom>
          <a:noFill/>
          <a:ln/>
        </p:spPr>
        <p:txBody>
          <a:bodyPr wrap="none" lIns="0" tIns="0" rIns="0" bIns="0" rtlCol="0" anchor="ctr"/>
          <a:lstStyle/>
          <a:p>
            <a:pPr algn="r" indent="0" marL="0">
              <a:buNone/>
            </a:pPr>
            <a:r>
              <a:rPr lang="en-US" sz="900" spc="72" kern="0" dirty="0">
                <a:solidFill>
                  <a:srgbClr val="94A3B8"/>
                </a:solidFill>
                <a:latin typeface="IBM Plex Mono" pitchFamily="34" charset="0"/>
                <a:ea typeface="IBM Plex Mono" pitchFamily="34" charset="-122"/>
                <a:cs typeface="IBM Plex Mono" pitchFamily="34" charset="-120"/>
              </a:rPr>
              <a:t>DUM-A1</a:t>
            </a:r>
            <a:endParaRPr lang="en-US" sz="900" dirty="0"/>
          </a:p>
        </p:txBody>
      </p:sp>
      <p:sp>
        <p:nvSpPr>
          <p:cNvPr id="175" name="Text 164"/>
          <p:cNvSpPr txBox="1"/>
          <p:nvPr/>
        </p:nvSpPr>
        <p:spPr>
          <a:xfrm>
            <a:off x="1333195"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MEAN</a:t>
            </a:r>
            <a:endParaRPr lang="en-US" sz="825" dirty="0"/>
          </a:p>
        </p:txBody>
      </p:sp>
      <p:sp>
        <p:nvSpPr>
          <p:cNvPr id="176" name="Text 165"/>
          <p:cNvSpPr txBox="1"/>
          <p:nvPr/>
        </p:nvSpPr>
        <p:spPr>
          <a:xfrm>
            <a:off x="1333195"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9.04</a:t>
            </a:r>
            <a:endParaRPr lang="en-US" sz="1800" dirty="0"/>
          </a:p>
        </p:txBody>
      </p:sp>
      <p:sp>
        <p:nvSpPr>
          <p:cNvPr id="177" name="Text 166"/>
          <p:cNvSpPr txBox="1"/>
          <p:nvPr/>
        </p:nvSpPr>
        <p:spPr>
          <a:xfrm>
            <a:off x="2553005"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3σ</a:t>
            </a:r>
            <a:endParaRPr lang="en-US" sz="825" dirty="0"/>
          </a:p>
        </p:txBody>
      </p:sp>
      <p:sp>
        <p:nvSpPr>
          <p:cNvPr id="178" name="Text 167"/>
          <p:cNvSpPr txBox="1"/>
          <p:nvPr/>
        </p:nvSpPr>
        <p:spPr>
          <a:xfrm>
            <a:off x="2553005"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0.82</a:t>
            </a:r>
            <a:endParaRPr lang="en-US" sz="1800" dirty="0"/>
          </a:p>
        </p:txBody>
      </p:sp>
      <p:sp>
        <p:nvSpPr>
          <p:cNvPr id="179" name="Text 168"/>
          <p:cNvSpPr txBox="1"/>
          <p:nvPr/>
        </p:nvSpPr>
        <p:spPr>
          <a:xfrm>
            <a:off x="3619195" y="7200900"/>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MIN — MAX</a:t>
            </a:r>
            <a:endParaRPr lang="en-US" sz="825" dirty="0"/>
          </a:p>
        </p:txBody>
      </p:sp>
      <p:sp>
        <p:nvSpPr>
          <p:cNvPr id="180" name="Text 169"/>
          <p:cNvSpPr txBox="1"/>
          <p:nvPr/>
        </p:nvSpPr>
        <p:spPr>
          <a:xfrm>
            <a:off x="3619195" y="7391095"/>
            <a:ext cx="2286000" cy="257861"/>
          </a:xfrm>
          <a:prstGeom prst="rect">
            <a:avLst/>
          </a:prstGeom>
          <a:noFill/>
          <a:ln/>
        </p:spPr>
        <p:txBody>
          <a:bodyPr wrap="none" lIns="0" tIns="0" rIns="0" bIns="0" rtlCol="0" anchor="ctr"/>
          <a:lstStyle/>
          <a:p>
            <a:pPr algn="l" indent="0" marL="0">
              <a:buNone/>
            </a:pPr>
            <a:r>
              <a:rPr lang="en-US" sz="1500" dirty="0">
                <a:solidFill>
                  <a:srgbClr val="0F172A"/>
                </a:solidFill>
                <a:latin typeface="IBM Plex Mono" pitchFamily="34" charset="0"/>
                <a:ea typeface="IBM Plex Mono" pitchFamily="34" charset="-122"/>
                <a:cs typeface="IBM Plex Mono" pitchFamily="34" charset="-120"/>
              </a:rPr>
              <a:t>7.9 — 10.1</a:t>
            </a:r>
            <a:endParaRPr lang="en-US" sz="1500" dirty="0"/>
          </a:p>
        </p:txBody>
      </p:sp>
      <p:sp>
        <p:nvSpPr>
          <p:cNvPr id="181" name="Text 170"/>
          <p:cNvSpPr txBox="1"/>
          <p:nvPr/>
        </p:nvSpPr>
        <p:spPr>
          <a:xfrm>
            <a:off x="6858000" y="2743200"/>
            <a:ext cx="1905610" cy="419710"/>
          </a:xfrm>
          <a:prstGeom prst="rect">
            <a:avLst/>
          </a:prstGeom>
          <a:noFill/>
          <a:ln/>
        </p:spPr>
        <p:txBody>
          <a:bodyPr wrap="none" lIns="0" tIns="0" rIns="0" bIns="0" rtlCol="0" anchor="ctr"/>
          <a:lstStyle/>
          <a:p>
            <a:pPr algn="l" indent="0" marL="0">
              <a:buNone/>
            </a:pPr>
            <a:r>
              <a:rPr lang="en-US" sz="2550" b="1" spc="-25" kern="0" dirty="0">
                <a:solidFill>
                  <a:srgbClr val="0E7490"/>
                </a:solidFill>
                <a:latin typeface="IBM Plex Mono" pitchFamily="34" charset="0"/>
                <a:ea typeface="IBM Plex Mono" pitchFamily="34" charset="-122"/>
                <a:cs typeface="IBM Plex Mono" pitchFamily="34" charset="-120"/>
              </a:rPr>
              <a:t>W2</a:t>
            </a:r>
            <a:endParaRPr lang="en-US" sz="2550" dirty="0"/>
          </a:p>
        </p:txBody>
      </p:sp>
      <p:sp>
        <p:nvSpPr>
          <p:cNvPr id="182" name="Text 171"/>
          <p:cNvSpPr txBox="1"/>
          <p:nvPr/>
        </p:nvSpPr>
        <p:spPr>
          <a:xfrm>
            <a:off x="7619695" y="2838298"/>
            <a:ext cx="2667305"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QALE step-220 · split-B</a:t>
            </a:r>
            <a:endParaRPr lang="en-US" sz="1050" dirty="0"/>
          </a:p>
        </p:txBody>
      </p:sp>
      <p:sp>
        <p:nvSpPr>
          <p:cNvPr id="183" name="Text 172"/>
          <p:cNvSpPr txBox="1"/>
          <p:nvPr/>
        </p:nvSpPr>
        <p:spPr>
          <a:xfrm>
            <a:off x="10096805" y="2743200"/>
            <a:ext cx="1334110" cy="143561"/>
          </a:xfrm>
          <a:prstGeom prst="rect">
            <a:avLst/>
          </a:prstGeom>
          <a:noFill/>
          <a:ln/>
        </p:spPr>
        <p:txBody>
          <a:bodyPr wrap="none" lIns="0" tIns="0" rIns="0" bIns="0" rtlCol="0" anchor="ctr"/>
          <a:lstStyle/>
          <a:p>
            <a:pPr algn="r" indent="0" marL="0">
              <a:buNone/>
            </a:pPr>
            <a:r>
              <a:rPr lang="en-US" sz="900" spc="72" kern="0" dirty="0">
                <a:solidFill>
                  <a:srgbClr val="94A3B8"/>
                </a:solidFill>
                <a:latin typeface="IBM Plex Mono" pitchFamily="34" charset="0"/>
                <a:ea typeface="IBM Plex Mono" pitchFamily="34" charset="-122"/>
                <a:cs typeface="IBM Plex Mono" pitchFamily="34" charset="-120"/>
              </a:rPr>
              <a:t>DUM-B1</a:t>
            </a:r>
            <a:endParaRPr lang="en-US" sz="900" dirty="0"/>
          </a:p>
        </p:txBody>
      </p:sp>
      <p:sp>
        <p:nvSpPr>
          <p:cNvPr id="184" name="Text 173"/>
          <p:cNvSpPr txBox="1"/>
          <p:nvPr/>
        </p:nvSpPr>
        <p:spPr>
          <a:xfrm>
            <a:off x="6858000"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MEAN</a:t>
            </a:r>
            <a:endParaRPr lang="en-US" sz="825" dirty="0"/>
          </a:p>
        </p:txBody>
      </p:sp>
      <p:sp>
        <p:nvSpPr>
          <p:cNvPr id="185" name="Text 174"/>
          <p:cNvSpPr txBox="1"/>
          <p:nvPr/>
        </p:nvSpPr>
        <p:spPr>
          <a:xfrm>
            <a:off x="6858000"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8.92</a:t>
            </a:r>
            <a:endParaRPr lang="en-US" sz="1800" dirty="0"/>
          </a:p>
        </p:txBody>
      </p:sp>
      <p:sp>
        <p:nvSpPr>
          <p:cNvPr id="186" name="Text 175"/>
          <p:cNvSpPr txBox="1"/>
          <p:nvPr/>
        </p:nvSpPr>
        <p:spPr>
          <a:xfrm>
            <a:off x="8076895"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3σ</a:t>
            </a:r>
            <a:endParaRPr lang="en-US" sz="825" dirty="0"/>
          </a:p>
        </p:txBody>
      </p:sp>
      <p:sp>
        <p:nvSpPr>
          <p:cNvPr id="187" name="Text 176"/>
          <p:cNvSpPr txBox="1"/>
          <p:nvPr/>
        </p:nvSpPr>
        <p:spPr>
          <a:xfrm>
            <a:off x="8076895"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0.41</a:t>
            </a:r>
            <a:endParaRPr lang="en-US" sz="1800" dirty="0"/>
          </a:p>
        </p:txBody>
      </p:sp>
      <p:sp>
        <p:nvSpPr>
          <p:cNvPr id="188" name="Text 177"/>
          <p:cNvSpPr txBox="1"/>
          <p:nvPr/>
        </p:nvSpPr>
        <p:spPr>
          <a:xfrm>
            <a:off x="9144000" y="7200900"/>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MIN — MAX</a:t>
            </a:r>
            <a:endParaRPr lang="en-US" sz="825" dirty="0"/>
          </a:p>
        </p:txBody>
      </p:sp>
      <p:sp>
        <p:nvSpPr>
          <p:cNvPr id="189" name="Text 178"/>
          <p:cNvSpPr txBox="1"/>
          <p:nvPr/>
        </p:nvSpPr>
        <p:spPr>
          <a:xfrm>
            <a:off x="9144000" y="7391095"/>
            <a:ext cx="2286000" cy="257861"/>
          </a:xfrm>
          <a:prstGeom prst="rect">
            <a:avLst/>
          </a:prstGeom>
          <a:noFill/>
          <a:ln/>
        </p:spPr>
        <p:txBody>
          <a:bodyPr wrap="none" lIns="0" tIns="0" rIns="0" bIns="0" rtlCol="0" anchor="ctr"/>
          <a:lstStyle/>
          <a:p>
            <a:pPr algn="l" indent="0" marL="0">
              <a:buNone/>
            </a:pPr>
            <a:r>
              <a:rPr lang="en-US" sz="1500" dirty="0">
                <a:solidFill>
                  <a:srgbClr val="0F172A"/>
                </a:solidFill>
                <a:latin typeface="IBM Plex Mono" pitchFamily="34" charset="0"/>
                <a:ea typeface="IBM Plex Mono" pitchFamily="34" charset="-122"/>
                <a:cs typeface="IBM Plex Mono" pitchFamily="34" charset="-120"/>
              </a:rPr>
              <a:t>8.3 — 9.5</a:t>
            </a:r>
            <a:endParaRPr lang="en-US" sz="1500" dirty="0"/>
          </a:p>
        </p:txBody>
      </p:sp>
      <p:sp>
        <p:nvSpPr>
          <p:cNvPr id="190" name="Text 179"/>
          <p:cNvSpPr txBox="1"/>
          <p:nvPr/>
        </p:nvSpPr>
        <p:spPr>
          <a:xfrm>
            <a:off x="12382805" y="2743200"/>
            <a:ext cx="1905610" cy="419710"/>
          </a:xfrm>
          <a:prstGeom prst="rect">
            <a:avLst/>
          </a:prstGeom>
          <a:noFill/>
          <a:ln/>
        </p:spPr>
        <p:txBody>
          <a:bodyPr wrap="none" lIns="0" tIns="0" rIns="0" bIns="0" rtlCol="0" anchor="ctr"/>
          <a:lstStyle/>
          <a:p>
            <a:pPr algn="l" indent="0" marL="0">
              <a:buNone/>
            </a:pPr>
            <a:r>
              <a:rPr lang="en-US" sz="2550" b="1" spc="-25" kern="0" dirty="0">
                <a:solidFill>
                  <a:srgbClr val="475569"/>
                </a:solidFill>
                <a:latin typeface="IBM Plex Mono" pitchFamily="34" charset="0"/>
                <a:ea typeface="IBM Plex Mono" pitchFamily="34" charset="-122"/>
                <a:cs typeface="IBM Plex Mono" pitchFamily="34" charset="-120"/>
              </a:rPr>
              <a:t>W3</a:t>
            </a:r>
            <a:endParaRPr lang="en-US" sz="2550" dirty="0"/>
          </a:p>
        </p:txBody>
      </p:sp>
      <p:sp>
        <p:nvSpPr>
          <p:cNvPr id="191" name="Text 180"/>
          <p:cNvSpPr txBox="1"/>
          <p:nvPr/>
        </p:nvSpPr>
        <p:spPr>
          <a:xfrm>
            <a:off x="13144500" y="2838298"/>
            <a:ext cx="2667305"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QALE step-320 · split-C</a:t>
            </a:r>
            <a:endParaRPr lang="en-US" sz="1050" dirty="0"/>
          </a:p>
        </p:txBody>
      </p:sp>
      <p:sp>
        <p:nvSpPr>
          <p:cNvPr id="192" name="Text 181"/>
          <p:cNvSpPr txBox="1"/>
          <p:nvPr/>
        </p:nvSpPr>
        <p:spPr>
          <a:xfrm>
            <a:off x="15620695" y="2743200"/>
            <a:ext cx="1334110" cy="143561"/>
          </a:xfrm>
          <a:prstGeom prst="rect">
            <a:avLst/>
          </a:prstGeom>
          <a:noFill/>
          <a:ln/>
        </p:spPr>
        <p:txBody>
          <a:bodyPr wrap="none" lIns="0" tIns="0" rIns="0" bIns="0" rtlCol="0" anchor="ctr"/>
          <a:lstStyle/>
          <a:p>
            <a:pPr algn="r" indent="0" marL="0">
              <a:buNone/>
            </a:pPr>
            <a:r>
              <a:rPr lang="en-US" sz="900" spc="72" kern="0" dirty="0">
                <a:solidFill>
                  <a:srgbClr val="94A3B8"/>
                </a:solidFill>
                <a:latin typeface="IBM Plex Mono" pitchFamily="34" charset="0"/>
                <a:ea typeface="IBM Plex Mono" pitchFamily="34" charset="-122"/>
                <a:cs typeface="IBM Plex Mono" pitchFamily="34" charset="-120"/>
              </a:rPr>
              <a:t>DUM-C1</a:t>
            </a:r>
            <a:endParaRPr lang="en-US" sz="900" dirty="0"/>
          </a:p>
        </p:txBody>
      </p:sp>
      <p:sp>
        <p:nvSpPr>
          <p:cNvPr id="193" name="Text 182"/>
          <p:cNvSpPr txBox="1"/>
          <p:nvPr/>
        </p:nvSpPr>
        <p:spPr>
          <a:xfrm>
            <a:off x="12382805"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MEAN</a:t>
            </a:r>
            <a:endParaRPr lang="en-US" sz="825" dirty="0"/>
          </a:p>
        </p:txBody>
      </p:sp>
      <p:sp>
        <p:nvSpPr>
          <p:cNvPr id="194" name="Text 183"/>
          <p:cNvSpPr txBox="1"/>
          <p:nvPr/>
        </p:nvSpPr>
        <p:spPr>
          <a:xfrm>
            <a:off x="12382805"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8.81</a:t>
            </a:r>
            <a:endParaRPr lang="en-US" sz="1800" dirty="0"/>
          </a:p>
        </p:txBody>
      </p:sp>
      <p:sp>
        <p:nvSpPr>
          <p:cNvPr id="195" name="Text 184"/>
          <p:cNvSpPr txBox="1"/>
          <p:nvPr/>
        </p:nvSpPr>
        <p:spPr>
          <a:xfrm>
            <a:off x="13601700" y="7200900"/>
            <a:ext cx="1143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3σ</a:t>
            </a:r>
            <a:endParaRPr lang="en-US" sz="825" dirty="0"/>
          </a:p>
        </p:txBody>
      </p:sp>
      <p:sp>
        <p:nvSpPr>
          <p:cNvPr id="196" name="Text 185"/>
          <p:cNvSpPr txBox="1"/>
          <p:nvPr/>
        </p:nvSpPr>
        <p:spPr>
          <a:xfrm>
            <a:off x="13601700" y="7391095"/>
            <a:ext cx="1143000" cy="305410"/>
          </a:xfrm>
          <a:prstGeom prst="rect">
            <a:avLst/>
          </a:prstGeom>
          <a:noFill/>
          <a:ln/>
        </p:spPr>
        <p:txBody>
          <a:bodyPr wrap="none" lIns="0" tIns="0" rIns="0" bIns="0" rtlCol="0" anchor="ctr"/>
          <a:lstStyle/>
          <a:p>
            <a:pPr algn="l" indent="0" marL="0">
              <a:buNone/>
            </a:pPr>
            <a:r>
              <a:rPr lang="en-US" sz="1800" b="1" dirty="0">
                <a:solidFill>
                  <a:srgbClr val="0F172A"/>
                </a:solidFill>
                <a:latin typeface="IBM Plex Mono" pitchFamily="34" charset="0"/>
                <a:ea typeface="IBM Plex Mono" pitchFamily="34" charset="-122"/>
                <a:cs typeface="IBM Plex Mono" pitchFamily="34" charset="-120"/>
              </a:rPr>
              <a:t>0.51</a:t>
            </a:r>
            <a:endParaRPr lang="en-US" sz="1800" dirty="0"/>
          </a:p>
        </p:txBody>
      </p:sp>
      <p:sp>
        <p:nvSpPr>
          <p:cNvPr id="197" name="Text 186"/>
          <p:cNvSpPr txBox="1"/>
          <p:nvPr/>
        </p:nvSpPr>
        <p:spPr>
          <a:xfrm>
            <a:off x="14668805" y="7200900"/>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MIN — MAX</a:t>
            </a:r>
            <a:endParaRPr lang="en-US" sz="825" dirty="0"/>
          </a:p>
        </p:txBody>
      </p:sp>
      <p:sp>
        <p:nvSpPr>
          <p:cNvPr id="198" name="Text 187"/>
          <p:cNvSpPr txBox="1"/>
          <p:nvPr/>
        </p:nvSpPr>
        <p:spPr>
          <a:xfrm>
            <a:off x="14668805" y="7391095"/>
            <a:ext cx="2286000" cy="257861"/>
          </a:xfrm>
          <a:prstGeom prst="rect">
            <a:avLst/>
          </a:prstGeom>
          <a:noFill/>
          <a:ln/>
        </p:spPr>
        <p:txBody>
          <a:bodyPr wrap="none" lIns="0" tIns="0" rIns="0" bIns="0" rtlCol="0" anchor="ctr"/>
          <a:lstStyle/>
          <a:p>
            <a:pPr algn="l" indent="0" marL="0">
              <a:buNone/>
            </a:pPr>
            <a:r>
              <a:rPr lang="en-US" sz="1500" dirty="0">
                <a:solidFill>
                  <a:srgbClr val="0F172A"/>
                </a:solidFill>
                <a:latin typeface="IBM Plex Mono" pitchFamily="34" charset="0"/>
                <a:ea typeface="IBM Plex Mono" pitchFamily="34" charset="-122"/>
                <a:cs typeface="IBM Plex Mono" pitchFamily="34" charset="-120"/>
              </a:rPr>
              <a:t>8.1 — 9.6</a:t>
            </a:r>
            <a:endParaRPr lang="en-US" sz="1500" dirty="0"/>
          </a:p>
        </p:txBody>
      </p:sp>
      <p:sp>
        <p:nvSpPr>
          <p:cNvPr id="199" name="Text 188"/>
          <p:cNvSpPr txBox="1"/>
          <p:nvPr/>
        </p:nvSpPr>
        <p:spPr>
          <a:xfrm>
            <a:off x="1333195" y="8591702"/>
            <a:ext cx="2857500" cy="133502"/>
          </a:xfrm>
          <a:prstGeom prst="rect">
            <a:avLst/>
          </a:prstGeom>
          <a:noFill/>
          <a:ln/>
        </p:spPr>
        <p:txBody>
          <a:bodyPr wrap="none" lIns="0" tIns="0" rIns="0" bIns="0" rtlCol="0" anchor="ctr"/>
          <a:lstStyle/>
          <a:p>
            <a:pPr algn="l" indent="0" marL="0">
              <a:buNone/>
            </a:pPr>
            <a:r>
              <a:rPr lang="en-US" sz="825" spc="116" kern="0" dirty="0">
                <a:solidFill>
                  <a:srgbClr val="94A3B8"/>
                </a:solidFill>
                <a:latin typeface="IBM Plex Mono" pitchFamily="34" charset="0"/>
                <a:ea typeface="IBM Plex Mono" pitchFamily="34" charset="-122"/>
                <a:cs typeface="IBM Plex Mono" pitchFamily="34" charset="-120"/>
              </a:rPr>
              <a:t>CD SCALE (nm)</a:t>
            </a:r>
            <a:endParaRPr lang="en-US" sz="825" dirty="0"/>
          </a:p>
        </p:txBody>
      </p:sp>
      <p:sp>
        <p:nvSpPr>
          <p:cNvPr id="200" name="Text 189"/>
          <p:cNvSpPr txBox="1"/>
          <p:nvPr/>
        </p:nvSpPr>
        <p:spPr>
          <a:xfrm>
            <a:off x="1333195" y="9105595"/>
            <a:ext cx="22860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 8.2</a:t>
            </a:r>
            <a:endParaRPr lang="en-US" sz="900" dirty="0"/>
          </a:p>
        </p:txBody>
      </p:sp>
      <p:sp>
        <p:nvSpPr>
          <p:cNvPr id="201" name="Text 190"/>
          <p:cNvSpPr txBox="1"/>
          <p:nvPr/>
        </p:nvSpPr>
        <p:spPr>
          <a:xfrm>
            <a:off x="3619195" y="9105595"/>
            <a:ext cx="22860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8.2 — 8.6</a:t>
            </a:r>
            <a:endParaRPr lang="en-US" sz="900" dirty="0"/>
          </a:p>
        </p:txBody>
      </p:sp>
      <p:sp>
        <p:nvSpPr>
          <p:cNvPr id="202" name="Text 191"/>
          <p:cNvSpPr txBox="1"/>
          <p:nvPr/>
        </p:nvSpPr>
        <p:spPr>
          <a:xfrm>
            <a:off x="5905195" y="9105595"/>
            <a:ext cx="22860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8.6 — 8.9</a:t>
            </a:r>
            <a:endParaRPr lang="en-US" sz="900" dirty="0"/>
          </a:p>
        </p:txBody>
      </p:sp>
      <p:sp>
        <p:nvSpPr>
          <p:cNvPr id="203" name="Text 192"/>
          <p:cNvSpPr txBox="1"/>
          <p:nvPr/>
        </p:nvSpPr>
        <p:spPr>
          <a:xfrm>
            <a:off x="8191195" y="9105595"/>
            <a:ext cx="2286000" cy="143561"/>
          </a:xfrm>
          <a:prstGeom prst="rect">
            <a:avLst/>
          </a:prstGeom>
          <a:noFill/>
          <a:ln/>
        </p:spPr>
        <p:txBody>
          <a:bodyPr wrap="none" lIns="0" tIns="0" rIns="0" bIns="0" rtlCol="0" anchor="ctr"/>
          <a:lstStyle/>
          <a:p>
            <a:pPr algn="l" indent="0" marL="0">
              <a:buNone/>
            </a:pPr>
            <a:r>
              <a:rPr lang="en-US" sz="900" b="1" dirty="0">
                <a:solidFill>
                  <a:srgbClr val="0F172A"/>
                </a:solidFill>
                <a:latin typeface="IBM Plex Mono" pitchFamily="34" charset="0"/>
                <a:ea typeface="IBM Plex Mono" pitchFamily="34" charset="-122"/>
                <a:cs typeface="IBM Plex Mono" pitchFamily="34" charset="-120"/>
              </a:rPr>
              <a:t>8.9 — 9.1 target</a:t>
            </a:r>
            <a:endParaRPr lang="en-US" sz="900" dirty="0"/>
          </a:p>
        </p:txBody>
      </p:sp>
      <p:sp>
        <p:nvSpPr>
          <p:cNvPr id="204" name="Text 193"/>
          <p:cNvSpPr txBox="1"/>
          <p:nvPr/>
        </p:nvSpPr>
        <p:spPr>
          <a:xfrm>
            <a:off x="10477195" y="9105595"/>
            <a:ext cx="22860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9.1 — 9.5</a:t>
            </a:r>
            <a:endParaRPr lang="en-US" sz="900" dirty="0"/>
          </a:p>
        </p:txBody>
      </p:sp>
      <p:sp>
        <p:nvSpPr>
          <p:cNvPr id="205" name="Text 194"/>
          <p:cNvSpPr txBox="1"/>
          <p:nvPr/>
        </p:nvSpPr>
        <p:spPr>
          <a:xfrm>
            <a:off x="12763195" y="9105595"/>
            <a:ext cx="22860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9.5 — 9.8</a:t>
            </a:r>
            <a:endParaRPr lang="en-US" sz="900" dirty="0"/>
          </a:p>
        </p:txBody>
      </p:sp>
      <p:sp>
        <p:nvSpPr>
          <p:cNvPr id="206" name="Text 195"/>
          <p:cNvSpPr txBox="1"/>
          <p:nvPr/>
        </p:nvSpPr>
        <p:spPr>
          <a:xfrm>
            <a:off x="15049195" y="9105595"/>
            <a:ext cx="1714500"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 9.8</a:t>
            </a:r>
            <a:endParaRPr lang="en-US" sz="900" dirty="0"/>
          </a:p>
        </p:txBody>
      </p:sp>
      <p:sp>
        <p:nvSpPr>
          <p:cNvPr id="207" name="Text 196"/>
          <p:cNvSpPr txBox="1"/>
          <p:nvPr/>
        </p:nvSpPr>
        <p:spPr>
          <a:xfrm>
            <a:off x="761695" y="9696298"/>
            <a:ext cx="1333561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49 사이트의 값은 분포 가시화 목적의 시뮬레이션</a:t>
            </a:r>
            <a:endParaRPr lang="en-US" sz="1050" dirty="0"/>
          </a:p>
        </p:txBody>
      </p:sp>
      <p:sp>
        <p:nvSpPr>
          <p:cNvPr id="208" name="Text 197"/>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05 / 08 · WAFER MAP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361895"/>
            <a:ext cx="5544007" cy="1923898"/>
          </a:xfrm>
          <a:prstGeom prst="rect">
            <a:avLst/>
          </a:prstGeom>
          <a:solidFill>
            <a:srgbClr val="FFFFFF"/>
          </a:solidFill>
          <a:ln w="12700">
            <a:solidFill>
              <a:srgbClr val="E2E8F0"/>
            </a:solidFill>
            <a:prstDash val="solid"/>
          </a:ln>
        </p:spPr>
      </p:sp>
      <p:sp>
        <p:nvSpPr>
          <p:cNvPr id="5" name="Shape 1"/>
          <p:cNvSpPr/>
          <p:nvPr/>
        </p:nvSpPr>
        <p:spPr>
          <a:xfrm>
            <a:off x="6476695" y="2361895"/>
            <a:ext cx="5352898" cy="1923898"/>
          </a:xfrm>
          <a:prstGeom prst="rect">
            <a:avLst/>
          </a:prstGeom>
          <a:solidFill>
            <a:srgbClr val="FFFFFF"/>
          </a:solidFill>
          <a:ln w="12700">
            <a:solidFill>
              <a:srgbClr val="E2E8F0"/>
            </a:solidFill>
            <a:prstDash val="solid"/>
          </a:ln>
        </p:spPr>
      </p:sp>
      <p:sp>
        <p:nvSpPr>
          <p:cNvPr id="6" name="Shape 2"/>
          <p:cNvSpPr/>
          <p:nvPr/>
        </p:nvSpPr>
        <p:spPr>
          <a:xfrm>
            <a:off x="12001500" y="2361895"/>
            <a:ext cx="5544007" cy="1923898"/>
          </a:xfrm>
          <a:prstGeom prst="rect">
            <a:avLst/>
          </a:prstGeom>
          <a:solidFill>
            <a:srgbClr val="FFFFFF"/>
          </a:solidFill>
          <a:ln w="12700">
            <a:solidFill>
              <a:srgbClr val="E2E8F0"/>
            </a:solidFill>
            <a:prstDash val="solid"/>
          </a:ln>
        </p:spPr>
      </p:sp>
      <p:sp>
        <p:nvSpPr>
          <p:cNvPr id="7" name="Shape 3"/>
          <p:cNvSpPr/>
          <p:nvPr/>
        </p:nvSpPr>
        <p:spPr>
          <a:xfrm>
            <a:off x="761695" y="4572000"/>
            <a:ext cx="16782898" cy="4209898"/>
          </a:xfrm>
          <a:prstGeom prst="rect">
            <a:avLst/>
          </a:prstGeom>
          <a:solidFill>
            <a:srgbClr val="FFFFFF"/>
          </a:solidFill>
          <a:ln w="12700">
            <a:solidFill>
              <a:srgbClr val="E2E8F0"/>
            </a:solidFill>
            <a:prstDash val="solid"/>
          </a:ln>
        </p:spPr>
      </p:sp>
      <p:sp>
        <p:nvSpPr>
          <p:cNvPr id="8" name="Shape 4"/>
          <p:cNvSpPr/>
          <p:nvPr/>
        </p:nvSpPr>
        <p:spPr>
          <a:xfrm>
            <a:off x="761695" y="4914900"/>
            <a:ext cx="16763695" cy="371246"/>
          </a:xfrm>
          <a:prstGeom prst="rect">
            <a:avLst/>
          </a:prstGeom>
          <a:solidFill>
            <a:srgbClr val="F1F5F9"/>
          </a:solidFill>
          <a:ln/>
        </p:spPr>
      </p:sp>
      <p:sp>
        <p:nvSpPr>
          <p:cNvPr id="9" name="Shape 5"/>
          <p:cNvSpPr/>
          <p:nvPr/>
        </p:nvSpPr>
        <p:spPr>
          <a:xfrm>
            <a:off x="761695" y="5277002"/>
            <a:ext cx="16763695" cy="9144"/>
          </a:xfrm>
          <a:prstGeom prst="rect">
            <a:avLst/>
          </a:prstGeom>
          <a:solidFill>
            <a:srgbClr val="CBD5E1"/>
          </a:solidFill>
          <a:ln w="12700">
            <a:solidFill>
              <a:srgbClr val="CBD5E1">
                <a:alpha val="0"/>
              </a:srgbClr>
            </a:solidFill>
            <a:prstDash val="solid"/>
          </a:ln>
        </p:spPr>
      </p:sp>
      <p:pic>
        <p:nvPicPr>
          <p:cNvPr id="10" name="Image 1" descr="gen-dedup-9b95c5d50ae7476a19b5f5fe31149d9a.png">    </p:cNvPr>
          <p:cNvPicPr>
            <a:picLocks noChangeAspect="1"/>
          </p:cNvPicPr>
          <p:nvPr/>
        </p:nvPicPr>
        <p:blipFill>
          <a:blip r:embed="rId2"/>
          <a:srcRect l="-2083" r="-2083" t="0" b="0"/>
          <a:stretch/>
        </p:blipFill>
        <p:spPr>
          <a:xfrm>
            <a:off x="761695" y="6381598"/>
            <a:ext cx="16763695" cy="9144"/>
          </a:xfrm>
          <a:prstGeom prst="rect">
            <a:avLst/>
          </a:prstGeom>
        </p:spPr>
      </p:pic>
      <p:pic>
        <p:nvPicPr>
          <p:cNvPr id="11" name="Image 2" descr="gen-dedup-9b95c5d50ae7476a19b5f5fe31149d9a.png">    </p:cNvPr>
          <p:cNvPicPr>
            <a:picLocks noChangeAspect="1"/>
          </p:cNvPicPr>
          <p:nvPr/>
        </p:nvPicPr>
        <p:blipFill>
          <a:blip r:embed="rId3"/>
          <a:srcRect l="-2083" r="-2083" t="0" b="0"/>
          <a:stretch/>
        </p:blipFill>
        <p:spPr>
          <a:xfrm>
            <a:off x="761695" y="7543800"/>
            <a:ext cx="16763695" cy="9144"/>
          </a:xfrm>
          <a:prstGeom prst="rect">
            <a:avLst/>
          </a:prstGeom>
        </p:spPr>
      </p:pic>
      <p:pic>
        <p:nvPicPr>
          <p:cNvPr id="12" name="Image 3" descr="gen-dedup-5a0ba8ca655a299c416b119e75c6720d.png">    </p:cNvPr>
          <p:cNvPicPr>
            <a:picLocks noChangeAspect="1"/>
          </p:cNvPicPr>
          <p:nvPr/>
        </p:nvPicPr>
        <p:blipFill>
          <a:blip r:embed="rId4"/>
          <a:srcRect l="-2083" r="-2083" t="0" b="0"/>
          <a:stretch/>
        </p:blipFill>
        <p:spPr>
          <a:xfrm>
            <a:off x="761695" y="9105595"/>
            <a:ext cx="16763695" cy="9144"/>
          </a:xfrm>
          <a:prstGeom prst="rect">
            <a:avLst/>
          </a:prstGeom>
        </p:spPr>
      </p:pic>
      <p:pic>
        <p:nvPicPr>
          <p:cNvPr id="13" name="Image 4" descr="gen-dedup-9333bfd046cee3fa66eef764be54833c.png">    </p:cNvPr>
          <p:cNvPicPr>
            <a:picLocks noChangeAspect="1"/>
          </p:cNvPicPr>
          <p:nvPr/>
        </p:nvPicPr>
        <p:blipFill>
          <a:blip r:embed="rId5"/>
          <a:srcRect l="0" r="0" t="-397" b="-397"/>
          <a:stretch/>
        </p:blipFill>
        <p:spPr>
          <a:xfrm>
            <a:off x="761695" y="2361895"/>
            <a:ext cx="5524805" cy="57607"/>
          </a:xfrm>
          <a:prstGeom prst="rect">
            <a:avLst/>
          </a:prstGeom>
        </p:spPr>
      </p:pic>
      <p:pic>
        <p:nvPicPr>
          <p:cNvPr id="14" name="Image 5" descr="gen-dedup-7cfade8152d40daabeae2bb63cf06180.png">    </p:cNvPr>
          <p:cNvPicPr>
            <a:picLocks noChangeAspect="1"/>
          </p:cNvPicPr>
          <p:nvPr/>
        </p:nvPicPr>
        <p:blipFill>
          <a:blip r:embed="rId6"/>
          <a:srcRect l="0" r="0" t="-403" b="-403"/>
          <a:stretch/>
        </p:blipFill>
        <p:spPr>
          <a:xfrm>
            <a:off x="6476695" y="2361895"/>
            <a:ext cx="5333695" cy="57607"/>
          </a:xfrm>
          <a:prstGeom prst="rect">
            <a:avLst/>
          </a:prstGeom>
        </p:spPr>
      </p:pic>
      <p:pic>
        <p:nvPicPr>
          <p:cNvPr id="15" name="Image 6" descr="gen-dedup-b4fd00fa486f9d0a3c8c54ac2038f923.png">    </p:cNvPr>
          <p:cNvPicPr>
            <a:picLocks noChangeAspect="1"/>
          </p:cNvPicPr>
          <p:nvPr/>
        </p:nvPicPr>
        <p:blipFill>
          <a:blip r:embed="rId7"/>
          <a:srcRect l="0" r="0" t="-397" b="-397"/>
          <a:stretch/>
        </p:blipFill>
        <p:spPr>
          <a:xfrm>
            <a:off x="12001500" y="2361895"/>
            <a:ext cx="5524805" cy="57607"/>
          </a:xfrm>
          <a:prstGeom prst="rect">
            <a:avLst/>
          </a:prstGeom>
        </p:spPr>
      </p:pic>
      <p:sp>
        <p:nvSpPr>
          <p:cNvPr id="16" name="Shape 6"/>
          <p:cNvSpPr/>
          <p:nvPr/>
        </p:nvSpPr>
        <p:spPr>
          <a:xfrm>
            <a:off x="761695" y="4572000"/>
            <a:ext cx="16763695" cy="342900"/>
          </a:xfrm>
          <a:prstGeom prst="rect">
            <a:avLst/>
          </a:prstGeom>
          <a:solidFill>
            <a:srgbClr val="0F172A"/>
          </a:solidFill>
          <a:ln w="12700">
            <a:solidFill>
              <a:srgbClr val="FFFFFF">
                <a:alpha val="0"/>
              </a:srgbClr>
            </a:solidFill>
            <a:prstDash val="solid"/>
          </a:ln>
        </p:spPr>
      </p:sp>
      <p:sp>
        <p:nvSpPr>
          <p:cNvPr id="17" name="Shape 7"/>
          <p:cNvSpPr/>
          <p:nvPr/>
        </p:nvSpPr>
        <p:spPr>
          <a:xfrm>
            <a:off x="838505" y="5277002"/>
            <a:ext cx="57607" cy="267005"/>
          </a:xfrm>
          <a:prstGeom prst="rect">
            <a:avLst/>
          </a:prstGeom>
          <a:solidFill>
            <a:srgbClr val="1E40AF"/>
          </a:solidFill>
          <a:ln w="12700">
            <a:solidFill>
              <a:srgbClr val="FFFFFF">
                <a:alpha val="0"/>
              </a:srgbClr>
            </a:solidFill>
            <a:prstDash val="solid"/>
          </a:ln>
        </p:spPr>
      </p:sp>
      <p:pic>
        <p:nvPicPr>
          <p:cNvPr id="18" name="Image 7" descr="gen-dedup-309032b58ce903a964c97866d67f8a72.png">    </p:cNvPr>
          <p:cNvPicPr>
            <a:picLocks noChangeAspect="1"/>
          </p:cNvPicPr>
          <p:nvPr/>
        </p:nvPicPr>
        <p:blipFill>
          <a:blip r:embed="rId8"/>
          <a:srcRect l="0" r="0" t="-400" b="-400"/>
          <a:stretch/>
        </p:blipFill>
        <p:spPr>
          <a:xfrm>
            <a:off x="7905902" y="5391302"/>
            <a:ext cx="3429000" cy="57607"/>
          </a:xfrm>
          <a:prstGeom prst="rect">
            <a:avLst/>
          </a:prstGeom>
        </p:spPr>
      </p:pic>
      <p:sp>
        <p:nvSpPr>
          <p:cNvPr id="19" name="Shape 8"/>
          <p:cNvSpPr/>
          <p:nvPr/>
        </p:nvSpPr>
        <p:spPr>
          <a:xfrm>
            <a:off x="838505" y="5544007"/>
            <a:ext cx="57607" cy="267005"/>
          </a:xfrm>
          <a:prstGeom prst="rect">
            <a:avLst/>
          </a:prstGeom>
          <a:solidFill>
            <a:srgbClr val="1E40AF"/>
          </a:solidFill>
          <a:ln w="12700">
            <a:solidFill>
              <a:srgbClr val="FFFFFF">
                <a:alpha val="0"/>
              </a:srgbClr>
            </a:solidFill>
            <a:prstDash val="solid"/>
          </a:ln>
        </p:spPr>
      </p:sp>
      <p:pic>
        <p:nvPicPr>
          <p:cNvPr id="20" name="Image 8" descr="gen-dedup-309032b58ce903a964c97866d67f8a72.png">    </p:cNvPr>
          <p:cNvPicPr>
            <a:picLocks noChangeAspect="1"/>
          </p:cNvPicPr>
          <p:nvPr/>
        </p:nvPicPr>
        <p:blipFill>
          <a:blip r:embed="rId9"/>
          <a:srcRect l="0" r="0" t="-400" b="-400"/>
          <a:stretch/>
        </p:blipFill>
        <p:spPr>
          <a:xfrm>
            <a:off x="7905902" y="5658307"/>
            <a:ext cx="3429000" cy="57607"/>
          </a:xfrm>
          <a:prstGeom prst="rect">
            <a:avLst/>
          </a:prstGeom>
        </p:spPr>
      </p:pic>
      <p:sp>
        <p:nvSpPr>
          <p:cNvPr id="21" name="Shape 9"/>
          <p:cNvSpPr/>
          <p:nvPr/>
        </p:nvSpPr>
        <p:spPr>
          <a:xfrm>
            <a:off x="838505" y="5810098"/>
            <a:ext cx="57607" cy="267005"/>
          </a:xfrm>
          <a:prstGeom prst="rect">
            <a:avLst/>
          </a:prstGeom>
          <a:solidFill>
            <a:srgbClr val="1E40AF"/>
          </a:solidFill>
          <a:ln w="12700">
            <a:solidFill>
              <a:srgbClr val="FFFFFF">
                <a:alpha val="0"/>
              </a:srgbClr>
            </a:solidFill>
            <a:prstDash val="solid"/>
          </a:ln>
        </p:spPr>
      </p:sp>
      <p:pic>
        <p:nvPicPr>
          <p:cNvPr id="22" name="Image 9" descr="gen-dedup-309032b58ce903a964c97866d67f8a72.png">    </p:cNvPr>
          <p:cNvPicPr>
            <a:picLocks noChangeAspect="1"/>
          </p:cNvPicPr>
          <p:nvPr/>
        </p:nvPicPr>
        <p:blipFill>
          <a:blip r:embed="rId10"/>
          <a:srcRect l="0" r="0" t="-400" b="-400"/>
          <a:stretch/>
        </p:blipFill>
        <p:spPr>
          <a:xfrm>
            <a:off x="7905902" y="5924398"/>
            <a:ext cx="3429000" cy="57607"/>
          </a:xfrm>
          <a:prstGeom prst="rect">
            <a:avLst/>
          </a:prstGeom>
        </p:spPr>
      </p:pic>
      <p:sp>
        <p:nvSpPr>
          <p:cNvPr id="23" name="Shape 10"/>
          <p:cNvSpPr/>
          <p:nvPr/>
        </p:nvSpPr>
        <p:spPr>
          <a:xfrm>
            <a:off x="838505" y="6077102"/>
            <a:ext cx="57607" cy="267005"/>
          </a:xfrm>
          <a:prstGeom prst="rect">
            <a:avLst/>
          </a:prstGeom>
          <a:solidFill>
            <a:srgbClr val="1E40AF"/>
          </a:solidFill>
          <a:ln w="12700">
            <a:solidFill>
              <a:srgbClr val="FFFFFF">
                <a:alpha val="0"/>
              </a:srgbClr>
            </a:solidFill>
            <a:prstDash val="solid"/>
          </a:ln>
        </p:spPr>
      </p:sp>
      <p:pic>
        <p:nvPicPr>
          <p:cNvPr id="24" name="Image 10" descr="gen-dedup-309032b58ce903a964c97866d67f8a72.png">    </p:cNvPr>
          <p:cNvPicPr>
            <a:picLocks noChangeAspect="1"/>
          </p:cNvPicPr>
          <p:nvPr/>
        </p:nvPicPr>
        <p:blipFill>
          <a:blip r:embed="rId11"/>
          <a:srcRect l="0" r="0" t="-400" b="-400"/>
          <a:stretch/>
        </p:blipFill>
        <p:spPr>
          <a:xfrm>
            <a:off x="7905902" y="6191402"/>
            <a:ext cx="3429000" cy="57607"/>
          </a:xfrm>
          <a:prstGeom prst="rect">
            <a:avLst/>
          </a:prstGeom>
        </p:spPr>
      </p:pic>
      <p:sp>
        <p:nvSpPr>
          <p:cNvPr id="25" name="Shape 11"/>
          <p:cNvSpPr/>
          <p:nvPr/>
        </p:nvSpPr>
        <p:spPr>
          <a:xfrm>
            <a:off x="838505" y="6439205"/>
            <a:ext cx="57607" cy="267005"/>
          </a:xfrm>
          <a:prstGeom prst="rect">
            <a:avLst/>
          </a:prstGeom>
          <a:solidFill>
            <a:srgbClr val="0E7490"/>
          </a:solidFill>
          <a:ln w="12700">
            <a:solidFill>
              <a:srgbClr val="FFFFFF">
                <a:alpha val="0"/>
              </a:srgbClr>
            </a:solidFill>
            <a:prstDash val="solid"/>
          </a:ln>
        </p:spPr>
      </p:sp>
      <p:pic>
        <p:nvPicPr>
          <p:cNvPr id="26" name="Image 11" descr="gen-dedup-309032b58ce903a964c97866d67f8a72.png">    </p:cNvPr>
          <p:cNvPicPr>
            <a:picLocks noChangeAspect="1"/>
          </p:cNvPicPr>
          <p:nvPr/>
        </p:nvPicPr>
        <p:blipFill>
          <a:blip r:embed="rId12"/>
          <a:srcRect l="0" r="0" t="-400" b="-400"/>
          <a:stretch/>
        </p:blipFill>
        <p:spPr>
          <a:xfrm>
            <a:off x="7905902" y="6553505"/>
            <a:ext cx="3429000" cy="57607"/>
          </a:xfrm>
          <a:prstGeom prst="rect">
            <a:avLst/>
          </a:prstGeom>
        </p:spPr>
      </p:pic>
      <p:sp>
        <p:nvSpPr>
          <p:cNvPr id="27" name="Shape 12"/>
          <p:cNvSpPr/>
          <p:nvPr/>
        </p:nvSpPr>
        <p:spPr>
          <a:xfrm>
            <a:off x="838505" y="6705295"/>
            <a:ext cx="57607" cy="267005"/>
          </a:xfrm>
          <a:prstGeom prst="rect">
            <a:avLst/>
          </a:prstGeom>
          <a:solidFill>
            <a:srgbClr val="0E7490"/>
          </a:solidFill>
          <a:ln w="12700">
            <a:solidFill>
              <a:srgbClr val="FFFFFF">
                <a:alpha val="0"/>
              </a:srgbClr>
            </a:solidFill>
            <a:prstDash val="solid"/>
          </a:ln>
        </p:spPr>
      </p:sp>
      <p:pic>
        <p:nvPicPr>
          <p:cNvPr id="28" name="Image 12" descr="gen-dedup-309032b58ce903a964c97866d67f8a72.png">    </p:cNvPr>
          <p:cNvPicPr>
            <a:picLocks noChangeAspect="1"/>
          </p:cNvPicPr>
          <p:nvPr/>
        </p:nvPicPr>
        <p:blipFill>
          <a:blip r:embed="rId13"/>
          <a:srcRect l="0" r="0" t="-400" b="-400"/>
          <a:stretch/>
        </p:blipFill>
        <p:spPr>
          <a:xfrm>
            <a:off x="7905902" y="6819595"/>
            <a:ext cx="3429000" cy="57607"/>
          </a:xfrm>
          <a:prstGeom prst="rect">
            <a:avLst/>
          </a:prstGeom>
        </p:spPr>
      </p:pic>
      <p:sp>
        <p:nvSpPr>
          <p:cNvPr id="29" name="Shape 13"/>
          <p:cNvSpPr/>
          <p:nvPr/>
        </p:nvSpPr>
        <p:spPr>
          <a:xfrm>
            <a:off x="838505" y="6972300"/>
            <a:ext cx="57607" cy="267005"/>
          </a:xfrm>
          <a:prstGeom prst="rect">
            <a:avLst/>
          </a:prstGeom>
          <a:solidFill>
            <a:srgbClr val="0E7490"/>
          </a:solidFill>
          <a:ln w="12700">
            <a:solidFill>
              <a:srgbClr val="FFFFFF">
                <a:alpha val="0"/>
              </a:srgbClr>
            </a:solidFill>
            <a:prstDash val="solid"/>
          </a:ln>
        </p:spPr>
      </p:sp>
      <p:pic>
        <p:nvPicPr>
          <p:cNvPr id="30" name="Image 13" descr="gen-dedup-309032b58ce903a964c97866d67f8a72.png">    </p:cNvPr>
          <p:cNvPicPr>
            <a:picLocks noChangeAspect="1"/>
          </p:cNvPicPr>
          <p:nvPr/>
        </p:nvPicPr>
        <p:blipFill>
          <a:blip r:embed="rId14"/>
          <a:srcRect l="0" r="0" t="-400" b="-400"/>
          <a:stretch/>
        </p:blipFill>
        <p:spPr>
          <a:xfrm>
            <a:off x="7905902" y="7086600"/>
            <a:ext cx="3429000" cy="57607"/>
          </a:xfrm>
          <a:prstGeom prst="rect">
            <a:avLst/>
          </a:prstGeom>
        </p:spPr>
      </p:pic>
      <p:sp>
        <p:nvSpPr>
          <p:cNvPr id="31" name="Shape 14"/>
          <p:cNvSpPr/>
          <p:nvPr/>
        </p:nvSpPr>
        <p:spPr>
          <a:xfrm>
            <a:off x="838505" y="7239305"/>
            <a:ext cx="57607" cy="267005"/>
          </a:xfrm>
          <a:prstGeom prst="rect">
            <a:avLst/>
          </a:prstGeom>
          <a:solidFill>
            <a:srgbClr val="0E7490"/>
          </a:solidFill>
          <a:ln w="12700">
            <a:solidFill>
              <a:srgbClr val="FFFFFF">
                <a:alpha val="0"/>
              </a:srgbClr>
            </a:solidFill>
            <a:prstDash val="solid"/>
          </a:ln>
        </p:spPr>
      </p:sp>
      <p:pic>
        <p:nvPicPr>
          <p:cNvPr id="32" name="Image 14" descr="gen-dedup-309032b58ce903a964c97866d67f8a72.png">    </p:cNvPr>
          <p:cNvPicPr>
            <a:picLocks noChangeAspect="1"/>
          </p:cNvPicPr>
          <p:nvPr/>
        </p:nvPicPr>
        <p:blipFill>
          <a:blip r:embed="rId15"/>
          <a:srcRect l="0" r="0" t="-400" b="-400"/>
          <a:stretch/>
        </p:blipFill>
        <p:spPr>
          <a:xfrm>
            <a:off x="7905902" y="7353605"/>
            <a:ext cx="3429000" cy="57607"/>
          </a:xfrm>
          <a:prstGeom prst="rect">
            <a:avLst/>
          </a:prstGeom>
        </p:spPr>
      </p:pic>
      <p:sp>
        <p:nvSpPr>
          <p:cNvPr id="33" name="Shape 15"/>
          <p:cNvSpPr/>
          <p:nvPr/>
        </p:nvSpPr>
        <p:spPr>
          <a:xfrm>
            <a:off x="838505" y="7601407"/>
            <a:ext cx="57607" cy="267005"/>
          </a:xfrm>
          <a:prstGeom prst="rect">
            <a:avLst/>
          </a:prstGeom>
          <a:solidFill>
            <a:srgbClr val="475569"/>
          </a:solidFill>
          <a:ln w="12700">
            <a:solidFill>
              <a:srgbClr val="FFFFFF">
                <a:alpha val="0"/>
              </a:srgbClr>
            </a:solidFill>
            <a:prstDash val="solid"/>
          </a:ln>
        </p:spPr>
      </p:sp>
      <p:pic>
        <p:nvPicPr>
          <p:cNvPr id="34" name="Image 15" descr="gen-dedup-309032b58ce903a964c97866d67f8a72.png">    </p:cNvPr>
          <p:cNvPicPr>
            <a:picLocks noChangeAspect="1"/>
          </p:cNvPicPr>
          <p:nvPr/>
        </p:nvPicPr>
        <p:blipFill>
          <a:blip r:embed="rId16"/>
          <a:srcRect l="0" r="0" t="-400" b="-400"/>
          <a:stretch/>
        </p:blipFill>
        <p:spPr>
          <a:xfrm>
            <a:off x="7905902" y="7715707"/>
            <a:ext cx="3429000" cy="57607"/>
          </a:xfrm>
          <a:prstGeom prst="rect">
            <a:avLst/>
          </a:prstGeom>
        </p:spPr>
      </p:pic>
      <p:sp>
        <p:nvSpPr>
          <p:cNvPr id="35" name="Shape 16"/>
          <p:cNvSpPr/>
          <p:nvPr/>
        </p:nvSpPr>
        <p:spPr>
          <a:xfrm>
            <a:off x="838505" y="7867498"/>
            <a:ext cx="57607" cy="267005"/>
          </a:xfrm>
          <a:prstGeom prst="rect">
            <a:avLst/>
          </a:prstGeom>
          <a:solidFill>
            <a:srgbClr val="475569"/>
          </a:solidFill>
          <a:ln w="12700">
            <a:solidFill>
              <a:srgbClr val="FFFFFF">
                <a:alpha val="0"/>
              </a:srgbClr>
            </a:solidFill>
            <a:prstDash val="solid"/>
          </a:ln>
        </p:spPr>
      </p:sp>
      <p:pic>
        <p:nvPicPr>
          <p:cNvPr id="36" name="Image 16" descr="gen-dedup-309032b58ce903a964c97866d67f8a72.png">    </p:cNvPr>
          <p:cNvPicPr>
            <a:picLocks noChangeAspect="1"/>
          </p:cNvPicPr>
          <p:nvPr/>
        </p:nvPicPr>
        <p:blipFill>
          <a:blip r:embed="rId17"/>
          <a:srcRect l="0" r="0" t="-400" b="-400"/>
          <a:stretch/>
        </p:blipFill>
        <p:spPr>
          <a:xfrm>
            <a:off x="7905902" y="7981798"/>
            <a:ext cx="3429000" cy="57607"/>
          </a:xfrm>
          <a:prstGeom prst="rect">
            <a:avLst/>
          </a:prstGeom>
        </p:spPr>
      </p:pic>
      <p:sp>
        <p:nvSpPr>
          <p:cNvPr id="37" name="Shape 17"/>
          <p:cNvSpPr/>
          <p:nvPr/>
        </p:nvSpPr>
        <p:spPr>
          <a:xfrm>
            <a:off x="838505" y="8134502"/>
            <a:ext cx="57607" cy="267005"/>
          </a:xfrm>
          <a:prstGeom prst="rect">
            <a:avLst/>
          </a:prstGeom>
          <a:solidFill>
            <a:srgbClr val="475569"/>
          </a:solidFill>
          <a:ln w="12700">
            <a:solidFill>
              <a:srgbClr val="FFFFFF">
                <a:alpha val="0"/>
              </a:srgbClr>
            </a:solidFill>
            <a:prstDash val="solid"/>
          </a:ln>
        </p:spPr>
      </p:sp>
      <p:pic>
        <p:nvPicPr>
          <p:cNvPr id="38" name="Image 17" descr="gen-dedup-309032b58ce903a964c97866d67f8a72.png">    </p:cNvPr>
          <p:cNvPicPr>
            <a:picLocks noChangeAspect="1"/>
          </p:cNvPicPr>
          <p:nvPr/>
        </p:nvPicPr>
        <p:blipFill>
          <a:blip r:embed="rId18"/>
          <a:srcRect l="0" r="0" t="-400" b="-400"/>
          <a:stretch/>
        </p:blipFill>
        <p:spPr>
          <a:xfrm>
            <a:off x="7905902" y="8248802"/>
            <a:ext cx="3429000" cy="57607"/>
          </a:xfrm>
          <a:prstGeom prst="rect">
            <a:avLst/>
          </a:prstGeom>
        </p:spPr>
      </p:pic>
      <p:sp>
        <p:nvSpPr>
          <p:cNvPr id="39" name="Shape 18"/>
          <p:cNvSpPr/>
          <p:nvPr/>
        </p:nvSpPr>
        <p:spPr>
          <a:xfrm>
            <a:off x="838505" y="8401507"/>
            <a:ext cx="57607" cy="267005"/>
          </a:xfrm>
          <a:prstGeom prst="rect">
            <a:avLst/>
          </a:prstGeom>
          <a:solidFill>
            <a:srgbClr val="475569"/>
          </a:solidFill>
          <a:ln w="12700">
            <a:solidFill>
              <a:srgbClr val="FFFFFF">
                <a:alpha val="0"/>
              </a:srgbClr>
            </a:solidFill>
            <a:prstDash val="solid"/>
          </a:ln>
        </p:spPr>
      </p:sp>
      <p:pic>
        <p:nvPicPr>
          <p:cNvPr id="40" name="Image 18" descr="gen-dedup-309032b58ce903a964c97866d67f8a72.png">    </p:cNvPr>
          <p:cNvPicPr>
            <a:picLocks noChangeAspect="1"/>
          </p:cNvPicPr>
          <p:nvPr/>
        </p:nvPicPr>
        <p:blipFill>
          <a:blip r:embed="rId19"/>
          <a:srcRect l="0" r="0" t="-400" b="-400"/>
          <a:stretch/>
        </p:blipFill>
        <p:spPr>
          <a:xfrm>
            <a:off x="7905902" y="8515807"/>
            <a:ext cx="3429000" cy="57607"/>
          </a:xfrm>
          <a:prstGeom prst="rect">
            <a:avLst/>
          </a:prstGeom>
        </p:spPr>
      </p:pic>
      <p:pic>
        <p:nvPicPr>
          <p:cNvPr id="41" name="Image 19" descr="gen-dedup-bd512fc2d53b3141e8334f9a731b3d3e.png">    </p:cNvPr>
          <p:cNvPicPr>
            <a:picLocks noChangeAspect="1"/>
          </p:cNvPicPr>
          <p:nvPr/>
        </p:nvPicPr>
        <p:blipFill>
          <a:blip r:embed="rId20"/>
          <a:srcRect l="0" r="0" t="-408" b="-408"/>
          <a:stretch/>
        </p:blipFill>
        <p:spPr>
          <a:xfrm>
            <a:off x="7905902" y="5391302"/>
            <a:ext cx="1009498" cy="57607"/>
          </a:xfrm>
          <a:prstGeom prst="rect">
            <a:avLst/>
          </a:prstGeom>
        </p:spPr>
      </p:pic>
      <p:pic>
        <p:nvPicPr>
          <p:cNvPr id="42" name="Image 20" descr="gen-dedup-a6002156b4a782d3729d4419b913875f.png">    </p:cNvPr>
          <p:cNvPicPr>
            <a:picLocks noChangeAspect="1"/>
          </p:cNvPicPr>
          <p:nvPr/>
        </p:nvPicPr>
        <p:blipFill>
          <a:blip r:embed="rId21"/>
          <a:srcRect l="0" r="0" t="-384" b="-384"/>
          <a:stretch/>
        </p:blipFill>
        <p:spPr>
          <a:xfrm>
            <a:off x="7905902" y="5658307"/>
            <a:ext cx="1429207" cy="57607"/>
          </a:xfrm>
          <a:prstGeom prst="rect">
            <a:avLst/>
          </a:prstGeom>
        </p:spPr>
      </p:pic>
      <p:pic>
        <p:nvPicPr>
          <p:cNvPr id="43" name="Image 21" descr="gen-dedup-2a1505fb94bc989d76290e5341a0e9ad.png">    </p:cNvPr>
          <p:cNvPicPr>
            <a:picLocks noChangeAspect="1"/>
          </p:cNvPicPr>
          <p:nvPr/>
        </p:nvPicPr>
        <p:blipFill>
          <a:blip r:embed="rId22"/>
          <a:srcRect l="0" r="0" t="-406" b="-406"/>
          <a:stretch/>
        </p:blipFill>
        <p:spPr>
          <a:xfrm>
            <a:off x="7905902" y="5924398"/>
            <a:ext cx="2590495" cy="57607"/>
          </a:xfrm>
          <a:prstGeom prst="rect">
            <a:avLst/>
          </a:prstGeom>
        </p:spPr>
      </p:pic>
      <p:pic>
        <p:nvPicPr>
          <p:cNvPr id="44" name="Image 22" descr="gen-dedup-e0e144ce02a4c60b8c6f6d3d31ec73c6.png">    </p:cNvPr>
          <p:cNvPicPr>
            <a:picLocks noChangeAspect="1"/>
          </p:cNvPicPr>
          <p:nvPr/>
        </p:nvPicPr>
        <p:blipFill>
          <a:blip r:embed="rId23"/>
          <a:srcRect l="0" r="0" t="-397" b="-397"/>
          <a:stretch/>
        </p:blipFill>
        <p:spPr>
          <a:xfrm>
            <a:off x="7905902" y="6191402"/>
            <a:ext cx="2762402" cy="57607"/>
          </a:xfrm>
          <a:prstGeom prst="rect">
            <a:avLst/>
          </a:prstGeom>
        </p:spPr>
      </p:pic>
      <p:pic>
        <p:nvPicPr>
          <p:cNvPr id="45" name="Image 23" descr="gen-dedup-6adb12e9bcf19d233969ffc5dfa76747.png">    </p:cNvPr>
          <p:cNvPicPr>
            <a:picLocks noChangeAspect="1"/>
          </p:cNvPicPr>
          <p:nvPr/>
        </p:nvPicPr>
        <p:blipFill>
          <a:blip r:embed="rId24"/>
          <a:srcRect l="0" r="0" t="-372" b="-372"/>
          <a:stretch/>
        </p:blipFill>
        <p:spPr>
          <a:xfrm>
            <a:off x="7905902" y="6553505"/>
            <a:ext cx="676656" cy="57607"/>
          </a:xfrm>
          <a:prstGeom prst="rect">
            <a:avLst/>
          </a:prstGeom>
        </p:spPr>
      </p:pic>
      <p:pic>
        <p:nvPicPr>
          <p:cNvPr id="46" name="Image 24" descr="gen-dedup-57984e841e151bd4ce5d510a0eb249b7.png">    </p:cNvPr>
          <p:cNvPicPr>
            <a:picLocks noChangeAspect="1"/>
          </p:cNvPicPr>
          <p:nvPr/>
        </p:nvPicPr>
        <p:blipFill>
          <a:blip r:embed="rId25"/>
          <a:srcRect l="0" r="0" t="-381" b="-381"/>
          <a:stretch/>
        </p:blipFill>
        <p:spPr>
          <a:xfrm>
            <a:off x="7905902" y="6819595"/>
            <a:ext cx="1019556" cy="57607"/>
          </a:xfrm>
          <a:prstGeom prst="rect">
            <a:avLst/>
          </a:prstGeom>
        </p:spPr>
      </p:pic>
      <p:pic>
        <p:nvPicPr>
          <p:cNvPr id="47" name="Image 25" descr="gen-dedup-3efd1014a66b4c6eb75eccd235e56000.png">    </p:cNvPr>
          <p:cNvPicPr>
            <a:picLocks noChangeAspect="1"/>
          </p:cNvPicPr>
          <p:nvPr/>
        </p:nvPicPr>
        <p:blipFill>
          <a:blip r:embed="rId26"/>
          <a:srcRect l="0" r="0" t="-382" b="-382"/>
          <a:stretch/>
        </p:blipFill>
        <p:spPr>
          <a:xfrm>
            <a:off x="7905902" y="7086600"/>
            <a:ext cx="1314907" cy="57607"/>
          </a:xfrm>
          <a:prstGeom prst="rect">
            <a:avLst/>
          </a:prstGeom>
        </p:spPr>
      </p:pic>
      <p:pic>
        <p:nvPicPr>
          <p:cNvPr id="48" name="Image 26" descr="gen-dedup-6400c9189648064d5e3a2bcec335a45e.png">    </p:cNvPr>
          <p:cNvPicPr>
            <a:picLocks noChangeAspect="1"/>
          </p:cNvPicPr>
          <p:nvPr/>
        </p:nvPicPr>
        <p:blipFill>
          <a:blip r:embed="rId27"/>
          <a:srcRect l="0" r="0" t="-403" b="-403"/>
          <a:stretch/>
        </p:blipFill>
        <p:spPr>
          <a:xfrm>
            <a:off x="7905902" y="7353605"/>
            <a:ext cx="1419149" cy="57607"/>
          </a:xfrm>
          <a:prstGeom prst="rect">
            <a:avLst/>
          </a:prstGeom>
        </p:spPr>
      </p:pic>
      <p:pic>
        <p:nvPicPr>
          <p:cNvPr id="49" name="Image 27" descr="gen-dedup-df148108786ff109e44e17beb21ea48c.png">    </p:cNvPr>
          <p:cNvPicPr>
            <a:picLocks noChangeAspect="1"/>
          </p:cNvPicPr>
          <p:nvPr/>
        </p:nvPicPr>
        <p:blipFill>
          <a:blip r:embed="rId28"/>
          <a:srcRect l="0" r="0" t="-414" b="-414"/>
          <a:stretch/>
        </p:blipFill>
        <p:spPr>
          <a:xfrm>
            <a:off x="7905902" y="7715707"/>
            <a:ext cx="828446" cy="57607"/>
          </a:xfrm>
          <a:prstGeom prst="rect">
            <a:avLst/>
          </a:prstGeom>
        </p:spPr>
      </p:pic>
      <p:pic>
        <p:nvPicPr>
          <p:cNvPr id="50" name="Image 28" descr="gen-dedup-bef79b1681826b7b01fa80903aa791ec.png">    </p:cNvPr>
          <p:cNvPicPr>
            <a:picLocks noChangeAspect="1"/>
          </p:cNvPicPr>
          <p:nvPr/>
        </p:nvPicPr>
        <p:blipFill>
          <a:blip r:embed="rId29"/>
          <a:srcRect l="0" r="0" t="-391" b="-391"/>
          <a:stretch/>
        </p:blipFill>
        <p:spPr>
          <a:xfrm>
            <a:off x="7905902" y="7981798"/>
            <a:ext cx="1228954" cy="57607"/>
          </a:xfrm>
          <a:prstGeom prst="rect">
            <a:avLst/>
          </a:prstGeom>
        </p:spPr>
      </p:pic>
      <p:pic>
        <p:nvPicPr>
          <p:cNvPr id="51" name="Image 29" descr="gen-dedup-9ab4ed640e8a223c6fb0a285bfafd600.png">    </p:cNvPr>
          <p:cNvPicPr>
            <a:picLocks noChangeAspect="1"/>
          </p:cNvPicPr>
          <p:nvPr/>
        </p:nvPicPr>
        <p:blipFill>
          <a:blip r:embed="rId30"/>
          <a:srcRect l="0" r="0" t="-386" b="-386"/>
          <a:stretch/>
        </p:blipFill>
        <p:spPr>
          <a:xfrm>
            <a:off x="7905902" y="8248802"/>
            <a:ext cx="1657807" cy="57607"/>
          </a:xfrm>
          <a:prstGeom prst="rect">
            <a:avLst/>
          </a:prstGeom>
        </p:spPr>
      </p:pic>
      <p:pic>
        <p:nvPicPr>
          <p:cNvPr id="52" name="Image 30" descr="gen-dedup-d762c447d249b726f648592444df8bf8.png">    </p:cNvPr>
          <p:cNvPicPr>
            <a:picLocks noChangeAspect="1"/>
          </p:cNvPicPr>
          <p:nvPr/>
        </p:nvPicPr>
        <p:blipFill>
          <a:blip r:embed="rId31"/>
          <a:srcRect l="0" r="0" t="-407" b="-407"/>
          <a:stretch/>
        </p:blipFill>
        <p:spPr>
          <a:xfrm>
            <a:off x="7905902" y="8515807"/>
            <a:ext cx="1742846" cy="57607"/>
          </a:xfrm>
          <a:prstGeom prst="rect">
            <a:avLst/>
          </a:prstGeom>
        </p:spPr>
      </p:pic>
      <p:sp>
        <p:nvSpPr>
          <p:cNvPr id="53" name="Text 19"/>
          <p:cNvSpPr txBox="1"/>
          <p:nvPr/>
        </p:nvSpPr>
        <p:spPr>
          <a:xfrm>
            <a:off x="761695" y="761695"/>
            <a:ext cx="9525305"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UNIFORMITY SUMMARY · 06 / 08</a:t>
            </a:r>
            <a:endParaRPr lang="en-US" sz="1050" dirty="0"/>
          </a:p>
        </p:txBody>
      </p:sp>
      <p:sp>
        <p:nvSpPr>
          <p:cNvPr id="54" name="Text 20"/>
          <p:cNvSpPr txBox="1"/>
          <p:nvPr/>
        </p:nvSpPr>
        <p:spPr>
          <a:xfrm>
            <a:off x="761695" y="1123798"/>
            <a:ext cx="16193110" cy="514807"/>
          </a:xfrm>
          <a:prstGeom prst="rect">
            <a:avLst/>
          </a:prstGeom>
          <a:noFill/>
          <a:ln/>
        </p:spPr>
        <p:txBody>
          <a:bodyPr wrap="none" lIns="0" tIns="0" rIns="0" bIns="0" rtlCol="0" anchor="ctr"/>
          <a:lstStyle/>
          <a:p>
            <a:pPr algn="l" indent="0" marL="0">
              <a:buNone/>
            </a:pPr>
            <a:r>
              <a:rPr lang="en-US" sz="4050" b="1" spc="-81" kern="0" dirty="0">
                <a:solidFill>
                  <a:srgbClr val="0F172A"/>
                </a:solidFill>
                <a:latin typeface="IBM Plex Sans KR" pitchFamily="34" charset="0"/>
                <a:ea typeface="IBM Plex Sans KR" pitchFamily="34" charset="-122"/>
                <a:cs typeface="IBM Plex Sans KR" pitchFamily="34" charset="-120"/>
              </a:rPr>
              <a:t>In-wafer &amp; Wafer간 균일도</a:t>
            </a:r>
            <a:endParaRPr lang="en-US" sz="4050" dirty="0"/>
          </a:p>
        </p:txBody>
      </p:sp>
      <p:sp>
        <p:nvSpPr>
          <p:cNvPr id="55" name="Text 21"/>
          <p:cNvSpPr txBox="1"/>
          <p:nvPr/>
        </p:nvSpPr>
        <p:spPr>
          <a:xfrm>
            <a:off x="761695" y="1848002"/>
            <a:ext cx="16193110" cy="247802"/>
          </a:xfrm>
          <a:prstGeom prst="rect">
            <a:avLst/>
          </a:prstGeom>
          <a:noFill/>
          <a:ln/>
        </p:spPr>
        <p:txBody>
          <a:bodyPr wrap="none" lIns="0" tIns="0" rIns="0" bIns="0" rtlCol="0" anchor="ctr"/>
          <a:lstStyle/>
          <a:p>
            <a:pPr algn="l" indent="0" marL="0">
              <a:buNone/>
            </a:pPr>
            <a:r>
              <a:rPr lang="en-US" sz="1350" dirty="0">
                <a:solidFill>
                  <a:srgbClr val="475569"/>
                </a:solidFill>
                <a:latin typeface="IBM Plex Sans KR" pitchFamily="34" charset="0"/>
                <a:ea typeface="IBM Plex Sans KR" pitchFamily="34" charset="-122"/>
                <a:cs typeface="IBM Plex Sans KR" pitchFamily="34" charset="-120"/>
              </a:rPr>
              <a:t>49 사이트 CD 데이터로부터 산출 · U% = 3σ / mean × 100 · Δ는 wafer간 평균 차이</a:t>
            </a:r>
            <a:endParaRPr lang="en-US" sz="1350" dirty="0"/>
          </a:p>
        </p:txBody>
      </p:sp>
      <p:sp>
        <p:nvSpPr>
          <p:cNvPr id="56" name="Text 22"/>
          <p:cNvSpPr txBox="1"/>
          <p:nvPr/>
        </p:nvSpPr>
        <p:spPr>
          <a:xfrm>
            <a:off x="990295" y="2533802"/>
            <a:ext cx="762610" cy="352958"/>
          </a:xfrm>
          <a:prstGeom prst="rect">
            <a:avLst/>
          </a:prstGeom>
          <a:noFill/>
          <a:ln/>
        </p:spPr>
        <p:txBody>
          <a:bodyPr wrap="none" lIns="0" tIns="0" rIns="0" bIns="0" rtlCol="0" anchor="ctr"/>
          <a:lstStyle/>
          <a:p>
            <a:pPr algn="l" indent="0" marL="0">
              <a:buNone/>
            </a:pPr>
            <a:r>
              <a:rPr lang="en-US" sz="2100" b="1" spc="-21" kern="0" dirty="0">
                <a:solidFill>
                  <a:srgbClr val="1E40AF"/>
                </a:solidFill>
                <a:latin typeface="IBM Plex Mono" pitchFamily="34" charset="0"/>
                <a:ea typeface="IBM Plex Mono" pitchFamily="34" charset="-122"/>
                <a:cs typeface="IBM Plex Mono" pitchFamily="34" charset="-120"/>
              </a:rPr>
              <a:t>W1</a:t>
            </a:r>
            <a:endParaRPr lang="en-US" sz="2100" dirty="0"/>
          </a:p>
        </p:txBody>
      </p:sp>
      <p:sp>
        <p:nvSpPr>
          <p:cNvPr id="57" name="Text 23"/>
          <p:cNvSpPr txBox="1"/>
          <p:nvPr/>
        </p:nvSpPr>
        <p:spPr>
          <a:xfrm>
            <a:off x="1524305" y="2648102"/>
            <a:ext cx="4572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continuous RIE · split-A</a:t>
            </a:r>
            <a:endParaRPr lang="en-US" sz="1050" dirty="0"/>
          </a:p>
        </p:txBody>
      </p:sp>
      <p:sp>
        <p:nvSpPr>
          <p:cNvPr id="58" name="Text 24"/>
          <p:cNvSpPr txBox="1"/>
          <p:nvPr/>
        </p:nvSpPr>
        <p:spPr>
          <a:xfrm>
            <a:off x="990295" y="2971800"/>
            <a:ext cx="2095805"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AVG U% ACROSS 4 STAGES</a:t>
            </a:r>
            <a:endParaRPr lang="en-US" sz="825" dirty="0"/>
          </a:p>
        </p:txBody>
      </p:sp>
      <p:sp>
        <p:nvSpPr>
          <p:cNvPr id="59" name="Text 25"/>
          <p:cNvSpPr txBox="1"/>
          <p:nvPr/>
        </p:nvSpPr>
        <p:spPr>
          <a:xfrm>
            <a:off x="990295" y="3161995"/>
            <a:ext cx="2857500" cy="534010"/>
          </a:xfrm>
          <a:prstGeom prst="rect">
            <a:avLst/>
          </a:prstGeom>
          <a:noFill/>
          <a:ln/>
        </p:spPr>
        <p:txBody>
          <a:bodyPr wrap="none" lIns="0" tIns="0" rIns="0" bIns="0" rtlCol="0" anchor="ctr"/>
          <a:lstStyle/>
          <a:p>
            <a:pPr algn="l" indent="0" marL="0">
              <a:buNone/>
            </a:pPr>
            <a:r>
              <a:rPr lang="en-US" sz="4200" b="1" spc="-126" kern="0" dirty="0">
                <a:solidFill>
                  <a:srgbClr val="0F172A"/>
                </a:solidFill>
                <a:latin typeface="IBM Plex Mono" pitchFamily="34" charset="0"/>
                <a:ea typeface="IBM Plex Mono" pitchFamily="34" charset="-122"/>
                <a:cs typeface="IBM Plex Mono" pitchFamily="34" charset="-120"/>
              </a:rPr>
              <a:t>6.78</a:t>
            </a:r>
            <a:pPr algn="l" indent="0" marL="0">
              <a:buNone/>
            </a:pPr>
            <a:r>
              <a:rPr lang="en-US" sz="1500" b="1" spc="-126" kern="0" dirty="0">
                <a:solidFill>
                  <a:srgbClr val="64748B"/>
                </a:solidFill>
                <a:latin typeface="IBM Plex Mono" pitchFamily="34" charset="0"/>
                <a:ea typeface="IBM Plex Mono" pitchFamily="34" charset="-122"/>
                <a:cs typeface="IBM Plex Mono" pitchFamily="34" charset="-120"/>
              </a:rPr>
              <a:t> %</a:t>
            </a:r>
            <a:endParaRPr lang="en-US" sz="4200" dirty="0"/>
          </a:p>
        </p:txBody>
      </p:sp>
      <p:sp>
        <p:nvSpPr>
          <p:cNvPr id="60" name="Text 26"/>
          <p:cNvSpPr txBox="1"/>
          <p:nvPr/>
        </p:nvSpPr>
        <p:spPr>
          <a:xfrm>
            <a:off x="3810305" y="3010205"/>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WORST STAGE</a:t>
            </a:r>
            <a:endParaRPr lang="en-US" sz="825" dirty="0"/>
          </a:p>
        </p:txBody>
      </p:sp>
      <p:sp>
        <p:nvSpPr>
          <p:cNvPr id="61" name="Text 27"/>
          <p:cNvSpPr txBox="1"/>
          <p:nvPr/>
        </p:nvSpPr>
        <p:spPr>
          <a:xfrm>
            <a:off x="3810305" y="3181198"/>
            <a:ext cx="2286000" cy="277063"/>
          </a:xfrm>
          <a:prstGeom prst="rect">
            <a:avLst/>
          </a:prstGeom>
          <a:noFill/>
          <a:ln/>
        </p:spPr>
        <p:txBody>
          <a:bodyPr wrap="none" lIns="0" tIns="0" rIns="0" bIns="0" rtlCol="0" anchor="ctr"/>
          <a:lstStyle/>
          <a:p>
            <a:pPr algn="l" indent="0" marL="0">
              <a:buNone/>
            </a:pPr>
            <a:r>
              <a:rPr lang="en-US" sz="1650" b="1" dirty="0">
                <a:solidFill>
                  <a:srgbClr val="DC2626"/>
                </a:solidFill>
                <a:latin typeface="IBM Plex Mono" pitchFamily="34" charset="0"/>
                <a:ea typeface="IBM Plex Mono" pitchFamily="34" charset="-122"/>
                <a:cs typeface="IBM Plex Mono" pitchFamily="34" charset="-120"/>
              </a:rPr>
              <a:t>ACI · U 9.69%</a:t>
            </a:r>
            <a:endParaRPr lang="en-US" sz="1650" dirty="0"/>
          </a:p>
        </p:txBody>
      </p:sp>
      <p:sp>
        <p:nvSpPr>
          <p:cNvPr id="62" name="Text 28"/>
          <p:cNvSpPr txBox="1"/>
          <p:nvPr/>
        </p:nvSpPr>
        <p:spPr>
          <a:xfrm>
            <a:off x="3810305" y="3619195"/>
            <a:ext cx="2286000" cy="181051"/>
          </a:xfrm>
          <a:prstGeom prst="rect">
            <a:avLst/>
          </a:prstGeom>
          <a:noFill/>
          <a:ln/>
        </p:spPr>
        <p:txBody>
          <a:bodyPr wrap="none" lIns="0" tIns="0" rIns="0" bIns="0" rtlCol="0" anchor="ctr"/>
          <a:lstStyle/>
          <a:p>
            <a:pPr algn="l" indent="0" marL="0">
              <a:buNone/>
            </a:pPr>
            <a:r>
              <a:rPr lang="en-US" sz="975" dirty="0">
                <a:solidFill>
                  <a:srgbClr val="64748B"/>
                </a:solidFill>
                <a:latin typeface="IBM Plex Sans KR" pitchFamily="34" charset="0"/>
                <a:ea typeface="IBM Plex Sans KR" pitchFamily="34" charset="-122"/>
                <a:cs typeface="IBM Plex Sans KR" pitchFamily="34" charset="-120"/>
              </a:rPr>
              <a:t>Cut 단계에서 가장 큰 폭 증가</a:t>
            </a:r>
            <a:endParaRPr lang="en-US" sz="975" dirty="0"/>
          </a:p>
        </p:txBody>
      </p:sp>
      <p:sp>
        <p:nvSpPr>
          <p:cNvPr id="63" name="Text 29"/>
          <p:cNvSpPr txBox="1"/>
          <p:nvPr/>
        </p:nvSpPr>
        <p:spPr>
          <a:xfrm>
            <a:off x="6705295" y="2533802"/>
            <a:ext cx="762610" cy="352958"/>
          </a:xfrm>
          <a:prstGeom prst="rect">
            <a:avLst/>
          </a:prstGeom>
          <a:noFill/>
          <a:ln/>
        </p:spPr>
        <p:txBody>
          <a:bodyPr wrap="none" lIns="0" tIns="0" rIns="0" bIns="0" rtlCol="0" anchor="ctr"/>
          <a:lstStyle/>
          <a:p>
            <a:pPr algn="l" indent="0" marL="0">
              <a:buNone/>
            </a:pPr>
            <a:r>
              <a:rPr lang="en-US" sz="2100" b="1" spc="-21" kern="0" dirty="0">
                <a:solidFill>
                  <a:srgbClr val="0E7490"/>
                </a:solidFill>
                <a:latin typeface="IBM Plex Mono" pitchFamily="34" charset="0"/>
                <a:ea typeface="IBM Plex Mono" pitchFamily="34" charset="-122"/>
                <a:cs typeface="IBM Plex Mono" pitchFamily="34" charset="-120"/>
              </a:rPr>
              <a:t>W2</a:t>
            </a:r>
            <a:endParaRPr lang="en-US" sz="2100" dirty="0"/>
          </a:p>
        </p:txBody>
      </p:sp>
      <p:sp>
        <p:nvSpPr>
          <p:cNvPr id="64" name="Text 30"/>
          <p:cNvSpPr txBox="1"/>
          <p:nvPr/>
        </p:nvSpPr>
        <p:spPr>
          <a:xfrm>
            <a:off x="7239305" y="2648102"/>
            <a:ext cx="4572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QALE step-220 · split-B</a:t>
            </a:r>
            <a:endParaRPr lang="en-US" sz="1050" dirty="0"/>
          </a:p>
        </p:txBody>
      </p:sp>
      <p:sp>
        <p:nvSpPr>
          <p:cNvPr id="65" name="Text 31"/>
          <p:cNvSpPr txBox="1"/>
          <p:nvPr/>
        </p:nvSpPr>
        <p:spPr>
          <a:xfrm>
            <a:off x="6705295" y="2971800"/>
            <a:ext cx="2095805"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AVG U% ACROSS 4 STAGES</a:t>
            </a:r>
            <a:endParaRPr lang="en-US" sz="825" dirty="0"/>
          </a:p>
        </p:txBody>
      </p:sp>
      <p:sp>
        <p:nvSpPr>
          <p:cNvPr id="66" name="Text 32"/>
          <p:cNvSpPr txBox="1"/>
          <p:nvPr/>
        </p:nvSpPr>
        <p:spPr>
          <a:xfrm>
            <a:off x="6705295" y="3161995"/>
            <a:ext cx="3238805" cy="534010"/>
          </a:xfrm>
          <a:prstGeom prst="rect">
            <a:avLst/>
          </a:prstGeom>
          <a:noFill/>
          <a:ln/>
        </p:spPr>
        <p:txBody>
          <a:bodyPr wrap="none" lIns="0" tIns="0" rIns="0" bIns="0" rtlCol="0" anchor="ctr"/>
          <a:lstStyle/>
          <a:p>
            <a:pPr algn="l" indent="0" marL="0">
              <a:buNone/>
            </a:pPr>
            <a:r>
              <a:rPr lang="en-US" sz="4200" b="1" spc="-126" kern="0" dirty="0">
                <a:solidFill>
                  <a:srgbClr val="0F172A"/>
                </a:solidFill>
                <a:latin typeface="IBM Plex Mono" pitchFamily="34" charset="0"/>
                <a:ea typeface="IBM Plex Mono" pitchFamily="34" charset="-122"/>
                <a:cs typeface="IBM Plex Mono" pitchFamily="34" charset="-120"/>
              </a:rPr>
              <a:t>3.16</a:t>
            </a:r>
            <a:pPr algn="l" indent="0" marL="0">
              <a:buNone/>
            </a:pPr>
            <a:r>
              <a:rPr lang="en-US" sz="1500" b="1" spc="-126" kern="0" dirty="0">
                <a:solidFill>
                  <a:srgbClr val="64748B"/>
                </a:solidFill>
                <a:latin typeface="IBM Plex Mono" pitchFamily="34" charset="0"/>
                <a:ea typeface="IBM Plex Mono" pitchFamily="34" charset="-122"/>
                <a:cs typeface="IBM Plex Mono" pitchFamily="34" charset="-120"/>
              </a:rPr>
              <a:t> %</a:t>
            </a:r>
            <a:endParaRPr lang="en-US" sz="4200" dirty="0"/>
          </a:p>
        </p:txBody>
      </p:sp>
      <p:sp>
        <p:nvSpPr>
          <p:cNvPr id="67" name="Text 33"/>
          <p:cNvSpPr txBox="1"/>
          <p:nvPr/>
        </p:nvSpPr>
        <p:spPr>
          <a:xfrm>
            <a:off x="9334195" y="3010205"/>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BEST STAGE</a:t>
            </a:r>
            <a:endParaRPr lang="en-US" sz="825" dirty="0"/>
          </a:p>
        </p:txBody>
      </p:sp>
      <p:sp>
        <p:nvSpPr>
          <p:cNvPr id="68" name="Text 34"/>
          <p:cNvSpPr txBox="1"/>
          <p:nvPr/>
        </p:nvSpPr>
        <p:spPr>
          <a:xfrm>
            <a:off x="9334195" y="3181198"/>
            <a:ext cx="2286000" cy="277063"/>
          </a:xfrm>
          <a:prstGeom prst="rect">
            <a:avLst/>
          </a:prstGeom>
          <a:noFill/>
          <a:ln/>
        </p:spPr>
        <p:txBody>
          <a:bodyPr wrap="none" lIns="0" tIns="0" rIns="0" bIns="0" rtlCol="0" anchor="ctr"/>
          <a:lstStyle/>
          <a:p>
            <a:pPr algn="l" indent="0" marL="0">
              <a:buNone/>
            </a:pPr>
            <a:r>
              <a:rPr lang="en-US" sz="1650" b="1" dirty="0">
                <a:solidFill>
                  <a:srgbClr val="0E7490"/>
                </a:solidFill>
                <a:latin typeface="IBM Plex Mono" pitchFamily="34" charset="0"/>
                <a:ea typeface="IBM Plex Mono" pitchFamily="34" charset="-122"/>
                <a:cs typeface="IBM Plex Mono" pitchFamily="34" charset="-120"/>
              </a:rPr>
              <a:t>AMI · 3σ 0.41</a:t>
            </a:r>
            <a:endParaRPr lang="en-US" sz="1650" dirty="0"/>
          </a:p>
        </p:txBody>
      </p:sp>
      <p:sp>
        <p:nvSpPr>
          <p:cNvPr id="69" name="Text 35"/>
          <p:cNvSpPr txBox="1"/>
          <p:nvPr/>
        </p:nvSpPr>
        <p:spPr>
          <a:xfrm>
            <a:off x="9334195" y="3619195"/>
            <a:ext cx="2286000" cy="181051"/>
          </a:xfrm>
          <a:prstGeom prst="rect">
            <a:avLst/>
          </a:prstGeom>
          <a:noFill/>
          <a:ln/>
        </p:spPr>
        <p:txBody>
          <a:bodyPr wrap="none" lIns="0" tIns="0" rIns="0" bIns="0" rtlCol="0" anchor="ctr"/>
          <a:lstStyle/>
          <a:p>
            <a:pPr algn="l" indent="0" marL="0">
              <a:buNone/>
            </a:pPr>
            <a:r>
              <a:rPr lang="en-US" sz="975" dirty="0">
                <a:solidFill>
                  <a:srgbClr val="64748B"/>
                </a:solidFill>
                <a:latin typeface="IBM Plex Sans KR" pitchFamily="34" charset="0"/>
                <a:ea typeface="IBM Plex Sans KR" pitchFamily="34" charset="-122"/>
                <a:cs typeface="IBM Plex Sans KR" pitchFamily="34" charset="-120"/>
              </a:rPr>
              <a:t>AMI 자체 가장 안정적</a:t>
            </a:r>
            <a:endParaRPr lang="en-US" sz="975" dirty="0"/>
          </a:p>
        </p:txBody>
      </p:sp>
      <p:sp>
        <p:nvSpPr>
          <p:cNvPr id="70" name="Text 36"/>
          <p:cNvSpPr txBox="1"/>
          <p:nvPr/>
        </p:nvSpPr>
        <p:spPr>
          <a:xfrm>
            <a:off x="12230100" y="2533802"/>
            <a:ext cx="762610" cy="352958"/>
          </a:xfrm>
          <a:prstGeom prst="rect">
            <a:avLst/>
          </a:prstGeom>
          <a:noFill/>
          <a:ln/>
        </p:spPr>
        <p:txBody>
          <a:bodyPr wrap="none" lIns="0" tIns="0" rIns="0" bIns="0" rtlCol="0" anchor="ctr"/>
          <a:lstStyle/>
          <a:p>
            <a:pPr algn="l" indent="0" marL="0">
              <a:buNone/>
            </a:pPr>
            <a:r>
              <a:rPr lang="en-US" sz="2100" b="1" spc="-21" kern="0" dirty="0">
                <a:solidFill>
                  <a:srgbClr val="475569"/>
                </a:solidFill>
                <a:latin typeface="IBM Plex Mono" pitchFamily="34" charset="0"/>
                <a:ea typeface="IBM Plex Mono" pitchFamily="34" charset="-122"/>
                <a:cs typeface="IBM Plex Mono" pitchFamily="34" charset="-120"/>
              </a:rPr>
              <a:t>W3</a:t>
            </a:r>
            <a:endParaRPr lang="en-US" sz="2100" dirty="0"/>
          </a:p>
        </p:txBody>
      </p:sp>
      <p:sp>
        <p:nvSpPr>
          <p:cNvPr id="71" name="Text 37"/>
          <p:cNvSpPr txBox="1"/>
          <p:nvPr/>
        </p:nvSpPr>
        <p:spPr>
          <a:xfrm>
            <a:off x="12763195" y="2648102"/>
            <a:ext cx="457200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QALE step-320 · split-C</a:t>
            </a:r>
            <a:endParaRPr lang="en-US" sz="1050" dirty="0"/>
          </a:p>
        </p:txBody>
      </p:sp>
      <p:sp>
        <p:nvSpPr>
          <p:cNvPr id="72" name="Text 38"/>
          <p:cNvSpPr txBox="1"/>
          <p:nvPr/>
        </p:nvSpPr>
        <p:spPr>
          <a:xfrm>
            <a:off x="12230100" y="2971800"/>
            <a:ext cx="2095805"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AVG U% ACROSS 4 STAGES</a:t>
            </a:r>
            <a:endParaRPr lang="en-US" sz="825" dirty="0"/>
          </a:p>
        </p:txBody>
      </p:sp>
      <p:sp>
        <p:nvSpPr>
          <p:cNvPr id="73" name="Text 39"/>
          <p:cNvSpPr txBox="1"/>
          <p:nvPr/>
        </p:nvSpPr>
        <p:spPr>
          <a:xfrm>
            <a:off x="12230100" y="3161995"/>
            <a:ext cx="3238805" cy="534010"/>
          </a:xfrm>
          <a:prstGeom prst="rect">
            <a:avLst/>
          </a:prstGeom>
          <a:noFill/>
          <a:ln/>
        </p:spPr>
        <p:txBody>
          <a:bodyPr wrap="none" lIns="0" tIns="0" rIns="0" bIns="0" rtlCol="0" anchor="ctr"/>
          <a:lstStyle/>
          <a:p>
            <a:pPr algn="l" indent="0" marL="0">
              <a:buNone/>
            </a:pPr>
            <a:r>
              <a:rPr lang="en-US" sz="4200" b="1" spc="-126" kern="0" dirty="0">
                <a:solidFill>
                  <a:srgbClr val="0F172A"/>
                </a:solidFill>
                <a:latin typeface="IBM Plex Mono" pitchFamily="34" charset="0"/>
                <a:ea typeface="IBM Plex Mono" pitchFamily="34" charset="-122"/>
                <a:cs typeface="IBM Plex Mono" pitchFamily="34" charset="-120"/>
              </a:rPr>
              <a:t>3.94</a:t>
            </a:r>
            <a:pPr algn="l" indent="0" marL="0">
              <a:buNone/>
            </a:pPr>
            <a:r>
              <a:rPr lang="en-US" sz="1500" b="1" spc="-126" kern="0" dirty="0">
                <a:solidFill>
                  <a:srgbClr val="64748B"/>
                </a:solidFill>
                <a:latin typeface="IBM Plex Mono" pitchFamily="34" charset="0"/>
                <a:ea typeface="IBM Plex Mono" pitchFamily="34" charset="-122"/>
                <a:cs typeface="IBM Plex Mono" pitchFamily="34" charset="-120"/>
              </a:rPr>
              <a:t> %</a:t>
            </a:r>
            <a:endParaRPr lang="en-US" sz="4200" dirty="0"/>
          </a:p>
        </p:txBody>
      </p:sp>
      <p:sp>
        <p:nvSpPr>
          <p:cNvPr id="74" name="Text 40"/>
          <p:cNvSpPr txBox="1"/>
          <p:nvPr/>
        </p:nvSpPr>
        <p:spPr>
          <a:xfrm>
            <a:off x="14859000" y="3010205"/>
            <a:ext cx="2286000" cy="133502"/>
          </a:xfrm>
          <a:prstGeom prst="rect">
            <a:avLst/>
          </a:prstGeom>
          <a:noFill/>
          <a:ln/>
        </p:spPr>
        <p:txBody>
          <a:bodyPr wrap="none" lIns="0" tIns="0" rIns="0" bIns="0" rtlCol="0" anchor="ctr"/>
          <a:lstStyle/>
          <a:p>
            <a:pPr algn="l" indent="0" marL="0">
              <a:buNone/>
            </a:pPr>
            <a:r>
              <a:rPr lang="en-US" sz="825" spc="83" kern="0" dirty="0">
                <a:solidFill>
                  <a:srgbClr val="94A3B8"/>
                </a:solidFill>
                <a:latin typeface="IBM Plex Mono" pitchFamily="34" charset="0"/>
                <a:ea typeface="IBM Plex Mono" pitchFamily="34" charset="-122"/>
                <a:cs typeface="IBM Plex Mono" pitchFamily="34" charset="-120"/>
              </a:rPr>
              <a:t>SPREAD</a:t>
            </a:r>
            <a:endParaRPr lang="en-US" sz="825" dirty="0"/>
          </a:p>
        </p:txBody>
      </p:sp>
      <p:sp>
        <p:nvSpPr>
          <p:cNvPr id="75" name="Text 41"/>
          <p:cNvSpPr txBox="1"/>
          <p:nvPr/>
        </p:nvSpPr>
        <p:spPr>
          <a:xfrm>
            <a:off x="14859000" y="3181198"/>
            <a:ext cx="2286000" cy="277063"/>
          </a:xfrm>
          <a:prstGeom prst="rect">
            <a:avLst/>
          </a:prstGeom>
          <a:noFill/>
          <a:ln/>
        </p:spPr>
        <p:txBody>
          <a:bodyPr wrap="none" lIns="0" tIns="0" rIns="0" bIns="0" rtlCol="0" anchor="ctr"/>
          <a:lstStyle/>
          <a:p>
            <a:pPr algn="l" indent="0" marL="0">
              <a:buNone/>
            </a:pPr>
            <a:r>
              <a:rPr lang="en-US" sz="1650" b="1" dirty="0">
                <a:solidFill>
                  <a:srgbClr val="0F172A"/>
                </a:solidFill>
                <a:latin typeface="IBM Plex Mono" pitchFamily="34" charset="0"/>
                <a:ea typeface="IBM Plex Mono" pitchFamily="34" charset="-122"/>
                <a:cs typeface="IBM Plex Mono" pitchFamily="34" charset="-120"/>
              </a:rPr>
              <a:t>2.89 ↔ 4.29%</a:t>
            </a:r>
            <a:endParaRPr lang="en-US" sz="1650" dirty="0"/>
          </a:p>
        </p:txBody>
      </p:sp>
      <p:sp>
        <p:nvSpPr>
          <p:cNvPr id="76" name="Text 42"/>
          <p:cNvSpPr txBox="1"/>
          <p:nvPr/>
        </p:nvSpPr>
        <p:spPr>
          <a:xfrm>
            <a:off x="14859000" y="3619195"/>
            <a:ext cx="2286000" cy="181051"/>
          </a:xfrm>
          <a:prstGeom prst="rect">
            <a:avLst/>
          </a:prstGeom>
          <a:noFill/>
          <a:ln/>
        </p:spPr>
        <p:txBody>
          <a:bodyPr wrap="none" lIns="0" tIns="0" rIns="0" bIns="0" rtlCol="0" anchor="ctr"/>
          <a:lstStyle/>
          <a:p>
            <a:pPr algn="l" indent="0" marL="0">
              <a:buNone/>
            </a:pPr>
            <a:r>
              <a:rPr lang="en-US" sz="975" dirty="0">
                <a:solidFill>
                  <a:srgbClr val="64748B"/>
                </a:solidFill>
                <a:latin typeface="IBM Plex Sans KR" pitchFamily="34" charset="0"/>
                <a:ea typeface="IBM Plex Sans KR" pitchFamily="34" charset="-122"/>
                <a:cs typeface="IBM Plex Sans KR" pitchFamily="34" charset="-120"/>
              </a:rPr>
              <a:t>stage별 차이 작음</a:t>
            </a:r>
            <a:endParaRPr lang="en-US" sz="975" dirty="0"/>
          </a:p>
        </p:txBody>
      </p:sp>
      <p:sp>
        <p:nvSpPr>
          <p:cNvPr id="77" name="Text 43"/>
          <p:cNvSpPr txBox="1"/>
          <p:nvPr/>
        </p:nvSpPr>
        <p:spPr>
          <a:xfrm>
            <a:off x="990295" y="4629607"/>
            <a:ext cx="6667805" cy="200254"/>
          </a:xfrm>
          <a:prstGeom prst="rect">
            <a:avLst/>
          </a:prstGeom>
          <a:noFill/>
          <a:ln/>
        </p:spPr>
        <p:txBody>
          <a:bodyPr wrap="none" lIns="0" tIns="0" rIns="0" bIns="0" rtlCol="0" anchor="ctr"/>
          <a:lstStyle/>
          <a:p>
            <a:pPr algn="l" indent="0" marL="0">
              <a:buNone/>
            </a:pPr>
            <a:r>
              <a:rPr lang="en-US" sz="1050" b="1" spc="105" kern="0" dirty="0">
                <a:solidFill>
                  <a:srgbClr val="E2E8F0"/>
                </a:solidFill>
                <a:latin typeface="IBM Plex Sans KR" pitchFamily="34" charset="0"/>
                <a:ea typeface="IBM Plex Sans KR" pitchFamily="34" charset="-122"/>
                <a:cs typeface="IBM Plex Sans KR" pitchFamily="34" charset="-120"/>
              </a:rPr>
              <a:t>TABLE 06-A · Stage별 Uniformity 비교</a:t>
            </a:r>
            <a:endParaRPr lang="en-US" sz="1050" dirty="0"/>
          </a:p>
        </p:txBody>
      </p:sp>
      <p:sp>
        <p:nvSpPr>
          <p:cNvPr id="78" name="Text 44"/>
          <p:cNvSpPr txBox="1"/>
          <p:nvPr/>
        </p:nvSpPr>
        <p:spPr>
          <a:xfrm>
            <a:off x="15240305" y="4629607"/>
            <a:ext cx="2095805" cy="143561"/>
          </a:xfrm>
          <a:prstGeom prst="rect">
            <a:avLst/>
          </a:prstGeom>
          <a:noFill/>
          <a:ln/>
        </p:spPr>
        <p:txBody>
          <a:bodyPr wrap="none" lIns="0" tIns="0" rIns="0" bIns="0" rtlCol="0" anchor="ctr"/>
          <a:lstStyle/>
          <a:p>
            <a:pPr algn="r" indent="0" marL="0">
              <a:buNone/>
            </a:pPr>
            <a:r>
              <a:rPr lang="en-US" sz="900" dirty="0">
                <a:solidFill>
                  <a:srgbClr val="94A3B8"/>
                </a:solidFill>
                <a:latin typeface="IBM Plex Mono" pitchFamily="34" charset="0"/>
                <a:ea typeface="IBM Plex Mono" pitchFamily="34" charset="-122"/>
                <a:cs typeface="IBM Plex Mono" pitchFamily="34" charset="-120"/>
              </a:rPr>
              <a:t>Bar scaled to 12% reference</a:t>
            </a:r>
            <a:endParaRPr lang="en-US" sz="900" dirty="0"/>
          </a:p>
        </p:txBody>
      </p:sp>
      <p:sp>
        <p:nvSpPr>
          <p:cNvPr id="79" name="Text 45"/>
          <p:cNvSpPr txBox="1"/>
          <p:nvPr/>
        </p:nvSpPr>
        <p:spPr>
          <a:xfrm>
            <a:off x="990295" y="5029200"/>
            <a:ext cx="762610" cy="162763"/>
          </a:xfrm>
          <a:prstGeom prst="rect">
            <a:avLst/>
          </a:prstGeom>
          <a:noFill/>
          <a:ln/>
        </p:spPr>
        <p:txBody>
          <a:bodyPr wrap="none" lIns="0" tIns="0" rIns="0" bIns="0" rtlCol="0" anchor="ctr"/>
          <a:lstStyle/>
          <a:p>
            <a:pPr algn="l" indent="0" marL="0">
              <a:buNone/>
            </a:pPr>
            <a:r>
              <a:rPr lang="en-US" sz="975" b="1" dirty="0">
                <a:solidFill>
                  <a:srgbClr val="475569"/>
                </a:solidFill>
                <a:latin typeface="IBM Plex Mono" pitchFamily="34" charset="0"/>
                <a:ea typeface="IBM Plex Mono" pitchFamily="34" charset="-122"/>
                <a:cs typeface="IBM Plex Mono" pitchFamily="34" charset="-120"/>
              </a:rPr>
              <a:t>WAFER</a:t>
            </a:r>
            <a:endParaRPr lang="en-US" sz="975" dirty="0"/>
          </a:p>
        </p:txBody>
      </p:sp>
      <p:sp>
        <p:nvSpPr>
          <p:cNvPr id="80" name="Text 46"/>
          <p:cNvSpPr txBox="1"/>
          <p:nvPr/>
        </p:nvSpPr>
        <p:spPr>
          <a:xfrm>
            <a:off x="1943100" y="5029200"/>
            <a:ext cx="1143000" cy="162763"/>
          </a:xfrm>
          <a:prstGeom prst="rect">
            <a:avLst/>
          </a:prstGeom>
          <a:noFill/>
          <a:ln/>
        </p:spPr>
        <p:txBody>
          <a:bodyPr wrap="none" lIns="0" tIns="0" rIns="0" bIns="0" rtlCol="0" anchor="ctr"/>
          <a:lstStyle/>
          <a:p>
            <a:pPr algn="l" indent="0" marL="0">
              <a:buNone/>
            </a:pPr>
            <a:r>
              <a:rPr lang="en-US" sz="975" b="1" dirty="0">
                <a:solidFill>
                  <a:srgbClr val="475569"/>
                </a:solidFill>
                <a:latin typeface="IBM Plex Mono" pitchFamily="34" charset="0"/>
                <a:ea typeface="IBM Plex Mono" pitchFamily="34" charset="-122"/>
                <a:cs typeface="IBM Plex Mono" pitchFamily="34" charset="-120"/>
              </a:rPr>
              <a:t>STAGE</a:t>
            </a:r>
            <a:endParaRPr lang="en-US" sz="975" dirty="0"/>
          </a:p>
        </p:txBody>
      </p:sp>
      <p:sp>
        <p:nvSpPr>
          <p:cNvPr id="81" name="Text 47"/>
          <p:cNvSpPr txBox="1"/>
          <p:nvPr/>
        </p:nvSpPr>
        <p:spPr>
          <a:xfrm>
            <a:off x="3238805" y="5029200"/>
            <a:ext cx="1524305"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MEAN (nm)</a:t>
            </a:r>
            <a:endParaRPr lang="en-US" sz="975" dirty="0"/>
          </a:p>
        </p:txBody>
      </p:sp>
      <p:sp>
        <p:nvSpPr>
          <p:cNvPr id="82" name="Text 48"/>
          <p:cNvSpPr txBox="1"/>
          <p:nvPr/>
        </p:nvSpPr>
        <p:spPr>
          <a:xfrm>
            <a:off x="4953305" y="5029200"/>
            <a:ext cx="1334110"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3σ (nm)</a:t>
            </a:r>
            <a:endParaRPr lang="en-US" sz="975" dirty="0"/>
          </a:p>
        </p:txBody>
      </p:sp>
      <p:sp>
        <p:nvSpPr>
          <p:cNvPr id="83" name="Text 49"/>
          <p:cNvSpPr txBox="1"/>
          <p:nvPr/>
        </p:nvSpPr>
        <p:spPr>
          <a:xfrm>
            <a:off x="6476695" y="5029200"/>
            <a:ext cx="1143000"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U (%)</a:t>
            </a:r>
            <a:endParaRPr lang="en-US" sz="975" dirty="0"/>
          </a:p>
        </p:txBody>
      </p:sp>
      <p:sp>
        <p:nvSpPr>
          <p:cNvPr id="84" name="Text 50"/>
          <p:cNvSpPr txBox="1"/>
          <p:nvPr/>
        </p:nvSpPr>
        <p:spPr>
          <a:xfrm>
            <a:off x="7810805" y="5029200"/>
            <a:ext cx="3620110" cy="162763"/>
          </a:xfrm>
          <a:prstGeom prst="rect">
            <a:avLst/>
          </a:prstGeom>
          <a:noFill/>
          <a:ln/>
        </p:spPr>
        <p:txBody>
          <a:bodyPr wrap="none" lIns="0" tIns="0" rIns="0" bIns="0" rtlCol="0" anchor="ctr"/>
          <a:lstStyle/>
          <a:p>
            <a:pPr algn="ctr" indent="0" marL="0">
              <a:buNone/>
            </a:pPr>
            <a:r>
              <a:rPr lang="en-US" sz="975" b="1" dirty="0">
                <a:solidFill>
                  <a:srgbClr val="475569"/>
                </a:solidFill>
                <a:latin typeface="IBM Plex Mono" pitchFamily="34" charset="0"/>
                <a:ea typeface="IBM Plex Mono" pitchFamily="34" charset="-122"/>
                <a:cs typeface="IBM Plex Mono" pitchFamily="34" charset="-120"/>
              </a:rPr>
              <a:t>U BAR · 0% — 12%</a:t>
            </a:r>
            <a:endParaRPr lang="en-US" sz="975" dirty="0"/>
          </a:p>
        </p:txBody>
      </p:sp>
      <p:sp>
        <p:nvSpPr>
          <p:cNvPr id="85" name="Text 51"/>
          <p:cNvSpPr txBox="1"/>
          <p:nvPr/>
        </p:nvSpPr>
        <p:spPr>
          <a:xfrm>
            <a:off x="11620195" y="5029200"/>
            <a:ext cx="1524305"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Δ-W W1</a:t>
            </a:r>
            <a:endParaRPr lang="en-US" sz="975" dirty="0"/>
          </a:p>
        </p:txBody>
      </p:sp>
      <p:sp>
        <p:nvSpPr>
          <p:cNvPr id="86" name="Text 52"/>
          <p:cNvSpPr txBox="1"/>
          <p:nvPr/>
        </p:nvSpPr>
        <p:spPr>
          <a:xfrm>
            <a:off x="13239598" y="5029200"/>
            <a:ext cx="1524305"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Δ-W W2</a:t>
            </a:r>
            <a:endParaRPr lang="en-US" sz="975" dirty="0"/>
          </a:p>
        </p:txBody>
      </p:sp>
      <p:sp>
        <p:nvSpPr>
          <p:cNvPr id="87" name="Text 53"/>
          <p:cNvSpPr txBox="1"/>
          <p:nvPr/>
        </p:nvSpPr>
        <p:spPr>
          <a:xfrm>
            <a:off x="14859000" y="5029200"/>
            <a:ext cx="1524305"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Δ-W W3</a:t>
            </a:r>
            <a:endParaRPr lang="en-US" sz="975" dirty="0"/>
          </a:p>
        </p:txBody>
      </p:sp>
      <p:sp>
        <p:nvSpPr>
          <p:cNvPr id="88" name="Text 54"/>
          <p:cNvSpPr txBox="1"/>
          <p:nvPr/>
        </p:nvSpPr>
        <p:spPr>
          <a:xfrm>
            <a:off x="16478402" y="5029200"/>
            <a:ext cx="952805" cy="162763"/>
          </a:xfrm>
          <a:prstGeom prst="rect">
            <a:avLst/>
          </a:prstGeom>
          <a:noFill/>
          <a:ln/>
        </p:spPr>
        <p:txBody>
          <a:bodyPr wrap="none" lIns="0" tIns="0" rIns="0" bIns="0" rtlCol="0" anchor="ctr"/>
          <a:lstStyle/>
          <a:p>
            <a:pPr algn="r" indent="0" marL="0">
              <a:buNone/>
            </a:pPr>
            <a:r>
              <a:rPr lang="en-US" sz="975" b="1" dirty="0">
                <a:solidFill>
                  <a:srgbClr val="475569"/>
                </a:solidFill>
                <a:latin typeface="IBM Plex Mono" pitchFamily="34" charset="0"/>
                <a:ea typeface="IBM Plex Mono" pitchFamily="34" charset="-122"/>
                <a:cs typeface="IBM Plex Mono" pitchFamily="34" charset="-120"/>
              </a:rPr>
              <a:t>Δ-TGT</a:t>
            </a:r>
            <a:endParaRPr lang="en-US" sz="975" dirty="0"/>
          </a:p>
        </p:txBody>
      </p:sp>
      <p:sp>
        <p:nvSpPr>
          <p:cNvPr id="89" name="Text 55"/>
          <p:cNvSpPr txBox="1"/>
          <p:nvPr/>
        </p:nvSpPr>
        <p:spPr>
          <a:xfrm>
            <a:off x="990295" y="5343754"/>
            <a:ext cx="762610" cy="171907"/>
          </a:xfrm>
          <a:prstGeom prst="rect">
            <a:avLst/>
          </a:prstGeom>
          <a:noFill/>
          <a:ln/>
        </p:spPr>
        <p:txBody>
          <a:bodyPr wrap="none" lIns="0" tIns="0" rIns="0" bIns="0" rtlCol="0" anchor="ctr"/>
          <a:lstStyle/>
          <a:p>
            <a:pPr algn="l" indent="0" marL="0">
              <a:buNone/>
            </a:pPr>
            <a:r>
              <a:rPr lang="en-US" sz="1050" b="1" dirty="0">
                <a:solidFill>
                  <a:srgbClr val="1E40AF"/>
                </a:solidFill>
                <a:latin typeface="IBM Plex Mono" pitchFamily="34" charset="0"/>
                <a:ea typeface="IBM Plex Mono" pitchFamily="34" charset="-122"/>
                <a:cs typeface="IBM Plex Mono" pitchFamily="34" charset="-120"/>
              </a:rPr>
              <a:t>W1</a:t>
            </a:r>
            <a:endParaRPr lang="en-US" sz="1050" dirty="0"/>
          </a:p>
        </p:txBody>
      </p:sp>
      <p:sp>
        <p:nvSpPr>
          <p:cNvPr id="90" name="Text 56"/>
          <p:cNvSpPr txBox="1"/>
          <p:nvPr/>
        </p:nvSpPr>
        <p:spPr>
          <a:xfrm>
            <a:off x="1943100" y="534375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AASI</a:t>
            </a:r>
            <a:endParaRPr lang="en-US" sz="1050" dirty="0"/>
          </a:p>
        </p:txBody>
      </p:sp>
      <p:sp>
        <p:nvSpPr>
          <p:cNvPr id="91" name="Text 57"/>
          <p:cNvSpPr txBox="1"/>
          <p:nvPr/>
        </p:nvSpPr>
        <p:spPr>
          <a:xfrm>
            <a:off x="3238805" y="53437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25.95</a:t>
            </a:r>
            <a:endParaRPr lang="en-US" sz="1050" dirty="0"/>
          </a:p>
        </p:txBody>
      </p:sp>
      <p:sp>
        <p:nvSpPr>
          <p:cNvPr id="92" name="Text 58"/>
          <p:cNvSpPr txBox="1"/>
          <p:nvPr/>
        </p:nvSpPr>
        <p:spPr>
          <a:xfrm>
            <a:off x="4953305" y="534375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0.92</a:t>
            </a:r>
            <a:endParaRPr lang="en-US" sz="1050" dirty="0"/>
          </a:p>
        </p:txBody>
      </p:sp>
      <p:sp>
        <p:nvSpPr>
          <p:cNvPr id="93" name="Text 59"/>
          <p:cNvSpPr txBox="1"/>
          <p:nvPr/>
        </p:nvSpPr>
        <p:spPr>
          <a:xfrm>
            <a:off x="6476695" y="5343754"/>
            <a:ext cx="114300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3.55</a:t>
            </a:r>
            <a:endParaRPr lang="en-US" sz="1050" dirty="0"/>
          </a:p>
        </p:txBody>
      </p:sp>
      <p:sp>
        <p:nvSpPr>
          <p:cNvPr id="94" name="Text 60"/>
          <p:cNvSpPr txBox="1"/>
          <p:nvPr/>
        </p:nvSpPr>
        <p:spPr>
          <a:xfrm>
            <a:off x="11620195" y="534375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95" name="Text 61"/>
          <p:cNvSpPr txBox="1"/>
          <p:nvPr/>
        </p:nvSpPr>
        <p:spPr>
          <a:xfrm>
            <a:off x="13239598" y="53437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−0.17</a:t>
            </a:r>
            <a:endParaRPr lang="en-US" sz="1050" dirty="0"/>
          </a:p>
        </p:txBody>
      </p:sp>
      <p:sp>
        <p:nvSpPr>
          <p:cNvPr id="96" name="Text 62"/>
          <p:cNvSpPr txBox="1"/>
          <p:nvPr/>
        </p:nvSpPr>
        <p:spPr>
          <a:xfrm>
            <a:off x="14859000" y="53437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−0.34</a:t>
            </a:r>
            <a:endParaRPr lang="en-US" sz="1050" dirty="0"/>
          </a:p>
        </p:txBody>
      </p:sp>
      <p:sp>
        <p:nvSpPr>
          <p:cNvPr id="97" name="Text 63"/>
          <p:cNvSpPr txBox="1"/>
          <p:nvPr/>
        </p:nvSpPr>
        <p:spPr>
          <a:xfrm>
            <a:off x="16478402" y="5343754"/>
            <a:ext cx="9528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+0.15</a:t>
            </a:r>
            <a:endParaRPr lang="en-US" sz="1050" dirty="0"/>
          </a:p>
        </p:txBody>
      </p:sp>
      <p:sp>
        <p:nvSpPr>
          <p:cNvPr id="98" name="Text 64"/>
          <p:cNvSpPr txBox="1"/>
          <p:nvPr/>
        </p:nvSpPr>
        <p:spPr>
          <a:xfrm>
            <a:off x="990295" y="5609844"/>
            <a:ext cx="762610" cy="171907"/>
          </a:xfrm>
          <a:prstGeom prst="rect">
            <a:avLst/>
          </a:prstGeom>
          <a:noFill/>
          <a:ln/>
        </p:spPr>
        <p:txBody>
          <a:bodyPr wrap="none" lIns="0" tIns="0" rIns="0" bIns="0" rtlCol="0" anchor="ctr"/>
          <a:lstStyle/>
          <a:p>
            <a:pPr algn="l" indent="0" marL="0">
              <a:buNone/>
            </a:pPr>
            <a:r>
              <a:rPr lang="en-US" sz="1050" b="1" dirty="0">
                <a:solidFill>
                  <a:srgbClr val="1E40AF"/>
                </a:solidFill>
                <a:latin typeface="IBM Plex Mono" pitchFamily="34" charset="0"/>
                <a:ea typeface="IBM Plex Mono" pitchFamily="34" charset="-122"/>
                <a:cs typeface="IBM Plex Mono" pitchFamily="34" charset="-120"/>
              </a:rPr>
              <a:t>W1</a:t>
            </a:r>
            <a:endParaRPr lang="en-US" sz="1050" dirty="0"/>
          </a:p>
        </p:txBody>
      </p:sp>
      <p:sp>
        <p:nvSpPr>
          <p:cNvPr id="99" name="Text 65"/>
          <p:cNvSpPr txBox="1"/>
          <p:nvPr/>
        </p:nvSpPr>
        <p:spPr>
          <a:xfrm>
            <a:off x="1943100" y="560984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ASEI</a:t>
            </a:r>
            <a:endParaRPr lang="en-US" sz="1050" dirty="0"/>
          </a:p>
        </p:txBody>
      </p:sp>
      <p:sp>
        <p:nvSpPr>
          <p:cNvPr id="100" name="Text 66"/>
          <p:cNvSpPr txBox="1"/>
          <p:nvPr/>
        </p:nvSpPr>
        <p:spPr>
          <a:xfrm>
            <a:off x="3238805" y="56098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15.61</a:t>
            </a:r>
            <a:endParaRPr lang="en-US" sz="1050" dirty="0"/>
          </a:p>
        </p:txBody>
      </p:sp>
      <p:sp>
        <p:nvSpPr>
          <p:cNvPr id="101" name="Text 67"/>
          <p:cNvSpPr txBox="1"/>
          <p:nvPr/>
        </p:nvSpPr>
        <p:spPr>
          <a:xfrm>
            <a:off x="4953305" y="560984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0.78</a:t>
            </a:r>
            <a:endParaRPr lang="en-US" sz="1050" dirty="0"/>
          </a:p>
        </p:txBody>
      </p:sp>
      <p:sp>
        <p:nvSpPr>
          <p:cNvPr id="102" name="Text 68"/>
          <p:cNvSpPr txBox="1"/>
          <p:nvPr/>
        </p:nvSpPr>
        <p:spPr>
          <a:xfrm>
            <a:off x="6476695" y="5609844"/>
            <a:ext cx="114300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5.00</a:t>
            </a:r>
            <a:endParaRPr lang="en-US" sz="1050" dirty="0"/>
          </a:p>
        </p:txBody>
      </p:sp>
      <p:sp>
        <p:nvSpPr>
          <p:cNvPr id="103" name="Text 69"/>
          <p:cNvSpPr txBox="1"/>
          <p:nvPr/>
        </p:nvSpPr>
        <p:spPr>
          <a:xfrm>
            <a:off x="11620195" y="560984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04" name="Text 70"/>
          <p:cNvSpPr txBox="1"/>
          <p:nvPr/>
        </p:nvSpPr>
        <p:spPr>
          <a:xfrm>
            <a:off x="13239598" y="56098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−0.15</a:t>
            </a:r>
            <a:endParaRPr lang="en-US" sz="1050" dirty="0"/>
          </a:p>
        </p:txBody>
      </p:sp>
      <p:sp>
        <p:nvSpPr>
          <p:cNvPr id="105" name="Text 71"/>
          <p:cNvSpPr txBox="1"/>
          <p:nvPr/>
        </p:nvSpPr>
        <p:spPr>
          <a:xfrm>
            <a:off x="14859000" y="56098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−0.23</a:t>
            </a:r>
            <a:endParaRPr lang="en-US" sz="1050" dirty="0"/>
          </a:p>
        </p:txBody>
      </p:sp>
      <p:sp>
        <p:nvSpPr>
          <p:cNvPr id="106" name="Text 72"/>
          <p:cNvSpPr txBox="1"/>
          <p:nvPr/>
        </p:nvSpPr>
        <p:spPr>
          <a:xfrm>
            <a:off x="16478402" y="5609844"/>
            <a:ext cx="9528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+0.11</a:t>
            </a:r>
            <a:endParaRPr lang="en-US" sz="1050" dirty="0"/>
          </a:p>
        </p:txBody>
      </p:sp>
      <p:sp>
        <p:nvSpPr>
          <p:cNvPr id="107" name="Text 73"/>
          <p:cNvSpPr txBox="1"/>
          <p:nvPr/>
        </p:nvSpPr>
        <p:spPr>
          <a:xfrm>
            <a:off x="990295" y="5876849"/>
            <a:ext cx="762610" cy="171907"/>
          </a:xfrm>
          <a:prstGeom prst="rect">
            <a:avLst/>
          </a:prstGeom>
          <a:noFill/>
          <a:ln/>
        </p:spPr>
        <p:txBody>
          <a:bodyPr wrap="none" lIns="0" tIns="0" rIns="0" bIns="0" rtlCol="0" anchor="ctr"/>
          <a:lstStyle/>
          <a:p>
            <a:pPr algn="l" indent="0" marL="0">
              <a:buNone/>
            </a:pPr>
            <a:r>
              <a:rPr lang="en-US" sz="1050" b="1" dirty="0">
                <a:solidFill>
                  <a:srgbClr val="1E40AF"/>
                </a:solidFill>
                <a:latin typeface="IBM Plex Mono" pitchFamily="34" charset="0"/>
                <a:ea typeface="IBM Plex Mono" pitchFamily="34" charset="-122"/>
                <a:cs typeface="IBM Plex Mono" pitchFamily="34" charset="-120"/>
              </a:rPr>
              <a:t>W1</a:t>
            </a:r>
            <a:endParaRPr lang="en-US" sz="1050" dirty="0"/>
          </a:p>
        </p:txBody>
      </p:sp>
      <p:sp>
        <p:nvSpPr>
          <p:cNvPr id="108" name="Text 74"/>
          <p:cNvSpPr txBox="1"/>
          <p:nvPr/>
        </p:nvSpPr>
        <p:spPr>
          <a:xfrm>
            <a:off x="1943100" y="5876849"/>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AMI</a:t>
            </a:r>
            <a:endParaRPr lang="en-US" sz="1050" dirty="0"/>
          </a:p>
        </p:txBody>
      </p:sp>
      <p:sp>
        <p:nvSpPr>
          <p:cNvPr id="109" name="Text 75"/>
          <p:cNvSpPr txBox="1"/>
          <p:nvPr/>
        </p:nvSpPr>
        <p:spPr>
          <a:xfrm>
            <a:off x="3238805" y="58768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9.04</a:t>
            </a:r>
            <a:endParaRPr lang="en-US" sz="1050" dirty="0"/>
          </a:p>
        </p:txBody>
      </p:sp>
      <p:sp>
        <p:nvSpPr>
          <p:cNvPr id="110" name="Text 76"/>
          <p:cNvSpPr txBox="1"/>
          <p:nvPr/>
        </p:nvSpPr>
        <p:spPr>
          <a:xfrm>
            <a:off x="4953305" y="5876849"/>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0.82</a:t>
            </a:r>
            <a:endParaRPr lang="en-US" sz="1050" dirty="0"/>
          </a:p>
        </p:txBody>
      </p:sp>
      <p:sp>
        <p:nvSpPr>
          <p:cNvPr id="111" name="Text 77"/>
          <p:cNvSpPr txBox="1"/>
          <p:nvPr/>
        </p:nvSpPr>
        <p:spPr>
          <a:xfrm>
            <a:off x="6476695" y="5876849"/>
            <a:ext cx="114300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9.07</a:t>
            </a:r>
            <a:endParaRPr lang="en-US" sz="1050" dirty="0"/>
          </a:p>
        </p:txBody>
      </p:sp>
      <p:sp>
        <p:nvSpPr>
          <p:cNvPr id="112" name="Text 78"/>
          <p:cNvSpPr txBox="1"/>
          <p:nvPr/>
        </p:nvSpPr>
        <p:spPr>
          <a:xfrm>
            <a:off x="11620195" y="5876849"/>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13" name="Text 79"/>
          <p:cNvSpPr txBox="1"/>
          <p:nvPr/>
        </p:nvSpPr>
        <p:spPr>
          <a:xfrm>
            <a:off x="13239598" y="58768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−0.12</a:t>
            </a:r>
            <a:endParaRPr lang="en-US" sz="1050" dirty="0"/>
          </a:p>
        </p:txBody>
      </p:sp>
      <p:sp>
        <p:nvSpPr>
          <p:cNvPr id="114" name="Text 80"/>
          <p:cNvSpPr txBox="1"/>
          <p:nvPr/>
        </p:nvSpPr>
        <p:spPr>
          <a:xfrm>
            <a:off x="14859000" y="58768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−0.23</a:t>
            </a:r>
            <a:endParaRPr lang="en-US" sz="1050" dirty="0"/>
          </a:p>
        </p:txBody>
      </p:sp>
      <p:sp>
        <p:nvSpPr>
          <p:cNvPr id="115" name="Text 81"/>
          <p:cNvSpPr txBox="1"/>
          <p:nvPr/>
        </p:nvSpPr>
        <p:spPr>
          <a:xfrm>
            <a:off x="16478402" y="5876849"/>
            <a:ext cx="9528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+0.14</a:t>
            </a:r>
            <a:endParaRPr lang="en-US" sz="1050" dirty="0"/>
          </a:p>
        </p:txBody>
      </p:sp>
      <p:sp>
        <p:nvSpPr>
          <p:cNvPr id="116" name="Text 82"/>
          <p:cNvSpPr txBox="1"/>
          <p:nvPr/>
        </p:nvSpPr>
        <p:spPr>
          <a:xfrm>
            <a:off x="990295" y="6143854"/>
            <a:ext cx="762610" cy="171907"/>
          </a:xfrm>
          <a:prstGeom prst="rect">
            <a:avLst/>
          </a:prstGeom>
          <a:noFill/>
          <a:ln/>
        </p:spPr>
        <p:txBody>
          <a:bodyPr wrap="none" lIns="0" tIns="0" rIns="0" bIns="0" rtlCol="0" anchor="ctr"/>
          <a:lstStyle/>
          <a:p>
            <a:pPr algn="l" indent="0" marL="0">
              <a:buNone/>
            </a:pPr>
            <a:r>
              <a:rPr lang="en-US" sz="1050" b="1" dirty="0">
                <a:solidFill>
                  <a:srgbClr val="1E40AF"/>
                </a:solidFill>
                <a:latin typeface="IBM Plex Mono" pitchFamily="34" charset="0"/>
                <a:ea typeface="IBM Plex Mono" pitchFamily="34" charset="-122"/>
                <a:cs typeface="IBM Plex Mono" pitchFamily="34" charset="-120"/>
              </a:rPr>
              <a:t>W1</a:t>
            </a:r>
            <a:endParaRPr lang="en-US" sz="1050" dirty="0"/>
          </a:p>
        </p:txBody>
      </p:sp>
      <p:sp>
        <p:nvSpPr>
          <p:cNvPr id="117" name="Text 83"/>
          <p:cNvSpPr txBox="1"/>
          <p:nvPr/>
        </p:nvSpPr>
        <p:spPr>
          <a:xfrm>
            <a:off x="1943100" y="614385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ACI</a:t>
            </a:r>
            <a:endParaRPr lang="en-US" sz="1050" dirty="0"/>
          </a:p>
        </p:txBody>
      </p:sp>
      <p:sp>
        <p:nvSpPr>
          <p:cNvPr id="118" name="Text 84"/>
          <p:cNvSpPr txBox="1"/>
          <p:nvPr/>
        </p:nvSpPr>
        <p:spPr>
          <a:xfrm>
            <a:off x="3238805" y="61438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9.18</a:t>
            </a:r>
            <a:endParaRPr lang="en-US" sz="1050" dirty="0"/>
          </a:p>
        </p:txBody>
      </p:sp>
      <p:sp>
        <p:nvSpPr>
          <p:cNvPr id="119" name="Text 85"/>
          <p:cNvSpPr txBox="1"/>
          <p:nvPr/>
        </p:nvSpPr>
        <p:spPr>
          <a:xfrm>
            <a:off x="4953305" y="614385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0.89</a:t>
            </a:r>
            <a:endParaRPr lang="en-US" sz="1050" dirty="0"/>
          </a:p>
        </p:txBody>
      </p:sp>
      <p:sp>
        <p:nvSpPr>
          <p:cNvPr id="120" name="Text 86"/>
          <p:cNvSpPr txBox="1"/>
          <p:nvPr/>
        </p:nvSpPr>
        <p:spPr>
          <a:xfrm>
            <a:off x="6476695" y="6143854"/>
            <a:ext cx="1143000" cy="171907"/>
          </a:xfrm>
          <a:prstGeom prst="rect">
            <a:avLst/>
          </a:prstGeom>
          <a:noFill/>
          <a:ln/>
        </p:spPr>
        <p:txBody>
          <a:bodyPr wrap="none" lIns="0" tIns="0" rIns="0" bIns="0" rtlCol="0" anchor="ctr"/>
          <a:lstStyle/>
          <a:p>
            <a:pPr algn="r" indent="0" marL="0">
              <a:buNone/>
            </a:pPr>
            <a:r>
              <a:rPr lang="en-US" sz="1050" b="1" dirty="0">
                <a:solidFill>
                  <a:srgbClr val="DC2626"/>
                </a:solidFill>
                <a:latin typeface="IBM Plex Mono" pitchFamily="34" charset="0"/>
                <a:ea typeface="IBM Plex Mono" pitchFamily="34" charset="-122"/>
                <a:cs typeface="IBM Plex Mono" pitchFamily="34" charset="-120"/>
              </a:rPr>
              <a:t>9.69</a:t>
            </a:r>
            <a:endParaRPr lang="en-US" sz="1050" dirty="0"/>
          </a:p>
        </p:txBody>
      </p:sp>
      <p:sp>
        <p:nvSpPr>
          <p:cNvPr id="121" name="Text 87"/>
          <p:cNvSpPr txBox="1"/>
          <p:nvPr/>
        </p:nvSpPr>
        <p:spPr>
          <a:xfrm>
            <a:off x="11620195" y="614385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22" name="Text 88"/>
          <p:cNvSpPr txBox="1"/>
          <p:nvPr/>
        </p:nvSpPr>
        <p:spPr>
          <a:xfrm>
            <a:off x="13239598" y="61438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−0.12</a:t>
            </a:r>
            <a:endParaRPr lang="en-US" sz="1050" dirty="0"/>
          </a:p>
        </p:txBody>
      </p:sp>
      <p:sp>
        <p:nvSpPr>
          <p:cNvPr id="123" name="Text 89"/>
          <p:cNvSpPr txBox="1"/>
          <p:nvPr/>
        </p:nvSpPr>
        <p:spPr>
          <a:xfrm>
            <a:off x="14859000" y="61438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−0.16</a:t>
            </a:r>
            <a:endParaRPr lang="en-US" sz="1050" dirty="0"/>
          </a:p>
        </p:txBody>
      </p:sp>
      <p:sp>
        <p:nvSpPr>
          <p:cNvPr id="124" name="Text 90"/>
          <p:cNvSpPr txBox="1"/>
          <p:nvPr/>
        </p:nvSpPr>
        <p:spPr>
          <a:xfrm>
            <a:off x="16478402" y="6143854"/>
            <a:ext cx="9528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+0.08</a:t>
            </a:r>
            <a:endParaRPr lang="en-US" sz="1050" dirty="0"/>
          </a:p>
        </p:txBody>
      </p:sp>
      <p:sp>
        <p:nvSpPr>
          <p:cNvPr id="125" name="Text 91"/>
          <p:cNvSpPr txBox="1"/>
          <p:nvPr/>
        </p:nvSpPr>
        <p:spPr>
          <a:xfrm>
            <a:off x="990295" y="6505956"/>
            <a:ext cx="762610" cy="171907"/>
          </a:xfrm>
          <a:prstGeom prst="rect">
            <a:avLst/>
          </a:prstGeom>
          <a:noFill/>
          <a:ln/>
        </p:spPr>
        <p:txBody>
          <a:bodyPr wrap="none" lIns="0" tIns="0" rIns="0" bIns="0" rtlCol="0" anchor="ctr"/>
          <a:lstStyle/>
          <a:p>
            <a:pPr algn="l" indent="0" marL="0">
              <a:buNone/>
            </a:pPr>
            <a:r>
              <a:rPr lang="en-US" sz="1050" b="1" dirty="0">
                <a:solidFill>
                  <a:srgbClr val="0E7490"/>
                </a:solidFill>
                <a:latin typeface="IBM Plex Mono" pitchFamily="34" charset="0"/>
                <a:ea typeface="IBM Plex Mono" pitchFamily="34" charset="-122"/>
                <a:cs typeface="IBM Plex Mono" pitchFamily="34" charset="-120"/>
              </a:rPr>
              <a:t>W2</a:t>
            </a:r>
            <a:endParaRPr lang="en-US" sz="1050" dirty="0"/>
          </a:p>
        </p:txBody>
      </p:sp>
      <p:sp>
        <p:nvSpPr>
          <p:cNvPr id="126" name="Text 92"/>
          <p:cNvSpPr txBox="1"/>
          <p:nvPr/>
        </p:nvSpPr>
        <p:spPr>
          <a:xfrm>
            <a:off x="1943100" y="6505956"/>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AASI</a:t>
            </a:r>
            <a:endParaRPr lang="en-US" sz="1050" dirty="0"/>
          </a:p>
        </p:txBody>
      </p:sp>
      <p:sp>
        <p:nvSpPr>
          <p:cNvPr id="127" name="Text 93"/>
          <p:cNvSpPr txBox="1"/>
          <p:nvPr/>
        </p:nvSpPr>
        <p:spPr>
          <a:xfrm>
            <a:off x="3238805" y="65059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25.78</a:t>
            </a:r>
            <a:endParaRPr lang="en-US" sz="1050" dirty="0"/>
          </a:p>
        </p:txBody>
      </p:sp>
      <p:sp>
        <p:nvSpPr>
          <p:cNvPr id="128" name="Text 94"/>
          <p:cNvSpPr txBox="1"/>
          <p:nvPr/>
        </p:nvSpPr>
        <p:spPr>
          <a:xfrm>
            <a:off x="4953305" y="6505956"/>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0.61</a:t>
            </a:r>
            <a:endParaRPr lang="en-US" sz="1050" dirty="0"/>
          </a:p>
        </p:txBody>
      </p:sp>
      <p:sp>
        <p:nvSpPr>
          <p:cNvPr id="129" name="Text 95"/>
          <p:cNvSpPr txBox="1"/>
          <p:nvPr/>
        </p:nvSpPr>
        <p:spPr>
          <a:xfrm>
            <a:off x="6476695" y="6505956"/>
            <a:ext cx="1143000" cy="171907"/>
          </a:xfrm>
          <a:prstGeom prst="rect">
            <a:avLst/>
          </a:prstGeom>
          <a:noFill/>
          <a:ln/>
        </p:spPr>
        <p:txBody>
          <a:bodyPr wrap="none" lIns="0" tIns="0" rIns="0" bIns="0" rtlCol="0" anchor="ctr"/>
          <a:lstStyle/>
          <a:p>
            <a:pPr algn="r" indent="0" marL="0">
              <a:buNone/>
            </a:pPr>
            <a:r>
              <a:rPr lang="en-US" sz="1050" b="1" dirty="0">
                <a:solidFill>
                  <a:srgbClr val="0E7490"/>
                </a:solidFill>
                <a:latin typeface="IBM Plex Mono" pitchFamily="34" charset="0"/>
                <a:ea typeface="IBM Plex Mono" pitchFamily="34" charset="-122"/>
                <a:cs typeface="IBM Plex Mono" pitchFamily="34" charset="-120"/>
              </a:rPr>
              <a:t>2.37</a:t>
            </a:r>
            <a:endParaRPr lang="en-US" sz="1050" dirty="0"/>
          </a:p>
        </p:txBody>
      </p:sp>
      <p:sp>
        <p:nvSpPr>
          <p:cNvPr id="130" name="Text 96"/>
          <p:cNvSpPr txBox="1"/>
          <p:nvPr/>
        </p:nvSpPr>
        <p:spPr>
          <a:xfrm>
            <a:off x="11620195" y="65059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+0.17</a:t>
            </a:r>
            <a:endParaRPr lang="en-US" sz="1050" dirty="0"/>
          </a:p>
        </p:txBody>
      </p:sp>
      <p:sp>
        <p:nvSpPr>
          <p:cNvPr id="131" name="Text 97"/>
          <p:cNvSpPr txBox="1"/>
          <p:nvPr/>
        </p:nvSpPr>
        <p:spPr>
          <a:xfrm>
            <a:off x="13239598" y="6505956"/>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32" name="Text 98"/>
          <p:cNvSpPr txBox="1"/>
          <p:nvPr/>
        </p:nvSpPr>
        <p:spPr>
          <a:xfrm>
            <a:off x="14859000" y="65059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−0.17</a:t>
            </a:r>
            <a:endParaRPr lang="en-US" sz="1050" dirty="0"/>
          </a:p>
        </p:txBody>
      </p:sp>
      <p:sp>
        <p:nvSpPr>
          <p:cNvPr id="133" name="Text 99"/>
          <p:cNvSpPr txBox="1"/>
          <p:nvPr/>
        </p:nvSpPr>
        <p:spPr>
          <a:xfrm>
            <a:off x="16478402" y="6505956"/>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−0.02</a:t>
            </a:r>
            <a:endParaRPr lang="en-US" sz="1050" dirty="0"/>
          </a:p>
        </p:txBody>
      </p:sp>
      <p:sp>
        <p:nvSpPr>
          <p:cNvPr id="134" name="Text 100"/>
          <p:cNvSpPr txBox="1"/>
          <p:nvPr/>
        </p:nvSpPr>
        <p:spPr>
          <a:xfrm>
            <a:off x="990295" y="6772046"/>
            <a:ext cx="762610" cy="171907"/>
          </a:xfrm>
          <a:prstGeom prst="rect">
            <a:avLst/>
          </a:prstGeom>
          <a:noFill/>
          <a:ln/>
        </p:spPr>
        <p:txBody>
          <a:bodyPr wrap="none" lIns="0" tIns="0" rIns="0" bIns="0" rtlCol="0" anchor="ctr"/>
          <a:lstStyle/>
          <a:p>
            <a:pPr algn="l" indent="0" marL="0">
              <a:buNone/>
            </a:pPr>
            <a:r>
              <a:rPr lang="en-US" sz="1050" b="1" dirty="0">
                <a:solidFill>
                  <a:srgbClr val="0E7490"/>
                </a:solidFill>
                <a:latin typeface="IBM Plex Mono" pitchFamily="34" charset="0"/>
                <a:ea typeface="IBM Plex Mono" pitchFamily="34" charset="-122"/>
                <a:cs typeface="IBM Plex Mono" pitchFamily="34" charset="-120"/>
              </a:rPr>
              <a:t>W2</a:t>
            </a:r>
            <a:endParaRPr lang="en-US" sz="1050" dirty="0"/>
          </a:p>
        </p:txBody>
      </p:sp>
      <p:sp>
        <p:nvSpPr>
          <p:cNvPr id="135" name="Text 101"/>
          <p:cNvSpPr txBox="1"/>
          <p:nvPr/>
        </p:nvSpPr>
        <p:spPr>
          <a:xfrm>
            <a:off x="1943100" y="6772046"/>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ASEI</a:t>
            </a:r>
            <a:endParaRPr lang="en-US" sz="1050" dirty="0"/>
          </a:p>
        </p:txBody>
      </p:sp>
      <p:sp>
        <p:nvSpPr>
          <p:cNvPr id="136" name="Text 102"/>
          <p:cNvSpPr txBox="1"/>
          <p:nvPr/>
        </p:nvSpPr>
        <p:spPr>
          <a:xfrm>
            <a:off x="3238805" y="677204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15.46</a:t>
            </a:r>
            <a:endParaRPr lang="en-US" sz="1050" dirty="0"/>
          </a:p>
        </p:txBody>
      </p:sp>
      <p:sp>
        <p:nvSpPr>
          <p:cNvPr id="137" name="Text 103"/>
          <p:cNvSpPr txBox="1"/>
          <p:nvPr/>
        </p:nvSpPr>
        <p:spPr>
          <a:xfrm>
            <a:off x="4953305" y="6772046"/>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0.55</a:t>
            </a:r>
            <a:endParaRPr lang="en-US" sz="1050" dirty="0"/>
          </a:p>
        </p:txBody>
      </p:sp>
      <p:sp>
        <p:nvSpPr>
          <p:cNvPr id="138" name="Text 104"/>
          <p:cNvSpPr txBox="1"/>
          <p:nvPr/>
        </p:nvSpPr>
        <p:spPr>
          <a:xfrm>
            <a:off x="6476695" y="6772046"/>
            <a:ext cx="1143000" cy="171907"/>
          </a:xfrm>
          <a:prstGeom prst="rect">
            <a:avLst/>
          </a:prstGeom>
          <a:noFill/>
          <a:ln/>
        </p:spPr>
        <p:txBody>
          <a:bodyPr wrap="none" lIns="0" tIns="0" rIns="0" bIns="0" rtlCol="0" anchor="ctr"/>
          <a:lstStyle/>
          <a:p>
            <a:pPr algn="r" indent="0" marL="0">
              <a:buNone/>
            </a:pPr>
            <a:r>
              <a:rPr lang="en-US" sz="1050" dirty="0">
                <a:solidFill>
                  <a:srgbClr val="0E7490"/>
                </a:solidFill>
                <a:latin typeface="IBM Plex Mono" pitchFamily="34" charset="0"/>
                <a:ea typeface="IBM Plex Mono" pitchFamily="34" charset="-122"/>
                <a:cs typeface="IBM Plex Mono" pitchFamily="34" charset="-120"/>
              </a:rPr>
              <a:t>3.56</a:t>
            </a:r>
            <a:endParaRPr lang="en-US" sz="1050" dirty="0"/>
          </a:p>
        </p:txBody>
      </p:sp>
      <p:sp>
        <p:nvSpPr>
          <p:cNvPr id="139" name="Text 105"/>
          <p:cNvSpPr txBox="1"/>
          <p:nvPr/>
        </p:nvSpPr>
        <p:spPr>
          <a:xfrm>
            <a:off x="11620195" y="677204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+0.15</a:t>
            </a:r>
            <a:endParaRPr lang="en-US" sz="1050" dirty="0"/>
          </a:p>
        </p:txBody>
      </p:sp>
      <p:sp>
        <p:nvSpPr>
          <p:cNvPr id="140" name="Text 106"/>
          <p:cNvSpPr txBox="1"/>
          <p:nvPr/>
        </p:nvSpPr>
        <p:spPr>
          <a:xfrm>
            <a:off x="13239598" y="6772046"/>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41" name="Text 107"/>
          <p:cNvSpPr txBox="1"/>
          <p:nvPr/>
        </p:nvSpPr>
        <p:spPr>
          <a:xfrm>
            <a:off x="14859000" y="677204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−0.08</a:t>
            </a:r>
            <a:endParaRPr lang="en-US" sz="1050" dirty="0"/>
          </a:p>
        </p:txBody>
      </p:sp>
      <p:sp>
        <p:nvSpPr>
          <p:cNvPr id="142" name="Text 108"/>
          <p:cNvSpPr txBox="1"/>
          <p:nvPr/>
        </p:nvSpPr>
        <p:spPr>
          <a:xfrm>
            <a:off x="16478402" y="6772046"/>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−0.04</a:t>
            </a:r>
            <a:endParaRPr lang="en-US" sz="1050" dirty="0"/>
          </a:p>
        </p:txBody>
      </p:sp>
      <p:sp>
        <p:nvSpPr>
          <p:cNvPr id="143" name="Text 109"/>
          <p:cNvSpPr txBox="1"/>
          <p:nvPr/>
        </p:nvSpPr>
        <p:spPr>
          <a:xfrm>
            <a:off x="990295" y="7039051"/>
            <a:ext cx="762610" cy="171907"/>
          </a:xfrm>
          <a:prstGeom prst="rect">
            <a:avLst/>
          </a:prstGeom>
          <a:noFill/>
          <a:ln/>
        </p:spPr>
        <p:txBody>
          <a:bodyPr wrap="none" lIns="0" tIns="0" rIns="0" bIns="0" rtlCol="0" anchor="ctr"/>
          <a:lstStyle/>
          <a:p>
            <a:pPr algn="l" indent="0" marL="0">
              <a:buNone/>
            </a:pPr>
            <a:r>
              <a:rPr lang="en-US" sz="1050" b="1" dirty="0">
                <a:solidFill>
                  <a:srgbClr val="0E7490"/>
                </a:solidFill>
                <a:latin typeface="IBM Plex Mono" pitchFamily="34" charset="0"/>
                <a:ea typeface="IBM Plex Mono" pitchFamily="34" charset="-122"/>
                <a:cs typeface="IBM Plex Mono" pitchFamily="34" charset="-120"/>
              </a:rPr>
              <a:t>W2</a:t>
            </a:r>
            <a:endParaRPr lang="en-US" sz="1050" dirty="0"/>
          </a:p>
        </p:txBody>
      </p:sp>
      <p:sp>
        <p:nvSpPr>
          <p:cNvPr id="144" name="Text 110"/>
          <p:cNvSpPr txBox="1"/>
          <p:nvPr/>
        </p:nvSpPr>
        <p:spPr>
          <a:xfrm>
            <a:off x="1943100" y="7039051"/>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AMI</a:t>
            </a:r>
            <a:endParaRPr lang="en-US" sz="1050" dirty="0"/>
          </a:p>
        </p:txBody>
      </p:sp>
      <p:sp>
        <p:nvSpPr>
          <p:cNvPr id="145" name="Text 111"/>
          <p:cNvSpPr txBox="1"/>
          <p:nvPr/>
        </p:nvSpPr>
        <p:spPr>
          <a:xfrm>
            <a:off x="3238805" y="7039051"/>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8.92</a:t>
            </a:r>
            <a:endParaRPr lang="en-US" sz="1050" dirty="0"/>
          </a:p>
        </p:txBody>
      </p:sp>
      <p:sp>
        <p:nvSpPr>
          <p:cNvPr id="146" name="Text 112"/>
          <p:cNvSpPr txBox="1"/>
          <p:nvPr/>
        </p:nvSpPr>
        <p:spPr>
          <a:xfrm>
            <a:off x="4953305" y="7039051"/>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0.41</a:t>
            </a:r>
            <a:endParaRPr lang="en-US" sz="1050" dirty="0"/>
          </a:p>
        </p:txBody>
      </p:sp>
      <p:sp>
        <p:nvSpPr>
          <p:cNvPr id="147" name="Text 113"/>
          <p:cNvSpPr txBox="1"/>
          <p:nvPr/>
        </p:nvSpPr>
        <p:spPr>
          <a:xfrm>
            <a:off x="6476695" y="7039051"/>
            <a:ext cx="1143000" cy="171907"/>
          </a:xfrm>
          <a:prstGeom prst="rect">
            <a:avLst/>
          </a:prstGeom>
          <a:noFill/>
          <a:ln/>
        </p:spPr>
        <p:txBody>
          <a:bodyPr wrap="none" lIns="0" tIns="0" rIns="0" bIns="0" rtlCol="0" anchor="ctr"/>
          <a:lstStyle/>
          <a:p>
            <a:pPr algn="r" indent="0" marL="0">
              <a:buNone/>
            </a:pPr>
            <a:r>
              <a:rPr lang="en-US" sz="1050" dirty="0">
                <a:solidFill>
                  <a:srgbClr val="0E7490"/>
                </a:solidFill>
                <a:latin typeface="IBM Plex Mono" pitchFamily="34" charset="0"/>
                <a:ea typeface="IBM Plex Mono" pitchFamily="34" charset="-122"/>
                <a:cs typeface="IBM Plex Mono" pitchFamily="34" charset="-120"/>
              </a:rPr>
              <a:t>4.60</a:t>
            </a:r>
            <a:endParaRPr lang="en-US" sz="1050" dirty="0"/>
          </a:p>
        </p:txBody>
      </p:sp>
      <p:sp>
        <p:nvSpPr>
          <p:cNvPr id="148" name="Text 114"/>
          <p:cNvSpPr txBox="1"/>
          <p:nvPr/>
        </p:nvSpPr>
        <p:spPr>
          <a:xfrm>
            <a:off x="11620195" y="7039051"/>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+0.12</a:t>
            </a:r>
            <a:endParaRPr lang="en-US" sz="1050" dirty="0"/>
          </a:p>
        </p:txBody>
      </p:sp>
      <p:sp>
        <p:nvSpPr>
          <p:cNvPr id="149" name="Text 115"/>
          <p:cNvSpPr txBox="1"/>
          <p:nvPr/>
        </p:nvSpPr>
        <p:spPr>
          <a:xfrm>
            <a:off x="13239598" y="7039051"/>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50" name="Text 116"/>
          <p:cNvSpPr txBox="1"/>
          <p:nvPr/>
        </p:nvSpPr>
        <p:spPr>
          <a:xfrm>
            <a:off x="14859000" y="7039051"/>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−0.11</a:t>
            </a:r>
            <a:endParaRPr lang="en-US" sz="1050" dirty="0"/>
          </a:p>
        </p:txBody>
      </p:sp>
      <p:sp>
        <p:nvSpPr>
          <p:cNvPr id="151" name="Text 117"/>
          <p:cNvSpPr txBox="1"/>
          <p:nvPr/>
        </p:nvSpPr>
        <p:spPr>
          <a:xfrm>
            <a:off x="16478402" y="7039051"/>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+0.02</a:t>
            </a:r>
            <a:endParaRPr lang="en-US" sz="1050" dirty="0"/>
          </a:p>
        </p:txBody>
      </p:sp>
      <p:sp>
        <p:nvSpPr>
          <p:cNvPr id="152" name="Text 118"/>
          <p:cNvSpPr txBox="1"/>
          <p:nvPr/>
        </p:nvSpPr>
        <p:spPr>
          <a:xfrm>
            <a:off x="990295" y="7306056"/>
            <a:ext cx="762610" cy="171907"/>
          </a:xfrm>
          <a:prstGeom prst="rect">
            <a:avLst/>
          </a:prstGeom>
          <a:noFill/>
          <a:ln/>
        </p:spPr>
        <p:txBody>
          <a:bodyPr wrap="none" lIns="0" tIns="0" rIns="0" bIns="0" rtlCol="0" anchor="ctr"/>
          <a:lstStyle/>
          <a:p>
            <a:pPr algn="l" indent="0" marL="0">
              <a:buNone/>
            </a:pPr>
            <a:r>
              <a:rPr lang="en-US" sz="1050" b="1" dirty="0">
                <a:solidFill>
                  <a:srgbClr val="0E7490"/>
                </a:solidFill>
                <a:latin typeface="IBM Plex Mono" pitchFamily="34" charset="0"/>
                <a:ea typeface="IBM Plex Mono" pitchFamily="34" charset="-122"/>
                <a:cs typeface="IBM Plex Mono" pitchFamily="34" charset="-120"/>
              </a:rPr>
              <a:t>W2</a:t>
            </a:r>
            <a:endParaRPr lang="en-US" sz="1050" dirty="0"/>
          </a:p>
        </p:txBody>
      </p:sp>
      <p:sp>
        <p:nvSpPr>
          <p:cNvPr id="153" name="Text 119"/>
          <p:cNvSpPr txBox="1"/>
          <p:nvPr/>
        </p:nvSpPr>
        <p:spPr>
          <a:xfrm>
            <a:off x="1943100" y="7306056"/>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ACI</a:t>
            </a:r>
            <a:endParaRPr lang="en-US" sz="1050" dirty="0"/>
          </a:p>
        </p:txBody>
      </p:sp>
      <p:sp>
        <p:nvSpPr>
          <p:cNvPr id="154" name="Text 120"/>
          <p:cNvSpPr txBox="1"/>
          <p:nvPr/>
        </p:nvSpPr>
        <p:spPr>
          <a:xfrm>
            <a:off x="3238805" y="73060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9.06</a:t>
            </a:r>
            <a:endParaRPr lang="en-US" sz="1050" dirty="0"/>
          </a:p>
        </p:txBody>
      </p:sp>
      <p:sp>
        <p:nvSpPr>
          <p:cNvPr id="155" name="Text 121"/>
          <p:cNvSpPr txBox="1"/>
          <p:nvPr/>
        </p:nvSpPr>
        <p:spPr>
          <a:xfrm>
            <a:off x="4953305" y="7306056"/>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0.45</a:t>
            </a:r>
            <a:endParaRPr lang="en-US" sz="1050" dirty="0"/>
          </a:p>
        </p:txBody>
      </p:sp>
      <p:sp>
        <p:nvSpPr>
          <p:cNvPr id="156" name="Text 122"/>
          <p:cNvSpPr txBox="1"/>
          <p:nvPr/>
        </p:nvSpPr>
        <p:spPr>
          <a:xfrm>
            <a:off x="6476695" y="7306056"/>
            <a:ext cx="1143000" cy="171907"/>
          </a:xfrm>
          <a:prstGeom prst="rect">
            <a:avLst/>
          </a:prstGeom>
          <a:noFill/>
          <a:ln/>
        </p:spPr>
        <p:txBody>
          <a:bodyPr wrap="none" lIns="0" tIns="0" rIns="0" bIns="0" rtlCol="0" anchor="ctr"/>
          <a:lstStyle/>
          <a:p>
            <a:pPr algn="r" indent="0" marL="0">
              <a:buNone/>
            </a:pPr>
            <a:r>
              <a:rPr lang="en-US" sz="1050" dirty="0">
                <a:solidFill>
                  <a:srgbClr val="0E7490"/>
                </a:solidFill>
                <a:latin typeface="IBM Plex Mono" pitchFamily="34" charset="0"/>
                <a:ea typeface="IBM Plex Mono" pitchFamily="34" charset="-122"/>
                <a:cs typeface="IBM Plex Mono" pitchFamily="34" charset="-120"/>
              </a:rPr>
              <a:t>4.97</a:t>
            </a:r>
            <a:endParaRPr lang="en-US" sz="1050" dirty="0"/>
          </a:p>
        </p:txBody>
      </p:sp>
      <p:sp>
        <p:nvSpPr>
          <p:cNvPr id="157" name="Text 123"/>
          <p:cNvSpPr txBox="1"/>
          <p:nvPr/>
        </p:nvSpPr>
        <p:spPr>
          <a:xfrm>
            <a:off x="11620195" y="73060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+0.12</a:t>
            </a:r>
            <a:endParaRPr lang="en-US" sz="1050" dirty="0"/>
          </a:p>
        </p:txBody>
      </p:sp>
      <p:sp>
        <p:nvSpPr>
          <p:cNvPr id="158" name="Text 124"/>
          <p:cNvSpPr txBox="1"/>
          <p:nvPr/>
        </p:nvSpPr>
        <p:spPr>
          <a:xfrm>
            <a:off x="13239598" y="7306056"/>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59" name="Text 125"/>
          <p:cNvSpPr txBox="1"/>
          <p:nvPr/>
        </p:nvSpPr>
        <p:spPr>
          <a:xfrm>
            <a:off x="14859000" y="7306056"/>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−0.04</a:t>
            </a:r>
            <a:endParaRPr lang="en-US" sz="1050" dirty="0"/>
          </a:p>
        </p:txBody>
      </p:sp>
      <p:sp>
        <p:nvSpPr>
          <p:cNvPr id="160" name="Text 126"/>
          <p:cNvSpPr txBox="1"/>
          <p:nvPr/>
        </p:nvSpPr>
        <p:spPr>
          <a:xfrm>
            <a:off x="16478402" y="7306056"/>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−0.04</a:t>
            </a:r>
            <a:endParaRPr lang="en-US" sz="1050" dirty="0"/>
          </a:p>
        </p:txBody>
      </p:sp>
      <p:sp>
        <p:nvSpPr>
          <p:cNvPr id="161" name="Text 127"/>
          <p:cNvSpPr txBox="1"/>
          <p:nvPr/>
        </p:nvSpPr>
        <p:spPr>
          <a:xfrm>
            <a:off x="990295" y="7667244"/>
            <a:ext cx="762610" cy="171907"/>
          </a:xfrm>
          <a:prstGeom prst="rect">
            <a:avLst/>
          </a:prstGeom>
          <a:noFill/>
          <a:ln/>
        </p:spPr>
        <p:txBody>
          <a:bodyPr wrap="none" lIns="0" tIns="0" rIns="0" bIns="0" rtlCol="0" anchor="ctr"/>
          <a:lstStyle/>
          <a:p>
            <a:pPr algn="l" indent="0" marL="0">
              <a:buNone/>
            </a:pPr>
            <a:r>
              <a:rPr lang="en-US" sz="1050" b="1" dirty="0">
                <a:solidFill>
                  <a:srgbClr val="475569"/>
                </a:solidFill>
                <a:latin typeface="IBM Plex Mono" pitchFamily="34" charset="0"/>
                <a:ea typeface="IBM Plex Mono" pitchFamily="34" charset="-122"/>
                <a:cs typeface="IBM Plex Mono" pitchFamily="34" charset="-120"/>
              </a:rPr>
              <a:t>W3</a:t>
            </a:r>
            <a:endParaRPr lang="en-US" sz="1050" dirty="0"/>
          </a:p>
        </p:txBody>
      </p:sp>
      <p:sp>
        <p:nvSpPr>
          <p:cNvPr id="162" name="Text 128"/>
          <p:cNvSpPr txBox="1"/>
          <p:nvPr/>
        </p:nvSpPr>
        <p:spPr>
          <a:xfrm>
            <a:off x="1943100" y="766724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AASI</a:t>
            </a:r>
            <a:endParaRPr lang="en-US" sz="1050" dirty="0"/>
          </a:p>
        </p:txBody>
      </p:sp>
      <p:sp>
        <p:nvSpPr>
          <p:cNvPr id="163" name="Text 129"/>
          <p:cNvSpPr txBox="1"/>
          <p:nvPr/>
        </p:nvSpPr>
        <p:spPr>
          <a:xfrm>
            <a:off x="3238805" y="76672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25.61</a:t>
            </a:r>
            <a:endParaRPr lang="en-US" sz="1050" dirty="0"/>
          </a:p>
        </p:txBody>
      </p:sp>
      <p:sp>
        <p:nvSpPr>
          <p:cNvPr id="164" name="Text 130"/>
          <p:cNvSpPr txBox="1"/>
          <p:nvPr/>
        </p:nvSpPr>
        <p:spPr>
          <a:xfrm>
            <a:off x="4953305" y="766724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0.74</a:t>
            </a:r>
            <a:endParaRPr lang="en-US" sz="1050" dirty="0"/>
          </a:p>
        </p:txBody>
      </p:sp>
      <p:sp>
        <p:nvSpPr>
          <p:cNvPr id="165" name="Text 131"/>
          <p:cNvSpPr txBox="1"/>
          <p:nvPr/>
        </p:nvSpPr>
        <p:spPr>
          <a:xfrm>
            <a:off x="6476695" y="7667244"/>
            <a:ext cx="1143000"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2.89</a:t>
            </a:r>
            <a:endParaRPr lang="en-US" sz="1050" dirty="0"/>
          </a:p>
        </p:txBody>
      </p:sp>
      <p:sp>
        <p:nvSpPr>
          <p:cNvPr id="166" name="Text 132"/>
          <p:cNvSpPr txBox="1"/>
          <p:nvPr/>
        </p:nvSpPr>
        <p:spPr>
          <a:xfrm>
            <a:off x="11620195" y="76672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+0.34</a:t>
            </a:r>
            <a:endParaRPr lang="en-US" sz="1050" dirty="0"/>
          </a:p>
        </p:txBody>
      </p:sp>
      <p:sp>
        <p:nvSpPr>
          <p:cNvPr id="167" name="Text 133"/>
          <p:cNvSpPr txBox="1"/>
          <p:nvPr/>
        </p:nvSpPr>
        <p:spPr>
          <a:xfrm>
            <a:off x="13239598" y="76672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+0.17</a:t>
            </a:r>
            <a:endParaRPr lang="en-US" sz="1050" dirty="0"/>
          </a:p>
        </p:txBody>
      </p:sp>
      <p:sp>
        <p:nvSpPr>
          <p:cNvPr id="168" name="Text 134"/>
          <p:cNvSpPr txBox="1"/>
          <p:nvPr/>
        </p:nvSpPr>
        <p:spPr>
          <a:xfrm>
            <a:off x="14859000" y="766724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69" name="Text 135"/>
          <p:cNvSpPr txBox="1"/>
          <p:nvPr/>
        </p:nvSpPr>
        <p:spPr>
          <a:xfrm>
            <a:off x="16478402" y="7667244"/>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−0.19</a:t>
            </a:r>
            <a:endParaRPr lang="en-US" sz="1050" dirty="0"/>
          </a:p>
        </p:txBody>
      </p:sp>
      <p:sp>
        <p:nvSpPr>
          <p:cNvPr id="170" name="Text 136"/>
          <p:cNvSpPr txBox="1"/>
          <p:nvPr/>
        </p:nvSpPr>
        <p:spPr>
          <a:xfrm>
            <a:off x="990295" y="7934249"/>
            <a:ext cx="762610" cy="171907"/>
          </a:xfrm>
          <a:prstGeom prst="rect">
            <a:avLst/>
          </a:prstGeom>
          <a:noFill/>
          <a:ln/>
        </p:spPr>
        <p:txBody>
          <a:bodyPr wrap="none" lIns="0" tIns="0" rIns="0" bIns="0" rtlCol="0" anchor="ctr"/>
          <a:lstStyle/>
          <a:p>
            <a:pPr algn="l" indent="0" marL="0">
              <a:buNone/>
            </a:pPr>
            <a:r>
              <a:rPr lang="en-US" sz="1050" b="1" dirty="0">
                <a:solidFill>
                  <a:srgbClr val="475569"/>
                </a:solidFill>
                <a:latin typeface="IBM Plex Mono" pitchFamily="34" charset="0"/>
                <a:ea typeface="IBM Plex Mono" pitchFamily="34" charset="-122"/>
                <a:cs typeface="IBM Plex Mono" pitchFamily="34" charset="-120"/>
              </a:rPr>
              <a:t>W3</a:t>
            </a:r>
            <a:endParaRPr lang="en-US" sz="1050" dirty="0"/>
          </a:p>
        </p:txBody>
      </p:sp>
      <p:sp>
        <p:nvSpPr>
          <p:cNvPr id="171" name="Text 137"/>
          <p:cNvSpPr txBox="1"/>
          <p:nvPr/>
        </p:nvSpPr>
        <p:spPr>
          <a:xfrm>
            <a:off x="1943100" y="7934249"/>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ASEI</a:t>
            </a:r>
            <a:endParaRPr lang="en-US" sz="1050" dirty="0"/>
          </a:p>
        </p:txBody>
      </p:sp>
      <p:sp>
        <p:nvSpPr>
          <p:cNvPr id="172" name="Text 138"/>
          <p:cNvSpPr txBox="1"/>
          <p:nvPr/>
        </p:nvSpPr>
        <p:spPr>
          <a:xfrm>
            <a:off x="3238805" y="79342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15.38</a:t>
            </a:r>
            <a:endParaRPr lang="en-US" sz="1050" dirty="0"/>
          </a:p>
        </p:txBody>
      </p:sp>
      <p:sp>
        <p:nvSpPr>
          <p:cNvPr id="173" name="Text 139"/>
          <p:cNvSpPr txBox="1"/>
          <p:nvPr/>
        </p:nvSpPr>
        <p:spPr>
          <a:xfrm>
            <a:off x="4953305" y="7934249"/>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0.66</a:t>
            </a:r>
            <a:endParaRPr lang="en-US" sz="1050" dirty="0"/>
          </a:p>
        </p:txBody>
      </p:sp>
      <p:sp>
        <p:nvSpPr>
          <p:cNvPr id="174" name="Text 140"/>
          <p:cNvSpPr txBox="1"/>
          <p:nvPr/>
        </p:nvSpPr>
        <p:spPr>
          <a:xfrm>
            <a:off x="6476695" y="7934249"/>
            <a:ext cx="1143000"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4.29</a:t>
            </a:r>
            <a:endParaRPr lang="en-US" sz="1050" dirty="0"/>
          </a:p>
        </p:txBody>
      </p:sp>
      <p:sp>
        <p:nvSpPr>
          <p:cNvPr id="175" name="Text 141"/>
          <p:cNvSpPr txBox="1"/>
          <p:nvPr/>
        </p:nvSpPr>
        <p:spPr>
          <a:xfrm>
            <a:off x="11620195" y="79342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+0.23</a:t>
            </a:r>
            <a:endParaRPr lang="en-US" sz="1050" dirty="0"/>
          </a:p>
        </p:txBody>
      </p:sp>
      <p:sp>
        <p:nvSpPr>
          <p:cNvPr id="176" name="Text 142"/>
          <p:cNvSpPr txBox="1"/>
          <p:nvPr/>
        </p:nvSpPr>
        <p:spPr>
          <a:xfrm>
            <a:off x="13239598" y="7934249"/>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+0.08</a:t>
            </a:r>
            <a:endParaRPr lang="en-US" sz="1050" dirty="0"/>
          </a:p>
        </p:txBody>
      </p:sp>
      <p:sp>
        <p:nvSpPr>
          <p:cNvPr id="177" name="Text 143"/>
          <p:cNvSpPr txBox="1"/>
          <p:nvPr/>
        </p:nvSpPr>
        <p:spPr>
          <a:xfrm>
            <a:off x="14859000" y="7934249"/>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78" name="Text 144"/>
          <p:cNvSpPr txBox="1"/>
          <p:nvPr/>
        </p:nvSpPr>
        <p:spPr>
          <a:xfrm>
            <a:off x="16478402" y="7934249"/>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−0.12</a:t>
            </a:r>
            <a:endParaRPr lang="en-US" sz="1050" dirty="0"/>
          </a:p>
        </p:txBody>
      </p:sp>
      <p:sp>
        <p:nvSpPr>
          <p:cNvPr id="179" name="Text 145"/>
          <p:cNvSpPr txBox="1"/>
          <p:nvPr/>
        </p:nvSpPr>
        <p:spPr>
          <a:xfrm>
            <a:off x="990295" y="8201254"/>
            <a:ext cx="762610" cy="171907"/>
          </a:xfrm>
          <a:prstGeom prst="rect">
            <a:avLst/>
          </a:prstGeom>
          <a:noFill/>
          <a:ln/>
        </p:spPr>
        <p:txBody>
          <a:bodyPr wrap="none" lIns="0" tIns="0" rIns="0" bIns="0" rtlCol="0" anchor="ctr"/>
          <a:lstStyle/>
          <a:p>
            <a:pPr algn="l" indent="0" marL="0">
              <a:buNone/>
            </a:pPr>
            <a:r>
              <a:rPr lang="en-US" sz="1050" b="1" dirty="0">
                <a:solidFill>
                  <a:srgbClr val="475569"/>
                </a:solidFill>
                <a:latin typeface="IBM Plex Mono" pitchFamily="34" charset="0"/>
                <a:ea typeface="IBM Plex Mono" pitchFamily="34" charset="-122"/>
                <a:cs typeface="IBM Plex Mono" pitchFamily="34" charset="-120"/>
              </a:rPr>
              <a:t>W3</a:t>
            </a:r>
            <a:endParaRPr lang="en-US" sz="1050" dirty="0"/>
          </a:p>
        </p:txBody>
      </p:sp>
      <p:sp>
        <p:nvSpPr>
          <p:cNvPr id="180" name="Text 146"/>
          <p:cNvSpPr txBox="1"/>
          <p:nvPr/>
        </p:nvSpPr>
        <p:spPr>
          <a:xfrm>
            <a:off x="1943100" y="820125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AMI</a:t>
            </a:r>
            <a:endParaRPr lang="en-US" sz="1050" dirty="0"/>
          </a:p>
        </p:txBody>
      </p:sp>
      <p:sp>
        <p:nvSpPr>
          <p:cNvPr id="181" name="Text 147"/>
          <p:cNvSpPr txBox="1"/>
          <p:nvPr/>
        </p:nvSpPr>
        <p:spPr>
          <a:xfrm>
            <a:off x="3238805" y="82012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8.81</a:t>
            </a:r>
            <a:endParaRPr lang="en-US" sz="1050" dirty="0"/>
          </a:p>
        </p:txBody>
      </p:sp>
      <p:sp>
        <p:nvSpPr>
          <p:cNvPr id="182" name="Text 148"/>
          <p:cNvSpPr txBox="1"/>
          <p:nvPr/>
        </p:nvSpPr>
        <p:spPr>
          <a:xfrm>
            <a:off x="4953305" y="820125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0.51</a:t>
            </a:r>
            <a:endParaRPr lang="en-US" sz="1050" dirty="0"/>
          </a:p>
        </p:txBody>
      </p:sp>
      <p:sp>
        <p:nvSpPr>
          <p:cNvPr id="183" name="Text 149"/>
          <p:cNvSpPr txBox="1"/>
          <p:nvPr/>
        </p:nvSpPr>
        <p:spPr>
          <a:xfrm>
            <a:off x="6476695" y="8201254"/>
            <a:ext cx="1143000"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5.79</a:t>
            </a:r>
            <a:endParaRPr lang="en-US" sz="1050" dirty="0"/>
          </a:p>
        </p:txBody>
      </p:sp>
      <p:sp>
        <p:nvSpPr>
          <p:cNvPr id="184" name="Text 150"/>
          <p:cNvSpPr txBox="1"/>
          <p:nvPr/>
        </p:nvSpPr>
        <p:spPr>
          <a:xfrm>
            <a:off x="11620195" y="82012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+0.23</a:t>
            </a:r>
            <a:endParaRPr lang="en-US" sz="1050" dirty="0"/>
          </a:p>
        </p:txBody>
      </p:sp>
      <p:sp>
        <p:nvSpPr>
          <p:cNvPr id="185" name="Text 151"/>
          <p:cNvSpPr txBox="1"/>
          <p:nvPr/>
        </p:nvSpPr>
        <p:spPr>
          <a:xfrm>
            <a:off x="13239598" y="820125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+0.11</a:t>
            </a:r>
            <a:endParaRPr lang="en-US" sz="1050" dirty="0"/>
          </a:p>
        </p:txBody>
      </p:sp>
      <p:sp>
        <p:nvSpPr>
          <p:cNvPr id="186" name="Text 152"/>
          <p:cNvSpPr txBox="1"/>
          <p:nvPr/>
        </p:nvSpPr>
        <p:spPr>
          <a:xfrm>
            <a:off x="14859000" y="820125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87" name="Text 153"/>
          <p:cNvSpPr txBox="1"/>
          <p:nvPr/>
        </p:nvSpPr>
        <p:spPr>
          <a:xfrm>
            <a:off x="16478402" y="8201254"/>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−0.09</a:t>
            </a:r>
            <a:endParaRPr lang="en-US" sz="1050" dirty="0"/>
          </a:p>
        </p:txBody>
      </p:sp>
      <p:sp>
        <p:nvSpPr>
          <p:cNvPr id="188" name="Text 154"/>
          <p:cNvSpPr txBox="1"/>
          <p:nvPr/>
        </p:nvSpPr>
        <p:spPr>
          <a:xfrm>
            <a:off x="990295" y="8467344"/>
            <a:ext cx="762610" cy="171907"/>
          </a:xfrm>
          <a:prstGeom prst="rect">
            <a:avLst/>
          </a:prstGeom>
          <a:noFill/>
          <a:ln/>
        </p:spPr>
        <p:txBody>
          <a:bodyPr wrap="none" lIns="0" tIns="0" rIns="0" bIns="0" rtlCol="0" anchor="ctr"/>
          <a:lstStyle/>
          <a:p>
            <a:pPr algn="l" indent="0" marL="0">
              <a:buNone/>
            </a:pPr>
            <a:r>
              <a:rPr lang="en-US" sz="1050" b="1" dirty="0">
                <a:solidFill>
                  <a:srgbClr val="475569"/>
                </a:solidFill>
                <a:latin typeface="IBM Plex Mono" pitchFamily="34" charset="0"/>
                <a:ea typeface="IBM Plex Mono" pitchFamily="34" charset="-122"/>
                <a:cs typeface="IBM Plex Mono" pitchFamily="34" charset="-120"/>
              </a:rPr>
              <a:t>W3</a:t>
            </a:r>
            <a:endParaRPr lang="en-US" sz="1050" dirty="0"/>
          </a:p>
        </p:txBody>
      </p:sp>
      <p:sp>
        <p:nvSpPr>
          <p:cNvPr id="189" name="Text 155"/>
          <p:cNvSpPr txBox="1"/>
          <p:nvPr/>
        </p:nvSpPr>
        <p:spPr>
          <a:xfrm>
            <a:off x="1943100" y="8467344"/>
            <a:ext cx="1143000" cy="200254"/>
          </a:xfrm>
          <a:prstGeom prst="rect">
            <a:avLst/>
          </a:prstGeom>
          <a:noFill/>
          <a:ln/>
        </p:spPr>
        <p:txBody>
          <a:bodyPr wrap="none" lIns="0" tIns="0" rIns="0" bIns="0" rtlCol="0" anchor="ctr"/>
          <a:lstStyle/>
          <a:p>
            <a:pPr algn="l" indent="0" marL="0">
              <a:buNone/>
            </a:pPr>
            <a:r>
              <a:rPr lang="en-US" sz="1050" dirty="0">
                <a:solidFill>
                  <a:srgbClr val="0F172A"/>
                </a:solidFill>
                <a:latin typeface="IBM Plex Sans KR" pitchFamily="34" charset="0"/>
                <a:ea typeface="IBM Plex Sans KR" pitchFamily="34" charset="-122"/>
                <a:cs typeface="IBM Plex Sans KR" pitchFamily="34" charset="-120"/>
              </a:rPr>
              <a:t>ACI</a:t>
            </a:r>
            <a:endParaRPr lang="en-US" sz="1050" dirty="0"/>
          </a:p>
        </p:txBody>
      </p:sp>
      <p:sp>
        <p:nvSpPr>
          <p:cNvPr id="190" name="Text 156"/>
          <p:cNvSpPr txBox="1"/>
          <p:nvPr/>
        </p:nvSpPr>
        <p:spPr>
          <a:xfrm>
            <a:off x="3238805" y="84673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9.02</a:t>
            </a:r>
            <a:endParaRPr lang="en-US" sz="1050" dirty="0"/>
          </a:p>
        </p:txBody>
      </p:sp>
      <p:sp>
        <p:nvSpPr>
          <p:cNvPr id="191" name="Text 157"/>
          <p:cNvSpPr txBox="1"/>
          <p:nvPr/>
        </p:nvSpPr>
        <p:spPr>
          <a:xfrm>
            <a:off x="4953305" y="8467344"/>
            <a:ext cx="1334110"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0.55</a:t>
            </a:r>
            <a:endParaRPr lang="en-US" sz="1050" dirty="0"/>
          </a:p>
        </p:txBody>
      </p:sp>
      <p:sp>
        <p:nvSpPr>
          <p:cNvPr id="192" name="Text 158"/>
          <p:cNvSpPr txBox="1"/>
          <p:nvPr/>
        </p:nvSpPr>
        <p:spPr>
          <a:xfrm>
            <a:off x="6476695" y="8467344"/>
            <a:ext cx="1143000"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6.10</a:t>
            </a:r>
            <a:endParaRPr lang="en-US" sz="1050" dirty="0"/>
          </a:p>
        </p:txBody>
      </p:sp>
      <p:sp>
        <p:nvSpPr>
          <p:cNvPr id="193" name="Text 159"/>
          <p:cNvSpPr txBox="1"/>
          <p:nvPr/>
        </p:nvSpPr>
        <p:spPr>
          <a:xfrm>
            <a:off x="11620195" y="84673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+0.16</a:t>
            </a:r>
            <a:endParaRPr lang="en-US" sz="1050" dirty="0"/>
          </a:p>
        </p:txBody>
      </p:sp>
      <p:sp>
        <p:nvSpPr>
          <p:cNvPr id="194" name="Text 160"/>
          <p:cNvSpPr txBox="1"/>
          <p:nvPr/>
        </p:nvSpPr>
        <p:spPr>
          <a:xfrm>
            <a:off x="13239598" y="8467344"/>
            <a:ext cx="1524305" cy="171907"/>
          </a:xfrm>
          <a:prstGeom prst="rect">
            <a:avLst/>
          </a:prstGeom>
          <a:noFill/>
          <a:ln/>
        </p:spPr>
        <p:txBody>
          <a:bodyPr wrap="none" lIns="0" tIns="0" rIns="0" bIns="0" rtlCol="0" anchor="ctr"/>
          <a:lstStyle/>
          <a:p>
            <a:pPr algn="r" indent="0" marL="0">
              <a:buNone/>
            </a:pPr>
            <a:r>
              <a:rPr lang="en-US" sz="1050" dirty="0">
                <a:solidFill>
                  <a:srgbClr val="0F172A"/>
                </a:solidFill>
                <a:latin typeface="IBM Plex Mono" pitchFamily="34" charset="0"/>
                <a:ea typeface="IBM Plex Mono" pitchFamily="34" charset="-122"/>
                <a:cs typeface="IBM Plex Mono" pitchFamily="34" charset="-120"/>
              </a:rPr>
              <a:t>+0.04</a:t>
            </a:r>
            <a:endParaRPr lang="en-US" sz="1050" dirty="0"/>
          </a:p>
        </p:txBody>
      </p:sp>
      <p:sp>
        <p:nvSpPr>
          <p:cNvPr id="195" name="Text 161"/>
          <p:cNvSpPr txBox="1"/>
          <p:nvPr/>
        </p:nvSpPr>
        <p:spPr>
          <a:xfrm>
            <a:off x="14859000" y="8467344"/>
            <a:ext cx="1524305" cy="171907"/>
          </a:xfrm>
          <a:prstGeom prst="rect">
            <a:avLst/>
          </a:prstGeom>
          <a:noFill/>
          <a:ln/>
        </p:spPr>
        <p:txBody>
          <a:bodyPr wrap="none" lIns="0" tIns="0" rIns="0" bIns="0" rtlCol="0" anchor="ctr"/>
          <a:lstStyle/>
          <a:p>
            <a:pPr algn="r" indent="0" marL="0">
              <a:buNone/>
            </a:pPr>
            <a:r>
              <a:rPr lang="en-US" sz="1050" dirty="0">
                <a:solidFill>
                  <a:srgbClr val="94A3B8"/>
                </a:solidFill>
                <a:latin typeface="IBM Plex Mono" pitchFamily="34" charset="0"/>
                <a:ea typeface="IBM Plex Mono" pitchFamily="34" charset="-122"/>
                <a:cs typeface="IBM Plex Mono" pitchFamily="34" charset="-120"/>
              </a:rPr>
              <a:t>—</a:t>
            </a:r>
            <a:endParaRPr lang="en-US" sz="1050" dirty="0"/>
          </a:p>
        </p:txBody>
      </p:sp>
      <p:sp>
        <p:nvSpPr>
          <p:cNvPr id="196" name="Text 162"/>
          <p:cNvSpPr txBox="1"/>
          <p:nvPr/>
        </p:nvSpPr>
        <p:spPr>
          <a:xfrm>
            <a:off x="16478402" y="8467344"/>
            <a:ext cx="952805" cy="171907"/>
          </a:xfrm>
          <a:prstGeom prst="rect">
            <a:avLst/>
          </a:prstGeom>
          <a:noFill/>
          <a:ln/>
        </p:spPr>
        <p:txBody>
          <a:bodyPr wrap="none" lIns="0" tIns="0" rIns="0" bIns="0" rtlCol="0" anchor="ctr"/>
          <a:lstStyle/>
          <a:p>
            <a:pPr algn="r" indent="0" marL="0">
              <a:buNone/>
            </a:pPr>
            <a:r>
              <a:rPr lang="en-US" sz="1050" dirty="0">
                <a:solidFill>
                  <a:srgbClr val="475569"/>
                </a:solidFill>
                <a:latin typeface="IBM Plex Mono" pitchFamily="34" charset="0"/>
                <a:ea typeface="IBM Plex Mono" pitchFamily="34" charset="-122"/>
                <a:cs typeface="IBM Plex Mono" pitchFamily="34" charset="-120"/>
              </a:rPr>
              <a:t>−0.08</a:t>
            </a:r>
            <a:endParaRPr lang="en-US" sz="1050" dirty="0"/>
          </a:p>
        </p:txBody>
      </p:sp>
      <p:sp>
        <p:nvSpPr>
          <p:cNvPr id="197" name="Text 163"/>
          <p:cNvSpPr txBox="1"/>
          <p:nvPr/>
        </p:nvSpPr>
        <p:spPr>
          <a:xfrm>
            <a:off x="761695" y="9277502"/>
            <a:ext cx="13335610" cy="210312"/>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Δ-W는 동일 stage 내 wafer간 평균 차이 (nm)</a:t>
            </a:r>
            <a:endParaRPr lang="en-US" sz="1050" dirty="0"/>
          </a:p>
        </p:txBody>
      </p:sp>
      <p:sp>
        <p:nvSpPr>
          <p:cNvPr id="198" name="Text 164"/>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06 / 08 · UNIFORMITY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pic>
        <p:nvPicPr>
          <p:cNvPr id="3" name="Image 0" descr="gen-dedup-a81f3a022b14f53a588e012a38a0e09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553005"/>
            <a:ext cx="16782898" cy="5734202"/>
          </a:xfrm>
          <a:prstGeom prst="rect">
            <a:avLst/>
          </a:prstGeom>
          <a:solidFill>
            <a:srgbClr val="FFFFFF"/>
          </a:solidFill>
          <a:ln w="12700">
            <a:solidFill>
              <a:srgbClr val="E2E8F0"/>
            </a:solidFill>
            <a:prstDash val="solid"/>
          </a:ln>
        </p:spPr>
      </p:sp>
      <p:sp>
        <p:nvSpPr>
          <p:cNvPr id="5" name="Shape 1"/>
          <p:cNvSpPr/>
          <p:nvPr/>
        </p:nvSpPr>
        <p:spPr>
          <a:xfrm>
            <a:off x="761695" y="2895905"/>
            <a:ext cx="16763695" cy="448056"/>
          </a:xfrm>
          <a:prstGeom prst="rect">
            <a:avLst/>
          </a:prstGeom>
          <a:solidFill>
            <a:srgbClr val="F1F5F9"/>
          </a:solidFill>
          <a:ln/>
        </p:spPr>
      </p:sp>
      <p:sp>
        <p:nvSpPr>
          <p:cNvPr id="6" name="Shape 2"/>
          <p:cNvSpPr/>
          <p:nvPr/>
        </p:nvSpPr>
        <p:spPr>
          <a:xfrm>
            <a:off x="761695" y="3334817"/>
            <a:ext cx="16763695" cy="9144"/>
          </a:xfrm>
          <a:prstGeom prst="rect">
            <a:avLst/>
          </a:prstGeom>
          <a:solidFill>
            <a:srgbClr val="CBD5E1"/>
          </a:solidFill>
          <a:ln w="12700">
            <a:solidFill>
              <a:srgbClr val="CBD5E1">
                <a:alpha val="0"/>
              </a:srgbClr>
            </a:solidFill>
            <a:prstDash val="solid"/>
          </a:ln>
        </p:spPr>
      </p:sp>
      <p:sp>
        <p:nvSpPr>
          <p:cNvPr id="7" name="Shape 3"/>
          <p:cNvSpPr/>
          <p:nvPr/>
        </p:nvSpPr>
        <p:spPr>
          <a:xfrm>
            <a:off x="761695" y="3372307"/>
            <a:ext cx="16763695" cy="485546"/>
          </a:xfrm>
          <a:prstGeom prst="rect">
            <a:avLst/>
          </a:prstGeom>
          <a:solidFill>
            <a:srgbClr val="FFFFFF"/>
          </a:solidFill>
          <a:ln/>
        </p:spPr>
      </p:sp>
      <p:sp>
        <p:nvSpPr>
          <p:cNvPr id="8" name="Shape 4"/>
          <p:cNvSpPr/>
          <p:nvPr/>
        </p:nvSpPr>
        <p:spPr>
          <a:xfrm>
            <a:off x="761695" y="3848710"/>
            <a:ext cx="16763695" cy="9144"/>
          </a:xfrm>
          <a:prstGeom prst="rect">
            <a:avLst/>
          </a:prstGeom>
          <a:solidFill>
            <a:srgbClr val="F1F5F9"/>
          </a:solidFill>
          <a:ln w="12700">
            <a:solidFill>
              <a:srgbClr val="F1F5F9">
                <a:alpha val="0"/>
              </a:srgbClr>
            </a:solidFill>
            <a:prstDash val="solid"/>
          </a:ln>
        </p:spPr>
      </p:sp>
      <p:sp>
        <p:nvSpPr>
          <p:cNvPr id="9" name="Shape 5"/>
          <p:cNvSpPr/>
          <p:nvPr/>
        </p:nvSpPr>
        <p:spPr>
          <a:xfrm>
            <a:off x="761695" y="3847795"/>
            <a:ext cx="16763695" cy="485546"/>
          </a:xfrm>
          <a:prstGeom prst="rect">
            <a:avLst/>
          </a:prstGeom>
          <a:solidFill>
            <a:srgbClr val="FAFBFC"/>
          </a:solidFill>
          <a:ln/>
        </p:spPr>
      </p:sp>
      <p:sp>
        <p:nvSpPr>
          <p:cNvPr id="10" name="Shape 6"/>
          <p:cNvSpPr/>
          <p:nvPr/>
        </p:nvSpPr>
        <p:spPr>
          <a:xfrm>
            <a:off x="761695" y="4324198"/>
            <a:ext cx="16763695" cy="9144"/>
          </a:xfrm>
          <a:prstGeom prst="rect">
            <a:avLst/>
          </a:prstGeom>
          <a:solidFill>
            <a:srgbClr val="F1F5F9"/>
          </a:solidFill>
          <a:ln w="12700">
            <a:solidFill>
              <a:srgbClr val="F1F5F9">
                <a:alpha val="0"/>
              </a:srgbClr>
            </a:solidFill>
            <a:prstDash val="solid"/>
          </a:ln>
        </p:spPr>
      </p:sp>
      <p:sp>
        <p:nvSpPr>
          <p:cNvPr id="11" name="Shape 7"/>
          <p:cNvSpPr/>
          <p:nvPr/>
        </p:nvSpPr>
        <p:spPr>
          <a:xfrm>
            <a:off x="761695" y="4324198"/>
            <a:ext cx="16763695" cy="485546"/>
          </a:xfrm>
          <a:prstGeom prst="rect">
            <a:avLst/>
          </a:prstGeom>
          <a:solidFill>
            <a:srgbClr val="FFFFFF"/>
          </a:solidFill>
          <a:ln/>
        </p:spPr>
      </p:sp>
      <p:sp>
        <p:nvSpPr>
          <p:cNvPr id="12" name="Shape 8"/>
          <p:cNvSpPr/>
          <p:nvPr/>
        </p:nvSpPr>
        <p:spPr>
          <a:xfrm>
            <a:off x="761695" y="4800600"/>
            <a:ext cx="16763695" cy="9144"/>
          </a:xfrm>
          <a:prstGeom prst="rect">
            <a:avLst/>
          </a:prstGeom>
          <a:solidFill>
            <a:srgbClr val="F1F5F9"/>
          </a:solidFill>
          <a:ln w="12700">
            <a:solidFill>
              <a:srgbClr val="F1F5F9">
                <a:alpha val="0"/>
              </a:srgbClr>
            </a:solidFill>
            <a:prstDash val="solid"/>
          </a:ln>
        </p:spPr>
      </p:sp>
      <p:sp>
        <p:nvSpPr>
          <p:cNvPr id="13" name="Shape 9"/>
          <p:cNvSpPr/>
          <p:nvPr/>
        </p:nvSpPr>
        <p:spPr>
          <a:xfrm>
            <a:off x="761695" y="4800600"/>
            <a:ext cx="16763695" cy="485546"/>
          </a:xfrm>
          <a:prstGeom prst="rect">
            <a:avLst/>
          </a:prstGeom>
          <a:solidFill>
            <a:srgbClr val="FAFBFC"/>
          </a:solidFill>
          <a:ln/>
        </p:spPr>
      </p:sp>
      <p:sp>
        <p:nvSpPr>
          <p:cNvPr id="14" name="Shape 10"/>
          <p:cNvSpPr/>
          <p:nvPr/>
        </p:nvSpPr>
        <p:spPr>
          <a:xfrm>
            <a:off x="761695" y="5277002"/>
            <a:ext cx="16763695" cy="9144"/>
          </a:xfrm>
          <a:prstGeom prst="rect">
            <a:avLst/>
          </a:prstGeom>
          <a:solidFill>
            <a:srgbClr val="F1F5F9"/>
          </a:solidFill>
          <a:ln w="12700">
            <a:solidFill>
              <a:srgbClr val="F1F5F9">
                <a:alpha val="0"/>
              </a:srgbClr>
            </a:solidFill>
            <a:prstDash val="solid"/>
          </a:ln>
        </p:spPr>
      </p:sp>
      <p:sp>
        <p:nvSpPr>
          <p:cNvPr id="15" name="Shape 11"/>
          <p:cNvSpPr/>
          <p:nvPr/>
        </p:nvSpPr>
        <p:spPr>
          <a:xfrm>
            <a:off x="761695" y="5277002"/>
            <a:ext cx="16763695" cy="485546"/>
          </a:xfrm>
          <a:prstGeom prst="rect">
            <a:avLst/>
          </a:prstGeom>
          <a:solidFill>
            <a:srgbClr val="FFFFFF"/>
          </a:solidFill>
          <a:ln/>
        </p:spPr>
      </p:sp>
      <p:sp>
        <p:nvSpPr>
          <p:cNvPr id="16" name="Shape 12"/>
          <p:cNvSpPr/>
          <p:nvPr/>
        </p:nvSpPr>
        <p:spPr>
          <a:xfrm>
            <a:off x="761695" y="5753405"/>
            <a:ext cx="16763695" cy="9144"/>
          </a:xfrm>
          <a:prstGeom prst="rect">
            <a:avLst/>
          </a:prstGeom>
          <a:solidFill>
            <a:srgbClr val="F1F5F9"/>
          </a:solidFill>
          <a:ln w="12700">
            <a:solidFill>
              <a:srgbClr val="F1F5F9">
                <a:alpha val="0"/>
              </a:srgbClr>
            </a:solidFill>
            <a:prstDash val="solid"/>
          </a:ln>
        </p:spPr>
      </p:sp>
      <p:sp>
        <p:nvSpPr>
          <p:cNvPr id="17" name="Shape 13"/>
          <p:cNvSpPr/>
          <p:nvPr/>
        </p:nvSpPr>
        <p:spPr>
          <a:xfrm>
            <a:off x="761695" y="5753405"/>
            <a:ext cx="16763695" cy="485546"/>
          </a:xfrm>
          <a:prstGeom prst="rect">
            <a:avLst/>
          </a:prstGeom>
          <a:solidFill>
            <a:srgbClr val="FAFBFC"/>
          </a:solidFill>
          <a:ln/>
        </p:spPr>
      </p:sp>
      <p:sp>
        <p:nvSpPr>
          <p:cNvPr id="18" name="Shape 14"/>
          <p:cNvSpPr/>
          <p:nvPr/>
        </p:nvSpPr>
        <p:spPr>
          <a:xfrm>
            <a:off x="761695" y="6229807"/>
            <a:ext cx="16763695" cy="9144"/>
          </a:xfrm>
          <a:prstGeom prst="rect">
            <a:avLst/>
          </a:prstGeom>
          <a:solidFill>
            <a:srgbClr val="F1F5F9"/>
          </a:solidFill>
          <a:ln w="12700">
            <a:solidFill>
              <a:srgbClr val="F1F5F9">
                <a:alpha val="0"/>
              </a:srgbClr>
            </a:solidFill>
            <a:prstDash val="solid"/>
          </a:ln>
        </p:spPr>
      </p:sp>
      <p:sp>
        <p:nvSpPr>
          <p:cNvPr id="19" name="Shape 15"/>
          <p:cNvSpPr/>
          <p:nvPr/>
        </p:nvSpPr>
        <p:spPr>
          <a:xfrm>
            <a:off x="761695" y="6229807"/>
            <a:ext cx="16763695" cy="485546"/>
          </a:xfrm>
          <a:prstGeom prst="rect">
            <a:avLst/>
          </a:prstGeom>
          <a:solidFill>
            <a:srgbClr val="FFFFFF"/>
          </a:solidFill>
          <a:ln/>
        </p:spPr>
      </p:sp>
      <p:sp>
        <p:nvSpPr>
          <p:cNvPr id="20" name="Shape 16"/>
          <p:cNvSpPr/>
          <p:nvPr/>
        </p:nvSpPr>
        <p:spPr>
          <a:xfrm>
            <a:off x="761695" y="6706210"/>
            <a:ext cx="16763695" cy="9144"/>
          </a:xfrm>
          <a:prstGeom prst="rect">
            <a:avLst/>
          </a:prstGeom>
          <a:solidFill>
            <a:srgbClr val="F1F5F9"/>
          </a:solidFill>
          <a:ln w="12700">
            <a:solidFill>
              <a:srgbClr val="F1F5F9">
                <a:alpha val="0"/>
              </a:srgbClr>
            </a:solidFill>
            <a:prstDash val="solid"/>
          </a:ln>
        </p:spPr>
      </p:sp>
      <p:sp>
        <p:nvSpPr>
          <p:cNvPr id="21" name="Shape 17"/>
          <p:cNvSpPr/>
          <p:nvPr/>
        </p:nvSpPr>
        <p:spPr>
          <a:xfrm>
            <a:off x="761695" y="6705295"/>
            <a:ext cx="16763695" cy="485546"/>
          </a:xfrm>
          <a:prstGeom prst="rect">
            <a:avLst/>
          </a:prstGeom>
          <a:solidFill>
            <a:srgbClr val="FAFBFC"/>
          </a:solidFill>
          <a:ln/>
        </p:spPr>
      </p:sp>
      <p:sp>
        <p:nvSpPr>
          <p:cNvPr id="22" name="Shape 18"/>
          <p:cNvSpPr/>
          <p:nvPr/>
        </p:nvSpPr>
        <p:spPr>
          <a:xfrm>
            <a:off x="761695" y="7181698"/>
            <a:ext cx="16763695" cy="9144"/>
          </a:xfrm>
          <a:prstGeom prst="rect">
            <a:avLst/>
          </a:prstGeom>
          <a:solidFill>
            <a:srgbClr val="F1F5F9"/>
          </a:solidFill>
          <a:ln w="12700">
            <a:solidFill>
              <a:srgbClr val="F1F5F9">
                <a:alpha val="0"/>
              </a:srgbClr>
            </a:solidFill>
            <a:prstDash val="solid"/>
          </a:ln>
        </p:spPr>
      </p:sp>
      <p:sp>
        <p:nvSpPr>
          <p:cNvPr id="23" name="Shape 19"/>
          <p:cNvSpPr/>
          <p:nvPr/>
        </p:nvSpPr>
        <p:spPr>
          <a:xfrm>
            <a:off x="761695" y="7181698"/>
            <a:ext cx="16763695" cy="476402"/>
          </a:xfrm>
          <a:prstGeom prst="rect">
            <a:avLst/>
          </a:prstGeom>
          <a:solidFill>
            <a:srgbClr val="FFFFFF"/>
          </a:solidFill>
          <a:ln w="12700">
            <a:solidFill>
              <a:srgbClr val="FFFFFF">
                <a:alpha val="0"/>
              </a:srgbClr>
            </a:solidFill>
            <a:prstDash val="solid"/>
          </a:ln>
        </p:spPr>
      </p:sp>
      <p:sp>
        <p:nvSpPr>
          <p:cNvPr id="24" name="Shape 20"/>
          <p:cNvSpPr/>
          <p:nvPr/>
        </p:nvSpPr>
        <p:spPr>
          <a:xfrm>
            <a:off x="761695" y="8496605"/>
            <a:ext cx="16763695" cy="476402"/>
          </a:xfrm>
          <a:prstGeom prst="rect">
            <a:avLst/>
          </a:prstGeom>
          <a:solidFill>
            <a:srgbClr val="0F172A"/>
          </a:solidFill>
          <a:ln w="12700">
            <a:solidFill>
              <a:srgbClr val="FFFFFF">
                <a:alpha val="0"/>
              </a:srgbClr>
            </a:solidFill>
            <a:prstDash val="solid"/>
          </a:ln>
        </p:spPr>
      </p:sp>
      <p:pic>
        <p:nvPicPr>
          <p:cNvPr id="25" name="Image 1" descr="gen-dedup-5a0ba8ca655a299c416b119e75c6720d.png">    </p:cNvPr>
          <p:cNvPicPr>
            <a:picLocks noChangeAspect="1"/>
          </p:cNvPicPr>
          <p:nvPr/>
        </p:nvPicPr>
        <p:blipFill>
          <a:blip r:embed="rId2"/>
          <a:srcRect l="-2083" r="-2083" t="0" b="0"/>
          <a:stretch/>
        </p:blipFill>
        <p:spPr>
          <a:xfrm>
            <a:off x="761695" y="9182405"/>
            <a:ext cx="16763695" cy="9144"/>
          </a:xfrm>
          <a:prstGeom prst="rect">
            <a:avLst/>
          </a:prstGeom>
        </p:spPr>
      </p:pic>
      <p:sp>
        <p:nvSpPr>
          <p:cNvPr id="26" name="Shape 21"/>
          <p:cNvSpPr/>
          <p:nvPr/>
        </p:nvSpPr>
        <p:spPr>
          <a:xfrm>
            <a:off x="761695" y="2553005"/>
            <a:ext cx="16763695" cy="342900"/>
          </a:xfrm>
          <a:prstGeom prst="rect">
            <a:avLst/>
          </a:prstGeom>
          <a:solidFill>
            <a:srgbClr val="0F172A"/>
          </a:solidFill>
          <a:ln w="12700">
            <a:solidFill>
              <a:srgbClr val="FFFFFF">
                <a:alpha val="0"/>
              </a:srgbClr>
            </a:solidFill>
            <a:prstDash val="solid"/>
          </a:ln>
        </p:spPr>
      </p:sp>
      <p:sp>
        <p:nvSpPr>
          <p:cNvPr id="27" name="Text 22"/>
          <p:cNvSpPr txBox="1"/>
          <p:nvPr/>
        </p:nvSpPr>
        <p:spPr>
          <a:xfrm>
            <a:off x="761695" y="761695"/>
            <a:ext cx="9525305"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ELECTRICAL CHARACTERIZATION · 07 / 08</a:t>
            </a:r>
            <a:endParaRPr lang="en-US" sz="1050" dirty="0"/>
          </a:p>
        </p:txBody>
      </p:sp>
      <p:sp>
        <p:nvSpPr>
          <p:cNvPr id="28" name="Text 23"/>
          <p:cNvSpPr txBox="1"/>
          <p:nvPr/>
        </p:nvSpPr>
        <p:spPr>
          <a:xfrm>
            <a:off x="761695" y="1123798"/>
            <a:ext cx="16193110" cy="534010"/>
          </a:xfrm>
          <a:prstGeom prst="rect">
            <a:avLst/>
          </a:prstGeom>
          <a:noFill/>
          <a:ln/>
        </p:spPr>
        <p:txBody>
          <a:bodyPr wrap="none" lIns="0" tIns="0" rIns="0" bIns="0" rtlCol="0" anchor="ctr"/>
          <a:lstStyle/>
          <a:p>
            <a:pPr algn="l" indent="0" marL="0">
              <a:buNone/>
            </a:pPr>
            <a:r>
              <a:rPr lang="en-US" sz="4200" b="1" spc="-84" kern="0" dirty="0">
                <a:solidFill>
                  <a:srgbClr val="0F172A"/>
                </a:solidFill>
                <a:latin typeface="IBM Plex Sans KR" pitchFamily="34" charset="0"/>
                <a:ea typeface="IBM Plex Sans KR" pitchFamily="34" charset="-122"/>
                <a:cs typeface="IBM Plex Sans KR" pitchFamily="34" charset="-120"/>
              </a:rPr>
              <a:t>전기 특성 평가</a:t>
            </a:r>
            <a:endParaRPr lang="en-US" sz="4200" dirty="0"/>
          </a:p>
        </p:txBody>
      </p:sp>
      <p:sp>
        <p:nvSpPr>
          <p:cNvPr id="29" name="Text 24"/>
          <p:cNvSpPr txBox="1"/>
          <p:nvPr/>
        </p:nvSpPr>
        <p:spPr>
          <a:xfrm>
            <a:off x="761695" y="1904695"/>
            <a:ext cx="16193110" cy="267005"/>
          </a:xfrm>
          <a:prstGeom prst="rect">
            <a:avLst/>
          </a:prstGeom>
          <a:noFill/>
          <a:ln/>
        </p:spPr>
        <p:txBody>
          <a:bodyPr wrap="none" lIns="0" tIns="0" rIns="0" bIns="0" rtlCol="0" anchor="ctr"/>
          <a:lstStyle/>
          <a:p>
            <a:pPr algn="l" indent="0" marL="0">
              <a:buNone/>
            </a:pPr>
            <a:r>
              <a:rPr lang="en-US" sz="1500" dirty="0">
                <a:solidFill>
                  <a:srgbClr val="475569"/>
                </a:solidFill>
                <a:latin typeface="IBM Plex Sans KR" pitchFamily="34" charset="0"/>
                <a:ea typeface="IBM Plex Sans KR" pitchFamily="34" charset="-122"/>
                <a:cs typeface="IBM Plex Sans KR" pitchFamily="34" charset="-120"/>
              </a:rPr>
              <a:t>M3 라인 어레이 측정 결과 — Rs / Rline / Rvia / 누설 / 수율 모두 수치표로 정리 (도식 미사용)</a:t>
            </a:r>
            <a:endParaRPr lang="en-US" sz="1500" dirty="0"/>
          </a:p>
        </p:txBody>
      </p:sp>
      <p:sp>
        <p:nvSpPr>
          <p:cNvPr id="30" name="Text 25"/>
          <p:cNvSpPr txBox="1"/>
          <p:nvPr/>
        </p:nvSpPr>
        <p:spPr>
          <a:xfrm>
            <a:off x="990295" y="2609698"/>
            <a:ext cx="8572500" cy="200254"/>
          </a:xfrm>
          <a:prstGeom prst="rect">
            <a:avLst/>
          </a:prstGeom>
          <a:noFill/>
          <a:ln/>
        </p:spPr>
        <p:txBody>
          <a:bodyPr wrap="none" lIns="0" tIns="0" rIns="0" bIns="0" rtlCol="0" anchor="ctr"/>
          <a:lstStyle/>
          <a:p>
            <a:pPr algn="l" indent="0" marL="0">
              <a:buNone/>
            </a:pPr>
            <a:r>
              <a:rPr lang="en-US" sz="1050" b="1" spc="105" kern="0" dirty="0">
                <a:solidFill>
                  <a:srgbClr val="E2E8F0"/>
                </a:solidFill>
                <a:latin typeface="IBM Plex Sans KR" pitchFamily="34" charset="0"/>
                <a:ea typeface="IBM Plex Sans KR" pitchFamily="34" charset="-122"/>
                <a:cs typeface="IBM Plex Sans KR" pitchFamily="34" charset="-120"/>
              </a:rPr>
              <a:t>TABLE 07-A · Wafer별 전기 측정치</a:t>
            </a:r>
            <a:endParaRPr lang="en-US" sz="1050" dirty="0"/>
          </a:p>
        </p:txBody>
      </p:sp>
      <p:sp>
        <p:nvSpPr>
          <p:cNvPr id="31" name="Text 26"/>
          <p:cNvSpPr txBox="1"/>
          <p:nvPr/>
        </p:nvSpPr>
        <p:spPr>
          <a:xfrm>
            <a:off x="15620695" y="2609698"/>
            <a:ext cx="1714500" cy="143561"/>
          </a:xfrm>
          <a:prstGeom prst="rect">
            <a:avLst/>
          </a:prstGeom>
          <a:noFill/>
          <a:ln/>
        </p:spPr>
        <p:txBody>
          <a:bodyPr wrap="none" lIns="0" tIns="0" rIns="0" bIns="0" rtlCol="0" anchor="ctr"/>
          <a:lstStyle/>
          <a:p>
            <a:pPr algn="r" indent="0" marL="0">
              <a:buNone/>
            </a:pPr>
            <a:r>
              <a:rPr lang="en-US" sz="900" dirty="0">
                <a:solidFill>
                  <a:srgbClr val="94A3B8"/>
                </a:solidFill>
                <a:latin typeface="IBM Plex Mono" pitchFamily="34" charset="0"/>
                <a:ea typeface="IBM Plex Mono" pitchFamily="34" charset="-122"/>
                <a:cs typeface="IBM Plex Mono" pitchFamily="34" charset="-120"/>
              </a:rPr>
              <a:t>49 site / wafer</a:t>
            </a:r>
            <a:endParaRPr lang="en-US" sz="900" dirty="0"/>
          </a:p>
        </p:txBody>
      </p:sp>
      <p:sp>
        <p:nvSpPr>
          <p:cNvPr id="32" name="Text 27"/>
          <p:cNvSpPr txBox="1"/>
          <p:nvPr/>
        </p:nvSpPr>
        <p:spPr>
          <a:xfrm>
            <a:off x="990295" y="3010205"/>
            <a:ext cx="3620110" cy="162763"/>
          </a:xfrm>
          <a:prstGeom prst="rect">
            <a:avLst/>
          </a:prstGeom>
          <a:noFill/>
          <a:ln/>
        </p:spPr>
        <p:txBody>
          <a:bodyPr wrap="none" lIns="0" tIns="0" rIns="0" bIns="0" rtlCol="0" anchor="ctr"/>
          <a:lstStyle/>
          <a:p>
            <a:pPr algn="l" indent="0" marL="0">
              <a:buNone/>
            </a:pPr>
            <a:r>
              <a:rPr lang="en-US" sz="975" b="1" dirty="0">
                <a:solidFill>
                  <a:srgbClr val="475569"/>
                </a:solidFill>
                <a:latin typeface="IBM Plex Mono" pitchFamily="34" charset="0"/>
                <a:ea typeface="IBM Plex Mono" pitchFamily="34" charset="-122"/>
                <a:cs typeface="IBM Plex Mono" pitchFamily="34" charset="-120"/>
              </a:rPr>
              <a:t>METRIC</a:t>
            </a:r>
            <a:endParaRPr lang="en-US" sz="975" dirty="0"/>
          </a:p>
        </p:txBody>
      </p:sp>
      <p:sp>
        <p:nvSpPr>
          <p:cNvPr id="33" name="Text 28"/>
          <p:cNvSpPr txBox="1"/>
          <p:nvPr/>
        </p:nvSpPr>
        <p:spPr>
          <a:xfrm>
            <a:off x="990295" y="3161995"/>
            <a:ext cx="3620110" cy="162763"/>
          </a:xfrm>
          <a:prstGeom prst="rect">
            <a:avLst/>
          </a:prstGeom>
          <a:noFill/>
          <a:ln/>
        </p:spPr>
        <p:txBody>
          <a:bodyPr wrap="none" lIns="0" tIns="0" rIns="0" bIns="0" rtlCol="0" anchor="ctr"/>
          <a:lstStyle/>
          <a:p>
            <a:pPr algn="l" indent="0" marL="0">
              <a:buNone/>
            </a:pPr>
            <a:r>
              <a:rPr lang="en-US" sz="825" dirty="0">
                <a:solidFill>
                  <a:srgbClr val="94A3B8"/>
                </a:solidFill>
                <a:latin typeface="IBM Plex Sans KR" pitchFamily="34" charset="0"/>
                <a:ea typeface="IBM Plex Sans KR" pitchFamily="34" charset="-122"/>
                <a:cs typeface="IBM Plex Sans KR" pitchFamily="34" charset="-120"/>
              </a:rPr>
              <a:t>unit / condition</a:t>
            </a:r>
            <a:endParaRPr lang="en-US" sz="825" dirty="0"/>
          </a:p>
        </p:txBody>
      </p:sp>
      <p:sp>
        <p:nvSpPr>
          <p:cNvPr id="34" name="Text 29"/>
          <p:cNvSpPr txBox="1"/>
          <p:nvPr/>
        </p:nvSpPr>
        <p:spPr>
          <a:xfrm>
            <a:off x="4953305" y="3010205"/>
            <a:ext cx="3620110" cy="162763"/>
          </a:xfrm>
          <a:prstGeom prst="rect">
            <a:avLst/>
          </a:prstGeom>
          <a:noFill/>
          <a:ln/>
        </p:spPr>
        <p:txBody>
          <a:bodyPr wrap="none" lIns="0" tIns="0" rIns="0" bIns="0" rtlCol="0" anchor="ctr"/>
          <a:lstStyle/>
          <a:p>
            <a:pPr algn="ctr" indent="0" marL="0">
              <a:buNone/>
            </a:pPr>
            <a:r>
              <a:rPr lang="en-US" sz="975" b="1" dirty="0">
                <a:solidFill>
                  <a:srgbClr val="475569"/>
                </a:solidFill>
                <a:latin typeface="IBM Plex Mono" pitchFamily="34" charset="0"/>
                <a:ea typeface="IBM Plex Mono" pitchFamily="34" charset="-122"/>
                <a:cs typeface="IBM Plex Mono" pitchFamily="34" charset="-120"/>
              </a:rPr>
              <a:t>W1</a:t>
            </a:r>
            <a:endParaRPr lang="en-US" sz="975" dirty="0"/>
          </a:p>
        </p:txBody>
      </p:sp>
      <p:sp>
        <p:nvSpPr>
          <p:cNvPr id="35" name="Text 30"/>
          <p:cNvSpPr txBox="1"/>
          <p:nvPr/>
        </p:nvSpPr>
        <p:spPr>
          <a:xfrm>
            <a:off x="4953305" y="3209544"/>
            <a:ext cx="3620110" cy="162763"/>
          </a:xfrm>
          <a:prstGeom prst="rect">
            <a:avLst/>
          </a:prstGeom>
          <a:noFill/>
          <a:ln/>
        </p:spPr>
        <p:txBody>
          <a:bodyPr wrap="none" lIns="0" tIns="0" rIns="0" bIns="0" rtlCol="0" anchor="ctr"/>
          <a:lstStyle/>
          <a:p>
            <a:pPr algn="ctr" indent="0" marL="0">
              <a:buNone/>
            </a:pPr>
            <a:r>
              <a:rPr lang="en-US" sz="825" dirty="0">
                <a:solidFill>
                  <a:srgbClr val="94A3B8"/>
                </a:solidFill>
                <a:latin typeface="IBM Plex Sans KR" pitchFamily="34" charset="0"/>
                <a:ea typeface="IBM Plex Sans KR" pitchFamily="34" charset="-122"/>
                <a:cs typeface="IBM Plex Sans KR" pitchFamily="34" charset="-120"/>
              </a:rPr>
              <a:t>continuous RIE · split-A</a:t>
            </a:r>
            <a:endParaRPr lang="en-US" sz="825" dirty="0"/>
          </a:p>
        </p:txBody>
      </p:sp>
      <p:sp>
        <p:nvSpPr>
          <p:cNvPr id="36" name="Text 31"/>
          <p:cNvSpPr txBox="1"/>
          <p:nvPr/>
        </p:nvSpPr>
        <p:spPr>
          <a:xfrm>
            <a:off x="8762695" y="3010205"/>
            <a:ext cx="3620110" cy="162763"/>
          </a:xfrm>
          <a:prstGeom prst="rect">
            <a:avLst/>
          </a:prstGeom>
          <a:noFill/>
          <a:ln/>
        </p:spPr>
        <p:txBody>
          <a:bodyPr wrap="none" lIns="0" tIns="0" rIns="0" bIns="0" rtlCol="0" anchor="ctr"/>
          <a:lstStyle/>
          <a:p>
            <a:pPr algn="ctr" indent="0" marL="0">
              <a:buNone/>
            </a:pPr>
            <a:r>
              <a:rPr lang="en-US" sz="975" b="1" dirty="0">
                <a:solidFill>
                  <a:srgbClr val="475569"/>
                </a:solidFill>
                <a:latin typeface="IBM Plex Mono" pitchFamily="34" charset="0"/>
                <a:ea typeface="IBM Plex Mono" pitchFamily="34" charset="-122"/>
                <a:cs typeface="IBM Plex Mono" pitchFamily="34" charset="-120"/>
              </a:rPr>
              <a:t>W2</a:t>
            </a:r>
            <a:endParaRPr lang="en-US" sz="975" dirty="0"/>
          </a:p>
        </p:txBody>
      </p:sp>
      <p:sp>
        <p:nvSpPr>
          <p:cNvPr id="37" name="Text 32"/>
          <p:cNvSpPr txBox="1"/>
          <p:nvPr/>
        </p:nvSpPr>
        <p:spPr>
          <a:xfrm>
            <a:off x="8762695" y="3209544"/>
            <a:ext cx="3620110" cy="162763"/>
          </a:xfrm>
          <a:prstGeom prst="rect">
            <a:avLst/>
          </a:prstGeom>
          <a:noFill/>
          <a:ln/>
        </p:spPr>
        <p:txBody>
          <a:bodyPr wrap="none" lIns="0" tIns="0" rIns="0" bIns="0" rtlCol="0" anchor="ctr"/>
          <a:lstStyle/>
          <a:p>
            <a:pPr algn="ctr" indent="0" marL="0">
              <a:buNone/>
            </a:pPr>
            <a:r>
              <a:rPr lang="en-US" sz="825" dirty="0">
                <a:solidFill>
                  <a:srgbClr val="94A3B8"/>
                </a:solidFill>
                <a:latin typeface="IBM Plex Sans KR" pitchFamily="34" charset="0"/>
                <a:ea typeface="IBM Plex Sans KR" pitchFamily="34" charset="-122"/>
                <a:cs typeface="IBM Plex Sans KR" pitchFamily="34" charset="-120"/>
              </a:rPr>
              <a:t>QALE step-220 · split-B</a:t>
            </a:r>
            <a:endParaRPr lang="en-US" sz="825" dirty="0"/>
          </a:p>
        </p:txBody>
      </p:sp>
      <p:sp>
        <p:nvSpPr>
          <p:cNvPr id="38" name="Text 33"/>
          <p:cNvSpPr txBox="1"/>
          <p:nvPr/>
        </p:nvSpPr>
        <p:spPr>
          <a:xfrm>
            <a:off x="12573000" y="3010205"/>
            <a:ext cx="4763110" cy="162763"/>
          </a:xfrm>
          <a:prstGeom prst="rect">
            <a:avLst/>
          </a:prstGeom>
          <a:noFill/>
          <a:ln/>
        </p:spPr>
        <p:txBody>
          <a:bodyPr wrap="none" lIns="0" tIns="0" rIns="0" bIns="0" rtlCol="0" anchor="ctr"/>
          <a:lstStyle/>
          <a:p>
            <a:pPr algn="ctr" indent="0" marL="0">
              <a:buNone/>
            </a:pPr>
            <a:r>
              <a:rPr lang="en-US" sz="975" b="1" dirty="0">
                <a:solidFill>
                  <a:srgbClr val="475569"/>
                </a:solidFill>
                <a:latin typeface="IBM Plex Mono" pitchFamily="34" charset="0"/>
                <a:ea typeface="IBM Plex Mono" pitchFamily="34" charset="-122"/>
                <a:cs typeface="IBM Plex Mono" pitchFamily="34" charset="-120"/>
              </a:rPr>
              <a:t>W3</a:t>
            </a:r>
            <a:endParaRPr lang="en-US" sz="975" dirty="0"/>
          </a:p>
        </p:txBody>
      </p:sp>
      <p:sp>
        <p:nvSpPr>
          <p:cNvPr id="39" name="Text 34"/>
          <p:cNvSpPr txBox="1"/>
          <p:nvPr/>
        </p:nvSpPr>
        <p:spPr>
          <a:xfrm>
            <a:off x="12573000" y="3209544"/>
            <a:ext cx="4763110" cy="162763"/>
          </a:xfrm>
          <a:prstGeom prst="rect">
            <a:avLst/>
          </a:prstGeom>
          <a:noFill/>
          <a:ln/>
        </p:spPr>
        <p:txBody>
          <a:bodyPr wrap="none" lIns="0" tIns="0" rIns="0" bIns="0" rtlCol="0" anchor="ctr"/>
          <a:lstStyle/>
          <a:p>
            <a:pPr algn="ctr" indent="0" marL="0">
              <a:buNone/>
            </a:pPr>
            <a:r>
              <a:rPr lang="en-US" sz="825" dirty="0">
                <a:solidFill>
                  <a:srgbClr val="94A3B8"/>
                </a:solidFill>
                <a:latin typeface="IBM Plex Sans KR" pitchFamily="34" charset="0"/>
                <a:ea typeface="IBM Plex Sans KR" pitchFamily="34" charset="-122"/>
                <a:cs typeface="IBM Plex Sans KR" pitchFamily="34" charset="-120"/>
              </a:rPr>
              <a:t>QALE step-320 · split-C</a:t>
            </a:r>
            <a:endParaRPr lang="en-US" sz="825" dirty="0"/>
          </a:p>
        </p:txBody>
      </p:sp>
      <p:sp>
        <p:nvSpPr>
          <p:cNvPr id="40" name="Text 35"/>
          <p:cNvSpPr txBox="1"/>
          <p:nvPr/>
        </p:nvSpPr>
        <p:spPr>
          <a:xfrm>
            <a:off x="990295" y="3504895"/>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Sheet resistance</a:t>
            </a:r>
            <a:endParaRPr lang="en-US" sz="1350" dirty="0"/>
          </a:p>
        </p:txBody>
      </p:sp>
      <p:sp>
        <p:nvSpPr>
          <p:cNvPr id="41" name="Text 36"/>
          <p:cNvSpPr txBox="1"/>
          <p:nvPr/>
        </p:nvSpPr>
        <p:spPr>
          <a:xfrm>
            <a:off x="990295" y="3733495"/>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Ω/sq · 4-PP, Vd=0.1 V</a:t>
            </a:r>
            <a:endParaRPr lang="en-US" sz="900" dirty="0"/>
          </a:p>
        </p:txBody>
      </p:sp>
      <p:sp>
        <p:nvSpPr>
          <p:cNvPr id="42" name="Text 37"/>
          <p:cNvSpPr txBox="1"/>
          <p:nvPr/>
        </p:nvSpPr>
        <p:spPr>
          <a:xfrm>
            <a:off x="4953305" y="3543300"/>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412.8</a:t>
            </a:r>
            <a:endParaRPr lang="en-US" sz="1500" dirty="0"/>
          </a:p>
        </p:txBody>
      </p:sp>
      <p:sp>
        <p:nvSpPr>
          <p:cNvPr id="43" name="Text 38"/>
          <p:cNvSpPr txBox="1"/>
          <p:nvPr/>
        </p:nvSpPr>
        <p:spPr>
          <a:xfrm>
            <a:off x="8762695" y="3543300"/>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404.2</a:t>
            </a:r>
            <a:endParaRPr lang="en-US" sz="1500" dirty="0"/>
          </a:p>
        </p:txBody>
      </p:sp>
      <p:sp>
        <p:nvSpPr>
          <p:cNvPr id="44" name="Text 39"/>
          <p:cNvSpPr txBox="1"/>
          <p:nvPr/>
        </p:nvSpPr>
        <p:spPr>
          <a:xfrm>
            <a:off x="12573000" y="3543300"/>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418.5</a:t>
            </a:r>
            <a:endParaRPr lang="en-US" sz="1500" dirty="0"/>
          </a:p>
        </p:txBody>
      </p:sp>
      <p:sp>
        <p:nvSpPr>
          <p:cNvPr id="45" name="Text 40"/>
          <p:cNvSpPr txBox="1"/>
          <p:nvPr/>
        </p:nvSpPr>
        <p:spPr>
          <a:xfrm>
            <a:off x="990295" y="3981298"/>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Line resistance</a:t>
            </a:r>
            <a:endParaRPr lang="en-US" sz="1350" dirty="0"/>
          </a:p>
        </p:txBody>
      </p:sp>
      <p:sp>
        <p:nvSpPr>
          <p:cNvPr id="46" name="Text 41"/>
          <p:cNvSpPr txBox="1"/>
          <p:nvPr/>
        </p:nvSpPr>
        <p:spPr>
          <a:xfrm>
            <a:off x="990295" y="4209898"/>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Ω/µm · 18 nm pitch, 1 µm</a:t>
            </a:r>
            <a:endParaRPr lang="en-US" sz="900" dirty="0"/>
          </a:p>
        </p:txBody>
      </p:sp>
      <p:sp>
        <p:nvSpPr>
          <p:cNvPr id="47" name="Text 42"/>
          <p:cNvSpPr txBox="1"/>
          <p:nvPr/>
        </p:nvSpPr>
        <p:spPr>
          <a:xfrm>
            <a:off x="4953305" y="4019702"/>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3.81</a:t>
            </a:r>
            <a:endParaRPr lang="en-US" sz="1500" dirty="0"/>
          </a:p>
        </p:txBody>
      </p:sp>
      <p:sp>
        <p:nvSpPr>
          <p:cNvPr id="48" name="Text 43"/>
          <p:cNvSpPr txBox="1"/>
          <p:nvPr/>
        </p:nvSpPr>
        <p:spPr>
          <a:xfrm>
            <a:off x="8762695" y="4019702"/>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3.74</a:t>
            </a:r>
            <a:endParaRPr lang="en-US" sz="1500" dirty="0"/>
          </a:p>
        </p:txBody>
      </p:sp>
      <p:sp>
        <p:nvSpPr>
          <p:cNvPr id="49" name="Text 44"/>
          <p:cNvSpPr txBox="1"/>
          <p:nvPr/>
        </p:nvSpPr>
        <p:spPr>
          <a:xfrm>
            <a:off x="12573000" y="4019702"/>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3.86</a:t>
            </a:r>
            <a:endParaRPr lang="en-US" sz="1500" dirty="0"/>
          </a:p>
        </p:txBody>
      </p:sp>
      <p:sp>
        <p:nvSpPr>
          <p:cNvPr id="50" name="Text 45"/>
          <p:cNvSpPr txBox="1"/>
          <p:nvPr/>
        </p:nvSpPr>
        <p:spPr>
          <a:xfrm>
            <a:off x="990295" y="4457700"/>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Via resistance M3→M2</a:t>
            </a:r>
            <a:endParaRPr lang="en-US" sz="1350" dirty="0"/>
          </a:p>
        </p:txBody>
      </p:sp>
      <p:sp>
        <p:nvSpPr>
          <p:cNvPr id="51" name="Text 46"/>
          <p:cNvSpPr txBox="1"/>
          <p:nvPr/>
        </p:nvSpPr>
        <p:spPr>
          <a:xfrm>
            <a:off x="990295" y="4686300"/>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Ω · 14 nm via CD, 50 sites</a:t>
            </a:r>
            <a:endParaRPr lang="en-US" sz="900" dirty="0"/>
          </a:p>
        </p:txBody>
      </p:sp>
      <p:sp>
        <p:nvSpPr>
          <p:cNvPr id="52" name="Text 47"/>
          <p:cNvSpPr txBox="1"/>
          <p:nvPr/>
        </p:nvSpPr>
        <p:spPr>
          <a:xfrm>
            <a:off x="4953305" y="4496105"/>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62.4</a:t>
            </a:r>
            <a:endParaRPr lang="en-US" sz="1500" dirty="0"/>
          </a:p>
        </p:txBody>
      </p:sp>
      <p:sp>
        <p:nvSpPr>
          <p:cNvPr id="53" name="Text 48"/>
          <p:cNvSpPr txBox="1"/>
          <p:nvPr/>
        </p:nvSpPr>
        <p:spPr>
          <a:xfrm>
            <a:off x="8762695" y="4496105"/>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58.9</a:t>
            </a:r>
            <a:endParaRPr lang="en-US" sz="1500" dirty="0"/>
          </a:p>
        </p:txBody>
      </p:sp>
      <p:sp>
        <p:nvSpPr>
          <p:cNvPr id="54" name="Text 49"/>
          <p:cNvSpPr txBox="1"/>
          <p:nvPr/>
        </p:nvSpPr>
        <p:spPr>
          <a:xfrm>
            <a:off x="12573000" y="4496105"/>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61.7</a:t>
            </a:r>
            <a:endParaRPr lang="en-US" sz="1500" dirty="0"/>
          </a:p>
        </p:txBody>
      </p:sp>
      <p:sp>
        <p:nvSpPr>
          <p:cNvPr id="55" name="Text 50"/>
          <p:cNvSpPr txBox="1"/>
          <p:nvPr/>
        </p:nvSpPr>
        <p:spPr>
          <a:xfrm>
            <a:off x="990295" y="4934102"/>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Line-to-line leakage</a:t>
            </a:r>
            <a:endParaRPr lang="en-US" sz="1350" dirty="0"/>
          </a:p>
        </p:txBody>
      </p:sp>
      <p:sp>
        <p:nvSpPr>
          <p:cNvPr id="56" name="Text 51"/>
          <p:cNvSpPr txBox="1"/>
          <p:nvPr/>
        </p:nvSpPr>
        <p:spPr>
          <a:xfrm>
            <a:off x="990295" y="5162702"/>
            <a:ext cx="3810305" cy="18105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pA/µm · V</a:t>
            </a:r>
            <a:pPr algn="l" indent="0" marL="0">
              <a:buNone/>
            </a:pPr>
            <a:r>
              <a:rPr lang="en-US" sz="800" dirty="0">
                <a:solidFill>
                  <a:srgbClr val="64748B"/>
                </a:solidFill>
                <a:latin typeface="IBM Plex Mono" pitchFamily="34" charset="0"/>
                <a:ea typeface="IBM Plex Mono" pitchFamily="34" charset="-122"/>
                <a:cs typeface="IBM Plex Mono" pitchFamily="34" charset="-120"/>
              </a:rPr>
              <a:t>dd</a:t>
            </a:r>
            <a:pPr algn="l" indent="0" marL="0">
              <a:buNone/>
            </a:pPr>
            <a:r>
              <a:rPr lang="en-US" sz="900" dirty="0">
                <a:solidFill>
                  <a:srgbClr val="64748B"/>
                </a:solidFill>
                <a:latin typeface="IBM Plex Mono" pitchFamily="34" charset="0"/>
                <a:ea typeface="IBM Plex Mono" pitchFamily="34" charset="-122"/>
                <a:cs typeface="IBM Plex Mono" pitchFamily="34" charset="-120"/>
              </a:rPr>
              <a:t> = 0.75 V</a:t>
            </a:r>
            <a:endParaRPr lang="en-US" sz="900" dirty="0"/>
          </a:p>
        </p:txBody>
      </p:sp>
      <p:sp>
        <p:nvSpPr>
          <p:cNvPr id="57" name="Text 52"/>
          <p:cNvSpPr txBox="1"/>
          <p:nvPr/>
        </p:nvSpPr>
        <p:spPr>
          <a:xfrm>
            <a:off x="4953305" y="4972507"/>
            <a:ext cx="3620110" cy="257861"/>
          </a:xfrm>
          <a:prstGeom prst="rect">
            <a:avLst/>
          </a:prstGeom>
          <a:noFill/>
          <a:ln/>
        </p:spPr>
        <p:txBody>
          <a:bodyPr wrap="none" lIns="0" tIns="0" rIns="0" bIns="0" rtlCol="0" anchor="ctr"/>
          <a:lstStyle/>
          <a:p>
            <a:pPr algn="ctr" indent="0" marL="0">
              <a:buNone/>
            </a:pPr>
            <a:r>
              <a:rPr lang="en-US" sz="1500" b="1" dirty="0">
                <a:solidFill>
                  <a:srgbClr val="DC2626"/>
                </a:solidFill>
                <a:latin typeface="IBM Plex Mono" pitchFamily="34" charset="0"/>
                <a:ea typeface="IBM Plex Mono" pitchFamily="34" charset="-122"/>
                <a:cs typeface="IBM Plex Mono" pitchFamily="34" charset="-120"/>
              </a:rPr>
              <a:t>128.4</a:t>
            </a:r>
            <a:endParaRPr lang="en-US" sz="1500" dirty="0"/>
          </a:p>
        </p:txBody>
      </p:sp>
      <p:sp>
        <p:nvSpPr>
          <p:cNvPr id="58" name="Text 53"/>
          <p:cNvSpPr txBox="1"/>
          <p:nvPr/>
        </p:nvSpPr>
        <p:spPr>
          <a:xfrm>
            <a:off x="8762695" y="4972507"/>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64.7</a:t>
            </a:r>
            <a:endParaRPr lang="en-US" sz="1500" dirty="0"/>
          </a:p>
        </p:txBody>
      </p:sp>
      <p:sp>
        <p:nvSpPr>
          <p:cNvPr id="59" name="Text 54"/>
          <p:cNvSpPr txBox="1"/>
          <p:nvPr/>
        </p:nvSpPr>
        <p:spPr>
          <a:xfrm>
            <a:off x="12573000" y="4972507"/>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81.5</a:t>
            </a:r>
            <a:endParaRPr lang="en-US" sz="1500" dirty="0"/>
          </a:p>
        </p:txBody>
      </p:sp>
      <p:sp>
        <p:nvSpPr>
          <p:cNvPr id="60" name="Text 55"/>
          <p:cNvSpPr txBox="1"/>
          <p:nvPr/>
        </p:nvSpPr>
        <p:spPr>
          <a:xfrm>
            <a:off x="990295" y="5410505"/>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Inter-line capacitance</a:t>
            </a:r>
            <a:endParaRPr lang="en-US" sz="1350" dirty="0"/>
          </a:p>
        </p:txBody>
      </p:sp>
      <p:sp>
        <p:nvSpPr>
          <p:cNvPr id="61" name="Text 56"/>
          <p:cNvSpPr txBox="1"/>
          <p:nvPr/>
        </p:nvSpPr>
        <p:spPr>
          <a:xfrm>
            <a:off x="990295" y="5639105"/>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fF/µm · 1 MHz, 0 V bias</a:t>
            </a:r>
            <a:endParaRPr lang="en-US" sz="900" dirty="0"/>
          </a:p>
        </p:txBody>
      </p:sp>
      <p:sp>
        <p:nvSpPr>
          <p:cNvPr id="62" name="Text 57"/>
          <p:cNvSpPr txBox="1"/>
          <p:nvPr/>
        </p:nvSpPr>
        <p:spPr>
          <a:xfrm>
            <a:off x="4953305" y="5447995"/>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0.218</a:t>
            </a:r>
            <a:endParaRPr lang="en-US" sz="1500" dirty="0"/>
          </a:p>
        </p:txBody>
      </p:sp>
      <p:sp>
        <p:nvSpPr>
          <p:cNvPr id="63" name="Text 58"/>
          <p:cNvSpPr txBox="1"/>
          <p:nvPr/>
        </p:nvSpPr>
        <p:spPr>
          <a:xfrm>
            <a:off x="8762695" y="5447995"/>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0.211</a:t>
            </a:r>
            <a:endParaRPr lang="en-US" sz="1500" dirty="0"/>
          </a:p>
        </p:txBody>
      </p:sp>
      <p:sp>
        <p:nvSpPr>
          <p:cNvPr id="64" name="Text 59"/>
          <p:cNvSpPr txBox="1"/>
          <p:nvPr/>
        </p:nvSpPr>
        <p:spPr>
          <a:xfrm>
            <a:off x="12573000" y="5447995"/>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0.214</a:t>
            </a:r>
            <a:endParaRPr lang="en-US" sz="1500" dirty="0"/>
          </a:p>
        </p:txBody>
      </p:sp>
      <p:sp>
        <p:nvSpPr>
          <p:cNvPr id="65" name="Text 60"/>
          <p:cNvSpPr txBox="1"/>
          <p:nvPr/>
        </p:nvSpPr>
        <p:spPr>
          <a:xfrm>
            <a:off x="990295" y="5886907"/>
            <a:ext cx="3810305" cy="295351"/>
          </a:xfrm>
          <a:prstGeom prst="rect">
            <a:avLst/>
          </a:prstGeom>
          <a:noFill/>
          <a:ln/>
        </p:spPr>
        <p:txBody>
          <a:bodyPr wrap="squar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TDDB V</a:t>
            </a:r>
            <a:pPr algn="l" indent="0" marL="0">
              <a:buNone/>
            </a:pPr>
            <a:r>
              <a:rPr lang="en-US" sz="1125" dirty="0">
                <a:solidFill>
                  <a:srgbClr val="0F172A"/>
                </a:solidFill>
                <a:latin typeface="IBM Plex Sans KR" pitchFamily="34" charset="0"/>
                <a:ea typeface="IBM Plex Sans KR" pitchFamily="34" charset="-122"/>
                <a:cs typeface="IBM Plex Sans KR" pitchFamily="34" charset="-120"/>
              </a:rPr>
              <a:t>bd</a:t>
            </a:r>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 (T</a:t>
            </a:r>
            <a:pPr algn="l" indent="0" marL="0">
              <a:buNone/>
            </a:pPr>
            <a:r>
              <a:rPr lang="en-US" sz="1125" dirty="0">
                <a:solidFill>
                  <a:srgbClr val="0F172A"/>
                </a:solidFill>
                <a:latin typeface="IBM Plex Sans KR" pitchFamily="34" charset="0"/>
                <a:ea typeface="IBM Plex Sans KR" pitchFamily="34" charset="-122"/>
                <a:cs typeface="IBM Plex Sans KR" pitchFamily="34" charset="-120"/>
              </a:rPr>
              <a:t>50%</a:t>
            </a:r>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a:t>
            </a:r>
            <a:endParaRPr lang="en-US" sz="1350" dirty="0"/>
          </a:p>
        </p:txBody>
      </p:sp>
      <p:sp>
        <p:nvSpPr>
          <p:cNvPr id="66" name="Text 61"/>
          <p:cNvSpPr txBox="1"/>
          <p:nvPr/>
        </p:nvSpPr>
        <p:spPr>
          <a:xfrm>
            <a:off x="990295" y="6115507"/>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V · 125 °C, Weibull</a:t>
            </a:r>
            <a:endParaRPr lang="en-US" sz="900" dirty="0"/>
          </a:p>
        </p:txBody>
      </p:sp>
      <p:sp>
        <p:nvSpPr>
          <p:cNvPr id="67" name="Text 62"/>
          <p:cNvSpPr txBox="1"/>
          <p:nvPr/>
        </p:nvSpPr>
        <p:spPr>
          <a:xfrm>
            <a:off x="4953305" y="5924398"/>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6.4</a:t>
            </a:r>
            <a:endParaRPr lang="en-US" sz="1500" dirty="0"/>
          </a:p>
        </p:txBody>
      </p:sp>
      <p:sp>
        <p:nvSpPr>
          <p:cNvPr id="68" name="Text 63"/>
          <p:cNvSpPr txBox="1"/>
          <p:nvPr/>
        </p:nvSpPr>
        <p:spPr>
          <a:xfrm>
            <a:off x="8762695" y="5924398"/>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7.1</a:t>
            </a:r>
            <a:endParaRPr lang="en-US" sz="1500" dirty="0"/>
          </a:p>
        </p:txBody>
      </p:sp>
      <p:sp>
        <p:nvSpPr>
          <p:cNvPr id="69" name="Text 64"/>
          <p:cNvSpPr txBox="1"/>
          <p:nvPr/>
        </p:nvSpPr>
        <p:spPr>
          <a:xfrm>
            <a:off x="12573000" y="5924398"/>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6.8</a:t>
            </a:r>
            <a:endParaRPr lang="en-US" sz="1500" dirty="0"/>
          </a:p>
        </p:txBody>
      </p:sp>
      <p:sp>
        <p:nvSpPr>
          <p:cNvPr id="70" name="Text 65"/>
          <p:cNvSpPr txBox="1"/>
          <p:nvPr/>
        </p:nvSpPr>
        <p:spPr>
          <a:xfrm>
            <a:off x="990295" y="6362395"/>
            <a:ext cx="3810305" cy="267005"/>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Rs uniformity (3σ/mean)</a:t>
            </a:r>
            <a:endParaRPr lang="en-US" sz="1350" dirty="0"/>
          </a:p>
        </p:txBody>
      </p:sp>
      <p:sp>
        <p:nvSpPr>
          <p:cNvPr id="71" name="Text 66"/>
          <p:cNvSpPr txBox="1"/>
          <p:nvPr/>
        </p:nvSpPr>
        <p:spPr>
          <a:xfrm>
            <a:off x="990295" y="6590995"/>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 · wafer-internal</a:t>
            </a:r>
            <a:endParaRPr lang="en-US" sz="900" dirty="0"/>
          </a:p>
        </p:txBody>
      </p:sp>
      <p:sp>
        <p:nvSpPr>
          <p:cNvPr id="72" name="Text 67"/>
          <p:cNvSpPr txBox="1"/>
          <p:nvPr/>
        </p:nvSpPr>
        <p:spPr>
          <a:xfrm>
            <a:off x="4953305" y="6400800"/>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4.62</a:t>
            </a:r>
            <a:endParaRPr lang="en-US" sz="1500" dirty="0"/>
          </a:p>
        </p:txBody>
      </p:sp>
      <p:sp>
        <p:nvSpPr>
          <p:cNvPr id="73" name="Text 68"/>
          <p:cNvSpPr txBox="1"/>
          <p:nvPr/>
        </p:nvSpPr>
        <p:spPr>
          <a:xfrm>
            <a:off x="8762695" y="6400800"/>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2.14</a:t>
            </a:r>
            <a:endParaRPr lang="en-US" sz="1500" dirty="0"/>
          </a:p>
        </p:txBody>
      </p:sp>
      <p:sp>
        <p:nvSpPr>
          <p:cNvPr id="74" name="Text 69"/>
          <p:cNvSpPr txBox="1"/>
          <p:nvPr/>
        </p:nvSpPr>
        <p:spPr>
          <a:xfrm>
            <a:off x="12573000" y="6400800"/>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3.07</a:t>
            </a:r>
            <a:endParaRPr lang="en-US" sz="1500" dirty="0"/>
          </a:p>
        </p:txBody>
      </p:sp>
      <p:sp>
        <p:nvSpPr>
          <p:cNvPr id="75" name="Text 70"/>
          <p:cNvSpPr txBox="1"/>
          <p:nvPr/>
        </p:nvSpPr>
        <p:spPr>
          <a:xfrm>
            <a:off x="990295" y="6838798"/>
            <a:ext cx="3810305" cy="257861"/>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Probe yield (functional)</a:t>
            </a:r>
            <a:endParaRPr lang="en-US" sz="1350" dirty="0"/>
          </a:p>
        </p:txBody>
      </p:sp>
      <p:sp>
        <p:nvSpPr>
          <p:cNvPr id="76" name="Text 71"/>
          <p:cNvSpPr txBox="1"/>
          <p:nvPr/>
        </p:nvSpPr>
        <p:spPr>
          <a:xfrm>
            <a:off x="990295" y="7067398"/>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 · 264 sites, gated</a:t>
            </a:r>
            <a:endParaRPr lang="en-US" sz="900" dirty="0"/>
          </a:p>
        </p:txBody>
      </p:sp>
      <p:sp>
        <p:nvSpPr>
          <p:cNvPr id="77" name="Text 72"/>
          <p:cNvSpPr txBox="1"/>
          <p:nvPr/>
        </p:nvSpPr>
        <p:spPr>
          <a:xfrm>
            <a:off x="4953305" y="6877202"/>
            <a:ext cx="3620110" cy="257861"/>
          </a:xfrm>
          <a:prstGeom prst="rect">
            <a:avLst/>
          </a:prstGeom>
          <a:noFill/>
          <a:ln/>
        </p:spPr>
        <p:txBody>
          <a:bodyPr wrap="none" lIns="0" tIns="0" rIns="0" bIns="0" rtlCol="0" anchor="ctr"/>
          <a:lstStyle/>
          <a:p>
            <a:pPr algn="ctr" indent="0" marL="0">
              <a:buNone/>
            </a:pPr>
            <a:r>
              <a:rPr lang="en-US" sz="1500" b="1" dirty="0">
                <a:solidFill>
                  <a:srgbClr val="DC2626"/>
                </a:solidFill>
                <a:latin typeface="IBM Plex Mono" pitchFamily="34" charset="0"/>
                <a:ea typeface="IBM Plex Mono" pitchFamily="34" charset="-122"/>
                <a:cs typeface="IBM Plex Mono" pitchFamily="34" charset="-120"/>
              </a:rPr>
              <a:t>82.1</a:t>
            </a:r>
            <a:endParaRPr lang="en-US" sz="1500" dirty="0"/>
          </a:p>
        </p:txBody>
      </p:sp>
      <p:sp>
        <p:nvSpPr>
          <p:cNvPr id="78" name="Text 73"/>
          <p:cNvSpPr txBox="1"/>
          <p:nvPr/>
        </p:nvSpPr>
        <p:spPr>
          <a:xfrm>
            <a:off x="8762695" y="6877202"/>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94.7</a:t>
            </a:r>
            <a:endParaRPr lang="en-US" sz="1500" dirty="0"/>
          </a:p>
        </p:txBody>
      </p:sp>
      <p:sp>
        <p:nvSpPr>
          <p:cNvPr id="79" name="Text 74"/>
          <p:cNvSpPr txBox="1"/>
          <p:nvPr/>
        </p:nvSpPr>
        <p:spPr>
          <a:xfrm>
            <a:off x="12573000" y="6877202"/>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89.4</a:t>
            </a:r>
            <a:endParaRPr lang="en-US" sz="1500" dirty="0"/>
          </a:p>
        </p:txBody>
      </p:sp>
      <p:sp>
        <p:nvSpPr>
          <p:cNvPr id="80" name="Text 75"/>
          <p:cNvSpPr txBox="1"/>
          <p:nvPr/>
        </p:nvSpPr>
        <p:spPr>
          <a:xfrm>
            <a:off x="990295" y="7315200"/>
            <a:ext cx="3810305" cy="267005"/>
          </a:xfrm>
          <a:prstGeom prst="rect">
            <a:avLst/>
          </a:prstGeom>
          <a:noFill/>
          <a:ln/>
        </p:spPr>
        <p:txBody>
          <a:bodyPr wrap="none" lIns="0" tIns="0" rIns="0" bIns="0" rtlCol="0" anchor="ctr"/>
          <a:lstStyle/>
          <a:p>
            <a:pPr algn="l" indent="0" marL="0">
              <a:buNone/>
            </a:pPr>
            <a:r>
              <a:rPr lang="en-US" sz="1350" dirty="0">
                <a:solidFill>
                  <a:srgbClr val="0F172A"/>
                </a:solidFill>
                <a:latin typeface="IBM Plex Sans KR" pitchFamily="34" charset="0"/>
                <a:ea typeface="IBM Plex Sans KR" pitchFamily="34" charset="-122"/>
                <a:cs typeface="IBM Plex Sans KR" pitchFamily="34" charset="-120"/>
              </a:rPr>
              <a:t>Yield pass-rate 3σ</a:t>
            </a:r>
            <a:endParaRPr lang="en-US" sz="1350" dirty="0"/>
          </a:p>
        </p:txBody>
      </p:sp>
      <p:sp>
        <p:nvSpPr>
          <p:cNvPr id="81" name="Text 76"/>
          <p:cNvSpPr txBox="1"/>
          <p:nvPr/>
        </p:nvSpPr>
        <p:spPr>
          <a:xfrm>
            <a:off x="990295" y="7543800"/>
            <a:ext cx="3810305" cy="143561"/>
          </a:xfrm>
          <a:prstGeom prst="rect">
            <a:avLst/>
          </a:prstGeom>
          <a:noFill/>
          <a:ln/>
        </p:spPr>
        <p:txBody>
          <a:bodyPr wrap="none" lIns="0" tIns="0" rIns="0" bIns="0" rtlCol="0" anchor="ctr"/>
          <a:lstStyle/>
          <a:p>
            <a:pPr algn="l" indent="0" marL="0">
              <a:buNone/>
            </a:pPr>
            <a:r>
              <a:rPr lang="en-US" sz="900" dirty="0">
                <a:solidFill>
                  <a:srgbClr val="64748B"/>
                </a:solidFill>
                <a:latin typeface="IBM Plex Mono" pitchFamily="34" charset="0"/>
                <a:ea typeface="IBM Plex Mono" pitchFamily="34" charset="-122"/>
                <a:cs typeface="IBM Plex Mono" pitchFamily="34" charset="-120"/>
              </a:rPr>
              <a:t>% · pass-rate / die</a:t>
            </a:r>
            <a:endParaRPr lang="en-US" sz="900" dirty="0"/>
          </a:p>
        </p:txBody>
      </p:sp>
      <p:sp>
        <p:nvSpPr>
          <p:cNvPr id="82" name="Text 77"/>
          <p:cNvSpPr txBox="1"/>
          <p:nvPr/>
        </p:nvSpPr>
        <p:spPr>
          <a:xfrm>
            <a:off x="4953305" y="7353605"/>
            <a:ext cx="3620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5.4</a:t>
            </a:r>
            <a:endParaRPr lang="en-US" sz="1500" dirty="0"/>
          </a:p>
        </p:txBody>
      </p:sp>
      <p:sp>
        <p:nvSpPr>
          <p:cNvPr id="83" name="Text 78"/>
          <p:cNvSpPr txBox="1"/>
          <p:nvPr/>
        </p:nvSpPr>
        <p:spPr>
          <a:xfrm>
            <a:off x="8762695" y="7353605"/>
            <a:ext cx="3620110" cy="257861"/>
          </a:xfrm>
          <a:prstGeom prst="rect">
            <a:avLst/>
          </a:prstGeom>
          <a:noFill/>
          <a:ln/>
        </p:spPr>
        <p:txBody>
          <a:bodyPr wrap="none" lIns="0" tIns="0" rIns="0" bIns="0" rtlCol="0" anchor="ctr"/>
          <a:lstStyle/>
          <a:p>
            <a:pPr algn="ctr" indent="0" marL="0">
              <a:buNone/>
            </a:pPr>
            <a:r>
              <a:rPr lang="en-US" sz="1500" b="1" dirty="0">
                <a:solidFill>
                  <a:srgbClr val="0E7490"/>
                </a:solidFill>
                <a:latin typeface="IBM Plex Mono" pitchFamily="34" charset="0"/>
                <a:ea typeface="IBM Plex Mono" pitchFamily="34" charset="-122"/>
                <a:cs typeface="IBM Plex Mono" pitchFamily="34" charset="-120"/>
              </a:rPr>
              <a:t>1.8</a:t>
            </a:r>
            <a:endParaRPr lang="en-US" sz="1500" dirty="0"/>
          </a:p>
        </p:txBody>
      </p:sp>
      <p:sp>
        <p:nvSpPr>
          <p:cNvPr id="84" name="Text 79"/>
          <p:cNvSpPr txBox="1"/>
          <p:nvPr/>
        </p:nvSpPr>
        <p:spPr>
          <a:xfrm>
            <a:off x="12573000" y="7353605"/>
            <a:ext cx="4763110" cy="257861"/>
          </a:xfrm>
          <a:prstGeom prst="rect">
            <a:avLst/>
          </a:prstGeom>
          <a:noFill/>
          <a:ln/>
        </p:spPr>
        <p:txBody>
          <a:bodyPr wrap="none" lIns="0" tIns="0" rIns="0" bIns="0" rtlCol="0" anchor="ctr"/>
          <a:lstStyle/>
          <a:p>
            <a:pPr algn="ctr" indent="0" marL="0">
              <a:buNone/>
            </a:pPr>
            <a:r>
              <a:rPr lang="en-US" sz="1500" b="1" dirty="0">
                <a:solidFill>
                  <a:srgbClr val="0F172A"/>
                </a:solidFill>
                <a:latin typeface="IBM Plex Mono" pitchFamily="34" charset="0"/>
                <a:ea typeface="IBM Plex Mono" pitchFamily="34" charset="-122"/>
                <a:cs typeface="IBM Plex Mono" pitchFamily="34" charset="-120"/>
              </a:rPr>
              <a:t>2.6</a:t>
            </a:r>
            <a:endParaRPr lang="en-US" sz="1500" dirty="0"/>
          </a:p>
        </p:txBody>
      </p:sp>
      <p:sp>
        <p:nvSpPr>
          <p:cNvPr id="85" name="Text 80"/>
          <p:cNvSpPr txBox="1"/>
          <p:nvPr/>
        </p:nvSpPr>
        <p:spPr>
          <a:xfrm>
            <a:off x="1143000" y="8591702"/>
            <a:ext cx="16383305" cy="228600"/>
          </a:xfrm>
          <a:prstGeom prst="rect">
            <a:avLst/>
          </a:prstGeom>
          <a:noFill/>
          <a:ln/>
        </p:spPr>
        <p:txBody>
          <a:bodyPr wrap="none" lIns="0" tIns="0" rIns="0" bIns="0" rtlCol="0" anchor="ctr"/>
          <a:lstStyle/>
          <a:p>
            <a:pPr algn="l" indent="0" marL="0">
              <a:buNone/>
            </a:pPr>
            <a:r>
              <a:rPr lang="en-US" sz="1200" dirty="0">
                <a:solidFill>
                  <a:srgbClr val="E2E8F0"/>
                </a:solidFill>
                <a:latin typeface="IBM Plex Sans KR" pitchFamily="34" charset="0"/>
                <a:ea typeface="IBM Plex Sans KR" pitchFamily="34" charset="-122"/>
                <a:cs typeface="IBM Plex Sans KR" pitchFamily="34" charset="-120"/>
              </a:rPr>
              <a:t>동일 line CD 부근에서 sheet resistance는 큰 차이가 없으나, line-to-line 누설과 probe yield에서 3 wafer 간 차이가 두드러진다. 특히 W2가 누설 대비 수율 모두 양호.</a:t>
            </a:r>
            <a:endParaRPr lang="en-US" sz="1200" dirty="0"/>
          </a:p>
        </p:txBody>
      </p:sp>
      <p:sp>
        <p:nvSpPr>
          <p:cNvPr id="86" name="Text 81"/>
          <p:cNvSpPr txBox="1"/>
          <p:nvPr/>
        </p:nvSpPr>
        <p:spPr>
          <a:xfrm>
            <a:off x="761695" y="9353398"/>
            <a:ext cx="1333561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도식 없는 수치표 형식</a:t>
            </a:r>
            <a:endParaRPr lang="en-US" sz="1050" dirty="0"/>
          </a:p>
        </p:txBody>
      </p:sp>
      <p:sp>
        <p:nvSpPr>
          <p:cNvPr id="87" name="Text 82"/>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07 / 08 · ELECTRICAL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pic>
        <p:nvPicPr>
          <p:cNvPr id="3" name="Image 0" descr="gen-dedup-6a910f31b2a9f578fa95f0244b75d09a.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0"/>
            <a:ext cx="5334610" cy="3429000"/>
          </a:xfrm>
          <a:prstGeom prst="rect">
            <a:avLst/>
          </a:prstGeom>
          <a:noFill/>
          <a:ln/>
        </p:spPr>
        <p:txBody>
          <a:bodyPr wrap="none" lIns="0" tIns="0" rIns="0" bIns="0" rtlCol="0" anchor="ctr"/>
          <a:lstStyle/>
          <a:p>
            <a:pPr algn="l" indent="0" marL="0">
              <a:buNone/>
            </a:pPr>
            <a:r>
              <a:rPr lang="en-US" sz="27000" b="1" spc="-1080" kern="0" dirty="0">
                <a:solidFill>
                  <a:srgbClr val="1E40AF">
                    <a:alpha val="6000"/>
                  </a:srgbClr>
                </a:solidFill>
                <a:latin typeface="IBM Plex Mono" pitchFamily="34" charset="0"/>
                <a:ea typeface="IBM Plex Mono" pitchFamily="34" charset="-122"/>
                <a:cs typeface="IBM Plex Mono" pitchFamily="34" charset="-120"/>
              </a:rPr>
              <a:t>11</a:t>
            </a:r>
            <a:endParaRPr lang="en-US" sz="27000" dirty="0"/>
          </a:p>
        </p:txBody>
      </p:sp>
      <p:sp>
        <p:nvSpPr>
          <p:cNvPr id="5" name="Shape 1"/>
          <p:cNvSpPr/>
          <p:nvPr/>
        </p:nvSpPr>
        <p:spPr>
          <a:xfrm>
            <a:off x="761695" y="2667305"/>
            <a:ext cx="8210398" cy="2115007"/>
          </a:xfrm>
          <a:prstGeom prst="rect">
            <a:avLst/>
          </a:prstGeom>
          <a:solidFill>
            <a:srgbClr val="FFFFFF"/>
          </a:solidFill>
          <a:ln w="12700">
            <a:solidFill>
              <a:srgbClr val="E2E8F0"/>
            </a:solidFill>
            <a:prstDash val="solid"/>
          </a:ln>
        </p:spPr>
      </p:sp>
      <p:sp>
        <p:nvSpPr>
          <p:cNvPr id="6" name="Shape 2"/>
          <p:cNvSpPr/>
          <p:nvPr/>
        </p:nvSpPr>
        <p:spPr>
          <a:xfrm>
            <a:off x="9334195" y="2667305"/>
            <a:ext cx="8210398" cy="2115007"/>
          </a:xfrm>
          <a:prstGeom prst="rect">
            <a:avLst/>
          </a:prstGeom>
          <a:solidFill>
            <a:srgbClr val="FFFFFF"/>
          </a:solidFill>
          <a:ln w="12700">
            <a:solidFill>
              <a:srgbClr val="E2E8F0"/>
            </a:solidFill>
            <a:prstDash val="solid"/>
          </a:ln>
        </p:spPr>
      </p:sp>
      <p:sp>
        <p:nvSpPr>
          <p:cNvPr id="7" name="Shape 3"/>
          <p:cNvSpPr/>
          <p:nvPr/>
        </p:nvSpPr>
        <p:spPr>
          <a:xfrm>
            <a:off x="761695" y="4953305"/>
            <a:ext cx="8210398" cy="2115007"/>
          </a:xfrm>
          <a:prstGeom prst="rect">
            <a:avLst/>
          </a:prstGeom>
          <a:solidFill>
            <a:srgbClr val="FFFFFF"/>
          </a:solidFill>
          <a:ln w="12700">
            <a:solidFill>
              <a:srgbClr val="E2E8F0"/>
            </a:solidFill>
            <a:prstDash val="solid"/>
          </a:ln>
        </p:spPr>
      </p:sp>
      <p:sp>
        <p:nvSpPr>
          <p:cNvPr id="8" name="Shape 4"/>
          <p:cNvSpPr/>
          <p:nvPr/>
        </p:nvSpPr>
        <p:spPr>
          <a:xfrm>
            <a:off x="9334195" y="4953305"/>
            <a:ext cx="8210398" cy="2115007"/>
          </a:xfrm>
          <a:prstGeom prst="rect">
            <a:avLst/>
          </a:prstGeom>
          <a:solidFill>
            <a:srgbClr val="FFFFFF"/>
          </a:solidFill>
          <a:ln w="12700">
            <a:solidFill>
              <a:srgbClr val="E2E8F0"/>
            </a:solidFill>
            <a:prstDash val="solid"/>
          </a:ln>
        </p:spPr>
      </p:sp>
      <p:sp>
        <p:nvSpPr>
          <p:cNvPr id="9" name="Shape 5"/>
          <p:cNvSpPr/>
          <p:nvPr/>
        </p:nvSpPr>
        <p:spPr>
          <a:xfrm>
            <a:off x="761695" y="7315200"/>
            <a:ext cx="10477195" cy="1904695"/>
          </a:xfrm>
          <a:prstGeom prst="rect">
            <a:avLst/>
          </a:prstGeom>
          <a:solidFill>
            <a:srgbClr val="0F172A"/>
          </a:solidFill>
          <a:ln w="12700">
            <a:solidFill>
              <a:srgbClr val="FFFFFF">
                <a:alpha val="0"/>
              </a:srgbClr>
            </a:solidFill>
            <a:prstDash val="solid"/>
          </a:ln>
        </p:spPr>
      </p:sp>
      <p:sp>
        <p:nvSpPr>
          <p:cNvPr id="10" name="Shape 6"/>
          <p:cNvSpPr/>
          <p:nvPr/>
        </p:nvSpPr>
        <p:spPr>
          <a:xfrm>
            <a:off x="11620195" y="7315200"/>
            <a:ext cx="5924398" cy="1923898"/>
          </a:xfrm>
          <a:prstGeom prst="rect">
            <a:avLst/>
          </a:prstGeom>
          <a:solidFill>
            <a:srgbClr val="FFFFFF"/>
          </a:solidFill>
          <a:ln w="12700">
            <a:solidFill>
              <a:srgbClr val="1E40AF"/>
            </a:solidFill>
            <a:prstDash val="solid"/>
          </a:ln>
        </p:spPr>
      </p:sp>
      <p:pic>
        <p:nvPicPr>
          <p:cNvPr id="11" name="Image 1" descr="gen-dedup-5a0ba8ca655a299c416b119e75c6720d.png">    </p:cNvPr>
          <p:cNvPicPr>
            <a:picLocks noChangeAspect="1"/>
          </p:cNvPicPr>
          <p:nvPr/>
        </p:nvPicPr>
        <p:blipFill>
          <a:blip r:embed="rId2"/>
          <a:srcRect l="-2083" r="-2083" t="0" b="0"/>
          <a:stretch/>
        </p:blipFill>
        <p:spPr>
          <a:xfrm>
            <a:off x="761695" y="9525305"/>
            <a:ext cx="16763695" cy="9144"/>
          </a:xfrm>
          <a:prstGeom prst="rect">
            <a:avLst/>
          </a:prstGeom>
        </p:spPr>
      </p:pic>
      <p:pic>
        <p:nvPicPr>
          <p:cNvPr id="12" name="Image 2" descr="gen-dedup-5d911c619b2e3fb764529c4a26fb8a50.png">    </p:cNvPr>
          <p:cNvPicPr>
            <a:picLocks noChangeAspect="1"/>
          </p:cNvPicPr>
          <p:nvPr/>
        </p:nvPicPr>
        <p:blipFill>
          <a:blip r:embed="rId3"/>
          <a:srcRect l="-393" r="-393" t="0" b="0"/>
          <a:stretch/>
        </p:blipFill>
        <p:spPr>
          <a:xfrm>
            <a:off x="761695" y="2667305"/>
            <a:ext cx="57607" cy="2095805"/>
          </a:xfrm>
          <a:prstGeom prst="rect">
            <a:avLst/>
          </a:prstGeom>
        </p:spPr>
      </p:pic>
      <p:pic>
        <p:nvPicPr>
          <p:cNvPr id="13" name="Image 3" descr="gen-dedup-3298342e7bec5304021b8263f4f5163e.png">    </p:cNvPr>
          <p:cNvPicPr>
            <a:picLocks noChangeAspect="1"/>
          </p:cNvPicPr>
          <p:nvPr/>
        </p:nvPicPr>
        <p:blipFill>
          <a:blip r:embed="rId4"/>
          <a:srcRect l="-393" r="-393" t="0" b="0"/>
          <a:stretch/>
        </p:blipFill>
        <p:spPr>
          <a:xfrm>
            <a:off x="9334195" y="2667305"/>
            <a:ext cx="57607" cy="2095805"/>
          </a:xfrm>
          <a:prstGeom prst="rect">
            <a:avLst/>
          </a:prstGeom>
        </p:spPr>
      </p:pic>
      <p:pic>
        <p:nvPicPr>
          <p:cNvPr id="14" name="Image 4" descr="gen-dedup-625b46f0f0612f14a19221997624a32f.png">    </p:cNvPr>
          <p:cNvPicPr>
            <a:picLocks noChangeAspect="1"/>
          </p:cNvPicPr>
          <p:nvPr/>
        </p:nvPicPr>
        <p:blipFill>
          <a:blip r:embed="rId5"/>
          <a:srcRect l="-393" r="-393" t="0" b="0"/>
          <a:stretch/>
        </p:blipFill>
        <p:spPr>
          <a:xfrm>
            <a:off x="761695" y="4953305"/>
            <a:ext cx="57607" cy="2095805"/>
          </a:xfrm>
          <a:prstGeom prst="rect">
            <a:avLst/>
          </a:prstGeom>
        </p:spPr>
      </p:pic>
      <p:pic>
        <p:nvPicPr>
          <p:cNvPr id="15" name="Image 5" descr="gen-dedup-6cb8490325d1ee1c12a9854b1a46398d.png">    </p:cNvPr>
          <p:cNvPicPr>
            <a:picLocks noChangeAspect="1"/>
          </p:cNvPicPr>
          <p:nvPr/>
        </p:nvPicPr>
        <p:blipFill>
          <a:blip r:embed="rId6"/>
          <a:srcRect l="-393" r="-393" t="0" b="0"/>
          <a:stretch/>
        </p:blipFill>
        <p:spPr>
          <a:xfrm>
            <a:off x="9334195" y="4953305"/>
            <a:ext cx="57607" cy="2095805"/>
          </a:xfrm>
          <a:prstGeom prst="rect">
            <a:avLst/>
          </a:prstGeom>
        </p:spPr>
      </p:pic>
      <p:pic>
        <p:nvPicPr>
          <p:cNvPr id="16" name="Image 6" descr="gen-dedup-dd8098c6c65bbbaee130e7ef2c6a6692.png">    </p:cNvPr>
          <p:cNvPicPr>
            <a:picLocks noChangeAspect="1"/>
          </p:cNvPicPr>
          <p:nvPr/>
        </p:nvPicPr>
        <p:blipFill>
          <a:blip r:embed="rId7"/>
          <a:srcRect l="0" r="0" t="-360" b="-360"/>
          <a:stretch/>
        </p:blipFill>
        <p:spPr>
          <a:xfrm>
            <a:off x="1143000" y="7830007"/>
            <a:ext cx="381305" cy="38405"/>
          </a:xfrm>
          <a:prstGeom prst="rect">
            <a:avLst/>
          </a:prstGeom>
        </p:spPr>
      </p:pic>
      <p:pic>
        <p:nvPicPr>
          <p:cNvPr id="17" name="Image 7" descr="gen-dedup-b830bd831cb65fdfa26e05e57bb87c4c.png">    </p:cNvPr>
          <p:cNvPicPr>
            <a:picLocks noChangeAspect="1"/>
          </p:cNvPicPr>
          <p:nvPr/>
        </p:nvPicPr>
        <p:blipFill>
          <a:blip r:embed="rId8"/>
          <a:srcRect l="-408" r="-408" t="0" b="0"/>
          <a:stretch/>
        </p:blipFill>
        <p:spPr>
          <a:xfrm>
            <a:off x="11620195" y="7315200"/>
            <a:ext cx="57607" cy="1904695"/>
          </a:xfrm>
          <a:prstGeom prst="rect">
            <a:avLst/>
          </a:prstGeom>
        </p:spPr>
      </p:pic>
      <p:sp>
        <p:nvSpPr>
          <p:cNvPr id="18" name="Text 7"/>
          <p:cNvSpPr txBox="1"/>
          <p:nvPr/>
        </p:nvSpPr>
        <p:spPr>
          <a:xfrm>
            <a:off x="761695" y="761695"/>
            <a:ext cx="9525305" cy="171907"/>
          </a:xfrm>
          <a:prstGeom prst="rect">
            <a:avLst/>
          </a:prstGeom>
          <a:noFill/>
          <a:ln/>
        </p:spPr>
        <p:txBody>
          <a:bodyPr wrap="none" lIns="0" tIns="0" rIns="0" bIns="0" rtlCol="0" anchor="ctr"/>
          <a:lstStyle/>
          <a:p>
            <a:pPr algn="l" indent="0" marL="0">
              <a:buNone/>
            </a:pPr>
            <a:r>
              <a:rPr lang="en-US" sz="1050" spc="189" kern="0" dirty="0">
                <a:solidFill>
                  <a:srgbClr val="64748B"/>
                </a:solidFill>
                <a:latin typeface="IBM Plex Mono" pitchFamily="34" charset="0"/>
                <a:ea typeface="IBM Plex Mono" pitchFamily="34" charset="-122"/>
                <a:cs typeface="IBM Plex Mono" pitchFamily="34" charset="-120"/>
              </a:rPr>
              <a:t>SUMMARY &amp; OUTLOOK · 08 / 08</a:t>
            </a:r>
            <a:endParaRPr lang="en-US" sz="1050" dirty="0"/>
          </a:p>
        </p:txBody>
      </p:sp>
      <p:sp>
        <p:nvSpPr>
          <p:cNvPr id="19" name="Text 8"/>
          <p:cNvSpPr txBox="1"/>
          <p:nvPr/>
        </p:nvSpPr>
        <p:spPr>
          <a:xfrm>
            <a:off x="761695" y="1123798"/>
            <a:ext cx="16193110" cy="609905"/>
          </a:xfrm>
          <a:prstGeom prst="rect">
            <a:avLst/>
          </a:prstGeom>
          <a:noFill/>
          <a:ln/>
        </p:spPr>
        <p:txBody>
          <a:bodyPr wrap="none" lIns="0" tIns="0" rIns="0" bIns="0" rtlCol="0" anchor="ctr"/>
          <a:lstStyle/>
          <a:p>
            <a:pPr algn="l" indent="0" marL="0">
              <a:buNone/>
            </a:pPr>
            <a:r>
              <a:rPr lang="en-US" sz="4800" b="1" spc="-120" kern="0" dirty="0">
                <a:solidFill>
                  <a:srgbClr val="0F172A"/>
                </a:solidFill>
                <a:latin typeface="IBM Plex Sans KR" pitchFamily="34" charset="0"/>
                <a:ea typeface="IBM Plex Sans KR" pitchFamily="34" charset="-122"/>
                <a:cs typeface="IBM Plex Sans KR" pitchFamily="34" charset="-120"/>
              </a:rPr>
              <a:t>요약 및 결론</a:t>
            </a:r>
            <a:endParaRPr lang="en-US" sz="4800" dirty="0"/>
          </a:p>
        </p:txBody>
      </p:sp>
      <p:sp>
        <p:nvSpPr>
          <p:cNvPr id="20" name="Text 9"/>
          <p:cNvSpPr txBox="1"/>
          <p:nvPr/>
        </p:nvSpPr>
        <p:spPr>
          <a:xfrm>
            <a:off x="761695" y="1981505"/>
            <a:ext cx="16193110" cy="267005"/>
          </a:xfrm>
          <a:prstGeom prst="rect">
            <a:avLst/>
          </a:prstGeom>
          <a:noFill/>
          <a:ln/>
        </p:spPr>
        <p:txBody>
          <a:bodyPr wrap="none" lIns="0" tIns="0" rIns="0" bIns="0" rtlCol="0" anchor="ctr"/>
          <a:lstStyle/>
          <a:p>
            <a:pPr algn="l" indent="0" marL="0">
              <a:buNone/>
            </a:pPr>
            <a:r>
              <a:rPr lang="en-US" sz="1500" dirty="0">
                <a:solidFill>
                  <a:srgbClr val="475569"/>
                </a:solidFill>
                <a:latin typeface="IBM Plex Sans KR" pitchFamily="34" charset="0"/>
                <a:ea typeface="IBM Plex Sans KR" pitchFamily="34" charset="-122"/>
                <a:cs typeface="IBM Plex Sans KR" pitchFamily="34" charset="-120"/>
              </a:rPr>
              <a:t>Spacer 3-split + QALE 조합이 CD 균일도 / 피치 워크 / 전기 수율에 미치는 영향의 핵심 발췌.</a:t>
            </a:r>
            <a:endParaRPr lang="en-US" sz="1500" dirty="0"/>
          </a:p>
        </p:txBody>
      </p:sp>
      <p:sp>
        <p:nvSpPr>
          <p:cNvPr id="21" name="Text 10"/>
          <p:cNvSpPr txBox="1"/>
          <p:nvPr/>
        </p:nvSpPr>
        <p:spPr>
          <a:xfrm>
            <a:off x="1143000" y="2857500"/>
            <a:ext cx="2286000" cy="457200"/>
          </a:xfrm>
          <a:prstGeom prst="rect">
            <a:avLst/>
          </a:prstGeom>
          <a:noFill/>
          <a:ln/>
        </p:spPr>
        <p:txBody>
          <a:bodyPr wrap="none" lIns="0" tIns="0" rIns="0" bIns="0" rtlCol="0" anchor="ctr"/>
          <a:lstStyle/>
          <a:p>
            <a:pPr algn="l" indent="0" marL="0">
              <a:buNone/>
            </a:pPr>
            <a:r>
              <a:rPr lang="en-US" sz="3600" b="1" spc="-72" kern="0" dirty="0">
                <a:solidFill>
                  <a:srgbClr val="1E40AF"/>
                </a:solidFill>
                <a:latin typeface="IBM Plex Mono" pitchFamily="34" charset="0"/>
                <a:ea typeface="IBM Plex Mono" pitchFamily="34" charset="-122"/>
                <a:cs typeface="IBM Plex Mono" pitchFamily="34" charset="-120"/>
              </a:rPr>
              <a:t>F1</a:t>
            </a:r>
            <a:endParaRPr lang="en-US" sz="3600" dirty="0"/>
          </a:p>
        </p:txBody>
      </p:sp>
      <p:sp>
        <p:nvSpPr>
          <p:cNvPr id="22" name="Text 11"/>
          <p:cNvSpPr txBox="1"/>
          <p:nvPr/>
        </p:nvSpPr>
        <p:spPr>
          <a:xfrm>
            <a:off x="2286000" y="2971800"/>
            <a:ext cx="5715000" cy="314554"/>
          </a:xfrm>
          <a:prstGeom prst="rect">
            <a:avLst/>
          </a:prstGeom>
          <a:noFill/>
          <a:ln/>
        </p:spPr>
        <p:txBody>
          <a:bodyPr wrap="none" lIns="0" tIns="0" rIns="0" bIns="0" rtlCol="0" anchor="ctr"/>
          <a:lstStyle/>
          <a:p>
            <a:pPr algn="l" indent="0" marL="0">
              <a:buNone/>
            </a:pPr>
            <a:r>
              <a:rPr lang="en-US" sz="1650" b="1" dirty="0">
                <a:solidFill>
                  <a:srgbClr val="0F172A"/>
                </a:solidFill>
                <a:latin typeface="IBM Plex Sans KR" pitchFamily="34" charset="0"/>
                <a:ea typeface="IBM Plex Sans KR" pitchFamily="34" charset="-122"/>
                <a:cs typeface="IBM Plex Sans KR" pitchFamily="34" charset="-120"/>
              </a:rPr>
              <a:t>CD mean과 목표 offset</a:t>
            </a:r>
            <a:endParaRPr lang="en-US" sz="1650" dirty="0"/>
          </a:p>
        </p:txBody>
      </p:sp>
      <p:sp>
        <p:nvSpPr>
          <p:cNvPr id="23" name="Text 12"/>
          <p:cNvSpPr txBox="1"/>
          <p:nvPr/>
        </p:nvSpPr>
        <p:spPr>
          <a:xfrm>
            <a:off x="1143000" y="3524098"/>
            <a:ext cx="7239305" cy="505663"/>
          </a:xfrm>
          <a:prstGeom prst="rect">
            <a:avLst/>
          </a:prstGeom>
          <a:noFill/>
          <a:ln/>
        </p:spPr>
        <p:txBody>
          <a:bodyPr wrap="square" lIns="0" tIns="0" rIns="0" bIns="0" rtlCol="0" anchor="ctr"/>
          <a:lstStyle/>
          <a:p>
            <a:pPr algn="l" indent="0" marL="0">
              <a:lnSpc>
                <a:spcPts val="1976"/>
              </a:lnSpc>
              <a:buNone/>
            </a:pPr>
            <a:r>
              <a:rPr lang="en-US" sz="1275" dirty="0">
                <a:solidFill>
                  <a:srgbClr val="475569"/>
                </a:solidFill>
                <a:latin typeface="IBM Plex Sans KR" pitchFamily="34" charset="0"/>
                <a:ea typeface="IBM Plex Sans KR" pitchFamily="34" charset="-122"/>
                <a:cs typeface="IBM Plex Sans KR" pitchFamily="34" charset="-120"/>
              </a:rPr>
              <a:t>3 wafer 모두 AMI &lt; 10 nm 위치에서 결집되지만 W1은 평균 +0.14 nm로 positive side, W3는 평균 −0.09 nm로 negative side에 분포한다. W2는 +0.02 nm로 center에 가장 가깝다.</a:t>
            </a:r>
            <a:endParaRPr lang="en-US" sz="1275" dirty="0"/>
          </a:p>
        </p:txBody>
      </p:sp>
      <p:sp>
        <p:nvSpPr>
          <p:cNvPr id="24" name="Text 13"/>
          <p:cNvSpPr txBox="1"/>
          <p:nvPr/>
        </p:nvSpPr>
        <p:spPr>
          <a:xfrm>
            <a:off x="1143000" y="4401007"/>
            <a:ext cx="7239305" cy="181051"/>
          </a:xfrm>
          <a:prstGeom prst="rect">
            <a:avLst/>
          </a:prstGeom>
          <a:noFill/>
          <a:ln/>
        </p:spPr>
        <p:txBody>
          <a:bodyPr wrap="none" lIns="0" tIns="0" rIns="0" bIns="0" rtlCol="0" anchor="ctr"/>
          <a:lstStyle/>
          <a:p>
            <a:pPr algn="l" indent="0" marL="0">
              <a:buNone/>
            </a:pPr>
            <a:r>
              <a:rPr lang="en-US" sz="975" spc="59" kern="0" dirty="0">
                <a:solidFill>
                  <a:srgbClr val="94A3B8"/>
                </a:solidFill>
                <a:latin typeface="IBM Plex Mono" pitchFamily="34" charset="0"/>
                <a:ea typeface="IBM Plex Mono" pitchFamily="34" charset="-122"/>
                <a:cs typeface="IBM Plex Mono" pitchFamily="34" charset="-120"/>
              </a:rPr>
              <a:t>KEY · 절대 분포는 얇은 쪽으로 쏠림 · 두꺼운 쪽은 cut 단계에서 잔존</a:t>
            </a:r>
            <a:endParaRPr lang="en-US" sz="975" dirty="0"/>
          </a:p>
        </p:txBody>
      </p:sp>
      <p:sp>
        <p:nvSpPr>
          <p:cNvPr id="25" name="Text 14"/>
          <p:cNvSpPr txBox="1"/>
          <p:nvPr/>
        </p:nvSpPr>
        <p:spPr>
          <a:xfrm>
            <a:off x="9715500" y="2857500"/>
            <a:ext cx="2286000" cy="457200"/>
          </a:xfrm>
          <a:prstGeom prst="rect">
            <a:avLst/>
          </a:prstGeom>
          <a:noFill/>
          <a:ln/>
        </p:spPr>
        <p:txBody>
          <a:bodyPr wrap="none" lIns="0" tIns="0" rIns="0" bIns="0" rtlCol="0" anchor="ctr"/>
          <a:lstStyle/>
          <a:p>
            <a:pPr algn="l" indent="0" marL="0">
              <a:buNone/>
            </a:pPr>
            <a:r>
              <a:rPr lang="en-US" sz="3600" b="1" spc="-72" kern="0" dirty="0">
                <a:solidFill>
                  <a:srgbClr val="0E7490"/>
                </a:solidFill>
                <a:latin typeface="IBM Plex Mono" pitchFamily="34" charset="0"/>
                <a:ea typeface="IBM Plex Mono" pitchFamily="34" charset="-122"/>
                <a:cs typeface="IBM Plex Mono" pitchFamily="34" charset="-120"/>
              </a:rPr>
              <a:t>F2</a:t>
            </a:r>
            <a:endParaRPr lang="en-US" sz="3600" dirty="0"/>
          </a:p>
        </p:txBody>
      </p:sp>
      <p:sp>
        <p:nvSpPr>
          <p:cNvPr id="26" name="Text 15"/>
          <p:cNvSpPr txBox="1"/>
          <p:nvPr/>
        </p:nvSpPr>
        <p:spPr>
          <a:xfrm>
            <a:off x="10858500" y="2971800"/>
            <a:ext cx="6286500" cy="314554"/>
          </a:xfrm>
          <a:prstGeom prst="rect">
            <a:avLst/>
          </a:prstGeom>
          <a:noFill/>
          <a:ln/>
        </p:spPr>
        <p:txBody>
          <a:bodyPr wrap="none" lIns="0" tIns="0" rIns="0" bIns="0" rtlCol="0" anchor="ctr"/>
          <a:lstStyle/>
          <a:p>
            <a:pPr algn="l" indent="0" marL="0">
              <a:buNone/>
            </a:pPr>
            <a:r>
              <a:rPr lang="en-US" sz="1650" b="1" dirty="0">
                <a:solidFill>
                  <a:srgbClr val="0F172A"/>
                </a:solidFill>
                <a:latin typeface="IBM Plex Sans KR" pitchFamily="34" charset="0"/>
                <a:ea typeface="IBM Plex Sans KR" pitchFamily="34" charset="-122"/>
                <a:cs typeface="IBM Plex Sans KR" pitchFamily="34" charset="-120"/>
              </a:rPr>
              <a:t>In-wafer / Stage 균일도</a:t>
            </a:r>
            <a:endParaRPr lang="en-US" sz="1650" dirty="0"/>
          </a:p>
        </p:txBody>
      </p:sp>
      <p:sp>
        <p:nvSpPr>
          <p:cNvPr id="27" name="Text 16"/>
          <p:cNvSpPr txBox="1"/>
          <p:nvPr/>
        </p:nvSpPr>
        <p:spPr>
          <a:xfrm>
            <a:off x="9715500" y="3524098"/>
            <a:ext cx="7429500" cy="505663"/>
          </a:xfrm>
          <a:prstGeom prst="rect">
            <a:avLst/>
          </a:prstGeom>
          <a:noFill/>
          <a:ln/>
        </p:spPr>
        <p:txBody>
          <a:bodyPr wrap="square" lIns="0" tIns="0" rIns="0" bIns="0" rtlCol="0" anchor="ctr"/>
          <a:lstStyle/>
          <a:p>
            <a:pPr algn="l" indent="0" marL="0">
              <a:lnSpc>
                <a:spcPts val="1976"/>
              </a:lnSpc>
              <a:buNone/>
            </a:pPr>
            <a:r>
              <a:rPr lang="en-US" sz="1275" dirty="0">
                <a:solidFill>
                  <a:srgbClr val="475569"/>
                </a:solidFill>
                <a:latin typeface="IBM Plex Sans KR" pitchFamily="34" charset="0"/>
                <a:ea typeface="IBM Plex Sans KR" pitchFamily="34" charset="-122"/>
                <a:cs typeface="IBM Plex Sans KR" pitchFamily="34" charset="-120"/>
              </a:rPr>
              <a:t>평균 U% 기준 W2 3.16% &lt; W3 3.94% &lt; W1 6.78%. W1은 cut 단계(ACI)에서 U 9.69%로 spike가 발생해 후속 마스크 정렬 마진을 위협.</a:t>
            </a:r>
            <a:endParaRPr lang="en-US" sz="1275" dirty="0"/>
          </a:p>
        </p:txBody>
      </p:sp>
      <p:sp>
        <p:nvSpPr>
          <p:cNvPr id="28" name="Text 17"/>
          <p:cNvSpPr txBox="1"/>
          <p:nvPr/>
        </p:nvSpPr>
        <p:spPr>
          <a:xfrm>
            <a:off x="9715500" y="4401007"/>
            <a:ext cx="7429500" cy="181051"/>
          </a:xfrm>
          <a:prstGeom prst="rect">
            <a:avLst/>
          </a:prstGeom>
          <a:noFill/>
          <a:ln/>
        </p:spPr>
        <p:txBody>
          <a:bodyPr wrap="none" lIns="0" tIns="0" rIns="0" bIns="0" rtlCol="0" anchor="ctr"/>
          <a:lstStyle/>
          <a:p>
            <a:pPr algn="l" indent="0" marL="0">
              <a:buNone/>
            </a:pPr>
            <a:r>
              <a:rPr lang="en-US" sz="975" spc="59" kern="0" dirty="0">
                <a:solidFill>
                  <a:srgbClr val="94A3B8"/>
                </a:solidFill>
                <a:latin typeface="IBM Plex Mono" pitchFamily="34" charset="0"/>
                <a:ea typeface="IBM Plex Mono" pitchFamily="34" charset="-122"/>
                <a:cs typeface="IBM Plex Mono" pitchFamily="34" charset="-120"/>
              </a:rPr>
              <a:t>KEY · W1 cut stage가 분포 폭을 결정 · 누설로 직결</a:t>
            </a:r>
            <a:endParaRPr lang="en-US" sz="975" dirty="0"/>
          </a:p>
        </p:txBody>
      </p:sp>
      <p:sp>
        <p:nvSpPr>
          <p:cNvPr id="29" name="Text 18"/>
          <p:cNvSpPr txBox="1"/>
          <p:nvPr/>
        </p:nvSpPr>
        <p:spPr>
          <a:xfrm>
            <a:off x="1143000" y="5143500"/>
            <a:ext cx="2286000" cy="457200"/>
          </a:xfrm>
          <a:prstGeom prst="rect">
            <a:avLst/>
          </a:prstGeom>
          <a:noFill/>
          <a:ln/>
        </p:spPr>
        <p:txBody>
          <a:bodyPr wrap="none" lIns="0" tIns="0" rIns="0" bIns="0" rtlCol="0" anchor="ctr"/>
          <a:lstStyle/>
          <a:p>
            <a:pPr algn="l" indent="0" marL="0">
              <a:buNone/>
            </a:pPr>
            <a:r>
              <a:rPr lang="en-US" sz="3600" b="1" spc="-72" kern="0" dirty="0">
                <a:solidFill>
                  <a:srgbClr val="2563EB"/>
                </a:solidFill>
                <a:latin typeface="IBM Plex Mono" pitchFamily="34" charset="0"/>
                <a:ea typeface="IBM Plex Mono" pitchFamily="34" charset="-122"/>
                <a:cs typeface="IBM Plex Mono" pitchFamily="34" charset="-120"/>
              </a:rPr>
              <a:t>F3</a:t>
            </a:r>
            <a:endParaRPr lang="en-US" sz="3600" dirty="0"/>
          </a:p>
        </p:txBody>
      </p:sp>
      <p:sp>
        <p:nvSpPr>
          <p:cNvPr id="30" name="Text 19"/>
          <p:cNvSpPr txBox="1"/>
          <p:nvPr/>
        </p:nvSpPr>
        <p:spPr>
          <a:xfrm>
            <a:off x="2286000" y="5257800"/>
            <a:ext cx="5715000" cy="314554"/>
          </a:xfrm>
          <a:prstGeom prst="rect">
            <a:avLst/>
          </a:prstGeom>
          <a:noFill/>
          <a:ln/>
        </p:spPr>
        <p:txBody>
          <a:bodyPr wrap="none" lIns="0" tIns="0" rIns="0" bIns="0" rtlCol="0" anchor="ctr"/>
          <a:lstStyle/>
          <a:p>
            <a:pPr algn="l" indent="0" marL="0">
              <a:buNone/>
            </a:pPr>
            <a:r>
              <a:rPr lang="en-US" sz="1650" b="1" dirty="0">
                <a:solidFill>
                  <a:srgbClr val="0F172A"/>
                </a:solidFill>
                <a:latin typeface="IBM Plex Sans KR" pitchFamily="34" charset="0"/>
                <a:ea typeface="IBM Plex Sans KR" pitchFamily="34" charset="-122"/>
                <a:cs typeface="IBM Plex Sans KR" pitchFamily="34" charset="-120"/>
              </a:rPr>
              <a:t>피치 워크 억제 효과</a:t>
            </a:r>
            <a:endParaRPr lang="en-US" sz="1650" dirty="0"/>
          </a:p>
        </p:txBody>
      </p:sp>
      <p:sp>
        <p:nvSpPr>
          <p:cNvPr id="31" name="Text 20"/>
          <p:cNvSpPr txBox="1"/>
          <p:nvPr/>
        </p:nvSpPr>
        <p:spPr>
          <a:xfrm>
            <a:off x="1143000" y="5810098"/>
            <a:ext cx="7239305" cy="505663"/>
          </a:xfrm>
          <a:prstGeom prst="rect">
            <a:avLst/>
          </a:prstGeom>
          <a:noFill/>
          <a:ln/>
        </p:spPr>
        <p:txBody>
          <a:bodyPr wrap="square" lIns="0" tIns="0" rIns="0" bIns="0" rtlCol="0" anchor="ctr"/>
          <a:lstStyle/>
          <a:p>
            <a:pPr algn="l" indent="0" marL="0">
              <a:lnSpc>
                <a:spcPts val="1976"/>
              </a:lnSpc>
              <a:buNone/>
            </a:pPr>
            <a:r>
              <a:rPr lang="en-US" sz="1275" dirty="0">
                <a:solidFill>
                  <a:srgbClr val="475569"/>
                </a:solidFill>
                <a:latin typeface="IBM Plex Sans KR" pitchFamily="34" charset="0"/>
                <a:ea typeface="IBM Plex Sans KR" pitchFamily="34" charset="-122"/>
                <a:cs typeface="IBM Plex Sans KR" pitchFamily="34" charset="-120"/>
              </a:rPr>
              <a:t>W1은 좌우 라인 간격이 a-b-a-b 패턴을 보이지만 QALE를 적용한 W2·W3는 라인 간격 변동폭이 거의 균일. QALE step-220(W2)에서 변동 폭이 가장 작음.</a:t>
            </a:r>
            <a:endParaRPr lang="en-US" sz="1275" dirty="0"/>
          </a:p>
        </p:txBody>
      </p:sp>
      <p:sp>
        <p:nvSpPr>
          <p:cNvPr id="32" name="Text 21"/>
          <p:cNvSpPr txBox="1"/>
          <p:nvPr/>
        </p:nvSpPr>
        <p:spPr>
          <a:xfrm>
            <a:off x="1143000" y="6687007"/>
            <a:ext cx="7239305" cy="181051"/>
          </a:xfrm>
          <a:prstGeom prst="rect">
            <a:avLst/>
          </a:prstGeom>
          <a:noFill/>
          <a:ln/>
        </p:spPr>
        <p:txBody>
          <a:bodyPr wrap="none" lIns="0" tIns="0" rIns="0" bIns="0" rtlCol="0" anchor="ctr"/>
          <a:lstStyle/>
          <a:p>
            <a:pPr algn="l" indent="0" marL="0">
              <a:buNone/>
            </a:pPr>
            <a:r>
              <a:rPr lang="en-US" sz="975" spc="59" kern="0" dirty="0">
                <a:solidFill>
                  <a:srgbClr val="94A3B8"/>
                </a:solidFill>
                <a:latin typeface="IBM Plex Mono" pitchFamily="34" charset="0"/>
                <a:ea typeface="IBM Plex Mono" pitchFamily="34" charset="-122"/>
                <a:cs typeface="IBM Plex Mono" pitchFamily="34" charset="-120"/>
              </a:rPr>
              <a:t>KEY · QALE가 spacer 측벽 비대칭을 사이클 단위로 보정</a:t>
            </a:r>
            <a:endParaRPr lang="en-US" sz="975" dirty="0"/>
          </a:p>
        </p:txBody>
      </p:sp>
      <p:sp>
        <p:nvSpPr>
          <p:cNvPr id="33" name="Text 22"/>
          <p:cNvSpPr txBox="1"/>
          <p:nvPr/>
        </p:nvSpPr>
        <p:spPr>
          <a:xfrm>
            <a:off x="9715500" y="5143500"/>
            <a:ext cx="2286000" cy="457200"/>
          </a:xfrm>
          <a:prstGeom prst="rect">
            <a:avLst/>
          </a:prstGeom>
          <a:noFill/>
          <a:ln/>
        </p:spPr>
        <p:txBody>
          <a:bodyPr wrap="none" lIns="0" tIns="0" rIns="0" bIns="0" rtlCol="0" anchor="ctr"/>
          <a:lstStyle/>
          <a:p>
            <a:pPr algn="l" indent="0" marL="0">
              <a:buNone/>
            </a:pPr>
            <a:r>
              <a:rPr lang="en-US" sz="3600" b="1" spc="-72" kern="0" dirty="0">
                <a:solidFill>
                  <a:srgbClr val="B45309"/>
                </a:solidFill>
                <a:latin typeface="IBM Plex Mono" pitchFamily="34" charset="0"/>
                <a:ea typeface="IBM Plex Mono" pitchFamily="34" charset="-122"/>
                <a:cs typeface="IBM Plex Mono" pitchFamily="34" charset="-120"/>
              </a:rPr>
              <a:t>F4</a:t>
            </a:r>
            <a:endParaRPr lang="en-US" sz="3600" dirty="0"/>
          </a:p>
        </p:txBody>
      </p:sp>
      <p:sp>
        <p:nvSpPr>
          <p:cNvPr id="34" name="Text 23"/>
          <p:cNvSpPr txBox="1"/>
          <p:nvPr/>
        </p:nvSpPr>
        <p:spPr>
          <a:xfrm>
            <a:off x="10858500" y="5257800"/>
            <a:ext cx="6286500" cy="314554"/>
          </a:xfrm>
          <a:prstGeom prst="rect">
            <a:avLst/>
          </a:prstGeom>
          <a:noFill/>
          <a:ln/>
        </p:spPr>
        <p:txBody>
          <a:bodyPr wrap="none" lIns="0" tIns="0" rIns="0" bIns="0" rtlCol="0" anchor="ctr"/>
          <a:lstStyle/>
          <a:p>
            <a:pPr algn="l" indent="0" marL="0">
              <a:buNone/>
            </a:pPr>
            <a:r>
              <a:rPr lang="en-US" sz="1650" b="1" dirty="0">
                <a:solidFill>
                  <a:srgbClr val="0F172A"/>
                </a:solidFill>
                <a:latin typeface="IBM Plex Sans KR" pitchFamily="34" charset="0"/>
                <a:ea typeface="IBM Plex Sans KR" pitchFamily="34" charset="-122"/>
                <a:cs typeface="IBM Plex Sans KR" pitchFamily="34" charset="-120"/>
              </a:rPr>
              <a:t>전기적 영향</a:t>
            </a:r>
            <a:endParaRPr lang="en-US" sz="1650" dirty="0"/>
          </a:p>
        </p:txBody>
      </p:sp>
      <p:sp>
        <p:nvSpPr>
          <p:cNvPr id="35" name="Text 24"/>
          <p:cNvSpPr txBox="1"/>
          <p:nvPr/>
        </p:nvSpPr>
        <p:spPr>
          <a:xfrm>
            <a:off x="9715500" y="5810098"/>
            <a:ext cx="7429500" cy="505663"/>
          </a:xfrm>
          <a:prstGeom prst="rect">
            <a:avLst/>
          </a:prstGeom>
          <a:noFill/>
          <a:ln/>
        </p:spPr>
        <p:txBody>
          <a:bodyPr wrap="square" lIns="0" tIns="0" rIns="0" bIns="0" rtlCol="0" anchor="ctr"/>
          <a:lstStyle/>
          <a:p>
            <a:pPr algn="l" indent="0" marL="0">
              <a:lnSpc>
                <a:spcPts val="1976"/>
              </a:lnSpc>
              <a:buNone/>
            </a:pPr>
            <a:r>
              <a:rPr lang="en-US" sz="1275" dirty="0">
                <a:solidFill>
                  <a:srgbClr val="475569"/>
                </a:solidFill>
                <a:latin typeface="IBM Plex Sans KR" pitchFamily="34" charset="0"/>
                <a:ea typeface="IBM Plex Sans KR" pitchFamily="34" charset="-122"/>
                <a:cs typeface="IBM Plex Sans KR" pitchFamily="34" charset="-120"/>
              </a:rPr>
              <a:t>누설 128 → 81 → 64 pA/µm, yield 82% → 89% → 95%로 QALE + split-B 조합이 최적. 동일 line CD 부근이지만 spacer 분할과 etch 모드가 low-k 손상 정도를 결정.</a:t>
            </a:r>
            <a:endParaRPr lang="en-US" sz="1275" dirty="0"/>
          </a:p>
        </p:txBody>
      </p:sp>
      <p:sp>
        <p:nvSpPr>
          <p:cNvPr id="36" name="Text 25"/>
          <p:cNvSpPr txBox="1"/>
          <p:nvPr/>
        </p:nvSpPr>
        <p:spPr>
          <a:xfrm>
            <a:off x="9715500" y="6687007"/>
            <a:ext cx="7429500" cy="181051"/>
          </a:xfrm>
          <a:prstGeom prst="rect">
            <a:avLst/>
          </a:prstGeom>
          <a:noFill/>
          <a:ln/>
        </p:spPr>
        <p:txBody>
          <a:bodyPr wrap="none" lIns="0" tIns="0" rIns="0" bIns="0" rtlCol="0" anchor="ctr"/>
          <a:lstStyle/>
          <a:p>
            <a:pPr algn="l" indent="0" marL="0">
              <a:buNone/>
            </a:pPr>
            <a:r>
              <a:rPr lang="en-US" sz="975" spc="59" kern="0" dirty="0">
                <a:solidFill>
                  <a:srgbClr val="94A3B8"/>
                </a:solidFill>
                <a:latin typeface="IBM Plex Mono" pitchFamily="34" charset="0"/>
                <a:ea typeface="IBM Plex Mono" pitchFamily="34" charset="-122"/>
                <a:cs typeface="IBM Plex Mono" pitchFamily="34" charset="-120"/>
              </a:rPr>
              <a:t>KEY · 누설과 수율이 spacer μm-스케일 결정에 반응</a:t>
            </a:r>
            <a:endParaRPr lang="en-US" sz="975" dirty="0"/>
          </a:p>
        </p:txBody>
      </p:sp>
      <p:sp>
        <p:nvSpPr>
          <p:cNvPr id="37" name="Text 26"/>
          <p:cNvSpPr txBox="1"/>
          <p:nvPr/>
        </p:nvSpPr>
        <p:spPr>
          <a:xfrm>
            <a:off x="1143000" y="7524598"/>
            <a:ext cx="5715000" cy="133502"/>
          </a:xfrm>
          <a:prstGeom prst="rect">
            <a:avLst/>
          </a:prstGeom>
          <a:noFill/>
          <a:ln/>
        </p:spPr>
        <p:txBody>
          <a:bodyPr wrap="none" lIns="0" tIns="0" rIns="0" bIns="0" rtlCol="0" anchor="ctr"/>
          <a:lstStyle/>
          <a:p>
            <a:pPr algn="l" indent="0" marL="0">
              <a:buNone/>
            </a:pPr>
            <a:r>
              <a:rPr lang="en-US" sz="825" spc="149" kern="0" dirty="0">
                <a:solidFill>
                  <a:srgbClr val="94A3B8"/>
                </a:solidFill>
                <a:latin typeface="IBM Plex Mono" pitchFamily="34" charset="0"/>
                <a:ea typeface="IBM Plex Mono" pitchFamily="34" charset="-122"/>
                <a:cs typeface="IBM Plex Mono" pitchFamily="34" charset="-120"/>
              </a:rPr>
              <a:t>RECOMMENDED CONDITION</a:t>
            </a:r>
            <a:endParaRPr lang="en-US" sz="825" dirty="0"/>
          </a:p>
        </p:txBody>
      </p:sp>
      <p:sp>
        <p:nvSpPr>
          <p:cNvPr id="38" name="Text 27"/>
          <p:cNvSpPr txBox="1"/>
          <p:nvPr/>
        </p:nvSpPr>
        <p:spPr>
          <a:xfrm>
            <a:off x="1143000" y="8001000"/>
            <a:ext cx="8022946" cy="342900"/>
          </a:xfrm>
          <a:prstGeom prst="rect">
            <a:avLst/>
          </a:prstGeom>
          <a:noFill/>
          <a:ln/>
        </p:spPr>
        <p:txBody>
          <a:bodyPr wrap="none" lIns="0" tIns="0" rIns="0" bIns="0" rtlCol="0" anchor="ctr"/>
          <a:lstStyle/>
          <a:p>
            <a:pPr algn="l" indent="0" marL="0">
              <a:buNone/>
            </a:pPr>
            <a:r>
              <a:rPr lang="en-US" sz="1800" b="1" dirty="0">
                <a:solidFill>
                  <a:srgbClr val="FFFFFF"/>
                </a:solidFill>
                <a:latin typeface="IBM Plex Sans KR" pitchFamily="34" charset="0"/>
                <a:ea typeface="IBM Plex Sans KR" pitchFamily="34" charset="-122"/>
                <a:cs typeface="IBM Plex Sans KR" pitchFamily="34" charset="-120"/>
              </a:rPr>
              <a:t>QALE step-220 · split-B (17.5 nm) · W2 condition 1차 채택</a:t>
            </a:r>
            <a:endParaRPr lang="en-US" sz="1800" dirty="0"/>
          </a:p>
        </p:txBody>
      </p:sp>
      <p:sp>
        <p:nvSpPr>
          <p:cNvPr id="39" name="Text 28"/>
          <p:cNvSpPr txBox="1"/>
          <p:nvPr/>
        </p:nvSpPr>
        <p:spPr>
          <a:xfrm>
            <a:off x="1143000" y="8382305"/>
            <a:ext cx="7810805" cy="505663"/>
          </a:xfrm>
          <a:prstGeom prst="rect">
            <a:avLst/>
          </a:prstGeom>
          <a:noFill/>
          <a:ln/>
        </p:spPr>
        <p:txBody>
          <a:bodyPr wrap="square" lIns="0" tIns="0" rIns="0" bIns="0" rtlCol="0" anchor="ctr"/>
          <a:lstStyle/>
          <a:p>
            <a:pPr algn="l" indent="0" marL="0">
              <a:lnSpc>
                <a:spcPts val="1976"/>
              </a:lnSpc>
              <a:buNone/>
            </a:pPr>
            <a:r>
              <a:rPr lang="en-US" sz="1275" dirty="0">
                <a:solidFill>
                  <a:srgbClr val="CBD5E1"/>
                </a:solidFill>
                <a:latin typeface="IBM Plex Sans KR" pitchFamily="34" charset="0"/>
                <a:ea typeface="IBM Plex Sans KR" pitchFamily="34" charset="-122"/>
                <a:cs typeface="IBM Plex Sans KR" pitchFamily="34" charset="-120"/>
              </a:rPr>
              <a:t>4 stage 가장 균일하고 전기 수율 우위. split-C는 잔존 시뮬레이션이 step-320 이상에서 확인되면 후보 — 현 단계는 split-B 잠정 채택.</a:t>
            </a:r>
            <a:endParaRPr lang="en-US" sz="1275" dirty="0"/>
          </a:p>
        </p:txBody>
      </p:sp>
      <p:sp>
        <p:nvSpPr>
          <p:cNvPr id="40" name="Text 29"/>
          <p:cNvSpPr txBox="1"/>
          <p:nvPr/>
        </p:nvSpPr>
        <p:spPr>
          <a:xfrm>
            <a:off x="1143000" y="8915400"/>
            <a:ext cx="5715000" cy="143561"/>
          </a:xfrm>
          <a:prstGeom prst="rect">
            <a:avLst/>
          </a:prstGeom>
          <a:noFill/>
          <a:ln/>
        </p:spPr>
        <p:txBody>
          <a:bodyPr wrap="none" lIns="0" tIns="0" rIns="0" bIns="0" rtlCol="0" anchor="ctr"/>
          <a:lstStyle/>
          <a:p>
            <a:pPr algn="l" indent="0" marL="0">
              <a:buNone/>
            </a:pPr>
            <a:r>
              <a:rPr lang="en-US" sz="900" spc="72" kern="0" dirty="0">
                <a:solidFill>
                  <a:srgbClr val="94A3B8"/>
                </a:solidFill>
                <a:latin typeface="IBM Plex Mono" pitchFamily="34" charset="0"/>
                <a:ea typeface="IBM Plex Mono" pitchFamily="34" charset="-122"/>
                <a:cs typeface="IBM Plex Mono" pitchFamily="34" charset="-120"/>
              </a:rPr>
              <a:t>—</a:t>
            </a:r>
            <a:endParaRPr lang="en-US" sz="900" dirty="0"/>
          </a:p>
        </p:txBody>
      </p:sp>
      <p:sp>
        <p:nvSpPr>
          <p:cNvPr id="41" name="Text 30"/>
          <p:cNvSpPr txBox="1"/>
          <p:nvPr/>
        </p:nvSpPr>
        <p:spPr>
          <a:xfrm>
            <a:off x="12001500" y="7524598"/>
            <a:ext cx="5143500" cy="133502"/>
          </a:xfrm>
          <a:prstGeom prst="rect">
            <a:avLst/>
          </a:prstGeom>
          <a:noFill/>
          <a:ln/>
        </p:spPr>
        <p:txBody>
          <a:bodyPr wrap="none" lIns="0" tIns="0" rIns="0" bIns="0" rtlCol="0" anchor="ctr"/>
          <a:lstStyle/>
          <a:p>
            <a:pPr algn="l" indent="0" marL="0">
              <a:buNone/>
            </a:pPr>
            <a:r>
              <a:rPr lang="en-US" sz="825" spc="149" kern="0" dirty="0">
                <a:solidFill>
                  <a:srgbClr val="1E40AF"/>
                </a:solidFill>
                <a:latin typeface="IBM Plex Mono" pitchFamily="34" charset="0"/>
                <a:ea typeface="IBM Plex Mono" pitchFamily="34" charset="-122"/>
                <a:cs typeface="IBM Plex Mono" pitchFamily="34" charset="-120"/>
              </a:rPr>
              <a:t>NEXT STEPS</a:t>
            </a:r>
            <a:endParaRPr lang="en-US" sz="825" dirty="0"/>
          </a:p>
        </p:txBody>
      </p:sp>
      <p:sp>
        <p:nvSpPr>
          <p:cNvPr id="42" name="Text 31"/>
          <p:cNvSpPr txBox="1"/>
          <p:nvPr/>
        </p:nvSpPr>
        <p:spPr>
          <a:xfrm>
            <a:off x="12001500" y="7749540"/>
            <a:ext cx="5334610" cy="708660"/>
          </a:xfrm>
          <a:prstGeom prst="rect">
            <a:avLst/>
          </a:prstGeom>
          <a:noFill/>
          <a:ln/>
        </p:spPr>
        <p:txBody>
          <a:bodyPr wrap="square" lIns="0" tIns="0" rIns="0" bIns="0" rtlCol="0" anchor="t"/>
          <a:lstStyle/>
          <a:p>
            <a:pPr algn="l" indent="0" marL="0">
              <a:lnSpc>
                <a:spcPts val="1800"/>
              </a:lnSpc>
              <a:buNone/>
            </a:pPr>
            <a:r>
              <a:rPr lang="en-US" sz="1200" dirty="0">
                <a:solidFill>
                  <a:srgbClr val="0F172A"/>
                </a:solidFill>
                <a:latin typeface="IBM Plex Sans KR" pitchFamily="34" charset="0"/>
                <a:ea typeface="IBM Plex Sans KR" pitchFamily="34" charset="-122"/>
                <a:cs typeface="IBM Plex Sans KR" pitchFamily="34" charset="-120"/>
              </a:rPr>
              <a:t>① Split-B · QALE-220 추가 lot 반복 —</a:t>
            </a:r>
            <a:pPr algn="l" indent="0" marL="0">
              <a:lnSpc>
                <a:spcPts val="1800"/>
              </a:lnSpc>
              <a:buNone/>
            </a:pPr>
            <a:endParaRPr lang="en-US" sz="1200" dirty="0"/>
          </a:p>
          <a:p>
            <a:pPr algn="l" indent="0" marL="0">
              <a:lnSpc>
                <a:spcPts val="1800"/>
              </a:lnSpc>
              <a:buNone/>
            </a:pPr>
            <a:r>
              <a:rPr lang="en-US" sz="1200" dirty="0">
                <a:solidFill>
                  <a:srgbClr val="0F172A"/>
                </a:solidFill>
                <a:latin typeface="IBM Plex Sans KR" pitchFamily="34" charset="0"/>
                <a:ea typeface="IBM Plex Sans KR" pitchFamily="34" charset="-122"/>
                <a:cs typeface="IBM Plex Sans KR" pitchFamily="34" charset="-120"/>
              </a:rPr>
              <a:t>② ACI stage over-etch 영향 추가 DOE —</a:t>
            </a:r>
            <a:pPr algn="l" indent="0" marL="0">
              <a:lnSpc>
                <a:spcPts val="1800"/>
              </a:lnSpc>
              <a:buNone/>
            </a:pPr>
            <a:endParaRPr lang="en-US" sz="1200" dirty="0"/>
          </a:p>
          <a:p>
            <a:pPr algn="l" indent="0" marL="0">
              <a:lnSpc>
                <a:spcPts val="1800"/>
              </a:lnSpc>
              <a:buNone/>
            </a:pPr>
            <a:r>
              <a:rPr lang="en-US" sz="1200" dirty="0">
                <a:solidFill>
                  <a:srgbClr val="0F172A"/>
                </a:solidFill>
                <a:latin typeface="IBM Plex Sans KR" pitchFamily="34" charset="0"/>
                <a:ea typeface="IBM Plex Sans KR" pitchFamily="34" charset="-122"/>
                <a:cs typeface="IBM Plex Sans KR" pitchFamily="34" charset="-120"/>
              </a:rPr>
              <a:t>③ M2 / M4 동일 split 전파 가능성 평가</a:t>
            </a:r>
            <a:endParaRPr lang="en-US" sz="1200" dirty="0"/>
          </a:p>
        </p:txBody>
      </p:sp>
      <p:sp>
        <p:nvSpPr>
          <p:cNvPr id="43" name="Text 32"/>
          <p:cNvSpPr txBox="1"/>
          <p:nvPr/>
        </p:nvSpPr>
        <p:spPr>
          <a:xfrm>
            <a:off x="761695" y="9696298"/>
            <a:ext cx="13335610" cy="200254"/>
          </a:xfrm>
          <a:prstGeom prst="rect">
            <a:avLst/>
          </a:prstGeom>
          <a:noFill/>
          <a:ln/>
        </p:spPr>
        <p:txBody>
          <a:bodyPr wrap="none" lIns="0" tIns="0" rIns="0" bIns="0" rtlCol="0" anchor="ctr"/>
          <a:lstStyle/>
          <a:p>
            <a:pPr algn="l" indent="0" marL="0">
              <a:buNone/>
            </a:pPr>
            <a:r>
              <a:rPr lang="en-US" sz="1050" dirty="0">
                <a:solidFill>
                  <a:srgbClr val="64748B"/>
                </a:solidFill>
                <a:latin typeface="IBM Plex Sans KR" pitchFamily="34" charset="0"/>
                <a:ea typeface="IBM Plex Sans KR" pitchFamily="34" charset="-122"/>
                <a:cs typeface="IBM Plex Sans KR" pitchFamily="34" charset="-120"/>
              </a:rPr>
              <a:t>※ 내부 테스트용 더미(가상) 데이터 · End of Set 11 / 15</a:t>
            </a:r>
            <a:endParaRPr lang="en-US" sz="1050" dirty="0"/>
          </a:p>
        </p:txBody>
      </p:sp>
      <p:sp>
        <p:nvSpPr>
          <p:cNvPr id="44" name="Text 33"/>
          <p:cNvSpPr txBox="1"/>
          <p:nvPr/>
        </p:nvSpPr>
        <p:spPr>
          <a:xfrm>
            <a:off x="15620695" y="9696298"/>
            <a:ext cx="1905610" cy="143561"/>
          </a:xfrm>
          <a:prstGeom prst="rect">
            <a:avLst/>
          </a:prstGeom>
          <a:noFill/>
          <a:ln/>
        </p:spPr>
        <p:txBody>
          <a:bodyPr wrap="none" lIns="0" tIns="0" rIns="0" bIns="0" rtlCol="0" anchor="ctr"/>
          <a:lstStyle/>
          <a:p>
            <a:pPr algn="r" indent="0" marL="0">
              <a:buNone/>
            </a:pPr>
            <a:r>
              <a:rPr lang="en-US" sz="900" spc="108" kern="0" dirty="0">
                <a:solidFill>
                  <a:srgbClr val="94A3B8"/>
                </a:solidFill>
                <a:latin typeface="IBM Plex Mono" pitchFamily="34" charset="0"/>
                <a:ea typeface="IBM Plex Mono" pitchFamily="34" charset="-122"/>
                <a:cs typeface="IBM Plex Mono" pitchFamily="34" charset="-120"/>
              </a:rPr>
              <a:t>08 / 08 · SUMMARY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2026-10-04T07:29:37Z</dcterms:created>
  <dcterms:modified xsi:type="dcterms:W3CDTF">2026-10-04T07:29:37Z</dcterms:modified>
</cp:coreProperties>
</file>