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패터닝" id="{16c04f6d-0c54-d92a-5866-27cdcf9cf978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선저항 (AR 3 = 100)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Cu DD (AR 1.6)</c:v>
                  </c:pt>
                  <c:pt idx="1">
                    <c:v>AR 2</c:v>
                  </c:pt>
                  <c:pt idx="2">
                    <c:v>AR 3</c:v>
                  </c:pt>
                  <c:pt idx="3">
                    <c:v>AR 4</c:v>
                  </c:pt>
                  <c:pt idx="4">
                    <c:v>AR 5</c:v>
                  </c:pt>
                  <c:pt idx="5">
                    <c:v>AR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85</c:v>
                </c:pt>
                <c:pt idx="4">
                  <c:v>72</c:v>
                </c:pt>
                <c:pt idx="5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SP-03 · 패터닝 · 선 종횡비 · IITC 2022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AR 3 vs AR 6 (18 nm 피치 Ru) — 단면과 판정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2779776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6" name="Image 0" descr="/tmp/claude-0/-home-claude/e70767da-955c-5cc3-beb4-741bbeefa4c6/scratchpad/img/ar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318608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71246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3 LINES · 18 NM PITCH · © IMEC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501488" cy="2779776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9" name="Image 1" descr="/tmp/claude-0/-home-claude/e70767da-955c-5cc3-beb4-741bbeefa4c6/scratchpad/img/ar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4448" y="1371600"/>
            <a:ext cx="5318608" cy="2286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42736" y="371246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6 LINES · 18 NM PITCH · © IMEC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7295" cy="914400"/>
        </p:xfrm>
        <a:graphic>
          <a:graphicData uri="http://schemas.openxmlformats.org/drawingml/2006/table">
            <a:tbl>
              <a:tblPr/>
              <a:tblGrid>
                <a:gridCol w="2863901"/>
                <a:gridCol w="2684678"/>
                <a:gridCol w="4117543"/>
                <a:gridCol w="161117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AR 3 (1세대)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AR 6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선저항 (동일 면적)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약 −40%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서브트랙티브 Ru 에칭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고도화 Ru 에칭, CMP 제약 없음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측벽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거의 수직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수직 유지, AR 확장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정전용량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증가 → 에어갭 결합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SP-03 · 패터닝 · AR 로드맵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AR에 따른 상대 선저항 — AR 6에서 −40%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76656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3 = 100 기준, AR 6 = 60 (−40%, 실측). AR 4·5는 선형 보간(설명용).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128016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5세대 AR 로드맵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1664208"/>
            <a:ext cx="4190695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Cu 다마신 AR 1.6 → semi-damascene 2 → 3 → 4 → 5 → 6.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제약이 없어 AR 확장 가능, 측벽은 수직 유지.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정전용량 증가는 에어갭으로 상쇄 — 단 A14에서 자기발열 +30%.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43800" y="5120640"/>
            <a:ext cx="4190695" cy="1005840"/>
          </a:xfrm>
          <a:prstGeom prst="roundRect">
            <a:avLst>
              <a:gd name="adj" fmla="val 14545"/>
            </a:avLst>
          </a:prstGeom>
          <a:solidFill>
            <a:srgbClr val="E6FBFF"/>
          </a:solidFill>
          <a:ln w="12700">
            <a:solidFill>
              <a:srgbClr val="E6FB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5212080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AR 6 채택 (PASS). 단, 상부 금속층은 정전용량 상쇄를 위해 에어갭과 결합 — 에어갭은 A14에서 자기발열 +30%를 유발하므로 열 평가와 묶어 판정.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 선 종횡비 split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