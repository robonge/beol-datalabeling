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슬라이드는 dummy 보고서 세트 14의 도입부로, EUV 다중 패터닝 평가 시험의 목적과 조건을 정의합니다.
핵심 비교 축은 EUV SADP와 SALELE 두 흐름이며, 동일 18 nm 피치의 M2 배선층에서 진행했습니다.
W01은 SADP, W02·W03은 SALELE로 분할했고, AASI·ASEI·AMI·ACI 네 메트릭을 wafer당 49 사이트에서 측정합니다.
동일 lot·동일 측정 사이트·동일 시편 길이(80 µm)를 유지해 두 흐름 간 비교 가능성을 확보했습니다.
본 슬라이드의 모든 수치는 더미이며, 학술적 인용이나 발표 외부 사용을 금지합니다.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슬라이드는 dummy 보고서 세트 14의 두 번째 페이지로, EUV SADP와 EUV SALELE 두 공정의 핵심 메커니즘을 비교합니다.
SADP는 spacer를 feature로 사용해 피치를 절반으로 자가정렬 분할하며 1D 평행선에 강합니다. 다만 cut·block 마스크가 추가되고 잉여 더미 메탈이 누적돼 parasitic C가 증가한다는 한계가 있습니다.
SALELE은 spacer를 식각 저지선으로만 두고 L1E1, 보호 spacer, L2E2 순으로 진행합니다. 2D 설계 자유도와 더미 메탈 배제 효과를 동시에 얻습니다.
비고 — 본 평가는 동일 193 nm 1차 노광을 가정했기 때문에 SADP는 비교 분기, SALELE은 주력 분기로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슬라이드는 dummy 보고서 세트 14의 핵심 CD 표면으로, AASI·ASEI·AMI·ACI 네 가지 메트릭을 wafer별로 정리했습니다.
모든 사이트는 in-line CD-SEM으로 wafer당 49 사이트에서 측정했고, 값은 mean, 3 시그마, range, target 대비 델타로 보고합니다.
W01은 SADP, W02·W03은 SALELE이며, 네 메트릭 전부에서 SALELE wafer가 3 시그마와 range를 동시에 줄이고 mean도 ±0.2 nm 안에서 관리되었습니다.
가장 작은 3 시그마는 W03의 AMI 0.58 nm이며, 이는 SADP W01 대비 약 33 % 수준입니다.
본 데이터는 dummy이며 외부 인용에 사용되지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슬라이드는 dummy 보고서 세트 14의 균일성 평가 페이지로, AMI 메트릭에 한해 49 pt 사이트별 wafer-mean 대비 편차를 표시했습니다.
상단 summary 테이블에는 wafer별 mean, 3 시그마, range, 분포 한 줄 코멘트를 정리했고, 아래 3개 wafer map과 우측 컬러 스케일을 함께 제시했습니다.
SADP 분기 W01은 네 모서리 부근에서 +1.05 / −0.95 nm 수준의 큰 편차를 보였고, SALELE W02와 W03 모두 ±0.4 nm 안쪽으로 들어옵니다. 우측 코멘트 카드는 edge-to-center 편차 차이를 0.4 nm vs 0.1 nm으로 정리했습니다.
좌측에서 우측으로 갈수록 가장자리 구배가 완화되는 양상이 가장 분명한 takeaway입니다.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슬라이드는 dummy 보고서 세트 14의 현미경 관찰 페이지로, 두 장의 실제 전자현미경 사진을 본문에 직접 삽입했습니다.
좌측 사진은 imec 매거진에 게재된 top-down SEM 시리즈로, 128 nm 피치에서 16 nm 피치까지 단계적으로 줄어드는 라인을 보여 줍니다. SADP 분기 W01의 참조 사진으로 사용됩니다.
우측 사진은 imec에서 공개된 18 nm 피치 semi-damascene 모듈의 단면 사진으로, SALELE 분기 적층 구조의 M1·V0·M2를 한 컷에 담았습니다.
가운데 카드 세 장은 SADP / SALELE / 공통 관찰 코멘트입니다. 본 평가는 dummy이므로 LER 1.7 nm·1.4 nm, 잔재 두께 30–50 nm·4–6 nm 등은 본 보고서 시험값이며 외부 인용 금지입니다.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슬라이드는 dummy 보고서 세트 14의 전기적 특성 페이지입니다. 80 µm 길이 comb test vehicle에서 Rs, line-to-line C, RC delay, 누설 전류를 측정했습니다.
상단 표는 W01 SADP, W02 SALELE, W03 SALELE을 비교하고 마지막 행에 SALELE 평균의 W01 대비 델타를 정리했습니다.
가운데 카드 세 장은 왜 SADP가 RC가 높은지, 왜 SALELE이 낮은지, 그리고 SALELE이 요구하는 추가 overlay 요건을 짚었습니다.
델타 셀은 dummy 수치 기반이며 학술적 인용에 사용되지 않습니다. W03이 W02보다 모든 항목에서 약간 더 좋아 보이지만 lot 내 변동 수준이라 별 의미는 부여하지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2.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4.png"/><Relationship Id="rId6" Type="http://schemas.openxmlformats.org/officeDocument/2006/relationships/image" Target="../media/image-2-6.jpe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2.png"/><Relationship Id="rId7" Type="http://schemas.openxmlformats.org/officeDocument/2006/relationships/image" Target="../media/image-5-7.jpeg"/><Relationship Id="rId8" Type="http://schemas.openxmlformats.org/officeDocument/2006/relationships/image" Target="../media/image-5-8.jpe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0F2F6"/>
        </a:solidFill>
      </p:bgPr>
    </p:bg>
    <p:spTree>
      <p:nvGrpSpPr>
        <p:cNvPr id="1" name=""/>
        <p:cNvGrpSpPr/>
        <p:nvPr/>
      </p:nvGrpSpPr>
      <p:grpSpPr>
        <a:xfrm>
          <a:off x="0" y="0"/>
          <a:ext cx="0" cy="0"/>
          <a:chOff x="0" y="0"/>
          <a:chExt cx="0" cy="0"/>
        </a:xfrm>
      </p:grpSpPr>
      <p:pic>
        <p:nvPicPr>
          <p:cNvPr id="3" name="Image 0" descr="gen-dedup-e28139ceb6f19fd95cd8e028518f0f6b.png">    </p:cNvPr>
          <p:cNvPicPr>
            <a:picLocks noChangeAspect="1"/>
          </p:cNvPicPr>
          <p:nvPr/>
        </p:nvPicPr>
        <p:blipFill>
          <a:blip r:embed="rId1"/>
          <a:srcRect l="0" r="0" t="-420" b="-420"/>
          <a:stretch/>
        </p:blipFill>
        <p:spPr>
          <a:xfrm>
            <a:off x="761695" y="1886407"/>
            <a:ext cx="761695" cy="38405"/>
          </a:xfrm>
          <a:prstGeom prst="rect">
            <a:avLst/>
          </a:prstGeom>
        </p:spPr>
      </p:pic>
      <p:pic>
        <p:nvPicPr>
          <p:cNvPr id="4" name="Image 1" descr="gen-dedup-3edb1d0f3967ac1146e2986c324ceef0.png">    </p:cNvPr>
          <p:cNvPicPr>
            <a:picLocks noChangeAspect="1"/>
          </p:cNvPicPr>
          <p:nvPr/>
        </p:nvPicPr>
        <p:blipFill>
          <a:blip r:embed="rId2"/>
          <a:srcRect l="-2083" r="-2083" t="0" b="0"/>
          <a:stretch/>
        </p:blipFill>
        <p:spPr>
          <a:xfrm>
            <a:off x="761695" y="4496105"/>
            <a:ext cx="16763695" cy="9144"/>
          </a:xfrm>
          <a:prstGeom prst="rect">
            <a:avLst/>
          </a:prstGeom>
        </p:spPr>
      </p:pic>
      <p:sp>
        <p:nvSpPr>
          <p:cNvPr id="5" name="Shape 0"/>
          <p:cNvSpPr/>
          <p:nvPr/>
        </p:nvSpPr>
        <p:spPr>
          <a:xfrm>
            <a:off x="761695" y="4743907"/>
            <a:ext cx="5429707" cy="1657807"/>
          </a:xfrm>
          <a:prstGeom prst="rect">
            <a:avLst/>
          </a:prstGeom>
          <a:solidFill>
            <a:srgbClr val="FFFFFF"/>
          </a:solidFill>
          <a:ln w="12700">
            <a:solidFill>
              <a:srgbClr val="FFFFFF">
                <a:alpha val="0"/>
              </a:srgbClr>
            </a:solidFill>
            <a:prstDash val="solid"/>
          </a:ln>
        </p:spPr>
      </p:sp>
      <p:sp>
        <p:nvSpPr>
          <p:cNvPr id="6" name="Shape 1"/>
          <p:cNvSpPr/>
          <p:nvPr/>
        </p:nvSpPr>
        <p:spPr>
          <a:xfrm>
            <a:off x="6429146" y="4743907"/>
            <a:ext cx="5429707" cy="1657807"/>
          </a:xfrm>
          <a:prstGeom prst="rect">
            <a:avLst/>
          </a:prstGeom>
          <a:solidFill>
            <a:srgbClr val="FFFFFF"/>
          </a:solidFill>
          <a:ln w="12700">
            <a:solidFill>
              <a:srgbClr val="FFFFFF">
                <a:alpha val="0"/>
              </a:srgbClr>
            </a:solidFill>
            <a:prstDash val="solid"/>
          </a:ln>
        </p:spPr>
      </p:sp>
      <p:sp>
        <p:nvSpPr>
          <p:cNvPr id="7" name="Shape 2"/>
          <p:cNvSpPr/>
          <p:nvPr/>
        </p:nvSpPr>
        <p:spPr>
          <a:xfrm>
            <a:off x="12096598" y="4743907"/>
            <a:ext cx="5429707" cy="1657807"/>
          </a:xfrm>
          <a:prstGeom prst="rect">
            <a:avLst/>
          </a:prstGeom>
          <a:solidFill>
            <a:srgbClr val="FFFFFF"/>
          </a:solidFill>
          <a:ln w="12700">
            <a:solidFill>
              <a:srgbClr val="FFFFFF">
                <a:alpha val="0"/>
              </a:srgbClr>
            </a:solidFill>
            <a:prstDash val="solid"/>
          </a:ln>
        </p:spPr>
      </p:sp>
      <p:sp>
        <p:nvSpPr>
          <p:cNvPr id="8" name="Shape 3"/>
          <p:cNvSpPr/>
          <p:nvPr/>
        </p:nvSpPr>
        <p:spPr>
          <a:xfrm>
            <a:off x="761695" y="6610198"/>
            <a:ext cx="5429707" cy="1657807"/>
          </a:xfrm>
          <a:prstGeom prst="rect">
            <a:avLst/>
          </a:prstGeom>
          <a:solidFill>
            <a:srgbClr val="FFFFFF"/>
          </a:solidFill>
          <a:ln w="12700">
            <a:solidFill>
              <a:srgbClr val="FFFFFF">
                <a:alpha val="0"/>
              </a:srgbClr>
            </a:solidFill>
            <a:prstDash val="solid"/>
          </a:ln>
        </p:spPr>
      </p:sp>
      <p:sp>
        <p:nvSpPr>
          <p:cNvPr id="9" name="Shape 4"/>
          <p:cNvSpPr/>
          <p:nvPr/>
        </p:nvSpPr>
        <p:spPr>
          <a:xfrm>
            <a:off x="6429146" y="6610198"/>
            <a:ext cx="5429707" cy="1657807"/>
          </a:xfrm>
          <a:prstGeom prst="rect">
            <a:avLst/>
          </a:prstGeom>
          <a:solidFill>
            <a:srgbClr val="FFFFFF"/>
          </a:solidFill>
          <a:ln w="12700">
            <a:solidFill>
              <a:srgbClr val="FFFFFF">
                <a:alpha val="0"/>
              </a:srgbClr>
            </a:solidFill>
            <a:prstDash val="solid"/>
          </a:ln>
        </p:spPr>
      </p:sp>
      <p:sp>
        <p:nvSpPr>
          <p:cNvPr id="10" name="Shape 5"/>
          <p:cNvSpPr/>
          <p:nvPr/>
        </p:nvSpPr>
        <p:spPr>
          <a:xfrm>
            <a:off x="12096598" y="6610198"/>
            <a:ext cx="5429707" cy="1657807"/>
          </a:xfrm>
          <a:prstGeom prst="rect">
            <a:avLst/>
          </a:prstGeom>
          <a:solidFill>
            <a:srgbClr val="FFFFFF"/>
          </a:solidFill>
          <a:ln w="12700">
            <a:solidFill>
              <a:srgbClr val="FFFFFF">
                <a:alpha val="0"/>
              </a:srgbClr>
            </a:solidFill>
            <a:prstDash val="solid"/>
          </a:ln>
        </p:spPr>
      </p:sp>
      <p:pic>
        <p:nvPicPr>
          <p:cNvPr id="11" name="Image 2" descr="gen-dedup-f71ef491c41f6e00b0c61beb262e47fb.png">    </p:cNvPr>
          <p:cNvPicPr>
            <a:picLocks noChangeAspect="1"/>
          </p:cNvPicPr>
          <p:nvPr/>
        </p:nvPicPr>
        <p:blipFill>
          <a:blip r:embed="rId3"/>
          <a:srcRect l="-369" r="-369" t="0" b="0"/>
          <a:stretch/>
        </p:blipFill>
        <p:spPr>
          <a:xfrm>
            <a:off x="761695" y="8572500"/>
            <a:ext cx="38405" cy="743407"/>
          </a:xfrm>
          <a:prstGeom prst="rect">
            <a:avLst/>
          </a:prstGeom>
        </p:spPr>
      </p:pic>
      <p:pic>
        <p:nvPicPr>
          <p:cNvPr id="12" name="Image 3" descr="gen-dedup-3edb1d0f3967ac1146e2986c324ceef0.png">    </p:cNvPr>
          <p:cNvPicPr>
            <a:picLocks noChangeAspect="1"/>
          </p:cNvPicPr>
          <p:nvPr/>
        </p:nvPicPr>
        <p:blipFill>
          <a:blip r:embed="rId4"/>
          <a:srcRect l="-2083" r="-2083" t="0" b="0"/>
          <a:stretch/>
        </p:blipFill>
        <p:spPr>
          <a:xfrm>
            <a:off x="761695" y="9506102"/>
            <a:ext cx="16763695" cy="9144"/>
          </a:xfrm>
          <a:prstGeom prst="rect">
            <a:avLst/>
          </a:prstGeom>
        </p:spPr>
      </p:pic>
      <p:sp>
        <p:nvSpPr>
          <p:cNvPr id="13" name="Text 6"/>
          <p:cNvSpPr txBox="1"/>
          <p:nvPr/>
        </p:nvSpPr>
        <p:spPr>
          <a:xfrm>
            <a:off x="761695" y="838505"/>
            <a:ext cx="10478110" cy="523951"/>
          </a:xfrm>
          <a:prstGeom prst="rect">
            <a:avLst/>
          </a:prstGeom>
          <a:noFill/>
          <a:ln/>
        </p:spPr>
        <p:txBody>
          <a:bodyPr wrap="none" lIns="0" tIns="0" rIns="0" bIns="0" rtlCol="0" anchor="ctr"/>
          <a:lstStyle/>
          <a:p>
            <a:pPr algn="l" indent="0" marL="0">
              <a:buNone/>
            </a:pPr>
            <a:r>
              <a:rPr lang="en-US" sz="3450" b="1" spc="-34" kern="0" dirty="0">
                <a:solidFill>
                  <a:srgbClr val="11233A"/>
                </a:solidFill>
                <a:latin typeface="Pretendard" pitchFamily="34" charset="0"/>
                <a:ea typeface="Pretendard" pitchFamily="34" charset="-122"/>
                <a:cs typeface="Pretendard" pitchFamily="34" charset="-120"/>
              </a:rPr>
              <a:t>실험 목적 및 조건</a:t>
            </a:r>
            <a:endParaRPr lang="en-US" sz="3450" dirty="0"/>
          </a:p>
        </p:txBody>
      </p:sp>
      <p:sp>
        <p:nvSpPr>
          <p:cNvPr id="14" name="Text 7"/>
          <p:cNvSpPr txBox="1"/>
          <p:nvPr/>
        </p:nvSpPr>
        <p:spPr>
          <a:xfrm>
            <a:off x="761695" y="1488643"/>
            <a:ext cx="10478110" cy="247802"/>
          </a:xfrm>
          <a:prstGeom prst="rect">
            <a:avLst/>
          </a:prstGeom>
          <a:noFill/>
          <a:ln/>
        </p:spPr>
        <p:txBody>
          <a:bodyPr wrap="none" lIns="0" tIns="0" rIns="0" bIns="0" rtlCol="0" anchor="ctr"/>
          <a:lstStyle/>
          <a:p>
            <a:pPr algn="l" indent="0" marL="0">
              <a:buNone/>
            </a:pPr>
            <a:r>
              <a:rPr lang="en-US" sz="1350" dirty="0">
                <a:solidFill>
                  <a:srgbClr val="5E6877"/>
                </a:solidFill>
                <a:latin typeface="Pretendard" pitchFamily="34" charset="0"/>
                <a:ea typeface="Pretendard" pitchFamily="34" charset="-122"/>
                <a:cs typeface="Pretendard" pitchFamily="34" charset="-120"/>
              </a:rPr>
              <a:t>EUV 다중 패터닝 비교 평가 — M2 / 18 nm pitch / 3 wafer</a:t>
            </a:r>
            <a:endParaRPr lang="en-US" sz="1350" dirty="0"/>
          </a:p>
        </p:txBody>
      </p:sp>
      <p:sp>
        <p:nvSpPr>
          <p:cNvPr id="15" name="Text 8"/>
          <p:cNvSpPr txBox="1"/>
          <p:nvPr/>
        </p:nvSpPr>
        <p:spPr>
          <a:xfrm>
            <a:off x="761695" y="2210105"/>
            <a:ext cx="10478110" cy="667512"/>
          </a:xfrm>
          <a:prstGeom prst="rect">
            <a:avLst/>
          </a:prstGeom>
          <a:noFill/>
          <a:ln/>
        </p:spPr>
        <p:txBody>
          <a:bodyPr wrap="square" lIns="0" tIns="0" rIns="0" bIns="0" rtlCol="0" anchor="ctr"/>
          <a:lstStyle/>
          <a:p>
            <a:pPr algn="l" indent="0" marL="0">
              <a:lnSpc>
                <a:spcPts val="2610"/>
              </a:lnSpc>
              <a:buNone/>
            </a:pPr>
            <a:r>
              <a:rPr lang="en-US" sz="1800" dirty="0">
                <a:solidFill>
                  <a:srgbClr val="11233A"/>
                </a:solidFill>
                <a:latin typeface="Pretendard" pitchFamily="34" charset="0"/>
                <a:ea typeface="Pretendard" pitchFamily="34" charset="-122"/>
                <a:cs typeface="Pretendard" pitchFamily="34" charset="-120"/>
              </a:rPr>
              <a:t>본 평가는 18 nm 피치 M2 배선층에서 EUV 기반 두 자가정렬 패터닝 — </a:t>
            </a:r>
            <a:pPr algn="l" indent="0" marL="0">
              <a:lnSpc>
                <a:spcPts val="2610"/>
              </a:lnSpc>
              <a:buNone/>
            </a:pPr>
            <a:r>
              <a:rPr lang="en-US" sz="1800" b="1" dirty="0">
                <a:solidFill>
                  <a:srgbClr val="2B5FA0"/>
                </a:solidFill>
                <a:latin typeface="Pretendard" pitchFamily="34" charset="0"/>
                <a:ea typeface="Pretendard" pitchFamily="34" charset="-122"/>
                <a:cs typeface="Pretendard" pitchFamily="34" charset="-120"/>
              </a:rPr>
              <a:t>SADP</a:t>
            </a:r>
            <a:pPr algn="l" indent="0" marL="0">
              <a:lnSpc>
                <a:spcPts val="2610"/>
              </a:lnSpc>
              <a:buNone/>
            </a:pPr>
            <a:r>
              <a:rPr lang="en-US" sz="1800" dirty="0">
                <a:solidFill>
                  <a:srgbClr val="11233A"/>
                </a:solidFill>
                <a:latin typeface="Pretendard" pitchFamily="34" charset="0"/>
                <a:ea typeface="Pretendard" pitchFamily="34" charset="-122"/>
                <a:cs typeface="Pretendard" pitchFamily="34" charset="-120"/>
              </a:rPr>
              <a:t>와 </a:t>
            </a:r>
            <a:pPr algn="l" indent="0" marL="0">
              <a:lnSpc>
                <a:spcPts val="2610"/>
              </a:lnSpc>
              <a:buNone/>
            </a:pPr>
            <a:r>
              <a:rPr lang="en-US" sz="1800" b="1" dirty="0">
                <a:solidFill>
                  <a:srgbClr val="B85A2A"/>
                </a:solidFill>
                <a:latin typeface="Pretendard" pitchFamily="34" charset="0"/>
                <a:ea typeface="Pretendard" pitchFamily="34" charset="-122"/>
                <a:cs typeface="Pretendard" pitchFamily="34" charset="-120"/>
              </a:rPr>
              <a:t>SALELE</a:t>
            </a:r>
            <a:pPr algn="l" indent="0" marL="0">
              <a:lnSpc>
                <a:spcPts val="2610"/>
              </a:lnSpc>
              <a:buNone/>
            </a:pPr>
            <a:r>
              <a:rPr lang="en-US" sz="1800" dirty="0">
                <a:solidFill>
                  <a:srgbClr val="11233A"/>
                </a:solidFill>
                <a:latin typeface="Pretendard" pitchFamily="34" charset="0"/>
                <a:ea typeface="Pretendard" pitchFamily="34" charset="-122"/>
                <a:cs typeface="Pretendard" pitchFamily="34" charset="-120"/>
              </a:rPr>
              <a:t> — 의 in-line CD 균일성과 후속 전기적 영향을 동일 lot·동일 측정 사이트로 직접 비교하기 위한 내부 시험이다.</a:t>
            </a:r>
            <a:endParaRPr lang="en-US" sz="1800" dirty="0"/>
          </a:p>
        </p:txBody>
      </p:sp>
      <p:sp>
        <p:nvSpPr>
          <p:cNvPr id="16" name="Text 9"/>
          <p:cNvSpPr txBox="1"/>
          <p:nvPr/>
        </p:nvSpPr>
        <p:spPr>
          <a:xfrm>
            <a:off x="761695" y="3005633"/>
            <a:ext cx="10478110" cy="609905"/>
          </a:xfrm>
          <a:prstGeom prst="rect">
            <a:avLst/>
          </a:prstGeom>
          <a:noFill/>
          <a:ln/>
        </p:spPr>
        <p:txBody>
          <a:bodyPr wrap="square" lIns="0" tIns="0" rIns="0" bIns="0" rtlCol="0" anchor="ctr"/>
          <a:lstStyle/>
          <a:p>
            <a:pPr algn="l" indent="0" marL="0">
              <a:lnSpc>
                <a:spcPts val="2392"/>
              </a:lnSpc>
              <a:buNone/>
            </a:pPr>
            <a:r>
              <a:rPr lang="en-US" sz="1650" dirty="0">
                <a:solidFill>
                  <a:srgbClr val="5E6877"/>
                </a:solidFill>
                <a:latin typeface="Pretendard" pitchFamily="34" charset="0"/>
                <a:ea typeface="Pretendard" pitchFamily="34" charset="-122"/>
                <a:cs typeface="Pretendard" pitchFamily="34" charset="-120"/>
              </a:rPr>
              <a:t>측정 메트릭은 AASI · ASEI · AMI · ACI 네 종목을 wafer당 49 사이트에서 수집하고, sheet resistance·line-to-line capacitance·누설 전류로 RC 영향을 확인한다.</a:t>
            </a:r>
            <a:endParaRPr lang="en-US" sz="1650" dirty="0"/>
          </a:p>
        </p:txBody>
      </p:sp>
      <p:sp>
        <p:nvSpPr>
          <p:cNvPr id="17" name="Text 10"/>
          <p:cNvSpPr txBox="1"/>
          <p:nvPr/>
        </p:nvSpPr>
        <p:spPr>
          <a:xfrm>
            <a:off x="761695" y="4095598"/>
            <a:ext cx="1905610" cy="247802"/>
          </a:xfrm>
          <a:prstGeom prst="rect">
            <a:avLst/>
          </a:prstGeom>
          <a:noFill/>
          <a:ln/>
        </p:spPr>
        <p:txBody>
          <a:bodyPr wrap="none" lIns="0" tIns="0" rIns="0" bIns="0" rtlCol="0" anchor="ctr"/>
          <a:lstStyle/>
          <a:p>
            <a:pPr algn="l" indent="0" marL="0">
              <a:buNone/>
            </a:pPr>
            <a:r>
              <a:rPr lang="en-US" sz="1350" b="1" spc="54" kern="0" dirty="0">
                <a:solidFill>
                  <a:srgbClr val="5E6877"/>
                </a:solidFill>
                <a:latin typeface="Pretendard" pitchFamily="34" charset="0"/>
                <a:ea typeface="Pretendard" pitchFamily="34" charset="-122"/>
                <a:cs typeface="Pretendard" pitchFamily="34" charset="-120"/>
              </a:rPr>
              <a:t>실험 조건</a:t>
            </a:r>
            <a:endParaRPr lang="en-US" sz="1350" dirty="0"/>
          </a:p>
        </p:txBody>
      </p:sp>
      <p:sp>
        <p:nvSpPr>
          <p:cNvPr id="18" name="Text 11"/>
          <p:cNvSpPr txBox="1"/>
          <p:nvPr/>
        </p:nvSpPr>
        <p:spPr>
          <a:xfrm>
            <a:off x="990295" y="4953305"/>
            <a:ext cx="4953305" cy="191110"/>
          </a:xfrm>
          <a:prstGeom prst="rect">
            <a:avLst/>
          </a:prstGeom>
          <a:noFill/>
          <a:ln/>
        </p:spPr>
        <p:txBody>
          <a:bodyPr wrap="none" lIns="0" tIns="0" rIns="0" bIns="0" rtlCol="0" anchor="ctr"/>
          <a:lstStyle/>
          <a:p>
            <a:pPr algn="l" indent="0" marL="0">
              <a:buNone/>
            </a:pPr>
            <a:r>
              <a:rPr lang="en-US" sz="1050" b="1" spc="63" kern="0" dirty="0">
                <a:solidFill>
                  <a:srgbClr val="5E6877"/>
                </a:solidFill>
                <a:latin typeface="Pretendard" pitchFamily="34" charset="0"/>
                <a:ea typeface="Pretendard" pitchFamily="34" charset="-122"/>
                <a:cs typeface="Pretendard" pitchFamily="34" charset="-120"/>
              </a:rPr>
              <a:t>공정 split</a:t>
            </a:r>
            <a:endParaRPr lang="en-US" sz="1050" dirty="0"/>
          </a:p>
        </p:txBody>
      </p:sp>
      <p:sp>
        <p:nvSpPr>
          <p:cNvPr id="19" name="Text 12"/>
          <p:cNvSpPr txBox="1"/>
          <p:nvPr/>
        </p:nvSpPr>
        <p:spPr>
          <a:xfrm>
            <a:off x="990295" y="5238598"/>
            <a:ext cx="4953305" cy="333756"/>
          </a:xfrm>
          <a:prstGeom prst="rect">
            <a:avLst/>
          </a:prstGeom>
          <a:noFill/>
          <a:ln/>
        </p:spPr>
        <p:txBody>
          <a:bodyPr wrap="none" lIns="0" tIns="0" rIns="0" bIns="0" rtlCol="0" anchor="ctr"/>
          <a:lstStyle/>
          <a:p>
            <a:pPr algn="l" indent="0" marL="0">
              <a:buNone/>
            </a:pPr>
            <a:r>
              <a:rPr lang="en-US" sz="2250" b="1" dirty="0">
                <a:solidFill>
                  <a:srgbClr val="11233A"/>
                </a:solidFill>
                <a:latin typeface="Pretendard" pitchFamily="34" charset="0"/>
                <a:ea typeface="Pretendard" pitchFamily="34" charset="-122"/>
                <a:cs typeface="Pretendard" pitchFamily="34" charset="-120"/>
              </a:rPr>
              <a:t>EUV SADP vs SALELE</a:t>
            </a:r>
            <a:endParaRPr lang="en-US" sz="2250" dirty="0"/>
          </a:p>
        </p:txBody>
      </p:sp>
      <p:sp>
        <p:nvSpPr>
          <p:cNvPr id="20" name="Text 13"/>
          <p:cNvSpPr txBox="1"/>
          <p:nvPr/>
        </p:nvSpPr>
        <p:spPr>
          <a:xfrm>
            <a:off x="990295" y="5700370"/>
            <a:ext cx="5458054" cy="247802"/>
          </a:xfrm>
          <a:prstGeom prst="rect">
            <a:avLst/>
          </a:prstGeom>
          <a:noFill/>
          <a:ln/>
        </p:spPr>
        <p:txBody>
          <a:bodyPr wrap="none" lIns="0" tIns="0" rIns="0" bIns="0" rtlCol="0" anchor="ctr"/>
          <a:lstStyle/>
          <a:p>
            <a:pPr algn="l" indent="0" marL="0">
              <a:buNone/>
            </a:pPr>
            <a:r>
              <a:rPr lang="en-US" sz="1350" dirty="0">
                <a:solidFill>
                  <a:srgbClr val="5E6877"/>
                </a:solidFill>
                <a:latin typeface="Pretendard" pitchFamily="34" charset="0"/>
                <a:ea typeface="Pretendard" pitchFamily="34" charset="-122"/>
                <a:cs typeface="Pretendard" pitchFamily="34" charset="-120"/>
              </a:rPr>
              <a:t>동일 193 nm 1차 노광 가정하에 두 자가정렬 분기만 다르게 적용</a:t>
            </a:r>
            <a:endParaRPr lang="en-US" sz="1350" dirty="0"/>
          </a:p>
        </p:txBody>
      </p:sp>
      <p:sp>
        <p:nvSpPr>
          <p:cNvPr id="21" name="Text 14"/>
          <p:cNvSpPr txBox="1"/>
          <p:nvPr/>
        </p:nvSpPr>
        <p:spPr>
          <a:xfrm>
            <a:off x="6657746" y="4953305"/>
            <a:ext cx="4953305" cy="191110"/>
          </a:xfrm>
          <a:prstGeom prst="rect">
            <a:avLst/>
          </a:prstGeom>
          <a:noFill/>
          <a:ln/>
        </p:spPr>
        <p:txBody>
          <a:bodyPr wrap="none" lIns="0" tIns="0" rIns="0" bIns="0" rtlCol="0" anchor="ctr"/>
          <a:lstStyle/>
          <a:p>
            <a:pPr algn="l" indent="0" marL="0">
              <a:buNone/>
            </a:pPr>
            <a:r>
              <a:rPr lang="en-US" sz="1050" b="1" spc="63" kern="0" dirty="0">
                <a:solidFill>
                  <a:srgbClr val="5E6877"/>
                </a:solidFill>
                <a:latin typeface="Pretendard" pitchFamily="34" charset="0"/>
                <a:ea typeface="Pretendard" pitchFamily="34" charset="-122"/>
                <a:cs typeface="Pretendard" pitchFamily="34" charset="-120"/>
              </a:rPr>
              <a:t>Target layer / pitch</a:t>
            </a:r>
            <a:endParaRPr lang="en-US" sz="1050" dirty="0"/>
          </a:p>
        </p:txBody>
      </p:sp>
      <p:sp>
        <p:nvSpPr>
          <p:cNvPr id="22" name="Text 15"/>
          <p:cNvSpPr txBox="1"/>
          <p:nvPr/>
        </p:nvSpPr>
        <p:spPr>
          <a:xfrm>
            <a:off x="6657746" y="5238598"/>
            <a:ext cx="4953305" cy="333756"/>
          </a:xfrm>
          <a:prstGeom prst="rect">
            <a:avLst/>
          </a:prstGeom>
          <a:noFill/>
          <a:ln/>
        </p:spPr>
        <p:txBody>
          <a:bodyPr wrap="none" lIns="0" tIns="0" rIns="0" bIns="0" rtlCol="0" anchor="ctr"/>
          <a:lstStyle/>
          <a:p>
            <a:pPr algn="l" indent="0" marL="0">
              <a:buNone/>
            </a:pPr>
            <a:r>
              <a:rPr lang="en-US" sz="2250" b="1" dirty="0">
                <a:solidFill>
                  <a:srgbClr val="11233A"/>
                </a:solidFill>
                <a:latin typeface="Pretendard" pitchFamily="34" charset="0"/>
                <a:ea typeface="Pretendard" pitchFamily="34" charset="-122"/>
                <a:cs typeface="Pretendard" pitchFamily="34" charset="-120"/>
              </a:rPr>
              <a:t>M2 · 18 nm full pitch</a:t>
            </a:r>
            <a:endParaRPr lang="en-US" sz="2250" dirty="0"/>
          </a:p>
        </p:txBody>
      </p:sp>
      <p:sp>
        <p:nvSpPr>
          <p:cNvPr id="23" name="Text 16"/>
          <p:cNvSpPr txBox="1"/>
          <p:nvPr/>
        </p:nvSpPr>
        <p:spPr>
          <a:xfrm>
            <a:off x="6657746" y="5700370"/>
            <a:ext cx="4953305" cy="247802"/>
          </a:xfrm>
          <a:prstGeom prst="rect">
            <a:avLst/>
          </a:prstGeom>
          <a:noFill/>
          <a:ln/>
        </p:spPr>
        <p:txBody>
          <a:bodyPr wrap="none" lIns="0" tIns="0" rIns="0" bIns="0" rtlCol="0" anchor="ctr"/>
          <a:lstStyle/>
          <a:p>
            <a:pPr algn="l" indent="0" marL="0">
              <a:buNone/>
            </a:pPr>
            <a:r>
              <a:rPr lang="en-US" sz="1350" dirty="0">
                <a:solidFill>
                  <a:srgbClr val="5E6877"/>
                </a:solidFill>
                <a:latin typeface="Pretendard" pitchFamily="34" charset="0"/>
                <a:ea typeface="Pretendard" pitchFamily="34" charset="-122"/>
                <a:cs typeface="Pretendard" pitchFamily="34" charset="-120"/>
              </a:rPr>
              <a:t>subtractive Ru 기반 BEOL 은/구간층 평가</a:t>
            </a:r>
            <a:endParaRPr lang="en-US" sz="1350" dirty="0"/>
          </a:p>
        </p:txBody>
      </p:sp>
      <p:sp>
        <p:nvSpPr>
          <p:cNvPr id="24" name="Text 17"/>
          <p:cNvSpPr txBox="1"/>
          <p:nvPr/>
        </p:nvSpPr>
        <p:spPr>
          <a:xfrm>
            <a:off x="12325198" y="4953305"/>
            <a:ext cx="4953305" cy="191110"/>
          </a:xfrm>
          <a:prstGeom prst="rect">
            <a:avLst/>
          </a:prstGeom>
          <a:noFill/>
          <a:ln/>
        </p:spPr>
        <p:txBody>
          <a:bodyPr wrap="none" lIns="0" tIns="0" rIns="0" bIns="0" rtlCol="0" anchor="ctr"/>
          <a:lstStyle/>
          <a:p>
            <a:pPr algn="l" indent="0" marL="0">
              <a:buNone/>
            </a:pPr>
            <a:r>
              <a:rPr lang="en-US" sz="1050" b="1" spc="63" kern="0" dirty="0">
                <a:solidFill>
                  <a:srgbClr val="5E6877"/>
                </a:solidFill>
                <a:latin typeface="Pretendard" pitchFamily="34" charset="0"/>
                <a:ea typeface="Pretendard" pitchFamily="34" charset="-122"/>
                <a:cs typeface="Pretendard" pitchFamily="34" charset="-120"/>
              </a:rPr>
              <a:t>Wafer set</a:t>
            </a:r>
            <a:endParaRPr lang="en-US" sz="1050" dirty="0"/>
          </a:p>
        </p:txBody>
      </p:sp>
      <p:sp>
        <p:nvSpPr>
          <p:cNvPr id="25" name="Text 18"/>
          <p:cNvSpPr txBox="1"/>
          <p:nvPr/>
        </p:nvSpPr>
        <p:spPr>
          <a:xfrm>
            <a:off x="12325198" y="5238598"/>
            <a:ext cx="5571439" cy="333756"/>
          </a:xfrm>
          <a:prstGeom prst="rect">
            <a:avLst/>
          </a:prstGeom>
          <a:noFill/>
          <a:ln/>
        </p:spPr>
        <p:txBody>
          <a:bodyPr wrap="none" lIns="0" tIns="0" rIns="0" bIns="0" rtlCol="0" anchor="ctr"/>
          <a:lstStyle/>
          <a:p>
            <a:pPr algn="l" indent="0" marL="0">
              <a:buNone/>
            </a:pPr>
            <a:r>
              <a:rPr lang="en-US" sz="2250" b="1" dirty="0">
                <a:solidFill>
                  <a:srgbClr val="11233A"/>
                </a:solidFill>
                <a:latin typeface="Pretendard" pitchFamily="34" charset="0"/>
                <a:ea typeface="Pretendard" pitchFamily="34" charset="-122"/>
                <a:cs typeface="Pretendard" pitchFamily="34" charset="-120"/>
              </a:rPr>
              <a:t>동일 lot / 동일 slot 분할 — 총 3매</a:t>
            </a:r>
            <a:endParaRPr lang="en-US" sz="2250" dirty="0"/>
          </a:p>
        </p:txBody>
      </p:sp>
      <p:sp>
        <p:nvSpPr>
          <p:cNvPr id="26" name="Text 19"/>
          <p:cNvSpPr txBox="1"/>
          <p:nvPr/>
        </p:nvSpPr>
        <p:spPr>
          <a:xfrm>
            <a:off x="990295" y="6819595"/>
            <a:ext cx="4953305" cy="191110"/>
          </a:xfrm>
          <a:prstGeom prst="rect">
            <a:avLst/>
          </a:prstGeom>
          <a:noFill/>
          <a:ln/>
        </p:spPr>
        <p:txBody>
          <a:bodyPr wrap="none" lIns="0" tIns="0" rIns="0" bIns="0" rtlCol="0" anchor="ctr"/>
          <a:lstStyle/>
          <a:p>
            <a:pPr algn="l" indent="0" marL="0">
              <a:buNone/>
            </a:pPr>
            <a:r>
              <a:rPr lang="en-US" sz="1050" b="1" spc="63" kern="0" dirty="0">
                <a:solidFill>
                  <a:srgbClr val="5E6877"/>
                </a:solidFill>
                <a:latin typeface="Pretendard" pitchFamily="34" charset="0"/>
                <a:ea typeface="Pretendard" pitchFamily="34" charset="-122"/>
                <a:cs typeface="Pretendard" pitchFamily="34" charset="-120"/>
              </a:rPr>
              <a:t>Metrology targets</a:t>
            </a:r>
            <a:endParaRPr lang="en-US" sz="1050" dirty="0"/>
          </a:p>
        </p:txBody>
      </p:sp>
      <p:sp>
        <p:nvSpPr>
          <p:cNvPr id="27" name="Text 20"/>
          <p:cNvSpPr txBox="1"/>
          <p:nvPr/>
        </p:nvSpPr>
        <p:spPr>
          <a:xfrm>
            <a:off x="990295" y="7105802"/>
            <a:ext cx="4953305" cy="571500"/>
          </a:xfrm>
          <a:prstGeom prst="rect">
            <a:avLst/>
          </a:prstGeom>
          <a:noFill/>
          <a:ln/>
        </p:spPr>
        <p:txBody>
          <a:bodyPr wrap="square" lIns="0" tIns="0" rIns="0" bIns="0" rtlCol="0" anchor="t"/>
          <a:lstStyle/>
          <a:p>
            <a:pPr algn="l" indent="0" marL="0">
              <a:lnSpc>
                <a:spcPct val="125000"/>
              </a:lnSpc>
              <a:buNone/>
            </a:pPr>
            <a:r>
              <a:rPr lang="en-US" sz="1800" b="1" dirty="0">
                <a:solidFill>
                  <a:srgbClr val="11233A"/>
                </a:solidFill>
                <a:latin typeface="ui-monospace" pitchFamily="34" charset="0"/>
                <a:ea typeface="ui-monospace" pitchFamily="34" charset="-122"/>
                <a:cs typeface="ui-monospace" pitchFamily="34" charset="-120"/>
              </a:rPr>
              <a:t>AASI 25.6 · ASEI 17.6</a:t>
            </a:r>
            <a:pPr algn="l" indent="0" marL="0">
              <a:lnSpc>
                <a:spcPct val="125000"/>
              </a:lnSpc>
              <a:buNone/>
            </a:pPr>
            <a:endParaRPr lang="en-US" sz="1800" dirty="0"/>
          </a:p>
          <a:p>
            <a:pPr algn="l" indent="0" marL="0">
              <a:lnSpc>
                <a:spcPct val="125000"/>
              </a:lnSpc>
              <a:buNone/>
            </a:pPr>
            <a:r>
              <a:rPr lang="en-US" sz="1800" b="1" dirty="0">
                <a:solidFill>
                  <a:srgbClr val="11233A"/>
                </a:solidFill>
                <a:latin typeface="ui-monospace" pitchFamily="34" charset="0"/>
                <a:ea typeface="ui-monospace" pitchFamily="34" charset="-122"/>
                <a:cs typeface="ui-monospace" pitchFamily="34" charset="-120"/>
              </a:rPr>
              <a:t>AMI 8.2 · ACI 9.7 (nm)</a:t>
            </a:r>
            <a:endParaRPr lang="en-US" sz="1800" dirty="0"/>
          </a:p>
        </p:txBody>
      </p:sp>
      <p:sp>
        <p:nvSpPr>
          <p:cNvPr id="28" name="Text 21"/>
          <p:cNvSpPr txBox="1"/>
          <p:nvPr/>
        </p:nvSpPr>
        <p:spPr>
          <a:xfrm>
            <a:off x="6657746" y="6819595"/>
            <a:ext cx="4953305" cy="191110"/>
          </a:xfrm>
          <a:prstGeom prst="rect">
            <a:avLst/>
          </a:prstGeom>
          <a:noFill/>
          <a:ln/>
        </p:spPr>
        <p:txBody>
          <a:bodyPr wrap="none" lIns="0" tIns="0" rIns="0" bIns="0" rtlCol="0" anchor="ctr"/>
          <a:lstStyle/>
          <a:p>
            <a:pPr algn="l" indent="0" marL="0">
              <a:buNone/>
            </a:pPr>
            <a:r>
              <a:rPr lang="en-US" sz="1050" b="1" spc="63" kern="0" dirty="0">
                <a:solidFill>
                  <a:srgbClr val="5E6877"/>
                </a:solidFill>
                <a:latin typeface="Pretendard" pitchFamily="34" charset="0"/>
                <a:ea typeface="Pretendard" pitchFamily="34" charset="-122"/>
                <a:cs typeface="Pretendard" pitchFamily="34" charset="-120"/>
              </a:rPr>
              <a:t>Sampling plan</a:t>
            </a:r>
            <a:endParaRPr lang="en-US" sz="1050" dirty="0"/>
          </a:p>
        </p:txBody>
      </p:sp>
      <p:sp>
        <p:nvSpPr>
          <p:cNvPr id="29" name="Text 22"/>
          <p:cNvSpPr txBox="1"/>
          <p:nvPr/>
        </p:nvSpPr>
        <p:spPr>
          <a:xfrm>
            <a:off x="6657746" y="7105802"/>
            <a:ext cx="4953305" cy="333756"/>
          </a:xfrm>
          <a:prstGeom prst="rect">
            <a:avLst/>
          </a:prstGeom>
          <a:noFill/>
          <a:ln/>
        </p:spPr>
        <p:txBody>
          <a:bodyPr wrap="none" lIns="0" tIns="0" rIns="0" bIns="0" rtlCol="0" anchor="ctr"/>
          <a:lstStyle/>
          <a:p>
            <a:pPr algn="l" indent="0" marL="0">
              <a:buNone/>
            </a:pPr>
            <a:r>
              <a:rPr lang="en-US" sz="2250" b="1" dirty="0">
                <a:solidFill>
                  <a:srgbClr val="11233A"/>
                </a:solidFill>
                <a:latin typeface="Pretendard" pitchFamily="34" charset="0"/>
                <a:ea typeface="Pretendard" pitchFamily="34" charset="-122"/>
                <a:cs typeface="Pretendard" pitchFamily="34" charset="-120"/>
              </a:rPr>
              <a:t>49 pt / wafer</a:t>
            </a:r>
            <a:endParaRPr lang="en-US" sz="2250" dirty="0"/>
          </a:p>
        </p:txBody>
      </p:sp>
      <p:sp>
        <p:nvSpPr>
          <p:cNvPr id="30" name="Text 23"/>
          <p:cNvSpPr txBox="1"/>
          <p:nvPr/>
        </p:nvSpPr>
        <p:spPr>
          <a:xfrm>
            <a:off x="6657746" y="7567574"/>
            <a:ext cx="4953305" cy="247802"/>
          </a:xfrm>
          <a:prstGeom prst="rect">
            <a:avLst/>
          </a:prstGeom>
          <a:noFill/>
          <a:ln/>
        </p:spPr>
        <p:txBody>
          <a:bodyPr wrap="none" lIns="0" tIns="0" rIns="0" bIns="0" rtlCol="0" anchor="ctr"/>
          <a:lstStyle/>
          <a:p>
            <a:pPr algn="l" indent="0" marL="0">
              <a:buNone/>
            </a:pPr>
            <a:r>
              <a:rPr lang="en-US" sz="1350" dirty="0">
                <a:solidFill>
                  <a:srgbClr val="5E6877"/>
                </a:solidFill>
                <a:latin typeface="Pretendard" pitchFamily="34" charset="0"/>
                <a:ea typeface="Pretendard" pitchFamily="34" charset="-122"/>
                <a:cs typeface="Pretendard" pitchFamily="34" charset="-120"/>
              </a:rPr>
              <a:t>in-line CD-SEM, 7 × 7 그리드, edge 포함</a:t>
            </a:r>
            <a:endParaRPr lang="en-US" sz="1350" dirty="0"/>
          </a:p>
        </p:txBody>
      </p:sp>
      <p:sp>
        <p:nvSpPr>
          <p:cNvPr id="31" name="Text 24"/>
          <p:cNvSpPr txBox="1"/>
          <p:nvPr/>
        </p:nvSpPr>
        <p:spPr>
          <a:xfrm>
            <a:off x="12325198" y="6819595"/>
            <a:ext cx="4953305" cy="191110"/>
          </a:xfrm>
          <a:prstGeom prst="rect">
            <a:avLst/>
          </a:prstGeom>
          <a:noFill/>
          <a:ln/>
        </p:spPr>
        <p:txBody>
          <a:bodyPr wrap="none" lIns="0" tIns="0" rIns="0" bIns="0" rtlCol="0" anchor="ctr"/>
          <a:lstStyle/>
          <a:p>
            <a:pPr algn="l" indent="0" marL="0">
              <a:buNone/>
            </a:pPr>
            <a:r>
              <a:rPr lang="en-US" sz="1050" b="1" spc="63" kern="0" dirty="0">
                <a:solidFill>
                  <a:srgbClr val="5E6877"/>
                </a:solidFill>
                <a:latin typeface="Pretendard" pitchFamily="34" charset="0"/>
                <a:ea typeface="Pretendard" pitchFamily="34" charset="-122"/>
                <a:cs typeface="Pretendard" pitchFamily="34" charset="-120"/>
              </a:rPr>
              <a:t>Electrical check</a:t>
            </a:r>
            <a:endParaRPr lang="en-US" sz="1050" dirty="0"/>
          </a:p>
        </p:txBody>
      </p:sp>
      <p:sp>
        <p:nvSpPr>
          <p:cNvPr id="32" name="Text 25"/>
          <p:cNvSpPr txBox="1"/>
          <p:nvPr/>
        </p:nvSpPr>
        <p:spPr>
          <a:xfrm>
            <a:off x="12325198" y="7105802"/>
            <a:ext cx="4953305" cy="333756"/>
          </a:xfrm>
          <a:prstGeom prst="rect">
            <a:avLst/>
          </a:prstGeom>
          <a:noFill/>
          <a:ln/>
        </p:spPr>
        <p:txBody>
          <a:bodyPr wrap="none" lIns="0" tIns="0" rIns="0" bIns="0" rtlCol="0" anchor="ctr"/>
          <a:lstStyle/>
          <a:p>
            <a:pPr algn="l" indent="0" marL="0">
              <a:buNone/>
            </a:pPr>
            <a:r>
              <a:rPr lang="en-US" sz="2250" b="1" dirty="0">
                <a:solidFill>
                  <a:srgbClr val="11233A"/>
                </a:solidFill>
                <a:latin typeface="Pretendard" pitchFamily="34" charset="0"/>
                <a:ea typeface="Pretendard" pitchFamily="34" charset="-122"/>
                <a:cs typeface="Pretendard" pitchFamily="34" charset="-120"/>
              </a:rPr>
              <a:t>Rs · C · RC · 누설</a:t>
            </a:r>
            <a:endParaRPr lang="en-US" sz="2250" dirty="0"/>
          </a:p>
        </p:txBody>
      </p:sp>
      <p:sp>
        <p:nvSpPr>
          <p:cNvPr id="33" name="Text 26"/>
          <p:cNvSpPr txBox="1"/>
          <p:nvPr/>
        </p:nvSpPr>
        <p:spPr>
          <a:xfrm>
            <a:off x="12325198" y="7567574"/>
            <a:ext cx="4953305" cy="247802"/>
          </a:xfrm>
          <a:prstGeom prst="rect">
            <a:avLst/>
          </a:prstGeom>
          <a:noFill/>
          <a:ln/>
        </p:spPr>
        <p:txBody>
          <a:bodyPr wrap="none" lIns="0" tIns="0" rIns="0" bIns="0" rtlCol="0" anchor="ctr"/>
          <a:lstStyle/>
          <a:p>
            <a:pPr algn="l" indent="0" marL="0">
              <a:buNone/>
            </a:pPr>
            <a:r>
              <a:rPr lang="en-US" sz="1350" dirty="0">
                <a:solidFill>
                  <a:srgbClr val="5E6877"/>
                </a:solidFill>
                <a:latin typeface="Pretendard" pitchFamily="34" charset="0"/>
                <a:ea typeface="Pretendard" pitchFamily="34" charset="-122"/>
                <a:cs typeface="Pretendard" pitchFamily="34" charset="-120"/>
              </a:rPr>
              <a:t>test vehicle 80 µm 길이 comb 구조</a:t>
            </a:r>
            <a:endParaRPr lang="en-US" sz="1350" dirty="0"/>
          </a:p>
        </p:txBody>
      </p:sp>
      <p:sp>
        <p:nvSpPr>
          <p:cNvPr id="34" name="Text 27"/>
          <p:cNvSpPr txBox="1"/>
          <p:nvPr/>
        </p:nvSpPr>
        <p:spPr>
          <a:xfrm>
            <a:off x="990295" y="8591702"/>
            <a:ext cx="16536010" cy="191110"/>
          </a:xfrm>
          <a:prstGeom prst="rect">
            <a:avLst/>
          </a:prstGeom>
          <a:noFill/>
          <a:ln/>
        </p:spPr>
        <p:txBody>
          <a:bodyPr wrap="none" lIns="0" tIns="0" rIns="0" bIns="0" rtlCol="0" anchor="ctr"/>
          <a:lstStyle/>
          <a:p>
            <a:pPr algn="l" indent="0" marL="0">
              <a:buNone/>
            </a:pPr>
            <a:r>
              <a:rPr lang="en-US" sz="1050" b="1" spc="63" kern="0" dirty="0">
                <a:solidFill>
                  <a:srgbClr val="5E6877"/>
                </a:solidFill>
                <a:latin typeface="Pretendard" pitchFamily="34" charset="0"/>
                <a:ea typeface="Pretendard" pitchFamily="34" charset="-122"/>
                <a:cs typeface="Pretendard" pitchFamily="34" charset="-120"/>
              </a:rPr>
              <a:t>한 줄 결론</a:t>
            </a:r>
            <a:endParaRPr lang="en-US" sz="1050" dirty="0"/>
          </a:p>
        </p:txBody>
      </p:sp>
      <p:sp>
        <p:nvSpPr>
          <p:cNvPr id="35" name="Text 28"/>
          <p:cNvSpPr txBox="1"/>
          <p:nvPr/>
        </p:nvSpPr>
        <p:spPr>
          <a:xfrm>
            <a:off x="990295" y="8839505"/>
            <a:ext cx="16536010" cy="324612"/>
          </a:xfrm>
          <a:prstGeom prst="rect">
            <a:avLst/>
          </a:prstGeom>
          <a:noFill/>
          <a:ln/>
        </p:spPr>
        <p:txBody>
          <a:bodyPr wrap="none" lIns="0" tIns="0" rIns="0" bIns="0" rtlCol="0" anchor="ctr"/>
          <a:lstStyle/>
          <a:p>
            <a:pPr algn="l" indent="0" marL="0">
              <a:buNone/>
            </a:pPr>
            <a:r>
              <a:rPr lang="en-US" sz="1800" dirty="0">
                <a:solidFill>
                  <a:srgbClr val="11233A"/>
                </a:solidFill>
                <a:latin typeface="Pretendard" pitchFamily="34" charset="0"/>
                <a:ea typeface="Pretendard" pitchFamily="34" charset="-122"/>
                <a:cs typeface="Pretendard" pitchFamily="34" charset="-120"/>
              </a:rPr>
              <a:t>동일 pitch·동일 측정 조건에서 두 자가정렬 흐름의 균일성과 전기적 영향을 정량 비교하기 위한 시험 조건을 정의했다.</a:t>
            </a:r>
            <a:endParaRPr lang="en-US" sz="1800" dirty="0"/>
          </a:p>
        </p:txBody>
      </p:sp>
      <p:sp>
        <p:nvSpPr>
          <p:cNvPr id="36" name="Text 29"/>
          <p:cNvSpPr txBox="1"/>
          <p:nvPr/>
        </p:nvSpPr>
        <p:spPr>
          <a:xfrm>
            <a:off x="761695" y="9658807"/>
            <a:ext cx="16764610" cy="181051"/>
          </a:xfrm>
          <a:prstGeom prst="rect">
            <a:avLst/>
          </a:prstGeom>
          <a:noFill/>
          <a:ln/>
        </p:spPr>
        <p:txBody>
          <a:bodyPr wrap="none" lIns="0" tIns="0" rIns="0" bIns="0" rtlCol="0" anchor="ctr"/>
          <a:lstStyle/>
          <a:p>
            <a:pPr algn="l" indent="0" marL="0">
              <a:buNone/>
            </a:pPr>
            <a:r>
              <a:rPr lang="en-US" sz="975" dirty="0">
                <a:solidFill>
                  <a:srgbClr val="5E6877"/>
                </a:solidFill>
                <a:latin typeface="Pretendard" pitchFamily="34" charset="0"/>
                <a:ea typeface="Pretendard" pitchFamily="34" charset="-122"/>
                <a:cs typeface="Pretendard" pitchFamily="34" charset="-120"/>
              </a:rPr>
              <a:t>※ 내부 테스트용 더미(가상) 데이터</a:t>
            </a:r>
            <a:endParaRPr lang="en-US" sz="9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2F6"/>
        </a:solidFill>
      </p:bgPr>
    </p:bg>
    <p:spTree>
      <p:nvGrpSpPr>
        <p:cNvPr id="1" name=""/>
        <p:cNvGrpSpPr/>
        <p:nvPr/>
      </p:nvGrpSpPr>
      <p:grpSpPr>
        <a:xfrm>
          <a:off x="0" y="0"/>
          <a:ext cx="0" cy="0"/>
          <a:chOff x="0" y="0"/>
          <a:chExt cx="0" cy="0"/>
        </a:xfrm>
      </p:grpSpPr>
      <p:pic>
        <p:nvPicPr>
          <p:cNvPr id="3" name="Image 0" descr="gen-dedup-e28139ceb6f19fd95cd8e028518f0f6b.png">    </p:cNvPr>
          <p:cNvPicPr>
            <a:picLocks noChangeAspect="1"/>
          </p:cNvPicPr>
          <p:nvPr/>
        </p:nvPicPr>
        <p:blipFill>
          <a:blip r:embed="rId1"/>
          <a:srcRect l="0" r="0" t="-420" b="-420"/>
          <a:stretch/>
        </p:blipFill>
        <p:spPr>
          <a:xfrm>
            <a:off x="761695" y="1904695"/>
            <a:ext cx="761695" cy="38405"/>
          </a:xfrm>
          <a:prstGeom prst="rect">
            <a:avLst/>
          </a:prstGeom>
        </p:spPr>
      </p:pic>
      <p:sp>
        <p:nvSpPr>
          <p:cNvPr id="4" name="Shape 0"/>
          <p:cNvSpPr/>
          <p:nvPr/>
        </p:nvSpPr>
        <p:spPr>
          <a:xfrm>
            <a:off x="761695" y="2286000"/>
            <a:ext cx="7810805" cy="5333695"/>
          </a:xfrm>
          <a:prstGeom prst="rect">
            <a:avLst/>
          </a:prstGeom>
          <a:solidFill>
            <a:srgbClr val="FFFFFF"/>
          </a:solidFill>
          <a:ln w="12700">
            <a:solidFill>
              <a:srgbClr val="FFFFFF">
                <a:alpha val="0"/>
              </a:srgbClr>
            </a:solidFill>
            <a:prstDash val="solid"/>
          </a:ln>
        </p:spPr>
      </p:sp>
      <p:sp>
        <p:nvSpPr>
          <p:cNvPr id="5" name="Shape 1"/>
          <p:cNvSpPr/>
          <p:nvPr/>
        </p:nvSpPr>
        <p:spPr>
          <a:xfrm>
            <a:off x="8953805" y="2286000"/>
            <a:ext cx="8572500" cy="2533802"/>
          </a:xfrm>
          <a:prstGeom prst="rect">
            <a:avLst/>
          </a:prstGeom>
          <a:solidFill>
            <a:srgbClr val="FFFFFF"/>
          </a:solidFill>
          <a:ln w="12700">
            <a:solidFill>
              <a:srgbClr val="FFFFFF">
                <a:alpha val="0"/>
              </a:srgbClr>
            </a:solidFill>
            <a:prstDash val="solid"/>
          </a:ln>
        </p:spPr>
      </p:sp>
      <p:pic>
        <p:nvPicPr>
          <p:cNvPr id="6" name="Image 1" descr="gen-dedup-4b40da289b2d7dc333d1cece55f9faca.png">    </p:cNvPr>
          <p:cNvPicPr>
            <a:picLocks noChangeAspect="1"/>
          </p:cNvPicPr>
          <p:nvPr/>
        </p:nvPicPr>
        <p:blipFill>
          <a:blip r:embed="rId2"/>
          <a:srcRect l="-397" r="-397" t="0" b="0"/>
          <a:stretch/>
        </p:blipFill>
        <p:spPr>
          <a:xfrm>
            <a:off x="8953805" y="2286000"/>
            <a:ext cx="57607" cy="2533802"/>
          </a:xfrm>
          <a:prstGeom prst="rect">
            <a:avLst/>
          </a:prstGeom>
        </p:spPr>
      </p:pic>
      <p:sp>
        <p:nvSpPr>
          <p:cNvPr id="7" name="Shape 2"/>
          <p:cNvSpPr/>
          <p:nvPr/>
        </p:nvSpPr>
        <p:spPr>
          <a:xfrm>
            <a:off x="8953805" y="5086807"/>
            <a:ext cx="8572500" cy="2533802"/>
          </a:xfrm>
          <a:prstGeom prst="rect">
            <a:avLst/>
          </a:prstGeom>
          <a:solidFill>
            <a:srgbClr val="FFFFFF"/>
          </a:solidFill>
          <a:ln w="12700">
            <a:solidFill>
              <a:srgbClr val="FFFFFF">
                <a:alpha val="0"/>
              </a:srgbClr>
            </a:solidFill>
            <a:prstDash val="solid"/>
          </a:ln>
        </p:spPr>
      </p:sp>
      <p:pic>
        <p:nvPicPr>
          <p:cNvPr id="8" name="Image 2" descr="gen-dedup-04882ad08bb2956c1ea73abf3b076a98.png">    </p:cNvPr>
          <p:cNvPicPr>
            <a:picLocks noChangeAspect="1"/>
          </p:cNvPicPr>
          <p:nvPr/>
        </p:nvPicPr>
        <p:blipFill>
          <a:blip r:embed="rId3"/>
          <a:srcRect l="-397" r="-397" t="0" b="0"/>
          <a:stretch/>
        </p:blipFill>
        <p:spPr>
          <a:xfrm>
            <a:off x="8953805" y="5086807"/>
            <a:ext cx="57607" cy="2533802"/>
          </a:xfrm>
          <a:prstGeom prst="rect">
            <a:avLst/>
          </a:prstGeom>
        </p:spPr>
      </p:pic>
      <p:pic>
        <p:nvPicPr>
          <p:cNvPr id="9" name="Image 3" descr="gen-dedup-3edb1d0f3967ac1146e2986c324ceef0.png">    </p:cNvPr>
          <p:cNvPicPr>
            <a:picLocks noChangeAspect="1"/>
          </p:cNvPicPr>
          <p:nvPr/>
        </p:nvPicPr>
        <p:blipFill>
          <a:blip r:embed="rId4"/>
          <a:srcRect l="-2083" r="-2083" t="0" b="0"/>
          <a:stretch/>
        </p:blipFill>
        <p:spPr>
          <a:xfrm>
            <a:off x="761695" y="7905902"/>
            <a:ext cx="16763695" cy="9144"/>
          </a:xfrm>
          <a:prstGeom prst="rect">
            <a:avLst/>
          </a:prstGeom>
        </p:spPr>
      </p:pic>
      <p:pic>
        <p:nvPicPr>
          <p:cNvPr id="10" name="Image 4" descr="gen-dedup-3edb1d0f3967ac1146e2986c324ceef0.png">    </p:cNvPr>
          <p:cNvPicPr>
            <a:picLocks noChangeAspect="1"/>
          </p:cNvPicPr>
          <p:nvPr/>
        </p:nvPicPr>
        <p:blipFill>
          <a:blip r:embed="rId5"/>
          <a:srcRect l="-2083" r="-2083" t="0" b="0"/>
          <a:stretch/>
        </p:blipFill>
        <p:spPr>
          <a:xfrm>
            <a:off x="761695" y="9163202"/>
            <a:ext cx="16763695" cy="9144"/>
          </a:xfrm>
          <a:prstGeom prst="rect">
            <a:avLst/>
          </a:prstGeom>
        </p:spPr>
      </p:pic>
      <p:pic>
        <p:nvPicPr>
          <p:cNvPr id="11" name="Image 5" descr="gen-dedup-0e9070b32cfb8e531e77e82404118fe6.jpg">    </p:cNvPr>
          <p:cNvPicPr>
            <a:picLocks noChangeAspect="1"/>
          </p:cNvPicPr>
          <p:nvPr/>
        </p:nvPicPr>
        <p:blipFill>
          <a:blip r:embed="rId6"/>
          <a:srcRect l="0" r="0" t="-16636" b="-16636"/>
          <a:stretch/>
        </p:blipFill>
        <p:spPr>
          <a:xfrm>
            <a:off x="952805" y="2476195"/>
            <a:ext cx="7429500" cy="4000500"/>
          </a:xfrm>
          <a:prstGeom prst="rect">
            <a:avLst/>
          </a:prstGeom>
        </p:spPr>
      </p:pic>
      <p:sp>
        <p:nvSpPr>
          <p:cNvPr id="12" name="Text 3"/>
          <p:cNvSpPr txBox="1"/>
          <p:nvPr/>
        </p:nvSpPr>
        <p:spPr>
          <a:xfrm>
            <a:off x="761695" y="780898"/>
            <a:ext cx="14097305" cy="495605"/>
          </a:xfrm>
          <a:prstGeom prst="rect">
            <a:avLst/>
          </a:prstGeom>
          <a:noFill/>
          <a:ln/>
        </p:spPr>
        <p:txBody>
          <a:bodyPr wrap="none" lIns="0" tIns="0" rIns="0" bIns="0" rtlCol="0" anchor="ctr"/>
          <a:lstStyle/>
          <a:p>
            <a:pPr algn="l" indent="0" marL="0">
              <a:buNone/>
            </a:pPr>
            <a:r>
              <a:rPr lang="en-US" sz="3300" b="1" spc="-33" kern="0" dirty="0">
                <a:solidFill>
                  <a:srgbClr val="11233A"/>
                </a:solidFill>
                <a:latin typeface="Pretendard" pitchFamily="34" charset="0"/>
                <a:ea typeface="Pretendard" pitchFamily="34" charset="-122"/>
                <a:cs typeface="Pretendard" pitchFamily="34" charset="-120"/>
              </a:rPr>
              <a:t>공정 흐름 비교 — </a:t>
            </a:r>
            <a:pPr algn="l" indent="0" marL="0">
              <a:buNone/>
            </a:pPr>
            <a:r>
              <a:rPr lang="en-US" sz="3300" b="1" spc="-33" kern="0" dirty="0">
                <a:solidFill>
                  <a:srgbClr val="2B5FA0"/>
                </a:solidFill>
                <a:latin typeface="Pretendard" pitchFamily="34" charset="0"/>
                <a:ea typeface="Pretendard" pitchFamily="34" charset="-122"/>
                <a:cs typeface="Pretendard" pitchFamily="34" charset="-120"/>
              </a:rPr>
              <a:t>SADP</a:t>
            </a:r>
            <a:pPr algn="l" indent="0" marL="0">
              <a:buNone/>
            </a:pPr>
            <a:r>
              <a:rPr lang="en-US" sz="3300" b="1" spc="-33" kern="0" dirty="0">
                <a:solidFill>
                  <a:srgbClr val="11233A"/>
                </a:solidFill>
                <a:latin typeface="Pretendard" pitchFamily="34" charset="0"/>
                <a:ea typeface="Pretendard" pitchFamily="34" charset="-122"/>
                <a:cs typeface="Pretendard" pitchFamily="34" charset="-120"/>
              </a:rPr>
              <a:t> vs </a:t>
            </a:r>
            <a:pPr algn="l" indent="0" marL="0">
              <a:buNone/>
            </a:pPr>
            <a:r>
              <a:rPr lang="en-US" sz="3300" b="1" spc="-33" kern="0" dirty="0">
                <a:solidFill>
                  <a:srgbClr val="B85A2A"/>
                </a:solidFill>
                <a:latin typeface="Pretendard" pitchFamily="34" charset="0"/>
                <a:ea typeface="Pretendard" pitchFamily="34" charset="-122"/>
                <a:cs typeface="Pretendard" pitchFamily="34" charset="-120"/>
              </a:rPr>
              <a:t>SALELE</a:t>
            </a:r>
            <a:endParaRPr lang="en-US" sz="3300" dirty="0"/>
          </a:p>
        </p:txBody>
      </p:sp>
      <p:sp>
        <p:nvSpPr>
          <p:cNvPr id="13" name="Text 4"/>
          <p:cNvSpPr txBox="1"/>
          <p:nvPr/>
        </p:nvSpPr>
        <p:spPr>
          <a:xfrm>
            <a:off x="761695" y="1389888"/>
            <a:ext cx="14097305" cy="257861"/>
          </a:xfrm>
          <a:prstGeom prst="rect">
            <a:avLst/>
          </a:prstGeom>
          <a:noFill/>
          <a:ln/>
        </p:spPr>
        <p:txBody>
          <a:bodyPr wrap="none" lIns="0" tIns="0" rIns="0" bIns="0" rtlCol="0" anchor="ctr"/>
          <a:lstStyle/>
          <a:p>
            <a:pPr algn="l" indent="0" marL="0">
              <a:buNone/>
            </a:pPr>
            <a:r>
              <a:rPr lang="en-US" sz="1425" dirty="0">
                <a:solidFill>
                  <a:srgbClr val="5E6877"/>
                </a:solidFill>
                <a:latin typeface="Pretendard" pitchFamily="34" charset="0"/>
                <a:ea typeface="Pretendard" pitchFamily="34" charset="-122"/>
                <a:cs typeface="Pretendard" pitchFamily="34" charset="-120"/>
              </a:rPr>
              <a:t>M2 / 18 nm pitch · 동일 193 nm 1차 노광 가정하에 자가정렬 분기만 다르게 적용</a:t>
            </a:r>
            <a:endParaRPr lang="en-US" sz="1425" dirty="0"/>
          </a:p>
        </p:txBody>
      </p:sp>
      <p:sp>
        <p:nvSpPr>
          <p:cNvPr id="14" name="Text 5"/>
          <p:cNvSpPr txBox="1"/>
          <p:nvPr/>
        </p:nvSpPr>
        <p:spPr>
          <a:xfrm>
            <a:off x="952805" y="6610198"/>
            <a:ext cx="7429500" cy="362102"/>
          </a:xfrm>
          <a:prstGeom prst="rect">
            <a:avLst/>
          </a:prstGeom>
          <a:noFill/>
          <a:ln/>
        </p:spPr>
        <p:txBody>
          <a:bodyPr wrap="square" lIns="0" tIns="0" rIns="0" bIns="0" rtlCol="0" anchor="ctr"/>
          <a:lstStyle/>
          <a:p>
            <a:pPr algn="l" indent="0" marL="0">
              <a:buNone/>
            </a:pPr>
            <a:r>
              <a:rPr lang="en-US" sz="975" dirty="0">
                <a:solidFill>
                  <a:srgbClr val="5E6877"/>
                </a:solidFill>
                <a:latin typeface="Pretendard" pitchFamily="34" charset="0"/>
                <a:ea typeface="Pretendard" pitchFamily="34" charset="-122"/>
                <a:cs typeface="Pretendard" pitchFamily="34" charset="-120"/>
              </a:rPr>
              <a:t>출처: SPIE Digital Library — Patterning exploration of 16 nm pitch metal lines using spacer-is-dielectric EUV SADP (Proc. SPIE 13429, 2024)</a:t>
            </a:r>
            <a:endParaRPr lang="en-US" sz="975" dirty="0"/>
          </a:p>
        </p:txBody>
      </p:sp>
      <p:sp>
        <p:nvSpPr>
          <p:cNvPr id="15" name="Text 6"/>
          <p:cNvSpPr txBox="1"/>
          <p:nvPr/>
        </p:nvSpPr>
        <p:spPr>
          <a:xfrm>
            <a:off x="952805" y="6953098"/>
            <a:ext cx="7429500" cy="505663"/>
          </a:xfrm>
          <a:prstGeom prst="rect">
            <a:avLst/>
          </a:prstGeom>
          <a:noFill/>
          <a:ln/>
        </p:spPr>
        <p:txBody>
          <a:bodyPr wrap="square" lIns="0" tIns="0" rIns="0" bIns="0" rtlCol="0" anchor="ctr"/>
          <a:lstStyle/>
          <a:p>
            <a:pPr algn="l" indent="0" marL="0">
              <a:lnSpc>
                <a:spcPts val="1958"/>
              </a:lnSpc>
              <a:buNone/>
            </a:pPr>
            <a:r>
              <a:rPr lang="en-US" sz="1350" dirty="0">
                <a:solidFill>
                  <a:srgbClr val="11233A"/>
                </a:solidFill>
                <a:latin typeface="Pretendard" pitchFamily="34" charset="0"/>
                <a:ea typeface="Pretendard" pitchFamily="34" charset="-122"/>
                <a:cs typeface="Pretendard" pitchFamily="34" charset="-120"/>
              </a:rPr>
              <a:t>단면 셀 32→16 nm 피치 분할, top-view 라인 직진성을 같은 wafer에서 확인. 본 평가는 동일 사진을 SADP 분기 참조 사진으로 사용.</a:t>
            </a:r>
            <a:endParaRPr lang="en-US" sz="1350" dirty="0"/>
          </a:p>
        </p:txBody>
      </p:sp>
      <p:sp>
        <p:nvSpPr>
          <p:cNvPr id="16" name="Text 7"/>
          <p:cNvSpPr txBox="1"/>
          <p:nvPr/>
        </p:nvSpPr>
        <p:spPr>
          <a:xfrm>
            <a:off x="9239098" y="2495398"/>
            <a:ext cx="1086307" cy="295351"/>
          </a:xfrm>
          <a:prstGeom prst="rect">
            <a:avLst/>
          </a:prstGeom>
          <a:solidFill>
            <a:srgbClr val="E3ECF7"/>
          </a:solidFill>
          <a:ln>
            <a:solidFill>
              <a:srgbClr val="FFFFFF">
                <a:alpha val="0"/>
              </a:srgbClr>
            </a:solidFill>
          </a:ln>
        </p:spPr>
        <p:txBody>
          <a:bodyPr wrap="none" lIns="101600" tIns="63500" rIns="101600" bIns="63500" rtlCol="0" anchor="ctr"/>
          <a:lstStyle/>
          <a:p>
            <a:pPr algn="l" indent="0" marL="0">
              <a:buNone/>
            </a:pPr>
            <a:r>
              <a:rPr lang="en-US" sz="975" b="1" spc="59" kern="0" dirty="0">
                <a:solidFill>
                  <a:srgbClr val="2B5FA0"/>
                </a:solidFill>
                <a:latin typeface="Pretendard" pitchFamily="34" charset="0"/>
                <a:ea typeface="Pretendard" pitchFamily="34" charset="-122"/>
                <a:cs typeface="Pretendard" pitchFamily="34" charset="-120"/>
              </a:rPr>
              <a:t>자가정렬 분기 1</a:t>
            </a:r>
            <a:endParaRPr lang="en-US" sz="975" dirty="0"/>
          </a:p>
        </p:txBody>
      </p:sp>
      <p:sp>
        <p:nvSpPr>
          <p:cNvPr id="17" name="Text 8"/>
          <p:cNvSpPr txBox="1"/>
          <p:nvPr/>
        </p:nvSpPr>
        <p:spPr>
          <a:xfrm>
            <a:off x="10454335" y="2553005"/>
            <a:ext cx="1506017" cy="181051"/>
          </a:xfrm>
          <a:prstGeom prst="rect">
            <a:avLst/>
          </a:prstGeom>
          <a:noFill/>
          <a:ln/>
        </p:spPr>
        <p:txBody>
          <a:bodyPr wrap="none" lIns="0" tIns="0" rIns="0" bIns="0" rtlCol="0" anchor="ctr"/>
          <a:lstStyle/>
          <a:p>
            <a:pPr algn="l" indent="0" marL="0">
              <a:buNone/>
            </a:pPr>
            <a:r>
              <a:rPr lang="en-US" sz="975" spc="39" kern="0" dirty="0">
                <a:solidFill>
                  <a:srgbClr val="5E6877"/>
                </a:solidFill>
                <a:latin typeface="Pretendard" pitchFamily="34" charset="0"/>
                <a:ea typeface="Pretendard" pitchFamily="34" charset="-122"/>
                <a:cs typeface="Pretendard" pitchFamily="34" charset="-120"/>
              </a:rPr>
              <a:t>spacer-as-feature</a:t>
            </a:r>
            <a:endParaRPr lang="en-US" sz="975" dirty="0"/>
          </a:p>
        </p:txBody>
      </p:sp>
      <p:sp>
        <p:nvSpPr>
          <p:cNvPr id="18" name="Text 9"/>
          <p:cNvSpPr txBox="1"/>
          <p:nvPr/>
        </p:nvSpPr>
        <p:spPr>
          <a:xfrm>
            <a:off x="9239098" y="2866644"/>
            <a:ext cx="8097012" cy="333756"/>
          </a:xfrm>
          <a:prstGeom prst="rect">
            <a:avLst/>
          </a:prstGeom>
          <a:noFill/>
          <a:ln/>
        </p:spPr>
        <p:txBody>
          <a:bodyPr wrap="none" lIns="0" tIns="0" rIns="0" bIns="0" rtlCol="0" anchor="ctr"/>
          <a:lstStyle/>
          <a:p>
            <a:pPr algn="l" indent="0" marL="0">
              <a:buNone/>
            </a:pPr>
            <a:r>
              <a:rPr lang="en-US" sz="2250" b="1" dirty="0">
                <a:solidFill>
                  <a:srgbClr val="11233A"/>
                </a:solidFill>
                <a:latin typeface="Pretendard" pitchFamily="34" charset="0"/>
                <a:ea typeface="Pretendard" pitchFamily="34" charset="-122"/>
                <a:cs typeface="Pretendard" pitchFamily="34" charset="-120"/>
              </a:rPr>
              <a:t>EUV SADP</a:t>
            </a:r>
            <a:endParaRPr lang="en-US" sz="2250" dirty="0"/>
          </a:p>
        </p:txBody>
      </p:sp>
      <p:sp>
        <p:nvSpPr>
          <p:cNvPr id="19" name="Text 10"/>
          <p:cNvSpPr txBox="1"/>
          <p:nvPr/>
        </p:nvSpPr>
        <p:spPr>
          <a:xfrm>
            <a:off x="9239098" y="3308299"/>
            <a:ext cx="8097012" cy="526694"/>
          </a:xfrm>
          <a:prstGeom prst="rect">
            <a:avLst/>
          </a:prstGeom>
          <a:noFill/>
          <a:ln/>
        </p:spPr>
        <p:txBody>
          <a:bodyPr wrap="square" lIns="0" tIns="0" rIns="0" bIns="0" rtlCol="0" anchor="t"/>
          <a:lstStyle/>
          <a:p>
            <a:pPr algn="l" indent="0" marL="0">
              <a:lnSpc>
                <a:spcPts val="1958"/>
              </a:lnSpc>
              <a:buNone/>
            </a:pPr>
            <a:r>
              <a:rPr lang="en-US" sz="1350" dirty="0">
                <a:solidFill>
                  <a:srgbClr val="11233A"/>
                </a:solidFill>
                <a:latin typeface="Pretendard" pitchFamily="34" charset="0"/>
                <a:ea typeface="Pretendard" pitchFamily="34" charset="-122"/>
                <a:cs typeface="Pretendard" pitchFamily="34" charset="-120"/>
              </a:rPr>
              <a:t>aSi core (≈ 36 nm) → SiN 측벽 spacer 증착 → pull → SiN matrix.</a:t>
            </a:r>
            <a:pPr algn="l" indent="0" marL="0">
              <a:lnSpc>
                <a:spcPts val="1958"/>
              </a:lnSpc>
              <a:buNone/>
            </a:pPr>
            <a:endParaRPr lang="en-US" sz="1350" dirty="0"/>
          </a:p>
          <a:p>
            <a:pPr algn="l" indent="0" marL="0">
              <a:lnSpc>
                <a:spcPts val="1958"/>
              </a:lnSpc>
              <a:buNone/>
            </a:pPr>
            <a:r>
              <a:rPr lang="en-US" sz="1350" dirty="0">
                <a:solidFill>
                  <a:srgbClr val="11233A"/>
                </a:solidFill>
                <a:latin typeface="Pretendard" pitchFamily="34" charset="0"/>
                <a:ea typeface="Pretendard" pitchFamily="34" charset="-122"/>
                <a:cs typeface="Pretendard" pitchFamily="34" charset="-120"/>
              </a:rPr>
              <a:t>피치는 정확히 절반으로 분할되고 자가정렬 특성으로 overlay 부담이 없다.</a:t>
            </a:r>
            <a:endParaRPr lang="en-US" sz="1350" dirty="0"/>
          </a:p>
        </p:txBody>
      </p:sp>
      <p:sp>
        <p:nvSpPr>
          <p:cNvPr id="20" name="Text 11"/>
          <p:cNvSpPr txBox="1"/>
          <p:nvPr/>
        </p:nvSpPr>
        <p:spPr>
          <a:xfrm>
            <a:off x="9239098" y="3940150"/>
            <a:ext cx="8782812" cy="200254"/>
          </a:xfrm>
          <a:prstGeom prst="rect">
            <a:avLst/>
          </a:prstGeom>
          <a:noFill/>
          <a:ln/>
        </p:spPr>
        <p:txBody>
          <a:bodyPr wrap="none" lIns="0" tIns="0" rIns="0" bIns="0" rtlCol="0" anchor="ctr"/>
          <a:lstStyle/>
          <a:p>
            <a:pPr algn="l" indent="0" marL="0">
              <a:buNone/>
            </a:pPr>
            <a:r>
              <a:rPr lang="en-US" sz="1125" dirty="0">
                <a:solidFill>
                  <a:srgbClr val="5E6877"/>
                </a:solidFill>
                <a:latin typeface="Pretendard" pitchFamily="34" charset="0"/>
                <a:ea typeface="Pretendard" pitchFamily="34" charset="-122"/>
                <a:cs typeface="Pretendard" pitchFamily="34" charset="-120"/>
              </a:rPr>
              <a:t>장점: 해상력 2× 향상 / overlay 자유 / 단일 마스크 패턴. 한계: 1D 평행선 + 다수의 cut·block 마스크 + 잉여 더미 메탈.</a:t>
            </a:r>
            <a:endParaRPr lang="en-US" sz="1125" dirty="0"/>
          </a:p>
        </p:txBody>
      </p:sp>
      <p:sp>
        <p:nvSpPr>
          <p:cNvPr id="21" name="Text 12"/>
          <p:cNvSpPr txBox="1"/>
          <p:nvPr/>
        </p:nvSpPr>
        <p:spPr>
          <a:xfrm>
            <a:off x="9239098" y="5296205"/>
            <a:ext cx="1086307" cy="295351"/>
          </a:xfrm>
          <a:prstGeom prst="rect">
            <a:avLst/>
          </a:prstGeom>
          <a:solidFill>
            <a:srgbClr val="F5E2D6"/>
          </a:solidFill>
          <a:ln>
            <a:solidFill>
              <a:srgbClr val="FFFFFF">
                <a:alpha val="0"/>
              </a:srgbClr>
            </a:solidFill>
          </a:ln>
        </p:spPr>
        <p:txBody>
          <a:bodyPr wrap="none" lIns="101600" tIns="63500" rIns="101600" bIns="63500" rtlCol="0" anchor="ctr"/>
          <a:lstStyle/>
          <a:p>
            <a:pPr algn="l" indent="0" marL="0">
              <a:buNone/>
            </a:pPr>
            <a:r>
              <a:rPr lang="en-US" sz="975" b="1" spc="59" kern="0" dirty="0">
                <a:solidFill>
                  <a:srgbClr val="B85A2A"/>
                </a:solidFill>
                <a:latin typeface="Pretendard" pitchFamily="34" charset="0"/>
                <a:ea typeface="Pretendard" pitchFamily="34" charset="-122"/>
                <a:cs typeface="Pretendard" pitchFamily="34" charset="-120"/>
              </a:rPr>
              <a:t>자가정렬 분기 2</a:t>
            </a:r>
            <a:endParaRPr lang="en-US" sz="975" dirty="0"/>
          </a:p>
        </p:txBody>
      </p:sp>
      <p:sp>
        <p:nvSpPr>
          <p:cNvPr id="22" name="Text 13"/>
          <p:cNvSpPr txBox="1"/>
          <p:nvPr/>
        </p:nvSpPr>
        <p:spPr>
          <a:xfrm>
            <a:off x="10454335" y="5352898"/>
            <a:ext cx="1335938" cy="181051"/>
          </a:xfrm>
          <a:prstGeom prst="rect">
            <a:avLst/>
          </a:prstGeom>
          <a:noFill/>
          <a:ln/>
        </p:spPr>
        <p:txBody>
          <a:bodyPr wrap="none" lIns="0" tIns="0" rIns="0" bIns="0" rtlCol="0" anchor="ctr"/>
          <a:lstStyle/>
          <a:p>
            <a:pPr algn="l" indent="0" marL="0">
              <a:buNone/>
            </a:pPr>
            <a:r>
              <a:rPr lang="en-US" sz="975" spc="39" kern="0" dirty="0">
                <a:solidFill>
                  <a:srgbClr val="5E6877"/>
                </a:solidFill>
                <a:latin typeface="Pretendard" pitchFamily="34" charset="0"/>
                <a:ea typeface="Pretendard" pitchFamily="34" charset="-122"/>
                <a:cs typeface="Pretendard" pitchFamily="34" charset="-120"/>
              </a:rPr>
              <a:t>spacer-as-guard</a:t>
            </a:r>
            <a:endParaRPr lang="en-US" sz="975" dirty="0"/>
          </a:p>
        </p:txBody>
      </p:sp>
      <p:sp>
        <p:nvSpPr>
          <p:cNvPr id="23" name="Text 14"/>
          <p:cNvSpPr txBox="1"/>
          <p:nvPr/>
        </p:nvSpPr>
        <p:spPr>
          <a:xfrm>
            <a:off x="9239098" y="5667451"/>
            <a:ext cx="8097012" cy="333756"/>
          </a:xfrm>
          <a:prstGeom prst="rect">
            <a:avLst/>
          </a:prstGeom>
          <a:noFill/>
          <a:ln/>
        </p:spPr>
        <p:txBody>
          <a:bodyPr wrap="none" lIns="0" tIns="0" rIns="0" bIns="0" rtlCol="0" anchor="ctr"/>
          <a:lstStyle/>
          <a:p>
            <a:pPr algn="l" indent="0" marL="0">
              <a:buNone/>
            </a:pPr>
            <a:r>
              <a:rPr lang="en-US" sz="2250" b="1" dirty="0">
                <a:solidFill>
                  <a:srgbClr val="11233A"/>
                </a:solidFill>
                <a:latin typeface="Pretendard" pitchFamily="34" charset="0"/>
                <a:ea typeface="Pretendard" pitchFamily="34" charset="-122"/>
                <a:cs typeface="Pretendard" pitchFamily="34" charset="-120"/>
              </a:rPr>
              <a:t>EUV SALELE</a:t>
            </a:r>
            <a:endParaRPr lang="en-US" sz="2250" dirty="0"/>
          </a:p>
        </p:txBody>
      </p:sp>
      <p:sp>
        <p:nvSpPr>
          <p:cNvPr id="24" name="Text 15"/>
          <p:cNvSpPr txBox="1"/>
          <p:nvPr/>
        </p:nvSpPr>
        <p:spPr>
          <a:xfrm>
            <a:off x="9239098" y="6108192"/>
            <a:ext cx="8097012" cy="526694"/>
          </a:xfrm>
          <a:prstGeom prst="rect">
            <a:avLst/>
          </a:prstGeom>
          <a:noFill/>
          <a:ln/>
        </p:spPr>
        <p:txBody>
          <a:bodyPr wrap="square" lIns="0" tIns="0" rIns="0" bIns="0" rtlCol="0" anchor="t"/>
          <a:lstStyle/>
          <a:p>
            <a:pPr algn="l" indent="0" marL="0">
              <a:lnSpc>
                <a:spcPts val="1958"/>
              </a:lnSpc>
              <a:buNone/>
            </a:pPr>
            <a:r>
              <a:rPr lang="en-US" sz="1350" dirty="0">
                <a:solidFill>
                  <a:srgbClr val="11233A"/>
                </a:solidFill>
                <a:latin typeface="Pretendard" pitchFamily="34" charset="0"/>
                <a:ea typeface="Pretendard" pitchFamily="34" charset="-122"/>
                <a:cs typeface="Pretendard" pitchFamily="34" charset="-120"/>
              </a:rPr>
              <a:t>L1E1 → 박형 보호 spacer → L2E2.</a:t>
            </a:r>
            <a:pPr algn="l" indent="0" marL="0">
              <a:lnSpc>
                <a:spcPts val="1958"/>
              </a:lnSpc>
              <a:buNone/>
            </a:pPr>
            <a:endParaRPr lang="en-US" sz="1350" dirty="0"/>
          </a:p>
          <a:p>
            <a:pPr algn="l" indent="0" marL="0">
              <a:lnSpc>
                <a:spcPts val="1958"/>
              </a:lnSpc>
              <a:buNone/>
            </a:pPr>
            <a:r>
              <a:rPr lang="en-US" sz="1350" dirty="0">
                <a:solidFill>
                  <a:srgbClr val="11233A"/>
                </a:solidFill>
                <a:latin typeface="Pretendard" pitchFamily="34" charset="0"/>
                <a:ea typeface="Pretendard" pitchFamily="34" charset="-122"/>
                <a:cs typeface="Pretendard" pitchFamily="34" charset="-120"/>
              </a:rPr>
              <a:t>spacer는 피치를 나누지 않고 두 패턴 사이의 식각 저지선 역할만 한다.</a:t>
            </a:r>
            <a:endParaRPr lang="en-US" sz="1350" dirty="0"/>
          </a:p>
        </p:txBody>
      </p:sp>
      <p:sp>
        <p:nvSpPr>
          <p:cNvPr id="25" name="Text 16"/>
          <p:cNvSpPr txBox="1"/>
          <p:nvPr/>
        </p:nvSpPr>
        <p:spPr>
          <a:xfrm>
            <a:off x="9239098" y="6740957"/>
            <a:ext cx="8097012" cy="200254"/>
          </a:xfrm>
          <a:prstGeom prst="rect">
            <a:avLst/>
          </a:prstGeom>
          <a:noFill/>
          <a:ln/>
        </p:spPr>
        <p:txBody>
          <a:bodyPr wrap="none" lIns="0" tIns="0" rIns="0" bIns="0" rtlCol="0" anchor="ctr"/>
          <a:lstStyle/>
          <a:p>
            <a:pPr algn="l" indent="0" marL="0">
              <a:buNone/>
            </a:pPr>
            <a:r>
              <a:rPr lang="en-US" sz="1125" dirty="0">
                <a:solidFill>
                  <a:srgbClr val="5E6877"/>
                </a:solidFill>
                <a:latin typeface="Pretendard" pitchFamily="34" charset="0"/>
                <a:ea typeface="Pretendard" pitchFamily="34" charset="-122"/>
                <a:cs typeface="Pretendard" pitchFamily="34" charset="-120"/>
              </a:rPr>
              <a:t>장점: 2D 설계 자유, 잉여 더미 메탈 배제 → RC 감소. 한계: spacer 두께 정밀도 / L2E2 etch 마진.</a:t>
            </a:r>
            <a:endParaRPr lang="en-US" sz="1125" dirty="0"/>
          </a:p>
        </p:txBody>
      </p:sp>
      <p:sp>
        <p:nvSpPr>
          <p:cNvPr id="26" name="Text 17"/>
          <p:cNvSpPr txBox="1"/>
          <p:nvPr/>
        </p:nvSpPr>
        <p:spPr>
          <a:xfrm>
            <a:off x="761695" y="8134502"/>
            <a:ext cx="1905610" cy="191110"/>
          </a:xfrm>
          <a:prstGeom prst="rect">
            <a:avLst/>
          </a:prstGeom>
          <a:noFill/>
          <a:ln/>
        </p:spPr>
        <p:txBody>
          <a:bodyPr wrap="none" lIns="0" tIns="0" rIns="0" bIns="0" rtlCol="0" anchor="ctr"/>
          <a:lstStyle/>
          <a:p>
            <a:pPr algn="l" indent="0" marL="0">
              <a:buNone/>
            </a:pPr>
            <a:r>
              <a:rPr lang="en-US" sz="1050" b="1" spc="63" kern="0" dirty="0">
                <a:solidFill>
                  <a:srgbClr val="5E6877"/>
                </a:solidFill>
                <a:latin typeface="Pretendard" pitchFamily="34" charset="0"/>
                <a:ea typeface="Pretendard" pitchFamily="34" charset="-122"/>
                <a:cs typeface="Pretendard" pitchFamily="34" charset="-120"/>
              </a:rPr>
              <a:t>awkward trade-off</a:t>
            </a:r>
            <a:endParaRPr lang="en-US" sz="1050" dirty="0"/>
          </a:p>
        </p:txBody>
      </p:sp>
      <p:sp>
        <p:nvSpPr>
          <p:cNvPr id="27" name="Text 18"/>
          <p:cNvSpPr txBox="1"/>
          <p:nvPr/>
        </p:nvSpPr>
        <p:spPr>
          <a:xfrm>
            <a:off x="761695" y="8382305"/>
            <a:ext cx="16764610" cy="277063"/>
          </a:xfrm>
          <a:prstGeom prst="rect">
            <a:avLst/>
          </a:prstGeom>
          <a:noFill/>
          <a:ln/>
        </p:spPr>
        <p:txBody>
          <a:bodyPr wrap="none" lIns="0" tIns="0" rIns="0" bIns="0" rtlCol="0" anchor="ctr"/>
          <a:lstStyle/>
          <a:p>
            <a:pPr algn="l" indent="0" marL="0">
              <a:buNone/>
            </a:pPr>
            <a:r>
              <a:rPr lang="en-US" sz="1500" dirty="0">
                <a:solidFill>
                  <a:srgbClr val="11233A"/>
                </a:solidFill>
                <a:latin typeface="Pretendard" pitchFamily="34" charset="0"/>
                <a:ea typeface="Pretendard" pitchFamily="34" charset="-122"/>
                <a:cs typeface="Pretendard" pitchFamily="34" charset="-120"/>
              </a:rPr>
              <a:t>SADP는 1D 라인에서 견고하나 cut·block 마스크와 잉여 더미 메탈로 parasitic C가 누적되고, SALELE은 spacer를 보호용으로만 두어 2D 자유도와 RC 여지를 동시에 확보한다.</a:t>
            </a:r>
            <a:endParaRPr lang="en-US" sz="1500" dirty="0"/>
          </a:p>
        </p:txBody>
      </p:sp>
      <p:sp>
        <p:nvSpPr>
          <p:cNvPr id="28" name="Text 19"/>
          <p:cNvSpPr txBox="1"/>
          <p:nvPr/>
        </p:nvSpPr>
        <p:spPr>
          <a:xfrm>
            <a:off x="761695" y="9315907"/>
            <a:ext cx="16764610" cy="181051"/>
          </a:xfrm>
          <a:prstGeom prst="rect">
            <a:avLst/>
          </a:prstGeom>
          <a:noFill/>
          <a:ln/>
        </p:spPr>
        <p:txBody>
          <a:bodyPr wrap="none" lIns="0" tIns="0" rIns="0" bIns="0" rtlCol="0" anchor="ctr"/>
          <a:lstStyle/>
          <a:p>
            <a:pPr algn="l" indent="0" marL="0">
              <a:buNone/>
            </a:pPr>
            <a:r>
              <a:rPr lang="en-US" sz="975" dirty="0">
                <a:solidFill>
                  <a:srgbClr val="5E6877"/>
                </a:solidFill>
                <a:latin typeface="Pretendard" pitchFamily="34" charset="0"/>
                <a:ea typeface="Pretendard" pitchFamily="34" charset="-122"/>
                <a:cs typeface="Pretendard" pitchFamily="34" charset="-120"/>
              </a:rPr>
              <a:t>※ 내부 테스트용 더미(가상) 데이터</a:t>
            </a:r>
            <a:endParaRPr lang="en-US" sz="9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2F6"/>
        </a:solidFill>
      </p:bgPr>
    </p:bg>
    <p:spTree>
      <p:nvGrpSpPr>
        <p:cNvPr id="1" name=""/>
        <p:cNvGrpSpPr/>
        <p:nvPr/>
      </p:nvGrpSpPr>
      <p:grpSpPr>
        <a:xfrm>
          <a:off x="0" y="0"/>
          <a:ext cx="0" cy="0"/>
          <a:chOff x="0" y="0"/>
          <a:chExt cx="0" cy="0"/>
        </a:xfrm>
      </p:grpSpPr>
      <p:pic>
        <p:nvPicPr>
          <p:cNvPr id="3" name="Image 0" descr="gen-dedup-e28139ceb6f19fd95cd8e028518f0f6b.png">    </p:cNvPr>
          <p:cNvPicPr>
            <a:picLocks noChangeAspect="1"/>
          </p:cNvPicPr>
          <p:nvPr/>
        </p:nvPicPr>
        <p:blipFill>
          <a:blip r:embed="rId1"/>
          <a:srcRect l="0" r="0" t="-420" b="-420"/>
          <a:stretch/>
        </p:blipFill>
        <p:spPr>
          <a:xfrm>
            <a:off x="761695" y="1790395"/>
            <a:ext cx="761695" cy="38405"/>
          </a:xfrm>
          <a:prstGeom prst="rect">
            <a:avLst/>
          </a:prstGeom>
        </p:spPr>
      </p:pic>
      <p:sp>
        <p:nvSpPr>
          <p:cNvPr id="4" name="Shape 0"/>
          <p:cNvSpPr/>
          <p:nvPr/>
        </p:nvSpPr>
        <p:spPr>
          <a:xfrm>
            <a:off x="1143000" y="2018995"/>
            <a:ext cx="16002000" cy="6248095"/>
          </a:xfrm>
          <a:prstGeom prst="rect">
            <a:avLst/>
          </a:prstGeom>
          <a:solidFill>
            <a:srgbClr val="FFFFFF"/>
          </a:solidFill>
          <a:ln w="12700">
            <a:solidFill>
              <a:srgbClr val="FFFFFF">
                <a:alpha val="0"/>
              </a:srgbClr>
            </a:solidFill>
            <a:prstDash val="solid"/>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1143000" y="2018995"/>
          <a:ext cx="16002000" cy="6458407"/>
        </p:xfrm>
        <a:graphic>
          <a:graphicData uri="http://schemas.openxmlformats.org/drawingml/2006/table">
            <a:tbl>
              <a:tblPr/>
              <a:tblGrid>
                <a:gridCol w="2209979"/>
                <a:gridCol w="1974077"/>
                <a:gridCol w="2621435"/>
                <a:gridCol w="2287698"/>
                <a:gridCol w="2268497"/>
                <a:gridCol w="2273069"/>
                <a:gridCol w="2367246"/>
              </a:tblGrid>
              <a:tr h="379906">
                <a:tc>
                  <a:txBody>
                    <a:bodyPr/>
                    <a:lstStyle/>
                    <a:p>
                      <a:pPr algn="l" indent="0" marL="0">
                        <a:buNone/>
                      </a:pPr>
                      <a:r>
                        <a:rPr lang="en-US" sz="1125" b="1" dirty="0">
                          <a:solidFill>
                            <a:srgbClr val="5E6877"/>
                          </a:solidFill>
                          <a:latin typeface="ui-monospace" pitchFamily="34" charset="0"/>
                          <a:ea typeface="ui-monospace" pitchFamily="34" charset="-122"/>
                          <a:cs typeface="ui-monospace" pitchFamily="34" charset="-120"/>
                        </a:rPr>
                        <a:t>Metric</a:t>
                      </a:r>
                      <a:endParaRPr lang="en-US" sz="1125" dirty="0">
                        <a:latin typeface="ui-monospace" charset="0"/>
                        <a:ea typeface="ui-monospace" charset="0"/>
                        <a:cs typeface="ui-monospace" charset="0"/>
                      </a:endParaRPr>
                    </a:p>
                  </a:txBody>
                  <a:tcPr marL="152705" marR="152705" marT="152705"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l" indent="0" marL="0">
                        <a:buNone/>
                      </a:pPr>
                      <a:r>
                        <a:rPr lang="en-US" sz="1125" b="1" dirty="0">
                          <a:solidFill>
                            <a:srgbClr val="5E6877"/>
                          </a:solidFill>
                          <a:latin typeface="ui-monospace" pitchFamily="34" charset="0"/>
                          <a:ea typeface="ui-monospace" pitchFamily="34" charset="-122"/>
                          <a:cs typeface="ui-monospace" pitchFamily="34" charset="-120"/>
                        </a:rPr>
                        <a:t>Target</a:t>
                      </a:r>
                      <a:endParaRPr lang="en-US" sz="1125" dirty="0">
                        <a:latin typeface="ui-monospace" charset="0"/>
                        <a:ea typeface="ui-monospace" charset="0"/>
                        <a:cs typeface="ui-monospace" charset="0"/>
                      </a:endParaRPr>
                    </a:p>
                  </a:txBody>
                  <a:tcPr marL="152705" marR="152705" marT="152705"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l" indent="0" marL="0">
                        <a:buNone/>
                      </a:pPr>
                      <a:r>
                        <a:rPr lang="en-US" sz="1125" b="1" dirty="0">
                          <a:solidFill>
                            <a:srgbClr val="5E6877"/>
                          </a:solidFill>
                          <a:latin typeface="ui-monospace" pitchFamily="34" charset="0"/>
                          <a:ea typeface="ui-monospace" pitchFamily="34" charset="-122"/>
                          <a:cs typeface="ui-monospace" pitchFamily="34" charset="-120"/>
                        </a:rPr>
                        <a:t>Wafer · split</a:t>
                      </a:r>
                      <a:endParaRPr lang="en-US" sz="1125" dirty="0">
                        <a:latin typeface="ui-monospace" charset="0"/>
                        <a:ea typeface="ui-monospace" charset="0"/>
                        <a:cs typeface="ui-monospace" charset="0"/>
                      </a:endParaRPr>
                    </a:p>
                  </a:txBody>
                  <a:tcPr marL="152705" marR="152705" marT="152705"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l" indent="0" marL="0">
                        <a:buNone/>
                      </a:pPr>
                      <a:r>
                        <a:rPr lang="en-US" sz="1125" b="1" dirty="0">
                          <a:solidFill>
                            <a:srgbClr val="5E6877"/>
                          </a:solidFill>
                          <a:latin typeface="ui-monospace" pitchFamily="34" charset="0"/>
                          <a:ea typeface="ui-monospace" pitchFamily="34" charset="-122"/>
                          <a:cs typeface="ui-monospace" pitchFamily="34" charset="-120"/>
                        </a:rPr>
                        <a:t>Mean</a:t>
                      </a:r>
                      <a:endParaRPr lang="en-US" sz="1125" dirty="0">
                        <a:latin typeface="ui-monospace" charset="0"/>
                        <a:ea typeface="ui-monospace" charset="0"/>
                        <a:cs typeface="ui-monospace" charset="0"/>
                      </a:endParaRPr>
                    </a:p>
                  </a:txBody>
                  <a:tcPr marL="152705" marR="152705" marT="152705"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l" indent="0" marL="0">
                        <a:buNone/>
                      </a:pPr>
                      <a:r>
                        <a:rPr lang="en-US" sz="1125" b="1" dirty="0">
                          <a:solidFill>
                            <a:srgbClr val="5E6877"/>
                          </a:solidFill>
                          <a:latin typeface="ui-monospace" pitchFamily="34" charset="0"/>
                          <a:ea typeface="ui-monospace" pitchFamily="34" charset="-122"/>
                          <a:cs typeface="ui-monospace" pitchFamily="34" charset="-120"/>
                        </a:rPr>
                        <a:t>3σ</a:t>
                      </a:r>
                      <a:endParaRPr lang="en-US" sz="1125" dirty="0">
                        <a:latin typeface="ui-monospace" charset="0"/>
                        <a:ea typeface="ui-monospace" charset="0"/>
                        <a:cs typeface="ui-monospace" charset="0"/>
                      </a:endParaRPr>
                    </a:p>
                  </a:txBody>
                  <a:tcPr marL="152705" marR="152705" marT="152705"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l" indent="0" marL="0">
                        <a:buNone/>
                      </a:pPr>
                      <a:r>
                        <a:rPr lang="en-US" sz="1125" b="1" dirty="0">
                          <a:solidFill>
                            <a:srgbClr val="5E6877"/>
                          </a:solidFill>
                          <a:latin typeface="ui-monospace" pitchFamily="34" charset="0"/>
                          <a:ea typeface="ui-monospace" pitchFamily="34" charset="-122"/>
                          <a:cs typeface="ui-monospace" pitchFamily="34" charset="-120"/>
                        </a:rPr>
                        <a:t>Range</a:t>
                      </a:r>
                      <a:endParaRPr lang="en-US" sz="1125" dirty="0">
                        <a:latin typeface="ui-monospace" charset="0"/>
                        <a:ea typeface="ui-monospace" charset="0"/>
                        <a:cs typeface="ui-monospace" charset="0"/>
                      </a:endParaRPr>
                    </a:p>
                  </a:txBody>
                  <a:tcPr marL="152705" marR="152705" marT="152705"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l" indent="0" marL="0">
                        <a:buNone/>
                      </a:pPr>
                      <a:r>
                        <a:rPr lang="en-US" sz="1125" b="1" dirty="0">
                          <a:solidFill>
                            <a:srgbClr val="5E6877"/>
                          </a:solidFill>
                          <a:latin typeface="ui-monospace" pitchFamily="34" charset="0"/>
                          <a:ea typeface="ui-monospace" pitchFamily="34" charset="-122"/>
                          <a:cs typeface="ui-monospace" pitchFamily="34" charset="-120"/>
                        </a:rPr>
                        <a:t>Δ vs target</a:t>
                      </a:r>
                      <a:endParaRPr lang="en-US" sz="1125" dirty="0">
                        <a:latin typeface="ui-monospace" charset="0"/>
                        <a:ea typeface="ui-monospace" charset="0"/>
                        <a:cs typeface="ui-monospace" charset="0"/>
                      </a:endParaRPr>
                    </a:p>
                  </a:txBody>
                  <a:tcPr marL="152705" marR="152705" marT="152705"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79906">
                <a:tc gridSpan="7">
                  <a:txBody>
                    <a:bodyPr/>
                    <a:lstStyle/>
                    <a:p>
                      <a:pPr indent="0" marL="0">
                        <a:buNone/>
                      </a:pPr>
                      <a:r>
                        <a:rPr lang="en-US" sz="975" b="1" dirty="0">
                          <a:solidFill>
                            <a:srgbClr val="5E6877"/>
                          </a:solidFill>
                          <a:latin typeface="Pretendard" pitchFamily="34" charset="0"/>
                          <a:ea typeface="Pretendard" pitchFamily="34" charset="-122"/>
                          <a:cs typeface="Pretendard" pitchFamily="34" charset="-120"/>
                        </a:rPr>
                        <a:t>AASI — After aSi Sidewall Inspection</a:t>
                      </a:r>
                      <a:endParaRPr lang="en-US" sz="975" dirty="0">
                        <a:latin typeface="Pretendard" charset="0"/>
                        <a:ea typeface="Pretendard" charset="0"/>
                        <a:cs typeface="Pretendard" charset="0"/>
                      </a:endParaRPr>
                    </a:p>
                  </a:txBody>
                  <a:tcPr marL="152705" marR="152705" marT="57607" marB="576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4F6FA"/>
                    </a:solidFill>
                  </a:tcPr>
                </a:tc>
                <a:tc hMerge="1">
                  <a:tcPr/>
                </a:tc>
                <a:tc hMerge="1">
                  <a:tcPr/>
                </a:tc>
                <a:tc hMerge="1">
                  <a:tcPr/>
                </a:tc>
                <a:tc hMerge="1">
                  <a:tcPr/>
                </a:tc>
                <a:tc hMerge="1">
                  <a:tcPr/>
                </a:tc>
                <a:tc hMerge="1">
                  <a:tcPr/>
                </a:tc>
              </a:tr>
              <a:tr h="379906">
                <a:tc>
                  <a:txBody>
                    <a:bodyPr/>
                    <a:lstStyle/>
                    <a:p>
                      <a:pPr indent="0" marL="0">
                        <a:buNone/>
                      </a:pPr>
                      <a:r>
                        <a:rPr lang="en-US" sz="1425" b="1" dirty="0">
                          <a:solidFill>
                            <a:srgbClr val="2B5FA0"/>
                          </a:solidFill>
                          <a:latin typeface="ui-monospace" pitchFamily="34" charset="0"/>
                          <a:ea typeface="ui-monospace" pitchFamily="34" charset="-122"/>
                          <a:cs typeface="ui-monospace" pitchFamily="34" charset="-120"/>
                        </a:rPr>
                        <a:t>AASI</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25.6</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W01 · SADP</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25.30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1.42</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7.10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−0.30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79906">
                <a:tc>
                  <a:txBody>
                    <a:bodyPr/>
                    <a:lstStyle/>
                    <a:p>
                      <a:pPr indent="0" marL="0">
                        <a:buNone/>
                      </a:pPr>
                      <a:r>
                        <a:rPr lang="en-US" sz="1425" b="1" dirty="0">
                          <a:solidFill>
                            <a:srgbClr val="B85A2A"/>
                          </a:solidFill>
                          <a:latin typeface="ui-monospace" pitchFamily="34" charset="0"/>
                          <a:ea typeface="ui-monospace" pitchFamily="34" charset="-122"/>
                          <a:cs typeface="ui-monospace" pitchFamily="34" charset="-120"/>
                        </a:rPr>
                        <a:t>AASI</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25.6</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W02 · SALELE</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25.70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1.18</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5.40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+0.10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79906">
                <a:tc>
                  <a:txBody>
                    <a:bodyPr/>
                    <a:lstStyle/>
                    <a:p>
                      <a:pPr indent="0" marL="0">
                        <a:buNone/>
                      </a:pPr>
                      <a:r>
                        <a:rPr lang="en-US" sz="1425" b="1" dirty="0">
                          <a:solidFill>
                            <a:srgbClr val="B85A2A"/>
                          </a:solidFill>
                          <a:latin typeface="ui-monospace" pitchFamily="34" charset="0"/>
                          <a:ea typeface="ui-monospace" pitchFamily="34" charset="-122"/>
                          <a:cs typeface="ui-monospace" pitchFamily="34" charset="-120"/>
                        </a:rPr>
                        <a:t>AASI</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25.6</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W03 · SALELE</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25.50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1.06</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4.80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−0.10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79906">
                <a:tc gridSpan="7">
                  <a:txBody>
                    <a:bodyPr/>
                    <a:lstStyle/>
                    <a:p>
                      <a:pPr indent="0" marL="0">
                        <a:buNone/>
                      </a:pPr>
                      <a:r>
                        <a:rPr lang="en-US" sz="975" b="1" dirty="0">
                          <a:solidFill>
                            <a:srgbClr val="5E6877"/>
                          </a:solidFill>
                          <a:latin typeface="Pretendard" pitchFamily="34" charset="0"/>
                          <a:ea typeface="Pretendard" pitchFamily="34" charset="-122"/>
                          <a:cs typeface="Pretendard" pitchFamily="34" charset="-120"/>
                        </a:rPr>
                        <a:t>ASEI — After Spacer Etch Inspection</a:t>
                      </a:r>
                      <a:endParaRPr lang="en-US" sz="975" dirty="0">
                        <a:latin typeface="Pretendard" charset="0"/>
                        <a:ea typeface="Pretendard" charset="0"/>
                        <a:cs typeface="Pretendard" charset="0"/>
                      </a:endParaRPr>
                    </a:p>
                  </a:txBody>
                  <a:tcPr marL="152705" marR="152705" marT="57607" marB="576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4F6FA"/>
                    </a:solidFill>
                  </a:tcPr>
                </a:tc>
                <a:tc hMerge="1">
                  <a:tcPr/>
                </a:tc>
                <a:tc hMerge="1">
                  <a:tcPr/>
                </a:tc>
                <a:tc hMerge="1">
                  <a:tcPr/>
                </a:tc>
                <a:tc hMerge="1">
                  <a:tcPr/>
                </a:tc>
                <a:tc hMerge="1">
                  <a:tcPr/>
                </a:tc>
                <a:tc hMerge="1">
                  <a:tcPr/>
                </a:tc>
              </a:tr>
              <a:tr h="379906">
                <a:tc>
                  <a:txBody>
                    <a:bodyPr/>
                    <a:lstStyle/>
                    <a:p>
                      <a:pPr indent="0" marL="0">
                        <a:buNone/>
                      </a:pPr>
                      <a:r>
                        <a:rPr lang="en-US" sz="1425" b="1" dirty="0">
                          <a:solidFill>
                            <a:srgbClr val="2B5FA0"/>
                          </a:solidFill>
                          <a:latin typeface="ui-monospace" pitchFamily="34" charset="0"/>
                          <a:ea typeface="ui-monospace" pitchFamily="34" charset="-122"/>
                          <a:cs typeface="ui-monospace" pitchFamily="34" charset="-120"/>
                        </a:rPr>
                        <a:t>ASEI</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17.6</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W01 · SADP</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17.40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1.21</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6.40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−0.20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79906">
                <a:tc>
                  <a:txBody>
                    <a:bodyPr/>
                    <a:lstStyle/>
                    <a:p>
                      <a:pPr indent="0" marL="0">
                        <a:buNone/>
                      </a:pPr>
                      <a:r>
                        <a:rPr lang="en-US" sz="1425" b="1" dirty="0">
                          <a:solidFill>
                            <a:srgbClr val="B85A2A"/>
                          </a:solidFill>
                          <a:latin typeface="ui-monospace" pitchFamily="34" charset="0"/>
                          <a:ea typeface="ui-monospace" pitchFamily="34" charset="-122"/>
                          <a:cs typeface="ui-monospace" pitchFamily="34" charset="-120"/>
                        </a:rPr>
                        <a:t>ASEI</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17.6</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W02 · SALELE</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17.70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0.94</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4.20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+0.10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79906">
                <a:tc>
                  <a:txBody>
                    <a:bodyPr/>
                    <a:lstStyle/>
                    <a:p>
                      <a:pPr indent="0" marL="0">
                        <a:buNone/>
                      </a:pPr>
                      <a:r>
                        <a:rPr lang="en-US" sz="1425" b="1" dirty="0">
                          <a:solidFill>
                            <a:srgbClr val="B85A2A"/>
                          </a:solidFill>
                          <a:latin typeface="ui-monospace" pitchFamily="34" charset="0"/>
                          <a:ea typeface="ui-monospace" pitchFamily="34" charset="-122"/>
                          <a:cs typeface="ui-monospace" pitchFamily="34" charset="-120"/>
                        </a:rPr>
                        <a:t>ASEI</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17.6</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W03 · SALELE</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17.60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0.88</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3.90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0.00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79906">
                <a:tc gridSpan="7">
                  <a:txBody>
                    <a:bodyPr/>
                    <a:lstStyle/>
                    <a:p>
                      <a:pPr indent="0" marL="0">
                        <a:buNone/>
                      </a:pPr>
                      <a:r>
                        <a:rPr lang="en-US" sz="975" b="1" dirty="0">
                          <a:solidFill>
                            <a:srgbClr val="5E6877"/>
                          </a:solidFill>
                          <a:latin typeface="Pretendard" pitchFamily="34" charset="0"/>
                          <a:ea typeface="Pretendard" pitchFamily="34" charset="-122"/>
                          <a:cs typeface="Pretendard" pitchFamily="34" charset="-120"/>
                        </a:rPr>
                        <a:t>AMI — After Metal Inspection</a:t>
                      </a:r>
                      <a:endParaRPr lang="en-US" sz="975" dirty="0">
                        <a:latin typeface="Pretendard" charset="0"/>
                        <a:ea typeface="Pretendard" charset="0"/>
                        <a:cs typeface="Pretendard" charset="0"/>
                      </a:endParaRPr>
                    </a:p>
                  </a:txBody>
                  <a:tcPr marL="152705" marR="152705" marT="57607" marB="576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4F6FA"/>
                    </a:solidFill>
                  </a:tcPr>
                </a:tc>
                <a:tc hMerge="1">
                  <a:tcPr/>
                </a:tc>
                <a:tc hMerge="1">
                  <a:tcPr/>
                </a:tc>
                <a:tc hMerge="1">
                  <a:tcPr/>
                </a:tc>
                <a:tc hMerge="1">
                  <a:tcPr/>
                </a:tc>
                <a:tc hMerge="1">
                  <a:tcPr/>
                </a:tc>
                <a:tc hMerge="1">
                  <a:tcPr/>
                </a:tc>
              </a:tr>
              <a:tr h="379906">
                <a:tc>
                  <a:txBody>
                    <a:bodyPr/>
                    <a:lstStyle/>
                    <a:p>
                      <a:pPr indent="0" marL="0">
                        <a:buNone/>
                      </a:pPr>
                      <a:r>
                        <a:rPr lang="en-US" sz="1425" b="1" dirty="0">
                          <a:solidFill>
                            <a:srgbClr val="2B5FA0"/>
                          </a:solidFill>
                          <a:latin typeface="ui-monospace" pitchFamily="34" charset="0"/>
                          <a:ea typeface="ui-monospace" pitchFamily="34" charset="-122"/>
                          <a:cs typeface="ui-monospace" pitchFamily="34" charset="-120"/>
                        </a:rPr>
                        <a:t>AMI</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8.2</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W01 · SADP</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8.40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0.86</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4.50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+0.20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79906">
                <a:tc>
                  <a:txBody>
                    <a:bodyPr/>
                    <a:lstStyle/>
                    <a:p>
                      <a:pPr indent="0" marL="0">
                        <a:buNone/>
                      </a:pPr>
                      <a:r>
                        <a:rPr lang="en-US" sz="1425" b="1" dirty="0">
                          <a:solidFill>
                            <a:srgbClr val="B85A2A"/>
                          </a:solidFill>
                          <a:latin typeface="ui-monospace" pitchFamily="34" charset="0"/>
                          <a:ea typeface="ui-monospace" pitchFamily="34" charset="-122"/>
                          <a:cs typeface="ui-monospace" pitchFamily="34" charset="-120"/>
                        </a:rPr>
                        <a:t>AMI</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8.2</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W02 · SALELE</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8.10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0.62</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2.70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−0.10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79906">
                <a:tc>
                  <a:txBody>
                    <a:bodyPr/>
                    <a:lstStyle/>
                    <a:p>
                      <a:pPr indent="0" marL="0">
                        <a:buNone/>
                      </a:pPr>
                      <a:r>
                        <a:rPr lang="en-US" sz="1425" b="1" dirty="0">
                          <a:solidFill>
                            <a:srgbClr val="B85A2A"/>
                          </a:solidFill>
                          <a:latin typeface="ui-monospace" pitchFamily="34" charset="0"/>
                          <a:ea typeface="ui-monospace" pitchFamily="34" charset="-122"/>
                          <a:cs typeface="ui-monospace" pitchFamily="34" charset="-120"/>
                        </a:rPr>
                        <a:t>AMI</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8.2</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W03 · SALELE</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8.20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0.58</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2.50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0.00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79906">
                <a:tc gridSpan="7">
                  <a:txBody>
                    <a:bodyPr/>
                    <a:lstStyle/>
                    <a:p>
                      <a:pPr indent="0" marL="0">
                        <a:buNone/>
                      </a:pPr>
                      <a:r>
                        <a:rPr lang="en-US" sz="975" b="1" dirty="0">
                          <a:solidFill>
                            <a:srgbClr val="5E6877"/>
                          </a:solidFill>
                          <a:latin typeface="Pretendard" pitchFamily="34" charset="0"/>
                          <a:ea typeface="Pretendard" pitchFamily="34" charset="-122"/>
                          <a:cs typeface="Pretendard" pitchFamily="34" charset="-120"/>
                        </a:rPr>
                        <a:t>ACI — After Cut Inspection</a:t>
                      </a:r>
                      <a:endParaRPr lang="en-US" sz="975" dirty="0">
                        <a:latin typeface="Pretendard" charset="0"/>
                        <a:ea typeface="Pretendard" charset="0"/>
                        <a:cs typeface="Pretendard" charset="0"/>
                      </a:endParaRPr>
                    </a:p>
                  </a:txBody>
                  <a:tcPr marL="152705" marR="152705" marT="57607" marB="576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4F6FA"/>
                    </a:solidFill>
                  </a:tcPr>
                </a:tc>
                <a:tc hMerge="1">
                  <a:tcPr/>
                </a:tc>
                <a:tc hMerge="1">
                  <a:tcPr/>
                </a:tc>
                <a:tc hMerge="1">
                  <a:tcPr/>
                </a:tc>
                <a:tc hMerge="1">
                  <a:tcPr/>
                </a:tc>
                <a:tc hMerge="1">
                  <a:tcPr/>
                </a:tc>
                <a:tc hMerge="1">
                  <a:tcPr/>
                </a:tc>
              </a:tr>
              <a:tr h="379906">
                <a:tc>
                  <a:txBody>
                    <a:bodyPr/>
                    <a:lstStyle/>
                    <a:p>
                      <a:pPr indent="0" marL="0">
                        <a:buNone/>
                      </a:pPr>
                      <a:r>
                        <a:rPr lang="en-US" sz="1425" b="1" dirty="0">
                          <a:solidFill>
                            <a:srgbClr val="2B5FA0"/>
                          </a:solidFill>
                          <a:latin typeface="ui-monospace" pitchFamily="34" charset="0"/>
                          <a:ea typeface="ui-monospace" pitchFamily="34" charset="-122"/>
                          <a:cs typeface="ui-monospace" pitchFamily="34" charset="-120"/>
                        </a:rPr>
                        <a:t>ACI</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9.7</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W01 · SADP</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9.50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0.78</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4.10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−0.20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79906">
                <a:tc>
                  <a:txBody>
                    <a:bodyPr/>
                    <a:lstStyle/>
                    <a:p>
                      <a:pPr indent="0" marL="0">
                        <a:buNone/>
                      </a:pPr>
                      <a:r>
                        <a:rPr lang="en-US" sz="1425" b="1" dirty="0">
                          <a:solidFill>
                            <a:srgbClr val="B85A2A"/>
                          </a:solidFill>
                          <a:latin typeface="ui-monospace" pitchFamily="34" charset="0"/>
                          <a:ea typeface="ui-monospace" pitchFamily="34" charset="-122"/>
                          <a:cs typeface="ui-monospace" pitchFamily="34" charset="-120"/>
                        </a:rPr>
                        <a:t>ACI</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9.7</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W02 · SALELE</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9.80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0.66</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2.90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+0.10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79906">
                <a:tc>
                  <a:txBody>
                    <a:bodyPr/>
                    <a:lstStyle/>
                    <a:p>
                      <a:pPr indent="0" marL="0">
                        <a:buNone/>
                      </a:pPr>
                      <a:r>
                        <a:rPr lang="en-US" sz="1425" b="1" dirty="0">
                          <a:solidFill>
                            <a:srgbClr val="B85A2A"/>
                          </a:solidFill>
                          <a:latin typeface="ui-monospace" pitchFamily="34" charset="0"/>
                          <a:ea typeface="ui-monospace" pitchFamily="34" charset="-122"/>
                          <a:cs typeface="ui-monospace" pitchFamily="34" charset="-120"/>
                        </a:rPr>
                        <a:t>ACI</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9.7</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W03 · SALELE</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9.60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0.61</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2.70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425" dirty="0">
                          <a:solidFill>
                            <a:srgbClr val="11233A"/>
                          </a:solidFill>
                          <a:latin typeface="ui-monospace" pitchFamily="34" charset="0"/>
                          <a:ea typeface="ui-monospace" pitchFamily="34" charset="-122"/>
                          <a:cs typeface="ui-monospace" pitchFamily="34" charset="-120"/>
                        </a:rPr>
                        <a:t>−0.10</a:t>
                      </a:r>
                      <a:endParaRPr lang="en-US" sz="1425" dirty="0">
                        <a:latin typeface="ui-monospace" charset="0"/>
                        <a:ea typeface="ui-monospace" charset="0"/>
                        <a:cs typeface="ui-monospace" charset="0"/>
                      </a:endParaRPr>
                    </a:p>
                  </a:txBody>
                  <a:tcPr marL="152705" marR="152705" marT="85954" marB="8595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pic>
        <p:nvPicPr>
          <p:cNvPr id="6" name="Image 1" descr="gen-dedup-f71ef491c41f6e00b0c61beb262e47fb.png">    </p:cNvPr>
          <p:cNvPicPr>
            <a:picLocks noChangeAspect="1"/>
          </p:cNvPicPr>
          <p:nvPr/>
        </p:nvPicPr>
        <p:blipFill>
          <a:blip r:embed="rId2"/>
          <a:srcRect l="-369" r="-369" t="0" b="0"/>
          <a:stretch/>
        </p:blipFill>
        <p:spPr>
          <a:xfrm>
            <a:off x="761695" y="8496605"/>
            <a:ext cx="38405" cy="743407"/>
          </a:xfrm>
          <a:prstGeom prst="rect">
            <a:avLst/>
          </a:prstGeom>
        </p:spPr>
      </p:pic>
      <p:pic>
        <p:nvPicPr>
          <p:cNvPr id="7" name="Image 2" descr="gen-dedup-3edb1d0f3967ac1146e2986c324ceef0.png">    </p:cNvPr>
          <p:cNvPicPr>
            <a:picLocks noChangeAspect="1"/>
          </p:cNvPicPr>
          <p:nvPr/>
        </p:nvPicPr>
        <p:blipFill>
          <a:blip r:embed="rId3"/>
          <a:srcRect l="-2083" r="-2083" t="0" b="0"/>
          <a:stretch/>
        </p:blipFill>
        <p:spPr>
          <a:xfrm>
            <a:off x="761695" y="9506102"/>
            <a:ext cx="16763695" cy="9144"/>
          </a:xfrm>
          <a:prstGeom prst="rect">
            <a:avLst/>
          </a:prstGeom>
        </p:spPr>
      </p:pic>
      <p:sp>
        <p:nvSpPr>
          <p:cNvPr id="8" name="Text 1"/>
          <p:cNvSpPr txBox="1"/>
          <p:nvPr/>
        </p:nvSpPr>
        <p:spPr>
          <a:xfrm>
            <a:off x="761695" y="685800"/>
            <a:ext cx="14287500" cy="476402"/>
          </a:xfrm>
          <a:prstGeom prst="rect">
            <a:avLst/>
          </a:prstGeom>
          <a:noFill/>
          <a:ln/>
        </p:spPr>
        <p:txBody>
          <a:bodyPr wrap="none" lIns="0" tIns="0" rIns="0" bIns="0" rtlCol="0" anchor="ctr"/>
          <a:lstStyle/>
          <a:p>
            <a:pPr algn="l" indent="0" marL="0">
              <a:buNone/>
            </a:pPr>
            <a:r>
              <a:rPr lang="en-US" sz="3150" b="1" spc="-31" kern="0" dirty="0">
                <a:solidFill>
                  <a:srgbClr val="11233A"/>
                </a:solidFill>
                <a:latin typeface="Pretendard" pitchFamily="34" charset="0"/>
                <a:ea typeface="Pretendard" pitchFamily="34" charset="-122"/>
                <a:cs typeface="Pretendard" pitchFamily="34" charset="-120"/>
              </a:rPr>
              <a:t>CD Variation 결과</a:t>
            </a:r>
            <a:endParaRPr lang="en-US" sz="3150" dirty="0"/>
          </a:p>
        </p:txBody>
      </p:sp>
      <p:sp>
        <p:nvSpPr>
          <p:cNvPr id="9" name="Text 2"/>
          <p:cNvSpPr txBox="1"/>
          <p:nvPr/>
        </p:nvSpPr>
        <p:spPr>
          <a:xfrm>
            <a:off x="761695" y="1252728"/>
            <a:ext cx="14287500" cy="247802"/>
          </a:xfrm>
          <a:prstGeom prst="rect">
            <a:avLst/>
          </a:prstGeom>
          <a:noFill/>
          <a:ln/>
        </p:spPr>
        <p:txBody>
          <a:bodyPr wrap="none" lIns="0" tIns="0" rIns="0" bIns="0" rtlCol="0" anchor="ctr"/>
          <a:lstStyle/>
          <a:p>
            <a:pPr algn="l" indent="0" marL="0">
              <a:buNone/>
            </a:pPr>
            <a:r>
              <a:rPr lang="en-US" sz="1350" dirty="0">
                <a:solidFill>
                  <a:srgbClr val="5E6877"/>
                </a:solidFill>
                <a:latin typeface="Pretendard" pitchFamily="34" charset="0"/>
                <a:ea typeface="Pretendard" pitchFamily="34" charset="-122"/>
                <a:cs typeface="Pretendard" pitchFamily="34" charset="-120"/>
              </a:rPr>
              <a:t>AASI · ASEI · AMI · ACI – wafer별 mean / 3σ / range / Δ vs target (단위 nm)</a:t>
            </a:r>
            <a:endParaRPr lang="en-US" sz="1350" dirty="0"/>
          </a:p>
        </p:txBody>
      </p:sp>
      <p:sp>
        <p:nvSpPr>
          <p:cNvPr id="10" name="Text 3"/>
          <p:cNvSpPr txBox="1"/>
          <p:nvPr/>
        </p:nvSpPr>
        <p:spPr>
          <a:xfrm>
            <a:off x="990295" y="8515807"/>
            <a:ext cx="16536010" cy="191110"/>
          </a:xfrm>
          <a:prstGeom prst="rect">
            <a:avLst/>
          </a:prstGeom>
          <a:noFill/>
          <a:ln/>
        </p:spPr>
        <p:txBody>
          <a:bodyPr wrap="none" lIns="0" tIns="0" rIns="0" bIns="0" rtlCol="0" anchor="ctr"/>
          <a:lstStyle/>
          <a:p>
            <a:pPr algn="l" indent="0" marL="0">
              <a:buNone/>
            </a:pPr>
            <a:r>
              <a:rPr lang="en-US" sz="1050" b="1" spc="63" kern="0" dirty="0">
                <a:solidFill>
                  <a:srgbClr val="5E6877"/>
                </a:solidFill>
                <a:latin typeface="Pretendard" pitchFamily="34" charset="0"/>
                <a:ea typeface="Pretendard" pitchFamily="34" charset="-122"/>
                <a:cs typeface="Pretendard" pitchFamily="34" charset="-120"/>
              </a:rPr>
              <a:t>한 줄 결론</a:t>
            </a:r>
            <a:endParaRPr lang="en-US" sz="1050" dirty="0"/>
          </a:p>
        </p:txBody>
      </p:sp>
      <p:sp>
        <p:nvSpPr>
          <p:cNvPr id="11" name="Text 4"/>
          <p:cNvSpPr txBox="1"/>
          <p:nvPr/>
        </p:nvSpPr>
        <p:spPr>
          <a:xfrm>
            <a:off x="990295" y="8762695"/>
            <a:ext cx="16536010" cy="295351"/>
          </a:xfrm>
          <a:prstGeom prst="rect">
            <a:avLst/>
          </a:prstGeom>
          <a:noFill/>
          <a:ln/>
        </p:spPr>
        <p:txBody>
          <a:bodyPr wrap="none" lIns="0" tIns="0" rIns="0" bIns="0" rtlCol="0" anchor="ctr"/>
          <a:lstStyle/>
          <a:p>
            <a:pPr algn="l" indent="0" marL="0">
              <a:buNone/>
            </a:pPr>
            <a:r>
              <a:rPr lang="en-US" sz="1650" dirty="0">
                <a:solidFill>
                  <a:srgbClr val="11233A"/>
                </a:solidFill>
                <a:latin typeface="Pretendard" pitchFamily="34" charset="0"/>
                <a:ea typeface="Pretendard" pitchFamily="34" charset="-122"/>
                <a:cs typeface="Pretendard" pitchFamily="34" charset="-120"/>
              </a:rPr>
              <a:t>SALELE wafer(W02·W03)는 4개 메트릭 모두 mean을 ±0.2 nm 내로 유지하면서 3σ는 22–38 %, range는 28–46 % 축소해 SADP 대비 우세하다.</a:t>
            </a:r>
            <a:endParaRPr lang="en-US" sz="1650" dirty="0"/>
          </a:p>
        </p:txBody>
      </p:sp>
      <p:sp>
        <p:nvSpPr>
          <p:cNvPr id="12" name="Text 5"/>
          <p:cNvSpPr txBox="1"/>
          <p:nvPr/>
        </p:nvSpPr>
        <p:spPr>
          <a:xfrm>
            <a:off x="761695" y="9658807"/>
            <a:ext cx="16764610" cy="181051"/>
          </a:xfrm>
          <a:prstGeom prst="rect">
            <a:avLst/>
          </a:prstGeom>
          <a:noFill/>
          <a:ln/>
        </p:spPr>
        <p:txBody>
          <a:bodyPr wrap="none" lIns="0" tIns="0" rIns="0" bIns="0" rtlCol="0" anchor="ctr"/>
          <a:lstStyle/>
          <a:p>
            <a:pPr algn="l" indent="0" marL="0">
              <a:buNone/>
            </a:pPr>
            <a:r>
              <a:rPr lang="en-US" sz="975" dirty="0">
                <a:solidFill>
                  <a:srgbClr val="5E6877"/>
                </a:solidFill>
                <a:latin typeface="Pretendard" pitchFamily="34" charset="0"/>
                <a:ea typeface="Pretendard" pitchFamily="34" charset="-122"/>
                <a:cs typeface="Pretendard" pitchFamily="34" charset="-120"/>
              </a:rPr>
              <a:t>※ 내부 테스트용 더미(가상) 데이터</a:t>
            </a:r>
            <a:endParaRPr lang="en-US" sz="9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2F6"/>
        </a:solidFill>
      </p:bgPr>
    </p:bg>
    <p:spTree>
      <p:nvGrpSpPr>
        <p:cNvPr id="1" name=""/>
        <p:cNvGrpSpPr/>
        <p:nvPr/>
      </p:nvGrpSpPr>
      <p:grpSpPr>
        <a:xfrm>
          <a:off x="0" y="0"/>
          <a:ext cx="0" cy="0"/>
          <a:chOff x="0" y="0"/>
          <a:chExt cx="0" cy="0"/>
        </a:xfrm>
      </p:grpSpPr>
      <p:pic>
        <p:nvPicPr>
          <p:cNvPr id="3" name="Image 0" descr="gen-dedup-e28139ceb6f19fd95cd8e028518f0f6b.png">    </p:cNvPr>
          <p:cNvPicPr>
            <a:picLocks noChangeAspect="1"/>
          </p:cNvPicPr>
          <p:nvPr/>
        </p:nvPicPr>
        <p:blipFill>
          <a:blip r:embed="rId1"/>
          <a:srcRect l="0" r="0" t="-420" b="-420"/>
          <a:stretch/>
        </p:blipFill>
        <p:spPr>
          <a:xfrm>
            <a:off x="761695" y="1790395"/>
            <a:ext cx="761695" cy="38405"/>
          </a:xfrm>
          <a:prstGeom prst="rect">
            <a:avLst/>
          </a:prstGeom>
        </p:spPr>
      </p:pic>
      <p:sp>
        <p:nvSpPr>
          <p:cNvPr id="4" name="Shape 0"/>
          <p:cNvSpPr/>
          <p:nvPr/>
        </p:nvSpPr>
        <p:spPr>
          <a:xfrm>
            <a:off x="1143000" y="2018995"/>
            <a:ext cx="16002000" cy="1238098"/>
          </a:xfrm>
          <a:prstGeom prst="rect">
            <a:avLst/>
          </a:prstGeom>
          <a:solidFill>
            <a:srgbClr val="FFFFFF"/>
          </a:solidFill>
          <a:ln w="12700">
            <a:solidFill>
              <a:srgbClr val="FFFFFF">
                <a:alpha val="0"/>
              </a:srgbClr>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1143000" y="2018995"/>
          <a:ext cx="16002000" cy="2115007"/>
        </p:xfrm>
        <a:graphic>
          <a:graphicData uri="http://schemas.openxmlformats.org/drawingml/2006/table">
            <a:tbl>
              <a:tblPr/>
              <a:tblGrid>
                <a:gridCol w="2432304"/>
                <a:gridCol w="2731313"/>
                <a:gridCol w="2731313"/>
                <a:gridCol w="2731313"/>
                <a:gridCol w="5375758"/>
              </a:tblGrid>
              <a:tr h="528752">
                <a:tc>
                  <a:txBody>
                    <a:bodyPr/>
                    <a:lstStyle/>
                    <a:p>
                      <a:pPr algn="l" indent="0" marL="0">
                        <a:buNone/>
                      </a:pPr>
                      <a:r>
                        <a:rPr lang="en-US" sz="1200" b="1" dirty="0">
                          <a:solidFill>
                            <a:srgbClr val="5E6877"/>
                          </a:solidFill>
                          <a:latin typeface="ui-monospace" pitchFamily="34" charset="0"/>
                          <a:ea typeface="ui-monospace" pitchFamily="34" charset="-122"/>
                          <a:cs typeface="ui-monospace" pitchFamily="34" charset="-120"/>
                        </a:rPr>
                        <a:t>Wafer · split</a:t>
                      </a:r>
                      <a:endParaRPr lang="en-US" sz="1200" dirty="0">
                        <a:latin typeface="ui-monospace" charset="0"/>
                        <a:ea typeface="ui-monospace" charset="0"/>
                        <a:cs typeface="ui-monospace" charset="0"/>
                      </a:endParaRPr>
                    </a:p>
                  </a:txBody>
                  <a:tcPr marL="171907" marR="171907" marT="114300" marB="114300"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algn="l" indent="0" marL="0">
                        <a:buNone/>
                      </a:pPr>
                      <a:r>
                        <a:rPr lang="en-US" sz="1200" b="1" dirty="0">
                          <a:solidFill>
                            <a:srgbClr val="5E6877"/>
                          </a:solidFill>
                          <a:latin typeface="ui-monospace" pitchFamily="34" charset="0"/>
                          <a:ea typeface="ui-monospace" pitchFamily="34" charset="-122"/>
                          <a:cs typeface="ui-monospace" pitchFamily="34" charset="-120"/>
                        </a:rPr>
                        <a:t>Mean AMI (nm)</a:t>
                      </a:r>
                      <a:endParaRPr lang="en-US" sz="1200" dirty="0">
                        <a:latin typeface="ui-monospace" charset="0"/>
                        <a:ea typeface="ui-monospace" charset="0"/>
                        <a:cs typeface="ui-monospace" charset="0"/>
                      </a:endParaRPr>
                    </a:p>
                  </a:txBody>
                  <a:tcPr marL="171907" marR="171907" marT="114300" marB="114300"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algn="l" indent="0" marL="0">
                        <a:buNone/>
                      </a:pPr>
                      <a:r>
                        <a:rPr lang="en-US" sz="1200" b="1" dirty="0">
                          <a:solidFill>
                            <a:srgbClr val="5E6877"/>
                          </a:solidFill>
                          <a:latin typeface="ui-monospace" pitchFamily="34" charset="0"/>
                          <a:ea typeface="ui-monospace" pitchFamily="34" charset="-122"/>
                          <a:cs typeface="ui-monospace" pitchFamily="34" charset="-120"/>
                        </a:rPr>
                        <a:t>3σ (nm)</a:t>
                      </a:r>
                      <a:endParaRPr lang="en-US" sz="1200" dirty="0">
                        <a:latin typeface="ui-monospace" charset="0"/>
                        <a:ea typeface="ui-monospace" charset="0"/>
                        <a:cs typeface="ui-monospace" charset="0"/>
                      </a:endParaRPr>
                    </a:p>
                  </a:txBody>
                  <a:tcPr marL="171907" marR="171907" marT="114300" marB="114300"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algn="l" indent="0" marL="0">
                        <a:buNone/>
                      </a:pPr>
                      <a:r>
                        <a:rPr lang="en-US" sz="1200" b="1" dirty="0">
                          <a:solidFill>
                            <a:srgbClr val="5E6877"/>
                          </a:solidFill>
                          <a:latin typeface="ui-monospace" pitchFamily="34" charset="0"/>
                          <a:ea typeface="ui-monospace" pitchFamily="34" charset="-122"/>
                          <a:cs typeface="ui-monospace" pitchFamily="34" charset="-120"/>
                        </a:rPr>
                        <a:t>Range (nm)</a:t>
                      </a:r>
                      <a:endParaRPr lang="en-US" sz="1200" dirty="0">
                        <a:latin typeface="ui-monospace" charset="0"/>
                        <a:ea typeface="ui-monospace" charset="0"/>
                        <a:cs typeface="ui-monospace" charset="0"/>
                      </a:endParaRPr>
                    </a:p>
                  </a:txBody>
                  <a:tcPr marL="171907" marR="171907" marT="114300" marB="114300"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algn="l" indent="0" marL="0">
                        <a:buNone/>
                      </a:pPr>
                      <a:r>
                        <a:rPr lang="en-US" sz="1200" b="1" dirty="0">
                          <a:solidFill>
                            <a:srgbClr val="5E6877"/>
                          </a:solidFill>
                          <a:latin typeface="ui-monospace" pitchFamily="34" charset="0"/>
                          <a:ea typeface="ui-monospace" pitchFamily="34" charset="-122"/>
                          <a:cs typeface="ui-monospace" pitchFamily="34" charset="-120"/>
                        </a:rPr>
                        <a:t>49 pt 분포 요약</a:t>
                      </a:r>
                      <a:endParaRPr lang="en-US" sz="1200" dirty="0">
                        <a:latin typeface="ui-monospace" charset="0"/>
                        <a:ea typeface="ui-monospace" charset="0"/>
                        <a:cs typeface="ui-monospace" charset="0"/>
                      </a:endParaRPr>
                    </a:p>
                  </a:txBody>
                  <a:tcPr marL="171907" marR="171907" marT="114300" marB="114300"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r>
              <a:tr h="528752">
                <a:tc>
                  <a:txBody>
                    <a:bodyPr/>
                    <a:lstStyle/>
                    <a:p>
                      <a:pPr indent="0" marL="0">
                        <a:buNone/>
                      </a:pPr>
                      <a:r>
                        <a:rPr lang="en-US" sz="1650" b="1" dirty="0">
                          <a:solidFill>
                            <a:srgbClr val="2B5FA0"/>
                          </a:solidFill>
                          <a:latin typeface="ui-monospace" pitchFamily="34" charset="0"/>
                          <a:ea typeface="ui-monospace" pitchFamily="34" charset="-122"/>
                          <a:cs typeface="ui-monospace" pitchFamily="34" charset="-120"/>
                        </a:rPr>
                        <a:t>W01</a:t>
                      </a:r>
                      <a:pPr indent="0" marL="0">
                        <a:buNone/>
                      </a:pPr>
                      <a:r>
                        <a:rPr lang="en-US" sz="1650" dirty="0">
                          <a:solidFill>
                            <a:srgbClr val="11233A"/>
                          </a:solidFill>
                          <a:latin typeface="ui-monospace" pitchFamily="34" charset="0"/>
                          <a:ea typeface="ui-monospace" pitchFamily="34" charset="-122"/>
                          <a:cs typeface="ui-monospace" pitchFamily="34" charset="-120"/>
                        </a:rPr>
                        <a:t> · SADP</a:t>
                      </a:r>
                      <a:endParaRPr lang="en-US" sz="1200" dirty="0"/>
                    </a:p>
                  </a:txBody>
                  <a:tcPr marL="171907" marR="171907" marT="133502" marB="133502"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indent="0" marL="0">
                        <a:buNone/>
                      </a:pPr>
                      <a:r>
                        <a:rPr lang="en-US" sz="1650" dirty="0">
                          <a:solidFill>
                            <a:srgbClr val="11233A"/>
                          </a:solidFill>
                          <a:latin typeface="ui-monospace" pitchFamily="34" charset="0"/>
                          <a:ea typeface="ui-monospace" pitchFamily="34" charset="-122"/>
                          <a:cs typeface="ui-monospace" pitchFamily="34" charset="-120"/>
                        </a:rPr>
                        <a:t>8.40</a:t>
                      </a:r>
                      <a:endParaRPr lang="en-US" sz="1650" dirty="0">
                        <a:latin typeface="ui-monospace" charset="0"/>
                        <a:ea typeface="ui-monospace" charset="0"/>
                        <a:cs typeface="ui-monospace" charset="0"/>
                      </a:endParaRPr>
                    </a:p>
                  </a:txBody>
                  <a:tcPr marL="171907" marR="171907" marT="133502" marB="133502"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indent="0" marL="0">
                        <a:buNone/>
                      </a:pPr>
                      <a:r>
                        <a:rPr lang="en-US" sz="1650" dirty="0">
                          <a:solidFill>
                            <a:srgbClr val="11233A"/>
                          </a:solidFill>
                          <a:latin typeface="ui-monospace" pitchFamily="34" charset="0"/>
                          <a:ea typeface="ui-monospace" pitchFamily="34" charset="-122"/>
                          <a:cs typeface="ui-monospace" pitchFamily="34" charset="-120"/>
                        </a:rPr>
                        <a:t>0.86</a:t>
                      </a:r>
                      <a:endParaRPr lang="en-US" sz="1650" dirty="0">
                        <a:latin typeface="ui-monospace" charset="0"/>
                        <a:ea typeface="ui-monospace" charset="0"/>
                        <a:cs typeface="ui-monospace" charset="0"/>
                      </a:endParaRPr>
                    </a:p>
                  </a:txBody>
                  <a:tcPr marL="171907" marR="171907" marT="133502" marB="133502"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indent="0" marL="0">
                        <a:buNone/>
                      </a:pPr>
                      <a:r>
                        <a:rPr lang="en-US" sz="1650" dirty="0">
                          <a:solidFill>
                            <a:srgbClr val="11233A"/>
                          </a:solidFill>
                          <a:latin typeface="ui-monospace" pitchFamily="34" charset="0"/>
                          <a:ea typeface="ui-monospace" pitchFamily="34" charset="-122"/>
                          <a:cs typeface="ui-monospace" pitchFamily="34" charset="-120"/>
                        </a:rPr>
                        <a:t>4.50</a:t>
                      </a:r>
                      <a:endParaRPr lang="en-US" sz="1650" dirty="0">
                        <a:latin typeface="ui-monospace" charset="0"/>
                        <a:ea typeface="ui-monospace" charset="0"/>
                        <a:cs typeface="ui-monospace" charset="0"/>
                      </a:endParaRPr>
                    </a:p>
                  </a:txBody>
                  <a:tcPr marL="171907" marR="171907" marT="133502" marB="133502"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indent="0" marL="0">
                        <a:buNone/>
                      </a:pPr>
                      <a:r>
                        <a:rPr lang="en-US" sz="1350" dirty="0">
                          <a:solidFill>
                            <a:srgbClr val="5E6877"/>
                          </a:solidFill>
                          <a:latin typeface="Pretendard" pitchFamily="34" charset="0"/>
                          <a:ea typeface="Pretendard" pitchFamily="34" charset="-122"/>
                          <a:cs typeface="Pretendard" pitchFamily="34" charset="-120"/>
                        </a:rPr>
                        <a:t>가장자리 링 강하게, ±1 nm 초과 사이트 8 곳</a:t>
                      </a:r>
                      <a:endParaRPr lang="en-US" sz="1350" dirty="0">
                        <a:latin typeface="Pretendard" charset="0"/>
                        <a:ea typeface="Pretendard" charset="0"/>
                        <a:cs typeface="Pretendard" charset="0"/>
                      </a:endParaRPr>
                    </a:p>
                  </a:txBody>
                  <a:tcPr marL="171907" marR="171907" marT="133502" marB="133502"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r>
              <a:tr h="528752">
                <a:tc>
                  <a:txBody>
                    <a:bodyPr/>
                    <a:lstStyle/>
                    <a:p>
                      <a:pPr indent="0" marL="0">
                        <a:buNone/>
                      </a:pPr>
                      <a:r>
                        <a:rPr lang="en-US" sz="1650" b="1" dirty="0">
                          <a:solidFill>
                            <a:srgbClr val="B85A2A"/>
                          </a:solidFill>
                          <a:latin typeface="ui-monospace" pitchFamily="34" charset="0"/>
                          <a:ea typeface="ui-monospace" pitchFamily="34" charset="-122"/>
                          <a:cs typeface="ui-monospace" pitchFamily="34" charset="-120"/>
                        </a:rPr>
                        <a:t>W02</a:t>
                      </a:r>
                      <a:pPr indent="0" marL="0">
                        <a:buNone/>
                      </a:pPr>
                      <a:r>
                        <a:rPr lang="en-US" sz="1650" dirty="0">
                          <a:solidFill>
                            <a:srgbClr val="11233A"/>
                          </a:solidFill>
                          <a:latin typeface="ui-monospace" pitchFamily="34" charset="0"/>
                          <a:ea typeface="ui-monospace" pitchFamily="34" charset="-122"/>
                          <a:cs typeface="ui-monospace" pitchFamily="34" charset="-120"/>
                        </a:rPr>
                        <a:t> · SALELE</a:t>
                      </a:r>
                      <a:endParaRPr lang="en-US" sz="1200" dirty="0"/>
                    </a:p>
                  </a:txBody>
                  <a:tcPr marL="171907" marR="171907" marT="133502" marB="133502"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indent="0" marL="0">
                        <a:buNone/>
                      </a:pPr>
                      <a:r>
                        <a:rPr lang="en-US" sz="1650" dirty="0">
                          <a:solidFill>
                            <a:srgbClr val="11233A"/>
                          </a:solidFill>
                          <a:latin typeface="ui-monospace" pitchFamily="34" charset="0"/>
                          <a:ea typeface="ui-monospace" pitchFamily="34" charset="-122"/>
                          <a:cs typeface="ui-monospace" pitchFamily="34" charset="-120"/>
                        </a:rPr>
                        <a:t>8.10</a:t>
                      </a:r>
                      <a:endParaRPr lang="en-US" sz="1650" dirty="0">
                        <a:latin typeface="ui-monospace" charset="0"/>
                        <a:ea typeface="ui-monospace" charset="0"/>
                        <a:cs typeface="ui-monospace" charset="0"/>
                      </a:endParaRPr>
                    </a:p>
                  </a:txBody>
                  <a:tcPr marL="171907" marR="171907" marT="133502" marB="133502"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indent="0" marL="0">
                        <a:buNone/>
                      </a:pPr>
                      <a:r>
                        <a:rPr lang="en-US" sz="1650" dirty="0">
                          <a:solidFill>
                            <a:srgbClr val="11233A"/>
                          </a:solidFill>
                          <a:latin typeface="ui-monospace" pitchFamily="34" charset="0"/>
                          <a:ea typeface="ui-monospace" pitchFamily="34" charset="-122"/>
                          <a:cs typeface="ui-monospace" pitchFamily="34" charset="-120"/>
                        </a:rPr>
                        <a:t>0.62</a:t>
                      </a:r>
                      <a:endParaRPr lang="en-US" sz="1650" dirty="0">
                        <a:latin typeface="ui-monospace" charset="0"/>
                        <a:ea typeface="ui-monospace" charset="0"/>
                        <a:cs typeface="ui-monospace" charset="0"/>
                      </a:endParaRPr>
                    </a:p>
                  </a:txBody>
                  <a:tcPr marL="171907" marR="171907" marT="133502" marB="133502"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indent="0" marL="0">
                        <a:buNone/>
                      </a:pPr>
                      <a:r>
                        <a:rPr lang="en-US" sz="1650" dirty="0">
                          <a:solidFill>
                            <a:srgbClr val="11233A"/>
                          </a:solidFill>
                          <a:latin typeface="ui-monospace" pitchFamily="34" charset="0"/>
                          <a:ea typeface="ui-monospace" pitchFamily="34" charset="-122"/>
                          <a:cs typeface="ui-monospace" pitchFamily="34" charset="-120"/>
                        </a:rPr>
                        <a:t>2.70</a:t>
                      </a:r>
                      <a:endParaRPr lang="en-US" sz="1650" dirty="0">
                        <a:latin typeface="ui-monospace" charset="0"/>
                        <a:ea typeface="ui-monospace" charset="0"/>
                        <a:cs typeface="ui-monospace" charset="0"/>
                      </a:endParaRPr>
                    </a:p>
                  </a:txBody>
                  <a:tcPr marL="171907" marR="171907" marT="133502" marB="133502"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indent="0" marL="0">
                        <a:buNone/>
                      </a:pPr>
                      <a:r>
                        <a:rPr lang="en-US" sz="1350" dirty="0">
                          <a:solidFill>
                            <a:srgbClr val="5E6877"/>
                          </a:solidFill>
                          <a:latin typeface="Pretendard" pitchFamily="34" charset="0"/>
                          <a:ea typeface="Pretendard" pitchFamily="34" charset="-122"/>
                          <a:cs typeface="Pretendard" pitchFamily="34" charset="-120"/>
                        </a:rPr>
                        <a:t>±0.5 nm 내 사이트 44 곳, 가장자리 편차 약 0.2 nm</a:t>
                      </a:r>
                      <a:endParaRPr lang="en-US" sz="1350" dirty="0">
                        <a:latin typeface="Pretendard" charset="0"/>
                        <a:ea typeface="Pretendard" charset="0"/>
                        <a:cs typeface="Pretendard" charset="0"/>
                      </a:endParaRPr>
                    </a:p>
                  </a:txBody>
                  <a:tcPr marL="171907" marR="171907" marT="133502" marB="133502"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r>
              <a:tr h="528752">
                <a:tc>
                  <a:txBody>
                    <a:bodyPr/>
                    <a:lstStyle/>
                    <a:p>
                      <a:pPr indent="0" marL="0">
                        <a:buNone/>
                      </a:pPr>
                      <a:r>
                        <a:rPr lang="en-US" sz="1650" b="1" dirty="0">
                          <a:solidFill>
                            <a:srgbClr val="B85A2A"/>
                          </a:solidFill>
                          <a:latin typeface="ui-monospace" pitchFamily="34" charset="0"/>
                          <a:ea typeface="ui-monospace" pitchFamily="34" charset="-122"/>
                          <a:cs typeface="ui-monospace" pitchFamily="34" charset="-120"/>
                        </a:rPr>
                        <a:t>W03</a:t>
                      </a:r>
                      <a:pPr indent="0" marL="0">
                        <a:buNone/>
                      </a:pPr>
                      <a:r>
                        <a:rPr lang="en-US" sz="1650" dirty="0">
                          <a:solidFill>
                            <a:srgbClr val="11233A"/>
                          </a:solidFill>
                          <a:latin typeface="ui-monospace" pitchFamily="34" charset="0"/>
                          <a:ea typeface="ui-monospace" pitchFamily="34" charset="-122"/>
                          <a:cs typeface="ui-monospace" pitchFamily="34" charset="-120"/>
                        </a:rPr>
                        <a:t> · SALELE</a:t>
                      </a:r>
                      <a:endParaRPr lang="en-US" sz="1200" dirty="0"/>
                    </a:p>
                  </a:txBody>
                  <a:tcPr marL="171907" marR="171907" marT="133502" marB="133502"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indent="0" marL="0">
                        <a:buNone/>
                      </a:pPr>
                      <a:r>
                        <a:rPr lang="en-US" sz="1650" dirty="0">
                          <a:solidFill>
                            <a:srgbClr val="11233A"/>
                          </a:solidFill>
                          <a:latin typeface="ui-monospace" pitchFamily="34" charset="0"/>
                          <a:ea typeface="ui-monospace" pitchFamily="34" charset="-122"/>
                          <a:cs typeface="ui-monospace" pitchFamily="34" charset="-120"/>
                        </a:rPr>
                        <a:t>8.20</a:t>
                      </a:r>
                      <a:endParaRPr lang="en-US" sz="1650" dirty="0">
                        <a:latin typeface="ui-monospace" charset="0"/>
                        <a:ea typeface="ui-monospace" charset="0"/>
                        <a:cs typeface="ui-monospace" charset="0"/>
                      </a:endParaRPr>
                    </a:p>
                  </a:txBody>
                  <a:tcPr marL="171907" marR="171907" marT="133502" marB="133502"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indent="0" marL="0">
                        <a:buNone/>
                      </a:pPr>
                      <a:r>
                        <a:rPr lang="en-US" sz="1650" dirty="0">
                          <a:solidFill>
                            <a:srgbClr val="11233A"/>
                          </a:solidFill>
                          <a:latin typeface="ui-monospace" pitchFamily="34" charset="0"/>
                          <a:ea typeface="ui-monospace" pitchFamily="34" charset="-122"/>
                          <a:cs typeface="ui-monospace" pitchFamily="34" charset="-120"/>
                        </a:rPr>
                        <a:t>0.58</a:t>
                      </a:r>
                      <a:endParaRPr lang="en-US" sz="1650" dirty="0">
                        <a:latin typeface="ui-monospace" charset="0"/>
                        <a:ea typeface="ui-monospace" charset="0"/>
                        <a:cs typeface="ui-monospace" charset="0"/>
                      </a:endParaRPr>
                    </a:p>
                  </a:txBody>
                  <a:tcPr marL="171907" marR="171907" marT="133502" marB="133502"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indent="0" marL="0">
                        <a:buNone/>
                      </a:pPr>
                      <a:r>
                        <a:rPr lang="en-US" sz="1650" dirty="0">
                          <a:solidFill>
                            <a:srgbClr val="11233A"/>
                          </a:solidFill>
                          <a:latin typeface="ui-monospace" pitchFamily="34" charset="0"/>
                          <a:ea typeface="ui-monospace" pitchFamily="34" charset="-122"/>
                          <a:cs typeface="ui-monospace" pitchFamily="34" charset="-120"/>
                        </a:rPr>
                        <a:t>2.50</a:t>
                      </a:r>
                      <a:endParaRPr lang="en-US" sz="1650" dirty="0">
                        <a:latin typeface="ui-monospace" charset="0"/>
                        <a:ea typeface="ui-monospace" charset="0"/>
                        <a:cs typeface="ui-monospace" charset="0"/>
                      </a:endParaRPr>
                    </a:p>
                  </a:txBody>
                  <a:tcPr marL="171907" marR="171907" marT="133502" marB="133502"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indent="0" marL="0">
                        <a:buNone/>
                      </a:pPr>
                      <a:r>
                        <a:rPr lang="en-US" sz="1350" dirty="0">
                          <a:solidFill>
                            <a:srgbClr val="5E6877"/>
                          </a:solidFill>
                          <a:latin typeface="Pretendard" pitchFamily="34" charset="0"/>
                          <a:ea typeface="Pretendard" pitchFamily="34" charset="-122"/>
                          <a:cs typeface="Pretendard" pitchFamily="34" charset="-120"/>
                        </a:rPr>
                        <a:t>중심–가장자리 분포 가장 균일, hot spot 1 곳</a:t>
                      </a:r>
                      <a:endParaRPr lang="en-US" sz="1350" dirty="0">
                        <a:latin typeface="Pretendard" charset="0"/>
                        <a:ea typeface="Pretendard" charset="0"/>
                        <a:cs typeface="Pretendard" charset="0"/>
                      </a:endParaRPr>
                    </a:p>
                  </a:txBody>
                  <a:tcPr marL="171907" marR="171907" marT="133502" marB="133502"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r>
            </a:tbl>
          </a:graphicData>
        </a:graphic>
      </p:graphicFrame>
      <p:sp>
        <p:nvSpPr>
          <p:cNvPr id="6" name="Shape 1"/>
          <p:cNvSpPr/>
          <p:nvPr/>
        </p:nvSpPr>
        <p:spPr>
          <a:xfrm>
            <a:off x="12191695" y="3866998"/>
            <a:ext cx="5333695" cy="3010205"/>
          </a:xfrm>
          <a:prstGeom prst="rect">
            <a:avLst/>
          </a:prstGeom>
          <a:solidFill>
            <a:srgbClr val="FFFFFF"/>
          </a:solidFill>
          <a:ln w="12700">
            <a:solidFill>
              <a:srgbClr val="FFFFFF">
                <a:alpha val="0"/>
              </a:srgbClr>
            </a:solidFill>
            <a:prstDash val="solid"/>
          </a:ln>
        </p:spPr>
      </p:sp>
      <p:pic>
        <p:nvPicPr>
          <p:cNvPr id="7" name="Image 1" descr="gen-dedup-11f9d30216178d0507ebf09ab47a2645.png">    </p:cNvPr>
          <p:cNvPicPr>
            <a:picLocks noChangeAspect="1"/>
          </p:cNvPicPr>
          <p:nvPr/>
        </p:nvPicPr>
        <p:blipFill>
          <a:blip r:embed="rId2"/>
          <a:srcRect l="-389" r="-389" t="0" b="0"/>
          <a:stretch/>
        </p:blipFill>
        <p:spPr>
          <a:xfrm>
            <a:off x="761695" y="8630107"/>
            <a:ext cx="38405" cy="705002"/>
          </a:xfrm>
          <a:prstGeom prst="rect">
            <a:avLst/>
          </a:prstGeom>
        </p:spPr>
      </p:pic>
      <p:pic>
        <p:nvPicPr>
          <p:cNvPr id="8" name="Image 2" descr="gen-dedup-3edb1d0f3967ac1146e2986c324ceef0.png">    </p:cNvPr>
          <p:cNvPicPr>
            <a:picLocks noChangeAspect="1"/>
          </p:cNvPicPr>
          <p:nvPr/>
        </p:nvPicPr>
        <p:blipFill>
          <a:blip r:embed="rId3"/>
          <a:srcRect l="-2083" r="-2083" t="0" b="0"/>
          <a:stretch/>
        </p:blipFill>
        <p:spPr>
          <a:xfrm>
            <a:off x="761695" y="9506102"/>
            <a:ext cx="16763695" cy="9144"/>
          </a:xfrm>
          <a:prstGeom prst="rect">
            <a:avLst/>
          </a:prstGeom>
        </p:spPr>
      </p:pic>
      <p:sp>
        <p:nvSpPr>
          <p:cNvPr id="9" name="Text 2"/>
          <p:cNvSpPr txBox="1"/>
          <p:nvPr/>
        </p:nvSpPr>
        <p:spPr>
          <a:xfrm>
            <a:off x="761695" y="685800"/>
            <a:ext cx="14287500" cy="476402"/>
          </a:xfrm>
          <a:prstGeom prst="rect">
            <a:avLst/>
          </a:prstGeom>
          <a:noFill/>
          <a:ln/>
        </p:spPr>
        <p:txBody>
          <a:bodyPr wrap="none" lIns="0" tIns="0" rIns="0" bIns="0" rtlCol="0" anchor="ctr"/>
          <a:lstStyle/>
          <a:p>
            <a:pPr algn="l" indent="0" marL="0">
              <a:buNone/>
            </a:pPr>
            <a:r>
              <a:rPr lang="en-US" sz="3150" b="1" spc="-31" kern="0" dirty="0">
                <a:solidFill>
                  <a:srgbClr val="11233A"/>
                </a:solidFill>
                <a:latin typeface="Pretendard" pitchFamily="34" charset="0"/>
                <a:ea typeface="Pretendard" pitchFamily="34" charset="-122"/>
                <a:cs typeface="Pretendard" pitchFamily="34" charset="-120"/>
              </a:rPr>
              <a:t>In-wafer CD 균일성 평가</a:t>
            </a:r>
            <a:endParaRPr lang="en-US" sz="3150" dirty="0"/>
          </a:p>
        </p:txBody>
      </p:sp>
      <p:sp>
        <p:nvSpPr>
          <p:cNvPr id="10" name="Text 3"/>
          <p:cNvSpPr txBox="1"/>
          <p:nvPr/>
        </p:nvSpPr>
        <p:spPr>
          <a:xfrm>
            <a:off x="761695" y="1271930"/>
            <a:ext cx="14287500" cy="257861"/>
          </a:xfrm>
          <a:prstGeom prst="rect">
            <a:avLst/>
          </a:prstGeom>
          <a:noFill/>
          <a:ln/>
        </p:spPr>
        <p:txBody>
          <a:bodyPr wrap="none" lIns="0" tIns="0" rIns="0" bIns="0" rtlCol="0" anchor="ctr"/>
          <a:lstStyle/>
          <a:p>
            <a:pPr algn="l" indent="0" marL="0">
              <a:buNone/>
            </a:pPr>
            <a:r>
              <a:rPr lang="en-US" sz="1425" dirty="0">
                <a:solidFill>
                  <a:srgbClr val="5E6877"/>
                </a:solidFill>
                <a:latin typeface="Pretendard" pitchFamily="34" charset="0"/>
                <a:ea typeface="Pretendard" pitchFamily="34" charset="-122"/>
                <a:cs typeface="Pretendard" pitchFamily="34" charset="-120"/>
              </a:rPr>
              <a:t>AMI 메트릭 · wafer별 7 × 7 = 49 pt 측정 · 사이트별 wafer-mean 대비 편차 (nm)</a:t>
            </a:r>
            <a:endParaRPr lang="en-US" sz="1425" dirty="0"/>
          </a:p>
        </p:txBody>
      </p:sp>
      <p:sp>
        <p:nvSpPr>
          <p:cNvPr id="11" name="Text 4"/>
          <p:cNvSpPr txBox="1"/>
          <p:nvPr/>
        </p:nvSpPr>
        <p:spPr>
          <a:xfrm>
            <a:off x="761695" y="3543300"/>
            <a:ext cx="2286000" cy="191110"/>
          </a:xfrm>
          <a:prstGeom prst="rect">
            <a:avLst/>
          </a:prstGeom>
          <a:noFill/>
          <a:ln/>
        </p:spPr>
        <p:txBody>
          <a:bodyPr wrap="none" lIns="0" tIns="0" rIns="0" bIns="0" rtlCol="0" anchor="ctr"/>
          <a:lstStyle/>
          <a:p>
            <a:pPr algn="l" indent="0" marL="0">
              <a:buNone/>
            </a:pPr>
            <a:r>
              <a:rPr lang="en-US" sz="1050" b="1" spc="63" kern="0" dirty="0">
                <a:solidFill>
                  <a:srgbClr val="2B5FA0"/>
                </a:solidFill>
                <a:latin typeface="Pretendard" pitchFamily="34" charset="0"/>
                <a:ea typeface="Pretendard" pitchFamily="34" charset="-122"/>
                <a:cs typeface="Pretendard" pitchFamily="34" charset="-120"/>
              </a:rPr>
              <a:t>W01 · SADP</a:t>
            </a:r>
            <a:endParaRPr lang="en-US" sz="1050" dirty="0"/>
          </a:p>
        </p:txBody>
      </p:sp>
      <p:sp>
        <p:nvSpPr>
          <p:cNvPr id="12" name="Text 5"/>
          <p:cNvSpPr txBox="1"/>
          <p:nvPr/>
        </p:nvSpPr>
        <p:spPr>
          <a:xfrm>
            <a:off x="761695" y="3866998"/>
            <a:ext cx="362102" cy="362102"/>
          </a:xfrm>
          <a:prstGeom prst="rect">
            <a:avLst/>
          </a:prstGeom>
          <a:solidFill>
            <a:srgbClr val="9F4720"/>
          </a:solidFill>
          <a:ln>
            <a:solidFill>
              <a:srgbClr val="FFFFFF">
                <a:alpha val="0"/>
              </a:srgbClr>
            </a:solidFill>
          </a:ln>
        </p:spPr>
        <p:txBody>
          <a:bodyPr wrap="square" lIns="0" tIns="0" rIns="0" bIns="0" rtlCol="0" anchor="ctr"/>
          <a:lstStyle/>
          <a:p>
            <a:pPr algn="ctr" indent="0" marL="0">
              <a:buNone/>
            </a:pPr>
            <a:r>
              <a:rPr lang="en-US" sz="1050" dirty="0">
                <a:solidFill>
                  <a:srgbClr val="FFFFFF"/>
                </a:solidFill>
                <a:latin typeface="ui-monospace" pitchFamily="34" charset="0"/>
                <a:ea typeface="ui-monospace" pitchFamily="34" charset="-122"/>
                <a:cs typeface="ui-monospace" pitchFamily="34" charset="-120"/>
              </a:rPr>
              <a:t>+1.05</a:t>
            </a:r>
            <a:endParaRPr lang="en-US" sz="1050" dirty="0"/>
          </a:p>
        </p:txBody>
      </p:sp>
      <p:sp>
        <p:nvSpPr>
          <p:cNvPr id="13" name="Text 6"/>
          <p:cNvSpPr txBox="1"/>
          <p:nvPr/>
        </p:nvSpPr>
        <p:spPr>
          <a:xfrm>
            <a:off x="1171346" y="3866998"/>
            <a:ext cx="362102" cy="362102"/>
          </a:xfrm>
          <a:prstGeom prst="rect">
            <a:avLst/>
          </a:prstGeom>
          <a:solidFill>
            <a:srgbClr val="9F4720"/>
          </a:solidFill>
          <a:ln>
            <a:solidFill>
              <a:srgbClr val="FFFFFF">
                <a:alpha val="0"/>
              </a:srgbClr>
            </a:solidFill>
          </a:ln>
        </p:spPr>
        <p:txBody>
          <a:bodyPr wrap="square" lIns="0" tIns="0" rIns="0" bIns="0" rtlCol="0" anchor="ctr"/>
          <a:lstStyle/>
          <a:p>
            <a:pPr algn="ctr" indent="0" marL="0">
              <a:buNone/>
            </a:pPr>
            <a:r>
              <a:rPr lang="en-US" sz="1050" dirty="0">
                <a:solidFill>
                  <a:srgbClr val="FFFFFF"/>
                </a:solidFill>
                <a:latin typeface="ui-monospace" pitchFamily="34" charset="0"/>
                <a:ea typeface="ui-monospace" pitchFamily="34" charset="-122"/>
                <a:cs typeface="ui-monospace" pitchFamily="34" charset="-120"/>
              </a:rPr>
              <a:t>+0.62</a:t>
            </a:r>
            <a:endParaRPr lang="en-US" sz="1050" dirty="0"/>
          </a:p>
        </p:txBody>
      </p:sp>
      <p:sp>
        <p:nvSpPr>
          <p:cNvPr id="14" name="Text 7"/>
          <p:cNvSpPr txBox="1"/>
          <p:nvPr/>
        </p:nvSpPr>
        <p:spPr>
          <a:xfrm>
            <a:off x="1580998" y="3866998"/>
            <a:ext cx="362102" cy="362102"/>
          </a:xfrm>
          <a:prstGeom prst="rect">
            <a:avLst/>
          </a:prstGeom>
          <a:solidFill>
            <a:srgbClr val="E6C3A3"/>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+0.21</a:t>
            </a:r>
            <a:endParaRPr lang="en-US" sz="1050" dirty="0"/>
          </a:p>
        </p:txBody>
      </p:sp>
      <p:sp>
        <p:nvSpPr>
          <p:cNvPr id="15" name="Text 8"/>
          <p:cNvSpPr txBox="1"/>
          <p:nvPr/>
        </p:nvSpPr>
        <p:spPr>
          <a:xfrm>
            <a:off x="1990649" y="3866998"/>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−0.10</a:t>
            </a:r>
            <a:endParaRPr lang="en-US" sz="1050" dirty="0"/>
          </a:p>
        </p:txBody>
      </p:sp>
      <p:sp>
        <p:nvSpPr>
          <p:cNvPr id="16" name="Text 9"/>
          <p:cNvSpPr txBox="1"/>
          <p:nvPr/>
        </p:nvSpPr>
        <p:spPr>
          <a:xfrm>
            <a:off x="2400300" y="3866998"/>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+0.05</a:t>
            </a:r>
            <a:endParaRPr lang="en-US" sz="1050" dirty="0"/>
          </a:p>
        </p:txBody>
      </p:sp>
      <p:sp>
        <p:nvSpPr>
          <p:cNvPr id="17" name="Text 10"/>
          <p:cNvSpPr txBox="1"/>
          <p:nvPr/>
        </p:nvSpPr>
        <p:spPr>
          <a:xfrm>
            <a:off x="2809951" y="3866998"/>
            <a:ext cx="362102" cy="362102"/>
          </a:xfrm>
          <a:prstGeom prst="rect">
            <a:avLst/>
          </a:prstGeom>
          <a:solidFill>
            <a:srgbClr val="BFD0E5"/>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−0.48</a:t>
            </a:r>
            <a:endParaRPr lang="en-US" sz="1050" dirty="0"/>
          </a:p>
        </p:txBody>
      </p:sp>
      <p:sp>
        <p:nvSpPr>
          <p:cNvPr id="18" name="Text 11"/>
          <p:cNvSpPr txBox="1"/>
          <p:nvPr/>
        </p:nvSpPr>
        <p:spPr>
          <a:xfrm>
            <a:off x="3219602" y="3866998"/>
            <a:ext cx="362102" cy="362102"/>
          </a:xfrm>
          <a:prstGeom prst="rect">
            <a:avLst/>
          </a:prstGeom>
          <a:solidFill>
            <a:srgbClr val="2F4A78"/>
          </a:solidFill>
          <a:ln>
            <a:solidFill>
              <a:srgbClr val="FFFFFF">
                <a:alpha val="0"/>
              </a:srgbClr>
            </a:solidFill>
          </a:ln>
        </p:spPr>
        <p:txBody>
          <a:bodyPr wrap="square" lIns="0" tIns="0" rIns="0" bIns="0" rtlCol="0" anchor="ctr"/>
          <a:lstStyle/>
          <a:p>
            <a:pPr algn="ctr" indent="0" marL="0">
              <a:buNone/>
            </a:pPr>
            <a:r>
              <a:rPr lang="en-US" sz="1050" dirty="0">
                <a:solidFill>
                  <a:srgbClr val="FFFFFF"/>
                </a:solidFill>
                <a:latin typeface="ui-monospace" pitchFamily="34" charset="0"/>
                <a:ea typeface="ui-monospace" pitchFamily="34" charset="-122"/>
                <a:cs typeface="ui-monospace" pitchFamily="34" charset="-120"/>
              </a:rPr>
              <a:t>−0.95</a:t>
            </a:r>
            <a:endParaRPr lang="en-US" sz="1050" dirty="0"/>
          </a:p>
        </p:txBody>
      </p:sp>
      <p:sp>
        <p:nvSpPr>
          <p:cNvPr id="19" name="Text 12"/>
          <p:cNvSpPr txBox="1"/>
          <p:nvPr/>
        </p:nvSpPr>
        <p:spPr>
          <a:xfrm>
            <a:off x="761695" y="4276649"/>
            <a:ext cx="362102" cy="362102"/>
          </a:xfrm>
          <a:prstGeom prst="rect">
            <a:avLst/>
          </a:prstGeom>
          <a:solidFill>
            <a:srgbClr val="9F4720"/>
          </a:solidFill>
          <a:ln>
            <a:solidFill>
              <a:srgbClr val="FFFFFF">
                <a:alpha val="0"/>
              </a:srgbClr>
            </a:solidFill>
          </a:ln>
        </p:spPr>
        <p:txBody>
          <a:bodyPr wrap="square" lIns="0" tIns="0" rIns="0" bIns="0" rtlCol="0" anchor="ctr"/>
          <a:lstStyle/>
          <a:p>
            <a:pPr algn="ctr" indent="0" marL="0">
              <a:buNone/>
            </a:pPr>
            <a:r>
              <a:rPr lang="en-US" sz="1050" dirty="0">
                <a:solidFill>
                  <a:srgbClr val="FFFFFF"/>
                </a:solidFill>
                <a:latin typeface="ui-monospace" pitchFamily="34" charset="0"/>
                <a:ea typeface="ui-monospace" pitchFamily="34" charset="-122"/>
                <a:cs typeface="ui-monospace" pitchFamily="34" charset="-120"/>
              </a:rPr>
              <a:t>+0.78</a:t>
            </a:r>
            <a:endParaRPr lang="en-US" sz="1050" dirty="0"/>
          </a:p>
        </p:txBody>
      </p:sp>
      <p:sp>
        <p:nvSpPr>
          <p:cNvPr id="20" name="Text 13"/>
          <p:cNvSpPr txBox="1"/>
          <p:nvPr/>
        </p:nvSpPr>
        <p:spPr>
          <a:xfrm>
            <a:off x="1171346" y="4276649"/>
            <a:ext cx="362102" cy="362102"/>
          </a:xfrm>
          <a:prstGeom prst="rect">
            <a:avLst/>
          </a:prstGeom>
          <a:solidFill>
            <a:srgbClr val="E6C3A3"/>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+0.41</a:t>
            </a:r>
            <a:endParaRPr lang="en-US" sz="1050" dirty="0"/>
          </a:p>
        </p:txBody>
      </p:sp>
      <p:sp>
        <p:nvSpPr>
          <p:cNvPr id="21" name="Text 14"/>
          <p:cNvSpPr txBox="1"/>
          <p:nvPr/>
        </p:nvSpPr>
        <p:spPr>
          <a:xfrm>
            <a:off x="1580998" y="4276649"/>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+0.05</a:t>
            </a:r>
            <a:endParaRPr lang="en-US" sz="1050" dirty="0"/>
          </a:p>
        </p:txBody>
      </p:sp>
      <p:sp>
        <p:nvSpPr>
          <p:cNvPr id="22" name="Text 15"/>
          <p:cNvSpPr txBox="1"/>
          <p:nvPr/>
        </p:nvSpPr>
        <p:spPr>
          <a:xfrm>
            <a:off x="1990649" y="4276649"/>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−0.20</a:t>
            </a:r>
            <a:endParaRPr lang="en-US" sz="1050" dirty="0"/>
          </a:p>
        </p:txBody>
      </p:sp>
      <p:sp>
        <p:nvSpPr>
          <p:cNvPr id="23" name="Text 16"/>
          <p:cNvSpPr txBox="1"/>
          <p:nvPr/>
        </p:nvSpPr>
        <p:spPr>
          <a:xfrm>
            <a:off x="2400300" y="4276649"/>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−0.05</a:t>
            </a:r>
            <a:endParaRPr lang="en-US" sz="1050" dirty="0"/>
          </a:p>
        </p:txBody>
      </p:sp>
      <p:sp>
        <p:nvSpPr>
          <p:cNvPr id="24" name="Text 17"/>
          <p:cNvSpPr txBox="1"/>
          <p:nvPr/>
        </p:nvSpPr>
        <p:spPr>
          <a:xfrm>
            <a:off x="2809951" y="4276649"/>
            <a:ext cx="362102" cy="362102"/>
          </a:xfrm>
          <a:prstGeom prst="rect">
            <a:avLst/>
          </a:prstGeom>
          <a:solidFill>
            <a:srgbClr val="BFD0E5"/>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−0.48</a:t>
            </a:r>
            <a:endParaRPr lang="en-US" sz="1050" dirty="0"/>
          </a:p>
        </p:txBody>
      </p:sp>
      <p:sp>
        <p:nvSpPr>
          <p:cNvPr id="25" name="Text 18"/>
          <p:cNvSpPr txBox="1"/>
          <p:nvPr/>
        </p:nvSpPr>
        <p:spPr>
          <a:xfrm>
            <a:off x="3219602" y="4276649"/>
            <a:ext cx="362102" cy="362102"/>
          </a:xfrm>
          <a:prstGeom prst="rect">
            <a:avLst/>
          </a:prstGeom>
          <a:solidFill>
            <a:srgbClr val="2F4A78"/>
          </a:solidFill>
          <a:ln>
            <a:solidFill>
              <a:srgbClr val="FFFFFF">
                <a:alpha val="0"/>
              </a:srgbClr>
            </a:solidFill>
          </a:ln>
        </p:spPr>
        <p:txBody>
          <a:bodyPr wrap="square" lIns="0" tIns="0" rIns="0" bIns="0" rtlCol="0" anchor="ctr"/>
          <a:lstStyle/>
          <a:p>
            <a:pPr algn="ctr" indent="0" marL="0">
              <a:buNone/>
            </a:pPr>
            <a:r>
              <a:rPr lang="en-US" sz="1050" dirty="0">
                <a:solidFill>
                  <a:srgbClr val="FFFFFF"/>
                </a:solidFill>
                <a:latin typeface="ui-monospace" pitchFamily="34" charset="0"/>
                <a:ea typeface="ui-monospace" pitchFamily="34" charset="-122"/>
                <a:cs typeface="ui-monospace" pitchFamily="34" charset="-120"/>
              </a:rPr>
              <a:t>−0.78</a:t>
            </a:r>
            <a:endParaRPr lang="en-US" sz="1050" dirty="0"/>
          </a:p>
        </p:txBody>
      </p:sp>
      <p:sp>
        <p:nvSpPr>
          <p:cNvPr id="26" name="Text 19"/>
          <p:cNvSpPr txBox="1"/>
          <p:nvPr/>
        </p:nvSpPr>
        <p:spPr>
          <a:xfrm>
            <a:off x="761695" y="4686300"/>
            <a:ext cx="362102" cy="362102"/>
          </a:xfrm>
          <a:prstGeom prst="rect">
            <a:avLst/>
          </a:prstGeom>
          <a:solidFill>
            <a:srgbClr val="E6C3A3"/>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+0.62</a:t>
            </a:r>
            <a:endParaRPr lang="en-US" sz="1050" dirty="0"/>
          </a:p>
        </p:txBody>
      </p:sp>
      <p:sp>
        <p:nvSpPr>
          <p:cNvPr id="27" name="Text 20"/>
          <p:cNvSpPr txBox="1"/>
          <p:nvPr/>
        </p:nvSpPr>
        <p:spPr>
          <a:xfrm>
            <a:off x="1171346" y="4686300"/>
            <a:ext cx="362102" cy="362102"/>
          </a:xfrm>
          <a:prstGeom prst="rect">
            <a:avLst/>
          </a:prstGeom>
          <a:solidFill>
            <a:srgbClr val="E6C3A3"/>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+0.30</a:t>
            </a:r>
            <a:endParaRPr lang="en-US" sz="1050" dirty="0"/>
          </a:p>
        </p:txBody>
      </p:sp>
      <p:sp>
        <p:nvSpPr>
          <p:cNvPr id="28" name="Text 21"/>
          <p:cNvSpPr txBox="1"/>
          <p:nvPr/>
        </p:nvSpPr>
        <p:spPr>
          <a:xfrm>
            <a:off x="1580998" y="4686300"/>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−0.05</a:t>
            </a:r>
            <a:endParaRPr lang="en-US" sz="1050" dirty="0"/>
          </a:p>
        </p:txBody>
      </p:sp>
      <p:sp>
        <p:nvSpPr>
          <p:cNvPr id="29" name="Text 22"/>
          <p:cNvSpPr txBox="1"/>
          <p:nvPr/>
        </p:nvSpPr>
        <p:spPr>
          <a:xfrm>
            <a:off x="1990649" y="4686300"/>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−0.10</a:t>
            </a:r>
            <a:endParaRPr lang="en-US" sz="1050" dirty="0"/>
          </a:p>
        </p:txBody>
      </p:sp>
      <p:sp>
        <p:nvSpPr>
          <p:cNvPr id="30" name="Text 23"/>
          <p:cNvSpPr txBox="1"/>
          <p:nvPr/>
        </p:nvSpPr>
        <p:spPr>
          <a:xfrm>
            <a:off x="2400300" y="4686300"/>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−0.18</a:t>
            </a:r>
            <a:endParaRPr lang="en-US" sz="1050" dirty="0"/>
          </a:p>
        </p:txBody>
      </p:sp>
      <p:sp>
        <p:nvSpPr>
          <p:cNvPr id="31" name="Text 24"/>
          <p:cNvSpPr txBox="1"/>
          <p:nvPr/>
        </p:nvSpPr>
        <p:spPr>
          <a:xfrm>
            <a:off x="2809951" y="4686300"/>
            <a:ext cx="362102" cy="362102"/>
          </a:xfrm>
          <a:prstGeom prst="rect">
            <a:avLst/>
          </a:prstGeom>
          <a:solidFill>
            <a:srgbClr val="BFD0E5"/>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−0.42</a:t>
            </a:r>
            <a:endParaRPr lang="en-US" sz="1050" dirty="0"/>
          </a:p>
        </p:txBody>
      </p:sp>
      <p:sp>
        <p:nvSpPr>
          <p:cNvPr id="32" name="Text 25"/>
          <p:cNvSpPr txBox="1"/>
          <p:nvPr/>
        </p:nvSpPr>
        <p:spPr>
          <a:xfrm>
            <a:off x="3219602" y="4686300"/>
            <a:ext cx="362102" cy="362102"/>
          </a:xfrm>
          <a:prstGeom prst="rect">
            <a:avLst/>
          </a:prstGeom>
          <a:solidFill>
            <a:srgbClr val="BFD0E5"/>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−0.62</a:t>
            </a:r>
            <a:endParaRPr lang="en-US" sz="1050" dirty="0"/>
          </a:p>
        </p:txBody>
      </p:sp>
      <p:sp>
        <p:nvSpPr>
          <p:cNvPr id="33" name="Text 26"/>
          <p:cNvSpPr txBox="1"/>
          <p:nvPr/>
        </p:nvSpPr>
        <p:spPr>
          <a:xfrm>
            <a:off x="761695" y="5095951"/>
            <a:ext cx="362102" cy="362102"/>
          </a:xfrm>
          <a:prstGeom prst="rect">
            <a:avLst/>
          </a:prstGeom>
          <a:solidFill>
            <a:srgbClr val="E6C3A3"/>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+0.50</a:t>
            </a:r>
            <a:endParaRPr lang="en-US" sz="1050" dirty="0"/>
          </a:p>
        </p:txBody>
      </p:sp>
      <p:sp>
        <p:nvSpPr>
          <p:cNvPr id="34" name="Text 27"/>
          <p:cNvSpPr txBox="1"/>
          <p:nvPr/>
        </p:nvSpPr>
        <p:spPr>
          <a:xfrm>
            <a:off x="1171346" y="5095951"/>
            <a:ext cx="362102" cy="362102"/>
          </a:xfrm>
          <a:prstGeom prst="rect">
            <a:avLst/>
          </a:prstGeom>
          <a:solidFill>
            <a:srgbClr val="E6C3A3"/>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+0.20</a:t>
            </a:r>
            <a:endParaRPr lang="en-US" sz="1050" dirty="0"/>
          </a:p>
        </p:txBody>
      </p:sp>
      <p:sp>
        <p:nvSpPr>
          <p:cNvPr id="35" name="Text 28"/>
          <p:cNvSpPr txBox="1"/>
          <p:nvPr/>
        </p:nvSpPr>
        <p:spPr>
          <a:xfrm>
            <a:off x="1580998" y="5095951"/>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−0.10</a:t>
            </a:r>
            <a:endParaRPr lang="en-US" sz="1050" dirty="0"/>
          </a:p>
        </p:txBody>
      </p:sp>
      <p:sp>
        <p:nvSpPr>
          <p:cNvPr id="36" name="Text 29"/>
          <p:cNvSpPr txBox="1"/>
          <p:nvPr/>
        </p:nvSpPr>
        <p:spPr>
          <a:xfrm>
            <a:off x="1990649" y="5095951"/>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+0.05</a:t>
            </a:r>
            <a:endParaRPr lang="en-US" sz="1050" dirty="0"/>
          </a:p>
        </p:txBody>
      </p:sp>
      <p:sp>
        <p:nvSpPr>
          <p:cNvPr id="37" name="Text 30"/>
          <p:cNvSpPr txBox="1"/>
          <p:nvPr/>
        </p:nvSpPr>
        <p:spPr>
          <a:xfrm>
            <a:off x="2400300" y="5095951"/>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−0.20</a:t>
            </a:r>
            <a:endParaRPr lang="en-US" sz="1050" dirty="0"/>
          </a:p>
        </p:txBody>
      </p:sp>
      <p:sp>
        <p:nvSpPr>
          <p:cNvPr id="38" name="Text 31"/>
          <p:cNvSpPr txBox="1"/>
          <p:nvPr/>
        </p:nvSpPr>
        <p:spPr>
          <a:xfrm>
            <a:off x="2809951" y="5095951"/>
            <a:ext cx="362102" cy="362102"/>
          </a:xfrm>
          <a:prstGeom prst="rect">
            <a:avLst/>
          </a:prstGeom>
          <a:solidFill>
            <a:srgbClr val="BFD0E5"/>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−0.32</a:t>
            </a:r>
            <a:endParaRPr lang="en-US" sz="1050" dirty="0"/>
          </a:p>
        </p:txBody>
      </p:sp>
      <p:sp>
        <p:nvSpPr>
          <p:cNvPr id="39" name="Text 32"/>
          <p:cNvSpPr txBox="1"/>
          <p:nvPr/>
        </p:nvSpPr>
        <p:spPr>
          <a:xfrm>
            <a:off x="3219602" y="5095951"/>
            <a:ext cx="362102" cy="362102"/>
          </a:xfrm>
          <a:prstGeom prst="rect">
            <a:avLst/>
          </a:prstGeom>
          <a:solidFill>
            <a:srgbClr val="BFD0E5"/>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−0.50</a:t>
            </a:r>
            <a:endParaRPr lang="en-US" sz="1050" dirty="0"/>
          </a:p>
        </p:txBody>
      </p:sp>
      <p:sp>
        <p:nvSpPr>
          <p:cNvPr id="40" name="Text 33"/>
          <p:cNvSpPr txBox="1"/>
          <p:nvPr/>
        </p:nvSpPr>
        <p:spPr>
          <a:xfrm>
            <a:off x="761695" y="5505602"/>
            <a:ext cx="362102" cy="362102"/>
          </a:xfrm>
          <a:prstGeom prst="rect">
            <a:avLst/>
          </a:prstGeom>
          <a:solidFill>
            <a:srgbClr val="E6C3A3"/>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+0.40</a:t>
            </a:r>
            <a:endParaRPr lang="en-US" sz="1050" dirty="0"/>
          </a:p>
        </p:txBody>
      </p:sp>
      <p:sp>
        <p:nvSpPr>
          <p:cNvPr id="41" name="Text 34"/>
          <p:cNvSpPr txBox="1"/>
          <p:nvPr/>
        </p:nvSpPr>
        <p:spPr>
          <a:xfrm>
            <a:off x="1171346" y="5505602"/>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+0.10</a:t>
            </a:r>
            <a:endParaRPr lang="en-US" sz="1050" dirty="0"/>
          </a:p>
        </p:txBody>
      </p:sp>
      <p:sp>
        <p:nvSpPr>
          <p:cNvPr id="42" name="Text 35"/>
          <p:cNvSpPr txBox="1"/>
          <p:nvPr/>
        </p:nvSpPr>
        <p:spPr>
          <a:xfrm>
            <a:off x="1580998" y="5505602"/>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−0.18</a:t>
            </a:r>
            <a:endParaRPr lang="en-US" sz="1050" dirty="0"/>
          </a:p>
        </p:txBody>
      </p:sp>
      <p:sp>
        <p:nvSpPr>
          <p:cNvPr id="43" name="Text 36"/>
          <p:cNvSpPr txBox="1"/>
          <p:nvPr/>
        </p:nvSpPr>
        <p:spPr>
          <a:xfrm>
            <a:off x="1990649" y="5505602"/>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−0.20</a:t>
            </a:r>
            <a:endParaRPr lang="en-US" sz="1050" dirty="0"/>
          </a:p>
        </p:txBody>
      </p:sp>
      <p:sp>
        <p:nvSpPr>
          <p:cNvPr id="44" name="Text 37"/>
          <p:cNvSpPr txBox="1"/>
          <p:nvPr/>
        </p:nvSpPr>
        <p:spPr>
          <a:xfrm>
            <a:off x="2400300" y="5505602"/>
            <a:ext cx="362102" cy="362102"/>
          </a:xfrm>
          <a:prstGeom prst="rect">
            <a:avLst/>
          </a:prstGeom>
          <a:solidFill>
            <a:srgbClr val="BFD0E5"/>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−0.32</a:t>
            </a:r>
            <a:endParaRPr lang="en-US" sz="1050" dirty="0"/>
          </a:p>
        </p:txBody>
      </p:sp>
      <p:sp>
        <p:nvSpPr>
          <p:cNvPr id="45" name="Text 38"/>
          <p:cNvSpPr txBox="1"/>
          <p:nvPr/>
        </p:nvSpPr>
        <p:spPr>
          <a:xfrm>
            <a:off x="2809951" y="5505602"/>
            <a:ext cx="362102" cy="362102"/>
          </a:xfrm>
          <a:prstGeom prst="rect">
            <a:avLst/>
          </a:prstGeom>
          <a:solidFill>
            <a:srgbClr val="BFD0E5"/>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−0.40</a:t>
            </a:r>
            <a:endParaRPr lang="en-US" sz="1050" dirty="0"/>
          </a:p>
        </p:txBody>
      </p:sp>
      <p:sp>
        <p:nvSpPr>
          <p:cNvPr id="46" name="Text 39"/>
          <p:cNvSpPr txBox="1"/>
          <p:nvPr/>
        </p:nvSpPr>
        <p:spPr>
          <a:xfrm>
            <a:off x="3219602" y="5505602"/>
            <a:ext cx="362102" cy="362102"/>
          </a:xfrm>
          <a:prstGeom prst="rect">
            <a:avLst/>
          </a:prstGeom>
          <a:solidFill>
            <a:srgbClr val="BFD0E5"/>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−0.42</a:t>
            </a:r>
            <a:endParaRPr lang="en-US" sz="1050" dirty="0"/>
          </a:p>
        </p:txBody>
      </p:sp>
      <p:sp>
        <p:nvSpPr>
          <p:cNvPr id="47" name="Text 40"/>
          <p:cNvSpPr txBox="1"/>
          <p:nvPr/>
        </p:nvSpPr>
        <p:spPr>
          <a:xfrm>
            <a:off x="761695" y="5915254"/>
            <a:ext cx="362102" cy="362102"/>
          </a:xfrm>
          <a:prstGeom prst="rect">
            <a:avLst/>
          </a:prstGeom>
          <a:solidFill>
            <a:srgbClr val="E6C3A3"/>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+0.55</a:t>
            </a:r>
            <a:endParaRPr lang="en-US" sz="1050" dirty="0"/>
          </a:p>
        </p:txBody>
      </p:sp>
      <p:sp>
        <p:nvSpPr>
          <p:cNvPr id="48" name="Text 41"/>
          <p:cNvSpPr txBox="1"/>
          <p:nvPr/>
        </p:nvSpPr>
        <p:spPr>
          <a:xfrm>
            <a:off x="1171346" y="5915254"/>
            <a:ext cx="362102" cy="362102"/>
          </a:xfrm>
          <a:prstGeom prst="rect">
            <a:avLst/>
          </a:prstGeom>
          <a:solidFill>
            <a:srgbClr val="E6C3A3"/>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+0.20</a:t>
            </a:r>
            <a:endParaRPr lang="en-US" sz="1050" dirty="0"/>
          </a:p>
        </p:txBody>
      </p:sp>
      <p:sp>
        <p:nvSpPr>
          <p:cNvPr id="49" name="Text 42"/>
          <p:cNvSpPr txBox="1"/>
          <p:nvPr/>
        </p:nvSpPr>
        <p:spPr>
          <a:xfrm>
            <a:off x="1580998" y="5915254"/>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−0.20</a:t>
            </a:r>
            <a:endParaRPr lang="en-US" sz="1050" dirty="0"/>
          </a:p>
        </p:txBody>
      </p:sp>
      <p:sp>
        <p:nvSpPr>
          <p:cNvPr id="50" name="Text 43"/>
          <p:cNvSpPr txBox="1"/>
          <p:nvPr/>
        </p:nvSpPr>
        <p:spPr>
          <a:xfrm>
            <a:off x="1990649" y="5915254"/>
            <a:ext cx="362102" cy="362102"/>
          </a:xfrm>
          <a:prstGeom prst="rect">
            <a:avLst/>
          </a:prstGeom>
          <a:solidFill>
            <a:srgbClr val="BFD0E5"/>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−0.30</a:t>
            </a:r>
            <a:endParaRPr lang="en-US" sz="1050" dirty="0"/>
          </a:p>
        </p:txBody>
      </p:sp>
      <p:sp>
        <p:nvSpPr>
          <p:cNvPr id="51" name="Text 44"/>
          <p:cNvSpPr txBox="1"/>
          <p:nvPr/>
        </p:nvSpPr>
        <p:spPr>
          <a:xfrm>
            <a:off x="2400300" y="5915254"/>
            <a:ext cx="362102" cy="362102"/>
          </a:xfrm>
          <a:prstGeom prst="rect">
            <a:avLst/>
          </a:prstGeom>
          <a:solidFill>
            <a:srgbClr val="BFD0E5"/>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−0.32</a:t>
            </a:r>
            <a:endParaRPr lang="en-US" sz="1050" dirty="0"/>
          </a:p>
        </p:txBody>
      </p:sp>
      <p:sp>
        <p:nvSpPr>
          <p:cNvPr id="52" name="Text 45"/>
          <p:cNvSpPr txBox="1"/>
          <p:nvPr/>
        </p:nvSpPr>
        <p:spPr>
          <a:xfrm>
            <a:off x="2809951" y="5915254"/>
            <a:ext cx="362102" cy="362102"/>
          </a:xfrm>
          <a:prstGeom prst="rect">
            <a:avLst/>
          </a:prstGeom>
          <a:solidFill>
            <a:srgbClr val="BFD0E5"/>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−0.48</a:t>
            </a:r>
            <a:endParaRPr lang="en-US" sz="1050" dirty="0"/>
          </a:p>
        </p:txBody>
      </p:sp>
      <p:sp>
        <p:nvSpPr>
          <p:cNvPr id="53" name="Text 46"/>
          <p:cNvSpPr txBox="1"/>
          <p:nvPr/>
        </p:nvSpPr>
        <p:spPr>
          <a:xfrm>
            <a:off x="3219602" y="5915254"/>
            <a:ext cx="362102" cy="362102"/>
          </a:xfrm>
          <a:prstGeom prst="rect">
            <a:avLst/>
          </a:prstGeom>
          <a:solidFill>
            <a:srgbClr val="BFD0E5"/>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−0.60</a:t>
            </a:r>
            <a:endParaRPr lang="en-US" sz="1050" dirty="0"/>
          </a:p>
        </p:txBody>
      </p:sp>
      <p:sp>
        <p:nvSpPr>
          <p:cNvPr id="54" name="Text 47"/>
          <p:cNvSpPr txBox="1"/>
          <p:nvPr/>
        </p:nvSpPr>
        <p:spPr>
          <a:xfrm>
            <a:off x="761695" y="6324905"/>
            <a:ext cx="362102" cy="362102"/>
          </a:xfrm>
          <a:prstGeom prst="rect">
            <a:avLst/>
          </a:prstGeom>
          <a:solidFill>
            <a:srgbClr val="9F4720"/>
          </a:solidFill>
          <a:ln>
            <a:solidFill>
              <a:srgbClr val="FFFFFF">
                <a:alpha val="0"/>
              </a:srgbClr>
            </a:solidFill>
          </a:ln>
        </p:spPr>
        <p:txBody>
          <a:bodyPr wrap="square" lIns="0" tIns="0" rIns="0" bIns="0" rtlCol="0" anchor="ctr"/>
          <a:lstStyle/>
          <a:p>
            <a:pPr algn="ctr" indent="0" marL="0">
              <a:buNone/>
            </a:pPr>
            <a:r>
              <a:rPr lang="en-US" sz="1050" dirty="0">
                <a:solidFill>
                  <a:srgbClr val="FFFFFF"/>
                </a:solidFill>
                <a:latin typeface="ui-monospace" pitchFamily="34" charset="0"/>
                <a:ea typeface="ui-monospace" pitchFamily="34" charset="-122"/>
                <a:cs typeface="ui-monospace" pitchFamily="34" charset="-120"/>
              </a:rPr>
              <a:t>+0.78</a:t>
            </a:r>
            <a:endParaRPr lang="en-US" sz="1050" dirty="0"/>
          </a:p>
        </p:txBody>
      </p:sp>
      <p:sp>
        <p:nvSpPr>
          <p:cNvPr id="55" name="Text 48"/>
          <p:cNvSpPr txBox="1"/>
          <p:nvPr/>
        </p:nvSpPr>
        <p:spPr>
          <a:xfrm>
            <a:off x="1171346" y="6324905"/>
            <a:ext cx="362102" cy="362102"/>
          </a:xfrm>
          <a:prstGeom prst="rect">
            <a:avLst/>
          </a:prstGeom>
          <a:solidFill>
            <a:srgbClr val="E6C3A3"/>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+0.30</a:t>
            </a:r>
            <a:endParaRPr lang="en-US" sz="1050" dirty="0"/>
          </a:p>
        </p:txBody>
      </p:sp>
      <p:sp>
        <p:nvSpPr>
          <p:cNvPr id="56" name="Text 49"/>
          <p:cNvSpPr txBox="1"/>
          <p:nvPr/>
        </p:nvSpPr>
        <p:spPr>
          <a:xfrm>
            <a:off x="1580998" y="6324905"/>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−0.10</a:t>
            </a:r>
            <a:endParaRPr lang="en-US" sz="1050" dirty="0"/>
          </a:p>
        </p:txBody>
      </p:sp>
      <p:sp>
        <p:nvSpPr>
          <p:cNvPr id="57" name="Text 50"/>
          <p:cNvSpPr txBox="1"/>
          <p:nvPr/>
        </p:nvSpPr>
        <p:spPr>
          <a:xfrm>
            <a:off x="1990649" y="6324905"/>
            <a:ext cx="362102" cy="362102"/>
          </a:xfrm>
          <a:prstGeom prst="rect">
            <a:avLst/>
          </a:prstGeom>
          <a:solidFill>
            <a:srgbClr val="BFD0E5"/>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−0.40</a:t>
            </a:r>
            <a:endParaRPr lang="en-US" sz="1050" dirty="0"/>
          </a:p>
        </p:txBody>
      </p:sp>
      <p:sp>
        <p:nvSpPr>
          <p:cNvPr id="58" name="Text 51"/>
          <p:cNvSpPr txBox="1"/>
          <p:nvPr/>
        </p:nvSpPr>
        <p:spPr>
          <a:xfrm>
            <a:off x="2400300" y="6324905"/>
            <a:ext cx="362102" cy="362102"/>
          </a:xfrm>
          <a:prstGeom prst="rect">
            <a:avLst/>
          </a:prstGeom>
          <a:solidFill>
            <a:srgbClr val="BFD0E5"/>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−0.50</a:t>
            </a:r>
            <a:endParaRPr lang="en-US" sz="1050" dirty="0"/>
          </a:p>
        </p:txBody>
      </p:sp>
      <p:sp>
        <p:nvSpPr>
          <p:cNvPr id="59" name="Text 52"/>
          <p:cNvSpPr txBox="1"/>
          <p:nvPr/>
        </p:nvSpPr>
        <p:spPr>
          <a:xfrm>
            <a:off x="2809951" y="6324905"/>
            <a:ext cx="362102" cy="362102"/>
          </a:xfrm>
          <a:prstGeom prst="rect">
            <a:avLst/>
          </a:prstGeom>
          <a:solidFill>
            <a:srgbClr val="BFD0E5"/>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−0.62</a:t>
            </a:r>
            <a:endParaRPr lang="en-US" sz="1050" dirty="0"/>
          </a:p>
        </p:txBody>
      </p:sp>
      <p:sp>
        <p:nvSpPr>
          <p:cNvPr id="60" name="Text 53"/>
          <p:cNvSpPr txBox="1"/>
          <p:nvPr/>
        </p:nvSpPr>
        <p:spPr>
          <a:xfrm>
            <a:off x="3219602" y="6324905"/>
            <a:ext cx="362102" cy="362102"/>
          </a:xfrm>
          <a:prstGeom prst="rect">
            <a:avLst/>
          </a:prstGeom>
          <a:solidFill>
            <a:srgbClr val="2F4A78"/>
          </a:solidFill>
          <a:ln>
            <a:solidFill>
              <a:srgbClr val="FFFFFF">
                <a:alpha val="0"/>
              </a:srgbClr>
            </a:solidFill>
          </a:ln>
        </p:spPr>
        <p:txBody>
          <a:bodyPr wrap="square" lIns="0" tIns="0" rIns="0" bIns="0" rtlCol="0" anchor="ctr"/>
          <a:lstStyle/>
          <a:p>
            <a:pPr algn="ctr" indent="0" marL="0">
              <a:buNone/>
            </a:pPr>
            <a:r>
              <a:rPr lang="en-US" sz="1050" dirty="0">
                <a:solidFill>
                  <a:srgbClr val="FFFFFF"/>
                </a:solidFill>
                <a:latin typeface="ui-monospace" pitchFamily="34" charset="0"/>
                <a:ea typeface="ui-monospace" pitchFamily="34" charset="-122"/>
                <a:cs typeface="ui-monospace" pitchFamily="34" charset="-120"/>
              </a:rPr>
              <a:t>−0.85</a:t>
            </a:r>
            <a:endParaRPr lang="en-US" sz="1050" dirty="0"/>
          </a:p>
        </p:txBody>
      </p:sp>
      <p:sp>
        <p:nvSpPr>
          <p:cNvPr id="61" name="Text 54"/>
          <p:cNvSpPr txBox="1"/>
          <p:nvPr/>
        </p:nvSpPr>
        <p:spPr>
          <a:xfrm>
            <a:off x="4629607" y="3543300"/>
            <a:ext cx="2286000" cy="191110"/>
          </a:xfrm>
          <a:prstGeom prst="rect">
            <a:avLst/>
          </a:prstGeom>
          <a:noFill/>
          <a:ln/>
        </p:spPr>
        <p:txBody>
          <a:bodyPr wrap="none" lIns="0" tIns="0" rIns="0" bIns="0" rtlCol="0" anchor="ctr"/>
          <a:lstStyle/>
          <a:p>
            <a:pPr algn="l" indent="0" marL="0">
              <a:buNone/>
            </a:pPr>
            <a:r>
              <a:rPr lang="en-US" sz="1050" b="1" spc="63" kern="0" dirty="0">
                <a:solidFill>
                  <a:srgbClr val="B85A2A"/>
                </a:solidFill>
                <a:latin typeface="Pretendard" pitchFamily="34" charset="0"/>
                <a:ea typeface="Pretendard" pitchFamily="34" charset="-122"/>
                <a:cs typeface="Pretendard" pitchFamily="34" charset="-120"/>
              </a:rPr>
              <a:t>W02 · SALELE</a:t>
            </a:r>
            <a:endParaRPr lang="en-US" sz="1050" dirty="0"/>
          </a:p>
        </p:txBody>
      </p:sp>
      <p:sp>
        <p:nvSpPr>
          <p:cNvPr id="62" name="Text 55"/>
          <p:cNvSpPr txBox="1"/>
          <p:nvPr/>
        </p:nvSpPr>
        <p:spPr>
          <a:xfrm>
            <a:off x="4629607" y="3866998"/>
            <a:ext cx="362102" cy="362102"/>
          </a:xfrm>
          <a:prstGeom prst="rect">
            <a:avLst/>
          </a:prstGeom>
          <a:solidFill>
            <a:srgbClr val="E6C3A3"/>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+0.30</a:t>
            </a:r>
            <a:endParaRPr lang="en-US" sz="1050" dirty="0"/>
          </a:p>
        </p:txBody>
      </p:sp>
      <p:sp>
        <p:nvSpPr>
          <p:cNvPr id="63" name="Text 56"/>
          <p:cNvSpPr txBox="1"/>
          <p:nvPr/>
        </p:nvSpPr>
        <p:spPr>
          <a:xfrm>
            <a:off x="5038344" y="3866998"/>
            <a:ext cx="362102" cy="362102"/>
          </a:xfrm>
          <a:prstGeom prst="rect">
            <a:avLst/>
          </a:prstGeom>
          <a:solidFill>
            <a:srgbClr val="E6C3A3"/>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+0.18</a:t>
            </a:r>
            <a:endParaRPr lang="en-US" sz="1050" dirty="0"/>
          </a:p>
        </p:txBody>
      </p:sp>
      <p:sp>
        <p:nvSpPr>
          <p:cNvPr id="64" name="Text 57"/>
          <p:cNvSpPr txBox="1"/>
          <p:nvPr/>
        </p:nvSpPr>
        <p:spPr>
          <a:xfrm>
            <a:off x="5447995" y="3866998"/>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+0.05</a:t>
            </a:r>
            <a:endParaRPr lang="en-US" sz="1050" dirty="0"/>
          </a:p>
        </p:txBody>
      </p:sp>
      <p:sp>
        <p:nvSpPr>
          <p:cNvPr id="65" name="Text 58"/>
          <p:cNvSpPr txBox="1"/>
          <p:nvPr/>
        </p:nvSpPr>
        <p:spPr>
          <a:xfrm>
            <a:off x="5857646" y="3866998"/>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−0.05</a:t>
            </a:r>
            <a:endParaRPr lang="en-US" sz="1050" dirty="0"/>
          </a:p>
        </p:txBody>
      </p:sp>
      <p:sp>
        <p:nvSpPr>
          <p:cNvPr id="66" name="Text 59"/>
          <p:cNvSpPr txBox="1"/>
          <p:nvPr/>
        </p:nvSpPr>
        <p:spPr>
          <a:xfrm>
            <a:off x="6267298" y="3866998"/>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+0.00</a:t>
            </a:r>
            <a:endParaRPr lang="en-US" sz="1050" dirty="0"/>
          </a:p>
        </p:txBody>
      </p:sp>
      <p:sp>
        <p:nvSpPr>
          <p:cNvPr id="67" name="Text 60"/>
          <p:cNvSpPr txBox="1"/>
          <p:nvPr/>
        </p:nvSpPr>
        <p:spPr>
          <a:xfrm>
            <a:off x="6676949" y="3866998"/>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−0.20</a:t>
            </a:r>
            <a:endParaRPr lang="en-US" sz="1050" dirty="0"/>
          </a:p>
        </p:txBody>
      </p:sp>
      <p:sp>
        <p:nvSpPr>
          <p:cNvPr id="68" name="Text 61"/>
          <p:cNvSpPr txBox="1"/>
          <p:nvPr/>
        </p:nvSpPr>
        <p:spPr>
          <a:xfrm>
            <a:off x="7086600" y="3866998"/>
            <a:ext cx="362102" cy="362102"/>
          </a:xfrm>
          <a:prstGeom prst="rect">
            <a:avLst/>
          </a:prstGeom>
          <a:solidFill>
            <a:srgbClr val="BFD0E5"/>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−0.32</a:t>
            </a:r>
            <a:endParaRPr lang="en-US" sz="1050" dirty="0"/>
          </a:p>
        </p:txBody>
      </p:sp>
      <p:sp>
        <p:nvSpPr>
          <p:cNvPr id="69" name="Text 62"/>
          <p:cNvSpPr txBox="1"/>
          <p:nvPr/>
        </p:nvSpPr>
        <p:spPr>
          <a:xfrm>
            <a:off x="4629607" y="4276649"/>
            <a:ext cx="362102" cy="362102"/>
          </a:xfrm>
          <a:prstGeom prst="rect">
            <a:avLst/>
          </a:prstGeom>
          <a:solidFill>
            <a:srgbClr val="E6C3A3"/>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+0.22</a:t>
            </a:r>
            <a:endParaRPr lang="en-US" sz="1050" dirty="0"/>
          </a:p>
        </p:txBody>
      </p:sp>
      <p:sp>
        <p:nvSpPr>
          <p:cNvPr id="70" name="Text 63"/>
          <p:cNvSpPr txBox="1"/>
          <p:nvPr/>
        </p:nvSpPr>
        <p:spPr>
          <a:xfrm>
            <a:off x="5038344" y="4276649"/>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+0.10</a:t>
            </a:r>
            <a:endParaRPr lang="en-US" sz="1050" dirty="0"/>
          </a:p>
        </p:txBody>
      </p:sp>
      <p:sp>
        <p:nvSpPr>
          <p:cNvPr id="71" name="Text 64"/>
          <p:cNvSpPr txBox="1"/>
          <p:nvPr/>
        </p:nvSpPr>
        <p:spPr>
          <a:xfrm>
            <a:off x="5447995" y="4276649"/>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+0.00</a:t>
            </a:r>
            <a:endParaRPr lang="en-US" sz="1050" dirty="0"/>
          </a:p>
        </p:txBody>
      </p:sp>
      <p:sp>
        <p:nvSpPr>
          <p:cNvPr id="72" name="Text 65"/>
          <p:cNvSpPr txBox="1"/>
          <p:nvPr/>
        </p:nvSpPr>
        <p:spPr>
          <a:xfrm>
            <a:off x="5857646" y="4276649"/>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−0.08</a:t>
            </a:r>
            <a:endParaRPr lang="en-US" sz="1050" dirty="0"/>
          </a:p>
        </p:txBody>
      </p:sp>
      <p:sp>
        <p:nvSpPr>
          <p:cNvPr id="73" name="Text 66"/>
          <p:cNvSpPr txBox="1"/>
          <p:nvPr/>
        </p:nvSpPr>
        <p:spPr>
          <a:xfrm>
            <a:off x="6267298" y="4276649"/>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−0.05</a:t>
            </a:r>
            <a:endParaRPr lang="en-US" sz="1050" dirty="0"/>
          </a:p>
        </p:txBody>
      </p:sp>
      <p:sp>
        <p:nvSpPr>
          <p:cNvPr id="74" name="Text 67"/>
          <p:cNvSpPr txBox="1"/>
          <p:nvPr/>
        </p:nvSpPr>
        <p:spPr>
          <a:xfrm>
            <a:off x="6676949" y="4276649"/>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−0.18</a:t>
            </a:r>
            <a:endParaRPr lang="en-US" sz="1050" dirty="0"/>
          </a:p>
        </p:txBody>
      </p:sp>
      <p:sp>
        <p:nvSpPr>
          <p:cNvPr id="75" name="Text 68"/>
          <p:cNvSpPr txBox="1"/>
          <p:nvPr/>
        </p:nvSpPr>
        <p:spPr>
          <a:xfrm>
            <a:off x="7086600" y="4276649"/>
            <a:ext cx="362102" cy="362102"/>
          </a:xfrm>
          <a:prstGeom prst="rect">
            <a:avLst/>
          </a:prstGeom>
          <a:solidFill>
            <a:srgbClr val="BFD0E5"/>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−0.30</a:t>
            </a:r>
            <a:endParaRPr lang="en-US" sz="1050" dirty="0"/>
          </a:p>
        </p:txBody>
      </p:sp>
      <p:sp>
        <p:nvSpPr>
          <p:cNvPr id="76" name="Text 69"/>
          <p:cNvSpPr txBox="1"/>
          <p:nvPr/>
        </p:nvSpPr>
        <p:spPr>
          <a:xfrm>
            <a:off x="4629607" y="4686300"/>
            <a:ext cx="362102" cy="362102"/>
          </a:xfrm>
          <a:prstGeom prst="rect">
            <a:avLst/>
          </a:prstGeom>
          <a:solidFill>
            <a:srgbClr val="E6C3A3"/>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+0.18</a:t>
            </a:r>
            <a:endParaRPr lang="en-US" sz="1050" dirty="0"/>
          </a:p>
        </p:txBody>
      </p:sp>
      <p:sp>
        <p:nvSpPr>
          <p:cNvPr id="77" name="Text 70"/>
          <p:cNvSpPr txBox="1"/>
          <p:nvPr/>
        </p:nvSpPr>
        <p:spPr>
          <a:xfrm>
            <a:off x="5038344" y="4686300"/>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+0.05</a:t>
            </a:r>
            <a:endParaRPr lang="en-US" sz="1050" dirty="0"/>
          </a:p>
        </p:txBody>
      </p:sp>
      <p:sp>
        <p:nvSpPr>
          <p:cNvPr id="78" name="Text 71"/>
          <p:cNvSpPr txBox="1"/>
          <p:nvPr/>
        </p:nvSpPr>
        <p:spPr>
          <a:xfrm>
            <a:off x="5447995" y="4686300"/>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−0.02</a:t>
            </a:r>
            <a:endParaRPr lang="en-US" sz="1050" dirty="0"/>
          </a:p>
        </p:txBody>
      </p:sp>
      <p:sp>
        <p:nvSpPr>
          <p:cNvPr id="79" name="Text 72"/>
          <p:cNvSpPr txBox="1"/>
          <p:nvPr/>
        </p:nvSpPr>
        <p:spPr>
          <a:xfrm>
            <a:off x="5857646" y="4686300"/>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−0.02</a:t>
            </a:r>
            <a:endParaRPr lang="en-US" sz="1050" dirty="0"/>
          </a:p>
        </p:txBody>
      </p:sp>
      <p:sp>
        <p:nvSpPr>
          <p:cNvPr id="80" name="Text 73"/>
          <p:cNvSpPr txBox="1"/>
          <p:nvPr/>
        </p:nvSpPr>
        <p:spPr>
          <a:xfrm>
            <a:off x="6267298" y="4686300"/>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−0.10</a:t>
            </a:r>
            <a:endParaRPr lang="en-US" sz="1050" dirty="0"/>
          </a:p>
        </p:txBody>
      </p:sp>
      <p:sp>
        <p:nvSpPr>
          <p:cNvPr id="81" name="Text 74"/>
          <p:cNvSpPr txBox="1"/>
          <p:nvPr/>
        </p:nvSpPr>
        <p:spPr>
          <a:xfrm>
            <a:off x="6676949" y="4686300"/>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−0.15</a:t>
            </a:r>
            <a:endParaRPr lang="en-US" sz="1050" dirty="0"/>
          </a:p>
        </p:txBody>
      </p:sp>
      <p:sp>
        <p:nvSpPr>
          <p:cNvPr id="82" name="Text 75"/>
          <p:cNvSpPr txBox="1"/>
          <p:nvPr/>
        </p:nvSpPr>
        <p:spPr>
          <a:xfrm>
            <a:off x="7086600" y="4686300"/>
            <a:ext cx="362102" cy="362102"/>
          </a:xfrm>
          <a:prstGeom prst="rect">
            <a:avLst/>
          </a:prstGeom>
          <a:solidFill>
            <a:srgbClr val="BFD0E5"/>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−0.22</a:t>
            </a:r>
            <a:endParaRPr lang="en-US" sz="1050" dirty="0"/>
          </a:p>
        </p:txBody>
      </p:sp>
      <p:sp>
        <p:nvSpPr>
          <p:cNvPr id="83" name="Text 76"/>
          <p:cNvSpPr txBox="1"/>
          <p:nvPr/>
        </p:nvSpPr>
        <p:spPr>
          <a:xfrm>
            <a:off x="4629607" y="5095951"/>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+0.15</a:t>
            </a:r>
            <a:endParaRPr lang="en-US" sz="1050" dirty="0"/>
          </a:p>
        </p:txBody>
      </p:sp>
      <p:sp>
        <p:nvSpPr>
          <p:cNvPr id="84" name="Text 77"/>
          <p:cNvSpPr txBox="1"/>
          <p:nvPr/>
        </p:nvSpPr>
        <p:spPr>
          <a:xfrm>
            <a:off x="5038344" y="5095951"/>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+0.05</a:t>
            </a:r>
            <a:endParaRPr lang="en-US" sz="1050" dirty="0"/>
          </a:p>
        </p:txBody>
      </p:sp>
      <p:sp>
        <p:nvSpPr>
          <p:cNvPr id="85" name="Text 78"/>
          <p:cNvSpPr txBox="1"/>
          <p:nvPr/>
        </p:nvSpPr>
        <p:spPr>
          <a:xfrm>
            <a:off x="5447995" y="5095951"/>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−0.05</a:t>
            </a:r>
            <a:endParaRPr lang="en-US" sz="1050" dirty="0"/>
          </a:p>
        </p:txBody>
      </p:sp>
      <p:sp>
        <p:nvSpPr>
          <p:cNvPr id="86" name="Text 79"/>
          <p:cNvSpPr txBox="1"/>
          <p:nvPr/>
        </p:nvSpPr>
        <p:spPr>
          <a:xfrm>
            <a:off x="5857646" y="5095951"/>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+0.00</a:t>
            </a:r>
            <a:endParaRPr lang="en-US" sz="1050" dirty="0"/>
          </a:p>
        </p:txBody>
      </p:sp>
      <p:sp>
        <p:nvSpPr>
          <p:cNvPr id="87" name="Text 80"/>
          <p:cNvSpPr txBox="1"/>
          <p:nvPr/>
        </p:nvSpPr>
        <p:spPr>
          <a:xfrm>
            <a:off x="6267298" y="5095951"/>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−0.10</a:t>
            </a:r>
            <a:endParaRPr lang="en-US" sz="1050" dirty="0"/>
          </a:p>
        </p:txBody>
      </p:sp>
      <p:sp>
        <p:nvSpPr>
          <p:cNvPr id="88" name="Text 81"/>
          <p:cNvSpPr txBox="1"/>
          <p:nvPr/>
        </p:nvSpPr>
        <p:spPr>
          <a:xfrm>
            <a:off x="6676949" y="5095951"/>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−0.12</a:t>
            </a:r>
            <a:endParaRPr lang="en-US" sz="1050" dirty="0"/>
          </a:p>
        </p:txBody>
      </p:sp>
      <p:sp>
        <p:nvSpPr>
          <p:cNvPr id="89" name="Text 82"/>
          <p:cNvSpPr txBox="1"/>
          <p:nvPr/>
        </p:nvSpPr>
        <p:spPr>
          <a:xfrm>
            <a:off x="7086600" y="5095951"/>
            <a:ext cx="362102" cy="362102"/>
          </a:xfrm>
          <a:prstGeom prst="rect">
            <a:avLst/>
          </a:prstGeom>
          <a:solidFill>
            <a:srgbClr val="BFD0E5"/>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−0.20</a:t>
            </a:r>
            <a:endParaRPr lang="en-US" sz="1050" dirty="0"/>
          </a:p>
        </p:txBody>
      </p:sp>
      <p:sp>
        <p:nvSpPr>
          <p:cNvPr id="90" name="Text 83"/>
          <p:cNvSpPr txBox="1"/>
          <p:nvPr/>
        </p:nvSpPr>
        <p:spPr>
          <a:xfrm>
            <a:off x="4629607" y="5505602"/>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+0.12</a:t>
            </a:r>
            <a:endParaRPr lang="en-US" sz="1050" dirty="0"/>
          </a:p>
        </p:txBody>
      </p:sp>
      <p:sp>
        <p:nvSpPr>
          <p:cNvPr id="91" name="Text 84"/>
          <p:cNvSpPr txBox="1"/>
          <p:nvPr/>
        </p:nvSpPr>
        <p:spPr>
          <a:xfrm>
            <a:off x="5038344" y="5505602"/>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+0.00</a:t>
            </a:r>
            <a:endParaRPr lang="en-US" sz="1050" dirty="0"/>
          </a:p>
        </p:txBody>
      </p:sp>
      <p:sp>
        <p:nvSpPr>
          <p:cNvPr id="92" name="Text 85"/>
          <p:cNvSpPr txBox="1"/>
          <p:nvPr/>
        </p:nvSpPr>
        <p:spPr>
          <a:xfrm>
            <a:off x="5447995" y="5505602"/>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−0.08</a:t>
            </a:r>
            <a:endParaRPr lang="en-US" sz="1050" dirty="0"/>
          </a:p>
        </p:txBody>
      </p:sp>
      <p:sp>
        <p:nvSpPr>
          <p:cNvPr id="93" name="Text 86"/>
          <p:cNvSpPr txBox="1"/>
          <p:nvPr/>
        </p:nvSpPr>
        <p:spPr>
          <a:xfrm>
            <a:off x="5857646" y="5505602"/>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−0.10</a:t>
            </a:r>
            <a:endParaRPr lang="en-US" sz="1050" dirty="0"/>
          </a:p>
        </p:txBody>
      </p:sp>
      <p:sp>
        <p:nvSpPr>
          <p:cNvPr id="94" name="Text 87"/>
          <p:cNvSpPr txBox="1"/>
          <p:nvPr/>
        </p:nvSpPr>
        <p:spPr>
          <a:xfrm>
            <a:off x="6267298" y="5505602"/>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−0.12</a:t>
            </a:r>
            <a:endParaRPr lang="en-US" sz="1050" dirty="0"/>
          </a:p>
        </p:txBody>
      </p:sp>
      <p:sp>
        <p:nvSpPr>
          <p:cNvPr id="95" name="Text 88"/>
          <p:cNvSpPr txBox="1"/>
          <p:nvPr/>
        </p:nvSpPr>
        <p:spPr>
          <a:xfrm>
            <a:off x="6676949" y="5505602"/>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−0.18</a:t>
            </a:r>
            <a:endParaRPr lang="en-US" sz="1050" dirty="0"/>
          </a:p>
        </p:txBody>
      </p:sp>
      <p:sp>
        <p:nvSpPr>
          <p:cNvPr id="96" name="Text 89"/>
          <p:cNvSpPr txBox="1"/>
          <p:nvPr/>
        </p:nvSpPr>
        <p:spPr>
          <a:xfrm>
            <a:off x="7086600" y="5505602"/>
            <a:ext cx="362102" cy="362102"/>
          </a:xfrm>
          <a:prstGeom prst="rect">
            <a:avLst/>
          </a:prstGeom>
          <a:solidFill>
            <a:srgbClr val="BFD0E5"/>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−0.20</a:t>
            </a:r>
            <a:endParaRPr lang="en-US" sz="1050" dirty="0"/>
          </a:p>
        </p:txBody>
      </p:sp>
      <p:sp>
        <p:nvSpPr>
          <p:cNvPr id="97" name="Text 90"/>
          <p:cNvSpPr txBox="1"/>
          <p:nvPr/>
        </p:nvSpPr>
        <p:spPr>
          <a:xfrm>
            <a:off x="4629607" y="5915254"/>
            <a:ext cx="362102" cy="362102"/>
          </a:xfrm>
          <a:prstGeom prst="rect">
            <a:avLst/>
          </a:prstGeom>
          <a:solidFill>
            <a:srgbClr val="E6C3A3"/>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+0.18</a:t>
            </a:r>
            <a:endParaRPr lang="en-US" sz="1050" dirty="0"/>
          </a:p>
        </p:txBody>
      </p:sp>
      <p:sp>
        <p:nvSpPr>
          <p:cNvPr id="98" name="Text 91"/>
          <p:cNvSpPr txBox="1"/>
          <p:nvPr/>
        </p:nvSpPr>
        <p:spPr>
          <a:xfrm>
            <a:off x="5038344" y="5915254"/>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+0.05</a:t>
            </a:r>
            <a:endParaRPr lang="en-US" sz="1050" dirty="0"/>
          </a:p>
        </p:txBody>
      </p:sp>
      <p:sp>
        <p:nvSpPr>
          <p:cNvPr id="99" name="Text 92"/>
          <p:cNvSpPr txBox="1"/>
          <p:nvPr/>
        </p:nvSpPr>
        <p:spPr>
          <a:xfrm>
            <a:off x="5447995" y="5915254"/>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−0.05</a:t>
            </a:r>
            <a:endParaRPr lang="en-US" sz="1050" dirty="0"/>
          </a:p>
        </p:txBody>
      </p:sp>
      <p:sp>
        <p:nvSpPr>
          <p:cNvPr id="100" name="Text 93"/>
          <p:cNvSpPr txBox="1"/>
          <p:nvPr/>
        </p:nvSpPr>
        <p:spPr>
          <a:xfrm>
            <a:off x="5857646" y="5915254"/>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−0.12</a:t>
            </a:r>
            <a:endParaRPr lang="en-US" sz="1050" dirty="0"/>
          </a:p>
        </p:txBody>
      </p:sp>
      <p:sp>
        <p:nvSpPr>
          <p:cNvPr id="101" name="Text 94"/>
          <p:cNvSpPr txBox="1"/>
          <p:nvPr/>
        </p:nvSpPr>
        <p:spPr>
          <a:xfrm>
            <a:off x="6267298" y="5915254"/>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−0.15</a:t>
            </a:r>
            <a:endParaRPr lang="en-US" sz="1050" dirty="0"/>
          </a:p>
        </p:txBody>
      </p:sp>
      <p:sp>
        <p:nvSpPr>
          <p:cNvPr id="102" name="Text 95"/>
          <p:cNvSpPr txBox="1"/>
          <p:nvPr/>
        </p:nvSpPr>
        <p:spPr>
          <a:xfrm>
            <a:off x="6676949" y="5915254"/>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−0.22</a:t>
            </a:r>
            <a:endParaRPr lang="en-US" sz="1050" dirty="0"/>
          </a:p>
        </p:txBody>
      </p:sp>
      <p:sp>
        <p:nvSpPr>
          <p:cNvPr id="103" name="Text 96"/>
          <p:cNvSpPr txBox="1"/>
          <p:nvPr/>
        </p:nvSpPr>
        <p:spPr>
          <a:xfrm>
            <a:off x="7086600" y="5915254"/>
            <a:ext cx="362102" cy="362102"/>
          </a:xfrm>
          <a:prstGeom prst="rect">
            <a:avLst/>
          </a:prstGeom>
          <a:solidFill>
            <a:srgbClr val="BFD0E5"/>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−0.30</a:t>
            </a:r>
            <a:endParaRPr lang="en-US" sz="1050" dirty="0"/>
          </a:p>
        </p:txBody>
      </p:sp>
      <p:sp>
        <p:nvSpPr>
          <p:cNvPr id="104" name="Text 97"/>
          <p:cNvSpPr txBox="1"/>
          <p:nvPr/>
        </p:nvSpPr>
        <p:spPr>
          <a:xfrm>
            <a:off x="4629607" y="6324905"/>
            <a:ext cx="362102" cy="362102"/>
          </a:xfrm>
          <a:prstGeom prst="rect">
            <a:avLst/>
          </a:prstGeom>
          <a:solidFill>
            <a:srgbClr val="E6C3A3"/>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+0.25</a:t>
            </a:r>
            <a:endParaRPr lang="en-US" sz="1050" dirty="0"/>
          </a:p>
        </p:txBody>
      </p:sp>
      <p:sp>
        <p:nvSpPr>
          <p:cNvPr id="105" name="Text 98"/>
          <p:cNvSpPr txBox="1"/>
          <p:nvPr/>
        </p:nvSpPr>
        <p:spPr>
          <a:xfrm>
            <a:off x="5038344" y="6324905"/>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+0.10</a:t>
            </a:r>
            <a:endParaRPr lang="en-US" sz="1050" dirty="0"/>
          </a:p>
        </p:txBody>
      </p:sp>
      <p:sp>
        <p:nvSpPr>
          <p:cNvPr id="106" name="Text 99"/>
          <p:cNvSpPr txBox="1"/>
          <p:nvPr/>
        </p:nvSpPr>
        <p:spPr>
          <a:xfrm>
            <a:off x="5447995" y="6324905"/>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−0.02</a:t>
            </a:r>
            <a:endParaRPr lang="en-US" sz="1050" dirty="0"/>
          </a:p>
        </p:txBody>
      </p:sp>
      <p:sp>
        <p:nvSpPr>
          <p:cNvPr id="107" name="Text 100"/>
          <p:cNvSpPr txBox="1"/>
          <p:nvPr/>
        </p:nvSpPr>
        <p:spPr>
          <a:xfrm>
            <a:off x="5857646" y="6324905"/>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−0.20</a:t>
            </a:r>
            <a:endParaRPr lang="en-US" sz="1050" dirty="0"/>
          </a:p>
        </p:txBody>
      </p:sp>
      <p:sp>
        <p:nvSpPr>
          <p:cNvPr id="108" name="Text 101"/>
          <p:cNvSpPr txBox="1"/>
          <p:nvPr/>
        </p:nvSpPr>
        <p:spPr>
          <a:xfrm>
            <a:off x="6267298" y="6324905"/>
            <a:ext cx="362102" cy="362102"/>
          </a:xfrm>
          <a:prstGeom prst="rect">
            <a:avLst/>
          </a:prstGeom>
          <a:solidFill>
            <a:srgbClr val="BFD0E5"/>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−0.25</a:t>
            </a:r>
            <a:endParaRPr lang="en-US" sz="1050" dirty="0"/>
          </a:p>
        </p:txBody>
      </p:sp>
      <p:sp>
        <p:nvSpPr>
          <p:cNvPr id="109" name="Text 102"/>
          <p:cNvSpPr txBox="1"/>
          <p:nvPr/>
        </p:nvSpPr>
        <p:spPr>
          <a:xfrm>
            <a:off x="6676949" y="6324905"/>
            <a:ext cx="362102" cy="362102"/>
          </a:xfrm>
          <a:prstGeom prst="rect">
            <a:avLst/>
          </a:prstGeom>
          <a:solidFill>
            <a:srgbClr val="BFD0E5"/>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−0.30</a:t>
            </a:r>
            <a:endParaRPr lang="en-US" sz="1050" dirty="0"/>
          </a:p>
        </p:txBody>
      </p:sp>
      <p:sp>
        <p:nvSpPr>
          <p:cNvPr id="110" name="Text 103"/>
          <p:cNvSpPr txBox="1"/>
          <p:nvPr/>
        </p:nvSpPr>
        <p:spPr>
          <a:xfrm>
            <a:off x="7086600" y="6324905"/>
            <a:ext cx="362102" cy="362102"/>
          </a:xfrm>
          <a:prstGeom prst="rect">
            <a:avLst/>
          </a:prstGeom>
          <a:solidFill>
            <a:srgbClr val="BFD0E5"/>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−0.40</a:t>
            </a:r>
            <a:endParaRPr lang="en-US" sz="1050" dirty="0"/>
          </a:p>
        </p:txBody>
      </p:sp>
      <p:sp>
        <p:nvSpPr>
          <p:cNvPr id="111" name="Text 104"/>
          <p:cNvSpPr txBox="1"/>
          <p:nvPr/>
        </p:nvSpPr>
        <p:spPr>
          <a:xfrm>
            <a:off x="8496605" y="3543300"/>
            <a:ext cx="2286000" cy="191110"/>
          </a:xfrm>
          <a:prstGeom prst="rect">
            <a:avLst/>
          </a:prstGeom>
          <a:noFill/>
          <a:ln/>
        </p:spPr>
        <p:txBody>
          <a:bodyPr wrap="none" lIns="0" tIns="0" rIns="0" bIns="0" rtlCol="0" anchor="ctr"/>
          <a:lstStyle/>
          <a:p>
            <a:pPr algn="l" indent="0" marL="0">
              <a:buNone/>
            </a:pPr>
            <a:r>
              <a:rPr lang="en-US" sz="1050" b="1" spc="63" kern="0" dirty="0">
                <a:solidFill>
                  <a:srgbClr val="B85A2A"/>
                </a:solidFill>
                <a:latin typeface="Pretendard" pitchFamily="34" charset="0"/>
                <a:ea typeface="Pretendard" pitchFamily="34" charset="-122"/>
                <a:cs typeface="Pretendard" pitchFamily="34" charset="-120"/>
              </a:rPr>
              <a:t>W03 · SALELE</a:t>
            </a:r>
            <a:endParaRPr lang="en-US" sz="1050" dirty="0"/>
          </a:p>
        </p:txBody>
      </p:sp>
      <p:sp>
        <p:nvSpPr>
          <p:cNvPr id="112" name="Text 105"/>
          <p:cNvSpPr txBox="1"/>
          <p:nvPr/>
        </p:nvSpPr>
        <p:spPr>
          <a:xfrm>
            <a:off x="8496605" y="3866998"/>
            <a:ext cx="362102" cy="362102"/>
          </a:xfrm>
          <a:prstGeom prst="rect">
            <a:avLst/>
          </a:prstGeom>
          <a:solidFill>
            <a:srgbClr val="E6C3A3"/>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+0.18</a:t>
            </a:r>
            <a:endParaRPr lang="en-US" sz="1050" dirty="0"/>
          </a:p>
        </p:txBody>
      </p:sp>
      <p:sp>
        <p:nvSpPr>
          <p:cNvPr id="113" name="Text 106"/>
          <p:cNvSpPr txBox="1"/>
          <p:nvPr/>
        </p:nvSpPr>
        <p:spPr>
          <a:xfrm>
            <a:off x="8906256" y="3866998"/>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+0.08</a:t>
            </a:r>
            <a:endParaRPr lang="en-US" sz="1050" dirty="0"/>
          </a:p>
        </p:txBody>
      </p:sp>
      <p:sp>
        <p:nvSpPr>
          <p:cNvPr id="114" name="Text 107"/>
          <p:cNvSpPr txBox="1"/>
          <p:nvPr/>
        </p:nvSpPr>
        <p:spPr>
          <a:xfrm>
            <a:off x="9315907" y="3866998"/>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+0.00</a:t>
            </a:r>
            <a:endParaRPr lang="en-US" sz="1050" dirty="0"/>
          </a:p>
        </p:txBody>
      </p:sp>
      <p:sp>
        <p:nvSpPr>
          <p:cNvPr id="115" name="Text 108"/>
          <p:cNvSpPr txBox="1"/>
          <p:nvPr/>
        </p:nvSpPr>
        <p:spPr>
          <a:xfrm>
            <a:off x="9724644" y="3866998"/>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−0.05</a:t>
            </a:r>
            <a:endParaRPr lang="en-US" sz="1050" dirty="0"/>
          </a:p>
        </p:txBody>
      </p:sp>
      <p:sp>
        <p:nvSpPr>
          <p:cNvPr id="116" name="Text 109"/>
          <p:cNvSpPr txBox="1"/>
          <p:nvPr/>
        </p:nvSpPr>
        <p:spPr>
          <a:xfrm>
            <a:off x="10134295" y="3866998"/>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+0.02</a:t>
            </a:r>
            <a:endParaRPr lang="en-US" sz="1050" dirty="0"/>
          </a:p>
        </p:txBody>
      </p:sp>
      <p:sp>
        <p:nvSpPr>
          <p:cNvPr id="117" name="Text 110"/>
          <p:cNvSpPr txBox="1"/>
          <p:nvPr/>
        </p:nvSpPr>
        <p:spPr>
          <a:xfrm>
            <a:off x="10543946" y="3866998"/>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−0.10</a:t>
            </a:r>
            <a:endParaRPr lang="en-US" sz="1050" dirty="0"/>
          </a:p>
        </p:txBody>
      </p:sp>
      <p:sp>
        <p:nvSpPr>
          <p:cNvPr id="118" name="Text 111"/>
          <p:cNvSpPr txBox="1"/>
          <p:nvPr/>
        </p:nvSpPr>
        <p:spPr>
          <a:xfrm>
            <a:off x="10953598" y="3866998"/>
            <a:ext cx="362102" cy="362102"/>
          </a:xfrm>
          <a:prstGeom prst="rect">
            <a:avLst/>
          </a:prstGeom>
          <a:solidFill>
            <a:srgbClr val="BFD0E5"/>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−0.20</a:t>
            </a:r>
            <a:endParaRPr lang="en-US" sz="1050" dirty="0"/>
          </a:p>
        </p:txBody>
      </p:sp>
      <p:sp>
        <p:nvSpPr>
          <p:cNvPr id="119" name="Text 112"/>
          <p:cNvSpPr txBox="1"/>
          <p:nvPr/>
        </p:nvSpPr>
        <p:spPr>
          <a:xfrm>
            <a:off x="8496605" y="4276649"/>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+0.12</a:t>
            </a:r>
            <a:endParaRPr lang="en-US" sz="1050" dirty="0"/>
          </a:p>
        </p:txBody>
      </p:sp>
      <p:sp>
        <p:nvSpPr>
          <p:cNvPr id="120" name="Text 113"/>
          <p:cNvSpPr txBox="1"/>
          <p:nvPr/>
        </p:nvSpPr>
        <p:spPr>
          <a:xfrm>
            <a:off x="8906256" y="4276649"/>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+0.05</a:t>
            </a:r>
            <a:endParaRPr lang="en-US" sz="1050" dirty="0"/>
          </a:p>
        </p:txBody>
      </p:sp>
      <p:sp>
        <p:nvSpPr>
          <p:cNvPr id="121" name="Text 114"/>
          <p:cNvSpPr txBox="1"/>
          <p:nvPr/>
        </p:nvSpPr>
        <p:spPr>
          <a:xfrm>
            <a:off x="9315907" y="4276649"/>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−0.02</a:t>
            </a:r>
            <a:endParaRPr lang="en-US" sz="1050" dirty="0"/>
          </a:p>
        </p:txBody>
      </p:sp>
      <p:sp>
        <p:nvSpPr>
          <p:cNvPr id="122" name="Text 115"/>
          <p:cNvSpPr txBox="1"/>
          <p:nvPr/>
        </p:nvSpPr>
        <p:spPr>
          <a:xfrm>
            <a:off x="9724644" y="4276649"/>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−0.05</a:t>
            </a:r>
            <a:endParaRPr lang="en-US" sz="1050" dirty="0"/>
          </a:p>
        </p:txBody>
      </p:sp>
      <p:sp>
        <p:nvSpPr>
          <p:cNvPr id="123" name="Text 116"/>
          <p:cNvSpPr txBox="1"/>
          <p:nvPr/>
        </p:nvSpPr>
        <p:spPr>
          <a:xfrm>
            <a:off x="10134295" y="4276649"/>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−0.02</a:t>
            </a:r>
            <a:endParaRPr lang="en-US" sz="1050" dirty="0"/>
          </a:p>
        </p:txBody>
      </p:sp>
      <p:sp>
        <p:nvSpPr>
          <p:cNvPr id="124" name="Text 117"/>
          <p:cNvSpPr txBox="1"/>
          <p:nvPr/>
        </p:nvSpPr>
        <p:spPr>
          <a:xfrm>
            <a:off x="10543946" y="4276649"/>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−0.08</a:t>
            </a:r>
            <a:endParaRPr lang="en-US" sz="1050" dirty="0"/>
          </a:p>
        </p:txBody>
      </p:sp>
      <p:sp>
        <p:nvSpPr>
          <p:cNvPr id="125" name="Text 118"/>
          <p:cNvSpPr txBox="1"/>
          <p:nvPr/>
        </p:nvSpPr>
        <p:spPr>
          <a:xfrm>
            <a:off x="10953598" y="4276649"/>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−0.15</a:t>
            </a:r>
            <a:endParaRPr lang="en-US" sz="1050" dirty="0"/>
          </a:p>
        </p:txBody>
      </p:sp>
      <p:sp>
        <p:nvSpPr>
          <p:cNvPr id="126" name="Text 119"/>
          <p:cNvSpPr txBox="1"/>
          <p:nvPr/>
        </p:nvSpPr>
        <p:spPr>
          <a:xfrm>
            <a:off x="8496605" y="4686300"/>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+0.08</a:t>
            </a:r>
            <a:endParaRPr lang="en-US" sz="1050" dirty="0"/>
          </a:p>
        </p:txBody>
      </p:sp>
      <p:sp>
        <p:nvSpPr>
          <p:cNvPr id="127" name="Text 120"/>
          <p:cNvSpPr txBox="1"/>
          <p:nvPr/>
        </p:nvSpPr>
        <p:spPr>
          <a:xfrm>
            <a:off x="8906256" y="4686300"/>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+0.02</a:t>
            </a:r>
            <a:endParaRPr lang="en-US" sz="1050" dirty="0"/>
          </a:p>
        </p:txBody>
      </p:sp>
      <p:sp>
        <p:nvSpPr>
          <p:cNvPr id="128" name="Text 121"/>
          <p:cNvSpPr txBox="1"/>
          <p:nvPr/>
        </p:nvSpPr>
        <p:spPr>
          <a:xfrm>
            <a:off x="9315907" y="4686300"/>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−0.02</a:t>
            </a:r>
            <a:endParaRPr lang="en-US" sz="1050" dirty="0"/>
          </a:p>
        </p:txBody>
      </p:sp>
      <p:sp>
        <p:nvSpPr>
          <p:cNvPr id="129" name="Text 122"/>
          <p:cNvSpPr txBox="1"/>
          <p:nvPr/>
        </p:nvSpPr>
        <p:spPr>
          <a:xfrm>
            <a:off x="9724644" y="4686300"/>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+0.00</a:t>
            </a:r>
            <a:endParaRPr lang="en-US" sz="1050" dirty="0"/>
          </a:p>
        </p:txBody>
      </p:sp>
      <p:sp>
        <p:nvSpPr>
          <p:cNvPr id="130" name="Text 123"/>
          <p:cNvSpPr txBox="1"/>
          <p:nvPr/>
        </p:nvSpPr>
        <p:spPr>
          <a:xfrm>
            <a:off x="10134295" y="4686300"/>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−0.05</a:t>
            </a:r>
            <a:endParaRPr lang="en-US" sz="1050" dirty="0"/>
          </a:p>
        </p:txBody>
      </p:sp>
      <p:sp>
        <p:nvSpPr>
          <p:cNvPr id="131" name="Text 124"/>
          <p:cNvSpPr txBox="1"/>
          <p:nvPr/>
        </p:nvSpPr>
        <p:spPr>
          <a:xfrm>
            <a:off x="10543946" y="4686300"/>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−0.10</a:t>
            </a:r>
            <a:endParaRPr lang="en-US" sz="1050" dirty="0"/>
          </a:p>
        </p:txBody>
      </p:sp>
      <p:sp>
        <p:nvSpPr>
          <p:cNvPr id="132" name="Text 125"/>
          <p:cNvSpPr txBox="1"/>
          <p:nvPr/>
        </p:nvSpPr>
        <p:spPr>
          <a:xfrm>
            <a:off x="10953598" y="4686300"/>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−0.18</a:t>
            </a:r>
            <a:endParaRPr lang="en-US" sz="1050" dirty="0"/>
          </a:p>
        </p:txBody>
      </p:sp>
      <p:sp>
        <p:nvSpPr>
          <p:cNvPr id="133" name="Text 126"/>
          <p:cNvSpPr txBox="1"/>
          <p:nvPr/>
        </p:nvSpPr>
        <p:spPr>
          <a:xfrm>
            <a:off x="8496605" y="5095951"/>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+0.05</a:t>
            </a:r>
            <a:endParaRPr lang="en-US" sz="1050" dirty="0"/>
          </a:p>
        </p:txBody>
      </p:sp>
      <p:sp>
        <p:nvSpPr>
          <p:cNvPr id="134" name="Text 127"/>
          <p:cNvSpPr txBox="1"/>
          <p:nvPr/>
        </p:nvSpPr>
        <p:spPr>
          <a:xfrm>
            <a:off x="8906256" y="5095951"/>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+0.00</a:t>
            </a:r>
            <a:endParaRPr lang="en-US" sz="1050" dirty="0"/>
          </a:p>
        </p:txBody>
      </p:sp>
      <p:sp>
        <p:nvSpPr>
          <p:cNvPr id="135" name="Text 128"/>
          <p:cNvSpPr txBox="1"/>
          <p:nvPr/>
        </p:nvSpPr>
        <p:spPr>
          <a:xfrm>
            <a:off x="9315907" y="5095951"/>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−0.05</a:t>
            </a:r>
            <a:endParaRPr lang="en-US" sz="1050" dirty="0"/>
          </a:p>
        </p:txBody>
      </p:sp>
      <p:sp>
        <p:nvSpPr>
          <p:cNvPr id="136" name="Text 129"/>
          <p:cNvSpPr txBox="1"/>
          <p:nvPr/>
        </p:nvSpPr>
        <p:spPr>
          <a:xfrm>
            <a:off x="9724644" y="5095951"/>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−0.02</a:t>
            </a:r>
            <a:endParaRPr lang="en-US" sz="1050" dirty="0"/>
          </a:p>
        </p:txBody>
      </p:sp>
      <p:sp>
        <p:nvSpPr>
          <p:cNvPr id="137" name="Text 130"/>
          <p:cNvSpPr txBox="1"/>
          <p:nvPr/>
        </p:nvSpPr>
        <p:spPr>
          <a:xfrm>
            <a:off x="10134295" y="5095951"/>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−0.08</a:t>
            </a:r>
            <a:endParaRPr lang="en-US" sz="1050" dirty="0"/>
          </a:p>
        </p:txBody>
      </p:sp>
      <p:sp>
        <p:nvSpPr>
          <p:cNvPr id="138" name="Text 131"/>
          <p:cNvSpPr txBox="1"/>
          <p:nvPr/>
        </p:nvSpPr>
        <p:spPr>
          <a:xfrm>
            <a:off x="10543946" y="5095951"/>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−0.08</a:t>
            </a:r>
            <a:endParaRPr lang="en-US" sz="1050" dirty="0"/>
          </a:p>
        </p:txBody>
      </p:sp>
      <p:sp>
        <p:nvSpPr>
          <p:cNvPr id="139" name="Text 132"/>
          <p:cNvSpPr txBox="1"/>
          <p:nvPr/>
        </p:nvSpPr>
        <p:spPr>
          <a:xfrm>
            <a:off x="10953598" y="5095951"/>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−0.15</a:t>
            </a:r>
            <a:endParaRPr lang="en-US" sz="1050" dirty="0"/>
          </a:p>
        </p:txBody>
      </p:sp>
      <p:sp>
        <p:nvSpPr>
          <p:cNvPr id="140" name="Text 133"/>
          <p:cNvSpPr txBox="1"/>
          <p:nvPr/>
        </p:nvSpPr>
        <p:spPr>
          <a:xfrm>
            <a:off x="8496605" y="5505602"/>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+0.05</a:t>
            </a:r>
            <a:endParaRPr lang="en-US" sz="1050" dirty="0"/>
          </a:p>
        </p:txBody>
      </p:sp>
      <p:sp>
        <p:nvSpPr>
          <p:cNvPr id="141" name="Text 134"/>
          <p:cNvSpPr txBox="1"/>
          <p:nvPr/>
        </p:nvSpPr>
        <p:spPr>
          <a:xfrm>
            <a:off x="8906256" y="5505602"/>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−0.02</a:t>
            </a:r>
            <a:endParaRPr lang="en-US" sz="1050" dirty="0"/>
          </a:p>
        </p:txBody>
      </p:sp>
      <p:sp>
        <p:nvSpPr>
          <p:cNvPr id="142" name="Text 135"/>
          <p:cNvSpPr txBox="1"/>
          <p:nvPr/>
        </p:nvSpPr>
        <p:spPr>
          <a:xfrm>
            <a:off x="9315907" y="5505602"/>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−0.05</a:t>
            </a:r>
            <a:endParaRPr lang="en-US" sz="1050" dirty="0"/>
          </a:p>
        </p:txBody>
      </p:sp>
      <p:sp>
        <p:nvSpPr>
          <p:cNvPr id="143" name="Text 136"/>
          <p:cNvSpPr txBox="1"/>
          <p:nvPr/>
        </p:nvSpPr>
        <p:spPr>
          <a:xfrm>
            <a:off x="9724644" y="5505602"/>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−0.08</a:t>
            </a:r>
            <a:endParaRPr lang="en-US" sz="1050" dirty="0"/>
          </a:p>
        </p:txBody>
      </p:sp>
      <p:sp>
        <p:nvSpPr>
          <p:cNvPr id="144" name="Text 137"/>
          <p:cNvSpPr txBox="1"/>
          <p:nvPr/>
        </p:nvSpPr>
        <p:spPr>
          <a:xfrm>
            <a:off x="10134295" y="5505602"/>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−0.10</a:t>
            </a:r>
            <a:endParaRPr lang="en-US" sz="1050" dirty="0"/>
          </a:p>
        </p:txBody>
      </p:sp>
      <p:sp>
        <p:nvSpPr>
          <p:cNvPr id="145" name="Text 138"/>
          <p:cNvSpPr txBox="1"/>
          <p:nvPr/>
        </p:nvSpPr>
        <p:spPr>
          <a:xfrm>
            <a:off x="10543946" y="5505602"/>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−0.12</a:t>
            </a:r>
            <a:endParaRPr lang="en-US" sz="1050" dirty="0"/>
          </a:p>
        </p:txBody>
      </p:sp>
      <p:sp>
        <p:nvSpPr>
          <p:cNvPr id="146" name="Text 139"/>
          <p:cNvSpPr txBox="1"/>
          <p:nvPr/>
        </p:nvSpPr>
        <p:spPr>
          <a:xfrm>
            <a:off x="10953598" y="5505602"/>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−0.18</a:t>
            </a:r>
            <a:endParaRPr lang="en-US" sz="1050" dirty="0"/>
          </a:p>
        </p:txBody>
      </p:sp>
      <p:sp>
        <p:nvSpPr>
          <p:cNvPr id="147" name="Text 140"/>
          <p:cNvSpPr txBox="1"/>
          <p:nvPr/>
        </p:nvSpPr>
        <p:spPr>
          <a:xfrm>
            <a:off x="8496605" y="5915254"/>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+0.08</a:t>
            </a:r>
            <a:endParaRPr lang="en-US" sz="1050" dirty="0"/>
          </a:p>
        </p:txBody>
      </p:sp>
      <p:sp>
        <p:nvSpPr>
          <p:cNvPr id="148" name="Text 141"/>
          <p:cNvSpPr txBox="1"/>
          <p:nvPr/>
        </p:nvSpPr>
        <p:spPr>
          <a:xfrm>
            <a:off x="8906256" y="5915254"/>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+0.00</a:t>
            </a:r>
            <a:endParaRPr lang="en-US" sz="1050" dirty="0"/>
          </a:p>
        </p:txBody>
      </p:sp>
      <p:sp>
        <p:nvSpPr>
          <p:cNvPr id="149" name="Text 142"/>
          <p:cNvSpPr txBox="1"/>
          <p:nvPr/>
        </p:nvSpPr>
        <p:spPr>
          <a:xfrm>
            <a:off x="9315907" y="5915254"/>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−0.08</a:t>
            </a:r>
            <a:endParaRPr lang="en-US" sz="1050" dirty="0"/>
          </a:p>
        </p:txBody>
      </p:sp>
      <p:sp>
        <p:nvSpPr>
          <p:cNvPr id="150" name="Text 143"/>
          <p:cNvSpPr txBox="1"/>
          <p:nvPr/>
        </p:nvSpPr>
        <p:spPr>
          <a:xfrm>
            <a:off x="9724644" y="5915254"/>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−0.10</a:t>
            </a:r>
            <a:endParaRPr lang="en-US" sz="1050" dirty="0"/>
          </a:p>
        </p:txBody>
      </p:sp>
      <p:sp>
        <p:nvSpPr>
          <p:cNvPr id="151" name="Text 144"/>
          <p:cNvSpPr txBox="1"/>
          <p:nvPr/>
        </p:nvSpPr>
        <p:spPr>
          <a:xfrm>
            <a:off x="10134295" y="5915254"/>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−0.10</a:t>
            </a:r>
            <a:endParaRPr lang="en-US" sz="1050" dirty="0"/>
          </a:p>
        </p:txBody>
      </p:sp>
      <p:sp>
        <p:nvSpPr>
          <p:cNvPr id="152" name="Text 145"/>
          <p:cNvSpPr txBox="1"/>
          <p:nvPr/>
        </p:nvSpPr>
        <p:spPr>
          <a:xfrm>
            <a:off x="10543946" y="5915254"/>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−0.15</a:t>
            </a:r>
            <a:endParaRPr lang="en-US" sz="1050" dirty="0"/>
          </a:p>
        </p:txBody>
      </p:sp>
      <p:sp>
        <p:nvSpPr>
          <p:cNvPr id="153" name="Text 146"/>
          <p:cNvSpPr txBox="1"/>
          <p:nvPr/>
        </p:nvSpPr>
        <p:spPr>
          <a:xfrm>
            <a:off x="10953598" y="5915254"/>
            <a:ext cx="362102" cy="362102"/>
          </a:xfrm>
          <a:prstGeom prst="rect">
            <a:avLst/>
          </a:prstGeom>
          <a:solidFill>
            <a:srgbClr val="BFD0E5"/>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−0.22</a:t>
            </a:r>
            <a:endParaRPr lang="en-US" sz="1050" dirty="0"/>
          </a:p>
        </p:txBody>
      </p:sp>
      <p:sp>
        <p:nvSpPr>
          <p:cNvPr id="154" name="Text 147"/>
          <p:cNvSpPr txBox="1"/>
          <p:nvPr/>
        </p:nvSpPr>
        <p:spPr>
          <a:xfrm>
            <a:off x="8496605" y="6324905"/>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+0.12</a:t>
            </a:r>
            <a:endParaRPr lang="en-US" sz="1050" dirty="0"/>
          </a:p>
        </p:txBody>
      </p:sp>
      <p:sp>
        <p:nvSpPr>
          <p:cNvPr id="155" name="Text 148"/>
          <p:cNvSpPr txBox="1"/>
          <p:nvPr/>
        </p:nvSpPr>
        <p:spPr>
          <a:xfrm>
            <a:off x="8906256" y="6324905"/>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+0.05</a:t>
            </a:r>
            <a:endParaRPr lang="en-US" sz="1050" dirty="0"/>
          </a:p>
        </p:txBody>
      </p:sp>
      <p:sp>
        <p:nvSpPr>
          <p:cNvPr id="156" name="Text 149"/>
          <p:cNvSpPr txBox="1"/>
          <p:nvPr/>
        </p:nvSpPr>
        <p:spPr>
          <a:xfrm>
            <a:off x="9315907" y="6324905"/>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−0.05</a:t>
            </a:r>
            <a:endParaRPr lang="en-US" sz="1050" dirty="0"/>
          </a:p>
        </p:txBody>
      </p:sp>
      <p:sp>
        <p:nvSpPr>
          <p:cNvPr id="157" name="Text 150"/>
          <p:cNvSpPr txBox="1"/>
          <p:nvPr/>
        </p:nvSpPr>
        <p:spPr>
          <a:xfrm>
            <a:off x="9724644" y="6324905"/>
            <a:ext cx="362102" cy="362102"/>
          </a:xfrm>
          <a:prstGeom prst="rect">
            <a:avLst/>
          </a:prstGeom>
          <a:solidFill>
            <a:srgbClr val="ECE5D2"/>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−0.18</a:t>
            </a:r>
            <a:endParaRPr lang="en-US" sz="1050" dirty="0"/>
          </a:p>
        </p:txBody>
      </p:sp>
      <p:sp>
        <p:nvSpPr>
          <p:cNvPr id="158" name="Text 151"/>
          <p:cNvSpPr txBox="1"/>
          <p:nvPr/>
        </p:nvSpPr>
        <p:spPr>
          <a:xfrm>
            <a:off x="10134295" y="6324905"/>
            <a:ext cx="362102" cy="362102"/>
          </a:xfrm>
          <a:prstGeom prst="rect">
            <a:avLst/>
          </a:prstGeom>
          <a:solidFill>
            <a:srgbClr val="BFD0E5"/>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−0.22</a:t>
            </a:r>
            <a:endParaRPr lang="en-US" sz="1050" dirty="0"/>
          </a:p>
        </p:txBody>
      </p:sp>
      <p:sp>
        <p:nvSpPr>
          <p:cNvPr id="159" name="Text 152"/>
          <p:cNvSpPr txBox="1"/>
          <p:nvPr/>
        </p:nvSpPr>
        <p:spPr>
          <a:xfrm>
            <a:off x="10543946" y="6324905"/>
            <a:ext cx="362102" cy="362102"/>
          </a:xfrm>
          <a:prstGeom prst="rect">
            <a:avLst/>
          </a:prstGeom>
          <a:solidFill>
            <a:srgbClr val="BFD0E5"/>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−0.20</a:t>
            </a:r>
            <a:endParaRPr lang="en-US" sz="1050" dirty="0"/>
          </a:p>
        </p:txBody>
      </p:sp>
      <p:sp>
        <p:nvSpPr>
          <p:cNvPr id="160" name="Text 153"/>
          <p:cNvSpPr txBox="1"/>
          <p:nvPr/>
        </p:nvSpPr>
        <p:spPr>
          <a:xfrm>
            <a:off x="10953598" y="6324905"/>
            <a:ext cx="362102" cy="362102"/>
          </a:xfrm>
          <a:prstGeom prst="rect">
            <a:avLst/>
          </a:prstGeom>
          <a:solidFill>
            <a:srgbClr val="BFD0E5"/>
          </a:solidFill>
          <a:ln>
            <a:solidFill>
              <a:srgbClr val="FFFFFF">
                <a:alpha val="0"/>
              </a:srgbClr>
            </a:solidFill>
          </a:ln>
        </p:spPr>
        <p:txBody>
          <a:bodyPr wrap="square" lIns="0" tIns="0" rIns="0" bIns="0" rtlCol="0" anchor="ctr"/>
          <a:lstStyle/>
          <a:p>
            <a:pPr algn="ctr" indent="0" marL="0">
              <a:buNone/>
            </a:pPr>
            <a:r>
              <a:rPr lang="en-US" sz="1050" dirty="0">
                <a:solidFill>
                  <a:srgbClr val="11233A"/>
                </a:solidFill>
                <a:latin typeface="ui-monospace" pitchFamily="34" charset="0"/>
                <a:ea typeface="ui-monospace" pitchFamily="34" charset="-122"/>
                <a:cs typeface="ui-monospace" pitchFamily="34" charset="-120"/>
              </a:rPr>
              <a:t>−0.30</a:t>
            </a:r>
            <a:endParaRPr lang="en-US" sz="1050" dirty="0"/>
          </a:p>
        </p:txBody>
      </p:sp>
      <p:sp>
        <p:nvSpPr>
          <p:cNvPr id="161" name="Text 154"/>
          <p:cNvSpPr txBox="1"/>
          <p:nvPr/>
        </p:nvSpPr>
        <p:spPr>
          <a:xfrm>
            <a:off x="12420295" y="4095598"/>
            <a:ext cx="4953305" cy="191110"/>
          </a:xfrm>
          <a:prstGeom prst="rect">
            <a:avLst/>
          </a:prstGeom>
          <a:noFill/>
          <a:ln/>
        </p:spPr>
        <p:txBody>
          <a:bodyPr wrap="none" lIns="0" tIns="0" rIns="0" bIns="0" rtlCol="0" anchor="ctr"/>
          <a:lstStyle/>
          <a:p>
            <a:pPr algn="l" indent="0" marL="0">
              <a:buNone/>
            </a:pPr>
            <a:r>
              <a:rPr lang="en-US" sz="1050" b="1" spc="63" kern="0" dirty="0">
                <a:solidFill>
                  <a:srgbClr val="5E6877"/>
                </a:solidFill>
                <a:latin typeface="Pretendard" pitchFamily="34" charset="0"/>
                <a:ea typeface="Pretendard" pitchFamily="34" charset="-122"/>
                <a:cs typeface="Pretendard" pitchFamily="34" charset="-120"/>
              </a:rPr>
              <a:t>편차 스케일 (wafer-mean 대비 nm)</a:t>
            </a:r>
            <a:endParaRPr lang="en-US" sz="1050" dirty="0"/>
          </a:p>
        </p:txBody>
      </p:sp>
      <p:sp>
        <p:nvSpPr>
          <p:cNvPr id="162" name="Shape 155"/>
          <p:cNvSpPr/>
          <p:nvPr/>
        </p:nvSpPr>
        <p:spPr>
          <a:xfrm>
            <a:off x="12420295" y="4419295"/>
            <a:ext cx="571500" cy="228600"/>
          </a:xfrm>
          <a:prstGeom prst="rect">
            <a:avLst/>
          </a:prstGeom>
          <a:solidFill>
            <a:srgbClr val="2F4A78"/>
          </a:solidFill>
          <a:ln w="12700">
            <a:solidFill>
              <a:srgbClr val="FFFFFF">
                <a:alpha val="0"/>
              </a:srgbClr>
            </a:solidFill>
            <a:prstDash val="solid"/>
          </a:ln>
        </p:spPr>
      </p:sp>
      <p:sp>
        <p:nvSpPr>
          <p:cNvPr id="163" name="Shape 156"/>
          <p:cNvSpPr/>
          <p:nvPr/>
        </p:nvSpPr>
        <p:spPr>
          <a:xfrm>
            <a:off x="12991795" y="4419295"/>
            <a:ext cx="571500" cy="228600"/>
          </a:xfrm>
          <a:prstGeom prst="rect">
            <a:avLst/>
          </a:prstGeom>
          <a:solidFill>
            <a:srgbClr val="BFD0E5"/>
          </a:solidFill>
          <a:ln w="12700">
            <a:solidFill>
              <a:srgbClr val="FFFFFF">
                <a:alpha val="0"/>
              </a:srgbClr>
            </a:solidFill>
            <a:prstDash val="solid"/>
          </a:ln>
        </p:spPr>
      </p:sp>
      <p:sp>
        <p:nvSpPr>
          <p:cNvPr id="164" name="Shape 157"/>
          <p:cNvSpPr/>
          <p:nvPr/>
        </p:nvSpPr>
        <p:spPr>
          <a:xfrm>
            <a:off x="13563295" y="4419295"/>
            <a:ext cx="571500" cy="228600"/>
          </a:xfrm>
          <a:prstGeom prst="rect">
            <a:avLst/>
          </a:prstGeom>
          <a:solidFill>
            <a:srgbClr val="ECE5D2"/>
          </a:solidFill>
          <a:ln w="12700">
            <a:solidFill>
              <a:srgbClr val="FFFFFF">
                <a:alpha val="0"/>
              </a:srgbClr>
            </a:solidFill>
            <a:prstDash val="solid"/>
          </a:ln>
        </p:spPr>
      </p:sp>
      <p:sp>
        <p:nvSpPr>
          <p:cNvPr id="165" name="Shape 158"/>
          <p:cNvSpPr/>
          <p:nvPr/>
        </p:nvSpPr>
        <p:spPr>
          <a:xfrm>
            <a:off x="14134795" y="4419295"/>
            <a:ext cx="571500" cy="228600"/>
          </a:xfrm>
          <a:prstGeom prst="rect">
            <a:avLst/>
          </a:prstGeom>
          <a:solidFill>
            <a:srgbClr val="E6C3A3"/>
          </a:solidFill>
          <a:ln w="12700">
            <a:solidFill>
              <a:srgbClr val="FFFFFF">
                <a:alpha val="0"/>
              </a:srgbClr>
            </a:solidFill>
            <a:prstDash val="solid"/>
          </a:ln>
        </p:spPr>
      </p:sp>
      <p:sp>
        <p:nvSpPr>
          <p:cNvPr id="166" name="Shape 159"/>
          <p:cNvSpPr/>
          <p:nvPr/>
        </p:nvSpPr>
        <p:spPr>
          <a:xfrm>
            <a:off x="14706295" y="4419295"/>
            <a:ext cx="571500" cy="228600"/>
          </a:xfrm>
          <a:prstGeom prst="rect">
            <a:avLst/>
          </a:prstGeom>
          <a:solidFill>
            <a:srgbClr val="9F4720"/>
          </a:solidFill>
          <a:ln w="12700">
            <a:solidFill>
              <a:srgbClr val="FFFFFF">
                <a:alpha val="0"/>
              </a:srgbClr>
            </a:solidFill>
            <a:prstDash val="solid"/>
          </a:ln>
        </p:spPr>
      </p:sp>
      <p:sp>
        <p:nvSpPr>
          <p:cNvPr id="167" name="Text 160"/>
          <p:cNvSpPr txBox="1"/>
          <p:nvPr/>
        </p:nvSpPr>
        <p:spPr>
          <a:xfrm>
            <a:off x="12420295" y="4705502"/>
            <a:ext cx="571500" cy="152705"/>
          </a:xfrm>
          <a:prstGeom prst="rect">
            <a:avLst/>
          </a:prstGeom>
          <a:noFill/>
          <a:ln/>
        </p:spPr>
        <p:txBody>
          <a:bodyPr wrap="none" lIns="0" tIns="0" rIns="0" bIns="0" rtlCol="0" anchor="ctr"/>
          <a:lstStyle/>
          <a:p>
            <a:pPr algn="ctr" indent="0" marL="0">
              <a:buNone/>
            </a:pPr>
            <a:r>
              <a:rPr lang="en-US" sz="1050" dirty="0">
                <a:solidFill>
                  <a:srgbClr val="5E6877"/>
                </a:solidFill>
                <a:latin typeface="ui-monospace" pitchFamily="34" charset="0"/>
                <a:ea typeface="ui-monospace" pitchFamily="34" charset="-122"/>
                <a:cs typeface="ui-monospace" pitchFamily="34" charset="-120"/>
              </a:rPr>
              <a:t>−1.0</a:t>
            </a:r>
            <a:endParaRPr lang="en-US" sz="1050" dirty="0"/>
          </a:p>
        </p:txBody>
      </p:sp>
      <p:sp>
        <p:nvSpPr>
          <p:cNvPr id="168" name="Text 161"/>
          <p:cNvSpPr txBox="1"/>
          <p:nvPr/>
        </p:nvSpPr>
        <p:spPr>
          <a:xfrm>
            <a:off x="12991795" y="4705502"/>
            <a:ext cx="571500" cy="152705"/>
          </a:xfrm>
          <a:prstGeom prst="rect">
            <a:avLst/>
          </a:prstGeom>
          <a:noFill/>
          <a:ln/>
        </p:spPr>
        <p:txBody>
          <a:bodyPr wrap="none" lIns="0" tIns="0" rIns="0" bIns="0" rtlCol="0" anchor="ctr"/>
          <a:lstStyle/>
          <a:p>
            <a:pPr algn="ctr" indent="0" marL="0">
              <a:buNone/>
            </a:pPr>
            <a:r>
              <a:rPr lang="en-US" sz="1050" dirty="0">
                <a:solidFill>
                  <a:srgbClr val="5E6877"/>
                </a:solidFill>
                <a:latin typeface="ui-monospace" pitchFamily="34" charset="0"/>
                <a:ea typeface="ui-monospace" pitchFamily="34" charset="-122"/>
                <a:cs typeface="ui-monospace" pitchFamily="34" charset="-120"/>
              </a:rPr>
              <a:t>−0.5</a:t>
            </a:r>
            <a:endParaRPr lang="en-US" sz="1050" dirty="0"/>
          </a:p>
        </p:txBody>
      </p:sp>
      <p:sp>
        <p:nvSpPr>
          <p:cNvPr id="169" name="Text 162"/>
          <p:cNvSpPr txBox="1"/>
          <p:nvPr/>
        </p:nvSpPr>
        <p:spPr>
          <a:xfrm>
            <a:off x="13563295" y="4705502"/>
            <a:ext cx="571500" cy="152705"/>
          </a:xfrm>
          <a:prstGeom prst="rect">
            <a:avLst/>
          </a:prstGeom>
          <a:noFill/>
          <a:ln/>
        </p:spPr>
        <p:txBody>
          <a:bodyPr wrap="none" lIns="0" tIns="0" rIns="0" bIns="0" rtlCol="0" anchor="ctr"/>
          <a:lstStyle/>
          <a:p>
            <a:pPr algn="ctr" indent="0" marL="0">
              <a:buNone/>
            </a:pPr>
            <a:r>
              <a:rPr lang="en-US" sz="1050" dirty="0">
                <a:solidFill>
                  <a:srgbClr val="5E6877"/>
                </a:solidFill>
                <a:latin typeface="ui-monospace" pitchFamily="34" charset="0"/>
                <a:ea typeface="ui-monospace" pitchFamily="34" charset="-122"/>
                <a:cs typeface="ui-monospace" pitchFamily="34" charset="-120"/>
              </a:rPr>
              <a:t>0.0</a:t>
            </a:r>
            <a:endParaRPr lang="en-US" sz="1050" dirty="0"/>
          </a:p>
        </p:txBody>
      </p:sp>
      <p:sp>
        <p:nvSpPr>
          <p:cNvPr id="170" name="Text 163"/>
          <p:cNvSpPr txBox="1"/>
          <p:nvPr/>
        </p:nvSpPr>
        <p:spPr>
          <a:xfrm>
            <a:off x="14134795" y="4705502"/>
            <a:ext cx="571500" cy="152705"/>
          </a:xfrm>
          <a:prstGeom prst="rect">
            <a:avLst/>
          </a:prstGeom>
          <a:noFill/>
          <a:ln/>
        </p:spPr>
        <p:txBody>
          <a:bodyPr wrap="none" lIns="0" tIns="0" rIns="0" bIns="0" rtlCol="0" anchor="ctr"/>
          <a:lstStyle/>
          <a:p>
            <a:pPr algn="ctr" indent="0" marL="0">
              <a:buNone/>
            </a:pPr>
            <a:r>
              <a:rPr lang="en-US" sz="1050" dirty="0">
                <a:solidFill>
                  <a:srgbClr val="5E6877"/>
                </a:solidFill>
                <a:latin typeface="ui-monospace" pitchFamily="34" charset="0"/>
                <a:ea typeface="ui-monospace" pitchFamily="34" charset="-122"/>
                <a:cs typeface="ui-monospace" pitchFamily="34" charset="-120"/>
              </a:rPr>
              <a:t>+0.5</a:t>
            </a:r>
            <a:endParaRPr lang="en-US" sz="1050" dirty="0"/>
          </a:p>
        </p:txBody>
      </p:sp>
      <p:sp>
        <p:nvSpPr>
          <p:cNvPr id="171" name="Text 164"/>
          <p:cNvSpPr txBox="1"/>
          <p:nvPr/>
        </p:nvSpPr>
        <p:spPr>
          <a:xfrm>
            <a:off x="14706295" y="4705502"/>
            <a:ext cx="571500" cy="152705"/>
          </a:xfrm>
          <a:prstGeom prst="rect">
            <a:avLst/>
          </a:prstGeom>
          <a:noFill/>
          <a:ln/>
        </p:spPr>
        <p:txBody>
          <a:bodyPr wrap="none" lIns="0" tIns="0" rIns="0" bIns="0" rtlCol="0" anchor="ctr"/>
          <a:lstStyle/>
          <a:p>
            <a:pPr algn="ctr" indent="0" marL="0">
              <a:buNone/>
            </a:pPr>
            <a:r>
              <a:rPr lang="en-US" sz="1050" dirty="0">
                <a:solidFill>
                  <a:srgbClr val="5E6877"/>
                </a:solidFill>
                <a:latin typeface="ui-monospace" pitchFamily="34" charset="0"/>
                <a:ea typeface="ui-monospace" pitchFamily="34" charset="-122"/>
                <a:cs typeface="ui-monospace" pitchFamily="34" charset="-120"/>
              </a:rPr>
              <a:t>+1.0</a:t>
            </a:r>
            <a:endParaRPr lang="en-US" sz="1050" dirty="0"/>
          </a:p>
        </p:txBody>
      </p:sp>
      <p:sp>
        <p:nvSpPr>
          <p:cNvPr id="172" name="Text 165"/>
          <p:cNvSpPr txBox="1"/>
          <p:nvPr/>
        </p:nvSpPr>
        <p:spPr>
          <a:xfrm>
            <a:off x="12420295" y="5086807"/>
            <a:ext cx="4953305" cy="1000354"/>
          </a:xfrm>
          <a:prstGeom prst="rect">
            <a:avLst/>
          </a:prstGeom>
          <a:noFill/>
          <a:ln/>
        </p:spPr>
        <p:txBody>
          <a:bodyPr wrap="square" lIns="0" tIns="0" rIns="0" bIns="0" rtlCol="0" anchor="ctr"/>
          <a:lstStyle/>
          <a:p>
            <a:pPr algn="l" indent="0" marL="0">
              <a:lnSpc>
                <a:spcPts val="1958"/>
              </a:lnSpc>
              <a:buNone/>
            </a:pPr>
            <a:r>
              <a:rPr lang="en-US" sz="1350" dirty="0">
                <a:solidFill>
                  <a:srgbClr val="11233A"/>
                </a:solidFill>
                <a:latin typeface="Pretendard" pitchFamily="34" charset="0"/>
                <a:ea typeface="Pretendard" pitchFamily="34" charset="-122"/>
                <a:cs typeface="Pretendard" pitchFamily="34" charset="-120"/>
              </a:rPr>
              <a:t>SADP wafer는 4 코너 모두 ±1.0 nm 안팎으로 측정되어 가장자리에서 ring 형태의 비균일이 명확하다. SALELE wafer는 같은 측정 사이트에서 ±0.4 nm 안쪽으로 들어와 hot/cold site가 단일 wafer에 ≤ 1 곳으로 줄어든다.</a:t>
            </a:r>
            <a:endParaRPr lang="en-US" sz="1350" dirty="0"/>
          </a:p>
        </p:txBody>
      </p:sp>
      <p:sp>
        <p:nvSpPr>
          <p:cNvPr id="173" name="Text 166"/>
          <p:cNvSpPr txBox="1"/>
          <p:nvPr/>
        </p:nvSpPr>
        <p:spPr>
          <a:xfrm>
            <a:off x="12420295" y="6214262"/>
            <a:ext cx="4953305" cy="191110"/>
          </a:xfrm>
          <a:prstGeom prst="rect">
            <a:avLst/>
          </a:prstGeom>
          <a:noFill/>
          <a:ln/>
        </p:spPr>
        <p:txBody>
          <a:bodyPr wrap="none" lIns="0" tIns="0" rIns="0" bIns="0" rtlCol="0" anchor="ctr"/>
          <a:lstStyle/>
          <a:p>
            <a:pPr algn="l" indent="0" marL="0">
              <a:buNone/>
            </a:pPr>
            <a:r>
              <a:rPr lang="en-US" sz="1050" dirty="0">
                <a:solidFill>
                  <a:srgbClr val="5E6877"/>
                </a:solidFill>
                <a:latin typeface="Pretendard" pitchFamily="34" charset="0"/>
                <a:ea typeface="Pretendard" pitchFamily="34" charset="-122"/>
                <a:cs typeface="Pretendard" pitchFamily="34" charset="-120"/>
              </a:rPr>
              <a:t>edge → center ≈ 0.4 nm gap (SADP) / 0.1 nm gap (SALELE)</a:t>
            </a:r>
            <a:endParaRPr lang="en-US" sz="1050" dirty="0"/>
          </a:p>
        </p:txBody>
      </p:sp>
      <p:sp>
        <p:nvSpPr>
          <p:cNvPr id="174" name="Text 167"/>
          <p:cNvSpPr txBox="1"/>
          <p:nvPr/>
        </p:nvSpPr>
        <p:spPr>
          <a:xfrm>
            <a:off x="990295" y="8648395"/>
            <a:ext cx="16536010" cy="191110"/>
          </a:xfrm>
          <a:prstGeom prst="rect">
            <a:avLst/>
          </a:prstGeom>
          <a:noFill/>
          <a:ln/>
        </p:spPr>
        <p:txBody>
          <a:bodyPr wrap="none" lIns="0" tIns="0" rIns="0" bIns="0" rtlCol="0" anchor="ctr"/>
          <a:lstStyle/>
          <a:p>
            <a:pPr algn="l" indent="0" marL="0">
              <a:buNone/>
            </a:pPr>
            <a:r>
              <a:rPr lang="en-US" sz="1050" b="1" spc="63" kern="0" dirty="0">
                <a:solidFill>
                  <a:srgbClr val="5E6877"/>
                </a:solidFill>
                <a:latin typeface="Pretendard" pitchFamily="34" charset="0"/>
                <a:ea typeface="Pretendard" pitchFamily="34" charset="-122"/>
                <a:cs typeface="Pretendard" pitchFamily="34" charset="-120"/>
              </a:rPr>
              <a:t>한 줄 결론</a:t>
            </a:r>
            <a:endParaRPr lang="en-US" sz="1050" dirty="0"/>
          </a:p>
        </p:txBody>
      </p:sp>
      <p:sp>
        <p:nvSpPr>
          <p:cNvPr id="175" name="Text 168"/>
          <p:cNvSpPr txBox="1"/>
          <p:nvPr/>
        </p:nvSpPr>
        <p:spPr>
          <a:xfrm>
            <a:off x="990295" y="8896198"/>
            <a:ext cx="16536010" cy="314554"/>
          </a:xfrm>
          <a:prstGeom prst="rect">
            <a:avLst/>
          </a:prstGeom>
          <a:noFill/>
          <a:ln/>
        </p:spPr>
        <p:txBody>
          <a:bodyPr wrap="none" lIns="0" tIns="0" rIns="0" bIns="0" rtlCol="0" anchor="ctr"/>
          <a:lstStyle/>
          <a:p>
            <a:pPr algn="l" indent="0" marL="0">
              <a:buNone/>
            </a:pPr>
            <a:r>
              <a:rPr lang="en-US" sz="1725" dirty="0">
                <a:solidFill>
                  <a:srgbClr val="11233A"/>
                </a:solidFill>
                <a:latin typeface="Pretendard" pitchFamily="34" charset="0"/>
                <a:ea typeface="Pretendard" pitchFamily="34" charset="-122"/>
                <a:cs typeface="Pretendard" pitchFamily="34" charset="-120"/>
              </a:rPr>
              <a:t>SADP는 가장자리 사이트에서 0.6–1.05 nm 수준의 cold-ring 편차가 두드러지고, SALELE는 49 pt 모두 ±0.4 nm 이내로 가장자리까지 균일하다.</a:t>
            </a:r>
            <a:endParaRPr lang="en-US" sz="1725" dirty="0"/>
          </a:p>
        </p:txBody>
      </p:sp>
      <p:sp>
        <p:nvSpPr>
          <p:cNvPr id="176" name="Text 169"/>
          <p:cNvSpPr txBox="1"/>
          <p:nvPr/>
        </p:nvSpPr>
        <p:spPr>
          <a:xfrm>
            <a:off x="761695" y="9658807"/>
            <a:ext cx="16764610" cy="181051"/>
          </a:xfrm>
          <a:prstGeom prst="rect">
            <a:avLst/>
          </a:prstGeom>
          <a:noFill/>
          <a:ln/>
        </p:spPr>
        <p:txBody>
          <a:bodyPr wrap="none" lIns="0" tIns="0" rIns="0" bIns="0" rtlCol="0" anchor="ctr"/>
          <a:lstStyle/>
          <a:p>
            <a:pPr algn="l" indent="0" marL="0">
              <a:buNone/>
            </a:pPr>
            <a:r>
              <a:rPr lang="en-US" sz="975" dirty="0">
                <a:solidFill>
                  <a:srgbClr val="5E6877"/>
                </a:solidFill>
                <a:latin typeface="Pretendard" pitchFamily="34" charset="0"/>
                <a:ea typeface="Pretendard" pitchFamily="34" charset="-122"/>
                <a:cs typeface="Pretendard" pitchFamily="34" charset="-120"/>
              </a:rPr>
              <a:t>※ 내부 테스트용 더미(가상) 데이터</a:t>
            </a:r>
            <a:endParaRPr lang="en-US" sz="9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2F6"/>
        </a:solidFill>
      </p:bgPr>
    </p:bg>
    <p:spTree>
      <p:nvGrpSpPr>
        <p:cNvPr id="1" name=""/>
        <p:cNvGrpSpPr/>
        <p:nvPr/>
      </p:nvGrpSpPr>
      <p:grpSpPr>
        <a:xfrm>
          <a:off x="0" y="0"/>
          <a:ext cx="0" cy="0"/>
          <a:chOff x="0" y="0"/>
          <a:chExt cx="0" cy="0"/>
        </a:xfrm>
      </p:grpSpPr>
      <p:pic>
        <p:nvPicPr>
          <p:cNvPr id="3" name="Image 0" descr="gen-dedup-e28139ceb6f19fd95cd8e028518f0f6b.png">    </p:cNvPr>
          <p:cNvPicPr>
            <a:picLocks noChangeAspect="1"/>
          </p:cNvPicPr>
          <p:nvPr/>
        </p:nvPicPr>
        <p:blipFill>
          <a:blip r:embed="rId1"/>
          <a:srcRect l="0" r="0" t="-420" b="-420"/>
          <a:stretch/>
        </p:blipFill>
        <p:spPr>
          <a:xfrm>
            <a:off x="761695" y="1904695"/>
            <a:ext cx="761695" cy="38405"/>
          </a:xfrm>
          <a:prstGeom prst="rect">
            <a:avLst/>
          </a:prstGeom>
        </p:spPr>
      </p:pic>
      <p:sp>
        <p:nvSpPr>
          <p:cNvPr id="4" name="Shape 0"/>
          <p:cNvSpPr/>
          <p:nvPr/>
        </p:nvSpPr>
        <p:spPr>
          <a:xfrm>
            <a:off x="761695" y="2286000"/>
            <a:ext cx="8191195" cy="4095598"/>
          </a:xfrm>
          <a:prstGeom prst="rect">
            <a:avLst/>
          </a:prstGeom>
          <a:solidFill>
            <a:srgbClr val="FFFFFF"/>
          </a:solidFill>
          <a:ln w="12700">
            <a:solidFill>
              <a:srgbClr val="FFFFFF">
                <a:alpha val="0"/>
              </a:srgbClr>
            </a:solidFill>
            <a:prstDash val="solid"/>
          </a:ln>
        </p:spPr>
      </p:sp>
      <p:sp>
        <p:nvSpPr>
          <p:cNvPr id="5" name="Shape 1"/>
          <p:cNvSpPr/>
          <p:nvPr/>
        </p:nvSpPr>
        <p:spPr>
          <a:xfrm>
            <a:off x="9334195" y="2286000"/>
            <a:ext cx="8191195" cy="4095598"/>
          </a:xfrm>
          <a:prstGeom prst="rect">
            <a:avLst/>
          </a:prstGeom>
          <a:solidFill>
            <a:srgbClr val="FFFFFF"/>
          </a:solidFill>
          <a:ln w="12700">
            <a:solidFill>
              <a:srgbClr val="FFFFFF">
                <a:alpha val="0"/>
              </a:srgbClr>
            </a:solidFill>
            <a:prstDash val="solid"/>
          </a:ln>
        </p:spPr>
      </p:sp>
      <p:pic>
        <p:nvPicPr>
          <p:cNvPr id="6" name="Image 1" descr="gen-dedup-3edb1d0f3967ac1146e2986c324ceef0.png">    </p:cNvPr>
          <p:cNvPicPr>
            <a:picLocks noChangeAspect="1"/>
          </p:cNvPicPr>
          <p:nvPr/>
        </p:nvPicPr>
        <p:blipFill>
          <a:blip r:embed="rId2"/>
          <a:srcRect l="-2083" r="-2083" t="0" b="0"/>
          <a:stretch/>
        </p:blipFill>
        <p:spPr>
          <a:xfrm>
            <a:off x="761695" y="6667805"/>
            <a:ext cx="16763695" cy="9144"/>
          </a:xfrm>
          <a:prstGeom prst="rect">
            <a:avLst/>
          </a:prstGeom>
        </p:spPr>
      </p:pic>
      <p:sp>
        <p:nvSpPr>
          <p:cNvPr id="7" name="Shape 2"/>
          <p:cNvSpPr/>
          <p:nvPr/>
        </p:nvSpPr>
        <p:spPr>
          <a:xfrm>
            <a:off x="761695" y="6953098"/>
            <a:ext cx="5429707" cy="1410005"/>
          </a:xfrm>
          <a:prstGeom prst="rect">
            <a:avLst/>
          </a:prstGeom>
          <a:solidFill>
            <a:srgbClr val="FFFFFF"/>
          </a:solidFill>
          <a:ln w="12700">
            <a:solidFill>
              <a:srgbClr val="FFFFFF">
                <a:alpha val="0"/>
              </a:srgbClr>
            </a:solidFill>
            <a:prstDash val="solid"/>
          </a:ln>
        </p:spPr>
      </p:sp>
      <p:pic>
        <p:nvPicPr>
          <p:cNvPr id="8" name="Image 2" descr="gen-dedup-77167f3f962091e37ab910c0f9033ae6.png">    </p:cNvPr>
          <p:cNvPicPr>
            <a:picLocks noChangeAspect="1"/>
          </p:cNvPicPr>
          <p:nvPr/>
        </p:nvPicPr>
        <p:blipFill>
          <a:blip r:embed="rId3"/>
          <a:srcRect l="-389" r="-389" t="0" b="0"/>
          <a:stretch/>
        </p:blipFill>
        <p:spPr>
          <a:xfrm>
            <a:off x="761695" y="6953098"/>
            <a:ext cx="38405" cy="1410005"/>
          </a:xfrm>
          <a:prstGeom prst="rect">
            <a:avLst/>
          </a:prstGeom>
        </p:spPr>
      </p:pic>
      <p:sp>
        <p:nvSpPr>
          <p:cNvPr id="9" name="Shape 3"/>
          <p:cNvSpPr/>
          <p:nvPr/>
        </p:nvSpPr>
        <p:spPr>
          <a:xfrm>
            <a:off x="6429146" y="6953098"/>
            <a:ext cx="5429707" cy="1410005"/>
          </a:xfrm>
          <a:prstGeom prst="rect">
            <a:avLst/>
          </a:prstGeom>
          <a:solidFill>
            <a:srgbClr val="FFFFFF"/>
          </a:solidFill>
          <a:ln w="12700">
            <a:solidFill>
              <a:srgbClr val="FFFFFF">
                <a:alpha val="0"/>
              </a:srgbClr>
            </a:solidFill>
            <a:prstDash val="solid"/>
          </a:ln>
        </p:spPr>
      </p:sp>
      <p:pic>
        <p:nvPicPr>
          <p:cNvPr id="10" name="Image 3" descr="gen-dedup-54636592b96f98282b14171e937c8af5.png">    </p:cNvPr>
          <p:cNvPicPr>
            <a:picLocks noChangeAspect="1"/>
          </p:cNvPicPr>
          <p:nvPr/>
        </p:nvPicPr>
        <p:blipFill>
          <a:blip r:embed="rId4"/>
          <a:srcRect l="-389" r="-389" t="0" b="0"/>
          <a:stretch/>
        </p:blipFill>
        <p:spPr>
          <a:xfrm>
            <a:off x="6429146" y="6953098"/>
            <a:ext cx="38405" cy="1410005"/>
          </a:xfrm>
          <a:prstGeom prst="rect">
            <a:avLst/>
          </a:prstGeom>
        </p:spPr>
      </p:pic>
      <p:sp>
        <p:nvSpPr>
          <p:cNvPr id="11" name="Shape 4"/>
          <p:cNvSpPr/>
          <p:nvPr/>
        </p:nvSpPr>
        <p:spPr>
          <a:xfrm>
            <a:off x="12096598" y="6953098"/>
            <a:ext cx="5429707" cy="1410005"/>
          </a:xfrm>
          <a:prstGeom prst="rect">
            <a:avLst/>
          </a:prstGeom>
          <a:solidFill>
            <a:srgbClr val="FFFFFF"/>
          </a:solidFill>
          <a:ln w="12700">
            <a:solidFill>
              <a:srgbClr val="FFFFFF">
                <a:alpha val="0"/>
              </a:srgbClr>
            </a:solidFill>
            <a:prstDash val="solid"/>
          </a:ln>
        </p:spPr>
      </p:sp>
      <p:pic>
        <p:nvPicPr>
          <p:cNvPr id="12" name="Image 4" descr="gen-dedup-f71ef491c41f6e00b0c61beb262e47fb.png">    </p:cNvPr>
          <p:cNvPicPr>
            <a:picLocks noChangeAspect="1"/>
          </p:cNvPicPr>
          <p:nvPr/>
        </p:nvPicPr>
        <p:blipFill>
          <a:blip r:embed="rId5"/>
          <a:srcRect l="-369" r="-369" t="0" b="0"/>
          <a:stretch/>
        </p:blipFill>
        <p:spPr>
          <a:xfrm>
            <a:off x="761695" y="8572500"/>
            <a:ext cx="38405" cy="743407"/>
          </a:xfrm>
          <a:prstGeom prst="rect">
            <a:avLst/>
          </a:prstGeom>
        </p:spPr>
      </p:pic>
      <p:pic>
        <p:nvPicPr>
          <p:cNvPr id="13" name="Image 5" descr="gen-dedup-3edb1d0f3967ac1146e2986c324ceef0.png">    </p:cNvPr>
          <p:cNvPicPr>
            <a:picLocks noChangeAspect="1"/>
          </p:cNvPicPr>
          <p:nvPr/>
        </p:nvPicPr>
        <p:blipFill>
          <a:blip r:embed="rId6"/>
          <a:srcRect l="-2083" r="-2083" t="0" b="0"/>
          <a:stretch/>
        </p:blipFill>
        <p:spPr>
          <a:xfrm>
            <a:off x="761695" y="9506102"/>
            <a:ext cx="16763695" cy="9144"/>
          </a:xfrm>
          <a:prstGeom prst="rect">
            <a:avLst/>
          </a:prstGeom>
        </p:spPr>
      </p:pic>
      <p:pic>
        <p:nvPicPr>
          <p:cNvPr id="14" name="Image 6" descr="gen-dedup-de1fc2a95e18a606682d57da36b84e55.jpg">    </p:cNvPr>
          <p:cNvPicPr>
            <a:picLocks noChangeAspect="1"/>
          </p:cNvPicPr>
          <p:nvPr/>
        </p:nvPicPr>
        <p:blipFill>
          <a:blip r:embed="rId7"/>
          <a:srcRect l="-5410" r="-5410" t="0" b="0"/>
          <a:stretch/>
        </p:blipFill>
        <p:spPr>
          <a:xfrm>
            <a:off x="952805" y="2476195"/>
            <a:ext cx="7810805" cy="3524098"/>
          </a:xfrm>
          <a:prstGeom prst="rect">
            <a:avLst/>
          </a:prstGeom>
        </p:spPr>
      </p:pic>
      <p:pic>
        <p:nvPicPr>
          <p:cNvPr id="15" name="Image 7" descr="gen-dedup-416ca050a99e4f64e1d1871a45ccde33.jpg">    </p:cNvPr>
          <p:cNvPicPr>
            <a:picLocks noChangeAspect="1"/>
          </p:cNvPicPr>
          <p:nvPr/>
        </p:nvPicPr>
        <p:blipFill>
          <a:blip r:embed="rId8"/>
          <a:srcRect l="-23806" r="-23806" t="0" b="0"/>
          <a:stretch/>
        </p:blipFill>
        <p:spPr>
          <a:xfrm>
            <a:off x="9525305" y="2476195"/>
            <a:ext cx="7810805" cy="3524098"/>
          </a:xfrm>
          <a:prstGeom prst="rect">
            <a:avLst/>
          </a:prstGeom>
        </p:spPr>
      </p:pic>
      <p:sp>
        <p:nvSpPr>
          <p:cNvPr id="16" name="Text 5"/>
          <p:cNvSpPr txBox="1"/>
          <p:nvPr/>
        </p:nvSpPr>
        <p:spPr>
          <a:xfrm>
            <a:off x="761695" y="761695"/>
            <a:ext cx="14287500" cy="476402"/>
          </a:xfrm>
          <a:prstGeom prst="rect">
            <a:avLst/>
          </a:prstGeom>
          <a:noFill/>
          <a:ln/>
        </p:spPr>
        <p:txBody>
          <a:bodyPr wrap="none" lIns="0" tIns="0" rIns="0" bIns="0" rtlCol="0" anchor="ctr"/>
          <a:lstStyle/>
          <a:p>
            <a:pPr algn="l" indent="0" marL="0">
              <a:buNone/>
            </a:pPr>
            <a:r>
              <a:rPr lang="en-US" sz="3150" b="1" spc="-31" kern="0" dirty="0">
                <a:solidFill>
                  <a:srgbClr val="11233A"/>
                </a:solidFill>
                <a:latin typeface="Pretendard" pitchFamily="34" charset="0"/>
                <a:ea typeface="Pretendard" pitchFamily="34" charset="-122"/>
                <a:cs typeface="Pretendard" pitchFamily="34" charset="-120"/>
              </a:rPr>
              <a:t>단면 / Top-view 현미경 관찰</a:t>
            </a:r>
            <a:endParaRPr lang="en-US" sz="3150" dirty="0"/>
          </a:p>
        </p:txBody>
      </p:sp>
      <p:sp>
        <p:nvSpPr>
          <p:cNvPr id="17" name="Text 6"/>
          <p:cNvSpPr txBox="1"/>
          <p:nvPr/>
        </p:nvSpPr>
        <p:spPr>
          <a:xfrm>
            <a:off x="761695" y="1347826"/>
            <a:ext cx="14287500" cy="257861"/>
          </a:xfrm>
          <a:prstGeom prst="rect">
            <a:avLst/>
          </a:prstGeom>
          <a:noFill/>
          <a:ln/>
        </p:spPr>
        <p:txBody>
          <a:bodyPr wrap="none" lIns="0" tIns="0" rIns="0" bIns="0" rtlCol="0" anchor="ctr"/>
          <a:lstStyle/>
          <a:p>
            <a:pPr algn="l" indent="0" marL="0">
              <a:buNone/>
            </a:pPr>
            <a:r>
              <a:rPr lang="en-US" sz="1425" dirty="0">
                <a:solidFill>
                  <a:srgbClr val="5E6877"/>
                </a:solidFill>
                <a:latin typeface="Pretendard" pitchFamily="34" charset="0"/>
                <a:ea typeface="Pretendard" pitchFamily="34" charset="-122"/>
                <a:cs typeface="Pretendard" pitchFamily="34" charset="-120"/>
              </a:rPr>
              <a:t>동일 wafer에서 cross-section과 top-view 두 시점을 함께 수집 — 라인 직진성·sidewall 잔재·cut 부근</a:t>
            </a:r>
            <a:endParaRPr lang="en-US" sz="1425" dirty="0"/>
          </a:p>
        </p:txBody>
      </p:sp>
      <p:sp>
        <p:nvSpPr>
          <p:cNvPr id="18" name="Text 7"/>
          <p:cNvSpPr txBox="1"/>
          <p:nvPr/>
        </p:nvSpPr>
        <p:spPr>
          <a:xfrm>
            <a:off x="952805" y="6096305"/>
            <a:ext cx="8496605" cy="181051"/>
          </a:xfrm>
          <a:prstGeom prst="rect">
            <a:avLst/>
          </a:prstGeom>
          <a:noFill/>
          <a:ln/>
        </p:spPr>
        <p:txBody>
          <a:bodyPr wrap="none" lIns="0" tIns="0" rIns="0" bIns="0" rtlCol="0" anchor="ctr"/>
          <a:lstStyle/>
          <a:p>
            <a:pPr algn="l" indent="0" marL="0">
              <a:buNone/>
            </a:pPr>
            <a:r>
              <a:rPr lang="en-US" sz="975" dirty="0">
                <a:solidFill>
                  <a:srgbClr val="5E6877"/>
                </a:solidFill>
                <a:latin typeface="Pretendard" pitchFamily="34" charset="0"/>
                <a:ea typeface="Pretendard" pitchFamily="34" charset="-122"/>
                <a:cs typeface="Pretendard" pitchFamily="34" charset="-120"/>
              </a:rPr>
              <a:t>Pitch halving top-view SEM 128 → 64 → 32 → 16 nm 계열. 출처: imec magazine — EUV Lithography: Weighing the Options (2019)</a:t>
            </a:r>
            <a:endParaRPr lang="en-US" sz="975" dirty="0"/>
          </a:p>
        </p:txBody>
      </p:sp>
      <p:sp>
        <p:nvSpPr>
          <p:cNvPr id="19" name="Text 8"/>
          <p:cNvSpPr txBox="1"/>
          <p:nvPr/>
        </p:nvSpPr>
        <p:spPr>
          <a:xfrm>
            <a:off x="9525305" y="6096305"/>
            <a:ext cx="8496605" cy="181051"/>
          </a:xfrm>
          <a:prstGeom prst="rect">
            <a:avLst/>
          </a:prstGeom>
          <a:noFill/>
          <a:ln/>
        </p:spPr>
        <p:txBody>
          <a:bodyPr wrap="none" lIns="0" tIns="0" rIns="0" bIns="0" rtlCol="0" anchor="ctr"/>
          <a:lstStyle/>
          <a:p>
            <a:pPr algn="l" indent="0" marL="0">
              <a:buNone/>
            </a:pPr>
            <a:r>
              <a:rPr lang="en-US" sz="975" dirty="0">
                <a:solidFill>
                  <a:srgbClr val="5E6877"/>
                </a:solidFill>
                <a:latin typeface="Pretendard" pitchFamily="34" charset="0"/>
                <a:ea typeface="Pretendard" pitchFamily="34" charset="-122"/>
                <a:cs typeface="Pretendard" pitchFamily="34" charset="-120"/>
              </a:rPr>
              <a:t>Semi-damascene 18 nm 모듈 단면 — M1·V0·M2 적층. 출처: imec — First two-metal-level fully self-aligned semi-damascene module</a:t>
            </a:r>
            <a:endParaRPr lang="en-US" sz="975" dirty="0"/>
          </a:p>
        </p:txBody>
      </p:sp>
      <p:sp>
        <p:nvSpPr>
          <p:cNvPr id="20" name="Text 9"/>
          <p:cNvSpPr txBox="1"/>
          <p:nvPr/>
        </p:nvSpPr>
        <p:spPr>
          <a:xfrm>
            <a:off x="990295" y="7086600"/>
            <a:ext cx="4953305" cy="191110"/>
          </a:xfrm>
          <a:prstGeom prst="rect">
            <a:avLst/>
          </a:prstGeom>
          <a:noFill/>
          <a:ln/>
        </p:spPr>
        <p:txBody>
          <a:bodyPr wrap="none" lIns="0" tIns="0" rIns="0" bIns="0" rtlCol="0" anchor="ctr"/>
          <a:lstStyle/>
          <a:p>
            <a:pPr algn="l" indent="0" marL="0">
              <a:buNone/>
            </a:pPr>
            <a:r>
              <a:rPr lang="en-US" sz="1050" b="1" spc="63" kern="0" dirty="0">
                <a:solidFill>
                  <a:srgbClr val="2B5FA0"/>
                </a:solidFill>
                <a:latin typeface="Pretendard" pitchFamily="34" charset="0"/>
                <a:ea typeface="Pretendard" pitchFamily="34" charset="-122"/>
                <a:cs typeface="Pretendard" pitchFamily="34" charset="-120"/>
              </a:rPr>
              <a:t>SADP — 단면 관찰</a:t>
            </a:r>
            <a:endParaRPr lang="en-US" sz="1050" dirty="0"/>
          </a:p>
        </p:txBody>
      </p:sp>
      <p:sp>
        <p:nvSpPr>
          <p:cNvPr id="21" name="Text 10"/>
          <p:cNvSpPr txBox="1"/>
          <p:nvPr/>
        </p:nvSpPr>
        <p:spPr>
          <a:xfrm>
            <a:off x="990295" y="7353605"/>
            <a:ext cx="4953305" cy="486461"/>
          </a:xfrm>
          <a:prstGeom prst="rect">
            <a:avLst/>
          </a:prstGeom>
          <a:noFill/>
          <a:ln/>
        </p:spPr>
        <p:txBody>
          <a:bodyPr wrap="square" lIns="0" tIns="0" rIns="0" bIns="0" rtlCol="0" anchor="ctr"/>
          <a:lstStyle/>
          <a:p>
            <a:pPr algn="l" indent="0" marL="0">
              <a:lnSpc>
                <a:spcPts val="1890"/>
              </a:lnSpc>
              <a:buNone/>
            </a:pPr>
            <a:r>
              <a:rPr lang="en-US" sz="1350" dirty="0">
                <a:solidFill>
                  <a:srgbClr val="11233A"/>
                </a:solidFill>
                <a:latin typeface="Pretendard" pitchFamily="34" charset="0"/>
                <a:ea typeface="Pretendard" pitchFamily="34" charset="-122"/>
                <a:cs typeface="Pretendard" pitchFamily="34" charset="-120"/>
              </a:rPr>
              <a:t>sidewall shoulder 잔재가 cut 부근 30–50 nm 구간에 띠처럼 관찰되고, top-view에서 line-edge roughness(LER)가 1.7 nm 수준.</a:t>
            </a:r>
            <a:endParaRPr lang="en-US" sz="1350" dirty="0"/>
          </a:p>
        </p:txBody>
      </p:sp>
      <p:sp>
        <p:nvSpPr>
          <p:cNvPr id="22" name="Text 11"/>
          <p:cNvSpPr txBox="1"/>
          <p:nvPr/>
        </p:nvSpPr>
        <p:spPr>
          <a:xfrm>
            <a:off x="6657746" y="7086600"/>
            <a:ext cx="4953305" cy="191110"/>
          </a:xfrm>
          <a:prstGeom prst="rect">
            <a:avLst/>
          </a:prstGeom>
          <a:noFill/>
          <a:ln/>
        </p:spPr>
        <p:txBody>
          <a:bodyPr wrap="none" lIns="0" tIns="0" rIns="0" bIns="0" rtlCol="0" anchor="ctr"/>
          <a:lstStyle/>
          <a:p>
            <a:pPr algn="l" indent="0" marL="0">
              <a:buNone/>
            </a:pPr>
            <a:r>
              <a:rPr lang="en-US" sz="1050" b="1" spc="63" kern="0" dirty="0">
                <a:solidFill>
                  <a:srgbClr val="B85A2A"/>
                </a:solidFill>
                <a:latin typeface="Pretendard" pitchFamily="34" charset="0"/>
                <a:ea typeface="Pretendard" pitchFamily="34" charset="-122"/>
                <a:cs typeface="Pretendard" pitchFamily="34" charset="-120"/>
              </a:rPr>
              <a:t>SALELE — 단면 관찰</a:t>
            </a:r>
            <a:endParaRPr lang="en-US" sz="1050" dirty="0"/>
          </a:p>
        </p:txBody>
      </p:sp>
      <p:sp>
        <p:nvSpPr>
          <p:cNvPr id="23" name="Text 12"/>
          <p:cNvSpPr txBox="1"/>
          <p:nvPr/>
        </p:nvSpPr>
        <p:spPr>
          <a:xfrm>
            <a:off x="6657746" y="7353605"/>
            <a:ext cx="4953305" cy="486461"/>
          </a:xfrm>
          <a:prstGeom prst="rect">
            <a:avLst/>
          </a:prstGeom>
          <a:noFill/>
          <a:ln/>
        </p:spPr>
        <p:txBody>
          <a:bodyPr wrap="square" lIns="0" tIns="0" rIns="0" bIns="0" rtlCol="0" anchor="ctr"/>
          <a:lstStyle/>
          <a:p>
            <a:pPr algn="l" indent="0" marL="0">
              <a:lnSpc>
                <a:spcPts val="1890"/>
              </a:lnSpc>
              <a:buNone/>
            </a:pPr>
            <a:r>
              <a:rPr lang="en-US" sz="1350" dirty="0">
                <a:solidFill>
                  <a:srgbClr val="11233A"/>
                </a:solidFill>
                <a:latin typeface="Pretendard" pitchFamily="34" charset="0"/>
                <a:ea typeface="Pretendard" pitchFamily="34" charset="-122"/>
                <a:cs typeface="Pretendard" pitchFamily="34" charset="-120"/>
              </a:rPr>
              <a:t>라인 프로파일은 사면 거의 직립, cut 부근 잔재 두께 4–6 nm로 얇다. LER 1.4 nm으로 W01 대비 약 18% 감소.</a:t>
            </a:r>
            <a:endParaRPr lang="en-US" sz="1350" dirty="0"/>
          </a:p>
        </p:txBody>
      </p:sp>
      <p:sp>
        <p:nvSpPr>
          <p:cNvPr id="24" name="Text 13"/>
          <p:cNvSpPr txBox="1"/>
          <p:nvPr/>
        </p:nvSpPr>
        <p:spPr>
          <a:xfrm>
            <a:off x="12325198" y="7086600"/>
            <a:ext cx="4953305" cy="191110"/>
          </a:xfrm>
          <a:prstGeom prst="rect">
            <a:avLst/>
          </a:prstGeom>
          <a:noFill/>
          <a:ln/>
        </p:spPr>
        <p:txBody>
          <a:bodyPr wrap="none" lIns="0" tIns="0" rIns="0" bIns="0" rtlCol="0" anchor="ctr"/>
          <a:lstStyle/>
          <a:p>
            <a:pPr algn="l" indent="0" marL="0">
              <a:buNone/>
            </a:pPr>
            <a:r>
              <a:rPr lang="en-US" sz="1050" b="1" spc="63" kern="0" dirty="0">
                <a:solidFill>
                  <a:srgbClr val="5E6877"/>
                </a:solidFill>
                <a:latin typeface="Pretendard" pitchFamily="34" charset="0"/>
                <a:ea typeface="Pretendard" pitchFamily="34" charset="-122"/>
                <a:cs typeface="Pretendard" pitchFamily="34" charset="-120"/>
              </a:rPr>
              <a:t>공통 관찰</a:t>
            </a:r>
            <a:endParaRPr lang="en-US" sz="1050" dirty="0"/>
          </a:p>
        </p:txBody>
      </p:sp>
      <p:sp>
        <p:nvSpPr>
          <p:cNvPr id="25" name="Text 14"/>
          <p:cNvSpPr txBox="1"/>
          <p:nvPr/>
        </p:nvSpPr>
        <p:spPr>
          <a:xfrm>
            <a:off x="12325198" y="7353605"/>
            <a:ext cx="4953305" cy="486461"/>
          </a:xfrm>
          <a:prstGeom prst="rect">
            <a:avLst/>
          </a:prstGeom>
          <a:noFill/>
          <a:ln/>
        </p:spPr>
        <p:txBody>
          <a:bodyPr wrap="square" lIns="0" tIns="0" rIns="0" bIns="0" rtlCol="0" anchor="ctr"/>
          <a:lstStyle/>
          <a:p>
            <a:pPr algn="l" indent="0" marL="0">
              <a:lnSpc>
                <a:spcPts val="1890"/>
              </a:lnSpc>
              <a:buNone/>
            </a:pPr>
            <a:r>
              <a:rPr lang="en-US" sz="1350" dirty="0">
                <a:solidFill>
                  <a:srgbClr val="11233A"/>
                </a:solidFill>
                <a:latin typeface="Pretendard" pitchFamily="34" charset="0"/>
                <a:ea typeface="Pretendard" pitchFamily="34" charset="-122"/>
                <a:cs typeface="Pretendard" pitchFamily="34" charset="-120"/>
              </a:rPr>
              <a:t>두 분기 모두에서 M0–V0 사이 undercut은 관측되지 않았고, 18 nm 피치 라인에서 line collapse는 발생하지 않음.</a:t>
            </a:r>
            <a:endParaRPr lang="en-US" sz="1350" dirty="0"/>
          </a:p>
        </p:txBody>
      </p:sp>
      <p:sp>
        <p:nvSpPr>
          <p:cNvPr id="26" name="Text 15"/>
          <p:cNvSpPr txBox="1"/>
          <p:nvPr/>
        </p:nvSpPr>
        <p:spPr>
          <a:xfrm>
            <a:off x="990295" y="8591702"/>
            <a:ext cx="16536010" cy="191110"/>
          </a:xfrm>
          <a:prstGeom prst="rect">
            <a:avLst/>
          </a:prstGeom>
          <a:noFill/>
          <a:ln/>
        </p:spPr>
        <p:txBody>
          <a:bodyPr wrap="none" lIns="0" tIns="0" rIns="0" bIns="0" rtlCol="0" anchor="ctr"/>
          <a:lstStyle/>
          <a:p>
            <a:pPr algn="l" indent="0" marL="0">
              <a:buNone/>
            </a:pPr>
            <a:r>
              <a:rPr lang="en-US" sz="1050" b="1" spc="63" kern="0" dirty="0">
                <a:solidFill>
                  <a:srgbClr val="5E6877"/>
                </a:solidFill>
                <a:latin typeface="Pretendard" pitchFamily="34" charset="0"/>
                <a:ea typeface="Pretendard" pitchFamily="34" charset="-122"/>
                <a:cs typeface="Pretendard" pitchFamily="34" charset="-120"/>
              </a:rPr>
              <a:t>한 줄 결론</a:t>
            </a:r>
            <a:endParaRPr lang="en-US" sz="1050" dirty="0"/>
          </a:p>
        </p:txBody>
      </p:sp>
      <p:sp>
        <p:nvSpPr>
          <p:cNvPr id="27" name="Text 16"/>
          <p:cNvSpPr txBox="1"/>
          <p:nvPr/>
        </p:nvSpPr>
        <p:spPr>
          <a:xfrm>
            <a:off x="990295" y="8839505"/>
            <a:ext cx="16536010" cy="314554"/>
          </a:xfrm>
          <a:prstGeom prst="rect">
            <a:avLst/>
          </a:prstGeom>
          <a:noFill/>
          <a:ln/>
        </p:spPr>
        <p:txBody>
          <a:bodyPr wrap="none" lIns="0" tIns="0" rIns="0" bIns="0" rtlCol="0" anchor="ctr"/>
          <a:lstStyle/>
          <a:p>
            <a:pPr algn="l" indent="0" marL="0">
              <a:buNone/>
            </a:pPr>
            <a:r>
              <a:rPr lang="en-US" sz="1725" dirty="0">
                <a:solidFill>
                  <a:srgbClr val="11233A"/>
                </a:solidFill>
                <a:latin typeface="Pretendard" pitchFamily="34" charset="0"/>
                <a:ea typeface="Pretendard" pitchFamily="34" charset="-122"/>
                <a:cs typeface="Pretendard" pitchFamily="34" charset="-120"/>
              </a:rPr>
              <a:t>단면 line profile·top-view 직진성·cut 주변 sidewall 잔재 모두에서 SALELE이 우세하며, LER는 약 18% 낮고 잔재 두께는 1/8 수준으로 확인된다.</a:t>
            </a:r>
            <a:endParaRPr lang="en-US" sz="1725" dirty="0"/>
          </a:p>
        </p:txBody>
      </p:sp>
      <p:sp>
        <p:nvSpPr>
          <p:cNvPr id="28" name="Text 17"/>
          <p:cNvSpPr txBox="1"/>
          <p:nvPr/>
        </p:nvSpPr>
        <p:spPr>
          <a:xfrm>
            <a:off x="761695" y="9658807"/>
            <a:ext cx="16764610" cy="181051"/>
          </a:xfrm>
          <a:prstGeom prst="rect">
            <a:avLst/>
          </a:prstGeom>
          <a:noFill/>
          <a:ln/>
        </p:spPr>
        <p:txBody>
          <a:bodyPr wrap="none" lIns="0" tIns="0" rIns="0" bIns="0" rtlCol="0" anchor="ctr"/>
          <a:lstStyle/>
          <a:p>
            <a:pPr algn="l" indent="0" marL="0">
              <a:buNone/>
            </a:pPr>
            <a:r>
              <a:rPr lang="en-US" sz="975" dirty="0">
                <a:solidFill>
                  <a:srgbClr val="5E6877"/>
                </a:solidFill>
                <a:latin typeface="Pretendard" pitchFamily="34" charset="0"/>
                <a:ea typeface="Pretendard" pitchFamily="34" charset="-122"/>
                <a:cs typeface="Pretendard" pitchFamily="34" charset="-120"/>
              </a:rPr>
              <a:t>※ 내부 테스트용 더미(가상) 데이터</a:t>
            </a:r>
            <a:endParaRPr lang="en-US" sz="9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2F6"/>
        </a:solidFill>
      </p:bgPr>
    </p:bg>
    <p:spTree>
      <p:nvGrpSpPr>
        <p:cNvPr id="1" name=""/>
        <p:cNvGrpSpPr/>
        <p:nvPr/>
      </p:nvGrpSpPr>
      <p:grpSpPr>
        <a:xfrm>
          <a:off x="0" y="0"/>
          <a:ext cx="0" cy="0"/>
          <a:chOff x="0" y="0"/>
          <a:chExt cx="0" cy="0"/>
        </a:xfrm>
      </p:grpSpPr>
      <p:pic>
        <p:nvPicPr>
          <p:cNvPr id="3" name="Image 0" descr="gen-dedup-e28139ceb6f19fd95cd8e028518f0f6b.png">    </p:cNvPr>
          <p:cNvPicPr>
            <a:picLocks noChangeAspect="1"/>
          </p:cNvPicPr>
          <p:nvPr/>
        </p:nvPicPr>
        <p:blipFill>
          <a:blip r:embed="rId1"/>
          <a:srcRect l="0" r="0" t="-420" b="-420"/>
          <a:stretch/>
        </p:blipFill>
        <p:spPr>
          <a:xfrm>
            <a:off x="761695" y="1886407"/>
            <a:ext cx="761695" cy="38405"/>
          </a:xfrm>
          <a:prstGeom prst="rect">
            <a:avLst/>
          </a:prstGeom>
        </p:spPr>
      </p:pic>
      <p:sp>
        <p:nvSpPr>
          <p:cNvPr id="4" name="Shape 0"/>
          <p:cNvSpPr/>
          <p:nvPr/>
        </p:nvSpPr>
        <p:spPr>
          <a:xfrm>
            <a:off x="1143000" y="2210105"/>
            <a:ext cx="16002000" cy="4095598"/>
          </a:xfrm>
          <a:prstGeom prst="rect">
            <a:avLst/>
          </a:prstGeom>
          <a:solidFill>
            <a:srgbClr val="FFFFFF"/>
          </a:solidFill>
          <a:ln w="12700">
            <a:solidFill>
              <a:srgbClr val="FFFFFF">
                <a:alpha val="0"/>
              </a:srgbClr>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143000" y="2210105"/>
          <a:ext cx="16002000" cy="3724351"/>
        </p:xfrm>
        <a:graphic>
          <a:graphicData uri="http://schemas.openxmlformats.org/drawingml/2006/table">
            <a:tbl>
              <a:tblPr/>
              <a:tblGrid>
                <a:gridCol w="3303538"/>
                <a:gridCol w="2056368"/>
                <a:gridCol w="3207532"/>
                <a:gridCol w="3223990"/>
                <a:gridCol w="4210571"/>
              </a:tblGrid>
              <a:tr h="620725">
                <a:tc>
                  <a:txBody>
                    <a:bodyPr/>
                    <a:lstStyle/>
                    <a:p>
                      <a:pPr algn="l" indent="0" marL="0">
                        <a:buNone/>
                      </a:pPr>
                      <a:r>
                        <a:rPr lang="en-US" sz="1275" b="1" dirty="0">
                          <a:solidFill>
                            <a:srgbClr val="5E6877"/>
                          </a:solidFill>
                          <a:latin typeface="ui-monospace" pitchFamily="34" charset="0"/>
                          <a:ea typeface="ui-monospace" pitchFamily="34" charset="-122"/>
                          <a:cs typeface="ui-monospace" pitchFamily="34" charset="-120"/>
                        </a:rPr>
                        <a:t>항목</a:t>
                      </a:r>
                      <a:endParaRPr lang="en-US" sz="1275" dirty="0">
                        <a:latin typeface="ui-monospace" charset="0"/>
                        <a:ea typeface="ui-monospace" charset="0"/>
                        <a:cs typeface="ui-monospace" charset="0"/>
                      </a:endParaRPr>
                    </a:p>
                  </a:txBody>
                  <a:tcPr marL="171907" marR="171907" marT="133502" marB="133502"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algn="l" indent="0" marL="0">
                        <a:buNone/>
                      </a:pPr>
                      <a:r>
                        <a:rPr lang="en-US" sz="1275" b="1" dirty="0">
                          <a:solidFill>
                            <a:srgbClr val="5E6877"/>
                          </a:solidFill>
                          <a:latin typeface="ui-monospace" pitchFamily="34" charset="0"/>
                          <a:ea typeface="ui-monospace" pitchFamily="34" charset="-122"/>
                          <a:cs typeface="ui-monospace" pitchFamily="34" charset="-120"/>
                        </a:rPr>
                        <a:t>단위</a:t>
                      </a:r>
                      <a:endParaRPr lang="en-US" sz="1275" dirty="0">
                        <a:latin typeface="ui-monospace" charset="0"/>
                        <a:ea typeface="ui-monospace" charset="0"/>
                        <a:cs typeface="ui-monospace" charset="0"/>
                      </a:endParaRPr>
                    </a:p>
                  </a:txBody>
                  <a:tcPr marL="171907" marR="171907" marT="133502" marB="133502"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algn="l" indent="0" marL="0">
                        <a:buNone/>
                      </a:pPr>
                      <a:r>
                        <a:rPr lang="en-US" sz="1275" b="1" dirty="0">
                          <a:solidFill>
                            <a:srgbClr val="5E6877"/>
                          </a:solidFill>
                          <a:latin typeface="ui-monospace" pitchFamily="34" charset="0"/>
                          <a:ea typeface="ui-monospace" pitchFamily="34" charset="-122"/>
                          <a:cs typeface="ui-monospace" pitchFamily="34" charset="-120"/>
                        </a:rPr>
                        <a:t>W01 · SADP</a:t>
                      </a:r>
                      <a:endParaRPr lang="en-US" sz="1275" dirty="0">
                        <a:latin typeface="ui-monospace" charset="0"/>
                        <a:ea typeface="ui-monospace" charset="0"/>
                        <a:cs typeface="ui-monospace" charset="0"/>
                      </a:endParaRPr>
                    </a:p>
                  </a:txBody>
                  <a:tcPr marL="171907" marR="171907" marT="133502" marB="133502"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algn="l" indent="0" marL="0">
                        <a:buNone/>
                      </a:pPr>
                      <a:r>
                        <a:rPr lang="en-US" sz="1275" b="1" dirty="0">
                          <a:solidFill>
                            <a:srgbClr val="5E6877"/>
                          </a:solidFill>
                          <a:latin typeface="ui-monospace" pitchFamily="34" charset="0"/>
                          <a:ea typeface="ui-monospace" pitchFamily="34" charset="-122"/>
                          <a:cs typeface="ui-monospace" pitchFamily="34" charset="-120"/>
                        </a:rPr>
                        <a:t>W02 · SALELE</a:t>
                      </a:r>
                      <a:endParaRPr lang="en-US" sz="1275" dirty="0">
                        <a:latin typeface="ui-monospace" charset="0"/>
                        <a:ea typeface="ui-monospace" charset="0"/>
                        <a:cs typeface="ui-monospace" charset="0"/>
                      </a:endParaRPr>
                    </a:p>
                  </a:txBody>
                  <a:tcPr marL="171907" marR="171907" marT="133502" marB="133502"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algn="l" indent="0" marL="0">
                        <a:buNone/>
                      </a:pPr>
                      <a:r>
                        <a:rPr lang="en-US" sz="1275" b="1" dirty="0">
                          <a:solidFill>
                            <a:srgbClr val="5E6877"/>
                          </a:solidFill>
                          <a:latin typeface="ui-monospace" pitchFamily="34" charset="0"/>
                          <a:ea typeface="ui-monospace" pitchFamily="34" charset="-122"/>
                          <a:cs typeface="ui-monospace" pitchFamily="34" charset="-120"/>
                        </a:rPr>
                        <a:t>W03 · SALELE</a:t>
                      </a:r>
                      <a:endParaRPr lang="en-US" sz="1275" dirty="0">
                        <a:latin typeface="ui-monospace" charset="0"/>
                        <a:ea typeface="ui-monospace" charset="0"/>
                        <a:cs typeface="ui-monospace" charset="0"/>
                      </a:endParaRPr>
                    </a:p>
                  </a:txBody>
                  <a:tcPr marL="171907" marR="171907" marT="133502" marB="133502"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r>
              <a:tr h="620725">
                <a:tc>
                  <a:txBody>
                    <a:bodyPr/>
                    <a:lstStyle/>
                    <a:p>
                      <a:pPr indent="0" marL="0">
                        <a:buNone/>
                      </a:pPr>
                      <a:r>
                        <a:rPr lang="en-US" sz="1650" b="1" dirty="0">
                          <a:solidFill>
                            <a:srgbClr val="11233A"/>
                          </a:solidFill>
                          <a:latin typeface="Pretendard" pitchFamily="34" charset="0"/>
                          <a:ea typeface="Pretendard" pitchFamily="34" charset="-122"/>
                          <a:cs typeface="Pretendard" pitchFamily="34" charset="-120"/>
                        </a:rPr>
                        <a:t>Line sheet resistance (Rs)</a:t>
                      </a:r>
                      <a:endParaRPr lang="en-US" sz="1650" dirty="0">
                        <a:latin typeface="Pretendard" charset="0"/>
                        <a:ea typeface="Pretendard" charset="0"/>
                        <a:cs typeface="Pretendard" charset="0"/>
                      </a:endParaRPr>
                    </a:p>
                  </a:txBody>
                  <a:tcPr marL="171907" marR="171907" marT="152705" marB="152705"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indent="0" marL="0">
                        <a:buNone/>
                      </a:pPr>
                      <a:r>
                        <a:rPr lang="en-US" sz="1650" dirty="0">
                          <a:solidFill>
                            <a:srgbClr val="11233A"/>
                          </a:solidFill>
                          <a:latin typeface="ui-monospace" pitchFamily="34" charset="0"/>
                          <a:ea typeface="ui-monospace" pitchFamily="34" charset="-122"/>
                          <a:cs typeface="ui-monospace" pitchFamily="34" charset="-120"/>
                        </a:rPr>
                        <a:t>Ω/sq</a:t>
                      </a:r>
                      <a:endParaRPr lang="en-US" sz="1650" dirty="0">
                        <a:latin typeface="ui-monospace" charset="0"/>
                        <a:ea typeface="ui-monospace" charset="0"/>
                        <a:cs typeface="ui-monospace" charset="0"/>
                      </a:endParaRPr>
                    </a:p>
                  </a:txBody>
                  <a:tcPr marL="171907" marR="171907" marT="152705" marB="152705"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indent="0" marL="0">
                        <a:buNone/>
                      </a:pPr>
                      <a:r>
                        <a:rPr lang="en-US" sz="1650" dirty="0">
                          <a:solidFill>
                            <a:srgbClr val="11233A"/>
                          </a:solidFill>
                          <a:latin typeface="ui-monospace" pitchFamily="34" charset="0"/>
                          <a:ea typeface="ui-monospace" pitchFamily="34" charset="-122"/>
                          <a:cs typeface="ui-monospace" pitchFamily="34" charset="-120"/>
                        </a:rPr>
                        <a:t>285 </a:t>
                      </a:r>
                      <a:pPr indent="0" marL="0">
                        <a:buNone/>
                      </a:pPr>
                      <a:r>
                        <a:rPr lang="en-US" sz="1200" dirty="0">
                          <a:solidFill>
                            <a:srgbClr val="5E6877"/>
                          </a:solidFill>
                          <a:latin typeface="ui-monospace" pitchFamily="34" charset="0"/>
                          <a:ea typeface="ui-monospace" pitchFamily="34" charset="-122"/>
                          <a:cs typeface="ui-monospace" pitchFamily="34" charset="-120"/>
                        </a:rPr>
                        <a:t>(3σ 14)</a:t>
                      </a:r>
                      <a:endParaRPr lang="en-US" sz="1200" dirty="0"/>
                    </a:p>
                  </a:txBody>
                  <a:tcPr marL="171907" marR="171907" marT="152705" marB="152705"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indent="0" marL="0">
                        <a:buNone/>
                      </a:pPr>
                      <a:r>
                        <a:rPr lang="en-US" sz="1650" dirty="0">
                          <a:solidFill>
                            <a:srgbClr val="11233A"/>
                          </a:solidFill>
                          <a:latin typeface="ui-monospace" pitchFamily="34" charset="0"/>
                          <a:ea typeface="ui-monospace" pitchFamily="34" charset="-122"/>
                          <a:cs typeface="ui-monospace" pitchFamily="34" charset="-120"/>
                        </a:rPr>
                        <a:t>252 </a:t>
                      </a:r>
                      <a:pPr indent="0" marL="0">
                        <a:buNone/>
                      </a:pPr>
                      <a:r>
                        <a:rPr lang="en-US" sz="1200" dirty="0">
                          <a:solidFill>
                            <a:srgbClr val="5E6877"/>
                          </a:solidFill>
                          <a:latin typeface="ui-monospace" pitchFamily="34" charset="0"/>
                          <a:ea typeface="ui-monospace" pitchFamily="34" charset="-122"/>
                          <a:cs typeface="ui-monospace" pitchFamily="34" charset="-120"/>
                        </a:rPr>
                        <a:t>(3σ 9)</a:t>
                      </a:r>
                      <a:endParaRPr lang="en-US" sz="1200" dirty="0"/>
                    </a:p>
                  </a:txBody>
                  <a:tcPr marL="171907" marR="171907" marT="152705" marB="152705"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indent="0" marL="0">
                        <a:buNone/>
                      </a:pPr>
                      <a:r>
                        <a:rPr lang="en-US" sz="1650" dirty="0">
                          <a:solidFill>
                            <a:srgbClr val="11233A"/>
                          </a:solidFill>
                          <a:latin typeface="ui-monospace" pitchFamily="34" charset="0"/>
                          <a:ea typeface="ui-monospace" pitchFamily="34" charset="-122"/>
                          <a:cs typeface="ui-monospace" pitchFamily="34" charset="-120"/>
                        </a:rPr>
                        <a:t>248 </a:t>
                      </a:r>
                      <a:pPr indent="0" marL="0">
                        <a:buNone/>
                      </a:pPr>
                      <a:r>
                        <a:rPr lang="en-US" sz="1200" dirty="0">
                          <a:solidFill>
                            <a:srgbClr val="5E6877"/>
                          </a:solidFill>
                          <a:latin typeface="ui-monospace" pitchFamily="34" charset="0"/>
                          <a:ea typeface="ui-monospace" pitchFamily="34" charset="-122"/>
                          <a:cs typeface="ui-monospace" pitchFamily="34" charset="-120"/>
                        </a:rPr>
                        <a:t>(3σ 7)</a:t>
                      </a:r>
                      <a:endParaRPr lang="en-US" sz="1200" dirty="0"/>
                    </a:p>
                  </a:txBody>
                  <a:tcPr marL="171907" marR="171907" marT="152705" marB="152705"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r>
              <a:tr h="620725">
                <a:tc>
                  <a:txBody>
                    <a:bodyPr/>
                    <a:lstStyle/>
                    <a:p>
                      <a:pPr indent="0" marL="0">
                        <a:buNone/>
                      </a:pPr>
                      <a:r>
                        <a:rPr lang="en-US" sz="1650" b="1" dirty="0">
                          <a:solidFill>
                            <a:srgbClr val="11233A"/>
                          </a:solidFill>
                          <a:latin typeface="Pretendard" pitchFamily="34" charset="0"/>
                          <a:ea typeface="Pretendard" pitchFamily="34" charset="-122"/>
                          <a:cs typeface="Pretendard" pitchFamily="34" charset="-120"/>
                        </a:rPr>
                        <a:t>Line-to-line capacitance (C)</a:t>
                      </a:r>
                      <a:endParaRPr lang="en-US" sz="1650" dirty="0">
                        <a:latin typeface="Pretendard" charset="0"/>
                        <a:ea typeface="Pretendard" charset="0"/>
                        <a:cs typeface="Pretendard" charset="0"/>
                      </a:endParaRPr>
                    </a:p>
                  </a:txBody>
                  <a:tcPr marL="171907" marR="171907" marT="152705" marB="152705"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indent="0" marL="0">
                        <a:buNone/>
                      </a:pPr>
                      <a:r>
                        <a:rPr lang="en-US" sz="1650" dirty="0">
                          <a:solidFill>
                            <a:srgbClr val="11233A"/>
                          </a:solidFill>
                          <a:latin typeface="ui-monospace" pitchFamily="34" charset="0"/>
                          <a:ea typeface="ui-monospace" pitchFamily="34" charset="-122"/>
                          <a:cs typeface="ui-monospace" pitchFamily="34" charset="-120"/>
                        </a:rPr>
                        <a:t>aF/µm</a:t>
                      </a:r>
                      <a:endParaRPr lang="en-US" sz="1650" dirty="0">
                        <a:latin typeface="ui-monospace" charset="0"/>
                        <a:ea typeface="ui-monospace" charset="0"/>
                        <a:cs typeface="ui-monospace" charset="0"/>
                      </a:endParaRPr>
                    </a:p>
                  </a:txBody>
                  <a:tcPr marL="171907" marR="171907" marT="152705" marB="152705"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indent="0" marL="0">
                        <a:buNone/>
                      </a:pPr>
                      <a:r>
                        <a:rPr lang="en-US" sz="1650" dirty="0">
                          <a:solidFill>
                            <a:srgbClr val="11233A"/>
                          </a:solidFill>
                          <a:latin typeface="ui-monospace" pitchFamily="34" charset="0"/>
                          <a:ea typeface="ui-monospace" pitchFamily="34" charset="-122"/>
                          <a:cs typeface="ui-monospace" pitchFamily="34" charset="-120"/>
                        </a:rPr>
                        <a:t>142 </a:t>
                      </a:r>
                      <a:pPr indent="0" marL="0">
                        <a:buNone/>
                      </a:pPr>
                      <a:r>
                        <a:rPr lang="en-US" sz="1200" dirty="0">
                          <a:solidFill>
                            <a:srgbClr val="5E6877"/>
                          </a:solidFill>
                          <a:latin typeface="ui-monospace" pitchFamily="34" charset="0"/>
                          <a:ea typeface="ui-monospace" pitchFamily="34" charset="-122"/>
                          <a:cs typeface="ui-monospace" pitchFamily="34" charset="-120"/>
                        </a:rPr>
                        <a:t>(3σ 8)</a:t>
                      </a:r>
                      <a:endParaRPr lang="en-US" sz="1200" dirty="0"/>
                    </a:p>
                  </a:txBody>
                  <a:tcPr marL="171907" marR="171907" marT="152705" marB="152705"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indent="0" marL="0">
                        <a:buNone/>
                      </a:pPr>
                      <a:r>
                        <a:rPr lang="en-US" sz="1650" dirty="0">
                          <a:solidFill>
                            <a:srgbClr val="11233A"/>
                          </a:solidFill>
                          <a:latin typeface="ui-monospace" pitchFamily="34" charset="0"/>
                          <a:ea typeface="ui-monospace" pitchFamily="34" charset="-122"/>
                          <a:cs typeface="ui-monospace" pitchFamily="34" charset="-120"/>
                        </a:rPr>
                        <a:t>118 </a:t>
                      </a:r>
                      <a:pPr indent="0" marL="0">
                        <a:buNone/>
                      </a:pPr>
                      <a:r>
                        <a:rPr lang="en-US" sz="1200" dirty="0">
                          <a:solidFill>
                            <a:srgbClr val="5E6877"/>
                          </a:solidFill>
                          <a:latin typeface="ui-monospace" pitchFamily="34" charset="0"/>
                          <a:ea typeface="ui-monospace" pitchFamily="34" charset="-122"/>
                          <a:cs typeface="ui-monospace" pitchFamily="34" charset="-120"/>
                        </a:rPr>
                        <a:t>(3σ 5)</a:t>
                      </a:r>
                      <a:endParaRPr lang="en-US" sz="1200" dirty="0"/>
                    </a:p>
                  </a:txBody>
                  <a:tcPr marL="171907" marR="171907" marT="152705" marB="152705"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indent="0" marL="0">
                        <a:buNone/>
                      </a:pPr>
                      <a:r>
                        <a:rPr lang="en-US" sz="1650" dirty="0">
                          <a:solidFill>
                            <a:srgbClr val="11233A"/>
                          </a:solidFill>
                          <a:latin typeface="ui-monospace" pitchFamily="34" charset="0"/>
                          <a:ea typeface="ui-monospace" pitchFamily="34" charset="-122"/>
                          <a:cs typeface="ui-monospace" pitchFamily="34" charset="-120"/>
                        </a:rPr>
                        <a:t>115 </a:t>
                      </a:r>
                      <a:pPr indent="0" marL="0">
                        <a:buNone/>
                      </a:pPr>
                      <a:r>
                        <a:rPr lang="en-US" sz="1200" dirty="0">
                          <a:solidFill>
                            <a:srgbClr val="5E6877"/>
                          </a:solidFill>
                          <a:latin typeface="ui-monospace" pitchFamily="34" charset="0"/>
                          <a:ea typeface="ui-monospace" pitchFamily="34" charset="-122"/>
                          <a:cs typeface="ui-monospace" pitchFamily="34" charset="-120"/>
                        </a:rPr>
                        <a:t>(3σ 4)</a:t>
                      </a:r>
                      <a:endParaRPr lang="en-US" sz="1200" dirty="0"/>
                    </a:p>
                  </a:txBody>
                  <a:tcPr marL="171907" marR="171907" marT="152705" marB="152705"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r>
              <a:tr h="620725">
                <a:tc>
                  <a:txBody>
                    <a:bodyPr/>
                    <a:lstStyle/>
                    <a:p>
                      <a:pPr indent="0" marL="0">
                        <a:buNone/>
                      </a:pPr>
                      <a:r>
                        <a:rPr lang="en-US" sz="1650" b="1" dirty="0">
                          <a:solidFill>
                            <a:srgbClr val="11233A"/>
                          </a:solidFill>
                          <a:latin typeface="Pretendard" pitchFamily="34" charset="0"/>
                          <a:ea typeface="Pretendard" pitchFamily="34" charset="-122"/>
                          <a:cs typeface="Pretendard" pitchFamily="34" charset="-120"/>
                        </a:rPr>
                        <a:t>Unit RC delay (computed)</a:t>
                      </a:r>
                      <a:endParaRPr lang="en-US" sz="1650" dirty="0">
                        <a:latin typeface="Pretendard" charset="0"/>
                        <a:ea typeface="Pretendard" charset="0"/>
                        <a:cs typeface="Pretendard" charset="0"/>
                      </a:endParaRPr>
                    </a:p>
                  </a:txBody>
                  <a:tcPr marL="171907" marR="171907" marT="152705" marB="152705"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indent="0" marL="0">
                        <a:buNone/>
                      </a:pPr>
                      <a:r>
                        <a:rPr lang="en-US" sz="1650" dirty="0">
                          <a:solidFill>
                            <a:srgbClr val="11233A"/>
                          </a:solidFill>
                          <a:latin typeface="ui-monospace" pitchFamily="34" charset="0"/>
                          <a:ea typeface="ui-monospace" pitchFamily="34" charset="-122"/>
                          <a:cs typeface="ui-monospace" pitchFamily="34" charset="-120"/>
                        </a:rPr>
                        <a:t>ps/µm</a:t>
                      </a:r>
                      <a:endParaRPr lang="en-US" sz="1650" dirty="0">
                        <a:latin typeface="ui-monospace" charset="0"/>
                        <a:ea typeface="ui-monospace" charset="0"/>
                        <a:cs typeface="ui-monospace" charset="0"/>
                      </a:endParaRPr>
                    </a:p>
                  </a:txBody>
                  <a:tcPr marL="171907" marR="171907" marT="152705" marB="152705"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indent="0" marL="0">
                        <a:buNone/>
                      </a:pPr>
                      <a:r>
                        <a:rPr lang="en-US" sz="1650" dirty="0">
                          <a:solidFill>
                            <a:srgbClr val="11233A"/>
                          </a:solidFill>
                          <a:latin typeface="ui-monospace" pitchFamily="34" charset="0"/>
                          <a:ea typeface="ui-monospace" pitchFamily="34" charset="-122"/>
                          <a:cs typeface="ui-monospace" pitchFamily="34" charset="-120"/>
                        </a:rPr>
                        <a:t>4.85</a:t>
                      </a:r>
                      <a:endParaRPr lang="en-US" sz="1650" dirty="0">
                        <a:latin typeface="ui-monospace" charset="0"/>
                        <a:ea typeface="ui-monospace" charset="0"/>
                        <a:cs typeface="ui-monospace" charset="0"/>
                      </a:endParaRPr>
                    </a:p>
                  </a:txBody>
                  <a:tcPr marL="171907" marR="171907" marT="152705" marB="152705"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indent="0" marL="0">
                        <a:buNone/>
                      </a:pPr>
                      <a:r>
                        <a:rPr lang="en-US" sz="1650" dirty="0">
                          <a:solidFill>
                            <a:srgbClr val="11233A"/>
                          </a:solidFill>
                          <a:latin typeface="ui-monospace" pitchFamily="34" charset="0"/>
                          <a:ea typeface="ui-monospace" pitchFamily="34" charset="-122"/>
                          <a:cs typeface="ui-monospace" pitchFamily="34" charset="-120"/>
                        </a:rPr>
                        <a:t>3.62</a:t>
                      </a:r>
                      <a:endParaRPr lang="en-US" sz="1650" dirty="0">
                        <a:latin typeface="ui-monospace" charset="0"/>
                        <a:ea typeface="ui-monospace" charset="0"/>
                        <a:cs typeface="ui-monospace" charset="0"/>
                      </a:endParaRPr>
                    </a:p>
                  </a:txBody>
                  <a:tcPr marL="171907" marR="171907" marT="152705" marB="152705"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indent="0" marL="0">
                        <a:buNone/>
                      </a:pPr>
                      <a:r>
                        <a:rPr lang="en-US" sz="1650" dirty="0">
                          <a:solidFill>
                            <a:srgbClr val="11233A"/>
                          </a:solidFill>
                          <a:latin typeface="ui-monospace" pitchFamily="34" charset="0"/>
                          <a:ea typeface="ui-monospace" pitchFamily="34" charset="-122"/>
                          <a:cs typeface="ui-monospace" pitchFamily="34" charset="-120"/>
                        </a:rPr>
                        <a:t>3.51</a:t>
                      </a:r>
                      <a:endParaRPr lang="en-US" sz="1650" dirty="0">
                        <a:latin typeface="ui-monospace" charset="0"/>
                        <a:ea typeface="ui-monospace" charset="0"/>
                        <a:cs typeface="ui-monospace" charset="0"/>
                      </a:endParaRPr>
                    </a:p>
                  </a:txBody>
                  <a:tcPr marL="171907" marR="171907" marT="152705" marB="152705"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r>
              <a:tr h="620725">
                <a:tc>
                  <a:txBody>
                    <a:bodyPr/>
                    <a:lstStyle/>
                    <a:p>
                      <a:pPr indent="0" marL="0">
                        <a:buNone/>
                      </a:pPr>
                      <a:r>
                        <a:rPr lang="en-US" sz="1650" b="1" dirty="0">
                          <a:solidFill>
                            <a:srgbClr val="11233A"/>
                          </a:solidFill>
                          <a:latin typeface="Pretendard" pitchFamily="34" charset="0"/>
                          <a:ea typeface="Pretendard" pitchFamily="34" charset="-122"/>
                          <a:cs typeface="Pretendard" pitchFamily="34" charset="-120"/>
                        </a:rPr>
                        <a:t>Leakage @ 0.8 V</a:t>
                      </a:r>
                      <a:endParaRPr lang="en-US" sz="1650" dirty="0">
                        <a:latin typeface="Pretendard" charset="0"/>
                        <a:ea typeface="Pretendard" charset="0"/>
                        <a:cs typeface="Pretendard" charset="0"/>
                      </a:endParaRPr>
                    </a:p>
                  </a:txBody>
                  <a:tcPr marL="171907" marR="171907" marT="152705" marB="152705"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indent="0" marL="0">
                        <a:buNone/>
                      </a:pPr>
                      <a:r>
                        <a:rPr lang="en-US" sz="1650" dirty="0">
                          <a:solidFill>
                            <a:srgbClr val="11233A"/>
                          </a:solidFill>
                          <a:latin typeface="ui-monospace" pitchFamily="34" charset="0"/>
                          <a:ea typeface="ui-monospace" pitchFamily="34" charset="-122"/>
                          <a:cs typeface="ui-monospace" pitchFamily="34" charset="-120"/>
                        </a:rPr>
                        <a:t>nA/µm</a:t>
                      </a:r>
                      <a:endParaRPr lang="en-US" sz="1650" dirty="0">
                        <a:latin typeface="ui-monospace" charset="0"/>
                        <a:ea typeface="ui-monospace" charset="0"/>
                        <a:cs typeface="ui-monospace" charset="0"/>
                      </a:endParaRPr>
                    </a:p>
                  </a:txBody>
                  <a:tcPr marL="171907" marR="171907" marT="152705" marB="152705"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indent="0" marL="0">
                        <a:buNone/>
                      </a:pPr>
                      <a:r>
                        <a:rPr lang="en-US" sz="1650" dirty="0">
                          <a:solidFill>
                            <a:srgbClr val="11233A"/>
                          </a:solidFill>
                          <a:latin typeface="ui-monospace" pitchFamily="34" charset="0"/>
                          <a:ea typeface="ui-monospace" pitchFamily="34" charset="-122"/>
                          <a:cs typeface="ui-monospace" pitchFamily="34" charset="-120"/>
                        </a:rPr>
                        <a:t>6.80 </a:t>
                      </a:r>
                      <a:pPr indent="0" marL="0">
                        <a:buNone/>
                      </a:pPr>
                      <a:r>
                        <a:rPr lang="en-US" sz="1200" dirty="0">
                          <a:solidFill>
                            <a:srgbClr val="5E6877"/>
                          </a:solidFill>
                          <a:latin typeface="ui-monospace" pitchFamily="34" charset="0"/>
                          <a:ea typeface="ui-monospace" pitchFamily="34" charset="-122"/>
                          <a:cs typeface="ui-monospace" pitchFamily="34" charset="-120"/>
                        </a:rPr>
                        <a:t>(3σ 1.1)</a:t>
                      </a:r>
                      <a:endParaRPr lang="en-US" sz="1200" dirty="0"/>
                    </a:p>
                  </a:txBody>
                  <a:tcPr marL="171907" marR="171907" marT="152705" marB="152705"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indent="0" marL="0">
                        <a:buNone/>
                      </a:pPr>
                      <a:r>
                        <a:rPr lang="en-US" sz="1650" dirty="0">
                          <a:solidFill>
                            <a:srgbClr val="11233A"/>
                          </a:solidFill>
                          <a:latin typeface="ui-monospace" pitchFamily="34" charset="0"/>
                          <a:ea typeface="ui-monospace" pitchFamily="34" charset="-122"/>
                          <a:cs typeface="ui-monospace" pitchFamily="34" charset="-120"/>
                        </a:rPr>
                        <a:t>4.20 </a:t>
                      </a:r>
                      <a:pPr indent="0" marL="0">
                        <a:buNone/>
                      </a:pPr>
                      <a:r>
                        <a:rPr lang="en-US" sz="1200" dirty="0">
                          <a:solidFill>
                            <a:srgbClr val="5E6877"/>
                          </a:solidFill>
                          <a:latin typeface="ui-monospace" pitchFamily="34" charset="0"/>
                          <a:ea typeface="ui-monospace" pitchFamily="34" charset="-122"/>
                          <a:cs typeface="ui-monospace" pitchFamily="34" charset="-120"/>
                        </a:rPr>
                        <a:t>(3σ 0.6)</a:t>
                      </a:r>
                      <a:endParaRPr lang="en-US" sz="1200" dirty="0"/>
                    </a:p>
                  </a:txBody>
                  <a:tcPr marL="171907" marR="171907" marT="152705" marB="152705"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c>
                  <a:txBody>
                    <a:bodyPr/>
                    <a:lstStyle/>
                    <a:p>
                      <a:pPr indent="0" marL="0">
                        <a:buNone/>
                      </a:pPr>
                      <a:r>
                        <a:rPr lang="en-US" sz="1650" dirty="0">
                          <a:solidFill>
                            <a:srgbClr val="11233A"/>
                          </a:solidFill>
                          <a:latin typeface="ui-monospace" pitchFamily="34" charset="0"/>
                          <a:ea typeface="ui-monospace" pitchFamily="34" charset="-122"/>
                          <a:cs typeface="ui-monospace" pitchFamily="34" charset="-120"/>
                        </a:rPr>
                        <a:t>3.90 </a:t>
                      </a:r>
                      <a:pPr indent="0" marL="0">
                        <a:buNone/>
                      </a:pPr>
                      <a:r>
                        <a:rPr lang="en-US" sz="1200" dirty="0">
                          <a:solidFill>
                            <a:srgbClr val="5E6877"/>
                          </a:solidFill>
                          <a:latin typeface="ui-monospace" pitchFamily="34" charset="0"/>
                          <a:ea typeface="ui-monospace" pitchFamily="34" charset="-122"/>
                          <a:cs typeface="ui-monospace" pitchFamily="34" charset="-120"/>
                        </a:rPr>
                        <a:t>(3σ 0.5)</a:t>
                      </a:r>
                      <a:endParaRPr lang="en-US" sz="1200" dirty="0"/>
                    </a:p>
                  </a:txBody>
                  <a:tcPr marL="171907" marR="171907" marT="152705" marB="152705"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tcPr>
                </a:tc>
              </a:tr>
              <a:tr h="620725">
                <a:tc>
                  <a:txBody>
                    <a:bodyPr/>
                    <a:lstStyle/>
                    <a:p>
                      <a:pPr indent="0" marL="0">
                        <a:buNone/>
                      </a:pPr>
                      <a:r>
                        <a:rPr lang="en-US" sz="1650" b="1" dirty="0">
                          <a:solidFill>
                            <a:srgbClr val="5E6877"/>
                          </a:solidFill>
                          <a:latin typeface="Pretendard" pitchFamily="34" charset="0"/>
                          <a:ea typeface="Pretendard" pitchFamily="34" charset="-122"/>
                          <a:cs typeface="Pretendard" pitchFamily="34" charset="-120"/>
                        </a:rPr>
                        <a:t>Δ vs W01 (SALELE 평균)</a:t>
                      </a:r>
                      <a:endParaRPr lang="en-US" sz="1650" dirty="0">
                        <a:latin typeface="Pretendard" charset="0"/>
                        <a:ea typeface="Pretendard" charset="0"/>
                        <a:cs typeface="Pretendard" charset="0"/>
                      </a:endParaRPr>
                    </a:p>
                  </a:txBody>
                  <a:tcPr marL="171907" marR="171907" marT="152705" marB="152705"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solidFill>
                      <a:srgbClr val="F4F6FA"/>
                    </a:solidFill>
                  </a:tcPr>
                </a:tc>
                <a:tc>
                  <a:txBody>
                    <a:bodyPr/>
                    <a:lstStyle/>
                    <a:p>
                      <a:pPr indent="0" marL="0">
                        <a:buNone/>
                      </a:pPr>
                      <a:endParaRPr lang="en-US" sz="1650" dirty="0">
                        <a:latin typeface="ui-monospace" charset="0"/>
                        <a:ea typeface="ui-monospace" charset="0"/>
                        <a:cs typeface="ui-monospace" charset="0"/>
                      </a:endParaRPr>
                    </a:p>
                  </a:txBody>
                  <a:tcPr marL="171907" marR="171907" marT="152705" marB="152705"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solidFill>
                      <a:srgbClr val="F4F6FA"/>
                    </a:solidFill>
                  </a:tcPr>
                </a:tc>
                <a:tc>
                  <a:txBody>
                    <a:bodyPr/>
                    <a:lstStyle/>
                    <a:p>
                      <a:pPr indent="0" marL="0">
                        <a:buNone/>
                      </a:pPr>
                      <a:r>
                        <a:rPr lang="en-US" sz="1650" dirty="0">
                          <a:solidFill>
                            <a:srgbClr val="5E6877"/>
                          </a:solidFill>
                          <a:latin typeface="ui-monospace" pitchFamily="34" charset="0"/>
                          <a:ea typeface="ui-monospace" pitchFamily="34" charset="-122"/>
                          <a:cs typeface="ui-monospace" pitchFamily="34" charset="-120"/>
                        </a:rPr>
                        <a:t>—</a:t>
                      </a:r>
                      <a:endParaRPr lang="en-US" sz="1650" dirty="0">
                        <a:latin typeface="ui-monospace" charset="0"/>
                        <a:ea typeface="ui-monospace" charset="0"/>
                        <a:cs typeface="ui-monospace" charset="0"/>
                      </a:endParaRPr>
                    </a:p>
                  </a:txBody>
                  <a:tcPr marL="171907" marR="171907" marT="152705" marB="152705"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solidFill>
                      <a:srgbClr val="F4F6FA"/>
                    </a:solidFill>
                  </a:tcPr>
                </a:tc>
                <a:tc>
                  <a:txBody>
                    <a:bodyPr/>
                    <a:lstStyle/>
                    <a:p>
                      <a:pPr indent="0" marL="0">
                        <a:buNone/>
                      </a:pPr>
                      <a:r>
                        <a:rPr lang="en-US" sz="1650" dirty="0">
                          <a:solidFill>
                            <a:srgbClr val="11233A"/>
                          </a:solidFill>
                          <a:latin typeface="ui-monospace" pitchFamily="34" charset="0"/>
                          <a:ea typeface="ui-monospace" pitchFamily="34" charset="-122"/>
                          <a:cs typeface="ui-monospace" pitchFamily="34" charset="-120"/>
                        </a:rPr>
                        <a:t>Rs −12 % · C −17 % · RC −25 %</a:t>
                      </a:r>
                      <a:endParaRPr lang="en-US" sz="1650" dirty="0">
                        <a:latin typeface="ui-monospace" charset="0"/>
                        <a:ea typeface="ui-monospace" charset="0"/>
                        <a:cs typeface="ui-monospace" charset="0"/>
                      </a:endParaRPr>
                    </a:p>
                  </a:txBody>
                  <a:tcPr marL="171907" marR="171907" marT="152705" marB="152705"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solidFill>
                      <a:srgbClr val="F4F6FA"/>
                    </a:solidFill>
                  </a:tcPr>
                </a:tc>
                <a:tc>
                  <a:txBody>
                    <a:bodyPr/>
                    <a:lstStyle/>
                    <a:p>
                      <a:pPr indent="0" marL="0">
                        <a:buNone/>
                      </a:pPr>
                      <a:r>
                        <a:rPr lang="en-US" sz="1650" dirty="0">
                          <a:solidFill>
                            <a:srgbClr val="11233A"/>
                          </a:solidFill>
                          <a:latin typeface="ui-monospace" pitchFamily="34" charset="0"/>
                          <a:ea typeface="ui-monospace" pitchFamily="34" charset="-122"/>
                          <a:cs typeface="ui-monospace" pitchFamily="34" charset="-120"/>
                        </a:rPr>
                        <a:t>Rs −13 % · C −19 % · RC −28 %</a:t>
                      </a:r>
                      <a:endParaRPr lang="en-US" sz="1650" dirty="0">
                        <a:latin typeface="ui-monospace" charset="0"/>
                        <a:ea typeface="ui-monospace" charset="0"/>
                        <a:cs typeface="ui-monospace" charset="0"/>
                      </a:endParaRPr>
                    </a:p>
                  </a:txBody>
                  <a:tcPr marL="171907" marR="171907" marT="152705" marB="152705" anchor="ctr">
                    <a:lnL w="0" cap="flat" cmpd="sng" algn="ctr">
                      <a:solidFill>
                        <a:srgbClr val="D7DCE4"/>
                      </a:solidFill>
                      <a:prstDash val="solid"/>
                      <a:round/>
                      <a:headEnd type="none" w="med" len="med"/>
                      <a:tailEnd type="none" w="med" len="med"/>
                    </a:lnL>
                    <a:lnR w="0" cap="flat" cmpd="sng" algn="ctr">
                      <a:solidFill>
                        <a:srgbClr val="D7DCE4"/>
                      </a:solidFill>
                      <a:prstDash val="solid"/>
                      <a:round/>
                      <a:headEnd type="none" w="med" len="med"/>
                      <a:tailEnd type="none" w="med" len="med"/>
                    </a:lnR>
                    <a:lnT w="0" cap="flat" cmpd="sng" algn="ctr">
                      <a:solidFill>
                        <a:srgbClr val="D7DCE4"/>
                      </a:solidFill>
                      <a:prstDash val="solid"/>
                      <a:round/>
                      <a:headEnd type="none" w="med" len="med"/>
                      <a:tailEnd type="none" w="med" len="med"/>
                    </a:lnT>
                    <a:lnB w="9525" cap="flat" cmpd="sng" algn="ctr">
                      <a:solidFill>
                        <a:srgbClr val="D7DCE4"/>
                      </a:solidFill>
                      <a:prstDash val="solid"/>
                      <a:round/>
                      <a:headEnd type="none" w="med" len="med"/>
                      <a:tailEnd type="none" w="med" len="med"/>
                    </a:lnB>
                    <a:solidFill>
                      <a:srgbClr val="F4F6FA"/>
                    </a:solidFill>
                  </a:tcPr>
                </a:tc>
              </a:tr>
            </a:tbl>
          </a:graphicData>
        </a:graphic>
      </p:graphicFrame>
      <p:sp>
        <p:nvSpPr>
          <p:cNvPr id="6" name="Shape 1"/>
          <p:cNvSpPr/>
          <p:nvPr/>
        </p:nvSpPr>
        <p:spPr>
          <a:xfrm>
            <a:off x="761695" y="6629400"/>
            <a:ext cx="5429707" cy="1619402"/>
          </a:xfrm>
          <a:prstGeom prst="rect">
            <a:avLst/>
          </a:prstGeom>
          <a:solidFill>
            <a:srgbClr val="FFFFFF"/>
          </a:solidFill>
          <a:ln w="12700">
            <a:solidFill>
              <a:srgbClr val="FFFFFF">
                <a:alpha val="0"/>
              </a:srgbClr>
            </a:solidFill>
            <a:prstDash val="solid"/>
          </a:ln>
        </p:spPr>
      </p:sp>
      <p:pic>
        <p:nvPicPr>
          <p:cNvPr id="7" name="Image 1" descr="gen-dedup-21d385ff937028627b80fca27c8adfed.png">    </p:cNvPr>
          <p:cNvPicPr>
            <a:picLocks noChangeAspect="1"/>
          </p:cNvPicPr>
          <p:nvPr/>
        </p:nvPicPr>
        <p:blipFill>
          <a:blip r:embed="rId2"/>
          <a:srcRect l="-395" r="-395" t="0" b="0"/>
          <a:stretch/>
        </p:blipFill>
        <p:spPr>
          <a:xfrm>
            <a:off x="761695" y="6629400"/>
            <a:ext cx="57607" cy="1619402"/>
          </a:xfrm>
          <a:prstGeom prst="rect">
            <a:avLst/>
          </a:prstGeom>
        </p:spPr>
      </p:pic>
      <p:sp>
        <p:nvSpPr>
          <p:cNvPr id="8" name="Shape 2"/>
          <p:cNvSpPr/>
          <p:nvPr/>
        </p:nvSpPr>
        <p:spPr>
          <a:xfrm>
            <a:off x="6429146" y="6629400"/>
            <a:ext cx="5429707" cy="1619402"/>
          </a:xfrm>
          <a:prstGeom prst="rect">
            <a:avLst/>
          </a:prstGeom>
          <a:solidFill>
            <a:srgbClr val="FFFFFF"/>
          </a:solidFill>
          <a:ln w="12700">
            <a:solidFill>
              <a:srgbClr val="FFFFFF">
                <a:alpha val="0"/>
              </a:srgbClr>
            </a:solidFill>
            <a:prstDash val="solid"/>
          </a:ln>
        </p:spPr>
      </p:sp>
      <p:pic>
        <p:nvPicPr>
          <p:cNvPr id="9" name="Image 2" descr="gen-dedup-534f63d0fe0fb09627e07b801717a6f6.png">    </p:cNvPr>
          <p:cNvPicPr>
            <a:picLocks noChangeAspect="1"/>
          </p:cNvPicPr>
          <p:nvPr/>
        </p:nvPicPr>
        <p:blipFill>
          <a:blip r:embed="rId3"/>
          <a:srcRect l="-395" r="-395" t="0" b="0"/>
          <a:stretch/>
        </p:blipFill>
        <p:spPr>
          <a:xfrm>
            <a:off x="6429146" y="6629400"/>
            <a:ext cx="57607" cy="1619402"/>
          </a:xfrm>
          <a:prstGeom prst="rect">
            <a:avLst/>
          </a:prstGeom>
        </p:spPr>
      </p:pic>
      <p:sp>
        <p:nvSpPr>
          <p:cNvPr id="10" name="Shape 3"/>
          <p:cNvSpPr/>
          <p:nvPr/>
        </p:nvSpPr>
        <p:spPr>
          <a:xfrm>
            <a:off x="12096598" y="6629400"/>
            <a:ext cx="5429707" cy="1619402"/>
          </a:xfrm>
          <a:prstGeom prst="rect">
            <a:avLst/>
          </a:prstGeom>
          <a:solidFill>
            <a:srgbClr val="FFFFFF"/>
          </a:solidFill>
          <a:ln w="12700">
            <a:solidFill>
              <a:srgbClr val="FFFFFF">
                <a:alpha val="0"/>
              </a:srgbClr>
            </a:solidFill>
            <a:prstDash val="solid"/>
          </a:ln>
        </p:spPr>
      </p:sp>
      <p:pic>
        <p:nvPicPr>
          <p:cNvPr id="11" name="Image 3" descr="gen-dedup-f71ef491c41f6e00b0c61beb262e47fb.png">    </p:cNvPr>
          <p:cNvPicPr>
            <a:picLocks noChangeAspect="1"/>
          </p:cNvPicPr>
          <p:nvPr/>
        </p:nvPicPr>
        <p:blipFill>
          <a:blip r:embed="rId4"/>
          <a:srcRect l="-369" r="-369" t="0" b="0"/>
          <a:stretch/>
        </p:blipFill>
        <p:spPr>
          <a:xfrm>
            <a:off x="761695" y="8572500"/>
            <a:ext cx="38405" cy="743407"/>
          </a:xfrm>
          <a:prstGeom prst="rect">
            <a:avLst/>
          </a:prstGeom>
        </p:spPr>
      </p:pic>
      <p:pic>
        <p:nvPicPr>
          <p:cNvPr id="12" name="Image 4" descr="gen-dedup-3edb1d0f3967ac1146e2986c324ceef0.png">    </p:cNvPr>
          <p:cNvPicPr>
            <a:picLocks noChangeAspect="1"/>
          </p:cNvPicPr>
          <p:nvPr/>
        </p:nvPicPr>
        <p:blipFill>
          <a:blip r:embed="rId5"/>
          <a:srcRect l="-2083" r="-2083" t="0" b="0"/>
          <a:stretch/>
        </p:blipFill>
        <p:spPr>
          <a:xfrm>
            <a:off x="761695" y="9506102"/>
            <a:ext cx="16763695" cy="9144"/>
          </a:xfrm>
          <a:prstGeom prst="rect">
            <a:avLst/>
          </a:prstGeom>
        </p:spPr>
      </p:pic>
      <p:sp>
        <p:nvSpPr>
          <p:cNvPr id="13" name="Text 4"/>
          <p:cNvSpPr txBox="1"/>
          <p:nvPr/>
        </p:nvSpPr>
        <p:spPr>
          <a:xfrm>
            <a:off x="761695" y="761695"/>
            <a:ext cx="14287500" cy="476402"/>
          </a:xfrm>
          <a:prstGeom prst="rect">
            <a:avLst/>
          </a:prstGeom>
          <a:noFill/>
          <a:ln/>
        </p:spPr>
        <p:txBody>
          <a:bodyPr wrap="none" lIns="0" tIns="0" rIns="0" bIns="0" rtlCol="0" anchor="ctr"/>
          <a:lstStyle/>
          <a:p>
            <a:pPr algn="l" indent="0" marL="0">
              <a:buNone/>
            </a:pPr>
            <a:r>
              <a:rPr lang="en-US" sz="3150" b="1" spc="-31" kern="0" dirty="0">
                <a:solidFill>
                  <a:srgbClr val="11233A"/>
                </a:solidFill>
                <a:latin typeface="Pretendard" pitchFamily="34" charset="0"/>
                <a:ea typeface="Pretendard" pitchFamily="34" charset="-122"/>
                <a:cs typeface="Pretendard" pitchFamily="34" charset="-120"/>
              </a:rPr>
              <a:t>전기적 특성 평가</a:t>
            </a:r>
            <a:endParaRPr lang="en-US" sz="3150" dirty="0"/>
          </a:p>
        </p:txBody>
      </p:sp>
      <p:sp>
        <p:nvSpPr>
          <p:cNvPr id="14" name="Text 5"/>
          <p:cNvSpPr txBox="1"/>
          <p:nvPr/>
        </p:nvSpPr>
        <p:spPr>
          <a:xfrm>
            <a:off x="761695" y="1347826"/>
            <a:ext cx="14287500" cy="257861"/>
          </a:xfrm>
          <a:prstGeom prst="rect">
            <a:avLst/>
          </a:prstGeom>
          <a:noFill/>
          <a:ln/>
        </p:spPr>
        <p:txBody>
          <a:bodyPr wrap="none" lIns="0" tIns="0" rIns="0" bIns="0" rtlCol="0" anchor="ctr"/>
          <a:lstStyle/>
          <a:p>
            <a:pPr algn="l" indent="0" marL="0">
              <a:buNone/>
            </a:pPr>
            <a:r>
              <a:rPr lang="en-US" sz="1425" dirty="0">
                <a:solidFill>
                  <a:srgbClr val="5E6877"/>
                </a:solidFill>
                <a:latin typeface="Pretendard" pitchFamily="34" charset="0"/>
                <a:ea typeface="Pretendard" pitchFamily="34" charset="-122"/>
                <a:cs typeface="Pretendard" pitchFamily="34" charset="-120"/>
              </a:rPr>
              <a:t>test vehicle 80 µm 길이 comb · sheet resistance / line-to-line C / RC delay / 누설 전류</a:t>
            </a:r>
            <a:endParaRPr lang="en-US" sz="1425" dirty="0"/>
          </a:p>
        </p:txBody>
      </p:sp>
      <p:sp>
        <p:nvSpPr>
          <p:cNvPr id="15" name="Text 6"/>
          <p:cNvSpPr txBox="1"/>
          <p:nvPr/>
        </p:nvSpPr>
        <p:spPr>
          <a:xfrm>
            <a:off x="990295" y="6819595"/>
            <a:ext cx="4953305" cy="191110"/>
          </a:xfrm>
          <a:prstGeom prst="rect">
            <a:avLst/>
          </a:prstGeom>
          <a:noFill/>
          <a:ln/>
        </p:spPr>
        <p:txBody>
          <a:bodyPr wrap="none" lIns="0" tIns="0" rIns="0" bIns="0" rtlCol="0" anchor="ctr"/>
          <a:lstStyle/>
          <a:p>
            <a:pPr algn="l" indent="0" marL="0">
              <a:buNone/>
            </a:pPr>
            <a:r>
              <a:rPr lang="en-US" sz="1050" b="1" spc="63" kern="0" dirty="0">
                <a:solidFill>
                  <a:srgbClr val="2B5FA0"/>
                </a:solidFill>
                <a:latin typeface="Pretendard" pitchFamily="34" charset="0"/>
                <a:ea typeface="Pretendard" pitchFamily="34" charset="-122"/>
                <a:cs typeface="Pretendard" pitchFamily="34" charset="-120"/>
              </a:rPr>
              <a:t>왜 SADP는 RC가 높은가</a:t>
            </a:r>
            <a:endParaRPr lang="en-US" sz="1050" dirty="0"/>
          </a:p>
        </p:txBody>
      </p:sp>
      <p:sp>
        <p:nvSpPr>
          <p:cNvPr id="16" name="Text 7"/>
          <p:cNvSpPr txBox="1"/>
          <p:nvPr/>
        </p:nvSpPr>
        <p:spPr>
          <a:xfrm>
            <a:off x="990295" y="7105802"/>
            <a:ext cx="4953305" cy="685800"/>
          </a:xfrm>
          <a:prstGeom prst="rect">
            <a:avLst/>
          </a:prstGeom>
          <a:noFill/>
          <a:ln/>
        </p:spPr>
        <p:txBody>
          <a:bodyPr wrap="square" lIns="0" tIns="0" rIns="0" bIns="0" rtlCol="0" anchor="ctr"/>
          <a:lstStyle/>
          <a:p>
            <a:pPr algn="l" indent="0" marL="0">
              <a:lnSpc>
                <a:spcPts val="1785"/>
              </a:lnSpc>
              <a:buNone/>
            </a:pPr>
            <a:r>
              <a:rPr lang="en-US" sz="1275" dirty="0">
                <a:solidFill>
                  <a:srgbClr val="11233A"/>
                </a:solidFill>
                <a:latin typeface="Pretendard" pitchFamily="34" charset="0"/>
                <a:ea typeface="Pretendard" pitchFamily="34" charset="-122"/>
                <a:cs typeface="Pretendard" pitchFamily="34" charset="-120"/>
              </a:rPr>
              <a:t>1D 평행선 구조와 잉여 더미 메탈이 동일 간격으로 다수 남아 parasitic C를 누적시키고, sidewall 잔재로 인해 line 실효 폭이 ±0.4 nm 흔들려 Rs 변동도 커진다.</a:t>
            </a:r>
            <a:endParaRPr lang="en-US" sz="1275" dirty="0"/>
          </a:p>
        </p:txBody>
      </p:sp>
      <p:sp>
        <p:nvSpPr>
          <p:cNvPr id="17" name="Text 8"/>
          <p:cNvSpPr txBox="1"/>
          <p:nvPr/>
        </p:nvSpPr>
        <p:spPr>
          <a:xfrm>
            <a:off x="6657746" y="6819595"/>
            <a:ext cx="4953305" cy="191110"/>
          </a:xfrm>
          <a:prstGeom prst="rect">
            <a:avLst/>
          </a:prstGeom>
          <a:noFill/>
          <a:ln/>
        </p:spPr>
        <p:txBody>
          <a:bodyPr wrap="none" lIns="0" tIns="0" rIns="0" bIns="0" rtlCol="0" anchor="ctr"/>
          <a:lstStyle/>
          <a:p>
            <a:pPr algn="l" indent="0" marL="0">
              <a:buNone/>
            </a:pPr>
            <a:r>
              <a:rPr lang="en-US" sz="1050" b="1" spc="63" kern="0" dirty="0">
                <a:solidFill>
                  <a:srgbClr val="B85A2A"/>
                </a:solidFill>
                <a:latin typeface="Pretendard" pitchFamily="34" charset="0"/>
                <a:ea typeface="Pretendard" pitchFamily="34" charset="-122"/>
                <a:cs typeface="Pretendard" pitchFamily="34" charset="-120"/>
              </a:rPr>
              <a:t>왜 SALELE은 RC가 낮은가</a:t>
            </a:r>
            <a:endParaRPr lang="en-US" sz="1050" dirty="0"/>
          </a:p>
        </p:txBody>
      </p:sp>
      <p:sp>
        <p:nvSpPr>
          <p:cNvPr id="18" name="Text 9"/>
          <p:cNvSpPr txBox="1"/>
          <p:nvPr/>
        </p:nvSpPr>
        <p:spPr>
          <a:xfrm>
            <a:off x="6657746" y="7105802"/>
            <a:ext cx="4953305" cy="685800"/>
          </a:xfrm>
          <a:prstGeom prst="rect">
            <a:avLst/>
          </a:prstGeom>
          <a:noFill/>
          <a:ln/>
        </p:spPr>
        <p:txBody>
          <a:bodyPr wrap="square" lIns="0" tIns="0" rIns="0" bIns="0" rtlCol="0" anchor="ctr"/>
          <a:lstStyle/>
          <a:p>
            <a:pPr algn="l" indent="0" marL="0">
              <a:lnSpc>
                <a:spcPts val="1785"/>
              </a:lnSpc>
              <a:buNone/>
            </a:pPr>
            <a:r>
              <a:rPr lang="en-US" sz="1275" dirty="0">
                <a:solidFill>
                  <a:srgbClr val="11233A"/>
                </a:solidFill>
                <a:latin typeface="Pretendard" pitchFamily="34" charset="0"/>
                <a:ea typeface="Pretendard" pitchFamily="34" charset="-122"/>
                <a:cs typeface="Pretendard" pitchFamily="34" charset="-120"/>
              </a:rPr>
              <a:t>L2E2 자가정렬 + 보호 spacer 덕분에 2D 설계로 더미 메탈을 줄이고 sidewall은 직립에 가까워 line-mean 폭이 안정되며, 결과적으로 Rs·C·누설 모두 감소.</a:t>
            </a:r>
            <a:endParaRPr lang="en-US" sz="1275" dirty="0"/>
          </a:p>
        </p:txBody>
      </p:sp>
      <p:sp>
        <p:nvSpPr>
          <p:cNvPr id="19" name="Text 10"/>
          <p:cNvSpPr txBox="1"/>
          <p:nvPr/>
        </p:nvSpPr>
        <p:spPr>
          <a:xfrm>
            <a:off x="12325198" y="6819595"/>
            <a:ext cx="4953305" cy="191110"/>
          </a:xfrm>
          <a:prstGeom prst="rect">
            <a:avLst/>
          </a:prstGeom>
          <a:noFill/>
          <a:ln/>
        </p:spPr>
        <p:txBody>
          <a:bodyPr wrap="none" lIns="0" tIns="0" rIns="0" bIns="0" rtlCol="0" anchor="ctr"/>
          <a:lstStyle/>
          <a:p>
            <a:pPr algn="l" indent="0" marL="0">
              <a:buNone/>
            </a:pPr>
            <a:r>
              <a:rPr lang="en-US" sz="1050" b="1" spc="63" kern="0" dirty="0">
                <a:solidFill>
                  <a:srgbClr val="5E6877"/>
                </a:solidFill>
                <a:latin typeface="Pretendard" pitchFamily="34" charset="0"/>
                <a:ea typeface="Pretendard" pitchFamily="34" charset="-122"/>
                <a:cs typeface="Pretendard" pitchFamily="34" charset="-120"/>
              </a:rPr>
              <a:t>trade-off 메모</a:t>
            </a:r>
            <a:endParaRPr lang="en-US" sz="1050" dirty="0"/>
          </a:p>
        </p:txBody>
      </p:sp>
      <p:sp>
        <p:nvSpPr>
          <p:cNvPr id="20" name="Text 11"/>
          <p:cNvSpPr txBox="1"/>
          <p:nvPr/>
        </p:nvSpPr>
        <p:spPr>
          <a:xfrm>
            <a:off x="12325198" y="7105802"/>
            <a:ext cx="4953305" cy="685800"/>
          </a:xfrm>
          <a:prstGeom prst="rect">
            <a:avLst/>
          </a:prstGeom>
          <a:noFill/>
          <a:ln/>
        </p:spPr>
        <p:txBody>
          <a:bodyPr wrap="square" lIns="0" tIns="0" rIns="0" bIns="0" rtlCol="0" anchor="ctr"/>
          <a:lstStyle/>
          <a:p>
            <a:pPr algn="l" indent="0" marL="0">
              <a:lnSpc>
                <a:spcPts val="1785"/>
              </a:lnSpc>
              <a:buNone/>
            </a:pPr>
            <a:r>
              <a:rPr lang="en-US" sz="1275" dirty="0">
                <a:solidFill>
                  <a:srgbClr val="11233A"/>
                </a:solidFill>
                <a:latin typeface="Pretendard" pitchFamily="34" charset="0"/>
                <a:ea typeface="Pretendard" pitchFamily="34" charset="-122"/>
                <a:cs typeface="Pretendard" pitchFamily="34" charset="-120"/>
              </a:rPr>
              <a:t>SALELE은 L2 mask overlay가 보호 spacer의 폭 안에 들어와야 하므로 mask CD uniformity 추가 요건이 발생한다. 본 평가는 그 여유(OVERLAY ≤ 4 nm)에서 진행.</a:t>
            </a:r>
            <a:endParaRPr lang="en-US" sz="1275" dirty="0"/>
          </a:p>
        </p:txBody>
      </p:sp>
      <p:sp>
        <p:nvSpPr>
          <p:cNvPr id="21" name="Text 12"/>
          <p:cNvSpPr txBox="1"/>
          <p:nvPr/>
        </p:nvSpPr>
        <p:spPr>
          <a:xfrm>
            <a:off x="990295" y="8591702"/>
            <a:ext cx="16536010" cy="191110"/>
          </a:xfrm>
          <a:prstGeom prst="rect">
            <a:avLst/>
          </a:prstGeom>
          <a:noFill/>
          <a:ln/>
        </p:spPr>
        <p:txBody>
          <a:bodyPr wrap="none" lIns="0" tIns="0" rIns="0" bIns="0" rtlCol="0" anchor="ctr"/>
          <a:lstStyle/>
          <a:p>
            <a:pPr algn="l" indent="0" marL="0">
              <a:buNone/>
            </a:pPr>
            <a:r>
              <a:rPr lang="en-US" sz="1050" b="1" spc="63" kern="0" dirty="0">
                <a:solidFill>
                  <a:srgbClr val="5E6877"/>
                </a:solidFill>
                <a:latin typeface="Pretendard" pitchFamily="34" charset="0"/>
                <a:ea typeface="Pretendard" pitchFamily="34" charset="-122"/>
                <a:cs typeface="Pretendard" pitchFamily="34" charset="-120"/>
              </a:rPr>
              <a:t>한 줄 결론</a:t>
            </a:r>
            <a:endParaRPr lang="en-US" sz="1050" dirty="0"/>
          </a:p>
        </p:txBody>
      </p:sp>
      <p:sp>
        <p:nvSpPr>
          <p:cNvPr id="22" name="Text 13"/>
          <p:cNvSpPr txBox="1"/>
          <p:nvPr/>
        </p:nvSpPr>
        <p:spPr>
          <a:xfrm>
            <a:off x="990295" y="8839505"/>
            <a:ext cx="16939260" cy="314554"/>
          </a:xfrm>
          <a:prstGeom prst="rect">
            <a:avLst/>
          </a:prstGeom>
          <a:noFill/>
          <a:ln/>
        </p:spPr>
        <p:txBody>
          <a:bodyPr wrap="none" lIns="0" tIns="0" rIns="0" bIns="0" rtlCol="0" anchor="ctr"/>
          <a:lstStyle/>
          <a:p>
            <a:pPr algn="l" indent="0" marL="0">
              <a:buNone/>
            </a:pPr>
            <a:r>
              <a:rPr lang="en-US" sz="1725" dirty="0">
                <a:solidFill>
                  <a:srgbClr val="11233A"/>
                </a:solidFill>
                <a:latin typeface="Pretendard" pitchFamily="34" charset="0"/>
                <a:ea typeface="Pretendard" pitchFamily="34" charset="-122"/>
                <a:cs typeface="Pretendard" pitchFamily="34" charset="-120"/>
              </a:rPr>
              <a:t>SALELE은 동일 mean에서 Rs는 12–13 %, C는 17–19 %, RC delay는 25–28 %, 누설은 38–43 % 낮아져 18 nm 피치 BEOL에서 우선 검토 대상으로 판단된다.</a:t>
            </a:r>
            <a:endParaRPr lang="en-US" sz="1725" dirty="0"/>
          </a:p>
        </p:txBody>
      </p:sp>
      <p:sp>
        <p:nvSpPr>
          <p:cNvPr id="23" name="Text 14"/>
          <p:cNvSpPr txBox="1"/>
          <p:nvPr/>
        </p:nvSpPr>
        <p:spPr>
          <a:xfrm>
            <a:off x="761695" y="9658807"/>
            <a:ext cx="16764610" cy="181051"/>
          </a:xfrm>
          <a:prstGeom prst="rect">
            <a:avLst/>
          </a:prstGeom>
          <a:noFill/>
          <a:ln/>
        </p:spPr>
        <p:txBody>
          <a:bodyPr wrap="none" lIns="0" tIns="0" rIns="0" bIns="0" rtlCol="0" anchor="ctr"/>
          <a:lstStyle/>
          <a:p>
            <a:pPr algn="l" indent="0" marL="0">
              <a:buNone/>
            </a:pPr>
            <a:r>
              <a:rPr lang="en-US" sz="975" dirty="0">
                <a:solidFill>
                  <a:srgbClr val="5E6877"/>
                </a:solidFill>
                <a:latin typeface="Pretendard" pitchFamily="34" charset="0"/>
                <a:ea typeface="Pretendard" pitchFamily="34" charset="-122"/>
                <a:cs typeface="Pretendard" pitchFamily="34" charset="-120"/>
              </a:rPr>
              <a:t>※ 내부 테스트용 더미(가상) 데이터</a:t>
            </a:r>
            <a:endParaRPr lang="en-US" sz="9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2026-10-04T07:30:46Z</dcterms:created>
  <dcterms:modified xsi:type="dcterms:W3CDTF">2026-10-04T07:30:46Z</dcterms:modified>
</cp:coreProperties>
</file>