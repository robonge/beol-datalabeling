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 슬라이드는 평가 개요: SADP 맨드릴 CD 3-split을 M1 BEOL에 적용하고 6 wafer로 평가하며, AASI·ASEI·AMI·ACI 네 메트릭의 target이 우상단에 정의돼 있고, 좌측 사이드바는 dummy set 04/15임을 표시한다. 이 슬라이드에서 강조할 점은 모든 수치가 실제 측정값이 아닌 production 검증용 baseline 비교를 위한 더미라는 사실이다.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 슬라이드는 EPE 4대 인자—OPC 편차·Overlay 정확도·LCDU·GCDU—가 SADP 위에서 어떻게 누적되는지를 정리한다. 우측 SEM 사진은 spacer 구조 형성 후의 단면을 보여주며 사진 하단에 출처 한 줄만 표기한다. 강조점은 SADP가 overlay 일부를 상쇄하는 건 사실이지만, spacer 증착·mandrel 식각·cut mask 단계에서 발생하는 미세한 두께/비대칭성이 매 pass마다 더해진다는 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 슬라이드는 네 가지 평가 메트릭과 목표 CD를 정리한다. 좌측 두 카드(AASI 24.8nm · ASEI 17.9nm)는 SADP spacer 단계의 분해능이고, 우측 두 카드(AMI 9.7nm · ACI 8.0nm)는 M1 tip 측의 최종 결과다. 하단 측정 규약에서 3σ 허용과 Δt 창(±0.4 warn, ±0.8 fail)을 미리 정의해 두고, 후속 슬라이드들의 합격 여부를 같은 기준선으로 평가하게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 슬라이드는 6 wafer × 4 메트릭의 결과를 18셀 × 6행의 큰 표로 정리한다. 행 색은 split별로 짙은 teal(파랑 계열, A)·terracotta(B)·pine(C)로 분홍/녹색으로 가볍게, Δ 셀의 폰트 색은 pass·warn·fail로 구분한다. 발표시에는 Split A가 두 wafer 모두 in-spec, B는 AASI에서 fail, C는 AASI에서 fail이지만 AMI·ACI는 warn라는 일관된 패턴을 짚고 넘어가면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5번 슬라이드는 wafer 내부 13점 균일도와 wafer별 AMI 요약을 함께 보여준다. 좌측 큰 wafer map은 W03 (Split B, worst)을 시각화했다 — 우상 외곽 ring의 hot-zone과 좌측의 cold-point가 공존해 GCDU 성분이 강하게 나타난다. 우측 표는 6 wafer의 AMI mean/3σ/range/Δ와 합격 여부를 보여주고, 하단 좌측엔 top-view SEM 사진을 한 줄 출처와 함께, 우측엔 짧은 관찰 요약을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6번 슬라이드는 전기 측정 결과만 표로 정리한다 — 도식 없이 숫자 테이블만 사용한다. Rsh·Line-R·Via-R과 누설 M1-sub J / M1-M1 I / BV까지 6개 wafer에 대해 모두 보고한다. Split B (큰 mandrel CD)는 Rsh가 가장 낮지만 누설과 BV 저하가 동반되고, Split C는 Rsh가 가장 높지만 누설이 가장 낮다. 발표시에는 mandrel CD ↑가 단면적을 키우는 일차 효과와 tip-tip이 좁아지는 이차 효과(누설, BV)가 trade-off임을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7번 슬라이드는 4 메트릭에 대한 Δ 분포를 6 wafer × 4 차트로 정리하고 split별 trade-off를 요약한다. 각 chart는 중앙 0 기준선과 ±0.4 nm warn band를 표시하고, AASI(±2 nm 스케일)·ASEI(±1.5 nm)·AMI·ACI(±1 nm)는 각자 다른 px-스케일을 쓴다. 하단엔 BEOL M1 단면 SEM 사진과 짧은 observation 한 줄. 발표 시점은 cut-stage bias 보정만으로 각 wafer를 ±0.4 nm 안으로 끌어올 가능성과 단일 split 최적은 부재라는 trade-off다.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0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7.png"/><Relationship Id="rId9" Type="http://schemas.openxmlformats.org/officeDocument/2006/relationships/image" Target="../media/image-7-7.png"/><Relationship Id="rId10" Type="http://schemas.openxmlformats.org/officeDocument/2006/relationships/image" Target="../media/image-7-10.png"/><Relationship Id="rId11" Type="http://schemas.openxmlformats.org/officeDocument/2006/relationships/image" Target="../media/image-7-7.png"/><Relationship Id="rId12" Type="http://schemas.openxmlformats.org/officeDocument/2006/relationships/image" Target="../media/image-7-12.png"/><Relationship Id="rId13" Type="http://schemas.openxmlformats.org/officeDocument/2006/relationships/image" Target="../media/image-7-7.png"/><Relationship Id="rId14" Type="http://schemas.openxmlformats.org/officeDocument/2006/relationships/image" Target="../media/image-7-14.png"/><Relationship Id="rId15" Type="http://schemas.openxmlformats.org/officeDocument/2006/relationships/image" Target="../media/image-7-7.png"/><Relationship Id="rId16" Type="http://schemas.openxmlformats.org/officeDocument/2006/relationships/image" Target="../media/image-7-16.png"/><Relationship Id="rId17" Type="http://schemas.openxmlformats.org/officeDocument/2006/relationships/image" Target="../media/image-7-7.png"/><Relationship Id="rId18" Type="http://schemas.openxmlformats.org/officeDocument/2006/relationships/image" Target="../media/image-7-7.png"/><Relationship Id="rId19" Type="http://schemas.openxmlformats.org/officeDocument/2006/relationships/image" Target="../media/image-7-7.png"/><Relationship Id="rId20" Type="http://schemas.openxmlformats.org/officeDocument/2006/relationships/image" Target="../media/image-7-20.png"/><Relationship Id="rId21" Type="http://schemas.openxmlformats.org/officeDocument/2006/relationships/image" Target="../media/image-7-7.png"/><Relationship Id="rId22" Type="http://schemas.openxmlformats.org/officeDocument/2006/relationships/image" Target="../media/image-7-22.png"/><Relationship Id="rId23" Type="http://schemas.openxmlformats.org/officeDocument/2006/relationships/image" Target="../media/image-7-7.png"/><Relationship Id="rId24" Type="http://schemas.openxmlformats.org/officeDocument/2006/relationships/image" Target="../media/image-7-22.png"/><Relationship Id="rId25" Type="http://schemas.openxmlformats.org/officeDocument/2006/relationships/image" Target="../media/image-7-7.png"/><Relationship Id="rId26" Type="http://schemas.openxmlformats.org/officeDocument/2006/relationships/image" Target="../media/image-7-26.png"/><Relationship Id="rId27" Type="http://schemas.openxmlformats.org/officeDocument/2006/relationships/image" Target="../media/image-7-7.png"/><Relationship Id="rId28" Type="http://schemas.openxmlformats.org/officeDocument/2006/relationships/image" Target="../media/image-7-7.png"/><Relationship Id="rId29" Type="http://schemas.openxmlformats.org/officeDocument/2006/relationships/image" Target="../media/image-7-7.png"/><Relationship Id="rId30" Type="http://schemas.openxmlformats.org/officeDocument/2006/relationships/image" Target="../media/image-7-30.png"/><Relationship Id="rId31" Type="http://schemas.openxmlformats.org/officeDocument/2006/relationships/image" Target="../media/image-7-7.png"/><Relationship Id="rId32" Type="http://schemas.openxmlformats.org/officeDocument/2006/relationships/image" Target="../media/image-7-32.png"/><Relationship Id="rId33" Type="http://schemas.openxmlformats.org/officeDocument/2006/relationships/image" Target="../media/image-7-7.png"/><Relationship Id="rId34" Type="http://schemas.openxmlformats.org/officeDocument/2006/relationships/image" Target="../media/image-7-32.png"/><Relationship Id="rId35" Type="http://schemas.openxmlformats.org/officeDocument/2006/relationships/image" Target="../media/image-7-7.png"/><Relationship Id="rId36" Type="http://schemas.openxmlformats.org/officeDocument/2006/relationships/image" Target="../media/image-7-36.png"/><Relationship Id="rId37" Type="http://schemas.openxmlformats.org/officeDocument/2006/relationships/image" Target="../media/image-7-7.png"/><Relationship Id="rId38" Type="http://schemas.openxmlformats.org/officeDocument/2006/relationships/image" Target="../media/image-7-7.png"/><Relationship Id="rId39" Type="http://schemas.openxmlformats.org/officeDocument/2006/relationships/image" Target="../media/image-7-7.png"/><Relationship Id="rId40" Type="http://schemas.openxmlformats.org/officeDocument/2006/relationships/image" Target="../media/image-7-40.png"/><Relationship Id="rId41" Type="http://schemas.openxmlformats.org/officeDocument/2006/relationships/image" Target="../media/image-7-7.png"/><Relationship Id="rId42" Type="http://schemas.openxmlformats.org/officeDocument/2006/relationships/image" Target="../media/image-7-32.png"/><Relationship Id="rId43" Type="http://schemas.openxmlformats.org/officeDocument/2006/relationships/image" Target="../media/image-7-7.png"/><Relationship Id="rId44" Type="http://schemas.openxmlformats.org/officeDocument/2006/relationships/image" Target="../media/image-7-32.png"/><Relationship Id="rId45" Type="http://schemas.openxmlformats.org/officeDocument/2006/relationships/image" Target="../media/image-7-7.png"/><Relationship Id="rId46" Type="http://schemas.openxmlformats.org/officeDocument/2006/relationships/image" Target="../media/image-7-3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002207" y="838505"/>
            <a:ext cx="3638398" cy="2266798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72307" y="3372307"/>
            <a:ext cx="2781605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24905" y="3372307"/>
            <a:ext cx="2762402" cy="1619402"/>
          </a:xfrm>
          <a:prstGeom prst="rect">
            <a:avLst/>
          </a:prstGeom>
          <a:solidFill>
            <a:srgbClr val="1F5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7502" y="3372307"/>
            <a:ext cx="2781605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230100" y="3372307"/>
            <a:ext cx="2781605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pic>
        <p:nvPicPr>
          <p:cNvPr id="9" name="Image 0" descr="gen-dedup-f86d6a16f92b2617556186968858095b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2857500" y="9658807"/>
            <a:ext cx="15430500" cy="9144"/>
          </a:xfrm>
          <a:prstGeom prst="rect">
            <a:avLst/>
          </a:prstGeom>
        </p:spPr>
      </p:pic>
      <p:pic>
        <p:nvPicPr>
          <p:cNvPr id="10" name="Image 1" descr="gen-dedup-eabc9b61793a980fb358930b866a1d61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57500" y="0"/>
            <a:ext cx="9144" cy="10287000"/>
          </a:xfrm>
          <a:prstGeom prst="rect">
            <a:avLst/>
          </a:prstGeom>
        </p:spPr>
      </p:pic>
      <p:pic>
        <p:nvPicPr>
          <p:cNvPr id="11" name="Image 2" descr="gen-dedup-c8a62949c06b274c247192d01aaab64e.png">    </p:cNvPr>
          <p:cNvPicPr>
            <a:picLocks noChangeAspect="1"/>
          </p:cNvPicPr>
          <p:nvPr/>
        </p:nvPicPr>
        <p:blipFill>
          <a:blip r:embed="rId3"/>
          <a:srcRect l="-407" r="-407" t="0" b="0"/>
          <a:stretch/>
        </p:blipFill>
        <p:spPr>
          <a:xfrm>
            <a:off x="14002207" y="838505"/>
            <a:ext cx="38405" cy="2247595"/>
          </a:xfrm>
          <a:prstGeom prst="rect">
            <a:avLst/>
          </a:prstGeom>
        </p:spPr>
      </p:pic>
      <p:pic>
        <p:nvPicPr>
          <p:cNvPr id="12" name="Image 3" descr="gen-dedup-4ac609d10e3e3074053493c30979837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381305" y="5143500"/>
            <a:ext cx="571500" cy="91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81305" y="60990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04 / 15 · DUMMY</a:t>
            </a:r>
            <a:endParaRPr lang="en-US" sz="975" dirty="0"/>
          </a:p>
        </p:txBody>
      </p:sp>
      <p:sp>
        <p:nvSpPr>
          <p:cNvPr id="14" name="Text 7"/>
          <p:cNvSpPr txBox="1"/>
          <p:nvPr/>
        </p:nvSpPr>
        <p:spPr>
          <a:xfrm>
            <a:off x="381305" y="1619402"/>
            <a:ext cx="2286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5000" dirty="0"/>
          </a:p>
        </p:txBody>
      </p:sp>
      <p:sp>
        <p:nvSpPr>
          <p:cNvPr id="15" name="Text 8"/>
          <p:cNvSpPr txBox="1"/>
          <p:nvPr/>
        </p:nvSpPr>
        <p:spPr>
          <a:xfrm>
            <a:off x="381305" y="4095598"/>
            <a:ext cx="2095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개요</a:t>
            </a:r>
            <a:endParaRPr lang="en-US" sz="2250" dirty="0"/>
          </a:p>
        </p:txBody>
      </p:sp>
      <p:sp>
        <p:nvSpPr>
          <p:cNvPr id="16" name="Text 9"/>
          <p:cNvSpPr txBox="1"/>
          <p:nvPr/>
        </p:nvSpPr>
        <p:spPr>
          <a:xfrm>
            <a:off x="381305" y="4486046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C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381305" y="5447995"/>
            <a:ext cx="381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381305" y="5677510"/>
            <a:ext cx="9144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M1 BEOL</a:t>
            </a:r>
            <a:endParaRPr lang="en-US" sz="1650" dirty="0"/>
          </a:p>
        </p:txBody>
      </p:sp>
      <p:sp>
        <p:nvSpPr>
          <p:cNvPr id="19" name="Text 12"/>
          <p:cNvSpPr txBox="1"/>
          <p:nvPr/>
        </p:nvSpPr>
        <p:spPr>
          <a:xfrm>
            <a:off x="381305" y="6024982"/>
            <a:ext cx="15151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Metal 1 / interconnect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381305" y="635873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</a:t>
            </a:r>
            <a:endParaRPr lang="en-US" sz="975" dirty="0"/>
          </a:p>
        </p:txBody>
      </p:sp>
      <p:sp>
        <p:nvSpPr>
          <p:cNvPr id="21" name="Text 14"/>
          <p:cNvSpPr txBox="1"/>
          <p:nvPr/>
        </p:nvSpPr>
        <p:spPr>
          <a:xfrm>
            <a:off x="381305" y="6588252"/>
            <a:ext cx="534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SADP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381305" y="6934810"/>
            <a:ext cx="19248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Self-Aligned Dbl. Patterning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381305" y="94302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 · CDU · M1</a:t>
            </a:r>
            <a:endParaRPr lang="en-US" sz="825" dirty="0"/>
          </a:p>
        </p:txBody>
      </p:sp>
      <p:pic>
        <p:nvPicPr>
          <p:cNvPr id="24" name="Image 4" descr="gen-dedup-d4e65b70a25d2ac1eabb51d81b5a3b33.png">    </p:cNvPr>
          <p:cNvPicPr>
            <a:picLocks noChangeAspect="1"/>
          </p:cNvPicPr>
          <p:nvPr/>
        </p:nvPicPr>
        <p:blipFill>
          <a:blip r:embed="rId5"/>
          <a:srcRect l="0" r="0" t="-343" b="-343"/>
          <a:stretch/>
        </p:blipFill>
        <p:spPr>
          <a:xfrm>
            <a:off x="3372307" y="918972"/>
            <a:ext cx="267005" cy="192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771900" y="838505"/>
            <a:ext cx="26956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EUV 다중 패터닝 · BEOL 평가 실험</a:t>
            </a:r>
            <a:endParaRPr lang="en-US" sz="975" dirty="0"/>
          </a:p>
        </p:txBody>
      </p:sp>
      <p:sp>
        <p:nvSpPr>
          <p:cNvPr id="26" name="Text 18"/>
          <p:cNvSpPr txBox="1"/>
          <p:nvPr/>
        </p:nvSpPr>
        <p:spPr>
          <a:xfrm>
            <a:off x="3372307" y="1190549"/>
            <a:ext cx="1028700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93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SADP 맨드릴 CD</a:t>
            </a:r>
            <a:pPr algn="l" indent="0" marL="0">
              <a:lnSpc>
                <a:spcPct val="104000"/>
              </a:lnSpc>
              <a:buNone/>
            </a:pPr>
            <a:endParaRPr lang="en-US" sz="46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650" b="1" spc="-93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3-Split</a:t>
            </a:r>
            <a:pPr algn="l" indent="0" marL="0">
              <a:lnSpc>
                <a:spcPct val="104000"/>
              </a:lnSpc>
              <a:buNone/>
            </a:pPr>
            <a:r>
              <a:rPr lang="en-US" sz="4650" b="1" spc="-93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평가 — M1 BEOL</a:t>
            </a:r>
            <a:endParaRPr lang="en-US" sz="4650" dirty="0"/>
          </a:p>
        </p:txBody>
      </p:sp>
      <p:sp>
        <p:nvSpPr>
          <p:cNvPr id="27" name="Text 19"/>
          <p:cNvSpPr txBox="1"/>
          <p:nvPr/>
        </p:nvSpPr>
        <p:spPr>
          <a:xfrm>
            <a:off x="3372307" y="2590495"/>
            <a:ext cx="8763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EPE(Edge Placement Error)가 누적되는 조건에서 맨드릴 CD가 다른 세 split을 2 wafer씩 적용, in-wafer · cross-wafer 변동성을 정량화한다.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14239951" y="1028700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4239951" y="1304849"/>
            <a:ext cx="3238805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 간 Δ 차이는 평균 </a:t>
            </a:r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0.8–1.4 nm</a:t>
            </a:r>
            <a:pPr algn="l" indent="0" marL="0">
              <a:lnSpc>
                <a:spcPts val="2284"/>
              </a:lnSpc>
              <a:buNone/>
            </a:pPr>
            <a:r>
              <a:rPr lang="en-US" sz="1575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in-wafer 3σ는 </a:t>
            </a:r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≤1.5 nm</a:t>
            </a:r>
            <a:pPr algn="l" indent="0" marL="0">
              <a:lnSpc>
                <a:spcPts val="2284"/>
              </a:lnSpc>
              <a:buNone/>
            </a:pPr>
            <a:r>
              <a:rPr lang="en-US" sz="1575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범위로 유지돼 baseline production 검증을 위한 더미 기준선을 확보한다.</a:t>
            </a:r>
            <a:endParaRPr lang="en-US" sz="1575" dirty="0"/>
          </a:p>
        </p:txBody>
      </p:sp>
      <p:sp>
        <p:nvSpPr>
          <p:cNvPr id="30" name="Text 22"/>
          <p:cNvSpPr txBox="1"/>
          <p:nvPr/>
        </p:nvSpPr>
        <p:spPr>
          <a:xfrm>
            <a:off x="3581705" y="3581705"/>
            <a:ext cx="2343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Wafers</a:t>
            </a:r>
            <a:endParaRPr lang="en-US" sz="825" dirty="0"/>
          </a:p>
        </p:txBody>
      </p:sp>
      <p:sp>
        <p:nvSpPr>
          <p:cNvPr id="31" name="Text 23"/>
          <p:cNvSpPr txBox="1"/>
          <p:nvPr/>
        </p:nvSpPr>
        <p:spPr>
          <a:xfrm>
            <a:off x="3581705" y="3847795"/>
            <a:ext cx="3033979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pPr algn="l" indent="0" marL="0">
              <a:buNone/>
            </a:pPr>
            <a:r>
              <a:rPr lang="en-US" sz="1650" b="1" spc="-93" kern="0" dirty="0">
                <a:solidFill>
                  <a:srgbClr val="6B66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wafer</a:t>
            </a:r>
            <a:endParaRPr lang="en-US" sz="4650" dirty="0"/>
          </a:p>
        </p:txBody>
      </p:sp>
      <p:sp>
        <p:nvSpPr>
          <p:cNvPr id="32" name="Text 24"/>
          <p:cNvSpPr txBox="1"/>
          <p:nvPr/>
        </p:nvSpPr>
        <p:spPr>
          <a:xfrm>
            <a:off x="3581705" y="4533595"/>
            <a:ext cx="2343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300 mm · dummy lot</a:t>
            </a:r>
            <a:endParaRPr lang="en-US" sz="1125" dirty="0"/>
          </a:p>
        </p:txBody>
      </p:sp>
      <p:sp>
        <p:nvSpPr>
          <p:cNvPr id="33" name="Text 25"/>
          <p:cNvSpPr txBox="1"/>
          <p:nvPr/>
        </p:nvSpPr>
        <p:spPr>
          <a:xfrm>
            <a:off x="6534302" y="3581705"/>
            <a:ext cx="2343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Splits</a:t>
            </a:r>
            <a:endParaRPr lang="en-US" sz="825" dirty="0"/>
          </a:p>
        </p:txBody>
      </p:sp>
      <p:sp>
        <p:nvSpPr>
          <p:cNvPr id="34" name="Text 26"/>
          <p:cNvSpPr txBox="1"/>
          <p:nvPr/>
        </p:nvSpPr>
        <p:spPr>
          <a:xfrm>
            <a:off x="6534302" y="3847795"/>
            <a:ext cx="3702406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FBF8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pPr algn="l" indent="0" marL="0">
              <a:buNone/>
            </a:pPr>
            <a:r>
              <a:rPr lang="en-US" sz="1650" b="1" spc="-93" kern="0" dirty="0">
                <a:solidFill>
                  <a:srgbClr val="A8C8C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× 2 wafer</a:t>
            </a:r>
            <a:endParaRPr lang="en-US" sz="4650" dirty="0"/>
          </a:p>
        </p:txBody>
      </p:sp>
      <p:sp>
        <p:nvSpPr>
          <p:cNvPr id="35" name="Text 27"/>
          <p:cNvSpPr txBox="1"/>
          <p:nvPr/>
        </p:nvSpPr>
        <p:spPr>
          <a:xfrm>
            <a:off x="6534302" y="4533595"/>
            <a:ext cx="258043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 nominal · B +0.7 · C −0.6 nm</a:t>
            </a:r>
            <a:endParaRPr lang="en-US" sz="1125" dirty="0"/>
          </a:p>
        </p:txBody>
      </p:sp>
      <p:sp>
        <p:nvSpPr>
          <p:cNvPr id="36" name="Text 28"/>
          <p:cNvSpPr txBox="1"/>
          <p:nvPr/>
        </p:nvSpPr>
        <p:spPr>
          <a:xfrm>
            <a:off x="9486900" y="3581705"/>
            <a:ext cx="2343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</a:t>
            </a:r>
            <a:endParaRPr lang="en-US" sz="825" dirty="0"/>
          </a:p>
        </p:txBody>
      </p:sp>
      <p:sp>
        <p:nvSpPr>
          <p:cNvPr id="37" name="Text 29"/>
          <p:cNvSpPr txBox="1"/>
          <p:nvPr/>
        </p:nvSpPr>
        <p:spPr>
          <a:xfrm>
            <a:off x="9486900" y="3847795"/>
            <a:ext cx="2343607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50" b="1" spc="-93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M1</a:t>
            </a:r>
            <a:endParaRPr lang="en-US" sz="4650" dirty="0"/>
          </a:p>
        </p:txBody>
      </p:sp>
      <p:sp>
        <p:nvSpPr>
          <p:cNvPr id="38" name="Text 30"/>
          <p:cNvSpPr txBox="1"/>
          <p:nvPr/>
        </p:nvSpPr>
        <p:spPr>
          <a:xfrm>
            <a:off x="9486900" y="4533595"/>
            <a:ext cx="2343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BEOL Cu interconnect</a:t>
            </a:r>
            <a:endParaRPr lang="en-US" sz="1125" dirty="0"/>
          </a:p>
        </p:txBody>
      </p:sp>
      <p:sp>
        <p:nvSpPr>
          <p:cNvPr id="39" name="Text 31"/>
          <p:cNvSpPr txBox="1"/>
          <p:nvPr/>
        </p:nvSpPr>
        <p:spPr>
          <a:xfrm>
            <a:off x="12439498" y="3581705"/>
            <a:ext cx="2343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Targets</a:t>
            </a:r>
            <a:endParaRPr lang="en-US" sz="825" dirty="0"/>
          </a:p>
        </p:txBody>
      </p:sp>
      <p:sp>
        <p:nvSpPr>
          <p:cNvPr id="40" name="Text 32"/>
          <p:cNvSpPr txBox="1"/>
          <p:nvPr/>
        </p:nvSpPr>
        <p:spPr>
          <a:xfrm>
            <a:off x="12439498" y="3847795"/>
            <a:ext cx="23436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24.8</a:t>
            </a:r>
            <a:pPr algn="l" indent="0" marL="0">
              <a:buNone/>
            </a:pPr>
            <a:r>
              <a:rPr lang="en-US" sz="1050" b="1" spc="-2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</a:t>
            </a:r>
            <a:endParaRPr lang="en-US" sz="2250" dirty="0"/>
          </a:p>
        </p:txBody>
      </p:sp>
      <p:sp>
        <p:nvSpPr>
          <p:cNvPr id="41" name="Text 33"/>
          <p:cNvSpPr txBox="1"/>
          <p:nvPr/>
        </p:nvSpPr>
        <p:spPr>
          <a:xfrm>
            <a:off x="12439498" y="4238244"/>
            <a:ext cx="23436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17.9 · AMI 9.7 · ACI 8.0</a:t>
            </a:r>
            <a:endParaRPr lang="en-US" sz="1350" dirty="0"/>
          </a:p>
        </p:txBody>
      </p:sp>
      <p:pic>
        <p:nvPicPr>
          <p:cNvPr id="42" name="Image 5" descr="gen-dedup-4735817da196dd285dd251045dce5dad.png">    </p:cNvPr>
          <p:cNvPicPr>
            <a:picLocks noChangeAspect="1"/>
          </p:cNvPicPr>
          <p:nvPr/>
        </p:nvPicPr>
        <p:blipFill>
          <a:blip r:embed="rId6"/>
          <a:srcRect l="0" r="0" t="-343" b="-343"/>
          <a:stretch/>
        </p:blipFill>
        <p:spPr>
          <a:xfrm>
            <a:off x="3372307" y="5629046"/>
            <a:ext cx="267005" cy="192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3771900" y="5467198"/>
            <a:ext cx="10753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조건</a:t>
            </a:r>
            <a:endParaRPr lang="en-US" sz="1800" dirty="0"/>
          </a:p>
        </p:txBody>
      </p:sp>
      <p:sp>
        <p:nvSpPr>
          <p:cNvPr id="44" name="Text 35"/>
          <p:cNvSpPr txBox="1"/>
          <p:nvPr/>
        </p:nvSpPr>
        <p:spPr>
          <a:xfrm>
            <a:off x="4820717" y="5553151"/>
            <a:ext cx="12673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6B66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Conditions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3372307" y="6019495"/>
            <a:ext cx="4286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D3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평가 layer는 M1 BEOL Cu interconnect로 한정</a:t>
            </a:r>
            <a:endParaRPr lang="en-US" sz="1350" dirty="0"/>
          </a:p>
        </p:txBody>
      </p:sp>
      <p:sp>
        <p:nvSpPr>
          <p:cNvPr id="46" name="Text 37"/>
          <p:cNvSpPr txBox="1"/>
          <p:nvPr/>
        </p:nvSpPr>
        <p:spPr>
          <a:xfrm>
            <a:off x="8229600" y="6019495"/>
            <a:ext cx="4668926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D3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측정은 in-line CD-SEM 13-point, die 5/die-row</a:t>
            </a:r>
            <a:endParaRPr lang="en-US" sz="1350" dirty="0"/>
          </a:p>
        </p:txBody>
      </p:sp>
      <p:sp>
        <p:nvSpPr>
          <p:cNvPr id="47" name="Text 38"/>
          <p:cNvSpPr txBox="1"/>
          <p:nvPr/>
        </p:nvSpPr>
        <p:spPr>
          <a:xfrm>
            <a:off x="3372307" y="6409944"/>
            <a:ext cx="4286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D3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SADP mandrel CD는 3 수준(A/B/C)으로 split</a:t>
            </a:r>
            <a:endParaRPr lang="en-US" sz="1350" dirty="0"/>
          </a:p>
        </p:txBody>
      </p:sp>
      <p:sp>
        <p:nvSpPr>
          <p:cNvPr id="48" name="Text 39"/>
          <p:cNvSpPr txBox="1"/>
          <p:nvPr/>
        </p:nvSpPr>
        <p:spPr>
          <a:xfrm>
            <a:off x="8229600" y="6409944"/>
            <a:ext cx="4286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D3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전기 측정은 Kelvin 구조 + via-chain 사용</a:t>
            </a:r>
            <a:endParaRPr lang="en-US" sz="1350" dirty="0"/>
          </a:p>
        </p:txBody>
      </p:sp>
      <p:sp>
        <p:nvSpPr>
          <p:cNvPr id="49" name="Text 40"/>
          <p:cNvSpPr txBox="1"/>
          <p:nvPr/>
        </p:nvSpPr>
        <p:spPr>
          <a:xfrm>
            <a:off x="3372307" y="6801307"/>
            <a:ext cx="46296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D3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EPE 영향 인자는 OPC·Overlay·LCDU·GCDU 동시 부과</a:t>
            </a:r>
            <a:endParaRPr lang="en-US" sz="1350" dirty="0"/>
          </a:p>
        </p:txBody>
      </p:sp>
      <p:sp>
        <p:nvSpPr>
          <p:cNvPr id="50" name="Text 41"/>
          <p:cNvSpPr txBox="1"/>
          <p:nvPr/>
        </p:nvSpPr>
        <p:spPr>
          <a:xfrm>
            <a:off x="8229600" y="6801307"/>
            <a:ext cx="42867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D3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모든 수치는 임의 배치된 더미(virtual) 값</a:t>
            </a:r>
            <a:endParaRPr lang="en-US" sz="1350" dirty="0"/>
          </a:p>
        </p:txBody>
      </p:sp>
      <p:sp>
        <p:nvSpPr>
          <p:cNvPr id="51" name="Text 42"/>
          <p:cNvSpPr txBox="1"/>
          <p:nvPr/>
        </p:nvSpPr>
        <p:spPr>
          <a:xfrm>
            <a:off x="3238805" y="981059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14859000" y="9810598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76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07 · EUV-BEOL-EVAL · 04/15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573707" y="838505"/>
            <a:ext cx="3066898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72307" y="2704795"/>
            <a:ext cx="4209898" cy="1429207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53198" y="2704795"/>
            <a:ext cx="4209898" cy="1429207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372307" y="4248302"/>
            <a:ext cx="4209898" cy="1429207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53198" y="4248302"/>
            <a:ext cx="4209898" cy="1429207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72307" y="6381598"/>
            <a:ext cx="8591702" cy="1543507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230100" y="2704795"/>
            <a:ext cx="5391302" cy="5201107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gen-dedup-f86d6a16f92b2617556186968858095b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2857500" y="9658807"/>
            <a:ext cx="15430500" cy="9144"/>
          </a:xfrm>
          <a:prstGeom prst="rect">
            <a:avLst/>
          </a:prstGeom>
        </p:spPr>
      </p:pic>
      <p:pic>
        <p:nvPicPr>
          <p:cNvPr id="12" name="Image 1" descr="gen-dedup-eabc9b61793a980fb358930b866a1d61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57500" y="0"/>
            <a:ext cx="9144" cy="10287000"/>
          </a:xfrm>
          <a:prstGeom prst="rect">
            <a:avLst/>
          </a:prstGeom>
        </p:spPr>
      </p:pic>
      <p:pic>
        <p:nvPicPr>
          <p:cNvPr id="13" name="Image 2" descr="gen-dedup-fd2c33c645f6b3a00a0b08699c48d5b4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14573707" y="838505"/>
            <a:ext cx="38405" cy="1619402"/>
          </a:xfrm>
          <a:prstGeom prst="rect">
            <a:avLst/>
          </a:prstGeom>
        </p:spPr>
      </p:pic>
      <p:pic>
        <p:nvPicPr>
          <p:cNvPr id="14" name="Image 3" descr="gen-dedup-ea46d3b1d015cc28652ae21607c3cab0.png">    </p:cNvPr>
          <p:cNvPicPr>
            <a:picLocks noChangeAspect="1"/>
          </p:cNvPicPr>
          <p:nvPr/>
        </p:nvPicPr>
        <p:blipFill>
          <a:blip r:embed="rId4"/>
          <a:srcRect l="-389" r="-389" t="0" b="0"/>
          <a:stretch/>
        </p:blipFill>
        <p:spPr>
          <a:xfrm>
            <a:off x="3372307" y="2704795"/>
            <a:ext cx="38405" cy="1410005"/>
          </a:xfrm>
          <a:prstGeom prst="rect">
            <a:avLst/>
          </a:prstGeom>
        </p:spPr>
      </p:pic>
      <p:pic>
        <p:nvPicPr>
          <p:cNvPr id="15" name="Image 4" descr="gen-dedup-ea46d3b1d015cc28652ae21607c3cab0.png">    </p:cNvPr>
          <p:cNvPicPr>
            <a:picLocks noChangeAspect="1"/>
          </p:cNvPicPr>
          <p:nvPr/>
        </p:nvPicPr>
        <p:blipFill>
          <a:blip r:embed="rId5"/>
          <a:srcRect l="-389" r="-389" t="0" b="0"/>
          <a:stretch/>
        </p:blipFill>
        <p:spPr>
          <a:xfrm>
            <a:off x="7753198" y="2704795"/>
            <a:ext cx="38405" cy="1410005"/>
          </a:xfrm>
          <a:prstGeom prst="rect">
            <a:avLst/>
          </a:prstGeom>
        </p:spPr>
      </p:pic>
      <p:pic>
        <p:nvPicPr>
          <p:cNvPr id="16" name="Image 5" descr="gen-dedup-cd0cfff37ccce5749965e85aca0220f4.png">    </p:cNvPr>
          <p:cNvPicPr>
            <a:picLocks noChangeAspect="1"/>
          </p:cNvPicPr>
          <p:nvPr/>
        </p:nvPicPr>
        <p:blipFill>
          <a:blip r:embed="rId6"/>
          <a:srcRect l="-389" r="-389" t="0" b="0"/>
          <a:stretch/>
        </p:blipFill>
        <p:spPr>
          <a:xfrm>
            <a:off x="3372307" y="4248302"/>
            <a:ext cx="38405" cy="1410005"/>
          </a:xfrm>
          <a:prstGeom prst="rect">
            <a:avLst/>
          </a:prstGeom>
        </p:spPr>
      </p:pic>
      <p:pic>
        <p:nvPicPr>
          <p:cNvPr id="17" name="Image 6" descr="gen-dedup-e0c7afa635b1522ef2e7d208fa1762a4.png">    </p:cNvPr>
          <p:cNvPicPr>
            <a:picLocks noChangeAspect="1"/>
          </p:cNvPicPr>
          <p:nvPr/>
        </p:nvPicPr>
        <p:blipFill>
          <a:blip r:embed="rId7"/>
          <a:srcRect l="-389" r="-389" t="0" b="0"/>
          <a:stretch/>
        </p:blipFill>
        <p:spPr>
          <a:xfrm>
            <a:off x="7753198" y="4248302"/>
            <a:ext cx="38405" cy="1410005"/>
          </a:xfrm>
          <a:prstGeom prst="rect">
            <a:avLst/>
          </a:prstGeom>
        </p:spPr>
      </p:pic>
      <p:pic>
        <p:nvPicPr>
          <p:cNvPr id="18" name="Image 7" descr="gen-dedup-4ac609d10e3e3074053493c309798379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381305" y="5333695"/>
            <a:ext cx="571500" cy="9144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381305" y="60990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04 / 15 · DUMMY</a:t>
            </a:r>
            <a:endParaRPr lang="en-US" sz="975" dirty="0"/>
          </a:p>
        </p:txBody>
      </p:sp>
      <p:sp>
        <p:nvSpPr>
          <p:cNvPr id="20" name="Text 9"/>
          <p:cNvSpPr txBox="1"/>
          <p:nvPr/>
        </p:nvSpPr>
        <p:spPr>
          <a:xfrm>
            <a:off x="381305" y="1619402"/>
            <a:ext cx="2286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5000" dirty="0"/>
          </a:p>
        </p:txBody>
      </p:sp>
      <p:sp>
        <p:nvSpPr>
          <p:cNvPr id="21" name="Text 10"/>
          <p:cNvSpPr txBox="1"/>
          <p:nvPr/>
        </p:nvSpPr>
        <p:spPr>
          <a:xfrm>
            <a:off x="381305" y="4095598"/>
            <a:ext cx="20958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배경</a:t>
            </a:r>
            <a:endParaRPr lang="en-US" sz="2250" dirty="0"/>
          </a:p>
        </p:txBody>
      </p:sp>
      <p:sp>
        <p:nvSpPr>
          <p:cNvPr id="22" name="Text 11"/>
          <p:cNvSpPr txBox="1"/>
          <p:nvPr/>
        </p:nvSpPr>
        <p:spPr>
          <a:xfrm>
            <a:off x="381305" y="4486046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C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23" name="Text 12"/>
          <p:cNvSpPr txBox="1"/>
          <p:nvPr/>
        </p:nvSpPr>
        <p:spPr>
          <a:xfrm>
            <a:off x="381305" y="5619902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FOCUS</a:t>
            </a:r>
            <a:endParaRPr lang="en-US" sz="975" dirty="0"/>
          </a:p>
        </p:txBody>
      </p:sp>
      <p:sp>
        <p:nvSpPr>
          <p:cNvPr id="24" name="Text 13"/>
          <p:cNvSpPr txBox="1"/>
          <p:nvPr/>
        </p:nvSpPr>
        <p:spPr>
          <a:xfrm>
            <a:off x="381305" y="5906110"/>
            <a:ext cx="225582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EPE 4대 인자 + SADP 누적 효과</a:t>
            </a:r>
            <a:endParaRPr lang="en-US" sz="1125" dirty="0"/>
          </a:p>
        </p:txBody>
      </p:sp>
      <p:sp>
        <p:nvSpPr>
          <p:cNvPr id="25" name="Text 14"/>
          <p:cNvSpPr txBox="1"/>
          <p:nvPr/>
        </p:nvSpPr>
        <p:spPr>
          <a:xfrm>
            <a:off x="381305" y="94302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 · CDU · M1</a:t>
            </a:r>
            <a:endParaRPr lang="en-US" sz="825" dirty="0"/>
          </a:p>
        </p:txBody>
      </p:sp>
      <p:pic>
        <p:nvPicPr>
          <p:cNvPr id="26" name="Image 8" descr="gen-dedup-d4e65b70a25d2ac1eabb51d81b5a3b33.png">    </p:cNvPr>
          <p:cNvPicPr>
            <a:picLocks noChangeAspect="1"/>
          </p:cNvPicPr>
          <p:nvPr/>
        </p:nvPicPr>
        <p:blipFill>
          <a:blip r:embed="rId9"/>
          <a:srcRect l="0" r="0" t="-343" b="-343"/>
          <a:stretch/>
        </p:blipFill>
        <p:spPr>
          <a:xfrm>
            <a:off x="3372307" y="909828"/>
            <a:ext cx="267005" cy="19202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3771900" y="838505"/>
            <a:ext cx="10195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02</a:t>
            </a:r>
            <a:endParaRPr lang="en-US" sz="975" dirty="0"/>
          </a:p>
        </p:txBody>
      </p:sp>
      <p:sp>
        <p:nvSpPr>
          <p:cNvPr id="28" name="Text 16"/>
          <p:cNvSpPr txBox="1"/>
          <p:nvPr/>
        </p:nvSpPr>
        <p:spPr>
          <a:xfrm>
            <a:off x="3372307" y="1171346"/>
            <a:ext cx="10858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EPE 4대 인자와 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SADP 누적 효과</a:t>
            </a:r>
            <a:endParaRPr lang="en-US" sz="4050" dirty="0"/>
          </a:p>
        </p:txBody>
      </p:sp>
      <p:sp>
        <p:nvSpPr>
          <p:cNvPr id="29" name="Text 17"/>
          <p:cNvSpPr txBox="1"/>
          <p:nvPr/>
        </p:nvSpPr>
        <p:spPr>
          <a:xfrm>
            <a:off x="14763902" y="990295"/>
            <a:ext cx="27148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30" name="Text 18"/>
          <p:cNvSpPr txBox="1"/>
          <p:nvPr/>
        </p:nvSpPr>
        <p:spPr>
          <a:xfrm>
            <a:off x="14763902" y="1228954"/>
            <a:ext cx="2714854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SADP는 overlay만 상쇄하고 spacer·식각·cut 단계의 미세 비대칭을 매 pass마다 누적, EPE budget의 절반 이상을 잠식한다.</a:t>
            </a:r>
            <a:endParaRPr lang="en-US" sz="1350" dirty="0"/>
          </a:p>
        </p:txBody>
      </p:sp>
      <p:pic>
        <p:nvPicPr>
          <p:cNvPr id="31" name="Image 9" descr="gen-dedup-4735817da196dd285dd251045dce5dad.png">    </p:cNvPr>
          <p:cNvPicPr>
            <a:picLocks noChangeAspect="1"/>
          </p:cNvPicPr>
          <p:nvPr/>
        </p:nvPicPr>
        <p:blipFill>
          <a:blip r:embed="rId10"/>
          <a:srcRect l="0" r="0" t="-343" b="-343"/>
          <a:stretch/>
        </p:blipFill>
        <p:spPr>
          <a:xfrm>
            <a:off x="3372307" y="2395728"/>
            <a:ext cx="267005" cy="1920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3771900" y="2247595"/>
            <a:ext cx="2662733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EPE를 구성하는 4대 인자</a:t>
            </a:r>
            <a:endParaRPr lang="en-US" sz="1650" dirty="0"/>
          </a:p>
        </p:txBody>
      </p:sp>
      <p:sp>
        <p:nvSpPr>
          <p:cNvPr id="33" name="Text 20"/>
          <p:cNvSpPr txBox="1"/>
          <p:nvPr/>
        </p:nvSpPr>
        <p:spPr>
          <a:xfrm>
            <a:off x="3581705" y="2876702"/>
            <a:ext cx="40325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550" dirty="0"/>
          </a:p>
        </p:txBody>
      </p:sp>
      <p:sp>
        <p:nvSpPr>
          <p:cNvPr id="34" name="Text 21"/>
          <p:cNvSpPr txBox="1"/>
          <p:nvPr/>
        </p:nvSpPr>
        <p:spPr>
          <a:xfrm>
            <a:off x="4032504" y="2980944"/>
            <a:ext cx="85405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OPC 편차</a:t>
            </a:r>
            <a:endParaRPr lang="en-US" sz="1500" dirty="0"/>
          </a:p>
        </p:txBody>
      </p:sp>
      <p:sp>
        <p:nvSpPr>
          <p:cNvPr id="35" name="Text 22"/>
          <p:cNvSpPr txBox="1"/>
          <p:nvPr/>
        </p:nvSpPr>
        <p:spPr>
          <a:xfrm>
            <a:off x="3581705" y="3343046"/>
            <a:ext cx="37719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Mask 3D 효과와 시뮬레이션-제작 단계의 광학 보정 오차. SADP에서는 cut mask에서 재차 발생.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7962595" y="2876702"/>
            <a:ext cx="40965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550" dirty="0"/>
          </a:p>
        </p:txBody>
      </p:sp>
      <p:sp>
        <p:nvSpPr>
          <p:cNvPr id="37" name="Text 24"/>
          <p:cNvSpPr txBox="1"/>
          <p:nvPr/>
        </p:nvSpPr>
        <p:spPr>
          <a:xfrm>
            <a:off x="8460029" y="2980944"/>
            <a:ext cx="147401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Overlay 정확도</a:t>
            </a:r>
            <a:endParaRPr lang="en-US" sz="1500" dirty="0"/>
          </a:p>
        </p:txBody>
      </p:sp>
      <p:sp>
        <p:nvSpPr>
          <p:cNvPr id="38" name="Text 25"/>
          <p:cNvSpPr txBox="1"/>
          <p:nvPr/>
        </p:nvSpPr>
        <p:spPr>
          <a:xfrm>
            <a:off x="7962595" y="3343046"/>
            <a:ext cx="37719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다중 패터닝에서 가장 통제 어려운 정렬 오차. SADP 하드마스크로 일부 상쇄되지만 잔차 존재.</a:t>
            </a:r>
            <a:endParaRPr lang="en-US" sz="1200" dirty="0"/>
          </a:p>
        </p:txBody>
      </p:sp>
      <p:sp>
        <p:nvSpPr>
          <p:cNvPr id="39" name="Text 26"/>
          <p:cNvSpPr txBox="1"/>
          <p:nvPr/>
        </p:nvSpPr>
        <p:spPr>
          <a:xfrm>
            <a:off x="3581705" y="4419295"/>
            <a:ext cx="40965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048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550" dirty="0"/>
          </a:p>
        </p:txBody>
      </p:sp>
      <p:sp>
        <p:nvSpPr>
          <p:cNvPr id="40" name="Text 27"/>
          <p:cNvSpPr txBox="1"/>
          <p:nvPr/>
        </p:nvSpPr>
        <p:spPr>
          <a:xfrm>
            <a:off x="4083710" y="4524451"/>
            <a:ext cx="48646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LCDU</a:t>
            </a:r>
            <a:endParaRPr lang="en-US" sz="1500" dirty="0"/>
          </a:p>
        </p:txBody>
      </p:sp>
      <p:sp>
        <p:nvSpPr>
          <p:cNvPr id="41" name="Text 28"/>
          <p:cNvSpPr txBox="1"/>
          <p:nvPr/>
        </p:nvSpPr>
        <p:spPr>
          <a:xfrm>
            <a:off x="3581705" y="4886554"/>
            <a:ext cx="37719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Local CD uniformity. EUV shot noise + 레지스트 산확산 LER/LWR이 좁은 영역 CD 편차로 누적.</a:t>
            </a:r>
            <a:endParaRPr lang="en-US" sz="1200" dirty="0"/>
          </a:p>
        </p:txBody>
      </p:sp>
      <p:sp>
        <p:nvSpPr>
          <p:cNvPr id="42" name="Text 29"/>
          <p:cNvSpPr txBox="1"/>
          <p:nvPr/>
        </p:nvSpPr>
        <p:spPr>
          <a:xfrm>
            <a:off x="7962595" y="4419295"/>
            <a:ext cx="4197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597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550" dirty="0"/>
          </a:p>
        </p:txBody>
      </p:sp>
      <p:sp>
        <p:nvSpPr>
          <p:cNvPr id="43" name="Text 30"/>
          <p:cNvSpPr txBox="1"/>
          <p:nvPr/>
        </p:nvSpPr>
        <p:spPr>
          <a:xfrm>
            <a:off x="8473745" y="4524451"/>
            <a:ext cx="5239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GCDU</a:t>
            </a:r>
            <a:endParaRPr lang="en-US" sz="1500" dirty="0"/>
          </a:p>
        </p:txBody>
      </p:sp>
      <p:sp>
        <p:nvSpPr>
          <p:cNvPr id="44" name="Text 31"/>
          <p:cNvSpPr txBox="1"/>
          <p:nvPr/>
        </p:nvSpPr>
        <p:spPr>
          <a:xfrm>
            <a:off x="7962595" y="4886554"/>
            <a:ext cx="37719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Global CD uniformity. 챔버 플라즈마 불균형, 중심-가장자리 온도 차로 wafer 전반의 drift.</a:t>
            </a:r>
            <a:endParaRPr lang="en-US" sz="1200" dirty="0"/>
          </a:p>
        </p:txBody>
      </p:sp>
      <p:pic>
        <p:nvPicPr>
          <p:cNvPr id="45" name="Image 10" descr="gen-dedup-4735817da196dd285dd251045dce5dad.png">    </p:cNvPr>
          <p:cNvPicPr>
            <a:picLocks noChangeAspect="1"/>
          </p:cNvPicPr>
          <p:nvPr/>
        </p:nvPicPr>
        <p:blipFill>
          <a:blip r:embed="rId11"/>
          <a:srcRect l="0" r="0" t="-343" b="-343"/>
          <a:stretch/>
        </p:blipFill>
        <p:spPr>
          <a:xfrm>
            <a:off x="3372307" y="6072530"/>
            <a:ext cx="267005" cy="1920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3771900" y="5924398"/>
            <a:ext cx="161574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SADP 누적 효과</a:t>
            </a:r>
            <a:endParaRPr lang="en-US" sz="1650" dirty="0"/>
          </a:p>
        </p:txBody>
      </p:sp>
      <p:sp>
        <p:nvSpPr>
          <p:cNvPr id="47" name="Text 33"/>
          <p:cNvSpPr txBox="1"/>
          <p:nvPr/>
        </p:nvSpPr>
        <p:spPr>
          <a:xfrm>
            <a:off x="5356555" y="6001207"/>
            <a:ext cx="234086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6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Cumulative SADP effects</a:t>
            </a:r>
            <a:endParaRPr lang="en-US" sz="975" dirty="0"/>
          </a:p>
        </p:txBody>
      </p:sp>
      <p:sp>
        <p:nvSpPr>
          <p:cNvPr id="48" name="Text 34"/>
          <p:cNvSpPr txBox="1"/>
          <p:nvPr/>
        </p:nvSpPr>
        <p:spPr>
          <a:xfrm>
            <a:off x="3638398" y="659099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SPACER DEP</a:t>
            </a:r>
            <a:endParaRPr lang="en-US" sz="825" dirty="0"/>
          </a:p>
        </p:txBody>
      </p:sp>
      <p:sp>
        <p:nvSpPr>
          <p:cNvPr id="49" name="Text 35"/>
          <p:cNvSpPr txBox="1"/>
          <p:nvPr/>
        </p:nvSpPr>
        <p:spPr>
          <a:xfrm>
            <a:off x="3638398" y="6801307"/>
            <a:ext cx="18580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1–2 nm 두께 변동</a:t>
            </a:r>
            <a:endParaRPr lang="en-US" sz="1275" dirty="0"/>
          </a:p>
        </p:txBody>
      </p:sp>
      <p:sp>
        <p:nvSpPr>
          <p:cNvPr id="50" name="Text 36"/>
          <p:cNvSpPr txBox="1"/>
          <p:nvPr/>
        </p:nvSpPr>
        <p:spPr>
          <a:xfrm>
            <a:off x="3638398" y="7068312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각 pass 별 누적</a:t>
            </a:r>
            <a:endParaRPr lang="en-US" sz="1050" dirty="0"/>
          </a:p>
        </p:txBody>
      </p:sp>
      <p:sp>
        <p:nvSpPr>
          <p:cNvPr id="51" name="Text 37"/>
          <p:cNvSpPr txBox="1"/>
          <p:nvPr/>
        </p:nvSpPr>
        <p:spPr>
          <a:xfrm>
            <a:off x="5700370" y="659099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PITCH WALK</a:t>
            </a:r>
            <a:endParaRPr lang="en-US" sz="825" dirty="0"/>
          </a:p>
        </p:txBody>
      </p:sp>
      <p:sp>
        <p:nvSpPr>
          <p:cNvPr id="52" name="Text 38"/>
          <p:cNvSpPr txBox="1"/>
          <p:nvPr/>
        </p:nvSpPr>
        <p:spPr>
          <a:xfrm>
            <a:off x="5700370" y="6801307"/>
            <a:ext cx="18580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맨드릴 간격 어긋남</a:t>
            </a:r>
            <a:endParaRPr lang="en-US" sz="1275" dirty="0"/>
          </a:p>
        </p:txBody>
      </p:sp>
      <p:sp>
        <p:nvSpPr>
          <p:cNvPr id="53" name="Text 39"/>
          <p:cNvSpPr txBox="1"/>
          <p:nvPr/>
        </p:nvSpPr>
        <p:spPr>
          <a:xfrm>
            <a:off x="5700370" y="7068312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EPE 예산 즉시 잠식</a:t>
            </a:r>
            <a:endParaRPr lang="en-US" sz="1050" dirty="0"/>
          </a:p>
        </p:txBody>
      </p:sp>
      <p:sp>
        <p:nvSpPr>
          <p:cNvPr id="54" name="Text 40"/>
          <p:cNvSpPr txBox="1"/>
          <p:nvPr/>
        </p:nvSpPr>
        <p:spPr>
          <a:xfrm>
            <a:off x="7763256" y="659099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CUT RANDOM</a:t>
            </a:r>
            <a:endParaRPr lang="en-US" sz="825" dirty="0"/>
          </a:p>
        </p:txBody>
      </p:sp>
      <p:sp>
        <p:nvSpPr>
          <p:cNvPr id="55" name="Text 41"/>
          <p:cNvSpPr txBox="1"/>
          <p:nvPr/>
        </p:nvSpPr>
        <p:spPr>
          <a:xfrm>
            <a:off x="7763256" y="6801307"/>
            <a:ext cx="18580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Cut hole 형상 왜곡</a:t>
            </a:r>
            <a:endParaRPr lang="en-US" sz="1275" dirty="0"/>
          </a:p>
        </p:txBody>
      </p:sp>
      <p:sp>
        <p:nvSpPr>
          <p:cNvPr id="56" name="Text 42"/>
          <p:cNvSpPr txBox="1"/>
          <p:nvPr/>
        </p:nvSpPr>
        <p:spPr>
          <a:xfrm>
            <a:off x="7763256" y="7068312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EUV 확률 변동성 + LER</a:t>
            </a:r>
            <a:endParaRPr lang="en-US" sz="1050" dirty="0"/>
          </a:p>
        </p:txBody>
      </p:sp>
      <p:sp>
        <p:nvSpPr>
          <p:cNvPr id="57" name="Text 43"/>
          <p:cNvSpPr txBox="1"/>
          <p:nvPr/>
        </p:nvSpPr>
        <p:spPr>
          <a:xfrm>
            <a:off x="9825228" y="6590995"/>
            <a:ext cx="1858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ETCH ASYM.</a:t>
            </a:r>
            <a:endParaRPr lang="en-US" sz="825" dirty="0"/>
          </a:p>
        </p:txBody>
      </p:sp>
      <p:sp>
        <p:nvSpPr>
          <p:cNvPr id="58" name="Text 44"/>
          <p:cNvSpPr txBox="1"/>
          <p:nvPr/>
        </p:nvSpPr>
        <p:spPr>
          <a:xfrm>
            <a:off x="9825228" y="6801307"/>
            <a:ext cx="18580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식각 비대칭성</a:t>
            </a:r>
            <a:endParaRPr lang="en-US" sz="1275" dirty="0"/>
          </a:p>
        </p:txBody>
      </p:sp>
      <p:sp>
        <p:nvSpPr>
          <p:cNvPr id="59" name="Text 45"/>
          <p:cNvSpPr txBox="1"/>
          <p:nvPr/>
        </p:nvSpPr>
        <p:spPr>
          <a:xfrm>
            <a:off x="9825228" y="7068312"/>
            <a:ext cx="18580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sidewall bow 형성</a:t>
            </a:r>
            <a:endParaRPr lang="en-US" sz="1050" dirty="0"/>
          </a:p>
        </p:txBody>
      </p:sp>
      <p:sp>
        <p:nvSpPr>
          <p:cNvPr id="60" name="Text 46"/>
          <p:cNvSpPr txBox="1"/>
          <p:nvPr/>
        </p:nvSpPr>
        <p:spPr>
          <a:xfrm>
            <a:off x="12382805" y="6953098"/>
            <a:ext cx="50868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CDC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02.1</a:t>
            </a:r>
            <a:endParaRPr lang="en-US" sz="825" dirty="0"/>
          </a:p>
        </p:txBody>
      </p:sp>
      <p:sp>
        <p:nvSpPr>
          <p:cNvPr id="61" name="Text 47"/>
          <p:cNvSpPr txBox="1"/>
          <p:nvPr/>
        </p:nvSpPr>
        <p:spPr>
          <a:xfrm>
            <a:off x="12382805" y="7144207"/>
            <a:ext cx="50868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SADP spacer 형성 후 단면 SEM — mandrel·spacer·under-layer 경계</a:t>
            </a:r>
            <a:endParaRPr lang="en-US" sz="1050" dirty="0"/>
          </a:p>
        </p:txBody>
      </p:sp>
      <p:sp>
        <p:nvSpPr>
          <p:cNvPr id="62" name="Text 48"/>
          <p:cNvSpPr txBox="1"/>
          <p:nvPr/>
        </p:nvSpPr>
        <p:spPr>
          <a:xfrm>
            <a:off x="12382805" y="7393838"/>
            <a:ext cx="5372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Semiconductor Engineering — Self-Aligned Double Patterning, Part One</a:t>
            </a:r>
            <a:endParaRPr lang="en-US" sz="975" dirty="0"/>
          </a:p>
        </p:txBody>
      </p:sp>
      <p:sp>
        <p:nvSpPr>
          <p:cNvPr id="63" name="Text 49"/>
          <p:cNvSpPr txBox="1"/>
          <p:nvPr/>
        </p:nvSpPr>
        <p:spPr>
          <a:xfrm>
            <a:off x="3238805" y="981059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64" name="Text 50"/>
          <p:cNvSpPr txBox="1"/>
          <p:nvPr/>
        </p:nvSpPr>
        <p:spPr>
          <a:xfrm>
            <a:off x="14859000" y="9810598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76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07 · EUV-BEOL-EVAL · 04/15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573707" y="838505"/>
            <a:ext cx="3066898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72307" y="2800807"/>
            <a:ext cx="7067398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610698" y="2800807"/>
            <a:ext cx="7029907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372307" y="4610405"/>
            <a:ext cx="7067398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610698" y="4610405"/>
            <a:ext cx="7029907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72307" y="6553505"/>
            <a:ext cx="14249095" cy="1218895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f86d6a16f92b2617556186968858095b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2857500" y="9658807"/>
            <a:ext cx="15430500" cy="9144"/>
          </a:xfrm>
          <a:prstGeom prst="rect">
            <a:avLst/>
          </a:prstGeom>
        </p:spPr>
      </p:pic>
      <p:pic>
        <p:nvPicPr>
          <p:cNvPr id="11" name="Image 1" descr="gen-dedup-eabc9b61793a980fb358930b866a1d61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57500" y="0"/>
            <a:ext cx="9144" cy="10287000"/>
          </a:xfrm>
          <a:prstGeom prst="rect">
            <a:avLst/>
          </a:prstGeom>
        </p:spPr>
      </p:pic>
      <p:pic>
        <p:nvPicPr>
          <p:cNvPr id="12" name="Image 2" descr="gen-dedup-fd2c33c645f6b3a00a0b08699c48d5b4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14573707" y="838505"/>
            <a:ext cx="38405" cy="1619402"/>
          </a:xfrm>
          <a:prstGeom prst="rect">
            <a:avLst/>
          </a:prstGeom>
        </p:spPr>
      </p:pic>
      <p:pic>
        <p:nvPicPr>
          <p:cNvPr id="13" name="Image 3" descr="gen-dedup-fd2c33c645f6b3a00a0b08699c48d5b4.png">    </p:cNvPr>
          <p:cNvPicPr>
            <a:picLocks noChangeAspect="1"/>
          </p:cNvPicPr>
          <p:nvPr/>
        </p:nvPicPr>
        <p:blipFill>
          <a:blip r:embed="rId4"/>
          <a:srcRect l="-395" r="-395" t="0" b="0"/>
          <a:stretch/>
        </p:blipFill>
        <p:spPr>
          <a:xfrm>
            <a:off x="3372307" y="2800807"/>
            <a:ext cx="38405" cy="1619402"/>
          </a:xfrm>
          <a:prstGeom prst="rect">
            <a:avLst/>
          </a:prstGeom>
        </p:spPr>
      </p:pic>
      <p:pic>
        <p:nvPicPr>
          <p:cNvPr id="14" name="Image 4" descr="gen-dedup-fd2c33c645f6b3a00a0b08699c48d5b4.png">    </p:cNvPr>
          <p:cNvPicPr>
            <a:picLocks noChangeAspect="1"/>
          </p:cNvPicPr>
          <p:nvPr/>
        </p:nvPicPr>
        <p:blipFill>
          <a:blip r:embed="rId5"/>
          <a:srcRect l="-395" r="-395" t="0" b="0"/>
          <a:stretch/>
        </p:blipFill>
        <p:spPr>
          <a:xfrm>
            <a:off x="10610698" y="2800807"/>
            <a:ext cx="38405" cy="1619402"/>
          </a:xfrm>
          <a:prstGeom prst="rect">
            <a:avLst/>
          </a:prstGeom>
        </p:spPr>
      </p:pic>
      <p:pic>
        <p:nvPicPr>
          <p:cNvPr id="15" name="Image 5" descr="gen-dedup-4db282036653486d4c2f3e268c0276e4.png">    </p:cNvPr>
          <p:cNvPicPr>
            <a:picLocks noChangeAspect="1"/>
          </p:cNvPicPr>
          <p:nvPr/>
        </p:nvPicPr>
        <p:blipFill>
          <a:blip r:embed="rId6"/>
          <a:srcRect l="-395" r="-395" t="0" b="0"/>
          <a:stretch/>
        </p:blipFill>
        <p:spPr>
          <a:xfrm>
            <a:off x="3372307" y="4610405"/>
            <a:ext cx="38405" cy="1619402"/>
          </a:xfrm>
          <a:prstGeom prst="rect">
            <a:avLst/>
          </a:prstGeom>
        </p:spPr>
      </p:pic>
      <p:pic>
        <p:nvPicPr>
          <p:cNvPr id="16" name="Image 6" descr="gen-dedup-ad7f60b8982f521a710b1e42bed421c5.png">    </p:cNvPr>
          <p:cNvPicPr>
            <a:picLocks noChangeAspect="1"/>
          </p:cNvPicPr>
          <p:nvPr/>
        </p:nvPicPr>
        <p:blipFill>
          <a:blip r:embed="rId7"/>
          <a:srcRect l="-395" r="-395" t="0" b="0"/>
          <a:stretch/>
        </p:blipFill>
        <p:spPr>
          <a:xfrm>
            <a:off x="10610698" y="4610405"/>
            <a:ext cx="38405" cy="1619402"/>
          </a:xfrm>
          <a:prstGeom prst="rect">
            <a:avLst/>
          </a:prstGeom>
        </p:spPr>
      </p:pic>
      <p:pic>
        <p:nvPicPr>
          <p:cNvPr id="17" name="Image 7" descr="gen-dedup-4ac609d10e3e3074053493c309798379.png">    </p:cNvPr>
          <p:cNvPicPr>
            <a:picLocks noChangeAspect="1"/>
          </p:cNvPicPr>
          <p:nvPr/>
        </p:nvPicPr>
        <p:blipFill>
          <a:blip r:embed="rId8"/>
          <a:srcRect l="-2083" r="-2083" t="0" b="0"/>
          <a:stretch/>
        </p:blipFill>
        <p:spPr>
          <a:xfrm>
            <a:off x="381305" y="5333695"/>
            <a:ext cx="571500" cy="9144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381305" y="60990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04 / 15 · DUMMY</a:t>
            </a:r>
            <a:endParaRPr lang="en-US" sz="975" dirty="0"/>
          </a:p>
        </p:txBody>
      </p:sp>
      <p:sp>
        <p:nvSpPr>
          <p:cNvPr id="19" name="Text 8"/>
          <p:cNvSpPr txBox="1"/>
          <p:nvPr/>
        </p:nvSpPr>
        <p:spPr>
          <a:xfrm>
            <a:off x="381305" y="1619402"/>
            <a:ext cx="2286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5000" dirty="0"/>
          </a:p>
        </p:txBody>
      </p:sp>
      <p:sp>
        <p:nvSpPr>
          <p:cNvPr id="20" name="Text 9"/>
          <p:cNvSpPr txBox="1"/>
          <p:nvPr/>
        </p:nvSpPr>
        <p:spPr>
          <a:xfrm>
            <a:off x="381305" y="4095598"/>
            <a:ext cx="2095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항목</a:t>
            </a:r>
            <a:endParaRPr lang="en-US" sz="2250" dirty="0"/>
          </a:p>
        </p:txBody>
      </p:sp>
      <p:sp>
        <p:nvSpPr>
          <p:cNvPr id="21" name="Text 10"/>
          <p:cNvSpPr txBox="1"/>
          <p:nvPr/>
        </p:nvSpPr>
        <p:spPr>
          <a:xfrm>
            <a:off x="381305" y="4600346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C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Metrics &amp; Targets</a:t>
            </a:r>
            <a:endParaRPr lang="en-US" sz="1200" dirty="0"/>
          </a:p>
        </p:txBody>
      </p:sp>
      <p:sp>
        <p:nvSpPr>
          <p:cNvPr id="22" name="Text 11"/>
          <p:cNvSpPr txBox="1"/>
          <p:nvPr/>
        </p:nvSpPr>
        <p:spPr>
          <a:xfrm>
            <a:off x="381305" y="5619902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METRICS</a:t>
            </a:r>
            <a:endParaRPr lang="en-US" sz="975" dirty="0"/>
          </a:p>
        </p:txBody>
      </p:sp>
      <p:sp>
        <p:nvSpPr>
          <p:cNvPr id="23" name="Text 12"/>
          <p:cNvSpPr txBox="1"/>
          <p:nvPr/>
        </p:nvSpPr>
        <p:spPr>
          <a:xfrm>
            <a:off x="381305" y="5906110"/>
            <a:ext cx="2095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/ ASEI / AMI / ACI를 단일 lot에 동시 평가</a:t>
            </a:r>
            <a:endParaRPr lang="en-US" sz="1125" dirty="0"/>
          </a:p>
        </p:txBody>
      </p:sp>
      <p:sp>
        <p:nvSpPr>
          <p:cNvPr id="24" name="Text 13"/>
          <p:cNvSpPr txBox="1"/>
          <p:nvPr/>
        </p:nvSpPr>
        <p:spPr>
          <a:xfrm>
            <a:off x="381305" y="94302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 · CDU · M1</a:t>
            </a:r>
            <a:endParaRPr lang="en-US" sz="825" dirty="0"/>
          </a:p>
        </p:txBody>
      </p:sp>
      <p:pic>
        <p:nvPicPr>
          <p:cNvPr id="25" name="Image 8" descr="gen-dedup-d4e65b70a25d2ac1eabb51d81b5a3b33.png">    </p:cNvPr>
          <p:cNvPicPr>
            <a:picLocks noChangeAspect="1"/>
          </p:cNvPicPr>
          <p:nvPr/>
        </p:nvPicPr>
        <p:blipFill>
          <a:blip r:embed="rId9"/>
          <a:srcRect l="0" r="0" t="-343" b="-343"/>
          <a:stretch/>
        </p:blipFill>
        <p:spPr>
          <a:xfrm>
            <a:off x="3372307" y="909828"/>
            <a:ext cx="267005" cy="19202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3771900" y="838505"/>
            <a:ext cx="10195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03</a:t>
            </a:r>
            <a:endParaRPr lang="en-US" sz="975" dirty="0"/>
          </a:p>
        </p:txBody>
      </p:sp>
      <p:sp>
        <p:nvSpPr>
          <p:cNvPr id="27" name="Text 15"/>
          <p:cNvSpPr txBox="1"/>
          <p:nvPr/>
        </p:nvSpPr>
        <p:spPr>
          <a:xfrm>
            <a:off x="3372307" y="1171346"/>
            <a:ext cx="10858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평가 메트릭과 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목표 CD</a:t>
            </a:r>
            <a:endParaRPr lang="en-US" sz="4050" dirty="0"/>
          </a:p>
        </p:txBody>
      </p:sp>
      <p:sp>
        <p:nvSpPr>
          <p:cNvPr id="28" name="Text 16"/>
          <p:cNvSpPr txBox="1"/>
          <p:nvPr/>
        </p:nvSpPr>
        <p:spPr>
          <a:xfrm>
            <a:off x="14763902" y="990295"/>
            <a:ext cx="27148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29" name="Text 17"/>
          <p:cNvSpPr txBox="1"/>
          <p:nvPr/>
        </p:nvSpPr>
        <p:spPr>
          <a:xfrm>
            <a:off x="14763902" y="1228954"/>
            <a:ext cx="271485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4개 메트릭 모두 lot-level target을 잡았으며, AMI·ACI는 sub-10 nm으로 컷홀 변동성을 가장 예민하게 본다.</a:t>
            </a:r>
            <a:endParaRPr lang="en-US" sz="1350" dirty="0"/>
          </a:p>
        </p:txBody>
      </p:sp>
      <p:sp>
        <p:nvSpPr>
          <p:cNvPr id="30" name="Text 18"/>
          <p:cNvSpPr txBox="1"/>
          <p:nvPr/>
        </p:nvSpPr>
        <p:spPr>
          <a:xfrm>
            <a:off x="3638398" y="3029407"/>
            <a:ext cx="52011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9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 01</a:t>
            </a:r>
            <a:endParaRPr lang="en-US" sz="825" dirty="0"/>
          </a:p>
        </p:txBody>
      </p:sp>
      <p:sp>
        <p:nvSpPr>
          <p:cNvPr id="31" name="Text 19"/>
          <p:cNvSpPr txBox="1"/>
          <p:nvPr/>
        </p:nvSpPr>
        <p:spPr>
          <a:xfrm>
            <a:off x="3638398" y="3258007"/>
            <a:ext cx="5886907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· mandrel 후 spacer 외측 평균선폭</a:t>
            </a:r>
            <a:endParaRPr lang="en-US" sz="2250" dirty="0"/>
          </a:p>
        </p:txBody>
      </p:sp>
      <p:sp>
        <p:nvSpPr>
          <p:cNvPr id="32" name="Text 20"/>
          <p:cNvSpPr txBox="1"/>
          <p:nvPr/>
        </p:nvSpPr>
        <p:spPr>
          <a:xfrm>
            <a:off x="3638398" y="3762756"/>
            <a:ext cx="5201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After Spacer Average Space, isolated 방향 CD 평균 — 가장 큰 형상에서 분해능 한계 추정</a:t>
            </a:r>
            <a:endParaRPr lang="en-US" sz="1200" dirty="0"/>
          </a:p>
        </p:txBody>
      </p:sp>
      <p:sp>
        <p:nvSpPr>
          <p:cNvPr id="33" name="Text 21"/>
          <p:cNvSpPr txBox="1"/>
          <p:nvPr/>
        </p:nvSpPr>
        <p:spPr>
          <a:xfrm>
            <a:off x="8838590" y="3029407"/>
            <a:ext cx="13240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34" name="Text 22"/>
          <p:cNvSpPr txBox="1"/>
          <p:nvPr/>
        </p:nvSpPr>
        <p:spPr>
          <a:xfrm>
            <a:off x="8070494" y="3219602"/>
            <a:ext cx="209214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050" b="1" spc="-81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24.8</a:t>
            </a:r>
            <a:pPr algn="r" indent="0" marL="0">
              <a:buNone/>
            </a:pPr>
            <a:r>
              <a:rPr lang="en-US" sz="1350" b="1" spc="-81" kern="0" dirty="0">
                <a:solidFill>
                  <a:srgbClr val="6B66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4050" dirty="0"/>
          </a:p>
        </p:txBody>
      </p:sp>
      <p:sp>
        <p:nvSpPr>
          <p:cNvPr id="35" name="Text 23"/>
          <p:cNvSpPr txBox="1"/>
          <p:nvPr/>
        </p:nvSpPr>
        <p:spPr>
          <a:xfrm>
            <a:off x="10877702" y="3029407"/>
            <a:ext cx="42583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9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 02</a:t>
            </a:r>
            <a:endParaRPr lang="en-US" sz="825" dirty="0"/>
          </a:p>
        </p:txBody>
      </p:sp>
      <p:sp>
        <p:nvSpPr>
          <p:cNvPr id="36" name="Text 24"/>
          <p:cNvSpPr txBox="1"/>
          <p:nvPr/>
        </p:nvSpPr>
        <p:spPr>
          <a:xfrm>
            <a:off x="10877702" y="3258007"/>
            <a:ext cx="4944161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 · cut 후 spacer-edge 강도</a:t>
            </a:r>
            <a:endParaRPr lang="en-US" sz="2250" dirty="0"/>
          </a:p>
        </p:txBody>
      </p:sp>
      <p:sp>
        <p:nvSpPr>
          <p:cNvPr id="37" name="Text 25"/>
          <p:cNvSpPr txBox="1"/>
          <p:nvPr/>
        </p:nvSpPr>
        <p:spPr>
          <a:xfrm>
            <a:off x="10877702" y="3762756"/>
            <a:ext cx="49441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After Sidewall Etch Intensity, line-edge LER 노출 직전 edge 강도</a:t>
            </a:r>
            <a:endParaRPr lang="en-US" sz="1200" dirty="0"/>
          </a:p>
        </p:txBody>
      </p:sp>
      <p:sp>
        <p:nvSpPr>
          <p:cNvPr id="38" name="Text 26"/>
          <p:cNvSpPr txBox="1"/>
          <p:nvPr/>
        </p:nvSpPr>
        <p:spPr>
          <a:xfrm>
            <a:off x="16172993" y="3029407"/>
            <a:ext cx="119146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39" name="Text 27"/>
          <p:cNvSpPr txBox="1"/>
          <p:nvPr/>
        </p:nvSpPr>
        <p:spPr>
          <a:xfrm>
            <a:off x="15482621" y="3219602"/>
            <a:ext cx="188183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050" b="1" spc="-81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17.9</a:t>
            </a:r>
            <a:pPr algn="r" indent="0" marL="0">
              <a:buNone/>
            </a:pPr>
            <a:r>
              <a:rPr lang="en-US" sz="1350" b="1" spc="-81" kern="0" dirty="0">
                <a:solidFill>
                  <a:srgbClr val="6B66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4050" dirty="0"/>
          </a:p>
        </p:txBody>
      </p:sp>
      <p:sp>
        <p:nvSpPr>
          <p:cNvPr id="40" name="Text 28"/>
          <p:cNvSpPr txBox="1"/>
          <p:nvPr/>
        </p:nvSpPr>
        <p:spPr>
          <a:xfrm>
            <a:off x="3638398" y="4839005"/>
            <a:ext cx="39246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9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 03</a:t>
            </a:r>
            <a:endParaRPr lang="en-US" sz="825" dirty="0"/>
          </a:p>
        </p:txBody>
      </p:sp>
      <p:sp>
        <p:nvSpPr>
          <p:cNvPr id="41" name="Text 29"/>
          <p:cNvSpPr txBox="1"/>
          <p:nvPr/>
        </p:nvSpPr>
        <p:spPr>
          <a:xfrm>
            <a:off x="3638398" y="5067605"/>
            <a:ext cx="4200754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· M1 line tip 중간 CD</a:t>
            </a:r>
            <a:endParaRPr lang="en-US" sz="2250" dirty="0"/>
          </a:p>
        </p:txBody>
      </p:sp>
      <p:sp>
        <p:nvSpPr>
          <p:cNvPr id="42" name="Text 30"/>
          <p:cNvSpPr txBox="1"/>
          <p:nvPr/>
        </p:nvSpPr>
        <p:spPr>
          <a:xfrm>
            <a:off x="3638398" y="5572354"/>
            <a:ext cx="46104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After Metal line Intermediate, M1 라인 tip 중간부의 평균 CD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9181490" y="4839005"/>
            <a:ext cx="9811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44" name="Text 32"/>
          <p:cNvSpPr txBox="1"/>
          <p:nvPr/>
        </p:nvSpPr>
        <p:spPr>
          <a:xfrm>
            <a:off x="8611819" y="5029200"/>
            <a:ext cx="1550822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050" b="1" spc="-81" kern="0" dirty="0">
                <a:solidFill>
                  <a:srgbClr val="3F6B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</a:t>
            </a:r>
            <a:pPr algn="r" indent="0" marL="0">
              <a:buNone/>
            </a:pPr>
            <a:r>
              <a:rPr lang="en-US" sz="1350" b="1" spc="-81" kern="0" dirty="0">
                <a:solidFill>
                  <a:srgbClr val="6B66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4050" dirty="0"/>
          </a:p>
        </p:txBody>
      </p:sp>
      <p:sp>
        <p:nvSpPr>
          <p:cNvPr id="45" name="Text 33"/>
          <p:cNvSpPr txBox="1"/>
          <p:nvPr/>
        </p:nvSpPr>
        <p:spPr>
          <a:xfrm>
            <a:off x="10877702" y="4839005"/>
            <a:ext cx="50109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9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 04</a:t>
            </a:r>
            <a:endParaRPr lang="en-US" sz="825" dirty="0"/>
          </a:p>
        </p:txBody>
      </p:sp>
      <p:sp>
        <p:nvSpPr>
          <p:cNvPr id="46" name="Text 34"/>
          <p:cNvSpPr txBox="1"/>
          <p:nvPr/>
        </p:nvSpPr>
        <p:spPr>
          <a:xfrm>
            <a:off x="10877702" y="5067605"/>
            <a:ext cx="5010912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ACI · M1 tip-to-tip 최소 CD</a:t>
            </a:r>
            <a:endParaRPr lang="en-US" sz="2250" dirty="0"/>
          </a:p>
        </p:txBody>
      </p:sp>
      <p:sp>
        <p:nvSpPr>
          <p:cNvPr id="47" name="Text 35"/>
          <p:cNvSpPr txBox="1"/>
          <p:nvPr/>
        </p:nvSpPr>
        <p:spPr>
          <a:xfrm>
            <a:off x="10877702" y="5572354"/>
            <a:ext cx="56967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After Critical Interval, 인접 M1 tip 사이 최소 거리. cut 변동성을 가장 직접 본다.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16326612" y="4839005"/>
            <a:ext cx="1028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49" name="Text 37"/>
          <p:cNvSpPr txBox="1"/>
          <p:nvPr/>
        </p:nvSpPr>
        <p:spPr>
          <a:xfrm>
            <a:off x="15729509" y="5029200"/>
            <a:ext cx="162580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4050" b="1" spc="-81" kern="0" dirty="0">
                <a:solidFill>
                  <a:srgbClr val="B048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8.0</a:t>
            </a:r>
            <a:pPr algn="r" indent="0" marL="0">
              <a:buNone/>
            </a:pPr>
            <a:r>
              <a:rPr lang="en-US" sz="1350" b="1" spc="-81" kern="0" dirty="0">
                <a:solidFill>
                  <a:srgbClr val="6B66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4050" dirty="0"/>
          </a:p>
        </p:txBody>
      </p:sp>
      <p:pic>
        <p:nvPicPr>
          <p:cNvPr id="50" name="Image 9" descr="gen-dedup-4832bf0b8d7b3b6eb5de6a7ccc68d2c6.png">    </p:cNvPr>
          <p:cNvPicPr>
            <a:picLocks noChangeAspect="1"/>
          </p:cNvPicPr>
          <p:nvPr/>
        </p:nvPicPr>
        <p:blipFill>
          <a:blip r:embed="rId10"/>
          <a:srcRect l="-450" r="-450" t="0" b="0"/>
          <a:stretch/>
        </p:blipFill>
        <p:spPr>
          <a:xfrm>
            <a:off x="3715207" y="6819595"/>
            <a:ext cx="38405" cy="30449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3924605" y="6890918"/>
            <a:ext cx="6291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측정 규약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4721962" y="6847942"/>
            <a:ext cx="80970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인라인 CD-SEM, 13-point die 5장, 모든 수치는 in-wafer mean / 3σ / range / Δ vs target으로 보고한다.</a:t>
            </a:r>
            <a:endParaRPr lang="en-US" sz="1350" dirty="0"/>
          </a:p>
        </p:txBody>
      </p:sp>
      <p:sp>
        <p:nvSpPr>
          <p:cNvPr id="53" name="Text 40"/>
          <p:cNvSpPr txBox="1"/>
          <p:nvPr/>
        </p:nvSpPr>
        <p:spPr>
          <a:xfrm>
            <a:off x="3715207" y="7258507"/>
            <a:ext cx="2448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7C74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 허용</a:t>
            </a:r>
            <a:pPr algn="l" indent="0" marL="0"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AASI ≤ 1.5 · ASEI ≤ 1.2</a:t>
            </a:r>
            <a:endParaRPr lang="en-US" sz="1125" dirty="0"/>
          </a:p>
        </p:txBody>
      </p:sp>
      <p:sp>
        <p:nvSpPr>
          <p:cNvPr id="54" name="Text 41"/>
          <p:cNvSpPr txBox="1"/>
          <p:nvPr/>
        </p:nvSpPr>
        <p:spPr>
          <a:xfrm>
            <a:off x="6114593" y="7258507"/>
            <a:ext cx="22896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7C74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 허용</a:t>
            </a:r>
            <a:pPr algn="l" indent="0" marL="0"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AMI ≤ 0.8 · ACI ≤ 0.7</a:t>
            </a:r>
            <a:endParaRPr lang="en-US" sz="1125" dirty="0"/>
          </a:p>
        </p:txBody>
      </p:sp>
      <p:sp>
        <p:nvSpPr>
          <p:cNvPr id="55" name="Text 42"/>
          <p:cNvSpPr txBox="1"/>
          <p:nvPr/>
        </p:nvSpPr>
        <p:spPr>
          <a:xfrm>
            <a:off x="8374075" y="7258507"/>
            <a:ext cx="260786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7C74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Δt 창</a:t>
            </a:r>
            <a:pPr algn="l" indent="0" marL="0"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· ±0.4 nm warn · ±0.8 nm fail</a:t>
            </a:r>
            <a:endParaRPr lang="en-US" sz="1125" dirty="0"/>
          </a:p>
        </p:txBody>
      </p:sp>
      <p:sp>
        <p:nvSpPr>
          <p:cNvPr id="56" name="Text 43"/>
          <p:cNvSpPr txBox="1"/>
          <p:nvPr/>
        </p:nvSpPr>
        <p:spPr>
          <a:xfrm>
            <a:off x="3238805" y="981059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57" name="Text 44"/>
          <p:cNvSpPr txBox="1"/>
          <p:nvPr/>
        </p:nvSpPr>
        <p:spPr>
          <a:xfrm>
            <a:off x="14859000" y="9810598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76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07 · EUV-BEOL-EVAL · 04/15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573707" y="705002"/>
            <a:ext cx="3066898" cy="1485900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72307" y="8382305"/>
            <a:ext cx="9734702" cy="1047902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pic>
        <p:nvPicPr>
          <p:cNvPr id="6" name="Image 0" descr="gen-dedup-f86d6a16f92b2617556186968858095b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2857500" y="9658807"/>
            <a:ext cx="15430500" cy="9144"/>
          </a:xfrm>
          <a:prstGeom prst="rect">
            <a:avLst/>
          </a:prstGeom>
        </p:spPr>
      </p:pic>
      <p:pic>
        <p:nvPicPr>
          <p:cNvPr id="7" name="Image 1" descr="gen-dedup-eabc9b61793a980fb358930b866a1d61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57500" y="0"/>
            <a:ext cx="9144" cy="10287000"/>
          </a:xfrm>
          <a:prstGeom prst="rect">
            <a:avLst/>
          </a:prstGeom>
        </p:spPr>
      </p:pic>
      <p:pic>
        <p:nvPicPr>
          <p:cNvPr id="8" name="Image 2" descr="gen-dedup-6e4890b2a9db42bd876f963bfaaea196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3372307" y="8382305"/>
            <a:ext cx="38405" cy="1028700"/>
          </a:xfrm>
          <a:prstGeom prst="rect">
            <a:avLst/>
          </a:prstGeom>
        </p:spPr>
      </p:pic>
      <p:pic>
        <p:nvPicPr>
          <p:cNvPr id="9" name="Image 3" descr="gen-dedup-4ac609d10e3e3074053493c30979837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381305" y="5333695"/>
            <a:ext cx="571500" cy="914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381305" y="60990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04 / 15 · DUMMY</a:t>
            </a:r>
            <a:endParaRPr lang="en-US" sz="975" dirty="0"/>
          </a:p>
        </p:txBody>
      </p:sp>
      <p:sp>
        <p:nvSpPr>
          <p:cNvPr id="11" name="Text 4"/>
          <p:cNvSpPr txBox="1"/>
          <p:nvPr/>
        </p:nvSpPr>
        <p:spPr>
          <a:xfrm>
            <a:off x="381305" y="1619402"/>
            <a:ext cx="2286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5000" dirty="0"/>
          </a:p>
        </p:txBody>
      </p:sp>
      <p:sp>
        <p:nvSpPr>
          <p:cNvPr id="12" name="Text 5"/>
          <p:cNvSpPr txBox="1"/>
          <p:nvPr/>
        </p:nvSpPr>
        <p:spPr>
          <a:xfrm>
            <a:off x="381305" y="4095598"/>
            <a:ext cx="2095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CD 측정</a:t>
            </a:r>
            <a:endParaRPr lang="en-US" sz="2250" dirty="0"/>
          </a:p>
        </p:txBody>
      </p:sp>
      <p:sp>
        <p:nvSpPr>
          <p:cNvPr id="13" name="Text 6"/>
          <p:cNvSpPr txBox="1"/>
          <p:nvPr/>
        </p:nvSpPr>
        <p:spPr>
          <a:xfrm>
            <a:off x="381305" y="4600346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C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CD by Wafer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381305" y="5619902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 FIELDS</a:t>
            </a:r>
            <a:endParaRPr lang="en-US" sz="975" dirty="0"/>
          </a:p>
        </p:txBody>
      </p:sp>
      <p:sp>
        <p:nvSpPr>
          <p:cNvPr id="15" name="Text 8"/>
          <p:cNvSpPr txBox="1"/>
          <p:nvPr/>
        </p:nvSpPr>
        <p:spPr>
          <a:xfrm>
            <a:off x="381305" y="5906110"/>
            <a:ext cx="249448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mean · 3σ · range · Δ vs target</a:t>
            </a:r>
            <a:endParaRPr lang="en-US" sz="1125" dirty="0"/>
          </a:p>
        </p:txBody>
      </p:sp>
      <p:sp>
        <p:nvSpPr>
          <p:cNvPr id="16" name="Text 9"/>
          <p:cNvSpPr txBox="1"/>
          <p:nvPr/>
        </p:nvSpPr>
        <p:spPr>
          <a:xfrm>
            <a:off x="381305" y="94302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 · CDU · M1</a:t>
            </a:r>
            <a:endParaRPr lang="en-US" sz="825" dirty="0"/>
          </a:p>
        </p:txBody>
      </p:sp>
      <p:pic>
        <p:nvPicPr>
          <p:cNvPr id="17" name="Image 4" descr="gen-dedup-d4e65b70a25d2ac1eabb51d81b5a3b33.png">    </p:cNvPr>
          <p:cNvPicPr>
            <a:picLocks noChangeAspect="1"/>
          </p:cNvPicPr>
          <p:nvPr/>
        </p:nvPicPr>
        <p:blipFill>
          <a:blip r:embed="rId5"/>
          <a:srcRect l="0" r="0" t="-343" b="-343"/>
          <a:stretch/>
        </p:blipFill>
        <p:spPr>
          <a:xfrm>
            <a:off x="3372307" y="776326"/>
            <a:ext cx="267005" cy="1920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3771900" y="705002"/>
            <a:ext cx="10195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04</a:t>
            </a:r>
            <a:endParaRPr lang="en-US" sz="975" dirty="0"/>
          </a:p>
        </p:txBody>
      </p:sp>
      <p:sp>
        <p:nvSpPr>
          <p:cNvPr id="19" name="Text 11"/>
          <p:cNvSpPr txBox="1"/>
          <p:nvPr/>
        </p:nvSpPr>
        <p:spPr>
          <a:xfrm>
            <a:off x="3372307" y="1000354"/>
            <a:ext cx="112398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Wafer별 CD 측정 — </a:t>
            </a:r>
            <a:pPr algn="l" indent="0" marL="0">
              <a:buNone/>
            </a:pPr>
            <a:r>
              <a:rPr lang="en-US" sz="3600" b="1" spc="-72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mean · 3σ · range · Δ</a:t>
            </a:r>
            <a:endParaRPr lang="en-US" sz="3600" dirty="0"/>
          </a:p>
        </p:txBody>
      </p:sp>
      <p:sp>
        <p:nvSpPr>
          <p:cNvPr id="20" name="Text 12"/>
          <p:cNvSpPr txBox="1"/>
          <p:nvPr/>
        </p:nvSpPr>
        <p:spPr>
          <a:xfrm>
            <a:off x="14763902" y="838505"/>
            <a:ext cx="27148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— Pass / Warn / Fail</a:t>
            </a:r>
            <a:endParaRPr lang="en-US" sz="825" dirty="0"/>
          </a:p>
        </p:txBody>
      </p:sp>
      <p:sp>
        <p:nvSpPr>
          <p:cNvPr id="21" name="Shape 13"/>
          <p:cNvSpPr/>
          <p:nvPr/>
        </p:nvSpPr>
        <p:spPr>
          <a:xfrm>
            <a:off x="14763902" y="1128370"/>
            <a:ext cx="95098" cy="95098"/>
          </a:xfrm>
          <a:prstGeom prst="ellipse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14954098" y="1086307"/>
            <a:ext cx="16386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|Δ| &lt; 0.4 — in-spec</a:t>
            </a:r>
            <a:endParaRPr lang="en-US" sz="1125" dirty="0"/>
          </a:p>
        </p:txBody>
      </p:sp>
      <p:sp>
        <p:nvSpPr>
          <p:cNvPr id="23" name="Shape 15"/>
          <p:cNvSpPr/>
          <p:nvPr/>
        </p:nvSpPr>
        <p:spPr>
          <a:xfrm>
            <a:off x="14763902" y="1386230"/>
            <a:ext cx="95098" cy="95098"/>
          </a:xfrm>
          <a:prstGeom prst="ellipse">
            <a:avLst/>
          </a:prstGeom>
          <a:solidFill>
            <a:srgbClr val="B597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14954098" y="1343254"/>
            <a:ext cx="18955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 ≤ |Δ| &lt; 0.8 — warn</a:t>
            </a:r>
            <a:endParaRPr lang="en-US" sz="1125" dirty="0"/>
          </a:p>
        </p:txBody>
      </p:sp>
      <p:sp>
        <p:nvSpPr>
          <p:cNvPr id="25" name="Shape 17"/>
          <p:cNvSpPr/>
          <p:nvPr/>
        </p:nvSpPr>
        <p:spPr>
          <a:xfrm>
            <a:off x="14763902" y="1643177"/>
            <a:ext cx="95098" cy="95098"/>
          </a:xfrm>
          <a:prstGeom prst="ellipse">
            <a:avLst/>
          </a:prstGeom>
          <a:solidFill>
            <a:srgbClr val="B048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14954098" y="1600200"/>
            <a:ext cx="13816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|Δ| ≥ 0.8 — fail</a:t>
            </a:r>
            <a:endParaRPr lang="en-US" sz="1125" dirty="0"/>
          </a:p>
        </p:txBody>
      </p:sp>
      <p:sp>
        <p:nvSpPr>
          <p:cNvPr id="27" name="Shape 19"/>
          <p:cNvSpPr/>
          <p:nvPr/>
        </p:nvSpPr>
        <p:spPr>
          <a:xfrm>
            <a:off x="3372307" y="2361895"/>
            <a:ext cx="14668805" cy="5715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3372307" y="3219602"/>
            <a:ext cx="809244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175150" y="3219602"/>
            <a:ext cx="638251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807001" y="2924251"/>
            <a:ext cx="6638544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441887" y="2924251"/>
            <a:ext cx="2238451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3674852" y="2924251"/>
            <a:ext cx="2238451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5907817" y="2924251"/>
            <a:ext cx="2133295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3372307" y="2928823"/>
            <a:ext cx="14668805" cy="304495"/>
          </a:xfrm>
          <a:prstGeom prst="rect">
            <a:avLst/>
          </a:prstGeom>
          <a:solidFill>
            <a:srgbClr val="1E22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4807001" y="2928823"/>
            <a:ext cx="16962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6495898" y="2928823"/>
            <a:ext cx="161025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8097012" y="2928823"/>
            <a:ext cx="16861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9779508" y="2928823"/>
            <a:ext cx="16669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441887" y="2928823"/>
            <a:ext cx="6099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2051792" y="2928823"/>
            <a:ext cx="46725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2512650" y="2928823"/>
            <a:ext cx="60076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13111582" y="2928823"/>
            <a:ext cx="571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13674852" y="2928823"/>
            <a:ext cx="6099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</a:t>
            </a:r>
            <a:endParaRPr lang="en-US" sz="900" dirty="0"/>
          </a:p>
        </p:txBody>
      </p:sp>
      <p:sp>
        <p:nvSpPr>
          <p:cNvPr id="44" name="Text 36"/>
          <p:cNvSpPr txBox="1"/>
          <p:nvPr/>
        </p:nvSpPr>
        <p:spPr>
          <a:xfrm>
            <a:off x="14284757" y="2928823"/>
            <a:ext cx="46725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14745614" y="2928823"/>
            <a:ext cx="60076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15343632" y="2928823"/>
            <a:ext cx="571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15907817" y="2928823"/>
            <a:ext cx="5148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16417138" y="2928823"/>
            <a:ext cx="46725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16877995" y="2928823"/>
            <a:ext cx="60076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7476013" y="2928823"/>
            <a:ext cx="571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3372307" y="3228746"/>
            <a:ext cx="14668805" cy="647395"/>
          </a:xfrm>
          <a:prstGeom prst="rect">
            <a:avLst/>
          </a:prstGeom>
          <a:solidFill>
            <a:srgbClr val="FB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3372307" y="3866998"/>
            <a:ext cx="8092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3372307" y="3228746"/>
            <a:ext cx="810158" cy="4672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800" dirty="0"/>
          </a:p>
        </p:txBody>
      </p:sp>
      <p:sp>
        <p:nvSpPr>
          <p:cNvPr id="54" name="Shape 46"/>
          <p:cNvSpPr/>
          <p:nvPr/>
        </p:nvSpPr>
        <p:spPr>
          <a:xfrm>
            <a:off x="4175150" y="3866998"/>
            <a:ext cx="6382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4807001" y="3866998"/>
            <a:ext cx="16952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4807001" y="3228746"/>
            <a:ext cx="1696212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25.0</a:t>
            </a:r>
            <a:endParaRPr lang="en-US" sz="1500" dirty="0"/>
          </a:p>
        </p:txBody>
      </p:sp>
      <p:sp>
        <p:nvSpPr>
          <p:cNvPr id="57" name="Shape 49"/>
          <p:cNvSpPr/>
          <p:nvPr/>
        </p:nvSpPr>
        <p:spPr>
          <a:xfrm>
            <a:off x="6495898" y="3866998"/>
            <a:ext cx="1609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6495898" y="3228746"/>
            <a:ext cx="1610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</a:t>
            </a:r>
            <a:endParaRPr lang="en-US" sz="1350" dirty="0"/>
          </a:p>
        </p:txBody>
      </p:sp>
      <p:sp>
        <p:nvSpPr>
          <p:cNvPr id="59" name="Shape 51"/>
          <p:cNvSpPr/>
          <p:nvPr/>
        </p:nvSpPr>
        <p:spPr>
          <a:xfrm>
            <a:off x="8097012" y="3866998"/>
            <a:ext cx="16861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8097012" y="3228746"/>
            <a:ext cx="1686154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3.8</a:t>
            </a:r>
            <a:endParaRPr lang="en-US" sz="1350" dirty="0"/>
          </a:p>
        </p:txBody>
      </p:sp>
      <p:sp>
        <p:nvSpPr>
          <p:cNvPr id="61" name="Shape 53"/>
          <p:cNvSpPr/>
          <p:nvPr/>
        </p:nvSpPr>
        <p:spPr>
          <a:xfrm>
            <a:off x="9779508" y="3866998"/>
            <a:ext cx="16669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9779508" y="3228746"/>
            <a:ext cx="166695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</a:t>
            </a:r>
            <a:endParaRPr lang="en-US" sz="1350" dirty="0"/>
          </a:p>
        </p:txBody>
      </p:sp>
      <p:sp>
        <p:nvSpPr>
          <p:cNvPr id="63" name="Shape 55"/>
          <p:cNvSpPr/>
          <p:nvPr/>
        </p:nvSpPr>
        <p:spPr>
          <a:xfrm>
            <a:off x="11441887" y="3866998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11441887" y="3228746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18.0</a:t>
            </a:r>
            <a:endParaRPr lang="en-US" sz="1500" dirty="0"/>
          </a:p>
        </p:txBody>
      </p:sp>
      <p:sp>
        <p:nvSpPr>
          <p:cNvPr id="65" name="Shape 57"/>
          <p:cNvSpPr/>
          <p:nvPr/>
        </p:nvSpPr>
        <p:spPr>
          <a:xfrm>
            <a:off x="12051792" y="3866998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12051792" y="322874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</a:t>
            </a:r>
            <a:endParaRPr lang="en-US" sz="1350" dirty="0"/>
          </a:p>
        </p:txBody>
      </p:sp>
      <p:sp>
        <p:nvSpPr>
          <p:cNvPr id="67" name="Shape 59"/>
          <p:cNvSpPr/>
          <p:nvPr/>
        </p:nvSpPr>
        <p:spPr>
          <a:xfrm>
            <a:off x="12512650" y="3866998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12512650" y="322874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2.6</a:t>
            </a:r>
            <a:endParaRPr lang="en-US" sz="1350" dirty="0"/>
          </a:p>
        </p:txBody>
      </p:sp>
      <p:sp>
        <p:nvSpPr>
          <p:cNvPr id="69" name="Shape 61"/>
          <p:cNvSpPr/>
          <p:nvPr/>
        </p:nvSpPr>
        <p:spPr>
          <a:xfrm>
            <a:off x="13111582" y="3866998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13111582" y="322874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</a:t>
            </a:r>
            <a:endParaRPr lang="en-US" sz="1350" dirty="0"/>
          </a:p>
        </p:txBody>
      </p:sp>
      <p:sp>
        <p:nvSpPr>
          <p:cNvPr id="71" name="Shape 63"/>
          <p:cNvSpPr/>
          <p:nvPr/>
        </p:nvSpPr>
        <p:spPr>
          <a:xfrm>
            <a:off x="13674852" y="3866998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2" name="Text 64"/>
          <p:cNvSpPr txBox="1"/>
          <p:nvPr/>
        </p:nvSpPr>
        <p:spPr>
          <a:xfrm>
            <a:off x="13674852" y="3228746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9.8</a:t>
            </a:r>
            <a:endParaRPr lang="en-US" sz="1500" dirty="0"/>
          </a:p>
        </p:txBody>
      </p:sp>
      <p:sp>
        <p:nvSpPr>
          <p:cNvPr id="73" name="Shape 65"/>
          <p:cNvSpPr/>
          <p:nvPr/>
        </p:nvSpPr>
        <p:spPr>
          <a:xfrm>
            <a:off x="14284757" y="3866998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4" name="Text 66"/>
          <p:cNvSpPr txBox="1"/>
          <p:nvPr/>
        </p:nvSpPr>
        <p:spPr>
          <a:xfrm>
            <a:off x="14284757" y="322874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</a:t>
            </a:r>
            <a:endParaRPr lang="en-US" sz="1350" dirty="0"/>
          </a:p>
        </p:txBody>
      </p:sp>
      <p:sp>
        <p:nvSpPr>
          <p:cNvPr id="75" name="Shape 67"/>
          <p:cNvSpPr/>
          <p:nvPr/>
        </p:nvSpPr>
        <p:spPr>
          <a:xfrm>
            <a:off x="14745614" y="3866998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6" name="Text 68"/>
          <p:cNvSpPr txBox="1"/>
          <p:nvPr/>
        </p:nvSpPr>
        <p:spPr>
          <a:xfrm>
            <a:off x="14745614" y="322874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</a:t>
            </a:r>
            <a:endParaRPr lang="en-US" sz="1350" dirty="0"/>
          </a:p>
        </p:txBody>
      </p:sp>
      <p:sp>
        <p:nvSpPr>
          <p:cNvPr id="77" name="Shape 69"/>
          <p:cNvSpPr/>
          <p:nvPr/>
        </p:nvSpPr>
        <p:spPr>
          <a:xfrm>
            <a:off x="15343632" y="3866998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8" name="Text 70"/>
          <p:cNvSpPr txBox="1"/>
          <p:nvPr/>
        </p:nvSpPr>
        <p:spPr>
          <a:xfrm>
            <a:off x="15343632" y="322874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</a:t>
            </a:r>
            <a:endParaRPr lang="en-US" sz="1350" dirty="0"/>
          </a:p>
        </p:txBody>
      </p:sp>
      <p:sp>
        <p:nvSpPr>
          <p:cNvPr id="79" name="Shape 71"/>
          <p:cNvSpPr/>
          <p:nvPr/>
        </p:nvSpPr>
        <p:spPr>
          <a:xfrm>
            <a:off x="15907817" y="3866998"/>
            <a:ext cx="5148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15907817" y="3228746"/>
            <a:ext cx="5148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</a:t>
            </a:r>
            <a:endParaRPr lang="en-US" sz="1500" dirty="0"/>
          </a:p>
        </p:txBody>
      </p:sp>
      <p:sp>
        <p:nvSpPr>
          <p:cNvPr id="81" name="Shape 73"/>
          <p:cNvSpPr/>
          <p:nvPr/>
        </p:nvSpPr>
        <p:spPr>
          <a:xfrm>
            <a:off x="16417138" y="3866998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2" name="Text 74"/>
          <p:cNvSpPr txBox="1"/>
          <p:nvPr/>
        </p:nvSpPr>
        <p:spPr>
          <a:xfrm>
            <a:off x="16417138" y="322874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1350" dirty="0"/>
          </a:p>
        </p:txBody>
      </p:sp>
      <p:sp>
        <p:nvSpPr>
          <p:cNvPr id="83" name="Shape 75"/>
          <p:cNvSpPr/>
          <p:nvPr/>
        </p:nvSpPr>
        <p:spPr>
          <a:xfrm>
            <a:off x="16877995" y="3866998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4" name="Text 76"/>
          <p:cNvSpPr txBox="1"/>
          <p:nvPr/>
        </p:nvSpPr>
        <p:spPr>
          <a:xfrm>
            <a:off x="16877995" y="322874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</a:t>
            </a:r>
            <a:endParaRPr lang="en-US" sz="1350" dirty="0"/>
          </a:p>
        </p:txBody>
      </p:sp>
      <p:sp>
        <p:nvSpPr>
          <p:cNvPr id="85" name="Shape 77"/>
          <p:cNvSpPr/>
          <p:nvPr/>
        </p:nvSpPr>
        <p:spPr>
          <a:xfrm>
            <a:off x="17476013" y="3866998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6" name="Text 78"/>
          <p:cNvSpPr txBox="1"/>
          <p:nvPr/>
        </p:nvSpPr>
        <p:spPr>
          <a:xfrm>
            <a:off x="17476013" y="322874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</a:t>
            </a:r>
            <a:endParaRPr lang="en-US" sz="1350" dirty="0"/>
          </a:p>
        </p:txBody>
      </p:sp>
      <p:sp>
        <p:nvSpPr>
          <p:cNvPr id="87" name="Shape 79"/>
          <p:cNvSpPr/>
          <p:nvPr/>
        </p:nvSpPr>
        <p:spPr>
          <a:xfrm>
            <a:off x="3372307" y="3877056"/>
            <a:ext cx="14668805" cy="6473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0"/>
          <p:cNvSpPr/>
          <p:nvPr/>
        </p:nvSpPr>
        <p:spPr>
          <a:xfrm>
            <a:off x="3372307" y="4515307"/>
            <a:ext cx="8092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9" name="Text 81"/>
          <p:cNvSpPr txBox="1"/>
          <p:nvPr/>
        </p:nvSpPr>
        <p:spPr>
          <a:xfrm>
            <a:off x="3372307" y="3877056"/>
            <a:ext cx="810158" cy="4672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800" dirty="0"/>
          </a:p>
        </p:txBody>
      </p:sp>
      <p:sp>
        <p:nvSpPr>
          <p:cNvPr id="90" name="Shape 82"/>
          <p:cNvSpPr/>
          <p:nvPr/>
        </p:nvSpPr>
        <p:spPr>
          <a:xfrm>
            <a:off x="4175150" y="4515307"/>
            <a:ext cx="6382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4807001" y="4515307"/>
            <a:ext cx="16952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2" name="Text 84"/>
          <p:cNvSpPr txBox="1"/>
          <p:nvPr/>
        </p:nvSpPr>
        <p:spPr>
          <a:xfrm>
            <a:off x="4807001" y="3877056"/>
            <a:ext cx="1696212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24.7</a:t>
            </a:r>
            <a:endParaRPr lang="en-US" sz="1500" dirty="0"/>
          </a:p>
        </p:txBody>
      </p:sp>
      <p:sp>
        <p:nvSpPr>
          <p:cNvPr id="93" name="Shape 85"/>
          <p:cNvSpPr/>
          <p:nvPr/>
        </p:nvSpPr>
        <p:spPr>
          <a:xfrm>
            <a:off x="6495898" y="4515307"/>
            <a:ext cx="1609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4" name="Text 86"/>
          <p:cNvSpPr txBox="1"/>
          <p:nvPr/>
        </p:nvSpPr>
        <p:spPr>
          <a:xfrm>
            <a:off x="6495898" y="3877056"/>
            <a:ext cx="1610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endParaRPr lang="en-US" sz="1350" dirty="0"/>
          </a:p>
        </p:txBody>
      </p:sp>
      <p:sp>
        <p:nvSpPr>
          <p:cNvPr id="95" name="Shape 87"/>
          <p:cNvSpPr/>
          <p:nvPr/>
        </p:nvSpPr>
        <p:spPr>
          <a:xfrm>
            <a:off x="8097012" y="4515307"/>
            <a:ext cx="16861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6" name="Text 88"/>
          <p:cNvSpPr txBox="1"/>
          <p:nvPr/>
        </p:nvSpPr>
        <p:spPr>
          <a:xfrm>
            <a:off x="8097012" y="3877056"/>
            <a:ext cx="1686154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3.5</a:t>
            </a:r>
            <a:endParaRPr lang="en-US" sz="1350" dirty="0"/>
          </a:p>
        </p:txBody>
      </p:sp>
      <p:sp>
        <p:nvSpPr>
          <p:cNvPr id="97" name="Shape 89"/>
          <p:cNvSpPr/>
          <p:nvPr/>
        </p:nvSpPr>
        <p:spPr>
          <a:xfrm>
            <a:off x="9779508" y="4515307"/>
            <a:ext cx="16669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8" name="Text 90"/>
          <p:cNvSpPr txBox="1"/>
          <p:nvPr/>
        </p:nvSpPr>
        <p:spPr>
          <a:xfrm>
            <a:off x="9779508" y="3877056"/>
            <a:ext cx="166695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350" dirty="0"/>
          </a:p>
        </p:txBody>
      </p:sp>
      <p:sp>
        <p:nvSpPr>
          <p:cNvPr id="99" name="Shape 91"/>
          <p:cNvSpPr/>
          <p:nvPr/>
        </p:nvSpPr>
        <p:spPr>
          <a:xfrm>
            <a:off x="11441887" y="4515307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0" name="Text 92"/>
          <p:cNvSpPr txBox="1"/>
          <p:nvPr/>
        </p:nvSpPr>
        <p:spPr>
          <a:xfrm>
            <a:off x="11441887" y="3877056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17.8</a:t>
            </a:r>
            <a:endParaRPr lang="en-US" sz="1500" dirty="0"/>
          </a:p>
        </p:txBody>
      </p:sp>
      <p:sp>
        <p:nvSpPr>
          <p:cNvPr id="101" name="Shape 93"/>
          <p:cNvSpPr/>
          <p:nvPr/>
        </p:nvSpPr>
        <p:spPr>
          <a:xfrm>
            <a:off x="12051792" y="4515307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2" name="Text 94"/>
          <p:cNvSpPr txBox="1"/>
          <p:nvPr/>
        </p:nvSpPr>
        <p:spPr>
          <a:xfrm>
            <a:off x="12051792" y="387705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</a:t>
            </a:r>
            <a:endParaRPr lang="en-US" sz="1350" dirty="0"/>
          </a:p>
        </p:txBody>
      </p:sp>
      <p:sp>
        <p:nvSpPr>
          <p:cNvPr id="103" name="Shape 95"/>
          <p:cNvSpPr/>
          <p:nvPr/>
        </p:nvSpPr>
        <p:spPr>
          <a:xfrm>
            <a:off x="12512650" y="4515307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4" name="Text 96"/>
          <p:cNvSpPr txBox="1"/>
          <p:nvPr/>
        </p:nvSpPr>
        <p:spPr>
          <a:xfrm>
            <a:off x="12512650" y="387705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</a:t>
            </a:r>
            <a:endParaRPr lang="en-US" sz="1350" dirty="0"/>
          </a:p>
        </p:txBody>
      </p:sp>
      <p:sp>
        <p:nvSpPr>
          <p:cNvPr id="105" name="Shape 97"/>
          <p:cNvSpPr/>
          <p:nvPr/>
        </p:nvSpPr>
        <p:spPr>
          <a:xfrm>
            <a:off x="13111582" y="4515307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6" name="Text 98"/>
          <p:cNvSpPr txBox="1"/>
          <p:nvPr/>
        </p:nvSpPr>
        <p:spPr>
          <a:xfrm>
            <a:off x="13111582" y="387705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350" dirty="0"/>
          </a:p>
        </p:txBody>
      </p:sp>
      <p:sp>
        <p:nvSpPr>
          <p:cNvPr id="107" name="Shape 99"/>
          <p:cNvSpPr/>
          <p:nvPr/>
        </p:nvSpPr>
        <p:spPr>
          <a:xfrm>
            <a:off x="13674852" y="4515307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8" name="Text 100"/>
          <p:cNvSpPr txBox="1"/>
          <p:nvPr/>
        </p:nvSpPr>
        <p:spPr>
          <a:xfrm>
            <a:off x="13674852" y="3877056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</a:t>
            </a:r>
            <a:endParaRPr lang="en-US" sz="1500" dirty="0"/>
          </a:p>
        </p:txBody>
      </p:sp>
      <p:sp>
        <p:nvSpPr>
          <p:cNvPr id="109" name="Shape 101"/>
          <p:cNvSpPr/>
          <p:nvPr/>
        </p:nvSpPr>
        <p:spPr>
          <a:xfrm>
            <a:off x="14284757" y="4515307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0" name="Text 102"/>
          <p:cNvSpPr txBox="1"/>
          <p:nvPr/>
        </p:nvSpPr>
        <p:spPr>
          <a:xfrm>
            <a:off x="14284757" y="387705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</a:t>
            </a:r>
            <a:endParaRPr lang="en-US" sz="1350" dirty="0"/>
          </a:p>
        </p:txBody>
      </p:sp>
      <p:sp>
        <p:nvSpPr>
          <p:cNvPr id="111" name="Shape 103"/>
          <p:cNvSpPr/>
          <p:nvPr/>
        </p:nvSpPr>
        <p:spPr>
          <a:xfrm>
            <a:off x="14745614" y="4515307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2" name="Text 104"/>
          <p:cNvSpPr txBox="1"/>
          <p:nvPr/>
        </p:nvSpPr>
        <p:spPr>
          <a:xfrm>
            <a:off x="14745614" y="387705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</a:t>
            </a:r>
            <a:endParaRPr lang="en-US" sz="1350" dirty="0"/>
          </a:p>
        </p:txBody>
      </p:sp>
      <p:sp>
        <p:nvSpPr>
          <p:cNvPr id="113" name="Shape 105"/>
          <p:cNvSpPr/>
          <p:nvPr/>
        </p:nvSpPr>
        <p:spPr>
          <a:xfrm>
            <a:off x="15343632" y="4515307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4" name="Text 106"/>
          <p:cNvSpPr txBox="1"/>
          <p:nvPr/>
        </p:nvSpPr>
        <p:spPr>
          <a:xfrm>
            <a:off x="15343632" y="387705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350" dirty="0"/>
          </a:p>
        </p:txBody>
      </p:sp>
      <p:sp>
        <p:nvSpPr>
          <p:cNvPr id="115" name="Shape 107"/>
          <p:cNvSpPr/>
          <p:nvPr/>
        </p:nvSpPr>
        <p:spPr>
          <a:xfrm>
            <a:off x="15907817" y="4515307"/>
            <a:ext cx="5148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6" name="Text 108"/>
          <p:cNvSpPr txBox="1"/>
          <p:nvPr/>
        </p:nvSpPr>
        <p:spPr>
          <a:xfrm>
            <a:off x="15907817" y="3877056"/>
            <a:ext cx="5148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7.9</a:t>
            </a:r>
            <a:endParaRPr lang="en-US" sz="1500" dirty="0"/>
          </a:p>
        </p:txBody>
      </p:sp>
      <p:sp>
        <p:nvSpPr>
          <p:cNvPr id="117" name="Shape 109"/>
          <p:cNvSpPr/>
          <p:nvPr/>
        </p:nvSpPr>
        <p:spPr>
          <a:xfrm>
            <a:off x="16417138" y="4515307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8" name="Text 110"/>
          <p:cNvSpPr txBox="1"/>
          <p:nvPr/>
        </p:nvSpPr>
        <p:spPr>
          <a:xfrm>
            <a:off x="16417138" y="387705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1350" dirty="0"/>
          </a:p>
        </p:txBody>
      </p:sp>
      <p:sp>
        <p:nvSpPr>
          <p:cNvPr id="119" name="Shape 111"/>
          <p:cNvSpPr/>
          <p:nvPr/>
        </p:nvSpPr>
        <p:spPr>
          <a:xfrm>
            <a:off x="16877995" y="4515307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0" name="Text 112"/>
          <p:cNvSpPr txBox="1"/>
          <p:nvPr/>
        </p:nvSpPr>
        <p:spPr>
          <a:xfrm>
            <a:off x="16877995" y="387705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</a:t>
            </a:r>
            <a:endParaRPr lang="en-US" sz="1350" dirty="0"/>
          </a:p>
        </p:txBody>
      </p:sp>
      <p:sp>
        <p:nvSpPr>
          <p:cNvPr id="121" name="Shape 113"/>
          <p:cNvSpPr/>
          <p:nvPr/>
        </p:nvSpPr>
        <p:spPr>
          <a:xfrm>
            <a:off x="17476013" y="4515307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2" name="Text 114"/>
          <p:cNvSpPr txBox="1"/>
          <p:nvPr/>
        </p:nvSpPr>
        <p:spPr>
          <a:xfrm>
            <a:off x="17476013" y="387705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350" dirty="0"/>
          </a:p>
        </p:txBody>
      </p:sp>
      <p:sp>
        <p:nvSpPr>
          <p:cNvPr id="123" name="Shape 115"/>
          <p:cNvSpPr/>
          <p:nvPr/>
        </p:nvSpPr>
        <p:spPr>
          <a:xfrm>
            <a:off x="3372307" y="4524451"/>
            <a:ext cx="809244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24" name="Shape 116"/>
          <p:cNvSpPr/>
          <p:nvPr/>
        </p:nvSpPr>
        <p:spPr>
          <a:xfrm>
            <a:off x="3372307" y="5162702"/>
            <a:ext cx="8092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5" name="Text 117"/>
          <p:cNvSpPr txBox="1"/>
          <p:nvPr/>
        </p:nvSpPr>
        <p:spPr>
          <a:xfrm>
            <a:off x="3372307" y="4524451"/>
            <a:ext cx="810158" cy="4672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800" dirty="0"/>
          </a:p>
        </p:txBody>
      </p:sp>
      <p:sp>
        <p:nvSpPr>
          <p:cNvPr id="126" name="Shape 118"/>
          <p:cNvSpPr/>
          <p:nvPr/>
        </p:nvSpPr>
        <p:spPr>
          <a:xfrm>
            <a:off x="4175150" y="4524451"/>
            <a:ext cx="638251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27" name="Shape 119"/>
          <p:cNvSpPr/>
          <p:nvPr/>
        </p:nvSpPr>
        <p:spPr>
          <a:xfrm>
            <a:off x="4175150" y="5162702"/>
            <a:ext cx="6382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8" name="Shape 120"/>
          <p:cNvSpPr/>
          <p:nvPr/>
        </p:nvSpPr>
        <p:spPr>
          <a:xfrm>
            <a:off x="4807001" y="4524451"/>
            <a:ext cx="1695298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29" name="Shape 121"/>
          <p:cNvSpPr/>
          <p:nvPr/>
        </p:nvSpPr>
        <p:spPr>
          <a:xfrm>
            <a:off x="4807001" y="5162702"/>
            <a:ext cx="16952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30" name="Text 122"/>
          <p:cNvSpPr txBox="1"/>
          <p:nvPr/>
        </p:nvSpPr>
        <p:spPr>
          <a:xfrm>
            <a:off x="4807001" y="4524451"/>
            <a:ext cx="1696212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26.3</a:t>
            </a:r>
            <a:endParaRPr lang="en-US" sz="1500" dirty="0"/>
          </a:p>
        </p:txBody>
      </p:sp>
      <p:sp>
        <p:nvSpPr>
          <p:cNvPr id="131" name="Shape 123"/>
          <p:cNvSpPr/>
          <p:nvPr/>
        </p:nvSpPr>
        <p:spPr>
          <a:xfrm>
            <a:off x="6495898" y="4524451"/>
            <a:ext cx="1609344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32" name="Shape 124"/>
          <p:cNvSpPr/>
          <p:nvPr/>
        </p:nvSpPr>
        <p:spPr>
          <a:xfrm>
            <a:off x="6495898" y="5162702"/>
            <a:ext cx="1609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33" name="Text 125"/>
          <p:cNvSpPr txBox="1"/>
          <p:nvPr/>
        </p:nvSpPr>
        <p:spPr>
          <a:xfrm>
            <a:off x="6495898" y="4524451"/>
            <a:ext cx="1610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</a:t>
            </a:r>
            <a:endParaRPr lang="en-US" sz="1350" dirty="0"/>
          </a:p>
        </p:txBody>
      </p:sp>
      <p:sp>
        <p:nvSpPr>
          <p:cNvPr id="134" name="Shape 126"/>
          <p:cNvSpPr/>
          <p:nvPr/>
        </p:nvSpPr>
        <p:spPr>
          <a:xfrm>
            <a:off x="8097012" y="4524451"/>
            <a:ext cx="1686154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35" name="Shape 127"/>
          <p:cNvSpPr/>
          <p:nvPr/>
        </p:nvSpPr>
        <p:spPr>
          <a:xfrm>
            <a:off x="8097012" y="5162702"/>
            <a:ext cx="16861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36" name="Text 128"/>
          <p:cNvSpPr txBox="1"/>
          <p:nvPr/>
        </p:nvSpPr>
        <p:spPr>
          <a:xfrm>
            <a:off x="8097012" y="4524451"/>
            <a:ext cx="1686154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4.6</a:t>
            </a:r>
            <a:endParaRPr lang="en-US" sz="1350" dirty="0"/>
          </a:p>
        </p:txBody>
      </p:sp>
      <p:sp>
        <p:nvSpPr>
          <p:cNvPr id="137" name="Shape 129"/>
          <p:cNvSpPr/>
          <p:nvPr/>
        </p:nvSpPr>
        <p:spPr>
          <a:xfrm>
            <a:off x="9779508" y="4524451"/>
            <a:ext cx="1666951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38" name="Shape 130"/>
          <p:cNvSpPr/>
          <p:nvPr/>
        </p:nvSpPr>
        <p:spPr>
          <a:xfrm>
            <a:off x="9779508" y="5162702"/>
            <a:ext cx="16669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39" name="Text 131"/>
          <p:cNvSpPr txBox="1"/>
          <p:nvPr/>
        </p:nvSpPr>
        <p:spPr>
          <a:xfrm>
            <a:off x="9779508" y="4524451"/>
            <a:ext cx="166695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+1.5</a:t>
            </a:r>
            <a:endParaRPr lang="en-US" sz="1350" dirty="0"/>
          </a:p>
        </p:txBody>
      </p:sp>
      <p:sp>
        <p:nvSpPr>
          <p:cNvPr id="140" name="Shape 132"/>
          <p:cNvSpPr/>
          <p:nvPr/>
        </p:nvSpPr>
        <p:spPr>
          <a:xfrm>
            <a:off x="11441887" y="4524451"/>
            <a:ext cx="609905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41" name="Shape 133"/>
          <p:cNvSpPr/>
          <p:nvPr/>
        </p:nvSpPr>
        <p:spPr>
          <a:xfrm>
            <a:off x="11441887" y="5162702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42" name="Text 134"/>
          <p:cNvSpPr txBox="1"/>
          <p:nvPr/>
        </p:nvSpPr>
        <p:spPr>
          <a:xfrm>
            <a:off x="11441887" y="4524451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18.8</a:t>
            </a:r>
            <a:endParaRPr lang="en-US" sz="1500" dirty="0"/>
          </a:p>
        </p:txBody>
      </p:sp>
      <p:sp>
        <p:nvSpPr>
          <p:cNvPr id="143" name="Shape 135"/>
          <p:cNvSpPr/>
          <p:nvPr/>
        </p:nvSpPr>
        <p:spPr>
          <a:xfrm>
            <a:off x="12051792" y="4524451"/>
            <a:ext cx="466344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44" name="Shape 136"/>
          <p:cNvSpPr/>
          <p:nvPr/>
        </p:nvSpPr>
        <p:spPr>
          <a:xfrm>
            <a:off x="12051792" y="5162702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45" name="Text 137"/>
          <p:cNvSpPr txBox="1"/>
          <p:nvPr/>
        </p:nvSpPr>
        <p:spPr>
          <a:xfrm>
            <a:off x="12051792" y="4524451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endParaRPr lang="en-US" sz="1350" dirty="0"/>
          </a:p>
        </p:txBody>
      </p:sp>
      <p:sp>
        <p:nvSpPr>
          <p:cNvPr id="146" name="Shape 138"/>
          <p:cNvSpPr/>
          <p:nvPr/>
        </p:nvSpPr>
        <p:spPr>
          <a:xfrm>
            <a:off x="12512650" y="4524451"/>
            <a:ext cx="599846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47" name="Shape 139"/>
          <p:cNvSpPr/>
          <p:nvPr/>
        </p:nvSpPr>
        <p:spPr>
          <a:xfrm>
            <a:off x="12512650" y="5162702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48" name="Text 140"/>
          <p:cNvSpPr txBox="1"/>
          <p:nvPr/>
        </p:nvSpPr>
        <p:spPr>
          <a:xfrm>
            <a:off x="12512650" y="4524451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3.4</a:t>
            </a:r>
            <a:endParaRPr lang="en-US" sz="1350" dirty="0"/>
          </a:p>
        </p:txBody>
      </p:sp>
      <p:sp>
        <p:nvSpPr>
          <p:cNvPr id="149" name="Shape 141"/>
          <p:cNvSpPr/>
          <p:nvPr/>
        </p:nvSpPr>
        <p:spPr>
          <a:xfrm>
            <a:off x="13111582" y="4524451"/>
            <a:ext cx="571500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50" name="Shape 142"/>
          <p:cNvSpPr/>
          <p:nvPr/>
        </p:nvSpPr>
        <p:spPr>
          <a:xfrm>
            <a:off x="13111582" y="5162702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51" name="Text 143"/>
          <p:cNvSpPr txBox="1"/>
          <p:nvPr/>
        </p:nvSpPr>
        <p:spPr>
          <a:xfrm>
            <a:off x="13111582" y="4524451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</a:t>
            </a:r>
            <a:endParaRPr lang="en-US" sz="1350" dirty="0"/>
          </a:p>
        </p:txBody>
      </p:sp>
      <p:sp>
        <p:nvSpPr>
          <p:cNvPr id="152" name="Shape 144"/>
          <p:cNvSpPr/>
          <p:nvPr/>
        </p:nvSpPr>
        <p:spPr>
          <a:xfrm>
            <a:off x="13674852" y="4524451"/>
            <a:ext cx="609905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53" name="Shape 145"/>
          <p:cNvSpPr/>
          <p:nvPr/>
        </p:nvSpPr>
        <p:spPr>
          <a:xfrm>
            <a:off x="13674852" y="5162702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54" name="Text 146"/>
          <p:cNvSpPr txBox="1"/>
          <p:nvPr/>
        </p:nvSpPr>
        <p:spPr>
          <a:xfrm>
            <a:off x="13674852" y="4524451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10.5</a:t>
            </a:r>
            <a:endParaRPr lang="en-US" sz="1500" dirty="0"/>
          </a:p>
        </p:txBody>
      </p:sp>
      <p:sp>
        <p:nvSpPr>
          <p:cNvPr id="155" name="Shape 147"/>
          <p:cNvSpPr/>
          <p:nvPr/>
        </p:nvSpPr>
        <p:spPr>
          <a:xfrm>
            <a:off x="14284757" y="4524451"/>
            <a:ext cx="466344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56" name="Shape 148"/>
          <p:cNvSpPr/>
          <p:nvPr/>
        </p:nvSpPr>
        <p:spPr>
          <a:xfrm>
            <a:off x="14284757" y="5162702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57" name="Text 149"/>
          <p:cNvSpPr txBox="1"/>
          <p:nvPr/>
        </p:nvSpPr>
        <p:spPr>
          <a:xfrm>
            <a:off x="14284757" y="4524451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</a:t>
            </a:r>
            <a:endParaRPr lang="en-US" sz="1350" dirty="0"/>
          </a:p>
        </p:txBody>
      </p:sp>
      <p:sp>
        <p:nvSpPr>
          <p:cNvPr id="158" name="Shape 150"/>
          <p:cNvSpPr/>
          <p:nvPr/>
        </p:nvSpPr>
        <p:spPr>
          <a:xfrm>
            <a:off x="14745614" y="4524451"/>
            <a:ext cx="599846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59" name="Shape 151"/>
          <p:cNvSpPr/>
          <p:nvPr/>
        </p:nvSpPr>
        <p:spPr>
          <a:xfrm>
            <a:off x="14745614" y="5162702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60" name="Text 152"/>
          <p:cNvSpPr txBox="1"/>
          <p:nvPr/>
        </p:nvSpPr>
        <p:spPr>
          <a:xfrm>
            <a:off x="14745614" y="4524451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2.6</a:t>
            </a:r>
            <a:endParaRPr lang="en-US" sz="1350" dirty="0"/>
          </a:p>
        </p:txBody>
      </p:sp>
      <p:sp>
        <p:nvSpPr>
          <p:cNvPr id="161" name="Shape 153"/>
          <p:cNvSpPr/>
          <p:nvPr/>
        </p:nvSpPr>
        <p:spPr>
          <a:xfrm>
            <a:off x="15343632" y="4524451"/>
            <a:ext cx="571500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62" name="Shape 154"/>
          <p:cNvSpPr/>
          <p:nvPr/>
        </p:nvSpPr>
        <p:spPr>
          <a:xfrm>
            <a:off x="15343632" y="5162702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63" name="Text 155"/>
          <p:cNvSpPr txBox="1"/>
          <p:nvPr/>
        </p:nvSpPr>
        <p:spPr>
          <a:xfrm>
            <a:off x="15343632" y="4524451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+0.8</a:t>
            </a:r>
            <a:endParaRPr lang="en-US" sz="1350" dirty="0"/>
          </a:p>
        </p:txBody>
      </p:sp>
      <p:sp>
        <p:nvSpPr>
          <p:cNvPr id="164" name="Shape 156"/>
          <p:cNvSpPr/>
          <p:nvPr/>
        </p:nvSpPr>
        <p:spPr>
          <a:xfrm>
            <a:off x="15907817" y="4524451"/>
            <a:ext cx="514807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65" name="Shape 157"/>
          <p:cNvSpPr/>
          <p:nvPr/>
        </p:nvSpPr>
        <p:spPr>
          <a:xfrm>
            <a:off x="15907817" y="5162702"/>
            <a:ext cx="5148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66" name="Text 158"/>
          <p:cNvSpPr txBox="1"/>
          <p:nvPr/>
        </p:nvSpPr>
        <p:spPr>
          <a:xfrm>
            <a:off x="15907817" y="4524451"/>
            <a:ext cx="5148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8.7</a:t>
            </a:r>
            <a:endParaRPr lang="en-US" sz="1500" dirty="0"/>
          </a:p>
        </p:txBody>
      </p:sp>
      <p:sp>
        <p:nvSpPr>
          <p:cNvPr id="167" name="Shape 159"/>
          <p:cNvSpPr/>
          <p:nvPr/>
        </p:nvSpPr>
        <p:spPr>
          <a:xfrm>
            <a:off x="16417138" y="4524451"/>
            <a:ext cx="466344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68" name="Shape 160"/>
          <p:cNvSpPr/>
          <p:nvPr/>
        </p:nvSpPr>
        <p:spPr>
          <a:xfrm>
            <a:off x="16417138" y="5162702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69" name="Text 161"/>
          <p:cNvSpPr txBox="1"/>
          <p:nvPr/>
        </p:nvSpPr>
        <p:spPr>
          <a:xfrm>
            <a:off x="16417138" y="4524451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</a:t>
            </a:r>
            <a:endParaRPr lang="en-US" sz="1350" dirty="0"/>
          </a:p>
        </p:txBody>
      </p:sp>
      <p:sp>
        <p:nvSpPr>
          <p:cNvPr id="170" name="Shape 162"/>
          <p:cNvSpPr/>
          <p:nvPr/>
        </p:nvSpPr>
        <p:spPr>
          <a:xfrm>
            <a:off x="16877995" y="4524451"/>
            <a:ext cx="599846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71" name="Shape 163"/>
          <p:cNvSpPr/>
          <p:nvPr/>
        </p:nvSpPr>
        <p:spPr>
          <a:xfrm>
            <a:off x="16877995" y="5162702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72" name="Text 164"/>
          <p:cNvSpPr txBox="1"/>
          <p:nvPr/>
        </p:nvSpPr>
        <p:spPr>
          <a:xfrm>
            <a:off x="16877995" y="4524451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</a:t>
            </a:r>
            <a:endParaRPr lang="en-US" sz="1350" dirty="0"/>
          </a:p>
        </p:txBody>
      </p:sp>
      <p:sp>
        <p:nvSpPr>
          <p:cNvPr id="173" name="Shape 165"/>
          <p:cNvSpPr/>
          <p:nvPr/>
        </p:nvSpPr>
        <p:spPr>
          <a:xfrm>
            <a:off x="17476013" y="4524451"/>
            <a:ext cx="571500" cy="647395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74" name="Shape 166"/>
          <p:cNvSpPr/>
          <p:nvPr/>
        </p:nvSpPr>
        <p:spPr>
          <a:xfrm>
            <a:off x="17476013" y="5162702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75" name="Text 167"/>
          <p:cNvSpPr txBox="1"/>
          <p:nvPr/>
        </p:nvSpPr>
        <p:spPr>
          <a:xfrm>
            <a:off x="17476013" y="4524451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+0.7</a:t>
            </a:r>
            <a:endParaRPr lang="en-US" sz="1350" dirty="0"/>
          </a:p>
        </p:txBody>
      </p:sp>
      <p:sp>
        <p:nvSpPr>
          <p:cNvPr id="176" name="Shape 168"/>
          <p:cNvSpPr/>
          <p:nvPr/>
        </p:nvSpPr>
        <p:spPr>
          <a:xfrm>
            <a:off x="3372307" y="5171846"/>
            <a:ext cx="809244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77" name="Shape 169"/>
          <p:cNvSpPr/>
          <p:nvPr/>
        </p:nvSpPr>
        <p:spPr>
          <a:xfrm>
            <a:off x="3372307" y="5810098"/>
            <a:ext cx="8092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78" name="Text 170"/>
          <p:cNvSpPr txBox="1"/>
          <p:nvPr/>
        </p:nvSpPr>
        <p:spPr>
          <a:xfrm>
            <a:off x="3372307" y="5171846"/>
            <a:ext cx="810158" cy="4672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W04</a:t>
            </a:r>
            <a:endParaRPr lang="en-US" sz="1800" dirty="0"/>
          </a:p>
        </p:txBody>
      </p:sp>
      <p:sp>
        <p:nvSpPr>
          <p:cNvPr id="179" name="Shape 171"/>
          <p:cNvSpPr/>
          <p:nvPr/>
        </p:nvSpPr>
        <p:spPr>
          <a:xfrm>
            <a:off x="4175150" y="5171846"/>
            <a:ext cx="638251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80" name="Shape 172"/>
          <p:cNvSpPr/>
          <p:nvPr/>
        </p:nvSpPr>
        <p:spPr>
          <a:xfrm>
            <a:off x="4175150" y="5810098"/>
            <a:ext cx="6382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81" name="Shape 173"/>
          <p:cNvSpPr/>
          <p:nvPr/>
        </p:nvSpPr>
        <p:spPr>
          <a:xfrm>
            <a:off x="4807001" y="5171846"/>
            <a:ext cx="1695298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82" name="Shape 174"/>
          <p:cNvSpPr/>
          <p:nvPr/>
        </p:nvSpPr>
        <p:spPr>
          <a:xfrm>
            <a:off x="4807001" y="5810098"/>
            <a:ext cx="16952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83" name="Text 175"/>
          <p:cNvSpPr txBox="1"/>
          <p:nvPr/>
        </p:nvSpPr>
        <p:spPr>
          <a:xfrm>
            <a:off x="4807001" y="5171846"/>
            <a:ext cx="1696212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25.9</a:t>
            </a:r>
            <a:endParaRPr lang="en-US" sz="1500" dirty="0"/>
          </a:p>
        </p:txBody>
      </p:sp>
      <p:sp>
        <p:nvSpPr>
          <p:cNvPr id="184" name="Shape 176"/>
          <p:cNvSpPr/>
          <p:nvPr/>
        </p:nvSpPr>
        <p:spPr>
          <a:xfrm>
            <a:off x="6495898" y="5171846"/>
            <a:ext cx="1609344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85" name="Shape 177"/>
          <p:cNvSpPr/>
          <p:nvPr/>
        </p:nvSpPr>
        <p:spPr>
          <a:xfrm>
            <a:off x="6495898" y="5810098"/>
            <a:ext cx="1609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86" name="Text 178"/>
          <p:cNvSpPr txBox="1"/>
          <p:nvPr/>
        </p:nvSpPr>
        <p:spPr>
          <a:xfrm>
            <a:off x="6495898" y="5171846"/>
            <a:ext cx="1610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</a:t>
            </a:r>
            <a:endParaRPr lang="en-US" sz="1350" dirty="0"/>
          </a:p>
        </p:txBody>
      </p:sp>
      <p:sp>
        <p:nvSpPr>
          <p:cNvPr id="187" name="Shape 179"/>
          <p:cNvSpPr/>
          <p:nvPr/>
        </p:nvSpPr>
        <p:spPr>
          <a:xfrm>
            <a:off x="8097012" y="5171846"/>
            <a:ext cx="1686154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88" name="Shape 180"/>
          <p:cNvSpPr/>
          <p:nvPr/>
        </p:nvSpPr>
        <p:spPr>
          <a:xfrm>
            <a:off x="8097012" y="5810098"/>
            <a:ext cx="16861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89" name="Text 181"/>
          <p:cNvSpPr txBox="1"/>
          <p:nvPr/>
        </p:nvSpPr>
        <p:spPr>
          <a:xfrm>
            <a:off x="8097012" y="5171846"/>
            <a:ext cx="1686154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4.4</a:t>
            </a:r>
            <a:endParaRPr lang="en-US" sz="1350" dirty="0"/>
          </a:p>
        </p:txBody>
      </p:sp>
      <p:sp>
        <p:nvSpPr>
          <p:cNvPr id="190" name="Shape 182"/>
          <p:cNvSpPr/>
          <p:nvPr/>
        </p:nvSpPr>
        <p:spPr>
          <a:xfrm>
            <a:off x="9779508" y="5171846"/>
            <a:ext cx="1666951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91" name="Shape 183"/>
          <p:cNvSpPr/>
          <p:nvPr/>
        </p:nvSpPr>
        <p:spPr>
          <a:xfrm>
            <a:off x="9779508" y="5810098"/>
            <a:ext cx="16669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92" name="Text 184"/>
          <p:cNvSpPr txBox="1"/>
          <p:nvPr/>
        </p:nvSpPr>
        <p:spPr>
          <a:xfrm>
            <a:off x="9779508" y="5171846"/>
            <a:ext cx="166695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+1.1</a:t>
            </a:r>
            <a:endParaRPr lang="en-US" sz="1350" dirty="0"/>
          </a:p>
        </p:txBody>
      </p:sp>
      <p:sp>
        <p:nvSpPr>
          <p:cNvPr id="193" name="Shape 185"/>
          <p:cNvSpPr/>
          <p:nvPr/>
        </p:nvSpPr>
        <p:spPr>
          <a:xfrm>
            <a:off x="11441887" y="5171846"/>
            <a:ext cx="609905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94" name="Shape 186"/>
          <p:cNvSpPr/>
          <p:nvPr/>
        </p:nvSpPr>
        <p:spPr>
          <a:xfrm>
            <a:off x="11441887" y="5810098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95" name="Text 187"/>
          <p:cNvSpPr txBox="1"/>
          <p:nvPr/>
        </p:nvSpPr>
        <p:spPr>
          <a:xfrm>
            <a:off x="11441887" y="5171846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18.6</a:t>
            </a:r>
            <a:endParaRPr lang="en-US" sz="1500" dirty="0"/>
          </a:p>
        </p:txBody>
      </p:sp>
      <p:sp>
        <p:nvSpPr>
          <p:cNvPr id="196" name="Shape 188"/>
          <p:cNvSpPr/>
          <p:nvPr/>
        </p:nvSpPr>
        <p:spPr>
          <a:xfrm>
            <a:off x="12051792" y="5171846"/>
            <a:ext cx="466344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97" name="Shape 189"/>
          <p:cNvSpPr/>
          <p:nvPr/>
        </p:nvSpPr>
        <p:spPr>
          <a:xfrm>
            <a:off x="12051792" y="5810098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98" name="Text 190"/>
          <p:cNvSpPr txBox="1"/>
          <p:nvPr/>
        </p:nvSpPr>
        <p:spPr>
          <a:xfrm>
            <a:off x="12051792" y="517184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350" dirty="0"/>
          </a:p>
        </p:txBody>
      </p:sp>
      <p:sp>
        <p:nvSpPr>
          <p:cNvPr id="199" name="Shape 191"/>
          <p:cNvSpPr/>
          <p:nvPr/>
        </p:nvSpPr>
        <p:spPr>
          <a:xfrm>
            <a:off x="12512650" y="5171846"/>
            <a:ext cx="599846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00" name="Shape 192"/>
          <p:cNvSpPr/>
          <p:nvPr/>
        </p:nvSpPr>
        <p:spPr>
          <a:xfrm>
            <a:off x="12512650" y="5810098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01" name="Text 193"/>
          <p:cNvSpPr txBox="1"/>
          <p:nvPr/>
        </p:nvSpPr>
        <p:spPr>
          <a:xfrm>
            <a:off x="12512650" y="517184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3.2</a:t>
            </a:r>
            <a:endParaRPr lang="en-US" sz="1350" dirty="0"/>
          </a:p>
        </p:txBody>
      </p:sp>
      <p:sp>
        <p:nvSpPr>
          <p:cNvPr id="202" name="Shape 194"/>
          <p:cNvSpPr/>
          <p:nvPr/>
        </p:nvSpPr>
        <p:spPr>
          <a:xfrm>
            <a:off x="13111582" y="5171846"/>
            <a:ext cx="571500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03" name="Shape 195"/>
          <p:cNvSpPr/>
          <p:nvPr/>
        </p:nvSpPr>
        <p:spPr>
          <a:xfrm>
            <a:off x="13111582" y="5810098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04" name="Text 196"/>
          <p:cNvSpPr txBox="1"/>
          <p:nvPr/>
        </p:nvSpPr>
        <p:spPr>
          <a:xfrm>
            <a:off x="13111582" y="517184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+0.7</a:t>
            </a:r>
            <a:endParaRPr lang="en-US" sz="1350" dirty="0"/>
          </a:p>
        </p:txBody>
      </p:sp>
      <p:sp>
        <p:nvSpPr>
          <p:cNvPr id="205" name="Shape 197"/>
          <p:cNvSpPr/>
          <p:nvPr/>
        </p:nvSpPr>
        <p:spPr>
          <a:xfrm>
            <a:off x="13674852" y="5171846"/>
            <a:ext cx="609905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06" name="Shape 198"/>
          <p:cNvSpPr/>
          <p:nvPr/>
        </p:nvSpPr>
        <p:spPr>
          <a:xfrm>
            <a:off x="13674852" y="5810098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07" name="Text 199"/>
          <p:cNvSpPr txBox="1"/>
          <p:nvPr/>
        </p:nvSpPr>
        <p:spPr>
          <a:xfrm>
            <a:off x="13674852" y="5171846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10.3</a:t>
            </a:r>
            <a:endParaRPr lang="en-US" sz="1500" dirty="0"/>
          </a:p>
        </p:txBody>
      </p:sp>
      <p:sp>
        <p:nvSpPr>
          <p:cNvPr id="208" name="Shape 200"/>
          <p:cNvSpPr/>
          <p:nvPr/>
        </p:nvSpPr>
        <p:spPr>
          <a:xfrm>
            <a:off x="14284757" y="5171846"/>
            <a:ext cx="466344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09" name="Shape 201"/>
          <p:cNvSpPr/>
          <p:nvPr/>
        </p:nvSpPr>
        <p:spPr>
          <a:xfrm>
            <a:off x="14284757" y="5810098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10" name="Text 202"/>
          <p:cNvSpPr txBox="1"/>
          <p:nvPr/>
        </p:nvSpPr>
        <p:spPr>
          <a:xfrm>
            <a:off x="14284757" y="517184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</a:t>
            </a:r>
            <a:endParaRPr lang="en-US" sz="1350" dirty="0"/>
          </a:p>
        </p:txBody>
      </p:sp>
      <p:sp>
        <p:nvSpPr>
          <p:cNvPr id="211" name="Shape 203"/>
          <p:cNvSpPr/>
          <p:nvPr/>
        </p:nvSpPr>
        <p:spPr>
          <a:xfrm>
            <a:off x="14745614" y="5171846"/>
            <a:ext cx="599846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12" name="Shape 204"/>
          <p:cNvSpPr/>
          <p:nvPr/>
        </p:nvSpPr>
        <p:spPr>
          <a:xfrm>
            <a:off x="14745614" y="5810098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13" name="Text 205"/>
          <p:cNvSpPr txBox="1"/>
          <p:nvPr/>
        </p:nvSpPr>
        <p:spPr>
          <a:xfrm>
            <a:off x="14745614" y="517184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</a:t>
            </a:r>
            <a:endParaRPr lang="en-US" sz="1350" dirty="0"/>
          </a:p>
        </p:txBody>
      </p:sp>
      <p:sp>
        <p:nvSpPr>
          <p:cNvPr id="214" name="Shape 206"/>
          <p:cNvSpPr/>
          <p:nvPr/>
        </p:nvSpPr>
        <p:spPr>
          <a:xfrm>
            <a:off x="15343632" y="5171846"/>
            <a:ext cx="571500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15" name="Shape 207"/>
          <p:cNvSpPr/>
          <p:nvPr/>
        </p:nvSpPr>
        <p:spPr>
          <a:xfrm>
            <a:off x="15343632" y="5810098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16" name="Text 208"/>
          <p:cNvSpPr txBox="1"/>
          <p:nvPr/>
        </p:nvSpPr>
        <p:spPr>
          <a:xfrm>
            <a:off x="15343632" y="517184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+0.6</a:t>
            </a:r>
            <a:endParaRPr lang="en-US" sz="1350" dirty="0"/>
          </a:p>
        </p:txBody>
      </p:sp>
      <p:sp>
        <p:nvSpPr>
          <p:cNvPr id="217" name="Shape 209"/>
          <p:cNvSpPr/>
          <p:nvPr/>
        </p:nvSpPr>
        <p:spPr>
          <a:xfrm>
            <a:off x="15907817" y="5171846"/>
            <a:ext cx="514807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18" name="Shape 210"/>
          <p:cNvSpPr/>
          <p:nvPr/>
        </p:nvSpPr>
        <p:spPr>
          <a:xfrm>
            <a:off x="15907817" y="5810098"/>
            <a:ext cx="5148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19" name="Text 211"/>
          <p:cNvSpPr txBox="1"/>
          <p:nvPr/>
        </p:nvSpPr>
        <p:spPr>
          <a:xfrm>
            <a:off x="15907817" y="5171846"/>
            <a:ext cx="5148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8.6</a:t>
            </a:r>
            <a:endParaRPr lang="en-US" sz="1500" dirty="0"/>
          </a:p>
        </p:txBody>
      </p:sp>
      <p:sp>
        <p:nvSpPr>
          <p:cNvPr id="220" name="Shape 212"/>
          <p:cNvSpPr/>
          <p:nvPr/>
        </p:nvSpPr>
        <p:spPr>
          <a:xfrm>
            <a:off x="16417138" y="5171846"/>
            <a:ext cx="466344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21" name="Shape 213"/>
          <p:cNvSpPr/>
          <p:nvPr/>
        </p:nvSpPr>
        <p:spPr>
          <a:xfrm>
            <a:off x="16417138" y="5810098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22" name="Text 214"/>
          <p:cNvSpPr txBox="1"/>
          <p:nvPr/>
        </p:nvSpPr>
        <p:spPr>
          <a:xfrm>
            <a:off x="16417138" y="517184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</a:t>
            </a:r>
            <a:endParaRPr lang="en-US" sz="1350" dirty="0"/>
          </a:p>
        </p:txBody>
      </p:sp>
      <p:sp>
        <p:nvSpPr>
          <p:cNvPr id="223" name="Shape 215"/>
          <p:cNvSpPr/>
          <p:nvPr/>
        </p:nvSpPr>
        <p:spPr>
          <a:xfrm>
            <a:off x="16877995" y="5171846"/>
            <a:ext cx="599846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24" name="Shape 216"/>
          <p:cNvSpPr/>
          <p:nvPr/>
        </p:nvSpPr>
        <p:spPr>
          <a:xfrm>
            <a:off x="16877995" y="5810098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25" name="Text 217"/>
          <p:cNvSpPr txBox="1"/>
          <p:nvPr/>
        </p:nvSpPr>
        <p:spPr>
          <a:xfrm>
            <a:off x="16877995" y="517184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</a:t>
            </a:r>
            <a:endParaRPr lang="en-US" sz="1350" dirty="0"/>
          </a:p>
        </p:txBody>
      </p:sp>
      <p:sp>
        <p:nvSpPr>
          <p:cNvPr id="226" name="Shape 218"/>
          <p:cNvSpPr/>
          <p:nvPr/>
        </p:nvSpPr>
        <p:spPr>
          <a:xfrm>
            <a:off x="17476013" y="5171846"/>
            <a:ext cx="571500" cy="647395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227" name="Shape 219"/>
          <p:cNvSpPr/>
          <p:nvPr/>
        </p:nvSpPr>
        <p:spPr>
          <a:xfrm>
            <a:off x="17476013" y="5810098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28" name="Text 220"/>
          <p:cNvSpPr txBox="1"/>
          <p:nvPr/>
        </p:nvSpPr>
        <p:spPr>
          <a:xfrm>
            <a:off x="17476013" y="517184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+0.6</a:t>
            </a:r>
            <a:endParaRPr lang="en-US" sz="1350" dirty="0"/>
          </a:p>
        </p:txBody>
      </p:sp>
      <p:sp>
        <p:nvSpPr>
          <p:cNvPr id="229" name="Shape 221"/>
          <p:cNvSpPr/>
          <p:nvPr/>
        </p:nvSpPr>
        <p:spPr>
          <a:xfrm>
            <a:off x="3372307" y="5820156"/>
            <a:ext cx="809244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30" name="Shape 222"/>
          <p:cNvSpPr/>
          <p:nvPr/>
        </p:nvSpPr>
        <p:spPr>
          <a:xfrm>
            <a:off x="3372307" y="6458407"/>
            <a:ext cx="8092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31" name="Text 223"/>
          <p:cNvSpPr txBox="1"/>
          <p:nvPr/>
        </p:nvSpPr>
        <p:spPr>
          <a:xfrm>
            <a:off x="3372307" y="5820156"/>
            <a:ext cx="810158" cy="4672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W05</a:t>
            </a:r>
            <a:endParaRPr lang="en-US" sz="1800" dirty="0"/>
          </a:p>
        </p:txBody>
      </p:sp>
      <p:sp>
        <p:nvSpPr>
          <p:cNvPr id="232" name="Shape 224"/>
          <p:cNvSpPr/>
          <p:nvPr/>
        </p:nvSpPr>
        <p:spPr>
          <a:xfrm>
            <a:off x="4175150" y="5820156"/>
            <a:ext cx="638251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33" name="Shape 225"/>
          <p:cNvSpPr/>
          <p:nvPr/>
        </p:nvSpPr>
        <p:spPr>
          <a:xfrm>
            <a:off x="4175150" y="6458407"/>
            <a:ext cx="6382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34" name="Shape 226"/>
          <p:cNvSpPr/>
          <p:nvPr/>
        </p:nvSpPr>
        <p:spPr>
          <a:xfrm>
            <a:off x="4807001" y="5820156"/>
            <a:ext cx="1695298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35" name="Shape 227"/>
          <p:cNvSpPr/>
          <p:nvPr/>
        </p:nvSpPr>
        <p:spPr>
          <a:xfrm>
            <a:off x="4807001" y="6458407"/>
            <a:ext cx="16952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36" name="Text 228"/>
          <p:cNvSpPr txBox="1"/>
          <p:nvPr/>
        </p:nvSpPr>
        <p:spPr>
          <a:xfrm>
            <a:off x="4807001" y="5820156"/>
            <a:ext cx="1696212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23.6</a:t>
            </a:r>
            <a:endParaRPr lang="en-US" sz="1500" dirty="0"/>
          </a:p>
        </p:txBody>
      </p:sp>
      <p:sp>
        <p:nvSpPr>
          <p:cNvPr id="237" name="Shape 229"/>
          <p:cNvSpPr/>
          <p:nvPr/>
        </p:nvSpPr>
        <p:spPr>
          <a:xfrm>
            <a:off x="6495898" y="5820156"/>
            <a:ext cx="1609344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38" name="Shape 230"/>
          <p:cNvSpPr/>
          <p:nvPr/>
        </p:nvSpPr>
        <p:spPr>
          <a:xfrm>
            <a:off x="6495898" y="6458407"/>
            <a:ext cx="1609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39" name="Text 231"/>
          <p:cNvSpPr txBox="1"/>
          <p:nvPr/>
        </p:nvSpPr>
        <p:spPr>
          <a:xfrm>
            <a:off x="6495898" y="5820156"/>
            <a:ext cx="1610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</a:t>
            </a:r>
            <a:endParaRPr lang="en-US" sz="1350" dirty="0"/>
          </a:p>
        </p:txBody>
      </p:sp>
      <p:sp>
        <p:nvSpPr>
          <p:cNvPr id="240" name="Shape 232"/>
          <p:cNvSpPr/>
          <p:nvPr/>
        </p:nvSpPr>
        <p:spPr>
          <a:xfrm>
            <a:off x="8097012" y="5820156"/>
            <a:ext cx="1686154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41" name="Shape 233"/>
          <p:cNvSpPr/>
          <p:nvPr/>
        </p:nvSpPr>
        <p:spPr>
          <a:xfrm>
            <a:off x="8097012" y="6458407"/>
            <a:ext cx="16861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42" name="Text 234"/>
          <p:cNvSpPr txBox="1"/>
          <p:nvPr/>
        </p:nvSpPr>
        <p:spPr>
          <a:xfrm>
            <a:off x="8097012" y="5820156"/>
            <a:ext cx="1686154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4.0</a:t>
            </a:r>
            <a:endParaRPr lang="en-US" sz="1350" dirty="0"/>
          </a:p>
        </p:txBody>
      </p:sp>
      <p:sp>
        <p:nvSpPr>
          <p:cNvPr id="243" name="Shape 235"/>
          <p:cNvSpPr/>
          <p:nvPr/>
        </p:nvSpPr>
        <p:spPr>
          <a:xfrm>
            <a:off x="9779508" y="5820156"/>
            <a:ext cx="1666951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44" name="Shape 236"/>
          <p:cNvSpPr/>
          <p:nvPr/>
        </p:nvSpPr>
        <p:spPr>
          <a:xfrm>
            <a:off x="9779508" y="6458407"/>
            <a:ext cx="1666951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45" name="Text 237"/>
          <p:cNvSpPr txBox="1"/>
          <p:nvPr/>
        </p:nvSpPr>
        <p:spPr>
          <a:xfrm>
            <a:off x="9779508" y="5820156"/>
            <a:ext cx="166695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−1.2</a:t>
            </a:r>
            <a:endParaRPr lang="en-US" sz="1350" dirty="0"/>
          </a:p>
        </p:txBody>
      </p:sp>
      <p:sp>
        <p:nvSpPr>
          <p:cNvPr id="246" name="Shape 238"/>
          <p:cNvSpPr/>
          <p:nvPr/>
        </p:nvSpPr>
        <p:spPr>
          <a:xfrm>
            <a:off x="11441887" y="5820156"/>
            <a:ext cx="609905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47" name="Shape 239"/>
          <p:cNvSpPr/>
          <p:nvPr/>
        </p:nvSpPr>
        <p:spPr>
          <a:xfrm>
            <a:off x="11441887" y="6458407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48" name="Text 240"/>
          <p:cNvSpPr txBox="1"/>
          <p:nvPr/>
        </p:nvSpPr>
        <p:spPr>
          <a:xfrm>
            <a:off x="11441887" y="5820156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17.2</a:t>
            </a:r>
            <a:endParaRPr lang="en-US" sz="1500" dirty="0"/>
          </a:p>
        </p:txBody>
      </p:sp>
      <p:sp>
        <p:nvSpPr>
          <p:cNvPr id="249" name="Shape 241"/>
          <p:cNvSpPr/>
          <p:nvPr/>
        </p:nvSpPr>
        <p:spPr>
          <a:xfrm>
            <a:off x="12051792" y="5820156"/>
            <a:ext cx="466344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50" name="Shape 242"/>
          <p:cNvSpPr/>
          <p:nvPr/>
        </p:nvSpPr>
        <p:spPr>
          <a:xfrm>
            <a:off x="12051792" y="6458407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51" name="Text 243"/>
          <p:cNvSpPr txBox="1"/>
          <p:nvPr/>
        </p:nvSpPr>
        <p:spPr>
          <a:xfrm>
            <a:off x="12051792" y="582015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</a:t>
            </a:r>
            <a:endParaRPr lang="en-US" sz="1350" dirty="0"/>
          </a:p>
        </p:txBody>
      </p:sp>
      <p:sp>
        <p:nvSpPr>
          <p:cNvPr id="252" name="Shape 244"/>
          <p:cNvSpPr/>
          <p:nvPr/>
        </p:nvSpPr>
        <p:spPr>
          <a:xfrm>
            <a:off x="12512650" y="5820156"/>
            <a:ext cx="599846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53" name="Shape 245"/>
          <p:cNvSpPr/>
          <p:nvPr/>
        </p:nvSpPr>
        <p:spPr>
          <a:xfrm>
            <a:off x="12512650" y="6458407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54" name="Text 246"/>
          <p:cNvSpPr txBox="1"/>
          <p:nvPr/>
        </p:nvSpPr>
        <p:spPr>
          <a:xfrm>
            <a:off x="12512650" y="582015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2.8</a:t>
            </a:r>
            <a:endParaRPr lang="en-US" sz="1350" dirty="0"/>
          </a:p>
        </p:txBody>
      </p:sp>
      <p:sp>
        <p:nvSpPr>
          <p:cNvPr id="255" name="Shape 247"/>
          <p:cNvSpPr/>
          <p:nvPr/>
        </p:nvSpPr>
        <p:spPr>
          <a:xfrm>
            <a:off x="13111582" y="5820156"/>
            <a:ext cx="571500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56" name="Shape 248"/>
          <p:cNvSpPr/>
          <p:nvPr/>
        </p:nvSpPr>
        <p:spPr>
          <a:xfrm>
            <a:off x="13111582" y="6458407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57" name="Text 249"/>
          <p:cNvSpPr txBox="1"/>
          <p:nvPr/>
        </p:nvSpPr>
        <p:spPr>
          <a:xfrm>
            <a:off x="13111582" y="582015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−0.7</a:t>
            </a:r>
            <a:endParaRPr lang="en-US" sz="1350" dirty="0"/>
          </a:p>
        </p:txBody>
      </p:sp>
      <p:sp>
        <p:nvSpPr>
          <p:cNvPr id="258" name="Shape 250"/>
          <p:cNvSpPr/>
          <p:nvPr/>
        </p:nvSpPr>
        <p:spPr>
          <a:xfrm>
            <a:off x="13674852" y="5820156"/>
            <a:ext cx="609905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59" name="Shape 251"/>
          <p:cNvSpPr/>
          <p:nvPr/>
        </p:nvSpPr>
        <p:spPr>
          <a:xfrm>
            <a:off x="13674852" y="6458407"/>
            <a:ext cx="6099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60" name="Text 252"/>
          <p:cNvSpPr txBox="1"/>
          <p:nvPr/>
        </p:nvSpPr>
        <p:spPr>
          <a:xfrm>
            <a:off x="13674852" y="5820156"/>
            <a:ext cx="6099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</a:t>
            </a:r>
            <a:endParaRPr lang="en-US" sz="1500" dirty="0"/>
          </a:p>
        </p:txBody>
      </p:sp>
      <p:sp>
        <p:nvSpPr>
          <p:cNvPr id="261" name="Shape 253"/>
          <p:cNvSpPr/>
          <p:nvPr/>
        </p:nvSpPr>
        <p:spPr>
          <a:xfrm>
            <a:off x="14284757" y="5820156"/>
            <a:ext cx="466344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62" name="Shape 254"/>
          <p:cNvSpPr/>
          <p:nvPr/>
        </p:nvSpPr>
        <p:spPr>
          <a:xfrm>
            <a:off x="14284757" y="6458407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63" name="Text 255"/>
          <p:cNvSpPr txBox="1"/>
          <p:nvPr/>
        </p:nvSpPr>
        <p:spPr>
          <a:xfrm>
            <a:off x="14284757" y="582015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</a:t>
            </a:r>
            <a:endParaRPr lang="en-US" sz="1350" dirty="0"/>
          </a:p>
        </p:txBody>
      </p:sp>
      <p:sp>
        <p:nvSpPr>
          <p:cNvPr id="264" name="Shape 256"/>
          <p:cNvSpPr/>
          <p:nvPr/>
        </p:nvSpPr>
        <p:spPr>
          <a:xfrm>
            <a:off x="14745614" y="5820156"/>
            <a:ext cx="599846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65" name="Shape 257"/>
          <p:cNvSpPr/>
          <p:nvPr/>
        </p:nvSpPr>
        <p:spPr>
          <a:xfrm>
            <a:off x="14745614" y="6458407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66" name="Text 258"/>
          <p:cNvSpPr txBox="1"/>
          <p:nvPr/>
        </p:nvSpPr>
        <p:spPr>
          <a:xfrm>
            <a:off x="14745614" y="582015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</a:t>
            </a:r>
            <a:endParaRPr lang="en-US" sz="1350" dirty="0"/>
          </a:p>
        </p:txBody>
      </p:sp>
      <p:sp>
        <p:nvSpPr>
          <p:cNvPr id="267" name="Shape 259"/>
          <p:cNvSpPr/>
          <p:nvPr/>
        </p:nvSpPr>
        <p:spPr>
          <a:xfrm>
            <a:off x="15343632" y="5820156"/>
            <a:ext cx="571500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68" name="Shape 260"/>
          <p:cNvSpPr/>
          <p:nvPr/>
        </p:nvSpPr>
        <p:spPr>
          <a:xfrm>
            <a:off x="15343632" y="6458407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69" name="Text 261"/>
          <p:cNvSpPr txBox="1"/>
          <p:nvPr/>
        </p:nvSpPr>
        <p:spPr>
          <a:xfrm>
            <a:off x="15343632" y="582015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−0.7</a:t>
            </a:r>
            <a:endParaRPr lang="en-US" sz="1350" dirty="0"/>
          </a:p>
        </p:txBody>
      </p:sp>
      <p:sp>
        <p:nvSpPr>
          <p:cNvPr id="270" name="Shape 262"/>
          <p:cNvSpPr/>
          <p:nvPr/>
        </p:nvSpPr>
        <p:spPr>
          <a:xfrm>
            <a:off x="15907817" y="5820156"/>
            <a:ext cx="514807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71" name="Shape 263"/>
          <p:cNvSpPr/>
          <p:nvPr/>
        </p:nvSpPr>
        <p:spPr>
          <a:xfrm>
            <a:off x="15907817" y="6458407"/>
            <a:ext cx="5148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72" name="Text 264"/>
          <p:cNvSpPr txBox="1"/>
          <p:nvPr/>
        </p:nvSpPr>
        <p:spPr>
          <a:xfrm>
            <a:off x="15907817" y="5820156"/>
            <a:ext cx="5148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7.4</a:t>
            </a:r>
            <a:endParaRPr lang="en-US" sz="1500" dirty="0"/>
          </a:p>
        </p:txBody>
      </p:sp>
      <p:sp>
        <p:nvSpPr>
          <p:cNvPr id="273" name="Shape 265"/>
          <p:cNvSpPr/>
          <p:nvPr/>
        </p:nvSpPr>
        <p:spPr>
          <a:xfrm>
            <a:off x="16417138" y="5820156"/>
            <a:ext cx="466344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74" name="Shape 266"/>
          <p:cNvSpPr/>
          <p:nvPr/>
        </p:nvSpPr>
        <p:spPr>
          <a:xfrm>
            <a:off x="16417138" y="6458407"/>
            <a:ext cx="46634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75" name="Text 267"/>
          <p:cNvSpPr txBox="1"/>
          <p:nvPr/>
        </p:nvSpPr>
        <p:spPr>
          <a:xfrm>
            <a:off x="16417138" y="5820156"/>
            <a:ext cx="467258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</a:t>
            </a:r>
            <a:endParaRPr lang="en-US" sz="1350" dirty="0"/>
          </a:p>
        </p:txBody>
      </p:sp>
      <p:sp>
        <p:nvSpPr>
          <p:cNvPr id="276" name="Shape 268"/>
          <p:cNvSpPr/>
          <p:nvPr/>
        </p:nvSpPr>
        <p:spPr>
          <a:xfrm>
            <a:off x="16877995" y="5820156"/>
            <a:ext cx="599846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77" name="Shape 269"/>
          <p:cNvSpPr/>
          <p:nvPr/>
        </p:nvSpPr>
        <p:spPr>
          <a:xfrm>
            <a:off x="16877995" y="6458407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78" name="Text 270"/>
          <p:cNvSpPr txBox="1"/>
          <p:nvPr/>
        </p:nvSpPr>
        <p:spPr>
          <a:xfrm>
            <a:off x="16877995" y="5820156"/>
            <a:ext cx="600761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</a:t>
            </a:r>
            <a:endParaRPr lang="en-US" sz="1350" dirty="0"/>
          </a:p>
        </p:txBody>
      </p:sp>
      <p:sp>
        <p:nvSpPr>
          <p:cNvPr id="279" name="Shape 271"/>
          <p:cNvSpPr/>
          <p:nvPr/>
        </p:nvSpPr>
        <p:spPr>
          <a:xfrm>
            <a:off x="17476013" y="5820156"/>
            <a:ext cx="571500" cy="647395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280" name="Shape 272"/>
          <p:cNvSpPr/>
          <p:nvPr/>
        </p:nvSpPr>
        <p:spPr>
          <a:xfrm>
            <a:off x="17476013" y="6458407"/>
            <a:ext cx="571500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281" name="Text 273"/>
          <p:cNvSpPr txBox="1"/>
          <p:nvPr/>
        </p:nvSpPr>
        <p:spPr>
          <a:xfrm>
            <a:off x="17476013" y="5820156"/>
            <a:ext cx="5715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</a:t>
            </a:r>
            <a:endParaRPr lang="en-US" sz="1350" dirty="0"/>
          </a:p>
        </p:txBody>
      </p:sp>
      <p:sp>
        <p:nvSpPr>
          <p:cNvPr id="282" name="Text 274"/>
          <p:cNvSpPr txBox="1"/>
          <p:nvPr/>
        </p:nvSpPr>
        <p:spPr>
          <a:xfrm>
            <a:off x="3372307" y="6467551"/>
            <a:ext cx="810158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177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W06</a:t>
            </a:r>
            <a:endParaRPr lang="en-US" sz="1800" dirty="0"/>
          </a:p>
        </p:txBody>
      </p:sp>
      <p:sp>
        <p:nvSpPr>
          <p:cNvPr id="283" name="Shape 275"/>
          <p:cNvSpPr/>
          <p:nvPr/>
        </p:nvSpPr>
        <p:spPr>
          <a:xfrm>
            <a:off x="4175150" y="6467551"/>
            <a:ext cx="638251" cy="647395"/>
          </a:xfrm>
          <a:prstGeom prst="rect">
            <a:avLst/>
          </a:prstGeom>
          <a:solidFill>
            <a:srgbClr val="FB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Text 276"/>
          <p:cNvSpPr txBox="1"/>
          <p:nvPr/>
        </p:nvSpPr>
        <p:spPr>
          <a:xfrm>
            <a:off x="4807001" y="6467551"/>
            <a:ext cx="1696212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23.9</a:t>
            </a:r>
            <a:endParaRPr lang="en-US" sz="1500" dirty="0"/>
          </a:p>
        </p:txBody>
      </p:sp>
      <p:sp>
        <p:nvSpPr>
          <p:cNvPr id="285" name="Text 277"/>
          <p:cNvSpPr txBox="1"/>
          <p:nvPr/>
        </p:nvSpPr>
        <p:spPr>
          <a:xfrm>
            <a:off x="6495898" y="6467551"/>
            <a:ext cx="1610258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</a:t>
            </a:r>
            <a:endParaRPr lang="en-US" sz="1350" dirty="0"/>
          </a:p>
        </p:txBody>
      </p:sp>
      <p:sp>
        <p:nvSpPr>
          <p:cNvPr id="286" name="Text 278"/>
          <p:cNvSpPr txBox="1"/>
          <p:nvPr/>
        </p:nvSpPr>
        <p:spPr>
          <a:xfrm>
            <a:off x="8097012" y="6467551"/>
            <a:ext cx="1686154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3.9</a:t>
            </a:r>
            <a:endParaRPr lang="en-US" sz="1350" dirty="0"/>
          </a:p>
        </p:txBody>
      </p:sp>
      <p:sp>
        <p:nvSpPr>
          <p:cNvPr id="287" name="Text 279"/>
          <p:cNvSpPr txBox="1"/>
          <p:nvPr/>
        </p:nvSpPr>
        <p:spPr>
          <a:xfrm>
            <a:off x="9779508" y="6467551"/>
            <a:ext cx="1666951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−1.0</a:t>
            </a:r>
            <a:endParaRPr lang="en-US" sz="1350" dirty="0"/>
          </a:p>
        </p:txBody>
      </p:sp>
      <p:sp>
        <p:nvSpPr>
          <p:cNvPr id="288" name="Text 280"/>
          <p:cNvSpPr txBox="1"/>
          <p:nvPr/>
        </p:nvSpPr>
        <p:spPr>
          <a:xfrm>
            <a:off x="11441887" y="6467551"/>
            <a:ext cx="609905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17.4</a:t>
            </a:r>
            <a:endParaRPr lang="en-US" sz="1500" dirty="0"/>
          </a:p>
        </p:txBody>
      </p:sp>
      <p:sp>
        <p:nvSpPr>
          <p:cNvPr id="289" name="Text 281"/>
          <p:cNvSpPr txBox="1"/>
          <p:nvPr/>
        </p:nvSpPr>
        <p:spPr>
          <a:xfrm>
            <a:off x="12051792" y="6467551"/>
            <a:ext cx="467258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</a:t>
            </a:r>
            <a:endParaRPr lang="en-US" sz="1350" dirty="0"/>
          </a:p>
        </p:txBody>
      </p:sp>
      <p:sp>
        <p:nvSpPr>
          <p:cNvPr id="290" name="Text 282"/>
          <p:cNvSpPr txBox="1"/>
          <p:nvPr/>
        </p:nvSpPr>
        <p:spPr>
          <a:xfrm>
            <a:off x="12512650" y="6467551"/>
            <a:ext cx="600761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</a:t>
            </a:r>
            <a:endParaRPr lang="en-US" sz="1350" dirty="0"/>
          </a:p>
        </p:txBody>
      </p:sp>
      <p:sp>
        <p:nvSpPr>
          <p:cNvPr id="291" name="Text 283"/>
          <p:cNvSpPr txBox="1"/>
          <p:nvPr/>
        </p:nvSpPr>
        <p:spPr>
          <a:xfrm>
            <a:off x="13111582" y="6467551"/>
            <a:ext cx="571500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</a:t>
            </a:r>
            <a:endParaRPr lang="en-US" sz="1350" dirty="0"/>
          </a:p>
        </p:txBody>
      </p:sp>
      <p:sp>
        <p:nvSpPr>
          <p:cNvPr id="292" name="Text 284"/>
          <p:cNvSpPr txBox="1"/>
          <p:nvPr/>
        </p:nvSpPr>
        <p:spPr>
          <a:xfrm>
            <a:off x="13674852" y="6467551"/>
            <a:ext cx="609905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9.2</a:t>
            </a:r>
            <a:endParaRPr lang="en-US" sz="1500" dirty="0"/>
          </a:p>
        </p:txBody>
      </p:sp>
      <p:sp>
        <p:nvSpPr>
          <p:cNvPr id="293" name="Text 285"/>
          <p:cNvSpPr txBox="1"/>
          <p:nvPr/>
        </p:nvSpPr>
        <p:spPr>
          <a:xfrm>
            <a:off x="14284757" y="6467551"/>
            <a:ext cx="467258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</a:t>
            </a:r>
            <a:endParaRPr lang="en-US" sz="1350" dirty="0"/>
          </a:p>
        </p:txBody>
      </p:sp>
      <p:sp>
        <p:nvSpPr>
          <p:cNvPr id="294" name="Text 286"/>
          <p:cNvSpPr txBox="1"/>
          <p:nvPr/>
        </p:nvSpPr>
        <p:spPr>
          <a:xfrm>
            <a:off x="14745614" y="6467551"/>
            <a:ext cx="600761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350" dirty="0"/>
          </a:p>
        </p:txBody>
      </p:sp>
      <p:sp>
        <p:nvSpPr>
          <p:cNvPr id="295" name="Text 287"/>
          <p:cNvSpPr txBox="1"/>
          <p:nvPr/>
        </p:nvSpPr>
        <p:spPr>
          <a:xfrm>
            <a:off x="15343632" y="6467551"/>
            <a:ext cx="571500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</a:t>
            </a:r>
            <a:endParaRPr lang="en-US" sz="1350" dirty="0"/>
          </a:p>
        </p:txBody>
      </p:sp>
      <p:sp>
        <p:nvSpPr>
          <p:cNvPr id="296" name="Text 288"/>
          <p:cNvSpPr txBox="1"/>
          <p:nvPr/>
        </p:nvSpPr>
        <p:spPr>
          <a:xfrm>
            <a:off x="15907817" y="6467551"/>
            <a:ext cx="514807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7.5</a:t>
            </a:r>
            <a:endParaRPr lang="en-US" sz="1500" dirty="0"/>
          </a:p>
        </p:txBody>
      </p:sp>
      <p:sp>
        <p:nvSpPr>
          <p:cNvPr id="297" name="Text 289"/>
          <p:cNvSpPr txBox="1"/>
          <p:nvPr/>
        </p:nvSpPr>
        <p:spPr>
          <a:xfrm>
            <a:off x="16417138" y="6467551"/>
            <a:ext cx="467258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</a:t>
            </a:r>
            <a:endParaRPr lang="en-US" sz="1350" dirty="0"/>
          </a:p>
        </p:txBody>
      </p:sp>
      <p:sp>
        <p:nvSpPr>
          <p:cNvPr id="298" name="Text 290"/>
          <p:cNvSpPr txBox="1"/>
          <p:nvPr/>
        </p:nvSpPr>
        <p:spPr>
          <a:xfrm>
            <a:off x="16877995" y="6467551"/>
            <a:ext cx="600761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</a:t>
            </a:r>
            <a:endParaRPr lang="en-US" sz="1350" dirty="0"/>
          </a:p>
        </p:txBody>
      </p:sp>
      <p:sp>
        <p:nvSpPr>
          <p:cNvPr id="299" name="Text 291"/>
          <p:cNvSpPr txBox="1"/>
          <p:nvPr/>
        </p:nvSpPr>
        <p:spPr>
          <a:xfrm>
            <a:off x="17476013" y="6467551"/>
            <a:ext cx="571500" cy="648310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</a:t>
            </a:r>
            <a:endParaRPr lang="en-US" sz="1350" dirty="0"/>
          </a:p>
        </p:txBody>
      </p:sp>
      <p:sp>
        <p:nvSpPr>
          <p:cNvPr id="300" name="Shape 292"/>
          <p:cNvSpPr/>
          <p:nvPr/>
        </p:nvSpPr>
        <p:spPr>
          <a:xfrm>
            <a:off x="4231843" y="3429000"/>
            <a:ext cx="444398" cy="247802"/>
          </a:xfrm>
          <a:prstGeom prst="roundRect">
            <a:avLst>
              <a:gd name="adj" fmla="val 7749"/>
            </a:avLst>
          </a:prstGeom>
          <a:solidFill>
            <a:srgbClr val="1F5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Text 293"/>
          <p:cNvSpPr txBox="1"/>
          <p:nvPr/>
        </p:nvSpPr>
        <p:spPr>
          <a:xfrm>
            <a:off x="4231843" y="3429000"/>
            <a:ext cx="44531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8DC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050" dirty="0"/>
          </a:p>
        </p:txBody>
      </p:sp>
      <p:sp>
        <p:nvSpPr>
          <p:cNvPr id="302" name="Shape 294"/>
          <p:cNvSpPr/>
          <p:nvPr/>
        </p:nvSpPr>
        <p:spPr>
          <a:xfrm>
            <a:off x="4231843" y="4076395"/>
            <a:ext cx="444398" cy="247802"/>
          </a:xfrm>
          <a:prstGeom prst="roundRect">
            <a:avLst>
              <a:gd name="adj" fmla="val 7749"/>
            </a:avLst>
          </a:prstGeom>
          <a:solidFill>
            <a:srgbClr val="1F5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Text 295"/>
          <p:cNvSpPr txBox="1"/>
          <p:nvPr/>
        </p:nvSpPr>
        <p:spPr>
          <a:xfrm>
            <a:off x="4231843" y="4076395"/>
            <a:ext cx="44531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E8DC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050" dirty="0"/>
          </a:p>
        </p:txBody>
      </p:sp>
      <p:sp>
        <p:nvSpPr>
          <p:cNvPr id="304" name="Shape 296"/>
          <p:cNvSpPr/>
          <p:nvPr/>
        </p:nvSpPr>
        <p:spPr>
          <a:xfrm>
            <a:off x="4231843" y="4724705"/>
            <a:ext cx="444398" cy="247802"/>
          </a:xfrm>
          <a:prstGeom prst="roundRect">
            <a:avLst>
              <a:gd name="adj" fmla="val 7749"/>
            </a:avLst>
          </a:prstGeom>
          <a:solidFill>
            <a:srgbClr val="B048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Text 297"/>
          <p:cNvSpPr txBox="1"/>
          <p:nvPr/>
        </p:nvSpPr>
        <p:spPr>
          <a:xfrm>
            <a:off x="4231843" y="4724705"/>
            <a:ext cx="44531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050" dirty="0"/>
          </a:p>
        </p:txBody>
      </p:sp>
      <p:sp>
        <p:nvSpPr>
          <p:cNvPr id="306" name="Shape 298"/>
          <p:cNvSpPr/>
          <p:nvPr/>
        </p:nvSpPr>
        <p:spPr>
          <a:xfrm>
            <a:off x="4231843" y="5372100"/>
            <a:ext cx="444398" cy="247802"/>
          </a:xfrm>
          <a:prstGeom prst="roundRect">
            <a:avLst>
              <a:gd name="adj" fmla="val 7749"/>
            </a:avLst>
          </a:prstGeom>
          <a:solidFill>
            <a:srgbClr val="B048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Text 299"/>
          <p:cNvSpPr txBox="1"/>
          <p:nvPr/>
        </p:nvSpPr>
        <p:spPr>
          <a:xfrm>
            <a:off x="4231843" y="5372100"/>
            <a:ext cx="44531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050" dirty="0"/>
          </a:p>
        </p:txBody>
      </p:sp>
      <p:sp>
        <p:nvSpPr>
          <p:cNvPr id="308" name="Shape 300"/>
          <p:cNvSpPr/>
          <p:nvPr/>
        </p:nvSpPr>
        <p:spPr>
          <a:xfrm>
            <a:off x="4231843" y="6019495"/>
            <a:ext cx="444398" cy="247802"/>
          </a:xfrm>
          <a:prstGeom prst="roundRect">
            <a:avLst>
              <a:gd name="adj" fmla="val 7749"/>
            </a:avLst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Text 301"/>
          <p:cNvSpPr txBox="1"/>
          <p:nvPr/>
        </p:nvSpPr>
        <p:spPr>
          <a:xfrm>
            <a:off x="4231843" y="6019495"/>
            <a:ext cx="44531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F7F4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050" dirty="0"/>
          </a:p>
        </p:txBody>
      </p:sp>
      <p:sp>
        <p:nvSpPr>
          <p:cNvPr id="310" name="Shape 302"/>
          <p:cNvSpPr/>
          <p:nvPr/>
        </p:nvSpPr>
        <p:spPr>
          <a:xfrm>
            <a:off x="4231843" y="6667805"/>
            <a:ext cx="444398" cy="247802"/>
          </a:xfrm>
          <a:prstGeom prst="roundRect">
            <a:avLst>
              <a:gd name="adj" fmla="val 7749"/>
            </a:avLst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Text 303"/>
          <p:cNvSpPr txBox="1"/>
          <p:nvPr/>
        </p:nvSpPr>
        <p:spPr>
          <a:xfrm>
            <a:off x="4231843" y="6667805"/>
            <a:ext cx="44531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50" b="1" spc="105" kern="0" dirty="0">
                <a:solidFill>
                  <a:srgbClr val="F7F4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050" dirty="0"/>
          </a:p>
        </p:txBody>
      </p:sp>
      <p:sp>
        <p:nvSpPr>
          <p:cNvPr id="312" name="Text 304"/>
          <p:cNvSpPr txBox="1"/>
          <p:nvPr/>
        </p:nvSpPr>
        <p:spPr>
          <a:xfrm>
            <a:off x="3619195" y="8515807"/>
            <a:ext cx="9335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825" dirty="0"/>
          </a:p>
        </p:txBody>
      </p:sp>
      <p:sp>
        <p:nvSpPr>
          <p:cNvPr id="313" name="Text 305"/>
          <p:cNvSpPr txBox="1"/>
          <p:nvPr/>
        </p:nvSpPr>
        <p:spPr>
          <a:xfrm>
            <a:off x="3619195" y="8725205"/>
            <a:ext cx="9335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 A 두 wafer는 4 메트릭 모두 in-spec, Split B·C는 Δ 0.5–1.5 nm로 warn–fail 영역. Δ 누적 패턴은 split 간 offset과 wafer 내부 3σ 증가가 동시에 작용한 결과다.</a:t>
            </a:r>
            <a:endParaRPr lang="en-US" sz="1425" dirty="0"/>
          </a:p>
        </p:txBody>
      </p:sp>
      <p:sp>
        <p:nvSpPr>
          <p:cNvPr id="314" name="Text 306"/>
          <p:cNvSpPr txBox="1"/>
          <p:nvPr/>
        </p:nvSpPr>
        <p:spPr>
          <a:xfrm>
            <a:off x="3238805" y="981059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315" name="Text 307"/>
          <p:cNvSpPr txBox="1"/>
          <p:nvPr/>
        </p:nvSpPr>
        <p:spPr>
          <a:xfrm>
            <a:off x="14859000" y="9810598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76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07 · EUV-BEOL-EVAL · 04/15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573707" y="705002"/>
            <a:ext cx="3066898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72307" y="2667305"/>
            <a:ext cx="6305702" cy="5352898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72307" y="8172907"/>
            <a:ext cx="6286500" cy="12573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849002" y="8172907"/>
            <a:ext cx="7772400" cy="1257300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pic>
        <p:nvPicPr>
          <p:cNvPr id="8" name="Image 0" descr="gen-dedup-f86d6a16f92b2617556186968858095b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2857500" y="9658807"/>
            <a:ext cx="15430500" cy="9144"/>
          </a:xfrm>
          <a:prstGeom prst="rect">
            <a:avLst/>
          </a:prstGeom>
        </p:spPr>
      </p:pic>
      <p:pic>
        <p:nvPicPr>
          <p:cNvPr id="9" name="Image 1" descr="gen-dedup-eabc9b61793a980fb358930b866a1d61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57500" y="0"/>
            <a:ext cx="9144" cy="10287000"/>
          </a:xfrm>
          <a:prstGeom prst="rect">
            <a:avLst/>
          </a:prstGeom>
        </p:spPr>
      </p:pic>
      <p:pic>
        <p:nvPicPr>
          <p:cNvPr id="10" name="Image 2" descr="gen-dedup-fd2c33c645f6b3a00a0b08699c48d5b4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14573707" y="705002"/>
            <a:ext cx="38405" cy="1619402"/>
          </a:xfrm>
          <a:prstGeom prst="rect">
            <a:avLst/>
          </a:prstGeom>
        </p:spPr>
      </p:pic>
      <p:pic>
        <p:nvPicPr>
          <p:cNvPr id="11" name="Image 3" descr="gen-dedup-4ac609d10e3e3074053493c30979837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381305" y="5333695"/>
            <a:ext cx="571500" cy="914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81305" y="60990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04 / 15 · DUMMY</a:t>
            </a:r>
            <a:endParaRPr lang="en-US" sz="975" dirty="0"/>
          </a:p>
        </p:txBody>
      </p:sp>
      <p:sp>
        <p:nvSpPr>
          <p:cNvPr id="13" name="Text 6"/>
          <p:cNvSpPr txBox="1"/>
          <p:nvPr/>
        </p:nvSpPr>
        <p:spPr>
          <a:xfrm>
            <a:off x="381305" y="1619402"/>
            <a:ext cx="2286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5000" dirty="0"/>
          </a:p>
        </p:txBody>
      </p:sp>
      <p:sp>
        <p:nvSpPr>
          <p:cNvPr id="14" name="Text 7"/>
          <p:cNvSpPr txBox="1"/>
          <p:nvPr/>
        </p:nvSpPr>
        <p:spPr>
          <a:xfrm>
            <a:off x="381305" y="4095598"/>
            <a:ext cx="2095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균일도</a:t>
            </a:r>
            <a:endParaRPr lang="en-US" sz="2250" dirty="0"/>
          </a:p>
        </p:txBody>
      </p:sp>
      <p:sp>
        <p:nvSpPr>
          <p:cNvPr id="15" name="Text 8"/>
          <p:cNvSpPr txBox="1"/>
          <p:nvPr/>
        </p:nvSpPr>
        <p:spPr>
          <a:xfrm>
            <a:off x="381305" y="4600346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C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Uniformity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381305" y="5619902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 METRIC</a:t>
            </a:r>
            <a:endParaRPr lang="en-US" sz="975" dirty="0"/>
          </a:p>
        </p:txBody>
      </p:sp>
      <p:sp>
        <p:nvSpPr>
          <p:cNvPr id="17" name="Text 10"/>
          <p:cNvSpPr txBox="1"/>
          <p:nvPr/>
        </p:nvSpPr>
        <p:spPr>
          <a:xfrm>
            <a:off x="381305" y="5906110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· target 9.7 nm</a:t>
            </a:r>
            <a:endParaRPr lang="en-US" sz="1125" dirty="0"/>
          </a:p>
        </p:txBody>
      </p:sp>
      <p:sp>
        <p:nvSpPr>
          <p:cNvPr id="18" name="Text 11"/>
          <p:cNvSpPr txBox="1"/>
          <p:nvPr/>
        </p:nvSpPr>
        <p:spPr>
          <a:xfrm>
            <a:off x="381305" y="94302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 · CDU · M1</a:t>
            </a:r>
            <a:endParaRPr lang="en-US" sz="825" dirty="0"/>
          </a:p>
        </p:txBody>
      </p:sp>
      <p:pic>
        <p:nvPicPr>
          <p:cNvPr id="19" name="Image 4" descr="gen-dedup-d4e65b70a25d2ac1eabb51d81b5a3b33.png">    </p:cNvPr>
          <p:cNvPicPr>
            <a:picLocks noChangeAspect="1"/>
          </p:cNvPicPr>
          <p:nvPr/>
        </p:nvPicPr>
        <p:blipFill>
          <a:blip r:embed="rId5"/>
          <a:srcRect l="0" r="0" t="-343" b="-343"/>
          <a:stretch/>
        </p:blipFill>
        <p:spPr>
          <a:xfrm>
            <a:off x="3372307" y="776326"/>
            <a:ext cx="267005" cy="192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771900" y="705002"/>
            <a:ext cx="10195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05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3372307" y="1000354"/>
            <a:ext cx="10858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In-wafer 균일도와 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13-point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wafer map</a:t>
            </a:r>
            <a:endParaRPr lang="en-US" sz="4050" dirty="0"/>
          </a:p>
        </p:txBody>
      </p:sp>
      <p:sp>
        <p:nvSpPr>
          <p:cNvPr id="22" name="Text 14"/>
          <p:cNvSpPr txBox="1"/>
          <p:nvPr/>
        </p:nvSpPr>
        <p:spPr>
          <a:xfrm>
            <a:off x="14763902" y="857707"/>
            <a:ext cx="27148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14763902" y="1086307"/>
            <a:ext cx="2714854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W03 wafer map은 좌상 외곽 ring의 hot-zone과 좌측의 cold-point가 공존, GCDU 성분이 가장 강하게 나타난다.</a:t>
            </a:r>
            <a:endParaRPr lang="en-US" sz="1350" dirty="0"/>
          </a:p>
        </p:txBody>
      </p:sp>
      <p:sp>
        <p:nvSpPr>
          <p:cNvPr id="24" name="Text 16"/>
          <p:cNvSpPr txBox="1"/>
          <p:nvPr/>
        </p:nvSpPr>
        <p:spPr>
          <a:xfrm>
            <a:off x="3638398" y="2895905"/>
            <a:ext cx="199156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05.1</a:t>
            </a:r>
            <a:endParaRPr lang="en-US" sz="825" dirty="0"/>
          </a:p>
        </p:txBody>
      </p:sp>
      <p:sp>
        <p:nvSpPr>
          <p:cNvPr id="25" name="Text 17"/>
          <p:cNvSpPr txBox="1"/>
          <p:nvPr/>
        </p:nvSpPr>
        <p:spPr>
          <a:xfrm>
            <a:off x="3638398" y="3086100"/>
            <a:ext cx="23692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W03 · Split B · AMI 13-pt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8731606" y="2895905"/>
            <a:ext cx="667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25" dirty="0"/>
          </a:p>
        </p:txBody>
      </p:sp>
      <p:sp>
        <p:nvSpPr>
          <p:cNvPr id="27" name="Text 19"/>
          <p:cNvSpPr txBox="1"/>
          <p:nvPr/>
        </p:nvSpPr>
        <p:spPr>
          <a:xfrm>
            <a:off x="8617306" y="3047695"/>
            <a:ext cx="7818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9.7 nm</a:t>
            </a:r>
            <a:endParaRPr lang="en-US" sz="1650" dirty="0"/>
          </a:p>
        </p:txBody>
      </p:sp>
      <p:pic>
        <p:nvPicPr>
          <p:cNvPr id="28" name="Image 5" descr="gen-dedup-ada87e6c772173d688e21cdc5daf3fcb.png">    </p:cNvPr>
          <p:cNvPicPr>
            <a:picLocks noChangeAspect="1"/>
          </p:cNvPicPr>
          <p:nvPr/>
        </p:nvPicPr>
        <p:blipFill>
          <a:blip r:embed="rId6"/>
          <a:srcRect l="-2" r="-2" t="0" b="0"/>
          <a:stretch/>
        </p:blipFill>
        <p:spPr>
          <a:xfrm>
            <a:off x="3600907" y="3581705"/>
            <a:ext cx="5829300" cy="409559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600907" y="7733995"/>
            <a:ext cx="5907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in-spec</a:t>
            </a:r>
            <a:endParaRPr lang="en-US" sz="825" dirty="0"/>
          </a:p>
        </p:txBody>
      </p:sp>
      <p:sp>
        <p:nvSpPr>
          <p:cNvPr id="30" name="Text 21"/>
          <p:cNvSpPr txBox="1"/>
          <p:nvPr/>
        </p:nvSpPr>
        <p:spPr>
          <a:xfrm>
            <a:off x="4355287" y="7733995"/>
            <a:ext cx="4005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825" dirty="0"/>
          </a:p>
        </p:txBody>
      </p:sp>
      <p:sp>
        <p:nvSpPr>
          <p:cNvPr id="31" name="Text 22"/>
          <p:cNvSpPr txBox="1"/>
          <p:nvPr/>
        </p:nvSpPr>
        <p:spPr>
          <a:xfrm>
            <a:off x="4920386" y="7733995"/>
            <a:ext cx="4005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</a:t>
            </a:r>
            <a:endParaRPr lang="en-US" sz="825" dirty="0"/>
          </a:p>
        </p:txBody>
      </p:sp>
      <p:sp>
        <p:nvSpPr>
          <p:cNvPr id="32" name="Text 23"/>
          <p:cNvSpPr txBox="1"/>
          <p:nvPr/>
        </p:nvSpPr>
        <p:spPr>
          <a:xfrm>
            <a:off x="7795260" y="7733995"/>
            <a:ext cx="16386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depth 13 pt · 300 mm wafer</a:t>
            </a:r>
            <a:endParaRPr lang="en-US" sz="825" dirty="0"/>
          </a:p>
        </p:txBody>
      </p:sp>
      <p:pic>
        <p:nvPicPr>
          <p:cNvPr id="33" name="Image 6" descr="gen-dedup-4735817da196dd285dd251045dce5dad.png">    </p:cNvPr>
          <p:cNvPicPr>
            <a:picLocks noChangeAspect="1"/>
          </p:cNvPicPr>
          <p:nvPr/>
        </p:nvPicPr>
        <p:blipFill>
          <a:blip r:embed="rId7"/>
          <a:srcRect l="0" r="0" t="-343" b="-343"/>
          <a:stretch/>
        </p:blipFill>
        <p:spPr>
          <a:xfrm>
            <a:off x="9849002" y="2800807"/>
            <a:ext cx="267005" cy="1920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248595" y="2667305"/>
            <a:ext cx="174559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 wafer AMI 요약</a:t>
            </a:r>
            <a:endParaRPr lang="en-US" sz="1500" dirty="0"/>
          </a:p>
        </p:txBody>
      </p:sp>
      <p:sp>
        <p:nvSpPr>
          <p:cNvPr id="35" name="Shape 25"/>
          <p:cNvSpPr/>
          <p:nvPr/>
        </p:nvSpPr>
        <p:spPr>
          <a:xfrm>
            <a:off x="9849002" y="3124505"/>
            <a:ext cx="7772400" cy="409651"/>
          </a:xfrm>
          <a:prstGeom prst="rect">
            <a:avLst/>
          </a:prstGeom>
          <a:solidFill>
            <a:srgbClr val="1E22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9849002" y="3124505"/>
            <a:ext cx="60076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CDC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10447020" y="3124505"/>
            <a:ext cx="600761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CDC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11045038" y="3124505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62" kern="0" dirty="0">
                <a:solidFill>
                  <a:srgbClr val="CDC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1898173" y="3124505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62" kern="0" dirty="0">
                <a:solidFill>
                  <a:srgbClr val="CDC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12749479" y="3124505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62" kern="0" dirty="0">
                <a:solidFill>
                  <a:srgbClr val="CDC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Range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3602614" y="3124505"/>
            <a:ext cx="857707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62" kern="0" dirty="0">
                <a:solidFill>
                  <a:srgbClr val="CDC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vs T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14455750" y="3124505"/>
            <a:ext cx="3172054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CDC4A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9849002" y="3534156"/>
            <a:ext cx="7772400" cy="504749"/>
          </a:xfrm>
          <a:prstGeom prst="rect">
            <a:avLst/>
          </a:prstGeom>
          <a:solidFill>
            <a:srgbClr val="FB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849002" y="4029761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9849002" y="3534156"/>
            <a:ext cx="600761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350" dirty="0"/>
          </a:p>
        </p:txBody>
      </p:sp>
      <p:sp>
        <p:nvSpPr>
          <p:cNvPr id="46" name="Shape 36"/>
          <p:cNvSpPr/>
          <p:nvPr/>
        </p:nvSpPr>
        <p:spPr>
          <a:xfrm>
            <a:off x="10447020" y="4029761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11045038" y="4029761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11045038" y="3534156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9.8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11898173" y="4029761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11898173" y="3534156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</a:t>
            </a:r>
            <a:endParaRPr lang="en-US" sz="1200" dirty="0"/>
          </a:p>
        </p:txBody>
      </p:sp>
      <p:sp>
        <p:nvSpPr>
          <p:cNvPr id="51" name="Shape 41"/>
          <p:cNvSpPr/>
          <p:nvPr/>
        </p:nvSpPr>
        <p:spPr>
          <a:xfrm>
            <a:off x="12749479" y="4029761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12749479" y="3534156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13602614" y="4029761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13602614" y="3534156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</a:t>
            </a:r>
            <a:endParaRPr lang="en-US" sz="1200" dirty="0"/>
          </a:p>
        </p:txBody>
      </p:sp>
      <p:sp>
        <p:nvSpPr>
          <p:cNvPr id="55" name="Shape 45"/>
          <p:cNvSpPr/>
          <p:nvPr/>
        </p:nvSpPr>
        <p:spPr>
          <a:xfrm>
            <a:off x="14455750" y="4029761"/>
            <a:ext cx="31720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9849002" y="4033418"/>
            <a:ext cx="599846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47"/>
          <p:cNvSpPr/>
          <p:nvPr/>
        </p:nvSpPr>
        <p:spPr>
          <a:xfrm>
            <a:off x="9849002" y="4529023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9849002" y="4033418"/>
            <a:ext cx="600761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350" dirty="0"/>
          </a:p>
        </p:txBody>
      </p:sp>
      <p:sp>
        <p:nvSpPr>
          <p:cNvPr id="59" name="Shape 49"/>
          <p:cNvSpPr/>
          <p:nvPr/>
        </p:nvSpPr>
        <p:spPr>
          <a:xfrm>
            <a:off x="10447020" y="4033418"/>
            <a:ext cx="599846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0"/>
          <p:cNvSpPr/>
          <p:nvPr/>
        </p:nvSpPr>
        <p:spPr>
          <a:xfrm>
            <a:off x="10447020" y="4529023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11045038" y="4033418"/>
            <a:ext cx="857707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52"/>
          <p:cNvSpPr/>
          <p:nvPr/>
        </p:nvSpPr>
        <p:spPr>
          <a:xfrm>
            <a:off x="11045038" y="4529023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11045038" y="4033418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</a:t>
            </a:r>
            <a:endParaRPr lang="en-US" sz="1200" dirty="0"/>
          </a:p>
        </p:txBody>
      </p:sp>
      <p:sp>
        <p:nvSpPr>
          <p:cNvPr id="64" name="Shape 54"/>
          <p:cNvSpPr/>
          <p:nvPr/>
        </p:nvSpPr>
        <p:spPr>
          <a:xfrm>
            <a:off x="11898173" y="4033418"/>
            <a:ext cx="857707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55"/>
          <p:cNvSpPr/>
          <p:nvPr/>
        </p:nvSpPr>
        <p:spPr>
          <a:xfrm>
            <a:off x="11898173" y="4529023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11898173" y="4033418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</a:t>
            </a:r>
            <a:endParaRPr lang="en-US" sz="1200" dirty="0"/>
          </a:p>
        </p:txBody>
      </p:sp>
      <p:sp>
        <p:nvSpPr>
          <p:cNvPr id="67" name="Shape 57"/>
          <p:cNvSpPr/>
          <p:nvPr/>
        </p:nvSpPr>
        <p:spPr>
          <a:xfrm>
            <a:off x="12749479" y="4033418"/>
            <a:ext cx="857707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58"/>
          <p:cNvSpPr/>
          <p:nvPr/>
        </p:nvSpPr>
        <p:spPr>
          <a:xfrm>
            <a:off x="12749479" y="4529023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9" name="Text 59"/>
          <p:cNvSpPr txBox="1"/>
          <p:nvPr/>
        </p:nvSpPr>
        <p:spPr>
          <a:xfrm>
            <a:off x="12749479" y="4033418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</a:t>
            </a:r>
            <a:endParaRPr lang="en-US" sz="1200" dirty="0"/>
          </a:p>
        </p:txBody>
      </p:sp>
      <p:sp>
        <p:nvSpPr>
          <p:cNvPr id="70" name="Shape 60"/>
          <p:cNvSpPr/>
          <p:nvPr/>
        </p:nvSpPr>
        <p:spPr>
          <a:xfrm>
            <a:off x="13602614" y="4033418"/>
            <a:ext cx="857707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1"/>
          <p:cNvSpPr/>
          <p:nvPr/>
        </p:nvSpPr>
        <p:spPr>
          <a:xfrm>
            <a:off x="13602614" y="4529023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13602614" y="4033418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6B4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200" dirty="0"/>
          </a:p>
        </p:txBody>
      </p:sp>
      <p:sp>
        <p:nvSpPr>
          <p:cNvPr id="73" name="Shape 63"/>
          <p:cNvSpPr/>
          <p:nvPr/>
        </p:nvSpPr>
        <p:spPr>
          <a:xfrm>
            <a:off x="14455750" y="4033418"/>
            <a:ext cx="3172054" cy="504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64"/>
          <p:cNvSpPr/>
          <p:nvPr/>
        </p:nvSpPr>
        <p:spPr>
          <a:xfrm>
            <a:off x="14455750" y="4529023"/>
            <a:ext cx="31720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9849002" y="4539082"/>
            <a:ext cx="599846" cy="5047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76" name="Shape 66"/>
          <p:cNvSpPr/>
          <p:nvPr/>
        </p:nvSpPr>
        <p:spPr>
          <a:xfrm>
            <a:off x="9849002" y="5034686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7" name="Text 67"/>
          <p:cNvSpPr txBox="1"/>
          <p:nvPr/>
        </p:nvSpPr>
        <p:spPr>
          <a:xfrm>
            <a:off x="9849002" y="4539082"/>
            <a:ext cx="600761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350" dirty="0"/>
          </a:p>
        </p:txBody>
      </p:sp>
      <p:sp>
        <p:nvSpPr>
          <p:cNvPr id="78" name="Shape 68"/>
          <p:cNvSpPr/>
          <p:nvPr/>
        </p:nvSpPr>
        <p:spPr>
          <a:xfrm>
            <a:off x="10447020" y="4539082"/>
            <a:ext cx="599846" cy="5047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79" name="Shape 69"/>
          <p:cNvSpPr/>
          <p:nvPr/>
        </p:nvSpPr>
        <p:spPr>
          <a:xfrm>
            <a:off x="10447020" y="5034686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11045038" y="4539082"/>
            <a:ext cx="857707" cy="5047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81" name="Shape 71"/>
          <p:cNvSpPr/>
          <p:nvPr/>
        </p:nvSpPr>
        <p:spPr>
          <a:xfrm>
            <a:off x="11045038" y="5034686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2" name="Text 72"/>
          <p:cNvSpPr txBox="1"/>
          <p:nvPr/>
        </p:nvSpPr>
        <p:spPr>
          <a:xfrm>
            <a:off x="11045038" y="4539082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10.5</a:t>
            </a:r>
            <a:endParaRPr lang="en-US" sz="1200" dirty="0"/>
          </a:p>
        </p:txBody>
      </p:sp>
      <p:sp>
        <p:nvSpPr>
          <p:cNvPr id="83" name="Shape 73"/>
          <p:cNvSpPr/>
          <p:nvPr/>
        </p:nvSpPr>
        <p:spPr>
          <a:xfrm>
            <a:off x="11898173" y="4539082"/>
            <a:ext cx="857707" cy="5047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84" name="Shape 74"/>
          <p:cNvSpPr/>
          <p:nvPr/>
        </p:nvSpPr>
        <p:spPr>
          <a:xfrm>
            <a:off x="11898173" y="5034686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5" name="Text 75"/>
          <p:cNvSpPr txBox="1"/>
          <p:nvPr/>
        </p:nvSpPr>
        <p:spPr>
          <a:xfrm>
            <a:off x="11898173" y="4539082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</a:t>
            </a:r>
            <a:endParaRPr lang="en-US" sz="1200" dirty="0"/>
          </a:p>
        </p:txBody>
      </p:sp>
      <p:sp>
        <p:nvSpPr>
          <p:cNvPr id="86" name="Shape 76"/>
          <p:cNvSpPr/>
          <p:nvPr/>
        </p:nvSpPr>
        <p:spPr>
          <a:xfrm>
            <a:off x="12749479" y="4539082"/>
            <a:ext cx="857707" cy="5047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87" name="Shape 77"/>
          <p:cNvSpPr/>
          <p:nvPr/>
        </p:nvSpPr>
        <p:spPr>
          <a:xfrm>
            <a:off x="12749479" y="5034686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8" name="Text 78"/>
          <p:cNvSpPr txBox="1"/>
          <p:nvPr/>
        </p:nvSpPr>
        <p:spPr>
          <a:xfrm>
            <a:off x="12749479" y="4539082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2.6</a:t>
            </a:r>
            <a:endParaRPr lang="en-US" sz="1200" dirty="0"/>
          </a:p>
        </p:txBody>
      </p:sp>
      <p:sp>
        <p:nvSpPr>
          <p:cNvPr id="89" name="Shape 79"/>
          <p:cNvSpPr/>
          <p:nvPr/>
        </p:nvSpPr>
        <p:spPr>
          <a:xfrm>
            <a:off x="13602614" y="4539082"/>
            <a:ext cx="857707" cy="5047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90" name="Shape 80"/>
          <p:cNvSpPr/>
          <p:nvPr/>
        </p:nvSpPr>
        <p:spPr>
          <a:xfrm>
            <a:off x="13602614" y="5034686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1" name="Text 81"/>
          <p:cNvSpPr txBox="1"/>
          <p:nvPr/>
        </p:nvSpPr>
        <p:spPr>
          <a:xfrm>
            <a:off x="13602614" y="4539082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+0.8</a:t>
            </a:r>
            <a:endParaRPr lang="en-US" sz="1200" dirty="0"/>
          </a:p>
        </p:txBody>
      </p:sp>
      <p:sp>
        <p:nvSpPr>
          <p:cNvPr id="92" name="Shape 82"/>
          <p:cNvSpPr/>
          <p:nvPr/>
        </p:nvSpPr>
        <p:spPr>
          <a:xfrm>
            <a:off x="14455750" y="4539082"/>
            <a:ext cx="3172054" cy="5047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93" name="Shape 83"/>
          <p:cNvSpPr/>
          <p:nvPr/>
        </p:nvSpPr>
        <p:spPr>
          <a:xfrm>
            <a:off x="14455750" y="5034686"/>
            <a:ext cx="31720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9849002" y="5043830"/>
            <a:ext cx="599846" cy="5047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95" name="Shape 85"/>
          <p:cNvSpPr/>
          <p:nvPr/>
        </p:nvSpPr>
        <p:spPr>
          <a:xfrm>
            <a:off x="9849002" y="5539435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6" name="Text 86"/>
          <p:cNvSpPr txBox="1"/>
          <p:nvPr/>
        </p:nvSpPr>
        <p:spPr>
          <a:xfrm>
            <a:off x="9849002" y="5043830"/>
            <a:ext cx="600761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W04</a:t>
            </a:r>
            <a:endParaRPr lang="en-US" sz="1350" dirty="0"/>
          </a:p>
        </p:txBody>
      </p:sp>
      <p:sp>
        <p:nvSpPr>
          <p:cNvPr id="97" name="Shape 87"/>
          <p:cNvSpPr/>
          <p:nvPr/>
        </p:nvSpPr>
        <p:spPr>
          <a:xfrm>
            <a:off x="10447020" y="5043830"/>
            <a:ext cx="599846" cy="5047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98" name="Shape 88"/>
          <p:cNvSpPr/>
          <p:nvPr/>
        </p:nvSpPr>
        <p:spPr>
          <a:xfrm>
            <a:off x="10447020" y="5539435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9" name="Shape 89"/>
          <p:cNvSpPr/>
          <p:nvPr/>
        </p:nvSpPr>
        <p:spPr>
          <a:xfrm>
            <a:off x="11045038" y="5043830"/>
            <a:ext cx="857707" cy="5047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00" name="Shape 90"/>
          <p:cNvSpPr/>
          <p:nvPr/>
        </p:nvSpPr>
        <p:spPr>
          <a:xfrm>
            <a:off x="11045038" y="5539435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1" name="Text 91"/>
          <p:cNvSpPr txBox="1"/>
          <p:nvPr/>
        </p:nvSpPr>
        <p:spPr>
          <a:xfrm>
            <a:off x="11045038" y="5043830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10.3</a:t>
            </a:r>
            <a:endParaRPr lang="en-US" sz="1200" dirty="0"/>
          </a:p>
        </p:txBody>
      </p:sp>
      <p:sp>
        <p:nvSpPr>
          <p:cNvPr id="102" name="Shape 92"/>
          <p:cNvSpPr/>
          <p:nvPr/>
        </p:nvSpPr>
        <p:spPr>
          <a:xfrm>
            <a:off x="11898173" y="5043830"/>
            <a:ext cx="857707" cy="5047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03" name="Shape 93"/>
          <p:cNvSpPr/>
          <p:nvPr/>
        </p:nvSpPr>
        <p:spPr>
          <a:xfrm>
            <a:off x="11898173" y="5539435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4" name="Text 94"/>
          <p:cNvSpPr txBox="1"/>
          <p:nvPr/>
        </p:nvSpPr>
        <p:spPr>
          <a:xfrm>
            <a:off x="11898173" y="5043830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</a:t>
            </a:r>
            <a:endParaRPr lang="en-US" sz="1200" dirty="0"/>
          </a:p>
        </p:txBody>
      </p:sp>
      <p:sp>
        <p:nvSpPr>
          <p:cNvPr id="105" name="Shape 95"/>
          <p:cNvSpPr/>
          <p:nvPr/>
        </p:nvSpPr>
        <p:spPr>
          <a:xfrm>
            <a:off x="12749479" y="5043830"/>
            <a:ext cx="857707" cy="5047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06" name="Shape 96"/>
          <p:cNvSpPr/>
          <p:nvPr/>
        </p:nvSpPr>
        <p:spPr>
          <a:xfrm>
            <a:off x="12749479" y="5539435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7" name="Text 97"/>
          <p:cNvSpPr txBox="1"/>
          <p:nvPr/>
        </p:nvSpPr>
        <p:spPr>
          <a:xfrm>
            <a:off x="12749479" y="5043830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</a:t>
            </a:r>
            <a:endParaRPr lang="en-US" sz="1200" dirty="0"/>
          </a:p>
        </p:txBody>
      </p:sp>
      <p:sp>
        <p:nvSpPr>
          <p:cNvPr id="108" name="Shape 98"/>
          <p:cNvSpPr/>
          <p:nvPr/>
        </p:nvSpPr>
        <p:spPr>
          <a:xfrm>
            <a:off x="13602614" y="5043830"/>
            <a:ext cx="857707" cy="5047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09" name="Shape 99"/>
          <p:cNvSpPr/>
          <p:nvPr/>
        </p:nvSpPr>
        <p:spPr>
          <a:xfrm>
            <a:off x="13602614" y="5539435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0" name="Text 100"/>
          <p:cNvSpPr txBox="1"/>
          <p:nvPr/>
        </p:nvSpPr>
        <p:spPr>
          <a:xfrm>
            <a:off x="13602614" y="5043830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+0.6</a:t>
            </a:r>
            <a:endParaRPr lang="en-US" sz="1200" dirty="0"/>
          </a:p>
        </p:txBody>
      </p:sp>
      <p:sp>
        <p:nvSpPr>
          <p:cNvPr id="111" name="Shape 101"/>
          <p:cNvSpPr/>
          <p:nvPr/>
        </p:nvSpPr>
        <p:spPr>
          <a:xfrm>
            <a:off x="14455750" y="5043830"/>
            <a:ext cx="3172054" cy="5047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12" name="Shape 102"/>
          <p:cNvSpPr/>
          <p:nvPr/>
        </p:nvSpPr>
        <p:spPr>
          <a:xfrm>
            <a:off x="14455750" y="5539435"/>
            <a:ext cx="31720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3" name="Shape 103"/>
          <p:cNvSpPr/>
          <p:nvPr/>
        </p:nvSpPr>
        <p:spPr>
          <a:xfrm>
            <a:off x="9849002" y="5548579"/>
            <a:ext cx="599846" cy="5047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14" name="Shape 104"/>
          <p:cNvSpPr/>
          <p:nvPr/>
        </p:nvSpPr>
        <p:spPr>
          <a:xfrm>
            <a:off x="9849002" y="6044184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5" name="Text 105"/>
          <p:cNvSpPr txBox="1"/>
          <p:nvPr/>
        </p:nvSpPr>
        <p:spPr>
          <a:xfrm>
            <a:off x="9849002" y="5548579"/>
            <a:ext cx="600761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W05</a:t>
            </a:r>
            <a:endParaRPr lang="en-US" sz="1350" dirty="0"/>
          </a:p>
        </p:txBody>
      </p:sp>
      <p:sp>
        <p:nvSpPr>
          <p:cNvPr id="116" name="Shape 106"/>
          <p:cNvSpPr/>
          <p:nvPr/>
        </p:nvSpPr>
        <p:spPr>
          <a:xfrm>
            <a:off x="10447020" y="5548579"/>
            <a:ext cx="599846" cy="5047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17" name="Shape 107"/>
          <p:cNvSpPr/>
          <p:nvPr/>
        </p:nvSpPr>
        <p:spPr>
          <a:xfrm>
            <a:off x="10447020" y="6044184"/>
            <a:ext cx="599846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8" name="Shape 108"/>
          <p:cNvSpPr/>
          <p:nvPr/>
        </p:nvSpPr>
        <p:spPr>
          <a:xfrm>
            <a:off x="11045038" y="5548579"/>
            <a:ext cx="857707" cy="5047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19" name="Shape 109"/>
          <p:cNvSpPr/>
          <p:nvPr/>
        </p:nvSpPr>
        <p:spPr>
          <a:xfrm>
            <a:off x="11045038" y="6044184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0" name="Text 110"/>
          <p:cNvSpPr txBox="1"/>
          <p:nvPr/>
        </p:nvSpPr>
        <p:spPr>
          <a:xfrm>
            <a:off x="11045038" y="5548579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9.1</a:t>
            </a:r>
            <a:endParaRPr lang="en-US" sz="1200" dirty="0"/>
          </a:p>
        </p:txBody>
      </p:sp>
      <p:sp>
        <p:nvSpPr>
          <p:cNvPr id="121" name="Shape 111"/>
          <p:cNvSpPr/>
          <p:nvPr/>
        </p:nvSpPr>
        <p:spPr>
          <a:xfrm>
            <a:off x="11898173" y="5548579"/>
            <a:ext cx="857707" cy="5047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22" name="Shape 112"/>
          <p:cNvSpPr/>
          <p:nvPr/>
        </p:nvSpPr>
        <p:spPr>
          <a:xfrm>
            <a:off x="11898173" y="6044184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3" name="Text 113"/>
          <p:cNvSpPr txBox="1"/>
          <p:nvPr/>
        </p:nvSpPr>
        <p:spPr>
          <a:xfrm>
            <a:off x="11898173" y="5548579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</a:t>
            </a:r>
            <a:endParaRPr lang="en-US" sz="1200" dirty="0"/>
          </a:p>
        </p:txBody>
      </p:sp>
      <p:sp>
        <p:nvSpPr>
          <p:cNvPr id="124" name="Shape 114"/>
          <p:cNvSpPr/>
          <p:nvPr/>
        </p:nvSpPr>
        <p:spPr>
          <a:xfrm>
            <a:off x="12749479" y="5548579"/>
            <a:ext cx="857707" cy="5047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25" name="Shape 115"/>
          <p:cNvSpPr/>
          <p:nvPr/>
        </p:nvSpPr>
        <p:spPr>
          <a:xfrm>
            <a:off x="12749479" y="6044184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6" name="Text 116"/>
          <p:cNvSpPr txBox="1"/>
          <p:nvPr/>
        </p:nvSpPr>
        <p:spPr>
          <a:xfrm>
            <a:off x="12749479" y="5548579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</a:t>
            </a:r>
            <a:endParaRPr lang="en-US" sz="1200" dirty="0"/>
          </a:p>
        </p:txBody>
      </p:sp>
      <p:sp>
        <p:nvSpPr>
          <p:cNvPr id="127" name="Shape 117"/>
          <p:cNvSpPr/>
          <p:nvPr/>
        </p:nvSpPr>
        <p:spPr>
          <a:xfrm>
            <a:off x="13602614" y="5548579"/>
            <a:ext cx="857707" cy="5047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28" name="Shape 118"/>
          <p:cNvSpPr/>
          <p:nvPr/>
        </p:nvSpPr>
        <p:spPr>
          <a:xfrm>
            <a:off x="13602614" y="6044184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9" name="Text 119"/>
          <p:cNvSpPr txBox="1"/>
          <p:nvPr/>
        </p:nvSpPr>
        <p:spPr>
          <a:xfrm>
            <a:off x="13602614" y="5548579"/>
            <a:ext cx="857707" cy="3630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</a:t>
            </a:r>
            <a:endParaRPr lang="en-US" sz="1200" dirty="0"/>
          </a:p>
        </p:txBody>
      </p:sp>
      <p:sp>
        <p:nvSpPr>
          <p:cNvPr id="130" name="Shape 120"/>
          <p:cNvSpPr/>
          <p:nvPr/>
        </p:nvSpPr>
        <p:spPr>
          <a:xfrm>
            <a:off x="14455750" y="5548579"/>
            <a:ext cx="3172054" cy="5047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31" name="Shape 121"/>
          <p:cNvSpPr/>
          <p:nvPr/>
        </p:nvSpPr>
        <p:spPr>
          <a:xfrm>
            <a:off x="14455750" y="6044184"/>
            <a:ext cx="3172054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32" name="Text 122"/>
          <p:cNvSpPr txBox="1"/>
          <p:nvPr/>
        </p:nvSpPr>
        <p:spPr>
          <a:xfrm>
            <a:off x="9849002" y="6053328"/>
            <a:ext cx="600761" cy="5056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1397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W06</a:t>
            </a:r>
            <a:endParaRPr lang="en-US" sz="1350" dirty="0"/>
          </a:p>
        </p:txBody>
      </p:sp>
      <p:sp>
        <p:nvSpPr>
          <p:cNvPr id="133" name="Shape 123"/>
          <p:cNvSpPr/>
          <p:nvPr/>
        </p:nvSpPr>
        <p:spPr>
          <a:xfrm>
            <a:off x="10447020" y="6053328"/>
            <a:ext cx="599846" cy="504749"/>
          </a:xfrm>
          <a:prstGeom prst="rect">
            <a:avLst/>
          </a:prstGeom>
          <a:solidFill>
            <a:srgbClr val="FB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Text 124"/>
          <p:cNvSpPr txBox="1"/>
          <p:nvPr/>
        </p:nvSpPr>
        <p:spPr>
          <a:xfrm>
            <a:off x="11045038" y="6053328"/>
            <a:ext cx="857707" cy="5056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13970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9.2</a:t>
            </a:r>
            <a:endParaRPr lang="en-US" sz="1200" dirty="0"/>
          </a:p>
        </p:txBody>
      </p:sp>
      <p:sp>
        <p:nvSpPr>
          <p:cNvPr id="135" name="Text 125"/>
          <p:cNvSpPr txBox="1"/>
          <p:nvPr/>
        </p:nvSpPr>
        <p:spPr>
          <a:xfrm>
            <a:off x="11898173" y="6053328"/>
            <a:ext cx="857707" cy="5056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13970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</a:t>
            </a:r>
            <a:endParaRPr lang="en-US" sz="1200" dirty="0"/>
          </a:p>
        </p:txBody>
      </p:sp>
      <p:sp>
        <p:nvSpPr>
          <p:cNvPr id="136" name="Text 126"/>
          <p:cNvSpPr txBox="1"/>
          <p:nvPr/>
        </p:nvSpPr>
        <p:spPr>
          <a:xfrm>
            <a:off x="12749479" y="6053328"/>
            <a:ext cx="857707" cy="5056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13970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2.0</a:t>
            </a:r>
            <a:endParaRPr lang="en-US" sz="1200" dirty="0"/>
          </a:p>
        </p:txBody>
      </p:sp>
      <p:sp>
        <p:nvSpPr>
          <p:cNvPr id="137" name="Text 127"/>
          <p:cNvSpPr txBox="1"/>
          <p:nvPr/>
        </p:nvSpPr>
        <p:spPr>
          <a:xfrm>
            <a:off x="13602614" y="6053328"/>
            <a:ext cx="857707" cy="5056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139700" rIns="76200" bIns="1397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</a:t>
            </a:r>
            <a:endParaRPr lang="en-US" sz="1200" dirty="0"/>
          </a:p>
        </p:txBody>
      </p:sp>
      <p:sp>
        <p:nvSpPr>
          <p:cNvPr id="138" name="Shape 128"/>
          <p:cNvSpPr/>
          <p:nvPr/>
        </p:nvSpPr>
        <p:spPr>
          <a:xfrm>
            <a:off x="14455750" y="6053328"/>
            <a:ext cx="3172054" cy="504749"/>
          </a:xfrm>
          <a:prstGeom prst="rect">
            <a:avLst/>
          </a:prstGeom>
          <a:solidFill>
            <a:srgbClr val="FB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29"/>
          <p:cNvSpPr/>
          <p:nvPr/>
        </p:nvSpPr>
        <p:spPr>
          <a:xfrm>
            <a:off x="10546690" y="3676802"/>
            <a:ext cx="400507" cy="219456"/>
          </a:xfrm>
          <a:prstGeom prst="roundRect">
            <a:avLst>
              <a:gd name="adj" fmla="val 8750"/>
            </a:avLst>
          </a:prstGeom>
          <a:solidFill>
            <a:srgbClr val="1F5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Text 130"/>
          <p:cNvSpPr txBox="1"/>
          <p:nvPr/>
        </p:nvSpPr>
        <p:spPr>
          <a:xfrm>
            <a:off x="10546690" y="3676802"/>
            <a:ext cx="40142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8DC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975" dirty="0"/>
          </a:p>
        </p:txBody>
      </p:sp>
      <p:sp>
        <p:nvSpPr>
          <p:cNvPr id="141" name="Shape 131"/>
          <p:cNvSpPr/>
          <p:nvPr/>
        </p:nvSpPr>
        <p:spPr>
          <a:xfrm>
            <a:off x="14512442" y="3685946"/>
            <a:ext cx="645566" cy="200254"/>
          </a:xfrm>
          <a:prstGeom prst="roundRect">
            <a:avLst>
              <a:gd name="adj" fmla="val 9589"/>
            </a:avLst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Text 132"/>
          <p:cNvSpPr txBox="1"/>
          <p:nvPr/>
        </p:nvSpPr>
        <p:spPr>
          <a:xfrm>
            <a:off x="14512442" y="3685946"/>
            <a:ext cx="64556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900" dirty="0"/>
          </a:p>
        </p:txBody>
      </p:sp>
      <p:sp>
        <p:nvSpPr>
          <p:cNvPr id="143" name="Shape 133"/>
          <p:cNvSpPr/>
          <p:nvPr/>
        </p:nvSpPr>
        <p:spPr>
          <a:xfrm>
            <a:off x="10546690" y="4181551"/>
            <a:ext cx="400507" cy="219456"/>
          </a:xfrm>
          <a:prstGeom prst="roundRect">
            <a:avLst>
              <a:gd name="adj" fmla="val 8750"/>
            </a:avLst>
          </a:prstGeom>
          <a:solidFill>
            <a:srgbClr val="1F5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Text 134"/>
          <p:cNvSpPr txBox="1"/>
          <p:nvPr/>
        </p:nvSpPr>
        <p:spPr>
          <a:xfrm>
            <a:off x="10546690" y="4181551"/>
            <a:ext cx="40142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8DC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975" dirty="0"/>
          </a:p>
        </p:txBody>
      </p:sp>
      <p:sp>
        <p:nvSpPr>
          <p:cNvPr id="145" name="Shape 135"/>
          <p:cNvSpPr/>
          <p:nvPr/>
        </p:nvSpPr>
        <p:spPr>
          <a:xfrm>
            <a:off x="14512442" y="4190695"/>
            <a:ext cx="645566" cy="200254"/>
          </a:xfrm>
          <a:prstGeom prst="roundRect">
            <a:avLst>
              <a:gd name="adj" fmla="val 9589"/>
            </a:avLst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Text 136"/>
          <p:cNvSpPr txBox="1"/>
          <p:nvPr/>
        </p:nvSpPr>
        <p:spPr>
          <a:xfrm>
            <a:off x="14512442" y="4190695"/>
            <a:ext cx="64556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</a:t>
            </a:r>
            <a:endParaRPr lang="en-US" sz="900" dirty="0"/>
          </a:p>
        </p:txBody>
      </p:sp>
      <p:sp>
        <p:nvSpPr>
          <p:cNvPr id="147" name="Shape 137"/>
          <p:cNvSpPr/>
          <p:nvPr/>
        </p:nvSpPr>
        <p:spPr>
          <a:xfrm>
            <a:off x="10546690" y="4686300"/>
            <a:ext cx="400507" cy="219456"/>
          </a:xfrm>
          <a:prstGeom prst="roundRect">
            <a:avLst>
              <a:gd name="adj" fmla="val 8750"/>
            </a:avLst>
          </a:prstGeom>
          <a:solidFill>
            <a:srgbClr val="B048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Text 138"/>
          <p:cNvSpPr txBox="1"/>
          <p:nvPr/>
        </p:nvSpPr>
        <p:spPr>
          <a:xfrm>
            <a:off x="10546690" y="4686300"/>
            <a:ext cx="40142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975" dirty="0"/>
          </a:p>
        </p:txBody>
      </p:sp>
      <p:sp>
        <p:nvSpPr>
          <p:cNvPr id="149" name="Shape 139"/>
          <p:cNvSpPr/>
          <p:nvPr/>
        </p:nvSpPr>
        <p:spPr>
          <a:xfrm>
            <a:off x="14512442" y="4695444"/>
            <a:ext cx="645566" cy="200254"/>
          </a:xfrm>
          <a:prstGeom prst="roundRect">
            <a:avLst>
              <a:gd name="adj" fmla="val 9589"/>
            </a:avLst>
          </a:prstGeom>
          <a:solidFill>
            <a:srgbClr val="B048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Text 140"/>
          <p:cNvSpPr txBox="1"/>
          <p:nvPr/>
        </p:nvSpPr>
        <p:spPr>
          <a:xfrm>
            <a:off x="14512442" y="4695444"/>
            <a:ext cx="64556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FAIL</a:t>
            </a:r>
            <a:endParaRPr lang="en-US" sz="900" dirty="0"/>
          </a:p>
        </p:txBody>
      </p:sp>
      <p:sp>
        <p:nvSpPr>
          <p:cNvPr id="151" name="Shape 141"/>
          <p:cNvSpPr/>
          <p:nvPr/>
        </p:nvSpPr>
        <p:spPr>
          <a:xfrm>
            <a:off x="10546690" y="5191049"/>
            <a:ext cx="400507" cy="219456"/>
          </a:xfrm>
          <a:prstGeom prst="roundRect">
            <a:avLst>
              <a:gd name="adj" fmla="val 8750"/>
            </a:avLst>
          </a:prstGeom>
          <a:solidFill>
            <a:srgbClr val="B048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Text 142"/>
          <p:cNvSpPr txBox="1"/>
          <p:nvPr/>
        </p:nvSpPr>
        <p:spPr>
          <a:xfrm>
            <a:off x="10546690" y="5191049"/>
            <a:ext cx="40142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975" dirty="0"/>
          </a:p>
        </p:txBody>
      </p:sp>
      <p:sp>
        <p:nvSpPr>
          <p:cNvPr id="153" name="Shape 143"/>
          <p:cNvSpPr/>
          <p:nvPr/>
        </p:nvSpPr>
        <p:spPr>
          <a:xfrm>
            <a:off x="14512442" y="5201107"/>
            <a:ext cx="645566" cy="200254"/>
          </a:xfrm>
          <a:prstGeom prst="roundRect">
            <a:avLst>
              <a:gd name="adj" fmla="val 9589"/>
            </a:avLst>
          </a:prstGeom>
          <a:solidFill>
            <a:srgbClr val="B597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Text 144"/>
          <p:cNvSpPr txBox="1"/>
          <p:nvPr/>
        </p:nvSpPr>
        <p:spPr>
          <a:xfrm>
            <a:off x="14512442" y="5201107"/>
            <a:ext cx="64556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900" dirty="0"/>
          </a:p>
        </p:txBody>
      </p:sp>
      <p:sp>
        <p:nvSpPr>
          <p:cNvPr id="155" name="Shape 145"/>
          <p:cNvSpPr/>
          <p:nvPr/>
        </p:nvSpPr>
        <p:spPr>
          <a:xfrm>
            <a:off x="10546690" y="5695798"/>
            <a:ext cx="400507" cy="219456"/>
          </a:xfrm>
          <a:prstGeom prst="roundRect">
            <a:avLst>
              <a:gd name="adj" fmla="val 8750"/>
            </a:avLst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Text 146"/>
          <p:cNvSpPr txBox="1"/>
          <p:nvPr/>
        </p:nvSpPr>
        <p:spPr>
          <a:xfrm>
            <a:off x="10546690" y="5695798"/>
            <a:ext cx="40142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4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975" dirty="0"/>
          </a:p>
        </p:txBody>
      </p:sp>
      <p:sp>
        <p:nvSpPr>
          <p:cNvPr id="157" name="Shape 147"/>
          <p:cNvSpPr/>
          <p:nvPr/>
        </p:nvSpPr>
        <p:spPr>
          <a:xfrm>
            <a:off x="14512442" y="5705856"/>
            <a:ext cx="645566" cy="200254"/>
          </a:xfrm>
          <a:prstGeom prst="roundRect">
            <a:avLst>
              <a:gd name="adj" fmla="val 9589"/>
            </a:avLst>
          </a:prstGeom>
          <a:solidFill>
            <a:srgbClr val="B597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Text 148"/>
          <p:cNvSpPr txBox="1"/>
          <p:nvPr/>
        </p:nvSpPr>
        <p:spPr>
          <a:xfrm>
            <a:off x="14512442" y="5705856"/>
            <a:ext cx="64556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900" dirty="0"/>
          </a:p>
        </p:txBody>
      </p:sp>
      <p:sp>
        <p:nvSpPr>
          <p:cNvPr id="159" name="Shape 149"/>
          <p:cNvSpPr/>
          <p:nvPr/>
        </p:nvSpPr>
        <p:spPr>
          <a:xfrm>
            <a:off x="10546690" y="6200546"/>
            <a:ext cx="400507" cy="219456"/>
          </a:xfrm>
          <a:prstGeom prst="roundRect">
            <a:avLst>
              <a:gd name="adj" fmla="val 8750"/>
            </a:avLst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Text 150"/>
          <p:cNvSpPr txBox="1"/>
          <p:nvPr/>
        </p:nvSpPr>
        <p:spPr>
          <a:xfrm>
            <a:off x="10546690" y="6200546"/>
            <a:ext cx="40142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7F4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975" dirty="0"/>
          </a:p>
        </p:txBody>
      </p:sp>
      <p:sp>
        <p:nvSpPr>
          <p:cNvPr id="161" name="Shape 151"/>
          <p:cNvSpPr/>
          <p:nvPr/>
        </p:nvSpPr>
        <p:spPr>
          <a:xfrm>
            <a:off x="14512442" y="6210605"/>
            <a:ext cx="645566" cy="200254"/>
          </a:xfrm>
          <a:prstGeom prst="roundRect">
            <a:avLst>
              <a:gd name="adj" fmla="val 9589"/>
            </a:avLst>
          </a:prstGeom>
          <a:solidFill>
            <a:srgbClr val="B597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Text 152"/>
          <p:cNvSpPr txBox="1"/>
          <p:nvPr/>
        </p:nvSpPr>
        <p:spPr>
          <a:xfrm>
            <a:off x="14512442" y="6210605"/>
            <a:ext cx="64556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</a:t>
            </a:r>
            <a:endParaRPr lang="en-US" sz="900" dirty="0"/>
          </a:p>
        </p:txBody>
      </p:sp>
      <p:sp>
        <p:nvSpPr>
          <p:cNvPr id="163" name="Text 153"/>
          <p:cNvSpPr txBox="1"/>
          <p:nvPr/>
        </p:nvSpPr>
        <p:spPr>
          <a:xfrm>
            <a:off x="5562295" y="8287207"/>
            <a:ext cx="4000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05.2 · Top-view SEM</a:t>
            </a:r>
            <a:endParaRPr lang="en-US" sz="825" dirty="0"/>
          </a:p>
        </p:txBody>
      </p:sp>
      <p:sp>
        <p:nvSpPr>
          <p:cNvPr id="164" name="Text 154"/>
          <p:cNvSpPr txBox="1"/>
          <p:nvPr/>
        </p:nvSpPr>
        <p:spPr>
          <a:xfrm>
            <a:off x="5562295" y="8477402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이웃 line 간 pitch walk — 우상 외곽 ring의 hot-Zone 발현은 spacer 증착 두께 변동과 일치한다.</a:t>
            </a:r>
            <a:endParaRPr lang="en-US" sz="1125" dirty="0"/>
          </a:p>
        </p:txBody>
      </p:sp>
      <p:sp>
        <p:nvSpPr>
          <p:cNvPr id="165" name="Text 155"/>
          <p:cNvSpPr txBox="1"/>
          <p:nvPr/>
        </p:nvSpPr>
        <p:spPr>
          <a:xfrm>
            <a:off x="5562295" y="8930030"/>
            <a:ext cx="4171493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4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SPIE — Patterning exploration of 16 nm pitch metal lines</a:t>
            </a:r>
            <a:endParaRPr lang="en-US" sz="900" dirty="0"/>
          </a:p>
        </p:txBody>
      </p:sp>
      <p:sp>
        <p:nvSpPr>
          <p:cNvPr id="166" name="Text 156"/>
          <p:cNvSpPr txBox="1"/>
          <p:nvPr/>
        </p:nvSpPr>
        <p:spPr>
          <a:xfrm>
            <a:off x="10077602" y="8343900"/>
            <a:ext cx="73152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관찰 요약</a:t>
            </a:r>
            <a:endParaRPr lang="en-US" sz="825" dirty="0"/>
          </a:p>
        </p:txBody>
      </p:sp>
      <p:sp>
        <p:nvSpPr>
          <p:cNvPr id="167" name="Text 157"/>
          <p:cNvSpPr txBox="1"/>
          <p:nvPr/>
        </p:nvSpPr>
        <p:spPr>
          <a:xfrm>
            <a:off x="10077602" y="8572500"/>
            <a:ext cx="23244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Split A 두 wafer 모두 mean±3σ 모두 사양 통과</a:t>
            </a:r>
            <a:endParaRPr lang="en-US" sz="1050" dirty="0"/>
          </a:p>
        </p:txBody>
      </p:sp>
      <p:sp>
        <p:nvSpPr>
          <p:cNvPr id="168" name="Text 158"/>
          <p:cNvSpPr txBox="1"/>
          <p:nvPr/>
        </p:nvSpPr>
        <p:spPr>
          <a:xfrm>
            <a:off x="12573000" y="8572500"/>
            <a:ext cx="23244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Split B는 외곽 ring에서 +1.5 nm hot-zone</a:t>
            </a:r>
            <a:endParaRPr lang="en-US" sz="1050" dirty="0"/>
          </a:p>
        </p:txBody>
      </p:sp>
      <p:sp>
        <p:nvSpPr>
          <p:cNvPr id="169" name="Text 159"/>
          <p:cNvSpPr txBox="1"/>
          <p:nvPr/>
        </p:nvSpPr>
        <p:spPr>
          <a:xfrm>
            <a:off x="15068398" y="8572500"/>
            <a:ext cx="23244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Split C는 전반적으로 −0.6 nm cold로 warn</a:t>
            </a:r>
            <a:endParaRPr lang="en-US" sz="1050" dirty="0"/>
          </a:p>
        </p:txBody>
      </p:sp>
      <p:sp>
        <p:nvSpPr>
          <p:cNvPr id="170" name="Text 160"/>
          <p:cNvSpPr txBox="1"/>
          <p:nvPr/>
        </p:nvSpPr>
        <p:spPr>
          <a:xfrm>
            <a:off x="3238805" y="981059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171" name="Text 161"/>
          <p:cNvSpPr txBox="1"/>
          <p:nvPr/>
        </p:nvSpPr>
        <p:spPr>
          <a:xfrm>
            <a:off x="14859000" y="9810598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76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07 · EUV-BEOL-EVAL · 04/15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573707" y="705002"/>
            <a:ext cx="3066898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72307" y="7772400"/>
            <a:ext cx="14268298" cy="1657807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pic>
        <p:nvPicPr>
          <p:cNvPr id="6" name="Image 0" descr="gen-dedup-f86d6a16f92b2617556186968858095b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2857500" y="9658807"/>
            <a:ext cx="15430500" cy="9144"/>
          </a:xfrm>
          <a:prstGeom prst="rect">
            <a:avLst/>
          </a:prstGeom>
        </p:spPr>
      </p:pic>
      <p:pic>
        <p:nvPicPr>
          <p:cNvPr id="7" name="Image 1" descr="gen-dedup-eabc9b61793a980fb358930b866a1d61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57500" y="0"/>
            <a:ext cx="9144" cy="10287000"/>
          </a:xfrm>
          <a:prstGeom prst="rect">
            <a:avLst/>
          </a:prstGeom>
        </p:spPr>
      </p:pic>
      <p:pic>
        <p:nvPicPr>
          <p:cNvPr id="8" name="Image 2" descr="gen-dedup-fd2c33c645f6b3a00a0b08699c48d5b4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14573707" y="705002"/>
            <a:ext cx="38405" cy="1619402"/>
          </a:xfrm>
          <a:prstGeom prst="rect">
            <a:avLst/>
          </a:prstGeom>
        </p:spPr>
      </p:pic>
      <p:pic>
        <p:nvPicPr>
          <p:cNvPr id="9" name="Image 3" descr="gen-dedup-ddeb35583a8027d70c88075ff894006f.png">    </p:cNvPr>
          <p:cNvPicPr>
            <a:picLocks noChangeAspect="1"/>
          </p:cNvPicPr>
          <p:nvPr/>
        </p:nvPicPr>
        <p:blipFill>
          <a:blip r:embed="rId4"/>
          <a:srcRect l="-391" r="-391" t="0" b="0"/>
          <a:stretch/>
        </p:blipFill>
        <p:spPr>
          <a:xfrm>
            <a:off x="3372307" y="7772400"/>
            <a:ext cx="38405" cy="1638605"/>
          </a:xfrm>
          <a:prstGeom prst="rect">
            <a:avLst/>
          </a:prstGeom>
        </p:spPr>
      </p:pic>
      <p:pic>
        <p:nvPicPr>
          <p:cNvPr id="10" name="Image 4" descr="gen-dedup-4ac609d10e3e3074053493c309798379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381305" y="5333695"/>
            <a:ext cx="571500" cy="9144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381305" y="60990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04 / 15 · DUMMY</a:t>
            </a:r>
            <a:endParaRPr lang="en-US" sz="975" dirty="0"/>
          </a:p>
        </p:txBody>
      </p:sp>
      <p:sp>
        <p:nvSpPr>
          <p:cNvPr id="12" name="Text 4"/>
          <p:cNvSpPr txBox="1"/>
          <p:nvPr/>
        </p:nvSpPr>
        <p:spPr>
          <a:xfrm>
            <a:off x="381305" y="1619402"/>
            <a:ext cx="2286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5000" dirty="0"/>
          </a:p>
        </p:txBody>
      </p:sp>
      <p:sp>
        <p:nvSpPr>
          <p:cNvPr id="13" name="Text 5"/>
          <p:cNvSpPr txBox="1"/>
          <p:nvPr/>
        </p:nvSpPr>
        <p:spPr>
          <a:xfrm>
            <a:off x="381305" y="4095598"/>
            <a:ext cx="2095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전기 특성</a:t>
            </a:r>
            <a:endParaRPr lang="en-US" sz="2250" dirty="0"/>
          </a:p>
        </p:txBody>
      </p:sp>
      <p:sp>
        <p:nvSpPr>
          <p:cNvPr id="14" name="Text 6"/>
          <p:cNvSpPr txBox="1"/>
          <p:nvPr/>
        </p:nvSpPr>
        <p:spPr>
          <a:xfrm>
            <a:off x="381305" y="4600346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C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Electrical</a:t>
            </a:r>
            <a:endParaRPr lang="en-US" sz="1200" dirty="0"/>
          </a:p>
        </p:txBody>
      </p:sp>
      <p:sp>
        <p:nvSpPr>
          <p:cNvPr id="15" name="Text 7"/>
          <p:cNvSpPr txBox="1"/>
          <p:nvPr/>
        </p:nvSpPr>
        <p:spPr>
          <a:xfrm>
            <a:off x="381305" y="5619902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STRUCTURES</a:t>
            </a:r>
            <a:endParaRPr lang="en-US" sz="975" dirty="0"/>
          </a:p>
        </p:txBody>
      </p:sp>
      <p:sp>
        <p:nvSpPr>
          <p:cNvPr id="16" name="Text 8"/>
          <p:cNvSpPr txBox="1"/>
          <p:nvPr/>
        </p:nvSpPr>
        <p:spPr>
          <a:xfrm>
            <a:off x="381305" y="5906110"/>
            <a:ext cx="2095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Kelvin 4-pt · via-chain · M1 isolation</a:t>
            </a:r>
            <a:endParaRPr lang="en-US" sz="1125" dirty="0"/>
          </a:p>
        </p:txBody>
      </p:sp>
      <p:sp>
        <p:nvSpPr>
          <p:cNvPr id="17" name="Text 9"/>
          <p:cNvSpPr txBox="1"/>
          <p:nvPr/>
        </p:nvSpPr>
        <p:spPr>
          <a:xfrm>
            <a:off x="381305" y="94302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 · CDU · M1</a:t>
            </a:r>
            <a:endParaRPr lang="en-US" sz="825" dirty="0"/>
          </a:p>
        </p:txBody>
      </p:sp>
      <p:pic>
        <p:nvPicPr>
          <p:cNvPr id="18" name="Image 5" descr="gen-dedup-d4e65b70a25d2ac1eabb51d81b5a3b33.png">    </p:cNvPr>
          <p:cNvPicPr>
            <a:picLocks noChangeAspect="1"/>
          </p:cNvPicPr>
          <p:nvPr/>
        </p:nvPicPr>
        <p:blipFill>
          <a:blip r:embed="rId6"/>
          <a:srcRect l="0" r="0" t="-343" b="-343"/>
          <a:stretch/>
        </p:blipFill>
        <p:spPr>
          <a:xfrm>
            <a:off x="3372307" y="767182"/>
            <a:ext cx="267005" cy="1920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3771900" y="705002"/>
            <a:ext cx="10195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660"/>
                </a:solidFill>
                <a:latin typeface="IBMplex Mono" pitchFamily="34" charset="0"/>
                <a:ea typeface="IBMplex Mono" pitchFamily="34" charset="-122"/>
                <a:cs typeface="IBMplex Mono" pitchFamily="34" charset="-120"/>
              </a:rPr>
              <a:t>Section 06</a:t>
            </a:r>
            <a:endParaRPr lang="en-US" sz="975" dirty="0"/>
          </a:p>
        </p:txBody>
      </p:sp>
      <p:sp>
        <p:nvSpPr>
          <p:cNvPr id="20" name="Text 11"/>
          <p:cNvSpPr txBox="1"/>
          <p:nvPr/>
        </p:nvSpPr>
        <p:spPr>
          <a:xfrm>
            <a:off x="3372307" y="981151"/>
            <a:ext cx="1085850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전기 측정 결과 — </a:t>
            </a:r>
            <a:pPr algn="l" indent="0" marL="0">
              <a:buNone/>
            </a:pPr>
            <a:r>
              <a:rPr lang="en-US" sz="4050" b="1" spc="-81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Rsh · Line-R · Via-R</a:t>
            </a:r>
            <a:endParaRPr lang="en-US" sz="4050" dirty="0"/>
          </a:p>
        </p:txBody>
      </p:sp>
      <p:sp>
        <p:nvSpPr>
          <p:cNvPr id="21" name="Text 12"/>
          <p:cNvSpPr txBox="1"/>
          <p:nvPr/>
        </p:nvSpPr>
        <p:spPr>
          <a:xfrm>
            <a:off x="14763902" y="857707"/>
            <a:ext cx="27148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825" dirty="0"/>
          </a:p>
        </p:txBody>
      </p:sp>
      <p:sp>
        <p:nvSpPr>
          <p:cNvPr id="22" name="Text 13"/>
          <p:cNvSpPr txBox="1"/>
          <p:nvPr/>
        </p:nvSpPr>
        <p:spPr>
          <a:xfrm>
            <a:off x="14763902" y="1086307"/>
            <a:ext cx="271485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Rsh는 mandrel CD와 반비례 추세, tip-tip이 좁아진 Split C의 leakage는 1.1 nA/cm²까지 내려간다.</a:t>
            </a:r>
            <a:endParaRPr lang="en-US" sz="1350" dirty="0"/>
          </a:p>
        </p:txBody>
      </p:sp>
      <p:sp>
        <p:nvSpPr>
          <p:cNvPr id="23" name="Shape 14"/>
          <p:cNvSpPr/>
          <p:nvPr/>
        </p:nvSpPr>
        <p:spPr>
          <a:xfrm>
            <a:off x="3372307" y="2667305"/>
            <a:ext cx="14249095" cy="533095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3372307" y="3486607"/>
            <a:ext cx="857707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4229100" y="3486607"/>
            <a:ext cx="857707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5086807" y="3486607"/>
            <a:ext cx="1524305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5086807" y="2667305"/>
            <a:ext cx="1524305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Rsh</a:t>
            </a:r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825" b="1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Ω / sq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6610198" y="3486607"/>
            <a:ext cx="1904695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610198" y="2667305"/>
            <a:ext cx="1905610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Line-R</a:t>
            </a:r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825" b="1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Ω / μm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8515807" y="3486607"/>
            <a:ext cx="1619402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8515807" y="2667305"/>
            <a:ext cx="1619402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Via-R</a:t>
            </a:r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825" b="1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Ω / via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10134295" y="3191256"/>
            <a:ext cx="5905195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16040405" y="3486607"/>
            <a:ext cx="1580998" cy="9144"/>
          </a:xfrm>
          <a:prstGeom prst="rect">
            <a:avLst/>
          </a:prstGeom>
          <a:solidFill>
            <a:srgbClr val="2A2D32"/>
          </a:solidFill>
          <a:ln w="12700">
            <a:solidFill>
              <a:srgbClr val="2A2D32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16040405" y="2667305"/>
            <a:ext cx="1581912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Note</a:t>
            </a:r>
            <a:endParaRPr lang="en-US" sz="1350" dirty="0"/>
          </a:p>
        </p:txBody>
      </p:sp>
      <p:sp>
        <p:nvSpPr>
          <p:cNvPr id="35" name="Shape 26"/>
          <p:cNvSpPr/>
          <p:nvPr/>
        </p:nvSpPr>
        <p:spPr>
          <a:xfrm>
            <a:off x="3372307" y="3195828"/>
            <a:ext cx="14249095" cy="304495"/>
          </a:xfrm>
          <a:prstGeom prst="rect">
            <a:avLst/>
          </a:prstGeom>
          <a:solidFill>
            <a:srgbClr val="1E22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10134295" y="3195828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M1-sub J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2230100" y="3195828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M1-M1 I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4134795" y="3195828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62" kern="0" dirty="0">
                <a:solidFill>
                  <a:srgbClr val="A8C8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BV @ 1μA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372307" y="3495751"/>
            <a:ext cx="14249095" cy="619049"/>
          </a:xfrm>
          <a:prstGeom prst="rect">
            <a:avLst/>
          </a:prstGeom>
          <a:solidFill>
            <a:srgbClr val="FB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3372307" y="4105656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3372307" y="3495751"/>
            <a:ext cx="857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650" dirty="0"/>
          </a:p>
        </p:txBody>
      </p:sp>
      <p:sp>
        <p:nvSpPr>
          <p:cNvPr id="42" name="Shape 33"/>
          <p:cNvSpPr/>
          <p:nvPr/>
        </p:nvSpPr>
        <p:spPr>
          <a:xfrm>
            <a:off x="4229100" y="4105656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086807" y="4105656"/>
            <a:ext cx="15243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086807" y="3495751"/>
            <a:ext cx="15243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0.86</a:t>
            </a:r>
            <a:endParaRPr lang="en-US" sz="1350" dirty="0"/>
          </a:p>
        </p:txBody>
      </p:sp>
      <p:sp>
        <p:nvSpPr>
          <p:cNvPr id="45" name="Shape 36"/>
          <p:cNvSpPr/>
          <p:nvPr/>
        </p:nvSpPr>
        <p:spPr>
          <a:xfrm>
            <a:off x="6610198" y="4105656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6610198" y="3495751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142</a:t>
            </a:r>
            <a:endParaRPr lang="en-US" sz="1350" dirty="0"/>
          </a:p>
        </p:txBody>
      </p:sp>
      <p:sp>
        <p:nvSpPr>
          <p:cNvPr id="47" name="Shape 38"/>
          <p:cNvSpPr/>
          <p:nvPr/>
        </p:nvSpPr>
        <p:spPr>
          <a:xfrm>
            <a:off x="8515807" y="4105656"/>
            <a:ext cx="1619402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8515807" y="3495751"/>
            <a:ext cx="161940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6.2</a:t>
            </a:r>
            <a:endParaRPr lang="en-US" sz="1350" dirty="0"/>
          </a:p>
        </p:txBody>
      </p:sp>
      <p:sp>
        <p:nvSpPr>
          <p:cNvPr id="49" name="Shape 40"/>
          <p:cNvSpPr/>
          <p:nvPr/>
        </p:nvSpPr>
        <p:spPr>
          <a:xfrm>
            <a:off x="10134295" y="4105656"/>
            <a:ext cx="20958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10134295" y="3495751"/>
            <a:ext cx="20958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22.4</a:t>
            </a:r>
            <a:endParaRPr lang="en-US" sz="1350" dirty="0"/>
          </a:p>
        </p:txBody>
      </p:sp>
      <p:sp>
        <p:nvSpPr>
          <p:cNvPr id="51" name="Shape 42"/>
          <p:cNvSpPr/>
          <p:nvPr/>
        </p:nvSpPr>
        <p:spPr>
          <a:xfrm>
            <a:off x="12230100" y="4105656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12230100" y="3495751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</a:t>
            </a:r>
            <a:endParaRPr lang="en-US" sz="1350" dirty="0"/>
          </a:p>
        </p:txBody>
      </p:sp>
      <p:sp>
        <p:nvSpPr>
          <p:cNvPr id="53" name="Shape 44"/>
          <p:cNvSpPr/>
          <p:nvPr/>
        </p:nvSpPr>
        <p:spPr>
          <a:xfrm>
            <a:off x="14134795" y="4105656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14134795" y="3495751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8.6</a:t>
            </a:r>
            <a:endParaRPr lang="en-US" sz="1350" dirty="0"/>
          </a:p>
        </p:txBody>
      </p:sp>
      <p:sp>
        <p:nvSpPr>
          <p:cNvPr id="55" name="Shape 46"/>
          <p:cNvSpPr/>
          <p:nvPr/>
        </p:nvSpPr>
        <p:spPr>
          <a:xfrm>
            <a:off x="16040405" y="4105656"/>
            <a:ext cx="15809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16040405" y="3495751"/>
            <a:ext cx="158191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기준 lot</a:t>
            </a:r>
            <a:endParaRPr lang="en-US" sz="1050" dirty="0"/>
          </a:p>
        </p:txBody>
      </p:sp>
      <p:sp>
        <p:nvSpPr>
          <p:cNvPr id="57" name="Shape 48"/>
          <p:cNvSpPr/>
          <p:nvPr/>
        </p:nvSpPr>
        <p:spPr>
          <a:xfrm>
            <a:off x="3372307" y="4114800"/>
            <a:ext cx="857707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49"/>
          <p:cNvSpPr/>
          <p:nvPr/>
        </p:nvSpPr>
        <p:spPr>
          <a:xfrm>
            <a:off x="3372307" y="4724705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3372307" y="4114800"/>
            <a:ext cx="857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650" dirty="0"/>
          </a:p>
        </p:txBody>
      </p:sp>
      <p:sp>
        <p:nvSpPr>
          <p:cNvPr id="60" name="Shape 51"/>
          <p:cNvSpPr/>
          <p:nvPr/>
        </p:nvSpPr>
        <p:spPr>
          <a:xfrm>
            <a:off x="4229100" y="4114800"/>
            <a:ext cx="857707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2"/>
          <p:cNvSpPr/>
          <p:nvPr/>
        </p:nvSpPr>
        <p:spPr>
          <a:xfrm>
            <a:off x="4229100" y="4724705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5086807" y="4114800"/>
            <a:ext cx="152430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4"/>
          <p:cNvSpPr/>
          <p:nvPr/>
        </p:nvSpPr>
        <p:spPr>
          <a:xfrm>
            <a:off x="5086807" y="4724705"/>
            <a:ext cx="15243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5086807" y="4114800"/>
            <a:ext cx="15243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</a:t>
            </a:r>
            <a:endParaRPr lang="en-US" sz="1350" dirty="0"/>
          </a:p>
        </p:txBody>
      </p:sp>
      <p:sp>
        <p:nvSpPr>
          <p:cNvPr id="65" name="Shape 56"/>
          <p:cNvSpPr/>
          <p:nvPr/>
        </p:nvSpPr>
        <p:spPr>
          <a:xfrm>
            <a:off x="6610198" y="4114800"/>
            <a:ext cx="190469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57"/>
          <p:cNvSpPr/>
          <p:nvPr/>
        </p:nvSpPr>
        <p:spPr>
          <a:xfrm>
            <a:off x="6610198" y="4724705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67" name="Text 58"/>
          <p:cNvSpPr txBox="1"/>
          <p:nvPr/>
        </p:nvSpPr>
        <p:spPr>
          <a:xfrm>
            <a:off x="6610198" y="4114800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144</a:t>
            </a:r>
            <a:endParaRPr lang="en-US" sz="1350" dirty="0"/>
          </a:p>
        </p:txBody>
      </p:sp>
      <p:sp>
        <p:nvSpPr>
          <p:cNvPr id="68" name="Shape 59"/>
          <p:cNvSpPr/>
          <p:nvPr/>
        </p:nvSpPr>
        <p:spPr>
          <a:xfrm>
            <a:off x="8515807" y="4114800"/>
            <a:ext cx="1619402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0"/>
          <p:cNvSpPr/>
          <p:nvPr/>
        </p:nvSpPr>
        <p:spPr>
          <a:xfrm>
            <a:off x="8515807" y="4724705"/>
            <a:ext cx="1619402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8515807" y="4114800"/>
            <a:ext cx="161940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6.4</a:t>
            </a:r>
            <a:endParaRPr lang="en-US" sz="1350" dirty="0"/>
          </a:p>
        </p:txBody>
      </p:sp>
      <p:sp>
        <p:nvSpPr>
          <p:cNvPr id="71" name="Shape 62"/>
          <p:cNvSpPr/>
          <p:nvPr/>
        </p:nvSpPr>
        <p:spPr>
          <a:xfrm>
            <a:off x="10134295" y="4114800"/>
            <a:ext cx="209580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63"/>
          <p:cNvSpPr/>
          <p:nvPr/>
        </p:nvSpPr>
        <p:spPr>
          <a:xfrm>
            <a:off x="10134295" y="4724705"/>
            <a:ext cx="20958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3" name="Text 64"/>
          <p:cNvSpPr txBox="1"/>
          <p:nvPr/>
        </p:nvSpPr>
        <p:spPr>
          <a:xfrm>
            <a:off x="10134295" y="4114800"/>
            <a:ext cx="20958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19.1</a:t>
            </a:r>
            <a:endParaRPr lang="en-US" sz="1350" dirty="0"/>
          </a:p>
        </p:txBody>
      </p:sp>
      <p:sp>
        <p:nvSpPr>
          <p:cNvPr id="74" name="Shape 65"/>
          <p:cNvSpPr/>
          <p:nvPr/>
        </p:nvSpPr>
        <p:spPr>
          <a:xfrm>
            <a:off x="12230100" y="4114800"/>
            <a:ext cx="190469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66"/>
          <p:cNvSpPr/>
          <p:nvPr/>
        </p:nvSpPr>
        <p:spPr>
          <a:xfrm>
            <a:off x="12230100" y="4724705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6" name="Text 67"/>
          <p:cNvSpPr txBox="1"/>
          <p:nvPr/>
        </p:nvSpPr>
        <p:spPr>
          <a:xfrm>
            <a:off x="12230100" y="4114800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</a:t>
            </a:r>
            <a:endParaRPr lang="en-US" sz="1350" dirty="0"/>
          </a:p>
        </p:txBody>
      </p:sp>
      <p:sp>
        <p:nvSpPr>
          <p:cNvPr id="77" name="Shape 68"/>
          <p:cNvSpPr/>
          <p:nvPr/>
        </p:nvSpPr>
        <p:spPr>
          <a:xfrm>
            <a:off x="14134795" y="4114800"/>
            <a:ext cx="190469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69"/>
          <p:cNvSpPr/>
          <p:nvPr/>
        </p:nvSpPr>
        <p:spPr>
          <a:xfrm>
            <a:off x="14134795" y="4724705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79" name="Text 70"/>
          <p:cNvSpPr txBox="1"/>
          <p:nvPr/>
        </p:nvSpPr>
        <p:spPr>
          <a:xfrm>
            <a:off x="14134795" y="4114800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8.5</a:t>
            </a:r>
            <a:endParaRPr lang="en-US" sz="1350" dirty="0"/>
          </a:p>
        </p:txBody>
      </p:sp>
      <p:sp>
        <p:nvSpPr>
          <p:cNvPr id="80" name="Shape 71"/>
          <p:cNvSpPr/>
          <p:nvPr/>
        </p:nvSpPr>
        <p:spPr>
          <a:xfrm>
            <a:off x="16040405" y="4114800"/>
            <a:ext cx="1580998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2"/>
          <p:cNvSpPr/>
          <p:nvPr/>
        </p:nvSpPr>
        <p:spPr>
          <a:xfrm>
            <a:off x="16040405" y="4724705"/>
            <a:ext cx="15809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2" name="Text 73"/>
          <p:cNvSpPr txBox="1"/>
          <p:nvPr/>
        </p:nvSpPr>
        <p:spPr>
          <a:xfrm>
            <a:off x="16040405" y="4114800"/>
            <a:ext cx="158191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replicate A</a:t>
            </a:r>
            <a:endParaRPr lang="en-US" sz="1050" dirty="0"/>
          </a:p>
        </p:txBody>
      </p:sp>
      <p:sp>
        <p:nvSpPr>
          <p:cNvPr id="83" name="Shape 74"/>
          <p:cNvSpPr/>
          <p:nvPr/>
        </p:nvSpPr>
        <p:spPr>
          <a:xfrm>
            <a:off x="3372307" y="4733849"/>
            <a:ext cx="857707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84" name="Shape 75"/>
          <p:cNvSpPr/>
          <p:nvPr/>
        </p:nvSpPr>
        <p:spPr>
          <a:xfrm>
            <a:off x="3372307" y="5343754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5" name="Text 76"/>
          <p:cNvSpPr txBox="1"/>
          <p:nvPr/>
        </p:nvSpPr>
        <p:spPr>
          <a:xfrm>
            <a:off x="3372307" y="4733849"/>
            <a:ext cx="857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650" dirty="0"/>
          </a:p>
        </p:txBody>
      </p:sp>
      <p:sp>
        <p:nvSpPr>
          <p:cNvPr id="86" name="Shape 77"/>
          <p:cNvSpPr/>
          <p:nvPr/>
        </p:nvSpPr>
        <p:spPr>
          <a:xfrm>
            <a:off x="4229100" y="4733849"/>
            <a:ext cx="857707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87" name="Shape 78"/>
          <p:cNvSpPr/>
          <p:nvPr/>
        </p:nvSpPr>
        <p:spPr>
          <a:xfrm>
            <a:off x="4229100" y="5343754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88" name="Shape 79"/>
          <p:cNvSpPr/>
          <p:nvPr/>
        </p:nvSpPr>
        <p:spPr>
          <a:xfrm>
            <a:off x="5086807" y="4733849"/>
            <a:ext cx="1524305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89" name="Shape 80"/>
          <p:cNvSpPr/>
          <p:nvPr/>
        </p:nvSpPr>
        <p:spPr>
          <a:xfrm>
            <a:off x="5086807" y="5343754"/>
            <a:ext cx="15243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0" name="Text 81"/>
          <p:cNvSpPr txBox="1"/>
          <p:nvPr/>
        </p:nvSpPr>
        <p:spPr>
          <a:xfrm>
            <a:off x="5086807" y="4733849"/>
            <a:ext cx="15243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0.79</a:t>
            </a:r>
            <a:endParaRPr lang="en-US" sz="1350" dirty="0"/>
          </a:p>
        </p:txBody>
      </p:sp>
      <p:sp>
        <p:nvSpPr>
          <p:cNvPr id="91" name="Shape 82"/>
          <p:cNvSpPr/>
          <p:nvPr/>
        </p:nvSpPr>
        <p:spPr>
          <a:xfrm>
            <a:off x="6610198" y="4733849"/>
            <a:ext cx="1904695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92" name="Shape 83"/>
          <p:cNvSpPr/>
          <p:nvPr/>
        </p:nvSpPr>
        <p:spPr>
          <a:xfrm>
            <a:off x="6610198" y="5343754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3" name="Text 84"/>
          <p:cNvSpPr txBox="1"/>
          <p:nvPr/>
        </p:nvSpPr>
        <p:spPr>
          <a:xfrm>
            <a:off x="6610198" y="4733849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132</a:t>
            </a:r>
            <a:endParaRPr lang="en-US" sz="1350" dirty="0"/>
          </a:p>
        </p:txBody>
      </p:sp>
      <p:sp>
        <p:nvSpPr>
          <p:cNvPr id="94" name="Shape 85"/>
          <p:cNvSpPr/>
          <p:nvPr/>
        </p:nvSpPr>
        <p:spPr>
          <a:xfrm>
            <a:off x="8515807" y="4733849"/>
            <a:ext cx="1619402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95" name="Shape 86"/>
          <p:cNvSpPr/>
          <p:nvPr/>
        </p:nvSpPr>
        <p:spPr>
          <a:xfrm>
            <a:off x="8515807" y="5343754"/>
            <a:ext cx="1619402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6" name="Text 87"/>
          <p:cNvSpPr txBox="1"/>
          <p:nvPr/>
        </p:nvSpPr>
        <p:spPr>
          <a:xfrm>
            <a:off x="8515807" y="4733849"/>
            <a:ext cx="161940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5.7</a:t>
            </a:r>
            <a:endParaRPr lang="en-US" sz="1350" dirty="0"/>
          </a:p>
        </p:txBody>
      </p:sp>
      <p:sp>
        <p:nvSpPr>
          <p:cNvPr id="97" name="Shape 88"/>
          <p:cNvSpPr/>
          <p:nvPr/>
        </p:nvSpPr>
        <p:spPr>
          <a:xfrm>
            <a:off x="10134295" y="4733849"/>
            <a:ext cx="2095805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98" name="Shape 89"/>
          <p:cNvSpPr/>
          <p:nvPr/>
        </p:nvSpPr>
        <p:spPr>
          <a:xfrm>
            <a:off x="10134295" y="5343754"/>
            <a:ext cx="20958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99" name="Text 90"/>
          <p:cNvSpPr txBox="1"/>
          <p:nvPr/>
        </p:nvSpPr>
        <p:spPr>
          <a:xfrm>
            <a:off x="10134295" y="4733849"/>
            <a:ext cx="20958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31.6</a:t>
            </a:r>
            <a:endParaRPr lang="en-US" sz="1350" dirty="0"/>
          </a:p>
        </p:txBody>
      </p:sp>
      <p:sp>
        <p:nvSpPr>
          <p:cNvPr id="100" name="Shape 91"/>
          <p:cNvSpPr/>
          <p:nvPr/>
        </p:nvSpPr>
        <p:spPr>
          <a:xfrm>
            <a:off x="12230100" y="4733849"/>
            <a:ext cx="1904695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01" name="Shape 92"/>
          <p:cNvSpPr/>
          <p:nvPr/>
        </p:nvSpPr>
        <p:spPr>
          <a:xfrm>
            <a:off x="12230100" y="5343754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2" name="Text 93"/>
          <p:cNvSpPr txBox="1"/>
          <p:nvPr/>
        </p:nvSpPr>
        <p:spPr>
          <a:xfrm>
            <a:off x="12230100" y="4733849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1.7</a:t>
            </a:r>
            <a:endParaRPr lang="en-US" sz="1350" dirty="0"/>
          </a:p>
        </p:txBody>
      </p:sp>
      <p:sp>
        <p:nvSpPr>
          <p:cNvPr id="103" name="Shape 94"/>
          <p:cNvSpPr/>
          <p:nvPr/>
        </p:nvSpPr>
        <p:spPr>
          <a:xfrm>
            <a:off x="14134795" y="4733849"/>
            <a:ext cx="1904695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04" name="Shape 95"/>
          <p:cNvSpPr/>
          <p:nvPr/>
        </p:nvSpPr>
        <p:spPr>
          <a:xfrm>
            <a:off x="14134795" y="5343754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5" name="Text 96"/>
          <p:cNvSpPr txBox="1"/>
          <p:nvPr/>
        </p:nvSpPr>
        <p:spPr>
          <a:xfrm>
            <a:off x="14134795" y="4733849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7.9</a:t>
            </a:r>
            <a:endParaRPr lang="en-US" sz="1350" dirty="0"/>
          </a:p>
        </p:txBody>
      </p:sp>
      <p:sp>
        <p:nvSpPr>
          <p:cNvPr id="106" name="Shape 97"/>
          <p:cNvSpPr/>
          <p:nvPr/>
        </p:nvSpPr>
        <p:spPr>
          <a:xfrm>
            <a:off x="16040405" y="4733849"/>
            <a:ext cx="1580998" cy="619049"/>
          </a:xfrm>
          <a:prstGeom prst="rect">
            <a:avLst/>
          </a:prstGeom>
          <a:solidFill>
            <a:srgbClr val="FFEAE3"/>
          </a:solidFill>
          <a:ln/>
        </p:spPr>
      </p:sp>
      <p:sp>
        <p:nvSpPr>
          <p:cNvPr id="107" name="Shape 98"/>
          <p:cNvSpPr/>
          <p:nvPr/>
        </p:nvSpPr>
        <p:spPr>
          <a:xfrm>
            <a:off x="16040405" y="5343754"/>
            <a:ext cx="15809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08" name="Text 99"/>
          <p:cNvSpPr txBox="1"/>
          <p:nvPr/>
        </p:nvSpPr>
        <p:spPr>
          <a:xfrm>
            <a:off x="16040405" y="4733849"/>
            <a:ext cx="158191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483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BV 저하 0.7 V</a:t>
            </a:r>
            <a:endParaRPr lang="en-US" sz="1050" dirty="0"/>
          </a:p>
        </p:txBody>
      </p:sp>
      <p:sp>
        <p:nvSpPr>
          <p:cNvPr id="109" name="Shape 100"/>
          <p:cNvSpPr/>
          <p:nvPr/>
        </p:nvSpPr>
        <p:spPr>
          <a:xfrm>
            <a:off x="3372307" y="5352898"/>
            <a:ext cx="857707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10" name="Shape 101"/>
          <p:cNvSpPr/>
          <p:nvPr/>
        </p:nvSpPr>
        <p:spPr>
          <a:xfrm>
            <a:off x="3372307" y="5962802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1" name="Text 102"/>
          <p:cNvSpPr txBox="1"/>
          <p:nvPr/>
        </p:nvSpPr>
        <p:spPr>
          <a:xfrm>
            <a:off x="3372307" y="5352898"/>
            <a:ext cx="857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W04</a:t>
            </a:r>
            <a:endParaRPr lang="en-US" sz="1650" dirty="0"/>
          </a:p>
        </p:txBody>
      </p:sp>
      <p:sp>
        <p:nvSpPr>
          <p:cNvPr id="112" name="Shape 103"/>
          <p:cNvSpPr/>
          <p:nvPr/>
        </p:nvSpPr>
        <p:spPr>
          <a:xfrm>
            <a:off x="4229100" y="5352898"/>
            <a:ext cx="857707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13" name="Shape 104"/>
          <p:cNvSpPr/>
          <p:nvPr/>
        </p:nvSpPr>
        <p:spPr>
          <a:xfrm>
            <a:off x="4229100" y="5962802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4" name="Shape 105"/>
          <p:cNvSpPr/>
          <p:nvPr/>
        </p:nvSpPr>
        <p:spPr>
          <a:xfrm>
            <a:off x="5086807" y="5352898"/>
            <a:ext cx="1524305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15" name="Shape 106"/>
          <p:cNvSpPr/>
          <p:nvPr/>
        </p:nvSpPr>
        <p:spPr>
          <a:xfrm>
            <a:off x="5086807" y="5962802"/>
            <a:ext cx="15243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6" name="Text 107"/>
          <p:cNvSpPr txBox="1"/>
          <p:nvPr/>
        </p:nvSpPr>
        <p:spPr>
          <a:xfrm>
            <a:off x="5086807" y="5352898"/>
            <a:ext cx="15243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0.81</a:t>
            </a:r>
            <a:endParaRPr lang="en-US" sz="1350" dirty="0"/>
          </a:p>
        </p:txBody>
      </p:sp>
      <p:sp>
        <p:nvSpPr>
          <p:cNvPr id="117" name="Shape 108"/>
          <p:cNvSpPr/>
          <p:nvPr/>
        </p:nvSpPr>
        <p:spPr>
          <a:xfrm>
            <a:off x="6610198" y="5352898"/>
            <a:ext cx="1904695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18" name="Shape 109"/>
          <p:cNvSpPr/>
          <p:nvPr/>
        </p:nvSpPr>
        <p:spPr>
          <a:xfrm>
            <a:off x="6610198" y="5962802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19" name="Text 110"/>
          <p:cNvSpPr txBox="1"/>
          <p:nvPr/>
        </p:nvSpPr>
        <p:spPr>
          <a:xfrm>
            <a:off x="6610198" y="5352898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135</a:t>
            </a:r>
            <a:endParaRPr lang="en-US" sz="1350" dirty="0"/>
          </a:p>
        </p:txBody>
      </p:sp>
      <p:sp>
        <p:nvSpPr>
          <p:cNvPr id="120" name="Shape 111"/>
          <p:cNvSpPr/>
          <p:nvPr/>
        </p:nvSpPr>
        <p:spPr>
          <a:xfrm>
            <a:off x="8515807" y="5352898"/>
            <a:ext cx="1619402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21" name="Shape 112"/>
          <p:cNvSpPr/>
          <p:nvPr/>
        </p:nvSpPr>
        <p:spPr>
          <a:xfrm>
            <a:off x="8515807" y="5962802"/>
            <a:ext cx="1619402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2" name="Text 113"/>
          <p:cNvSpPr txBox="1"/>
          <p:nvPr/>
        </p:nvSpPr>
        <p:spPr>
          <a:xfrm>
            <a:off x="8515807" y="5352898"/>
            <a:ext cx="161940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5.9</a:t>
            </a:r>
            <a:endParaRPr lang="en-US" sz="1350" dirty="0"/>
          </a:p>
        </p:txBody>
      </p:sp>
      <p:sp>
        <p:nvSpPr>
          <p:cNvPr id="123" name="Shape 114"/>
          <p:cNvSpPr/>
          <p:nvPr/>
        </p:nvSpPr>
        <p:spPr>
          <a:xfrm>
            <a:off x="10134295" y="5352898"/>
            <a:ext cx="2095805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24" name="Shape 115"/>
          <p:cNvSpPr/>
          <p:nvPr/>
        </p:nvSpPr>
        <p:spPr>
          <a:xfrm>
            <a:off x="10134295" y="5962802"/>
            <a:ext cx="20958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5" name="Text 116"/>
          <p:cNvSpPr txBox="1"/>
          <p:nvPr/>
        </p:nvSpPr>
        <p:spPr>
          <a:xfrm>
            <a:off x="10134295" y="5352898"/>
            <a:ext cx="20958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28.3</a:t>
            </a:r>
            <a:endParaRPr lang="en-US" sz="1350" dirty="0"/>
          </a:p>
        </p:txBody>
      </p:sp>
      <p:sp>
        <p:nvSpPr>
          <p:cNvPr id="126" name="Shape 117"/>
          <p:cNvSpPr/>
          <p:nvPr/>
        </p:nvSpPr>
        <p:spPr>
          <a:xfrm>
            <a:off x="12230100" y="5352898"/>
            <a:ext cx="1904695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27" name="Shape 118"/>
          <p:cNvSpPr/>
          <p:nvPr/>
        </p:nvSpPr>
        <p:spPr>
          <a:xfrm>
            <a:off x="12230100" y="5962802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28" name="Text 119"/>
          <p:cNvSpPr txBox="1"/>
          <p:nvPr/>
        </p:nvSpPr>
        <p:spPr>
          <a:xfrm>
            <a:off x="12230100" y="5352898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</a:t>
            </a:r>
            <a:endParaRPr lang="en-US" sz="1350" dirty="0"/>
          </a:p>
        </p:txBody>
      </p:sp>
      <p:sp>
        <p:nvSpPr>
          <p:cNvPr id="129" name="Shape 120"/>
          <p:cNvSpPr/>
          <p:nvPr/>
        </p:nvSpPr>
        <p:spPr>
          <a:xfrm>
            <a:off x="14134795" y="5352898"/>
            <a:ext cx="1904695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30" name="Shape 121"/>
          <p:cNvSpPr/>
          <p:nvPr/>
        </p:nvSpPr>
        <p:spPr>
          <a:xfrm>
            <a:off x="14134795" y="5962802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31" name="Text 122"/>
          <p:cNvSpPr txBox="1"/>
          <p:nvPr/>
        </p:nvSpPr>
        <p:spPr>
          <a:xfrm>
            <a:off x="14134795" y="5352898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</a:t>
            </a:r>
            <a:endParaRPr lang="en-US" sz="1350" dirty="0"/>
          </a:p>
        </p:txBody>
      </p:sp>
      <p:sp>
        <p:nvSpPr>
          <p:cNvPr id="132" name="Shape 123"/>
          <p:cNvSpPr/>
          <p:nvPr/>
        </p:nvSpPr>
        <p:spPr>
          <a:xfrm>
            <a:off x="16040405" y="5352898"/>
            <a:ext cx="1580998" cy="619049"/>
          </a:xfrm>
          <a:prstGeom prst="rect">
            <a:avLst/>
          </a:prstGeom>
          <a:solidFill>
            <a:srgbClr val="FBF1DC"/>
          </a:solidFill>
          <a:ln/>
        </p:spPr>
      </p:sp>
      <p:sp>
        <p:nvSpPr>
          <p:cNvPr id="133" name="Shape 124"/>
          <p:cNvSpPr/>
          <p:nvPr/>
        </p:nvSpPr>
        <p:spPr>
          <a:xfrm>
            <a:off x="16040405" y="5962802"/>
            <a:ext cx="15809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34" name="Text 125"/>
          <p:cNvSpPr txBox="1"/>
          <p:nvPr/>
        </p:nvSpPr>
        <p:spPr>
          <a:xfrm>
            <a:off x="16040405" y="5352898"/>
            <a:ext cx="158191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replicate B</a:t>
            </a:r>
            <a:endParaRPr lang="en-US" sz="1050" dirty="0"/>
          </a:p>
        </p:txBody>
      </p:sp>
      <p:sp>
        <p:nvSpPr>
          <p:cNvPr id="135" name="Shape 126"/>
          <p:cNvSpPr/>
          <p:nvPr/>
        </p:nvSpPr>
        <p:spPr>
          <a:xfrm>
            <a:off x="3372307" y="5971946"/>
            <a:ext cx="857707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36" name="Shape 127"/>
          <p:cNvSpPr/>
          <p:nvPr/>
        </p:nvSpPr>
        <p:spPr>
          <a:xfrm>
            <a:off x="3372307" y="6581851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37" name="Text 128"/>
          <p:cNvSpPr txBox="1"/>
          <p:nvPr/>
        </p:nvSpPr>
        <p:spPr>
          <a:xfrm>
            <a:off x="3372307" y="5971946"/>
            <a:ext cx="8577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W05</a:t>
            </a:r>
            <a:endParaRPr lang="en-US" sz="1650" dirty="0"/>
          </a:p>
        </p:txBody>
      </p:sp>
      <p:sp>
        <p:nvSpPr>
          <p:cNvPr id="138" name="Shape 129"/>
          <p:cNvSpPr/>
          <p:nvPr/>
        </p:nvSpPr>
        <p:spPr>
          <a:xfrm>
            <a:off x="4229100" y="5971946"/>
            <a:ext cx="857707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39" name="Shape 130"/>
          <p:cNvSpPr/>
          <p:nvPr/>
        </p:nvSpPr>
        <p:spPr>
          <a:xfrm>
            <a:off x="4229100" y="6581851"/>
            <a:ext cx="857707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40" name="Shape 131"/>
          <p:cNvSpPr/>
          <p:nvPr/>
        </p:nvSpPr>
        <p:spPr>
          <a:xfrm>
            <a:off x="5086807" y="5971946"/>
            <a:ext cx="1524305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41" name="Shape 132"/>
          <p:cNvSpPr/>
          <p:nvPr/>
        </p:nvSpPr>
        <p:spPr>
          <a:xfrm>
            <a:off x="5086807" y="6581851"/>
            <a:ext cx="15243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42" name="Text 133"/>
          <p:cNvSpPr txBox="1"/>
          <p:nvPr/>
        </p:nvSpPr>
        <p:spPr>
          <a:xfrm>
            <a:off x="5086807" y="5971946"/>
            <a:ext cx="15243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</a:t>
            </a:r>
            <a:endParaRPr lang="en-US" sz="1350" dirty="0"/>
          </a:p>
        </p:txBody>
      </p:sp>
      <p:sp>
        <p:nvSpPr>
          <p:cNvPr id="143" name="Shape 134"/>
          <p:cNvSpPr/>
          <p:nvPr/>
        </p:nvSpPr>
        <p:spPr>
          <a:xfrm>
            <a:off x="6610198" y="5971946"/>
            <a:ext cx="1904695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44" name="Shape 135"/>
          <p:cNvSpPr/>
          <p:nvPr/>
        </p:nvSpPr>
        <p:spPr>
          <a:xfrm>
            <a:off x="6610198" y="6581851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45" name="Text 136"/>
          <p:cNvSpPr txBox="1"/>
          <p:nvPr/>
        </p:nvSpPr>
        <p:spPr>
          <a:xfrm>
            <a:off x="6610198" y="5971946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154</a:t>
            </a:r>
            <a:endParaRPr lang="en-US" sz="1350" dirty="0"/>
          </a:p>
        </p:txBody>
      </p:sp>
      <p:sp>
        <p:nvSpPr>
          <p:cNvPr id="146" name="Shape 137"/>
          <p:cNvSpPr/>
          <p:nvPr/>
        </p:nvSpPr>
        <p:spPr>
          <a:xfrm>
            <a:off x="8515807" y="5971946"/>
            <a:ext cx="1619402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47" name="Shape 138"/>
          <p:cNvSpPr/>
          <p:nvPr/>
        </p:nvSpPr>
        <p:spPr>
          <a:xfrm>
            <a:off x="8515807" y="6581851"/>
            <a:ext cx="1619402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48" name="Text 139"/>
          <p:cNvSpPr txBox="1"/>
          <p:nvPr/>
        </p:nvSpPr>
        <p:spPr>
          <a:xfrm>
            <a:off x="8515807" y="5971946"/>
            <a:ext cx="161940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6.9</a:t>
            </a:r>
            <a:endParaRPr lang="en-US" sz="1350" dirty="0"/>
          </a:p>
        </p:txBody>
      </p:sp>
      <p:sp>
        <p:nvSpPr>
          <p:cNvPr id="149" name="Shape 140"/>
          <p:cNvSpPr/>
          <p:nvPr/>
        </p:nvSpPr>
        <p:spPr>
          <a:xfrm>
            <a:off x="10134295" y="5971946"/>
            <a:ext cx="2095805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50" name="Shape 141"/>
          <p:cNvSpPr/>
          <p:nvPr/>
        </p:nvSpPr>
        <p:spPr>
          <a:xfrm>
            <a:off x="10134295" y="6581851"/>
            <a:ext cx="209580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51" name="Text 142"/>
          <p:cNvSpPr txBox="1"/>
          <p:nvPr/>
        </p:nvSpPr>
        <p:spPr>
          <a:xfrm>
            <a:off x="10134295" y="5971946"/>
            <a:ext cx="2095805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17.4</a:t>
            </a:r>
            <a:endParaRPr lang="en-US" sz="1350" dirty="0"/>
          </a:p>
        </p:txBody>
      </p:sp>
      <p:sp>
        <p:nvSpPr>
          <p:cNvPr id="152" name="Shape 143"/>
          <p:cNvSpPr/>
          <p:nvPr/>
        </p:nvSpPr>
        <p:spPr>
          <a:xfrm>
            <a:off x="12230100" y="5971946"/>
            <a:ext cx="1904695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53" name="Shape 144"/>
          <p:cNvSpPr/>
          <p:nvPr/>
        </p:nvSpPr>
        <p:spPr>
          <a:xfrm>
            <a:off x="12230100" y="6581851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54" name="Text 145"/>
          <p:cNvSpPr txBox="1"/>
          <p:nvPr/>
        </p:nvSpPr>
        <p:spPr>
          <a:xfrm>
            <a:off x="12230100" y="5971946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</a:t>
            </a:r>
            <a:endParaRPr lang="en-US" sz="1350" dirty="0"/>
          </a:p>
        </p:txBody>
      </p:sp>
      <p:sp>
        <p:nvSpPr>
          <p:cNvPr id="155" name="Shape 146"/>
          <p:cNvSpPr/>
          <p:nvPr/>
        </p:nvSpPr>
        <p:spPr>
          <a:xfrm>
            <a:off x="14134795" y="5971946"/>
            <a:ext cx="1904695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56" name="Shape 147"/>
          <p:cNvSpPr/>
          <p:nvPr/>
        </p:nvSpPr>
        <p:spPr>
          <a:xfrm>
            <a:off x="14134795" y="6581851"/>
            <a:ext cx="1904695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57" name="Text 148"/>
          <p:cNvSpPr txBox="1"/>
          <p:nvPr/>
        </p:nvSpPr>
        <p:spPr>
          <a:xfrm>
            <a:off x="14134795" y="5971946"/>
            <a:ext cx="1905610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8.8</a:t>
            </a:r>
            <a:endParaRPr lang="en-US" sz="1350" dirty="0"/>
          </a:p>
        </p:txBody>
      </p:sp>
      <p:sp>
        <p:nvSpPr>
          <p:cNvPr id="158" name="Shape 149"/>
          <p:cNvSpPr/>
          <p:nvPr/>
        </p:nvSpPr>
        <p:spPr>
          <a:xfrm>
            <a:off x="16040405" y="5971946"/>
            <a:ext cx="1580998" cy="619049"/>
          </a:xfrm>
          <a:prstGeom prst="rect">
            <a:avLst/>
          </a:prstGeom>
          <a:solidFill>
            <a:srgbClr val="E8EFE3"/>
          </a:solidFill>
          <a:ln/>
        </p:spPr>
      </p:sp>
      <p:sp>
        <p:nvSpPr>
          <p:cNvPr id="159" name="Shape 150"/>
          <p:cNvSpPr/>
          <p:nvPr/>
        </p:nvSpPr>
        <p:spPr>
          <a:xfrm>
            <a:off x="16040405" y="6581851"/>
            <a:ext cx="1580998" cy="9144"/>
          </a:xfrm>
          <a:prstGeom prst="rect">
            <a:avLst/>
          </a:prstGeom>
          <a:solidFill>
            <a:srgbClr val="D9D2C2"/>
          </a:solidFill>
          <a:ln w="12700">
            <a:solidFill>
              <a:srgbClr val="D9D2C2">
                <a:alpha val="0"/>
              </a:srgbClr>
            </a:solidFill>
            <a:prstDash val="solid"/>
          </a:ln>
        </p:spPr>
      </p:sp>
      <p:sp>
        <p:nvSpPr>
          <p:cNvPr id="160" name="Text 151"/>
          <p:cNvSpPr txBox="1"/>
          <p:nvPr/>
        </p:nvSpPr>
        <p:spPr>
          <a:xfrm>
            <a:off x="16040405" y="5971946"/>
            <a:ext cx="1581912" cy="4773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F6B4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누설 최저</a:t>
            </a:r>
            <a:endParaRPr lang="en-US" sz="1050" dirty="0"/>
          </a:p>
        </p:txBody>
      </p:sp>
      <p:sp>
        <p:nvSpPr>
          <p:cNvPr id="161" name="Text 152"/>
          <p:cNvSpPr txBox="1"/>
          <p:nvPr/>
        </p:nvSpPr>
        <p:spPr>
          <a:xfrm>
            <a:off x="3372307" y="6590995"/>
            <a:ext cx="857707" cy="6199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77800" rIns="139700" bIns="17780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W06</a:t>
            </a:r>
            <a:endParaRPr lang="en-US" sz="1650" dirty="0"/>
          </a:p>
        </p:txBody>
      </p:sp>
      <p:sp>
        <p:nvSpPr>
          <p:cNvPr id="162" name="Shape 153"/>
          <p:cNvSpPr/>
          <p:nvPr/>
        </p:nvSpPr>
        <p:spPr>
          <a:xfrm>
            <a:off x="4229100" y="6590995"/>
            <a:ext cx="857707" cy="619049"/>
          </a:xfrm>
          <a:prstGeom prst="rect">
            <a:avLst/>
          </a:prstGeom>
          <a:solidFill>
            <a:srgbClr val="FB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Text 154"/>
          <p:cNvSpPr txBox="1"/>
          <p:nvPr/>
        </p:nvSpPr>
        <p:spPr>
          <a:xfrm>
            <a:off x="5086807" y="6590995"/>
            <a:ext cx="1524305" cy="6199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0.91</a:t>
            </a:r>
            <a:endParaRPr lang="en-US" sz="1350" dirty="0"/>
          </a:p>
        </p:txBody>
      </p:sp>
      <p:sp>
        <p:nvSpPr>
          <p:cNvPr id="164" name="Text 155"/>
          <p:cNvSpPr txBox="1"/>
          <p:nvPr/>
        </p:nvSpPr>
        <p:spPr>
          <a:xfrm>
            <a:off x="6610198" y="6590995"/>
            <a:ext cx="1905610" cy="6199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152</a:t>
            </a:r>
            <a:endParaRPr lang="en-US" sz="1350" dirty="0"/>
          </a:p>
        </p:txBody>
      </p:sp>
      <p:sp>
        <p:nvSpPr>
          <p:cNvPr id="165" name="Text 156"/>
          <p:cNvSpPr txBox="1"/>
          <p:nvPr/>
        </p:nvSpPr>
        <p:spPr>
          <a:xfrm>
            <a:off x="8515807" y="6590995"/>
            <a:ext cx="1619402" cy="6199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6.8</a:t>
            </a:r>
            <a:endParaRPr lang="en-US" sz="1350" dirty="0"/>
          </a:p>
        </p:txBody>
      </p:sp>
      <p:sp>
        <p:nvSpPr>
          <p:cNvPr id="166" name="Text 157"/>
          <p:cNvSpPr txBox="1"/>
          <p:nvPr/>
        </p:nvSpPr>
        <p:spPr>
          <a:xfrm>
            <a:off x="10134295" y="6590995"/>
            <a:ext cx="2095805" cy="6199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18.6</a:t>
            </a:r>
            <a:endParaRPr lang="en-US" sz="1350" dirty="0"/>
          </a:p>
        </p:txBody>
      </p:sp>
      <p:sp>
        <p:nvSpPr>
          <p:cNvPr id="167" name="Text 158"/>
          <p:cNvSpPr txBox="1"/>
          <p:nvPr/>
        </p:nvSpPr>
        <p:spPr>
          <a:xfrm>
            <a:off x="12230100" y="6590995"/>
            <a:ext cx="1905610" cy="6199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</a:t>
            </a:r>
            <a:endParaRPr lang="en-US" sz="1350" dirty="0"/>
          </a:p>
        </p:txBody>
      </p:sp>
      <p:sp>
        <p:nvSpPr>
          <p:cNvPr id="168" name="Text 159"/>
          <p:cNvSpPr txBox="1"/>
          <p:nvPr/>
        </p:nvSpPr>
        <p:spPr>
          <a:xfrm>
            <a:off x="14134795" y="6590995"/>
            <a:ext cx="1905610" cy="6199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139700" rIns="76200" bIns="1397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8.7</a:t>
            </a:r>
            <a:endParaRPr lang="en-US" sz="1350" dirty="0"/>
          </a:p>
        </p:txBody>
      </p:sp>
      <p:sp>
        <p:nvSpPr>
          <p:cNvPr id="169" name="Text 160"/>
          <p:cNvSpPr txBox="1"/>
          <p:nvPr/>
        </p:nvSpPr>
        <p:spPr>
          <a:xfrm>
            <a:off x="16040405" y="6590995"/>
            <a:ext cx="1581912" cy="619963"/>
          </a:xfrm>
          <a:prstGeom prst="rect">
            <a:avLst/>
          </a:prstGeom>
          <a:solidFill>
            <a:srgbClr val="FBF8F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replicate C</a:t>
            </a:r>
            <a:endParaRPr lang="en-US" sz="1050" dirty="0"/>
          </a:p>
        </p:txBody>
      </p:sp>
      <p:sp>
        <p:nvSpPr>
          <p:cNvPr id="170" name="Shape 161"/>
          <p:cNvSpPr/>
          <p:nvPr/>
        </p:nvSpPr>
        <p:spPr>
          <a:xfrm>
            <a:off x="4442155" y="3685946"/>
            <a:ext cx="438912" cy="237744"/>
          </a:xfrm>
          <a:prstGeom prst="roundRect">
            <a:avLst>
              <a:gd name="adj" fmla="val 8077"/>
            </a:avLst>
          </a:prstGeom>
          <a:solidFill>
            <a:srgbClr val="1F5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Text 162"/>
          <p:cNvSpPr txBox="1"/>
          <p:nvPr/>
        </p:nvSpPr>
        <p:spPr>
          <a:xfrm>
            <a:off x="4442155" y="3685946"/>
            <a:ext cx="4389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ctr" indent="0" marL="0">
              <a:buNone/>
            </a:pPr>
            <a:r>
              <a:rPr lang="en-US" sz="975" b="1" spc="98" kern="0" dirty="0">
                <a:solidFill>
                  <a:srgbClr val="E8DC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975" dirty="0"/>
          </a:p>
        </p:txBody>
      </p:sp>
      <p:sp>
        <p:nvSpPr>
          <p:cNvPr id="172" name="Shape 163"/>
          <p:cNvSpPr/>
          <p:nvPr/>
        </p:nvSpPr>
        <p:spPr>
          <a:xfrm>
            <a:off x="4442155" y="4304995"/>
            <a:ext cx="438912" cy="237744"/>
          </a:xfrm>
          <a:prstGeom prst="roundRect">
            <a:avLst>
              <a:gd name="adj" fmla="val 8077"/>
            </a:avLst>
          </a:prstGeom>
          <a:solidFill>
            <a:srgbClr val="1F5F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Text 164"/>
          <p:cNvSpPr txBox="1"/>
          <p:nvPr/>
        </p:nvSpPr>
        <p:spPr>
          <a:xfrm>
            <a:off x="4442155" y="4304995"/>
            <a:ext cx="4389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ctr" indent="0" marL="0">
              <a:buNone/>
            </a:pPr>
            <a:r>
              <a:rPr lang="en-US" sz="975" b="1" spc="98" kern="0" dirty="0">
                <a:solidFill>
                  <a:srgbClr val="E8DC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975" dirty="0"/>
          </a:p>
        </p:txBody>
      </p:sp>
      <p:sp>
        <p:nvSpPr>
          <p:cNvPr id="174" name="Shape 165"/>
          <p:cNvSpPr/>
          <p:nvPr/>
        </p:nvSpPr>
        <p:spPr>
          <a:xfrm>
            <a:off x="4442155" y="4924044"/>
            <a:ext cx="438912" cy="237744"/>
          </a:xfrm>
          <a:prstGeom prst="roundRect">
            <a:avLst>
              <a:gd name="adj" fmla="val 8077"/>
            </a:avLst>
          </a:prstGeom>
          <a:solidFill>
            <a:srgbClr val="B048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Text 166"/>
          <p:cNvSpPr txBox="1"/>
          <p:nvPr/>
        </p:nvSpPr>
        <p:spPr>
          <a:xfrm>
            <a:off x="4442155" y="4924044"/>
            <a:ext cx="4389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ctr" indent="0" marL="0">
              <a:buNone/>
            </a:pPr>
            <a:r>
              <a:rPr lang="en-US" sz="975" b="1" spc="98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975" dirty="0"/>
          </a:p>
        </p:txBody>
      </p:sp>
      <p:sp>
        <p:nvSpPr>
          <p:cNvPr id="176" name="Shape 167"/>
          <p:cNvSpPr/>
          <p:nvPr/>
        </p:nvSpPr>
        <p:spPr>
          <a:xfrm>
            <a:off x="4442155" y="5544007"/>
            <a:ext cx="438912" cy="237744"/>
          </a:xfrm>
          <a:prstGeom prst="roundRect">
            <a:avLst>
              <a:gd name="adj" fmla="val 8077"/>
            </a:avLst>
          </a:prstGeom>
          <a:solidFill>
            <a:srgbClr val="B048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Text 168"/>
          <p:cNvSpPr txBox="1"/>
          <p:nvPr/>
        </p:nvSpPr>
        <p:spPr>
          <a:xfrm>
            <a:off x="4442155" y="5544007"/>
            <a:ext cx="4389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ctr" indent="0" marL="0">
              <a:buNone/>
            </a:pPr>
            <a:r>
              <a:rPr lang="en-US" sz="975" b="1" spc="98" kern="0" dirty="0">
                <a:solidFill>
                  <a:srgbClr val="FBF8F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975" dirty="0"/>
          </a:p>
        </p:txBody>
      </p:sp>
      <p:sp>
        <p:nvSpPr>
          <p:cNvPr id="178" name="Shape 169"/>
          <p:cNvSpPr/>
          <p:nvPr/>
        </p:nvSpPr>
        <p:spPr>
          <a:xfrm>
            <a:off x="4442155" y="6163056"/>
            <a:ext cx="438912" cy="237744"/>
          </a:xfrm>
          <a:prstGeom prst="roundRect">
            <a:avLst>
              <a:gd name="adj" fmla="val 8077"/>
            </a:avLst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Text 170"/>
          <p:cNvSpPr txBox="1"/>
          <p:nvPr/>
        </p:nvSpPr>
        <p:spPr>
          <a:xfrm>
            <a:off x="4442155" y="6163056"/>
            <a:ext cx="4389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ctr" indent="0" marL="0">
              <a:buNone/>
            </a:pPr>
            <a:r>
              <a:rPr lang="en-US" sz="975" b="1" spc="98" kern="0" dirty="0">
                <a:solidFill>
                  <a:srgbClr val="F7F4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975" dirty="0"/>
          </a:p>
        </p:txBody>
      </p:sp>
      <p:sp>
        <p:nvSpPr>
          <p:cNvPr id="180" name="Shape 171"/>
          <p:cNvSpPr/>
          <p:nvPr/>
        </p:nvSpPr>
        <p:spPr>
          <a:xfrm>
            <a:off x="4442155" y="6782105"/>
            <a:ext cx="438912" cy="237744"/>
          </a:xfrm>
          <a:prstGeom prst="roundRect">
            <a:avLst>
              <a:gd name="adj" fmla="val 8077"/>
            </a:avLst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Text 172"/>
          <p:cNvSpPr txBox="1"/>
          <p:nvPr/>
        </p:nvSpPr>
        <p:spPr>
          <a:xfrm>
            <a:off x="4442155" y="6782105"/>
            <a:ext cx="4389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ctr" indent="0" marL="0">
              <a:buNone/>
            </a:pPr>
            <a:r>
              <a:rPr lang="en-US" sz="975" b="1" spc="98" kern="0" dirty="0">
                <a:solidFill>
                  <a:srgbClr val="F7F4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975" dirty="0"/>
          </a:p>
        </p:txBody>
      </p:sp>
      <p:sp>
        <p:nvSpPr>
          <p:cNvPr id="182" name="Text 173"/>
          <p:cNvSpPr txBox="1"/>
          <p:nvPr/>
        </p:nvSpPr>
        <p:spPr>
          <a:xfrm>
            <a:off x="3619195" y="7910474"/>
            <a:ext cx="8961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전기-물리 상관</a:t>
            </a:r>
            <a:endParaRPr lang="en-US" sz="825" dirty="0"/>
          </a:p>
        </p:txBody>
      </p:sp>
      <p:sp>
        <p:nvSpPr>
          <p:cNvPr id="183" name="Text 174"/>
          <p:cNvSpPr txBox="1"/>
          <p:nvPr/>
        </p:nvSpPr>
        <p:spPr>
          <a:xfrm>
            <a:off x="4641494" y="7905902"/>
            <a:ext cx="15910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66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Physical readouts</a:t>
            </a:r>
            <a:endParaRPr lang="en-US" sz="975" dirty="0"/>
          </a:p>
        </p:txBody>
      </p:sp>
      <p:sp>
        <p:nvSpPr>
          <p:cNvPr id="184" name="Text 175"/>
          <p:cNvSpPr txBox="1"/>
          <p:nvPr/>
        </p:nvSpPr>
        <p:spPr>
          <a:xfrm>
            <a:off x="3619195" y="8201254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Rsh 추세</a:t>
            </a:r>
            <a:endParaRPr lang="en-US" sz="825" dirty="0"/>
          </a:p>
        </p:txBody>
      </p:sp>
      <p:sp>
        <p:nvSpPr>
          <p:cNvPr id="185" name="Text 176"/>
          <p:cNvSpPr txBox="1"/>
          <p:nvPr/>
        </p:nvSpPr>
        <p:spPr>
          <a:xfrm>
            <a:off x="3619195" y="8410651"/>
            <a:ext cx="43818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0.79–0.81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&lt; A 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0.85–0.86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&lt; C 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0.91–0.92</a:t>
            </a:r>
            <a:endParaRPr lang="en-US" sz="1800" dirty="0"/>
          </a:p>
        </p:txBody>
      </p:sp>
      <p:sp>
        <p:nvSpPr>
          <p:cNvPr id="186" name="Text 177"/>
          <p:cNvSpPr txBox="1"/>
          <p:nvPr/>
        </p:nvSpPr>
        <p:spPr>
          <a:xfrm>
            <a:off x="3619195" y="9077249"/>
            <a:ext cx="438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mandrel CD ↑ → 단면적 ↑ → Rsh ↓</a:t>
            </a:r>
            <a:endParaRPr lang="en-US" sz="1050" dirty="0"/>
          </a:p>
        </p:txBody>
      </p:sp>
      <p:sp>
        <p:nvSpPr>
          <p:cNvPr id="187" name="Text 178"/>
          <p:cNvSpPr txBox="1"/>
          <p:nvPr/>
        </p:nvSpPr>
        <p:spPr>
          <a:xfrm>
            <a:off x="8337499" y="8201254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Via-R 분포</a:t>
            </a:r>
            <a:endParaRPr lang="en-US" sz="825" dirty="0"/>
          </a:p>
        </p:txBody>
      </p:sp>
      <p:sp>
        <p:nvSpPr>
          <p:cNvPr id="188" name="Text 179"/>
          <p:cNvSpPr txBox="1"/>
          <p:nvPr/>
        </p:nvSpPr>
        <p:spPr>
          <a:xfrm>
            <a:off x="8337499" y="8410651"/>
            <a:ext cx="438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5.7 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− 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6.9</a:t>
            </a:r>
            <a:pPr algn="l" indent="0" marL="0">
              <a:buNone/>
            </a:pPr>
            <a:r>
              <a:rPr lang="en-US" sz="1050" b="1" spc="-1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Ω/via</a:t>
            </a:r>
            <a:endParaRPr lang="en-US" sz="1800" dirty="0"/>
          </a:p>
        </p:txBody>
      </p:sp>
      <p:sp>
        <p:nvSpPr>
          <p:cNvPr id="189" name="Text 180"/>
          <p:cNvSpPr txBox="1"/>
          <p:nvPr/>
        </p:nvSpPr>
        <p:spPr>
          <a:xfrm>
            <a:off x="8337499" y="8772754"/>
            <a:ext cx="438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Split별로 최대 1.2 Ω 차이 — mask overlap 의존</a:t>
            </a:r>
            <a:endParaRPr lang="en-US" sz="1050" dirty="0"/>
          </a:p>
        </p:txBody>
      </p:sp>
      <p:sp>
        <p:nvSpPr>
          <p:cNvPr id="190" name="Text 181"/>
          <p:cNvSpPr txBox="1"/>
          <p:nvPr/>
        </p:nvSpPr>
        <p:spPr>
          <a:xfrm>
            <a:off x="13055803" y="8201254"/>
            <a:ext cx="4381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BV · 누설</a:t>
            </a:r>
            <a:endParaRPr lang="en-US" sz="825" dirty="0"/>
          </a:p>
        </p:txBody>
      </p:sp>
      <p:sp>
        <p:nvSpPr>
          <p:cNvPr id="191" name="Text 182"/>
          <p:cNvSpPr txBox="1"/>
          <p:nvPr/>
        </p:nvSpPr>
        <p:spPr>
          <a:xfrm>
            <a:off x="13055803" y="8410651"/>
            <a:ext cx="438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7.9 </a:t>
            </a:r>
            <a:pPr algn="l" indent="0" marL="0">
              <a:buNone/>
            </a:pPr>
            <a:r>
              <a:rPr lang="en-US" sz="1800" b="1" spc="-18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BV ≤ 8.8 V</a:t>
            </a:r>
            <a:endParaRPr lang="en-US" sz="1800" dirty="0"/>
          </a:p>
        </p:txBody>
      </p:sp>
      <p:sp>
        <p:nvSpPr>
          <p:cNvPr id="192" name="Text 183"/>
          <p:cNvSpPr txBox="1"/>
          <p:nvPr/>
        </p:nvSpPr>
        <p:spPr>
          <a:xfrm>
            <a:off x="13055803" y="8772754"/>
            <a:ext cx="4381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J-leak 17–32 nA/cm², B에서 1.5× 증가</a:t>
            </a:r>
            <a:endParaRPr lang="en-US" sz="1050" dirty="0"/>
          </a:p>
        </p:txBody>
      </p:sp>
      <p:sp>
        <p:nvSpPr>
          <p:cNvPr id="193" name="Text 184"/>
          <p:cNvSpPr txBox="1"/>
          <p:nvPr/>
        </p:nvSpPr>
        <p:spPr>
          <a:xfrm>
            <a:off x="3238805" y="981059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194" name="Text 185"/>
          <p:cNvSpPr txBox="1"/>
          <p:nvPr/>
        </p:nvSpPr>
        <p:spPr>
          <a:xfrm>
            <a:off x="14859000" y="9810598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76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07 · EUV-BEOL-EVAL · 04/15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857500" cy="10287000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097305" y="705002"/>
            <a:ext cx="3543300" cy="16386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372307" y="2609698"/>
            <a:ext cx="6972300" cy="2838298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0" y="2609698"/>
            <a:ext cx="7125005" cy="2838298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372307" y="5600700"/>
            <a:ext cx="6972300" cy="2838298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0" y="5600700"/>
            <a:ext cx="7125005" cy="2838298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72307" y="8610905"/>
            <a:ext cx="4953305" cy="819302"/>
          </a:xfrm>
          <a:prstGeom prst="rect">
            <a:avLst/>
          </a:prstGeom>
          <a:solidFill>
            <a:srgbClr val="1518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15807" y="8610905"/>
            <a:ext cx="9124798" cy="838505"/>
          </a:xfrm>
          <a:prstGeom prst="rect">
            <a:avLst/>
          </a:prstGeom>
          <a:solidFill>
            <a:srgbClr val="FBF8F2"/>
          </a:solidFill>
          <a:ln w="12700">
            <a:solidFill>
              <a:srgbClr val="BFBAAB"/>
            </a:solidFill>
            <a:prstDash val="solid"/>
          </a:ln>
        </p:spPr>
      </p:sp>
      <p:pic>
        <p:nvPicPr>
          <p:cNvPr id="11" name="Image 0" descr="gen-dedup-f86d6a16f92b2617556186968858095b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2857500" y="9658807"/>
            <a:ext cx="15430500" cy="9144"/>
          </a:xfrm>
          <a:prstGeom prst="rect">
            <a:avLst/>
          </a:prstGeom>
        </p:spPr>
      </p:pic>
      <p:pic>
        <p:nvPicPr>
          <p:cNvPr id="12" name="Image 1" descr="gen-dedup-eabc9b61793a980fb358930b866a1d61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857500" y="0"/>
            <a:ext cx="9144" cy="10287000"/>
          </a:xfrm>
          <a:prstGeom prst="rect">
            <a:avLst/>
          </a:prstGeom>
        </p:spPr>
      </p:pic>
      <p:pic>
        <p:nvPicPr>
          <p:cNvPr id="13" name="Image 2" descr="gen-dedup-fd2c33c645f6b3a00a0b08699c48d5b4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14097305" y="705002"/>
            <a:ext cx="38405" cy="1619402"/>
          </a:xfrm>
          <a:prstGeom prst="rect">
            <a:avLst/>
          </a:prstGeom>
        </p:spPr>
      </p:pic>
      <p:pic>
        <p:nvPicPr>
          <p:cNvPr id="14" name="Image 3" descr="gen-dedup-6fc9598e7fb06a3b9b504da58977e48b.png">    </p:cNvPr>
          <p:cNvPicPr>
            <a:picLocks noChangeAspect="1"/>
          </p:cNvPicPr>
          <p:nvPr/>
        </p:nvPicPr>
        <p:blipFill>
          <a:blip r:embed="rId4"/>
          <a:srcRect l="-391" r="-391" t="0" b="0"/>
          <a:stretch/>
        </p:blipFill>
        <p:spPr>
          <a:xfrm>
            <a:off x="8515807" y="8610905"/>
            <a:ext cx="38405" cy="819302"/>
          </a:xfrm>
          <a:prstGeom prst="rect">
            <a:avLst/>
          </a:prstGeom>
        </p:spPr>
      </p:pic>
      <p:pic>
        <p:nvPicPr>
          <p:cNvPr id="15" name="Image 4" descr="gen-dedup-4ac609d10e3e3074053493c309798379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381305" y="5333695"/>
            <a:ext cx="571500" cy="91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381305" y="609905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04 / 15 · DUMMY</a:t>
            </a:r>
            <a:endParaRPr lang="en-US" sz="975" dirty="0"/>
          </a:p>
        </p:txBody>
      </p:sp>
      <p:sp>
        <p:nvSpPr>
          <p:cNvPr id="17" name="Text 9"/>
          <p:cNvSpPr txBox="1"/>
          <p:nvPr/>
        </p:nvSpPr>
        <p:spPr>
          <a:xfrm>
            <a:off x="381305" y="1619402"/>
            <a:ext cx="22860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0" b="1" spc="-600" kern="0" dirty="0">
                <a:solidFill>
                  <a:srgbClr val="E8DC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5000" dirty="0"/>
          </a:p>
        </p:txBody>
      </p:sp>
      <p:sp>
        <p:nvSpPr>
          <p:cNvPr id="18" name="Text 10"/>
          <p:cNvSpPr txBox="1"/>
          <p:nvPr/>
        </p:nvSpPr>
        <p:spPr>
          <a:xfrm>
            <a:off x="381305" y="4095598"/>
            <a:ext cx="20958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DCC2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관찰</a:t>
            </a:r>
            <a:endParaRPr lang="en-US" sz="2250" dirty="0"/>
          </a:p>
        </p:txBody>
      </p:sp>
      <p:sp>
        <p:nvSpPr>
          <p:cNvPr id="19" name="Text 11"/>
          <p:cNvSpPr txBox="1"/>
          <p:nvPr/>
        </p:nvSpPr>
        <p:spPr>
          <a:xfrm>
            <a:off x="381305" y="4600346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C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381305" y="5619902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CHARTS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381305" y="5906110"/>
            <a:ext cx="2095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CDC4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 vs target · 6 wafer</a:t>
            </a:r>
            <a:endParaRPr lang="en-US" sz="1125" dirty="0"/>
          </a:p>
        </p:txBody>
      </p:sp>
      <p:sp>
        <p:nvSpPr>
          <p:cNvPr id="22" name="Text 14"/>
          <p:cNvSpPr txBox="1"/>
          <p:nvPr/>
        </p:nvSpPr>
        <p:spPr>
          <a:xfrm>
            <a:off x="381305" y="94302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C74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FAB · CDU · M1</a:t>
            </a:r>
            <a:endParaRPr lang="en-US" sz="825" dirty="0"/>
          </a:p>
        </p:txBody>
      </p:sp>
      <p:pic>
        <p:nvPicPr>
          <p:cNvPr id="23" name="Image 5" descr="gen-dedup-d4e65b70a25d2ac1eabb51d81b5a3b33.png">    </p:cNvPr>
          <p:cNvPicPr>
            <a:picLocks noChangeAspect="1"/>
          </p:cNvPicPr>
          <p:nvPr/>
        </p:nvPicPr>
        <p:blipFill>
          <a:blip r:embed="rId6"/>
          <a:srcRect l="0" r="0" t="-343" b="-343"/>
          <a:stretch/>
        </p:blipFill>
        <p:spPr>
          <a:xfrm>
            <a:off x="3372307" y="776326"/>
            <a:ext cx="267005" cy="192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3771900" y="705002"/>
            <a:ext cx="10195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07</a:t>
            </a:r>
            <a:endParaRPr lang="en-US" sz="975" dirty="0"/>
          </a:p>
        </p:txBody>
      </p:sp>
      <p:sp>
        <p:nvSpPr>
          <p:cNvPr id="25" name="Text 16"/>
          <p:cNvSpPr txBox="1"/>
          <p:nvPr/>
        </p:nvSpPr>
        <p:spPr>
          <a:xfrm>
            <a:off x="3372307" y="1000354"/>
            <a:ext cx="103830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Cross-wafer </a:t>
            </a:r>
            <a:pPr algn="l" indent="0" marL="0">
              <a:buNone/>
            </a:pPr>
            <a:r>
              <a:rPr lang="en-US" sz="3600" b="1" spc="-72" kern="0" dirty="0">
                <a:solidFill>
                  <a:srgbClr val="1F5F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Δ 분포</a:t>
            </a:r>
            <a:pPr algn="l" indent="0" marL="0">
              <a:buNone/>
            </a:pPr>
            <a:r>
              <a:rPr lang="en-US" sz="3600" b="1" spc="-72" kern="0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와 형상 trade-off</a:t>
            </a:r>
            <a:endParaRPr lang="en-US" sz="3600" dirty="0"/>
          </a:p>
        </p:txBody>
      </p:sp>
      <p:sp>
        <p:nvSpPr>
          <p:cNvPr id="26" name="Text 17"/>
          <p:cNvSpPr txBox="1"/>
          <p:nvPr/>
        </p:nvSpPr>
        <p:spPr>
          <a:xfrm>
            <a:off x="14287500" y="857707"/>
            <a:ext cx="31912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825" dirty="0"/>
          </a:p>
        </p:txBody>
      </p:sp>
      <p:sp>
        <p:nvSpPr>
          <p:cNvPr id="27" name="Text 18"/>
          <p:cNvSpPr txBox="1"/>
          <p:nvPr/>
        </p:nvSpPr>
        <p:spPr>
          <a:xfrm>
            <a:off x="14287500" y="1086307"/>
            <a:ext cx="319125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 A는 4 메트릭 일관, B는 Rsh 유리·누설 불리, C는 누설 유리·Rsh 불리 — 단일 split 최적은 부재.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3581705" y="2723998"/>
            <a:ext cx="1810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· target 24.8 nm</a:t>
            </a:r>
            <a:endParaRPr lang="en-US" sz="825" dirty="0"/>
          </a:p>
        </p:txBody>
      </p:sp>
      <p:sp>
        <p:nvSpPr>
          <p:cNvPr id="29" name="Text 20"/>
          <p:cNvSpPr txBox="1"/>
          <p:nvPr/>
        </p:nvSpPr>
        <p:spPr>
          <a:xfrm>
            <a:off x="8629193" y="2734056"/>
            <a:ext cx="1495958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−2 ─ 0 ─ +2 nm</a:t>
            </a:r>
            <a:endParaRPr lang="en-US" sz="800" dirty="0"/>
          </a:p>
        </p:txBody>
      </p:sp>
      <p:sp>
        <p:nvSpPr>
          <p:cNvPr id="30" name="Text 21"/>
          <p:cNvSpPr txBox="1"/>
          <p:nvPr/>
        </p:nvSpPr>
        <p:spPr>
          <a:xfrm>
            <a:off x="3581705" y="3076956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9105595" y="3076956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</a:t>
            </a:r>
            <a:endParaRPr lang="en-US" sz="1050" dirty="0"/>
          </a:p>
        </p:txBody>
      </p:sp>
      <p:sp>
        <p:nvSpPr>
          <p:cNvPr id="32" name="Text 23"/>
          <p:cNvSpPr txBox="1"/>
          <p:nvPr/>
        </p:nvSpPr>
        <p:spPr>
          <a:xfrm>
            <a:off x="3581705" y="3381451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9105595" y="3381451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050" dirty="0"/>
          </a:p>
        </p:txBody>
      </p:sp>
      <p:sp>
        <p:nvSpPr>
          <p:cNvPr id="34" name="Text 25"/>
          <p:cNvSpPr txBox="1"/>
          <p:nvPr/>
        </p:nvSpPr>
        <p:spPr>
          <a:xfrm>
            <a:off x="3581705" y="3685946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050" dirty="0"/>
          </a:p>
        </p:txBody>
      </p:sp>
      <p:sp>
        <p:nvSpPr>
          <p:cNvPr id="35" name="Text 26"/>
          <p:cNvSpPr txBox="1"/>
          <p:nvPr/>
        </p:nvSpPr>
        <p:spPr>
          <a:xfrm>
            <a:off x="9105595" y="3685946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+1.5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3581705" y="3991356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W04</a:t>
            </a:r>
            <a:endParaRPr lang="en-US" sz="1050" dirty="0"/>
          </a:p>
        </p:txBody>
      </p:sp>
      <p:sp>
        <p:nvSpPr>
          <p:cNvPr id="37" name="Text 28"/>
          <p:cNvSpPr txBox="1"/>
          <p:nvPr/>
        </p:nvSpPr>
        <p:spPr>
          <a:xfrm>
            <a:off x="9105595" y="3991356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+1.1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3581705" y="4295851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W05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9105595" y="4295851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−1.2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3581705" y="4600346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W06</a:t>
            </a:r>
            <a:endParaRPr lang="en-US" sz="1050" dirty="0"/>
          </a:p>
        </p:txBody>
      </p:sp>
      <p:sp>
        <p:nvSpPr>
          <p:cNvPr id="41" name="Text 32"/>
          <p:cNvSpPr txBox="1"/>
          <p:nvPr/>
        </p:nvSpPr>
        <p:spPr>
          <a:xfrm>
            <a:off x="9105595" y="4600346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−1.0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6133795" y="3047695"/>
            <a:ext cx="99029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6" descr="gen-dedup-ef170c9c5320dc0afd227c908da0c232.png">    </p:cNvPr>
          <p:cNvPicPr>
            <a:picLocks noChangeAspect="1"/>
          </p:cNvPicPr>
          <p:nvPr/>
        </p:nvPicPr>
        <p:blipFill>
          <a:blip r:embed="rId7">
            <a:alphaModFix amt="55000"/>
          </a:blip>
          <a:srcRect l="0" r="0" t="-2083" b="-2083"/>
          <a:stretch/>
        </p:blipFill>
        <p:spPr>
          <a:xfrm>
            <a:off x="6629400" y="3047695"/>
            <a:ext cx="9144" cy="228600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6629400" y="3105302"/>
            <a:ext cx="247802" cy="133502"/>
          </a:xfrm>
          <a:prstGeom prst="rect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133795" y="3353105"/>
            <a:ext cx="99029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7" descr="gen-dedup-ef170c9c5320dc0afd227c908da0c232.png">    </p:cNvPr>
          <p:cNvPicPr>
            <a:picLocks noChangeAspect="1"/>
          </p:cNvPicPr>
          <p:nvPr/>
        </p:nvPicPr>
        <p:blipFill>
          <a:blip r:embed="rId8">
            <a:alphaModFix amt="55000"/>
          </a:blip>
          <a:srcRect l="0" r="0" t="-2083" b="-2083"/>
          <a:stretch/>
        </p:blipFill>
        <p:spPr>
          <a:xfrm>
            <a:off x="6629400" y="3353105"/>
            <a:ext cx="9144" cy="228600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6505956" y="3409798"/>
            <a:ext cx="123444" cy="133502"/>
          </a:xfrm>
          <a:prstGeom prst="rect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133795" y="3657600"/>
            <a:ext cx="99029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8" descr="gen-dedup-ef170c9c5320dc0afd227c908da0c232.png">    </p:cNvPr>
          <p:cNvPicPr>
            <a:picLocks noChangeAspect="1"/>
          </p:cNvPicPr>
          <p:nvPr/>
        </p:nvPicPr>
        <p:blipFill>
          <a:blip r:embed="rId9">
            <a:alphaModFix amt="55000"/>
          </a:blip>
          <a:srcRect l="0" r="0" t="-2083" b="-2083"/>
          <a:stretch/>
        </p:blipFill>
        <p:spPr>
          <a:xfrm>
            <a:off x="6629400" y="3657600"/>
            <a:ext cx="9144" cy="228600"/>
          </a:xfrm>
          <a:prstGeom prst="rect">
            <a:avLst/>
          </a:prstGeom>
        </p:spPr>
      </p:pic>
      <p:pic>
        <p:nvPicPr>
          <p:cNvPr id="50" name="Image 9" descr="gen-dedup-1a16b0b28859687f5839723fe3227bfb.png">    </p:cNvPr>
          <p:cNvPicPr>
            <a:picLocks noChangeAspect="1"/>
          </p:cNvPicPr>
          <p:nvPr/>
        </p:nvPicPr>
        <p:blipFill>
          <a:blip r:embed="rId10"/>
          <a:srcRect l="0" r="0" t="-49" b="-49"/>
          <a:stretch/>
        </p:blipFill>
        <p:spPr>
          <a:xfrm>
            <a:off x="6629400" y="3715207"/>
            <a:ext cx="1867205" cy="133502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6133795" y="3962095"/>
            <a:ext cx="99029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0" descr="gen-dedup-ef170c9c5320dc0afd227c908da0c232.png">    </p:cNvPr>
          <p:cNvPicPr>
            <a:picLocks noChangeAspect="1"/>
          </p:cNvPicPr>
          <p:nvPr/>
        </p:nvPicPr>
        <p:blipFill>
          <a:blip r:embed="rId11">
            <a:alphaModFix amt="55000"/>
          </a:blip>
          <a:srcRect l="0" r="0" t="-2083" b="-2083"/>
          <a:stretch/>
        </p:blipFill>
        <p:spPr>
          <a:xfrm>
            <a:off x="6629400" y="3962095"/>
            <a:ext cx="9144" cy="228600"/>
          </a:xfrm>
          <a:prstGeom prst="rect">
            <a:avLst/>
          </a:prstGeom>
        </p:spPr>
      </p:pic>
      <p:pic>
        <p:nvPicPr>
          <p:cNvPr id="53" name="Image 11" descr="gen-dedup-c91ca1a1c796a7bd97e529040a334eea.png">    </p:cNvPr>
          <p:cNvPicPr>
            <a:picLocks noChangeAspect="1"/>
          </p:cNvPicPr>
          <p:nvPr/>
        </p:nvPicPr>
        <p:blipFill>
          <a:blip r:embed="rId12"/>
          <a:srcRect l="0" r="0" t="-57" b="-57"/>
          <a:stretch/>
        </p:blipFill>
        <p:spPr>
          <a:xfrm>
            <a:off x="6629400" y="4019702"/>
            <a:ext cx="1371600" cy="133502"/>
          </a:xfrm>
          <a:prstGeom prst="rect">
            <a:avLst/>
          </a:prstGeom>
        </p:spPr>
      </p:pic>
      <p:sp>
        <p:nvSpPr>
          <p:cNvPr id="54" name="Shape 39"/>
          <p:cNvSpPr/>
          <p:nvPr/>
        </p:nvSpPr>
        <p:spPr>
          <a:xfrm>
            <a:off x="6133795" y="4267505"/>
            <a:ext cx="99029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2" descr="gen-dedup-ef170c9c5320dc0afd227c908da0c232.png">    </p:cNvPr>
          <p:cNvPicPr>
            <a:picLocks noChangeAspect="1"/>
          </p:cNvPicPr>
          <p:nvPr/>
        </p:nvPicPr>
        <p:blipFill>
          <a:blip r:embed="rId13">
            <a:alphaModFix amt="55000"/>
          </a:blip>
          <a:srcRect l="0" r="0" t="-2083" b="-2083"/>
          <a:stretch/>
        </p:blipFill>
        <p:spPr>
          <a:xfrm>
            <a:off x="6629400" y="4267505"/>
            <a:ext cx="9144" cy="228600"/>
          </a:xfrm>
          <a:prstGeom prst="rect">
            <a:avLst/>
          </a:prstGeom>
        </p:spPr>
      </p:pic>
      <p:pic>
        <p:nvPicPr>
          <p:cNvPr id="56" name="Image 13" descr="gen-dedup-604f43c89cf6b1ba33102d6e198d951b.png">    </p:cNvPr>
          <p:cNvPicPr>
            <a:picLocks noChangeAspect="1"/>
          </p:cNvPicPr>
          <p:nvPr/>
        </p:nvPicPr>
        <p:blipFill>
          <a:blip r:embed="rId14"/>
          <a:srcRect l="0" r="0" t="-57" b="-57"/>
          <a:stretch/>
        </p:blipFill>
        <p:spPr>
          <a:xfrm>
            <a:off x="5143500" y="4324198"/>
            <a:ext cx="1485900" cy="133502"/>
          </a:xfrm>
          <a:prstGeom prst="rect">
            <a:avLst/>
          </a:prstGeom>
        </p:spPr>
      </p:pic>
      <p:sp>
        <p:nvSpPr>
          <p:cNvPr id="57" name="Shape 40"/>
          <p:cNvSpPr/>
          <p:nvPr/>
        </p:nvSpPr>
        <p:spPr>
          <a:xfrm>
            <a:off x="6133795" y="4572000"/>
            <a:ext cx="99029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4" descr="gen-dedup-ef170c9c5320dc0afd227c908da0c232.png">    </p:cNvPr>
          <p:cNvPicPr>
            <a:picLocks noChangeAspect="1"/>
          </p:cNvPicPr>
          <p:nvPr/>
        </p:nvPicPr>
        <p:blipFill>
          <a:blip r:embed="rId15">
            <a:alphaModFix amt="55000"/>
          </a:blip>
          <a:srcRect l="0" r="0" t="-2083" b="-2083"/>
          <a:stretch/>
        </p:blipFill>
        <p:spPr>
          <a:xfrm>
            <a:off x="6629400" y="4572000"/>
            <a:ext cx="9144" cy="228600"/>
          </a:xfrm>
          <a:prstGeom prst="rect">
            <a:avLst/>
          </a:prstGeom>
        </p:spPr>
      </p:pic>
      <p:pic>
        <p:nvPicPr>
          <p:cNvPr id="59" name="Image 15" descr="gen-dedup-e666fa41b73ac5b64a475ff1f9d66252.png">    </p:cNvPr>
          <p:cNvPicPr>
            <a:picLocks noChangeAspect="1"/>
          </p:cNvPicPr>
          <p:nvPr/>
        </p:nvPicPr>
        <p:blipFill>
          <a:blip r:embed="rId16"/>
          <a:srcRect l="0" r="0" t="-63" b="-63"/>
          <a:stretch/>
        </p:blipFill>
        <p:spPr>
          <a:xfrm>
            <a:off x="5391302" y="4629607"/>
            <a:ext cx="1238098" cy="133502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4153205" y="4858207"/>
            <a:ext cx="4953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 nm</a:t>
            </a:r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 nm</a:t>
            </a:r>
            <a:endParaRPr lang="en-US" sz="800" dirty="0"/>
          </a:p>
        </p:txBody>
      </p:sp>
      <p:sp>
        <p:nvSpPr>
          <p:cNvPr id="61" name="Text 42"/>
          <p:cNvSpPr txBox="1"/>
          <p:nvPr/>
        </p:nvSpPr>
        <p:spPr>
          <a:xfrm>
            <a:off x="10724998" y="2723998"/>
            <a:ext cx="1810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· target 17.9 nm</a:t>
            </a:r>
            <a:endParaRPr lang="en-US" sz="825" dirty="0"/>
          </a:p>
        </p:txBody>
      </p:sp>
      <p:sp>
        <p:nvSpPr>
          <p:cNvPr id="62" name="Text 43"/>
          <p:cNvSpPr txBox="1"/>
          <p:nvPr/>
        </p:nvSpPr>
        <p:spPr>
          <a:xfrm>
            <a:off x="15628010" y="2734056"/>
            <a:ext cx="1791310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−1.5 ─ 0 ─ +1.5 nm</a:t>
            </a:r>
            <a:endParaRPr lang="en-US" sz="800" dirty="0"/>
          </a:p>
        </p:txBody>
      </p:sp>
      <p:sp>
        <p:nvSpPr>
          <p:cNvPr id="63" name="Text 44"/>
          <p:cNvSpPr txBox="1"/>
          <p:nvPr/>
        </p:nvSpPr>
        <p:spPr>
          <a:xfrm>
            <a:off x="10724998" y="3076956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050" dirty="0"/>
          </a:p>
        </p:txBody>
      </p:sp>
      <p:sp>
        <p:nvSpPr>
          <p:cNvPr id="64" name="Text 45"/>
          <p:cNvSpPr txBox="1"/>
          <p:nvPr/>
        </p:nvSpPr>
        <p:spPr>
          <a:xfrm>
            <a:off x="16249802" y="3076956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</a:t>
            </a:r>
            <a:endParaRPr lang="en-US" sz="1050" dirty="0"/>
          </a:p>
        </p:txBody>
      </p:sp>
      <p:sp>
        <p:nvSpPr>
          <p:cNvPr id="65" name="Text 46"/>
          <p:cNvSpPr txBox="1"/>
          <p:nvPr/>
        </p:nvSpPr>
        <p:spPr>
          <a:xfrm>
            <a:off x="10724998" y="3381451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050" dirty="0"/>
          </a:p>
        </p:txBody>
      </p:sp>
      <p:sp>
        <p:nvSpPr>
          <p:cNvPr id="66" name="Text 47"/>
          <p:cNvSpPr txBox="1"/>
          <p:nvPr/>
        </p:nvSpPr>
        <p:spPr>
          <a:xfrm>
            <a:off x="16249802" y="3381451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050" dirty="0"/>
          </a:p>
        </p:txBody>
      </p:sp>
      <p:sp>
        <p:nvSpPr>
          <p:cNvPr id="67" name="Text 48"/>
          <p:cNvSpPr txBox="1"/>
          <p:nvPr/>
        </p:nvSpPr>
        <p:spPr>
          <a:xfrm>
            <a:off x="10724998" y="3685946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050" dirty="0"/>
          </a:p>
        </p:txBody>
      </p:sp>
      <p:sp>
        <p:nvSpPr>
          <p:cNvPr id="68" name="Text 49"/>
          <p:cNvSpPr txBox="1"/>
          <p:nvPr/>
        </p:nvSpPr>
        <p:spPr>
          <a:xfrm>
            <a:off x="16249802" y="3685946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</a:t>
            </a:r>
            <a:endParaRPr lang="en-US" sz="1050" dirty="0"/>
          </a:p>
        </p:txBody>
      </p:sp>
      <p:sp>
        <p:nvSpPr>
          <p:cNvPr id="69" name="Text 50"/>
          <p:cNvSpPr txBox="1"/>
          <p:nvPr/>
        </p:nvSpPr>
        <p:spPr>
          <a:xfrm>
            <a:off x="10724998" y="3991356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W04</a:t>
            </a:r>
            <a:endParaRPr lang="en-US" sz="1050" dirty="0"/>
          </a:p>
        </p:txBody>
      </p:sp>
      <p:sp>
        <p:nvSpPr>
          <p:cNvPr id="70" name="Text 51"/>
          <p:cNvSpPr txBox="1"/>
          <p:nvPr/>
        </p:nvSpPr>
        <p:spPr>
          <a:xfrm>
            <a:off x="16249802" y="3991356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+0.7</a:t>
            </a:r>
            <a:endParaRPr lang="en-US" sz="1050" dirty="0"/>
          </a:p>
        </p:txBody>
      </p:sp>
      <p:sp>
        <p:nvSpPr>
          <p:cNvPr id="71" name="Text 52"/>
          <p:cNvSpPr txBox="1"/>
          <p:nvPr/>
        </p:nvSpPr>
        <p:spPr>
          <a:xfrm>
            <a:off x="10724998" y="4295851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W05</a:t>
            </a:r>
            <a:endParaRPr lang="en-US" sz="1050" dirty="0"/>
          </a:p>
        </p:txBody>
      </p:sp>
      <p:sp>
        <p:nvSpPr>
          <p:cNvPr id="72" name="Text 53"/>
          <p:cNvSpPr txBox="1"/>
          <p:nvPr/>
        </p:nvSpPr>
        <p:spPr>
          <a:xfrm>
            <a:off x="16249802" y="4295851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−0.7</a:t>
            </a:r>
            <a:endParaRPr lang="en-US" sz="1050" dirty="0"/>
          </a:p>
        </p:txBody>
      </p:sp>
      <p:sp>
        <p:nvSpPr>
          <p:cNvPr id="73" name="Text 54"/>
          <p:cNvSpPr txBox="1"/>
          <p:nvPr/>
        </p:nvSpPr>
        <p:spPr>
          <a:xfrm>
            <a:off x="10724998" y="4600346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W06</a:t>
            </a:r>
            <a:endParaRPr lang="en-US" sz="1050" dirty="0"/>
          </a:p>
        </p:txBody>
      </p:sp>
      <p:sp>
        <p:nvSpPr>
          <p:cNvPr id="74" name="Text 55"/>
          <p:cNvSpPr txBox="1"/>
          <p:nvPr/>
        </p:nvSpPr>
        <p:spPr>
          <a:xfrm>
            <a:off x="16249802" y="4600346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</a:t>
            </a:r>
            <a:endParaRPr lang="en-US" sz="1050" dirty="0"/>
          </a:p>
        </p:txBody>
      </p:sp>
      <p:sp>
        <p:nvSpPr>
          <p:cNvPr id="75" name="Shape 56"/>
          <p:cNvSpPr/>
          <p:nvPr/>
        </p:nvSpPr>
        <p:spPr>
          <a:xfrm>
            <a:off x="13202107" y="3047695"/>
            <a:ext cx="1143000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6" name="Image 16" descr="gen-dedup-ef170c9c5320dc0afd227c908da0c232.png">    </p:cNvPr>
          <p:cNvPicPr>
            <a:picLocks noChangeAspect="1"/>
          </p:cNvPicPr>
          <p:nvPr/>
        </p:nvPicPr>
        <p:blipFill>
          <a:blip r:embed="rId17">
            <a:alphaModFix amt="55000"/>
          </a:blip>
          <a:srcRect l="0" r="0" t="-2083" b="-2083"/>
          <a:stretch/>
        </p:blipFill>
        <p:spPr>
          <a:xfrm>
            <a:off x="13773607" y="3047695"/>
            <a:ext cx="9144" cy="228600"/>
          </a:xfrm>
          <a:prstGeom prst="rect">
            <a:avLst/>
          </a:prstGeom>
        </p:spPr>
      </p:pic>
      <p:sp>
        <p:nvSpPr>
          <p:cNvPr id="77" name="Shape 57"/>
          <p:cNvSpPr/>
          <p:nvPr/>
        </p:nvSpPr>
        <p:spPr>
          <a:xfrm>
            <a:off x="13773607" y="3105302"/>
            <a:ext cx="142646" cy="133502"/>
          </a:xfrm>
          <a:prstGeom prst="rect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13202107" y="3353105"/>
            <a:ext cx="1143000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9" name="Image 17" descr="gen-dedup-ef170c9c5320dc0afd227c908da0c232.png">    </p:cNvPr>
          <p:cNvPicPr>
            <a:picLocks noChangeAspect="1"/>
          </p:cNvPicPr>
          <p:nvPr/>
        </p:nvPicPr>
        <p:blipFill>
          <a:blip r:embed="rId18">
            <a:alphaModFix amt="55000"/>
          </a:blip>
          <a:srcRect l="0" r="0" t="-2083" b="-2083"/>
          <a:stretch/>
        </p:blipFill>
        <p:spPr>
          <a:xfrm>
            <a:off x="13773607" y="3353105"/>
            <a:ext cx="9144" cy="228600"/>
          </a:xfrm>
          <a:prstGeom prst="rect">
            <a:avLst/>
          </a:prstGeom>
        </p:spPr>
      </p:pic>
      <p:sp>
        <p:nvSpPr>
          <p:cNvPr id="80" name="Shape 59"/>
          <p:cNvSpPr/>
          <p:nvPr/>
        </p:nvSpPr>
        <p:spPr>
          <a:xfrm>
            <a:off x="13630046" y="3409798"/>
            <a:ext cx="142646" cy="133502"/>
          </a:xfrm>
          <a:prstGeom prst="rect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60"/>
          <p:cNvSpPr/>
          <p:nvPr/>
        </p:nvSpPr>
        <p:spPr>
          <a:xfrm>
            <a:off x="13202107" y="3657600"/>
            <a:ext cx="1143000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18" descr="gen-dedup-ef170c9c5320dc0afd227c908da0c232.png">    </p:cNvPr>
          <p:cNvPicPr>
            <a:picLocks noChangeAspect="1"/>
          </p:cNvPicPr>
          <p:nvPr/>
        </p:nvPicPr>
        <p:blipFill>
          <a:blip r:embed="rId19">
            <a:alphaModFix amt="55000"/>
          </a:blip>
          <a:srcRect l="0" r="0" t="-2083" b="-2083"/>
          <a:stretch/>
        </p:blipFill>
        <p:spPr>
          <a:xfrm>
            <a:off x="13773607" y="3657600"/>
            <a:ext cx="9144" cy="228600"/>
          </a:xfrm>
          <a:prstGeom prst="rect">
            <a:avLst/>
          </a:prstGeom>
        </p:spPr>
      </p:pic>
      <p:pic>
        <p:nvPicPr>
          <p:cNvPr id="83" name="Image 19" descr="gen-dedup-2997a89da475a9bc54b0eb3ebe0db00b.png">    </p:cNvPr>
          <p:cNvPicPr>
            <a:picLocks noChangeAspect="1"/>
          </p:cNvPicPr>
          <p:nvPr/>
        </p:nvPicPr>
        <p:blipFill>
          <a:blip r:embed="rId20"/>
          <a:srcRect l="0" r="0" t="-66" b="-66"/>
          <a:stretch/>
        </p:blipFill>
        <p:spPr>
          <a:xfrm>
            <a:off x="13773607" y="3715207"/>
            <a:ext cx="1285646" cy="133502"/>
          </a:xfrm>
          <a:prstGeom prst="rect">
            <a:avLst/>
          </a:prstGeom>
        </p:spPr>
      </p:pic>
      <p:sp>
        <p:nvSpPr>
          <p:cNvPr id="84" name="Shape 61"/>
          <p:cNvSpPr/>
          <p:nvPr/>
        </p:nvSpPr>
        <p:spPr>
          <a:xfrm>
            <a:off x="13202107" y="3962095"/>
            <a:ext cx="1143000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20" descr="gen-dedup-ef170c9c5320dc0afd227c908da0c232.png">    </p:cNvPr>
          <p:cNvPicPr>
            <a:picLocks noChangeAspect="1"/>
          </p:cNvPicPr>
          <p:nvPr/>
        </p:nvPicPr>
        <p:blipFill>
          <a:blip r:embed="rId21">
            <a:alphaModFix amt="55000"/>
          </a:blip>
          <a:srcRect l="0" r="0" t="-2083" b="-2083"/>
          <a:stretch/>
        </p:blipFill>
        <p:spPr>
          <a:xfrm>
            <a:off x="13773607" y="3962095"/>
            <a:ext cx="9144" cy="228600"/>
          </a:xfrm>
          <a:prstGeom prst="rect">
            <a:avLst/>
          </a:prstGeom>
        </p:spPr>
      </p:pic>
      <p:pic>
        <p:nvPicPr>
          <p:cNvPr id="86" name="Image 21" descr="gen-dedup-bfe2d12947669ced432f5934ed358895.png">    </p:cNvPr>
          <p:cNvPicPr>
            <a:picLocks noChangeAspect="1"/>
          </p:cNvPicPr>
          <p:nvPr/>
        </p:nvPicPr>
        <p:blipFill>
          <a:blip r:embed="rId22"/>
          <a:srcRect l="0" r="0" t="-46" b="-46"/>
          <a:stretch/>
        </p:blipFill>
        <p:spPr>
          <a:xfrm>
            <a:off x="13773607" y="4019702"/>
            <a:ext cx="1000354" cy="133502"/>
          </a:xfrm>
          <a:prstGeom prst="rect">
            <a:avLst/>
          </a:prstGeom>
        </p:spPr>
      </p:pic>
      <p:sp>
        <p:nvSpPr>
          <p:cNvPr id="87" name="Shape 62"/>
          <p:cNvSpPr/>
          <p:nvPr/>
        </p:nvSpPr>
        <p:spPr>
          <a:xfrm>
            <a:off x="13202107" y="4267505"/>
            <a:ext cx="1143000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8" name="Image 22" descr="gen-dedup-ef170c9c5320dc0afd227c908da0c232.png">    </p:cNvPr>
          <p:cNvPicPr>
            <a:picLocks noChangeAspect="1"/>
          </p:cNvPicPr>
          <p:nvPr/>
        </p:nvPicPr>
        <p:blipFill>
          <a:blip r:embed="rId23">
            <a:alphaModFix amt="55000"/>
          </a:blip>
          <a:srcRect l="0" r="0" t="-2083" b="-2083"/>
          <a:stretch/>
        </p:blipFill>
        <p:spPr>
          <a:xfrm>
            <a:off x="13773607" y="4267505"/>
            <a:ext cx="9144" cy="228600"/>
          </a:xfrm>
          <a:prstGeom prst="rect">
            <a:avLst/>
          </a:prstGeom>
        </p:spPr>
      </p:pic>
      <p:pic>
        <p:nvPicPr>
          <p:cNvPr id="89" name="Image 23" descr="gen-dedup-bfe2d12947669ced432f5934ed358895.png">    </p:cNvPr>
          <p:cNvPicPr>
            <a:picLocks noChangeAspect="1"/>
          </p:cNvPicPr>
          <p:nvPr/>
        </p:nvPicPr>
        <p:blipFill>
          <a:blip r:embed="rId24"/>
          <a:srcRect l="0" r="0" t="-46" b="-46"/>
          <a:stretch/>
        </p:blipFill>
        <p:spPr>
          <a:xfrm>
            <a:off x="12773254" y="4324198"/>
            <a:ext cx="1000354" cy="133502"/>
          </a:xfrm>
          <a:prstGeom prst="rect">
            <a:avLst/>
          </a:prstGeom>
        </p:spPr>
      </p:pic>
      <p:sp>
        <p:nvSpPr>
          <p:cNvPr id="90" name="Shape 63"/>
          <p:cNvSpPr/>
          <p:nvPr/>
        </p:nvSpPr>
        <p:spPr>
          <a:xfrm>
            <a:off x="13202107" y="4572000"/>
            <a:ext cx="1143000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1" name="Image 24" descr="gen-dedup-ef170c9c5320dc0afd227c908da0c232.png">    </p:cNvPr>
          <p:cNvPicPr>
            <a:picLocks noChangeAspect="1"/>
          </p:cNvPicPr>
          <p:nvPr/>
        </p:nvPicPr>
        <p:blipFill>
          <a:blip r:embed="rId25">
            <a:alphaModFix amt="55000"/>
          </a:blip>
          <a:srcRect l="0" r="0" t="-2083" b="-2083"/>
          <a:stretch/>
        </p:blipFill>
        <p:spPr>
          <a:xfrm>
            <a:off x="13773607" y="4572000"/>
            <a:ext cx="9144" cy="228600"/>
          </a:xfrm>
          <a:prstGeom prst="rect">
            <a:avLst/>
          </a:prstGeom>
        </p:spPr>
      </p:pic>
      <p:pic>
        <p:nvPicPr>
          <p:cNvPr id="92" name="Image 25" descr="gen-dedup-2c4ac20d70413e02f71623f6fc501135.png">    </p:cNvPr>
          <p:cNvPicPr>
            <a:picLocks noChangeAspect="1"/>
          </p:cNvPicPr>
          <p:nvPr/>
        </p:nvPicPr>
        <p:blipFill>
          <a:blip r:embed="rId26"/>
          <a:srcRect l="0" r="0" t="-73" b="-73"/>
          <a:stretch/>
        </p:blipFill>
        <p:spPr>
          <a:xfrm>
            <a:off x="13058546" y="4629607"/>
            <a:ext cx="714146" cy="133502"/>
          </a:xfrm>
          <a:prstGeom prst="rect">
            <a:avLst/>
          </a:prstGeom>
        </p:spPr>
      </p:pic>
      <p:sp>
        <p:nvSpPr>
          <p:cNvPr id="93" name="Text 64"/>
          <p:cNvSpPr txBox="1"/>
          <p:nvPr/>
        </p:nvSpPr>
        <p:spPr>
          <a:xfrm>
            <a:off x="11296498" y="4858207"/>
            <a:ext cx="4953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−1.5 nm</a:t>
            </a:r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+1.5 nm</a:t>
            </a:r>
            <a:endParaRPr lang="en-US" sz="800" dirty="0"/>
          </a:p>
        </p:txBody>
      </p:sp>
      <p:sp>
        <p:nvSpPr>
          <p:cNvPr id="94" name="Text 65"/>
          <p:cNvSpPr txBox="1"/>
          <p:nvPr/>
        </p:nvSpPr>
        <p:spPr>
          <a:xfrm>
            <a:off x="3581705" y="5715000"/>
            <a:ext cx="16386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· target 9.7 nm</a:t>
            </a:r>
            <a:endParaRPr lang="en-US" sz="825" dirty="0"/>
          </a:p>
        </p:txBody>
      </p:sp>
      <p:sp>
        <p:nvSpPr>
          <p:cNvPr id="95" name="Text 66"/>
          <p:cNvSpPr txBox="1"/>
          <p:nvPr/>
        </p:nvSpPr>
        <p:spPr>
          <a:xfrm>
            <a:off x="8629193" y="5724144"/>
            <a:ext cx="1495958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−1 ─ 0 ─ +1 nm</a:t>
            </a:r>
            <a:endParaRPr lang="en-US" sz="800" dirty="0"/>
          </a:p>
        </p:txBody>
      </p:sp>
      <p:sp>
        <p:nvSpPr>
          <p:cNvPr id="96" name="Text 67"/>
          <p:cNvSpPr txBox="1"/>
          <p:nvPr/>
        </p:nvSpPr>
        <p:spPr>
          <a:xfrm>
            <a:off x="3581705" y="6067044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050" dirty="0"/>
          </a:p>
        </p:txBody>
      </p:sp>
      <p:sp>
        <p:nvSpPr>
          <p:cNvPr id="97" name="Text 68"/>
          <p:cNvSpPr txBox="1"/>
          <p:nvPr/>
        </p:nvSpPr>
        <p:spPr>
          <a:xfrm>
            <a:off x="9105595" y="6067044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</a:t>
            </a:r>
            <a:endParaRPr lang="en-US" sz="1050" dirty="0"/>
          </a:p>
        </p:txBody>
      </p:sp>
      <p:sp>
        <p:nvSpPr>
          <p:cNvPr id="98" name="Text 69"/>
          <p:cNvSpPr txBox="1"/>
          <p:nvPr/>
        </p:nvSpPr>
        <p:spPr>
          <a:xfrm>
            <a:off x="3581705" y="6372454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050" dirty="0"/>
          </a:p>
        </p:txBody>
      </p:sp>
      <p:sp>
        <p:nvSpPr>
          <p:cNvPr id="99" name="Text 70"/>
          <p:cNvSpPr txBox="1"/>
          <p:nvPr/>
        </p:nvSpPr>
        <p:spPr>
          <a:xfrm>
            <a:off x="9105595" y="6372454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050" dirty="0"/>
          </a:p>
        </p:txBody>
      </p:sp>
      <p:sp>
        <p:nvSpPr>
          <p:cNvPr id="100" name="Text 71"/>
          <p:cNvSpPr txBox="1"/>
          <p:nvPr/>
        </p:nvSpPr>
        <p:spPr>
          <a:xfrm>
            <a:off x="3581705" y="6676949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050" dirty="0"/>
          </a:p>
        </p:txBody>
      </p:sp>
      <p:sp>
        <p:nvSpPr>
          <p:cNvPr id="101" name="Text 72"/>
          <p:cNvSpPr txBox="1"/>
          <p:nvPr/>
        </p:nvSpPr>
        <p:spPr>
          <a:xfrm>
            <a:off x="9105595" y="6676949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048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+0.8</a:t>
            </a:r>
            <a:endParaRPr lang="en-US" sz="1050" dirty="0"/>
          </a:p>
        </p:txBody>
      </p:sp>
      <p:sp>
        <p:nvSpPr>
          <p:cNvPr id="102" name="Text 73"/>
          <p:cNvSpPr txBox="1"/>
          <p:nvPr/>
        </p:nvSpPr>
        <p:spPr>
          <a:xfrm>
            <a:off x="3581705" y="6981444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W04</a:t>
            </a:r>
            <a:endParaRPr lang="en-US" sz="1050" dirty="0"/>
          </a:p>
        </p:txBody>
      </p:sp>
      <p:sp>
        <p:nvSpPr>
          <p:cNvPr id="103" name="Text 74"/>
          <p:cNvSpPr txBox="1"/>
          <p:nvPr/>
        </p:nvSpPr>
        <p:spPr>
          <a:xfrm>
            <a:off x="9105595" y="6981444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+0.6</a:t>
            </a:r>
            <a:endParaRPr lang="en-US" sz="1050" dirty="0"/>
          </a:p>
        </p:txBody>
      </p:sp>
      <p:sp>
        <p:nvSpPr>
          <p:cNvPr id="104" name="Text 75"/>
          <p:cNvSpPr txBox="1"/>
          <p:nvPr/>
        </p:nvSpPr>
        <p:spPr>
          <a:xfrm>
            <a:off x="3581705" y="7286854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W05</a:t>
            </a:r>
            <a:endParaRPr lang="en-US" sz="1050" dirty="0"/>
          </a:p>
        </p:txBody>
      </p:sp>
      <p:sp>
        <p:nvSpPr>
          <p:cNvPr id="105" name="Text 76"/>
          <p:cNvSpPr txBox="1"/>
          <p:nvPr/>
        </p:nvSpPr>
        <p:spPr>
          <a:xfrm>
            <a:off x="9105595" y="7286854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</a:t>
            </a:r>
            <a:endParaRPr lang="en-US" sz="1050" dirty="0"/>
          </a:p>
        </p:txBody>
      </p:sp>
      <p:sp>
        <p:nvSpPr>
          <p:cNvPr id="106" name="Text 77"/>
          <p:cNvSpPr txBox="1"/>
          <p:nvPr/>
        </p:nvSpPr>
        <p:spPr>
          <a:xfrm>
            <a:off x="3581705" y="7591349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W06</a:t>
            </a:r>
            <a:endParaRPr lang="en-US" sz="1050" dirty="0"/>
          </a:p>
        </p:txBody>
      </p:sp>
      <p:sp>
        <p:nvSpPr>
          <p:cNvPr id="107" name="Text 78"/>
          <p:cNvSpPr txBox="1"/>
          <p:nvPr/>
        </p:nvSpPr>
        <p:spPr>
          <a:xfrm>
            <a:off x="9105595" y="7591349"/>
            <a:ext cx="8577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</a:t>
            </a:r>
            <a:endParaRPr lang="en-US" sz="1050" dirty="0"/>
          </a:p>
        </p:txBody>
      </p:sp>
      <p:sp>
        <p:nvSpPr>
          <p:cNvPr id="108" name="Shape 79"/>
          <p:cNvSpPr/>
          <p:nvPr/>
        </p:nvSpPr>
        <p:spPr>
          <a:xfrm>
            <a:off x="5867705" y="6038698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9" name="Image 26" descr="gen-dedup-ef170c9c5320dc0afd227c908da0c232.png">    </p:cNvPr>
          <p:cNvPicPr>
            <a:picLocks noChangeAspect="1"/>
          </p:cNvPicPr>
          <p:nvPr/>
        </p:nvPicPr>
        <p:blipFill>
          <a:blip r:embed="rId27">
            <a:alphaModFix amt="55000"/>
          </a:blip>
          <a:srcRect l="0" r="0" t="-2083" b="-2083"/>
          <a:stretch/>
        </p:blipFill>
        <p:spPr>
          <a:xfrm>
            <a:off x="6629400" y="6038698"/>
            <a:ext cx="9144" cy="228600"/>
          </a:xfrm>
          <a:prstGeom prst="rect">
            <a:avLst/>
          </a:prstGeom>
        </p:spPr>
      </p:pic>
      <p:sp>
        <p:nvSpPr>
          <p:cNvPr id="110" name="Shape 80"/>
          <p:cNvSpPr/>
          <p:nvPr/>
        </p:nvSpPr>
        <p:spPr>
          <a:xfrm>
            <a:off x="6629400" y="6096305"/>
            <a:ext cx="190195" cy="133502"/>
          </a:xfrm>
          <a:prstGeom prst="rect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81"/>
          <p:cNvSpPr/>
          <p:nvPr/>
        </p:nvSpPr>
        <p:spPr>
          <a:xfrm>
            <a:off x="5867705" y="6344107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2" name="Image 27" descr="gen-dedup-ef170c9c5320dc0afd227c908da0c232.png">    </p:cNvPr>
          <p:cNvPicPr>
            <a:picLocks noChangeAspect="1"/>
          </p:cNvPicPr>
          <p:nvPr/>
        </p:nvPicPr>
        <p:blipFill>
          <a:blip r:embed="rId28">
            <a:alphaModFix amt="55000"/>
          </a:blip>
          <a:srcRect l="0" r="0" t="-2083" b="-2083"/>
          <a:stretch/>
        </p:blipFill>
        <p:spPr>
          <a:xfrm>
            <a:off x="6629400" y="6344107"/>
            <a:ext cx="9144" cy="228600"/>
          </a:xfrm>
          <a:prstGeom prst="rect">
            <a:avLst/>
          </a:prstGeom>
        </p:spPr>
      </p:pic>
      <p:sp>
        <p:nvSpPr>
          <p:cNvPr id="113" name="Shape 82"/>
          <p:cNvSpPr/>
          <p:nvPr/>
        </p:nvSpPr>
        <p:spPr>
          <a:xfrm>
            <a:off x="6439205" y="6400800"/>
            <a:ext cx="190195" cy="133502"/>
          </a:xfrm>
          <a:prstGeom prst="rect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83"/>
          <p:cNvSpPr/>
          <p:nvPr/>
        </p:nvSpPr>
        <p:spPr>
          <a:xfrm>
            <a:off x="5867705" y="6648602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5" name="Image 28" descr="gen-dedup-ef170c9c5320dc0afd227c908da0c232.png">    </p:cNvPr>
          <p:cNvPicPr>
            <a:picLocks noChangeAspect="1"/>
          </p:cNvPicPr>
          <p:nvPr/>
        </p:nvPicPr>
        <p:blipFill>
          <a:blip r:embed="rId29">
            <a:alphaModFix amt="55000"/>
          </a:blip>
          <a:srcRect l="0" r="0" t="-2083" b="-2083"/>
          <a:stretch/>
        </p:blipFill>
        <p:spPr>
          <a:xfrm>
            <a:off x="6629400" y="6648602"/>
            <a:ext cx="9144" cy="228600"/>
          </a:xfrm>
          <a:prstGeom prst="rect">
            <a:avLst/>
          </a:prstGeom>
        </p:spPr>
      </p:pic>
      <p:pic>
        <p:nvPicPr>
          <p:cNvPr id="116" name="Image 29" descr="gen-dedup-fe87efbd78b3e3ad737e67d48fd65b26.png">    </p:cNvPr>
          <p:cNvPicPr>
            <a:picLocks noChangeAspect="1"/>
          </p:cNvPicPr>
          <p:nvPr/>
        </p:nvPicPr>
        <p:blipFill>
          <a:blip r:embed="rId30"/>
          <a:srcRect l="0" r="0" t="-47" b="-47"/>
          <a:stretch/>
        </p:blipFill>
        <p:spPr>
          <a:xfrm>
            <a:off x="6629400" y="6705295"/>
            <a:ext cx="1524305" cy="133502"/>
          </a:xfrm>
          <a:prstGeom prst="rect">
            <a:avLst/>
          </a:prstGeom>
        </p:spPr>
      </p:pic>
      <p:sp>
        <p:nvSpPr>
          <p:cNvPr id="117" name="Shape 84"/>
          <p:cNvSpPr/>
          <p:nvPr/>
        </p:nvSpPr>
        <p:spPr>
          <a:xfrm>
            <a:off x="5867705" y="6953098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8" name="Image 30" descr="gen-dedup-ef170c9c5320dc0afd227c908da0c232.png">    </p:cNvPr>
          <p:cNvPicPr>
            <a:picLocks noChangeAspect="1"/>
          </p:cNvPicPr>
          <p:nvPr/>
        </p:nvPicPr>
        <p:blipFill>
          <a:blip r:embed="rId31">
            <a:alphaModFix amt="55000"/>
          </a:blip>
          <a:srcRect l="0" r="0" t="-2083" b="-2083"/>
          <a:stretch/>
        </p:blipFill>
        <p:spPr>
          <a:xfrm>
            <a:off x="6629400" y="6953098"/>
            <a:ext cx="9144" cy="228600"/>
          </a:xfrm>
          <a:prstGeom prst="rect">
            <a:avLst/>
          </a:prstGeom>
        </p:spPr>
      </p:pic>
      <p:pic>
        <p:nvPicPr>
          <p:cNvPr id="119" name="Image 31" descr="gen-dedup-d557828f598699fa5b3f6fcef680c925.png">    </p:cNvPr>
          <p:cNvPicPr>
            <a:picLocks noChangeAspect="1"/>
          </p:cNvPicPr>
          <p:nvPr/>
        </p:nvPicPr>
        <p:blipFill>
          <a:blip r:embed="rId32"/>
          <a:srcRect l="0" r="0" t="-57" b="-57"/>
          <a:stretch/>
        </p:blipFill>
        <p:spPr>
          <a:xfrm>
            <a:off x="6629400" y="7010705"/>
            <a:ext cx="1143000" cy="133502"/>
          </a:xfrm>
          <a:prstGeom prst="rect">
            <a:avLst/>
          </a:prstGeom>
        </p:spPr>
      </p:pic>
      <p:sp>
        <p:nvSpPr>
          <p:cNvPr id="120" name="Shape 85"/>
          <p:cNvSpPr/>
          <p:nvPr/>
        </p:nvSpPr>
        <p:spPr>
          <a:xfrm>
            <a:off x="5867705" y="7258507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1" name="Image 32" descr="gen-dedup-ef170c9c5320dc0afd227c908da0c232.png">    </p:cNvPr>
          <p:cNvPicPr>
            <a:picLocks noChangeAspect="1"/>
          </p:cNvPicPr>
          <p:nvPr/>
        </p:nvPicPr>
        <p:blipFill>
          <a:blip r:embed="rId33">
            <a:alphaModFix amt="55000"/>
          </a:blip>
          <a:srcRect l="0" r="0" t="-2083" b="-2083"/>
          <a:stretch/>
        </p:blipFill>
        <p:spPr>
          <a:xfrm>
            <a:off x="6629400" y="7258507"/>
            <a:ext cx="9144" cy="228600"/>
          </a:xfrm>
          <a:prstGeom prst="rect">
            <a:avLst/>
          </a:prstGeom>
        </p:spPr>
      </p:pic>
      <p:pic>
        <p:nvPicPr>
          <p:cNvPr id="122" name="Image 33" descr="gen-dedup-d557828f598699fa5b3f6fcef680c925.png">    </p:cNvPr>
          <p:cNvPicPr>
            <a:picLocks noChangeAspect="1"/>
          </p:cNvPicPr>
          <p:nvPr/>
        </p:nvPicPr>
        <p:blipFill>
          <a:blip r:embed="rId34"/>
          <a:srcRect l="0" r="0" t="-57" b="-57"/>
          <a:stretch/>
        </p:blipFill>
        <p:spPr>
          <a:xfrm>
            <a:off x="5486400" y="7315200"/>
            <a:ext cx="1143000" cy="133502"/>
          </a:xfrm>
          <a:prstGeom prst="rect">
            <a:avLst/>
          </a:prstGeom>
        </p:spPr>
      </p:pic>
      <p:sp>
        <p:nvSpPr>
          <p:cNvPr id="123" name="Shape 86"/>
          <p:cNvSpPr/>
          <p:nvPr/>
        </p:nvSpPr>
        <p:spPr>
          <a:xfrm>
            <a:off x="5867705" y="7563002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4" name="Image 34" descr="gen-dedup-ef170c9c5320dc0afd227c908da0c232.png">    </p:cNvPr>
          <p:cNvPicPr>
            <a:picLocks noChangeAspect="1"/>
          </p:cNvPicPr>
          <p:nvPr/>
        </p:nvPicPr>
        <p:blipFill>
          <a:blip r:embed="rId35">
            <a:alphaModFix amt="55000"/>
          </a:blip>
          <a:srcRect l="0" r="0" t="-2083" b="-2083"/>
          <a:stretch/>
        </p:blipFill>
        <p:spPr>
          <a:xfrm>
            <a:off x="6629400" y="7563002"/>
            <a:ext cx="9144" cy="228600"/>
          </a:xfrm>
          <a:prstGeom prst="rect">
            <a:avLst/>
          </a:prstGeom>
        </p:spPr>
      </p:pic>
      <p:pic>
        <p:nvPicPr>
          <p:cNvPr id="125" name="Image 35" descr="gen-dedup-56c82ff3e5b8272edbfacb6207c40558.png">    </p:cNvPr>
          <p:cNvPicPr>
            <a:picLocks noChangeAspect="1"/>
          </p:cNvPicPr>
          <p:nvPr/>
        </p:nvPicPr>
        <p:blipFill>
          <a:blip r:embed="rId36"/>
          <a:srcRect l="0" r="0" t="-41" b="-41"/>
          <a:stretch/>
        </p:blipFill>
        <p:spPr>
          <a:xfrm>
            <a:off x="5676595" y="7619695"/>
            <a:ext cx="952805" cy="133502"/>
          </a:xfrm>
          <a:prstGeom prst="rect">
            <a:avLst/>
          </a:prstGeom>
        </p:spPr>
      </p:pic>
      <p:sp>
        <p:nvSpPr>
          <p:cNvPr id="126" name="Text 87"/>
          <p:cNvSpPr txBox="1"/>
          <p:nvPr/>
        </p:nvSpPr>
        <p:spPr>
          <a:xfrm>
            <a:off x="4153205" y="7848295"/>
            <a:ext cx="4953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 nm</a:t>
            </a:r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 nm</a:t>
            </a:r>
            <a:endParaRPr lang="en-US" sz="800" dirty="0"/>
          </a:p>
        </p:txBody>
      </p:sp>
      <p:sp>
        <p:nvSpPr>
          <p:cNvPr id="127" name="Text 88"/>
          <p:cNvSpPr txBox="1"/>
          <p:nvPr/>
        </p:nvSpPr>
        <p:spPr>
          <a:xfrm>
            <a:off x="10724998" y="5715000"/>
            <a:ext cx="16386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 · target 8.0 nm</a:t>
            </a:r>
            <a:endParaRPr lang="en-US" sz="825" dirty="0"/>
          </a:p>
        </p:txBody>
      </p:sp>
      <p:sp>
        <p:nvSpPr>
          <p:cNvPr id="128" name="Text 89"/>
          <p:cNvSpPr txBox="1"/>
          <p:nvPr/>
        </p:nvSpPr>
        <p:spPr>
          <a:xfrm>
            <a:off x="15925190" y="5724144"/>
            <a:ext cx="1495958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−1 ─ 0 ─ +1 nm</a:t>
            </a:r>
            <a:endParaRPr lang="en-US" sz="800" dirty="0"/>
          </a:p>
        </p:txBody>
      </p:sp>
      <p:sp>
        <p:nvSpPr>
          <p:cNvPr id="129" name="Text 90"/>
          <p:cNvSpPr txBox="1"/>
          <p:nvPr/>
        </p:nvSpPr>
        <p:spPr>
          <a:xfrm>
            <a:off x="10724998" y="6067044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W01</a:t>
            </a:r>
            <a:endParaRPr lang="en-US" sz="1050" dirty="0"/>
          </a:p>
        </p:txBody>
      </p:sp>
      <p:sp>
        <p:nvSpPr>
          <p:cNvPr id="130" name="Text 91"/>
          <p:cNvSpPr txBox="1"/>
          <p:nvPr/>
        </p:nvSpPr>
        <p:spPr>
          <a:xfrm>
            <a:off x="16249802" y="6067044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</a:t>
            </a:r>
            <a:endParaRPr lang="en-US" sz="1050" dirty="0"/>
          </a:p>
        </p:txBody>
      </p:sp>
      <p:sp>
        <p:nvSpPr>
          <p:cNvPr id="131" name="Text 92"/>
          <p:cNvSpPr txBox="1"/>
          <p:nvPr/>
        </p:nvSpPr>
        <p:spPr>
          <a:xfrm>
            <a:off x="10724998" y="6372454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W02</a:t>
            </a:r>
            <a:endParaRPr lang="en-US" sz="1050" dirty="0"/>
          </a:p>
        </p:txBody>
      </p:sp>
      <p:sp>
        <p:nvSpPr>
          <p:cNvPr id="132" name="Text 93"/>
          <p:cNvSpPr txBox="1"/>
          <p:nvPr/>
        </p:nvSpPr>
        <p:spPr>
          <a:xfrm>
            <a:off x="16249802" y="6372454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</a:t>
            </a:r>
            <a:endParaRPr lang="en-US" sz="1050" dirty="0"/>
          </a:p>
        </p:txBody>
      </p:sp>
      <p:sp>
        <p:nvSpPr>
          <p:cNvPr id="133" name="Text 94"/>
          <p:cNvSpPr txBox="1"/>
          <p:nvPr/>
        </p:nvSpPr>
        <p:spPr>
          <a:xfrm>
            <a:off x="10724998" y="6676949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W03</a:t>
            </a:r>
            <a:endParaRPr lang="en-US" sz="1050" dirty="0"/>
          </a:p>
        </p:txBody>
      </p:sp>
      <p:sp>
        <p:nvSpPr>
          <p:cNvPr id="134" name="Text 95"/>
          <p:cNvSpPr txBox="1"/>
          <p:nvPr/>
        </p:nvSpPr>
        <p:spPr>
          <a:xfrm>
            <a:off x="16249802" y="6676949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+0.7</a:t>
            </a:r>
            <a:endParaRPr lang="en-US" sz="1050" dirty="0"/>
          </a:p>
        </p:txBody>
      </p:sp>
      <p:sp>
        <p:nvSpPr>
          <p:cNvPr id="135" name="Text 96"/>
          <p:cNvSpPr txBox="1"/>
          <p:nvPr/>
        </p:nvSpPr>
        <p:spPr>
          <a:xfrm>
            <a:off x="10724998" y="6981444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W04</a:t>
            </a:r>
            <a:endParaRPr lang="en-US" sz="1050" dirty="0"/>
          </a:p>
        </p:txBody>
      </p:sp>
      <p:sp>
        <p:nvSpPr>
          <p:cNvPr id="136" name="Text 97"/>
          <p:cNvSpPr txBox="1"/>
          <p:nvPr/>
        </p:nvSpPr>
        <p:spPr>
          <a:xfrm>
            <a:off x="16249802" y="6981444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+0.6</a:t>
            </a:r>
            <a:endParaRPr lang="en-US" sz="1050" dirty="0"/>
          </a:p>
        </p:txBody>
      </p:sp>
      <p:sp>
        <p:nvSpPr>
          <p:cNvPr id="137" name="Text 98"/>
          <p:cNvSpPr txBox="1"/>
          <p:nvPr/>
        </p:nvSpPr>
        <p:spPr>
          <a:xfrm>
            <a:off x="10724998" y="7286854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W05</a:t>
            </a:r>
            <a:endParaRPr lang="en-US" sz="1050" dirty="0"/>
          </a:p>
        </p:txBody>
      </p:sp>
      <p:sp>
        <p:nvSpPr>
          <p:cNvPr id="138" name="Text 99"/>
          <p:cNvSpPr txBox="1"/>
          <p:nvPr/>
        </p:nvSpPr>
        <p:spPr>
          <a:xfrm>
            <a:off x="16249802" y="7286854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</a:t>
            </a:r>
            <a:endParaRPr lang="en-US" sz="1050" dirty="0"/>
          </a:p>
        </p:txBody>
      </p:sp>
      <p:sp>
        <p:nvSpPr>
          <p:cNvPr id="139" name="Text 100"/>
          <p:cNvSpPr txBox="1"/>
          <p:nvPr/>
        </p:nvSpPr>
        <p:spPr>
          <a:xfrm>
            <a:off x="10724998" y="7591349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181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W06</a:t>
            </a:r>
            <a:endParaRPr lang="en-US" sz="1050" dirty="0"/>
          </a:p>
        </p:txBody>
      </p:sp>
      <p:sp>
        <p:nvSpPr>
          <p:cNvPr id="140" name="Text 101"/>
          <p:cNvSpPr txBox="1"/>
          <p:nvPr/>
        </p:nvSpPr>
        <p:spPr>
          <a:xfrm>
            <a:off x="16249802" y="7591349"/>
            <a:ext cx="10104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C7B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</a:t>
            </a:r>
            <a:endParaRPr lang="en-US" sz="1050" dirty="0"/>
          </a:p>
        </p:txBody>
      </p:sp>
      <p:sp>
        <p:nvSpPr>
          <p:cNvPr id="141" name="Shape 102"/>
          <p:cNvSpPr/>
          <p:nvPr/>
        </p:nvSpPr>
        <p:spPr>
          <a:xfrm>
            <a:off x="13010998" y="6038698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2" name="Image 36" descr="gen-dedup-ef170c9c5320dc0afd227c908da0c232.png">    </p:cNvPr>
          <p:cNvPicPr>
            <a:picLocks noChangeAspect="1"/>
          </p:cNvPicPr>
          <p:nvPr/>
        </p:nvPicPr>
        <p:blipFill>
          <a:blip r:embed="rId37">
            <a:alphaModFix amt="55000"/>
          </a:blip>
          <a:srcRect l="0" r="0" t="-2083" b="-2083"/>
          <a:stretch/>
        </p:blipFill>
        <p:spPr>
          <a:xfrm>
            <a:off x="13773607" y="6038698"/>
            <a:ext cx="9144" cy="228600"/>
          </a:xfrm>
          <a:prstGeom prst="rect">
            <a:avLst/>
          </a:prstGeom>
        </p:spPr>
      </p:pic>
      <p:sp>
        <p:nvSpPr>
          <p:cNvPr id="143" name="Shape 103"/>
          <p:cNvSpPr/>
          <p:nvPr/>
        </p:nvSpPr>
        <p:spPr>
          <a:xfrm>
            <a:off x="13773607" y="6096305"/>
            <a:ext cx="190195" cy="133502"/>
          </a:xfrm>
          <a:prstGeom prst="rect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04"/>
          <p:cNvSpPr/>
          <p:nvPr/>
        </p:nvSpPr>
        <p:spPr>
          <a:xfrm>
            <a:off x="13010998" y="6344107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5" name="Image 37" descr="gen-dedup-ef170c9c5320dc0afd227c908da0c232.png">    </p:cNvPr>
          <p:cNvPicPr>
            <a:picLocks noChangeAspect="1"/>
          </p:cNvPicPr>
          <p:nvPr/>
        </p:nvPicPr>
        <p:blipFill>
          <a:blip r:embed="rId38">
            <a:alphaModFix amt="55000"/>
          </a:blip>
          <a:srcRect l="0" r="0" t="-2083" b="-2083"/>
          <a:stretch/>
        </p:blipFill>
        <p:spPr>
          <a:xfrm>
            <a:off x="13773607" y="6344107"/>
            <a:ext cx="9144" cy="228600"/>
          </a:xfrm>
          <a:prstGeom prst="rect">
            <a:avLst/>
          </a:prstGeom>
        </p:spPr>
      </p:pic>
      <p:sp>
        <p:nvSpPr>
          <p:cNvPr id="146" name="Shape 105"/>
          <p:cNvSpPr/>
          <p:nvPr/>
        </p:nvSpPr>
        <p:spPr>
          <a:xfrm>
            <a:off x="13582498" y="6400800"/>
            <a:ext cx="190195" cy="133502"/>
          </a:xfrm>
          <a:prstGeom prst="rect">
            <a:avLst/>
          </a:prstGeom>
          <a:solidFill>
            <a:srgbClr val="3F6B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06"/>
          <p:cNvSpPr/>
          <p:nvPr/>
        </p:nvSpPr>
        <p:spPr>
          <a:xfrm>
            <a:off x="13010998" y="6648602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8" name="Image 38" descr="gen-dedup-ef170c9c5320dc0afd227c908da0c232.png">    </p:cNvPr>
          <p:cNvPicPr>
            <a:picLocks noChangeAspect="1"/>
          </p:cNvPicPr>
          <p:nvPr/>
        </p:nvPicPr>
        <p:blipFill>
          <a:blip r:embed="rId39">
            <a:alphaModFix amt="55000"/>
          </a:blip>
          <a:srcRect l="0" r="0" t="-2083" b="-2083"/>
          <a:stretch/>
        </p:blipFill>
        <p:spPr>
          <a:xfrm>
            <a:off x="13773607" y="6648602"/>
            <a:ext cx="9144" cy="228600"/>
          </a:xfrm>
          <a:prstGeom prst="rect">
            <a:avLst/>
          </a:prstGeom>
        </p:spPr>
      </p:pic>
      <p:pic>
        <p:nvPicPr>
          <p:cNvPr id="149" name="Image 39" descr="gen-dedup-ac18adc271d7bb1b0b9a2e04dee0c469.png">    </p:cNvPr>
          <p:cNvPicPr>
            <a:picLocks noChangeAspect="1"/>
          </p:cNvPicPr>
          <p:nvPr/>
        </p:nvPicPr>
        <p:blipFill>
          <a:blip r:embed="rId40"/>
          <a:srcRect l="0" r="0" t="-69" b="-69"/>
          <a:stretch/>
        </p:blipFill>
        <p:spPr>
          <a:xfrm>
            <a:off x="13773607" y="6705295"/>
            <a:ext cx="1333195" cy="133502"/>
          </a:xfrm>
          <a:prstGeom prst="rect">
            <a:avLst/>
          </a:prstGeom>
        </p:spPr>
      </p:pic>
      <p:sp>
        <p:nvSpPr>
          <p:cNvPr id="150" name="Shape 107"/>
          <p:cNvSpPr/>
          <p:nvPr/>
        </p:nvSpPr>
        <p:spPr>
          <a:xfrm>
            <a:off x="13010998" y="6953098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1" name="Image 40" descr="gen-dedup-ef170c9c5320dc0afd227c908da0c232.png">    </p:cNvPr>
          <p:cNvPicPr>
            <a:picLocks noChangeAspect="1"/>
          </p:cNvPicPr>
          <p:nvPr/>
        </p:nvPicPr>
        <p:blipFill>
          <a:blip r:embed="rId41">
            <a:alphaModFix amt="55000"/>
          </a:blip>
          <a:srcRect l="0" r="0" t="-2083" b="-2083"/>
          <a:stretch/>
        </p:blipFill>
        <p:spPr>
          <a:xfrm>
            <a:off x="13773607" y="6953098"/>
            <a:ext cx="9144" cy="228600"/>
          </a:xfrm>
          <a:prstGeom prst="rect">
            <a:avLst/>
          </a:prstGeom>
        </p:spPr>
      </p:pic>
      <p:pic>
        <p:nvPicPr>
          <p:cNvPr id="152" name="Image 41" descr="gen-dedup-d557828f598699fa5b3f6fcef680c925.png">    </p:cNvPr>
          <p:cNvPicPr>
            <a:picLocks noChangeAspect="1"/>
          </p:cNvPicPr>
          <p:nvPr/>
        </p:nvPicPr>
        <p:blipFill>
          <a:blip r:embed="rId42"/>
          <a:srcRect l="0" r="0" t="-57" b="-57"/>
          <a:stretch/>
        </p:blipFill>
        <p:spPr>
          <a:xfrm>
            <a:off x="13773607" y="7010705"/>
            <a:ext cx="1143000" cy="133502"/>
          </a:xfrm>
          <a:prstGeom prst="rect">
            <a:avLst/>
          </a:prstGeom>
        </p:spPr>
      </p:pic>
      <p:sp>
        <p:nvSpPr>
          <p:cNvPr id="153" name="Shape 108"/>
          <p:cNvSpPr/>
          <p:nvPr/>
        </p:nvSpPr>
        <p:spPr>
          <a:xfrm>
            <a:off x="13010998" y="7258507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4" name="Image 42" descr="gen-dedup-ef170c9c5320dc0afd227c908da0c232.png">    </p:cNvPr>
          <p:cNvPicPr>
            <a:picLocks noChangeAspect="1"/>
          </p:cNvPicPr>
          <p:nvPr/>
        </p:nvPicPr>
        <p:blipFill>
          <a:blip r:embed="rId43">
            <a:alphaModFix amt="55000"/>
          </a:blip>
          <a:srcRect l="0" r="0" t="-2083" b="-2083"/>
          <a:stretch/>
        </p:blipFill>
        <p:spPr>
          <a:xfrm>
            <a:off x="13773607" y="7258507"/>
            <a:ext cx="9144" cy="228600"/>
          </a:xfrm>
          <a:prstGeom prst="rect">
            <a:avLst/>
          </a:prstGeom>
        </p:spPr>
      </p:pic>
      <p:pic>
        <p:nvPicPr>
          <p:cNvPr id="155" name="Image 43" descr="gen-dedup-d557828f598699fa5b3f6fcef680c925.png">    </p:cNvPr>
          <p:cNvPicPr>
            <a:picLocks noChangeAspect="1"/>
          </p:cNvPicPr>
          <p:nvPr/>
        </p:nvPicPr>
        <p:blipFill>
          <a:blip r:embed="rId44"/>
          <a:srcRect l="0" r="0" t="-57" b="-57"/>
          <a:stretch/>
        </p:blipFill>
        <p:spPr>
          <a:xfrm>
            <a:off x="12630607" y="7315200"/>
            <a:ext cx="1143000" cy="133502"/>
          </a:xfrm>
          <a:prstGeom prst="rect">
            <a:avLst/>
          </a:prstGeom>
        </p:spPr>
      </p:pic>
      <p:sp>
        <p:nvSpPr>
          <p:cNvPr id="156" name="Shape 109"/>
          <p:cNvSpPr/>
          <p:nvPr/>
        </p:nvSpPr>
        <p:spPr>
          <a:xfrm>
            <a:off x="13010998" y="7563002"/>
            <a:ext cx="1524305" cy="228600"/>
          </a:xfrm>
          <a:prstGeom prst="rect">
            <a:avLst/>
          </a:prstGeom>
          <a:solidFill>
            <a:srgbClr val="B5975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7" name="Image 44" descr="gen-dedup-ef170c9c5320dc0afd227c908da0c232.png">    </p:cNvPr>
          <p:cNvPicPr>
            <a:picLocks noChangeAspect="1"/>
          </p:cNvPicPr>
          <p:nvPr/>
        </p:nvPicPr>
        <p:blipFill>
          <a:blip r:embed="rId45">
            <a:alphaModFix amt="55000"/>
          </a:blip>
          <a:srcRect l="0" r="0" t="-2083" b="-2083"/>
          <a:stretch/>
        </p:blipFill>
        <p:spPr>
          <a:xfrm>
            <a:off x="13773607" y="7563002"/>
            <a:ext cx="9144" cy="228600"/>
          </a:xfrm>
          <a:prstGeom prst="rect">
            <a:avLst/>
          </a:prstGeom>
        </p:spPr>
      </p:pic>
      <p:pic>
        <p:nvPicPr>
          <p:cNvPr id="158" name="Image 45" descr="gen-dedup-56c82ff3e5b8272edbfacb6207c40558.png">    </p:cNvPr>
          <p:cNvPicPr>
            <a:picLocks noChangeAspect="1"/>
          </p:cNvPicPr>
          <p:nvPr/>
        </p:nvPicPr>
        <p:blipFill>
          <a:blip r:embed="rId46"/>
          <a:srcRect l="0" r="0" t="-41" b="-41"/>
          <a:stretch/>
        </p:blipFill>
        <p:spPr>
          <a:xfrm>
            <a:off x="12820802" y="7619695"/>
            <a:ext cx="952805" cy="133502"/>
          </a:xfrm>
          <a:prstGeom prst="rect">
            <a:avLst/>
          </a:prstGeom>
        </p:spPr>
      </p:pic>
      <p:sp>
        <p:nvSpPr>
          <p:cNvPr id="159" name="Text 110"/>
          <p:cNvSpPr txBox="1"/>
          <p:nvPr/>
        </p:nvSpPr>
        <p:spPr>
          <a:xfrm>
            <a:off x="11296498" y="7848295"/>
            <a:ext cx="4953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 nm</a:t>
            </a:r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algn="l" indent="0" marL="0">
              <a:buNone/>
            </a:pPr>
            <a:r>
              <a:rPr lang="en-US" sz="800" spc="105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 nm</a:t>
            </a:r>
            <a:endParaRPr lang="en-US" sz="800" dirty="0"/>
          </a:p>
        </p:txBody>
      </p:sp>
      <p:sp>
        <p:nvSpPr>
          <p:cNvPr id="160" name="Text 111"/>
          <p:cNvSpPr txBox="1"/>
          <p:nvPr/>
        </p:nvSpPr>
        <p:spPr>
          <a:xfrm>
            <a:off x="5676595" y="8744407"/>
            <a:ext cx="2477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35" kern="0" dirty="0">
                <a:solidFill>
                  <a:srgbClr val="B5975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07 · BEOL M1 단면</a:t>
            </a:r>
            <a:endParaRPr lang="en-US" sz="800" dirty="0"/>
          </a:p>
        </p:txBody>
      </p:sp>
      <p:sp>
        <p:nvSpPr>
          <p:cNvPr id="161" name="Text 112"/>
          <p:cNvSpPr txBox="1"/>
          <p:nvPr/>
        </p:nvSpPr>
        <p:spPr>
          <a:xfrm>
            <a:off x="5676595" y="8924544"/>
            <a:ext cx="2477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746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출처: Nature — BEOL Cu interconnect</a:t>
            </a:r>
            <a:endParaRPr lang="en-US" sz="900" dirty="0"/>
          </a:p>
        </p:txBody>
      </p:sp>
      <p:sp>
        <p:nvSpPr>
          <p:cNvPr id="162" name="Text 113"/>
          <p:cNvSpPr txBox="1"/>
          <p:nvPr/>
        </p:nvSpPr>
        <p:spPr>
          <a:xfrm>
            <a:off x="8667598" y="8706002"/>
            <a:ext cx="8763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65" kern="0" dirty="0">
                <a:solidFill>
                  <a:srgbClr val="1F5F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관찰 · OBSERVATION</a:t>
            </a:r>
            <a:endParaRPr lang="en-US" sz="800" dirty="0"/>
          </a:p>
        </p:txBody>
      </p:sp>
      <p:sp>
        <p:nvSpPr>
          <p:cNvPr id="163" name="Text 114"/>
          <p:cNvSpPr txBox="1"/>
          <p:nvPr/>
        </p:nvSpPr>
        <p:spPr>
          <a:xfrm>
            <a:off x="8667598" y="8906256"/>
            <a:ext cx="8763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 A는 spacer·최종 line 모두 안정, B는 mandrel → spacer 비대칭, C는 under-cut 증폭으로 tip Δ 부각. cut-stage bias 보정만으로 ±0.4 nm 안으로 들어올 가능성.</a:t>
            </a:r>
            <a:endParaRPr lang="en-US" sz="1050" dirty="0"/>
          </a:p>
        </p:txBody>
      </p:sp>
      <p:sp>
        <p:nvSpPr>
          <p:cNvPr id="164" name="Text 115"/>
          <p:cNvSpPr txBox="1"/>
          <p:nvPr/>
        </p:nvSpPr>
        <p:spPr>
          <a:xfrm>
            <a:off x="3238805" y="981059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E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200" dirty="0"/>
          </a:p>
        </p:txBody>
      </p:sp>
      <p:sp>
        <p:nvSpPr>
          <p:cNvPr id="165" name="Text 116"/>
          <p:cNvSpPr txBox="1"/>
          <p:nvPr/>
        </p:nvSpPr>
        <p:spPr>
          <a:xfrm>
            <a:off x="14859000" y="9810598"/>
            <a:ext cx="31437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76" kern="0" dirty="0">
                <a:solidFill>
                  <a:srgbClr val="6B66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07 · EUV-BEOL-EVAL · 04/15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2026-10-04T07:26:41Z</dcterms:created>
  <dcterms:modified xsi:type="dcterms:W3CDTF">2026-10-04T07:26:41Z</dcterms:modified>
</cp:coreProperties>
</file>