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83a650d801de4cb9a9606f0727535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4aa6d732a325d1fb2eac0952065095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620402"/>
            <a:ext cx="10096805" cy="9144"/>
          </a:xfrm>
          <a:prstGeom prst="rect">
            <a:avLst/>
          </a:prstGeom>
        </p:spPr>
      </p:pic>
      <p:pic>
        <p:nvPicPr>
          <p:cNvPr id="4" name="Image 2" descr="gen-dedup-b2077551eb8587d014e643212d632e2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195" y="1143000"/>
            <a:ext cx="7239305" cy="83823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1716207" y="5333695"/>
            <a:ext cx="5810098" cy="3810305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5CB8E8">
                <a:alpha val="22000"/>
              </a:srgbClr>
            </a:solidFill>
            <a:prstDash val="solid"/>
          </a:ln>
        </p:spPr>
      </p:sp>
      <p:pic>
        <p:nvPicPr>
          <p:cNvPr id="6" name="Image 3" descr="gen-dedup-c2b2a72948673050e785638a3c02a19f.png">    </p:cNvPr>
          <p:cNvPicPr>
            <a:picLocks noChangeAspect="1"/>
          </p:cNvPicPr>
          <p:nvPr/>
        </p:nvPicPr>
        <p:blipFill>
          <a:blip r:embed="rId4"/>
          <a:srcRect l="0" r="0" t="-412" b="-412"/>
          <a:stretch/>
        </p:blipFill>
        <p:spPr>
          <a:xfrm>
            <a:off x="761695" y="1143000"/>
            <a:ext cx="1333195" cy="57607"/>
          </a:xfrm>
          <a:prstGeom prst="rect">
            <a:avLst/>
          </a:prstGeom>
        </p:spPr>
      </p:pic>
      <p:pic>
        <p:nvPicPr>
          <p:cNvPr id="7" name="Image 4" descr="gen-dedup-55c208f2b188910620a005d11e3e09d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6207" y="1619402"/>
            <a:ext cx="5810098" cy="2714854"/>
          </a:xfrm>
          <a:prstGeom prst="rect">
            <a:avLst/>
          </a:prstGeom>
        </p:spPr>
      </p:pic>
      <p:pic>
        <p:nvPicPr>
          <p:cNvPr id="8" name="Image 5" descr="gen-dedup-7235012517d41de3e51ed59c3b0c4673.png">    </p:cNvPr>
          <p:cNvPicPr>
            <a:picLocks noChangeAspect="1"/>
          </p:cNvPicPr>
          <p:nvPr/>
        </p:nvPicPr>
        <p:blipFill>
          <a:blip r:embed="rId6"/>
          <a:srcRect l="0" r="0" t="-2072" b="-2072"/>
          <a:stretch/>
        </p:blipFill>
        <p:spPr>
          <a:xfrm>
            <a:off x="14621256" y="6381598"/>
            <a:ext cx="9144" cy="190469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761695" y="1619402"/>
            <a:ext cx="10287000" cy="3448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열: 비아가</a:t>
            </a:r>
            <a:pPr algn="l" indent="0" marL="0">
              <a:lnSpc>
                <a:spcPct val="116000"/>
              </a:lnSpc>
              <a:buNone/>
            </a:pPr>
            <a:endParaRPr lang="en-US" sz="7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78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열저항의 86%를</a:t>
            </a:r>
            <a:pPr algn="l" indent="0" marL="0">
              <a:lnSpc>
                <a:spcPct val="116000"/>
              </a:lnSpc>
              <a:buNone/>
            </a:pPr>
            <a:endParaRPr lang="en-US" sz="7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78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먹는다</a:t>
            </a:r>
            <a:endParaRPr lang="en-US" sz="7800" dirty="0"/>
          </a:p>
        </p:txBody>
      </p:sp>
      <p:sp>
        <p:nvSpPr>
          <p:cNvPr id="10" name="Text 2"/>
          <p:cNvSpPr txBox="1"/>
          <p:nvPr/>
        </p:nvSpPr>
        <p:spPr>
          <a:xfrm>
            <a:off x="761695" y="6476695"/>
            <a:ext cx="10096805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210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저유전율막은 전기적으로 좋고 열적으로 나빡니다. SiO</a:t>
            </a:r>
            <a:pPr algn="l" indent="0" marL="0">
              <a:lnSpc>
                <a:spcPts val="3402"/>
              </a:lnSpc>
              <a:buNone/>
            </a:pPr>
            <a:r>
              <a:rPr lang="en-US" sz="175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3402"/>
              </a:lnSpc>
              <a:buNone/>
            </a:pPr>
            <a:r>
              <a:rPr lang="en-US" sz="210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1.15 W/m·K인 데 비해 OSG3.0은 0.3 W/m·K — 사실상 단열재입니다. imec은 열전도도가 1 W/m·K 아래로 내려가면 BEOL 온도가 급격히 오른다고 보고합니다. 로직셀 전력밀도는 이미 약 10 W/mm²(= 1000 W/cm²) 수준입니다.</a:t>
            </a:r>
            <a:endParaRPr lang="en-US" sz="2100" dirty="0"/>
          </a:p>
        </p:txBody>
      </p:sp>
      <p:sp>
        <p:nvSpPr>
          <p:cNvPr id="11" name="Text 3"/>
          <p:cNvSpPr txBox="1"/>
          <p:nvPr/>
        </p:nvSpPr>
        <p:spPr>
          <a:xfrm>
            <a:off x="11716207" y="4429354"/>
            <a:ext cx="5811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Photo: imec press</a:t>
            </a:r>
            <a:endParaRPr lang="en-US" sz="1350" dirty="0"/>
          </a:p>
        </p:txBody>
      </p:sp>
      <p:sp>
        <p:nvSpPr>
          <p:cNvPr id="12" name="Text 4"/>
          <p:cNvSpPr txBox="1"/>
          <p:nvPr/>
        </p:nvSpPr>
        <p:spPr>
          <a:xfrm>
            <a:off x="11716207" y="5715000"/>
            <a:ext cx="2857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4F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9000" dirty="0"/>
          </a:p>
        </p:txBody>
      </p:sp>
      <p:sp>
        <p:nvSpPr>
          <p:cNvPr id="13" name="Text 5"/>
          <p:cNvSpPr txBox="1"/>
          <p:nvPr/>
        </p:nvSpPr>
        <p:spPr>
          <a:xfrm>
            <a:off x="11716207" y="7029907"/>
            <a:ext cx="2857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비아층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14668805" y="5715000"/>
            <a:ext cx="2857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B84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14%</a:t>
            </a:r>
            <a:endParaRPr lang="en-US" sz="9000" dirty="0"/>
          </a:p>
        </p:txBody>
      </p:sp>
      <p:sp>
        <p:nvSpPr>
          <p:cNvPr id="15" name="Text 7"/>
          <p:cNvSpPr txBox="1"/>
          <p:nvPr/>
        </p:nvSpPr>
        <p:spPr>
          <a:xfrm>
            <a:off x="14668805" y="7029907"/>
            <a:ext cx="2857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 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0a62eaced227fe5d61f5724b38f7ff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6cda52174f871dbf0231121b4b14b2a.png">    </p:cNvPr>
          <p:cNvPicPr>
            <a:picLocks noChangeAspect="1"/>
          </p:cNvPicPr>
          <p:nvPr/>
        </p:nvPicPr>
        <p:blipFill>
          <a:blip r:embed="rId2"/>
          <a:srcRect l="-412" r="-412" t="0" b="0"/>
          <a:stretch/>
        </p:blipFill>
        <p:spPr>
          <a:xfrm>
            <a:off x="761695" y="6476695"/>
            <a:ext cx="57607" cy="1333195"/>
          </a:xfrm>
          <a:prstGeom prst="rect">
            <a:avLst/>
          </a:prstGeom>
        </p:spPr>
      </p:pic>
      <p:pic>
        <p:nvPicPr>
          <p:cNvPr id="4" name="Image 2" descr="gen-dedup-eb3908dc2e2e17644789bfe35232ba1c.png">    </p:cNvPr>
          <p:cNvPicPr>
            <a:picLocks noChangeAspect="1"/>
          </p:cNvPicPr>
          <p:nvPr/>
        </p:nvPicPr>
        <p:blipFill>
          <a:blip r:embed="rId3"/>
          <a:srcRect l="-415" r="-415" t="0" b="0"/>
          <a:stretch/>
        </p:blipFill>
        <p:spPr>
          <a:xfrm>
            <a:off x="761695" y="1619402"/>
            <a:ext cx="1524305" cy="28346"/>
          </a:xfrm>
          <a:prstGeom prst="rect">
            <a:avLst/>
          </a:prstGeom>
        </p:spPr>
      </p:pic>
      <p:pic>
        <p:nvPicPr>
          <p:cNvPr id="5" name="Image 3" descr="gen-dedup-026c228253d5f990f65761ede30ba2d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1904695"/>
            <a:ext cx="6476695" cy="3161995"/>
          </a:xfrm>
          <a:prstGeom prst="rect">
            <a:avLst/>
          </a:prstGeom>
        </p:spPr>
      </p:pic>
      <p:pic>
        <p:nvPicPr>
          <p:cNvPr id="6" name="Image 4" descr="gen-dedup-138057bb41888ae3c01fab5bd5d8fdc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7048195"/>
            <a:ext cx="6476695" cy="22860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761695" y="571500"/>
            <a:ext cx="1676461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 자체의 품질 — 저주파 잡음으로 본 MIM</a:t>
            </a:r>
            <a:endParaRPr lang="en-US" sz="3600" dirty="0"/>
          </a:p>
        </p:txBody>
      </p:sp>
      <p:sp>
        <p:nvSpPr>
          <p:cNvPr id="8" name="Text 1"/>
          <p:cNvSpPr txBox="1"/>
          <p:nvPr/>
        </p:nvSpPr>
        <p:spPr>
          <a:xfrm>
            <a:off x="761695" y="1904695"/>
            <a:ext cx="97155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Giusi는 TiN 전극 사이의 SiO</a:t>
            </a:r>
            <a:pPr algn="l" indent="0" marL="0">
              <a:lnSpc>
                <a:spcPts val="2760"/>
              </a:lnSpc>
              <a:buNone/>
            </a:pPr>
            <a:r>
              <a:rPr lang="en-US" sz="1438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 nm(ε</a:t>
            </a:r>
            <a:pPr algn="l" indent="0" marL="0">
              <a:lnSpc>
                <a:spcPts val="2760"/>
              </a:lnSpc>
              <a:buNone/>
            </a:pPr>
            <a:r>
              <a:rPr lang="en-US" sz="1438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4.2), Al</a:t>
            </a:r>
            <a:pPr algn="l" indent="0" marL="0">
              <a:lnSpc>
                <a:spcPts val="2760"/>
              </a:lnSpc>
              <a:buNone/>
            </a:pPr>
            <a:r>
              <a:rPr lang="en-US" sz="1438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pPr algn="l" indent="0" marL="0">
              <a:lnSpc>
                <a:spcPts val="2760"/>
              </a:lnSpc>
              <a:buNone/>
            </a:pPr>
            <a:r>
              <a:rPr lang="en-US" sz="1438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 nm(8.9), OSG3.0 12 nm(3.0, 기공률 7%) MIM을 25–200 °C, 최대 ~12 MV/cm에서 비교했습니다. 전도 기구가 재료마다 다릅니다.</a:t>
            </a:r>
            <a:endParaRPr lang="en-US" sz="17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238805"/>
          <a:ext cx="9715500" cy="2934310"/>
        </p:xfrm>
        <a:graphic>
          <a:graphicData uri="http://schemas.openxmlformats.org/drawingml/2006/table">
            <a:tbl>
              <a:tblPr/>
              <a:tblGrid>
                <a:gridCol w="1619402"/>
                <a:gridCol w="3047695"/>
                <a:gridCol w="5048402"/>
              </a:tblGrid>
              <a:tr h="733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7F92B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유전체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7F92B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지배 기구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7F92B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트랩 준위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35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6FE3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SiO</a:t>
                      </a:r>
                      <a:pPr indent="0" marL="0">
                        <a:buNone/>
                      </a:pPr>
                      <a:r>
                        <a:rPr lang="en-US" sz="1438" b="1" dirty="0">
                          <a:solidFill>
                            <a:srgbClr val="6FE3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Poole-Frenkel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φ</a:t>
                      </a:r>
                      <a:pPr indent="0" marL="0">
                        <a:buNone/>
                      </a:pPr>
                      <a:r>
                        <a:rPr lang="en-US" sz="1438" dirty="0">
                          <a:solidFill>
                            <a:srgbClr val="EAF2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 = 0.77 ± 0.01 eV</a:t>
                      </a:r>
                      <a:endParaRPr lang="en-US" sz="1200" dirty="0"/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35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FF91A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OSG3.0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호핑 / 비정상 PF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φ</a:t>
                      </a:r>
                      <a:pPr indent="0" marL="0">
                        <a:buNone/>
                      </a:pPr>
                      <a:r>
                        <a:rPr lang="en-US" sz="1438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= 0.44 ± 0.01 eV, 호핑거리 0.6 nm, E</a:t>
                      </a:r>
                      <a:pPr indent="0" marL="0">
                        <a:buNone/>
                      </a:pPr>
                      <a:r>
                        <a:rPr lang="en-US" sz="1438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0.47 eV</a:t>
                      </a:r>
                      <a:endParaRPr lang="en-US" sz="1200" dirty="0"/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35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FFC77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1438" b="1" dirty="0">
                          <a:solidFill>
                            <a:srgbClr val="FFC77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FFC77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</a:t>
                      </a:r>
                      <a:pPr indent="0" marL="0">
                        <a:buNone/>
                      </a:pPr>
                      <a:r>
                        <a:rPr lang="en-US" sz="1438" b="1" dirty="0">
                          <a:solidFill>
                            <a:srgbClr val="FFC77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FN 트랩보조 터널링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EAF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Φ 1.36 eV(상부) / 1.33 eV(하부)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1907" marR="171907" marT="152705" marB="152705" anchor="t">
                    <a:lnL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C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2"/>
          <p:cNvSpPr txBox="1"/>
          <p:nvPr/>
        </p:nvSpPr>
        <p:spPr>
          <a:xfrm>
            <a:off x="11048695" y="5143500"/>
            <a:ext cx="6477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Photo: Nature Communications</a:t>
            </a:r>
            <a:endParaRPr lang="en-US" sz="1350" dirty="0"/>
          </a:p>
        </p:txBody>
      </p:sp>
      <p:sp>
        <p:nvSpPr>
          <p:cNvPr id="11" name="Text 3"/>
          <p:cNvSpPr txBox="1"/>
          <p:nvPr/>
        </p:nvSpPr>
        <p:spPr>
          <a:xfrm>
            <a:off x="1123798" y="6476695"/>
            <a:ext cx="93351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결론은 간단합니다. 누설·잡음 모두 SiO</a:t>
            </a:r>
            <a:pPr algn="l" indent="0" marL="0">
              <a:lnSpc>
                <a:spcPts val="2674"/>
              </a:lnSpc>
              <a:buNone/>
            </a:pPr>
            <a:r>
              <a:rPr lang="en-US" sz="1438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최고, Al</a:t>
            </a:r>
            <a:pPr algn="l" indent="0" marL="0">
              <a:lnSpc>
                <a:spcPts val="2674"/>
              </a:lnSpc>
              <a:buNone/>
            </a:pPr>
            <a:r>
              <a:rPr lang="en-US" sz="1438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pPr algn="l" indent="0" marL="0">
              <a:lnSpc>
                <a:spcPts val="2674"/>
              </a:lnSpc>
              <a:buNone/>
            </a:pPr>
            <a:r>
              <a:rPr lang="en-US" sz="1438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누설이 가장 크고, OSG3.0은 잡음이 가장 나쁜 데다 수많은 비정상 RTS 이벤트로 전기적 불안정성을 드러냅니다. </a:t>
            </a:r>
            <a:pPr algn="l" indent="0" marL="0">
              <a:lnSpc>
                <a:spcPts val="2674"/>
              </a:lnSpc>
              <a:buNone/>
            </a:pPr>
            <a:r>
              <a:rPr lang="en-US" sz="1725" b="1" dirty="0">
                <a:solidFill>
                  <a:srgbClr val="6FE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저유전율 도입의 대가가 정전용량만의 문제가 아니라는 증거입니다.</a:t>
            </a:r>
            <a:endParaRPr lang="en-US" sz="1725" dirty="0"/>
          </a:p>
        </p:txBody>
      </p:sp>
      <p:sp>
        <p:nvSpPr>
          <p:cNvPr id="12" name="Text 4"/>
          <p:cNvSpPr txBox="1"/>
          <p:nvPr/>
        </p:nvSpPr>
        <p:spPr>
          <a:xfrm>
            <a:off x="11048695" y="5524805"/>
            <a:ext cx="64776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기계적 파괴 — 금속층 위가 아니라</a:t>
            </a:r>
            <a:pPr algn="l" indent="0" marL="0">
              <a:lnSpc>
                <a:spcPct val="132000"/>
              </a:lnSpc>
              <a:buNone/>
            </a:pPr>
            <a:endParaRPr lang="en-US" sz="21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금속층을 관통해 금이 간다</a:t>
            </a:r>
            <a:endParaRPr lang="en-US" sz="2100" dirty="0"/>
          </a:p>
        </p:txBody>
      </p:sp>
      <p:sp>
        <p:nvSpPr>
          <p:cNvPr id="13" name="Text 5"/>
          <p:cNvSpPr txBox="1"/>
          <p:nvPr/>
        </p:nvSpPr>
        <p:spPr>
          <a:xfrm>
            <a:off x="11048695" y="9391802"/>
            <a:ext cx="6477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Photo: IEEE EDS</a:t>
            </a:r>
            <a:endParaRPr lang="en-US" sz="1350" dirty="0"/>
          </a:p>
        </p:txBody>
      </p:sp>
      <p:sp>
        <p:nvSpPr>
          <p:cNvPr id="14" name="Text 6"/>
          <p:cNvSpPr txBox="1"/>
          <p:nvPr/>
        </p:nvSpPr>
        <p:spPr>
          <a:xfrm>
            <a:off x="761695" y="8096098"/>
            <a:ext cx="971550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Vanstreels는 FIB로 깎은 BEOL 마이크로빔을 SEM 안에서 굽히며 균열 발생·전파·계면 박리를 직접 관찰했습니다. 길이와 폭이 다른 빔 네 개를 200–750 µN/s로 가압했고, k &lt; 2.0 Cu/low-k 스택에서 균열이 금속층 위를 따라 달리다 금속층을 관통해 지나기도 했습니다. </a:t>
            </a:r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FF9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강화 대상이 저유전율막이 아니라 금속 상부 계면이라는 뜻입니다.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810305"/>
          </a:xfrm>
          <a:prstGeom prst="rect">
            <a:avLst/>
          </a:prstGeom>
          <a:solidFill>
            <a:srgbClr val="1322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1102"/>
            <a:ext cx="18288000" cy="19202"/>
          </a:xfrm>
          <a:prstGeom prst="rect">
            <a:avLst/>
          </a:prstGeom>
          <a:solidFill>
            <a:srgbClr val="5CB8E8">
              <a:alpha val="35000"/>
            </a:srgbClr>
          </a:solidFill>
          <a:ln w="12700">
            <a:solidFill>
              <a:srgbClr val="5CB8E8">
                <a:alpha val="0"/>
              </a:srgbClr>
            </a:solidFill>
            <a:prstDash val="solid"/>
          </a:ln>
        </p:spPr>
      </p:sp>
      <p:pic>
        <p:nvPicPr>
          <p:cNvPr id="4" name="Image 0" descr="gen-dedup-0379e90f185a6d69210105d8bbb4e85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8953805"/>
            <a:ext cx="16763695" cy="9144"/>
          </a:xfrm>
          <a:prstGeom prst="rect">
            <a:avLst/>
          </a:prstGeom>
        </p:spPr>
      </p:pic>
      <p:pic>
        <p:nvPicPr>
          <p:cNvPr id="5" name="Image 1" descr="gen-dedup-571aec3fbb52f3fe9c5b49354f21639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805" y="761695"/>
            <a:ext cx="5143500" cy="268650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52805" y="761695"/>
            <a:ext cx="1047811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열전도도가</a:t>
            </a:r>
            <a:pPr algn="l" indent="0" marL="0">
              <a:lnSpc>
                <a:spcPct val="118000"/>
              </a:lnSpc>
              <a:buNone/>
            </a:pPr>
            <a:endParaRPr lang="en-US" sz="4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갈리는가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2667305"/>
            <a:ext cx="104781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직렬 열저항은 가장 나쁜 고리가 결정합니다.</a:t>
            </a:r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그래서 배선 금속을 Cu에서 Ru나 Mo로 바꿔도 열적으로는 거의 변화가 없고, 비아 배치와 유전체 선택만 남습니다.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2382805" y="3504895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Photo: Intel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4286707"/>
            <a:ext cx="8572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14층 BEOL 스택을 분해해 보면 열저항의 86%가 비아층, 14%가 선 층에서 나옵니다. 그래서 비아 배치가 중요해지고 — 적층(stacked) &gt; 연결된 엇갈림(staggered) &gt; 고립 순으로 유리합니다 — 정작 금속 종류 선택은 열 방출에 거의 영향이 없습니다.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5539435"/>
            <a:ext cx="857250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B9C7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그러나 열은 다릅니다. imec 자체 오픈 논문(Chen, 2025)은 균일 전력 가정에서는 BSPDN이 우위로 보이지만, 5 µm 해상도의 현실적 비균일 전력 분포를 넣으면 BSPDN의 최고온도가 전면 PDN보다 일관되게 높다고 보고합니다. </a:t>
            </a:r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F5B8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시점의 균일 전력 가정이 결론을 반대로 뒤집어버린다는 지적입니다.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0287000" y="4286707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W/m·K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6202254" y="4619549"/>
            <a:ext cx="19202" cy="3047695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287000" y="4725619"/>
            <a:ext cx="2190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SiO</a:t>
            </a:r>
            <a:pPr algn="l"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706502" y="4714646"/>
            <a:ext cx="5143500" cy="400507"/>
          </a:xfrm>
          <a:prstGeom prst="rect">
            <a:avLst/>
          </a:prstGeom>
          <a:solidFill>
            <a:srgbClr val="4FD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7213580" y="4776826"/>
            <a:ext cx="5056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3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1.15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0287000" y="5357470"/>
            <a:ext cx="219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M1–M4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2706502" y="5324551"/>
            <a:ext cx="2905049" cy="400507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3969289" y="5386730"/>
            <a:ext cx="151516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3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0.65 ± 0.066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10287000" y="5967374"/>
            <a:ext cx="219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M1–M6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706502" y="5934456"/>
            <a:ext cx="2857500" cy="400507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4927580" y="5995721"/>
            <a:ext cx="5056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3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0.64</a:t>
            </a:r>
            <a:endParaRPr lang="en-US" sz="1650" dirty="0"/>
          </a:p>
        </p:txBody>
      </p:sp>
      <p:sp>
        <p:nvSpPr>
          <p:cNvPr id="22" name="Text 18"/>
          <p:cNvSpPr txBox="1"/>
          <p:nvPr/>
        </p:nvSpPr>
        <p:spPr>
          <a:xfrm>
            <a:off x="10287000" y="6577279"/>
            <a:ext cx="219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V4–M6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706502" y="6543446"/>
            <a:ext cx="3000146" cy="400507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4064386" y="6605626"/>
            <a:ext cx="151516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3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0.67 ± 0.087</a:t>
            </a:r>
            <a:endParaRPr lang="en-US" sz="1650" dirty="0"/>
          </a:p>
        </p:txBody>
      </p:sp>
      <p:sp>
        <p:nvSpPr>
          <p:cNvPr id="25" name="Text 21"/>
          <p:cNvSpPr txBox="1"/>
          <p:nvPr/>
        </p:nvSpPr>
        <p:spPr>
          <a:xfrm>
            <a:off x="10287000" y="7186270"/>
            <a:ext cx="219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OSG3.0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706502" y="7153351"/>
            <a:ext cx="1343254" cy="400507"/>
          </a:xfrm>
          <a:prstGeom prst="rect">
            <a:avLst/>
          </a:prstGeom>
          <a:solidFill>
            <a:srgbClr val="FF6B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2840005" y="7215530"/>
            <a:ext cx="38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3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</a:t>
            </a:r>
            <a:endParaRPr lang="en-US" sz="1650" dirty="0"/>
          </a:p>
        </p:txBody>
      </p:sp>
      <p:sp>
        <p:nvSpPr>
          <p:cNvPr id="28" name="Text 24"/>
          <p:cNvSpPr txBox="1"/>
          <p:nvPr/>
        </p:nvSpPr>
        <p:spPr>
          <a:xfrm>
            <a:off x="15620695" y="8172907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6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W/m·K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52805" y="9239098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F9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imec(Tőkei 외), Chip Scale Review 2023의 재료 값 + arXiv:2508.07740의 스택 측정값 + arXiv:2508.02284(imec)의 BSPDN 모델 값을 합쳐 재작도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2026-10-03T16:45:25Z</dcterms:created>
  <dcterms:modified xsi:type="dcterms:W3CDTF">2026-10-03T16:45:25Z</dcterms:modified>
</cp:coreProperties>
</file>