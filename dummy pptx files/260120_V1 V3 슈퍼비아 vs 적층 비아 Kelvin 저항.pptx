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6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패터닝" id="{a85e4827-235b-365c-896e-48971884748a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Kelvin R (Ω)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2단 적층 비아</c:v>
                  </c:pt>
                  <c:pt idx="1">
                    <c:v>3단 슈퍼비아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66.3</c:v>
                </c:pt>
                <c:pt idx="1">
                  <c:v>58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9CA3AF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9CA3AF"/>
                    </a:solidFill>
                    <a:latin typeface="+mn-lt"/>
                  </a:rPr>
                  <a:t>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SP-05 · 패터닝 · 비아 구조 · IITC 2022 (MONTERO ALVAREZ)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2단 적층 비아 vs 3단 고종횡비 슈퍼비아 (M1→M4)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501488" cy="4846320"/>
          </a:xfrm>
          <a:prstGeom prst="roundRect">
            <a:avLst>
              <a:gd name="adj" fmla="val 3774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44752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447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기준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513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2단 적층 비아 (M1→V1→M2→V2→M3→V3→M4)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03120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9CA3AF"/>
                </a:solidFill>
              </a:rPr>
              <a:t>66.3 Ω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578608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Kelvin 저항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148840"/>
            <a:ext cx="321548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레벨마다 비아·금속 패터닝 반복 → 정렬 오차 누적.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중간 금속층 면적 점유.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저항은 적층 비아 수에 비례해 증가.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56692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5765292"/>
            <a:ext cx="82296" cy="8229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" y="5669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A3AF"/>
                </a:solidFill>
              </a:rPr>
              <a:t>참조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33008" y="1280160"/>
            <a:ext cx="5501488" cy="4846320"/>
          </a:xfrm>
          <a:prstGeom prst="roundRect">
            <a:avLst>
              <a:gd name="adj" fmla="val 3774"/>
            </a:avLst>
          </a:prstGeom>
          <a:solidFill>
            <a:srgbClr val="16213E"/>
          </a:solidFill>
          <a:ln w="19050">
            <a:solidFill>
              <a:srgbClr val="FF8E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15888" y="1444752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FF8E72"/>
          </a:solidFill>
          <a:ln w="12700">
            <a:solidFill>
              <a:srgbClr val="FF8E7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5888" y="14447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A1A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제안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415888" y="1737360"/>
            <a:ext cx="513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3단 슈퍼비아 (M1→M4 직결, 단일 비아)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15888" y="210312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8E72"/>
                </a:solidFill>
              </a:rPr>
              <a:t>58 Ω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415888" y="2578608"/>
            <a:ext cx="16204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Kelvin 저항 중간값 (−13%)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127797" y="210312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8E72"/>
                </a:solidFill>
              </a:rPr>
              <a:t>&gt;95%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127797" y="2578608"/>
            <a:ext cx="16204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전기적 수율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839706" y="210312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8E72"/>
                </a:solidFill>
              </a:rPr>
              <a:t>1000 cyc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839706" y="2578608"/>
            <a:ext cx="16204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−50↔+125 °C, 500 h 저항 불변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15888" y="56692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5413D"/>
          </a:solidFill>
          <a:ln w="12700">
            <a:solidFill>
              <a:srgbClr val="2541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25616" y="5765292"/>
            <a:ext cx="82296" cy="82296"/>
          </a:xfrm>
          <a:prstGeom prst="ellipse">
            <a:avLst/>
          </a:prstGeom>
          <a:solidFill>
            <a:srgbClr val="4ECB71"/>
          </a:solidFill>
          <a:ln w="12700">
            <a:solidFill>
              <a:srgbClr val="4ECB7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53632" y="5669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ECB71"/>
                </a:solidFill>
              </a:rPr>
              <a:t>PASS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467448" y="5623560"/>
            <a:ext cx="408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AR 7.7 · 높이 118.5 nm · 하단 CD 15.5 / 상단 CD 22.7 nm · 접착층 0.3 nm ALD TiOₓ · 충진 CVD Ru 70 nm · M1 피치 36 nm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SP-05 · Kelvin 저항 · 치수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8E72"/>
          </a:solidFill>
          <a:ln w="12700">
            <a:solidFill>
              <a:srgbClr val="FF8E72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Kelvin 저항 −13%와 슈퍼비아 치수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754880" cy="4846320"/>
          </a:xfrm>
          <a:prstGeom prst="roundRect">
            <a:avLst>
              <a:gd name="adj" fmla="val 3846"/>
            </a:avLst>
          </a:prstGeom>
          <a:solidFill>
            <a:srgbClr val="16213E"/>
          </a:solidFill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4389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57607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중간값 기준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1280160"/>
          <a:ext cx="6202375" cy="914400"/>
        </p:xfrm>
        <a:graphic>
          <a:graphicData uri="http://schemas.openxmlformats.org/drawingml/2006/table">
            <a:tbl>
              <a:tblPr/>
              <a:tblGrid>
                <a:gridCol w="2584094"/>
                <a:gridCol w="361828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치수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종횡비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7.7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높이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118.5 nm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하단 CD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15.5 nm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상단 CD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22.7 nm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접착층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ALD TiOₓ 0.3 nm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충진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CVD Ru 70 nm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M1 피치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36 nm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532120" y="4581144"/>
            <a:ext cx="6202375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전기적 수율 &gt;95%, −50↔+125 °C 1000사이클·500 h 후 저항 거의 불변.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</a:rPr>
              <a:t>AR 7.7 에칭과 CVD Ru 충진이 새로 떠안는 공정 난이도.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SP-05 · 에칭 공정 split A–D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에칭 공정 A→D — 하드마스크 침식·언더컷 개선 추세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819095"/>
                <a:gridCol w="2819095"/>
                <a:gridCol w="1762049"/>
                <a:gridCol w="2114093"/>
                <a:gridCol w="176204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에칭 공정 split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TiN 하드마스크 침식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언더컷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측벽 각도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공정 A (챔버 A)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있음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완만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F476F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24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공정 B (챔버 B)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개선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A5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9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공정 C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개선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A5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9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공정 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최소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제거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수직 근접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ECB71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13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749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A→D 개선은 HAADF-STEM 단면과 top-down CD-SEM 8패널(Fig. 3)로 병렬 비교 — 정량값은 원문 참조.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57200" y="5074920"/>
            <a:ext cx="11277295" cy="960120"/>
          </a:xfrm>
          <a:prstGeom prst="roundRect">
            <a:avLst>
              <a:gd name="adj" fmla="val 15238"/>
            </a:avLst>
          </a:prstGeom>
          <a:solidFill>
            <a:srgbClr val="14445C"/>
          </a:solidFill>
          <a:ln w="12700">
            <a:solidFill>
              <a:srgbClr val="14445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516636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</a:rPr>
              <a:t>공정 D 채택 — 수직 측벽·언더컷 제거. 정량값은 원문 Fig. 3 (HAADF-STEM + CD-SEM 8패널) 참조.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SP-05 · 판독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세 가지 배선 구조를 같은 척도로 놓으면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① CU 다마신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배리어 때문에 선폭에서 진다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1D5DB"/>
                </a:solidFill>
              </a:rPr>
              <a:t>배리어 하한 2–3 nm가 좁은 선의 도전 단면을 잠식. AR ≈ 1.6으로 높이 확장도 CMP가 제한.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8218" y="1280160"/>
            <a:ext cx="2276856" cy="237744"/>
          </a:xfrm>
          <a:prstGeom prst="roundRect">
            <a:avLst>
              <a:gd name="adj" fmla="val 50000"/>
            </a:avLst>
          </a:prstGeom>
          <a:solidFill>
            <a:srgbClr val="FF8E72"/>
          </a:solidFill>
          <a:ln w="12700">
            <a:solidFill>
              <a:srgbClr val="FF8E7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280160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② RU SEMI-DAMASCENE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338218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높이로 단면을 번다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38218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1D5DB"/>
                </a:solidFill>
              </a:rPr>
              <a:t>배리어 없이 AR 3 → 6으로 선저항 −40%. 대신 정전용량과 자기발열(에어갭 +30%)을 떠안음.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19237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19237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③ 슈퍼비아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8219237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경로 자체를 줄인다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1D5DB"/>
                </a:solidFill>
              </a:rPr>
              <a:t>M1→M4 직결로 저항(−13%)과 면적을 동시에 벌지만, AR 7.7 에칭·충진 공정 난이도를 새로 짐.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212080"/>
            <a:ext cx="11277295" cy="914400"/>
          </a:xfrm>
          <a:prstGeom prst="roundRect">
            <a:avLst>
              <a:gd name="adj" fmla="val 16000"/>
            </a:avLst>
          </a:prstGeom>
          <a:solidFill>
            <a:srgbClr val="4C2C3B"/>
          </a:solidFill>
          <a:ln w="12700">
            <a:solidFill>
              <a:srgbClr val="4C2C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5303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</a:rPr>
              <a:t>구조 선택은 저항 하나가 아니라 저항·면적·열·공정 난이도의 교환 — 슈퍼비아는 수율 &gt;95%로 공정 난이도를 넘어선 상태.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inkCoral">
  <a:themeElements>
    <a:clrScheme name="Turquoise DS inkCoral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FF6B6B"/>
      </a:accent1>
      <a:accent2>
        <a:srgbClr val="FF8E72"/>
      </a:accent2>
      <a:accent3>
        <a:srgbClr val="00D9FF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inkCoral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3단 슈퍼비아 vs 2단 적층 비아</dc:title>
  <dc:subject>PptxGenJS Presentation</dc:subject>
  <dc:creator>공정 AI팀</dc:creator>
  <cp:lastModifiedBy>공정 AI팀</cp:lastModifiedBy>
  <cp:revision>1</cp:revision>
  <dcterms:created xsi:type="dcterms:W3CDTF">2026-10-03T16:10:13Z</dcterms:created>
  <dcterms:modified xsi:type="dcterms:W3CDTF">2026-10-03T16:10:13Z</dcterms:modified>
</cp:coreProperties>
</file>