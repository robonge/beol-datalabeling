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3.png"/><Relationship Id="rId5" Type="http://schemas.openxmlformats.org/officeDocument/2006/relationships/image" Target="../media/image-2-5.png"/><Relationship Id="rId6" Type="http://schemas.openxmlformats.org/officeDocument/2006/relationships/image" Target="../media/image-2-5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476195" y="9334195"/>
            <a:ext cx="5352898" cy="5352898"/>
          </a:xfrm>
          <a:prstGeom prst="ellipse">
            <a:avLst/>
          </a:prstGeom>
          <a:noFill/>
          <a:ln w="12700">
            <a:solidFill>
              <a:srgbClr val="B454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192195" y="-1904695"/>
            <a:ext cx="4972507" cy="4972507"/>
          </a:xfrm>
          <a:prstGeom prst="ellipse">
            <a:avLst/>
          </a:prstGeom>
          <a:noFill/>
          <a:ln w="12700">
            <a:solidFill>
              <a:srgbClr val="1A1714">
                <a:alpha val="18000"/>
              </a:srgbClr>
            </a:solidFill>
            <a:prstDash val="solid"/>
          </a:ln>
        </p:spPr>
      </p:sp>
      <p:pic>
        <p:nvPicPr>
          <p:cNvPr id="4" name="Image 0" descr="gen-dedup-cab2dac632c6e6922162a01480a43e6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1619402"/>
            <a:ext cx="7239305" cy="55248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15500" y="1904695"/>
            <a:ext cx="418795" cy="418795"/>
          </a:xfrm>
          <a:prstGeom prst="rect">
            <a:avLst/>
          </a:prstGeom>
          <a:noFill/>
          <a:ln w="12700">
            <a:solidFill>
              <a:srgbClr val="1A171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38098" y="1904695"/>
            <a:ext cx="8382305" cy="373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0" b="1" spc="-240" kern="0" dirty="0">
                <a:solidFill>
                  <a:srgbClr val="1A17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스크리닝</a:t>
            </a:r>
            <a:pPr algn="l" indent="0" marL="0">
              <a:lnSpc>
                <a:spcPct val="102000"/>
              </a:lnSpc>
              <a:buNone/>
            </a:pPr>
            <a:endParaRPr lang="en-US" sz="96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9600" b="1" spc="-240" kern="0" dirty="0">
                <a:solidFill>
                  <a:srgbClr val="1A17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지표로 본</a:t>
            </a:r>
            <a:pPr algn="l" indent="0" marL="0">
              <a:lnSpc>
                <a:spcPct val="102000"/>
              </a:lnSpc>
              <a:buNone/>
            </a:pPr>
            <a:endParaRPr lang="en-US" sz="96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9600" b="1" spc="-240" kern="0" dirty="0">
                <a:solidFill>
                  <a:srgbClr val="B454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후보군</a:t>
            </a:r>
            <a:endParaRPr lang="en-US" sz="9600" dirty="0"/>
          </a:p>
        </p:txBody>
      </p:sp>
      <p:pic>
        <p:nvPicPr>
          <p:cNvPr id="7" name="Image 1" descr="gen-dedup-419e096aa3576dca9afdd03a8e2205fc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238098" y="1238098"/>
            <a:ext cx="1143000" cy="192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33195" y="8726119"/>
            <a:ext cx="8763610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2C28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Soulié et al., J. Appl. Phys. 136, 171101 (2024) Table II·III와</a:t>
            </a:r>
            <a:pPr algn="l" indent="0" marL="0">
              <a:lnSpc>
                <a:spcPts val="2558"/>
              </a:lnSpc>
              <a:buNone/>
            </a:pPr>
            <a:endParaRPr lang="en-US" sz="1650" dirty="0"/>
          </a:p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2C28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Sankaran et al., Phys. Rev. Mater. 5, 056002 (2021)의 계산값을 합쳐 재작도</a:t>
            </a:r>
            <a:endParaRPr lang="en-US" sz="1650" dirty="0"/>
          </a:p>
        </p:txBody>
      </p:sp>
      <p:pic>
        <p:nvPicPr>
          <p:cNvPr id="9" name="Image 2" descr="gen-dedup-a99b4269c3a63ce5a057d4ce3b858e11.png">    </p:cNvPr>
          <p:cNvPicPr>
            <a:picLocks noChangeAspect="1"/>
          </p:cNvPicPr>
          <p:nvPr/>
        </p:nvPicPr>
        <p:blipFill>
          <a:blip r:embed="rId3"/>
          <a:srcRect l="0" r="0" t="-1200" b="-1200"/>
          <a:stretch/>
        </p:blipFill>
        <p:spPr>
          <a:xfrm>
            <a:off x="1333195" y="9696298"/>
            <a:ext cx="2857500" cy="1463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33195" y="6286500"/>
            <a:ext cx="80010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1A17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MAX 상이 계산상 가장 낮지만 아직 증착·에칭 실증이 없습니다.</a:t>
            </a:r>
            <a:endParaRPr lang="en-US" sz="1950" dirty="0"/>
          </a:p>
        </p:txBody>
      </p:sp>
      <p:sp>
        <p:nvSpPr>
          <p:cNvPr id="11" name="Text 6"/>
          <p:cNvSpPr txBox="1"/>
          <p:nvPr/>
        </p:nvSpPr>
        <p:spPr>
          <a:xfrm>
            <a:off x="1505102" y="6804050"/>
            <a:ext cx="7830007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1950" dirty="0">
                <a:solidFill>
                  <a:srgbClr val="2C282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실제로 300 mm 웨이퍼에서 돌아간 건 Ru, Mo, 그리고 Al 기반 금속간화합물뿐입니다.</a:t>
            </a:r>
            <a:endParaRPr lang="en-US" sz="1950" dirty="0"/>
          </a:p>
        </p:txBody>
      </p:sp>
      <p:pic>
        <p:nvPicPr>
          <p:cNvPr id="12" name="Image 3" descr="gen-dedup-e267376f856609268c264dc03ea715bc.png">    </p:cNvPr>
          <p:cNvPicPr>
            <a:picLocks noChangeAspect="1"/>
          </p:cNvPicPr>
          <p:nvPr/>
        </p:nvPicPr>
        <p:blipFill>
          <a:blip r:embed="rId4"/>
          <a:srcRect l="0" r="0" t="-422" b="-422"/>
          <a:stretch/>
        </p:blipFill>
        <p:spPr>
          <a:xfrm>
            <a:off x="1218895" y="6420002"/>
            <a:ext cx="28346" cy="8385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287000" y="7315200"/>
            <a:ext cx="7239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2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Intel 4 BEOL 스택 단면 · Semiconductor Digest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10096805" y="7334402"/>
            <a:ext cx="95098" cy="95098"/>
          </a:xfrm>
          <a:prstGeom prst="ellipse">
            <a:avLst/>
          </a:prstGeom>
          <a:solidFill>
            <a:srgbClr val="B454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859000" y="5333695"/>
            <a:ext cx="7448702" cy="7448702"/>
          </a:xfrm>
          <a:prstGeom prst="ellipse">
            <a:avLst/>
          </a:prstGeom>
          <a:noFill/>
          <a:ln w="12700">
            <a:solidFill>
              <a:srgbClr val="B4541E">
                <a:alpha val="28000"/>
              </a:srgbClr>
            </a:solidFill>
            <a:prstDash val="solid"/>
          </a:ln>
        </p:spPr>
      </p:sp>
      <p:pic>
        <p:nvPicPr>
          <p:cNvPr id="3" name="Image 0" descr="gen-dedup-329a901edd433c596629acacc06416b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3195" y="2476195"/>
            <a:ext cx="49533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43000" y="1143000"/>
            <a:ext cx="11811305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500" b="1" spc="-90" kern="0" dirty="0">
                <a:solidFill>
                  <a:srgbClr val="EFE9D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패터닝·집적: 다마신을 버리고</a:t>
            </a:r>
            <a:pPr algn="l" indent="0" marL="0">
              <a:lnSpc>
                <a:spcPct val="118000"/>
              </a:lnSpc>
              <a:buNone/>
            </a:pPr>
            <a:endParaRPr lang="en-US" sz="4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4500" b="1" spc="-90" kern="0" dirty="0">
                <a:solidFill>
                  <a:srgbClr val="B454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금속을 직접 긎는다</a:t>
            </a:r>
            <a:endParaRPr lang="en-US" sz="4500" dirty="0"/>
          </a:p>
        </p:txBody>
      </p:sp>
      <p:pic>
        <p:nvPicPr>
          <p:cNvPr id="5" name="Image 1" descr="gen-dedup-ca9744ae202ca4d0aa5e75666da54dcf.png">    </p:cNvPr>
          <p:cNvPicPr>
            <a:picLocks noChangeAspect="1"/>
          </p:cNvPicPr>
          <p:nvPr/>
        </p:nvPicPr>
        <p:blipFill>
          <a:blip r:embed="rId2"/>
          <a:srcRect l="0" r="0" t="-420" b="-420"/>
          <a:stretch/>
        </p:blipFill>
        <p:spPr>
          <a:xfrm>
            <a:off x="1143000" y="761695"/>
            <a:ext cx="761695" cy="1920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43000" y="3011119"/>
            <a:ext cx="11239805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>
                <a:solidFill>
                  <a:srgbClr val="EFE9D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semi-damascene은 도랑을 파고 금속을 채우는 대신</a:t>
            </a:r>
            <a:pPr algn="l" indent="0" marL="0">
              <a:lnSpc>
                <a:spcPts val="3990"/>
              </a:lnSpc>
              <a:buNone/>
            </a:pPr>
            <a:endParaRPr lang="en-US" sz="2850" dirty="0"/>
          </a:p>
          <a:p>
            <a:pPr algn="l" indent="0" marL="0">
              <a:lnSpc>
                <a:spcPts val="3990"/>
              </a:lnSpc>
              <a:buNone/>
            </a:pPr>
            <a:r>
              <a:rPr lang="en-US" sz="2850" dirty="0">
                <a:solidFill>
                  <a:srgbClr val="B454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금속을 먼저 깔고 직접 에칭</a:t>
            </a:r>
            <a:pPr algn="l" indent="0" marL="0">
              <a:lnSpc>
                <a:spcPts val="3990"/>
              </a:lnSpc>
              <a:buNone/>
            </a:pPr>
            <a:r>
              <a:rPr lang="en-US" sz="2850" dirty="0">
                <a:solidFill>
                  <a:srgbClr val="EFE9D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합니다.</a:t>
            </a:r>
            <a:endParaRPr lang="en-US" sz="2850" dirty="0"/>
          </a:p>
        </p:txBody>
      </p:sp>
      <p:sp>
        <p:nvSpPr>
          <p:cNvPr id="7" name="Text 3"/>
          <p:cNvSpPr txBox="1"/>
          <p:nvPr/>
        </p:nvSpPr>
        <p:spPr>
          <a:xfrm>
            <a:off x="1143000" y="4324198"/>
            <a:ext cx="11239805" cy="71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C9C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결과 배리어가 필요 없고, CMP가 제한하던</a:t>
            </a:r>
            <a:pPr algn="l" indent="0" marL="0">
              <a:lnSpc>
                <a:spcPts val="2640"/>
              </a:lnSpc>
              <a:buNone/>
            </a:pPr>
            <a:endParaRPr lang="en-US" sz="165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C9C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종횡비(AR)를 올릴 수 있습니다.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6838798"/>
            <a:ext cx="1524305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550" b="1" dirty="0">
                <a:solidFill>
                  <a:srgbClr val="EFE9D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</a:t>
            </a:r>
            <a:endParaRPr lang="en-US" sz="5550" dirty="0"/>
          </a:p>
        </p:txBody>
      </p:sp>
      <p:sp>
        <p:nvSpPr>
          <p:cNvPr id="9" name="Text 5"/>
          <p:cNvSpPr txBox="1"/>
          <p:nvPr/>
        </p:nvSpPr>
        <p:spPr>
          <a:xfrm>
            <a:off x="1700784" y="6505956"/>
            <a:ext cx="4096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spc="231" kern="0" dirty="0">
                <a:solidFill>
                  <a:srgbClr val="6E625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1세대</a:t>
            </a:r>
            <a:endParaRPr lang="en-US" sz="1050" dirty="0"/>
          </a:p>
        </p:txBody>
      </p:sp>
      <p:pic>
        <p:nvPicPr>
          <p:cNvPr id="10" name="Image 2" descr="gen-dedup-21eaf3b4d41a6468a9b0fccf39ff4fa8.png">    </p:cNvPr>
          <p:cNvPicPr>
            <a:picLocks noChangeAspect="1"/>
          </p:cNvPicPr>
          <p:nvPr/>
        </p:nvPicPr>
        <p:blipFill>
          <a:blip r:embed="rId3"/>
          <a:srcRect l="0" r="0" t="-1221" b="-1221"/>
          <a:stretch/>
        </p:blipFill>
        <p:spPr>
          <a:xfrm>
            <a:off x="2819095" y="7000646"/>
            <a:ext cx="761695" cy="1463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504895" y="6943954"/>
            <a:ext cx="142646" cy="9144"/>
          </a:xfrm>
          <a:prstGeom prst="rect">
            <a:avLst/>
          </a:prstGeom>
          <a:solidFill>
            <a:srgbClr val="B4541E"/>
          </a:solidFill>
          <a:ln w="12700">
            <a:solidFill>
              <a:srgbClr val="B4541E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3639312" y="6943954"/>
            <a:ext cx="9144" cy="142646"/>
          </a:xfrm>
          <a:prstGeom prst="rect">
            <a:avLst/>
          </a:prstGeom>
          <a:solidFill>
            <a:srgbClr val="B4541E"/>
          </a:solidFill>
          <a:ln w="12700">
            <a:solidFill>
              <a:srgbClr val="B4541E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3847795" y="6838798"/>
            <a:ext cx="1524305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550" b="1" dirty="0">
                <a:solidFill>
                  <a:srgbClr val="EFE9D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</a:t>
            </a:r>
            <a:endParaRPr lang="en-US" sz="5550" dirty="0"/>
          </a:p>
        </p:txBody>
      </p:sp>
      <p:sp>
        <p:nvSpPr>
          <p:cNvPr id="14" name="Text 9"/>
          <p:cNvSpPr txBox="1"/>
          <p:nvPr/>
        </p:nvSpPr>
        <p:spPr>
          <a:xfrm>
            <a:off x="4399178" y="6505956"/>
            <a:ext cx="4288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spc="231" kern="0" dirty="0">
                <a:solidFill>
                  <a:srgbClr val="6E625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2세대</a:t>
            </a:r>
            <a:endParaRPr lang="en-US" sz="1050" dirty="0"/>
          </a:p>
        </p:txBody>
      </p:sp>
      <p:pic>
        <p:nvPicPr>
          <p:cNvPr id="15" name="Image 3" descr="gen-dedup-21eaf3b4d41a6468a9b0fccf39ff4fa8.png">    </p:cNvPr>
          <p:cNvPicPr>
            <a:picLocks noChangeAspect="1"/>
          </p:cNvPicPr>
          <p:nvPr/>
        </p:nvPicPr>
        <p:blipFill>
          <a:blip r:embed="rId4"/>
          <a:srcRect l="0" r="0" t="-1221" b="-1221"/>
          <a:stretch/>
        </p:blipFill>
        <p:spPr>
          <a:xfrm>
            <a:off x="5524805" y="7000646"/>
            <a:ext cx="761695" cy="1463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10605" y="6943954"/>
            <a:ext cx="142646" cy="9144"/>
          </a:xfrm>
          <a:prstGeom prst="rect">
            <a:avLst/>
          </a:prstGeom>
          <a:solidFill>
            <a:srgbClr val="B4541E"/>
          </a:solidFill>
          <a:ln w="12700">
            <a:solidFill>
              <a:srgbClr val="B4541E">
                <a:alpha val="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344107" y="6943954"/>
            <a:ext cx="9144" cy="142646"/>
          </a:xfrm>
          <a:prstGeom prst="rect">
            <a:avLst/>
          </a:prstGeom>
          <a:solidFill>
            <a:srgbClr val="B4541E"/>
          </a:solidFill>
          <a:ln w="12700">
            <a:solidFill>
              <a:srgbClr val="B4541E">
                <a:alpha val="0"/>
              </a:srgbClr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553505" y="6838798"/>
            <a:ext cx="1524305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550" b="1" dirty="0">
                <a:solidFill>
                  <a:srgbClr val="EFE9D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</a:t>
            </a:r>
            <a:endParaRPr lang="en-US" sz="5550" dirty="0"/>
          </a:p>
        </p:txBody>
      </p:sp>
      <p:sp>
        <p:nvSpPr>
          <p:cNvPr id="19" name="Text 13"/>
          <p:cNvSpPr txBox="1"/>
          <p:nvPr/>
        </p:nvSpPr>
        <p:spPr>
          <a:xfrm>
            <a:off x="7157009" y="6505956"/>
            <a:ext cx="3246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spc="231" kern="0" dirty="0">
                <a:solidFill>
                  <a:srgbClr val="6E625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이후</a:t>
            </a:r>
            <a:endParaRPr lang="en-US" sz="1050" dirty="0"/>
          </a:p>
        </p:txBody>
      </p:sp>
      <p:pic>
        <p:nvPicPr>
          <p:cNvPr id="20" name="Image 4" descr="gen-dedup-b1c4533dd358342a0c9d549cfaaa0904.png">    </p:cNvPr>
          <p:cNvPicPr>
            <a:picLocks noChangeAspect="1"/>
          </p:cNvPicPr>
          <p:nvPr/>
        </p:nvPicPr>
        <p:blipFill>
          <a:blip r:embed="rId5"/>
          <a:srcRect l="0" r="0" t="-1221" b="-1221"/>
          <a:stretch/>
        </p:blipFill>
        <p:spPr>
          <a:xfrm>
            <a:off x="8229600" y="7000646"/>
            <a:ext cx="761695" cy="1463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8915400" y="6943954"/>
            <a:ext cx="142646" cy="9144"/>
          </a:xfrm>
          <a:prstGeom prst="rect">
            <a:avLst/>
          </a:prstGeom>
          <a:solidFill>
            <a:srgbClr val="EFE9DC">
              <a:alpha val="40000"/>
            </a:srgbClr>
          </a:solidFill>
          <a:ln w="12700">
            <a:solidFill>
              <a:srgbClr val="EFE9DC">
                <a:alpha val="0"/>
              </a:srgbClr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9048902" y="6943954"/>
            <a:ext cx="9144" cy="142646"/>
          </a:xfrm>
          <a:prstGeom prst="rect">
            <a:avLst/>
          </a:prstGeom>
          <a:solidFill>
            <a:srgbClr val="EFE9DC">
              <a:alpha val="40000"/>
            </a:srgbClr>
          </a:solidFill>
          <a:ln w="12700">
            <a:solidFill>
              <a:srgbClr val="EFE9DC">
                <a:alpha val="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9258300" y="6610198"/>
            <a:ext cx="1143000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550" b="1" dirty="0">
                <a:solidFill>
                  <a:srgbClr val="EFE9D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</a:t>
            </a:r>
            <a:endParaRPr lang="en-US" sz="5550" dirty="0"/>
          </a:p>
        </p:txBody>
      </p:sp>
      <p:pic>
        <p:nvPicPr>
          <p:cNvPr id="24" name="Image 5" descr="gen-dedup-b1c4533dd358342a0c9d549cfaaa0904.png">    </p:cNvPr>
          <p:cNvPicPr>
            <a:picLocks noChangeAspect="1"/>
          </p:cNvPicPr>
          <p:nvPr/>
        </p:nvPicPr>
        <p:blipFill>
          <a:blip r:embed="rId6"/>
          <a:srcRect l="0" r="0" t="-1221" b="-1221"/>
          <a:stretch/>
        </p:blipFill>
        <p:spPr>
          <a:xfrm>
            <a:off x="10554005" y="7000646"/>
            <a:ext cx="761695" cy="1463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11239805" y="6943954"/>
            <a:ext cx="142646" cy="9144"/>
          </a:xfrm>
          <a:prstGeom prst="rect">
            <a:avLst/>
          </a:prstGeom>
          <a:solidFill>
            <a:srgbClr val="EFE9DC">
              <a:alpha val="40000"/>
            </a:srgbClr>
          </a:solidFill>
          <a:ln w="12700">
            <a:solidFill>
              <a:srgbClr val="EFE9DC">
                <a:alpha val="0"/>
              </a:srgbClr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11373307" y="6943954"/>
            <a:ext cx="9144" cy="142646"/>
          </a:xfrm>
          <a:prstGeom prst="rect">
            <a:avLst/>
          </a:prstGeom>
          <a:solidFill>
            <a:srgbClr val="EFE9DC">
              <a:alpha val="40000"/>
            </a:srgbClr>
          </a:solidFill>
          <a:ln w="12700">
            <a:solidFill>
              <a:srgbClr val="EFE9DC">
                <a:alpha val="0"/>
              </a:srgbClr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11582705" y="6610198"/>
            <a:ext cx="1143000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550" b="1" dirty="0">
                <a:solidFill>
                  <a:srgbClr val="B454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6</a:t>
            </a:r>
            <a:endParaRPr lang="en-US" sz="5550" dirty="0"/>
          </a:p>
        </p:txBody>
      </p:sp>
      <p:pic>
        <p:nvPicPr>
          <p:cNvPr id="28" name="Image 6" descr="gen-dedup-bfd7e864eb9bb7f760bc6a94a9478590.png">    </p:cNvPr>
          <p:cNvPicPr>
            <a:picLocks noChangeAspect="1"/>
          </p:cNvPicPr>
          <p:nvPr/>
        </p:nvPicPr>
        <p:blipFill>
          <a:blip r:embed="rId7"/>
          <a:srcRect l="0" r="0" t="-1199" b="-1199"/>
          <a:stretch/>
        </p:blipFill>
        <p:spPr>
          <a:xfrm>
            <a:off x="1143000" y="8762695"/>
            <a:ext cx="11239805" cy="1463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2763195" y="7220102"/>
            <a:ext cx="4953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C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 damascene fill 단면 · ClassOne Technology</a:t>
            </a:r>
            <a:endParaRPr lang="en-US" sz="1200" dirty="0"/>
          </a:p>
        </p:txBody>
      </p:sp>
      <p:sp>
        <p:nvSpPr>
          <p:cNvPr id="30" name="Text 21"/>
          <p:cNvSpPr txBox="1"/>
          <p:nvPr/>
        </p:nvSpPr>
        <p:spPr>
          <a:xfrm>
            <a:off x="1143000" y="9001354"/>
            <a:ext cx="112398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Cu 다마신 선의 AR은 대략 </a:t>
            </a:r>
            <a:pPr algn="l" indent="0" marL="0">
              <a:buNone/>
            </a:pPr>
            <a:r>
              <a:rPr lang="en-US" sz="1650" b="1" dirty="0">
                <a:solidFill>
                  <a:srgbClr val="EFE9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</a:t>
            </a:r>
            <a:pPr algn="l" indent="0" marL="0">
              <a:buNone/>
            </a:pPr>
            <a:r>
              <a:rPr lang="en-US" sz="1650" dirty="0">
                <a:solidFill>
                  <a:srgbClr val="C9C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algn="l" indent="0" marL="0">
              <a:buNone/>
            </a:pPr>
            <a:r>
              <a:rPr lang="en-US" sz="1650" b="1" dirty="0">
                <a:solidFill>
                  <a:srgbClr val="EFE9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AR=6</a:t>
            </a:r>
            <a:pPr algn="l" indent="0" marL="0">
              <a:buNone/>
            </a:pPr>
            <a:r>
              <a:rPr lang="en-US" sz="1650" dirty="0">
                <a:solidFill>
                  <a:srgbClr val="C9C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Ru 선이 </a:t>
            </a:r>
            <a:pPr algn="l" indent="0" marL="0">
              <a:buNone/>
            </a:pPr>
            <a:r>
              <a:rPr lang="en-US" sz="1650" b="1" dirty="0">
                <a:solidFill>
                  <a:srgbClr val="EFE9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AR=3</a:t>
            </a:r>
            <a:pPr algn="l" indent="0" marL="0">
              <a:buNone/>
            </a:pPr>
            <a:r>
              <a:rPr lang="en-US" sz="1650" dirty="0">
                <a:solidFill>
                  <a:srgbClr val="C9C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대비 선 저항을 약 </a:t>
            </a:r>
            <a:pPr algn="l" indent="0" marL="0">
              <a:buNone/>
            </a:pPr>
            <a:r>
              <a:rPr lang="en-US" sz="1650" b="1" dirty="0">
                <a:solidFill>
                  <a:srgbClr val="B454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40%</a:t>
            </a:r>
            <a:pPr algn="l" indent="0" marL="0">
              <a:buNone/>
            </a:pPr>
            <a:r>
              <a:rPr lang="en-US" sz="1650" dirty="0">
                <a:solidFill>
                  <a:srgbClr val="C9C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낮춤 — imec 보고.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573500" y="857707"/>
            <a:ext cx="590702" cy="590702"/>
          </a:xfrm>
          <a:prstGeom prst="rect">
            <a:avLst/>
          </a:prstGeom>
          <a:noFill/>
          <a:ln w="12700">
            <a:solidFill>
              <a:srgbClr val="B454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906902" y="1123798"/>
            <a:ext cx="133502" cy="133502"/>
          </a:xfrm>
          <a:prstGeom prst="ellipse">
            <a:avLst/>
          </a:prstGeom>
          <a:solidFill>
            <a:srgbClr val="B454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3524098"/>
            <a:ext cx="2667305" cy="2857500"/>
          </a:xfrm>
          <a:prstGeom prst="rect">
            <a:avLst/>
          </a:prstGeom>
          <a:solidFill>
            <a:srgbClr val="141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81298" y="3524098"/>
            <a:ext cx="2686507" cy="2876702"/>
          </a:xfrm>
          <a:prstGeom prst="rect">
            <a:avLst/>
          </a:prstGeom>
          <a:noFill/>
          <a:ln w="12700">
            <a:solidFill>
              <a:srgbClr val="1A17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19595" y="3524098"/>
            <a:ext cx="2686507" cy="2876702"/>
          </a:xfrm>
          <a:prstGeom prst="rect">
            <a:avLst/>
          </a:prstGeom>
          <a:solidFill>
            <a:srgbClr val="EFE9DC"/>
          </a:solidFill>
          <a:ln w="12700">
            <a:solidFill>
              <a:srgbClr val="1A17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58807" y="3524098"/>
            <a:ext cx="2686507" cy="2876702"/>
          </a:xfrm>
          <a:prstGeom prst="rect">
            <a:avLst/>
          </a:prstGeom>
          <a:noFill/>
          <a:ln w="12700">
            <a:solidFill>
              <a:srgbClr val="1A17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497105" y="3524098"/>
            <a:ext cx="2667305" cy="2857500"/>
          </a:xfrm>
          <a:prstGeom prst="rect">
            <a:avLst/>
          </a:prstGeom>
          <a:solidFill>
            <a:srgbClr val="141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gen-dedup-3ca072d1bfd1bfaf717fc2a4aa0901e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6858000"/>
            <a:ext cx="10287000" cy="2857500"/>
          </a:xfrm>
          <a:prstGeom prst="rect">
            <a:avLst/>
          </a:prstGeom>
        </p:spPr>
      </p:pic>
      <p:pic>
        <p:nvPicPr>
          <p:cNvPr id="10" name="Image 1" descr="gen-dedup-5bf42e33f0b12e49221077098985aedb.png">    </p:cNvPr>
          <p:cNvPicPr>
            <a:picLocks noChangeAspect="1"/>
          </p:cNvPicPr>
          <p:nvPr/>
        </p:nvPicPr>
        <p:blipFill>
          <a:blip r:embed="rId2"/>
          <a:srcRect l="0" r="0" t="-394" b="-394"/>
          <a:stretch/>
        </p:blipFill>
        <p:spPr>
          <a:xfrm>
            <a:off x="6819595" y="3524098"/>
            <a:ext cx="2667305" cy="576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1333195"/>
            <a:ext cx="12192610" cy="163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850" b="1" spc="-117" kern="0" dirty="0">
                <a:solidFill>
                  <a:srgbClr val="1A17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20편으로는</a:t>
            </a:r>
            <a:pPr algn="l" indent="0" marL="0">
              <a:lnSpc>
                <a:spcPct val="110000"/>
              </a:lnSpc>
              <a:buNone/>
            </a:pPr>
            <a:endParaRPr lang="en-US" sz="5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5850" b="1" spc="-117" kern="0" dirty="0">
                <a:solidFill>
                  <a:srgbClr val="B454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답이 안 나오는 것</a:t>
            </a:r>
            <a:endParaRPr lang="en-US" sz="5850" dirty="0"/>
          </a:p>
        </p:txBody>
      </p:sp>
      <p:pic>
        <p:nvPicPr>
          <p:cNvPr id="12" name="Image 2" descr="gen-dedup-ca9744ae202ca4d0aa5e75666da54dcf.png">    </p:cNvPr>
          <p:cNvPicPr>
            <a:picLocks noChangeAspect="1"/>
          </p:cNvPicPr>
          <p:nvPr/>
        </p:nvPicPr>
        <p:blipFill>
          <a:blip r:embed="rId3"/>
          <a:srcRect l="0" r="0" t="-420" b="-420"/>
          <a:stretch/>
        </p:blipFill>
        <p:spPr>
          <a:xfrm>
            <a:off x="1143000" y="857707"/>
            <a:ext cx="761695" cy="19202"/>
          </a:xfrm>
          <a:prstGeom prst="rect">
            <a:avLst/>
          </a:prstGeom>
        </p:spPr>
      </p:pic>
      <p:pic>
        <p:nvPicPr>
          <p:cNvPr id="13" name="Image 3" descr="gen-dedup-f8f13306a7740e90c24485863c55dc9c.png">    </p:cNvPr>
          <p:cNvPicPr>
            <a:picLocks noChangeAspect="1"/>
          </p:cNvPicPr>
          <p:nvPr/>
        </p:nvPicPr>
        <p:blipFill>
          <a:blip r:embed="rId4"/>
          <a:srcRect l="-1200" r="-1200" t="0" b="0"/>
          <a:stretch/>
        </p:blipFill>
        <p:spPr>
          <a:xfrm>
            <a:off x="11716207" y="6858000"/>
            <a:ext cx="14630" cy="22860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10005" y="3733495"/>
            <a:ext cx="21342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B454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1410005" y="4414723"/>
            <a:ext cx="2134210" cy="853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FE9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 nm 피치 2소재 모듈의</a:t>
            </a:r>
            <a:pPr algn="l" indent="0" marL="0">
              <a:lnSpc>
                <a:spcPts val="2175"/>
              </a:lnSpc>
              <a:buNone/>
            </a:pP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FE9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전기적 수율 숫자가 없습니다.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410005" y="5365699"/>
            <a:ext cx="2134210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C9C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슈퍼비아는 &gt;95%를,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C9C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semi-damascene은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C9C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“수율 손실 없음”이라고만.</a:t>
            </a:r>
            <a:endParaRPr lang="en-US" sz="1350" dirty="0"/>
          </a:p>
        </p:txBody>
      </p:sp>
      <p:sp>
        <p:nvSpPr>
          <p:cNvPr id="17" name="Text 11"/>
          <p:cNvSpPr txBox="1"/>
          <p:nvPr/>
        </p:nvSpPr>
        <p:spPr>
          <a:xfrm>
            <a:off x="4248302" y="3733495"/>
            <a:ext cx="21342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B454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4248302" y="4414723"/>
            <a:ext cx="2134210" cy="576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A17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에어갭의 치수가</a:t>
            </a:r>
            <a:pPr algn="l" indent="0" marL="0">
              <a:lnSpc>
                <a:spcPts val="2175"/>
              </a:lnSpc>
              <a:buNone/>
            </a:pP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A17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공개된 적이 없습니다.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4248302" y="5193792"/>
            <a:ext cx="2134210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6E62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RC 개선도, 자기발열 악화도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6E62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에어갭 폭·높이 없이는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6E62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재현이 안 됩니다.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7086600" y="3791102"/>
            <a:ext cx="21342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B454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7086600" y="4472330"/>
            <a:ext cx="2134210" cy="576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A17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FEOL→BEOL 열결합</a:t>
            </a:r>
            <a:pPr algn="l" indent="0" marL="0">
              <a:lnSpc>
                <a:spcPts val="2175"/>
              </a:lnSpc>
              <a:buNone/>
            </a:pP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A17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기여도 %가 비공개입니다.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086600" y="5365699"/>
            <a:ext cx="2134210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6E62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Lofrano의 ITherm 2022가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6E62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바로 그 논문인데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6E62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전문이 닫혀 있습니다.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9924898" y="3733495"/>
            <a:ext cx="21342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B454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9924898" y="4414723"/>
            <a:ext cx="2134210" cy="853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A17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imec 12층·18 nm 피치</a:t>
            </a:r>
            <a:pPr algn="l" indent="0" marL="0">
              <a:lnSpc>
                <a:spcPts val="2175"/>
              </a:lnSpc>
              <a:buNone/>
            </a:pP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A17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스택 층별 열전도도 표가 없습니다.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9924898" y="5365699"/>
            <a:ext cx="2134210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6E62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KU Leuven Lirias에 무료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6E62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accepted manuscript가 있습니다.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763195" y="3733495"/>
            <a:ext cx="21342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B454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12763195" y="4414723"/>
            <a:ext cx="2134210" cy="576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FE9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전류 확산 무시 시</a:t>
            </a:r>
            <a:pPr algn="l" indent="0" marL="0">
              <a:lnSpc>
                <a:spcPts val="2175"/>
              </a:lnSpc>
              <a:buNone/>
            </a:pP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FE9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1차원 모델의 오차.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12763195" y="5193792"/>
            <a:ext cx="2134210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C9C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Tierno의 JJAP 2023은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C9C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“significant”라고만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C9C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했습니다.</a:t>
            </a:r>
            <a:endParaRPr lang="en-US" sz="1350" dirty="0"/>
          </a:p>
        </p:txBody>
      </p:sp>
      <p:sp>
        <p:nvSpPr>
          <p:cNvPr id="29" name="Text 23"/>
          <p:cNvSpPr txBox="1"/>
          <p:nvPr/>
        </p:nvSpPr>
        <p:spPr>
          <a:xfrm>
            <a:off x="1143000" y="9849002"/>
            <a:ext cx="10287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2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Low-k 유전체·다층 금속 스택 단면 · Semantic Scholar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12077395" y="6858000"/>
            <a:ext cx="5524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1A17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두 가지가 눈에 띄어야 합니다.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2026-10-03T16:45:10Z</dcterms:created>
  <dcterms:modified xsi:type="dcterms:W3CDTF">2026-10-03T16:45:10Z</dcterms:modified>
</cp:coreProperties>
</file>