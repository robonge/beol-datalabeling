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배경" id="{0955516c-1684-e2cd-44a7-8ae5c3558b53}">
          <p14:sldIdLst>
            <p14:sldId id="256"/>
          </p14:sldIdLst>
        </p14:section>
        <p14:section name="하드마스크·Metal Short" id="{07978ec9-d6da-5912-974f-adf4e1d14831}">
          <p14:sldIdLst>
            <p14:sldId id="257"/>
          </p14:sldIdLst>
        </p14:section>
        <p14:section name="unCMP" id="{71b9a164-4da8-8a3a-b1da-3019d61ffe2a}">
          <p14:sldIdLst>
            <p14:sldId id="258"/>
          </p14:sldIdLst>
        </p14:section>
        <p14:section name="overCMP" id="{36f523f5-7731-da0c-0695-1f9971f81ca1}">
          <p14:sldIdLst>
            <p14:sldId id="259"/>
          </p14:sldIdLst>
        </p14:section>
        <p14:section name="비아 챔퍼" id="{6bbed506-e574-7a57-5099-c10b60ce390a}">
          <p14:sldIdLst>
            <p14:sldId id="260"/>
          </p14:sldIdLst>
        </p14:section>
        <p14:section name="복구·차세대" id="{288e65b2-b549-1408-f6c3-5815426c6c5a}">
          <p14:sldIdLst>
            <p14:sldId id="261"/>
          </p14:sldIdLst>
        </p14:section>
        <p14:section name="일정" id="{66cd8c90-b4f4-6105-6c7b-a32c708617b3}">
          <p14:sldIdLst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 DUAL DAMASCENE · 공정 AI팀</a:t>
            </a:r>
            <a:endParaRPr lang="en-US" sz="8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b="1" dirty="0">
                <a:solidFill>
                  <a:srgbClr val="1A1A2E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R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 DUAL DAMASCENE · 공정 AI팀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통합 · 결함 지도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Cu DD 네 가지 결함 메커니즘 — 발생 공정·결과·파급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77295" cy="914400"/>
        </p:xfrm>
        <a:graphic>
          <a:graphicData uri="http://schemas.openxmlformats.org/drawingml/2006/table">
            <a:tbl>
              <a:tblPr/>
              <a:tblGrid>
                <a:gridCol w="2819095"/>
                <a:gridCol w="2013509"/>
                <a:gridCol w="3624682"/>
                <a:gridCol w="2819095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결함 유형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발생 공정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직접 결과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신뢰성 파급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하드마스크 고갈 / 펀치스루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트렌치·비아 식각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CD 확장, 금속 브릿지 → Metal Short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TDDB TTF 수십 배 단축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unCMP 잔류물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Cu/배리어 CMP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Cu·TaN 잔류 → 횡방향 누설·단락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WAT Short Failure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overCMP Dishing / Erosion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과연마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단면적 감소 → 선저항 +10–20%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J↑·줄 발열 → EM MTTF 급감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비아 챔퍼 무너짐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트렌치 과식각 (VFTL)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PVD 오버행 → 핀치오프 → Cu Void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비아 Open, 배리어 단절 → TDDB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3840480"/>
            <a:ext cx="35152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식각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4187952"/>
            <a:ext cx="3515258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MHM 침식·펀치스루, 챔퍼 무너짐.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4338218" y="3840480"/>
            <a:ext cx="35152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연마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4338218" y="4187952"/>
            <a:ext cx="3515258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unCMP 잔류, overCMP Dishing/Erosion.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8219237" y="3840480"/>
            <a:ext cx="35152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대응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8219237" y="4187952"/>
            <a:ext cx="3515258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HMDS·ALD 라이너·에어갭 → Semi-DD·BSPDN.</a:t>
            </a:r>
            <a:endParaRPr lang="en-US" sz="1050" dirty="0"/>
          </a:p>
        </p:txBody>
      </p:sp>
      <p:sp>
        <p:nvSpPr>
          <p:cNvPr id="12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SP-HM · 결과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하드마스크 침식 — 평가 결과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7589520" cy="914400"/>
        </p:xfrm>
        <a:graphic>
          <a:graphicData uri="http://schemas.openxmlformats.org/drawingml/2006/table">
            <a:tbl>
              <a:tblPr/>
              <a:tblGrid>
                <a:gridCol w="2083003"/>
                <a:gridCol w="4464101"/>
                <a:gridCol w="104150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평가 항목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손상 구조 결과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판정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Comb 간 누설 전류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정상 대비 수백 배 급증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2244D"/>
                          </a:solidFill>
                        </a:rPr>
                        <a:t>FAIL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F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브릿지 저항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설계 스펙 이탈, 최악 Hard Short (수율 0%)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2244D"/>
                          </a:solidFill>
                        </a:rPr>
                        <a:t>FAIL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F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TDDB TTF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온전 구조 대비 수십 배 단축 (Cu⁺ 드리프트 가속)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2244D"/>
                          </a:solidFill>
                        </a:rPr>
                        <a:t>FAIL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F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단면 (ARDE)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좁은 패턴일수록 Shoulder 침식 심화, Defect adder 증가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B36B00"/>
                          </a:solidFill>
                        </a:rPr>
                        <a:t>조건부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하드마스크 두께 마진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누설 억제·신뢰성의 최우선 선결 조건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8B7C"/>
                          </a:solidFill>
                        </a:rPr>
                        <a:t>PASS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AF1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8366760" y="1280160"/>
            <a:ext cx="33677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006B5E"/>
                </a:solidFill>
              </a:rPr>
              <a:t>수백 배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366760" y="1664208"/>
            <a:ext cx="33677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Comb 누설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8366760" y="1993392"/>
            <a:ext cx="33677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0085B6"/>
                </a:solidFill>
              </a:rPr>
              <a:t>수십 배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8366760" y="2377440"/>
            <a:ext cx="33677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TTF 단축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8366760" y="2798064"/>
            <a:ext cx="3367735" cy="2368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옥사이드 마스크 패터닝 시 마이크로마스킹 → 금속 식각 후 잔류물, 차단된 금속 섬(Blocked etch metal island).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Cl 기반 플라즈마의 금속 측벽 공격, CHF₃ 과도 패시베이션 시 폴리머 잔류물 관찰.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8366760" y="5212080"/>
            <a:ext cx="3367735" cy="0"/>
          </a:xfrm>
          <a:prstGeom prst="line">
            <a:avLst/>
          </a:prstGeom>
          <a:noFill/>
          <a:ln w="9525">
            <a:solidFill>
              <a:srgbClr val="0085B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366760" y="5285232"/>
            <a:ext cx="3367735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</a:rPr>
              <a:t>판정  </a:t>
            </a:r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</a:rPr>
              <a:t>하드마스크 두께 마진 확보가 배선 간 누설 억제와 신뢰성 보장의 최우선 선결 조건.</a:t>
            </a:r>
            <a:endParaRPr lang="en-US" sz="1000" dirty="0"/>
          </a:p>
        </p:txBody>
      </p:sp>
      <p:sp>
        <p:nvSpPr>
          <p:cNvPr id="13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SP-UN · 조치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unCMP — 조치 옵션과 상충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7589520" cy="914400"/>
        </p:xfrm>
        <a:graphic>
          <a:graphicData uri="http://schemas.openxmlformats.org/drawingml/2006/table">
            <a:tbl>
              <a:tblPr/>
              <a:tblGrid>
                <a:gridCol w="2396642"/>
                <a:gridCol w="2796235"/>
                <a:gridCol w="239664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조치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효과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부작용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Down-force 증가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제거율↑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overCMP 위험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BTA 농도 감소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둔화층 약화, 잔류 감소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갈바닉 부식 증가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산화제 비율 조정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Removal Rate↑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Dishing 가속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다단계 연마 (선택비)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TaN/Ta vs Cu 선택비 제어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공정 시간↑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8366760" y="1280160"/>
            <a:ext cx="33677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평가 결과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366760" y="1609344"/>
            <a:ext cx="3367735" cy="3557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특정 패턴 밀도 다이 주변부에서 Metal-to-Metal Leakage 집중 → 수율 급감.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지형적 굴곡 존재 시 Ta/TaN–산화막 경계에서 잔류 비율 기하급수 증가.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광학 검사로는 수십 nm 이하 잔류물 검출 한계 → 전기 평가가 1차.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8366760" y="5212080"/>
            <a:ext cx="3367735" cy="0"/>
          </a:xfrm>
          <a:prstGeom prst="line">
            <a:avLst/>
          </a:prstGeom>
          <a:noFill/>
          <a:ln w="9525">
            <a:solidFill>
              <a:srgbClr val="16213E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366760" y="5285232"/>
            <a:ext cx="3367735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</a:rPr>
              <a:t>판정  </a:t>
            </a:r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</a:rPr>
              <a:t>unCMP 단락 방지와 overCMP 저항 증가 사이의 상충 — CMP는 매우 좁은 공정 창에서 제어되어야 함.</a:t>
            </a:r>
            <a:endParaRPr lang="en-US" sz="1000" dirty="0"/>
          </a:p>
        </p:txBody>
      </p:sp>
      <p:sp>
        <p:nvSpPr>
          <p:cNvPr id="10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SP-OV · BLACK'S EQUATION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overCMP → 단면적 감소 → EM 가속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280160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MTTF = A · J⁻ⁿ · exp(Ea / kB·T)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11277295" cy="0"/>
          </a:xfrm>
          <a:prstGeom prst="line">
            <a:avLst/>
          </a:prstGeom>
          <a:noFill/>
          <a:ln w="9525">
            <a:solidFill>
              <a:srgbClr val="006B5E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03120"/>
          <a:ext cx="6949440" cy="914400"/>
        </p:xfrm>
        <a:graphic>
          <a:graphicData uri="http://schemas.openxmlformats.org/drawingml/2006/table">
            <a:tbl>
              <a:tblPr/>
              <a:tblGrid>
                <a:gridCol w="847649"/>
                <a:gridCol w="2712110"/>
                <a:gridCol w="3389681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항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의미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overCMP 영향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A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재료·구조 상수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J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전류 밀도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단면적↓ → J↑ (1차 효과)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n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전류 밀도 지수 (1–2, Void 성장)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Ea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원자 확산 활성화 에너지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줄 발열로 쉽게 극복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T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절대 온도 (지수항)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미세 상승이 수명 수십 배 단축 (2차 효과)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7772400" y="2103120"/>
            <a:ext cx="39620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해석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772400" y="2450592"/>
            <a:ext cx="3962095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R = ρL/(W·T): 두께 T 감소 → 선저항 즉시 증가. 첨단 노드는 수 nm Dishing만으로 10–20% 이상 저항 상승 → RC 허용치 이탈.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단면적 감소 → 전류 밀도 J 증가 → MTTF ∝ J⁻ⁿ (n = 1–2).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저항 증가 → 줄 발열 → 지수항 exp(Ea/kT) 급감 → Void 핵생성·성장 수십 배 가속 (열 폭주).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57200" y="5440680"/>
            <a:ext cx="6949440" cy="0"/>
          </a:xfrm>
          <a:prstGeom prst="line">
            <a:avLst/>
          </a:prstGeom>
          <a:noFill/>
          <a:ln w="9525">
            <a:solidFill>
              <a:srgbClr val="006B5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7200" y="5513832"/>
            <a:ext cx="6949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</a:rPr>
              <a:t>판정  </a:t>
            </a:r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</a:rPr>
              <a:t>측정 저항이 초기 기준 대비 10% 이상 증가하면 Failure. 더미 필 최적화와 CMP 시뮬레이션 피드백으로 저항·신뢰성 동시 억제.</a:t>
            </a:r>
            <a:endParaRPr lang="en-US" sz="1000" dirty="0"/>
          </a:p>
        </p:txBody>
      </p:sp>
      <p:sp>
        <p:nvSpPr>
          <p:cNvPr id="12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SP-VIA · 원인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비아 챔퍼 무너짐 — 연쇄 단계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7589520" cy="914400"/>
        </p:xfrm>
        <a:graphic>
          <a:graphicData uri="http://schemas.openxmlformats.org/drawingml/2006/table">
            <a:tbl>
              <a:tblPr/>
              <a:tblGrid>
                <a:gridCol w="1517904"/>
                <a:gridCol w="3035808"/>
                <a:gridCol w="3035808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단계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현상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결과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VFTL 흐름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M1까지 비아 선식각 → 재포토 → 트렌치 식각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비아 상단 모서리 장시간 플라즈마 노출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ARDE 극복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입사 에너지·과식각 시간 증가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BARC 희생층에도 모서리 집중 식각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각도 분산·시스 스퍼터링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최상단 모서리 집중 타격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챔퍼 무너짐 (Shoulder Loss), V자형·나팔형 프로파일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PVD TaN/Ta + Cu 시드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직진성 → 무너진 모서리에 두껍게 누적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오버행(Overhang), 입구 축소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ECP Cu 충진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입구 선폐쇄 (Top pinch-off)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비아 하단·경계 Void → 비아 R↑, Open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배리어 측벽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Zero Step Coverage 영역 발생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Cu → Low-k 침투 방어선 단절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8366760" y="1280160"/>
            <a:ext cx="33677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평가·결과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366760" y="1609344"/>
            <a:ext cx="3367735" cy="3557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TEM/EDX: Ta 두께, Cu Recess 정량.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HTOL/EM: 수십 h 후 Recess 2–3배.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TDDB: 챔퍼 경유 Cu⁺ 드리프트 (E/E² 모델).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8366760" y="5212080"/>
            <a:ext cx="3367735" cy="0"/>
          </a:xfrm>
          <a:prstGeom prst="line">
            <a:avLst/>
          </a:prstGeom>
          <a:noFill/>
          <a:ln w="9525">
            <a:solidFill>
              <a:srgbClr val="0085B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366760" y="5285232"/>
            <a:ext cx="3367735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</a:rPr>
              <a:t>판정  </a:t>
            </a:r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</a:rPr>
              <a:t>챔퍼 붕괴는 Void(Open)와 배리어 단절(TDDB) 두 경로로 동시에 수명을 깎는 연쇄 메커니즘.</a:t>
            </a:r>
            <a:endParaRPr lang="en-US" sz="1000" dirty="0"/>
          </a:p>
        </p:txBody>
      </p:sp>
      <p:sp>
        <p:nvSpPr>
          <p:cNvPr id="10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SP-FIX · 표 3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복구·차세대 기술 — 개선 메커니즘과 한계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77295" cy="914400"/>
        </p:xfrm>
        <a:graphic>
          <a:graphicData uri="http://schemas.openxmlformats.org/drawingml/2006/table">
            <a:tbl>
              <a:tblPr/>
              <a:tblGrid>
                <a:gridCol w="1879092"/>
                <a:gridCol w="3383280"/>
                <a:gridCol w="3383280"/>
                <a:gridCol w="2631643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</a:rPr>
                        <a:t>적용 기술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</a:rPr>
                        <a:t>주요 개선 메커니즘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</a:rPr>
                        <a:t>신뢰성 효과 (EM / TDDB)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</a:rPr>
                        <a:t>적용상 한계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HMDS 실릴화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Si-OH → 소수성 트리메틸기 치환, 기공 밀봉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누설 감소, TDDB TTF 대폭 증가, 접촉각 80° 이상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침투 깊이 한계 → 벌크 복구 불완전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ALD Ru 라이너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Ta → Ru 대체, Cu 체적 극대화, Seedless 도금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저항 급감, 오버행/Pinch-off 방지 → Void 억제, EM 연장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Ru–Cu 계면 스캐터링 저항 상승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에어 갭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절연막 일부 제거 → k = 1.0 공기층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기생 C 17–20% 감소, 신호 지연 개선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기계적 강도↓, 갭 지붕 불안정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3383280"/>
            <a:ext cx="5455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Semi-Damascene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3730752"/>
            <a:ext cx="5455768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Ru/Mo 내화 금속 전면 증착 → 서브트랙티브 RIE로 배선 직접 형성 → 사이를 유전막/에어갭 충진.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CMP 완전 배제 → unCMP 단락, overCMP Dishing/Erosion·저항 증가 원천 제거.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6278728" y="3383280"/>
            <a:ext cx="5455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BSPDN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6278728" y="3730752"/>
            <a:ext cx="5455768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신호·전력선을 전면 BEOL에 모두 넣던 방식에서 탈피 — nTSV로 후면에서 직접 전력 공급.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전면 배선층 라우팅 혼잡·패턴 밀도 불균형 해소 → CMP 국부 압력 분산 → 평탄도 극대화.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57200" y="5440680"/>
            <a:ext cx="11277295" cy="0"/>
          </a:xfrm>
          <a:prstGeom prst="line">
            <a:avLst/>
          </a:prstGeom>
          <a:noFill/>
          <a:ln w="9525">
            <a:solidFill>
              <a:srgbClr val="16213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7200" y="5513832"/>
            <a:ext cx="112772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</a:rPr>
              <a:t>판정  </a:t>
            </a:r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</a:rPr>
              <a:t>단위 공정 최적화(HMDS·ALD 라이너·에어갭)로 기존 공정 수명을 연장하되, 1.5 nm 이후는 Semi-Damascene + BSPDN 패러다임 전환이 필수.</a:t>
            </a:r>
            <a:endParaRPr lang="en-US" sz="1000" dirty="0"/>
          </a:p>
        </p:txBody>
      </p:sp>
      <p:sp>
        <p:nvSpPr>
          <p:cNvPr id="12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일정 · 통합 평가 보드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DD 결함 평가 통합 일정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280160"/>
            <a:ext cx="2613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완료</a:t>
            </a:r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627632"/>
            <a:ext cx="2613584" cy="0"/>
          </a:xfrm>
          <a:prstGeom prst="line">
            <a:avLst/>
          </a:prstGeom>
          <a:noFill/>
          <a:ln w="9525">
            <a:solidFill>
              <a:srgbClr val="006B5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755648"/>
            <a:ext cx="2613584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85216" y="1828800"/>
            <a:ext cx="235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Split 설계·웨이퍼 배정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585216" y="2212848"/>
            <a:ext cx="235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W01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57200" y="2596896"/>
            <a:ext cx="2613584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85216" y="2670048"/>
            <a:ext cx="235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하드마스크 FTIR/XPS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585216" y="3054096"/>
            <a:ext cx="235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W02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57200" y="3438144"/>
            <a:ext cx="2613584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85216" y="3511296"/>
            <a:ext cx="235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ECP·CMP 베이스라인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585216" y="3895344"/>
            <a:ext cx="235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W01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3345104" y="1280160"/>
            <a:ext cx="2613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진행 중</a:t>
            </a:r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3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345104" y="1627632"/>
            <a:ext cx="2613584" cy="0"/>
          </a:xfrm>
          <a:prstGeom prst="line">
            <a:avLst/>
          </a:prstGeom>
          <a:noFill/>
          <a:ln w="9525">
            <a:solidFill>
              <a:srgbClr val="0085B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345104" y="1755648"/>
            <a:ext cx="2613584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473120" y="1828800"/>
            <a:ext cx="235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Comb-Serpentine WAT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3473120" y="2212848"/>
            <a:ext cx="235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W03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345104" y="2596896"/>
            <a:ext cx="2613584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473120" y="2670048"/>
            <a:ext cx="235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EBAC 국소화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3473120" y="3054096"/>
            <a:ext cx="235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W03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345104" y="3438144"/>
            <a:ext cx="2613584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473120" y="3511296"/>
            <a:ext cx="235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비아 TEM/EDX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3473120" y="3895344"/>
            <a:ext cx="235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W03</a:t>
            </a:r>
            <a:endParaRPr lang="en-US" sz="850" dirty="0"/>
          </a:p>
        </p:txBody>
      </p:sp>
      <p:sp>
        <p:nvSpPr>
          <p:cNvPr id="27" name="Text 25"/>
          <p:cNvSpPr txBox="1"/>
          <p:nvPr/>
        </p:nvSpPr>
        <p:spPr>
          <a:xfrm>
            <a:off x="6233008" y="1280160"/>
            <a:ext cx="2613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검토</a:t>
            </a:r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2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233008" y="1627632"/>
            <a:ext cx="2613584" cy="0"/>
          </a:xfrm>
          <a:prstGeom prst="line">
            <a:avLst/>
          </a:prstGeom>
          <a:noFill/>
          <a:ln w="9525">
            <a:solidFill>
              <a:srgbClr val="16213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33008" y="1755648"/>
            <a:ext cx="2613584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361024" y="1828800"/>
            <a:ext cx="235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Dishing/Erosion AFM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6361024" y="2212848"/>
            <a:ext cx="235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W04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233008" y="2596896"/>
            <a:ext cx="2613584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361024" y="2670048"/>
            <a:ext cx="235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HMDS 접촉각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6361024" y="3054096"/>
            <a:ext cx="235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W04</a:t>
            </a:r>
            <a:endParaRPr lang="en-US" sz="850" dirty="0"/>
          </a:p>
        </p:txBody>
      </p:sp>
      <p:sp>
        <p:nvSpPr>
          <p:cNvPr id="35" name="Text 33"/>
          <p:cNvSpPr txBox="1"/>
          <p:nvPr/>
        </p:nvSpPr>
        <p:spPr>
          <a:xfrm>
            <a:off x="9120911" y="1280160"/>
            <a:ext cx="2613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대기</a:t>
            </a:r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4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9120911" y="1627632"/>
            <a:ext cx="2613584" cy="0"/>
          </a:xfrm>
          <a:prstGeom prst="line">
            <a:avLst/>
          </a:prstGeom>
          <a:noFill/>
          <a:ln w="9525">
            <a:solidFill>
              <a:srgbClr val="006B5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120911" y="1755648"/>
            <a:ext cx="2613584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9248927" y="1828800"/>
            <a:ext cx="235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TDDB 1000 h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9248927" y="2212848"/>
            <a:ext cx="235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W04–W09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9120911" y="2596896"/>
            <a:ext cx="2613584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9248927" y="2670048"/>
            <a:ext cx="235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HTOL/EM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9248927" y="3054096"/>
            <a:ext cx="235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W05–W08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9120911" y="3438144"/>
            <a:ext cx="2613584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9248927" y="3511296"/>
            <a:ext cx="235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Dummy Fill 재설계</a:t>
            </a:r>
            <a:endParaRPr lang="en-US" sz="1050" dirty="0"/>
          </a:p>
        </p:txBody>
      </p:sp>
      <p:sp>
        <p:nvSpPr>
          <p:cNvPr id="45" name="Text 43"/>
          <p:cNvSpPr txBox="1"/>
          <p:nvPr/>
        </p:nvSpPr>
        <p:spPr>
          <a:xfrm>
            <a:off x="9248927" y="3895344"/>
            <a:ext cx="235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W06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9120911" y="4279392"/>
            <a:ext cx="2613584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9248927" y="4352544"/>
            <a:ext cx="235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판정 보고</a:t>
            </a:r>
            <a:endParaRPr lang="en-US" sz="1050" dirty="0"/>
          </a:p>
        </p:txBody>
      </p:sp>
      <p:sp>
        <p:nvSpPr>
          <p:cNvPr id="48" name="Text 46"/>
          <p:cNvSpPr txBox="1"/>
          <p:nvPr/>
        </p:nvSpPr>
        <p:spPr>
          <a:xfrm>
            <a:off x="9248927" y="4736592"/>
            <a:ext cx="235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W10</a:t>
            </a:r>
            <a:endParaRPr lang="en-US" sz="850" dirty="0"/>
          </a:p>
        </p:txBody>
      </p:sp>
      <p:sp>
        <p:nvSpPr>
          <p:cNvPr id="49" name="Text 47"/>
          <p:cNvSpPr txBox="1"/>
          <p:nvPr/>
        </p:nvSpPr>
        <p:spPr>
          <a:xfrm>
            <a:off x="457200" y="5760720"/>
            <a:ext cx="11277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TDDB·HTOL/EM은 장기 항목 — W10 판정 보고는 중간 데이터 기준.</a:t>
            </a:r>
            <a:endParaRPr lang="en-US" sz="900" dirty="0"/>
          </a:p>
        </p:txBody>
      </p:sp>
      <p:sp>
        <p:nvSpPr>
          <p:cNvPr id="50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urquoise DS deep">
  <a:themeElements>
    <a:clrScheme name="Turquoise DS deep">
      <a:dk1>
        <a:srgbClr val="1A1A2E"/>
      </a:dk1>
      <a:lt1>
        <a:srgbClr val="FFFFFF"/>
      </a:lt1>
      <a:dk2>
        <a:srgbClr val="16213E"/>
      </a:dk2>
      <a:lt2>
        <a:srgbClr val="F5F5F5"/>
      </a:lt2>
      <a:accent1>
        <a:srgbClr val="006B5E"/>
      </a:accent1>
      <a:accent2>
        <a:srgbClr val="0085B6"/>
      </a:accent2>
      <a:accent3>
        <a:srgbClr val="16213E"/>
      </a:accent3>
      <a:accent4>
        <a:srgbClr val="FF8E72"/>
      </a:accent4>
      <a:accent5>
        <a:srgbClr val="008B7C"/>
      </a:accent5>
      <a:accent6>
        <a:srgbClr val="0085B6"/>
      </a:accent6>
      <a:hlink>
        <a:srgbClr val="0085B6"/>
      </a:hlink>
      <a:folHlink>
        <a:srgbClr val="006B5E"/>
      </a:folHlink>
    </a:clrScheme>
    <a:fontScheme name="Turquoise DS deep">
      <a:majorFont>
        <a:latin typeface="Plus Jakarta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lus Jakarta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BEOL Cu DD Defect Integrated Review</dc:title>
  <dc:subject>PptxGenJS Presentation</dc:subject>
  <dc:creator>공정 AI팀</dc:creator>
  <cp:lastModifiedBy>공정 AI팀</cp:lastModifiedBy>
  <cp:revision>1</cp:revision>
  <dcterms:created xsi:type="dcterms:W3CDTF">2026-10-03T16:30:17Z</dcterms:created>
  <dcterms:modified xsi:type="dcterms:W3CDTF">2026-10-03T16:30:17Z</dcterms:modified>
</cp:coreProperties>
</file>