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DE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598" y="666598"/>
            <a:ext cx="10287000" cy="2762402"/>
          </a:xfrm>
          <a:prstGeom prst="rect">
            <a:avLst/>
          </a:prstGeom>
          <a:solidFill>
            <a:srgbClr val="1C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39805" y="666598"/>
            <a:ext cx="6381598" cy="2762402"/>
          </a:xfrm>
          <a:prstGeom prst="rect">
            <a:avLst/>
          </a:prstGeom>
          <a:solidFill>
            <a:srgbClr val="1C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39805" y="3619195"/>
            <a:ext cx="6381598" cy="1524305"/>
          </a:xfrm>
          <a:prstGeom prst="rect">
            <a:avLst/>
          </a:prstGeom>
          <a:solidFill>
            <a:srgbClr val="D8CC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598" y="3810305"/>
            <a:ext cx="6286500" cy="2667305"/>
          </a:xfrm>
          <a:prstGeom prst="rect">
            <a:avLst/>
          </a:prstGeom>
          <a:solidFill>
            <a:srgbClr val="D8CC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44207" y="3810305"/>
            <a:ext cx="3619195" cy="2667305"/>
          </a:xfrm>
          <a:prstGeom prst="rect">
            <a:avLst/>
          </a:prstGeom>
          <a:solidFill>
            <a:srgbClr val="B58A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53598" y="5333695"/>
            <a:ext cx="6667805" cy="1904695"/>
          </a:xfrm>
          <a:prstGeom prst="rect">
            <a:avLst/>
          </a:prstGeom>
          <a:solidFill>
            <a:srgbClr val="D8CC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6598" y="7524598"/>
            <a:ext cx="8287207" cy="2476195"/>
          </a:xfrm>
          <a:prstGeom prst="rect">
            <a:avLst/>
          </a:prstGeom>
          <a:solidFill>
            <a:srgbClr val="1C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9098" y="7524598"/>
            <a:ext cx="3619195" cy="2476195"/>
          </a:xfrm>
          <a:prstGeom prst="rect">
            <a:avLst/>
          </a:prstGeom>
          <a:solidFill>
            <a:srgbClr val="D8CC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144500" y="7524598"/>
            <a:ext cx="4476902" cy="2476195"/>
          </a:xfrm>
          <a:prstGeom prst="rect">
            <a:avLst/>
          </a:prstGeom>
          <a:solidFill>
            <a:srgbClr val="B655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gen-dedup-d1d1a4a7cc53665b43d01609cdb15b27.jpg">    </p:cNvPr>
          <p:cNvPicPr>
            <a:picLocks noChangeAspect="1"/>
          </p:cNvPicPr>
          <p:nvPr/>
        </p:nvPicPr>
        <p:blipFill>
          <a:blip r:embed="rId1"/>
          <a:srcRect l="0" r="0" t="9666" b="9666"/>
          <a:stretch/>
        </p:blipFill>
        <p:spPr>
          <a:xfrm>
            <a:off x="11239805" y="666598"/>
            <a:ext cx="6381598" cy="241950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66598" y="3810305"/>
            <a:ext cx="1619402" cy="2667305"/>
          </a:xfrm>
          <a:prstGeom prst="rect">
            <a:avLst/>
          </a:prstGeom>
          <a:solidFill>
            <a:srgbClr val="2F6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6598" y="7524598"/>
            <a:ext cx="2857500" cy="2476195"/>
          </a:xfrm>
          <a:prstGeom prst="rect">
            <a:avLst/>
          </a:prstGeom>
          <a:solidFill>
            <a:srgbClr val="B655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4" name="Image 1" descr="gen-dedup-633088eec888de373a627bd188eed37c.png">    </p:cNvPr>
          <p:cNvPicPr>
            <a:picLocks noChangeAspect="1"/>
          </p:cNvPicPr>
          <p:nvPr/>
        </p:nvPicPr>
        <p:blipFill>
          <a:blip r:embed="rId2"/>
          <a:srcRect l="-54" r="-54" t="0" b="0"/>
          <a:stretch/>
        </p:blipFill>
        <p:spPr>
          <a:xfrm>
            <a:off x="666598" y="666598"/>
            <a:ext cx="133502" cy="2762402"/>
          </a:xfrm>
          <a:prstGeom prst="rect">
            <a:avLst/>
          </a:prstGeom>
        </p:spPr>
      </p:pic>
      <p:pic>
        <p:nvPicPr>
          <p:cNvPr id="15" name="Image 2" descr="gen-dedup-d44a594e65d6c492029f420c9380b520.png">    </p:cNvPr>
          <p:cNvPicPr>
            <a:picLocks noChangeAspect="1"/>
          </p:cNvPicPr>
          <p:nvPr/>
        </p:nvPicPr>
        <p:blipFill>
          <a:blip r:embed="rId3"/>
          <a:srcRect l="-390" r="-390" t="0" b="0"/>
          <a:stretch/>
        </p:blipFill>
        <p:spPr>
          <a:xfrm>
            <a:off x="11239805" y="3619195"/>
            <a:ext cx="57607" cy="15243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5430500" y="6515100"/>
            <a:ext cx="1904695" cy="437998"/>
          </a:xfrm>
          <a:prstGeom prst="rect">
            <a:avLst/>
          </a:prstGeom>
          <a:solidFill>
            <a:srgbClr val="1C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3" descr="gen-dedup-a634395fefd3bd52f2908aa5656aa582.png">    </p:cNvPr>
          <p:cNvPicPr>
            <a:picLocks noChangeAspect="1"/>
          </p:cNvPicPr>
          <p:nvPr/>
        </p:nvPicPr>
        <p:blipFill>
          <a:blip r:embed="rId4"/>
          <a:srcRect l="-197" r="-197" t="0" b="0"/>
          <a:stretch/>
        </p:blipFill>
        <p:spPr>
          <a:xfrm>
            <a:off x="9239098" y="7524598"/>
            <a:ext cx="3619195" cy="758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990295"/>
            <a:ext cx="962040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144" kern="0" dirty="0">
                <a:solidFill>
                  <a:srgbClr val="B65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Ru의 복병</a:t>
            </a:r>
            <a:endParaRPr lang="en-US" sz="7200" dirty="0"/>
          </a:p>
        </p:txBody>
      </p:sp>
      <p:sp>
        <p:nvSpPr>
          <p:cNvPr id="19" name="Text 13"/>
          <p:cNvSpPr txBox="1"/>
          <p:nvPr/>
        </p:nvSpPr>
        <p:spPr>
          <a:xfrm>
            <a:off x="1143000" y="2018995"/>
            <a:ext cx="9620402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열처리가 선을</a:t>
            </a:r>
            <a:endParaRPr lang="en-US" sz="3150" dirty="0"/>
          </a:p>
        </p:txBody>
      </p:sp>
      <p:sp>
        <p:nvSpPr>
          <p:cNvPr id="20" name="Text 14"/>
          <p:cNvSpPr txBox="1"/>
          <p:nvPr/>
        </p:nvSpPr>
        <p:spPr>
          <a:xfrm>
            <a:off x="1143000" y="2458822"/>
            <a:ext cx="9620402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31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원통형으로 만든다</a:t>
            </a:r>
            <a:endParaRPr lang="en-US" sz="3150" dirty="0"/>
          </a:p>
        </p:txBody>
      </p:sp>
      <p:sp>
        <p:nvSpPr>
          <p:cNvPr id="21" name="Text 15"/>
          <p:cNvSpPr txBox="1"/>
          <p:nvPr/>
        </p:nvSpPr>
        <p:spPr>
          <a:xfrm>
            <a:off x="11239805" y="3124505"/>
            <a:ext cx="63825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D8CCB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SAMs for Ru interconnects · NPG Asia Mater. (Nature) · 2025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582705" y="3829507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 저항이 10% 떨어지면서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11582705" y="4189781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시단면이 원통형으로 변형 </a:t>
            </a:r>
            <a:pPr algn="l" indent="0" marL="0">
              <a:buNone/>
            </a:pPr>
            <a:r>
              <a:rPr lang="en-US" sz="1050" b="1" dirty="0">
                <a:solidFill>
                  <a:srgbClr val="B655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(cylinderization)</a:t>
            </a:r>
            <a:endParaRPr lang="en-US" sz="1650" dirty="0"/>
          </a:p>
        </p:txBody>
      </p:sp>
      <p:sp>
        <p:nvSpPr>
          <p:cNvPr id="24" name="Text 18"/>
          <p:cNvSpPr txBox="1"/>
          <p:nvPr/>
        </p:nvSpPr>
        <p:spPr>
          <a:xfrm>
            <a:off x="11582705" y="4550969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F6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웨이퍼 전역에서 다중 단락이 나타났습니다.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857707" y="4153205"/>
            <a:ext cx="133411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spc="-240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</a:t>
            </a:r>
            <a:endParaRPr lang="en-US" sz="6000" dirty="0"/>
          </a:p>
        </p:txBody>
      </p:sp>
      <p:sp>
        <p:nvSpPr>
          <p:cNvPr id="26" name="Text 20"/>
          <p:cNvSpPr txBox="1"/>
          <p:nvPr/>
        </p:nvSpPr>
        <p:spPr>
          <a:xfrm>
            <a:off x="857707" y="5143500"/>
            <a:ext cx="1334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C2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면의 원자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57707" y="5364785"/>
            <a:ext cx="1334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C2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측벽면으로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2533802" y="4134002"/>
            <a:ext cx="42291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원인은 입계 모서리에서</a:t>
            </a:r>
            <a:endParaRPr lang="en-US" sz="1650" dirty="0"/>
          </a:p>
        </p:txBody>
      </p:sp>
      <p:sp>
        <p:nvSpPr>
          <p:cNvPr id="29" name="Text 23"/>
          <p:cNvSpPr txBox="1"/>
          <p:nvPr/>
        </p:nvSpPr>
        <p:spPr>
          <a:xfrm>
            <a:off x="2533802" y="4437583"/>
            <a:ext cx="42291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시작된 면간 자기확산</a:t>
            </a:r>
            <a:endParaRPr lang="en-US" sz="1650" dirty="0"/>
          </a:p>
        </p:txBody>
      </p:sp>
      <p:sp>
        <p:nvSpPr>
          <p:cNvPr id="30" name="Text 24"/>
          <p:cNvSpPr txBox="1"/>
          <p:nvPr/>
        </p:nvSpPr>
        <p:spPr>
          <a:xfrm>
            <a:off x="2533802" y="5201107"/>
            <a:ext cx="42291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F66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Ru(0002) → Ru(1̅0̅0) · Ru(11̅20)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2533802" y="5886907"/>
            <a:ext cx="4229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F6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옮겨가 쌓입니다.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410298" y="4114800"/>
            <a:ext cx="3143707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135" kern="0" dirty="0">
                <a:solidFill>
                  <a:srgbClr val="1C1A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420</a:t>
            </a:r>
            <a:pPr algn="l" indent="0" marL="0">
              <a:buNone/>
            </a:pPr>
            <a:r>
              <a:rPr lang="en-US" sz="2250" b="1" spc="-135" kern="0" dirty="0">
                <a:solidFill>
                  <a:srgbClr val="1C1A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°C</a:t>
            </a:r>
            <a:endParaRPr lang="en-US" sz="4500" dirty="0"/>
          </a:p>
        </p:txBody>
      </p:sp>
      <p:sp>
        <p:nvSpPr>
          <p:cNvPr id="33" name="Text 27"/>
          <p:cNvSpPr txBox="1"/>
          <p:nvPr/>
        </p:nvSpPr>
        <p:spPr>
          <a:xfrm>
            <a:off x="7410298" y="4934102"/>
            <a:ext cx="31437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1C1A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1.83×10⁻⁴³</a:t>
            </a:r>
            <a:endParaRPr lang="en-US" sz="2100" dirty="0"/>
          </a:p>
        </p:txBody>
      </p:sp>
      <p:sp>
        <p:nvSpPr>
          <p:cNvPr id="34" name="Text 28"/>
          <p:cNvSpPr txBox="1"/>
          <p:nvPr/>
        </p:nvSpPr>
        <p:spPr>
          <a:xfrm>
            <a:off x="7410298" y="5257800"/>
            <a:ext cx="3143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D2E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m² / s · Ru 벌크 확산계수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7410298" y="5886907"/>
            <a:ext cx="314370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3D2E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에 불과하지만,</a:t>
            </a:r>
            <a:endParaRPr lang="en-US" sz="1125" dirty="0"/>
          </a:p>
        </p:txBody>
      </p:sp>
      <p:sp>
        <p:nvSpPr>
          <p:cNvPr id="36" name="Text 30"/>
          <p:cNvSpPr txBox="1"/>
          <p:nvPr/>
        </p:nvSpPr>
        <p:spPr>
          <a:xfrm>
            <a:off x="7410298" y="6093562"/>
            <a:ext cx="314370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3D2E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특정 원자 배열은 이를 크게 올립니다.</a:t>
            </a:r>
            <a:endParaRPr lang="en-US" sz="1125" dirty="0"/>
          </a:p>
        </p:txBody>
      </p:sp>
      <p:sp>
        <p:nvSpPr>
          <p:cNvPr id="37" name="Text 31"/>
          <p:cNvSpPr txBox="1"/>
          <p:nvPr/>
        </p:nvSpPr>
        <p:spPr>
          <a:xfrm>
            <a:off x="11239805" y="5544007"/>
            <a:ext cx="6286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동일 그룹의 IITC 2025 발표는</a:t>
            </a:r>
            <a:endParaRPr lang="en-US" sz="1350" dirty="0"/>
          </a:p>
        </p:txBody>
      </p:sp>
      <p:sp>
        <p:nvSpPr>
          <p:cNvPr id="38" name="Text 32"/>
          <p:cNvSpPr txBox="1"/>
          <p:nvPr/>
        </p:nvSpPr>
        <p:spPr>
          <a:xfrm>
            <a:off x="11239805" y="5830214"/>
            <a:ext cx="6286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명목 선폭 10 nm Ru 선을</a:t>
            </a:r>
            <a:endParaRPr 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11239805" y="6116422"/>
            <a:ext cx="6286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325 · 420 · 650 °C에서 최대 5시간 열처리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15430500" y="6515100"/>
            <a:ext cx="190561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7DE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온도 ↑ → 원통화 심해짐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11239805" y="7048195"/>
            <a:ext cx="4000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온도가 올라갈수록 원통화가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11239805" y="7242048"/>
            <a:ext cx="40005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심해졌다고 보고합니다.</a:t>
            </a:r>
            <a:endParaRPr lang="en-US" sz="1050" dirty="0"/>
          </a:p>
        </p:txBody>
      </p:sp>
      <p:sp>
        <p:nvSpPr>
          <p:cNvPr id="43" name="Text 37"/>
          <p:cNvSpPr txBox="1"/>
          <p:nvPr/>
        </p:nvSpPr>
        <p:spPr>
          <a:xfrm>
            <a:off x="857707" y="7772400"/>
            <a:ext cx="2477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Ru의 전자이동 내성은</a:t>
            </a:r>
            <a:endParaRPr lang="en-US" sz="1350" dirty="0"/>
          </a:p>
        </p:txBody>
      </p:sp>
      <p:sp>
        <p:nvSpPr>
          <p:cNvPr id="44" name="Text 38"/>
          <p:cNvSpPr txBox="1"/>
          <p:nvPr/>
        </p:nvSpPr>
        <p:spPr>
          <a:xfrm>
            <a:off x="857707" y="8021117"/>
            <a:ext cx="2477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뛰어납니다.</a:t>
            </a:r>
            <a:endParaRPr lang="en-US" sz="2250" dirty="0"/>
          </a:p>
        </p:txBody>
      </p:sp>
      <p:sp>
        <p:nvSpPr>
          <p:cNvPr id="45" name="Text 39"/>
          <p:cNvSpPr txBox="1"/>
          <p:nvPr/>
        </p:nvSpPr>
        <p:spPr>
          <a:xfrm>
            <a:off x="857707" y="8439912"/>
            <a:ext cx="24771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</a:t>
            </a:r>
            <a:pPr algn="l" indent="0" marL="0">
              <a:buNone/>
            </a:pPr>
            <a:r>
              <a:rPr lang="en-US" sz="1650" b="1" dirty="0">
                <a:solidFill>
                  <a:srgbClr val="F2D2B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nm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857707" y="8916314"/>
            <a:ext cx="247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무배리어 Ru · 피치</a:t>
            </a:r>
            <a:endParaRPr lang="en-US" sz="1050" dirty="0"/>
          </a:p>
        </p:txBody>
      </p:sp>
      <p:sp>
        <p:nvSpPr>
          <p:cNvPr id="47" name="Text 41"/>
          <p:cNvSpPr txBox="1"/>
          <p:nvPr/>
        </p:nvSpPr>
        <p:spPr>
          <a:xfrm>
            <a:off x="3810305" y="7791602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8CC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MA/cm²</a:t>
            </a:r>
            <a:endParaRPr lang="en-US" sz="1350" dirty="0"/>
          </a:p>
        </p:txBody>
      </p:sp>
      <p:sp>
        <p:nvSpPr>
          <p:cNvPr id="48" name="Text 42"/>
          <p:cNvSpPr txBox="1"/>
          <p:nvPr/>
        </p:nvSpPr>
        <p:spPr>
          <a:xfrm>
            <a:off x="3810305" y="8031175"/>
            <a:ext cx="2286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초과에서도</a:t>
            </a:r>
            <a:endParaRPr lang="en-US" sz="2100" dirty="0"/>
          </a:p>
        </p:txBody>
      </p:sp>
      <p:sp>
        <p:nvSpPr>
          <p:cNvPr id="49" name="Text 43"/>
          <p:cNvSpPr txBox="1"/>
          <p:nvPr/>
        </p:nvSpPr>
        <p:spPr>
          <a:xfrm>
            <a:off x="3810305" y="8374075"/>
            <a:ext cx="2286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D8CC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고장을 유도하지 못했고,</a:t>
            </a:r>
            <a:endParaRPr lang="en-US" sz="1125" dirty="0"/>
          </a:p>
        </p:txBody>
      </p:sp>
      <p:sp>
        <p:nvSpPr>
          <p:cNvPr id="50" name="Text 44"/>
          <p:cNvSpPr txBox="1"/>
          <p:nvPr/>
        </p:nvSpPr>
        <p:spPr>
          <a:xfrm>
            <a:off x="6286500" y="7791602"/>
            <a:ext cx="25722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8CC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150–200 MA/cm²까지</a:t>
            </a:r>
            <a:endParaRPr lang="en-US" sz="1350" dirty="0"/>
          </a:p>
        </p:txBody>
      </p:sp>
      <p:sp>
        <p:nvSpPr>
          <p:cNvPr id="51" name="Text 45"/>
          <p:cNvSpPr txBox="1"/>
          <p:nvPr/>
        </p:nvSpPr>
        <p:spPr>
          <a:xfrm>
            <a:off x="6286500" y="8031175"/>
            <a:ext cx="25722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8CC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올려 자기발열 </a:t>
            </a:r>
            <a:pPr algn="l" indent="0" marL="0">
              <a:buNone/>
            </a:pPr>
            <a:r>
              <a:rPr lang="en-US" sz="1350" b="1" dirty="0">
                <a:solidFill>
                  <a:srgbClr val="B65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~260 °C</a:t>
            </a:r>
            <a:endParaRPr lang="en-US" sz="1350" dirty="0"/>
          </a:p>
        </p:txBody>
      </p:sp>
      <p:sp>
        <p:nvSpPr>
          <p:cNvPr id="52" name="Text 46"/>
          <p:cNvSpPr txBox="1"/>
          <p:nvPr/>
        </p:nvSpPr>
        <p:spPr>
          <a:xfrm>
            <a:off x="6286500" y="8271662"/>
            <a:ext cx="25722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에 도달해서야 고장</a:t>
            </a:r>
            <a:endParaRPr lang="en-US" sz="2100" dirty="0"/>
          </a:p>
        </p:txBody>
      </p:sp>
      <p:sp>
        <p:nvSpPr>
          <p:cNvPr id="53" name="Text 47"/>
          <p:cNvSpPr txBox="1"/>
          <p:nvPr/>
        </p:nvSpPr>
        <p:spPr>
          <a:xfrm>
            <a:off x="3810305" y="9525305"/>
            <a:ext cx="50484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A99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무배리어, 30 MA/cm² 초과 무고장</a:t>
            </a:r>
            <a:endParaRPr lang="en-US" sz="975" dirty="0"/>
          </a:p>
        </p:txBody>
      </p:sp>
      <p:sp>
        <p:nvSpPr>
          <p:cNvPr id="54" name="Text 48"/>
          <p:cNvSpPr txBox="1"/>
          <p:nvPr/>
        </p:nvSpPr>
        <p:spPr>
          <a:xfrm>
            <a:off x="9525305" y="7753198"/>
            <a:ext cx="314370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Mo–Ru 하이브리드 구조는</a:t>
            </a:r>
            <a:endParaRPr lang="en-US" sz="1350" dirty="0"/>
          </a:p>
        </p:txBody>
      </p:sp>
      <p:sp>
        <p:nvSpPr>
          <p:cNvPr id="55" name="Text 49"/>
          <p:cNvSpPr txBox="1"/>
          <p:nvPr/>
        </p:nvSpPr>
        <p:spPr>
          <a:xfrm>
            <a:off x="9525305" y="8191195"/>
            <a:ext cx="3143707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50" b="1" spc="-130" kern="0" dirty="0">
                <a:solidFill>
                  <a:srgbClr val="1C1A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600</a:t>
            </a:r>
            <a:pPr algn="l" indent="0" marL="0">
              <a:buNone/>
            </a:pPr>
            <a:r>
              <a:rPr lang="en-US" sz="1950" b="1" spc="-130" kern="0" dirty="0">
                <a:solidFill>
                  <a:srgbClr val="B65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h+</a:t>
            </a:r>
            <a:endParaRPr lang="en-US" sz="4350" dirty="0"/>
          </a:p>
        </p:txBody>
      </p:sp>
      <p:sp>
        <p:nvSpPr>
          <p:cNvPr id="56" name="Text 50"/>
          <p:cNvSpPr txBox="1"/>
          <p:nvPr/>
        </p:nvSpPr>
        <p:spPr>
          <a:xfrm>
            <a:off x="9525305" y="8820302"/>
            <a:ext cx="31437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무고장입니다.</a:t>
            </a:r>
            <a:endParaRPr lang="en-US" sz="1275" dirty="0"/>
          </a:p>
        </p:txBody>
      </p:sp>
      <p:sp>
        <p:nvSpPr>
          <p:cNvPr id="57" name="Text 51"/>
          <p:cNvSpPr txBox="1"/>
          <p:nvPr/>
        </p:nvSpPr>
        <p:spPr>
          <a:xfrm>
            <a:off x="9525305" y="9525305"/>
            <a:ext cx="31437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330 °C · 5 MA / cm²</a:t>
            </a:r>
            <a:endParaRPr lang="en-US" sz="1050" dirty="0"/>
          </a:p>
        </p:txBody>
      </p:sp>
      <p:sp>
        <p:nvSpPr>
          <p:cNvPr id="58" name="Text 52"/>
          <p:cNvSpPr txBox="1"/>
          <p:nvPr/>
        </p:nvSpPr>
        <p:spPr>
          <a:xfrm>
            <a:off x="13334695" y="7772400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 장배선의</a:t>
            </a:r>
            <a:endParaRPr lang="en-US" sz="1200" dirty="0"/>
          </a:p>
        </p:txBody>
      </p:sp>
      <p:sp>
        <p:nvSpPr>
          <p:cNvPr id="59" name="Text 53"/>
          <p:cNvSpPr txBox="1"/>
          <p:nvPr/>
        </p:nvSpPr>
        <p:spPr>
          <a:xfrm>
            <a:off x="13334695" y="7985455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활성화에너지가</a:t>
            </a:r>
            <a:endParaRPr lang="en-US" sz="1200" dirty="0"/>
          </a:p>
        </p:txBody>
      </p:sp>
      <p:sp>
        <p:nvSpPr>
          <p:cNvPr id="60" name="Text 54"/>
          <p:cNvSpPr txBox="1"/>
          <p:nvPr/>
        </p:nvSpPr>
        <p:spPr>
          <a:xfrm>
            <a:off x="13334695" y="8198510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라이너 종류에 따라</a:t>
            </a:r>
            <a:endParaRPr lang="en-US" sz="1200" dirty="0"/>
          </a:p>
        </p:txBody>
      </p:sp>
      <p:sp>
        <p:nvSpPr>
          <p:cNvPr id="61" name="Text 55"/>
          <p:cNvSpPr txBox="1"/>
          <p:nvPr/>
        </p:nvSpPr>
        <p:spPr>
          <a:xfrm>
            <a:off x="13334695" y="8553298"/>
            <a:ext cx="409651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0.80–1.05</a:t>
            </a:r>
            <a:endParaRPr lang="en-US" sz="2550" dirty="0"/>
          </a:p>
        </p:txBody>
      </p:sp>
      <p:sp>
        <p:nvSpPr>
          <p:cNvPr id="62" name="Text 56"/>
          <p:cNvSpPr txBox="1"/>
          <p:nvPr/>
        </p:nvSpPr>
        <p:spPr>
          <a:xfrm>
            <a:off x="13334695" y="8934602"/>
            <a:ext cx="4096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2D2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 구간에 흩어지는</a:t>
            </a:r>
            <a:endParaRPr lang="en-US" sz="1050" dirty="0"/>
          </a:p>
        </p:txBody>
      </p:sp>
      <p:sp>
        <p:nvSpPr>
          <p:cNvPr id="63" name="Text 57"/>
          <p:cNvSpPr txBox="1"/>
          <p:nvPr/>
        </p:nvSpPr>
        <p:spPr>
          <a:xfrm>
            <a:off x="13334695" y="9087307"/>
            <a:ext cx="4096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것과 대조됩니다</a:t>
            </a:r>
            <a:endParaRPr lang="en-US" sz="1050" dirty="0"/>
          </a:p>
        </p:txBody>
      </p:sp>
      <p:sp>
        <p:nvSpPr>
          <p:cNvPr id="64" name="Text 58"/>
          <p:cNvSpPr txBox="1"/>
          <p:nvPr/>
        </p:nvSpPr>
        <p:spPr>
          <a:xfrm>
            <a:off x="13334695" y="9525305"/>
            <a:ext cx="40965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C1A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TaN/Co 0.84 · 1.02–1.05</a:t>
            </a:r>
            <a:endParaRPr lang="en-US" sz="975" dirty="0"/>
          </a:p>
        </p:txBody>
      </p:sp>
      <p:sp>
        <p:nvSpPr>
          <p:cNvPr id="65" name="Text 59"/>
          <p:cNvSpPr txBox="1"/>
          <p:nvPr/>
        </p:nvSpPr>
        <p:spPr>
          <a:xfrm>
            <a:off x="13334695" y="9710928"/>
            <a:ext cx="40965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C1A1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TaN/Ru 0.94–0.98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DE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598" y="666598"/>
            <a:ext cx="10287000" cy="2762402"/>
          </a:xfrm>
          <a:prstGeom prst="rect">
            <a:avLst/>
          </a:prstGeom>
          <a:solidFill>
            <a:srgbClr val="1C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39805" y="666598"/>
            <a:ext cx="6381598" cy="2762402"/>
          </a:xfrm>
          <a:prstGeom prst="rect">
            <a:avLst/>
          </a:prstGeom>
          <a:solidFill>
            <a:srgbClr val="D8CC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598" y="3810305"/>
            <a:ext cx="6667805" cy="2857500"/>
          </a:xfrm>
          <a:prstGeom prst="rect">
            <a:avLst/>
          </a:prstGeom>
          <a:solidFill>
            <a:srgbClr val="D8CC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9695" y="3810305"/>
            <a:ext cx="3238805" cy="2857500"/>
          </a:xfrm>
          <a:prstGeom prst="rect">
            <a:avLst/>
          </a:prstGeom>
          <a:solidFill>
            <a:srgbClr val="2F6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44707" y="3810305"/>
            <a:ext cx="6476695" cy="2857500"/>
          </a:xfrm>
          <a:prstGeom prst="rect">
            <a:avLst/>
          </a:prstGeom>
          <a:solidFill>
            <a:srgbClr val="1C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6598" y="6953098"/>
            <a:ext cx="4095598" cy="2667305"/>
          </a:xfrm>
          <a:prstGeom prst="rect">
            <a:avLst/>
          </a:prstGeom>
          <a:solidFill>
            <a:srgbClr val="D8CC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48402" y="6953098"/>
            <a:ext cx="3429000" cy="2667305"/>
          </a:xfrm>
          <a:prstGeom prst="rect">
            <a:avLst/>
          </a:prstGeom>
          <a:solidFill>
            <a:srgbClr val="D8CC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62695" y="6953098"/>
            <a:ext cx="4572000" cy="2667305"/>
          </a:xfrm>
          <a:prstGeom prst="rect">
            <a:avLst/>
          </a:prstGeom>
          <a:solidFill>
            <a:srgbClr val="1C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20902" y="6953098"/>
            <a:ext cx="4000500" cy="2667305"/>
          </a:xfrm>
          <a:prstGeom prst="rect">
            <a:avLst/>
          </a:prstGeom>
          <a:solidFill>
            <a:srgbClr val="E7DE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gen-dedup-39f02b54f213ba9d17f1c102f8d180cd.jpg">    </p:cNvPr>
          <p:cNvPicPr>
            <a:picLocks noChangeAspect="1"/>
          </p:cNvPicPr>
          <p:nvPr/>
        </p:nvPicPr>
        <p:blipFill>
          <a:blip r:embed="rId1"/>
          <a:srcRect l="0" r="0" t="13564" b="13564"/>
          <a:stretch/>
        </p:blipFill>
        <p:spPr>
          <a:xfrm>
            <a:off x="666598" y="3810305"/>
            <a:ext cx="4381805" cy="28575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334195" y="5143500"/>
            <a:ext cx="1238098" cy="1238098"/>
          </a:xfrm>
          <a:prstGeom prst="ellipse">
            <a:avLst/>
          </a:prstGeom>
          <a:noFill/>
          <a:ln w="12700">
            <a:solidFill>
              <a:srgbClr val="E7DEC9">
                <a:alpha val="22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72854" y="5381244"/>
            <a:ext cx="761695" cy="761695"/>
          </a:xfrm>
          <a:prstGeom prst="ellipse">
            <a:avLst/>
          </a:prstGeom>
          <a:noFill/>
          <a:ln w="12700">
            <a:solidFill>
              <a:srgbClr val="E7DEC9">
                <a:alpha val="32000"/>
              </a:srgbClr>
            </a:solidFill>
            <a:prstDash val="solid"/>
          </a:ln>
        </p:spPr>
      </p:sp>
      <p:pic>
        <p:nvPicPr>
          <p:cNvPr id="14" name="Image 1" descr="gen-dedup-eb6f3ac1b2a3eac2dbd3dc306987e064.jpg">    </p:cNvPr>
          <p:cNvPicPr>
            <a:picLocks noChangeAspect="1"/>
          </p:cNvPicPr>
          <p:nvPr/>
        </p:nvPicPr>
        <p:blipFill>
          <a:blip r:embed="rId2"/>
          <a:srcRect l="516" r="516" t="0" b="0"/>
          <a:stretch/>
        </p:blipFill>
        <p:spPr>
          <a:xfrm>
            <a:off x="11144707" y="3810305"/>
            <a:ext cx="6476695" cy="2514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2477902" y="7048195"/>
            <a:ext cx="761695" cy="761695"/>
          </a:xfrm>
          <a:prstGeom prst="ellipse">
            <a:avLst/>
          </a:prstGeom>
          <a:solidFill>
            <a:srgbClr val="B58A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gen-dedup-51af7771a837f46b92ebc2e3a9e29530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666598" y="3314700"/>
            <a:ext cx="10287000" cy="57607"/>
          </a:xfrm>
          <a:prstGeom prst="rect">
            <a:avLst/>
          </a:prstGeom>
        </p:spPr>
      </p:pic>
      <p:pic>
        <p:nvPicPr>
          <p:cNvPr id="17" name="Image 3" descr="gen-dedup-96c00396043f468bd9ce8ffddc7aea79.png">    </p:cNvPr>
          <p:cNvPicPr>
            <a:picLocks noChangeAspect="1"/>
          </p:cNvPicPr>
          <p:nvPr/>
        </p:nvPicPr>
        <p:blipFill>
          <a:blip r:embed="rId4"/>
          <a:srcRect l="0" r="0" t="-204" b="-204"/>
          <a:stretch/>
        </p:blipFill>
        <p:spPr>
          <a:xfrm>
            <a:off x="11239805" y="666598"/>
            <a:ext cx="75895" cy="2762402"/>
          </a:xfrm>
          <a:prstGeom prst="rect">
            <a:avLst/>
          </a:prstGeom>
        </p:spPr>
      </p:pic>
      <p:pic>
        <p:nvPicPr>
          <p:cNvPr id="18" name="Image 4" descr="gen-dedup-8567e3192630f8431b990cbdb7682b89.png">    </p:cNvPr>
          <p:cNvPicPr>
            <a:picLocks noChangeAspect="1"/>
          </p:cNvPicPr>
          <p:nvPr/>
        </p:nvPicPr>
        <p:blipFill>
          <a:blip r:embed="rId5"/>
          <a:srcRect l="-199" r="-199" t="0" b="0"/>
          <a:stretch/>
        </p:blipFill>
        <p:spPr>
          <a:xfrm>
            <a:off x="666598" y="6953098"/>
            <a:ext cx="4095598" cy="75895"/>
          </a:xfrm>
          <a:prstGeom prst="rect">
            <a:avLst/>
          </a:prstGeom>
        </p:spPr>
      </p:pic>
      <p:pic>
        <p:nvPicPr>
          <p:cNvPr id="19" name="Image 5" descr="gen-dedup-1d0f1ec11bbbcc775be6b5dd88466871.png">    </p:cNvPr>
          <p:cNvPicPr>
            <a:picLocks noChangeAspect="1"/>
          </p:cNvPicPr>
          <p:nvPr/>
        </p:nvPicPr>
        <p:blipFill>
          <a:blip r:embed="rId6"/>
          <a:srcRect l="-201" r="-201" t="0" b="0"/>
          <a:stretch/>
        </p:blipFill>
        <p:spPr>
          <a:xfrm>
            <a:off x="5048402" y="6953098"/>
            <a:ext cx="3429000" cy="75895"/>
          </a:xfrm>
          <a:prstGeom prst="rect">
            <a:avLst/>
          </a:prstGeom>
        </p:spPr>
      </p:pic>
      <p:pic>
        <p:nvPicPr>
          <p:cNvPr id="20" name="Image 6" descr="gen-dedup-cfdc66501d3d9208b7c2c58bf70f1606.png">    </p:cNvPr>
          <p:cNvPicPr>
            <a:picLocks noChangeAspect="1"/>
          </p:cNvPicPr>
          <p:nvPr/>
        </p:nvPicPr>
        <p:blipFill>
          <a:blip r:embed="rId7"/>
          <a:srcRect l="-394" r="-394" t="0" b="0"/>
          <a:stretch/>
        </p:blipFill>
        <p:spPr>
          <a:xfrm>
            <a:off x="13620902" y="6953098"/>
            <a:ext cx="57607" cy="2667305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143000" y="990295"/>
            <a:ext cx="9620402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스크리닝</a:t>
            </a:r>
            <a:endParaRPr lang="en-US" sz="5400" dirty="0"/>
          </a:p>
        </p:txBody>
      </p:sp>
      <p:sp>
        <p:nvSpPr>
          <p:cNvPr id="22" name="Text 13"/>
          <p:cNvSpPr txBox="1"/>
          <p:nvPr/>
        </p:nvSpPr>
        <p:spPr>
          <a:xfrm>
            <a:off x="1143000" y="1710842"/>
            <a:ext cx="9620402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spc="-108" kern="0" dirty="0">
                <a:solidFill>
                  <a:srgbClr val="B65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지표로 본 후보군</a:t>
            </a:r>
            <a:endParaRPr lang="en-US" sz="5400" dirty="0"/>
          </a:p>
        </p:txBody>
      </p:sp>
      <p:sp>
        <p:nvSpPr>
          <p:cNvPr id="23" name="Text 14"/>
          <p:cNvSpPr txBox="1"/>
          <p:nvPr/>
        </p:nvSpPr>
        <p:spPr>
          <a:xfrm>
            <a:off x="11658600" y="990295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Soulié et al., </a:t>
            </a:r>
            <a:pPr algn="l" indent="0" marL="0">
              <a:buNone/>
            </a:pPr>
            <a:r>
              <a:rPr lang="en-US" sz="1350" b="1" i="1" dirty="0">
                <a:solidFill>
                  <a:srgbClr val="1C1A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J. Appl. Phys.</a:t>
            </a:r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136, 171101 (2024)</a:t>
            </a:r>
            <a:endParaRPr lang="en-US" sz="1350" dirty="0"/>
          </a:p>
        </p:txBody>
      </p:sp>
      <p:sp>
        <p:nvSpPr>
          <p:cNvPr id="24" name="Text 15"/>
          <p:cNvSpPr txBox="1"/>
          <p:nvPr/>
        </p:nvSpPr>
        <p:spPr>
          <a:xfrm>
            <a:off x="11658600" y="1248156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II · III와</a:t>
            </a:r>
            <a:endParaRPr lang="en-US" sz="1350" dirty="0"/>
          </a:p>
        </p:txBody>
      </p:sp>
      <p:sp>
        <p:nvSpPr>
          <p:cNvPr id="25" name="Text 16"/>
          <p:cNvSpPr txBox="1"/>
          <p:nvPr/>
        </p:nvSpPr>
        <p:spPr>
          <a:xfrm>
            <a:off x="11658600" y="1962302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Sankaran et al., </a:t>
            </a:r>
            <a:pPr algn="l" indent="0" marL="0">
              <a:buNone/>
            </a:pPr>
            <a:r>
              <a:rPr lang="en-US" sz="1350" b="1" i="1" dirty="0">
                <a:solidFill>
                  <a:srgbClr val="1C1A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Phys. Rev. Mater.</a:t>
            </a:r>
            <a:endParaRPr lang="en-US" sz="1350" dirty="0"/>
          </a:p>
        </p:txBody>
      </p:sp>
      <p:sp>
        <p:nvSpPr>
          <p:cNvPr id="26" name="Text 17"/>
          <p:cNvSpPr txBox="1"/>
          <p:nvPr/>
        </p:nvSpPr>
        <p:spPr>
          <a:xfrm>
            <a:off x="11658600" y="2219249"/>
            <a:ext cx="5715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 056002 (2021)의 계산값을 합쳐 재작도</a:t>
            </a:r>
            <a:endParaRPr lang="en-US" sz="1350" dirty="0"/>
          </a:p>
        </p:txBody>
      </p:sp>
      <p:sp>
        <p:nvSpPr>
          <p:cNvPr id="27" name="Text 18"/>
          <p:cNvSpPr txBox="1"/>
          <p:nvPr/>
        </p:nvSpPr>
        <p:spPr>
          <a:xfrm>
            <a:off x="5143500" y="4095598"/>
            <a:ext cx="2095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A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 &amp;</a:t>
            </a:r>
            <a:endParaRPr lang="en-US" sz="2400" dirty="0"/>
          </a:p>
        </p:txBody>
      </p:sp>
      <p:sp>
        <p:nvSpPr>
          <p:cNvPr id="28" name="Text 19"/>
          <p:cNvSpPr txBox="1"/>
          <p:nvPr/>
        </p:nvSpPr>
        <p:spPr>
          <a:xfrm>
            <a:off x="5143500" y="4457700"/>
            <a:ext cx="2095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A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low-k</a:t>
            </a:r>
            <a:endParaRPr lang="en-US" sz="2400" dirty="0"/>
          </a:p>
        </p:txBody>
      </p:sp>
      <p:sp>
        <p:nvSpPr>
          <p:cNvPr id="29" name="Text 20"/>
          <p:cNvSpPr txBox="1"/>
          <p:nvPr/>
        </p:nvSpPr>
        <p:spPr>
          <a:xfrm>
            <a:off x="5143500" y="4895698"/>
            <a:ext cx="2095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7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단면</a:t>
            </a:r>
            <a:endParaRPr lang="en-US" sz="1050" dirty="0"/>
          </a:p>
        </p:txBody>
      </p:sp>
      <p:sp>
        <p:nvSpPr>
          <p:cNvPr id="30" name="Text 21"/>
          <p:cNvSpPr txBox="1"/>
          <p:nvPr/>
        </p:nvSpPr>
        <p:spPr>
          <a:xfrm>
            <a:off x="666598" y="6400800"/>
            <a:ext cx="6667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6F6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Cu/low-k interconnect · Sci. Rep. (Nature) · 2019</a:t>
            </a:r>
            <a:endParaRPr lang="en-US" sz="825" dirty="0"/>
          </a:p>
        </p:txBody>
      </p:sp>
      <p:sp>
        <p:nvSpPr>
          <p:cNvPr id="31" name="Text 22"/>
          <p:cNvSpPr txBox="1"/>
          <p:nvPr/>
        </p:nvSpPr>
        <p:spPr>
          <a:xfrm>
            <a:off x="7810805" y="4095598"/>
            <a:ext cx="285750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50" b="1" spc="-234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MAX</a:t>
            </a:r>
            <a:endParaRPr lang="en-US" sz="5850" dirty="0"/>
          </a:p>
        </p:txBody>
      </p:sp>
      <p:sp>
        <p:nvSpPr>
          <p:cNvPr id="32" name="Text 23"/>
          <p:cNvSpPr txBox="1"/>
          <p:nvPr/>
        </p:nvSpPr>
        <p:spPr>
          <a:xfrm>
            <a:off x="7810805" y="5143500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D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계산상 가장</a:t>
            </a:r>
            <a:endParaRPr lang="en-US" sz="1350" dirty="0"/>
          </a:p>
        </p:txBody>
      </p:sp>
      <p:sp>
        <p:nvSpPr>
          <p:cNvPr id="33" name="Text 24"/>
          <p:cNvSpPr txBox="1"/>
          <p:nvPr/>
        </p:nvSpPr>
        <p:spPr>
          <a:xfrm>
            <a:off x="7810805" y="5383073"/>
            <a:ext cx="2286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D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낮지만</a:t>
            </a:r>
            <a:endParaRPr lang="en-US" sz="1350" dirty="0"/>
          </a:p>
        </p:txBody>
      </p:sp>
      <p:sp>
        <p:nvSpPr>
          <p:cNvPr id="34" name="Text 25"/>
          <p:cNvSpPr txBox="1"/>
          <p:nvPr/>
        </p:nvSpPr>
        <p:spPr>
          <a:xfrm>
            <a:off x="7810805" y="5848502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아직 증착·에칭</a:t>
            </a:r>
            <a:endParaRPr lang="en-US" sz="1350" dirty="0"/>
          </a:p>
        </p:txBody>
      </p:sp>
      <p:sp>
        <p:nvSpPr>
          <p:cNvPr id="35" name="Text 26"/>
          <p:cNvSpPr txBox="1"/>
          <p:nvPr/>
        </p:nvSpPr>
        <p:spPr>
          <a:xfrm>
            <a:off x="7810805" y="6088075"/>
            <a:ext cx="2857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실증이 없습니다.</a:t>
            </a:r>
            <a:endParaRPr lang="en-US" sz="1350" dirty="0"/>
          </a:p>
        </p:txBody>
      </p:sp>
      <p:sp>
        <p:nvSpPr>
          <p:cNvPr id="36" name="Text 27"/>
          <p:cNvSpPr txBox="1"/>
          <p:nvPr/>
        </p:nvSpPr>
        <p:spPr>
          <a:xfrm>
            <a:off x="11144707" y="6381598"/>
            <a:ext cx="6477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A99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parasitic-capacitance air gaps · semiconductor-eng.com</a:t>
            </a:r>
            <a:endParaRPr lang="en-US" sz="825" dirty="0"/>
          </a:p>
        </p:txBody>
      </p:sp>
      <p:sp>
        <p:nvSpPr>
          <p:cNvPr id="37" name="Text 28"/>
          <p:cNvSpPr txBox="1"/>
          <p:nvPr/>
        </p:nvSpPr>
        <p:spPr>
          <a:xfrm>
            <a:off x="952805" y="7239305"/>
            <a:ext cx="3620110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750" b="1" spc="-203" kern="0" dirty="0">
                <a:solidFill>
                  <a:srgbClr val="1C1A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</a:t>
            </a:r>
            <a:endParaRPr lang="en-US" sz="6750" dirty="0"/>
          </a:p>
        </p:txBody>
      </p:sp>
      <p:sp>
        <p:nvSpPr>
          <p:cNvPr id="38" name="Text 29"/>
          <p:cNvSpPr txBox="1"/>
          <p:nvPr/>
        </p:nvSpPr>
        <p:spPr>
          <a:xfrm>
            <a:off x="952805" y="8382305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mm 웨이퍼에서</a:t>
            </a:r>
            <a:endParaRPr lang="en-US" sz="1350" dirty="0"/>
          </a:p>
        </p:txBody>
      </p:sp>
      <p:sp>
        <p:nvSpPr>
          <p:cNvPr id="39" name="Text 30"/>
          <p:cNvSpPr txBox="1"/>
          <p:nvPr/>
        </p:nvSpPr>
        <p:spPr>
          <a:xfrm>
            <a:off x="952805" y="8621878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실제로 돌아간</a:t>
            </a:r>
            <a:endParaRPr lang="en-US" sz="1350" dirty="0"/>
          </a:p>
        </p:txBody>
      </p:sp>
      <p:sp>
        <p:nvSpPr>
          <p:cNvPr id="40" name="Text 31"/>
          <p:cNvSpPr txBox="1"/>
          <p:nvPr/>
        </p:nvSpPr>
        <p:spPr>
          <a:xfrm>
            <a:off x="5333695" y="7239305"/>
            <a:ext cx="2953512" cy="8577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750" b="1" spc="-203" kern="0" dirty="0">
                <a:solidFill>
                  <a:srgbClr val="1C1A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</a:t>
            </a:r>
            <a:endParaRPr lang="en-US" sz="6750" dirty="0"/>
          </a:p>
        </p:txBody>
      </p:sp>
      <p:sp>
        <p:nvSpPr>
          <p:cNvPr id="41" name="Text 32"/>
          <p:cNvSpPr txBox="1"/>
          <p:nvPr/>
        </p:nvSpPr>
        <p:spPr>
          <a:xfrm>
            <a:off x="5333695" y="8382305"/>
            <a:ext cx="2953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mm 웨이퍼에서</a:t>
            </a:r>
            <a:endParaRPr lang="en-US" sz="1350" dirty="0"/>
          </a:p>
        </p:txBody>
      </p:sp>
      <p:sp>
        <p:nvSpPr>
          <p:cNvPr id="42" name="Text 33"/>
          <p:cNvSpPr txBox="1"/>
          <p:nvPr/>
        </p:nvSpPr>
        <p:spPr>
          <a:xfrm>
            <a:off x="5333695" y="8621878"/>
            <a:ext cx="2953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실제로 돌아간</a:t>
            </a:r>
            <a:endParaRPr lang="en-US" sz="1350" dirty="0"/>
          </a:p>
        </p:txBody>
      </p:sp>
      <p:sp>
        <p:nvSpPr>
          <p:cNvPr id="43" name="Text 34"/>
          <p:cNvSpPr txBox="1"/>
          <p:nvPr/>
        </p:nvSpPr>
        <p:spPr>
          <a:xfrm>
            <a:off x="9048902" y="7239305"/>
            <a:ext cx="409651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288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</a:t>
            </a:r>
            <a:endParaRPr lang="en-US" sz="7200" dirty="0"/>
          </a:p>
        </p:txBody>
      </p:sp>
      <p:sp>
        <p:nvSpPr>
          <p:cNvPr id="44" name="Text 35"/>
          <p:cNvSpPr txBox="1"/>
          <p:nvPr/>
        </p:nvSpPr>
        <p:spPr>
          <a:xfrm>
            <a:off x="9048902" y="8382305"/>
            <a:ext cx="4096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B58A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기반 금속간화합물</a:t>
            </a:r>
            <a:endParaRPr lang="en-US" sz="1500" dirty="0"/>
          </a:p>
        </p:txBody>
      </p:sp>
      <p:sp>
        <p:nvSpPr>
          <p:cNvPr id="45" name="Text 36"/>
          <p:cNvSpPr txBox="1"/>
          <p:nvPr/>
        </p:nvSpPr>
        <p:spPr>
          <a:xfrm>
            <a:off x="9048902" y="8706002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8CC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 mm 웨이퍼에서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9048902" y="8938260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8CC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실제로 돌아간</a:t>
            </a:r>
            <a:endParaRPr lang="en-US" sz="1200" dirty="0"/>
          </a:p>
        </p:txBody>
      </p:sp>
      <p:sp>
        <p:nvSpPr>
          <p:cNvPr id="47" name="Text 38"/>
          <p:cNvSpPr txBox="1"/>
          <p:nvPr/>
        </p:nvSpPr>
        <p:spPr>
          <a:xfrm>
            <a:off x="14002207" y="7239305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실제로 300 mm</a:t>
            </a:r>
            <a:endParaRPr lang="en-US" sz="1350" dirty="0"/>
          </a:p>
        </p:txBody>
      </p:sp>
      <p:sp>
        <p:nvSpPr>
          <p:cNvPr id="48" name="Text 39"/>
          <p:cNvSpPr txBox="1"/>
          <p:nvPr/>
        </p:nvSpPr>
        <p:spPr>
          <a:xfrm>
            <a:off x="14002207" y="7478878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웨이퍼에서</a:t>
            </a:r>
            <a:endParaRPr lang="en-US" sz="1350" dirty="0"/>
          </a:p>
        </p:txBody>
      </p:sp>
      <p:sp>
        <p:nvSpPr>
          <p:cNvPr id="49" name="Text 40"/>
          <p:cNvSpPr txBox="1"/>
          <p:nvPr/>
        </p:nvSpPr>
        <p:spPr>
          <a:xfrm>
            <a:off x="14002207" y="7718450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돌아간 건</a:t>
            </a:r>
            <a:endParaRPr lang="en-US" sz="1350" dirty="0"/>
          </a:p>
        </p:txBody>
      </p:sp>
      <p:sp>
        <p:nvSpPr>
          <p:cNvPr id="50" name="Text 41"/>
          <p:cNvSpPr txBox="1"/>
          <p:nvPr/>
        </p:nvSpPr>
        <p:spPr>
          <a:xfrm>
            <a:off x="14002207" y="8287207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Ru, Mo, 그리고</a:t>
            </a:r>
            <a:endParaRPr lang="en-US" sz="1800" dirty="0"/>
          </a:p>
        </p:txBody>
      </p:sp>
      <p:sp>
        <p:nvSpPr>
          <p:cNvPr id="51" name="Text 42"/>
          <p:cNvSpPr txBox="1"/>
          <p:nvPr/>
        </p:nvSpPr>
        <p:spPr>
          <a:xfrm>
            <a:off x="14002207" y="8526780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기반 금속간화합물</a:t>
            </a:r>
            <a:endParaRPr lang="en-US" sz="1800" dirty="0"/>
          </a:p>
        </p:txBody>
      </p:sp>
      <p:sp>
        <p:nvSpPr>
          <p:cNvPr id="52" name="Text 43"/>
          <p:cNvSpPr txBox="1"/>
          <p:nvPr/>
        </p:nvSpPr>
        <p:spPr>
          <a:xfrm>
            <a:off x="14002207" y="8843162"/>
            <a:ext cx="34290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뿐입니다.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DE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598" y="666598"/>
            <a:ext cx="6667805" cy="2762402"/>
          </a:xfrm>
          <a:prstGeom prst="rect">
            <a:avLst/>
          </a:prstGeom>
          <a:solidFill>
            <a:srgbClr val="1C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19695" y="666598"/>
            <a:ext cx="10001707" cy="2762402"/>
          </a:xfrm>
          <a:prstGeom prst="rect">
            <a:avLst/>
          </a:prstGeom>
          <a:solidFill>
            <a:srgbClr val="1C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598" y="3810305"/>
            <a:ext cx="6667805" cy="1714500"/>
          </a:xfrm>
          <a:prstGeom prst="rect">
            <a:avLst/>
          </a:prstGeom>
          <a:solidFill>
            <a:srgbClr val="D8CC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9695" y="3810305"/>
            <a:ext cx="10001707" cy="1714500"/>
          </a:xfrm>
          <a:prstGeom prst="rect">
            <a:avLst/>
          </a:prstGeom>
          <a:solidFill>
            <a:srgbClr val="D8CCB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6598" y="5810098"/>
            <a:ext cx="12573000" cy="2476195"/>
          </a:xfrm>
          <a:prstGeom prst="rect">
            <a:avLst/>
          </a:prstGeom>
          <a:solidFill>
            <a:srgbClr val="1C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30707" y="5810098"/>
            <a:ext cx="4190695" cy="2476195"/>
          </a:xfrm>
          <a:prstGeom prst="rect">
            <a:avLst/>
          </a:prstGeom>
          <a:solidFill>
            <a:srgbClr val="B655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6598" y="8572500"/>
            <a:ext cx="6667805" cy="1143000"/>
          </a:xfrm>
          <a:prstGeom prst="rect">
            <a:avLst/>
          </a:prstGeom>
          <a:solidFill>
            <a:srgbClr val="1C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19695" y="8572500"/>
            <a:ext cx="10001707" cy="1447495"/>
          </a:xfrm>
          <a:prstGeom prst="rect">
            <a:avLst/>
          </a:prstGeom>
          <a:solidFill>
            <a:srgbClr val="1C1A1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gen-dedup-a64299336ad238568d972f9c85cbbbf3.jpg">    </p:cNvPr>
          <p:cNvPicPr>
            <a:picLocks noChangeAspect="1"/>
          </p:cNvPicPr>
          <p:nvPr/>
        </p:nvPicPr>
        <p:blipFill>
          <a:blip r:embed="rId1"/>
          <a:srcRect l="0" r="0" t="41072" b="41072"/>
          <a:stretch/>
        </p:blipFill>
        <p:spPr>
          <a:xfrm>
            <a:off x="7619695" y="666598"/>
            <a:ext cx="10001707" cy="2419502"/>
          </a:xfrm>
          <a:prstGeom prst="rect">
            <a:avLst/>
          </a:prstGeom>
        </p:spPr>
      </p:pic>
      <p:pic>
        <p:nvPicPr>
          <p:cNvPr id="11" name="Image 1" descr="gen-dedup-e003f4e59fbba5eda29a89a8c5673ac8.jpg">    </p:cNvPr>
          <p:cNvPicPr>
            <a:picLocks noChangeAspect="1"/>
          </p:cNvPicPr>
          <p:nvPr/>
        </p:nvPicPr>
        <p:blipFill>
          <a:blip r:embed="rId2"/>
          <a:srcRect l="0" r="0" t="4148" b="4148"/>
          <a:stretch/>
        </p:blipFill>
        <p:spPr>
          <a:xfrm>
            <a:off x="666598" y="8572500"/>
            <a:ext cx="2667305" cy="1143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6668598" y="8744407"/>
            <a:ext cx="761695" cy="761695"/>
          </a:xfrm>
          <a:prstGeom prst="ellipse">
            <a:avLst/>
          </a:prstGeom>
          <a:solidFill>
            <a:srgbClr val="B58A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2" descr="gen-dedup-2ed083ad337bfa73d84bda8fc78ce97f.png">    </p:cNvPr>
          <p:cNvPicPr>
            <a:picLocks noChangeAspect="1"/>
          </p:cNvPicPr>
          <p:nvPr/>
        </p:nvPicPr>
        <p:blipFill>
          <a:blip r:embed="rId3"/>
          <a:srcRect l="0" r="0" t="-398" b="-398"/>
          <a:stretch/>
        </p:blipFill>
        <p:spPr>
          <a:xfrm>
            <a:off x="666598" y="3314700"/>
            <a:ext cx="6667805" cy="57607"/>
          </a:xfrm>
          <a:prstGeom prst="rect">
            <a:avLst/>
          </a:prstGeom>
        </p:spPr>
      </p:pic>
      <p:pic>
        <p:nvPicPr>
          <p:cNvPr id="14" name="Image 3" descr="gen-dedup-f12d4495ad991da95e1d8fd5324b6e38.png">    </p:cNvPr>
          <p:cNvPicPr>
            <a:picLocks noChangeAspect="1"/>
          </p:cNvPicPr>
          <p:nvPr/>
        </p:nvPicPr>
        <p:blipFill>
          <a:blip r:embed="rId4"/>
          <a:srcRect l="0" r="0" t="-201" b="-201"/>
          <a:stretch/>
        </p:blipFill>
        <p:spPr>
          <a:xfrm>
            <a:off x="666598" y="3810305"/>
            <a:ext cx="75895" cy="1714500"/>
          </a:xfrm>
          <a:prstGeom prst="rect">
            <a:avLst/>
          </a:prstGeom>
        </p:spPr>
      </p:pic>
      <p:pic>
        <p:nvPicPr>
          <p:cNvPr id="15" name="Image 4" descr="gen-dedup-8722f4637b069823853e1c8eaf8a23fb.png">    </p:cNvPr>
          <p:cNvPicPr>
            <a:picLocks noChangeAspect="1"/>
          </p:cNvPicPr>
          <p:nvPr/>
        </p:nvPicPr>
        <p:blipFill>
          <a:blip r:embed="rId5"/>
          <a:srcRect l="0" r="0" t="-201" b="-201"/>
          <a:stretch/>
        </p:blipFill>
        <p:spPr>
          <a:xfrm>
            <a:off x="7619695" y="3810305"/>
            <a:ext cx="75895" cy="1714500"/>
          </a:xfrm>
          <a:prstGeom prst="rect">
            <a:avLst/>
          </a:prstGeom>
        </p:spPr>
      </p:pic>
      <p:pic>
        <p:nvPicPr>
          <p:cNvPr id="16" name="Image 5" descr="gen-dedup-cdd294919c1cfc576050fbd32cf42ef1.png">    </p:cNvPr>
          <p:cNvPicPr>
            <a:picLocks noChangeAspect="1"/>
          </p:cNvPicPr>
          <p:nvPr/>
        </p:nvPicPr>
        <p:blipFill>
          <a:blip r:embed="rId6"/>
          <a:srcRect l="0" r="0" t="-401" b="-401"/>
          <a:stretch/>
        </p:blipFill>
        <p:spPr>
          <a:xfrm>
            <a:off x="857707" y="8115300"/>
            <a:ext cx="12191695" cy="19202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1143000" y="7334402"/>
            <a:ext cx="1524305" cy="761695"/>
          </a:xfrm>
          <a:prstGeom prst="rect">
            <a:avLst/>
          </a:prstGeom>
          <a:solidFill>
            <a:srgbClr val="3D35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0"/>
          <p:cNvSpPr/>
          <p:nvPr/>
        </p:nvSpPr>
        <p:spPr>
          <a:xfrm>
            <a:off x="3010205" y="6953098"/>
            <a:ext cx="1524305" cy="1143000"/>
          </a:xfrm>
          <a:prstGeom prst="rect">
            <a:avLst/>
          </a:prstGeom>
          <a:solidFill>
            <a:srgbClr val="2F6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4876495" y="6476695"/>
            <a:ext cx="1524305" cy="1619402"/>
          </a:xfrm>
          <a:prstGeom prst="rect">
            <a:avLst/>
          </a:prstGeom>
          <a:solidFill>
            <a:srgbClr val="B58A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6743700" y="6096305"/>
            <a:ext cx="1524305" cy="2000707"/>
          </a:xfrm>
          <a:prstGeom prst="rect">
            <a:avLst/>
          </a:prstGeom>
          <a:solidFill>
            <a:srgbClr val="B655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8610905" y="6096305"/>
            <a:ext cx="1524305" cy="2000707"/>
          </a:xfrm>
          <a:prstGeom prst="rect">
            <a:avLst/>
          </a:prstGeom>
          <a:solidFill>
            <a:srgbClr val="2F6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10477195" y="6096305"/>
            <a:ext cx="2286000" cy="2000707"/>
          </a:xfrm>
          <a:prstGeom prst="rect">
            <a:avLst/>
          </a:prstGeom>
          <a:solidFill>
            <a:srgbClr val="E7DEC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6" descr="gen-dedup-aab55fce02e483a3ebd7b4e2617bc01b.png">    </p:cNvPr>
          <p:cNvPicPr>
            <a:picLocks noChangeAspect="1"/>
          </p:cNvPicPr>
          <p:nvPr/>
        </p:nvPicPr>
        <p:blipFill>
          <a:blip r:embed="rId7"/>
          <a:srcRect l="0" r="0" t="-404" b="-404"/>
          <a:stretch/>
        </p:blipFill>
        <p:spPr>
          <a:xfrm>
            <a:off x="13430707" y="5810098"/>
            <a:ext cx="4190695" cy="5760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43000" y="914400"/>
            <a:ext cx="6096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B58A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패터닝·집적</a:t>
            </a:r>
            <a:endParaRPr lang="en-US" sz="2400" dirty="0"/>
          </a:p>
        </p:txBody>
      </p:sp>
      <p:sp>
        <p:nvSpPr>
          <p:cNvPr id="25" name="Text 16"/>
          <p:cNvSpPr txBox="1"/>
          <p:nvPr/>
        </p:nvSpPr>
        <p:spPr>
          <a:xfrm>
            <a:off x="1143000" y="1390802"/>
            <a:ext cx="60963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다마신을 버리고</a:t>
            </a:r>
            <a:endParaRPr lang="en-US" sz="3450" dirty="0"/>
          </a:p>
        </p:txBody>
      </p:sp>
      <p:sp>
        <p:nvSpPr>
          <p:cNvPr id="26" name="Text 17"/>
          <p:cNvSpPr txBox="1"/>
          <p:nvPr/>
        </p:nvSpPr>
        <p:spPr>
          <a:xfrm>
            <a:off x="1143000" y="1907438"/>
            <a:ext cx="6096305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금속을 직접 깎는다</a:t>
            </a:r>
            <a:endParaRPr lang="en-US" sz="3450" dirty="0"/>
          </a:p>
        </p:txBody>
      </p:sp>
      <p:sp>
        <p:nvSpPr>
          <p:cNvPr id="27" name="Text 18"/>
          <p:cNvSpPr txBox="1"/>
          <p:nvPr/>
        </p:nvSpPr>
        <p:spPr>
          <a:xfrm>
            <a:off x="7619695" y="3124505"/>
            <a:ext cx="100017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D8CCB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Interconnect chapter · Springer Nature · 2025</a:t>
            </a:r>
            <a:endParaRPr lang="en-US" sz="900" dirty="0"/>
          </a:p>
        </p:txBody>
      </p:sp>
      <p:sp>
        <p:nvSpPr>
          <p:cNvPr id="28" name="Text 19"/>
          <p:cNvSpPr txBox="1"/>
          <p:nvPr/>
        </p:nvSpPr>
        <p:spPr>
          <a:xfrm>
            <a:off x="1047902" y="4095598"/>
            <a:ext cx="6096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semi-damascene은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1047902" y="4419295"/>
            <a:ext cx="6096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도랑을 파고 금속을 채우는 대신</a:t>
            </a:r>
            <a:endParaRPr lang="en-US" sz="1500" dirty="0"/>
          </a:p>
        </p:txBody>
      </p:sp>
      <p:sp>
        <p:nvSpPr>
          <p:cNvPr id="30" name="Text 21"/>
          <p:cNvSpPr txBox="1"/>
          <p:nvPr/>
        </p:nvSpPr>
        <p:spPr>
          <a:xfrm>
            <a:off x="1047902" y="4743907"/>
            <a:ext cx="6096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금속을 먼저 깔고 직접 에칭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1047902" y="5067605"/>
            <a:ext cx="6096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합니다.</a:t>
            </a:r>
            <a:endParaRPr lang="en-US" sz="1500" dirty="0"/>
          </a:p>
        </p:txBody>
      </p:sp>
      <p:sp>
        <p:nvSpPr>
          <p:cNvPr id="32" name="Text 23"/>
          <p:cNvSpPr txBox="1"/>
          <p:nvPr/>
        </p:nvSpPr>
        <p:spPr>
          <a:xfrm>
            <a:off x="8001000" y="4095598"/>
            <a:ext cx="93351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그 결과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8001000" y="4419295"/>
            <a:ext cx="9335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배리어가 필요 없고,</a:t>
            </a:r>
            <a:endParaRPr lang="en-US" sz="1650" dirty="0"/>
          </a:p>
        </p:txBody>
      </p:sp>
      <p:sp>
        <p:nvSpPr>
          <p:cNvPr id="34" name="Text 25"/>
          <p:cNvSpPr txBox="1"/>
          <p:nvPr/>
        </p:nvSpPr>
        <p:spPr>
          <a:xfrm>
            <a:off x="8001000" y="4761281"/>
            <a:ext cx="9335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C1A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CMP가 제한하던 종횡비(AR)를 </a:t>
            </a:r>
            <a:pPr algn="l" indent="0" marL="0">
              <a:buNone/>
            </a:pPr>
            <a:r>
              <a:rPr lang="en-US" sz="1650" b="1" dirty="0">
                <a:solidFill>
                  <a:srgbClr val="B655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올릴 수 있습니다.</a:t>
            </a:r>
            <a:endParaRPr lang="en-US" sz="1650" dirty="0"/>
          </a:p>
        </p:txBody>
      </p:sp>
      <p:sp>
        <p:nvSpPr>
          <p:cNvPr id="35" name="Text 26"/>
          <p:cNvSpPr txBox="1"/>
          <p:nvPr/>
        </p:nvSpPr>
        <p:spPr>
          <a:xfrm>
            <a:off x="952805" y="601949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D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기존 Cu 다마신 선의</a:t>
            </a:r>
            <a:endParaRPr lang="en-US" sz="1350" dirty="0"/>
          </a:p>
        </p:txBody>
      </p:sp>
      <p:sp>
        <p:nvSpPr>
          <p:cNvPr id="36" name="Text 27"/>
          <p:cNvSpPr txBox="1"/>
          <p:nvPr/>
        </p:nvSpPr>
        <p:spPr>
          <a:xfrm>
            <a:off x="952805" y="6259982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D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AR은 대략 1.6,</a:t>
            </a:r>
            <a:endParaRPr lang="en-US" sz="1350" dirty="0"/>
          </a:p>
        </p:txBody>
      </p:sp>
      <p:sp>
        <p:nvSpPr>
          <p:cNvPr id="37" name="Text 28"/>
          <p:cNvSpPr txBox="1"/>
          <p:nvPr/>
        </p:nvSpPr>
        <p:spPr>
          <a:xfrm>
            <a:off x="952805" y="6515100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8CC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semi-damascene은 1세대 2</a:t>
            </a:r>
            <a:endParaRPr lang="en-US" sz="1350" dirty="0"/>
          </a:p>
        </p:txBody>
      </p:sp>
      <p:sp>
        <p:nvSpPr>
          <p:cNvPr id="38" name="Text 29"/>
          <p:cNvSpPr txBox="1"/>
          <p:nvPr/>
        </p:nvSpPr>
        <p:spPr>
          <a:xfrm>
            <a:off x="952805" y="6754673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8CC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2세대 3 → 이후 4, 5, 6으로</a:t>
            </a:r>
            <a:endParaRPr lang="en-US" sz="1350" dirty="0"/>
          </a:p>
        </p:txBody>
      </p:sp>
      <p:sp>
        <p:nvSpPr>
          <p:cNvPr id="39" name="Text 30"/>
          <p:cNvSpPr txBox="1"/>
          <p:nvPr/>
        </p:nvSpPr>
        <p:spPr>
          <a:xfrm>
            <a:off x="952805" y="7029907"/>
            <a:ext cx="53346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B58A3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5세대 로드맵입니다.</a:t>
            </a:r>
            <a:endParaRPr lang="en-US" sz="1650" dirty="0"/>
          </a:p>
        </p:txBody>
      </p:sp>
      <p:sp>
        <p:nvSpPr>
          <p:cNvPr id="40" name="Text 31"/>
          <p:cNvSpPr txBox="1"/>
          <p:nvPr/>
        </p:nvSpPr>
        <p:spPr>
          <a:xfrm>
            <a:off x="1143000" y="7334402"/>
            <a:ext cx="15243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50" spc="-57" kern="0" dirty="0">
                <a:solidFill>
                  <a:srgbClr val="D8CC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1.6</a:t>
            </a:r>
            <a:endParaRPr lang="en-US" sz="2850" dirty="0"/>
          </a:p>
        </p:txBody>
      </p:sp>
      <p:sp>
        <p:nvSpPr>
          <p:cNvPr id="41" name="Text 32"/>
          <p:cNvSpPr txBox="1"/>
          <p:nvPr/>
        </p:nvSpPr>
        <p:spPr>
          <a:xfrm>
            <a:off x="1143000" y="7791602"/>
            <a:ext cx="1524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25" spc="132" kern="0" dirty="0">
                <a:solidFill>
                  <a:srgbClr val="A99B8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DAMASCENE</a:t>
            </a:r>
            <a:endParaRPr lang="en-US" sz="825" dirty="0"/>
          </a:p>
        </p:txBody>
      </p:sp>
      <p:sp>
        <p:nvSpPr>
          <p:cNvPr id="42" name="Text 33"/>
          <p:cNvSpPr txBox="1"/>
          <p:nvPr/>
        </p:nvSpPr>
        <p:spPr>
          <a:xfrm>
            <a:off x="3010205" y="6953098"/>
            <a:ext cx="1524305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50" spc="-122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4050" dirty="0"/>
          </a:p>
        </p:txBody>
      </p:sp>
      <p:sp>
        <p:nvSpPr>
          <p:cNvPr id="43" name="Text 34"/>
          <p:cNvSpPr txBox="1"/>
          <p:nvPr/>
        </p:nvSpPr>
        <p:spPr>
          <a:xfrm>
            <a:off x="3010205" y="7696505"/>
            <a:ext cx="15243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44" kern="0" dirty="0">
                <a:solidFill>
                  <a:srgbClr val="A9C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1세대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4876495" y="6476695"/>
            <a:ext cx="1524305" cy="10104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spc="-144" kern="0" dirty="0">
                <a:solidFill>
                  <a:srgbClr val="1C1A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4800" dirty="0"/>
          </a:p>
        </p:txBody>
      </p:sp>
      <p:sp>
        <p:nvSpPr>
          <p:cNvPr id="45" name="Text 36"/>
          <p:cNvSpPr txBox="1"/>
          <p:nvPr/>
        </p:nvSpPr>
        <p:spPr>
          <a:xfrm>
            <a:off x="4876495" y="7487107"/>
            <a:ext cx="1524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44" kern="0" dirty="0">
                <a:solidFill>
                  <a:srgbClr val="3D2E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2세대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6743700" y="6096305"/>
            <a:ext cx="1524305" cy="1181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100" spc="-153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5100" dirty="0"/>
          </a:p>
        </p:txBody>
      </p:sp>
      <p:sp>
        <p:nvSpPr>
          <p:cNvPr id="47" name="Text 38"/>
          <p:cNvSpPr txBox="1"/>
          <p:nvPr/>
        </p:nvSpPr>
        <p:spPr>
          <a:xfrm>
            <a:off x="6743700" y="7276795"/>
            <a:ext cx="1524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44" kern="0" dirty="0">
                <a:solidFill>
                  <a:srgbClr val="F2D2B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이후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8610905" y="6096305"/>
            <a:ext cx="1524305" cy="1181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100" spc="-153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5100" dirty="0"/>
          </a:p>
        </p:txBody>
      </p:sp>
      <p:sp>
        <p:nvSpPr>
          <p:cNvPr id="49" name="Text 40"/>
          <p:cNvSpPr txBox="1"/>
          <p:nvPr/>
        </p:nvSpPr>
        <p:spPr>
          <a:xfrm>
            <a:off x="8610905" y="7276795"/>
            <a:ext cx="1524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spc="144" kern="0" dirty="0">
                <a:solidFill>
                  <a:srgbClr val="A9C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이후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10477195" y="6096305"/>
            <a:ext cx="2286000" cy="1334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0" spc="-264" kern="0" dirty="0">
                <a:solidFill>
                  <a:srgbClr val="1C1A1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6600" dirty="0"/>
          </a:p>
        </p:txBody>
      </p:sp>
      <p:sp>
        <p:nvSpPr>
          <p:cNvPr id="51" name="Text 42"/>
          <p:cNvSpPr txBox="1"/>
          <p:nvPr/>
        </p:nvSpPr>
        <p:spPr>
          <a:xfrm>
            <a:off x="10477195" y="7429500"/>
            <a:ext cx="228600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176" kern="0" dirty="0">
                <a:solidFill>
                  <a:srgbClr val="B655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이후</a:t>
            </a:r>
            <a:endParaRPr lang="en-US" sz="975" dirty="0"/>
          </a:p>
        </p:txBody>
      </p:sp>
      <p:sp>
        <p:nvSpPr>
          <p:cNvPr id="52" name="Text 43"/>
          <p:cNvSpPr txBox="1"/>
          <p:nvPr/>
        </p:nvSpPr>
        <p:spPr>
          <a:xfrm>
            <a:off x="13716000" y="6057900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imec은</a:t>
            </a:r>
            <a:endParaRPr lang="en-US" sz="1350" dirty="0"/>
          </a:p>
        </p:txBody>
      </p:sp>
      <p:sp>
        <p:nvSpPr>
          <p:cNvPr id="53" name="Text 44"/>
          <p:cNvSpPr txBox="1"/>
          <p:nvPr/>
        </p:nvSpPr>
        <p:spPr>
          <a:xfrm>
            <a:off x="13716000" y="6297473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AR=6 Ru 선이</a:t>
            </a:r>
            <a:endParaRPr lang="en-US" sz="1350" dirty="0"/>
          </a:p>
        </p:txBody>
      </p:sp>
      <p:sp>
        <p:nvSpPr>
          <p:cNvPr id="54" name="Text 45"/>
          <p:cNvSpPr txBox="1"/>
          <p:nvPr/>
        </p:nvSpPr>
        <p:spPr>
          <a:xfrm>
            <a:off x="13716000" y="6537960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AR=3 대비</a:t>
            </a:r>
            <a:endParaRPr lang="en-US" sz="1350" dirty="0"/>
          </a:p>
        </p:txBody>
      </p:sp>
      <p:sp>
        <p:nvSpPr>
          <p:cNvPr id="55" name="Text 46"/>
          <p:cNvSpPr txBox="1"/>
          <p:nvPr/>
        </p:nvSpPr>
        <p:spPr>
          <a:xfrm>
            <a:off x="13716000" y="6777533"/>
            <a:ext cx="36201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 저항을</a:t>
            </a:r>
            <a:endParaRPr lang="en-US" sz="1350" dirty="0"/>
          </a:p>
        </p:txBody>
      </p:sp>
      <p:sp>
        <p:nvSpPr>
          <p:cNvPr id="56" name="Text 47"/>
          <p:cNvSpPr txBox="1"/>
          <p:nvPr/>
        </p:nvSpPr>
        <p:spPr>
          <a:xfrm>
            <a:off x="13716000" y="7086600"/>
            <a:ext cx="362011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000" b="1" spc="-240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~40</a:t>
            </a:r>
            <a:pPr algn="l" indent="0" marL="0">
              <a:buNone/>
            </a:pPr>
            <a:r>
              <a:rPr lang="en-US" sz="3150" b="1" spc="-240" kern="0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%</a:t>
            </a:r>
            <a:endParaRPr lang="en-US" sz="6000" dirty="0"/>
          </a:p>
        </p:txBody>
      </p:sp>
      <p:sp>
        <p:nvSpPr>
          <p:cNvPr id="57" name="Text 48"/>
          <p:cNvSpPr txBox="1"/>
          <p:nvPr/>
        </p:nvSpPr>
        <p:spPr>
          <a:xfrm>
            <a:off x="13716000" y="7962595"/>
            <a:ext cx="36201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D2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낮춘다고 보고했습니다.</a:t>
            </a:r>
            <a:endParaRPr lang="en-US" sz="1200" dirty="0"/>
          </a:p>
        </p:txBody>
      </p:sp>
      <p:sp>
        <p:nvSpPr>
          <p:cNvPr id="58" name="Text 49"/>
          <p:cNvSpPr txBox="1"/>
          <p:nvPr/>
        </p:nvSpPr>
        <p:spPr>
          <a:xfrm>
            <a:off x="3524098" y="8762695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7D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 nm 피치 Cu</a:t>
            </a:r>
            <a:endParaRPr lang="en-US" sz="1125" dirty="0"/>
          </a:p>
        </p:txBody>
      </p:sp>
      <p:sp>
        <p:nvSpPr>
          <p:cNvPr id="59" name="Text 50"/>
          <p:cNvSpPr txBox="1"/>
          <p:nvPr/>
        </p:nvSpPr>
        <p:spPr>
          <a:xfrm>
            <a:off x="3524098" y="8962949"/>
            <a:ext cx="3620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7D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dual-damascene 단면</a:t>
            </a:r>
            <a:endParaRPr lang="en-US" sz="1125" dirty="0"/>
          </a:p>
        </p:txBody>
      </p:sp>
      <p:sp>
        <p:nvSpPr>
          <p:cNvPr id="60" name="Text 51"/>
          <p:cNvSpPr txBox="1"/>
          <p:nvPr/>
        </p:nvSpPr>
        <p:spPr>
          <a:xfrm>
            <a:off x="666598" y="9810598"/>
            <a:ext cx="6667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6F6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56 nm pitch Cu dual-damascene · ScienceDirect · 2012</a:t>
            </a:r>
            <a:endParaRPr lang="en-US" sz="825" dirty="0"/>
          </a:p>
        </p:txBody>
      </p:sp>
      <p:sp>
        <p:nvSpPr>
          <p:cNvPr id="61" name="Text 52"/>
          <p:cNvSpPr txBox="1"/>
          <p:nvPr/>
        </p:nvSpPr>
        <p:spPr>
          <a:xfrm>
            <a:off x="8001000" y="8744407"/>
            <a:ext cx="8382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7DEC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 nm </a:t>
            </a:r>
            <a:pPr algn="l" indent="0" marL="0">
              <a:buNone/>
            </a:pPr>
            <a:r>
              <a:rPr lang="en-US" sz="1350" b="1" dirty="0">
                <a:solidFill>
                  <a:srgbClr val="D8CCB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피치 ·</a:t>
            </a:r>
            <a:endParaRPr lang="en-US" sz="2400" dirty="0"/>
          </a:p>
        </p:txBody>
      </p:sp>
      <p:sp>
        <p:nvSpPr>
          <p:cNvPr id="62" name="Text 53"/>
          <p:cNvSpPr txBox="1"/>
          <p:nvPr/>
        </p:nvSpPr>
        <p:spPr>
          <a:xfrm>
            <a:off x="8001000" y="9140342"/>
            <a:ext cx="8382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E7D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2소재 완전 자기정렬 비아</a:t>
            </a:r>
            <a:endParaRPr lang="en-US" sz="1650" dirty="0"/>
          </a:p>
        </p:txBody>
      </p:sp>
      <p:sp>
        <p:nvSpPr>
          <p:cNvPr id="63" name="Text 54"/>
          <p:cNvSpPr txBox="1"/>
          <p:nvPr/>
        </p:nvSpPr>
        <p:spPr>
          <a:xfrm>
            <a:off x="8001000" y="9696298"/>
            <a:ext cx="8382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37" kern="0" dirty="0">
                <a:solidFill>
                  <a:srgbClr val="C994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Murdoch, VLSI 2022</a:t>
            </a:r>
            <a:endParaRPr lang="en-US" sz="975" dirty="0"/>
          </a:p>
        </p:txBody>
      </p:sp>
      <p:pic>
        <p:nvPicPr>
          <p:cNvPr id="64" name="Image 7" descr="gen-dedup-edb05c67fcb9519f3202cfc20de4d185.png">    </p:cNvPr>
          <p:cNvPicPr>
            <a:picLocks noChangeAspect="1"/>
          </p:cNvPicPr>
          <p:nvPr/>
        </p:nvPicPr>
        <p:blipFill>
          <a:blip r:embed="rId8"/>
          <a:srcRect l="0" r="0" t="-390" b="-390"/>
          <a:stretch/>
        </p:blipFill>
        <p:spPr>
          <a:xfrm>
            <a:off x="1143000" y="7295998"/>
            <a:ext cx="1524305" cy="384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2026-10-03T16:47:13Z</dcterms:created>
  <dcterms:modified xsi:type="dcterms:W3CDTF">2026-10-03T16:47:13Z</dcterms:modified>
</cp:coreProperties>
</file>