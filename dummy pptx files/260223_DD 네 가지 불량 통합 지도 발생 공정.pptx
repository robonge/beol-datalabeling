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70e799c4-a0a8-6838-7ed7-007e4d7abf38}">
          <p14:sldIdLst>
            <p14:sldId id="256"/>
          </p14:sldIdLst>
        </p14:section>
        <p14:section name="하드마스크·Metal Short" id="{1e846bd3-eb0b-51fe-56b0-a744774a4b62}">
          <p14:sldIdLst>
            <p14:sldId id="257"/>
          </p14:sldIdLst>
        </p14:section>
        <p14:section name="unCMP" id="{5d65d414-ddb9-086a-1db1-1ed309e94861}">
          <p14:sldIdLst>
            <p14:sldId id="258"/>
          </p14:sldIdLst>
        </p14:section>
        <p14:section name="overCMP" id="{a9aaf4f6-e98b-eb1d-b036-0f1bc62a988e}">
          <p14:sldIdLst>
            <p14:sldId id="259"/>
          </p14:sldIdLst>
        </p14:section>
        <p14:section name="비아 챔퍼" id="{54eaf262-6b97-7d9b-0bf4-b604fdbc50ef}">
          <p14:sldIdLst>
            <p14:sldId id="260"/>
          </p14:sldIdLst>
        </p14:section>
        <p14:section name="복구·차세대" id="{1b5cd4dd-48b1-ebec-44c2-64ccb02b5427}">
          <p14:sldIdLst>
            <p14:sldId id="261"/>
          </p14:sldIdLst>
        </p14:section>
        <p14:section name="일정" id="{9d804ecb-f751-c35b-1487-e9d414a5efe2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통합 · 불량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 DD 네 가지 불량 기전 · 발생 공정·결과·영향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711135" cy="914400"/>
        </p:xfrm>
        <a:graphic>
          <a:graphicData uri="http://schemas.openxmlformats.org/drawingml/2006/table">
            <a:tbl>
              <a:tblPr/>
              <a:tblGrid>
                <a:gridCol w="1927555"/>
                <a:gridCol w="1377086"/>
                <a:gridCol w="2478938"/>
                <a:gridCol w="19275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결함 유형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발생 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직접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신뢰성 파급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하드마스크 고갈 /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트렌치·비아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CD 확장,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TDDB TTF 수십 배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unCMP 잔류물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Cu/배리어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Cu·TaN 잔류 → 횡방향 누설·단락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WAT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overCMP Dishing /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과연마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단면적 감소 → 선저항 +10–20%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J↑·줄 발열 → EM MTTF 급감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트렌치 과식각 (VFTL)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PVD 오버행 → 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Open, 배리어 단절 → 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dd_flow_schemat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16292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34095" y="2955175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DD 패터닝 흐름 (VIA-FIRST / TRENCH-FIRST) — 참고 도식, CC BY ELECTRONICS 2022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식각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MHM 침식·펀치스루, 챔퍼 무너짐.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338218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연마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unCMP 잔류, overCMP Dishing/Erosion.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19237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대응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HMDS·ALD 라이너·에어갭 → Semi-DD·BSPDN.</a:t>
            </a:r>
            <a:endParaRPr lang="en-US" sz="105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하드마스크 마모 · 결과 정리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2083003"/>
                <a:gridCol w="4464101"/>
                <a:gridCol w="104150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평가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손상 구조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Comb 간 누설 전류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정상 대비 수백 배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브릿지 저항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설계 스펙 이탈, 최악 Hard Short (수율 0%)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온전 구조 대비 수십 배 단축 (Cu⁺ 드리프트 가속)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단면 (ARDE)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좁은 패턴일수록 Shoulder 침식 심화, Defect adder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하드마스크 두께 마진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누설 억제·신뢰성의 최우선 선결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수백 배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64208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Comb 누설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993392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8E72"/>
                </a:solidFill>
              </a:rPr>
              <a:t>수십 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37744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TTF 단축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98064"/>
            <a:ext cx="3367735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대응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unCMP · 대응 옵션과 트레이드오프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2396642"/>
                <a:gridCol w="2796235"/>
                <a:gridCol w="239664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surface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1787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50458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표면 SEM (열처리 전/후, 산화·입자) — 잔류물·표면 상태 참고, CC BY MATERIALS 2020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861203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결과 정리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190387"/>
            <a:ext cx="3367735" cy="1975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unCMP 단락 방지와 overCMP 저항 증가 사이의 트레이드오프 · CMP는 매우 좁은 공정 창에서 제어되어야 함.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BLACK'S EQUATION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overCMP → 단면적 감소 → EM 가속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MTTF = A · J⁻ⁿ · exp(Ea / kB·T)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47649"/>
                <a:gridCol w="2712110"/>
                <a:gridCol w="33896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overCMP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재료·구조 상수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J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전류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단면적↓ → J↑ (1차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전류 밀도 지수 (1–2, Void 성장)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원자 확산 활성화 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줄 발열로 쉽게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절대 온도 (지수항)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미세 상승이 수명 수십 배 단축 (2차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0" y="2103120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해석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450592"/>
            <a:ext cx="396209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5440680"/>
            <a:ext cx="6949440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51383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비아 챔퍼 붕괴 · 도미노 스텝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em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8253" y="1280160"/>
            <a:ext cx="3164750" cy="2103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3429000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 시험 후 CU 배선 VOID·박리 단면 SEM — 유사 결함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3785616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평가·결과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4114800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TEM/EDX: Ta 두께, Cu Recess 정량.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HTOL/EM: 수십 h 후 Recess 2–3배.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TDDB: 챔퍼 경유 Cu⁺ 드리프트 (E/E² 모델).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챔퍼 붕괴는 Void(Open)와 배리어 단절(TDDB) 두 경로로 동시에 수명을 깎는 도미노 기전.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복구·차세대 기술 · 개선 기전과 한계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3383280"/>
                <a:gridCol w="3383280"/>
                <a:gridCol w="263164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적용 기술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주요 개선 메커니즘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신뢰성 효과 (EM / TDDB)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적용상 한계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HMDS 실릴화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Si-OH → 소수성 트리메틸기 치환, 기공 밀봉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누설 감소, TDDB TTF 대폭 증가, 접촉각 80° 이상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침투 깊이 한계 → 벌크 복구 불완전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ALD Ru 라이너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Ta → Ru 대체, Cu 체적 극대화, Seedless 도금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저항 급감, 오버행/Pinch-off 방지 → Void 억제, EM 연장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Ru–Cu 계면 스캐터링 저항 상승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에어 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절연막 일부 제거 → k = 1.0 공기층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기생 C 17–20% 감소, 신호 지연 개선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기계적 강도↓, 갭 지붕 불안정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832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Semi-Damascene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30752"/>
            <a:ext cx="545576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CMP 완전 배제 → unCMP 단락, overCMP Dishing/Erosion·저항 증가 원천 제거.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278728" y="33832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BSPDN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3730752"/>
            <a:ext cx="545576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신호·전력선을 전면 BEOL에 모두 넣던 방식에서 탈피 — nTSV로 후면에서 직접 전력 공급.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전면 배선층 라우팅 혼잡·패턴 밀도 불균형 해소 → CMP 국부 압력 분산 → 평탄도 극대화.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통합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DD 불량 평가 통합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mp16_post_et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415" y="1280160"/>
            <a:ext cx="2926080" cy="20952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08415" y="342109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피치 RU 선 에칭 후 TEM —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790624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755648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Split 설계·웨이퍼 배정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596896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하드마스크 FTIR/XPS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85216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3438144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ECP·CMP 베이스라인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85216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522144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522144" y="1627632"/>
            <a:ext cx="1790624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22144" y="1755648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50160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Comb-Serpentine WAT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650160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522144" y="2596896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50160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EBAC 국소화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2650160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22144" y="3438144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650160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비아 TEM/EDX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650160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587088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87088" y="1627632"/>
            <a:ext cx="1790624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87088" y="1755648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715104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Dishing/Erosion AFM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715104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87088" y="2596896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15104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HMDS 접촉각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4715104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6652031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4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652031" y="1627632"/>
            <a:ext cx="1790624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652031" y="1755648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80047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TDDB 1000 h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780047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52031" y="2596896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80047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HTOL/EM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6780047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652031" y="3438144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780047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Dummy Fill 재설계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780047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652031" y="4279392"/>
            <a:ext cx="179062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780047" y="4352544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판정 보고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6780047" y="4736592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5760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TDDB·HTOL/EM은 장기 항목 — W10 판정 보고는 중간 데이터 기준.</a:t>
            </a:r>
            <a:endParaRPr lang="en-US" sz="900" dirty="0"/>
          </a:p>
        </p:txBody>
      </p:sp>
      <p:sp>
        <p:nvSpPr>
          <p:cNvPr id="5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Coral">
  <a:themeElements>
    <a:clrScheme name="Turquoise DS ink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D9FF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DD Four Defects Integrated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