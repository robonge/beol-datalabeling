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562bf4ca6ba4f9438f8353fe65a05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29500" y="2857500"/>
            <a:ext cx="9734702" cy="5410505"/>
          </a:xfrm>
          <a:prstGeom prst="roundRect">
            <a:avLst>
              <a:gd name="adj" fmla="val 106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4FE3D6">
                <a:alpha val="18000"/>
              </a:srgbClr>
            </a:solidFill>
            <a:prstDash val="solid"/>
          </a:ln>
        </p:spPr>
      </p:sp>
      <p:pic>
        <p:nvPicPr>
          <p:cNvPr id="4" name="Image 1" descr="gen-dedup-c93fb39b06c21b2ccddec1e75f3363e9.png">    </p:cNvPr>
          <p:cNvPicPr>
            <a:picLocks noChangeAspect="1"/>
          </p:cNvPicPr>
          <p:nvPr/>
        </p:nvPicPr>
        <p:blipFill>
          <a:blip r:embed="rId2"/>
          <a:srcRect l="-422" r="-422" t="0" b="0"/>
          <a:stretch/>
        </p:blipFill>
        <p:spPr>
          <a:xfrm>
            <a:off x="1218895" y="2361895"/>
            <a:ext cx="838505" cy="28346"/>
          </a:xfrm>
          <a:prstGeom prst="rect">
            <a:avLst/>
          </a:prstGeom>
        </p:spPr>
      </p:pic>
      <p:pic>
        <p:nvPicPr>
          <p:cNvPr id="5" name="Image 2" descr="gen-dedup-541f47f6c2dc27185c837af91b0f03de.jpg">    </p:cNvPr>
          <p:cNvPicPr>
            <a:picLocks noChangeAspect="1"/>
          </p:cNvPicPr>
          <p:nvPr/>
        </p:nvPicPr>
        <p:blipFill>
          <a:blip r:embed="rId3"/>
          <a:srcRect l="0" r="0" t="17" b="17"/>
          <a:stretch/>
        </p:blipFill>
        <p:spPr>
          <a:xfrm>
            <a:off x="7524598" y="2905049"/>
            <a:ext cx="9525305" cy="529620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18895" y="9144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86" kern="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CALCULATED PHASE · 01 / 03</a:t>
            </a:r>
            <a:endParaRPr lang="en-US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1218895" y="1410005"/>
            <a:ext cx="15811805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 세라믹: 이론상 Cu보다 5–11배 좋은 지표</a:t>
            </a:r>
            <a:endParaRPr lang="en-US" sz="4500" dirty="0"/>
          </a:p>
        </p:txBody>
      </p:sp>
      <p:sp>
        <p:nvSpPr>
          <p:cNvPr id="8" name="Text 3"/>
          <p:cNvSpPr txBox="1"/>
          <p:nvPr/>
        </p:nvSpPr>
        <p:spPr>
          <a:xfrm>
            <a:off x="1218895" y="2857500"/>
            <a:ext cx="5143500" cy="190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750" kern="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11×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1218895" y="4953305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β-Ti₄InN₃ · Cu 대비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218895" y="5419649"/>
            <a:ext cx="51435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0.6×10⁻¹⁶ Ω·m²</a:t>
            </a:r>
            <a:endParaRPr lang="en-US" sz="2250" dirty="0"/>
          </a:p>
        </p:txBody>
      </p:sp>
      <p:sp>
        <p:nvSpPr>
          <p:cNvPr id="11" name="Text 6"/>
          <p:cNvSpPr txBox="1"/>
          <p:nvPr/>
        </p:nvSpPr>
        <p:spPr>
          <a:xfrm>
            <a:off x="7429500" y="8343900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Ti₃SiC₂ MAX phase microstructure (TEM) · 출처 Springer / JMEP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218895" y="5810098"/>
            <a:ext cx="60963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Sankaran은 MAX 상 170개를 전자구조 계산으로 걸렀고, 그중 69개 안정상이 Cu보다 높은 응집에너지와 낮은 ρ₀·λ를 동시에 가졌으며, 24개는 Ru보다도 좋았습니다.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218895" y="7905902"/>
            <a:ext cx="6096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Moors는 비등방성 금속을 스칼라 ρ₀λ로 줄이면 잘못된 순위가 나온다고 보고 — 유한온도 수송 텐서를 제안했습니다.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1218895" y="9506102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B5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다만 이들은 아직 박막 증착·에칭 실증이 없는 계산 단계입니다.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6097098" y="9924898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/ 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02f419ece9bcf7257d2e1e7c22811a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8895" y="2819095"/>
            <a:ext cx="10306202" cy="4153205"/>
          </a:xfrm>
          <a:prstGeom prst="roundRect">
            <a:avLst>
              <a:gd name="adj" fmla="val 138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5C8F">
                <a:alpha val="2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848795" y="5333695"/>
            <a:ext cx="5315407" cy="1447495"/>
          </a:xfrm>
          <a:prstGeom prst="roundRect">
            <a:avLst>
              <a:gd name="adj" fmla="val 398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4FE3D6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48795" y="6953098"/>
            <a:ext cx="5315407" cy="1447495"/>
          </a:xfrm>
          <a:prstGeom prst="roundRect">
            <a:avLst>
              <a:gd name="adj" fmla="val 398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5C8F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8895" y="7905902"/>
            <a:ext cx="10306202" cy="1638605"/>
          </a:xfrm>
          <a:prstGeom prst="roundRect">
            <a:avLst>
              <a:gd name="adj" fmla="val 351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B547">
                <a:alpha val="28000"/>
              </a:srgbClr>
            </a:solidFill>
            <a:prstDash val="solid"/>
          </a:ln>
        </p:spPr>
      </p:sp>
      <p:pic>
        <p:nvPicPr>
          <p:cNvPr id="7" name="Image 1" descr="gen-dedup-6c0ffdd2f0a5370b5d4e34cabaa31d61.png">    </p:cNvPr>
          <p:cNvPicPr>
            <a:picLocks noChangeAspect="1"/>
          </p:cNvPicPr>
          <p:nvPr/>
        </p:nvPicPr>
        <p:blipFill>
          <a:blip r:embed="rId2"/>
          <a:srcRect l="-422" r="-422" t="0" b="0"/>
          <a:stretch/>
        </p:blipFill>
        <p:spPr>
          <a:xfrm>
            <a:off x="1218895" y="2286000"/>
            <a:ext cx="838505" cy="28346"/>
          </a:xfrm>
          <a:prstGeom prst="rect">
            <a:avLst/>
          </a:prstGeom>
        </p:spPr>
      </p:pic>
      <p:pic>
        <p:nvPicPr>
          <p:cNvPr id="8" name="Image 2" descr="gen-dedup-e4bc26cac8762c94b2bc75b57fea8f69.jpg">    </p:cNvPr>
          <p:cNvPicPr>
            <a:picLocks noChangeAspect="1"/>
          </p:cNvPicPr>
          <p:nvPr/>
        </p:nvPicPr>
        <p:blipFill>
          <a:blip r:embed="rId3"/>
          <a:srcRect l="0" r="0" t="1099" b="1099"/>
          <a:stretch/>
        </p:blipFill>
        <p:spPr>
          <a:xfrm>
            <a:off x="1314907" y="2915107"/>
            <a:ext cx="10096805" cy="39438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18895" y="9144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86" kern="0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THERMAL FAILURE · 02 / 03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1218895" y="1410005"/>
            <a:ext cx="1428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Ru의 복병: 열처리가 선을 원통형으로 만든다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1218895" y="7048195"/>
            <a:ext cx="10287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 BEOL interconnect · 출처 imec / semi-damascene path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1848795" y="2819095"/>
            <a:ext cx="52962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18–22 nm 피치 Ru 배선을 300 mm 웨이퍼에서 열처리했더니 </a:t>
            </a:r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B5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선 저항이 10% 떨어지면서 시단면이 원통형으로 변형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(cylinderization)하고, 웨이퍼 전역에서 다중 단락이 나타났습니다.</a:t>
            </a:r>
            <a:endParaRPr lang="en-US" sz="1800" dirty="0"/>
          </a:p>
        </p:txBody>
      </p:sp>
      <p:pic>
        <p:nvPicPr>
          <p:cNvPr id="13" name="Image 3" descr="gen-dedup-2531ce84dc0d51201241b110a8fa9adc.jpg">    </p:cNvPr>
          <p:cNvPicPr>
            <a:picLocks noChangeAspect="1"/>
          </p:cNvPicPr>
          <p:nvPr/>
        </p:nvPicPr>
        <p:blipFill>
          <a:blip r:embed="rId4"/>
          <a:srcRect l="147" r="147" t="0" b="0"/>
          <a:stretch/>
        </p:blipFill>
        <p:spPr>
          <a:xfrm>
            <a:off x="15240305" y="2819095"/>
            <a:ext cx="1923898" cy="11622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240305" y="4019702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출처 Semantic Scholar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12115800" y="5524805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420 °C 확산계수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2115800" y="5886907"/>
            <a:ext cx="476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1.83×10⁻⁴³ m²/s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12115800" y="7144207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nm 무배리어 Ru 전자이동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2115800" y="7505395"/>
            <a:ext cx="476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MA/cm² </a:t>
            </a:r>
            <a:pPr algn="l" indent="0" marL="0">
              <a:buNone/>
            </a:pPr>
            <a:r>
              <a:rPr lang="en-US" sz="1500" b="1" spc="-24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초과 · 무고장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1524305" y="8115300"/>
            <a:ext cx="9620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 장배선 활성화에너지 (라이너별)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524305" y="8496605"/>
            <a:ext cx="9620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TaN/Co 0.84 · 1.02–1.05 eV · </a:t>
            </a:r>
            <a:pPr algn="l" indent="0" marL="0">
              <a:buNone/>
            </a:pPr>
            <a:r>
              <a:rPr lang="en-US" sz="1800" b="1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TaN/Ru 0.94–0.98 eV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6097098" y="9810598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/ 03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79388f91f28c28fda681d7aca0c924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7f6dae2493629228cddc34076907be9d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9239098" y="7905902"/>
            <a:ext cx="9144" cy="180959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218895" y="2743200"/>
            <a:ext cx="10306202" cy="4401007"/>
          </a:xfrm>
          <a:prstGeom prst="roundRect">
            <a:avLst>
              <a:gd name="adj" fmla="val 130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4FE3D6">
                <a:alpha val="18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848795" y="2743200"/>
            <a:ext cx="5315407" cy="4352544"/>
          </a:xfrm>
          <a:prstGeom prst="roundRect">
            <a:avLst>
              <a:gd name="adj" fmla="val 132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B547">
                <a:alpha val="2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525305" y="8268005"/>
            <a:ext cx="1524305" cy="228600"/>
          </a:xfrm>
          <a:prstGeom prst="roundRect">
            <a:avLst>
              <a:gd name="adj" fmla="val 8400"/>
            </a:avLst>
          </a:prstGeom>
          <a:solidFill>
            <a:srgbClr val="8FA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20c89f1a1f3ff853eae88d69bd10172b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9525305" y="8667598"/>
            <a:ext cx="1904695" cy="228600"/>
          </a:xfrm>
          <a:prstGeom prst="rect">
            <a:avLst/>
          </a:prstGeom>
        </p:spPr>
      </p:pic>
      <p:pic>
        <p:nvPicPr>
          <p:cNvPr id="8" name="Image 3" descr="gen-dedup-c93fb39b06c21b2ccddec1e75f3363e9.png">    </p:cNvPr>
          <p:cNvPicPr>
            <a:picLocks noChangeAspect="1"/>
          </p:cNvPicPr>
          <p:nvPr/>
        </p:nvPicPr>
        <p:blipFill>
          <a:blip r:embed="rId4"/>
          <a:srcRect l="-422" r="-422" t="0" b="0"/>
          <a:stretch/>
        </p:blipFill>
        <p:spPr>
          <a:xfrm>
            <a:off x="1218895" y="2286000"/>
            <a:ext cx="838505" cy="28346"/>
          </a:xfrm>
          <a:prstGeom prst="rect">
            <a:avLst/>
          </a:prstGeom>
        </p:spPr>
      </p:pic>
      <p:pic>
        <p:nvPicPr>
          <p:cNvPr id="9" name="Image 4" descr="gen-dedup-9854a105be5335d998df42ad01567035.jpg">    </p:cNvPr>
          <p:cNvPicPr>
            <a:picLocks noChangeAspect="1"/>
          </p:cNvPicPr>
          <p:nvPr/>
        </p:nvPicPr>
        <p:blipFill>
          <a:blip r:embed="rId5"/>
          <a:srcRect l="0" r="0" t="1185" b="1185"/>
          <a:stretch/>
        </p:blipFill>
        <p:spPr>
          <a:xfrm>
            <a:off x="1314907" y="2838298"/>
            <a:ext cx="10096805" cy="4190695"/>
          </a:xfrm>
          <a:prstGeom prst="rect">
            <a:avLst/>
          </a:prstGeom>
        </p:spPr>
      </p:pic>
      <p:pic>
        <p:nvPicPr>
          <p:cNvPr id="10" name="Image 5" descr="gen-dedup-5bed7bae46c051f169019010b46e4481.jpg">    </p:cNvPr>
          <p:cNvPicPr>
            <a:picLocks noChangeAspect="1"/>
          </p:cNvPicPr>
          <p:nvPr/>
        </p:nvPicPr>
        <p:blipFill>
          <a:blip r:embed="rId6"/>
          <a:srcRect l="0" r="0" t="6" b="6"/>
          <a:stretch/>
        </p:blipFill>
        <p:spPr>
          <a:xfrm>
            <a:off x="11944807" y="2838298"/>
            <a:ext cx="5105095" cy="4143146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218895" y="9144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86" kern="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SCREENING · 03 / 03</a:t>
            </a:r>
            <a:endParaRPr lang="en-US" sz="1350" dirty="0"/>
          </a:p>
        </p:txBody>
      </p:sp>
      <p:sp>
        <p:nvSpPr>
          <p:cNvPr id="12" name="Text 4"/>
          <p:cNvSpPr txBox="1"/>
          <p:nvPr/>
        </p:nvSpPr>
        <p:spPr>
          <a:xfrm>
            <a:off x="1218895" y="1410005"/>
            <a:ext cx="13335610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스크리닝·패터닝: 후보군과 AR 로드맵</a:t>
            </a:r>
            <a:endParaRPr lang="en-US" sz="4500" dirty="0"/>
          </a:p>
        </p:txBody>
      </p:sp>
      <p:sp>
        <p:nvSpPr>
          <p:cNvPr id="13" name="Text 5"/>
          <p:cNvSpPr txBox="1"/>
          <p:nvPr/>
        </p:nvSpPr>
        <p:spPr>
          <a:xfrm>
            <a:off x="1218895" y="7220102"/>
            <a:ext cx="10287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semi-damascene BEOL · 출처 imec, Soulié et al., J. Appl. Phys. 136, 171101 (2024), Sankaran et al., Phys. Rev. Mater. 5, 056002 (2021)의 계산값을 합쳐 재작도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11848795" y="7172554"/>
            <a:ext cx="5296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 damascene interconnect · 출처 Nature Communications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1218895" y="7905902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후보군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1218895" y="8248802"/>
            <a:ext cx="7810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▍</a:t>
            </a:r>
            <a:pPr algn="l" indent="0" marL="0">
              <a:buNone/>
            </a:pPr>
            <a:r>
              <a:rPr lang="en-US" sz="165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MAX 상이 계산상 가장 낮지만 아직 증착·에칭 실증이 없습니다.</a:t>
            </a:r>
            <a:endParaRPr lang="en-US" sz="1650" dirty="0"/>
          </a:p>
        </p:txBody>
      </p:sp>
      <p:sp>
        <p:nvSpPr>
          <p:cNvPr id="17" name="Text 9"/>
          <p:cNvSpPr txBox="1"/>
          <p:nvPr/>
        </p:nvSpPr>
        <p:spPr>
          <a:xfrm>
            <a:off x="1218895" y="8953805"/>
            <a:ext cx="7810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FFB5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▍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실제로 300 mm 웨이퍼에서 돌아간 건 </a:t>
            </a:r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FFB5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Ru, Mo, 그리고 Al 기반 금속간화합물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뿐입니다.</a:t>
            </a:r>
            <a:endParaRPr lang="en-US" sz="1650" dirty="0"/>
          </a:p>
        </p:txBody>
      </p:sp>
      <p:sp>
        <p:nvSpPr>
          <p:cNvPr id="18" name="Text 10"/>
          <p:cNvSpPr txBox="1"/>
          <p:nvPr/>
        </p:nvSpPr>
        <p:spPr>
          <a:xfrm>
            <a:off x="9525305" y="7905902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종횡비 로드맵 · AR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11162995" y="82296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 다마신 · AR 1.6</a:t>
            </a: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11525098" y="8630107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1세대 2 → 2세대 3 → 이후 4, 5, 6</a:t>
            </a:r>
            <a:endParaRPr lang="en-US" sz="1350" dirty="0"/>
          </a:p>
        </p:txBody>
      </p:sp>
      <p:sp>
        <p:nvSpPr>
          <p:cNvPr id="21" name="Text 13"/>
          <p:cNvSpPr txBox="1"/>
          <p:nvPr/>
        </p:nvSpPr>
        <p:spPr>
          <a:xfrm>
            <a:off x="9525305" y="9144000"/>
            <a:ext cx="7810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imec은 AR=6 Ru 선이 AR=3 대비 선 저항을 약 </a:t>
            </a:r>
            <a:pPr algn="l" indent="0" marL="0">
              <a:buNone/>
            </a:pPr>
            <a:r>
              <a:rPr lang="en-US" sz="15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40%</a:t>
            </a:r>
            <a:pPr algn="l" indent="0" marL="0">
              <a:buNone/>
            </a:pPr>
            <a:r>
              <a:rPr lang="en-US" sz="1500" dirty="0">
                <a:solidFill>
                  <a:srgbClr val="EAF1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낮춘다고 보고했습니다.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6097098" y="9924898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FA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2026-10-03T16:49:18Z</dcterms:created>
  <dcterms:modified xsi:type="dcterms:W3CDTF">2026-10-03T16:49:18Z</dcterms:modified>
</cp:coreProperties>
</file>