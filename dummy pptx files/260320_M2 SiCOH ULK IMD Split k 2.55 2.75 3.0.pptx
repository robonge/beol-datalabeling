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본 평가의 목적과 평가 축을 짧게 정의한다. 다섯 축 — CD 정밀도, 면내 균일도, 전기 저항, 단면 morphology, EM MTTF — 은 본 파일에서 모두 다뤄지지만 본 슬라이드는 어디까지 어떤 데이터를 보고하는지 한 눈에 보이게 정리한다. 발표 시에는 본 슬라이드를 1분 이내로 짧게 소개하고, 곧바로 split 조건 / 평가 항목 정의로 넘어가는 것을 권한다.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세 split의 IMD 조성과 9 wafer의 lot 구성을 보여준다. Split-A는 k=2.55 가장 공격적인 ULK로 기공률 22 %, Split-B는 14 %, Split-C는 reference IMD. 9 wafer row table은 각 wafer 별 split / k_target / recipe / date / status까지 정리했고, 좌측에는 LOT POOL card와 brief description. 발표 시 ULK로 갈수록 pore density가 올라가 plasma damage·TDDB가 모두 불리해지는 점을 짚고 넘어가면 좋겠다.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슬라이드에서 AASI/ASEI/AMI/ACI 네 가지 CD 평가 항목의 target·허용 범위·측정 조건을 명시한다. AASI는 strip 직후 24.3 nm, ASEI는 etch-in 후 18.1 nm, AMI는 CMP 후 top-down 8.1 nm, ACI는 via CD 8.2 nm. AMI·ACI는 wafer-level 13 site 측정. 발표 시에는 acceptance window 3σ ≤ 0.9 / 0.8 nm 같은 수치가 매우 타이트하다고 짚어줄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M2 단면의 reference SEM을 보여주며 stack의 L1-L4 layer를 나열한다. 단면 자체는 split 전 reference wafer에서 채득했으며 split 평가 시 baseline으로 사용한다. 발표 시 via-bottom recess가 split-A에서 더 두드러질 가능성을 짚어주면 자연스럽게 다음 슬라이드(split 비교)로 넘어갈 수 있다. 이미지는 Semiconductor Digest의 BEOL 관련 자료에서 가져왔다.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TEM Cu/low-k 단면 분석이다. 좌측 큰 TEM 이미지에서 P1-SiCN cap, P2-Cu/BM 계면, P3-IMD bulk 3개 위치를 marker로 표시했고 그 수치를 가운데 컬럼에 정리했다. 우측에는 plasma damage reference를 작은 reference로 두고 split-A에서 손상 깊이가 추가로 깊어지는 점을 짚는다. Cu 그레인 평균 ~38 nm, BM 2.0 nm, cap 26 nm이라 보고. 발표 시 via-bottom recess와 함께 split-A의 표면 손상 누적 가능성이 concern이라는 점을 짚어주면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split을 동일 scale / 동일 노출 조건으로 나란히 보여준다. Split-A는 Cu/IMD 계면 dark band가 가장 두드러지고 split-B는 중간, split-C reference는 사실상 깨끗하다. 발표 시에는 dark band가 사실상 IMD 손상/poor bonding 신호라는 점을 짚고, 낮은 k로 갈수록 누적되는 현상이라고 설명하면 후속 CD/EM 표 데이터로 자연스럽게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36행 CD variation 표. 4개 metric × 9 wafer × 4 통계. Δ 컬럼은 split별로 의미가 갈린다 — split-C는 모두 음의 Δ로 under-etch, split-A는 +편향이 우세. 발표 시에는 W-02 split-A의 ACI 0.81 nm가 acceptance 0.8 nm를 살짝 초과한 점을 짚는다. AMI 컬럼은 split-A에서 0.78 / 0.84 / 0.71로 acceptance 0.9에 들어오긴 하지만 한 wafer가 가장자리다.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W-04 wafer의 13-point AMI map. 4 outer + 4 mid + 4 inner + 1 center에 die chip 표시. D10이 edge에서 8.18 nm로 살짝 high, D06가 center marker로 표시됐다. 좌측 wafer stage의 우측 패널에 측정 요약을 두고 die mean 8.07 nm / 3σ 0.62 / range 1.5 nm. 발표 시 edge에서 D10이 살짝 양의 편향이라는 점을 짚고, 이는 split-B variant-1이긴 하나 in-window 안에 들어옴을 언급하면 좋겠다.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wafer × 4 metric 3σ를 종합한 표. fail 1건(W-02, split-A, ACI 0.81 &gt; 0.8), marginal 2건(W-01, W-03 — split-A), pass 6건. 우측에는 split별 평균 3σ을 두고 k가 낮을수록 3σ가 증가하는 경향을 정리. 발표 시에는 W-02 ACI 0.81 nm가 acceptance 0.8 nm를 살짝 초과한다는 점을 짚고, split-A의 +He pretreat variant가 가장 representative하지 않을 가능성을 짚어주면 좋겠다.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좌측에 TEM EDS line profile 표, 8 probe points × 5 원소 at% + layer 라벨. P3 TaN에서 Ta 14.8 at%, P5 Cu bulk에서 94.2 at%. 작은 reference micrograph 좌상단. 우측은 EM MTTF — 3 split × 3 current density × MTTF + σ. split-A 412h @ 0.2 MA/cm²로 reference 1000h 미달. 발표 시 split-C 912h도 미달이지만 다른 두 split 대비 2배 이상 우세임을 짚는다. 0.4/0.8 MA/cm²는 가속 데이터이므로 짧다.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결론. 4개 verdict 카드를 위에 두고 AASI marg / ASEI pass / AMI fail·1 / ACI pass·under target. 중단 좌측은 이상 사례 두 장 — split-A의 via-bottom recess + dark band, 240 h 후 void. 우측은 NEXT STEPS 어두운 패널에 5 bullet. 발표 시에는 split-A의 marginal 경향이 일정 wafer가 아닌 전반적인 편향이라는 점을 짚고, EM은 3 split 모두 under target이지만 split-C가 가장 베이스라인에 가깝다는 점을 짚으며 마무리하면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image" Target="../media/image-2-4.png"/><Relationship Id="rId8" Type="http://schemas.openxmlformats.org/officeDocument/2006/relationships/image" Target="../media/image-2-4.png"/><Relationship Id="rId9" Type="http://schemas.openxmlformats.org/officeDocument/2006/relationships/image" Target="../media/image-2-4.png"/><Relationship Id="rId10" Type="http://schemas.openxmlformats.org/officeDocument/2006/relationships/image" Target="../media/image-2-4.png"/><Relationship Id="rId11" Type="http://schemas.openxmlformats.org/officeDocument/2006/relationships/image" Target="../media/image-2-4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7.png"/><Relationship Id="rId9" Type="http://schemas.openxmlformats.org/officeDocument/2006/relationships/image" Target="../media/image-3-7.png"/><Relationship Id="rId10" Type="http://schemas.openxmlformats.org/officeDocument/2006/relationships/image" Target="../media/image-3-7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7.png"/><Relationship Id="rId8" Type="http://schemas.openxmlformats.org/officeDocument/2006/relationships/image" Target="../media/image-4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jpeg"/><Relationship Id="rId7" Type="http://schemas.openxmlformats.org/officeDocument/2006/relationships/image" Target="../media/image-5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jpeg"/><Relationship Id="rId8" Type="http://schemas.openxmlformats.org/officeDocument/2006/relationships/image" Target="../media/image-6-8.jpeg"/><Relationship Id="rId9" Type="http://schemas.openxmlformats.org/officeDocument/2006/relationships/image" Target="../media/image-6-9.jpeg"/><Relationship Id="rId10" Type="http://schemas.openxmlformats.org/officeDocument/2006/relationships/image" Target="../media/image-6-10.png"/><Relationship Id="rId11" Type="http://schemas.openxmlformats.org/officeDocument/2006/relationships/image" Target="../media/image-6-10.png"/><Relationship Id="rId12" Type="http://schemas.openxmlformats.org/officeDocument/2006/relationships/image" Target="../media/image-6-10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image" Target="../media/image-7-7.png"/><Relationship Id="rId8" Type="http://schemas.openxmlformats.org/officeDocument/2006/relationships/image" Target="../media/image-7-7.png"/><Relationship Id="rId9" Type="http://schemas.openxmlformats.org/officeDocument/2006/relationships/image" Target="../media/image-7-7.png"/><Relationship Id="rId10" Type="http://schemas.openxmlformats.org/officeDocument/2006/relationships/image" Target="../media/image-7-7.png"/><Relationship Id="rId11" Type="http://schemas.openxmlformats.org/officeDocument/2006/relationships/image" Target="../media/image-7-7.png"/><Relationship Id="rId12" Type="http://schemas.openxmlformats.org/officeDocument/2006/relationships/image" Target="../media/image-7-7.png"/><Relationship Id="rId13" Type="http://schemas.openxmlformats.org/officeDocument/2006/relationships/image" Target="../media/image-7-7.png"/><Relationship Id="rId14" Type="http://schemas.openxmlformats.org/officeDocument/2006/relationships/image" Target="../media/image-7-7.png"/><Relationship Id="rId15" Type="http://schemas.openxmlformats.org/officeDocument/2006/relationships/image" Target="../media/image-7-15.png"/><Relationship Id="rId16" Type="http://schemas.openxmlformats.org/officeDocument/2006/relationships/image" Target="../media/image-7-7.png"/><Relationship Id="rId17" Type="http://schemas.openxmlformats.org/officeDocument/2006/relationships/image" Target="../media/image-7-7.png"/><Relationship Id="rId18" Type="http://schemas.openxmlformats.org/officeDocument/2006/relationships/image" Target="../media/image-7-7.png"/><Relationship Id="rId19" Type="http://schemas.openxmlformats.org/officeDocument/2006/relationships/image" Target="../media/image-7-7.png"/><Relationship Id="rId20" Type="http://schemas.openxmlformats.org/officeDocument/2006/relationships/image" Target="../media/image-7-7.png"/><Relationship Id="rId21" Type="http://schemas.openxmlformats.org/officeDocument/2006/relationships/image" Target="../media/image-7-7.png"/><Relationship Id="rId22" Type="http://schemas.openxmlformats.org/officeDocument/2006/relationships/image" Target="../media/image-7-7.png"/><Relationship Id="rId23" Type="http://schemas.openxmlformats.org/officeDocument/2006/relationships/image" Target="../media/image-7-7.png"/><Relationship Id="rId24" Type="http://schemas.openxmlformats.org/officeDocument/2006/relationships/image" Target="../media/image-7-15.png"/><Relationship Id="rId25" Type="http://schemas.openxmlformats.org/officeDocument/2006/relationships/image" Target="../media/image-7-7.png"/><Relationship Id="rId26" Type="http://schemas.openxmlformats.org/officeDocument/2006/relationships/image" Target="../media/image-7-7.png"/><Relationship Id="rId27" Type="http://schemas.openxmlformats.org/officeDocument/2006/relationships/image" Target="../media/image-7-7.png"/><Relationship Id="rId28" Type="http://schemas.openxmlformats.org/officeDocument/2006/relationships/image" Target="../media/image-7-7.png"/><Relationship Id="rId29" Type="http://schemas.openxmlformats.org/officeDocument/2006/relationships/image" Target="../media/image-7-7.png"/><Relationship Id="rId30" Type="http://schemas.openxmlformats.org/officeDocument/2006/relationships/image" Target="../media/image-7-7.png"/><Relationship Id="rId31" Type="http://schemas.openxmlformats.org/officeDocument/2006/relationships/image" Target="../media/image-7-7.png"/><Relationship Id="rId32" Type="http://schemas.openxmlformats.org/officeDocument/2006/relationships/image" Target="../media/image-7-7.png"/><Relationship Id="rId33" Type="http://schemas.openxmlformats.org/officeDocument/2006/relationships/image" Target="../media/image-7-15.png"/><Relationship Id="rId34" Type="http://schemas.openxmlformats.org/officeDocument/2006/relationships/image" Target="../media/image-7-7.png"/><Relationship Id="rId35" Type="http://schemas.openxmlformats.org/officeDocument/2006/relationships/image" Target="../media/image-7-7.png"/><Relationship Id="rId36" Type="http://schemas.openxmlformats.org/officeDocument/2006/relationships/image" Target="../media/image-7-7.png"/><Relationship Id="rId37" Type="http://schemas.openxmlformats.org/officeDocument/2006/relationships/image" Target="../media/image-7-7.png"/><Relationship Id="rId38" Type="http://schemas.openxmlformats.org/officeDocument/2006/relationships/image" Target="../media/image-7-7.png"/><Relationship Id="rId39" Type="http://schemas.openxmlformats.org/officeDocument/2006/relationships/image" Target="../media/image-7-7.png"/><Relationship Id="rId40" Type="http://schemas.openxmlformats.org/officeDocument/2006/relationships/image" Target="../media/image-7-7.png"/><Relationship Id="rId41" Type="http://schemas.openxmlformats.org/officeDocument/2006/relationships/image" Target="../media/image-7-7.png"/><Relationship Id="rId42" Type="http://schemas.openxmlformats.org/officeDocument/2006/relationships/image" Target="../media/image-7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4.png"/><Relationship Id="rId6" Type="http://schemas.openxmlformats.org/officeDocument/2006/relationships/image" Target="../media/image-8-4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5.png"/><Relationship Id="rId7" Type="http://schemas.openxmlformats.org/officeDocument/2006/relationships/image" Target="../media/image-9-5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jpeg"/><Relationship Id="rId10" Type="http://schemas.openxmlformats.org/officeDocument/2006/relationships/image" Target="../media/image-10-10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jpeg"/><Relationship Id="rId11" Type="http://schemas.openxmlformats.org/officeDocument/2006/relationships/image" Target="../media/image-11-11.jpe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b62f6ef88089ae03113e6e6ef517067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3620902" y="1333195"/>
            <a:ext cx="3638398" cy="7925105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pic>
        <p:nvPicPr>
          <p:cNvPr id="5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800100"/>
            <a:ext cx="1143000" cy="38405"/>
          </a:xfrm>
          <a:prstGeom prst="rect">
            <a:avLst/>
          </a:prstGeom>
        </p:spPr>
      </p:pic>
      <p:pic>
        <p:nvPicPr>
          <p:cNvPr id="6" name="Image 2" descr="gen-dedup-0ed01e2d33d9356f0cfd6959917ae872.png">    </p:cNvPr>
          <p:cNvPicPr>
            <a:picLocks noChangeAspect="1"/>
          </p:cNvPicPr>
          <p:nvPr/>
        </p:nvPicPr>
        <p:blipFill>
          <a:blip r:embed="rId3"/>
          <a:srcRect l="-462" r="-462" t="0" b="0"/>
          <a:stretch/>
        </p:blipFill>
        <p:spPr>
          <a:xfrm>
            <a:off x="13868705" y="2018995"/>
            <a:ext cx="400507" cy="28346"/>
          </a:xfrm>
          <a:prstGeom prst="rect">
            <a:avLst/>
          </a:prstGeom>
        </p:spPr>
      </p:pic>
      <p:pic>
        <p:nvPicPr>
          <p:cNvPr id="7" name="Image 3" descr="gen-dedup-208e3c1db2ec408b78c5222320cd21a6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838505" y="990295"/>
            <a:ext cx="8572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BEOL · ULK IMD SPLIT EVAL · M2 LAYER · FILE 03 / 20</a:t>
            </a:r>
            <a:endParaRPr lang="en-US" sz="1650" dirty="0"/>
          </a:p>
        </p:txBody>
      </p:sp>
      <p:sp>
        <p:nvSpPr>
          <p:cNvPr id="9" name="Text 2"/>
          <p:cNvSpPr txBox="1"/>
          <p:nvPr/>
        </p:nvSpPr>
        <p:spPr>
          <a:xfrm>
            <a:off x="838505" y="1466698"/>
            <a:ext cx="11239805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50" b="1" spc="-55" kern="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SiCOH IMD ULK Split,</a:t>
            </a:r>
            <a:pPr algn="l" indent="0" marL="0">
              <a:lnSpc>
                <a:spcPct val="105000"/>
              </a:lnSpc>
              <a:buNone/>
            </a:pPr>
            <a:endParaRPr lang="en-US" sz="5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550" b="1" spc="-55" kern="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평가 실험 개요</a:t>
            </a:r>
            <a:endParaRPr lang="en-US" sz="5550" dirty="0"/>
          </a:p>
        </p:txBody>
      </p:sp>
      <p:sp>
        <p:nvSpPr>
          <p:cNvPr id="10" name="Text 3"/>
          <p:cNvSpPr txBox="1"/>
          <p:nvPr/>
        </p:nvSpPr>
        <p:spPr>
          <a:xfrm>
            <a:off x="838505" y="3733495"/>
            <a:ext cx="7239305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1F2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 메탈층에서 k=2.55 / 2.75 / 3.0 SiCOH IMD의 damascene 통합 거동을 </a:t>
            </a:r>
            <a:pPr algn="l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2E7A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정밀도·면내 균일도· 전기 저항·단면 morphology·EM</a:t>
            </a:r>
            <a:pPr algn="l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1F2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다섯 축으로 비교 평가한다. 동일 RSBM(PVD Ta/TaN + Cu seed + ECD Cu) 기준선 위에서 IMD 변화가 후속 메탈·유전체 통합에 주는 영향을 정량화한다.</a:t>
            </a:r>
            <a:endParaRPr lang="en-US" sz="1875" dirty="0"/>
          </a:p>
        </p:txBody>
      </p:sp>
      <p:sp>
        <p:nvSpPr>
          <p:cNvPr id="11" name="Text 4"/>
          <p:cNvSpPr txBox="1"/>
          <p:nvPr/>
        </p:nvSpPr>
        <p:spPr>
          <a:xfrm>
            <a:off x="13868705" y="1619402"/>
            <a:ext cx="3143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 AXES · 5</a:t>
            </a:r>
            <a:endParaRPr lang="en-US" sz="1350" dirty="0"/>
          </a:p>
        </p:txBody>
      </p:sp>
      <p:sp>
        <p:nvSpPr>
          <p:cNvPr id="12" name="Text 5"/>
          <p:cNvSpPr txBox="1"/>
          <p:nvPr/>
        </p:nvSpPr>
        <p:spPr>
          <a:xfrm>
            <a:off x="13868705" y="2286000"/>
            <a:ext cx="31437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150" dirty="0"/>
          </a:p>
        </p:txBody>
      </p:sp>
      <p:sp>
        <p:nvSpPr>
          <p:cNvPr id="13" name="Text 6"/>
          <p:cNvSpPr txBox="1"/>
          <p:nvPr/>
        </p:nvSpPr>
        <p:spPr>
          <a:xfrm>
            <a:off x="13868705" y="2743200"/>
            <a:ext cx="31437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정밀도</a:t>
            </a:r>
            <a:endParaRPr lang="en-US" sz="1650" dirty="0"/>
          </a:p>
        </p:txBody>
      </p:sp>
      <p:sp>
        <p:nvSpPr>
          <p:cNvPr id="14" name="Text 7"/>
          <p:cNvSpPr txBox="1"/>
          <p:nvPr/>
        </p:nvSpPr>
        <p:spPr>
          <a:xfrm>
            <a:off x="13868705" y="3105302"/>
            <a:ext cx="3143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· ASEI · AMI · ACI</a:t>
            </a:r>
            <a:endParaRPr lang="en-US" sz="1350" dirty="0"/>
          </a:p>
        </p:txBody>
      </p:sp>
      <p:sp>
        <p:nvSpPr>
          <p:cNvPr id="15" name="Text 8"/>
          <p:cNvSpPr txBox="1"/>
          <p:nvPr/>
        </p:nvSpPr>
        <p:spPr>
          <a:xfrm>
            <a:off x="13868705" y="3733495"/>
            <a:ext cx="31437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150" dirty="0"/>
          </a:p>
        </p:txBody>
      </p:sp>
      <p:sp>
        <p:nvSpPr>
          <p:cNvPr id="16" name="Text 9"/>
          <p:cNvSpPr txBox="1"/>
          <p:nvPr/>
        </p:nvSpPr>
        <p:spPr>
          <a:xfrm>
            <a:off x="13868705" y="4190695"/>
            <a:ext cx="31437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면내 균일도</a:t>
            </a:r>
            <a:endParaRPr lang="en-US" sz="1650" dirty="0"/>
          </a:p>
        </p:txBody>
      </p:sp>
      <p:sp>
        <p:nvSpPr>
          <p:cNvPr id="17" name="Text 10"/>
          <p:cNvSpPr txBox="1"/>
          <p:nvPr/>
        </p:nvSpPr>
        <p:spPr>
          <a:xfrm>
            <a:off x="13868705" y="4552798"/>
            <a:ext cx="3143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13-point wafer map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13868705" y="4895698"/>
            <a:ext cx="31437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150" dirty="0"/>
          </a:p>
        </p:txBody>
      </p:sp>
      <p:sp>
        <p:nvSpPr>
          <p:cNvPr id="19" name="Text 12"/>
          <p:cNvSpPr txBox="1"/>
          <p:nvPr/>
        </p:nvSpPr>
        <p:spPr>
          <a:xfrm>
            <a:off x="13868705" y="5352898"/>
            <a:ext cx="31437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 저항</a:t>
            </a:r>
            <a:endParaRPr lang="en-US" sz="1650" dirty="0"/>
          </a:p>
        </p:txBody>
      </p:sp>
      <p:sp>
        <p:nvSpPr>
          <p:cNvPr id="20" name="Text 13"/>
          <p:cNvSpPr txBox="1"/>
          <p:nvPr/>
        </p:nvSpPr>
        <p:spPr>
          <a:xfrm>
            <a:off x="13868705" y="5715000"/>
            <a:ext cx="3143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R · via R·RC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13868705" y="6057900"/>
            <a:ext cx="31437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3150" dirty="0"/>
          </a:p>
        </p:txBody>
      </p:sp>
      <p:sp>
        <p:nvSpPr>
          <p:cNvPr id="22" name="Text 15"/>
          <p:cNvSpPr txBox="1"/>
          <p:nvPr/>
        </p:nvSpPr>
        <p:spPr>
          <a:xfrm>
            <a:off x="13868705" y="6515100"/>
            <a:ext cx="31437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단면 morphology</a:t>
            </a:r>
            <a:endParaRPr lang="en-US" sz="1650" dirty="0"/>
          </a:p>
        </p:txBody>
      </p:sp>
      <p:sp>
        <p:nvSpPr>
          <p:cNvPr id="23" name="Text 16"/>
          <p:cNvSpPr txBox="1"/>
          <p:nvPr/>
        </p:nvSpPr>
        <p:spPr>
          <a:xfrm>
            <a:off x="13868705" y="6877202"/>
            <a:ext cx="3143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 · TEM · EDS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13868705" y="7220102"/>
            <a:ext cx="31437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3150" dirty="0"/>
          </a:p>
        </p:txBody>
      </p:sp>
      <p:sp>
        <p:nvSpPr>
          <p:cNvPr id="25" name="Text 18"/>
          <p:cNvSpPr txBox="1"/>
          <p:nvPr/>
        </p:nvSpPr>
        <p:spPr>
          <a:xfrm>
            <a:off x="13868705" y="7677302"/>
            <a:ext cx="31437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 MTTF</a:t>
            </a:r>
            <a:endParaRPr lang="en-US" sz="1650" dirty="0"/>
          </a:p>
        </p:txBody>
      </p:sp>
      <p:sp>
        <p:nvSpPr>
          <p:cNvPr id="26" name="Text 19"/>
          <p:cNvSpPr txBox="1"/>
          <p:nvPr/>
        </p:nvSpPr>
        <p:spPr>
          <a:xfrm>
            <a:off x="13868705" y="8039405"/>
            <a:ext cx="3143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package-level stress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01 /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553005"/>
            <a:ext cx="4972507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38505" y="2553005"/>
            <a:ext cx="4972507" cy="57607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286500" y="2553005"/>
            <a:ext cx="4972507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286500" y="2553005"/>
            <a:ext cx="4972507" cy="57607"/>
          </a:xfrm>
          <a:prstGeom prst="rect">
            <a:avLst/>
          </a:prstGeom>
          <a:solidFill>
            <a:srgbClr val="44607F"/>
          </a:solidFill>
          <a:ln w="12700">
            <a:solidFill>
              <a:srgbClr val="44607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734495" y="2553005"/>
            <a:ext cx="5734202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734495" y="2553005"/>
            <a:ext cx="5734202" cy="57607"/>
          </a:xfrm>
          <a:prstGeom prst="rect">
            <a:avLst/>
          </a:prstGeom>
          <a:solidFill>
            <a:srgbClr val="6B7C92"/>
          </a:solidFill>
          <a:ln w="12700">
            <a:solidFill>
              <a:srgbClr val="6B7C92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38505" y="8001000"/>
            <a:ext cx="5210251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38505" y="8001000"/>
            <a:ext cx="57607" cy="1257300"/>
          </a:xfrm>
          <a:prstGeom prst="rect">
            <a:avLst/>
          </a:prstGeom>
          <a:solidFill>
            <a:srgbClr val="2E7AA6"/>
          </a:solidFill>
          <a:ln w="12700">
            <a:solidFill>
              <a:srgbClr val="2E7AA6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86500" y="6667805"/>
            <a:ext cx="11182198" cy="2590495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pic>
        <p:nvPicPr>
          <p:cNvPr id="13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800100"/>
            <a:ext cx="1143000" cy="3840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86500" y="6667805"/>
            <a:ext cx="11162995" cy="400507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2" descr="gen-dedup-2d9eec431dcf378f748bdfe62f0e94b4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6286500" y="7067398"/>
            <a:ext cx="11162995" cy="9144"/>
          </a:xfrm>
          <a:prstGeom prst="rect">
            <a:avLst/>
          </a:prstGeom>
        </p:spPr>
      </p:pic>
      <p:pic>
        <p:nvPicPr>
          <p:cNvPr id="16" name="Image 3" descr="gen-dedup-5a46c2ce17b1d57e3113404e3c85e1c7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6286500" y="7334402"/>
            <a:ext cx="11162995" cy="9144"/>
          </a:xfrm>
          <a:prstGeom prst="rect">
            <a:avLst/>
          </a:prstGeom>
        </p:spPr>
      </p:pic>
      <p:pic>
        <p:nvPicPr>
          <p:cNvPr id="17" name="Image 4" descr="gen-dedup-5a46c2ce17b1d57e3113404e3c85e1c7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6286500" y="7572146"/>
            <a:ext cx="11162995" cy="9144"/>
          </a:xfrm>
          <a:prstGeom prst="rect">
            <a:avLst/>
          </a:prstGeom>
        </p:spPr>
      </p:pic>
      <p:pic>
        <p:nvPicPr>
          <p:cNvPr id="18" name="Image 5" descr="gen-dedup-5a46c2ce17b1d57e3113404e3c85e1c7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6286500" y="7810805"/>
            <a:ext cx="11162995" cy="9144"/>
          </a:xfrm>
          <a:prstGeom prst="rect">
            <a:avLst/>
          </a:prstGeom>
        </p:spPr>
      </p:pic>
      <p:pic>
        <p:nvPicPr>
          <p:cNvPr id="19" name="Image 6" descr="gen-dedup-5a46c2ce17b1d57e3113404e3c85e1c7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6286500" y="8048549"/>
            <a:ext cx="11162995" cy="9144"/>
          </a:xfrm>
          <a:prstGeom prst="rect">
            <a:avLst/>
          </a:prstGeom>
        </p:spPr>
      </p:pic>
      <p:pic>
        <p:nvPicPr>
          <p:cNvPr id="20" name="Image 7" descr="gen-dedup-5a46c2ce17b1d57e3113404e3c85e1c7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6286500" y="8287207"/>
            <a:ext cx="11162995" cy="9144"/>
          </a:xfrm>
          <a:prstGeom prst="rect">
            <a:avLst/>
          </a:prstGeom>
        </p:spPr>
      </p:pic>
      <p:pic>
        <p:nvPicPr>
          <p:cNvPr id="21" name="Image 8" descr="gen-dedup-5a46c2ce17b1d57e3113404e3c85e1c7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6286500" y="8524951"/>
            <a:ext cx="11162995" cy="9144"/>
          </a:xfrm>
          <a:prstGeom prst="rect">
            <a:avLst/>
          </a:prstGeom>
        </p:spPr>
      </p:pic>
      <p:pic>
        <p:nvPicPr>
          <p:cNvPr id="22" name="Image 9" descr="gen-dedup-5a46c2ce17b1d57e3113404e3c85e1c7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6286500" y="8762695"/>
            <a:ext cx="11162995" cy="9144"/>
          </a:xfrm>
          <a:prstGeom prst="rect">
            <a:avLst/>
          </a:prstGeom>
        </p:spPr>
      </p:pic>
      <p:pic>
        <p:nvPicPr>
          <p:cNvPr id="23" name="Image 10" descr="gen-dedup-5a46c2ce17b1d57e3113404e3c85e1c7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6286500" y="9001354"/>
            <a:ext cx="11162995" cy="9144"/>
          </a:xfrm>
          <a:prstGeom prst="rect">
            <a:avLst/>
          </a:prstGeom>
        </p:spPr>
      </p:pic>
      <p:pic>
        <p:nvPicPr>
          <p:cNvPr id="24" name="Image 11" descr="gen-dedup-208e3c1db2ec408b78c5222320cd21a6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838505" y="990295"/>
            <a:ext cx="8572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02 · SPLIT LOT &amp; WAFER MAP</a:t>
            </a:r>
            <a:endParaRPr lang="en-US" sz="1650" dirty="0"/>
          </a:p>
        </p:txBody>
      </p:sp>
      <p:sp>
        <p:nvSpPr>
          <p:cNvPr id="26" name="Text 11"/>
          <p:cNvSpPr txBox="1"/>
          <p:nvPr/>
        </p:nvSpPr>
        <p:spPr>
          <a:xfrm>
            <a:off x="838505" y="1410005"/>
            <a:ext cx="123828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IMD Split 조건 — k 2.55 / 2.75 / 3.00</a:t>
            </a:r>
            <a:endParaRPr lang="en-US" sz="4050" dirty="0"/>
          </a:p>
        </p:txBody>
      </p:sp>
      <p:sp>
        <p:nvSpPr>
          <p:cNvPr id="27" name="Text 12"/>
          <p:cNvSpPr txBox="1"/>
          <p:nvPr/>
        </p:nvSpPr>
        <p:spPr>
          <a:xfrm>
            <a:off x="1123798" y="2819095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SPLIT-A</a:t>
            </a:r>
            <a:endParaRPr lang="en-US" sz="1800" dirty="0"/>
          </a:p>
        </p:txBody>
      </p:sp>
      <p:sp>
        <p:nvSpPr>
          <p:cNvPr id="28" name="Text 13"/>
          <p:cNvSpPr txBox="1"/>
          <p:nvPr/>
        </p:nvSpPr>
        <p:spPr>
          <a:xfrm>
            <a:off x="1123798" y="32004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 = </a:t>
            </a:r>
            <a:pPr algn="l" indent="0" marL="0">
              <a:buNone/>
            </a:pPr>
            <a:r>
              <a:rPr lang="en-US" sz="4500" b="1" dirty="0">
                <a:solidFill>
                  <a:srgbClr val="2E7A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2.55</a:t>
            </a:r>
            <a:endParaRPr lang="en-US" sz="4500" dirty="0"/>
          </a:p>
        </p:txBody>
      </p:sp>
      <p:sp>
        <p:nvSpPr>
          <p:cNvPr id="29" name="Text 14"/>
          <p:cNvSpPr txBox="1"/>
          <p:nvPr/>
        </p:nvSpPr>
        <p:spPr>
          <a:xfrm>
            <a:off x="1123798" y="3905402"/>
            <a:ext cx="4572000" cy="125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Porogen-loaded SiCOH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PECVD · 320 °C · NH₃-free cure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pore ~ 1.6 nm, φ ≈ 22 %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wafer: W-01, W-02, W-03</a:t>
            </a:r>
            <a:endParaRPr lang="en-US" sz="1500" dirty="0"/>
          </a:p>
        </p:txBody>
      </p:sp>
      <p:sp>
        <p:nvSpPr>
          <p:cNvPr id="30" name="Text 15"/>
          <p:cNvSpPr txBox="1"/>
          <p:nvPr/>
        </p:nvSpPr>
        <p:spPr>
          <a:xfrm>
            <a:off x="6572707" y="2819095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SPLIT-B</a:t>
            </a:r>
            <a:endParaRPr lang="en-US" sz="1800" dirty="0"/>
          </a:p>
        </p:txBody>
      </p:sp>
      <p:sp>
        <p:nvSpPr>
          <p:cNvPr id="31" name="Text 16"/>
          <p:cNvSpPr txBox="1"/>
          <p:nvPr/>
        </p:nvSpPr>
        <p:spPr>
          <a:xfrm>
            <a:off x="6572707" y="32004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 = </a:t>
            </a:r>
            <a:pPr algn="l" indent="0" marL="0">
              <a:buNone/>
            </a:pPr>
            <a:r>
              <a:rPr lang="en-US" sz="4500" b="1" dirty="0">
                <a:solidFill>
                  <a:srgbClr val="2E7A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2.75</a:t>
            </a:r>
            <a:endParaRPr lang="en-US" sz="4500" dirty="0"/>
          </a:p>
        </p:txBody>
      </p:sp>
      <p:sp>
        <p:nvSpPr>
          <p:cNvPr id="32" name="Text 17"/>
          <p:cNvSpPr txBox="1"/>
          <p:nvPr/>
        </p:nvSpPr>
        <p:spPr>
          <a:xfrm>
            <a:off x="6572707" y="3905402"/>
            <a:ext cx="4572000" cy="125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Porogen-binder 중간 비율 SiCOH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PECVD · 320 °C · e-beam cure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pore ~ 1.4 nm, φ ≈ 14 %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wafer: W-04, W-05, W-06</a:t>
            </a:r>
            <a:endParaRPr lang="en-US" sz="1500" dirty="0"/>
          </a:p>
        </p:txBody>
      </p:sp>
      <p:sp>
        <p:nvSpPr>
          <p:cNvPr id="33" name="Text 18"/>
          <p:cNvSpPr txBox="1"/>
          <p:nvPr/>
        </p:nvSpPr>
        <p:spPr>
          <a:xfrm>
            <a:off x="12020702" y="2819095"/>
            <a:ext cx="52395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SPLIT-C</a:t>
            </a:r>
            <a:endParaRPr lang="en-US" sz="1800" dirty="0"/>
          </a:p>
        </p:txBody>
      </p:sp>
      <p:sp>
        <p:nvSpPr>
          <p:cNvPr id="34" name="Text 19"/>
          <p:cNvSpPr txBox="1"/>
          <p:nvPr/>
        </p:nvSpPr>
        <p:spPr>
          <a:xfrm>
            <a:off x="12020702" y="3200400"/>
            <a:ext cx="523951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 = </a:t>
            </a:r>
            <a:pPr algn="l" indent="0" marL="0">
              <a:buNone/>
            </a:pPr>
            <a:r>
              <a:rPr lang="en-US" sz="4500" b="1" dirty="0">
                <a:solidFill>
                  <a:srgbClr val="2E7A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3.00</a:t>
            </a:r>
            <a:endParaRPr lang="en-US" sz="4500" dirty="0"/>
          </a:p>
        </p:txBody>
      </p:sp>
      <p:sp>
        <p:nvSpPr>
          <p:cNvPr id="35" name="Text 20"/>
          <p:cNvSpPr txBox="1"/>
          <p:nvPr/>
        </p:nvSpPr>
        <p:spPr>
          <a:xfrm>
            <a:off x="12020702" y="3905402"/>
            <a:ext cx="5239512" cy="125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SiCOH (reference IMD)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PECVD · 320 °C · UV-assisted cure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기공 없음, φ &lt; 5 %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wafer: W-07, W-08, W-09</a:t>
            </a:r>
            <a:endParaRPr lang="en-US" sz="1500" dirty="0"/>
          </a:p>
        </p:txBody>
      </p:sp>
      <p:sp>
        <p:nvSpPr>
          <p:cNvPr id="36" name="Text 21"/>
          <p:cNvSpPr txBox="1"/>
          <p:nvPr/>
        </p:nvSpPr>
        <p:spPr>
          <a:xfrm>
            <a:off x="838505" y="6667805"/>
            <a:ext cx="5143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 Lot 구성</a:t>
            </a:r>
            <a:endParaRPr lang="en-US" sz="1650" dirty="0"/>
          </a:p>
        </p:txBody>
      </p:sp>
      <p:sp>
        <p:nvSpPr>
          <p:cNvPr id="37" name="Text 22"/>
          <p:cNvSpPr txBox="1"/>
          <p:nvPr/>
        </p:nvSpPr>
        <p:spPr>
          <a:xfrm>
            <a:off x="838505" y="7022592"/>
            <a:ext cx="5143500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wafer · 300 mm · 동일 pattern set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 layer · dual-damascene · ECD Cu fill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wafer 외 W-02/05/08에 일부 recipe 변형 적용</a:t>
            </a:r>
            <a:endParaRPr lang="en-US" sz="1350" dirty="0"/>
          </a:p>
        </p:txBody>
      </p:sp>
      <p:sp>
        <p:nvSpPr>
          <p:cNvPr id="38" name="Text 23"/>
          <p:cNvSpPr txBox="1"/>
          <p:nvPr/>
        </p:nvSpPr>
        <p:spPr>
          <a:xfrm>
            <a:off x="1123798" y="8210398"/>
            <a:ext cx="4668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LOT POOL</a:t>
            </a:r>
            <a:endParaRPr lang="en-US" sz="1050" dirty="0"/>
          </a:p>
        </p:txBody>
      </p:sp>
      <p:sp>
        <p:nvSpPr>
          <p:cNvPr id="39" name="Text 24"/>
          <p:cNvSpPr txBox="1"/>
          <p:nvPr/>
        </p:nvSpPr>
        <p:spPr>
          <a:xfrm>
            <a:off x="1123798" y="8438998"/>
            <a:ext cx="505206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wafer · 3 split × 3 wafer · 3 lot ID</a:t>
            </a:r>
            <a:endParaRPr lang="en-US" sz="1650" dirty="0"/>
          </a:p>
        </p:txBody>
      </p:sp>
      <p:sp>
        <p:nvSpPr>
          <p:cNvPr id="40" name="Text 25"/>
          <p:cNvSpPr txBox="1"/>
          <p:nvPr/>
        </p:nvSpPr>
        <p:spPr>
          <a:xfrm>
            <a:off x="1123798" y="8820302"/>
            <a:ext cx="46680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2026-Q3 lot · 사전 협의된 split matrix 따름</a:t>
            </a:r>
            <a:endParaRPr lang="en-US" sz="1200" dirty="0"/>
          </a:p>
        </p:txBody>
      </p:sp>
      <p:sp>
        <p:nvSpPr>
          <p:cNvPr id="41" name="Text 26"/>
          <p:cNvSpPr txBox="1"/>
          <p:nvPr/>
        </p:nvSpPr>
        <p:spPr>
          <a:xfrm>
            <a:off x="6476695" y="6743700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</a:t>
            </a:r>
            <a:endParaRPr lang="en-US" sz="1350" dirty="0"/>
          </a:p>
        </p:txBody>
      </p:sp>
      <p:sp>
        <p:nvSpPr>
          <p:cNvPr id="42" name="Text 27"/>
          <p:cNvSpPr txBox="1"/>
          <p:nvPr/>
        </p:nvSpPr>
        <p:spPr>
          <a:xfrm>
            <a:off x="7715707" y="6743700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1350" dirty="0"/>
          </a:p>
        </p:txBody>
      </p:sp>
      <p:sp>
        <p:nvSpPr>
          <p:cNvPr id="43" name="Text 28"/>
          <p:cNvSpPr txBox="1"/>
          <p:nvPr/>
        </p:nvSpPr>
        <p:spPr>
          <a:xfrm>
            <a:off x="8572500" y="6743700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k_target</a:t>
            </a:r>
            <a:endParaRPr lang="en-US" sz="1350" dirty="0"/>
          </a:p>
        </p:txBody>
      </p:sp>
      <p:sp>
        <p:nvSpPr>
          <p:cNvPr id="44" name="Text 29"/>
          <p:cNvSpPr txBox="1"/>
          <p:nvPr/>
        </p:nvSpPr>
        <p:spPr>
          <a:xfrm>
            <a:off x="10096805" y="67437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Recipe</a:t>
            </a:r>
            <a:endParaRPr lang="en-US" sz="1350" dirty="0"/>
          </a:p>
        </p:txBody>
      </p:sp>
      <p:sp>
        <p:nvSpPr>
          <p:cNvPr id="45" name="Text 30"/>
          <p:cNvSpPr txBox="1"/>
          <p:nvPr/>
        </p:nvSpPr>
        <p:spPr>
          <a:xfrm>
            <a:off x="13334695" y="6743700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 code</a:t>
            </a:r>
            <a:endParaRPr lang="en-US" sz="1350" dirty="0"/>
          </a:p>
        </p:txBody>
      </p:sp>
      <p:sp>
        <p:nvSpPr>
          <p:cNvPr id="46" name="Text 31"/>
          <p:cNvSpPr txBox="1"/>
          <p:nvPr/>
        </p:nvSpPr>
        <p:spPr>
          <a:xfrm>
            <a:off x="15240305" y="6743700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endParaRPr lang="en-US" sz="1350" dirty="0"/>
          </a:p>
        </p:txBody>
      </p:sp>
      <p:sp>
        <p:nvSpPr>
          <p:cNvPr id="47" name="Text 32"/>
          <p:cNvSpPr txBox="1"/>
          <p:nvPr/>
        </p:nvSpPr>
        <p:spPr>
          <a:xfrm>
            <a:off x="6476695" y="7105802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W-01</a:t>
            </a:r>
            <a:endParaRPr lang="en-US" sz="1200" dirty="0"/>
          </a:p>
        </p:txBody>
      </p:sp>
      <p:sp>
        <p:nvSpPr>
          <p:cNvPr id="48" name="Text 33"/>
          <p:cNvSpPr txBox="1"/>
          <p:nvPr/>
        </p:nvSpPr>
        <p:spPr>
          <a:xfrm>
            <a:off x="7715707" y="7105802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49" name="Text 34"/>
          <p:cNvSpPr txBox="1"/>
          <p:nvPr/>
        </p:nvSpPr>
        <p:spPr>
          <a:xfrm>
            <a:off x="8572500" y="7105802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2.55</a:t>
            </a:r>
            <a:endParaRPr lang="en-US" sz="1200" dirty="0"/>
          </a:p>
        </p:txBody>
      </p:sp>
      <p:sp>
        <p:nvSpPr>
          <p:cNvPr id="50" name="Text 35"/>
          <p:cNvSpPr txBox="1"/>
          <p:nvPr/>
        </p:nvSpPr>
        <p:spPr>
          <a:xfrm>
            <a:off x="10096805" y="7105802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control</a:t>
            </a:r>
            <a:endParaRPr lang="en-US" sz="1200" dirty="0"/>
          </a:p>
        </p:txBody>
      </p:sp>
      <p:sp>
        <p:nvSpPr>
          <p:cNvPr id="51" name="Text 36"/>
          <p:cNvSpPr txBox="1"/>
          <p:nvPr/>
        </p:nvSpPr>
        <p:spPr>
          <a:xfrm>
            <a:off x="13334695" y="7105802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2026-Q3-A · 030</a:t>
            </a:r>
            <a:endParaRPr lang="en-US" sz="1200" dirty="0"/>
          </a:p>
        </p:txBody>
      </p:sp>
      <p:sp>
        <p:nvSpPr>
          <p:cNvPr id="52" name="Text 37"/>
          <p:cNvSpPr txBox="1"/>
          <p:nvPr/>
        </p:nvSpPr>
        <p:spPr>
          <a:xfrm>
            <a:off x="15240305" y="7105802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</a:t>
            </a:r>
            <a:endParaRPr lang="en-US" sz="1200" dirty="0"/>
          </a:p>
        </p:txBody>
      </p:sp>
      <p:sp>
        <p:nvSpPr>
          <p:cNvPr id="53" name="Text 38"/>
          <p:cNvSpPr txBox="1"/>
          <p:nvPr/>
        </p:nvSpPr>
        <p:spPr>
          <a:xfrm>
            <a:off x="6476695" y="7343546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W-02</a:t>
            </a:r>
            <a:endParaRPr lang="en-US" sz="1200" dirty="0"/>
          </a:p>
        </p:txBody>
      </p:sp>
      <p:sp>
        <p:nvSpPr>
          <p:cNvPr id="54" name="Text 39"/>
          <p:cNvSpPr txBox="1"/>
          <p:nvPr/>
        </p:nvSpPr>
        <p:spPr>
          <a:xfrm>
            <a:off x="7715707" y="7343546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55" name="Text 40"/>
          <p:cNvSpPr txBox="1"/>
          <p:nvPr/>
        </p:nvSpPr>
        <p:spPr>
          <a:xfrm>
            <a:off x="8572500" y="7343546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2.55</a:t>
            </a:r>
            <a:endParaRPr lang="en-US" sz="1200" dirty="0"/>
          </a:p>
        </p:txBody>
      </p:sp>
      <p:sp>
        <p:nvSpPr>
          <p:cNvPr id="56" name="Text 41"/>
          <p:cNvSpPr txBox="1"/>
          <p:nvPr/>
        </p:nvSpPr>
        <p:spPr>
          <a:xfrm>
            <a:off x="10096805" y="7343546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+5 % cure time</a:t>
            </a:r>
            <a:endParaRPr lang="en-US" sz="1200" dirty="0"/>
          </a:p>
        </p:txBody>
      </p:sp>
      <p:sp>
        <p:nvSpPr>
          <p:cNvPr id="57" name="Text 42"/>
          <p:cNvSpPr txBox="1"/>
          <p:nvPr/>
        </p:nvSpPr>
        <p:spPr>
          <a:xfrm>
            <a:off x="13334695" y="7343546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2026-Q3-A · 030</a:t>
            </a:r>
            <a:endParaRPr lang="en-US" sz="1200" dirty="0"/>
          </a:p>
        </p:txBody>
      </p:sp>
      <p:sp>
        <p:nvSpPr>
          <p:cNvPr id="58" name="Text 43"/>
          <p:cNvSpPr txBox="1"/>
          <p:nvPr/>
        </p:nvSpPr>
        <p:spPr>
          <a:xfrm>
            <a:off x="15240305" y="7343546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variant-1</a:t>
            </a:r>
            <a:endParaRPr lang="en-US" sz="1200" dirty="0"/>
          </a:p>
        </p:txBody>
      </p:sp>
      <p:sp>
        <p:nvSpPr>
          <p:cNvPr id="59" name="Text 44"/>
          <p:cNvSpPr txBox="1"/>
          <p:nvPr/>
        </p:nvSpPr>
        <p:spPr>
          <a:xfrm>
            <a:off x="6476695" y="7582205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W-03</a:t>
            </a:r>
            <a:endParaRPr lang="en-US" sz="1200" dirty="0"/>
          </a:p>
        </p:txBody>
      </p:sp>
      <p:sp>
        <p:nvSpPr>
          <p:cNvPr id="60" name="Text 45"/>
          <p:cNvSpPr txBox="1"/>
          <p:nvPr/>
        </p:nvSpPr>
        <p:spPr>
          <a:xfrm>
            <a:off x="7715707" y="7582205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61" name="Text 46"/>
          <p:cNvSpPr txBox="1"/>
          <p:nvPr/>
        </p:nvSpPr>
        <p:spPr>
          <a:xfrm>
            <a:off x="8572500" y="7582205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2.55</a:t>
            </a:r>
            <a:endParaRPr lang="en-US" sz="1200" dirty="0"/>
          </a:p>
        </p:txBody>
      </p:sp>
      <p:sp>
        <p:nvSpPr>
          <p:cNvPr id="62" name="Text 47"/>
          <p:cNvSpPr txBox="1"/>
          <p:nvPr/>
        </p:nvSpPr>
        <p:spPr>
          <a:xfrm>
            <a:off x="10096805" y="7582205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−degas step</a:t>
            </a:r>
            <a:endParaRPr lang="en-US" sz="1200" dirty="0"/>
          </a:p>
        </p:txBody>
      </p:sp>
      <p:sp>
        <p:nvSpPr>
          <p:cNvPr id="63" name="Text 48"/>
          <p:cNvSpPr txBox="1"/>
          <p:nvPr/>
        </p:nvSpPr>
        <p:spPr>
          <a:xfrm>
            <a:off x="13334695" y="7582205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2026-Q3-A · 030</a:t>
            </a:r>
            <a:endParaRPr lang="en-US" sz="1200" dirty="0"/>
          </a:p>
        </p:txBody>
      </p:sp>
      <p:sp>
        <p:nvSpPr>
          <p:cNvPr id="64" name="Text 49"/>
          <p:cNvSpPr txBox="1"/>
          <p:nvPr/>
        </p:nvSpPr>
        <p:spPr>
          <a:xfrm>
            <a:off x="15240305" y="7582205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variant-2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6476695" y="7819949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W-04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7715707" y="7819949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200" dirty="0"/>
          </a:p>
        </p:txBody>
      </p:sp>
      <p:sp>
        <p:nvSpPr>
          <p:cNvPr id="67" name="Text 52"/>
          <p:cNvSpPr txBox="1"/>
          <p:nvPr/>
        </p:nvSpPr>
        <p:spPr>
          <a:xfrm>
            <a:off x="8572500" y="7819949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2.75</a:t>
            </a:r>
            <a:endParaRPr lang="en-US" sz="1200" dirty="0"/>
          </a:p>
        </p:txBody>
      </p:sp>
      <p:sp>
        <p:nvSpPr>
          <p:cNvPr id="68" name="Text 53"/>
          <p:cNvSpPr txBox="1"/>
          <p:nvPr/>
        </p:nvSpPr>
        <p:spPr>
          <a:xfrm>
            <a:off x="10096805" y="7819949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control</a:t>
            </a:r>
            <a:endParaRPr lang="en-US" sz="1200" dirty="0"/>
          </a:p>
        </p:txBody>
      </p:sp>
      <p:sp>
        <p:nvSpPr>
          <p:cNvPr id="69" name="Text 54"/>
          <p:cNvSpPr txBox="1"/>
          <p:nvPr/>
        </p:nvSpPr>
        <p:spPr>
          <a:xfrm>
            <a:off x="13334695" y="7819949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2026-Q3-B · 030</a:t>
            </a:r>
            <a:endParaRPr lang="en-US" sz="1200" dirty="0"/>
          </a:p>
        </p:txBody>
      </p:sp>
      <p:sp>
        <p:nvSpPr>
          <p:cNvPr id="70" name="Text 55"/>
          <p:cNvSpPr txBox="1"/>
          <p:nvPr/>
        </p:nvSpPr>
        <p:spPr>
          <a:xfrm>
            <a:off x="15240305" y="7819949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</a:t>
            </a:r>
            <a:endParaRPr lang="en-US" sz="1200" dirty="0"/>
          </a:p>
        </p:txBody>
      </p:sp>
      <p:sp>
        <p:nvSpPr>
          <p:cNvPr id="71" name="Text 56"/>
          <p:cNvSpPr txBox="1"/>
          <p:nvPr/>
        </p:nvSpPr>
        <p:spPr>
          <a:xfrm>
            <a:off x="6476695" y="8058607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W-05</a:t>
            </a:r>
            <a:endParaRPr lang="en-US" sz="1200" dirty="0"/>
          </a:p>
        </p:txBody>
      </p:sp>
      <p:sp>
        <p:nvSpPr>
          <p:cNvPr id="72" name="Text 57"/>
          <p:cNvSpPr txBox="1"/>
          <p:nvPr/>
        </p:nvSpPr>
        <p:spPr>
          <a:xfrm>
            <a:off x="7715707" y="8058607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200" dirty="0"/>
          </a:p>
        </p:txBody>
      </p:sp>
      <p:sp>
        <p:nvSpPr>
          <p:cNvPr id="73" name="Text 58"/>
          <p:cNvSpPr txBox="1"/>
          <p:nvPr/>
        </p:nvSpPr>
        <p:spPr>
          <a:xfrm>
            <a:off x="8572500" y="8058607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2.75</a:t>
            </a:r>
            <a:endParaRPr lang="en-US" sz="1200" dirty="0"/>
          </a:p>
        </p:txBody>
      </p:sp>
      <p:sp>
        <p:nvSpPr>
          <p:cNvPr id="74" name="Text 59"/>
          <p:cNvSpPr txBox="1"/>
          <p:nvPr/>
        </p:nvSpPr>
        <p:spPr>
          <a:xfrm>
            <a:off x="10096805" y="8058607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+He pretreat</a:t>
            </a:r>
            <a:endParaRPr lang="en-US" sz="1200" dirty="0"/>
          </a:p>
        </p:txBody>
      </p:sp>
      <p:sp>
        <p:nvSpPr>
          <p:cNvPr id="75" name="Text 60"/>
          <p:cNvSpPr txBox="1"/>
          <p:nvPr/>
        </p:nvSpPr>
        <p:spPr>
          <a:xfrm>
            <a:off x="13334695" y="8058607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2026-Q3-B · 030</a:t>
            </a:r>
            <a:endParaRPr lang="en-US" sz="1200" dirty="0"/>
          </a:p>
        </p:txBody>
      </p:sp>
      <p:sp>
        <p:nvSpPr>
          <p:cNvPr id="76" name="Text 61"/>
          <p:cNvSpPr txBox="1"/>
          <p:nvPr/>
        </p:nvSpPr>
        <p:spPr>
          <a:xfrm>
            <a:off x="15240305" y="8058607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variant-1</a:t>
            </a:r>
            <a:endParaRPr lang="en-US" sz="1200" dirty="0"/>
          </a:p>
        </p:txBody>
      </p:sp>
      <p:sp>
        <p:nvSpPr>
          <p:cNvPr id="77" name="Text 62"/>
          <p:cNvSpPr txBox="1"/>
          <p:nvPr/>
        </p:nvSpPr>
        <p:spPr>
          <a:xfrm>
            <a:off x="6476695" y="8296351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W-06</a:t>
            </a:r>
            <a:endParaRPr lang="en-US" sz="1200" dirty="0"/>
          </a:p>
        </p:txBody>
      </p:sp>
      <p:sp>
        <p:nvSpPr>
          <p:cNvPr id="78" name="Text 63"/>
          <p:cNvSpPr txBox="1"/>
          <p:nvPr/>
        </p:nvSpPr>
        <p:spPr>
          <a:xfrm>
            <a:off x="7715707" y="8296351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200" dirty="0"/>
          </a:p>
        </p:txBody>
      </p:sp>
      <p:sp>
        <p:nvSpPr>
          <p:cNvPr id="79" name="Text 64"/>
          <p:cNvSpPr txBox="1"/>
          <p:nvPr/>
        </p:nvSpPr>
        <p:spPr>
          <a:xfrm>
            <a:off x="8572500" y="8296351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2.75</a:t>
            </a:r>
            <a:endParaRPr lang="en-US" sz="1200" dirty="0"/>
          </a:p>
        </p:txBody>
      </p:sp>
      <p:sp>
        <p:nvSpPr>
          <p:cNvPr id="80" name="Text 65"/>
          <p:cNvSpPr txBox="1"/>
          <p:nvPr/>
        </p:nvSpPr>
        <p:spPr>
          <a:xfrm>
            <a:off x="10096805" y="8296351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−degas step</a:t>
            </a:r>
            <a:endParaRPr lang="en-US" sz="1200" dirty="0"/>
          </a:p>
        </p:txBody>
      </p:sp>
      <p:sp>
        <p:nvSpPr>
          <p:cNvPr id="81" name="Text 66"/>
          <p:cNvSpPr txBox="1"/>
          <p:nvPr/>
        </p:nvSpPr>
        <p:spPr>
          <a:xfrm>
            <a:off x="13334695" y="8296351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2026-Q3-B · 030</a:t>
            </a:r>
            <a:endParaRPr lang="en-US" sz="1200" dirty="0"/>
          </a:p>
        </p:txBody>
      </p:sp>
      <p:sp>
        <p:nvSpPr>
          <p:cNvPr id="82" name="Text 67"/>
          <p:cNvSpPr txBox="1"/>
          <p:nvPr/>
        </p:nvSpPr>
        <p:spPr>
          <a:xfrm>
            <a:off x="15240305" y="8296351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variant-2</a:t>
            </a:r>
            <a:endParaRPr lang="en-US" sz="1200" dirty="0"/>
          </a:p>
        </p:txBody>
      </p:sp>
      <p:sp>
        <p:nvSpPr>
          <p:cNvPr id="83" name="Text 68"/>
          <p:cNvSpPr txBox="1"/>
          <p:nvPr/>
        </p:nvSpPr>
        <p:spPr>
          <a:xfrm>
            <a:off x="6476695" y="8534095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W-07</a:t>
            </a:r>
            <a:endParaRPr lang="en-US" sz="1200" dirty="0"/>
          </a:p>
        </p:txBody>
      </p:sp>
      <p:sp>
        <p:nvSpPr>
          <p:cNvPr id="84" name="Text 69"/>
          <p:cNvSpPr txBox="1"/>
          <p:nvPr/>
        </p:nvSpPr>
        <p:spPr>
          <a:xfrm>
            <a:off x="7715707" y="8534095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85" name="Text 70"/>
          <p:cNvSpPr txBox="1"/>
          <p:nvPr/>
        </p:nvSpPr>
        <p:spPr>
          <a:xfrm>
            <a:off x="8572500" y="8534095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3.00</a:t>
            </a:r>
            <a:endParaRPr lang="en-US" sz="1200" dirty="0"/>
          </a:p>
        </p:txBody>
      </p:sp>
      <p:sp>
        <p:nvSpPr>
          <p:cNvPr id="86" name="Text 71"/>
          <p:cNvSpPr txBox="1"/>
          <p:nvPr/>
        </p:nvSpPr>
        <p:spPr>
          <a:xfrm>
            <a:off x="10096805" y="8534095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control</a:t>
            </a:r>
            <a:endParaRPr lang="en-US" sz="1200" dirty="0"/>
          </a:p>
        </p:txBody>
      </p:sp>
      <p:sp>
        <p:nvSpPr>
          <p:cNvPr id="87" name="Text 72"/>
          <p:cNvSpPr txBox="1"/>
          <p:nvPr/>
        </p:nvSpPr>
        <p:spPr>
          <a:xfrm>
            <a:off x="13334695" y="8534095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2026-Q3-C · 030</a:t>
            </a:r>
            <a:endParaRPr lang="en-US" sz="1200" dirty="0"/>
          </a:p>
        </p:txBody>
      </p:sp>
      <p:sp>
        <p:nvSpPr>
          <p:cNvPr id="88" name="Text 73"/>
          <p:cNvSpPr txBox="1"/>
          <p:nvPr/>
        </p:nvSpPr>
        <p:spPr>
          <a:xfrm>
            <a:off x="15240305" y="8534095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</a:t>
            </a:r>
            <a:endParaRPr lang="en-US" sz="1200" dirty="0"/>
          </a:p>
        </p:txBody>
      </p:sp>
      <p:sp>
        <p:nvSpPr>
          <p:cNvPr id="89" name="Text 74"/>
          <p:cNvSpPr txBox="1"/>
          <p:nvPr/>
        </p:nvSpPr>
        <p:spPr>
          <a:xfrm>
            <a:off x="6476695" y="8772754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W-08</a:t>
            </a:r>
            <a:endParaRPr lang="en-US" sz="1200" dirty="0"/>
          </a:p>
        </p:txBody>
      </p:sp>
      <p:sp>
        <p:nvSpPr>
          <p:cNvPr id="90" name="Text 75"/>
          <p:cNvSpPr txBox="1"/>
          <p:nvPr/>
        </p:nvSpPr>
        <p:spPr>
          <a:xfrm>
            <a:off x="7715707" y="8772754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91" name="Text 76"/>
          <p:cNvSpPr txBox="1"/>
          <p:nvPr/>
        </p:nvSpPr>
        <p:spPr>
          <a:xfrm>
            <a:off x="8572500" y="8772754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3.00</a:t>
            </a:r>
            <a:endParaRPr lang="en-US" sz="1200" dirty="0"/>
          </a:p>
        </p:txBody>
      </p:sp>
      <p:sp>
        <p:nvSpPr>
          <p:cNvPr id="92" name="Text 77"/>
          <p:cNvSpPr txBox="1"/>
          <p:nvPr/>
        </p:nvSpPr>
        <p:spPr>
          <a:xfrm>
            <a:off x="10096805" y="8772754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He pretreat</a:t>
            </a:r>
            <a:endParaRPr lang="en-US" sz="1200" dirty="0"/>
          </a:p>
        </p:txBody>
      </p:sp>
      <p:sp>
        <p:nvSpPr>
          <p:cNvPr id="93" name="Text 78"/>
          <p:cNvSpPr txBox="1"/>
          <p:nvPr/>
        </p:nvSpPr>
        <p:spPr>
          <a:xfrm>
            <a:off x="13334695" y="8772754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2026-Q3-C · 030</a:t>
            </a:r>
            <a:endParaRPr lang="en-US" sz="1200" dirty="0"/>
          </a:p>
        </p:txBody>
      </p:sp>
      <p:sp>
        <p:nvSpPr>
          <p:cNvPr id="94" name="Text 79"/>
          <p:cNvSpPr txBox="1"/>
          <p:nvPr/>
        </p:nvSpPr>
        <p:spPr>
          <a:xfrm>
            <a:off x="15240305" y="8772754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variant-1</a:t>
            </a:r>
            <a:endParaRPr lang="en-US" sz="1200" dirty="0"/>
          </a:p>
        </p:txBody>
      </p:sp>
      <p:sp>
        <p:nvSpPr>
          <p:cNvPr id="95" name="Text 80"/>
          <p:cNvSpPr txBox="1"/>
          <p:nvPr/>
        </p:nvSpPr>
        <p:spPr>
          <a:xfrm>
            <a:off x="6476695" y="9010498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W-09</a:t>
            </a:r>
            <a:endParaRPr lang="en-US" sz="1200" dirty="0"/>
          </a:p>
        </p:txBody>
      </p:sp>
      <p:sp>
        <p:nvSpPr>
          <p:cNvPr id="96" name="Text 81"/>
          <p:cNvSpPr txBox="1"/>
          <p:nvPr/>
        </p:nvSpPr>
        <p:spPr>
          <a:xfrm>
            <a:off x="7715707" y="9010498"/>
            <a:ext cx="857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97" name="Text 82"/>
          <p:cNvSpPr txBox="1"/>
          <p:nvPr/>
        </p:nvSpPr>
        <p:spPr>
          <a:xfrm>
            <a:off x="8572500" y="9010498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3.00</a:t>
            </a:r>
            <a:endParaRPr lang="en-US" sz="1200" dirty="0"/>
          </a:p>
        </p:txBody>
      </p:sp>
      <p:sp>
        <p:nvSpPr>
          <p:cNvPr id="98" name="Text 83"/>
          <p:cNvSpPr txBox="1"/>
          <p:nvPr/>
        </p:nvSpPr>
        <p:spPr>
          <a:xfrm>
            <a:off x="10096805" y="9010498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degas step</a:t>
            </a:r>
            <a:endParaRPr lang="en-US" sz="1200" dirty="0"/>
          </a:p>
        </p:txBody>
      </p:sp>
      <p:sp>
        <p:nvSpPr>
          <p:cNvPr id="99" name="Text 84"/>
          <p:cNvSpPr txBox="1"/>
          <p:nvPr/>
        </p:nvSpPr>
        <p:spPr>
          <a:xfrm>
            <a:off x="13334695" y="9010498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2026-Q3-C · 030</a:t>
            </a:r>
            <a:endParaRPr lang="en-US" sz="1200" dirty="0"/>
          </a:p>
        </p:txBody>
      </p:sp>
      <p:sp>
        <p:nvSpPr>
          <p:cNvPr id="100" name="Text 85"/>
          <p:cNvSpPr txBox="1"/>
          <p:nvPr/>
        </p:nvSpPr>
        <p:spPr>
          <a:xfrm>
            <a:off x="15240305" y="9010498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variant-2</a:t>
            </a:r>
            <a:endParaRPr lang="en-US" sz="1200" dirty="0"/>
          </a:p>
        </p:txBody>
      </p:sp>
      <p:sp>
        <p:nvSpPr>
          <p:cNvPr id="101" name="Text 86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553005"/>
            <a:ext cx="4000500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257800" y="2553005"/>
            <a:ext cx="4000500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677095" y="2553005"/>
            <a:ext cx="4000500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4097305" y="2553005"/>
            <a:ext cx="3372307" cy="363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505" y="7239305"/>
            <a:ext cx="16631107" cy="2038198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pic>
        <p:nvPicPr>
          <p:cNvPr id="9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800100"/>
            <a:ext cx="1143000" cy="38405"/>
          </a:xfrm>
          <a:prstGeom prst="rect">
            <a:avLst/>
          </a:prstGeom>
        </p:spPr>
      </p:pic>
      <p:pic>
        <p:nvPicPr>
          <p:cNvPr id="10" name="Image 2" descr="gen-dedup-af730c08e5143be6b5088d5f97fd065f.png">    </p:cNvPr>
          <p:cNvPicPr>
            <a:picLocks noChangeAspect="1"/>
          </p:cNvPicPr>
          <p:nvPr/>
        </p:nvPicPr>
        <p:blipFill>
          <a:blip r:embed="rId3"/>
          <a:srcRect l="0" r="0" t="-402" b="-402"/>
          <a:stretch/>
        </p:blipFill>
        <p:spPr>
          <a:xfrm>
            <a:off x="838505" y="2553005"/>
            <a:ext cx="3981298" cy="57607"/>
          </a:xfrm>
          <a:prstGeom prst="rect">
            <a:avLst/>
          </a:prstGeom>
        </p:spPr>
      </p:pic>
      <p:pic>
        <p:nvPicPr>
          <p:cNvPr id="11" name="Image 3" descr="gen-dedup-e5885e95c429108c7a9cdb45172752fb.png">    </p:cNvPr>
          <p:cNvPicPr>
            <a:picLocks noChangeAspect="1"/>
          </p:cNvPicPr>
          <p:nvPr/>
        </p:nvPicPr>
        <p:blipFill>
          <a:blip r:embed="rId4"/>
          <a:srcRect l="0" r="0" t="-402" b="-402"/>
          <a:stretch/>
        </p:blipFill>
        <p:spPr>
          <a:xfrm>
            <a:off x="5257800" y="2553005"/>
            <a:ext cx="3981298" cy="57607"/>
          </a:xfrm>
          <a:prstGeom prst="rect">
            <a:avLst/>
          </a:prstGeom>
        </p:spPr>
      </p:pic>
      <p:pic>
        <p:nvPicPr>
          <p:cNvPr id="12" name="Image 4" descr="gen-dedup-7c1884756b2c91801dd43600ecc24374.png">    </p:cNvPr>
          <p:cNvPicPr>
            <a:picLocks noChangeAspect="1"/>
          </p:cNvPicPr>
          <p:nvPr/>
        </p:nvPicPr>
        <p:blipFill>
          <a:blip r:embed="rId5"/>
          <a:srcRect l="0" r="0" t="-402" b="-402"/>
          <a:stretch/>
        </p:blipFill>
        <p:spPr>
          <a:xfrm>
            <a:off x="9677095" y="2553005"/>
            <a:ext cx="3981298" cy="57607"/>
          </a:xfrm>
          <a:prstGeom prst="rect">
            <a:avLst/>
          </a:prstGeom>
        </p:spPr>
      </p:pic>
      <p:pic>
        <p:nvPicPr>
          <p:cNvPr id="13" name="Image 5" descr="gen-dedup-633da1efd313d86ce81a6435ed400840.png">    </p:cNvPr>
          <p:cNvPicPr>
            <a:picLocks noChangeAspect="1"/>
          </p:cNvPicPr>
          <p:nvPr/>
        </p:nvPicPr>
        <p:blipFill>
          <a:blip r:embed="rId6"/>
          <a:srcRect l="0" r="0" t="-395" b="-395"/>
          <a:stretch/>
        </p:blipFill>
        <p:spPr>
          <a:xfrm>
            <a:off x="14097305" y="2553005"/>
            <a:ext cx="3353105" cy="57607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838505" y="7239305"/>
            <a:ext cx="16611905" cy="400507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6" descr="gen-dedup-33d1412a2c3a589eb36f7e55c6b068dc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838505" y="7638898"/>
            <a:ext cx="16611905" cy="9144"/>
          </a:xfrm>
          <a:prstGeom prst="rect">
            <a:avLst/>
          </a:prstGeom>
        </p:spPr>
      </p:pic>
      <p:pic>
        <p:nvPicPr>
          <p:cNvPr id="16" name="Image 7" descr="gen-dedup-33d1412a2c3a589eb36f7e55c6b068dc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838505" y="8039405"/>
            <a:ext cx="16611905" cy="9144"/>
          </a:xfrm>
          <a:prstGeom prst="rect">
            <a:avLst/>
          </a:prstGeom>
        </p:spPr>
      </p:pic>
      <p:pic>
        <p:nvPicPr>
          <p:cNvPr id="17" name="Image 8" descr="gen-dedup-33d1412a2c3a589eb36f7e55c6b068dc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838505" y="8438998"/>
            <a:ext cx="16611905" cy="9144"/>
          </a:xfrm>
          <a:prstGeom prst="rect">
            <a:avLst/>
          </a:prstGeom>
        </p:spPr>
      </p:pic>
      <p:pic>
        <p:nvPicPr>
          <p:cNvPr id="18" name="Image 9" descr="gen-dedup-33d1412a2c3a589eb36f7e55c6b068dc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838505" y="8839505"/>
            <a:ext cx="16611905" cy="9144"/>
          </a:xfrm>
          <a:prstGeom prst="rect">
            <a:avLst/>
          </a:prstGeom>
        </p:spPr>
      </p:pic>
      <p:pic>
        <p:nvPicPr>
          <p:cNvPr id="19" name="Image 10" descr="gen-dedup-208e3c1db2ec408b78c5222320cd21a6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sp>
        <p:nvSpPr>
          <p:cNvPr id="20" name="Text 6"/>
          <p:cNvSpPr txBox="1"/>
          <p:nvPr/>
        </p:nvSpPr>
        <p:spPr>
          <a:xfrm>
            <a:off x="838505" y="990295"/>
            <a:ext cx="1143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03 · METRIC TARGETS &amp; DEFINITION</a:t>
            </a:r>
            <a:endParaRPr lang="en-US" sz="1650" dirty="0"/>
          </a:p>
        </p:txBody>
      </p:sp>
      <p:sp>
        <p:nvSpPr>
          <p:cNvPr id="21" name="Text 7"/>
          <p:cNvSpPr txBox="1"/>
          <p:nvPr/>
        </p:nvSpPr>
        <p:spPr>
          <a:xfrm>
            <a:off x="838505" y="1410005"/>
            <a:ext cx="1428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항목 및 Target 정의</a:t>
            </a:r>
            <a:endParaRPr lang="en-US" sz="4050" dirty="0"/>
          </a:p>
        </p:txBody>
      </p:sp>
      <p:sp>
        <p:nvSpPr>
          <p:cNvPr id="22" name="Text 8"/>
          <p:cNvSpPr txBox="1"/>
          <p:nvPr/>
        </p:nvSpPr>
        <p:spPr>
          <a:xfrm>
            <a:off x="1123798" y="2800807"/>
            <a:ext cx="34107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500" dirty="0"/>
          </a:p>
        </p:txBody>
      </p:sp>
      <p:sp>
        <p:nvSpPr>
          <p:cNvPr id="23" name="Text 9"/>
          <p:cNvSpPr txBox="1"/>
          <p:nvPr/>
        </p:nvSpPr>
        <p:spPr>
          <a:xfrm>
            <a:off x="1123798" y="3076956"/>
            <a:ext cx="34107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After-Ash Si trench Inner</a:t>
            </a:r>
            <a:endParaRPr lang="en-US" sz="1575" dirty="0"/>
          </a:p>
        </p:txBody>
      </p:sp>
      <p:sp>
        <p:nvSpPr>
          <p:cNvPr id="24" name="Text 10"/>
          <p:cNvSpPr txBox="1"/>
          <p:nvPr/>
        </p:nvSpPr>
        <p:spPr>
          <a:xfrm>
            <a:off x="1123798" y="3534156"/>
            <a:ext cx="3410712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24.3</a:t>
            </a:r>
            <a:pPr algn="l" indent="0" marL="0">
              <a:buNone/>
            </a:pPr>
            <a:r>
              <a:rPr lang="en-US" sz="2400" b="1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</a:t>
            </a:r>
            <a:endParaRPr lang="en-US" sz="6300" dirty="0"/>
          </a:p>
        </p:txBody>
      </p:sp>
      <p:sp>
        <p:nvSpPr>
          <p:cNvPr id="25" name="Text 11"/>
          <p:cNvSpPr txBox="1"/>
          <p:nvPr/>
        </p:nvSpPr>
        <p:spPr>
          <a:xfrm>
            <a:off x="1123798" y="4441241"/>
            <a:ext cx="341071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 trench bottom CD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strip · pre-ILD</a:t>
            </a:r>
            <a:endParaRPr lang="en-US" sz="1350" dirty="0"/>
          </a:p>
        </p:txBody>
      </p:sp>
      <p:sp>
        <p:nvSpPr>
          <p:cNvPr id="26" name="Text 12"/>
          <p:cNvSpPr txBox="1"/>
          <p:nvPr/>
        </p:nvSpPr>
        <p:spPr>
          <a:xfrm>
            <a:off x="5544007" y="2800807"/>
            <a:ext cx="34107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500" dirty="0"/>
          </a:p>
        </p:txBody>
      </p:sp>
      <p:sp>
        <p:nvSpPr>
          <p:cNvPr id="27" name="Text 13"/>
          <p:cNvSpPr txBox="1"/>
          <p:nvPr/>
        </p:nvSpPr>
        <p:spPr>
          <a:xfrm>
            <a:off x="5544007" y="3076956"/>
            <a:ext cx="34107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After-Ash Si trench Etch-In</a:t>
            </a:r>
            <a:endParaRPr lang="en-US" sz="1575" dirty="0"/>
          </a:p>
        </p:txBody>
      </p:sp>
      <p:sp>
        <p:nvSpPr>
          <p:cNvPr id="28" name="Text 14"/>
          <p:cNvSpPr txBox="1"/>
          <p:nvPr/>
        </p:nvSpPr>
        <p:spPr>
          <a:xfrm>
            <a:off x="5544007" y="3534156"/>
            <a:ext cx="3410712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18.1</a:t>
            </a:r>
            <a:pPr algn="l" indent="0" marL="0">
              <a:buNone/>
            </a:pPr>
            <a:r>
              <a:rPr lang="en-US" sz="2400" b="1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</a:t>
            </a:r>
            <a:endParaRPr lang="en-US" sz="6300" dirty="0"/>
          </a:p>
        </p:txBody>
      </p:sp>
      <p:sp>
        <p:nvSpPr>
          <p:cNvPr id="29" name="Text 15"/>
          <p:cNvSpPr txBox="1"/>
          <p:nvPr/>
        </p:nvSpPr>
        <p:spPr>
          <a:xfrm>
            <a:off x="5544007" y="4441241"/>
            <a:ext cx="341071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 trench etch-in CD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ash clean</a:t>
            </a:r>
            <a:endParaRPr lang="en-US" sz="1350" dirty="0"/>
          </a:p>
        </p:txBody>
      </p:sp>
      <p:sp>
        <p:nvSpPr>
          <p:cNvPr id="30" name="Text 16"/>
          <p:cNvSpPr txBox="1"/>
          <p:nvPr/>
        </p:nvSpPr>
        <p:spPr>
          <a:xfrm>
            <a:off x="9963302" y="2800807"/>
            <a:ext cx="34107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500" dirty="0"/>
          </a:p>
        </p:txBody>
      </p:sp>
      <p:sp>
        <p:nvSpPr>
          <p:cNvPr id="31" name="Text 17"/>
          <p:cNvSpPr txBox="1"/>
          <p:nvPr/>
        </p:nvSpPr>
        <p:spPr>
          <a:xfrm>
            <a:off x="9963302" y="3076956"/>
            <a:ext cx="34107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After-Metal Inspection</a:t>
            </a:r>
            <a:endParaRPr lang="en-US" sz="1575" dirty="0"/>
          </a:p>
        </p:txBody>
      </p:sp>
      <p:sp>
        <p:nvSpPr>
          <p:cNvPr id="32" name="Text 18"/>
          <p:cNvSpPr txBox="1"/>
          <p:nvPr/>
        </p:nvSpPr>
        <p:spPr>
          <a:xfrm>
            <a:off x="9963302" y="3534156"/>
            <a:ext cx="3410712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</a:t>
            </a:r>
            <a:pPr algn="l" indent="0" marL="0">
              <a:buNone/>
            </a:pPr>
            <a:r>
              <a:rPr lang="en-US" sz="2400" b="1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</a:t>
            </a:r>
            <a:endParaRPr lang="en-US" sz="6300" dirty="0"/>
          </a:p>
        </p:txBody>
      </p:sp>
      <p:sp>
        <p:nvSpPr>
          <p:cNvPr id="33" name="Text 19"/>
          <p:cNvSpPr txBox="1"/>
          <p:nvPr/>
        </p:nvSpPr>
        <p:spPr>
          <a:xfrm>
            <a:off x="9963302" y="4441241"/>
            <a:ext cx="341071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post-CMP CD target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top-down SEM</a:t>
            </a:r>
            <a:endParaRPr lang="en-US" sz="1350" dirty="0"/>
          </a:p>
        </p:txBody>
      </p:sp>
      <p:sp>
        <p:nvSpPr>
          <p:cNvPr id="34" name="Text 20"/>
          <p:cNvSpPr txBox="1"/>
          <p:nvPr/>
        </p:nvSpPr>
        <p:spPr>
          <a:xfrm>
            <a:off x="14382598" y="2800807"/>
            <a:ext cx="285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500" dirty="0"/>
          </a:p>
        </p:txBody>
      </p:sp>
      <p:sp>
        <p:nvSpPr>
          <p:cNvPr id="35" name="Text 21"/>
          <p:cNvSpPr txBox="1"/>
          <p:nvPr/>
        </p:nvSpPr>
        <p:spPr>
          <a:xfrm>
            <a:off x="14382598" y="3076956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After-CMP Inspection</a:t>
            </a:r>
            <a:endParaRPr lang="en-US" sz="1575" dirty="0"/>
          </a:p>
        </p:txBody>
      </p:sp>
      <p:sp>
        <p:nvSpPr>
          <p:cNvPr id="36" name="Text 22"/>
          <p:cNvSpPr txBox="1"/>
          <p:nvPr/>
        </p:nvSpPr>
        <p:spPr>
          <a:xfrm>
            <a:off x="14382598" y="3534156"/>
            <a:ext cx="307147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8.2</a:t>
            </a:r>
            <a:pPr algn="l" indent="0" marL="0">
              <a:buNone/>
            </a:pPr>
            <a:r>
              <a:rPr lang="en-US" sz="2400" b="1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</a:t>
            </a:r>
            <a:endParaRPr lang="en-US" sz="6300" dirty="0"/>
          </a:p>
        </p:txBody>
      </p:sp>
      <p:sp>
        <p:nvSpPr>
          <p:cNvPr id="37" name="Text 23"/>
          <p:cNvSpPr txBox="1"/>
          <p:nvPr/>
        </p:nvSpPr>
        <p:spPr>
          <a:xfrm>
            <a:off x="14382598" y="4441241"/>
            <a:ext cx="285750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via CD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defectivity reference</a:t>
            </a:r>
            <a:endParaRPr lang="en-US" sz="1350" dirty="0"/>
          </a:p>
        </p:txBody>
      </p:sp>
      <p:sp>
        <p:nvSpPr>
          <p:cNvPr id="38" name="Text 24"/>
          <p:cNvSpPr txBox="1"/>
          <p:nvPr/>
        </p:nvSpPr>
        <p:spPr>
          <a:xfrm>
            <a:off x="838505" y="6515100"/>
            <a:ext cx="8572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CD-SEM 측정 정의</a:t>
            </a:r>
            <a:endParaRPr lang="en-US" sz="1800" dirty="0"/>
          </a:p>
        </p:txBody>
      </p:sp>
      <p:sp>
        <p:nvSpPr>
          <p:cNvPr id="39" name="Text 25"/>
          <p:cNvSpPr txBox="1"/>
          <p:nvPr/>
        </p:nvSpPr>
        <p:spPr>
          <a:xfrm>
            <a:off x="838505" y="6924751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threshold algorithm · 9 site 평균 · 5-line averaging · 3 wafer combine</a:t>
            </a:r>
            <a:endParaRPr lang="en-US" sz="1350" dirty="0"/>
          </a:p>
        </p:txBody>
      </p:sp>
      <p:sp>
        <p:nvSpPr>
          <p:cNvPr id="40" name="Text 26"/>
          <p:cNvSpPr txBox="1"/>
          <p:nvPr/>
        </p:nvSpPr>
        <p:spPr>
          <a:xfrm>
            <a:off x="1028700" y="7334402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350" dirty="0"/>
          </a:p>
        </p:txBody>
      </p:sp>
      <p:sp>
        <p:nvSpPr>
          <p:cNvPr id="41" name="Text 27"/>
          <p:cNvSpPr txBox="1"/>
          <p:nvPr/>
        </p:nvSpPr>
        <p:spPr>
          <a:xfrm>
            <a:off x="3886200" y="7334402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/ Mode</a:t>
            </a:r>
            <a:endParaRPr lang="en-US" sz="1350" dirty="0"/>
          </a:p>
        </p:txBody>
      </p:sp>
      <p:sp>
        <p:nvSpPr>
          <p:cNvPr id="42" name="Text 28"/>
          <p:cNvSpPr txBox="1"/>
          <p:nvPr/>
        </p:nvSpPr>
        <p:spPr>
          <a:xfrm>
            <a:off x="6362395" y="7334402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Sites / wafer</a:t>
            </a:r>
            <a:endParaRPr lang="en-US" sz="1350" dirty="0"/>
          </a:p>
        </p:txBody>
      </p:sp>
      <p:sp>
        <p:nvSpPr>
          <p:cNvPr id="43" name="Text 29"/>
          <p:cNvSpPr txBox="1"/>
          <p:nvPr/>
        </p:nvSpPr>
        <p:spPr>
          <a:xfrm>
            <a:off x="8839505" y="7334402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Δ-to-target</a:t>
            </a:r>
            <a:endParaRPr lang="en-US" sz="1350" dirty="0"/>
          </a:p>
        </p:txBody>
      </p:sp>
      <p:sp>
        <p:nvSpPr>
          <p:cNvPr id="44" name="Text 30"/>
          <p:cNvSpPr txBox="1"/>
          <p:nvPr/>
        </p:nvSpPr>
        <p:spPr>
          <a:xfrm>
            <a:off x="11697005" y="7334402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Acceptance window</a:t>
            </a:r>
            <a:endParaRPr lang="en-US" sz="1350" dirty="0"/>
          </a:p>
        </p:txBody>
      </p:sp>
      <p:sp>
        <p:nvSpPr>
          <p:cNvPr id="45" name="Text 31"/>
          <p:cNvSpPr txBox="1"/>
          <p:nvPr/>
        </p:nvSpPr>
        <p:spPr>
          <a:xfrm>
            <a:off x="14554505" y="7334402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비고</a:t>
            </a:r>
            <a:endParaRPr lang="en-US" sz="1350" dirty="0"/>
          </a:p>
        </p:txBody>
      </p:sp>
      <p:sp>
        <p:nvSpPr>
          <p:cNvPr id="46" name="Text 32"/>
          <p:cNvSpPr txBox="1"/>
          <p:nvPr/>
        </p:nvSpPr>
        <p:spPr>
          <a:xfrm>
            <a:off x="1028700" y="7715707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500" dirty="0"/>
          </a:p>
        </p:txBody>
      </p:sp>
      <p:sp>
        <p:nvSpPr>
          <p:cNvPr id="47" name="Text 33"/>
          <p:cNvSpPr txBox="1"/>
          <p:nvPr/>
        </p:nvSpPr>
        <p:spPr>
          <a:xfrm>
            <a:off x="3886200" y="7715707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CD-SEM · BSE</a:t>
            </a:r>
            <a:endParaRPr lang="en-US" sz="1350" dirty="0"/>
          </a:p>
        </p:txBody>
      </p:sp>
      <p:sp>
        <p:nvSpPr>
          <p:cNvPr id="48" name="Text 34"/>
          <p:cNvSpPr txBox="1"/>
          <p:nvPr/>
        </p:nvSpPr>
        <p:spPr>
          <a:xfrm>
            <a:off x="6362395" y="7715707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350" dirty="0"/>
          </a:p>
        </p:txBody>
      </p:sp>
      <p:sp>
        <p:nvSpPr>
          <p:cNvPr id="49" name="Text 35"/>
          <p:cNvSpPr txBox="1"/>
          <p:nvPr/>
        </p:nvSpPr>
        <p:spPr>
          <a:xfrm>
            <a:off x="8839505" y="7715707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± 1.5 nm</a:t>
            </a:r>
            <a:endParaRPr lang="en-US" sz="1350" dirty="0"/>
          </a:p>
        </p:txBody>
      </p:sp>
      <p:sp>
        <p:nvSpPr>
          <p:cNvPr id="50" name="Text 36"/>
          <p:cNvSpPr txBox="1"/>
          <p:nvPr/>
        </p:nvSpPr>
        <p:spPr>
          <a:xfrm>
            <a:off x="11697005" y="7715707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≤ 1.8 nm</a:t>
            </a:r>
            <a:endParaRPr lang="en-US" sz="1350" dirty="0"/>
          </a:p>
        </p:txBody>
      </p:sp>
      <p:sp>
        <p:nvSpPr>
          <p:cNvPr id="51" name="Text 37"/>
          <p:cNvSpPr txBox="1"/>
          <p:nvPr/>
        </p:nvSpPr>
        <p:spPr>
          <a:xfrm>
            <a:off x="14554505" y="7715707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trench bottom</a:t>
            </a:r>
            <a:endParaRPr lang="en-US" sz="1350" dirty="0"/>
          </a:p>
        </p:txBody>
      </p:sp>
      <p:sp>
        <p:nvSpPr>
          <p:cNvPr id="52" name="Text 38"/>
          <p:cNvSpPr txBox="1"/>
          <p:nvPr/>
        </p:nvSpPr>
        <p:spPr>
          <a:xfrm>
            <a:off x="1028700" y="8115300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500" dirty="0"/>
          </a:p>
        </p:txBody>
      </p:sp>
      <p:sp>
        <p:nvSpPr>
          <p:cNvPr id="53" name="Text 39"/>
          <p:cNvSpPr txBox="1"/>
          <p:nvPr/>
        </p:nvSpPr>
        <p:spPr>
          <a:xfrm>
            <a:off x="3886200" y="811530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CD-SEM · BSE</a:t>
            </a:r>
            <a:endParaRPr lang="en-US" sz="1350" dirty="0"/>
          </a:p>
        </p:txBody>
      </p:sp>
      <p:sp>
        <p:nvSpPr>
          <p:cNvPr id="54" name="Text 40"/>
          <p:cNvSpPr txBox="1"/>
          <p:nvPr/>
        </p:nvSpPr>
        <p:spPr>
          <a:xfrm>
            <a:off x="6362395" y="8115300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350" dirty="0"/>
          </a:p>
        </p:txBody>
      </p:sp>
      <p:sp>
        <p:nvSpPr>
          <p:cNvPr id="55" name="Text 41"/>
          <p:cNvSpPr txBox="1"/>
          <p:nvPr/>
        </p:nvSpPr>
        <p:spPr>
          <a:xfrm>
            <a:off x="8839505" y="8115300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± 1.2 nm</a:t>
            </a:r>
            <a:endParaRPr lang="en-US" sz="1350" dirty="0"/>
          </a:p>
        </p:txBody>
      </p:sp>
      <p:sp>
        <p:nvSpPr>
          <p:cNvPr id="56" name="Text 42"/>
          <p:cNvSpPr txBox="1"/>
          <p:nvPr/>
        </p:nvSpPr>
        <p:spPr>
          <a:xfrm>
            <a:off x="11697005" y="8115300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≤ 1.5 nm</a:t>
            </a:r>
            <a:endParaRPr lang="en-US" sz="1350" dirty="0"/>
          </a:p>
        </p:txBody>
      </p:sp>
      <p:sp>
        <p:nvSpPr>
          <p:cNvPr id="57" name="Text 43"/>
          <p:cNvSpPr txBox="1"/>
          <p:nvPr/>
        </p:nvSpPr>
        <p:spPr>
          <a:xfrm>
            <a:off x="14554505" y="8115300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trench etch-in</a:t>
            </a:r>
            <a:endParaRPr lang="en-US" sz="1350" dirty="0"/>
          </a:p>
        </p:txBody>
      </p:sp>
      <p:sp>
        <p:nvSpPr>
          <p:cNvPr id="58" name="Text 44"/>
          <p:cNvSpPr txBox="1"/>
          <p:nvPr/>
        </p:nvSpPr>
        <p:spPr>
          <a:xfrm>
            <a:off x="1028700" y="8515807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500" dirty="0"/>
          </a:p>
        </p:txBody>
      </p:sp>
      <p:sp>
        <p:nvSpPr>
          <p:cNvPr id="59" name="Text 45"/>
          <p:cNvSpPr txBox="1"/>
          <p:nvPr/>
        </p:nvSpPr>
        <p:spPr>
          <a:xfrm>
            <a:off x="3886200" y="8515807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CD-SEM · T-Down</a:t>
            </a:r>
            <a:endParaRPr lang="en-US" sz="1350" dirty="0"/>
          </a:p>
        </p:txBody>
      </p:sp>
      <p:sp>
        <p:nvSpPr>
          <p:cNvPr id="60" name="Text 46"/>
          <p:cNvSpPr txBox="1"/>
          <p:nvPr/>
        </p:nvSpPr>
        <p:spPr>
          <a:xfrm>
            <a:off x="6362395" y="8515807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350" dirty="0"/>
          </a:p>
        </p:txBody>
      </p:sp>
      <p:sp>
        <p:nvSpPr>
          <p:cNvPr id="61" name="Text 47"/>
          <p:cNvSpPr txBox="1"/>
          <p:nvPr/>
        </p:nvSpPr>
        <p:spPr>
          <a:xfrm>
            <a:off x="8839505" y="8515807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± 0.8 nm</a:t>
            </a:r>
            <a:endParaRPr lang="en-US" sz="1350" dirty="0"/>
          </a:p>
        </p:txBody>
      </p:sp>
      <p:sp>
        <p:nvSpPr>
          <p:cNvPr id="62" name="Text 48"/>
          <p:cNvSpPr txBox="1"/>
          <p:nvPr/>
        </p:nvSpPr>
        <p:spPr>
          <a:xfrm>
            <a:off x="11697005" y="8515807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≤ 0.9 nm</a:t>
            </a:r>
            <a:endParaRPr lang="en-US" sz="1350" dirty="0"/>
          </a:p>
        </p:txBody>
      </p:sp>
      <p:sp>
        <p:nvSpPr>
          <p:cNvPr id="63" name="Text 49"/>
          <p:cNvSpPr txBox="1"/>
          <p:nvPr/>
        </p:nvSpPr>
        <p:spPr>
          <a:xfrm>
            <a:off x="14554505" y="8515807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Cu CMP</a:t>
            </a:r>
            <a:endParaRPr lang="en-US" sz="1350" dirty="0"/>
          </a:p>
        </p:txBody>
      </p:sp>
      <p:sp>
        <p:nvSpPr>
          <p:cNvPr id="64" name="Text 50"/>
          <p:cNvSpPr txBox="1"/>
          <p:nvPr/>
        </p:nvSpPr>
        <p:spPr>
          <a:xfrm>
            <a:off x="1028700" y="8915400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500" dirty="0"/>
          </a:p>
        </p:txBody>
      </p:sp>
      <p:sp>
        <p:nvSpPr>
          <p:cNvPr id="65" name="Text 51"/>
          <p:cNvSpPr txBox="1"/>
          <p:nvPr/>
        </p:nvSpPr>
        <p:spPr>
          <a:xfrm>
            <a:off x="3886200" y="891540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CD-SEM · T-Down</a:t>
            </a:r>
            <a:endParaRPr lang="en-US" sz="1350" dirty="0"/>
          </a:p>
        </p:txBody>
      </p:sp>
      <p:sp>
        <p:nvSpPr>
          <p:cNvPr id="66" name="Text 52"/>
          <p:cNvSpPr txBox="1"/>
          <p:nvPr/>
        </p:nvSpPr>
        <p:spPr>
          <a:xfrm>
            <a:off x="6362395" y="8915400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350" dirty="0"/>
          </a:p>
        </p:txBody>
      </p:sp>
      <p:sp>
        <p:nvSpPr>
          <p:cNvPr id="67" name="Text 53"/>
          <p:cNvSpPr txBox="1"/>
          <p:nvPr/>
        </p:nvSpPr>
        <p:spPr>
          <a:xfrm>
            <a:off x="8839505" y="8915400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± 0.6 nm</a:t>
            </a:r>
            <a:endParaRPr lang="en-US" sz="1350" dirty="0"/>
          </a:p>
        </p:txBody>
      </p:sp>
      <p:sp>
        <p:nvSpPr>
          <p:cNvPr id="68" name="Text 54"/>
          <p:cNvSpPr txBox="1"/>
          <p:nvPr/>
        </p:nvSpPr>
        <p:spPr>
          <a:xfrm>
            <a:off x="11697005" y="8915400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≤ 0.8 nm</a:t>
            </a:r>
            <a:endParaRPr lang="en-US" sz="1350" dirty="0"/>
          </a:p>
        </p:txBody>
      </p:sp>
      <p:sp>
        <p:nvSpPr>
          <p:cNvPr id="69" name="Text 55"/>
          <p:cNvSpPr txBox="1"/>
          <p:nvPr/>
        </p:nvSpPr>
        <p:spPr>
          <a:xfrm>
            <a:off x="14554505" y="8915400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 CD final</a:t>
            </a:r>
            <a:endParaRPr lang="en-US" sz="1350" dirty="0"/>
          </a:p>
        </p:txBody>
      </p:sp>
      <p:sp>
        <p:nvSpPr>
          <p:cNvPr id="70" name="Text 56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590495"/>
            <a:ext cx="9353398" cy="6305702"/>
          </a:xfrm>
          <a:prstGeom prst="rect">
            <a:avLst/>
          </a:prstGeom>
          <a:solidFill>
            <a:srgbClr val="0E1822"/>
          </a:solidFill>
          <a:ln w="12700">
            <a:solidFill>
              <a:srgbClr val="2E3E54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554005" y="6172200"/>
            <a:ext cx="68772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pic>
        <p:nvPicPr>
          <p:cNvPr id="6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800100"/>
            <a:ext cx="1143000" cy="38405"/>
          </a:xfrm>
          <a:prstGeom prst="rect">
            <a:avLst/>
          </a:prstGeom>
        </p:spPr>
      </p:pic>
      <p:pic>
        <p:nvPicPr>
          <p:cNvPr id="7" name="Image 2" descr="gen-dedup-468fb66c94ddd454d6042bb4b97220c6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0554005" y="2971800"/>
            <a:ext cx="57607" cy="2857500"/>
          </a:xfrm>
          <a:prstGeom prst="rect">
            <a:avLst/>
          </a:prstGeom>
        </p:spPr>
      </p:pic>
      <p:pic>
        <p:nvPicPr>
          <p:cNvPr id="8" name="Image 3" descr="gen-dedup-f069787af28decd9a01f552bbb75f35e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10554005" y="6172200"/>
            <a:ext cx="6858000" cy="57607"/>
          </a:xfrm>
          <a:prstGeom prst="rect">
            <a:avLst/>
          </a:prstGeom>
        </p:spPr>
      </p:pic>
      <p:pic>
        <p:nvPicPr>
          <p:cNvPr id="9" name="Image 4" descr="gen-dedup-82a38358a20052615d526bce080b08c3.png">    </p:cNvPr>
          <p:cNvPicPr>
            <a:picLocks noChangeAspect="1"/>
          </p:cNvPicPr>
          <p:nvPr/>
        </p:nvPicPr>
        <p:blipFill>
          <a:blip r:embed="rId5"/>
          <a:srcRect l="-2089" r="-2089" t="0" b="0"/>
          <a:stretch/>
        </p:blipFill>
        <p:spPr>
          <a:xfrm>
            <a:off x="10839298" y="8305495"/>
            <a:ext cx="3238805" cy="9144"/>
          </a:xfrm>
          <a:prstGeom prst="rect">
            <a:avLst/>
          </a:prstGeom>
        </p:spPr>
      </p:pic>
      <p:pic>
        <p:nvPicPr>
          <p:cNvPr id="10" name="Image 5" descr="gen-dedup-82a38358a20052615d526bce080b08c3.png">    </p:cNvPr>
          <p:cNvPicPr>
            <a:picLocks noChangeAspect="1"/>
          </p:cNvPicPr>
          <p:nvPr/>
        </p:nvPicPr>
        <p:blipFill>
          <a:blip r:embed="rId6"/>
          <a:srcRect l="-2089" r="-2089" t="0" b="0"/>
          <a:stretch/>
        </p:blipFill>
        <p:spPr>
          <a:xfrm>
            <a:off x="14173200" y="8305495"/>
            <a:ext cx="3238805" cy="9144"/>
          </a:xfrm>
          <a:prstGeom prst="rect">
            <a:avLst/>
          </a:prstGeom>
        </p:spPr>
      </p:pic>
      <p:pic>
        <p:nvPicPr>
          <p:cNvPr id="11" name="Image 6" descr="gen-dedup-208e3c1db2ec408b78c5222320cd21a6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pic>
        <p:nvPicPr>
          <p:cNvPr id="12" name="Image 7" descr="gen-dedup-b59f5687418219e43518b0bf22227f99.jpg">    </p:cNvPr>
          <p:cNvPicPr>
            <a:picLocks noChangeAspect="1"/>
          </p:cNvPicPr>
          <p:nvPr/>
        </p:nvPicPr>
        <p:blipFill>
          <a:blip r:embed="rId8"/>
          <a:srcRect l="0" r="0" t="11623" b="11623"/>
          <a:stretch/>
        </p:blipFill>
        <p:spPr>
          <a:xfrm>
            <a:off x="1410005" y="3029407"/>
            <a:ext cx="8191195" cy="5429707"/>
          </a:xfrm>
          <a:prstGeom prst="rect">
            <a:avLst/>
          </a:prstGeom>
        </p:spPr>
      </p:pic>
      <p:sp>
        <p:nvSpPr>
          <p:cNvPr id="13" name="Shape 2"/>
          <p:cNvSpPr/>
          <p:nvPr/>
        </p:nvSpPr>
        <p:spPr>
          <a:xfrm>
            <a:off x="1143000" y="2819095"/>
            <a:ext cx="2286000" cy="304495"/>
          </a:xfrm>
          <a:prstGeom prst="rect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3"/>
          <p:cNvSpPr txBox="1"/>
          <p:nvPr/>
        </p:nvSpPr>
        <p:spPr>
          <a:xfrm>
            <a:off x="838505" y="990295"/>
            <a:ext cx="10478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04 · SEM CROSS-SECTION OVERVIEW</a:t>
            </a:r>
            <a:endParaRPr lang="en-US" sz="1650" dirty="0"/>
          </a:p>
        </p:txBody>
      </p:sp>
      <p:sp>
        <p:nvSpPr>
          <p:cNvPr id="15" name="Text 4"/>
          <p:cNvSpPr txBox="1"/>
          <p:nvPr/>
        </p:nvSpPr>
        <p:spPr>
          <a:xfrm>
            <a:off x="838505" y="1410005"/>
            <a:ext cx="1428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 단면 SEM — 기준 reference</a:t>
            </a:r>
            <a:endParaRPr lang="en-US" sz="4050" dirty="0"/>
          </a:p>
        </p:txBody>
      </p:sp>
      <p:sp>
        <p:nvSpPr>
          <p:cNvPr id="16" name="Text 5"/>
          <p:cNvSpPr txBox="1"/>
          <p:nvPr/>
        </p:nvSpPr>
        <p:spPr>
          <a:xfrm>
            <a:off x="1143000" y="2857500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spc="158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 · TILT 52°</a:t>
            </a:r>
            <a:endParaRPr lang="en-US" sz="1125" dirty="0"/>
          </a:p>
        </p:txBody>
      </p:sp>
      <p:sp>
        <p:nvSpPr>
          <p:cNvPr id="17" name="Text 6"/>
          <p:cNvSpPr txBox="1"/>
          <p:nvPr/>
        </p:nvSpPr>
        <p:spPr>
          <a:xfrm>
            <a:off x="10554005" y="2590495"/>
            <a:ext cx="6858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단면에서 보이는 stack</a:t>
            </a:r>
            <a:endParaRPr lang="en-US" sz="1800" dirty="0"/>
          </a:p>
        </p:txBody>
      </p:sp>
      <p:sp>
        <p:nvSpPr>
          <p:cNvPr id="18" name="Text 7"/>
          <p:cNvSpPr txBox="1"/>
          <p:nvPr/>
        </p:nvSpPr>
        <p:spPr>
          <a:xfrm>
            <a:off x="10782605" y="3038551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650" dirty="0"/>
          </a:p>
        </p:txBody>
      </p:sp>
      <p:sp>
        <p:nvSpPr>
          <p:cNvPr id="19" name="Text 8"/>
          <p:cNvSpPr txBox="1"/>
          <p:nvPr/>
        </p:nvSpPr>
        <p:spPr>
          <a:xfrm>
            <a:off x="11772900" y="3010205"/>
            <a:ext cx="248259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line · 28 nm space</a:t>
            </a:r>
            <a:endParaRPr lang="en-US" sz="1650" dirty="0"/>
          </a:p>
        </p:txBody>
      </p:sp>
      <p:sp>
        <p:nvSpPr>
          <p:cNvPr id="20" name="Text 9"/>
          <p:cNvSpPr txBox="1"/>
          <p:nvPr/>
        </p:nvSpPr>
        <p:spPr>
          <a:xfrm>
            <a:off x="10782605" y="3419856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</a:t>
            </a:r>
            <a:endParaRPr lang="en-US" sz="1650" dirty="0"/>
          </a:p>
        </p:txBody>
      </p:sp>
      <p:sp>
        <p:nvSpPr>
          <p:cNvPr id="21" name="Text 10"/>
          <p:cNvSpPr txBox="1"/>
          <p:nvPr/>
        </p:nvSpPr>
        <p:spPr>
          <a:xfrm>
            <a:off x="11772900" y="3390595"/>
            <a:ext cx="28565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SiCOH IMD · 56 nm pitch</a:t>
            </a:r>
            <a:endParaRPr lang="en-US" sz="1650" dirty="0"/>
          </a:p>
        </p:txBody>
      </p:sp>
      <p:sp>
        <p:nvSpPr>
          <p:cNvPr id="22" name="Text 11"/>
          <p:cNvSpPr txBox="1"/>
          <p:nvPr/>
        </p:nvSpPr>
        <p:spPr>
          <a:xfrm>
            <a:off x="10782605" y="3800246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650" dirty="0"/>
          </a:p>
        </p:txBody>
      </p:sp>
      <p:sp>
        <p:nvSpPr>
          <p:cNvPr id="23" name="Text 12"/>
          <p:cNvSpPr txBox="1"/>
          <p:nvPr/>
        </p:nvSpPr>
        <p:spPr>
          <a:xfrm>
            <a:off x="11772900" y="3771900"/>
            <a:ext cx="206380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TaN/Ta BM · 2 nm</a:t>
            </a:r>
            <a:endParaRPr lang="en-US" sz="1650" dirty="0"/>
          </a:p>
        </p:txBody>
      </p:sp>
      <p:sp>
        <p:nvSpPr>
          <p:cNvPr id="24" name="Text 13"/>
          <p:cNvSpPr txBox="1"/>
          <p:nvPr/>
        </p:nvSpPr>
        <p:spPr>
          <a:xfrm>
            <a:off x="10782605" y="4181551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</a:t>
            </a:r>
            <a:endParaRPr lang="en-US" sz="1650" dirty="0"/>
          </a:p>
        </p:txBody>
      </p:sp>
      <p:sp>
        <p:nvSpPr>
          <p:cNvPr id="25" name="Text 14"/>
          <p:cNvSpPr txBox="1"/>
          <p:nvPr/>
        </p:nvSpPr>
        <p:spPr>
          <a:xfrm>
            <a:off x="11772900" y="4153205"/>
            <a:ext cx="199522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cap · 25 nm</a:t>
            </a:r>
            <a:endParaRPr lang="en-US" sz="1650" dirty="0"/>
          </a:p>
        </p:txBody>
      </p:sp>
      <p:sp>
        <p:nvSpPr>
          <p:cNvPr id="26" name="Text 15"/>
          <p:cNvSpPr txBox="1"/>
          <p:nvPr/>
        </p:nvSpPr>
        <p:spPr>
          <a:xfrm>
            <a:off x="10839298" y="6400800"/>
            <a:ext cx="6286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메모</a:t>
            </a:r>
            <a:endParaRPr lang="en-US" sz="1650" dirty="0"/>
          </a:p>
        </p:txBody>
      </p:sp>
      <p:sp>
        <p:nvSpPr>
          <p:cNvPr id="27" name="Text 16"/>
          <p:cNvSpPr txBox="1"/>
          <p:nvPr/>
        </p:nvSpPr>
        <p:spPr>
          <a:xfrm>
            <a:off x="10839298" y="6750101"/>
            <a:ext cx="6286500" cy="88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IMD / Cu 계면 bonding 양호</a:t>
            </a:r>
            <a:pPr algn="l" indent="0" marL="0">
              <a:lnSpc>
                <a:spcPts val="2209"/>
              </a:lnSpc>
              <a:buNone/>
            </a:pPr>
            <a:endParaRPr lang="en-US" sz="1425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via-bottom recess 관찰됨 · split-A 심화 가능</a:t>
            </a:r>
            <a:pPr algn="l" indent="0" marL="0">
              <a:lnSpc>
                <a:spcPts val="2209"/>
              </a:lnSpc>
              <a:buNone/>
            </a:pPr>
            <a:endParaRPr lang="en-US" sz="1425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공통 채움 cavity 없음 · 단, 좌측 branch void 1건</a:t>
            </a:r>
            <a:endParaRPr lang="en-US" sz="1425" dirty="0"/>
          </a:p>
        </p:txBody>
      </p:sp>
      <p:sp>
        <p:nvSpPr>
          <p:cNvPr id="28" name="Text 17"/>
          <p:cNvSpPr txBox="1"/>
          <p:nvPr/>
        </p:nvSpPr>
        <p:spPr>
          <a:xfrm>
            <a:off x="10839298" y="8401507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INSTRUMENT</a:t>
            </a:r>
            <a:endParaRPr lang="en-US" sz="1200" dirty="0"/>
          </a:p>
        </p:txBody>
      </p:sp>
      <p:sp>
        <p:nvSpPr>
          <p:cNvPr id="29" name="Text 18"/>
          <p:cNvSpPr txBox="1"/>
          <p:nvPr/>
        </p:nvSpPr>
        <p:spPr>
          <a:xfrm>
            <a:off x="10839298" y="8630107"/>
            <a:ext cx="3048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Helios 5 · 5 kV</a:t>
            </a:r>
            <a:endParaRPr lang="en-US" sz="1650" dirty="0"/>
          </a:p>
        </p:txBody>
      </p:sp>
      <p:sp>
        <p:nvSpPr>
          <p:cNvPr id="30" name="Text 19"/>
          <p:cNvSpPr txBox="1"/>
          <p:nvPr/>
        </p:nvSpPr>
        <p:spPr>
          <a:xfrm>
            <a:off x="14173200" y="8401507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BAR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14173200" y="8630107"/>
            <a:ext cx="3048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 nm · tilted</a:t>
            </a:r>
            <a:endParaRPr lang="en-US" sz="1650" dirty="0"/>
          </a:p>
        </p:txBody>
      </p:sp>
      <p:sp>
        <p:nvSpPr>
          <p:cNvPr id="32" name="Text 21"/>
          <p:cNvSpPr txBox="1"/>
          <p:nvPr/>
        </p:nvSpPr>
        <p:spPr>
          <a:xfrm>
            <a:off x="838505" y="8991295"/>
            <a:ext cx="9335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Semiconductor Digest · BEOL Cu interconnect overview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590495"/>
            <a:ext cx="6495898" cy="6305702"/>
          </a:xfrm>
          <a:prstGeom prst="rect">
            <a:avLst/>
          </a:prstGeom>
          <a:solidFill>
            <a:srgbClr val="0E1822"/>
          </a:solidFill>
          <a:ln w="12700">
            <a:solidFill>
              <a:srgbClr val="2E3E54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3068605" y="2590495"/>
            <a:ext cx="4401007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pic>
        <p:nvPicPr>
          <p:cNvPr id="6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800100"/>
            <a:ext cx="1143000" cy="38405"/>
          </a:xfrm>
          <a:prstGeom prst="rect">
            <a:avLst/>
          </a:prstGeom>
        </p:spPr>
      </p:pic>
      <p:pic>
        <p:nvPicPr>
          <p:cNvPr id="7" name="Image 2" descr="gen-dedup-f268fe060df6fd1cedbe8d21225e4ff6.png">    </p:cNvPr>
          <p:cNvPicPr>
            <a:picLocks noChangeAspect="1"/>
          </p:cNvPicPr>
          <p:nvPr/>
        </p:nvPicPr>
        <p:blipFill>
          <a:blip r:embed="rId3"/>
          <a:srcRect l="0" r="0" t="-397" b="-397"/>
          <a:stretch/>
        </p:blipFill>
        <p:spPr>
          <a:xfrm>
            <a:off x="7733995" y="3010205"/>
            <a:ext cx="4953305" cy="57607"/>
          </a:xfrm>
          <a:prstGeom prst="rect">
            <a:avLst/>
          </a:prstGeom>
        </p:spPr>
      </p:pic>
      <p:pic>
        <p:nvPicPr>
          <p:cNvPr id="8" name="Image 3" descr="gen-dedup-9d62f732e08f6dea0fbdd06cf9b241a5.png">    </p:cNvPr>
          <p:cNvPicPr>
            <a:picLocks noChangeAspect="1"/>
          </p:cNvPicPr>
          <p:nvPr/>
        </p:nvPicPr>
        <p:blipFill>
          <a:blip r:embed="rId4"/>
          <a:srcRect l="0" r="0" t="-396" b="-396"/>
          <a:stretch/>
        </p:blipFill>
        <p:spPr>
          <a:xfrm>
            <a:off x="13068605" y="2590495"/>
            <a:ext cx="4381805" cy="57607"/>
          </a:xfrm>
          <a:prstGeom prst="rect">
            <a:avLst/>
          </a:prstGeom>
        </p:spPr>
      </p:pic>
      <p:pic>
        <p:nvPicPr>
          <p:cNvPr id="9" name="Image 4" descr="gen-dedup-208e3c1db2ec408b78c5222320cd21a6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pic>
        <p:nvPicPr>
          <p:cNvPr id="10" name="Image 5" descr="gen-dedup-f0bc5f6bdf9007f4bd4177a3186cd846.jpg">    </p:cNvPr>
          <p:cNvPicPr>
            <a:picLocks noChangeAspect="1"/>
          </p:cNvPicPr>
          <p:nvPr/>
        </p:nvPicPr>
        <p:blipFill>
          <a:blip r:embed="rId6"/>
          <a:srcRect l="0" r="0" t="15074" b="15074"/>
          <a:stretch/>
        </p:blipFill>
        <p:spPr>
          <a:xfrm>
            <a:off x="1410005" y="3124505"/>
            <a:ext cx="5333695" cy="5333695"/>
          </a:xfrm>
          <a:prstGeom prst="rect">
            <a:avLst/>
          </a:prstGeom>
        </p:spPr>
      </p:pic>
      <p:pic>
        <p:nvPicPr>
          <p:cNvPr id="11" name="Image 6" descr="gen-dedup-e185135d363ecf0dbc7cd6eac2ed22e2.jpg">    </p:cNvPr>
          <p:cNvPicPr>
            <a:picLocks noChangeAspect="1"/>
          </p:cNvPicPr>
          <p:nvPr/>
        </p:nvPicPr>
        <p:blipFill>
          <a:blip r:embed="rId7"/>
          <a:srcRect l="0" r="0" t="12749" b="12749"/>
          <a:stretch/>
        </p:blipFill>
        <p:spPr>
          <a:xfrm>
            <a:off x="13373100" y="3238805"/>
            <a:ext cx="3771900" cy="3238805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1143000" y="2800807"/>
            <a:ext cx="1714500" cy="286207"/>
          </a:xfrm>
          <a:prstGeom prst="rect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3"/>
          <p:cNvSpPr/>
          <p:nvPr/>
        </p:nvSpPr>
        <p:spPr>
          <a:xfrm>
            <a:off x="3276295" y="3504895"/>
            <a:ext cx="171907" cy="171907"/>
          </a:xfrm>
          <a:prstGeom prst="ellipse">
            <a:avLst/>
          </a:prstGeom>
          <a:noFill/>
          <a:ln w="25400">
            <a:solidFill>
              <a:srgbClr val="2E7AA6"/>
            </a:solidFill>
            <a:prstDash val="solid"/>
          </a:ln>
        </p:spPr>
      </p:sp>
      <p:sp>
        <p:nvSpPr>
          <p:cNvPr id="14" name="Shape 4"/>
          <p:cNvSpPr/>
          <p:nvPr/>
        </p:nvSpPr>
        <p:spPr>
          <a:xfrm>
            <a:off x="4953305" y="4572000"/>
            <a:ext cx="171907" cy="171907"/>
          </a:xfrm>
          <a:prstGeom prst="ellipse">
            <a:avLst/>
          </a:prstGeom>
          <a:noFill/>
          <a:ln w="25400">
            <a:solidFill>
              <a:srgbClr val="2E7AA6"/>
            </a:solidFill>
            <a:prstDash val="solid"/>
          </a:ln>
        </p:spPr>
      </p:sp>
      <p:sp>
        <p:nvSpPr>
          <p:cNvPr id="15" name="Shape 5"/>
          <p:cNvSpPr/>
          <p:nvPr/>
        </p:nvSpPr>
        <p:spPr>
          <a:xfrm>
            <a:off x="3276295" y="6705295"/>
            <a:ext cx="171907" cy="171907"/>
          </a:xfrm>
          <a:prstGeom prst="ellipse">
            <a:avLst/>
          </a:prstGeom>
          <a:noFill/>
          <a:ln w="25400">
            <a:solidFill>
              <a:srgbClr val="2E7AA6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3448202" y="3372307"/>
            <a:ext cx="857707" cy="304495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7"/>
          <p:cNvSpPr/>
          <p:nvPr/>
        </p:nvSpPr>
        <p:spPr>
          <a:xfrm>
            <a:off x="5143500" y="4438498"/>
            <a:ext cx="1333195" cy="304495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8"/>
          <p:cNvSpPr/>
          <p:nvPr/>
        </p:nvSpPr>
        <p:spPr>
          <a:xfrm>
            <a:off x="3448202" y="6572707"/>
            <a:ext cx="1333195" cy="304495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838505" y="990295"/>
            <a:ext cx="1143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05 · TEM Cu / LOW-K STACK</a:t>
            </a:r>
            <a:endParaRPr lang="en-US" sz="1650" dirty="0"/>
          </a:p>
        </p:txBody>
      </p:sp>
      <p:sp>
        <p:nvSpPr>
          <p:cNvPr id="20" name="Text 10"/>
          <p:cNvSpPr txBox="1"/>
          <p:nvPr/>
        </p:nvSpPr>
        <p:spPr>
          <a:xfrm>
            <a:off x="838505" y="1410005"/>
            <a:ext cx="1428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/ ULK 계면 TEM 단면 분석</a:t>
            </a:r>
            <a:endParaRPr lang="en-US" sz="4050" dirty="0"/>
          </a:p>
        </p:txBody>
      </p:sp>
      <p:sp>
        <p:nvSpPr>
          <p:cNvPr id="21" name="Text 11"/>
          <p:cNvSpPr txBox="1"/>
          <p:nvPr/>
        </p:nvSpPr>
        <p:spPr>
          <a:xfrm>
            <a:off x="1143000" y="2838298"/>
            <a:ext cx="1714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1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STEM · HAADF</a:t>
            </a:r>
            <a:endParaRPr lang="en-US" sz="1200" dirty="0"/>
          </a:p>
        </p:txBody>
      </p:sp>
      <p:sp>
        <p:nvSpPr>
          <p:cNvPr id="22" name="Text 12"/>
          <p:cNvSpPr txBox="1"/>
          <p:nvPr/>
        </p:nvSpPr>
        <p:spPr>
          <a:xfrm>
            <a:off x="3448202" y="3448202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P1 · cap</a:t>
            </a:r>
            <a:endParaRPr lang="en-US" sz="1050" dirty="0"/>
          </a:p>
        </p:txBody>
      </p:sp>
      <p:sp>
        <p:nvSpPr>
          <p:cNvPr id="23" name="Text 13"/>
          <p:cNvSpPr txBox="1"/>
          <p:nvPr/>
        </p:nvSpPr>
        <p:spPr>
          <a:xfrm>
            <a:off x="5143500" y="4515307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P2 · Cu/BM</a:t>
            </a:r>
            <a:endParaRPr lang="en-US" sz="1050" dirty="0"/>
          </a:p>
        </p:txBody>
      </p:sp>
      <p:sp>
        <p:nvSpPr>
          <p:cNvPr id="24" name="Text 14"/>
          <p:cNvSpPr txBox="1"/>
          <p:nvPr/>
        </p:nvSpPr>
        <p:spPr>
          <a:xfrm>
            <a:off x="3448202" y="6648602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P3 · IMD bulk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7733995" y="2590495"/>
            <a:ext cx="495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Stack 관찰 요지</a:t>
            </a:r>
            <a:endParaRPr lang="en-US" sz="1800" dirty="0"/>
          </a:p>
        </p:txBody>
      </p:sp>
      <p:sp>
        <p:nvSpPr>
          <p:cNvPr id="26" name="Text 16"/>
          <p:cNvSpPr txBox="1"/>
          <p:nvPr/>
        </p:nvSpPr>
        <p:spPr>
          <a:xfrm>
            <a:off x="7733995" y="3267151"/>
            <a:ext cx="208574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grain 평균 크기</a:t>
            </a:r>
            <a:endParaRPr lang="en-US" sz="1650" dirty="0"/>
          </a:p>
        </p:txBody>
      </p:sp>
      <p:sp>
        <p:nvSpPr>
          <p:cNvPr id="27" name="Text 17"/>
          <p:cNvSpPr txBox="1"/>
          <p:nvPr/>
        </p:nvSpPr>
        <p:spPr>
          <a:xfrm>
            <a:off x="11567160" y="3238805"/>
            <a:ext cx="11247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38 nm</a:t>
            </a:r>
            <a:endParaRPr lang="en-US" sz="2100" dirty="0"/>
          </a:p>
        </p:txBody>
      </p:sp>
      <p:sp>
        <p:nvSpPr>
          <p:cNvPr id="28" name="Text 18"/>
          <p:cNvSpPr txBox="1"/>
          <p:nvPr/>
        </p:nvSpPr>
        <p:spPr>
          <a:xfrm>
            <a:off x="7733995" y="3752698"/>
            <a:ext cx="83667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 단계</a:t>
            </a:r>
            <a:endParaRPr lang="en-US" sz="1650" dirty="0"/>
          </a:p>
        </p:txBody>
      </p:sp>
      <p:sp>
        <p:nvSpPr>
          <p:cNvPr id="29" name="Text 19"/>
          <p:cNvSpPr txBox="1"/>
          <p:nvPr/>
        </p:nvSpPr>
        <p:spPr>
          <a:xfrm>
            <a:off x="11727180" y="3724351"/>
            <a:ext cx="962863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 nm</a:t>
            </a:r>
            <a:endParaRPr lang="en-US" sz="2100" dirty="0"/>
          </a:p>
        </p:txBody>
      </p:sp>
      <p:sp>
        <p:nvSpPr>
          <p:cNvPr id="30" name="Text 20"/>
          <p:cNvSpPr txBox="1"/>
          <p:nvPr/>
        </p:nvSpPr>
        <p:spPr>
          <a:xfrm>
            <a:off x="7733995" y="4238244"/>
            <a:ext cx="162123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cap 두께</a:t>
            </a:r>
            <a:endParaRPr lang="en-US" sz="1650" dirty="0"/>
          </a:p>
        </p:txBody>
      </p:sp>
      <p:sp>
        <p:nvSpPr>
          <p:cNvPr id="31" name="Text 21"/>
          <p:cNvSpPr txBox="1"/>
          <p:nvPr/>
        </p:nvSpPr>
        <p:spPr>
          <a:xfrm>
            <a:off x="11887200" y="4209898"/>
            <a:ext cx="8101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nm</a:t>
            </a:r>
            <a:endParaRPr lang="en-US" sz="2100" dirty="0"/>
          </a:p>
        </p:txBody>
      </p:sp>
      <p:sp>
        <p:nvSpPr>
          <p:cNvPr id="32" name="Text 22"/>
          <p:cNvSpPr txBox="1"/>
          <p:nvPr/>
        </p:nvSpPr>
        <p:spPr>
          <a:xfrm>
            <a:off x="7733995" y="4695444"/>
            <a:ext cx="145115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계면 voiding</a:t>
            </a:r>
            <a:endParaRPr lang="en-US" sz="1650" dirty="0"/>
          </a:p>
        </p:txBody>
      </p:sp>
      <p:sp>
        <p:nvSpPr>
          <p:cNvPr id="33" name="Text 23"/>
          <p:cNvSpPr txBox="1"/>
          <p:nvPr/>
        </p:nvSpPr>
        <p:spPr>
          <a:xfrm>
            <a:off x="11857025" y="4695444"/>
            <a:ext cx="1028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44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안됨</a:t>
            </a:r>
            <a:endParaRPr lang="en-US" sz="1650" dirty="0"/>
          </a:p>
        </p:txBody>
      </p:sp>
      <p:sp>
        <p:nvSpPr>
          <p:cNvPr id="34" name="Text 24"/>
          <p:cNvSpPr txBox="1"/>
          <p:nvPr/>
        </p:nvSpPr>
        <p:spPr>
          <a:xfrm>
            <a:off x="13373100" y="2819095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plasma damage reference</a:t>
            </a:r>
            <a:endParaRPr lang="en-US" sz="1650" dirty="0"/>
          </a:p>
        </p:txBody>
      </p:sp>
      <p:sp>
        <p:nvSpPr>
          <p:cNvPr id="35" name="Text 25"/>
          <p:cNvSpPr txBox="1"/>
          <p:nvPr/>
        </p:nvSpPr>
        <p:spPr>
          <a:xfrm>
            <a:off x="13373100" y="6667805"/>
            <a:ext cx="37719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layer · 동일 strip recipe 비교 시 split-A wafer에서 측정 표면 결손 깊이 약 4.2 nm 추가 발생</a:t>
            </a:r>
            <a:endParaRPr lang="en-US" sz="1350" dirty="0"/>
          </a:p>
        </p:txBody>
      </p:sp>
      <p:sp>
        <p:nvSpPr>
          <p:cNvPr id="36" name="Text 26"/>
          <p:cNvSpPr txBox="1"/>
          <p:nvPr/>
        </p:nvSpPr>
        <p:spPr>
          <a:xfrm>
            <a:off x="13373100" y="7905902"/>
            <a:ext cx="41193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IntechOpen · Plasma damage on low-k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838505" y="8991295"/>
            <a:ext cx="6477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ResearchGate · Cu/low-k interconnect TEM figure (참조)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743200"/>
            <a:ext cx="5352898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476695" y="2743200"/>
            <a:ext cx="5352898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2115800" y="2743200"/>
            <a:ext cx="5352898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pic>
        <p:nvPicPr>
          <p:cNvPr id="7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800100"/>
            <a:ext cx="1143000" cy="38405"/>
          </a:xfrm>
          <a:prstGeom prst="rect">
            <a:avLst/>
          </a:prstGeom>
        </p:spPr>
      </p:pic>
      <p:pic>
        <p:nvPicPr>
          <p:cNvPr id="8" name="Image 2" descr="gen-dedup-30107d0a185307adfb028f747feefa31.png">    </p:cNvPr>
          <p:cNvPicPr>
            <a:picLocks noChangeAspect="1"/>
          </p:cNvPicPr>
          <p:nvPr/>
        </p:nvPicPr>
        <p:blipFill>
          <a:blip r:embed="rId3"/>
          <a:srcRect l="0" r="0" t="-403" b="-403"/>
          <a:stretch/>
        </p:blipFill>
        <p:spPr>
          <a:xfrm>
            <a:off x="838505" y="2743200"/>
            <a:ext cx="5333695" cy="57607"/>
          </a:xfrm>
          <a:prstGeom prst="rect">
            <a:avLst/>
          </a:prstGeom>
        </p:spPr>
      </p:pic>
      <p:pic>
        <p:nvPicPr>
          <p:cNvPr id="9" name="Image 3" descr="gen-dedup-3e9ea3cc5b449594e4c96b554e0db511.png">    </p:cNvPr>
          <p:cNvPicPr>
            <a:picLocks noChangeAspect="1"/>
          </p:cNvPicPr>
          <p:nvPr/>
        </p:nvPicPr>
        <p:blipFill>
          <a:blip r:embed="rId4"/>
          <a:srcRect l="0" r="0" t="-403" b="-403"/>
          <a:stretch/>
        </p:blipFill>
        <p:spPr>
          <a:xfrm>
            <a:off x="6476695" y="2743200"/>
            <a:ext cx="5333695" cy="57607"/>
          </a:xfrm>
          <a:prstGeom prst="rect">
            <a:avLst/>
          </a:prstGeom>
        </p:spPr>
      </p:pic>
      <p:pic>
        <p:nvPicPr>
          <p:cNvPr id="10" name="Image 4" descr="gen-dedup-a0ace3a1bc6a306fc1fbdf31d9784d11.png">    </p:cNvPr>
          <p:cNvPicPr>
            <a:picLocks noChangeAspect="1"/>
          </p:cNvPicPr>
          <p:nvPr/>
        </p:nvPicPr>
        <p:blipFill>
          <a:blip r:embed="rId5"/>
          <a:srcRect l="0" r="0" t="-403" b="-403"/>
          <a:stretch/>
        </p:blipFill>
        <p:spPr>
          <a:xfrm>
            <a:off x="12115800" y="2743200"/>
            <a:ext cx="5333695" cy="57607"/>
          </a:xfrm>
          <a:prstGeom prst="rect">
            <a:avLst/>
          </a:prstGeom>
        </p:spPr>
      </p:pic>
      <p:pic>
        <p:nvPicPr>
          <p:cNvPr id="11" name="Image 5" descr="gen-dedup-208e3c1db2ec408b78c5222320cd21a6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pic>
        <p:nvPicPr>
          <p:cNvPr id="12" name="Image 6" descr="gen-dedup-b59f5687418219e43518b0bf22227f99.jpg">    </p:cNvPr>
          <p:cNvPicPr>
            <a:picLocks noChangeAspect="1"/>
          </p:cNvPicPr>
          <p:nvPr/>
        </p:nvPicPr>
        <p:blipFill>
          <a:blip r:embed="rId7"/>
          <a:srcRect l="0" r="0" t="6001" b="6001"/>
          <a:stretch/>
        </p:blipFill>
        <p:spPr>
          <a:xfrm>
            <a:off x="1123798" y="3504895"/>
            <a:ext cx="4762195" cy="3619195"/>
          </a:xfrm>
          <a:prstGeom prst="rect">
            <a:avLst/>
          </a:prstGeom>
        </p:spPr>
      </p:pic>
      <p:pic>
        <p:nvPicPr>
          <p:cNvPr id="13" name="Image 7" descr="gen-dedup-e003f4e59fbba5eda29a89a8c5673ac8.jpg">    </p:cNvPr>
          <p:cNvPicPr>
            <a:picLocks noChangeAspect="1"/>
          </p:cNvPicPr>
          <p:nvPr/>
        </p:nvPicPr>
        <p:blipFill>
          <a:blip r:embed="rId8"/>
          <a:srcRect l="19257" r="19257" t="0" b="0"/>
          <a:stretch/>
        </p:blipFill>
        <p:spPr>
          <a:xfrm>
            <a:off x="6762902" y="3504895"/>
            <a:ext cx="4762195" cy="3619195"/>
          </a:xfrm>
          <a:prstGeom prst="rect">
            <a:avLst/>
          </a:prstGeom>
        </p:spPr>
      </p:pic>
      <p:pic>
        <p:nvPicPr>
          <p:cNvPr id="14" name="Image 8" descr="gen-dedup-5125f129f849b376dd51612f5fab63ce.jpg">    </p:cNvPr>
          <p:cNvPicPr>
            <a:picLocks noChangeAspect="1"/>
          </p:cNvPicPr>
          <p:nvPr/>
        </p:nvPicPr>
        <p:blipFill>
          <a:blip r:embed="rId9"/>
          <a:srcRect l="23732" r="23732" t="0" b="0"/>
          <a:stretch/>
        </p:blipFill>
        <p:spPr>
          <a:xfrm>
            <a:off x="12402007" y="3504895"/>
            <a:ext cx="4762195" cy="3619195"/>
          </a:xfrm>
          <a:prstGeom prst="rect">
            <a:avLst/>
          </a:prstGeom>
        </p:spPr>
      </p:pic>
      <p:pic>
        <p:nvPicPr>
          <p:cNvPr id="15" name="Image 9" descr="gen-dedup-807369ab1f4961fe4f8b610d459ec11d.png">    </p:cNvPr>
          <p:cNvPicPr>
            <a:picLocks noChangeAspect="1"/>
          </p:cNvPicPr>
          <p:nvPr/>
        </p:nvPicPr>
        <p:blipFill>
          <a:blip r:embed="rId10"/>
          <a:srcRect l="-2078" r="-2078" t="0" b="0"/>
          <a:stretch/>
        </p:blipFill>
        <p:spPr>
          <a:xfrm>
            <a:off x="1123798" y="8343900"/>
            <a:ext cx="4762195" cy="9144"/>
          </a:xfrm>
          <a:prstGeom prst="rect">
            <a:avLst/>
          </a:prstGeom>
        </p:spPr>
      </p:pic>
      <p:pic>
        <p:nvPicPr>
          <p:cNvPr id="16" name="Image 10" descr="gen-dedup-807369ab1f4961fe4f8b610d459ec11d.png">    </p:cNvPr>
          <p:cNvPicPr>
            <a:picLocks noChangeAspect="1"/>
          </p:cNvPicPr>
          <p:nvPr/>
        </p:nvPicPr>
        <p:blipFill>
          <a:blip r:embed="rId11"/>
          <a:srcRect l="-2078" r="-2078" t="0" b="0"/>
          <a:stretch/>
        </p:blipFill>
        <p:spPr>
          <a:xfrm>
            <a:off x="6762902" y="8343900"/>
            <a:ext cx="4762195" cy="9144"/>
          </a:xfrm>
          <a:prstGeom prst="rect">
            <a:avLst/>
          </a:prstGeom>
        </p:spPr>
      </p:pic>
      <p:pic>
        <p:nvPicPr>
          <p:cNvPr id="17" name="Image 11" descr="gen-dedup-807369ab1f4961fe4f8b610d459ec11d.png">    </p:cNvPr>
          <p:cNvPicPr>
            <a:picLocks noChangeAspect="1"/>
          </p:cNvPicPr>
          <p:nvPr/>
        </p:nvPicPr>
        <p:blipFill>
          <a:blip r:embed="rId12"/>
          <a:srcRect l="-2078" r="-2078" t="0" b="0"/>
          <a:stretch/>
        </p:blipFill>
        <p:spPr>
          <a:xfrm>
            <a:off x="12402007" y="8343900"/>
            <a:ext cx="4762195" cy="9144"/>
          </a:xfrm>
          <a:prstGeom prst="rect">
            <a:avLst/>
          </a:prstGeom>
        </p:spPr>
      </p:pic>
      <p:sp>
        <p:nvSpPr>
          <p:cNvPr id="18" name="Text 3"/>
          <p:cNvSpPr txBox="1"/>
          <p:nvPr/>
        </p:nvSpPr>
        <p:spPr>
          <a:xfrm>
            <a:off x="838505" y="990295"/>
            <a:ext cx="1143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06 · SPLIT-BY-SPLIT COMPARISON</a:t>
            </a:r>
            <a:endParaRPr lang="en-US" sz="1650" dirty="0"/>
          </a:p>
        </p:txBody>
      </p:sp>
      <p:sp>
        <p:nvSpPr>
          <p:cNvPr id="19" name="Text 4"/>
          <p:cNvSpPr txBox="1"/>
          <p:nvPr/>
        </p:nvSpPr>
        <p:spPr>
          <a:xfrm>
            <a:off x="838505" y="1410005"/>
            <a:ext cx="1428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Split 단면 비교 — 동일 scale · 동일 노출</a:t>
            </a:r>
            <a:endParaRPr lang="en-US" sz="4050" dirty="0"/>
          </a:p>
        </p:txBody>
      </p:sp>
      <p:sp>
        <p:nvSpPr>
          <p:cNvPr id="20" name="Text 5"/>
          <p:cNvSpPr txBox="1"/>
          <p:nvPr/>
        </p:nvSpPr>
        <p:spPr>
          <a:xfrm>
            <a:off x="1123798" y="2971800"/>
            <a:ext cx="10003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SPLIT-A</a:t>
            </a:r>
            <a:endParaRPr lang="en-US" sz="1650" dirty="0"/>
          </a:p>
        </p:txBody>
      </p:sp>
      <p:sp>
        <p:nvSpPr>
          <p:cNvPr id="21" name="Text 6"/>
          <p:cNvSpPr txBox="1"/>
          <p:nvPr/>
        </p:nvSpPr>
        <p:spPr>
          <a:xfrm>
            <a:off x="5071262" y="2971800"/>
            <a:ext cx="10104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 = 2.55</a:t>
            </a:r>
            <a:endParaRPr lang="en-US" sz="1650" dirty="0"/>
          </a:p>
        </p:txBody>
      </p:sp>
      <p:sp>
        <p:nvSpPr>
          <p:cNvPr id="22" name="Text 7"/>
          <p:cNvSpPr txBox="1"/>
          <p:nvPr/>
        </p:nvSpPr>
        <p:spPr>
          <a:xfrm>
            <a:off x="1123798" y="7286854"/>
            <a:ext cx="495330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치밀 단면, IMD pore density가 가장 높음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844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Cu/IMD 계면 dark band 증가</a:t>
            </a:r>
            <a:endParaRPr lang="en-US" sz="1500" dirty="0"/>
          </a:p>
        </p:txBody>
      </p:sp>
      <p:sp>
        <p:nvSpPr>
          <p:cNvPr id="23" name="Text 8"/>
          <p:cNvSpPr txBox="1"/>
          <p:nvPr/>
        </p:nvSpPr>
        <p:spPr>
          <a:xfrm>
            <a:off x="6762902" y="2971800"/>
            <a:ext cx="10003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SPLIT-B</a:t>
            </a:r>
            <a:endParaRPr lang="en-US" sz="1650" dirty="0"/>
          </a:p>
        </p:txBody>
      </p:sp>
      <p:sp>
        <p:nvSpPr>
          <p:cNvPr id="24" name="Text 9"/>
          <p:cNvSpPr txBox="1"/>
          <p:nvPr/>
        </p:nvSpPr>
        <p:spPr>
          <a:xfrm>
            <a:off x="10709453" y="2971800"/>
            <a:ext cx="10104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 = 2.75</a:t>
            </a:r>
            <a:endParaRPr lang="en-US" sz="1650" dirty="0"/>
          </a:p>
        </p:txBody>
      </p:sp>
      <p:sp>
        <p:nvSpPr>
          <p:cNvPr id="25" name="Text 10"/>
          <p:cNvSpPr txBox="1"/>
          <p:nvPr/>
        </p:nvSpPr>
        <p:spPr>
          <a:xfrm>
            <a:off x="6762902" y="7286854"/>
            <a:ext cx="495330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정도, profile은 비교적 수직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split-A보다 dark band 감소</a:t>
            </a:r>
            <a:endParaRPr lang="en-US" sz="1500" dirty="0"/>
          </a:p>
        </p:txBody>
      </p:sp>
      <p:sp>
        <p:nvSpPr>
          <p:cNvPr id="26" name="Text 11"/>
          <p:cNvSpPr txBox="1"/>
          <p:nvPr/>
        </p:nvSpPr>
        <p:spPr>
          <a:xfrm>
            <a:off x="12402007" y="2971800"/>
            <a:ext cx="10003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SPLIT-C</a:t>
            </a:r>
            <a:endParaRPr lang="en-US" sz="1650" dirty="0"/>
          </a:p>
        </p:txBody>
      </p:sp>
      <p:sp>
        <p:nvSpPr>
          <p:cNvPr id="27" name="Text 12"/>
          <p:cNvSpPr txBox="1"/>
          <p:nvPr/>
        </p:nvSpPr>
        <p:spPr>
          <a:xfrm>
            <a:off x="16348558" y="2971800"/>
            <a:ext cx="10104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 = 3.00</a:t>
            </a:r>
            <a:endParaRPr lang="en-US" sz="1650" dirty="0"/>
          </a:p>
        </p:txBody>
      </p:sp>
      <p:sp>
        <p:nvSpPr>
          <p:cNvPr id="28" name="Text 13"/>
          <p:cNvSpPr txBox="1"/>
          <p:nvPr/>
        </p:nvSpPr>
        <p:spPr>
          <a:xfrm>
            <a:off x="12402007" y="7286854"/>
            <a:ext cx="495330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IMD, 가장 균일한 profile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 · dark band 사실상 없음</a:t>
            </a:r>
            <a:endParaRPr lang="en-US" sz="1500" dirty="0"/>
          </a:p>
        </p:txBody>
      </p:sp>
      <p:sp>
        <p:nvSpPr>
          <p:cNvPr id="29" name="Text 14"/>
          <p:cNvSpPr txBox="1"/>
          <p:nvPr/>
        </p:nvSpPr>
        <p:spPr>
          <a:xfrm>
            <a:off x="1123798" y="8419795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50 nm · tilt 52°</a:t>
            </a:r>
            <a:endParaRPr lang="en-US" sz="1050" dirty="0"/>
          </a:p>
        </p:txBody>
      </p:sp>
      <p:sp>
        <p:nvSpPr>
          <p:cNvPr id="30" name="Text 15"/>
          <p:cNvSpPr txBox="1"/>
          <p:nvPr/>
        </p:nvSpPr>
        <p:spPr>
          <a:xfrm>
            <a:off x="6762902" y="8419795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50 nm · tilt 52°</a:t>
            </a:r>
            <a:endParaRPr lang="en-US" sz="1050" dirty="0"/>
          </a:p>
        </p:txBody>
      </p:sp>
      <p:sp>
        <p:nvSpPr>
          <p:cNvPr id="31" name="Text 16"/>
          <p:cNvSpPr txBox="1"/>
          <p:nvPr/>
        </p:nvSpPr>
        <p:spPr>
          <a:xfrm>
            <a:off x="12402007" y="8419795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50 nm · tilt 52°</a:t>
            </a:r>
            <a:endParaRPr lang="en-US" sz="1050" dirty="0"/>
          </a:p>
        </p:txBody>
      </p:sp>
      <p:sp>
        <p:nvSpPr>
          <p:cNvPr id="32" name="Text 17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1733702"/>
            <a:ext cx="16611905" cy="609905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38505" y="2495398"/>
            <a:ext cx="16631107" cy="689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pic>
        <p:nvPicPr>
          <p:cNvPr id="6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571500"/>
            <a:ext cx="1143000" cy="38405"/>
          </a:xfrm>
          <a:prstGeom prst="rect">
            <a:avLst/>
          </a:prstGeom>
        </p:spPr>
      </p:pic>
      <p:pic>
        <p:nvPicPr>
          <p:cNvPr id="7" name="Image 2" descr="gen-dedup-13d0092c3bef2cf72dac21c2195ae244.png">    </p:cNvPr>
          <p:cNvPicPr>
            <a:picLocks noChangeAspect="1"/>
          </p:cNvPicPr>
          <p:nvPr/>
        </p:nvPicPr>
        <p:blipFill>
          <a:blip r:embed="rId3"/>
          <a:srcRect l="0" r="0" t="-2127" b="-2127"/>
          <a:stretch/>
        </p:blipFill>
        <p:spPr>
          <a:xfrm>
            <a:off x="3847795" y="1848002"/>
            <a:ext cx="9144" cy="381305"/>
          </a:xfrm>
          <a:prstGeom prst="rect">
            <a:avLst/>
          </a:prstGeom>
        </p:spPr>
      </p:pic>
      <p:pic>
        <p:nvPicPr>
          <p:cNvPr id="8" name="Image 3" descr="gen-dedup-13d0092c3bef2cf72dac21c2195ae244.png">    </p:cNvPr>
          <p:cNvPicPr>
            <a:picLocks noChangeAspect="1"/>
          </p:cNvPicPr>
          <p:nvPr/>
        </p:nvPicPr>
        <p:blipFill>
          <a:blip r:embed="rId4"/>
          <a:srcRect l="0" r="0" t="-2127" b="-2127"/>
          <a:stretch/>
        </p:blipFill>
        <p:spPr>
          <a:xfrm>
            <a:off x="6953098" y="1848002"/>
            <a:ext cx="9144" cy="381305"/>
          </a:xfrm>
          <a:prstGeom prst="rect">
            <a:avLst/>
          </a:prstGeom>
        </p:spPr>
      </p:pic>
      <p:pic>
        <p:nvPicPr>
          <p:cNvPr id="9" name="Image 4" descr="gen-dedup-13d0092c3bef2cf72dac21c2195ae244.png">    </p:cNvPr>
          <p:cNvPicPr>
            <a:picLocks noChangeAspect="1"/>
          </p:cNvPicPr>
          <p:nvPr/>
        </p:nvPicPr>
        <p:blipFill>
          <a:blip r:embed="rId5"/>
          <a:srcRect l="0" r="0" t="-2127" b="-2127"/>
          <a:stretch/>
        </p:blipFill>
        <p:spPr>
          <a:xfrm>
            <a:off x="10058400" y="1848002"/>
            <a:ext cx="9144" cy="381305"/>
          </a:xfrm>
          <a:prstGeom prst="rect">
            <a:avLst/>
          </a:prstGeom>
        </p:spPr>
      </p:pic>
      <p:pic>
        <p:nvPicPr>
          <p:cNvPr id="10" name="Image 5" descr="gen-dedup-13d0092c3bef2cf72dac21c2195ae244.png">    </p:cNvPr>
          <p:cNvPicPr>
            <a:picLocks noChangeAspect="1"/>
          </p:cNvPicPr>
          <p:nvPr/>
        </p:nvPicPr>
        <p:blipFill>
          <a:blip r:embed="rId6"/>
          <a:srcRect l="0" r="0" t="-2127" b="-2127"/>
          <a:stretch/>
        </p:blipFill>
        <p:spPr>
          <a:xfrm>
            <a:off x="13163702" y="1848002"/>
            <a:ext cx="9144" cy="381305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838505" y="2495398"/>
            <a:ext cx="16611905" cy="381305"/>
          </a:xfrm>
          <a:prstGeom prst="rect">
            <a:avLst/>
          </a:prstGeom>
          <a:solidFill>
            <a:srgbClr val="1F2D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6" descr="gen-dedup-a3c79b608d2a2212946dfa3a7d1ddcfe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838505" y="3105302"/>
            <a:ext cx="16611905" cy="9144"/>
          </a:xfrm>
          <a:prstGeom prst="rect">
            <a:avLst/>
          </a:prstGeom>
        </p:spPr>
      </p:pic>
      <p:pic>
        <p:nvPicPr>
          <p:cNvPr id="13" name="Image 7" descr="gen-dedup-a3c79b608d2a2212946dfa3a7d1ddcfe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838505" y="3286354"/>
            <a:ext cx="16611905" cy="9144"/>
          </a:xfrm>
          <a:prstGeom prst="rect">
            <a:avLst/>
          </a:prstGeom>
        </p:spPr>
      </p:pic>
      <p:pic>
        <p:nvPicPr>
          <p:cNvPr id="14" name="Image 8" descr="gen-dedup-a3c79b608d2a2212946dfa3a7d1ddcfe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838505" y="3467405"/>
            <a:ext cx="16611905" cy="9144"/>
          </a:xfrm>
          <a:prstGeom prst="rect">
            <a:avLst/>
          </a:prstGeom>
        </p:spPr>
      </p:pic>
      <p:pic>
        <p:nvPicPr>
          <p:cNvPr id="15" name="Image 9" descr="gen-dedup-a3c79b608d2a2212946dfa3a7d1ddcfe.png">    </p:cNvPr>
          <p:cNvPicPr>
            <a:picLocks noChangeAspect="1"/>
          </p:cNvPicPr>
          <p:nvPr/>
        </p:nvPicPr>
        <p:blipFill>
          <a:blip r:embed="rId10"/>
          <a:srcRect l="-2083" r="-2083" t="0" b="0"/>
          <a:stretch/>
        </p:blipFill>
        <p:spPr>
          <a:xfrm>
            <a:off x="838505" y="3648456"/>
            <a:ext cx="16611905" cy="9144"/>
          </a:xfrm>
          <a:prstGeom prst="rect">
            <a:avLst/>
          </a:prstGeom>
        </p:spPr>
      </p:pic>
      <p:pic>
        <p:nvPicPr>
          <p:cNvPr id="16" name="Image 10" descr="gen-dedup-a3c79b608d2a2212946dfa3a7d1ddcfe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838505" y="3829507"/>
            <a:ext cx="16611905" cy="9144"/>
          </a:xfrm>
          <a:prstGeom prst="rect">
            <a:avLst/>
          </a:prstGeom>
        </p:spPr>
      </p:pic>
      <p:pic>
        <p:nvPicPr>
          <p:cNvPr id="17" name="Image 11" descr="gen-dedup-a3c79b608d2a2212946dfa3a7d1ddcfe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838505" y="4009644"/>
            <a:ext cx="16611905" cy="9144"/>
          </a:xfrm>
          <a:prstGeom prst="rect">
            <a:avLst/>
          </a:prstGeom>
        </p:spPr>
      </p:pic>
      <p:pic>
        <p:nvPicPr>
          <p:cNvPr id="18" name="Image 12" descr="gen-dedup-a3c79b608d2a2212946dfa3a7d1ddcfe.png">    </p:cNvPr>
          <p:cNvPicPr>
            <a:picLocks noChangeAspect="1"/>
          </p:cNvPicPr>
          <p:nvPr/>
        </p:nvPicPr>
        <p:blipFill>
          <a:blip r:embed="rId13"/>
          <a:srcRect l="-2083" r="-2083" t="0" b="0"/>
          <a:stretch/>
        </p:blipFill>
        <p:spPr>
          <a:xfrm>
            <a:off x="838505" y="4190695"/>
            <a:ext cx="16611905" cy="9144"/>
          </a:xfrm>
          <a:prstGeom prst="rect">
            <a:avLst/>
          </a:prstGeom>
        </p:spPr>
      </p:pic>
      <p:pic>
        <p:nvPicPr>
          <p:cNvPr id="19" name="Image 13" descr="gen-dedup-a3c79b608d2a2212946dfa3a7d1ddcfe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838505" y="4371746"/>
            <a:ext cx="16611905" cy="9144"/>
          </a:xfrm>
          <a:prstGeom prst="rect">
            <a:avLst/>
          </a:prstGeom>
        </p:spPr>
      </p:pic>
      <p:pic>
        <p:nvPicPr>
          <p:cNvPr id="20" name="Image 14" descr="gen-dedup-41a046f99239a67c5b0b856741309143.png">    </p:cNvPr>
          <p:cNvPicPr>
            <a:picLocks noChangeAspect="1"/>
          </p:cNvPicPr>
          <p:nvPr/>
        </p:nvPicPr>
        <p:blipFill>
          <a:blip r:embed="rId15"/>
          <a:srcRect l="0" r="0" t="-399" b="-399"/>
          <a:stretch/>
        </p:blipFill>
        <p:spPr>
          <a:xfrm>
            <a:off x="838505" y="4552798"/>
            <a:ext cx="16611905" cy="19202"/>
          </a:xfrm>
          <a:prstGeom prst="rect">
            <a:avLst/>
          </a:prstGeom>
        </p:spPr>
      </p:pic>
      <p:pic>
        <p:nvPicPr>
          <p:cNvPr id="21" name="Image 15" descr="gen-dedup-a3c79b608d2a2212946dfa3a7d1ddcfe.png">    </p:cNvPr>
          <p:cNvPicPr>
            <a:picLocks noChangeAspect="1"/>
          </p:cNvPicPr>
          <p:nvPr/>
        </p:nvPicPr>
        <p:blipFill>
          <a:blip r:embed="rId16"/>
          <a:srcRect l="-2083" r="-2083" t="0" b="0"/>
          <a:stretch/>
        </p:blipFill>
        <p:spPr>
          <a:xfrm>
            <a:off x="838505" y="4753051"/>
            <a:ext cx="16611905" cy="9144"/>
          </a:xfrm>
          <a:prstGeom prst="rect">
            <a:avLst/>
          </a:prstGeom>
        </p:spPr>
      </p:pic>
      <p:pic>
        <p:nvPicPr>
          <p:cNvPr id="22" name="Image 16" descr="gen-dedup-a3c79b608d2a2212946dfa3a7d1ddcfe.png">    </p:cNvPr>
          <p:cNvPicPr>
            <a:picLocks noChangeAspect="1"/>
          </p:cNvPicPr>
          <p:nvPr/>
        </p:nvPicPr>
        <p:blipFill>
          <a:blip r:embed="rId17"/>
          <a:srcRect l="-2083" r="-2083" t="0" b="0"/>
          <a:stretch/>
        </p:blipFill>
        <p:spPr>
          <a:xfrm>
            <a:off x="838505" y="4934102"/>
            <a:ext cx="16611905" cy="9144"/>
          </a:xfrm>
          <a:prstGeom prst="rect">
            <a:avLst/>
          </a:prstGeom>
        </p:spPr>
      </p:pic>
      <p:pic>
        <p:nvPicPr>
          <p:cNvPr id="23" name="Image 17" descr="gen-dedup-a3c79b608d2a2212946dfa3a7d1ddcfe.png">    </p:cNvPr>
          <p:cNvPicPr>
            <a:picLocks noChangeAspect="1"/>
          </p:cNvPicPr>
          <p:nvPr/>
        </p:nvPicPr>
        <p:blipFill>
          <a:blip r:embed="rId18"/>
          <a:srcRect l="-2083" r="-2083" t="0" b="0"/>
          <a:stretch/>
        </p:blipFill>
        <p:spPr>
          <a:xfrm>
            <a:off x="838505" y="5115154"/>
            <a:ext cx="16611905" cy="9144"/>
          </a:xfrm>
          <a:prstGeom prst="rect">
            <a:avLst/>
          </a:prstGeom>
        </p:spPr>
      </p:pic>
      <p:pic>
        <p:nvPicPr>
          <p:cNvPr id="24" name="Image 18" descr="gen-dedup-a3c79b608d2a2212946dfa3a7d1ddcfe.png">    </p:cNvPr>
          <p:cNvPicPr>
            <a:picLocks noChangeAspect="1"/>
          </p:cNvPicPr>
          <p:nvPr/>
        </p:nvPicPr>
        <p:blipFill>
          <a:blip r:embed="rId19"/>
          <a:srcRect l="-2083" r="-2083" t="0" b="0"/>
          <a:stretch/>
        </p:blipFill>
        <p:spPr>
          <a:xfrm>
            <a:off x="838505" y="5296205"/>
            <a:ext cx="16611905" cy="9144"/>
          </a:xfrm>
          <a:prstGeom prst="rect">
            <a:avLst/>
          </a:prstGeom>
        </p:spPr>
      </p:pic>
      <p:pic>
        <p:nvPicPr>
          <p:cNvPr id="25" name="Image 19" descr="gen-dedup-a3c79b608d2a2212946dfa3a7d1ddcfe.png">    </p:cNvPr>
          <p:cNvPicPr>
            <a:picLocks noChangeAspect="1"/>
          </p:cNvPicPr>
          <p:nvPr/>
        </p:nvPicPr>
        <p:blipFill>
          <a:blip r:embed="rId20"/>
          <a:srcRect l="-2083" r="-2083" t="0" b="0"/>
          <a:stretch/>
        </p:blipFill>
        <p:spPr>
          <a:xfrm>
            <a:off x="838505" y="5477256"/>
            <a:ext cx="16611905" cy="9144"/>
          </a:xfrm>
          <a:prstGeom prst="rect">
            <a:avLst/>
          </a:prstGeom>
        </p:spPr>
      </p:pic>
      <p:pic>
        <p:nvPicPr>
          <p:cNvPr id="26" name="Image 20" descr="gen-dedup-a3c79b608d2a2212946dfa3a7d1ddcfe.png">    </p:cNvPr>
          <p:cNvPicPr>
            <a:picLocks noChangeAspect="1"/>
          </p:cNvPicPr>
          <p:nvPr/>
        </p:nvPicPr>
        <p:blipFill>
          <a:blip r:embed="rId21"/>
          <a:srcRect l="-2083" r="-2083" t="0" b="0"/>
          <a:stretch/>
        </p:blipFill>
        <p:spPr>
          <a:xfrm>
            <a:off x="838505" y="5658307"/>
            <a:ext cx="16611905" cy="9144"/>
          </a:xfrm>
          <a:prstGeom prst="rect">
            <a:avLst/>
          </a:prstGeom>
        </p:spPr>
      </p:pic>
      <p:pic>
        <p:nvPicPr>
          <p:cNvPr id="27" name="Image 21" descr="gen-dedup-a3c79b608d2a2212946dfa3a7d1ddcfe.png">    </p:cNvPr>
          <p:cNvPicPr>
            <a:picLocks noChangeAspect="1"/>
          </p:cNvPicPr>
          <p:nvPr/>
        </p:nvPicPr>
        <p:blipFill>
          <a:blip r:embed="rId22"/>
          <a:srcRect l="-2083" r="-2083" t="0" b="0"/>
          <a:stretch/>
        </p:blipFill>
        <p:spPr>
          <a:xfrm>
            <a:off x="838505" y="5838444"/>
            <a:ext cx="16611905" cy="9144"/>
          </a:xfrm>
          <a:prstGeom prst="rect">
            <a:avLst/>
          </a:prstGeom>
        </p:spPr>
      </p:pic>
      <p:pic>
        <p:nvPicPr>
          <p:cNvPr id="28" name="Image 22" descr="gen-dedup-a3c79b608d2a2212946dfa3a7d1ddcfe.png">    </p:cNvPr>
          <p:cNvPicPr>
            <a:picLocks noChangeAspect="1"/>
          </p:cNvPicPr>
          <p:nvPr/>
        </p:nvPicPr>
        <p:blipFill>
          <a:blip r:embed="rId23"/>
          <a:srcRect l="-2083" r="-2083" t="0" b="0"/>
          <a:stretch/>
        </p:blipFill>
        <p:spPr>
          <a:xfrm>
            <a:off x="838505" y="6019495"/>
            <a:ext cx="16611905" cy="9144"/>
          </a:xfrm>
          <a:prstGeom prst="rect">
            <a:avLst/>
          </a:prstGeom>
        </p:spPr>
      </p:pic>
      <p:pic>
        <p:nvPicPr>
          <p:cNvPr id="29" name="Image 23" descr="gen-dedup-41a046f99239a67c5b0b856741309143.png">    </p:cNvPr>
          <p:cNvPicPr>
            <a:picLocks noChangeAspect="1"/>
          </p:cNvPicPr>
          <p:nvPr/>
        </p:nvPicPr>
        <p:blipFill>
          <a:blip r:embed="rId24"/>
          <a:srcRect l="0" r="0" t="-399" b="-399"/>
          <a:stretch/>
        </p:blipFill>
        <p:spPr>
          <a:xfrm>
            <a:off x="838505" y="6200546"/>
            <a:ext cx="16611905" cy="19202"/>
          </a:xfrm>
          <a:prstGeom prst="rect">
            <a:avLst/>
          </a:prstGeom>
        </p:spPr>
      </p:pic>
      <p:pic>
        <p:nvPicPr>
          <p:cNvPr id="30" name="Image 24" descr="gen-dedup-a3c79b608d2a2212946dfa3a7d1ddcfe.png">    </p:cNvPr>
          <p:cNvPicPr>
            <a:picLocks noChangeAspect="1"/>
          </p:cNvPicPr>
          <p:nvPr/>
        </p:nvPicPr>
        <p:blipFill>
          <a:blip r:embed="rId25"/>
          <a:srcRect l="-2083" r="-2083" t="0" b="0"/>
          <a:stretch/>
        </p:blipFill>
        <p:spPr>
          <a:xfrm>
            <a:off x="838505" y="6400800"/>
            <a:ext cx="16611905" cy="9144"/>
          </a:xfrm>
          <a:prstGeom prst="rect">
            <a:avLst/>
          </a:prstGeom>
        </p:spPr>
      </p:pic>
      <p:pic>
        <p:nvPicPr>
          <p:cNvPr id="31" name="Image 25" descr="gen-dedup-a3c79b608d2a2212946dfa3a7d1ddcfe.png">    </p:cNvPr>
          <p:cNvPicPr>
            <a:picLocks noChangeAspect="1"/>
          </p:cNvPicPr>
          <p:nvPr/>
        </p:nvPicPr>
        <p:blipFill>
          <a:blip r:embed="rId26"/>
          <a:srcRect l="-2083" r="-2083" t="0" b="0"/>
          <a:stretch/>
        </p:blipFill>
        <p:spPr>
          <a:xfrm>
            <a:off x="838505" y="6581851"/>
            <a:ext cx="16611905" cy="9144"/>
          </a:xfrm>
          <a:prstGeom prst="rect">
            <a:avLst/>
          </a:prstGeom>
        </p:spPr>
      </p:pic>
      <p:pic>
        <p:nvPicPr>
          <p:cNvPr id="32" name="Image 26" descr="gen-dedup-a3c79b608d2a2212946dfa3a7d1ddcfe.png">    </p:cNvPr>
          <p:cNvPicPr>
            <a:picLocks noChangeAspect="1"/>
          </p:cNvPicPr>
          <p:nvPr/>
        </p:nvPicPr>
        <p:blipFill>
          <a:blip r:embed="rId27"/>
          <a:srcRect l="-2083" r="-2083" t="0" b="0"/>
          <a:stretch/>
        </p:blipFill>
        <p:spPr>
          <a:xfrm>
            <a:off x="838505" y="6762902"/>
            <a:ext cx="16611905" cy="9144"/>
          </a:xfrm>
          <a:prstGeom prst="rect">
            <a:avLst/>
          </a:prstGeom>
        </p:spPr>
      </p:pic>
      <p:pic>
        <p:nvPicPr>
          <p:cNvPr id="33" name="Image 27" descr="gen-dedup-a3c79b608d2a2212946dfa3a7d1ddcfe.png">    </p:cNvPr>
          <p:cNvPicPr>
            <a:picLocks noChangeAspect="1"/>
          </p:cNvPicPr>
          <p:nvPr/>
        </p:nvPicPr>
        <p:blipFill>
          <a:blip r:embed="rId28"/>
          <a:srcRect l="-2083" r="-2083" t="0" b="0"/>
          <a:stretch/>
        </p:blipFill>
        <p:spPr>
          <a:xfrm>
            <a:off x="838505" y="6943954"/>
            <a:ext cx="16611905" cy="9144"/>
          </a:xfrm>
          <a:prstGeom prst="rect">
            <a:avLst/>
          </a:prstGeom>
        </p:spPr>
      </p:pic>
      <p:pic>
        <p:nvPicPr>
          <p:cNvPr id="34" name="Image 28" descr="gen-dedup-a3c79b608d2a2212946dfa3a7d1ddcfe.png">    </p:cNvPr>
          <p:cNvPicPr>
            <a:picLocks noChangeAspect="1"/>
          </p:cNvPicPr>
          <p:nvPr/>
        </p:nvPicPr>
        <p:blipFill>
          <a:blip r:embed="rId29"/>
          <a:srcRect l="-2083" r="-2083" t="0" b="0"/>
          <a:stretch/>
        </p:blipFill>
        <p:spPr>
          <a:xfrm>
            <a:off x="838505" y="7125005"/>
            <a:ext cx="16611905" cy="9144"/>
          </a:xfrm>
          <a:prstGeom prst="rect">
            <a:avLst/>
          </a:prstGeom>
        </p:spPr>
      </p:pic>
      <p:pic>
        <p:nvPicPr>
          <p:cNvPr id="35" name="Image 29" descr="gen-dedup-a3c79b608d2a2212946dfa3a7d1ddcfe.png">    </p:cNvPr>
          <p:cNvPicPr>
            <a:picLocks noChangeAspect="1"/>
          </p:cNvPicPr>
          <p:nvPr/>
        </p:nvPicPr>
        <p:blipFill>
          <a:blip r:embed="rId30"/>
          <a:srcRect l="-2083" r="-2083" t="0" b="0"/>
          <a:stretch/>
        </p:blipFill>
        <p:spPr>
          <a:xfrm>
            <a:off x="838505" y="7306056"/>
            <a:ext cx="16611905" cy="9144"/>
          </a:xfrm>
          <a:prstGeom prst="rect">
            <a:avLst/>
          </a:prstGeom>
        </p:spPr>
      </p:pic>
      <p:pic>
        <p:nvPicPr>
          <p:cNvPr id="36" name="Image 30" descr="gen-dedup-a3c79b608d2a2212946dfa3a7d1ddcfe.png">    </p:cNvPr>
          <p:cNvPicPr>
            <a:picLocks noChangeAspect="1"/>
          </p:cNvPicPr>
          <p:nvPr/>
        </p:nvPicPr>
        <p:blipFill>
          <a:blip r:embed="rId31"/>
          <a:srcRect l="-2083" r="-2083" t="0" b="0"/>
          <a:stretch/>
        </p:blipFill>
        <p:spPr>
          <a:xfrm>
            <a:off x="838505" y="7487107"/>
            <a:ext cx="16611905" cy="9144"/>
          </a:xfrm>
          <a:prstGeom prst="rect">
            <a:avLst/>
          </a:prstGeom>
        </p:spPr>
      </p:pic>
      <p:pic>
        <p:nvPicPr>
          <p:cNvPr id="37" name="Image 31" descr="gen-dedup-a3c79b608d2a2212946dfa3a7d1ddcfe.png">    </p:cNvPr>
          <p:cNvPicPr>
            <a:picLocks noChangeAspect="1"/>
          </p:cNvPicPr>
          <p:nvPr/>
        </p:nvPicPr>
        <p:blipFill>
          <a:blip r:embed="rId32"/>
          <a:srcRect l="-2083" r="-2083" t="0" b="0"/>
          <a:stretch/>
        </p:blipFill>
        <p:spPr>
          <a:xfrm>
            <a:off x="838505" y="7667244"/>
            <a:ext cx="16611905" cy="9144"/>
          </a:xfrm>
          <a:prstGeom prst="rect">
            <a:avLst/>
          </a:prstGeom>
        </p:spPr>
      </p:pic>
      <p:pic>
        <p:nvPicPr>
          <p:cNvPr id="38" name="Image 32" descr="gen-dedup-41a046f99239a67c5b0b856741309143.png">    </p:cNvPr>
          <p:cNvPicPr>
            <a:picLocks noChangeAspect="1"/>
          </p:cNvPicPr>
          <p:nvPr/>
        </p:nvPicPr>
        <p:blipFill>
          <a:blip r:embed="rId33"/>
          <a:srcRect l="0" r="0" t="-399" b="-399"/>
          <a:stretch/>
        </p:blipFill>
        <p:spPr>
          <a:xfrm>
            <a:off x="838505" y="7848295"/>
            <a:ext cx="16611905" cy="19202"/>
          </a:xfrm>
          <a:prstGeom prst="rect">
            <a:avLst/>
          </a:prstGeom>
        </p:spPr>
      </p:pic>
      <p:pic>
        <p:nvPicPr>
          <p:cNvPr id="39" name="Image 33" descr="gen-dedup-a3c79b608d2a2212946dfa3a7d1ddcfe.png">    </p:cNvPr>
          <p:cNvPicPr>
            <a:picLocks noChangeAspect="1"/>
          </p:cNvPicPr>
          <p:nvPr/>
        </p:nvPicPr>
        <p:blipFill>
          <a:blip r:embed="rId34"/>
          <a:srcRect l="-2083" r="-2083" t="0" b="0"/>
          <a:stretch/>
        </p:blipFill>
        <p:spPr>
          <a:xfrm>
            <a:off x="838505" y="8048549"/>
            <a:ext cx="16611905" cy="9144"/>
          </a:xfrm>
          <a:prstGeom prst="rect">
            <a:avLst/>
          </a:prstGeom>
        </p:spPr>
      </p:pic>
      <p:pic>
        <p:nvPicPr>
          <p:cNvPr id="40" name="Image 34" descr="gen-dedup-a3c79b608d2a2212946dfa3a7d1ddcfe.png">    </p:cNvPr>
          <p:cNvPicPr>
            <a:picLocks noChangeAspect="1"/>
          </p:cNvPicPr>
          <p:nvPr/>
        </p:nvPicPr>
        <p:blipFill>
          <a:blip r:embed="rId35"/>
          <a:srcRect l="-2083" r="-2083" t="0" b="0"/>
          <a:stretch/>
        </p:blipFill>
        <p:spPr>
          <a:xfrm>
            <a:off x="838505" y="8229600"/>
            <a:ext cx="16611905" cy="9144"/>
          </a:xfrm>
          <a:prstGeom prst="rect">
            <a:avLst/>
          </a:prstGeom>
        </p:spPr>
      </p:pic>
      <p:pic>
        <p:nvPicPr>
          <p:cNvPr id="41" name="Image 35" descr="gen-dedup-a3c79b608d2a2212946dfa3a7d1ddcfe.png">    </p:cNvPr>
          <p:cNvPicPr>
            <a:picLocks noChangeAspect="1"/>
          </p:cNvPicPr>
          <p:nvPr/>
        </p:nvPicPr>
        <p:blipFill>
          <a:blip r:embed="rId36"/>
          <a:srcRect l="-2083" r="-2083" t="0" b="0"/>
          <a:stretch/>
        </p:blipFill>
        <p:spPr>
          <a:xfrm>
            <a:off x="838505" y="8410651"/>
            <a:ext cx="16611905" cy="9144"/>
          </a:xfrm>
          <a:prstGeom prst="rect">
            <a:avLst/>
          </a:prstGeom>
        </p:spPr>
      </p:pic>
      <p:pic>
        <p:nvPicPr>
          <p:cNvPr id="42" name="Image 36" descr="gen-dedup-a3c79b608d2a2212946dfa3a7d1ddcfe.png">    </p:cNvPr>
          <p:cNvPicPr>
            <a:picLocks noChangeAspect="1"/>
          </p:cNvPicPr>
          <p:nvPr/>
        </p:nvPicPr>
        <p:blipFill>
          <a:blip r:embed="rId37"/>
          <a:srcRect l="-2083" r="-2083" t="0" b="0"/>
          <a:stretch/>
        </p:blipFill>
        <p:spPr>
          <a:xfrm>
            <a:off x="838505" y="8591702"/>
            <a:ext cx="16611905" cy="9144"/>
          </a:xfrm>
          <a:prstGeom prst="rect">
            <a:avLst/>
          </a:prstGeom>
        </p:spPr>
      </p:pic>
      <p:pic>
        <p:nvPicPr>
          <p:cNvPr id="43" name="Image 37" descr="gen-dedup-a3c79b608d2a2212946dfa3a7d1ddcfe.png">    </p:cNvPr>
          <p:cNvPicPr>
            <a:picLocks noChangeAspect="1"/>
          </p:cNvPicPr>
          <p:nvPr/>
        </p:nvPicPr>
        <p:blipFill>
          <a:blip r:embed="rId38"/>
          <a:srcRect l="-2083" r="-2083" t="0" b="0"/>
          <a:stretch/>
        </p:blipFill>
        <p:spPr>
          <a:xfrm>
            <a:off x="838505" y="8772754"/>
            <a:ext cx="16611905" cy="9144"/>
          </a:xfrm>
          <a:prstGeom prst="rect">
            <a:avLst/>
          </a:prstGeom>
        </p:spPr>
      </p:pic>
      <p:pic>
        <p:nvPicPr>
          <p:cNvPr id="44" name="Image 38" descr="gen-dedup-a3c79b608d2a2212946dfa3a7d1ddcfe.png">    </p:cNvPr>
          <p:cNvPicPr>
            <a:picLocks noChangeAspect="1"/>
          </p:cNvPicPr>
          <p:nvPr/>
        </p:nvPicPr>
        <p:blipFill>
          <a:blip r:embed="rId39"/>
          <a:srcRect l="-2083" r="-2083" t="0" b="0"/>
          <a:stretch/>
        </p:blipFill>
        <p:spPr>
          <a:xfrm>
            <a:off x="838505" y="8953805"/>
            <a:ext cx="16611905" cy="9144"/>
          </a:xfrm>
          <a:prstGeom prst="rect">
            <a:avLst/>
          </a:prstGeom>
        </p:spPr>
      </p:pic>
      <p:pic>
        <p:nvPicPr>
          <p:cNvPr id="45" name="Image 39" descr="gen-dedup-a3c79b608d2a2212946dfa3a7d1ddcfe.png">    </p:cNvPr>
          <p:cNvPicPr>
            <a:picLocks noChangeAspect="1"/>
          </p:cNvPicPr>
          <p:nvPr/>
        </p:nvPicPr>
        <p:blipFill>
          <a:blip r:embed="rId40"/>
          <a:srcRect l="-2083" r="-2083" t="0" b="0"/>
          <a:stretch/>
        </p:blipFill>
        <p:spPr>
          <a:xfrm>
            <a:off x="838505" y="9134856"/>
            <a:ext cx="16611905" cy="9144"/>
          </a:xfrm>
          <a:prstGeom prst="rect">
            <a:avLst/>
          </a:prstGeom>
        </p:spPr>
      </p:pic>
      <p:pic>
        <p:nvPicPr>
          <p:cNvPr id="46" name="Image 40" descr="gen-dedup-a3c79b608d2a2212946dfa3a7d1ddcfe.png">    </p:cNvPr>
          <p:cNvPicPr>
            <a:picLocks noChangeAspect="1"/>
          </p:cNvPicPr>
          <p:nvPr/>
        </p:nvPicPr>
        <p:blipFill>
          <a:blip r:embed="rId41"/>
          <a:srcRect l="-2083" r="-2083" t="0" b="0"/>
          <a:stretch/>
        </p:blipFill>
        <p:spPr>
          <a:xfrm>
            <a:off x="838505" y="9315907"/>
            <a:ext cx="16611905" cy="9144"/>
          </a:xfrm>
          <a:prstGeom prst="rect">
            <a:avLst/>
          </a:prstGeom>
        </p:spPr>
      </p:pic>
      <p:pic>
        <p:nvPicPr>
          <p:cNvPr id="47" name="Image 41" descr="gen-dedup-208e3c1db2ec408b78c5222320cd21a6.png">    </p:cNvPr>
          <p:cNvPicPr>
            <a:picLocks noChangeAspect="1"/>
          </p:cNvPicPr>
          <p:nvPr/>
        </p:nvPicPr>
        <p:blipFill>
          <a:blip r:embed="rId42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sp>
        <p:nvSpPr>
          <p:cNvPr id="48" name="Text 3"/>
          <p:cNvSpPr txBox="1"/>
          <p:nvPr/>
        </p:nvSpPr>
        <p:spPr>
          <a:xfrm>
            <a:off x="838505" y="743407"/>
            <a:ext cx="1428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07 · CD VARIATION</a:t>
            </a:r>
            <a:endParaRPr lang="en-US" sz="1650" dirty="0"/>
          </a:p>
        </p:txBody>
      </p:sp>
      <p:sp>
        <p:nvSpPr>
          <p:cNvPr id="49" name="Text 4"/>
          <p:cNvSpPr txBox="1"/>
          <p:nvPr/>
        </p:nvSpPr>
        <p:spPr>
          <a:xfrm>
            <a:off x="838505" y="1067105"/>
            <a:ext cx="14287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Variation — wafer 별 mean / 3σ / range / Δ</a:t>
            </a:r>
            <a:endParaRPr lang="en-US" sz="3300" dirty="0"/>
          </a:p>
        </p:txBody>
      </p:sp>
      <p:sp>
        <p:nvSpPr>
          <p:cNvPr id="50" name="Text 5"/>
          <p:cNvSpPr txBox="1"/>
          <p:nvPr/>
        </p:nvSpPr>
        <p:spPr>
          <a:xfrm>
            <a:off x="1123798" y="1848002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TARGET</a:t>
            </a:r>
            <a:endParaRPr lang="en-US" sz="975" dirty="0"/>
          </a:p>
        </p:txBody>
      </p:sp>
      <p:sp>
        <p:nvSpPr>
          <p:cNvPr id="51" name="Text 6"/>
          <p:cNvSpPr txBox="1"/>
          <p:nvPr/>
        </p:nvSpPr>
        <p:spPr>
          <a:xfrm>
            <a:off x="1123798" y="2029054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24.3 nm</a:t>
            </a:r>
            <a:endParaRPr lang="en-US" sz="1650" dirty="0"/>
          </a:p>
        </p:txBody>
      </p:sp>
      <p:sp>
        <p:nvSpPr>
          <p:cNvPr id="52" name="Text 7"/>
          <p:cNvSpPr txBox="1"/>
          <p:nvPr/>
        </p:nvSpPr>
        <p:spPr>
          <a:xfrm>
            <a:off x="4229100" y="1848002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TARGET</a:t>
            </a:r>
            <a:endParaRPr lang="en-US" sz="975" dirty="0"/>
          </a:p>
        </p:txBody>
      </p:sp>
      <p:sp>
        <p:nvSpPr>
          <p:cNvPr id="53" name="Text 8"/>
          <p:cNvSpPr txBox="1"/>
          <p:nvPr/>
        </p:nvSpPr>
        <p:spPr>
          <a:xfrm>
            <a:off x="4229100" y="2029054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18.1 nm</a:t>
            </a:r>
            <a:endParaRPr lang="en-US" sz="1650" dirty="0"/>
          </a:p>
        </p:txBody>
      </p:sp>
      <p:sp>
        <p:nvSpPr>
          <p:cNvPr id="54" name="Text 9"/>
          <p:cNvSpPr txBox="1"/>
          <p:nvPr/>
        </p:nvSpPr>
        <p:spPr>
          <a:xfrm>
            <a:off x="7334402" y="1848002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TARGET</a:t>
            </a:r>
            <a:endParaRPr lang="en-US" sz="975" dirty="0"/>
          </a:p>
        </p:txBody>
      </p:sp>
      <p:sp>
        <p:nvSpPr>
          <p:cNvPr id="55" name="Text 10"/>
          <p:cNvSpPr txBox="1"/>
          <p:nvPr/>
        </p:nvSpPr>
        <p:spPr>
          <a:xfrm>
            <a:off x="7334402" y="2029054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 nm</a:t>
            </a:r>
            <a:endParaRPr lang="en-US" sz="1650" dirty="0"/>
          </a:p>
        </p:txBody>
      </p:sp>
      <p:sp>
        <p:nvSpPr>
          <p:cNvPr id="56" name="Text 11"/>
          <p:cNvSpPr txBox="1"/>
          <p:nvPr/>
        </p:nvSpPr>
        <p:spPr>
          <a:xfrm>
            <a:off x="10439705" y="1848002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 TARGET</a:t>
            </a:r>
            <a:endParaRPr lang="en-US" sz="975" dirty="0"/>
          </a:p>
        </p:txBody>
      </p:sp>
      <p:sp>
        <p:nvSpPr>
          <p:cNvPr id="57" name="Text 12"/>
          <p:cNvSpPr txBox="1"/>
          <p:nvPr/>
        </p:nvSpPr>
        <p:spPr>
          <a:xfrm>
            <a:off x="10439705" y="2029054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8.2 nm</a:t>
            </a:r>
            <a:endParaRPr lang="en-US" sz="1650" dirty="0"/>
          </a:p>
        </p:txBody>
      </p:sp>
      <p:sp>
        <p:nvSpPr>
          <p:cNvPr id="58" name="Text 13"/>
          <p:cNvSpPr txBox="1"/>
          <p:nvPr/>
        </p:nvSpPr>
        <p:spPr>
          <a:xfrm>
            <a:off x="13545007" y="1848002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975" dirty="0"/>
          </a:p>
        </p:txBody>
      </p:sp>
      <p:sp>
        <p:nvSpPr>
          <p:cNvPr id="59" name="Text 14"/>
          <p:cNvSpPr txBox="1"/>
          <p:nvPr/>
        </p:nvSpPr>
        <p:spPr>
          <a:xfrm>
            <a:off x="13545007" y="2048256"/>
            <a:ext cx="379933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nm · 9 site 평균 · wafer combine</a:t>
            </a:r>
            <a:endParaRPr lang="en-US" sz="1500" dirty="0"/>
          </a:p>
        </p:txBody>
      </p:sp>
      <p:sp>
        <p:nvSpPr>
          <p:cNvPr id="60" name="Text 15"/>
          <p:cNvSpPr txBox="1"/>
          <p:nvPr/>
        </p:nvSpPr>
        <p:spPr>
          <a:xfrm>
            <a:off x="1028700" y="2581351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Metric</a:t>
            </a:r>
            <a:endParaRPr lang="en-US" sz="1200" dirty="0"/>
          </a:p>
        </p:txBody>
      </p:sp>
      <p:sp>
        <p:nvSpPr>
          <p:cNvPr id="61" name="Text 16"/>
          <p:cNvSpPr txBox="1"/>
          <p:nvPr/>
        </p:nvSpPr>
        <p:spPr>
          <a:xfrm>
            <a:off x="2933395" y="2581351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200" dirty="0"/>
          </a:p>
        </p:txBody>
      </p:sp>
      <p:sp>
        <p:nvSpPr>
          <p:cNvPr id="62" name="Text 17"/>
          <p:cNvSpPr txBox="1"/>
          <p:nvPr/>
        </p:nvSpPr>
        <p:spPr>
          <a:xfrm>
            <a:off x="4076395" y="2581351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</a:t>
            </a:r>
            <a:endParaRPr lang="en-US" sz="1200" dirty="0"/>
          </a:p>
        </p:txBody>
      </p:sp>
      <p:sp>
        <p:nvSpPr>
          <p:cNvPr id="63" name="Text 18"/>
          <p:cNvSpPr txBox="1"/>
          <p:nvPr/>
        </p:nvSpPr>
        <p:spPr>
          <a:xfrm>
            <a:off x="5600700" y="2581351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(nm)</a:t>
            </a:r>
            <a:endParaRPr lang="en-US" sz="1200" dirty="0"/>
          </a:p>
        </p:txBody>
      </p:sp>
      <p:sp>
        <p:nvSpPr>
          <p:cNvPr id="64" name="Text 19"/>
          <p:cNvSpPr txBox="1"/>
          <p:nvPr/>
        </p:nvSpPr>
        <p:spPr>
          <a:xfrm>
            <a:off x="7886700" y="2581351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(nm)</a:t>
            </a:r>
            <a:endParaRPr lang="en-US" sz="1200" dirty="0"/>
          </a:p>
        </p:txBody>
      </p:sp>
      <p:sp>
        <p:nvSpPr>
          <p:cNvPr id="65" name="Text 20"/>
          <p:cNvSpPr txBox="1"/>
          <p:nvPr/>
        </p:nvSpPr>
        <p:spPr>
          <a:xfrm>
            <a:off x="9982505" y="2581351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 (nm)</a:t>
            </a:r>
            <a:endParaRPr lang="en-US" sz="1200" dirty="0"/>
          </a:p>
        </p:txBody>
      </p:sp>
      <p:sp>
        <p:nvSpPr>
          <p:cNvPr id="66" name="Text 21"/>
          <p:cNvSpPr txBox="1"/>
          <p:nvPr/>
        </p:nvSpPr>
        <p:spPr>
          <a:xfrm>
            <a:off x="12648895" y="2581351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vs target (nm)</a:t>
            </a:r>
            <a:endParaRPr lang="en-US" sz="1200" dirty="0"/>
          </a:p>
        </p:txBody>
      </p:sp>
      <p:sp>
        <p:nvSpPr>
          <p:cNvPr id="67" name="Text 22"/>
          <p:cNvSpPr txBox="1"/>
          <p:nvPr/>
        </p:nvSpPr>
        <p:spPr>
          <a:xfrm>
            <a:off x="1028700" y="2933395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68" name="Text 23"/>
          <p:cNvSpPr txBox="1"/>
          <p:nvPr/>
        </p:nvSpPr>
        <p:spPr>
          <a:xfrm>
            <a:off x="2933395" y="2933395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69" name="Text 24"/>
          <p:cNvSpPr txBox="1"/>
          <p:nvPr/>
        </p:nvSpPr>
        <p:spPr>
          <a:xfrm>
            <a:off x="4076395" y="2933395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W-01</a:t>
            </a:r>
            <a:endParaRPr lang="en-US" sz="1050" dirty="0"/>
          </a:p>
        </p:txBody>
      </p:sp>
      <p:sp>
        <p:nvSpPr>
          <p:cNvPr id="70" name="Text 25"/>
          <p:cNvSpPr txBox="1"/>
          <p:nvPr/>
        </p:nvSpPr>
        <p:spPr>
          <a:xfrm>
            <a:off x="5600700" y="29333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24.62</a:t>
            </a:r>
            <a:endParaRPr lang="en-US" sz="1050" dirty="0"/>
          </a:p>
        </p:txBody>
      </p:sp>
      <p:sp>
        <p:nvSpPr>
          <p:cNvPr id="71" name="Text 26"/>
          <p:cNvSpPr txBox="1"/>
          <p:nvPr/>
        </p:nvSpPr>
        <p:spPr>
          <a:xfrm>
            <a:off x="7886700" y="2933395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1.32</a:t>
            </a:r>
            <a:endParaRPr lang="en-US" sz="1050" dirty="0"/>
          </a:p>
        </p:txBody>
      </p:sp>
      <p:sp>
        <p:nvSpPr>
          <p:cNvPr id="72" name="Text 27"/>
          <p:cNvSpPr txBox="1"/>
          <p:nvPr/>
        </p:nvSpPr>
        <p:spPr>
          <a:xfrm>
            <a:off x="9982505" y="2933395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</a:t>
            </a:r>
            <a:endParaRPr lang="en-US" sz="1050" dirty="0"/>
          </a:p>
        </p:txBody>
      </p:sp>
      <p:sp>
        <p:nvSpPr>
          <p:cNvPr id="73" name="Text 28"/>
          <p:cNvSpPr txBox="1"/>
          <p:nvPr/>
        </p:nvSpPr>
        <p:spPr>
          <a:xfrm>
            <a:off x="12648895" y="2933395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+0.32</a:t>
            </a:r>
            <a:endParaRPr lang="en-US" sz="1050" dirty="0"/>
          </a:p>
        </p:txBody>
      </p:sp>
      <p:sp>
        <p:nvSpPr>
          <p:cNvPr id="74" name="Text 29"/>
          <p:cNvSpPr txBox="1"/>
          <p:nvPr/>
        </p:nvSpPr>
        <p:spPr>
          <a:xfrm>
            <a:off x="1028700" y="3114446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75" name="Text 30"/>
          <p:cNvSpPr txBox="1"/>
          <p:nvPr/>
        </p:nvSpPr>
        <p:spPr>
          <a:xfrm>
            <a:off x="2933395" y="3114446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76" name="Text 31"/>
          <p:cNvSpPr txBox="1"/>
          <p:nvPr/>
        </p:nvSpPr>
        <p:spPr>
          <a:xfrm>
            <a:off x="4076395" y="3114446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W-02</a:t>
            </a:r>
            <a:endParaRPr lang="en-US" sz="1050" dirty="0"/>
          </a:p>
        </p:txBody>
      </p:sp>
      <p:sp>
        <p:nvSpPr>
          <p:cNvPr id="77" name="Text 32"/>
          <p:cNvSpPr txBox="1"/>
          <p:nvPr/>
        </p:nvSpPr>
        <p:spPr>
          <a:xfrm>
            <a:off x="5600700" y="3114446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24.85</a:t>
            </a:r>
            <a:endParaRPr lang="en-US" sz="1050" dirty="0"/>
          </a:p>
        </p:txBody>
      </p:sp>
      <p:sp>
        <p:nvSpPr>
          <p:cNvPr id="78" name="Text 33"/>
          <p:cNvSpPr txBox="1"/>
          <p:nvPr/>
        </p:nvSpPr>
        <p:spPr>
          <a:xfrm>
            <a:off x="7886700" y="3114446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1.41</a:t>
            </a:r>
            <a:endParaRPr lang="en-US" sz="1050" dirty="0"/>
          </a:p>
        </p:txBody>
      </p:sp>
      <p:sp>
        <p:nvSpPr>
          <p:cNvPr id="79" name="Text 34"/>
          <p:cNvSpPr txBox="1"/>
          <p:nvPr/>
        </p:nvSpPr>
        <p:spPr>
          <a:xfrm>
            <a:off x="9982505" y="3114446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3.7</a:t>
            </a:r>
            <a:endParaRPr lang="en-US" sz="1050" dirty="0"/>
          </a:p>
        </p:txBody>
      </p:sp>
      <p:sp>
        <p:nvSpPr>
          <p:cNvPr id="80" name="Text 35"/>
          <p:cNvSpPr txBox="1"/>
          <p:nvPr/>
        </p:nvSpPr>
        <p:spPr>
          <a:xfrm>
            <a:off x="12648895" y="3114446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+0.55</a:t>
            </a:r>
            <a:endParaRPr lang="en-US" sz="1050" dirty="0"/>
          </a:p>
        </p:txBody>
      </p:sp>
      <p:sp>
        <p:nvSpPr>
          <p:cNvPr id="81" name="Text 36"/>
          <p:cNvSpPr txBox="1"/>
          <p:nvPr/>
        </p:nvSpPr>
        <p:spPr>
          <a:xfrm>
            <a:off x="1028700" y="3295498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82" name="Text 37"/>
          <p:cNvSpPr txBox="1"/>
          <p:nvPr/>
        </p:nvSpPr>
        <p:spPr>
          <a:xfrm>
            <a:off x="2933395" y="3295498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83" name="Text 38"/>
          <p:cNvSpPr txBox="1"/>
          <p:nvPr/>
        </p:nvSpPr>
        <p:spPr>
          <a:xfrm>
            <a:off x="4076395" y="32954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W-03</a:t>
            </a:r>
            <a:endParaRPr lang="en-US" sz="1050" dirty="0"/>
          </a:p>
        </p:txBody>
      </p:sp>
      <p:sp>
        <p:nvSpPr>
          <p:cNvPr id="84" name="Text 39"/>
          <p:cNvSpPr txBox="1"/>
          <p:nvPr/>
        </p:nvSpPr>
        <p:spPr>
          <a:xfrm>
            <a:off x="5600700" y="3295498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24.40</a:t>
            </a:r>
            <a:endParaRPr lang="en-US" sz="1050" dirty="0"/>
          </a:p>
        </p:txBody>
      </p:sp>
      <p:sp>
        <p:nvSpPr>
          <p:cNvPr id="85" name="Text 40"/>
          <p:cNvSpPr txBox="1"/>
          <p:nvPr/>
        </p:nvSpPr>
        <p:spPr>
          <a:xfrm>
            <a:off x="7886700" y="3295498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1.28</a:t>
            </a:r>
            <a:endParaRPr lang="en-US" sz="1050" dirty="0"/>
          </a:p>
        </p:txBody>
      </p:sp>
      <p:sp>
        <p:nvSpPr>
          <p:cNvPr id="86" name="Text 41"/>
          <p:cNvSpPr txBox="1"/>
          <p:nvPr/>
        </p:nvSpPr>
        <p:spPr>
          <a:xfrm>
            <a:off x="9982505" y="32954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3.0</a:t>
            </a:r>
            <a:endParaRPr lang="en-US" sz="1050" dirty="0"/>
          </a:p>
        </p:txBody>
      </p:sp>
      <p:sp>
        <p:nvSpPr>
          <p:cNvPr id="87" name="Text 42"/>
          <p:cNvSpPr txBox="1"/>
          <p:nvPr/>
        </p:nvSpPr>
        <p:spPr>
          <a:xfrm>
            <a:off x="12648895" y="3295498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+0.10</a:t>
            </a:r>
            <a:endParaRPr lang="en-US" sz="1050" dirty="0"/>
          </a:p>
        </p:txBody>
      </p:sp>
      <p:sp>
        <p:nvSpPr>
          <p:cNvPr id="88" name="Text 43"/>
          <p:cNvSpPr txBox="1"/>
          <p:nvPr/>
        </p:nvSpPr>
        <p:spPr>
          <a:xfrm>
            <a:off x="1028700" y="3476549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89" name="Text 44"/>
          <p:cNvSpPr txBox="1"/>
          <p:nvPr/>
        </p:nvSpPr>
        <p:spPr>
          <a:xfrm>
            <a:off x="2933395" y="3476549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90" name="Text 45"/>
          <p:cNvSpPr txBox="1"/>
          <p:nvPr/>
        </p:nvSpPr>
        <p:spPr>
          <a:xfrm>
            <a:off x="4076395" y="3476549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W-04</a:t>
            </a:r>
            <a:endParaRPr lang="en-US" sz="1050" dirty="0"/>
          </a:p>
        </p:txBody>
      </p:sp>
      <p:sp>
        <p:nvSpPr>
          <p:cNvPr id="91" name="Text 46"/>
          <p:cNvSpPr txBox="1"/>
          <p:nvPr/>
        </p:nvSpPr>
        <p:spPr>
          <a:xfrm>
            <a:off x="5600700" y="3476549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24.20</a:t>
            </a:r>
            <a:endParaRPr lang="en-US" sz="1050" dirty="0"/>
          </a:p>
        </p:txBody>
      </p:sp>
      <p:sp>
        <p:nvSpPr>
          <p:cNvPr id="92" name="Text 47"/>
          <p:cNvSpPr txBox="1"/>
          <p:nvPr/>
        </p:nvSpPr>
        <p:spPr>
          <a:xfrm>
            <a:off x="7886700" y="3476549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1.12</a:t>
            </a:r>
            <a:endParaRPr lang="en-US" sz="1050" dirty="0"/>
          </a:p>
        </p:txBody>
      </p:sp>
      <p:sp>
        <p:nvSpPr>
          <p:cNvPr id="93" name="Text 48"/>
          <p:cNvSpPr txBox="1"/>
          <p:nvPr/>
        </p:nvSpPr>
        <p:spPr>
          <a:xfrm>
            <a:off x="9982505" y="3476549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</a:t>
            </a:r>
            <a:endParaRPr lang="en-US" sz="1050" dirty="0"/>
          </a:p>
        </p:txBody>
      </p:sp>
      <p:sp>
        <p:nvSpPr>
          <p:cNvPr id="94" name="Text 49"/>
          <p:cNvSpPr txBox="1"/>
          <p:nvPr/>
        </p:nvSpPr>
        <p:spPr>
          <a:xfrm>
            <a:off x="12648895" y="3476549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−0.10</a:t>
            </a:r>
            <a:endParaRPr lang="en-US" sz="1050" dirty="0"/>
          </a:p>
        </p:txBody>
      </p:sp>
      <p:sp>
        <p:nvSpPr>
          <p:cNvPr id="95" name="Text 50"/>
          <p:cNvSpPr txBox="1"/>
          <p:nvPr/>
        </p:nvSpPr>
        <p:spPr>
          <a:xfrm>
            <a:off x="1028700" y="3657600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96" name="Text 51"/>
          <p:cNvSpPr txBox="1"/>
          <p:nvPr/>
        </p:nvSpPr>
        <p:spPr>
          <a:xfrm>
            <a:off x="2933395" y="3657600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97" name="Text 52"/>
          <p:cNvSpPr txBox="1"/>
          <p:nvPr/>
        </p:nvSpPr>
        <p:spPr>
          <a:xfrm>
            <a:off x="4076395" y="3657600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W-05</a:t>
            </a:r>
            <a:endParaRPr lang="en-US" sz="1050" dirty="0"/>
          </a:p>
        </p:txBody>
      </p:sp>
      <p:sp>
        <p:nvSpPr>
          <p:cNvPr id="98" name="Text 53"/>
          <p:cNvSpPr txBox="1"/>
          <p:nvPr/>
        </p:nvSpPr>
        <p:spPr>
          <a:xfrm>
            <a:off x="5600700" y="3657600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24.55</a:t>
            </a:r>
            <a:endParaRPr lang="en-US" sz="1050" dirty="0"/>
          </a:p>
        </p:txBody>
      </p:sp>
      <p:sp>
        <p:nvSpPr>
          <p:cNvPr id="99" name="Text 54"/>
          <p:cNvSpPr txBox="1"/>
          <p:nvPr/>
        </p:nvSpPr>
        <p:spPr>
          <a:xfrm>
            <a:off x="7886700" y="3657600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1.18</a:t>
            </a:r>
            <a:endParaRPr lang="en-US" sz="1050" dirty="0"/>
          </a:p>
        </p:txBody>
      </p:sp>
      <p:sp>
        <p:nvSpPr>
          <p:cNvPr id="100" name="Text 55"/>
          <p:cNvSpPr txBox="1"/>
          <p:nvPr/>
        </p:nvSpPr>
        <p:spPr>
          <a:xfrm>
            <a:off x="9982505" y="3657600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2.9</a:t>
            </a:r>
            <a:endParaRPr lang="en-US" sz="1050" dirty="0"/>
          </a:p>
        </p:txBody>
      </p:sp>
      <p:sp>
        <p:nvSpPr>
          <p:cNvPr id="101" name="Text 56"/>
          <p:cNvSpPr txBox="1"/>
          <p:nvPr/>
        </p:nvSpPr>
        <p:spPr>
          <a:xfrm>
            <a:off x="12648895" y="3657600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+0.25</a:t>
            </a:r>
            <a:endParaRPr lang="en-US" sz="1050" dirty="0"/>
          </a:p>
        </p:txBody>
      </p:sp>
      <p:sp>
        <p:nvSpPr>
          <p:cNvPr id="102" name="Text 57"/>
          <p:cNvSpPr txBox="1"/>
          <p:nvPr/>
        </p:nvSpPr>
        <p:spPr>
          <a:xfrm>
            <a:off x="1028700" y="3838651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103" name="Text 58"/>
          <p:cNvSpPr txBox="1"/>
          <p:nvPr/>
        </p:nvSpPr>
        <p:spPr>
          <a:xfrm>
            <a:off x="2933395" y="3838651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104" name="Text 59"/>
          <p:cNvSpPr txBox="1"/>
          <p:nvPr/>
        </p:nvSpPr>
        <p:spPr>
          <a:xfrm>
            <a:off x="4076395" y="3838651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W-06</a:t>
            </a:r>
            <a:endParaRPr lang="en-US" sz="1050" dirty="0"/>
          </a:p>
        </p:txBody>
      </p:sp>
      <p:sp>
        <p:nvSpPr>
          <p:cNvPr id="105" name="Text 60"/>
          <p:cNvSpPr txBox="1"/>
          <p:nvPr/>
        </p:nvSpPr>
        <p:spPr>
          <a:xfrm>
            <a:off x="5600700" y="3838651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24.12</a:t>
            </a:r>
            <a:endParaRPr lang="en-US" sz="1050" dirty="0"/>
          </a:p>
        </p:txBody>
      </p:sp>
      <p:sp>
        <p:nvSpPr>
          <p:cNvPr id="106" name="Text 61"/>
          <p:cNvSpPr txBox="1"/>
          <p:nvPr/>
        </p:nvSpPr>
        <p:spPr>
          <a:xfrm>
            <a:off x="7886700" y="3838651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1.05</a:t>
            </a:r>
            <a:endParaRPr lang="en-US" sz="1050" dirty="0"/>
          </a:p>
        </p:txBody>
      </p:sp>
      <p:sp>
        <p:nvSpPr>
          <p:cNvPr id="107" name="Text 62"/>
          <p:cNvSpPr txBox="1"/>
          <p:nvPr/>
        </p:nvSpPr>
        <p:spPr>
          <a:xfrm>
            <a:off x="9982505" y="3838651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2.6</a:t>
            </a:r>
            <a:endParaRPr lang="en-US" sz="1050" dirty="0"/>
          </a:p>
        </p:txBody>
      </p:sp>
      <p:sp>
        <p:nvSpPr>
          <p:cNvPr id="108" name="Text 63"/>
          <p:cNvSpPr txBox="1"/>
          <p:nvPr/>
        </p:nvSpPr>
        <p:spPr>
          <a:xfrm>
            <a:off x="12648895" y="3838651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1050" dirty="0"/>
          </a:p>
        </p:txBody>
      </p:sp>
      <p:sp>
        <p:nvSpPr>
          <p:cNvPr id="109" name="Text 64"/>
          <p:cNvSpPr txBox="1"/>
          <p:nvPr/>
        </p:nvSpPr>
        <p:spPr>
          <a:xfrm>
            <a:off x="1028700" y="4019702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110" name="Text 65"/>
          <p:cNvSpPr txBox="1"/>
          <p:nvPr/>
        </p:nvSpPr>
        <p:spPr>
          <a:xfrm>
            <a:off x="2933395" y="4019702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111" name="Text 66"/>
          <p:cNvSpPr txBox="1"/>
          <p:nvPr/>
        </p:nvSpPr>
        <p:spPr>
          <a:xfrm>
            <a:off x="4076395" y="4019702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W-07</a:t>
            </a:r>
            <a:endParaRPr lang="en-US" sz="1050" dirty="0"/>
          </a:p>
        </p:txBody>
      </p:sp>
      <p:sp>
        <p:nvSpPr>
          <p:cNvPr id="112" name="Text 67"/>
          <p:cNvSpPr txBox="1"/>
          <p:nvPr/>
        </p:nvSpPr>
        <p:spPr>
          <a:xfrm>
            <a:off x="5600700" y="4019702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23.92</a:t>
            </a:r>
            <a:endParaRPr lang="en-US" sz="1050" dirty="0"/>
          </a:p>
        </p:txBody>
      </p:sp>
      <p:sp>
        <p:nvSpPr>
          <p:cNvPr id="113" name="Text 68"/>
          <p:cNvSpPr txBox="1"/>
          <p:nvPr/>
        </p:nvSpPr>
        <p:spPr>
          <a:xfrm>
            <a:off x="7886700" y="4019702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</a:t>
            </a:r>
            <a:endParaRPr lang="en-US" sz="1050" dirty="0"/>
          </a:p>
        </p:txBody>
      </p:sp>
      <p:sp>
        <p:nvSpPr>
          <p:cNvPr id="114" name="Text 69"/>
          <p:cNvSpPr txBox="1"/>
          <p:nvPr/>
        </p:nvSpPr>
        <p:spPr>
          <a:xfrm>
            <a:off x="9982505" y="4019702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</a:t>
            </a:r>
            <a:endParaRPr lang="en-US" sz="1050" dirty="0"/>
          </a:p>
        </p:txBody>
      </p:sp>
      <p:sp>
        <p:nvSpPr>
          <p:cNvPr id="115" name="Text 70"/>
          <p:cNvSpPr txBox="1"/>
          <p:nvPr/>
        </p:nvSpPr>
        <p:spPr>
          <a:xfrm>
            <a:off x="12648895" y="4019702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−0.38</a:t>
            </a:r>
            <a:endParaRPr lang="en-US" sz="1050" dirty="0"/>
          </a:p>
        </p:txBody>
      </p:sp>
      <p:sp>
        <p:nvSpPr>
          <p:cNvPr id="116" name="Text 71"/>
          <p:cNvSpPr txBox="1"/>
          <p:nvPr/>
        </p:nvSpPr>
        <p:spPr>
          <a:xfrm>
            <a:off x="1028700" y="420075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117" name="Text 72"/>
          <p:cNvSpPr txBox="1"/>
          <p:nvPr/>
        </p:nvSpPr>
        <p:spPr>
          <a:xfrm>
            <a:off x="2933395" y="4200754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118" name="Text 73"/>
          <p:cNvSpPr txBox="1"/>
          <p:nvPr/>
        </p:nvSpPr>
        <p:spPr>
          <a:xfrm>
            <a:off x="4076395" y="4200754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W-08</a:t>
            </a:r>
            <a:endParaRPr lang="en-US" sz="1050" dirty="0"/>
          </a:p>
        </p:txBody>
      </p:sp>
      <p:sp>
        <p:nvSpPr>
          <p:cNvPr id="119" name="Text 74"/>
          <p:cNvSpPr txBox="1"/>
          <p:nvPr/>
        </p:nvSpPr>
        <p:spPr>
          <a:xfrm>
            <a:off x="5600700" y="4200754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24.05</a:t>
            </a:r>
            <a:endParaRPr lang="en-US" sz="1050" dirty="0"/>
          </a:p>
        </p:txBody>
      </p:sp>
      <p:sp>
        <p:nvSpPr>
          <p:cNvPr id="120" name="Text 75"/>
          <p:cNvSpPr txBox="1"/>
          <p:nvPr/>
        </p:nvSpPr>
        <p:spPr>
          <a:xfrm>
            <a:off x="7886700" y="4200754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0.88</a:t>
            </a:r>
            <a:endParaRPr lang="en-US" sz="1050" dirty="0"/>
          </a:p>
        </p:txBody>
      </p:sp>
      <p:sp>
        <p:nvSpPr>
          <p:cNvPr id="121" name="Text 76"/>
          <p:cNvSpPr txBox="1"/>
          <p:nvPr/>
        </p:nvSpPr>
        <p:spPr>
          <a:xfrm>
            <a:off x="9982505" y="4200754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</a:t>
            </a:r>
            <a:endParaRPr lang="en-US" sz="1050" dirty="0"/>
          </a:p>
        </p:txBody>
      </p:sp>
      <p:sp>
        <p:nvSpPr>
          <p:cNvPr id="122" name="Text 77"/>
          <p:cNvSpPr txBox="1"/>
          <p:nvPr/>
        </p:nvSpPr>
        <p:spPr>
          <a:xfrm>
            <a:off x="12648895" y="4200754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−0.25</a:t>
            </a:r>
            <a:endParaRPr lang="en-US" sz="1050" dirty="0"/>
          </a:p>
        </p:txBody>
      </p:sp>
      <p:sp>
        <p:nvSpPr>
          <p:cNvPr id="123" name="Text 78"/>
          <p:cNvSpPr txBox="1"/>
          <p:nvPr/>
        </p:nvSpPr>
        <p:spPr>
          <a:xfrm>
            <a:off x="1028700" y="4381805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050" dirty="0"/>
          </a:p>
        </p:txBody>
      </p:sp>
      <p:sp>
        <p:nvSpPr>
          <p:cNvPr id="124" name="Text 79"/>
          <p:cNvSpPr txBox="1"/>
          <p:nvPr/>
        </p:nvSpPr>
        <p:spPr>
          <a:xfrm>
            <a:off x="2933395" y="4381805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125" name="Text 80"/>
          <p:cNvSpPr txBox="1"/>
          <p:nvPr/>
        </p:nvSpPr>
        <p:spPr>
          <a:xfrm>
            <a:off x="4076395" y="4381805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W-09</a:t>
            </a:r>
            <a:endParaRPr lang="en-US" sz="1050" dirty="0"/>
          </a:p>
        </p:txBody>
      </p:sp>
      <p:sp>
        <p:nvSpPr>
          <p:cNvPr id="126" name="Text 81"/>
          <p:cNvSpPr txBox="1"/>
          <p:nvPr/>
        </p:nvSpPr>
        <p:spPr>
          <a:xfrm>
            <a:off x="5600700" y="438180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23.84</a:t>
            </a:r>
            <a:endParaRPr lang="en-US" sz="1050" dirty="0"/>
          </a:p>
        </p:txBody>
      </p:sp>
      <p:sp>
        <p:nvSpPr>
          <p:cNvPr id="127" name="Text 82"/>
          <p:cNvSpPr txBox="1"/>
          <p:nvPr/>
        </p:nvSpPr>
        <p:spPr>
          <a:xfrm>
            <a:off x="7886700" y="4381805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0.84</a:t>
            </a:r>
            <a:endParaRPr lang="en-US" sz="1050" dirty="0"/>
          </a:p>
        </p:txBody>
      </p:sp>
      <p:sp>
        <p:nvSpPr>
          <p:cNvPr id="128" name="Text 83"/>
          <p:cNvSpPr txBox="1"/>
          <p:nvPr/>
        </p:nvSpPr>
        <p:spPr>
          <a:xfrm>
            <a:off x="9982505" y="4381805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050" dirty="0"/>
          </a:p>
        </p:txBody>
      </p:sp>
      <p:sp>
        <p:nvSpPr>
          <p:cNvPr id="129" name="Text 84"/>
          <p:cNvSpPr txBox="1"/>
          <p:nvPr/>
        </p:nvSpPr>
        <p:spPr>
          <a:xfrm>
            <a:off x="12648895" y="4381805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−0.46</a:t>
            </a:r>
            <a:endParaRPr lang="en-US" sz="1050" dirty="0"/>
          </a:p>
        </p:txBody>
      </p:sp>
      <p:sp>
        <p:nvSpPr>
          <p:cNvPr id="130" name="Text 85"/>
          <p:cNvSpPr txBox="1"/>
          <p:nvPr/>
        </p:nvSpPr>
        <p:spPr>
          <a:xfrm>
            <a:off x="1028700" y="458114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31" name="Text 86"/>
          <p:cNvSpPr txBox="1"/>
          <p:nvPr/>
        </p:nvSpPr>
        <p:spPr>
          <a:xfrm>
            <a:off x="2933395" y="4581144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132" name="Text 87"/>
          <p:cNvSpPr txBox="1"/>
          <p:nvPr/>
        </p:nvSpPr>
        <p:spPr>
          <a:xfrm>
            <a:off x="4076395" y="4581144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W-01</a:t>
            </a:r>
            <a:endParaRPr lang="en-US" sz="1050" dirty="0"/>
          </a:p>
        </p:txBody>
      </p:sp>
      <p:sp>
        <p:nvSpPr>
          <p:cNvPr id="133" name="Text 88"/>
          <p:cNvSpPr txBox="1"/>
          <p:nvPr/>
        </p:nvSpPr>
        <p:spPr>
          <a:xfrm>
            <a:off x="5600700" y="4581144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18.45</a:t>
            </a:r>
            <a:endParaRPr lang="en-US" sz="1050" dirty="0"/>
          </a:p>
        </p:txBody>
      </p:sp>
      <p:sp>
        <p:nvSpPr>
          <p:cNvPr id="134" name="Text 89"/>
          <p:cNvSpPr txBox="1"/>
          <p:nvPr/>
        </p:nvSpPr>
        <p:spPr>
          <a:xfrm>
            <a:off x="7886700" y="4581144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1.04</a:t>
            </a:r>
            <a:endParaRPr lang="en-US" sz="1050" dirty="0"/>
          </a:p>
        </p:txBody>
      </p:sp>
      <p:sp>
        <p:nvSpPr>
          <p:cNvPr id="135" name="Text 90"/>
          <p:cNvSpPr txBox="1"/>
          <p:nvPr/>
        </p:nvSpPr>
        <p:spPr>
          <a:xfrm>
            <a:off x="9982505" y="4581144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</a:t>
            </a:r>
            <a:endParaRPr lang="en-US" sz="1050" dirty="0"/>
          </a:p>
        </p:txBody>
      </p:sp>
      <p:sp>
        <p:nvSpPr>
          <p:cNvPr id="136" name="Text 91"/>
          <p:cNvSpPr txBox="1"/>
          <p:nvPr/>
        </p:nvSpPr>
        <p:spPr>
          <a:xfrm>
            <a:off x="12648895" y="4581144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+0.35</a:t>
            </a:r>
            <a:endParaRPr lang="en-US" sz="1050" dirty="0"/>
          </a:p>
        </p:txBody>
      </p:sp>
      <p:sp>
        <p:nvSpPr>
          <p:cNvPr id="137" name="Text 92"/>
          <p:cNvSpPr txBox="1"/>
          <p:nvPr/>
        </p:nvSpPr>
        <p:spPr>
          <a:xfrm>
            <a:off x="1028700" y="4762195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38" name="Text 93"/>
          <p:cNvSpPr txBox="1"/>
          <p:nvPr/>
        </p:nvSpPr>
        <p:spPr>
          <a:xfrm>
            <a:off x="2933395" y="4762195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139" name="Text 94"/>
          <p:cNvSpPr txBox="1"/>
          <p:nvPr/>
        </p:nvSpPr>
        <p:spPr>
          <a:xfrm>
            <a:off x="4076395" y="4762195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W-02</a:t>
            </a:r>
            <a:endParaRPr lang="en-US" sz="1050" dirty="0"/>
          </a:p>
        </p:txBody>
      </p:sp>
      <p:sp>
        <p:nvSpPr>
          <p:cNvPr id="140" name="Text 95"/>
          <p:cNvSpPr txBox="1"/>
          <p:nvPr/>
        </p:nvSpPr>
        <p:spPr>
          <a:xfrm>
            <a:off x="5600700" y="47621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18.62</a:t>
            </a:r>
            <a:endParaRPr lang="en-US" sz="1050" dirty="0"/>
          </a:p>
        </p:txBody>
      </p:sp>
      <p:sp>
        <p:nvSpPr>
          <p:cNvPr id="141" name="Text 96"/>
          <p:cNvSpPr txBox="1"/>
          <p:nvPr/>
        </p:nvSpPr>
        <p:spPr>
          <a:xfrm>
            <a:off x="7886700" y="4762195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1.12</a:t>
            </a:r>
            <a:endParaRPr lang="en-US" sz="1050" dirty="0"/>
          </a:p>
        </p:txBody>
      </p:sp>
      <p:sp>
        <p:nvSpPr>
          <p:cNvPr id="142" name="Text 97"/>
          <p:cNvSpPr txBox="1"/>
          <p:nvPr/>
        </p:nvSpPr>
        <p:spPr>
          <a:xfrm>
            <a:off x="9982505" y="4762195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2.8</a:t>
            </a:r>
            <a:endParaRPr lang="en-US" sz="1050" dirty="0"/>
          </a:p>
        </p:txBody>
      </p:sp>
      <p:sp>
        <p:nvSpPr>
          <p:cNvPr id="143" name="Text 98"/>
          <p:cNvSpPr txBox="1"/>
          <p:nvPr/>
        </p:nvSpPr>
        <p:spPr>
          <a:xfrm>
            <a:off x="12648895" y="4762195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+0.52</a:t>
            </a:r>
            <a:endParaRPr lang="en-US" sz="1050" dirty="0"/>
          </a:p>
        </p:txBody>
      </p:sp>
      <p:sp>
        <p:nvSpPr>
          <p:cNvPr id="144" name="Text 99"/>
          <p:cNvSpPr txBox="1"/>
          <p:nvPr/>
        </p:nvSpPr>
        <p:spPr>
          <a:xfrm>
            <a:off x="1028700" y="4943246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45" name="Text 100"/>
          <p:cNvSpPr txBox="1"/>
          <p:nvPr/>
        </p:nvSpPr>
        <p:spPr>
          <a:xfrm>
            <a:off x="2933395" y="4943246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146" name="Text 101"/>
          <p:cNvSpPr txBox="1"/>
          <p:nvPr/>
        </p:nvSpPr>
        <p:spPr>
          <a:xfrm>
            <a:off x="4076395" y="4943246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W-03</a:t>
            </a:r>
            <a:endParaRPr lang="en-US" sz="1050" dirty="0"/>
          </a:p>
        </p:txBody>
      </p:sp>
      <p:sp>
        <p:nvSpPr>
          <p:cNvPr id="147" name="Text 102"/>
          <p:cNvSpPr txBox="1"/>
          <p:nvPr/>
        </p:nvSpPr>
        <p:spPr>
          <a:xfrm>
            <a:off x="5600700" y="4943246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18.22</a:t>
            </a:r>
            <a:endParaRPr lang="en-US" sz="1050" dirty="0"/>
          </a:p>
        </p:txBody>
      </p:sp>
      <p:sp>
        <p:nvSpPr>
          <p:cNvPr id="148" name="Text 103"/>
          <p:cNvSpPr txBox="1"/>
          <p:nvPr/>
        </p:nvSpPr>
        <p:spPr>
          <a:xfrm>
            <a:off x="7886700" y="4943246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0.96</a:t>
            </a:r>
            <a:endParaRPr lang="en-US" sz="1050" dirty="0"/>
          </a:p>
        </p:txBody>
      </p:sp>
      <p:sp>
        <p:nvSpPr>
          <p:cNvPr id="149" name="Text 104"/>
          <p:cNvSpPr txBox="1"/>
          <p:nvPr/>
        </p:nvSpPr>
        <p:spPr>
          <a:xfrm>
            <a:off x="9982505" y="4943246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</a:t>
            </a:r>
            <a:endParaRPr lang="en-US" sz="1050" dirty="0"/>
          </a:p>
        </p:txBody>
      </p:sp>
      <p:sp>
        <p:nvSpPr>
          <p:cNvPr id="150" name="Text 105"/>
          <p:cNvSpPr txBox="1"/>
          <p:nvPr/>
        </p:nvSpPr>
        <p:spPr>
          <a:xfrm>
            <a:off x="12648895" y="4943246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+0.12</a:t>
            </a:r>
            <a:endParaRPr lang="en-US" sz="1050" dirty="0"/>
          </a:p>
        </p:txBody>
      </p:sp>
      <p:sp>
        <p:nvSpPr>
          <p:cNvPr id="151" name="Text 106"/>
          <p:cNvSpPr txBox="1"/>
          <p:nvPr/>
        </p:nvSpPr>
        <p:spPr>
          <a:xfrm>
            <a:off x="1028700" y="5124298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52" name="Text 107"/>
          <p:cNvSpPr txBox="1"/>
          <p:nvPr/>
        </p:nvSpPr>
        <p:spPr>
          <a:xfrm>
            <a:off x="2933395" y="5124298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153" name="Text 108"/>
          <p:cNvSpPr txBox="1"/>
          <p:nvPr/>
        </p:nvSpPr>
        <p:spPr>
          <a:xfrm>
            <a:off x="4076395" y="51242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W-04</a:t>
            </a:r>
            <a:endParaRPr lang="en-US" sz="1050" dirty="0"/>
          </a:p>
        </p:txBody>
      </p:sp>
      <p:sp>
        <p:nvSpPr>
          <p:cNvPr id="154" name="Text 109"/>
          <p:cNvSpPr txBox="1"/>
          <p:nvPr/>
        </p:nvSpPr>
        <p:spPr>
          <a:xfrm>
            <a:off x="5600700" y="5124298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18.04</a:t>
            </a:r>
            <a:endParaRPr lang="en-US" sz="1050" dirty="0"/>
          </a:p>
        </p:txBody>
      </p:sp>
      <p:sp>
        <p:nvSpPr>
          <p:cNvPr id="155" name="Text 110"/>
          <p:cNvSpPr txBox="1"/>
          <p:nvPr/>
        </p:nvSpPr>
        <p:spPr>
          <a:xfrm>
            <a:off x="7886700" y="5124298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0.82</a:t>
            </a:r>
            <a:endParaRPr lang="en-US" sz="1050" dirty="0"/>
          </a:p>
        </p:txBody>
      </p:sp>
      <p:sp>
        <p:nvSpPr>
          <p:cNvPr id="156" name="Text 111"/>
          <p:cNvSpPr txBox="1"/>
          <p:nvPr/>
        </p:nvSpPr>
        <p:spPr>
          <a:xfrm>
            <a:off x="9982505" y="51242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050" dirty="0"/>
          </a:p>
        </p:txBody>
      </p:sp>
      <p:sp>
        <p:nvSpPr>
          <p:cNvPr id="157" name="Text 112"/>
          <p:cNvSpPr txBox="1"/>
          <p:nvPr/>
        </p:nvSpPr>
        <p:spPr>
          <a:xfrm>
            <a:off x="12648895" y="5124298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−0.06</a:t>
            </a:r>
            <a:endParaRPr lang="en-US" sz="1050" dirty="0"/>
          </a:p>
        </p:txBody>
      </p:sp>
      <p:sp>
        <p:nvSpPr>
          <p:cNvPr id="158" name="Text 113"/>
          <p:cNvSpPr txBox="1"/>
          <p:nvPr/>
        </p:nvSpPr>
        <p:spPr>
          <a:xfrm>
            <a:off x="1028700" y="5305349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59" name="Text 114"/>
          <p:cNvSpPr txBox="1"/>
          <p:nvPr/>
        </p:nvSpPr>
        <p:spPr>
          <a:xfrm>
            <a:off x="2933395" y="5305349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160" name="Text 115"/>
          <p:cNvSpPr txBox="1"/>
          <p:nvPr/>
        </p:nvSpPr>
        <p:spPr>
          <a:xfrm>
            <a:off x="4076395" y="5305349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W-05</a:t>
            </a:r>
            <a:endParaRPr lang="en-US" sz="1050" dirty="0"/>
          </a:p>
        </p:txBody>
      </p:sp>
      <p:sp>
        <p:nvSpPr>
          <p:cNvPr id="161" name="Text 116"/>
          <p:cNvSpPr txBox="1"/>
          <p:nvPr/>
        </p:nvSpPr>
        <p:spPr>
          <a:xfrm>
            <a:off x="5600700" y="5305349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18.32</a:t>
            </a:r>
            <a:endParaRPr lang="en-US" sz="1050" dirty="0"/>
          </a:p>
        </p:txBody>
      </p:sp>
      <p:sp>
        <p:nvSpPr>
          <p:cNvPr id="162" name="Text 117"/>
          <p:cNvSpPr txBox="1"/>
          <p:nvPr/>
        </p:nvSpPr>
        <p:spPr>
          <a:xfrm>
            <a:off x="7886700" y="5305349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0.88</a:t>
            </a:r>
            <a:endParaRPr lang="en-US" sz="1050" dirty="0"/>
          </a:p>
        </p:txBody>
      </p:sp>
      <p:sp>
        <p:nvSpPr>
          <p:cNvPr id="163" name="Text 118"/>
          <p:cNvSpPr txBox="1"/>
          <p:nvPr/>
        </p:nvSpPr>
        <p:spPr>
          <a:xfrm>
            <a:off x="9982505" y="5305349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</a:t>
            </a:r>
            <a:endParaRPr lang="en-US" sz="1050" dirty="0"/>
          </a:p>
        </p:txBody>
      </p:sp>
      <p:sp>
        <p:nvSpPr>
          <p:cNvPr id="164" name="Text 119"/>
          <p:cNvSpPr txBox="1"/>
          <p:nvPr/>
        </p:nvSpPr>
        <p:spPr>
          <a:xfrm>
            <a:off x="12648895" y="5305349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+0.22</a:t>
            </a:r>
            <a:endParaRPr lang="en-US" sz="1050" dirty="0"/>
          </a:p>
        </p:txBody>
      </p:sp>
      <p:sp>
        <p:nvSpPr>
          <p:cNvPr id="165" name="Text 120"/>
          <p:cNvSpPr txBox="1"/>
          <p:nvPr/>
        </p:nvSpPr>
        <p:spPr>
          <a:xfrm>
            <a:off x="1028700" y="5486400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66" name="Text 121"/>
          <p:cNvSpPr txBox="1"/>
          <p:nvPr/>
        </p:nvSpPr>
        <p:spPr>
          <a:xfrm>
            <a:off x="2933395" y="5486400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167" name="Text 122"/>
          <p:cNvSpPr txBox="1"/>
          <p:nvPr/>
        </p:nvSpPr>
        <p:spPr>
          <a:xfrm>
            <a:off x="4076395" y="5486400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W-06</a:t>
            </a:r>
            <a:endParaRPr lang="en-US" sz="1050" dirty="0"/>
          </a:p>
        </p:txBody>
      </p:sp>
      <p:sp>
        <p:nvSpPr>
          <p:cNvPr id="168" name="Text 123"/>
          <p:cNvSpPr txBox="1"/>
          <p:nvPr/>
        </p:nvSpPr>
        <p:spPr>
          <a:xfrm>
            <a:off x="5600700" y="5486400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17.95</a:t>
            </a:r>
            <a:endParaRPr lang="en-US" sz="1050" dirty="0"/>
          </a:p>
        </p:txBody>
      </p:sp>
      <p:sp>
        <p:nvSpPr>
          <p:cNvPr id="169" name="Text 124"/>
          <p:cNvSpPr txBox="1"/>
          <p:nvPr/>
        </p:nvSpPr>
        <p:spPr>
          <a:xfrm>
            <a:off x="7886700" y="5486400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0.79</a:t>
            </a:r>
            <a:endParaRPr lang="en-US" sz="1050" dirty="0"/>
          </a:p>
        </p:txBody>
      </p:sp>
      <p:sp>
        <p:nvSpPr>
          <p:cNvPr id="170" name="Text 125"/>
          <p:cNvSpPr txBox="1"/>
          <p:nvPr/>
        </p:nvSpPr>
        <p:spPr>
          <a:xfrm>
            <a:off x="9982505" y="5486400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</a:t>
            </a:r>
            <a:endParaRPr lang="en-US" sz="1050" dirty="0"/>
          </a:p>
        </p:txBody>
      </p:sp>
      <p:sp>
        <p:nvSpPr>
          <p:cNvPr id="171" name="Text 126"/>
          <p:cNvSpPr txBox="1"/>
          <p:nvPr/>
        </p:nvSpPr>
        <p:spPr>
          <a:xfrm>
            <a:off x="12648895" y="5486400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−0.15</a:t>
            </a:r>
            <a:endParaRPr lang="en-US" sz="1050" dirty="0"/>
          </a:p>
        </p:txBody>
      </p:sp>
      <p:sp>
        <p:nvSpPr>
          <p:cNvPr id="172" name="Text 127"/>
          <p:cNvSpPr txBox="1"/>
          <p:nvPr/>
        </p:nvSpPr>
        <p:spPr>
          <a:xfrm>
            <a:off x="1028700" y="5667451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73" name="Text 128"/>
          <p:cNvSpPr txBox="1"/>
          <p:nvPr/>
        </p:nvSpPr>
        <p:spPr>
          <a:xfrm>
            <a:off x="2933395" y="5667451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174" name="Text 129"/>
          <p:cNvSpPr txBox="1"/>
          <p:nvPr/>
        </p:nvSpPr>
        <p:spPr>
          <a:xfrm>
            <a:off x="4076395" y="5667451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W-07</a:t>
            </a:r>
            <a:endParaRPr lang="en-US" sz="1050" dirty="0"/>
          </a:p>
        </p:txBody>
      </p:sp>
      <p:sp>
        <p:nvSpPr>
          <p:cNvPr id="175" name="Text 130"/>
          <p:cNvSpPr txBox="1"/>
          <p:nvPr/>
        </p:nvSpPr>
        <p:spPr>
          <a:xfrm>
            <a:off x="5600700" y="5667451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17.78</a:t>
            </a:r>
            <a:endParaRPr lang="en-US" sz="1050" dirty="0"/>
          </a:p>
        </p:txBody>
      </p:sp>
      <p:sp>
        <p:nvSpPr>
          <p:cNvPr id="176" name="Text 131"/>
          <p:cNvSpPr txBox="1"/>
          <p:nvPr/>
        </p:nvSpPr>
        <p:spPr>
          <a:xfrm>
            <a:off x="7886700" y="5667451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0.66</a:t>
            </a:r>
            <a:endParaRPr lang="en-US" sz="1050" dirty="0"/>
          </a:p>
        </p:txBody>
      </p:sp>
      <p:sp>
        <p:nvSpPr>
          <p:cNvPr id="177" name="Text 132"/>
          <p:cNvSpPr txBox="1"/>
          <p:nvPr/>
        </p:nvSpPr>
        <p:spPr>
          <a:xfrm>
            <a:off x="9982505" y="5667451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</a:t>
            </a:r>
            <a:endParaRPr lang="en-US" sz="1050" dirty="0"/>
          </a:p>
        </p:txBody>
      </p:sp>
      <p:sp>
        <p:nvSpPr>
          <p:cNvPr id="178" name="Text 133"/>
          <p:cNvSpPr txBox="1"/>
          <p:nvPr/>
        </p:nvSpPr>
        <p:spPr>
          <a:xfrm>
            <a:off x="12648895" y="5667451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−0.32</a:t>
            </a:r>
            <a:endParaRPr lang="en-US" sz="1050" dirty="0"/>
          </a:p>
        </p:txBody>
      </p:sp>
      <p:sp>
        <p:nvSpPr>
          <p:cNvPr id="179" name="Text 134"/>
          <p:cNvSpPr txBox="1"/>
          <p:nvPr/>
        </p:nvSpPr>
        <p:spPr>
          <a:xfrm>
            <a:off x="1028700" y="5848502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80" name="Text 135"/>
          <p:cNvSpPr txBox="1"/>
          <p:nvPr/>
        </p:nvSpPr>
        <p:spPr>
          <a:xfrm>
            <a:off x="2933395" y="5848502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181" name="Text 136"/>
          <p:cNvSpPr txBox="1"/>
          <p:nvPr/>
        </p:nvSpPr>
        <p:spPr>
          <a:xfrm>
            <a:off x="4076395" y="5848502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W-08</a:t>
            </a:r>
            <a:endParaRPr lang="en-US" sz="1050" dirty="0"/>
          </a:p>
        </p:txBody>
      </p:sp>
      <p:sp>
        <p:nvSpPr>
          <p:cNvPr id="182" name="Text 137"/>
          <p:cNvSpPr txBox="1"/>
          <p:nvPr/>
        </p:nvSpPr>
        <p:spPr>
          <a:xfrm>
            <a:off x="5600700" y="5848502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17.92</a:t>
            </a:r>
            <a:endParaRPr lang="en-US" sz="1050" dirty="0"/>
          </a:p>
        </p:txBody>
      </p:sp>
      <p:sp>
        <p:nvSpPr>
          <p:cNvPr id="183" name="Text 138"/>
          <p:cNvSpPr txBox="1"/>
          <p:nvPr/>
        </p:nvSpPr>
        <p:spPr>
          <a:xfrm>
            <a:off x="7886700" y="5848502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0.71</a:t>
            </a:r>
            <a:endParaRPr lang="en-US" sz="1050" dirty="0"/>
          </a:p>
        </p:txBody>
      </p:sp>
      <p:sp>
        <p:nvSpPr>
          <p:cNvPr id="184" name="Text 139"/>
          <p:cNvSpPr txBox="1"/>
          <p:nvPr/>
        </p:nvSpPr>
        <p:spPr>
          <a:xfrm>
            <a:off x="9982505" y="5848502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</a:t>
            </a:r>
            <a:endParaRPr lang="en-US" sz="1050" dirty="0"/>
          </a:p>
        </p:txBody>
      </p:sp>
      <p:sp>
        <p:nvSpPr>
          <p:cNvPr id="185" name="Text 140"/>
          <p:cNvSpPr txBox="1"/>
          <p:nvPr/>
        </p:nvSpPr>
        <p:spPr>
          <a:xfrm>
            <a:off x="12648895" y="5848502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1050" dirty="0"/>
          </a:p>
        </p:txBody>
      </p:sp>
      <p:sp>
        <p:nvSpPr>
          <p:cNvPr id="186" name="Text 141"/>
          <p:cNvSpPr txBox="1"/>
          <p:nvPr/>
        </p:nvSpPr>
        <p:spPr>
          <a:xfrm>
            <a:off x="1028700" y="602955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60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050" dirty="0"/>
          </a:p>
        </p:txBody>
      </p:sp>
      <p:sp>
        <p:nvSpPr>
          <p:cNvPr id="187" name="Text 142"/>
          <p:cNvSpPr txBox="1"/>
          <p:nvPr/>
        </p:nvSpPr>
        <p:spPr>
          <a:xfrm>
            <a:off x="2933395" y="6029554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188" name="Text 143"/>
          <p:cNvSpPr txBox="1"/>
          <p:nvPr/>
        </p:nvSpPr>
        <p:spPr>
          <a:xfrm>
            <a:off x="4076395" y="6029554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W-09</a:t>
            </a:r>
            <a:endParaRPr lang="en-US" sz="1050" dirty="0"/>
          </a:p>
        </p:txBody>
      </p:sp>
      <p:sp>
        <p:nvSpPr>
          <p:cNvPr id="189" name="Text 144"/>
          <p:cNvSpPr txBox="1"/>
          <p:nvPr/>
        </p:nvSpPr>
        <p:spPr>
          <a:xfrm>
            <a:off x="5600700" y="6029554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17.66</a:t>
            </a:r>
            <a:endParaRPr lang="en-US" sz="1050" dirty="0"/>
          </a:p>
        </p:txBody>
      </p:sp>
      <p:sp>
        <p:nvSpPr>
          <p:cNvPr id="190" name="Text 145"/>
          <p:cNvSpPr txBox="1"/>
          <p:nvPr/>
        </p:nvSpPr>
        <p:spPr>
          <a:xfrm>
            <a:off x="7886700" y="6029554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</a:t>
            </a:r>
            <a:endParaRPr lang="en-US" sz="1050" dirty="0"/>
          </a:p>
        </p:txBody>
      </p:sp>
      <p:sp>
        <p:nvSpPr>
          <p:cNvPr id="191" name="Text 146"/>
          <p:cNvSpPr txBox="1"/>
          <p:nvPr/>
        </p:nvSpPr>
        <p:spPr>
          <a:xfrm>
            <a:off x="9982505" y="6029554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</a:t>
            </a:r>
            <a:endParaRPr lang="en-US" sz="1050" dirty="0"/>
          </a:p>
        </p:txBody>
      </p:sp>
      <p:sp>
        <p:nvSpPr>
          <p:cNvPr id="192" name="Text 147"/>
          <p:cNvSpPr txBox="1"/>
          <p:nvPr/>
        </p:nvSpPr>
        <p:spPr>
          <a:xfrm>
            <a:off x="12648895" y="6029554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−0.44</a:t>
            </a:r>
            <a:endParaRPr lang="en-US" sz="1050" dirty="0"/>
          </a:p>
        </p:txBody>
      </p:sp>
      <p:sp>
        <p:nvSpPr>
          <p:cNvPr id="193" name="Text 148"/>
          <p:cNvSpPr txBox="1"/>
          <p:nvPr/>
        </p:nvSpPr>
        <p:spPr>
          <a:xfrm>
            <a:off x="1028700" y="6229807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194" name="Text 149"/>
          <p:cNvSpPr txBox="1"/>
          <p:nvPr/>
        </p:nvSpPr>
        <p:spPr>
          <a:xfrm>
            <a:off x="2933395" y="6229807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195" name="Text 150"/>
          <p:cNvSpPr txBox="1"/>
          <p:nvPr/>
        </p:nvSpPr>
        <p:spPr>
          <a:xfrm>
            <a:off x="4076395" y="6229807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W-01</a:t>
            </a:r>
            <a:endParaRPr lang="en-US" sz="1050" dirty="0"/>
          </a:p>
        </p:txBody>
      </p:sp>
      <p:sp>
        <p:nvSpPr>
          <p:cNvPr id="196" name="Text 151"/>
          <p:cNvSpPr txBox="1"/>
          <p:nvPr/>
        </p:nvSpPr>
        <p:spPr>
          <a:xfrm>
            <a:off x="5600700" y="6229807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8.34</a:t>
            </a:r>
            <a:endParaRPr lang="en-US" sz="1050" dirty="0"/>
          </a:p>
        </p:txBody>
      </p:sp>
      <p:sp>
        <p:nvSpPr>
          <p:cNvPr id="197" name="Text 152"/>
          <p:cNvSpPr txBox="1"/>
          <p:nvPr/>
        </p:nvSpPr>
        <p:spPr>
          <a:xfrm>
            <a:off x="7886700" y="6229807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0.78</a:t>
            </a:r>
            <a:endParaRPr lang="en-US" sz="1050" dirty="0"/>
          </a:p>
        </p:txBody>
      </p:sp>
      <p:sp>
        <p:nvSpPr>
          <p:cNvPr id="198" name="Text 153"/>
          <p:cNvSpPr txBox="1"/>
          <p:nvPr/>
        </p:nvSpPr>
        <p:spPr>
          <a:xfrm>
            <a:off x="9982505" y="6229807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</a:t>
            </a:r>
            <a:endParaRPr lang="en-US" sz="1050" dirty="0"/>
          </a:p>
        </p:txBody>
      </p:sp>
      <p:sp>
        <p:nvSpPr>
          <p:cNvPr id="199" name="Text 154"/>
          <p:cNvSpPr txBox="1"/>
          <p:nvPr/>
        </p:nvSpPr>
        <p:spPr>
          <a:xfrm>
            <a:off x="12648895" y="6229807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+0.24</a:t>
            </a:r>
            <a:endParaRPr lang="en-US" sz="1050" dirty="0"/>
          </a:p>
        </p:txBody>
      </p:sp>
      <p:sp>
        <p:nvSpPr>
          <p:cNvPr id="200" name="Text 155"/>
          <p:cNvSpPr txBox="1"/>
          <p:nvPr/>
        </p:nvSpPr>
        <p:spPr>
          <a:xfrm>
            <a:off x="1028700" y="640994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201" name="Text 156"/>
          <p:cNvSpPr txBox="1"/>
          <p:nvPr/>
        </p:nvSpPr>
        <p:spPr>
          <a:xfrm>
            <a:off x="2933395" y="6409944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202" name="Text 157"/>
          <p:cNvSpPr txBox="1"/>
          <p:nvPr/>
        </p:nvSpPr>
        <p:spPr>
          <a:xfrm>
            <a:off x="4076395" y="6409944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W-02</a:t>
            </a:r>
            <a:endParaRPr lang="en-US" sz="1050" dirty="0"/>
          </a:p>
        </p:txBody>
      </p:sp>
      <p:sp>
        <p:nvSpPr>
          <p:cNvPr id="203" name="Text 158"/>
          <p:cNvSpPr txBox="1"/>
          <p:nvPr/>
        </p:nvSpPr>
        <p:spPr>
          <a:xfrm>
            <a:off x="5600700" y="6409944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8.45</a:t>
            </a:r>
            <a:endParaRPr lang="en-US" sz="1050" dirty="0"/>
          </a:p>
        </p:txBody>
      </p:sp>
      <p:sp>
        <p:nvSpPr>
          <p:cNvPr id="204" name="Text 159"/>
          <p:cNvSpPr txBox="1"/>
          <p:nvPr/>
        </p:nvSpPr>
        <p:spPr>
          <a:xfrm>
            <a:off x="7886700" y="6409944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0.84</a:t>
            </a:r>
            <a:endParaRPr lang="en-US" sz="1050" dirty="0"/>
          </a:p>
        </p:txBody>
      </p:sp>
      <p:sp>
        <p:nvSpPr>
          <p:cNvPr id="205" name="Text 160"/>
          <p:cNvSpPr txBox="1"/>
          <p:nvPr/>
        </p:nvSpPr>
        <p:spPr>
          <a:xfrm>
            <a:off x="9982505" y="6409944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050" dirty="0"/>
          </a:p>
        </p:txBody>
      </p:sp>
      <p:sp>
        <p:nvSpPr>
          <p:cNvPr id="206" name="Text 161"/>
          <p:cNvSpPr txBox="1"/>
          <p:nvPr/>
        </p:nvSpPr>
        <p:spPr>
          <a:xfrm>
            <a:off x="12648895" y="6409944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+0.35</a:t>
            </a:r>
            <a:endParaRPr lang="en-US" sz="1050" dirty="0"/>
          </a:p>
        </p:txBody>
      </p:sp>
      <p:sp>
        <p:nvSpPr>
          <p:cNvPr id="207" name="Text 162"/>
          <p:cNvSpPr txBox="1"/>
          <p:nvPr/>
        </p:nvSpPr>
        <p:spPr>
          <a:xfrm>
            <a:off x="1028700" y="6590995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208" name="Text 163"/>
          <p:cNvSpPr txBox="1"/>
          <p:nvPr/>
        </p:nvSpPr>
        <p:spPr>
          <a:xfrm>
            <a:off x="2933395" y="6590995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209" name="Text 164"/>
          <p:cNvSpPr txBox="1"/>
          <p:nvPr/>
        </p:nvSpPr>
        <p:spPr>
          <a:xfrm>
            <a:off x="4076395" y="6590995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W-03</a:t>
            </a:r>
            <a:endParaRPr lang="en-US" sz="1050" dirty="0"/>
          </a:p>
        </p:txBody>
      </p:sp>
      <p:sp>
        <p:nvSpPr>
          <p:cNvPr id="210" name="Text 165"/>
          <p:cNvSpPr txBox="1"/>
          <p:nvPr/>
        </p:nvSpPr>
        <p:spPr>
          <a:xfrm>
            <a:off x="5600700" y="65909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8.16</a:t>
            </a:r>
            <a:endParaRPr lang="en-US" sz="1050" dirty="0"/>
          </a:p>
        </p:txBody>
      </p:sp>
      <p:sp>
        <p:nvSpPr>
          <p:cNvPr id="211" name="Text 166"/>
          <p:cNvSpPr txBox="1"/>
          <p:nvPr/>
        </p:nvSpPr>
        <p:spPr>
          <a:xfrm>
            <a:off x="7886700" y="6590995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0.71</a:t>
            </a:r>
            <a:endParaRPr lang="en-US" sz="1050" dirty="0"/>
          </a:p>
        </p:txBody>
      </p:sp>
      <p:sp>
        <p:nvSpPr>
          <p:cNvPr id="212" name="Text 167"/>
          <p:cNvSpPr txBox="1"/>
          <p:nvPr/>
        </p:nvSpPr>
        <p:spPr>
          <a:xfrm>
            <a:off x="9982505" y="6590995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</a:t>
            </a:r>
            <a:endParaRPr lang="en-US" sz="1050" dirty="0"/>
          </a:p>
        </p:txBody>
      </p:sp>
      <p:sp>
        <p:nvSpPr>
          <p:cNvPr id="213" name="Text 168"/>
          <p:cNvSpPr txBox="1"/>
          <p:nvPr/>
        </p:nvSpPr>
        <p:spPr>
          <a:xfrm>
            <a:off x="12648895" y="6590995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+0.06</a:t>
            </a:r>
            <a:endParaRPr lang="en-US" sz="1050" dirty="0"/>
          </a:p>
        </p:txBody>
      </p:sp>
      <p:sp>
        <p:nvSpPr>
          <p:cNvPr id="214" name="Text 169"/>
          <p:cNvSpPr txBox="1"/>
          <p:nvPr/>
        </p:nvSpPr>
        <p:spPr>
          <a:xfrm>
            <a:off x="1028700" y="6772046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215" name="Text 170"/>
          <p:cNvSpPr txBox="1"/>
          <p:nvPr/>
        </p:nvSpPr>
        <p:spPr>
          <a:xfrm>
            <a:off x="2933395" y="6772046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216" name="Text 171"/>
          <p:cNvSpPr txBox="1"/>
          <p:nvPr/>
        </p:nvSpPr>
        <p:spPr>
          <a:xfrm>
            <a:off x="4076395" y="6772046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W-04</a:t>
            </a:r>
            <a:endParaRPr lang="en-US" sz="1050" dirty="0"/>
          </a:p>
        </p:txBody>
      </p:sp>
      <p:sp>
        <p:nvSpPr>
          <p:cNvPr id="217" name="Text 172"/>
          <p:cNvSpPr txBox="1"/>
          <p:nvPr/>
        </p:nvSpPr>
        <p:spPr>
          <a:xfrm>
            <a:off x="5600700" y="6772046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8.06</a:t>
            </a:r>
            <a:endParaRPr lang="en-US" sz="1050" dirty="0"/>
          </a:p>
        </p:txBody>
      </p:sp>
      <p:sp>
        <p:nvSpPr>
          <p:cNvPr id="218" name="Text 173"/>
          <p:cNvSpPr txBox="1"/>
          <p:nvPr/>
        </p:nvSpPr>
        <p:spPr>
          <a:xfrm>
            <a:off x="7886700" y="6772046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</a:t>
            </a:r>
            <a:endParaRPr lang="en-US" sz="1050" dirty="0"/>
          </a:p>
        </p:txBody>
      </p:sp>
      <p:sp>
        <p:nvSpPr>
          <p:cNvPr id="219" name="Text 174"/>
          <p:cNvSpPr txBox="1"/>
          <p:nvPr/>
        </p:nvSpPr>
        <p:spPr>
          <a:xfrm>
            <a:off x="9982505" y="6772046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</a:t>
            </a:r>
            <a:endParaRPr lang="en-US" sz="1050" dirty="0"/>
          </a:p>
        </p:txBody>
      </p:sp>
      <p:sp>
        <p:nvSpPr>
          <p:cNvPr id="220" name="Text 175"/>
          <p:cNvSpPr txBox="1"/>
          <p:nvPr/>
        </p:nvSpPr>
        <p:spPr>
          <a:xfrm>
            <a:off x="12648895" y="6772046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−0.04</a:t>
            </a:r>
            <a:endParaRPr lang="en-US" sz="1050" dirty="0"/>
          </a:p>
        </p:txBody>
      </p:sp>
      <p:sp>
        <p:nvSpPr>
          <p:cNvPr id="221" name="Text 176"/>
          <p:cNvSpPr txBox="1"/>
          <p:nvPr/>
        </p:nvSpPr>
        <p:spPr>
          <a:xfrm>
            <a:off x="1028700" y="6953098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222" name="Text 177"/>
          <p:cNvSpPr txBox="1"/>
          <p:nvPr/>
        </p:nvSpPr>
        <p:spPr>
          <a:xfrm>
            <a:off x="2933395" y="6953098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223" name="Text 178"/>
          <p:cNvSpPr txBox="1"/>
          <p:nvPr/>
        </p:nvSpPr>
        <p:spPr>
          <a:xfrm>
            <a:off x="4076395" y="69530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W-05</a:t>
            </a:r>
            <a:endParaRPr lang="en-US" sz="1050" dirty="0"/>
          </a:p>
        </p:txBody>
      </p:sp>
      <p:sp>
        <p:nvSpPr>
          <p:cNvPr id="224" name="Text 179"/>
          <p:cNvSpPr txBox="1"/>
          <p:nvPr/>
        </p:nvSpPr>
        <p:spPr>
          <a:xfrm>
            <a:off x="5600700" y="6953098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8.22</a:t>
            </a:r>
            <a:endParaRPr lang="en-US" sz="1050" dirty="0"/>
          </a:p>
        </p:txBody>
      </p:sp>
      <p:sp>
        <p:nvSpPr>
          <p:cNvPr id="225" name="Text 180"/>
          <p:cNvSpPr txBox="1"/>
          <p:nvPr/>
        </p:nvSpPr>
        <p:spPr>
          <a:xfrm>
            <a:off x="7886700" y="6953098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0.66</a:t>
            </a:r>
            <a:endParaRPr lang="en-US" sz="1050" dirty="0"/>
          </a:p>
        </p:txBody>
      </p:sp>
      <p:sp>
        <p:nvSpPr>
          <p:cNvPr id="226" name="Text 181"/>
          <p:cNvSpPr txBox="1"/>
          <p:nvPr/>
        </p:nvSpPr>
        <p:spPr>
          <a:xfrm>
            <a:off x="9982505" y="69530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</a:t>
            </a:r>
            <a:endParaRPr lang="en-US" sz="1050" dirty="0"/>
          </a:p>
        </p:txBody>
      </p:sp>
      <p:sp>
        <p:nvSpPr>
          <p:cNvPr id="227" name="Text 182"/>
          <p:cNvSpPr txBox="1"/>
          <p:nvPr/>
        </p:nvSpPr>
        <p:spPr>
          <a:xfrm>
            <a:off x="12648895" y="6953098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+0.12</a:t>
            </a:r>
            <a:endParaRPr lang="en-US" sz="1050" dirty="0"/>
          </a:p>
        </p:txBody>
      </p:sp>
      <p:sp>
        <p:nvSpPr>
          <p:cNvPr id="228" name="Text 183"/>
          <p:cNvSpPr txBox="1"/>
          <p:nvPr/>
        </p:nvSpPr>
        <p:spPr>
          <a:xfrm>
            <a:off x="1028700" y="7134149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229" name="Text 184"/>
          <p:cNvSpPr txBox="1"/>
          <p:nvPr/>
        </p:nvSpPr>
        <p:spPr>
          <a:xfrm>
            <a:off x="2933395" y="7134149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230" name="Text 185"/>
          <p:cNvSpPr txBox="1"/>
          <p:nvPr/>
        </p:nvSpPr>
        <p:spPr>
          <a:xfrm>
            <a:off x="2933395" y="7134149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231" name="Text 186"/>
          <p:cNvSpPr txBox="1"/>
          <p:nvPr/>
        </p:nvSpPr>
        <p:spPr>
          <a:xfrm>
            <a:off x="4076395" y="7134149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W-06</a:t>
            </a:r>
            <a:endParaRPr lang="en-US" sz="1050" dirty="0"/>
          </a:p>
        </p:txBody>
      </p:sp>
      <p:sp>
        <p:nvSpPr>
          <p:cNvPr id="232" name="Text 187"/>
          <p:cNvSpPr txBox="1"/>
          <p:nvPr/>
        </p:nvSpPr>
        <p:spPr>
          <a:xfrm>
            <a:off x="5600700" y="7134149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7.98</a:t>
            </a:r>
            <a:endParaRPr lang="en-US" sz="1050" dirty="0"/>
          </a:p>
        </p:txBody>
      </p:sp>
      <p:sp>
        <p:nvSpPr>
          <p:cNvPr id="233" name="Text 188"/>
          <p:cNvSpPr txBox="1"/>
          <p:nvPr/>
        </p:nvSpPr>
        <p:spPr>
          <a:xfrm>
            <a:off x="7886700" y="7134149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0.58</a:t>
            </a:r>
            <a:endParaRPr lang="en-US" sz="1050" dirty="0"/>
          </a:p>
        </p:txBody>
      </p:sp>
      <p:sp>
        <p:nvSpPr>
          <p:cNvPr id="234" name="Text 189"/>
          <p:cNvSpPr txBox="1"/>
          <p:nvPr/>
        </p:nvSpPr>
        <p:spPr>
          <a:xfrm>
            <a:off x="9982505" y="7134149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</a:t>
            </a:r>
            <a:endParaRPr lang="en-US" sz="1050" dirty="0"/>
          </a:p>
        </p:txBody>
      </p:sp>
      <p:sp>
        <p:nvSpPr>
          <p:cNvPr id="235" name="Text 190"/>
          <p:cNvSpPr txBox="1"/>
          <p:nvPr/>
        </p:nvSpPr>
        <p:spPr>
          <a:xfrm>
            <a:off x="12648895" y="7134149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−0.12</a:t>
            </a:r>
            <a:endParaRPr lang="en-US" sz="1050" dirty="0"/>
          </a:p>
        </p:txBody>
      </p:sp>
      <p:sp>
        <p:nvSpPr>
          <p:cNvPr id="236" name="Text 191"/>
          <p:cNvSpPr txBox="1"/>
          <p:nvPr/>
        </p:nvSpPr>
        <p:spPr>
          <a:xfrm>
            <a:off x="1028700" y="7315200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237" name="Text 192"/>
          <p:cNvSpPr txBox="1"/>
          <p:nvPr/>
        </p:nvSpPr>
        <p:spPr>
          <a:xfrm>
            <a:off x="2933395" y="7315200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238" name="Text 193"/>
          <p:cNvSpPr txBox="1"/>
          <p:nvPr/>
        </p:nvSpPr>
        <p:spPr>
          <a:xfrm>
            <a:off x="4076395" y="7315200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W-07</a:t>
            </a:r>
            <a:endParaRPr lang="en-US" sz="1050" dirty="0"/>
          </a:p>
        </p:txBody>
      </p:sp>
      <p:sp>
        <p:nvSpPr>
          <p:cNvPr id="239" name="Text 194"/>
          <p:cNvSpPr txBox="1"/>
          <p:nvPr/>
        </p:nvSpPr>
        <p:spPr>
          <a:xfrm>
            <a:off x="5600700" y="7315200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7.88</a:t>
            </a:r>
            <a:endParaRPr lang="en-US" sz="1050" dirty="0"/>
          </a:p>
        </p:txBody>
      </p:sp>
      <p:sp>
        <p:nvSpPr>
          <p:cNvPr id="240" name="Text 195"/>
          <p:cNvSpPr txBox="1"/>
          <p:nvPr/>
        </p:nvSpPr>
        <p:spPr>
          <a:xfrm>
            <a:off x="7886700" y="7315200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0.48</a:t>
            </a:r>
            <a:endParaRPr lang="en-US" sz="1050" dirty="0"/>
          </a:p>
        </p:txBody>
      </p:sp>
      <p:sp>
        <p:nvSpPr>
          <p:cNvPr id="241" name="Text 196"/>
          <p:cNvSpPr txBox="1"/>
          <p:nvPr/>
        </p:nvSpPr>
        <p:spPr>
          <a:xfrm>
            <a:off x="9982505" y="7315200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</a:t>
            </a:r>
            <a:endParaRPr lang="en-US" sz="1050" dirty="0"/>
          </a:p>
        </p:txBody>
      </p:sp>
      <p:sp>
        <p:nvSpPr>
          <p:cNvPr id="242" name="Text 197"/>
          <p:cNvSpPr txBox="1"/>
          <p:nvPr/>
        </p:nvSpPr>
        <p:spPr>
          <a:xfrm>
            <a:off x="12648895" y="7315200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−0.22</a:t>
            </a:r>
            <a:endParaRPr lang="en-US" sz="1050" dirty="0"/>
          </a:p>
        </p:txBody>
      </p:sp>
      <p:sp>
        <p:nvSpPr>
          <p:cNvPr id="243" name="Text 198"/>
          <p:cNvSpPr txBox="1"/>
          <p:nvPr/>
        </p:nvSpPr>
        <p:spPr>
          <a:xfrm>
            <a:off x="1028700" y="7496251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244" name="Text 199"/>
          <p:cNvSpPr txBox="1"/>
          <p:nvPr/>
        </p:nvSpPr>
        <p:spPr>
          <a:xfrm>
            <a:off x="2933395" y="7496251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245" name="Text 200"/>
          <p:cNvSpPr txBox="1"/>
          <p:nvPr/>
        </p:nvSpPr>
        <p:spPr>
          <a:xfrm>
            <a:off x="4076395" y="7496251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W-08</a:t>
            </a:r>
            <a:endParaRPr lang="en-US" sz="1050" dirty="0"/>
          </a:p>
        </p:txBody>
      </p:sp>
      <p:sp>
        <p:nvSpPr>
          <p:cNvPr id="246" name="Text 201"/>
          <p:cNvSpPr txBox="1"/>
          <p:nvPr/>
        </p:nvSpPr>
        <p:spPr>
          <a:xfrm>
            <a:off x="5600700" y="7496251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7.94</a:t>
            </a:r>
            <a:endParaRPr lang="en-US" sz="1050" dirty="0"/>
          </a:p>
        </p:txBody>
      </p:sp>
      <p:sp>
        <p:nvSpPr>
          <p:cNvPr id="247" name="Text 202"/>
          <p:cNvSpPr txBox="1"/>
          <p:nvPr/>
        </p:nvSpPr>
        <p:spPr>
          <a:xfrm>
            <a:off x="7886700" y="7496251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0.46</a:t>
            </a:r>
            <a:endParaRPr lang="en-US" sz="1050" dirty="0"/>
          </a:p>
        </p:txBody>
      </p:sp>
      <p:sp>
        <p:nvSpPr>
          <p:cNvPr id="248" name="Text 203"/>
          <p:cNvSpPr txBox="1"/>
          <p:nvPr/>
        </p:nvSpPr>
        <p:spPr>
          <a:xfrm>
            <a:off x="9982505" y="7496251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endParaRPr lang="en-US" sz="1050" dirty="0"/>
          </a:p>
        </p:txBody>
      </p:sp>
      <p:sp>
        <p:nvSpPr>
          <p:cNvPr id="249" name="Text 204"/>
          <p:cNvSpPr txBox="1"/>
          <p:nvPr/>
        </p:nvSpPr>
        <p:spPr>
          <a:xfrm>
            <a:off x="12648895" y="7496251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−0.16</a:t>
            </a:r>
            <a:endParaRPr lang="en-US" sz="1050" dirty="0"/>
          </a:p>
        </p:txBody>
      </p:sp>
      <p:sp>
        <p:nvSpPr>
          <p:cNvPr id="250" name="Text 205"/>
          <p:cNvSpPr txBox="1"/>
          <p:nvPr/>
        </p:nvSpPr>
        <p:spPr>
          <a:xfrm>
            <a:off x="1028700" y="7677302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C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050" dirty="0"/>
          </a:p>
        </p:txBody>
      </p:sp>
      <p:sp>
        <p:nvSpPr>
          <p:cNvPr id="251" name="Text 206"/>
          <p:cNvSpPr txBox="1"/>
          <p:nvPr/>
        </p:nvSpPr>
        <p:spPr>
          <a:xfrm>
            <a:off x="2933395" y="7677302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252" name="Text 207"/>
          <p:cNvSpPr txBox="1"/>
          <p:nvPr/>
        </p:nvSpPr>
        <p:spPr>
          <a:xfrm>
            <a:off x="4076395" y="7677302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W-09</a:t>
            </a:r>
            <a:endParaRPr lang="en-US" sz="1050" dirty="0"/>
          </a:p>
        </p:txBody>
      </p:sp>
      <p:sp>
        <p:nvSpPr>
          <p:cNvPr id="253" name="Text 208"/>
          <p:cNvSpPr txBox="1"/>
          <p:nvPr/>
        </p:nvSpPr>
        <p:spPr>
          <a:xfrm>
            <a:off x="5600700" y="7677302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7.82</a:t>
            </a:r>
            <a:endParaRPr lang="en-US" sz="1050" dirty="0"/>
          </a:p>
        </p:txBody>
      </p:sp>
      <p:sp>
        <p:nvSpPr>
          <p:cNvPr id="254" name="Text 209"/>
          <p:cNvSpPr txBox="1"/>
          <p:nvPr/>
        </p:nvSpPr>
        <p:spPr>
          <a:xfrm>
            <a:off x="7886700" y="7677302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050" dirty="0"/>
          </a:p>
        </p:txBody>
      </p:sp>
      <p:sp>
        <p:nvSpPr>
          <p:cNvPr id="255" name="Text 210"/>
          <p:cNvSpPr txBox="1"/>
          <p:nvPr/>
        </p:nvSpPr>
        <p:spPr>
          <a:xfrm>
            <a:off x="9982505" y="7677302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050" dirty="0"/>
          </a:p>
        </p:txBody>
      </p:sp>
      <p:sp>
        <p:nvSpPr>
          <p:cNvPr id="256" name="Text 211"/>
          <p:cNvSpPr txBox="1"/>
          <p:nvPr/>
        </p:nvSpPr>
        <p:spPr>
          <a:xfrm>
            <a:off x="12648895" y="7677302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−0.28</a:t>
            </a:r>
            <a:endParaRPr lang="en-US" sz="1050" dirty="0"/>
          </a:p>
        </p:txBody>
      </p:sp>
      <p:sp>
        <p:nvSpPr>
          <p:cNvPr id="257" name="Text 212"/>
          <p:cNvSpPr txBox="1"/>
          <p:nvPr/>
        </p:nvSpPr>
        <p:spPr>
          <a:xfrm>
            <a:off x="1028700" y="7877556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050" dirty="0"/>
          </a:p>
        </p:txBody>
      </p:sp>
      <p:sp>
        <p:nvSpPr>
          <p:cNvPr id="258" name="Text 213"/>
          <p:cNvSpPr txBox="1"/>
          <p:nvPr/>
        </p:nvSpPr>
        <p:spPr>
          <a:xfrm>
            <a:off x="2933395" y="7877556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259" name="Text 214"/>
          <p:cNvSpPr txBox="1"/>
          <p:nvPr/>
        </p:nvSpPr>
        <p:spPr>
          <a:xfrm>
            <a:off x="4076395" y="7877556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W-01</a:t>
            </a:r>
            <a:endParaRPr lang="en-US" sz="1050" dirty="0"/>
          </a:p>
        </p:txBody>
      </p:sp>
      <p:sp>
        <p:nvSpPr>
          <p:cNvPr id="260" name="Text 215"/>
          <p:cNvSpPr txBox="1"/>
          <p:nvPr/>
        </p:nvSpPr>
        <p:spPr>
          <a:xfrm>
            <a:off x="5600700" y="7877556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8.42</a:t>
            </a:r>
            <a:endParaRPr lang="en-US" sz="1050" dirty="0"/>
          </a:p>
        </p:txBody>
      </p:sp>
      <p:sp>
        <p:nvSpPr>
          <p:cNvPr id="261" name="Text 216"/>
          <p:cNvSpPr txBox="1"/>
          <p:nvPr/>
        </p:nvSpPr>
        <p:spPr>
          <a:xfrm>
            <a:off x="7886700" y="7877556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0.74</a:t>
            </a:r>
            <a:endParaRPr lang="en-US" sz="1050" dirty="0"/>
          </a:p>
        </p:txBody>
      </p:sp>
      <p:sp>
        <p:nvSpPr>
          <p:cNvPr id="262" name="Text 217"/>
          <p:cNvSpPr txBox="1"/>
          <p:nvPr/>
        </p:nvSpPr>
        <p:spPr>
          <a:xfrm>
            <a:off x="9982505" y="7877556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</a:t>
            </a:r>
            <a:endParaRPr lang="en-US" sz="1050" dirty="0"/>
          </a:p>
        </p:txBody>
      </p:sp>
      <p:sp>
        <p:nvSpPr>
          <p:cNvPr id="263" name="Text 218"/>
          <p:cNvSpPr txBox="1"/>
          <p:nvPr/>
        </p:nvSpPr>
        <p:spPr>
          <a:xfrm>
            <a:off x="12648895" y="7877556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+0.22</a:t>
            </a:r>
            <a:endParaRPr lang="en-US" sz="1050" dirty="0"/>
          </a:p>
        </p:txBody>
      </p:sp>
      <p:sp>
        <p:nvSpPr>
          <p:cNvPr id="264" name="Text 219"/>
          <p:cNvSpPr txBox="1"/>
          <p:nvPr/>
        </p:nvSpPr>
        <p:spPr>
          <a:xfrm>
            <a:off x="1028700" y="8058607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050" dirty="0"/>
          </a:p>
        </p:txBody>
      </p:sp>
      <p:sp>
        <p:nvSpPr>
          <p:cNvPr id="265" name="Text 220"/>
          <p:cNvSpPr txBox="1"/>
          <p:nvPr/>
        </p:nvSpPr>
        <p:spPr>
          <a:xfrm>
            <a:off x="2933395" y="8058607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266" name="Text 221"/>
          <p:cNvSpPr txBox="1"/>
          <p:nvPr/>
        </p:nvSpPr>
        <p:spPr>
          <a:xfrm>
            <a:off x="4076395" y="8058607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W-02</a:t>
            </a:r>
            <a:endParaRPr lang="en-US" sz="1050" dirty="0"/>
          </a:p>
        </p:txBody>
      </p:sp>
      <p:sp>
        <p:nvSpPr>
          <p:cNvPr id="267" name="Text 222"/>
          <p:cNvSpPr txBox="1"/>
          <p:nvPr/>
        </p:nvSpPr>
        <p:spPr>
          <a:xfrm>
            <a:off x="5600700" y="8058607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8.55</a:t>
            </a:r>
            <a:endParaRPr lang="en-US" sz="1050" dirty="0"/>
          </a:p>
        </p:txBody>
      </p:sp>
      <p:sp>
        <p:nvSpPr>
          <p:cNvPr id="268" name="Text 223"/>
          <p:cNvSpPr txBox="1"/>
          <p:nvPr/>
        </p:nvSpPr>
        <p:spPr>
          <a:xfrm>
            <a:off x="7886700" y="8058607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0.81</a:t>
            </a:r>
            <a:endParaRPr lang="en-US" sz="1050" dirty="0"/>
          </a:p>
        </p:txBody>
      </p:sp>
      <p:sp>
        <p:nvSpPr>
          <p:cNvPr id="269" name="Text 224"/>
          <p:cNvSpPr txBox="1"/>
          <p:nvPr/>
        </p:nvSpPr>
        <p:spPr>
          <a:xfrm>
            <a:off x="9982505" y="8058607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050" dirty="0"/>
          </a:p>
        </p:txBody>
      </p:sp>
      <p:sp>
        <p:nvSpPr>
          <p:cNvPr id="270" name="Text 225"/>
          <p:cNvSpPr txBox="1"/>
          <p:nvPr/>
        </p:nvSpPr>
        <p:spPr>
          <a:xfrm>
            <a:off x="12648895" y="8058607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+0.35</a:t>
            </a:r>
            <a:endParaRPr lang="en-US" sz="1050" dirty="0"/>
          </a:p>
        </p:txBody>
      </p:sp>
      <p:sp>
        <p:nvSpPr>
          <p:cNvPr id="271" name="Text 226"/>
          <p:cNvSpPr txBox="1"/>
          <p:nvPr/>
        </p:nvSpPr>
        <p:spPr>
          <a:xfrm>
            <a:off x="1028700" y="8238744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050" dirty="0"/>
          </a:p>
        </p:txBody>
      </p:sp>
      <p:sp>
        <p:nvSpPr>
          <p:cNvPr id="272" name="Text 227"/>
          <p:cNvSpPr txBox="1"/>
          <p:nvPr/>
        </p:nvSpPr>
        <p:spPr>
          <a:xfrm>
            <a:off x="2933395" y="8238744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50" dirty="0"/>
          </a:p>
        </p:txBody>
      </p:sp>
      <p:sp>
        <p:nvSpPr>
          <p:cNvPr id="273" name="Text 228"/>
          <p:cNvSpPr txBox="1"/>
          <p:nvPr/>
        </p:nvSpPr>
        <p:spPr>
          <a:xfrm>
            <a:off x="4076395" y="8238744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W-03</a:t>
            </a:r>
            <a:endParaRPr lang="en-US" sz="1050" dirty="0"/>
          </a:p>
        </p:txBody>
      </p:sp>
      <p:sp>
        <p:nvSpPr>
          <p:cNvPr id="274" name="Text 229"/>
          <p:cNvSpPr txBox="1"/>
          <p:nvPr/>
        </p:nvSpPr>
        <p:spPr>
          <a:xfrm>
            <a:off x="5600700" y="8238744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8.28</a:t>
            </a:r>
            <a:endParaRPr lang="en-US" sz="1050" dirty="0"/>
          </a:p>
        </p:txBody>
      </p:sp>
      <p:sp>
        <p:nvSpPr>
          <p:cNvPr id="275" name="Text 230"/>
          <p:cNvSpPr txBox="1"/>
          <p:nvPr/>
        </p:nvSpPr>
        <p:spPr>
          <a:xfrm>
            <a:off x="7886700" y="8238744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0.71</a:t>
            </a:r>
            <a:endParaRPr lang="en-US" sz="1050" dirty="0"/>
          </a:p>
        </p:txBody>
      </p:sp>
      <p:sp>
        <p:nvSpPr>
          <p:cNvPr id="276" name="Text 231"/>
          <p:cNvSpPr txBox="1"/>
          <p:nvPr/>
        </p:nvSpPr>
        <p:spPr>
          <a:xfrm>
            <a:off x="9982505" y="8238744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</a:t>
            </a:r>
            <a:endParaRPr lang="en-US" sz="1050" dirty="0"/>
          </a:p>
        </p:txBody>
      </p:sp>
      <p:sp>
        <p:nvSpPr>
          <p:cNvPr id="277" name="Text 232"/>
          <p:cNvSpPr txBox="1"/>
          <p:nvPr/>
        </p:nvSpPr>
        <p:spPr>
          <a:xfrm>
            <a:off x="12648895" y="8238744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+0.08</a:t>
            </a:r>
            <a:endParaRPr lang="en-US" sz="1050" dirty="0"/>
          </a:p>
        </p:txBody>
      </p:sp>
      <p:sp>
        <p:nvSpPr>
          <p:cNvPr id="278" name="Text 233"/>
          <p:cNvSpPr txBox="1"/>
          <p:nvPr/>
        </p:nvSpPr>
        <p:spPr>
          <a:xfrm>
            <a:off x="1028700" y="8419795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050" dirty="0"/>
          </a:p>
        </p:txBody>
      </p:sp>
      <p:sp>
        <p:nvSpPr>
          <p:cNvPr id="279" name="Text 234"/>
          <p:cNvSpPr txBox="1"/>
          <p:nvPr/>
        </p:nvSpPr>
        <p:spPr>
          <a:xfrm>
            <a:off x="2933395" y="8419795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280" name="Text 235"/>
          <p:cNvSpPr txBox="1"/>
          <p:nvPr/>
        </p:nvSpPr>
        <p:spPr>
          <a:xfrm>
            <a:off x="4076395" y="8419795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W-04</a:t>
            </a:r>
            <a:endParaRPr lang="en-US" sz="1050" dirty="0"/>
          </a:p>
        </p:txBody>
      </p:sp>
      <p:sp>
        <p:nvSpPr>
          <p:cNvPr id="281" name="Text 236"/>
          <p:cNvSpPr txBox="1"/>
          <p:nvPr/>
        </p:nvSpPr>
        <p:spPr>
          <a:xfrm>
            <a:off x="5600700" y="84197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8.18</a:t>
            </a:r>
            <a:endParaRPr lang="en-US" sz="1050" dirty="0"/>
          </a:p>
        </p:txBody>
      </p:sp>
      <p:sp>
        <p:nvSpPr>
          <p:cNvPr id="282" name="Text 237"/>
          <p:cNvSpPr txBox="1"/>
          <p:nvPr/>
        </p:nvSpPr>
        <p:spPr>
          <a:xfrm>
            <a:off x="7886700" y="8419795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0.58</a:t>
            </a:r>
            <a:endParaRPr lang="en-US" sz="1050" dirty="0"/>
          </a:p>
        </p:txBody>
      </p:sp>
      <p:sp>
        <p:nvSpPr>
          <p:cNvPr id="283" name="Text 238"/>
          <p:cNvSpPr txBox="1"/>
          <p:nvPr/>
        </p:nvSpPr>
        <p:spPr>
          <a:xfrm>
            <a:off x="9982505" y="8419795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</a:t>
            </a:r>
            <a:endParaRPr lang="en-US" sz="1050" dirty="0"/>
          </a:p>
        </p:txBody>
      </p:sp>
      <p:sp>
        <p:nvSpPr>
          <p:cNvPr id="284" name="Text 239"/>
          <p:cNvSpPr txBox="1"/>
          <p:nvPr/>
        </p:nvSpPr>
        <p:spPr>
          <a:xfrm>
            <a:off x="12648895" y="8419795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4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−0.02</a:t>
            </a:r>
            <a:endParaRPr lang="en-US" sz="1050" dirty="0"/>
          </a:p>
        </p:txBody>
      </p:sp>
      <p:sp>
        <p:nvSpPr>
          <p:cNvPr id="285" name="Text 240"/>
          <p:cNvSpPr txBox="1"/>
          <p:nvPr/>
        </p:nvSpPr>
        <p:spPr>
          <a:xfrm>
            <a:off x="1028700" y="8600846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050" dirty="0"/>
          </a:p>
        </p:txBody>
      </p:sp>
      <p:sp>
        <p:nvSpPr>
          <p:cNvPr id="286" name="Text 241"/>
          <p:cNvSpPr txBox="1"/>
          <p:nvPr/>
        </p:nvSpPr>
        <p:spPr>
          <a:xfrm>
            <a:off x="2933395" y="8600846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287" name="Text 242"/>
          <p:cNvSpPr txBox="1"/>
          <p:nvPr/>
        </p:nvSpPr>
        <p:spPr>
          <a:xfrm>
            <a:off x="4076395" y="8600846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W-05</a:t>
            </a:r>
            <a:endParaRPr lang="en-US" sz="1050" dirty="0"/>
          </a:p>
        </p:txBody>
      </p:sp>
      <p:sp>
        <p:nvSpPr>
          <p:cNvPr id="288" name="Text 243"/>
          <p:cNvSpPr txBox="1"/>
          <p:nvPr/>
        </p:nvSpPr>
        <p:spPr>
          <a:xfrm>
            <a:off x="5600700" y="8600846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8.34</a:t>
            </a:r>
            <a:endParaRPr lang="en-US" sz="1050" dirty="0"/>
          </a:p>
        </p:txBody>
      </p:sp>
      <p:sp>
        <p:nvSpPr>
          <p:cNvPr id="289" name="Text 244"/>
          <p:cNvSpPr txBox="1"/>
          <p:nvPr/>
        </p:nvSpPr>
        <p:spPr>
          <a:xfrm>
            <a:off x="7886700" y="8600846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</a:t>
            </a:r>
            <a:endParaRPr lang="en-US" sz="1050" dirty="0"/>
          </a:p>
        </p:txBody>
      </p:sp>
      <p:sp>
        <p:nvSpPr>
          <p:cNvPr id="290" name="Text 245"/>
          <p:cNvSpPr txBox="1"/>
          <p:nvPr/>
        </p:nvSpPr>
        <p:spPr>
          <a:xfrm>
            <a:off x="9982505" y="8600846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</a:t>
            </a:r>
            <a:endParaRPr lang="en-US" sz="1050" dirty="0"/>
          </a:p>
        </p:txBody>
      </p:sp>
      <p:sp>
        <p:nvSpPr>
          <p:cNvPr id="291" name="Text 246"/>
          <p:cNvSpPr txBox="1"/>
          <p:nvPr/>
        </p:nvSpPr>
        <p:spPr>
          <a:xfrm>
            <a:off x="12648895" y="8600846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+0.14</a:t>
            </a:r>
            <a:endParaRPr lang="en-US" sz="1050" dirty="0"/>
          </a:p>
        </p:txBody>
      </p:sp>
      <p:sp>
        <p:nvSpPr>
          <p:cNvPr id="292" name="Text 247"/>
          <p:cNvSpPr txBox="1"/>
          <p:nvPr/>
        </p:nvSpPr>
        <p:spPr>
          <a:xfrm>
            <a:off x="1028700" y="8781898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050" dirty="0"/>
          </a:p>
        </p:txBody>
      </p:sp>
      <p:sp>
        <p:nvSpPr>
          <p:cNvPr id="293" name="Text 248"/>
          <p:cNvSpPr txBox="1"/>
          <p:nvPr/>
        </p:nvSpPr>
        <p:spPr>
          <a:xfrm>
            <a:off x="2933395" y="8781898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50" dirty="0"/>
          </a:p>
        </p:txBody>
      </p:sp>
      <p:sp>
        <p:nvSpPr>
          <p:cNvPr id="294" name="Text 249"/>
          <p:cNvSpPr txBox="1"/>
          <p:nvPr/>
        </p:nvSpPr>
        <p:spPr>
          <a:xfrm>
            <a:off x="4076395" y="8781898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W-06</a:t>
            </a:r>
            <a:endParaRPr lang="en-US" sz="1050" dirty="0"/>
          </a:p>
        </p:txBody>
      </p:sp>
      <p:sp>
        <p:nvSpPr>
          <p:cNvPr id="295" name="Text 250"/>
          <p:cNvSpPr txBox="1"/>
          <p:nvPr/>
        </p:nvSpPr>
        <p:spPr>
          <a:xfrm>
            <a:off x="5600700" y="8781898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8.06</a:t>
            </a:r>
            <a:endParaRPr lang="en-US" sz="1050" dirty="0"/>
          </a:p>
        </p:txBody>
      </p:sp>
      <p:sp>
        <p:nvSpPr>
          <p:cNvPr id="296" name="Text 251"/>
          <p:cNvSpPr txBox="1"/>
          <p:nvPr/>
        </p:nvSpPr>
        <p:spPr>
          <a:xfrm>
            <a:off x="7886700" y="8781898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0.52</a:t>
            </a:r>
            <a:endParaRPr lang="en-US" sz="1050" dirty="0"/>
          </a:p>
        </p:txBody>
      </p:sp>
      <p:sp>
        <p:nvSpPr>
          <p:cNvPr id="297" name="Text 252"/>
          <p:cNvSpPr txBox="1"/>
          <p:nvPr/>
        </p:nvSpPr>
        <p:spPr>
          <a:xfrm>
            <a:off x="9982505" y="87818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</a:t>
            </a:r>
            <a:endParaRPr lang="en-US" sz="1050" dirty="0"/>
          </a:p>
        </p:txBody>
      </p:sp>
      <p:sp>
        <p:nvSpPr>
          <p:cNvPr id="298" name="Text 253"/>
          <p:cNvSpPr txBox="1"/>
          <p:nvPr/>
        </p:nvSpPr>
        <p:spPr>
          <a:xfrm>
            <a:off x="12648895" y="8781898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−0.14</a:t>
            </a:r>
            <a:endParaRPr lang="en-US" sz="1050" dirty="0"/>
          </a:p>
        </p:txBody>
      </p:sp>
      <p:sp>
        <p:nvSpPr>
          <p:cNvPr id="299" name="Text 254"/>
          <p:cNvSpPr txBox="1"/>
          <p:nvPr/>
        </p:nvSpPr>
        <p:spPr>
          <a:xfrm>
            <a:off x="1028700" y="8962949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050" dirty="0"/>
          </a:p>
        </p:txBody>
      </p:sp>
      <p:sp>
        <p:nvSpPr>
          <p:cNvPr id="300" name="Text 255"/>
          <p:cNvSpPr txBox="1"/>
          <p:nvPr/>
        </p:nvSpPr>
        <p:spPr>
          <a:xfrm>
            <a:off x="2933395" y="8962949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301" name="Text 256"/>
          <p:cNvSpPr txBox="1"/>
          <p:nvPr/>
        </p:nvSpPr>
        <p:spPr>
          <a:xfrm>
            <a:off x="4076395" y="8962949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W-07</a:t>
            </a:r>
            <a:endParaRPr lang="en-US" sz="1050" dirty="0"/>
          </a:p>
        </p:txBody>
      </p:sp>
      <p:sp>
        <p:nvSpPr>
          <p:cNvPr id="302" name="Text 257"/>
          <p:cNvSpPr txBox="1"/>
          <p:nvPr/>
        </p:nvSpPr>
        <p:spPr>
          <a:xfrm>
            <a:off x="5600700" y="8962949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7.96</a:t>
            </a:r>
            <a:endParaRPr lang="en-US" sz="1050" dirty="0"/>
          </a:p>
        </p:txBody>
      </p:sp>
      <p:sp>
        <p:nvSpPr>
          <p:cNvPr id="303" name="Text 258"/>
          <p:cNvSpPr txBox="1"/>
          <p:nvPr/>
        </p:nvSpPr>
        <p:spPr>
          <a:xfrm>
            <a:off x="7886700" y="8962949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050" dirty="0"/>
          </a:p>
        </p:txBody>
      </p:sp>
      <p:sp>
        <p:nvSpPr>
          <p:cNvPr id="304" name="Text 259"/>
          <p:cNvSpPr txBox="1"/>
          <p:nvPr/>
        </p:nvSpPr>
        <p:spPr>
          <a:xfrm>
            <a:off x="9982505" y="8962949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050" dirty="0"/>
          </a:p>
        </p:txBody>
      </p:sp>
      <p:sp>
        <p:nvSpPr>
          <p:cNvPr id="305" name="Text 260"/>
          <p:cNvSpPr txBox="1"/>
          <p:nvPr/>
        </p:nvSpPr>
        <p:spPr>
          <a:xfrm>
            <a:off x="12648895" y="8962949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−0.24</a:t>
            </a:r>
            <a:endParaRPr lang="en-US" sz="1050" dirty="0"/>
          </a:p>
        </p:txBody>
      </p:sp>
      <p:sp>
        <p:nvSpPr>
          <p:cNvPr id="306" name="Text 261"/>
          <p:cNvSpPr txBox="1"/>
          <p:nvPr/>
        </p:nvSpPr>
        <p:spPr>
          <a:xfrm>
            <a:off x="1028700" y="9144000"/>
            <a:ext cx="1905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1050" dirty="0"/>
          </a:p>
        </p:txBody>
      </p:sp>
      <p:sp>
        <p:nvSpPr>
          <p:cNvPr id="307" name="Text 262"/>
          <p:cNvSpPr txBox="1"/>
          <p:nvPr/>
        </p:nvSpPr>
        <p:spPr>
          <a:xfrm>
            <a:off x="2933395" y="9144000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050" dirty="0"/>
          </a:p>
        </p:txBody>
      </p:sp>
      <p:sp>
        <p:nvSpPr>
          <p:cNvPr id="308" name="Text 263"/>
          <p:cNvSpPr txBox="1"/>
          <p:nvPr/>
        </p:nvSpPr>
        <p:spPr>
          <a:xfrm>
            <a:off x="4076395" y="9144000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W-08</a:t>
            </a:r>
            <a:endParaRPr lang="en-US" sz="1050" dirty="0"/>
          </a:p>
        </p:txBody>
      </p:sp>
      <p:sp>
        <p:nvSpPr>
          <p:cNvPr id="309" name="Text 264"/>
          <p:cNvSpPr txBox="1"/>
          <p:nvPr/>
        </p:nvSpPr>
        <p:spPr>
          <a:xfrm>
            <a:off x="5600700" y="9144000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8.04</a:t>
            </a:r>
            <a:endParaRPr lang="en-US" sz="1050" dirty="0"/>
          </a:p>
        </p:txBody>
      </p:sp>
      <p:sp>
        <p:nvSpPr>
          <p:cNvPr id="310" name="Text 265"/>
          <p:cNvSpPr txBox="1"/>
          <p:nvPr/>
        </p:nvSpPr>
        <p:spPr>
          <a:xfrm>
            <a:off x="7886700" y="9144000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0.44</a:t>
            </a:r>
            <a:endParaRPr lang="en-US" sz="1050" dirty="0"/>
          </a:p>
        </p:txBody>
      </p:sp>
      <p:sp>
        <p:nvSpPr>
          <p:cNvPr id="311" name="Text 266"/>
          <p:cNvSpPr txBox="1"/>
          <p:nvPr/>
        </p:nvSpPr>
        <p:spPr>
          <a:xfrm>
            <a:off x="9982505" y="9144000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endParaRPr lang="en-US" sz="1050" dirty="0"/>
          </a:p>
        </p:txBody>
      </p:sp>
      <p:sp>
        <p:nvSpPr>
          <p:cNvPr id="312" name="Text 267"/>
          <p:cNvSpPr txBox="1"/>
          <p:nvPr/>
        </p:nvSpPr>
        <p:spPr>
          <a:xfrm>
            <a:off x="12648895" y="9144000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−0.16</a:t>
            </a:r>
            <a:endParaRPr lang="en-US" sz="1050" dirty="0"/>
          </a:p>
        </p:txBody>
      </p:sp>
      <p:sp>
        <p:nvSpPr>
          <p:cNvPr id="313" name="Text 268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590495"/>
            <a:ext cx="9353398" cy="6305702"/>
          </a:xfrm>
          <a:prstGeom prst="rect">
            <a:avLst/>
          </a:prstGeom>
          <a:solidFill>
            <a:srgbClr val="F4F7FB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554005" y="2590495"/>
            <a:ext cx="6877202" cy="630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3239598" y="6286500"/>
            <a:ext cx="3924605" cy="2305202"/>
          </a:xfrm>
          <a:prstGeom prst="rect">
            <a:avLst/>
          </a:prstGeom>
          <a:solidFill>
            <a:srgbClr val="F4F7FB"/>
          </a:solidFill>
          <a:ln w="12700">
            <a:solidFill>
              <a:srgbClr val="CDD6E1"/>
            </a:solidFill>
            <a:prstDash val="solid"/>
          </a:ln>
        </p:spPr>
      </p:sp>
      <p:pic>
        <p:nvPicPr>
          <p:cNvPr id="7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800100"/>
            <a:ext cx="1143000" cy="384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695298" y="3448202"/>
            <a:ext cx="7658100" cy="4610405"/>
          </a:xfrm>
          <a:prstGeom prst="roundRect">
            <a:avLst>
              <a:gd name="adj" fmla="val 50000"/>
            </a:avLst>
          </a:prstGeom>
          <a:solidFill>
            <a:srgbClr val="E0E7EF"/>
          </a:solidFill>
          <a:ln w="25400">
            <a:solidFill>
              <a:srgbClr val="14253A"/>
            </a:solidFill>
            <a:prstDash val="solid"/>
          </a:ln>
        </p:spPr>
      </p:sp>
      <p:pic>
        <p:nvPicPr>
          <p:cNvPr id="9" name="Image 2" descr="gen-dedup-19a5e62786dbdba4f37b83452148ccbc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0554005" y="2590495"/>
            <a:ext cx="57607" cy="6286500"/>
          </a:xfrm>
          <a:prstGeom prst="rect">
            <a:avLst/>
          </a:prstGeom>
        </p:spPr>
      </p:pic>
      <p:pic>
        <p:nvPicPr>
          <p:cNvPr id="10" name="Image 3" descr="gen-dedup-828ab4e439d36272c0bfc423f0d10365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0858500" y="3981298"/>
            <a:ext cx="6286500" cy="9144"/>
          </a:xfrm>
          <a:prstGeom prst="rect">
            <a:avLst/>
          </a:prstGeom>
        </p:spPr>
      </p:pic>
      <p:pic>
        <p:nvPicPr>
          <p:cNvPr id="11" name="Image 4" descr="gen-dedup-828ab4e439d36272c0bfc423f0d10365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0858500" y="4572000"/>
            <a:ext cx="6286500" cy="9144"/>
          </a:xfrm>
          <a:prstGeom prst="rect">
            <a:avLst/>
          </a:prstGeom>
        </p:spPr>
      </p:pic>
      <p:pic>
        <p:nvPicPr>
          <p:cNvPr id="12" name="Image 5" descr="gen-dedup-828ab4e439d36272c0bfc423f0d10365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10858500" y="5162702"/>
            <a:ext cx="6286500" cy="9144"/>
          </a:xfrm>
          <a:prstGeom prst="rect">
            <a:avLst/>
          </a:prstGeom>
        </p:spPr>
      </p:pic>
      <p:pic>
        <p:nvPicPr>
          <p:cNvPr id="13" name="Image 6" descr="gen-dedup-208e3c1db2ec408b78c5222320cd21a6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5447995" y="7981798"/>
            <a:ext cx="114300" cy="133502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7" descr="gen-dedup-91336800f68f4ff82d051a5169e5447e.png">    </p:cNvPr>
          <p:cNvPicPr>
            <a:picLocks noChangeAspect="1"/>
          </p:cNvPicPr>
          <p:nvPr/>
        </p:nvPicPr>
        <p:blipFill>
          <a:blip r:embed="rId8"/>
          <a:srcRect l="0" r="0" t="-2083" b="-2083"/>
          <a:stretch/>
        </p:blipFill>
        <p:spPr>
          <a:xfrm>
            <a:off x="5505602" y="3448202"/>
            <a:ext cx="9144" cy="4572000"/>
          </a:xfrm>
          <a:prstGeom prst="rect">
            <a:avLst/>
          </a:prstGeom>
        </p:spPr>
      </p:pic>
      <p:pic>
        <p:nvPicPr>
          <p:cNvPr id="16" name="Image 8" descr="gen-dedup-a2fca69ddaa65b9c0a3f29e8926f3323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1695298" y="5724144"/>
            <a:ext cx="7619695" cy="9144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2553005" y="4095598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18" name="Shape 6"/>
          <p:cNvSpPr/>
          <p:nvPr/>
        </p:nvSpPr>
        <p:spPr>
          <a:xfrm>
            <a:off x="5219395" y="4095598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19" name="Shape 7"/>
          <p:cNvSpPr/>
          <p:nvPr/>
        </p:nvSpPr>
        <p:spPr>
          <a:xfrm>
            <a:off x="7886700" y="4095598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0" name="Shape 8"/>
          <p:cNvSpPr/>
          <p:nvPr/>
        </p:nvSpPr>
        <p:spPr>
          <a:xfrm>
            <a:off x="2743200" y="5600700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1" name="Shape 9"/>
          <p:cNvSpPr/>
          <p:nvPr/>
        </p:nvSpPr>
        <p:spPr>
          <a:xfrm>
            <a:off x="3981298" y="5600700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2" name="Shape 10"/>
          <p:cNvSpPr/>
          <p:nvPr/>
        </p:nvSpPr>
        <p:spPr>
          <a:xfrm>
            <a:off x="5315407" y="5658307"/>
            <a:ext cx="457200" cy="457200"/>
          </a:xfrm>
          <a:prstGeom prst="ellipse">
            <a:avLst/>
          </a:prstGeom>
          <a:solidFill>
            <a:srgbClr val="1F2D3D"/>
          </a:solidFill>
          <a:ln w="38100">
            <a:solidFill>
              <a:srgbClr val="B8443A"/>
            </a:solidFill>
            <a:prstDash val="solid"/>
          </a:ln>
        </p:spPr>
      </p:sp>
      <p:sp>
        <p:nvSpPr>
          <p:cNvPr id="23" name="Shape 11"/>
          <p:cNvSpPr/>
          <p:nvPr/>
        </p:nvSpPr>
        <p:spPr>
          <a:xfrm>
            <a:off x="6648602" y="5600700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4" name="Shape 12"/>
          <p:cNvSpPr/>
          <p:nvPr/>
        </p:nvSpPr>
        <p:spPr>
          <a:xfrm>
            <a:off x="7905902" y="5600700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5" name="Shape 13"/>
          <p:cNvSpPr/>
          <p:nvPr/>
        </p:nvSpPr>
        <p:spPr>
          <a:xfrm>
            <a:off x="2743200" y="7105802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6" name="Shape 14"/>
          <p:cNvSpPr/>
          <p:nvPr/>
        </p:nvSpPr>
        <p:spPr>
          <a:xfrm>
            <a:off x="4552798" y="7105802"/>
            <a:ext cx="437998" cy="437998"/>
          </a:xfrm>
          <a:prstGeom prst="ellipse">
            <a:avLst/>
          </a:prstGeom>
          <a:solidFill>
            <a:srgbClr val="C5892C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7" name="Shape 15"/>
          <p:cNvSpPr/>
          <p:nvPr/>
        </p:nvSpPr>
        <p:spPr>
          <a:xfrm>
            <a:off x="6362395" y="7105802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8" name="Shape 16"/>
          <p:cNvSpPr/>
          <p:nvPr/>
        </p:nvSpPr>
        <p:spPr>
          <a:xfrm>
            <a:off x="7886700" y="7105802"/>
            <a:ext cx="437998" cy="437998"/>
          </a:xfrm>
          <a:prstGeom prst="ellipse">
            <a:avLst/>
          </a:prstGeom>
          <a:solidFill>
            <a:srgbClr val="2E7AA6"/>
          </a:solidFill>
          <a:ln w="25400">
            <a:solidFill>
              <a:srgbClr val="14253A"/>
            </a:solidFill>
            <a:prstDash val="solid"/>
          </a:ln>
        </p:spPr>
      </p:sp>
      <p:sp>
        <p:nvSpPr>
          <p:cNvPr id="29" name="Text 17"/>
          <p:cNvSpPr txBox="1"/>
          <p:nvPr/>
        </p:nvSpPr>
        <p:spPr>
          <a:xfrm>
            <a:off x="838505" y="990295"/>
            <a:ext cx="1143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08 · 13-POINT WAFER MAP</a:t>
            </a:r>
            <a:endParaRPr lang="en-US" sz="1650" dirty="0"/>
          </a:p>
        </p:txBody>
      </p:sp>
      <p:sp>
        <p:nvSpPr>
          <p:cNvPr id="30" name="Text 18"/>
          <p:cNvSpPr txBox="1"/>
          <p:nvPr/>
        </p:nvSpPr>
        <p:spPr>
          <a:xfrm>
            <a:off x="838505" y="1410005"/>
            <a:ext cx="1588038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AMI 13-point 면내 균일도 — 대표 wafer W-04 (split-B)</a:t>
            </a:r>
            <a:endParaRPr lang="en-US" sz="4050" dirty="0"/>
          </a:p>
        </p:txBody>
      </p:sp>
      <p:sp>
        <p:nvSpPr>
          <p:cNvPr id="31" name="Text 19"/>
          <p:cNvSpPr txBox="1"/>
          <p:nvPr/>
        </p:nvSpPr>
        <p:spPr>
          <a:xfrm>
            <a:off x="2286000" y="3676802"/>
            <a:ext cx="9144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D01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2286000" y="4153205"/>
            <a:ext cx="9144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8.04</a:t>
            </a:r>
            <a:endParaRPr lang="en-US" sz="1050" dirty="0"/>
          </a:p>
        </p:txBody>
      </p:sp>
      <p:sp>
        <p:nvSpPr>
          <p:cNvPr id="33" name="Text 21"/>
          <p:cNvSpPr txBox="1"/>
          <p:nvPr/>
        </p:nvSpPr>
        <p:spPr>
          <a:xfrm>
            <a:off x="4953305" y="3676802"/>
            <a:ext cx="9144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D02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7619695" y="3676802"/>
            <a:ext cx="9144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D03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2210105" y="6057900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D04 · 8.10</a:t>
            </a:r>
            <a:endParaRPr lang="en-US" sz="1050" dirty="0"/>
          </a:p>
        </p:txBody>
      </p:sp>
      <p:sp>
        <p:nvSpPr>
          <p:cNvPr id="36" name="Text 24"/>
          <p:cNvSpPr txBox="1"/>
          <p:nvPr/>
        </p:nvSpPr>
        <p:spPr>
          <a:xfrm>
            <a:off x="5790895" y="6019495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4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D06 · 8.04</a:t>
            </a:r>
            <a:endParaRPr lang="en-US" sz="1050" dirty="0"/>
          </a:p>
        </p:txBody>
      </p:sp>
      <p:sp>
        <p:nvSpPr>
          <p:cNvPr id="37" name="Text 25"/>
          <p:cNvSpPr txBox="1"/>
          <p:nvPr/>
        </p:nvSpPr>
        <p:spPr>
          <a:xfrm>
            <a:off x="7429500" y="6057900"/>
            <a:ext cx="16194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D08 · 8.12</a:t>
            </a:r>
            <a:endParaRPr lang="en-US" sz="1050" dirty="0"/>
          </a:p>
        </p:txBody>
      </p:sp>
      <p:sp>
        <p:nvSpPr>
          <p:cNvPr id="38" name="Text 26"/>
          <p:cNvSpPr txBox="1"/>
          <p:nvPr/>
        </p:nvSpPr>
        <p:spPr>
          <a:xfrm>
            <a:off x="2286000" y="7543800"/>
            <a:ext cx="1143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D09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4095598" y="7543800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D10 · 8.18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7619695" y="7543800"/>
            <a:ext cx="9144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D12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10858500" y="2819095"/>
            <a:ext cx="6286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W-04 · 측정 요약</a:t>
            </a:r>
            <a:endParaRPr lang="en-US" sz="1800" dirty="0"/>
          </a:p>
        </p:txBody>
      </p:sp>
      <p:sp>
        <p:nvSpPr>
          <p:cNvPr id="42" name="Text 30"/>
          <p:cNvSpPr txBox="1"/>
          <p:nvPr/>
        </p:nvSpPr>
        <p:spPr>
          <a:xfrm>
            <a:off x="10858500" y="3209544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13-point AMI · 8.1 nm target · split-B 칩 평균</a:t>
            </a:r>
            <a:endParaRPr lang="en-US" sz="1350" dirty="0"/>
          </a:p>
        </p:txBody>
      </p:sp>
      <p:sp>
        <p:nvSpPr>
          <p:cNvPr id="43" name="Text 31"/>
          <p:cNvSpPr txBox="1"/>
          <p:nvPr/>
        </p:nvSpPr>
        <p:spPr>
          <a:xfrm>
            <a:off x="10858500" y="3610051"/>
            <a:ext cx="104241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die mean</a:t>
            </a:r>
            <a:endParaRPr lang="en-US" sz="1650" dirty="0"/>
          </a:p>
        </p:txBody>
      </p:sp>
      <p:sp>
        <p:nvSpPr>
          <p:cNvPr id="44" name="Text 32"/>
          <p:cNvSpPr txBox="1"/>
          <p:nvPr/>
        </p:nvSpPr>
        <p:spPr>
          <a:xfrm>
            <a:off x="15704820" y="3504895"/>
            <a:ext cx="14484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8.07 nm</a:t>
            </a:r>
            <a:endParaRPr lang="en-US" sz="2700" dirty="0"/>
          </a:p>
        </p:txBody>
      </p:sp>
      <p:sp>
        <p:nvSpPr>
          <p:cNvPr id="45" name="Text 33"/>
          <p:cNvSpPr txBox="1"/>
          <p:nvPr/>
        </p:nvSpPr>
        <p:spPr>
          <a:xfrm>
            <a:off x="10858500" y="4200754"/>
            <a:ext cx="15627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max − min</a:t>
            </a:r>
            <a:endParaRPr lang="en-US" sz="1650" dirty="0"/>
          </a:p>
        </p:txBody>
      </p:sp>
      <p:sp>
        <p:nvSpPr>
          <p:cNvPr id="46" name="Text 34"/>
          <p:cNvSpPr txBox="1"/>
          <p:nvPr/>
        </p:nvSpPr>
        <p:spPr>
          <a:xfrm>
            <a:off x="15704820" y="4095598"/>
            <a:ext cx="14484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 nm</a:t>
            </a:r>
            <a:endParaRPr lang="en-US" sz="2700" dirty="0"/>
          </a:p>
        </p:txBody>
      </p:sp>
      <p:sp>
        <p:nvSpPr>
          <p:cNvPr id="47" name="Text 35"/>
          <p:cNvSpPr txBox="1"/>
          <p:nvPr/>
        </p:nvSpPr>
        <p:spPr>
          <a:xfrm>
            <a:off x="10858500" y="4791456"/>
            <a:ext cx="65105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</a:t>
            </a:r>
            <a:endParaRPr lang="en-US" sz="1650" dirty="0"/>
          </a:p>
        </p:txBody>
      </p:sp>
      <p:sp>
        <p:nvSpPr>
          <p:cNvPr id="48" name="Text 36"/>
          <p:cNvSpPr txBox="1"/>
          <p:nvPr/>
        </p:nvSpPr>
        <p:spPr>
          <a:xfrm>
            <a:off x="15910560" y="4686300"/>
            <a:ext cx="1239012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nm</a:t>
            </a:r>
            <a:endParaRPr lang="en-US" sz="2700" dirty="0"/>
          </a:p>
        </p:txBody>
      </p:sp>
      <p:sp>
        <p:nvSpPr>
          <p:cNvPr id="49" name="Text 37"/>
          <p:cNvSpPr txBox="1"/>
          <p:nvPr/>
        </p:nvSpPr>
        <p:spPr>
          <a:xfrm>
            <a:off x="10858500" y="5333695"/>
            <a:ext cx="209763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uniformity verdict</a:t>
            </a:r>
            <a:endParaRPr lang="en-US" sz="1650" dirty="0"/>
          </a:p>
        </p:txBody>
      </p:sp>
      <p:sp>
        <p:nvSpPr>
          <p:cNvPr id="50" name="Text 38"/>
          <p:cNvSpPr txBox="1"/>
          <p:nvPr/>
        </p:nvSpPr>
        <p:spPr>
          <a:xfrm>
            <a:off x="15746882" y="5277002"/>
            <a:ext cx="154442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in-window</a:t>
            </a:r>
            <a:endParaRPr lang="en-US" sz="2100" dirty="0"/>
          </a:p>
        </p:txBody>
      </p:sp>
      <p:sp>
        <p:nvSpPr>
          <p:cNvPr id="51" name="Shape 39"/>
          <p:cNvSpPr/>
          <p:nvPr/>
        </p:nvSpPr>
        <p:spPr>
          <a:xfrm>
            <a:off x="10858500" y="6344107"/>
            <a:ext cx="133502" cy="133502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11087100" y="6286500"/>
            <a:ext cx="69220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in-spec</a:t>
            </a:r>
            <a:endParaRPr lang="en-US" sz="1350" dirty="0"/>
          </a:p>
        </p:txBody>
      </p:sp>
      <p:sp>
        <p:nvSpPr>
          <p:cNvPr id="53" name="Shape 41"/>
          <p:cNvSpPr/>
          <p:nvPr/>
        </p:nvSpPr>
        <p:spPr>
          <a:xfrm>
            <a:off x="10858500" y="6667805"/>
            <a:ext cx="133502" cy="133502"/>
          </a:xfrm>
          <a:prstGeom prst="ellipse">
            <a:avLst/>
          </a:prstGeom>
          <a:solidFill>
            <a:srgbClr val="C589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11087100" y="6610198"/>
            <a:ext cx="94091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high</a:t>
            </a:r>
            <a:endParaRPr lang="en-US" sz="1350" dirty="0"/>
          </a:p>
        </p:txBody>
      </p:sp>
      <p:sp>
        <p:nvSpPr>
          <p:cNvPr id="55" name="Shape 43"/>
          <p:cNvSpPr/>
          <p:nvPr/>
        </p:nvSpPr>
        <p:spPr>
          <a:xfrm>
            <a:off x="10858500" y="6963156"/>
            <a:ext cx="190195" cy="190195"/>
          </a:xfrm>
          <a:prstGeom prst="ellipse">
            <a:avLst/>
          </a:prstGeom>
          <a:solidFill>
            <a:srgbClr val="1F2D3D"/>
          </a:solidFill>
          <a:ln w="38100">
            <a:solidFill>
              <a:srgbClr val="B8443A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11144707" y="6933895"/>
            <a:ext cx="1384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center marked</a:t>
            </a:r>
            <a:endParaRPr lang="en-US" sz="1350" dirty="0"/>
          </a:p>
        </p:txBody>
      </p:sp>
      <p:sp>
        <p:nvSpPr>
          <p:cNvPr id="57" name="Text 45"/>
          <p:cNvSpPr txBox="1"/>
          <p:nvPr/>
        </p:nvSpPr>
        <p:spPr>
          <a:xfrm>
            <a:off x="13468198" y="6458407"/>
            <a:ext cx="3525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DIE INDEX</a:t>
            </a:r>
            <a:endParaRPr lang="en-US" sz="1350" dirty="0"/>
          </a:p>
        </p:txBody>
      </p:sp>
      <p:sp>
        <p:nvSpPr>
          <p:cNvPr id="58" name="Text 46"/>
          <p:cNvSpPr txBox="1"/>
          <p:nvPr/>
        </p:nvSpPr>
        <p:spPr>
          <a:xfrm>
            <a:off x="13468198" y="6691579"/>
            <a:ext cx="3525012" cy="94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D01 8.04 · D02 8.09 · D03 8.11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D04 8.10 · D05 8.06 · D07 8.09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D08 8.12 · D09 8.07 · D10 8.18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D11 8.05 · D12 8.08 · D13 8.02</a:t>
            </a:r>
            <a:endParaRPr lang="en-US" sz="1050" dirty="0"/>
          </a:p>
        </p:txBody>
      </p:sp>
      <p:sp>
        <p:nvSpPr>
          <p:cNvPr id="59" name="Text 47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361895"/>
            <a:ext cx="12592202" cy="6687007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38505" y="2838298"/>
            <a:ext cx="12573000" cy="57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38505" y="3981298"/>
            <a:ext cx="12573000" cy="57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38505" y="5124298"/>
            <a:ext cx="12573000" cy="57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505" y="6267298"/>
            <a:ext cx="12573000" cy="57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38505" y="7410298"/>
            <a:ext cx="12573000" cy="57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38505" y="8172907"/>
            <a:ext cx="12573000" cy="800100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3791895" y="2361895"/>
            <a:ext cx="3638398" cy="6687007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pic>
        <p:nvPicPr>
          <p:cNvPr id="12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800100"/>
            <a:ext cx="1143000" cy="384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38505" y="2361895"/>
            <a:ext cx="12573000" cy="476402"/>
          </a:xfrm>
          <a:prstGeom prst="rect">
            <a:avLst/>
          </a:prstGeom>
          <a:solidFill>
            <a:srgbClr val="1F2D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gen-dedup-d754f6d4b871b5ff31bb6131f06565b5.png">    </p:cNvPr>
          <p:cNvPicPr>
            <a:picLocks noChangeAspect="1"/>
          </p:cNvPicPr>
          <p:nvPr/>
        </p:nvPicPr>
        <p:blipFill>
          <a:blip r:embed="rId3"/>
          <a:srcRect l="0" r="0" t="-404" b="-404"/>
          <a:stretch/>
        </p:blipFill>
        <p:spPr>
          <a:xfrm>
            <a:off x="13791895" y="2361895"/>
            <a:ext cx="3619195" cy="57607"/>
          </a:xfrm>
          <a:prstGeom prst="rect">
            <a:avLst/>
          </a:prstGeom>
        </p:spPr>
      </p:pic>
      <p:pic>
        <p:nvPicPr>
          <p:cNvPr id="15" name="Image 3" descr="gen-dedup-dc2b9b489b0662615080055e2158a8d5.png">    </p:cNvPr>
          <p:cNvPicPr>
            <a:picLocks noChangeAspect="1"/>
          </p:cNvPicPr>
          <p:nvPr/>
        </p:nvPicPr>
        <p:blipFill>
          <a:blip r:embed="rId4"/>
          <a:srcRect l="-385" r="-385" t="0" b="0"/>
          <a:stretch/>
        </p:blipFill>
        <p:spPr>
          <a:xfrm>
            <a:off x="14058900" y="2971800"/>
            <a:ext cx="761695" cy="28346"/>
          </a:xfrm>
          <a:prstGeom prst="rect">
            <a:avLst/>
          </a:prstGeom>
        </p:spPr>
      </p:pic>
      <p:pic>
        <p:nvPicPr>
          <p:cNvPr id="16" name="Image 4" descr="gen-dedup-82a38358a20052615d526bce080b08c3.png">    </p:cNvPr>
          <p:cNvPicPr>
            <a:picLocks noChangeAspect="1"/>
          </p:cNvPicPr>
          <p:nvPr/>
        </p:nvPicPr>
        <p:blipFill>
          <a:blip r:embed="rId5"/>
          <a:srcRect l="-2089" r="-2089" t="0" b="0"/>
          <a:stretch/>
        </p:blipFill>
        <p:spPr>
          <a:xfrm>
            <a:off x="14058900" y="4552798"/>
            <a:ext cx="3238805" cy="9144"/>
          </a:xfrm>
          <a:prstGeom prst="rect">
            <a:avLst/>
          </a:prstGeom>
        </p:spPr>
      </p:pic>
      <p:pic>
        <p:nvPicPr>
          <p:cNvPr id="17" name="Image 5" descr="gen-dedup-82a38358a20052615d526bce080b08c3.png">    </p:cNvPr>
          <p:cNvPicPr>
            <a:picLocks noChangeAspect="1"/>
          </p:cNvPicPr>
          <p:nvPr/>
        </p:nvPicPr>
        <p:blipFill>
          <a:blip r:embed="rId6"/>
          <a:srcRect l="-2089" r="-2089" t="0" b="0"/>
          <a:stretch/>
        </p:blipFill>
        <p:spPr>
          <a:xfrm>
            <a:off x="14058900" y="6115507"/>
            <a:ext cx="3238805" cy="9144"/>
          </a:xfrm>
          <a:prstGeom prst="rect">
            <a:avLst/>
          </a:prstGeom>
        </p:spPr>
      </p:pic>
      <p:pic>
        <p:nvPicPr>
          <p:cNvPr id="18" name="Image 6" descr="gen-dedup-82a38358a20052615d526bce080b08c3.png">    </p:cNvPr>
          <p:cNvPicPr>
            <a:picLocks noChangeAspect="1"/>
          </p:cNvPicPr>
          <p:nvPr/>
        </p:nvPicPr>
        <p:blipFill>
          <a:blip r:embed="rId7"/>
          <a:srcRect l="-2089" r="-2089" t="0" b="0"/>
          <a:stretch/>
        </p:blipFill>
        <p:spPr>
          <a:xfrm>
            <a:off x="14058900" y="7791602"/>
            <a:ext cx="3238805" cy="9144"/>
          </a:xfrm>
          <a:prstGeom prst="rect">
            <a:avLst/>
          </a:prstGeom>
        </p:spPr>
      </p:pic>
      <p:pic>
        <p:nvPicPr>
          <p:cNvPr id="19" name="Image 7" descr="gen-dedup-208e3c1db2ec408b78c5222320cd21a6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838505" y="990295"/>
            <a:ext cx="1143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09 · IN-WAFER UNIFORMITY</a:t>
            </a:r>
            <a:endParaRPr lang="en-US" sz="1650" dirty="0"/>
          </a:p>
        </p:txBody>
      </p:sp>
      <p:sp>
        <p:nvSpPr>
          <p:cNvPr id="21" name="Text 10"/>
          <p:cNvSpPr txBox="1"/>
          <p:nvPr/>
        </p:nvSpPr>
        <p:spPr>
          <a:xfrm>
            <a:off x="838505" y="1410005"/>
            <a:ext cx="1428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면내 균일도 종합 — 9 wafer × 4 metric</a:t>
            </a:r>
            <a:endParaRPr lang="en-US" sz="4050" dirty="0"/>
          </a:p>
        </p:txBody>
      </p:sp>
      <p:sp>
        <p:nvSpPr>
          <p:cNvPr id="22" name="Text 11"/>
          <p:cNvSpPr txBox="1"/>
          <p:nvPr/>
        </p:nvSpPr>
        <p:spPr>
          <a:xfrm>
            <a:off x="1028700" y="2457907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</a:t>
            </a:r>
            <a:endParaRPr lang="en-US" sz="1350" dirty="0"/>
          </a:p>
        </p:txBody>
      </p:sp>
      <p:sp>
        <p:nvSpPr>
          <p:cNvPr id="23" name="Text 12"/>
          <p:cNvSpPr txBox="1"/>
          <p:nvPr/>
        </p:nvSpPr>
        <p:spPr>
          <a:xfrm>
            <a:off x="2553005" y="2457907"/>
            <a:ext cx="95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350" dirty="0"/>
          </a:p>
        </p:txBody>
      </p:sp>
      <p:sp>
        <p:nvSpPr>
          <p:cNvPr id="24" name="Text 13"/>
          <p:cNvSpPr txBox="1"/>
          <p:nvPr/>
        </p:nvSpPr>
        <p:spPr>
          <a:xfrm>
            <a:off x="3504895" y="2457907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3σ</a:t>
            </a:r>
            <a:endParaRPr lang="en-US" sz="1350" dirty="0"/>
          </a:p>
        </p:txBody>
      </p:sp>
      <p:sp>
        <p:nvSpPr>
          <p:cNvPr id="25" name="Text 14"/>
          <p:cNvSpPr txBox="1"/>
          <p:nvPr/>
        </p:nvSpPr>
        <p:spPr>
          <a:xfrm>
            <a:off x="5790895" y="2457907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3σ</a:t>
            </a:r>
            <a:endParaRPr lang="en-US" sz="1350" dirty="0"/>
          </a:p>
        </p:txBody>
      </p:sp>
      <p:sp>
        <p:nvSpPr>
          <p:cNvPr id="26" name="Text 15"/>
          <p:cNvSpPr txBox="1"/>
          <p:nvPr/>
        </p:nvSpPr>
        <p:spPr>
          <a:xfrm>
            <a:off x="8076895" y="2457907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3σ</a:t>
            </a:r>
            <a:endParaRPr lang="en-US" sz="1350" dirty="0"/>
          </a:p>
        </p:txBody>
      </p:sp>
      <p:sp>
        <p:nvSpPr>
          <p:cNvPr id="27" name="Text 16"/>
          <p:cNvSpPr txBox="1"/>
          <p:nvPr/>
        </p:nvSpPr>
        <p:spPr>
          <a:xfrm>
            <a:off x="10362895" y="2457907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 3σ</a:t>
            </a:r>
            <a:endParaRPr lang="en-US" sz="1350" dirty="0"/>
          </a:p>
        </p:txBody>
      </p:sp>
      <p:sp>
        <p:nvSpPr>
          <p:cNvPr id="28" name="Text 17"/>
          <p:cNvSpPr txBox="1"/>
          <p:nvPr/>
        </p:nvSpPr>
        <p:spPr>
          <a:xfrm>
            <a:off x="12268505" y="2457907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1350" dirty="0"/>
          </a:p>
        </p:txBody>
      </p:sp>
      <p:sp>
        <p:nvSpPr>
          <p:cNvPr id="29" name="Text 18"/>
          <p:cNvSpPr txBox="1"/>
          <p:nvPr/>
        </p:nvSpPr>
        <p:spPr>
          <a:xfrm>
            <a:off x="1028700" y="2971800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W-01</a:t>
            </a:r>
            <a:endParaRPr lang="en-US" sz="1500" dirty="0"/>
          </a:p>
        </p:txBody>
      </p:sp>
      <p:sp>
        <p:nvSpPr>
          <p:cNvPr id="30" name="Text 19"/>
          <p:cNvSpPr txBox="1"/>
          <p:nvPr/>
        </p:nvSpPr>
        <p:spPr>
          <a:xfrm>
            <a:off x="2553005" y="2971800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3504895" y="2971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1.32</a:t>
            </a:r>
            <a:endParaRPr lang="en-US" sz="1650" dirty="0"/>
          </a:p>
        </p:txBody>
      </p:sp>
      <p:sp>
        <p:nvSpPr>
          <p:cNvPr id="32" name="Text 21"/>
          <p:cNvSpPr txBox="1"/>
          <p:nvPr/>
        </p:nvSpPr>
        <p:spPr>
          <a:xfrm>
            <a:off x="5790895" y="2971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1.04</a:t>
            </a:r>
            <a:endParaRPr lang="en-US" sz="1650" dirty="0"/>
          </a:p>
        </p:txBody>
      </p:sp>
      <p:sp>
        <p:nvSpPr>
          <p:cNvPr id="33" name="Text 22"/>
          <p:cNvSpPr txBox="1"/>
          <p:nvPr/>
        </p:nvSpPr>
        <p:spPr>
          <a:xfrm>
            <a:off x="8076895" y="2971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0.78</a:t>
            </a:r>
            <a:endParaRPr lang="en-US" sz="1650" dirty="0"/>
          </a:p>
        </p:txBody>
      </p:sp>
      <p:sp>
        <p:nvSpPr>
          <p:cNvPr id="34" name="Text 23"/>
          <p:cNvSpPr txBox="1"/>
          <p:nvPr/>
        </p:nvSpPr>
        <p:spPr>
          <a:xfrm>
            <a:off x="10362895" y="29718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0.74</a:t>
            </a:r>
            <a:endParaRPr lang="en-US" sz="1650" dirty="0"/>
          </a:p>
        </p:txBody>
      </p:sp>
      <p:sp>
        <p:nvSpPr>
          <p:cNvPr id="35" name="Text 24"/>
          <p:cNvSpPr txBox="1"/>
          <p:nvPr/>
        </p:nvSpPr>
        <p:spPr>
          <a:xfrm>
            <a:off x="12268505" y="2971800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marg.</a:t>
            </a:r>
            <a:endParaRPr lang="en-US" sz="1350" dirty="0"/>
          </a:p>
        </p:txBody>
      </p:sp>
      <p:sp>
        <p:nvSpPr>
          <p:cNvPr id="36" name="Text 25"/>
          <p:cNvSpPr txBox="1"/>
          <p:nvPr/>
        </p:nvSpPr>
        <p:spPr>
          <a:xfrm>
            <a:off x="1028700" y="3504895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W-02</a:t>
            </a:r>
            <a:endParaRPr lang="en-US" sz="1500" dirty="0"/>
          </a:p>
        </p:txBody>
      </p:sp>
      <p:sp>
        <p:nvSpPr>
          <p:cNvPr id="37" name="Text 26"/>
          <p:cNvSpPr txBox="1"/>
          <p:nvPr/>
        </p:nvSpPr>
        <p:spPr>
          <a:xfrm>
            <a:off x="2553005" y="3504895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3504895" y="3504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1.41</a:t>
            </a:r>
            <a:endParaRPr lang="en-US" sz="1650" dirty="0"/>
          </a:p>
        </p:txBody>
      </p:sp>
      <p:sp>
        <p:nvSpPr>
          <p:cNvPr id="39" name="Text 28"/>
          <p:cNvSpPr txBox="1"/>
          <p:nvPr/>
        </p:nvSpPr>
        <p:spPr>
          <a:xfrm>
            <a:off x="5790895" y="3504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1.12</a:t>
            </a:r>
            <a:endParaRPr lang="en-US" sz="1650" dirty="0"/>
          </a:p>
        </p:txBody>
      </p:sp>
      <p:sp>
        <p:nvSpPr>
          <p:cNvPr id="40" name="Text 29"/>
          <p:cNvSpPr txBox="1"/>
          <p:nvPr/>
        </p:nvSpPr>
        <p:spPr>
          <a:xfrm>
            <a:off x="8076895" y="3504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0.84</a:t>
            </a:r>
            <a:endParaRPr lang="en-US" sz="1650" dirty="0"/>
          </a:p>
        </p:txBody>
      </p:sp>
      <p:sp>
        <p:nvSpPr>
          <p:cNvPr id="41" name="Text 30"/>
          <p:cNvSpPr txBox="1"/>
          <p:nvPr/>
        </p:nvSpPr>
        <p:spPr>
          <a:xfrm>
            <a:off x="10362895" y="35048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44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0.81</a:t>
            </a:r>
            <a:endParaRPr lang="en-US" sz="1650" dirty="0"/>
          </a:p>
        </p:txBody>
      </p:sp>
      <p:sp>
        <p:nvSpPr>
          <p:cNvPr id="42" name="Text 31"/>
          <p:cNvSpPr txBox="1"/>
          <p:nvPr/>
        </p:nvSpPr>
        <p:spPr>
          <a:xfrm>
            <a:off x="12268505" y="350489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44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</a:t>
            </a:r>
            <a:endParaRPr lang="en-US" sz="1350" dirty="0"/>
          </a:p>
        </p:txBody>
      </p:sp>
      <p:sp>
        <p:nvSpPr>
          <p:cNvPr id="43" name="Text 32"/>
          <p:cNvSpPr txBox="1"/>
          <p:nvPr/>
        </p:nvSpPr>
        <p:spPr>
          <a:xfrm>
            <a:off x="1028700" y="4114800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W-03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2553005" y="4114800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500" dirty="0"/>
          </a:p>
        </p:txBody>
      </p:sp>
      <p:sp>
        <p:nvSpPr>
          <p:cNvPr id="45" name="Text 34"/>
          <p:cNvSpPr txBox="1"/>
          <p:nvPr/>
        </p:nvSpPr>
        <p:spPr>
          <a:xfrm>
            <a:off x="3504895" y="4114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1.28</a:t>
            </a:r>
            <a:endParaRPr lang="en-US" sz="1650" dirty="0"/>
          </a:p>
        </p:txBody>
      </p:sp>
      <p:sp>
        <p:nvSpPr>
          <p:cNvPr id="46" name="Text 35"/>
          <p:cNvSpPr txBox="1"/>
          <p:nvPr/>
        </p:nvSpPr>
        <p:spPr>
          <a:xfrm>
            <a:off x="5790895" y="4114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0.96</a:t>
            </a:r>
            <a:endParaRPr lang="en-US" sz="1650" dirty="0"/>
          </a:p>
        </p:txBody>
      </p:sp>
      <p:sp>
        <p:nvSpPr>
          <p:cNvPr id="47" name="Text 36"/>
          <p:cNvSpPr txBox="1"/>
          <p:nvPr/>
        </p:nvSpPr>
        <p:spPr>
          <a:xfrm>
            <a:off x="8076895" y="4114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0.71</a:t>
            </a:r>
            <a:endParaRPr lang="en-US" sz="1650" dirty="0"/>
          </a:p>
        </p:txBody>
      </p:sp>
      <p:sp>
        <p:nvSpPr>
          <p:cNvPr id="48" name="Text 37"/>
          <p:cNvSpPr txBox="1"/>
          <p:nvPr/>
        </p:nvSpPr>
        <p:spPr>
          <a:xfrm>
            <a:off x="10362895" y="41148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0.71</a:t>
            </a:r>
            <a:endParaRPr lang="en-US" sz="1650" dirty="0"/>
          </a:p>
        </p:txBody>
      </p:sp>
      <p:sp>
        <p:nvSpPr>
          <p:cNvPr id="49" name="Text 38"/>
          <p:cNvSpPr txBox="1"/>
          <p:nvPr/>
        </p:nvSpPr>
        <p:spPr>
          <a:xfrm>
            <a:off x="12268505" y="4114800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marg.</a:t>
            </a:r>
            <a:endParaRPr lang="en-US" sz="1350" dirty="0"/>
          </a:p>
        </p:txBody>
      </p:sp>
      <p:sp>
        <p:nvSpPr>
          <p:cNvPr id="50" name="Text 39"/>
          <p:cNvSpPr txBox="1"/>
          <p:nvPr/>
        </p:nvSpPr>
        <p:spPr>
          <a:xfrm>
            <a:off x="1028700" y="4647895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W-04</a:t>
            </a:r>
            <a:endParaRPr lang="en-US" sz="1500" dirty="0"/>
          </a:p>
        </p:txBody>
      </p:sp>
      <p:sp>
        <p:nvSpPr>
          <p:cNvPr id="51" name="Text 40"/>
          <p:cNvSpPr txBox="1"/>
          <p:nvPr/>
        </p:nvSpPr>
        <p:spPr>
          <a:xfrm>
            <a:off x="2553005" y="4647895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500" dirty="0"/>
          </a:p>
        </p:txBody>
      </p:sp>
      <p:sp>
        <p:nvSpPr>
          <p:cNvPr id="52" name="Text 41"/>
          <p:cNvSpPr txBox="1"/>
          <p:nvPr/>
        </p:nvSpPr>
        <p:spPr>
          <a:xfrm>
            <a:off x="3504895" y="4647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1.12</a:t>
            </a:r>
            <a:endParaRPr lang="en-US" sz="1650" dirty="0"/>
          </a:p>
        </p:txBody>
      </p:sp>
      <p:sp>
        <p:nvSpPr>
          <p:cNvPr id="53" name="Text 42"/>
          <p:cNvSpPr txBox="1"/>
          <p:nvPr/>
        </p:nvSpPr>
        <p:spPr>
          <a:xfrm>
            <a:off x="5790895" y="4647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0.82</a:t>
            </a:r>
            <a:endParaRPr lang="en-US" sz="1650" dirty="0"/>
          </a:p>
        </p:txBody>
      </p:sp>
      <p:sp>
        <p:nvSpPr>
          <p:cNvPr id="54" name="Text 43"/>
          <p:cNvSpPr txBox="1"/>
          <p:nvPr/>
        </p:nvSpPr>
        <p:spPr>
          <a:xfrm>
            <a:off x="8076895" y="4647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</a:t>
            </a:r>
            <a:endParaRPr lang="en-US" sz="1650" dirty="0"/>
          </a:p>
        </p:txBody>
      </p:sp>
      <p:sp>
        <p:nvSpPr>
          <p:cNvPr id="55" name="Text 44"/>
          <p:cNvSpPr txBox="1"/>
          <p:nvPr/>
        </p:nvSpPr>
        <p:spPr>
          <a:xfrm>
            <a:off x="10362895" y="46478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0.58</a:t>
            </a:r>
            <a:endParaRPr lang="en-US" sz="1650" dirty="0"/>
          </a:p>
        </p:txBody>
      </p:sp>
      <p:sp>
        <p:nvSpPr>
          <p:cNvPr id="56" name="Text 45"/>
          <p:cNvSpPr txBox="1"/>
          <p:nvPr/>
        </p:nvSpPr>
        <p:spPr>
          <a:xfrm>
            <a:off x="12268505" y="464789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1350" dirty="0"/>
          </a:p>
        </p:txBody>
      </p:sp>
      <p:sp>
        <p:nvSpPr>
          <p:cNvPr id="57" name="Text 46"/>
          <p:cNvSpPr txBox="1"/>
          <p:nvPr/>
        </p:nvSpPr>
        <p:spPr>
          <a:xfrm>
            <a:off x="1028700" y="5257800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W-05</a:t>
            </a:r>
            <a:endParaRPr lang="en-US" sz="1500" dirty="0"/>
          </a:p>
        </p:txBody>
      </p:sp>
      <p:sp>
        <p:nvSpPr>
          <p:cNvPr id="58" name="Text 47"/>
          <p:cNvSpPr txBox="1"/>
          <p:nvPr/>
        </p:nvSpPr>
        <p:spPr>
          <a:xfrm>
            <a:off x="2553005" y="5257800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500" dirty="0"/>
          </a:p>
        </p:txBody>
      </p:sp>
      <p:sp>
        <p:nvSpPr>
          <p:cNvPr id="59" name="Text 48"/>
          <p:cNvSpPr txBox="1"/>
          <p:nvPr/>
        </p:nvSpPr>
        <p:spPr>
          <a:xfrm>
            <a:off x="3504895" y="5257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1.18</a:t>
            </a:r>
            <a:endParaRPr lang="en-US" sz="1650" dirty="0"/>
          </a:p>
        </p:txBody>
      </p:sp>
      <p:sp>
        <p:nvSpPr>
          <p:cNvPr id="60" name="Text 49"/>
          <p:cNvSpPr txBox="1"/>
          <p:nvPr/>
        </p:nvSpPr>
        <p:spPr>
          <a:xfrm>
            <a:off x="5790895" y="5257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0.88</a:t>
            </a:r>
            <a:endParaRPr lang="en-US" sz="1650" dirty="0"/>
          </a:p>
        </p:txBody>
      </p:sp>
      <p:sp>
        <p:nvSpPr>
          <p:cNvPr id="61" name="Text 50"/>
          <p:cNvSpPr txBox="1"/>
          <p:nvPr/>
        </p:nvSpPr>
        <p:spPr>
          <a:xfrm>
            <a:off x="8076895" y="5257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0.66</a:t>
            </a:r>
            <a:endParaRPr lang="en-US" sz="1650" dirty="0"/>
          </a:p>
        </p:txBody>
      </p:sp>
      <p:sp>
        <p:nvSpPr>
          <p:cNvPr id="62" name="Text 51"/>
          <p:cNvSpPr txBox="1"/>
          <p:nvPr/>
        </p:nvSpPr>
        <p:spPr>
          <a:xfrm>
            <a:off x="10362895" y="52578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</a:t>
            </a:r>
            <a:endParaRPr lang="en-US" sz="1650" dirty="0"/>
          </a:p>
        </p:txBody>
      </p:sp>
      <p:sp>
        <p:nvSpPr>
          <p:cNvPr id="63" name="Text 52"/>
          <p:cNvSpPr txBox="1"/>
          <p:nvPr/>
        </p:nvSpPr>
        <p:spPr>
          <a:xfrm>
            <a:off x="12268505" y="5257800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1350" dirty="0"/>
          </a:p>
        </p:txBody>
      </p:sp>
      <p:sp>
        <p:nvSpPr>
          <p:cNvPr id="64" name="Text 53"/>
          <p:cNvSpPr txBox="1"/>
          <p:nvPr/>
        </p:nvSpPr>
        <p:spPr>
          <a:xfrm>
            <a:off x="1028700" y="5790895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W-06</a:t>
            </a:r>
            <a:endParaRPr lang="en-US" sz="1500" dirty="0"/>
          </a:p>
        </p:txBody>
      </p:sp>
      <p:sp>
        <p:nvSpPr>
          <p:cNvPr id="65" name="Text 54"/>
          <p:cNvSpPr txBox="1"/>
          <p:nvPr/>
        </p:nvSpPr>
        <p:spPr>
          <a:xfrm>
            <a:off x="2553005" y="5790895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500" dirty="0"/>
          </a:p>
        </p:txBody>
      </p:sp>
      <p:sp>
        <p:nvSpPr>
          <p:cNvPr id="66" name="Text 55"/>
          <p:cNvSpPr txBox="1"/>
          <p:nvPr/>
        </p:nvSpPr>
        <p:spPr>
          <a:xfrm>
            <a:off x="3504895" y="5790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1.05</a:t>
            </a:r>
            <a:endParaRPr lang="en-US" sz="1650" dirty="0"/>
          </a:p>
        </p:txBody>
      </p:sp>
      <p:sp>
        <p:nvSpPr>
          <p:cNvPr id="67" name="Text 56"/>
          <p:cNvSpPr txBox="1"/>
          <p:nvPr/>
        </p:nvSpPr>
        <p:spPr>
          <a:xfrm>
            <a:off x="5790895" y="5790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0.79</a:t>
            </a:r>
            <a:endParaRPr lang="en-US" sz="1650" dirty="0"/>
          </a:p>
        </p:txBody>
      </p:sp>
      <p:sp>
        <p:nvSpPr>
          <p:cNvPr id="68" name="Text 57"/>
          <p:cNvSpPr txBox="1"/>
          <p:nvPr/>
        </p:nvSpPr>
        <p:spPr>
          <a:xfrm>
            <a:off x="8076895" y="5790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0.58</a:t>
            </a:r>
            <a:endParaRPr lang="en-US" sz="1650" dirty="0"/>
          </a:p>
        </p:txBody>
      </p:sp>
      <p:sp>
        <p:nvSpPr>
          <p:cNvPr id="69" name="Text 58"/>
          <p:cNvSpPr txBox="1"/>
          <p:nvPr/>
        </p:nvSpPr>
        <p:spPr>
          <a:xfrm>
            <a:off x="10362895" y="57908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0.52</a:t>
            </a:r>
            <a:endParaRPr lang="en-US" sz="1650" dirty="0"/>
          </a:p>
        </p:txBody>
      </p:sp>
      <p:sp>
        <p:nvSpPr>
          <p:cNvPr id="70" name="Text 59"/>
          <p:cNvSpPr txBox="1"/>
          <p:nvPr/>
        </p:nvSpPr>
        <p:spPr>
          <a:xfrm>
            <a:off x="12268505" y="579089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1350" dirty="0"/>
          </a:p>
        </p:txBody>
      </p:sp>
      <p:sp>
        <p:nvSpPr>
          <p:cNvPr id="71" name="Text 60"/>
          <p:cNvSpPr txBox="1"/>
          <p:nvPr/>
        </p:nvSpPr>
        <p:spPr>
          <a:xfrm>
            <a:off x="1028700" y="6400800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W-07</a:t>
            </a:r>
            <a:endParaRPr lang="en-US" sz="1500" dirty="0"/>
          </a:p>
        </p:txBody>
      </p:sp>
      <p:sp>
        <p:nvSpPr>
          <p:cNvPr id="72" name="Text 61"/>
          <p:cNvSpPr txBox="1"/>
          <p:nvPr/>
        </p:nvSpPr>
        <p:spPr>
          <a:xfrm>
            <a:off x="2553005" y="6400800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500" dirty="0"/>
          </a:p>
        </p:txBody>
      </p:sp>
      <p:sp>
        <p:nvSpPr>
          <p:cNvPr id="73" name="Text 62"/>
          <p:cNvSpPr txBox="1"/>
          <p:nvPr/>
        </p:nvSpPr>
        <p:spPr>
          <a:xfrm>
            <a:off x="3504895" y="6400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</a:t>
            </a:r>
            <a:endParaRPr lang="en-US" sz="1650" dirty="0"/>
          </a:p>
        </p:txBody>
      </p:sp>
      <p:sp>
        <p:nvSpPr>
          <p:cNvPr id="74" name="Text 63"/>
          <p:cNvSpPr txBox="1"/>
          <p:nvPr/>
        </p:nvSpPr>
        <p:spPr>
          <a:xfrm>
            <a:off x="5790895" y="6400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0.66</a:t>
            </a:r>
            <a:endParaRPr lang="en-US" sz="1650" dirty="0"/>
          </a:p>
        </p:txBody>
      </p:sp>
      <p:sp>
        <p:nvSpPr>
          <p:cNvPr id="75" name="Text 64"/>
          <p:cNvSpPr txBox="1"/>
          <p:nvPr/>
        </p:nvSpPr>
        <p:spPr>
          <a:xfrm>
            <a:off x="8076895" y="6400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0.48</a:t>
            </a:r>
            <a:endParaRPr lang="en-US" sz="1650" dirty="0"/>
          </a:p>
        </p:txBody>
      </p:sp>
      <p:sp>
        <p:nvSpPr>
          <p:cNvPr id="76" name="Text 65"/>
          <p:cNvSpPr txBox="1"/>
          <p:nvPr/>
        </p:nvSpPr>
        <p:spPr>
          <a:xfrm>
            <a:off x="10362895" y="64008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650" dirty="0"/>
          </a:p>
        </p:txBody>
      </p:sp>
      <p:sp>
        <p:nvSpPr>
          <p:cNvPr id="77" name="Text 66"/>
          <p:cNvSpPr txBox="1"/>
          <p:nvPr/>
        </p:nvSpPr>
        <p:spPr>
          <a:xfrm>
            <a:off x="12268505" y="6400800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1350" dirty="0"/>
          </a:p>
        </p:txBody>
      </p:sp>
      <p:sp>
        <p:nvSpPr>
          <p:cNvPr id="78" name="Text 67"/>
          <p:cNvSpPr txBox="1"/>
          <p:nvPr/>
        </p:nvSpPr>
        <p:spPr>
          <a:xfrm>
            <a:off x="1028700" y="6933895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W-08</a:t>
            </a:r>
            <a:endParaRPr lang="en-US" sz="1500" dirty="0"/>
          </a:p>
        </p:txBody>
      </p:sp>
      <p:sp>
        <p:nvSpPr>
          <p:cNvPr id="79" name="Text 68"/>
          <p:cNvSpPr txBox="1"/>
          <p:nvPr/>
        </p:nvSpPr>
        <p:spPr>
          <a:xfrm>
            <a:off x="2553005" y="6933895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500" dirty="0"/>
          </a:p>
        </p:txBody>
      </p:sp>
      <p:sp>
        <p:nvSpPr>
          <p:cNvPr id="80" name="Text 69"/>
          <p:cNvSpPr txBox="1"/>
          <p:nvPr/>
        </p:nvSpPr>
        <p:spPr>
          <a:xfrm>
            <a:off x="3504895" y="6933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0.88</a:t>
            </a:r>
            <a:endParaRPr lang="en-US" sz="1650" dirty="0"/>
          </a:p>
        </p:txBody>
      </p:sp>
      <p:sp>
        <p:nvSpPr>
          <p:cNvPr id="81" name="Text 70"/>
          <p:cNvSpPr txBox="1"/>
          <p:nvPr/>
        </p:nvSpPr>
        <p:spPr>
          <a:xfrm>
            <a:off x="5790895" y="6933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0.71</a:t>
            </a:r>
            <a:endParaRPr lang="en-US" sz="1650" dirty="0"/>
          </a:p>
        </p:txBody>
      </p:sp>
      <p:sp>
        <p:nvSpPr>
          <p:cNvPr id="82" name="Text 71"/>
          <p:cNvSpPr txBox="1"/>
          <p:nvPr/>
        </p:nvSpPr>
        <p:spPr>
          <a:xfrm>
            <a:off x="8076895" y="6933895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0.46</a:t>
            </a:r>
            <a:endParaRPr lang="en-US" sz="1650" dirty="0"/>
          </a:p>
        </p:txBody>
      </p:sp>
      <p:sp>
        <p:nvSpPr>
          <p:cNvPr id="83" name="Text 72"/>
          <p:cNvSpPr txBox="1"/>
          <p:nvPr/>
        </p:nvSpPr>
        <p:spPr>
          <a:xfrm>
            <a:off x="10362895" y="69338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0.44</a:t>
            </a:r>
            <a:endParaRPr lang="en-US" sz="1650" dirty="0"/>
          </a:p>
        </p:txBody>
      </p:sp>
      <p:sp>
        <p:nvSpPr>
          <p:cNvPr id="84" name="Text 73"/>
          <p:cNvSpPr txBox="1"/>
          <p:nvPr/>
        </p:nvSpPr>
        <p:spPr>
          <a:xfrm>
            <a:off x="12268505" y="6933895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1350" dirty="0"/>
          </a:p>
        </p:txBody>
      </p:sp>
      <p:sp>
        <p:nvSpPr>
          <p:cNvPr id="85" name="Text 74"/>
          <p:cNvSpPr txBox="1"/>
          <p:nvPr/>
        </p:nvSpPr>
        <p:spPr>
          <a:xfrm>
            <a:off x="1028700" y="7543800"/>
            <a:ext cx="1524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W-09</a:t>
            </a:r>
            <a:endParaRPr lang="en-US" sz="1500" dirty="0"/>
          </a:p>
        </p:txBody>
      </p:sp>
      <p:sp>
        <p:nvSpPr>
          <p:cNvPr id="86" name="Text 75"/>
          <p:cNvSpPr txBox="1"/>
          <p:nvPr/>
        </p:nvSpPr>
        <p:spPr>
          <a:xfrm>
            <a:off x="2553005" y="7543800"/>
            <a:ext cx="95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500" dirty="0"/>
          </a:p>
        </p:txBody>
      </p:sp>
      <p:sp>
        <p:nvSpPr>
          <p:cNvPr id="87" name="Text 76"/>
          <p:cNvSpPr txBox="1"/>
          <p:nvPr/>
        </p:nvSpPr>
        <p:spPr>
          <a:xfrm>
            <a:off x="3504895" y="7543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0.84</a:t>
            </a:r>
            <a:endParaRPr lang="en-US" sz="1650" dirty="0"/>
          </a:p>
        </p:txBody>
      </p:sp>
      <p:sp>
        <p:nvSpPr>
          <p:cNvPr id="88" name="Text 77"/>
          <p:cNvSpPr txBox="1"/>
          <p:nvPr/>
        </p:nvSpPr>
        <p:spPr>
          <a:xfrm>
            <a:off x="5790895" y="7543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</a:t>
            </a:r>
            <a:endParaRPr lang="en-US" sz="1650" dirty="0"/>
          </a:p>
        </p:txBody>
      </p:sp>
      <p:sp>
        <p:nvSpPr>
          <p:cNvPr id="89" name="Text 78"/>
          <p:cNvSpPr txBox="1"/>
          <p:nvPr/>
        </p:nvSpPr>
        <p:spPr>
          <a:xfrm>
            <a:off x="8076895" y="75438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650" dirty="0"/>
          </a:p>
        </p:txBody>
      </p:sp>
      <p:sp>
        <p:nvSpPr>
          <p:cNvPr id="90" name="Text 79"/>
          <p:cNvSpPr txBox="1"/>
          <p:nvPr/>
        </p:nvSpPr>
        <p:spPr>
          <a:xfrm>
            <a:off x="10362895" y="75438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endParaRPr lang="en-US" sz="1650" dirty="0"/>
          </a:p>
        </p:txBody>
      </p:sp>
      <p:sp>
        <p:nvSpPr>
          <p:cNvPr id="91" name="Text 80"/>
          <p:cNvSpPr txBox="1"/>
          <p:nvPr/>
        </p:nvSpPr>
        <p:spPr>
          <a:xfrm>
            <a:off x="12268505" y="7543800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1350" dirty="0"/>
          </a:p>
        </p:txBody>
      </p:sp>
      <p:sp>
        <p:nvSpPr>
          <p:cNvPr id="92" name="Text 81"/>
          <p:cNvSpPr txBox="1"/>
          <p:nvPr/>
        </p:nvSpPr>
        <p:spPr>
          <a:xfrm>
            <a:off x="1028700" y="8305495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ACCEPTANCE</a:t>
            </a:r>
            <a:endParaRPr lang="en-US" sz="1050" dirty="0"/>
          </a:p>
        </p:txBody>
      </p:sp>
      <p:sp>
        <p:nvSpPr>
          <p:cNvPr id="93" name="Text 82"/>
          <p:cNvSpPr txBox="1"/>
          <p:nvPr/>
        </p:nvSpPr>
        <p:spPr>
          <a:xfrm>
            <a:off x="1028700" y="8515807"/>
            <a:ext cx="3048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≤ 1.8 / 1.5 / 0.9 / 0.8 nm</a:t>
            </a:r>
            <a:endParaRPr lang="en-US" sz="1350" dirty="0"/>
          </a:p>
        </p:txBody>
      </p:sp>
      <p:sp>
        <p:nvSpPr>
          <p:cNvPr id="94" name="Text 83"/>
          <p:cNvSpPr txBox="1"/>
          <p:nvPr/>
        </p:nvSpPr>
        <p:spPr>
          <a:xfrm>
            <a:off x="4076395" y="83054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 COUNT</a:t>
            </a:r>
            <a:endParaRPr lang="en-US" sz="1050" dirty="0"/>
          </a:p>
        </p:txBody>
      </p:sp>
      <p:sp>
        <p:nvSpPr>
          <p:cNvPr id="95" name="Text 84"/>
          <p:cNvSpPr txBox="1"/>
          <p:nvPr/>
        </p:nvSpPr>
        <p:spPr>
          <a:xfrm>
            <a:off x="4076395" y="8515807"/>
            <a:ext cx="2286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4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96" name="Text 85"/>
          <p:cNvSpPr txBox="1"/>
          <p:nvPr/>
        </p:nvSpPr>
        <p:spPr>
          <a:xfrm>
            <a:off x="6362395" y="83054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MARGINAL</a:t>
            </a:r>
            <a:endParaRPr lang="en-US" sz="1050" dirty="0"/>
          </a:p>
        </p:txBody>
      </p:sp>
      <p:sp>
        <p:nvSpPr>
          <p:cNvPr id="97" name="Text 86"/>
          <p:cNvSpPr txBox="1"/>
          <p:nvPr/>
        </p:nvSpPr>
        <p:spPr>
          <a:xfrm>
            <a:off x="6362395" y="8515807"/>
            <a:ext cx="2286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98" name="Text 87"/>
          <p:cNvSpPr txBox="1"/>
          <p:nvPr/>
        </p:nvSpPr>
        <p:spPr>
          <a:xfrm>
            <a:off x="8648395" y="83054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050" dirty="0"/>
          </a:p>
        </p:txBody>
      </p:sp>
      <p:sp>
        <p:nvSpPr>
          <p:cNvPr id="99" name="Text 88"/>
          <p:cNvSpPr txBox="1"/>
          <p:nvPr/>
        </p:nvSpPr>
        <p:spPr>
          <a:xfrm>
            <a:off x="8648395" y="8515807"/>
            <a:ext cx="2286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800" dirty="0"/>
          </a:p>
        </p:txBody>
      </p:sp>
      <p:sp>
        <p:nvSpPr>
          <p:cNvPr id="100" name="Text 89"/>
          <p:cNvSpPr txBox="1"/>
          <p:nvPr/>
        </p:nvSpPr>
        <p:spPr>
          <a:xfrm>
            <a:off x="10934395" y="83054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 WAFER</a:t>
            </a:r>
            <a:endParaRPr lang="en-US" sz="1050" dirty="0"/>
          </a:p>
        </p:txBody>
      </p:sp>
      <p:sp>
        <p:nvSpPr>
          <p:cNvPr id="101" name="Text 90"/>
          <p:cNvSpPr txBox="1"/>
          <p:nvPr/>
        </p:nvSpPr>
        <p:spPr>
          <a:xfrm>
            <a:off x="10934395" y="8515807"/>
            <a:ext cx="2286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W-02 (split-A)</a:t>
            </a:r>
            <a:endParaRPr lang="en-US" sz="1650" dirty="0"/>
          </a:p>
        </p:txBody>
      </p:sp>
      <p:sp>
        <p:nvSpPr>
          <p:cNvPr id="102" name="Text 91"/>
          <p:cNvSpPr txBox="1"/>
          <p:nvPr/>
        </p:nvSpPr>
        <p:spPr>
          <a:xfrm>
            <a:off x="14058900" y="2590495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Split별 평균 3σ</a:t>
            </a:r>
            <a:endParaRPr lang="en-US" sz="1650" dirty="0"/>
          </a:p>
        </p:txBody>
      </p:sp>
      <p:sp>
        <p:nvSpPr>
          <p:cNvPr id="103" name="Text 92"/>
          <p:cNvSpPr txBox="1"/>
          <p:nvPr/>
        </p:nvSpPr>
        <p:spPr>
          <a:xfrm>
            <a:off x="14058900" y="3161995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Split-A 평균 (k=2.55)</a:t>
            </a:r>
            <a:endParaRPr lang="en-US" sz="1350" dirty="0"/>
          </a:p>
        </p:txBody>
      </p:sp>
      <p:sp>
        <p:nvSpPr>
          <p:cNvPr id="104" name="Text 93"/>
          <p:cNvSpPr txBox="1"/>
          <p:nvPr/>
        </p:nvSpPr>
        <p:spPr>
          <a:xfrm>
            <a:off x="14058900" y="3415284"/>
            <a:ext cx="3238805" cy="94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· 1.34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· 1.04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· 0.78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 · 0.75 nm</a:t>
            </a:r>
            <a:endParaRPr lang="en-US" sz="1050" dirty="0"/>
          </a:p>
        </p:txBody>
      </p:sp>
      <p:sp>
        <p:nvSpPr>
          <p:cNvPr id="105" name="Text 94"/>
          <p:cNvSpPr txBox="1"/>
          <p:nvPr/>
        </p:nvSpPr>
        <p:spPr>
          <a:xfrm>
            <a:off x="14058900" y="4724705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Split-B 평균 (k=2.75)</a:t>
            </a:r>
            <a:endParaRPr lang="en-US" sz="1350" dirty="0"/>
          </a:p>
        </p:txBody>
      </p:sp>
      <p:sp>
        <p:nvSpPr>
          <p:cNvPr id="106" name="Text 95"/>
          <p:cNvSpPr txBox="1"/>
          <p:nvPr/>
        </p:nvSpPr>
        <p:spPr>
          <a:xfrm>
            <a:off x="14058900" y="4977079"/>
            <a:ext cx="3238805" cy="94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· 1.12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· 0.83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· 0.62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 · 0.57 nm</a:t>
            </a:r>
            <a:endParaRPr lang="en-US" sz="1050" dirty="0"/>
          </a:p>
        </p:txBody>
      </p:sp>
      <p:sp>
        <p:nvSpPr>
          <p:cNvPr id="107" name="Text 96"/>
          <p:cNvSpPr txBox="1"/>
          <p:nvPr/>
        </p:nvSpPr>
        <p:spPr>
          <a:xfrm>
            <a:off x="14058900" y="6286500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Split-C 평균 (k=3.00)</a:t>
            </a:r>
            <a:endParaRPr lang="en-US" sz="1350" dirty="0"/>
          </a:p>
        </p:txBody>
      </p:sp>
      <p:sp>
        <p:nvSpPr>
          <p:cNvPr id="108" name="Text 97"/>
          <p:cNvSpPr txBox="1"/>
          <p:nvPr/>
        </p:nvSpPr>
        <p:spPr>
          <a:xfrm>
            <a:off x="14058900" y="6539789"/>
            <a:ext cx="3238805" cy="94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· 0.88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· 0.66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· 0.45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 · 0.42 nm</a:t>
            </a:r>
            <a:endParaRPr lang="en-US" sz="1050" dirty="0"/>
          </a:p>
        </p:txBody>
      </p:sp>
      <p:sp>
        <p:nvSpPr>
          <p:cNvPr id="109" name="Text 98"/>
          <p:cNvSpPr txBox="1"/>
          <p:nvPr/>
        </p:nvSpPr>
        <p:spPr>
          <a:xfrm>
            <a:off x="14058900" y="7905902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k-value가 낮을수록 3σ가 증가, split-A에서 acceptance 위배 1건 발생</a:t>
            </a:r>
            <a:endParaRPr lang="en-US" sz="1200" dirty="0"/>
          </a:p>
        </p:txBody>
      </p:sp>
      <p:sp>
        <p:nvSpPr>
          <p:cNvPr id="110" name="Text 99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09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018995"/>
            <a:ext cx="10306202" cy="697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23798" y="2743200"/>
            <a:ext cx="9734702" cy="1543507"/>
          </a:xfrm>
          <a:prstGeom prst="rect">
            <a:avLst/>
          </a:prstGeom>
          <a:solidFill>
            <a:srgbClr val="0E1822"/>
          </a:solidFill>
          <a:ln w="12700">
            <a:solidFill>
              <a:srgbClr val="2E3E5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23798" y="4572000"/>
            <a:ext cx="9734702" cy="3143707"/>
          </a:xfrm>
          <a:prstGeom prst="rect">
            <a:avLst/>
          </a:prstGeom>
          <a:solidFill>
            <a:srgbClr val="F4F7FB"/>
          </a:solidFill>
          <a:ln w="12700">
            <a:solidFill>
              <a:srgbClr val="CDD6E1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23798" y="5315407"/>
            <a:ext cx="9715500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23798" y="5924398"/>
            <a:ext cx="9715500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23798" y="6534302"/>
            <a:ext cx="9715500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23798" y="7144207"/>
            <a:ext cx="9715500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505895" y="2018995"/>
            <a:ext cx="5924398" cy="697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792102" y="2686507"/>
            <a:ext cx="1923898" cy="1923898"/>
          </a:xfrm>
          <a:prstGeom prst="rect">
            <a:avLst/>
          </a:prstGeom>
          <a:solidFill>
            <a:srgbClr val="0E1822"/>
          </a:solidFill>
          <a:ln w="12700">
            <a:solidFill>
              <a:srgbClr val="2E3E5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792102" y="4762195"/>
            <a:ext cx="5352898" cy="2876702"/>
          </a:xfrm>
          <a:prstGeom prst="rect">
            <a:avLst/>
          </a:prstGeom>
          <a:solidFill>
            <a:srgbClr val="F4F7FB"/>
          </a:solidFill>
          <a:ln w="12700">
            <a:solidFill>
              <a:srgbClr val="CDD6E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792102" y="7810805"/>
            <a:ext cx="5333695" cy="761695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571500"/>
            <a:ext cx="1143000" cy="38405"/>
          </a:xfrm>
          <a:prstGeom prst="rect">
            <a:avLst/>
          </a:prstGeom>
        </p:spPr>
      </p:pic>
      <p:pic>
        <p:nvPicPr>
          <p:cNvPr id="16" name="Image 2" descr="gen-dedup-4ea76848f94431a6b09605f7fc24e4d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838505" y="2018995"/>
            <a:ext cx="10287000" cy="5760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419295" y="3010205"/>
            <a:ext cx="6305702" cy="1009498"/>
          </a:xfrm>
          <a:prstGeom prst="rect">
            <a:avLst/>
          </a:prstGeom>
          <a:solidFill>
            <a:srgbClr val="14253A"/>
          </a:solidFill>
          <a:ln w="12700">
            <a:solidFill>
              <a:srgbClr val="2E7AA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123798" y="4572000"/>
            <a:ext cx="9715500" cy="437998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3" descr="gen-dedup-2d9eec431dcf378f748bdfe62f0e94b4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23798" y="5009998"/>
            <a:ext cx="9715500" cy="9144"/>
          </a:xfrm>
          <a:prstGeom prst="rect">
            <a:avLst/>
          </a:prstGeom>
        </p:spPr>
      </p:pic>
      <p:pic>
        <p:nvPicPr>
          <p:cNvPr id="20" name="Image 4" descr="gen-dedup-185db0d42bb611a1f0c8d10688cc131f.png">    </p:cNvPr>
          <p:cNvPicPr>
            <a:picLocks noChangeAspect="1"/>
          </p:cNvPicPr>
          <p:nvPr/>
        </p:nvPicPr>
        <p:blipFill>
          <a:blip r:embed="rId5"/>
          <a:srcRect l="0" r="0" t="-403" b="-403"/>
          <a:stretch/>
        </p:blipFill>
        <p:spPr>
          <a:xfrm>
            <a:off x="11505895" y="2018995"/>
            <a:ext cx="5905195" cy="57607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11792102" y="4762195"/>
            <a:ext cx="5333695" cy="381305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gen-dedup-938181985f6a51083eebbf29774db73b.png">    </p:cNvPr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11792102" y="5715000"/>
            <a:ext cx="5333695" cy="9144"/>
          </a:xfrm>
          <a:prstGeom prst="rect">
            <a:avLst/>
          </a:prstGeom>
        </p:spPr>
      </p:pic>
      <p:pic>
        <p:nvPicPr>
          <p:cNvPr id="23" name="Image 6" descr="gen-dedup-208e3c1db2ec408b78c5222320cd21a6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pic>
        <p:nvPicPr>
          <p:cNvPr id="24" name="Image 7" descr="gen-dedup-9d01abdf0260a0a74dd07161ea0b7e44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4419295" y="3981298"/>
            <a:ext cx="6286500" cy="9144"/>
          </a:xfrm>
          <a:prstGeom prst="rect">
            <a:avLst/>
          </a:prstGeom>
        </p:spPr>
      </p:pic>
      <p:pic>
        <p:nvPicPr>
          <p:cNvPr id="25" name="Image 8" descr="gen-dedup-361afdf2d3983f1895add6ea5a3d49a8.jpg">    </p:cNvPr>
          <p:cNvPicPr>
            <a:picLocks noChangeAspect="1"/>
          </p:cNvPicPr>
          <p:nvPr/>
        </p:nvPicPr>
        <p:blipFill>
          <a:blip r:embed="rId9"/>
          <a:srcRect l="0" r="0" t="25585" b="25585"/>
          <a:stretch/>
        </p:blipFill>
        <p:spPr>
          <a:xfrm>
            <a:off x="1218895" y="2838298"/>
            <a:ext cx="3047695" cy="1333195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743907" y="3924605"/>
            <a:ext cx="114300" cy="114300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5"/>
          <p:cNvSpPr/>
          <p:nvPr/>
        </p:nvSpPr>
        <p:spPr>
          <a:xfrm>
            <a:off x="5524805" y="3924605"/>
            <a:ext cx="114300" cy="114300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6"/>
          <p:cNvSpPr/>
          <p:nvPr/>
        </p:nvSpPr>
        <p:spPr>
          <a:xfrm>
            <a:off x="6305702" y="3924605"/>
            <a:ext cx="114300" cy="114300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17"/>
          <p:cNvSpPr/>
          <p:nvPr/>
        </p:nvSpPr>
        <p:spPr>
          <a:xfrm>
            <a:off x="7086600" y="3924605"/>
            <a:ext cx="114300" cy="114300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7867498" y="3924605"/>
            <a:ext cx="114300" cy="114300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8648395" y="3924605"/>
            <a:ext cx="114300" cy="114300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9430207" y="3924605"/>
            <a:ext cx="114300" cy="114300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10211105" y="3924605"/>
            <a:ext cx="114300" cy="114300"/>
          </a:xfrm>
          <a:prstGeom prst="ellipse">
            <a:avLst/>
          </a:prstGeom>
          <a:solidFill>
            <a:srgbClr val="2E7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gen-dedup-51a620c546471d47642229c46feb3610.jpg">    </p:cNvPr>
          <p:cNvPicPr>
            <a:picLocks noChangeAspect="1"/>
          </p:cNvPicPr>
          <p:nvPr/>
        </p:nvPicPr>
        <p:blipFill>
          <a:blip r:embed="rId10"/>
          <a:srcRect l="0" r="0" t="15074" b="15074"/>
          <a:stretch/>
        </p:blipFill>
        <p:spPr>
          <a:xfrm>
            <a:off x="11887200" y="2781605"/>
            <a:ext cx="1714500" cy="171450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838505" y="743407"/>
            <a:ext cx="1143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10 · TEM EDS LINE PROFILE &amp; EM MTTF</a:t>
            </a:r>
            <a:endParaRPr lang="en-US" sz="1650" dirty="0"/>
          </a:p>
        </p:txBody>
      </p:sp>
      <p:sp>
        <p:nvSpPr>
          <p:cNvPr id="36" name="Text 23"/>
          <p:cNvSpPr txBox="1"/>
          <p:nvPr/>
        </p:nvSpPr>
        <p:spPr>
          <a:xfrm>
            <a:off x="838505" y="1123798"/>
            <a:ext cx="161931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 EDS line profile + EM MTTF</a:t>
            </a:r>
            <a:endParaRPr lang="en-US" sz="3450" dirty="0"/>
          </a:p>
        </p:txBody>
      </p:sp>
      <p:sp>
        <p:nvSpPr>
          <p:cNvPr id="37" name="Text 24"/>
          <p:cNvSpPr txBox="1"/>
          <p:nvPr/>
        </p:nvSpPr>
        <p:spPr>
          <a:xfrm>
            <a:off x="1123798" y="2247595"/>
            <a:ext cx="272034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 EDS line profile</a:t>
            </a:r>
            <a:endParaRPr lang="en-US" sz="1800" dirty="0"/>
          </a:p>
        </p:txBody>
      </p:sp>
      <p:sp>
        <p:nvSpPr>
          <p:cNvPr id="38" name="Text 25"/>
          <p:cNvSpPr txBox="1"/>
          <p:nvPr/>
        </p:nvSpPr>
        <p:spPr>
          <a:xfrm>
            <a:off x="6915607" y="2343607"/>
            <a:ext cx="4114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across Cu / TaN / SiCOH · 8 probe points</a:t>
            </a:r>
            <a:endParaRPr lang="en-US" sz="1350" dirty="0"/>
          </a:p>
        </p:txBody>
      </p:sp>
      <p:sp>
        <p:nvSpPr>
          <p:cNvPr id="39" name="Text 26"/>
          <p:cNvSpPr txBox="1"/>
          <p:nvPr/>
        </p:nvSpPr>
        <p:spPr>
          <a:xfrm>
            <a:off x="1314907" y="4667098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Probe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2076602" y="46670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 (at%)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3314700" y="46670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 (at%)</a:t>
            </a:r>
            <a:endParaRPr lang="en-US" sz="1200" dirty="0"/>
          </a:p>
        </p:txBody>
      </p:sp>
      <p:sp>
        <p:nvSpPr>
          <p:cNvPr id="42" name="Text 29"/>
          <p:cNvSpPr txBox="1"/>
          <p:nvPr/>
        </p:nvSpPr>
        <p:spPr>
          <a:xfrm>
            <a:off x="4552798" y="46670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(at%)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5790895" y="46670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(at%)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7029907" y="46670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(at%)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8268005" y="4667098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1314907" y="5048402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P1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2076602" y="50484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3314700" y="50484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</a:t>
            </a:r>
            <a:endParaRPr lang="en-US" sz="1200" dirty="0"/>
          </a:p>
        </p:txBody>
      </p:sp>
      <p:sp>
        <p:nvSpPr>
          <p:cNvPr id="49" name="Text 36"/>
          <p:cNvSpPr txBox="1"/>
          <p:nvPr/>
        </p:nvSpPr>
        <p:spPr>
          <a:xfrm>
            <a:off x="4552798" y="50484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24.6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5790895" y="50484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39.2</a:t>
            </a:r>
            <a:endParaRPr lang="en-US" sz="1200" dirty="0"/>
          </a:p>
        </p:txBody>
      </p:sp>
      <p:sp>
        <p:nvSpPr>
          <p:cNvPr id="51" name="Text 38"/>
          <p:cNvSpPr txBox="1"/>
          <p:nvPr/>
        </p:nvSpPr>
        <p:spPr>
          <a:xfrm>
            <a:off x="7029907" y="50484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32.7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8268005" y="5048402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SiCOH bulk</a:t>
            </a:r>
            <a:endParaRPr lang="en-US" sz="1200" dirty="0"/>
          </a:p>
        </p:txBody>
      </p:sp>
      <p:sp>
        <p:nvSpPr>
          <p:cNvPr id="53" name="Text 40"/>
          <p:cNvSpPr txBox="1"/>
          <p:nvPr/>
        </p:nvSpPr>
        <p:spPr>
          <a:xfrm>
            <a:off x="1314907" y="5352898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P2</a:t>
            </a:r>
            <a:endParaRPr lang="en-US" sz="1200" dirty="0"/>
          </a:p>
        </p:txBody>
      </p:sp>
      <p:sp>
        <p:nvSpPr>
          <p:cNvPr id="54" name="Text 41"/>
          <p:cNvSpPr txBox="1"/>
          <p:nvPr/>
        </p:nvSpPr>
        <p:spPr>
          <a:xfrm>
            <a:off x="2076602" y="53528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2.8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3314700" y="53528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4552798" y="53528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25.4</a:t>
            </a:r>
            <a:endParaRPr lang="en-US" sz="1200" dirty="0"/>
          </a:p>
        </p:txBody>
      </p:sp>
      <p:sp>
        <p:nvSpPr>
          <p:cNvPr id="57" name="Text 44"/>
          <p:cNvSpPr txBox="1"/>
          <p:nvPr/>
        </p:nvSpPr>
        <p:spPr>
          <a:xfrm>
            <a:off x="5790895" y="53528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40.1</a:t>
            </a:r>
            <a:endParaRPr lang="en-US" sz="1200" dirty="0"/>
          </a:p>
        </p:txBody>
      </p:sp>
      <p:sp>
        <p:nvSpPr>
          <p:cNvPr id="58" name="Text 45"/>
          <p:cNvSpPr txBox="1"/>
          <p:nvPr/>
        </p:nvSpPr>
        <p:spPr>
          <a:xfrm>
            <a:off x="7029907" y="53528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31.1</a:t>
            </a:r>
            <a:endParaRPr lang="en-US" sz="1200" dirty="0"/>
          </a:p>
        </p:txBody>
      </p:sp>
      <p:sp>
        <p:nvSpPr>
          <p:cNvPr id="59" name="Text 46"/>
          <p:cNvSpPr txBox="1"/>
          <p:nvPr/>
        </p:nvSpPr>
        <p:spPr>
          <a:xfrm>
            <a:off x="8268005" y="5352898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SiCOH near barrier</a:t>
            </a:r>
            <a:endParaRPr lang="en-US" sz="1200" dirty="0"/>
          </a:p>
        </p:txBody>
      </p:sp>
      <p:sp>
        <p:nvSpPr>
          <p:cNvPr id="60" name="Text 47"/>
          <p:cNvSpPr txBox="1"/>
          <p:nvPr/>
        </p:nvSpPr>
        <p:spPr>
          <a:xfrm>
            <a:off x="1314907" y="5658307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P3</a:t>
            </a:r>
            <a:endParaRPr lang="en-US" sz="1200" dirty="0"/>
          </a:p>
        </p:txBody>
      </p:sp>
      <p:sp>
        <p:nvSpPr>
          <p:cNvPr id="61" name="Text 48"/>
          <p:cNvSpPr txBox="1"/>
          <p:nvPr/>
        </p:nvSpPr>
        <p:spPr>
          <a:xfrm>
            <a:off x="2076602" y="56583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</a:t>
            </a:r>
            <a:endParaRPr lang="en-US" sz="1200" dirty="0"/>
          </a:p>
        </p:txBody>
      </p:sp>
      <p:sp>
        <p:nvSpPr>
          <p:cNvPr id="62" name="Text 49"/>
          <p:cNvSpPr txBox="1"/>
          <p:nvPr/>
        </p:nvSpPr>
        <p:spPr>
          <a:xfrm>
            <a:off x="3314700" y="56583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14.8</a:t>
            </a:r>
            <a:endParaRPr lang="en-US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4552798" y="56583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18.7</a:t>
            </a:r>
            <a:endParaRPr lang="en-US" sz="1200" dirty="0"/>
          </a:p>
        </p:txBody>
      </p:sp>
      <p:sp>
        <p:nvSpPr>
          <p:cNvPr id="64" name="Text 51"/>
          <p:cNvSpPr txBox="1"/>
          <p:nvPr/>
        </p:nvSpPr>
        <p:spPr>
          <a:xfrm>
            <a:off x="5790895" y="56583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22.4</a:t>
            </a:r>
            <a:endParaRPr lang="en-US" sz="1200" dirty="0"/>
          </a:p>
        </p:txBody>
      </p:sp>
      <p:sp>
        <p:nvSpPr>
          <p:cNvPr id="65" name="Text 52"/>
          <p:cNvSpPr txBox="1"/>
          <p:nvPr/>
        </p:nvSpPr>
        <p:spPr>
          <a:xfrm>
            <a:off x="7029907" y="56583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39.9</a:t>
            </a:r>
            <a:endParaRPr lang="en-US" sz="1200" dirty="0"/>
          </a:p>
        </p:txBody>
      </p:sp>
      <p:sp>
        <p:nvSpPr>
          <p:cNvPr id="66" name="Text 53"/>
          <p:cNvSpPr txBox="1"/>
          <p:nvPr/>
        </p:nvSpPr>
        <p:spPr>
          <a:xfrm>
            <a:off x="8268005" y="5658307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 barrier</a:t>
            </a:r>
            <a:endParaRPr lang="en-US" sz="1200" dirty="0"/>
          </a:p>
        </p:txBody>
      </p:sp>
      <p:sp>
        <p:nvSpPr>
          <p:cNvPr id="67" name="Text 54"/>
          <p:cNvSpPr txBox="1"/>
          <p:nvPr/>
        </p:nvSpPr>
        <p:spPr>
          <a:xfrm>
            <a:off x="1314907" y="5962802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P4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2076602" y="59628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8.6</a:t>
            </a:r>
            <a:endParaRPr lang="en-US" sz="1200" dirty="0"/>
          </a:p>
        </p:txBody>
      </p:sp>
      <p:sp>
        <p:nvSpPr>
          <p:cNvPr id="69" name="Text 56"/>
          <p:cNvSpPr txBox="1"/>
          <p:nvPr/>
        </p:nvSpPr>
        <p:spPr>
          <a:xfrm>
            <a:off x="3314700" y="59628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5.9</a:t>
            </a:r>
            <a:endParaRPr lang="en-US" sz="1200" dirty="0"/>
          </a:p>
        </p:txBody>
      </p:sp>
      <p:sp>
        <p:nvSpPr>
          <p:cNvPr id="70" name="Text 57"/>
          <p:cNvSpPr txBox="1"/>
          <p:nvPr/>
        </p:nvSpPr>
        <p:spPr>
          <a:xfrm>
            <a:off x="4552798" y="59628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22.1</a:t>
            </a:r>
            <a:endParaRPr lang="en-US" sz="1200" dirty="0"/>
          </a:p>
        </p:txBody>
      </p:sp>
      <p:sp>
        <p:nvSpPr>
          <p:cNvPr id="71" name="Text 58"/>
          <p:cNvSpPr txBox="1"/>
          <p:nvPr/>
        </p:nvSpPr>
        <p:spPr>
          <a:xfrm>
            <a:off x="5790895" y="59628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31.4</a:t>
            </a:r>
            <a:endParaRPr lang="en-US" sz="1200" dirty="0"/>
          </a:p>
        </p:txBody>
      </p:sp>
      <p:sp>
        <p:nvSpPr>
          <p:cNvPr id="72" name="Text 59"/>
          <p:cNvSpPr txBox="1"/>
          <p:nvPr/>
        </p:nvSpPr>
        <p:spPr>
          <a:xfrm>
            <a:off x="7029907" y="59628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32.0</a:t>
            </a:r>
            <a:endParaRPr lang="en-US" sz="1200" dirty="0"/>
          </a:p>
        </p:txBody>
      </p:sp>
      <p:sp>
        <p:nvSpPr>
          <p:cNvPr id="73" name="Text 60"/>
          <p:cNvSpPr txBox="1"/>
          <p:nvPr/>
        </p:nvSpPr>
        <p:spPr>
          <a:xfrm>
            <a:off x="8268005" y="5962802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 → Cu trans</a:t>
            </a:r>
            <a:endParaRPr lang="en-US" sz="1200" dirty="0"/>
          </a:p>
        </p:txBody>
      </p:sp>
      <p:sp>
        <p:nvSpPr>
          <p:cNvPr id="74" name="Text 61"/>
          <p:cNvSpPr txBox="1"/>
          <p:nvPr/>
        </p:nvSpPr>
        <p:spPr>
          <a:xfrm>
            <a:off x="1314907" y="6267298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P5</a:t>
            </a:r>
            <a:endParaRPr lang="en-US" sz="1200" dirty="0"/>
          </a:p>
        </p:txBody>
      </p:sp>
      <p:sp>
        <p:nvSpPr>
          <p:cNvPr id="75" name="Text 62"/>
          <p:cNvSpPr txBox="1"/>
          <p:nvPr/>
        </p:nvSpPr>
        <p:spPr>
          <a:xfrm>
            <a:off x="2076602" y="62672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94.2</a:t>
            </a:r>
            <a:endParaRPr lang="en-US" sz="1200" dirty="0"/>
          </a:p>
        </p:txBody>
      </p:sp>
      <p:sp>
        <p:nvSpPr>
          <p:cNvPr id="76" name="Text 63"/>
          <p:cNvSpPr txBox="1"/>
          <p:nvPr/>
        </p:nvSpPr>
        <p:spPr>
          <a:xfrm>
            <a:off x="3314700" y="62672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</a:t>
            </a:r>
            <a:endParaRPr lang="en-US" sz="1200" dirty="0"/>
          </a:p>
        </p:txBody>
      </p:sp>
      <p:sp>
        <p:nvSpPr>
          <p:cNvPr id="77" name="Text 64"/>
          <p:cNvSpPr txBox="1"/>
          <p:nvPr/>
        </p:nvSpPr>
        <p:spPr>
          <a:xfrm>
            <a:off x="4552798" y="62672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</a:t>
            </a:r>
            <a:endParaRPr lang="en-US" sz="1200" dirty="0"/>
          </a:p>
        </p:txBody>
      </p:sp>
      <p:sp>
        <p:nvSpPr>
          <p:cNvPr id="78" name="Text 65"/>
          <p:cNvSpPr txBox="1"/>
          <p:nvPr/>
        </p:nvSpPr>
        <p:spPr>
          <a:xfrm>
            <a:off x="5790895" y="62672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</a:t>
            </a:r>
            <a:endParaRPr lang="en-US" sz="1200" dirty="0"/>
          </a:p>
        </p:txBody>
      </p:sp>
      <p:sp>
        <p:nvSpPr>
          <p:cNvPr id="79" name="Text 66"/>
          <p:cNvSpPr txBox="1"/>
          <p:nvPr/>
        </p:nvSpPr>
        <p:spPr>
          <a:xfrm>
            <a:off x="7029907" y="62672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</a:t>
            </a:r>
            <a:endParaRPr lang="en-US" sz="1200" dirty="0"/>
          </a:p>
        </p:txBody>
      </p:sp>
      <p:sp>
        <p:nvSpPr>
          <p:cNvPr id="80" name="Text 67"/>
          <p:cNvSpPr txBox="1"/>
          <p:nvPr/>
        </p:nvSpPr>
        <p:spPr>
          <a:xfrm>
            <a:off x="8268005" y="6267298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7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bulk</a:t>
            </a:r>
            <a:endParaRPr lang="en-US" sz="1200" dirty="0"/>
          </a:p>
        </p:txBody>
      </p:sp>
      <p:sp>
        <p:nvSpPr>
          <p:cNvPr id="81" name="Text 68"/>
          <p:cNvSpPr txBox="1"/>
          <p:nvPr/>
        </p:nvSpPr>
        <p:spPr>
          <a:xfrm>
            <a:off x="1314907" y="6572707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P6</a:t>
            </a:r>
            <a:endParaRPr lang="en-US" sz="1200" dirty="0"/>
          </a:p>
        </p:txBody>
      </p:sp>
      <p:sp>
        <p:nvSpPr>
          <p:cNvPr id="82" name="Text 69"/>
          <p:cNvSpPr txBox="1"/>
          <p:nvPr/>
        </p:nvSpPr>
        <p:spPr>
          <a:xfrm>
            <a:off x="2076602" y="65727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92.8</a:t>
            </a:r>
            <a:endParaRPr lang="en-US" sz="1200" dirty="0"/>
          </a:p>
        </p:txBody>
      </p:sp>
      <p:sp>
        <p:nvSpPr>
          <p:cNvPr id="83" name="Text 70"/>
          <p:cNvSpPr txBox="1"/>
          <p:nvPr/>
        </p:nvSpPr>
        <p:spPr>
          <a:xfrm>
            <a:off x="3314700" y="65727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1200" dirty="0"/>
          </a:p>
        </p:txBody>
      </p:sp>
      <p:sp>
        <p:nvSpPr>
          <p:cNvPr id="84" name="Text 71"/>
          <p:cNvSpPr txBox="1"/>
          <p:nvPr/>
        </p:nvSpPr>
        <p:spPr>
          <a:xfrm>
            <a:off x="4552798" y="65727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</a:t>
            </a:r>
            <a:endParaRPr lang="en-US" sz="1200" dirty="0"/>
          </a:p>
        </p:txBody>
      </p:sp>
      <p:sp>
        <p:nvSpPr>
          <p:cNvPr id="85" name="Text 72"/>
          <p:cNvSpPr txBox="1"/>
          <p:nvPr/>
        </p:nvSpPr>
        <p:spPr>
          <a:xfrm>
            <a:off x="5790895" y="65727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2.6</a:t>
            </a:r>
            <a:endParaRPr lang="en-US" sz="1200" dirty="0"/>
          </a:p>
        </p:txBody>
      </p:sp>
      <p:sp>
        <p:nvSpPr>
          <p:cNvPr id="86" name="Text 73"/>
          <p:cNvSpPr txBox="1"/>
          <p:nvPr/>
        </p:nvSpPr>
        <p:spPr>
          <a:xfrm>
            <a:off x="7029907" y="6572707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200" dirty="0"/>
          </a:p>
        </p:txBody>
      </p:sp>
      <p:sp>
        <p:nvSpPr>
          <p:cNvPr id="87" name="Text 74"/>
          <p:cNvSpPr txBox="1"/>
          <p:nvPr/>
        </p:nvSpPr>
        <p:spPr>
          <a:xfrm>
            <a:off x="8268005" y="6572707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bulk</a:t>
            </a:r>
            <a:endParaRPr lang="en-US" sz="1200" dirty="0"/>
          </a:p>
        </p:txBody>
      </p:sp>
      <p:sp>
        <p:nvSpPr>
          <p:cNvPr id="88" name="Text 75"/>
          <p:cNvSpPr txBox="1"/>
          <p:nvPr/>
        </p:nvSpPr>
        <p:spPr>
          <a:xfrm>
            <a:off x="1314907" y="6877202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P7</a:t>
            </a:r>
            <a:endParaRPr lang="en-US" sz="1200" dirty="0"/>
          </a:p>
        </p:txBody>
      </p:sp>
      <p:sp>
        <p:nvSpPr>
          <p:cNvPr id="89" name="Text 76"/>
          <p:cNvSpPr txBox="1"/>
          <p:nvPr/>
        </p:nvSpPr>
        <p:spPr>
          <a:xfrm>
            <a:off x="2076602" y="68772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76.4</a:t>
            </a:r>
            <a:endParaRPr lang="en-US" sz="1200" dirty="0"/>
          </a:p>
        </p:txBody>
      </p:sp>
      <p:sp>
        <p:nvSpPr>
          <p:cNvPr id="90" name="Text 77"/>
          <p:cNvSpPr txBox="1"/>
          <p:nvPr/>
        </p:nvSpPr>
        <p:spPr>
          <a:xfrm>
            <a:off x="3314700" y="68772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3.8</a:t>
            </a:r>
            <a:endParaRPr lang="en-US" sz="1200" dirty="0"/>
          </a:p>
        </p:txBody>
      </p:sp>
      <p:sp>
        <p:nvSpPr>
          <p:cNvPr id="91" name="Text 78"/>
          <p:cNvSpPr txBox="1"/>
          <p:nvPr/>
        </p:nvSpPr>
        <p:spPr>
          <a:xfrm>
            <a:off x="4552798" y="68772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6.2</a:t>
            </a:r>
            <a:endParaRPr lang="en-US" sz="1200" dirty="0"/>
          </a:p>
        </p:txBody>
      </p:sp>
      <p:sp>
        <p:nvSpPr>
          <p:cNvPr id="92" name="Text 79"/>
          <p:cNvSpPr txBox="1"/>
          <p:nvPr/>
        </p:nvSpPr>
        <p:spPr>
          <a:xfrm>
            <a:off x="5790895" y="68772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</a:t>
            </a:r>
            <a:endParaRPr lang="en-US" sz="1200" dirty="0"/>
          </a:p>
        </p:txBody>
      </p:sp>
      <p:sp>
        <p:nvSpPr>
          <p:cNvPr id="93" name="Text 80"/>
          <p:cNvSpPr txBox="1"/>
          <p:nvPr/>
        </p:nvSpPr>
        <p:spPr>
          <a:xfrm>
            <a:off x="7029907" y="6877202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8.0</a:t>
            </a:r>
            <a:endParaRPr lang="en-US" sz="1200" dirty="0"/>
          </a:p>
        </p:txBody>
      </p:sp>
      <p:sp>
        <p:nvSpPr>
          <p:cNvPr id="94" name="Text 81"/>
          <p:cNvSpPr txBox="1"/>
          <p:nvPr/>
        </p:nvSpPr>
        <p:spPr>
          <a:xfrm>
            <a:off x="8268005" y="6877202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89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→ TaN near-cap</a:t>
            </a:r>
            <a:endParaRPr lang="en-US" sz="1200" dirty="0"/>
          </a:p>
        </p:txBody>
      </p:sp>
      <p:sp>
        <p:nvSpPr>
          <p:cNvPr id="95" name="Text 82"/>
          <p:cNvSpPr txBox="1"/>
          <p:nvPr/>
        </p:nvSpPr>
        <p:spPr>
          <a:xfrm>
            <a:off x="1314907" y="7181698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P8</a:t>
            </a:r>
            <a:endParaRPr lang="en-US" sz="1200" dirty="0"/>
          </a:p>
        </p:txBody>
      </p:sp>
      <p:sp>
        <p:nvSpPr>
          <p:cNvPr id="96" name="Text 83"/>
          <p:cNvSpPr txBox="1"/>
          <p:nvPr/>
        </p:nvSpPr>
        <p:spPr>
          <a:xfrm>
            <a:off x="2076602" y="71816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7.1</a:t>
            </a:r>
            <a:endParaRPr lang="en-US" sz="1200" dirty="0"/>
          </a:p>
        </p:txBody>
      </p:sp>
      <p:sp>
        <p:nvSpPr>
          <p:cNvPr id="97" name="Text 84"/>
          <p:cNvSpPr txBox="1"/>
          <p:nvPr/>
        </p:nvSpPr>
        <p:spPr>
          <a:xfrm>
            <a:off x="3314700" y="71816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2.6</a:t>
            </a:r>
            <a:endParaRPr lang="en-US" sz="1200" dirty="0"/>
          </a:p>
        </p:txBody>
      </p:sp>
      <p:sp>
        <p:nvSpPr>
          <p:cNvPr id="98" name="Text 85"/>
          <p:cNvSpPr txBox="1"/>
          <p:nvPr/>
        </p:nvSpPr>
        <p:spPr>
          <a:xfrm>
            <a:off x="4552798" y="71816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19.4</a:t>
            </a:r>
            <a:endParaRPr lang="en-US" sz="1200" dirty="0"/>
          </a:p>
        </p:txBody>
      </p:sp>
      <p:sp>
        <p:nvSpPr>
          <p:cNvPr id="99" name="Text 86"/>
          <p:cNvSpPr txBox="1"/>
          <p:nvPr/>
        </p:nvSpPr>
        <p:spPr>
          <a:xfrm>
            <a:off x="5790895" y="71816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28.3</a:t>
            </a:r>
            <a:endParaRPr lang="en-US" sz="1200" dirty="0"/>
          </a:p>
        </p:txBody>
      </p:sp>
      <p:sp>
        <p:nvSpPr>
          <p:cNvPr id="100" name="Text 87"/>
          <p:cNvSpPr txBox="1"/>
          <p:nvPr/>
        </p:nvSpPr>
        <p:spPr>
          <a:xfrm>
            <a:off x="7029907" y="7181698"/>
            <a:ext cx="1239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42.6</a:t>
            </a:r>
            <a:endParaRPr lang="en-US" sz="1200" dirty="0"/>
          </a:p>
        </p:txBody>
      </p:sp>
      <p:sp>
        <p:nvSpPr>
          <p:cNvPr id="101" name="Text 88"/>
          <p:cNvSpPr txBox="1"/>
          <p:nvPr/>
        </p:nvSpPr>
        <p:spPr>
          <a:xfrm>
            <a:off x="8268005" y="7181698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cap</a:t>
            </a:r>
            <a:endParaRPr lang="en-US" sz="1200" dirty="0"/>
          </a:p>
        </p:txBody>
      </p:sp>
      <p:sp>
        <p:nvSpPr>
          <p:cNvPr id="102" name="Text 89"/>
          <p:cNvSpPr txBox="1"/>
          <p:nvPr/>
        </p:nvSpPr>
        <p:spPr>
          <a:xfrm>
            <a:off x="1123798" y="7848295"/>
            <a:ext cx="10401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probe step 7 nm · accelerating V 200 kV · drift-corrected · 출처 · Nature Sci Rep · TaxMnyOz barrier (참조 micrograph)</a:t>
            </a:r>
            <a:endParaRPr lang="en-US" sz="1200" dirty="0"/>
          </a:p>
        </p:txBody>
      </p:sp>
      <p:sp>
        <p:nvSpPr>
          <p:cNvPr id="103" name="Text 90"/>
          <p:cNvSpPr txBox="1"/>
          <p:nvPr/>
        </p:nvSpPr>
        <p:spPr>
          <a:xfrm>
            <a:off x="11792102" y="2247595"/>
            <a:ext cx="5334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 MTTF — split × stress</a:t>
            </a:r>
            <a:endParaRPr lang="en-US" sz="1650" dirty="0"/>
          </a:p>
        </p:txBody>
      </p:sp>
      <p:sp>
        <p:nvSpPr>
          <p:cNvPr id="104" name="Text 91"/>
          <p:cNvSpPr txBox="1"/>
          <p:nvPr/>
        </p:nvSpPr>
        <p:spPr>
          <a:xfrm>
            <a:off x="13887907" y="2717597"/>
            <a:ext cx="3238805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 °C · 0.2 MA/cm²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down-flow · 10 k 结构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log-normal fitting</a:t>
            </a:r>
            <a:endParaRPr lang="en-US" sz="1350" dirty="0"/>
          </a:p>
        </p:txBody>
      </p:sp>
      <p:sp>
        <p:nvSpPr>
          <p:cNvPr id="105" name="Text 92"/>
          <p:cNvSpPr txBox="1"/>
          <p:nvPr/>
        </p:nvSpPr>
        <p:spPr>
          <a:xfrm>
            <a:off x="13887907" y="3905402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ScienceDirect · EM reliability review (figure 참조)</a:t>
            </a:r>
            <a:endParaRPr lang="en-US" sz="1200" dirty="0"/>
          </a:p>
        </p:txBody>
      </p:sp>
      <p:sp>
        <p:nvSpPr>
          <p:cNvPr id="106" name="Text 93"/>
          <p:cNvSpPr txBox="1"/>
          <p:nvPr/>
        </p:nvSpPr>
        <p:spPr>
          <a:xfrm>
            <a:off x="11887200" y="4819802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1050" dirty="0"/>
          </a:p>
        </p:txBody>
      </p:sp>
      <p:sp>
        <p:nvSpPr>
          <p:cNvPr id="107" name="Text 94"/>
          <p:cNvSpPr txBox="1"/>
          <p:nvPr/>
        </p:nvSpPr>
        <p:spPr>
          <a:xfrm>
            <a:off x="13030200" y="4819802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 = 0.2 MA/cm²</a:t>
            </a:r>
            <a:endParaRPr lang="en-US" sz="1050" dirty="0"/>
          </a:p>
        </p:txBody>
      </p:sp>
      <p:sp>
        <p:nvSpPr>
          <p:cNvPr id="108" name="Text 95"/>
          <p:cNvSpPr txBox="1"/>
          <p:nvPr/>
        </p:nvSpPr>
        <p:spPr>
          <a:xfrm>
            <a:off x="14363395" y="4819802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 = 0.4 MA/cm²</a:t>
            </a:r>
            <a:endParaRPr lang="en-US" sz="1050" dirty="0"/>
          </a:p>
        </p:txBody>
      </p:sp>
      <p:sp>
        <p:nvSpPr>
          <p:cNvPr id="109" name="Text 96"/>
          <p:cNvSpPr txBox="1"/>
          <p:nvPr/>
        </p:nvSpPr>
        <p:spPr>
          <a:xfrm>
            <a:off x="15697505" y="4819802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 = 0.8 MA/cm²</a:t>
            </a:r>
            <a:endParaRPr lang="en-US" sz="1050" dirty="0"/>
          </a:p>
        </p:txBody>
      </p:sp>
      <p:sp>
        <p:nvSpPr>
          <p:cNvPr id="110" name="Text 97"/>
          <p:cNvSpPr txBox="1"/>
          <p:nvPr/>
        </p:nvSpPr>
        <p:spPr>
          <a:xfrm>
            <a:off x="11887200" y="5219395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111" name="Text 98"/>
          <p:cNvSpPr txBox="1"/>
          <p:nvPr/>
        </p:nvSpPr>
        <p:spPr>
          <a:xfrm>
            <a:off x="11887200" y="5447995"/>
            <a:ext cx="1143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σ</a:t>
            </a:r>
            <a:endParaRPr lang="en-US" sz="900" dirty="0"/>
          </a:p>
        </p:txBody>
      </p:sp>
      <p:sp>
        <p:nvSpPr>
          <p:cNvPr id="112" name="Text 99"/>
          <p:cNvSpPr txBox="1"/>
          <p:nvPr/>
        </p:nvSpPr>
        <p:spPr>
          <a:xfrm>
            <a:off x="13030200" y="5219395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44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412 h</a:t>
            </a:r>
            <a:endParaRPr lang="en-US" sz="1350" dirty="0"/>
          </a:p>
        </p:txBody>
      </p:sp>
      <p:sp>
        <p:nvSpPr>
          <p:cNvPr id="113" name="Text 100"/>
          <p:cNvSpPr txBox="1"/>
          <p:nvPr/>
        </p:nvSpPr>
        <p:spPr>
          <a:xfrm>
            <a:off x="13030200" y="5447995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0.72</a:t>
            </a:r>
            <a:endParaRPr lang="en-US" sz="900" dirty="0"/>
          </a:p>
        </p:txBody>
      </p:sp>
      <p:sp>
        <p:nvSpPr>
          <p:cNvPr id="114" name="Text 101"/>
          <p:cNvSpPr txBox="1"/>
          <p:nvPr/>
        </p:nvSpPr>
        <p:spPr>
          <a:xfrm>
            <a:off x="14363395" y="5219395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44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118 h</a:t>
            </a:r>
            <a:endParaRPr lang="en-US" sz="1350" dirty="0"/>
          </a:p>
        </p:txBody>
      </p:sp>
      <p:sp>
        <p:nvSpPr>
          <p:cNvPr id="115" name="Text 102"/>
          <p:cNvSpPr txBox="1"/>
          <p:nvPr/>
        </p:nvSpPr>
        <p:spPr>
          <a:xfrm>
            <a:off x="14363395" y="5447995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0.68</a:t>
            </a:r>
            <a:endParaRPr lang="en-US" sz="900" dirty="0"/>
          </a:p>
        </p:txBody>
      </p:sp>
      <p:sp>
        <p:nvSpPr>
          <p:cNvPr id="116" name="Text 103"/>
          <p:cNvSpPr txBox="1"/>
          <p:nvPr/>
        </p:nvSpPr>
        <p:spPr>
          <a:xfrm>
            <a:off x="15697505" y="5219395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h</a:t>
            </a:r>
            <a:endParaRPr lang="en-US" sz="1350" dirty="0"/>
          </a:p>
        </p:txBody>
      </p:sp>
      <p:sp>
        <p:nvSpPr>
          <p:cNvPr id="117" name="Text 104"/>
          <p:cNvSpPr txBox="1"/>
          <p:nvPr/>
        </p:nvSpPr>
        <p:spPr>
          <a:xfrm>
            <a:off x="15697505" y="5447995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0.61</a:t>
            </a:r>
            <a:endParaRPr lang="en-US" sz="900" dirty="0"/>
          </a:p>
        </p:txBody>
      </p:sp>
      <p:sp>
        <p:nvSpPr>
          <p:cNvPr id="118" name="Text 105"/>
          <p:cNvSpPr txBox="1"/>
          <p:nvPr/>
        </p:nvSpPr>
        <p:spPr>
          <a:xfrm>
            <a:off x="11887200" y="5790895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200" dirty="0"/>
          </a:p>
        </p:txBody>
      </p:sp>
      <p:sp>
        <p:nvSpPr>
          <p:cNvPr id="119" name="Text 106"/>
          <p:cNvSpPr txBox="1"/>
          <p:nvPr/>
        </p:nvSpPr>
        <p:spPr>
          <a:xfrm>
            <a:off x="11887200" y="6019495"/>
            <a:ext cx="1143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σ</a:t>
            </a:r>
            <a:endParaRPr lang="en-US" sz="900" dirty="0"/>
          </a:p>
        </p:txBody>
      </p:sp>
      <p:sp>
        <p:nvSpPr>
          <p:cNvPr id="120" name="Text 107"/>
          <p:cNvSpPr txBox="1"/>
          <p:nvPr/>
        </p:nvSpPr>
        <p:spPr>
          <a:xfrm>
            <a:off x="13030200" y="5790895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648 h</a:t>
            </a:r>
            <a:endParaRPr lang="en-US" sz="1350" dirty="0"/>
          </a:p>
        </p:txBody>
      </p:sp>
      <p:sp>
        <p:nvSpPr>
          <p:cNvPr id="121" name="Text 108"/>
          <p:cNvSpPr txBox="1"/>
          <p:nvPr/>
        </p:nvSpPr>
        <p:spPr>
          <a:xfrm>
            <a:off x="13030200" y="6019495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0.74</a:t>
            </a:r>
            <a:endParaRPr lang="en-US" sz="900" dirty="0"/>
          </a:p>
        </p:txBody>
      </p:sp>
      <p:sp>
        <p:nvSpPr>
          <p:cNvPr id="122" name="Text 109"/>
          <p:cNvSpPr txBox="1"/>
          <p:nvPr/>
        </p:nvSpPr>
        <p:spPr>
          <a:xfrm>
            <a:off x="14363395" y="5790895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589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192 h</a:t>
            </a:r>
            <a:endParaRPr lang="en-US" sz="1350" dirty="0"/>
          </a:p>
        </p:txBody>
      </p:sp>
      <p:sp>
        <p:nvSpPr>
          <p:cNvPr id="123" name="Text 110"/>
          <p:cNvSpPr txBox="1"/>
          <p:nvPr/>
        </p:nvSpPr>
        <p:spPr>
          <a:xfrm>
            <a:off x="14363395" y="6019495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0.71</a:t>
            </a:r>
            <a:endParaRPr lang="en-US" sz="900" dirty="0"/>
          </a:p>
        </p:txBody>
      </p:sp>
      <p:sp>
        <p:nvSpPr>
          <p:cNvPr id="124" name="Text 111"/>
          <p:cNvSpPr txBox="1"/>
          <p:nvPr/>
        </p:nvSpPr>
        <p:spPr>
          <a:xfrm>
            <a:off x="15697505" y="5790895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44 h</a:t>
            </a:r>
            <a:endParaRPr lang="en-US" sz="1350" dirty="0"/>
          </a:p>
        </p:txBody>
      </p:sp>
      <p:sp>
        <p:nvSpPr>
          <p:cNvPr id="125" name="Text 112"/>
          <p:cNvSpPr txBox="1"/>
          <p:nvPr/>
        </p:nvSpPr>
        <p:spPr>
          <a:xfrm>
            <a:off x="15697505" y="6019495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0.66</a:t>
            </a:r>
            <a:endParaRPr lang="en-US" sz="900" dirty="0"/>
          </a:p>
        </p:txBody>
      </p:sp>
      <p:sp>
        <p:nvSpPr>
          <p:cNvPr id="126" name="Text 113"/>
          <p:cNvSpPr txBox="1"/>
          <p:nvPr/>
        </p:nvSpPr>
        <p:spPr>
          <a:xfrm>
            <a:off x="11887200" y="6286500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127" name="Text 114"/>
          <p:cNvSpPr txBox="1"/>
          <p:nvPr/>
        </p:nvSpPr>
        <p:spPr>
          <a:xfrm>
            <a:off x="11887200" y="6515100"/>
            <a:ext cx="1143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σ</a:t>
            </a:r>
            <a:endParaRPr lang="en-US" sz="900" dirty="0"/>
          </a:p>
        </p:txBody>
      </p:sp>
      <p:sp>
        <p:nvSpPr>
          <p:cNvPr id="128" name="Text 115"/>
          <p:cNvSpPr txBox="1"/>
          <p:nvPr/>
        </p:nvSpPr>
        <p:spPr>
          <a:xfrm>
            <a:off x="13030200" y="6286500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912 h</a:t>
            </a:r>
            <a:endParaRPr lang="en-US" sz="1350" dirty="0"/>
          </a:p>
        </p:txBody>
      </p:sp>
      <p:sp>
        <p:nvSpPr>
          <p:cNvPr id="129" name="Text 116"/>
          <p:cNvSpPr txBox="1"/>
          <p:nvPr/>
        </p:nvSpPr>
        <p:spPr>
          <a:xfrm>
            <a:off x="13030200" y="6515100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0.81</a:t>
            </a:r>
            <a:endParaRPr lang="en-US" sz="900" dirty="0"/>
          </a:p>
        </p:txBody>
      </p:sp>
      <p:sp>
        <p:nvSpPr>
          <p:cNvPr id="130" name="Text 117"/>
          <p:cNvSpPr txBox="1"/>
          <p:nvPr/>
        </p:nvSpPr>
        <p:spPr>
          <a:xfrm>
            <a:off x="14363395" y="6286500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F7D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268 h</a:t>
            </a:r>
            <a:endParaRPr lang="en-US" sz="1350" dirty="0"/>
          </a:p>
        </p:txBody>
      </p:sp>
      <p:sp>
        <p:nvSpPr>
          <p:cNvPr id="131" name="Text 118"/>
          <p:cNvSpPr txBox="1"/>
          <p:nvPr/>
        </p:nvSpPr>
        <p:spPr>
          <a:xfrm>
            <a:off x="14363395" y="6515100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0.78</a:t>
            </a:r>
            <a:endParaRPr lang="en-US" sz="900" dirty="0"/>
          </a:p>
        </p:txBody>
      </p:sp>
      <p:sp>
        <p:nvSpPr>
          <p:cNvPr id="132" name="Text 119"/>
          <p:cNvSpPr txBox="1"/>
          <p:nvPr/>
        </p:nvSpPr>
        <p:spPr>
          <a:xfrm>
            <a:off x="15697505" y="6286500"/>
            <a:ext cx="133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62 h</a:t>
            </a:r>
            <a:endParaRPr lang="en-US" sz="1350" dirty="0"/>
          </a:p>
        </p:txBody>
      </p:sp>
      <p:sp>
        <p:nvSpPr>
          <p:cNvPr id="133" name="Text 120"/>
          <p:cNvSpPr txBox="1"/>
          <p:nvPr/>
        </p:nvSpPr>
        <p:spPr>
          <a:xfrm>
            <a:off x="15697505" y="6515100"/>
            <a:ext cx="1334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0.74</a:t>
            </a:r>
            <a:endParaRPr lang="en-US" sz="900" dirty="0"/>
          </a:p>
        </p:txBody>
      </p:sp>
      <p:sp>
        <p:nvSpPr>
          <p:cNvPr id="134" name="Text 121"/>
          <p:cNvSpPr txBox="1"/>
          <p:nvPr/>
        </p:nvSpPr>
        <p:spPr>
          <a:xfrm>
            <a:off x="11982298" y="7905902"/>
            <a:ext cx="5143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135" name="Text 122"/>
          <p:cNvSpPr txBox="1"/>
          <p:nvPr/>
        </p:nvSpPr>
        <p:spPr>
          <a:xfrm>
            <a:off x="11982298" y="8134502"/>
            <a:ext cx="5143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≥ 1000 h @ 0.2 MA/cm²</a:t>
            </a:r>
            <a:endParaRPr lang="en-US" sz="1350" dirty="0"/>
          </a:p>
        </p:txBody>
      </p:sp>
      <p:sp>
        <p:nvSpPr>
          <p:cNvPr id="136" name="Text 123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8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cb16e45d8a70156eac3024e823a64e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505" y="2018995"/>
            <a:ext cx="32580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496105" y="2018995"/>
            <a:ext cx="32580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153705" y="2018995"/>
            <a:ext cx="32580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811305" y="2018995"/>
            <a:ext cx="32580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505" y="5143500"/>
            <a:ext cx="7448702" cy="3829507"/>
          </a:xfrm>
          <a:prstGeom prst="rect">
            <a:avLst/>
          </a:prstGeom>
          <a:solidFill>
            <a:srgbClr val="FFFFFF"/>
          </a:solidFill>
          <a:ln w="12700">
            <a:solidFill>
              <a:srgbClr val="B5C2D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5143500"/>
            <a:ext cx="8762695" cy="3810305"/>
          </a:xfrm>
          <a:prstGeom prst="rect">
            <a:avLst/>
          </a:prstGeom>
          <a:solidFill>
            <a:srgbClr val="142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f5e5914133fa89606343589addb8c1a3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38505" y="571500"/>
            <a:ext cx="1143000" cy="38405"/>
          </a:xfrm>
          <a:prstGeom prst="rect">
            <a:avLst/>
          </a:prstGeom>
        </p:spPr>
      </p:pic>
      <p:pic>
        <p:nvPicPr>
          <p:cNvPr id="11" name="Image 2" descr="gen-dedup-0608784578e07e1457ad38cf34f469f1.png">    </p:cNvPr>
          <p:cNvPicPr>
            <a:picLocks noChangeAspect="1"/>
          </p:cNvPicPr>
          <p:nvPr/>
        </p:nvPicPr>
        <p:blipFill>
          <a:blip r:embed="rId3"/>
          <a:srcRect l="0" r="0" t="-395" b="-395"/>
          <a:stretch/>
        </p:blipFill>
        <p:spPr>
          <a:xfrm>
            <a:off x="838505" y="2018995"/>
            <a:ext cx="3238805" cy="57607"/>
          </a:xfrm>
          <a:prstGeom prst="rect">
            <a:avLst/>
          </a:prstGeom>
        </p:spPr>
      </p:pic>
      <p:pic>
        <p:nvPicPr>
          <p:cNvPr id="12" name="Image 3" descr="gen-dedup-7df03fcb5e3aa878ffdde17427e87901.png">    </p:cNvPr>
          <p:cNvPicPr>
            <a:picLocks noChangeAspect="1"/>
          </p:cNvPicPr>
          <p:nvPr/>
        </p:nvPicPr>
        <p:blipFill>
          <a:blip r:embed="rId4"/>
          <a:srcRect l="0" r="0" t="-395" b="-395"/>
          <a:stretch/>
        </p:blipFill>
        <p:spPr>
          <a:xfrm>
            <a:off x="4496105" y="2018995"/>
            <a:ext cx="3238805" cy="57607"/>
          </a:xfrm>
          <a:prstGeom prst="rect">
            <a:avLst/>
          </a:prstGeom>
        </p:spPr>
      </p:pic>
      <p:pic>
        <p:nvPicPr>
          <p:cNvPr id="13" name="Image 4" descr="gen-dedup-81f4d168bc18f146bb538acef193dbc4.png">    </p:cNvPr>
          <p:cNvPicPr>
            <a:picLocks noChangeAspect="1"/>
          </p:cNvPicPr>
          <p:nvPr/>
        </p:nvPicPr>
        <p:blipFill>
          <a:blip r:embed="rId5"/>
          <a:srcRect l="0" r="0" t="-395" b="-395"/>
          <a:stretch/>
        </p:blipFill>
        <p:spPr>
          <a:xfrm>
            <a:off x="8153705" y="2018995"/>
            <a:ext cx="3238805" cy="57607"/>
          </a:xfrm>
          <a:prstGeom prst="rect">
            <a:avLst/>
          </a:prstGeom>
        </p:spPr>
      </p:pic>
      <p:pic>
        <p:nvPicPr>
          <p:cNvPr id="14" name="Image 5" descr="gen-dedup-bd0870643466adefea90c0fc4b7184e1.png">    </p:cNvPr>
          <p:cNvPicPr>
            <a:picLocks noChangeAspect="1"/>
          </p:cNvPicPr>
          <p:nvPr/>
        </p:nvPicPr>
        <p:blipFill>
          <a:blip r:embed="rId6"/>
          <a:srcRect l="0" r="0" t="-395" b="-395"/>
          <a:stretch/>
        </p:blipFill>
        <p:spPr>
          <a:xfrm>
            <a:off x="11811305" y="2018995"/>
            <a:ext cx="3238805" cy="57607"/>
          </a:xfrm>
          <a:prstGeom prst="rect">
            <a:avLst/>
          </a:prstGeom>
        </p:spPr>
      </p:pic>
      <p:pic>
        <p:nvPicPr>
          <p:cNvPr id="15" name="Image 6" descr="gen-dedup-e3f58f73b82005847474378fdb5204ae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838505" y="5143500"/>
            <a:ext cx="7429500" cy="57607"/>
          </a:xfrm>
          <a:prstGeom prst="rect">
            <a:avLst/>
          </a:prstGeom>
        </p:spPr>
      </p:pic>
      <p:pic>
        <p:nvPicPr>
          <p:cNvPr id="16" name="Image 7" descr="gen-dedup-dc2b9b489b0662615080055e2158a8d5.png">    </p:cNvPr>
          <p:cNvPicPr>
            <a:picLocks noChangeAspect="1"/>
          </p:cNvPicPr>
          <p:nvPr/>
        </p:nvPicPr>
        <p:blipFill>
          <a:blip r:embed="rId8"/>
          <a:srcRect l="-385" r="-385" t="0" b="0"/>
          <a:stretch/>
        </p:blipFill>
        <p:spPr>
          <a:xfrm>
            <a:off x="8991295" y="5715000"/>
            <a:ext cx="761695" cy="28346"/>
          </a:xfrm>
          <a:prstGeom prst="rect">
            <a:avLst/>
          </a:prstGeom>
        </p:spPr>
      </p:pic>
      <p:pic>
        <p:nvPicPr>
          <p:cNvPr id="17" name="Image 8" descr="gen-dedup-208e3c1db2ec408b78c5222320cd21a6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838505" y="9562795"/>
            <a:ext cx="16573500" cy="9144"/>
          </a:xfrm>
          <a:prstGeom prst="rect">
            <a:avLst/>
          </a:prstGeom>
        </p:spPr>
      </p:pic>
      <p:pic>
        <p:nvPicPr>
          <p:cNvPr id="18" name="Image 9" descr="gen-dedup-e003f4e59fbba5eda29a89a8c5673ac8.jpg">    </p:cNvPr>
          <p:cNvPicPr>
            <a:picLocks noChangeAspect="1"/>
          </p:cNvPicPr>
          <p:nvPr/>
        </p:nvPicPr>
        <p:blipFill>
          <a:blip r:embed="rId10"/>
          <a:srcRect l="10270" r="10270" t="0" b="0"/>
          <a:stretch/>
        </p:blipFill>
        <p:spPr>
          <a:xfrm>
            <a:off x="1123798" y="5886907"/>
            <a:ext cx="3238805" cy="1904695"/>
          </a:xfrm>
          <a:prstGeom prst="rect">
            <a:avLst/>
          </a:prstGeom>
        </p:spPr>
      </p:pic>
      <p:pic>
        <p:nvPicPr>
          <p:cNvPr id="19" name="Image 10" descr="gen-dedup-7356931a4bd590d98c4df845b68854ef.jpg">    </p:cNvPr>
          <p:cNvPicPr>
            <a:picLocks noChangeAspect="1"/>
          </p:cNvPicPr>
          <p:nvPr/>
        </p:nvPicPr>
        <p:blipFill>
          <a:blip r:embed="rId11"/>
          <a:srcRect l="0" r="0" t="29461" b="29461"/>
          <a:stretch/>
        </p:blipFill>
        <p:spPr>
          <a:xfrm>
            <a:off x="4552798" y="5886907"/>
            <a:ext cx="3238805" cy="1904695"/>
          </a:xfrm>
          <a:prstGeom prst="rect">
            <a:avLst/>
          </a:prstGeom>
        </p:spPr>
      </p:pic>
      <p:sp>
        <p:nvSpPr>
          <p:cNvPr id="20" name="Text 6"/>
          <p:cNvSpPr txBox="1"/>
          <p:nvPr/>
        </p:nvSpPr>
        <p:spPr>
          <a:xfrm>
            <a:off x="838505" y="743407"/>
            <a:ext cx="1143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· 11 · SUMMARY &amp; CONCLUSION</a:t>
            </a:r>
            <a:endParaRPr lang="en-US" sz="1650" dirty="0"/>
          </a:p>
        </p:txBody>
      </p:sp>
      <p:sp>
        <p:nvSpPr>
          <p:cNvPr id="21" name="Text 7"/>
          <p:cNvSpPr txBox="1"/>
          <p:nvPr/>
        </p:nvSpPr>
        <p:spPr>
          <a:xfrm>
            <a:off x="838505" y="1123798"/>
            <a:ext cx="1428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결론 — Split 평가 요약 &amp; 후속</a:t>
            </a:r>
            <a:endParaRPr lang="en-US" sz="4050" dirty="0"/>
          </a:p>
        </p:txBody>
      </p:sp>
      <p:sp>
        <p:nvSpPr>
          <p:cNvPr id="22" name="Text 8"/>
          <p:cNvSpPr txBox="1"/>
          <p:nvPr/>
        </p:nvSpPr>
        <p:spPr>
          <a:xfrm>
            <a:off x="1123798" y="2247595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1500" dirty="0"/>
          </a:p>
        </p:txBody>
      </p:sp>
      <p:sp>
        <p:nvSpPr>
          <p:cNvPr id="23" name="Text 9"/>
          <p:cNvSpPr txBox="1"/>
          <p:nvPr/>
        </p:nvSpPr>
        <p:spPr>
          <a:xfrm>
            <a:off x="1123798" y="2581351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marg.</a:t>
            </a:r>
            <a:endParaRPr lang="en-US" sz="3150" dirty="0"/>
          </a:p>
        </p:txBody>
      </p:sp>
      <p:sp>
        <p:nvSpPr>
          <p:cNvPr id="24" name="Text 10"/>
          <p:cNvSpPr txBox="1"/>
          <p:nvPr/>
        </p:nvSpPr>
        <p:spPr>
          <a:xfrm>
            <a:off x="1123798" y="3051353"/>
            <a:ext cx="2667305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split-A 평균 +0.32 nm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상한 1.41 nm</a:t>
            </a:r>
            <a:endParaRPr lang="en-US" sz="1350" dirty="0"/>
          </a:p>
        </p:txBody>
      </p:sp>
      <p:sp>
        <p:nvSpPr>
          <p:cNvPr id="25" name="Text 11"/>
          <p:cNvSpPr txBox="1"/>
          <p:nvPr/>
        </p:nvSpPr>
        <p:spPr>
          <a:xfrm>
            <a:off x="4781398" y="2247595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1500" dirty="0"/>
          </a:p>
        </p:txBody>
      </p:sp>
      <p:sp>
        <p:nvSpPr>
          <p:cNvPr id="26" name="Text 12"/>
          <p:cNvSpPr txBox="1"/>
          <p:nvPr/>
        </p:nvSpPr>
        <p:spPr>
          <a:xfrm>
            <a:off x="4781398" y="2581351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3150" dirty="0"/>
          </a:p>
        </p:txBody>
      </p:sp>
      <p:sp>
        <p:nvSpPr>
          <p:cNvPr id="27" name="Text 13"/>
          <p:cNvSpPr txBox="1"/>
          <p:nvPr/>
        </p:nvSpPr>
        <p:spPr>
          <a:xfrm>
            <a:off x="4781398" y="3051353"/>
            <a:ext cx="2667305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전 wafer in-window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split-A +0.35 단일 wafer</a:t>
            </a:r>
            <a:endParaRPr lang="en-US" sz="1350" dirty="0"/>
          </a:p>
        </p:txBody>
      </p:sp>
      <p:sp>
        <p:nvSpPr>
          <p:cNvPr id="28" name="Text 14"/>
          <p:cNvSpPr txBox="1"/>
          <p:nvPr/>
        </p:nvSpPr>
        <p:spPr>
          <a:xfrm>
            <a:off x="8438998" y="2247595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1500" dirty="0"/>
          </a:p>
        </p:txBody>
      </p:sp>
      <p:sp>
        <p:nvSpPr>
          <p:cNvPr id="29" name="Text 15"/>
          <p:cNvSpPr txBox="1"/>
          <p:nvPr/>
        </p:nvSpPr>
        <p:spPr>
          <a:xfrm>
            <a:off x="8438998" y="2581351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 · 1</a:t>
            </a:r>
            <a:endParaRPr lang="en-US" sz="3150" dirty="0"/>
          </a:p>
        </p:txBody>
      </p:sp>
      <p:sp>
        <p:nvSpPr>
          <p:cNvPr id="30" name="Text 16"/>
          <p:cNvSpPr txBox="1"/>
          <p:nvPr/>
        </p:nvSpPr>
        <p:spPr>
          <a:xfrm>
            <a:off x="8438998" y="3051353"/>
            <a:ext cx="2667305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W-02 0.84 nm 3σ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acceptance 0.9 초과</a:t>
            </a:r>
            <a:endParaRPr lang="en-US" sz="1350" dirty="0"/>
          </a:p>
        </p:txBody>
      </p:sp>
      <p:sp>
        <p:nvSpPr>
          <p:cNvPr id="31" name="Text 17"/>
          <p:cNvSpPr txBox="1"/>
          <p:nvPr/>
        </p:nvSpPr>
        <p:spPr>
          <a:xfrm>
            <a:off x="12096598" y="2247595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2E7A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 MTTF</a:t>
            </a:r>
            <a:endParaRPr lang="en-US" sz="1500" dirty="0"/>
          </a:p>
        </p:txBody>
      </p:sp>
      <p:sp>
        <p:nvSpPr>
          <p:cNvPr id="32" name="Text 18"/>
          <p:cNvSpPr txBox="1"/>
          <p:nvPr/>
        </p:nvSpPr>
        <p:spPr>
          <a:xfrm>
            <a:off x="12096598" y="2581351"/>
            <a:ext cx="316748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under target</a:t>
            </a:r>
            <a:endParaRPr lang="en-US" sz="3150" dirty="0"/>
          </a:p>
        </p:txBody>
      </p:sp>
      <p:sp>
        <p:nvSpPr>
          <p:cNvPr id="33" name="Text 19"/>
          <p:cNvSpPr txBox="1"/>
          <p:nvPr/>
        </p:nvSpPr>
        <p:spPr>
          <a:xfrm>
            <a:off x="12096598" y="3051353"/>
            <a:ext cx="2667305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split 1000 h 미만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split-A 412 h · 가장 가혹</a:t>
            </a:r>
            <a:endParaRPr lang="en-US" sz="1350" dirty="0"/>
          </a:p>
        </p:txBody>
      </p:sp>
      <p:sp>
        <p:nvSpPr>
          <p:cNvPr id="34" name="Text 20"/>
          <p:cNvSpPr txBox="1"/>
          <p:nvPr/>
        </p:nvSpPr>
        <p:spPr>
          <a:xfrm>
            <a:off x="12096598" y="4069994"/>
            <a:ext cx="2667305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1000h @ 0.2 MA/cm²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split 모두 미달</a:t>
            </a:r>
            <a:endParaRPr lang="en-US" sz="1350" dirty="0"/>
          </a:p>
        </p:txBody>
      </p:sp>
      <p:sp>
        <p:nvSpPr>
          <p:cNvPr id="35" name="Text 21"/>
          <p:cNvSpPr txBox="1"/>
          <p:nvPr/>
        </p:nvSpPr>
        <p:spPr>
          <a:xfrm>
            <a:off x="1123798" y="5391302"/>
            <a:ext cx="7049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이상 사례 — split-A W-02</a:t>
            </a:r>
            <a:endParaRPr lang="en-US" sz="1800" dirty="0"/>
          </a:p>
        </p:txBody>
      </p:sp>
      <p:sp>
        <p:nvSpPr>
          <p:cNvPr id="36" name="Text 22"/>
          <p:cNvSpPr txBox="1"/>
          <p:nvPr/>
        </p:nvSpPr>
        <p:spPr>
          <a:xfrm>
            <a:off x="1123798" y="7880299"/>
            <a:ext cx="3238805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via-bottom recess +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nm dark band 누적</a:t>
            </a:r>
            <a:endParaRPr lang="en-US" sz="1350" dirty="0"/>
          </a:p>
        </p:txBody>
      </p:sp>
      <p:sp>
        <p:nvSpPr>
          <p:cNvPr id="37" name="Text 23"/>
          <p:cNvSpPr txBox="1"/>
          <p:nvPr/>
        </p:nvSpPr>
        <p:spPr>
          <a:xfrm>
            <a:off x="4552798" y="7880299"/>
            <a:ext cx="3238805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240 h step stress 후</a:t>
            </a:r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Cu/TaN 계면 early void</a:t>
            </a:r>
            <a:endParaRPr lang="en-US" sz="1350" dirty="0"/>
          </a:p>
        </p:txBody>
      </p:sp>
      <p:sp>
        <p:nvSpPr>
          <p:cNvPr id="38" name="Text 24"/>
          <p:cNvSpPr txBox="1"/>
          <p:nvPr/>
        </p:nvSpPr>
        <p:spPr>
          <a:xfrm>
            <a:off x="1123798" y="8496605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ScienceDirect / ResearchGate figure · EM early failure review</a:t>
            </a:r>
            <a:endParaRPr lang="en-US" sz="1200" dirty="0"/>
          </a:p>
        </p:txBody>
      </p:sp>
      <p:sp>
        <p:nvSpPr>
          <p:cNvPr id="39" name="Text 25"/>
          <p:cNvSpPr txBox="1"/>
          <p:nvPr/>
        </p:nvSpPr>
        <p:spPr>
          <a:xfrm>
            <a:off x="8991295" y="5391302"/>
            <a:ext cx="8192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 · RECOMMENDATIONS</a:t>
            </a:r>
            <a:endParaRPr lang="en-US" sz="1350" dirty="0"/>
          </a:p>
        </p:txBody>
      </p:sp>
      <p:sp>
        <p:nvSpPr>
          <p:cNvPr id="40" name="Text 26"/>
          <p:cNvSpPr txBox="1"/>
          <p:nvPr/>
        </p:nvSpPr>
        <p:spPr>
          <a:xfrm>
            <a:off x="8991295" y="5868619"/>
            <a:ext cx="8192110" cy="1666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split-A 단일 wafer가 아닌 split 전체의 AASI marginal 편향을 cure time 연장으로 재평가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EM test는 0.3 MA/cm² 조건의 추가 wafer 확보 — 3 split 동시 비교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W-02 ACI 0.81 nm 1건은 root-cause 분석 진행 — strip 후 recess 누적 가설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SEM-split 비교 dark band 정량 측정 — image J 기반 평균 강도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다음 단계에서는 air-gap IMD 도입 검토 — 동일 k target 대비 RC 18 % 개선 가능성</a:t>
            </a:r>
            <a:endParaRPr lang="en-US" sz="1650" dirty="0"/>
          </a:p>
        </p:txBody>
      </p:sp>
      <p:sp>
        <p:nvSpPr>
          <p:cNvPr id="41" name="Text 27"/>
          <p:cNvSpPr txBox="1"/>
          <p:nvPr/>
        </p:nvSpPr>
        <p:spPr>
          <a:xfrm>
            <a:off x="8991295" y="8153705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· process integration · target ± 0.1 nm worst case까지 다음 분기 내 narrow-down</a:t>
            </a:r>
            <a:endParaRPr lang="en-US" sz="1200" dirty="0"/>
          </a:p>
        </p:txBody>
      </p:sp>
      <p:sp>
        <p:nvSpPr>
          <p:cNvPr id="42" name="Text 28"/>
          <p:cNvSpPr txBox="1"/>
          <p:nvPr/>
        </p:nvSpPr>
        <p:spPr>
          <a:xfrm>
            <a:off x="838505" y="9715500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7C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 · 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2026-10-03T16:08:13Z</dcterms:created>
  <dcterms:modified xsi:type="dcterms:W3CDTF">2026-10-03T16:08:13Z</dcterms:modified>
</cp:coreProperties>
</file>