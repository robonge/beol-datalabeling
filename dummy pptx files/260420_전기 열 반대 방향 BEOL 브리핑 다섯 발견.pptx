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image" Target="../media/image-2-8.png"/><Relationship Id="rId9" Type="http://schemas.openxmlformats.org/officeDocument/2006/relationships/image" Target="../media/image-2-9.jpeg"/><Relationship Id="rId10" Type="http://schemas.openxmlformats.org/officeDocument/2006/relationships/image" Target="../media/image-2-10.jpe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image" Target="../media/image-3-8.jpeg"/><Relationship Id="rId9" Type="http://schemas.openxmlformats.org/officeDocument/2006/relationships/image" Target="../media/image-3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192195" y="705002"/>
            <a:ext cx="228600" cy="228600"/>
          </a:xfrm>
          <a:prstGeom prst="rect">
            <a:avLst/>
          </a:prstGeom>
          <a:solidFill>
            <a:srgbClr val="B047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006b38b639f6bfb829fd24ba28357c19.png">    </p:cNvPr>
          <p:cNvPicPr>
            <a:picLocks noChangeAspect="1"/>
          </p:cNvPicPr>
          <p:nvPr/>
        </p:nvPicPr>
        <p:blipFill>
          <a:blip r:embed="rId1"/>
          <a:srcRect l="0" r="0" t="-2078" b="-2078"/>
          <a:stretch/>
        </p:blipFill>
        <p:spPr>
          <a:xfrm>
            <a:off x="1143000" y="7791602"/>
            <a:ext cx="9144" cy="1695298"/>
          </a:xfrm>
          <a:prstGeom prst="rect">
            <a:avLst/>
          </a:prstGeom>
        </p:spPr>
      </p:pic>
      <p:pic>
        <p:nvPicPr>
          <p:cNvPr id="4" name="Image 1" descr="gen-dedup-aa674c28f7d15ed651399bbe029355d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1123798"/>
            <a:ext cx="11239805" cy="9144"/>
          </a:xfrm>
          <a:prstGeom prst="rect">
            <a:avLst/>
          </a:prstGeom>
        </p:spPr>
      </p:pic>
      <p:pic>
        <p:nvPicPr>
          <p:cNvPr id="5" name="Image 2" descr="gen-dedup-aa674c28f7d15ed651399bbe029355d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7638898"/>
            <a:ext cx="10477195" cy="9144"/>
          </a:xfrm>
          <a:prstGeom prst="rect">
            <a:avLst/>
          </a:prstGeom>
        </p:spPr>
      </p:pic>
      <p:pic>
        <p:nvPicPr>
          <p:cNvPr id="6" name="Image 3" descr="gen-dedup-d9c50d5c9cd2a79a9a9ff74df720985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867498"/>
            <a:ext cx="2667305" cy="15243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143000" y="685800"/>
            <a:ext cx="4953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3110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Dummy Series · 06 / 30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14287500" y="685800"/>
            <a:ext cx="2857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Briefing Readout · 2026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1981505"/>
            <a:ext cx="11811305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81" kern="0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전기와 열이</a:t>
            </a:r>
            <a:endParaRPr lang="en-US" sz="81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3071470"/>
            <a:ext cx="11811305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81" kern="0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정확히 </a:t>
            </a:r>
            <a:pPr algn="l" indent="0" marL="0">
              <a:buNone/>
            </a:pPr>
            <a:r>
              <a:rPr lang="en-US" sz="8100" b="1" i="1" spc="-81" kern="0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반대로</a:t>
            </a:r>
            <a:endParaRPr lang="en-US" sz="81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162349"/>
            <a:ext cx="11811305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81" kern="0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움직이는 지점입니다</a:t>
            </a:r>
            <a:endParaRPr lang="en-US" sz="81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6286500"/>
            <a:ext cx="10287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i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BEOL</a:t>
            </a:r>
            <a:pPr algn="l" indent="0" marL="0">
              <a:buNone/>
            </a:pPr>
            <a:r>
              <a:rPr lang="en-US" sz="2250" i="1" dirty="0">
                <a:solidFill>
                  <a:srgbClr val="3A34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· 유전체 · 금속 · 열 — 다섯 개의 짧은 발견.</a:t>
            </a:r>
            <a:endParaRPr lang="en-US" sz="2250" dirty="0"/>
          </a:p>
        </p:txBody>
      </p:sp>
      <p:sp>
        <p:nvSpPr>
          <p:cNvPr id="13" name="Text 7"/>
          <p:cNvSpPr txBox="1"/>
          <p:nvPr/>
        </p:nvSpPr>
        <p:spPr>
          <a:xfrm>
            <a:off x="13334695" y="198150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32" kern="0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Inside this briefing</a:t>
            </a:r>
            <a:endParaRPr lang="en-US" sz="975" dirty="0"/>
          </a:p>
        </p:txBody>
      </p:sp>
      <p:sp>
        <p:nvSpPr>
          <p:cNvPr id="14" name="Shape 8"/>
          <p:cNvSpPr/>
          <p:nvPr/>
        </p:nvSpPr>
        <p:spPr>
          <a:xfrm>
            <a:off x="13334695" y="2952598"/>
            <a:ext cx="3810305" cy="9144"/>
          </a:xfrm>
          <a:prstGeom prst="rect">
            <a:avLst/>
          </a:prstGeom>
          <a:solidFill>
            <a:srgbClr val="978B6E">
              <a:alpha val="45000"/>
            </a:srgbClr>
          </a:solidFill>
          <a:ln w="12700">
            <a:solidFill>
              <a:srgbClr val="978B6E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13334695" y="2457907"/>
            <a:ext cx="2862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13754405" y="2419502"/>
            <a:ext cx="3391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유전체 자체의 품질 — 저주파 잡음으로 본 MIM</a:t>
            </a:r>
            <a:endParaRPr lang="en-US" sz="1275" dirty="0"/>
          </a:p>
        </p:txBody>
      </p:sp>
      <p:sp>
        <p:nvSpPr>
          <p:cNvPr id="17" name="Shape 11"/>
          <p:cNvSpPr/>
          <p:nvPr/>
        </p:nvSpPr>
        <p:spPr>
          <a:xfrm>
            <a:off x="13334695" y="3409798"/>
            <a:ext cx="3810305" cy="9144"/>
          </a:xfrm>
          <a:prstGeom prst="rect">
            <a:avLst/>
          </a:prstGeom>
          <a:solidFill>
            <a:srgbClr val="978B6E">
              <a:alpha val="45000"/>
            </a:srgbClr>
          </a:solidFill>
          <a:ln w="12700">
            <a:solidFill>
              <a:srgbClr val="978B6E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3334695" y="3132734"/>
            <a:ext cx="2862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13754405" y="3094330"/>
            <a:ext cx="27944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기계적 파괴 — 관통해 가는 금속층</a:t>
            </a:r>
            <a:endParaRPr lang="en-US" sz="1275" dirty="0"/>
          </a:p>
        </p:txBody>
      </p:sp>
      <p:sp>
        <p:nvSpPr>
          <p:cNvPr id="20" name="Shape 14"/>
          <p:cNvSpPr/>
          <p:nvPr/>
        </p:nvSpPr>
        <p:spPr>
          <a:xfrm>
            <a:off x="13334695" y="3866083"/>
            <a:ext cx="3810305" cy="9144"/>
          </a:xfrm>
          <a:prstGeom prst="rect">
            <a:avLst/>
          </a:prstGeom>
          <a:solidFill>
            <a:srgbClr val="978B6E">
              <a:alpha val="45000"/>
            </a:srgbClr>
          </a:solidFill>
          <a:ln w="12700">
            <a:solidFill>
              <a:srgbClr val="978B6E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3334695" y="3589020"/>
            <a:ext cx="2862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13754405" y="3550615"/>
            <a:ext cx="283372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열: 비아가 열저항의 86%를 먹는다</a:t>
            </a:r>
            <a:endParaRPr lang="en-US" sz="1275" dirty="0"/>
          </a:p>
        </p:txBody>
      </p:sp>
      <p:sp>
        <p:nvSpPr>
          <p:cNvPr id="23" name="Shape 17"/>
          <p:cNvSpPr/>
          <p:nvPr/>
        </p:nvSpPr>
        <p:spPr>
          <a:xfrm>
            <a:off x="13334695" y="4322369"/>
            <a:ext cx="3810305" cy="9144"/>
          </a:xfrm>
          <a:prstGeom prst="rect">
            <a:avLst/>
          </a:prstGeom>
          <a:solidFill>
            <a:srgbClr val="978B6E">
              <a:alpha val="45000"/>
            </a:srgbClr>
          </a:solidFill>
          <a:ln w="12700">
            <a:solidFill>
              <a:srgbClr val="978B6E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3334695" y="4045306"/>
            <a:ext cx="2862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13754405" y="4007815"/>
            <a:ext cx="15462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모델링이 바뀜 이유</a:t>
            </a:r>
            <a:endParaRPr lang="en-US" sz="1275" dirty="0"/>
          </a:p>
        </p:txBody>
      </p:sp>
      <p:sp>
        <p:nvSpPr>
          <p:cNvPr id="26" name="Text 20"/>
          <p:cNvSpPr txBox="1"/>
          <p:nvPr/>
        </p:nvSpPr>
        <p:spPr>
          <a:xfrm>
            <a:off x="13334695" y="4502506"/>
            <a:ext cx="2862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05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3754405" y="4464101"/>
            <a:ext cx="267827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BSPDN은 정말 열적으로 유리한가</a:t>
            </a:r>
            <a:endParaRPr lang="en-US" sz="1275" dirty="0"/>
          </a:p>
        </p:txBody>
      </p:sp>
      <p:sp>
        <p:nvSpPr>
          <p:cNvPr id="28" name="Text 22"/>
          <p:cNvSpPr txBox="1"/>
          <p:nvPr/>
        </p:nvSpPr>
        <p:spPr>
          <a:xfrm>
            <a:off x="1143000" y="9467698"/>
            <a:ext cx="2667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출처 · Nature Scientific Reports · TaxMnyOz diffusion barrier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4114800" y="7867498"/>
            <a:ext cx="7429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 dummy editorial briefing · for layout evaluation only · 표지 1 / 3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114800" y="8287207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311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자료: BEOL / Cu-low-k 스택 · 전기 누설·잡음, 기계 파괴, BEOL 열저항, BSPDN.</a:t>
            </a:r>
            <a:endParaRPr lang="en-US" sz="1650" dirty="0"/>
          </a:p>
        </p:txBody>
      </p:sp>
      <p:sp>
        <p:nvSpPr>
          <p:cNvPr id="31" name="Text 25"/>
          <p:cNvSpPr txBox="1"/>
          <p:nvPr/>
        </p:nvSpPr>
        <p:spPr>
          <a:xfrm>
            <a:off x="16573500" y="9696298"/>
            <a:ext cx="1143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700" dirty="0">
                <a:solidFill>
                  <a:srgbClr val="13110B">
                    <a:alpha val="22000"/>
                  </a:srgbClr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/06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922d38764f36be0fe7f881584b18c47.png">    </p:cNvPr>
          <p:cNvPicPr>
            <a:picLocks noChangeAspect="1"/>
          </p:cNvPicPr>
          <p:nvPr/>
        </p:nvPicPr>
        <p:blipFill>
          <a:blip r:embed="rId1"/>
          <a:srcRect l="0" r="0" t="-390" b="-390"/>
          <a:stretch/>
        </p:blipFill>
        <p:spPr>
          <a:xfrm>
            <a:off x="15620695" y="1123798"/>
            <a:ext cx="1524305" cy="19202"/>
          </a:xfrm>
          <a:prstGeom prst="rect">
            <a:avLst/>
          </a:prstGeom>
        </p:spPr>
      </p:pic>
      <p:pic>
        <p:nvPicPr>
          <p:cNvPr id="3" name="Image 1" descr="gen-dedup-5447f906b8b5e429044951c9cedb5320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5620695" y="1524305"/>
            <a:ext cx="1143000" cy="19202"/>
          </a:xfrm>
          <a:prstGeom prst="rect">
            <a:avLst/>
          </a:prstGeom>
        </p:spPr>
      </p:pic>
      <p:pic>
        <p:nvPicPr>
          <p:cNvPr id="4" name="Image 2" descr="gen-dedup-ae206c6c92760ce4dbc1eeb904f93d8c.png">    </p:cNvPr>
          <p:cNvPicPr>
            <a:picLocks noChangeAspect="1"/>
          </p:cNvPicPr>
          <p:nvPr/>
        </p:nvPicPr>
        <p:blipFill>
          <a:blip r:embed="rId3"/>
          <a:srcRect l="0" r="0" t="-420" b="-420"/>
          <a:stretch/>
        </p:blipFill>
        <p:spPr>
          <a:xfrm>
            <a:off x="15620695" y="1923898"/>
            <a:ext cx="761695" cy="192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6192195" y="705002"/>
            <a:ext cx="228600" cy="228600"/>
          </a:xfrm>
          <a:prstGeom prst="rect">
            <a:avLst/>
          </a:prstGeom>
          <a:solidFill>
            <a:srgbClr val="B047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3" descr="gen-dedup-5f7ef8febe317eb6e60228f31996f892.png">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 l="-400" r="-400" t="0" b="0"/>
          <a:stretch/>
        </p:blipFill>
        <p:spPr>
          <a:xfrm>
            <a:off x="12077395" y="9486900"/>
            <a:ext cx="57607" cy="342900"/>
          </a:xfrm>
          <a:prstGeom prst="rect">
            <a:avLst/>
          </a:prstGeom>
        </p:spPr>
      </p:pic>
      <p:pic>
        <p:nvPicPr>
          <p:cNvPr id="7" name="Image 4" descr="gen-dedup-df2903d5c7cd928e034989320f3ef315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rcRect l="0" r="0" t="-342" b="-342"/>
          <a:stretch/>
        </p:blipFill>
        <p:spPr>
          <a:xfrm>
            <a:off x="12020702" y="9753905"/>
            <a:ext cx="400507" cy="57607"/>
          </a:xfrm>
          <a:prstGeom prst="rect">
            <a:avLst/>
          </a:prstGeom>
        </p:spPr>
      </p:pic>
      <p:pic>
        <p:nvPicPr>
          <p:cNvPr id="8" name="Image 5" descr="gen-dedup-8a3b53f53f822190c13e0689946b2d24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1143000" y="1123798"/>
            <a:ext cx="12573000" cy="9144"/>
          </a:xfrm>
          <a:prstGeom prst="rect">
            <a:avLst/>
          </a:prstGeom>
        </p:spPr>
      </p:pic>
      <p:pic>
        <p:nvPicPr>
          <p:cNvPr id="9" name="Image 6" descr="gen-dedup-8a3b53f53f822190c13e0689946b2d24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143000" y="3010205"/>
            <a:ext cx="16002000" cy="9144"/>
          </a:xfrm>
          <a:prstGeom prst="rect">
            <a:avLst/>
          </a:prstGeom>
        </p:spPr>
      </p:pic>
      <p:pic>
        <p:nvPicPr>
          <p:cNvPr id="10" name="Image 7" descr="gen-dedup-d712e9e47ed39617a866dd54032753a1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11734495" y="3314700"/>
            <a:ext cx="9144" cy="6476695"/>
          </a:xfrm>
          <a:prstGeom prst="rect">
            <a:avLst/>
          </a:prstGeom>
        </p:spPr>
      </p:pic>
      <p:pic>
        <p:nvPicPr>
          <p:cNvPr id="11" name="Image 8" descr="gen-dedup-891cff7addaef25bfc57b35489e693bd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15800" y="3638398"/>
            <a:ext cx="2667305" cy="4009644"/>
          </a:xfrm>
          <a:prstGeom prst="rect">
            <a:avLst/>
          </a:prstGeom>
        </p:spPr>
      </p:pic>
      <p:pic>
        <p:nvPicPr>
          <p:cNvPr id="12" name="Image 9" descr="gen-dedup-83ec705c8e534c7c27cdd77b639cd1b6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73300" y="5790895"/>
            <a:ext cx="2933395" cy="1505102"/>
          </a:xfrm>
          <a:prstGeom prst="rect">
            <a:avLst/>
          </a:prstGeom>
        </p:spPr>
      </p:pic>
      <p:pic>
        <p:nvPicPr>
          <p:cNvPr id="13" name="Image 10" descr="gen-dedup-800a8280830f702ca74e6835bde328e9.png">    </p:cNvPr>
          <p:cNvPicPr>
            <a:picLocks noChangeAspect="1"/>
          </p:cNvPicPr>
          <p:nvPr/>
        </p:nvPicPr>
        <p:blipFill>
          <a:blip r:embed="rId11"/>
          <a:srcRect l="-2078" r="-2078" t="0" b="0"/>
          <a:stretch/>
        </p:blipFill>
        <p:spPr>
          <a:xfrm>
            <a:off x="1143000" y="9753905"/>
            <a:ext cx="5333695" cy="9144"/>
          </a:xfrm>
          <a:prstGeom prst="rect">
            <a:avLst/>
          </a:prstGeom>
        </p:spPr>
      </p:pic>
      <p:pic>
        <p:nvPicPr>
          <p:cNvPr id="14" name="Image 11" descr="gen-dedup-68e7e5f9692fddbf982005dc93f94fcb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14973300" y="7810805"/>
            <a:ext cx="2857500" cy="9144"/>
          </a:xfrm>
          <a:prstGeom prst="rect">
            <a:avLst/>
          </a:prstGeom>
        </p:spPr>
      </p:pic>
      <p:sp>
        <p:nvSpPr>
          <p:cNvPr id="15" name="Text 1"/>
          <p:cNvSpPr txBox="1"/>
          <p:nvPr/>
        </p:nvSpPr>
        <p:spPr>
          <a:xfrm>
            <a:off x="1143000" y="685800"/>
            <a:ext cx="32772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3110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Briefing · 발견 첫째 · 발견 둘째</a:t>
            </a:r>
            <a:endParaRPr lang="en-US" sz="1200" dirty="0"/>
          </a:p>
        </p:txBody>
      </p:sp>
      <p:sp>
        <p:nvSpPr>
          <p:cNvPr id="16" name="Text 2"/>
          <p:cNvSpPr txBox="1"/>
          <p:nvPr/>
        </p:nvSpPr>
        <p:spPr>
          <a:xfrm>
            <a:off x="14287500" y="6858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 / 3</a:t>
            </a:r>
            <a:endParaRPr lang="en-US" sz="1200" dirty="0"/>
          </a:p>
        </p:txBody>
      </p:sp>
      <p:sp>
        <p:nvSpPr>
          <p:cNvPr id="17" name="Text 3"/>
          <p:cNvSpPr txBox="1"/>
          <p:nvPr/>
        </p:nvSpPr>
        <p:spPr>
          <a:xfrm>
            <a:off x="1143000" y="1466698"/>
            <a:ext cx="14097305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27" kern="0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유전체 자체의 품질</a:t>
            </a:r>
            <a:endParaRPr lang="en-US" sz="5400" dirty="0"/>
          </a:p>
        </p:txBody>
      </p:sp>
      <p:sp>
        <p:nvSpPr>
          <p:cNvPr id="18" name="Text 4"/>
          <p:cNvSpPr txBox="1"/>
          <p:nvPr/>
        </p:nvSpPr>
        <p:spPr>
          <a:xfrm>
            <a:off x="1143000" y="2237537"/>
            <a:ext cx="1409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— 저주파 잡음으로 본 MIM</a:t>
            </a:r>
            <a:endParaRPr lang="en-US" sz="2250" dirty="0"/>
          </a:p>
        </p:txBody>
      </p:sp>
      <p:sp>
        <p:nvSpPr>
          <p:cNvPr id="19" name="Text 5"/>
          <p:cNvSpPr txBox="1"/>
          <p:nvPr/>
        </p:nvSpPr>
        <p:spPr>
          <a:xfrm>
            <a:off x="1143000" y="3314700"/>
            <a:ext cx="28392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Section a · dielectric MIM</a:t>
            </a:r>
            <a:endParaRPr lang="en-US" sz="1200" dirty="0"/>
          </a:p>
        </p:txBody>
      </p:sp>
      <p:sp>
        <p:nvSpPr>
          <p:cNvPr id="20" name="Text 6"/>
          <p:cNvSpPr txBox="1"/>
          <p:nvPr/>
        </p:nvSpPr>
        <p:spPr>
          <a:xfrm>
            <a:off x="1143000" y="3638398"/>
            <a:ext cx="102870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Giusi는 TiN 전극 사이의 </a:t>
            </a:r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SiO₂ 6 nm (ε</a:t>
            </a:r>
            <a:pPr algn="l" indent="0" marL="0">
              <a:lnSpc>
                <a:spcPts val="2790"/>
              </a:lnSpc>
              <a:buNone/>
            </a:pPr>
            <a:r>
              <a:rPr lang="en-US" sz="15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</a:t>
            </a:r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4.2)</a:t>
            </a:r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</a:t>
            </a:r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Al₂O₃ 5 nm (8.9)</a:t>
            </a:r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</a:t>
            </a:r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OSG3.0 12 nm (3.0, 기공률 7%)</a:t>
            </a:r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MIM을 25–200 °C, 최대 ~12 MV/cm에서 비교했습니다. 전도 기구가 재료마다 다릅니다.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819802"/>
          <a:ext cx="10287000" cy="2753258"/>
        </p:xfrm>
        <a:graphic>
          <a:graphicData uri="http://schemas.openxmlformats.org/drawingml/2006/table">
            <a:tbl>
              <a:tblPr/>
              <a:tblGrid>
                <a:gridCol w="2286000"/>
                <a:gridCol w="3619195"/>
                <a:gridCol w="4381805"/>
              </a:tblGrid>
              <a:tr h="688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A523F"/>
                          </a:solidFill>
                          <a:latin typeface="IBM Plex Serif" pitchFamily="34" charset="0"/>
                          <a:ea typeface="IBM Plex Serif" pitchFamily="34" charset="-122"/>
                          <a:cs typeface="IBM Plex Serif" pitchFamily="34" charset="-120"/>
                        </a:rPr>
                        <a:t>유전체</a:t>
                      </a:r>
                      <a:endParaRPr lang="en-US" sz="900" dirty="0">
                        <a:latin typeface="IBM Plex Serif" charset="0"/>
                        <a:ea typeface="IBM Plex Serif" charset="0"/>
                        <a:cs typeface="IBM Plex Serif" charset="0"/>
                      </a:endParaRPr>
                    </a:p>
                  </a:txBody>
                  <a:tcPr marL="0" marR="171907" marT="133502" marB="114300" anchor="ctr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A523F"/>
                          </a:solidFill>
                          <a:latin typeface="IBM Plex Serif" pitchFamily="34" charset="0"/>
                          <a:ea typeface="IBM Plex Serif" pitchFamily="34" charset="-122"/>
                          <a:cs typeface="IBM Plex Serif" pitchFamily="34" charset="-120"/>
                        </a:rPr>
                        <a:t>지배 기구</a:t>
                      </a:r>
                      <a:endParaRPr lang="en-US" sz="900" dirty="0">
                        <a:latin typeface="IBM Plex Serif" charset="0"/>
                        <a:ea typeface="IBM Plex Serif" charset="0"/>
                        <a:cs typeface="IBM Plex Serif" charset="0"/>
                      </a:endParaRPr>
                    </a:p>
                  </a:txBody>
                  <a:tcPr marL="0" marR="171907" marT="133502" marB="114300" anchor="ctr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A523F"/>
                          </a:solidFill>
                          <a:latin typeface="IBM Plex Serif" pitchFamily="34" charset="0"/>
                          <a:ea typeface="IBM Plex Serif" pitchFamily="34" charset="-122"/>
                          <a:cs typeface="IBM Plex Serif" pitchFamily="34" charset="-120"/>
                        </a:rPr>
                        <a:t>트랩 준위</a:t>
                      </a:r>
                      <a:endParaRPr lang="en-US" sz="900" dirty="0">
                        <a:latin typeface="IBM Plex Serif" charset="0"/>
                        <a:ea typeface="IBM Plex Serif" charset="0"/>
                        <a:cs typeface="IBM Plex Serif" charset="0"/>
                      </a:endParaRPr>
                    </a:p>
                  </a:txBody>
                  <a:tcPr marL="0" marR="171907" marT="133502" marB="114300" anchor="ctr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3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13110B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SiO₂</a:t>
                      </a:r>
                      <a:endParaRPr lang="en-US" sz="19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8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Poole-Frenkel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8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φ</a:t>
                      </a:r>
                      <a:pPr indent="0" marL="0">
                        <a:buNone/>
                      </a:pPr>
                      <a:r>
                        <a:rPr lang="en-US" sz="1375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= 0.77 ± 0.01 eV</a:t>
                      </a:r>
                      <a:endParaRPr lang="en-US" sz="1200" dirty="0"/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8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3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13110B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OSG3.0</a:t>
                      </a:r>
                      <a:endParaRPr lang="en-US" sz="19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8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호핑 / 비정상 PF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8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φ</a:t>
                      </a:r>
                      <a:pPr indent="0" marL="0">
                        <a:buNone/>
                      </a:pPr>
                      <a:r>
                        <a:rPr lang="en-US" sz="1375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= 0.44 ± 0.01 eV,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호핑거리 0.6 nm, E</a:t>
                      </a:r>
                      <a:pPr indent="0" marL="0">
                        <a:buNone/>
                      </a:pPr>
                      <a:r>
                        <a:rPr lang="en-US" sz="1375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0.47 eV </a:t>
                      </a:r>
                      <a:endParaRPr lang="en-US" sz="1200" dirty="0"/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8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3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13110B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Al₂O₃</a:t>
                      </a:r>
                      <a:endParaRPr lang="en-US" sz="19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FN 트랩보조 터널링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B1814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Φ 1.36 eV (상부) / 1.33 eV (하부)</a:t>
                      </a:r>
                      <a:endParaRPr lang="en-US" sz="16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0" marR="171907" marT="171907" marB="171907" anchor="t">
                    <a:lnL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311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7"/>
          <p:cNvSpPr txBox="1"/>
          <p:nvPr/>
        </p:nvSpPr>
        <p:spPr>
          <a:xfrm>
            <a:off x="1143000" y="8001000"/>
            <a:ext cx="7429500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결론은 간단합니다. 누설·잡음 모두 SiO₂가 최고, Al₂O₃는 누설이 가장 크고, OSG3.0은 잡음이 가장 나쁜 데다 수많은 비정상 RTS 이벤트로 전기적 불안정성을 드러냅니다. </a:t>
            </a:r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저유전율 도입의 대가가 정전용량만의 문제가 아니라는 증거입니다.</a:t>
            </a:r>
            <a:endParaRPr lang="en-US" sz="1800" dirty="0"/>
          </a:p>
        </p:txBody>
      </p:sp>
      <p:sp>
        <p:nvSpPr>
          <p:cNvPr id="23" name="Text 8"/>
          <p:cNvSpPr txBox="1"/>
          <p:nvPr/>
        </p:nvSpPr>
        <p:spPr>
          <a:xfrm>
            <a:off x="12115800" y="3314700"/>
            <a:ext cx="2477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B04730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Section b · mechanical</a:t>
            </a:r>
            <a:endParaRPr lang="en-US" sz="1200" dirty="0"/>
          </a:p>
        </p:txBody>
      </p:sp>
      <p:sp>
        <p:nvSpPr>
          <p:cNvPr id="24" name="Text 9"/>
          <p:cNvSpPr txBox="1"/>
          <p:nvPr/>
        </p:nvSpPr>
        <p:spPr>
          <a:xfrm>
            <a:off x="12115800" y="7715707"/>
            <a:ext cx="3044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출처 · 3D InCites · dual-damascene WLP</a:t>
            </a:r>
            <a:endParaRPr lang="en-US" sz="975" dirty="0"/>
          </a:p>
        </p:txBody>
      </p:sp>
      <p:sp>
        <p:nvSpPr>
          <p:cNvPr id="25" name="Text 10"/>
          <p:cNvSpPr txBox="1"/>
          <p:nvPr/>
        </p:nvSpPr>
        <p:spPr>
          <a:xfrm>
            <a:off x="14973300" y="3638398"/>
            <a:ext cx="2934310" cy="282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Vanstreels는 FIB로 깎은 BEOL 마이크로빔을 SEM 안에서 굽히며 균열 발생·전파·계면 박리를 직접 관찰했습니다. 빔 네 개를 200–750 µN/s로 가압했고, k &lt; 2.0 Cu/low-k 스택에서 </a:t>
            </a:r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균열이 금속층 위를 따라 달리다 금속층을 관통해 지나기도 했습니다.</a:t>
            </a:r>
            <a:endParaRPr lang="en-US" sz="1650" dirty="0"/>
          </a:p>
        </p:txBody>
      </p:sp>
      <p:sp>
        <p:nvSpPr>
          <p:cNvPr id="26" name="Text 11"/>
          <p:cNvSpPr txBox="1"/>
          <p:nvPr/>
        </p:nvSpPr>
        <p:spPr>
          <a:xfrm>
            <a:off x="14973300" y="7353605"/>
            <a:ext cx="348843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출처 · IBM Research · Cu evolution and beyond</a:t>
            </a:r>
            <a:endParaRPr lang="en-US" sz="975" dirty="0"/>
          </a:p>
        </p:txBody>
      </p:sp>
      <p:sp>
        <p:nvSpPr>
          <p:cNvPr id="27" name="Text 12"/>
          <p:cNvSpPr txBox="1"/>
          <p:nvPr/>
        </p:nvSpPr>
        <p:spPr>
          <a:xfrm>
            <a:off x="14973300" y="7941564"/>
            <a:ext cx="2934310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i="1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이는 강화 대상이 저유전율막이 아니라</a:t>
            </a:r>
            <a:pPr algn="l" indent="0" marL="0">
              <a:lnSpc>
                <a:spcPts val="2310"/>
              </a:lnSpc>
              <a:buNone/>
            </a:pPr>
            <a:endParaRPr lang="en-US" sz="165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650" b="1" i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금속 상부 계면</a:t>
            </a:r>
            <a:pPr algn="l" indent="0" marL="0">
              <a:lnSpc>
                <a:spcPts val="2310"/>
              </a:lnSpc>
              <a:buNone/>
            </a:pPr>
            <a:r>
              <a:rPr lang="en-US" sz="1650" b="1" i="1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이라는 뜻입니다.</a:t>
            </a:r>
            <a:endParaRPr lang="en-US" sz="1650" dirty="0"/>
          </a:p>
        </p:txBody>
      </p:sp>
      <p:sp>
        <p:nvSpPr>
          <p:cNvPr id="28" name="Text 13"/>
          <p:cNvSpPr txBox="1"/>
          <p:nvPr/>
        </p:nvSpPr>
        <p:spPr>
          <a:xfrm>
            <a:off x="1143000" y="9868205"/>
            <a:ext cx="5715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Two findings · dielectric &amp; mechanical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0" y="743407"/>
            <a:ext cx="228600" cy="228600"/>
          </a:xfrm>
          <a:prstGeom prst="rect">
            <a:avLst/>
          </a:prstGeom>
          <a:solidFill>
            <a:srgbClr val="B047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9c795bb2310693ecee11220145e5343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4859000" y="1333195"/>
            <a:ext cx="2286000" cy="9144"/>
          </a:xfrm>
          <a:prstGeom prst="rect">
            <a:avLst/>
          </a:prstGeom>
        </p:spPr>
      </p:pic>
      <p:pic>
        <p:nvPicPr>
          <p:cNvPr id="4" name="Image 1" descr="gen-dedup-5a1bcd5b17e634b1685676791b3f4f1b.png">    </p:cNvPr>
          <p:cNvPicPr>
            <a:picLocks noChangeAspect="1"/>
          </p:cNvPicPr>
          <p:nvPr/>
        </p:nvPicPr>
        <p:blipFill>
          <a:blip r:embed="rId2"/>
          <a:srcRect l="-2094" r="-2094" t="0" b="0"/>
          <a:stretch/>
        </p:blipFill>
        <p:spPr>
          <a:xfrm>
            <a:off x="14859000" y="1619402"/>
            <a:ext cx="1524305" cy="9144"/>
          </a:xfrm>
          <a:prstGeom prst="rect">
            <a:avLst/>
          </a:prstGeom>
        </p:spPr>
      </p:pic>
      <p:pic>
        <p:nvPicPr>
          <p:cNvPr id="5" name="Image 2" descr="gen-dedup-9a128441a4206981966a10df1d257e0f.png">    </p:cNvPr>
          <p:cNvPicPr>
            <a:picLocks noChangeAspect="1"/>
          </p:cNvPicPr>
          <p:nvPr/>
        </p:nvPicPr>
        <p:blipFill>
          <a:blip r:embed="rId3"/>
          <a:srcRect l="-2061" r="-2061" t="0" b="0"/>
          <a:stretch/>
        </p:blipFill>
        <p:spPr>
          <a:xfrm>
            <a:off x="14859000" y="1904695"/>
            <a:ext cx="761695" cy="9144"/>
          </a:xfrm>
          <a:prstGeom prst="rect">
            <a:avLst/>
          </a:prstGeom>
        </p:spPr>
      </p:pic>
      <p:pic>
        <p:nvPicPr>
          <p:cNvPr id="6" name="Image 3" descr="gen-dedup-8a3b53f53f822190c13e0689946b2d24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1123798"/>
            <a:ext cx="12573000" cy="9144"/>
          </a:xfrm>
          <a:prstGeom prst="rect">
            <a:avLst/>
          </a:prstGeom>
        </p:spPr>
      </p:pic>
      <p:pic>
        <p:nvPicPr>
          <p:cNvPr id="7" name="Image 4" descr="gen-dedup-8a3b53f53f822190c13e0689946b2d24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143000" y="2723998"/>
            <a:ext cx="16002000" cy="9144"/>
          </a:xfrm>
          <a:prstGeom prst="rect">
            <a:avLst/>
          </a:prstGeom>
        </p:spPr>
      </p:pic>
      <p:pic>
        <p:nvPicPr>
          <p:cNvPr id="8" name="Image 5" descr="gen-dedup-e39f574baf284aa51b557dd036a6981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6207" y="2971800"/>
            <a:ext cx="5429707" cy="2495398"/>
          </a:xfrm>
          <a:prstGeom prst="rect">
            <a:avLst/>
          </a:prstGeom>
        </p:spPr>
      </p:pic>
      <p:pic>
        <p:nvPicPr>
          <p:cNvPr id="9" name="Image 6" descr="gen-dedup-771f35833405effcf062d1898daea950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143000" y="5924398"/>
            <a:ext cx="16002000" cy="9144"/>
          </a:xfrm>
          <a:prstGeom prst="rect">
            <a:avLst/>
          </a:prstGeom>
        </p:spPr>
      </p:pic>
      <p:pic>
        <p:nvPicPr>
          <p:cNvPr id="10" name="Image 7" descr="gen-dedup-20be016dc44eb016f69dec820afaa649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6207" y="6133795"/>
            <a:ext cx="3619195" cy="2857500"/>
          </a:xfrm>
          <a:prstGeom prst="rect">
            <a:avLst/>
          </a:prstGeom>
        </p:spPr>
      </p:pic>
      <p:pic>
        <p:nvPicPr>
          <p:cNvPr id="11" name="Image 8" descr="gen-dedup-771f35833405effcf062d1898daea950.png">    </p:cNvPr>
          <p:cNvPicPr>
            <a:picLocks noChangeAspect="1"/>
          </p:cNvPicPr>
          <p:nvPr/>
        </p:nvPicPr>
        <p:blipFill>
          <a:blip r:embed="rId9"/>
          <a:srcRect l="-2083" r="-2083" t="0" b="0"/>
          <a:stretch/>
        </p:blipFill>
        <p:spPr>
          <a:xfrm>
            <a:off x="1143000" y="9353398"/>
            <a:ext cx="16002000" cy="9144"/>
          </a:xfrm>
          <a:prstGeom prst="rect">
            <a:avLst/>
          </a:prstGeom>
        </p:spPr>
      </p:pic>
      <p:sp>
        <p:nvSpPr>
          <p:cNvPr id="12" name="Text 1"/>
          <p:cNvSpPr txBox="1"/>
          <p:nvPr/>
        </p:nvSpPr>
        <p:spPr>
          <a:xfrm>
            <a:off x="1143000" y="685800"/>
            <a:ext cx="20007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3110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Briefing · 발견 셋</a:t>
            </a:r>
            <a:endParaRPr lang="en-US" sz="1200" dirty="0"/>
          </a:p>
        </p:txBody>
      </p:sp>
      <p:sp>
        <p:nvSpPr>
          <p:cNvPr id="13" name="Text 2"/>
          <p:cNvSpPr txBox="1"/>
          <p:nvPr/>
        </p:nvSpPr>
        <p:spPr>
          <a:xfrm>
            <a:off x="14287500" y="685800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3 / 3</a:t>
            </a:r>
            <a:endParaRPr lang="en-US" sz="1200" dirty="0"/>
          </a:p>
        </p:txBody>
      </p:sp>
      <p:sp>
        <p:nvSpPr>
          <p:cNvPr id="14" name="Text 3"/>
          <p:cNvSpPr txBox="1"/>
          <p:nvPr/>
        </p:nvSpPr>
        <p:spPr>
          <a:xfrm>
            <a:off x="1143000" y="1447495"/>
            <a:ext cx="12382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spc="-29" kern="0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열, 모델, 그리고 </a:t>
            </a:r>
            <a:pPr algn="l" indent="0" marL="0">
              <a:buNone/>
            </a:pPr>
            <a:r>
              <a:rPr lang="en-US" sz="5700" b="1" i="1" spc="-29" kern="0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BSPDN</a:t>
            </a:r>
            <a:endParaRPr lang="en-US" sz="5700" dirty="0"/>
          </a:p>
        </p:txBody>
      </p:sp>
      <p:sp>
        <p:nvSpPr>
          <p:cNvPr id="15" name="Text 4"/>
          <p:cNvSpPr txBox="1"/>
          <p:nvPr/>
        </p:nvSpPr>
        <p:spPr>
          <a:xfrm>
            <a:off x="1143000" y="2257654"/>
            <a:ext cx="12382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A523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비아 · 모델 · BSPDN — 세 가지 발견.</a:t>
            </a:r>
            <a:endParaRPr lang="en-US" sz="1800" dirty="0"/>
          </a:p>
        </p:txBody>
      </p:sp>
      <p:sp>
        <p:nvSpPr>
          <p:cNvPr id="16" name="Text 5"/>
          <p:cNvSpPr txBox="1"/>
          <p:nvPr/>
        </p:nvSpPr>
        <p:spPr>
          <a:xfrm>
            <a:off x="1143000" y="2971800"/>
            <a:ext cx="1951330" cy="152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0" dirty="0">
                <a:solidFill>
                  <a:srgbClr val="B04730">
                    <a:alpha val="92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12000" dirty="0"/>
          </a:p>
        </p:txBody>
      </p:sp>
      <p:sp>
        <p:nvSpPr>
          <p:cNvPr id="17" name="Text 6"/>
          <p:cNvSpPr txBox="1"/>
          <p:nvPr/>
        </p:nvSpPr>
        <p:spPr>
          <a:xfrm>
            <a:off x="2857500" y="3010205"/>
            <a:ext cx="8572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열: 비아가 열저항의 </a:t>
            </a:r>
            <a:pPr algn="l" indent="0" marL="0">
              <a:buNone/>
            </a:pPr>
            <a:r>
              <a:rPr lang="en-US" sz="255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86%</a:t>
            </a:r>
            <a:pPr algn="l" indent="0" marL="0">
              <a:buNone/>
            </a:pPr>
            <a:r>
              <a:rPr lang="en-US" sz="2550" b="1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먹는다</a:t>
            </a:r>
            <a:endParaRPr lang="en-US" sz="2550" dirty="0"/>
          </a:p>
        </p:txBody>
      </p:sp>
      <p:sp>
        <p:nvSpPr>
          <p:cNvPr id="18" name="Text 7"/>
          <p:cNvSpPr txBox="1"/>
          <p:nvPr/>
        </p:nvSpPr>
        <p:spPr>
          <a:xfrm>
            <a:off x="2857500" y="3543300"/>
            <a:ext cx="81921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저유전율막은 전기적으로 좋고 열적으로 나쁩니다. SiO₂가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1.15 W/m·K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 데 비해 OSG3.0은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0.3 W/m·K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— 사실상 단열재입니다. imec은 열전도도가 1 W/m·K 아래로 내려가면 BEOL 온도가 급격히 오른다고 보고합니다. 로직셀 전력밀도는 이미 약 10 W/mm² (≈ 1000 W/cm²) 수준입니다.</a:t>
            </a:r>
            <a:endParaRPr lang="en-US" sz="1500" dirty="0"/>
          </a:p>
        </p:txBody>
      </p:sp>
      <p:sp>
        <p:nvSpPr>
          <p:cNvPr id="19" name="Text 8"/>
          <p:cNvSpPr txBox="1"/>
          <p:nvPr/>
        </p:nvSpPr>
        <p:spPr>
          <a:xfrm>
            <a:off x="2857500" y="4476902"/>
            <a:ext cx="81921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14층 BEOL 스택을 분해해 보면 열저항의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86%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비아층,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14%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선 층에서 나옵니다. 적층 (stacked) &gt; 연결된 엇갈림 (staggered) &gt; 고립 순으로 유리합니다 — 정작 금속 종류 선택은 열 방출에 거의 영향이 없습니다. 한편 정전용량을 줄이려고 넣는 에어갭은 A14 노드에서 금속선 자기발열을 30% 늘립니다.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전기와 열이 정확히 반대로 움직이는 지점입니다.</a:t>
            </a:r>
            <a:endParaRPr lang="en-US" sz="1500" dirty="0"/>
          </a:p>
        </p:txBody>
      </p:sp>
      <p:sp>
        <p:nvSpPr>
          <p:cNvPr id="20" name="Text 9"/>
          <p:cNvSpPr txBox="1"/>
          <p:nvPr/>
        </p:nvSpPr>
        <p:spPr>
          <a:xfrm>
            <a:off x="11716207" y="5544007"/>
            <a:ext cx="61155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출처 · imec magazine · Mitigating the thermal bottleneck in advanced interconnects</a:t>
            </a:r>
            <a:endParaRPr lang="en-US" sz="975" dirty="0"/>
          </a:p>
        </p:txBody>
      </p:sp>
      <p:sp>
        <p:nvSpPr>
          <p:cNvPr id="21" name="Text 10"/>
          <p:cNvSpPr txBox="1"/>
          <p:nvPr/>
        </p:nvSpPr>
        <p:spPr>
          <a:xfrm>
            <a:off x="1143000" y="6152998"/>
            <a:ext cx="1524305" cy="123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0" dirty="0">
                <a:solidFill>
                  <a:srgbClr val="2D4540">
                    <a:alpha val="92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9750" dirty="0"/>
          </a:p>
        </p:txBody>
      </p:sp>
      <p:sp>
        <p:nvSpPr>
          <p:cNvPr id="22" name="Text 11"/>
          <p:cNvSpPr txBox="1"/>
          <p:nvPr/>
        </p:nvSpPr>
        <p:spPr>
          <a:xfrm>
            <a:off x="2857500" y="6133795"/>
            <a:ext cx="8572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모델링이 바뀜 이유</a:t>
            </a:r>
            <a:endParaRPr lang="en-US" sz="2400" dirty="0"/>
          </a:p>
        </p:txBody>
      </p:sp>
      <p:sp>
        <p:nvSpPr>
          <p:cNvPr id="23" name="Text 12"/>
          <p:cNvSpPr txBox="1"/>
          <p:nvPr/>
        </p:nvSpPr>
        <p:spPr>
          <a:xfrm>
            <a:off x="2857500" y="6590995"/>
            <a:ext cx="819211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Chang의 ECTC 2024 / TCPMT 2025 연작은 BTE–FEM 모듈러 결합을 제안합니다. 핵심 주장은 </a:t>
            </a:r>
            <a:pPr algn="l" indent="0" marL="0">
              <a:lnSpc>
                <a:spcPts val="2066"/>
              </a:lnSpc>
              <a:buNone/>
            </a:pPr>
            <a:r>
              <a:rPr lang="en-US" sz="1425" i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"벌크 물성값을 쓰는 기존 FEM은 노드가 미세화될수록 BEOL 열저항을 점점 더 과소평가한다"</a:t>
            </a:r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는 것입니다. 검증 대상은 A10 고밀도 코어 설계에서 나온 12층, 18 nm 피치 스택이고, 입력은 금속선 밀도·비아 밀도·유전체 열전도도·크기의존 금속 열물성입니다. 높은 계층은 DFT (원자) → BTE (nm–µm) → FEM (전체 스택)으로 연결됩니다. 유전체 열전도도는 3ω 법으로 추출하고, BEOL 자기발열 측정으로 3D FEM을 보정합니다.</a:t>
            </a:r>
            <a:endParaRPr lang="en-US" sz="1425" dirty="0"/>
          </a:p>
        </p:txBody>
      </p:sp>
      <p:sp>
        <p:nvSpPr>
          <p:cNvPr id="24" name="Text 13"/>
          <p:cNvSpPr txBox="1"/>
          <p:nvPr/>
        </p:nvSpPr>
        <p:spPr>
          <a:xfrm>
            <a:off x="11716207" y="9048902"/>
            <a:ext cx="4953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출처 · imec magazine · Mitigating the thermal bottleneck in advanced interconnects</a:t>
            </a:r>
            <a:endParaRPr lang="en-US" sz="975" dirty="0"/>
          </a:p>
        </p:txBody>
      </p:sp>
      <p:sp>
        <p:nvSpPr>
          <p:cNvPr id="25" name="Text 14"/>
          <p:cNvSpPr txBox="1"/>
          <p:nvPr/>
        </p:nvSpPr>
        <p:spPr>
          <a:xfrm>
            <a:off x="1143000" y="9448495"/>
            <a:ext cx="76261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dirty="0">
                <a:solidFill>
                  <a:srgbClr val="13110B">
                    <a:alpha val="92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050" dirty="0"/>
          </a:p>
        </p:txBody>
      </p:sp>
      <p:sp>
        <p:nvSpPr>
          <p:cNvPr id="26" name="Text 15"/>
          <p:cNvSpPr txBox="1"/>
          <p:nvPr/>
        </p:nvSpPr>
        <p:spPr>
          <a:xfrm>
            <a:off x="1981505" y="948690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110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BSPDN은 정말 열적으로 유리한가</a:t>
            </a:r>
            <a:endParaRPr lang="en-US" sz="1800" dirty="0"/>
          </a:p>
        </p:txBody>
      </p:sp>
      <p:sp>
        <p:nvSpPr>
          <p:cNvPr id="27" name="Text 16"/>
          <p:cNvSpPr txBox="1"/>
          <p:nvPr/>
        </p:nvSpPr>
        <p:spPr>
          <a:xfrm>
            <a:off x="7429500" y="9525305"/>
            <a:ext cx="381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5A523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same question · reversed answer</a:t>
            </a:r>
            <a:endParaRPr lang="en-US" sz="1200" dirty="0"/>
          </a:p>
        </p:txBody>
      </p:sp>
      <p:sp>
        <p:nvSpPr>
          <p:cNvPr id="28" name="Text 17"/>
          <p:cNvSpPr txBox="1"/>
          <p:nvPr/>
        </p:nvSpPr>
        <p:spPr>
          <a:xfrm>
            <a:off x="1981505" y="9791395"/>
            <a:ext cx="149733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전기적으로는 명확합니다만, 5 µm 해상도의 비균일 전력 분포에서는 </a:t>
            </a:r>
            <a:pPr algn="l" indent="0" marL="0">
              <a:buNone/>
            </a:pPr>
            <a:r>
              <a:rPr lang="en-US" sz="1275" b="1" dirty="0">
                <a:solidFill>
                  <a:srgbClr val="B0473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최고온도가 전면 PDN보다 일관되게 높다</a:t>
            </a:r>
            <a:pPr algn="l" indent="0" marL="0">
              <a:buNone/>
            </a:pPr>
            <a:r>
              <a:rPr lang="en-US" sz="1275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 보고됩니다 — </a:t>
            </a:r>
            <a:pPr algn="l" indent="0" marL="0">
              <a:buNone/>
            </a:pPr>
            <a:r>
              <a:rPr lang="en-US" sz="1275" i="1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균일 전력 가정</a:t>
            </a:r>
            <a:pPr algn="l" indent="0" marL="0">
              <a:buNone/>
            </a:pPr>
            <a:r>
              <a:rPr lang="en-US" sz="1275" dirty="0">
                <a:solidFill>
                  <a:srgbClr val="1B18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결론을 뒤집습니다.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2026-10-03T16:44:31Z</dcterms:created>
  <dcterms:modified xsi:type="dcterms:W3CDTF">2026-10-03T16:44:31Z</dcterms:modified>
</cp:coreProperties>
</file>