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5번 시퀀스의 첫 페이지로, 왜 이 평가를 진행하는지, 어떤 조건으로 진행했는지 한눈에 보여주는 개요 페이지입니다.
우선 Air Gap 적용 유무를 split A와 split B 두 번에 걸쳐 검증하도록 더미 wafer 4매(W1~W4)를 배치했고, 각 lot에서 Control과 Air Gap을 1:1로 대비합니다.
평가는 V1(비아)과 M2(라인) 두 레이어에서 진행하며, 측정 디스크립터는 AASI·ASEI·AMI·ACI 네 가지, 추가로 25pt in-wafer uniformity, 누적분포, 공정 flow diff까지 살펴봅니다.
이 파일은 시리즈 20개 중 04번으로 위젯 단일 비교에 집중합니다.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외부 학술 자료에서 발췌한 단면 이미지를 4장 배치했습니다. 좌상단은 Control V1 baseline, 우상단은 Air Gap pinch-off 후 cavity가 형성된 단면, 좌하단은 M2 라인, 우하단은 barrier reference입니다.
각 패널 우측 라벨에는 Control/Air Gap, V1/M2 두 색인을 모두 표기했습니다. AG에서는 UL 일부가 비고 cavity로 k~1.0이 되어 CD 손실이 약간 발생할 수 있는데, 이 점이 이후 CD/누적분포 슬라이드의 근거가 됩니다.
인용 출처는 하단 strip에 한 줄로 정리했습니다.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 variation 페이지입니다. 4 metrics, 4 wafers, 25 다이/site 측정 평균치로 구성했고 셀 안에 mean±3σ, range, target 대비 delta를 같은 칸에 세 줄로 표시했습니다.
살펴볼 포인트는 첫째, control 쪽인 W1·W3가 모든 metric에서 target에 근접하고 3σ이 작은 반면, AG 쪽인 W2·W4는 평균이 0.4에서 1.2 nm 정도 under로 떨어집니다.
둘째, 같은 split 내에서도 W1과 W2의 차이는 Δ AVG 칼럼에 -1.15, -0.95, -0.45, -0.45 nm로 metric마다 다르게 나타나고 있습니다.
셋째, BEST 컬럼에는 target과의 절대 차가 가장 작은 wafer을 표기했는데 모두 control wafer가 차지했습니다. AG는 cavity 형성에 따른 line CD 손실을 어떻게 보정할지가 다음 페이지 uniformity·누적분포 데이터와 함께 핵심 이슈입니다.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In-wafer uniformity 페이지입니다. 4 wafer의 25 site 위치 CD를 5×5 grid로 시각화하고 아래쪽 표에 평균/min/max/3σ/range를 정리했습니다.
Control 쪽 wafer인 W1과 W3는 분포가 중앙에 응집되어 있고 가장자리에서도 큰 폭 차이가 없으며, 3σ이 0.32~0.41로 작은 편입니다.
반면 AG 쪽 wafer인 W2·W4는 가장자리 셀에서 7.5~7.9까지 내려가고 중앙도 8.6~8.7에 그쳐 평균이 -0.37, -0.50만큼 target에서 벗어나 있고 3σ은 0.55, 0.62로 두 배 가까이 큽니다.
cavity 형성 깊이가 edge에서 더 깊게 나타나는 경향이 map에서 분명하게 보이고 있어서 AG 공정에서 가장자리 over-recess가 다음 후속 평가의 핵심 개선 포인트입니다.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누적분포 페이지입니다. 왼쪽은 M2 라인 56nm pitch의 sheet resistance Rs 분포, 오른쪽은 V1 via Kelvin chain의 Rc 분포입니다.
4개 wafer에 대해 1/5/25/50/75/95/99 7개 percentile과 표준편차를 한 줄로 정리했고, 헤더 컬럼 폭은 우측 끝 σ가 가장 넓어 표시 우선순위를 반영했습니다.
결과를 보면 두 컬렉션 모두에서 W1·W3 control이 가장 낮은 P99 tail을 보이고 σ도 13~14 수준으로 안정적인데, W2·W4 AG는 P50이 251~256에서 시작해 P99 tail이 288~296까지 늘어집니다.
Rs보다 Rc 영향이 더 큰데 via 직경 변동 + barrier 두께 손실이 함께 적용되기 때문이며, AG 적용 시 via Tilt 개선이나 barrier 두께 보정이 다음 단계 후보입니다.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Control과 Air Gap 두 split의 공정 차이(위쪽 표)와 wafer별 전기 결과(아래쪽 표)를 한 페이지에 묶었습니다.
공정 단계는 6단계로 요약했고 06 wet recess 12초가 AG에만 적용되는 결정 step입니다. Cu는 recess-CMP로 5 nm 더 깎고 SiCN은 pinch-off 조건으로 더 좁은 gap에서 메우도록 조정했습니다.
전기 데이터는 5개 메트릭 — Rs, Rc, Jmax EM, 누설, T50 TDDB — 을 wafer별로 정리했고 Δ 컬럼과 remark 컬럼을 더해 한눈에 비교 가능하도록 했습니다.
AG split에서 Rc는 +13.5%, 누설 +16.7%까지 증가하고 T50/Jmax는 약 10%씩 줄어듭니다. tradeoff 후보군이 정리되어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요약 슬라이드입니다. 위쪽 4개 카드는 핵심 finding — CD 손실, uniformity 열화, 저항 증가, reliability trade-off를 각각 4번에 걸쳐 보여주고, 가운데 작은 표에서는 Δ value와 GAIN/PAY/WATCH 라벨로 trade-off를 정리했습니다.
우측 카드에는 후속 평가 권고를 4가지로 짧게 정리했습니다. 1번 recess 시간 단축, 2번 litho bias 보정, 3번 barrier 후보 변경, 4번 selective AG 적용이 그것입니다.
마지막 strip에 overall read도 짧게 정리했습니다. AG는 분명 gain이 있지만 trade-off도 같이 따라오며 이 두 split의 반복 lot에서 같은 패턴이 재현되었기 때문에 process level 보정 후에도 남는 패턴인지를 보는 후속 평가가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jpeg"/><Relationship Id="rId4" Type="http://schemas.openxmlformats.org/officeDocument/2006/relationships/image" Target="../media/image-2-4.jpe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4.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gen-dedup-9509a91da8b7ce171b831d6e33398db4.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13620902" y="571500"/>
            <a:ext cx="3810305" cy="1314907"/>
          </a:xfrm>
          <a:prstGeom prst="rect">
            <a:avLst/>
          </a:prstGeom>
          <a:solidFill>
            <a:srgbClr val="131E33"/>
          </a:solidFill>
          <a:ln w="12700">
            <a:solidFill>
              <a:srgbClr val="2A3B57"/>
            </a:solidFill>
            <a:prstDash val="solid"/>
          </a:ln>
        </p:spPr>
      </p:sp>
      <p:pic>
        <p:nvPicPr>
          <p:cNvPr id="5" name="Image 1" descr="gen-dedup-08ce8758fd9a39fe0ee9533c5dce2cd4.png">    </p:cNvPr>
          <p:cNvPicPr>
            <a:picLocks noChangeAspect="1"/>
          </p:cNvPicPr>
          <p:nvPr/>
        </p:nvPicPr>
        <p:blipFill>
          <a:blip r:embed="rId2"/>
          <a:srcRect l="0" r="0" t="-7" b="-7"/>
          <a:stretch/>
        </p:blipFill>
        <p:spPr>
          <a:xfrm>
            <a:off x="857707" y="2190902"/>
            <a:ext cx="10477195" cy="2667305"/>
          </a:xfrm>
          <a:prstGeom prst="rect">
            <a:avLst/>
          </a:prstGeom>
        </p:spPr>
      </p:pic>
      <p:sp>
        <p:nvSpPr>
          <p:cNvPr id="6" name="Shape 1"/>
          <p:cNvSpPr/>
          <p:nvPr/>
        </p:nvSpPr>
        <p:spPr>
          <a:xfrm>
            <a:off x="11620195" y="2190902"/>
            <a:ext cx="5810098" cy="2667305"/>
          </a:xfrm>
          <a:prstGeom prst="rect">
            <a:avLst/>
          </a:prstGeom>
          <a:solidFill>
            <a:srgbClr val="131E33"/>
          </a:solidFill>
          <a:ln w="12700">
            <a:solidFill>
              <a:srgbClr val="2A3B57"/>
            </a:solidFill>
            <a:prstDash val="solid"/>
          </a:ln>
        </p:spPr>
      </p:sp>
      <p:sp>
        <p:nvSpPr>
          <p:cNvPr id="7" name="Shape 2"/>
          <p:cNvSpPr/>
          <p:nvPr/>
        </p:nvSpPr>
        <p:spPr>
          <a:xfrm>
            <a:off x="857707" y="5143500"/>
            <a:ext cx="6762902" cy="2095805"/>
          </a:xfrm>
          <a:prstGeom prst="rect">
            <a:avLst/>
          </a:prstGeom>
          <a:solidFill>
            <a:srgbClr val="131E33"/>
          </a:solidFill>
          <a:ln w="12700">
            <a:solidFill>
              <a:srgbClr val="2A3B57"/>
            </a:solidFill>
            <a:prstDash val="solid"/>
          </a:ln>
        </p:spPr>
      </p:sp>
      <p:sp>
        <p:nvSpPr>
          <p:cNvPr id="8" name="Shape 3"/>
          <p:cNvSpPr/>
          <p:nvPr/>
        </p:nvSpPr>
        <p:spPr>
          <a:xfrm>
            <a:off x="7905902" y="5143500"/>
            <a:ext cx="9525305" cy="2095805"/>
          </a:xfrm>
          <a:prstGeom prst="rect">
            <a:avLst/>
          </a:prstGeom>
          <a:solidFill>
            <a:srgbClr val="131E33"/>
          </a:solidFill>
          <a:ln w="12700">
            <a:solidFill>
              <a:srgbClr val="2A3B57"/>
            </a:solidFill>
            <a:prstDash val="solid"/>
          </a:ln>
        </p:spPr>
      </p:sp>
      <p:pic>
        <p:nvPicPr>
          <p:cNvPr id="9" name="Image 2" descr="gen-dedup-5d045c4a70c6366c384243301476441d.png">    </p:cNvPr>
          <p:cNvPicPr>
            <a:picLocks noChangeAspect="1"/>
          </p:cNvPicPr>
          <p:nvPr/>
        </p:nvPicPr>
        <p:blipFill>
          <a:blip r:embed="rId3"/>
          <a:srcRect l="0" r="0" t="0" b="0"/>
          <a:stretch/>
        </p:blipFill>
        <p:spPr>
          <a:xfrm>
            <a:off x="857707" y="7524598"/>
            <a:ext cx="16573500" cy="1714500"/>
          </a:xfrm>
          <a:prstGeom prst="rect">
            <a:avLst/>
          </a:prstGeom>
        </p:spPr>
      </p:pic>
      <p:pic>
        <p:nvPicPr>
          <p:cNvPr id="10" name="Image 3" descr="gen-dedup-e141afeb0b25195d59d2962a229a8429.png">    </p:cNvPr>
          <p:cNvPicPr>
            <a:picLocks noChangeAspect="1"/>
          </p:cNvPicPr>
          <p:nvPr/>
        </p:nvPicPr>
        <p:blipFill>
          <a:blip r:embed="rId4"/>
          <a:srcRect l="-394" r="-394" t="0" b="0"/>
          <a:stretch/>
        </p:blipFill>
        <p:spPr>
          <a:xfrm>
            <a:off x="857707" y="2190902"/>
            <a:ext cx="57607" cy="2667305"/>
          </a:xfrm>
          <a:prstGeom prst="rect">
            <a:avLst/>
          </a:prstGeom>
        </p:spPr>
      </p:pic>
      <p:sp>
        <p:nvSpPr>
          <p:cNvPr id="11" name="Text 4"/>
          <p:cNvSpPr txBox="1"/>
          <p:nvPr/>
        </p:nvSpPr>
        <p:spPr>
          <a:xfrm>
            <a:off x="857707" y="571500"/>
            <a:ext cx="4953305" cy="191110"/>
          </a:xfrm>
          <a:prstGeom prst="rect">
            <a:avLst/>
          </a:prstGeom>
          <a:noFill/>
          <a:ln/>
        </p:spPr>
        <p:txBody>
          <a:bodyPr wrap="none" lIns="0" tIns="0" rIns="0" bIns="0" rtlCol="0" anchor="ctr"/>
          <a:lstStyle/>
          <a:p>
            <a:pPr algn="l" indent="0" marL="0">
              <a:buNone/>
            </a:pPr>
            <a:r>
              <a:rPr lang="en-US" sz="1050" b="1" spc="336" kern="0" dirty="0">
                <a:solidFill>
                  <a:srgbClr val="F59E0B"/>
                </a:solidFill>
                <a:latin typeface="Inter" pitchFamily="34" charset="0"/>
                <a:ea typeface="Inter" pitchFamily="34" charset="-122"/>
                <a:cs typeface="Inter" pitchFamily="34" charset="-120"/>
              </a:rPr>
              <a:t>FILE 04 / 20 · BEOL 평가</a:t>
            </a:r>
            <a:endParaRPr lang="en-US" sz="1050" dirty="0"/>
          </a:p>
        </p:txBody>
      </p:sp>
      <p:sp>
        <p:nvSpPr>
          <p:cNvPr id="12" name="Text 5"/>
          <p:cNvSpPr txBox="1"/>
          <p:nvPr/>
        </p:nvSpPr>
        <p:spPr>
          <a:xfrm>
            <a:off x="857707" y="838505"/>
            <a:ext cx="12382805" cy="505663"/>
          </a:xfrm>
          <a:prstGeom prst="rect">
            <a:avLst/>
          </a:prstGeom>
          <a:noFill/>
          <a:ln/>
        </p:spPr>
        <p:txBody>
          <a:bodyPr wrap="none" lIns="0" tIns="0" rIns="0" bIns="0" rtlCol="0" anchor="ctr"/>
          <a:lstStyle/>
          <a:p>
            <a:pPr algn="l" indent="0" marL="0">
              <a:buNone/>
            </a:pPr>
            <a:r>
              <a:rPr lang="en-US" sz="3750" b="1" spc="-37" kern="0" dirty="0">
                <a:solidFill>
                  <a:srgbClr val="ECF1F9"/>
                </a:solidFill>
                <a:latin typeface="Inter" pitchFamily="34" charset="0"/>
                <a:ea typeface="Inter" pitchFamily="34" charset="-122"/>
                <a:cs typeface="Inter" pitchFamily="34" charset="-120"/>
              </a:rPr>
              <a:t>Air Gap 적용 vs 무적용 Split 평가 개요</a:t>
            </a:r>
            <a:endParaRPr lang="en-US" sz="3750" dirty="0"/>
          </a:p>
        </p:txBody>
      </p:sp>
      <p:sp>
        <p:nvSpPr>
          <p:cNvPr id="13" name="Text 6"/>
          <p:cNvSpPr txBox="1"/>
          <p:nvPr/>
        </p:nvSpPr>
        <p:spPr>
          <a:xfrm>
            <a:off x="857707" y="1476756"/>
            <a:ext cx="12382805" cy="305410"/>
          </a:xfrm>
          <a:prstGeom prst="rect">
            <a:avLst/>
          </a:prstGeom>
          <a:noFill/>
          <a:ln/>
        </p:spPr>
        <p:txBody>
          <a:bodyPr wrap="none" lIns="0" tIns="0" rIns="0" bIns="0" rtlCol="0" anchor="ctr"/>
          <a:lstStyle/>
          <a:p>
            <a:pPr algn="l" indent="0" marL="0">
              <a:buNone/>
            </a:pPr>
            <a:r>
              <a:rPr lang="en-US" sz="1650" dirty="0">
                <a:solidFill>
                  <a:srgbClr val="C2CCE0"/>
                </a:solidFill>
                <a:latin typeface="Inter" pitchFamily="34" charset="0"/>
                <a:ea typeface="Inter" pitchFamily="34" charset="-122"/>
                <a:cs typeface="Inter" pitchFamily="34" charset="-120"/>
              </a:rPr>
              <a:t>V1 / M2 단면 CD·in-wafer uniformity·누적분포·공정 비교 — 테스트용 더미 wafer 4매</a:t>
            </a:r>
            <a:endParaRPr lang="en-US" sz="1650" dirty="0"/>
          </a:p>
        </p:txBody>
      </p:sp>
      <p:sp>
        <p:nvSpPr>
          <p:cNvPr id="14" name="Text 7"/>
          <p:cNvSpPr txBox="1"/>
          <p:nvPr/>
        </p:nvSpPr>
        <p:spPr>
          <a:xfrm>
            <a:off x="13868705" y="743407"/>
            <a:ext cx="1524305" cy="133502"/>
          </a:xfrm>
          <a:prstGeom prst="rect">
            <a:avLst/>
          </a:prstGeom>
          <a:noFill/>
          <a:ln/>
        </p:spPr>
        <p:txBody>
          <a:bodyPr wrap="none" lIns="0" tIns="0" rIns="0" bIns="0" rtlCol="0" anchor="ctr"/>
          <a:lstStyle/>
          <a:p>
            <a:pPr algn="l" indent="0" marL="0">
              <a:buNone/>
            </a:pPr>
            <a:r>
              <a:rPr lang="en-US" sz="825" spc="247" kern="0" dirty="0">
                <a:solidFill>
                  <a:srgbClr val="7E8DA6"/>
                </a:solidFill>
                <a:latin typeface="Inter" pitchFamily="34" charset="0"/>
                <a:ea typeface="Inter" pitchFamily="34" charset="-122"/>
                <a:cs typeface="Inter" pitchFamily="34" charset="-120"/>
              </a:rPr>
              <a:t>SPLIT LEGEND</a:t>
            </a:r>
            <a:endParaRPr lang="en-US" sz="825" dirty="0"/>
          </a:p>
        </p:txBody>
      </p:sp>
      <p:sp>
        <p:nvSpPr>
          <p:cNvPr id="15" name="Shape 8"/>
          <p:cNvSpPr/>
          <p:nvPr/>
        </p:nvSpPr>
        <p:spPr>
          <a:xfrm>
            <a:off x="13868705" y="1052474"/>
            <a:ext cx="114300" cy="114300"/>
          </a:xfrm>
          <a:prstGeom prst="roundRect">
            <a:avLst>
              <a:gd name="adj" fmla="val 16800"/>
            </a:avLst>
          </a:prstGeom>
          <a:solidFill>
            <a:srgbClr val="38BDF8"/>
          </a:solidFill>
          <a:ln w="12700">
            <a:solidFill>
              <a:srgbClr val="FFFFFF">
                <a:alpha val="0"/>
              </a:srgbClr>
            </a:solidFill>
            <a:prstDash val="solid"/>
          </a:ln>
        </p:spPr>
      </p:sp>
      <p:sp>
        <p:nvSpPr>
          <p:cNvPr id="16" name="Text 9"/>
          <p:cNvSpPr txBox="1"/>
          <p:nvPr/>
        </p:nvSpPr>
        <p:spPr>
          <a:xfrm>
            <a:off x="14078102" y="1009498"/>
            <a:ext cx="737006" cy="200254"/>
          </a:xfrm>
          <a:prstGeom prst="rect">
            <a:avLst/>
          </a:prstGeom>
          <a:noFill/>
          <a:ln/>
        </p:spPr>
        <p:txBody>
          <a:bodyPr wrap="none" lIns="0" tIns="0" rIns="0" bIns="0" rtlCol="0" anchor="ctr"/>
          <a:lstStyle/>
          <a:p>
            <a:pPr algn="l" indent="0" marL="0">
              <a:buNone/>
            </a:pPr>
            <a:r>
              <a:rPr lang="en-US" sz="1350" b="1" dirty="0">
                <a:solidFill>
                  <a:srgbClr val="ECF1F9"/>
                </a:solidFill>
                <a:latin typeface="Inter" pitchFamily="34" charset="0"/>
                <a:ea typeface="Inter" pitchFamily="34" charset="-122"/>
                <a:cs typeface="Inter" pitchFamily="34" charset="-120"/>
              </a:rPr>
              <a:t>Control</a:t>
            </a:r>
            <a:endParaRPr lang="en-US" sz="1350" dirty="0"/>
          </a:p>
        </p:txBody>
      </p:sp>
      <p:sp>
        <p:nvSpPr>
          <p:cNvPr id="17" name="Shape 10"/>
          <p:cNvSpPr/>
          <p:nvPr/>
        </p:nvSpPr>
        <p:spPr>
          <a:xfrm>
            <a:off x="13868705" y="1328623"/>
            <a:ext cx="114300" cy="114300"/>
          </a:xfrm>
          <a:prstGeom prst="roundRect">
            <a:avLst>
              <a:gd name="adj" fmla="val 16800"/>
            </a:avLst>
          </a:prstGeom>
          <a:solidFill>
            <a:srgbClr val="F59E0B"/>
          </a:solidFill>
          <a:ln w="12700">
            <a:solidFill>
              <a:srgbClr val="FFFFFF">
                <a:alpha val="0"/>
              </a:srgbClr>
            </a:solidFill>
            <a:prstDash val="solid"/>
          </a:ln>
        </p:spPr>
      </p:sp>
      <p:sp>
        <p:nvSpPr>
          <p:cNvPr id="18" name="Text 11"/>
          <p:cNvSpPr txBox="1"/>
          <p:nvPr/>
        </p:nvSpPr>
        <p:spPr>
          <a:xfrm>
            <a:off x="14078102" y="1285646"/>
            <a:ext cx="737006" cy="200254"/>
          </a:xfrm>
          <a:prstGeom prst="rect">
            <a:avLst/>
          </a:prstGeom>
          <a:noFill/>
          <a:ln/>
        </p:spPr>
        <p:txBody>
          <a:bodyPr wrap="none" lIns="0" tIns="0" rIns="0" bIns="0" rtlCol="0" anchor="ctr"/>
          <a:lstStyle/>
          <a:p>
            <a:pPr algn="l" indent="0" marL="0">
              <a:buNone/>
            </a:pPr>
            <a:r>
              <a:rPr lang="en-US" sz="1350" b="1" dirty="0">
                <a:solidFill>
                  <a:srgbClr val="ECF1F9"/>
                </a:solidFill>
                <a:latin typeface="Inter" pitchFamily="34" charset="0"/>
                <a:ea typeface="Inter" pitchFamily="34" charset="-122"/>
                <a:cs typeface="Inter" pitchFamily="34" charset="-120"/>
              </a:rPr>
              <a:t>Air Gap</a:t>
            </a:r>
            <a:endParaRPr lang="en-US" sz="1350" dirty="0"/>
          </a:p>
        </p:txBody>
      </p:sp>
      <p:sp>
        <p:nvSpPr>
          <p:cNvPr id="19" name="Text 12"/>
          <p:cNvSpPr txBox="1"/>
          <p:nvPr/>
        </p:nvSpPr>
        <p:spPr>
          <a:xfrm>
            <a:off x="1218895" y="2419502"/>
            <a:ext cx="9753905" cy="133502"/>
          </a:xfrm>
          <a:prstGeom prst="rect">
            <a:avLst/>
          </a:prstGeom>
          <a:noFill/>
          <a:ln/>
        </p:spPr>
        <p:txBody>
          <a:bodyPr wrap="none" lIns="0" tIns="0" rIns="0" bIns="0" rtlCol="0" anchor="ctr"/>
          <a:lstStyle/>
          <a:p>
            <a:pPr algn="l" indent="0" marL="0">
              <a:buNone/>
            </a:pPr>
            <a:r>
              <a:rPr lang="en-US" sz="825" spc="247" kern="0" dirty="0">
                <a:solidFill>
                  <a:srgbClr val="7E8DA6"/>
                </a:solidFill>
                <a:latin typeface="Inter" pitchFamily="34" charset="0"/>
                <a:ea typeface="Inter" pitchFamily="34" charset="-122"/>
                <a:cs typeface="Inter" pitchFamily="34" charset="-120"/>
              </a:rPr>
              <a:t>EXPERIMENT PURPOSE</a:t>
            </a:r>
            <a:endParaRPr lang="en-US" sz="825" dirty="0"/>
          </a:p>
        </p:txBody>
      </p:sp>
      <p:sp>
        <p:nvSpPr>
          <p:cNvPr id="20" name="Text 13"/>
          <p:cNvSpPr txBox="1"/>
          <p:nvPr/>
        </p:nvSpPr>
        <p:spPr>
          <a:xfrm>
            <a:off x="1218895" y="2686507"/>
            <a:ext cx="9753905" cy="771754"/>
          </a:xfrm>
          <a:prstGeom prst="rect">
            <a:avLst/>
          </a:prstGeom>
          <a:noFill/>
          <a:ln/>
        </p:spPr>
        <p:txBody>
          <a:bodyPr wrap="square" lIns="0" tIns="0" rIns="0" bIns="0" rtlCol="0" anchor="t"/>
          <a:lstStyle/>
          <a:p>
            <a:pPr algn="l" indent="0" marL="0">
              <a:lnSpc>
                <a:spcPct val="118000"/>
              </a:lnSpc>
              <a:buNone/>
            </a:pPr>
            <a:r>
              <a:rPr lang="en-US" sz="2550" b="1" dirty="0">
                <a:solidFill>
                  <a:srgbClr val="ECF1F9"/>
                </a:solidFill>
                <a:latin typeface="Inter" pitchFamily="34" charset="0"/>
                <a:ea typeface="Inter" pitchFamily="34" charset="-122"/>
                <a:cs typeface="Inter" pitchFamily="34" charset="-120"/>
              </a:rPr>
              <a:t>Air Gap 형성 유무에 따른 BEOL 단면 CD 안정성과</a:t>
            </a:r>
            <a:pPr algn="l" indent="0" marL="0">
              <a:lnSpc>
                <a:spcPct val="118000"/>
              </a:lnSpc>
              <a:buNone/>
            </a:pPr>
            <a:endParaRPr lang="en-US" sz="2550" dirty="0"/>
          </a:p>
          <a:p>
            <a:pPr algn="l" indent="0" marL="0">
              <a:lnSpc>
                <a:spcPct val="118000"/>
              </a:lnSpc>
              <a:buNone/>
            </a:pPr>
            <a:r>
              <a:rPr lang="en-US" sz="2550" b="1" dirty="0">
                <a:solidFill>
                  <a:srgbClr val="ECF1F9"/>
                </a:solidFill>
                <a:latin typeface="Inter" pitchFamily="34" charset="0"/>
                <a:ea typeface="Inter" pitchFamily="34" charset="-122"/>
                <a:cs typeface="Inter" pitchFamily="34" charset="-120"/>
              </a:rPr>
              <a:t>전기적 손실 변동을 정량 비교</a:t>
            </a:r>
            <a:endParaRPr lang="en-US" sz="2550" dirty="0"/>
          </a:p>
        </p:txBody>
      </p:sp>
      <p:sp>
        <p:nvSpPr>
          <p:cNvPr id="21" name="Text 14"/>
          <p:cNvSpPr txBox="1"/>
          <p:nvPr/>
        </p:nvSpPr>
        <p:spPr>
          <a:xfrm>
            <a:off x="1218895" y="3621938"/>
            <a:ext cx="9753905" cy="590702"/>
          </a:xfrm>
          <a:prstGeom prst="rect">
            <a:avLst/>
          </a:prstGeom>
          <a:noFill/>
          <a:ln/>
        </p:spPr>
        <p:txBody>
          <a:bodyPr wrap="square" lIns="0" tIns="0" rIns="0" bIns="0" rtlCol="0" anchor="ctr"/>
          <a:lstStyle/>
          <a:p>
            <a:pPr algn="l" indent="0" marL="0">
              <a:lnSpc>
                <a:spcPts val="2325"/>
              </a:lnSpc>
              <a:buNone/>
            </a:pPr>
            <a:r>
              <a:rPr lang="en-US" sz="1500" dirty="0">
                <a:solidFill>
                  <a:srgbClr val="C2CCE0"/>
                </a:solidFill>
                <a:latin typeface="Inter" pitchFamily="34" charset="0"/>
                <a:ea typeface="Inter" pitchFamily="34" charset="-122"/>
                <a:cs typeface="Inter" pitchFamily="34" charset="-120"/>
              </a:rPr>
              <a:t>저-k / ULK IMD 위 Cu dual-damascene V1·M2 금속층에서 air gap 포메이션을 on/off 했을 때, CD uniformity, sheet/contact 저항 누적분포, in-wafer variation이 dummy wafer 4매에서 어떻게 달라지는지 확인한다.</a:t>
            </a:r>
            <a:endParaRPr lang="en-US" sz="1500" dirty="0"/>
          </a:p>
        </p:txBody>
      </p:sp>
      <p:sp>
        <p:nvSpPr>
          <p:cNvPr id="22" name="Text 15"/>
          <p:cNvSpPr txBox="1"/>
          <p:nvPr/>
        </p:nvSpPr>
        <p:spPr>
          <a:xfrm>
            <a:off x="11867998" y="2419502"/>
            <a:ext cx="5334610" cy="133502"/>
          </a:xfrm>
          <a:prstGeom prst="rect">
            <a:avLst/>
          </a:prstGeom>
          <a:noFill/>
          <a:ln/>
        </p:spPr>
        <p:txBody>
          <a:bodyPr wrap="none" lIns="0" tIns="0" rIns="0" bIns="0" rtlCol="0" anchor="ctr"/>
          <a:lstStyle/>
          <a:p>
            <a:pPr algn="l" indent="0" marL="0">
              <a:buNone/>
            </a:pPr>
            <a:r>
              <a:rPr lang="en-US" sz="825" spc="247" kern="0" dirty="0">
                <a:solidFill>
                  <a:srgbClr val="7E8DA6"/>
                </a:solidFill>
                <a:latin typeface="Inter" pitchFamily="34" charset="0"/>
                <a:ea typeface="Inter" pitchFamily="34" charset="-122"/>
                <a:cs typeface="Inter" pitchFamily="34" charset="-120"/>
              </a:rPr>
              <a:t>SPLIT MAP</a:t>
            </a:r>
            <a:endParaRPr lang="en-US" sz="825"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1867998" y="2686507"/>
          <a:ext cx="5334610" cy="1686154"/>
        </p:xfrm>
        <a:graphic>
          <a:graphicData uri="http://schemas.openxmlformats.org/drawingml/2006/table">
            <a:tbl>
              <a:tblPr/>
              <a:tblGrid>
                <a:gridCol w="1600200"/>
                <a:gridCol w="1856232"/>
                <a:gridCol w="1878178"/>
              </a:tblGrid>
              <a:tr h="843077">
                <a:tc>
                  <a:txBody>
                    <a:bodyPr/>
                    <a:lstStyle/>
                    <a:p>
                      <a:pPr indent="0" marL="0">
                        <a:buNone/>
                      </a:pPr>
                      <a:r>
                        <a:rPr lang="en-US" sz="1350" dirty="0">
                          <a:solidFill>
                            <a:srgbClr val="C2CCE0"/>
                          </a:solidFill>
                          <a:latin typeface="Inter" pitchFamily="34" charset="0"/>
                          <a:ea typeface="Inter" pitchFamily="34" charset="-122"/>
                          <a:cs typeface="Inter" pitchFamily="34" charset="-120"/>
                        </a:rPr>
                        <a:t>Split A</a:t>
                      </a:r>
                      <a:pPr indent="0" marL="0">
                        <a:buNone/>
                      </a:pPr>
                      <a:endParaRPr lang="en-US" sz="1200" dirty="0"/>
                    </a:p>
                    <a:p>
                      <a:pPr indent="0" marL="0">
                        <a:buNone/>
                      </a:pPr>
                      <a:r>
                        <a:rPr lang="en-US" sz="1050" dirty="0">
                          <a:solidFill>
                            <a:srgbClr val="7E8DA6"/>
                          </a:solidFill>
                          <a:latin typeface="Inter" pitchFamily="34" charset="0"/>
                          <a:ea typeface="Inter" pitchFamily="34" charset="-122"/>
                          <a:cs typeface="Inter" pitchFamily="34" charset="-120"/>
                        </a:rPr>
                        <a:t>Control vs Air Gap</a:t>
                      </a:r>
                      <a:endParaRPr lang="en-US" sz="1200" dirty="0"/>
                    </a:p>
                  </a:txBody>
                  <a:tcPr marL="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b="1" dirty="0">
                          <a:solidFill>
                            <a:srgbClr val="38BDF8"/>
                          </a:solidFill>
                          <a:latin typeface="Inter" pitchFamily="34" charset="0"/>
                          <a:ea typeface="Inter" pitchFamily="34" charset="-122"/>
                          <a:cs typeface="Inter" pitchFamily="34" charset="-120"/>
                        </a:rPr>
                        <a:t>W1 · CONTROL</a:t>
                      </a:r>
                      <a:pPr indent="0" marL="0">
                        <a:buNone/>
                      </a:pPr>
                      <a:endParaRPr lang="en-US" sz="1200" dirty="0"/>
                    </a:p>
                    <a:p>
                      <a:pPr indent="0" marL="0">
                        <a:buNone/>
                      </a:pPr>
                      <a:r>
                        <a:rPr lang="en-US" sz="1125" dirty="0">
                          <a:solidFill>
                            <a:srgbClr val="C2CCE0"/>
                          </a:solidFill>
                          <a:latin typeface="Inter" pitchFamily="34" charset="0"/>
                          <a:ea typeface="Inter" pitchFamily="34" charset="-122"/>
                          <a:cs typeface="Inter" pitchFamily="34" charset="-120"/>
                        </a:rPr>
                        <a:t>ULK + SiCN cap (no AG)</a:t>
                      </a:r>
                      <a:endParaRPr lang="en-US" sz="1200" dirty="0"/>
                    </a:p>
                  </a:txBody>
                  <a:tcPr marL="114300" marR="11430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b="1" dirty="0">
                          <a:solidFill>
                            <a:srgbClr val="F59E0B"/>
                          </a:solidFill>
                          <a:latin typeface="Inter" pitchFamily="34" charset="0"/>
                          <a:ea typeface="Inter" pitchFamily="34" charset="-122"/>
                          <a:cs typeface="Inter" pitchFamily="34" charset="-120"/>
                        </a:rPr>
                        <a:t>W2 · AIR GAP</a:t>
                      </a:r>
                      <a:pPr indent="0" marL="0">
                        <a:buNone/>
                      </a:pPr>
                      <a:endParaRPr lang="en-US" sz="1200" dirty="0"/>
                    </a:p>
                    <a:p>
                      <a:pPr indent="0" marL="0">
                        <a:buNone/>
                      </a:pPr>
                      <a:r>
                        <a:rPr lang="en-US" sz="1125" dirty="0">
                          <a:solidFill>
                            <a:srgbClr val="C2CCE0"/>
                          </a:solidFill>
                          <a:latin typeface="Inter" pitchFamily="34" charset="0"/>
                          <a:ea typeface="Inter" pitchFamily="34" charset="-122"/>
                          <a:cs typeface="Inter" pitchFamily="34" charset="-120"/>
                        </a:rPr>
                        <a:t>ULK + post-cap AG pinch-off</a:t>
                      </a:r>
                      <a:endParaRPr lang="en-US" sz="1200" dirty="0"/>
                    </a:p>
                  </a:txBody>
                  <a:tcPr marL="11430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843077">
                <a:tc>
                  <a:txBody>
                    <a:bodyPr/>
                    <a:lstStyle/>
                    <a:p>
                      <a:pPr indent="0" marL="0">
                        <a:buNone/>
                      </a:pPr>
                      <a:r>
                        <a:rPr lang="en-US" sz="1350" dirty="0">
                          <a:solidFill>
                            <a:srgbClr val="C2CCE0"/>
                          </a:solidFill>
                          <a:latin typeface="Inter" pitchFamily="34" charset="0"/>
                          <a:ea typeface="Inter" pitchFamily="34" charset="-122"/>
                          <a:cs typeface="Inter" pitchFamily="34" charset="-120"/>
                        </a:rPr>
                        <a:t>Split B</a:t>
                      </a:r>
                      <a:pPr indent="0" marL="0">
                        <a:buNone/>
                      </a:pPr>
                      <a:endParaRPr lang="en-US" sz="1200" dirty="0"/>
                    </a:p>
                    <a:p>
                      <a:pPr indent="0" marL="0">
                        <a:buNone/>
                      </a:pPr>
                      <a:r>
                        <a:rPr lang="en-US" sz="1050" dirty="0">
                          <a:solidFill>
                            <a:srgbClr val="7E8DA6"/>
                          </a:solidFill>
                          <a:latin typeface="Inter" pitchFamily="34" charset="0"/>
                          <a:ea typeface="Inter" pitchFamily="34" charset="-122"/>
                          <a:cs typeface="Inter" pitchFamily="34" charset="-120"/>
                        </a:rPr>
                        <a:t>반복 lot (cross-check)</a:t>
                      </a:r>
                      <a:endParaRPr lang="en-US" sz="1200" dirty="0"/>
                    </a:p>
                  </a:txBody>
                  <a:tcPr marL="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b="1" dirty="0">
                          <a:solidFill>
                            <a:srgbClr val="38BDF8"/>
                          </a:solidFill>
                          <a:latin typeface="Inter" pitchFamily="34" charset="0"/>
                          <a:ea typeface="Inter" pitchFamily="34" charset="-122"/>
                          <a:cs typeface="Inter" pitchFamily="34" charset="-120"/>
                        </a:rPr>
                        <a:t>W3 · CONTROL</a:t>
                      </a:r>
                      <a:pPr indent="0" marL="0">
                        <a:buNone/>
                      </a:pPr>
                      <a:endParaRPr lang="en-US" sz="1200" dirty="0"/>
                    </a:p>
                    <a:p>
                      <a:pPr indent="0" marL="0">
                        <a:buNone/>
                      </a:pPr>
                      <a:r>
                        <a:rPr lang="en-US" sz="1125" dirty="0">
                          <a:solidFill>
                            <a:srgbClr val="C2CCE0"/>
                          </a:solidFill>
                          <a:latin typeface="Inter" pitchFamily="34" charset="0"/>
                          <a:ea typeface="Inter" pitchFamily="34" charset="-122"/>
                          <a:cs typeface="Inter" pitchFamily="34" charset="-120"/>
                        </a:rPr>
                        <a:t>split B lot</a:t>
                      </a:r>
                      <a:endParaRPr lang="en-US" sz="1200" dirty="0"/>
                    </a:p>
                  </a:txBody>
                  <a:tcPr marL="114300" marR="11430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indent="0" marL="0">
                        <a:buNone/>
                      </a:pPr>
                      <a:r>
                        <a:rPr lang="en-US" sz="975" b="1" dirty="0">
                          <a:solidFill>
                            <a:srgbClr val="F59E0B"/>
                          </a:solidFill>
                          <a:latin typeface="Inter" pitchFamily="34" charset="0"/>
                          <a:ea typeface="Inter" pitchFamily="34" charset="-122"/>
                          <a:cs typeface="Inter" pitchFamily="34" charset="-120"/>
                        </a:rPr>
                        <a:t>W4 · AIR GAP</a:t>
                      </a:r>
                      <a:pPr indent="0" marL="0">
                        <a:buNone/>
                      </a:pPr>
                      <a:endParaRPr lang="en-US" sz="1200" dirty="0"/>
                    </a:p>
                    <a:p>
                      <a:pPr indent="0" marL="0">
                        <a:buNone/>
                      </a:pPr>
                      <a:r>
                        <a:rPr lang="en-US" sz="1125" dirty="0">
                          <a:solidFill>
                            <a:srgbClr val="C2CCE0"/>
                          </a:solidFill>
                          <a:latin typeface="Inter" pitchFamily="34" charset="0"/>
                          <a:ea typeface="Inter" pitchFamily="34" charset="-122"/>
                          <a:cs typeface="Inter" pitchFamily="34" charset="-120"/>
                        </a:rPr>
                        <a:t>split B lot</a:t>
                      </a:r>
                      <a:endParaRPr lang="en-US" sz="1200" dirty="0"/>
                    </a:p>
                  </a:txBody>
                  <a:tcPr marL="114300" marR="0"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24" name="Text 16"/>
          <p:cNvSpPr txBox="1"/>
          <p:nvPr/>
        </p:nvSpPr>
        <p:spPr>
          <a:xfrm>
            <a:off x="1143000" y="5372100"/>
            <a:ext cx="6286500" cy="133502"/>
          </a:xfrm>
          <a:prstGeom prst="rect">
            <a:avLst/>
          </a:prstGeom>
          <a:noFill/>
          <a:ln/>
        </p:spPr>
        <p:txBody>
          <a:bodyPr wrap="none" lIns="0" tIns="0" rIns="0" bIns="0" rtlCol="0" anchor="ctr"/>
          <a:lstStyle/>
          <a:p>
            <a:pPr algn="l" indent="0" marL="0">
              <a:buNone/>
            </a:pPr>
            <a:r>
              <a:rPr lang="en-US" sz="825" spc="247" kern="0" dirty="0">
                <a:solidFill>
                  <a:srgbClr val="7E8DA6"/>
                </a:solidFill>
                <a:latin typeface="Inter" pitchFamily="34" charset="0"/>
                <a:ea typeface="Inter" pitchFamily="34" charset="-122"/>
                <a:cs typeface="Inter" pitchFamily="34" charset="-120"/>
              </a:rPr>
              <a:t>LAYER SCOPE</a:t>
            </a:r>
            <a:endParaRPr lang="en-US" sz="825" dirty="0"/>
          </a:p>
        </p:txBody>
      </p:sp>
      <p:sp>
        <p:nvSpPr>
          <p:cNvPr id="25" name="Shape 17"/>
          <p:cNvSpPr/>
          <p:nvPr/>
        </p:nvSpPr>
        <p:spPr>
          <a:xfrm>
            <a:off x="1143000" y="5639105"/>
            <a:ext cx="3057754" cy="1276502"/>
          </a:xfrm>
          <a:prstGeom prst="rect">
            <a:avLst/>
          </a:prstGeom>
          <a:solidFill>
            <a:srgbClr val="182642"/>
          </a:solidFill>
          <a:ln/>
        </p:spPr>
      </p:sp>
      <p:sp>
        <p:nvSpPr>
          <p:cNvPr id="26" name="Shape 18"/>
          <p:cNvSpPr/>
          <p:nvPr/>
        </p:nvSpPr>
        <p:spPr>
          <a:xfrm>
            <a:off x="1143000" y="5639105"/>
            <a:ext cx="3057754" cy="28346"/>
          </a:xfrm>
          <a:prstGeom prst="rect">
            <a:avLst/>
          </a:prstGeom>
          <a:solidFill>
            <a:srgbClr val="A78BFA"/>
          </a:solidFill>
          <a:ln w="12700">
            <a:solidFill>
              <a:srgbClr val="A78BFA">
                <a:alpha val="0"/>
              </a:srgbClr>
            </a:solidFill>
            <a:prstDash val="solid"/>
          </a:ln>
        </p:spPr>
      </p:sp>
      <p:sp>
        <p:nvSpPr>
          <p:cNvPr id="27" name="Text 19"/>
          <p:cNvSpPr txBox="1"/>
          <p:nvPr/>
        </p:nvSpPr>
        <p:spPr>
          <a:xfrm>
            <a:off x="1352398" y="5857646"/>
            <a:ext cx="2638958" cy="133502"/>
          </a:xfrm>
          <a:prstGeom prst="rect">
            <a:avLst/>
          </a:prstGeom>
          <a:noFill/>
          <a:ln/>
        </p:spPr>
        <p:txBody>
          <a:bodyPr wrap="none" lIns="0" tIns="0" rIns="0" bIns="0" rtlCol="0" anchor="ctr"/>
          <a:lstStyle/>
          <a:p>
            <a:pPr algn="l" indent="0" marL="0">
              <a:buNone/>
            </a:pPr>
            <a:r>
              <a:rPr lang="en-US" sz="825" spc="165" kern="0" dirty="0">
                <a:solidFill>
                  <a:srgbClr val="A78BFA"/>
                </a:solidFill>
                <a:latin typeface="Inter" pitchFamily="34" charset="0"/>
                <a:ea typeface="Inter" pitchFamily="34" charset="-122"/>
                <a:cs typeface="Inter" pitchFamily="34" charset="-120"/>
              </a:rPr>
              <a:t>V1 · VIA-1</a:t>
            </a:r>
            <a:endParaRPr lang="en-US" sz="825" dirty="0"/>
          </a:p>
        </p:txBody>
      </p:sp>
      <p:sp>
        <p:nvSpPr>
          <p:cNvPr id="28" name="Text 20"/>
          <p:cNvSpPr txBox="1"/>
          <p:nvPr/>
        </p:nvSpPr>
        <p:spPr>
          <a:xfrm>
            <a:off x="1352398" y="6067044"/>
            <a:ext cx="3025750" cy="333756"/>
          </a:xfrm>
          <a:prstGeom prst="rect">
            <a:avLst/>
          </a:prstGeom>
          <a:noFill/>
          <a:ln/>
        </p:spPr>
        <p:txBody>
          <a:bodyPr wrap="none" lIns="0" tIns="0" rIns="0" bIns="0" rtlCol="0" anchor="ctr"/>
          <a:lstStyle/>
          <a:p>
            <a:pPr algn="l" indent="0" marL="0">
              <a:buNone/>
            </a:pPr>
            <a:r>
              <a:rPr lang="en-US" sz="1800" b="1" dirty="0">
                <a:solidFill>
                  <a:srgbClr val="ECF1F9"/>
                </a:solidFill>
                <a:latin typeface="Inter" pitchFamily="34" charset="0"/>
                <a:ea typeface="Inter" pitchFamily="34" charset="-122"/>
                <a:cs typeface="Inter" pitchFamily="34" charset="-120"/>
              </a:rPr>
              <a:t>via-first 듀얼 다마스퀸</a:t>
            </a:r>
            <a:endParaRPr lang="en-US" sz="1800" dirty="0"/>
          </a:p>
        </p:txBody>
      </p:sp>
      <p:sp>
        <p:nvSpPr>
          <p:cNvPr id="29" name="Text 21"/>
          <p:cNvSpPr txBox="1"/>
          <p:nvPr/>
        </p:nvSpPr>
        <p:spPr>
          <a:xfrm>
            <a:off x="1352398" y="6495898"/>
            <a:ext cx="2638958" cy="228600"/>
          </a:xfrm>
          <a:prstGeom prst="rect">
            <a:avLst/>
          </a:prstGeom>
          <a:noFill/>
          <a:ln/>
        </p:spPr>
        <p:txBody>
          <a:bodyPr wrap="none" lIns="0" tIns="0" rIns="0" bIns="0" rtlCol="0" anchor="ctr"/>
          <a:lstStyle/>
          <a:p>
            <a:pPr algn="l" indent="0" marL="0">
              <a:buNone/>
            </a:pPr>
            <a:r>
              <a:rPr lang="en-US" sz="1200" dirty="0">
                <a:solidFill>
                  <a:srgbClr val="C2CCE0"/>
                </a:solidFill>
                <a:latin typeface="Inter" pitchFamily="34" charset="0"/>
                <a:ea typeface="Inter" pitchFamily="34" charset="-122"/>
                <a:cs typeface="Inter" pitchFamily="34" charset="-120"/>
              </a:rPr>
              <a:t>via 직경 / 측벽 bow 측정</a:t>
            </a:r>
            <a:endParaRPr lang="en-US" sz="1200" dirty="0"/>
          </a:p>
        </p:txBody>
      </p:sp>
      <p:sp>
        <p:nvSpPr>
          <p:cNvPr id="30" name="Shape 22"/>
          <p:cNvSpPr/>
          <p:nvPr/>
        </p:nvSpPr>
        <p:spPr>
          <a:xfrm>
            <a:off x="4371746" y="5639105"/>
            <a:ext cx="3057754" cy="1276502"/>
          </a:xfrm>
          <a:prstGeom prst="rect">
            <a:avLst/>
          </a:prstGeom>
          <a:solidFill>
            <a:srgbClr val="182642"/>
          </a:solidFill>
          <a:ln/>
        </p:spPr>
      </p:sp>
      <p:sp>
        <p:nvSpPr>
          <p:cNvPr id="31" name="Shape 23"/>
          <p:cNvSpPr/>
          <p:nvPr/>
        </p:nvSpPr>
        <p:spPr>
          <a:xfrm>
            <a:off x="4371746" y="5639105"/>
            <a:ext cx="3057754" cy="28346"/>
          </a:xfrm>
          <a:prstGeom prst="rect">
            <a:avLst/>
          </a:prstGeom>
          <a:solidFill>
            <a:srgbClr val="34D399"/>
          </a:solidFill>
          <a:ln w="12700">
            <a:solidFill>
              <a:srgbClr val="34D399">
                <a:alpha val="0"/>
              </a:srgbClr>
            </a:solidFill>
            <a:prstDash val="solid"/>
          </a:ln>
        </p:spPr>
      </p:sp>
      <p:sp>
        <p:nvSpPr>
          <p:cNvPr id="32" name="Text 24"/>
          <p:cNvSpPr txBox="1"/>
          <p:nvPr/>
        </p:nvSpPr>
        <p:spPr>
          <a:xfrm>
            <a:off x="4581144" y="5857646"/>
            <a:ext cx="2638958" cy="133502"/>
          </a:xfrm>
          <a:prstGeom prst="rect">
            <a:avLst/>
          </a:prstGeom>
          <a:noFill/>
          <a:ln/>
        </p:spPr>
        <p:txBody>
          <a:bodyPr wrap="none" lIns="0" tIns="0" rIns="0" bIns="0" rtlCol="0" anchor="ctr"/>
          <a:lstStyle/>
          <a:p>
            <a:pPr algn="l" indent="0" marL="0">
              <a:buNone/>
            </a:pPr>
            <a:r>
              <a:rPr lang="en-US" sz="825" spc="165" kern="0" dirty="0">
                <a:solidFill>
                  <a:srgbClr val="34D399"/>
                </a:solidFill>
                <a:latin typeface="Inter" pitchFamily="34" charset="0"/>
                <a:ea typeface="Inter" pitchFamily="34" charset="-122"/>
                <a:cs typeface="Inter" pitchFamily="34" charset="-120"/>
              </a:rPr>
              <a:t>M2 · METAL-2 LINE</a:t>
            </a:r>
            <a:endParaRPr lang="en-US" sz="825" dirty="0"/>
          </a:p>
        </p:txBody>
      </p:sp>
      <p:sp>
        <p:nvSpPr>
          <p:cNvPr id="33" name="Text 25"/>
          <p:cNvSpPr txBox="1"/>
          <p:nvPr/>
        </p:nvSpPr>
        <p:spPr>
          <a:xfrm>
            <a:off x="4581144" y="6067044"/>
            <a:ext cx="2638958" cy="333756"/>
          </a:xfrm>
          <a:prstGeom prst="rect">
            <a:avLst/>
          </a:prstGeom>
          <a:noFill/>
          <a:ln/>
        </p:spPr>
        <p:txBody>
          <a:bodyPr wrap="none" lIns="0" tIns="0" rIns="0" bIns="0" rtlCol="0" anchor="ctr"/>
          <a:lstStyle/>
          <a:p>
            <a:pPr algn="l" indent="0" marL="0">
              <a:buNone/>
            </a:pPr>
            <a:r>
              <a:rPr lang="en-US" sz="1800" b="1" dirty="0">
                <a:solidFill>
                  <a:srgbClr val="ECF1F9"/>
                </a:solidFill>
                <a:latin typeface="Inter" pitchFamily="34" charset="0"/>
                <a:ea typeface="Inter" pitchFamily="34" charset="-122"/>
                <a:cs typeface="Inter" pitchFamily="34" charset="-120"/>
              </a:rPr>
              <a:t>트렌치 라인 CD 평가</a:t>
            </a:r>
            <a:endParaRPr lang="en-US" sz="1800" dirty="0"/>
          </a:p>
        </p:txBody>
      </p:sp>
      <p:sp>
        <p:nvSpPr>
          <p:cNvPr id="34" name="Text 26"/>
          <p:cNvSpPr txBox="1"/>
          <p:nvPr/>
        </p:nvSpPr>
        <p:spPr>
          <a:xfrm>
            <a:off x="4581144" y="6495898"/>
            <a:ext cx="2638958" cy="228600"/>
          </a:xfrm>
          <a:prstGeom prst="rect">
            <a:avLst/>
          </a:prstGeom>
          <a:noFill/>
          <a:ln/>
        </p:spPr>
        <p:txBody>
          <a:bodyPr wrap="none" lIns="0" tIns="0" rIns="0" bIns="0" rtlCol="0" anchor="ctr"/>
          <a:lstStyle/>
          <a:p>
            <a:pPr algn="l" indent="0" marL="0">
              <a:buNone/>
            </a:pPr>
            <a:r>
              <a:rPr lang="en-US" sz="1200" dirty="0">
                <a:solidFill>
                  <a:srgbClr val="C2CCE0"/>
                </a:solidFill>
                <a:latin typeface="Inter" pitchFamily="34" charset="0"/>
                <a:ea typeface="Inter" pitchFamily="34" charset="-122"/>
                <a:cs typeface="Inter" pitchFamily="34" charset="-120"/>
              </a:rPr>
              <a:t>line CD / space pitch 균일성</a:t>
            </a:r>
            <a:endParaRPr lang="en-US" sz="1200" dirty="0"/>
          </a:p>
        </p:txBody>
      </p:sp>
      <p:sp>
        <p:nvSpPr>
          <p:cNvPr id="35" name="Text 27"/>
          <p:cNvSpPr txBox="1"/>
          <p:nvPr/>
        </p:nvSpPr>
        <p:spPr>
          <a:xfrm>
            <a:off x="8191195" y="5372100"/>
            <a:ext cx="9048902" cy="133502"/>
          </a:xfrm>
          <a:prstGeom prst="rect">
            <a:avLst/>
          </a:prstGeom>
          <a:noFill/>
          <a:ln/>
        </p:spPr>
        <p:txBody>
          <a:bodyPr wrap="none" lIns="0" tIns="0" rIns="0" bIns="0" rtlCol="0" anchor="ctr"/>
          <a:lstStyle/>
          <a:p>
            <a:pPr algn="l" indent="0" marL="0">
              <a:buNone/>
            </a:pPr>
            <a:r>
              <a:rPr lang="en-US" sz="825" spc="247" kern="0" dirty="0">
                <a:solidFill>
                  <a:srgbClr val="7E8DA6"/>
                </a:solidFill>
                <a:latin typeface="Inter" pitchFamily="34" charset="0"/>
                <a:ea typeface="Inter" pitchFamily="34" charset="-122"/>
                <a:cs typeface="Inter" pitchFamily="34" charset="-120"/>
              </a:rPr>
              <a:t>EVALUATION MATRIX</a:t>
            </a:r>
            <a:endParaRPr lang="en-US" sz="825" dirty="0"/>
          </a:p>
        </p:txBody>
      </p:sp>
      <p:sp>
        <p:nvSpPr>
          <p:cNvPr id="36" name="Shape 28"/>
          <p:cNvSpPr/>
          <p:nvPr/>
        </p:nvSpPr>
        <p:spPr>
          <a:xfrm>
            <a:off x="8191195" y="5639105"/>
            <a:ext cx="2162556" cy="1190549"/>
          </a:xfrm>
          <a:prstGeom prst="rect">
            <a:avLst/>
          </a:prstGeom>
          <a:solidFill>
            <a:srgbClr val="182642"/>
          </a:solidFill>
          <a:ln w="12700">
            <a:solidFill>
              <a:srgbClr val="FFFFFF">
                <a:alpha val="0"/>
              </a:srgbClr>
            </a:solidFill>
            <a:prstDash val="solid"/>
          </a:ln>
        </p:spPr>
      </p:sp>
      <p:sp>
        <p:nvSpPr>
          <p:cNvPr id="37" name="Text 29"/>
          <p:cNvSpPr txBox="1"/>
          <p:nvPr/>
        </p:nvSpPr>
        <p:spPr>
          <a:xfrm>
            <a:off x="8324698" y="5790895"/>
            <a:ext cx="1895551" cy="162763"/>
          </a:xfrm>
          <a:prstGeom prst="rect">
            <a:avLst/>
          </a:prstGeom>
          <a:noFill/>
          <a:ln/>
        </p:spPr>
        <p:txBody>
          <a:bodyPr wrap="none" lIns="0" tIns="0" rIns="0" bIns="0" rtlCol="0" anchor="ctr"/>
          <a:lstStyle/>
          <a:p>
            <a:pPr algn="l" indent="0" marL="0">
              <a:buNone/>
            </a:pPr>
            <a:r>
              <a:rPr lang="en-US" sz="975" dirty="0">
                <a:solidFill>
                  <a:srgbClr val="7E8DA6"/>
                </a:solidFill>
                <a:latin typeface="JetBrains Mono" pitchFamily="34" charset="0"/>
                <a:ea typeface="JetBrains Mono" pitchFamily="34" charset="-122"/>
                <a:cs typeface="JetBrains Mono" pitchFamily="34" charset="-120"/>
              </a:rPr>
              <a:t>01</a:t>
            </a:r>
            <a:endParaRPr lang="en-US" sz="975" dirty="0"/>
          </a:p>
        </p:txBody>
      </p:sp>
      <p:sp>
        <p:nvSpPr>
          <p:cNvPr id="38" name="Text 30"/>
          <p:cNvSpPr txBox="1"/>
          <p:nvPr/>
        </p:nvSpPr>
        <p:spPr>
          <a:xfrm>
            <a:off x="8324698" y="6010351"/>
            <a:ext cx="1895551" cy="438912"/>
          </a:xfrm>
          <a:prstGeom prst="rect">
            <a:avLst/>
          </a:prstGeom>
          <a:noFill/>
          <a:ln/>
        </p:spPr>
        <p:txBody>
          <a:bodyPr wrap="square" lIns="0" tIns="0" rIns="0" bIns="0" rtlCol="0" anchor="t"/>
          <a:lstStyle/>
          <a:p>
            <a:pPr algn="l" indent="0" marL="0">
              <a:lnSpc>
                <a:spcPct val="135000"/>
              </a:lnSpc>
              <a:buNone/>
            </a:pPr>
            <a:r>
              <a:rPr lang="en-US" sz="1275" b="1" dirty="0">
                <a:solidFill>
                  <a:srgbClr val="ECF1F9"/>
                </a:solidFill>
                <a:latin typeface="Inter" pitchFamily="34" charset="0"/>
                <a:ea typeface="Inter" pitchFamily="34" charset="-122"/>
                <a:cs typeface="Inter" pitchFamily="34" charset="-120"/>
              </a:rPr>
              <a:t>단면 CD</a:t>
            </a:r>
            <a:pPr algn="l" indent="0" marL="0">
              <a:lnSpc>
                <a:spcPct val="135000"/>
              </a:lnSpc>
              <a:buNone/>
            </a:pPr>
            <a:endParaRPr lang="en-US" sz="1275" dirty="0"/>
          </a:p>
          <a:p>
            <a:pPr algn="l" indent="0" marL="0">
              <a:lnSpc>
                <a:spcPct val="135000"/>
              </a:lnSpc>
              <a:buNone/>
            </a:pPr>
            <a:r>
              <a:rPr lang="en-US" sz="1275" b="1" dirty="0">
                <a:solidFill>
                  <a:srgbClr val="ECF1F9"/>
                </a:solidFill>
                <a:latin typeface="Inter" pitchFamily="34" charset="0"/>
                <a:ea typeface="Inter" pitchFamily="34" charset="-122"/>
                <a:cs typeface="Inter" pitchFamily="34" charset="-120"/>
              </a:rPr>
              <a:t>변동</a:t>
            </a:r>
            <a:endParaRPr lang="en-US" sz="1275" dirty="0"/>
          </a:p>
        </p:txBody>
      </p:sp>
      <p:sp>
        <p:nvSpPr>
          <p:cNvPr id="39" name="Text 31"/>
          <p:cNvSpPr txBox="1"/>
          <p:nvPr/>
        </p:nvSpPr>
        <p:spPr>
          <a:xfrm>
            <a:off x="8324698" y="6523330"/>
            <a:ext cx="1895551" cy="152705"/>
          </a:xfrm>
          <a:prstGeom prst="rect">
            <a:avLst/>
          </a:prstGeom>
          <a:noFill/>
          <a:ln/>
        </p:spPr>
        <p:txBody>
          <a:bodyPr wrap="none" lIns="0" tIns="0" rIns="0" bIns="0" rtlCol="0" anchor="ctr"/>
          <a:lstStyle/>
          <a:p>
            <a:pPr algn="l" indent="0" marL="0">
              <a:buNone/>
            </a:pPr>
            <a:r>
              <a:rPr lang="en-US" sz="975" dirty="0">
                <a:solidFill>
                  <a:srgbClr val="7E8DA6"/>
                </a:solidFill>
                <a:latin typeface="Inter" pitchFamily="34" charset="0"/>
                <a:ea typeface="Inter" pitchFamily="34" charset="-122"/>
                <a:cs typeface="Inter" pitchFamily="34" charset="-120"/>
              </a:rPr>
              <a:t>mean · 3σ · range</a:t>
            </a:r>
            <a:endParaRPr lang="en-US" sz="975" dirty="0"/>
          </a:p>
        </p:txBody>
      </p:sp>
      <p:sp>
        <p:nvSpPr>
          <p:cNvPr id="40" name="Shape 32"/>
          <p:cNvSpPr/>
          <p:nvPr/>
        </p:nvSpPr>
        <p:spPr>
          <a:xfrm>
            <a:off x="10487254" y="5639105"/>
            <a:ext cx="2162556" cy="1190549"/>
          </a:xfrm>
          <a:prstGeom prst="rect">
            <a:avLst/>
          </a:prstGeom>
          <a:solidFill>
            <a:srgbClr val="182642"/>
          </a:solidFill>
          <a:ln w="12700">
            <a:solidFill>
              <a:srgbClr val="FFFFFF">
                <a:alpha val="0"/>
              </a:srgbClr>
            </a:solidFill>
            <a:prstDash val="solid"/>
          </a:ln>
        </p:spPr>
      </p:sp>
      <p:sp>
        <p:nvSpPr>
          <p:cNvPr id="41" name="Text 33"/>
          <p:cNvSpPr txBox="1"/>
          <p:nvPr/>
        </p:nvSpPr>
        <p:spPr>
          <a:xfrm>
            <a:off x="10620756" y="5790895"/>
            <a:ext cx="1895551" cy="162763"/>
          </a:xfrm>
          <a:prstGeom prst="rect">
            <a:avLst/>
          </a:prstGeom>
          <a:noFill/>
          <a:ln/>
        </p:spPr>
        <p:txBody>
          <a:bodyPr wrap="none" lIns="0" tIns="0" rIns="0" bIns="0" rtlCol="0" anchor="ctr"/>
          <a:lstStyle/>
          <a:p>
            <a:pPr algn="l" indent="0" marL="0">
              <a:buNone/>
            </a:pPr>
            <a:r>
              <a:rPr lang="en-US" sz="975" dirty="0">
                <a:solidFill>
                  <a:srgbClr val="7E8DA6"/>
                </a:solidFill>
                <a:latin typeface="JetBrains Mono" pitchFamily="34" charset="0"/>
                <a:ea typeface="JetBrains Mono" pitchFamily="34" charset="-122"/>
                <a:cs typeface="JetBrains Mono" pitchFamily="34" charset="-120"/>
              </a:rPr>
              <a:t>02</a:t>
            </a:r>
            <a:endParaRPr lang="en-US" sz="975" dirty="0"/>
          </a:p>
        </p:txBody>
      </p:sp>
      <p:sp>
        <p:nvSpPr>
          <p:cNvPr id="42" name="Text 34"/>
          <p:cNvSpPr txBox="1"/>
          <p:nvPr/>
        </p:nvSpPr>
        <p:spPr>
          <a:xfrm>
            <a:off x="10620756" y="6010351"/>
            <a:ext cx="1895551" cy="438912"/>
          </a:xfrm>
          <a:prstGeom prst="rect">
            <a:avLst/>
          </a:prstGeom>
          <a:noFill/>
          <a:ln/>
        </p:spPr>
        <p:txBody>
          <a:bodyPr wrap="square" lIns="0" tIns="0" rIns="0" bIns="0" rtlCol="0" anchor="t"/>
          <a:lstStyle/>
          <a:p>
            <a:pPr algn="l" indent="0" marL="0">
              <a:lnSpc>
                <a:spcPct val="135000"/>
              </a:lnSpc>
              <a:buNone/>
            </a:pPr>
            <a:r>
              <a:rPr lang="en-US" sz="1275" b="1" dirty="0">
                <a:solidFill>
                  <a:srgbClr val="ECF1F9"/>
                </a:solidFill>
                <a:latin typeface="Inter" pitchFamily="34" charset="0"/>
                <a:ea typeface="Inter" pitchFamily="34" charset="-122"/>
                <a:cs typeface="Inter" pitchFamily="34" charset="-120"/>
              </a:rPr>
              <a:t>In-wafer</a:t>
            </a:r>
            <a:pPr algn="l" indent="0" marL="0">
              <a:lnSpc>
                <a:spcPct val="135000"/>
              </a:lnSpc>
              <a:buNone/>
            </a:pPr>
            <a:endParaRPr lang="en-US" sz="1275" dirty="0"/>
          </a:p>
          <a:p>
            <a:pPr algn="l" indent="0" marL="0">
              <a:lnSpc>
                <a:spcPct val="135000"/>
              </a:lnSpc>
              <a:buNone/>
            </a:pPr>
            <a:r>
              <a:rPr lang="en-US" sz="1275" b="1" dirty="0">
                <a:solidFill>
                  <a:srgbClr val="ECF1F9"/>
                </a:solidFill>
                <a:latin typeface="Inter" pitchFamily="34" charset="0"/>
                <a:ea typeface="Inter" pitchFamily="34" charset="-122"/>
                <a:cs typeface="Inter" pitchFamily="34" charset="-120"/>
              </a:rPr>
              <a:t>Uniformity</a:t>
            </a:r>
            <a:endParaRPr lang="en-US" sz="1275" dirty="0"/>
          </a:p>
        </p:txBody>
      </p:sp>
      <p:sp>
        <p:nvSpPr>
          <p:cNvPr id="43" name="Text 35"/>
          <p:cNvSpPr txBox="1"/>
          <p:nvPr/>
        </p:nvSpPr>
        <p:spPr>
          <a:xfrm>
            <a:off x="10620756" y="6523330"/>
            <a:ext cx="1895551" cy="152705"/>
          </a:xfrm>
          <a:prstGeom prst="rect">
            <a:avLst/>
          </a:prstGeom>
          <a:noFill/>
          <a:ln/>
        </p:spPr>
        <p:txBody>
          <a:bodyPr wrap="none" lIns="0" tIns="0" rIns="0" bIns="0" rtlCol="0" anchor="ctr"/>
          <a:lstStyle/>
          <a:p>
            <a:pPr algn="l" indent="0" marL="0">
              <a:buNone/>
            </a:pPr>
            <a:r>
              <a:rPr lang="en-US" sz="975" dirty="0">
                <a:solidFill>
                  <a:srgbClr val="7E8DA6"/>
                </a:solidFill>
                <a:latin typeface="Inter" pitchFamily="34" charset="0"/>
                <a:ea typeface="Inter" pitchFamily="34" charset="-122"/>
                <a:cs typeface="Inter" pitchFamily="34" charset="-120"/>
              </a:rPr>
              <a:t>25pt map · Δto target</a:t>
            </a:r>
            <a:endParaRPr lang="en-US" sz="975" dirty="0"/>
          </a:p>
        </p:txBody>
      </p:sp>
      <p:sp>
        <p:nvSpPr>
          <p:cNvPr id="44" name="Shape 36"/>
          <p:cNvSpPr/>
          <p:nvPr/>
        </p:nvSpPr>
        <p:spPr>
          <a:xfrm>
            <a:off x="12782398" y="5639105"/>
            <a:ext cx="2162556" cy="1190549"/>
          </a:xfrm>
          <a:prstGeom prst="rect">
            <a:avLst/>
          </a:prstGeom>
          <a:solidFill>
            <a:srgbClr val="182642"/>
          </a:solidFill>
          <a:ln w="12700">
            <a:solidFill>
              <a:srgbClr val="FFFFFF">
                <a:alpha val="0"/>
              </a:srgbClr>
            </a:solidFill>
            <a:prstDash val="solid"/>
          </a:ln>
        </p:spPr>
      </p:sp>
      <p:sp>
        <p:nvSpPr>
          <p:cNvPr id="45" name="Text 37"/>
          <p:cNvSpPr txBox="1"/>
          <p:nvPr/>
        </p:nvSpPr>
        <p:spPr>
          <a:xfrm>
            <a:off x="12915900" y="5790895"/>
            <a:ext cx="1895551" cy="162763"/>
          </a:xfrm>
          <a:prstGeom prst="rect">
            <a:avLst/>
          </a:prstGeom>
          <a:noFill/>
          <a:ln/>
        </p:spPr>
        <p:txBody>
          <a:bodyPr wrap="none" lIns="0" tIns="0" rIns="0" bIns="0" rtlCol="0" anchor="ctr"/>
          <a:lstStyle/>
          <a:p>
            <a:pPr algn="l" indent="0" marL="0">
              <a:buNone/>
            </a:pPr>
            <a:r>
              <a:rPr lang="en-US" sz="975" dirty="0">
                <a:solidFill>
                  <a:srgbClr val="7E8DA6"/>
                </a:solidFill>
                <a:latin typeface="JetBrains Mono" pitchFamily="34" charset="0"/>
                <a:ea typeface="JetBrains Mono" pitchFamily="34" charset="-122"/>
                <a:cs typeface="JetBrains Mono" pitchFamily="34" charset="-120"/>
              </a:rPr>
              <a:t>03</a:t>
            </a:r>
            <a:endParaRPr lang="en-US" sz="975" dirty="0"/>
          </a:p>
        </p:txBody>
      </p:sp>
      <p:sp>
        <p:nvSpPr>
          <p:cNvPr id="46" name="Text 38"/>
          <p:cNvSpPr txBox="1"/>
          <p:nvPr/>
        </p:nvSpPr>
        <p:spPr>
          <a:xfrm>
            <a:off x="12915900" y="6010351"/>
            <a:ext cx="1895551" cy="438912"/>
          </a:xfrm>
          <a:prstGeom prst="rect">
            <a:avLst/>
          </a:prstGeom>
          <a:noFill/>
          <a:ln/>
        </p:spPr>
        <p:txBody>
          <a:bodyPr wrap="square" lIns="0" tIns="0" rIns="0" bIns="0" rtlCol="0" anchor="t"/>
          <a:lstStyle/>
          <a:p>
            <a:pPr algn="l" indent="0" marL="0">
              <a:lnSpc>
                <a:spcPct val="135000"/>
              </a:lnSpc>
              <a:buNone/>
            </a:pPr>
            <a:r>
              <a:rPr lang="en-US" sz="1275" b="1" dirty="0">
                <a:solidFill>
                  <a:srgbClr val="ECF1F9"/>
                </a:solidFill>
                <a:latin typeface="Inter" pitchFamily="34" charset="0"/>
                <a:ea typeface="Inter" pitchFamily="34" charset="-122"/>
                <a:cs typeface="Inter" pitchFamily="34" charset="-120"/>
              </a:rPr>
              <a:t>Rs / Rc</a:t>
            </a:r>
            <a:pPr algn="l" indent="0" marL="0">
              <a:lnSpc>
                <a:spcPct val="135000"/>
              </a:lnSpc>
              <a:buNone/>
            </a:pPr>
            <a:endParaRPr lang="en-US" sz="1275" dirty="0"/>
          </a:p>
          <a:p>
            <a:pPr algn="l" indent="0" marL="0">
              <a:lnSpc>
                <a:spcPct val="135000"/>
              </a:lnSpc>
              <a:buNone/>
            </a:pPr>
            <a:r>
              <a:rPr lang="en-US" sz="1275" b="1" dirty="0">
                <a:solidFill>
                  <a:srgbClr val="ECF1F9"/>
                </a:solidFill>
                <a:latin typeface="Inter" pitchFamily="34" charset="0"/>
                <a:ea typeface="Inter" pitchFamily="34" charset="-122"/>
                <a:cs typeface="Inter" pitchFamily="34" charset="-120"/>
              </a:rPr>
              <a:t>누적분포</a:t>
            </a:r>
            <a:endParaRPr lang="en-US" sz="1275" dirty="0"/>
          </a:p>
        </p:txBody>
      </p:sp>
      <p:sp>
        <p:nvSpPr>
          <p:cNvPr id="47" name="Text 39"/>
          <p:cNvSpPr txBox="1"/>
          <p:nvPr/>
        </p:nvSpPr>
        <p:spPr>
          <a:xfrm>
            <a:off x="12915900" y="6523330"/>
            <a:ext cx="1895551" cy="152705"/>
          </a:xfrm>
          <a:prstGeom prst="rect">
            <a:avLst/>
          </a:prstGeom>
          <a:noFill/>
          <a:ln/>
        </p:spPr>
        <p:txBody>
          <a:bodyPr wrap="none" lIns="0" tIns="0" rIns="0" bIns="0" rtlCol="0" anchor="ctr"/>
          <a:lstStyle/>
          <a:p>
            <a:pPr algn="l" indent="0" marL="0">
              <a:buNone/>
            </a:pPr>
            <a:r>
              <a:rPr lang="en-US" sz="975" dirty="0">
                <a:solidFill>
                  <a:srgbClr val="7E8DA6"/>
                </a:solidFill>
                <a:latin typeface="Inter" pitchFamily="34" charset="0"/>
                <a:ea typeface="Inter" pitchFamily="34" charset="-122"/>
                <a:cs typeface="Inter" pitchFamily="34" charset="-120"/>
              </a:rPr>
              <a:t>1/50/99 percentile</a:t>
            </a:r>
            <a:endParaRPr lang="en-US" sz="975" dirty="0"/>
          </a:p>
        </p:txBody>
      </p:sp>
      <p:sp>
        <p:nvSpPr>
          <p:cNvPr id="48" name="Shape 40"/>
          <p:cNvSpPr/>
          <p:nvPr/>
        </p:nvSpPr>
        <p:spPr>
          <a:xfrm>
            <a:off x="15078456" y="5639105"/>
            <a:ext cx="2162556" cy="1190549"/>
          </a:xfrm>
          <a:prstGeom prst="rect">
            <a:avLst/>
          </a:prstGeom>
          <a:solidFill>
            <a:srgbClr val="182642"/>
          </a:solidFill>
          <a:ln w="12700">
            <a:solidFill>
              <a:srgbClr val="FFFFFF">
                <a:alpha val="0"/>
              </a:srgbClr>
            </a:solidFill>
            <a:prstDash val="solid"/>
          </a:ln>
        </p:spPr>
      </p:sp>
      <p:sp>
        <p:nvSpPr>
          <p:cNvPr id="49" name="Text 41"/>
          <p:cNvSpPr txBox="1"/>
          <p:nvPr/>
        </p:nvSpPr>
        <p:spPr>
          <a:xfrm>
            <a:off x="15211044" y="5790895"/>
            <a:ext cx="1895551" cy="162763"/>
          </a:xfrm>
          <a:prstGeom prst="rect">
            <a:avLst/>
          </a:prstGeom>
          <a:noFill/>
          <a:ln/>
        </p:spPr>
        <p:txBody>
          <a:bodyPr wrap="none" lIns="0" tIns="0" rIns="0" bIns="0" rtlCol="0" anchor="ctr"/>
          <a:lstStyle/>
          <a:p>
            <a:pPr algn="l" indent="0" marL="0">
              <a:buNone/>
            </a:pPr>
            <a:r>
              <a:rPr lang="en-US" sz="975" dirty="0">
                <a:solidFill>
                  <a:srgbClr val="7E8DA6"/>
                </a:solidFill>
                <a:latin typeface="JetBrains Mono" pitchFamily="34" charset="0"/>
                <a:ea typeface="JetBrains Mono" pitchFamily="34" charset="-122"/>
                <a:cs typeface="JetBrains Mono" pitchFamily="34" charset="-120"/>
              </a:rPr>
              <a:t>04</a:t>
            </a:r>
            <a:endParaRPr lang="en-US" sz="975" dirty="0"/>
          </a:p>
        </p:txBody>
      </p:sp>
      <p:sp>
        <p:nvSpPr>
          <p:cNvPr id="50" name="Text 42"/>
          <p:cNvSpPr txBox="1"/>
          <p:nvPr/>
        </p:nvSpPr>
        <p:spPr>
          <a:xfrm>
            <a:off x="15211044" y="6010351"/>
            <a:ext cx="1895551" cy="438912"/>
          </a:xfrm>
          <a:prstGeom prst="rect">
            <a:avLst/>
          </a:prstGeom>
          <a:noFill/>
          <a:ln/>
        </p:spPr>
        <p:txBody>
          <a:bodyPr wrap="square" lIns="0" tIns="0" rIns="0" bIns="0" rtlCol="0" anchor="t"/>
          <a:lstStyle/>
          <a:p>
            <a:pPr algn="l" indent="0" marL="0">
              <a:lnSpc>
                <a:spcPct val="135000"/>
              </a:lnSpc>
              <a:buNone/>
            </a:pPr>
            <a:r>
              <a:rPr lang="en-US" sz="1275" b="1" dirty="0">
                <a:solidFill>
                  <a:srgbClr val="ECF1F9"/>
                </a:solidFill>
                <a:latin typeface="Inter" pitchFamily="34" charset="0"/>
                <a:ea typeface="Inter" pitchFamily="34" charset="-122"/>
                <a:cs typeface="Inter" pitchFamily="34" charset="-120"/>
              </a:rPr>
              <a:t>공정 flow</a:t>
            </a:r>
            <a:pPr algn="l" indent="0" marL="0">
              <a:lnSpc>
                <a:spcPct val="135000"/>
              </a:lnSpc>
              <a:buNone/>
            </a:pPr>
            <a:endParaRPr lang="en-US" sz="1275" dirty="0"/>
          </a:p>
          <a:p>
            <a:pPr algn="l" indent="0" marL="0">
              <a:lnSpc>
                <a:spcPct val="135000"/>
              </a:lnSpc>
              <a:buNone/>
            </a:pPr>
            <a:r>
              <a:rPr lang="en-US" sz="1275" b="1" dirty="0">
                <a:solidFill>
                  <a:srgbClr val="ECF1F9"/>
                </a:solidFill>
                <a:latin typeface="Inter" pitchFamily="34" charset="0"/>
                <a:ea typeface="Inter" pitchFamily="34" charset="-122"/>
                <a:cs typeface="Inter" pitchFamily="34" charset="-120"/>
              </a:rPr>
              <a:t>비교</a:t>
            </a:r>
            <a:endParaRPr lang="en-US" sz="1275" dirty="0"/>
          </a:p>
        </p:txBody>
      </p:sp>
      <p:sp>
        <p:nvSpPr>
          <p:cNvPr id="51" name="Text 43"/>
          <p:cNvSpPr txBox="1"/>
          <p:nvPr/>
        </p:nvSpPr>
        <p:spPr>
          <a:xfrm>
            <a:off x="15211044" y="6523330"/>
            <a:ext cx="1895551" cy="152705"/>
          </a:xfrm>
          <a:prstGeom prst="rect">
            <a:avLst/>
          </a:prstGeom>
          <a:noFill/>
          <a:ln/>
        </p:spPr>
        <p:txBody>
          <a:bodyPr wrap="none" lIns="0" tIns="0" rIns="0" bIns="0" rtlCol="0" anchor="ctr"/>
          <a:lstStyle/>
          <a:p>
            <a:pPr algn="l" indent="0" marL="0">
              <a:buNone/>
            </a:pPr>
            <a:r>
              <a:rPr lang="en-US" sz="975" dirty="0">
                <a:solidFill>
                  <a:srgbClr val="7E8DA6"/>
                </a:solidFill>
                <a:latin typeface="Inter" pitchFamily="34" charset="0"/>
                <a:ea typeface="Inter" pitchFamily="34" charset="-122"/>
                <a:cs typeface="Inter" pitchFamily="34" charset="-120"/>
              </a:rPr>
              <a:t>step-by-step diff</a:t>
            </a:r>
            <a:endParaRPr lang="en-US" sz="975" dirty="0"/>
          </a:p>
        </p:txBody>
      </p:sp>
      <p:sp>
        <p:nvSpPr>
          <p:cNvPr id="52" name="Text 44"/>
          <p:cNvSpPr txBox="1"/>
          <p:nvPr/>
        </p:nvSpPr>
        <p:spPr>
          <a:xfrm>
            <a:off x="1143000" y="7715707"/>
            <a:ext cx="16002000" cy="133502"/>
          </a:xfrm>
          <a:prstGeom prst="rect">
            <a:avLst/>
          </a:prstGeom>
          <a:noFill/>
          <a:ln/>
        </p:spPr>
        <p:txBody>
          <a:bodyPr wrap="none" lIns="0" tIns="0" rIns="0" bIns="0" rtlCol="0" anchor="ctr"/>
          <a:lstStyle/>
          <a:p>
            <a:pPr algn="l" indent="0" marL="0">
              <a:buNone/>
            </a:pPr>
            <a:r>
              <a:rPr lang="en-US" sz="825" spc="247" kern="0" dirty="0">
                <a:solidFill>
                  <a:srgbClr val="7E8DA6"/>
                </a:solidFill>
                <a:latin typeface="Inter" pitchFamily="34" charset="0"/>
                <a:ea typeface="Inter" pitchFamily="34" charset="-122"/>
                <a:cs typeface="Inter" pitchFamily="34" charset="-120"/>
              </a:rPr>
              <a:t>CONDITIONS AT A GLANCE</a:t>
            </a:r>
            <a:endParaRPr lang="en-US" sz="825" dirty="0"/>
          </a:p>
        </p:txBody>
      </p:sp>
      <p:sp>
        <p:nvSpPr>
          <p:cNvPr id="53" name="Text 45"/>
          <p:cNvSpPr txBox="1"/>
          <p:nvPr/>
        </p:nvSpPr>
        <p:spPr>
          <a:xfrm>
            <a:off x="1143000" y="8020202"/>
            <a:ext cx="3200400" cy="162763"/>
          </a:xfrm>
          <a:prstGeom prst="rect">
            <a:avLst/>
          </a:prstGeom>
          <a:noFill/>
          <a:ln/>
        </p:spPr>
        <p:txBody>
          <a:bodyPr wrap="none" lIns="0" tIns="0" rIns="0" bIns="0" rtlCol="0" anchor="ctr"/>
          <a:lstStyle/>
          <a:p>
            <a:pPr algn="l" indent="0" marL="0">
              <a:buNone/>
            </a:pPr>
            <a:r>
              <a:rPr lang="en-US" sz="1050" dirty="0">
                <a:solidFill>
                  <a:srgbClr val="7E8DA6"/>
                </a:solidFill>
                <a:latin typeface="Inter" pitchFamily="34" charset="0"/>
                <a:ea typeface="Inter" pitchFamily="34" charset="-122"/>
                <a:cs typeface="Inter" pitchFamily="34" charset="-120"/>
              </a:rPr>
              <a:t>Wafer</a:t>
            </a:r>
            <a:endParaRPr lang="en-US" sz="1050" dirty="0"/>
          </a:p>
        </p:txBody>
      </p:sp>
      <p:sp>
        <p:nvSpPr>
          <p:cNvPr id="54" name="Text 46"/>
          <p:cNvSpPr txBox="1"/>
          <p:nvPr/>
        </p:nvSpPr>
        <p:spPr>
          <a:xfrm>
            <a:off x="1143000" y="8238744"/>
            <a:ext cx="3200400" cy="505663"/>
          </a:xfrm>
          <a:prstGeom prst="rect">
            <a:avLst/>
          </a:prstGeom>
          <a:noFill/>
          <a:ln/>
        </p:spPr>
        <p:txBody>
          <a:bodyPr wrap="none" lIns="0" tIns="0" rIns="0" bIns="0" rtlCol="0" anchor="ctr"/>
          <a:lstStyle/>
          <a:p>
            <a:pPr algn="l" indent="0" marL="0">
              <a:buNone/>
            </a:pPr>
            <a:r>
              <a:rPr lang="en-US" sz="2700" b="1" dirty="0">
                <a:solidFill>
                  <a:srgbClr val="ECF1F9"/>
                </a:solidFill>
                <a:latin typeface="JetBrains Mono" pitchFamily="34" charset="0"/>
                <a:ea typeface="JetBrains Mono" pitchFamily="34" charset="-122"/>
                <a:cs typeface="JetBrains Mono" pitchFamily="34" charset="-120"/>
              </a:rPr>
              <a:t>4 매</a:t>
            </a:r>
            <a:endParaRPr lang="en-US" sz="2700" dirty="0"/>
          </a:p>
        </p:txBody>
      </p:sp>
      <p:sp>
        <p:nvSpPr>
          <p:cNvPr id="55" name="Text 47"/>
          <p:cNvSpPr txBox="1"/>
          <p:nvPr/>
        </p:nvSpPr>
        <p:spPr>
          <a:xfrm>
            <a:off x="1143000" y="8744407"/>
            <a:ext cx="3200400" cy="152705"/>
          </a:xfrm>
          <a:prstGeom prst="rect">
            <a:avLst/>
          </a:prstGeom>
          <a:noFill/>
          <a:ln/>
        </p:spPr>
        <p:txBody>
          <a:bodyPr wrap="none" lIns="0" tIns="0" rIns="0" bIns="0" rtlCol="0" anchor="ctr"/>
          <a:lstStyle/>
          <a:p>
            <a:pPr algn="l" indent="0" marL="0">
              <a:buNone/>
            </a:pPr>
            <a:r>
              <a:rPr lang="en-US" sz="975" dirty="0">
                <a:solidFill>
                  <a:srgbClr val="C2CCE0"/>
                </a:solidFill>
                <a:latin typeface="Inter" pitchFamily="34" charset="0"/>
                <a:ea typeface="Inter" pitchFamily="34" charset="-122"/>
                <a:cs typeface="Inter" pitchFamily="34" charset="-120"/>
              </a:rPr>
              <a:t>300 mm p-type</a:t>
            </a:r>
            <a:endParaRPr lang="en-US" sz="975" dirty="0"/>
          </a:p>
        </p:txBody>
      </p:sp>
      <p:sp>
        <p:nvSpPr>
          <p:cNvPr id="56" name="Text 48"/>
          <p:cNvSpPr txBox="1"/>
          <p:nvPr/>
        </p:nvSpPr>
        <p:spPr>
          <a:xfrm>
            <a:off x="4343400" y="8020202"/>
            <a:ext cx="3200400" cy="191110"/>
          </a:xfrm>
          <a:prstGeom prst="rect">
            <a:avLst/>
          </a:prstGeom>
          <a:noFill/>
          <a:ln/>
        </p:spPr>
        <p:txBody>
          <a:bodyPr wrap="none" lIns="0" tIns="0" rIns="0" bIns="0" rtlCol="0" anchor="ctr"/>
          <a:lstStyle/>
          <a:p>
            <a:pPr algn="l" indent="0" marL="0">
              <a:buNone/>
            </a:pPr>
            <a:r>
              <a:rPr lang="en-US" sz="1050" dirty="0">
                <a:solidFill>
                  <a:srgbClr val="7E8DA6"/>
                </a:solidFill>
                <a:latin typeface="Inter" pitchFamily="34" charset="0"/>
                <a:ea typeface="Inter" pitchFamily="34" charset="-122"/>
                <a:cs typeface="Inter" pitchFamily="34" charset="-120"/>
              </a:rPr>
              <a:t>Target 노드</a:t>
            </a:r>
            <a:endParaRPr lang="en-US" sz="1050" dirty="0"/>
          </a:p>
        </p:txBody>
      </p:sp>
      <p:sp>
        <p:nvSpPr>
          <p:cNvPr id="57" name="Text 49"/>
          <p:cNvSpPr txBox="1"/>
          <p:nvPr/>
        </p:nvSpPr>
        <p:spPr>
          <a:xfrm>
            <a:off x="4343400" y="8268005"/>
            <a:ext cx="3200400" cy="457200"/>
          </a:xfrm>
          <a:prstGeom prst="rect">
            <a:avLst/>
          </a:prstGeom>
          <a:noFill/>
          <a:ln/>
        </p:spPr>
        <p:txBody>
          <a:bodyPr wrap="none" lIns="0" tIns="0" rIns="0" bIns="0" rtlCol="0" anchor="ctr"/>
          <a:lstStyle/>
          <a:p>
            <a:pPr algn="l" indent="0" marL="0">
              <a:buNone/>
            </a:pPr>
            <a:r>
              <a:rPr lang="en-US" sz="2700" b="1" dirty="0">
                <a:solidFill>
                  <a:srgbClr val="ECF1F9"/>
                </a:solidFill>
                <a:latin typeface="JetBrains Mono" pitchFamily="34" charset="0"/>
                <a:ea typeface="JetBrains Mono" pitchFamily="34" charset="-122"/>
                <a:cs typeface="JetBrains Mono" pitchFamily="34" charset="-120"/>
              </a:rPr>
              <a:t>N+ 1</a:t>
            </a:r>
            <a:endParaRPr lang="en-US" sz="2700" dirty="0"/>
          </a:p>
        </p:txBody>
      </p:sp>
      <p:sp>
        <p:nvSpPr>
          <p:cNvPr id="58" name="Text 50"/>
          <p:cNvSpPr txBox="1"/>
          <p:nvPr/>
        </p:nvSpPr>
        <p:spPr>
          <a:xfrm>
            <a:off x="4343400" y="8725205"/>
            <a:ext cx="3200400" cy="152705"/>
          </a:xfrm>
          <a:prstGeom prst="rect">
            <a:avLst/>
          </a:prstGeom>
          <a:noFill/>
          <a:ln/>
        </p:spPr>
        <p:txBody>
          <a:bodyPr wrap="none" lIns="0" tIns="0" rIns="0" bIns="0" rtlCol="0" anchor="ctr"/>
          <a:lstStyle/>
          <a:p>
            <a:pPr algn="l" indent="0" marL="0">
              <a:buNone/>
            </a:pPr>
            <a:r>
              <a:rPr lang="en-US" sz="975" dirty="0">
                <a:solidFill>
                  <a:srgbClr val="C2CCE0"/>
                </a:solidFill>
                <a:latin typeface="Inter" pitchFamily="34" charset="0"/>
                <a:ea typeface="Inter" pitchFamily="34" charset="-122"/>
                <a:cs typeface="Inter" pitchFamily="34" charset="-120"/>
              </a:rPr>
              <a:t>dummy lot</a:t>
            </a:r>
            <a:endParaRPr lang="en-US" sz="975" dirty="0"/>
          </a:p>
        </p:txBody>
      </p:sp>
      <p:sp>
        <p:nvSpPr>
          <p:cNvPr id="59" name="Text 51"/>
          <p:cNvSpPr txBox="1"/>
          <p:nvPr/>
        </p:nvSpPr>
        <p:spPr>
          <a:xfrm>
            <a:off x="7543800" y="8020202"/>
            <a:ext cx="3200400" cy="191110"/>
          </a:xfrm>
          <a:prstGeom prst="rect">
            <a:avLst/>
          </a:prstGeom>
          <a:noFill/>
          <a:ln/>
        </p:spPr>
        <p:txBody>
          <a:bodyPr wrap="none" lIns="0" tIns="0" rIns="0" bIns="0" rtlCol="0" anchor="ctr"/>
          <a:lstStyle/>
          <a:p>
            <a:pPr algn="l" indent="0" marL="0">
              <a:buNone/>
            </a:pPr>
            <a:r>
              <a:rPr lang="en-US" sz="1050" dirty="0">
                <a:solidFill>
                  <a:srgbClr val="7E8DA6"/>
                </a:solidFill>
                <a:latin typeface="Inter" pitchFamily="34" charset="0"/>
                <a:ea typeface="Inter" pitchFamily="34" charset="-122"/>
                <a:cs typeface="Inter" pitchFamily="34" charset="-120"/>
              </a:rPr>
              <a:t>평가 레이어</a:t>
            </a:r>
            <a:endParaRPr lang="en-US" sz="1050" dirty="0"/>
          </a:p>
        </p:txBody>
      </p:sp>
      <p:sp>
        <p:nvSpPr>
          <p:cNvPr id="60" name="Text 52"/>
          <p:cNvSpPr txBox="1"/>
          <p:nvPr/>
        </p:nvSpPr>
        <p:spPr>
          <a:xfrm>
            <a:off x="7543800" y="8268005"/>
            <a:ext cx="210312" cy="457200"/>
          </a:xfrm>
          <a:prstGeom prst="rect">
            <a:avLst/>
          </a:prstGeom>
          <a:noFill/>
          <a:ln/>
        </p:spPr>
        <p:txBody>
          <a:bodyPr wrap="none" lIns="0" tIns="0" rIns="0" bIns="0" rtlCol="0" anchor="ctr"/>
          <a:lstStyle/>
          <a:p>
            <a:pPr algn="l" indent="0" marL="0">
              <a:buNone/>
            </a:pPr>
            <a:r>
              <a:rPr lang="en-US" sz="2700" b="1" dirty="0">
                <a:solidFill>
                  <a:srgbClr val="ECF1F9"/>
                </a:solidFill>
                <a:latin typeface="JetBrains Mono" pitchFamily="34" charset="0"/>
                <a:ea typeface="JetBrains Mono" pitchFamily="34" charset="-122"/>
                <a:cs typeface="JetBrains Mono" pitchFamily="34" charset="-120"/>
              </a:rPr>
              <a:t>2</a:t>
            </a:r>
            <a:endParaRPr lang="en-US" sz="2700" dirty="0"/>
          </a:p>
        </p:txBody>
      </p:sp>
      <p:sp>
        <p:nvSpPr>
          <p:cNvPr id="61" name="Text 53"/>
          <p:cNvSpPr txBox="1"/>
          <p:nvPr/>
        </p:nvSpPr>
        <p:spPr>
          <a:xfrm>
            <a:off x="7807147" y="8438998"/>
            <a:ext cx="793699" cy="228600"/>
          </a:xfrm>
          <a:prstGeom prst="rect">
            <a:avLst/>
          </a:prstGeom>
          <a:noFill/>
          <a:ln/>
        </p:spPr>
        <p:txBody>
          <a:bodyPr wrap="none" lIns="0" tIns="0" rIns="0" bIns="0" rtlCol="0" anchor="ctr"/>
          <a:lstStyle/>
          <a:p>
            <a:pPr algn="l" indent="0" marL="0">
              <a:buNone/>
            </a:pPr>
            <a:r>
              <a:rPr lang="en-US" sz="1500" dirty="0">
                <a:solidFill>
                  <a:srgbClr val="C2CCE0"/>
                </a:solidFill>
                <a:latin typeface="Inter" pitchFamily="34" charset="0"/>
                <a:ea typeface="Inter" pitchFamily="34" charset="-122"/>
                <a:cs typeface="Inter" pitchFamily="34" charset="-120"/>
              </a:rPr>
              <a:t>V1 · M2</a:t>
            </a:r>
            <a:endParaRPr lang="en-US" sz="1500" dirty="0"/>
          </a:p>
        </p:txBody>
      </p:sp>
      <p:sp>
        <p:nvSpPr>
          <p:cNvPr id="62" name="Text 54"/>
          <p:cNvSpPr txBox="1"/>
          <p:nvPr/>
        </p:nvSpPr>
        <p:spPr>
          <a:xfrm>
            <a:off x="7543800" y="8725205"/>
            <a:ext cx="3200400" cy="152705"/>
          </a:xfrm>
          <a:prstGeom prst="rect">
            <a:avLst/>
          </a:prstGeom>
          <a:noFill/>
          <a:ln/>
        </p:spPr>
        <p:txBody>
          <a:bodyPr wrap="none" lIns="0" tIns="0" rIns="0" bIns="0" rtlCol="0" anchor="ctr"/>
          <a:lstStyle/>
          <a:p>
            <a:pPr algn="l" indent="0" marL="0">
              <a:buNone/>
            </a:pPr>
            <a:r>
              <a:rPr lang="en-US" sz="975" dirty="0">
                <a:solidFill>
                  <a:srgbClr val="C2CCE0"/>
                </a:solidFill>
                <a:latin typeface="Inter" pitchFamily="34" charset="0"/>
                <a:ea typeface="Inter" pitchFamily="34" charset="-122"/>
                <a:cs typeface="Inter" pitchFamily="34" charset="-120"/>
              </a:rPr>
              <a:t>via-first damascene</a:t>
            </a:r>
            <a:endParaRPr lang="en-US" sz="975" dirty="0"/>
          </a:p>
        </p:txBody>
      </p:sp>
      <p:sp>
        <p:nvSpPr>
          <p:cNvPr id="63" name="Text 55"/>
          <p:cNvSpPr txBox="1"/>
          <p:nvPr/>
        </p:nvSpPr>
        <p:spPr>
          <a:xfrm>
            <a:off x="10744200" y="8020202"/>
            <a:ext cx="3200400" cy="191110"/>
          </a:xfrm>
          <a:prstGeom prst="rect">
            <a:avLst/>
          </a:prstGeom>
          <a:noFill/>
          <a:ln/>
        </p:spPr>
        <p:txBody>
          <a:bodyPr wrap="none" lIns="0" tIns="0" rIns="0" bIns="0" rtlCol="0" anchor="ctr"/>
          <a:lstStyle/>
          <a:p>
            <a:pPr algn="l" indent="0" marL="0">
              <a:buNone/>
            </a:pPr>
            <a:r>
              <a:rPr lang="en-US" sz="1050" dirty="0">
                <a:solidFill>
                  <a:srgbClr val="7E8DA6"/>
                </a:solidFill>
                <a:latin typeface="Inter" pitchFamily="34" charset="0"/>
                <a:ea typeface="Inter" pitchFamily="34" charset="-122"/>
                <a:cs typeface="Inter" pitchFamily="34" charset="-120"/>
              </a:rPr>
              <a:t>측정 디스크립터</a:t>
            </a:r>
            <a:endParaRPr lang="en-US" sz="1050" dirty="0"/>
          </a:p>
        </p:txBody>
      </p:sp>
      <p:sp>
        <p:nvSpPr>
          <p:cNvPr id="64" name="Text 56"/>
          <p:cNvSpPr txBox="1"/>
          <p:nvPr/>
        </p:nvSpPr>
        <p:spPr>
          <a:xfrm>
            <a:off x="10744200" y="8268005"/>
            <a:ext cx="3200400" cy="505663"/>
          </a:xfrm>
          <a:prstGeom prst="rect">
            <a:avLst/>
          </a:prstGeom>
          <a:noFill/>
          <a:ln/>
        </p:spPr>
        <p:txBody>
          <a:bodyPr wrap="none" lIns="0" tIns="0" rIns="0" bIns="0" rtlCol="0" anchor="ctr"/>
          <a:lstStyle/>
          <a:p>
            <a:pPr algn="l" indent="0" marL="0">
              <a:buNone/>
            </a:pPr>
            <a:r>
              <a:rPr lang="en-US" sz="2700" b="1" dirty="0">
                <a:solidFill>
                  <a:srgbClr val="ECF1F9"/>
                </a:solidFill>
                <a:latin typeface="JetBrains Mono" pitchFamily="34" charset="0"/>
                <a:ea typeface="JetBrains Mono" pitchFamily="34" charset="-122"/>
                <a:cs typeface="JetBrains Mono" pitchFamily="34" charset="-120"/>
              </a:rPr>
              <a:t>4 종</a:t>
            </a:r>
            <a:endParaRPr lang="en-US" sz="2700" dirty="0"/>
          </a:p>
        </p:txBody>
      </p:sp>
      <p:sp>
        <p:nvSpPr>
          <p:cNvPr id="65" name="Text 57"/>
          <p:cNvSpPr txBox="1"/>
          <p:nvPr/>
        </p:nvSpPr>
        <p:spPr>
          <a:xfrm>
            <a:off x="10744200" y="8772754"/>
            <a:ext cx="3200400" cy="152705"/>
          </a:xfrm>
          <a:prstGeom prst="rect">
            <a:avLst/>
          </a:prstGeom>
          <a:noFill/>
          <a:ln/>
        </p:spPr>
        <p:txBody>
          <a:bodyPr wrap="none" lIns="0" tIns="0" rIns="0" bIns="0" rtlCol="0" anchor="ctr"/>
          <a:lstStyle/>
          <a:p>
            <a:pPr algn="l" indent="0" marL="0">
              <a:buNone/>
            </a:pPr>
            <a:r>
              <a:rPr lang="en-US" sz="975" dirty="0">
                <a:solidFill>
                  <a:srgbClr val="C2CCE0"/>
                </a:solidFill>
                <a:latin typeface="Inter" pitchFamily="34" charset="0"/>
                <a:ea typeface="Inter" pitchFamily="34" charset="-122"/>
                <a:cs typeface="Inter" pitchFamily="34" charset="-120"/>
              </a:rPr>
              <a:t>AASI·ASEI·AMI·ACI</a:t>
            </a:r>
            <a:endParaRPr lang="en-US" sz="975" dirty="0"/>
          </a:p>
        </p:txBody>
      </p:sp>
      <p:sp>
        <p:nvSpPr>
          <p:cNvPr id="66" name="Text 58"/>
          <p:cNvSpPr txBox="1"/>
          <p:nvPr/>
        </p:nvSpPr>
        <p:spPr>
          <a:xfrm>
            <a:off x="13944600" y="8020202"/>
            <a:ext cx="3200400" cy="191110"/>
          </a:xfrm>
          <a:prstGeom prst="rect">
            <a:avLst/>
          </a:prstGeom>
          <a:noFill/>
          <a:ln/>
        </p:spPr>
        <p:txBody>
          <a:bodyPr wrap="none" lIns="0" tIns="0" rIns="0" bIns="0" rtlCol="0" anchor="ctr"/>
          <a:lstStyle/>
          <a:p>
            <a:pPr algn="l" indent="0" marL="0">
              <a:buNone/>
            </a:pPr>
            <a:r>
              <a:rPr lang="en-US" sz="1050" dirty="0">
                <a:solidFill>
                  <a:srgbClr val="7E8DA6"/>
                </a:solidFill>
                <a:latin typeface="Inter" pitchFamily="34" charset="0"/>
                <a:ea typeface="Inter" pitchFamily="34" charset="-122"/>
                <a:cs typeface="Inter" pitchFamily="34" charset="-120"/>
              </a:rPr>
              <a:t>AG 형성</a:t>
            </a:r>
            <a:endParaRPr lang="en-US" sz="1050" dirty="0"/>
          </a:p>
        </p:txBody>
      </p:sp>
      <p:sp>
        <p:nvSpPr>
          <p:cNvPr id="67" name="Text 59"/>
          <p:cNvSpPr txBox="1"/>
          <p:nvPr/>
        </p:nvSpPr>
        <p:spPr>
          <a:xfrm>
            <a:off x="13944600" y="8268005"/>
            <a:ext cx="409651" cy="200254"/>
          </a:xfrm>
          <a:prstGeom prst="rect">
            <a:avLst/>
          </a:prstGeom>
          <a:noFill/>
          <a:ln/>
        </p:spPr>
        <p:txBody>
          <a:bodyPr wrap="none" lIns="0" tIns="0" rIns="0" bIns="0" rtlCol="0" anchor="ctr"/>
          <a:lstStyle/>
          <a:p>
            <a:pPr algn="l" indent="0" marL="0">
              <a:buNone/>
            </a:pPr>
            <a:r>
              <a:rPr lang="en-US" sz="1350" dirty="0">
                <a:solidFill>
                  <a:srgbClr val="C2CCE0"/>
                </a:solidFill>
                <a:latin typeface="Inter" pitchFamily="34" charset="0"/>
                <a:ea typeface="Inter" pitchFamily="34" charset="-122"/>
                <a:cs typeface="Inter" pitchFamily="34" charset="-120"/>
              </a:rPr>
              <a:t>Off</a:t>
            </a:r>
            <a:endParaRPr lang="en-US" sz="1350" dirty="0"/>
          </a:p>
        </p:txBody>
      </p:sp>
      <p:sp>
        <p:nvSpPr>
          <p:cNvPr id="68" name="Text 60"/>
          <p:cNvSpPr txBox="1"/>
          <p:nvPr/>
        </p:nvSpPr>
        <p:spPr>
          <a:xfrm>
            <a:off x="14443862" y="8268005"/>
            <a:ext cx="391363" cy="200254"/>
          </a:xfrm>
          <a:prstGeom prst="rect">
            <a:avLst/>
          </a:prstGeom>
          <a:noFill/>
          <a:ln/>
        </p:spPr>
        <p:txBody>
          <a:bodyPr wrap="none" lIns="0" tIns="0" rIns="0" bIns="0" rtlCol="0" anchor="ctr"/>
          <a:lstStyle/>
          <a:p>
            <a:pPr algn="l" indent="0" marL="0">
              <a:buNone/>
            </a:pPr>
            <a:r>
              <a:rPr lang="en-US" sz="1350" dirty="0">
                <a:solidFill>
                  <a:srgbClr val="C2CCE0"/>
                </a:solidFill>
                <a:latin typeface="Inter" pitchFamily="34" charset="0"/>
                <a:ea typeface="Inter" pitchFamily="34" charset="-122"/>
                <a:cs typeface="Inter" pitchFamily="34" charset="-120"/>
              </a:rPr>
              <a:t>On</a:t>
            </a:r>
            <a:endParaRPr lang="en-US" sz="1350" dirty="0"/>
          </a:p>
        </p:txBody>
      </p:sp>
      <p:sp>
        <p:nvSpPr>
          <p:cNvPr id="69" name="Text 61"/>
          <p:cNvSpPr txBox="1"/>
          <p:nvPr/>
        </p:nvSpPr>
        <p:spPr>
          <a:xfrm>
            <a:off x="13944600" y="8467344"/>
            <a:ext cx="3200400" cy="152705"/>
          </a:xfrm>
          <a:prstGeom prst="rect">
            <a:avLst/>
          </a:prstGeom>
          <a:noFill/>
          <a:ln/>
        </p:spPr>
        <p:txBody>
          <a:bodyPr wrap="none" lIns="0" tIns="0" rIns="0" bIns="0" rtlCol="0" anchor="ctr"/>
          <a:lstStyle/>
          <a:p>
            <a:pPr algn="l" indent="0" marL="0">
              <a:buNone/>
            </a:pPr>
            <a:r>
              <a:rPr lang="en-US" sz="975" dirty="0">
                <a:solidFill>
                  <a:srgbClr val="C2CCE0"/>
                </a:solidFill>
                <a:latin typeface="Inter" pitchFamily="34" charset="0"/>
                <a:ea typeface="Inter" pitchFamily="34" charset="-122"/>
                <a:cs typeface="Inter" pitchFamily="34" charset="-120"/>
              </a:rPr>
              <a:t>post-SiCN pinch-off</a:t>
            </a:r>
            <a:endParaRPr lang="en-US" sz="975" dirty="0"/>
          </a:p>
        </p:txBody>
      </p:sp>
      <p:sp>
        <p:nvSpPr>
          <p:cNvPr id="70" name="Text 62"/>
          <p:cNvSpPr txBox="1"/>
          <p:nvPr/>
        </p:nvSpPr>
        <p:spPr>
          <a:xfrm>
            <a:off x="0" y="9715500"/>
            <a:ext cx="18288000" cy="228600"/>
          </a:xfrm>
          <a:prstGeom prst="rect">
            <a:avLst/>
          </a:prstGeom>
          <a:noFill/>
          <a:ln/>
        </p:spPr>
        <p:txBody>
          <a:bodyPr wrap="none" lIns="0" tIns="0" rIns="0" bIns="0" rtlCol="0" anchor="ctr"/>
          <a:lstStyle/>
          <a:p>
            <a:pPr algn="ctr" indent="0" marL="0">
              <a:buNone/>
            </a:pPr>
            <a:r>
              <a:rPr lang="en-US" sz="1200" spc="48" kern="0" dirty="0">
                <a:solidFill>
                  <a:srgbClr val="7E8DA6"/>
                </a:solidFill>
                <a:latin typeface="Inter" pitchFamily="34" charset="0"/>
                <a:ea typeface="Inter" pitchFamily="34" charset="-122"/>
                <a:cs typeface="Inter" pitchFamily="34" charset="-120"/>
              </a:rPr>
              <a:t>※ 내부 테스트용 더미(가상) 데이터</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3" name="Shape 0"/>
          <p:cNvSpPr/>
          <p:nvPr/>
        </p:nvSpPr>
        <p:spPr>
          <a:xfrm>
            <a:off x="857707" y="2190902"/>
            <a:ext cx="8287207" cy="3619195"/>
          </a:xfrm>
          <a:prstGeom prst="rect">
            <a:avLst/>
          </a:prstGeom>
          <a:solidFill>
            <a:srgbClr val="131E33"/>
          </a:solidFill>
          <a:ln w="12700">
            <a:solidFill>
              <a:srgbClr val="2A3B57"/>
            </a:solidFill>
            <a:prstDash val="solid"/>
          </a:ln>
        </p:spPr>
      </p:sp>
      <p:sp>
        <p:nvSpPr>
          <p:cNvPr id="4" name="Shape 1"/>
          <p:cNvSpPr/>
          <p:nvPr/>
        </p:nvSpPr>
        <p:spPr>
          <a:xfrm>
            <a:off x="9334195" y="2190902"/>
            <a:ext cx="8096098" cy="3619195"/>
          </a:xfrm>
          <a:prstGeom prst="rect">
            <a:avLst/>
          </a:prstGeom>
          <a:solidFill>
            <a:srgbClr val="131E33"/>
          </a:solidFill>
          <a:ln w="12700">
            <a:solidFill>
              <a:srgbClr val="2A3B57"/>
            </a:solidFill>
            <a:prstDash val="solid"/>
          </a:ln>
        </p:spPr>
      </p:sp>
      <p:sp>
        <p:nvSpPr>
          <p:cNvPr id="5" name="Shape 2"/>
          <p:cNvSpPr/>
          <p:nvPr/>
        </p:nvSpPr>
        <p:spPr>
          <a:xfrm>
            <a:off x="857707" y="6001207"/>
            <a:ext cx="8287207" cy="2857500"/>
          </a:xfrm>
          <a:prstGeom prst="rect">
            <a:avLst/>
          </a:prstGeom>
          <a:solidFill>
            <a:srgbClr val="131E33"/>
          </a:solidFill>
          <a:ln w="12700">
            <a:solidFill>
              <a:srgbClr val="2A3B57"/>
            </a:solidFill>
            <a:prstDash val="solid"/>
          </a:ln>
        </p:spPr>
      </p:sp>
      <p:sp>
        <p:nvSpPr>
          <p:cNvPr id="6" name="Shape 3"/>
          <p:cNvSpPr/>
          <p:nvPr/>
        </p:nvSpPr>
        <p:spPr>
          <a:xfrm>
            <a:off x="9334195" y="6001207"/>
            <a:ext cx="8096098" cy="2857500"/>
          </a:xfrm>
          <a:prstGeom prst="rect">
            <a:avLst/>
          </a:prstGeom>
          <a:solidFill>
            <a:srgbClr val="131E33"/>
          </a:solidFill>
          <a:ln w="12700">
            <a:solidFill>
              <a:srgbClr val="2A3B57"/>
            </a:solidFill>
            <a:prstDash val="solid"/>
          </a:ln>
        </p:spPr>
      </p:sp>
      <p:sp>
        <p:nvSpPr>
          <p:cNvPr id="7" name="Shape 4"/>
          <p:cNvSpPr/>
          <p:nvPr/>
        </p:nvSpPr>
        <p:spPr>
          <a:xfrm>
            <a:off x="857707" y="9048902"/>
            <a:ext cx="16573500" cy="437998"/>
          </a:xfrm>
          <a:prstGeom prst="rect">
            <a:avLst/>
          </a:prstGeom>
          <a:solidFill>
            <a:srgbClr val="131E33"/>
          </a:solidFill>
          <a:ln w="12700">
            <a:solidFill>
              <a:srgbClr val="2A3B57"/>
            </a:solidFill>
            <a:prstDash val="solid"/>
          </a:ln>
        </p:spPr>
      </p:sp>
      <p:pic>
        <p:nvPicPr>
          <p:cNvPr id="8" name="Image 0" descr="gen-dedup-bc5db6edde7883ba3ad3f3a0361b077a.jpg">    </p:cNvPr>
          <p:cNvPicPr>
            <a:picLocks noChangeAspect="1"/>
          </p:cNvPicPr>
          <p:nvPr/>
        </p:nvPicPr>
        <p:blipFill>
          <a:blip r:embed="rId1"/>
          <a:stretch>
            <a:fillRect/>
          </a:stretch>
        </p:blipFill>
        <p:spPr>
          <a:xfrm>
            <a:off x="990295" y="2361895"/>
            <a:ext cx="4990795" cy="3276295"/>
          </a:xfrm>
          <a:prstGeom prst="rect">
            <a:avLst/>
          </a:prstGeom>
        </p:spPr>
      </p:pic>
      <p:pic>
        <p:nvPicPr>
          <p:cNvPr id="9" name="Image 1" descr="gen-dedup-02f3db29c4eb13aca686e3b23e8a8bb1.png">    </p:cNvPr>
          <p:cNvPicPr>
            <a:picLocks noChangeAspect="1"/>
          </p:cNvPicPr>
          <p:nvPr/>
        </p:nvPicPr>
        <p:blipFill>
          <a:blip r:embed="rId2"/>
          <a:stretch>
            <a:fillRect/>
          </a:stretch>
        </p:blipFill>
        <p:spPr>
          <a:xfrm>
            <a:off x="9467698" y="2361895"/>
            <a:ext cx="4990795" cy="3276295"/>
          </a:xfrm>
          <a:prstGeom prst="rect">
            <a:avLst/>
          </a:prstGeom>
        </p:spPr>
      </p:pic>
      <p:pic>
        <p:nvPicPr>
          <p:cNvPr id="10" name="Image 2" descr="gen-dedup-ae71cdb8b9450c07af898725819b198f.jpg">    </p:cNvPr>
          <p:cNvPicPr>
            <a:picLocks noChangeAspect="1"/>
          </p:cNvPicPr>
          <p:nvPr/>
        </p:nvPicPr>
        <p:blipFill>
          <a:blip r:embed="rId3"/>
          <a:stretch>
            <a:fillRect/>
          </a:stretch>
        </p:blipFill>
        <p:spPr>
          <a:xfrm>
            <a:off x="990295" y="6152998"/>
            <a:ext cx="4990795" cy="2553005"/>
          </a:xfrm>
          <a:prstGeom prst="rect">
            <a:avLst/>
          </a:prstGeom>
        </p:spPr>
      </p:pic>
      <p:pic>
        <p:nvPicPr>
          <p:cNvPr id="11" name="Image 3" descr="gen-dedup-fc27618983b5e57752d4a9c2df26f4c1.jpg">    </p:cNvPr>
          <p:cNvPicPr>
            <a:picLocks noChangeAspect="1"/>
          </p:cNvPicPr>
          <p:nvPr/>
        </p:nvPicPr>
        <p:blipFill>
          <a:blip r:embed="rId4"/>
          <a:stretch>
            <a:fillRect/>
          </a:stretch>
        </p:blipFill>
        <p:spPr>
          <a:xfrm>
            <a:off x="9467698" y="6152998"/>
            <a:ext cx="4990795" cy="2553005"/>
          </a:xfrm>
          <a:prstGeom prst="rect">
            <a:avLst/>
          </a:prstGeom>
        </p:spPr>
      </p:pic>
      <p:sp>
        <p:nvSpPr>
          <p:cNvPr id="12" name="Shape 5"/>
          <p:cNvSpPr/>
          <p:nvPr/>
        </p:nvSpPr>
        <p:spPr>
          <a:xfrm>
            <a:off x="6133795" y="2361895"/>
            <a:ext cx="2857500" cy="3276295"/>
          </a:xfrm>
          <a:prstGeom prst="rect">
            <a:avLst/>
          </a:prstGeom>
          <a:solidFill>
            <a:srgbClr val="182642"/>
          </a:solidFill>
          <a:ln w="12700">
            <a:solidFill>
              <a:srgbClr val="FFFFFF">
                <a:alpha val="0"/>
              </a:srgbClr>
            </a:solidFill>
            <a:prstDash val="solid"/>
          </a:ln>
        </p:spPr>
      </p:sp>
      <p:sp>
        <p:nvSpPr>
          <p:cNvPr id="13" name="Shape 6"/>
          <p:cNvSpPr/>
          <p:nvPr/>
        </p:nvSpPr>
        <p:spPr>
          <a:xfrm>
            <a:off x="14611198" y="2361895"/>
            <a:ext cx="2667305" cy="3276295"/>
          </a:xfrm>
          <a:prstGeom prst="rect">
            <a:avLst/>
          </a:prstGeom>
          <a:solidFill>
            <a:srgbClr val="182642"/>
          </a:solidFill>
          <a:ln w="12700">
            <a:solidFill>
              <a:srgbClr val="FFFFFF">
                <a:alpha val="0"/>
              </a:srgbClr>
            </a:solidFill>
            <a:prstDash val="solid"/>
          </a:ln>
        </p:spPr>
      </p:sp>
      <p:sp>
        <p:nvSpPr>
          <p:cNvPr id="14" name="Shape 7"/>
          <p:cNvSpPr/>
          <p:nvPr/>
        </p:nvSpPr>
        <p:spPr>
          <a:xfrm>
            <a:off x="6133795" y="6152998"/>
            <a:ext cx="2857500" cy="2553005"/>
          </a:xfrm>
          <a:prstGeom prst="rect">
            <a:avLst/>
          </a:prstGeom>
          <a:solidFill>
            <a:srgbClr val="182642"/>
          </a:solidFill>
          <a:ln w="12700">
            <a:solidFill>
              <a:srgbClr val="FFFFFF">
                <a:alpha val="0"/>
              </a:srgbClr>
            </a:solidFill>
            <a:prstDash val="solid"/>
          </a:ln>
        </p:spPr>
      </p:sp>
      <p:sp>
        <p:nvSpPr>
          <p:cNvPr id="15" name="Shape 8"/>
          <p:cNvSpPr/>
          <p:nvPr/>
        </p:nvSpPr>
        <p:spPr>
          <a:xfrm>
            <a:off x="14611198" y="6152998"/>
            <a:ext cx="2667305" cy="2553005"/>
          </a:xfrm>
          <a:prstGeom prst="rect">
            <a:avLst/>
          </a:prstGeom>
          <a:solidFill>
            <a:srgbClr val="182642"/>
          </a:solidFill>
          <a:ln w="12700">
            <a:solidFill>
              <a:srgbClr val="FFFFFF">
                <a:alpha val="0"/>
              </a:srgbClr>
            </a:solidFill>
            <a:prstDash val="solid"/>
          </a:ln>
        </p:spPr>
      </p:sp>
      <p:sp>
        <p:nvSpPr>
          <p:cNvPr id="16" name="Text 9"/>
          <p:cNvSpPr txBox="1"/>
          <p:nvPr/>
        </p:nvSpPr>
        <p:spPr>
          <a:xfrm>
            <a:off x="857707" y="571500"/>
            <a:ext cx="5143500" cy="162763"/>
          </a:xfrm>
          <a:prstGeom prst="rect">
            <a:avLst/>
          </a:prstGeom>
          <a:noFill/>
          <a:ln/>
        </p:spPr>
        <p:txBody>
          <a:bodyPr wrap="none" lIns="0" tIns="0" rIns="0" bIns="0" rtlCol="0" anchor="ctr"/>
          <a:lstStyle/>
          <a:p>
            <a:pPr algn="l" indent="0" marL="0">
              <a:buNone/>
            </a:pPr>
            <a:r>
              <a:rPr lang="en-US" sz="1050" b="1" spc="336" kern="0" dirty="0">
                <a:solidFill>
                  <a:srgbClr val="F59E0B"/>
                </a:solidFill>
                <a:latin typeface="Inter" pitchFamily="34" charset="0"/>
                <a:ea typeface="Inter" pitchFamily="34" charset="-122"/>
                <a:cs typeface="Inter" pitchFamily="34" charset="-120"/>
              </a:rPr>
              <a:t>02 · CROSS-SECTION REVIEW</a:t>
            </a:r>
            <a:endParaRPr lang="en-US" sz="1050" dirty="0"/>
          </a:p>
        </p:txBody>
      </p:sp>
      <p:sp>
        <p:nvSpPr>
          <p:cNvPr id="17" name="Text 10"/>
          <p:cNvSpPr txBox="1"/>
          <p:nvPr/>
        </p:nvSpPr>
        <p:spPr>
          <a:xfrm>
            <a:off x="857707" y="838505"/>
            <a:ext cx="12382805" cy="467258"/>
          </a:xfrm>
          <a:prstGeom prst="rect">
            <a:avLst/>
          </a:prstGeom>
          <a:noFill/>
          <a:ln/>
        </p:spPr>
        <p:txBody>
          <a:bodyPr wrap="none" lIns="0" tIns="0" rIns="0" bIns="0" rtlCol="0" anchor="ctr"/>
          <a:lstStyle/>
          <a:p>
            <a:pPr algn="l" indent="0" marL="0">
              <a:buNone/>
            </a:pPr>
            <a:r>
              <a:rPr lang="en-US" sz="3450" b="1" spc="-34" kern="0" dirty="0">
                <a:solidFill>
                  <a:srgbClr val="ECF1F9"/>
                </a:solidFill>
                <a:latin typeface="Inter" pitchFamily="34" charset="0"/>
                <a:ea typeface="Inter" pitchFamily="34" charset="-122"/>
                <a:cs typeface="Inter" pitchFamily="34" charset="-120"/>
              </a:rPr>
              <a:t>단면 SEM / TEM — Control vs Air Gap</a:t>
            </a:r>
            <a:endParaRPr lang="en-US" sz="3450" dirty="0"/>
          </a:p>
        </p:txBody>
      </p:sp>
      <p:sp>
        <p:nvSpPr>
          <p:cNvPr id="18" name="Text 11"/>
          <p:cNvSpPr txBox="1"/>
          <p:nvPr/>
        </p:nvSpPr>
        <p:spPr>
          <a:xfrm>
            <a:off x="857707" y="1435608"/>
            <a:ext cx="12382805" cy="277063"/>
          </a:xfrm>
          <a:prstGeom prst="rect">
            <a:avLst/>
          </a:prstGeom>
          <a:noFill/>
          <a:ln/>
        </p:spPr>
        <p:txBody>
          <a:bodyPr wrap="none" lIns="0" tIns="0" rIns="0" bIns="0" rtlCol="0" anchor="ctr"/>
          <a:lstStyle/>
          <a:p>
            <a:pPr algn="l" indent="0" marL="0">
              <a:buNone/>
            </a:pPr>
            <a:r>
              <a:rPr lang="en-US" sz="1500" dirty="0">
                <a:solidFill>
                  <a:srgbClr val="C2CCE0"/>
                </a:solidFill>
                <a:latin typeface="Inter" pitchFamily="34" charset="0"/>
                <a:ea typeface="Inter" pitchFamily="34" charset="-122"/>
                <a:cs typeface="Inter" pitchFamily="34" charset="-120"/>
              </a:rPr>
              <a:t>V1·M2 단면을 참조 이미지와 비교해 AG pinch-off가 형성된 cavity의 위치와 k-loss 단서를 확인</a:t>
            </a:r>
            <a:endParaRPr lang="en-US" sz="1500" dirty="0"/>
          </a:p>
        </p:txBody>
      </p:sp>
      <p:sp>
        <p:nvSpPr>
          <p:cNvPr id="19" name="Text 12"/>
          <p:cNvSpPr txBox="1"/>
          <p:nvPr/>
        </p:nvSpPr>
        <p:spPr>
          <a:xfrm>
            <a:off x="13811098" y="838505"/>
            <a:ext cx="3620110" cy="362102"/>
          </a:xfrm>
          <a:prstGeom prst="rect">
            <a:avLst/>
          </a:prstGeom>
          <a:noFill/>
          <a:ln/>
        </p:spPr>
        <p:txBody>
          <a:bodyPr wrap="square" lIns="0" tIns="0" rIns="0" bIns="0" rtlCol="0" anchor="t"/>
          <a:lstStyle/>
          <a:p>
            <a:pPr algn="r" indent="0" marL="0">
              <a:buNone/>
            </a:pPr>
            <a:r>
              <a:rPr lang="en-US" sz="975" dirty="0">
                <a:solidFill>
                  <a:srgbClr val="7E8DA6"/>
                </a:solidFill>
                <a:latin typeface="Inter" pitchFamily="34" charset="0"/>
                <a:ea typeface="Inter" pitchFamily="34" charset="-122"/>
                <a:cs typeface="Inter" pitchFamily="34" charset="-120"/>
              </a:rPr>
              <a:t>이미지 출처 — 외부 학술 자료</a:t>
            </a:r>
            <a:pPr algn="r" indent="0" marL="0">
              <a:buNone/>
            </a:pPr>
            <a:endParaRPr lang="en-US" sz="975" dirty="0"/>
          </a:p>
          <a:p>
            <a:pPr algn="r" indent="0" marL="0">
              <a:buNone/>
            </a:pPr>
            <a:r>
              <a:rPr lang="en-US" sz="975" dirty="0">
                <a:solidFill>
                  <a:srgbClr val="7E8DA6"/>
                </a:solidFill>
                <a:latin typeface="Inter" pitchFamily="34" charset="0"/>
                <a:ea typeface="Inter" pitchFamily="34" charset="-122"/>
                <a:cs typeface="Inter" pitchFamily="34" charset="-120"/>
              </a:rPr>
              <a:t>(각 패널 하단 1줄에 표기)</a:t>
            </a:r>
            <a:endParaRPr lang="en-US" sz="975" dirty="0"/>
          </a:p>
        </p:txBody>
      </p:sp>
      <p:sp>
        <p:nvSpPr>
          <p:cNvPr id="20" name="Text 13"/>
          <p:cNvSpPr txBox="1"/>
          <p:nvPr/>
        </p:nvSpPr>
        <p:spPr>
          <a:xfrm>
            <a:off x="6381598" y="2553005"/>
            <a:ext cx="905256" cy="219456"/>
          </a:xfrm>
          <a:prstGeom prst="rect">
            <a:avLst/>
          </a:prstGeom>
          <a:solidFill>
            <a:srgbClr val="38BDF8">
              <a:alpha val="16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38BDF8"/>
                </a:solidFill>
                <a:latin typeface="Inter" pitchFamily="34" charset="0"/>
                <a:ea typeface="Inter" pitchFamily="34" charset="-122"/>
                <a:cs typeface="Inter" pitchFamily="34" charset="-120"/>
              </a:rPr>
              <a:t>CONTROL</a:t>
            </a:r>
            <a:endParaRPr lang="en-US" sz="900" dirty="0"/>
          </a:p>
        </p:txBody>
      </p:sp>
      <p:sp>
        <p:nvSpPr>
          <p:cNvPr id="21" name="Text 14"/>
          <p:cNvSpPr txBox="1"/>
          <p:nvPr/>
        </p:nvSpPr>
        <p:spPr>
          <a:xfrm>
            <a:off x="7353605" y="2553005"/>
            <a:ext cx="372161" cy="219456"/>
          </a:xfrm>
          <a:prstGeom prst="rect">
            <a:avLst/>
          </a:prstGeom>
          <a:solidFill>
            <a:srgbClr val="A78BFA">
              <a:alpha val="14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A78BFA"/>
                </a:solidFill>
                <a:latin typeface="Inter" pitchFamily="34" charset="0"/>
                <a:ea typeface="Inter" pitchFamily="34" charset="-122"/>
                <a:cs typeface="Inter" pitchFamily="34" charset="-120"/>
              </a:rPr>
              <a:t>V1</a:t>
            </a:r>
            <a:endParaRPr lang="en-US" sz="900" dirty="0"/>
          </a:p>
        </p:txBody>
      </p:sp>
      <p:sp>
        <p:nvSpPr>
          <p:cNvPr id="22" name="Text 15"/>
          <p:cNvSpPr txBox="1"/>
          <p:nvPr/>
        </p:nvSpPr>
        <p:spPr>
          <a:xfrm>
            <a:off x="6381598" y="2905049"/>
            <a:ext cx="2496312" cy="514807"/>
          </a:xfrm>
          <a:prstGeom prst="rect">
            <a:avLst/>
          </a:prstGeom>
          <a:noFill/>
          <a:ln/>
        </p:spPr>
        <p:txBody>
          <a:bodyPr wrap="square" lIns="0" tIns="0" rIns="0" bIns="0" rtlCol="0" anchor="t"/>
          <a:lstStyle/>
          <a:p>
            <a:pPr algn="l" indent="0" marL="0">
              <a:lnSpc>
                <a:spcPct val="122000"/>
              </a:lnSpc>
              <a:buNone/>
            </a:pPr>
            <a:r>
              <a:rPr lang="en-US" sz="1650" b="1" dirty="0">
                <a:solidFill>
                  <a:srgbClr val="ECF1F9"/>
                </a:solidFill>
                <a:latin typeface="Inter" pitchFamily="34" charset="0"/>
                <a:ea typeface="Inter" pitchFamily="34" charset="-122"/>
                <a:cs typeface="Inter" pitchFamily="34" charset="-120"/>
              </a:rPr>
              <a:t>via-first 듀얼 다마스퀸</a:t>
            </a:r>
            <a:pPr algn="l" indent="0" marL="0">
              <a:lnSpc>
                <a:spcPct val="122000"/>
              </a:lnSpc>
              <a:buNone/>
            </a:pPr>
            <a:endParaRPr lang="en-US" sz="1650" dirty="0"/>
          </a:p>
          <a:p>
            <a:pPr algn="l" indent="0" marL="0">
              <a:lnSpc>
                <a:spcPct val="122000"/>
              </a:lnSpc>
              <a:buNone/>
            </a:pPr>
            <a:r>
              <a:rPr lang="en-US" sz="1650" b="1" dirty="0">
                <a:solidFill>
                  <a:srgbClr val="ECF1F9"/>
                </a:solidFill>
                <a:latin typeface="Inter" pitchFamily="34" charset="0"/>
                <a:ea typeface="Inter" pitchFamily="34" charset="-122"/>
                <a:cs typeface="Inter" pitchFamily="34" charset="-120"/>
              </a:rPr>
              <a:t>표준 배선</a:t>
            </a:r>
            <a:endParaRPr lang="en-US" sz="1650" dirty="0"/>
          </a:p>
        </p:txBody>
      </p:sp>
      <p:sp>
        <p:nvSpPr>
          <p:cNvPr id="23" name="Text 16"/>
          <p:cNvSpPr txBox="1"/>
          <p:nvPr/>
        </p:nvSpPr>
        <p:spPr>
          <a:xfrm>
            <a:off x="6381598" y="3549701"/>
            <a:ext cx="2496312" cy="685800"/>
          </a:xfrm>
          <a:prstGeom prst="rect">
            <a:avLst/>
          </a:prstGeom>
          <a:noFill/>
          <a:ln/>
        </p:spPr>
        <p:txBody>
          <a:bodyPr wrap="square" lIns="0" tIns="0" rIns="0" bIns="0" rtlCol="0" anchor="ctr"/>
          <a:lstStyle/>
          <a:p>
            <a:pPr algn="l" indent="0" marL="0">
              <a:lnSpc>
                <a:spcPts val="1800"/>
              </a:lnSpc>
              <a:buNone/>
            </a:pPr>
            <a:r>
              <a:rPr lang="en-US" sz="1125" dirty="0">
                <a:solidFill>
                  <a:srgbClr val="C2CCE0"/>
                </a:solidFill>
                <a:latin typeface="Inter" pitchFamily="34" charset="0"/>
                <a:ea typeface="Inter" pitchFamily="34" charset="-122"/>
                <a:cs typeface="Inter" pitchFamily="34" charset="-120"/>
              </a:rPr>
              <a:t>ULK k≈2.55 + SiCN cap. via 베리에이션과 IMD 손상이 baseline 수준에서 관측됨.</a:t>
            </a:r>
            <a:endParaRPr lang="en-US" sz="1125" dirty="0"/>
          </a:p>
        </p:txBody>
      </p:sp>
      <p:sp>
        <p:nvSpPr>
          <p:cNvPr id="24" name="Text 17"/>
          <p:cNvSpPr txBox="1"/>
          <p:nvPr/>
        </p:nvSpPr>
        <p:spPr>
          <a:xfrm>
            <a:off x="6476695" y="4416552"/>
            <a:ext cx="2000707" cy="162763"/>
          </a:xfrm>
          <a:prstGeom prst="rect">
            <a:avLst/>
          </a:prstGeom>
          <a:noFill/>
          <a:ln/>
        </p:spPr>
        <p:txBody>
          <a:bodyPr wrap="none" lIns="0" tIns="0" rIns="0" bIns="0" rtlCol="0" anchor="ctr"/>
          <a:lstStyle/>
          <a:p>
            <a:pPr algn="l" indent="0" marL="0">
              <a:buNone/>
            </a:pPr>
            <a:r>
              <a:rPr lang="en-US" sz="900" spc="45" kern="0" dirty="0">
                <a:solidFill>
                  <a:srgbClr val="7E8DA6"/>
                </a:solidFill>
                <a:latin typeface="Inter" pitchFamily="34" charset="0"/>
                <a:ea typeface="Inter" pitchFamily="34" charset="-122"/>
                <a:cs typeface="Inter" pitchFamily="34" charset="-120"/>
              </a:rPr>
              <a:t>REF 단면</a:t>
            </a:r>
            <a:endParaRPr lang="en-US" sz="900" dirty="0"/>
          </a:p>
        </p:txBody>
      </p:sp>
      <p:sp>
        <p:nvSpPr>
          <p:cNvPr id="25" name="Shape 18"/>
          <p:cNvSpPr/>
          <p:nvPr/>
        </p:nvSpPr>
        <p:spPr>
          <a:xfrm>
            <a:off x="6381598" y="4235501"/>
            <a:ext cx="2190902" cy="9144"/>
          </a:xfrm>
          <a:prstGeom prst="rect">
            <a:avLst/>
          </a:prstGeom>
          <a:solidFill>
            <a:srgbClr val="2A3B57"/>
          </a:solidFill>
          <a:ln w="12700">
            <a:solidFill>
              <a:srgbClr val="2A3B57">
                <a:alpha val="0"/>
              </a:srgbClr>
            </a:solidFill>
            <a:prstDash val="solid"/>
          </a:ln>
        </p:spPr>
      </p:sp>
      <p:sp>
        <p:nvSpPr>
          <p:cNvPr id="26" name="Text 19"/>
          <p:cNvSpPr txBox="1"/>
          <p:nvPr/>
        </p:nvSpPr>
        <p:spPr>
          <a:xfrm>
            <a:off x="14820595" y="2553005"/>
            <a:ext cx="800100" cy="219456"/>
          </a:xfrm>
          <a:prstGeom prst="rect">
            <a:avLst/>
          </a:prstGeom>
          <a:solidFill>
            <a:srgbClr val="F59E0B">
              <a:alpha val="16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F59E0B"/>
                </a:solidFill>
                <a:latin typeface="Inter" pitchFamily="34" charset="0"/>
                <a:ea typeface="Inter" pitchFamily="34" charset="-122"/>
                <a:cs typeface="Inter" pitchFamily="34" charset="-120"/>
              </a:rPr>
              <a:t>AIR GAP</a:t>
            </a:r>
            <a:endParaRPr lang="en-US" sz="900" dirty="0"/>
          </a:p>
        </p:txBody>
      </p:sp>
      <p:sp>
        <p:nvSpPr>
          <p:cNvPr id="27" name="Text 20"/>
          <p:cNvSpPr txBox="1"/>
          <p:nvPr/>
        </p:nvSpPr>
        <p:spPr>
          <a:xfrm>
            <a:off x="15689275" y="2553005"/>
            <a:ext cx="638251" cy="219456"/>
          </a:xfrm>
          <a:prstGeom prst="rect">
            <a:avLst/>
          </a:prstGeom>
          <a:solidFill>
            <a:srgbClr val="A78BFA">
              <a:alpha val="14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A78BFA"/>
                </a:solidFill>
                <a:latin typeface="Inter" pitchFamily="34" charset="0"/>
                <a:ea typeface="Inter" pitchFamily="34" charset="-122"/>
                <a:cs typeface="Inter" pitchFamily="34" charset="-120"/>
              </a:rPr>
              <a:t>V1·M2</a:t>
            </a:r>
            <a:endParaRPr lang="en-US" sz="900" dirty="0"/>
          </a:p>
        </p:txBody>
      </p:sp>
      <p:sp>
        <p:nvSpPr>
          <p:cNvPr id="28" name="Text 21"/>
          <p:cNvSpPr txBox="1"/>
          <p:nvPr/>
        </p:nvSpPr>
        <p:spPr>
          <a:xfrm>
            <a:off x="14820595" y="2905049"/>
            <a:ext cx="2362810" cy="514807"/>
          </a:xfrm>
          <a:prstGeom prst="rect">
            <a:avLst/>
          </a:prstGeom>
          <a:noFill/>
          <a:ln/>
        </p:spPr>
        <p:txBody>
          <a:bodyPr wrap="square" lIns="0" tIns="0" rIns="0" bIns="0" rtlCol="0" anchor="t"/>
          <a:lstStyle/>
          <a:p>
            <a:pPr algn="l" indent="0" marL="0">
              <a:lnSpc>
                <a:spcPct val="122000"/>
              </a:lnSpc>
              <a:buNone/>
            </a:pPr>
            <a:r>
              <a:rPr lang="en-US" sz="1650" b="1" dirty="0">
                <a:solidFill>
                  <a:srgbClr val="ECF1F9"/>
                </a:solidFill>
                <a:latin typeface="Inter" pitchFamily="34" charset="0"/>
                <a:ea typeface="Inter" pitchFamily="34" charset="-122"/>
                <a:cs typeface="Inter" pitchFamily="34" charset="-120"/>
              </a:rPr>
              <a:t>post-cap pinch-off</a:t>
            </a:r>
            <a:pPr algn="l" indent="0" marL="0">
              <a:lnSpc>
                <a:spcPct val="122000"/>
              </a:lnSpc>
              <a:buNone/>
            </a:pPr>
            <a:endParaRPr lang="en-US" sz="1650" dirty="0"/>
          </a:p>
          <a:p>
            <a:pPr algn="l" indent="0" marL="0">
              <a:lnSpc>
                <a:spcPct val="122000"/>
              </a:lnSpc>
              <a:buNone/>
            </a:pPr>
            <a:r>
              <a:rPr lang="en-US" sz="1650" b="1" dirty="0">
                <a:solidFill>
                  <a:srgbClr val="ECF1F9"/>
                </a:solidFill>
                <a:latin typeface="Inter" pitchFamily="34" charset="0"/>
                <a:ea typeface="Inter" pitchFamily="34" charset="-122"/>
                <a:cs typeface="Inter" pitchFamily="34" charset="-120"/>
              </a:rPr>
              <a:t>cavity 형성</a:t>
            </a:r>
            <a:endParaRPr lang="en-US" sz="1650" dirty="0"/>
          </a:p>
        </p:txBody>
      </p:sp>
      <p:sp>
        <p:nvSpPr>
          <p:cNvPr id="29" name="Text 22"/>
          <p:cNvSpPr txBox="1"/>
          <p:nvPr/>
        </p:nvSpPr>
        <p:spPr>
          <a:xfrm>
            <a:off x="14820595" y="3549701"/>
            <a:ext cx="2362810" cy="685800"/>
          </a:xfrm>
          <a:prstGeom prst="rect">
            <a:avLst/>
          </a:prstGeom>
          <a:noFill/>
          <a:ln/>
        </p:spPr>
        <p:txBody>
          <a:bodyPr wrap="square" lIns="0" tIns="0" rIns="0" bIns="0" rtlCol="0" anchor="ctr"/>
          <a:lstStyle/>
          <a:p>
            <a:pPr algn="l" indent="0" marL="0">
              <a:lnSpc>
                <a:spcPts val="1800"/>
              </a:lnSpc>
              <a:buNone/>
            </a:pPr>
            <a:r>
              <a:rPr lang="en-US" sz="1125" dirty="0">
                <a:solidFill>
                  <a:srgbClr val="C2CCE0"/>
                </a:solidFill>
                <a:latin typeface="Inter" pitchFamily="34" charset="0"/>
                <a:ea typeface="Inter" pitchFamily="34" charset="-122"/>
                <a:cs typeface="Inter" pitchFamily="34" charset="-120"/>
              </a:rPr>
              <a:t>SiCN pinch-off 이후 ULK 일부가 비어 k≈1.0 cavity 로 치환됨. 두께 균일성은 split B에서 재확인.</a:t>
            </a:r>
            <a:endParaRPr lang="en-US" sz="1125" dirty="0"/>
          </a:p>
        </p:txBody>
      </p:sp>
      <p:sp>
        <p:nvSpPr>
          <p:cNvPr id="30" name="Text 23"/>
          <p:cNvSpPr txBox="1"/>
          <p:nvPr/>
        </p:nvSpPr>
        <p:spPr>
          <a:xfrm>
            <a:off x="6381598" y="6324905"/>
            <a:ext cx="905256" cy="219456"/>
          </a:xfrm>
          <a:prstGeom prst="rect">
            <a:avLst/>
          </a:prstGeom>
          <a:solidFill>
            <a:srgbClr val="38BDF8">
              <a:alpha val="16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38BDF8"/>
                </a:solidFill>
                <a:latin typeface="Inter" pitchFamily="34" charset="0"/>
                <a:ea typeface="Inter" pitchFamily="34" charset="-122"/>
                <a:cs typeface="Inter" pitchFamily="34" charset="-120"/>
              </a:rPr>
              <a:t>CONTROL</a:t>
            </a:r>
            <a:endParaRPr lang="en-US" sz="900" dirty="0"/>
          </a:p>
        </p:txBody>
      </p:sp>
      <p:sp>
        <p:nvSpPr>
          <p:cNvPr id="31" name="Text 24"/>
          <p:cNvSpPr txBox="1"/>
          <p:nvPr/>
        </p:nvSpPr>
        <p:spPr>
          <a:xfrm>
            <a:off x="7353605" y="6324905"/>
            <a:ext cx="409651" cy="219456"/>
          </a:xfrm>
          <a:prstGeom prst="rect">
            <a:avLst/>
          </a:prstGeom>
          <a:solidFill>
            <a:srgbClr val="34D399">
              <a:alpha val="14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34D399"/>
                </a:solidFill>
                <a:latin typeface="Inter" pitchFamily="34" charset="0"/>
                <a:ea typeface="Inter" pitchFamily="34" charset="-122"/>
                <a:cs typeface="Inter" pitchFamily="34" charset="-120"/>
              </a:rPr>
              <a:t>M2</a:t>
            </a:r>
            <a:endParaRPr lang="en-US" sz="900" dirty="0"/>
          </a:p>
        </p:txBody>
      </p:sp>
      <p:sp>
        <p:nvSpPr>
          <p:cNvPr id="32" name="Text 25"/>
          <p:cNvSpPr txBox="1"/>
          <p:nvPr/>
        </p:nvSpPr>
        <p:spPr>
          <a:xfrm>
            <a:off x="6381598" y="6676949"/>
            <a:ext cx="2496312" cy="514807"/>
          </a:xfrm>
          <a:prstGeom prst="rect">
            <a:avLst/>
          </a:prstGeom>
          <a:noFill/>
          <a:ln/>
        </p:spPr>
        <p:txBody>
          <a:bodyPr wrap="square" lIns="0" tIns="0" rIns="0" bIns="0" rtlCol="0" anchor="t"/>
          <a:lstStyle/>
          <a:p>
            <a:pPr algn="l" indent="0" marL="0">
              <a:lnSpc>
                <a:spcPct val="122000"/>
              </a:lnSpc>
              <a:buNone/>
            </a:pPr>
            <a:r>
              <a:rPr lang="en-US" sz="1650" b="1" dirty="0">
                <a:solidFill>
                  <a:srgbClr val="ECF1F9"/>
                </a:solidFill>
                <a:latin typeface="Inter" pitchFamily="34" charset="0"/>
                <a:ea typeface="Inter" pitchFamily="34" charset="-122"/>
                <a:cs typeface="Inter" pitchFamily="34" charset="-120"/>
              </a:rPr>
              <a:t>라인 트레이치 pitch</a:t>
            </a:r>
            <a:pPr algn="l" indent="0" marL="0">
              <a:lnSpc>
                <a:spcPct val="122000"/>
              </a:lnSpc>
              <a:buNone/>
            </a:pPr>
            <a:endParaRPr lang="en-US" sz="1650" dirty="0"/>
          </a:p>
          <a:p>
            <a:pPr algn="l" indent="0" marL="0">
              <a:lnSpc>
                <a:spcPct val="122000"/>
              </a:lnSpc>
              <a:buNone/>
            </a:pPr>
            <a:r>
              <a:rPr lang="en-US" sz="1650" b="1" dirty="0">
                <a:solidFill>
                  <a:srgbClr val="ECF1F9"/>
                </a:solidFill>
                <a:latin typeface="Inter" pitchFamily="34" charset="0"/>
                <a:ea typeface="Inter" pitchFamily="34" charset="-122"/>
                <a:cs typeface="Inter" pitchFamily="34" charset="-120"/>
              </a:rPr>
              <a:t>CD·bow 측정점</a:t>
            </a:r>
            <a:endParaRPr lang="en-US" sz="1650" dirty="0"/>
          </a:p>
        </p:txBody>
      </p:sp>
      <p:sp>
        <p:nvSpPr>
          <p:cNvPr id="33" name="Text 26"/>
          <p:cNvSpPr txBox="1"/>
          <p:nvPr/>
        </p:nvSpPr>
        <p:spPr>
          <a:xfrm>
            <a:off x="6381598" y="7302398"/>
            <a:ext cx="2496312" cy="448056"/>
          </a:xfrm>
          <a:prstGeom prst="rect">
            <a:avLst/>
          </a:prstGeom>
          <a:noFill/>
          <a:ln/>
        </p:spPr>
        <p:txBody>
          <a:bodyPr wrap="square" lIns="0" tIns="0" rIns="0" bIns="0" rtlCol="0" anchor="ctr"/>
          <a:lstStyle/>
          <a:p>
            <a:pPr algn="l" indent="0" marL="0">
              <a:lnSpc>
                <a:spcPts val="1744"/>
              </a:lnSpc>
              <a:buNone/>
            </a:pPr>
            <a:r>
              <a:rPr lang="en-US" sz="1125" dirty="0">
                <a:solidFill>
                  <a:srgbClr val="C2CCE0"/>
                </a:solidFill>
                <a:latin typeface="Inter" pitchFamily="34" charset="0"/>
                <a:ea typeface="Inter" pitchFamily="34" charset="-122"/>
                <a:cs typeface="Inter" pitchFamily="34" charset="-120"/>
              </a:rPr>
              <a:t>28nm CD / 56nm pitch 영역 CGR 측정점.</a:t>
            </a:r>
            <a:endParaRPr lang="en-US" sz="1125" dirty="0"/>
          </a:p>
        </p:txBody>
      </p:sp>
      <p:sp>
        <p:nvSpPr>
          <p:cNvPr id="34" name="Text 27"/>
          <p:cNvSpPr txBox="1"/>
          <p:nvPr/>
        </p:nvSpPr>
        <p:spPr>
          <a:xfrm>
            <a:off x="14820595" y="6324905"/>
            <a:ext cx="800100" cy="219456"/>
          </a:xfrm>
          <a:prstGeom prst="rect">
            <a:avLst/>
          </a:prstGeom>
          <a:solidFill>
            <a:srgbClr val="F59E0B">
              <a:alpha val="16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F59E0B"/>
                </a:solidFill>
                <a:latin typeface="Inter" pitchFamily="34" charset="0"/>
                <a:ea typeface="Inter" pitchFamily="34" charset="-122"/>
                <a:cs typeface="Inter" pitchFamily="34" charset="-120"/>
              </a:rPr>
              <a:t>AIR GAP</a:t>
            </a:r>
            <a:endParaRPr lang="en-US" sz="900" dirty="0"/>
          </a:p>
        </p:txBody>
      </p:sp>
      <p:sp>
        <p:nvSpPr>
          <p:cNvPr id="35" name="Text 28"/>
          <p:cNvSpPr txBox="1"/>
          <p:nvPr/>
        </p:nvSpPr>
        <p:spPr>
          <a:xfrm>
            <a:off x="15689275" y="6324905"/>
            <a:ext cx="409651" cy="219456"/>
          </a:xfrm>
          <a:prstGeom prst="rect">
            <a:avLst/>
          </a:prstGeom>
          <a:solidFill>
            <a:srgbClr val="34D399">
              <a:alpha val="14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34D399"/>
                </a:solidFill>
                <a:latin typeface="Inter" pitchFamily="34" charset="0"/>
                <a:ea typeface="Inter" pitchFamily="34" charset="-122"/>
                <a:cs typeface="Inter" pitchFamily="34" charset="-120"/>
              </a:rPr>
              <a:t>M2</a:t>
            </a:r>
            <a:endParaRPr lang="en-US" sz="900" dirty="0"/>
          </a:p>
        </p:txBody>
      </p:sp>
      <p:sp>
        <p:nvSpPr>
          <p:cNvPr id="36" name="Text 29"/>
          <p:cNvSpPr txBox="1"/>
          <p:nvPr/>
        </p:nvSpPr>
        <p:spPr>
          <a:xfrm>
            <a:off x="14820595" y="6676949"/>
            <a:ext cx="2362810" cy="514807"/>
          </a:xfrm>
          <a:prstGeom prst="rect">
            <a:avLst/>
          </a:prstGeom>
          <a:noFill/>
          <a:ln/>
        </p:spPr>
        <p:txBody>
          <a:bodyPr wrap="square" lIns="0" tIns="0" rIns="0" bIns="0" rtlCol="0" anchor="t"/>
          <a:lstStyle/>
          <a:p>
            <a:pPr algn="l" indent="0" marL="0">
              <a:lnSpc>
                <a:spcPct val="122000"/>
              </a:lnSpc>
              <a:buNone/>
            </a:pPr>
            <a:r>
              <a:rPr lang="en-US" sz="1650" b="1" dirty="0">
                <a:solidFill>
                  <a:srgbClr val="ECF1F9"/>
                </a:solidFill>
                <a:latin typeface="Inter" pitchFamily="34" charset="0"/>
                <a:ea typeface="Inter" pitchFamily="34" charset="-122"/>
                <a:cs typeface="Inter" pitchFamily="34" charset="-120"/>
              </a:rPr>
              <a:t>via-base 단면</a:t>
            </a:r>
            <a:pPr algn="l" indent="0" marL="0">
              <a:lnSpc>
                <a:spcPct val="122000"/>
              </a:lnSpc>
              <a:buNone/>
            </a:pPr>
            <a:endParaRPr lang="en-US" sz="1650" dirty="0"/>
          </a:p>
          <a:p>
            <a:pPr algn="l" indent="0" marL="0">
              <a:lnSpc>
                <a:spcPct val="122000"/>
              </a:lnSpc>
              <a:buNone/>
            </a:pPr>
            <a:r>
              <a:rPr lang="en-US" sz="1650" b="1" dirty="0">
                <a:solidFill>
                  <a:srgbClr val="ECF1F9"/>
                </a:solidFill>
                <a:latin typeface="Inter" pitchFamily="34" charset="0"/>
                <a:ea typeface="Inter" pitchFamily="34" charset="-122"/>
                <a:cs typeface="Inter" pitchFamily="34" charset="-120"/>
              </a:rPr>
              <a:t>barrier 두께 비교</a:t>
            </a:r>
            <a:endParaRPr lang="en-US" sz="1650" dirty="0"/>
          </a:p>
        </p:txBody>
      </p:sp>
      <p:sp>
        <p:nvSpPr>
          <p:cNvPr id="37" name="Text 30"/>
          <p:cNvSpPr txBox="1"/>
          <p:nvPr/>
        </p:nvSpPr>
        <p:spPr>
          <a:xfrm>
            <a:off x="14820595" y="7302398"/>
            <a:ext cx="2362810" cy="448056"/>
          </a:xfrm>
          <a:prstGeom prst="rect">
            <a:avLst/>
          </a:prstGeom>
          <a:noFill/>
          <a:ln/>
        </p:spPr>
        <p:txBody>
          <a:bodyPr wrap="square" lIns="0" tIns="0" rIns="0" bIns="0" rtlCol="0" anchor="ctr"/>
          <a:lstStyle/>
          <a:p>
            <a:pPr algn="l" indent="0" marL="0">
              <a:lnSpc>
                <a:spcPts val="1744"/>
              </a:lnSpc>
              <a:buNone/>
            </a:pPr>
            <a:r>
              <a:rPr lang="en-US" sz="1125" dirty="0">
                <a:solidFill>
                  <a:srgbClr val="C2CCE0"/>
                </a:solidFill>
                <a:latin typeface="Inter" pitchFamily="34" charset="0"/>
                <a:ea typeface="Inter" pitchFamily="34" charset="-122"/>
                <a:cs typeface="Inter" pitchFamily="34" charset="-120"/>
              </a:rPr>
              <a:t>비아 베이스 barrier에 AG 응력이 가는 영역 별도 측정.</a:t>
            </a:r>
            <a:endParaRPr lang="en-US" sz="1125" dirty="0"/>
          </a:p>
        </p:txBody>
      </p:sp>
      <p:sp>
        <p:nvSpPr>
          <p:cNvPr id="38" name="Text 31"/>
          <p:cNvSpPr txBox="1"/>
          <p:nvPr/>
        </p:nvSpPr>
        <p:spPr>
          <a:xfrm>
            <a:off x="1086307" y="9163202"/>
            <a:ext cx="16878910" cy="200254"/>
          </a:xfrm>
          <a:prstGeom prst="rect">
            <a:avLst/>
          </a:prstGeom>
          <a:noFill/>
          <a:ln/>
        </p:spPr>
        <p:txBody>
          <a:bodyPr wrap="none" lIns="0" tIns="0" rIns="0" bIns="0" rtlCol="0" anchor="ctr"/>
          <a:lstStyle/>
          <a:p>
            <a:pPr algn="l" indent="0" marL="0">
              <a:buNone/>
            </a:pPr>
            <a:r>
              <a:rPr lang="en-US" sz="1050" dirty="0">
                <a:solidFill>
                  <a:srgbClr val="7E8DA6"/>
                </a:solidFill>
                <a:latin typeface="Inter" pitchFamily="34" charset="0"/>
                <a:ea typeface="Inter" pitchFamily="34" charset="-122"/>
                <a:cs typeface="Inter" pitchFamily="34" charset="-120"/>
              </a:rPr>
              <a:t>출처: </a:t>
            </a:r>
            <a:pPr algn="l" indent="0" marL="0">
              <a:buNone/>
            </a:pPr>
            <a:r>
              <a:rPr lang="en-US" sz="1050" dirty="0">
                <a:solidFill>
                  <a:srgbClr val="C2CCE0"/>
                </a:solidFill>
                <a:latin typeface="Inter" pitchFamily="34" charset="0"/>
                <a:ea typeface="Inter" pitchFamily="34" charset="-122"/>
                <a:cs typeface="Inter" pitchFamily="34" charset="-120"/>
              </a:rPr>
              <a:t>imec magazine "Scaling the BEOL"</a:t>
            </a:r>
            <a:pPr algn="l" indent="0" marL="0">
              <a:buNone/>
            </a:pPr>
            <a:r>
              <a:rPr lang="en-US" sz="1050" dirty="0">
                <a:solidFill>
                  <a:srgbClr val="7E8DA6"/>
                </a:solidFill>
                <a:latin typeface="Inter" pitchFamily="34" charset="0"/>
                <a:ea typeface="Inter" pitchFamily="34" charset="-122"/>
                <a:cs typeface="Inter" pitchFamily="34" charset="-120"/>
              </a:rPr>
              <a:t> · </a:t>
            </a:r>
            <a:pPr algn="l" indent="0" marL="0">
              <a:buNone/>
            </a:pPr>
            <a:r>
              <a:rPr lang="en-US" sz="1050" dirty="0">
                <a:solidFill>
                  <a:srgbClr val="C2CCE0"/>
                </a:solidFill>
                <a:latin typeface="Inter" pitchFamily="34" charset="0"/>
                <a:ea typeface="Inter" pitchFamily="34" charset="-122"/>
                <a:cs typeface="Inter" pitchFamily="34" charset="-120"/>
              </a:rPr>
              <a:t>Semiconductor Engineering "Reducing BEOL Parasitic Capacitance Using Air Gaps"</a:t>
            </a:r>
            <a:pPr algn="l" indent="0" marL="0">
              <a:buNone/>
            </a:pPr>
            <a:r>
              <a:rPr lang="en-US" sz="1050" dirty="0">
                <a:solidFill>
                  <a:srgbClr val="7E8DA6"/>
                </a:solidFill>
                <a:latin typeface="Inter" pitchFamily="34" charset="0"/>
                <a:ea typeface="Inter" pitchFamily="34" charset="-122"/>
                <a:cs typeface="Inter" pitchFamily="34" charset="-120"/>
              </a:rPr>
              <a:t> · </a:t>
            </a:r>
            <a:pPr algn="l" indent="0" marL="0">
              <a:buNone/>
            </a:pPr>
            <a:r>
              <a:rPr lang="en-US" sz="1050" dirty="0">
                <a:solidFill>
                  <a:srgbClr val="C2CCE0"/>
                </a:solidFill>
                <a:latin typeface="Inter" pitchFamily="34" charset="0"/>
                <a:ea typeface="Inter" pitchFamily="34" charset="-122"/>
                <a:cs typeface="Inter" pitchFamily="34" charset="-120"/>
              </a:rPr>
              <a:t>imec "Semi-damascene interconnects at 18nm pitch"</a:t>
            </a:r>
            <a:pPr algn="l" indent="0" marL="0">
              <a:buNone/>
            </a:pPr>
            <a:r>
              <a:rPr lang="en-US" sz="1050" dirty="0">
                <a:solidFill>
                  <a:srgbClr val="7E8DA6"/>
                </a:solidFill>
                <a:latin typeface="Inter" pitchFamily="34" charset="0"/>
                <a:ea typeface="Inter" pitchFamily="34" charset="-122"/>
                <a:cs typeface="Inter" pitchFamily="34" charset="-120"/>
              </a:rPr>
              <a:t> · </a:t>
            </a:r>
            <a:pPr algn="l" indent="0" marL="0">
              <a:buNone/>
            </a:pPr>
            <a:r>
              <a:rPr lang="en-US" sz="1050" dirty="0">
                <a:solidFill>
                  <a:srgbClr val="C2CCE0"/>
                </a:solidFill>
                <a:latin typeface="Inter" pitchFamily="34" charset="0"/>
                <a:ea typeface="Inter" pitchFamily="34" charset="-122"/>
                <a:cs typeface="Inter" pitchFamily="34" charset="-120"/>
              </a:rPr>
              <a:t>Nature Sci. Reports "TaxMnyOz barrier"</a:t>
            </a:r>
            <a:endParaRPr lang="en-US" sz="1050" dirty="0"/>
          </a:p>
        </p:txBody>
      </p:sp>
      <p:sp>
        <p:nvSpPr>
          <p:cNvPr id="39" name="Text 32"/>
          <p:cNvSpPr txBox="1"/>
          <p:nvPr/>
        </p:nvSpPr>
        <p:spPr>
          <a:xfrm>
            <a:off x="0" y="9715500"/>
            <a:ext cx="18288000" cy="228600"/>
          </a:xfrm>
          <a:prstGeom prst="rect">
            <a:avLst/>
          </a:prstGeom>
          <a:noFill/>
          <a:ln/>
        </p:spPr>
        <p:txBody>
          <a:bodyPr wrap="none" lIns="0" tIns="0" rIns="0" bIns="0" rtlCol="0" anchor="ctr"/>
          <a:lstStyle/>
          <a:p>
            <a:pPr algn="ctr" indent="0" marL="0">
              <a:buNone/>
            </a:pPr>
            <a:r>
              <a:rPr lang="en-US" sz="1200" spc="48" kern="0" dirty="0">
                <a:solidFill>
                  <a:srgbClr val="7E8DA6"/>
                </a:solidFill>
                <a:latin typeface="Inter" pitchFamily="34" charset="0"/>
                <a:ea typeface="Inter" pitchFamily="34" charset="-122"/>
                <a:cs typeface="Inter" pitchFamily="34" charset="-120"/>
              </a:rPr>
              <a:t>※ 내부 테스트용 더미(가상) 데이터</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3" name="Shape 0"/>
          <p:cNvSpPr/>
          <p:nvPr/>
        </p:nvSpPr>
        <p:spPr>
          <a:xfrm>
            <a:off x="857707" y="1943100"/>
            <a:ext cx="4000500" cy="1410005"/>
          </a:xfrm>
          <a:prstGeom prst="rect">
            <a:avLst/>
          </a:prstGeom>
          <a:solidFill>
            <a:srgbClr val="131E33"/>
          </a:solidFill>
          <a:ln w="12700">
            <a:solidFill>
              <a:srgbClr val="2A3B57"/>
            </a:solidFill>
            <a:prstDash val="solid"/>
          </a:ln>
        </p:spPr>
      </p:sp>
      <p:sp>
        <p:nvSpPr>
          <p:cNvPr id="4" name="Shape 1"/>
          <p:cNvSpPr/>
          <p:nvPr/>
        </p:nvSpPr>
        <p:spPr>
          <a:xfrm>
            <a:off x="5048402" y="1943100"/>
            <a:ext cx="4000500" cy="1410005"/>
          </a:xfrm>
          <a:prstGeom prst="rect">
            <a:avLst/>
          </a:prstGeom>
          <a:solidFill>
            <a:srgbClr val="131E33"/>
          </a:solidFill>
          <a:ln w="12700">
            <a:solidFill>
              <a:srgbClr val="2A3B57"/>
            </a:solidFill>
            <a:prstDash val="solid"/>
          </a:ln>
        </p:spPr>
      </p:sp>
      <p:sp>
        <p:nvSpPr>
          <p:cNvPr id="5" name="Shape 2"/>
          <p:cNvSpPr/>
          <p:nvPr/>
        </p:nvSpPr>
        <p:spPr>
          <a:xfrm>
            <a:off x="9239098" y="1943100"/>
            <a:ext cx="4000500" cy="1410005"/>
          </a:xfrm>
          <a:prstGeom prst="rect">
            <a:avLst/>
          </a:prstGeom>
          <a:solidFill>
            <a:srgbClr val="131E33"/>
          </a:solidFill>
          <a:ln w="12700">
            <a:solidFill>
              <a:srgbClr val="2A3B57"/>
            </a:solidFill>
            <a:prstDash val="solid"/>
          </a:ln>
        </p:spPr>
      </p:sp>
      <p:sp>
        <p:nvSpPr>
          <p:cNvPr id="6" name="Shape 3"/>
          <p:cNvSpPr/>
          <p:nvPr/>
        </p:nvSpPr>
        <p:spPr>
          <a:xfrm>
            <a:off x="13430707" y="1943100"/>
            <a:ext cx="4000500" cy="1410005"/>
          </a:xfrm>
          <a:prstGeom prst="rect">
            <a:avLst/>
          </a:prstGeom>
          <a:solidFill>
            <a:srgbClr val="131E33"/>
          </a:solidFill>
          <a:ln w="12700">
            <a:solidFill>
              <a:srgbClr val="2A3B57"/>
            </a:solidFill>
            <a:prstDash val="solid"/>
          </a:ln>
        </p:spPr>
      </p:sp>
      <p:sp>
        <p:nvSpPr>
          <p:cNvPr id="7" name="Shape 4"/>
          <p:cNvSpPr/>
          <p:nvPr/>
        </p:nvSpPr>
        <p:spPr>
          <a:xfrm>
            <a:off x="857707" y="3619195"/>
            <a:ext cx="16573500" cy="5810098"/>
          </a:xfrm>
          <a:prstGeom prst="rect">
            <a:avLst/>
          </a:prstGeom>
          <a:solidFill>
            <a:srgbClr val="131E33"/>
          </a:solidFill>
          <a:ln w="12700">
            <a:solidFill>
              <a:srgbClr val="2A3B57"/>
            </a:solidFill>
            <a:prstDash val="solid"/>
          </a:ln>
        </p:spPr>
      </p:sp>
      <p:sp>
        <p:nvSpPr>
          <p:cNvPr id="8" name="Text 5"/>
          <p:cNvSpPr txBox="1"/>
          <p:nvPr/>
        </p:nvSpPr>
        <p:spPr>
          <a:xfrm>
            <a:off x="857707" y="571500"/>
            <a:ext cx="5715000" cy="162763"/>
          </a:xfrm>
          <a:prstGeom prst="rect">
            <a:avLst/>
          </a:prstGeom>
          <a:noFill/>
          <a:ln/>
        </p:spPr>
        <p:txBody>
          <a:bodyPr wrap="none" lIns="0" tIns="0" rIns="0" bIns="0" rtlCol="0" anchor="ctr"/>
          <a:lstStyle/>
          <a:p>
            <a:pPr algn="l" indent="0" marL="0">
              <a:buNone/>
            </a:pPr>
            <a:r>
              <a:rPr lang="en-US" sz="1050" b="1" spc="336" kern="0" dirty="0">
                <a:solidFill>
                  <a:srgbClr val="F59E0B"/>
                </a:solidFill>
                <a:latin typeface="Inter" pitchFamily="34" charset="0"/>
                <a:ea typeface="Inter" pitchFamily="34" charset="-122"/>
                <a:cs typeface="Inter" pitchFamily="34" charset="-120"/>
              </a:rPr>
              <a:t>03 · CD VARIATION</a:t>
            </a:r>
            <a:endParaRPr lang="en-US" sz="1050" dirty="0"/>
          </a:p>
        </p:txBody>
      </p:sp>
      <p:sp>
        <p:nvSpPr>
          <p:cNvPr id="9" name="Text 6"/>
          <p:cNvSpPr txBox="1"/>
          <p:nvPr/>
        </p:nvSpPr>
        <p:spPr>
          <a:xfrm>
            <a:off x="857707" y="838505"/>
            <a:ext cx="12382805" cy="467258"/>
          </a:xfrm>
          <a:prstGeom prst="rect">
            <a:avLst/>
          </a:prstGeom>
          <a:noFill/>
          <a:ln/>
        </p:spPr>
        <p:txBody>
          <a:bodyPr wrap="none" lIns="0" tIns="0" rIns="0" bIns="0" rtlCol="0" anchor="ctr"/>
          <a:lstStyle/>
          <a:p>
            <a:pPr algn="l" indent="0" marL="0">
              <a:buNone/>
            </a:pPr>
            <a:r>
              <a:rPr lang="en-US" sz="3450" b="1" spc="-34" kern="0" dirty="0">
                <a:solidFill>
                  <a:srgbClr val="ECF1F9"/>
                </a:solidFill>
                <a:latin typeface="Inter" pitchFamily="34" charset="0"/>
                <a:ea typeface="Inter" pitchFamily="34" charset="-122"/>
                <a:cs typeface="Inter" pitchFamily="34" charset="-120"/>
              </a:rPr>
              <a:t>단면 CD 변동 — 4 metrics × 4 wafers</a:t>
            </a:r>
            <a:endParaRPr lang="en-US" sz="3450" dirty="0"/>
          </a:p>
        </p:txBody>
      </p:sp>
      <p:sp>
        <p:nvSpPr>
          <p:cNvPr id="10" name="Text 7"/>
          <p:cNvSpPr txBox="1"/>
          <p:nvPr/>
        </p:nvSpPr>
        <p:spPr>
          <a:xfrm>
            <a:off x="857707" y="1435608"/>
            <a:ext cx="12382805" cy="277063"/>
          </a:xfrm>
          <a:prstGeom prst="rect">
            <a:avLst/>
          </a:prstGeom>
          <a:noFill/>
          <a:ln/>
        </p:spPr>
        <p:txBody>
          <a:bodyPr wrap="none" lIns="0" tIns="0" rIns="0" bIns="0" rtlCol="0" anchor="ctr"/>
          <a:lstStyle/>
          <a:p>
            <a:pPr algn="l" indent="0" marL="0">
              <a:buNone/>
            </a:pPr>
            <a:r>
              <a:rPr lang="en-US" sz="1500" dirty="0">
                <a:solidFill>
                  <a:srgbClr val="C2CCE0"/>
                </a:solidFill>
                <a:latin typeface="Inter" pitchFamily="34" charset="0"/>
                <a:ea typeface="Inter" pitchFamily="34" charset="-122"/>
                <a:cs typeface="Inter" pitchFamily="34" charset="-120"/>
              </a:rPr>
              <a:t>AASI / ASEI / AMI / ACI target별 wafer 평균·3σ·range·Δ from target — split A·B 반복 lot 함께</a:t>
            </a:r>
            <a:endParaRPr lang="en-US" sz="1500" dirty="0"/>
          </a:p>
        </p:txBody>
      </p:sp>
      <p:sp>
        <p:nvSpPr>
          <p:cNvPr id="11" name="Text 8"/>
          <p:cNvSpPr txBox="1"/>
          <p:nvPr/>
        </p:nvSpPr>
        <p:spPr>
          <a:xfrm>
            <a:off x="1086307" y="2115007"/>
            <a:ext cx="3620110" cy="133502"/>
          </a:xfrm>
          <a:prstGeom prst="rect">
            <a:avLst/>
          </a:prstGeom>
          <a:noFill/>
          <a:ln/>
        </p:spPr>
        <p:txBody>
          <a:bodyPr wrap="none" lIns="0" tIns="0" rIns="0" bIns="0" rtlCol="0" anchor="ctr"/>
          <a:lstStyle/>
          <a:p>
            <a:pPr algn="l" indent="0" marL="0">
              <a:buNone/>
            </a:pPr>
            <a:r>
              <a:rPr lang="en-US" sz="825" spc="215" kern="0" dirty="0">
                <a:solidFill>
                  <a:srgbClr val="7E8DA6"/>
                </a:solidFill>
                <a:latin typeface="Inter" pitchFamily="34" charset="0"/>
                <a:ea typeface="Inter" pitchFamily="34" charset="-122"/>
                <a:cs typeface="Inter" pitchFamily="34" charset="-120"/>
              </a:rPr>
              <a:t>AASI · via top CD</a:t>
            </a:r>
            <a:endParaRPr lang="en-US" sz="825" dirty="0"/>
          </a:p>
        </p:txBody>
      </p:sp>
      <p:sp>
        <p:nvSpPr>
          <p:cNvPr id="12" name="Text 9"/>
          <p:cNvSpPr txBox="1"/>
          <p:nvPr/>
        </p:nvSpPr>
        <p:spPr>
          <a:xfrm>
            <a:off x="1086307" y="2343607"/>
            <a:ext cx="876910" cy="476402"/>
          </a:xfrm>
          <a:prstGeom prst="rect">
            <a:avLst/>
          </a:prstGeom>
          <a:noFill/>
          <a:ln/>
        </p:spPr>
        <p:txBody>
          <a:bodyPr wrap="none" lIns="0" tIns="0" rIns="0" bIns="0" rtlCol="0" anchor="ctr"/>
          <a:lstStyle/>
          <a:p>
            <a:pPr algn="l" indent="0" marL="0">
              <a:buNone/>
            </a:pPr>
            <a:r>
              <a:rPr lang="en-US" sz="2850" b="1" dirty="0">
                <a:solidFill>
                  <a:srgbClr val="ECF1F9"/>
                </a:solidFill>
                <a:latin typeface="JetBrains Mono" pitchFamily="34" charset="0"/>
                <a:ea typeface="JetBrains Mono" pitchFamily="34" charset="-122"/>
                <a:cs typeface="JetBrains Mono" pitchFamily="34" charset="-120"/>
              </a:rPr>
              <a:t>24.7</a:t>
            </a:r>
            <a:endParaRPr lang="en-US" sz="2850" dirty="0"/>
          </a:p>
        </p:txBody>
      </p:sp>
      <p:sp>
        <p:nvSpPr>
          <p:cNvPr id="13" name="Text 10"/>
          <p:cNvSpPr txBox="1"/>
          <p:nvPr/>
        </p:nvSpPr>
        <p:spPr>
          <a:xfrm>
            <a:off x="2030882" y="2533802"/>
            <a:ext cx="1156716" cy="228600"/>
          </a:xfrm>
          <a:prstGeom prst="rect">
            <a:avLst/>
          </a:prstGeom>
          <a:noFill/>
          <a:ln/>
        </p:spPr>
        <p:txBody>
          <a:bodyPr wrap="none" lIns="0" tIns="0" rIns="0" bIns="0" rtlCol="0" anchor="ctr"/>
          <a:lstStyle/>
          <a:p>
            <a:pPr algn="l" indent="0" marL="0">
              <a:buNone/>
            </a:pPr>
            <a:r>
              <a:rPr lang="en-US" sz="1500" dirty="0">
                <a:solidFill>
                  <a:srgbClr val="C2CCE0"/>
                </a:solidFill>
                <a:latin typeface="Inter" pitchFamily="34" charset="0"/>
                <a:ea typeface="Inter" pitchFamily="34" charset="-122"/>
                <a:cs typeface="Inter" pitchFamily="34" charset="-120"/>
              </a:rPr>
              <a:t>nm · target</a:t>
            </a:r>
            <a:endParaRPr lang="en-US" sz="1500" dirty="0"/>
          </a:p>
        </p:txBody>
      </p:sp>
      <p:sp>
        <p:nvSpPr>
          <p:cNvPr id="14" name="Text 11"/>
          <p:cNvSpPr txBox="1"/>
          <p:nvPr/>
        </p:nvSpPr>
        <p:spPr>
          <a:xfrm>
            <a:off x="1086307" y="2915107"/>
            <a:ext cx="3620110" cy="191110"/>
          </a:xfrm>
          <a:prstGeom prst="rect">
            <a:avLst/>
          </a:prstGeom>
          <a:noFill/>
          <a:ln/>
        </p:spPr>
        <p:txBody>
          <a:bodyPr wrap="none" lIns="0" tIns="0" rIns="0" bIns="0" rtlCol="0" anchor="ctr"/>
          <a:lstStyle/>
          <a:p>
            <a:pPr algn="l" indent="0" marL="0">
              <a:buNone/>
            </a:pPr>
            <a:r>
              <a:rPr lang="en-US" sz="1050" dirty="0">
                <a:solidFill>
                  <a:srgbClr val="7E8DA6"/>
                </a:solidFill>
                <a:latin typeface="Inter" pitchFamily="34" charset="0"/>
                <a:ea typeface="Inter" pitchFamily="34" charset="-122"/>
                <a:cs typeface="Inter" pitchFamily="34" charset="-120"/>
              </a:rPr>
              <a:t>측정 디스크립터 — AB·AR 영역 평균</a:t>
            </a:r>
            <a:endParaRPr lang="en-US" sz="1050" dirty="0"/>
          </a:p>
        </p:txBody>
      </p:sp>
      <p:sp>
        <p:nvSpPr>
          <p:cNvPr id="15" name="Text 12"/>
          <p:cNvSpPr txBox="1"/>
          <p:nvPr/>
        </p:nvSpPr>
        <p:spPr>
          <a:xfrm>
            <a:off x="5277002" y="2115007"/>
            <a:ext cx="3620110" cy="133502"/>
          </a:xfrm>
          <a:prstGeom prst="rect">
            <a:avLst/>
          </a:prstGeom>
          <a:noFill/>
          <a:ln/>
        </p:spPr>
        <p:txBody>
          <a:bodyPr wrap="none" lIns="0" tIns="0" rIns="0" bIns="0" rtlCol="0" anchor="ctr"/>
          <a:lstStyle/>
          <a:p>
            <a:pPr algn="l" indent="0" marL="0">
              <a:buNone/>
            </a:pPr>
            <a:r>
              <a:rPr lang="en-US" sz="825" spc="215" kern="0" dirty="0">
                <a:solidFill>
                  <a:srgbClr val="7E8DA6"/>
                </a:solidFill>
                <a:latin typeface="Inter" pitchFamily="34" charset="0"/>
                <a:ea typeface="Inter" pitchFamily="34" charset="-122"/>
                <a:cs typeface="Inter" pitchFamily="34" charset="-120"/>
              </a:rPr>
              <a:t>ASEI · spacer CD</a:t>
            </a:r>
            <a:endParaRPr lang="en-US" sz="825" dirty="0"/>
          </a:p>
        </p:txBody>
      </p:sp>
      <p:sp>
        <p:nvSpPr>
          <p:cNvPr id="16" name="Text 13"/>
          <p:cNvSpPr txBox="1"/>
          <p:nvPr/>
        </p:nvSpPr>
        <p:spPr>
          <a:xfrm>
            <a:off x="5277002" y="2343607"/>
            <a:ext cx="876910" cy="476402"/>
          </a:xfrm>
          <a:prstGeom prst="rect">
            <a:avLst/>
          </a:prstGeom>
          <a:noFill/>
          <a:ln/>
        </p:spPr>
        <p:txBody>
          <a:bodyPr wrap="none" lIns="0" tIns="0" rIns="0" bIns="0" rtlCol="0" anchor="ctr"/>
          <a:lstStyle/>
          <a:p>
            <a:pPr algn="l" indent="0" marL="0">
              <a:buNone/>
            </a:pPr>
            <a:r>
              <a:rPr lang="en-US" sz="2850" b="1" dirty="0">
                <a:solidFill>
                  <a:srgbClr val="ECF1F9"/>
                </a:solidFill>
                <a:latin typeface="JetBrains Mono" pitchFamily="34" charset="0"/>
                <a:ea typeface="JetBrains Mono" pitchFamily="34" charset="-122"/>
                <a:cs typeface="JetBrains Mono" pitchFamily="34" charset="-120"/>
              </a:rPr>
              <a:t>16.8</a:t>
            </a:r>
            <a:endParaRPr lang="en-US" sz="2850" dirty="0"/>
          </a:p>
        </p:txBody>
      </p:sp>
      <p:sp>
        <p:nvSpPr>
          <p:cNvPr id="17" name="Text 14"/>
          <p:cNvSpPr txBox="1"/>
          <p:nvPr/>
        </p:nvSpPr>
        <p:spPr>
          <a:xfrm>
            <a:off x="6221578" y="2533802"/>
            <a:ext cx="1156716" cy="228600"/>
          </a:xfrm>
          <a:prstGeom prst="rect">
            <a:avLst/>
          </a:prstGeom>
          <a:noFill/>
          <a:ln/>
        </p:spPr>
        <p:txBody>
          <a:bodyPr wrap="none" lIns="0" tIns="0" rIns="0" bIns="0" rtlCol="0" anchor="ctr"/>
          <a:lstStyle/>
          <a:p>
            <a:pPr algn="l" indent="0" marL="0">
              <a:buNone/>
            </a:pPr>
            <a:r>
              <a:rPr lang="en-US" sz="1500" dirty="0">
                <a:solidFill>
                  <a:srgbClr val="C2CCE0"/>
                </a:solidFill>
                <a:latin typeface="Inter" pitchFamily="34" charset="0"/>
                <a:ea typeface="Inter" pitchFamily="34" charset="-122"/>
                <a:cs typeface="Inter" pitchFamily="34" charset="-120"/>
              </a:rPr>
              <a:t>nm · target</a:t>
            </a:r>
            <a:endParaRPr lang="en-US" sz="1500" dirty="0"/>
          </a:p>
        </p:txBody>
      </p:sp>
      <p:sp>
        <p:nvSpPr>
          <p:cNvPr id="18" name="Text 15"/>
          <p:cNvSpPr txBox="1"/>
          <p:nvPr/>
        </p:nvSpPr>
        <p:spPr>
          <a:xfrm>
            <a:off x="5277002" y="2915107"/>
            <a:ext cx="3620110" cy="191110"/>
          </a:xfrm>
          <a:prstGeom prst="rect">
            <a:avLst/>
          </a:prstGeom>
          <a:noFill/>
          <a:ln/>
        </p:spPr>
        <p:txBody>
          <a:bodyPr wrap="none" lIns="0" tIns="0" rIns="0" bIns="0" rtlCol="0" anchor="ctr"/>
          <a:lstStyle/>
          <a:p>
            <a:pPr algn="l" indent="0" marL="0">
              <a:buNone/>
            </a:pPr>
            <a:r>
              <a:rPr lang="en-US" sz="1050" dirty="0">
                <a:solidFill>
                  <a:srgbClr val="7E8DA6"/>
                </a:solidFill>
                <a:latin typeface="Inter" pitchFamily="34" charset="0"/>
                <a:ea typeface="Inter" pitchFamily="34" charset="-122"/>
                <a:cs typeface="Inter" pitchFamily="34" charset="-120"/>
              </a:rPr>
              <a:t>인접 라인 사이 CD</a:t>
            </a:r>
            <a:endParaRPr lang="en-US" sz="1050" dirty="0"/>
          </a:p>
        </p:txBody>
      </p:sp>
      <p:sp>
        <p:nvSpPr>
          <p:cNvPr id="19" name="Text 16"/>
          <p:cNvSpPr txBox="1"/>
          <p:nvPr/>
        </p:nvSpPr>
        <p:spPr>
          <a:xfrm>
            <a:off x="9467698" y="2115007"/>
            <a:ext cx="3620110" cy="133502"/>
          </a:xfrm>
          <a:prstGeom prst="rect">
            <a:avLst/>
          </a:prstGeom>
          <a:noFill/>
          <a:ln/>
        </p:spPr>
        <p:txBody>
          <a:bodyPr wrap="none" lIns="0" tIns="0" rIns="0" bIns="0" rtlCol="0" anchor="ctr"/>
          <a:lstStyle/>
          <a:p>
            <a:pPr algn="l" indent="0" marL="0">
              <a:buNone/>
            </a:pPr>
            <a:r>
              <a:rPr lang="en-US" sz="825" spc="215" kern="0" dirty="0">
                <a:solidFill>
                  <a:srgbClr val="7E8DA6"/>
                </a:solidFill>
                <a:latin typeface="Inter" pitchFamily="34" charset="0"/>
                <a:ea typeface="Inter" pitchFamily="34" charset="-122"/>
                <a:cs typeface="Inter" pitchFamily="34" charset="-120"/>
              </a:rPr>
              <a:t>AMI · metal-2 line CD</a:t>
            </a:r>
            <a:endParaRPr lang="en-US" sz="825" dirty="0"/>
          </a:p>
        </p:txBody>
      </p:sp>
      <p:sp>
        <p:nvSpPr>
          <p:cNvPr id="20" name="Text 17"/>
          <p:cNvSpPr txBox="1"/>
          <p:nvPr/>
        </p:nvSpPr>
        <p:spPr>
          <a:xfrm>
            <a:off x="9467698" y="2343607"/>
            <a:ext cx="657454" cy="476402"/>
          </a:xfrm>
          <a:prstGeom prst="rect">
            <a:avLst/>
          </a:prstGeom>
          <a:noFill/>
          <a:ln/>
        </p:spPr>
        <p:txBody>
          <a:bodyPr wrap="none" lIns="0" tIns="0" rIns="0" bIns="0" rtlCol="0" anchor="ctr"/>
          <a:lstStyle/>
          <a:p>
            <a:pPr algn="l" indent="0" marL="0">
              <a:buNone/>
            </a:pPr>
            <a:r>
              <a:rPr lang="en-US" sz="2850" b="1" dirty="0">
                <a:solidFill>
                  <a:srgbClr val="ECF1F9"/>
                </a:solidFill>
                <a:latin typeface="JetBrains Mono" pitchFamily="34" charset="0"/>
                <a:ea typeface="JetBrains Mono" pitchFamily="34" charset="-122"/>
                <a:cs typeface="JetBrains Mono" pitchFamily="34" charset="-120"/>
              </a:rPr>
              <a:t>8.8</a:t>
            </a:r>
            <a:endParaRPr lang="en-US" sz="2850" dirty="0"/>
          </a:p>
        </p:txBody>
      </p:sp>
      <p:sp>
        <p:nvSpPr>
          <p:cNvPr id="21" name="Text 18"/>
          <p:cNvSpPr txBox="1"/>
          <p:nvPr/>
        </p:nvSpPr>
        <p:spPr>
          <a:xfrm>
            <a:off x="10195560" y="2533802"/>
            <a:ext cx="1156716" cy="228600"/>
          </a:xfrm>
          <a:prstGeom prst="rect">
            <a:avLst/>
          </a:prstGeom>
          <a:noFill/>
          <a:ln/>
        </p:spPr>
        <p:txBody>
          <a:bodyPr wrap="none" lIns="0" tIns="0" rIns="0" bIns="0" rtlCol="0" anchor="ctr"/>
          <a:lstStyle/>
          <a:p>
            <a:pPr algn="l" indent="0" marL="0">
              <a:buNone/>
            </a:pPr>
            <a:r>
              <a:rPr lang="en-US" sz="1500" dirty="0">
                <a:solidFill>
                  <a:srgbClr val="C2CCE0"/>
                </a:solidFill>
                <a:latin typeface="Inter" pitchFamily="34" charset="0"/>
                <a:ea typeface="Inter" pitchFamily="34" charset="-122"/>
                <a:cs typeface="Inter" pitchFamily="34" charset="-120"/>
              </a:rPr>
              <a:t>nm · target</a:t>
            </a:r>
            <a:endParaRPr lang="en-US" sz="1500" dirty="0"/>
          </a:p>
        </p:txBody>
      </p:sp>
      <p:sp>
        <p:nvSpPr>
          <p:cNvPr id="22" name="Text 19"/>
          <p:cNvSpPr txBox="1"/>
          <p:nvPr/>
        </p:nvSpPr>
        <p:spPr>
          <a:xfrm>
            <a:off x="9467698" y="2915107"/>
            <a:ext cx="3620110" cy="191110"/>
          </a:xfrm>
          <a:prstGeom prst="rect">
            <a:avLst/>
          </a:prstGeom>
          <a:noFill/>
          <a:ln/>
        </p:spPr>
        <p:txBody>
          <a:bodyPr wrap="none" lIns="0" tIns="0" rIns="0" bIns="0" rtlCol="0" anchor="ctr"/>
          <a:lstStyle/>
          <a:p>
            <a:pPr algn="l" indent="0" marL="0">
              <a:buNone/>
            </a:pPr>
            <a:r>
              <a:rPr lang="en-US" sz="1050" dirty="0">
                <a:solidFill>
                  <a:srgbClr val="7E8DA6"/>
                </a:solidFill>
                <a:latin typeface="Inter" pitchFamily="34" charset="0"/>
                <a:ea typeface="Inter" pitchFamily="34" charset="-122"/>
                <a:cs typeface="Inter" pitchFamily="34" charset="-120"/>
              </a:rPr>
              <a:t>트렌치 평균 CD</a:t>
            </a:r>
            <a:endParaRPr lang="en-US" sz="1050" dirty="0"/>
          </a:p>
        </p:txBody>
      </p:sp>
      <p:sp>
        <p:nvSpPr>
          <p:cNvPr id="23" name="Text 20"/>
          <p:cNvSpPr txBox="1"/>
          <p:nvPr/>
        </p:nvSpPr>
        <p:spPr>
          <a:xfrm>
            <a:off x="13659307" y="2115007"/>
            <a:ext cx="3620110" cy="133502"/>
          </a:xfrm>
          <a:prstGeom prst="rect">
            <a:avLst/>
          </a:prstGeom>
          <a:noFill/>
          <a:ln/>
        </p:spPr>
        <p:txBody>
          <a:bodyPr wrap="none" lIns="0" tIns="0" rIns="0" bIns="0" rtlCol="0" anchor="ctr"/>
          <a:lstStyle/>
          <a:p>
            <a:pPr algn="l" indent="0" marL="0">
              <a:buNone/>
            </a:pPr>
            <a:r>
              <a:rPr lang="en-US" sz="825" spc="215" kern="0" dirty="0">
                <a:solidFill>
                  <a:srgbClr val="7E8DA6"/>
                </a:solidFill>
                <a:latin typeface="Inter" pitchFamily="34" charset="0"/>
                <a:ea typeface="Inter" pitchFamily="34" charset="-122"/>
                <a:cs typeface="Inter" pitchFamily="34" charset="-120"/>
              </a:rPr>
              <a:t>ACI · contact CD</a:t>
            </a:r>
            <a:endParaRPr lang="en-US" sz="825" dirty="0"/>
          </a:p>
        </p:txBody>
      </p:sp>
      <p:sp>
        <p:nvSpPr>
          <p:cNvPr id="24" name="Text 21"/>
          <p:cNvSpPr txBox="1"/>
          <p:nvPr/>
        </p:nvSpPr>
        <p:spPr>
          <a:xfrm>
            <a:off x="13659307" y="2343607"/>
            <a:ext cx="657454" cy="476402"/>
          </a:xfrm>
          <a:prstGeom prst="rect">
            <a:avLst/>
          </a:prstGeom>
          <a:noFill/>
          <a:ln/>
        </p:spPr>
        <p:txBody>
          <a:bodyPr wrap="none" lIns="0" tIns="0" rIns="0" bIns="0" rtlCol="0" anchor="ctr"/>
          <a:lstStyle/>
          <a:p>
            <a:pPr algn="l" indent="0" marL="0">
              <a:buNone/>
            </a:pPr>
            <a:r>
              <a:rPr lang="en-US" sz="2850" b="1" dirty="0">
                <a:solidFill>
                  <a:srgbClr val="ECF1F9"/>
                </a:solidFill>
                <a:latin typeface="JetBrains Mono" pitchFamily="34" charset="0"/>
                <a:ea typeface="JetBrains Mono" pitchFamily="34" charset="-122"/>
                <a:cs typeface="JetBrains Mono" pitchFamily="34" charset="-120"/>
              </a:rPr>
              <a:t>9.1</a:t>
            </a:r>
            <a:endParaRPr lang="en-US" sz="2850" dirty="0"/>
          </a:p>
        </p:txBody>
      </p:sp>
      <p:sp>
        <p:nvSpPr>
          <p:cNvPr id="25" name="Text 22"/>
          <p:cNvSpPr txBox="1"/>
          <p:nvPr/>
        </p:nvSpPr>
        <p:spPr>
          <a:xfrm>
            <a:off x="14386255" y="2533802"/>
            <a:ext cx="1156716" cy="228600"/>
          </a:xfrm>
          <a:prstGeom prst="rect">
            <a:avLst/>
          </a:prstGeom>
          <a:noFill/>
          <a:ln/>
        </p:spPr>
        <p:txBody>
          <a:bodyPr wrap="none" lIns="0" tIns="0" rIns="0" bIns="0" rtlCol="0" anchor="ctr"/>
          <a:lstStyle/>
          <a:p>
            <a:pPr algn="l" indent="0" marL="0">
              <a:buNone/>
            </a:pPr>
            <a:r>
              <a:rPr lang="en-US" sz="1500" dirty="0">
                <a:solidFill>
                  <a:srgbClr val="C2CCE0"/>
                </a:solidFill>
                <a:latin typeface="Inter" pitchFamily="34" charset="0"/>
                <a:ea typeface="Inter" pitchFamily="34" charset="-122"/>
                <a:cs typeface="Inter" pitchFamily="34" charset="-120"/>
              </a:rPr>
              <a:t>nm · target</a:t>
            </a:r>
            <a:endParaRPr lang="en-US" sz="1500" dirty="0"/>
          </a:p>
        </p:txBody>
      </p:sp>
      <p:sp>
        <p:nvSpPr>
          <p:cNvPr id="26" name="Text 23"/>
          <p:cNvSpPr txBox="1"/>
          <p:nvPr/>
        </p:nvSpPr>
        <p:spPr>
          <a:xfrm>
            <a:off x="13659307" y="2915107"/>
            <a:ext cx="3620110" cy="191110"/>
          </a:xfrm>
          <a:prstGeom prst="rect">
            <a:avLst/>
          </a:prstGeom>
          <a:noFill/>
          <a:ln/>
        </p:spPr>
        <p:txBody>
          <a:bodyPr wrap="none" lIns="0" tIns="0" rIns="0" bIns="0" rtlCol="0" anchor="ctr"/>
          <a:lstStyle/>
          <a:p>
            <a:pPr algn="l" indent="0" marL="0">
              <a:buNone/>
            </a:pPr>
            <a:r>
              <a:rPr lang="en-US" sz="1050" dirty="0">
                <a:solidFill>
                  <a:srgbClr val="7E8DA6"/>
                </a:solidFill>
                <a:latin typeface="Inter" pitchFamily="34" charset="0"/>
                <a:ea typeface="Inter" pitchFamily="34" charset="-122"/>
                <a:cs typeface="Inter" pitchFamily="34" charset="-120"/>
              </a:rPr>
              <a:t>via-1 직경 평균</a:t>
            </a:r>
            <a:endParaRPr lang="en-US" sz="10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57707" y="3619195"/>
          <a:ext cx="16573500" cy="5315407"/>
        </p:xfrm>
        <a:graphic>
          <a:graphicData uri="http://schemas.openxmlformats.org/drawingml/2006/table">
            <a:tbl>
              <a:tblPr/>
              <a:tblGrid>
                <a:gridCol w="1619402"/>
                <a:gridCol w="1238098"/>
                <a:gridCol w="2286000"/>
                <a:gridCol w="2286000"/>
                <a:gridCol w="2286000"/>
                <a:gridCol w="2286000"/>
                <a:gridCol w="2286000"/>
                <a:gridCol w="2286000"/>
              </a:tblGrid>
              <a:tr h="1063081">
                <a:tc>
                  <a:txBody>
                    <a:bodyPr/>
                    <a:lstStyle/>
                    <a:p>
                      <a:pPr algn="l" indent="0" marL="0">
                        <a:buNone/>
                      </a:pPr>
                      <a:r>
                        <a:rPr lang="en-US" sz="975" b="1" dirty="0">
                          <a:solidFill>
                            <a:srgbClr val="7E8DA6"/>
                          </a:solidFill>
                          <a:latin typeface="Inter" pitchFamily="34" charset="0"/>
                          <a:ea typeface="Inter" pitchFamily="34" charset="-122"/>
                          <a:cs typeface="Inter" pitchFamily="34" charset="-120"/>
                        </a:rPr>
                        <a:t>METRIC</a:t>
                      </a:r>
                      <a:endParaRPr lang="en-US" sz="975" dirty="0">
                        <a:latin typeface="Inter" charset="0"/>
                        <a:ea typeface="Inter" charset="0"/>
                        <a:cs typeface="Inter" charset="0"/>
                      </a:endParaRPr>
                    </a:p>
                  </a:txBody>
                  <a:tcPr marL="171907" marR="171907" marT="133502" marB="133502"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l" indent="0" marL="0">
                        <a:buNone/>
                      </a:pPr>
                      <a:r>
                        <a:rPr lang="en-US" sz="975" b="1" dirty="0">
                          <a:solidFill>
                            <a:srgbClr val="7E8DA6"/>
                          </a:solidFill>
                          <a:latin typeface="Inter" pitchFamily="34" charset="0"/>
                          <a:ea typeface="Inter" pitchFamily="34" charset="-122"/>
                          <a:cs typeface="Inter" pitchFamily="34" charset="-120"/>
                        </a:rPr>
                        <a:t>TARGET</a:t>
                      </a:r>
                      <a:endParaRPr lang="en-US" sz="975" dirty="0">
                        <a:latin typeface="Inter" charset="0"/>
                        <a:ea typeface="Inter" charset="0"/>
                        <a:cs typeface="Inter" charset="0"/>
                      </a:endParaRPr>
                    </a:p>
                  </a:txBody>
                  <a:tcPr marL="152705" marR="152705" marT="133502" marB="133502"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l" indent="0" marL="0">
                        <a:buNone/>
                      </a:pPr>
                      <a:r>
                        <a:rPr lang="en-US" sz="975" b="1" dirty="0">
                          <a:solidFill>
                            <a:srgbClr val="38BDF8"/>
                          </a:solidFill>
                          <a:latin typeface="Inter" pitchFamily="34" charset="0"/>
                          <a:ea typeface="Inter" pitchFamily="34" charset="-122"/>
                          <a:cs typeface="Inter" pitchFamily="34" charset="-120"/>
                        </a:rPr>
                        <a:t>W1 · CTRL·A</a:t>
                      </a:r>
                      <a:pPr algn="l" indent="0" marL="0">
                        <a:buNone/>
                      </a:pPr>
                      <a:endParaRPr lang="en-US" sz="1200" dirty="0"/>
                    </a:p>
                    <a:p>
                      <a:pPr algn="l" indent="0" marL="0">
                        <a:buNone/>
                      </a:pPr>
                      <a:r>
                        <a:rPr lang="en-US" sz="900" b="1" dirty="0">
                          <a:solidFill>
                            <a:srgbClr val="7E8DA6"/>
                          </a:solidFill>
                          <a:latin typeface="JetBrains Mono" pitchFamily="34" charset="0"/>
                          <a:ea typeface="JetBrains Mono" pitchFamily="34" charset="-122"/>
                          <a:cs typeface="JetBrains Mono" pitchFamily="34" charset="-120"/>
                        </a:rPr>
                        <a:t>Split A</a:t>
                      </a:r>
                      <a:endParaRPr lang="en-US" sz="1200" dirty="0"/>
                    </a:p>
                  </a:txBody>
                  <a:tcPr marL="152705" marR="152705" marT="133502" marB="133502"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l" indent="0" marL="0">
                        <a:buNone/>
                      </a:pPr>
                      <a:r>
                        <a:rPr lang="en-US" sz="975" b="1" dirty="0">
                          <a:solidFill>
                            <a:srgbClr val="F59E0B"/>
                          </a:solidFill>
                          <a:latin typeface="Inter" pitchFamily="34" charset="0"/>
                          <a:ea typeface="Inter" pitchFamily="34" charset="-122"/>
                          <a:cs typeface="Inter" pitchFamily="34" charset="-120"/>
                        </a:rPr>
                        <a:t>W2 · AG·A</a:t>
                      </a:r>
                      <a:pPr algn="l" indent="0" marL="0">
                        <a:buNone/>
                      </a:pPr>
                      <a:endParaRPr lang="en-US" sz="1200" dirty="0"/>
                    </a:p>
                    <a:p>
                      <a:pPr algn="l" indent="0" marL="0">
                        <a:buNone/>
                      </a:pPr>
                      <a:r>
                        <a:rPr lang="en-US" sz="900" b="1" dirty="0">
                          <a:solidFill>
                            <a:srgbClr val="7E8DA6"/>
                          </a:solidFill>
                          <a:latin typeface="JetBrains Mono" pitchFamily="34" charset="0"/>
                          <a:ea typeface="JetBrains Mono" pitchFamily="34" charset="-122"/>
                          <a:cs typeface="JetBrains Mono" pitchFamily="34" charset="-120"/>
                        </a:rPr>
                        <a:t>Split A</a:t>
                      </a:r>
                      <a:endParaRPr lang="en-US" sz="1200" dirty="0"/>
                    </a:p>
                  </a:txBody>
                  <a:tcPr marL="152705" marR="152705" marT="133502" marB="133502"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l" indent="0" marL="0">
                        <a:buNone/>
                      </a:pPr>
                      <a:r>
                        <a:rPr lang="en-US" sz="975" b="1" dirty="0">
                          <a:solidFill>
                            <a:srgbClr val="38BDF8"/>
                          </a:solidFill>
                          <a:latin typeface="Inter" pitchFamily="34" charset="0"/>
                          <a:ea typeface="Inter" pitchFamily="34" charset="-122"/>
                          <a:cs typeface="Inter" pitchFamily="34" charset="-120"/>
                        </a:rPr>
                        <a:t>W3 · CTRL·B</a:t>
                      </a:r>
                      <a:pPr algn="l" indent="0" marL="0">
                        <a:buNone/>
                      </a:pPr>
                      <a:endParaRPr lang="en-US" sz="1200" dirty="0"/>
                    </a:p>
                    <a:p>
                      <a:pPr algn="l" indent="0" marL="0">
                        <a:buNone/>
                      </a:pPr>
                      <a:r>
                        <a:rPr lang="en-US" sz="900" b="1" dirty="0">
                          <a:solidFill>
                            <a:srgbClr val="7E8DA6"/>
                          </a:solidFill>
                          <a:latin typeface="JetBrains Mono" pitchFamily="34" charset="0"/>
                          <a:ea typeface="JetBrains Mono" pitchFamily="34" charset="-122"/>
                          <a:cs typeface="JetBrains Mono" pitchFamily="34" charset="-120"/>
                        </a:rPr>
                        <a:t>Split B</a:t>
                      </a:r>
                      <a:endParaRPr lang="en-US" sz="1200" dirty="0"/>
                    </a:p>
                  </a:txBody>
                  <a:tcPr marL="152705" marR="152705" marT="133502" marB="133502"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l" indent="0" marL="0">
                        <a:buNone/>
                      </a:pPr>
                      <a:r>
                        <a:rPr lang="en-US" sz="975" b="1" dirty="0">
                          <a:solidFill>
                            <a:srgbClr val="F59E0B"/>
                          </a:solidFill>
                          <a:latin typeface="Inter" pitchFamily="34" charset="0"/>
                          <a:ea typeface="Inter" pitchFamily="34" charset="-122"/>
                          <a:cs typeface="Inter" pitchFamily="34" charset="-120"/>
                        </a:rPr>
                        <a:t>W4 · AG·B</a:t>
                      </a:r>
                      <a:pPr algn="l" indent="0" marL="0">
                        <a:buNone/>
                      </a:pPr>
                      <a:endParaRPr lang="en-US" sz="1200" dirty="0"/>
                    </a:p>
                    <a:p>
                      <a:pPr algn="l" indent="0" marL="0">
                        <a:buNone/>
                      </a:pPr>
                      <a:r>
                        <a:rPr lang="en-US" sz="900" b="1" dirty="0">
                          <a:solidFill>
                            <a:srgbClr val="7E8DA6"/>
                          </a:solidFill>
                          <a:latin typeface="JetBrains Mono" pitchFamily="34" charset="0"/>
                          <a:ea typeface="JetBrains Mono" pitchFamily="34" charset="-122"/>
                          <a:cs typeface="JetBrains Mono" pitchFamily="34" charset="-120"/>
                        </a:rPr>
                        <a:t>Split B</a:t>
                      </a:r>
                      <a:endParaRPr lang="en-US" sz="1200" dirty="0"/>
                    </a:p>
                  </a:txBody>
                  <a:tcPr marL="152705" marR="152705" marT="133502" marB="133502"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l" indent="0" marL="0">
                        <a:buNone/>
                      </a:pPr>
                      <a:r>
                        <a:rPr lang="en-US" sz="975" b="1" dirty="0">
                          <a:solidFill>
                            <a:srgbClr val="ECF1F9"/>
                          </a:solidFill>
                          <a:latin typeface="Inter" pitchFamily="34" charset="0"/>
                          <a:ea typeface="Inter" pitchFamily="34" charset="-122"/>
                          <a:cs typeface="Inter" pitchFamily="34" charset="-120"/>
                        </a:rPr>
                        <a:t>Δ AVG</a:t>
                      </a:r>
                      <a:pPr algn="l" indent="0" marL="0">
                        <a:buNone/>
                      </a:pPr>
                      <a:endParaRPr lang="en-US" sz="1200" dirty="0"/>
                    </a:p>
                    <a:p>
                      <a:pPr algn="l" indent="0" marL="0">
                        <a:buNone/>
                      </a:pPr>
                      <a:r>
                        <a:rPr lang="en-US" sz="900" b="1" dirty="0">
                          <a:solidFill>
                            <a:srgbClr val="7E8DA6"/>
                          </a:solidFill>
                          <a:latin typeface="Inter" pitchFamily="34" charset="0"/>
                          <a:ea typeface="Inter" pitchFamily="34" charset="-122"/>
                          <a:cs typeface="Inter" pitchFamily="34" charset="-120"/>
                        </a:rPr>
                        <a:t>AG − CTL</a:t>
                      </a:r>
                      <a:endParaRPr lang="en-US" sz="1200" dirty="0"/>
                    </a:p>
                  </a:txBody>
                  <a:tcPr marL="152705" marR="152705" marT="133502" marB="133502"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l" indent="0" marL="0">
                        <a:buNone/>
                      </a:pPr>
                      <a:r>
                        <a:rPr lang="en-US" sz="975" b="1" dirty="0">
                          <a:solidFill>
                            <a:srgbClr val="ECF1F9"/>
                          </a:solidFill>
                          <a:latin typeface="Inter" pitchFamily="34" charset="0"/>
                          <a:ea typeface="Inter" pitchFamily="34" charset="-122"/>
                          <a:cs typeface="Inter" pitchFamily="34" charset="-120"/>
                        </a:rPr>
                        <a:t>BEST</a:t>
                      </a:r>
                      <a:pPr algn="l" indent="0" marL="0">
                        <a:buNone/>
                      </a:pPr>
                      <a:endParaRPr lang="en-US" sz="1200" dirty="0"/>
                    </a:p>
                    <a:p>
                      <a:pPr algn="l" indent="0" marL="0">
                        <a:buNone/>
                      </a:pPr>
                      <a:r>
                        <a:rPr lang="en-US" sz="900" b="1" dirty="0">
                          <a:solidFill>
                            <a:srgbClr val="7E8DA6"/>
                          </a:solidFill>
                          <a:latin typeface="Inter" pitchFamily="34" charset="0"/>
                          <a:ea typeface="Inter" pitchFamily="34" charset="-122"/>
                          <a:cs typeface="Inter" pitchFamily="34" charset="-120"/>
                        </a:rPr>
                        <a:t>mean vs tgt</a:t>
                      </a:r>
                      <a:endParaRPr lang="en-US" sz="1200" dirty="0"/>
                    </a:p>
                  </a:txBody>
                  <a:tcPr marL="152705" marR="152705" marT="133502" marB="133502"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r>
              <a:tr h="1063081">
                <a:tc>
                  <a:txBody>
                    <a:bodyPr/>
                    <a:lstStyle/>
                    <a:p>
                      <a:pPr indent="0" marL="0">
                        <a:buNone/>
                      </a:pPr>
                      <a:r>
                        <a:rPr lang="en-US" sz="1950" b="1" dirty="0">
                          <a:solidFill>
                            <a:srgbClr val="A78BFA"/>
                          </a:solidFill>
                          <a:latin typeface="Inter" pitchFamily="34" charset="0"/>
                          <a:ea typeface="Inter" pitchFamily="34" charset="-122"/>
                          <a:cs typeface="Inter" pitchFamily="34" charset="-120"/>
                        </a:rPr>
                        <a:t>AASI</a:t>
                      </a:r>
                      <a:pPr indent="0" marL="0">
                        <a:buNone/>
                      </a:pPr>
                      <a:endParaRPr lang="en-US" sz="1200" dirty="0"/>
                    </a:p>
                    <a:p>
                      <a:pPr indent="0" marL="0">
                        <a:buNone/>
                      </a:pPr>
                      <a:r>
                        <a:rPr lang="en-US" sz="975" dirty="0">
                          <a:solidFill>
                            <a:srgbClr val="7E8DA6"/>
                          </a:solidFill>
                          <a:latin typeface="JetBrains Mono" pitchFamily="34" charset="0"/>
                          <a:ea typeface="JetBrains Mono" pitchFamily="34" charset="-122"/>
                          <a:cs typeface="JetBrains Mono" pitchFamily="34" charset="-120"/>
                        </a:rPr>
                        <a:t>via top CD</a:t>
                      </a:r>
                      <a:endParaRPr lang="en-US" sz="1200" dirty="0"/>
                    </a:p>
                  </a:txBody>
                  <a:tcPr marL="171907" marR="171907"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2100" b="1" dirty="0">
                          <a:solidFill>
                            <a:srgbClr val="ECF1F9"/>
                          </a:solidFill>
                          <a:latin typeface="JetBrains Mono" pitchFamily="34" charset="0"/>
                          <a:ea typeface="JetBrains Mono" pitchFamily="34" charset="-122"/>
                          <a:cs typeface="JetBrains Mono" pitchFamily="34" charset="-120"/>
                        </a:rPr>
                        <a:t>24.7</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24.5 </a:t>
                      </a:r>
                      <a:pPr indent="0" marL="0">
                        <a:buNone/>
                      </a:pPr>
                      <a:r>
                        <a:rPr lang="en-US" sz="1050" dirty="0">
                          <a:solidFill>
                            <a:srgbClr val="7E8DA6"/>
                          </a:solidFill>
                          <a:latin typeface="JetBrains Mono" pitchFamily="34" charset="0"/>
                          <a:ea typeface="JetBrains Mono" pitchFamily="34" charset="-122"/>
                          <a:cs typeface="JetBrains Mono" pitchFamily="34" charset="-120"/>
                        </a:rPr>
                        <a:t>±1.1</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23.1 – 25.9</a:t>
                      </a:r>
                      <a:pPr indent="0" marL="0">
                        <a:spcBef>
                          <a:spcPts val="450"/>
                        </a:spcBef>
                        <a:buNone/>
                      </a:pPr>
                      <a:endParaRPr lang="en-US" sz="1200" dirty="0"/>
                    </a:p>
                    <a:p>
                      <a:pPr indent="0" marL="0">
                        <a:buNone/>
                      </a:pPr>
                      <a:r>
                        <a:rPr lang="en-US" sz="1050" dirty="0">
                          <a:solidFill>
                            <a:srgbClr val="22C55E"/>
                          </a:solidFill>
                          <a:latin typeface="JetBrains Mono" pitchFamily="34" charset="0"/>
                          <a:ea typeface="JetBrains Mono" pitchFamily="34" charset="-122"/>
                          <a:cs typeface="JetBrains Mono" pitchFamily="34" charset="-120"/>
                        </a:rPr>
                        <a:t>Δ −0.2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23.6 </a:t>
                      </a:r>
                      <a:pPr indent="0" marL="0">
                        <a:buNone/>
                      </a:pPr>
                      <a:r>
                        <a:rPr lang="en-US" sz="1050" dirty="0">
                          <a:solidFill>
                            <a:srgbClr val="7E8DA6"/>
                          </a:solidFill>
                          <a:latin typeface="JetBrains Mono" pitchFamily="34" charset="0"/>
                          <a:ea typeface="JetBrains Mono" pitchFamily="34" charset="-122"/>
                          <a:cs typeface="JetBrains Mono" pitchFamily="34" charset="-120"/>
                        </a:rPr>
                        <a:t>±1.4</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21.8 – 25.4</a:t>
                      </a:r>
                      <a:pPr indent="0" marL="0">
                        <a:spcBef>
                          <a:spcPts val="450"/>
                        </a:spcBef>
                        <a:buNone/>
                      </a:pPr>
                      <a:endParaRPr lang="en-US" sz="1200" dirty="0"/>
                    </a:p>
                    <a:p>
                      <a:pPr indent="0" marL="0">
                        <a:buNone/>
                      </a:pPr>
                      <a:r>
                        <a:rPr lang="en-US" sz="1050" dirty="0">
                          <a:solidFill>
                            <a:srgbClr val="F87171"/>
                          </a:solidFill>
                          <a:latin typeface="JetBrains Mono" pitchFamily="34" charset="0"/>
                          <a:ea typeface="JetBrains Mono" pitchFamily="34" charset="-122"/>
                          <a:cs typeface="JetBrains Mono" pitchFamily="34" charset="-120"/>
                        </a:rPr>
                        <a:t>Δ −1.1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24.6 </a:t>
                      </a:r>
                      <a:pPr indent="0" marL="0">
                        <a:buNone/>
                      </a:pPr>
                      <a:r>
                        <a:rPr lang="en-US" sz="1050" dirty="0">
                          <a:solidFill>
                            <a:srgbClr val="7E8DA6"/>
                          </a:solidFill>
                          <a:latin typeface="JetBrains Mono" pitchFamily="34" charset="0"/>
                          <a:ea typeface="JetBrains Mono" pitchFamily="34" charset="-122"/>
                          <a:cs typeface="JetBrains Mono" pitchFamily="34" charset="-120"/>
                        </a:rPr>
                        <a:t>±1.0</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23.3 – 26.0</a:t>
                      </a:r>
                      <a:pPr indent="0" marL="0">
                        <a:spcBef>
                          <a:spcPts val="450"/>
                        </a:spcBef>
                        <a:buNone/>
                      </a:pPr>
                      <a:endParaRPr lang="en-US" sz="1200" dirty="0"/>
                    </a:p>
                    <a:p>
                      <a:pPr indent="0" marL="0">
                        <a:buNone/>
                      </a:pPr>
                      <a:r>
                        <a:rPr lang="en-US" sz="1050" dirty="0">
                          <a:solidFill>
                            <a:srgbClr val="22C55E"/>
                          </a:solidFill>
                          <a:latin typeface="JetBrains Mono" pitchFamily="34" charset="0"/>
                          <a:ea typeface="JetBrains Mono" pitchFamily="34" charset="-122"/>
                          <a:cs typeface="JetBrains Mono" pitchFamily="34" charset="-120"/>
                        </a:rPr>
                        <a:t>Δ −0.1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23.5 </a:t>
                      </a:r>
                      <a:pPr indent="0" marL="0">
                        <a:buNone/>
                      </a:pPr>
                      <a:r>
                        <a:rPr lang="en-US" sz="1050" dirty="0">
                          <a:solidFill>
                            <a:srgbClr val="7E8DA6"/>
                          </a:solidFill>
                          <a:latin typeface="JetBrains Mono" pitchFamily="34" charset="0"/>
                          <a:ea typeface="JetBrains Mono" pitchFamily="34" charset="-122"/>
                          <a:cs typeface="JetBrains Mono" pitchFamily="34" charset="-120"/>
                        </a:rPr>
                        <a:t>±1.5</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21.6 – 25.5</a:t>
                      </a:r>
                      <a:pPr indent="0" marL="0">
                        <a:spcBef>
                          <a:spcPts val="450"/>
                        </a:spcBef>
                        <a:buNone/>
                      </a:pPr>
                      <a:endParaRPr lang="en-US" sz="1200" dirty="0"/>
                    </a:p>
                    <a:p>
                      <a:pPr indent="0" marL="0">
                        <a:buNone/>
                      </a:pPr>
                      <a:r>
                        <a:rPr lang="en-US" sz="1050" dirty="0">
                          <a:solidFill>
                            <a:srgbClr val="F87171"/>
                          </a:solidFill>
                          <a:latin typeface="JetBrains Mono" pitchFamily="34" charset="0"/>
                          <a:ea typeface="JetBrains Mono" pitchFamily="34" charset="-122"/>
                          <a:cs typeface="JetBrains Mono" pitchFamily="34" charset="-120"/>
                        </a:rPr>
                        <a:t>Δ −1.2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950" b="1" dirty="0">
                          <a:solidFill>
                            <a:srgbClr val="F87171"/>
                          </a:solidFill>
                          <a:latin typeface="JetBrains Mono" pitchFamily="34" charset="0"/>
                          <a:ea typeface="JetBrains Mono" pitchFamily="34" charset="-122"/>
                          <a:cs typeface="JetBrains Mono" pitchFamily="34" charset="-120"/>
                        </a:rPr>
                        <a:t>−1.15</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AG under-cut</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950" b="1" dirty="0">
                          <a:solidFill>
                            <a:srgbClr val="38BDF8"/>
                          </a:solidFill>
                          <a:latin typeface="JetBrains Mono" pitchFamily="34" charset="0"/>
                          <a:ea typeface="JetBrains Mono" pitchFamily="34" charset="-122"/>
                          <a:cs typeface="JetBrains Mono" pitchFamily="34" charset="-120"/>
                        </a:rPr>
                        <a:t>W1·24.5</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target ±0부터 가장 가까운 wafer</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r>
              <a:tr h="1063081">
                <a:tc>
                  <a:txBody>
                    <a:bodyPr/>
                    <a:lstStyle/>
                    <a:p>
                      <a:pPr indent="0" marL="0">
                        <a:buNone/>
                      </a:pPr>
                      <a:r>
                        <a:rPr lang="en-US" sz="1950" b="1" dirty="0">
                          <a:solidFill>
                            <a:srgbClr val="A78BFA"/>
                          </a:solidFill>
                          <a:latin typeface="Inter" pitchFamily="34" charset="0"/>
                          <a:ea typeface="Inter" pitchFamily="34" charset="-122"/>
                          <a:cs typeface="Inter" pitchFamily="34" charset="-120"/>
                        </a:rPr>
                        <a:t>ASEI</a:t>
                      </a:r>
                      <a:pPr indent="0" marL="0">
                        <a:buNone/>
                      </a:pPr>
                      <a:endParaRPr lang="en-US" sz="1200" dirty="0"/>
                    </a:p>
                    <a:p>
                      <a:pPr indent="0" marL="0">
                        <a:buNone/>
                      </a:pPr>
                      <a:r>
                        <a:rPr lang="en-US" sz="975" dirty="0">
                          <a:solidFill>
                            <a:srgbClr val="7E8DA6"/>
                          </a:solidFill>
                          <a:latin typeface="JetBrains Mono" pitchFamily="34" charset="0"/>
                          <a:ea typeface="JetBrains Mono" pitchFamily="34" charset="-122"/>
                          <a:cs typeface="JetBrains Mono" pitchFamily="34" charset="-120"/>
                        </a:rPr>
                        <a:t>spacer CD</a:t>
                      </a:r>
                      <a:endParaRPr lang="en-US" sz="1200" dirty="0"/>
                    </a:p>
                  </a:txBody>
                  <a:tcPr marL="171907" marR="171907"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2100" b="1" dirty="0">
                          <a:solidFill>
                            <a:srgbClr val="ECF1F9"/>
                          </a:solidFill>
                          <a:latin typeface="JetBrains Mono" pitchFamily="34" charset="0"/>
                          <a:ea typeface="JetBrains Mono" pitchFamily="34" charset="-122"/>
                          <a:cs typeface="JetBrains Mono" pitchFamily="34" charset="-120"/>
                        </a:rPr>
                        <a:t>16.8</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16.7 </a:t>
                      </a:r>
                      <a:pPr indent="0" marL="0">
                        <a:buNone/>
                      </a:pPr>
                      <a:r>
                        <a:rPr lang="en-US" sz="1050" dirty="0">
                          <a:solidFill>
                            <a:srgbClr val="7E8DA6"/>
                          </a:solidFill>
                          <a:latin typeface="JetBrains Mono" pitchFamily="34" charset="0"/>
                          <a:ea typeface="JetBrains Mono" pitchFamily="34" charset="-122"/>
                          <a:cs typeface="JetBrains Mono" pitchFamily="34" charset="-120"/>
                        </a:rPr>
                        <a:t>±0.7</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15.7 – 17.6</a:t>
                      </a:r>
                      <a:pPr indent="0" marL="0">
                        <a:spcBef>
                          <a:spcPts val="450"/>
                        </a:spcBef>
                        <a:buNone/>
                      </a:pPr>
                      <a:endParaRPr lang="en-US" sz="1200" dirty="0"/>
                    </a:p>
                    <a:p>
                      <a:pPr indent="0" marL="0">
                        <a:buNone/>
                      </a:pPr>
                      <a:r>
                        <a:rPr lang="en-US" sz="1050" dirty="0">
                          <a:solidFill>
                            <a:srgbClr val="22C55E"/>
                          </a:solidFill>
                          <a:latin typeface="JetBrains Mono" pitchFamily="34" charset="0"/>
                          <a:ea typeface="JetBrains Mono" pitchFamily="34" charset="-122"/>
                          <a:cs typeface="JetBrains Mono" pitchFamily="34" charset="-120"/>
                        </a:rPr>
                        <a:t>Δ −0.1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15.9 </a:t>
                      </a:r>
                      <a:pPr indent="0" marL="0">
                        <a:buNone/>
                      </a:pPr>
                      <a:r>
                        <a:rPr lang="en-US" sz="1050" dirty="0">
                          <a:solidFill>
                            <a:srgbClr val="7E8DA6"/>
                          </a:solidFill>
                          <a:latin typeface="JetBrains Mono" pitchFamily="34" charset="0"/>
                          <a:ea typeface="JetBrains Mono" pitchFamily="34" charset="-122"/>
                          <a:cs typeface="JetBrains Mono" pitchFamily="34" charset="-120"/>
                        </a:rPr>
                        <a:t>±0.9</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14.7 – 17.2</a:t>
                      </a:r>
                      <a:pPr indent="0" marL="0">
                        <a:spcBef>
                          <a:spcPts val="450"/>
                        </a:spcBef>
                        <a:buNone/>
                      </a:pPr>
                      <a:endParaRPr lang="en-US" sz="1200" dirty="0"/>
                    </a:p>
                    <a:p>
                      <a:pPr indent="0" marL="0">
                        <a:buNone/>
                      </a:pPr>
                      <a:r>
                        <a:rPr lang="en-US" sz="1050" dirty="0">
                          <a:solidFill>
                            <a:srgbClr val="F87171"/>
                          </a:solidFill>
                          <a:latin typeface="JetBrains Mono" pitchFamily="34" charset="0"/>
                          <a:ea typeface="JetBrains Mono" pitchFamily="34" charset="-122"/>
                          <a:cs typeface="JetBrains Mono" pitchFamily="34" charset="-120"/>
                        </a:rPr>
                        <a:t>Δ −0.9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16.8 </a:t>
                      </a:r>
                      <a:pPr indent="0" marL="0">
                        <a:buNone/>
                      </a:pPr>
                      <a:r>
                        <a:rPr lang="en-US" sz="1050" dirty="0">
                          <a:solidFill>
                            <a:srgbClr val="7E8DA6"/>
                          </a:solidFill>
                          <a:latin typeface="JetBrains Mono" pitchFamily="34" charset="0"/>
                          <a:ea typeface="JetBrains Mono" pitchFamily="34" charset="-122"/>
                          <a:cs typeface="JetBrains Mono" pitchFamily="34" charset="-120"/>
                        </a:rPr>
                        <a:t>±0.7</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15.8 – 17.7</a:t>
                      </a:r>
                      <a:pPr indent="0" marL="0">
                        <a:spcBef>
                          <a:spcPts val="450"/>
                        </a:spcBef>
                        <a:buNone/>
                      </a:pPr>
                      <a:endParaRPr lang="en-US" sz="1200" dirty="0"/>
                    </a:p>
                    <a:p>
                      <a:pPr indent="0" marL="0">
                        <a:buNone/>
                      </a:pPr>
                      <a:r>
                        <a:rPr lang="en-US" sz="1050" dirty="0">
                          <a:solidFill>
                            <a:srgbClr val="C2CCE0"/>
                          </a:solidFill>
                          <a:latin typeface="JetBrains Mono" pitchFamily="34" charset="0"/>
                          <a:ea typeface="JetBrains Mono" pitchFamily="34" charset="-122"/>
                          <a:cs typeface="JetBrains Mono" pitchFamily="34" charset="-120"/>
                        </a:rPr>
                        <a:t>Δ 0.0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15.8 </a:t>
                      </a:r>
                      <a:pPr indent="0" marL="0">
                        <a:buNone/>
                      </a:pPr>
                      <a:r>
                        <a:rPr lang="en-US" sz="1050" dirty="0">
                          <a:solidFill>
                            <a:srgbClr val="7E8DA6"/>
                          </a:solidFill>
                          <a:latin typeface="JetBrains Mono" pitchFamily="34" charset="0"/>
                          <a:ea typeface="JetBrains Mono" pitchFamily="34" charset="-122"/>
                          <a:cs typeface="JetBrains Mono" pitchFamily="34" charset="-120"/>
                        </a:rPr>
                        <a:t>±1.0</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14.5 – 17.1</a:t>
                      </a:r>
                      <a:pPr indent="0" marL="0">
                        <a:spcBef>
                          <a:spcPts val="450"/>
                        </a:spcBef>
                        <a:buNone/>
                      </a:pPr>
                      <a:endParaRPr lang="en-US" sz="1200" dirty="0"/>
                    </a:p>
                    <a:p>
                      <a:pPr indent="0" marL="0">
                        <a:buNone/>
                      </a:pPr>
                      <a:r>
                        <a:rPr lang="en-US" sz="1050" dirty="0">
                          <a:solidFill>
                            <a:srgbClr val="F87171"/>
                          </a:solidFill>
                          <a:latin typeface="JetBrains Mono" pitchFamily="34" charset="0"/>
                          <a:ea typeface="JetBrains Mono" pitchFamily="34" charset="-122"/>
                          <a:cs typeface="JetBrains Mono" pitchFamily="34" charset="-120"/>
                        </a:rPr>
                        <a:t>Δ −1.0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950" b="1" dirty="0">
                          <a:solidFill>
                            <a:srgbClr val="F87171"/>
                          </a:solidFill>
                          <a:latin typeface="JetBrains Mono" pitchFamily="34" charset="0"/>
                          <a:ea typeface="JetBrains Mono" pitchFamily="34" charset="-122"/>
                          <a:cs typeface="JetBrains Mono" pitchFamily="34" charset="-120"/>
                        </a:rPr>
                        <a:t>−0.95</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pitch 감소 일관</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950" b="1" dirty="0">
                          <a:solidFill>
                            <a:srgbClr val="38BDF8"/>
                          </a:solidFill>
                          <a:latin typeface="JetBrains Mono" pitchFamily="34" charset="0"/>
                          <a:ea typeface="JetBrains Mono" pitchFamily="34" charset="-122"/>
                          <a:cs typeface="JetBrains Mono" pitchFamily="34" charset="-120"/>
                        </a:rPr>
                        <a:t>W3·16.8</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target 정확히 일치</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r>
              <a:tr h="1063081">
                <a:tc>
                  <a:txBody>
                    <a:bodyPr/>
                    <a:lstStyle/>
                    <a:p>
                      <a:pPr indent="0" marL="0">
                        <a:buNone/>
                      </a:pPr>
                      <a:r>
                        <a:rPr lang="en-US" sz="1950" b="1" dirty="0">
                          <a:solidFill>
                            <a:srgbClr val="34D399"/>
                          </a:solidFill>
                          <a:latin typeface="Inter" pitchFamily="34" charset="0"/>
                          <a:ea typeface="Inter" pitchFamily="34" charset="-122"/>
                          <a:cs typeface="Inter" pitchFamily="34" charset="-120"/>
                        </a:rPr>
                        <a:t>AMI</a:t>
                      </a:r>
                      <a:pPr indent="0" marL="0">
                        <a:buNone/>
                      </a:pPr>
                      <a:endParaRPr lang="en-US" sz="1200" dirty="0"/>
                    </a:p>
                    <a:p>
                      <a:pPr indent="0" marL="0">
                        <a:buNone/>
                      </a:pPr>
                      <a:r>
                        <a:rPr lang="en-US" sz="975" dirty="0">
                          <a:solidFill>
                            <a:srgbClr val="7E8DA6"/>
                          </a:solidFill>
                          <a:latin typeface="JetBrains Mono" pitchFamily="34" charset="0"/>
                          <a:ea typeface="JetBrains Mono" pitchFamily="34" charset="-122"/>
                          <a:cs typeface="JetBrains Mono" pitchFamily="34" charset="-120"/>
                        </a:rPr>
                        <a:t>M2 line CD</a:t>
                      </a:r>
                      <a:endParaRPr lang="en-US" sz="1200" dirty="0"/>
                    </a:p>
                  </a:txBody>
                  <a:tcPr marL="171907" marR="171907"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2100" b="1" dirty="0">
                          <a:solidFill>
                            <a:srgbClr val="ECF1F9"/>
                          </a:solidFill>
                          <a:latin typeface="JetBrains Mono" pitchFamily="34" charset="0"/>
                          <a:ea typeface="JetBrains Mono" pitchFamily="34" charset="-122"/>
                          <a:cs typeface="JetBrains Mono" pitchFamily="34" charset="-120"/>
                        </a:rPr>
                        <a:t>8.8</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8.7 </a:t>
                      </a:r>
                      <a:pPr indent="0" marL="0">
                        <a:buNone/>
                      </a:pPr>
                      <a:r>
                        <a:rPr lang="en-US" sz="1050" dirty="0">
                          <a:solidFill>
                            <a:srgbClr val="7E8DA6"/>
                          </a:solidFill>
                          <a:latin typeface="JetBrains Mono" pitchFamily="34" charset="0"/>
                          <a:ea typeface="JetBrains Mono" pitchFamily="34" charset="-122"/>
                          <a:cs typeface="JetBrains Mono" pitchFamily="34" charset="-120"/>
                        </a:rPr>
                        <a:t>±0.4</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8.1 – 9.2</a:t>
                      </a:r>
                      <a:pPr indent="0" marL="0">
                        <a:spcBef>
                          <a:spcPts val="450"/>
                        </a:spcBef>
                        <a:buNone/>
                      </a:pPr>
                      <a:endParaRPr lang="en-US" sz="1200" dirty="0"/>
                    </a:p>
                    <a:p>
                      <a:pPr indent="0" marL="0">
                        <a:buNone/>
                      </a:pPr>
                      <a:r>
                        <a:rPr lang="en-US" sz="1050" dirty="0">
                          <a:solidFill>
                            <a:srgbClr val="22C55E"/>
                          </a:solidFill>
                          <a:latin typeface="JetBrains Mono" pitchFamily="34" charset="0"/>
                          <a:ea typeface="JetBrains Mono" pitchFamily="34" charset="-122"/>
                          <a:cs typeface="JetBrains Mono" pitchFamily="34" charset="-120"/>
                        </a:rPr>
                        <a:t>Δ −0.1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8.4 </a:t>
                      </a:r>
                      <a:pPr indent="0" marL="0">
                        <a:buNone/>
                      </a:pPr>
                      <a:r>
                        <a:rPr lang="en-US" sz="1050" dirty="0">
                          <a:solidFill>
                            <a:srgbClr val="7E8DA6"/>
                          </a:solidFill>
                          <a:latin typeface="JetBrains Mono" pitchFamily="34" charset="0"/>
                          <a:ea typeface="JetBrains Mono" pitchFamily="34" charset="-122"/>
                          <a:cs typeface="JetBrains Mono" pitchFamily="34" charset="-120"/>
                        </a:rPr>
                        <a:t>±0.5</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7.7 – 9.0</a:t>
                      </a:r>
                      <a:pPr indent="0" marL="0">
                        <a:spcBef>
                          <a:spcPts val="450"/>
                        </a:spcBef>
                        <a:buNone/>
                      </a:pPr>
                      <a:endParaRPr lang="en-US" sz="1200" dirty="0"/>
                    </a:p>
                    <a:p>
                      <a:pPr indent="0" marL="0">
                        <a:buNone/>
                      </a:pPr>
                      <a:r>
                        <a:rPr lang="en-US" sz="1050" dirty="0">
                          <a:solidFill>
                            <a:srgbClr val="F87171"/>
                          </a:solidFill>
                          <a:latin typeface="JetBrains Mono" pitchFamily="34" charset="0"/>
                          <a:ea typeface="JetBrains Mono" pitchFamily="34" charset="-122"/>
                          <a:cs typeface="JetBrains Mono" pitchFamily="34" charset="-120"/>
                        </a:rPr>
                        <a:t>Δ −0.4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8.8 </a:t>
                      </a:r>
                      <a:pPr indent="0" marL="0">
                        <a:buNone/>
                      </a:pPr>
                      <a:r>
                        <a:rPr lang="en-US" sz="1050" dirty="0">
                          <a:solidFill>
                            <a:srgbClr val="7E8DA6"/>
                          </a:solidFill>
                          <a:latin typeface="JetBrains Mono" pitchFamily="34" charset="0"/>
                          <a:ea typeface="JetBrains Mono" pitchFamily="34" charset="-122"/>
                          <a:cs typeface="JetBrains Mono" pitchFamily="34" charset="-120"/>
                        </a:rPr>
                        <a:t>±0.3</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8.4 – 9.2</a:t>
                      </a:r>
                      <a:pPr indent="0" marL="0">
                        <a:spcBef>
                          <a:spcPts val="450"/>
                        </a:spcBef>
                        <a:buNone/>
                      </a:pPr>
                      <a:endParaRPr lang="en-US" sz="1200" dirty="0"/>
                    </a:p>
                    <a:p>
                      <a:pPr indent="0" marL="0">
                        <a:buNone/>
                      </a:pPr>
                      <a:r>
                        <a:rPr lang="en-US" sz="1050" dirty="0">
                          <a:solidFill>
                            <a:srgbClr val="C2CCE0"/>
                          </a:solidFill>
                          <a:latin typeface="JetBrains Mono" pitchFamily="34" charset="0"/>
                          <a:ea typeface="JetBrains Mono" pitchFamily="34" charset="-122"/>
                          <a:cs typeface="JetBrains Mono" pitchFamily="34" charset="-120"/>
                        </a:rPr>
                        <a:t>Δ 0.0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8.3 </a:t>
                      </a:r>
                      <a:pPr indent="0" marL="0">
                        <a:buNone/>
                      </a:pPr>
                      <a:r>
                        <a:rPr lang="en-US" sz="1050" dirty="0">
                          <a:solidFill>
                            <a:srgbClr val="7E8DA6"/>
                          </a:solidFill>
                          <a:latin typeface="JetBrains Mono" pitchFamily="34" charset="0"/>
                          <a:ea typeface="JetBrains Mono" pitchFamily="34" charset="-122"/>
                          <a:cs typeface="JetBrains Mono" pitchFamily="34" charset="-120"/>
                        </a:rPr>
                        <a:t>±0.6</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7.5 – 9.1</a:t>
                      </a:r>
                      <a:pPr indent="0" marL="0">
                        <a:spcBef>
                          <a:spcPts val="450"/>
                        </a:spcBef>
                        <a:buNone/>
                      </a:pPr>
                      <a:endParaRPr lang="en-US" sz="1200" dirty="0"/>
                    </a:p>
                    <a:p>
                      <a:pPr indent="0" marL="0">
                        <a:buNone/>
                      </a:pPr>
                      <a:r>
                        <a:rPr lang="en-US" sz="1050" dirty="0">
                          <a:solidFill>
                            <a:srgbClr val="F87171"/>
                          </a:solidFill>
                          <a:latin typeface="JetBrains Mono" pitchFamily="34" charset="0"/>
                          <a:ea typeface="JetBrains Mono" pitchFamily="34" charset="-122"/>
                          <a:cs typeface="JetBrains Mono" pitchFamily="34" charset="-120"/>
                        </a:rPr>
                        <a:t>Δ −0.5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950" b="1" dirty="0">
                          <a:solidFill>
                            <a:srgbClr val="F87171"/>
                          </a:solidFill>
                          <a:latin typeface="JetBrains Mono" pitchFamily="34" charset="0"/>
                          <a:ea typeface="JetBrains Mono" pitchFamily="34" charset="-122"/>
                          <a:cs typeface="JetBrains Mono" pitchFamily="34" charset="-120"/>
                        </a:rPr>
                        <a:t>−0.45</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AG 라인 under-cut</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c>
                  <a:txBody>
                    <a:bodyPr/>
                    <a:lstStyle/>
                    <a:p>
                      <a:pPr indent="0" marL="0">
                        <a:buNone/>
                      </a:pPr>
                      <a:r>
                        <a:rPr lang="en-US" sz="1950" b="1" dirty="0">
                          <a:solidFill>
                            <a:srgbClr val="38BDF8"/>
                          </a:solidFill>
                          <a:latin typeface="JetBrains Mono" pitchFamily="34" charset="0"/>
                          <a:ea typeface="JetBrains Mono" pitchFamily="34" charset="-122"/>
                          <a:cs typeface="JetBrains Mono" pitchFamily="34" charset="-120"/>
                        </a:rPr>
                        <a:t>W3·8.8</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3σ 가장 작음</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tcPr>
                </a:tc>
              </a:tr>
              <a:tr h="1063081">
                <a:tc>
                  <a:txBody>
                    <a:bodyPr/>
                    <a:lstStyle/>
                    <a:p>
                      <a:pPr indent="0" marL="0">
                        <a:buNone/>
                      </a:pPr>
                      <a:r>
                        <a:rPr lang="en-US" sz="1950" b="1" dirty="0">
                          <a:solidFill>
                            <a:srgbClr val="A78BFA"/>
                          </a:solidFill>
                          <a:latin typeface="Inter" pitchFamily="34" charset="0"/>
                          <a:ea typeface="Inter" pitchFamily="34" charset="-122"/>
                          <a:cs typeface="Inter" pitchFamily="34" charset="-120"/>
                        </a:rPr>
                        <a:t>ACI</a:t>
                      </a:r>
                      <a:pPr indent="0" marL="0">
                        <a:buNone/>
                      </a:pPr>
                      <a:endParaRPr lang="en-US" sz="1200" dirty="0"/>
                    </a:p>
                    <a:p>
                      <a:pPr indent="0" marL="0">
                        <a:buNone/>
                      </a:pPr>
                      <a:r>
                        <a:rPr lang="en-US" sz="975" dirty="0">
                          <a:solidFill>
                            <a:srgbClr val="7E8DA6"/>
                          </a:solidFill>
                          <a:latin typeface="JetBrains Mono" pitchFamily="34" charset="0"/>
                          <a:ea typeface="JetBrains Mono" pitchFamily="34" charset="-122"/>
                          <a:cs typeface="JetBrains Mono" pitchFamily="34" charset="-120"/>
                        </a:rPr>
                        <a:t>via-1 CD</a:t>
                      </a:r>
                      <a:endParaRPr lang="en-US" sz="1200" dirty="0"/>
                    </a:p>
                  </a:txBody>
                  <a:tcPr marL="171907" marR="171907"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2100" b="1" dirty="0">
                          <a:solidFill>
                            <a:srgbClr val="ECF1F9"/>
                          </a:solidFill>
                          <a:latin typeface="JetBrains Mono" pitchFamily="34" charset="0"/>
                          <a:ea typeface="JetBrains Mono" pitchFamily="34" charset="-122"/>
                          <a:cs typeface="JetBrains Mono" pitchFamily="34" charset="-120"/>
                        </a:rPr>
                        <a:t>9.1</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9.0 </a:t>
                      </a:r>
                      <a:pPr indent="0" marL="0">
                        <a:buNone/>
                      </a:pPr>
                      <a:r>
                        <a:rPr lang="en-US" sz="1050" dirty="0">
                          <a:solidFill>
                            <a:srgbClr val="7E8DA6"/>
                          </a:solidFill>
                          <a:latin typeface="JetBrains Mono" pitchFamily="34" charset="0"/>
                          <a:ea typeface="JetBrains Mono" pitchFamily="34" charset="-122"/>
                          <a:cs typeface="JetBrains Mono" pitchFamily="34" charset="-120"/>
                        </a:rPr>
                        <a:t>±0.5</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8.3 – 9.7</a:t>
                      </a:r>
                      <a:pPr indent="0" marL="0">
                        <a:spcBef>
                          <a:spcPts val="450"/>
                        </a:spcBef>
                        <a:buNone/>
                      </a:pPr>
                      <a:endParaRPr lang="en-US" sz="1200" dirty="0"/>
                    </a:p>
                    <a:p>
                      <a:pPr indent="0" marL="0">
                        <a:buNone/>
                      </a:pPr>
                      <a:r>
                        <a:rPr lang="en-US" sz="1050" dirty="0">
                          <a:solidFill>
                            <a:srgbClr val="22C55E"/>
                          </a:solidFill>
                          <a:latin typeface="JetBrains Mono" pitchFamily="34" charset="0"/>
                          <a:ea typeface="JetBrains Mono" pitchFamily="34" charset="-122"/>
                          <a:cs typeface="JetBrains Mono" pitchFamily="34" charset="-120"/>
                        </a:rPr>
                        <a:t>Δ −0.1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8.7 </a:t>
                      </a:r>
                      <a:pPr indent="0" marL="0">
                        <a:buNone/>
                      </a:pPr>
                      <a:r>
                        <a:rPr lang="en-US" sz="1050" dirty="0">
                          <a:solidFill>
                            <a:srgbClr val="7E8DA6"/>
                          </a:solidFill>
                          <a:latin typeface="JetBrains Mono" pitchFamily="34" charset="0"/>
                          <a:ea typeface="JetBrains Mono" pitchFamily="34" charset="-122"/>
                          <a:cs typeface="JetBrains Mono" pitchFamily="34" charset="-120"/>
                        </a:rPr>
                        <a:t>±0.7</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7.8 – 9.6</a:t>
                      </a:r>
                      <a:pPr indent="0" marL="0">
                        <a:spcBef>
                          <a:spcPts val="450"/>
                        </a:spcBef>
                        <a:buNone/>
                      </a:pPr>
                      <a:endParaRPr lang="en-US" sz="1200" dirty="0"/>
                    </a:p>
                    <a:p>
                      <a:pPr indent="0" marL="0">
                        <a:buNone/>
                      </a:pPr>
                      <a:r>
                        <a:rPr lang="en-US" sz="1050" dirty="0">
                          <a:solidFill>
                            <a:srgbClr val="F87171"/>
                          </a:solidFill>
                          <a:latin typeface="JetBrains Mono" pitchFamily="34" charset="0"/>
                          <a:ea typeface="JetBrains Mono" pitchFamily="34" charset="-122"/>
                          <a:cs typeface="JetBrains Mono" pitchFamily="34" charset="-120"/>
                        </a:rPr>
                        <a:t>Δ −0.4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9.1 </a:t>
                      </a:r>
                      <a:pPr indent="0" marL="0">
                        <a:buNone/>
                      </a:pPr>
                      <a:r>
                        <a:rPr lang="en-US" sz="1050" dirty="0">
                          <a:solidFill>
                            <a:srgbClr val="7E8DA6"/>
                          </a:solidFill>
                          <a:latin typeface="JetBrains Mono" pitchFamily="34" charset="0"/>
                          <a:ea typeface="JetBrains Mono" pitchFamily="34" charset="-122"/>
                          <a:cs typeface="JetBrains Mono" pitchFamily="34" charset="-120"/>
                        </a:rPr>
                        <a:t>±0.4</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8.5 – 9.7</a:t>
                      </a:r>
                      <a:pPr indent="0" marL="0">
                        <a:spcBef>
                          <a:spcPts val="450"/>
                        </a:spcBef>
                        <a:buNone/>
                      </a:pPr>
                      <a:endParaRPr lang="en-US" sz="1200" dirty="0"/>
                    </a:p>
                    <a:p>
                      <a:pPr indent="0" marL="0">
                        <a:buNone/>
                      </a:pPr>
                      <a:r>
                        <a:rPr lang="en-US" sz="1050" dirty="0">
                          <a:solidFill>
                            <a:srgbClr val="C2CCE0"/>
                          </a:solidFill>
                          <a:latin typeface="JetBrains Mono" pitchFamily="34" charset="0"/>
                          <a:ea typeface="JetBrains Mono" pitchFamily="34" charset="-122"/>
                          <a:cs typeface="JetBrains Mono" pitchFamily="34" charset="-120"/>
                        </a:rPr>
                        <a:t>Δ 0.0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1800" dirty="0">
                          <a:solidFill>
                            <a:srgbClr val="ECF1F9"/>
                          </a:solidFill>
                          <a:latin typeface="JetBrains Mono" pitchFamily="34" charset="0"/>
                          <a:ea typeface="JetBrains Mono" pitchFamily="34" charset="-122"/>
                          <a:cs typeface="JetBrains Mono" pitchFamily="34" charset="-120"/>
                        </a:rPr>
                        <a:t>8.6 </a:t>
                      </a:r>
                      <a:pPr indent="0" marL="0">
                        <a:buNone/>
                      </a:pPr>
                      <a:r>
                        <a:rPr lang="en-US" sz="1050" dirty="0">
                          <a:solidFill>
                            <a:srgbClr val="7E8DA6"/>
                          </a:solidFill>
                          <a:latin typeface="JetBrains Mono" pitchFamily="34" charset="0"/>
                          <a:ea typeface="JetBrains Mono" pitchFamily="34" charset="-122"/>
                          <a:cs typeface="JetBrains Mono" pitchFamily="34" charset="-120"/>
                        </a:rPr>
                        <a:t>±0.7</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range 7.7 – 9.5</a:t>
                      </a:r>
                      <a:pPr indent="0" marL="0">
                        <a:spcBef>
                          <a:spcPts val="450"/>
                        </a:spcBef>
                        <a:buNone/>
                      </a:pPr>
                      <a:endParaRPr lang="en-US" sz="1200" dirty="0"/>
                    </a:p>
                    <a:p>
                      <a:pPr indent="0" marL="0">
                        <a:buNone/>
                      </a:pPr>
                      <a:r>
                        <a:rPr lang="en-US" sz="1050" dirty="0">
                          <a:solidFill>
                            <a:srgbClr val="F87171"/>
                          </a:solidFill>
                          <a:latin typeface="JetBrains Mono" pitchFamily="34" charset="0"/>
                          <a:ea typeface="JetBrains Mono" pitchFamily="34" charset="-122"/>
                          <a:cs typeface="JetBrains Mono" pitchFamily="34" charset="-120"/>
                        </a:rPr>
                        <a:t>Δ −0.5 nm</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1950" b="1" dirty="0">
                          <a:solidFill>
                            <a:srgbClr val="F87171"/>
                          </a:solidFill>
                          <a:latin typeface="JetBrains Mono" pitchFamily="34" charset="0"/>
                          <a:ea typeface="JetBrains Mono" pitchFamily="34" charset="-122"/>
                          <a:cs typeface="JetBrains Mono" pitchFamily="34" charset="-120"/>
                        </a:rPr>
                        <a:t>−0.45</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via 직경도 under</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1950" b="1" dirty="0">
                          <a:solidFill>
                            <a:srgbClr val="38BDF8"/>
                          </a:solidFill>
                          <a:latin typeface="JetBrains Mono" pitchFamily="34" charset="0"/>
                          <a:ea typeface="JetBrains Mono" pitchFamily="34" charset="-122"/>
                          <a:cs typeface="JetBrains Mono" pitchFamily="34" charset="-120"/>
                        </a:rPr>
                        <a:t>W3·9.1</a:t>
                      </a:r>
                      <a:pPr indent="0" marL="0">
                        <a:buNone/>
                      </a:pPr>
                      <a:endParaRPr lang="en-US" sz="1200" dirty="0"/>
                    </a:p>
                    <a:p>
                      <a:pPr indent="0" marL="0">
                        <a:buNone/>
                      </a:pPr>
                      <a:r>
                        <a:rPr lang="en-US" sz="975" dirty="0">
                          <a:solidFill>
                            <a:srgbClr val="7E8DA6"/>
                          </a:solidFill>
                          <a:latin typeface="Inter" pitchFamily="34" charset="0"/>
                          <a:ea typeface="Inter" pitchFamily="34" charset="-122"/>
                          <a:cs typeface="Inter" pitchFamily="34" charset="-120"/>
                        </a:rPr>
                        <a:t>target hit &amp; tight</a:t>
                      </a:r>
                      <a:endParaRPr lang="en-US" sz="1200" dirty="0"/>
                    </a:p>
                  </a:txBody>
                  <a:tcPr marL="152705" marR="152705" marT="133502" marB="133502" anchor="t">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r>
            </a:tbl>
          </a:graphicData>
        </a:graphic>
      </p:graphicFrame>
      <p:sp>
        <p:nvSpPr>
          <p:cNvPr id="28" name="Text 24"/>
          <p:cNvSpPr txBox="1"/>
          <p:nvPr/>
        </p:nvSpPr>
        <p:spPr>
          <a:xfrm>
            <a:off x="0" y="9715500"/>
            <a:ext cx="18288000" cy="228600"/>
          </a:xfrm>
          <a:prstGeom prst="rect">
            <a:avLst/>
          </a:prstGeom>
          <a:noFill/>
          <a:ln/>
        </p:spPr>
        <p:txBody>
          <a:bodyPr wrap="none" lIns="0" tIns="0" rIns="0" bIns="0" rtlCol="0" anchor="ctr"/>
          <a:lstStyle/>
          <a:p>
            <a:pPr algn="ctr" indent="0" marL="0">
              <a:buNone/>
            </a:pPr>
            <a:r>
              <a:rPr lang="en-US" sz="1200" spc="48" kern="0" dirty="0">
                <a:solidFill>
                  <a:srgbClr val="7E8DA6"/>
                </a:solidFill>
                <a:latin typeface="Inter" pitchFamily="34" charset="0"/>
                <a:ea typeface="Inter" pitchFamily="34" charset="-122"/>
                <a:cs typeface="Inter" pitchFamily="34" charset="-120"/>
              </a:rPr>
              <a:t>※ 내부 테스트용 더미(가상) 데이터</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3" name="Shape 0"/>
          <p:cNvSpPr/>
          <p:nvPr/>
        </p:nvSpPr>
        <p:spPr>
          <a:xfrm>
            <a:off x="857707" y="1904695"/>
            <a:ext cx="3905402" cy="3143707"/>
          </a:xfrm>
          <a:prstGeom prst="rect">
            <a:avLst/>
          </a:prstGeom>
          <a:solidFill>
            <a:srgbClr val="131E33"/>
          </a:solidFill>
          <a:ln w="12700">
            <a:solidFill>
              <a:srgbClr val="2A3B57"/>
            </a:solidFill>
            <a:prstDash val="solid"/>
          </a:ln>
        </p:spPr>
      </p:sp>
      <p:sp>
        <p:nvSpPr>
          <p:cNvPr id="4" name="Shape 1"/>
          <p:cNvSpPr/>
          <p:nvPr/>
        </p:nvSpPr>
        <p:spPr>
          <a:xfrm>
            <a:off x="4953305" y="1904695"/>
            <a:ext cx="3905402" cy="3143707"/>
          </a:xfrm>
          <a:prstGeom prst="rect">
            <a:avLst/>
          </a:prstGeom>
          <a:solidFill>
            <a:srgbClr val="131E33"/>
          </a:solidFill>
          <a:ln w="12700">
            <a:solidFill>
              <a:srgbClr val="2A3B57"/>
            </a:solidFill>
            <a:prstDash val="solid"/>
          </a:ln>
        </p:spPr>
      </p:sp>
      <p:sp>
        <p:nvSpPr>
          <p:cNvPr id="5" name="Shape 2"/>
          <p:cNvSpPr/>
          <p:nvPr/>
        </p:nvSpPr>
        <p:spPr>
          <a:xfrm>
            <a:off x="9048902" y="1904695"/>
            <a:ext cx="3905402" cy="3143707"/>
          </a:xfrm>
          <a:prstGeom prst="rect">
            <a:avLst/>
          </a:prstGeom>
          <a:solidFill>
            <a:srgbClr val="131E33"/>
          </a:solidFill>
          <a:ln w="12700">
            <a:solidFill>
              <a:srgbClr val="2A3B57"/>
            </a:solidFill>
            <a:prstDash val="solid"/>
          </a:ln>
        </p:spPr>
      </p:sp>
      <p:sp>
        <p:nvSpPr>
          <p:cNvPr id="6" name="Shape 3"/>
          <p:cNvSpPr/>
          <p:nvPr/>
        </p:nvSpPr>
        <p:spPr>
          <a:xfrm>
            <a:off x="13144500" y="1904695"/>
            <a:ext cx="4286707" cy="3143707"/>
          </a:xfrm>
          <a:prstGeom prst="rect">
            <a:avLst/>
          </a:prstGeom>
          <a:solidFill>
            <a:srgbClr val="131E33"/>
          </a:solidFill>
          <a:ln w="12700">
            <a:solidFill>
              <a:srgbClr val="2A3B57"/>
            </a:solidFill>
            <a:prstDash val="solid"/>
          </a:ln>
        </p:spPr>
      </p:sp>
      <p:sp>
        <p:nvSpPr>
          <p:cNvPr id="7" name="Shape 4"/>
          <p:cNvSpPr/>
          <p:nvPr/>
        </p:nvSpPr>
        <p:spPr>
          <a:xfrm>
            <a:off x="857707" y="5333695"/>
            <a:ext cx="16573500" cy="4095598"/>
          </a:xfrm>
          <a:prstGeom prst="rect">
            <a:avLst/>
          </a:prstGeom>
          <a:solidFill>
            <a:srgbClr val="131E33"/>
          </a:solidFill>
          <a:ln w="12700">
            <a:solidFill>
              <a:srgbClr val="2A3B57"/>
            </a:solidFill>
            <a:prstDash val="solid"/>
          </a:ln>
        </p:spPr>
      </p:sp>
      <p:sp>
        <p:nvSpPr>
          <p:cNvPr id="8" name="Text 5"/>
          <p:cNvSpPr txBox="1"/>
          <p:nvPr/>
        </p:nvSpPr>
        <p:spPr>
          <a:xfrm>
            <a:off x="857707" y="571500"/>
            <a:ext cx="5715000" cy="162763"/>
          </a:xfrm>
          <a:prstGeom prst="rect">
            <a:avLst/>
          </a:prstGeom>
          <a:noFill/>
          <a:ln/>
        </p:spPr>
        <p:txBody>
          <a:bodyPr wrap="none" lIns="0" tIns="0" rIns="0" bIns="0" rtlCol="0" anchor="ctr"/>
          <a:lstStyle/>
          <a:p>
            <a:pPr algn="l" indent="0" marL="0">
              <a:buNone/>
            </a:pPr>
            <a:r>
              <a:rPr lang="en-US" sz="1050" b="1" spc="336" kern="0" dirty="0">
                <a:solidFill>
                  <a:srgbClr val="F59E0B"/>
                </a:solidFill>
                <a:latin typeface="Inter" pitchFamily="34" charset="0"/>
                <a:ea typeface="Inter" pitchFamily="34" charset="-122"/>
                <a:cs typeface="Inter" pitchFamily="34" charset="-120"/>
              </a:rPr>
              <a:t>04 · IN-WAFER UNIFORMITY</a:t>
            </a:r>
            <a:endParaRPr lang="en-US" sz="1050" dirty="0"/>
          </a:p>
        </p:txBody>
      </p:sp>
      <p:sp>
        <p:nvSpPr>
          <p:cNvPr id="9" name="Text 6"/>
          <p:cNvSpPr txBox="1"/>
          <p:nvPr/>
        </p:nvSpPr>
        <p:spPr>
          <a:xfrm>
            <a:off x="857707" y="838505"/>
            <a:ext cx="12382805" cy="467258"/>
          </a:xfrm>
          <a:prstGeom prst="rect">
            <a:avLst/>
          </a:prstGeom>
          <a:noFill/>
          <a:ln/>
        </p:spPr>
        <p:txBody>
          <a:bodyPr wrap="none" lIns="0" tIns="0" rIns="0" bIns="0" rtlCol="0" anchor="ctr"/>
          <a:lstStyle/>
          <a:p>
            <a:pPr algn="l" indent="0" marL="0">
              <a:buNone/>
            </a:pPr>
            <a:r>
              <a:rPr lang="en-US" sz="3450" b="1" spc="-34" kern="0" dirty="0">
                <a:solidFill>
                  <a:srgbClr val="ECF1F9"/>
                </a:solidFill>
                <a:latin typeface="Inter" pitchFamily="34" charset="0"/>
                <a:ea typeface="Inter" pitchFamily="34" charset="-122"/>
                <a:cs typeface="Inter" pitchFamily="34" charset="-120"/>
              </a:rPr>
              <a:t>25pt Wafer Map + AMI 균일성 비교</a:t>
            </a:r>
            <a:endParaRPr lang="en-US" sz="3450" dirty="0"/>
          </a:p>
        </p:txBody>
      </p:sp>
      <p:sp>
        <p:nvSpPr>
          <p:cNvPr id="10" name="Text 7"/>
          <p:cNvSpPr txBox="1"/>
          <p:nvPr/>
        </p:nvSpPr>
        <p:spPr>
          <a:xfrm>
            <a:off x="857707" y="1435608"/>
            <a:ext cx="12382805" cy="277063"/>
          </a:xfrm>
          <a:prstGeom prst="rect">
            <a:avLst/>
          </a:prstGeom>
          <a:noFill/>
          <a:ln/>
        </p:spPr>
        <p:txBody>
          <a:bodyPr wrap="none" lIns="0" tIns="0" rIns="0" bIns="0" rtlCol="0" anchor="ctr"/>
          <a:lstStyle/>
          <a:p>
            <a:pPr algn="l" indent="0" marL="0">
              <a:buNone/>
            </a:pPr>
            <a:r>
              <a:rPr lang="en-US" sz="1500" dirty="0">
                <a:solidFill>
                  <a:srgbClr val="C2CCE0"/>
                </a:solidFill>
                <a:latin typeface="Inter" pitchFamily="34" charset="0"/>
                <a:ea typeface="Inter" pitchFamily="34" charset="-122"/>
                <a:cs typeface="Inter" pitchFamily="34" charset="-120"/>
              </a:rPr>
              <a:t>4 wafer × 5×5 site, AMI 8.8 nm target 기준 target deviation heat</a:t>
            </a:r>
            <a:endParaRPr lang="en-US" sz="1500" dirty="0"/>
          </a:p>
        </p:txBody>
      </p:sp>
      <p:sp>
        <p:nvSpPr>
          <p:cNvPr id="11" name="Text 8"/>
          <p:cNvSpPr txBox="1"/>
          <p:nvPr/>
        </p:nvSpPr>
        <p:spPr>
          <a:xfrm>
            <a:off x="1086307" y="2095805"/>
            <a:ext cx="400507" cy="219456"/>
          </a:xfrm>
          <a:prstGeom prst="rect">
            <a:avLst/>
          </a:prstGeom>
          <a:solidFill>
            <a:srgbClr val="38BDF8">
              <a:alpha val="16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38BDF8"/>
                </a:solidFill>
                <a:latin typeface="Inter" pitchFamily="34" charset="0"/>
                <a:ea typeface="Inter" pitchFamily="34" charset="-122"/>
                <a:cs typeface="Inter" pitchFamily="34" charset="-120"/>
              </a:rPr>
              <a:t>W1</a:t>
            </a:r>
            <a:endParaRPr lang="en-US" sz="900" dirty="0"/>
          </a:p>
        </p:txBody>
      </p:sp>
      <p:sp>
        <p:nvSpPr>
          <p:cNvPr id="12" name="Text 9"/>
          <p:cNvSpPr txBox="1"/>
          <p:nvPr/>
        </p:nvSpPr>
        <p:spPr>
          <a:xfrm>
            <a:off x="1580998" y="2109521"/>
            <a:ext cx="1337767" cy="191110"/>
          </a:xfrm>
          <a:prstGeom prst="rect">
            <a:avLst/>
          </a:prstGeom>
          <a:noFill/>
          <a:ln/>
        </p:spPr>
        <p:txBody>
          <a:bodyPr wrap="none" lIns="0" tIns="0" rIns="0" bIns="0" rtlCol="0" anchor="ctr"/>
          <a:lstStyle/>
          <a:p>
            <a:pPr algn="l" indent="0" marL="0">
              <a:buNone/>
            </a:pPr>
            <a:r>
              <a:rPr lang="en-US" sz="1200" dirty="0">
                <a:solidFill>
                  <a:srgbClr val="C2CCE0"/>
                </a:solidFill>
                <a:latin typeface="Inter" pitchFamily="34" charset="0"/>
                <a:ea typeface="Inter" pitchFamily="34" charset="-122"/>
                <a:cs typeface="Inter" pitchFamily="34" charset="-120"/>
              </a:rPr>
              <a:t>Control · Split A</a:t>
            </a:r>
            <a:endParaRPr lang="en-US" sz="1200" dirty="0"/>
          </a:p>
        </p:txBody>
      </p:sp>
      <p:sp>
        <p:nvSpPr>
          <p:cNvPr id="13" name="Text 10"/>
          <p:cNvSpPr txBox="1"/>
          <p:nvPr/>
        </p:nvSpPr>
        <p:spPr>
          <a:xfrm>
            <a:off x="1086307" y="2391156"/>
            <a:ext cx="3429000" cy="171907"/>
          </a:xfrm>
          <a:prstGeom prst="rect">
            <a:avLst/>
          </a:prstGeom>
          <a:noFill/>
          <a:ln/>
        </p:spPr>
        <p:txBody>
          <a:bodyPr wrap="none" lIns="0" tIns="0" rIns="0" bIns="0" rtlCol="0" anchor="ctr"/>
          <a:lstStyle/>
          <a:p>
            <a:pPr algn="l" indent="0" marL="0">
              <a:buNone/>
            </a:pPr>
            <a:r>
              <a:rPr lang="en-US" sz="1050" dirty="0">
                <a:solidFill>
                  <a:srgbClr val="7E8DA6"/>
                </a:solidFill>
                <a:latin typeface="JetBrains Mono" pitchFamily="34" charset="0"/>
                <a:ea typeface="JetBrains Mono" pitchFamily="34" charset="-122"/>
                <a:cs typeface="JetBrains Mono" pitchFamily="34" charset="-120"/>
              </a:rPr>
              <a:t>mean 8.71 · 3σ 0.41 · range 1.1</a:t>
            </a:r>
            <a:endParaRPr lang="en-US" sz="10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1086307" y="2895905"/>
          <a:ext cx="3277210" cy="2134210"/>
        </p:xfrm>
        <a:graphic>
          <a:graphicData uri="http://schemas.openxmlformats.org/drawingml/2006/table">
            <a:tbl>
              <a:tblPr/>
              <a:tblGrid>
                <a:gridCol w="609905"/>
                <a:gridCol w="609905"/>
                <a:gridCol w="609905"/>
                <a:gridCol w="609905"/>
                <a:gridCol w="609905"/>
              </a:tblGrid>
              <a:tr h="426842">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8.3</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6334D"/>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8.4</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3F6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8.6</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F486F"/>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8.4</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3F60"/>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8.3</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6334D"/>
                    </a:solidFill>
                  </a:tcPr>
                </a:tc>
              </a:tr>
              <a:tr h="426842">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8.6</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F486F"/>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44F7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8.8</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D5F9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44F7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8.6</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F486F"/>
                    </a:solidFill>
                  </a:tcPr>
                </a:tc>
              </a:tr>
              <a:tr h="426842">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44F7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8.8</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D5F9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9.0</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76FAA"/>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8.8</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D5F9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44F7B"/>
                    </a:solidFill>
                  </a:tcPr>
                </a:tc>
              </a:tr>
              <a:tr h="426842">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8.6</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F486F"/>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44F7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8.8</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D5F9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44F7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8.6</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F486F"/>
                    </a:solidFill>
                  </a:tcPr>
                </a:tc>
              </a:tr>
              <a:tr h="426842">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8.4</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3F6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8.6</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F486F"/>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44F7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8.6</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F486F"/>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8.4</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3F60"/>
                    </a:solidFill>
                  </a:tcPr>
                </a:tc>
              </a:tr>
            </a:tbl>
          </a:graphicData>
        </a:graphic>
      </p:graphicFrame>
      <p:sp>
        <p:nvSpPr>
          <p:cNvPr id="15" name="Text 11"/>
          <p:cNvSpPr txBox="1"/>
          <p:nvPr/>
        </p:nvSpPr>
        <p:spPr>
          <a:xfrm>
            <a:off x="5181905" y="2095805"/>
            <a:ext cx="428854" cy="219456"/>
          </a:xfrm>
          <a:prstGeom prst="rect">
            <a:avLst/>
          </a:prstGeom>
          <a:solidFill>
            <a:srgbClr val="F59E0B">
              <a:alpha val="16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F59E0B"/>
                </a:solidFill>
                <a:latin typeface="Inter" pitchFamily="34" charset="0"/>
                <a:ea typeface="Inter" pitchFamily="34" charset="-122"/>
                <a:cs typeface="Inter" pitchFamily="34" charset="-120"/>
              </a:rPr>
              <a:t>W2</a:t>
            </a:r>
            <a:endParaRPr lang="en-US" sz="900" dirty="0"/>
          </a:p>
        </p:txBody>
      </p:sp>
      <p:sp>
        <p:nvSpPr>
          <p:cNvPr id="16" name="Text 12"/>
          <p:cNvSpPr txBox="1"/>
          <p:nvPr/>
        </p:nvSpPr>
        <p:spPr>
          <a:xfrm>
            <a:off x="5699455" y="2109521"/>
            <a:ext cx="1349654" cy="191110"/>
          </a:xfrm>
          <a:prstGeom prst="rect">
            <a:avLst/>
          </a:prstGeom>
          <a:noFill/>
          <a:ln/>
        </p:spPr>
        <p:txBody>
          <a:bodyPr wrap="none" lIns="0" tIns="0" rIns="0" bIns="0" rtlCol="0" anchor="ctr"/>
          <a:lstStyle/>
          <a:p>
            <a:pPr algn="l" indent="0" marL="0">
              <a:buNone/>
            </a:pPr>
            <a:r>
              <a:rPr lang="en-US" sz="1200" dirty="0">
                <a:solidFill>
                  <a:srgbClr val="C2CCE0"/>
                </a:solidFill>
                <a:latin typeface="Inter" pitchFamily="34" charset="0"/>
                <a:ea typeface="Inter" pitchFamily="34" charset="-122"/>
                <a:cs typeface="Inter" pitchFamily="34" charset="-120"/>
              </a:rPr>
              <a:t>Air Gap · Split A</a:t>
            </a:r>
            <a:endParaRPr lang="en-US" sz="1200" dirty="0"/>
          </a:p>
        </p:txBody>
      </p:sp>
      <p:sp>
        <p:nvSpPr>
          <p:cNvPr id="17" name="Text 13"/>
          <p:cNvSpPr txBox="1"/>
          <p:nvPr/>
        </p:nvSpPr>
        <p:spPr>
          <a:xfrm>
            <a:off x="5181905" y="2391156"/>
            <a:ext cx="3429000" cy="171907"/>
          </a:xfrm>
          <a:prstGeom prst="rect">
            <a:avLst/>
          </a:prstGeom>
          <a:noFill/>
          <a:ln/>
        </p:spPr>
        <p:txBody>
          <a:bodyPr wrap="none" lIns="0" tIns="0" rIns="0" bIns="0" rtlCol="0" anchor="ctr"/>
          <a:lstStyle/>
          <a:p>
            <a:pPr algn="l" indent="0" marL="0">
              <a:buNone/>
            </a:pPr>
            <a:r>
              <a:rPr lang="en-US" sz="1050" dirty="0">
                <a:solidFill>
                  <a:srgbClr val="7E8DA6"/>
                </a:solidFill>
                <a:latin typeface="JetBrains Mono" pitchFamily="34" charset="0"/>
                <a:ea typeface="JetBrains Mono" pitchFamily="34" charset="-122"/>
                <a:cs typeface="JetBrains Mono" pitchFamily="34" charset="-120"/>
              </a:rPr>
              <a:t>mean 8.43 · 3σ 0.55 · range 1.4</a:t>
            </a:r>
            <a:endParaRPr lang="en-US" sz="105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5181905" y="2895905"/>
          <a:ext cx="1743761" cy="1848002"/>
        </p:xfrm>
        <a:graphic>
          <a:graphicData uri="http://schemas.openxmlformats.org/drawingml/2006/table">
            <a:tbl>
              <a:tblPr/>
              <a:tblGrid>
                <a:gridCol w="609905"/>
                <a:gridCol w="224942"/>
                <a:gridCol w="224942"/>
                <a:gridCol w="224942"/>
                <a:gridCol w="224942"/>
              </a:tblGrid>
              <a:tr h="369600">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7.9</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A2A0F"/>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8.0</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473516"/>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8.1</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8.0</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473516"/>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7.9</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A2A0F"/>
                    </a:solidFill>
                  </a:tcPr>
                </a:tc>
              </a:tr>
              <a:tr h="369600">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8.0</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473516"/>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8.2</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8.4</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6B502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8.3</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8.1</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473516"/>
                    </a:solidFill>
                  </a:tcPr>
                </a:tc>
              </a:tr>
              <a:tr h="369600">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8.3</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8.5</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6B502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7F5F36"/>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8.5</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6B502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8.3</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r>
              <a:tr h="369600">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8.2</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8.4</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6B502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8.6</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6B502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8.4</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8.2</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473516"/>
                    </a:solidFill>
                  </a:tcPr>
                </a:tc>
              </a:tr>
              <a:tr h="369600">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7.9</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473516"/>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8.1</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8.3</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8.1</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473516"/>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7.8</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A2A0F"/>
                    </a:solidFill>
                  </a:tcPr>
                </a:tc>
              </a:tr>
            </a:tbl>
          </a:graphicData>
        </a:graphic>
      </p:graphicFrame>
      <p:sp>
        <p:nvSpPr>
          <p:cNvPr id="19" name="Text 14"/>
          <p:cNvSpPr txBox="1"/>
          <p:nvPr/>
        </p:nvSpPr>
        <p:spPr>
          <a:xfrm>
            <a:off x="9277502" y="2095805"/>
            <a:ext cx="428854" cy="219456"/>
          </a:xfrm>
          <a:prstGeom prst="rect">
            <a:avLst/>
          </a:prstGeom>
          <a:solidFill>
            <a:srgbClr val="38BDF8">
              <a:alpha val="16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38BDF8"/>
                </a:solidFill>
                <a:latin typeface="Inter" pitchFamily="34" charset="0"/>
                <a:ea typeface="Inter" pitchFamily="34" charset="-122"/>
                <a:cs typeface="Inter" pitchFamily="34" charset="-120"/>
              </a:rPr>
              <a:t>W3</a:t>
            </a:r>
            <a:endParaRPr lang="en-US" sz="900" dirty="0"/>
          </a:p>
        </p:txBody>
      </p:sp>
      <p:sp>
        <p:nvSpPr>
          <p:cNvPr id="20" name="Text 15"/>
          <p:cNvSpPr txBox="1"/>
          <p:nvPr/>
        </p:nvSpPr>
        <p:spPr>
          <a:xfrm>
            <a:off x="9796882" y="2109521"/>
            <a:ext cx="1326794" cy="191110"/>
          </a:xfrm>
          <a:prstGeom prst="rect">
            <a:avLst/>
          </a:prstGeom>
          <a:noFill/>
          <a:ln/>
        </p:spPr>
        <p:txBody>
          <a:bodyPr wrap="none" lIns="0" tIns="0" rIns="0" bIns="0" rtlCol="0" anchor="ctr"/>
          <a:lstStyle/>
          <a:p>
            <a:pPr algn="l" indent="0" marL="0">
              <a:buNone/>
            </a:pPr>
            <a:r>
              <a:rPr lang="en-US" sz="1200" dirty="0">
                <a:solidFill>
                  <a:srgbClr val="C2CCE0"/>
                </a:solidFill>
                <a:latin typeface="Inter" pitchFamily="34" charset="0"/>
                <a:ea typeface="Inter" pitchFamily="34" charset="-122"/>
                <a:cs typeface="Inter" pitchFamily="34" charset="-120"/>
              </a:rPr>
              <a:t>Control · Split B</a:t>
            </a:r>
            <a:endParaRPr lang="en-US" sz="1200" dirty="0"/>
          </a:p>
        </p:txBody>
      </p:sp>
      <p:sp>
        <p:nvSpPr>
          <p:cNvPr id="21" name="Text 16"/>
          <p:cNvSpPr txBox="1"/>
          <p:nvPr/>
        </p:nvSpPr>
        <p:spPr>
          <a:xfrm>
            <a:off x="9277502" y="2391156"/>
            <a:ext cx="3429000" cy="171907"/>
          </a:xfrm>
          <a:prstGeom prst="rect">
            <a:avLst/>
          </a:prstGeom>
          <a:noFill/>
          <a:ln/>
        </p:spPr>
        <p:txBody>
          <a:bodyPr wrap="none" lIns="0" tIns="0" rIns="0" bIns="0" rtlCol="0" anchor="ctr"/>
          <a:lstStyle/>
          <a:p>
            <a:pPr algn="l" indent="0" marL="0">
              <a:buNone/>
            </a:pPr>
            <a:r>
              <a:rPr lang="en-US" sz="1050" dirty="0">
                <a:solidFill>
                  <a:srgbClr val="7E8DA6"/>
                </a:solidFill>
                <a:latin typeface="JetBrains Mono" pitchFamily="34" charset="0"/>
                <a:ea typeface="JetBrains Mono" pitchFamily="34" charset="-122"/>
                <a:cs typeface="JetBrains Mono" pitchFamily="34" charset="-120"/>
              </a:rPr>
              <a:t>mean 8.79 · 3σ 0.32 · range 0.9</a:t>
            </a:r>
            <a:endParaRPr lang="en-US" sz="1050" dirty="0"/>
          </a:p>
        </p:txBody>
      </p:sp>
      <p:graphicFrame>
        <p:nvGraphicFramePr>
          <p:cNvPr id="13" name="Table 2"/>
          <p:cNvGraphicFramePr>
            <a:graphicFrameLocks noGrp="1"/>
          </p:cNvGraphicFramePr>
          <p:nvPr>
            <p:extLst>
              <p:ext uri="{D42A27DB-BD31-4B8C-83A1-F6EECF244321}">
                <p14:modId xmlns:p14="http://schemas.microsoft.com/office/powerpoint/2010/main" val="1579011935"/>
              </p:ext>
            </p:extLst>
          </p:nvPr>
        </p:nvGraphicFramePr>
        <p:xfrm>
          <a:off x="9277502" y="2895905"/>
          <a:ext cx="1743761" cy="1848002"/>
        </p:xfrm>
        <a:graphic>
          <a:graphicData uri="http://schemas.openxmlformats.org/drawingml/2006/table">
            <a:tbl>
              <a:tblPr/>
              <a:tblGrid>
                <a:gridCol w="609905"/>
                <a:gridCol w="224942"/>
                <a:gridCol w="224942"/>
                <a:gridCol w="224942"/>
                <a:gridCol w="224942"/>
              </a:tblGrid>
              <a:tr h="369600">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8.5</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3F6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8.6</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44F7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D5F9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8.6</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44F7B"/>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8.5</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3F60"/>
                    </a:solidFill>
                  </a:tcPr>
                </a:tc>
              </a:tr>
              <a:tr h="369600">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8.6</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44F7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D5F9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8.8</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76FAA"/>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D5F9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8.6</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44F7B"/>
                    </a:solidFill>
                  </a:tcPr>
                </a:tc>
              </a:tr>
              <a:tr h="369600">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D5F9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8.8</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76FAA"/>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9.0</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427FBE"/>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8.8</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76FAA"/>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D5F90"/>
                    </a:solidFill>
                  </a:tcPr>
                </a:tc>
              </a:tr>
              <a:tr h="369600">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8.6</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44F7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D5F9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8.9</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76FAA"/>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8.8</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D5F9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44F7B"/>
                    </a:solidFill>
                  </a:tcPr>
                </a:tc>
              </a:tr>
              <a:tr h="369600">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8.5</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3F6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44F7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8.8</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D5F9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244F7B"/>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8.5</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B3F60"/>
                    </a:solidFill>
                  </a:tcPr>
                </a:tc>
              </a:tr>
            </a:tbl>
          </a:graphicData>
        </a:graphic>
      </p:graphicFrame>
      <p:sp>
        <p:nvSpPr>
          <p:cNvPr id="23" name="Text 17"/>
          <p:cNvSpPr txBox="1"/>
          <p:nvPr/>
        </p:nvSpPr>
        <p:spPr>
          <a:xfrm>
            <a:off x="13373100" y="2095805"/>
            <a:ext cx="428854" cy="219456"/>
          </a:xfrm>
          <a:prstGeom prst="rect">
            <a:avLst/>
          </a:prstGeom>
          <a:solidFill>
            <a:srgbClr val="F59E0B">
              <a:alpha val="16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F59E0B"/>
                </a:solidFill>
                <a:latin typeface="Inter" pitchFamily="34" charset="0"/>
                <a:ea typeface="Inter" pitchFamily="34" charset="-122"/>
                <a:cs typeface="Inter" pitchFamily="34" charset="-120"/>
              </a:rPr>
              <a:t>W4</a:t>
            </a:r>
            <a:endParaRPr lang="en-US" sz="900" dirty="0"/>
          </a:p>
        </p:txBody>
      </p:sp>
      <p:sp>
        <p:nvSpPr>
          <p:cNvPr id="24" name="Text 18"/>
          <p:cNvSpPr txBox="1"/>
          <p:nvPr/>
        </p:nvSpPr>
        <p:spPr>
          <a:xfrm>
            <a:off x="13892479" y="2109521"/>
            <a:ext cx="1337767" cy="191110"/>
          </a:xfrm>
          <a:prstGeom prst="rect">
            <a:avLst/>
          </a:prstGeom>
          <a:noFill/>
          <a:ln/>
        </p:spPr>
        <p:txBody>
          <a:bodyPr wrap="none" lIns="0" tIns="0" rIns="0" bIns="0" rtlCol="0" anchor="ctr"/>
          <a:lstStyle/>
          <a:p>
            <a:pPr algn="l" indent="0" marL="0">
              <a:buNone/>
            </a:pPr>
            <a:r>
              <a:rPr lang="en-US" sz="1200" dirty="0">
                <a:solidFill>
                  <a:srgbClr val="C2CCE0"/>
                </a:solidFill>
                <a:latin typeface="Inter" pitchFamily="34" charset="0"/>
                <a:ea typeface="Inter" pitchFamily="34" charset="-122"/>
                <a:cs typeface="Inter" pitchFamily="34" charset="-120"/>
              </a:rPr>
              <a:t>Air Gap · Split B</a:t>
            </a:r>
            <a:endParaRPr lang="en-US" sz="1200" dirty="0"/>
          </a:p>
        </p:txBody>
      </p:sp>
      <p:sp>
        <p:nvSpPr>
          <p:cNvPr id="25" name="Text 19"/>
          <p:cNvSpPr txBox="1"/>
          <p:nvPr/>
        </p:nvSpPr>
        <p:spPr>
          <a:xfrm>
            <a:off x="13373100" y="2391156"/>
            <a:ext cx="3810305" cy="171907"/>
          </a:xfrm>
          <a:prstGeom prst="rect">
            <a:avLst/>
          </a:prstGeom>
          <a:noFill/>
          <a:ln/>
        </p:spPr>
        <p:txBody>
          <a:bodyPr wrap="none" lIns="0" tIns="0" rIns="0" bIns="0" rtlCol="0" anchor="ctr"/>
          <a:lstStyle/>
          <a:p>
            <a:pPr algn="l" indent="0" marL="0">
              <a:buNone/>
            </a:pPr>
            <a:r>
              <a:rPr lang="en-US" sz="1050" dirty="0">
                <a:solidFill>
                  <a:srgbClr val="7E8DA6"/>
                </a:solidFill>
                <a:latin typeface="JetBrains Mono" pitchFamily="34" charset="0"/>
                <a:ea typeface="JetBrains Mono" pitchFamily="34" charset="-122"/>
                <a:cs typeface="JetBrains Mono" pitchFamily="34" charset="-120"/>
              </a:rPr>
              <a:t>mean 8.30 · 3σ 0.62 · range 1.6</a:t>
            </a:r>
            <a:endParaRPr lang="en-US" sz="1050" dirty="0"/>
          </a:p>
        </p:txBody>
      </p:sp>
      <p:graphicFrame>
        <p:nvGraphicFramePr>
          <p:cNvPr id="17" name="Table 3"/>
          <p:cNvGraphicFramePr>
            <a:graphicFrameLocks noGrp="1"/>
          </p:cNvGraphicFramePr>
          <p:nvPr>
            <p:extLst>
              <p:ext uri="{D42A27DB-BD31-4B8C-83A1-F6EECF244321}">
                <p14:modId xmlns:p14="http://schemas.microsoft.com/office/powerpoint/2010/main" val="1579011935"/>
              </p:ext>
            </p:extLst>
          </p:nvPr>
        </p:nvGraphicFramePr>
        <p:xfrm>
          <a:off x="13373100" y="2895905"/>
          <a:ext cx="1819656" cy="1848002"/>
        </p:xfrm>
        <a:graphic>
          <a:graphicData uri="http://schemas.openxmlformats.org/drawingml/2006/table">
            <a:tbl>
              <a:tblPr/>
              <a:tblGrid>
                <a:gridCol w="685800"/>
                <a:gridCol w="224942"/>
                <a:gridCol w="224942"/>
                <a:gridCol w="224942"/>
                <a:gridCol w="224942"/>
              </a:tblGrid>
              <a:tr h="369600">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7.7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A2A0F"/>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7.8</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473516"/>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7.9</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7.8</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473516"/>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7.6</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A2A0F"/>
                    </a:solidFill>
                  </a:tcPr>
                </a:tc>
              </a:tr>
              <a:tr h="369600">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7.9</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473516"/>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8.1</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8.3</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6B502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8.2</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8.0</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473516"/>
                    </a:solidFill>
                  </a:tcPr>
                </a:tc>
              </a:tr>
              <a:tr h="369600">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8.2</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8.4</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6B502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8.7</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7F5F36"/>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8.4</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6B502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8.1</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r>
              <a:tr h="369600">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8.0</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8.2</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6B502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8.6</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7F5F36"/>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8.3</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6B502B"/>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8.0</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r>
              <a:tr h="369600">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7.8</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473516"/>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7.9</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c>
                  <a:txBody>
                    <a:bodyPr/>
                    <a:lstStyle/>
                    <a:p>
                      <a:pPr algn="ctr" indent="0" marL="0">
                        <a:buNone/>
                      </a:pPr>
                      <a:r>
                        <a:rPr lang="en-US" sz="900" dirty="0">
                          <a:solidFill>
                            <a:srgbClr val="ECF1F9"/>
                          </a:solidFill>
                          <a:latin typeface="JetBrains Mono" pitchFamily="34" charset="0"/>
                          <a:ea typeface="JetBrains Mono" pitchFamily="34" charset="-122"/>
                          <a:cs typeface="JetBrains Mono" pitchFamily="34" charset="-120"/>
                        </a:rPr>
                        <a:t>8.1</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574120"/>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7.9</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473516"/>
                    </a:solidFill>
                  </a:tcPr>
                </a:tc>
                <a:tc>
                  <a:txBody>
                    <a:bodyPr/>
                    <a:lstStyle/>
                    <a:p>
                      <a:pPr algn="ctr" indent="0" marL="0">
                        <a:buNone/>
                      </a:pPr>
                      <a:r>
                        <a:rPr lang="en-US" sz="900" dirty="0">
                          <a:solidFill>
                            <a:srgbClr val="C2CCE0"/>
                          </a:solidFill>
                          <a:latin typeface="JetBrains Mono" pitchFamily="34" charset="0"/>
                          <a:ea typeface="JetBrains Mono" pitchFamily="34" charset="-122"/>
                          <a:cs typeface="JetBrains Mono" pitchFamily="34" charset="-120"/>
                        </a:rPr>
                        <a:t>7.5</a:t>
                      </a:r>
                      <a:endParaRPr lang="en-US" sz="900" dirty="0">
                        <a:latin typeface="JetBrains Mono" charset="0"/>
                        <a:ea typeface="JetBrains Mono" charset="0"/>
                        <a:cs typeface="JetBrains Mono" charset="0"/>
                      </a:endParaRPr>
                    </a:p>
                  </a:txBody>
                  <a:tcPr marL="9144" marR="9144" marT="9144" marB="9144"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A2A0F"/>
                    </a:solidFill>
                  </a:tcPr>
                </a:tc>
              </a:tr>
            </a:tbl>
          </a:graphicData>
        </a:graphic>
      </p:graphicFrame>
      <p:sp>
        <p:nvSpPr>
          <p:cNvPr id="27" name="Text 20"/>
          <p:cNvSpPr txBox="1"/>
          <p:nvPr/>
        </p:nvSpPr>
        <p:spPr>
          <a:xfrm>
            <a:off x="1143000" y="5524805"/>
            <a:ext cx="5715000" cy="133502"/>
          </a:xfrm>
          <a:prstGeom prst="rect">
            <a:avLst/>
          </a:prstGeom>
          <a:noFill/>
          <a:ln/>
        </p:spPr>
        <p:txBody>
          <a:bodyPr wrap="none" lIns="0" tIns="0" rIns="0" bIns="0" rtlCol="0" anchor="ctr"/>
          <a:lstStyle/>
          <a:p>
            <a:pPr algn="l" indent="0" marL="0">
              <a:buNone/>
            </a:pPr>
            <a:r>
              <a:rPr lang="en-US" sz="825" spc="247" kern="0" dirty="0">
                <a:solidFill>
                  <a:srgbClr val="7E8DA6"/>
                </a:solidFill>
                <a:latin typeface="Inter" pitchFamily="34" charset="0"/>
                <a:ea typeface="Inter" pitchFamily="34" charset="-122"/>
                <a:cs typeface="Inter" pitchFamily="34" charset="-120"/>
              </a:rPr>
              <a:t>UNIFORMITY SUMMARY · AMI 25pt</a:t>
            </a:r>
            <a:endParaRPr lang="en-US" sz="825" dirty="0"/>
          </a:p>
        </p:txBody>
      </p:sp>
      <p:sp>
        <p:nvSpPr>
          <p:cNvPr id="28" name="Shape 21"/>
          <p:cNvSpPr/>
          <p:nvPr/>
        </p:nvSpPr>
        <p:spPr>
          <a:xfrm>
            <a:off x="1143000" y="5905195"/>
            <a:ext cx="16002000" cy="609905"/>
          </a:xfrm>
          <a:prstGeom prst="rect">
            <a:avLst/>
          </a:prstGeom>
          <a:solidFill>
            <a:srgbClr val="182642"/>
          </a:solidFill>
          <a:ln w="12700">
            <a:solidFill>
              <a:srgbClr val="FFFFFF">
                <a:alpha val="0"/>
              </a:srgbClr>
            </a:solidFill>
            <a:prstDash val="solid"/>
          </a:ln>
        </p:spPr>
      </p:sp>
      <p:sp>
        <p:nvSpPr>
          <p:cNvPr id="29" name="Shape 22"/>
          <p:cNvSpPr/>
          <p:nvPr/>
        </p:nvSpPr>
        <p:spPr>
          <a:xfrm>
            <a:off x="1143000" y="6505956"/>
            <a:ext cx="1143000" cy="9144"/>
          </a:xfrm>
          <a:prstGeom prst="rect">
            <a:avLst/>
          </a:prstGeom>
          <a:solidFill>
            <a:srgbClr val="2A3B57"/>
          </a:solidFill>
          <a:ln w="12700">
            <a:solidFill>
              <a:srgbClr val="2A3B57">
                <a:alpha val="0"/>
              </a:srgbClr>
            </a:solidFill>
            <a:prstDash val="solid"/>
          </a:ln>
        </p:spPr>
      </p:sp>
      <p:sp>
        <p:nvSpPr>
          <p:cNvPr id="30" name="Text 23"/>
          <p:cNvSpPr txBox="1"/>
          <p:nvPr/>
        </p:nvSpPr>
        <p:spPr>
          <a:xfrm>
            <a:off x="1143000" y="5905195"/>
            <a:ext cx="1143000" cy="505663"/>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l" indent="0" marL="0">
              <a:buNone/>
            </a:pPr>
            <a:r>
              <a:rPr lang="en-US" sz="900" b="1" spc="180" kern="0" dirty="0">
                <a:solidFill>
                  <a:srgbClr val="7E8DA6"/>
                </a:solidFill>
                <a:latin typeface="Inter" pitchFamily="34" charset="0"/>
                <a:ea typeface="Inter" pitchFamily="34" charset="-122"/>
                <a:cs typeface="Inter" pitchFamily="34" charset="-120"/>
              </a:rPr>
              <a:t>WAFER</a:t>
            </a:r>
            <a:endParaRPr lang="en-US" sz="900" dirty="0"/>
          </a:p>
        </p:txBody>
      </p:sp>
      <p:sp>
        <p:nvSpPr>
          <p:cNvPr id="31" name="Shape 24"/>
          <p:cNvSpPr/>
          <p:nvPr/>
        </p:nvSpPr>
        <p:spPr>
          <a:xfrm>
            <a:off x="2286000" y="6505956"/>
            <a:ext cx="1904695" cy="9144"/>
          </a:xfrm>
          <a:prstGeom prst="rect">
            <a:avLst/>
          </a:prstGeom>
          <a:solidFill>
            <a:srgbClr val="2A3B57"/>
          </a:solidFill>
          <a:ln w="12700">
            <a:solidFill>
              <a:srgbClr val="2A3B57">
                <a:alpha val="0"/>
              </a:srgbClr>
            </a:solidFill>
            <a:prstDash val="solid"/>
          </a:ln>
        </p:spPr>
      </p:sp>
      <p:sp>
        <p:nvSpPr>
          <p:cNvPr id="32" name="Text 25"/>
          <p:cNvSpPr txBox="1"/>
          <p:nvPr/>
        </p:nvSpPr>
        <p:spPr>
          <a:xfrm>
            <a:off x="2286000" y="5905195"/>
            <a:ext cx="1905610" cy="505663"/>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l" indent="0" marL="0">
              <a:buNone/>
            </a:pPr>
            <a:r>
              <a:rPr lang="en-US" sz="900" b="1" spc="180" kern="0" dirty="0">
                <a:solidFill>
                  <a:srgbClr val="7E8DA6"/>
                </a:solidFill>
                <a:latin typeface="Inter" pitchFamily="34" charset="0"/>
                <a:ea typeface="Inter" pitchFamily="34" charset="-122"/>
                <a:cs typeface="Inter" pitchFamily="34" charset="-120"/>
              </a:rPr>
              <a:t>SPLIT</a:t>
            </a:r>
            <a:endParaRPr lang="en-US" sz="900" dirty="0"/>
          </a:p>
        </p:txBody>
      </p:sp>
      <p:sp>
        <p:nvSpPr>
          <p:cNvPr id="33" name="Shape 26"/>
          <p:cNvSpPr/>
          <p:nvPr/>
        </p:nvSpPr>
        <p:spPr>
          <a:xfrm>
            <a:off x="4190695" y="6505956"/>
            <a:ext cx="1904695" cy="9144"/>
          </a:xfrm>
          <a:prstGeom prst="rect">
            <a:avLst/>
          </a:prstGeom>
          <a:solidFill>
            <a:srgbClr val="2A3B57"/>
          </a:solidFill>
          <a:ln w="12700">
            <a:solidFill>
              <a:srgbClr val="2A3B57">
                <a:alpha val="0"/>
              </a:srgbClr>
            </a:solidFill>
            <a:prstDash val="solid"/>
          </a:ln>
        </p:spPr>
      </p:sp>
      <p:sp>
        <p:nvSpPr>
          <p:cNvPr id="34" name="Text 27"/>
          <p:cNvSpPr txBox="1"/>
          <p:nvPr/>
        </p:nvSpPr>
        <p:spPr>
          <a:xfrm>
            <a:off x="4190695" y="5905195"/>
            <a:ext cx="1905610" cy="505663"/>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900" b="1" spc="180" kern="0" dirty="0">
                <a:solidFill>
                  <a:srgbClr val="7E8DA6"/>
                </a:solidFill>
                <a:latin typeface="Inter" pitchFamily="34" charset="0"/>
                <a:ea typeface="Inter" pitchFamily="34" charset="-122"/>
                <a:cs typeface="Inter" pitchFamily="34" charset="-120"/>
              </a:rPr>
              <a:t>MEAN (nm)</a:t>
            </a:r>
            <a:endParaRPr lang="en-US" sz="900" dirty="0"/>
          </a:p>
        </p:txBody>
      </p:sp>
      <p:sp>
        <p:nvSpPr>
          <p:cNvPr id="35" name="Shape 28"/>
          <p:cNvSpPr/>
          <p:nvPr/>
        </p:nvSpPr>
        <p:spPr>
          <a:xfrm>
            <a:off x="6096305" y="6505956"/>
            <a:ext cx="1904695" cy="9144"/>
          </a:xfrm>
          <a:prstGeom prst="rect">
            <a:avLst/>
          </a:prstGeom>
          <a:solidFill>
            <a:srgbClr val="2A3B57"/>
          </a:solidFill>
          <a:ln w="12700">
            <a:solidFill>
              <a:srgbClr val="2A3B57">
                <a:alpha val="0"/>
              </a:srgbClr>
            </a:solidFill>
            <a:prstDash val="solid"/>
          </a:ln>
        </p:spPr>
      </p:sp>
      <p:sp>
        <p:nvSpPr>
          <p:cNvPr id="36" name="Text 29"/>
          <p:cNvSpPr txBox="1"/>
          <p:nvPr/>
        </p:nvSpPr>
        <p:spPr>
          <a:xfrm>
            <a:off x="6096305" y="5905195"/>
            <a:ext cx="1905610" cy="505663"/>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900" b="1" spc="180" kern="0" dirty="0">
                <a:solidFill>
                  <a:srgbClr val="7E8DA6"/>
                </a:solidFill>
                <a:latin typeface="Inter" pitchFamily="34" charset="0"/>
                <a:ea typeface="Inter" pitchFamily="34" charset="-122"/>
                <a:cs typeface="Inter" pitchFamily="34" charset="-120"/>
              </a:rPr>
              <a:t>MIN</a:t>
            </a:r>
            <a:endParaRPr lang="en-US" sz="900" dirty="0"/>
          </a:p>
        </p:txBody>
      </p:sp>
      <p:sp>
        <p:nvSpPr>
          <p:cNvPr id="37" name="Shape 30"/>
          <p:cNvSpPr/>
          <p:nvPr/>
        </p:nvSpPr>
        <p:spPr>
          <a:xfrm>
            <a:off x="8001000" y="6505956"/>
            <a:ext cx="1904695" cy="9144"/>
          </a:xfrm>
          <a:prstGeom prst="rect">
            <a:avLst/>
          </a:prstGeom>
          <a:solidFill>
            <a:srgbClr val="2A3B57"/>
          </a:solidFill>
          <a:ln w="12700">
            <a:solidFill>
              <a:srgbClr val="2A3B57">
                <a:alpha val="0"/>
              </a:srgbClr>
            </a:solidFill>
            <a:prstDash val="solid"/>
          </a:ln>
        </p:spPr>
      </p:sp>
      <p:sp>
        <p:nvSpPr>
          <p:cNvPr id="38" name="Text 31"/>
          <p:cNvSpPr txBox="1"/>
          <p:nvPr/>
        </p:nvSpPr>
        <p:spPr>
          <a:xfrm>
            <a:off x="8001000" y="5905195"/>
            <a:ext cx="1905610" cy="505663"/>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900" b="1" spc="180" kern="0" dirty="0">
                <a:solidFill>
                  <a:srgbClr val="7E8DA6"/>
                </a:solidFill>
                <a:latin typeface="Inter" pitchFamily="34" charset="0"/>
                <a:ea typeface="Inter" pitchFamily="34" charset="-122"/>
                <a:cs typeface="Inter" pitchFamily="34" charset="-120"/>
              </a:rPr>
              <a:t>MAX</a:t>
            </a:r>
            <a:endParaRPr lang="en-US" sz="900" dirty="0"/>
          </a:p>
        </p:txBody>
      </p:sp>
      <p:sp>
        <p:nvSpPr>
          <p:cNvPr id="39" name="Shape 32"/>
          <p:cNvSpPr/>
          <p:nvPr/>
        </p:nvSpPr>
        <p:spPr>
          <a:xfrm>
            <a:off x="9905695" y="6505956"/>
            <a:ext cx="1904695" cy="9144"/>
          </a:xfrm>
          <a:prstGeom prst="rect">
            <a:avLst/>
          </a:prstGeom>
          <a:solidFill>
            <a:srgbClr val="2A3B57"/>
          </a:solidFill>
          <a:ln w="12700">
            <a:solidFill>
              <a:srgbClr val="2A3B57">
                <a:alpha val="0"/>
              </a:srgbClr>
            </a:solidFill>
            <a:prstDash val="solid"/>
          </a:ln>
        </p:spPr>
      </p:sp>
      <p:sp>
        <p:nvSpPr>
          <p:cNvPr id="40" name="Text 33"/>
          <p:cNvSpPr txBox="1"/>
          <p:nvPr/>
        </p:nvSpPr>
        <p:spPr>
          <a:xfrm>
            <a:off x="9905695" y="5905195"/>
            <a:ext cx="1905610" cy="505663"/>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900" b="1" spc="180" kern="0" dirty="0">
                <a:solidFill>
                  <a:srgbClr val="7E8DA6"/>
                </a:solidFill>
                <a:latin typeface="Inter" pitchFamily="34" charset="0"/>
                <a:ea typeface="Inter" pitchFamily="34" charset="-122"/>
                <a:cs typeface="Inter" pitchFamily="34" charset="-120"/>
              </a:rPr>
              <a:t>3σ</a:t>
            </a:r>
            <a:endParaRPr lang="en-US" sz="900" dirty="0"/>
          </a:p>
        </p:txBody>
      </p:sp>
      <p:sp>
        <p:nvSpPr>
          <p:cNvPr id="41" name="Shape 34"/>
          <p:cNvSpPr/>
          <p:nvPr/>
        </p:nvSpPr>
        <p:spPr>
          <a:xfrm>
            <a:off x="11811305" y="6505956"/>
            <a:ext cx="1904695" cy="9144"/>
          </a:xfrm>
          <a:prstGeom prst="rect">
            <a:avLst/>
          </a:prstGeom>
          <a:solidFill>
            <a:srgbClr val="2A3B57"/>
          </a:solidFill>
          <a:ln w="12700">
            <a:solidFill>
              <a:srgbClr val="2A3B57">
                <a:alpha val="0"/>
              </a:srgbClr>
            </a:solidFill>
            <a:prstDash val="solid"/>
          </a:ln>
        </p:spPr>
      </p:sp>
      <p:sp>
        <p:nvSpPr>
          <p:cNvPr id="42" name="Text 35"/>
          <p:cNvSpPr txBox="1"/>
          <p:nvPr/>
        </p:nvSpPr>
        <p:spPr>
          <a:xfrm>
            <a:off x="11811305" y="5905195"/>
            <a:ext cx="1905610" cy="505663"/>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900" b="1" spc="180" kern="0" dirty="0">
                <a:solidFill>
                  <a:srgbClr val="7E8DA6"/>
                </a:solidFill>
                <a:latin typeface="Inter" pitchFamily="34" charset="0"/>
                <a:ea typeface="Inter" pitchFamily="34" charset="-122"/>
                <a:cs typeface="Inter" pitchFamily="34" charset="-120"/>
              </a:rPr>
              <a:t>RANGE</a:t>
            </a:r>
            <a:endParaRPr lang="en-US" sz="900" dirty="0"/>
          </a:p>
        </p:txBody>
      </p:sp>
      <p:sp>
        <p:nvSpPr>
          <p:cNvPr id="43" name="Shape 36"/>
          <p:cNvSpPr/>
          <p:nvPr/>
        </p:nvSpPr>
        <p:spPr>
          <a:xfrm>
            <a:off x="13716000" y="6505956"/>
            <a:ext cx="1904695" cy="9144"/>
          </a:xfrm>
          <a:prstGeom prst="rect">
            <a:avLst/>
          </a:prstGeom>
          <a:solidFill>
            <a:srgbClr val="2A3B57"/>
          </a:solidFill>
          <a:ln w="12700">
            <a:solidFill>
              <a:srgbClr val="2A3B57">
                <a:alpha val="0"/>
              </a:srgbClr>
            </a:solidFill>
            <a:prstDash val="solid"/>
          </a:ln>
        </p:spPr>
      </p:sp>
      <p:sp>
        <p:nvSpPr>
          <p:cNvPr id="44" name="Text 37"/>
          <p:cNvSpPr txBox="1"/>
          <p:nvPr/>
        </p:nvSpPr>
        <p:spPr>
          <a:xfrm>
            <a:off x="13716000" y="5905195"/>
            <a:ext cx="1905610" cy="505663"/>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900" b="1" spc="180" kern="0" dirty="0">
                <a:solidFill>
                  <a:srgbClr val="7E8DA6"/>
                </a:solidFill>
                <a:latin typeface="Inter" pitchFamily="34" charset="0"/>
                <a:ea typeface="Inter" pitchFamily="34" charset="-122"/>
                <a:cs typeface="Inter" pitchFamily="34" charset="-120"/>
              </a:rPr>
              <a:t>Δ vs TGT</a:t>
            </a:r>
            <a:endParaRPr lang="en-US" sz="900" dirty="0"/>
          </a:p>
        </p:txBody>
      </p:sp>
      <p:sp>
        <p:nvSpPr>
          <p:cNvPr id="45" name="Shape 38"/>
          <p:cNvSpPr/>
          <p:nvPr/>
        </p:nvSpPr>
        <p:spPr>
          <a:xfrm>
            <a:off x="15620695" y="6505956"/>
            <a:ext cx="1524305" cy="9144"/>
          </a:xfrm>
          <a:prstGeom prst="rect">
            <a:avLst/>
          </a:prstGeom>
          <a:solidFill>
            <a:srgbClr val="2A3B57"/>
          </a:solidFill>
          <a:ln w="12700">
            <a:solidFill>
              <a:srgbClr val="2A3B57">
                <a:alpha val="0"/>
              </a:srgbClr>
            </a:solidFill>
            <a:prstDash val="solid"/>
          </a:ln>
        </p:spPr>
      </p:sp>
      <p:sp>
        <p:nvSpPr>
          <p:cNvPr id="46" name="Text 39"/>
          <p:cNvSpPr txBox="1"/>
          <p:nvPr/>
        </p:nvSpPr>
        <p:spPr>
          <a:xfrm>
            <a:off x="15620695" y="5905195"/>
            <a:ext cx="1524305" cy="505663"/>
          </a:xfrm>
          <a:prstGeom prst="rect">
            <a:avLst/>
          </a:prstGeom>
          <a:solidFill>
            <a:srgbClr val="FFFFFF">
              <a:alpha val="0"/>
            </a:srgbClr>
          </a:solidFill>
          <a:ln>
            <a:solidFill>
              <a:srgbClr val="FFFFFF">
                <a:alpha val="0"/>
              </a:srgbClr>
            </a:solidFill>
          </a:ln>
        </p:spPr>
        <p:txBody>
          <a:bodyPr wrap="square" lIns="139700" tIns="101600" rIns="139700" bIns="0" rtlCol="0" anchor="ctr"/>
          <a:lstStyle/>
          <a:p>
            <a:pPr algn="r" indent="0" marL="0">
              <a:buNone/>
            </a:pPr>
            <a:r>
              <a:rPr lang="en-US" sz="900" b="1" spc="180" kern="0" dirty="0">
                <a:solidFill>
                  <a:srgbClr val="7E8DA6"/>
                </a:solidFill>
                <a:latin typeface="Inter" pitchFamily="34" charset="0"/>
                <a:ea typeface="Inter" pitchFamily="34" charset="-122"/>
                <a:cs typeface="Inter" pitchFamily="34" charset="-120"/>
              </a:rPr>
              <a:t>FLAG</a:t>
            </a:r>
            <a:endParaRPr lang="en-US" sz="900" dirty="0"/>
          </a:p>
        </p:txBody>
      </p:sp>
      <p:sp>
        <p:nvSpPr>
          <p:cNvPr id="47" name="Shape 40"/>
          <p:cNvSpPr/>
          <p:nvPr/>
        </p:nvSpPr>
        <p:spPr>
          <a:xfrm>
            <a:off x="1143000" y="7344461"/>
            <a:ext cx="16002000" cy="9144"/>
          </a:xfrm>
          <a:prstGeom prst="rect">
            <a:avLst/>
          </a:prstGeom>
          <a:solidFill>
            <a:srgbClr val="2A3B57"/>
          </a:solidFill>
          <a:ln w="12700">
            <a:solidFill>
              <a:srgbClr val="2A3B57">
                <a:alpha val="0"/>
              </a:srgbClr>
            </a:solidFill>
            <a:prstDash val="solid"/>
          </a:ln>
        </p:spPr>
      </p:sp>
      <p:sp>
        <p:nvSpPr>
          <p:cNvPr id="48" name="Text 41"/>
          <p:cNvSpPr txBox="1"/>
          <p:nvPr/>
        </p:nvSpPr>
        <p:spPr>
          <a:xfrm>
            <a:off x="1143000" y="6515100"/>
            <a:ext cx="1143000" cy="838505"/>
          </a:xfrm>
          <a:prstGeom prst="rect">
            <a:avLst/>
          </a:prstGeom>
          <a:noFill/>
          <a:ln/>
        </p:spPr>
        <p:txBody>
          <a:bodyPr wrap="square" lIns="0" tIns="0" rIns="0" bIns="0" rtlCol="0" anchor="ctr"/>
          <a:lstStyle/>
          <a:p>
            <a:pPr algn="l" indent="0" marL="0">
              <a:buNone/>
            </a:pPr>
            <a:r>
              <a:rPr lang="en-US" sz="1800" b="1" dirty="0">
                <a:solidFill>
                  <a:srgbClr val="ECF1F9"/>
                </a:solidFill>
                <a:latin typeface="JetBrains Mono" pitchFamily="34" charset="0"/>
                <a:ea typeface="JetBrains Mono" pitchFamily="34" charset="-122"/>
                <a:cs typeface="JetBrains Mono" pitchFamily="34" charset="-120"/>
              </a:rPr>
              <a:t>W1</a:t>
            </a:r>
            <a:endParaRPr lang="en-US" sz="1800" dirty="0"/>
          </a:p>
        </p:txBody>
      </p:sp>
      <p:sp>
        <p:nvSpPr>
          <p:cNvPr id="49" name="Text 42"/>
          <p:cNvSpPr txBox="1"/>
          <p:nvPr/>
        </p:nvSpPr>
        <p:spPr>
          <a:xfrm>
            <a:off x="4190695" y="6515100"/>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8.71</a:t>
            </a:r>
            <a:endParaRPr lang="en-US" sz="1650" dirty="0"/>
          </a:p>
        </p:txBody>
      </p:sp>
      <p:sp>
        <p:nvSpPr>
          <p:cNvPr id="50" name="Text 43"/>
          <p:cNvSpPr txBox="1"/>
          <p:nvPr/>
        </p:nvSpPr>
        <p:spPr>
          <a:xfrm>
            <a:off x="6096305" y="6515100"/>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8.3</a:t>
            </a:r>
            <a:endParaRPr lang="en-US" sz="1650" dirty="0"/>
          </a:p>
        </p:txBody>
      </p:sp>
      <p:sp>
        <p:nvSpPr>
          <p:cNvPr id="51" name="Text 44"/>
          <p:cNvSpPr txBox="1"/>
          <p:nvPr/>
        </p:nvSpPr>
        <p:spPr>
          <a:xfrm>
            <a:off x="8001000" y="6515100"/>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8.8</a:t>
            </a:r>
            <a:endParaRPr lang="en-US" sz="1650" dirty="0"/>
          </a:p>
        </p:txBody>
      </p:sp>
      <p:sp>
        <p:nvSpPr>
          <p:cNvPr id="52" name="Text 45"/>
          <p:cNvSpPr txBox="1"/>
          <p:nvPr/>
        </p:nvSpPr>
        <p:spPr>
          <a:xfrm>
            <a:off x="9905695" y="6515100"/>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0.41</a:t>
            </a:r>
            <a:endParaRPr lang="en-US" sz="1650" dirty="0"/>
          </a:p>
        </p:txBody>
      </p:sp>
      <p:sp>
        <p:nvSpPr>
          <p:cNvPr id="53" name="Text 46"/>
          <p:cNvSpPr txBox="1"/>
          <p:nvPr/>
        </p:nvSpPr>
        <p:spPr>
          <a:xfrm>
            <a:off x="11811305" y="6515100"/>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1.1</a:t>
            </a:r>
            <a:endParaRPr lang="en-US" sz="1650" dirty="0"/>
          </a:p>
        </p:txBody>
      </p:sp>
      <p:sp>
        <p:nvSpPr>
          <p:cNvPr id="54" name="Text 47"/>
          <p:cNvSpPr txBox="1"/>
          <p:nvPr/>
        </p:nvSpPr>
        <p:spPr>
          <a:xfrm>
            <a:off x="13716000" y="6515100"/>
            <a:ext cx="1905610" cy="838505"/>
          </a:xfrm>
          <a:prstGeom prst="rect">
            <a:avLst/>
          </a:prstGeom>
          <a:noFill/>
          <a:ln/>
        </p:spPr>
        <p:txBody>
          <a:bodyPr wrap="square" lIns="0" tIns="0" rIns="0" bIns="0" rtlCol="0" anchor="ctr"/>
          <a:lstStyle/>
          <a:p>
            <a:pPr algn="r" indent="0" marL="0">
              <a:buNone/>
            </a:pPr>
            <a:r>
              <a:rPr lang="en-US" sz="1650" dirty="0">
                <a:solidFill>
                  <a:srgbClr val="22C55E"/>
                </a:solidFill>
                <a:latin typeface="JetBrains Mono" pitchFamily="34" charset="0"/>
                <a:ea typeface="JetBrains Mono" pitchFamily="34" charset="-122"/>
                <a:cs typeface="JetBrains Mono" pitchFamily="34" charset="-120"/>
              </a:rPr>
              <a:t>−0.09</a:t>
            </a:r>
            <a:endParaRPr lang="en-US" sz="1650" dirty="0"/>
          </a:p>
        </p:txBody>
      </p:sp>
      <p:sp>
        <p:nvSpPr>
          <p:cNvPr id="55" name="Text 48"/>
          <p:cNvSpPr txBox="1"/>
          <p:nvPr/>
        </p:nvSpPr>
        <p:spPr>
          <a:xfrm>
            <a:off x="15620695" y="6515100"/>
            <a:ext cx="1524305" cy="838505"/>
          </a:xfrm>
          <a:prstGeom prst="rect">
            <a:avLst/>
          </a:prstGeom>
          <a:noFill/>
          <a:ln/>
        </p:spPr>
        <p:txBody>
          <a:bodyPr wrap="square" lIns="0" tIns="0" rIns="0" bIns="0" rtlCol="0" anchor="ctr"/>
          <a:lstStyle/>
          <a:p>
            <a:pPr algn="r" indent="0" marL="0">
              <a:buNone/>
            </a:pPr>
            <a:r>
              <a:rPr lang="en-US" sz="1050" dirty="0">
                <a:solidFill>
                  <a:srgbClr val="7E8DA6"/>
                </a:solidFill>
                <a:latin typeface="Inter" pitchFamily="34" charset="0"/>
                <a:ea typeface="Inter" pitchFamily="34" charset="-122"/>
                <a:cs typeface="Inter" pitchFamily="34" charset="-120"/>
              </a:rPr>
              <a:t>baseline</a:t>
            </a:r>
            <a:endParaRPr lang="en-US" sz="1050" dirty="0"/>
          </a:p>
        </p:txBody>
      </p:sp>
      <p:sp>
        <p:nvSpPr>
          <p:cNvPr id="56" name="Shape 49"/>
          <p:cNvSpPr/>
          <p:nvPr/>
        </p:nvSpPr>
        <p:spPr>
          <a:xfrm>
            <a:off x="1143000" y="8182966"/>
            <a:ext cx="16002000" cy="9144"/>
          </a:xfrm>
          <a:prstGeom prst="rect">
            <a:avLst/>
          </a:prstGeom>
          <a:solidFill>
            <a:srgbClr val="2A3B57"/>
          </a:solidFill>
          <a:ln w="12700">
            <a:solidFill>
              <a:srgbClr val="2A3B57">
                <a:alpha val="0"/>
              </a:srgbClr>
            </a:solidFill>
            <a:prstDash val="solid"/>
          </a:ln>
        </p:spPr>
      </p:sp>
      <p:sp>
        <p:nvSpPr>
          <p:cNvPr id="57" name="Text 50"/>
          <p:cNvSpPr txBox="1"/>
          <p:nvPr/>
        </p:nvSpPr>
        <p:spPr>
          <a:xfrm>
            <a:off x="1143000" y="7353605"/>
            <a:ext cx="1143000" cy="838505"/>
          </a:xfrm>
          <a:prstGeom prst="rect">
            <a:avLst/>
          </a:prstGeom>
          <a:noFill/>
          <a:ln/>
        </p:spPr>
        <p:txBody>
          <a:bodyPr wrap="square" lIns="0" tIns="0" rIns="0" bIns="0" rtlCol="0" anchor="ctr"/>
          <a:lstStyle/>
          <a:p>
            <a:pPr algn="l" indent="0" marL="0">
              <a:buNone/>
            </a:pPr>
            <a:r>
              <a:rPr lang="en-US" sz="1800" b="1" dirty="0">
                <a:solidFill>
                  <a:srgbClr val="ECF1F9"/>
                </a:solidFill>
                <a:latin typeface="JetBrains Mono" pitchFamily="34" charset="0"/>
                <a:ea typeface="JetBrains Mono" pitchFamily="34" charset="-122"/>
                <a:cs typeface="JetBrains Mono" pitchFamily="34" charset="-120"/>
              </a:rPr>
              <a:t>W2</a:t>
            </a:r>
            <a:endParaRPr lang="en-US" sz="1800" dirty="0"/>
          </a:p>
        </p:txBody>
      </p:sp>
      <p:sp>
        <p:nvSpPr>
          <p:cNvPr id="58" name="Text 51"/>
          <p:cNvSpPr txBox="1"/>
          <p:nvPr/>
        </p:nvSpPr>
        <p:spPr>
          <a:xfrm>
            <a:off x="4190695" y="7353605"/>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8.43</a:t>
            </a:r>
            <a:endParaRPr lang="en-US" sz="1650" dirty="0"/>
          </a:p>
        </p:txBody>
      </p:sp>
      <p:sp>
        <p:nvSpPr>
          <p:cNvPr id="59" name="Text 52"/>
          <p:cNvSpPr txBox="1"/>
          <p:nvPr/>
        </p:nvSpPr>
        <p:spPr>
          <a:xfrm>
            <a:off x="6096305" y="7353605"/>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7.8</a:t>
            </a:r>
            <a:endParaRPr lang="en-US" sz="1650" dirty="0"/>
          </a:p>
        </p:txBody>
      </p:sp>
      <p:sp>
        <p:nvSpPr>
          <p:cNvPr id="60" name="Text 53"/>
          <p:cNvSpPr txBox="1"/>
          <p:nvPr/>
        </p:nvSpPr>
        <p:spPr>
          <a:xfrm>
            <a:off x="8001000" y="7353605"/>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9.0</a:t>
            </a:r>
            <a:endParaRPr lang="en-US" sz="1650" dirty="0"/>
          </a:p>
        </p:txBody>
      </p:sp>
      <p:sp>
        <p:nvSpPr>
          <p:cNvPr id="61" name="Text 54"/>
          <p:cNvSpPr txBox="1"/>
          <p:nvPr/>
        </p:nvSpPr>
        <p:spPr>
          <a:xfrm>
            <a:off x="9905695" y="7353605"/>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0.55</a:t>
            </a:r>
            <a:endParaRPr lang="en-US" sz="1650" dirty="0"/>
          </a:p>
        </p:txBody>
      </p:sp>
      <p:sp>
        <p:nvSpPr>
          <p:cNvPr id="62" name="Text 55"/>
          <p:cNvSpPr txBox="1"/>
          <p:nvPr/>
        </p:nvSpPr>
        <p:spPr>
          <a:xfrm>
            <a:off x="11811305" y="7353605"/>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1.4</a:t>
            </a:r>
            <a:endParaRPr lang="en-US" sz="1650" dirty="0"/>
          </a:p>
        </p:txBody>
      </p:sp>
      <p:sp>
        <p:nvSpPr>
          <p:cNvPr id="63" name="Text 56"/>
          <p:cNvSpPr txBox="1"/>
          <p:nvPr/>
        </p:nvSpPr>
        <p:spPr>
          <a:xfrm>
            <a:off x="13716000" y="7353605"/>
            <a:ext cx="1905610" cy="838505"/>
          </a:xfrm>
          <a:prstGeom prst="rect">
            <a:avLst/>
          </a:prstGeom>
          <a:noFill/>
          <a:ln/>
        </p:spPr>
        <p:txBody>
          <a:bodyPr wrap="square" lIns="0" tIns="0" rIns="0" bIns="0" rtlCol="0" anchor="ctr"/>
          <a:lstStyle/>
          <a:p>
            <a:pPr algn="r" indent="0" marL="0">
              <a:buNone/>
            </a:pPr>
            <a:r>
              <a:rPr lang="en-US" sz="1650" dirty="0">
                <a:solidFill>
                  <a:srgbClr val="F87171"/>
                </a:solidFill>
                <a:latin typeface="JetBrains Mono" pitchFamily="34" charset="0"/>
                <a:ea typeface="JetBrains Mono" pitchFamily="34" charset="-122"/>
                <a:cs typeface="JetBrains Mono" pitchFamily="34" charset="-120"/>
              </a:rPr>
              <a:t>−0.37</a:t>
            </a:r>
            <a:endParaRPr lang="en-US" sz="1650" dirty="0"/>
          </a:p>
        </p:txBody>
      </p:sp>
      <p:sp>
        <p:nvSpPr>
          <p:cNvPr id="64" name="Text 57"/>
          <p:cNvSpPr txBox="1"/>
          <p:nvPr/>
        </p:nvSpPr>
        <p:spPr>
          <a:xfrm>
            <a:off x="15620695" y="7353605"/>
            <a:ext cx="1524305" cy="838505"/>
          </a:xfrm>
          <a:prstGeom prst="rect">
            <a:avLst/>
          </a:prstGeom>
          <a:noFill/>
          <a:ln/>
        </p:spPr>
        <p:txBody>
          <a:bodyPr wrap="square" lIns="0" tIns="0" rIns="0" bIns="0" rtlCol="0" anchor="ctr"/>
          <a:lstStyle/>
          <a:p>
            <a:pPr algn="r" indent="0" marL="0">
              <a:buNone/>
            </a:pPr>
            <a:r>
              <a:rPr lang="en-US" sz="1050" dirty="0">
                <a:solidFill>
                  <a:srgbClr val="7E8DA6"/>
                </a:solidFill>
                <a:latin typeface="Inter" pitchFamily="34" charset="0"/>
                <a:ea typeface="Inter" pitchFamily="34" charset="-122"/>
                <a:cs typeface="Inter" pitchFamily="34" charset="-120"/>
              </a:rPr>
              <a:t>edge-low</a:t>
            </a:r>
            <a:endParaRPr lang="en-US" sz="1050" dirty="0"/>
          </a:p>
        </p:txBody>
      </p:sp>
      <p:sp>
        <p:nvSpPr>
          <p:cNvPr id="65" name="Shape 58"/>
          <p:cNvSpPr/>
          <p:nvPr/>
        </p:nvSpPr>
        <p:spPr>
          <a:xfrm>
            <a:off x="1143000" y="9020556"/>
            <a:ext cx="16002000" cy="9144"/>
          </a:xfrm>
          <a:prstGeom prst="rect">
            <a:avLst/>
          </a:prstGeom>
          <a:solidFill>
            <a:srgbClr val="2A3B57"/>
          </a:solidFill>
          <a:ln w="12700">
            <a:solidFill>
              <a:srgbClr val="2A3B57">
                <a:alpha val="0"/>
              </a:srgbClr>
            </a:solidFill>
            <a:prstDash val="solid"/>
          </a:ln>
        </p:spPr>
      </p:sp>
      <p:sp>
        <p:nvSpPr>
          <p:cNvPr id="66" name="Text 59"/>
          <p:cNvSpPr txBox="1"/>
          <p:nvPr/>
        </p:nvSpPr>
        <p:spPr>
          <a:xfrm>
            <a:off x="1143000" y="8191195"/>
            <a:ext cx="1143000" cy="838505"/>
          </a:xfrm>
          <a:prstGeom prst="rect">
            <a:avLst/>
          </a:prstGeom>
          <a:noFill/>
          <a:ln/>
        </p:spPr>
        <p:txBody>
          <a:bodyPr wrap="square" lIns="0" tIns="0" rIns="0" bIns="0" rtlCol="0" anchor="ctr"/>
          <a:lstStyle/>
          <a:p>
            <a:pPr algn="l" indent="0" marL="0">
              <a:buNone/>
            </a:pPr>
            <a:r>
              <a:rPr lang="en-US" sz="1800" b="1" dirty="0">
                <a:solidFill>
                  <a:srgbClr val="ECF1F9"/>
                </a:solidFill>
                <a:latin typeface="JetBrains Mono" pitchFamily="34" charset="0"/>
                <a:ea typeface="JetBrains Mono" pitchFamily="34" charset="-122"/>
                <a:cs typeface="JetBrains Mono" pitchFamily="34" charset="-120"/>
              </a:rPr>
              <a:t>W3</a:t>
            </a:r>
            <a:endParaRPr lang="en-US" sz="1800" dirty="0"/>
          </a:p>
        </p:txBody>
      </p:sp>
      <p:sp>
        <p:nvSpPr>
          <p:cNvPr id="67" name="Text 60"/>
          <p:cNvSpPr txBox="1"/>
          <p:nvPr/>
        </p:nvSpPr>
        <p:spPr>
          <a:xfrm>
            <a:off x="4190695" y="8191195"/>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8.79</a:t>
            </a:r>
            <a:endParaRPr lang="en-US" sz="1650" dirty="0"/>
          </a:p>
        </p:txBody>
      </p:sp>
      <p:sp>
        <p:nvSpPr>
          <p:cNvPr id="68" name="Text 61"/>
          <p:cNvSpPr txBox="1"/>
          <p:nvPr/>
        </p:nvSpPr>
        <p:spPr>
          <a:xfrm>
            <a:off x="6096305" y="8191195"/>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8.5</a:t>
            </a:r>
            <a:endParaRPr lang="en-US" sz="1650" dirty="0"/>
          </a:p>
        </p:txBody>
      </p:sp>
      <p:sp>
        <p:nvSpPr>
          <p:cNvPr id="69" name="Text 62"/>
          <p:cNvSpPr txBox="1"/>
          <p:nvPr/>
        </p:nvSpPr>
        <p:spPr>
          <a:xfrm>
            <a:off x="8001000" y="8191195"/>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9.0</a:t>
            </a:r>
            <a:endParaRPr lang="en-US" sz="1650" dirty="0"/>
          </a:p>
        </p:txBody>
      </p:sp>
      <p:sp>
        <p:nvSpPr>
          <p:cNvPr id="70" name="Text 63"/>
          <p:cNvSpPr txBox="1"/>
          <p:nvPr/>
        </p:nvSpPr>
        <p:spPr>
          <a:xfrm>
            <a:off x="9905695" y="8191195"/>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0.32</a:t>
            </a:r>
            <a:endParaRPr lang="en-US" sz="1650" dirty="0"/>
          </a:p>
        </p:txBody>
      </p:sp>
      <p:sp>
        <p:nvSpPr>
          <p:cNvPr id="71" name="Text 64"/>
          <p:cNvSpPr txBox="1"/>
          <p:nvPr/>
        </p:nvSpPr>
        <p:spPr>
          <a:xfrm>
            <a:off x="11811305" y="8191195"/>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0.9</a:t>
            </a:r>
            <a:endParaRPr lang="en-US" sz="1650" dirty="0"/>
          </a:p>
        </p:txBody>
      </p:sp>
      <p:sp>
        <p:nvSpPr>
          <p:cNvPr id="72" name="Text 65"/>
          <p:cNvSpPr txBox="1"/>
          <p:nvPr/>
        </p:nvSpPr>
        <p:spPr>
          <a:xfrm>
            <a:off x="13716000" y="8191195"/>
            <a:ext cx="1905610" cy="838505"/>
          </a:xfrm>
          <a:prstGeom prst="rect">
            <a:avLst/>
          </a:prstGeom>
          <a:noFill/>
          <a:ln/>
        </p:spPr>
        <p:txBody>
          <a:bodyPr wrap="square" lIns="0" tIns="0" rIns="0" bIns="0" rtlCol="0" anchor="ctr"/>
          <a:lstStyle/>
          <a:p>
            <a:pPr algn="r" indent="0" marL="0">
              <a:buNone/>
            </a:pPr>
            <a:r>
              <a:rPr lang="en-US" sz="1650" dirty="0">
                <a:solidFill>
                  <a:srgbClr val="22C55E"/>
                </a:solidFill>
                <a:latin typeface="JetBrains Mono" pitchFamily="34" charset="0"/>
                <a:ea typeface="JetBrains Mono" pitchFamily="34" charset="-122"/>
                <a:cs typeface="JetBrains Mono" pitchFamily="34" charset="-120"/>
              </a:rPr>
              <a:t>−0.01</a:t>
            </a:r>
            <a:endParaRPr lang="en-US" sz="1650" dirty="0"/>
          </a:p>
        </p:txBody>
      </p:sp>
      <p:sp>
        <p:nvSpPr>
          <p:cNvPr id="73" name="Text 66"/>
          <p:cNvSpPr txBox="1"/>
          <p:nvPr/>
        </p:nvSpPr>
        <p:spPr>
          <a:xfrm>
            <a:off x="15620695" y="8191195"/>
            <a:ext cx="1524305" cy="838505"/>
          </a:xfrm>
          <a:prstGeom prst="rect">
            <a:avLst/>
          </a:prstGeom>
          <a:noFill/>
          <a:ln/>
        </p:spPr>
        <p:txBody>
          <a:bodyPr wrap="square" lIns="0" tIns="0" rIns="0" bIns="0" rtlCol="0" anchor="ctr"/>
          <a:lstStyle/>
          <a:p>
            <a:pPr algn="r" indent="0" marL="0">
              <a:buNone/>
            </a:pPr>
            <a:r>
              <a:rPr lang="en-US" sz="1050" dirty="0">
                <a:solidFill>
                  <a:srgbClr val="22C55E"/>
                </a:solidFill>
                <a:latin typeface="Inter" pitchFamily="34" charset="0"/>
                <a:ea typeface="Inter" pitchFamily="34" charset="-122"/>
                <a:cs typeface="Inter" pitchFamily="34" charset="-120"/>
              </a:rPr>
              <a:t>best baseline</a:t>
            </a:r>
            <a:endParaRPr lang="en-US" sz="1050" dirty="0"/>
          </a:p>
        </p:txBody>
      </p:sp>
      <p:sp>
        <p:nvSpPr>
          <p:cNvPr id="74" name="Text 67"/>
          <p:cNvSpPr txBox="1"/>
          <p:nvPr/>
        </p:nvSpPr>
        <p:spPr>
          <a:xfrm>
            <a:off x="1143000" y="9029700"/>
            <a:ext cx="1143000" cy="838505"/>
          </a:xfrm>
          <a:prstGeom prst="rect">
            <a:avLst/>
          </a:prstGeom>
          <a:noFill/>
          <a:ln/>
        </p:spPr>
        <p:txBody>
          <a:bodyPr wrap="square" lIns="0" tIns="0" rIns="0" bIns="0" rtlCol="0" anchor="ctr"/>
          <a:lstStyle/>
          <a:p>
            <a:pPr algn="l" indent="0" marL="0">
              <a:buNone/>
            </a:pPr>
            <a:r>
              <a:rPr lang="en-US" sz="1800" b="1" dirty="0">
                <a:solidFill>
                  <a:srgbClr val="ECF1F9"/>
                </a:solidFill>
                <a:latin typeface="JetBrains Mono" pitchFamily="34" charset="0"/>
                <a:ea typeface="JetBrains Mono" pitchFamily="34" charset="-122"/>
                <a:cs typeface="JetBrains Mono" pitchFamily="34" charset="-120"/>
              </a:rPr>
              <a:t>W4</a:t>
            </a:r>
            <a:endParaRPr lang="en-US" sz="1800" dirty="0"/>
          </a:p>
        </p:txBody>
      </p:sp>
      <p:sp>
        <p:nvSpPr>
          <p:cNvPr id="75" name="Text 68"/>
          <p:cNvSpPr txBox="1"/>
          <p:nvPr/>
        </p:nvSpPr>
        <p:spPr>
          <a:xfrm>
            <a:off x="4190695" y="9029700"/>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8.30</a:t>
            </a:r>
            <a:endParaRPr lang="en-US" sz="1650" dirty="0"/>
          </a:p>
        </p:txBody>
      </p:sp>
      <p:sp>
        <p:nvSpPr>
          <p:cNvPr id="76" name="Text 69"/>
          <p:cNvSpPr txBox="1"/>
          <p:nvPr/>
        </p:nvSpPr>
        <p:spPr>
          <a:xfrm>
            <a:off x="6096305" y="9029700"/>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7.5</a:t>
            </a:r>
            <a:endParaRPr lang="en-US" sz="1650" dirty="0"/>
          </a:p>
        </p:txBody>
      </p:sp>
      <p:sp>
        <p:nvSpPr>
          <p:cNvPr id="77" name="Text 70"/>
          <p:cNvSpPr txBox="1"/>
          <p:nvPr/>
        </p:nvSpPr>
        <p:spPr>
          <a:xfrm>
            <a:off x="8001000" y="9029700"/>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9.1</a:t>
            </a:r>
            <a:endParaRPr lang="en-US" sz="1650" dirty="0"/>
          </a:p>
        </p:txBody>
      </p:sp>
      <p:sp>
        <p:nvSpPr>
          <p:cNvPr id="78" name="Text 71"/>
          <p:cNvSpPr txBox="1"/>
          <p:nvPr/>
        </p:nvSpPr>
        <p:spPr>
          <a:xfrm>
            <a:off x="9905695" y="9029700"/>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0.62</a:t>
            </a:r>
            <a:endParaRPr lang="en-US" sz="1650" dirty="0"/>
          </a:p>
        </p:txBody>
      </p:sp>
      <p:sp>
        <p:nvSpPr>
          <p:cNvPr id="79" name="Text 72"/>
          <p:cNvSpPr txBox="1"/>
          <p:nvPr/>
        </p:nvSpPr>
        <p:spPr>
          <a:xfrm>
            <a:off x="11811305" y="9029700"/>
            <a:ext cx="1905610" cy="838505"/>
          </a:xfrm>
          <a:prstGeom prst="rect">
            <a:avLst/>
          </a:prstGeom>
          <a:noFill/>
          <a:ln/>
        </p:spPr>
        <p:txBody>
          <a:bodyPr wrap="square" lIns="0" tIns="0" rIns="0" bIns="0" rtlCol="0" anchor="ctr"/>
          <a:lstStyle/>
          <a:p>
            <a:pPr algn="r" indent="0" marL="0">
              <a:buNone/>
            </a:pPr>
            <a:r>
              <a:rPr lang="en-US" sz="1650" dirty="0">
                <a:solidFill>
                  <a:srgbClr val="ECF1F9"/>
                </a:solidFill>
                <a:latin typeface="JetBrains Mono" pitchFamily="34" charset="0"/>
                <a:ea typeface="JetBrains Mono" pitchFamily="34" charset="-122"/>
                <a:cs typeface="JetBrains Mono" pitchFamily="34" charset="-120"/>
              </a:rPr>
              <a:t>1.6</a:t>
            </a:r>
            <a:endParaRPr lang="en-US" sz="1650" dirty="0"/>
          </a:p>
        </p:txBody>
      </p:sp>
      <p:sp>
        <p:nvSpPr>
          <p:cNvPr id="80" name="Text 73"/>
          <p:cNvSpPr txBox="1"/>
          <p:nvPr/>
        </p:nvSpPr>
        <p:spPr>
          <a:xfrm>
            <a:off x="13716000" y="9029700"/>
            <a:ext cx="1905610" cy="838505"/>
          </a:xfrm>
          <a:prstGeom prst="rect">
            <a:avLst/>
          </a:prstGeom>
          <a:noFill/>
          <a:ln/>
        </p:spPr>
        <p:txBody>
          <a:bodyPr wrap="square" lIns="0" tIns="0" rIns="0" bIns="0" rtlCol="0" anchor="ctr"/>
          <a:lstStyle/>
          <a:p>
            <a:pPr algn="r" indent="0" marL="0">
              <a:buNone/>
            </a:pPr>
            <a:r>
              <a:rPr lang="en-US" sz="1650" dirty="0">
                <a:solidFill>
                  <a:srgbClr val="F87171"/>
                </a:solidFill>
                <a:latin typeface="JetBrains Mono" pitchFamily="34" charset="0"/>
                <a:ea typeface="JetBrains Mono" pitchFamily="34" charset="-122"/>
                <a:cs typeface="JetBrains Mono" pitchFamily="34" charset="-120"/>
              </a:rPr>
              <a:t>−0.50</a:t>
            </a:r>
            <a:endParaRPr lang="en-US" sz="1650" dirty="0"/>
          </a:p>
        </p:txBody>
      </p:sp>
      <p:sp>
        <p:nvSpPr>
          <p:cNvPr id="81" name="Text 74"/>
          <p:cNvSpPr txBox="1"/>
          <p:nvPr/>
        </p:nvSpPr>
        <p:spPr>
          <a:xfrm>
            <a:off x="15620695" y="9029700"/>
            <a:ext cx="1524305" cy="838505"/>
          </a:xfrm>
          <a:prstGeom prst="rect">
            <a:avLst/>
          </a:prstGeom>
          <a:noFill/>
          <a:ln/>
        </p:spPr>
        <p:txBody>
          <a:bodyPr wrap="square" lIns="0" tIns="0" rIns="0" bIns="0" rtlCol="0" anchor="ctr"/>
          <a:lstStyle/>
          <a:p>
            <a:pPr algn="r" indent="0" marL="0">
              <a:buNone/>
            </a:pPr>
            <a:r>
              <a:rPr lang="en-US" sz="1050" dirty="0">
                <a:solidFill>
                  <a:srgbClr val="F87171"/>
                </a:solidFill>
                <a:latin typeface="Inter" pitchFamily="34" charset="0"/>
                <a:ea typeface="Inter" pitchFamily="34" charset="-122"/>
                <a:cs typeface="Inter" pitchFamily="34" charset="-120"/>
              </a:rPr>
              <a:t>edge-wide</a:t>
            </a:r>
            <a:endParaRPr lang="en-US" sz="1050" dirty="0"/>
          </a:p>
        </p:txBody>
      </p:sp>
      <p:sp>
        <p:nvSpPr>
          <p:cNvPr id="82" name="Text 75"/>
          <p:cNvSpPr txBox="1"/>
          <p:nvPr/>
        </p:nvSpPr>
        <p:spPr>
          <a:xfrm>
            <a:off x="2392070" y="6825082"/>
            <a:ext cx="787298" cy="219456"/>
          </a:xfrm>
          <a:prstGeom prst="rect">
            <a:avLst/>
          </a:prstGeom>
          <a:solidFill>
            <a:srgbClr val="38BDF8">
              <a:alpha val="16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38BDF8"/>
                </a:solidFill>
                <a:latin typeface="Inter" pitchFamily="34" charset="0"/>
                <a:ea typeface="Inter" pitchFamily="34" charset="-122"/>
                <a:cs typeface="Inter" pitchFamily="34" charset="-120"/>
              </a:rPr>
              <a:t>CTRL·A</a:t>
            </a:r>
            <a:endParaRPr lang="en-US" sz="900" dirty="0"/>
          </a:p>
        </p:txBody>
      </p:sp>
      <p:sp>
        <p:nvSpPr>
          <p:cNvPr id="83" name="Text 76"/>
          <p:cNvSpPr txBox="1"/>
          <p:nvPr/>
        </p:nvSpPr>
        <p:spPr>
          <a:xfrm>
            <a:off x="2377440" y="7662672"/>
            <a:ext cx="645566" cy="219456"/>
          </a:xfrm>
          <a:prstGeom prst="rect">
            <a:avLst/>
          </a:prstGeom>
          <a:solidFill>
            <a:srgbClr val="F59E0B">
              <a:alpha val="16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F59E0B"/>
                </a:solidFill>
                <a:latin typeface="Inter" pitchFamily="34" charset="0"/>
                <a:ea typeface="Inter" pitchFamily="34" charset="-122"/>
                <a:cs typeface="Inter" pitchFamily="34" charset="-120"/>
              </a:rPr>
              <a:t>AG·A</a:t>
            </a:r>
            <a:endParaRPr lang="en-US" sz="900" dirty="0"/>
          </a:p>
        </p:txBody>
      </p:sp>
      <p:sp>
        <p:nvSpPr>
          <p:cNvPr id="84" name="Text 77"/>
          <p:cNvSpPr txBox="1"/>
          <p:nvPr/>
        </p:nvSpPr>
        <p:spPr>
          <a:xfrm>
            <a:off x="2387498" y="8501177"/>
            <a:ext cx="787298" cy="219456"/>
          </a:xfrm>
          <a:prstGeom prst="rect">
            <a:avLst/>
          </a:prstGeom>
          <a:solidFill>
            <a:srgbClr val="38BDF8">
              <a:alpha val="16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38BDF8"/>
                </a:solidFill>
                <a:latin typeface="Inter" pitchFamily="34" charset="0"/>
                <a:ea typeface="Inter" pitchFamily="34" charset="-122"/>
                <a:cs typeface="Inter" pitchFamily="34" charset="-120"/>
              </a:rPr>
              <a:t>CTRL·B</a:t>
            </a:r>
            <a:endParaRPr lang="en-US" sz="900" dirty="0"/>
          </a:p>
        </p:txBody>
      </p:sp>
      <p:sp>
        <p:nvSpPr>
          <p:cNvPr id="85" name="Text 78"/>
          <p:cNvSpPr txBox="1"/>
          <p:nvPr/>
        </p:nvSpPr>
        <p:spPr>
          <a:xfrm>
            <a:off x="2377440" y="9341510"/>
            <a:ext cx="645566" cy="219456"/>
          </a:xfrm>
          <a:prstGeom prst="rect">
            <a:avLst/>
          </a:prstGeom>
          <a:solidFill>
            <a:srgbClr val="F59E0B">
              <a:alpha val="16000"/>
            </a:srgbClr>
          </a:solidFill>
          <a:ln>
            <a:solidFill>
              <a:srgbClr val="FFFFFF">
                <a:alpha val="0"/>
              </a:srgbClr>
            </a:solidFill>
          </a:ln>
        </p:spPr>
        <p:txBody>
          <a:bodyPr wrap="none" lIns="101600" tIns="38100" rIns="101600" bIns="38100" rtlCol="0" anchor="ctr"/>
          <a:lstStyle/>
          <a:p>
            <a:pPr algn="l" indent="0" marL="0">
              <a:buNone/>
            </a:pPr>
            <a:r>
              <a:rPr lang="en-US" sz="900" b="1" spc="162" kern="0" dirty="0">
                <a:solidFill>
                  <a:srgbClr val="F59E0B"/>
                </a:solidFill>
                <a:latin typeface="Inter" pitchFamily="34" charset="0"/>
                <a:ea typeface="Inter" pitchFamily="34" charset="-122"/>
                <a:cs typeface="Inter" pitchFamily="34" charset="-120"/>
              </a:rPr>
              <a:t>AG·B</a:t>
            </a:r>
            <a:endParaRPr lang="en-US" sz="900" dirty="0"/>
          </a:p>
        </p:txBody>
      </p:sp>
      <p:sp>
        <p:nvSpPr>
          <p:cNvPr id="86" name="Text 79"/>
          <p:cNvSpPr txBox="1"/>
          <p:nvPr/>
        </p:nvSpPr>
        <p:spPr>
          <a:xfrm>
            <a:off x="0" y="9715500"/>
            <a:ext cx="18288000" cy="228600"/>
          </a:xfrm>
          <a:prstGeom prst="rect">
            <a:avLst/>
          </a:prstGeom>
          <a:noFill/>
          <a:ln/>
        </p:spPr>
        <p:txBody>
          <a:bodyPr wrap="none" lIns="0" tIns="0" rIns="0" bIns="0" rtlCol="0" anchor="ctr"/>
          <a:lstStyle/>
          <a:p>
            <a:pPr algn="ctr" indent="0" marL="0">
              <a:buNone/>
            </a:pPr>
            <a:r>
              <a:rPr lang="en-US" sz="1200" spc="48" kern="0" dirty="0">
                <a:solidFill>
                  <a:srgbClr val="7E8DA6"/>
                </a:solidFill>
                <a:latin typeface="Inter" pitchFamily="34" charset="0"/>
                <a:ea typeface="Inter" pitchFamily="34" charset="-122"/>
                <a:cs typeface="Inter" pitchFamily="34" charset="-120"/>
              </a:rPr>
              <a:t>※ 내부 테스트용 더미(가상) 데이터</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3" name="Shape 0"/>
          <p:cNvSpPr/>
          <p:nvPr/>
        </p:nvSpPr>
        <p:spPr>
          <a:xfrm>
            <a:off x="857707" y="1904695"/>
            <a:ext cx="8287207" cy="7524598"/>
          </a:xfrm>
          <a:prstGeom prst="rect">
            <a:avLst/>
          </a:prstGeom>
          <a:solidFill>
            <a:srgbClr val="131E33"/>
          </a:solidFill>
          <a:ln w="12700">
            <a:solidFill>
              <a:srgbClr val="2A3B57"/>
            </a:solidFill>
            <a:prstDash val="solid"/>
          </a:ln>
        </p:spPr>
      </p:sp>
      <p:sp>
        <p:nvSpPr>
          <p:cNvPr id="4" name="Shape 1"/>
          <p:cNvSpPr/>
          <p:nvPr/>
        </p:nvSpPr>
        <p:spPr>
          <a:xfrm>
            <a:off x="1181405" y="8134502"/>
            <a:ext cx="7733995" cy="1067105"/>
          </a:xfrm>
          <a:prstGeom prst="rect">
            <a:avLst/>
          </a:prstGeom>
          <a:solidFill>
            <a:srgbClr val="182642"/>
          </a:solidFill>
          <a:ln w="12700">
            <a:solidFill>
              <a:srgbClr val="2A3B57"/>
            </a:solidFill>
            <a:prstDash val="solid"/>
          </a:ln>
        </p:spPr>
      </p:sp>
      <p:sp>
        <p:nvSpPr>
          <p:cNvPr id="5" name="Shape 2"/>
          <p:cNvSpPr/>
          <p:nvPr/>
        </p:nvSpPr>
        <p:spPr>
          <a:xfrm>
            <a:off x="9334195" y="1904695"/>
            <a:ext cx="8096098" cy="7524598"/>
          </a:xfrm>
          <a:prstGeom prst="rect">
            <a:avLst/>
          </a:prstGeom>
          <a:solidFill>
            <a:srgbClr val="131E33"/>
          </a:solidFill>
          <a:ln w="12700">
            <a:solidFill>
              <a:srgbClr val="2A3B57"/>
            </a:solidFill>
            <a:prstDash val="solid"/>
          </a:ln>
        </p:spPr>
      </p:sp>
      <p:sp>
        <p:nvSpPr>
          <p:cNvPr id="6" name="Shape 3"/>
          <p:cNvSpPr/>
          <p:nvPr/>
        </p:nvSpPr>
        <p:spPr>
          <a:xfrm>
            <a:off x="9658807" y="8134502"/>
            <a:ext cx="7543800" cy="1067105"/>
          </a:xfrm>
          <a:prstGeom prst="rect">
            <a:avLst/>
          </a:prstGeom>
          <a:solidFill>
            <a:srgbClr val="182642"/>
          </a:solidFill>
          <a:ln w="12700">
            <a:solidFill>
              <a:srgbClr val="2A3B57"/>
            </a:solidFill>
            <a:prstDash val="solid"/>
          </a:ln>
        </p:spPr>
      </p:sp>
      <p:pic>
        <p:nvPicPr>
          <p:cNvPr id="7" name="Image 0" descr="gen-dedup-8437c2612c2b7809db32dc136055dc4c.png">    </p:cNvPr>
          <p:cNvPicPr>
            <a:picLocks noChangeAspect="1"/>
          </p:cNvPicPr>
          <p:nvPr/>
        </p:nvPicPr>
        <p:blipFill>
          <a:blip r:embed="rId1"/>
          <a:srcRect l="-401" r="-401" t="0" b="0"/>
          <a:stretch/>
        </p:blipFill>
        <p:spPr>
          <a:xfrm>
            <a:off x="857707" y="1904695"/>
            <a:ext cx="57607" cy="7524598"/>
          </a:xfrm>
          <a:prstGeom prst="rect">
            <a:avLst/>
          </a:prstGeom>
        </p:spPr>
      </p:pic>
      <p:pic>
        <p:nvPicPr>
          <p:cNvPr id="8" name="Image 1" descr="gen-dedup-426bdbec8a9bc475e3c217340401318d.png">    </p:cNvPr>
          <p:cNvPicPr>
            <a:picLocks noChangeAspect="1"/>
          </p:cNvPicPr>
          <p:nvPr/>
        </p:nvPicPr>
        <p:blipFill>
          <a:blip r:embed="rId2"/>
          <a:srcRect l="-401" r="-401" t="0" b="0"/>
          <a:stretch/>
        </p:blipFill>
        <p:spPr>
          <a:xfrm>
            <a:off x="9334195" y="1904695"/>
            <a:ext cx="57607" cy="7524598"/>
          </a:xfrm>
          <a:prstGeom prst="rect">
            <a:avLst/>
          </a:prstGeom>
        </p:spPr>
      </p:pic>
      <p:sp>
        <p:nvSpPr>
          <p:cNvPr id="9" name="Text 4"/>
          <p:cNvSpPr txBox="1"/>
          <p:nvPr/>
        </p:nvSpPr>
        <p:spPr>
          <a:xfrm>
            <a:off x="857707" y="571500"/>
            <a:ext cx="5715000" cy="162763"/>
          </a:xfrm>
          <a:prstGeom prst="rect">
            <a:avLst/>
          </a:prstGeom>
          <a:noFill/>
          <a:ln/>
        </p:spPr>
        <p:txBody>
          <a:bodyPr wrap="none" lIns="0" tIns="0" rIns="0" bIns="0" rtlCol="0" anchor="ctr"/>
          <a:lstStyle/>
          <a:p>
            <a:pPr algn="l" indent="0" marL="0">
              <a:buNone/>
            </a:pPr>
            <a:r>
              <a:rPr lang="en-US" sz="1050" b="1" spc="336" kern="0" dirty="0">
                <a:solidFill>
                  <a:srgbClr val="F59E0B"/>
                </a:solidFill>
                <a:latin typeface="Inter" pitchFamily="34" charset="0"/>
                <a:ea typeface="Inter" pitchFamily="34" charset="-122"/>
                <a:cs typeface="Inter" pitchFamily="34" charset="-120"/>
              </a:rPr>
              <a:t>05 · RESISTANCE CUMULATIVE</a:t>
            </a:r>
            <a:endParaRPr lang="en-US" sz="1050" dirty="0"/>
          </a:p>
        </p:txBody>
      </p:sp>
      <p:sp>
        <p:nvSpPr>
          <p:cNvPr id="10" name="Text 5"/>
          <p:cNvSpPr txBox="1"/>
          <p:nvPr/>
        </p:nvSpPr>
        <p:spPr>
          <a:xfrm>
            <a:off x="857707" y="838505"/>
            <a:ext cx="12382805" cy="467258"/>
          </a:xfrm>
          <a:prstGeom prst="rect">
            <a:avLst/>
          </a:prstGeom>
          <a:noFill/>
          <a:ln/>
        </p:spPr>
        <p:txBody>
          <a:bodyPr wrap="none" lIns="0" tIns="0" rIns="0" bIns="0" rtlCol="0" anchor="ctr"/>
          <a:lstStyle/>
          <a:p>
            <a:pPr algn="l" indent="0" marL="0">
              <a:buNone/>
            </a:pPr>
            <a:r>
              <a:rPr lang="en-US" sz="3450" b="1" spc="-34" kern="0" dirty="0">
                <a:solidFill>
                  <a:srgbClr val="ECF1F9"/>
                </a:solidFill>
                <a:latin typeface="Inter" pitchFamily="34" charset="0"/>
                <a:ea typeface="Inter" pitchFamily="34" charset="-122"/>
                <a:cs typeface="Inter" pitchFamily="34" charset="-120"/>
              </a:rPr>
              <a:t>Rs / Rc 누적분포 — 4 wafer × 7 percentile</a:t>
            </a:r>
            <a:endParaRPr lang="en-US" sz="3450" dirty="0"/>
          </a:p>
        </p:txBody>
      </p:sp>
      <p:sp>
        <p:nvSpPr>
          <p:cNvPr id="11" name="Text 6"/>
          <p:cNvSpPr txBox="1"/>
          <p:nvPr/>
        </p:nvSpPr>
        <p:spPr>
          <a:xfrm>
            <a:off x="857707" y="1435608"/>
            <a:ext cx="12382805" cy="277063"/>
          </a:xfrm>
          <a:prstGeom prst="rect">
            <a:avLst/>
          </a:prstGeom>
          <a:noFill/>
          <a:ln/>
        </p:spPr>
        <p:txBody>
          <a:bodyPr wrap="none" lIns="0" tIns="0" rIns="0" bIns="0" rtlCol="0" anchor="ctr"/>
          <a:lstStyle/>
          <a:p>
            <a:pPr algn="l" indent="0" marL="0">
              <a:buNone/>
            </a:pPr>
            <a:r>
              <a:rPr lang="en-US" sz="1500" dirty="0">
                <a:solidFill>
                  <a:srgbClr val="C2CCE0"/>
                </a:solidFill>
                <a:latin typeface="Inter" pitchFamily="34" charset="0"/>
                <a:ea typeface="Inter" pitchFamily="34" charset="-122"/>
                <a:cs typeface="Inter" pitchFamily="34" charset="-120"/>
              </a:rPr>
              <a:t>M2 라인 sheet resistance와 V1 via contact resistance의 1/5/25/50/75/95/99 percentile</a:t>
            </a:r>
            <a:endParaRPr lang="en-US" sz="1500" dirty="0"/>
          </a:p>
        </p:txBody>
      </p:sp>
      <p:sp>
        <p:nvSpPr>
          <p:cNvPr id="12" name="Text 7"/>
          <p:cNvSpPr txBox="1"/>
          <p:nvPr/>
        </p:nvSpPr>
        <p:spPr>
          <a:xfrm>
            <a:off x="13811098" y="818388"/>
            <a:ext cx="3620110" cy="420624"/>
          </a:xfrm>
          <a:prstGeom prst="rect">
            <a:avLst/>
          </a:prstGeom>
          <a:noFill/>
          <a:ln/>
        </p:spPr>
        <p:txBody>
          <a:bodyPr wrap="square" lIns="0" tIns="0" rIns="0" bIns="0" rtlCol="0" anchor="t"/>
          <a:lstStyle/>
          <a:p>
            <a:pPr algn="r" indent="0" marL="0">
              <a:lnSpc>
                <a:spcPts val="1575"/>
              </a:lnSpc>
              <a:buNone/>
            </a:pPr>
            <a:r>
              <a:rPr lang="en-US" sz="1050" dirty="0">
                <a:solidFill>
                  <a:srgbClr val="7E8DA6"/>
                </a:solidFill>
                <a:latin typeface="Inter" pitchFamily="34" charset="0"/>
                <a:ea typeface="Inter" pitchFamily="34" charset="-122"/>
                <a:cs typeface="Inter" pitchFamily="34" charset="-120"/>
              </a:rPr>
              <a:t>다이 단위 n=240 측정치 기반</a:t>
            </a:r>
            <a:pPr algn="r" indent="0" marL="0">
              <a:lnSpc>
                <a:spcPts val="1575"/>
              </a:lnSpc>
              <a:buNone/>
            </a:pPr>
            <a:endParaRPr lang="en-US" sz="1050" dirty="0"/>
          </a:p>
          <a:p>
            <a:pPr algn="r" indent="0" marL="0">
              <a:lnSpc>
                <a:spcPts val="1575"/>
              </a:lnSpc>
              <a:buNone/>
            </a:pPr>
            <a:r>
              <a:rPr lang="en-US" sz="1050" dirty="0">
                <a:solidFill>
                  <a:srgbClr val="7E8DA6"/>
                </a:solidFill>
                <a:latin typeface="Inter" pitchFamily="34" charset="0"/>
                <a:ea typeface="Inter" pitchFamily="34" charset="-122"/>
                <a:cs typeface="Inter" pitchFamily="34" charset="-120"/>
              </a:rPr>
              <a:t>dummy wafer 4매 · V1·M2 동일 TEG</a:t>
            </a:r>
            <a:endParaRPr lang="en-US" sz="1050" dirty="0"/>
          </a:p>
        </p:txBody>
      </p:sp>
      <p:sp>
        <p:nvSpPr>
          <p:cNvPr id="13" name="Text 8"/>
          <p:cNvSpPr txBox="1"/>
          <p:nvPr/>
        </p:nvSpPr>
        <p:spPr>
          <a:xfrm>
            <a:off x="1181405" y="2115007"/>
            <a:ext cx="4655210" cy="419710"/>
          </a:xfrm>
          <a:prstGeom prst="rect">
            <a:avLst/>
          </a:prstGeom>
          <a:noFill/>
          <a:ln/>
        </p:spPr>
        <p:txBody>
          <a:bodyPr wrap="none" lIns="0" tIns="0" rIns="0" bIns="0" rtlCol="0" anchor="ctr"/>
          <a:lstStyle/>
          <a:p>
            <a:pPr algn="l" indent="0" marL="0">
              <a:buNone/>
            </a:pPr>
            <a:r>
              <a:rPr lang="en-US" sz="2700" b="1" dirty="0">
                <a:solidFill>
                  <a:srgbClr val="ECF1F9"/>
                </a:solidFill>
                <a:latin typeface="Inter" pitchFamily="34" charset="0"/>
                <a:ea typeface="Inter" pitchFamily="34" charset="-122"/>
                <a:cs typeface="Inter" pitchFamily="34" charset="-120"/>
              </a:rPr>
              <a:t>Rs · sheet resistance</a:t>
            </a:r>
            <a:endParaRPr lang="en-US" sz="2700" dirty="0"/>
          </a:p>
        </p:txBody>
      </p:sp>
      <p:sp>
        <p:nvSpPr>
          <p:cNvPr id="14" name="Text 9"/>
          <p:cNvSpPr txBox="1"/>
          <p:nvPr/>
        </p:nvSpPr>
        <p:spPr>
          <a:xfrm>
            <a:off x="4834433" y="2276856"/>
            <a:ext cx="2057400" cy="219456"/>
          </a:xfrm>
          <a:prstGeom prst="rect">
            <a:avLst/>
          </a:prstGeom>
          <a:noFill/>
          <a:ln/>
        </p:spPr>
        <p:txBody>
          <a:bodyPr wrap="none" lIns="0" tIns="0" rIns="0" bIns="0" rtlCol="0" anchor="ctr"/>
          <a:lstStyle/>
          <a:p>
            <a:pPr algn="l" indent="0" marL="0">
              <a:buNone/>
            </a:pPr>
            <a:r>
              <a:rPr lang="en-US" sz="1350" dirty="0">
                <a:solidFill>
                  <a:srgbClr val="7E8DA6"/>
                </a:solidFill>
                <a:latin typeface="JetBrains Mono" pitchFamily="34" charset="0"/>
                <a:ea typeface="JetBrains Mono" pitchFamily="34" charset="-122"/>
                <a:cs typeface="JetBrains Mono" pitchFamily="34" charset="-120"/>
              </a:rPr>
              <a:t>Ω/sq · M2 56nm pitch</a:t>
            </a:r>
            <a:endParaRPr lang="en-US" sz="1350" dirty="0"/>
          </a:p>
        </p:txBody>
      </p:sp>
      <p:sp>
        <p:nvSpPr>
          <p:cNvPr id="15" name="Text 10"/>
          <p:cNvSpPr txBox="1"/>
          <p:nvPr/>
        </p:nvSpPr>
        <p:spPr>
          <a:xfrm>
            <a:off x="1181405" y="2590495"/>
            <a:ext cx="7429500" cy="191110"/>
          </a:xfrm>
          <a:prstGeom prst="rect">
            <a:avLst/>
          </a:prstGeom>
          <a:noFill/>
          <a:ln/>
        </p:spPr>
        <p:txBody>
          <a:bodyPr wrap="non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라인 56nm pitch, line CD 8.8nm, 길이 80μm × 폭 1μm</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181405" y="2971800"/>
          <a:ext cx="7734910" cy="4019702"/>
        </p:xfrm>
        <a:graphic>
          <a:graphicData uri="http://schemas.openxmlformats.org/drawingml/2006/table">
            <a:tbl>
              <a:tblPr/>
              <a:tblGrid>
                <a:gridCol w="1143000"/>
                <a:gridCol w="761695"/>
                <a:gridCol w="761695"/>
                <a:gridCol w="761695"/>
                <a:gridCol w="761695"/>
                <a:gridCol w="761695"/>
                <a:gridCol w="761695"/>
                <a:gridCol w="761695"/>
                <a:gridCol w="1257300"/>
              </a:tblGrid>
              <a:tr h="803940">
                <a:tc>
                  <a:txBody>
                    <a:bodyPr/>
                    <a:lstStyle/>
                    <a:p>
                      <a:pPr algn="l" indent="0" marL="0">
                        <a:buNone/>
                      </a:pPr>
                      <a:r>
                        <a:rPr lang="en-US" sz="900" b="1" dirty="0">
                          <a:solidFill>
                            <a:srgbClr val="7E8DA6"/>
                          </a:solidFill>
                          <a:latin typeface="Inter" pitchFamily="34" charset="0"/>
                          <a:ea typeface="Inter" pitchFamily="34" charset="-122"/>
                          <a:cs typeface="Inter" pitchFamily="34" charset="-120"/>
                        </a:rPr>
                        <a:t>WAFER</a:t>
                      </a:r>
                      <a:endParaRPr lang="en-US" sz="900" dirty="0">
                        <a:latin typeface="Inter" charset="0"/>
                        <a:ea typeface="Inter" charset="0"/>
                        <a:cs typeface="Inter" charset="0"/>
                      </a:endParaRPr>
                    </a:p>
                  </a:txBody>
                  <a:tcPr marL="95098" marR="95098"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P1%</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P5%</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P25%</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P50%</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P75%</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P95%</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P99%</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σ</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r>
              <a:tr h="803940">
                <a:tc>
                  <a:txBody>
                    <a:bodyPr/>
                    <a:lstStyle/>
                    <a:p>
                      <a:pPr indent="0" marL="0">
                        <a:buNone/>
                      </a:pPr>
                      <a:r>
                        <a:rPr lang="en-US" sz="1650" b="1" dirty="0">
                          <a:solidFill>
                            <a:srgbClr val="38BDF8"/>
                          </a:solidFill>
                          <a:latin typeface="JetBrains Mono" pitchFamily="34" charset="0"/>
                          <a:ea typeface="JetBrains Mono" pitchFamily="34" charset="-122"/>
                          <a:cs typeface="JetBrains Mono" pitchFamily="34" charset="-120"/>
                        </a:rPr>
                        <a:t>W1·A</a:t>
                      </a:r>
                      <a:endParaRPr lang="en-US" sz="1650" dirty="0">
                        <a:latin typeface="JetBrains Mono" charset="0"/>
                        <a:ea typeface="JetBrains Mono" charset="0"/>
                        <a:cs typeface="JetBrains Mono" charset="0"/>
                      </a:endParaRPr>
                    </a:p>
                  </a:txBody>
                  <a:tcPr marL="95098" marR="95098"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218</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226</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237</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650" b="1" dirty="0">
                          <a:solidFill>
                            <a:srgbClr val="ECF1F9"/>
                          </a:solidFill>
                          <a:latin typeface="JetBrains Mono" pitchFamily="34" charset="0"/>
                          <a:ea typeface="JetBrains Mono" pitchFamily="34" charset="-122"/>
                          <a:cs typeface="JetBrains Mono" pitchFamily="34" charset="-120"/>
                        </a:rPr>
                        <a:t>244</a:t>
                      </a:r>
                      <a:endParaRPr lang="en-US" sz="16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252</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264</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272</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22C55E"/>
                          </a:solidFill>
                          <a:latin typeface="JetBrains Mono" pitchFamily="34" charset="0"/>
                          <a:ea typeface="JetBrains Mono" pitchFamily="34" charset="-122"/>
                          <a:cs typeface="JetBrains Mono" pitchFamily="34" charset="-120"/>
                        </a:rPr>
                        <a:t>14.1</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r>
              <a:tr h="803940">
                <a:tc>
                  <a:txBody>
                    <a:bodyPr/>
                    <a:lstStyle/>
                    <a:p>
                      <a:pPr indent="0" marL="0">
                        <a:buNone/>
                      </a:pPr>
                      <a:r>
                        <a:rPr lang="en-US" sz="1650" b="1" dirty="0">
                          <a:solidFill>
                            <a:srgbClr val="F59E0B"/>
                          </a:solidFill>
                          <a:latin typeface="JetBrains Mono" pitchFamily="34" charset="0"/>
                          <a:ea typeface="JetBrains Mono" pitchFamily="34" charset="-122"/>
                          <a:cs typeface="JetBrains Mono" pitchFamily="34" charset="-120"/>
                        </a:rPr>
                        <a:t>W2·A</a:t>
                      </a:r>
                      <a:endParaRPr lang="en-US" sz="1650" dirty="0">
                        <a:latin typeface="JetBrains Mono" charset="0"/>
                        <a:ea typeface="JetBrains Mono" charset="0"/>
                        <a:cs typeface="JetBrains Mono" charset="0"/>
                      </a:endParaRPr>
                    </a:p>
                  </a:txBody>
                  <a:tcPr marL="95098" marR="95098"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223</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231</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243</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650" b="1" dirty="0">
                          <a:solidFill>
                            <a:srgbClr val="ECF1F9"/>
                          </a:solidFill>
                          <a:latin typeface="JetBrains Mono" pitchFamily="34" charset="0"/>
                          <a:ea typeface="JetBrains Mono" pitchFamily="34" charset="-122"/>
                          <a:cs typeface="JetBrains Mono" pitchFamily="34" charset="-120"/>
                        </a:rPr>
                        <a:t>251</a:t>
                      </a:r>
                      <a:endParaRPr lang="en-US" sz="16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261</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277</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288</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F87171"/>
                          </a:solidFill>
                          <a:latin typeface="JetBrains Mono" pitchFamily="34" charset="0"/>
                          <a:ea typeface="JetBrains Mono" pitchFamily="34" charset="-122"/>
                          <a:cs typeface="JetBrains Mono" pitchFamily="34" charset="-120"/>
                        </a:rPr>
                        <a:t>17.5</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r>
              <a:tr h="803940">
                <a:tc>
                  <a:txBody>
                    <a:bodyPr/>
                    <a:lstStyle/>
                    <a:p>
                      <a:pPr indent="0" marL="0">
                        <a:buNone/>
                      </a:pPr>
                      <a:r>
                        <a:rPr lang="en-US" sz="1650" b="1" dirty="0">
                          <a:solidFill>
                            <a:srgbClr val="38BDF8"/>
                          </a:solidFill>
                          <a:latin typeface="JetBrains Mono" pitchFamily="34" charset="0"/>
                          <a:ea typeface="JetBrains Mono" pitchFamily="34" charset="-122"/>
                          <a:cs typeface="JetBrains Mono" pitchFamily="34" charset="-120"/>
                        </a:rPr>
                        <a:t>W3·B</a:t>
                      </a:r>
                      <a:endParaRPr lang="en-US" sz="1650" dirty="0">
                        <a:latin typeface="JetBrains Mono" charset="0"/>
                        <a:ea typeface="JetBrains Mono" charset="0"/>
                        <a:cs typeface="JetBrains Mono" charset="0"/>
                      </a:endParaRPr>
                    </a:p>
                  </a:txBody>
                  <a:tcPr marL="95098" marR="95098"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219</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227</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238</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650" b="1" dirty="0">
                          <a:solidFill>
                            <a:srgbClr val="ECF1F9"/>
                          </a:solidFill>
                          <a:latin typeface="JetBrains Mono" pitchFamily="34" charset="0"/>
                          <a:ea typeface="JetBrains Mono" pitchFamily="34" charset="-122"/>
                          <a:cs typeface="JetBrains Mono" pitchFamily="34" charset="-120"/>
                        </a:rPr>
                        <a:t>245</a:t>
                      </a:r>
                      <a:endParaRPr lang="en-US" sz="16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252</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262</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270</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22C55E"/>
                          </a:solidFill>
                          <a:latin typeface="JetBrains Mono" pitchFamily="34" charset="0"/>
                          <a:ea typeface="JetBrains Mono" pitchFamily="34" charset="-122"/>
                          <a:cs typeface="JetBrains Mono" pitchFamily="34" charset="-120"/>
                        </a:rPr>
                        <a:t>13.4</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r>
              <a:tr h="803940">
                <a:tc>
                  <a:txBody>
                    <a:bodyPr/>
                    <a:lstStyle/>
                    <a:p>
                      <a:pPr indent="0" marL="0">
                        <a:buNone/>
                      </a:pPr>
                      <a:r>
                        <a:rPr lang="en-US" sz="1650" b="1" dirty="0">
                          <a:solidFill>
                            <a:srgbClr val="F59E0B"/>
                          </a:solidFill>
                          <a:latin typeface="JetBrains Mono" pitchFamily="34" charset="0"/>
                          <a:ea typeface="JetBrains Mono" pitchFamily="34" charset="-122"/>
                          <a:cs typeface="JetBrains Mono" pitchFamily="34" charset="-120"/>
                        </a:rPr>
                        <a:t>W4·B</a:t>
                      </a:r>
                      <a:endParaRPr lang="en-US" sz="1650" dirty="0">
                        <a:latin typeface="JetBrains Mono" charset="0"/>
                        <a:ea typeface="JetBrains Mono" charset="0"/>
                        <a:cs typeface="JetBrains Mono" charset="0"/>
                      </a:endParaRPr>
                    </a:p>
                  </a:txBody>
                  <a:tcPr marL="95098" marR="95098"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225</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233</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247</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650" b="1" dirty="0">
                          <a:solidFill>
                            <a:srgbClr val="ECF1F9"/>
                          </a:solidFill>
                          <a:latin typeface="JetBrains Mono" pitchFamily="34" charset="0"/>
                          <a:ea typeface="JetBrains Mono" pitchFamily="34" charset="-122"/>
                          <a:cs typeface="JetBrains Mono" pitchFamily="34" charset="-120"/>
                        </a:rPr>
                        <a:t>256</a:t>
                      </a:r>
                      <a:endParaRPr lang="en-US" sz="16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266</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283</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296</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F87171"/>
                          </a:solidFill>
                          <a:latin typeface="JetBrains Mono" pitchFamily="34" charset="0"/>
                          <a:ea typeface="JetBrains Mono" pitchFamily="34" charset="-122"/>
                          <a:cs typeface="JetBrains Mono" pitchFamily="34" charset="-120"/>
                        </a:rPr>
                        <a:t>18.7</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r>
            </a:tbl>
          </a:graphicData>
        </a:graphic>
      </p:graphicFrame>
      <p:sp>
        <p:nvSpPr>
          <p:cNvPr id="17" name="Text 11"/>
          <p:cNvSpPr txBox="1"/>
          <p:nvPr/>
        </p:nvSpPr>
        <p:spPr>
          <a:xfrm>
            <a:off x="1371600" y="8339328"/>
            <a:ext cx="476402" cy="133502"/>
          </a:xfrm>
          <a:prstGeom prst="rect">
            <a:avLst/>
          </a:prstGeom>
          <a:noFill/>
          <a:ln/>
        </p:spPr>
        <p:txBody>
          <a:bodyPr wrap="none" lIns="0" tIns="0" rIns="0" bIns="0" rtlCol="0" anchor="ctr"/>
          <a:lstStyle/>
          <a:p>
            <a:pPr algn="l" indent="0" marL="0">
              <a:buNone/>
            </a:pPr>
            <a:r>
              <a:rPr lang="en-US" sz="825" spc="247" kern="0" dirty="0">
                <a:solidFill>
                  <a:srgbClr val="7E8DA6"/>
                </a:solidFill>
                <a:latin typeface="Inter" pitchFamily="34" charset="0"/>
                <a:ea typeface="Inter" pitchFamily="34" charset="-122"/>
                <a:cs typeface="Inter" pitchFamily="34" charset="-120"/>
              </a:rPr>
              <a:t>DELTA</a:t>
            </a:r>
            <a:endParaRPr lang="en-US" sz="825" dirty="0"/>
          </a:p>
        </p:txBody>
      </p:sp>
      <p:sp>
        <p:nvSpPr>
          <p:cNvPr id="18" name="Text 12"/>
          <p:cNvSpPr txBox="1"/>
          <p:nvPr/>
        </p:nvSpPr>
        <p:spPr>
          <a:xfrm>
            <a:off x="1980590" y="8324698"/>
            <a:ext cx="257861" cy="162763"/>
          </a:xfrm>
          <a:prstGeom prst="rect">
            <a:avLst/>
          </a:prstGeom>
          <a:noFill/>
          <a:ln/>
        </p:spPr>
        <p:txBody>
          <a:bodyPr wrap="non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P50</a:t>
            </a:r>
            <a:endParaRPr lang="en-US" sz="1050" dirty="0"/>
          </a:p>
        </p:txBody>
      </p:sp>
      <p:sp>
        <p:nvSpPr>
          <p:cNvPr id="19" name="Text 13"/>
          <p:cNvSpPr txBox="1"/>
          <p:nvPr/>
        </p:nvSpPr>
        <p:spPr>
          <a:xfrm>
            <a:off x="2362810" y="8268005"/>
            <a:ext cx="638251" cy="277063"/>
          </a:xfrm>
          <a:prstGeom prst="rect">
            <a:avLst/>
          </a:prstGeom>
          <a:noFill/>
          <a:ln/>
        </p:spPr>
        <p:txBody>
          <a:bodyPr wrap="none" lIns="0" tIns="0" rIns="0" bIns="0" rtlCol="0" anchor="ctr"/>
          <a:lstStyle/>
          <a:p>
            <a:pPr algn="l" indent="0" marL="0">
              <a:buNone/>
            </a:pPr>
            <a:r>
              <a:rPr lang="en-US" sz="1650" b="1" dirty="0">
                <a:solidFill>
                  <a:srgbClr val="F87171"/>
                </a:solidFill>
                <a:latin typeface="JetBrains Mono" pitchFamily="34" charset="0"/>
                <a:ea typeface="JetBrains Mono" pitchFamily="34" charset="-122"/>
                <a:cs typeface="JetBrains Mono" pitchFamily="34" charset="-120"/>
              </a:rPr>
              <a:t>+4.7%</a:t>
            </a:r>
            <a:endParaRPr lang="en-US" sz="1650" dirty="0"/>
          </a:p>
        </p:txBody>
      </p:sp>
      <p:sp>
        <p:nvSpPr>
          <p:cNvPr id="20" name="Text 14"/>
          <p:cNvSpPr txBox="1"/>
          <p:nvPr/>
        </p:nvSpPr>
        <p:spPr>
          <a:xfrm>
            <a:off x="3124505" y="8324698"/>
            <a:ext cx="712318" cy="162763"/>
          </a:xfrm>
          <a:prstGeom prst="rect">
            <a:avLst/>
          </a:prstGeom>
          <a:noFill/>
          <a:ln/>
        </p:spPr>
        <p:txBody>
          <a:bodyPr wrap="non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P99 tail</a:t>
            </a:r>
            <a:endParaRPr lang="en-US" sz="1050" dirty="0"/>
          </a:p>
        </p:txBody>
      </p:sp>
      <p:sp>
        <p:nvSpPr>
          <p:cNvPr id="21" name="Text 15"/>
          <p:cNvSpPr txBox="1"/>
          <p:nvPr/>
        </p:nvSpPr>
        <p:spPr>
          <a:xfrm>
            <a:off x="3729838" y="8268005"/>
            <a:ext cx="638251" cy="277063"/>
          </a:xfrm>
          <a:prstGeom prst="rect">
            <a:avLst/>
          </a:prstGeom>
          <a:noFill/>
          <a:ln/>
        </p:spPr>
        <p:txBody>
          <a:bodyPr wrap="none" lIns="0" tIns="0" rIns="0" bIns="0" rtlCol="0" anchor="ctr"/>
          <a:lstStyle/>
          <a:p>
            <a:pPr algn="l" indent="0" marL="0">
              <a:buNone/>
            </a:pPr>
            <a:r>
              <a:rPr lang="en-US" sz="1650" b="1" dirty="0">
                <a:solidFill>
                  <a:srgbClr val="F87171"/>
                </a:solidFill>
                <a:latin typeface="JetBrains Mono" pitchFamily="34" charset="0"/>
                <a:ea typeface="JetBrains Mono" pitchFamily="34" charset="-122"/>
                <a:cs typeface="JetBrains Mono" pitchFamily="34" charset="-120"/>
              </a:rPr>
              <a:t>+8.8%</a:t>
            </a:r>
            <a:endParaRPr lang="en-US" sz="1650" dirty="0"/>
          </a:p>
        </p:txBody>
      </p:sp>
      <p:sp>
        <p:nvSpPr>
          <p:cNvPr id="22" name="Text 16"/>
          <p:cNvSpPr txBox="1"/>
          <p:nvPr/>
        </p:nvSpPr>
        <p:spPr>
          <a:xfrm>
            <a:off x="1371600" y="8620049"/>
            <a:ext cx="7334402" cy="191110"/>
          </a:xfrm>
          <a:prstGeom prst="rect">
            <a:avLst/>
          </a:prstGeom>
          <a:noFill/>
          <a:ln/>
        </p:spPr>
        <p:txBody>
          <a:bodyPr wrap="none" lIns="0" tIns="0" rIns="0" bIns="0" rtlCol="0" anchor="ctr"/>
          <a:lstStyle/>
          <a:p>
            <a:pPr algn="l" indent="0" marL="0">
              <a:buNone/>
            </a:pPr>
            <a:r>
              <a:rPr lang="en-US" sz="1050" dirty="0">
                <a:solidFill>
                  <a:srgbClr val="7E8DA6"/>
                </a:solidFill>
                <a:latin typeface="Inter" pitchFamily="34" charset="0"/>
                <a:ea typeface="Inter" pitchFamily="34" charset="-122"/>
                <a:cs typeface="Inter" pitchFamily="34" charset="-120"/>
              </a:rPr>
              <a:t>Air Gap wafer에서 line 부피 cavity 형성 → Cu 라인 단면적 감소로 Rs 평균 +4.7%, tail +8.8%.</a:t>
            </a:r>
            <a:endParaRPr lang="en-US" sz="1050" dirty="0"/>
          </a:p>
        </p:txBody>
      </p:sp>
      <p:sp>
        <p:nvSpPr>
          <p:cNvPr id="23" name="Text 17"/>
          <p:cNvSpPr txBox="1"/>
          <p:nvPr/>
        </p:nvSpPr>
        <p:spPr>
          <a:xfrm>
            <a:off x="9658807" y="2115007"/>
            <a:ext cx="3592678" cy="419710"/>
          </a:xfrm>
          <a:prstGeom prst="rect">
            <a:avLst/>
          </a:prstGeom>
          <a:noFill/>
          <a:ln/>
        </p:spPr>
        <p:txBody>
          <a:bodyPr wrap="none" lIns="0" tIns="0" rIns="0" bIns="0" rtlCol="0" anchor="ctr"/>
          <a:lstStyle/>
          <a:p>
            <a:pPr algn="l" indent="0" marL="0">
              <a:buNone/>
            </a:pPr>
            <a:r>
              <a:rPr lang="en-US" sz="2700" b="1" dirty="0">
                <a:solidFill>
                  <a:srgbClr val="ECF1F9"/>
                </a:solidFill>
                <a:latin typeface="Inter" pitchFamily="34" charset="0"/>
                <a:ea typeface="Inter" pitchFamily="34" charset="-122"/>
                <a:cs typeface="Inter" pitchFamily="34" charset="-120"/>
              </a:rPr>
              <a:t>Rc · via contact</a:t>
            </a:r>
            <a:endParaRPr lang="en-US" sz="2700" dirty="0"/>
          </a:p>
        </p:txBody>
      </p:sp>
      <p:sp>
        <p:nvSpPr>
          <p:cNvPr id="24" name="Text 18"/>
          <p:cNvSpPr txBox="1"/>
          <p:nvPr/>
        </p:nvSpPr>
        <p:spPr>
          <a:xfrm>
            <a:off x="12378233" y="2276856"/>
            <a:ext cx="1648663" cy="219456"/>
          </a:xfrm>
          <a:prstGeom prst="rect">
            <a:avLst/>
          </a:prstGeom>
          <a:noFill/>
          <a:ln/>
        </p:spPr>
        <p:txBody>
          <a:bodyPr wrap="none" lIns="0" tIns="0" rIns="0" bIns="0" rtlCol="0" anchor="ctr"/>
          <a:lstStyle/>
          <a:p>
            <a:pPr algn="l" indent="0" marL="0">
              <a:buNone/>
            </a:pPr>
            <a:r>
              <a:rPr lang="en-US" sz="1350" dirty="0">
                <a:solidFill>
                  <a:srgbClr val="7E8DA6"/>
                </a:solidFill>
                <a:latin typeface="JetBrains Mono" pitchFamily="34" charset="0"/>
                <a:ea typeface="JetBrains Mono" pitchFamily="34" charset="-122"/>
                <a:cs typeface="JetBrains Mono" pitchFamily="34" charset="-120"/>
              </a:rPr>
              <a:t>Ω/via · V1 chain</a:t>
            </a:r>
            <a:endParaRPr lang="en-US" sz="1350" dirty="0"/>
          </a:p>
        </p:txBody>
      </p:sp>
      <p:sp>
        <p:nvSpPr>
          <p:cNvPr id="25" name="Text 19"/>
          <p:cNvSpPr txBox="1"/>
          <p:nvPr/>
        </p:nvSpPr>
        <p:spPr>
          <a:xfrm>
            <a:off x="9658807" y="2590495"/>
            <a:ext cx="7429500" cy="191110"/>
          </a:xfrm>
          <a:prstGeom prst="rect">
            <a:avLst/>
          </a:prstGeom>
          <a:noFill/>
          <a:ln/>
        </p:spPr>
        <p:txBody>
          <a:bodyPr wrap="non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V1 직경 18nm × 0.5k chain, Kelvin 4pt TEG</a:t>
            </a:r>
            <a:endParaRPr lang="en-US" sz="10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9658807" y="2971800"/>
          <a:ext cx="7543800" cy="4019702"/>
        </p:xfrm>
        <a:graphic>
          <a:graphicData uri="http://schemas.openxmlformats.org/drawingml/2006/table">
            <a:tbl>
              <a:tblPr/>
              <a:tblGrid>
                <a:gridCol w="1123389"/>
                <a:gridCol w="743137"/>
                <a:gridCol w="743137"/>
                <a:gridCol w="743137"/>
                <a:gridCol w="743137"/>
                <a:gridCol w="743137"/>
                <a:gridCol w="743137"/>
                <a:gridCol w="743137"/>
                <a:gridCol w="1218452"/>
              </a:tblGrid>
              <a:tr h="803940">
                <a:tc>
                  <a:txBody>
                    <a:bodyPr/>
                    <a:lstStyle/>
                    <a:p>
                      <a:pPr algn="l" indent="0" marL="0">
                        <a:buNone/>
                      </a:pPr>
                      <a:r>
                        <a:rPr lang="en-US" sz="900" b="1" dirty="0">
                          <a:solidFill>
                            <a:srgbClr val="7E8DA6"/>
                          </a:solidFill>
                          <a:latin typeface="Inter" pitchFamily="34" charset="0"/>
                          <a:ea typeface="Inter" pitchFamily="34" charset="-122"/>
                          <a:cs typeface="Inter" pitchFamily="34" charset="-120"/>
                        </a:rPr>
                        <a:t>WAFER</a:t>
                      </a:r>
                      <a:endParaRPr lang="en-US" sz="900" dirty="0">
                        <a:latin typeface="Inter" charset="0"/>
                        <a:ea typeface="Inter" charset="0"/>
                        <a:cs typeface="Inter" charset="0"/>
                      </a:endParaRPr>
                    </a:p>
                  </a:txBody>
                  <a:tcPr marL="95098" marR="95098"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P1%</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P5%</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P25%</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P50%</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P75%</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P95%</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P99%</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825" b="1" dirty="0">
                          <a:solidFill>
                            <a:srgbClr val="7E8DA6"/>
                          </a:solidFill>
                          <a:latin typeface="Inter" pitchFamily="34" charset="0"/>
                          <a:ea typeface="Inter" pitchFamily="34" charset="-122"/>
                          <a:cs typeface="Inter" pitchFamily="34" charset="-120"/>
                        </a:rPr>
                        <a:t>σ</a:t>
                      </a:r>
                      <a:endParaRPr lang="en-US" sz="825" dirty="0">
                        <a:latin typeface="Inter" charset="0"/>
                        <a:ea typeface="Inter" charset="0"/>
                        <a:cs typeface="Inter"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r>
              <a:tr h="803940">
                <a:tc>
                  <a:txBody>
                    <a:bodyPr/>
                    <a:lstStyle/>
                    <a:p>
                      <a:pPr indent="0" marL="0">
                        <a:buNone/>
                      </a:pPr>
                      <a:r>
                        <a:rPr lang="en-US" sz="1650" b="1" dirty="0">
                          <a:solidFill>
                            <a:srgbClr val="38BDF8"/>
                          </a:solidFill>
                          <a:latin typeface="JetBrains Mono" pitchFamily="34" charset="0"/>
                          <a:ea typeface="JetBrains Mono" pitchFamily="34" charset="-122"/>
                          <a:cs typeface="JetBrains Mono" pitchFamily="34" charset="-120"/>
                        </a:rPr>
                        <a:t>W1·A</a:t>
                      </a:r>
                      <a:endParaRPr lang="en-US" sz="1650" dirty="0">
                        <a:latin typeface="JetBrains Mono" charset="0"/>
                        <a:ea typeface="JetBrains Mono" charset="0"/>
                        <a:cs typeface="JetBrains Mono" charset="0"/>
                      </a:endParaRPr>
                    </a:p>
                  </a:txBody>
                  <a:tcPr marL="95098" marR="95098"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41</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44</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48</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650" b="1" dirty="0">
                          <a:solidFill>
                            <a:srgbClr val="ECF1F9"/>
                          </a:solidFill>
                          <a:latin typeface="JetBrains Mono" pitchFamily="34" charset="0"/>
                          <a:ea typeface="JetBrains Mono" pitchFamily="34" charset="-122"/>
                          <a:cs typeface="JetBrains Mono" pitchFamily="34" charset="-120"/>
                        </a:rPr>
                        <a:t>52</a:t>
                      </a:r>
                      <a:endParaRPr lang="en-US" sz="16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56</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62</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65</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22C55E"/>
                          </a:solidFill>
                          <a:latin typeface="JetBrains Mono" pitchFamily="34" charset="0"/>
                          <a:ea typeface="JetBrains Mono" pitchFamily="34" charset="-122"/>
                          <a:cs typeface="JetBrains Mono" pitchFamily="34" charset="-120"/>
                        </a:rPr>
                        <a:t>6.4</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r>
              <a:tr h="803940">
                <a:tc>
                  <a:txBody>
                    <a:bodyPr/>
                    <a:lstStyle/>
                    <a:p>
                      <a:pPr indent="0" marL="0">
                        <a:buNone/>
                      </a:pPr>
                      <a:r>
                        <a:rPr lang="en-US" sz="1650" b="1" dirty="0">
                          <a:solidFill>
                            <a:srgbClr val="F59E0B"/>
                          </a:solidFill>
                          <a:latin typeface="JetBrains Mono" pitchFamily="34" charset="0"/>
                          <a:ea typeface="JetBrains Mono" pitchFamily="34" charset="-122"/>
                          <a:cs typeface="JetBrains Mono" pitchFamily="34" charset="-120"/>
                        </a:rPr>
                        <a:t>W2·A</a:t>
                      </a:r>
                      <a:endParaRPr lang="en-US" sz="1650" dirty="0">
                        <a:latin typeface="JetBrains Mono" charset="0"/>
                        <a:ea typeface="JetBrains Mono" charset="0"/>
                        <a:cs typeface="JetBrains Mono" charset="0"/>
                      </a:endParaRPr>
                    </a:p>
                  </a:txBody>
                  <a:tcPr marL="95098" marR="95098"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44</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48</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53</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650" b="1" dirty="0">
                          <a:solidFill>
                            <a:srgbClr val="ECF1F9"/>
                          </a:solidFill>
                          <a:latin typeface="JetBrains Mono" pitchFamily="34" charset="0"/>
                          <a:ea typeface="JetBrains Mono" pitchFamily="34" charset="-122"/>
                          <a:cs typeface="JetBrains Mono" pitchFamily="34" charset="-120"/>
                        </a:rPr>
                        <a:t>58</a:t>
                      </a:r>
                      <a:endParaRPr lang="en-US" sz="16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63</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71</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76</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F87171"/>
                          </a:solidFill>
                          <a:latin typeface="JetBrains Mono" pitchFamily="34" charset="0"/>
                          <a:ea typeface="JetBrains Mono" pitchFamily="34" charset="-122"/>
                          <a:cs typeface="JetBrains Mono" pitchFamily="34" charset="-120"/>
                        </a:rPr>
                        <a:t>8.6</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r>
              <a:tr h="803940">
                <a:tc>
                  <a:txBody>
                    <a:bodyPr/>
                    <a:lstStyle/>
                    <a:p>
                      <a:pPr indent="0" marL="0">
                        <a:buNone/>
                      </a:pPr>
                      <a:r>
                        <a:rPr lang="en-US" sz="1650" b="1" dirty="0">
                          <a:solidFill>
                            <a:srgbClr val="38BDF8"/>
                          </a:solidFill>
                          <a:latin typeface="JetBrains Mono" pitchFamily="34" charset="0"/>
                          <a:ea typeface="JetBrains Mono" pitchFamily="34" charset="-122"/>
                          <a:cs typeface="JetBrains Mono" pitchFamily="34" charset="-120"/>
                        </a:rPr>
                        <a:t>W3·B</a:t>
                      </a:r>
                      <a:endParaRPr lang="en-US" sz="1650" dirty="0">
                        <a:latin typeface="JetBrains Mono" charset="0"/>
                        <a:ea typeface="JetBrains Mono" charset="0"/>
                        <a:cs typeface="JetBrains Mono" charset="0"/>
                      </a:endParaRPr>
                    </a:p>
                  </a:txBody>
                  <a:tcPr marL="95098" marR="95098"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42</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45</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49</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650" b="1" dirty="0">
                          <a:solidFill>
                            <a:srgbClr val="ECF1F9"/>
                          </a:solidFill>
                          <a:latin typeface="JetBrains Mono" pitchFamily="34" charset="0"/>
                          <a:ea typeface="JetBrains Mono" pitchFamily="34" charset="-122"/>
                          <a:cs typeface="JetBrains Mono" pitchFamily="34" charset="-120"/>
                        </a:rPr>
                        <a:t>53</a:t>
                      </a:r>
                      <a:endParaRPr lang="en-US" sz="16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57</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61</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64</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22C55E"/>
                          </a:solidFill>
                          <a:latin typeface="JetBrains Mono" pitchFamily="34" charset="0"/>
                          <a:ea typeface="JetBrains Mono" pitchFamily="34" charset="-122"/>
                          <a:cs typeface="JetBrains Mono" pitchFamily="34" charset="-120"/>
                        </a:rPr>
                        <a:t>6.1</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r>
              <a:tr h="803940">
                <a:tc>
                  <a:txBody>
                    <a:bodyPr/>
                    <a:lstStyle/>
                    <a:p>
                      <a:pPr indent="0" marL="0">
                        <a:buNone/>
                      </a:pPr>
                      <a:r>
                        <a:rPr lang="en-US" sz="1650" b="1" dirty="0">
                          <a:solidFill>
                            <a:srgbClr val="F59E0B"/>
                          </a:solidFill>
                          <a:latin typeface="JetBrains Mono" pitchFamily="34" charset="0"/>
                          <a:ea typeface="JetBrains Mono" pitchFamily="34" charset="-122"/>
                          <a:cs typeface="JetBrains Mono" pitchFamily="34" charset="-120"/>
                        </a:rPr>
                        <a:t>W4·B</a:t>
                      </a:r>
                      <a:endParaRPr lang="en-US" sz="1650" dirty="0">
                        <a:latin typeface="JetBrains Mono" charset="0"/>
                        <a:ea typeface="JetBrains Mono" charset="0"/>
                        <a:cs typeface="JetBrains Mono" charset="0"/>
                      </a:endParaRPr>
                    </a:p>
                  </a:txBody>
                  <a:tcPr marL="95098" marR="95098"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46</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50</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55</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650" b="1" dirty="0">
                          <a:solidFill>
                            <a:srgbClr val="ECF1F9"/>
                          </a:solidFill>
                          <a:latin typeface="JetBrains Mono" pitchFamily="34" charset="0"/>
                          <a:ea typeface="JetBrains Mono" pitchFamily="34" charset="-122"/>
                          <a:cs typeface="JetBrains Mono" pitchFamily="34" charset="-120"/>
                        </a:rPr>
                        <a:t>61</a:t>
                      </a:r>
                      <a:endParaRPr lang="en-US" sz="16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66</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75</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81</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F87171"/>
                          </a:solidFill>
                          <a:latin typeface="JetBrains Mono" pitchFamily="34" charset="0"/>
                          <a:ea typeface="JetBrains Mono" pitchFamily="34" charset="-122"/>
                          <a:cs typeface="JetBrains Mono" pitchFamily="34" charset="-120"/>
                        </a:rPr>
                        <a:t>9.2</a:t>
                      </a:r>
                      <a:endParaRPr lang="en-US" sz="1350" dirty="0">
                        <a:latin typeface="JetBrains Mono" charset="0"/>
                        <a:ea typeface="JetBrains Mono" charset="0"/>
                        <a:cs typeface="JetBrains Mono" charset="0"/>
                      </a:endParaRPr>
                    </a:p>
                  </a:txBody>
                  <a:tcPr marL="57607" marR="57607" marT="95098" marB="95098"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r>
            </a:tbl>
          </a:graphicData>
        </a:graphic>
      </p:graphicFrame>
      <p:sp>
        <p:nvSpPr>
          <p:cNvPr id="27" name="Text 20"/>
          <p:cNvSpPr txBox="1"/>
          <p:nvPr/>
        </p:nvSpPr>
        <p:spPr>
          <a:xfrm>
            <a:off x="9849002" y="8339328"/>
            <a:ext cx="476402" cy="133502"/>
          </a:xfrm>
          <a:prstGeom prst="rect">
            <a:avLst/>
          </a:prstGeom>
          <a:noFill/>
          <a:ln/>
        </p:spPr>
        <p:txBody>
          <a:bodyPr wrap="none" lIns="0" tIns="0" rIns="0" bIns="0" rtlCol="0" anchor="ctr"/>
          <a:lstStyle/>
          <a:p>
            <a:pPr algn="l" indent="0" marL="0">
              <a:buNone/>
            </a:pPr>
            <a:r>
              <a:rPr lang="en-US" sz="825" spc="247" kern="0" dirty="0">
                <a:solidFill>
                  <a:srgbClr val="7E8DA6"/>
                </a:solidFill>
                <a:latin typeface="Inter" pitchFamily="34" charset="0"/>
                <a:ea typeface="Inter" pitchFamily="34" charset="-122"/>
                <a:cs typeface="Inter" pitchFamily="34" charset="-120"/>
              </a:rPr>
              <a:t>DELTA</a:t>
            </a:r>
            <a:endParaRPr lang="en-US" sz="825" dirty="0"/>
          </a:p>
        </p:txBody>
      </p:sp>
      <p:sp>
        <p:nvSpPr>
          <p:cNvPr id="28" name="Text 21"/>
          <p:cNvSpPr txBox="1"/>
          <p:nvPr/>
        </p:nvSpPr>
        <p:spPr>
          <a:xfrm>
            <a:off x="10457993" y="8324698"/>
            <a:ext cx="257861" cy="162763"/>
          </a:xfrm>
          <a:prstGeom prst="rect">
            <a:avLst/>
          </a:prstGeom>
          <a:noFill/>
          <a:ln/>
        </p:spPr>
        <p:txBody>
          <a:bodyPr wrap="non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P50</a:t>
            </a:r>
            <a:endParaRPr lang="en-US" sz="1050" dirty="0"/>
          </a:p>
        </p:txBody>
      </p:sp>
      <p:sp>
        <p:nvSpPr>
          <p:cNvPr id="29" name="Text 22"/>
          <p:cNvSpPr txBox="1"/>
          <p:nvPr/>
        </p:nvSpPr>
        <p:spPr>
          <a:xfrm>
            <a:off x="10840212" y="8268005"/>
            <a:ext cx="762610" cy="277063"/>
          </a:xfrm>
          <a:prstGeom prst="rect">
            <a:avLst/>
          </a:prstGeom>
          <a:noFill/>
          <a:ln/>
        </p:spPr>
        <p:txBody>
          <a:bodyPr wrap="none" lIns="0" tIns="0" rIns="0" bIns="0" rtlCol="0" anchor="ctr"/>
          <a:lstStyle/>
          <a:p>
            <a:pPr algn="l" indent="0" marL="0">
              <a:buNone/>
            </a:pPr>
            <a:r>
              <a:rPr lang="en-US" sz="1650" b="1" dirty="0">
                <a:solidFill>
                  <a:srgbClr val="F87171"/>
                </a:solidFill>
                <a:latin typeface="JetBrains Mono" pitchFamily="34" charset="0"/>
                <a:ea typeface="JetBrains Mono" pitchFamily="34" charset="-122"/>
                <a:cs typeface="JetBrains Mono" pitchFamily="34" charset="-120"/>
              </a:rPr>
              <a:t>+13.5%</a:t>
            </a:r>
            <a:endParaRPr lang="en-US" sz="1650" dirty="0"/>
          </a:p>
        </p:txBody>
      </p:sp>
      <p:sp>
        <p:nvSpPr>
          <p:cNvPr id="30" name="Text 23"/>
          <p:cNvSpPr txBox="1"/>
          <p:nvPr/>
        </p:nvSpPr>
        <p:spPr>
          <a:xfrm>
            <a:off x="11728094" y="8324698"/>
            <a:ext cx="712318" cy="162763"/>
          </a:xfrm>
          <a:prstGeom prst="rect">
            <a:avLst/>
          </a:prstGeom>
          <a:noFill/>
          <a:ln/>
        </p:spPr>
        <p:txBody>
          <a:bodyPr wrap="non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P99 tail</a:t>
            </a:r>
            <a:endParaRPr lang="en-US" sz="1050" dirty="0"/>
          </a:p>
        </p:txBody>
      </p:sp>
      <p:sp>
        <p:nvSpPr>
          <p:cNvPr id="31" name="Text 24"/>
          <p:cNvSpPr txBox="1"/>
          <p:nvPr/>
        </p:nvSpPr>
        <p:spPr>
          <a:xfrm>
            <a:off x="12333427" y="8268005"/>
            <a:ext cx="762610" cy="277063"/>
          </a:xfrm>
          <a:prstGeom prst="rect">
            <a:avLst/>
          </a:prstGeom>
          <a:noFill/>
          <a:ln/>
        </p:spPr>
        <p:txBody>
          <a:bodyPr wrap="none" lIns="0" tIns="0" rIns="0" bIns="0" rtlCol="0" anchor="ctr"/>
          <a:lstStyle/>
          <a:p>
            <a:pPr algn="l" indent="0" marL="0">
              <a:buNone/>
            </a:pPr>
            <a:r>
              <a:rPr lang="en-US" sz="1650" b="1" dirty="0">
                <a:solidFill>
                  <a:srgbClr val="F87171"/>
                </a:solidFill>
                <a:latin typeface="JetBrains Mono" pitchFamily="34" charset="0"/>
                <a:ea typeface="JetBrains Mono" pitchFamily="34" charset="-122"/>
                <a:cs typeface="JetBrains Mono" pitchFamily="34" charset="-120"/>
              </a:rPr>
              <a:t>+18.6%</a:t>
            </a:r>
            <a:endParaRPr lang="en-US" sz="1650" dirty="0"/>
          </a:p>
        </p:txBody>
      </p:sp>
      <p:sp>
        <p:nvSpPr>
          <p:cNvPr id="32" name="Text 25"/>
          <p:cNvSpPr txBox="1"/>
          <p:nvPr/>
        </p:nvSpPr>
        <p:spPr>
          <a:xfrm>
            <a:off x="9849002" y="8620049"/>
            <a:ext cx="7239305" cy="191110"/>
          </a:xfrm>
          <a:prstGeom prst="rect">
            <a:avLst/>
          </a:prstGeom>
          <a:noFill/>
          <a:ln/>
        </p:spPr>
        <p:txBody>
          <a:bodyPr wrap="none" lIns="0" tIns="0" rIns="0" bIns="0" rtlCol="0" anchor="ctr"/>
          <a:lstStyle/>
          <a:p>
            <a:pPr algn="l" indent="0" marL="0">
              <a:buNone/>
            </a:pPr>
            <a:r>
              <a:rPr lang="en-US" sz="1050" dirty="0">
                <a:solidFill>
                  <a:srgbClr val="7E8DA6"/>
                </a:solidFill>
                <a:latin typeface="Inter" pitchFamily="34" charset="0"/>
                <a:ea typeface="Inter" pitchFamily="34" charset="-122"/>
                <a:cs typeface="Inter" pitchFamily="34" charset="-120"/>
              </a:rPr>
              <a:t>Rc 영향은 Rs보다 큼 — via 직경 under-cut + barrier 두께 변동 누적.</a:t>
            </a:r>
            <a:endParaRPr lang="en-US" sz="1050" dirty="0"/>
          </a:p>
        </p:txBody>
      </p:sp>
      <p:sp>
        <p:nvSpPr>
          <p:cNvPr id="33" name="Text 26"/>
          <p:cNvSpPr txBox="1"/>
          <p:nvPr/>
        </p:nvSpPr>
        <p:spPr>
          <a:xfrm>
            <a:off x="0" y="9715500"/>
            <a:ext cx="18288000" cy="228600"/>
          </a:xfrm>
          <a:prstGeom prst="rect">
            <a:avLst/>
          </a:prstGeom>
          <a:noFill/>
          <a:ln/>
        </p:spPr>
        <p:txBody>
          <a:bodyPr wrap="none" lIns="0" tIns="0" rIns="0" bIns="0" rtlCol="0" anchor="ctr"/>
          <a:lstStyle/>
          <a:p>
            <a:pPr algn="ctr" indent="0" marL="0">
              <a:buNone/>
            </a:pPr>
            <a:r>
              <a:rPr lang="en-US" sz="1200" spc="48" kern="0" dirty="0">
                <a:solidFill>
                  <a:srgbClr val="7E8DA6"/>
                </a:solidFill>
                <a:latin typeface="Inter" pitchFamily="34" charset="0"/>
                <a:ea typeface="Inter" pitchFamily="34" charset="-122"/>
                <a:cs typeface="Inter" pitchFamily="34" charset="-120"/>
              </a:rPr>
              <a:t>※ 내부 테스트용 더미(가상) 데이터</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3" name="Shape 0"/>
          <p:cNvSpPr/>
          <p:nvPr/>
        </p:nvSpPr>
        <p:spPr>
          <a:xfrm>
            <a:off x="857707" y="1904695"/>
            <a:ext cx="16573500" cy="3619195"/>
          </a:xfrm>
          <a:prstGeom prst="rect">
            <a:avLst/>
          </a:prstGeom>
          <a:solidFill>
            <a:srgbClr val="131E33"/>
          </a:solidFill>
          <a:ln w="12700">
            <a:solidFill>
              <a:srgbClr val="2A3B57"/>
            </a:solidFill>
            <a:prstDash val="solid"/>
          </a:ln>
        </p:spPr>
      </p:sp>
      <p:sp>
        <p:nvSpPr>
          <p:cNvPr id="4" name="Shape 1"/>
          <p:cNvSpPr/>
          <p:nvPr/>
        </p:nvSpPr>
        <p:spPr>
          <a:xfrm>
            <a:off x="857707" y="5810098"/>
            <a:ext cx="16573500" cy="3619195"/>
          </a:xfrm>
          <a:prstGeom prst="rect">
            <a:avLst/>
          </a:prstGeom>
          <a:solidFill>
            <a:srgbClr val="131E33"/>
          </a:solidFill>
          <a:ln w="12700">
            <a:solidFill>
              <a:srgbClr val="2A3B57"/>
            </a:solidFill>
            <a:prstDash val="solid"/>
          </a:ln>
        </p:spPr>
      </p:sp>
      <p:sp>
        <p:nvSpPr>
          <p:cNvPr id="5" name="Text 2"/>
          <p:cNvSpPr txBox="1"/>
          <p:nvPr/>
        </p:nvSpPr>
        <p:spPr>
          <a:xfrm>
            <a:off x="857707" y="571500"/>
            <a:ext cx="5715000" cy="162763"/>
          </a:xfrm>
          <a:prstGeom prst="rect">
            <a:avLst/>
          </a:prstGeom>
          <a:noFill/>
          <a:ln/>
        </p:spPr>
        <p:txBody>
          <a:bodyPr wrap="none" lIns="0" tIns="0" rIns="0" bIns="0" rtlCol="0" anchor="ctr"/>
          <a:lstStyle/>
          <a:p>
            <a:pPr algn="l" indent="0" marL="0">
              <a:buNone/>
            </a:pPr>
            <a:r>
              <a:rPr lang="en-US" sz="1050" b="1" spc="336" kern="0" dirty="0">
                <a:solidFill>
                  <a:srgbClr val="F59E0B"/>
                </a:solidFill>
                <a:latin typeface="Inter" pitchFamily="34" charset="0"/>
                <a:ea typeface="Inter" pitchFamily="34" charset="-122"/>
                <a:cs typeface="Inter" pitchFamily="34" charset="-120"/>
              </a:rPr>
              <a:t>06 · PROCESS &amp; ELECTRICAL</a:t>
            </a:r>
            <a:endParaRPr lang="en-US" sz="1050" dirty="0"/>
          </a:p>
        </p:txBody>
      </p:sp>
      <p:sp>
        <p:nvSpPr>
          <p:cNvPr id="6" name="Text 3"/>
          <p:cNvSpPr txBox="1"/>
          <p:nvPr/>
        </p:nvSpPr>
        <p:spPr>
          <a:xfrm>
            <a:off x="857707" y="838505"/>
            <a:ext cx="12382805" cy="467258"/>
          </a:xfrm>
          <a:prstGeom prst="rect">
            <a:avLst/>
          </a:prstGeom>
          <a:noFill/>
          <a:ln/>
        </p:spPr>
        <p:txBody>
          <a:bodyPr wrap="none" lIns="0" tIns="0" rIns="0" bIns="0" rtlCol="0" anchor="ctr"/>
          <a:lstStyle/>
          <a:p>
            <a:pPr algn="l" indent="0" marL="0">
              <a:buNone/>
            </a:pPr>
            <a:r>
              <a:rPr lang="en-US" sz="3450" b="1" spc="-34" kern="0" dirty="0">
                <a:solidFill>
                  <a:srgbClr val="ECF1F9"/>
                </a:solidFill>
                <a:latin typeface="Inter" pitchFamily="34" charset="0"/>
                <a:ea typeface="Inter" pitchFamily="34" charset="-122"/>
                <a:cs typeface="Inter" pitchFamily="34" charset="-120"/>
              </a:rPr>
              <a:t>공정 flow + 전기 데이터 요약</a:t>
            </a:r>
            <a:endParaRPr lang="en-US" sz="3450" dirty="0"/>
          </a:p>
        </p:txBody>
      </p:sp>
      <p:sp>
        <p:nvSpPr>
          <p:cNvPr id="7" name="Text 4"/>
          <p:cNvSpPr txBox="1"/>
          <p:nvPr/>
        </p:nvSpPr>
        <p:spPr>
          <a:xfrm>
            <a:off x="857707" y="1435608"/>
            <a:ext cx="12382805" cy="277063"/>
          </a:xfrm>
          <a:prstGeom prst="rect">
            <a:avLst/>
          </a:prstGeom>
          <a:noFill/>
          <a:ln/>
        </p:spPr>
        <p:txBody>
          <a:bodyPr wrap="none" lIns="0" tIns="0" rIns="0" bIns="0" rtlCol="0" anchor="ctr"/>
          <a:lstStyle/>
          <a:p>
            <a:pPr algn="l" indent="0" marL="0">
              <a:buNone/>
            </a:pPr>
            <a:r>
              <a:rPr lang="en-US" sz="1500" dirty="0">
                <a:solidFill>
                  <a:srgbClr val="C2CCE0"/>
                </a:solidFill>
                <a:latin typeface="Inter" pitchFamily="34" charset="0"/>
                <a:ea typeface="Inter" pitchFamily="34" charset="-122"/>
                <a:cs typeface="Inter" pitchFamily="34" charset="-120"/>
              </a:rPr>
              <a:t>Control baseline 대비 Air Gap split에 추가되는 step과 wafer별 전기 결과 — Jmax, T50, 누설 등 dummy 결과</a:t>
            </a:r>
            <a:endParaRPr lang="en-US" sz="1500" dirty="0"/>
          </a:p>
        </p:txBody>
      </p:sp>
      <p:sp>
        <p:nvSpPr>
          <p:cNvPr id="8" name="Text 5"/>
          <p:cNvSpPr txBox="1"/>
          <p:nvPr/>
        </p:nvSpPr>
        <p:spPr>
          <a:xfrm>
            <a:off x="1143000" y="2115007"/>
            <a:ext cx="6667805" cy="133502"/>
          </a:xfrm>
          <a:prstGeom prst="rect">
            <a:avLst/>
          </a:prstGeom>
          <a:noFill/>
          <a:ln/>
        </p:spPr>
        <p:txBody>
          <a:bodyPr wrap="none" lIns="0" tIns="0" rIns="0" bIns="0" rtlCol="0" anchor="ctr"/>
          <a:lstStyle/>
          <a:p>
            <a:pPr algn="l" indent="0" marL="0">
              <a:buNone/>
            </a:pPr>
            <a:r>
              <a:rPr lang="en-US" sz="825" spc="247" kern="0" dirty="0">
                <a:solidFill>
                  <a:srgbClr val="7E8DA6"/>
                </a:solidFill>
                <a:latin typeface="Inter" pitchFamily="34" charset="0"/>
                <a:ea typeface="Inter" pitchFamily="34" charset="-122"/>
                <a:cs typeface="Inter" pitchFamily="34" charset="-120"/>
              </a:rPr>
              <a:t>PROCESS FLOW DIFF · V1 + M2</a:t>
            </a:r>
            <a:endParaRPr lang="en-US" sz="825" dirty="0"/>
          </a:p>
        </p:txBody>
      </p:sp>
      <p:sp>
        <p:nvSpPr>
          <p:cNvPr id="9" name="Text 6"/>
          <p:cNvSpPr txBox="1"/>
          <p:nvPr/>
        </p:nvSpPr>
        <p:spPr>
          <a:xfrm>
            <a:off x="1143000" y="2343607"/>
            <a:ext cx="6667805" cy="333756"/>
          </a:xfrm>
          <a:prstGeom prst="rect">
            <a:avLst/>
          </a:prstGeom>
          <a:noFill/>
          <a:ln/>
        </p:spPr>
        <p:txBody>
          <a:bodyPr wrap="none" lIns="0" tIns="0" rIns="0" bIns="0" rtlCol="0" anchor="ctr"/>
          <a:lstStyle/>
          <a:p>
            <a:pPr algn="l" indent="0" marL="0">
              <a:buNone/>
            </a:pPr>
            <a:r>
              <a:rPr lang="en-US" sz="1800" b="1" dirty="0">
                <a:solidFill>
                  <a:srgbClr val="ECF1F9"/>
                </a:solidFill>
                <a:latin typeface="Inter" pitchFamily="34" charset="0"/>
                <a:ea typeface="Inter" pitchFamily="34" charset="-122"/>
                <a:cs typeface="Inter" pitchFamily="34" charset="-120"/>
              </a:rPr>
              <a:t>Split 기준 step-by-step 차이</a:t>
            </a:r>
            <a:endParaRPr lang="en-US" sz="1800" dirty="0"/>
          </a:p>
        </p:txBody>
      </p:sp>
      <p:sp>
        <p:nvSpPr>
          <p:cNvPr id="10" name="Text 7"/>
          <p:cNvSpPr txBox="1"/>
          <p:nvPr/>
        </p:nvSpPr>
        <p:spPr>
          <a:xfrm>
            <a:off x="14976958" y="2157070"/>
            <a:ext cx="619963" cy="162763"/>
          </a:xfrm>
          <a:prstGeom prst="rect">
            <a:avLst/>
          </a:prstGeom>
          <a:noFill/>
          <a:ln/>
        </p:spPr>
        <p:txBody>
          <a:bodyPr wrap="none" lIns="0" tIns="0" rIns="0" bIns="0" rtlCol="0" anchor="ctr"/>
          <a:lstStyle/>
          <a:p>
            <a:pPr algn="r" indent="0" marL="0">
              <a:buNone/>
            </a:pPr>
            <a:r>
              <a:rPr lang="en-US" sz="1050" dirty="0">
                <a:solidFill>
                  <a:srgbClr val="C2CCE0"/>
                </a:solidFill>
                <a:latin typeface="Inter" pitchFamily="34" charset="0"/>
                <a:ea typeface="Inter" pitchFamily="34" charset="-122"/>
                <a:cs typeface="Inter" pitchFamily="34" charset="-120"/>
              </a:rPr>
              <a:t>Control</a:t>
            </a:r>
            <a:endParaRPr lang="en-US" sz="1050" dirty="0"/>
          </a:p>
        </p:txBody>
      </p:sp>
      <p:sp>
        <p:nvSpPr>
          <p:cNvPr id="11" name="Text 8"/>
          <p:cNvSpPr txBox="1"/>
          <p:nvPr/>
        </p:nvSpPr>
        <p:spPr>
          <a:xfrm>
            <a:off x="15723108" y="2157070"/>
            <a:ext cx="629107" cy="162763"/>
          </a:xfrm>
          <a:prstGeom prst="rect">
            <a:avLst/>
          </a:prstGeom>
          <a:noFill/>
          <a:ln/>
        </p:spPr>
        <p:txBody>
          <a:bodyPr wrap="none" lIns="0" tIns="0" rIns="0" bIns="0" rtlCol="0" anchor="ctr"/>
          <a:lstStyle/>
          <a:p>
            <a:pPr algn="r" indent="0" marL="0">
              <a:buNone/>
            </a:pPr>
            <a:r>
              <a:rPr lang="en-US" sz="1050" dirty="0">
                <a:solidFill>
                  <a:srgbClr val="C2CCE0"/>
                </a:solidFill>
                <a:latin typeface="Inter" pitchFamily="34" charset="0"/>
                <a:ea typeface="Inter" pitchFamily="34" charset="-122"/>
                <a:cs typeface="Inter" pitchFamily="34" charset="-120"/>
              </a:rPr>
              <a:t>Air Gap</a:t>
            </a:r>
            <a:endParaRPr lang="en-US" sz="1050" dirty="0"/>
          </a:p>
        </p:txBody>
      </p:sp>
      <p:sp>
        <p:nvSpPr>
          <p:cNvPr id="12" name="Text 9"/>
          <p:cNvSpPr txBox="1"/>
          <p:nvPr/>
        </p:nvSpPr>
        <p:spPr>
          <a:xfrm>
            <a:off x="16477488" y="2157070"/>
            <a:ext cx="676656" cy="162763"/>
          </a:xfrm>
          <a:prstGeom prst="rect">
            <a:avLst/>
          </a:prstGeom>
          <a:noFill/>
          <a:ln/>
        </p:spPr>
        <p:txBody>
          <a:bodyPr wrap="none" lIns="0" tIns="0" rIns="0" bIns="0" rtlCol="0" anchor="ctr"/>
          <a:lstStyle/>
          <a:p>
            <a:pPr algn="r" indent="0" marL="0">
              <a:buNone/>
            </a:pPr>
            <a:r>
              <a:rPr lang="en-US" sz="1050" dirty="0">
                <a:solidFill>
                  <a:srgbClr val="C2CCE0"/>
                </a:solidFill>
                <a:latin typeface="Inter" pitchFamily="34" charset="0"/>
                <a:ea typeface="Inter" pitchFamily="34" charset="-122"/>
                <a:cs typeface="Inter" pitchFamily="34" charset="-120"/>
              </a:rPr>
              <a:t>AG-only</a:t>
            </a:r>
            <a:endParaRPr lang="en-US" sz="1050" dirty="0"/>
          </a:p>
        </p:txBody>
      </p:sp>
      <p:sp>
        <p:nvSpPr>
          <p:cNvPr id="13" name="Shape 10"/>
          <p:cNvSpPr/>
          <p:nvPr/>
        </p:nvSpPr>
        <p:spPr>
          <a:xfrm>
            <a:off x="1143000" y="2857500"/>
            <a:ext cx="16002000" cy="514807"/>
          </a:xfrm>
          <a:prstGeom prst="rect">
            <a:avLst/>
          </a:prstGeom>
          <a:solidFill>
            <a:srgbClr val="182642"/>
          </a:solidFill>
          <a:ln w="12700">
            <a:solidFill>
              <a:srgbClr val="FFFFFF">
                <a:alpha val="0"/>
              </a:srgbClr>
            </a:solidFill>
            <a:prstDash val="solid"/>
          </a:ln>
        </p:spPr>
      </p:sp>
      <p:sp>
        <p:nvSpPr>
          <p:cNvPr id="14" name="Shape 11"/>
          <p:cNvSpPr/>
          <p:nvPr/>
        </p:nvSpPr>
        <p:spPr>
          <a:xfrm>
            <a:off x="1143000" y="3363163"/>
            <a:ext cx="761695" cy="9144"/>
          </a:xfrm>
          <a:prstGeom prst="rect">
            <a:avLst/>
          </a:prstGeom>
          <a:solidFill>
            <a:srgbClr val="2A3B57"/>
          </a:solidFill>
          <a:ln w="12700">
            <a:solidFill>
              <a:srgbClr val="2A3B57">
                <a:alpha val="0"/>
              </a:srgbClr>
            </a:solidFill>
            <a:prstDash val="solid"/>
          </a:ln>
        </p:spPr>
      </p:sp>
      <p:sp>
        <p:nvSpPr>
          <p:cNvPr id="15" name="Text 12"/>
          <p:cNvSpPr txBox="1"/>
          <p:nvPr/>
        </p:nvSpPr>
        <p:spPr>
          <a:xfrm>
            <a:off x="1143000" y="2857500"/>
            <a:ext cx="762610" cy="429768"/>
          </a:xfrm>
          <a:prstGeom prst="rect">
            <a:avLst/>
          </a:prstGeom>
          <a:solidFill>
            <a:srgbClr val="FFFFFF">
              <a:alpha val="0"/>
            </a:srgbClr>
          </a:solidFill>
          <a:ln>
            <a:solidFill>
              <a:srgbClr val="FFFFFF">
                <a:alpha val="0"/>
              </a:srgbClr>
            </a:solidFill>
          </a:ln>
        </p:spPr>
        <p:txBody>
          <a:bodyPr wrap="square" lIns="114300" tIns="76200" rIns="114300" bIns="0" rtlCol="0" anchor="ctr"/>
          <a:lstStyle/>
          <a:p>
            <a:pPr algn="l" indent="0" marL="0">
              <a:buNone/>
            </a:pPr>
            <a:r>
              <a:rPr lang="en-US" sz="900" b="1" spc="180" kern="0" dirty="0">
                <a:solidFill>
                  <a:srgbClr val="7E8DA6"/>
                </a:solidFill>
                <a:latin typeface="Inter" pitchFamily="34" charset="0"/>
                <a:ea typeface="Inter" pitchFamily="34" charset="-122"/>
                <a:cs typeface="Inter" pitchFamily="34" charset="-120"/>
              </a:rPr>
              <a:t>STEP</a:t>
            </a:r>
            <a:endParaRPr lang="en-US" sz="900" dirty="0"/>
          </a:p>
        </p:txBody>
      </p:sp>
      <p:sp>
        <p:nvSpPr>
          <p:cNvPr id="16" name="Shape 13"/>
          <p:cNvSpPr/>
          <p:nvPr/>
        </p:nvSpPr>
        <p:spPr>
          <a:xfrm>
            <a:off x="1904695" y="3363163"/>
            <a:ext cx="2857500" cy="9144"/>
          </a:xfrm>
          <a:prstGeom prst="rect">
            <a:avLst/>
          </a:prstGeom>
          <a:solidFill>
            <a:srgbClr val="2A3B57"/>
          </a:solidFill>
          <a:ln w="12700">
            <a:solidFill>
              <a:srgbClr val="2A3B57">
                <a:alpha val="0"/>
              </a:srgbClr>
            </a:solidFill>
            <a:prstDash val="solid"/>
          </a:ln>
        </p:spPr>
      </p:sp>
      <p:sp>
        <p:nvSpPr>
          <p:cNvPr id="17" name="Text 14"/>
          <p:cNvSpPr txBox="1"/>
          <p:nvPr/>
        </p:nvSpPr>
        <p:spPr>
          <a:xfrm>
            <a:off x="1904695" y="2857500"/>
            <a:ext cx="2857500" cy="429768"/>
          </a:xfrm>
          <a:prstGeom prst="rect">
            <a:avLst/>
          </a:prstGeom>
          <a:solidFill>
            <a:srgbClr val="FFFFFF">
              <a:alpha val="0"/>
            </a:srgbClr>
          </a:solidFill>
          <a:ln>
            <a:solidFill>
              <a:srgbClr val="FFFFFF">
                <a:alpha val="0"/>
              </a:srgbClr>
            </a:solidFill>
          </a:ln>
        </p:spPr>
        <p:txBody>
          <a:bodyPr wrap="square" lIns="114300" tIns="76200" rIns="114300" bIns="0" rtlCol="0" anchor="ctr"/>
          <a:lstStyle/>
          <a:p>
            <a:pPr algn="l" indent="0" marL="0">
              <a:buNone/>
            </a:pPr>
            <a:r>
              <a:rPr lang="en-US" sz="900" b="1" spc="180" kern="0" dirty="0">
                <a:solidFill>
                  <a:srgbClr val="7E8DA6"/>
                </a:solidFill>
                <a:latin typeface="Inter" pitchFamily="34" charset="0"/>
                <a:ea typeface="Inter" pitchFamily="34" charset="-122"/>
                <a:cs typeface="Inter" pitchFamily="34" charset="-120"/>
              </a:rPr>
              <a:t>PROCESS</a:t>
            </a:r>
            <a:endParaRPr lang="en-US" sz="900" dirty="0"/>
          </a:p>
        </p:txBody>
      </p:sp>
      <p:sp>
        <p:nvSpPr>
          <p:cNvPr id="18" name="Shape 15"/>
          <p:cNvSpPr/>
          <p:nvPr/>
        </p:nvSpPr>
        <p:spPr>
          <a:xfrm>
            <a:off x="4762195" y="3363163"/>
            <a:ext cx="4095598" cy="9144"/>
          </a:xfrm>
          <a:prstGeom prst="rect">
            <a:avLst/>
          </a:prstGeom>
          <a:solidFill>
            <a:srgbClr val="2A3B57"/>
          </a:solidFill>
          <a:ln w="12700">
            <a:solidFill>
              <a:srgbClr val="2A3B57">
                <a:alpha val="0"/>
              </a:srgbClr>
            </a:solidFill>
            <a:prstDash val="solid"/>
          </a:ln>
        </p:spPr>
      </p:sp>
      <p:sp>
        <p:nvSpPr>
          <p:cNvPr id="19" name="Shape 16"/>
          <p:cNvSpPr/>
          <p:nvPr/>
        </p:nvSpPr>
        <p:spPr>
          <a:xfrm>
            <a:off x="8858707" y="3363163"/>
            <a:ext cx="4095598" cy="9144"/>
          </a:xfrm>
          <a:prstGeom prst="rect">
            <a:avLst/>
          </a:prstGeom>
          <a:solidFill>
            <a:srgbClr val="2A3B57"/>
          </a:solidFill>
          <a:ln w="12700">
            <a:solidFill>
              <a:srgbClr val="2A3B57">
                <a:alpha val="0"/>
              </a:srgbClr>
            </a:solidFill>
            <a:prstDash val="solid"/>
          </a:ln>
        </p:spPr>
      </p:sp>
      <p:sp>
        <p:nvSpPr>
          <p:cNvPr id="20" name="Shape 17"/>
          <p:cNvSpPr/>
          <p:nvPr/>
        </p:nvSpPr>
        <p:spPr>
          <a:xfrm>
            <a:off x="12954305" y="3363163"/>
            <a:ext cx="4190695" cy="9144"/>
          </a:xfrm>
          <a:prstGeom prst="rect">
            <a:avLst/>
          </a:prstGeom>
          <a:solidFill>
            <a:srgbClr val="2A3B57"/>
          </a:solidFill>
          <a:ln w="12700">
            <a:solidFill>
              <a:srgbClr val="2A3B57">
                <a:alpha val="0"/>
              </a:srgbClr>
            </a:solidFill>
            <a:prstDash val="solid"/>
          </a:ln>
        </p:spPr>
      </p:sp>
      <p:sp>
        <p:nvSpPr>
          <p:cNvPr id="21" name="Text 18"/>
          <p:cNvSpPr txBox="1"/>
          <p:nvPr/>
        </p:nvSpPr>
        <p:spPr>
          <a:xfrm>
            <a:off x="12954305" y="2857500"/>
            <a:ext cx="4191610" cy="429768"/>
          </a:xfrm>
          <a:prstGeom prst="rect">
            <a:avLst/>
          </a:prstGeom>
          <a:solidFill>
            <a:srgbClr val="FFFFFF">
              <a:alpha val="0"/>
            </a:srgbClr>
          </a:solidFill>
          <a:ln>
            <a:solidFill>
              <a:srgbClr val="FFFFFF">
                <a:alpha val="0"/>
              </a:srgbClr>
            </a:solidFill>
          </a:ln>
        </p:spPr>
        <p:txBody>
          <a:bodyPr wrap="square" lIns="114300" tIns="76200" rIns="114300" bIns="0" rtlCol="0" anchor="ctr"/>
          <a:lstStyle/>
          <a:p>
            <a:pPr algn="l" indent="0" marL="0">
              <a:buNone/>
            </a:pPr>
            <a:r>
              <a:rPr lang="en-US" sz="900" b="1" spc="180" kern="0" dirty="0">
                <a:solidFill>
                  <a:srgbClr val="7E8DA6"/>
                </a:solidFill>
                <a:latin typeface="Inter" pitchFamily="34" charset="0"/>
                <a:ea typeface="Inter" pitchFamily="34" charset="-122"/>
                <a:cs typeface="Inter" pitchFamily="34" charset="-120"/>
              </a:rPr>
              <a:t>NOTE</a:t>
            </a:r>
            <a:endParaRPr lang="en-US" sz="900" dirty="0"/>
          </a:p>
        </p:txBody>
      </p:sp>
      <p:sp>
        <p:nvSpPr>
          <p:cNvPr id="22" name="Shape 19"/>
          <p:cNvSpPr/>
          <p:nvPr/>
        </p:nvSpPr>
        <p:spPr>
          <a:xfrm>
            <a:off x="1143000" y="3820363"/>
            <a:ext cx="16002000" cy="9144"/>
          </a:xfrm>
          <a:prstGeom prst="rect">
            <a:avLst/>
          </a:prstGeom>
          <a:solidFill>
            <a:srgbClr val="2A3B57"/>
          </a:solidFill>
          <a:ln w="12700">
            <a:solidFill>
              <a:srgbClr val="2A3B57">
                <a:alpha val="0"/>
              </a:srgbClr>
            </a:solidFill>
            <a:prstDash val="solid"/>
          </a:ln>
        </p:spPr>
      </p:sp>
      <p:sp>
        <p:nvSpPr>
          <p:cNvPr id="23" name="Text 20"/>
          <p:cNvSpPr txBox="1"/>
          <p:nvPr/>
        </p:nvSpPr>
        <p:spPr>
          <a:xfrm>
            <a:off x="1143000" y="3372307"/>
            <a:ext cx="762610" cy="457200"/>
          </a:xfrm>
          <a:prstGeom prst="rect">
            <a:avLst/>
          </a:prstGeom>
          <a:noFill/>
          <a:ln/>
        </p:spPr>
        <p:txBody>
          <a:bodyPr wrap="square" lIns="0" tIns="0" rIns="0" bIns="0" rtlCol="0" anchor="ctr"/>
          <a:lstStyle/>
          <a:p>
            <a:pPr algn="l" indent="0" marL="0">
              <a:buNone/>
            </a:pPr>
            <a:r>
              <a:rPr lang="en-US" sz="1050" dirty="0">
                <a:solidFill>
                  <a:srgbClr val="7E8DA6"/>
                </a:solidFill>
                <a:latin typeface="JetBrains Mono" pitchFamily="34" charset="0"/>
                <a:ea typeface="JetBrains Mono" pitchFamily="34" charset="-122"/>
                <a:cs typeface="JetBrains Mono" pitchFamily="34" charset="-120"/>
              </a:rPr>
              <a:t>01</a:t>
            </a:r>
            <a:endParaRPr lang="en-US" sz="1050" dirty="0"/>
          </a:p>
        </p:txBody>
      </p:sp>
      <p:sp>
        <p:nvSpPr>
          <p:cNvPr id="24" name="Text 21"/>
          <p:cNvSpPr txBox="1"/>
          <p:nvPr/>
        </p:nvSpPr>
        <p:spPr>
          <a:xfrm>
            <a:off x="1904695" y="3372307"/>
            <a:ext cx="2857500" cy="457200"/>
          </a:xfrm>
          <a:prstGeom prst="rect">
            <a:avLst/>
          </a:prstGeom>
          <a:noFill/>
          <a:ln/>
        </p:spPr>
        <p:txBody>
          <a:bodyPr wrap="square" lIns="0" tIns="0" rIns="0" bIns="0" rtlCol="0" anchor="ctr"/>
          <a:lstStyle/>
          <a:p>
            <a:pPr algn="l" indent="0" marL="0">
              <a:buNone/>
            </a:pPr>
            <a:r>
              <a:rPr lang="en-US" sz="1125" dirty="0">
                <a:solidFill>
                  <a:srgbClr val="ECF1F9"/>
                </a:solidFill>
                <a:latin typeface="Inter" pitchFamily="34" charset="0"/>
                <a:ea typeface="Inter" pitchFamily="34" charset="-122"/>
                <a:cs typeface="Inter" pitchFamily="34" charset="-120"/>
              </a:rPr>
              <a:t>ULK IMD 증착</a:t>
            </a:r>
            <a:endParaRPr lang="en-US" sz="1125" dirty="0"/>
          </a:p>
        </p:txBody>
      </p:sp>
      <p:sp>
        <p:nvSpPr>
          <p:cNvPr id="25" name="Text 22"/>
          <p:cNvSpPr txBox="1"/>
          <p:nvPr/>
        </p:nvSpPr>
        <p:spPr>
          <a:xfrm>
            <a:off x="4762195" y="3372307"/>
            <a:ext cx="4096512" cy="457200"/>
          </a:xfrm>
          <a:prstGeom prst="rect">
            <a:avLst/>
          </a:prstGeom>
          <a:noFill/>
          <a:ln/>
        </p:spPr>
        <p:txBody>
          <a:bodyPr wrap="square" lIns="0" tIns="0" rIns="0" bIns="0" rtlCol="0" anchor="ctr"/>
          <a:lstStyle/>
          <a:p>
            <a:pPr algn="l" indent="0" marL="0">
              <a:buNone/>
            </a:pPr>
            <a:r>
              <a:rPr lang="en-US" sz="1125" dirty="0">
                <a:solidFill>
                  <a:srgbClr val="ECF1F9"/>
                </a:solidFill>
                <a:latin typeface="JetBrains Mono" pitchFamily="34" charset="0"/>
                <a:ea typeface="JetBrains Mono" pitchFamily="34" charset="-122"/>
                <a:cs typeface="JetBrains Mono" pitchFamily="34" charset="-120"/>
              </a:rPr>
              <a:t>SiCOH k=2.55 · 90 nm</a:t>
            </a:r>
            <a:endParaRPr lang="en-US" sz="1125" dirty="0"/>
          </a:p>
        </p:txBody>
      </p:sp>
      <p:sp>
        <p:nvSpPr>
          <p:cNvPr id="26" name="Text 23"/>
          <p:cNvSpPr txBox="1"/>
          <p:nvPr/>
        </p:nvSpPr>
        <p:spPr>
          <a:xfrm>
            <a:off x="8858707" y="3372307"/>
            <a:ext cx="4096512" cy="457200"/>
          </a:xfrm>
          <a:prstGeom prst="rect">
            <a:avLst/>
          </a:prstGeom>
          <a:noFill/>
          <a:ln/>
        </p:spPr>
        <p:txBody>
          <a:bodyPr wrap="square" lIns="0" tIns="0" rIns="0" bIns="0" rtlCol="0" anchor="ctr"/>
          <a:lstStyle/>
          <a:p>
            <a:pPr algn="l" indent="0" marL="0">
              <a:buNone/>
            </a:pPr>
            <a:r>
              <a:rPr lang="en-US" sz="1125" dirty="0">
                <a:solidFill>
                  <a:srgbClr val="ECF1F9"/>
                </a:solidFill>
                <a:latin typeface="JetBrains Mono" pitchFamily="34" charset="0"/>
                <a:ea typeface="JetBrains Mono" pitchFamily="34" charset="-122"/>
                <a:cs typeface="JetBrains Mono" pitchFamily="34" charset="-120"/>
              </a:rPr>
              <a:t>SiCOH k=2.55 · 90 nm</a:t>
            </a:r>
            <a:endParaRPr lang="en-US" sz="1125" dirty="0"/>
          </a:p>
        </p:txBody>
      </p:sp>
      <p:sp>
        <p:nvSpPr>
          <p:cNvPr id="27" name="Text 24"/>
          <p:cNvSpPr txBox="1"/>
          <p:nvPr/>
        </p:nvSpPr>
        <p:spPr>
          <a:xfrm>
            <a:off x="12954305" y="3372307"/>
            <a:ext cx="4191610" cy="457200"/>
          </a:xfrm>
          <a:prstGeom prst="rect">
            <a:avLst/>
          </a:prstGeom>
          <a:noFill/>
          <a:ln/>
        </p:spPr>
        <p:txBody>
          <a:bodyPr wrap="square" lIns="0" tIns="0" rIns="0" bIns="0" rtlCol="0" anchor="ctr"/>
          <a:lstStyle/>
          <a:p>
            <a:pPr algn="l" indent="0" marL="0">
              <a:buNone/>
            </a:pPr>
            <a:r>
              <a:rPr lang="en-US" sz="1050" dirty="0">
                <a:solidFill>
                  <a:srgbClr val="7E8DA6"/>
                </a:solidFill>
                <a:latin typeface="Inter" pitchFamily="34" charset="0"/>
                <a:ea typeface="Inter" pitchFamily="34" charset="-122"/>
                <a:cs typeface="Inter" pitchFamily="34" charset="-120"/>
              </a:rPr>
              <a:t>동일 공정</a:t>
            </a:r>
            <a:endParaRPr lang="en-US" sz="1050" dirty="0"/>
          </a:p>
        </p:txBody>
      </p:sp>
      <p:sp>
        <p:nvSpPr>
          <p:cNvPr id="28" name="Shape 25"/>
          <p:cNvSpPr/>
          <p:nvPr/>
        </p:nvSpPr>
        <p:spPr>
          <a:xfrm>
            <a:off x="1143000" y="4277563"/>
            <a:ext cx="16002000" cy="9144"/>
          </a:xfrm>
          <a:prstGeom prst="rect">
            <a:avLst/>
          </a:prstGeom>
          <a:solidFill>
            <a:srgbClr val="2A3B57"/>
          </a:solidFill>
          <a:ln w="12700">
            <a:solidFill>
              <a:srgbClr val="2A3B57">
                <a:alpha val="0"/>
              </a:srgbClr>
            </a:solidFill>
            <a:prstDash val="solid"/>
          </a:ln>
        </p:spPr>
      </p:sp>
      <p:sp>
        <p:nvSpPr>
          <p:cNvPr id="29" name="Text 26"/>
          <p:cNvSpPr txBox="1"/>
          <p:nvPr/>
        </p:nvSpPr>
        <p:spPr>
          <a:xfrm>
            <a:off x="1143000" y="3829507"/>
            <a:ext cx="762610" cy="457200"/>
          </a:xfrm>
          <a:prstGeom prst="rect">
            <a:avLst/>
          </a:prstGeom>
          <a:noFill/>
          <a:ln/>
        </p:spPr>
        <p:txBody>
          <a:bodyPr wrap="square" lIns="0" tIns="0" rIns="0" bIns="0" rtlCol="0" anchor="ctr"/>
          <a:lstStyle/>
          <a:p>
            <a:pPr algn="l" indent="0" marL="0">
              <a:buNone/>
            </a:pPr>
            <a:r>
              <a:rPr lang="en-US" sz="1050" dirty="0">
                <a:solidFill>
                  <a:srgbClr val="7E8DA6"/>
                </a:solidFill>
                <a:latin typeface="JetBrains Mono" pitchFamily="34" charset="0"/>
                <a:ea typeface="JetBrains Mono" pitchFamily="34" charset="-122"/>
                <a:cs typeface="JetBrains Mono" pitchFamily="34" charset="-120"/>
              </a:rPr>
              <a:t>02</a:t>
            </a:r>
            <a:endParaRPr lang="en-US" sz="1050" dirty="0"/>
          </a:p>
        </p:txBody>
      </p:sp>
      <p:sp>
        <p:nvSpPr>
          <p:cNvPr id="30" name="Text 27"/>
          <p:cNvSpPr txBox="1"/>
          <p:nvPr/>
        </p:nvSpPr>
        <p:spPr>
          <a:xfrm>
            <a:off x="1904695" y="3829507"/>
            <a:ext cx="2857500" cy="457200"/>
          </a:xfrm>
          <a:prstGeom prst="rect">
            <a:avLst/>
          </a:prstGeom>
          <a:noFill/>
          <a:ln/>
        </p:spPr>
        <p:txBody>
          <a:bodyPr wrap="square" lIns="0" tIns="0" rIns="0" bIns="0" rtlCol="0" anchor="ctr"/>
          <a:lstStyle/>
          <a:p>
            <a:pPr algn="l" indent="0" marL="0">
              <a:buNone/>
            </a:pPr>
            <a:r>
              <a:rPr lang="en-US" sz="1125" dirty="0">
                <a:solidFill>
                  <a:srgbClr val="ECF1F9"/>
                </a:solidFill>
                <a:latin typeface="Inter" pitchFamily="34" charset="0"/>
                <a:ea typeface="Inter" pitchFamily="34" charset="-122"/>
                <a:cs typeface="Inter" pitchFamily="34" charset="-120"/>
              </a:rPr>
              <a:t>via 트레이치 etch</a:t>
            </a:r>
            <a:endParaRPr lang="en-US" sz="1125" dirty="0"/>
          </a:p>
        </p:txBody>
      </p:sp>
      <p:sp>
        <p:nvSpPr>
          <p:cNvPr id="31" name="Text 28"/>
          <p:cNvSpPr txBox="1"/>
          <p:nvPr/>
        </p:nvSpPr>
        <p:spPr>
          <a:xfrm>
            <a:off x="4762195" y="3829507"/>
            <a:ext cx="4096512" cy="457200"/>
          </a:xfrm>
          <a:prstGeom prst="rect">
            <a:avLst/>
          </a:prstGeom>
          <a:noFill/>
          <a:ln/>
        </p:spPr>
        <p:txBody>
          <a:bodyPr wrap="square" lIns="0" tIns="0" rIns="0" bIns="0" rtlCol="0" anchor="ctr"/>
          <a:lstStyle/>
          <a:p>
            <a:pPr algn="l" indent="0" marL="0">
              <a:buNone/>
            </a:pPr>
            <a:r>
              <a:rPr lang="en-US" sz="1125" dirty="0">
                <a:solidFill>
                  <a:srgbClr val="ECF1F9"/>
                </a:solidFill>
                <a:latin typeface="JetBrains Mono" pitchFamily="34" charset="0"/>
                <a:ea typeface="JetBrains Mono" pitchFamily="34" charset="-122"/>
                <a:cs typeface="JetBrains Mono" pitchFamily="34" charset="-120"/>
              </a:rPr>
              <a:t>CF₄ / O₂ · 1.4×</a:t>
            </a:r>
            <a:endParaRPr lang="en-US" sz="1125" dirty="0"/>
          </a:p>
        </p:txBody>
      </p:sp>
      <p:sp>
        <p:nvSpPr>
          <p:cNvPr id="32" name="Text 29"/>
          <p:cNvSpPr txBox="1"/>
          <p:nvPr/>
        </p:nvSpPr>
        <p:spPr>
          <a:xfrm>
            <a:off x="8858707" y="3829507"/>
            <a:ext cx="4096512" cy="457200"/>
          </a:xfrm>
          <a:prstGeom prst="rect">
            <a:avLst/>
          </a:prstGeom>
          <a:noFill/>
          <a:ln/>
        </p:spPr>
        <p:txBody>
          <a:bodyPr wrap="square" lIns="0" tIns="0" rIns="0" bIns="0" rtlCol="0" anchor="ctr"/>
          <a:lstStyle/>
          <a:p>
            <a:pPr algn="l" indent="0" marL="0">
              <a:buNone/>
            </a:pPr>
            <a:r>
              <a:rPr lang="en-US" sz="1125" dirty="0">
                <a:solidFill>
                  <a:srgbClr val="ECF1F9"/>
                </a:solidFill>
                <a:latin typeface="JetBrains Mono" pitchFamily="34" charset="0"/>
                <a:ea typeface="JetBrains Mono" pitchFamily="34" charset="-122"/>
                <a:cs typeface="JetBrains Mono" pitchFamily="34" charset="-120"/>
              </a:rPr>
              <a:t>CF₄ / O₂ · 1.4×</a:t>
            </a:r>
            <a:endParaRPr lang="en-US" sz="1125" dirty="0"/>
          </a:p>
        </p:txBody>
      </p:sp>
      <p:sp>
        <p:nvSpPr>
          <p:cNvPr id="33" name="Text 30"/>
          <p:cNvSpPr txBox="1"/>
          <p:nvPr/>
        </p:nvSpPr>
        <p:spPr>
          <a:xfrm>
            <a:off x="12954305" y="3829507"/>
            <a:ext cx="4191610" cy="457200"/>
          </a:xfrm>
          <a:prstGeom prst="rect">
            <a:avLst/>
          </a:prstGeom>
          <a:noFill/>
          <a:ln/>
        </p:spPr>
        <p:txBody>
          <a:bodyPr wrap="square" lIns="0" tIns="0" rIns="0" bIns="0" rtlCol="0" anchor="ctr"/>
          <a:lstStyle/>
          <a:p>
            <a:pPr algn="l" indent="0" marL="0">
              <a:buNone/>
            </a:pPr>
            <a:r>
              <a:rPr lang="en-US" sz="1050" dirty="0">
                <a:solidFill>
                  <a:srgbClr val="7E8DA6"/>
                </a:solidFill>
                <a:latin typeface="Inter" pitchFamily="34" charset="0"/>
                <a:ea typeface="Inter" pitchFamily="34" charset="-122"/>
                <a:cs typeface="Inter" pitchFamily="34" charset="-120"/>
              </a:rPr>
              <a:t>동일</a:t>
            </a:r>
            <a:endParaRPr lang="en-US" sz="1050" dirty="0"/>
          </a:p>
        </p:txBody>
      </p:sp>
      <p:sp>
        <p:nvSpPr>
          <p:cNvPr id="34" name="Shape 31"/>
          <p:cNvSpPr/>
          <p:nvPr/>
        </p:nvSpPr>
        <p:spPr>
          <a:xfrm>
            <a:off x="1143000" y="4734763"/>
            <a:ext cx="16002000" cy="9144"/>
          </a:xfrm>
          <a:prstGeom prst="rect">
            <a:avLst/>
          </a:prstGeom>
          <a:solidFill>
            <a:srgbClr val="2A3B57"/>
          </a:solidFill>
          <a:ln w="12700">
            <a:solidFill>
              <a:srgbClr val="2A3B57">
                <a:alpha val="0"/>
              </a:srgbClr>
            </a:solidFill>
            <a:prstDash val="solid"/>
          </a:ln>
        </p:spPr>
      </p:sp>
      <p:sp>
        <p:nvSpPr>
          <p:cNvPr id="35" name="Text 32"/>
          <p:cNvSpPr txBox="1"/>
          <p:nvPr/>
        </p:nvSpPr>
        <p:spPr>
          <a:xfrm>
            <a:off x="1143000" y="4286707"/>
            <a:ext cx="762610" cy="457200"/>
          </a:xfrm>
          <a:prstGeom prst="rect">
            <a:avLst/>
          </a:prstGeom>
          <a:noFill/>
          <a:ln/>
        </p:spPr>
        <p:txBody>
          <a:bodyPr wrap="square" lIns="0" tIns="0" rIns="0" bIns="0" rtlCol="0" anchor="ctr"/>
          <a:lstStyle/>
          <a:p>
            <a:pPr algn="l" indent="0" marL="0">
              <a:buNone/>
            </a:pPr>
            <a:r>
              <a:rPr lang="en-US" sz="1050" dirty="0">
                <a:solidFill>
                  <a:srgbClr val="7E8DA6"/>
                </a:solidFill>
                <a:latin typeface="JetBrains Mono" pitchFamily="34" charset="0"/>
                <a:ea typeface="JetBrains Mono" pitchFamily="34" charset="-122"/>
                <a:cs typeface="JetBrains Mono" pitchFamily="34" charset="-120"/>
              </a:rPr>
              <a:t>03</a:t>
            </a:r>
            <a:endParaRPr lang="en-US" sz="1050" dirty="0"/>
          </a:p>
        </p:txBody>
      </p:sp>
      <p:sp>
        <p:nvSpPr>
          <p:cNvPr id="36" name="Text 33"/>
          <p:cNvSpPr txBox="1"/>
          <p:nvPr/>
        </p:nvSpPr>
        <p:spPr>
          <a:xfrm>
            <a:off x="1904695" y="4286707"/>
            <a:ext cx="2857500" cy="457200"/>
          </a:xfrm>
          <a:prstGeom prst="rect">
            <a:avLst/>
          </a:prstGeom>
          <a:noFill/>
          <a:ln/>
        </p:spPr>
        <p:txBody>
          <a:bodyPr wrap="square" lIns="0" tIns="0" rIns="0" bIns="0" rtlCol="0" anchor="ctr"/>
          <a:lstStyle/>
          <a:p>
            <a:pPr algn="l" indent="0" marL="0">
              <a:buNone/>
            </a:pPr>
            <a:r>
              <a:rPr lang="en-US" sz="1125" dirty="0">
                <a:solidFill>
                  <a:srgbClr val="ECF1F9"/>
                </a:solidFill>
                <a:latin typeface="Inter" pitchFamily="34" charset="0"/>
                <a:ea typeface="Inter" pitchFamily="34" charset="-122"/>
                <a:cs typeface="Inter" pitchFamily="34" charset="-120"/>
              </a:rPr>
              <a:t>Barrier · Seed</a:t>
            </a:r>
            <a:endParaRPr lang="en-US" sz="1125" dirty="0"/>
          </a:p>
        </p:txBody>
      </p:sp>
      <p:sp>
        <p:nvSpPr>
          <p:cNvPr id="37" name="Text 34"/>
          <p:cNvSpPr txBox="1"/>
          <p:nvPr/>
        </p:nvSpPr>
        <p:spPr>
          <a:xfrm>
            <a:off x="4762195" y="4286707"/>
            <a:ext cx="4096512" cy="457200"/>
          </a:xfrm>
          <a:prstGeom prst="rect">
            <a:avLst/>
          </a:prstGeom>
          <a:noFill/>
          <a:ln/>
        </p:spPr>
        <p:txBody>
          <a:bodyPr wrap="square" lIns="0" tIns="0" rIns="0" bIns="0" rtlCol="0" anchor="ctr"/>
          <a:lstStyle/>
          <a:p>
            <a:pPr algn="l" indent="0" marL="0">
              <a:buNone/>
            </a:pPr>
            <a:r>
              <a:rPr lang="en-US" sz="1125" dirty="0">
                <a:solidFill>
                  <a:srgbClr val="ECF1F9"/>
                </a:solidFill>
                <a:latin typeface="JetBrains Mono" pitchFamily="34" charset="0"/>
                <a:ea typeface="JetBrains Mono" pitchFamily="34" charset="-122"/>
                <a:cs typeface="JetBrains Mono" pitchFamily="34" charset="-120"/>
              </a:rPr>
              <a:t>Ta/TaN 2.0 nm PVD + Cu seed</a:t>
            </a:r>
            <a:endParaRPr lang="en-US" sz="1125" dirty="0"/>
          </a:p>
        </p:txBody>
      </p:sp>
      <p:sp>
        <p:nvSpPr>
          <p:cNvPr id="38" name="Text 35"/>
          <p:cNvSpPr txBox="1"/>
          <p:nvPr/>
        </p:nvSpPr>
        <p:spPr>
          <a:xfrm>
            <a:off x="8858707" y="4286707"/>
            <a:ext cx="4096512" cy="457200"/>
          </a:xfrm>
          <a:prstGeom prst="rect">
            <a:avLst/>
          </a:prstGeom>
          <a:noFill/>
          <a:ln/>
        </p:spPr>
        <p:txBody>
          <a:bodyPr wrap="square" lIns="0" tIns="0" rIns="0" bIns="0" rtlCol="0" anchor="ctr"/>
          <a:lstStyle/>
          <a:p>
            <a:pPr algn="l" indent="0" marL="0">
              <a:buNone/>
            </a:pPr>
            <a:r>
              <a:rPr lang="en-US" sz="1125" dirty="0">
                <a:solidFill>
                  <a:srgbClr val="ECF1F9"/>
                </a:solidFill>
                <a:latin typeface="JetBrains Mono" pitchFamily="34" charset="0"/>
                <a:ea typeface="JetBrains Mono" pitchFamily="34" charset="-122"/>
                <a:cs typeface="JetBrains Mono" pitchFamily="34" charset="-120"/>
              </a:rPr>
              <a:t>Ta/TaN 2.0 nm PVD + Cu seed</a:t>
            </a:r>
            <a:endParaRPr lang="en-US" sz="1125" dirty="0"/>
          </a:p>
        </p:txBody>
      </p:sp>
      <p:sp>
        <p:nvSpPr>
          <p:cNvPr id="39" name="Text 36"/>
          <p:cNvSpPr txBox="1"/>
          <p:nvPr/>
        </p:nvSpPr>
        <p:spPr>
          <a:xfrm>
            <a:off x="12954305" y="4286707"/>
            <a:ext cx="4191610" cy="457200"/>
          </a:xfrm>
          <a:prstGeom prst="rect">
            <a:avLst/>
          </a:prstGeom>
          <a:noFill/>
          <a:ln/>
        </p:spPr>
        <p:txBody>
          <a:bodyPr wrap="square" lIns="0" tIns="0" rIns="0" bIns="0" rtlCol="0" anchor="ctr"/>
          <a:lstStyle/>
          <a:p>
            <a:pPr algn="l" indent="0" marL="0">
              <a:buNone/>
            </a:pPr>
            <a:r>
              <a:rPr lang="en-US" sz="1050" dirty="0">
                <a:solidFill>
                  <a:srgbClr val="7E8DA6"/>
                </a:solidFill>
                <a:latin typeface="Inter" pitchFamily="34" charset="0"/>
                <a:ea typeface="Inter" pitchFamily="34" charset="-122"/>
                <a:cs typeface="Inter" pitchFamily="34" charset="-120"/>
              </a:rPr>
              <a:t>ALD TaN 후보 미적용</a:t>
            </a:r>
            <a:endParaRPr lang="en-US" sz="1050" dirty="0"/>
          </a:p>
        </p:txBody>
      </p:sp>
      <p:sp>
        <p:nvSpPr>
          <p:cNvPr id="40" name="Shape 37"/>
          <p:cNvSpPr/>
          <p:nvPr/>
        </p:nvSpPr>
        <p:spPr>
          <a:xfrm>
            <a:off x="1143000" y="5191963"/>
            <a:ext cx="16002000" cy="9144"/>
          </a:xfrm>
          <a:prstGeom prst="rect">
            <a:avLst/>
          </a:prstGeom>
          <a:solidFill>
            <a:srgbClr val="2A3B57"/>
          </a:solidFill>
          <a:ln w="12700">
            <a:solidFill>
              <a:srgbClr val="2A3B57">
                <a:alpha val="0"/>
              </a:srgbClr>
            </a:solidFill>
            <a:prstDash val="solid"/>
          </a:ln>
        </p:spPr>
      </p:sp>
      <p:sp>
        <p:nvSpPr>
          <p:cNvPr id="41" name="Text 38"/>
          <p:cNvSpPr txBox="1"/>
          <p:nvPr/>
        </p:nvSpPr>
        <p:spPr>
          <a:xfrm>
            <a:off x="1143000" y="4743907"/>
            <a:ext cx="762610" cy="457200"/>
          </a:xfrm>
          <a:prstGeom prst="rect">
            <a:avLst/>
          </a:prstGeom>
          <a:noFill/>
          <a:ln/>
        </p:spPr>
        <p:txBody>
          <a:bodyPr wrap="square" lIns="0" tIns="0" rIns="0" bIns="0" rtlCol="0" anchor="ctr"/>
          <a:lstStyle/>
          <a:p>
            <a:pPr algn="l" indent="0" marL="0">
              <a:buNone/>
            </a:pPr>
            <a:r>
              <a:rPr lang="en-US" sz="1050" dirty="0">
                <a:solidFill>
                  <a:srgbClr val="7E8DA6"/>
                </a:solidFill>
                <a:latin typeface="JetBrains Mono" pitchFamily="34" charset="0"/>
                <a:ea typeface="JetBrains Mono" pitchFamily="34" charset="-122"/>
                <a:cs typeface="JetBrains Mono" pitchFamily="34" charset="-120"/>
              </a:rPr>
              <a:t>04</a:t>
            </a:r>
            <a:endParaRPr lang="en-US" sz="1050" dirty="0"/>
          </a:p>
        </p:txBody>
      </p:sp>
      <p:sp>
        <p:nvSpPr>
          <p:cNvPr id="42" name="Text 39"/>
          <p:cNvSpPr txBox="1"/>
          <p:nvPr/>
        </p:nvSpPr>
        <p:spPr>
          <a:xfrm>
            <a:off x="1904695" y="4743907"/>
            <a:ext cx="2857500" cy="457200"/>
          </a:xfrm>
          <a:prstGeom prst="rect">
            <a:avLst/>
          </a:prstGeom>
          <a:noFill/>
          <a:ln/>
        </p:spPr>
        <p:txBody>
          <a:bodyPr wrap="square" lIns="0" tIns="0" rIns="0" bIns="0" rtlCol="0" anchor="ctr"/>
          <a:lstStyle/>
          <a:p>
            <a:pPr algn="l" indent="0" marL="0">
              <a:buNone/>
            </a:pPr>
            <a:r>
              <a:rPr lang="en-US" sz="1125" dirty="0">
                <a:solidFill>
                  <a:srgbClr val="ECF1F9"/>
                </a:solidFill>
                <a:latin typeface="Inter" pitchFamily="34" charset="0"/>
                <a:ea typeface="Inter" pitchFamily="34" charset="-122"/>
                <a:cs typeface="Inter" pitchFamily="34" charset="-120"/>
              </a:rPr>
              <a:t>Cu plating · CMP</a:t>
            </a:r>
            <a:endParaRPr lang="en-US" sz="1125" dirty="0"/>
          </a:p>
        </p:txBody>
      </p:sp>
      <p:sp>
        <p:nvSpPr>
          <p:cNvPr id="43" name="Text 40"/>
          <p:cNvSpPr txBox="1"/>
          <p:nvPr/>
        </p:nvSpPr>
        <p:spPr>
          <a:xfrm>
            <a:off x="4762195" y="4743907"/>
            <a:ext cx="4096512" cy="457200"/>
          </a:xfrm>
          <a:prstGeom prst="rect">
            <a:avLst/>
          </a:prstGeom>
          <a:noFill/>
          <a:ln/>
        </p:spPr>
        <p:txBody>
          <a:bodyPr wrap="square" lIns="0" tIns="0" rIns="0" bIns="0" rtlCol="0" anchor="ctr"/>
          <a:lstStyle/>
          <a:p>
            <a:pPr algn="l" indent="0" marL="0">
              <a:buNone/>
            </a:pPr>
            <a:r>
              <a:rPr lang="en-US" sz="1125" dirty="0">
                <a:solidFill>
                  <a:srgbClr val="ECF1F9"/>
                </a:solidFill>
                <a:latin typeface="JetBrains Mono" pitchFamily="34" charset="0"/>
                <a:ea typeface="JetBrains Mono" pitchFamily="34" charset="-122"/>
                <a:cs typeface="JetBrains Mono" pitchFamily="34" charset="-120"/>
              </a:rPr>
              <a:t>ECD Cu + standard CMP</a:t>
            </a:r>
            <a:endParaRPr lang="en-US" sz="1125" dirty="0"/>
          </a:p>
        </p:txBody>
      </p:sp>
      <p:sp>
        <p:nvSpPr>
          <p:cNvPr id="44" name="Text 41"/>
          <p:cNvSpPr txBox="1"/>
          <p:nvPr/>
        </p:nvSpPr>
        <p:spPr>
          <a:xfrm>
            <a:off x="8858707" y="4743907"/>
            <a:ext cx="4096512" cy="457200"/>
          </a:xfrm>
          <a:prstGeom prst="rect">
            <a:avLst/>
          </a:prstGeom>
          <a:noFill/>
          <a:ln/>
        </p:spPr>
        <p:txBody>
          <a:bodyPr wrap="square" lIns="0" tIns="0" rIns="0" bIns="0" rtlCol="0" anchor="ctr"/>
          <a:lstStyle/>
          <a:p>
            <a:pPr algn="l" indent="0" marL="0">
              <a:buNone/>
            </a:pPr>
            <a:r>
              <a:rPr lang="en-US" sz="1125" dirty="0">
                <a:solidFill>
                  <a:srgbClr val="ECF1F9"/>
                </a:solidFill>
                <a:latin typeface="JetBrains Mono" pitchFamily="34" charset="0"/>
                <a:ea typeface="JetBrains Mono" pitchFamily="34" charset="-122"/>
                <a:cs typeface="JetBrains Mono" pitchFamily="34" charset="-120"/>
              </a:rPr>
              <a:t>ECD Cu + recess-CMP</a:t>
            </a:r>
            <a:endParaRPr lang="en-US" sz="1125" dirty="0"/>
          </a:p>
        </p:txBody>
      </p:sp>
      <p:sp>
        <p:nvSpPr>
          <p:cNvPr id="45" name="Text 42"/>
          <p:cNvSpPr txBox="1"/>
          <p:nvPr/>
        </p:nvSpPr>
        <p:spPr>
          <a:xfrm>
            <a:off x="12954305" y="4743907"/>
            <a:ext cx="4191610" cy="457200"/>
          </a:xfrm>
          <a:prstGeom prst="rect">
            <a:avLst/>
          </a:prstGeom>
          <a:noFill/>
          <a:ln/>
        </p:spPr>
        <p:txBody>
          <a:bodyPr wrap="squar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AG: Cu 5 nm 추가 recess</a:t>
            </a:r>
            <a:endParaRPr lang="en-US" sz="1050" dirty="0"/>
          </a:p>
        </p:txBody>
      </p:sp>
      <p:sp>
        <p:nvSpPr>
          <p:cNvPr id="46" name="Shape 43"/>
          <p:cNvSpPr/>
          <p:nvPr/>
        </p:nvSpPr>
        <p:spPr>
          <a:xfrm>
            <a:off x="1143000" y="5649163"/>
            <a:ext cx="16002000" cy="9144"/>
          </a:xfrm>
          <a:prstGeom prst="rect">
            <a:avLst/>
          </a:prstGeom>
          <a:solidFill>
            <a:srgbClr val="2A3B57"/>
          </a:solidFill>
          <a:ln w="12700">
            <a:solidFill>
              <a:srgbClr val="2A3B57">
                <a:alpha val="0"/>
              </a:srgbClr>
            </a:solidFill>
            <a:prstDash val="solid"/>
          </a:ln>
        </p:spPr>
      </p:sp>
      <p:sp>
        <p:nvSpPr>
          <p:cNvPr id="47" name="Text 44"/>
          <p:cNvSpPr txBox="1"/>
          <p:nvPr/>
        </p:nvSpPr>
        <p:spPr>
          <a:xfrm>
            <a:off x="1143000" y="5201107"/>
            <a:ext cx="762610" cy="457200"/>
          </a:xfrm>
          <a:prstGeom prst="rect">
            <a:avLst/>
          </a:prstGeom>
          <a:noFill/>
          <a:ln/>
        </p:spPr>
        <p:txBody>
          <a:bodyPr wrap="square" lIns="0" tIns="0" rIns="0" bIns="0" rtlCol="0" anchor="ctr"/>
          <a:lstStyle/>
          <a:p>
            <a:pPr algn="l" indent="0" marL="0">
              <a:buNone/>
            </a:pPr>
            <a:r>
              <a:rPr lang="en-US" sz="1050" dirty="0">
                <a:solidFill>
                  <a:srgbClr val="7E8DA6"/>
                </a:solidFill>
                <a:latin typeface="JetBrains Mono" pitchFamily="34" charset="0"/>
                <a:ea typeface="JetBrains Mono" pitchFamily="34" charset="-122"/>
                <a:cs typeface="JetBrains Mono" pitchFamily="34" charset="-120"/>
              </a:rPr>
              <a:t>05</a:t>
            </a:r>
            <a:endParaRPr lang="en-US" sz="1050" dirty="0"/>
          </a:p>
        </p:txBody>
      </p:sp>
      <p:sp>
        <p:nvSpPr>
          <p:cNvPr id="48" name="Text 45"/>
          <p:cNvSpPr txBox="1"/>
          <p:nvPr/>
        </p:nvSpPr>
        <p:spPr>
          <a:xfrm>
            <a:off x="1904695" y="5201107"/>
            <a:ext cx="2857500" cy="457200"/>
          </a:xfrm>
          <a:prstGeom prst="rect">
            <a:avLst/>
          </a:prstGeom>
          <a:noFill/>
          <a:ln/>
        </p:spPr>
        <p:txBody>
          <a:bodyPr wrap="square" lIns="0" tIns="0" rIns="0" bIns="0" rtlCol="0" anchor="ctr"/>
          <a:lstStyle/>
          <a:p>
            <a:pPr algn="l" indent="0" marL="0">
              <a:buNone/>
            </a:pPr>
            <a:r>
              <a:rPr lang="en-US" sz="1125" dirty="0">
                <a:solidFill>
                  <a:srgbClr val="ECF1F9"/>
                </a:solidFill>
                <a:latin typeface="Inter" pitchFamily="34" charset="0"/>
                <a:ea typeface="Inter" pitchFamily="34" charset="-122"/>
                <a:cs typeface="Inter" pitchFamily="34" charset="-120"/>
              </a:rPr>
              <a:t>SiCN cap 증착</a:t>
            </a:r>
            <a:endParaRPr lang="en-US" sz="1125" dirty="0"/>
          </a:p>
        </p:txBody>
      </p:sp>
      <p:sp>
        <p:nvSpPr>
          <p:cNvPr id="49" name="Text 46"/>
          <p:cNvSpPr txBox="1"/>
          <p:nvPr/>
        </p:nvSpPr>
        <p:spPr>
          <a:xfrm>
            <a:off x="4762195" y="5201107"/>
            <a:ext cx="4096512" cy="457200"/>
          </a:xfrm>
          <a:prstGeom prst="rect">
            <a:avLst/>
          </a:prstGeom>
          <a:noFill/>
          <a:ln/>
        </p:spPr>
        <p:txBody>
          <a:bodyPr wrap="square" lIns="0" tIns="0" rIns="0" bIns="0" rtlCol="0" anchor="ctr"/>
          <a:lstStyle/>
          <a:p>
            <a:pPr algn="l" indent="0" marL="0">
              <a:buNone/>
            </a:pPr>
            <a:r>
              <a:rPr lang="en-US" sz="1125" dirty="0">
                <a:solidFill>
                  <a:srgbClr val="ECF1F9"/>
                </a:solidFill>
                <a:latin typeface="JetBrains Mono" pitchFamily="34" charset="0"/>
                <a:ea typeface="JetBrains Mono" pitchFamily="34" charset="-122"/>
                <a:cs typeface="JetBrains Mono" pitchFamily="34" charset="-120"/>
              </a:rPr>
              <a:t>SiCN 25 nm · PECVD</a:t>
            </a:r>
            <a:endParaRPr lang="en-US" sz="1125" dirty="0"/>
          </a:p>
        </p:txBody>
      </p:sp>
      <p:sp>
        <p:nvSpPr>
          <p:cNvPr id="50" name="Text 47"/>
          <p:cNvSpPr txBox="1"/>
          <p:nvPr/>
        </p:nvSpPr>
        <p:spPr>
          <a:xfrm>
            <a:off x="8858707" y="5201107"/>
            <a:ext cx="4096512" cy="457200"/>
          </a:xfrm>
          <a:prstGeom prst="rect">
            <a:avLst/>
          </a:prstGeom>
          <a:noFill/>
          <a:ln/>
        </p:spPr>
        <p:txBody>
          <a:bodyPr wrap="square" lIns="0" tIns="0" rIns="0" bIns="0" rtlCol="0" anchor="ctr"/>
          <a:lstStyle/>
          <a:p>
            <a:pPr algn="l" indent="0" marL="0">
              <a:buNone/>
            </a:pPr>
            <a:r>
              <a:rPr lang="en-US" sz="1125" dirty="0">
                <a:solidFill>
                  <a:srgbClr val="ECF1F9"/>
                </a:solidFill>
                <a:latin typeface="JetBrains Mono" pitchFamily="34" charset="0"/>
                <a:ea typeface="JetBrains Mono" pitchFamily="34" charset="-122"/>
                <a:cs typeface="JetBrains Mono" pitchFamily="34" charset="-120"/>
              </a:rPr>
              <a:t>SiCN 25 nm · pinch-off 조건</a:t>
            </a:r>
            <a:endParaRPr lang="en-US" sz="1125" dirty="0"/>
          </a:p>
        </p:txBody>
      </p:sp>
      <p:sp>
        <p:nvSpPr>
          <p:cNvPr id="51" name="Text 48"/>
          <p:cNvSpPr txBox="1"/>
          <p:nvPr/>
        </p:nvSpPr>
        <p:spPr>
          <a:xfrm>
            <a:off x="12954305" y="5201107"/>
            <a:ext cx="4191610" cy="457200"/>
          </a:xfrm>
          <a:prstGeom prst="rect">
            <a:avLst/>
          </a:prstGeom>
          <a:noFill/>
          <a:ln/>
        </p:spPr>
        <p:txBody>
          <a:bodyPr wrap="squar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AG: 더 좁은 gap에서 pinch</a:t>
            </a:r>
            <a:endParaRPr lang="en-US" sz="1050" dirty="0"/>
          </a:p>
        </p:txBody>
      </p:sp>
      <p:sp>
        <p:nvSpPr>
          <p:cNvPr id="52" name="Text 49"/>
          <p:cNvSpPr txBox="1"/>
          <p:nvPr/>
        </p:nvSpPr>
        <p:spPr>
          <a:xfrm>
            <a:off x="1143000" y="5658307"/>
            <a:ext cx="762610" cy="457200"/>
          </a:xfrm>
          <a:prstGeom prst="rect">
            <a:avLst/>
          </a:prstGeom>
          <a:noFill/>
          <a:ln/>
        </p:spPr>
        <p:txBody>
          <a:bodyPr wrap="square" lIns="0" tIns="0" rIns="0" bIns="0" rtlCol="0" anchor="ctr"/>
          <a:lstStyle/>
          <a:p>
            <a:pPr algn="l" indent="0" marL="0">
              <a:buNone/>
            </a:pPr>
            <a:r>
              <a:rPr lang="en-US" sz="1050" dirty="0">
                <a:solidFill>
                  <a:srgbClr val="7E8DA6"/>
                </a:solidFill>
                <a:latin typeface="JetBrains Mono" pitchFamily="34" charset="0"/>
                <a:ea typeface="JetBrains Mono" pitchFamily="34" charset="-122"/>
                <a:cs typeface="JetBrains Mono" pitchFamily="34" charset="-120"/>
              </a:rPr>
              <a:t>06</a:t>
            </a:r>
            <a:endParaRPr lang="en-US" sz="1050" dirty="0"/>
          </a:p>
        </p:txBody>
      </p:sp>
      <p:sp>
        <p:nvSpPr>
          <p:cNvPr id="53" name="Text 50"/>
          <p:cNvSpPr txBox="1"/>
          <p:nvPr/>
        </p:nvSpPr>
        <p:spPr>
          <a:xfrm>
            <a:off x="1904695" y="5658307"/>
            <a:ext cx="2857500" cy="457200"/>
          </a:xfrm>
          <a:prstGeom prst="rect">
            <a:avLst/>
          </a:prstGeom>
          <a:noFill/>
          <a:ln/>
        </p:spPr>
        <p:txBody>
          <a:bodyPr wrap="square" lIns="0" tIns="0" rIns="0" bIns="0" rtlCol="0" anchor="ctr"/>
          <a:lstStyle/>
          <a:p>
            <a:pPr algn="l" indent="0" marL="0">
              <a:buNone/>
            </a:pPr>
            <a:r>
              <a:rPr lang="en-US" sz="1125" dirty="0">
                <a:solidFill>
                  <a:srgbClr val="ECF1F9"/>
                </a:solidFill>
                <a:latin typeface="Inter" pitchFamily="34" charset="0"/>
                <a:ea typeface="Inter" pitchFamily="34" charset="-122"/>
                <a:cs typeface="Inter" pitchFamily="34" charset="-120"/>
              </a:rPr>
              <a:t>AG 형성 etch</a:t>
            </a:r>
            <a:endParaRPr lang="en-US" sz="1125" dirty="0"/>
          </a:p>
        </p:txBody>
      </p:sp>
      <p:sp>
        <p:nvSpPr>
          <p:cNvPr id="54" name="Text 51"/>
          <p:cNvSpPr txBox="1"/>
          <p:nvPr/>
        </p:nvSpPr>
        <p:spPr>
          <a:xfrm>
            <a:off x="4762195" y="5658307"/>
            <a:ext cx="4096512" cy="457200"/>
          </a:xfrm>
          <a:prstGeom prst="rect">
            <a:avLst/>
          </a:prstGeom>
          <a:noFill/>
          <a:ln/>
        </p:spPr>
        <p:txBody>
          <a:bodyPr wrap="square" lIns="0" tIns="0" rIns="0" bIns="0" rtlCol="0" anchor="ctr"/>
          <a:lstStyle/>
          <a:p>
            <a:pPr algn="l" indent="0" marL="0">
              <a:buNone/>
            </a:pPr>
            <a:r>
              <a:rPr lang="en-US" sz="1125" dirty="0">
                <a:solidFill>
                  <a:srgbClr val="7E8DA6"/>
                </a:solidFill>
                <a:latin typeface="JetBrains Mono" pitchFamily="34" charset="0"/>
                <a:ea typeface="JetBrains Mono" pitchFamily="34" charset="-122"/>
                <a:cs typeface="JetBrains Mono" pitchFamily="34" charset="-120"/>
              </a:rPr>
              <a:t>—</a:t>
            </a:r>
            <a:endParaRPr lang="en-US" sz="1125" dirty="0"/>
          </a:p>
        </p:txBody>
      </p:sp>
      <p:sp>
        <p:nvSpPr>
          <p:cNvPr id="55" name="Text 52"/>
          <p:cNvSpPr txBox="1"/>
          <p:nvPr/>
        </p:nvSpPr>
        <p:spPr>
          <a:xfrm>
            <a:off x="8858707" y="5658307"/>
            <a:ext cx="4096512" cy="457200"/>
          </a:xfrm>
          <a:prstGeom prst="rect">
            <a:avLst/>
          </a:prstGeom>
          <a:noFill/>
          <a:ln/>
        </p:spPr>
        <p:txBody>
          <a:bodyPr wrap="square" lIns="0" tIns="0" rIns="0" bIns="0" rtlCol="0" anchor="ctr"/>
          <a:lstStyle/>
          <a:p>
            <a:pPr algn="l" indent="0" marL="0">
              <a:buNone/>
            </a:pPr>
            <a:r>
              <a:rPr lang="en-US" sz="1125" dirty="0">
                <a:solidFill>
                  <a:srgbClr val="F59E0B"/>
                </a:solidFill>
                <a:latin typeface="JetBrains Mono" pitchFamily="34" charset="0"/>
                <a:ea typeface="JetBrains Mono" pitchFamily="34" charset="-122"/>
                <a:cs typeface="JetBrains Mono" pitchFamily="34" charset="-120"/>
              </a:rPr>
              <a:t>wet recess · isotropic 12 s</a:t>
            </a:r>
            <a:endParaRPr lang="en-US" sz="1125" dirty="0"/>
          </a:p>
        </p:txBody>
      </p:sp>
      <p:sp>
        <p:nvSpPr>
          <p:cNvPr id="56" name="Text 53"/>
          <p:cNvSpPr txBox="1"/>
          <p:nvPr/>
        </p:nvSpPr>
        <p:spPr>
          <a:xfrm>
            <a:off x="12954305" y="5658307"/>
            <a:ext cx="4191610" cy="457200"/>
          </a:xfrm>
          <a:prstGeom prst="rect">
            <a:avLst/>
          </a:prstGeom>
          <a:noFill/>
          <a:ln/>
        </p:spPr>
        <p:txBody>
          <a:bodyPr wrap="square" lIns="0" tIns="0" rIns="0" bIns="0" rtlCol="0" anchor="ctr"/>
          <a:lstStyle/>
          <a:p>
            <a:pPr algn="l" indent="0" marL="0">
              <a:buNone/>
            </a:pPr>
            <a:r>
              <a:rPr lang="en-US" sz="1050" dirty="0">
                <a:solidFill>
                  <a:srgbClr val="F87171"/>
                </a:solidFill>
                <a:latin typeface="Inter" pitchFamily="34" charset="0"/>
                <a:ea typeface="Inter" pitchFamily="34" charset="-122"/>
                <a:cs typeface="Inter" pitchFamily="34" charset="-120"/>
              </a:rPr>
              <a:t>critical step · over-recess 위험</a:t>
            </a:r>
            <a:endParaRPr lang="en-US" sz="1050" dirty="0"/>
          </a:p>
        </p:txBody>
      </p:sp>
      <p:sp>
        <p:nvSpPr>
          <p:cNvPr id="57" name="Text 54"/>
          <p:cNvSpPr txBox="1"/>
          <p:nvPr/>
        </p:nvSpPr>
        <p:spPr>
          <a:xfrm>
            <a:off x="4876495" y="3026664"/>
            <a:ext cx="810158" cy="191110"/>
          </a:xfrm>
          <a:prstGeom prst="rect">
            <a:avLst/>
          </a:prstGeom>
          <a:solidFill>
            <a:srgbClr val="38BDF8">
              <a:alpha val="16000"/>
            </a:srgbClr>
          </a:solidFill>
          <a:ln>
            <a:solidFill>
              <a:srgbClr val="FFFFFF">
                <a:alpha val="0"/>
              </a:srgbClr>
            </a:solidFill>
          </a:ln>
        </p:spPr>
        <p:txBody>
          <a:bodyPr wrap="none" lIns="76200" tIns="25400" rIns="76200" bIns="25400" rtlCol="0" anchor="ctr"/>
          <a:lstStyle/>
          <a:p>
            <a:pPr algn="l" indent="0" marL="0">
              <a:buNone/>
            </a:pPr>
            <a:r>
              <a:rPr lang="en-US" sz="825" b="1" spc="149" kern="0" dirty="0">
                <a:solidFill>
                  <a:srgbClr val="38BDF8"/>
                </a:solidFill>
                <a:latin typeface="Inter" pitchFamily="34" charset="0"/>
                <a:ea typeface="Inter" pitchFamily="34" charset="-122"/>
                <a:cs typeface="Inter" pitchFamily="34" charset="-120"/>
              </a:rPr>
              <a:t>CONTROL</a:t>
            </a:r>
            <a:endParaRPr lang="en-US" sz="825" dirty="0"/>
          </a:p>
        </p:txBody>
      </p:sp>
      <p:sp>
        <p:nvSpPr>
          <p:cNvPr id="58" name="Text 55"/>
          <p:cNvSpPr txBox="1"/>
          <p:nvPr/>
        </p:nvSpPr>
        <p:spPr>
          <a:xfrm>
            <a:off x="8940089" y="3026664"/>
            <a:ext cx="779069" cy="191110"/>
          </a:xfrm>
          <a:prstGeom prst="rect">
            <a:avLst/>
          </a:prstGeom>
          <a:solidFill>
            <a:srgbClr val="F59E0B">
              <a:alpha val="16000"/>
            </a:srgbClr>
          </a:solidFill>
          <a:ln>
            <a:solidFill>
              <a:srgbClr val="FFFFFF">
                <a:alpha val="0"/>
              </a:srgbClr>
            </a:solidFill>
          </a:ln>
        </p:spPr>
        <p:txBody>
          <a:bodyPr wrap="none" lIns="76200" tIns="25400" rIns="76200" bIns="25400" rtlCol="0" anchor="ctr"/>
          <a:lstStyle/>
          <a:p>
            <a:pPr algn="l" indent="0" marL="0">
              <a:buNone/>
            </a:pPr>
            <a:r>
              <a:rPr lang="en-US" sz="825" b="1" spc="149" kern="0" dirty="0">
                <a:solidFill>
                  <a:srgbClr val="F59E0B"/>
                </a:solidFill>
                <a:latin typeface="Inter" pitchFamily="34" charset="0"/>
                <a:ea typeface="Inter" pitchFamily="34" charset="-122"/>
                <a:cs typeface="Inter" pitchFamily="34" charset="-120"/>
              </a:rPr>
              <a:t>AIR GAP</a:t>
            </a:r>
            <a:endParaRPr lang="en-US" sz="825" dirty="0"/>
          </a:p>
        </p:txBody>
      </p:sp>
      <p:sp>
        <p:nvSpPr>
          <p:cNvPr id="59" name="Text 56"/>
          <p:cNvSpPr txBox="1"/>
          <p:nvPr/>
        </p:nvSpPr>
        <p:spPr>
          <a:xfrm>
            <a:off x="1143000" y="6019495"/>
            <a:ext cx="6667805" cy="133502"/>
          </a:xfrm>
          <a:prstGeom prst="rect">
            <a:avLst/>
          </a:prstGeom>
          <a:noFill/>
          <a:ln/>
        </p:spPr>
        <p:txBody>
          <a:bodyPr wrap="none" lIns="0" tIns="0" rIns="0" bIns="0" rtlCol="0" anchor="ctr"/>
          <a:lstStyle/>
          <a:p>
            <a:pPr algn="l" indent="0" marL="0">
              <a:buNone/>
            </a:pPr>
            <a:r>
              <a:rPr lang="en-US" sz="825" spc="247" kern="0" dirty="0">
                <a:solidFill>
                  <a:srgbClr val="7E8DA6"/>
                </a:solidFill>
                <a:latin typeface="Inter" pitchFamily="34" charset="0"/>
                <a:ea typeface="Inter" pitchFamily="34" charset="-122"/>
                <a:cs typeface="Inter" pitchFamily="34" charset="-120"/>
              </a:rPr>
              <a:t>ELECTRICAL SUMMARY</a:t>
            </a:r>
            <a:endParaRPr lang="en-US" sz="825" dirty="0"/>
          </a:p>
        </p:txBody>
      </p:sp>
      <p:sp>
        <p:nvSpPr>
          <p:cNvPr id="60" name="Text 57"/>
          <p:cNvSpPr txBox="1"/>
          <p:nvPr/>
        </p:nvSpPr>
        <p:spPr>
          <a:xfrm>
            <a:off x="1143000" y="6248095"/>
            <a:ext cx="6667805" cy="333756"/>
          </a:xfrm>
          <a:prstGeom prst="rect">
            <a:avLst/>
          </a:prstGeom>
          <a:noFill/>
          <a:ln/>
        </p:spPr>
        <p:txBody>
          <a:bodyPr wrap="none" lIns="0" tIns="0" rIns="0" bIns="0" rtlCol="0" anchor="ctr"/>
          <a:lstStyle/>
          <a:p>
            <a:pPr algn="l" indent="0" marL="0">
              <a:buNone/>
            </a:pPr>
            <a:r>
              <a:rPr lang="en-US" sz="1800" b="1" dirty="0">
                <a:solidFill>
                  <a:srgbClr val="ECF1F9"/>
                </a:solidFill>
                <a:latin typeface="Inter" pitchFamily="34" charset="0"/>
                <a:ea typeface="Inter" pitchFamily="34" charset="-122"/>
                <a:cs typeface="Inter" pitchFamily="34" charset="-120"/>
              </a:rPr>
              <a:t>Wafer별 전기 결과 — Jmax / 누설 / T50</a:t>
            </a:r>
            <a:endParaRPr lang="en-US" sz="1800" dirty="0"/>
          </a:p>
        </p:txBody>
      </p:sp>
      <p:sp>
        <p:nvSpPr>
          <p:cNvPr id="61" name="Text 58"/>
          <p:cNvSpPr txBox="1"/>
          <p:nvPr/>
        </p:nvSpPr>
        <p:spPr>
          <a:xfrm>
            <a:off x="12191695" y="6019495"/>
            <a:ext cx="4953305" cy="152705"/>
          </a:xfrm>
          <a:prstGeom prst="rect">
            <a:avLst/>
          </a:prstGeom>
          <a:noFill/>
          <a:ln/>
        </p:spPr>
        <p:txBody>
          <a:bodyPr wrap="none" lIns="0" tIns="0" rIns="0" bIns="0" rtlCol="0" anchor="ctr"/>
          <a:lstStyle/>
          <a:p>
            <a:pPr algn="r" indent="0" marL="0">
              <a:buNone/>
            </a:pPr>
            <a:r>
              <a:rPr lang="en-US" sz="975" dirty="0">
                <a:solidFill>
                  <a:srgbClr val="7E8DA6"/>
                </a:solidFill>
                <a:latin typeface="Inter" pitchFamily="34" charset="0"/>
                <a:ea typeface="Inter" pitchFamily="34" charset="-122"/>
                <a:cs typeface="Inter" pitchFamily="34" charset="-120"/>
              </a:rPr>
              <a:t>stress condition 125°C · 0.1 A/cm² · 50 % RH</a:t>
            </a:r>
            <a:endParaRPr lang="en-US" sz="975"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43000" y="6762902"/>
          <a:ext cx="16002000" cy="2895905"/>
        </p:xfrm>
        <a:graphic>
          <a:graphicData uri="http://schemas.openxmlformats.org/drawingml/2006/table">
            <a:tbl>
              <a:tblPr/>
              <a:tblGrid>
                <a:gridCol w="1143000"/>
                <a:gridCol w="1904695"/>
                <a:gridCol w="2286000"/>
                <a:gridCol w="2286000"/>
                <a:gridCol w="2286000"/>
                <a:gridCol w="2286000"/>
                <a:gridCol w="1904695"/>
                <a:gridCol w="1904695"/>
              </a:tblGrid>
              <a:tr h="482651">
                <a:tc>
                  <a:txBody>
                    <a:bodyPr/>
                    <a:lstStyle/>
                    <a:p>
                      <a:pPr algn="l" indent="0" marL="0">
                        <a:buNone/>
                      </a:pPr>
                      <a:r>
                        <a:rPr lang="en-US" sz="900" b="1" dirty="0">
                          <a:solidFill>
                            <a:srgbClr val="7E8DA6"/>
                          </a:solidFill>
                          <a:latin typeface="Inter" pitchFamily="34" charset="0"/>
                          <a:ea typeface="Inter" pitchFamily="34" charset="-122"/>
                          <a:cs typeface="Inter" pitchFamily="34" charset="-120"/>
                        </a:rPr>
                        <a:t>METRIC</a:t>
                      </a:r>
                      <a:endParaRPr lang="en-US" sz="900"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l" indent="0" marL="0">
                        <a:buNone/>
                      </a:pPr>
                      <a:r>
                        <a:rPr lang="en-US" sz="900" b="1" dirty="0">
                          <a:solidFill>
                            <a:srgbClr val="7E8DA6"/>
                          </a:solidFill>
                          <a:latin typeface="Inter" pitchFamily="34" charset="0"/>
                          <a:ea typeface="Inter" pitchFamily="34" charset="-122"/>
                          <a:cs typeface="Inter" pitchFamily="34" charset="-120"/>
                        </a:rPr>
                        <a:t>UNIT</a:t>
                      </a:r>
                      <a:endParaRPr lang="en-US" sz="900"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900" b="1" dirty="0">
                          <a:solidFill>
                            <a:srgbClr val="7E8DA6"/>
                          </a:solidFill>
                          <a:latin typeface="Inter" pitchFamily="34" charset="0"/>
                          <a:ea typeface="Inter" pitchFamily="34" charset="-122"/>
                          <a:cs typeface="Inter" pitchFamily="34" charset="-120"/>
                        </a:rPr>
                        <a:t>W1 · CTL·A</a:t>
                      </a:r>
                      <a:endParaRPr lang="en-US" sz="900"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900" b="1" dirty="0">
                          <a:solidFill>
                            <a:srgbClr val="7E8DA6"/>
                          </a:solidFill>
                          <a:latin typeface="Inter" pitchFamily="34" charset="0"/>
                          <a:ea typeface="Inter" pitchFamily="34" charset="-122"/>
                          <a:cs typeface="Inter" pitchFamily="34" charset="-120"/>
                        </a:rPr>
                        <a:t>W2 · AG·A</a:t>
                      </a:r>
                      <a:endParaRPr lang="en-US" sz="900"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900" b="1" dirty="0">
                          <a:solidFill>
                            <a:srgbClr val="7E8DA6"/>
                          </a:solidFill>
                          <a:latin typeface="Inter" pitchFamily="34" charset="0"/>
                          <a:ea typeface="Inter" pitchFamily="34" charset="-122"/>
                          <a:cs typeface="Inter" pitchFamily="34" charset="-120"/>
                        </a:rPr>
                        <a:t>W3 · CTL·B</a:t>
                      </a:r>
                      <a:endParaRPr lang="en-US" sz="900"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900" b="1" dirty="0">
                          <a:solidFill>
                            <a:srgbClr val="7E8DA6"/>
                          </a:solidFill>
                          <a:latin typeface="Inter" pitchFamily="34" charset="0"/>
                          <a:ea typeface="Inter" pitchFamily="34" charset="-122"/>
                          <a:cs typeface="Inter" pitchFamily="34" charset="-120"/>
                        </a:rPr>
                        <a:t>W4 · AG·B</a:t>
                      </a:r>
                      <a:endParaRPr lang="en-US" sz="900"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r" indent="0" marL="0">
                        <a:buNone/>
                      </a:pPr>
                      <a:r>
                        <a:rPr lang="en-US" sz="900" b="1" dirty="0">
                          <a:solidFill>
                            <a:srgbClr val="7E8DA6"/>
                          </a:solidFill>
                          <a:latin typeface="Inter" pitchFamily="34" charset="0"/>
                          <a:ea typeface="Inter" pitchFamily="34" charset="-122"/>
                          <a:cs typeface="Inter" pitchFamily="34" charset="-120"/>
                        </a:rPr>
                        <a:t>Δ AG−CTL</a:t>
                      </a:r>
                      <a:endParaRPr lang="en-US" sz="900"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c>
                  <a:txBody>
                    <a:bodyPr/>
                    <a:lstStyle/>
                    <a:p>
                      <a:pPr algn="l" indent="0" marL="0">
                        <a:buNone/>
                      </a:pPr>
                      <a:r>
                        <a:rPr lang="en-US" sz="900" b="1" dirty="0">
                          <a:solidFill>
                            <a:srgbClr val="7E8DA6"/>
                          </a:solidFill>
                          <a:latin typeface="Inter" pitchFamily="34" charset="0"/>
                          <a:ea typeface="Inter" pitchFamily="34" charset="-122"/>
                          <a:cs typeface="Inter" pitchFamily="34" charset="-120"/>
                        </a:rPr>
                        <a:t>REMARK</a:t>
                      </a:r>
                      <a:endParaRPr lang="en-US" sz="900"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9525" cap="flat" cmpd="sng" algn="ctr">
                      <a:solidFill>
                        <a:srgbClr val="2A3B57"/>
                      </a:solidFill>
                      <a:prstDash val="solid"/>
                      <a:round/>
                      <a:headEnd type="none" w="med" len="med"/>
                      <a:tailEnd type="none" w="med" len="med"/>
                    </a:lnB>
                    <a:solidFill>
                      <a:srgbClr val="182642"/>
                    </a:solidFill>
                  </a:tcPr>
                </a:tc>
              </a:tr>
              <a:tr h="482651">
                <a:tc>
                  <a:txBody>
                    <a:bodyPr/>
                    <a:lstStyle/>
                    <a:p>
                      <a:pPr indent="0" marL="0">
                        <a:buNone/>
                      </a:pPr>
                      <a:r>
                        <a:rPr lang="en-US" sz="1125" b="1" dirty="0">
                          <a:solidFill>
                            <a:srgbClr val="ECF1F9"/>
                          </a:solidFill>
                          <a:latin typeface="Inter" pitchFamily="34" charset="0"/>
                          <a:ea typeface="Inter" pitchFamily="34" charset="-122"/>
                          <a:cs typeface="Inter" pitchFamily="34" charset="-120"/>
                        </a:rPr>
                        <a:t>Rs · M2</a:t>
                      </a:r>
                      <a:endParaRPr lang="en-US" sz="1125"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975" dirty="0">
                          <a:solidFill>
                            <a:srgbClr val="7E8DA6"/>
                          </a:solidFill>
                          <a:latin typeface="Inter" pitchFamily="34" charset="0"/>
                          <a:ea typeface="Inter" pitchFamily="34" charset="-122"/>
                          <a:cs typeface="Inter" pitchFamily="34" charset="-120"/>
                        </a:rPr>
                        <a:t>Ω/sq P50</a:t>
                      </a:r>
                      <a:endParaRPr lang="en-US" sz="975"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244</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251</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245</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256</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F87171"/>
                          </a:solidFill>
                          <a:latin typeface="JetBrains Mono" pitchFamily="34" charset="0"/>
                          <a:ea typeface="JetBrains Mono" pitchFamily="34" charset="-122"/>
                          <a:cs typeface="JetBrains Mono" pitchFamily="34" charset="-120"/>
                        </a:rPr>
                        <a:t>+4.7%</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975" dirty="0">
                          <a:solidFill>
                            <a:srgbClr val="C2CCE0"/>
                          </a:solidFill>
                          <a:latin typeface="Inter" pitchFamily="34" charset="0"/>
                          <a:ea typeface="Inter" pitchFamily="34" charset="-122"/>
                          <a:cs typeface="Inter" pitchFamily="34" charset="-120"/>
                        </a:rPr>
                        <a:t>라인 volume 감소 영향</a:t>
                      </a:r>
                      <a:endParaRPr lang="en-US" sz="975"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r>
              <a:tr h="482651">
                <a:tc>
                  <a:txBody>
                    <a:bodyPr/>
                    <a:lstStyle/>
                    <a:p>
                      <a:pPr indent="0" marL="0">
                        <a:buNone/>
                      </a:pPr>
                      <a:r>
                        <a:rPr lang="en-US" sz="1125" b="1" dirty="0">
                          <a:solidFill>
                            <a:srgbClr val="ECF1F9"/>
                          </a:solidFill>
                          <a:latin typeface="Inter" pitchFamily="34" charset="0"/>
                          <a:ea typeface="Inter" pitchFamily="34" charset="-122"/>
                          <a:cs typeface="Inter" pitchFamily="34" charset="-120"/>
                        </a:rPr>
                        <a:t>Rc · V1</a:t>
                      </a:r>
                      <a:endParaRPr lang="en-US" sz="1125"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975" dirty="0">
                          <a:solidFill>
                            <a:srgbClr val="7E8DA6"/>
                          </a:solidFill>
                          <a:latin typeface="Inter" pitchFamily="34" charset="0"/>
                          <a:ea typeface="Inter" pitchFamily="34" charset="-122"/>
                          <a:cs typeface="Inter" pitchFamily="34" charset="-120"/>
                        </a:rPr>
                        <a:t>Ω/via P50</a:t>
                      </a:r>
                      <a:endParaRPr lang="en-US" sz="975"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52</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58</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53</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61</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F87171"/>
                          </a:solidFill>
                          <a:latin typeface="JetBrains Mono" pitchFamily="34" charset="0"/>
                          <a:ea typeface="JetBrains Mono" pitchFamily="34" charset="-122"/>
                          <a:cs typeface="JetBrains Mono" pitchFamily="34" charset="-120"/>
                        </a:rPr>
                        <a:t>+13.5%</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975" dirty="0">
                          <a:solidFill>
                            <a:srgbClr val="C2CCE0"/>
                          </a:solidFill>
                          <a:latin typeface="Inter" pitchFamily="34" charset="0"/>
                          <a:ea typeface="Inter" pitchFamily="34" charset="-122"/>
                          <a:cs typeface="Inter" pitchFamily="34" charset="-120"/>
                        </a:rPr>
                        <a:t>via 직경 under-cut 누적</a:t>
                      </a:r>
                      <a:endParaRPr lang="en-US" sz="975"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r>
              <a:tr h="482651">
                <a:tc>
                  <a:txBody>
                    <a:bodyPr/>
                    <a:lstStyle/>
                    <a:p>
                      <a:pPr indent="0" marL="0">
                        <a:buNone/>
                      </a:pPr>
                      <a:r>
                        <a:rPr lang="en-US" sz="1125" b="1" dirty="0">
                          <a:solidFill>
                            <a:srgbClr val="ECF1F9"/>
                          </a:solidFill>
                          <a:latin typeface="Inter" pitchFamily="34" charset="0"/>
                          <a:ea typeface="Inter" pitchFamily="34" charset="-122"/>
                          <a:cs typeface="Inter" pitchFamily="34" charset="-120"/>
                        </a:rPr>
                        <a:t>Jmax · M2</a:t>
                      </a:r>
                      <a:endParaRPr lang="en-US" sz="1125"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975" dirty="0">
                          <a:solidFill>
                            <a:srgbClr val="7E8DA6"/>
                          </a:solidFill>
                          <a:latin typeface="Inter" pitchFamily="34" charset="0"/>
                          <a:ea typeface="Inter" pitchFamily="34" charset="-122"/>
                          <a:cs typeface="Inter" pitchFamily="34" charset="-120"/>
                        </a:rPr>
                        <a:t>MA/cm²·10y</a:t>
                      </a:r>
                      <a:endParaRPr lang="en-US" sz="975"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1.45</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1.31</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1.43</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1.27</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F87171"/>
                          </a:solidFill>
                          <a:latin typeface="JetBrains Mono" pitchFamily="34" charset="0"/>
                          <a:ea typeface="JetBrains Mono" pitchFamily="34" charset="-122"/>
                          <a:cs typeface="JetBrains Mono" pitchFamily="34" charset="-120"/>
                        </a:rPr>
                        <a:t>−10.3%</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975" dirty="0">
                          <a:solidFill>
                            <a:srgbClr val="C2CCE0"/>
                          </a:solidFill>
                          <a:latin typeface="Inter" pitchFamily="34" charset="0"/>
                          <a:ea typeface="Inter" pitchFamily="34" charset="-122"/>
                          <a:cs typeface="Inter" pitchFamily="34" charset="-120"/>
                        </a:rPr>
                        <a:t>라인 단면적 손실 영향</a:t>
                      </a:r>
                      <a:endParaRPr lang="en-US" sz="975"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r>
              <a:tr h="482651">
                <a:tc>
                  <a:txBody>
                    <a:bodyPr/>
                    <a:lstStyle/>
                    <a:p>
                      <a:pPr indent="0" marL="0">
                        <a:buNone/>
                      </a:pPr>
                      <a:r>
                        <a:rPr lang="en-US" sz="1125" b="1" dirty="0">
                          <a:solidFill>
                            <a:srgbClr val="ECF1F9"/>
                          </a:solidFill>
                          <a:latin typeface="Inter" pitchFamily="34" charset="0"/>
                          <a:ea typeface="Inter" pitchFamily="34" charset="-122"/>
                          <a:cs typeface="Inter" pitchFamily="34" charset="-120"/>
                        </a:rPr>
                        <a:t>누설 · M2</a:t>
                      </a:r>
                      <a:endParaRPr lang="en-US" sz="1125"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975" dirty="0">
                          <a:solidFill>
                            <a:srgbClr val="7E8DA6"/>
                          </a:solidFill>
                          <a:latin typeface="Inter" pitchFamily="34" charset="0"/>
                          <a:ea typeface="Inter" pitchFamily="34" charset="-122"/>
                          <a:cs typeface="Inter" pitchFamily="34" charset="-120"/>
                        </a:rPr>
                        <a:t>nA @ 1 MV/cm</a:t>
                      </a:r>
                      <a:endParaRPr lang="en-US" sz="975"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8.4</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9.7</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8.6</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10.1</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F87171"/>
                          </a:solidFill>
                          <a:latin typeface="JetBrains Mono" pitchFamily="34" charset="0"/>
                          <a:ea typeface="JetBrains Mono" pitchFamily="34" charset="-122"/>
                          <a:cs typeface="JetBrains Mono" pitchFamily="34" charset="-120"/>
                        </a:rPr>
                        <a:t>+16.7%</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975" dirty="0">
                          <a:solidFill>
                            <a:srgbClr val="C2CCE0"/>
                          </a:solidFill>
                          <a:latin typeface="Inter" pitchFamily="34" charset="0"/>
                          <a:ea typeface="Inter" pitchFamily="34" charset="-122"/>
                          <a:cs typeface="Inter" pitchFamily="34" charset="-120"/>
                        </a:rPr>
                        <a:t>ULK 손상 누적</a:t>
                      </a:r>
                      <a:endParaRPr lang="en-US" sz="975"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r>
              <a:tr h="482651">
                <a:tc>
                  <a:txBody>
                    <a:bodyPr/>
                    <a:lstStyle/>
                    <a:p>
                      <a:pPr indent="0" marL="0">
                        <a:buNone/>
                      </a:pPr>
                      <a:r>
                        <a:rPr lang="en-US" sz="1125" b="1" dirty="0">
                          <a:solidFill>
                            <a:srgbClr val="ECF1F9"/>
                          </a:solidFill>
                          <a:latin typeface="Inter" pitchFamily="34" charset="0"/>
                          <a:ea typeface="Inter" pitchFamily="34" charset="-122"/>
                          <a:cs typeface="Inter" pitchFamily="34" charset="-120"/>
                        </a:rPr>
                        <a:t>T50 · V1</a:t>
                      </a:r>
                      <a:endParaRPr lang="en-US" sz="1125"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975" dirty="0">
                          <a:solidFill>
                            <a:srgbClr val="7E8DA6"/>
                          </a:solidFill>
                          <a:latin typeface="Inter" pitchFamily="34" charset="0"/>
                          <a:ea typeface="Inter" pitchFamily="34" charset="-122"/>
                          <a:cs typeface="Inter" pitchFamily="34" charset="-120"/>
                        </a:rPr>
                        <a:t>yr · 0.2 MV/cm</a:t>
                      </a:r>
                      <a:endParaRPr lang="en-US" sz="975"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9.4</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8.5</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9.2</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ECF1F9"/>
                          </a:solidFill>
                          <a:latin typeface="JetBrains Mono" pitchFamily="34" charset="0"/>
                          <a:ea typeface="JetBrains Mono" pitchFamily="34" charset="-122"/>
                          <a:cs typeface="JetBrains Mono" pitchFamily="34" charset="-120"/>
                        </a:rPr>
                        <a:t>8.2</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algn="r" indent="0" marL="0">
                        <a:buNone/>
                      </a:pPr>
                      <a:r>
                        <a:rPr lang="en-US" sz="1350" dirty="0">
                          <a:solidFill>
                            <a:srgbClr val="F87171"/>
                          </a:solidFill>
                          <a:latin typeface="JetBrains Mono" pitchFamily="34" charset="0"/>
                          <a:ea typeface="JetBrains Mono" pitchFamily="34" charset="-122"/>
                          <a:cs typeface="JetBrains Mono" pitchFamily="34" charset="-120"/>
                        </a:rPr>
                        <a:t>−10.2%</a:t>
                      </a:r>
                      <a:endParaRPr lang="en-US" sz="1350" dirty="0">
                        <a:latin typeface="JetBrains Mono" charset="0"/>
                        <a:ea typeface="JetBrains Mono" charset="0"/>
                        <a:cs typeface="JetBrains Mono"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c>
                  <a:txBody>
                    <a:bodyPr/>
                    <a:lstStyle/>
                    <a:p>
                      <a:pPr indent="0" marL="0">
                        <a:buNone/>
                      </a:pPr>
                      <a:r>
                        <a:rPr lang="en-US" sz="975" dirty="0">
                          <a:solidFill>
                            <a:srgbClr val="C2CCE0"/>
                          </a:solidFill>
                          <a:latin typeface="Inter" pitchFamily="34" charset="0"/>
                          <a:ea typeface="Inter" pitchFamily="34" charset="-122"/>
                          <a:cs typeface="Inter" pitchFamily="34" charset="-120"/>
                        </a:rPr>
                        <a:t>cavity 응력 영향 추정</a:t>
                      </a:r>
                      <a:endParaRPr lang="en-US" sz="975" dirty="0">
                        <a:latin typeface="Inter" charset="0"/>
                        <a:ea typeface="Inter" charset="0"/>
                        <a:cs typeface="Inter" charset="0"/>
                      </a:endParaRPr>
                    </a:p>
                  </a:txBody>
                  <a:tcPr marL="114300" marR="114300" marT="75895" marB="75895" anchor="ctr">
                    <a:lnL w="0" cap="flat" cmpd="sng" algn="ctr">
                      <a:solidFill>
                        <a:srgbClr val="2A3B57"/>
                      </a:solidFill>
                      <a:prstDash val="solid"/>
                      <a:round/>
                      <a:headEnd type="none" w="med" len="med"/>
                      <a:tailEnd type="none" w="med" len="med"/>
                    </a:lnL>
                    <a:lnR w="0" cap="flat" cmpd="sng" algn="ctr">
                      <a:solidFill>
                        <a:srgbClr val="2A3B57"/>
                      </a:solidFill>
                      <a:prstDash val="solid"/>
                      <a:round/>
                      <a:headEnd type="none" w="med" len="med"/>
                      <a:tailEnd type="none" w="med" len="med"/>
                    </a:lnR>
                    <a:lnT w="0" cap="flat" cmpd="sng" algn="ctr">
                      <a:solidFill>
                        <a:srgbClr val="2A3B57"/>
                      </a:solidFill>
                      <a:prstDash val="solid"/>
                      <a:round/>
                      <a:headEnd type="none" w="med" len="med"/>
                      <a:tailEnd type="none" w="med" len="med"/>
                    </a:lnT>
                    <a:lnB w="0" cap="flat" cmpd="sng" algn="ctr">
                      <a:solidFill>
                        <a:srgbClr val="2A3B57"/>
                      </a:solidFill>
                      <a:prstDash val="solid"/>
                      <a:round/>
                      <a:headEnd type="none" w="med" len="med"/>
                      <a:tailEnd type="none" w="med" len="med"/>
                    </a:lnB>
                  </a:tcPr>
                </a:tc>
              </a:tr>
            </a:tbl>
          </a:graphicData>
        </a:graphic>
      </p:graphicFrame>
      <p:sp>
        <p:nvSpPr>
          <p:cNvPr id="63" name="Text 59"/>
          <p:cNvSpPr txBox="1"/>
          <p:nvPr/>
        </p:nvSpPr>
        <p:spPr>
          <a:xfrm>
            <a:off x="0" y="9715500"/>
            <a:ext cx="18288000" cy="228600"/>
          </a:xfrm>
          <a:prstGeom prst="rect">
            <a:avLst/>
          </a:prstGeom>
          <a:noFill/>
          <a:ln/>
        </p:spPr>
        <p:txBody>
          <a:bodyPr wrap="none" lIns="0" tIns="0" rIns="0" bIns="0" rtlCol="0" anchor="ctr"/>
          <a:lstStyle/>
          <a:p>
            <a:pPr algn="ctr" indent="0" marL="0">
              <a:buNone/>
            </a:pPr>
            <a:r>
              <a:rPr lang="en-US" sz="1200" spc="48" kern="0" dirty="0">
                <a:solidFill>
                  <a:srgbClr val="7E8DA6"/>
                </a:solidFill>
                <a:latin typeface="Inter" pitchFamily="34" charset="0"/>
                <a:ea typeface="Inter" pitchFamily="34" charset="-122"/>
                <a:cs typeface="Inter" pitchFamily="34" charset="-120"/>
              </a:rPr>
              <a:t>※ 내부 테스트용 더미(가상) 데이터</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3" name="Shape 0"/>
          <p:cNvSpPr/>
          <p:nvPr/>
        </p:nvSpPr>
        <p:spPr>
          <a:xfrm>
            <a:off x="857707" y="1904695"/>
            <a:ext cx="4000500" cy="2286000"/>
          </a:xfrm>
          <a:prstGeom prst="rect">
            <a:avLst/>
          </a:prstGeom>
          <a:solidFill>
            <a:srgbClr val="131E33"/>
          </a:solidFill>
          <a:ln w="12700">
            <a:solidFill>
              <a:srgbClr val="2A3B57"/>
            </a:solidFill>
            <a:prstDash val="solid"/>
          </a:ln>
        </p:spPr>
      </p:sp>
      <p:sp>
        <p:nvSpPr>
          <p:cNvPr id="4" name="Shape 1"/>
          <p:cNvSpPr/>
          <p:nvPr/>
        </p:nvSpPr>
        <p:spPr>
          <a:xfrm>
            <a:off x="5048402" y="1904695"/>
            <a:ext cx="4000500" cy="2286000"/>
          </a:xfrm>
          <a:prstGeom prst="rect">
            <a:avLst/>
          </a:prstGeom>
          <a:solidFill>
            <a:srgbClr val="131E33"/>
          </a:solidFill>
          <a:ln w="12700">
            <a:solidFill>
              <a:srgbClr val="2A3B57"/>
            </a:solidFill>
            <a:prstDash val="solid"/>
          </a:ln>
        </p:spPr>
      </p:sp>
      <p:sp>
        <p:nvSpPr>
          <p:cNvPr id="5" name="Shape 2"/>
          <p:cNvSpPr/>
          <p:nvPr/>
        </p:nvSpPr>
        <p:spPr>
          <a:xfrm>
            <a:off x="9239098" y="1904695"/>
            <a:ext cx="4000500" cy="2286000"/>
          </a:xfrm>
          <a:prstGeom prst="rect">
            <a:avLst/>
          </a:prstGeom>
          <a:solidFill>
            <a:srgbClr val="131E33"/>
          </a:solidFill>
          <a:ln w="12700">
            <a:solidFill>
              <a:srgbClr val="2A3B57"/>
            </a:solidFill>
            <a:prstDash val="solid"/>
          </a:ln>
        </p:spPr>
      </p:sp>
      <p:sp>
        <p:nvSpPr>
          <p:cNvPr id="6" name="Shape 3"/>
          <p:cNvSpPr/>
          <p:nvPr/>
        </p:nvSpPr>
        <p:spPr>
          <a:xfrm>
            <a:off x="13430707" y="1904695"/>
            <a:ext cx="4000500" cy="2286000"/>
          </a:xfrm>
          <a:prstGeom prst="rect">
            <a:avLst/>
          </a:prstGeom>
          <a:solidFill>
            <a:srgbClr val="131E33"/>
          </a:solidFill>
          <a:ln w="12700">
            <a:solidFill>
              <a:srgbClr val="2A3B57"/>
            </a:solidFill>
            <a:prstDash val="solid"/>
          </a:ln>
        </p:spPr>
      </p:sp>
      <p:sp>
        <p:nvSpPr>
          <p:cNvPr id="7" name="Shape 4"/>
          <p:cNvSpPr/>
          <p:nvPr/>
        </p:nvSpPr>
        <p:spPr>
          <a:xfrm>
            <a:off x="857707" y="4419295"/>
            <a:ext cx="10477195" cy="2857500"/>
          </a:xfrm>
          <a:prstGeom prst="rect">
            <a:avLst/>
          </a:prstGeom>
          <a:solidFill>
            <a:srgbClr val="131E33"/>
          </a:solidFill>
          <a:ln w="12700">
            <a:solidFill>
              <a:srgbClr val="2A3B57"/>
            </a:solidFill>
            <a:prstDash val="solid"/>
          </a:ln>
        </p:spPr>
      </p:sp>
      <p:pic>
        <p:nvPicPr>
          <p:cNvPr id="8" name="Image 0" descr="gen-dedup-2e61b234cf54206144ef2d00d50dba09.png">    </p:cNvPr>
          <p:cNvPicPr>
            <a:picLocks noChangeAspect="1"/>
          </p:cNvPicPr>
          <p:nvPr/>
        </p:nvPicPr>
        <p:blipFill>
          <a:blip r:embed="rId1"/>
          <a:srcRect l="0" r="0" t="-3" b="-3"/>
          <a:stretch/>
        </p:blipFill>
        <p:spPr>
          <a:xfrm>
            <a:off x="11525098" y="4419295"/>
            <a:ext cx="5905195" cy="2857500"/>
          </a:xfrm>
          <a:prstGeom prst="rect">
            <a:avLst/>
          </a:prstGeom>
        </p:spPr>
      </p:pic>
      <p:sp>
        <p:nvSpPr>
          <p:cNvPr id="9" name="Shape 5"/>
          <p:cNvSpPr/>
          <p:nvPr/>
        </p:nvSpPr>
        <p:spPr>
          <a:xfrm>
            <a:off x="857707" y="7524598"/>
            <a:ext cx="16573500" cy="1904695"/>
          </a:xfrm>
          <a:prstGeom prst="rect">
            <a:avLst/>
          </a:prstGeom>
          <a:solidFill>
            <a:srgbClr val="131E33"/>
          </a:solidFill>
          <a:ln w="12700">
            <a:solidFill>
              <a:srgbClr val="2A3B57"/>
            </a:solidFill>
            <a:prstDash val="solid"/>
          </a:ln>
        </p:spPr>
      </p:sp>
      <p:pic>
        <p:nvPicPr>
          <p:cNvPr id="10" name="Image 1" descr="gen-dedup-10c0bb0d69d27424a3a886fb00e1c7d9.png">    </p:cNvPr>
          <p:cNvPicPr>
            <a:picLocks noChangeAspect="1"/>
          </p:cNvPicPr>
          <p:nvPr/>
        </p:nvPicPr>
        <p:blipFill>
          <a:blip r:embed="rId2"/>
          <a:srcRect l="-400" r="-400" t="0" b="0"/>
          <a:stretch/>
        </p:blipFill>
        <p:spPr>
          <a:xfrm>
            <a:off x="857707" y="1904695"/>
            <a:ext cx="57607" cy="2286000"/>
          </a:xfrm>
          <a:prstGeom prst="rect">
            <a:avLst/>
          </a:prstGeom>
        </p:spPr>
      </p:pic>
      <p:pic>
        <p:nvPicPr>
          <p:cNvPr id="11" name="Image 2" descr="gen-dedup-ba659894c7b3f737afc232361282c5e4.png">    </p:cNvPr>
          <p:cNvPicPr>
            <a:picLocks noChangeAspect="1"/>
          </p:cNvPicPr>
          <p:nvPr/>
        </p:nvPicPr>
        <p:blipFill>
          <a:blip r:embed="rId3"/>
          <a:srcRect l="-400" r="-400" t="0" b="0"/>
          <a:stretch/>
        </p:blipFill>
        <p:spPr>
          <a:xfrm>
            <a:off x="5048402" y="1904695"/>
            <a:ext cx="57607" cy="2286000"/>
          </a:xfrm>
          <a:prstGeom prst="rect">
            <a:avLst/>
          </a:prstGeom>
        </p:spPr>
      </p:pic>
      <p:pic>
        <p:nvPicPr>
          <p:cNvPr id="12" name="Image 3" descr="gen-dedup-55453d23938f82e1f8846e7518c654ce.png">    </p:cNvPr>
          <p:cNvPicPr>
            <a:picLocks noChangeAspect="1"/>
          </p:cNvPicPr>
          <p:nvPr/>
        </p:nvPicPr>
        <p:blipFill>
          <a:blip r:embed="rId4"/>
          <a:srcRect l="-400" r="-400" t="0" b="0"/>
          <a:stretch/>
        </p:blipFill>
        <p:spPr>
          <a:xfrm>
            <a:off x="9239098" y="1904695"/>
            <a:ext cx="57607" cy="2286000"/>
          </a:xfrm>
          <a:prstGeom prst="rect">
            <a:avLst/>
          </a:prstGeom>
        </p:spPr>
      </p:pic>
      <p:pic>
        <p:nvPicPr>
          <p:cNvPr id="13" name="Image 4" descr="gen-dedup-55453d23938f82e1f8846e7518c654ce.png">    </p:cNvPr>
          <p:cNvPicPr>
            <a:picLocks noChangeAspect="1"/>
          </p:cNvPicPr>
          <p:nvPr/>
        </p:nvPicPr>
        <p:blipFill>
          <a:blip r:embed="rId5"/>
          <a:srcRect l="-400" r="-400" t="0" b="0"/>
          <a:stretch/>
        </p:blipFill>
        <p:spPr>
          <a:xfrm>
            <a:off x="13430707" y="1904695"/>
            <a:ext cx="57607" cy="2286000"/>
          </a:xfrm>
          <a:prstGeom prst="rect">
            <a:avLst/>
          </a:prstGeom>
        </p:spPr>
      </p:pic>
      <p:pic>
        <p:nvPicPr>
          <p:cNvPr id="14" name="Image 5" descr="gen-dedup-46f3bce45922baa893d77e1c0a04eb02.png">    </p:cNvPr>
          <p:cNvPicPr>
            <a:picLocks noChangeAspect="1"/>
          </p:cNvPicPr>
          <p:nvPr/>
        </p:nvPicPr>
        <p:blipFill>
          <a:blip r:embed="rId6"/>
          <a:srcRect l="-400" r="-400" t="0" b="0"/>
          <a:stretch/>
        </p:blipFill>
        <p:spPr>
          <a:xfrm>
            <a:off x="11525098" y="4419295"/>
            <a:ext cx="57607" cy="2857500"/>
          </a:xfrm>
          <a:prstGeom prst="rect">
            <a:avLst/>
          </a:prstGeom>
        </p:spPr>
      </p:pic>
      <p:sp>
        <p:nvSpPr>
          <p:cNvPr id="15" name="Text 6"/>
          <p:cNvSpPr txBox="1"/>
          <p:nvPr/>
        </p:nvSpPr>
        <p:spPr>
          <a:xfrm>
            <a:off x="857707" y="571500"/>
            <a:ext cx="5715000" cy="162763"/>
          </a:xfrm>
          <a:prstGeom prst="rect">
            <a:avLst/>
          </a:prstGeom>
          <a:noFill/>
          <a:ln/>
        </p:spPr>
        <p:txBody>
          <a:bodyPr wrap="none" lIns="0" tIns="0" rIns="0" bIns="0" rtlCol="0" anchor="ctr"/>
          <a:lstStyle/>
          <a:p>
            <a:pPr algn="l" indent="0" marL="0">
              <a:buNone/>
            </a:pPr>
            <a:r>
              <a:rPr lang="en-US" sz="1050" b="1" spc="336" kern="0" dirty="0">
                <a:solidFill>
                  <a:srgbClr val="F59E0B"/>
                </a:solidFill>
                <a:latin typeface="Inter" pitchFamily="34" charset="0"/>
                <a:ea typeface="Inter" pitchFamily="34" charset="-122"/>
                <a:cs typeface="Inter" pitchFamily="34" charset="-120"/>
              </a:rPr>
              <a:t>07 · SUMMARY &amp; CONCLUSION</a:t>
            </a:r>
            <a:endParaRPr lang="en-US" sz="1050" dirty="0"/>
          </a:p>
        </p:txBody>
      </p:sp>
      <p:sp>
        <p:nvSpPr>
          <p:cNvPr id="16" name="Text 7"/>
          <p:cNvSpPr txBox="1"/>
          <p:nvPr/>
        </p:nvSpPr>
        <p:spPr>
          <a:xfrm>
            <a:off x="857707" y="838505"/>
            <a:ext cx="14287500" cy="467258"/>
          </a:xfrm>
          <a:prstGeom prst="rect">
            <a:avLst/>
          </a:prstGeom>
          <a:noFill/>
          <a:ln/>
        </p:spPr>
        <p:txBody>
          <a:bodyPr wrap="none" lIns="0" tIns="0" rIns="0" bIns="0" rtlCol="0" anchor="ctr"/>
          <a:lstStyle/>
          <a:p>
            <a:pPr algn="l" indent="0" marL="0">
              <a:buNone/>
            </a:pPr>
            <a:r>
              <a:rPr lang="en-US" sz="3450" b="1" spc="-34" kern="0" dirty="0">
                <a:solidFill>
                  <a:srgbClr val="ECF1F9"/>
                </a:solidFill>
                <a:latin typeface="Inter" pitchFamily="34" charset="0"/>
                <a:ea typeface="Inter" pitchFamily="34" charset="-122"/>
                <a:cs typeface="Inter" pitchFamily="34" charset="-120"/>
              </a:rPr>
              <a:t>요약 — Air Gap 적용 trade-off 정리</a:t>
            </a:r>
            <a:endParaRPr lang="en-US" sz="3450" dirty="0"/>
          </a:p>
        </p:txBody>
      </p:sp>
      <p:sp>
        <p:nvSpPr>
          <p:cNvPr id="17" name="Text 8"/>
          <p:cNvSpPr txBox="1"/>
          <p:nvPr/>
        </p:nvSpPr>
        <p:spPr>
          <a:xfrm>
            <a:off x="857707" y="1435608"/>
            <a:ext cx="14287500" cy="277063"/>
          </a:xfrm>
          <a:prstGeom prst="rect">
            <a:avLst/>
          </a:prstGeom>
          <a:noFill/>
          <a:ln/>
        </p:spPr>
        <p:txBody>
          <a:bodyPr wrap="none" lIns="0" tIns="0" rIns="0" bIns="0" rtlCol="0" anchor="ctr"/>
          <a:lstStyle/>
          <a:p>
            <a:pPr algn="l" indent="0" marL="0">
              <a:buNone/>
            </a:pPr>
            <a:r>
              <a:rPr lang="en-US" sz="1500" dirty="0">
                <a:solidFill>
                  <a:srgbClr val="C2CCE0"/>
                </a:solidFill>
                <a:latin typeface="Inter" pitchFamily="34" charset="0"/>
                <a:ea typeface="Inter" pitchFamily="34" charset="-122"/>
                <a:cs typeface="Inter" pitchFamily="34" charset="-120"/>
              </a:rPr>
              <a:t>4 metrics · 4 wafers 결과를 종합한 핵심 finding과 후속 평가 권고</a:t>
            </a:r>
            <a:endParaRPr lang="en-US" sz="1500" dirty="0"/>
          </a:p>
        </p:txBody>
      </p:sp>
      <p:sp>
        <p:nvSpPr>
          <p:cNvPr id="18" name="Text 9"/>
          <p:cNvSpPr txBox="1"/>
          <p:nvPr/>
        </p:nvSpPr>
        <p:spPr>
          <a:xfrm>
            <a:off x="1123798" y="2115007"/>
            <a:ext cx="3620110" cy="133502"/>
          </a:xfrm>
          <a:prstGeom prst="rect">
            <a:avLst/>
          </a:prstGeom>
          <a:noFill/>
          <a:ln/>
        </p:spPr>
        <p:txBody>
          <a:bodyPr wrap="none" lIns="0" tIns="0" rIns="0" bIns="0" rtlCol="0" anchor="ctr"/>
          <a:lstStyle/>
          <a:p>
            <a:pPr algn="l" indent="0" marL="0">
              <a:buNone/>
            </a:pPr>
            <a:r>
              <a:rPr lang="en-US" sz="825" spc="231" kern="0" dirty="0">
                <a:solidFill>
                  <a:srgbClr val="7E8DA6"/>
                </a:solidFill>
                <a:latin typeface="Inter" pitchFamily="34" charset="0"/>
                <a:ea typeface="Inter" pitchFamily="34" charset="-122"/>
                <a:cs typeface="Inter" pitchFamily="34" charset="-120"/>
              </a:rPr>
              <a:t>CD VARIATION</a:t>
            </a:r>
            <a:endParaRPr lang="en-US" sz="825" dirty="0"/>
          </a:p>
        </p:txBody>
      </p:sp>
      <p:sp>
        <p:nvSpPr>
          <p:cNvPr id="19" name="Text 10"/>
          <p:cNvSpPr txBox="1"/>
          <p:nvPr/>
        </p:nvSpPr>
        <p:spPr>
          <a:xfrm>
            <a:off x="1123798" y="2381098"/>
            <a:ext cx="3620110" cy="505663"/>
          </a:xfrm>
          <a:prstGeom prst="rect">
            <a:avLst/>
          </a:prstGeom>
          <a:noFill/>
          <a:ln/>
        </p:spPr>
        <p:txBody>
          <a:bodyPr wrap="none" lIns="0" tIns="0" rIns="0" bIns="0" rtlCol="0" anchor="ctr"/>
          <a:lstStyle/>
          <a:p>
            <a:pPr algn="l" indent="0" marL="0">
              <a:buNone/>
            </a:pPr>
            <a:r>
              <a:rPr lang="en-US" sz="3000" b="1" dirty="0">
                <a:solidFill>
                  <a:srgbClr val="F87171"/>
                </a:solidFill>
                <a:latin typeface="JetBrains Mono" pitchFamily="34" charset="0"/>
                <a:ea typeface="JetBrains Mono" pitchFamily="34" charset="-122"/>
                <a:cs typeface="JetBrains Mono" pitchFamily="34" charset="-120"/>
              </a:rPr>
              <a:t>−0.45</a:t>
            </a:r>
            <a:pPr algn="l" indent="0" marL="0">
              <a:buNone/>
            </a:pPr>
            <a:r>
              <a:rPr lang="en-US" sz="1350" b="1" dirty="0">
                <a:solidFill>
                  <a:srgbClr val="7E8DA6"/>
                </a:solidFill>
                <a:latin typeface="JetBrains Mono" pitchFamily="34" charset="0"/>
                <a:ea typeface="JetBrains Mono" pitchFamily="34" charset="-122"/>
                <a:cs typeface="JetBrains Mono" pitchFamily="34" charset="-120"/>
              </a:rPr>
              <a:t> ~ −1.15</a:t>
            </a:r>
            <a:endParaRPr lang="en-US" sz="3000" dirty="0"/>
          </a:p>
        </p:txBody>
      </p:sp>
      <p:sp>
        <p:nvSpPr>
          <p:cNvPr id="20" name="Text 11"/>
          <p:cNvSpPr txBox="1"/>
          <p:nvPr/>
        </p:nvSpPr>
        <p:spPr>
          <a:xfrm>
            <a:off x="1123798" y="2943454"/>
            <a:ext cx="3620110" cy="191110"/>
          </a:xfrm>
          <a:prstGeom prst="rect">
            <a:avLst/>
          </a:prstGeom>
          <a:noFill/>
          <a:ln/>
        </p:spPr>
        <p:txBody>
          <a:bodyPr wrap="non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AG wafer 평균 under-cut, nm</a:t>
            </a:r>
            <a:endParaRPr lang="en-US" sz="1050" dirty="0"/>
          </a:p>
        </p:txBody>
      </p:sp>
      <p:sp>
        <p:nvSpPr>
          <p:cNvPr id="21" name="Text 12"/>
          <p:cNvSpPr txBox="1"/>
          <p:nvPr/>
        </p:nvSpPr>
        <p:spPr>
          <a:xfrm>
            <a:off x="1123798" y="3267151"/>
            <a:ext cx="3779215" cy="200254"/>
          </a:xfrm>
          <a:prstGeom prst="rect">
            <a:avLst/>
          </a:prstGeom>
          <a:noFill/>
          <a:ln/>
        </p:spPr>
        <p:txBody>
          <a:bodyPr wrap="non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AASI 가장 큰 폭 손실, AMI/ACI는 −0.4 수준으로 유지.</a:t>
            </a:r>
            <a:endParaRPr lang="en-US" sz="1050" dirty="0"/>
          </a:p>
        </p:txBody>
      </p:sp>
      <p:sp>
        <p:nvSpPr>
          <p:cNvPr id="22" name="Text 13"/>
          <p:cNvSpPr txBox="1"/>
          <p:nvPr/>
        </p:nvSpPr>
        <p:spPr>
          <a:xfrm>
            <a:off x="5315407" y="2115007"/>
            <a:ext cx="3620110" cy="133502"/>
          </a:xfrm>
          <a:prstGeom prst="rect">
            <a:avLst/>
          </a:prstGeom>
          <a:noFill/>
          <a:ln/>
        </p:spPr>
        <p:txBody>
          <a:bodyPr wrap="none" lIns="0" tIns="0" rIns="0" bIns="0" rtlCol="0" anchor="ctr"/>
          <a:lstStyle/>
          <a:p>
            <a:pPr algn="l" indent="0" marL="0">
              <a:buNone/>
            </a:pPr>
            <a:r>
              <a:rPr lang="en-US" sz="825" spc="231" kern="0" dirty="0">
                <a:solidFill>
                  <a:srgbClr val="7E8DA6"/>
                </a:solidFill>
                <a:latin typeface="Inter" pitchFamily="34" charset="0"/>
                <a:ea typeface="Inter" pitchFamily="34" charset="-122"/>
                <a:cs typeface="Inter" pitchFamily="34" charset="-120"/>
              </a:rPr>
              <a:t>UNIFORMITY</a:t>
            </a:r>
            <a:endParaRPr lang="en-US" sz="825" dirty="0"/>
          </a:p>
        </p:txBody>
      </p:sp>
      <p:sp>
        <p:nvSpPr>
          <p:cNvPr id="23" name="Text 14"/>
          <p:cNvSpPr txBox="1"/>
          <p:nvPr/>
        </p:nvSpPr>
        <p:spPr>
          <a:xfrm>
            <a:off x="5315407" y="2381098"/>
            <a:ext cx="3620110" cy="505663"/>
          </a:xfrm>
          <a:prstGeom prst="rect">
            <a:avLst/>
          </a:prstGeom>
          <a:noFill/>
          <a:ln/>
        </p:spPr>
        <p:txBody>
          <a:bodyPr wrap="none" lIns="0" tIns="0" rIns="0" bIns="0" rtlCol="0" anchor="ctr"/>
          <a:lstStyle/>
          <a:p>
            <a:pPr algn="l" indent="0" marL="0">
              <a:buNone/>
            </a:pPr>
            <a:r>
              <a:rPr lang="en-US" sz="3000" b="1" dirty="0">
                <a:solidFill>
                  <a:srgbClr val="F87171"/>
                </a:solidFill>
                <a:latin typeface="JetBrains Mono" pitchFamily="34" charset="0"/>
                <a:ea typeface="JetBrains Mono" pitchFamily="34" charset="-122"/>
                <a:cs typeface="JetBrains Mono" pitchFamily="34" charset="-120"/>
              </a:rPr>
              <a:t>3σ ×2</a:t>
            </a:r>
            <a:endParaRPr lang="en-US" sz="3000" dirty="0"/>
          </a:p>
        </p:txBody>
      </p:sp>
      <p:sp>
        <p:nvSpPr>
          <p:cNvPr id="24" name="Text 15"/>
          <p:cNvSpPr txBox="1"/>
          <p:nvPr/>
        </p:nvSpPr>
        <p:spPr>
          <a:xfrm>
            <a:off x="5315407" y="2943454"/>
            <a:ext cx="3620110" cy="191110"/>
          </a:xfrm>
          <a:prstGeom prst="rect">
            <a:avLst/>
          </a:prstGeom>
          <a:noFill/>
          <a:ln/>
        </p:spPr>
        <p:txBody>
          <a:bodyPr wrap="non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edge site 분포 확대</a:t>
            </a:r>
            <a:endParaRPr lang="en-US" sz="1050" dirty="0"/>
          </a:p>
        </p:txBody>
      </p:sp>
      <p:sp>
        <p:nvSpPr>
          <p:cNvPr id="25" name="Text 16"/>
          <p:cNvSpPr txBox="1"/>
          <p:nvPr/>
        </p:nvSpPr>
        <p:spPr>
          <a:xfrm>
            <a:off x="5315407" y="3267151"/>
            <a:ext cx="3620110" cy="400507"/>
          </a:xfrm>
          <a:prstGeom prst="rect">
            <a:avLst/>
          </a:prstGeom>
          <a:noFill/>
          <a:ln/>
        </p:spPr>
        <p:txBody>
          <a:bodyPr wrap="square" lIns="0" tIns="0" rIns="0" bIns="0" rtlCol="0" anchor="ctr"/>
          <a:lstStyle/>
          <a:p>
            <a:pPr algn="l" indent="0" marL="0">
              <a:lnSpc>
                <a:spcPts val="1575"/>
              </a:lnSpc>
              <a:buNone/>
            </a:pPr>
            <a:r>
              <a:rPr lang="en-US" sz="1050" dirty="0">
                <a:solidFill>
                  <a:srgbClr val="C2CCE0"/>
                </a:solidFill>
                <a:latin typeface="Inter" pitchFamily="34" charset="0"/>
                <a:ea typeface="Inter" pitchFamily="34" charset="-122"/>
                <a:cs typeface="Inter" pitchFamily="34" charset="-120"/>
              </a:rPr>
              <a:t>AG는 가장자리에서 7.5까지 내려가고 중앙 8.7까지 — projected.</a:t>
            </a:r>
            <a:endParaRPr lang="en-US" sz="1050" dirty="0"/>
          </a:p>
        </p:txBody>
      </p:sp>
      <p:sp>
        <p:nvSpPr>
          <p:cNvPr id="26" name="Text 17"/>
          <p:cNvSpPr txBox="1"/>
          <p:nvPr/>
        </p:nvSpPr>
        <p:spPr>
          <a:xfrm>
            <a:off x="9506102" y="2115007"/>
            <a:ext cx="3620110" cy="133502"/>
          </a:xfrm>
          <a:prstGeom prst="rect">
            <a:avLst/>
          </a:prstGeom>
          <a:noFill/>
          <a:ln/>
        </p:spPr>
        <p:txBody>
          <a:bodyPr wrap="none" lIns="0" tIns="0" rIns="0" bIns="0" rtlCol="0" anchor="ctr"/>
          <a:lstStyle/>
          <a:p>
            <a:pPr algn="l" indent="0" marL="0">
              <a:buNone/>
            </a:pPr>
            <a:r>
              <a:rPr lang="en-US" sz="825" spc="231" kern="0" dirty="0">
                <a:solidFill>
                  <a:srgbClr val="7E8DA6"/>
                </a:solidFill>
                <a:latin typeface="Inter" pitchFamily="34" charset="0"/>
                <a:ea typeface="Inter" pitchFamily="34" charset="-122"/>
                <a:cs typeface="Inter" pitchFamily="34" charset="-120"/>
              </a:rPr>
              <a:t>RESISTANCE</a:t>
            </a:r>
            <a:endParaRPr lang="en-US" sz="825" dirty="0"/>
          </a:p>
        </p:txBody>
      </p:sp>
      <p:sp>
        <p:nvSpPr>
          <p:cNvPr id="27" name="Text 18"/>
          <p:cNvSpPr txBox="1"/>
          <p:nvPr/>
        </p:nvSpPr>
        <p:spPr>
          <a:xfrm>
            <a:off x="9506102" y="2381098"/>
            <a:ext cx="924458" cy="409651"/>
          </a:xfrm>
          <a:prstGeom prst="rect">
            <a:avLst/>
          </a:prstGeom>
          <a:noFill/>
          <a:ln/>
        </p:spPr>
        <p:txBody>
          <a:bodyPr wrap="none" lIns="0" tIns="0" rIns="0" bIns="0" rtlCol="0" anchor="ctr"/>
          <a:lstStyle/>
          <a:p>
            <a:pPr algn="l" indent="0" marL="0">
              <a:buNone/>
            </a:pPr>
            <a:r>
              <a:rPr lang="en-US" sz="2400" b="1" dirty="0">
                <a:solidFill>
                  <a:srgbClr val="F87171"/>
                </a:solidFill>
                <a:latin typeface="JetBrains Mono" pitchFamily="34" charset="0"/>
                <a:ea typeface="JetBrains Mono" pitchFamily="34" charset="-122"/>
                <a:cs typeface="JetBrains Mono" pitchFamily="34" charset="-120"/>
              </a:rPr>
              <a:t>+4.7%</a:t>
            </a:r>
            <a:endParaRPr lang="en-US" sz="2400" dirty="0"/>
          </a:p>
        </p:txBody>
      </p:sp>
      <p:sp>
        <p:nvSpPr>
          <p:cNvPr id="28" name="Text 19"/>
          <p:cNvSpPr txBox="1"/>
          <p:nvPr/>
        </p:nvSpPr>
        <p:spPr>
          <a:xfrm>
            <a:off x="9506102" y="2790749"/>
            <a:ext cx="924458" cy="152705"/>
          </a:xfrm>
          <a:prstGeom prst="rect">
            <a:avLst/>
          </a:prstGeom>
          <a:noFill/>
          <a:ln/>
        </p:spPr>
        <p:txBody>
          <a:bodyPr wrap="none" lIns="0" tIns="0" rIns="0" bIns="0" rtlCol="0" anchor="ctr"/>
          <a:lstStyle/>
          <a:p>
            <a:pPr algn="l" indent="0" marL="0">
              <a:buNone/>
            </a:pPr>
            <a:r>
              <a:rPr lang="en-US" sz="975" dirty="0">
                <a:solidFill>
                  <a:srgbClr val="7E8DA6"/>
                </a:solidFill>
                <a:latin typeface="Inter" pitchFamily="34" charset="0"/>
                <a:ea typeface="Inter" pitchFamily="34" charset="-122"/>
                <a:cs typeface="Inter" pitchFamily="34" charset="-120"/>
              </a:rPr>
              <a:t>Rs P50</a:t>
            </a:r>
            <a:endParaRPr lang="en-US" sz="975" dirty="0"/>
          </a:p>
        </p:txBody>
      </p:sp>
      <p:sp>
        <p:nvSpPr>
          <p:cNvPr id="29" name="Text 20"/>
          <p:cNvSpPr txBox="1"/>
          <p:nvPr/>
        </p:nvSpPr>
        <p:spPr>
          <a:xfrm>
            <a:off x="10591495" y="2381098"/>
            <a:ext cx="1105510" cy="409651"/>
          </a:xfrm>
          <a:prstGeom prst="rect">
            <a:avLst/>
          </a:prstGeom>
          <a:noFill/>
          <a:ln/>
        </p:spPr>
        <p:txBody>
          <a:bodyPr wrap="none" lIns="0" tIns="0" rIns="0" bIns="0" rtlCol="0" anchor="ctr"/>
          <a:lstStyle/>
          <a:p>
            <a:pPr algn="l" indent="0" marL="0">
              <a:buNone/>
            </a:pPr>
            <a:r>
              <a:rPr lang="en-US" sz="2400" b="1" dirty="0">
                <a:solidFill>
                  <a:srgbClr val="F87171"/>
                </a:solidFill>
                <a:latin typeface="JetBrains Mono" pitchFamily="34" charset="0"/>
                <a:ea typeface="JetBrains Mono" pitchFamily="34" charset="-122"/>
                <a:cs typeface="JetBrains Mono" pitchFamily="34" charset="-120"/>
              </a:rPr>
              <a:t>+13.5%</a:t>
            </a:r>
            <a:endParaRPr lang="en-US" sz="2400" dirty="0"/>
          </a:p>
        </p:txBody>
      </p:sp>
      <p:sp>
        <p:nvSpPr>
          <p:cNvPr id="30" name="Text 21"/>
          <p:cNvSpPr txBox="1"/>
          <p:nvPr/>
        </p:nvSpPr>
        <p:spPr>
          <a:xfrm>
            <a:off x="10591495" y="2790749"/>
            <a:ext cx="1105510" cy="152705"/>
          </a:xfrm>
          <a:prstGeom prst="rect">
            <a:avLst/>
          </a:prstGeom>
          <a:noFill/>
          <a:ln/>
        </p:spPr>
        <p:txBody>
          <a:bodyPr wrap="none" lIns="0" tIns="0" rIns="0" bIns="0" rtlCol="0" anchor="ctr"/>
          <a:lstStyle/>
          <a:p>
            <a:pPr algn="l" indent="0" marL="0">
              <a:buNone/>
            </a:pPr>
            <a:r>
              <a:rPr lang="en-US" sz="975" dirty="0">
                <a:solidFill>
                  <a:srgbClr val="7E8DA6"/>
                </a:solidFill>
                <a:latin typeface="Inter" pitchFamily="34" charset="0"/>
                <a:ea typeface="Inter" pitchFamily="34" charset="-122"/>
                <a:cs typeface="Inter" pitchFamily="34" charset="-120"/>
              </a:rPr>
              <a:t>Rc P50</a:t>
            </a:r>
            <a:endParaRPr lang="en-US" sz="975" dirty="0"/>
          </a:p>
        </p:txBody>
      </p:sp>
      <p:sp>
        <p:nvSpPr>
          <p:cNvPr id="31" name="Text 22"/>
          <p:cNvSpPr txBox="1"/>
          <p:nvPr/>
        </p:nvSpPr>
        <p:spPr>
          <a:xfrm>
            <a:off x="9506102" y="3076956"/>
            <a:ext cx="3620110" cy="200254"/>
          </a:xfrm>
          <a:prstGeom prst="rect">
            <a:avLst/>
          </a:prstGeom>
          <a:noFill/>
          <a:ln/>
        </p:spPr>
        <p:txBody>
          <a:bodyPr wrap="non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Rc 영향이 더 크며 P99 tail에서 +18.6%까지 벌어짐.</a:t>
            </a:r>
            <a:endParaRPr lang="en-US" sz="1050" dirty="0"/>
          </a:p>
        </p:txBody>
      </p:sp>
      <p:sp>
        <p:nvSpPr>
          <p:cNvPr id="32" name="Text 23"/>
          <p:cNvSpPr txBox="1"/>
          <p:nvPr/>
        </p:nvSpPr>
        <p:spPr>
          <a:xfrm>
            <a:off x="13696798" y="2115007"/>
            <a:ext cx="3620110" cy="133502"/>
          </a:xfrm>
          <a:prstGeom prst="rect">
            <a:avLst/>
          </a:prstGeom>
          <a:noFill/>
          <a:ln/>
        </p:spPr>
        <p:txBody>
          <a:bodyPr wrap="none" lIns="0" tIns="0" rIns="0" bIns="0" rtlCol="0" anchor="ctr"/>
          <a:lstStyle/>
          <a:p>
            <a:pPr algn="l" indent="0" marL="0">
              <a:buNone/>
            </a:pPr>
            <a:r>
              <a:rPr lang="en-US" sz="825" spc="231" kern="0" dirty="0">
                <a:solidFill>
                  <a:srgbClr val="7E8DA6"/>
                </a:solidFill>
                <a:latin typeface="Inter" pitchFamily="34" charset="0"/>
                <a:ea typeface="Inter" pitchFamily="34" charset="-122"/>
                <a:cs typeface="Inter" pitchFamily="34" charset="-120"/>
              </a:rPr>
              <a:t>RELIABILITY</a:t>
            </a:r>
            <a:endParaRPr lang="en-US" sz="825" dirty="0"/>
          </a:p>
        </p:txBody>
      </p:sp>
      <p:sp>
        <p:nvSpPr>
          <p:cNvPr id="33" name="Text 24"/>
          <p:cNvSpPr txBox="1"/>
          <p:nvPr/>
        </p:nvSpPr>
        <p:spPr>
          <a:xfrm>
            <a:off x="13696798" y="2381098"/>
            <a:ext cx="1028700" cy="381305"/>
          </a:xfrm>
          <a:prstGeom prst="rect">
            <a:avLst/>
          </a:prstGeom>
          <a:noFill/>
          <a:ln/>
        </p:spPr>
        <p:txBody>
          <a:bodyPr wrap="none" lIns="0" tIns="0" rIns="0" bIns="0" rtlCol="0" anchor="ctr"/>
          <a:lstStyle/>
          <a:p>
            <a:pPr algn="l" indent="0" marL="0">
              <a:buNone/>
            </a:pPr>
            <a:r>
              <a:rPr lang="en-US" sz="2250" b="1" dirty="0">
                <a:solidFill>
                  <a:srgbClr val="F87171"/>
                </a:solidFill>
                <a:latin typeface="JetBrains Mono" pitchFamily="34" charset="0"/>
                <a:ea typeface="JetBrains Mono" pitchFamily="34" charset="-122"/>
                <a:cs typeface="JetBrains Mono" pitchFamily="34" charset="-120"/>
              </a:rPr>
              <a:t>−10.3%</a:t>
            </a:r>
            <a:endParaRPr lang="en-US" sz="2250" dirty="0"/>
          </a:p>
        </p:txBody>
      </p:sp>
      <p:sp>
        <p:nvSpPr>
          <p:cNvPr id="34" name="Text 25"/>
          <p:cNvSpPr txBox="1"/>
          <p:nvPr/>
        </p:nvSpPr>
        <p:spPr>
          <a:xfrm>
            <a:off x="13696798" y="2762402"/>
            <a:ext cx="1028700" cy="152705"/>
          </a:xfrm>
          <a:prstGeom prst="rect">
            <a:avLst/>
          </a:prstGeom>
          <a:noFill/>
          <a:ln/>
        </p:spPr>
        <p:txBody>
          <a:bodyPr wrap="none" lIns="0" tIns="0" rIns="0" bIns="0" rtlCol="0" anchor="ctr"/>
          <a:lstStyle/>
          <a:p>
            <a:pPr algn="l" indent="0" marL="0">
              <a:buNone/>
            </a:pPr>
            <a:r>
              <a:rPr lang="en-US" sz="975" dirty="0">
                <a:solidFill>
                  <a:srgbClr val="7E8DA6"/>
                </a:solidFill>
                <a:latin typeface="Inter" pitchFamily="34" charset="0"/>
                <a:ea typeface="Inter" pitchFamily="34" charset="-122"/>
                <a:cs typeface="Inter" pitchFamily="34" charset="-120"/>
              </a:rPr>
              <a:t>Jmax</a:t>
            </a:r>
            <a:endParaRPr lang="en-US" sz="975" dirty="0"/>
          </a:p>
        </p:txBody>
      </p:sp>
      <p:sp>
        <p:nvSpPr>
          <p:cNvPr id="35" name="Text 26"/>
          <p:cNvSpPr txBox="1"/>
          <p:nvPr/>
        </p:nvSpPr>
        <p:spPr>
          <a:xfrm>
            <a:off x="14897405" y="2381098"/>
            <a:ext cx="1028700" cy="381305"/>
          </a:xfrm>
          <a:prstGeom prst="rect">
            <a:avLst/>
          </a:prstGeom>
          <a:noFill/>
          <a:ln/>
        </p:spPr>
        <p:txBody>
          <a:bodyPr wrap="none" lIns="0" tIns="0" rIns="0" bIns="0" rtlCol="0" anchor="ctr"/>
          <a:lstStyle/>
          <a:p>
            <a:pPr algn="l" indent="0" marL="0">
              <a:buNone/>
            </a:pPr>
            <a:r>
              <a:rPr lang="en-US" sz="2250" b="1" dirty="0">
                <a:solidFill>
                  <a:srgbClr val="F87171"/>
                </a:solidFill>
                <a:latin typeface="JetBrains Mono" pitchFamily="34" charset="0"/>
                <a:ea typeface="JetBrains Mono" pitchFamily="34" charset="-122"/>
                <a:cs typeface="JetBrains Mono" pitchFamily="34" charset="-120"/>
              </a:rPr>
              <a:t>−10.2%</a:t>
            </a:r>
            <a:endParaRPr lang="en-US" sz="2250" dirty="0"/>
          </a:p>
        </p:txBody>
      </p:sp>
      <p:sp>
        <p:nvSpPr>
          <p:cNvPr id="36" name="Text 27"/>
          <p:cNvSpPr txBox="1"/>
          <p:nvPr/>
        </p:nvSpPr>
        <p:spPr>
          <a:xfrm>
            <a:off x="14897405" y="2762402"/>
            <a:ext cx="1028700" cy="152705"/>
          </a:xfrm>
          <a:prstGeom prst="rect">
            <a:avLst/>
          </a:prstGeom>
          <a:noFill/>
          <a:ln/>
        </p:spPr>
        <p:txBody>
          <a:bodyPr wrap="none" lIns="0" tIns="0" rIns="0" bIns="0" rtlCol="0" anchor="ctr"/>
          <a:lstStyle/>
          <a:p>
            <a:pPr algn="l" indent="0" marL="0">
              <a:buNone/>
            </a:pPr>
            <a:r>
              <a:rPr lang="en-US" sz="975" dirty="0">
                <a:solidFill>
                  <a:srgbClr val="7E8DA6"/>
                </a:solidFill>
                <a:latin typeface="Inter" pitchFamily="34" charset="0"/>
                <a:ea typeface="Inter" pitchFamily="34" charset="-122"/>
                <a:cs typeface="Inter" pitchFamily="34" charset="-120"/>
              </a:rPr>
              <a:t>T50</a:t>
            </a:r>
            <a:endParaRPr lang="en-US" sz="975" dirty="0"/>
          </a:p>
        </p:txBody>
      </p:sp>
      <p:sp>
        <p:nvSpPr>
          <p:cNvPr id="37" name="Text 28"/>
          <p:cNvSpPr txBox="1"/>
          <p:nvPr/>
        </p:nvSpPr>
        <p:spPr>
          <a:xfrm>
            <a:off x="13696798" y="3047695"/>
            <a:ext cx="3620110" cy="200254"/>
          </a:xfrm>
          <a:prstGeom prst="rect">
            <a:avLst/>
          </a:prstGeom>
          <a:noFill/>
          <a:ln/>
        </p:spPr>
        <p:txBody>
          <a:bodyPr wrap="non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EM·TDDB 모두 약 10% 감소. 누설은 +16.7%.</a:t>
            </a:r>
            <a:endParaRPr lang="en-US" sz="1050" dirty="0"/>
          </a:p>
        </p:txBody>
      </p:sp>
      <p:sp>
        <p:nvSpPr>
          <p:cNvPr id="38" name="Text 29"/>
          <p:cNvSpPr txBox="1"/>
          <p:nvPr/>
        </p:nvSpPr>
        <p:spPr>
          <a:xfrm>
            <a:off x="1143000" y="4610405"/>
            <a:ext cx="9715500" cy="133502"/>
          </a:xfrm>
          <a:prstGeom prst="rect">
            <a:avLst/>
          </a:prstGeom>
          <a:noFill/>
          <a:ln/>
        </p:spPr>
        <p:txBody>
          <a:bodyPr wrap="none" lIns="0" tIns="0" rIns="0" bIns="0" rtlCol="0" anchor="ctr"/>
          <a:lstStyle/>
          <a:p>
            <a:pPr algn="l" indent="0" marL="0">
              <a:buNone/>
            </a:pPr>
            <a:r>
              <a:rPr lang="en-US" sz="825" spc="247" kern="0" dirty="0">
                <a:solidFill>
                  <a:srgbClr val="7E8DA6"/>
                </a:solidFill>
                <a:latin typeface="Inter" pitchFamily="34" charset="0"/>
                <a:ea typeface="Inter" pitchFamily="34" charset="-122"/>
                <a:cs typeface="Inter" pitchFamily="34" charset="-120"/>
              </a:rPr>
              <a:t>DELTA SUMMARY</a:t>
            </a:r>
            <a:endParaRPr lang="en-US" sz="825" dirty="0"/>
          </a:p>
        </p:txBody>
      </p:sp>
      <p:sp>
        <p:nvSpPr>
          <p:cNvPr id="39" name="Text 30"/>
          <p:cNvSpPr txBox="1"/>
          <p:nvPr/>
        </p:nvSpPr>
        <p:spPr>
          <a:xfrm>
            <a:off x="1143000" y="4839005"/>
            <a:ext cx="9715500" cy="333756"/>
          </a:xfrm>
          <a:prstGeom prst="rect">
            <a:avLst/>
          </a:prstGeom>
          <a:noFill/>
          <a:ln/>
        </p:spPr>
        <p:txBody>
          <a:bodyPr wrap="none" lIns="0" tIns="0" rIns="0" bIns="0" rtlCol="0" anchor="ctr"/>
          <a:lstStyle/>
          <a:p>
            <a:pPr algn="l" indent="0" marL="0">
              <a:buNone/>
            </a:pPr>
            <a:r>
              <a:rPr lang="en-US" sz="1800" b="1" dirty="0">
                <a:solidFill>
                  <a:srgbClr val="ECF1F9"/>
                </a:solidFill>
                <a:latin typeface="Inter" pitchFamily="34" charset="0"/>
                <a:ea typeface="Inter" pitchFamily="34" charset="-122"/>
                <a:cs typeface="Inter" pitchFamily="34" charset="-120"/>
              </a:rPr>
              <a:t>AG split 평균 변화량 — Control 100 기준</a:t>
            </a:r>
            <a:endParaRPr lang="en-US" sz="1800" dirty="0"/>
          </a:p>
        </p:txBody>
      </p:sp>
      <p:sp>
        <p:nvSpPr>
          <p:cNvPr id="40" name="Shape 31"/>
          <p:cNvSpPr/>
          <p:nvPr/>
        </p:nvSpPr>
        <p:spPr>
          <a:xfrm>
            <a:off x="1143000" y="5296205"/>
            <a:ext cx="9905695" cy="437998"/>
          </a:xfrm>
          <a:prstGeom prst="rect">
            <a:avLst/>
          </a:prstGeom>
          <a:solidFill>
            <a:srgbClr val="182642"/>
          </a:solidFill>
          <a:ln w="12700">
            <a:solidFill>
              <a:srgbClr val="FFFFFF">
                <a:alpha val="0"/>
              </a:srgbClr>
            </a:solidFill>
            <a:prstDash val="solid"/>
          </a:ln>
        </p:spPr>
      </p:sp>
      <p:sp>
        <p:nvSpPr>
          <p:cNvPr id="41" name="Shape 32"/>
          <p:cNvSpPr/>
          <p:nvPr/>
        </p:nvSpPr>
        <p:spPr>
          <a:xfrm>
            <a:off x="1143000" y="5725058"/>
            <a:ext cx="2667305" cy="9144"/>
          </a:xfrm>
          <a:prstGeom prst="rect">
            <a:avLst/>
          </a:prstGeom>
          <a:solidFill>
            <a:srgbClr val="2A3B57"/>
          </a:solidFill>
          <a:ln w="12700">
            <a:solidFill>
              <a:srgbClr val="2A3B57">
                <a:alpha val="0"/>
              </a:srgbClr>
            </a:solidFill>
            <a:prstDash val="solid"/>
          </a:ln>
        </p:spPr>
      </p:sp>
      <p:sp>
        <p:nvSpPr>
          <p:cNvPr id="42" name="Text 33"/>
          <p:cNvSpPr txBox="1"/>
          <p:nvPr/>
        </p:nvSpPr>
        <p:spPr>
          <a:xfrm>
            <a:off x="1143000" y="5296205"/>
            <a:ext cx="2667305" cy="353873"/>
          </a:xfrm>
          <a:prstGeom prst="rect">
            <a:avLst/>
          </a:prstGeom>
          <a:solidFill>
            <a:srgbClr val="FFFFFF">
              <a:alpha val="0"/>
            </a:srgbClr>
          </a:solidFill>
          <a:ln>
            <a:solidFill>
              <a:srgbClr val="FFFFFF">
                <a:alpha val="0"/>
              </a:srgbClr>
            </a:solidFill>
          </a:ln>
        </p:spPr>
        <p:txBody>
          <a:bodyPr wrap="square" lIns="114300" tIns="76200" rIns="114300" bIns="0" rtlCol="0" anchor="ctr"/>
          <a:lstStyle/>
          <a:p>
            <a:pPr algn="l" indent="0" marL="0">
              <a:buNone/>
            </a:pPr>
            <a:r>
              <a:rPr lang="en-US" sz="900" b="1" spc="180" kern="0" dirty="0">
                <a:solidFill>
                  <a:srgbClr val="7E8DA6"/>
                </a:solidFill>
                <a:latin typeface="Inter" pitchFamily="34" charset="0"/>
                <a:ea typeface="Inter" pitchFamily="34" charset="-122"/>
                <a:cs typeface="Inter" pitchFamily="34" charset="-120"/>
              </a:rPr>
              <a:t>AREA</a:t>
            </a:r>
            <a:endParaRPr lang="en-US" sz="900" dirty="0"/>
          </a:p>
        </p:txBody>
      </p:sp>
      <p:sp>
        <p:nvSpPr>
          <p:cNvPr id="43" name="Shape 34"/>
          <p:cNvSpPr/>
          <p:nvPr/>
        </p:nvSpPr>
        <p:spPr>
          <a:xfrm>
            <a:off x="3810305" y="5725058"/>
            <a:ext cx="1714500" cy="9144"/>
          </a:xfrm>
          <a:prstGeom prst="rect">
            <a:avLst/>
          </a:prstGeom>
          <a:solidFill>
            <a:srgbClr val="2A3B57"/>
          </a:solidFill>
          <a:ln w="12700">
            <a:solidFill>
              <a:srgbClr val="2A3B57">
                <a:alpha val="0"/>
              </a:srgbClr>
            </a:solidFill>
            <a:prstDash val="solid"/>
          </a:ln>
        </p:spPr>
      </p:sp>
      <p:sp>
        <p:nvSpPr>
          <p:cNvPr id="44" name="Text 35"/>
          <p:cNvSpPr txBox="1"/>
          <p:nvPr/>
        </p:nvSpPr>
        <p:spPr>
          <a:xfrm>
            <a:off x="3810305" y="5296205"/>
            <a:ext cx="1714500" cy="353873"/>
          </a:xfrm>
          <a:prstGeom prst="rect">
            <a:avLst/>
          </a:prstGeom>
          <a:solidFill>
            <a:srgbClr val="FFFFFF">
              <a:alpha val="0"/>
            </a:srgbClr>
          </a:solidFill>
          <a:ln>
            <a:solidFill>
              <a:srgbClr val="FFFFFF">
                <a:alpha val="0"/>
              </a:srgbClr>
            </a:solidFill>
          </a:ln>
        </p:spPr>
        <p:txBody>
          <a:bodyPr wrap="square" lIns="114300" tIns="76200" rIns="114300" bIns="0" rtlCol="0" anchor="ctr"/>
          <a:lstStyle/>
          <a:p>
            <a:pPr algn="l" indent="0" marL="0">
              <a:buNone/>
            </a:pPr>
            <a:r>
              <a:rPr lang="en-US" sz="900" b="1" spc="180" kern="0" dirty="0">
                <a:solidFill>
                  <a:srgbClr val="7E8DA6"/>
                </a:solidFill>
                <a:latin typeface="Inter" pitchFamily="34" charset="0"/>
                <a:ea typeface="Inter" pitchFamily="34" charset="-122"/>
                <a:cs typeface="Inter" pitchFamily="34" charset="-120"/>
              </a:rPr>
              <a:t>Δ VALUE</a:t>
            </a:r>
            <a:endParaRPr lang="en-US" sz="900" dirty="0"/>
          </a:p>
        </p:txBody>
      </p:sp>
      <p:sp>
        <p:nvSpPr>
          <p:cNvPr id="45" name="Shape 36"/>
          <p:cNvSpPr/>
          <p:nvPr/>
        </p:nvSpPr>
        <p:spPr>
          <a:xfrm>
            <a:off x="5524805" y="5725058"/>
            <a:ext cx="1904695" cy="9144"/>
          </a:xfrm>
          <a:prstGeom prst="rect">
            <a:avLst/>
          </a:prstGeom>
          <a:solidFill>
            <a:srgbClr val="2A3B57"/>
          </a:solidFill>
          <a:ln w="12700">
            <a:solidFill>
              <a:srgbClr val="2A3B57">
                <a:alpha val="0"/>
              </a:srgbClr>
            </a:solidFill>
            <a:prstDash val="solid"/>
          </a:ln>
        </p:spPr>
      </p:sp>
      <p:sp>
        <p:nvSpPr>
          <p:cNvPr id="46" name="Text 37"/>
          <p:cNvSpPr txBox="1"/>
          <p:nvPr/>
        </p:nvSpPr>
        <p:spPr>
          <a:xfrm>
            <a:off x="5524805" y="5296205"/>
            <a:ext cx="1905610" cy="353873"/>
          </a:xfrm>
          <a:prstGeom prst="rect">
            <a:avLst/>
          </a:prstGeom>
          <a:solidFill>
            <a:srgbClr val="FFFFFF">
              <a:alpha val="0"/>
            </a:srgbClr>
          </a:solidFill>
          <a:ln>
            <a:solidFill>
              <a:srgbClr val="FFFFFF">
                <a:alpha val="0"/>
              </a:srgbClr>
            </a:solidFill>
          </a:ln>
        </p:spPr>
        <p:txBody>
          <a:bodyPr wrap="square" lIns="114300" tIns="76200" rIns="114300" bIns="0" rtlCol="0" anchor="ctr"/>
          <a:lstStyle/>
          <a:p>
            <a:pPr algn="l" indent="0" marL="0">
              <a:buNone/>
            </a:pPr>
            <a:r>
              <a:rPr lang="en-US" sz="900" b="1" spc="180" kern="0" dirty="0">
                <a:solidFill>
                  <a:srgbClr val="7E8DA6"/>
                </a:solidFill>
                <a:latin typeface="Inter" pitchFamily="34" charset="0"/>
                <a:ea typeface="Inter" pitchFamily="34" charset="-122"/>
                <a:cs typeface="Inter" pitchFamily="34" charset="-120"/>
              </a:rPr>
              <a:t>VERDICT</a:t>
            </a:r>
            <a:endParaRPr lang="en-US" sz="900" dirty="0"/>
          </a:p>
        </p:txBody>
      </p:sp>
      <p:sp>
        <p:nvSpPr>
          <p:cNvPr id="47" name="Shape 38"/>
          <p:cNvSpPr/>
          <p:nvPr/>
        </p:nvSpPr>
        <p:spPr>
          <a:xfrm>
            <a:off x="7429500" y="5725058"/>
            <a:ext cx="3619195" cy="9144"/>
          </a:xfrm>
          <a:prstGeom prst="rect">
            <a:avLst/>
          </a:prstGeom>
          <a:solidFill>
            <a:srgbClr val="2A3B57"/>
          </a:solidFill>
          <a:ln w="12700">
            <a:solidFill>
              <a:srgbClr val="2A3B57">
                <a:alpha val="0"/>
              </a:srgbClr>
            </a:solidFill>
            <a:prstDash val="solid"/>
          </a:ln>
        </p:spPr>
      </p:sp>
      <p:sp>
        <p:nvSpPr>
          <p:cNvPr id="48" name="Text 39"/>
          <p:cNvSpPr txBox="1"/>
          <p:nvPr/>
        </p:nvSpPr>
        <p:spPr>
          <a:xfrm>
            <a:off x="7429500" y="5296205"/>
            <a:ext cx="3620110" cy="353873"/>
          </a:xfrm>
          <a:prstGeom prst="rect">
            <a:avLst/>
          </a:prstGeom>
          <a:solidFill>
            <a:srgbClr val="FFFFFF">
              <a:alpha val="0"/>
            </a:srgbClr>
          </a:solidFill>
          <a:ln>
            <a:solidFill>
              <a:srgbClr val="FFFFFF">
                <a:alpha val="0"/>
              </a:srgbClr>
            </a:solidFill>
          </a:ln>
        </p:spPr>
        <p:txBody>
          <a:bodyPr wrap="square" lIns="114300" tIns="76200" rIns="114300" bIns="0" rtlCol="0" anchor="ctr"/>
          <a:lstStyle/>
          <a:p>
            <a:pPr algn="l" indent="0" marL="0">
              <a:buNone/>
            </a:pPr>
            <a:r>
              <a:rPr lang="en-US" sz="900" b="1" spc="180" kern="0" dirty="0">
                <a:solidFill>
                  <a:srgbClr val="7E8DA6"/>
                </a:solidFill>
                <a:latin typeface="Inter" pitchFamily="34" charset="0"/>
                <a:ea typeface="Inter" pitchFamily="34" charset="-122"/>
                <a:cs typeface="Inter" pitchFamily="34" charset="-120"/>
              </a:rPr>
              <a:t>READ</a:t>
            </a:r>
            <a:endParaRPr lang="en-US" sz="900" dirty="0"/>
          </a:p>
        </p:txBody>
      </p:sp>
      <p:sp>
        <p:nvSpPr>
          <p:cNvPr id="49" name="Shape 40"/>
          <p:cNvSpPr/>
          <p:nvPr/>
        </p:nvSpPr>
        <p:spPr>
          <a:xfrm>
            <a:off x="1143000" y="6134710"/>
            <a:ext cx="9905695" cy="9144"/>
          </a:xfrm>
          <a:prstGeom prst="rect">
            <a:avLst/>
          </a:prstGeom>
          <a:solidFill>
            <a:srgbClr val="2A3B57"/>
          </a:solidFill>
          <a:ln w="12700">
            <a:solidFill>
              <a:srgbClr val="2A3B57">
                <a:alpha val="0"/>
              </a:srgbClr>
            </a:solidFill>
            <a:prstDash val="solid"/>
          </a:ln>
        </p:spPr>
      </p:sp>
      <p:sp>
        <p:nvSpPr>
          <p:cNvPr id="50" name="Text 41"/>
          <p:cNvSpPr txBox="1"/>
          <p:nvPr/>
        </p:nvSpPr>
        <p:spPr>
          <a:xfrm>
            <a:off x="1143000" y="5734202"/>
            <a:ext cx="2667305" cy="409651"/>
          </a:xfrm>
          <a:prstGeom prst="rect">
            <a:avLst/>
          </a:prstGeom>
          <a:noFill/>
          <a:ln/>
        </p:spPr>
        <p:txBody>
          <a:bodyPr wrap="square" lIns="0" tIns="0" rIns="0" bIns="0" rtlCol="0" anchor="ctr"/>
          <a:lstStyle/>
          <a:p>
            <a:pPr algn="l" indent="0" marL="0">
              <a:buNone/>
            </a:pPr>
            <a:r>
              <a:rPr lang="en-US" sz="1125" dirty="0">
                <a:solidFill>
                  <a:srgbClr val="ECF1F9"/>
                </a:solidFill>
                <a:latin typeface="Inter" pitchFamily="34" charset="0"/>
                <a:ea typeface="Inter" pitchFamily="34" charset="-122"/>
                <a:cs typeface="Inter" pitchFamily="34" charset="-120"/>
              </a:rPr>
              <a:t>유효 k 추정</a:t>
            </a:r>
            <a:endParaRPr lang="en-US" sz="1125" dirty="0"/>
          </a:p>
        </p:txBody>
      </p:sp>
      <p:sp>
        <p:nvSpPr>
          <p:cNvPr id="51" name="Text 42"/>
          <p:cNvSpPr txBox="1"/>
          <p:nvPr/>
        </p:nvSpPr>
        <p:spPr>
          <a:xfrm>
            <a:off x="3810305" y="5734202"/>
            <a:ext cx="1714500" cy="409651"/>
          </a:xfrm>
          <a:prstGeom prst="rect">
            <a:avLst/>
          </a:prstGeom>
          <a:noFill/>
          <a:ln/>
        </p:spPr>
        <p:txBody>
          <a:bodyPr wrap="none" lIns="0" tIns="0" rIns="0" bIns="0" rtlCol="0" anchor="ctr"/>
          <a:lstStyle/>
          <a:p>
            <a:pPr algn="l" indent="0" marL="0">
              <a:buNone/>
            </a:pPr>
            <a:r>
              <a:rPr lang="en-US" sz="1350" dirty="0">
                <a:solidFill>
                  <a:srgbClr val="22C55E"/>
                </a:solidFill>
                <a:latin typeface="JetBrains Mono" pitchFamily="34" charset="0"/>
                <a:ea typeface="JetBrains Mono" pitchFamily="34" charset="-122"/>
                <a:cs typeface="JetBrains Mono" pitchFamily="34" charset="-120"/>
              </a:rPr>
              <a:t>−12% 추정</a:t>
            </a:r>
            <a:endParaRPr lang="en-US" sz="1350" dirty="0"/>
          </a:p>
        </p:txBody>
      </p:sp>
      <p:sp>
        <p:nvSpPr>
          <p:cNvPr id="52" name="Text 43"/>
          <p:cNvSpPr txBox="1"/>
          <p:nvPr/>
        </p:nvSpPr>
        <p:spPr>
          <a:xfrm>
            <a:off x="7429500" y="5734202"/>
            <a:ext cx="3620110" cy="409651"/>
          </a:xfrm>
          <a:prstGeom prst="rect">
            <a:avLst/>
          </a:prstGeom>
          <a:noFill/>
          <a:ln/>
        </p:spPr>
        <p:txBody>
          <a:bodyPr wrap="squar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ULK 일부가 cavity로 치환</a:t>
            </a:r>
            <a:endParaRPr lang="en-US" sz="1050" dirty="0"/>
          </a:p>
        </p:txBody>
      </p:sp>
      <p:sp>
        <p:nvSpPr>
          <p:cNvPr id="53" name="Shape 44"/>
          <p:cNvSpPr/>
          <p:nvPr/>
        </p:nvSpPr>
        <p:spPr>
          <a:xfrm>
            <a:off x="1143000" y="6544361"/>
            <a:ext cx="9905695" cy="9144"/>
          </a:xfrm>
          <a:prstGeom prst="rect">
            <a:avLst/>
          </a:prstGeom>
          <a:solidFill>
            <a:srgbClr val="2A3B57"/>
          </a:solidFill>
          <a:ln w="12700">
            <a:solidFill>
              <a:srgbClr val="2A3B57">
                <a:alpha val="0"/>
              </a:srgbClr>
            </a:solidFill>
            <a:prstDash val="solid"/>
          </a:ln>
        </p:spPr>
      </p:sp>
      <p:sp>
        <p:nvSpPr>
          <p:cNvPr id="54" name="Text 45"/>
          <p:cNvSpPr txBox="1"/>
          <p:nvPr/>
        </p:nvSpPr>
        <p:spPr>
          <a:xfrm>
            <a:off x="1143000" y="6143854"/>
            <a:ext cx="2667305" cy="409651"/>
          </a:xfrm>
          <a:prstGeom prst="rect">
            <a:avLst/>
          </a:prstGeom>
          <a:noFill/>
          <a:ln/>
        </p:spPr>
        <p:txBody>
          <a:bodyPr wrap="square" lIns="0" tIns="0" rIns="0" bIns="0" rtlCol="0" anchor="ctr"/>
          <a:lstStyle/>
          <a:p>
            <a:pPr algn="l" indent="0" marL="0">
              <a:buNone/>
            </a:pPr>
            <a:r>
              <a:rPr lang="en-US" sz="1125" dirty="0">
                <a:solidFill>
                  <a:srgbClr val="ECF1F9"/>
                </a:solidFill>
                <a:latin typeface="Inter" pitchFamily="34" charset="0"/>
                <a:ea typeface="Inter" pitchFamily="34" charset="-122"/>
                <a:cs typeface="Inter" pitchFamily="34" charset="-120"/>
              </a:rPr>
              <a:t>CD under-cut</a:t>
            </a:r>
            <a:endParaRPr lang="en-US" sz="1125" dirty="0"/>
          </a:p>
        </p:txBody>
      </p:sp>
      <p:sp>
        <p:nvSpPr>
          <p:cNvPr id="55" name="Text 46"/>
          <p:cNvSpPr txBox="1"/>
          <p:nvPr/>
        </p:nvSpPr>
        <p:spPr>
          <a:xfrm>
            <a:off x="3810305" y="6143854"/>
            <a:ext cx="1714500" cy="409651"/>
          </a:xfrm>
          <a:prstGeom prst="rect">
            <a:avLst/>
          </a:prstGeom>
          <a:noFill/>
          <a:ln/>
        </p:spPr>
        <p:txBody>
          <a:bodyPr wrap="none" lIns="0" tIns="0" rIns="0" bIns="0" rtlCol="0" anchor="ctr"/>
          <a:lstStyle/>
          <a:p>
            <a:pPr algn="l" indent="0" marL="0">
              <a:buNone/>
            </a:pPr>
            <a:r>
              <a:rPr lang="en-US" sz="1350" dirty="0">
                <a:solidFill>
                  <a:srgbClr val="F87171"/>
                </a:solidFill>
                <a:latin typeface="JetBrains Mono" pitchFamily="34" charset="0"/>
                <a:ea typeface="JetBrains Mono" pitchFamily="34" charset="-122"/>
                <a:cs typeface="JetBrains Mono" pitchFamily="34" charset="-120"/>
              </a:rPr>
              <a:t>~ −0.7 nm 평균</a:t>
            </a:r>
            <a:endParaRPr lang="en-US" sz="1350" dirty="0"/>
          </a:p>
        </p:txBody>
      </p:sp>
      <p:sp>
        <p:nvSpPr>
          <p:cNvPr id="56" name="Text 47"/>
          <p:cNvSpPr txBox="1"/>
          <p:nvPr/>
        </p:nvSpPr>
        <p:spPr>
          <a:xfrm>
            <a:off x="7429500" y="6143854"/>
            <a:ext cx="3620110" cy="409651"/>
          </a:xfrm>
          <a:prstGeom prst="rect">
            <a:avLst/>
          </a:prstGeom>
          <a:noFill/>
          <a:ln/>
        </p:spPr>
        <p:txBody>
          <a:bodyPr wrap="squar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라인/비아 부피 손실</a:t>
            </a:r>
            <a:endParaRPr lang="en-US" sz="1050" dirty="0"/>
          </a:p>
        </p:txBody>
      </p:sp>
      <p:sp>
        <p:nvSpPr>
          <p:cNvPr id="57" name="Shape 48"/>
          <p:cNvSpPr/>
          <p:nvPr/>
        </p:nvSpPr>
        <p:spPr>
          <a:xfrm>
            <a:off x="1143000" y="6944868"/>
            <a:ext cx="9905695" cy="9144"/>
          </a:xfrm>
          <a:prstGeom prst="rect">
            <a:avLst/>
          </a:prstGeom>
          <a:solidFill>
            <a:srgbClr val="2A3B57"/>
          </a:solidFill>
          <a:ln w="12700">
            <a:solidFill>
              <a:srgbClr val="2A3B57">
                <a:alpha val="0"/>
              </a:srgbClr>
            </a:solidFill>
            <a:prstDash val="solid"/>
          </a:ln>
        </p:spPr>
      </p:sp>
      <p:sp>
        <p:nvSpPr>
          <p:cNvPr id="58" name="Text 49"/>
          <p:cNvSpPr txBox="1"/>
          <p:nvPr/>
        </p:nvSpPr>
        <p:spPr>
          <a:xfrm>
            <a:off x="1143000" y="6553505"/>
            <a:ext cx="2667305" cy="400507"/>
          </a:xfrm>
          <a:prstGeom prst="rect">
            <a:avLst/>
          </a:prstGeom>
          <a:noFill/>
          <a:ln/>
        </p:spPr>
        <p:txBody>
          <a:bodyPr wrap="square" lIns="0" tIns="0" rIns="0" bIns="0" rtlCol="0" anchor="ctr"/>
          <a:lstStyle/>
          <a:p>
            <a:pPr algn="l" indent="0" marL="0">
              <a:buNone/>
            </a:pPr>
            <a:r>
              <a:rPr lang="en-US" sz="1125" dirty="0">
                <a:solidFill>
                  <a:srgbClr val="ECF1F9"/>
                </a:solidFill>
                <a:latin typeface="Inter" pitchFamily="34" charset="0"/>
                <a:ea typeface="Inter" pitchFamily="34" charset="-122"/>
                <a:cs typeface="Inter" pitchFamily="34" charset="-120"/>
              </a:rPr>
              <a:t>In-wafer 3σ (AMI)</a:t>
            </a:r>
            <a:endParaRPr lang="en-US" sz="1125" dirty="0"/>
          </a:p>
        </p:txBody>
      </p:sp>
      <p:sp>
        <p:nvSpPr>
          <p:cNvPr id="59" name="Text 50"/>
          <p:cNvSpPr txBox="1"/>
          <p:nvPr/>
        </p:nvSpPr>
        <p:spPr>
          <a:xfrm>
            <a:off x="3810305" y="6553505"/>
            <a:ext cx="1714500" cy="400507"/>
          </a:xfrm>
          <a:prstGeom prst="rect">
            <a:avLst/>
          </a:prstGeom>
          <a:noFill/>
          <a:ln/>
        </p:spPr>
        <p:txBody>
          <a:bodyPr wrap="none" lIns="0" tIns="0" rIns="0" bIns="0" rtlCol="0" anchor="ctr"/>
          <a:lstStyle/>
          <a:p>
            <a:pPr algn="l" indent="0" marL="0">
              <a:buNone/>
            </a:pPr>
            <a:r>
              <a:rPr lang="en-US" sz="1350" dirty="0">
                <a:solidFill>
                  <a:srgbClr val="F87171"/>
                </a:solidFill>
                <a:latin typeface="JetBrains Mono" pitchFamily="34" charset="0"/>
                <a:ea typeface="JetBrains Mono" pitchFamily="34" charset="-122"/>
                <a:cs typeface="JetBrains Mono" pitchFamily="34" charset="-120"/>
              </a:rPr>
              <a:t>0.32 → 0.62</a:t>
            </a:r>
            <a:endParaRPr lang="en-US" sz="1350" dirty="0"/>
          </a:p>
        </p:txBody>
      </p:sp>
      <p:sp>
        <p:nvSpPr>
          <p:cNvPr id="60" name="Text 51"/>
          <p:cNvSpPr txBox="1"/>
          <p:nvPr/>
        </p:nvSpPr>
        <p:spPr>
          <a:xfrm>
            <a:off x="7429500" y="6553505"/>
            <a:ext cx="3620110" cy="400507"/>
          </a:xfrm>
          <a:prstGeom prst="rect">
            <a:avLst/>
          </a:prstGeom>
          <a:noFill/>
          <a:ln/>
        </p:spPr>
        <p:txBody>
          <a:bodyPr wrap="squar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edge over-recess 가 주요인</a:t>
            </a:r>
            <a:endParaRPr lang="en-US" sz="1050" dirty="0"/>
          </a:p>
        </p:txBody>
      </p:sp>
      <p:sp>
        <p:nvSpPr>
          <p:cNvPr id="61" name="Text 52"/>
          <p:cNvSpPr txBox="1"/>
          <p:nvPr/>
        </p:nvSpPr>
        <p:spPr>
          <a:xfrm>
            <a:off x="1143000" y="6953098"/>
            <a:ext cx="2667305" cy="400507"/>
          </a:xfrm>
          <a:prstGeom prst="rect">
            <a:avLst/>
          </a:prstGeom>
          <a:noFill/>
          <a:ln/>
        </p:spPr>
        <p:txBody>
          <a:bodyPr wrap="square" lIns="0" tIns="0" rIns="0" bIns="0" rtlCol="0" anchor="ctr"/>
          <a:lstStyle/>
          <a:p>
            <a:pPr algn="l" indent="0" marL="0">
              <a:buNone/>
            </a:pPr>
            <a:r>
              <a:rPr lang="en-US" sz="1125" dirty="0">
                <a:solidFill>
                  <a:srgbClr val="ECF1F9"/>
                </a:solidFill>
                <a:latin typeface="Inter" pitchFamily="34" charset="0"/>
                <a:ea typeface="Inter" pitchFamily="34" charset="-122"/>
                <a:cs typeface="Inter" pitchFamily="34" charset="-120"/>
              </a:rPr>
              <a:t>누설 전류</a:t>
            </a:r>
            <a:endParaRPr lang="en-US" sz="1125" dirty="0"/>
          </a:p>
        </p:txBody>
      </p:sp>
      <p:sp>
        <p:nvSpPr>
          <p:cNvPr id="62" name="Text 53"/>
          <p:cNvSpPr txBox="1"/>
          <p:nvPr/>
        </p:nvSpPr>
        <p:spPr>
          <a:xfrm>
            <a:off x="3810305" y="6953098"/>
            <a:ext cx="1714500" cy="400507"/>
          </a:xfrm>
          <a:prstGeom prst="rect">
            <a:avLst/>
          </a:prstGeom>
          <a:noFill/>
          <a:ln/>
        </p:spPr>
        <p:txBody>
          <a:bodyPr wrap="none" lIns="0" tIns="0" rIns="0" bIns="0" rtlCol="0" anchor="ctr"/>
          <a:lstStyle/>
          <a:p>
            <a:pPr algn="l" indent="0" marL="0">
              <a:buNone/>
            </a:pPr>
            <a:r>
              <a:rPr lang="en-US" sz="1350" dirty="0">
                <a:solidFill>
                  <a:srgbClr val="F87171"/>
                </a:solidFill>
                <a:latin typeface="JetBrains Mono" pitchFamily="34" charset="0"/>
                <a:ea typeface="JetBrains Mono" pitchFamily="34" charset="-122"/>
                <a:cs typeface="JetBrains Mono" pitchFamily="34" charset="-120"/>
              </a:rPr>
              <a:t>+16.7%</a:t>
            </a:r>
            <a:endParaRPr lang="en-US" sz="1350" dirty="0"/>
          </a:p>
        </p:txBody>
      </p:sp>
      <p:sp>
        <p:nvSpPr>
          <p:cNvPr id="63" name="Text 54"/>
          <p:cNvSpPr txBox="1"/>
          <p:nvPr/>
        </p:nvSpPr>
        <p:spPr>
          <a:xfrm>
            <a:off x="7429500" y="6953098"/>
            <a:ext cx="3620110" cy="400507"/>
          </a:xfrm>
          <a:prstGeom prst="rect">
            <a:avLst/>
          </a:prstGeom>
          <a:noFill/>
          <a:ln/>
        </p:spPr>
        <p:txBody>
          <a:bodyPr wrap="square" lIns="0" tIns="0" rIns="0" bIns="0" rtlCol="0" anchor="ctr"/>
          <a:lstStyle/>
          <a:p>
            <a:pPr algn="l" indent="0" marL="0">
              <a:buNone/>
            </a:pPr>
            <a:r>
              <a:rPr lang="en-US" sz="1050" dirty="0">
                <a:solidFill>
                  <a:srgbClr val="C2CCE0"/>
                </a:solidFill>
                <a:latin typeface="Inter" pitchFamily="34" charset="0"/>
                <a:ea typeface="Inter" pitchFamily="34" charset="-122"/>
                <a:cs typeface="Inter" pitchFamily="34" charset="-120"/>
              </a:rPr>
              <a:t>TDDB 권고 모니터링</a:t>
            </a:r>
            <a:endParaRPr lang="en-US" sz="1050" dirty="0"/>
          </a:p>
        </p:txBody>
      </p:sp>
      <p:sp>
        <p:nvSpPr>
          <p:cNvPr id="64" name="Text 55"/>
          <p:cNvSpPr txBox="1"/>
          <p:nvPr/>
        </p:nvSpPr>
        <p:spPr>
          <a:xfrm>
            <a:off x="5597042" y="5843930"/>
            <a:ext cx="608076" cy="200254"/>
          </a:xfrm>
          <a:prstGeom prst="rect">
            <a:avLst/>
          </a:prstGeom>
          <a:solidFill>
            <a:srgbClr val="22C55E">
              <a:alpha val="16000"/>
            </a:srgbClr>
          </a:solidFill>
          <a:ln>
            <a:solidFill>
              <a:srgbClr val="FFFFFF">
                <a:alpha val="0"/>
              </a:srgbClr>
            </a:solidFill>
          </a:ln>
        </p:spPr>
        <p:txBody>
          <a:bodyPr wrap="none" lIns="76200" tIns="25400" rIns="76200" bIns="25400" rtlCol="0" anchor="ctr"/>
          <a:lstStyle/>
          <a:p>
            <a:pPr algn="l" indent="0" marL="0">
              <a:buNone/>
            </a:pPr>
            <a:r>
              <a:rPr lang="en-US" sz="900" b="1" spc="162" kern="0" dirty="0">
                <a:solidFill>
                  <a:srgbClr val="22C55E"/>
                </a:solidFill>
                <a:latin typeface="Inter" pitchFamily="34" charset="0"/>
                <a:ea typeface="Inter" pitchFamily="34" charset="-122"/>
                <a:cs typeface="Inter" pitchFamily="34" charset="-120"/>
              </a:rPr>
              <a:t>GAIN</a:t>
            </a:r>
            <a:endParaRPr lang="en-US" sz="900" dirty="0"/>
          </a:p>
        </p:txBody>
      </p:sp>
      <p:sp>
        <p:nvSpPr>
          <p:cNvPr id="65" name="Text 56"/>
          <p:cNvSpPr txBox="1"/>
          <p:nvPr/>
        </p:nvSpPr>
        <p:spPr>
          <a:xfrm>
            <a:off x="5594299" y="6253582"/>
            <a:ext cx="536753" cy="200254"/>
          </a:xfrm>
          <a:prstGeom prst="rect">
            <a:avLst/>
          </a:prstGeom>
          <a:solidFill>
            <a:srgbClr val="F87171">
              <a:alpha val="16000"/>
            </a:srgbClr>
          </a:solidFill>
          <a:ln>
            <a:solidFill>
              <a:srgbClr val="FFFFFF">
                <a:alpha val="0"/>
              </a:srgbClr>
            </a:solidFill>
          </a:ln>
        </p:spPr>
        <p:txBody>
          <a:bodyPr wrap="none" lIns="76200" tIns="25400" rIns="76200" bIns="25400" rtlCol="0" anchor="ctr"/>
          <a:lstStyle/>
          <a:p>
            <a:pPr algn="l" indent="0" marL="0">
              <a:buNone/>
            </a:pPr>
            <a:r>
              <a:rPr lang="en-US" sz="900" b="1" spc="162" kern="0" dirty="0">
                <a:solidFill>
                  <a:srgbClr val="F87171"/>
                </a:solidFill>
                <a:latin typeface="Inter" pitchFamily="34" charset="0"/>
                <a:ea typeface="Inter" pitchFamily="34" charset="-122"/>
                <a:cs typeface="Inter" pitchFamily="34" charset="-120"/>
              </a:rPr>
              <a:t>PAY</a:t>
            </a:r>
            <a:endParaRPr lang="en-US" sz="900" dirty="0"/>
          </a:p>
        </p:txBody>
      </p:sp>
      <p:sp>
        <p:nvSpPr>
          <p:cNvPr id="66" name="Text 57"/>
          <p:cNvSpPr txBox="1"/>
          <p:nvPr/>
        </p:nvSpPr>
        <p:spPr>
          <a:xfrm>
            <a:off x="5594299" y="6657746"/>
            <a:ext cx="536753" cy="200254"/>
          </a:xfrm>
          <a:prstGeom prst="rect">
            <a:avLst/>
          </a:prstGeom>
          <a:solidFill>
            <a:srgbClr val="F87171">
              <a:alpha val="16000"/>
            </a:srgbClr>
          </a:solidFill>
          <a:ln>
            <a:solidFill>
              <a:srgbClr val="FFFFFF">
                <a:alpha val="0"/>
              </a:srgbClr>
            </a:solidFill>
          </a:ln>
        </p:spPr>
        <p:txBody>
          <a:bodyPr wrap="none" lIns="76200" tIns="25400" rIns="76200" bIns="25400" rtlCol="0" anchor="ctr"/>
          <a:lstStyle/>
          <a:p>
            <a:pPr algn="l" indent="0" marL="0">
              <a:buNone/>
            </a:pPr>
            <a:r>
              <a:rPr lang="en-US" sz="900" b="1" spc="162" kern="0" dirty="0">
                <a:solidFill>
                  <a:srgbClr val="F87171"/>
                </a:solidFill>
                <a:latin typeface="Inter" pitchFamily="34" charset="0"/>
                <a:ea typeface="Inter" pitchFamily="34" charset="-122"/>
                <a:cs typeface="Inter" pitchFamily="34" charset="-120"/>
              </a:rPr>
              <a:t>PAY</a:t>
            </a:r>
            <a:endParaRPr lang="en-US" sz="900" dirty="0"/>
          </a:p>
        </p:txBody>
      </p:sp>
      <p:sp>
        <p:nvSpPr>
          <p:cNvPr id="67" name="Text 58"/>
          <p:cNvSpPr txBox="1"/>
          <p:nvPr/>
        </p:nvSpPr>
        <p:spPr>
          <a:xfrm>
            <a:off x="5639105" y="7060082"/>
            <a:ext cx="685800" cy="200254"/>
          </a:xfrm>
          <a:prstGeom prst="rect">
            <a:avLst/>
          </a:prstGeom>
          <a:solidFill>
            <a:srgbClr val="F59E0B">
              <a:alpha val="16000"/>
            </a:srgbClr>
          </a:solidFill>
          <a:ln>
            <a:solidFill>
              <a:srgbClr val="FFFFFF">
                <a:alpha val="0"/>
              </a:srgbClr>
            </a:solidFill>
          </a:ln>
        </p:spPr>
        <p:txBody>
          <a:bodyPr wrap="none" lIns="76200" tIns="25400" rIns="76200" bIns="25400" rtlCol="0" anchor="ctr"/>
          <a:lstStyle/>
          <a:p>
            <a:pPr algn="l" indent="0" marL="0">
              <a:buNone/>
            </a:pPr>
            <a:r>
              <a:rPr lang="en-US" sz="900" b="1" spc="162" kern="0" dirty="0">
                <a:solidFill>
                  <a:srgbClr val="F59E0B"/>
                </a:solidFill>
                <a:latin typeface="Inter" pitchFamily="34" charset="0"/>
                <a:ea typeface="Inter" pitchFamily="34" charset="-122"/>
                <a:cs typeface="Inter" pitchFamily="34" charset="-120"/>
              </a:rPr>
              <a:t>WATCH</a:t>
            </a:r>
            <a:endParaRPr lang="en-US" sz="900" dirty="0"/>
          </a:p>
        </p:txBody>
      </p:sp>
      <p:sp>
        <p:nvSpPr>
          <p:cNvPr id="68" name="Text 59"/>
          <p:cNvSpPr txBox="1"/>
          <p:nvPr/>
        </p:nvSpPr>
        <p:spPr>
          <a:xfrm>
            <a:off x="11848795" y="4629607"/>
            <a:ext cx="5334610" cy="133502"/>
          </a:xfrm>
          <a:prstGeom prst="rect">
            <a:avLst/>
          </a:prstGeom>
          <a:noFill/>
          <a:ln/>
        </p:spPr>
        <p:txBody>
          <a:bodyPr wrap="none" lIns="0" tIns="0" rIns="0" bIns="0" rtlCol="0" anchor="ctr"/>
          <a:lstStyle/>
          <a:p>
            <a:pPr algn="l" indent="0" marL="0">
              <a:buNone/>
            </a:pPr>
            <a:r>
              <a:rPr lang="en-US" sz="825" spc="247" kern="0" dirty="0">
                <a:solidFill>
                  <a:srgbClr val="7E8DA6"/>
                </a:solidFill>
                <a:latin typeface="Inter" pitchFamily="34" charset="0"/>
                <a:ea typeface="Inter" pitchFamily="34" charset="-122"/>
                <a:cs typeface="Inter" pitchFamily="34" charset="-120"/>
              </a:rPr>
              <a:t>NEXT-STEP RECOMMENDATIONS</a:t>
            </a:r>
            <a:endParaRPr lang="en-US" sz="825" dirty="0"/>
          </a:p>
        </p:txBody>
      </p:sp>
      <p:sp>
        <p:nvSpPr>
          <p:cNvPr id="69" name="Text 60"/>
          <p:cNvSpPr txBox="1"/>
          <p:nvPr/>
        </p:nvSpPr>
        <p:spPr>
          <a:xfrm>
            <a:off x="11848795" y="4858207"/>
            <a:ext cx="5334610" cy="305410"/>
          </a:xfrm>
          <a:prstGeom prst="rect">
            <a:avLst/>
          </a:prstGeom>
          <a:noFill/>
          <a:ln/>
        </p:spPr>
        <p:txBody>
          <a:bodyPr wrap="none" lIns="0" tIns="0" rIns="0" bIns="0" rtlCol="0" anchor="ctr"/>
          <a:lstStyle/>
          <a:p>
            <a:pPr algn="l" indent="0" marL="0">
              <a:buNone/>
            </a:pPr>
            <a:r>
              <a:rPr lang="en-US" sz="1650" b="1" dirty="0">
                <a:solidFill>
                  <a:srgbClr val="ECF1F9"/>
                </a:solidFill>
                <a:latin typeface="Inter" pitchFamily="34" charset="0"/>
                <a:ea typeface="Inter" pitchFamily="34" charset="-122"/>
                <a:cs typeface="Inter" pitchFamily="34" charset="-120"/>
              </a:rPr>
              <a:t>후속 평가 권고</a:t>
            </a:r>
            <a:endParaRPr lang="en-US" sz="1650" dirty="0"/>
          </a:p>
        </p:txBody>
      </p:sp>
      <p:sp>
        <p:nvSpPr>
          <p:cNvPr id="70" name="Text 61"/>
          <p:cNvSpPr txBox="1"/>
          <p:nvPr/>
        </p:nvSpPr>
        <p:spPr>
          <a:xfrm>
            <a:off x="11848795" y="5296205"/>
            <a:ext cx="5334610" cy="1293876"/>
          </a:xfrm>
          <a:prstGeom prst="rect">
            <a:avLst/>
          </a:prstGeom>
          <a:noFill/>
          <a:ln/>
        </p:spPr>
        <p:txBody>
          <a:bodyPr wrap="square" lIns="0" tIns="0" rIns="0" bIns="0" rtlCol="0" anchor="t"/>
          <a:lstStyle/>
          <a:p>
            <a:pPr algn="l" indent="0" marL="0">
              <a:spcAft>
                <a:spcPts val="1050"/>
              </a:spcAft>
              <a:buNone/>
            </a:pPr>
            <a:r>
              <a:rPr lang="en-US" sz="1200" dirty="0">
                <a:solidFill>
                  <a:srgbClr val="000000"/>
                </a:solidFill>
                <a:latin typeface="Times New Roman" pitchFamily="34" charset="0"/>
                <a:ea typeface="Times New Roman" pitchFamily="34" charset="-122"/>
                <a:cs typeface="Times New Roman" pitchFamily="34" charset="-120"/>
              </a:rPr>
              <a:t>​</a:t>
            </a:r>
            <a:pPr algn="l" indent="0" marL="0">
              <a:spcAft>
                <a:spcPts val="1050"/>
              </a:spcAft>
              <a:buNone/>
            </a:pPr>
            <a:r>
              <a:rPr lang="en-US" sz="1350" b="1" dirty="0">
                <a:solidFill>
                  <a:srgbClr val="F59E0B"/>
                </a:solidFill>
                <a:latin typeface="JetBrains Mono" pitchFamily="34" charset="0"/>
                <a:ea typeface="JetBrains Mono" pitchFamily="34" charset="-122"/>
                <a:cs typeface="JetBrains Mono" pitchFamily="34" charset="-120"/>
              </a:rPr>
              <a:t>01</a:t>
            </a:r>
            <a:pPr algn="l" indent="0" marL="0">
              <a:spcAft>
                <a:spcPts val="1050"/>
              </a:spcAft>
              <a:buNone/>
            </a:pPr>
            <a:r>
              <a:rPr lang="en-US" sz="1125" dirty="0">
                <a:solidFill>
                  <a:srgbClr val="C2CCE0"/>
                </a:solidFill>
                <a:latin typeface="Inter" pitchFamily="34" charset="0"/>
                <a:ea typeface="Inter" pitchFamily="34" charset="-122"/>
                <a:cs typeface="Inter" pitchFamily="34" charset="-120"/>
              </a:rPr>
              <a:t> AG wet recess 시간을 12 s → 8 s로 단축해 edge over-recess를 완화</a:t>
            </a:r>
            <a:pPr algn="l" indent="0" marL="0">
              <a:spcAft>
                <a:spcPts val="1050"/>
              </a:spcAft>
              <a:buNone/>
            </a:pPr>
            <a:endParaRPr lang="en-US" sz="1200" dirty="0"/>
          </a:p>
          <a:p>
            <a:pPr algn="l" indent="0" marL="0">
              <a:spcAft>
                <a:spcPts val="1050"/>
              </a:spcAft>
              <a:buNone/>
            </a:pPr>
            <a:r>
              <a:rPr lang="en-US" sz="1200" dirty="0">
                <a:solidFill>
                  <a:srgbClr val="000000"/>
                </a:solidFill>
                <a:latin typeface="Times New Roman" pitchFamily="34" charset="0"/>
                <a:ea typeface="Times New Roman" pitchFamily="34" charset="-122"/>
                <a:cs typeface="Times New Roman" pitchFamily="34" charset="-120"/>
              </a:rPr>
              <a:t>​</a:t>
            </a:r>
            <a:pPr algn="l" indent="0" marL="0">
              <a:spcAft>
                <a:spcPts val="1050"/>
              </a:spcAft>
              <a:buNone/>
            </a:pPr>
            <a:r>
              <a:rPr lang="en-US" sz="1350" b="1" dirty="0">
                <a:solidFill>
                  <a:srgbClr val="F59E0B"/>
                </a:solidFill>
                <a:latin typeface="JetBrains Mono" pitchFamily="34" charset="0"/>
                <a:ea typeface="JetBrains Mono" pitchFamily="34" charset="-122"/>
                <a:cs typeface="JetBrains Mono" pitchFamily="34" charset="-120"/>
              </a:rPr>
              <a:t>02</a:t>
            </a:r>
            <a:pPr algn="l" indent="0" marL="0">
              <a:spcAft>
                <a:spcPts val="1050"/>
              </a:spcAft>
              <a:buNone/>
            </a:pPr>
            <a:r>
              <a:rPr lang="en-US" sz="1125" dirty="0">
                <a:solidFill>
                  <a:srgbClr val="C2CCE0"/>
                </a:solidFill>
                <a:latin typeface="Inter" pitchFamily="34" charset="0"/>
                <a:ea typeface="Inter" pitchFamily="34" charset="-122"/>
                <a:cs typeface="Inter" pitchFamily="34" charset="-120"/>
              </a:rPr>
              <a:t> Via 직경 보정용 litho bias +1.5 nm 시도 후 CD 복원율 확인</a:t>
            </a:r>
            <a:pPr algn="l" indent="0" marL="0">
              <a:spcAft>
                <a:spcPts val="1050"/>
              </a:spcAft>
              <a:buNone/>
            </a:pPr>
            <a:endParaRPr lang="en-US" sz="1200" dirty="0"/>
          </a:p>
          <a:p>
            <a:pPr algn="l" indent="0" marL="0">
              <a:spcAft>
                <a:spcPts val="1050"/>
              </a:spcAft>
              <a:buNone/>
            </a:pPr>
            <a:r>
              <a:rPr lang="en-US" sz="1200" dirty="0">
                <a:solidFill>
                  <a:srgbClr val="000000"/>
                </a:solidFill>
                <a:latin typeface="Times New Roman" pitchFamily="34" charset="0"/>
                <a:ea typeface="Times New Roman" pitchFamily="34" charset="-122"/>
                <a:cs typeface="Times New Roman" pitchFamily="34" charset="-120"/>
              </a:rPr>
              <a:t>​</a:t>
            </a:r>
            <a:pPr algn="l" indent="0" marL="0">
              <a:spcAft>
                <a:spcPts val="1050"/>
              </a:spcAft>
              <a:buNone/>
            </a:pPr>
            <a:r>
              <a:rPr lang="en-US" sz="1350" b="1" dirty="0">
                <a:solidFill>
                  <a:srgbClr val="F59E0B"/>
                </a:solidFill>
                <a:latin typeface="JetBrains Mono" pitchFamily="34" charset="0"/>
                <a:ea typeface="JetBrains Mono" pitchFamily="34" charset="-122"/>
                <a:cs typeface="JetBrains Mono" pitchFamily="34" charset="-120"/>
              </a:rPr>
              <a:t>03</a:t>
            </a:r>
            <a:pPr algn="l" indent="0" marL="0">
              <a:spcAft>
                <a:spcPts val="1050"/>
              </a:spcAft>
              <a:buNone/>
            </a:pPr>
            <a:r>
              <a:rPr lang="en-US" sz="1125" dirty="0">
                <a:solidFill>
                  <a:srgbClr val="C2CCE0"/>
                </a:solidFill>
                <a:latin typeface="Inter" pitchFamily="34" charset="0"/>
                <a:ea typeface="Inter" pitchFamily="34" charset="-122"/>
                <a:cs typeface="Inter" pitchFamily="34" charset="-120"/>
              </a:rPr>
              <a:t> barrier 두께 보강 시험 — PVD → ALD TaN 후보 비교</a:t>
            </a:r>
            <a:pPr algn="l" indent="0" marL="0">
              <a:spcAft>
                <a:spcPts val="1050"/>
              </a:spcAft>
              <a:buNone/>
            </a:pPr>
            <a:endParaRPr lang="en-US" sz="1200" dirty="0"/>
          </a:p>
          <a:p>
            <a:pPr algn="l" indent="0" marL="0">
              <a:spcAft>
                <a:spcPts val="1050"/>
              </a:spcAft>
              <a:buNone/>
            </a:pPr>
            <a:r>
              <a:rPr lang="en-US" sz="1200" dirty="0">
                <a:solidFill>
                  <a:srgbClr val="000000"/>
                </a:solidFill>
                <a:latin typeface="Times New Roman" pitchFamily="34" charset="0"/>
                <a:ea typeface="Times New Roman" pitchFamily="34" charset="-122"/>
                <a:cs typeface="Times New Roman" pitchFamily="34" charset="-120"/>
              </a:rPr>
              <a:t>​</a:t>
            </a:r>
            <a:pPr algn="l" indent="0" marL="0">
              <a:spcAft>
                <a:spcPts val="1050"/>
              </a:spcAft>
              <a:buNone/>
            </a:pPr>
            <a:r>
              <a:rPr lang="en-US" sz="1350" b="1" dirty="0">
                <a:solidFill>
                  <a:srgbClr val="F59E0B"/>
                </a:solidFill>
                <a:latin typeface="JetBrains Mono" pitchFamily="34" charset="0"/>
                <a:ea typeface="JetBrains Mono" pitchFamily="34" charset="-122"/>
                <a:cs typeface="JetBrains Mono" pitchFamily="34" charset="-120"/>
              </a:rPr>
              <a:t>04</a:t>
            </a:r>
            <a:pPr algn="l" indent="0" marL="0">
              <a:spcAft>
                <a:spcPts val="1050"/>
              </a:spcAft>
              <a:buNone/>
            </a:pPr>
            <a:r>
              <a:rPr lang="en-US" sz="1125" dirty="0">
                <a:solidFill>
                  <a:srgbClr val="C2CCE0"/>
                </a:solidFill>
                <a:latin typeface="Inter" pitchFamily="34" charset="0"/>
                <a:ea typeface="Inter" pitchFamily="34" charset="-122"/>
                <a:cs typeface="Inter" pitchFamily="34" charset="-120"/>
              </a:rPr>
              <a:t> Selective AG 적용 — critical path에서만 on, dummy metal에는 off</a:t>
            </a:r>
            <a:endParaRPr lang="en-US" sz="1200" dirty="0"/>
          </a:p>
        </p:txBody>
      </p:sp>
      <p:sp>
        <p:nvSpPr>
          <p:cNvPr id="71" name="Text 62"/>
          <p:cNvSpPr txBox="1"/>
          <p:nvPr/>
        </p:nvSpPr>
        <p:spPr>
          <a:xfrm>
            <a:off x="1143000" y="7733995"/>
            <a:ext cx="5715000" cy="133502"/>
          </a:xfrm>
          <a:prstGeom prst="rect">
            <a:avLst/>
          </a:prstGeom>
          <a:noFill/>
          <a:ln/>
        </p:spPr>
        <p:txBody>
          <a:bodyPr wrap="none" lIns="0" tIns="0" rIns="0" bIns="0" rtlCol="0" anchor="ctr"/>
          <a:lstStyle/>
          <a:p>
            <a:pPr algn="l" indent="0" marL="0">
              <a:buNone/>
            </a:pPr>
            <a:r>
              <a:rPr lang="en-US" sz="825" spc="247" kern="0" dirty="0">
                <a:solidFill>
                  <a:srgbClr val="7E8DA6"/>
                </a:solidFill>
                <a:latin typeface="Inter" pitchFamily="34" charset="0"/>
                <a:ea typeface="Inter" pitchFamily="34" charset="-122"/>
                <a:cs typeface="Inter" pitchFamily="34" charset="-120"/>
              </a:rPr>
              <a:t>OVERALL READ</a:t>
            </a:r>
            <a:endParaRPr lang="en-US" sz="825" dirty="0"/>
          </a:p>
        </p:txBody>
      </p:sp>
      <p:sp>
        <p:nvSpPr>
          <p:cNvPr id="72" name="Text 63"/>
          <p:cNvSpPr txBox="1"/>
          <p:nvPr/>
        </p:nvSpPr>
        <p:spPr>
          <a:xfrm>
            <a:off x="1143000" y="8020202"/>
            <a:ext cx="14287500" cy="1028700"/>
          </a:xfrm>
          <a:prstGeom prst="rect">
            <a:avLst/>
          </a:prstGeom>
          <a:noFill/>
          <a:ln/>
        </p:spPr>
        <p:txBody>
          <a:bodyPr wrap="square" lIns="0" tIns="0" rIns="0" bIns="0" rtlCol="0" anchor="ctr"/>
          <a:lstStyle/>
          <a:p>
            <a:pPr algn="l" indent="0" marL="0">
              <a:lnSpc>
                <a:spcPts val="2700"/>
              </a:lnSpc>
              <a:buNone/>
            </a:pPr>
            <a:r>
              <a:rPr lang="en-US" sz="1800" dirty="0">
                <a:solidFill>
                  <a:srgbClr val="ECF1F9"/>
                </a:solidFill>
                <a:latin typeface="Inter" pitchFamily="34" charset="0"/>
                <a:ea typeface="Inter" pitchFamily="34" charset="-122"/>
                <a:cs typeface="Inter" pitchFamily="34" charset="-120"/>
              </a:rPr>
              <a:t>Air Gap 적용은 k 저감 gain을 가져오지만 CD 손실, edge 분포 확대, 저항·누설 증가의 trade-off를 동반한다. </a:t>
            </a:r>
            <a:pPr algn="l" indent="0" marL="0">
              <a:lnSpc>
                <a:spcPts val="2700"/>
              </a:lnSpc>
              <a:buNone/>
            </a:pPr>
            <a:r>
              <a:rPr lang="en-US" sz="1800" b="1" dirty="0">
                <a:solidFill>
                  <a:srgbClr val="F59E0B"/>
                </a:solidFill>
                <a:latin typeface="Inter" pitchFamily="34" charset="0"/>
                <a:ea typeface="Inter" pitchFamily="34" charset="-122"/>
                <a:cs typeface="Inter" pitchFamily="34" charset="-120"/>
              </a:rPr>
              <a:t> split B 반복 lot에서도 같은 패턴이 재현되어 우연이 아닌 체계적 영향으로 판단</a:t>
            </a:r>
            <a:pPr algn="l" indent="0" marL="0">
              <a:lnSpc>
                <a:spcPts val="2700"/>
              </a:lnSpc>
              <a:buNone/>
            </a:pPr>
            <a:r>
              <a:rPr lang="en-US" sz="1800" dirty="0">
                <a:solidFill>
                  <a:srgbClr val="ECF1F9"/>
                </a:solidFill>
                <a:latin typeface="Inter" pitchFamily="34" charset="0"/>
                <a:ea typeface="Inter" pitchFamily="34" charset="-122"/>
                <a:cs typeface="Inter" pitchFamily="34" charset="-120"/>
              </a:rPr>
              <a:t>, ① recess 시간 단축 ② litho bias 보정 ③ selective AG scope 설계 세 후속 평가로 trade-off를 좁힐 여지가 있다.</a:t>
            </a:r>
            <a:endParaRPr lang="en-US" sz="1800" dirty="0"/>
          </a:p>
        </p:txBody>
      </p:sp>
      <p:sp>
        <p:nvSpPr>
          <p:cNvPr id="73" name="Text 64"/>
          <p:cNvSpPr txBox="1"/>
          <p:nvPr/>
        </p:nvSpPr>
        <p:spPr>
          <a:xfrm>
            <a:off x="0" y="9715500"/>
            <a:ext cx="18288000" cy="228600"/>
          </a:xfrm>
          <a:prstGeom prst="rect">
            <a:avLst/>
          </a:prstGeom>
          <a:noFill/>
          <a:ln/>
        </p:spPr>
        <p:txBody>
          <a:bodyPr wrap="none" lIns="0" tIns="0" rIns="0" bIns="0" rtlCol="0" anchor="ctr"/>
          <a:lstStyle/>
          <a:p>
            <a:pPr algn="ctr" indent="0" marL="0">
              <a:buNone/>
            </a:pPr>
            <a:r>
              <a:rPr lang="en-US" sz="1200" spc="48" kern="0" dirty="0">
                <a:solidFill>
                  <a:srgbClr val="7E8DA6"/>
                </a:solidFill>
                <a:latin typeface="Inter" pitchFamily="34" charset="0"/>
                <a:ea typeface="Inter" pitchFamily="34" charset="-122"/>
                <a:cs typeface="Inter" pitchFamily="34" charset="-120"/>
              </a:rPr>
              <a:t>※ 내부 테스트용 더미(가상) 데이터</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2026-10-03T16:08:35Z</dcterms:created>
  <dcterms:modified xsi:type="dcterms:W3CDTF">2026-10-03T16:08:35Z</dcterms:modified>
</cp:coreProperties>
</file>