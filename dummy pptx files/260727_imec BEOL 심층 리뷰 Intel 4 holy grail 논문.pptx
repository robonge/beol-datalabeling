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jpe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jpe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jpeg"/><Relationship Id="rId9" Type="http://schemas.openxmlformats.org/officeDocument/2006/relationships/image" Target="../media/image-3-9.jpe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CE6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667305" cy="10287000"/>
          </a:xfrm>
          <a:prstGeom prst="rect">
            <a:avLst/>
          </a:prstGeom>
          <a:solidFill>
            <a:srgbClr val="1F1A1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gen-dedup-8baa6488e5e475db1ce872d37836d340.png">    </p:cNvPr>
          <p:cNvPicPr>
            <a:picLocks noChangeAspect="1"/>
          </p:cNvPicPr>
          <p:nvPr/>
        </p:nvPicPr>
        <p:blipFill>
          <a:blip r:embed="rId1"/>
          <a:srcRect l="-400" r="-400" t="0" b="0"/>
          <a:stretch/>
        </p:blipFill>
        <p:spPr>
          <a:xfrm>
            <a:off x="2667305" y="0"/>
            <a:ext cx="38405" cy="10287000"/>
          </a:xfrm>
          <a:prstGeom prst="rect">
            <a:avLst/>
          </a:prstGeom>
        </p:spPr>
      </p:pic>
      <p:pic>
        <p:nvPicPr>
          <p:cNvPr id="4" name="Image 1" descr="gen-dedup-4ed80165ad7c7c496f1e5f7c128744b1.png">    </p:cNvPr>
          <p:cNvPicPr>
            <a:picLocks noChangeAspect="1"/>
          </p:cNvPicPr>
          <p:nvPr/>
        </p:nvPicPr>
        <p:blipFill>
          <a:blip r:embed="rId2"/>
          <a:srcRect l="0" r="0" t="-400" b="-400"/>
          <a:stretch/>
        </p:blipFill>
        <p:spPr>
          <a:xfrm>
            <a:off x="476402" y="761695"/>
            <a:ext cx="342900" cy="19202"/>
          </a:xfrm>
          <a:prstGeom prst="rect">
            <a:avLst/>
          </a:prstGeom>
        </p:spPr>
      </p:pic>
      <p:pic>
        <p:nvPicPr>
          <p:cNvPr id="5" name="Image 2" descr="gen-dedup-6970dc521c66db96581dd4c1b25ca749.png">    </p:cNvPr>
          <p:cNvPicPr>
            <a:picLocks noChangeAspect="1"/>
          </p:cNvPicPr>
          <p:nvPr/>
        </p:nvPicPr>
        <p:blipFill>
          <a:blip r:embed="rId3"/>
          <a:srcRect l="0" r="0" t="-412" b="-412"/>
          <a:stretch/>
        </p:blipFill>
        <p:spPr>
          <a:xfrm>
            <a:off x="3276295" y="6286500"/>
            <a:ext cx="1333195" cy="19202"/>
          </a:xfrm>
          <a:prstGeom prst="rect">
            <a:avLst/>
          </a:prstGeom>
        </p:spPr>
      </p:pic>
      <p:pic>
        <p:nvPicPr>
          <p:cNvPr id="6" name="Image 3" descr="gen-dedup-16fcb8b3e281a00ea0725e264eefc30b.png">    </p:cNvPr>
          <p:cNvPicPr>
            <a:picLocks noChangeAspect="1"/>
          </p:cNvPicPr>
          <p:nvPr/>
        </p:nvPicPr>
        <p:blipFill>
          <a:blip r:embed="rId4">
            <a:alphaModFix amt="25000"/>
          </a:blip>
          <a:srcRect l="-2083" r="-2083" t="0" b="0"/>
          <a:stretch/>
        </p:blipFill>
        <p:spPr>
          <a:xfrm>
            <a:off x="11239805" y="8858707"/>
            <a:ext cx="1143000" cy="9144"/>
          </a:xfrm>
          <a:prstGeom prst="rect">
            <a:avLst/>
          </a:prstGeom>
        </p:spPr>
      </p:pic>
      <p:pic>
        <p:nvPicPr>
          <p:cNvPr id="7" name="Image 4" descr="gen-dedup-07bb68b37e61a1d1274c160eae3bdb93.png">    </p:cNvPr>
          <p:cNvPicPr>
            <a:picLocks noChangeAspect="1"/>
          </p:cNvPicPr>
          <p:nvPr/>
        </p:nvPicPr>
        <p:blipFill>
          <a:blip r:embed="rId5"/>
          <a:srcRect l="-2127" r="-2127" t="0" b="0"/>
          <a:stretch/>
        </p:blipFill>
        <p:spPr>
          <a:xfrm>
            <a:off x="11620195" y="7162495"/>
            <a:ext cx="381305" cy="9144"/>
          </a:xfrm>
          <a:prstGeom prst="rect">
            <a:avLst/>
          </a:prstGeom>
        </p:spPr>
      </p:pic>
      <p:pic>
        <p:nvPicPr>
          <p:cNvPr id="8" name="Image 5" descr="gen-dedup-306e278e8f12981bb9896d4bb57cd598.png">    </p:cNvPr>
          <p:cNvPicPr>
            <a:picLocks noChangeAspect="1"/>
          </p:cNvPicPr>
          <p:nvPr/>
        </p:nvPicPr>
        <p:blipFill>
          <a:blip r:embed="rId6">
            <a:alphaModFix amt="25000"/>
          </a:blip>
          <a:srcRect l="-2083" r="-2083" t="0" b="0"/>
          <a:stretch/>
        </p:blipFill>
        <p:spPr>
          <a:xfrm>
            <a:off x="3238805" y="9620402"/>
            <a:ext cx="7429500" cy="9144"/>
          </a:xfrm>
          <a:prstGeom prst="rect">
            <a:avLst/>
          </a:prstGeom>
        </p:spPr>
      </p:pic>
      <p:sp>
        <p:nvSpPr>
          <p:cNvPr id="9" name="Shape 1"/>
          <p:cNvSpPr/>
          <p:nvPr/>
        </p:nvSpPr>
        <p:spPr>
          <a:xfrm>
            <a:off x="476402" y="1143000"/>
            <a:ext cx="95098" cy="95098"/>
          </a:xfrm>
          <a:prstGeom prst="rect">
            <a:avLst/>
          </a:prstGeom>
          <a:solidFill>
            <a:srgbClr val="B65D3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2"/>
          <p:cNvSpPr/>
          <p:nvPr/>
        </p:nvSpPr>
        <p:spPr>
          <a:xfrm>
            <a:off x="476402" y="1352398"/>
            <a:ext cx="114300" cy="114300"/>
          </a:xfrm>
          <a:prstGeom prst="rect">
            <a:avLst/>
          </a:prstGeom>
          <a:noFill/>
          <a:ln w="12700">
            <a:solidFill>
              <a:srgbClr val="5C544A"/>
            </a:solidFill>
            <a:prstDash val="solid"/>
          </a:ln>
        </p:spPr>
      </p:sp>
      <p:sp>
        <p:nvSpPr>
          <p:cNvPr id="11" name="Shape 3"/>
          <p:cNvSpPr/>
          <p:nvPr/>
        </p:nvSpPr>
        <p:spPr>
          <a:xfrm>
            <a:off x="476402" y="1561795"/>
            <a:ext cx="114300" cy="114300"/>
          </a:xfrm>
          <a:prstGeom prst="rect">
            <a:avLst/>
          </a:prstGeom>
          <a:noFill/>
          <a:ln w="12700">
            <a:solidFill>
              <a:srgbClr val="5C544A"/>
            </a:solidFill>
            <a:prstDash val="solid"/>
          </a:ln>
        </p:spPr>
      </p:sp>
      <p:sp>
        <p:nvSpPr>
          <p:cNvPr id="12" name="Shape 4"/>
          <p:cNvSpPr/>
          <p:nvPr/>
        </p:nvSpPr>
        <p:spPr>
          <a:xfrm>
            <a:off x="476402" y="9620402"/>
            <a:ext cx="133502" cy="133502"/>
          </a:xfrm>
          <a:prstGeom prst="rect">
            <a:avLst/>
          </a:prstGeom>
          <a:solidFill>
            <a:srgbClr val="B65D3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3" name="Image 6" descr="gen-dedup-827ef4428e86348f53333a3e9df6401c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620195" y="761695"/>
            <a:ext cx="6286500" cy="6286500"/>
          </a:xfrm>
          <a:prstGeom prst="rect">
            <a:avLst/>
          </a:prstGeom>
        </p:spPr>
      </p:pic>
      <p:sp>
        <p:nvSpPr>
          <p:cNvPr id="14" name="Shape 5"/>
          <p:cNvSpPr/>
          <p:nvPr/>
        </p:nvSpPr>
        <p:spPr>
          <a:xfrm>
            <a:off x="11601907" y="743407"/>
            <a:ext cx="6344107" cy="6344107"/>
          </a:xfrm>
          <a:prstGeom prst="rect">
            <a:avLst/>
          </a:prstGeom>
          <a:noFill/>
          <a:ln w="12700">
            <a:solidFill>
              <a:srgbClr val="1F1A14"/>
            </a:solidFill>
            <a:prstDash val="solid"/>
          </a:ln>
        </p:spPr>
      </p:sp>
      <p:sp>
        <p:nvSpPr>
          <p:cNvPr id="15" name="Text 6"/>
          <p:cNvSpPr txBox="1"/>
          <p:nvPr/>
        </p:nvSpPr>
        <p:spPr>
          <a:xfrm>
            <a:off x="3238805" y="1904695"/>
            <a:ext cx="7810805" cy="3210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100" b="1" spc="-162" kern="0" dirty="0">
                <a:solidFill>
                  <a:srgbClr val="1F1A1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imec BEOL</a:t>
            </a:r>
            <a:pPr algn="l" indent="0" marL="0">
              <a:lnSpc>
                <a:spcPct val="104000"/>
              </a:lnSpc>
              <a:buNone/>
            </a:pPr>
            <a:endParaRPr lang="en-US" sz="81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8100" b="1" spc="-162" kern="0" dirty="0">
                <a:solidFill>
                  <a:srgbClr val="1F1A1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논문 20편</a:t>
            </a:r>
            <a:pPr algn="l" indent="0" marL="0">
              <a:lnSpc>
                <a:spcPct val="104000"/>
              </a:lnSpc>
              <a:buNone/>
            </a:pPr>
            <a:endParaRPr lang="en-US" sz="81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8100" b="1" i="1" spc="-162" kern="0" dirty="0">
                <a:solidFill>
                  <a:srgbClr val="5C54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심층 리뷰</a:t>
            </a:r>
            <a:endParaRPr lang="en-US" sz="8100" dirty="0"/>
          </a:p>
        </p:txBody>
      </p:sp>
      <p:sp>
        <p:nvSpPr>
          <p:cNvPr id="16" name="Text 7"/>
          <p:cNvSpPr txBox="1"/>
          <p:nvPr/>
        </p:nvSpPr>
        <p:spPr>
          <a:xfrm>
            <a:off x="3276295" y="6515100"/>
            <a:ext cx="8572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spc="99" kern="0" dirty="0">
                <a:solidFill>
                  <a:srgbClr val="6E655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Oct 3, 2026 · @Eric Lee</a:t>
            </a:r>
            <a:endParaRPr lang="en-US" sz="1650" dirty="0"/>
          </a:p>
        </p:txBody>
      </p:sp>
      <p:sp>
        <p:nvSpPr>
          <p:cNvPr id="17" name="Text 8"/>
          <p:cNvSpPr txBox="1"/>
          <p:nvPr/>
        </p:nvSpPr>
        <p:spPr>
          <a:xfrm>
            <a:off x="3276295" y="7125005"/>
            <a:ext cx="7810805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1800" dirty="0">
                <a:solidFill>
                  <a:srgbClr val="1F1A1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imec Institutional Repository에서 BEOL 관련 논문 20편을 골라, 금속화·패터닝·신뢰성·열 네 축으로 읽은 기록입니다. 수치와 그래프는 원문에서 뽑아 재작도했고, 오픈액세스(CC-BY) 논문을 우선 선정했습니다.</a:t>
            </a:r>
            <a:endParaRPr lang="en-US" sz="1800" dirty="0"/>
          </a:p>
        </p:txBody>
      </p:sp>
      <p:sp>
        <p:nvSpPr>
          <p:cNvPr id="18" name="Text 9"/>
          <p:cNvSpPr txBox="1"/>
          <p:nvPr/>
        </p:nvSpPr>
        <p:spPr>
          <a:xfrm>
            <a:off x="11620195" y="7239305"/>
            <a:ext cx="62865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42" kern="0" dirty="0">
                <a:solidFill>
                  <a:srgbClr val="5C54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Intel 4 BEOL interconnect stack — Semiconductor Digest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CE6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667305" cy="10287000"/>
          </a:xfrm>
          <a:prstGeom prst="rect">
            <a:avLst/>
          </a:prstGeom>
          <a:solidFill>
            <a:srgbClr val="1F1A1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gen-dedup-8baa6488e5e475db1ce872d37836d340.png">    </p:cNvPr>
          <p:cNvPicPr>
            <a:picLocks noChangeAspect="1"/>
          </p:cNvPicPr>
          <p:nvPr/>
        </p:nvPicPr>
        <p:blipFill>
          <a:blip r:embed="rId1"/>
          <a:srcRect l="-400" r="-400" t="0" b="0"/>
          <a:stretch/>
        </p:blipFill>
        <p:spPr>
          <a:xfrm>
            <a:off x="2667305" y="0"/>
            <a:ext cx="38405" cy="10287000"/>
          </a:xfrm>
          <a:prstGeom prst="rect">
            <a:avLst/>
          </a:prstGeom>
        </p:spPr>
      </p:pic>
      <p:pic>
        <p:nvPicPr>
          <p:cNvPr id="4" name="Image 1" descr="gen-dedup-4ed80165ad7c7c496f1e5f7c128744b1.png">    </p:cNvPr>
          <p:cNvPicPr>
            <a:picLocks noChangeAspect="1"/>
          </p:cNvPicPr>
          <p:nvPr/>
        </p:nvPicPr>
        <p:blipFill>
          <a:blip r:embed="rId2"/>
          <a:srcRect l="0" r="0" t="-400" b="-400"/>
          <a:stretch/>
        </p:blipFill>
        <p:spPr>
          <a:xfrm>
            <a:off x="476402" y="761695"/>
            <a:ext cx="342900" cy="19202"/>
          </a:xfrm>
          <a:prstGeom prst="rect">
            <a:avLst/>
          </a:prstGeom>
        </p:spPr>
      </p:pic>
      <p:pic>
        <p:nvPicPr>
          <p:cNvPr id="5" name="Image 2" descr="gen-dedup-b814a7b4bddf09b6cdc2120cf14a4696.png">    </p:cNvPr>
          <p:cNvPicPr>
            <a:picLocks noChangeAspect="1"/>
          </p:cNvPicPr>
          <p:nvPr/>
        </p:nvPicPr>
        <p:blipFill>
          <a:blip r:embed="rId3"/>
          <a:srcRect l="-2083" r="-2083" t="0" b="0"/>
          <a:stretch/>
        </p:blipFill>
        <p:spPr>
          <a:xfrm>
            <a:off x="476402" y="9334195"/>
            <a:ext cx="571500" cy="9144"/>
          </a:xfrm>
          <a:prstGeom prst="rect">
            <a:avLst/>
          </a:prstGeom>
        </p:spPr>
      </p:pic>
      <p:pic>
        <p:nvPicPr>
          <p:cNvPr id="6" name="Image 3" descr="gen-dedup-5baf48aedb13bdddc4bb3b270e26fe7a.png">    </p:cNvPr>
          <p:cNvPicPr>
            <a:picLocks noChangeAspect="1"/>
          </p:cNvPicPr>
          <p:nvPr/>
        </p:nvPicPr>
        <p:blipFill>
          <a:blip r:embed="rId4"/>
          <a:srcRect l="-2029" r="-2029" t="0" b="0"/>
          <a:stretch/>
        </p:blipFill>
        <p:spPr>
          <a:xfrm>
            <a:off x="14287500" y="5143500"/>
            <a:ext cx="304495" cy="9144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476402" y="1143000"/>
            <a:ext cx="95098" cy="95098"/>
          </a:xfrm>
          <a:prstGeom prst="rect">
            <a:avLst/>
          </a:prstGeom>
          <a:solidFill>
            <a:srgbClr val="B65D3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2"/>
          <p:cNvSpPr/>
          <p:nvPr/>
        </p:nvSpPr>
        <p:spPr>
          <a:xfrm>
            <a:off x="476402" y="1352398"/>
            <a:ext cx="114300" cy="114300"/>
          </a:xfrm>
          <a:prstGeom prst="rect">
            <a:avLst/>
          </a:prstGeom>
          <a:noFill/>
          <a:ln w="12700">
            <a:solidFill>
              <a:srgbClr val="5C544A"/>
            </a:solidFill>
            <a:prstDash val="solid"/>
          </a:ln>
        </p:spPr>
      </p:sp>
      <p:sp>
        <p:nvSpPr>
          <p:cNvPr id="9" name="Shape 3"/>
          <p:cNvSpPr/>
          <p:nvPr/>
        </p:nvSpPr>
        <p:spPr>
          <a:xfrm>
            <a:off x="476402" y="1561795"/>
            <a:ext cx="114300" cy="114300"/>
          </a:xfrm>
          <a:prstGeom prst="rect">
            <a:avLst/>
          </a:prstGeom>
          <a:noFill/>
          <a:ln w="12700">
            <a:solidFill>
              <a:srgbClr val="5C544A"/>
            </a:solidFill>
            <a:prstDash val="solid"/>
          </a:ln>
        </p:spPr>
      </p:sp>
      <p:pic>
        <p:nvPicPr>
          <p:cNvPr id="10" name="Image 4" descr="gen-dedup-1a08eeea6a83938606d8fd4eb759102f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87500" y="2095805"/>
            <a:ext cx="3429000" cy="2857500"/>
          </a:xfrm>
          <a:prstGeom prst="rect">
            <a:avLst/>
          </a:prstGeom>
        </p:spPr>
      </p:pic>
      <p:sp>
        <p:nvSpPr>
          <p:cNvPr id="11" name="Shape 4"/>
          <p:cNvSpPr/>
          <p:nvPr/>
        </p:nvSpPr>
        <p:spPr>
          <a:xfrm>
            <a:off x="14268298" y="2076602"/>
            <a:ext cx="3486607" cy="2915107"/>
          </a:xfrm>
          <a:prstGeom prst="rect">
            <a:avLst/>
          </a:prstGeom>
          <a:noFill/>
          <a:ln w="12700">
            <a:solidFill>
              <a:srgbClr val="1F1A14"/>
            </a:solidFill>
            <a:prstDash val="solid"/>
          </a:ln>
        </p:spPr>
      </p:sp>
      <p:sp>
        <p:nvSpPr>
          <p:cNvPr id="12" name="Text 5"/>
          <p:cNvSpPr txBox="1"/>
          <p:nvPr/>
        </p:nvSpPr>
        <p:spPr>
          <a:xfrm>
            <a:off x="3238805" y="705002"/>
            <a:ext cx="11302898" cy="648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F1A1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이것이 유명한 "holy grail" 논문입니다.</a:t>
            </a:r>
            <a:endParaRPr lang="en-US" sz="4200" dirty="0"/>
          </a:p>
        </p:txBody>
      </p:sp>
      <p:sp>
        <p:nvSpPr>
          <p:cNvPr id="13" name="Text 6"/>
          <p:cNvSpPr txBox="1"/>
          <p:nvPr/>
        </p:nvSpPr>
        <p:spPr>
          <a:xfrm>
            <a:off x="3238805" y="1524305"/>
            <a:ext cx="571500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65D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수치:</a:t>
            </a:r>
            <a:endParaRPr lang="en-US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38805" y="2095805"/>
          <a:ext cx="10478110" cy="5296205"/>
        </p:xfrm>
        <a:graphic>
          <a:graphicData uri="http://schemas.openxmlformats.org/drawingml/2006/table">
            <a:tbl>
              <a:tblPr/>
              <a:tblGrid>
                <a:gridCol w="3047695"/>
                <a:gridCol w="7429500"/>
              </a:tblGrid>
              <a:tr h="4413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5C544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항목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152705" marT="0" marB="95098" anchor="t">
                    <a:lnL w="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5C544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값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0" marB="95098" anchor="t">
                    <a:lnL w="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13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1F1A1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금속 피치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152705" marT="75895" marB="75895" anchor="t">
                    <a:lnL w="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F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1F1A1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26 → 18 nm (2소재 실증)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152705" marT="75895" marB="75895" anchor="t">
                    <a:lnL w="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F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13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1F1A1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선폭(CD)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152705" marT="75895" marB="75895" anchor="t">
                    <a:lnL w="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F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1F1A1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 nm, PVD Ru 30 nm → AR ≈ 3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152705" marT="75895" marB="75895" anchor="t">
                    <a:lnL w="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F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13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1F1A1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전도 단면적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152705" marT="75895" marB="75895" anchor="t">
                    <a:lnL w="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F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1F1A1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명목 270 nm² / 전기적 250 nm² / 물리적 257 nm²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152705" marT="75895" marB="75895" anchor="t">
                    <a:lnL w="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F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13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1F1A1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EUV 비아 홀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152705" marT="75895" marB="75895" anchor="t">
                    <a:lnL w="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F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1F1A1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최소 20 nm → 접촉면적 180 nm²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152705" marT="75895" marB="75895" anchor="t">
                    <a:lnL w="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F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13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1F1A1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비아 저항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152705" marT="75895" marB="75895" anchor="t">
                    <a:lnL w="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F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1F1A1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40 Ω &lt; R &lt; 60 Ω (18–26 nm 피치 전 구간)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152705" marT="75895" marB="75895" anchor="t">
                    <a:lnL w="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F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13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1F1A1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Ru 저항률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152705" marT="75895" marB="75895" anchor="t">
                    <a:lnL w="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F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1F1A1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에칭 후 13–15 µΩ·cm, 420 °C 열처리 후 14–15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152705" marT="75895" marB="75895" anchor="t">
                    <a:lnL w="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F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13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1F1A1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Ru가 Cu를 이기는 지점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152705" marT="75895" marB="75895" anchor="t">
                    <a:lnL w="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F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3D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1F1A1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전도 단면적 268 nm² 미만 (≈ CD 12 nm 미만)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152705" marT="75895" marB="75895" anchor="t">
                    <a:lnL w="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F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3D6"/>
                    </a:solidFill>
                  </a:tcPr>
                </a:tc>
              </a:tr>
              <a:tr h="4413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1F1A1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정렬 허용도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152705" marT="75895" marB="75895" anchor="t">
                    <a:lnL w="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F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1F1A1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의도적 오정렬 ±5 nm까지 비아 저항 유지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152705" marT="75895" marB="75895" anchor="t">
                    <a:lnL w="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F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13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1F1A1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절연파괴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152705" marT="75895" marB="75895" anchor="t">
                    <a:lnL w="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F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1F1A1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&gt;9 MV/cm @100 °C, 26 nm 피치에서 &gt;16 V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152705" marT="75895" marB="75895" anchor="t">
                    <a:lnL w="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F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13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1F1A1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EM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152705" marT="75895" marB="75895" anchor="t">
                    <a:lnL w="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F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1F1A1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10 MA/cm², 300 h 저항 변화 없음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152705" marT="75895" marB="75895" anchor="t">
                    <a:lnL w="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F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13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1F1A1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열저장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152705" marT="75895" marB="75895" anchor="t">
                    <a:lnL w="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F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1F1A1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200 °C, 120 h 저항·수율 손실 없음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152705" marT="75895" marB="75895" anchor="t">
                    <a:lnL w="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F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7"/>
          <p:cNvSpPr txBox="1"/>
          <p:nvPr/>
        </p:nvSpPr>
        <p:spPr>
          <a:xfrm>
            <a:off x="14287500" y="5296205"/>
            <a:ext cx="3429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1" kern="0" dirty="0">
                <a:solidFill>
                  <a:srgbClr val="5C54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 damascene interconnect — Nature Communications</a:t>
            </a:r>
            <a:endParaRPr lang="en-US" sz="1050" dirty="0"/>
          </a:p>
        </p:txBody>
      </p:sp>
      <p:sp>
        <p:nvSpPr>
          <p:cNvPr id="16" name="Text 8"/>
          <p:cNvSpPr txBox="1"/>
          <p:nvPr/>
        </p:nvSpPr>
        <p:spPr>
          <a:xfrm>
            <a:off x="3276295" y="8287207"/>
            <a:ext cx="14478610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58"/>
              </a:lnSpc>
              <a:buNone/>
            </a:pPr>
            <a:r>
              <a:rPr lang="en-US" sz="1650" dirty="0">
                <a:solidFill>
                  <a:srgbClr val="1F1A1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"완전 자기정렬"은 두 번 정렬된다는 뜻입니다. 아래쪽은 Ru 선 위에 남은 SiN 캐핑 안에서 고선택비 가스에칭으로 비아를 뚫어 SiO</a:t>
            </a:r>
            <a:pPr algn="l" indent="0" marL="0">
              <a:lnSpc>
                <a:spcPts val="2558"/>
              </a:lnSpc>
              <a:buNone/>
            </a:pPr>
            <a:r>
              <a:rPr lang="en-US" sz="1375" dirty="0">
                <a:solidFill>
                  <a:srgbClr val="1F1A1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pPr algn="l" indent="0" marL="0">
              <a:lnSpc>
                <a:spcPts val="2558"/>
              </a:lnSpc>
              <a:buNone/>
            </a:pPr>
            <a:r>
              <a:rPr lang="en-US" sz="1650" dirty="0">
                <a:solidFill>
                  <a:srgbClr val="1F1A1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걡필을 건드리지 않고, 위쪽은 Ru 과에칭으로 상부 선 가장자에 맞춥니다. 20 nm 비아 홀이 9 nm 선에 내려앉으면서 스스로 180 nm²로 줌어드는 게 핵심입니다.</a:t>
            </a:r>
            <a:endParaRPr lang="en-US" sz="1650" dirty="0"/>
          </a:p>
        </p:txBody>
      </p:sp>
      <p:sp>
        <p:nvSpPr>
          <p:cNvPr id="17" name="Text 9"/>
          <p:cNvSpPr txBox="1"/>
          <p:nvPr/>
        </p:nvSpPr>
        <p:spPr>
          <a:xfrm>
            <a:off x="3276295" y="9430207"/>
            <a:ext cx="1447861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F1A1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패터닝 조합은 Mx가 EUV+SADP, Mx+1과 비아가 EUV 단일 노광입니다. 상부 금속은 정전용량 증가를 상쇄하려고 에어갭과 조합합니다.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CE6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667305" cy="10287000"/>
          </a:xfrm>
          <a:prstGeom prst="rect">
            <a:avLst/>
          </a:prstGeom>
          <a:solidFill>
            <a:srgbClr val="1F1A1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58500" y="2667305"/>
            <a:ext cx="6476695" cy="3238805"/>
          </a:xfrm>
          <a:prstGeom prst="rect">
            <a:avLst/>
          </a:prstGeom>
          <a:solidFill>
            <a:srgbClr val="F7F1E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38805" y="6762902"/>
            <a:ext cx="7239305" cy="2762402"/>
          </a:xfrm>
          <a:prstGeom prst="rect">
            <a:avLst/>
          </a:prstGeom>
          <a:solidFill>
            <a:srgbClr val="1F1A1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gen-dedup-8baa6488e5e475db1ce872d37836d340.png">    </p:cNvPr>
          <p:cNvPicPr>
            <a:picLocks noChangeAspect="1"/>
          </p:cNvPicPr>
          <p:nvPr/>
        </p:nvPicPr>
        <p:blipFill>
          <a:blip r:embed="rId1"/>
          <a:srcRect l="-400" r="-400" t="0" b="0"/>
          <a:stretch/>
        </p:blipFill>
        <p:spPr>
          <a:xfrm>
            <a:off x="2667305" y="0"/>
            <a:ext cx="38405" cy="10287000"/>
          </a:xfrm>
          <a:prstGeom prst="rect">
            <a:avLst/>
          </a:prstGeom>
        </p:spPr>
      </p:pic>
      <p:pic>
        <p:nvPicPr>
          <p:cNvPr id="6" name="Image 1" descr="gen-dedup-4ed80165ad7c7c496f1e5f7c128744b1.png">    </p:cNvPr>
          <p:cNvPicPr>
            <a:picLocks noChangeAspect="1"/>
          </p:cNvPicPr>
          <p:nvPr/>
        </p:nvPicPr>
        <p:blipFill>
          <a:blip r:embed="rId2"/>
          <a:srcRect l="0" r="0" t="-400" b="-400"/>
          <a:stretch/>
        </p:blipFill>
        <p:spPr>
          <a:xfrm>
            <a:off x="476402" y="761695"/>
            <a:ext cx="342900" cy="19202"/>
          </a:xfrm>
          <a:prstGeom prst="rect">
            <a:avLst/>
          </a:prstGeom>
        </p:spPr>
      </p:pic>
      <p:pic>
        <p:nvPicPr>
          <p:cNvPr id="7" name="Image 2" descr="gen-dedup-b814a7b4bddf09b6cdc2120cf14a4696.png">    </p:cNvPr>
          <p:cNvPicPr>
            <a:picLocks noChangeAspect="1"/>
          </p:cNvPicPr>
          <p:nvPr/>
        </p:nvPicPr>
        <p:blipFill>
          <a:blip r:embed="rId3"/>
          <a:srcRect l="-2083" r="-2083" t="0" b="0"/>
          <a:stretch/>
        </p:blipFill>
        <p:spPr>
          <a:xfrm>
            <a:off x="476402" y="7048195"/>
            <a:ext cx="571500" cy="9144"/>
          </a:xfrm>
          <a:prstGeom prst="rect">
            <a:avLst/>
          </a:prstGeom>
        </p:spPr>
      </p:pic>
      <p:pic>
        <p:nvPicPr>
          <p:cNvPr id="8" name="Image 3" descr="gen-dedup-a867ef6858d31aa2548bd6f83e078479.png">    </p:cNvPr>
          <p:cNvPicPr>
            <a:picLocks noChangeAspect="1"/>
          </p:cNvPicPr>
          <p:nvPr/>
        </p:nvPicPr>
        <p:blipFill>
          <a:blip r:embed="rId4"/>
          <a:srcRect l="-2083" r="-2083" t="0" b="0"/>
          <a:stretch/>
        </p:blipFill>
        <p:spPr>
          <a:xfrm>
            <a:off x="1143000" y="7048195"/>
            <a:ext cx="228600" cy="9144"/>
          </a:xfrm>
          <a:prstGeom prst="rect">
            <a:avLst/>
          </a:prstGeom>
        </p:spPr>
      </p:pic>
      <p:pic>
        <p:nvPicPr>
          <p:cNvPr id="9" name="Image 4" descr="gen-dedup-eb5e843ef9f6fdee6f98a5ac5343133d.png">    </p:cNvPr>
          <p:cNvPicPr>
            <a:picLocks noChangeAspect="1"/>
          </p:cNvPicPr>
          <p:nvPr/>
        </p:nvPicPr>
        <p:blipFill>
          <a:blip r:embed="rId5"/>
          <a:srcRect l="-404" r="-404" t="0" b="0"/>
          <a:stretch/>
        </p:blipFill>
        <p:spPr>
          <a:xfrm>
            <a:off x="3276295" y="2115007"/>
            <a:ext cx="1143000" cy="28346"/>
          </a:xfrm>
          <a:prstGeom prst="rect">
            <a:avLst/>
          </a:prstGeom>
        </p:spPr>
      </p:pic>
      <p:pic>
        <p:nvPicPr>
          <p:cNvPr id="10" name="Image 5" descr="gen-dedup-07bb68b37e61a1d1274c160eae3bdb93.png">    </p:cNvPr>
          <p:cNvPicPr>
            <a:picLocks noChangeAspect="1"/>
          </p:cNvPicPr>
          <p:nvPr/>
        </p:nvPicPr>
        <p:blipFill>
          <a:blip r:embed="rId6"/>
          <a:srcRect l="-2127" r="-2127" t="0" b="0"/>
          <a:stretch/>
        </p:blipFill>
        <p:spPr>
          <a:xfrm>
            <a:off x="3238805" y="6057900"/>
            <a:ext cx="381305" cy="9144"/>
          </a:xfrm>
          <a:prstGeom prst="rect">
            <a:avLst/>
          </a:prstGeom>
        </p:spPr>
      </p:pic>
      <p:pic>
        <p:nvPicPr>
          <p:cNvPr id="11" name="Image 6" descr="gen-dedup-5baf48aedb13bdddc4bb3b270e26fe7a.png">    </p:cNvPr>
          <p:cNvPicPr>
            <a:picLocks noChangeAspect="1"/>
          </p:cNvPicPr>
          <p:nvPr/>
        </p:nvPicPr>
        <p:blipFill>
          <a:blip r:embed="rId7"/>
          <a:srcRect l="-2029" r="-2029" t="0" b="0"/>
          <a:stretch/>
        </p:blipFill>
        <p:spPr>
          <a:xfrm>
            <a:off x="10858500" y="9696298"/>
            <a:ext cx="304495" cy="9144"/>
          </a:xfrm>
          <a:prstGeom prst="rect">
            <a:avLst/>
          </a:prstGeom>
        </p:spPr>
      </p:pic>
      <p:pic>
        <p:nvPicPr>
          <p:cNvPr id="12" name="Image 7" descr="gen-dedup-64f4c10093a0b030c8ead4102d7f074c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38805" y="2667305"/>
            <a:ext cx="7239305" cy="3238805"/>
          </a:xfrm>
          <a:prstGeom prst="rect">
            <a:avLst/>
          </a:prstGeom>
        </p:spPr>
      </p:pic>
      <p:pic>
        <p:nvPicPr>
          <p:cNvPr id="13" name="Image 8" descr="gen-dedup-92ca84b940e9041c7a04ee2752a0376c.jp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58500" y="6762902"/>
            <a:ext cx="6476695" cy="2762402"/>
          </a:xfrm>
          <a:prstGeom prst="rect">
            <a:avLst/>
          </a:prstGeom>
        </p:spPr>
      </p:pic>
      <p:sp>
        <p:nvSpPr>
          <p:cNvPr id="14" name="Shape 3"/>
          <p:cNvSpPr/>
          <p:nvPr/>
        </p:nvSpPr>
        <p:spPr>
          <a:xfrm>
            <a:off x="3219602" y="2648102"/>
            <a:ext cx="7295998" cy="3295498"/>
          </a:xfrm>
          <a:prstGeom prst="rect">
            <a:avLst/>
          </a:prstGeom>
          <a:noFill/>
          <a:ln w="12700">
            <a:solidFill>
              <a:srgbClr val="1F1A14"/>
            </a:solidFill>
            <a:prstDash val="solid"/>
          </a:ln>
        </p:spPr>
      </p:sp>
      <p:sp>
        <p:nvSpPr>
          <p:cNvPr id="15" name="Shape 4"/>
          <p:cNvSpPr/>
          <p:nvPr/>
        </p:nvSpPr>
        <p:spPr>
          <a:xfrm>
            <a:off x="10839298" y="6743700"/>
            <a:ext cx="6534302" cy="2819095"/>
          </a:xfrm>
          <a:prstGeom prst="rect">
            <a:avLst/>
          </a:prstGeom>
          <a:noFill/>
          <a:ln w="12700">
            <a:solidFill>
              <a:srgbClr val="1F1A14"/>
            </a:solidFill>
            <a:prstDash val="solid"/>
          </a:ln>
        </p:spPr>
      </p:sp>
      <p:sp>
        <p:nvSpPr>
          <p:cNvPr id="16" name="Text 5"/>
          <p:cNvSpPr txBox="1"/>
          <p:nvPr/>
        </p:nvSpPr>
        <p:spPr>
          <a:xfrm>
            <a:off x="3238805" y="761695"/>
            <a:ext cx="14287500" cy="9628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1F1A1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결론은 간단합니다.</a:t>
            </a:r>
            <a:endParaRPr lang="en-US" sz="7200" dirty="0"/>
          </a:p>
        </p:txBody>
      </p:sp>
      <p:sp>
        <p:nvSpPr>
          <p:cNvPr id="17" name="Text 6"/>
          <p:cNvSpPr txBox="1"/>
          <p:nvPr/>
        </p:nvSpPr>
        <p:spPr>
          <a:xfrm>
            <a:off x="3238805" y="6191402"/>
            <a:ext cx="7239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C54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BEOL air-gap structures — Semiconductor Engineering</a:t>
            </a:r>
            <a:endParaRPr lang="en-US" sz="1050" dirty="0"/>
          </a:p>
        </p:txBody>
      </p:sp>
      <p:sp>
        <p:nvSpPr>
          <p:cNvPr id="18" name="Text 7"/>
          <p:cNvSpPr txBox="1"/>
          <p:nvPr/>
        </p:nvSpPr>
        <p:spPr>
          <a:xfrm>
            <a:off x="11239805" y="2971800"/>
            <a:ext cx="571500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65D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유전체 자체의 품질 — 저주파 잡음으로 본 MIM</a:t>
            </a:r>
            <a:endParaRPr lang="en-US" sz="1800" dirty="0"/>
          </a:p>
        </p:txBody>
      </p:sp>
      <p:sp>
        <p:nvSpPr>
          <p:cNvPr id="19" name="Text 8"/>
          <p:cNvSpPr txBox="1"/>
          <p:nvPr/>
        </p:nvSpPr>
        <p:spPr>
          <a:xfrm>
            <a:off x="11239805" y="3462833"/>
            <a:ext cx="5715000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1F1A1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저유전율 도입의 대가가 정전용량만의 문제가 아니라는 증거입니다.</a:t>
            </a:r>
            <a:endParaRPr lang="en-US" sz="2250" dirty="0"/>
          </a:p>
        </p:txBody>
      </p:sp>
      <p:sp>
        <p:nvSpPr>
          <p:cNvPr id="20" name="Text 9"/>
          <p:cNvSpPr txBox="1"/>
          <p:nvPr/>
        </p:nvSpPr>
        <p:spPr>
          <a:xfrm>
            <a:off x="3619195" y="7086600"/>
            <a:ext cx="7050938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3A0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기계적 파괴 — 금속층 위가 아니라 금속층을 관통해 금이 간다</a:t>
            </a:r>
            <a:endParaRPr lang="en-US" sz="1800" dirty="0"/>
          </a:p>
        </p:txBody>
      </p:sp>
      <p:sp>
        <p:nvSpPr>
          <p:cNvPr id="21" name="Text 10"/>
          <p:cNvSpPr txBox="1"/>
          <p:nvPr/>
        </p:nvSpPr>
        <p:spPr>
          <a:xfrm>
            <a:off x="3619195" y="7577633"/>
            <a:ext cx="6477610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ECE6D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이는 강화 대상이 저유전율막이 아니라 금속 상부 계면이라는 뜻입니다.</a:t>
            </a:r>
            <a:endParaRPr lang="en-US" sz="2250" dirty="0"/>
          </a:p>
        </p:txBody>
      </p:sp>
      <p:sp>
        <p:nvSpPr>
          <p:cNvPr id="22" name="Text 11"/>
          <p:cNvSpPr txBox="1"/>
          <p:nvPr/>
        </p:nvSpPr>
        <p:spPr>
          <a:xfrm>
            <a:off x="10858500" y="9829800"/>
            <a:ext cx="64776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C54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Porous ultra low-k film — ScienceDirect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2026-10-03T16:45:51Z</dcterms:created>
  <dcterms:modified xsi:type="dcterms:W3CDTF">2026-10-03T16:45:51Z</dcterms:modified>
</cp:coreProperties>
</file>