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 — 실험 목적과 조건. 본 평가는 24 nm 피치 이하에서 하드마스크 재질 선택이 식각 프로파일과 CD 균일성에 미치는 영향을 단일 변수로 분리 평가하기 위해 고안되었다. Split A는 표준 PVD TiN 단일 MHM으로 W01–W03 3매를 사용한다. Split B는 a-C 20 nm / SiN 30 nm 이중 적층으로 W04–W06 3매이며, 향후 Ru 메탈리제이션 전환 시 sacrificial pad 겸용 호환성을 동시에 평가한다. 모든 CD 표적과 공정은 가상의 더미이며, 실제 양산 lot/번호가 아님을 분명히 한다. 발표 시 "왜 6매인가"라는 질문이 나올 수 있는데, 이는 스플릿당 baseline/tweak A/tweak B 3조건을 확보하기 위한 최소 설계라고 답변하면 된다. take-away: 모든 결과는 테스트용 더미 데이터이며 단일 변수 비교 설계로 진행되었음을 강조한다.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2 — 6매 웨이퍼 매트릭스. Split A(TiN 단일 MHM)는 W01 baseline, W02에서 BCl₃ 비율을 1.4배로 늘려 polymer 누적 억제 효과를 보고자 했다. W03에서는 bias를 -25 V 내리고 He cooling을 추가하여 vertical profile bowing을 부드럽게 가져갈 수 있는지 본다. Split B(a-C 20 nm / SiN 30 nm)는 W04 baseline이고 W05는 O₂를 첨가해 selectivity와 profile 사이의 직교점을 찾으려 했으며 W06는 pressure를 35 mTorr로 올리고 ion energy를 낮춰 wiggling 영향 감소를 시도했다. Lot 메타 정보는 모두 가상의 더미 식별자이며 실제 lot 번호가 아님을 분명히 한다. take-away: 모든 변수가 직교 설계되어 있어 split A↔B 비교시 hardmask 단일 인자만 다름을 강조하면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3 — SEM 단면 비교. 두 분기에서 동일 24 nm L/S 패턴의 image를 본문에 직접 삽입했다. 좌측(W02)은 TiN 단일 MHM 분기로 top CD 23.7 / bottom CD 21.2 nm, 2.5 nm의 taper와 sidewall 중앙 부근 bowing이 보인다. 우측(W05)은 a-C 20 / SiN 30 nm 적층 분기로 taper 1.0 nm, bowing 0.4 nm 수준으로 작아졌으며 polymer 잔류도 현저히 감소했다. 본문 안 라벨은 가독성 확보를 위해 어두운 pill 위에 흰 텍스트로 배치했다. 이미지 출처는 dummy 본문 용도로 편집한 외부 출판물이다. take-away: 정량 비교는 슬라이드 5, electrical은 슬라이드 8에서 다룬다.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4 — TEM 분석. W04 (a-C/SiN baseline) 단면을 reference frame으로 사용. top CD 23.9 nm / mid CD 23.5 nm / bot CD 22.9 nm로 taper 1.02 nm, sidewall 87.4°, SiN 잔존 6.8 nm, wiggling index 0.18. 모든 라벨은 어두운 pill 위에 흰 텍스트로 배치해 가독성 확보. take-away: dummy window에서 a-C/SiN 측이 taper · bow · wiggling 모두 절반 이하 수준으로 vertical profile 회복 단서를 제공.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5 — CD Variation 표. AASI/ASEI (TiN 색), AMI/ACI (a-C/SiN 색) 4개 metric card를 2×2 grid로 배치했다. 각 card는 6 wafer row에 mean / 3σ / range / Δ 4 컬럼. Δ cell은 spec band별로 색을 다르게 코딩. W01 baseline AASI Δ −0.20 / W03 AASI Δ +0.30은 tolerance 경계선 부근. W03 AMI Δ +0.21은 band 외편이라 bad-soft 코딩. dummy data window에서 Split B(W04-W06)가 Split A 대비 3σ가 균일하게 작은 패턴을 보였고 W05가 가장 양호한 결과. take-away: 6 wafer × 4 metric에서 Split B가 일관되게 좁은 3σ, W03는 AMI Δ 가장자리 OOT 사례로 명시.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6 — In-wafer uniformity. 6매 wafer에 대해 25개 site/site-mean / 3σ / range / NU% / Repeatability(R5) 5개 컬럼으로 정리했다. W01 baseline은 NU% 4.0, W03 low bias 조건은 가장자리 hot site로 인해 4.7까지 증가했다. W05는 모든 25 site가 target 8.50 ±0.30 이내로 들어와 NU% 2.5를 기록하며 dummy data 안에서는 best 성능을 보였다. Split B 평균 NU% 2.9는 split A 평균 4.0 대비 약 28% 개선된 수치다. Tweak A 패턴이 양 split 모두에서 baseline 대비 일관되게 나은 점은 split 내에서도 gas ratio/bias 미세 조정이 효과가 있음을 시사한다. take-away: dummy data window에서 a-C/SiN 적층 측이 모든 wafer에 걸쳐 가장 작은 NU%를 보이는 것은 masking 단에서의 photo/etch uniformity 영향이 작다는 점을 의미한다.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7 — 25-point wafer map. 의도적으로 W03 (TiN twk B, 가장 나쁜 분포)와 W05 (a-C/SiN twk A, 가장 양호한 분포) 두 wafer 만을 직접 비교한다. W03은 가장자리 마지막 열에서 +0.8 ~ +1.8 nm까지 양의 편향이 누적되며 25 site 중 8건이 OOT 영역으로 들어간다. W05는 25 사이트 전부 ±0.20 nm 이내로 들어오며 0 OOT를 기록했다. W03의 가장자리 hot site는 loading effect와 chamber-edge plasma 비균일의 결합 작용으로 추정되며, dummy 데이터 안에서도 a-C/SiN 적층 측이 topology 측면에서 압도적으로 안정적임을 보여준다. take-away: dummy data window에서, 가장자리 ring 편향이 split 간 일관성 차이의 핵심 변수라는 점이 명확히 드러난다.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8 — 전기 특성. 6매 wafer에 대해 Rs, Rline, Cc, Ileak, ΔRline 5개 컬럼으로 정리했다. W05는 Rline 1.30 mΩ/μm으로 가장 낮고 Ileak 0.66 nA으로 best 성능을 기록했다. W03 only Rline 1.49와 Ileak 0.91 nA로 가장 보수적인데 dummy data 안에서는 low bias tweak이 profile은 부드럽게 만들었으나 line resistance가 가장 증가했다. W02는 TiN split에서 Rline을 -4.2% 줄였으나 W04 baseline 대비 여전히 높다. Split B median은 Rline 1.34, Ileak 0.71 nA으로 split A의 1.42 / 0.84 대비 Rline -5.6%, Ileak -15% 수준. take-away: dummy data 내에서 a-C/SiN 측이 R/Ileak 양쪽 모두 우세였고 이는 profile 개선과 함께 전기적 후속에도 유리할 가능성이 있음을 시사한다.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9 — 관찰 및 시사점 (결론 라벨 사용 안 함). 3개 컬럼으로 정리: (1) 개선 항목 — a-C/SiN이 taper·NU·Rline·Ileak 모두 개선, (2) 잔존 우려 — W03 edge hot, AASI Δ 한계, HM 잔존 SiN 호환성, 단일 lot 한정 4가지, (3) 후속 검증 권고 — n≥6 lot 재현성, 다양한 pitch, SiN 잔존, Ru metallization cross-check. cross-reference band로 어떤 슬라이드 데이터에 근거했는지 정리했다. take-away: dummy window이지만 cross-cutting 개선이 관찰되었고 현장 채택은 별도 검증 후 결정해야 함을 분명히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3.png"/><Relationship Id="rId5" Type="http://schemas.openxmlformats.org/officeDocument/2006/relationships/image" Target="../media/image-2-3.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jpeg"/><Relationship Id="rId4" Type="http://schemas.openxmlformats.org/officeDocument/2006/relationships/image" Target="../media/image-4-4.png"/><Relationship Id="rId5" Type="http://schemas.openxmlformats.org/officeDocument/2006/relationships/image" Target="../media/image-4-4.png"/><Relationship Id="rId6" Type="http://schemas.openxmlformats.org/officeDocument/2006/relationships/image" Target="../media/image-4-6.png"/><Relationship Id="rId7" Type="http://schemas.openxmlformats.org/officeDocument/2006/relationships/image" Target="../media/image-4-6.png"/><Relationship Id="rId8" Type="http://schemas.openxmlformats.org/officeDocument/2006/relationships/image" Target="../media/image-4-8.png"/><Relationship Id="rId9" Type="http://schemas.openxmlformats.org/officeDocument/2006/relationships/image" Target="../media/image-4-8.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3.png"/><Relationship Id="rId5" Type="http://schemas.openxmlformats.org/officeDocument/2006/relationships/image" Target="../media/image-5-3.png"/><Relationship Id="rId6" Type="http://schemas.openxmlformats.org/officeDocument/2006/relationships/image" Target="../media/image-5-3.png"/><Relationship Id="rId7" Type="http://schemas.openxmlformats.org/officeDocument/2006/relationships/image" Target="../media/image-5-3.png"/><Relationship Id="rId8" Type="http://schemas.openxmlformats.org/officeDocument/2006/relationships/image" Target="../media/image-5-3.png"/><Relationship Id="rId9" Type="http://schemas.openxmlformats.org/officeDocument/2006/relationships/image" Target="../media/image-5-3.png"/><Relationship Id="rId10" Type="http://schemas.openxmlformats.org/officeDocument/2006/relationships/image" Target="../media/image-5-3.png"/><Relationship Id="rId11" Type="http://schemas.openxmlformats.org/officeDocument/2006/relationships/image" Target="../media/image-5-3.png"/><Relationship Id="rId12" Type="http://schemas.openxmlformats.org/officeDocument/2006/relationships/image" Target="../media/image-5-3.png"/><Relationship Id="rId13" Type="http://schemas.openxmlformats.org/officeDocument/2006/relationships/image" Target="../media/image-5-3.png"/><Relationship Id="rId14" Type="http://schemas.openxmlformats.org/officeDocument/2006/relationships/image" Target="../media/image-5-3.png"/><Relationship Id="rId15" Type="http://schemas.openxmlformats.org/officeDocument/2006/relationships/image" Target="../media/image-5-3.png"/><Relationship Id="rId16" Type="http://schemas.openxmlformats.org/officeDocument/2006/relationships/image" Target="../media/image-5-3.png"/><Relationship Id="rId17" Type="http://schemas.openxmlformats.org/officeDocument/2006/relationships/image" Target="../media/image-5-3.png"/><Relationship Id="rId18" Type="http://schemas.openxmlformats.org/officeDocument/2006/relationships/image" Target="../media/image-5-3.png"/><Relationship Id="rId19" Type="http://schemas.openxmlformats.org/officeDocument/2006/relationships/image" Target="../media/image-5-3.png"/><Relationship Id="rId20" Type="http://schemas.openxmlformats.org/officeDocument/2006/relationships/image" Target="../media/image-5-3.png"/><Relationship Id="rId21" Type="http://schemas.openxmlformats.org/officeDocument/2006/relationships/image" Target="../media/image-5-3.png"/><Relationship Id="rId22" Type="http://schemas.openxmlformats.org/officeDocument/2006/relationships/image" Target="../media/image-5-3.png"/><Relationship Id="rId23" Type="http://schemas.openxmlformats.org/officeDocument/2006/relationships/slideLayout" Target="../slideLayouts/slideLayout1.xml"/><Relationship Id="rId2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4.png"/><Relationship Id="rId6" Type="http://schemas.openxmlformats.org/officeDocument/2006/relationships/image" Target="../media/image-6-4.png"/><Relationship Id="rId7" Type="http://schemas.openxmlformats.org/officeDocument/2006/relationships/image" Target="../media/image-6-4.png"/><Relationship Id="rId8" Type="http://schemas.openxmlformats.org/officeDocument/2006/relationships/image" Target="../media/image-6-4.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image" Target="../media/image-7-5.png"/><Relationship Id="rId6" Type="http://schemas.openxmlformats.org/officeDocument/2006/relationships/image" Target="../media/image-7-5.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3.png"/><Relationship Id="rId5" Type="http://schemas.openxmlformats.org/officeDocument/2006/relationships/image" Target="../media/image-8-3.png"/><Relationship Id="rId6" Type="http://schemas.openxmlformats.org/officeDocument/2006/relationships/image" Target="../media/image-8-3.png"/><Relationship Id="rId7" Type="http://schemas.openxmlformats.org/officeDocument/2006/relationships/image" Target="../media/image-8-3.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BEEF2"/>
        </a:solidFill>
      </p:bgPr>
    </p:bg>
    <p:spTree>
      <p:nvGrpSpPr>
        <p:cNvPr id="1" name=""/>
        <p:cNvGrpSpPr/>
        <p:nvPr/>
      </p:nvGrpSpPr>
      <p:grpSpPr>
        <a:xfrm>
          <a:off x="0" y="0"/>
          <a:ext cx="0" cy="0"/>
          <a:chOff x="0" y="0"/>
          <a:chExt cx="0" cy="0"/>
        </a:xfrm>
      </p:grpSpPr>
      <p:sp>
        <p:nvSpPr>
          <p:cNvPr id="3" name="Text 0"/>
          <p:cNvSpPr txBox="1"/>
          <p:nvPr/>
        </p:nvSpPr>
        <p:spPr>
          <a:xfrm>
            <a:off x="0" y="0"/>
            <a:ext cx="56693" cy="228600"/>
          </a:xfrm>
          <a:prstGeom prst="rect">
            <a:avLst/>
          </a:prstGeom>
          <a:noFill/>
          <a:ln/>
        </p:spPr>
        <p:txBody>
          <a:bodyPr wrap="none" lIns="0" tIns="0" rIns="0" bIns="0" rtlCol="0" anchor="ctr"/>
          <a:lstStyle/>
          <a:p>
            <a:pPr algn="l" indent="0" marL="0">
              <a:buNone/>
            </a:pPr>
            <a:r>
              <a:rPr lang="en-US" sz="1200" dirty="0">
                <a:solidFill>
                  <a:srgbClr val="1B2535"/>
                </a:solidFill>
                <a:latin typeface="Pretendard" pitchFamily="34" charset="0"/>
                <a:ea typeface="Pretendard" pitchFamily="34" charset="-122"/>
                <a:cs typeface="Pretendard" pitchFamily="34" charset="-120"/>
              </a:rPr>
              <a:t>;</a:t>
            </a:r>
            <a:endParaRPr lang="en-US" sz="1200" dirty="0"/>
          </a:p>
        </p:txBody>
      </p:sp>
      <p:sp>
        <p:nvSpPr>
          <p:cNvPr id="4" name="Shape 1"/>
          <p:cNvSpPr/>
          <p:nvPr/>
        </p:nvSpPr>
        <p:spPr>
          <a:xfrm>
            <a:off x="0" y="0"/>
            <a:ext cx="18288000" cy="1123798"/>
          </a:xfrm>
          <a:prstGeom prst="rect">
            <a:avLst/>
          </a:prstGeom>
          <a:solidFill>
            <a:srgbClr val="FFFFFF"/>
          </a:solidFill>
          <a:ln/>
        </p:spPr>
      </p:sp>
      <p:sp>
        <p:nvSpPr>
          <p:cNvPr id="5" name="Shape 2"/>
          <p:cNvSpPr/>
          <p:nvPr/>
        </p:nvSpPr>
        <p:spPr>
          <a:xfrm>
            <a:off x="0" y="1114654"/>
            <a:ext cx="18288000" cy="9144"/>
          </a:xfrm>
          <a:prstGeom prst="rect">
            <a:avLst/>
          </a:prstGeom>
          <a:solidFill>
            <a:srgbClr val="C8CED6"/>
          </a:solidFill>
          <a:ln w="12700">
            <a:solidFill>
              <a:srgbClr val="C8CED6">
                <a:alpha val="0"/>
              </a:srgbClr>
            </a:solidFill>
            <a:prstDash val="solid"/>
          </a:ln>
        </p:spPr>
      </p:sp>
      <p:sp>
        <p:nvSpPr>
          <p:cNvPr id="6" name="Shape 3"/>
          <p:cNvSpPr/>
          <p:nvPr/>
        </p:nvSpPr>
        <p:spPr>
          <a:xfrm>
            <a:off x="571500" y="1619402"/>
            <a:ext cx="8572500" cy="5143500"/>
          </a:xfrm>
          <a:prstGeom prst="rect">
            <a:avLst/>
          </a:prstGeom>
          <a:solidFill>
            <a:srgbClr val="FFFFFF"/>
          </a:solidFill>
          <a:ln w="12700">
            <a:solidFill>
              <a:srgbClr val="C8CED6"/>
            </a:solidFill>
            <a:prstDash val="solid"/>
          </a:ln>
        </p:spPr>
      </p:sp>
      <p:sp>
        <p:nvSpPr>
          <p:cNvPr id="7" name="Shape 4"/>
          <p:cNvSpPr/>
          <p:nvPr/>
        </p:nvSpPr>
        <p:spPr>
          <a:xfrm>
            <a:off x="571500" y="1619402"/>
            <a:ext cx="57607" cy="5143500"/>
          </a:xfrm>
          <a:prstGeom prst="rect">
            <a:avLst/>
          </a:prstGeom>
          <a:solidFill>
            <a:srgbClr val="2E6F8E"/>
          </a:solidFill>
          <a:ln w="12700">
            <a:solidFill>
              <a:srgbClr val="2E6F8E">
                <a:alpha val="0"/>
              </a:srgbClr>
            </a:solidFill>
            <a:prstDash val="solid"/>
          </a:ln>
        </p:spPr>
      </p:sp>
      <p:pic>
        <p:nvPicPr>
          <p:cNvPr id="8" name="Image 0" descr="gen-dedup-71fed277742e9b4d3133225db6b641c5.png">    </p:cNvPr>
          <p:cNvPicPr>
            <a:picLocks noChangeAspect="1"/>
          </p:cNvPicPr>
          <p:nvPr/>
        </p:nvPicPr>
        <p:blipFill>
          <a:blip r:embed="rId1"/>
          <a:srcRect l="-400" r="-400" t="0" b="0"/>
          <a:stretch/>
        </p:blipFill>
        <p:spPr>
          <a:xfrm>
            <a:off x="9334195" y="1619402"/>
            <a:ext cx="19202" cy="2857500"/>
          </a:xfrm>
          <a:prstGeom prst="rect">
            <a:avLst/>
          </a:prstGeom>
        </p:spPr>
      </p:pic>
      <p:sp>
        <p:nvSpPr>
          <p:cNvPr id="9" name="Shape 5"/>
          <p:cNvSpPr/>
          <p:nvPr/>
        </p:nvSpPr>
        <p:spPr>
          <a:xfrm>
            <a:off x="9525305" y="1619402"/>
            <a:ext cx="8191195" cy="2857500"/>
          </a:xfrm>
          <a:prstGeom prst="rect">
            <a:avLst/>
          </a:prstGeom>
          <a:solidFill>
            <a:srgbClr val="FFFFFF"/>
          </a:solidFill>
          <a:ln w="12700">
            <a:solidFill>
              <a:srgbClr val="C8CED6"/>
            </a:solidFill>
            <a:prstDash val="solid"/>
          </a:ln>
        </p:spPr>
      </p:sp>
      <p:sp>
        <p:nvSpPr>
          <p:cNvPr id="10" name="Shape 6"/>
          <p:cNvSpPr/>
          <p:nvPr/>
        </p:nvSpPr>
        <p:spPr>
          <a:xfrm>
            <a:off x="9525305" y="4667098"/>
            <a:ext cx="8191195" cy="2095805"/>
          </a:xfrm>
          <a:prstGeom prst="rect">
            <a:avLst/>
          </a:prstGeom>
          <a:solidFill>
            <a:srgbClr val="FFFFFF"/>
          </a:solidFill>
          <a:ln w="12700">
            <a:solidFill>
              <a:srgbClr val="C8CED6"/>
            </a:solidFill>
            <a:prstDash val="solid"/>
          </a:ln>
        </p:spPr>
      </p:sp>
      <p:sp>
        <p:nvSpPr>
          <p:cNvPr id="11" name="Shape 7"/>
          <p:cNvSpPr/>
          <p:nvPr/>
        </p:nvSpPr>
        <p:spPr>
          <a:xfrm>
            <a:off x="571500" y="7048195"/>
            <a:ext cx="8572500" cy="1904695"/>
          </a:xfrm>
          <a:prstGeom prst="rect">
            <a:avLst/>
          </a:prstGeom>
          <a:solidFill>
            <a:srgbClr val="FFFFFF"/>
          </a:solidFill>
          <a:ln w="12700">
            <a:solidFill>
              <a:srgbClr val="C8CED6"/>
            </a:solidFill>
            <a:prstDash val="solid"/>
          </a:ln>
        </p:spPr>
      </p:sp>
      <p:pic>
        <p:nvPicPr>
          <p:cNvPr id="12" name="Image 1" descr="gen-dedup-74de5ec3332f686492655bfad531efc9.png">    </p:cNvPr>
          <p:cNvPicPr>
            <a:picLocks noChangeAspect="1"/>
          </p:cNvPicPr>
          <p:nvPr/>
        </p:nvPicPr>
        <p:blipFill>
          <a:blip r:embed="rId2"/>
          <a:srcRect l="-17" r="-17" t="0" b="0"/>
          <a:stretch/>
        </p:blipFill>
        <p:spPr>
          <a:xfrm>
            <a:off x="571500" y="9239098"/>
            <a:ext cx="17145000" cy="437998"/>
          </a:xfrm>
          <a:prstGeom prst="rect">
            <a:avLst/>
          </a:prstGeom>
        </p:spPr>
      </p:pic>
      <p:pic>
        <p:nvPicPr>
          <p:cNvPr id="13" name="Image 2" descr="gen-dedup-68bac70ffc575f7be58fcf62b0930262.png">    </p:cNvPr>
          <p:cNvPicPr>
            <a:picLocks noChangeAspect="1"/>
          </p:cNvPicPr>
          <p:nvPr/>
        </p:nvPicPr>
        <p:blipFill>
          <a:blip r:embed="rId3"/>
          <a:srcRect l="-2083" r="-2083" t="0" b="0"/>
          <a:stretch/>
        </p:blipFill>
        <p:spPr>
          <a:xfrm>
            <a:off x="0" y="9810598"/>
            <a:ext cx="18288000" cy="9144"/>
          </a:xfrm>
          <a:prstGeom prst="rect">
            <a:avLst/>
          </a:prstGeom>
        </p:spPr>
      </p:pic>
      <p:sp>
        <p:nvSpPr>
          <p:cNvPr id="14" name="Shape 8"/>
          <p:cNvSpPr/>
          <p:nvPr/>
        </p:nvSpPr>
        <p:spPr>
          <a:xfrm>
            <a:off x="9753905" y="4895698"/>
            <a:ext cx="761695" cy="381305"/>
          </a:xfrm>
          <a:prstGeom prst="rect">
            <a:avLst/>
          </a:prstGeom>
          <a:solidFill>
            <a:srgbClr val="2E6F8E"/>
          </a:solidFill>
          <a:ln w="12700">
            <a:solidFill>
              <a:srgbClr val="FFFFFF">
                <a:alpha val="0"/>
              </a:srgbClr>
            </a:solidFill>
            <a:prstDash val="solid"/>
          </a:ln>
        </p:spPr>
      </p:sp>
      <p:sp>
        <p:nvSpPr>
          <p:cNvPr id="15" name="Shape 9"/>
          <p:cNvSpPr/>
          <p:nvPr/>
        </p:nvSpPr>
        <p:spPr>
          <a:xfrm>
            <a:off x="9753905" y="5886907"/>
            <a:ext cx="761695" cy="381305"/>
          </a:xfrm>
          <a:prstGeom prst="rect">
            <a:avLst/>
          </a:prstGeom>
          <a:solidFill>
            <a:srgbClr val="C8552D"/>
          </a:solidFill>
          <a:ln w="12700">
            <a:solidFill>
              <a:srgbClr val="FFFFFF">
                <a:alpha val="0"/>
              </a:srgbClr>
            </a:solidFill>
            <a:prstDash val="solid"/>
          </a:ln>
        </p:spPr>
      </p:sp>
      <p:sp>
        <p:nvSpPr>
          <p:cNvPr id="16" name="Text 10"/>
          <p:cNvSpPr txBox="1"/>
          <p:nvPr/>
        </p:nvSpPr>
        <p:spPr>
          <a:xfrm>
            <a:off x="571500" y="381305"/>
            <a:ext cx="1619402" cy="191110"/>
          </a:xfrm>
          <a:prstGeom prst="rect">
            <a:avLst/>
          </a:prstGeom>
          <a:noFill/>
          <a:ln/>
        </p:spPr>
        <p:txBody>
          <a:bodyPr wrap="none" lIns="0" tIns="0" rIns="0" bIns="0" rtlCol="0" anchor="ctr"/>
          <a:lstStyle/>
          <a:p>
            <a:pPr algn="l" indent="0" marL="0">
              <a:buNone/>
            </a:pPr>
            <a:r>
              <a:rPr lang="en-US" sz="1050" spc="336" kern="0" dirty="0">
                <a:solidFill>
                  <a:srgbClr val="7A8898"/>
                </a:solidFill>
                <a:latin typeface="Pretendard" pitchFamily="34" charset="0"/>
                <a:ea typeface="Pretendard" pitchFamily="34" charset="-122"/>
                <a:cs typeface="Pretendard" pitchFamily="34" charset="-120"/>
              </a:rPr>
              <a:t>SET 01 / 09</a:t>
            </a:r>
            <a:endParaRPr lang="en-US" sz="1050" dirty="0"/>
          </a:p>
        </p:txBody>
      </p:sp>
      <p:sp>
        <p:nvSpPr>
          <p:cNvPr id="17" name="Text 11"/>
          <p:cNvSpPr txBox="1"/>
          <p:nvPr/>
        </p:nvSpPr>
        <p:spPr>
          <a:xfrm>
            <a:off x="571500" y="571500"/>
            <a:ext cx="12382805" cy="486461"/>
          </a:xfrm>
          <a:prstGeom prst="rect">
            <a:avLst/>
          </a:prstGeom>
          <a:noFill/>
          <a:ln/>
        </p:spPr>
        <p:txBody>
          <a:bodyPr wrap="none" lIns="0" tIns="0" rIns="0" bIns="0" rtlCol="0" anchor="ctr"/>
          <a:lstStyle/>
          <a:p>
            <a:pPr algn="l" indent="0" marL="0">
              <a:buNone/>
            </a:pPr>
            <a:r>
              <a:rPr lang="en-US" sz="3600" b="1" spc="-36" kern="0" dirty="0">
                <a:solidFill>
                  <a:srgbClr val="1B2535"/>
                </a:solidFill>
                <a:latin typeface="Pretendard" pitchFamily="34" charset="0"/>
                <a:ea typeface="Pretendard" pitchFamily="34" charset="-122"/>
                <a:cs typeface="Pretendard" pitchFamily="34" charset="-120"/>
              </a:rPr>
              <a:t>실험 목적 및 평가 조건</a:t>
            </a:r>
            <a:endParaRPr lang="en-US" sz="3600" dirty="0"/>
          </a:p>
        </p:txBody>
      </p:sp>
      <p:sp>
        <p:nvSpPr>
          <p:cNvPr id="18" name="Text 12"/>
          <p:cNvSpPr txBox="1"/>
          <p:nvPr/>
        </p:nvSpPr>
        <p:spPr>
          <a:xfrm>
            <a:off x="571500" y="571500"/>
            <a:ext cx="17336110" cy="191110"/>
          </a:xfrm>
          <a:prstGeom prst="rect">
            <a:avLst/>
          </a:prstGeom>
          <a:noFill/>
          <a:ln/>
        </p:spPr>
        <p:txBody>
          <a:bodyPr wrap="none" lIns="0" tIns="0" rIns="0" bIns="0" rtlCol="0" anchor="ctr"/>
          <a:lstStyle/>
          <a:p>
            <a:pPr algn="r" indent="0" marL="0">
              <a:buNone/>
            </a:pPr>
            <a:r>
              <a:rPr lang="en-US" sz="1050" spc="189" kern="0" dirty="0">
                <a:solidFill>
                  <a:srgbClr val="7A8898"/>
                </a:solidFill>
                <a:latin typeface="Pretendard" pitchFamily="34" charset="0"/>
                <a:ea typeface="Pretendard" pitchFamily="34" charset="-122"/>
                <a:cs typeface="Pretendard" pitchFamily="34" charset="-120"/>
              </a:rPr>
              <a:t>EUV MULTI-PATTERNING / BEOL EVALUATION</a:t>
            </a:r>
            <a:endParaRPr lang="en-US" sz="1050" dirty="0"/>
          </a:p>
        </p:txBody>
      </p:sp>
      <p:sp>
        <p:nvSpPr>
          <p:cNvPr id="19" name="Text 13"/>
          <p:cNvSpPr txBox="1"/>
          <p:nvPr/>
        </p:nvSpPr>
        <p:spPr>
          <a:xfrm>
            <a:off x="857707" y="1904695"/>
            <a:ext cx="8001000" cy="181051"/>
          </a:xfrm>
          <a:prstGeom prst="rect">
            <a:avLst/>
          </a:prstGeom>
          <a:noFill/>
          <a:ln/>
        </p:spPr>
        <p:txBody>
          <a:bodyPr wrap="none" lIns="0" tIns="0" rIns="0" bIns="0" rtlCol="0" anchor="ctr"/>
          <a:lstStyle/>
          <a:p>
            <a:pPr algn="l" indent="0" marL="0">
              <a:buNone/>
            </a:pPr>
            <a:r>
              <a:rPr lang="en-US" sz="975" b="1" spc="273" kern="0" dirty="0">
                <a:solidFill>
                  <a:srgbClr val="2E6F8E"/>
                </a:solidFill>
                <a:latin typeface="Pretendard" pitchFamily="34" charset="0"/>
                <a:ea typeface="Pretendard" pitchFamily="34" charset="-122"/>
                <a:cs typeface="Pretendard" pitchFamily="34" charset="-120"/>
              </a:rPr>
              <a:t>01 — BACKGROUND</a:t>
            </a:r>
            <a:endParaRPr lang="en-US" sz="975" dirty="0"/>
          </a:p>
        </p:txBody>
      </p:sp>
      <p:sp>
        <p:nvSpPr>
          <p:cNvPr id="20" name="Text 14"/>
          <p:cNvSpPr txBox="1"/>
          <p:nvPr/>
        </p:nvSpPr>
        <p:spPr>
          <a:xfrm>
            <a:off x="857707" y="2219249"/>
            <a:ext cx="8001000" cy="676656"/>
          </a:xfrm>
          <a:prstGeom prst="rect">
            <a:avLst/>
          </a:prstGeom>
          <a:noFill/>
          <a:ln/>
        </p:spPr>
        <p:txBody>
          <a:bodyPr wrap="square" lIns="0" tIns="0" rIns="0" bIns="0" rtlCol="0" anchor="t"/>
          <a:lstStyle/>
          <a:p>
            <a:pPr algn="l" indent="0" marL="0">
              <a:lnSpc>
                <a:spcPct val="118000"/>
              </a:lnSpc>
              <a:buNone/>
            </a:pPr>
            <a:r>
              <a:rPr lang="en-US" sz="2250" b="1" dirty="0">
                <a:solidFill>
                  <a:srgbClr val="1B2535"/>
                </a:solidFill>
                <a:latin typeface="Pretendard" pitchFamily="34" charset="0"/>
                <a:ea typeface="Pretendard" pitchFamily="34" charset="-122"/>
                <a:cs typeface="Pretendard" pitchFamily="34" charset="-120"/>
              </a:rPr>
              <a:t>24 nm 이하 피치에서의</a:t>
            </a:r>
            <a:pPr algn="l" indent="0" marL="0">
              <a:lnSpc>
                <a:spcPct val="118000"/>
              </a:lnSpc>
              <a:buNone/>
            </a:pPr>
            <a:endParaRPr lang="en-US" sz="2250" dirty="0"/>
          </a:p>
          <a:p>
            <a:pPr algn="l" indent="0" marL="0">
              <a:lnSpc>
                <a:spcPct val="118000"/>
              </a:lnSpc>
              <a:buNone/>
            </a:pPr>
            <a:r>
              <a:rPr lang="en-US" sz="2250" b="1" dirty="0">
                <a:solidFill>
                  <a:srgbClr val="1B2535"/>
                </a:solidFill>
                <a:latin typeface="Pretendard" pitchFamily="34" charset="0"/>
                <a:ea typeface="Pretendard" pitchFamily="34" charset="-122"/>
                <a:cs typeface="Pretendard" pitchFamily="34" charset="-120"/>
              </a:rPr>
              <a:t>식각 윈도 축소 문제</a:t>
            </a:r>
            <a:endParaRPr lang="en-US" sz="2250" dirty="0"/>
          </a:p>
        </p:txBody>
      </p:sp>
      <p:sp>
        <p:nvSpPr>
          <p:cNvPr id="21" name="Text 15"/>
          <p:cNvSpPr txBox="1"/>
          <p:nvPr/>
        </p:nvSpPr>
        <p:spPr>
          <a:xfrm>
            <a:off x="857707" y="3121762"/>
            <a:ext cx="8001000" cy="1371600"/>
          </a:xfrm>
          <a:prstGeom prst="rect">
            <a:avLst/>
          </a:prstGeom>
          <a:noFill/>
          <a:ln/>
        </p:spPr>
        <p:txBody>
          <a:bodyPr wrap="square" lIns="0" tIns="0" rIns="0" bIns="0" rtlCol="0" anchor="ctr"/>
          <a:lstStyle/>
          <a:p>
            <a:pPr algn="l" indent="0" marL="0">
              <a:lnSpc>
                <a:spcPts val="2160"/>
              </a:lnSpc>
              <a:buNone/>
            </a:pPr>
            <a:r>
              <a:rPr lang="en-US" sz="1350" dirty="0">
                <a:solidFill>
                  <a:srgbClr val="44546A"/>
                </a:solidFill>
                <a:latin typeface="Pretendard" pitchFamily="34" charset="0"/>
                <a:ea typeface="Pretendard" pitchFamily="34" charset="-122"/>
                <a:cs typeface="Pretendard" pitchFamily="34" charset="-120"/>
              </a:rPr>
              <a:t>TiN은 가장 강력한 금속 하드마스크(MHM)로 사용되며, Cl 계열 플라즈마 기반 고선택비 이방성 식각이 일반화되어 있다. 패턴 피치가 24 nm 이하로 진입하면 좁은 공간에서 이온 산란이 증가하고, 하드마스크 상단에 고분자(polymer)가 과도하게 누적되어 휨(Wiggling) 및 Through-pitch CD imbalance가 동시에 발현된다. 본 평가는 동일 M2 레이어에서 하드마스크 스택만 TiN과 a-C/SiN으로 분기하여 식각 프로파일, CD 균일성, 전기적 영향까지 단일 비교 평가를 수행하는 것을 목적으로 한다.</a:t>
            </a:r>
            <a:endParaRPr lang="en-US" sz="1350" dirty="0"/>
          </a:p>
        </p:txBody>
      </p:sp>
      <p:sp>
        <p:nvSpPr>
          <p:cNvPr id="22" name="Text 16"/>
          <p:cNvSpPr txBox="1"/>
          <p:nvPr/>
        </p:nvSpPr>
        <p:spPr>
          <a:xfrm>
            <a:off x="857707" y="6077102"/>
            <a:ext cx="1339596" cy="191110"/>
          </a:xfrm>
          <a:prstGeom prst="rect">
            <a:avLst/>
          </a:prstGeom>
          <a:noFill/>
          <a:ln/>
        </p:spPr>
        <p:txBody>
          <a:bodyPr wrap="none" lIns="0" tIns="0" rIns="0" bIns="0" rtlCol="0" anchor="ctr"/>
          <a:lstStyle/>
          <a:p>
            <a:pPr algn="l" indent="0" marL="0">
              <a:buNone/>
            </a:pPr>
            <a:r>
              <a:rPr lang="en-US" sz="1050" spc="42" kern="0" dirty="0">
                <a:solidFill>
                  <a:srgbClr val="7A8898"/>
                </a:solidFill>
                <a:latin typeface="Pretendard" pitchFamily="34" charset="0"/>
                <a:ea typeface="Pretendard" pitchFamily="34" charset="-122"/>
                <a:cs typeface="Pretendard" pitchFamily="34" charset="-120"/>
              </a:rPr>
              <a:t>Metal layer </a:t>
            </a:r>
            <a:pPr algn="l" indent="0" marL="0">
              <a:buNone/>
            </a:pPr>
            <a:r>
              <a:rPr lang="en-US" sz="1050" b="1" spc="42" kern="0" dirty="0">
                <a:solidFill>
                  <a:srgbClr val="1B2535"/>
                </a:solidFill>
                <a:latin typeface="Pretendard" pitchFamily="34" charset="0"/>
                <a:ea typeface="Pretendard" pitchFamily="34" charset="-122"/>
                <a:cs typeface="Pretendard" pitchFamily="34" charset="-120"/>
              </a:rPr>
              <a:t>M2</a:t>
            </a:r>
            <a:endParaRPr lang="en-US" sz="1050" dirty="0"/>
          </a:p>
        </p:txBody>
      </p:sp>
      <p:sp>
        <p:nvSpPr>
          <p:cNvPr id="23" name="Text 17"/>
          <p:cNvSpPr txBox="1"/>
          <p:nvPr/>
        </p:nvSpPr>
        <p:spPr>
          <a:xfrm>
            <a:off x="2200046" y="6077102"/>
            <a:ext cx="1492301" cy="191110"/>
          </a:xfrm>
          <a:prstGeom prst="rect">
            <a:avLst/>
          </a:prstGeom>
          <a:noFill/>
          <a:ln/>
        </p:spPr>
        <p:txBody>
          <a:bodyPr wrap="none" lIns="0" tIns="0" rIns="0" bIns="0" rtlCol="0" anchor="ctr"/>
          <a:lstStyle/>
          <a:p>
            <a:pPr algn="l" indent="0" marL="0">
              <a:buNone/>
            </a:pPr>
            <a:r>
              <a:rPr lang="en-US" sz="1050" spc="42" kern="0" dirty="0">
                <a:solidFill>
                  <a:srgbClr val="7A8898"/>
                </a:solidFill>
                <a:latin typeface="Pretendard" pitchFamily="34" charset="0"/>
                <a:ea typeface="Pretendard" pitchFamily="34" charset="-122"/>
                <a:cs typeface="Pretendard" pitchFamily="34" charset="-120"/>
              </a:rPr>
              <a:t>Wafer count </a:t>
            </a:r>
            <a:pPr algn="l" indent="0" marL="0">
              <a:buNone/>
            </a:pPr>
            <a:r>
              <a:rPr lang="en-US" sz="1050" b="1" spc="42" kern="0" dirty="0">
                <a:solidFill>
                  <a:srgbClr val="1B2535"/>
                </a:solidFill>
                <a:latin typeface="Pretendard" pitchFamily="34" charset="0"/>
                <a:ea typeface="Pretendard" pitchFamily="34" charset="-122"/>
                <a:cs typeface="Pretendard" pitchFamily="34" charset="-120"/>
              </a:rPr>
              <a:t>6 매</a:t>
            </a:r>
            <a:endParaRPr lang="en-US" sz="1050" dirty="0"/>
          </a:p>
        </p:txBody>
      </p:sp>
      <p:sp>
        <p:nvSpPr>
          <p:cNvPr id="24" name="Text 18"/>
          <p:cNvSpPr txBox="1"/>
          <p:nvPr/>
        </p:nvSpPr>
        <p:spPr>
          <a:xfrm>
            <a:off x="3666744" y="6077102"/>
            <a:ext cx="1688897" cy="191110"/>
          </a:xfrm>
          <a:prstGeom prst="rect">
            <a:avLst/>
          </a:prstGeom>
          <a:noFill/>
          <a:ln/>
        </p:spPr>
        <p:txBody>
          <a:bodyPr wrap="none" lIns="0" tIns="0" rIns="0" bIns="0" rtlCol="0" anchor="ctr"/>
          <a:lstStyle/>
          <a:p>
            <a:pPr algn="l" indent="0" marL="0">
              <a:buNone/>
            </a:pPr>
            <a:r>
              <a:rPr lang="en-US" sz="1050" spc="42" kern="0" dirty="0">
                <a:solidFill>
                  <a:srgbClr val="7A8898"/>
                </a:solidFill>
                <a:latin typeface="Pretendard" pitchFamily="34" charset="0"/>
                <a:ea typeface="Pretendard" pitchFamily="34" charset="-122"/>
                <a:cs typeface="Pretendard" pitchFamily="34" charset="-120"/>
              </a:rPr>
              <a:t>Split </a:t>
            </a:r>
            <a:pPr algn="l" indent="0" marL="0">
              <a:buNone/>
            </a:pPr>
            <a:r>
              <a:rPr lang="en-US" sz="1050" b="1" spc="42" kern="0" dirty="0">
                <a:solidFill>
                  <a:srgbClr val="2E6F8E"/>
                </a:solidFill>
                <a:latin typeface="Pretendard" pitchFamily="34" charset="0"/>
                <a:ea typeface="Pretendard" pitchFamily="34" charset="-122"/>
                <a:cs typeface="Pretendard" pitchFamily="34" charset="-120"/>
              </a:rPr>
              <a:t>TiN</a:t>
            </a:r>
            <a:pPr algn="l" indent="0" marL="0">
              <a:buNone/>
            </a:pPr>
            <a:r>
              <a:rPr lang="en-US" sz="1050" spc="42" kern="0" dirty="0">
                <a:solidFill>
                  <a:srgbClr val="7A8898"/>
                </a:solidFill>
                <a:latin typeface="Pretendard" pitchFamily="34" charset="0"/>
                <a:ea typeface="Pretendard" pitchFamily="34" charset="-122"/>
                <a:cs typeface="Pretendard" pitchFamily="34" charset="-120"/>
              </a:rPr>
              <a:t> / </a:t>
            </a:r>
            <a:pPr algn="l" indent="0" marL="0">
              <a:buNone/>
            </a:pPr>
            <a:r>
              <a:rPr lang="en-US" sz="1050" b="1" spc="42" kern="0" dirty="0">
                <a:solidFill>
                  <a:srgbClr val="C8552D"/>
                </a:solidFill>
                <a:latin typeface="Pretendard" pitchFamily="34" charset="0"/>
                <a:ea typeface="Pretendard" pitchFamily="34" charset="-122"/>
                <a:cs typeface="Pretendard" pitchFamily="34" charset="-120"/>
              </a:rPr>
              <a:t>a-C / SiN</a:t>
            </a:r>
            <a:endParaRPr lang="en-US" sz="1050" dirty="0"/>
          </a:p>
        </p:txBody>
      </p:sp>
      <p:sp>
        <p:nvSpPr>
          <p:cNvPr id="25" name="Text 19"/>
          <p:cNvSpPr txBox="1"/>
          <p:nvPr/>
        </p:nvSpPr>
        <p:spPr>
          <a:xfrm>
            <a:off x="5426964" y="6077102"/>
            <a:ext cx="1410005" cy="191110"/>
          </a:xfrm>
          <a:prstGeom prst="rect">
            <a:avLst/>
          </a:prstGeom>
          <a:noFill/>
          <a:ln/>
        </p:spPr>
        <p:txBody>
          <a:bodyPr wrap="none" lIns="0" tIns="0" rIns="0" bIns="0" rtlCol="0" anchor="ctr"/>
          <a:lstStyle/>
          <a:p>
            <a:pPr algn="l" indent="0" marL="0">
              <a:buNone/>
            </a:pPr>
            <a:r>
              <a:rPr lang="en-US" sz="1050" spc="42" kern="0" dirty="0">
                <a:solidFill>
                  <a:srgbClr val="7A8898"/>
                </a:solidFill>
                <a:latin typeface="Pretendard" pitchFamily="34" charset="0"/>
                <a:ea typeface="Pretendard" pitchFamily="34" charset="-122"/>
                <a:cs typeface="Pretendard" pitchFamily="34" charset="-120"/>
              </a:rPr>
              <a:t>Lot </a:t>
            </a:r>
            <a:pPr algn="l" indent="0" marL="0">
              <a:buNone/>
            </a:pPr>
            <a:r>
              <a:rPr lang="en-US" sz="1050" b="1" spc="42" kern="0" dirty="0">
                <a:solidFill>
                  <a:srgbClr val="1B2535"/>
                </a:solidFill>
                <a:latin typeface="Pretendard" pitchFamily="34" charset="0"/>
                <a:ea typeface="Pretendard" pitchFamily="34" charset="-122"/>
                <a:cs typeface="Pretendard" pitchFamily="34" charset="-120"/>
              </a:rPr>
              <a:t>DUMMY-LOT-A1</a:t>
            </a:r>
            <a:endParaRPr lang="en-US" sz="1050" dirty="0"/>
          </a:p>
        </p:txBody>
      </p:sp>
      <p:sp>
        <p:nvSpPr>
          <p:cNvPr id="26" name="Text 20"/>
          <p:cNvSpPr txBox="1"/>
          <p:nvPr/>
        </p:nvSpPr>
        <p:spPr>
          <a:xfrm>
            <a:off x="9753905" y="1848002"/>
            <a:ext cx="7810805" cy="181051"/>
          </a:xfrm>
          <a:prstGeom prst="rect">
            <a:avLst/>
          </a:prstGeom>
          <a:noFill/>
          <a:ln/>
        </p:spPr>
        <p:txBody>
          <a:bodyPr wrap="none" lIns="0" tIns="0" rIns="0" bIns="0" rtlCol="0" anchor="ctr"/>
          <a:lstStyle/>
          <a:p>
            <a:pPr algn="l" indent="0" marL="0">
              <a:buNone/>
            </a:pPr>
            <a:r>
              <a:rPr lang="en-US" sz="975" b="1" spc="273" kern="0" dirty="0">
                <a:solidFill>
                  <a:srgbClr val="C8552D"/>
                </a:solidFill>
                <a:latin typeface="Pretendard" pitchFamily="34" charset="0"/>
                <a:ea typeface="Pretendard" pitchFamily="34" charset="-122"/>
                <a:cs typeface="Pretendard" pitchFamily="34" charset="-120"/>
              </a:rPr>
              <a:t>02 — TARGET CD &amp; SPLIT</a:t>
            </a:r>
            <a:endParaRPr lang="en-US" sz="975" dirty="0"/>
          </a:p>
        </p:txBody>
      </p:sp>
      <p:sp>
        <p:nvSpPr>
          <p:cNvPr id="27" name="Text 21"/>
          <p:cNvSpPr txBox="1"/>
          <p:nvPr/>
        </p:nvSpPr>
        <p:spPr>
          <a:xfrm>
            <a:off x="9753905" y="2162556"/>
            <a:ext cx="7810805" cy="333756"/>
          </a:xfrm>
          <a:prstGeom prst="rect">
            <a:avLst/>
          </a:prstGeom>
          <a:noFill/>
          <a:ln/>
        </p:spPr>
        <p:txBody>
          <a:bodyPr wrap="none" lIns="0" tIns="0" rIns="0" bIns="0" rtlCol="0" anchor="ctr"/>
          <a:lstStyle/>
          <a:p>
            <a:pPr algn="l" indent="0" marL="0">
              <a:buNone/>
            </a:pPr>
            <a:r>
              <a:rPr lang="en-US" sz="1800" b="1" dirty="0">
                <a:solidFill>
                  <a:srgbClr val="1B2535"/>
                </a:solidFill>
                <a:latin typeface="Pretendard" pitchFamily="34" charset="0"/>
                <a:ea typeface="Pretendard" pitchFamily="34" charset="-122"/>
                <a:cs typeface="Pretendard" pitchFamily="34" charset="-120"/>
              </a:rPr>
              <a:t>측정 항목 및 목표 CD</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9753905" y="2667305"/>
          <a:ext cx="7810805" cy="1714500"/>
        </p:xfrm>
        <a:graphic>
          <a:graphicData uri="http://schemas.openxmlformats.org/drawingml/2006/table">
            <a:tbl>
              <a:tblPr/>
              <a:tblGrid>
                <a:gridCol w="944575"/>
                <a:gridCol w="3746297"/>
                <a:gridCol w="1652321"/>
                <a:gridCol w="1467612"/>
              </a:tblGrid>
              <a:tr h="342900">
                <a:tc>
                  <a:txBody>
                    <a:bodyPr/>
                    <a:lstStyle/>
                    <a:p>
                      <a:pPr algn="l" indent="0" marL="0">
                        <a:buNone/>
                      </a:pPr>
                      <a:r>
                        <a:rPr lang="en-US" sz="975" b="1" dirty="0">
                          <a:solidFill>
                            <a:srgbClr val="7A8898"/>
                          </a:solidFill>
                          <a:latin typeface="Pretendard" pitchFamily="34" charset="0"/>
                          <a:ea typeface="Pretendard" pitchFamily="34" charset="-122"/>
                          <a:cs typeface="Pretendard" pitchFamily="34" charset="-120"/>
                        </a:rPr>
                        <a:t>METRIC</a:t>
                      </a:r>
                      <a:endParaRPr lang="en-US" sz="975" dirty="0">
                        <a:latin typeface="Pretendard" charset="0"/>
                        <a:ea typeface="Pretendard" charset="0"/>
                        <a:cs typeface="Pretendard"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l" indent="0" marL="0">
                        <a:buNone/>
                      </a:pPr>
                      <a:r>
                        <a:rPr lang="en-US" sz="975" b="1" dirty="0">
                          <a:solidFill>
                            <a:srgbClr val="7A8898"/>
                          </a:solidFill>
                          <a:latin typeface="Pretendard" pitchFamily="34" charset="0"/>
                          <a:ea typeface="Pretendard" pitchFamily="34" charset="-122"/>
                          <a:cs typeface="Pretendard" pitchFamily="34" charset="-120"/>
                        </a:rPr>
                        <a:t>단계</a:t>
                      </a:r>
                      <a:endParaRPr lang="en-US" sz="975" dirty="0">
                        <a:latin typeface="Pretendard" charset="0"/>
                        <a:ea typeface="Pretendard" charset="0"/>
                        <a:cs typeface="Pretendard"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b="1" dirty="0">
                          <a:solidFill>
                            <a:srgbClr val="7A8898"/>
                          </a:solidFill>
                          <a:latin typeface="Pretendard" pitchFamily="34" charset="0"/>
                          <a:ea typeface="Pretendard" pitchFamily="34" charset="-122"/>
                          <a:cs typeface="Pretendard" pitchFamily="34" charset="-120"/>
                        </a:rPr>
                        <a:t>TARGET (nm)</a:t>
                      </a:r>
                      <a:endParaRPr lang="en-US" sz="975" dirty="0">
                        <a:latin typeface="Pretendard" charset="0"/>
                        <a:ea typeface="Pretendard" charset="0"/>
                        <a:cs typeface="Pretendard"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975" b="1" dirty="0">
                          <a:solidFill>
                            <a:srgbClr val="7A8898"/>
                          </a:solidFill>
                          <a:latin typeface="Pretendard" pitchFamily="34" charset="0"/>
                          <a:ea typeface="Pretendard" pitchFamily="34" charset="-122"/>
                          <a:cs typeface="Pretendard" pitchFamily="34" charset="-120"/>
                        </a:rPr>
                        <a:t>TOLERANCE</a:t>
                      </a:r>
                      <a:endParaRPr lang="en-US" sz="975" dirty="0">
                        <a:latin typeface="Pretendard" charset="0"/>
                        <a:ea typeface="Pretendard" charset="0"/>
                        <a:cs typeface="Pretendard" charset="0"/>
                      </a:endParaRPr>
                    </a:p>
                  </a:txBody>
                  <a:tcPr marL="0" marR="0" marT="75895" marB="75895"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42900">
                <a:tc>
                  <a:txBody>
                    <a:bodyPr/>
                    <a:lstStyle/>
                    <a:p>
                      <a:pPr indent="0" marL="0">
                        <a:buNone/>
                      </a:pPr>
                      <a:r>
                        <a:rPr lang="en-US" sz="1200" dirty="0">
                          <a:solidFill>
                            <a:srgbClr val="1B2535"/>
                          </a:solidFill>
                          <a:latin typeface="Pretendard" pitchFamily="34" charset="0"/>
                          <a:ea typeface="Pretendard" pitchFamily="34" charset="-122"/>
                          <a:cs typeface="Pretendard" pitchFamily="34" charset="-120"/>
                        </a:rPr>
                        <a:t>AASI</a:t>
                      </a:r>
                      <a:endParaRPr lang="en-US" sz="1200" dirty="0">
                        <a:latin typeface="Pretendard" charset="0"/>
                        <a:ea typeface="Pretendard" charset="0"/>
                        <a:cs typeface="Pretendard" charset="0"/>
                      </a:endParaRPr>
                    </a:p>
                  </a:txBody>
                  <a:tcPr marL="0" marR="0"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dirty="0">
                          <a:solidFill>
                            <a:srgbClr val="44546A"/>
                          </a:solidFill>
                          <a:latin typeface="Pretendard" pitchFamily="34" charset="0"/>
                          <a:ea typeface="Pretendard" pitchFamily="34" charset="-122"/>
                          <a:cs typeface="Pretendard" pitchFamily="34" charset="-120"/>
                        </a:rPr>
                        <a:t>After-spacer sidewall inspection</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dirty="0">
                          <a:solidFill>
                            <a:srgbClr val="1B2535"/>
                          </a:solidFill>
                          <a:latin typeface="Pretendard" pitchFamily="34" charset="0"/>
                          <a:ea typeface="Pretendard" pitchFamily="34" charset="-122"/>
                          <a:cs typeface="Pretendard" pitchFamily="34" charset="-120"/>
                        </a:rPr>
                        <a:t>23.80</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dirty="0">
                          <a:solidFill>
                            <a:srgbClr val="3F6F52"/>
                          </a:solidFill>
                          <a:latin typeface="Pretendard" pitchFamily="34" charset="0"/>
                          <a:ea typeface="Pretendard" pitchFamily="34" charset="-122"/>
                          <a:cs typeface="Pretendard" pitchFamily="34" charset="-120"/>
                        </a:rPr>
                        <a:t>± 0.40</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42900">
                <a:tc>
                  <a:txBody>
                    <a:bodyPr/>
                    <a:lstStyle/>
                    <a:p>
                      <a:pPr indent="0" marL="0">
                        <a:buNone/>
                      </a:pPr>
                      <a:r>
                        <a:rPr lang="en-US" sz="1200" dirty="0">
                          <a:solidFill>
                            <a:srgbClr val="1B2535"/>
                          </a:solidFill>
                          <a:latin typeface="Pretendard" pitchFamily="34" charset="0"/>
                          <a:ea typeface="Pretendard" pitchFamily="34" charset="-122"/>
                          <a:cs typeface="Pretendard" pitchFamily="34" charset="-120"/>
                        </a:rPr>
                        <a:t>ASEI</a:t>
                      </a:r>
                      <a:endParaRPr lang="en-US" sz="1200" dirty="0">
                        <a:latin typeface="Pretendard" charset="0"/>
                        <a:ea typeface="Pretendard" charset="0"/>
                        <a:cs typeface="Pretendard" charset="0"/>
                      </a:endParaRPr>
                    </a:p>
                  </a:txBody>
                  <a:tcPr marL="0" marR="0"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dirty="0">
                          <a:solidFill>
                            <a:srgbClr val="44546A"/>
                          </a:solidFill>
                          <a:latin typeface="Pretendard" pitchFamily="34" charset="0"/>
                          <a:ea typeface="Pretendard" pitchFamily="34" charset="-122"/>
                          <a:cs typeface="Pretendard" pitchFamily="34" charset="-120"/>
                        </a:rPr>
                        <a:t>After-spacer etch inspection</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dirty="0">
                          <a:solidFill>
                            <a:srgbClr val="1B2535"/>
                          </a:solidFill>
                          <a:latin typeface="Pretendard" pitchFamily="34" charset="0"/>
                          <a:ea typeface="Pretendard" pitchFamily="34" charset="-122"/>
                          <a:cs typeface="Pretendard" pitchFamily="34" charset="-120"/>
                        </a:rPr>
                        <a:t>15.30</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dirty="0">
                          <a:solidFill>
                            <a:srgbClr val="3F6F52"/>
                          </a:solidFill>
                          <a:latin typeface="Pretendard" pitchFamily="34" charset="0"/>
                          <a:ea typeface="Pretendard" pitchFamily="34" charset="-122"/>
                          <a:cs typeface="Pretendard" pitchFamily="34" charset="-120"/>
                        </a:rPr>
                        <a:t>± 0.30</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42900">
                <a:tc>
                  <a:txBody>
                    <a:bodyPr/>
                    <a:lstStyle/>
                    <a:p>
                      <a:pPr indent="0" marL="0">
                        <a:buNone/>
                      </a:pPr>
                      <a:r>
                        <a:rPr lang="en-US" sz="1200" dirty="0">
                          <a:solidFill>
                            <a:srgbClr val="1B2535"/>
                          </a:solidFill>
                          <a:latin typeface="Pretendard" pitchFamily="34" charset="0"/>
                          <a:ea typeface="Pretendard" pitchFamily="34" charset="-122"/>
                          <a:cs typeface="Pretendard" pitchFamily="34" charset="-120"/>
                        </a:rPr>
                        <a:t>AMI</a:t>
                      </a:r>
                      <a:endParaRPr lang="en-US" sz="1200" dirty="0">
                        <a:latin typeface="Pretendard" charset="0"/>
                        <a:ea typeface="Pretendard" charset="0"/>
                        <a:cs typeface="Pretendard" charset="0"/>
                      </a:endParaRPr>
                    </a:p>
                  </a:txBody>
                  <a:tcPr marL="0" marR="0"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dirty="0">
                          <a:solidFill>
                            <a:srgbClr val="44546A"/>
                          </a:solidFill>
                          <a:latin typeface="Pretendard" pitchFamily="34" charset="0"/>
                          <a:ea typeface="Pretendard" pitchFamily="34" charset="-122"/>
                          <a:cs typeface="Pretendard" pitchFamily="34" charset="-120"/>
                        </a:rPr>
                        <a:t>After-metal inspection</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dirty="0">
                          <a:solidFill>
                            <a:srgbClr val="1B2535"/>
                          </a:solidFill>
                          <a:latin typeface="Pretendard" pitchFamily="34" charset="0"/>
                          <a:ea typeface="Pretendard" pitchFamily="34" charset="-122"/>
                          <a:cs typeface="Pretendard" pitchFamily="34" charset="-120"/>
                        </a:rPr>
                        <a:t>8.50</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dirty="0">
                          <a:solidFill>
                            <a:srgbClr val="3F6F52"/>
                          </a:solidFill>
                          <a:latin typeface="Pretendard" pitchFamily="34" charset="0"/>
                          <a:ea typeface="Pretendard" pitchFamily="34" charset="-122"/>
                          <a:cs typeface="Pretendard" pitchFamily="34" charset="-120"/>
                        </a:rPr>
                        <a:t>± 0.30</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342900">
                <a:tc>
                  <a:txBody>
                    <a:bodyPr/>
                    <a:lstStyle/>
                    <a:p>
                      <a:pPr indent="0" marL="0">
                        <a:buNone/>
                      </a:pPr>
                      <a:r>
                        <a:rPr lang="en-US" sz="1200" dirty="0">
                          <a:solidFill>
                            <a:srgbClr val="1B2535"/>
                          </a:solidFill>
                          <a:latin typeface="Pretendard" pitchFamily="34" charset="0"/>
                          <a:ea typeface="Pretendard" pitchFamily="34" charset="-122"/>
                          <a:cs typeface="Pretendard" pitchFamily="34" charset="-120"/>
                        </a:rPr>
                        <a:t>ACI</a:t>
                      </a:r>
                      <a:endParaRPr lang="en-US" sz="1200" dirty="0">
                        <a:latin typeface="Pretendard" charset="0"/>
                        <a:ea typeface="Pretendard" charset="0"/>
                        <a:cs typeface="Pretendard" charset="0"/>
                      </a:endParaRPr>
                    </a:p>
                  </a:txBody>
                  <a:tcPr marL="0" marR="0" marT="57607" marB="576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200" dirty="0">
                          <a:solidFill>
                            <a:srgbClr val="44546A"/>
                          </a:solidFill>
                          <a:latin typeface="Pretendard" pitchFamily="34" charset="0"/>
                          <a:ea typeface="Pretendard" pitchFamily="34" charset="-122"/>
                          <a:cs typeface="Pretendard" pitchFamily="34" charset="-120"/>
                        </a:rPr>
                        <a:t>After-cut inspection</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dirty="0">
                          <a:solidFill>
                            <a:srgbClr val="1B2535"/>
                          </a:solidFill>
                          <a:latin typeface="Pretendard" pitchFamily="34" charset="0"/>
                          <a:ea typeface="Pretendard" pitchFamily="34" charset="-122"/>
                          <a:cs typeface="Pretendard" pitchFamily="34" charset="-120"/>
                        </a:rPr>
                        <a:t>9.70</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200" dirty="0">
                          <a:solidFill>
                            <a:srgbClr val="3F6F52"/>
                          </a:solidFill>
                          <a:latin typeface="Pretendard" pitchFamily="34" charset="0"/>
                          <a:ea typeface="Pretendard" pitchFamily="34" charset="-122"/>
                          <a:cs typeface="Pretendard" pitchFamily="34" charset="-120"/>
                        </a:rPr>
                        <a:t>± 0.30</a:t>
                      </a:r>
                      <a:endParaRPr lang="en-US" sz="1200"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9" name="Text 22"/>
          <p:cNvSpPr txBox="1"/>
          <p:nvPr/>
        </p:nvSpPr>
        <p:spPr>
          <a:xfrm>
            <a:off x="9753905" y="4895698"/>
            <a:ext cx="762610" cy="762610"/>
          </a:xfrm>
          <a:prstGeom prst="rect">
            <a:avLst/>
          </a:prstGeom>
          <a:noFill/>
          <a:ln/>
        </p:spPr>
        <p:txBody>
          <a:bodyPr wrap="square" lIns="0" tIns="0" rIns="0" bIns="0" rtlCol="0" anchor="ctr"/>
          <a:lstStyle/>
          <a:p>
            <a:pPr algn="ctr" indent="0" marL="0">
              <a:lnSpc>
                <a:spcPts val="3000"/>
              </a:lnSpc>
              <a:buNone/>
            </a:pPr>
            <a:r>
              <a:rPr lang="en-US" sz="1350" b="1" spc="243" kern="0" dirty="0">
                <a:solidFill>
                  <a:srgbClr val="FFFFFF"/>
                </a:solidFill>
                <a:latin typeface="Pretendard" pitchFamily="34" charset="0"/>
                <a:ea typeface="Pretendard" pitchFamily="34" charset="-122"/>
                <a:cs typeface="Pretendard" pitchFamily="34" charset="-120"/>
              </a:rPr>
              <a:t>SPLIT A</a:t>
            </a:r>
            <a:endParaRPr lang="en-US" sz="1350" dirty="0"/>
          </a:p>
        </p:txBody>
      </p:sp>
      <p:sp>
        <p:nvSpPr>
          <p:cNvPr id="30" name="Text 23"/>
          <p:cNvSpPr txBox="1"/>
          <p:nvPr/>
        </p:nvSpPr>
        <p:spPr>
          <a:xfrm>
            <a:off x="10705795" y="4953305"/>
            <a:ext cx="6858000" cy="277063"/>
          </a:xfrm>
          <a:prstGeom prst="rect">
            <a:avLst/>
          </a:prstGeom>
          <a:noFill/>
          <a:ln/>
        </p:spPr>
        <p:txBody>
          <a:bodyPr wrap="none" lIns="0" tIns="0" rIns="0" bIns="0" rtlCol="0" anchor="ctr"/>
          <a:lstStyle/>
          <a:p>
            <a:pPr algn="l" indent="0" marL="0">
              <a:buNone/>
            </a:pPr>
            <a:r>
              <a:rPr lang="en-US" sz="1500" b="1" dirty="0">
                <a:solidFill>
                  <a:srgbClr val="2E6F8E"/>
                </a:solidFill>
                <a:latin typeface="Pretendard" pitchFamily="34" charset="0"/>
                <a:ea typeface="Pretendard" pitchFamily="34" charset="-122"/>
                <a:cs typeface="Pretendard" pitchFamily="34" charset="-120"/>
              </a:rPr>
              <a:t>TiN baseline (단일 MHM)</a:t>
            </a:r>
            <a:endParaRPr lang="en-US" sz="1500" dirty="0"/>
          </a:p>
        </p:txBody>
      </p:sp>
      <p:sp>
        <p:nvSpPr>
          <p:cNvPr id="31" name="Text 24"/>
          <p:cNvSpPr txBox="1"/>
          <p:nvPr/>
        </p:nvSpPr>
        <p:spPr>
          <a:xfrm>
            <a:off x="10705795" y="5286146"/>
            <a:ext cx="6989674" cy="219456"/>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30 nm PVD TiN / Cl 기반 RIE / polymer 억제 가스 혼합 / 목표 etch selectivity 6.0 이상</a:t>
            </a:r>
            <a:endParaRPr lang="en-US" sz="1125" dirty="0"/>
          </a:p>
        </p:txBody>
      </p:sp>
      <p:sp>
        <p:nvSpPr>
          <p:cNvPr id="32" name="Text 25"/>
          <p:cNvSpPr txBox="1"/>
          <p:nvPr/>
        </p:nvSpPr>
        <p:spPr>
          <a:xfrm>
            <a:off x="9753905" y="5562295"/>
            <a:ext cx="8001000" cy="219456"/>
          </a:xfrm>
          <a:prstGeom prst="rect">
            <a:avLst/>
          </a:prstGeom>
          <a:noFill/>
          <a:ln/>
        </p:spPr>
        <p:txBody>
          <a:bodyPr wrap="none" lIns="0" tIns="0" rIns="0" bIns="0" rtlCol="0" anchor="ctr"/>
          <a:lstStyle/>
          <a:p>
            <a:pPr algn="l" indent="0" marL="0">
              <a:buNone/>
            </a:pPr>
            <a:r>
              <a:rPr lang="en-US" sz="1050" dirty="0">
                <a:solidFill>
                  <a:srgbClr val="7A8898"/>
                </a:solidFill>
                <a:latin typeface="Pretendard" pitchFamily="34" charset="0"/>
                <a:ea typeface="Pretendard" pitchFamily="34" charset="-122"/>
                <a:cs typeface="Pretendard" pitchFamily="34" charset="-120"/>
              </a:rPr>
              <a:t>wafer W01 · W02 · W03 — 3 매, Cl 화학계 / polymer-suppression 조건 변형 2종 비교</a:t>
            </a:r>
            <a:endParaRPr lang="en-US" sz="1050" dirty="0"/>
          </a:p>
        </p:txBody>
      </p:sp>
      <p:sp>
        <p:nvSpPr>
          <p:cNvPr id="33" name="Text 26"/>
          <p:cNvSpPr txBox="1"/>
          <p:nvPr/>
        </p:nvSpPr>
        <p:spPr>
          <a:xfrm>
            <a:off x="9753905" y="5886907"/>
            <a:ext cx="762610" cy="762610"/>
          </a:xfrm>
          <a:prstGeom prst="rect">
            <a:avLst/>
          </a:prstGeom>
          <a:noFill/>
          <a:ln/>
        </p:spPr>
        <p:txBody>
          <a:bodyPr wrap="square" lIns="0" tIns="0" rIns="0" bIns="0" rtlCol="0" anchor="ctr"/>
          <a:lstStyle/>
          <a:p>
            <a:pPr algn="ctr" indent="0" marL="0">
              <a:lnSpc>
                <a:spcPts val="3000"/>
              </a:lnSpc>
              <a:buNone/>
            </a:pPr>
            <a:r>
              <a:rPr lang="en-US" sz="1350" b="1" spc="243" kern="0" dirty="0">
                <a:solidFill>
                  <a:srgbClr val="FFFFFF"/>
                </a:solidFill>
                <a:latin typeface="Pretendard" pitchFamily="34" charset="0"/>
                <a:ea typeface="Pretendard" pitchFamily="34" charset="-122"/>
                <a:cs typeface="Pretendard" pitchFamily="34" charset="-120"/>
              </a:rPr>
              <a:t>SPLIT B</a:t>
            </a:r>
            <a:endParaRPr lang="en-US" sz="1350" dirty="0"/>
          </a:p>
        </p:txBody>
      </p:sp>
      <p:sp>
        <p:nvSpPr>
          <p:cNvPr id="34" name="Text 27"/>
          <p:cNvSpPr txBox="1"/>
          <p:nvPr/>
        </p:nvSpPr>
        <p:spPr>
          <a:xfrm>
            <a:off x="10705795" y="5943600"/>
            <a:ext cx="6858000" cy="277063"/>
          </a:xfrm>
          <a:prstGeom prst="rect">
            <a:avLst/>
          </a:prstGeom>
          <a:noFill/>
          <a:ln/>
        </p:spPr>
        <p:txBody>
          <a:bodyPr wrap="none" lIns="0" tIns="0" rIns="0" bIns="0" rtlCol="0" anchor="ctr"/>
          <a:lstStyle/>
          <a:p>
            <a:pPr algn="l" indent="0" marL="0">
              <a:buNone/>
            </a:pPr>
            <a:r>
              <a:rPr lang="en-US" sz="1500" b="1" dirty="0">
                <a:solidFill>
                  <a:srgbClr val="C8552D"/>
                </a:solidFill>
                <a:latin typeface="Pretendard" pitchFamily="34" charset="0"/>
                <a:ea typeface="Pretendard" pitchFamily="34" charset="-122"/>
                <a:cs typeface="Pretendard" pitchFamily="34" charset="-120"/>
              </a:rPr>
              <a:t>a-C / SiN 적층 하드마스크</a:t>
            </a:r>
            <a:endParaRPr lang="en-US" sz="1500" dirty="0"/>
          </a:p>
        </p:txBody>
      </p:sp>
      <p:sp>
        <p:nvSpPr>
          <p:cNvPr id="35" name="Text 28"/>
          <p:cNvSpPr txBox="1"/>
          <p:nvPr/>
        </p:nvSpPr>
        <p:spPr>
          <a:xfrm>
            <a:off x="10705795" y="6277356"/>
            <a:ext cx="6858000" cy="219456"/>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a-C 20 nm / SiN 30 nm 이중 적층 / 동일 Cl 기반 RIE / sacrificial pad 겸용 via 정렬</a:t>
            </a:r>
            <a:endParaRPr lang="en-US" sz="1125" dirty="0"/>
          </a:p>
        </p:txBody>
      </p:sp>
      <p:sp>
        <p:nvSpPr>
          <p:cNvPr id="36" name="Text 29"/>
          <p:cNvSpPr txBox="1"/>
          <p:nvPr/>
        </p:nvSpPr>
        <p:spPr>
          <a:xfrm>
            <a:off x="9753905" y="6553505"/>
            <a:ext cx="8001000" cy="219456"/>
          </a:xfrm>
          <a:prstGeom prst="rect">
            <a:avLst/>
          </a:prstGeom>
          <a:noFill/>
          <a:ln/>
        </p:spPr>
        <p:txBody>
          <a:bodyPr wrap="none" lIns="0" tIns="0" rIns="0" bIns="0" rtlCol="0" anchor="ctr"/>
          <a:lstStyle/>
          <a:p>
            <a:pPr algn="l" indent="0" marL="0">
              <a:buNone/>
            </a:pPr>
            <a:r>
              <a:rPr lang="en-US" sz="1050" dirty="0">
                <a:solidFill>
                  <a:srgbClr val="7A8898"/>
                </a:solidFill>
                <a:latin typeface="Pretendard" pitchFamily="34" charset="0"/>
                <a:ea typeface="Pretendard" pitchFamily="34" charset="-122"/>
                <a:cs typeface="Pretendard" pitchFamily="34" charset="-120"/>
              </a:rPr>
              <a:t>wafer W04 · W05 · W06 — 3 매, Ru 메탈리제이션 호환성까지 동시 평가</a:t>
            </a:r>
            <a:endParaRPr lang="en-US" sz="1050" dirty="0"/>
          </a:p>
        </p:txBody>
      </p:sp>
      <p:sp>
        <p:nvSpPr>
          <p:cNvPr id="37" name="Text 30"/>
          <p:cNvSpPr txBox="1"/>
          <p:nvPr/>
        </p:nvSpPr>
        <p:spPr>
          <a:xfrm>
            <a:off x="857707" y="7258507"/>
            <a:ext cx="8001000" cy="181051"/>
          </a:xfrm>
          <a:prstGeom prst="rect">
            <a:avLst/>
          </a:prstGeom>
          <a:noFill/>
          <a:ln/>
        </p:spPr>
        <p:txBody>
          <a:bodyPr wrap="none" lIns="0" tIns="0" rIns="0" bIns="0" rtlCol="0" anchor="ctr"/>
          <a:lstStyle/>
          <a:p>
            <a:pPr algn="l" indent="0" marL="0">
              <a:buNone/>
            </a:pPr>
            <a:r>
              <a:rPr lang="en-US" sz="975" b="1" spc="273" kern="0" dirty="0">
                <a:solidFill>
                  <a:srgbClr val="2E6F8E"/>
                </a:solidFill>
                <a:latin typeface="Pretendard" pitchFamily="34" charset="0"/>
                <a:ea typeface="Pretendard" pitchFamily="34" charset="-122"/>
                <a:cs typeface="Pretendard" pitchFamily="34" charset="-120"/>
              </a:rPr>
              <a:t>03 — EVALUATION SCOPE</a:t>
            </a:r>
            <a:endParaRPr lang="en-US" sz="975" dirty="0"/>
          </a:p>
        </p:txBody>
      </p:sp>
      <p:sp>
        <p:nvSpPr>
          <p:cNvPr id="38" name="Text 31"/>
          <p:cNvSpPr txBox="1"/>
          <p:nvPr/>
        </p:nvSpPr>
        <p:spPr>
          <a:xfrm>
            <a:off x="857707" y="7572146"/>
            <a:ext cx="8001000"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평가지표 4종</a:t>
            </a:r>
            <a:endParaRPr lang="en-US" sz="1650" dirty="0"/>
          </a:p>
        </p:txBody>
      </p:sp>
      <p:sp>
        <p:nvSpPr>
          <p:cNvPr id="39" name="Text 32"/>
          <p:cNvSpPr txBox="1"/>
          <p:nvPr/>
        </p:nvSpPr>
        <p:spPr>
          <a:xfrm>
            <a:off x="857707" y="8010144"/>
            <a:ext cx="3848710" cy="210312"/>
          </a:xfrm>
          <a:prstGeom prst="rect">
            <a:avLst/>
          </a:prstGeom>
          <a:noFill/>
          <a:ln/>
        </p:spPr>
        <p:txBody>
          <a:bodyPr wrap="none" lIns="0" tIns="0" rIns="0" bIns="0" rtlCol="0" anchor="ctr"/>
          <a:lstStyle/>
          <a:p>
            <a:pPr algn="l" indent="0" marL="0">
              <a:buNone/>
            </a:pPr>
            <a:r>
              <a:rPr lang="en-US" sz="1050" dirty="0">
                <a:solidFill>
                  <a:srgbClr val="44546A"/>
                </a:solidFill>
                <a:latin typeface="Pretendard" pitchFamily="34" charset="0"/>
                <a:ea typeface="Pretendard" pitchFamily="34" charset="-122"/>
                <a:cs typeface="Pretendard" pitchFamily="34" charset="-120"/>
              </a:rPr>
              <a:t>· 식각 프로파일 SEM 단면 분석 (TiN vs a-C/SiN)</a:t>
            </a:r>
            <a:endParaRPr lang="en-US" sz="1050" dirty="0"/>
          </a:p>
        </p:txBody>
      </p:sp>
      <p:sp>
        <p:nvSpPr>
          <p:cNvPr id="40" name="Text 33"/>
          <p:cNvSpPr txBox="1"/>
          <p:nvPr/>
        </p:nvSpPr>
        <p:spPr>
          <a:xfrm>
            <a:off x="5009998" y="8010144"/>
            <a:ext cx="3848710" cy="210312"/>
          </a:xfrm>
          <a:prstGeom prst="rect">
            <a:avLst/>
          </a:prstGeom>
          <a:noFill/>
          <a:ln/>
        </p:spPr>
        <p:txBody>
          <a:bodyPr wrap="none" lIns="0" tIns="0" rIns="0" bIns="0" rtlCol="0" anchor="ctr"/>
          <a:lstStyle/>
          <a:p>
            <a:pPr algn="l" indent="0" marL="0">
              <a:buNone/>
            </a:pPr>
            <a:r>
              <a:rPr lang="en-US" sz="1050" dirty="0">
                <a:solidFill>
                  <a:srgbClr val="44546A"/>
                </a:solidFill>
                <a:latin typeface="Pretendard" pitchFamily="34" charset="0"/>
                <a:ea typeface="Pretendard" pitchFamily="34" charset="-122"/>
                <a:cs typeface="Pretendard" pitchFamily="34" charset="-120"/>
              </a:rPr>
              <a:t>· 식각 단면 TEM 측정 — profile bowing 정량화</a:t>
            </a:r>
            <a:endParaRPr lang="en-US" sz="1050" dirty="0"/>
          </a:p>
        </p:txBody>
      </p:sp>
      <p:sp>
        <p:nvSpPr>
          <p:cNvPr id="41" name="Text 34"/>
          <p:cNvSpPr txBox="1"/>
          <p:nvPr/>
        </p:nvSpPr>
        <p:spPr>
          <a:xfrm>
            <a:off x="857707" y="8350301"/>
            <a:ext cx="3848710" cy="210312"/>
          </a:xfrm>
          <a:prstGeom prst="rect">
            <a:avLst/>
          </a:prstGeom>
          <a:noFill/>
          <a:ln/>
        </p:spPr>
        <p:txBody>
          <a:bodyPr wrap="none" lIns="0" tIns="0" rIns="0" bIns="0" rtlCol="0" anchor="ctr"/>
          <a:lstStyle/>
          <a:p>
            <a:pPr algn="l" indent="0" marL="0">
              <a:buNone/>
            </a:pPr>
            <a:r>
              <a:rPr lang="en-US" sz="1050" dirty="0">
                <a:solidFill>
                  <a:srgbClr val="44546A"/>
                </a:solidFill>
                <a:latin typeface="Pretendard" pitchFamily="34" charset="0"/>
                <a:ea typeface="Pretendard" pitchFamily="34" charset="-122"/>
                <a:cs typeface="Pretendard" pitchFamily="34" charset="-120"/>
              </a:rPr>
              <a:t>· CD variation (AASI/ASEI/AMI/ACI 4 metric)</a:t>
            </a:r>
            <a:endParaRPr lang="en-US" sz="1050" dirty="0"/>
          </a:p>
        </p:txBody>
      </p:sp>
      <p:sp>
        <p:nvSpPr>
          <p:cNvPr id="42" name="Text 35"/>
          <p:cNvSpPr txBox="1"/>
          <p:nvPr/>
        </p:nvSpPr>
        <p:spPr>
          <a:xfrm>
            <a:off x="5009998" y="8350301"/>
            <a:ext cx="3848710" cy="210312"/>
          </a:xfrm>
          <a:prstGeom prst="rect">
            <a:avLst/>
          </a:prstGeom>
          <a:noFill/>
          <a:ln/>
        </p:spPr>
        <p:txBody>
          <a:bodyPr wrap="none" lIns="0" tIns="0" rIns="0" bIns="0" rtlCol="0" anchor="ctr"/>
          <a:lstStyle/>
          <a:p>
            <a:pPr algn="l" indent="0" marL="0">
              <a:buNone/>
            </a:pPr>
            <a:r>
              <a:rPr lang="en-US" sz="1050" dirty="0">
                <a:solidFill>
                  <a:srgbClr val="44546A"/>
                </a:solidFill>
                <a:latin typeface="Pretendard" pitchFamily="34" charset="0"/>
                <a:ea typeface="Pretendard" pitchFamily="34" charset="-122"/>
                <a:cs typeface="Pretendard" pitchFamily="34" charset="-120"/>
              </a:rPr>
              <a:t>· In-wafer uniformity (5×5 wafer map)</a:t>
            </a:r>
            <a:endParaRPr lang="en-US" sz="1050" dirty="0"/>
          </a:p>
        </p:txBody>
      </p:sp>
      <p:sp>
        <p:nvSpPr>
          <p:cNvPr id="43" name="Text 36"/>
          <p:cNvSpPr txBox="1"/>
          <p:nvPr/>
        </p:nvSpPr>
        <p:spPr>
          <a:xfrm>
            <a:off x="857707" y="8690458"/>
            <a:ext cx="3848710" cy="210312"/>
          </a:xfrm>
          <a:prstGeom prst="rect">
            <a:avLst/>
          </a:prstGeom>
          <a:noFill/>
          <a:ln/>
        </p:spPr>
        <p:txBody>
          <a:bodyPr wrap="none" lIns="0" tIns="0" rIns="0" bIns="0" rtlCol="0" anchor="ctr"/>
          <a:lstStyle/>
          <a:p>
            <a:pPr algn="l" indent="0" marL="0">
              <a:buNone/>
            </a:pPr>
            <a:r>
              <a:rPr lang="en-US" sz="1050" dirty="0">
                <a:solidFill>
                  <a:srgbClr val="44546A"/>
                </a:solidFill>
                <a:latin typeface="Pretendard" pitchFamily="34" charset="0"/>
                <a:ea typeface="Pretendard" pitchFamily="34" charset="-122"/>
                <a:cs typeface="Pretendard" pitchFamily="34" charset="-120"/>
              </a:rPr>
              <a:t>· 전기특성 Rs / Rline / C / Ileak 탭</a:t>
            </a:r>
            <a:endParaRPr lang="en-US" sz="1050" dirty="0"/>
          </a:p>
        </p:txBody>
      </p:sp>
      <p:sp>
        <p:nvSpPr>
          <p:cNvPr id="44" name="Text 37"/>
          <p:cNvSpPr txBox="1"/>
          <p:nvPr/>
        </p:nvSpPr>
        <p:spPr>
          <a:xfrm>
            <a:off x="5009998" y="8690458"/>
            <a:ext cx="3848710" cy="210312"/>
          </a:xfrm>
          <a:prstGeom prst="rect">
            <a:avLst/>
          </a:prstGeom>
          <a:noFill/>
          <a:ln/>
        </p:spPr>
        <p:txBody>
          <a:bodyPr wrap="none" lIns="0" tIns="0" rIns="0" bIns="0" rtlCol="0" anchor="ctr"/>
          <a:lstStyle/>
          <a:p>
            <a:pPr algn="l" indent="0" marL="0">
              <a:buNone/>
            </a:pPr>
            <a:r>
              <a:rPr lang="en-US" sz="1050" dirty="0">
                <a:solidFill>
                  <a:srgbClr val="44546A"/>
                </a:solidFill>
                <a:latin typeface="Pretendard" pitchFamily="34" charset="0"/>
                <a:ea typeface="Pretendard" pitchFamily="34" charset="-122"/>
                <a:cs typeface="Pretendard" pitchFamily="34" charset="-120"/>
              </a:rPr>
              <a:t>· 휨(Wiggling) 임계 pitch 측정</a:t>
            </a:r>
            <a:endParaRPr lang="en-US" sz="1050" dirty="0"/>
          </a:p>
        </p:txBody>
      </p:sp>
      <p:sp>
        <p:nvSpPr>
          <p:cNvPr id="45" name="Text 38"/>
          <p:cNvSpPr txBox="1"/>
          <p:nvPr/>
        </p:nvSpPr>
        <p:spPr>
          <a:xfrm>
            <a:off x="800100" y="9315907"/>
            <a:ext cx="16193110" cy="228600"/>
          </a:xfrm>
          <a:prstGeom prst="rect">
            <a:avLst/>
          </a:prstGeom>
          <a:noFill/>
          <a:ln/>
        </p:spPr>
        <p:txBody>
          <a:bodyPr wrap="none" lIns="0" tIns="0" rIns="0" bIns="0" rtlCol="0" anchor="ctr"/>
          <a:lstStyle/>
          <a:p>
            <a:pPr algn="l" indent="0" marL="0">
              <a:buNone/>
            </a:pPr>
            <a:r>
              <a:rPr lang="en-US" sz="900" spc="24" kern="0" dirty="0">
                <a:solidFill>
                  <a:srgbClr val="FFFFFF"/>
                </a:solidFill>
                <a:latin typeface="Pretendard" pitchFamily="34" charset="0"/>
                <a:ea typeface="Pretendard" pitchFamily="34" charset="-122"/>
                <a:cs typeface="Pretendard" pitchFamily="34" charset="-120"/>
              </a:rPr>
              <a:t>KEY TAKEAWAY</a:t>
            </a:r>
            <a:pPr algn="l" indent="0" marL="0">
              <a:buNone/>
            </a:pPr>
            <a:r>
              <a:rPr lang="en-US" sz="1200" spc="24" kern="0" dirty="0">
                <a:solidFill>
                  <a:srgbClr val="FFFFFF"/>
                </a:solidFill>
                <a:latin typeface="Pretendard" pitchFamily="34" charset="0"/>
                <a:ea typeface="Pretendard" pitchFamily="34" charset="-122"/>
                <a:cs typeface="Pretendard" pitchFamily="34" charset="-120"/>
              </a:rPr>
              <a:t> 동일 M2 레이어에서 하드마스크 스택 1 인자만 분기해 단일 변수 비교로 진행 — 모든 결과는 가상 데이터.</a:t>
            </a:r>
            <a:endParaRPr lang="en-US" sz="1200" dirty="0"/>
          </a:p>
        </p:txBody>
      </p:sp>
      <p:sp>
        <p:nvSpPr>
          <p:cNvPr id="46" name="Text 39"/>
          <p:cNvSpPr txBox="1"/>
          <p:nvPr/>
        </p:nvSpPr>
        <p:spPr>
          <a:xfrm>
            <a:off x="571500" y="9924898"/>
            <a:ext cx="11430000" cy="181051"/>
          </a:xfrm>
          <a:prstGeom prst="rect">
            <a:avLst/>
          </a:prstGeom>
          <a:noFill/>
          <a:ln/>
        </p:spPr>
        <p:txBody>
          <a:bodyPr wrap="none" lIns="0" tIns="0" rIns="0" bIns="0" rtlCol="0" anchor="ctr"/>
          <a:lstStyle/>
          <a:p>
            <a:pPr algn="l" indent="0" marL="0">
              <a:buNone/>
            </a:pPr>
            <a:r>
              <a:rPr lang="en-US" sz="975" spc="39" kern="0" dirty="0">
                <a:solidFill>
                  <a:srgbClr val="7A8898"/>
                </a:solidFill>
                <a:latin typeface="Pretendard" pitchFamily="34" charset="0"/>
                <a:ea typeface="Pretendard" pitchFamily="34" charset="-122"/>
                <a:cs typeface="Pretendard" pitchFamily="34" charset="-120"/>
              </a:rPr>
              <a:t>※ 내부 테스트용 더미(가상) 데이터 — 본 보고서 수치는 실제 제품/공정과 무관함</a:t>
            </a:r>
            <a:endParaRPr lang="en-US" sz="975" dirty="0"/>
          </a:p>
        </p:txBody>
      </p:sp>
      <p:sp>
        <p:nvSpPr>
          <p:cNvPr id="47" name="Text 40"/>
          <p:cNvSpPr txBox="1"/>
          <p:nvPr/>
        </p:nvSpPr>
        <p:spPr>
          <a:xfrm>
            <a:off x="14287500" y="9924898"/>
            <a:ext cx="3429000" cy="181051"/>
          </a:xfrm>
          <a:prstGeom prst="rect">
            <a:avLst/>
          </a:prstGeom>
          <a:noFill/>
          <a:ln/>
        </p:spPr>
        <p:txBody>
          <a:bodyPr wrap="none" lIns="0" tIns="0" rIns="0" bIns="0" rtlCol="0" anchor="ctr"/>
          <a:lstStyle/>
          <a:p>
            <a:pPr algn="r" indent="0" marL="0">
              <a:buNone/>
            </a:pPr>
            <a:r>
              <a:rPr lang="en-US" sz="975" dirty="0">
                <a:solidFill>
                  <a:srgbClr val="7A8898"/>
                </a:solidFill>
                <a:latin typeface="Pretendard" pitchFamily="34" charset="0"/>
                <a:ea typeface="Pretendard" pitchFamily="34" charset="-122"/>
                <a:cs typeface="Pretendard" pitchFamily="34" charset="-120"/>
              </a:rPr>
              <a:t>01 / 09 · EUV-BEOL-DUMMY</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BEEF2"/>
        </a:solidFill>
      </p:bgPr>
    </p:bg>
    <p:spTree>
      <p:nvGrpSpPr>
        <p:cNvPr id="1" name=""/>
        <p:cNvGrpSpPr/>
        <p:nvPr/>
      </p:nvGrpSpPr>
      <p:grpSpPr>
        <a:xfrm>
          <a:off x="0" y="0"/>
          <a:ext cx="0" cy="0"/>
          <a:chOff x="0" y="0"/>
          <a:chExt cx="0" cy="0"/>
        </a:xfrm>
      </p:grpSpPr>
      <p:sp>
        <p:nvSpPr>
          <p:cNvPr id="3" name="Shape 0"/>
          <p:cNvSpPr/>
          <p:nvPr/>
        </p:nvSpPr>
        <p:spPr>
          <a:xfrm>
            <a:off x="0" y="0"/>
            <a:ext cx="18288000" cy="1123798"/>
          </a:xfrm>
          <a:prstGeom prst="rect">
            <a:avLst/>
          </a:prstGeom>
          <a:solidFill>
            <a:srgbClr val="FFFFFF"/>
          </a:solidFill>
          <a:ln/>
        </p:spPr>
      </p:sp>
      <p:sp>
        <p:nvSpPr>
          <p:cNvPr id="4" name="Shape 1"/>
          <p:cNvSpPr/>
          <p:nvPr/>
        </p:nvSpPr>
        <p:spPr>
          <a:xfrm>
            <a:off x="0" y="1114654"/>
            <a:ext cx="18288000" cy="9144"/>
          </a:xfrm>
          <a:prstGeom prst="rect">
            <a:avLst/>
          </a:prstGeom>
          <a:solidFill>
            <a:srgbClr val="C8CED6"/>
          </a:solidFill>
          <a:ln w="12700">
            <a:solidFill>
              <a:srgbClr val="C8CED6">
                <a:alpha val="0"/>
              </a:srgbClr>
            </a:solidFill>
            <a:prstDash val="solid"/>
          </a:ln>
        </p:spPr>
      </p:sp>
      <p:sp>
        <p:nvSpPr>
          <p:cNvPr id="5" name="Shape 2"/>
          <p:cNvSpPr/>
          <p:nvPr/>
        </p:nvSpPr>
        <p:spPr>
          <a:xfrm>
            <a:off x="571500" y="1619402"/>
            <a:ext cx="17145000" cy="4953305"/>
          </a:xfrm>
          <a:prstGeom prst="rect">
            <a:avLst/>
          </a:prstGeom>
          <a:solidFill>
            <a:srgbClr val="FFFFFF"/>
          </a:solidFill>
          <a:ln w="12700">
            <a:solidFill>
              <a:srgbClr val="C8CED6"/>
            </a:solidFill>
            <a:prstDash val="solid"/>
          </a:ln>
        </p:spPr>
      </p:sp>
      <p:sp>
        <p:nvSpPr>
          <p:cNvPr id="6" name="Shape 3"/>
          <p:cNvSpPr/>
          <p:nvPr/>
        </p:nvSpPr>
        <p:spPr>
          <a:xfrm>
            <a:off x="571500" y="6762902"/>
            <a:ext cx="5715000" cy="2190902"/>
          </a:xfrm>
          <a:prstGeom prst="rect">
            <a:avLst/>
          </a:prstGeom>
          <a:solidFill>
            <a:srgbClr val="FFFFFF"/>
          </a:solidFill>
          <a:ln w="12700">
            <a:solidFill>
              <a:srgbClr val="C8CED6"/>
            </a:solidFill>
            <a:prstDash val="solid"/>
          </a:ln>
        </p:spPr>
      </p:sp>
      <p:sp>
        <p:nvSpPr>
          <p:cNvPr id="7" name="Shape 4"/>
          <p:cNvSpPr/>
          <p:nvPr/>
        </p:nvSpPr>
        <p:spPr>
          <a:xfrm>
            <a:off x="6476695" y="6762902"/>
            <a:ext cx="5333695" cy="2190902"/>
          </a:xfrm>
          <a:prstGeom prst="rect">
            <a:avLst/>
          </a:prstGeom>
          <a:solidFill>
            <a:srgbClr val="FFFFFF"/>
          </a:solidFill>
          <a:ln w="12700">
            <a:solidFill>
              <a:srgbClr val="C8CED6"/>
            </a:solidFill>
            <a:prstDash val="solid"/>
          </a:ln>
        </p:spPr>
      </p:sp>
      <p:sp>
        <p:nvSpPr>
          <p:cNvPr id="8" name="Shape 5"/>
          <p:cNvSpPr/>
          <p:nvPr/>
        </p:nvSpPr>
        <p:spPr>
          <a:xfrm>
            <a:off x="12001500" y="6762902"/>
            <a:ext cx="5715000" cy="2190902"/>
          </a:xfrm>
          <a:prstGeom prst="rect">
            <a:avLst/>
          </a:prstGeom>
          <a:solidFill>
            <a:srgbClr val="FFFFFF"/>
          </a:solidFill>
          <a:ln w="12700">
            <a:solidFill>
              <a:srgbClr val="C8CED6"/>
            </a:solidFill>
            <a:prstDash val="solid"/>
          </a:ln>
        </p:spPr>
      </p:sp>
      <p:sp>
        <p:nvSpPr>
          <p:cNvPr id="9" name="Shape 6"/>
          <p:cNvSpPr/>
          <p:nvPr/>
        </p:nvSpPr>
        <p:spPr>
          <a:xfrm>
            <a:off x="12001500" y="6762902"/>
            <a:ext cx="57607" cy="2190902"/>
          </a:xfrm>
          <a:prstGeom prst="rect">
            <a:avLst/>
          </a:prstGeom>
          <a:solidFill>
            <a:srgbClr val="B47A1F"/>
          </a:solidFill>
          <a:ln w="12700">
            <a:solidFill>
              <a:srgbClr val="B47A1F">
                <a:alpha val="0"/>
              </a:srgbClr>
            </a:solidFill>
            <a:prstDash val="solid"/>
          </a:ln>
        </p:spPr>
      </p:sp>
      <p:pic>
        <p:nvPicPr>
          <p:cNvPr id="10" name="Image 0" descr="gen-dedup-74de5ec3332f686492655bfad531efc9.png">    </p:cNvPr>
          <p:cNvPicPr>
            <a:picLocks noChangeAspect="1"/>
          </p:cNvPicPr>
          <p:nvPr/>
        </p:nvPicPr>
        <p:blipFill>
          <a:blip r:embed="rId1"/>
          <a:srcRect l="-17" r="-17" t="0" b="0"/>
          <a:stretch/>
        </p:blipFill>
        <p:spPr>
          <a:xfrm>
            <a:off x="571500" y="9239098"/>
            <a:ext cx="17145000" cy="437998"/>
          </a:xfrm>
          <a:prstGeom prst="rect">
            <a:avLst/>
          </a:prstGeom>
        </p:spPr>
      </p:pic>
      <p:pic>
        <p:nvPicPr>
          <p:cNvPr id="11" name="Image 1" descr="gen-dedup-68bac70ffc575f7be58fcf62b0930262.png">    </p:cNvPr>
          <p:cNvPicPr>
            <a:picLocks noChangeAspect="1"/>
          </p:cNvPicPr>
          <p:nvPr/>
        </p:nvPicPr>
        <p:blipFill>
          <a:blip r:embed="rId2"/>
          <a:srcRect l="-2083" r="-2083" t="0" b="0"/>
          <a:stretch/>
        </p:blipFill>
        <p:spPr>
          <a:xfrm>
            <a:off x="0" y="9810598"/>
            <a:ext cx="18288000" cy="9144"/>
          </a:xfrm>
          <a:prstGeom prst="rect">
            <a:avLst/>
          </a:prstGeom>
        </p:spPr>
      </p:pic>
      <p:sp>
        <p:nvSpPr>
          <p:cNvPr id="12" name="Shape 7"/>
          <p:cNvSpPr/>
          <p:nvPr/>
        </p:nvSpPr>
        <p:spPr>
          <a:xfrm>
            <a:off x="800100" y="2286000"/>
            <a:ext cx="16687800" cy="4095598"/>
          </a:xfrm>
          <a:prstGeom prst="rect">
            <a:avLst/>
          </a:prstGeom>
          <a:solidFill>
            <a:srgbClr val="F7F9FB"/>
          </a:solidFill>
          <a:ln w="12700">
            <a:solidFill>
              <a:srgbClr val="D7DCE2"/>
            </a:solidFill>
            <a:prstDash val="solid"/>
          </a:ln>
        </p:spPr>
      </p:sp>
      <p:sp>
        <p:nvSpPr>
          <p:cNvPr id="13" name="Shape 8"/>
          <p:cNvSpPr/>
          <p:nvPr/>
        </p:nvSpPr>
        <p:spPr>
          <a:xfrm>
            <a:off x="800100" y="2800807"/>
            <a:ext cx="761695" cy="590702"/>
          </a:xfrm>
          <a:prstGeom prst="rect">
            <a:avLst/>
          </a:prstGeom>
          <a:solidFill>
            <a:srgbClr val="2E6F8E"/>
          </a:solidFill>
          <a:ln w="12700">
            <a:solidFill>
              <a:srgbClr val="FFFFFF">
                <a:alpha val="0"/>
              </a:srgbClr>
            </a:solidFill>
            <a:prstDash val="solid"/>
          </a:ln>
        </p:spPr>
      </p:sp>
      <p:pic>
        <p:nvPicPr>
          <p:cNvPr id="14" name="Image 2" descr="gen-dedup-57a33a2fa879216b46046b4686416b62.png">    </p:cNvPr>
          <p:cNvPicPr>
            <a:picLocks noChangeAspect="1"/>
          </p:cNvPicPr>
          <p:nvPr/>
        </p:nvPicPr>
        <p:blipFill>
          <a:blip r:embed="rId3"/>
          <a:srcRect l="-2083" r="-2083" t="0" b="0"/>
          <a:stretch/>
        </p:blipFill>
        <p:spPr>
          <a:xfrm>
            <a:off x="800100" y="3390595"/>
            <a:ext cx="16687800" cy="9144"/>
          </a:xfrm>
          <a:prstGeom prst="rect">
            <a:avLst/>
          </a:prstGeom>
        </p:spPr>
      </p:pic>
      <p:sp>
        <p:nvSpPr>
          <p:cNvPr id="15" name="Shape 9"/>
          <p:cNvSpPr/>
          <p:nvPr/>
        </p:nvSpPr>
        <p:spPr>
          <a:xfrm>
            <a:off x="800100" y="3400654"/>
            <a:ext cx="761695" cy="590702"/>
          </a:xfrm>
          <a:prstGeom prst="rect">
            <a:avLst/>
          </a:prstGeom>
          <a:solidFill>
            <a:srgbClr val="2E6F8E"/>
          </a:solidFill>
          <a:ln w="12700">
            <a:solidFill>
              <a:srgbClr val="FFFFFF">
                <a:alpha val="0"/>
              </a:srgbClr>
            </a:solidFill>
            <a:prstDash val="solid"/>
          </a:ln>
        </p:spPr>
      </p:sp>
      <p:pic>
        <p:nvPicPr>
          <p:cNvPr id="16" name="Image 3" descr="gen-dedup-57a33a2fa879216b46046b4686416b62.png">    </p:cNvPr>
          <p:cNvPicPr>
            <a:picLocks noChangeAspect="1"/>
          </p:cNvPicPr>
          <p:nvPr/>
        </p:nvPicPr>
        <p:blipFill>
          <a:blip r:embed="rId4"/>
          <a:srcRect l="-2083" r="-2083" t="0" b="0"/>
          <a:stretch/>
        </p:blipFill>
        <p:spPr>
          <a:xfrm>
            <a:off x="800100" y="3991356"/>
            <a:ext cx="16687800" cy="9144"/>
          </a:xfrm>
          <a:prstGeom prst="rect">
            <a:avLst/>
          </a:prstGeom>
        </p:spPr>
      </p:pic>
      <p:sp>
        <p:nvSpPr>
          <p:cNvPr id="17" name="Shape 10"/>
          <p:cNvSpPr/>
          <p:nvPr/>
        </p:nvSpPr>
        <p:spPr>
          <a:xfrm>
            <a:off x="800100" y="4000500"/>
            <a:ext cx="761695" cy="590702"/>
          </a:xfrm>
          <a:prstGeom prst="rect">
            <a:avLst/>
          </a:prstGeom>
          <a:solidFill>
            <a:srgbClr val="2E6F8E"/>
          </a:solidFill>
          <a:ln w="12700">
            <a:solidFill>
              <a:srgbClr val="FFFFFF">
                <a:alpha val="0"/>
              </a:srgbClr>
            </a:solidFill>
            <a:prstDash val="solid"/>
          </a:ln>
        </p:spPr>
      </p:sp>
      <p:pic>
        <p:nvPicPr>
          <p:cNvPr id="18" name="Image 4" descr="gen-dedup-57a33a2fa879216b46046b4686416b62.png">    </p:cNvPr>
          <p:cNvPicPr>
            <a:picLocks noChangeAspect="1"/>
          </p:cNvPicPr>
          <p:nvPr/>
        </p:nvPicPr>
        <p:blipFill>
          <a:blip r:embed="rId5"/>
          <a:srcRect l="-2083" r="-2083" t="0" b="0"/>
          <a:stretch/>
        </p:blipFill>
        <p:spPr>
          <a:xfrm>
            <a:off x="800100" y="4591202"/>
            <a:ext cx="16687800" cy="9144"/>
          </a:xfrm>
          <a:prstGeom prst="rect">
            <a:avLst/>
          </a:prstGeom>
        </p:spPr>
      </p:pic>
      <p:sp>
        <p:nvSpPr>
          <p:cNvPr id="19" name="Shape 11"/>
          <p:cNvSpPr/>
          <p:nvPr/>
        </p:nvSpPr>
        <p:spPr>
          <a:xfrm>
            <a:off x="800100" y="4600346"/>
            <a:ext cx="761695" cy="590702"/>
          </a:xfrm>
          <a:prstGeom prst="rect">
            <a:avLst/>
          </a:prstGeom>
          <a:solidFill>
            <a:srgbClr val="C8552D"/>
          </a:solidFill>
          <a:ln w="12700">
            <a:solidFill>
              <a:srgbClr val="FFFFFF">
                <a:alpha val="0"/>
              </a:srgbClr>
            </a:solidFill>
            <a:prstDash val="solid"/>
          </a:ln>
        </p:spPr>
      </p:sp>
      <p:pic>
        <p:nvPicPr>
          <p:cNvPr id="20" name="Image 5" descr="gen-dedup-57a33a2fa879216b46046b4686416b62.png">    </p:cNvPr>
          <p:cNvPicPr>
            <a:picLocks noChangeAspect="1"/>
          </p:cNvPicPr>
          <p:nvPr/>
        </p:nvPicPr>
        <p:blipFill>
          <a:blip r:embed="rId6"/>
          <a:srcRect l="-2083" r="-2083" t="0" b="0"/>
          <a:stretch/>
        </p:blipFill>
        <p:spPr>
          <a:xfrm>
            <a:off x="800100" y="5191049"/>
            <a:ext cx="16687800" cy="9144"/>
          </a:xfrm>
          <a:prstGeom prst="rect">
            <a:avLst/>
          </a:prstGeom>
        </p:spPr>
      </p:pic>
      <p:sp>
        <p:nvSpPr>
          <p:cNvPr id="21" name="Shape 12"/>
          <p:cNvSpPr/>
          <p:nvPr/>
        </p:nvSpPr>
        <p:spPr>
          <a:xfrm>
            <a:off x="800100" y="5201107"/>
            <a:ext cx="761695" cy="590702"/>
          </a:xfrm>
          <a:prstGeom prst="rect">
            <a:avLst/>
          </a:prstGeom>
          <a:solidFill>
            <a:srgbClr val="C8552D"/>
          </a:solidFill>
          <a:ln w="12700">
            <a:solidFill>
              <a:srgbClr val="FFFFFF">
                <a:alpha val="0"/>
              </a:srgbClr>
            </a:solidFill>
            <a:prstDash val="solid"/>
          </a:ln>
        </p:spPr>
      </p:sp>
      <p:pic>
        <p:nvPicPr>
          <p:cNvPr id="22" name="Image 6" descr="gen-dedup-57a33a2fa879216b46046b4686416b62.png">    </p:cNvPr>
          <p:cNvPicPr>
            <a:picLocks noChangeAspect="1"/>
          </p:cNvPicPr>
          <p:nvPr/>
        </p:nvPicPr>
        <p:blipFill>
          <a:blip r:embed="rId7"/>
          <a:srcRect l="-2083" r="-2083" t="0" b="0"/>
          <a:stretch/>
        </p:blipFill>
        <p:spPr>
          <a:xfrm>
            <a:off x="800100" y="5790895"/>
            <a:ext cx="16687800" cy="9144"/>
          </a:xfrm>
          <a:prstGeom prst="rect">
            <a:avLst/>
          </a:prstGeom>
        </p:spPr>
      </p:pic>
      <p:sp>
        <p:nvSpPr>
          <p:cNvPr id="23" name="Shape 13"/>
          <p:cNvSpPr/>
          <p:nvPr/>
        </p:nvSpPr>
        <p:spPr>
          <a:xfrm>
            <a:off x="800100" y="5800954"/>
            <a:ext cx="761695" cy="590702"/>
          </a:xfrm>
          <a:prstGeom prst="rect">
            <a:avLst/>
          </a:prstGeom>
          <a:solidFill>
            <a:srgbClr val="C8552D"/>
          </a:solidFill>
          <a:ln w="12700">
            <a:solidFill>
              <a:srgbClr val="FFFFFF">
                <a:alpha val="0"/>
              </a:srgbClr>
            </a:solidFill>
            <a:prstDash val="solid"/>
          </a:ln>
        </p:spPr>
      </p:sp>
      <p:sp>
        <p:nvSpPr>
          <p:cNvPr id="24" name="Shape 14"/>
          <p:cNvSpPr/>
          <p:nvPr/>
        </p:nvSpPr>
        <p:spPr>
          <a:xfrm>
            <a:off x="800100" y="2286000"/>
            <a:ext cx="16687800" cy="514807"/>
          </a:xfrm>
          <a:prstGeom prst="rect">
            <a:avLst/>
          </a:prstGeom>
          <a:solidFill>
            <a:srgbClr val="1B2535"/>
          </a:solidFill>
          <a:ln w="12700">
            <a:solidFill>
              <a:srgbClr val="FFFFFF">
                <a:alpha val="0"/>
              </a:srgbClr>
            </a:solidFill>
            <a:prstDash val="solid"/>
          </a:ln>
        </p:spPr>
      </p:sp>
      <p:sp>
        <p:nvSpPr>
          <p:cNvPr id="25" name="Text 15"/>
          <p:cNvSpPr txBox="1"/>
          <p:nvPr/>
        </p:nvSpPr>
        <p:spPr>
          <a:xfrm>
            <a:off x="2572207" y="2857500"/>
            <a:ext cx="2667305" cy="238658"/>
          </a:xfrm>
          <a:prstGeom prst="rect">
            <a:avLst/>
          </a:prstGeom>
          <a:noFill/>
          <a:ln/>
        </p:spPr>
        <p:txBody>
          <a:bodyPr wrap="none" lIns="0" tIns="0" rIns="0" bIns="0" rtlCol="0" anchor="ctr"/>
          <a:lstStyle/>
          <a:p>
            <a:pPr algn="l" indent="0" marL="0">
              <a:buNone/>
            </a:pPr>
            <a:r>
              <a:rPr lang="en-US" sz="1275" b="1" dirty="0">
                <a:solidFill>
                  <a:srgbClr val="1B2535"/>
                </a:solidFill>
                <a:latin typeface="Pretendard" pitchFamily="34" charset="0"/>
                <a:ea typeface="Pretendard" pitchFamily="34" charset="-122"/>
                <a:cs typeface="Pretendard" pitchFamily="34" charset="-120"/>
              </a:rPr>
              <a:t>TiN 30 nm</a:t>
            </a:r>
            <a:endParaRPr lang="en-US" sz="1275" dirty="0"/>
          </a:p>
        </p:txBody>
      </p:sp>
      <p:sp>
        <p:nvSpPr>
          <p:cNvPr id="26" name="Text 16"/>
          <p:cNvSpPr txBox="1"/>
          <p:nvPr/>
        </p:nvSpPr>
        <p:spPr>
          <a:xfrm>
            <a:off x="2572207" y="3133649"/>
            <a:ext cx="2667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단일 MHM</a:t>
            </a:r>
            <a:endParaRPr lang="en-US" sz="975" dirty="0"/>
          </a:p>
        </p:txBody>
      </p:sp>
      <p:sp>
        <p:nvSpPr>
          <p:cNvPr id="27" name="Text 17"/>
          <p:cNvSpPr txBox="1"/>
          <p:nvPr/>
        </p:nvSpPr>
        <p:spPr>
          <a:xfrm>
            <a:off x="5333695" y="2857500"/>
            <a:ext cx="2286000" cy="228600"/>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Cl₂ / BCl₃ 기준</a:t>
            </a:r>
            <a:endParaRPr lang="en-US" sz="1125" dirty="0"/>
          </a:p>
        </p:txBody>
      </p:sp>
      <p:sp>
        <p:nvSpPr>
          <p:cNvPr id="28" name="Text 18"/>
          <p:cNvSpPr txBox="1"/>
          <p:nvPr/>
        </p:nvSpPr>
        <p:spPr>
          <a:xfrm>
            <a:off x="5333695" y="3114446"/>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25 mTorr · 600 W</a:t>
            </a:r>
            <a:endParaRPr lang="en-US" sz="975" dirty="0"/>
          </a:p>
        </p:txBody>
      </p:sp>
      <p:sp>
        <p:nvSpPr>
          <p:cNvPr id="29" name="Text 19"/>
          <p:cNvSpPr txBox="1"/>
          <p:nvPr/>
        </p:nvSpPr>
        <p:spPr>
          <a:xfrm>
            <a:off x="7715707" y="2857500"/>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Reference clean</a:t>
            </a:r>
            <a:endParaRPr lang="en-US" sz="1125" dirty="0"/>
          </a:p>
        </p:txBody>
      </p:sp>
      <p:sp>
        <p:nvSpPr>
          <p:cNvPr id="30" name="Text 20"/>
          <p:cNvSpPr txBox="1"/>
          <p:nvPr/>
        </p:nvSpPr>
        <p:spPr>
          <a:xfrm>
            <a:off x="7715707" y="3086100"/>
            <a:ext cx="2286000" cy="200254"/>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Standard O₂ plasma</a:t>
            </a:r>
            <a:endParaRPr lang="en-US" sz="975" dirty="0"/>
          </a:p>
        </p:txBody>
      </p:sp>
      <p:sp>
        <p:nvSpPr>
          <p:cNvPr id="31" name="Text 21"/>
          <p:cNvSpPr txBox="1"/>
          <p:nvPr/>
        </p:nvSpPr>
        <p:spPr>
          <a:xfrm>
            <a:off x="10096805" y="2857500"/>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ΔD 0.0 / ΔF 0</a:t>
            </a:r>
            <a:endParaRPr lang="en-US" sz="1125" dirty="0"/>
          </a:p>
        </p:txBody>
      </p:sp>
      <p:sp>
        <p:nvSpPr>
          <p:cNvPr id="32" name="Text 22"/>
          <p:cNvSpPr txBox="1"/>
          <p:nvPr/>
        </p:nvSpPr>
        <p:spPr>
          <a:xfrm>
            <a:off x="10096805" y="3086100"/>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Nominal</a:t>
            </a:r>
            <a:endParaRPr lang="en-US" sz="975" dirty="0"/>
          </a:p>
        </p:txBody>
      </p:sp>
      <p:sp>
        <p:nvSpPr>
          <p:cNvPr id="33" name="Text 23"/>
          <p:cNvSpPr txBox="1"/>
          <p:nvPr/>
        </p:nvSpPr>
        <p:spPr>
          <a:xfrm>
            <a:off x="12477902" y="2857500"/>
            <a:ext cx="4858207" cy="210312"/>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기준 recipe baseline — polymer 누적 baseline</a:t>
            </a:r>
            <a:endParaRPr lang="en-US" sz="1125" dirty="0"/>
          </a:p>
        </p:txBody>
      </p:sp>
      <p:sp>
        <p:nvSpPr>
          <p:cNvPr id="34" name="Text 24"/>
          <p:cNvSpPr txBox="1"/>
          <p:nvPr/>
        </p:nvSpPr>
        <p:spPr>
          <a:xfrm>
            <a:off x="2572207" y="3457346"/>
            <a:ext cx="2667305" cy="238658"/>
          </a:xfrm>
          <a:prstGeom prst="rect">
            <a:avLst/>
          </a:prstGeom>
          <a:noFill/>
          <a:ln/>
        </p:spPr>
        <p:txBody>
          <a:bodyPr wrap="none" lIns="0" tIns="0" rIns="0" bIns="0" rtlCol="0" anchor="ctr"/>
          <a:lstStyle/>
          <a:p>
            <a:pPr algn="l" indent="0" marL="0">
              <a:buNone/>
            </a:pPr>
            <a:r>
              <a:rPr lang="en-US" sz="1275" b="1" dirty="0">
                <a:solidFill>
                  <a:srgbClr val="1B2535"/>
                </a:solidFill>
                <a:latin typeface="Pretendard" pitchFamily="34" charset="0"/>
                <a:ea typeface="Pretendard" pitchFamily="34" charset="-122"/>
                <a:cs typeface="Pretendard" pitchFamily="34" charset="-120"/>
              </a:rPr>
              <a:t>TiN 30 nm</a:t>
            </a:r>
            <a:endParaRPr lang="en-US" sz="1275" dirty="0"/>
          </a:p>
        </p:txBody>
      </p:sp>
      <p:sp>
        <p:nvSpPr>
          <p:cNvPr id="35" name="Text 25"/>
          <p:cNvSpPr txBox="1"/>
          <p:nvPr/>
        </p:nvSpPr>
        <p:spPr>
          <a:xfrm>
            <a:off x="2572207" y="3733495"/>
            <a:ext cx="2667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Tweak A — gas ratio</a:t>
            </a:r>
            <a:endParaRPr lang="en-US" sz="975" dirty="0"/>
          </a:p>
        </p:txBody>
      </p:sp>
      <p:sp>
        <p:nvSpPr>
          <p:cNvPr id="36" name="Text 26"/>
          <p:cNvSpPr txBox="1"/>
          <p:nvPr/>
        </p:nvSpPr>
        <p:spPr>
          <a:xfrm>
            <a:off x="5333695" y="3457346"/>
            <a:ext cx="2286000" cy="228600"/>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BCl₃ enriched 1.4×</a:t>
            </a:r>
            <a:endParaRPr lang="en-US" sz="1125" dirty="0"/>
          </a:p>
        </p:txBody>
      </p:sp>
      <p:sp>
        <p:nvSpPr>
          <p:cNvPr id="37" name="Text 27"/>
          <p:cNvSpPr txBox="1"/>
          <p:nvPr/>
        </p:nvSpPr>
        <p:spPr>
          <a:xfrm>
            <a:off x="5333695" y="3715207"/>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25 mTorr · 600 W</a:t>
            </a:r>
            <a:endParaRPr lang="en-US" sz="975" dirty="0"/>
          </a:p>
        </p:txBody>
      </p:sp>
      <p:sp>
        <p:nvSpPr>
          <p:cNvPr id="38" name="Text 28"/>
          <p:cNvSpPr txBox="1"/>
          <p:nvPr/>
        </p:nvSpPr>
        <p:spPr>
          <a:xfrm>
            <a:off x="7715707" y="3457346"/>
            <a:ext cx="2286000" cy="228600"/>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 N₂ post-etch flash</a:t>
            </a:r>
            <a:endParaRPr lang="en-US" sz="1125" dirty="0"/>
          </a:p>
        </p:txBody>
      </p:sp>
      <p:sp>
        <p:nvSpPr>
          <p:cNvPr id="39" name="Text 29"/>
          <p:cNvSpPr txBox="1"/>
          <p:nvPr/>
        </p:nvSpPr>
        <p:spPr>
          <a:xfrm>
            <a:off x="7715707" y="3715207"/>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Polymer suppression</a:t>
            </a:r>
            <a:endParaRPr lang="en-US" sz="975" dirty="0"/>
          </a:p>
        </p:txBody>
      </p:sp>
      <p:sp>
        <p:nvSpPr>
          <p:cNvPr id="40" name="Text 30"/>
          <p:cNvSpPr txBox="1"/>
          <p:nvPr/>
        </p:nvSpPr>
        <p:spPr>
          <a:xfrm>
            <a:off x="10096805" y="3457346"/>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ΔD +2 mJ · ΔF -10 nm</a:t>
            </a:r>
            <a:endParaRPr lang="en-US" sz="1125" dirty="0"/>
          </a:p>
        </p:txBody>
      </p:sp>
      <p:sp>
        <p:nvSpPr>
          <p:cNvPr id="41" name="Text 31"/>
          <p:cNvSpPr txBox="1"/>
          <p:nvPr/>
        </p:nvSpPr>
        <p:spPr>
          <a:xfrm>
            <a:off x="10096805" y="3685946"/>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Slight DOF margin</a:t>
            </a:r>
            <a:endParaRPr lang="en-US" sz="975" dirty="0"/>
          </a:p>
        </p:txBody>
      </p:sp>
      <p:sp>
        <p:nvSpPr>
          <p:cNvPr id="42" name="Text 32"/>
          <p:cNvSpPr txBox="1"/>
          <p:nvPr/>
        </p:nvSpPr>
        <p:spPr>
          <a:xfrm>
            <a:off x="12477902" y="3457346"/>
            <a:ext cx="4858207" cy="210312"/>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BCl₃ 비율 증가로 polymer 누적 저감 가능성 검증</a:t>
            </a:r>
            <a:endParaRPr lang="en-US" sz="1125" dirty="0"/>
          </a:p>
        </p:txBody>
      </p:sp>
      <p:sp>
        <p:nvSpPr>
          <p:cNvPr id="43" name="Text 33"/>
          <p:cNvSpPr txBox="1"/>
          <p:nvPr/>
        </p:nvSpPr>
        <p:spPr>
          <a:xfrm>
            <a:off x="2572207" y="4058107"/>
            <a:ext cx="2667305" cy="238658"/>
          </a:xfrm>
          <a:prstGeom prst="rect">
            <a:avLst/>
          </a:prstGeom>
          <a:noFill/>
          <a:ln/>
        </p:spPr>
        <p:txBody>
          <a:bodyPr wrap="none" lIns="0" tIns="0" rIns="0" bIns="0" rtlCol="0" anchor="ctr"/>
          <a:lstStyle/>
          <a:p>
            <a:pPr algn="l" indent="0" marL="0">
              <a:buNone/>
            </a:pPr>
            <a:r>
              <a:rPr lang="en-US" sz="1275" b="1" dirty="0">
                <a:solidFill>
                  <a:srgbClr val="1B2535"/>
                </a:solidFill>
                <a:latin typeface="Pretendard" pitchFamily="34" charset="0"/>
                <a:ea typeface="Pretendard" pitchFamily="34" charset="-122"/>
                <a:cs typeface="Pretendard" pitchFamily="34" charset="-120"/>
              </a:rPr>
              <a:t>TiN 30 nm</a:t>
            </a:r>
            <a:endParaRPr lang="en-US" sz="1275" dirty="0"/>
          </a:p>
        </p:txBody>
      </p:sp>
      <p:sp>
        <p:nvSpPr>
          <p:cNvPr id="44" name="Text 34"/>
          <p:cNvSpPr txBox="1"/>
          <p:nvPr/>
        </p:nvSpPr>
        <p:spPr>
          <a:xfrm>
            <a:off x="2572207" y="4334256"/>
            <a:ext cx="2667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Tweak B — bias</a:t>
            </a:r>
            <a:endParaRPr lang="en-US" sz="975" dirty="0"/>
          </a:p>
        </p:txBody>
      </p:sp>
      <p:sp>
        <p:nvSpPr>
          <p:cNvPr id="45" name="Text 35"/>
          <p:cNvSpPr txBox="1"/>
          <p:nvPr/>
        </p:nvSpPr>
        <p:spPr>
          <a:xfrm>
            <a:off x="5333695" y="4058107"/>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Lower bias -25 V</a:t>
            </a:r>
            <a:endParaRPr lang="en-US" sz="1125" dirty="0"/>
          </a:p>
        </p:txBody>
      </p:sp>
      <p:sp>
        <p:nvSpPr>
          <p:cNvPr id="46" name="Text 36"/>
          <p:cNvSpPr txBox="1"/>
          <p:nvPr/>
        </p:nvSpPr>
        <p:spPr>
          <a:xfrm>
            <a:off x="5333695" y="4286707"/>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25 mTorr · 600 W</a:t>
            </a:r>
            <a:endParaRPr lang="en-US" sz="975" dirty="0"/>
          </a:p>
        </p:txBody>
      </p:sp>
      <p:sp>
        <p:nvSpPr>
          <p:cNvPr id="47" name="Text 37"/>
          <p:cNvSpPr txBox="1"/>
          <p:nvPr/>
        </p:nvSpPr>
        <p:spPr>
          <a:xfrm>
            <a:off x="7715707" y="4058107"/>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He cooling +5 sccm</a:t>
            </a:r>
            <a:endParaRPr lang="en-US" sz="1125" dirty="0"/>
          </a:p>
        </p:txBody>
      </p:sp>
      <p:sp>
        <p:nvSpPr>
          <p:cNvPr id="48" name="Text 38"/>
          <p:cNvSpPr txBox="1"/>
          <p:nvPr/>
        </p:nvSpPr>
        <p:spPr>
          <a:xfrm>
            <a:off x="7715707" y="4286707"/>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Surface protection</a:t>
            </a:r>
            <a:endParaRPr lang="en-US" sz="975" dirty="0"/>
          </a:p>
        </p:txBody>
      </p:sp>
      <p:sp>
        <p:nvSpPr>
          <p:cNvPr id="49" name="Text 39"/>
          <p:cNvSpPr txBox="1"/>
          <p:nvPr/>
        </p:nvSpPr>
        <p:spPr>
          <a:xfrm>
            <a:off x="10096805" y="4058107"/>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ΔD -1 mJ · ΔF +5 nm</a:t>
            </a:r>
            <a:endParaRPr lang="en-US" sz="1125" dirty="0"/>
          </a:p>
        </p:txBody>
      </p:sp>
      <p:sp>
        <p:nvSpPr>
          <p:cNvPr id="50" name="Text 40"/>
          <p:cNvSpPr txBox="1"/>
          <p:nvPr/>
        </p:nvSpPr>
        <p:spPr>
          <a:xfrm>
            <a:off x="10096805" y="4286707"/>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Aggressive CD</a:t>
            </a:r>
            <a:endParaRPr lang="en-US" sz="975" dirty="0"/>
          </a:p>
        </p:txBody>
      </p:sp>
      <p:sp>
        <p:nvSpPr>
          <p:cNvPr id="51" name="Text 41"/>
          <p:cNvSpPr txBox="1"/>
          <p:nvPr/>
        </p:nvSpPr>
        <p:spPr>
          <a:xfrm>
            <a:off x="12477902" y="4058107"/>
            <a:ext cx="4858207" cy="210312"/>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Low bias로 bowing 완화 — wiggling 억제 가설</a:t>
            </a:r>
            <a:endParaRPr lang="en-US" sz="1125" dirty="0"/>
          </a:p>
        </p:txBody>
      </p:sp>
      <p:sp>
        <p:nvSpPr>
          <p:cNvPr id="52" name="Text 42"/>
          <p:cNvSpPr txBox="1"/>
          <p:nvPr/>
        </p:nvSpPr>
        <p:spPr>
          <a:xfrm>
            <a:off x="2572207" y="4657954"/>
            <a:ext cx="2667305" cy="238658"/>
          </a:xfrm>
          <a:prstGeom prst="rect">
            <a:avLst/>
          </a:prstGeom>
          <a:noFill/>
          <a:ln/>
        </p:spPr>
        <p:txBody>
          <a:bodyPr wrap="none" lIns="0" tIns="0" rIns="0" bIns="0" rtlCol="0" anchor="ctr"/>
          <a:lstStyle/>
          <a:p>
            <a:pPr algn="l" indent="0" marL="0">
              <a:buNone/>
            </a:pPr>
            <a:r>
              <a:rPr lang="en-US" sz="1275" b="1" dirty="0">
                <a:solidFill>
                  <a:srgbClr val="1B2535"/>
                </a:solidFill>
                <a:latin typeface="Pretendard" pitchFamily="34" charset="0"/>
                <a:ea typeface="Pretendard" pitchFamily="34" charset="-122"/>
                <a:cs typeface="Pretendard" pitchFamily="34" charset="-120"/>
              </a:rPr>
              <a:t>a-C 20 / SiN 30 nm</a:t>
            </a:r>
            <a:endParaRPr lang="en-US" sz="1275" dirty="0"/>
          </a:p>
        </p:txBody>
      </p:sp>
      <p:sp>
        <p:nvSpPr>
          <p:cNvPr id="53" name="Text 43"/>
          <p:cNvSpPr txBox="1"/>
          <p:nvPr/>
        </p:nvSpPr>
        <p:spPr>
          <a:xfrm>
            <a:off x="2572207" y="4934102"/>
            <a:ext cx="2667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Reference stack</a:t>
            </a:r>
            <a:endParaRPr lang="en-US" sz="975" dirty="0"/>
          </a:p>
        </p:txBody>
      </p:sp>
      <p:sp>
        <p:nvSpPr>
          <p:cNvPr id="54" name="Text 44"/>
          <p:cNvSpPr txBox="1"/>
          <p:nvPr/>
        </p:nvSpPr>
        <p:spPr>
          <a:xfrm>
            <a:off x="5333695" y="4657954"/>
            <a:ext cx="2286000" cy="228600"/>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CF₄ + Cl₂ 기반</a:t>
            </a:r>
            <a:endParaRPr lang="en-US" sz="1125" dirty="0"/>
          </a:p>
        </p:txBody>
      </p:sp>
      <p:sp>
        <p:nvSpPr>
          <p:cNvPr id="55" name="Text 45"/>
          <p:cNvSpPr txBox="1"/>
          <p:nvPr/>
        </p:nvSpPr>
        <p:spPr>
          <a:xfrm>
            <a:off x="5333695" y="4914900"/>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20 mTorr · 500 W</a:t>
            </a:r>
            <a:endParaRPr lang="en-US" sz="975" dirty="0"/>
          </a:p>
        </p:txBody>
      </p:sp>
      <p:sp>
        <p:nvSpPr>
          <p:cNvPr id="56" name="Text 46"/>
          <p:cNvSpPr txBox="1"/>
          <p:nvPr/>
        </p:nvSpPr>
        <p:spPr>
          <a:xfrm>
            <a:off x="7715707" y="4657954"/>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HM 깨짐 방지 pre-heat</a:t>
            </a:r>
            <a:endParaRPr lang="en-US" sz="1125" dirty="0"/>
          </a:p>
        </p:txBody>
      </p:sp>
      <p:sp>
        <p:nvSpPr>
          <p:cNvPr id="57" name="Text 47"/>
          <p:cNvSpPr txBox="1"/>
          <p:nvPr/>
        </p:nvSpPr>
        <p:spPr>
          <a:xfrm>
            <a:off x="7715707" y="4886554"/>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200 °C 60 s</a:t>
            </a:r>
            <a:endParaRPr lang="en-US" sz="975" dirty="0"/>
          </a:p>
        </p:txBody>
      </p:sp>
      <p:sp>
        <p:nvSpPr>
          <p:cNvPr id="58" name="Text 48"/>
          <p:cNvSpPr txBox="1"/>
          <p:nvPr/>
        </p:nvSpPr>
        <p:spPr>
          <a:xfrm>
            <a:off x="10096805" y="4657954"/>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ΔD 0.0 / ΔF 0</a:t>
            </a:r>
            <a:endParaRPr lang="en-US" sz="1125" dirty="0"/>
          </a:p>
        </p:txBody>
      </p:sp>
      <p:sp>
        <p:nvSpPr>
          <p:cNvPr id="59" name="Text 49"/>
          <p:cNvSpPr txBox="1"/>
          <p:nvPr/>
        </p:nvSpPr>
        <p:spPr>
          <a:xfrm>
            <a:off x="10096805" y="4886554"/>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Nominal</a:t>
            </a:r>
            <a:endParaRPr lang="en-US" sz="975" dirty="0"/>
          </a:p>
        </p:txBody>
      </p:sp>
      <p:sp>
        <p:nvSpPr>
          <p:cNvPr id="60" name="Text 50"/>
          <p:cNvSpPr txBox="1"/>
          <p:nvPr/>
        </p:nvSpPr>
        <p:spPr>
          <a:xfrm>
            <a:off x="12477902" y="4657954"/>
            <a:ext cx="4858207" cy="210312"/>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a-C/SiN baseline — Ru metallization 호환성 검토 동시</a:t>
            </a:r>
            <a:endParaRPr lang="en-US" sz="1125" dirty="0"/>
          </a:p>
        </p:txBody>
      </p:sp>
      <p:sp>
        <p:nvSpPr>
          <p:cNvPr id="61" name="Text 51"/>
          <p:cNvSpPr txBox="1"/>
          <p:nvPr/>
        </p:nvSpPr>
        <p:spPr>
          <a:xfrm>
            <a:off x="2572207" y="5257800"/>
            <a:ext cx="2667305" cy="238658"/>
          </a:xfrm>
          <a:prstGeom prst="rect">
            <a:avLst/>
          </a:prstGeom>
          <a:noFill/>
          <a:ln/>
        </p:spPr>
        <p:txBody>
          <a:bodyPr wrap="none" lIns="0" tIns="0" rIns="0" bIns="0" rtlCol="0" anchor="ctr"/>
          <a:lstStyle/>
          <a:p>
            <a:pPr algn="l" indent="0" marL="0">
              <a:buNone/>
            </a:pPr>
            <a:r>
              <a:rPr lang="en-US" sz="1275" b="1" dirty="0">
                <a:solidFill>
                  <a:srgbClr val="1B2535"/>
                </a:solidFill>
                <a:latin typeface="Pretendard" pitchFamily="34" charset="0"/>
                <a:ea typeface="Pretendard" pitchFamily="34" charset="-122"/>
                <a:cs typeface="Pretendard" pitchFamily="34" charset="-120"/>
              </a:rPr>
              <a:t>a-C 20 / SiN 30 nm</a:t>
            </a:r>
            <a:endParaRPr lang="en-US" sz="1275" dirty="0"/>
          </a:p>
        </p:txBody>
      </p:sp>
      <p:sp>
        <p:nvSpPr>
          <p:cNvPr id="62" name="Text 52"/>
          <p:cNvSpPr txBox="1"/>
          <p:nvPr/>
        </p:nvSpPr>
        <p:spPr>
          <a:xfrm>
            <a:off x="2572207" y="5533949"/>
            <a:ext cx="2667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Tweak A — selectivity</a:t>
            </a:r>
            <a:endParaRPr lang="en-US" sz="975" dirty="0"/>
          </a:p>
        </p:txBody>
      </p:sp>
      <p:sp>
        <p:nvSpPr>
          <p:cNvPr id="63" name="Text 53"/>
          <p:cNvSpPr txBox="1"/>
          <p:nvPr/>
        </p:nvSpPr>
        <p:spPr>
          <a:xfrm>
            <a:off x="5333695" y="5257800"/>
            <a:ext cx="2286000" cy="228600"/>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O₂ 첨가로 selectivity 조정</a:t>
            </a:r>
            <a:endParaRPr lang="en-US" sz="1125" dirty="0"/>
          </a:p>
        </p:txBody>
      </p:sp>
      <p:sp>
        <p:nvSpPr>
          <p:cNvPr id="64" name="Text 54"/>
          <p:cNvSpPr txBox="1"/>
          <p:nvPr/>
        </p:nvSpPr>
        <p:spPr>
          <a:xfrm>
            <a:off x="5333695" y="5514746"/>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20 mTorr · 500 W</a:t>
            </a:r>
            <a:endParaRPr lang="en-US" sz="975" dirty="0"/>
          </a:p>
        </p:txBody>
      </p:sp>
      <p:sp>
        <p:nvSpPr>
          <p:cNvPr id="65" name="Text 55"/>
          <p:cNvSpPr txBox="1"/>
          <p:nvPr/>
        </p:nvSpPr>
        <p:spPr>
          <a:xfrm>
            <a:off x="7715707" y="5257800"/>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Pre-heat 220 °C</a:t>
            </a:r>
            <a:endParaRPr lang="en-US" sz="1125" dirty="0"/>
          </a:p>
        </p:txBody>
      </p:sp>
      <p:sp>
        <p:nvSpPr>
          <p:cNvPr id="66" name="Text 56"/>
          <p:cNvSpPr txBox="1"/>
          <p:nvPr/>
        </p:nvSpPr>
        <p:spPr>
          <a:xfrm>
            <a:off x="7715707" y="5486400"/>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Stress release</a:t>
            </a:r>
            <a:endParaRPr lang="en-US" sz="975" dirty="0"/>
          </a:p>
        </p:txBody>
      </p:sp>
      <p:sp>
        <p:nvSpPr>
          <p:cNvPr id="67" name="Text 57"/>
          <p:cNvSpPr txBox="1"/>
          <p:nvPr/>
        </p:nvSpPr>
        <p:spPr>
          <a:xfrm>
            <a:off x="10096805" y="5257800"/>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ΔD +1.5 mJ · ΔF -5 nm</a:t>
            </a:r>
            <a:endParaRPr lang="en-US" sz="1125" dirty="0"/>
          </a:p>
        </p:txBody>
      </p:sp>
      <p:sp>
        <p:nvSpPr>
          <p:cNvPr id="68" name="Text 58"/>
          <p:cNvSpPr txBox="1"/>
          <p:nvPr/>
        </p:nvSpPr>
        <p:spPr>
          <a:xfrm>
            <a:off x="10096805" y="5486400"/>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CD margin</a:t>
            </a:r>
            <a:endParaRPr lang="en-US" sz="975" dirty="0"/>
          </a:p>
        </p:txBody>
      </p:sp>
      <p:sp>
        <p:nvSpPr>
          <p:cNvPr id="69" name="Text 59"/>
          <p:cNvSpPr txBox="1"/>
          <p:nvPr/>
        </p:nvSpPr>
        <p:spPr>
          <a:xfrm>
            <a:off x="12477902" y="5257800"/>
            <a:ext cx="4858207" cy="210312"/>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selectivity vs profile 직교 평가 — polymer 흐름 개선</a:t>
            </a:r>
            <a:endParaRPr lang="en-US" sz="1125" dirty="0"/>
          </a:p>
        </p:txBody>
      </p:sp>
      <p:sp>
        <p:nvSpPr>
          <p:cNvPr id="70" name="Text 60"/>
          <p:cNvSpPr txBox="1"/>
          <p:nvPr/>
        </p:nvSpPr>
        <p:spPr>
          <a:xfrm>
            <a:off x="2572207" y="5857646"/>
            <a:ext cx="2667305" cy="238658"/>
          </a:xfrm>
          <a:prstGeom prst="rect">
            <a:avLst/>
          </a:prstGeom>
          <a:noFill/>
          <a:ln/>
        </p:spPr>
        <p:txBody>
          <a:bodyPr wrap="none" lIns="0" tIns="0" rIns="0" bIns="0" rtlCol="0" anchor="ctr"/>
          <a:lstStyle/>
          <a:p>
            <a:pPr algn="l" indent="0" marL="0">
              <a:buNone/>
            </a:pPr>
            <a:r>
              <a:rPr lang="en-US" sz="1275" b="1" dirty="0">
                <a:solidFill>
                  <a:srgbClr val="1B2535"/>
                </a:solidFill>
                <a:latin typeface="Pretendard" pitchFamily="34" charset="0"/>
                <a:ea typeface="Pretendard" pitchFamily="34" charset="-122"/>
                <a:cs typeface="Pretendard" pitchFamily="34" charset="-120"/>
              </a:rPr>
              <a:t>a-C 20 / SiN 30 nm</a:t>
            </a:r>
            <a:endParaRPr lang="en-US" sz="1275" dirty="0"/>
          </a:p>
        </p:txBody>
      </p:sp>
      <p:sp>
        <p:nvSpPr>
          <p:cNvPr id="71" name="Text 61"/>
          <p:cNvSpPr txBox="1"/>
          <p:nvPr/>
        </p:nvSpPr>
        <p:spPr>
          <a:xfrm>
            <a:off x="2572207" y="6133795"/>
            <a:ext cx="2667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Tweak B — pressure</a:t>
            </a:r>
            <a:endParaRPr lang="en-US" sz="975" dirty="0"/>
          </a:p>
        </p:txBody>
      </p:sp>
      <p:sp>
        <p:nvSpPr>
          <p:cNvPr id="72" name="Text 62"/>
          <p:cNvSpPr txBox="1"/>
          <p:nvPr/>
        </p:nvSpPr>
        <p:spPr>
          <a:xfrm>
            <a:off x="5333695" y="5857646"/>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Higher pressure 35 mTorr</a:t>
            </a:r>
            <a:endParaRPr lang="en-US" sz="1125" dirty="0"/>
          </a:p>
        </p:txBody>
      </p:sp>
      <p:sp>
        <p:nvSpPr>
          <p:cNvPr id="73" name="Text 63"/>
          <p:cNvSpPr txBox="1"/>
          <p:nvPr/>
        </p:nvSpPr>
        <p:spPr>
          <a:xfrm>
            <a:off x="5333695" y="6086246"/>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500 W · ion energy ↓</a:t>
            </a:r>
            <a:endParaRPr lang="en-US" sz="975" dirty="0"/>
          </a:p>
        </p:txBody>
      </p:sp>
      <p:sp>
        <p:nvSpPr>
          <p:cNvPr id="74" name="Text 64"/>
          <p:cNvSpPr txBox="1"/>
          <p:nvPr/>
        </p:nvSpPr>
        <p:spPr>
          <a:xfrm>
            <a:off x="7715707" y="5857646"/>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Pre-heat 200 °C + Ar purge</a:t>
            </a:r>
            <a:endParaRPr lang="en-US" sz="1125" dirty="0"/>
          </a:p>
        </p:txBody>
      </p:sp>
      <p:sp>
        <p:nvSpPr>
          <p:cNvPr id="75" name="Text 65"/>
          <p:cNvSpPr txBox="1"/>
          <p:nvPr/>
        </p:nvSpPr>
        <p:spPr>
          <a:xfrm>
            <a:off x="7715707" y="6086246"/>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Charging 완화</a:t>
            </a:r>
            <a:endParaRPr lang="en-US" sz="975" dirty="0"/>
          </a:p>
        </p:txBody>
      </p:sp>
      <p:sp>
        <p:nvSpPr>
          <p:cNvPr id="76" name="Text 66"/>
          <p:cNvSpPr txBox="1"/>
          <p:nvPr/>
        </p:nvSpPr>
        <p:spPr>
          <a:xfrm>
            <a:off x="10096805" y="5857646"/>
            <a:ext cx="2286000" cy="200254"/>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ΔD 0.0 / ΔF +10 nm</a:t>
            </a:r>
            <a:endParaRPr lang="en-US" sz="1125" dirty="0"/>
          </a:p>
        </p:txBody>
      </p:sp>
      <p:sp>
        <p:nvSpPr>
          <p:cNvPr id="77" name="Text 67"/>
          <p:cNvSpPr txBox="1"/>
          <p:nvPr/>
        </p:nvSpPr>
        <p:spPr>
          <a:xfrm>
            <a:off x="10096805" y="6086246"/>
            <a:ext cx="2286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Top-loss mitigation</a:t>
            </a:r>
            <a:endParaRPr lang="en-US" sz="975" dirty="0"/>
          </a:p>
        </p:txBody>
      </p:sp>
      <p:sp>
        <p:nvSpPr>
          <p:cNvPr id="78" name="Text 68"/>
          <p:cNvSpPr txBox="1"/>
          <p:nvPr/>
        </p:nvSpPr>
        <p:spPr>
          <a:xfrm>
            <a:off x="12477902" y="5857646"/>
            <a:ext cx="4858207" cy="210312"/>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저에너지 + pressure로 wiggling 영향 감소 시도</a:t>
            </a:r>
            <a:endParaRPr lang="en-US" sz="1125" dirty="0"/>
          </a:p>
        </p:txBody>
      </p:sp>
      <p:sp>
        <p:nvSpPr>
          <p:cNvPr id="79" name="Text 69"/>
          <p:cNvSpPr txBox="1"/>
          <p:nvPr/>
        </p:nvSpPr>
        <p:spPr>
          <a:xfrm>
            <a:off x="571500" y="571500"/>
            <a:ext cx="14287500" cy="486461"/>
          </a:xfrm>
          <a:prstGeom prst="rect">
            <a:avLst/>
          </a:prstGeom>
          <a:noFill/>
          <a:ln/>
        </p:spPr>
        <p:txBody>
          <a:bodyPr wrap="none" lIns="0" tIns="0" rIns="0" bIns="0" rtlCol="0" anchor="ctr"/>
          <a:lstStyle/>
          <a:p>
            <a:pPr algn="l" indent="0" marL="0">
              <a:buNone/>
            </a:pPr>
            <a:r>
              <a:rPr lang="en-US" sz="3600" b="1" spc="-36" kern="0" dirty="0">
                <a:solidFill>
                  <a:srgbClr val="1B2535"/>
                </a:solidFill>
                <a:latin typeface="Pretendard" pitchFamily="34" charset="0"/>
                <a:ea typeface="Pretendard" pitchFamily="34" charset="-122"/>
                <a:cs typeface="Pretendard" pitchFamily="34" charset="-120"/>
              </a:rPr>
              <a:t>테스트 차량 및 웨이퍼 매트릭스</a:t>
            </a:r>
            <a:endParaRPr lang="en-US" sz="3600" dirty="0"/>
          </a:p>
        </p:txBody>
      </p:sp>
      <p:sp>
        <p:nvSpPr>
          <p:cNvPr id="80" name="Text 70"/>
          <p:cNvSpPr txBox="1"/>
          <p:nvPr/>
        </p:nvSpPr>
        <p:spPr>
          <a:xfrm>
            <a:off x="571500" y="381305"/>
            <a:ext cx="1619402" cy="191110"/>
          </a:xfrm>
          <a:prstGeom prst="rect">
            <a:avLst/>
          </a:prstGeom>
          <a:noFill/>
          <a:ln/>
        </p:spPr>
        <p:txBody>
          <a:bodyPr wrap="none" lIns="0" tIns="0" rIns="0" bIns="0" rtlCol="0" anchor="ctr"/>
          <a:lstStyle/>
          <a:p>
            <a:pPr algn="l" indent="0" marL="0">
              <a:buNone/>
            </a:pPr>
            <a:r>
              <a:rPr lang="en-US" sz="1050" spc="336" kern="0" dirty="0">
                <a:solidFill>
                  <a:srgbClr val="7A8898"/>
                </a:solidFill>
                <a:latin typeface="Pretendard" pitchFamily="34" charset="0"/>
                <a:ea typeface="Pretendard" pitchFamily="34" charset="-122"/>
                <a:cs typeface="Pretendard" pitchFamily="34" charset="-120"/>
              </a:rPr>
              <a:t>SET 02 / 09</a:t>
            </a:r>
            <a:endParaRPr lang="en-US" sz="1050" dirty="0"/>
          </a:p>
        </p:txBody>
      </p:sp>
      <p:sp>
        <p:nvSpPr>
          <p:cNvPr id="81" name="Text 71"/>
          <p:cNvSpPr txBox="1"/>
          <p:nvPr/>
        </p:nvSpPr>
        <p:spPr>
          <a:xfrm>
            <a:off x="571500" y="571500"/>
            <a:ext cx="17336110" cy="191110"/>
          </a:xfrm>
          <a:prstGeom prst="rect">
            <a:avLst/>
          </a:prstGeom>
          <a:noFill/>
          <a:ln/>
        </p:spPr>
        <p:txBody>
          <a:bodyPr wrap="none" lIns="0" tIns="0" rIns="0" bIns="0" rtlCol="0" anchor="ctr"/>
          <a:lstStyle/>
          <a:p>
            <a:pPr algn="r" indent="0" marL="0">
              <a:buNone/>
            </a:pPr>
            <a:r>
              <a:rPr lang="en-US" sz="1050" spc="189" kern="0" dirty="0">
                <a:solidFill>
                  <a:srgbClr val="7A8898"/>
                </a:solidFill>
                <a:latin typeface="Pretendard" pitchFamily="34" charset="0"/>
                <a:ea typeface="Pretendard" pitchFamily="34" charset="-122"/>
                <a:cs typeface="Pretendard" pitchFamily="34" charset="-120"/>
              </a:rPr>
              <a:t>TEST VEHICLE &amp; WAFER MATRIX</a:t>
            </a:r>
            <a:endParaRPr lang="en-US" sz="1050" dirty="0"/>
          </a:p>
        </p:txBody>
      </p:sp>
      <p:sp>
        <p:nvSpPr>
          <p:cNvPr id="82" name="Text 72"/>
          <p:cNvSpPr txBox="1"/>
          <p:nvPr/>
        </p:nvSpPr>
        <p:spPr>
          <a:xfrm>
            <a:off x="800100" y="1848002"/>
            <a:ext cx="16193110" cy="181051"/>
          </a:xfrm>
          <a:prstGeom prst="rect">
            <a:avLst/>
          </a:prstGeom>
          <a:noFill/>
          <a:ln/>
        </p:spPr>
        <p:txBody>
          <a:bodyPr wrap="none" lIns="0" tIns="0" rIns="0" bIns="0" rtlCol="0" anchor="ctr"/>
          <a:lstStyle/>
          <a:p>
            <a:pPr algn="l" indent="0" marL="0">
              <a:buNone/>
            </a:pPr>
            <a:r>
              <a:rPr lang="en-US" sz="975" b="1" spc="273" kern="0" dirty="0">
                <a:solidFill>
                  <a:srgbClr val="2E6F8E"/>
                </a:solidFill>
                <a:latin typeface="Pretendard" pitchFamily="34" charset="0"/>
                <a:ea typeface="Pretendard" pitchFamily="34" charset="-122"/>
                <a:cs typeface="Pretendard" pitchFamily="34" charset="-120"/>
              </a:rPr>
              <a:t>6-WAFER EVALUATION LOT</a:t>
            </a:r>
            <a:endParaRPr lang="en-US" sz="975" dirty="0"/>
          </a:p>
        </p:txBody>
      </p:sp>
      <p:sp>
        <p:nvSpPr>
          <p:cNvPr id="83" name="Text 73"/>
          <p:cNvSpPr txBox="1"/>
          <p:nvPr/>
        </p:nvSpPr>
        <p:spPr>
          <a:xfrm>
            <a:off x="990295" y="2428646"/>
            <a:ext cx="1524305" cy="181051"/>
          </a:xfrm>
          <a:prstGeom prst="rect">
            <a:avLst/>
          </a:prstGeom>
          <a:noFill/>
          <a:ln/>
        </p:spPr>
        <p:txBody>
          <a:bodyPr wrap="none" lIns="0" tIns="0" rIns="0" bIns="0" rtlCol="0" anchor="ctr"/>
          <a:lstStyle/>
          <a:p>
            <a:pPr algn="l" indent="0" marL="0">
              <a:buNone/>
            </a:pPr>
            <a:r>
              <a:rPr lang="en-US" sz="975" b="1" spc="176" kern="0" dirty="0">
                <a:solidFill>
                  <a:srgbClr val="FFFFFF"/>
                </a:solidFill>
                <a:latin typeface="Pretendard" pitchFamily="34" charset="0"/>
                <a:ea typeface="Pretendard" pitchFamily="34" charset="-122"/>
                <a:cs typeface="Pretendard" pitchFamily="34" charset="-120"/>
              </a:rPr>
              <a:t>ID</a:t>
            </a:r>
            <a:endParaRPr lang="en-US" sz="975" dirty="0"/>
          </a:p>
        </p:txBody>
      </p:sp>
      <p:sp>
        <p:nvSpPr>
          <p:cNvPr id="84" name="Text 74"/>
          <p:cNvSpPr txBox="1"/>
          <p:nvPr/>
        </p:nvSpPr>
        <p:spPr>
          <a:xfrm>
            <a:off x="2572207" y="2428646"/>
            <a:ext cx="2667305" cy="181051"/>
          </a:xfrm>
          <a:prstGeom prst="rect">
            <a:avLst/>
          </a:prstGeom>
          <a:noFill/>
          <a:ln/>
        </p:spPr>
        <p:txBody>
          <a:bodyPr wrap="none" lIns="0" tIns="0" rIns="0" bIns="0" rtlCol="0" anchor="ctr"/>
          <a:lstStyle/>
          <a:p>
            <a:pPr algn="l" indent="0" marL="0">
              <a:buNone/>
            </a:pPr>
            <a:r>
              <a:rPr lang="en-US" sz="975" b="1" spc="176" kern="0" dirty="0">
                <a:solidFill>
                  <a:srgbClr val="FFFFFF"/>
                </a:solidFill>
                <a:latin typeface="Pretendard" pitchFamily="34" charset="0"/>
                <a:ea typeface="Pretendard" pitchFamily="34" charset="-122"/>
                <a:cs typeface="Pretendard" pitchFamily="34" charset="-120"/>
              </a:rPr>
              <a:t>HARDMASK STACK</a:t>
            </a:r>
            <a:endParaRPr lang="en-US" sz="975" dirty="0"/>
          </a:p>
        </p:txBody>
      </p:sp>
      <p:sp>
        <p:nvSpPr>
          <p:cNvPr id="85" name="Text 75"/>
          <p:cNvSpPr txBox="1"/>
          <p:nvPr/>
        </p:nvSpPr>
        <p:spPr>
          <a:xfrm>
            <a:off x="5333695" y="2428646"/>
            <a:ext cx="2286000" cy="181051"/>
          </a:xfrm>
          <a:prstGeom prst="rect">
            <a:avLst/>
          </a:prstGeom>
          <a:noFill/>
          <a:ln/>
        </p:spPr>
        <p:txBody>
          <a:bodyPr wrap="none" lIns="0" tIns="0" rIns="0" bIns="0" rtlCol="0" anchor="ctr"/>
          <a:lstStyle/>
          <a:p>
            <a:pPr algn="l" indent="0" marL="0">
              <a:buNone/>
            </a:pPr>
            <a:r>
              <a:rPr lang="en-US" sz="975" b="1" spc="176" kern="0" dirty="0">
                <a:solidFill>
                  <a:srgbClr val="FFFFFF"/>
                </a:solidFill>
                <a:latin typeface="Pretendard" pitchFamily="34" charset="0"/>
                <a:ea typeface="Pretendard" pitchFamily="34" charset="-122"/>
                <a:cs typeface="Pretendard" pitchFamily="34" charset="-120"/>
              </a:rPr>
              <a:t>ETCH ROUTE</a:t>
            </a:r>
            <a:endParaRPr lang="en-US" sz="975" dirty="0"/>
          </a:p>
        </p:txBody>
      </p:sp>
      <p:sp>
        <p:nvSpPr>
          <p:cNvPr id="86" name="Text 76"/>
          <p:cNvSpPr txBox="1"/>
          <p:nvPr/>
        </p:nvSpPr>
        <p:spPr>
          <a:xfrm>
            <a:off x="7715707" y="2428646"/>
            <a:ext cx="2286000" cy="181051"/>
          </a:xfrm>
          <a:prstGeom prst="rect">
            <a:avLst/>
          </a:prstGeom>
          <a:noFill/>
          <a:ln/>
        </p:spPr>
        <p:txBody>
          <a:bodyPr wrap="none" lIns="0" tIns="0" rIns="0" bIns="0" rtlCol="0" anchor="ctr"/>
          <a:lstStyle/>
          <a:p>
            <a:pPr algn="l" indent="0" marL="0">
              <a:buNone/>
            </a:pPr>
            <a:r>
              <a:rPr lang="en-US" sz="975" b="1" spc="176" kern="0" dirty="0">
                <a:solidFill>
                  <a:srgbClr val="FFFFFF"/>
                </a:solidFill>
                <a:latin typeface="Pretendard" pitchFamily="34" charset="0"/>
                <a:ea typeface="Pretendard" pitchFamily="34" charset="-122"/>
                <a:cs typeface="Pretendard" pitchFamily="34" charset="-120"/>
              </a:rPr>
              <a:t>PRE-ETCH TREATMENT</a:t>
            </a:r>
            <a:endParaRPr lang="en-US" sz="975" dirty="0"/>
          </a:p>
        </p:txBody>
      </p:sp>
      <p:sp>
        <p:nvSpPr>
          <p:cNvPr id="87" name="Text 77"/>
          <p:cNvSpPr txBox="1"/>
          <p:nvPr/>
        </p:nvSpPr>
        <p:spPr>
          <a:xfrm>
            <a:off x="10096805" y="2428646"/>
            <a:ext cx="2286000" cy="181051"/>
          </a:xfrm>
          <a:prstGeom prst="rect">
            <a:avLst/>
          </a:prstGeom>
          <a:noFill/>
          <a:ln/>
        </p:spPr>
        <p:txBody>
          <a:bodyPr wrap="none" lIns="0" tIns="0" rIns="0" bIns="0" rtlCol="0" anchor="ctr"/>
          <a:lstStyle/>
          <a:p>
            <a:pPr algn="l" indent="0" marL="0">
              <a:buNone/>
            </a:pPr>
            <a:r>
              <a:rPr lang="en-US" sz="975" b="1" spc="176" kern="0" dirty="0">
                <a:solidFill>
                  <a:srgbClr val="FFFFFF"/>
                </a:solidFill>
                <a:latin typeface="Pretendard" pitchFamily="34" charset="0"/>
                <a:ea typeface="Pretendard" pitchFamily="34" charset="-122"/>
                <a:cs typeface="Pretendard" pitchFamily="34" charset="-120"/>
              </a:rPr>
              <a:t>DOSE / FOCUS OFFSET</a:t>
            </a:r>
            <a:endParaRPr lang="en-US" sz="975" dirty="0"/>
          </a:p>
        </p:txBody>
      </p:sp>
      <p:sp>
        <p:nvSpPr>
          <p:cNvPr id="88" name="Text 78"/>
          <p:cNvSpPr txBox="1"/>
          <p:nvPr/>
        </p:nvSpPr>
        <p:spPr>
          <a:xfrm>
            <a:off x="12477902" y="2428646"/>
            <a:ext cx="3620110" cy="181051"/>
          </a:xfrm>
          <a:prstGeom prst="rect">
            <a:avLst/>
          </a:prstGeom>
          <a:noFill/>
          <a:ln/>
        </p:spPr>
        <p:txBody>
          <a:bodyPr wrap="none" lIns="0" tIns="0" rIns="0" bIns="0" rtlCol="0" anchor="ctr"/>
          <a:lstStyle/>
          <a:p>
            <a:pPr algn="l" indent="0" marL="0">
              <a:buNone/>
            </a:pPr>
            <a:r>
              <a:rPr lang="en-US" sz="975" b="1" spc="176" kern="0" dirty="0">
                <a:solidFill>
                  <a:srgbClr val="FFFFFF"/>
                </a:solidFill>
                <a:latin typeface="Pretendard" pitchFamily="34" charset="0"/>
                <a:ea typeface="Pretendard" pitchFamily="34" charset="-122"/>
                <a:cs typeface="Pretendard" pitchFamily="34" charset="-120"/>
              </a:rPr>
              <a:t>PRIMARY QUESTION</a:t>
            </a:r>
            <a:endParaRPr lang="en-US" sz="975" dirty="0"/>
          </a:p>
        </p:txBody>
      </p:sp>
      <p:sp>
        <p:nvSpPr>
          <p:cNvPr id="89" name="Text 79"/>
          <p:cNvSpPr txBox="1"/>
          <p:nvPr/>
        </p:nvSpPr>
        <p:spPr>
          <a:xfrm>
            <a:off x="800100" y="2800807"/>
            <a:ext cx="762610" cy="590702"/>
          </a:xfrm>
          <a:prstGeom prst="rect">
            <a:avLst/>
          </a:prstGeom>
          <a:noFill/>
          <a:ln/>
        </p:spPr>
        <p:txBody>
          <a:bodyPr wrap="non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W01</a:t>
            </a:r>
            <a:endParaRPr lang="en-US" sz="1800" dirty="0"/>
          </a:p>
        </p:txBody>
      </p:sp>
      <p:sp>
        <p:nvSpPr>
          <p:cNvPr id="90" name="Text 80"/>
          <p:cNvSpPr txBox="1"/>
          <p:nvPr/>
        </p:nvSpPr>
        <p:spPr>
          <a:xfrm>
            <a:off x="800100" y="3400654"/>
            <a:ext cx="762610" cy="590702"/>
          </a:xfrm>
          <a:prstGeom prst="rect">
            <a:avLst/>
          </a:prstGeom>
          <a:noFill/>
          <a:ln/>
        </p:spPr>
        <p:txBody>
          <a:bodyPr wrap="non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W02</a:t>
            </a:r>
            <a:endParaRPr lang="en-US" sz="1800" dirty="0"/>
          </a:p>
        </p:txBody>
      </p:sp>
      <p:sp>
        <p:nvSpPr>
          <p:cNvPr id="91" name="Text 81"/>
          <p:cNvSpPr txBox="1"/>
          <p:nvPr/>
        </p:nvSpPr>
        <p:spPr>
          <a:xfrm>
            <a:off x="800100" y="4000500"/>
            <a:ext cx="762610" cy="590702"/>
          </a:xfrm>
          <a:prstGeom prst="rect">
            <a:avLst/>
          </a:prstGeom>
          <a:noFill/>
          <a:ln/>
        </p:spPr>
        <p:txBody>
          <a:bodyPr wrap="non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W03</a:t>
            </a:r>
            <a:endParaRPr lang="en-US" sz="1800" dirty="0"/>
          </a:p>
        </p:txBody>
      </p:sp>
      <p:sp>
        <p:nvSpPr>
          <p:cNvPr id="92" name="Text 82"/>
          <p:cNvSpPr txBox="1"/>
          <p:nvPr/>
        </p:nvSpPr>
        <p:spPr>
          <a:xfrm>
            <a:off x="800100" y="4600346"/>
            <a:ext cx="762610" cy="590702"/>
          </a:xfrm>
          <a:prstGeom prst="rect">
            <a:avLst/>
          </a:prstGeom>
          <a:noFill/>
          <a:ln/>
        </p:spPr>
        <p:txBody>
          <a:bodyPr wrap="non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W04</a:t>
            </a:r>
            <a:endParaRPr lang="en-US" sz="1800" dirty="0"/>
          </a:p>
        </p:txBody>
      </p:sp>
      <p:sp>
        <p:nvSpPr>
          <p:cNvPr id="93" name="Text 83"/>
          <p:cNvSpPr txBox="1"/>
          <p:nvPr/>
        </p:nvSpPr>
        <p:spPr>
          <a:xfrm>
            <a:off x="800100" y="5201107"/>
            <a:ext cx="762610" cy="590702"/>
          </a:xfrm>
          <a:prstGeom prst="rect">
            <a:avLst/>
          </a:prstGeom>
          <a:noFill/>
          <a:ln/>
        </p:spPr>
        <p:txBody>
          <a:bodyPr wrap="non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W05</a:t>
            </a:r>
            <a:endParaRPr lang="en-US" sz="1800" dirty="0"/>
          </a:p>
        </p:txBody>
      </p:sp>
      <p:sp>
        <p:nvSpPr>
          <p:cNvPr id="94" name="Text 84"/>
          <p:cNvSpPr txBox="1"/>
          <p:nvPr/>
        </p:nvSpPr>
        <p:spPr>
          <a:xfrm>
            <a:off x="800100" y="5800954"/>
            <a:ext cx="762610" cy="590702"/>
          </a:xfrm>
          <a:prstGeom prst="rect">
            <a:avLst/>
          </a:prstGeom>
          <a:noFill/>
          <a:ln/>
        </p:spPr>
        <p:txBody>
          <a:bodyPr wrap="none" lIns="0" tIns="0" rIns="0" bIns="0" rtlCol="0" anchor="ctr"/>
          <a:lstStyle/>
          <a:p>
            <a:pPr algn="ctr" indent="0" marL="0">
              <a:buNone/>
            </a:pPr>
            <a:r>
              <a:rPr lang="en-US" sz="1800" b="1" dirty="0">
                <a:solidFill>
                  <a:srgbClr val="FFFFFF"/>
                </a:solidFill>
                <a:latin typeface="Pretendard" pitchFamily="34" charset="0"/>
                <a:ea typeface="Pretendard" pitchFamily="34" charset="-122"/>
                <a:cs typeface="Pretendard" pitchFamily="34" charset="-120"/>
              </a:rPr>
              <a:t>W06</a:t>
            </a:r>
            <a:endParaRPr lang="en-US" sz="1800" dirty="0"/>
          </a:p>
        </p:txBody>
      </p:sp>
      <p:sp>
        <p:nvSpPr>
          <p:cNvPr id="95" name="Text 85"/>
          <p:cNvSpPr txBox="1"/>
          <p:nvPr/>
        </p:nvSpPr>
        <p:spPr>
          <a:xfrm>
            <a:off x="800100" y="6972300"/>
            <a:ext cx="5334610" cy="181051"/>
          </a:xfrm>
          <a:prstGeom prst="rect">
            <a:avLst/>
          </a:prstGeom>
          <a:noFill/>
          <a:ln/>
        </p:spPr>
        <p:txBody>
          <a:bodyPr wrap="none" lIns="0" tIns="0" rIns="0" bIns="0" rtlCol="0" anchor="ctr"/>
          <a:lstStyle/>
          <a:p>
            <a:pPr algn="l" indent="0" marL="0">
              <a:buNone/>
            </a:pPr>
            <a:r>
              <a:rPr lang="en-US" sz="975" b="1" spc="273" kern="0" dirty="0">
                <a:solidFill>
                  <a:srgbClr val="2E6F8E"/>
                </a:solidFill>
                <a:latin typeface="Pretendard" pitchFamily="34" charset="0"/>
                <a:ea typeface="Pretendard" pitchFamily="34" charset="-122"/>
                <a:cs typeface="Pretendard" pitchFamily="34" charset="-120"/>
              </a:rPr>
              <a:t>LOT META</a:t>
            </a:r>
            <a:endParaRPr lang="en-US" sz="975"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00100" y="7324344"/>
          <a:ext cx="5334610" cy="1476756"/>
        </p:xfrm>
        <a:graphic>
          <a:graphicData uri="http://schemas.openxmlformats.org/drawingml/2006/table">
            <a:tbl>
              <a:tblPr/>
              <a:tblGrid>
                <a:gridCol w="1520647"/>
                <a:gridCol w="3813048"/>
              </a:tblGrid>
              <a:tr h="295351">
                <a:tc>
                  <a:txBody>
                    <a:bodyPr/>
                    <a:lstStyle/>
                    <a:p>
                      <a:pPr indent="0" marL="0">
                        <a:buNone/>
                      </a:pPr>
                      <a:r>
                        <a:rPr lang="en-US" sz="1125" dirty="0">
                          <a:solidFill>
                            <a:srgbClr val="7A8898"/>
                          </a:solidFill>
                          <a:latin typeface="Pretendard" pitchFamily="34" charset="0"/>
                          <a:ea typeface="Pretendard" pitchFamily="34" charset="-122"/>
                          <a:cs typeface="Pretendard" pitchFamily="34" charset="-120"/>
                        </a:rPr>
                        <a:t>Lot ID</a:t>
                      </a:r>
                      <a:endParaRPr lang="en-US" sz="1125" dirty="0">
                        <a:latin typeface="Pretendard" charset="0"/>
                        <a:ea typeface="Pretendard" charset="0"/>
                        <a:cs typeface="Pretendard"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44546A"/>
                          </a:solidFill>
                          <a:latin typeface="Pretendard" pitchFamily="34" charset="0"/>
                          <a:ea typeface="Pretendard" pitchFamily="34" charset="-122"/>
                          <a:cs typeface="Pretendard" pitchFamily="34" charset="-120"/>
                        </a:rPr>
                        <a:t>DUMMY-LOT-A1</a:t>
                      </a:r>
                      <a:endParaRPr lang="en-US" sz="1125"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95351">
                <a:tc>
                  <a:txBody>
                    <a:bodyPr/>
                    <a:lstStyle/>
                    <a:p>
                      <a:pPr indent="0" marL="0">
                        <a:buNone/>
                      </a:pPr>
                      <a:r>
                        <a:rPr lang="en-US" sz="1125" dirty="0">
                          <a:solidFill>
                            <a:srgbClr val="7A8898"/>
                          </a:solidFill>
                          <a:latin typeface="Pretendard" pitchFamily="34" charset="0"/>
                          <a:ea typeface="Pretendard" pitchFamily="34" charset="-122"/>
                          <a:cs typeface="Pretendard" pitchFamily="34" charset="-120"/>
                        </a:rPr>
                        <a:t>Wafer size</a:t>
                      </a:r>
                      <a:endParaRPr lang="en-US" sz="1125" dirty="0">
                        <a:latin typeface="Pretendard" charset="0"/>
                        <a:ea typeface="Pretendard" charset="0"/>
                        <a:cs typeface="Pretendard"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44546A"/>
                          </a:solidFill>
                          <a:latin typeface="Pretendard" pitchFamily="34" charset="0"/>
                          <a:ea typeface="Pretendard" pitchFamily="34" charset="-122"/>
                          <a:cs typeface="Pretendard" pitchFamily="34" charset="-120"/>
                        </a:rPr>
                        <a:t>300 mm</a:t>
                      </a:r>
                      <a:endParaRPr lang="en-US" sz="1125"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95351">
                <a:tc>
                  <a:txBody>
                    <a:bodyPr/>
                    <a:lstStyle/>
                    <a:p>
                      <a:pPr indent="0" marL="0">
                        <a:buNone/>
                      </a:pPr>
                      <a:r>
                        <a:rPr lang="en-US" sz="1125" dirty="0">
                          <a:solidFill>
                            <a:srgbClr val="7A8898"/>
                          </a:solidFill>
                          <a:latin typeface="Pretendard" pitchFamily="34" charset="0"/>
                          <a:ea typeface="Pretendard" pitchFamily="34" charset="-122"/>
                          <a:cs typeface="Pretendard" pitchFamily="34" charset="-120"/>
                        </a:rPr>
                        <a:t>Tool</a:t>
                      </a:r>
                      <a:endParaRPr lang="en-US" sz="1125" dirty="0">
                        <a:latin typeface="Pretendard" charset="0"/>
                        <a:ea typeface="Pretendard" charset="0"/>
                        <a:cs typeface="Pretendard"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44546A"/>
                          </a:solidFill>
                          <a:latin typeface="Pretendard" pitchFamily="34" charset="0"/>
                          <a:ea typeface="Pretendard" pitchFamily="34" charset="-122"/>
                          <a:cs typeface="Pretendard" pitchFamily="34" charset="-120"/>
                        </a:rPr>
                        <a:t>Dummy-Etcher-A · Dummy-Etcher-B</a:t>
                      </a:r>
                      <a:endParaRPr lang="en-US" sz="1125"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95351">
                <a:tc>
                  <a:txBody>
                    <a:bodyPr/>
                    <a:lstStyle/>
                    <a:p>
                      <a:pPr indent="0" marL="0">
                        <a:buNone/>
                      </a:pPr>
                      <a:r>
                        <a:rPr lang="en-US" sz="1125" dirty="0">
                          <a:solidFill>
                            <a:srgbClr val="7A8898"/>
                          </a:solidFill>
                          <a:latin typeface="Pretendard" pitchFamily="34" charset="0"/>
                          <a:ea typeface="Pretendard" pitchFamily="34" charset="-122"/>
                          <a:cs typeface="Pretendard" pitchFamily="34" charset="-120"/>
                        </a:rPr>
                        <a:t>Layer targeted</a:t>
                      </a:r>
                      <a:endParaRPr lang="en-US" sz="1125" dirty="0">
                        <a:latin typeface="Pretendard" charset="0"/>
                        <a:ea typeface="Pretendard" charset="0"/>
                        <a:cs typeface="Pretendard"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44546A"/>
                          </a:solidFill>
                          <a:latin typeface="Pretendard" pitchFamily="34" charset="0"/>
                          <a:ea typeface="Pretendard" pitchFamily="34" charset="-122"/>
                          <a:cs typeface="Pretendard" pitchFamily="34" charset="-120"/>
                        </a:rPr>
                        <a:t>M2 (target pitch 48 nm)</a:t>
                      </a:r>
                      <a:endParaRPr lang="en-US" sz="1125"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295351">
                <a:tc>
                  <a:txBody>
                    <a:bodyPr/>
                    <a:lstStyle/>
                    <a:p>
                      <a:pPr indent="0" marL="0">
                        <a:buNone/>
                      </a:pPr>
                      <a:r>
                        <a:rPr lang="en-US" sz="1125" dirty="0">
                          <a:solidFill>
                            <a:srgbClr val="7A8898"/>
                          </a:solidFill>
                          <a:latin typeface="Pretendard" pitchFamily="34" charset="0"/>
                          <a:ea typeface="Pretendard" pitchFamily="34" charset="-122"/>
                          <a:cs typeface="Pretendard" pitchFamily="34" charset="-120"/>
                        </a:rPr>
                        <a:t>Metrology</a:t>
                      </a:r>
                      <a:endParaRPr lang="en-US" sz="1125" dirty="0">
                        <a:latin typeface="Pretendard" charset="0"/>
                        <a:ea typeface="Pretendard" charset="0"/>
                        <a:cs typeface="Pretendard" charset="0"/>
                      </a:endParaRPr>
                    </a:p>
                  </a:txBody>
                  <a:tcPr marL="0" marR="0" marT="47549" marB="47549"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1125" dirty="0">
                          <a:solidFill>
                            <a:srgbClr val="44546A"/>
                          </a:solidFill>
                          <a:latin typeface="Pretendard" pitchFamily="34" charset="0"/>
                          <a:ea typeface="Pretendard" pitchFamily="34" charset="-122"/>
                          <a:cs typeface="Pretendard" pitchFamily="34" charset="-120"/>
                        </a:rPr>
                        <a:t>CD-SEM + In-line TEM</a:t>
                      </a:r>
                      <a:endParaRPr lang="en-US" sz="1125" dirty="0">
                        <a:latin typeface="Pretendard" charset="0"/>
                        <a:ea typeface="Pretendard" charset="0"/>
                        <a:cs typeface="Pretendard"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97" name="Text 86"/>
          <p:cNvSpPr txBox="1"/>
          <p:nvPr/>
        </p:nvSpPr>
        <p:spPr>
          <a:xfrm>
            <a:off x="6705295" y="6972300"/>
            <a:ext cx="4858207" cy="181051"/>
          </a:xfrm>
          <a:prstGeom prst="rect">
            <a:avLst/>
          </a:prstGeom>
          <a:noFill/>
          <a:ln/>
        </p:spPr>
        <p:txBody>
          <a:bodyPr wrap="none" lIns="0" tIns="0" rIns="0" bIns="0" rtlCol="0" anchor="ctr"/>
          <a:lstStyle/>
          <a:p>
            <a:pPr algn="l" indent="0" marL="0">
              <a:buNone/>
            </a:pPr>
            <a:r>
              <a:rPr lang="en-US" sz="975" b="1" spc="273" kern="0" dirty="0">
                <a:solidFill>
                  <a:srgbClr val="1B2535"/>
                </a:solidFill>
                <a:latin typeface="Pretendard" pitchFamily="34" charset="0"/>
                <a:ea typeface="Pretendard" pitchFamily="34" charset="-122"/>
                <a:cs typeface="Pretendard" pitchFamily="34" charset="-120"/>
              </a:rPr>
              <a:t>SPLIT 요약</a:t>
            </a:r>
            <a:endParaRPr lang="en-US" sz="975" dirty="0"/>
          </a:p>
        </p:txBody>
      </p:sp>
      <p:sp>
        <p:nvSpPr>
          <p:cNvPr id="98" name="Shape 87"/>
          <p:cNvSpPr/>
          <p:nvPr/>
        </p:nvSpPr>
        <p:spPr>
          <a:xfrm>
            <a:off x="6705295" y="7362749"/>
            <a:ext cx="571500" cy="342900"/>
          </a:xfrm>
          <a:prstGeom prst="rect">
            <a:avLst/>
          </a:prstGeom>
          <a:solidFill>
            <a:srgbClr val="2E6F8E"/>
          </a:solidFill>
          <a:ln w="12700">
            <a:solidFill>
              <a:srgbClr val="FFFFFF">
                <a:alpha val="0"/>
              </a:srgbClr>
            </a:solidFill>
            <a:prstDash val="solid"/>
          </a:ln>
        </p:spPr>
      </p:sp>
      <p:sp>
        <p:nvSpPr>
          <p:cNvPr id="99" name="Text 88"/>
          <p:cNvSpPr txBox="1"/>
          <p:nvPr/>
        </p:nvSpPr>
        <p:spPr>
          <a:xfrm>
            <a:off x="7410298" y="7420356"/>
            <a:ext cx="4153205" cy="228600"/>
          </a:xfrm>
          <a:prstGeom prst="rect">
            <a:avLst/>
          </a:prstGeom>
          <a:noFill/>
          <a:ln/>
        </p:spPr>
        <p:txBody>
          <a:bodyPr wrap="none" lIns="0" tIns="0" rIns="0" bIns="0" rtlCol="0" anchor="ctr"/>
          <a:lstStyle/>
          <a:p>
            <a:pPr algn="l" indent="0" marL="0">
              <a:buNone/>
            </a:pPr>
            <a:r>
              <a:rPr lang="en-US" sz="1200" b="1" dirty="0">
                <a:solidFill>
                  <a:srgbClr val="1B2535"/>
                </a:solidFill>
                <a:latin typeface="Pretendard" pitchFamily="34" charset="0"/>
                <a:ea typeface="Pretendard" pitchFamily="34" charset="-122"/>
                <a:cs typeface="Pretendard" pitchFamily="34" charset="-120"/>
              </a:rPr>
              <a:t>SPLIT A — TiN</a:t>
            </a:r>
            <a:pPr algn="l" indent="0" marL="0">
              <a:buNone/>
            </a:pPr>
            <a:r>
              <a:rPr lang="en-US" sz="1200" dirty="0">
                <a:solidFill>
                  <a:srgbClr val="44546A"/>
                </a:solidFill>
                <a:latin typeface="Pretendard" pitchFamily="34" charset="0"/>
                <a:ea typeface="Pretendard" pitchFamily="34" charset="-122"/>
                <a:cs typeface="Pretendard" pitchFamily="34" charset="-120"/>
              </a:rPr>
              <a:t> · W01 / W02 / W03</a:t>
            </a:r>
            <a:endParaRPr lang="en-US" sz="1200" dirty="0"/>
          </a:p>
        </p:txBody>
      </p:sp>
      <p:sp>
        <p:nvSpPr>
          <p:cNvPr id="100" name="Shape 89"/>
          <p:cNvSpPr/>
          <p:nvPr/>
        </p:nvSpPr>
        <p:spPr>
          <a:xfrm>
            <a:off x="6705295" y="7839151"/>
            <a:ext cx="571500" cy="342900"/>
          </a:xfrm>
          <a:prstGeom prst="rect">
            <a:avLst/>
          </a:prstGeom>
          <a:solidFill>
            <a:srgbClr val="C8552D"/>
          </a:solidFill>
          <a:ln w="12700">
            <a:solidFill>
              <a:srgbClr val="FFFFFF">
                <a:alpha val="0"/>
              </a:srgbClr>
            </a:solidFill>
            <a:prstDash val="solid"/>
          </a:ln>
        </p:spPr>
      </p:sp>
      <p:sp>
        <p:nvSpPr>
          <p:cNvPr id="101" name="Text 90"/>
          <p:cNvSpPr txBox="1"/>
          <p:nvPr/>
        </p:nvSpPr>
        <p:spPr>
          <a:xfrm>
            <a:off x="7410298" y="7895844"/>
            <a:ext cx="4153205" cy="228600"/>
          </a:xfrm>
          <a:prstGeom prst="rect">
            <a:avLst/>
          </a:prstGeom>
          <a:noFill/>
          <a:ln/>
        </p:spPr>
        <p:txBody>
          <a:bodyPr wrap="none" lIns="0" tIns="0" rIns="0" bIns="0" rtlCol="0" anchor="ctr"/>
          <a:lstStyle/>
          <a:p>
            <a:pPr algn="l" indent="0" marL="0">
              <a:buNone/>
            </a:pPr>
            <a:r>
              <a:rPr lang="en-US" sz="1200" b="1" dirty="0">
                <a:solidFill>
                  <a:srgbClr val="1B2535"/>
                </a:solidFill>
                <a:latin typeface="Pretendard" pitchFamily="34" charset="0"/>
                <a:ea typeface="Pretendard" pitchFamily="34" charset="-122"/>
                <a:cs typeface="Pretendard" pitchFamily="34" charset="-120"/>
              </a:rPr>
              <a:t>SPLIT B — a-C/SiN</a:t>
            </a:r>
            <a:pPr algn="l" indent="0" marL="0">
              <a:buNone/>
            </a:pPr>
            <a:r>
              <a:rPr lang="en-US" sz="1200" dirty="0">
                <a:solidFill>
                  <a:srgbClr val="44546A"/>
                </a:solidFill>
                <a:latin typeface="Pretendard" pitchFamily="34" charset="0"/>
                <a:ea typeface="Pretendard" pitchFamily="34" charset="-122"/>
                <a:cs typeface="Pretendard" pitchFamily="34" charset="-120"/>
              </a:rPr>
              <a:t> · W04 / W05 / W06</a:t>
            </a:r>
            <a:endParaRPr lang="en-US" sz="1200" dirty="0"/>
          </a:p>
        </p:txBody>
      </p:sp>
      <p:sp>
        <p:nvSpPr>
          <p:cNvPr id="102" name="Text 91"/>
          <p:cNvSpPr txBox="1"/>
          <p:nvPr/>
        </p:nvSpPr>
        <p:spPr>
          <a:xfrm>
            <a:off x="6705295" y="8353044"/>
            <a:ext cx="4858207" cy="391363"/>
          </a:xfrm>
          <a:prstGeom prst="rect">
            <a:avLst/>
          </a:prstGeom>
          <a:noFill/>
          <a:ln/>
        </p:spPr>
        <p:txBody>
          <a:bodyPr wrap="square" lIns="0" tIns="0" rIns="0" bIns="0" rtlCol="0" anchor="ctr"/>
          <a:lstStyle/>
          <a:p>
            <a:pPr algn="l" indent="0" marL="0">
              <a:lnSpc>
                <a:spcPts val="1511"/>
              </a:lnSpc>
              <a:buNone/>
            </a:pPr>
            <a:r>
              <a:rPr lang="en-US" sz="975" dirty="0">
                <a:solidFill>
                  <a:srgbClr val="7A8898"/>
                </a:solidFill>
                <a:latin typeface="Pretendard" pitchFamily="34" charset="0"/>
                <a:ea typeface="Pretendard" pitchFamily="34" charset="-122"/>
                <a:cs typeface="Pretendard" pitchFamily="34" charset="-120"/>
              </a:rPr>
              <a:t>Split당은 baseline / Tweak A / Tweak B 3조건으로 구성되어 동일 split 내에서 미세 인자 변동을 분리 평가한다. Split 간에는 hardmask stack만 변동하며 다른 변수는 고정한다.</a:t>
            </a:r>
            <a:endParaRPr lang="en-US" sz="975" dirty="0"/>
          </a:p>
        </p:txBody>
      </p:sp>
      <p:sp>
        <p:nvSpPr>
          <p:cNvPr id="103" name="Text 92"/>
          <p:cNvSpPr txBox="1"/>
          <p:nvPr/>
        </p:nvSpPr>
        <p:spPr>
          <a:xfrm>
            <a:off x="12287707" y="6972300"/>
            <a:ext cx="5334610" cy="181051"/>
          </a:xfrm>
          <a:prstGeom prst="rect">
            <a:avLst/>
          </a:prstGeom>
          <a:noFill/>
          <a:ln/>
        </p:spPr>
        <p:txBody>
          <a:bodyPr wrap="none" lIns="0" tIns="0" rIns="0" bIns="0" rtlCol="0" anchor="ctr"/>
          <a:lstStyle/>
          <a:p>
            <a:pPr algn="l" indent="0" marL="0">
              <a:buNone/>
            </a:pPr>
            <a:r>
              <a:rPr lang="en-US" sz="975" b="1" spc="273" kern="0" dirty="0">
                <a:solidFill>
                  <a:srgbClr val="B47A1F"/>
                </a:solidFill>
                <a:latin typeface="Pretendard" pitchFamily="34" charset="0"/>
                <a:ea typeface="Pretendard" pitchFamily="34" charset="-122"/>
                <a:cs typeface="Pretendard" pitchFamily="34" charset="-120"/>
              </a:rPr>
              <a:t>PRE-SCREEN NOTE</a:t>
            </a:r>
            <a:endParaRPr lang="en-US" sz="975" dirty="0"/>
          </a:p>
        </p:txBody>
      </p:sp>
      <p:sp>
        <p:nvSpPr>
          <p:cNvPr id="104" name="Text 93"/>
          <p:cNvSpPr txBox="1"/>
          <p:nvPr/>
        </p:nvSpPr>
        <p:spPr>
          <a:xfrm>
            <a:off x="12287707" y="7286854"/>
            <a:ext cx="5334610" cy="277063"/>
          </a:xfrm>
          <a:prstGeom prst="rect">
            <a:avLst/>
          </a:prstGeom>
          <a:noFill/>
          <a:ln/>
        </p:spPr>
        <p:txBody>
          <a:bodyPr wrap="none" lIns="0" tIns="0" rIns="0" bIns="0" rtlCol="0" anchor="ctr"/>
          <a:lstStyle/>
          <a:p>
            <a:pPr algn="l" indent="0" marL="0">
              <a:buNone/>
            </a:pPr>
            <a:r>
              <a:rPr lang="en-US" sz="1500" b="1" dirty="0">
                <a:solidFill>
                  <a:srgbClr val="1B2535"/>
                </a:solidFill>
                <a:latin typeface="Pretendard" pitchFamily="34" charset="0"/>
                <a:ea typeface="Pretendard" pitchFamily="34" charset="-122"/>
                <a:cs typeface="Pretendard" pitchFamily="34" charset="-120"/>
              </a:rPr>
              <a:t>사전 관찰 체크리스트</a:t>
            </a:r>
            <a:endParaRPr lang="en-US" sz="1500" dirty="0"/>
          </a:p>
        </p:txBody>
      </p:sp>
      <p:sp>
        <p:nvSpPr>
          <p:cNvPr id="105" name="Text 94"/>
          <p:cNvSpPr txBox="1"/>
          <p:nvPr/>
        </p:nvSpPr>
        <p:spPr>
          <a:xfrm>
            <a:off x="12293600" y="7663586"/>
            <a:ext cx="5327802" cy="941832"/>
          </a:xfrm>
          <a:prstGeom prst="rect">
            <a:avLst/>
          </a:prstGeom>
          <a:noFill/>
          <a:ln/>
        </p:spPr>
        <p:txBody>
          <a:bodyPr wrap="square" lIns="0" tIns="0" rIns="0" bIns="0" rtlCol="0" anchor="t"/>
          <a:lstStyle/>
          <a:p>
            <a:pPr algn="l" marL="165100" indent="-165100">
              <a:lnSpc>
                <a:spcPts val="1785"/>
              </a:lnSpc>
              <a:buSzPct val="100000"/>
              <a:buChar char="•"/>
            </a:pPr>
            <a:r>
              <a:rPr lang="en-US" sz="1050" dirty="0">
                <a:solidFill>
                  <a:srgbClr val="44546A"/>
                </a:solidFill>
                <a:latin typeface="Pretendard" pitchFamily="34" charset="0"/>
                <a:ea typeface="Pretendard" pitchFamily="34" charset="-122"/>
                <a:cs typeface="Pretendard" pitchFamily="34" charset="-120"/>
              </a:rPr>
              <a:t>​</a:t>
            </a:r>
            <a:pPr algn="l" marL="165100" indent="-165100">
              <a:lnSpc>
                <a:spcPts val="1785"/>
              </a:lnSpc>
              <a:buSzPct val="100000"/>
              <a:buChar char="•"/>
            </a:pPr>
            <a:r>
              <a:rPr lang="en-US" sz="1050" dirty="0">
                <a:solidFill>
                  <a:srgbClr val="44546A"/>
                </a:solidFill>
                <a:latin typeface="Pretendard" pitchFamily="34" charset="0"/>
                <a:ea typeface="Pretendard" pitchFamily="34" charset="-122"/>
                <a:cs typeface="Pretendard" pitchFamily="34" charset="-120"/>
              </a:rPr>
              <a:t>All 6 wafer 위상차 동일 목표 recipe로 진입</a:t>
            </a:r>
            <a:pPr algn="l" marL="165100" indent="-165100">
              <a:lnSpc>
                <a:spcPts val="1785"/>
              </a:lnSpc>
              <a:buSzPct val="100000"/>
              <a:buChar char="•"/>
            </a:pPr>
            <a:endParaRPr lang="en-US" sz="1050" dirty="0"/>
          </a:p>
          <a:p>
            <a:pPr algn="l" marL="165100" indent="-165100">
              <a:lnSpc>
                <a:spcPts val="1785"/>
              </a:lnSpc>
              <a:buSzPct val="100000"/>
              <a:buChar char="•"/>
            </a:pPr>
            <a:r>
              <a:rPr lang="en-US" sz="1050" dirty="0">
                <a:solidFill>
                  <a:srgbClr val="44546A"/>
                </a:solidFill>
                <a:latin typeface="Pretendard" pitchFamily="34" charset="0"/>
                <a:ea typeface="Pretendard" pitchFamily="34" charset="-122"/>
                <a:cs typeface="Pretendard" pitchFamily="34" charset="-120"/>
              </a:rPr>
              <a:t>​</a:t>
            </a:r>
            <a:pPr algn="l" marL="165100" indent="-165100">
              <a:lnSpc>
                <a:spcPts val="1785"/>
              </a:lnSpc>
              <a:buSzPct val="100000"/>
              <a:buChar char="•"/>
            </a:pPr>
            <a:r>
              <a:rPr lang="en-US" sz="1050" dirty="0">
                <a:solidFill>
                  <a:srgbClr val="44546A"/>
                </a:solidFill>
                <a:latin typeface="Pretendard" pitchFamily="34" charset="0"/>
                <a:ea typeface="Pretendard" pitchFamily="34" charset="-122"/>
                <a:cs typeface="Pretendard" pitchFamily="34" charset="-120"/>
              </a:rPr>
              <a:t>Split 간 동일 chamber set 사용 → cross-tool 편차 최소화</a:t>
            </a:r>
            <a:pPr algn="l" marL="165100" indent="-165100">
              <a:lnSpc>
                <a:spcPts val="1785"/>
              </a:lnSpc>
              <a:buSzPct val="100000"/>
              <a:buChar char="•"/>
            </a:pPr>
            <a:endParaRPr lang="en-US" sz="1050" dirty="0"/>
          </a:p>
          <a:p>
            <a:pPr algn="l" marL="165100" indent="-165100">
              <a:lnSpc>
                <a:spcPts val="1785"/>
              </a:lnSpc>
              <a:buSzPct val="100000"/>
              <a:buChar char="•"/>
            </a:pPr>
            <a:r>
              <a:rPr lang="en-US" sz="1050" dirty="0">
                <a:solidFill>
                  <a:srgbClr val="44546A"/>
                </a:solidFill>
                <a:latin typeface="Pretendard" pitchFamily="34" charset="0"/>
                <a:ea typeface="Pretendard" pitchFamily="34" charset="-122"/>
                <a:cs typeface="Pretendard" pitchFamily="34" charset="-120"/>
              </a:rPr>
              <a:t>​</a:t>
            </a:r>
            <a:pPr algn="l" marL="165100" indent="-165100">
              <a:lnSpc>
                <a:spcPts val="1785"/>
              </a:lnSpc>
              <a:buSzPct val="100000"/>
              <a:buChar char="•"/>
            </a:pPr>
            <a:r>
              <a:rPr lang="en-US" sz="1050" dirty="0">
                <a:solidFill>
                  <a:srgbClr val="44546A"/>
                </a:solidFill>
                <a:latin typeface="Pretendard" pitchFamily="34" charset="0"/>
                <a:ea typeface="Pretendard" pitchFamily="34" charset="-122"/>
                <a:cs typeface="Pretendard" pitchFamily="34" charset="-120"/>
              </a:rPr>
              <a:t>25 measurement site 균등 분할 — wafer map에서 본 slide 7</a:t>
            </a:r>
            <a:pPr algn="l" marL="165100" indent="-165100">
              <a:lnSpc>
                <a:spcPts val="1785"/>
              </a:lnSpc>
              <a:buSzPct val="100000"/>
              <a:buChar char="•"/>
            </a:pPr>
            <a:endParaRPr lang="en-US" sz="1050" dirty="0"/>
          </a:p>
          <a:p>
            <a:pPr algn="l" marL="165100" indent="-165100">
              <a:lnSpc>
                <a:spcPts val="1785"/>
              </a:lnSpc>
              <a:buSzPct val="100000"/>
              <a:buChar char="•"/>
            </a:pPr>
            <a:r>
              <a:rPr lang="en-US" sz="1050" dirty="0">
                <a:solidFill>
                  <a:srgbClr val="44546A"/>
                </a:solidFill>
                <a:latin typeface="Pretendard" pitchFamily="34" charset="0"/>
                <a:ea typeface="Pretendard" pitchFamily="34" charset="-122"/>
                <a:cs typeface="Pretendard" pitchFamily="34" charset="-120"/>
              </a:rPr>
              <a:t>​</a:t>
            </a:r>
            <a:pPr algn="l" marL="165100" indent="-165100">
              <a:lnSpc>
                <a:spcPts val="1785"/>
              </a:lnSpc>
              <a:buSzPct val="100000"/>
              <a:buChar char="•"/>
            </a:pPr>
            <a:r>
              <a:rPr lang="en-US" sz="1050" dirty="0">
                <a:solidFill>
                  <a:srgbClr val="44546A"/>
                </a:solidFill>
                <a:latin typeface="Pretendard" pitchFamily="34" charset="0"/>
                <a:ea typeface="Pretendard" pitchFamily="34" charset="-122"/>
                <a:cs typeface="Pretendard" pitchFamily="34" charset="-120"/>
              </a:rPr>
              <a:t>측정 site 25개 중 5개는 in-line repeat로 재현성 점검</a:t>
            </a:r>
            <a:endParaRPr lang="en-US" sz="1050" dirty="0"/>
          </a:p>
        </p:txBody>
      </p:sp>
      <p:sp>
        <p:nvSpPr>
          <p:cNvPr id="106" name="Text 95"/>
          <p:cNvSpPr txBox="1"/>
          <p:nvPr/>
        </p:nvSpPr>
        <p:spPr>
          <a:xfrm>
            <a:off x="800100" y="9315907"/>
            <a:ext cx="16193110" cy="228600"/>
          </a:xfrm>
          <a:prstGeom prst="rect">
            <a:avLst/>
          </a:prstGeom>
          <a:noFill/>
          <a:ln/>
        </p:spPr>
        <p:txBody>
          <a:bodyPr wrap="non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KEY TAKEAWAY</a:t>
            </a:r>
            <a:pPr algn="l" indent="0" marL="0">
              <a:buNone/>
            </a:pPr>
            <a:r>
              <a:rPr lang="en-US" sz="1200" dirty="0">
                <a:solidFill>
                  <a:srgbClr val="FFFFFF"/>
                </a:solidFill>
                <a:latin typeface="Pretendard" pitchFamily="34" charset="0"/>
                <a:ea typeface="Pretendard" pitchFamily="34" charset="-122"/>
                <a:cs typeface="Pretendard" pitchFamily="34" charset="-120"/>
              </a:rPr>
              <a:t> Split 당 3매(baseline + 2 tweak) 직교 설계 — 단일 hardmask 변수 외 모든 변수는 고정.</a:t>
            </a:r>
            <a:endParaRPr lang="en-US" sz="1200" dirty="0"/>
          </a:p>
        </p:txBody>
      </p:sp>
      <p:sp>
        <p:nvSpPr>
          <p:cNvPr id="107" name="Text 96"/>
          <p:cNvSpPr txBox="1"/>
          <p:nvPr/>
        </p:nvSpPr>
        <p:spPr>
          <a:xfrm>
            <a:off x="571500" y="9924898"/>
            <a:ext cx="11430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 내부 테스트용 더미(가상) 데이터 — 본 보고서 수치는 실제 제품/공정과 무관함</a:t>
            </a:r>
            <a:endParaRPr lang="en-US" sz="975" dirty="0"/>
          </a:p>
        </p:txBody>
      </p:sp>
      <p:sp>
        <p:nvSpPr>
          <p:cNvPr id="108" name="Text 97"/>
          <p:cNvSpPr txBox="1"/>
          <p:nvPr/>
        </p:nvSpPr>
        <p:spPr>
          <a:xfrm>
            <a:off x="14287500" y="9924898"/>
            <a:ext cx="3429000" cy="181051"/>
          </a:xfrm>
          <a:prstGeom prst="rect">
            <a:avLst/>
          </a:prstGeom>
          <a:noFill/>
          <a:ln/>
        </p:spPr>
        <p:txBody>
          <a:bodyPr wrap="none" lIns="0" tIns="0" rIns="0" bIns="0" rtlCol="0" anchor="ctr"/>
          <a:lstStyle/>
          <a:p>
            <a:pPr algn="r" indent="0" marL="0">
              <a:buNone/>
            </a:pPr>
            <a:r>
              <a:rPr lang="en-US" sz="975" dirty="0">
                <a:solidFill>
                  <a:srgbClr val="7A8898"/>
                </a:solidFill>
                <a:latin typeface="Pretendard" pitchFamily="34" charset="0"/>
                <a:ea typeface="Pretendard" pitchFamily="34" charset="-122"/>
                <a:cs typeface="Pretendard" pitchFamily="34" charset="-120"/>
              </a:rPr>
              <a:t>02 / 09 · EUV-BEOL-DUMMY</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EEF2"/>
        </a:solidFill>
      </p:bgPr>
    </p:bg>
    <p:spTree>
      <p:nvGrpSpPr>
        <p:cNvPr id="1" name=""/>
        <p:cNvGrpSpPr/>
        <p:nvPr/>
      </p:nvGrpSpPr>
      <p:grpSpPr>
        <a:xfrm>
          <a:off x="0" y="0"/>
          <a:ext cx="0" cy="0"/>
          <a:chOff x="0" y="0"/>
          <a:chExt cx="0" cy="0"/>
        </a:xfrm>
      </p:grpSpPr>
      <p:sp>
        <p:nvSpPr>
          <p:cNvPr id="3" name="Shape 0"/>
          <p:cNvSpPr/>
          <p:nvPr/>
        </p:nvSpPr>
        <p:spPr>
          <a:xfrm>
            <a:off x="0" y="0"/>
            <a:ext cx="18288000" cy="1123798"/>
          </a:xfrm>
          <a:prstGeom prst="rect">
            <a:avLst/>
          </a:prstGeom>
          <a:solidFill>
            <a:srgbClr val="FFFFFF"/>
          </a:solidFill>
          <a:ln/>
        </p:spPr>
      </p:sp>
      <p:sp>
        <p:nvSpPr>
          <p:cNvPr id="4" name="Shape 1"/>
          <p:cNvSpPr/>
          <p:nvPr/>
        </p:nvSpPr>
        <p:spPr>
          <a:xfrm>
            <a:off x="0" y="1114654"/>
            <a:ext cx="18288000" cy="9144"/>
          </a:xfrm>
          <a:prstGeom prst="rect">
            <a:avLst/>
          </a:prstGeom>
          <a:solidFill>
            <a:srgbClr val="C8CED6"/>
          </a:solidFill>
          <a:ln w="12700">
            <a:solidFill>
              <a:srgbClr val="C8CED6">
                <a:alpha val="0"/>
              </a:srgbClr>
            </a:solidFill>
            <a:prstDash val="solid"/>
          </a:ln>
        </p:spPr>
      </p:sp>
      <p:sp>
        <p:nvSpPr>
          <p:cNvPr id="5" name="Shape 2"/>
          <p:cNvSpPr/>
          <p:nvPr/>
        </p:nvSpPr>
        <p:spPr>
          <a:xfrm>
            <a:off x="571500" y="1619402"/>
            <a:ext cx="8477402" cy="5810098"/>
          </a:xfrm>
          <a:prstGeom prst="rect">
            <a:avLst/>
          </a:prstGeom>
          <a:solidFill>
            <a:srgbClr val="FFFFFF"/>
          </a:solidFill>
          <a:ln w="12700">
            <a:solidFill>
              <a:srgbClr val="C8CED6"/>
            </a:solidFill>
            <a:prstDash val="solid"/>
          </a:ln>
        </p:spPr>
      </p:sp>
      <p:sp>
        <p:nvSpPr>
          <p:cNvPr id="6" name="Shape 3"/>
          <p:cNvSpPr/>
          <p:nvPr/>
        </p:nvSpPr>
        <p:spPr>
          <a:xfrm>
            <a:off x="9239098" y="1619402"/>
            <a:ext cx="8477402" cy="5810098"/>
          </a:xfrm>
          <a:prstGeom prst="rect">
            <a:avLst/>
          </a:prstGeom>
          <a:solidFill>
            <a:srgbClr val="FFFFFF"/>
          </a:solidFill>
          <a:ln w="12700">
            <a:solidFill>
              <a:srgbClr val="C8CED6"/>
            </a:solidFill>
            <a:prstDash val="solid"/>
          </a:ln>
        </p:spPr>
      </p:sp>
      <p:sp>
        <p:nvSpPr>
          <p:cNvPr id="7" name="Shape 4"/>
          <p:cNvSpPr/>
          <p:nvPr/>
        </p:nvSpPr>
        <p:spPr>
          <a:xfrm>
            <a:off x="571500" y="7601407"/>
            <a:ext cx="17145000" cy="1333195"/>
          </a:xfrm>
          <a:prstGeom prst="rect">
            <a:avLst/>
          </a:prstGeom>
          <a:solidFill>
            <a:srgbClr val="FFFFFF"/>
          </a:solidFill>
          <a:ln w="12700">
            <a:solidFill>
              <a:srgbClr val="C8CED6"/>
            </a:solidFill>
            <a:prstDash val="solid"/>
          </a:ln>
        </p:spPr>
      </p:sp>
      <p:pic>
        <p:nvPicPr>
          <p:cNvPr id="8" name="Image 0" descr="gen-dedup-67de915f3037cddbbfe4bde9fde9037b.png">    </p:cNvPr>
          <p:cNvPicPr>
            <a:picLocks noChangeAspect="1"/>
          </p:cNvPicPr>
          <p:nvPr/>
        </p:nvPicPr>
        <p:blipFill>
          <a:blip r:embed="rId1"/>
          <a:srcRect l="0" r="0" t="-40" b="-40"/>
          <a:stretch/>
        </p:blipFill>
        <p:spPr>
          <a:xfrm>
            <a:off x="571500" y="9239098"/>
            <a:ext cx="17145000" cy="381305"/>
          </a:xfrm>
          <a:prstGeom prst="rect">
            <a:avLst/>
          </a:prstGeom>
        </p:spPr>
      </p:pic>
      <p:pic>
        <p:nvPicPr>
          <p:cNvPr id="9" name="Image 1" descr="gen-dedup-68bac70ffc575f7be58fcf62b0930262.png">    </p:cNvPr>
          <p:cNvPicPr>
            <a:picLocks noChangeAspect="1"/>
          </p:cNvPicPr>
          <p:nvPr/>
        </p:nvPicPr>
        <p:blipFill>
          <a:blip r:embed="rId2"/>
          <a:srcRect l="-2083" r="-2083" t="0" b="0"/>
          <a:stretch/>
        </p:blipFill>
        <p:spPr>
          <a:xfrm>
            <a:off x="0" y="9715500"/>
            <a:ext cx="18288000" cy="9144"/>
          </a:xfrm>
          <a:prstGeom prst="rect">
            <a:avLst/>
          </a:prstGeom>
        </p:spPr>
      </p:pic>
      <p:sp>
        <p:nvSpPr>
          <p:cNvPr id="10" name="Shape 5"/>
          <p:cNvSpPr/>
          <p:nvPr/>
        </p:nvSpPr>
        <p:spPr>
          <a:xfrm>
            <a:off x="571500" y="1619402"/>
            <a:ext cx="8477402" cy="495605"/>
          </a:xfrm>
          <a:prstGeom prst="rect">
            <a:avLst/>
          </a:prstGeom>
          <a:solidFill>
            <a:srgbClr val="2E6F8E"/>
          </a:solidFill>
          <a:ln w="12700">
            <a:solidFill>
              <a:srgbClr val="FFFFFF">
                <a:alpha val="0"/>
              </a:srgbClr>
            </a:solidFill>
            <a:prstDash val="solid"/>
          </a:ln>
        </p:spPr>
      </p:sp>
      <p:sp>
        <p:nvSpPr>
          <p:cNvPr id="11" name="Shape 6"/>
          <p:cNvSpPr/>
          <p:nvPr/>
        </p:nvSpPr>
        <p:spPr>
          <a:xfrm>
            <a:off x="800100" y="2361895"/>
            <a:ext cx="6133795" cy="3010205"/>
          </a:xfrm>
          <a:prstGeom prst="rect">
            <a:avLst/>
          </a:prstGeom>
          <a:solidFill>
            <a:srgbClr val="0E1116"/>
          </a:solidFill>
          <a:ln w="12700">
            <a:solidFill>
              <a:srgbClr val="1B2535"/>
            </a:solidFill>
            <a:prstDash val="solid"/>
          </a:ln>
        </p:spPr>
      </p:sp>
      <p:sp>
        <p:nvSpPr>
          <p:cNvPr id="12" name="Shape 7"/>
          <p:cNvSpPr/>
          <p:nvPr/>
        </p:nvSpPr>
        <p:spPr>
          <a:xfrm>
            <a:off x="9239098" y="1619402"/>
            <a:ext cx="8477402" cy="495605"/>
          </a:xfrm>
          <a:prstGeom prst="rect">
            <a:avLst/>
          </a:prstGeom>
          <a:solidFill>
            <a:srgbClr val="C8552D"/>
          </a:solidFill>
          <a:ln w="12700">
            <a:solidFill>
              <a:srgbClr val="FFFFFF">
                <a:alpha val="0"/>
              </a:srgbClr>
            </a:solidFill>
            <a:prstDash val="solid"/>
          </a:ln>
        </p:spPr>
      </p:sp>
      <p:sp>
        <p:nvSpPr>
          <p:cNvPr id="13" name="Shape 8"/>
          <p:cNvSpPr/>
          <p:nvPr/>
        </p:nvSpPr>
        <p:spPr>
          <a:xfrm>
            <a:off x="9467698" y="2361895"/>
            <a:ext cx="6133795" cy="3010205"/>
          </a:xfrm>
          <a:prstGeom prst="rect">
            <a:avLst/>
          </a:prstGeom>
          <a:solidFill>
            <a:srgbClr val="0E1116"/>
          </a:solidFill>
          <a:ln w="12700">
            <a:solidFill>
              <a:srgbClr val="1B2535"/>
            </a:solidFill>
            <a:prstDash val="solid"/>
          </a:ln>
        </p:spPr>
      </p:sp>
      <p:sp>
        <p:nvSpPr>
          <p:cNvPr id="14" name="Shape 9"/>
          <p:cNvSpPr/>
          <p:nvPr/>
        </p:nvSpPr>
        <p:spPr>
          <a:xfrm>
            <a:off x="800100" y="8076895"/>
            <a:ext cx="5391302" cy="705002"/>
          </a:xfrm>
          <a:prstGeom prst="rect">
            <a:avLst/>
          </a:prstGeom>
          <a:solidFill>
            <a:srgbClr val="F7F9FB"/>
          </a:solidFill>
          <a:ln/>
        </p:spPr>
      </p:sp>
      <p:sp>
        <p:nvSpPr>
          <p:cNvPr id="15" name="Shape 10"/>
          <p:cNvSpPr/>
          <p:nvPr/>
        </p:nvSpPr>
        <p:spPr>
          <a:xfrm>
            <a:off x="800100" y="8076895"/>
            <a:ext cx="57607" cy="705002"/>
          </a:xfrm>
          <a:prstGeom prst="rect">
            <a:avLst/>
          </a:prstGeom>
          <a:solidFill>
            <a:srgbClr val="2E6F8E"/>
          </a:solidFill>
          <a:ln w="12700">
            <a:solidFill>
              <a:srgbClr val="2E6F8E">
                <a:alpha val="0"/>
              </a:srgbClr>
            </a:solidFill>
            <a:prstDash val="solid"/>
          </a:ln>
        </p:spPr>
      </p:sp>
      <p:sp>
        <p:nvSpPr>
          <p:cNvPr id="16" name="Shape 11"/>
          <p:cNvSpPr/>
          <p:nvPr/>
        </p:nvSpPr>
        <p:spPr>
          <a:xfrm>
            <a:off x="6458407" y="8076895"/>
            <a:ext cx="5391302" cy="705002"/>
          </a:xfrm>
          <a:prstGeom prst="rect">
            <a:avLst/>
          </a:prstGeom>
          <a:solidFill>
            <a:srgbClr val="F7F9FB"/>
          </a:solidFill>
          <a:ln/>
        </p:spPr>
      </p:sp>
      <p:sp>
        <p:nvSpPr>
          <p:cNvPr id="17" name="Shape 12"/>
          <p:cNvSpPr/>
          <p:nvPr/>
        </p:nvSpPr>
        <p:spPr>
          <a:xfrm>
            <a:off x="6458407" y="8076895"/>
            <a:ext cx="57607" cy="705002"/>
          </a:xfrm>
          <a:prstGeom prst="rect">
            <a:avLst/>
          </a:prstGeom>
          <a:solidFill>
            <a:srgbClr val="C8552D"/>
          </a:solidFill>
          <a:ln w="12700">
            <a:solidFill>
              <a:srgbClr val="C8552D">
                <a:alpha val="0"/>
              </a:srgbClr>
            </a:solidFill>
            <a:prstDash val="solid"/>
          </a:ln>
        </p:spPr>
      </p:sp>
      <p:sp>
        <p:nvSpPr>
          <p:cNvPr id="18" name="Shape 13"/>
          <p:cNvSpPr/>
          <p:nvPr/>
        </p:nvSpPr>
        <p:spPr>
          <a:xfrm>
            <a:off x="12115800" y="8076895"/>
            <a:ext cx="5372100" cy="705002"/>
          </a:xfrm>
          <a:prstGeom prst="rect">
            <a:avLst/>
          </a:prstGeom>
          <a:solidFill>
            <a:srgbClr val="F7F9FB"/>
          </a:solidFill>
          <a:ln/>
        </p:spPr>
      </p:sp>
      <p:sp>
        <p:nvSpPr>
          <p:cNvPr id="19" name="Shape 14"/>
          <p:cNvSpPr/>
          <p:nvPr/>
        </p:nvSpPr>
        <p:spPr>
          <a:xfrm>
            <a:off x="12115800" y="8076895"/>
            <a:ext cx="57607" cy="705002"/>
          </a:xfrm>
          <a:prstGeom prst="rect">
            <a:avLst/>
          </a:prstGeom>
          <a:solidFill>
            <a:srgbClr val="B47A1F"/>
          </a:solidFill>
          <a:ln w="12700">
            <a:solidFill>
              <a:srgbClr val="B47A1F">
                <a:alpha val="0"/>
              </a:srgbClr>
            </a:solidFill>
            <a:prstDash val="solid"/>
          </a:ln>
        </p:spPr>
      </p:sp>
      <p:pic>
        <p:nvPicPr>
          <p:cNvPr id="20" name="Image 2" descr="gen-dedup-8c03eec47a4abcd3e74eed413d58a96f.jpg">    </p:cNvPr>
          <p:cNvPicPr>
            <a:picLocks noChangeAspect="1"/>
          </p:cNvPicPr>
          <p:nvPr/>
        </p:nvPicPr>
        <p:blipFill>
          <a:blip r:embed="rId3">
            <a:alphaModFix amt="96000"/>
          </a:blip>
          <a:stretch>
            <a:fillRect/>
          </a:stretch>
        </p:blipFill>
        <p:spPr>
          <a:xfrm>
            <a:off x="800100" y="2361895"/>
            <a:ext cx="6133795" cy="3010205"/>
          </a:xfrm>
          <a:prstGeom prst="rect">
            <a:avLst/>
          </a:prstGeom>
        </p:spPr>
      </p:pic>
      <p:pic>
        <p:nvPicPr>
          <p:cNvPr id="21" name="Image 3" descr="gen-dedup-1b483d44429192e945e82150a15f3a28.jpg">    </p:cNvPr>
          <p:cNvPicPr>
            <a:picLocks noChangeAspect="1"/>
          </p:cNvPicPr>
          <p:nvPr/>
        </p:nvPicPr>
        <p:blipFill>
          <a:blip r:embed="rId4">
            <a:alphaModFix amt="96000"/>
          </a:blip>
          <a:stretch>
            <a:fillRect/>
          </a:stretch>
        </p:blipFill>
        <p:spPr>
          <a:xfrm>
            <a:off x="9467698" y="2361895"/>
            <a:ext cx="6133795" cy="3010205"/>
          </a:xfrm>
          <a:prstGeom prst="rect">
            <a:avLst/>
          </a:prstGeom>
        </p:spPr>
      </p:pic>
      <p:sp>
        <p:nvSpPr>
          <p:cNvPr id="22" name="Text 15"/>
          <p:cNvSpPr txBox="1"/>
          <p:nvPr/>
        </p:nvSpPr>
        <p:spPr>
          <a:xfrm>
            <a:off x="800100" y="1695298"/>
            <a:ext cx="6858000" cy="362102"/>
          </a:xfrm>
          <a:prstGeom prst="rect">
            <a:avLst/>
          </a:prstGeom>
          <a:noFill/>
          <a:ln/>
        </p:spPr>
        <p:txBody>
          <a:bodyPr wrap="non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SPLIT A</a:t>
            </a:r>
            <a:pPr algn="l" indent="0" marL="0">
              <a:buNone/>
            </a:pPr>
            <a:r>
              <a:rPr lang="en-US" sz="1650" b="1" dirty="0">
                <a:solidFill>
                  <a:srgbClr val="FFFFFF"/>
                </a:solidFill>
                <a:latin typeface="Pretendard" pitchFamily="34" charset="0"/>
                <a:ea typeface="Pretendard" pitchFamily="34" charset="-122"/>
                <a:cs typeface="Pretendard" pitchFamily="34" charset="-120"/>
              </a:rPr>
              <a:t>TiN 30 nm 단일 MHM</a:t>
            </a:r>
            <a:endParaRPr lang="en-US" sz="1200" dirty="0"/>
          </a:p>
        </p:txBody>
      </p:sp>
      <p:sp>
        <p:nvSpPr>
          <p:cNvPr id="23" name="Text 16"/>
          <p:cNvSpPr txBox="1"/>
          <p:nvPr/>
        </p:nvSpPr>
        <p:spPr>
          <a:xfrm>
            <a:off x="800100" y="1790395"/>
            <a:ext cx="8020202" cy="228600"/>
          </a:xfrm>
          <a:prstGeom prst="rect">
            <a:avLst/>
          </a:prstGeom>
          <a:noFill/>
          <a:ln/>
        </p:spPr>
        <p:txBody>
          <a:bodyPr wrap="none" lIns="0" tIns="0" rIns="0" bIns="0" rtlCol="0" anchor="ctr"/>
          <a:lstStyle/>
          <a:p>
            <a:pPr algn="r" indent="0" marL="0">
              <a:buNone/>
            </a:pPr>
            <a:r>
              <a:rPr lang="en-US" sz="975" dirty="0">
                <a:solidFill>
                  <a:srgbClr val="FFFFFF"/>
                </a:solidFill>
                <a:latin typeface="Pretendard" pitchFamily="34" charset="0"/>
                <a:ea typeface="Pretendard" pitchFamily="34" charset="-122"/>
                <a:cs typeface="Pretendard" pitchFamily="34" charset="-120"/>
              </a:rPr>
              <a:t>W02 (twk A) · 24 nm L/S</a:t>
            </a:r>
            <a:endParaRPr lang="en-US" sz="1200" dirty="0"/>
          </a:p>
        </p:txBody>
      </p:sp>
      <p:sp>
        <p:nvSpPr>
          <p:cNvPr id="24" name="Shape 17"/>
          <p:cNvSpPr/>
          <p:nvPr/>
        </p:nvSpPr>
        <p:spPr>
          <a:xfrm>
            <a:off x="7048195" y="2361895"/>
            <a:ext cx="1904695" cy="3010205"/>
          </a:xfrm>
          <a:prstGeom prst="rect">
            <a:avLst/>
          </a:prstGeom>
          <a:solidFill>
            <a:srgbClr val="F7F9FB"/>
          </a:solidFill>
          <a:ln w="12700">
            <a:solidFill>
              <a:srgbClr val="D7DCE2"/>
            </a:solidFill>
            <a:prstDash val="solid"/>
          </a:ln>
        </p:spPr>
      </p:sp>
      <p:sp>
        <p:nvSpPr>
          <p:cNvPr id="25" name="Shape 18"/>
          <p:cNvSpPr/>
          <p:nvPr/>
        </p:nvSpPr>
        <p:spPr>
          <a:xfrm>
            <a:off x="800100" y="5562295"/>
            <a:ext cx="7962595" cy="790956"/>
          </a:xfrm>
          <a:prstGeom prst="rect">
            <a:avLst/>
          </a:prstGeom>
          <a:solidFill>
            <a:srgbClr val="F7F9FB"/>
          </a:solidFill>
          <a:ln/>
        </p:spPr>
      </p:sp>
      <p:sp>
        <p:nvSpPr>
          <p:cNvPr id="26" name="Shape 19"/>
          <p:cNvSpPr/>
          <p:nvPr/>
        </p:nvSpPr>
        <p:spPr>
          <a:xfrm>
            <a:off x="800100" y="5562295"/>
            <a:ext cx="57607" cy="790956"/>
          </a:xfrm>
          <a:prstGeom prst="rect">
            <a:avLst/>
          </a:prstGeom>
          <a:solidFill>
            <a:srgbClr val="2E6F8E"/>
          </a:solidFill>
          <a:ln w="12700">
            <a:solidFill>
              <a:srgbClr val="2E6F8E">
                <a:alpha val="0"/>
              </a:srgbClr>
            </a:solidFill>
            <a:prstDash val="solid"/>
          </a:ln>
        </p:spPr>
      </p:sp>
      <p:sp>
        <p:nvSpPr>
          <p:cNvPr id="27" name="Text 20"/>
          <p:cNvSpPr txBox="1"/>
          <p:nvPr/>
        </p:nvSpPr>
        <p:spPr>
          <a:xfrm>
            <a:off x="1067105" y="5562295"/>
            <a:ext cx="7696505" cy="790956"/>
          </a:xfrm>
          <a:prstGeom prst="rect">
            <a:avLst/>
          </a:prstGeom>
          <a:solidFill>
            <a:srgbClr val="FFFFFF">
              <a:alpha val="0"/>
            </a:srgbClr>
          </a:solidFill>
          <a:ln>
            <a:solidFill>
              <a:srgbClr val="FFFFFF">
                <a:alpha val="0"/>
              </a:srgbClr>
            </a:solidFill>
          </a:ln>
        </p:spPr>
        <p:txBody>
          <a:bodyPr wrap="square" lIns="0" tIns="177800" rIns="215900" bIns="177800" rtlCol="0" anchor="ctr"/>
          <a:lstStyle/>
          <a:p>
            <a:pPr algn="l" indent="0" marL="0">
              <a:lnSpc>
                <a:spcPts val="1744"/>
              </a:lnSpc>
              <a:buNone/>
            </a:pPr>
            <a:r>
              <a:rPr lang="en-US" sz="1125" b="1" dirty="0">
                <a:solidFill>
                  <a:srgbClr val="2E6F8E"/>
                </a:solidFill>
                <a:latin typeface="Pretendard" pitchFamily="34" charset="0"/>
                <a:ea typeface="Pretendard" pitchFamily="34" charset="-122"/>
                <a:cs typeface="Pretendard" pitchFamily="34" charset="-120"/>
              </a:rPr>
              <a:t>관찰 — </a:t>
            </a:r>
            <a:pPr algn="l" indent="0" marL="0">
              <a:lnSpc>
                <a:spcPts val="1744"/>
              </a:lnSpc>
              <a:buNone/>
            </a:pPr>
            <a:r>
              <a:rPr lang="en-US" sz="1125" dirty="0">
                <a:solidFill>
                  <a:srgbClr val="44546A"/>
                </a:solidFill>
                <a:latin typeface="Pretendard" pitchFamily="34" charset="0"/>
                <a:ea typeface="Pretendard" pitchFamily="34" charset="-122"/>
                <a:cs typeface="Pretendard" pitchFamily="34" charset="-120"/>
              </a:rPr>
              <a:t> 상단 HM shoulder는 비교적 수직을 유지하나 24 nm 라인 사이 협소부에서 sidewall 중앙 0.8–1.5 nm bowing, polymer 누적 흔적이 HM 상단에 잔류.</a:t>
            </a:r>
            <a:endParaRPr lang="en-US" sz="1125" dirty="0"/>
          </a:p>
        </p:txBody>
      </p:sp>
      <p:sp>
        <p:nvSpPr>
          <p:cNvPr id="28" name="Text 21"/>
          <p:cNvSpPr txBox="1"/>
          <p:nvPr/>
        </p:nvSpPr>
        <p:spPr>
          <a:xfrm>
            <a:off x="9467698" y="1695298"/>
            <a:ext cx="6858000" cy="362102"/>
          </a:xfrm>
          <a:prstGeom prst="rect">
            <a:avLst/>
          </a:prstGeom>
          <a:noFill/>
          <a:ln/>
        </p:spPr>
        <p:txBody>
          <a:bodyPr wrap="non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SPLIT B</a:t>
            </a:r>
            <a:pPr algn="l" indent="0" marL="0">
              <a:buNone/>
            </a:pPr>
            <a:r>
              <a:rPr lang="en-US" sz="1650" b="1" dirty="0">
                <a:solidFill>
                  <a:srgbClr val="FFFFFF"/>
                </a:solidFill>
                <a:latin typeface="Pretendard" pitchFamily="34" charset="0"/>
                <a:ea typeface="Pretendard" pitchFamily="34" charset="-122"/>
                <a:cs typeface="Pretendard" pitchFamily="34" charset="-120"/>
              </a:rPr>
              <a:t>a-C 20 / SiN 30 nm stack</a:t>
            </a:r>
            <a:endParaRPr lang="en-US" sz="1200" dirty="0"/>
          </a:p>
        </p:txBody>
      </p:sp>
      <p:sp>
        <p:nvSpPr>
          <p:cNvPr id="29" name="Text 22"/>
          <p:cNvSpPr txBox="1"/>
          <p:nvPr/>
        </p:nvSpPr>
        <p:spPr>
          <a:xfrm>
            <a:off x="9467698" y="1790395"/>
            <a:ext cx="8020202" cy="228600"/>
          </a:xfrm>
          <a:prstGeom prst="rect">
            <a:avLst/>
          </a:prstGeom>
          <a:noFill/>
          <a:ln/>
        </p:spPr>
        <p:txBody>
          <a:bodyPr wrap="none" lIns="0" tIns="0" rIns="0" bIns="0" rtlCol="0" anchor="ctr"/>
          <a:lstStyle/>
          <a:p>
            <a:pPr algn="r" indent="0" marL="0">
              <a:buNone/>
            </a:pPr>
            <a:r>
              <a:rPr lang="en-US" sz="975" dirty="0">
                <a:solidFill>
                  <a:srgbClr val="FFFFFF"/>
                </a:solidFill>
                <a:latin typeface="Pretendard" pitchFamily="34" charset="0"/>
                <a:ea typeface="Pretendard" pitchFamily="34" charset="-122"/>
                <a:cs typeface="Pretendard" pitchFamily="34" charset="-120"/>
              </a:rPr>
              <a:t>W05 (twk A) · 24 nm L/S</a:t>
            </a:r>
            <a:endParaRPr lang="en-US" sz="1200" dirty="0"/>
          </a:p>
        </p:txBody>
      </p:sp>
      <p:sp>
        <p:nvSpPr>
          <p:cNvPr id="30" name="Shape 23"/>
          <p:cNvSpPr/>
          <p:nvPr/>
        </p:nvSpPr>
        <p:spPr>
          <a:xfrm>
            <a:off x="15716707" y="2361895"/>
            <a:ext cx="1904695" cy="3010205"/>
          </a:xfrm>
          <a:prstGeom prst="rect">
            <a:avLst/>
          </a:prstGeom>
          <a:solidFill>
            <a:srgbClr val="F7F9FB"/>
          </a:solidFill>
          <a:ln w="12700">
            <a:solidFill>
              <a:srgbClr val="D7DCE2"/>
            </a:solidFill>
            <a:prstDash val="solid"/>
          </a:ln>
        </p:spPr>
      </p:sp>
      <p:sp>
        <p:nvSpPr>
          <p:cNvPr id="31" name="Shape 24"/>
          <p:cNvSpPr/>
          <p:nvPr/>
        </p:nvSpPr>
        <p:spPr>
          <a:xfrm>
            <a:off x="9467698" y="5562295"/>
            <a:ext cx="7962595" cy="790956"/>
          </a:xfrm>
          <a:prstGeom prst="rect">
            <a:avLst/>
          </a:prstGeom>
          <a:solidFill>
            <a:srgbClr val="F7F9FB"/>
          </a:solidFill>
          <a:ln/>
        </p:spPr>
      </p:sp>
      <p:sp>
        <p:nvSpPr>
          <p:cNvPr id="32" name="Shape 25"/>
          <p:cNvSpPr/>
          <p:nvPr/>
        </p:nvSpPr>
        <p:spPr>
          <a:xfrm>
            <a:off x="9467698" y="5562295"/>
            <a:ext cx="57607" cy="790956"/>
          </a:xfrm>
          <a:prstGeom prst="rect">
            <a:avLst/>
          </a:prstGeom>
          <a:solidFill>
            <a:srgbClr val="C8552D"/>
          </a:solidFill>
          <a:ln w="12700">
            <a:solidFill>
              <a:srgbClr val="C8552D">
                <a:alpha val="0"/>
              </a:srgbClr>
            </a:solidFill>
            <a:prstDash val="solid"/>
          </a:ln>
        </p:spPr>
      </p:sp>
      <p:sp>
        <p:nvSpPr>
          <p:cNvPr id="33" name="Text 26"/>
          <p:cNvSpPr txBox="1"/>
          <p:nvPr/>
        </p:nvSpPr>
        <p:spPr>
          <a:xfrm>
            <a:off x="9734702" y="5562295"/>
            <a:ext cx="7696505" cy="790956"/>
          </a:xfrm>
          <a:prstGeom prst="rect">
            <a:avLst/>
          </a:prstGeom>
          <a:solidFill>
            <a:srgbClr val="FFFFFF">
              <a:alpha val="0"/>
            </a:srgbClr>
          </a:solidFill>
          <a:ln>
            <a:solidFill>
              <a:srgbClr val="FFFFFF">
                <a:alpha val="0"/>
              </a:srgbClr>
            </a:solidFill>
          </a:ln>
        </p:spPr>
        <p:txBody>
          <a:bodyPr wrap="square" lIns="0" tIns="177800" rIns="215900" bIns="177800" rtlCol="0" anchor="ctr"/>
          <a:lstStyle/>
          <a:p>
            <a:pPr algn="l" indent="0" marL="0">
              <a:lnSpc>
                <a:spcPts val="1744"/>
              </a:lnSpc>
              <a:buNone/>
            </a:pPr>
            <a:r>
              <a:rPr lang="en-US" sz="1125" b="1" dirty="0">
                <a:solidFill>
                  <a:srgbClr val="C8552D"/>
                </a:solidFill>
                <a:latin typeface="Pretendard" pitchFamily="34" charset="0"/>
                <a:ea typeface="Pretendard" pitchFamily="34" charset="-122"/>
                <a:cs typeface="Pretendard" pitchFamily="34" charset="-120"/>
              </a:rPr>
              <a:t>관찰 — </a:t>
            </a:r>
            <a:pPr algn="l" indent="0" marL="0">
              <a:lnSpc>
                <a:spcPts val="1744"/>
              </a:lnSpc>
              <a:buNone/>
            </a:pPr>
            <a:r>
              <a:rPr lang="en-US" sz="1125" dirty="0">
                <a:solidFill>
                  <a:srgbClr val="44546A"/>
                </a:solidFill>
                <a:latin typeface="Pretendard" pitchFamily="34" charset="0"/>
                <a:ea typeface="Pretendard" pitchFamily="34" charset="-122"/>
                <a:cs typeface="Pretendard" pitchFamily="34" charset="-120"/>
              </a:rPr>
              <a:t> 이중 적층 덕분에 HM 상단 taper 1 nm, sidewall bowing 0.4 nm로 감소. polymer 잔류 거의 없음. SiN sacrificial via 호환.</a:t>
            </a:r>
            <a:endParaRPr lang="en-US" sz="1125" dirty="0"/>
          </a:p>
        </p:txBody>
      </p:sp>
      <p:sp>
        <p:nvSpPr>
          <p:cNvPr id="34" name="Text 27"/>
          <p:cNvSpPr txBox="1"/>
          <p:nvPr/>
        </p:nvSpPr>
        <p:spPr>
          <a:xfrm>
            <a:off x="800100" y="7733995"/>
            <a:ext cx="16193110" cy="181051"/>
          </a:xfrm>
          <a:prstGeom prst="rect">
            <a:avLst/>
          </a:prstGeom>
          <a:noFill/>
          <a:ln/>
        </p:spPr>
        <p:txBody>
          <a:bodyPr wrap="none" lIns="0" tIns="0" rIns="0" bIns="0" rtlCol="0" anchor="ctr"/>
          <a:lstStyle/>
          <a:p>
            <a:pPr algn="l" indent="0" marL="0">
              <a:buNone/>
            </a:pPr>
            <a:r>
              <a:rPr lang="en-US" sz="975" b="1" spc="273" kern="0" dirty="0">
                <a:solidFill>
                  <a:srgbClr val="2E6F8E"/>
                </a:solidFill>
                <a:latin typeface="Pretendard" pitchFamily="34" charset="0"/>
                <a:ea typeface="Pretendard" pitchFamily="34" charset="-122"/>
                <a:cs typeface="Pretendard" pitchFamily="34" charset="-120"/>
              </a:rPr>
              <a:t>PAIRWISE DELTA</a:t>
            </a:r>
            <a:endParaRPr lang="en-US" sz="975" dirty="0"/>
          </a:p>
        </p:txBody>
      </p:sp>
      <p:sp>
        <p:nvSpPr>
          <p:cNvPr id="35" name="Text 28"/>
          <p:cNvSpPr txBox="1"/>
          <p:nvPr/>
        </p:nvSpPr>
        <p:spPr>
          <a:xfrm>
            <a:off x="1028700" y="8172907"/>
            <a:ext cx="4953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Taper reduction vs SPLIT A</a:t>
            </a:r>
            <a:endParaRPr lang="en-US" sz="975" dirty="0"/>
          </a:p>
        </p:txBody>
      </p:sp>
      <p:sp>
        <p:nvSpPr>
          <p:cNvPr id="36" name="Text 29"/>
          <p:cNvSpPr txBox="1"/>
          <p:nvPr/>
        </p:nvSpPr>
        <p:spPr>
          <a:xfrm>
            <a:off x="1028700" y="8391449"/>
            <a:ext cx="4953305" cy="381305"/>
          </a:xfrm>
          <a:prstGeom prst="rect">
            <a:avLst/>
          </a:prstGeom>
          <a:noFill/>
          <a:ln/>
        </p:spPr>
        <p:txBody>
          <a:bodyPr wrap="none" lIns="0" tIns="0" rIns="0" bIns="0" rtlCol="0" anchor="ctr"/>
          <a:lstStyle/>
          <a:p>
            <a:pPr algn="l" indent="0" marL="0">
              <a:buNone/>
            </a:pPr>
            <a:r>
              <a:rPr lang="en-US" sz="2100" b="1" dirty="0">
                <a:solidFill>
                  <a:srgbClr val="3F6F52"/>
                </a:solidFill>
                <a:latin typeface="Pretendard" pitchFamily="34" charset="0"/>
                <a:ea typeface="Pretendard" pitchFamily="34" charset="-122"/>
                <a:cs typeface="Pretendard" pitchFamily="34" charset="-120"/>
              </a:rPr>
              <a:t>−1.5 nm</a:t>
            </a:r>
            <a:endParaRPr lang="en-US" sz="2100" dirty="0"/>
          </a:p>
        </p:txBody>
      </p:sp>
      <p:sp>
        <p:nvSpPr>
          <p:cNvPr id="37" name="Text 30"/>
          <p:cNvSpPr txBox="1"/>
          <p:nvPr/>
        </p:nvSpPr>
        <p:spPr>
          <a:xfrm>
            <a:off x="6687007" y="8172907"/>
            <a:ext cx="4953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Bow reduction vs SPLIT A</a:t>
            </a:r>
            <a:endParaRPr lang="en-US" sz="975" dirty="0"/>
          </a:p>
        </p:txBody>
      </p:sp>
      <p:sp>
        <p:nvSpPr>
          <p:cNvPr id="38" name="Text 31"/>
          <p:cNvSpPr txBox="1"/>
          <p:nvPr/>
        </p:nvSpPr>
        <p:spPr>
          <a:xfrm>
            <a:off x="6687007" y="8391449"/>
            <a:ext cx="4953305" cy="381305"/>
          </a:xfrm>
          <a:prstGeom prst="rect">
            <a:avLst/>
          </a:prstGeom>
          <a:noFill/>
          <a:ln/>
        </p:spPr>
        <p:txBody>
          <a:bodyPr wrap="none" lIns="0" tIns="0" rIns="0" bIns="0" rtlCol="0" anchor="ctr"/>
          <a:lstStyle/>
          <a:p>
            <a:pPr algn="l" indent="0" marL="0">
              <a:buNone/>
            </a:pPr>
            <a:r>
              <a:rPr lang="en-US" sz="2100" b="1" dirty="0">
                <a:solidFill>
                  <a:srgbClr val="3F6F52"/>
                </a:solidFill>
                <a:latin typeface="Pretendard" pitchFamily="34" charset="0"/>
                <a:ea typeface="Pretendard" pitchFamily="34" charset="-122"/>
                <a:cs typeface="Pretendard" pitchFamily="34" charset="-120"/>
              </a:rPr>
              <a:t>−1.4 nm</a:t>
            </a:r>
            <a:endParaRPr lang="en-US" sz="2100" dirty="0"/>
          </a:p>
        </p:txBody>
      </p:sp>
      <p:sp>
        <p:nvSpPr>
          <p:cNvPr id="39" name="Text 32"/>
          <p:cNvSpPr txBox="1"/>
          <p:nvPr/>
        </p:nvSpPr>
        <p:spPr>
          <a:xfrm>
            <a:off x="12344400" y="8172907"/>
            <a:ext cx="4953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Polymer residual vs SPLIT A</a:t>
            </a:r>
            <a:endParaRPr lang="en-US" sz="975" dirty="0"/>
          </a:p>
        </p:txBody>
      </p:sp>
      <p:sp>
        <p:nvSpPr>
          <p:cNvPr id="40" name="Text 33"/>
          <p:cNvSpPr txBox="1"/>
          <p:nvPr/>
        </p:nvSpPr>
        <p:spPr>
          <a:xfrm>
            <a:off x="12344400" y="8391449"/>
            <a:ext cx="4953305" cy="381305"/>
          </a:xfrm>
          <a:prstGeom prst="rect">
            <a:avLst/>
          </a:prstGeom>
          <a:noFill/>
          <a:ln/>
        </p:spPr>
        <p:txBody>
          <a:bodyPr wrap="none" lIns="0" tIns="0" rIns="0" bIns="0" rtlCol="0" anchor="ctr"/>
          <a:lstStyle/>
          <a:p>
            <a:pPr algn="l" indent="0" marL="0">
              <a:buNone/>
            </a:pPr>
            <a:r>
              <a:rPr lang="en-US" sz="2100" b="1" dirty="0">
                <a:solidFill>
                  <a:srgbClr val="3F6F52"/>
                </a:solidFill>
                <a:latin typeface="Pretendard" pitchFamily="34" charset="0"/>
                <a:ea typeface="Pretendard" pitchFamily="34" charset="-122"/>
                <a:cs typeface="Pretendard" pitchFamily="34" charset="-120"/>
              </a:rPr>
              <a:t>−78 %</a:t>
            </a:r>
            <a:endParaRPr lang="en-US" sz="2100" dirty="0"/>
          </a:p>
        </p:txBody>
      </p:sp>
      <p:sp>
        <p:nvSpPr>
          <p:cNvPr id="41" name="Shape 34"/>
          <p:cNvSpPr/>
          <p:nvPr/>
        </p:nvSpPr>
        <p:spPr>
          <a:xfrm>
            <a:off x="990295" y="2495398"/>
            <a:ext cx="761695" cy="228600"/>
          </a:xfrm>
          <a:prstGeom prst="rect">
            <a:avLst/>
          </a:prstGeom>
          <a:solidFill>
            <a:srgbClr val="0B1015">
              <a:alpha val="78000"/>
            </a:srgbClr>
          </a:solidFill>
          <a:ln w="12700">
            <a:solidFill>
              <a:srgbClr val="FFFFFF">
                <a:alpha val="0"/>
              </a:srgbClr>
            </a:solidFill>
            <a:prstDash val="solid"/>
          </a:ln>
        </p:spPr>
      </p:sp>
      <p:sp>
        <p:nvSpPr>
          <p:cNvPr id="42" name="Shape 35"/>
          <p:cNvSpPr/>
          <p:nvPr/>
        </p:nvSpPr>
        <p:spPr>
          <a:xfrm>
            <a:off x="3467405" y="2495398"/>
            <a:ext cx="914400" cy="228600"/>
          </a:xfrm>
          <a:prstGeom prst="rect">
            <a:avLst/>
          </a:prstGeom>
          <a:solidFill>
            <a:srgbClr val="0B1015">
              <a:alpha val="78000"/>
            </a:srgbClr>
          </a:solidFill>
          <a:ln w="12700">
            <a:solidFill>
              <a:srgbClr val="FFFFFF">
                <a:alpha val="0"/>
              </a:srgbClr>
            </a:solidFill>
            <a:prstDash val="solid"/>
          </a:ln>
        </p:spPr>
      </p:sp>
      <p:sp>
        <p:nvSpPr>
          <p:cNvPr id="43" name="Shape 36"/>
          <p:cNvSpPr/>
          <p:nvPr/>
        </p:nvSpPr>
        <p:spPr>
          <a:xfrm>
            <a:off x="5658307" y="2495398"/>
            <a:ext cx="1181405" cy="228600"/>
          </a:xfrm>
          <a:prstGeom prst="rect">
            <a:avLst/>
          </a:prstGeom>
          <a:solidFill>
            <a:srgbClr val="0B1015">
              <a:alpha val="78000"/>
            </a:srgbClr>
          </a:solidFill>
          <a:ln w="12700">
            <a:solidFill>
              <a:srgbClr val="FFFFFF">
                <a:alpha val="0"/>
              </a:srgbClr>
            </a:solidFill>
            <a:prstDash val="solid"/>
          </a:ln>
        </p:spPr>
      </p:sp>
      <p:sp>
        <p:nvSpPr>
          <p:cNvPr id="44" name="Shape 37"/>
          <p:cNvSpPr/>
          <p:nvPr/>
        </p:nvSpPr>
        <p:spPr>
          <a:xfrm>
            <a:off x="800100" y="5048402"/>
            <a:ext cx="6133795" cy="286207"/>
          </a:xfrm>
          <a:prstGeom prst="rect">
            <a:avLst/>
          </a:prstGeom>
          <a:solidFill>
            <a:srgbClr val="0B1015">
              <a:alpha val="65000"/>
            </a:srgbClr>
          </a:solidFill>
          <a:ln w="12700">
            <a:solidFill>
              <a:srgbClr val="FFFFFF">
                <a:alpha val="0"/>
              </a:srgbClr>
            </a:solidFill>
            <a:prstDash val="solid"/>
          </a:ln>
        </p:spPr>
      </p:sp>
      <p:sp>
        <p:nvSpPr>
          <p:cNvPr id="45" name="Text 38"/>
          <p:cNvSpPr txBox="1"/>
          <p:nvPr/>
        </p:nvSpPr>
        <p:spPr>
          <a:xfrm>
            <a:off x="7181698" y="2495398"/>
            <a:ext cx="1714500" cy="162763"/>
          </a:xfrm>
          <a:prstGeom prst="rect">
            <a:avLst/>
          </a:prstGeom>
          <a:noFill/>
          <a:ln/>
        </p:spPr>
        <p:txBody>
          <a:bodyPr wrap="none" lIns="0" tIns="0" rIns="0" bIns="0" rtlCol="0" anchor="ctr"/>
          <a:lstStyle/>
          <a:p>
            <a:pPr algn="l" indent="0" marL="0">
              <a:buNone/>
            </a:pPr>
            <a:r>
              <a:rPr lang="en-US" sz="900" spc="162" kern="0" dirty="0">
                <a:solidFill>
                  <a:srgbClr val="7A8898"/>
                </a:solidFill>
                <a:latin typeface="Pretendard" pitchFamily="34" charset="0"/>
                <a:ea typeface="Pretendard" pitchFamily="34" charset="-122"/>
                <a:cs typeface="Pretendard" pitchFamily="34" charset="-120"/>
              </a:rPr>
              <a:t>PROFILE READOUT</a:t>
            </a:r>
            <a:endParaRPr lang="en-US" sz="900" dirty="0"/>
          </a:p>
        </p:txBody>
      </p:sp>
      <p:sp>
        <p:nvSpPr>
          <p:cNvPr id="46" name="Text 39"/>
          <p:cNvSpPr txBox="1"/>
          <p:nvPr/>
        </p:nvSpPr>
        <p:spPr>
          <a:xfrm>
            <a:off x="7181698" y="2829154"/>
            <a:ext cx="1714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Top CD</a:t>
            </a:r>
            <a:endParaRPr lang="en-US" sz="975" dirty="0"/>
          </a:p>
        </p:txBody>
      </p:sp>
      <p:sp>
        <p:nvSpPr>
          <p:cNvPr id="47" name="Text 40"/>
          <p:cNvSpPr txBox="1"/>
          <p:nvPr/>
        </p:nvSpPr>
        <p:spPr>
          <a:xfrm>
            <a:off x="7181698" y="3029407"/>
            <a:ext cx="1714500"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23.7 nm</a:t>
            </a:r>
            <a:endParaRPr lang="en-US" sz="1650" dirty="0"/>
          </a:p>
        </p:txBody>
      </p:sp>
      <p:sp>
        <p:nvSpPr>
          <p:cNvPr id="48" name="Text 41"/>
          <p:cNvSpPr txBox="1"/>
          <p:nvPr/>
        </p:nvSpPr>
        <p:spPr>
          <a:xfrm>
            <a:off x="7181698" y="3467405"/>
            <a:ext cx="1714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Bottom CD</a:t>
            </a:r>
            <a:endParaRPr lang="en-US" sz="975" dirty="0"/>
          </a:p>
        </p:txBody>
      </p:sp>
      <p:sp>
        <p:nvSpPr>
          <p:cNvPr id="49" name="Text 42"/>
          <p:cNvSpPr txBox="1"/>
          <p:nvPr/>
        </p:nvSpPr>
        <p:spPr>
          <a:xfrm>
            <a:off x="7181698" y="3666744"/>
            <a:ext cx="1714500"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21.2 nm</a:t>
            </a:r>
            <a:endParaRPr lang="en-US" sz="1650" dirty="0"/>
          </a:p>
        </p:txBody>
      </p:sp>
      <p:sp>
        <p:nvSpPr>
          <p:cNvPr id="50" name="Text 43"/>
          <p:cNvSpPr txBox="1"/>
          <p:nvPr/>
        </p:nvSpPr>
        <p:spPr>
          <a:xfrm>
            <a:off x="7181698" y="4105656"/>
            <a:ext cx="1714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Taper</a:t>
            </a:r>
            <a:endParaRPr lang="en-US" sz="975" dirty="0"/>
          </a:p>
        </p:txBody>
      </p:sp>
      <p:sp>
        <p:nvSpPr>
          <p:cNvPr id="51" name="Text 44"/>
          <p:cNvSpPr txBox="1"/>
          <p:nvPr/>
        </p:nvSpPr>
        <p:spPr>
          <a:xfrm>
            <a:off x="7181698" y="4304995"/>
            <a:ext cx="1714500" cy="305410"/>
          </a:xfrm>
          <a:prstGeom prst="rect">
            <a:avLst/>
          </a:prstGeom>
          <a:noFill/>
          <a:ln/>
        </p:spPr>
        <p:txBody>
          <a:bodyPr wrap="none" lIns="0" tIns="0" rIns="0" bIns="0" rtlCol="0" anchor="ctr"/>
          <a:lstStyle/>
          <a:p>
            <a:pPr algn="l" indent="0" marL="0">
              <a:buNone/>
            </a:pPr>
            <a:r>
              <a:rPr lang="en-US" sz="1650" b="1" dirty="0">
                <a:solidFill>
                  <a:srgbClr val="B47A1F"/>
                </a:solidFill>
                <a:latin typeface="Pretendard" pitchFamily="34" charset="0"/>
                <a:ea typeface="Pretendard" pitchFamily="34" charset="-122"/>
                <a:cs typeface="Pretendard" pitchFamily="34" charset="-120"/>
              </a:rPr>
              <a:t>−2.5 nm</a:t>
            </a:r>
            <a:endParaRPr lang="en-US" sz="1650" dirty="0"/>
          </a:p>
        </p:txBody>
      </p:sp>
      <p:sp>
        <p:nvSpPr>
          <p:cNvPr id="52" name="Text 45"/>
          <p:cNvSpPr txBox="1"/>
          <p:nvPr/>
        </p:nvSpPr>
        <p:spPr>
          <a:xfrm>
            <a:off x="7181698" y="4743907"/>
            <a:ext cx="1714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Bow Δ</a:t>
            </a:r>
            <a:endParaRPr lang="en-US" sz="975" dirty="0"/>
          </a:p>
        </p:txBody>
      </p:sp>
      <p:sp>
        <p:nvSpPr>
          <p:cNvPr id="53" name="Text 46"/>
          <p:cNvSpPr txBox="1"/>
          <p:nvPr/>
        </p:nvSpPr>
        <p:spPr>
          <a:xfrm>
            <a:off x="7181698" y="4943246"/>
            <a:ext cx="1714500"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+1.8 nm</a:t>
            </a:r>
            <a:endParaRPr lang="en-US" sz="1650" dirty="0"/>
          </a:p>
        </p:txBody>
      </p:sp>
      <p:sp>
        <p:nvSpPr>
          <p:cNvPr id="54" name="Shape 47"/>
          <p:cNvSpPr/>
          <p:nvPr/>
        </p:nvSpPr>
        <p:spPr>
          <a:xfrm>
            <a:off x="9658807" y="2495398"/>
            <a:ext cx="761695" cy="228600"/>
          </a:xfrm>
          <a:prstGeom prst="rect">
            <a:avLst/>
          </a:prstGeom>
          <a:solidFill>
            <a:srgbClr val="0B1015">
              <a:alpha val="78000"/>
            </a:srgbClr>
          </a:solidFill>
          <a:ln w="12700">
            <a:solidFill>
              <a:srgbClr val="FFFFFF">
                <a:alpha val="0"/>
              </a:srgbClr>
            </a:solidFill>
            <a:prstDash val="solid"/>
          </a:ln>
        </p:spPr>
      </p:sp>
      <p:sp>
        <p:nvSpPr>
          <p:cNvPr id="55" name="Shape 48"/>
          <p:cNvSpPr/>
          <p:nvPr/>
        </p:nvSpPr>
        <p:spPr>
          <a:xfrm>
            <a:off x="9658807" y="2800807"/>
            <a:ext cx="761695" cy="228600"/>
          </a:xfrm>
          <a:prstGeom prst="rect">
            <a:avLst/>
          </a:prstGeom>
          <a:solidFill>
            <a:srgbClr val="0B1015">
              <a:alpha val="78000"/>
            </a:srgbClr>
          </a:solidFill>
          <a:ln w="12700">
            <a:solidFill>
              <a:srgbClr val="FFFFFF">
                <a:alpha val="0"/>
              </a:srgbClr>
            </a:solidFill>
            <a:prstDash val="solid"/>
          </a:ln>
        </p:spPr>
      </p:sp>
      <p:sp>
        <p:nvSpPr>
          <p:cNvPr id="56" name="Shape 49"/>
          <p:cNvSpPr/>
          <p:nvPr/>
        </p:nvSpPr>
        <p:spPr>
          <a:xfrm>
            <a:off x="12191695" y="2495398"/>
            <a:ext cx="990295" cy="228600"/>
          </a:xfrm>
          <a:prstGeom prst="rect">
            <a:avLst/>
          </a:prstGeom>
          <a:solidFill>
            <a:srgbClr val="0B1015">
              <a:alpha val="78000"/>
            </a:srgbClr>
          </a:solidFill>
          <a:ln w="12700">
            <a:solidFill>
              <a:srgbClr val="FFFFFF">
                <a:alpha val="0"/>
              </a:srgbClr>
            </a:solidFill>
            <a:prstDash val="solid"/>
          </a:ln>
        </p:spPr>
      </p:sp>
      <p:sp>
        <p:nvSpPr>
          <p:cNvPr id="57" name="Shape 50"/>
          <p:cNvSpPr/>
          <p:nvPr/>
        </p:nvSpPr>
        <p:spPr>
          <a:xfrm>
            <a:off x="14097305" y="2495398"/>
            <a:ext cx="1218895" cy="228600"/>
          </a:xfrm>
          <a:prstGeom prst="rect">
            <a:avLst/>
          </a:prstGeom>
          <a:solidFill>
            <a:srgbClr val="0B1015">
              <a:alpha val="78000"/>
            </a:srgbClr>
          </a:solidFill>
          <a:ln w="12700">
            <a:solidFill>
              <a:srgbClr val="FFFFFF">
                <a:alpha val="0"/>
              </a:srgbClr>
            </a:solidFill>
            <a:prstDash val="solid"/>
          </a:ln>
        </p:spPr>
      </p:sp>
      <p:sp>
        <p:nvSpPr>
          <p:cNvPr id="58" name="Shape 51"/>
          <p:cNvSpPr/>
          <p:nvPr/>
        </p:nvSpPr>
        <p:spPr>
          <a:xfrm>
            <a:off x="9467698" y="5048402"/>
            <a:ext cx="6133795" cy="286207"/>
          </a:xfrm>
          <a:prstGeom prst="rect">
            <a:avLst/>
          </a:prstGeom>
          <a:solidFill>
            <a:srgbClr val="0B1015">
              <a:alpha val="65000"/>
            </a:srgbClr>
          </a:solidFill>
          <a:ln w="12700">
            <a:solidFill>
              <a:srgbClr val="FFFFFF">
                <a:alpha val="0"/>
              </a:srgbClr>
            </a:solidFill>
            <a:prstDash val="solid"/>
          </a:ln>
        </p:spPr>
      </p:sp>
      <p:sp>
        <p:nvSpPr>
          <p:cNvPr id="59" name="Text 52"/>
          <p:cNvSpPr txBox="1"/>
          <p:nvPr/>
        </p:nvSpPr>
        <p:spPr>
          <a:xfrm>
            <a:off x="15849295" y="2495398"/>
            <a:ext cx="1714500" cy="162763"/>
          </a:xfrm>
          <a:prstGeom prst="rect">
            <a:avLst/>
          </a:prstGeom>
          <a:noFill/>
          <a:ln/>
        </p:spPr>
        <p:txBody>
          <a:bodyPr wrap="none" lIns="0" tIns="0" rIns="0" bIns="0" rtlCol="0" anchor="ctr"/>
          <a:lstStyle/>
          <a:p>
            <a:pPr algn="l" indent="0" marL="0">
              <a:buNone/>
            </a:pPr>
            <a:r>
              <a:rPr lang="en-US" sz="900" spc="162" kern="0" dirty="0">
                <a:solidFill>
                  <a:srgbClr val="7A8898"/>
                </a:solidFill>
                <a:latin typeface="Pretendard" pitchFamily="34" charset="0"/>
                <a:ea typeface="Pretendard" pitchFamily="34" charset="-122"/>
                <a:cs typeface="Pretendard" pitchFamily="34" charset="-120"/>
              </a:rPr>
              <a:t>PROFILE READOUT</a:t>
            </a:r>
            <a:endParaRPr lang="en-US" sz="900" dirty="0"/>
          </a:p>
        </p:txBody>
      </p:sp>
      <p:sp>
        <p:nvSpPr>
          <p:cNvPr id="60" name="Text 53"/>
          <p:cNvSpPr txBox="1"/>
          <p:nvPr/>
        </p:nvSpPr>
        <p:spPr>
          <a:xfrm>
            <a:off x="15849295" y="2829154"/>
            <a:ext cx="1714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Top CD</a:t>
            </a:r>
            <a:endParaRPr lang="en-US" sz="975" dirty="0"/>
          </a:p>
        </p:txBody>
      </p:sp>
      <p:sp>
        <p:nvSpPr>
          <p:cNvPr id="61" name="Text 54"/>
          <p:cNvSpPr txBox="1"/>
          <p:nvPr/>
        </p:nvSpPr>
        <p:spPr>
          <a:xfrm>
            <a:off x="15849295" y="3029407"/>
            <a:ext cx="1714500"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23.9 nm</a:t>
            </a:r>
            <a:endParaRPr lang="en-US" sz="1650" dirty="0"/>
          </a:p>
        </p:txBody>
      </p:sp>
      <p:sp>
        <p:nvSpPr>
          <p:cNvPr id="62" name="Text 55"/>
          <p:cNvSpPr txBox="1"/>
          <p:nvPr/>
        </p:nvSpPr>
        <p:spPr>
          <a:xfrm>
            <a:off x="15849295" y="3467405"/>
            <a:ext cx="1714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Bottom CD</a:t>
            </a:r>
            <a:endParaRPr lang="en-US" sz="975" dirty="0"/>
          </a:p>
        </p:txBody>
      </p:sp>
      <p:sp>
        <p:nvSpPr>
          <p:cNvPr id="63" name="Text 56"/>
          <p:cNvSpPr txBox="1"/>
          <p:nvPr/>
        </p:nvSpPr>
        <p:spPr>
          <a:xfrm>
            <a:off x="15849295" y="3666744"/>
            <a:ext cx="1714500"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22.9 nm</a:t>
            </a:r>
            <a:endParaRPr lang="en-US" sz="1650" dirty="0"/>
          </a:p>
        </p:txBody>
      </p:sp>
      <p:sp>
        <p:nvSpPr>
          <p:cNvPr id="64" name="Text 57"/>
          <p:cNvSpPr txBox="1"/>
          <p:nvPr/>
        </p:nvSpPr>
        <p:spPr>
          <a:xfrm>
            <a:off x="15849295" y="4105656"/>
            <a:ext cx="1714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Taper</a:t>
            </a:r>
            <a:endParaRPr lang="en-US" sz="975" dirty="0"/>
          </a:p>
        </p:txBody>
      </p:sp>
      <p:sp>
        <p:nvSpPr>
          <p:cNvPr id="65" name="Text 58"/>
          <p:cNvSpPr txBox="1"/>
          <p:nvPr/>
        </p:nvSpPr>
        <p:spPr>
          <a:xfrm>
            <a:off x="15849295" y="4304995"/>
            <a:ext cx="1714500" cy="305410"/>
          </a:xfrm>
          <a:prstGeom prst="rect">
            <a:avLst/>
          </a:prstGeom>
          <a:noFill/>
          <a:ln/>
        </p:spPr>
        <p:txBody>
          <a:bodyPr wrap="none" lIns="0" tIns="0" rIns="0" bIns="0" rtlCol="0" anchor="ctr"/>
          <a:lstStyle/>
          <a:p>
            <a:pPr algn="l" indent="0" marL="0">
              <a:buNone/>
            </a:pPr>
            <a:r>
              <a:rPr lang="en-US" sz="1650" b="1" dirty="0">
                <a:solidFill>
                  <a:srgbClr val="3F6F52"/>
                </a:solidFill>
                <a:latin typeface="Pretendard" pitchFamily="34" charset="0"/>
                <a:ea typeface="Pretendard" pitchFamily="34" charset="-122"/>
                <a:cs typeface="Pretendard" pitchFamily="34" charset="-120"/>
              </a:rPr>
              <a:t>−1.0 nm</a:t>
            </a:r>
            <a:endParaRPr lang="en-US" sz="1650" dirty="0"/>
          </a:p>
        </p:txBody>
      </p:sp>
      <p:sp>
        <p:nvSpPr>
          <p:cNvPr id="66" name="Text 59"/>
          <p:cNvSpPr txBox="1"/>
          <p:nvPr/>
        </p:nvSpPr>
        <p:spPr>
          <a:xfrm>
            <a:off x="15849295" y="4743907"/>
            <a:ext cx="1714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Bow Δ</a:t>
            </a:r>
            <a:endParaRPr lang="en-US" sz="975" dirty="0"/>
          </a:p>
        </p:txBody>
      </p:sp>
      <p:sp>
        <p:nvSpPr>
          <p:cNvPr id="67" name="Text 60"/>
          <p:cNvSpPr txBox="1"/>
          <p:nvPr/>
        </p:nvSpPr>
        <p:spPr>
          <a:xfrm>
            <a:off x="15849295" y="4943246"/>
            <a:ext cx="1714500"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+0.4 nm</a:t>
            </a:r>
            <a:endParaRPr lang="en-US" sz="1650" dirty="0"/>
          </a:p>
        </p:txBody>
      </p:sp>
      <p:sp>
        <p:nvSpPr>
          <p:cNvPr id="68" name="Text 61"/>
          <p:cNvSpPr txBox="1"/>
          <p:nvPr/>
        </p:nvSpPr>
        <p:spPr>
          <a:xfrm>
            <a:off x="571500" y="381305"/>
            <a:ext cx="1619402" cy="191110"/>
          </a:xfrm>
          <a:prstGeom prst="rect">
            <a:avLst/>
          </a:prstGeom>
          <a:noFill/>
          <a:ln/>
        </p:spPr>
        <p:txBody>
          <a:bodyPr wrap="none" lIns="0" tIns="0" rIns="0" bIns="0" rtlCol="0" anchor="ctr"/>
          <a:lstStyle/>
          <a:p>
            <a:pPr algn="l" indent="0" marL="0">
              <a:buNone/>
            </a:pPr>
            <a:r>
              <a:rPr lang="en-US" sz="1050" spc="336" kern="0" dirty="0">
                <a:solidFill>
                  <a:srgbClr val="7A8898"/>
                </a:solidFill>
                <a:latin typeface="Pretendard" pitchFamily="34" charset="0"/>
                <a:ea typeface="Pretendard" pitchFamily="34" charset="-122"/>
                <a:cs typeface="Pretendard" pitchFamily="34" charset="-120"/>
              </a:rPr>
              <a:t>SET 03 / 09</a:t>
            </a:r>
            <a:endParaRPr lang="en-US" sz="1050" dirty="0"/>
          </a:p>
        </p:txBody>
      </p:sp>
      <p:sp>
        <p:nvSpPr>
          <p:cNvPr id="69" name="Text 62"/>
          <p:cNvSpPr txBox="1"/>
          <p:nvPr/>
        </p:nvSpPr>
        <p:spPr>
          <a:xfrm>
            <a:off x="571500" y="571500"/>
            <a:ext cx="14287500" cy="486461"/>
          </a:xfrm>
          <a:prstGeom prst="rect">
            <a:avLst/>
          </a:prstGeom>
          <a:noFill/>
          <a:ln/>
        </p:spPr>
        <p:txBody>
          <a:bodyPr wrap="none" lIns="0" tIns="0" rIns="0" bIns="0" rtlCol="0" anchor="ctr"/>
          <a:lstStyle/>
          <a:p>
            <a:pPr algn="l" indent="0" marL="0">
              <a:buNone/>
            </a:pPr>
            <a:r>
              <a:rPr lang="en-US" sz="3600" b="1" spc="-36" kern="0" dirty="0">
                <a:solidFill>
                  <a:srgbClr val="1B2535"/>
                </a:solidFill>
                <a:latin typeface="Pretendard" pitchFamily="34" charset="0"/>
                <a:ea typeface="Pretendard" pitchFamily="34" charset="-122"/>
                <a:cs typeface="Pretendard" pitchFamily="34" charset="-120"/>
              </a:rPr>
              <a:t>SEM 단면 분석 — TiN vs a-C / SiN</a:t>
            </a:r>
            <a:endParaRPr lang="en-US" sz="3600" dirty="0"/>
          </a:p>
        </p:txBody>
      </p:sp>
      <p:sp>
        <p:nvSpPr>
          <p:cNvPr id="70" name="Text 63"/>
          <p:cNvSpPr txBox="1"/>
          <p:nvPr/>
        </p:nvSpPr>
        <p:spPr>
          <a:xfrm>
            <a:off x="11811305" y="571500"/>
            <a:ext cx="5906110" cy="181051"/>
          </a:xfrm>
          <a:prstGeom prst="rect">
            <a:avLst/>
          </a:prstGeom>
          <a:noFill/>
          <a:ln/>
        </p:spPr>
        <p:txBody>
          <a:bodyPr wrap="none" lIns="0" tIns="0" rIns="0" bIns="0" rtlCol="0" anchor="ctr"/>
          <a:lstStyle/>
          <a:p>
            <a:pPr algn="r" indent="0" marL="0">
              <a:buNone/>
            </a:pPr>
            <a:r>
              <a:rPr lang="en-US" sz="975" spc="176" kern="0" dirty="0">
                <a:solidFill>
                  <a:srgbClr val="7A8898"/>
                </a:solidFill>
                <a:latin typeface="Pretendard" pitchFamily="34" charset="0"/>
                <a:ea typeface="Pretendard" pitchFamily="34" charset="-122"/>
                <a:cs typeface="Pretendard" pitchFamily="34" charset="-120"/>
              </a:rPr>
              <a:t>SE · 50 kX · TILT 0°</a:t>
            </a:r>
            <a:endParaRPr lang="en-US" sz="975" dirty="0"/>
          </a:p>
        </p:txBody>
      </p:sp>
      <p:sp>
        <p:nvSpPr>
          <p:cNvPr id="71" name="Text 64"/>
          <p:cNvSpPr txBox="1"/>
          <p:nvPr/>
        </p:nvSpPr>
        <p:spPr>
          <a:xfrm>
            <a:off x="11811305" y="790956"/>
            <a:ext cx="5906110" cy="152705"/>
          </a:xfrm>
          <a:prstGeom prst="rect">
            <a:avLst/>
          </a:prstGeom>
          <a:noFill/>
          <a:ln/>
        </p:spPr>
        <p:txBody>
          <a:bodyPr wrap="none" lIns="0" tIns="0" rIns="0" bIns="0" rtlCol="0" anchor="ctr"/>
          <a:lstStyle/>
          <a:p>
            <a:pPr algn="r" indent="0" marL="0">
              <a:buNone/>
            </a:pPr>
            <a:r>
              <a:rPr lang="en-US" sz="825" spc="50" kern="0" dirty="0">
                <a:solidFill>
                  <a:srgbClr val="7A8898"/>
                </a:solidFill>
                <a:latin typeface="Pretendard" pitchFamily="34" charset="0"/>
                <a:ea typeface="Pretendard" pitchFamily="34" charset="-122"/>
                <a:cs typeface="Pretendard" pitchFamily="34" charset="-120"/>
              </a:rPr>
              <a:t>5 kV · in-lens detector · dummy 본문</a:t>
            </a:r>
            <a:endParaRPr lang="en-US" sz="825" dirty="0"/>
          </a:p>
        </p:txBody>
      </p:sp>
      <p:sp>
        <p:nvSpPr>
          <p:cNvPr id="72" name="Text 65"/>
          <p:cNvSpPr txBox="1"/>
          <p:nvPr/>
        </p:nvSpPr>
        <p:spPr>
          <a:xfrm>
            <a:off x="990295" y="2495398"/>
            <a:ext cx="762610" cy="228600"/>
          </a:xfrm>
          <a:prstGeom prst="rect">
            <a:avLst/>
          </a:prstGeom>
          <a:noFill/>
          <a:ln/>
        </p:spPr>
        <p:txBody>
          <a:bodyPr wrap="none" lIns="0" tIns="0" rIns="0" bIns="0" rtlCol="0" anchor="ctr"/>
          <a:lstStyle/>
          <a:p>
            <a:pPr algn="ctr" indent="0" marL="0">
              <a:buNone/>
            </a:pPr>
            <a:r>
              <a:rPr lang="en-US" sz="825" b="1" spc="149" kern="0" dirty="0">
                <a:solidFill>
                  <a:srgbClr val="FFFFFF"/>
                </a:solidFill>
                <a:latin typeface="Pretendard" pitchFamily="34" charset="0"/>
                <a:ea typeface="Pretendard" pitchFamily="34" charset="-122"/>
                <a:cs typeface="Pretendard" pitchFamily="34" charset="-120"/>
              </a:rPr>
              <a:t>TiN</a:t>
            </a:r>
            <a:endParaRPr lang="en-US" sz="825" dirty="0"/>
          </a:p>
        </p:txBody>
      </p:sp>
      <p:sp>
        <p:nvSpPr>
          <p:cNvPr id="73" name="Text 66"/>
          <p:cNvSpPr txBox="1"/>
          <p:nvPr/>
        </p:nvSpPr>
        <p:spPr>
          <a:xfrm>
            <a:off x="3467405" y="2495398"/>
            <a:ext cx="914400" cy="228600"/>
          </a:xfrm>
          <a:prstGeom prst="rect">
            <a:avLst/>
          </a:prstGeom>
          <a:noFill/>
          <a:ln/>
        </p:spPr>
        <p:txBody>
          <a:bodyPr wrap="none" lIns="0" tIns="0" rIns="0" bIns="0" rtlCol="0" anchor="ctr"/>
          <a:lstStyle/>
          <a:p>
            <a:pPr algn="ctr" indent="0" marL="0">
              <a:buNone/>
            </a:pPr>
            <a:r>
              <a:rPr lang="en-US" sz="825" b="1" spc="149" kern="0" dirty="0">
                <a:solidFill>
                  <a:srgbClr val="FFFFFF"/>
                </a:solidFill>
                <a:latin typeface="Pretendard" pitchFamily="34" charset="0"/>
                <a:ea typeface="Pretendard" pitchFamily="34" charset="-122"/>
                <a:cs typeface="Pretendard" pitchFamily="34" charset="-120"/>
              </a:rPr>
              <a:t>SIDEWALL</a:t>
            </a:r>
            <a:endParaRPr lang="en-US" sz="825" dirty="0"/>
          </a:p>
        </p:txBody>
      </p:sp>
      <p:sp>
        <p:nvSpPr>
          <p:cNvPr id="74" name="Text 67"/>
          <p:cNvSpPr txBox="1"/>
          <p:nvPr/>
        </p:nvSpPr>
        <p:spPr>
          <a:xfrm>
            <a:off x="5658307" y="2495398"/>
            <a:ext cx="1181405" cy="228600"/>
          </a:xfrm>
          <a:prstGeom prst="rect">
            <a:avLst/>
          </a:prstGeom>
          <a:noFill/>
          <a:ln/>
        </p:spPr>
        <p:txBody>
          <a:bodyPr wrap="none" lIns="0" tIns="0" rIns="0" bIns="0" rtlCol="0" anchor="ctr"/>
          <a:lstStyle/>
          <a:p>
            <a:pPr algn="ctr" indent="0" marL="0">
              <a:buNone/>
            </a:pPr>
            <a:r>
              <a:rPr lang="en-US" sz="825" b="1" spc="149" kern="0" dirty="0">
                <a:solidFill>
                  <a:srgbClr val="FFFFFF"/>
                </a:solidFill>
                <a:latin typeface="Pretendard" pitchFamily="34" charset="0"/>
                <a:ea typeface="Pretendard" pitchFamily="34" charset="-122"/>
                <a:cs typeface="Pretendard" pitchFamily="34" charset="-120"/>
              </a:rPr>
              <a:t>UNDER-LAYER</a:t>
            </a:r>
            <a:endParaRPr lang="en-US" sz="825" dirty="0"/>
          </a:p>
        </p:txBody>
      </p:sp>
      <p:sp>
        <p:nvSpPr>
          <p:cNvPr id="75" name="Text 68"/>
          <p:cNvSpPr txBox="1"/>
          <p:nvPr/>
        </p:nvSpPr>
        <p:spPr>
          <a:xfrm>
            <a:off x="800100" y="5048402"/>
            <a:ext cx="6134710" cy="286207"/>
          </a:xfrm>
          <a:prstGeom prst="rect">
            <a:avLst/>
          </a:prstGeom>
          <a:noFill/>
          <a:ln/>
        </p:spPr>
        <p:txBody>
          <a:bodyPr wrap="none" lIns="0" tIns="0" rIns="0" bIns="0" rtlCol="0" anchor="ctr"/>
          <a:lstStyle/>
          <a:p>
            <a:pPr algn="ctr" indent="0" marL="0">
              <a:buNone/>
            </a:pPr>
            <a:r>
              <a:rPr lang="en-US" sz="900" spc="90" kern="0" dirty="0">
                <a:solidFill>
                  <a:srgbClr val="FFFFFF"/>
                </a:solidFill>
                <a:latin typeface="Pretendard" pitchFamily="34" charset="0"/>
                <a:ea typeface="Pretendard" pitchFamily="34" charset="-122"/>
                <a:cs typeface="Pretendard" pitchFamily="34" charset="-120"/>
              </a:rPr>
              <a:t>12,000 × magnification · 5 kV · in-lens detector</a:t>
            </a:r>
            <a:endParaRPr lang="en-US" sz="900" dirty="0"/>
          </a:p>
        </p:txBody>
      </p:sp>
      <p:sp>
        <p:nvSpPr>
          <p:cNvPr id="76" name="Text 69"/>
          <p:cNvSpPr txBox="1"/>
          <p:nvPr/>
        </p:nvSpPr>
        <p:spPr>
          <a:xfrm>
            <a:off x="9658807" y="2495398"/>
            <a:ext cx="762610" cy="228600"/>
          </a:xfrm>
          <a:prstGeom prst="rect">
            <a:avLst/>
          </a:prstGeom>
          <a:noFill/>
          <a:ln/>
        </p:spPr>
        <p:txBody>
          <a:bodyPr wrap="none" lIns="0" tIns="0" rIns="0" bIns="0" rtlCol="0" anchor="ctr"/>
          <a:lstStyle/>
          <a:p>
            <a:pPr algn="ctr" indent="0" marL="0">
              <a:buNone/>
            </a:pPr>
            <a:r>
              <a:rPr lang="en-US" sz="825" b="1" spc="149" kern="0" dirty="0">
                <a:solidFill>
                  <a:srgbClr val="FFFFFF"/>
                </a:solidFill>
                <a:latin typeface="Pretendard" pitchFamily="34" charset="0"/>
                <a:ea typeface="Pretendard" pitchFamily="34" charset="-122"/>
                <a:cs typeface="Pretendard" pitchFamily="34" charset="-120"/>
              </a:rPr>
              <a:t>SiN</a:t>
            </a:r>
            <a:endParaRPr lang="en-US" sz="825" dirty="0"/>
          </a:p>
        </p:txBody>
      </p:sp>
      <p:sp>
        <p:nvSpPr>
          <p:cNvPr id="77" name="Text 70"/>
          <p:cNvSpPr txBox="1"/>
          <p:nvPr/>
        </p:nvSpPr>
        <p:spPr>
          <a:xfrm>
            <a:off x="9658807" y="2800807"/>
            <a:ext cx="762610" cy="228600"/>
          </a:xfrm>
          <a:prstGeom prst="rect">
            <a:avLst/>
          </a:prstGeom>
          <a:noFill/>
          <a:ln/>
        </p:spPr>
        <p:txBody>
          <a:bodyPr wrap="none" lIns="0" tIns="0" rIns="0" bIns="0" rtlCol="0" anchor="ctr"/>
          <a:lstStyle/>
          <a:p>
            <a:pPr algn="ctr" indent="0" marL="0">
              <a:buNone/>
            </a:pPr>
            <a:r>
              <a:rPr lang="en-US" sz="825" b="1" spc="149" kern="0" dirty="0">
                <a:solidFill>
                  <a:srgbClr val="FFFFFF"/>
                </a:solidFill>
                <a:latin typeface="Pretendard" pitchFamily="34" charset="0"/>
                <a:ea typeface="Pretendard" pitchFamily="34" charset="-122"/>
                <a:cs typeface="Pretendard" pitchFamily="34" charset="-120"/>
              </a:rPr>
              <a:t>a-C</a:t>
            </a:r>
            <a:endParaRPr lang="en-US" sz="825" dirty="0"/>
          </a:p>
        </p:txBody>
      </p:sp>
      <p:sp>
        <p:nvSpPr>
          <p:cNvPr id="78" name="Text 71"/>
          <p:cNvSpPr txBox="1"/>
          <p:nvPr/>
        </p:nvSpPr>
        <p:spPr>
          <a:xfrm>
            <a:off x="12191695" y="2495398"/>
            <a:ext cx="991210" cy="228600"/>
          </a:xfrm>
          <a:prstGeom prst="rect">
            <a:avLst/>
          </a:prstGeom>
          <a:noFill/>
          <a:ln/>
        </p:spPr>
        <p:txBody>
          <a:bodyPr wrap="none" lIns="0" tIns="0" rIns="0" bIns="0" rtlCol="0" anchor="ctr"/>
          <a:lstStyle/>
          <a:p>
            <a:pPr algn="ctr" indent="0" marL="0">
              <a:buNone/>
            </a:pPr>
            <a:r>
              <a:rPr lang="en-US" sz="825" b="1" spc="149" kern="0" dirty="0">
                <a:solidFill>
                  <a:srgbClr val="FFFFFF"/>
                </a:solidFill>
                <a:latin typeface="Pretendard" pitchFamily="34" charset="0"/>
                <a:ea typeface="Pretendard" pitchFamily="34" charset="-122"/>
                <a:cs typeface="Pretendard" pitchFamily="34" charset="-120"/>
              </a:rPr>
              <a:t>SIDEWALL</a:t>
            </a:r>
            <a:endParaRPr lang="en-US" sz="825" dirty="0"/>
          </a:p>
        </p:txBody>
      </p:sp>
      <p:sp>
        <p:nvSpPr>
          <p:cNvPr id="79" name="Text 72"/>
          <p:cNvSpPr txBox="1"/>
          <p:nvPr/>
        </p:nvSpPr>
        <p:spPr>
          <a:xfrm>
            <a:off x="14097305" y="2495398"/>
            <a:ext cx="1219810" cy="228600"/>
          </a:xfrm>
          <a:prstGeom prst="rect">
            <a:avLst/>
          </a:prstGeom>
          <a:noFill/>
          <a:ln/>
        </p:spPr>
        <p:txBody>
          <a:bodyPr wrap="none" lIns="0" tIns="0" rIns="0" bIns="0" rtlCol="0" anchor="ctr"/>
          <a:lstStyle/>
          <a:p>
            <a:pPr algn="ctr" indent="0" marL="0">
              <a:buNone/>
            </a:pPr>
            <a:r>
              <a:rPr lang="en-US" sz="825" b="1" spc="149" kern="0" dirty="0">
                <a:solidFill>
                  <a:srgbClr val="FFFFFF"/>
                </a:solidFill>
                <a:latin typeface="Pretendard" pitchFamily="34" charset="0"/>
                <a:ea typeface="Pretendard" pitchFamily="34" charset="-122"/>
                <a:cs typeface="Pretendard" pitchFamily="34" charset="-120"/>
              </a:rPr>
              <a:t>DIELECTRIC</a:t>
            </a:r>
            <a:endParaRPr lang="en-US" sz="825" dirty="0"/>
          </a:p>
        </p:txBody>
      </p:sp>
      <p:sp>
        <p:nvSpPr>
          <p:cNvPr id="80" name="Text 73"/>
          <p:cNvSpPr txBox="1"/>
          <p:nvPr/>
        </p:nvSpPr>
        <p:spPr>
          <a:xfrm>
            <a:off x="9467698" y="5048402"/>
            <a:ext cx="6134710" cy="286207"/>
          </a:xfrm>
          <a:prstGeom prst="rect">
            <a:avLst/>
          </a:prstGeom>
          <a:noFill/>
          <a:ln/>
        </p:spPr>
        <p:txBody>
          <a:bodyPr wrap="none" lIns="0" tIns="0" rIns="0" bIns="0" rtlCol="0" anchor="ctr"/>
          <a:lstStyle/>
          <a:p>
            <a:pPr algn="ctr" indent="0" marL="0">
              <a:buNone/>
            </a:pPr>
            <a:r>
              <a:rPr lang="en-US" sz="900" spc="90" kern="0" dirty="0">
                <a:solidFill>
                  <a:srgbClr val="FFFFFF"/>
                </a:solidFill>
                <a:latin typeface="Pretendard" pitchFamily="34" charset="0"/>
                <a:ea typeface="Pretendard" pitchFamily="34" charset="-122"/>
                <a:cs typeface="Pretendard" pitchFamily="34" charset="-120"/>
              </a:rPr>
              <a:t>12,000 × magnification · 5 kV · in-lens detector</a:t>
            </a:r>
            <a:endParaRPr lang="en-US" sz="900" dirty="0"/>
          </a:p>
        </p:txBody>
      </p:sp>
      <p:sp>
        <p:nvSpPr>
          <p:cNvPr id="81" name="Text 74"/>
          <p:cNvSpPr txBox="1"/>
          <p:nvPr/>
        </p:nvSpPr>
        <p:spPr>
          <a:xfrm>
            <a:off x="800100" y="9296705"/>
            <a:ext cx="16193110" cy="200254"/>
          </a:xfrm>
          <a:prstGeom prst="rect">
            <a:avLst/>
          </a:prstGeom>
          <a:noFill/>
          <a:ln/>
        </p:spPr>
        <p:txBody>
          <a:bodyPr wrap="none" lIns="0" tIns="0" rIns="0" bIns="0" rtlCol="0" anchor="ctr"/>
          <a:lstStyle/>
          <a:p>
            <a:pPr algn="l" indent="0" marL="0">
              <a:buNone/>
            </a:pPr>
            <a:r>
              <a:rPr lang="en-US" sz="825" dirty="0">
                <a:solidFill>
                  <a:srgbClr val="FFFFFF"/>
                </a:solidFill>
                <a:latin typeface="Pretendard" pitchFamily="34" charset="0"/>
                <a:ea typeface="Pretendard" pitchFamily="34" charset="-122"/>
                <a:cs typeface="Pretendard" pitchFamily="34" charset="-120"/>
              </a:rPr>
              <a:t>KEY TAKEAWAY</a:t>
            </a:r>
            <a:pPr algn="l" indent="0" marL="0">
              <a:buNone/>
            </a:pPr>
            <a:r>
              <a:rPr lang="en-US" sz="1125" dirty="0">
                <a:solidFill>
                  <a:srgbClr val="FFFFFF"/>
                </a:solidFill>
                <a:latin typeface="Pretendard" pitchFamily="34" charset="0"/>
                <a:ea typeface="Pretendard" pitchFamily="34" charset="-122"/>
                <a:cs typeface="Pretendard" pitchFamily="34" charset="-120"/>
              </a:rPr>
              <a:t> a-C/SiN 적층이 24 nm 패턴에서 taper · bow · polymer 잔류 모두 정성적 개선을 보임 — 정량 비교는 슬라이드 05.</a:t>
            </a:r>
            <a:endParaRPr lang="en-US" sz="1125" dirty="0"/>
          </a:p>
        </p:txBody>
      </p:sp>
      <p:sp>
        <p:nvSpPr>
          <p:cNvPr id="82" name="Text 75"/>
          <p:cNvSpPr txBox="1"/>
          <p:nvPr/>
        </p:nvSpPr>
        <p:spPr>
          <a:xfrm>
            <a:off x="571500" y="9829800"/>
            <a:ext cx="12382805"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 내부 테스트용 더미(가상) 데이터 · 출처 — Vik's Newsletter · Silicon Semiconductor (편집본, dummy 본문용)</a:t>
            </a:r>
            <a:endParaRPr lang="en-US" sz="900" dirty="0"/>
          </a:p>
        </p:txBody>
      </p:sp>
      <p:sp>
        <p:nvSpPr>
          <p:cNvPr id="83" name="Text 76"/>
          <p:cNvSpPr txBox="1"/>
          <p:nvPr/>
        </p:nvSpPr>
        <p:spPr>
          <a:xfrm>
            <a:off x="16192195" y="9829800"/>
            <a:ext cx="1524305" cy="162763"/>
          </a:xfrm>
          <a:prstGeom prst="rect">
            <a:avLst/>
          </a:prstGeom>
          <a:noFill/>
          <a:ln/>
        </p:spPr>
        <p:txBody>
          <a:bodyPr wrap="none" lIns="0" tIns="0" rIns="0" bIns="0" rtlCol="0" anchor="ctr"/>
          <a:lstStyle/>
          <a:p>
            <a:pPr algn="r" indent="0" marL="0">
              <a:buNone/>
            </a:pPr>
            <a:r>
              <a:rPr lang="en-US" sz="900" dirty="0">
                <a:solidFill>
                  <a:srgbClr val="7A8898"/>
                </a:solidFill>
                <a:latin typeface="Pretendard" pitchFamily="34" charset="0"/>
                <a:ea typeface="Pretendard" pitchFamily="34" charset="-122"/>
                <a:cs typeface="Pretendard" pitchFamily="34" charset="-120"/>
              </a:rPr>
              <a:t>03 / 09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BEEF2"/>
        </a:solidFill>
      </p:bgPr>
    </p:bg>
    <p:spTree>
      <p:nvGrpSpPr>
        <p:cNvPr id="1" name=""/>
        <p:cNvGrpSpPr/>
        <p:nvPr/>
      </p:nvGrpSpPr>
      <p:grpSpPr>
        <a:xfrm>
          <a:off x="0" y="0"/>
          <a:ext cx="0" cy="0"/>
          <a:chOff x="0" y="0"/>
          <a:chExt cx="0" cy="0"/>
        </a:xfrm>
      </p:grpSpPr>
      <p:sp>
        <p:nvSpPr>
          <p:cNvPr id="3" name="Shape 0"/>
          <p:cNvSpPr/>
          <p:nvPr/>
        </p:nvSpPr>
        <p:spPr>
          <a:xfrm>
            <a:off x="0" y="0"/>
            <a:ext cx="18288000" cy="1123798"/>
          </a:xfrm>
          <a:prstGeom prst="rect">
            <a:avLst/>
          </a:prstGeom>
          <a:solidFill>
            <a:srgbClr val="FFFFFF"/>
          </a:solidFill>
          <a:ln/>
        </p:spPr>
      </p:sp>
      <p:sp>
        <p:nvSpPr>
          <p:cNvPr id="4" name="Shape 1"/>
          <p:cNvSpPr/>
          <p:nvPr/>
        </p:nvSpPr>
        <p:spPr>
          <a:xfrm>
            <a:off x="0" y="1114654"/>
            <a:ext cx="18288000" cy="9144"/>
          </a:xfrm>
          <a:prstGeom prst="rect">
            <a:avLst/>
          </a:prstGeom>
          <a:solidFill>
            <a:srgbClr val="C8CED6"/>
          </a:solidFill>
          <a:ln w="12700">
            <a:solidFill>
              <a:srgbClr val="C8CED6">
                <a:alpha val="0"/>
              </a:srgbClr>
            </a:solidFill>
            <a:prstDash val="solid"/>
          </a:ln>
        </p:spPr>
      </p:sp>
      <p:sp>
        <p:nvSpPr>
          <p:cNvPr id="5" name="Shape 2"/>
          <p:cNvSpPr/>
          <p:nvPr/>
        </p:nvSpPr>
        <p:spPr>
          <a:xfrm>
            <a:off x="571500" y="1619402"/>
            <a:ext cx="11239805" cy="5715000"/>
          </a:xfrm>
          <a:prstGeom prst="rect">
            <a:avLst/>
          </a:prstGeom>
          <a:solidFill>
            <a:srgbClr val="FFFFFF"/>
          </a:solidFill>
          <a:ln w="12700">
            <a:solidFill>
              <a:srgbClr val="C8CED6"/>
            </a:solidFill>
            <a:prstDash val="solid"/>
          </a:ln>
        </p:spPr>
      </p:sp>
      <p:sp>
        <p:nvSpPr>
          <p:cNvPr id="6" name="Shape 3"/>
          <p:cNvSpPr/>
          <p:nvPr/>
        </p:nvSpPr>
        <p:spPr>
          <a:xfrm>
            <a:off x="12001500" y="1619402"/>
            <a:ext cx="5715000" cy="5715000"/>
          </a:xfrm>
          <a:prstGeom prst="rect">
            <a:avLst/>
          </a:prstGeom>
          <a:solidFill>
            <a:srgbClr val="FFFFFF"/>
          </a:solidFill>
          <a:ln w="12700">
            <a:solidFill>
              <a:srgbClr val="C8CED6"/>
            </a:solidFill>
            <a:prstDash val="solid"/>
          </a:ln>
        </p:spPr>
      </p:sp>
      <p:sp>
        <p:nvSpPr>
          <p:cNvPr id="7" name="Shape 4"/>
          <p:cNvSpPr/>
          <p:nvPr/>
        </p:nvSpPr>
        <p:spPr>
          <a:xfrm>
            <a:off x="571500" y="7524598"/>
            <a:ext cx="17145000" cy="1333195"/>
          </a:xfrm>
          <a:prstGeom prst="rect">
            <a:avLst/>
          </a:prstGeom>
          <a:solidFill>
            <a:srgbClr val="FFFFFF"/>
          </a:solidFill>
          <a:ln w="12700">
            <a:solidFill>
              <a:srgbClr val="C8CED6"/>
            </a:solidFill>
            <a:prstDash val="solid"/>
          </a:ln>
        </p:spPr>
      </p:sp>
      <p:pic>
        <p:nvPicPr>
          <p:cNvPr id="8" name="Image 0" descr="gen-dedup-67de915f3037cddbbfe4bde9fde9037b.png">    </p:cNvPr>
          <p:cNvPicPr>
            <a:picLocks noChangeAspect="1"/>
          </p:cNvPicPr>
          <p:nvPr/>
        </p:nvPicPr>
        <p:blipFill>
          <a:blip r:embed="rId1"/>
          <a:srcRect l="0" r="0" t="-40" b="-40"/>
          <a:stretch/>
        </p:blipFill>
        <p:spPr>
          <a:xfrm>
            <a:off x="571500" y="9239098"/>
            <a:ext cx="17145000" cy="381305"/>
          </a:xfrm>
          <a:prstGeom prst="rect">
            <a:avLst/>
          </a:prstGeom>
        </p:spPr>
      </p:pic>
      <p:pic>
        <p:nvPicPr>
          <p:cNvPr id="9" name="Image 1" descr="gen-dedup-68bac70ffc575f7be58fcf62b0930262.png">    </p:cNvPr>
          <p:cNvPicPr>
            <a:picLocks noChangeAspect="1"/>
          </p:cNvPicPr>
          <p:nvPr/>
        </p:nvPicPr>
        <p:blipFill>
          <a:blip r:embed="rId2"/>
          <a:srcRect l="-2083" r="-2083" t="0" b="0"/>
          <a:stretch/>
        </p:blipFill>
        <p:spPr>
          <a:xfrm>
            <a:off x="0" y="9715500"/>
            <a:ext cx="18288000" cy="9144"/>
          </a:xfrm>
          <a:prstGeom prst="rect">
            <a:avLst/>
          </a:prstGeom>
        </p:spPr>
      </p:pic>
      <p:sp>
        <p:nvSpPr>
          <p:cNvPr id="10" name="Shape 5"/>
          <p:cNvSpPr/>
          <p:nvPr/>
        </p:nvSpPr>
        <p:spPr>
          <a:xfrm>
            <a:off x="800100" y="2553005"/>
            <a:ext cx="8572500" cy="4572000"/>
          </a:xfrm>
          <a:prstGeom prst="rect">
            <a:avLst/>
          </a:prstGeom>
          <a:solidFill>
            <a:srgbClr val="0E1116"/>
          </a:solidFill>
          <a:ln w="12700">
            <a:solidFill>
              <a:srgbClr val="1B2535"/>
            </a:solidFill>
            <a:prstDash val="solid"/>
          </a:ln>
        </p:spPr>
      </p:sp>
      <p:sp>
        <p:nvSpPr>
          <p:cNvPr id="11" name="Shape 6"/>
          <p:cNvSpPr/>
          <p:nvPr/>
        </p:nvSpPr>
        <p:spPr>
          <a:xfrm>
            <a:off x="12230100" y="2247595"/>
            <a:ext cx="5257800" cy="590702"/>
          </a:xfrm>
          <a:prstGeom prst="rect">
            <a:avLst/>
          </a:prstGeom>
          <a:solidFill>
            <a:srgbClr val="F7F9FB"/>
          </a:solidFill>
          <a:ln w="12700">
            <a:solidFill>
              <a:srgbClr val="FFFFFF">
                <a:alpha val="0"/>
              </a:srgbClr>
            </a:solidFill>
            <a:prstDash val="solid"/>
          </a:ln>
        </p:spPr>
      </p:sp>
      <p:sp>
        <p:nvSpPr>
          <p:cNvPr id="12" name="Shape 7"/>
          <p:cNvSpPr/>
          <p:nvPr/>
        </p:nvSpPr>
        <p:spPr>
          <a:xfrm>
            <a:off x="12230100" y="2933395"/>
            <a:ext cx="5257800" cy="590702"/>
          </a:xfrm>
          <a:prstGeom prst="rect">
            <a:avLst/>
          </a:prstGeom>
          <a:solidFill>
            <a:srgbClr val="F7F9FB"/>
          </a:solidFill>
          <a:ln w="12700">
            <a:solidFill>
              <a:srgbClr val="FFFFFF">
                <a:alpha val="0"/>
              </a:srgbClr>
            </a:solidFill>
            <a:prstDash val="solid"/>
          </a:ln>
        </p:spPr>
      </p:sp>
      <p:sp>
        <p:nvSpPr>
          <p:cNvPr id="13" name="Shape 8"/>
          <p:cNvSpPr/>
          <p:nvPr/>
        </p:nvSpPr>
        <p:spPr>
          <a:xfrm>
            <a:off x="12230100" y="3619195"/>
            <a:ext cx="5257800" cy="590702"/>
          </a:xfrm>
          <a:prstGeom prst="rect">
            <a:avLst/>
          </a:prstGeom>
          <a:solidFill>
            <a:srgbClr val="F7F9FB"/>
          </a:solidFill>
          <a:ln w="12700">
            <a:solidFill>
              <a:srgbClr val="FFFFFF">
                <a:alpha val="0"/>
              </a:srgbClr>
            </a:solidFill>
            <a:prstDash val="solid"/>
          </a:ln>
        </p:spPr>
      </p:sp>
      <p:sp>
        <p:nvSpPr>
          <p:cNvPr id="14" name="Shape 9"/>
          <p:cNvSpPr/>
          <p:nvPr/>
        </p:nvSpPr>
        <p:spPr>
          <a:xfrm>
            <a:off x="12230100" y="4304995"/>
            <a:ext cx="5257800" cy="590702"/>
          </a:xfrm>
          <a:prstGeom prst="rect">
            <a:avLst/>
          </a:prstGeom>
          <a:solidFill>
            <a:srgbClr val="F7F9FB"/>
          </a:solidFill>
          <a:ln w="12700">
            <a:solidFill>
              <a:srgbClr val="FFFFFF">
                <a:alpha val="0"/>
              </a:srgbClr>
            </a:solidFill>
            <a:prstDash val="solid"/>
          </a:ln>
        </p:spPr>
      </p:sp>
      <p:sp>
        <p:nvSpPr>
          <p:cNvPr id="15" name="Shape 10"/>
          <p:cNvSpPr/>
          <p:nvPr/>
        </p:nvSpPr>
        <p:spPr>
          <a:xfrm>
            <a:off x="12230100" y="4990795"/>
            <a:ext cx="5257800" cy="590702"/>
          </a:xfrm>
          <a:prstGeom prst="rect">
            <a:avLst/>
          </a:prstGeom>
          <a:solidFill>
            <a:srgbClr val="F7F9FB"/>
          </a:solidFill>
          <a:ln w="12700">
            <a:solidFill>
              <a:srgbClr val="FFFFFF">
                <a:alpha val="0"/>
              </a:srgbClr>
            </a:solidFill>
            <a:prstDash val="solid"/>
          </a:ln>
        </p:spPr>
      </p:sp>
      <p:sp>
        <p:nvSpPr>
          <p:cNvPr id="16" name="Shape 11"/>
          <p:cNvSpPr/>
          <p:nvPr/>
        </p:nvSpPr>
        <p:spPr>
          <a:xfrm>
            <a:off x="12230100" y="5676595"/>
            <a:ext cx="5257800" cy="724205"/>
          </a:xfrm>
          <a:prstGeom prst="rect">
            <a:avLst/>
          </a:prstGeom>
          <a:solidFill>
            <a:srgbClr val="F7F9FB"/>
          </a:solidFill>
          <a:ln/>
        </p:spPr>
      </p:sp>
      <p:sp>
        <p:nvSpPr>
          <p:cNvPr id="17" name="Shape 12"/>
          <p:cNvSpPr/>
          <p:nvPr/>
        </p:nvSpPr>
        <p:spPr>
          <a:xfrm>
            <a:off x="12230100" y="5676595"/>
            <a:ext cx="57607" cy="724205"/>
          </a:xfrm>
          <a:prstGeom prst="rect">
            <a:avLst/>
          </a:prstGeom>
          <a:solidFill>
            <a:srgbClr val="B47A1F"/>
          </a:solidFill>
          <a:ln w="12700">
            <a:solidFill>
              <a:srgbClr val="B47A1F">
                <a:alpha val="0"/>
              </a:srgbClr>
            </a:solidFill>
            <a:prstDash val="solid"/>
          </a:ln>
        </p:spPr>
      </p:sp>
      <p:pic>
        <p:nvPicPr>
          <p:cNvPr id="18" name="Image 2" descr="gen-dedup-f7837d7e68da7b54c44113705891a77b.jpg">    </p:cNvPr>
          <p:cNvPicPr>
            <a:picLocks noChangeAspect="1"/>
          </p:cNvPicPr>
          <p:nvPr/>
        </p:nvPicPr>
        <p:blipFill>
          <a:blip r:embed="rId3">
            <a:alphaModFix amt="96000"/>
          </a:blip>
          <a:stretch>
            <a:fillRect/>
          </a:stretch>
        </p:blipFill>
        <p:spPr>
          <a:xfrm>
            <a:off x="800100" y="2553005"/>
            <a:ext cx="8572500" cy="4572000"/>
          </a:xfrm>
          <a:prstGeom prst="rect">
            <a:avLst/>
          </a:prstGeom>
        </p:spPr>
      </p:pic>
      <p:sp>
        <p:nvSpPr>
          <p:cNvPr id="19" name="Text 13"/>
          <p:cNvSpPr txBox="1"/>
          <p:nvPr/>
        </p:nvSpPr>
        <p:spPr>
          <a:xfrm>
            <a:off x="800100" y="1848002"/>
            <a:ext cx="10858500" cy="181051"/>
          </a:xfrm>
          <a:prstGeom prst="rect">
            <a:avLst/>
          </a:prstGeom>
          <a:noFill/>
          <a:ln/>
        </p:spPr>
        <p:txBody>
          <a:bodyPr wrap="none" lIns="0" tIns="0" rIns="0" bIns="0" rtlCol="0" anchor="ctr"/>
          <a:lstStyle/>
          <a:p>
            <a:pPr algn="l" indent="0" marL="0">
              <a:buNone/>
            </a:pPr>
            <a:r>
              <a:rPr lang="en-US" sz="975" b="1" spc="273" kern="0" dirty="0">
                <a:solidFill>
                  <a:srgbClr val="2E6F8E"/>
                </a:solidFill>
                <a:latin typeface="Pretendard" pitchFamily="34" charset="0"/>
                <a:ea typeface="Pretendard" pitchFamily="34" charset="-122"/>
                <a:cs typeface="Pretendard" pitchFamily="34" charset="-120"/>
              </a:rPr>
              <a:t>CROSS-SECTIONAL TEM · REFERENCE FRAME</a:t>
            </a:r>
            <a:endParaRPr lang="en-US" sz="975" dirty="0"/>
          </a:p>
        </p:txBody>
      </p:sp>
      <p:sp>
        <p:nvSpPr>
          <p:cNvPr id="20" name="Text 14"/>
          <p:cNvSpPr txBox="1"/>
          <p:nvPr/>
        </p:nvSpPr>
        <p:spPr>
          <a:xfrm>
            <a:off x="800100" y="2115007"/>
            <a:ext cx="4724705"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Through-pitch CD imbalance 정량 데이터</a:t>
            </a:r>
            <a:endParaRPr lang="en-US" sz="1650" dirty="0"/>
          </a:p>
        </p:txBody>
      </p:sp>
      <p:sp>
        <p:nvSpPr>
          <p:cNvPr id="21" name="Text 15"/>
          <p:cNvSpPr txBox="1"/>
          <p:nvPr/>
        </p:nvSpPr>
        <p:spPr>
          <a:xfrm>
            <a:off x="5064862" y="2219249"/>
            <a:ext cx="2686507" cy="181051"/>
          </a:xfrm>
          <a:prstGeom prst="rect">
            <a:avLst/>
          </a:prstGeom>
          <a:noFill/>
          <a:ln/>
        </p:spPr>
        <p:txBody>
          <a:bodyPr wrap="none" lIns="0" tIns="0" rIns="0" bIns="0" rtlCol="0" anchor="ctr"/>
          <a:lstStyle/>
          <a:p>
            <a:pPr algn="l" indent="0" marL="0">
              <a:buNone/>
            </a:pPr>
            <a:r>
              <a:rPr lang="en-US" sz="975" spc="59" kern="0" dirty="0">
                <a:solidFill>
                  <a:srgbClr val="7A8898"/>
                </a:solidFill>
                <a:latin typeface="Pretendard" pitchFamily="34" charset="0"/>
                <a:ea typeface="Pretendard" pitchFamily="34" charset="-122"/>
                <a:cs typeface="Pretendard" pitchFamily="34" charset="-120"/>
              </a:rPr>
              <a:t>W04 · a-C/SiN baseline · 24 nm L/S</a:t>
            </a:r>
            <a:endParaRPr lang="en-US" sz="975" dirty="0"/>
          </a:p>
        </p:txBody>
      </p:sp>
      <p:sp>
        <p:nvSpPr>
          <p:cNvPr id="22" name="Text 16"/>
          <p:cNvSpPr txBox="1"/>
          <p:nvPr/>
        </p:nvSpPr>
        <p:spPr>
          <a:xfrm>
            <a:off x="12230100" y="1848002"/>
            <a:ext cx="5334610" cy="181051"/>
          </a:xfrm>
          <a:prstGeom prst="rect">
            <a:avLst/>
          </a:prstGeom>
          <a:noFill/>
          <a:ln/>
        </p:spPr>
        <p:txBody>
          <a:bodyPr wrap="none" lIns="0" tIns="0" rIns="0" bIns="0" rtlCol="0" anchor="ctr"/>
          <a:lstStyle/>
          <a:p>
            <a:pPr algn="l" indent="0" marL="0">
              <a:buNone/>
            </a:pPr>
            <a:r>
              <a:rPr lang="en-US" sz="975" b="1" spc="273" kern="0" dirty="0">
                <a:solidFill>
                  <a:srgbClr val="C8552D"/>
                </a:solidFill>
                <a:latin typeface="Pretendard" pitchFamily="34" charset="0"/>
                <a:ea typeface="Pretendard" pitchFamily="34" charset="-122"/>
                <a:cs typeface="Pretendard" pitchFamily="34" charset="-120"/>
              </a:rPr>
              <a:t>PROFILE METRIC · W04</a:t>
            </a:r>
            <a:endParaRPr lang="en-US" sz="975" dirty="0"/>
          </a:p>
        </p:txBody>
      </p:sp>
      <p:sp>
        <p:nvSpPr>
          <p:cNvPr id="23" name="Text 17"/>
          <p:cNvSpPr txBox="1"/>
          <p:nvPr/>
        </p:nvSpPr>
        <p:spPr>
          <a:xfrm>
            <a:off x="12420295" y="2361895"/>
            <a:ext cx="2857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Top CD mean</a:t>
            </a:r>
            <a:endParaRPr lang="en-US" sz="975" dirty="0"/>
          </a:p>
        </p:txBody>
      </p:sp>
      <p:sp>
        <p:nvSpPr>
          <p:cNvPr id="24" name="Text 18"/>
          <p:cNvSpPr txBox="1"/>
          <p:nvPr/>
        </p:nvSpPr>
        <p:spPr>
          <a:xfrm>
            <a:off x="12420295" y="2562149"/>
            <a:ext cx="2857500" cy="191110"/>
          </a:xfrm>
          <a:prstGeom prst="rect">
            <a:avLst/>
          </a:prstGeom>
          <a:noFill/>
          <a:ln/>
        </p:spPr>
        <p:txBody>
          <a:bodyPr wrap="none" lIns="0" tIns="0" rIns="0" bIns="0" rtlCol="0" anchor="ctr"/>
          <a:lstStyle/>
          <a:p>
            <a:pPr algn="l" indent="0" marL="0">
              <a:buNone/>
            </a:pPr>
            <a:r>
              <a:rPr lang="en-US" sz="1500" b="1" dirty="0">
                <a:solidFill>
                  <a:srgbClr val="1B2535"/>
                </a:solidFill>
                <a:latin typeface="Pretendard" pitchFamily="34" charset="0"/>
                <a:ea typeface="Pretendard" pitchFamily="34" charset="-122"/>
                <a:cs typeface="Pretendard" pitchFamily="34" charset="-120"/>
              </a:rPr>
              <a:t>23.92 nm</a:t>
            </a:r>
            <a:endParaRPr lang="en-US" sz="1500" dirty="0"/>
          </a:p>
        </p:txBody>
      </p:sp>
      <p:sp>
        <p:nvSpPr>
          <p:cNvPr id="25" name="Text 19"/>
          <p:cNvSpPr txBox="1"/>
          <p:nvPr/>
        </p:nvSpPr>
        <p:spPr>
          <a:xfrm>
            <a:off x="15468905" y="2361895"/>
            <a:ext cx="1905610" cy="181051"/>
          </a:xfrm>
          <a:prstGeom prst="rect">
            <a:avLst/>
          </a:prstGeom>
          <a:noFill/>
          <a:ln/>
        </p:spPr>
        <p:txBody>
          <a:bodyPr wrap="none" lIns="0" tIns="0" rIns="0" bIns="0" rtlCol="0" anchor="ctr"/>
          <a:lstStyle/>
          <a:p>
            <a:pPr algn="r" indent="0" marL="0">
              <a:buNone/>
            </a:pPr>
            <a:r>
              <a:rPr lang="en-US" sz="975" b="1" dirty="0">
                <a:solidFill>
                  <a:srgbClr val="3F6F52"/>
                </a:solidFill>
                <a:latin typeface="Pretendard" pitchFamily="34" charset="0"/>
                <a:ea typeface="Pretendard" pitchFamily="34" charset="-122"/>
                <a:cs typeface="Pretendard" pitchFamily="34" charset="-120"/>
              </a:rPr>
              <a:t>target − 0.12 / OK</a:t>
            </a:r>
            <a:endParaRPr lang="en-US" sz="975" dirty="0"/>
          </a:p>
        </p:txBody>
      </p:sp>
      <p:sp>
        <p:nvSpPr>
          <p:cNvPr id="26" name="Text 20"/>
          <p:cNvSpPr txBox="1"/>
          <p:nvPr/>
        </p:nvSpPr>
        <p:spPr>
          <a:xfrm>
            <a:off x="12420295" y="3047695"/>
            <a:ext cx="2857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Bow Δ (top–mid)</a:t>
            </a:r>
            <a:endParaRPr lang="en-US" sz="975" dirty="0"/>
          </a:p>
        </p:txBody>
      </p:sp>
      <p:sp>
        <p:nvSpPr>
          <p:cNvPr id="27" name="Text 21"/>
          <p:cNvSpPr txBox="1"/>
          <p:nvPr/>
        </p:nvSpPr>
        <p:spPr>
          <a:xfrm>
            <a:off x="12420295" y="3247949"/>
            <a:ext cx="2857500" cy="191110"/>
          </a:xfrm>
          <a:prstGeom prst="rect">
            <a:avLst/>
          </a:prstGeom>
          <a:noFill/>
          <a:ln/>
        </p:spPr>
        <p:txBody>
          <a:bodyPr wrap="none" lIns="0" tIns="0" rIns="0" bIns="0" rtlCol="0" anchor="ctr"/>
          <a:lstStyle/>
          <a:p>
            <a:pPr algn="l" indent="0" marL="0">
              <a:buNone/>
            </a:pPr>
            <a:r>
              <a:rPr lang="en-US" sz="1500" b="1" dirty="0">
                <a:solidFill>
                  <a:srgbClr val="1B2535"/>
                </a:solidFill>
                <a:latin typeface="Pretendard" pitchFamily="34" charset="0"/>
                <a:ea typeface="Pretendard" pitchFamily="34" charset="-122"/>
                <a:cs typeface="Pretendard" pitchFamily="34" charset="-120"/>
              </a:rPr>
              <a:t>+0.42 nm</a:t>
            </a:r>
            <a:endParaRPr lang="en-US" sz="1500" dirty="0"/>
          </a:p>
        </p:txBody>
      </p:sp>
      <p:sp>
        <p:nvSpPr>
          <p:cNvPr id="28" name="Text 22"/>
          <p:cNvSpPr txBox="1"/>
          <p:nvPr/>
        </p:nvSpPr>
        <p:spPr>
          <a:xfrm>
            <a:off x="15468905" y="3047695"/>
            <a:ext cx="1905610" cy="181051"/>
          </a:xfrm>
          <a:prstGeom prst="rect">
            <a:avLst/>
          </a:prstGeom>
          <a:noFill/>
          <a:ln/>
        </p:spPr>
        <p:txBody>
          <a:bodyPr wrap="none" lIns="0" tIns="0" rIns="0" bIns="0" rtlCol="0" anchor="ctr"/>
          <a:lstStyle/>
          <a:p>
            <a:pPr algn="r" indent="0" marL="0">
              <a:buNone/>
            </a:pPr>
            <a:r>
              <a:rPr lang="en-US" sz="975" b="1" dirty="0">
                <a:solidFill>
                  <a:srgbClr val="3F6F52"/>
                </a:solidFill>
                <a:latin typeface="Pretendard" pitchFamily="34" charset="0"/>
                <a:ea typeface="Pretendard" pitchFamily="34" charset="-122"/>
                <a:cs typeface="Pretendard" pitchFamily="34" charset="-120"/>
              </a:rPr>
              <a:t>impl ≤ 0.8 / OK</a:t>
            </a:r>
            <a:endParaRPr lang="en-US" sz="975" dirty="0"/>
          </a:p>
        </p:txBody>
      </p:sp>
      <p:sp>
        <p:nvSpPr>
          <p:cNvPr id="29" name="Text 23"/>
          <p:cNvSpPr txBox="1"/>
          <p:nvPr/>
        </p:nvSpPr>
        <p:spPr>
          <a:xfrm>
            <a:off x="12420295" y="3733495"/>
            <a:ext cx="2857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Taper (top–bot)</a:t>
            </a:r>
            <a:endParaRPr lang="en-US" sz="975" dirty="0"/>
          </a:p>
        </p:txBody>
      </p:sp>
      <p:sp>
        <p:nvSpPr>
          <p:cNvPr id="30" name="Text 24"/>
          <p:cNvSpPr txBox="1"/>
          <p:nvPr/>
        </p:nvSpPr>
        <p:spPr>
          <a:xfrm>
            <a:off x="12420295" y="3933749"/>
            <a:ext cx="2857500" cy="191110"/>
          </a:xfrm>
          <a:prstGeom prst="rect">
            <a:avLst/>
          </a:prstGeom>
          <a:noFill/>
          <a:ln/>
        </p:spPr>
        <p:txBody>
          <a:bodyPr wrap="none" lIns="0" tIns="0" rIns="0" bIns="0" rtlCol="0" anchor="ctr"/>
          <a:lstStyle/>
          <a:p>
            <a:pPr algn="l" indent="0" marL="0">
              <a:buNone/>
            </a:pPr>
            <a:r>
              <a:rPr lang="en-US" sz="1500" b="1" dirty="0">
                <a:solidFill>
                  <a:srgbClr val="1B2535"/>
                </a:solidFill>
                <a:latin typeface="Pretendard" pitchFamily="34" charset="0"/>
                <a:ea typeface="Pretendard" pitchFamily="34" charset="-122"/>
                <a:cs typeface="Pretendard" pitchFamily="34" charset="-120"/>
              </a:rPr>
              <a:t>−1.02 nm</a:t>
            </a:r>
            <a:endParaRPr lang="en-US" sz="1500" dirty="0"/>
          </a:p>
        </p:txBody>
      </p:sp>
      <p:sp>
        <p:nvSpPr>
          <p:cNvPr id="31" name="Text 25"/>
          <p:cNvSpPr txBox="1"/>
          <p:nvPr/>
        </p:nvSpPr>
        <p:spPr>
          <a:xfrm>
            <a:off x="15468905" y="3733495"/>
            <a:ext cx="1905610" cy="181051"/>
          </a:xfrm>
          <a:prstGeom prst="rect">
            <a:avLst/>
          </a:prstGeom>
          <a:noFill/>
          <a:ln/>
        </p:spPr>
        <p:txBody>
          <a:bodyPr wrap="none" lIns="0" tIns="0" rIns="0" bIns="0" rtlCol="0" anchor="ctr"/>
          <a:lstStyle/>
          <a:p>
            <a:pPr algn="r" indent="0" marL="0">
              <a:buNone/>
            </a:pPr>
            <a:r>
              <a:rPr lang="en-US" sz="975" b="1" dirty="0">
                <a:solidFill>
                  <a:srgbClr val="3F6F52"/>
                </a:solidFill>
                <a:latin typeface="Pretendard" pitchFamily="34" charset="0"/>
                <a:ea typeface="Pretendard" pitchFamily="34" charset="-122"/>
                <a:cs typeface="Pretendard" pitchFamily="34" charset="-120"/>
              </a:rPr>
              <a:t>within spec</a:t>
            </a:r>
            <a:endParaRPr lang="en-US" sz="975" dirty="0"/>
          </a:p>
        </p:txBody>
      </p:sp>
      <p:sp>
        <p:nvSpPr>
          <p:cNvPr id="32" name="Text 26"/>
          <p:cNvSpPr txBox="1"/>
          <p:nvPr/>
        </p:nvSpPr>
        <p:spPr>
          <a:xfrm>
            <a:off x="12420295" y="4419295"/>
            <a:ext cx="2857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Sidewall angle</a:t>
            </a:r>
            <a:endParaRPr lang="en-US" sz="975" dirty="0"/>
          </a:p>
        </p:txBody>
      </p:sp>
      <p:sp>
        <p:nvSpPr>
          <p:cNvPr id="33" name="Text 27"/>
          <p:cNvSpPr txBox="1"/>
          <p:nvPr/>
        </p:nvSpPr>
        <p:spPr>
          <a:xfrm>
            <a:off x="12420295" y="4619549"/>
            <a:ext cx="2857500" cy="191110"/>
          </a:xfrm>
          <a:prstGeom prst="rect">
            <a:avLst/>
          </a:prstGeom>
          <a:noFill/>
          <a:ln/>
        </p:spPr>
        <p:txBody>
          <a:bodyPr wrap="none" lIns="0" tIns="0" rIns="0" bIns="0" rtlCol="0" anchor="ctr"/>
          <a:lstStyle/>
          <a:p>
            <a:pPr algn="l" indent="0" marL="0">
              <a:buNone/>
            </a:pPr>
            <a:r>
              <a:rPr lang="en-US" sz="1500" b="1" dirty="0">
                <a:solidFill>
                  <a:srgbClr val="1B2535"/>
                </a:solidFill>
                <a:latin typeface="Pretendard" pitchFamily="34" charset="0"/>
                <a:ea typeface="Pretendard" pitchFamily="34" charset="-122"/>
                <a:cs typeface="Pretendard" pitchFamily="34" charset="-120"/>
              </a:rPr>
              <a:t>87.4°</a:t>
            </a:r>
            <a:endParaRPr lang="en-US" sz="1500" dirty="0"/>
          </a:p>
        </p:txBody>
      </p:sp>
      <p:sp>
        <p:nvSpPr>
          <p:cNvPr id="34" name="Text 28"/>
          <p:cNvSpPr txBox="1"/>
          <p:nvPr/>
        </p:nvSpPr>
        <p:spPr>
          <a:xfrm>
            <a:off x="15468905" y="4419295"/>
            <a:ext cx="1905610" cy="181051"/>
          </a:xfrm>
          <a:prstGeom prst="rect">
            <a:avLst/>
          </a:prstGeom>
          <a:noFill/>
          <a:ln/>
        </p:spPr>
        <p:txBody>
          <a:bodyPr wrap="none" lIns="0" tIns="0" rIns="0" bIns="0" rtlCol="0" anchor="ctr"/>
          <a:lstStyle/>
          <a:p>
            <a:pPr algn="r" indent="0" marL="0">
              <a:buNone/>
            </a:pPr>
            <a:r>
              <a:rPr lang="en-US" sz="975" b="1" dirty="0">
                <a:solidFill>
                  <a:srgbClr val="3F6F52"/>
                </a:solidFill>
                <a:latin typeface="Pretendard" pitchFamily="34" charset="0"/>
                <a:ea typeface="Pretendard" pitchFamily="34" charset="-122"/>
                <a:cs typeface="Pretendard" pitchFamily="34" charset="-120"/>
              </a:rPr>
              <a:t>vertical 85–89°</a:t>
            </a:r>
            <a:endParaRPr lang="en-US" sz="975" dirty="0"/>
          </a:p>
        </p:txBody>
      </p:sp>
      <p:sp>
        <p:nvSpPr>
          <p:cNvPr id="35" name="Text 29"/>
          <p:cNvSpPr txBox="1"/>
          <p:nvPr/>
        </p:nvSpPr>
        <p:spPr>
          <a:xfrm>
            <a:off x="12420295" y="5105095"/>
            <a:ext cx="28575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HM remaining</a:t>
            </a:r>
            <a:endParaRPr lang="en-US" sz="975" dirty="0"/>
          </a:p>
        </p:txBody>
      </p:sp>
      <p:sp>
        <p:nvSpPr>
          <p:cNvPr id="36" name="Text 30"/>
          <p:cNvSpPr txBox="1"/>
          <p:nvPr/>
        </p:nvSpPr>
        <p:spPr>
          <a:xfrm>
            <a:off x="12420295" y="5305349"/>
            <a:ext cx="2857500" cy="191110"/>
          </a:xfrm>
          <a:prstGeom prst="rect">
            <a:avLst/>
          </a:prstGeom>
          <a:noFill/>
          <a:ln/>
        </p:spPr>
        <p:txBody>
          <a:bodyPr wrap="none" lIns="0" tIns="0" rIns="0" bIns="0" rtlCol="0" anchor="ctr"/>
          <a:lstStyle/>
          <a:p>
            <a:pPr algn="l" indent="0" marL="0">
              <a:buNone/>
            </a:pPr>
            <a:r>
              <a:rPr lang="en-US" sz="1500" b="1" dirty="0">
                <a:solidFill>
                  <a:srgbClr val="1B2535"/>
                </a:solidFill>
                <a:latin typeface="Pretendard" pitchFamily="34" charset="0"/>
                <a:ea typeface="Pretendard" pitchFamily="34" charset="-122"/>
                <a:cs typeface="Pretendard" pitchFamily="34" charset="-120"/>
              </a:rPr>
              <a:t>6.8 nm</a:t>
            </a:r>
            <a:endParaRPr lang="en-US" sz="1500" dirty="0"/>
          </a:p>
        </p:txBody>
      </p:sp>
      <p:sp>
        <p:nvSpPr>
          <p:cNvPr id="37" name="Text 31"/>
          <p:cNvSpPr txBox="1"/>
          <p:nvPr/>
        </p:nvSpPr>
        <p:spPr>
          <a:xfrm>
            <a:off x="15468905" y="5105095"/>
            <a:ext cx="1905610" cy="181051"/>
          </a:xfrm>
          <a:prstGeom prst="rect">
            <a:avLst/>
          </a:prstGeom>
          <a:noFill/>
          <a:ln/>
        </p:spPr>
        <p:txBody>
          <a:bodyPr wrap="none" lIns="0" tIns="0" rIns="0" bIns="0" rtlCol="0" anchor="ctr"/>
          <a:lstStyle/>
          <a:p>
            <a:pPr algn="r" indent="0" marL="0">
              <a:buNone/>
            </a:pPr>
            <a:r>
              <a:rPr lang="en-US" sz="975" dirty="0">
                <a:solidFill>
                  <a:srgbClr val="44546A"/>
                </a:solidFill>
                <a:latin typeface="Pretendard" pitchFamily="34" charset="0"/>
                <a:ea typeface="Pretendard" pitchFamily="34" charset="-122"/>
                <a:cs typeface="Pretendard" pitchFamily="34" charset="-120"/>
              </a:rPr>
              <a:t>margin 2 nm</a:t>
            </a:r>
            <a:endParaRPr lang="en-US" sz="975" dirty="0"/>
          </a:p>
        </p:txBody>
      </p:sp>
      <p:sp>
        <p:nvSpPr>
          <p:cNvPr id="38" name="Text 32"/>
          <p:cNvSpPr txBox="1"/>
          <p:nvPr/>
        </p:nvSpPr>
        <p:spPr>
          <a:xfrm>
            <a:off x="12420295" y="5790895"/>
            <a:ext cx="4953305" cy="181051"/>
          </a:xfrm>
          <a:prstGeom prst="rect">
            <a:avLst/>
          </a:prstGeom>
          <a:noFill/>
          <a:ln/>
        </p:spPr>
        <p:txBody>
          <a:bodyPr wrap="none" lIns="0" tIns="0" rIns="0" bIns="0" rtlCol="0" anchor="ctr"/>
          <a:lstStyle/>
          <a:p>
            <a:pPr algn="l" indent="0" marL="0">
              <a:buNone/>
            </a:pPr>
            <a:r>
              <a:rPr lang="en-US" sz="975" b="1" dirty="0">
                <a:solidFill>
                  <a:srgbClr val="B47A1F"/>
                </a:solidFill>
                <a:latin typeface="Pretendard" pitchFamily="34" charset="0"/>
                <a:ea typeface="Pretendard" pitchFamily="34" charset="-122"/>
                <a:cs typeface="Pretendard" pitchFamily="34" charset="-120"/>
              </a:rPr>
              <a:t>Wiggling index</a:t>
            </a:r>
            <a:endParaRPr lang="en-US" sz="975" dirty="0"/>
          </a:p>
        </p:txBody>
      </p:sp>
      <p:sp>
        <p:nvSpPr>
          <p:cNvPr id="39" name="Text 33"/>
          <p:cNvSpPr txBox="1"/>
          <p:nvPr/>
        </p:nvSpPr>
        <p:spPr>
          <a:xfrm>
            <a:off x="12420295" y="6010351"/>
            <a:ext cx="4953305" cy="210312"/>
          </a:xfrm>
          <a:prstGeom prst="rect">
            <a:avLst/>
          </a:prstGeom>
          <a:noFill/>
          <a:ln/>
        </p:spPr>
        <p:txBody>
          <a:bodyPr wrap="none" lIns="0" tIns="0" rIns="0" bIns="0" rtlCol="0" anchor="ctr"/>
          <a:lstStyle/>
          <a:p>
            <a:pPr algn="l" indent="0" marL="0">
              <a:buNone/>
            </a:pPr>
            <a:r>
              <a:rPr lang="en-US" sz="1650" b="1" dirty="0">
                <a:solidFill>
                  <a:srgbClr val="B47A1F"/>
                </a:solidFill>
                <a:latin typeface="Pretendard" pitchFamily="34" charset="0"/>
                <a:ea typeface="Pretendard" pitchFamily="34" charset="-122"/>
                <a:cs typeface="Pretendard" pitchFamily="34" charset="-120"/>
              </a:rPr>
              <a:t>0.18 </a:t>
            </a:r>
            <a:pPr algn="l" indent="0" marL="0">
              <a:buNone/>
            </a:pPr>
            <a:r>
              <a:rPr lang="en-US" sz="975" b="1" dirty="0">
                <a:solidFill>
                  <a:srgbClr val="7A8898"/>
                </a:solidFill>
                <a:latin typeface="Pretendard" pitchFamily="34" charset="0"/>
                <a:ea typeface="Pretendard" pitchFamily="34" charset="-122"/>
                <a:cs typeface="Pretendard" pitchFamily="34" charset="-120"/>
              </a:rPr>
              <a:t>(low) · ~2.7× reduction</a:t>
            </a:r>
            <a:endParaRPr lang="en-US" sz="1650" dirty="0"/>
          </a:p>
        </p:txBody>
      </p:sp>
      <p:sp>
        <p:nvSpPr>
          <p:cNvPr id="40" name="Text 34"/>
          <p:cNvSpPr txBox="1"/>
          <p:nvPr/>
        </p:nvSpPr>
        <p:spPr>
          <a:xfrm>
            <a:off x="12230100" y="6515100"/>
            <a:ext cx="5257800" cy="162763"/>
          </a:xfrm>
          <a:prstGeom prst="rect">
            <a:avLst/>
          </a:prstGeom>
          <a:noFill/>
          <a:ln/>
        </p:spPr>
        <p:txBody>
          <a:bodyPr wrap="none" lIns="0" tIns="0" rIns="0" bIns="0" rtlCol="0" anchor="ctr"/>
          <a:lstStyle/>
          <a:p>
            <a:pPr algn="l" indent="0" marL="0">
              <a:buNone/>
            </a:pPr>
            <a:r>
              <a:rPr lang="en-US" sz="900" spc="90" kern="0" dirty="0">
                <a:solidFill>
                  <a:srgbClr val="7A8898"/>
                </a:solidFill>
                <a:latin typeface="Pretendard" pitchFamily="34" charset="0"/>
                <a:ea typeface="Pretendard" pitchFamily="34" charset="-122"/>
                <a:cs typeface="Pretendard" pitchFamily="34" charset="-120"/>
              </a:rPr>
              <a:t>vs TiN baseline (slide 03 · 07 참조)</a:t>
            </a:r>
            <a:endParaRPr lang="en-US" sz="900" dirty="0"/>
          </a:p>
        </p:txBody>
      </p:sp>
      <p:sp>
        <p:nvSpPr>
          <p:cNvPr id="41" name="Text 35"/>
          <p:cNvSpPr txBox="1"/>
          <p:nvPr/>
        </p:nvSpPr>
        <p:spPr>
          <a:xfrm>
            <a:off x="800100" y="7733995"/>
            <a:ext cx="16497605" cy="181051"/>
          </a:xfrm>
          <a:prstGeom prst="rect">
            <a:avLst/>
          </a:prstGeom>
          <a:noFill/>
          <a:ln/>
        </p:spPr>
        <p:txBody>
          <a:bodyPr wrap="none" lIns="0" tIns="0" rIns="0" bIns="0" rtlCol="0" anchor="ctr"/>
          <a:lstStyle/>
          <a:p>
            <a:pPr algn="l" indent="0" marL="0">
              <a:buNone/>
            </a:pPr>
            <a:r>
              <a:rPr lang="en-US" sz="975" b="1" spc="273" kern="0" dirty="0">
                <a:solidFill>
                  <a:srgbClr val="C8552D"/>
                </a:solidFill>
                <a:latin typeface="Pretendard" pitchFamily="34" charset="0"/>
                <a:ea typeface="Pretendard" pitchFamily="34" charset="-122"/>
                <a:cs typeface="Pretendard" pitchFamily="34" charset="-120"/>
              </a:rPr>
              <a:t>OBSERVATION · 25 SITE TEM SUMMARY</a:t>
            </a:r>
            <a:endParaRPr lang="en-US" sz="975" dirty="0"/>
          </a:p>
        </p:txBody>
      </p:sp>
      <p:sp>
        <p:nvSpPr>
          <p:cNvPr id="42" name="Text 36"/>
          <p:cNvSpPr txBox="1"/>
          <p:nvPr/>
        </p:nvSpPr>
        <p:spPr>
          <a:xfrm>
            <a:off x="800100" y="8048549"/>
            <a:ext cx="16882567" cy="228600"/>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a-C/SiN 적층은 HM 상단 polymer trapping을 통해 sidewall bowing을 1.4 nm 줄였고 taper도 1.5 nm 작아져 vertical profile에 근접. SiN 끝단 6.8 nm 잔존해 후속 via etch에 sacrificial pad로 활용 가능. dummy 안 데이터.</a:t>
            </a:r>
            <a:endParaRPr lang="en-US" sz="1125" dirty="0"/>
          </a:p>
        </p:txBody>
      </p:sp>
      <p:pic>
        <p:nvPicPr>
          <p:cNvPr id="43" name="Image 3" descr="gen-dedup-ef7ed02ec51e84311d5e0f642c979901.png">    </p:cNvPr>
          <p:cNvPicPr>
            <a:picLocks noChangeAspect="1"/>
          </p:cNvPicPr>
          <p:nvPr/>
        </p:nvPicPr>
        <p:blipFill>
          <a:blip r:embed="rId4"/>
          <a:srcRect l="0" r="0" t="-355" b="-355"/>
          <a:stretch/>
        </p:blipFill>
        <p:spPr>
          <a:xfrm>
            <a:off x="1904695" y="2971800"/>
            <a:ext cx="514807" cy="38405"/>
          </a:xfrm>
          <a:prstGeom prst="rect">
            <a:avLst/>
          </a:prstGeom>
        </p:spPr>
      </p:pic>
      <p:pic>
        <p:nvPicPr>
          <p:cNvPr id="44" name="Image 4" descr="gen-dedup-ef7ed02ec51e84311d5e0f642c979901.png">    </p:cNvPr>
          <p:cNvPicPr>
            <a:picLocks noChangeAspect="1"/>
          </p:cNvPicPr>
          <p:nvPr/>
        </p:nvPicPr>
        <p:blipFill>
          <a:blip r:embed="rId5"/>
          <a:srcRect l="0" r="0" t="-355" b="-355"/>
          <a:stretch/>
        </p:blipFill>
        <p:spPr>
          <a:xfrm>
            <a:off x="2533802" y="2971800"/>
            <a:ext cx="514807" cy="38405"/>
          </a:xfrm>
          <a:prstGeom prst="rect">
            <a:avLst/>
          </a:prstGeom>
        </p:spPr>
      </p:pic>
      <p:sp>
        <p:nvSpPr>
          <p:cNvPr id="45" name="Shape 37"/>
          <p:cNvSpPr/>
          <p:nvPr/>
        </p:nvSpPr>
        <p:spPr>
          <a:xfrm>
            <a:off x="1752905" y="2667305"/>
            <a:ext cx="1752905" cy="286207"/>
          </a:xfrm>
          <a:prstGeom prst="rect">
            <a:avLst/>
          </a:prstGeom>
          <a:solidFill>
            <a:srgbClr val="0B1015">
              <a:alpha val="84000"/>
            </a:srgbClr>
          </a:solidFill>
          <a:ln w="12700">
            <a:solidFill>
              <a:srgbClr val="FFFFFF">
                <a:alpha val="0"/>
              </a:srgbClr>
            </a:solidFill>
            <a:prstDash val="solid"/>
          </a:ln>
        </p:spPr>
      </p:sp>
      <p:pic>
        <p:nvPicPr>
          <p:cNvPr id="46" name="Image 5" descr="gen-dedup-7ee1920233437320b049cbb82136215b.png">    </p:cNvPr>
          <p:cNvPicPr>
            <a:picLocks noChangeAspect="1"/>
          </p:cNvPicPr>
          <p:nvPr/>
        </p:nvPicPr>
        <p:blipFill>
          <a:blip r:embed="rId6"/>
          <a:srcRect l="0" r="0" t="-417" b="-417"/>
          <a:stretch/>
        </p:blipFill>
        <p:spPr>
          <a:xfrm>
            <a:off x="1904695" y="4743907"/>
            <a:ext cx="437998" cy="38405"/>
          </a:xfrm>
          <a:prstGeom prst="rect">
            <a:avLst/>
          </a:prstGeom>
        </p:spPr>
      </p:pic>
      <p:pic>
        <p:nvPicPr>
          <p:cNvPr id="47" name="Image 6" descr="gen-dedup-7ee1920233437320b049cbb82136215b.png">    </p:cNvPr>
          <p:cNvPicPr>
            <a:picLocks noChangeAspect="1"/>
          </p:cNvPicPr>
          <p:nvPr/>
        </p:nvPicPr>
        <p:blipFill>
          <a:blip r:embed="rId7"/>
          <a:srcRect l="0" r="0" t="-417" b="-417"/>
          <a:stretch/>
        </p:blipFill>
        <p:spPr>
          <a:xfrm>
            <a:off x="2533802" y="4743907"/>
            <a:ext cx="437998" cy="38405"/>
          </a:xfrm>
          <a:prstGeom prst="rect">
            <a:avLst/>
          </a:prstGeom>
        </p:spPr>
      </p:pic>
      <p:sp>
        <p:nvSpPr>
          <p:cNvPr id="48" name="Shape 38"/>
          <p:cNvSpPr/>
          <p:nvPr/>
        </p:nvSpPr>
        <p:spPr>
          <a:xfrm>
            <a:off x="1752905" y="4438498"/>
            <a:ext cx="1752905" cy="286207"/>
          </a:xfrm>
          <a:prstGeom prst="rect">
            <a:avLst/>
          </a:prstGeom>
          <a:solidFill>
            <a:srgbClr val="0B1015">
              <a:alpha val="84000"/>
            </a:srgbClr>
          </a:solidFill>
          <a:ln w="12700">
            <a:solidFill>
              <a:srgbClr val="FFFFFF">
                <a:alpha val="0"/>
              </a:srgbClr>
            </a:solidFill>
            <a:prstDash val="solid"/>
          </a:ln>
        </p:spPr>
      </p:sp>
      <p:pic>
        <p:nvPicPr>
          <p:cNvPr id="49" name="Image 7" descr="gen-dedup-24afee7889c7be79d1e3535075b45b47.png">    </p:cNvPr>
          <p:cNvPicPr>
            <a:picLocks noChangeAspect="1"/>
          </p:cNvPicPr>
          <p:nvPr/>
        </p:nvPicPr>
        <p:blipFill>
          <a:blip r:embed="rId8"/>
          <a:srcRect l="0" r="0" t="-360" b="-360"/>
          <a:stretch/>
        </p:blipFill>
        <p:spPr>
          <a:xfrm>
            <a:off x="1904695" y="5715000"/>
            <a:ext cx="381305" cy="38405"/>
          </a:xfrm>
          <a:prstGeom prst="rect">
            <a:avLst/>
          </a:prstGeom>
        </p:spPr>
      </p:pic>
      <p:pic>
        <p:nvPicPr>
          <p:cNvPr id="50" name="Image 8" descr="gen-dedup-24afee7889c7be79d1e3535075b45b47.png">    </p:cNvPr>
          <p:cNvPicPr>
            <a:picLocks noChangeAspect="1"/>
          </p:cNvPicPr>
          <p:nvPr/>
        </p:nvPicPr>
        <p:blipFill>
          <a:blip r:embed="rId9"/>
          <a:srcRect l="0" r="0" t="-360" b="-360"/>
          <a:stretch/>
        </p:blipFill>
        <p:spPr>
          <a:xfrm>
            <a:off x="2533802" y="5715000"/>
            <a:ext cx="381305" cy="38405"/>
          </a:xfrm>
          <a:prstGeom prst="rect">
            <a:avLst/>
          </a:prstGeom>
        </p:spPr>
      </p:pic>
      <p:sp>
        <p:nvSpPr>
          <p:cNvPr id="51" name="Shape 39"/>
          <p:cNvSpPr/>
          <p:nvPr/>
        </p:nvSpPr>
        <p:spPr>
          <a:xfrm>
            <a:off x="1752905" y="5829300"/>
            <a:ext cx="1752905" cy="286207"/>
          </a:xfrm>
          <a:prstGeom prst="rect">
            <a:avLst/>
          </a:prstGeom>
          <a:solidFill>
            <a:srgbClr val="0B1015">
              <a:alpha val="84000"/>
            </a:srgbClr>
          </a:solidFill>
          <a:ln w="12700">
            <a:solidFill>
              <a:srgbClr val="FFFFFF">
                <a:alpha val="0"/>
              </a:srgbClr>
            </a:solidFill>
            <a:prstDash val="solid"/>
          </a:ln>
        </p:spPr>
      </p:sp>
      <p:sp>
        <p:nvSpPr>
          <p:cNvPr id="52" name="Shape 40"/>
          <p:cNvSpPr/>
          <p:nvPr/>
        </p:nvSpPr>
        <p:spPr>
          <a:xfrm>
            <a:off x="5143500" y="3676802"/>
            <a:ext cx="2190902" cy="286207"/>
          </a:xfrm>
          <a:prstGeom prst="rect">
            <a:avLst/>
          </a:prstGeom>
          <a:solidFill>
            <a:srgbClr val="0B1015">
              <a:alpha val="84000"/>
            </a:srgbClr>
          </a:solidFill>
          <a:ln w="12700">
            <a:solidFill>
              <a:srgbClr val="FFFFFF">
                <a:alpha val="0"/>
              </a:srgbClr>
            </a:solidFill>
            <a:prstDash val="solid"/>
          </a:ln>
        </p:spPr>
      </p:sp>
      <p:sp>
        <p:nvSpPr>
          <p:cNvPr id="53" name="Shape 41"/>
          <p:cNvSpPr/>
          <p:nvPr/>
        </p:nvSpPr>
        <p:spPr>
          <a:xfrm>
            <a:off x="5143500" y="4743907"/>
            <a:ext cx="1809598" cy="286207"/>
          </a:xfrm>
          <a:prstGeom prst="rect">
            <a:avLst/>
          </a:prstGeom>
          <a:solidFill>
            <a:srgbClr val="0B1015">
              <a:alpha val="84000"/>
            </a:srgbClr>
          </a:solidFill>
          <a:ln w="12700">
            <a:solidFill>
              <a:srgbClr val="FFFFFF">
                <a:alpha val="0"/>
              </a:srgbClr>
            </a:solidFill>
            <a:prstDash val="solid"/>
          </a:ln>
        </p:spPr>
      </p:sp>
      <p:sp>
        <p:nvSpPr>
          <p:cNvPr id="54" name="Shape 42"/>
          <p:cNvSpPr/>
          <p:nvPr/>
        </p:nvSpPr>
        <p:spPr>
          <a:xfrm>
            <a:off x="7810805" y="3676802"/>
            <a:ext cx="1410005" cy="286207"/>
          </a:xfrm>
          <a:prstGeom prst="rect">
            <a:avLst/>
          </a:prstGeom>
          <a:solidFill>
            <a:srgbClr val="0B1015">
              <a:alpha val="84000"/>
            </a:srgbClr>
          </a:solidFill>
          <a:ln w="12700">
            <a:solidFill>
              <a:srgbClr val="FFFFFF">
                <a:alpha val="0"/>
              </a:srgbClr>
            </a:solidFill>
            <a:prstDash val="solid"/>
          </a:ln>
        </p:spPr>
      </p:sp>
      <p:sp>
        <p:nvSpPr>
          <p:cNvPr id="55" name="Shape 43"/>
          <p:cNvSpPr/>
          <p:nvPr/>
        </p:nvSpPr>
        <p:spPr>
          <a:xfrm>
            <a:off x="800100" y="6476695"/>
            <a:ext cx="8572500" cy="323698"/>
          </a:xfrm>
          <a:prstGeom prst="rect">
            <a:avLst/>
          </a:prstGeom>
          <a:solidFill>
            <a:srgbClr val="0B1015">
              <a:alpha val="65000"/>
            </a:srgbClr>
          </a:solidFill>
          <a:ln w="12700">
            <a:solidFill>
              <a:srgbClr val="FFFFFF">
                <a:alpha val="0"/>
              </a:srgbClr>
            </a:solidFill>
            <a:prstDash val="solid"/>
          </a:ln>
        </p:spPr>
      </p:sp>
      <p:sp>
        <p:nvSpPr>
          <p:cNvPr id="56" name="Text 44"/>
          <p:cNvSpPr txBox="1"/>
          <p:nvPr/>
        </p:nvSpPr>
        <p:spPr>
          <a:xfrm>
            <a:off x="571500" y="381305"/>
            <a:ext cx="1619402" cy="191110"/>
          </a:xfrm>
          <a:prstGeom prst="rect">
            <a:avLst/>
          </a:prstGeom>
          <a:noFill/>
          <a:ln/>
        </p:spPr>
        <p:txBody>
          <a:bodyPr wrap="none" lIns="0" tIns="0" rIns="0" bIns="0" rtlCol="0" anchor="ctr"/>
          <a:lstStyle/>
          <a:p>
            <a:pPr algn="l" indent="0" marL="0">
              <a:buNone/>
            </a:pPr>
            <a:r>
              <a:rPr lang="en-US" sz="1050" spc="336" kern="0" dirty="0">
                <a:solidFill>
                  <a:srgbClr val="7A8898"/>
                </a:solidFill>
                <a:latin typeface="Pretendard" pitchFamily="34" charset="0"/>
                <a:ea typeface="Pretendard" pitchFamily="34" charset="-122"/>
                <a:cs typeface="Pretendard" pitchFamily="34" charset="-120"/>
              </a:rPr>
              <a:t>SET 04 / 09</a:t>
            </a:r>
            <a:endParaRPr lang="en-US" sz="1050" dirty="0"/>
          </a:p>
        </p:txBody>
      </p:sp>
      <p:sp>
        <p:nvSpPr>
          <p:cNvPr id="57" name="Text 45"/>
          <p:cNvSpPr txBox="1"/>
          <p:nvPr/>
        </p:nvSpPr>
        <p:spPr>
          <a:xfrm>
            <a:off x="571500" y="571500"/>
            <a:ext cx="14287500" cy="486461"/>
          </a:xfrm>
          <a:prstGeom prst="rect">
            <a:avLst/>
          </a:prstGeom>
          <a:noFill/>
          <a:ln/>
        </p:spPr>
        <p:txBody>
          <a:bodyPr wrap="none" lIns="0" tIns="0" rIns="0" bIns="0" rtlCol="0" anchor="ctr"/>
          <a:lstStyle/>
          <a:p>
            <a:pPr algn="l" indent="0" marL="0">
              <a:buNone/>
            </a:pPr>
            <a:r>
              <a:rPr lang="en-US" sz="3600" b="1" spc="-36" kern="0" dirty="0">
                <a:solidFill>
                  <a:srgbClr val="1B2535"/>
                </a:solidFill>
                <a:latin typeface="Pretendard" pitchFamily="34" charset="0"/>
                <a:ea typeface="Pretendard" pitchFamily="34" charset="-122"/>
                <a:cs typeface="Pretendard" pitchFamily="34" charset="-120"/>
              </a:rPr>
              <a:t>TEM 프로파일 분석 — 식각 윈도 정량화</a:t>
            </a:r>
            <a:endParaRPr lang="en-US" sz="3600" dirty="0"/>
          </a:p>
        </p:txBody>
      </p:sp>
      <p:sp>
        <p:nvSpPr>
          <p:cNvPr id="58" name="Text 46"/>
          <p:cNvSpPr txBox="1"/>
          <p:nvPr/>
        </p:nvSpPr>
        <p:spPr>
          <a:xfrm>
            <a:off x="11811305" y="571500"/>
            <a:ext cx="5906110" cy="181051"/>
          </a:xfrm>
          <a:prstGeom prst="rect">
            <a:avLst/>
          </a:prstGeom>
          <a:noFill/>
          <a:ln/>
        </p:spPr>
        <p:txBody>
          <a:bodyPr wrap="none" lIns="0" tIns="0" rIns="0" bIns="0" rtlCol="0" anchor="ctr"/>
          <a:lstStyle/>
          <a:p>
            <a:pPr algn="r" indent="0" marL="0">
              <a:buNone/>
            </a:pPr>
            <a:r>
              <a:rPr lang="en-US" sz="975" spc="176" kern="0" dirty="0">
                <a:solidFill>
                  <a:srgbClr val="7A8898"/>
                </a:solidFill>
                <a:latin typeface="Pretendard" pitchFamily="34" charset="0"/>
                <a:ea typeface="Pretendard" pitchFamily="34" charset="-122"/>
                <a:cs typeface="Pretendard" pitchFamily="34" charset="-120"/>
              </a:rPr>
              <a:t>TEM · 200 kV · W04 FRAME</a:t>
            </a:r>
            <a:endParaRPr lang="en-US" sz="975" dirty="0"/>
          </a:p>
        </p:txBody>
      </p:sp>
      <p:sp>
        <p:nvSpPr>
          <p:cNvPr id="59" name="Text 47"/>
          <p:cNvSpPr txBox="1"/>
          <p:nvPr/>
        </p:nvSpPr>
        <p:spPr>
          <a:xfrm>
            <a:off x="11811305" y="790956"/>
            <a:ext cx="5906110" cy="152705"/>
          </a:xfrm>
          <a:prstGeom prst="rect">
            <a:avLst/>
          </a:prstGeom>
          <a:noFill/>
          <a:ln/>
        </p:spPr>
        <p:txBody>
          <a:bodyPr wrap="none" lIns="0" tIns="0" rIns="0" bIns="0" rtlCol="0" anchor="ctr"/>
          <a:lstStyle/>
          <a:p>
            <a:pPr algn="r" indent="0" marL="0">
              <a:buNone/>
            </a:pPr>
            <a:r>
              <a:rPr lang="en-US" sz="825" dirty="0">
                <a:solidFill>
                  <a:srgbClr val="7A8898"/>
                </a:solidFill>
                <a:latin typeface="Pretendard" pitchFamily="34" charset="0"/>
                <a:ea typeface="Pretendard" pitchFamily="34" charset="-122"/>
                <a:cs typeface="Pretendard" pitchFamily="34" charset="-120"/>
              </a:rPr>
              <a:t>dummy 본문 · 25 site 평균</a:t>
            </a:r>
            <a:endParaRPr lang="en-US" sz="825" dirty="0"/>
          </a:p>
        </p:txBody>
      </p:sp>
      <p:sp>
        <p:nvSpPr>
          <p:cNvPr id="60" name="Text 48"/>
          <p:cNvSpPr txBox="1"/>
          <p:nvPr/>
        </p:nvSpPr>
        <p:spPr>
          <a:xfrm>
            <a:off x="1752905" y="2667305"/>
            <a:ext cx="1752905" cy="286207"/>
          </a:xfrm>
          <a:prstGeom prst="rect">
            <a:avLst/>
          </a:prstGeom>
          <a:noFill/>
          <a:ln/>
        </p:spPr>
        <p:txBody>
          <a:bodyPr wrap="none" lIns="0" tIns="0" rIns="0" bIns="0" rtlCol="0" anchor="ctr"/>
          <a:lstStyle/>
          <a:p>
            <a:pPr algn="l" indent="0" marL="0">
              <a:buNone/>
            </a:pPr>
            <a:r>
              <a:rPr lang="en-US" sz="825" dirty="0">
                <a:solidFill>
                  <a:srgbClr val="FFFFFF"/>
                </a:solidFill>
                <a:latin typeface="Pretendard" pitchFamily="34" charset="0"/>
                <a:ea typeface="Pretendard" pitchFamily="34" charset="-122"/>
                <a:cs typeface="Pretendard" pitchFamily="34" charset="-120"/>
              </a:rPr>
              <a:t>TOP CD</a:t>
            </a:r>
            <a:pPr algn="l" indent="0" marL="0">
              <a:buNone/>
            </a:pPr>
            <a:r>
              <a:rPr lang="en-US" sz="1350" b="1" dirty="0">
                <a:solidFill>
                  <a:srgbClr val="FFFFFF"/>
                </a:solidFill>
                <a:latin typeface="Pretendard" pitchFamily="34" charset="0"/>
                <a:ea typeface="Pretendard" pitchFamily="34" charset="-122"/>
                <a:cs typeface="Pretendard" pitchFamily="34" charset="-120"/>
              </a:rPr>
              <a:t>23.9 nm</a:t>
            </a:r>
            <a:endParaRPr lang="en-US" sz="1200" dirty="0"/>
          </a:p>
        </p:txBody>
      </p:sp>
      <p:sp>
        <p:nvSpPr>
          <p:cNvPr id="61" name="Text 49"/>
          <p:cNvSpPr txBox="1"/>
          <p:nvPr/>
        </p:nvSpPr>
        <p:spPr>
          <a:xfrm>
            <a:off x="1752905" y="4438498"/>
            <a:ext cx="1752905" cy="286207"/>
          </a:xfrm>
          <a:prstGeom prst="rect">
            <a:avLst/>
          </a:prstGeom>
          <a:noFill/>
          <a:ln/>
        </p:spPr>
        <p:txBody>
          <a:bodyPr wrap="none" lIns="0" tIns="0" rIns="0" bIns="0" rtlCol="0" anchor="ctr"/>
          <a:lstStyle/>
          <a:p>
            <a:pPr algn="l" indent="0" marL="0">
              <a:buNone/>
            </a:pPr>
            <a:r>
              <a:rPr lang="en-US" sz="825" dirty="0">
                <a:solidFill>
                  <a:srgbClr val="FFFFFF"/>
                </a:solidFill>
                <a:latin typeface="Pretendard" pitchFamily="34" charset="0"/>
                <a:ea typeface="Pretendard" pitchFamily="34" charset="-122"/>
                <a:cs typeface="Pretendard" pitchFamily="34" charset="-120"/>
              </a:rPr>
              <a:t>MID CD</a:t>
            </a:r>
            <a:pPr algn="l" indent="0" marL="0">
              <a:buNone/>
            </a:pPr>
            <a:r>
              <a:rPr lang="en-US" sz="1350" b="1" dirty="0">
                <a:solidFill>
                  <a:srgbClr val="FFFFFF"/>
                </a:solidFill>
                <a:latin typeface="Pretendard" pitchFamily="34" charset="0"/>
                <a:ea typeface="Pretendard" pitchFamily="34" charset="-122"/>
                <a:cs typeface="Pretendard" pitchFamily="34" charset="-120"/>
              </a:rPr>
              <a:t>23.5 nm</a:t>
            </a:r>
            <a:endParaRPr lang="en-US" sz="1200" dirty="0"/>
          </a:p>
        </p:txBody>
      </p:sp>
      <p:sp>
        <p:nvSpPr>
          <p:cNvPr id="62" name="Text 50"/>
          <p:cNvSpPr txBox="1"/>
          <p:nvPr/>
        </p:nvSpPr>
        <p:spPr>
          <a:xfrm>
            <a:off x="1752905" y="5829300"/>
            <a:ext cx="1752905" cy="286207"/>
          </a:xfrm>
          <a:prstGeom prst="rect">
            <a:avLst/>
          </a:prstGeom>
          <a:noFill/>
          <a:ln/>
        </p:spPr>
        <p:txBody>
          <a:bodyPr wrap="none" lIns="0" tIns="0" rIns="0" bIns="0" rtlCol="0" anchor="ctr"/>
          <a:lstStyle/>
          <a:p>
            <a:pPr algn="l" indent="0" marL="0">
              <a:buNone/>
            </a:pPr>
            <a:r>
              <a:rPr lang="en-US" sz="825" dirty="0">
                <a:solidFill>
                  <a:srgbClr val="FFFFFF"/>
                </a:solidFill>
                <a:latin typeface="Pretendard" pitchFamily="34" charset="0"/>
                <a:ea typeface="Pretendard" pitchFamily="34" charset="-122"/>
                <a:cs typeface="Pretendard" pitchFamily="34" charset="-120"/>
              </a:rPr>
              <a:t>BOT CD</a:t>
            </a:r>
            <a:pPr algn="l" indent="0" marL="0">
              <a:buNone/>
            </a:pPr>
            <a:r>
              <a:rPr lang="en-US" sz="1350" b="1" dirty="0">
                <a:solidFill>
                  <a:srgbClr val="FFFFFF"/>
                </a:solidFill>
                <a:latin typeface="Pretendard" pitchFamily="34" charset="0"/>
                <a:ea typeface="Pretendard" pitchFamily="34" charset="-122"/>
                <a:cs typeface="Pretendard" pitchFamily="34" charset="-120"/>
              </a:rPr>
              <a:t>22.9 nm</a:t>
            </a:r>
            <a:endParaRPr lang="en-US" sz="1200" dirty="0"/>
          </a:p>
        </p:txBody>
      </p:sp>
      <p:sp>
        <p:nvSpPr>
          <p:cNvPr id="63" name="Text 51"/>
          <p:cNvSpPr txBox="1"/>
          <p:nvPr/>
        </p:nvSpPr>
        <p:spPr>
          <a:xfrm>
            <a:off x="5143500" y="3676802"/>
            <a:ext cx="2190902" cy="286207"/>
          </a:xfrm>
          <a:prstGeom prst="rect">
            <a:avLst/>
          </a:prstGeom>
          <a:noFill/>
          <a:ln/>
        </p:spPr>
        <p:txBody>
          <a:bodyPr wrap="none" lIns="0" tIns="0" rIns="0" bIns="0" rtlCol="0" anchor="ctr"/>
          <a:lstStyle/>
          <a:p>
            <a:pPr algn="l" indent="0" marL="0">
              <a:buNone/>
            </a:pPr>
            <a:r>
              <a:rPr lang="en-US" sz="825" dirty="0">
                <a:solidFill>
                  <a:srgbClr val="FFFFFF"/>
                </a:solidFill>
                <a:latin typeface="Pretendard" pitchFamily="34" charset="0"/>
                <a:ea typeface="Pretendard" pitchFamily="34" charset="-122"/>
                <a:cs typeface="Pretendard" pitchFamily="34" charset="-120"/>
              </a:rPr>
              <a:t>SIDEWALL</a:t>
            </a:r>
            <a:pPr algn="l" indent="0" marL="0">
              <a:buNone/>
            </a:pPr>
            <a:r>
              <a:rPr lang="en-US" sz="1350" b="1" dirty="0">
                <a:solidFill>
                  <a:srgbClr val="FFFFFF"/>
                </a:solidFill>
                <a:latin typeface="Pretendard" pitchFamily="34" charset="0"/>
                <a:ea typeface="Pretendard" pitchFamily="34" charset="-122"/>
                <a:cs typeface="Pretendard" pitchFamily="34" charset="-120"/>
              </a:rPr>
              <a:t>87.4°</a:t>
            </a:r>
            <a:endParaRPr lang="en-US" sz="1200" dirty="0"/>
          </a:p>
        </p:txBody>
      </p:sp>
      <p:sp>
        <p:nvSpPr>
          <p:cNvPr id="64" name="Text 52"/>
          <p:cNvSpPr txBox="1"/>
          <p:nvPr/>
        </p:nvSpPr>
        <p:spPr>
          <a:xfrm>
            <a:off x="5143500" y="4743907"/>
            <a:ext cx="1810512" cy="286207"/>
          </a:xfrm>
          <a:prstGeom prst="rect">
            <a:avLst/>
          </a:prstGeom>
          <a:noFill/>
          <a:ln/>
        </p:spPr>
        <p:txBody>
          <a:bodyPr wrap="none" lIns="0" tIns="0" rIns="0" bIns="0" rtlCol="0" anchor="ctr"/>
          <a:lstStyle/>
          <a:p>
            <a:pPr algn="l" indent="0" marL="0">
              <a:buNone/>
            </a:pPr>
            <a:r>
              <a:rPr lang="en-US" sz="825" dirty="0">
                <a:solidFill>
                  <a:srgbClr val="FFFFFF"/>
                </a:solidFill>
                <a:latin typeface="Pretendard" pitchFamily="34" charset="0"/>
                <a:ea typeface="Pretendard" pitchFamily="34" charset="-122"/>
                <a:cs typeface="Pretendard" pitchFamily="34" charset="-120"/>
              </a:rPr>
              <a:t>PITCH</a:t>
            </a:r>
            <a:pPr algn="l" indent="0" marL="0">
              <a:buNone/>
            </a:pPr>
            <a:r>
              <a:rPr lang="en-US" sz="1350" b="1" dirty="0">
                <a:solidFill>
                  <a:srgbClr val="FFFFFF"/>
                </a:solidFill>
                <a:latin typeface="Pretendard" pitchFamily="34" charset="0"/>
                <a:ea typeface="Pretendard" pitchFamily="34" charset="-122"/>
                <a:cs typeface="Pretendard" pitchFamily="34" charset="-120"/>
              </a:rPr>
              <a:t>48 nm</a:t>
            </a:r>
            <a:endParaRPr lang="en-US" sz="1200" dirty="0"/>
          </a:p>
        </p:txBody>
      </p:sp>
      <p:sp>
        <p:nvSpPr>
          <p:cNvPr id="65" name="Text 53"/>
          <p:cNvSpPr txBox="1"/>
          <p:nvPr/>
        </p:nvSpPr>
        <p:spPr>
          <a:xfrm>
            <a:off x="7810805" y="3676802"/>
            <a:ext cx="1410005" cy="286207"/>
          </a:xfrm>
          <a:prstGeom prst="rect">
            <a:avLst/>
          </a:prstGeom>
          <a:noFill/>
          <a:ln/>
        </p:spPr>
        <p:txBody>
          <a:bodyPr wrap="none" lIns="0" tIns="0" rIns="0" bIns="0" rtlCol="0" anchor="ctr"/>
          <a:lstStyle/>
          <a:p>
            <a:pPr algn="l" indent="0" marL="0">
              <a:buNone/>
            </a:pPr>
            <a:r>
              <a:rPr lang="en-US" sz="825" dirty="0">
                <a:solidFill>
                  <a:srgbClr val="FFFFFF"/>
                </a:solidFill>
                <a:latin typeface="Pretendard" pitchFamily="34" charset="0"/>
                <a:ea typeface="Pretendard" pitchFamily="34" charset="-122"/>
                <a:cs typeface="Pretendard" pitchFamily="34" charset="-120"/>
              </a:rPr>
              <a:t>HM LEFT</a:t>
            </a:r>
            <a:pPr algn="l" indent="0" marL="0">
              <a:buNone/>
            </a:pPr>
            <a:r>
              <a:rPr lang="en-US" sz="1350" b="1" dirty="0">
                <a:solidFill>
                  <a:srgbClr val="FFFFFF"/>
                </a:solidFill>
                <a:latin typeface="Pretendard" pitchFamily="34" charset="0"/>
                <a:ea typeface="Pretendard" pitchFamily="34" charset="-122"/>
                <a:cs typeface="Pretendard" pitchFamily="34" charset="-120"/>
              </a:rPr>
              <a:t>6.8 nm</a:t>
            </a:r>
            <a:endParaRPr lang="en-US" sz="1200" dirty="0"/>
          </a:p>
        </p:txBody>
      </p:sp>
      <p:sp>
        <p:nvSpPr>
          <p:cNvPr id="66" name="Text 54"/>
          <p:cNvSpPr txBox="1"/>
          <p:nvPr/>
        </p:nvSpPr>
        <p:spPr>
          <a:xfrm>
            <a:off x="800100" y="6476695"/>
            <a:ext cx="8572500" cy="324612"/>
          </a:xfrm>
          <a:prstGeom prst="rect">
            <a:avLst/>
          </a:prstGeom>
          <a:noFill/>
          <a:ln/>
        </p:spPr>
        <p:txBody>
          <a:bodyPr wrap="none" lIns="0" tIns="0" rIns="0" bIns="0" rtlCol="0" anchor="ctr"/>
          <a:lstStyle/>
          <a:p>
            <a:pPr algn="ctr" indent="0" marL="0">
              <a:buNone/>
            </a:pPr>
            <a:r>
              <a:rPr lang="en-US" sz="900" spc="90" kern="0" dirty="0">
                <a:solidFill>
                  <a:srgbClr val="FFFFFF"/>
                </a:solidFill>
                <a:latin typeface="Pretendard" pitchFamily="34" charset="0"/>
                <a:ea typeface="Pretendard" pitchFamily="34" charset="-122"/>
                <a:cs typeface="Pretendard" pitchFamily="34" charset="-120"/>
              </a:rPr>
              <a:t>W04 cross-section · 200 kV · in-line TEM reference frame</a:t>
            </a:r>
            <a:endParaRPr lang="en-US" sz="900" dirty="0"/>
          </a:p>
        </p:txBody>
      </p:sp>
      <p:sp>
        <p:nvSpPr>
          <p:cNvPr id="67" name="Text 55"/>
          <p:cNvSpPr txBox="1"/>
          <p:nvPr/>
        </p:nvSpPr>
        <p:spPr>
          <a:xfrm>
            <a:off x="800100" y="9296705"/>
            <a:ext cx="16193110" cy="200254"/>
          </a:xfrm>
          <a:prstGeom prst="rect">
            <a:avLst/>
          </a:prstGeom>
          <a:noFill/>
          <a:ln/>
        </p:spPr>
        <p:txBody>
          <a:bodyPr wrap="none" lIns="0" tIns="0" rIns="0" bIns="0" rtlCol="0" anchor="ctr"/>
          <a:lstStyle/>
          <a:p>
            <a:pPr algn="l" indent="0" marL="0">
              <a:buNone/>
            </a:pPr>
            <a:r>
              <a:rPr lang="en-US" sz="825" dirty="0">
                <a:solidFill>
                  <a:srgbClr val="FFFFFF"/>
                </a:solidFill>
                <a:latin typeface="Pretendard" pitchFamily="34" charset="0"/>
                <a:ea typeface="Pretendard" pitchFamily="34" charset="-122"/>
                <a:cs typeface="Pretendard" pitchFamily="34" charset="-120"/>
              </a:rPr>
              <a:t>KEY TAKEAWAY</a:t>
            </a:r>
            <a:pPr algn="l" indent="0" marL="0">
              <a:buNone/>
            </a:pPr>
            <a:r>
              <a:rPr lang="en-US" sz="1125" dirty="0">
                <a:solidFill>
                  <a:srgbClr val="FFFFFF"/>
                </a:solidFill>
                <a:latin typeface="Pretendard" pitchFamily="34" charset="0"/>
                <a:ea typeface="Pretendard" pitchFamily="34" charset="-122"/>
                <a:cs typeface="Pretendard" pitchFamily="34" charset="-120"/>
              </a:rPr>
              <a:t> TEM 25 site 측정 결과 dummy 안 a-C/SiN 측 taper · bow · wiggling 모두 절반 이하 — vertical profile 회복의 단서.</a:t>
            </a:r>
            <a:endParaRPr lang="en-US" sz="1125" dirty="0"/>
          </a:p>
        </p:txBody>
      </p:sp>
      <p:sp>
        <p:nvSpPr>
          <p:cNvPr id="68" name="Text 56"/>
          <p:cNvSpPr txBox="1"/>
          <p:nvPr/>
        </p:nvSpPr>
        <p:spPr>
          <a:xfrm>
            <a:off x="571500" y="9829800"/>
            <a:ext cx="13335610"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 내부 테스트용 더미(가상) 데이터 · 출처 — Vik's Newsletter / ResearchGate (편집본, dummy 본문용)</a:t>
            </a:r>
            <a:endParaRPr lang="en-US" sz="900" dirty="0"/>
          </a:p>
        </p:txBody>
      </p:sp>
      <p:sp>
        <p:nvSpPr>
          <p:cNvPr id="69" name="Text 57"/>
          <p:cNvSpPr txBox="1"/>
          <p:nvPr/>
        </p:nvSpPr>
        <p:spPr>
          <a:xfrm>
            <a:off x="16192195" y="9829800"/>
            <a:ext cx="1524305" cy="162763"/>
          </a:xfrm>
          <a:prstGeom prst="rect">
            <a:avLst/>
          </a:prstGeom>
          <a:noFill/>
          <a:ln/>
        </p:spPr>
        <p:txBody>
          <a:bodyPr wrap="none" lIns="0" tIns="0" rIns="0" bIns="0" rtlCol="0" anchor="ctr"/>
          <a:lstStyle/>
          <a:p>
            <a:pPr algn="r" indent="0" marL="0">
              <a:buNone/>
            </a:pPr>
            <a:r>
              <a:rPr lang="en-US" sz="900" dirty="0">
                <a:solidFill>
                  <a:srgbClr val="7A8898"/>
                </a:solidFill>
                <a:latin typeface="Pretendard" pitchFamily="34" charset="0"/>
                <a:ea typeface="Pretendard" pitchFamily="34" charset="-122"/>
                <a:cs typeface="Pretendard" pitchFamily="34" charset="-120"/>
              </a:rPr>
              <a:t>04 / 09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BEEF2"/>
        </a:solidFill>
      </p:bgPr>
    </p:bg>
    <p:spTree>
      <p:nvGrpSpPr>
        <p:cNvPr id="1" name=""/>
        <p:cNvGrpSpPr/>
        <p:nvPr/>
      </p:nvGrpSpPr>
      <p:grpSpPr>
        <a:xfrm>
          <a:off x="0" y="0"/>
          <a:ext cx="0" cy="0"/>
          <a:chOff x="0" y="0"/>
          <a:chExt cx="0" cy="0"/>
        </a:xfrm>
      </p:grpSpPr>
      <p:sp>
        <p:nvSpPr>
          <p:cNvPr id="3" name="Shape 0"/>
          <p:cNvSpPr/>
          <p:nvPr/>
        </p:nvSpPr>
        <p:spPr>
          <a:xfrm>
            <a:off x="0" y="0"/>
            <a:ext cx="18288000" cy="1123798"/>
          </a:xfrm>
          <a:prstGeom prst="rect">
            <a:avLst/>
          </a:prstGeom>
          <a:solidFill>
            <a:srgbClr val="FFFFFF"/>
          </a:solidFill>
          <a:ln/>
        </p:spPr>
      </p:sp>
      <p:sp>
        <p:nvSpPr>
          <p:cNvPr id="4" name="Shape 1"/>
          <p:cNvSpPr/>
          <p:nvPr/>
        </p:nvSpPr>
        <p:spPr>
          <a:xfrm>
            <a:off x="0" y="1114654"/>
            <a:ext cx="18288000" cy="9144"/>
          </a:xfrm>
          <a:prstGeom prst="rect">
            <a:avLst/>
          </a:prstGeom>
          <a:solidFill>
            <a:srgbClr val="C8CED6"/>
          </a:solidFill>
          <a:ln w="12700">
            <a:solidFill>
              <a:srgbClr val="C8CED6">
                <a:alpha val="0"/>
              </a:srgbClr>
            </a:solidFill>
            <a:prstDash val="solid"/>
          </a:ln>
        </p:spPr>
      </p:sp>
      <p:sp>
        <p:nvSpPr>
          <p:cNvPr id="5" name="Shape 2"/>
          <p:cNvSpPr/>
          <p:nvPr/>
        </p:nvSpPr>
        <p:spPr>
          <a:xfrm>
            <a:off x="571500" y="1333195"/>
            <a:ext cx="17145000" cy="381305"/>
          </a:xfrm>
          <a:prstGeom prst="rect">
            <a:avLst/>
          </a:prstGeom>
          <a:solidFill>
            <a:srgbClr val="FFFFFF"/>
          </a:solidFill>
          <a:ln w="12700">
            <a:solidFill>
              <a:srgbClr val="C8CED6"/>
            </a:solidFill>
            <a:prstDash val="solid"/>
          </a:ln>
        </p:spPr>
      </p:sp>
      <p:sp>
        <p:nvSpPr>
          <p:cNvPr id="6" name="Shape 3"/>
          <p:cNvSpPr/>
          <p:nvPr/>
        </p:nvSpPr>
        <p:spPr>
          <a:xfrm>
            <a:off x="571500" y="1904695"/>
            <a:ext cx="8382305" cy="3562502"/>
          </a:xfrm>
          <a:prstGeom prst="rect">
            <a:avLst/>
          </a:prstGeom>
          <a:solidFill>
            <a:srgbClr val="FFFFFF"/>
          </a:solidFill>
          <a:ln w="12700">
            <a:solidFill>
              <a:srgbClr val="C8CED6"/>
            </a:solidFill>
            <a:prstDash val="solid"/>
          </a:ln>
        </p:spPr>
      </p:sp>
      <p:sp>
        <p:nvSpPr>
          <p:cNvPr id="7" name="Shape 4"/>
          <p:cNvSpPr/>
          <p:nvPr/>
        </p:nvSpPr>
        <p:spPr>
          <a:xfrm>
            <a:off x="9334195" y="1904695"/>
            <a:ext cx="8382305" cy="3562502"/>
          </a:xfrm>
          <a:prstGeom prst="rect">
            <a:avLst/>
          </a:prstGeom>
          <a:solidFill>
            <a:srgbClr val="FFFFFF"/>
          </a:solidFill>
          <a:ln w="12700">
            <a:solidFill>
              <a:srgbClr val="C8CED6"/>
            </a:solidFill>
            <a:prstDash val="solid"/>
          </a:ln>
        </p:spPr>
      </p:sp>
      <p:sp>
        <p:nvSpPr>
          <p:cNvPr id="8" name="Shape 5"/>
          <p:cNvSpPr/>
          <p:nvPr/>
        </p:nvSpPr>
        <p:spPr>
          <a:xfrm>
            <a:off x="571500" y="5658307"/>
            <a:ext cx="8382305" cy="3390595"/>
          </a:xfrm>
          <a:prstGeom prst="rect">
            <a:avLst/>
          </a:prstGeom>
          <a:solidFill>
            <a:srgbClr val="FFFFFF"/>
          </a:solidFill>
          <a:ln w="12700">
            <a:solidFill>
              <a:srgbClr val="C8CED6"/>
            </a:solidFill>
            <a:prstDash val="solid"/>
          </a:ln>
        </p:spPr>
      </p:sp>
      <p:sp>
        <p:nvSpPr>
          <p:cNvPr id="9" name="Shape 6"/>
          <p:cNvSpPr/>
          <p:nvPr/>
        </p:nvSpPr>
        <p:spPr>
          <a:xfrm>
            <a:off x="9334195" y="5658307"/>
            <a:ext cx="8382305" cy="3390595"/>
          </a:xfrm>
          <a:prstGeom prst="rect">
            <a:avLst/>
          </a:prstGeom>
          <a:solidFill>
            <a:srgbClr val="FFFFFF"/>
          </a:solidFill>
          <a:ln w="12700">
            <a:solidFill>
              <a:srgbClr val="C8CED6"/>
            </a:solidFill>
            <a:prstDash val="solid"/>
          </a:ln>
        </p:spPr>
      </p:sp>
      <p:pic>
        <p:nvPicPr>
          <p:cNvPr id="10" name="Image 0" descr="gen-dedup-67de915f3037cddbbfe4bde9fde9037b.png">    </p:cNvPr>
          <p:cNvPicPr>
            <a:picLocks noChangeAspect="1"/>
          </p:cNvPicPr>
          <p:nvPr/>
        </p:nvPicPr>
        <p:blipFill>
          <a:blip r:embed="rId1"/>
          <a:srcRect l="0" r="0" t="-40" b="-40"/>
          <a:stretch/>
        </p:blipFill>
        <p:spPr>
          <a:xfrm>
            <a:off x="571500" y="9239098"/>
            <a:ext cx="17145000" cy="381305"/>
          </a:xfrm>
          <a:prstGeom prst="rect">
            <a:avLst/>
          </a:prstGeom>
        </p:spPr>
      </p:pic>
      <p:pic>
        <p:nvPicPr>
          <p:cNvPr id="11" name="Image 1" descr="gen-dedup-68bac70ffc575f7be58fcf62b0930262.png">    </p:cNvPr>
          <p:cNvPicPr>
            <a:picLocks noChangeAspect="1"/>
          </p:cNvPicPr>
          <p:nvPr/>
        </p:nvPicPr>
        <p:blipFill>
          <a:blip r:embed="rId2"/>
          <a:srcRect l="-2083" r="-2083" t="0" b="0"/>
          <a:stretch/>
        </p:blipFill>
        <p:spPr>
          <a:xfrm>
            <a:off x="0" y="9715500"/>
            <a:ext cx="18288000" cy="9144"/>
          </a:xfrm>
          <a:prstGeom prst="rect">
            <a:avLst/>
          </a:prstGeom>
        </p:spPr>
      </p:pic>
      <p:sp>
        <p:nvSpPr>
          <p:cNvPr id="12" name="Shape 7"/>
          <p:cNvSpPr/>
          <p:nvPr/>
        </p:nvSpPr>
        <p:spPr>
          <a:xfrm>
            <a:off x="2857500" y="1447495"/>
            <a:ext cx="228600" cy="152705"/>
          </a:xfrm>
          <a:prstGeom prst="rect">
            <a:avLst/>
          </a:prstGeom>
          <a:solidFill>
            <a:srgbClr val="D9E1E8"/>
          </a:solidFill>
          <a:ln w="12700">
            <a:solidFill>
              <a:srgbClr val="4A6B82"/>
            </a:solidFill>
            <a:prstDash val="solid"/>
          </a:ln>
        </p:spPr>
      </p:sp>
      <p:sp>
        <p:nvSpPr>
          <p:cNvPr id="13" name="Shape 8"/>
          <p:cNvSpPr/>
          <p:nvPr/>
        </p:nvSpPr>
        <p:spPr>
          <a:xfrm>
            <a:off x="6096305" y="1447495"/>
            <a:ext cx="228600" cy="152705"/>
          </a:xfrm>
          <a:prstGeom prst="rect">
            <a:avLst/>
          </a:prstGeom>
          <a:solidFill>
            <a:srgbClr val="DCE9DF"/>
          </a:solidFill>
          <a:ln w="12700">
            <a:solidFill>
              <a:srgbClr val="3F6F52"/>
            </a:solidFill>
            <a:prstDash val="solid"/>
          </a:ln>
        </p:spPr>
      </p:sp>
      <p:sp>
        <p:nvSpPr>
          <p:cNvPr id="14" name="Shape 9"/>
          <p:cNvSpPr/>
          <p:nvPr/>
        </p:nvSpPr>
        <p:spPr>
          <a:xfrm>
            <a:off x="9334195" y="1447495"/>
            <a:ext cx="228600" cy="152705"/>
          </a:xfrm>
          <a:prstGeom prst="rect">
            <a:avLst/>
          </a:prstGeom>
          <a:solidFill>
            <a:srgbClr val="F2E2C7"/>
          </a:solidFill>
          <a:ln w="12700">
            <a:solidFill>
              <a:srgbClr val="B47A1F"/>
            </a:solidFill>
            <a:prstDash val="solid"/>
          </a:ln>
        </p:spPr>
      </p:sp>
      <p:sp>
        <p:nvSpPr>
          <p:cNvPr id="15" name="Shape 10"/>
          <p:cNvSpPr/>
          <p:nvPr/>
        </p:nvSpPr>
        <p:spPr>
          <a:xfrm>
            <a:off x="12573000" y="1447495"/>
            <a:ext cx="228600" cy="152705"/>
          </a:xfrm>
          <a:prstGeom prst="rect">
            <a:avLst/>
          </a:prstGeom>
          <a:solidFill>
            <a:srgbClr val="F0D5CE"/>
          </a:solidFill>
          <a:ln w="12700">
            <a:solidFill>
              <a:srgbClr val="B43F2D"/>
            </a:solidFill>
            <a:prstDash val="solid"/>
          </a:ln>
        </p:spPr>
      </p:sp>
      <p:sp>
        <p:nvSpPr>
          <p:cNvPr id="16" name="Shape 11"/>
          <p:cNvSpPr/>
          <p:nvPr/>
        </p:nvSpPr>
        <p:spPr>
          <a:xfrm>
            <a:off x="571500" y="1904695"/>
            <a:ext cx="8382305" cy="476402"/>
          </a:xfrm>
          <a:prstGeom prst="rect">
            <a:avLst/>
          </a:prstGeom>
          <a:solidFill>
            <a:srgbClr val="2E6F8E"/>
          </a:solidFill>
          <a:ln w="12700">
            <a:solidFill>
              <a:srgbClr val="FFFFFF">
                <a:alpha val="0"/>
              </a:srgbClr>
            </a:solidFill>
            <a:prstDash val="solid"/>
          </a:ln>
        </p:spPr>
      </p:sp>
      <p:sp>
        <p:nvSpPr>
          <p:cNvPr id="17" name="Shape 12"/>
          <p:cNvSpPr/>
          <p:nvPr/>
        </p:nvSpPr>
        <p:spPr>
          <a:xfrm>
            <a:off x="800100" y="2533802"/>
            <a:ext cx="7925105" cy="2857500"/>
          </a:xfrm>
          <a:prstGeom prst="rect">
            <a:avLst/>
          </a:prstGeom>
          <a:solidFill>
            <a:srgbClr val="F7F9FB"/>
          </a:solidFill>
          <a:ln w="12700">
            <a:solidFill>
              <a:srgbClr val="D7DCE2"/>
            </a:solidFill>
            <a:prstDash val="solid"/>
          </a:ln>
        </p:spPr>
      </p:sp>
      <p:sp>
        <p:nvSpPr>
          <p:cNvPr id="18" name="Shape 13"/>
          <p:cNvSpPr/>
          <p:nvPr/>
        </p:nvSpPr>
        <p:spPr>
          <a:xfrm>
            <a:off x="9334195" y="1904695"/>
            <a:ext cx="8382305" cy="476402"/>
          </a:xfrm>
          <a:prstGeom prst="rect">
            <a:avLst/>
          </a:prstGeom>
          <a:solidFill>
            <a:srgbClr val="2E6F8E"/>
          </a:solidFill>
          <a:ln w="12700">
            <a:solidFill>
              <a:srgbClr val="FFFFFF">
                <a:alpha val="0"/>
              </a:srgbClr>
            </a:solidFill>
            <a:prstDash val="solid"/>
          </a:ln>
        </p:spPr>
      </p:sp>
      <p:sp>
        <p:nvSpPr>
          <p:cNvPr id="19" name="Shape 14"/>
          <p:cNvSpPr/>
          <p:nvPr/>
        </p:nvSpPr>
        <p:spPr>
          <a:xfrm>
            <a:off x="9562795" y="2533802"/>
            <a:ext cx="7925105" cy="2857500"/>
          </a:xfrm>
          <a:prstGeom prst="rect">
            <a:avLst/>
          </a:prstGeom>
          <a:solidFill>
            <a:srgbClr val="F7F9FB"/>
          </a:solidFill>
          <a:ln w="12700">
            <a:solidFill>
              <a:srgbClr val="D7DCE2"/>
            </a:solidFill>
            <a:prstDash val="solid"/>
          </a:ln>
        </p:spPr>
      </p:sp>
      <p:sp>
        <p:nvSpPr>
          <p:cNvPr id="20" name="Shape 15"/>
          <p:cNvSpPr/>
          <p:nvPr/>
        </p:nvSpPr>
        <p:spPr>
          <a:xfrm>
            <a:off x="571500" y="5658307"/>
            <a:ext cx="8382305" cy="476402"/>
          </a:xfrm>
          <a:prstGeom prst="rect">
            <a:avLst/>
          </a:prstGeom>
          <a:solidFill>
            <a:srgbClr val="C8552D"/>
          </a:solidFill>
          <a:ln w="12700">
            <a:solidFill>
              <a:srgbClr val="FFFFFF">
                <a:alpha val="0"/>
              </a:srgbClr>
            </a:solidFill>
            <a:prstDash val="solid"/>
          </a:ln>
        </p:spPr>
      </p:sp>
      <p:sp>
        <p:nvSpPr>
          <p:cNvPr id="21" name="Shape 16"/>
          <p:cNvSpPr/>
          <p:nvPr/>
        </p:nvSpPr>
        <p:spPr>
          <a:xfrm>
            <a:off x="800100" y="6286500"/>
            <a:ext cx="7925105" cy="2686507"/>
          </a:xfrm>
          <a:prstGeom prst="rect">
            <a:avLst/>
          </a:prstGeom>
          <a:solidFill>
            <a:srgbClr val="F7F9FB"/>
          </a:solidFill>
          <a:ln w="12700">
            <a:solidFill>
              <a:srgbClr val="D7DCE2"/>
            </a:solidFill>
            <a:prstDash val="solid"/>
          </a:ln>
        </p:spPr>
      </p:sp>
      <p:sp>
        <p:nvSpPr>
          <p:cNvPr id="22" name="Shape 17"/>
          <p:cNvSpPr/>
          <p:nvPr/>
        </p:nvSpPr>
        <p:spPr>
          <a:xfrm>
            <a:off x="9334195" y="5658307"/>
            <a:ext cx="8382305" cy="476402"/>
          </a:xfrm>
          <a:prstGeom prst="rect">
            <a:avLst/>
          </a:prstGeom>
          <a:solidFill>
            <a:srgbClr val="C8552D"/>
          </a:solidFill>
          <a:ln w="12700">
            <a:solidFill>
              <a:srgbClr val="FFFFFF">
                <a:alpha val="0"/>
              </a:srgbClr>
            </a:solidFill>
            <a:prstDash val="solid"/>
          </a:ln>
        </p:spPr>
      </p:sp>
      <p:sp>
        <p:nvSpPr>
          <p:cNvPr id="23" name="Shape 18"/>
          <p:cNvSpPr/>
          <p:nvPr/>
        </p:nvSpPr>
        <p:spPr>
          <a:xfrm>
            <a:off x="9562795" y="6286500"/>
            <a:ext cx="7925105" cy="2686507"/>
          </a:xfrm>
          <a:prstGeom prst="rect">
            <a:avLst/>
          </a:prstGeom>
          <a:solidFill>
            <a:srgbClr val="F7F9FB"/>
          </a:solidFill>
          <a:ln w="12700">
            <a:solidFill>
              <a:srgbClr val="D7DCE2"/>
            </a:solidFill>
            <a:prstDash val="solid"/>
          </a:ln>
        </p:spPr>
      </p:sp>
      <p:sp>
        <p:nvSpPr>
          <p:cNvPr id="24" name="Shape 19"/>
          <p:cNvSpPr/>
          <p:nvPr/>
        </p:nvSpPr>
        <p:spPr>
          <a:xfrm>
            <a:off x="800100" y="2876702"/>
            <a:ext cx="571500" cy="400507"/>
          </a:xfrm>
          <a:prstGeom prst="rect">
            <a:avLst/>
          </a:prstGeom>
          <a:solidFill>
            <a:srgbClr val="2E6F8E"/>
          </a:solidFill>
          <a:ln w="12700">
            <a:solidFill>
              <a:srgbClr val="FFFFFF">
                <a:alpha val="0"/>
              </a:srgbClr>
            </a:solidFill>
            <a:prstDash val="solid"/>
          </a:ln>
        </p:spPr>
      </p:sp>
      <p:sp>
        <p:nvSpPr>
          <p:cNvPr id="25" name="Shape 20"/>
          <p:cNvSpPr/>
          <p:nvPr/>
        </p:nvSpPr>
        <p:spPr>
          <a:xfrm>
            <a:off x="6819595" y="2933395"/>
            <a:ext cx="1714500" cy="286207"/>
          </a:xfrm>
          <a:prstGeom prst="rect">
            <a:avLst/>
          </a:prstGeom>
          <a:solidFill>
            <a:srgbClr val="D9E1E8"/>
          </a:solidFill>
          <a:ln w="12700">
            <a:solidFill>
              <a:srgbClr val="FFFFFF">
                <a:alpha val="0"/>
              </a:srgbClr>
            </a:solidFill>
            <a:prstDash val="solid"/>
          </a:ln>
        </p:spPr>
      </p:sp>
      <p:pic>
        <p:nvPicPr>
          <p:cNvPr id="26" name="Image 2" descr="gen-dedup-6954cc193310e8f8a15d3865cdd605c5.png">    </p:cNvPr>
          <p:cNvPicPr>
            <a:picLocks noChangeAspect="1"/>
          </p:cNvPicPr>
          <p:nvPr/>
        </p:nvPicPr>
        <p:blipFill>
          <a:blip r:embed="rId3"/>
          <a:srcRect l="-2083" r="-2083" t="0" b="0"/>
          <a:stretch/>
        </p:blipFill>
        <p:spPr>
          <a:xfrm>
            <a:off x="800100" y="3276295"/>
            <a:ext cx="7925105" cy="9144"/>
          </a:xfrm>
          <a:prstGeom prst="rect">
            <a:avLst/>
          </a:prstGeom>
        </p:spPr>
      </p:pic>
      <p:sp>
        <p:nvSpPr>
          <p:cNvPr id="27" name="Shape 21"/>
          <p:cNvSpPr/>
          <p:nvPr/>
        </p:nvSpPr>
        <p:spPr>
          <a:xfrm>
            <a:off x="800100" y="3286354"/>
            <a:ext cx="571500" cy="400507"/>
          </a:xfrm>
          <a:prstGeom prst="rect">
            <a:avLst/>
          </a:prstGeom>
          <a:solidFill>
            <a:srgbClr val="2E6F8E"/>
          </a:solidFill>
          <a:ln w="12700">
            <a:solidFill>
              <a:srgbClr val="FFFFFF">
                <a:alpha val="0"/>
              </a:srgbClr>
            </a:solidFill>
            <a:prstDash val="solid"/>
          </a:ln>
        </p:spPr>
      </p:sp>
      <p:sp>
        <p:nvSpPr>
          <p:cNvPr id="28" name="Shape 22"/>
          <p:cNvSpPr/>
          <p:nvPr/>
        </p:nvSpPr>
        <p:spPr>
          <a:xfrm>
            <a:off x="6819595" y="3343046"/>
            <a:ext cx="1714500" cy="286207"/>
          </a:xfrm>
          <a:prstGeom prst="rect">
            <a:avLst/>
          </a:prstGeom>
          <a:solidFill>
            <a:srgbClr val="DCE9DF"/>
          </a:solidFill>
          <a:ln w="12700">
            <a:solidFill>
              <a:srgbClr val="FFFFFF">
                <a:alpha val="0"/>
              </a:srgbClr>
            </a:solidFill>
            <a:prstDash val="solid"/>
          </a:ln>
        </p:spPr>
      </p:sp>
      <p:pic>
        <p:nvPicPr>
          <p:cNvPr id="29" name="Image 3" descr="gen-dedup-6954cc193310e8f8a15d3865cdd605c5.png">    </p:cNvPr>
          <p:cNvPicPr>
            <a:picLocks noChangeAspect="1"/>
          </p:cNvPicPr>
          <p:nvPr/>
        </p:nvPicPr>
        <p:blipFill>
          <a:blip r:embed="rId4"/>
          <a:srcRect l="-2083" r="-2083" t="0" b="0"/>
          <a:stretch/>
        </p:blipFill>
        <p:spPr>
          <a:xfrm>
            <a:off x="800100" y="3685946"/>
            <a:ext cx="7925105" cy="9144"/>
          </a:xfrm>
          <a:prstGeom prst="rect">
            <a:avLst/>
          </a:prstGeom>
        </p:spPr>
      </p:pic>
      <p:sp>
        <p:nvSpPr>
          <p:cNvPr id="30" name="Shape 23"/>
          <p:cNvSpPr/>
          <p:nvPr/>
        </p:nvSpPr>
        <p:spPr>
          <a:xfrm>
            <a:off x="800100" y="3696005"/>
            <a:ext cx="571500" cy="400507"/>
          </a:xfrm>
          <a:prstGeom prst="rect">
            <a:avLst/>
          </a:prstGeom>
          <a:solidFill>
            <a:srgbClr val="2E6F8E"/>
          </a:solidFill>
          <a:ln w="12700">
            <a:solidFill>
              <a:srgbClr val="FFFFFF">
                <a:alpha val="0"/>
              </a:srgbClr>
            </a:solidFill>
            <a:prstDash val="solid"/>
          </a:ln>
        </p:spPr>
      </p:sp>
      <p:sp>
        <p:nvSpPr>
          <p:cNvPr id="31" name="Shape 24"/>
          <p:cNvSpPr/>
          <p:nvPr/>
        </p:nvSpPr>
        <p:spPr>
          <a:xfrm>
            <a:off x="6819595" y="3752698"/>
            <a:ext cx="1714500" cy="286207"/>
          </a:xfrm>
          <a:prstGeom prst="rect">
            <a:avLst/>
          </a:prstGeom>
          <a:solidFill>
            <a:srgbClr val="F2E2C7"/>
          </a:solidFill>
          <a:ln w="12700">
            <a:solidFill>
              <a:srgbClr val="FFFFFF">
                <a:alpha val="0"/>
              </a:srgbClr>
            </a:solidFill>
            <a:prstDash val="solid"/>
          </a:ln>
        </p:spPr>
      </p:sp>
      <p:pic>
        <p:nvPicPr>
          <p:cNvPr id="32" name="Image 4" descr="gen-dedup-6954cc193310e8f8a15d3865cdd605c5.png">    </p:cNvPr>
          <p:cNvPicPr>
            <a:picLocks noChangeAspect="1"/>
          </p:cNvPicPr>
          <p:nvPr/>
        </p:nvPicPr>
        <p:blipFill>
          <a:blip r:embed="rId5"/>
          <a:srcRect l="-2083" r="-2083" t="0" b="0"/>
          <a:stretch/>
        </p:blipFill>
        <p:spPr>
          <a:xfrm>
            <a:off x="800100" y="4095598"/>
            <a:ext cx="7925105" cy="9144"/>
          </a:xfrm>
          <a:prstGeom prst="rect">
            <a:avLst/>
          </a:prstGeom>
        </p:spPr>
      </p:pic>
      <p:sp>
        <p:nvSpPr>
          <p:cNvPr id="33" name="Shape 25"/>
          <p:cNvSpPr/>
          <p:nvPr/>
        </p:nvSpPr>
        <p:spPr>
          <a:xfrm>
            <a:off x="800100" y="4105656"/>
            <a:ext cx="571500" cy="400507"/>
          </a:xfrm>
          <a:prstGeom prst="rect">
            <a:avLst/>
          </a:prstGeom>
          <a:solidFill>
            <a:srgbClr val="C8552D"/>
          </a:solidFill>
          <a:ln w="12700">
            <a:solidFill>
              <a:srgbClr val="FFFFFF">
                <a:alpha val="0"/>
              </a:srgbClr>
            </a:solidFill>
            <a:prstDash val="solid"/>
          </a:ln>
        </p:spPr>
      </p:sp>
      <p:sp>
        <p:nvSpPr>
          <p:cNvPr id="34" name="Shape 26"/>
          <p:cNvSpPr/>
          <p:nvPr/>
        </p:nvSpPr>
        <p:spPr>
          <a:xfrm>
            <a:off x="6819595" y="4162349"/>
            <a:ext cx="1714500" cy="286207"/>
          </a:xfrm>
          <a:prstGeom prst="rect">
            <a:avLst/>
          </a:prstGeom>
          <a:solidFill>
            <a:srgbClr val="D9E1E8"/>
          </a:solidFill>
          <a:ln w="12700">
            <a:solidFill>
              <a:srgbClr val="FFFFFF">
                <a:alpha val="0"/>
              </a:srgbClr>
            </a:solidFill>
            <a:prstDash val="solid"/>
          </a:ln>
        </p:spPr>
      </p:sp>
      <p:pic>
        <p:nvPicPr>
          <p:cNvPr id="35" name="Image 5" descr="gen-dedup-6954cc193310e8f8a15d3865cdd605c5.png">    </p:cNvPr>
          <p:cNvPicPr>
            <a:picLocks noChangeAspect="1"/>
          </p:cNvPicPr>
          <p:nvPr/>
        </p:nvPicPr>
        <p:blipFill>
          <a:blip r:embed="rId6"/>
          <a:srcRect l="-2083" r="-2083" t="0" b="0"/>
          <a:stretch/>
        </p:blipFill>
        <p:spPr>
          <a:xfrm>
            <a:off x="800100" y="4505249"/>
            <a:ext cx="7925105" cy="9144"/>
          </a:xfrm>
          <a:prstGeom prst="rect">
            <a:avLst/>
          </a:prstGeom>
        </p:spPr>
      </p:pic>
      <p:sp>
        <p:nvSpPr>
          <p:cNvPr id="36" name="Shape 27"/>
          <p:cNvSpPr/>
          <p:nvPr/>
        </p:nvSpPr>
        <p:spPr>
          <a:xfrm>
            <a:off x="800100" y="4515307"/>
            <a:ext cx="571500" cy="400507"/>
          </a:xfrm>
          <a:prstGeom prst="rect">
            <a:avLst/>
          </a:prstGeom>
          <a:solidFill>
            <a:srgbClr val="C8552D"/>
          </a:solidFill>
          <a:ln w="12700">
            <a:solidFill>
              <a:srgbClr val="FFFFFF">
                <a:alpha val="0"/>
              </a:srgbClr>
            </a:solidFill>
            <a:prstDash val="solid"/>
          </a:ln>
        </p:spPr>
      </p:sp>
      <p:sp>
        <p:nvSpPr>
          <p:cNvPr id="37" name="Shape 28"/>
          <p:cNvSpPr/>
          <p:nvPr/>
        </p:nvSpPr>
        <p:spPr>
          <a:xfrm>
            <a:off x="6819595" y="4572000"/>
            <a:ext cx="1714500" cy="286207"/>
          </a:xfrm>
          <a:prstGeom prst="rect">
            <a:avLst/>
          </a:prstGeom>
          <a:solidFill>
            <a:srgbClr val="DCE9DF"/>
          </a:solidFill>
          <a:ln w="12700">
            <a:solidFill>
              <a:srgbClr val="FFFFFF">
                <a:alpha val="0"/>
              </a:srgbClr>
            </a:solidFill>
            <a:prstDash val="solid"/>
          </a:ln>
        </p:spPr>
      </p:sp>
      <p:pic>
        <p:nvPicPr>
          <p:cNvPr id="38" name="Image 6" descr="gen-dedup-6954cc193310e8f8a15d3865cdd605c5.png">    </p:cNvPr>
          <p:cNvPicPr>
            <a:picLocks noChangeAspect="1"/>
          </p:cNvPicPr>
          <p:nvPr/>
        </p:nvPicPr>
        <p:blipFill>
          <a:blip r:embed="rId7"/>
          <a:srcRect l="-2083" r="-2083" t="0" b="0"/>
          <a:stretch/>
        </p:blipFill>
        <p:spPr>
          <a:xfrm>
            <a:off x="800100" y="4914900"/>
            <a:ext cx="7925105" cy="9144"/>
          </a:xfrm>
          <a:prstGeom prst="rect">
            <a:avLst/>
          </a:prstGeom>
        </p:spPr>
      </p:pic>
      <p:sp>
        <p:nvSpPr>
          <p:cNvPr id="39" name="Shape 29"/>
          <p:cNvSpPr/>
          <p:nvPr/>
        </p:nvSpPr>
        <p:spPr>
          <a:xfrm>
            <a:off x="800100" y="4924044"/>
            <a:ext cx="571500" cy="400507"/>
          </a:xfrm>
          <a:prstGeom prst="rect">
            <a:avLst/>
          </a:prstGeom>
          <a:solidFill>
            <a:srgbClr val="C8552D"/>
          </a:solidFill>
          <a:ln w="12700">
            <a:solidFill>
              <a:srgbClr val="FFFFFF">
                <a:alpha val="0"/>
              </a:srgbClr>
            </a:solidFill>
            <a:prstDash val="solid"/>
          </a:ln>
        </p:spPr>
      </p:sp>
      <p:sp>
        <p:nvSpPr>
          <p:cNvPr id="40" name="Shape 30"/>
          <p:cNvSpPr/>
          <p:nvPr/>
        </p:nvSpPr>
        <p:spPr>
          <a:xfrm>
            <a:off x="6819595" y="4981651"/>
            <a:ext cx="1714500" cy="286207"/>
          </a:xfrm>
          <a:prstGeom prst="rect">
            <a:avLst/>
          </a:prstGeom>
          <a:solidFill>
            <a:srgbClr val="F2E2C7"/>
          </a:solidFill>
          <a:ln w="12700">
            <a:solidFill>
              <a:srgbClr val="FFFFFF">
                <a:alpha val="0"/>
              </a:srgbClr>
            </a:solidFill>
            <a:prstDash val="solid"/>
          </a:ln>
        </p:spPr>
      </p:sp>
      <p:sp>
        <p:nvSpPr>
          <p:cNvPr id="41" name="Shape 31"/>
          <p:cNvSpPr/>
          <p:nvPr/>
        </p:nvSpPr>
        <p:spPr>
          <a:xfrm>
            <a:off x="9562795" y="2876702"/>
            <a:ext cx="571500" cy="400507"/>
          </a:xfrm>
          <a:prstGeom prst="rect">
            <a:avLst/>
          </a:prstGeom>
          <a:solidFill>
            <a:srgbClr val="2E6F8E"/>
          </a:solidFill>
          <a:ln w="12700">
            <a:solidFill>
              <a:srgbClr val="FFFFFF">
                <a:alpha val="0"/>
              </a:srgbClr>
            </a:solidFill>
            <a:prstDash val="solid"/>
          </a:ln>
        </p:spPr>
      </p:sp>
      <p:sp>
        <p:nvSpPr>
          <p:cNvPr id="42" name="Shape 32"/>
          <p:cNvSpPr/>
          <p:nvPr/>
        </p:nvSpPr>
        <p:spPr>
          <a:xfrm>
            <a:off x="15583205" y="2933395"/>
            <a:ext cx="1714500" cy="286207"/>
          </a:xfrm>
          <a:prstGeom prst="rect">
            <a:avLst/>
          </a:prstGeom>
          <a:solidFill>
            <a:srgbClr val="D9E1E8"/>
          </a:solidFill>
          <a:ln w="12700">
            <a:solidFill>
              <a:srgbClr val="FFFFFF">
                <a:alpha val="0"/>
              </a:srgbClr>
            </a:solidFill>
            <a:prstDash val="solid"/>
          </a:ln>
        </p:spPr>
      </p:sp>
      <p:pic>
        <p:nvPicPr>
          <p:cNvPr id="43" name="Image 7" descr="gen-dedup-6954cc193310e8f8a15d3865cdd605c5.png">    </p:cNvPr>
          <p:cNvPicPr>
            <a:picLocks noChangeAspect="1"/>
          </p:cNvPicPr>
          <p:nvPr/>
        </p:nvPicPr>
        <p:blipFill>
          <a:blip r:embed="rId8"/>
          <a:srcRect l="-2083" r="-2083" t="0" b="0"/>
          <a:stretch/>
        </p:blipFill>
        <p:spPr>
          <a:xfrm>
            <a:off x="9562795" y="3276295"/>
            <a:ext cx="7925105" cy="9144"/>
          </a:xfrm>
          <a:prstGeom prst="rect">
            <a:avLst/>
          </a:prstGeom>
        </p:spPr>
      </p:pic>
      <p:sp>
        <p:nvSpPr>
          <p:cNvPr id="44" name="Shape 33"/>
          <p:cNvSpPr/>
          <p:nvPr/>
        </p:nvSpPr>
        <p:spPr>
          <a:xfrm>
            <a:off x="9562795" y="3286354"/>
            <a:ext cx="571500" cy="400507"/>
          </a:xfrm>
          <a:prstGeom prst="rect">
            <a:avLst/>
          </a:prstGeom>
          <a:solidFill>
            <a:srgbClr val="2E6F8E"/>
          </a:solidFill>
          <a:ln w="12700">
            <a:solidFill>
              <a:srgbClr val="FFFFFF">
                <a:alpha val="0"/>
              </a:srgbClr>
            </a:solidFill>
            <a:prstDash val="solid"/>
          </a:ln>
        </p:spPr>
      </p:sp>
      <p:sp>
        <p:nvSpPr>
          <p:cNvPr id="45" name="Shape 34"/>
          <p:cNvSpPr/>
          <p:nvPr/>
        </p:nvSpPr>
        <p:spPr>
          <a:xfrm>
            <a:off x="15583205" y="3343046"/>
            <a:ext cx="1714500" cy="286207"/>
          </a:xfrm>
          <a:prstGeom prst="rect">
            <a:avLst/>
          </a:prstGeom>
          <a:solidFill>
            <a:srgbClr val="DCE9DF"/>
          </a:solidFill>
          <a:ln w="12700">
            <a:solidFill>
              <a:srgbClr val="FFFFFF">
                <a:alpha val="0"/>
              </a:srgbClr>
            </a:solidFill>
            <a:prstDash val="solid"/>
          </a:ln>
        </p:spPr>
      </p:sp>
      <p:pic>
        <p:nvPicPr>
          <p:cNvPr id="46" name="Image 8" descr="gen-dedup-6954cc193310e8f8a15d3865cdd605c5.png">    </p:cNvPr>
          <p:cNvPicPr>
            <a:picLocks noChangeAspect="1"/>
          </p:cNvPicPr>
          <p:nvPr/>
        </p:nvPicPr>
        <p:blipFill>
          <a:blip r:embed="rId9"/>
          <a:srcRect l="-2083" r="-2083" t="0" b="0"/>
          <a:stretch/>
        </p:blipFill>
        <p:spPr>
          <a:xfrm>
            <a:off x="9562795" y="3685946"/>
            <a:ext cx="7925105" cy="9144"/>
          </a:xfrm>
          <a:prstGeom prst="rect">
            <a:avLst/>
          </a:prstGeom>
        </p:spPr>
      </p:pic>
      <p:sp>
        <p:nvSpPr>
          <p:cNvPr id="47" name="Shape 35"/>
          <p:cNvSpPr/>
          <p:nvPr/>
        </p:nvSpPr>
        <p:spPr>
          <a:xfrm>
            <a:off x="9562795" y="3696005"/>
            <a:ext cx="571500" cy="400507"/>
          </a:xfrm>
          <a:prstGeom prst="rect">
            <a:avLst/>
          </a:prstGeom>
          <a:solidFill>
            <a:srgbClr val="2E6F8E"/>
          </a:solidFill>
          <a:ln w="12700">
            <a:solidFill>
              <a:srgbClr val="FFFFFF">
                <a:alpha val="0"/>
              </a:srgbClr>
            </a:solidFill>
            <a:prstDash val="solid"/>
          </a:ln>
        </p:spPr>
      </p:sp>
      <p:sp>
        <p:nvSpPr>
          <p:cNvPr id="48" name="Shape 36"/>
          <p:cNvSpPr/>
          <p:nvPr/>
        </p:nvSpPr>
        <p:spPr>
          <a:xfrm>
            <a:off x="15583205" y="3752698"/>
            <a:ext cx="1714500" cy="286207"/>
          </a:xfrm>
          <a:prstGeom prst="rect">
            <a:avLst/>
          </a:prstGeom>
          <a:solidFill>
            <a:srgbClr val="F2E2C7"/>
          </a:solidFill>
          <a:ln w="12700">
            <a:solidFill>
              <a:srgbClr val="FFFFFF">
                <a:alpha val="0"/>
              </a:srgbClr>
            </a:solidFill>
            <a:prstDash val="solid"/>
          </a:ln>
        </p:spPr>
      </p:sp>
      <p:pic>
        <p:nvPicPr>
          <p:cNvPr id="49" name="Image 9" descr="gen-dedup-6954cc193310e8f8a15d3865cdd605c5.png">    </p:cNvPr>
          <p:cNvPicPr>
            <a:picLocks noChangeAspect="1"/>
          </p:cNvPicPr>
          <p:nvPr/>
        </p:nvPicPr>
        <p:blipFill>
          <a:blip r:embed="rId10"/>
          <a:srcRect l="-2083" r="-2083" t="0" b="0"/>
          <a:stretch/>
        </p:blipFill>
        <p:spPr>
          <a:xfrm>
            <a:off x="9562795" y="4095598"/>
            <a:ext cx="7925105" cy="9144"/>
          </a:xfrm>
          <a:prstGeom prst="rect">
            <a:avLst/>
          </a:prstGeom>
        </p:spPr>
      </p:pic>
      <p:sp>
        <p:nvSpPr>
          <p:cNvPr id="50" name="Shape 37"/>
          <p:cNvSpPr/>
          <p:nvPr/>
        </p:nvSpPr>
        <p:spPr>
          <a:xfrm>
            <a:off x="9562795" y="4105656"/>
            <a:ext cx="571500" cy="400507"/>
          </a:xfrm>
          <a:prstGeom prst="rect">
            <a:avLst/>
          </a:prstGeom>
          <a:solidFill>
            <a:srgbClr val="C8552D"/>
          </a:solidFill>
          <a:ln w="12700">
            <a:solidFill>
              <a:srgbClr val="FFFFFF">
                <a:alpha val="0"/>
              </a:srgbClr>
            </a:solidFill>
            <a:prstDash val="solid"/>
          </a:ln>
        </p:spPr>
      </p:sp>
      <p:sp>
        <p:nvSpPr>
          <p:cNvPr id="51" name="Shape 38"/>
          <p:cNvSpPr/>
          <p:nvPr/>
        </p:nvSpPr>
        <p:spPr>
          <a:xfrm>
            <a:off x="15583205" y="4162349"/>
            <a:ext cx="1714500" cy="286207"/>
          </a:xfrm>
          <a:prstGeom prst="rect">
            <a:avLst/>
          </a:prstGeom>
          <a:solidFill>
            <a:srgbClr val="D9E1E8"/>
          </a:solidFill>
          <a:ln w="12700">
            <a:solidFill>
              <a:srgbClr val="FFFFFF">
                <a:alpha val="0"/>
              </a:srgbClr>
            </a:solidFill>
            <a:prstDash val="solid"/>
          </a:ln>
        </p:spPr>
      </p:sp>
      <p:pic>
        <p:nvPicPr>
          <p:cNvPr id="52" name="Image 10" descr="gen-dedup-6954cc193310e8f8a15d3865cdd605c5.png">    </p:cNvPr>
          <p:cNvPicPr>
            <a:picLocks noChangeAspect="1"/>
          </p:cNvPicPr>
          <p:nvPr/>
        </p:nvPicPr>
        <p:blipFill>
          <a:blip r:embed="rId11"/>
          <a:srcRect l="-2083" r="-2083" t="0" b="0"/>
          <a:stretch/>
        </p:blipFill>
        <p:spPr>
          <a:xfrm>
            <a:off x="9562795" y="4505249"/>
            <a:ext cx="7925105" cy="9144"/>
          </a:xfrm>
          <a:prstGeom prst="rect">
            <a:avLst/>
          </a:prstGeom>
        </p:spPr>
      </p:pic>
      <p:sp>
        <p:nvSpPr>
          <p:cNvPr id="53" name="Shape 39"/>
          <p:cNvSpPr/>
          <p:nvPr/>
        </p:nvSpPr>
        <p:spPr>
          <a:xfrm>
            <a:off x="9562795" y="4515307"/>
            <a:ext cx="571500" cy="400507"/>
          </a:xfrm>
          <a:prstGeom prst="rect">
            <a:avLst/>
          </a:prstGeom>
          <a:solidFill>
            <a:srgbClr val="C8552D"/>
          </a:solidFill>
          <a:ln w="12700">
            <a:solidFill>
              <a:srgbClr val="FFFFFF">
                <a:alpha val="0"/>
              </a:srgbClr>
            </a:solidFill>
            <a:prstDash val="solid"/>
          </a:ln>
        </p:spPr>
      </p:sp>
      <p:sp>
        <p:nvSpPr>
          <p:cNvPr id="54" name="Shape 40"/>
          <p:cNvSpPr/>
          <p:nvPr/>
        </p:nvSpPr>
        <p:spPr>
          <a:xfrm>
            <a:off x="15583205" y="4572000"/>
            <a:ext cx="1714500" cy="286207"/>
          </a:xfrm>
          <a:prstGeom prst="rect">
            <a:avLst/>
          </a:prstGeom>
          <a:solidFill>
            <a:srgbClr val="DCE9DF"/>
          </a:solidFill>
          <a:ln w="12700">
            <a:solidFill>
              <a:srgbClr val="FFFFFF">
                <a:alpha val="0"/>
              </a:srgbClr>
            </a:solidFill>
            <a:prstDash val="solid"/>
          </a:ln>
        </p:spPr>
      </p:sp>
      <p:pic>
        <p:nvPicPr>
          <p:cNvPr id="55" name="Image 11" descr="gen-dedup-6954cc193310e8f8a15d3865cdd605c5.png">    </p:cNvPr>
          <p:cNvPicPr>
            <a:picLocks noChangeAspect="1"/>
          </p:cNvPicPr>
          <p:nvPr/>
        </p:nvPicPr>
        <p:blipFill>
          <a:blip r:embed="rId12"/>
          <a:srcRect l="-2083" r="-2083" t="0" b="0"/>
          <a:stretch/>
        </p:blipFill>
        <p:spPr>
          <a:xfrm>
            <a:off x="9562795" y="4914900"/>
            <a:ext cx="7925105" cy="9144"/>
          </a:xfrm>
          <a:prstGeom prst="rect">
            <a:avLst/>
          </a:prstGeom>
        </p:spPr>
      </p:pic>
      <p:sp>
        <p:nvSpPr>
          <p:cNvPr id="56" name="Shape 41"/>
          <p:cNvSpPr/>
          <p:nvPr/>
        </p:nvSpPr>
        <p:spPr>
          <a:xfrm>
            <a:off x="9562795" y="4924044"/>
            <a:ext cx="571500" cy="400507"/>
          </a:xfrm>
          <a:prstGeom prst="rect">
            <a:avLst/>
          </a:prstGeom>
          <a:solidFill>
            <a:srgbClr val="C8552D"/>
          </a:solidFill>
          <a:ln w="12700">
            <a:solidFill>
              <a:srgbClr val="FFFFFF">
                <a:alpha val="0"/>
              </a:srgbClr>
            </a:solidFill>
            <a:prstDash val="solid"/>
          </a:ln>
        </p:spPr>
      </p:sp>
      <p:sp>
        <p:nvSpPr>
          <p:cNvPr id="57" name="Shape 42"/>
          <p:cNvSpPr/>
          <p:nvPr/>
        </p:nvSpPr>
        <p:spPr>
          <a:xfrm>
            <a:off x="15583205" y="4981651"/>
            <a:ext cx="1714500" cy="286207"/>
          </a:xfrm>
          <a:prstGeom prst="rect">
            <a:avLst/>
          </a:prstGeom>
          <a:solidFill>
            <a:srgbClr val="DCE9DF"/>
          </a:solidFill>
          <a:ln w="12700">
            <a:solidFill>
              <a:srgbClr val="FFFFFF">
                <a:alpha val="0"/>
              </a:srgbClr>
            </a:solidFill>
            <a:prstDash val="solid"/>
          </a:ln>
        </p:spPr>
      </p:sp>
      <p:sp>
        <p:nvSpPr>
          <p:cNvPr id="58" name="Shape 43"/>
          <p:cNvSpPr/>
          <p:nvPr/>
        </p:nvSpPr>
        <p:spPr>
          <a:xfrm>
            <a:off x="800100" y="6610198"/>
            <a:ext cx="571500" cy="381305"/>
          </a:xfrm>
          <a:prstGeom prst="rect">
            <a:avLst/>
          </a:prstGeom>
          <a:solidFill>
            <a:srgbClr val="2E6F8E"/>
          </a:solidFill>
          <a:ln w="12700">
            <a:solidFill>
              <a:srgbClr val="FFFFFF">
                <a:alpha val="0"/>
              </a:srgbClr>
            </a:solidFill>
            <a:prstDash val="solid"/>
          </a:ln>
        </p:spPr>
      </p:sp>
      <p:sp>
        <p:nvSpPr>
          <p:cNvPr id="59" name="Shape 44"/>
          <p:cNvSpPr/>
          <p:nvPr/>
        </p:nvSpPr>
        <p:spPr>
          <a:xfrm>
            <a:off x="6819595" y="6667805"/>
            <a:ext cx="1714500" cy="267005"/>
          </a:xfrm>
          <a:prstGeom prst="rect">
            <a:avLst/>
          </a:prstGeom>
          <a:solidFill>
            <a:srgbClr val="D9E1E8"/>
          </a:solidFill>
          <a:ln w="12700">
            <a:solidFill>
              <a:srgbClr val="FFFFFF">
                <a:alpha val="0"/>
              </a:srgbClr>
            </a:solidFill>
            <a:prstDash val="solid"/>
          </a:ln>
        </p:spPr>
      </p:sp>
      <p:pic>
        <p:nvPicPr>
          <p:cNvPr id="60" name="Image 12" descr="gen-dedup-6954cc193310e8f8a15d3865cdd605c5.png">    </p:cNvPr>
          <p:cNvPicPr>
            <a:picLocks noChangeAspect="1"/>
          </p:cNvPicPr>
          <p:nvPr/>
        </p:nvPicPr>
        <p:blipFill>
          <a:blip r:embed="rId13"/>
          <a:srcRect l="-2083" r="-2083" t="0" b="0"/>
          <a:stretch/>
        </p:blipFill>
        <p:spPr>
          <a:xfrm>
            <a:off x="800100" y="6991502"/>
            <a:ext cx="7925105" cy="9144"/>
          </a:xfrm>
          <a:prstGeom prst="rect">
            <a:avLst/>
          </a:prstGeom>
        </p:spPr>
      </p:pic>
      <p:sp>
        <p:nvSpPr>
          <p:cNvPr id="61" name="Shape 45"/>
          <p:cNvSpPr/>
          <p:nvPr/>
        </p:nvSpPr>
        <p:spPr>
          <a:xfrm>
            <a:off x="800100" y="7000646"/>
            <a:ext cx="571500" cy="381305"/>
          </a:xfrm>
          <a:prstGeom prst="rect">
            <a:avLst/>
          </a:prstGeom>
          <a:solidFill>
            <a:srgbClr val="2E6F8E"/>
          </a:solidFill>
          <a:ln w="12700">
            <a:solidFill>
              <a:srgbClr val="FFFFFF">
                <a:alpha val="0"/>
              </a:srgbClr>
            </a:solidFill>
            <a:prstDash val="solid"/>
          </a:ln>
        </p:spPr>
      </p:sp>
      <p:sp>
        <p:nvSpPr>
          <p:cNvPr id="62" name="Shape 46"/>
          <p:cNvSpPr/>
          <p:nvPr/>
        </p:nvSpPr>
        <p:spPr>
          <a:xfrm>
            <a:off x="6819595" y="7058254"/>
            <a:ext cx="1714500" cy="267005"/>
          </a:xfrm>
          <a:prstGeom prst="rect">
            <a:avLst/>
          </a:prstGeom>
          <a:solidFill>
            <a:srgbClr val="DCE9DF"/>
          </a:solidFill>
          <a:ln w="12700">
            <a:solidFill>
              <a:srgbClr val="FFFFFF">
                <a:alpha val="0"/>
              </a:srgbClr>
            </a:solidFill>
            <a:prstDash val="solid"/>
          </a:ln>
        </p:spPr>
      </p:sp>
      <p:pic>
        <p:nvPicPr>
          <p:cNvPr id="63" name="Image 13" descr="gen-dedup-6954cc193310e8f8a15d3865cdd605c5.png">    </p:cNvPr>
          <p:cNvPicPr>
            <a:picLocks noChangeAspect="1"/>
          </p:cNvPicPr>
          <p:nvPr/>
        </p:nvPicPr>
        <p:blipFill>
          <a:blip r:embed="rId14"/>
          <a:srcRect l="-2083" r="-2083" t="0" b="0"/>
          <a:stretch/>
        </p:blipFill>
        <p:spPr>
          <a:xfrm>
            <a:off x="800100" y="7381951"/>
            <a:ext cx="7925105" cy="9144"/>
          </a:xfrm>
          <a:prstGeom prst="rect">
            <a:avLst/>
          </a:prstGeom>
        </p:spPr>
      </p:pic>
      <p:sp>
        <p:nvSpPr>
          <p:cNvPr id="64" name="Shape 47"/>
          <p:cNvSpPr/>
          <p:nvPr/>
        </p:nvSpPr>
        <p:spPr>
          <a:xfrm>
            <a:off x="800100" y="7391095"/>
            <a:ext cx="571500" cy="381305"/>
          </a:xfrm>
          <a:prstGeom prst="rect">
            <a:avLst/>
          </a:prstGeom>
          <a:solidFill>
            <a:srgbClr val="2E6F8E"/>
          </a:solidFill>
          <a:ln w="12700">
            <a:solidFill>
              <a:srgbClr val="FFFFFF">
                <a:alpha val="0"/>
              </a:srgbClr>
            </a:solidFill>
            <a:prstDash val="solid"/>
          </a:ln>
        </p:spPr>
      </p:sp>
      <p:sp>
        <p:nvSpPr>
          <p:cNvPr id="65" name="Shape 48"/>
          <p:cNvSpPr/>
          <p:nvPr/>
        </p:nvSpPr>
        <p:spPr>
          <a:xfrm>
            <a:off x="6819595" y="7448702"/>
            <a:ext cx="1714500" cy="267005"/>
          </a:xfrm>
          <a:prstGeom prst="rect">
            <a:avLst/>
          </a:prstGeom>
          <a:solidFill>
            <a:srgbClr val="F0D5CE"/>
          </a:solidFill>
          <a:ln w="12700">
            <a:solidFill>
              <a:srgbClr val="FFFFFF">
                <a:alpha val="0"/>
              </a:srgbClr>
            </a:solidFill>
            <a:prstDash val="solid"/>
          </a:ln>
        </p:spPr>
      </p:sp>
      <p:pic>
        <p:nvPicPr>
          <p:cNvPr id="66" name="Image 14" descr="gen-dedup-6954cc193310e8f8a15d3865cdd605c5.png">    </p:cNvPr>
          <p:cNvPicPr>
            <a:picLocks noChangeAspect="1"/>
          </p:cNvPicPr>
          <p:nvPr/>
        </p:nvPicPr>
        <p:blipFill>
          <a:blip r:embed="rId15"/>
          <a:srcRect l="-2083" r="-2083" t="0" b="0"/>
          <a:stretch/>
        </p:blipFill>
        <p:spPr>
          <a:xfrm>
            <a:off x="800100" y="7772400"/>
            <a:ext cx="7925105" cy="9144"/>
          </a:xfrm>
          <a:prstGeom prst="rect">
            <a:avLst/>
          </a:prstGeom>
        </p:spPr>
      </p:pic>
      <p:sp>
        <p:nvSpPr>
          <p:cNvPr id="67" name="Shape 49"/>
          <p:cNvSpPr/>
          <p:nvPr/>
        </p:nvSpPr>
        <p:spPr>
          <a:xfrm>
            <a:off x="800100" y="7781544"/>
            <a:ext cx="571500" cy="381305"/>
          </a:xfrm>
          <a:prstGeom prst="rect">
            <a:avLst/>
          </a:prstGeom>
          <a:solidFill>
            <a:srgbClr val="C8552D"/>
          </a:solidFill>
          <a:ln w="12700">
            <a:solidFill>
              <a:srgbClr val="FFFFFF">
                <a:alpha val="0"/>
              </a:srgbClr>
            </a:solidFill>
            <a:prstDash val="solid"/>
          </a:ln>
        </p:spPr>
      </p:sp>
      <p:sp>
        <p:nvSpPr>
          <p:cNvPr id="68" name="Shape 50"/>
          <p:cNvSpPr/>
          <p:nvPr/>
        </p:nvSpPr>
        <p:spPr>
          <a:xfrm>
            <a:off x="6819595" y="7839151"/>
            <a:ext cx="1714500" cy="267005"/>
          </a:xfrm>
          <a:prstGeom prst="rect">
            <a:avLst/>
          </a:prstGeom>
          <a:solidFill>
            <a:srgbClr val="D9E1E8"/>
          </a:solidFill>
          <a:ln w="12700">
            <a:solidFill>
              <a:srgbClr val="FFFFFF">
                <a:alpha val="0"/>
              </a:srgbClr>
            </a:solidFill>
            <a:prstDash val="solid"/>
          </a:ln>
        </p:spPr>
      </p:sp>
      <p:pic>
        <p:nvPicPr>
          <p:cNvPr id="69" name="Image 15" descr="gen-dedup-6954cc193310e8f8a15d3865cdd605c5.png">    </p:cNvPr>
          <p:cNvPicPr>
            <a:picLocks noChangeAspect="1"/>
          </p:cNvPicPr>
          <p:nvPr/>
        </p:nvPicPr>
        <p:blipFill>
          <a:blip r:embed="rId16"/>
          <a:srcRect l="-2083" r="-2083" t="0" b="0"/>
          <a:stretch/>
        </p:blipFill>
        <p:spPr>
          <a:xfrm>
            <a:off x="800100" y="8162849"/>
            <a:ext cx="7925105" cy="9144"/>
          </a:xfrm>
          <a:prstGeom prst="rect">
            <a:avLst/>
          </a:prstGeom>
        </p:spPr>
      </p:pic>
      <p:sp>
        <p:nvSpPr>
          <p:cNvPr id="70" name="Shape 51"/>
          <p:cNvSpPr/>
          <p:nvPr/>
        </p:nvSpPr>
        <p:spPr>
          <a:xfrm>
            <a:off x="800100" y="8172907"/>
            <a:ext cx="571500" cy="381305"/>
          </a:xfrm>
          <a:prstGeom prst="rect">
            <a:avLst/>
          </a:prstGeom>
          <a:solidFill>
            <a:srgbClr val="C8552D"/>
          </a:solidFill>
          <a:ln w="12700">
            <a:solidFill>
              <a:srgbClr val="FFFFFF">
                <a:alpha val="0"/>
              </a:srgbClr>
            </a:solidFill>
            <a:prstDash val="solid"/>
          </a:ln>
        </p:spPr>
      </p:sp>
      <p:sp>
        <p:nvSpPr>
          <p:cNvPr id="71" name="Shape 52"/>
          <p:cNvSpPr/>
          <p:nvPr/>
        </p:nvSpPr>
        <p:spPr>
          <a:xfrm>
            <a:off x="6819595" y="8229600"/>
            <a:ext cx="1714500" cy="267005"/>
          </a:xfrm>
          <a:prstGeom prst="rect">
            <a:avLst/>
          </a:prstGeom>
          <a:solidFill>
            <a:srgbClr val="DCE9DF"/>
          </a:solidFill>
          <a:ln w="12700">
            <a:solidFill>
              <a:srgbClr val="FFFFFF">
                <a:alpha val="0"/>
              </a:srgbClr>
            </a:solidFill>
            <a:prstDash val="solid"/>
          </a:ln>
        </p:spPr>
      </p:sp>
      <p:pic>
        <p:nvPicPr>
          <p:cNvPr id="72" name="Image 16" descr="gen-dedup-6954cc193310e8f8a15d3865cdd605c5.png">    </p:cNvPr>
          <p:cNvPicPr>
            <a:picLocks noChangeAspect="1"/>
          </p:cNvPicPr>
          <p:nvPr/>
        </p:nvPicPr>
        <p:blipFill>
          <a:blip r:embed="rId17"/>
          <a:srcRect l="-2083" r="-2083" t="0" b="0"/>
          <a:stretch/>
        </p:blipFill>
        <p:spPr>
          <a:xfrm>
            <a:off x="800100" y="8553298"/>
            <a:ext cx="7925105" cy="9144"/>
          </a:xfrm>
          <a:prstGeom prst="rect">
            <a:avLst/>
          </a:prstGeom>
        </p:spPr>
      </p:pic>
      <p:sp>
        <p:nvSpPr>
          <p:cNvPr id="73" name="Shape 53"/>
          <p:cNvSpPr/>
          <p:nvPr/>
        </p:nvSpPr>
        <p:spPr>
          <a:xfrm>
            <a:off x="800100" y="8563356"/>
            <a:ext cx="571500" cy="381305"/>
          </a:xfrm>
          <a:prstGeom prst="rect">
            <a:avLst/>
          </a:prstGeom>
          <a:solidFill>
            <a:srgbClr val="C8552D"/>
          </a:solidFill>
          <a:ln w="12700">
            <a:solidFill>
              <a:srgbClr val="FFFFFF">
                <a:alpha val="0"/>
              </a:srgbClr>
            </a:solidFill>
            <a:prstDash val="solid"/>
          </a:ln>
        </p:spPr>
      </p:sp>
      <p:sp>
        <p:nvSpPr>
          <p:cNvPr id="74" name="Shape 54"/>
          <p:cNvSpPr/>
          <p:nvPr/>
        </p:nvSpPr>
        <p:spPr>
          <a:xfrm>
            <a:off x="6819595" y="8620049"/>
            <a:ext cx="1714500" cy="267005"/>
          </a:xfrm>
          <a:prstGeom prst="rect">
            <a:avLst/>
          </a:prstGeom>
          <a:solidFill>
            <a:srgbClr val="DCE9DF"/>
          </a:solidFill>
          <a:ln w="12700">
            <a:solidFill>
              <a:srgbClr val="FFFFFF">
                <a:alpha val="0"/>
              </a:srgbClr>
            </a:solidFill>
            <a:prstDash val="solid"/>
          </a:ln>
        </p:spPr>
      </p:sp>
      <p:sp>
        <p:nvSpPr>
          <p:cNvPr id="75" name="Shape 55"/>
          <p:cNvSpPr/>
          <p:nvPr/>
        </p:nvSpPr>
        <p:spPr>
          <a:xfrm>
            <a:off x="9562795" y="6610198"/>
            <a:ext cx="571500" cy="381305"/>
          </a:xfrm>
          <a:prstGeom prst="rect">
            <a:avLst/>
          </a:prstGeom>
          <a:solidFill>
            <a:srgbClr val="2E6F8E"/>
          </a:solidFill>
          <a:ln w="12700">
            <a:solidFill>
              <a:srgbClr val="FFFFFF">
                <a:alpha val="0"/>
              </a:srgbClr>
            </a:solidFill>
            <a:prstDash val="solid"/>
          </a:ln>
        </p:spPr>
      </p:sp>
      <p:sp>
        <p:nvSpPr>
          <p:cNvPr id="76" name="Shape 56"/>
          <p:cNvSpPr/>
          <p:nvPr/>
        </p:nvSpPr>
        <p:spPr>
          <a:xfrm>
            <a:off x="15583205" y="6667805"/>
            <a:ext cx="1714500" cy="267005"/>
          </a:xfrm>
          <a:prstGeom prst="rect">
            <a:avLst/>
          </a:prstGeom>
          <a:solidFill>
            <a:srgbClr val="D9E1E8"/>
          </a:solidFill>
          <a:ln w="12700">
            <a:solidFill>
              <a:srgbClr val="FFFFFF">
                <a:alpha val="0"/>
              </a:srgbClr>
            </a:solidFill>
            <a:prstDash val="solid"/>
          </a:ln>
        </p:spPr>
      </p:sp>
      <p:pic>
        <p:nvPicPr>
          <p:cNvPr id="77" name="Image 17" descr="gen-dedup-6954cc193310e8f8a15d3865cdd605c5.png">    </p:cNvPr>
          <p:cNvPicPr>
            <a:picLocks noChangeAspect="1"/>
          </p:cNvPicPr>
          <p:nvPr/>
        </p:nvPicPr>
        <p:blipFill>
          <a:blip r:embed="rId18"/>
          <a:srcRect l="-2083" r="-2083" t="0" b="0"/>
          <a:stretch/>
        </p:blipFill>
        <p:spPr>
          <a:xfrm>
            <a:off x="9562795" y="6991502"/>
            <a:ext cx="7925105" cy="9144"/>
          </a:xfrm>
          <a:prstGeom prst="rect">
            <a:avLst/>
          </a:prstGeom>
        </p:spPr>
      </p:pic>
      <p:sp>
        <p:nvSpPr>
          <p:cNvPr id="78" name="Shape 57"/>
          <p:cNvSpPr/>
          <p:nvPr/>
        </p:nvSpPr>
        <p:spPr>
          <a:xfrm>
            <a:off x="9562795" y="7000646"/>
            <a:ext cx="571500" cy="381305"/>
          </a:xfrm>
          <a:prstGeom prst="rect">
            <a:avLst/>
          </a:prstGeom>
          <a:solidFill>
            <a:srgbClr val="2E6F8E"/>
          </a:solidFill>
          <a:ln w="12700">
            <a:solidFill>
              <a:srgbClr val="FFFFFF">
                <a:alpha val="0"/>
              </a:srgbClr>
            </a:solidFill>
            <a:prstDash val="solid"/>
          </a:ln>
        </p:spPr>
      </p:sp>
      <p:sp>
        <p:nvSpPr>
          <p:cNvPr id="79" name="Shape 58"/>
          <p:cNvSpPr/>
          <p:nvPr/>
        </p:nvSpPr>
        <p:spPr>
          <a:xfrm>
            <a:off x="15583205" y="7058254"/>
            <a:ext cx="1714500" cy="267005"/>
          </a:xfrm>
          <a:prstGeom prst="rect">
            <a:avLst/>
          </a:prstGeom>
          <a:solidFill>
            <a:srgbClr val="DCE9DF"/>
          </a:solidFill>
          <a:ln w="12700">
            <a:solidFill>
              <a:srgbClr val="FFFFFF">
                <a:alpha val="0"/>
              </a:srgbClr>
            </a:solidFill>
            <a:prstDash val="solid"/>
          </a:ln>
        </p:spPr>
      </p:sp>
      <p:pic>
        <p:nvPicPr>
          <p:cNvPr id="80" name="Image 18" descr="gen-dedup-6954cc193310e8f8a15d3865cdd605c5.png">    </p:cNvPr>
          <p:cNvPicPr>
            <a:picLocks noChangeAspect="1"/>
          </p:cNvPicPr>
          <p:nvPr/>
        </p:nvPicPr>
        <p:blipFill>
          <a:blip r:embed="rId19"/>
          <a:srcRect l="-2083" r="-2083" t="0" b="0"/>
          <a:stretch/>
        </p:blipFill>
        <p:spPr>
          <a:xfrm>
            <a:off x="9562795" y="7381951"/>
            <a:ext cx="7925105" cy="9144"/>
          </a:xfrm>
          <a:prstGeom prst="rect">
            <a:avLst/>
          </a:prstGeom>
        </p:spPr>
      </p:pic>
      <p:sp>
        <p:nvSpPr>
          <p:cNvPr id="81" name="Shape 59"/>
          <p:cNvSpPr/>
          <p:nvPr/>
        </p:nvSpPr>
        <p:spPr>
          <a:xfrm>
            <a:off x="9562795" y="7391095"/>
            <a:ext cx="571500" cy="381305"/>
          </a:xfrm>
          <a:prstGeom prst="rect">
            <a:avLst/>
          </a:prstGeom>
          <a:solidFill>
            <a:srgbClr val="2E6F8E"/>
          </a:solidFill>
          <a:ln w="12700">
            <a:solidFill>
              <a:srgbClr val="FFFFFF">
                <a:alpha val="0"/>
              </a:srgbClr>
            </a:solidFill>
            <a:prstDash val="solid"/>
          </a:ln>
        </p:spPr>
      </p:sp>
      <p:sp>
        <p:nvSpPr>
          <p:cNvPr id="82" name="Shape 60"/>
          <p:cNvSpPr/>
          <p:nvPr/>
        </p:nvSpPr>
        <p:spPr>
          <a:xfrm>
            <a:off x="15583205" y="7448702"/>
            <a:ext cx="1714500" cy="267005"/>
          </a:xfrm>
          <a:prstGeom prst="rect">
            <a:avLst/>
          </a:prstGeom>
          <a:solidFill>
            <a:srgbClr val="F2E2C7"/>
          </a:solidFill>
          <a:ln w="12700">
            <a:solidFill>
              <a:srgbClr val="FFFFFF">
                <a:alpha val="0"/>
              </a:srgbClr>
            </a:solidFill>
            <a:prstDash val="solid"/>
          </a:ln>
        </p:spPr>
      </p:sp>
      <p:pic>
        <p:nvPicPr>
          <p:cNvPr id="83" name="Image 19" descr="gen-dedup-6954cc193310e8f8a15d3865cdd605c5.png">    </p:cNvPr>
          <p:cNvPicPr>
            <a:picLocks noChangeAspect="1"/>
          </p:cNvPicPr>
          <p:nvPr/>
        </p:nvPicPr>
        <p:blipFill>
          <a:blip r:embed="rId20"/>
          <a:srcRect l="-2083" r="-2083" t="0" b="0"/>
          <a:stretch/>
        </p:blipFill>
        <p:spPr>
          <a:xfrm>
            <a:off x="9562795" y="7772400"/>
            <a:ext cx="7925105" cy="9144"/>
          </a:xfrm>
          <a:prstGeom prst="rect">
            <a:avLst/>
          </a:prstGeom>
        </p:spPr>
      </p:pic>
      <p:sp>
        <p:nvSpPr>
          <p:cNvPr id="84" name="Shape 61"/>
          <p:cNvSpPr/>
          <p:nvPr/>
        </p:nvSpPr>
        <p:spPr>
          <a:xfrm>
            <a:off x="9562795" y="7781544"/>
            <a:ext cx="571500" cy="381305"/>
          </a:xfrm>
          <a:prstGeom prst="rect">
            <a:avLst/>
          </a:prstGeom>
          <a:solidFill>
            <a:srgbClr val="C8552D"/>
          </a:solidFill>
          <a:ln w="12700">
            <a:solidFill>
              <a:srgbClr val="FFFFFF">
                <a:alpha val="0"/>
              </a:srgbClr>
            </a:solidFill>
            <a:prstDash val="solid"/>
          </a:ln>
        </p:spPr>
      </p:sp>
      <p:sp>
        <p:nvSpPr>
          <p:cNvPr id="85" name="Shape 62"/>
          <p:cNvSpPr/>
          <p:nvPr/>
        </p:nvSpPr>
        <p:spPr>
          <a:xfrm>
            <a:off x="15583205" y="7839151"/>
            <a:ext cx="1714500" cy="267005"/>
          </a:xfrm>
          <a:prstGeom prst="rect">
            <a:avLst/>
          </a:prstGeom>
          <a:solidFill>
            <a:srgbClr val="D9E1E8"/>
          </a:solidFill>
          <a:ln w="12700">
            <a:solidFill>
              <a:srgbClr val="FFFFFF">
                <a:alpha val="0"/>
              </a:srgbClr>
            </a:solidFill>
            <a:prstDash val="solid"/>
          </a:ln>
        </p:spPr>
      </p:sp>
      <p:pic>
        <p:nvPicPr>
          <p:cNvPr id="86" name="Image 20" descr="gen-dedup-6954cc193310e8f8a15d3865cdd605c5.png">    </p:cNvPr>
          <p:cNvPicPr>
            <a:picLocks noChangeAspect="1"/>
          </p:cNvPicPr>
          <p:nvPr/>
        </p:nvPicPr>
        <p:blipFill>
          <a:blip r:embed="rId21"/>
          <a:srcRect l="-2083" r="-2083" t="0" b="0"/>
          <a:stretch/>
        </p:blipFill>
        <p:spPr>
          <a:xfrm>
            <a:off x="9562795" y="8162849"/>
            <a:ext cx="7925105" cy="9144"/>
          </a:xfrm>
          <a:prstGeom prst="rect">
            <a:avLst/>
          </a:prstGeom>
        </p:spPr>
      </p:pic>
      <p:sp>
        <p:nvSpPr>
          <p:cNvPr id="87" name="Shape 63"/>
          <p:cNvSpPr/>
          <p:nvPr/>
        </p:nvSpPr>
        <p:spPr>
          <a:xfrm>
            <a:off x="9562795" y="8172907"/>
            <a:ext cx="571500" cy="381305"/>
          </a:xfrm>
          <a:prstGeom prst="rect">
            <a:avLst/>
          </a:prstGeom>
          <a:solidFill>
            <a:srgbClr val="C8552D"/>
          </a:solidFill>
          <a:ln w="12700">
            <a:solidFill>
              <a:srgbClr val="FFFFFF">
                <a:alpha val="0"/>
              </a:srgbClr>
            </a:solidFill>
            <a:prstDash val="solid"/>
          </a:ln>
        </p:spPr>
      </p:sp>
      <p:sp>
        <p:nvSpPr>
          <p:cNvPr id="88" name="Shape 64"/>
          <p:cNvSpPr/>
          <p:nvPr/>
        </p:nvSpPr>
        <p:spPr>
          <a:xfrm>
            <a:off x="15583205" y="8229600"/>
            <a:ext cx="1714500" cy="267005"/>
          </a:xfrm>
          <a:prstGeom prst="rect">
            <a:avLst/>
          </a:prstGeom>
          <a:solidFill>
            <a:srgbClr val="DCE9DF"/>
          </a:solidFill>
          <a:ln w="12700">
            <a:solidFill>
              <a:srgbClr val="FFFFFF">
                <a:alpha val="0"/>
              </a:srgbClr>
            </a:solidFill>
            <a:prstDash val="solid"/>
          </a:ln>
        </p:spPr>
      </p:sp>
      <p:pic>
        <p:nvPicPr>
          <p:cNvPr id="89" name="Image 21" descr="gen-dedup-6954cc193310e8f8a15d3865cdd605c5.png">    </p:cNvPr>
          <p:cNvPicPr>
            <a:picLocks noChangeAspect="1"/>
          </p:cNvPicPr>
          <p:nvPr/>
        </p:nvPicPr>
        <p:blipFill>
          <a:blip r:embed="rId22"/>
          <a:srcRect l="-2083" r="-2083" t="0" b="0"/>
          <a:stretch/>
        </p:blipFill>
        <p:spPr>
          <a:xfrm>
            <a:off x="9562795" y="8553298"/>
            <a:ext cx="7925105" cy="9144"/>
          </a:xfrm>
          <a:prstGeom prst="rect">
            <a:avLst/>
          </a:prstGeom>
        </p:spPr>
      </p:pic>
      <p:sp>
        <p:nvSpPr>
          <p:cNvPr id="90" name="Shape 65"/>
          <p:cNvSpPr/>
          <p:nvPr/>
        </p:nvSpPr>
        <p:spPr>
          <a:xfrm>
            <a:off x="9562795" y="8563356"/>
            <a:ext cx="571500" cy="381305"/>
          </a:xfrm>
          <a:prstGeom prst="rect">
            <a:avLst/>
          </a:prstGeom>
          <a:solidFill>
            <a:srgbClr val="C8552D"/>
          </a:solidFill>
          <a:ln w="12700">
            <a:solidFill>
              <a:srgbClr val="FFFFFF">
                <a:alpha val="0"/>
              </a:srgbClr>
            </a:solidFill>
            <a:prstDash val="solid"/>
          </a:ln>
        </p:spPr>
      </p:sp>
      <p:sp>
        <p:nvSpPr>
          <p:cNvPr id="91" name="Shape 66"/>
          <p:cNvSpPr/>
          <p:nvPr/>
        </p:nvSpPr>
        <p:spPr>
          <a:xfrm>
            <a:off x="15583205" y="8620049"/>
            <a:ext cx="1714500" cy="267005"/>
          </a:xfrm>
          <a:prstGeom prst="rect">
            <a:avLst/>
          </a:prstGeom>
          <a:solidFill>
            <a:srgbClr val="DCE9DF"/>
          </a:solidFill>
          <a:ln w="12700">
            <a:solidFill>
              <a:srgbClr val="FFFFFF">
                <a:alpha val="0"/>
              </a:srgbClr>
            </a:solidFill>
            <a:prstDash val="solid"/>
          </a:ln>
        </p:spPr>
      </p:sp>
      <p:sp>
        <p:nvSpPr>
          <p:cNvPr id="92" name="Text 67"/>
          <p:cNvSpPr txBox="1"/>
          <p:nvPr/>
        </p:nvSpPr>
        <p:spPr>
          <a:xfrm>
            <a:off x="800100" y="1447495"/>
            <a:ext cx="1905610" cy="162763"/>
          </a:xfrm>
          <a:prstGeom prst="rect">
            <a:avLst/>
          </a:prstGeom>
          <a:noFill/>
          <a:ln/>
        </p:spPr>
        <p:txBody>
          <a:bodyPr wrap="none" lIns="0" tIns="0" rIns="0" bIns="0" rtlCol="0" anchor="ctr"/>
          <a:lstStyle/>
          <a:p>
            <a:pPr algn="l" indent="0" marL="0">
              <a:buNone/>
            </a:pPr>
            <a:r>
              <a:rPr lang="en-US" sz="900" spc="144" kern="0" dirty="0">
                <a:solidFill>
                  <a:srgbClr val="7A8898"/>
                </a:solidFill>
                <a:latin typeface="Pretendard" pitchFamily="34" charset="0"/>
                <a:ea typeface="Pretendard" pitchFamily="34" charset="-122"/>
                <a:cs typeface="Pretendard" pitchFamily="34" charset="-120"/>
              </a:rPr>
              <a:t>Δ CELL LEGEND</a:t>
            </a:r>
            <a:endParaRPr lang="en-US" sz="900" dirty="0"/>
          </a:p>
        </p:txBody>
      </p:sp>
      <p:sp>
        <p:nvSpPr>
          <p:cNvPr id="93" name="Text 68"/>
          <p:cNvSpPr txBox="1"/>
          <p:nvPr/>
        </p:nvSpPr>
        <p:spPr>
          <a:xfrm>
            <a:off x="3200400" y="1447495"/>
            <a:ext cx="2667305" cy="162763"/>
          </a:xfrm>
          <a:prstGeom prst="rect">
            <a:avLst/>
          </a:prstGeom>
          <a:noFill/>
          <a:ln/>
        </p:spPr>
        <p:txBody>
          <a:bodyPr wrap="none" lIns="0" tIns="0" rIns="0" bIns="0" rtlCol="0" anchor="ctr"/>
          <a:lstStyle/>
          <a:p>
            <a:pPr algn="l" indent="0" marL="0">
              <a:buNone/>
            </a:pPr>
            <a:r>
              <a:rPr lang="en-US" sz="900" dirty="0">
                <a:solidFill>
                  <a:srgbClr val="4A6B82"/>
                </a:solidFill>
                <a:latin typeface="Pretendard" pitchFamily="34" charset="0"/>
                <a:ea typeface="Pretendard" pitchFamily="34" charset="-122"/>
                <a:cs typeface="Pretendard" pitchFamily="34" charset="-120"/>
              </a:rPr>
              <a:t>Δ &lt; 0 (under target)</a:t>
            </a:r>
            <a:endParaRPr lang="en-US" sz="900" dirty="0"/>
          </a:p>
        </p:txBody>
      </p:sp>
      <p:sp>
        <p:nvSpPr>
          <p:cNvPr id="94" name="Text 69"/>
          <p:cNvSpPr txBox="1"/>
          <p:nvPr/>
        </p:nvSpPr>
        <p:spPr>
          <a:xfrm>
            <a:off x="6439205" y="1447495"/>
            <a:ext cx="2667305" cy="162763"/>
          </a:xfrm>
          <a:prstGeom prst="rect">
            <a:avLst/>
          </a:prstGeom>
          <a:noFill/>
          <a:ln/>
        </p:spPr>
        <p:txBody>
          <a:bodyPr wrap="none" lIns="0" tIns="0" rIns="0" bIns="0" rtlCol="0" anchor="ctr"/>
          <a:lstStyle/>
          <a:p>
            <a:pPr algn="l" indent="0" marL="0">
              <a:buNone/>
            </a:pPr>
            <a:r>
              <a:rPr lang="en-US" sz="900" dirty="0">
                <a:solidFill>
                  <a:srgbClr val="3F6F52"/>
                </a:solidFill>
                <a:latin typeface="Pretendard" pitchFamily="34" charset="0"/>
                <a:ea typeface="Pretendard" pitchFamily="34" charset="-122"/>
                <a:cs typeface="Pretendard" pitchFamily="34" charset="-120"/>
              </a:rPr>
              <a:t>Δ ∈ [0, +tol] (within)</a:t>
            </a:r>
            <a:endParaRPr lang="en-US" sz="900" dirty="0"/>
          </a:p>
        </p:txBody>
      </p:sp>
      <p:sp>
        <p:nvSpPr>
          <p:cNvPr id="95" name="Text 70"/>
          <p:cNvSpPr txBox="1"/>
          <p:nvPr/>
        </p:nvSpPr>
        <p:spPr>
          <a:xfrm>
            <a:off x="9677095" y="1447495"/>
            <a:ext cx="2667305" cy="162763"/>
          </a:xfrm>
          <a:prstGeom prst="rect">
            <a:avLst/>
          </a:prstGeom>
          <a:noFill/>
          <a:ln/>
        </p:spPr>
        <p:txBody>
          <a:bodyPr wrap="none" lIns="0" tIns="0" rIns="0" bIns="0" rtlCol="0" anchor="ctr"/>
          <a:lstStyle/>
          <a:p>
            <a:pPr algn="l" indent="0" marL="0">
              <a:buNone/>
            </a:pPr>
            <a:r>
              <a:rPr lang="en-US" sz="900" dirty="0">
                <a:solidFill>
                  <a:srgbClr val="B47A1F"/>
                </a:solidFill>
                <a:latin typeface="Pretendard" pitchFamily="34" charset="0"/>
                <a:ea typeface="Pretendard" pitchFamily="34" charset="-122"/>
                <a:cs typeface="Pretendard" pitchFamily="34" charset="-120"/>
              </a:rPr>
              <a:t>Δ ∈ [+tol, +2tol] (margin)</a:t>
            </a:r>
            <a:endParaRPr lang="en-US" sz="900" dirty="0"/>
          </a:p>
        </p:txBody>
      </p:sp>
      <p:sp>
        <p:nvSpPr>
          <p:cNvPr id="96" name="Text 71"/>
          <p:cNvSpPr txBox="1"/>
          <p:nvPr/>
        </p:nvSpPr>
        <p:spPr>
          <a:xfrm>
            <a:off x="12915900" y="1447495"/>
            <a:ext cx="4763110" cy="162763"/>
          </a:xfrm>
          <a:prstGeom prst="rect">
            <a:avLst/>
          </a:prstGeom>
          <a:noFill/>
          <a:ln/>
        </p:spPr>
        <p:txBody>
          <a:bodyPr wrap="none" lIns="0" tIns="0" rIns="0" bIns="0" rtlCol="0" anchor="ctr"/>
          <a:lstStyle/>
          <a:p>
            <a:pPr algn="l" indent="0" marL="0">
              <a:buNone/>
            </a:pPr>
            <a:r>
              <a:rPr lang="en-US" sz="900" dirty="0">
                <a:solidFill>
                  <a:srgbClr val="B43F2D"/>
                </a:solidFill>
                <a:latin typeface="Pretendard" pitchFamily="34" charset="0"/>
                <a:ea typeface="Pretendard" pitchFamily="34" charset="-122"/>
                <a:cs typeface="Pretendard" pitchFamily="34" charset="-120"/>
              </a:rPr>
              <a:t>Δ &gt; +2tol or |Δ| &gt; tol · OOT</a:t>
            </a:r>
            <a:endParaRPr lang="en-US" sz="900" dirty="0"/>
          </a:p>
        </p:txBody>
      </p:sp>
      <p:sp>
        <p:nvSpPr>
          <p:cNvPr id="97" name="Text 72"/>
          <p:cNvSpPr txBox="1"/>
          <p:nvPr/>
        </p:nvSpPr>
        <p:spPr>
          <a:xfrm>
            <a:off x="800100" y="2018995"/>
            <a:ext cx="5715000" cy="333756"/>
          </a:xfrm>
          <a:prstGeom prst="rect">
            <a:avLst/>
          </a:prstGeom>
          <a:noFill/>
          <a:ln/>
        </p:spPr>
        <p:txBody>
          <a:bodyPr wrap="non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CD · 1 / 4</a:t>
            </a:r>
            <a:pPr algn="l" indent="0" marL="0">
              <a:buNone/>
            </a:pPr>
            <a:r>
              <a:rPr lang="en-US" sz="1650" b="1" dirty="0">
                <a:solidFill>
                  <a:srgbClr val="FFFFFF"/>
                </a:solidFill>
                <a:latin typeface="Pretendard" pitchFamily="34" charset="0"/>
                <a:ea typeface="Pretendard" pitchFamily="34" charset="-122"/>
                <a:cs typeface="Pretendard" pitchFamily="34" charset="-120"/>
              </a:rPr>
              <a:t>AASI</a:t>
            </a:r>
            <a:pPr algn="l" indent="0" marL="0">
              <a:buNone/>
            </a:pPr>
            <a:r>
              <a:rPr lang="en-US" sz="975" dirty="0">
                <a:solidFill>
                  <a:srgbClr val="FFFFFF"/>
                </a:solidFill>
                <a:latin typeface="Pretendard" pitchFamily="34" charset="0"/>
                <a:ea typeface="Pretendard" pitchFamily="34" charset="-122"/>
                <a:cs typeface="Pretendard" pitchFamily="34" charset="-120"/>
              </a:rPr>
              <a:t>After-spacer sidewall inspection</a:t>
            </a:r>
            <a:endParaRPr lang="en-US" sz="1200" dirty="0"/>
          </a:p>
        </p:txBody>
      </p:sp>
      <p:sp>
        <p:nvSpPr>
          <p:cNvPr id="98" name="Text 73"/>
          <p:cNvSpPr txBox="1"/>
          <p:nvPr/>
        </p:nvSpPr>
        <p:spPr>
          <a:xfrm>
            <a:off x="800100" y="2057400"/>
            <a:ext cx="8001000" cy="305410"/>
          </a:xfrm>
          <a:prstGeom prst="rect">
            <a:avLst/>
          </a:prstGeom>
          <a:noFill/>
          <a:ln/>
        </p:spPr>
        <p:txBody>
          <a:bodyPr wrap="none" lIns="0" tIns="0" rIns="0" bIns="0" rtlCol="0" anchor="ctr"/>
          <a:lstStyle/>
          <a:p>
            <a:pPr algn="r" indent="0" marL="0">
              <a:buNone/>
            </a:pPr>
            <a:r>
              <a:rPr lang="en-US" sz="975" dirty="0">
                <a:solidFill>
                  <a:srgbClr val="FFFFFF"/>
                </a:solidFill>
                <a:latin typeface="Pretendard" pitchFamily="34" charset="0"/>
                <a:ea typeface="Pretendard" pitchFamily="34" charset="-122"/>
                <a:cs typeface="Pretendard" pitchFamily="34" charset="-120"/>
              </a:rPr>
              <a:t>Target 23.80 nm · Tol ± 0.40</a:t>
            </a:r>
            <a:endParaRPr lang="en-US" sz="1200" dirty="0"/>
          </a:p>
        </p:txBody>
      </p:sp>
      <p:sp>
        <p:nvSpPr>
          <p:cNvPr id="99" name="Shape 74"/>
          <p:cNvSpPr/>
          <p:nvPr/>
        </p:nvSpPr>
        <p:spPr>
          <a:xfrm>
            <a:off x="800100" y="2533802"/>
            <a:ext cx="7925105" cy="342900"/>
          </a:xfrm>
          <a:prstGeom prst="rect">
            <a:avLst/>
          </a:prstGeom>
          <a:solidFill>
            <a:srgbClr val="1B2535"/>
          </a:solidFill>
          <a:ln w="12700">
            <a:solidFill>
              <a:srgbClr val="FFFFFF">
                <a:alpha val="0"/>
              </a:srgbClr>
            </a:solidFill>
            <a:prstDash val="solid"/>
          </a:ln>
        </p:spPr>
      </p:sp>
      <p:sp>
        <p:nvSpPr>
          <p:cNvPr id="100" name="Text 75"/>
          <p:cNvSpPr txBox="1"/>
          <p:nvPr/>
        </p:nvSpPr>
        <p:spPr>
          <a:xfrm>
            <a:off x="2286000" y="2876702"/>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23.60</a:t>
            </a:r>
            <a:endParaRPr lang="en-US" sz="1125" dirty="0"/>
          </a:p>
        </p:txBody>
      </p:sp>
      <p:sp>
        <p:nvSpPr>
          <p:cNvPr id="101" name="Text 76"/>
          <p:cNvSpPr txBox="1"/>
          <p:nvPr/>
        </p:nvSpPr>
        <p:spPr>
          <a:xfrm>
            <a:off x="3829507" y="2876702"/>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0.82</a:t>
            </a:r>
            <a:endParaRPr lang="en-US" sz="1125" dirty="0"/>
          </a:p>
        </p:txBody>
      </p:sp>
      <p:sp>
        <p:nvSpPr>
          <p:cNvPr id="102" name="Text 77"/>
          <p:cNvSpPr txBox="1"/>
          <p:nvPr/>
        </p:nvSpPr>
        <p:spPr>
          <a:xfrm>
            <a:off x="5238598" y="2876702"/>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4.21</a:t>
            </a:r>
            <a:endParaRPr lang="en-US" sz="1125" dirty="0"/>
          </a:p>
        </p:txBody>
      </p:sp>
      <p:sp>
        <p:nvSpPr>
          <p:cNvPr id="103" name="Text 78"/>
          <p:cNvSpPr txBox="1"/>
          <p:nvPr/>
        </p:nvSpPr>
        <p:spPr>
          <a:xfrm>
            <a:off x="2286000" y="3286354"/>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23.90</a:t>
            </a:r>
            <a:endParaRPr lang="en-US" sz="1125" dirty="0"/>
          </a:p>
        </p:txBody>
      </p:sp>
      <p:sp>
        <p:nvSpPr>
          <p:cNvPr id="104" name="Text 79"/>
          <p:cNvSpPr txBox="1"/>
          <p:nvPr/>
        </p:nvSpPr>
        <p:spPr>
          <a:xfrm>
            <a:off x="3829507" y="3286354"/>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0.71</a:t>
            </a:r>
            <a:endParaRPr lang="en-US" sz="1125" dirty="0"/>
          </a:p>
        </p:txBody>
      </p:sp>
      <p:sp>
        <p:nvSpPr>
          <p:cNvPr id="105" name="Text 80"/>
          <p:cNvSpPr txBox="1"/>
          <p:nvPr/>
        </p:nvSpPr>
        <p:spPr>
          <a:xfrm>
            <a:off x="5238598" y="3286354"/>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3.65</a:t>
            </a:r>
            <a:endParaRPr lang="en-US" sz="1125" dirty="0"/>
          </a:p>
        </p:txBody>
      </p:sp>
      <p:sp>
        <p:nvSpPr>
          <p:cNvPr id="106" name="Text 81"/>
          <p:cNvSpPr txBox="1"/>
          <p:nvPr/>
        </p:nvSpPr>
        <p:spPr>
          <a:xfrm>
            <a:off x="2286000" y="3696005"/>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24.10</a:t>
            </a:r>
            <a:endParaRPr lang="en-US" sz="1125" dirty="0"/>
          </a:p>
        </p:txBody>
      </p:sp>
      <p:sp>
        <p:nvSpPr>
          <p:cNvPr id="107" name="Text 82"/>
          <p:cNvSpPr txBox="1"/>
          <p:nvPr/>
        </p:nvSpPr>
        <p:spPr>
          <a:xfrm>
            <a:off x="3829507" y="3696005"/>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0.95</a:t>
            </a:r>
            <a:endParaRPr lang="en-US" sz="1125" dirty="0"/>
          </a:p>
        </p:txBody>
      </p:sp>
      <p:sp>
        <p:nvSpPr>
          <p:cNvPr id="108" name="Text 83"/>
          <p:cNvSpPr txBox="1"/>
          <p:nvPr/>
        </p:nvSpPr>
        <p:spPr>
          <a:xfrm>
            <a:off x="5238598" y="3696005"/>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4.88</a:t>
            </a:r>
            <a:endParaRPr lang="en-US" sz="1125" dirty="0"/>
          </a:p>
        </p:txBody>
      </p:sp>
      <p:sp>
        <p:nvSpPr>
          <p:cNvPr id="109" name="Text 84"/>
          <p:cNvSpPr txBox="1"/>
          <p:nvPr/>
        </p:nvSpPr>
        <p:spPr>
          <a:xfrm>
            <a:off x="2286000" y="4105656"/>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23.70</a:t>
            </a:r>
            <a:endParaRPr lang="en-US" sz="1125" dirty="0"/>
          </a:p>
        </p:txBody>
      </p:sp>
      <p:sp>
        <p:nvSpPr>
          <p:cNvPr id="110" name="Text 85"/>
          <p:cNvSpPr txBox="1"/>
          <p:nvPr/>
        </p:nvSpPr>
        <p:spPr>
          <a:xfrm>
            <a:off x="3829507" y="4105656"/>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0.66</a:t>
            </a:r>
            <a:endParaRPr lang="en-US" sz="1125" dirty="0"/>
          </a:p>
        </p:txBody>
      </p:sp>
      <p:sp>
        <p:nvSpPr>
          <p:cNvPr id="111" name="Text 86"/>
          <p:cNvSpPr txBox="1"/>
          <p:nvPr/>
        </p:nvSpPr>
        <p:spPr>
          <a:xfrm>
            <a:off x="5238598" y="4105656"/>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3.42</a:t>
            </a:r>
            <a:endParaRPr lang="en-US" sz="1125" dirty="0"/>
          </a:p>
        </p:txBody>
      </p:sp>
      <p:sp>
        <p:nvSpPr>
          <p:cNvPr id="112" name="Text 87"/>
          <p:cNvSpPr txBox="1"/>
          <p:nvPr/>
        </p:nvSpPr>
        <p:spPr>
          <a:xfrm>
            <a:off x="2286000" y="4515307"/>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23.90</a:t>
            </a:r>
            <a:endParaRPr lang="en-US" sz="1125" dirty="0"/>
          </a:p>
        </p:txBody>
      </p:sp>
      <p:sp>
        <p:nvSpPr>
          <p:cNvPr id="113" name="Text 88"/>
          <p:cNvSpPr txBox="1"/>
          <p:nvPr/>
        </p:nvSpPr>
        <p:spPr>
          <a:xfrm>
            <a:off x="3829507" y="4515307"/>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0.58</a:t>
            </a:r>
            <a:endParaRPr lang="en-US" sz="1125" dirty="0"/>
          </a:p>
        </p:txBody>
      </p:sp>
      <p:sp>
        <p:nvSpPr>
          <p:cNvPr id="114" name="Text 89"/>
          <p:cNvSpPr txBox="1"/>
          <p:nvPr/>
        </p:nvSpPr>
        <p:spPr>
          <a:xfrm>
            <a:off x="5238598" y="4515307"/>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2.94</a:t>
            </a:r>
            <a:endParaRPr lang="en-US" sz="1125" dirty="0"/>
          </a:p>
        </p:txBody>
      </p:sp>
      <p:sp>
        <p:nvSpPr>
          <p:cNvPr id="115" name="Text 90"/>
          <p:cNvSpPr txBox="1"/>
          <p:nvPr/>
        </p:nvSpPr>
        <p:spPr>
          <a:xfrm>
            <a:off x="2286000" y="4924044"/>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24.00</a:t>
            </a:r>
            <a:endParaRPr lang="en-US" sz="1125" dirty="0"/>
          </a:p>
        </p:txBody>
      </p:sp>
      <p:sp>
        <p:nvSpPr>
          <p:cNvPr id="116" name="Text 91"/>
          <p:cNvSpPr txBox="1"/>
          <p:nvPr/>
        </p:nvSpPr>
        <p:spPr>
          <a:xfrm>
            <a:off x="3829507" y="4924044"/>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0.74</a:t>
            </a:r>
            <a:endParaRPr lang="en-US" sz="1125" dirty="0"/>
          </a:p>
        </p:txBody>
      </p:sp>
      <p:sp>
        <p:nvSpPr>
          <p:cNvPr id="117" name="Text 92"/>
          <p:cNvSpPr txBox="1"/>
          <p:nvPr/>
        </p:nvSpPr>
        <p:spPr>
          <a:xfrm>
            <a:off x="5238598" y="4924044"/>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3.81</a:t>
            </a:r>
            <a:endParaRPr lang="en-US" sz="1125" dirty="0"/>
          </a:p>
        </p:txBody>
      </p:sp>
      <p:sp>
        <p:nvSpPr>
          <p:cNvPr id="118" name="Text 93"/>
          <p:cNvSpPr txBox="1"/>
          <p:nvPr/>
        </p:nvSpPr>
        <p:spPr>
          <a:xfrm>
            <a:off x="9562795" y="2018995"/>
            <a:ext cx="5715000" cy="333756"/>
          </a:xfrm>
          <a:prstGeom prst="rect">
            <a:avLst/>
          </a:prstGeom>
          <a:noFill/>
          <a:ln/>
        </p:spPr>
        <p:txBody>
          <a:bodyPr wrap="non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CD · 2 / 4</a:t>
            </a:r>
            <a:pPr algn="l" indent="0" marL="0">
              <a:buNone/>
            </a:pPr>
            <a:r>
              <a:rPr lang="en-US" sz="1650" b="1" dirty="0">
                <a:solidFill>
                  <a:srgbClr val="FFFFFF"/>
                </a:solidFill>
                <a:latin typeface="Pretendard" pitchFamily="34" charset="0"/>
                <a:ea typeface="Pretendard" pitchFamily="34" charset="-122"/>
                <a:cs typeface="Pretendard" pitchFamily="34" charset="-120"/>
              </a:rPr>
              <a:t>ASEI</a:t>
            </a:r>
            <a:pPr algn="l" indent="0" marL="0">
              <a:buNone/>
            </a:pPr>
            <a:r>
              <a:rPr lang="en-US" sz="975" dirty="0">
                <a:solidFill>
                  <a:srgbClr val="FFFFFF"/>
                </a:solidFill>
                <a:latin typeface="Pretendard" pitchFamily="34" charset="0"/>
                <a:ea typeface="Pretendard" pitchFamily="34" charset="-122"/>
                <a:cs typeface="Pretendard" pitchFamily="34" charset="-120"/>
              </a:rPr>
              <a:t>After-spacer etch inspection</a:t>
            </a:r>
            <a:endParaRPr lang="en-US" sz="1200" dirty="0"/>
          </a:p>
        </p:txBody>
      </p:sp>
      <p:sp>
        <p:nvSpPr>
          <p:cNvPr id="119" name="Text 94"/>
          <p:cNvSpPr txBox="1"/>
          <p:nvPr/>
        </p:nvSpPr>
        <p:spPr>
          <a:xfrm>
            <a:off x="9562795" y="2057400"/>
            <a:ext cx="8001000" cy="305410"/>
          </a:xfrm>
          <a:prstGeom prst="rect">
            <a:avLst/>
          </a:prstGeom>
          <a:noFill/>
          <a:ln/>
        </p:spPr>
        <p:txBody>
          <a:bodyPr wrap="none" lIns="0" tIns="0" rIns="0" bIns="0" rtlCol="0" anchor="ctr"/>
          <a:lstStyle/>
          <a:p>
            <a:pPr algn="r" indent="0" marL="0">
              <a:buNone/>
            </a:pPr>
            <a:r>
              <a:rPr lang="en-US" sz="975" dirty="0">
                <a:solidFill>
                  <a:srgbClr val="FFFFFF"/>
                </a:solidFill>
                <a:latin typeface="Pretendard" pitchFamily="34" charset="0"/>
                <a:ea typeface="Pretendard" pitchFamily="34" charset="-122"/>
                <a:cs typeface="Pretendard" pitchFamily="34" charset="-120"/>
              </a:rPr>
              <a:t>Target 15.30 nm · Tol ± 0.30</a:t>
            </a:r>
            <a:endParaRPr lang="en-US" sz="1200" dirty="0"/>
          </a:p>
        </p:txBody>
      </p:sp>
      <p:sp>
        <p:nvSpPr>
          <p:cNvPr id="120" name="Shape 95"/>
          <p:cNvSpPr/>
          <p:nvPr/>
        </p:nvSpPr>
        <p:spPr>
          <a:xfrm>
            <a:off x="9562795" y="2533802"/>
            <a:ext cx="7925105" cy="342900"/>
          </a:xfrm>
          <a:prstGeom prst="rect">
            <a:avLst/>
          </a:prstGeom>
          <a:solidFill>
            <a:srgbClr val="1B2535"/>
          </a:solidFill>
          <a:ln w="12700">
            <a:solidFill>
              <a:srgbClr val="FFFFFF">
                <a:alpha val="0"/>
              </a:srgbClr>
            </a:solidFill>
            <a:prstDash val="solid"/>
          </a:ln>
        </p:spPr>
      </p:sp>
      <p:sp>
        <p:nvSpPr>
          <p:cNvPr id="121" name="Text 96"/>
          <p:cNvSpPr txBox="1"/>
          <p:nvPr/>
        </p:nvSpPr>
        <p:spPr>
          <a:xfrm>
            <a:off x="11048695" y="2876702"/>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15.10</a:t>
            </a:r>
            <a:endParaRPr lang="en-US" sz="1125" dirty="0"/>
          </a:p>
        </p:txBody>
      </p:sp>
      <p:sp>
        <p:nvSpPr>
          <p:cNvPr id="122" name="Text 97"/>
          <p:cNvSpPr txBox="1"/>
          <p:nvPr/>
        </p:nvSpPr>
        <p:spPr>
          <a:xfrm>
            <a:off x="12592202" y="2876702"/>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0.54</a:t>
            </a:r>
            <a:endParaRPr lang="en-US" sz="1125" dirty="0"/>
          </a:p>
        </p:txBody>
      </p:sp>
      <p:sp>
        <p:nvSpPr>
          <p:cNvPr id="123" name="Text 98"/>
          <p:cNvSpPr txBox="1"/>
          <p:nvPr/>
        </p:nvSpPr>
        <p:spPr>
          <a:xfrm>
            <a:off x="14002207" y="2876702"/>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2.78</a:t>
            </a:r>
            <a:endParaRPr lang="en-US" sz="1125" dirty="0"/>
          </a:p>
        </p:txBody>
      </p:sp>
      <p:sp>
        <p:nvSpPr>
          <p:cNvPr id="124" name="Text 99"/>
          <p:cNvSpPr txBox="1"/>
          <p:nvPr/>
        </p:nvSpPr>
        <p:spPr>
          <a:xfrm>
            <a:off x="11048695" y="3286354"/>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15.40</a:t>
            </a:r>
            <a:endParaRPr lang="en-US" sz="1125" dirty="0"/>
          </a:p>
        </p:txBody>
      </p:sp>
      <p:sp>
        <p:nvSpPr>
          <p:cNvPr id="125" name="Text 100"/>
          <p:cNvSpPr txBox="1"/>
          <p:nvPr/>
        </p:nvSpPr>
        <p:spPr>
          <a:xfrm>
            <a:off x="12592202" y="3286354"/>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0.42</a:t>
            </a:r>
            <a:endParaRPr lang="en-US" sz="1125" dirty="0"/>
          </a:p>
        </p:txBody>
      </p:sp>
      <p:sp>
        <p:nvSpPr>
          <p:cNvPr id="126" name="Text 101"/>
          <p:cNvSpPr txBox="1"/>
          <p:nvPr/>
        </p:nvSpPr>
        <p:spPr>
          <a:xfrm>
            <a:off x="14002207" y="3286354"/>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2.16</a:t>
            </a:r>
            <a:endParaRPr lang="en-US" sz="1125" dirty="0"/>
          </a:p>
        </p:txBody>
      </p:sp>
      <p:sp>
        <p:nvSpPr>
          <p:cNvPr id="127" name="Text 102"/>
          <p:cNvSpPr txBox="1"/>
          <p:nvPr/>
        </p:nvSpPr>
        <p:spPr>
          <a:xfrm>
            <a:off x="11048695" y="3696005"/>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15.50</a:t>
            </a:r>
            <a:endParaRPr lang="en-US" sz="1125" dirty="0"/>
          </a:p>
        </p:txBody>
      </p:sp>
      <p:sp>
        <p:nvSpPr>
          <p:cNvPr id="128" name="Text 103"/>
          <p:cNvSpPr txBox="1"/>
          <p:nvPr/>
        </p:nvSpPr>
        <p:spPr>
          <a:xfrm>
            <a:off x="12592202" y="3696005"/>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0.61</a:t>
            </a:r>
            <a:endParaRPr lang="en-US" sz="1125" dirty="0"/>
          </a:p>
        </p:txBody>
      </p:sp>
      <p:sp>
        <p:nvSpPr>
          <p:cNvPr id="129" name="Text 104"/>
          <p:cNvSpPr txBox="1"/>
          <p:nvPr/>
        </p:nvSpPr>
        <p:spPr>
          <a:xfrm>
            <a:off x="14002207" y="3696005"/>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3.12</a:t>
            </a:r>
            <a:endParaRPr lang="en-US" sz="1125" dirty="0"/>
          </a:p>
        </p:txBody>
      </p:sp>
      <p:sp>
        <p:nvSpPr>
          <p:cNvPr id="130" name="Text 105"/>
          <p:cNvSpPr txBox="1"/>
          <p:nvPr/>
        </p:nvSpPr>
        <p:spPr>
          <a:xfrm>
            <a:off x="11048695" y="4105656"/>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15.20</a:t>
            </a:r>
            <a:endParaRPr lang="en-US" sz="1125" dirty="0"/>
          </a:p>
        </p:txBody>
      </p:sp>
      <p:sp>
        <p:nvSpPr>
          <p:cNvPr id="131" name="Text 106"/>
          <p:cNvSpPr txBox="1"/>
          <p:nvPr/>
        </p:nvSpPr>
        <p:spPr>
          <a:xfrm>
            <a:off x="12592202" y="4105656"/>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0.41</a:t>
            </a:r>
            <a:endParaRPr lang="en-US" sz="1125" dirty="0"/>
          </a:p>
        </p:txBody>
      </p:sp>
      <p:sp>
        <p:nvSpPr>
          <p:cNvPr id="132" name="Text 107"/>
          <p:cNvSpPr txBox="1"/>
          <p:nvPr/>
        </p:nvSpPr>
        <p:spPr>
          <a:xfrm>
            <a:off x="14002207" y="4105656"/>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2.10</a:t>
            </a:r>
            <a:endParaRPr lang="en-US" sz="1125" dirty="0"/>
          </a:p>
        </p:txBody>
      </p:sp>
      <p:sp>
        <p:nvSpPr>
          <p:cNvPr id="133" name="Text 108"/>
          <p:cNvSpPr txBox="1"/>
          <p:nvPr/>
        </p:nvSpPr>
        <p:spPr>
          <a:xfrm>
            <a:off x="11048695" y="4515307"/>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15.30</a:t>
            </a:r>
            <a:endParaRPr lang="en-US" sz="1125" dirty="0"/>
          </a:p>
        </p:txBody>
      </p:sp>
      <p:sp>
        <p:nvSpPr>
          <p:cNvPr id="134" name="Text 109"/>
          <p:cNvSpPr txBox="1"/>
          <p:nvPr/>
        </p:nvSpPr>
        <p:spPr>
          <a:xfrm>
            <a:off x="12592202" y="4515307"/>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0.36</a:t>
            </a:r>
            <a:endParaRPr lang="en-US" sz="1125" dirty="0"/>
          </a:p>
        </p:txBody>
      </p:sp>
      <p:sp>
        <p:nvSpPr>
          <p:cNvPr id="135" name="Text 110"/>
          <p:cNvSpPr txBox="1"/>
          <p:nvPr/>
        </p:nvSpPr>
        <p:spPr>
          <a:xfrm>
            <a:off x="14002207" y="4515307"/>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1.84</a:t>
            </a:r>
            <a:endParaRPr lang="en-US" sz="1125" dirty="0"/>
          </a:p>
        </p:txBody>
      </p:sp>
      <p:sp>
        <p:nvSpPr>
          <p:cNvPr id="136" name="Text 111"/>
          <p:cNvSpPr txBox="1"/>
          <p:nvPr/>
        </p:nvSpPr>
        <p:spPr>
          <a:xfrm>
            <a:off x="11048695" y="4924044"/>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15.40</a:t>
            </a:r>
            <a:endParaRPr lang="en-US" sz="1125" dirty="0"/>
          </a:p>
        </p:txBody>
      </p:sp>
      <p:sp>
        <p:nvSpPr>
          <p:cNvPr id="137" name="Text 112"/>
          <p:cNvSpPr txBox="1"/>
          <p:nvPr/>
        </p:nvSpPr>
        <p:spPr>
          <a:xfrm>
            <a:off x="12592202" y="4924044"/>
            <a:ext cx="1239012"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0.49</a:t>
            </a:r>
            <a:endParaRPr lang="en-US" sz="1125" dirty="0"/>
          </a:p>
        </p:txBody>
      </p:sp>
      <p:sp>
        <p:nvSpPr>
          <p:cNvPr id="138" name="Text 113"/>
          <p:cNvSpPr txBox="1"/>
          <p:nvPr/>
        </p:nvSpPr>
        <p:spPr>
          <a:xfrm>
            <a:off x="14002207" y="4924044"/>
            <a:ext cx="1334110" cy="400507"/>
          </a:xfrm>
          <a:prstGeom prst="rect">
            <a:avLst/>
          </a:prstGeom>
          <a:noFill/>
          <a:ln/>
        </p:spPr>
        <p:txBody>
          <a:bodyPr wrap="none" lIns="0" tIns="0" rIns="0" bIns="0" rtlCol="0" anchor="ctr"/>
          <a:lstStyle/>
          <a:p>
            <a:pPr algn="r" indent="0" marL="0">
              <a:buNone/>
            </a:pPr>
            <a:r>
              <a:rPr lang="en-US" sz="1125" dirty="0">
                <a:solidFill>
                  <a:srgbClr val="1B2535"/>
                </a:solidFill>
                <a:latin typeface="Pretendard" pitchFamily="34" charset="0"/>
                <a:ea typeface="Pretendard" pitchFamily="34" charset="-122"/>
                <a:cs typeface="Pretendard" pitchFamily="34" charset="-120"/>
              </a:rPr>
              <a:t>2.52</a:t>
            </a:r>
            <a:endParaRPr lang="en-US" sz="1125" dirty="0"/>
          </a:p>
        </p:txBody>
      </p:sp>
      <p:sp>
        <p:nvSpPr>
          <p:cNvPr id="139" name="Text 114"/>
          <p:cNvSpPr txBox="1"/>
          <p:nvPr/>
        </p:nvSpPr>
        <p:spPr>
          <a:xfrm>
            <a:off x="800100" y="5772607"/>
            <a:ext cx="5715000" cy="333756"/>
          </a:xfrm>
          <a:prstGeom prst="rect">
            <a:avLst/>
          </a:prstGeom>
          <a:noFill/>
          <a:ln/>
        </p:spPr>
        <p:txBody>
          <a:bodyPr wrap="non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CD · 3 / 4</a:t>
            </a:r>
            <a:pPr algn="l" indent="0" marL="0">
              <a:buNone/>
            </a:pPr>
            <a:r>
              <a:rPr lang="en-US" sz="1650" b="1" dirty="0">
                <a:solidFill>
                  <a:srgbClr val="FFFFFF"/>
                </a:solidFill>
                <a:latin typeface="Pretendard" pitchFamily="34" charset="0"/>
                <a:ea typeface="Pretendard" pitchFamily="34" charset="-122"/>
                <a:cs typeface="Pretendard" pitchFamily="34" charset="-120"/>
              </a:rPr>
              <a:t>AMI</a:t>
            </a:r>
            <a:pPr algn="l" indent="0" marL="0">
              <a:buNone/>
            </a:pPr>
            <a:r>
              <a:rPr lang="en-US" sz="975" dirty="0">
                <a:solidFill>
                  <a:srgbClr val="FFFFFF"/>
                </a:solidFill>
                <a:latin typeface="Pretendard" pitchFamily="34" charset="0"/>
                <a:ea typeface="Pretendard" pitchFamily="34" charset="-122"/>
                <a:cs typeface="Pretendard" pitchFamily="34" charset="-120"/>
              </a:rPr>
              <a:t>After-metal inspection</a:t>
            </a:r>
            <a:endParaRPr lang="en-US" sz="1200" dirty="0"/>
          </a:p>
        </p:txBody>
      </p:sp>
      <p:sp>
        <p:nvSpPr>
          <p:cNvPr id="140" name="Text 115"/>
          <p:cNvSpPr txBox="1"/>
          <p:nvPr/>
        </p:nvSpPr>
        <p:spPr>
          <a:xfrm>
            <a:off x="800100" y="5810098"/>
            <a:ext cx="8001000" cy="305410"/>
          </a:xfrm>
          <a:prstGeom prst="rect">
            <a:avLst/>
          </a:prstGeom>
          <a:noFill/>
          <a:ln/>
        </p:spPr>
        <p:txBody>
          <a:bodyPr wrap="none" lIns="0" tIns="0" rIns="0" bIns="0" rtlCol="0" anchor="ctr"/>
          <a:lstStyle/>
          <a:p>
            <a:pPr algn="r" indent="0" marL="0">
              <a:buNone/>
            </a:pPr>
            <a:r>
              <a:rPr lang="en-US" sz="975" dirty="0">
                <a:solidFill>
                  <a:srgbClr val="FFFFFF"/>
                </a:solidFill>
                <a:latin typeface="Pretendard" pitchFamily="34" charset="0"/>
                <a:ea typeface="Pretendard" pitchFamily="34" charset="-122"/>
                <a:cs typeface="Pretendard" pitchFamily="34" charset="-120"/>
              </a:rPr>
              <a:t>Target 8.50 nm · Tol ± 0.30</a:t>
            </a:r>
            <a:endParaRPr lang="en-US" sz="1200" dirty="0"/>
          </a:p>
        </p:txBody>
      </p:sp>
      <p:sp>
        <p:nvSpPr>
          <p:cNvPr id="141" name="Shape 116"/>
          <p:cNvSpPr/>
          <p:nvPr/>
        </p:nvSpPr>
        <p:spPr>
          <a:xfrm>
            <a:off x="800100" y="6286500"/>
            <a:ext cx="7925105" cy="323698"/>
          </a:xfrm>
          <a:prstGeom prst="rect">
            <a:avLst/>
          </a:prstGeom>
          <a:solidFill>
            <a:srgbClr val="1B2535"/>
          </a:solidFill>
          <a:ln w="12700">
            <a:solidFill>
              <a:srgbClr val="FFFFFF">
                <a:alpha val="0"/>
              </a:srgbClr>
            </a:solidFill>
            <a:prstDash val="solid"/>
          </a:ln>
        </p:spPr>
      </p:sp>
      <p:sp>
        <p:nvSpPr>
          <p:cNvPr id="142" name="Text 117"/>
          <p:cNvSpPr txBox="1"/>
          <p:nvPr/>
        </p:nvSpPr>
        <p:spPr>
          <a:xfrm>
            <a:off x="2286000" y="6610198"/>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8.32</a:t>
            </a:r>
            <a:endParaRPr lang="en-US" sz="1050" dirty="0"/>
          </a:p>
        </p:txBody>
      </p:sp>
      <p:sp>
        <p:nvSpPr>
          <p:cNvPr id="143" name="Text 118"/>
          <p:cNvSpPr txBox="1"/>
          <p:nvPr/>
        </p:nvSpPr>
        <p:spPr>
          <a:xfrm>
            <a:off x="3829507" y="6610198"/>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0.71</a:t>
            </a:r>
            <a:endParaRPr lang="en-US" sz="1050" dirty="0"/>
          </a:p>
        </p:txBody>
      </p:sp>
      <p:sp>
        <p:nvSpPr>
          <p:cNvPr id="144" name="Text 119"/>
          <p:cNvSpPr txBox="1"/>
          <p:nvPr/>
        </p:nvSpPr>
        <p:spPr>
          <a:xfrm>
            <a:off x="5238598" y="6610198"/>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3.65</a:t>
            </a:r>
            <a:endParaRPr lang="en-US" sz="1050" dirty="0"/>
          </a:p>
        </p:txBody>
      </p:sp>
      <p:sp>
        <p:nvSpPr>
          <p:cNvPr id="145" name="Text 120"/>
          <p:cNvSpPr txBox="1"/>
          <p:nvPr/>
        </p:nvSpPr>
        <p:spPr>
          <a:xfrm>
            <a:off x="2286000" y="7000646"/>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8.55</a:t>
            </a:r>
            <a:endParaRPr lang="en-US" sz="1050" dirty="0"/>
          </a:p>
        </p:txBody>
      </p:sp>
      <p:sp>
        <p:nvSpPr>
          <p:cNvPr id="146" name="Text 121"/>
          <p:cNvSpPr txBox="1"/>
          <p:nvPr/>
        </p:nvSpPr>
        <p:spPr>
          <a:xfrm>
            <a:off x="3829507" y="7000646"/>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0.62</a:t>
            </a:r>
            <a:endParaRPr lang="en-US" sz="1050" dirty="0"/>
          </a:p>
        </p:txBody>
      </p:sp>
      <p:sp>
        <p:nvSpPr>
          <p:cNvPr id="147" name="Text 122"/>
          <p:cNvSpPr txBox="1"/>
          <p:nvPr/>
        </p:nvSpPr>
        <p:spPr>
          <a:xfrm>
            <a:off x="5238598" y="7000646"/>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3.18</a:t>
            </a:r>
            <a:endParaRPr lang="en-US" sz="1050" dirty="0"/>
          </a:p>
        </p:txBody>
      </p:sp>
      <p:sp>
        <p:nvSpPr>
          <p:cNvPr id="148" name="Text 123"/>
          <p:cNvSpPr txBox="1"/>
          <p:nvPr/>
        </p:nvSpPr>
        <p:spPr>
          <a:xfrm>
            <a:off x="2286000" y="7391095"/>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8.71</a:t>
            </a:r>
            <a:endParaRPr lang="en-US" sz="1050" dirty="0"/>
          </a:p>
        </p:txBody>
      </p:sp>
      <p:sp>
        <p:nvSpPr>
          <p:cNvPr id="149" name="Text 124"/>
          <p:cNvSpPr txBox="1"/>
          <p:nvPr/>
        </p:nvSpPr>
        <p:spPr>
          <a:xfrm>
            <a:off x="3829507" y="7391095"/>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0.84</a:t>
            </a:r>
            <a:endParaRPr lang="en-US" sz="1050" dirty="0"/>
          </a:p>
        </p:txBody>
      </p:sp>
      <p:sp>
        <p:nvSpPr>
          <p:cNvPr id="150" name="Text 125"/>
          <p:cNvSpPr txBox="1"/>
          <p:nvPr/>
        </p:nvSpPr>
        <p:spPr>
          <a:xfrm>
            <a:off x="5238598" y="7391095"/>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4.30</a:t>
            </a:r>
            <a:endParaRPr lang="en-US" sz="1050" dirty="0"/>
          </a:p>
        </p:txBody>
      </p:sp>
      <p:sp>
        <p:nvSpPr>
          <p:cNvPr id="151" name="Text 126"/>
          <p:cNvSpPr txBox="1"/>
          <p:nvPr/>
        </p:nvSpPr>
        <p:spPr>
          <a:xfrm>
            <a:off x="2286000" y="7781544"/>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8.46</a:t>
            </a:r>
            <a:endParaRPr lang="en-US" sz="1050" dirty="0"/>
          </a:p>
        </p:txBody>
      </p:sp>
      <p:sp>
        <p:nvSpPr>
          <p:cNvPr id="152" name="Text 127"/>
          <p:cNvSpPr txBox="1"/>
          <p:nvPr/>
        </p:nvSpPr>
        <p:spPr>
          <a:xfrm>
            <a:off x="3829507" y="7781544"/>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0.55</a:t>
            </a:r>
            <a:endParaRPr lang="en-US" sz="1050" dirty="0"/>
          </a:p>
        </p:txBody>
      </p:sp>
      <p:sp>
        <p:nvSpPr>
          <p:cNvPr id="153" name="Text 128"/>
          <p:cNvSpPr txBox="1"/>
          <p:nvPr/>
        </p:nvSpPr>
        <p:spPr>
          <a:xfrm>
            <a:off x="5238598" y="7781544"/>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2.81</a:t>
            </a:r>
            <a:endParaRPr lang="en-US" sz="1050" dirty="0"/>
          </a:p>
        </p:txBody>
      </p:sp>
      <p:sp>
        <p:nvSpPr>
          <p:cNvPr id="154" name="Text 129"/>
          <p:cNvSpPr txBox="1"/>
          <p:nvPr/>
        </p:nvSpPr>
        <p:spPr>
          <a:xfrm>
            <a:off x="2286000" y="8172907"/>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8.51</a:t>
            </a:r>
            <a:endParaRPr lang="en-US" sz="1050" dirty="0"/>
          </a:p>
        </p:txBody>
      </p:sp>
      <p:sp>
        <p:nvSpPr>
          <p:cNvPr id="155" name="Text 130"/>
          <p:cNvSpPr txBox="1"/>
          <p:nvPr/>
        </p:nvSpPr>
        <p:spPr>
          <a:xfrm>
            <a:off x="3829507" y="8172907"/>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0.48</a:t>
            </a:r>
            <a:endParaRPr lang="en-US" sz="1050" dirty="0"/>
          </a:p>
        </p:txBody>
      </p:sp>
      <p:sp>
        <p:nvSpPr>
          <p:cNvPr id="156" name="Text 131"/>
          <p:cNvSpPr txBox="1"/>
          <p:nvPr/>
        </p:nvSpPr>
        <p:spPr>
          <a:xfrm>
            <a:off x="5238598" y="8172907"/>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2.46</a:t>
            </a:r>
            <a:endParaRPr lang="en-US" sz="1050" dirty="0"/>
          </a:p>
        </p:txBody>
      </p:sp>
      <p:sp>
        <p:nvSpPr>
          <p:cNvPr id="157" name="Text 132"/>
          <p:cNvSpPr txBox="1"/>
          <p:nvPr/>
        </p:nvSpPr>
        <p:spPr>
          <a:xfrm>
            <a:off x="2286000" y="8563356"/>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8.59</a:t>
            </a:r>
            <a:endParaRPr lang="en-US" sz="1050" dirty="0"/>
          </a:p>
        </p:txBody>
      </p:sp>
      <p:sp>
        <p:nvSpPr>
          <p:cNvPr id="158" name="Text 133"/>
          <p:cNvSpPr txBox="1"/>
          <p:nvPr/>
        </p:nvSpPr>
        <p:spPr>
          <a:xfrm>
            <a:off x="3829507" y="8563356"/>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0.63</a:t>
            </a:r>
            <a:endParaRPr lang="en-US" sz="1050" dirty="0"/>
          </a:p>
        </p:txBody>
      </p:sp>
      <p:sp>
        <p:nvSpPr>
          <p:cNvPr id="159" name="Text 134"/>
          <p:cNvSpPr txBox="1"/>
          <p:nvPr/>
        </p:nvSpPr>
        <p:spPr>
          <a:xfrm>
            <a:off x="5238598" y="8563356"/>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3.24</a:t>
            </a:r>
            <a:endParaRPr lang="en-US" sz="1050" dirty="0"/>
          </a:p>
        </p:txBody>
      </p:sp>
      <p:sp>
        <p:nvSpPr>
          <p:cNvPr id="160" name="Text 135"/>
          <p:cNvSpPr txBox="1"/>
          <p:nvPr/>
        </p:nvSpPr>
        <p:spPr>
          <a:xfrm>
            <a:off x="9562795" y="5772607"/>
            <a:ext cx="5715000" cy="333756"/>
          </a:xfrm>
          <a:prstGeom prst="rect">
            <a:avLst/>
          </a:prstGeom>
          <a:noFill/>
          <a:ln/>
        </p:spPr>
        <p:txBody>
          <a:bodyPr wrap="non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CD · 4 / 4</a:t>
            </a:r>
            <a:pPr algn="l" indent="0" marL="0">
              <a:buNone/>
            </a:pPr>
            <a:r>
              <a:rPr lang="en-US" sz="1650" b="1" dirty="0">
                <a:solidFill>
                  <a:srgbClr val="FFFFFF"/>
                </a:solidFill>
                <a:latin typeface="Pretendard" pitchFamily="34" charset="0"/>
                <a:ea typeface="Pretendard" pitchFamily="34" charset="-122"/>
                <a:cs typeface="Pretendard" pitchFamily="34" charset="-120"/>
              </a:rPr>
              <a:t>ACI</a:t>
            </a:r>
            <a:pPr algn="l" indent="0" marL="0">
              <a:buNone/>
            </a:pPr>
            <a:r>
              <a:rPr lang="en-US" sz="975" dirty="0">
                <a:solidFill>
                  <a:srgbClr val="FFFFFF"/>
                </a:solidFill>
                <a:latin typeface="Pretendard" pitchFamily="34" charset="0"/>
                <a:ea typeface="Pretendard" pitchFamily="34" charset="-122"/>
                <a:cs typeface="Pretendard" pitchFamily="34" charset="-120"/>
              </a:rPr>
              <a:t>After-cut inspection</a:t>
            </a:r>
            <a:endParaRPr lang="en-US" sz="1200" dirty="0"/>
          </a:p>
        </p:txBody>
      </p:sp>
      <p:sp>
        <p:nvSpPr>
          <p:cNvPr id="161" name="Text 136"/>
          <p:cNvSpPr txBox="1"/>
          <p:nvPr/>
        </p:nvSpPr>
        <p:spPr>
          <a:xfrm>
            <a:off x="9562795" y="5810098"/>
            <a:ext cx="8001000" cy="305410"/>
          </a:xfrm>
          <a:prstGeom prst="rect">
            <a:avLst/>
          </a:prstGeom>
          <a:noFill/>
          <a:ln/>
        </p:spPr>
        <p:txBody>
          <a:bodyPr wrap="none" lIns="0" tIns="0" rIns="0" bIns="0" rtlCol="0" anchor="ctr"/>
          <a:lstStyle/>
          <a:p>
            <a:pPr algn="r" indent="0" marL="0">
              <a:buNone/>
            </a:pPr>
            <a:r>
              <a:rPr lang="en-US" sz="975" dirty="0">
                <a:solidFill>
                  <a:srgbClr val="FFFFFF"/>
                </a:solidFill>
                <a:latin typeface="Pretendard" pitchFamily="34" charset="0"/>
                <a:ea typeface="Pretendard" pitchFamily="34" charset="-122"/>
                <a:cs typeface="Pretendard" pitchFamily="34" charset="-120"/>
              </a:rPr>
              <a:t>Target 9.70 nm · Tol ± 0.30</a:t>
            </a:r>
            <a:endParaRPr lang="en-US" sz="1200" dirty="0"/>
          </a:p>
        </p:txBody>
      </p:sp>
      <p:sp>
        <p:nvSpPr>
          <p:cNvPr id="162" name="Shape 137"/>
          <p:cNvSpPr/>
          <p:nvPr/>
        </p:nvSpPr>
        <p:spPr>
          <a:xfrm>
            <a:off x="9562795" y="6286500"/>
            <a:ext cx="7925105" cy="323698"/>
          </a:xfrm>
          <a:prstGeom prst="rect">
            <a:avLst/>
          </a:prstGeom>
          <a:solidFill>
            <a:srgbClr val="1B2535"/>
          </a:solidFill>
          <a:ln w="12700">
            <a:solidFill>
              <a:srgbClr val="FFFFFF">
                <a:alpha val="0"/>
              </a:srgbClr>
            </a:solidFill>
            <a:prstDash val="solid"/>
          </a:ln>
        </p:spPr>
      </p:sp>
      <p:sp>
        <p:nvSpPr>
          <p:cNvPr id="163" name="Text 138"/>
          <p:cNvSpPr txBox="1"/>
          <p:nvPr/>
        </p:nvSpPr>
        <p:spPr>
          <a:xfrm>
            <a:off x="11048695" y="6610198"/>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9.51</a:t>
            </a:r>
            <a:endParaRPr lang="en-US" sz="1050" dirty="0"/>
          </a:p>
        </p:txBody>
      </p:sp>
      <p:sp>
        <p:nvSpPr>
          <p:cNvPr id="164" name="Text 139"/>
          <p:cNvSpPr txBox="1"/>
          <p:nvPr/>
        </p:nvSpPr>
        <p:spPr>
          <a:xfrm>
            <a:off x="12592202" y="6610198"/>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0.66</a:t>
            </a:r>
            <a:endParaRPr lang="en-US" sz="1050" dirty="0"/>
          </a:p>
        </p:txBody>
      </p:sp>
      <p:sp>
        <p:nvSpPr>
          <p:cNvPr id="165" name="Text 140"/>
          <p:cNvSpPr txBox="1"/>
          <p:nvPr/>
        </p:nvSpPr>
        <p:spPr>
          <a:xfrm>
            <a:off x="14002207" y="6610198"/>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3.41</a:t>
            </a:r>
            <a:endParaRPr lang="en-US" sz="1050" dirty="0"/>
          </a:p>
        </p:txBody>
      </p:sp>
      <p:sp>
        <p:nvSpPr>
          <p:cNvPr id="166" name="Text 141"/>
          <p:cNvSpPr txBox="1"/>
          <p:nvPr/>
        </p:nvSpPr>
        <p:spPr>
          <a:xfrm>
            <a:off x="11048695" y="7000646"/>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9.74</a:t>
            </a:r>
            <a:endParaRPr lang="en-US" sz="1050" dirty="0"/>
          </a:p>
        </p:txBody>
      </p:sp>
      <p:sp>
        <p:nvSpPr>
          <p:cNvPr id="167" name="Text 142"/>
          <p:cNvSpPr txBox="1"/>
          <p:nvPr/>
        </p:nvSpPr>
        <p:spPr>
          <a:xfrm>
            <a:off x="12592202" y="7000646"/>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0.59</a:t>
            </a:r>
            <a:endParaRPr lang="en-US" sz="1050" dirty="0"/>
          </a:p>
        </p:txBody>
      </p:sp>
      <p:sp>
        <p:nvSpPr>
          <p:cNvPr id="168" name="Text 143"/>
          <p:cNvSpPr txBox="1"/>
          <p:nvPr/>
        </p:nvSpPr>
        <p:spPr>
          <a:xfrm>
            <a:off x="14002207" y="7000646"/>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3.02</a:t>
            </a:r>
            <a:endParaRPr lang="en-US" sz="1050" dirty="0"/>
          </a:p>
        </p:txBody>
      </p:sp>
      <p:sp>
        <p:nvSpPr>
          <p:cNvPr id="169" name="Text 144"/>
          <p:cNvSpPr txBox="1"/>
          <p:nvPr/>
        </p:nvSpPr>
        <p:spPr>
          <a:xfrm>
            <a:off x="11048695" y="7391095"/>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9.86</a:t>
            </a:r>
            <a:endParaRPr lang="en-US" sz="1050" dirty="0"/>
          </a:p>
        </p:txBody>
      </p:sp>
      <p:sp>
        <p:nvSpPr>
          <p:cNvPr id="170" name="Text 145"/>
          <p:cNvSpPr txBox="1"/>
          <p:nvPr/>
        </p:nvSpPr>
        <p:spPr>
          <a:xfrm>
            <a:off x="12592202" y="7391095"/>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0.78</a:t>
            </a:r>
            <a:endParaRPr lang="en-US" sz="1050" dirty="0"/>
          </a:p>
        </p:txBody>
      </p:sp>
      <p:sp>
        <p:nvSpPr>
          <p:cNvPr id="171" name="Text 146"/>
          <p:cNvSpPr txBox="1"/>
          <p:nvPr/>
        </p:nvSpPr>
        <p:spPr>
          <a:xfrm>
            <a:off x="14002207" y="7391095"/>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4.01</a:t>
            </a:r>
            <a:endParaRPr lang="en-US" sz="1050" dirty="0"/>
          </a:p>
        </p:txBody>
      </p:sp>
      <p:sp>
        <p:nvSpPr>
          <p:cNvPr id="172" name="Text 147"/>
          <p:cNvSpPr txBox="1"/>
          <p:nvPr/>
        </p:nvSpPr>
        <p:spPr>
          <a:xfrm>
            <a:off x="11048695" y="7781544"/>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9.65</a:t>
            </a:r>
            <a:endParaRPr lang="en-US" sz="1050" dirty="0"/>
          </a:p>
        </p:txBody>
      </p:sp>
      <p:sp>
        <p:nvSpPr>
          <p:cNvPr id="173" name="Text 148"/>
          <p:cNvSpPr txBox="1"/>
          <p:nvPr/>
        </p:nvSpPr>
        <p:spPr>
          <a:xfrm>
            <a:off x="12592202" y="7781544"/>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0.52</a:t>
            </a:r>
            <a:endParaRPr lang="en-US" sz="1050" dirty="0"/>
          </a:p>
        </p:txBody>
      </p:sp>
      <p:sp>
        <p:nvSpPr>
          <p:cNvPr id="174" name="Text 149"/>
          <p:cNvSpPr txBox="1"/>
          <p:nvPr/>
        </p:nvSpPr>
        <p:spPr>
          <a:xfrm>
            <a:off x="14002207" y="7781544"/>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2.67</a:t>
            </a:r>
            <a:endParaRPr lang="en-US" sz="1050" dirty="0"/>
          </a:p>
        </p:txBody>
      </p:sp>
      <p:sp>
        <p:nvSpPr>
          <p:cNvPr id="175" name="Text 150"/>
          <p:cNvSpPr txBox="1"/>
          <p:nvPr/>
        </p:nvSpPr>
        <p:spPr>
          <a:xfrm>
            <a:off x="11048695" y="8172907"/>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9.71</a:t>
            </a:r>
            <a:endParaRPr lang="en-US" sz="1050" dirty="0"/>
          </a:p>
        </p:txBody>
      </p:sp>
      <p:sp>
        <p:nvSpPr>
          <p:cNvPr id="176" name="Text 151"/>
          <p:cNvSpPr txBox="1"/>
          <p:nvPr/>
        </p:nvSpPr>
        <p:spPr>
          <a:xfrm>
            <a:off x="12592202" y="8172907"/>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0.45</a:t>
            </a:r>
            <a:endParaRPr lang="en-US" sz="1050" dirty="0"/>
          </a:p>
        </p:txBody>
      </p:sp>
      <p:sp>
        <p:nvSpPr>
          <p:cNvPr id="177" name="Text 152"/>
          <p:cNvSpPr txBox="1"/>
          <p:nvPr/>
        </p:nvSpPr>
        <p:spPr>
          <a:xfrm>
            <a:off x="14002207" y="8172907"/>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2.31</a:t>
            </a:r>
            <a:endParaRPr lang="en-US" sz="1050" dirty="0"/>
          </a:p>
        </p:txBody>
      </p:sp>
      <p:sp>
        <p:nvSpPr>
          <p:cNvPr id="178" name="Text 153"/>
          <p:cNvSpPr txBox="1"/>
          <p:nvPr/>
        </p:nvSpPr>
        <p:spPr>
          <a:xfrm>
            <a:off x="11048695" y="8563356"/>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9.78</a:t>
            </a:r>
            <a:endParaRPr lang="en-US" sz="1050" dirty="0"/>
          </a:p>
        </p:txBody>
      </p:sp>
      <p:sp>
        <p:nvSpPr>
          <p:cNvPr id="179" name="Text 154"/>
          <p:cNvSpPr txBox="1"/>
          <p:nvPr/>
        </p:nvSpPr>
        <p:spPr>
          <a:xfrm>
            <a:off x="12592202" y="8563356"/>
            <a:ext cx="1239012"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0.60</a:t>
            </a:r>
            <a:endParaRPr lang="en-US" sz="1050" dirty="0"/>
          </a:p>
        </p:txBody>
      </p:sp>
      <p:sp>
        <p:nvSpPr>
          <p:cNvPr id="180" name="Text 155"/>
          <p:cNvSpPr txBox="1"/>
          <p:nvPr/>
        </p:nvSpPr>
        <p:spPr>
          <a:xfrm>
            <a:off x="14002207" y="8563356"/>
            <a:ext cx="1334110" cy="381305"/>
          </a:xfrm>
          <a:prstGeom prst="rect">
            <a:avLst/>
          </a:prstGeom>
          <a:noFill/>
          <a:ln/>
        </p:spPr>
        <p:txBody>
          <a:bodyPr wrap="none" lIns="0" tIns="0" rIns="0" bIns="0" rtlCol="0" anchor="ctr"/>
          <a:lstStyle/>
          <a:p>
            <a:pPr algn="r" indent="0" marL="0">
              <a:buNone/>
            </a:pPr>
            <a:r>
              <a:rPr lang="en-US" sz="1050" dirty="0">
                <a:solidFill>
                  <a:srgbClr val="1B2535"/>
                </a:solidFill>
                <a:latin typeface="Pretendard" pitchFamily="34" charset="0"/>
                <a:ea typeface="Pretendard" pitchFamily="34" charset="-122"/>
                <a:cs typeface="Pretendard" pitchFamily="34" charset="-120"/>
              </a:rPr>
              <a:t>3.08</a:t>
            </a:r>
            <a:endParaRPr lang="en-US" sz="1050" dirty="0"/>
          </a:p>
        </p:txBody>
      </p:sp>
      <p:sp>
        <p:nvSpPr>
          <p:cNvPr id="181" name="Text 156"/>
          <p:cNvSpPr txBox="1"/>
          <p:nvPr/>
        </p:nvSpPr>
        <p:spPr>
          <a:xfrm>
            <a:off x="990295" y="2609698"/>
            <a:ext cx="1143000" cy="191110"/>
          </a:xfrm>
          <a:prstGeom prst="rect">
            <a:avLst/>
          </a:prstGeom>
          <a:noFill/>
          <a:ln/>
        </p:spPr>
        <p:txBody>
          <a:bodyPr wrap="none" lIns="0" tIns="0" rIns="0" bIns="0" rtlCol="0" anchor="ctr"/>
          <a:lstStyle/>
          <a:p>
            <a:pPr algn="l" indent="0" marL="0">
              <a:buNone/>
            </a:pPr>
            <a:r>
              <a:rPr lang="en-US" sz="825" spc="132" kern="0" dirty="0">
                <a:solidFill>
                  <a:srgbClr val="FFFFFF"/>
                </a:solidFill>
                <a:latin typeface="Pretendard" pitchFamily="34" charset="0"/>
                <a:ea typeface="Pretendard" pitchFamily="34" charset="-122"/>
                <a:cs typeface="Pretendard" pitchFamily="34" charset="-120"/>
              </a:rPr>
              <a:t>WAFER</a:t>
            </a:r>
            <a:endParaRPr lang="en-US" sz="825" dirty="0"/>
          </a:p>
        </p:txBody>
      </p:sp>
      <p:sp>
        <p:nvSpPr>
          <p:cNvPr id="182" name="Text 157"/>
          <p:cNvSpPr txBox="1"/>
          <p:nvPr/>
        </p:nvSpPr>
        <p:spPr>
          <a:xfrm>
            <a:off x="2286000" y="2609698"/>
            <a:ext cx="13341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MEAN</a:t>
            </a:r>
            <a:endParaRPr lang="en-US" sz="825" dirty="0"/>
          </a:p>
        </p:txBody>
      </p:sp>
      <p:sp>
        <p:nvSpPr>
          <p:cNvPr id="183" name="Text 158"/>
          <p:cNvSpPr txBox="1"/>
          <p:nvPr/>
        </p:nvSpPr>
        <p:spPr>
          <a:xfrm>
            <a:off x="3829507" y="2609698"/>
            <a:ext cx="1239012"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3σ</a:t>
            </a:r>
            <a:endParaRPr lang="en-US" sz="825" dirty="0"/>
          </a:p>
        </p:txBody>
      </p:sp>
      <p:sp>
        <p:nvSpPr>
          <p:cNvPr id="184" name="Text 159"/>
          <p:cNvSpPr txBox="1"/>
          <p:nvPr/>
        </p:nvSpPr>
        <p:spPr>
          <a:xfrm>
            <a:off x="5238598" y="2609698"/>
            <a:ext cx="13341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RANGE</a:t>
            </a:r>
            <a:endParaRPr lang="en-US" sz="825" dirty="0"/>
          </a:p>
        </p:txBody>
      </p:sp>
      <p:sp>
        <p:nvSpPr>
          <p:cNvPr id="185" name="Text 160"/>
          <p:cNvSpPr txBox="1"/>
          <p:nvPr/>
        </p:nvSpPr>
        <p:spPr>
          <a:xfrm>
            <a:off x="6724498" y="2609698"/>
            <a:ext cx="19056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Δ TO 23.80</a:t>
            </a:r>
            <a:endParaRPr lang="en-US" sz="825" dirty="0"/>
          </a:p>
        </p:txBody>
      </p:sp>
      <p:sp>
        <p:nvSpPr>
          <p:cNvPr id="186" name="Text 161"/>
          <p:cNvSpPr txBox="1"/>
          <p:nvPr/>
        </p:nvSpPr>
        <p:spPr>
          <a:xfrm>
            <a:off x="9753905" y="2609698"/>
            <a:ext cx="1143000" cy="191110"/>
          </a:xfrm>
          <a:prstGeom prst="rect">
            <a:avLst/>
          </a:prstGeom>
          <a:noFill/>
          <a:ln/>
        </p:spPr>
        <p:txBody>
          <a:bodyPr wrap="none" lIns="0" tIns="0" rIns="0" bIns="0" rtlCol="0" anchor="ctr"/>
          <a:lstStyle/>
          <a:p>
            <a:pPr algn="l" indent="0" marL="0">
              <a:buNone/>
            </a:pPr>
            <a:r>
              <a:rPr lang="en-US" sz="825" spc="132" kern="0" dirty="0">
                <a:solidFill>
                  <a:srgbClr val="FFFFFF"/>
                </a:solidFill>
                <a:latin typeface="Pretendard" pitchFamily="34" charset="0"/>
                <a:ea typeface="Pretendard" pitchFamily="34" charset="-122"/>
                <a:cs typeface="Pretendard" pitchFamily="34" charset="-120"/>
              </a:rPr>
              <a:t>WAFER</a:t>
            </a:r>
            <a:endParaRPr lang="en-US" sz="825" dirty="0"/>
          </a:p>
        </p:txBody>
      </p:sp>
      <p:sp>
        <p:nvSpPr>
          <p:cNvPr id="187" name="Text 162"/>
          <p:cNvSpPr txBox="1"/>
          <p:nvPr/>
        </p:nvSpPr>
        <p:spPr>
          <a:xfrm>
            <a:off x="11048695" y="2609698"/>
            <a:ext cx="13341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MEAN</a:t>
            </a:r>
            <a:endParaRPr lang="en-US" sz="825" dirty="0"/>
          </a:p>
        </p:txBody>
      </p:sp>
      <p:sp>
        <p:nvSpPr>
          <p:cNvPr id="188" name="Text 163"/>
          <p:cNvSpPr txBox="1"/>
          <p:nvPr/>
        </p:nvSpPr>
        <p:spPr>
          <a:xfrm>
            <a:off x="12592202" y="2609698"/>
            <a:ext cx="1239012"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3σ</a:t>
            </a:r>
            <a:endParaRPr lang="en-US" sz="825" dirty="0"/>
          </a:p>
        </p:txBody>
      </p:sp>
      <p:sp>
        <p:nvSpPr>
          <p:cNvPr id="189" name="Text 164"/>
          <p:cNvSpPr txBox="1"/>
          <p:nvPr/>
        </p:nvSpPr>
        <p:spPr>
          <a:xfrm>
            <a:off x="14002207" y="2609698"/>
            <a:ext cx="13341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RANGE</a:t>
            </a:r>
            <a:endParaRPr lang="en-US" sz="825" dirty="0"/>
          </a:p>
        </p:txBody>
      </p:sp>
      <p:sp>
        <p:nvSpPr>
          <p:cNvPr id="190" name="Text 165"/>
          <p:cNvSpPr txBox="1"/>
          <p:nvPr/>
        </p:nvSpPr>
        <p:spPr>
          <a:xfrm>
            <a:off x="15488107" y="2609698"/>
            <a:ext cx="19056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Δ TO 15.30</a:t>
            </a:r>
            <a:endParaRPr lang="en-US" sz="825" dirty="0"/>
          </a:p>
        </p:txBody>
      </p:sp>
      <p:sp>
        <p:nvSpPr>
          <p:cNvPr id="191" name="Text 166"/>
          <p:cNvSpPr txBox="1"/>
          <p:nvPr/>
        </p:nvSpPr>
        <p:spPr>
          <a:xfrm>
            <a:off x="990295" y="6353251"/>
            <a:ext cx="1143000" cy="191110"/>
          </a:xfrm>
          <a:prstGeom prst="rect">
            <a:avLst/>
          </a:prstGeom>
          <a:noFill/>
          <a:ln/>
        </p:spPr>
        <p:txBody>
          <a:bodyPr wrap="none" lIns="0" tIns="0" rIns="0" bIns="0" rtlCol="0" anchor="ctr"/>
          <a:lstStyle/>
          <a:p>
            <a:pPr algn="l" indent="0" marL="0">
              <a:buNone/>
            </a:pPr>
            <a:r>
              <a:rPr lang="en-US" sz="825" spc="132" kern="0" dirty="0">
                <a:solidFill>
                  <a:srgbClr val="FFFFFF"/>
                </a:solidFill>
                <a:latin typeface="Pretendard" pitchFamily="34" charset="0"/>
                <a:ea typeface="Pretendard" pitchFamily="34" charset="-122"/>
                <a:cs typeface="Pretendard" pitchFamily="34" charset="-120"/>
              </a:rPr>
              <a:t>WAFER</a:t>
            </a:r>
            <a:endParaRPr lang="en-US" sz="825" dirty="0"/>
          </a:p>
        </p:txBody>
      </p:sp>
      <p:sp>
        <p:nvSpPr>
          <p:cNvPr id="192" name="Text 167"/>
          <p:cNvSpPr txBox="1"/>
          <p:nvPr/>
        </p:nvSpPr>
        <p:spPr>
          <a:xfrm>
            <a:off x="2286000" y="6353251"/>
            <a:ext cx="13341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MEAN</a:t>
            </a:r>
            <a:endParaRPr lang="en-US" sz="825" dirty="0"/>
          </a:p>
        </p:txBody>
      </p:sp>
      <p:sp>
        <p:nvSpPr>
          <p:cNvPr id="193" name="Text 168"/>
          <p:cNvSpPr txBox="1"/>
          <p:nvPr/>
        </p:nvSpPr>
        <p:spPr>
          <a:xfrm>
            <a:off x="3829507" y="6353251"/>
            <a:ext cx="1239012"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3σ</a:t>
            </a:r>
            <a:endParaRPr lang="en-US" sz="825" dirty="0"/>
          </a:p>
        </p:txBody>
      </p:sp>
      <p:sp>
        <p:nvSpPr>
          <p:cNvPr id="194" name="Text 169"/>
          <p:cNvSpPr txBox="1"/>
          <p:nvPr/>
        </p:nvSpPr>
        <p:spPr>
          <a:xfrm>
            <a:off x="5238598" y="6353251"/>
            <a:ext cx="13341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RANGE</a:t>
            </a:r>
            <a:endParaRPr lang="en-US" sz="825" dirty="0"/>
          </a:p>
        </p:txBody>
      </p:sp>
      <p:sp>
        <p:nvSpPr>
          <p:cNvPr id="195" name="Text 170"/>
          <p:cNvSpPr txBox="1"/>
          <p:nvPr/>
        </p:nvSpPr>
        <p:spPr>
          <a:xfrm>
            <a:off x="6724498" y="6353251"/>
            <a:ext cx="19056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Δ TO 8.50</a:t>
            </a:r>
            <a:endParaRPr lang="en-US" sz="825" dirty="0"/>
          </a:p>
        </p:txBody>
      </p:sp>
      <p:sp>
        <p:nvSpPr>
          <p:cNvPr id="196" name="Text 171"/>
          <p:cNvSpPr txBox="1"/>
          <p:nvPr/>
        </p:nvSpPr>
        <p:spPr>
          <a:xfrm>
            <a:off x="9753905" y="6353251"/>
            <a:ext cx="1143000" cy="191110"/>
          </a:xfrm>
          <a:prstGeom prst="rect">
            <a:avLst/>
          </a:prstGeom>
          <a:noFill/>
          <a:ln/>
        </p:spPr>
        <p:txBody>
          <a:bodyPr wrap="none" lIns="0" tIns="0" rIns="0" bIns="0" rtlCol="0" anchor="ctr"/>
          <a:lstStyle/>
          <a:p>
            <a:pPr algn="l" indent="0" marL="0">
              <a:buNone/>
            </a:pPr>
            <a:r>
              <a:rPr lang="en-US" sz="825" spc="132" kern="0" dirty="0">
                <a:solidFill>
                  <a:srgbClr val="FFFFFF"/>
                </a:solidFill>
                <a:latin typeface="Pretendard" pitchFamily="34" charset="0"/>
                <a:ea typeface="Pretendard" pitchFamily="34" charset="-122"/>
                <a:cs typeface="Pretendard" pitchFamily="34" charset="-120"/>
              </a:rPr>
              <a:t>WAFER</a:t>
            </a:r>
            <a:endParaRPr lang="en-US" sz="825" dirty="0"/>
          </a:p>
        </p:txBody>
      </p:sp>
      <p:sp>
        <p:nvSpPr>
          <p:cNvPr id="197" name="Text 172"/>
          <p:cNvSpPr txBox="1"/>
          <p:nvPr/>
        </p:nvSpPr>
        <p:spPr>
          <a:xfrm>
            <a:off x="11048695" y="6353251"/>
            <a:ext cx="13341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MEAN</a:t>
            </a:r>
            <a:endParaRPr lang="en-US" sz="825" dirty="0"/>
          </a:p>
        </p:txBody>
      </p:sp>
      <p:sp>
        <p:nvSpPr>
          <p:cNvPr id="198" name="Text 173"/>
          <p:cNvSpPr txBox="1"/>
          <p:nvPr/>
        </p:nvSpPr>
        <p:spPr>
          <a:xfrm>
            <a:off x="12592202" y="6353251"/>
            <a:ext cx="1239012"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3σ</a:t>
            </a:r>
            <a:endParaRPr lang="en-US" sz="825" dirty="0"/>
          </a:p>
        </p:txBody>
      </p:sp>
      <p:sp>
        <p:nvSpPr>
          <p:cNvPr id="199" name="Text 174"/>
          <p:cNvSpPr txBox="1"/>
          <p:nvPr/>
        </p:nvSpPr>
        <p:spPr>
          <a:xfrm>
            <a:off x="14002207" y="6353251"/>
            <a:ext cx="13341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RANGE</a:t>
            </a:r>
            <a:endParaRPr lang="en-US" sz="825" dirty="0"/>
          </a:p>
        </p:txBody>
      </p:sp>
      <p:sp>
        <p:nvSpPr>
          <p:cNvPr id="200" name="Text 175"/>
          <p:cNvSpPr txBox="1"/>
          <p:nvPr/>
        </p:nvSpPr>
        <p:spPr>
          <a:xfrm>
            <a:off x="15488107" y="6353251"/>
            <a:ext cx="1905610" cy="191110"/>
          </a:xfrm>
          <a:prstGeom prst="rect">
            <a:avLst/>
          </a:prstGeom>
          <a:noFill/>
          <a:ln/>
        </p:spPr>
        <p:txBody>
          <a:bodyPr wrap="none" lIns="0" tIns="0" rIns="0" bIns="0" rtlCol="0" anchor="ctr"/>
          <a:lstStyle/>
          <a:p>
            <a:pPr algn="r" indent="0" marL="0">
              <a:buNone/>
            </a:pPr>
            <a:r>
              <a:rPr lang="en-US" sz="825" spc="132" kern="0" dirty="0">
                <a:solidFill>
                  <a:srgbClr val="FFFFFF"/>
                </a:solidFill>
                <a:latin typeface="Pretendard" pitchFamily="34" charset="0"/>
                <a:ea typeface="Pretendard" pitchFamily="34" charset="-122"/>
                <a:cs typeface="Pretendard" pitchFamily="34" charset="-120"/>
              </a:rPr>
              <a:t>Δ TO 9.70</a:t>
            </a:r>
            <a:endParaRPr lang="en-US" sz="825" dirty="0"/>
          </a:p>
        </p:txBody>
      </p:sp>
      <p:sp>
        <p:nvSpPr>
          <p:cNvPr id="201" name="Text 176"/>
          <p:cNvSpPr txBox="1"/>
          <p:nvPr/>
        </p:nvSpPr>
        <p:spPr>
          <a:xfrm>
            <a:off x="571500" y="571500"/>
            <a:ext cx="14287500" cy="486461"/>
          </a:xfrm>
          <a:prstGeom prst="rect">
            <a:avLst/>
          </a:prstGeom>
          <a:noFill/>
          <a:ln/>
        </p:spPr>
        <p:txBody>
          <a:bodyPr wrap="none" lIns="0" tIns="0" rIns="0" bIns="0" rtlCol="0" anchor="ctr"/>
          <a:lstStyle/>
          <a:p>
            <a:pPr algn="l" indent="0" marL="0">
              <a:buNone/>
            </a:pPr>
            <a:r>
              <a:rPr lang="en-US" sz="3600" b="1" spc="-36" kern="0" dirty="0">
                <a:solidFill>
                  <a:srgbClr val="1B2535"/>
                </a:solidFill>
                <a:latin typeface="Pretendard" pitchFamily="34" charset="0"/>
                <a:ea typeface="Pretendard" pitchFamily="34" charset="-122"/>
                <a:cs typeface="Pretendard" pitchFamily="34" charset="-120"/>
              </a:rPr>
              <a:t>CD Variation — wafer별 mean / 3σ / range / Δ</a:t>
            </a:r>
            <a:endParaRPr lang="en-US" sz="3600" dirty="0"/>
          </a:p>
        </p:txBody>
      </p:sp>
      <p:sp>
        <p:nvSpPr>
          <p:cNvPr id="202" name="Text 177"/>
          <p:cNvSpPr txBox="1"/>
          <p:nvPr/>
        </p:nvSpPr>
        <p:spPr>
          <a:xfrm>
            <a:off x="571500" y="381305"/>
            <a:ext cx="1619402" cy="191110"/>
          </a:xfrm>
          <a:prstGeom prst="rect">
            <a:avLst/>
          </a:prstGeom>
          <a:noFill/>
          <a:ln/>
        </p:spPr>
        <p:txBody>
          <a:bodyPr wrap="none" lIns="0" tIns="0" rIns="0" bIns="0" rtlCol="0" anchor="ctr"/>
          <a:lstStyle/>
          <a:p>
            <a:pPr algn="l" indent="0" marL="0">
              <a:buNone/>
            </a:pPr>
            <a:r>
              <a:rPr lang="en-US" sz="1050" spc="336" kern="0" dirty="0">
                <a:solidFill>
                  <a:srgbClr val="7A8898"/>
                </a:solidFill>
                <a:latin typeface="Pretendard" pitchFamily="34" charset="0"/>
                <a:ea typeface="Pretendard" pitchFamily="34" charset="-122"/>
                <a:cs typeface="Pretendard" pitchFamily="34" charset="-120"/>
              </a:rPr>
              <a:t>SET 05 / 09</a:t>
            </a:r>
            <a:endParaRPr lang="en-US" sz="1050" dirty="0"/>
          </a:p>
        </p:txBody>
      </p:sp>
      <p:sp>
        <p:nvSpPr>
          <p:cNvPr id="203" name="Text 178"/>
          <p:cNvSpPr txBox="1"/>
          <p:nvPr/>
        </p:nvSpPr>
        <p:spPr>
          <a:xfrm>
            <a:off x="11811305" y="571500"/>
            <a:ext cx="5906110" cy="191110"/>
          </a:xfrm>
          <a:prstGeom prst="rect">
            <a:avLst/>
          </a:prstGeom>
          <a:noFill/>
          <a:ln/>
        </p:spPr>
        <p:txBody>
          <a:bodyPr wrap="none" lIns="0" tIns="0" rIns="0" bIns="0" rtlCol="0" anchor="ctr"/>
          <a:lstStyle/>
          <a:p>
            <a:pPr algn="r" indent="0" marL="0">
              <a:buNone/>
            </a:pPr>
            <a:r>
              <a:rPr lang="en-US" sz="1050" spc="189" kern="0" dirty="0">
                <a:solidFill>
                  <a:srgbClr val="7A8898"/>
                </a:solidFill>
                <a:latin typeface="Pretendard" pitchFamily="34" charset="0"/>
                <a:ea typeface="Pretendard" pitchFamily="34" charset="-122"/>
                <a:cs typeface="Pretendard" pitchFamily="34" charset="-120"/>
              </a:rPr>
              <a:t>CD VARIATION · 25 SITES × 6 WAFERS</a:t>
            </a:r>
            <a:endParaRPr lang="en-US" sz="1050" dirty="0"/>
          </a:p>
        </p:txBody>
      </p:sp>
      <p:sp>
        <p:nvSpPr>
          <p:cNvPr id="204" name="Text 179"/>
          <p:cNvSpPr txBox="1"/>
          <p:nvPr/>
        </p:nvSpPr>
        <p:spPr>
          <a:xfrm>
            <a:off x="800100" y="2876702"/>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W01</a:t>
            </a:r>
            <a:endParaRPr lang="en-US" sz="1125" dirty="0"/>
          </a:p>
        </p:txBody>
      </p:sp>
      <p:sp>
        <p:nvSpPr>
          <p:cNvPr id="205" name="Text 180"/>
          <p:cNvSpPr txBox="1"/>
          <p:nvPr/>
        </p:nvSpPr>
        <p:spPr>
          <a:xfrm>
            <a:off x="6819595" y="2876702"/>
            <a:ext cx="1714500" cy="400507"/>
          </a:xfrm>
          <a:prstGeom prst="rect">
            <a:avLst/>
          </a:prstGeom>
          <a:noFill/>
          <a:ln/>
        </p:spPr>
        <p:txBody>
          <a:bodyPr wrap="none" lIns="0" tIns="0" rIns="0" bIns="0" rtlCol="0" anchor="ctr"/>
          <a:lstStyle/>
          <a:p>
            <a:pPr algn="r" indent="0" marL="0">
              <a:buNone/>
            </a:pPr>
            <a:r>
              <a:rPr lang="en-US" sz="1125" b="1" dirty="0">
                <a:solidFill>
                  <a:srgbClr val="4A6B82"/>
                </a:solidFill>
                <a:latin typeface="Pretendard" pitchFamily="34" charset="0"/>
                <a:ea typeface="Pretendard" pitchFamily="34" charset="-122"/>
                <a:cs typeface="Pretendard" pitchFamily="34" charset="-120"/>
              </a:rPr>
              <a:t>−0.20</a:t>
            </a:r>
            <a:endParaRPr lang="en-US" sz="1125" dirty="0"/>
          </a:p>
        </p:txBody>
      </p:sp>
      <p:sp>
        <p:nvSpPr>
          <p:cNvPr id="206" name="Text 181"/>
          <p:cNvSpPr txBox="1"/>
          <p:nvPr/>
        </p:nvSpPr>
        <p:spPr>
          <a:xfrm>
            <a:off x="800100" y="3286354"/>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W02</a:t>
            </a:r>
            <a:endParaRPr lang="en-US" sz="1125" dirty="0"/>
          </a:p>
        </p:txBody>
      </p:sp>
      <p:sp>
        <p:nvSpPr>
          <p:cNvPr id="207" name="Text 182"/>
          <p:cNvSpPr txBox="1"/>
          <p:nvPr/>
        </p:nvSpPr>
        <p:spPr>
          <a:xfrm>
            <a:off x="6819595" y="3286354"/>
            <a:ext cx="1714500" cy="400507"/>
          </a:xfrm>
          <a:prstGeom prst="rect">
            <a:avLst/>
          </a:prstGeom>
          <a:noFill/>
          <a:ln/>
        </p:spPr>
        <p:txBody>
          <a:bodyPr wrap="none" lIns="0" tIns="0" rIns="0" bIns="0" rtlCol="0" anchor="ctr"/>
          <a:lstStyle/>
          <a:p>
            <a:pPr algn="r" indent="0" marL="0">
              <a:buNone/>
            </a:pPr>
            <a:r>
              <a:rPr lang="en-US" sz="1125" b="1" dirty="0">
                <a:solidFill>
                  <a:srgbClr val="3F6F52"/>
                </a:solidFill>
                <a:latin typeface="Pretendard" pitchFamily="34" charset="0"/>
                <a:ea typeface="Pretendard" pitchFamily="34" charset="-122"/>
                <a:cs typeface="Pretendard" pitchFamily="34" charset="-120"/>
              </a:rPr>
              <a:t>+0.10</a:t>
            </a:r>
            <a:endParaRPr lang="en-US" sz="1125" dirty="0"/>
          </a:p>
        </p:txBody>
      </p:sp>
      <p:sp>
        <p:nvSpPr>
          <p:cNvPr id="208" name="Text 183"/>
          <p:cNvSpPr txBox="1"/>
          <p:nvPr/>
        </p:nvSpPr>
        <p:spPr>
          <a:xfrm>
            <a:off x="800100" y="3696005"/>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W03</a:t>
            </a:r>
            <a:endParaRPr lang="en-US" sz="1125" dirty="0"/>
          </a:p>
        </p:txBody>
      </p:sp>
      <p:sp>
        <p:nvSpPr>
          <p:cNvPr id="209" name="Text 184"/>
          <p:cNvSpPr txBox="1"/>
          <p:nvPr/>
        </p:nvSpPr>
        <p:spPr>
          <a:xfrm>
            <a:off x="6819595" y="3696005"/>
            <a:ext cx="1714500" cy="400507"/>
          </a:xfrm>
          <a:prstGeom prst="rect">
            <a:avLst/>
          </a:prstGeom>
          <a:noFill/>
          <a:ln/>
        </p:spPr>
        <p:txBody>
          <a:bodyPr wrap="none" lIns="0" tIns="0" rIns="0" bIns="0" rtlCol="0" anchor="ctr"/>
          <a:lstStyle/>
          <a:p>
            <a:pPr algn="r" indent="0" marL="0">
              <a:buNone/>
            </a:pPr>
            <a:r>
              <a:rPr lang="en-US" sz="1125" b="1" dirty="0">
                <a:solidFill>
                  <a:srgbClr val="B47A1F"/>
                </a:solidFill>
                <a:latin typeface="Pretendard" pitchFamily="34" charset="0"/>
                <a:ea typeface="Pretendard" pitchFamily="34" charset="-122"/>
                <a:cs typeface="Pretendard" pitchFamily="34" charset="-120"/>
              </a:rPr>
              <a:t>+0.30</a:t>
            </a:r>
            <a:endParaRPr lang="en-US" sz="1125" dirty="0"/>
          </a:p>
        </p:txBody>
      </p:sp>
      <p:sp>
        <p:nvSpPr>
          <p:cNvPr id="210" name="Text 185"/>
          <p:cNvSpPr txBox="1"/>
          <p:nvPr/>
        </p:nvSpPr>
        <p:spPr>
          <a:xfrm>
            <a:off x="800100" y="4105656"/>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W04</a:t>
            </a:r>
            <a:endParaRPr lang="en-US" sz="1125" dirty="0"/>
          </a:p>
        </p:txBody>
      </p:sp>
      <p:sp>
        <p:nvSpPr>
          <p:cNvPr id="211" name="Text 186"/>
          <p:cNvSpPr txBox="1"/>
          <p:nvPr/>
        </p:nvSpPr>
        <p:spPr>
          <a:xfrm>
            <a:off x="6819595" y="4105656"/>
            <a:ext cx="1714500" cy="400507"/>
          </a:xfrm>
          <a:prstGeom prst="rect">
            <a:avLst/>
          </a:prstGeom>
          <a:noFill/>
          <a:ln/>
        </p:spPr>
        <p:txBody>
          <a:bodyPr wrap="none" lIns="0" tIns="0" rIns="0" bIns="0" rtlCol="0" anchor="ctr"/>
          <a:lstStyle/>
          <a:p>
            <a:pPr algn="r" indent="0" marL="0">
              <a:buNone/>
            </a:pPr>
            <a:r>
              <a:rPr lang="en-US" sz="1125" b="1" dirty="0">
                <a:solidFill>
                  <a:srgbClr val="4A6B82"/>
                </a:solidFill>
                <a:latin typeface="Pretendard" pitchFamily="34" charset="0"/>
                <a:ea typeface="Pretendard" pitchFamily="34" charset="-122"/>
                <a:cs typeface="Pretendard" pitchFamily="34" charset="-120"/>
              </a:rPr>
              <a:t>−0.10</a:t>
            </a:r>
            <a:endParaRPr lang="en-US" sz="1125" dirty="0"/>
          </a:p>
        </p:txBody>
      </p:sp>
      <p:sp>
        <p:nvSpPr>
          <p:cNvPr id="212" name="Text 187"/>
          <p:cNvSpPr txBox="1"/>
          <p:nvPr/>
        </p:nvSpPr>
        <p:spPr>
          <a:xfrm>
            <a:off x="800100" y="4515307"/>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W05</a:t>
            </a:r>
            <a:endParaRPr lang="en-US" sz="1125" dirty="0"/>
          </a:p>
        </p:txBody>
      </p:sp>
      <p:sp>
        <p:nvSpPr>
          <p:cNvPr id="213" name="Text 188"/>
          <p:cNvSpPr txBox="1"/>
          <p:nvPr/>
        </p:nvSpPr>
        <p:spPr>
          <a:xfrm>
            <a:off x="6819595" y="4515307"/>
            <a:ext cx="1714500" cy="400507"/>
          </a:xfrm>
          <a:prstGeom prst="rect">
            <a:avLst/>
          </a:prstGeom>
          <a:noFill/>
          <a:ln/>
        </p:spPr>
        <p:txBody>
          <a:bodyPr wrap="none" lIns="0" tIns="0" rIns="0" bIns="0" rtlCol="0" anchor="ctr"/>
          <a:lstStyle/>
          <a:p>
            <a:pPr algn="r" indent="0" marL="0">
              <a:buNone/>
            </a:pPr>
            <a:r>
              <a:rPr lang="en-US" sz="1125" b="1" dirty="0">
                <a:solidFill>
                  <a:srgbClr val="3F6F52"/>
                </a:solidFill>
                <a:latin typeface="Pretendard" pitchFamily="34" charset="0"/>
                <a:ea typeface="Pretendard" pitchFamily="34" charset="-122"/>
                <a:cs typeface="Pretendard" pitchFamily="34" charset="-120"/>
              </a:rPr>
              <a:t>+0.10</a:t>
            </a:r>
            <a:endParaRPr lang="en-US" sz="1125" dirty="0"/>
          </a:p>
        </p:txBody>
      </p:sp>
      <p:sp>
        <p:nvSpPr>
          <p:cNvPr id="214" name="Text 189"/>
          <p:cNvSpPr txBox="1"/>
          <p:nvPr/>
        </p:nvSpPr>
        <p:spPr>
          <a:xfrm>
            <a:off x="800100" y="4924044"/>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W06</a:t>
            </a:r>
            <a:endParaRPr lang="en-US" sz="1125" dirty="0"/>
          </a:p>
        </p:txBody>
      </p:sp>
      <p:sp>
        <p:nvSpPr>
          <p:cNvPr id="215" name="Text 190"/>
          <p:cNvSpPr txBox="1"/>
          <p:nvPr/>
        </p:nvSpPr>
        <p:spPr>
          <a:xfrm>
            <a:off x="6819595" y="4924044"/>
            <a:ext cx="1714500" cy="400507"/>
          </a:xfrm>
          <a:prstGeom prst="rect">
            <a:avLst/>
          </a:prstGeom>
          <a:noFill/>
          <a:ln/>
        </p:spPr>
        <p:txBody>
          <a:bodyPr wrap="none" lIns="0" tIns="0" rIns="0" bIns="0" rtlCol="0" anchor="ctr"/>
          <a:lstStyle/>
          <a:p>
            <a:pPr algn="r" indent="0" marL="0">
              <a:buNone/>
            </a:pPr>
            <a:r>
              <a:rPr lang="en-US" sz="1125" b="1" dirty="0">
                <a:solidFill>
                  <a:srgbClr val="B47A1F"/>
                </a:solidFill>
                <a:latin typeface="Pretendard" pitchFamily="34" charset="0"/>
                <a:ea typeface="Pretendard" pitchFamily="34" charset="-122"/>
                <a:cs typeface="Pretendard" pitchFamily="34" charset="-120"/>
              </a:rPr>
              <a:t>+0.20</a:t>
            </a:r>
            <a:endParaRPr lang="en-US" sz="1125" dirty="0"/>
          </a:p>
        </p:txBody>
      </p:sp>
      <p:sp>
        <p:nvSpPr>
          <p:cNvPr id="216" name="Text 191"/>
          <p:cNvSpPr txBox="1"/>
          <p:nvPr/>
        </p:nvSpPr>
        <p:spPr>
          <a:xfrm>
            <a:off x="9562795" y="2876702"/>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W01</a:t>
            </a:r>
            <a:endParaRPr lang="en-US" sz="1125" dirty="0"/>
          </a:p>
        </p:txBody>
      </p:sp>
      <p:sp>
        <p:nvSpPr>
          <p:cNvPr id="217" name="Text 192"/>
          <p:cNvSpPr txBox="1"/>
          <p:nvPr/>
        </p:nvSpPr>
        <p:spPr>
          <a:xfrm>
            <a:off x="15583205" y="2876702"/>
            <a:ext cx="1714500" cy="400507"/>
          </a:xfrm>
          <a:prstGeom prst="rect">
            <a:avLst/>
          </a:prstGeom>
          <a:noFill/>
          <a:ln/>
        </p:spPr>
        <p:txBody>
          <a:bodyPr wrap="none" lIns="0" tIns="0" rIns="0" bIns="0" rtlCol="0" anchor="ctr"/>
          <a:lstStyle/>
          <a:p>
            <a:pPr algn="r" indent="0" marL="0">
              <a:buNone/>
            </a:pPr>
            <a:r>
              <a:rPr lang="en-US" sz="1125" b="1" dirty="0">
                <a:solidFill>
                  <a:srgbClr val="4A6B82"/>
                </a:solidFill>
                <a:latin typeface="Pretendard" pitchFamily="34" charset="0"/>
                <a:ea typeface="Pretendard" pitchFamily="34" charset="-122"/>
                <a:cs typeface="Pretendard" pitchFamily="34" charset="-120"/>
              </a:rPr>
              <a:t>−0.20</a:t>
            </a:r>
            <a:endParaRPr lang="en-US" sz="1125" dirty="0"/>
          </a:p>
        </p:txBody>
      </p:sp>
      <p:sp>
        <p:nvSpPr>
          <p:cNvPr id="218" name="Text 193"/>
          <p:cNvSpPr txBox="1"/>
          <p:nvPr/>
        </p:nvSpPr>
        <p:spPr>
          <a:xfrm>
            <a:off x="9562795" y="3286354"/>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W02</a:t>
            </a:r>
            <a:endParaRPr lang="en-US" sz="1125" dirty="0"/>
          </a:p>
        </p:txBody>
      </p:sp>
      <p:sp>
        <p:nvSpPr>
          <p:cNvPr id="219" name="Text 194"/>
          <p:cNvSpPr txBox="1"/>
          <p:nvPr/>
        </p:nvSpPr>
        <p:spPr>
          <a:xfrm>
            <a:off x="15583205" y="3286354"/>
            <a:ext cx="1714500" cy="400507"/>
          </a:xfrm>
          <a:prstGeom prst="rect">
            <a:avLst/>
          </a:prstGeom>
          <a:noFill/>
          <a:ln/>
        </p:spPr>
        <p:txBody>
          <a:bodyPr wrap="none" lIns="0" tIns="0" rIns="0" bIns="0" rtlCol="0" anchor="ctr"/>
          <a:lstStyle/>
          <a:p>
            <a:pPr algn="r" indent="0" marL="0">
              <a:buNone/>
            </a:pPr>
            <a:r>
              <a:rPr lang="en-US" sz="1125" b="1" dirty="0">
                <a:solidFill>
                  <a:srgbClr val="3F6F52"/>
                </a:solidFill>
                <a:latin typeface="Pretendard" pitchFamily="34" charset="0"/>
                <a:ea typeface="Pretendard" pitchFamily="34" charset="-122"/>
                <a:cs typeface="Pretendard" pitchFamily="34" charset="-120"/>
              </a:rPr>
              <a:t>+0.10</a:t>
            </a:r>
            <a:endParaRPr lang="en-US" sz="1125" dirty="0"/>
          </a:p>
        </p:txBody>
      </p:sp>
      <p:sp>
        <p:nvSpPr>
          <p:cNvPr id="220" name="Text 195"/>
          <p:cNvSpPr txBox="1"/>
          <p:nvPr/>
        </p:nvSpPr>
        <p:spPr>
          <a:xfrm>
            <a:off x="9562795" y="3696005"/>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W03</a:t>
            </a:r>
            <a:endParaRPr lang="en-US" sz="1125" dirty="0"/>
          </a:p>
        </p:txBody>
      </p:sp>
      <p:sp>
        <p:nvSpPr>
          <p:cNvPr id="221" name="Text 196"/>
          <p:cNvSpPr txBox="1"/>
          <p:nvPr/>
        </p:nvSpPr>
        <p:spPr>
          <a:xfrm>
            <a:off x="15583205" y="3696005"/>
            <a:ext cx="1714500" cy="400507"/>
          </a:xfrm>
          <a:prstGeom prst="rect">
            <a:avLst/>
          </a:prstGeom>
          <a:noFill/>
          <a:ln/>
        </p:spPr>
        <p:txBody>
          <a:bodyPr wrap="none" lIns="0" tIns="0" rIns="0" bIns="0" rtlCol="0" anchor="ctr"/>
          <a:lstStyle/>
          <a:p>
            <a:pPr algn="r" indent="0" marL="0">
              <a:buNone/>
            </a:pPr>
            <a:r>
              <a:rPr lang="en-US" sz="1125" b="1" dirty="0">
                <a:solidFill>
                  <a:srgbClr val="B47A1F"/>
                </a:solidFill>
                <a:latin typeface="Pretendard" pitchFamily="34" charset="0"/>
                <a:ea typeface="Pretendard" pitchFamily="34" charset="-122"/>
                <a:cs typeface="Pretendard" pitchFamily="34" charset="-120"/>
              </a:rPr>
              <a:t>+0.20</a:t>
            </a:r>
            <a:endParaRPr lang="en-US" sz="1125" dirty="0"/>
          </a:p>
        </p:txBody>
      </p:sp>
      <p:sp>
        <p:nvSpPr>
          <p:cNvPr id="222" name="Text 197"/>
          <p:cNvSpPr txBox="1"/>
          <p:nvPr/>
        </p:nvSpPr>
        <p:spPr>
          <a:xfrm>
            <a:off x="9562795" y="4105656"/>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W04</a:t>
            </a:r>
            <a:endParaRPr lang="en-US" sz="1125" dirty="0"/>
          </a:p>
        </p:txBody>
      </p:sp>
      <p:sp>
        <p:nvSpPr>
          <p:cNvPr id="223" name="Text 198"/>
          <p:cNvSpPr txBox="1"/>
          <p:nvPr/>
        </p:nvSpPr>
        <p:spPr>
          <a:xfrm>
            <a:off x="15583205" y="4105656"/>
            <a:ext cx="1714500" cy="400507"/>
          </a:xfrm>
          <a:prstGeom prst="rect">
            <a:avLst/>
          </a:prstGeom>
          <a:noFill/>
          <a:ln/>
        </p:spPr>
        <p:txBody>
          <a:bodyPr wrap="none" lIns="0" tIns="0" rIns="0" bIns="0" rtlCol="0" anchor="ctr"/>
          <a:lstStyle/>
          <a:p>
            <a:pPr algn="r" indent="0" marL="0">
              <a:buNone/>
            </a:pPr>
            <a:r>
              <a:rPr lang="en-US" sz="1125" b="1" dirty="0">
                <a:solidFill>
                  <a:srgbClr val="4A6B82"/>
                </a:solidFill>
                <a:latin typeface="Pretendard" pitchFamily="34" charset="0"/>
                <a:ea typeface="Pretendard" pitchFamily="34" charset="-122"/>
                <a:cs typeface="Pretendard" pitchFamily="34" charset="-120"/>
              </a:rPr>
              <a:t>−0.10</a:t>
            </a:r>
            <a:endParaRPr lang="en-US" sz="1125" dirty="0"/>
          </a:p>
        </p:txBody>
      </p:sp>
      <p:sp>
        <p:nvSpPr>
          <p:cNvPr id="224" name="Text 199"/>
          <p:cNvSpPr txBox="1"/>
          <p:nvPr/>
        </p:nvSpPr>
        <p:spPr>
          <a:xfrm>
            <a:off x="9562795" y="4515307"/>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W05</a:t>
            </a:r>
            <a:endParaRPr lang="en-US" sz="1125" dirty="0"/>
          </a:p>
        </p:txBody>
      </p:sp>
      <p:sp>
        <p:nvSpPr>
          <p:cNvPr id="225" name="Text 200"/>
          <p:cNvSpPr txBox="1"/>
          <p:nvPr/>
        </p:nvSpPr>
        <p:spPr>
          <a:xfrm>
            <a:off x="15583205" y="4515307"/>
            <a:ext cx="1714500" cy="400507"/>
          </a:xfrm>
          <a:prstGeom prst="rect">
            <a:avLst/>
          </a:prstGeom>
          <a:noFill/>
          <a:ln/>
        </p:spPr>
        <p:txBody>
          <a:bodyPr wrap="none" lIns="0" tIns="0" rIns="0" bIns="0" rtlCol="0" anchor="ctr"/>
          <a:lstStyle/>
          <a:p>
            <a:pPr algn="r" indent="0" marL="0">
              <a:buNone/>
            </a:pPr>
            <a:r>
              <a:rPr lang="en-US" sz="1125" b="1" dirty="0">
                <a:solidFill>
                  <a:srgbClr val="3F6F52"/>
                </a:solidFill>
                <a:latin typeface="Pretendard" pitchFamily="34" charset="0"/>
                <a:ea typeface="Pretendard" pitchFamily="34" charset="-122"/>
                <a:cs typeface="Pretendard" pitchFamily="34" charset="-120"/>
              </a:rPr>
              <a:t>0.00</a:t>
            </a:r>
            <a:endParaRPr lang="en-US" sz="1125" dirty="0"/>
          </a:p>
        </p:txBody>
      </p:sp>
      <p:sp>
        <p:nvSpPr>
          <p:cNvPr id="226" name="Text 201"/>
          <p:cNvSpPr txBox="1"/>
          <p:nvPr/>
        </p:nvSpPr>
        <p:spPr>
          <a:xfrm>
            <a:off x="9562795" y="4924044"/>
            <a:ext cx="571500" cy="400507"/>
          </a:xfrm>
          <a:prstGeom prst="rect">
            <a:avLst/>
          </a:prstGeom>
          <a:noFill/>
          <a:ln/>
        </p:spPr>
        <p:txBody>
          <a:bodyPr wrap="none" lIns="0" tIns="0" rIns="0" bIns="0" rtlCol="0" anchor="ctr"/>
          <a:lstStyle/>
          <a:p>
            <a:pPr algn="ctr" indent="0" marL="0">
              <a:buNone/>
            </a:pPr>
            <a:r>
              <a:rPr lang="en-US" sz="1125" b="1" dirty="0">
                <a:solidFill>
                  <a:srgbClr val="FFFFFF"/>
                </a:solidFill>
                <a:latin typeface="Pretendard" pitchFamily="34" charset="0"/>
                <a:ea typeface="Pretendard" pitchFamily="34" charset="-122"/>
                <a:cs typeface="Pretendard" pitchFamily="34" charset="-120"/>
              </a:rPr>
              <a:t>W06</a:t>
            </a:r>
            <a:endParaRPr lang="en-US" sz="1125" dirty="0"/>
          </a:p>
        </p:txBody>
      </p:sp>
      <p:sp>
        <p:nvSpPr>
          <p:cNvPr id="227" name="Text 202"/>
          <p:cNvSpPr txBox="1"/>
          <p:nvPr/>
        </p:nvSpPr>
        <p:spPr>
          <a:xfrm>
            <a:off x="15583205" y="4924044"/>
            <a:ext cx="1714500" cy="400507"/>
          </a:xfrm>
          <a:prstGeom prst="rect">
            <a:avLst/>
          </a:prstGeom>
          <a:noFill/>
          <a:ln/>
        </p:spPr>
        <p:txBody>
          <a:bodyPr wrap="none" lIns="0" tIns="0" rIns="0" bIns="0" rtlCol="0" anchor="ctr"/>
          <a:lstStyle/>
          <a:p>
            <a:pPr algn="r" indent="0" marL="0">
              <a:buNone/>
            </a:pPr>
            <a:r>
              <a:rPr lang="en-US" sz="1125" b="1" dirty="0">
                <a:solidFill>
                  <a:srgbClr val="3F6F52"/>
                </a:solidFill>
                <a:latin typeface="Pretendard" pitchFamily="34" charset="0"/>
                <a:ea typeface="Pretendard" pitchFamily="34" charset="-122"/>
                <a:cs typeface="Pretendard" pitchFamily="34" charset="-120"/>
              </a:rPr>
              <a:t>+0.10</a:t>
            </a:r>
            <a:endParaRPr lang="en-US" sz="1125" dirty="0"/>
          </a:p>
        </p:txBody>
      </p:sp>
      <p:sp>
        <p:nvSpPr>
          <p:cNvPr id="228" name="Text 203"/>
          <p:cNvSpPr txBox="1"/>
          <p:nvPr/>
        </p:nvSpPr>
        <p:spPr>
          <a:xfrm>
            <a:off x="800100" y="6610198"/>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W01</a:t>
            </a:r>
            <a:endParaRPr lang="en-US" sz="1050" dirty="0"/>
          </a:p>
        </p:txBody>
      </p:sp>
      <p:sp>
        <p:nvSpPr>
          <p:cNvPr id="229" name="Text 204"/>
          <p:cNvSpPr txBox="1"/>
          <p:nvPr/>
        </p:nvSpPr>
        <p:spPr>
          <a:xfrm>
            <a:off x="6819595" y="6610198"/>
            <a:ext cx="1714500" cy="381305"/>
          </a:xfrm>
          <a:prstGeom prst="rect">
            <a:avLst/>
          </a:prstGeom>
          <a:noFill/>
          <a:ln/>
        </p:spPr>
        <p:txBody>
          <a:bodyPr wrap="none" lIns="0" tIns="0" rIns="0" bIns="0" rtlCol="0" anchor="ctr"/>
          <a:lstStyle/>
          <a:p>
            <a:pPr algn="r" indent="0" marL="0">
              <a:buNone/>
            </a:pPr>
            <a:r>
              <a:rPr lang="en-US" sz="1050" b="1" dirty="0">
                <a:solidFill>
                  <a:srgbClr val="4A6B82"/>
                </a:solidFill>
                <a:latin typeface="Pretendard" pitchFamily="34" charset="0"/>
                <a:ea typeface="Pretendard" pitchFamily="34" charset="-122"/>
                <a:cs typeface="Pretendard" pitchFamily="34" charset="-120"/>
              </a:rPr>
              <a:t>−0.18</a:t>
            </a:r>
            <a:endParaRPr lang="en-US" sz="1050" dirty="0"/>
          </a:p>
        </p:txBody>
      </p:sp>
      <p:sp>
        <p:nvSpPr>
          <p:cNvPr id="230" name="Text 205"/>
          <p:cNvSpPr txBox="1"/>
          <p:nvPr/>
        </p:nvSpPr>
        <p:spPr>
          <a:xfrm>
            <a:off x="800100" y="7000646"/>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W02</a:t>
            </a:r>
            <a:endParaRPr lang="en-US" sz="1050" dirty="0"/>
          </a:p>
        </p:txBody>
      </p:sp>
      <p:sp>
        <p:nvSpPr>
          <p:cNvPr id="231" name="Text 206"/>
          <p:cNvSpPr txBox="1"/>
          <p:nvPr/>
        </p:nvSpPr>
        <p:spPr>
          <a:xfrm>
            <a:off x="6819595" y="7000646"/>
            <a:ext cx="1714500" cy="381305"/>
          </a:xfrm>
          <a:prstGeom prst="rect">
            <a:avLst/>
          </a:prstGeom>
          <a:noFill/>
          <a:ln/>
        </p:spPr>
        <p:txBody>
          <a:bodyPr wrap="none" lIns="0" tIns="0" rIns="0" bIns="0" rtlCol="0" anchor="ctr"/>
          <a:lstStyle/>
          <a:p>
            <a:pPr algn="r" indent="0" marL="0">
              <a:buNone/>
            </a:pPr>
            <a:r>
              <a:rPr lang="en-US" sz="1050" b="1" dirty="0">
                <a:solidFill>
                  <a:srgbClr val="3F6F52"/>
                </a:solidFill>
                <a:latin typeface="Pretendard" pitchFamily="34" charset="0"/>
                <a:ea typeface="Pretendard" pitchFamily="34" charset="-122"/>
                <a:cs typeface="Pretendard" pitchFamily="34" charset="-120"/>
              </a:rPr>
              <a:t>+0.05</a:t>
            </a:r>
            <a:endParaRPr lang="en-US" sz="1050" dirty="0"/>
          </a:p>
        </p:txBody>
      </p:sp>
      <p:sp>
        <p:nvSpPr>
          <p:cNvPr id="232" name="Text 207"/>
          <p:cNvSpPr txBox="1"/>
          <p:nvPr/>
        </p:nvSpPr>
        <p:spPr>
          <a:xfrm>
            <a:off x="800100" y="7391095"/>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W03</a:t>
            </a:r>
            <a:endParaRPr lang="en-US" sz="1050" dirty="0"/>
          </a:p>
        </p:txBody>
      </p:sp>
      <p:sp>
        <p:nvSpPr>
          <p:cNvPr id="233" name="Text 208"/>
          <p:cNvSpPr txBox="1"/>
          <p:nvPr/>
        </p:nvSpPr>
        <p:spPr>
          <a:xfrm>
            <a:off x="6819595" y="7391095"/>
            <a:ext cx="1714500" cy="381305"/>
          </a:xfrm>
          <a:prstGeom prst="rect">
            <a:avLst/>
          </a:prstGeom>
          <a:noFill/>
          <a:ln/>
        </p:spPr>
        <p:txBody>
          <a:bodyPr wrap="none" lIns="0" tIns="0" rIns="0" bIns="0" rtlCol="0" anchor="ctr"/>
          <a:lstStyle/>
          <a:p>
            <a:pPr algn="r" indent="0" marL="0">
              <a:buNone/>
            </a:pPr>
            <a:r>
              <a:rPr lang="en-US" sz="1050" b="1" dirty="0">
                <a:solidFill>
                  <a:srgbClr val="B43F2D"/>
                </a:solidFill>
                <a:latin typeface="Pretendard" pitchFamily="34" charset="0"/>
                <a:ea typeface="Pretendard" pitchFamily="34" charset="-122"/>
                <a:cs typeface="Pretendard" pitchFamily="34" charset="-120"/>
              </a:rPr>
              <a:t>+0.21</a:t>
            </a:r>
            <a:endParaRPr lang="en-US" sz="1050" dirty="0"/>
          </a:p>
        </p:txBody>
      </p:sp>
      <p:sp>
        <p:nvSpPr>
          <p:cNvPr id="234" name="Text 209"/>
          <p:cNvSpPr txBox="1"/>
          <p:nvPr/>
        </p:nvSpPr>
        <p:spPr>
          <a:xfrm>
            <a:off x="800100" y="7781544"/>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W04</a:t>
            </a:r>
            <a:endParaRPr lang="en-US" sz="1050" dirty="0"/>
          </a:p>
        </p:txBody>
      </p:sp>
      <p:sp>
        <p:nvSpPr>
          <p:cNvPr id="235" name="Text 210"/>
          <p:cNvSpPr txBox="1"/>
          <p:nvPr/>
        </p:nvSpPr>
        <p:spPr>
          <a:xfrm>
            <a:off x="6819595" y="7781544"/>
            <a:ext cx="1714500" cy="381305"/>
          </a:xfrm>
          <a:prstGeom prst="rect">
            <a:avLst/>
          </a:prstGeom>
          <a:noFill/>
          <a:ln/>
        </p:spPr>
        <p:txBody>
          <a:bodyPr wrap="none" lIns="0" tIns="0" rIns="0" bIns="0" rtlCol="0" anchor="ctr"/>
          <a:lstStyle/>
          <a:p>
            <a:pPr algn="r" indent="0" marL="0">
              <a:buNone/>
            </a:pPr>
            <a:r>
              <a:rPr lang="en-US" sz="1050" b="1" dirty="0">
                <a:solidFill>
                  <a:srgbClr val="4A6B82"/>
                </a:solidFill>
                <a:latin typeface="Pretendard" pitchFamily="34" charset="0"/>
                <a:ea typeface="Pretendard" pitchFamily="34" charset="-122"/>
                <a:cs typeface="Pretendard" pitchFamily="34" charset="-120"/>
              </a:rPr>
              <a:t>−0.04</a:t>
            </a:r>
            <a:endParaRPr lang="en-US" sz="1050" dirty="0"/>
          </a:p>
        </p:txBody>
      </p:sp>
      <p:sp>
        <p:nvSpPr>
          <p:cNvPr id="236" name="Text 211"/>
          <p:cNvSpPr txBox="1"/>
          <p:nvPr/>
        </p:nvSpPr>
        <p:spPr>
          <a:xfrm>
            <a:off x="800100" y="8172907"/>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W05</a:t>
            </a:r>
            <a:endParaRPr lang="en-US" sz="1050" dirty="0"/>
          </a:p>
        </p:txBody>
      </p:sp>
      <p:sp>
        <p:nvSpPr>
          <p:cNvPr id="237" name="Text 212"/>
          <p:cNvSpPr txBox="1"/>
          <p:nvPr/>
        </p:nvSpPr>
        <p:spPr>
          <a:xfrm>
            <a:off x="6819595" y="8172907"/>
            <a:ext cx="1714500" cy="381305"/>
          </a:xfrm>
          <a:prstGeom prst="rect">
            <a:avLst/>
          </a:prstGeom>
          <a:noFill/>
          <a:ln/>
        </p:spPr>
        <p:txBody>
          <a:bodyPr wrap="none" lIns="0" tIns="0" rIns="0" bIns="0" rtlCol="0" anchor="ctr"/>
          <a:lstStyle/>
          <a:p>
            <a:pPr algn="r" indent="0" marL="0">
              <a:buNone/>
            </a:pPr>
            <a:r>
              <a:rPr lang="en-US" sz="1050" b="1" dirty="0">
                <a:solidFill>
                  <a:srgbClr val="3F6F52"/>
                </a:solidFill>
                <a:latin typeface="Pretendard" pitchFamily="34" charset="0"/>
                <a:ea typeface="Pretendard" pitchFamily="34" charset="-122"/>
                <a:cs typeface="Pretendard" pitchFamily="34" charset="-120"/>
              </a:rPr>
              <a:t>+0.01</a:t>
            </a:r>
            <a:endParaRPr lang="en-US" sz="1050" dirty="0"/>
          </a:p>
        </p:txBody>
      </p:sp>
      <p:sp>
        <p:nvSpPr>
          <p:cNvPr id="238" name="Text 213"/>
          <p:cNvSpPr txBox="1"/>
          <p:nvPr/>
        </p:nvSpPr>
        <p:spPr>
          <a:xfrm>
            <a:off x="800100" y="8563356"/>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W06</a:t>
            </a:r>
            <a:endParaRPr lang="en-US" sz="1050" dirty="0"/>
          </a:p>
        </p:txBody>
      </p:sp>
      <p:sp>
        <p:nvSpPr>
          <p:cNvPr id="239" name="Text 214"/>
          <p:cNvSpPr txBox="1"/>
          <p:nvPr/>
        </p:nvSpPr>
        <p:spPr>
          <a:xfrm>
            <a:off x="6819595" y="8563356"/>
            <a:ext cx="1714500" cy="381305"/>
          </a:xfrm>
          <a:prstGeom prst="rect">
            <a:avLst/>
          </a:prstGeom>
          <a:noFill/>
          <a:ln/>
        </p:spPr>
        <p:txBody>
          <a:bodyPr wrap="none" lIns="0" tIns="0" rIns="0" bIns="0" rtlCol="0" anchor="ctr"/>
          <a:lstStyle/>
          <a:p>
            <a:pPr algn="r" indent="0" marL="0">
              <a:buNone/>
            </a:pPr>
            <a:r>
              <a:rPr lang="en-US" sz="1050" b="1" dirty="0">
                <a:solidFill>
                  <a:srgbClr val="3F6F52"/>
                </a:solidFill>
                <a:latin typeface="Pretendard" pitchFamily="34" charset="0"/>
                <a:ea typeface="Pretendard" pitchFamily="34" charset="-122"/>
                <a:cs typeface="Pretendard" pitchFamily="34" charset="-120"/>
              </a:rPr>
              <a:t>+0.09</a:t>
            </a:r>
            <a:endParaRPr lang="en-US" sz="1050" dirty="0"/>
          </a:p>
        </p:txBody>
      </p:sp>
      <p:sp>
        <p:nvSpPr>
          <p:cNvPr id="240" name="Text 215"/>
          <p:cNvSpPr txBox="1"/>
          <p:nvPr/>
        </p:nvSpPr>
        <p:spPr>
          <a:xfrm>
            <a:off x="9562795" y="6610198"/>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W01</a:t>
            </a:r>
            <a:endParaRPr lang="en-US" sz="1050" dirty="0"/>
          </a:p>
        </p:txBody>
      </p:sp>
      <p:sp>
        <p:nvSpPr>
          <p:cNvPr id="241" name="Text 216"/>
          <p:cNvSpPr txBox="1"/>
          <p:nvPr/>
        </p:nvSpPr>
        <p:spPr>
          <a:xfrm>
            <a:off x="15583205" y="6610198"/>
            <a:ext cx="1714500" cy="381305"/>
          </a:xfrm>
          <a:prstGeom prst="rect">
            <a:avLst/>
          </a:prstGeom>
          <a:noFill/>
          <a:ln/>
        </p:spPr>
        <p:txBody>
          <a:bodyPr wrap="none" lIns="0" tIns="0" rIns="0" bIns="0" rtlCol="0" anchor="ctr"/>
          <a:lstStyle/>
          <a:p>
            <a:pPr algn="r" indent="0" marL="0">
              <a:buNone/>
            </a:pPr>
            <a:r>
              <a:rPr lang="en-US" sz="1050" b="1" dirty="0">
                <a:solidFill>
                  <a:srgbClr val="4A6B82"/>
                </a:solidFill>
                <a:latin typeface="Pretendard" pitchFamily="34" charset="0"/>
                <a:ea typeface="Pretendard" pitchFamily="34" charset="-122"/>
                <a:cs typeface="Pretendard" pitchFamily="34" charset="-120"/>
              </a:rPr>
              <a:t>−0.19</a:t>
            </a:r>
            <a:endParaRPr lang="en-US" sz="1050" dirty="0"/>
          </a:p>
        </p:txBody>
      </p:sp>
      <p:sp>
        <p:nvSpPr>
          <p:cNvPr id="242" name="Text 217"/>
          <p:cNvSpPr txBox="1"/>
          <p:nvPr/>
        </p:nvSpPr>
        <p:spPr>
          <a:xfrm>
            <a:off x="9562795" y="7000646"/>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W02</a:t>
            </a:r>
            <a:endParaRPr lang="en-US" sz="1050" dirty="0"/>
          </a:p>
        </p:txBody>
      </p:sp>
      <p:sp>
        <p:nvSpPr>
          <p:cNvPr id="243" name="Text 218"/>
          <p:cNvSpPr txBox="1"/>
          <p:nvPr/>
        </p:nvSpPr>
        <p:spPr>
          <a:xfrm>
            <a:off x="15583205" y="7000646"/>
            <a:ext cx="1714500" cy="381305"/>
          </a:xfrm>
          <a:prstGeom prst="rect">
            <a:avLst/>
          </a:prstGeom>
          <a:noFill/>
          <a:ln/>
        </p:spPr>
        <p:txBody>
          <a:bodyPr wrap="none" lIns="0" tIns="0" rIns="0" bIns="0" rtlCol="0" anchor="ctr"/>
          <a:lstStyle/>
          <a:p>
            <a:pPr algn="r" indent="0" marL="0">
              <a:buNone/>
            </a:pPr>
            <a:r>
              <a:rPr lang="en-US" sz="1050" b="1" dirty="0">
                <a:solidFill>
                  <a:srgbClr val="3F6F52"/>
                </a:solidFill>
                <a:latin typeface="Pretendard" pitchFamily="34" charset="0"/>
                <a:ea typeface="Pretendard" pitchFamily="34" charset="-122"/>
                <a:cs typeface="Pretendard" pitchFamily="34" charset="-120"/>
              </a:rPr>
              <a:t>+0.04</a:t>
            </a:r>
            <a:endParaRPr lang="en-US" sz="1050" dirty="0"/>
          </a:p>
        </p:txBody>
      </p:sp>
      <p:sp>
        <p:nvSpPr>
          <p:cNvPr id="244" name="Text 219"/>
          <p:cNvSpPr txBox="1"/>
          <p:nvPr/>
        </p:nvSpPr>
        <p:spPr>
          <a:xfrm>
            <a:off x="9562795" y="7391095"/>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W03</a:t>
            </a:r>
            <a:endParaRPr lang="en-US" sz="1050" dirty="0"/>
          </a:p>
        </p:txBody>
      </p:sp>
      <p:sp>
        <p:nvSpPr>
          <p:cNvPr id="245" name="Text 220"/>
          <p:cNvSpPr txBox="1"/>
          <p:nvPr/>
        </p:nvSpPr>
        <p:spPr>
          <a:xfrm>
            <a:off x="15583205" y="7391095"/>
            <a:ext cx="1714500" cy="381305"/>
          </a:xfrm>
          <a:prstGeom prst="rect">
            <a:avLst/>
          </a:prstGeom>
          <a:noFill/>
          <a:ln/>
        </p:spPr>
        <p:txBody>
          <a:bodyPr wrap="none" lIns="0" tIns="0" rIns="0" bIns="0" rtlCol="0" anchor="ctr"/>
          <a:lstStyle/>
          <a:p>
            <a:pPr algn="r" indent="0" marL="0">
              <a:buNone/>
            </a:pPr>
            <a:r>
              <a:rPr lang="en-US" sz="1050" b="1" dirty="0">
                <a:solidFill>
                  <a:srgbClr val="B47A1F"/>
                </a:solidFill>
                <a:latin typeface="Pretendard" pitchFamily="34" charset="0"/>
                <a:ea typeface="Pretendard" pitchFamily="34" charset="-122"/>
                <a:cs typeface="Pretendard" pitchFamily="34" charset="-120"/>
              </a:rPr>
              <a:t>+0.16</a:t>
            </a:r>
            <a:endParaRPr lang="en-US" sz="1050" dirty="0"/>
          </a:p>
        </p:txBody>
      </p:sp>
      <p:sp>
        <p:nvSpPr>
          <p:cNvPr id="246" name="Text 221"/>
          <p:cNvSpPr txBox="1"/>
          <p:nvPr/>
        </p:nvSpPr>
        <p:spPr>
          <a:xfrm>
            <a:off x="9562795" y="7781544"/>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W04</a:t>
            </a:r>
            <a:endParaRPr lang="en-US" sz="1050" dirty="0"/>
          </a:p>
        </p:txBody>
      </p:sp>
      <p:sp>
        <p:nvSpPr>
          <p:cNvPr id="247" name="Text 222"/>
          <p:cNvSpPr txBox="1"/>
          <p:nvPr/>
        </p:nvSpPr>
        <p:spPr>
          <a:xfrm>
            <a:off x="15583205" y="7781544"/>
            <a:ext cx="1714500" cy="381305"/>
          </a:xfrm>
          <a:prstGeom prst="rect">
            <a:avLst/>
          </a:prstGeom>
          <a:noFill/>
          <a:ln/>
        </p:spPr>
        <p:txBody>
          <a:bodyPr wrap="none" lIns="0" tIns="0" rIns="0" bIns="0" rtlCol="0" anchor="ctr"/>
          <a:lstStyle/>
          <a:p>
            <a:pPr algn="r" indent="0" marL="0">
              <a:buNone/>
            </a:pPr>
            <a:r>
              <a:rPr lang="en-US" sz="1050" b="1" dirty="0">
                <a:solidFill>
                  <a:srgbClr val="4A6B82"/>
                </a:solidFill>
                <a:latin typeface="Pretendard" pitchFamily="34" charset="0"/>
                <a:ea typeface="Pretendard" pitchFamily="34" charset="-122"/>
                <a:cs typeface="Pretendard" pitchFamily="34" charset="-120"/>
              </a:rPr>
              <a:t>−0.05</a:t>
            </a:r>
            <a:endParaRPr lang="en-US" sz="1050" dirty="0"/>
          </a:p>
        </p:txBody>
      </p:sp>
      <p:sp>
        <p:nvSpPr>
          <p:cNvPr id="248" name="Text 223"/>
          <p:cNvSpPr txBox="1"/>
          <p:nvPr/>
        </p:nvSpPr>
        <p:spPr>
          <a:xfrm>
            <a:off x="9562795" y="8172907"/>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W05</a:t>
            </a:r>
            <a:endParaRPr lang="en-US" sz="1050" dirty="0"/>
          </a:p>
        </p:txBody>
      </p:sp>
      <p:sp>
        <p:nvSpPr>
          <p:cNvPr id="249" name="Text 224"/>
          <p:cNvSpPr txBox="1"/>
          <p:nvPr/>
        </p:nvSpPr>
        <p:spPr>
          <a:xfrm>
            <a:off x="15583205" y="8172907"/>
            <a:ext cx="1714500" cy="381305"/>
          </a:xfrm>
          <a:prstGeom prst="rect">
            <a:avLst/>
          </a:prstGeom>
          <a:noFill/>
          <a:ln/>
        </p:spPr>
        <p:txBody>
          <a:bodyPr wrap="none" lIns="0" tIns="0" rIns="0" bIns="0" rtlCol="0" anchor="ctr"/>
          <a:lstStyle/>
          <a:p>
            <a:pPr algn="r" indent="0" marL="0">
              <a:buNone/>
            </a:pPr>
            <a:r>
              <a:rPr lang="en-US" sz="1050" b="1" dirty="0">
                <a:solidFill>
                  <a:srgbClr val="3F6F52"/>
                </a:solidFill>
                <a:latin typeface="Pretendard" pitchFamily="34" charset="0"/>
                <a:ea typeface="Pretendard" pitchFamily="34" charset="-122"/>
                <a:cs typeface="Pretendard" pitchFamily="34" charset="-120"/>
              </a:rPr>
              <a:t>+0.01</a:t>
            </a:r>
            <a:endParaRPr lang="en-US" sz="1050" dirty="0"/>
          </a:p>
        </p:txBody>
      </p:sp>
      <p:sp>
        <p:nvSpPr>
          <p:cNvPr id="250" name="Text 225"/>
          <p:cNvSpPr txBox="1"/>
          <p:nvPr/>
        </p:nvSpPr>
        <p:spPr>
          <a:xfrm>
            <a:off x="9562795" y="8563356"/>
            <a:ext cx="571500" cy="381305"/>
          </a:xfrm>
          <a:prstGeom prst="rect">
            <a:avLst/>
          </a:prstGeom>
          <a:noFill/>
          <a:ln/>
        </p:spPr>
        <p:txBody>
          <a:bodyPr wrap="none" lIns="0" tIns="0" rIns="0" bIns="0" rtlCol="0" anchor="ctr"/>
          <a:lstStyle/>
          <a:p>
            <a:pPr algn="ctr" indent="0" marL="0">
              <a:buNone/>
            </a:pPr>
            <a:r>
              <a:rPr lang="en-US" sz="1050" b="1" dirty="0">
                <a:solidFill>
                  <a:srgbClr val="FFFFFF"/>
                </a:solidFill>
                <a:latin typeface="Pretendard" pitchFamily="34" charset="0"/>
                <a:ea typeface="Pretendard" pitchFamily="34" charset="-122"/>
                <a:cs typeface="Pretendard" pitchFamily="34" charset="-120"/>
              </a:rPr>
              <a:t>W06</a:t>
            </a:r>
            <a:endParaRPr lang="en-US" sz="1050" dirty="0"/>
          </a:p>
        </p:txBody>
      </p:sp>
      <p:sp>
        <p:nvSpPr>
          <p:cNvPr id="251" name="Text 226"/>
          <p:cNvSpPr txBox="1"/>
          <p:nvPr/>
        </p:nvSpPr>
        <p:spPr>
          <a:xfrm>
            <a:off x="15583205" y="8563356"/>
            <a:ext cx="1714500" cy="381305"/>
          </a:xfrm>
          <a:prstGeom prst="rect">
            <a:avLst/>
          </a:prstGeom>
          <a:noFill/>
          <a:ln/>
        </p:spPr>
        <p:txBody>
          <a:bodyPr wrap="none" lIns="0" tIns="0" rIns="0" bIns="0" rtlCol="0" anchor="ctr"/>
          <a:lstStyle/>
          <a:p>
            <a:pPr algn="r" indent="0" marL="0">
              <a:buNone/>
            </a:pPr>
            <a:r>
              <a:rPr lang="en-US" sz="1050" b="1" dirty="0">
                <a:solidFill>
                  <a:srgbClr val="3F6F52"/>
                </a:solidFill>
                <a:latin typeface="Pretendard" pitchFamily="34" charset="0"/>
                <a:ea typeface="Pretendard" pitchFamily="34" charset="-122"/>
                <a:cs typeface="Pretendard" pitchFamily="34" charset="-120"/>
              </a:rPr>
              <a:t>+0.08</a:t>
            </a:r>
            <a:endParaRPr lang="en-US" sz="1050" dirty="0"/>
          </a:p>
        </p:txBody>
      </p:sp>
      <p:sp>
        <p:nvSpPr>
          <p:cNvPr id="252" name="Text 227"/>
          <p:cNvSpPr txBox="1"/>
          <p:nvPr/>
        </p:nvSpPr>
        <p:spPr>
          <a:xfrm>
            <a:off x="800100" y="9296705"/>
            <a:ext cx="16193110" cy="200254"/>
          </a:xfrm>
          <a:prstGeom prst="rect">
            <a:avLst/>
          </a:prstGeom>
          <a:noFill/>
          <a:ln/>
        </p:spPr>
        <p:txBody>
          <a:bodyPr wrap="none" lIns="0" tIns="0" rIns="0" bIns="0" rtlCol="0" anchor="ctr"/>
          <a:lstStyle/>
          <a:p>
            <a:pPr algn="l" indent="0" marL="0">
              <a:buNone/>
            </a:pPr>
            <a:r>
              <a:rPr lang="en-US" sz="825" dirty="0">
                <a:solidFill>
                  <a:srgbClr val="FFFFFF"/>
                </a:solidFill>
                <a:latin typeface="Pretendard" pitchFamily="34" charset="0"/>
                <a:ea typeface="Pretendard" pitchFamily="34" charset="-122"/>
                <a:cs typeface="Pretendard" pitchFamily="34" charset="-120"/>
              </a:rPr>
              <a:t>KEY TAKEAWAY</a:t>
            </a:r>
            <a:pPr algn="l" indent="0" marL="0">
              <a:buNone/>
            </a:pPr>
            <a:r>
              <a:rPr lang="en-US" sz="1125" dirty="0">
                <a:solidFill>
                  <a:srgbClr val="FFFFFF"/>
                </a:solidFill>
                <a:latin typeface="Pretendard" pitchFamily="34" charset="0"/>
                <a:ea typeface="Pretendard" pitchFamily="34" charset="-122"/>
                <a:cs typeface="Pretendard" pitchFamily="34" charset="-120"/>
              </a:rPr>
              <a:t> 6 wafer × 4 metric 전반에서 Split B가 Split A 대비 일관되게 좁은 3σ — W03은 AASI Δ +0.30 가장자리 OOT 사례.</a:t>
            </a:r>
            <a:endParaRPr lang="en-US" sz="1125" dirty="0"/>
          </a:p>
        </p:txBody>
      </p:sp>
      <p:sp>
        <p:nvSpPr>
          <p:cNvPr id="253" name="Text 228"/>
          <p:cNvSpPr txBox="1"/>
          <p:nvPr/>
        </p:nvSpPr>
        <p:spPr>
          <a:xfrm>
            <a:off x="571500" y="9829800"/>
            <a:ext cx="12382805"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 내부 테스트용 더미(가상) 데이터 — 본 자료의 wafer ID/stats 는 모두 가설</a:t>
            </a:r>
            <a:endParaRPr lang="en-US" sz="900" dirty="0"/>
          </a:p>
        </p:txBody>
      </p:sp>
      <p:sp>
        <p:nvSpPr>
          <p:cNvPr id="254" name="Text 229"/>
          <p:cNvSpPr txBox="1"/>
          <p:nvPr/>
        </p:nvSpPr>
        <p:spPr>
          <a:xfrm>
            <a:off x="16192195" y="9829800"/>
            <a:ext cx="1524305" cy="162763"/>
          </a:xfrm>
          <a:prstGeom prst="rect">
            <a:avLst/>
          </a:prstGeom>
          <a:noFill/>
          <a:ln/>
        </p:spPr>
        <p:txBody>
          <a:bodyPr wrap="none" lIns="0" tIns="0" rIns="0" bIns="0" rtlCol="0" anchor="ctr"/>
          <a:lstStyle/>
          <a:p>
            <a:pPr algn="r" indent="0" marL="0">
              <a:buNone/>
            </a:pPr>
            <a:r>
              <a:rPr lang="en-US" sz="900" dirty="0">
                <a:solidFill>
                  <a:srgbClr val="7A8898"/>
                </a:solidFill>
                <a:latin typeface="Pretendard" pitchFamily="34" charset="0"/>
                <a:ea typeface="Pretendard" pitchFamily="34" charset="-122"/>
                <a:cs typeface="Pretendard" pitchFamily="34" charset="-120"/>
              </a:rPr>
              <a:t>05 / 09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BEEF2"/>
        </a:solidFill>
      </p:bgPr>
    </p:bg>
    <p:spTree>
      <p:nvGrpSpPr>
        <p:cNvPr id="1" name=""/>
        <p:cNvGrpSpPr/>
        <p:nvPr/>
      </p:nvGrpSpPr>
      <p:grpSpPr>
        <a:xfrm>
          <a:off x="0" y="0"/>
          <a:ext cx="0" cy="0"/>
          <a:chOff x="0" y="0"/>
          <a:chExt cx="0" cy="0"/>
        </a:xfrm>
      </p:grpSpPr>
      <p:sp>
        <p:nvSpPr>
          <p:cNvPr id="3" name="Shape 0"/>
          <p:cNvSpPr/>
          <p:nvPr/>
        </p:nvSpPr>
        <p:spPr>
          <a:xfrm>
            <a:off x="0" y="0"/>
            <a:ext cx="18288000" cy="1123798"/>
          </a:xfrm>
          <a:prstGeom prst="rect">
            <a:avLst/>
          </a:prstGeom>
          <a:solidFill>
            <a:srgbClr val="FFFFFF"/>
          </a:solidFill>
          <a:ln/>
        </p:spPr>
      </p:sp>
      <p:sp>
        <p:nvSpPr>
          <p:cNvPr id="4" name="Shape 1"/>
          <p:cNvSpPr/>
          <p:nvPr/>
        </p:nvSpPr>
        <p:spPr>
          <a:xfrm>
            <a:off x="0" y="1114654"/>
            <a:ext cx="18288000" cy="9144"/>
          </a:xfrm>
          <a:prstGeom prst="rect">
            <a:avLst/>
          </a:prstGeom>
          <a:solidFill>
            <a:srgbClr val="C8CED6"/>
          </a:solidFill>
          <a:ln w="12700">
            <a:solidFill>
              <a:srgbClr val="C8CED6">
                <a:alpha val="0"/>
              </a:srgbClr>
            </a:solidFill>
            <a:prstDash val="solid"/>
          </a:ln>
        </p:spPr>
      </p:sp>
      <p:sp>
        <p:nvSpPr>
          <p:cNvPr id="5" name="Shape 2"/>
          <p:cNvSpPr/>
          <p:nvPr/>
        </p:nvSpPr>
        <p:spPr>
          <a:xfrm>
            <a:off x="571500" y="1619402"/>
            <a:ext cx="11239805" cy="5333695"/>
          </a:xfrm>
          <a:prstGeom prst="rect">
            <a:avLst/>
          </a:prstGeom>
          <a:solidFill>
            <a:srgbClr val="FFFFFF"/>
          </a:solidFill>
          <a:ln w="12700">
            <a:solidFill>
              <a:srgbClr val="C8CED6"/>
            </a:solidFill>
            <a:prstDash val="solid"/>
          </a:ln>
        </p:spPr>
      </p:sp>
      <p:sp>
        <p:nvSpPr>
          <p:cNvPr id="6" name="Shape 3"/>
          <p:cNvSpPr/>
          <p:nvPr/>
        </p:nvSpPr>
        <p:spPr>
          <a:xfrm>
            <a:off x="12001500" y="1619402"/>
            <a:ext cx="5715000" cy="5333695"/>
          </a:xfrm>
          <a:prstGeom prst="rect">
            <a:avLst/>
          </a:prstGeom>
          <a:solidFill>
            <a:srgbClr val="FFFFFF"/>
          </a:solidFill>
          <a:ln w="12700">
            <a:solidFill>
              <a:srgbClr val="C8CED6"/>
            </a:solidFill>
            <a:prstDash val="solid"/>
          </a:ln>
        </p:spPr>
      </p:sp>
      <p:sp>
        <p:nvSpPr>
          <p:cNvPr id="7" name="Shape 4"/>
          <p:cNvSpPr/>
          <p:nvPr/>
        </p:nvSpPr>
        <p:spPr>
          <a:xfrm>
            <a:off x="571500" y="7144207"/>
            <a:ext cx="17145000" cy="1143000"/>
          </a:xfrm>
          <a:prstGeom prst="rect">
            <a:avLst/>
          </a:prstGeom>
          <a:solidFill>
            <a:srgbClr val="FFFFFF"/>
          </a:solidFill>
          <a:ln w="12700">
            <a:solidFill>
              <a:srgbClr val="C8CED6"/>
            </a:solidFill>
            <a:prstDash val="solid"/>
          </a:ln>
        </p:spPr>
      </p:sp>
      <p:pic>
        <p:nvPicPr>
          <p:cNvPr id="8" name="Image 0" descr="gen-dedup-74de5ec3332f686492655bfad531efc9.png">    </p:cNvPr>
          <p:cNvPicPr>
            <a:picLocks noChangeAspect="1"/>
          </p:cNvPicPr>
          <p:nvPr/>
        </p:nvPicPr>
        <p:blipFill>
          <a:blip r:embed="rId1"/>
          <a:srcRect l="-17" r="-17" t="0" b="0"/>
          <a:stretch/>
        </p:blipFill>
        <p:spPr>
          <a:xfrm>
            <a:off x="571500" y="9239098"/>
            <a:ext cx="17145000" cy="437998"/>
          </a:xfrm>
          <a:prstGeom prst="rect">
            <a:avLst/>
          </a:prstGeom>
        </p:spPr>
      </p:pic>
      <p:pic>
        <p:nvPicPr>
          <p:cNvPr id="9" name="Image 1" descr="gen-dedup-68bac70ffc575f7be58fcf62b0930262.png">    </p:cNvPr>
          <p:cNvPicPr>
            <a:picLocks noChangeAspect="1"/>
          </p:cNvPicPr>
          <p:nvPr/>
        </p:nvPicPr>
        <p:blipFill>
          <a:blip r:embed="rId2"/>
          <a:srcRect l="-2083" r="-2083" t="0" b="0"/>
          <a:stretch/>
        </p:blipFill>
        <p:spPr>
          <a:xfrm>
            <a:off x="0" y="9810598"/>
            <a:ext cx="18288000" cy="9144"/>
          </a:xfrm>
          <a:prstGeom prst="rect">
            <a:avLst/>
          </a:prstGeom>
        </p:spPr>
      </p:pic>
      <p:sp>
        <p:nvSpPr>
          <p:cNvPr id="10" name="Shape 5"/>
          <p:cNvSpPr/>
          <p:nvPr/>
        </p:nvSpPr>
        <p:spPr>
          <a:xfrm>
            <a:off x="800100" y="2495398"/>
            <a:ext cx="10782605" cy="4267505"/>
          </a:xfrm>
          <a:prstGeom prst="rect">
            <a:avLst/>
          </a:prstGeom>
          <a:solidFill>
            <a:srgbClr val="F7F9FB"/>
          </a:solidFill>
          <a:ln w="12700">
            <a:solidFill>
              <a:srgbClr val="D7DCE2"/>
            </a:solidFill>
            <a:prstDash val="solid"/>
          </a:ln>
        </p:spPr>
      </p:sp>
      <p:sp>
        <p:nvSpPr>
          <p:cNvPr id="11" name="Shape 6"/>
          <p:cNvSpPr/>
          <p:nvPr/>
        </p:nvSpPr>
        <p:spPr>
          <a:xfrm>
            <a:off x="12230100" y="2247595"/>
            <a:ext cx="5257800" cy="609905"/>
          </a:xfrm>
          <a:prstGeom prst="rect">
            <a:avLst/>
          </a:prstGeom>
          <a:solidFill>
            <a:srgbClr val="F7F9FB"/>
          </a:solidFill>
          <a:ln w="12700">
            <a:solidFill>
              <a:srgbClr val="FFFFFF">
                <a:alpha val="0"/>
              </a:srgbClr>
            </a:solidFill>
            <a:prstDash val="solid"/>
          </a:ln>
        </p:spPr>
      </p:sp>
      <p:sp>
        <p:nvSpPr>
          <p:cNvPr id="12" name="Shape 7"/>
          <p:cNvSpPr/>
          <p:nvPr/>
        </p:nvSpPr>
        <p:spPr>
          <a:xfrm>
            <a:off x="12230100" y="2933395"/>
            <a:ext cx="5257800" cy="609905"/>
          </a:xfrm>
          <a:prstGeom prst="rect">
            <a:avLst/>
          </a:prstGeom>
          <a:solidFill>
            <a:srgbClr val="F7F9FB"/>
          </a:solidFill>
          <a:ln w="12700">
            <a:solidFill>
              <a:srgbClr val="FFFFFF">
                <a:alpha val="0"/>
              </a:srgbClr>
            </a:solidFill>
            <a:prstDash val="solid"/>
          </a:ln>
        </p:spPr>
      </p:sp>
      <p:sp>
        <p:nvSpPr>
          <p:cNvPr id="13" name="Shape 8"/>
          <p:cNvSpPr/>
          <p:nvPr/>
        </p:nvSpPr>
        <p:spPr>
          <a:xfrm>
            <a:off x="12230100" y="3619195"/>
            <a:ext cx="5257800" cy="609905"/>
          </a:xfrm>
          <a:prstGeom prst="rect">
            <a:avLst/>
          </a:prstGeom>
          <a:solidFill>
            <a:srgbClr val="F7F9FB"/>
          </a:solidFill>
          <a:ln w="12700">
            <a:solidFill>
              <a:srgbClr val="FFFFFF">
                <a:alpha val="0"/>
              </a:srgbClr>
            </a:solidFill>
            <a:prstDash val="solid"/>
          </a:ln>
        </p:spPr>
      </p:sp>
      <p:sp>
        <p:nvSpPr>
          <p:cNvPr id="14" name="Shape 9"/>
          <p:cNvSpPr/>
          <p:nvPr/>
        </p:nvSpPr>
        <p:spPr>
          <a:xfrm>
            <a:off x="12230100" y="4381805"/>
            <a:ext cx="5257800" cy="1238098"/>
          </a:xfrm>
          <a:prstGeom prst="rect">
            <a:avLst/>
          </a:prstGeom>
          <a:solidFill>
            <a:srgbClr val="F7F9FB"/>
          </a:solidFill>
          <a:ln/>
        </p:spPr>
      </p:sp>
      <p:sp>
        <p:nvSpPr>
          <p:cNvPr id="15" name="Shape 10"/>
          <p:cNvSpPr/>
          <p:nvPr/>
        </p:nvSpPr>
        <p:spPr>
          <a:xfrm>
            <a:off x="12230100" y="4381805"/>
            <a:ext cx="57607" cy="1238098"/>
          </a:xfrm>
          <a:prstGeom prst="rect">
            <a:avLst/>
          </a:prstGeom>
          <a:solidFill>
            <a:srgbClr val="2E6F8E"/>
          </a:solidFill>
          <a:ln w="12700">
            <a:solidFill>
              <a:srgbClr val="2E6F8E">
                <a:alpha val="0"/>
              </a:srgbClr>
            </a:solidFill>
            <a:prstDash val="solid"/>
          </a:ln>
        </p:spPr>
      </p:sp>
      <p:sp>
        <p:nvSpPr>
          <p:cNvPr id="16" name="Shape 11"/>
          <p:cNvSpPr/>
          <p:nvPr/>
        </p:nvSpPr>
        <p:spPr>
          <a:xfrm>
            <a:off x="12230100" y="5715000"/>
            <a:ext cx="5257800" cy="1238098"/>
          </a:xfrm>
          <a:prstGeom prst="rect">
            <a:avLst/>
          </a:prstGeom>
          <a:solidFill>
            <a:srgbClr val="F7F9FB"/>
          </a:solidFill>
          <a:ln/>
        </p:spPr>
      </p:sp>
      <p:sp>
        <p:nvSpPr>
          <p:cNvPr id="17" name="Shape 12"/>
          <p:cNvSpPr/>
          <p:nvPr/>
        </p:nvSpPr>
        <p:spPr>
          <a:xfrm>
            <a:off x="12230100" y="5715000"/>
            <a:ext cx="57607" cy="1238098"/>
          </a:xfrm>
          <a:prstGeom prst="rect">
            <a:avLst/>
          </a:prstGeom>
          <a:solidFill>
            <a:srgbClr val="C8552D"/>
          </a:solidFill>
          <a:ln w="12700">
            <a:solidFill>
              <a:srgbClr val="C8552D">
                <a:alpha val="0"/>
              </a:srgbClr>
            </a:solidFill>
            <a:prstDash val="solid"/>
          </a:ln>
        </p:spPr>
      </p:sp>
      <p:pic>
        <p:nvPicPr>
          <p:cNvPr id="18" name="Image 2" descr="gen-dedup-448effbd2be507d0c972793c55928a52.png">    </p:cNvPr>
          <p:cNvPicPr>
            <a:picLocks noChangeAspect="1"/>
          </p:cNvPicPr>
          <p:nvPr/>
        </p:nvPicPr>
        <p:blipFill>
          <a:blip r:embed="rId3"/>
          <a:srcRect l="-400" r="-400" t="0" b="0"/>
          <a:stretch/>
        </p:blipFill>
        <p:spPr>
          <a:xfrm>
            <a:off x="571500" y="7144207"/>
            <a:ext cx="57607" cy="1143000"/>
          </a:xfrm>
          <a:prstGeom prst="rect">
            <a:avLst/>
          </a:prstGeom>
        </p:spPr>
      </p:pic>
      <p:sp>
        <p:nvSpPr>
          <p:cNvPr id="19" name="Shape 13"/>
          <p:cNvSpPr/>
          <p:nvPr/>
        </p:nvSpPr>
        <p:spPr>
          <a:xfrm>
            <a:off x="800100" y="3010205"/>
            <a:ext cx="761695" cy="609905"/>
          </a:xfrm>
          <a:prstGeom prst="rect">
            <a:avLst/>
          </a:prstGeom>
          <a:solidFill>
            <a:srgbClr val="2E6F8E"/>
          </a:solidFill>
          <a:ln w="12700">
            <a:solidFill>
              <a:srgbClr val="FFFFFF">
                <a:alpha val="0"/>
              </a:srgbClr>
            </a:solidFill>
            <a:prstDash val="solid"/>
          </a:ln>
        </p:spPr>
      </p:sp>
      <p:sp>
        <p:nvSpPr>
          <p:cNvPr id="20" name="Shape 14"/>
          <p:cNvSpPr/>
          <p:nvPr/>
        </p:nvSpPr>
        <p:spPr>
          <a:xfrm>
            <a:off x="7810805" y="3200400"/>
            <a:ext cx="1333195" cy="228600"/>
          </a:xfrm>
          <a:prstGeom prst="rect">
            <a:avLst/>
          </a:prstGeom>
          <a:solidFill>
            <a:srgbClr val="F2E2C7"/>
          </a:solidFill>
          <a:ln w="12700">
            <a:solidFill>
              <a:srgbClr val="FFFFFF">
                <a:alpha val="0"/>
              </a:srgbClr>
            </a:solidFill>
            <a:prstDash val="solid"/>
          </a:ln>
        </p:spPr>
      </p:sp>
      <p:pic>
        <p:nvPicPr>
          <p:cNvPr id="21" name="Image 3" descr="gen-dedup-b432c84152ac06e3775b720da86442e5.png">    </p:cNvPr>
          <p:cNvPicPr>
            <a:picLocks noChangeAspect="1"/>
          </p:cNvPicPr>
          <p:nvPr/>
        </p:nvPicPr>
        <p:blipFill>
          <a:blip r:embed="rId4"/>
          <a:srcRect l="-2083" r="-2083" t="0" b="0"/>
          <a:stretch/>
        </p:blipFill>
        <p:spPr>
          <a:xfrm>
            <a:off x="800100" y="3619195"/>
            <a:ext cx="10782605" cy="9144"/>
          </a:xfrm>
          <a:prstGeom prst="rect">
            <a:avLst/>
          </a:prstGeom>
        </p:spPr>
      </p:pic>
      <p:sp>
        <p:nvSpPr>
          <p:cNvPr id="22" name="Shape 15"/>
          <p:cNvSpPr/>
          <p:nvPr/>
        </p:nvSpPr>
        <p:spPr>
          <a:xfrm>
            <a:off x="800100" y="3629254"/>
            <a:ext cx="761695" cy="609905"/>
          </a:xfrm>
          <a:prstGeom prst="rect">
            <a:avLst/>
          </a:prstGeom>
          <a:solidFill>
            <a:srgbClr val="2E6F8E"/>
          </a:solidFill>
          <a:ln w="12700">
            <a:solidFill>
              <a:srgbClr val="FFFFFF">
                <a:alpha val="0"/>
              </a:srgbClr>
            </a:solidFill>
            <a:prstDash val="solid"/>
          </a:ln>
        </p:spPr>
      </p:sp>
      <p:sp>
        <p:nvSpPr>
          <p:cNvPr id="23" name="Shape 16"/>
          <p:cNvSpPr/>
          <p:nvPr/>
        </p:nvSpPr>
        <p:spPr>
          <a:xfrm>
            <a:off x="7810805" y="3819449"/>
            <a:ext cx="1333195" cy="228600"/>
          </a:xfrm>
          <a:prstGeom prst="rect">
            <a:avLst/>
          </a:prstGeom>
          <a:solidFill>
            <a:srgbClr val="DCE9DF"/>
          </a:solidFill>
          <a:ln w="12700">
            <a:solidFill>
              <a:srgbClr val="FFFFFF">
                <a:alpha val="0"/>
              </a:srgbClr>
            </a:solidFill>
            <a:prstDash val="solid"/>
          </a:ln>
        </p:spPr>
      </p:sp>
      <p:pic>
        <p:nvPicPr>
          <p:cNvPr id="24" name="Image 4" descr="gen-dedup-b432c84152ac06e3775b720da86442e5.png">    </p:cNvPr>
          <p:cNvPicPr>
            <a:picLocks noChangeAspect="1"/>
          </p:cNvPicPr>
          <p:nvPr/>
        </p:nvPicPr>
        <p:blipFill>
          <a:blip r:embed="rId5"/>
          <a:srcRect l="-2083" r="-2083" t="0" b="0"/>
          <a:stretch/>
        </p:blipFill>
        <p:spPr>
          <a:xfrm>
            <a:off x="800100" y="4238244"/>
            <a:ext cx="10782605" cy="9144"/>
          </a:xfrm>
          <a:prstGeom prst="rect">
            <a:avLst/>
          </a:prstGeom>
        </p:spPr>
      </p:pic>
      <p:sp>
        <p:nvSpPr>
          <p:cNvPr id="25" name="Shape 17"/>
          <p:cNvSpPr/>
          <p:nvPr/>
        </p:nvSpPr>
        <p:spPr>
          <a:xfrm>
            <a:off x="800100" y="4248302"/>
            <a:ext cx="761695" cy="609905"/>
          </a:xfrm>
          <a:prstGeom prst="rect">
            <a:avLst/>
          </a:prstGeom>
          <a:solidFill>
            <a:srgbClr val="2E6F8E"/>
          </a:solidFill>
          <a:ln w="12700">
            <a:solidFill>
              <a:srgbClr val="FFFFFF">
                <a:alpha val="0"/>
              </a:srgbClr>
            </a:solidFill>
            <a:prstDash val="solid"/>
          </a:ln>
        </p:spPr>
      </p:sp>
      <p:sp>
        <p:nvSpPr>
          <p:cNvPr id="26" name="Shape 18"/>
          <p:cNvSpPr/>
          <p:nvPr/>
        </p:nvSpPr>
        <p:spPr>
          <a:xfrm>
            <a:off x="7810805" y="4438498"/>
            <a:ext cx="1333195" cy="228600"/>
          </a:xfrm>
          <a:prstGeom prst="rect">
            <a:avLst/>
          </a:prstGeom>
          <a:solidFill>
            <a:srgbClr val="F0D5CE"/>
          </a:solidFill>
          <a:ln w="12700">
            <a:solidFill>
              <a:srgbClr val="FFFFFF">
                <a:alpha val="0"/>
              </a:srgbClr>
            </a:solidFill>
            <a:prstDash val="solid"/>
          </a:ln>
        </p:spPr>
      </p:sp>
      <p:pic>
        <p:nvPicPr>
          <p:cNvPr id="27" name="Image 5" descr="gen-dedup-b432c84152ac06e3775b720da86442e5.png">    </p:cNvPr>
          <p:cNvPicPr>
            <a:picLocks noChangeAspect="1"/>
          </p:cNvPicPr>
          <p:nvPr/>
        </p:nvPicPr>
        <p:blipFill>
          <a:blip r:embed="rId6"/>
          <a:srcRect l="-2083" r="-2083" t="0" b="0"/>
          <a:stretch/>
        </p:blipFill>
        <p:spPr>
          <a:xfrm>
            <a:off x="800100" y="4858207"/>
            <a:ext cx="10782605" cy="9144"/>
          </a:xfrm>
          <a:prstGeom prst="rect">
            <a:avLst/>
          </a:prstGeom>
        </p:spPr>
      </p:pic>
      <p:sp>
        <p:nvSpPr>
          <p:cNvPr id="28" name="Shape 19"/>
          <p:cNvSpPr/>
          <p:nvPr/>
        </p:nvSpPr>
        <p:spPr>
          <a:xfrm>
            <a:off x="800100" y="4867351"/>
            <a:ext cx="761695" cy="609905"/>
          </a:xfrm>
          <a:prstGeom prst="rect">
            <a:avLst/>
          </a:prstGeom>
          <a:solidFill>
            <a:srgbClr val="C8552D"/>
          </a:solidFill>
          <a:ln w="12700">
            <a:solidFill>
              <a:srgbClr val="FFFFFF">
                <a:alpha val="0"/>
              </a:srgbClr>
            </a:solidFill>
            <a:prstDash val="solid"/>
          </a:ln>
        </p:spPr>
      </p:sp>
      <p:sp>
        <p:nvSpPr>
          <p:cNvPr id="29" name="Shape 20"/>
          <p:cNvSpPr/>
          <p:nvPr/>
        </p:nvSpPr>
        <p:spPr>
          <a:xfrm>
            <a:off x="7810805" y="5057546"/>
            <a:ext cx="1333195" cy="228600"/>
          </a:xfrm>
          <a:prstGeom prst="rect">
            <a:avLst/>
          </a:prstGeom>
          <a:solidFill>
            <a:srgbClr val="DCE9DF"/>
          </a:solidFill>
          <a:ln w="12700">
            <a:solidFill>
              <a:srgbClr val="FFFFFF">
                <a:alpha val="0"/>
              </a:srgbClr>
            </a:solidFill>
            <a:prstDash val="solid"/>
          </a:ln>
        </p:spPr>
      </p:sp>
      <p:pic>
        <p:nvPicPr>
          <p:cNvPr id="30" name="Image 6" descr="gen-dedup-b432c84152ac06e3775b720da86442e5.png">    </p:cNvPr>
          <p:cNvPicPr>
            <a:picLocks noChangeAspect="1"/>
          </p:cNvPicPr>
          <p:nvPr/>
        </p:nvPicPr>
        <p:blipFill>
          <a:blip r:embed="rId7"/>
          <a:srcRect l="-2083" r="-2083" t="0" b="0"/>
          <a:stretch/>
        </p:blipFill>
        <p:spPr>
          <a:xfrm>
            <a:off x="800100" y="5477256"/>
            <a:ext cx="10782605" cy="9144"/>
          </a:xfrm>
          <a:prstGeom prst="rect">
            <a:avLst/>
          </a:prstGeom>
        </p:spPr>
      </p:pic>
      <p:sp>
        <p:nvSpPr>
          <p:cNvPr id="31" name="Shape 21"/>
          <p:cNvSpPr/>
          <p:nvPr/>
        </p:nvSpPr>
        <p:spPr>
          <a:xfrm>
            <a:off x="800100" y="5486400"/>
            <a:ext cx="761695" cy="609905"/>
          </a:xfrm>
          <a:prstGeom prst="rect">
            <a:avLst/>
          </a:prstGeom>
          <a:solidFill>
            <a:srgbClr val="C8552D"/>
          </a:solidFill>
          <a:ln w="12700">
            <a:solidFill>
              <a:srgbClr val="FFFFFF">
                <a:alpha val="0"/>
              </a:srgbClr>
            </a:solidFill>
            <a:prstDash val="solid"/>
          </a:ln>
        </p:spPr>
      </p:sp>
      <p:sp>
        <p:nvSpPr>
          <p:cNvPr id="32" name="Shape 22"/>
          <p:cNvSpPr/>
          <p:nvPr/>
        </p:nvSpPr>
        <p:spPr>
          <a:xfrm>
            <a:off x="7810805" y="5676595"/>
            <a:ext cx="1333195" cy="228600"/>
          </a:xfrm>
          <a:prstGeom prst="rect">
            <a:avLst/>
          </a:prstGeom>
          <a:solidFill>
            <a:srgbClr val="DCE9DF"/>
          </a:solidFill>
          <a:ln w="12700">
            <a:solidFill>
              <a:srgbClr val="FFFFFF">
                <a:alpha val="0"/>
              </a:srgbClr>
            </a:solidFill>
            <a:prstDash val="solid"/>
          </a:ln>
        </p:spPr>
      </p:sp>
      <p:pic>
        <p:nvPicPr>
          <p:cNvPr id="33" name="Image 7" descr="gen-dedup-b432c84152ac06e3775b720da86442e5.png">    </p:cNvPr>
          <p:cNvPicPr>
            <a:picLocks noChangeAspect="1"/>
          </p:cNvPicPr>
          <p:nvPr/>
        </p:nvPicPr>
        <p:blipFill>
          <a:blip r:embed="rId8"/>
          <a:srcRect l="-2083" r="-2083" t="0" b="0"/>
          <a:stretch/>
        </p:blipFill>
        <p:spPr>
          <a:xfrm>
            <a:off x="800100" y="6096305"/>
            <a:ext cx="10782605" cy="9144"/>
          </a:xfrm>
          <a:prstGeom prst="rect">
            <a:avLst/>
          </a:prstGeom>
        </p:spPr>
      </p:pic>
      <p:sp>
        <p:nvSpPr>
          <p:cNvPr id="34" name="Shape 23"/>
          <p:cNvSpPr/>
          <p:nvPr/>
        </p:nvSpPr>
        <p:spPr>
          <a:xfrm>
            <a:off x="800100" y="6105449"/>
            <a:ext cx="761695" cy="609905"/>
          </a:xfrm>
          <a:prstGeom prst="rect">
            <a:avLst/>
          </a:prstGeom>
          <a:solidFill>
            <a:srgbClr val="C8552D"/>
          </a:solidFill>
          <a:ln w="12700">
            <a:solidFill>
              <a:srgbClr val="FFFFFF">
                <a:alpha val="0"/>
              </a:srgbClr>
            </a:solidFill>
            <a:prstDash val="solid"/>
          </a:ln>
        </p:spPr>
      </p:sp>
      <p:sp>
        <p:nvSpPr>
          <p:cNvPr id="35" name="Shape 24"/>
          <p:cNvSpPr/>
          <p:nvPr/>
        </p:nvSpPr>
        <p:spPr>
          <a:xfrm>
            <a:off x="7810805" y="6295644"/>
            <a:ext cx="1333195" cy="228600"/>
          </a:xfrm>
          <a:prstGeom prst="rect">
            <a:avLst/>
          </a:prstGeom>
          <a:solidFill>
            <a:srgbClr val="DCE9DF"/>
          </a:solidFill>
          <a:ln w="12700">
            <a:solidFill>
              <a:srgbClr val="FFFFFF">
                <a:alpha val="0"/>
              </a:srgbClr>
            </a:solidFill>
            <a:prstDash val="solid"/>
          </a:ln>
        </p:spPr>
      </p:sp>
      <p:sp>
        <p:nvSpPr>
          <p:cNvPr id="36" name="Text 25"/>
          <p:cNvSpPr txBox="1"/>
          <p:nvPr/>
        </p:nvSpPr>
        <p:spPr>
          <a:xfrm>
            <a:off x="800100" y="1848002"/>
            <a:ext cx="10858500" cy="181051"/>
          </a:xfrm>
          <a:prstGeom prst="rect">
            <a:avLst/>
          </a:prstGeom>
          <a:noFill/>
          <a:ln/>
        </p:spPr>
        <p:txBody>
          <a:bodyPr wrap="none" lIns="0" tIns="0" rIns="0" bIns="0" rtlCol="0" anchor="ctr"/>
          <a:lstStyle/>
          <a:p>
            <a:pPr algn="l" indent="0" marL="0">
              <a:buNone/>
            </a:pPr>
            <a:r>
              <a:rPr lang="en-US" sz="975" b="1" spc="273" kern="0" dirty="0">
                <a:solidFill>
                  <a:srgbClr val="2E6F8E"/>
                </a:solidFill>
                <a:latin typeface="Pretendard" pitchFamily="34" charset="0"/>
                <a:ea typeface="Pretendard" pitchFamily="34" charset="-122"/>
                <a:cs typeface="Pretendard" pitchFamily="34" charset="-120"/>
              </a:rPr>
              <a:t>UNIFORMITY LEDGER — AMI METRIC</a:t>
            </a:r>
            <a:endParaRPr lang="en-US" sz="975" dirty="0"/>
          </a:p>
        </p:txBody>
      </p:sp>
      <p:sp>
        <p:nvSpPr>
          <p:cNvPr id="37" name="Text 26"/>
          <p:cNvSpPr txBox="1"/>
          <p:nvPr/>
        </p:nvSpPr>
        <p:spPr>
          <a:xfrm>
            <a:off x="800100" y="2085746"/>
            <a:ext cx="10858500" cy="191110"/>
          </a:xfrm>
          <a:prstGeom prst="rect">
            <a:avLst/>
          </a:prstGeom>
          <a:noFill/>
          <a:ln/>
        </p:spPr>
        <p:txBody>
          <a:bodyPr wrap="none" lIns="0" tIns="0" rIns="0" bIns="0" rtlCol="0" anchor="ctr"/>
          <a:lstStyle/>
          <a:p>
            <a:pPr algn="l" indent="0" marL="0">
              <a:buNone/>
            </a:pPr>
            <a:r>
              <a:rPr lang="en-US" sz="1050" dirty="0">
                <a:solidFill>
                  <a:srgbClr val="44546A"/>
                </a:solidFill>
                <a:latin typeface="Pretendard" pitchFamily="34" charset="0"/>
                <a:ea typeface="Pretendard" pitchFamily="34" charset="-122"/>
                <a:cs typeface="Pretendard" pitchFamily="34" charset="-120"/>
              </a:rPr>
              <a:t>사이트간 분포 기준 — 각 wafer에서 25개 die × 1 line/site 측정 후 통계 산출. 1× 5 site 재현성 별도 측정 (Repeatability 컬럼).</a:t>
            </a:r>
            <a:endParaRPr lang="en-US" sz="1050" dirty="0"/>
          </a:p>
        </p:txBody>
      </p:sp>
      <p:sp>
        <p:nvSpPr>
          <p:cNvPr id="38" name="Shape 27"/>
          <p:cNvSpPr/>
          <p:nvPr/>
        </p:nvSpPr>
        <p:spPr>
          <a:xfrm>
            <a:off x="800100" y="2495398"/>
            <a:ext cx="10782605" cy="514807"/>
          </a:xfrm>
          <a:prstGeom prst="rect">
            <a:avLst/>
          </a:prstGeom>
          <a:solidFill>
            <a:srgbClr val="1B2535"/>
          </a:solidFill>
          <a:ln w="12700">
            <a:solidFill>
              <a:srgbClr val="FFFFFF">
                <a:alpha val="0"/>
              </a:srgbClr>
            </a:solidFill>
            <a:prstDash val="solid"/>
          </a:ln>
        </p:spPr>
      </p:sp>
      <p:sp>
        <p:nvSpPr>
          <p:cNvPr id="39" name="Text 28"/>
          <p:cNvSpPr txBox="1"/>
          <p:nvPr/>
        </p:nvSpPr>
        <p:spPr>
          <a:xfrm>
            <a:off x="2286000" y="3010205"/>
            <a:ext cx="1905610"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8.32</a:t>
            </a:r>
            <a:endParaRPr lang="en-US" sz="1650" dirty="0"/>
          </a:p>
        </p:txBody>
      </p:sp>
      <p:sp>
        <p:nvSpPr>
          <p:cNvPr id="40" name="Text 29"/>
          <p:cNvSpPr txBox="1"/>
          <p:nvPr/>
        </p:nvSpPr>
        <p:spPr>
          <a:xfrm>
            <a:off x="4381805" y="3010205"/>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0.61</a:t>
            </a:r>
            <a:endParaRPr lang="en-US" sz="1650" dirty="0"/>
          </a:p>
        </p:txBody>
      </p:sp>
      <p:sp>
        <p:nvSpPr>
          <p:cNvPr id="41" name="Text 30"/>
          <p:cNvSpPr txBox="1"/>
          <p:nvPr/>
        </p:nvSpPr>
        <p:spPr>
          <a:xfrm>
            <a:off x="6096305" y="3010205"/>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2.84</a:t>
            </a:r>
            <a:endParaRPr lang="en-US" sz="1650" dirty="0"/>
          </a:p>
        </p:txBody>
      </p:sp>
      <p:sp>
        <p:nvSpPr>
          <p:cNvPr id="42" name="Text 31"/>
          <p:cNvSpPr txBox="1"/>
          <p:nvPr/>
        </p:nvSpPr>
        <p:spPr>
          <a:xfrm>
            <a:off x="9334195" y="3010205"/>
            <a:ext cx="2095805" cy="609905"/>
          </a:xfrm>
          <a:prstGeom prst="rect">
            <a:avLst/>
          </a:prstGeom>
          <a:noFill/>
          <a:ln/>
        </p:spPr>
        <p:txBody>
          <a:bodyPr wrap="none" lIns="0" tIns="0" rIns="0" bIns="0" rtlCol="0" anchor="ctr"/>
          <a:lstStyle/>
          <a:p>
            <a:pPr algn="ctr" indent="0" marL="0">
              <a:buNone/>
            </a:pPr>
            <a:r>
              <a:rPr lang="en-US" sz="1050" dirty="0">
                <a:solidFill>
                  <a:srgbClr val="44546A"/>
                </a:solidFill>
                <a:latin typeface="Pretendard" pitchFamily="34" charset="0"/>
                <a:ea typeface="Pretendard" pitchFamily="34" charset="-122"/>
                <a:cs typeface="Pretendard" pitchFamily="34" charset="-120"/>
              </a:rPr>
              <a:t>0.18 σ (R5)</a:t>
            </a:r>
            <a:endParaRPr lang="en-US" sz="1050" dirty="0"/>
          </a:p>
        </p:txBody>
      </p:sp>
      <p:sp>
        <p:nvSpPr>
          <p:cNvPr id="43" name="Text 32"/>
          <p:cNvSpPr txBox="1"/>
          <p:nvPr/>
        </p:nvSpPr>
        <p:spPr>
          <a:xfrm>
            <a:off x="2286000" y="3629254"/>
            <a:ext cx="1905610"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8.55</a:t>
            </a:r>
            <a:endParaRPr lang="en-US" sz="1650" dirty="0"/>
          </a:p>
        </p:txBody>
      </p:sp>
      <p:sp>
        <p:nvSpPr>
          <p:cNvPr id="44" name="Text 33"/>
          <p:cNvSpPr txBox="1"/>
          <p:nvPr/>
        </p:nvSpPr>
        <p:spPr>
          <a:xfrm>
            <a:off x="4381805" y="3629254"/>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0.49</a:t>
            </a:r>
            <a:endParaRPr lang="en-US" sz="1650" dirty="0"/>
          </a:p>
        </p:txBody>
      </p:sp>
      <p:sp>
        <p:nvSpPr>
          <p:cNvPr id="45" name="Text 34"/>
          <p:cNvSpPr txBox="1"/>
          <p:nvPr/>
        </p:nvSpPr>
        <p:spPr>
          <a:xfrm>
            <a:off x="6096305" y="3629254"/>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2.32</a:t>
            </a:r>
            <a:endParaRPr lang="en-US" sz="1650" dirty="0"/>
          </a:p>
        </p:txBody>
      </p:sp>
      <p:sp>
        <p:nvSpPr>
          <p:cNvPr id="46" name="Text 35"/>
          <p:cNvSpPr txBox="1"/>
          <p:nvPr/>
        </p:nvSpPr>
        <p:spPr>
          <a:xfrm>
            <a:off x="9334195" y="3629254"/>
            <a:ext cx="2095805" cy="609905"/>
          </a:xfrm>
          <a:prstGeom prst="rect">
            <a:avLst/>
          </a:prstGeom>
          <a:noFill/>
          <a:ln/>
        </p:spPr>
        <p:txBody>
          <a:bodyPr wrap="none" lIns="0" tIns="0" rIns="0" bIns="0" rtlCol="0" anchor="ctr"/>
          <a:lstStyle/>
          <a:p>
            <a:pPr algn="ctr" indent="0" marL="0">
              <a:buNone/>
            </a:pPr>
            <a:r>
              <a:rPr lang="en-US" sz="1050" dirty="0">
                <a:solidFill>
                  <a:srgbClr val="44546A"/>
                </a:solidFill>
                <a:latin typeface="Pretendard" pitchFamily="34" charset="0"/>
                <a:ea typeface="Pretendard" pitchFamily="34" charset="-122"/>
                <a:cs typeface="Pretendard" pitchFamily="34" charset="-120"/>
              </a:rPr>
              <a:t>0.14 σ (R5)</a:t>
            </a:r>
            <a:endParaRPr lang="en-US" sz="1050" dirty="0"/>
          </a:p>
        </p:txBody>
      </p:sp>
      <p:sp>
        <p:nvSpPr>
          <p:cNvPr id="47" name="Text 36"/>
          <p:cNvSpPr txBox="1"/>
          <p:nvPr/>
        </p:nvSpPr>
        <p:spPr>
          <a:xfrm>
            <a:off x="2286000" y="4248302"/>
            <a:ext cx="1905610"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8.71</a:t>
            </a:r>
            <a:endParaRPr lang="en-US" sz="1650" dirty="0"/>
          </a:p>
        </p:txBody>
      </p:sp>
      <p:sp>
        <p:nvSpPr>
          <p:cNvPr id="48" name="Text 37"/>
          <p:cNvSpPr txBox="1"/>
          <p:nvPr/>
        </p:nvSpPr>
        <p:spPr>
          <a:xfrm>
            <a:off x="4381805" y="4248302"/>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0.74</a:t>
            </a:r>
            <a:endParaRPr lang="en-US" sz="1650" dirty="0"/>
          </a:p>
        </p:txBody>
      </p:sp>
      <p:sp>
        <p:nvSpPr>
          <p:cNvPr id="49" name="Text 38"/>
          <p:cNvSpPr txBox="1"/>
          <p:nvPr/>
        </p:nvSpPr>
        <p:spPr>
          <a:xfrm>
            <a:off x="6096305" y="4248302"/>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3.40</a:t>
            </a:r>
            <a:endParaRPr lang="en-US" sz="1650" dirty="0"/>
          </a:p>
        </p:txBody>
      </p:sp>
      <p:sp>
        <p:nvSpPr>
          <p:cNvPr id="50" name="Text 39"/>
          <p:cNvSpPr txBox="1"/>
          <p:nvPr/>
        </p:nvSpPr>
        <p:spPr>
          <a:xfrm>
            <a:off x="9334195" y="4248302"/>
            <a:ext cx="2095805" cy="609905"/>
          </a:xfrm>
          <a:prstGeom prst="rect">
            <a:avLst/>
          </a:prstGeom>
          <a:noFill/>
          <a:ln/>
        </p:spPr>
        <p:txBody>
          <a:bodyPr wrap="none" lIns="0" tIns="0" rIns="0" bIns="0" rtlCol="0" anchor="ctr"/>
          <a:lstStyle/>
          <a:p>
            <a:pPr algn="ctr" indent="0" marL="0">
              <a:buNone/>
            </a:pPr>
            <a:r>
              <a:rPr lang="en-US" sz="1050" dirty="0">
                <a:solidFill>
                  <a:srgbClr val="44546A"/>
                </a:solidFill>
                <a:latin typeface="Pretendard" pitchFamily="34" charset="0"/>
                <a:ea typeface="Pretendard" pitchFamily="34" charset="-122"/>
                <a:cs typeface="Pretendard" pitchFamily="34" charset="-120"/>
              </a:rPr>
              <a:t>0.22 σ (R5)</a:t>
            </a:r>
            <a:endParaRPr lang="en-US" sz="1050" dirty="0"/>
          </a:p>
        </p:txBody>
      </p:sp>
      <p:sp>
        <p:nvSpPr>
          <p:cNvPr id="51" name="Text 40"/>
          <p:cNvSpPr txBox="1"/>
          <p:nvPr/>
        </p:nvSpPr>
        <p:spPr>
          <a:xfrm>
            <a:off x="2286000" y="4867351"/>
            <a:ext cx="1905610"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8.46</a:t>
            </a:r>
            <a:endParaRPr lang="en-US" sz="1650" dirty="0"/>
          </a:p>
        </p:txBody>
      </p:sp>
      <p:sp>
        <p:nvSpPr>
          <p:cNvPr id="52" name="Text 41"/>
          <p:cNvSpPr txBox="1"/>
          <p:nvPr/>
        </p:nvSpPr>
        <p:spPr>
          <a:xfrm>
            <a:off x="4381805" y="4867351"/>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0.43</a:t>
            </a:r>
            <a:endParaRPr lang="en-US" sz="1650" dirty="0"/>
          </a:p>
        </p:txBody>
      </p:sp>
      <p:sp>
        <p:nvSpPr>
          <p:cNvPr id="53" name="Text 42"/>
          <p:cNvSpPr txBox="1"/>
          <p:nvPr/>
        </p:nvSpPr>
        <p:spPr>
          <a:xfrm>
            <a:off x="6096305" y="4867351"/>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2.05</a:t>
            </a:r>
            <a:endParaRPr lang="en-US" sz="1650" dirty="0"/>
          </a:p>
        </p:txBody>
      </p:sp>
      <p:sp>
        <p:nvSpPr>
          <p:cNvPr id="54" name="Text 43"/>
          <p:cNvSpPr txBox="1"/>
          <p:nvPr/>
        </p:nvSpPr>
        <p:spPr>
          <a:xfrm>
            <a:off x="9334195" y="4867351"/>
            <a:ext cx="2095805" cy="609905"/>
          </a:xfrm>
          <a:prstGeom prst="rect">
            <a:avLst/>
          </a:prstGeom>
          <a:noFill/>
          <a:ln/>
        </p:spPr>
        <p:txBody>
          <a:bodyPr wrap="none" lIns="0" tIns="0" rIns="0" bIns="0" rtlCol="0" anchor="ctr"/>
          <a:lstStyle/>
          <a:p>
            <a:pPr algn="ctr" indent="0" marL="0">
              <a:buNone/>
            </a:pPr>
            <a:r>
              <a:rPr lang="en-US" sz="1050" dirty="0">
                <a:solidFill>
                  <a:srgbClr val="44546A"/>
                </a:solidFill>
                <a:latin typeface="Pretendard" pitchFamily="34" charset="0"/>
                <a:ea typeface="Pretendard" pitchFamily="34" charset="-122"/>
                <a:cs typeface="Pretendard" pitchFamily="34" charset="-120"/>
              </a:rPr>
              <a:t>0.11 σ (R5)</a:t>
            </a:r>
            <a:endParaRPr lang="en-US" sz="1050" dirty="0"/>
          </a:p>
        </p:txBody>
      </p:sp>
      <p:sp>
        <p:nvSpPr>
          <p:cNvPr id="55" name="Text 44"/>
          <p:cNvSpPr txBox="1"/>
          <p:nvPr/>
        </p:nvSpPr>
        <p:spPr>
          <a:xfrm>
            <a:off x="2286000" y="5486400"/>
            <a:ext cx="1905610"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8.51</a:t>
            </a:r>
            <a:endParaRPr lang="en-US" sz="1650" dirty="0"/>
          </a:p>
        </p:txBody>
      </p:sp>
      <p:sp>
        <p:nvSpPr>
          <p:cNvPr id="56" name="Text 45"/>
          <p:cNvSpPr txBox="1"/>
          <p:nvPr/>
        </p:nvSpPr>
        <p:spPr>
          <a:xfrm>
            <a:off x="4381805" y="5486400"/>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0.36</a:t>
            </a:r>
            <a:endParaRPr lang="en-US" sz="1650" dirty="0"/>
          </a:p>
        </p:txBody>
      </p:sp>
      <p:sp>
        <p:nvSpPr>
          <p:cNvPr id="57" name="Text 46"/>
          <p:cNvSpPr txBox="1"/>
          <p:nvPr/>
        </p:nvSpPr>
        <p:spPr>
          <a:xfrm>
            <a:off x="6096305" y="5486400"/>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1.78</a:t>
            </a:r>
            <a:endParaRPr lang="en-US" sz="1650" dirty="0"/>
          </a:p>
        </p:txBody>
      </p:sp>
      <p:sp>
        <p:nvSpPr>
          <p:cNvPr id="58" name="Text 47"/>
          <p:cNvSpPr txBox="1"/>
          <p:nvPr/>
        </p:nvSpPr>
        <p:spPr>
          <a:xfrm>
            <a:off x="9334195" y="5486400"/>
            <a:ext cx="2095805" cy="609905"/>
          </a:xfrm>
          <a:prstGeom prst="rect">
            <a:avLst/>
          </a:prstGeom>
          <a:noFill/>
          <a:ln/>
        </p:spPr>
        <p:txBody>
          <a:bodyPr wrap="none" lIns="0" tIns="0" rIns="0" bIns="0" rtlCol="0" anchor="ctr"/>
          <a:lstStyle/>
          <a:p>
            <a:pPr algn="ctr" indent="0" marL="0">
              <a:buNone/>
            </a:pPr>
            <a:r>
              <a:rPr lang="en-US" sz="1050" dirty="0">
                <a:solidFill>
                  <a:srgbClr val="44546A"/>
                </a:solidFill>
                <a:latin typeface="Pretendard" pitchFamily="34" charset="0"/>
                <a:ea typeface="Pretendard" pitchFamily="34" charset="-122"/>
                <a:cs typeface="Pretendard" pitchFamily="34" charset="-120"/>
              </a:rPr>
              <a:t>0.09 σ (R5)</a:t>
            </a:r>
            <a:endParaRPr lang="en-US" sz="1050" dirty="0"/>
          </a:p>
        </p:txBody>
      </p:sp>
      <p:sp>
        <p:nvSpPr>
          <p:cNvPr id="59" name="Text 48"/>
          <p:cNvSpPr txBox="1"/>
          <p:nvPr/>
        </p:nvSpPr>
        <p:spPr>
          <a:xfrm>
            <a:off x="2286000" y="6105449"/>
            <a:ext cx="1905610"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8.59</a:t>
            </a:r>
            <a:endParaRPr lang="en-US" sz="1650" dirty="0"/>
          </a:p>
        </p:txBody>
      </p:sp>
      <p:sp>
        <p:nvSpPr>
          <p:cNvPr id="60" name="Text 49"/>
          <p:cNvSpPr txBox="1"/>
          <p:nvPr/>
        </p:nvSpPr>
        <p:spPr>
          <a:xfrm>
            <a:off x="4381805" y="6105449"/>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0.51</a:t>
            </a:r>
            <a:endParaRPr lang="en-US" sz="1650" dirty="0"/>
          </a:p>
        </p:txBody>
      </p:sp>
      <p:sp>
        <p:nvSpPr>
          <p:cNvPr id="61" name="Text 50"/>
          <p:cNvSpPr txBox="1"/>
          <p:nvPr/>
        </p:nvSpPr>
        <p:spPr>
          <a:xfrm>
            <a:off x="6096305" y="6105449"/>
            <a:ext cx="1524305" cy="609905"/>
          </a:xfrm>
          <a:prstGeom prst="rect">
            <a:avLst/>
          </a:prstGeom>
          <a:noFill/>
          <a:ln/>
        </p:spPr>
        <p:txBody>
          <a:bodyPr wrap="none" lIns="0" tIns="0" rIns="0" bIns="0" rtlCol="0" anchor="ctr"/>
          <a:lstStyle/>
          <a:p>
            <a:pPr algn="r" indent="0" marL="0">
              <a:buNone/>
            </a:pPr>
            <a:r>
              <a:rPr lang="en-US" sz="1650" dirty="0">
                <a:solidFill>
                  <a:srgbClr val="1B2535"/>
                </a:solidFill>
                <a:latin typeface="Pretendard" pitchFamily="34" charset="0"/>
                <a:ea typeface="Pretendard" pitchFamily="34" charset="-122"/>
                <a:cs typeface="Pretendard" pitchFamily="34" charset="-120"/>
              </a:rPr>
              <a:t>2.46</a:t>
            </a:r>
            <a:endParaRPr lang="en-US" sz="1650" dirty="0"/>
          </a:p>
        </p:txBody>
      </p:sp>
      <p:sp>
        <p:nvSpPr>
          <p:cNvPr id="62" name="Text 51"/>
          <p:cNvSpPr txBox="1"/>
          <p:nvPr/>
        </p:nvSpPr>
        <p:spPr>
          <a:xfrm>
            <a:off x="9334195" y="6105449"/>
            <a:ext cx="2095805" cy="609905"/>
          </a:xfrm>
          <a:prstGeom prst="rect">
            <a:avLst/>
          </a:prstGeom>
          <a:noFill/>
          <a:ln/>
        </p:spPr>
        <p:txBody>
          <a:bodyPr wrap="none" lIns="0" tIns="0" rIns="0" bIns="0" rtlCol="0" anchor="ctr"/>
          <a:lstStyle/>
          <a:p>
            <a:pPr algn="ctr" indent="0" marL="0">
              <a:buNone/>
            </a:pPr>
            <a:r>
              <a:rPr lang="en-US" sz="1050" dirty="0">
                <a:solidFill>
                  <a:srgbClr val="44546A"/>
                </a:solidFill>
                <a:latin typeface="Pretendard" pitchFamily="34" charset="0"/>
                <a:ea typeface="Pretendard" pitchFamily="34" charset="-122"/>
                <a:cs typeface="Pretendard" pitchFamily="34" charset="-120"/>
              </a:rPr>
              <a:t>0.13 σ (R5)</a:t>
            </a:r>
            <a:endParaRPr lang="en-US" sz="1050" dirty="0"/>
          </a:p>
        </p:txBody>
      </p:sp>
      <p:sp>
        <p:nvSpPr>
          <p:cNvPr id="63" name="Text 52"/>
          <p:cNvSpPr txBox="1"/>
          <p:nvPr/>
        </p:nvSpPr>
        <p:spPr>
          <a:xfrm>
            <a:off x="12230100" y="1848002"/>
            <a:ext cx="5334610" cy="181051"/>
          </a:xfrm>
          <a:prstGeom prst="rect">
            <a:avLst/>
          </a:prstGeom>
          <a:noFill/>
          <a:ln/>
        </p:spPr>
        <p:txBody>
          <a:bodyPr wrap="none" lIns="0" tIns="0" rIns="0" bIns="0" rtlCol="0" anchor="ctr"/>
          <a:lstStyle/>
          <a:p>
            <a:pPr algn="l" indent="0" marL="0">
              <a:buNone/>
            </a:pPr>
            <a:r>
              <a:rPr lang="en-US" sz="975" b="1" spc="273" kern="0" dirty="0">
                <a:solidFill>
                  <a:srgbClr val="C8552D"/>
                </a:solidFill>
                <a:latin typeface="Pretendard" pitchFamily="34" charset="0"/>
                <a:ea typeface="Pretendard" pitchFamily="34" charset="-122"/>
                <a:cs typeface="Pretendard" pitchFamily="34" charset="-120"/>
              </a:rPr>
              <a:t>TERM &amp; DEFINITION</a:t>
            </a:r>
            <a:endParaRPr lang="en-US" sz="975" dirty="0"/>
          </a:p>
        </p:txBody>
      </p:sp>
      <p:sp>
        <p:nvSpPr>
          <p:cNvPr id="64" name="Text 53"/>
          <p:cNvSpPr txBox="1"/>
          <p:nvPr/>
        </p:nvSpPr>
        <p:spPr>
          <a:xfrm>
            <a:off x="12420295" y="2361895"/>
            <a:ext cx="4953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NU% (Non-Uniformity)</a:t>
            </a:r>
            <a:endParaRPr lang="en-US" sz="975" dirty="0"/>
          </a:p>
        </p:txBody>
      </p:sp>
      <p:sp>
        <p:nvSpPr>
          <p:cNvPr id="65" name="Text 54"/>
          <p:cNvSpPr txBox="1"/>
          <p:nvPr/>
        </p:nvSpPr>
        <p:spPr>
          <a:xfrm>
            <a:off x="12420295" y="2581351"/>
            <a:ext cx="4953305" cy="247802"/>
          </a:xfrm>
          <a:prstGeom prst="rect">
            <a:avLst/>
          </a:prstGeom>
          <a:noFill/>
          <a:ln/>
        </p:spPr>
        <p:txBody>
          <a:bodyPr wrap="none" lIns="0" tIns="0" rIns="0" bIns="0" rtlCol="0" anchor="ctr"/>
          <a:lstStyle/>
          <a:p>
            <a:pPr algn="l" indent="0" marL="0">
              <a:buNone/>
            </a:pPr>
            <a:r>
              <a:rPr lang="en-US" sz="1350" b="1" dirty="0">
                <a:solidFill>
                  <a:srgbClr val="1B2535"/>
                </a:solidFill>
                <a:latin typeface="Pretendard" pitchFamily="34" charset="0"/>
                <a:ea typeface="Pretendard" pitchFamily="34" charset="-122"/>
                <a:cs typeface="Pretendard" pitchFamily="34" charset="-120"/>
              </a:rPr>
              <a:t>NU% = (3σ site / site-mean) × 100</a:t>
            </a:r>
            <a:endParaRPr lang="en-US" sz="1350" dirty="0"/>
          </a:p>
        </p:txBody>
      </p:sp>
      <p:sp>
        <p:nvSpPr>
          <p:cNvPr id="66" name="Text 55"/>
          <p:cNvSpPr txBox="1"/>
          <p:nvPr/>
        </p:nvSpPr>
        <p:spPr>
          <a:xfrm>
            <a:off x="12420295" y="3047695"/>
            <a:ext cx="4953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Site-range</a:t>
            </a:r>
            <a:endParaRPr lang="en-US" sz="975" dirty="0"/>
          </a:p>
        </p:txBody>
      </p:sp>
      <p:sp>
        <p:nvSpPr>
          <p:cNvPr id="67" name="Text 56"/>
          <p:cNvSpPr txBox="1"/>
          <p:nvPr/>
        </p:nvSpPr>
        <p:spPr>
          <a:xfrm>
            <a:off x="12420295" y="3267151"/>
            <a:ext cx="4953305" cy="247802"/>
          </a:xfrm>
          <a:prstGeom prst="rect">
            <a:avLst/>
          </a:prstGeom>
          <a:noFill/>
          <a:ln/>
        </p:spPr>
        <p:txBody>
          <a:bodyPr wrap="none" lIns="0" tIns="0" rIns="0" bIns="0" rtlCol="0" anchor="ctr"/>
          <a:lstStyle/>
          <a:p>
            <a:pPr algn="l" indent="0" marL="0">
              <a:buNone/>
            </a:pPr>
            <a:r>
              <a:rPr lang="en-US" sz="1350" b="1" dirty="0">
                <a:solidFill>
                  <a:srgbClr val="1B2535"/>
                </a:solidFill>
                <a:latin typeface="Pretendard" pitchFamily="34" charset="0"/>
                <a:ea typeface="Pretendard" pitchFamily="34" charset="-122"/>
                <a:cs typeface="Pretendard" pitchFamily="34" charset="-120"/>
              </a:rPr>
              <a:t>max(25 sites) − min(25 sites)</a:t>
            </a:r>
            <a:endParaRPr lang="en-US" sz="1350" dirty="0"/>
          </a:p>
        </p:txBody>
      </p:sp>
      <p:sp>
        <p:nvSpPr>
          <p:cNvPr id="68" name="Text 57"/>
          <p:cNvSpPr txBox="1"/>
          <p:nvPr/>
        </p:nvSpPr>
        <p:spPr>
          <a:xfrm>
            <a:off x="12420295" y="3733495"/>
            <a:ext cx="4953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Repeatability (R5)</a:t>
            </a:r>
            <a:endParaRPr lang="en-US" sz="975" dirty="0"/>
          </a:p>
        </p:txBody>
      </p:sp>
      <p:sp>
        <p:nvSpPr>
          <p:cNvPr id="69" name="Text 58"/>
          <p:cNvSpPr txBox="1"/>
          <p:nvPr/>
        </p:nvSpPr>
        <p:spPr>
          <a:xfrm>
            <a:off x="12420295" y="3952951"/>
            <a:ext cx="4953305" cy="247802"/>
          </a:xfrm>
          <a:prstGeom prst="rect">
            <a:avLst/>
          </a:prstGeom>
          <a:noFill/>
          <a:ln/>
        </p:spPr>
        <p:txBody>
          <a:bodyPr wrap="none" lIns="0" tIns="0" rIns="0" bIns="0" rtlCol="0" anchor="ctr"/>
          <a:lstStyle/>
          <a:p>
            <a:pPr algn="l" indent="0" marL="0">
              <a:buNone/>
            </a:pPr>
            <a:r>
              <a:rPr lang="en-US" sz="1350" b="1" dirty="0">
                <a:solidFill>
                  <a:srgbClr val="1B2535"/>
                </a:solidFill>
                <a:latin typeface="Pretendard" pitchFamily="34" charset="0"/>
                <a:ea typeface="Pretendard" pitchFamily="34" charset="-122"/>
                <a:cs typeface="Pretendard" pitchFamily="34" charset="-120"/>
              </a:rPr>
              <a:t>5 회 반복 측정 σ · dynamic source</a:t>
            </a:r>
            <a:endParaRPr lang="en-US" sz="1350" dirty="0"/>
          </a:p>
        </p:txBody>
      </p:sp>
      <p:sp>
        <p:nvSpPr>
          <p:cNvPr id="70" name="Text 59"/>
          <p:cNvSpPr txBox="1"/>
          <p:nvPr/>
        </p:nvSpPr>
        <p:spPr>
          <a:xfrm>
            <a:off x="12420295" y="4496105"/>
            <a:ext cx="4953305" cy="181051"/>
          </a:xfrm>
          <a:prstGeom prst="rect">
            <a:avLst/>
          </a:prstGeom>
          <a:noFill/>
          <a:ln/>
        </p:spPr>
        <p:txBody>
          <a:bodyPr wrap="none" lIns="0" tIns="0" rIns="0" bIns="0" rtlCol="0" anchor="ctr"/>
          <a:lstStyle/>
          <a:p>
            <a:pPr algn="l" indent="0" marL="0">
              <a:buNone/>
            </a:pPr>
            <a:r>
              <a:rPr lang="en-US" sz="975" b="1" spc="176" kern="0" dirty="0">
                <a:solidFill>
                  <a:srgbClr val="2E6F8E"/>
                </a:solidFill>
                <a:latin typeface="Pretendard" pitchFamily="34" charset="0"/>
                <a:ea typeface="Pretendard" pitchFamily="34" charset="-122"/>
                <a:cs typeface="Pretendard" pitchFamily="34" charset="-120"/>
              </a:rPr>
              <a:t>SPLIT A 평균 NU%</a:t>
            </a:r>
            <a:endParaRPr lang="en-US" sz="975" dirty="0"/>
          </a:p>
        </p:txBody>
      </p:sp>
      <p:sp>
        <p:nvSpPr>
          <p:cNvPr id="71" name="Text 60"/>
          <p:cNvSpPr txBox="1"/>
          <p:nvPr/>
        </p:nvSpPr>
        <p:spPr>
          <a:xfrm>
            <a:off x="12420295" y="4733849"/>
            <a:ext cx="4953305" cy="495605"/>
          </a:xfrm>
          <a:prstGeom prst="rect">
            <a:avLst/>
          </a:prstGeom>
          <a:noFill/>
          <a:ln/>
        </p:spPr>
        <p:txBody>
          <a:bodyPr wrap="none" lIns="0" tIns="0" rIns="0" bIns="0" rtlCol="0" anchor="ctr"/>
          <a:lstStyle/>
          <a:p>
            <a:pPr algn="l" indent="0" marL="0">
              <a:buNone/>
            </a:pPr>
            <a:r>
              <a:rPr lang="en-US" sz="2700" b="1" dirty="0">
                <a:solidFill>
                  <a:srgbClr val="1B2535"/>
                </a:solidFill>
                <a:latin typeface="Pretendard" pitchFamily="34" charset="0"/>
                <a:ea typeface="Pretendard" pitchFamily="34" charset="-122"/>
                <a:cs typeface="Pretendard" pitchFamily="34" charset="-120"/>
              </a:rPr>
              <a:t>4.0 % </a:t>
            </a:r>
            <a:pPr algn="l" indent="0" marL="0">
              <a:buNone/>
            </a:pPr>
            <a:r>
              <a:rPr lang="en-US" sz="1050" b="1" dirty="0">
                <a:solidFill>
                  <a:srgbClr val="7A8898"/>
                </a:solidFill>
                <a:latin typeface="Pretendard" pitchFamily="34" charset="0"/>
                <a:ea typeface="Pretendard" pitchFamily="34" charset="-122"/>
                <a:cs typeface="Pretendard" pitchFamily="34" charset="-120"/>
              </a:rPr>
              <a:t>· 3 wafer</a:t>
            </a:r>
            <a:endParaRPr lang="en-US" sz="2700" dirty="0"/>
          </a:p>
        </p:txBody>
      </p:sp>
      <p:sp>
        <p:nvSpPr>
          <p:cNvPr id="72" name="Text 61"/>
          <p:cNvSpPr txBox="1"/>
          <p:nvPr/>
        </p:nvSpPr>
        <p:spPr>
          <a:xfrm>
            <a:off x="12420295" y="5286146"/>
            <a:ext cx="4953305"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AVERAGE OF W01 / W02 / W03</a:t>
            </a:r>
            <a:endParaRPr lang="en-US" sz="975" dirty="0"/>
          </a:p>
        </p:txBody>
      </p:sp>
      <p:sp>
        <p:nvSpPr>
          <p:cNvPr id="73" name="Text 62"/>
          <p:cNvSpPr txBox="1"/>
          <p:nvPr/>
        </p:nvSpPr>
        <p:spPr>
          <a:xfrm>
            <a:off x="12420295" y="5829300"/>
            <a:ext cx="4953305" cy="181051"/>
          </a:xfrm>
          <a:prstGeom prst="rect">
            <a:avLst/>
          </a:prstGeom>
          <a:noFill/>
          <a:ln/>
        </p:spPr>
        <p:txBody>
          <a:bodyPr wrap="none" lIns="0" tIns="0" rIns="0" bIns="0" rtlCol="0" anchor="ctr"/>
          <a:lstStyle/>
          <a:p>
            <a:pPr algn="l" indent="0" marL="0">
              <a:buNone/>
            </a:pPr>
            <a:r>
              <a:rPr lang="en-US" sz="975" b="1" spc="176" kern="0" dirty="0">
                <a:solidFill>
                  <a:srgbClr val="C8552D"/>
                </a:solidFill>
                <a:latin typeface="Pretendard" pitchFamily="34" charset="0"/>
                <a:ea typeface="Pretendard" pitchFamily="34" charset="-122"/>
                <a:cs typeface="Pretendard" pitchFamily="34" charset="-120"/>
              </a:rPr>
              <a:t>SPLIT B 평균 NU%</a:t>
            </a:r>
            <a:endParaRPr lang="en-US" sz="975" dirty="0"/>
          </a:p>
        </p:txBody>
      </p:sp>
      <p:sp>
        <p:nvSpPr>
          <p:cNvPr id="74" name="Text 63"/>
          <p:cNvSpPr txBox="1"/>
          <p:nvPr/>
        </p:nvSpPr>
        <p:spPr>
          <a:xfrm>
            <a:off x="12420295" y="6067044"/>
            <a:ext cx="4953305" cy="495605"/>
          </a:xfrm>
          <a:prstGeom prst="rect">
            <a:avLst/>
          </a:prstGeom>
          <a:noFill/>
          <a:ln/>
        </p:spPr>
        <p:txBody>
          <a:bodyPr wrap="none" lIns="0" tIns="0" rIns="0" bIns="0" rtlCol="0" anchor="ctr"/>
          <a:lstStyle/>
          <a:p>
            <a:pPr algn="l" indent="0" marL="0">
              <a:buNone/>
            </a:pPr>
            <a:r>
              <a:rPr lang="en-US" sz="2700" b="1" dirty="0">
                <a:solidFill>
                  <a:srgbClr val="1B2535"/>
                </a:solidFill>
                <a:latin typeface="Pretendard" pitchFamily="34" charset="0"/>
                <a:ea typeface="Pretendard" pitchFamily="34" charset="-122"/>
                <a:cs typeface="Pretendard" pitchFamily="34" charset="-120"/>
              </a:rPr>
              <a:t>2.9 % </a:t>
            </a:r>
            <a:pPr algn="l" indent="0" marL="0">
              <a:buNone/>
            </a:pPr>
            <a:r>
              <a:rPr lang="en-US" sz="1050" b="1" dirty="0">
                <a:solidFill>
                  <a:srgbClr val="7A8898"/>
                </a:solidFill>
                <a:latin typeface="Pretendard" pitchFamily="34" charset="0"/>
                <a:ea typeface="Pretendard" pitchFamily="34" charset="-122"/>
                <a:cs typeface="Pretendard" pitchFamily="34" charset="-120"/>
              </a:rPr>
              <a:t>· 3 wafer</a:t>
            </a:r>
            <a:endParaRPr lang="en-US" sz="2700" dirty="0"/>
          </a:p>
        </p:txBody>
      </p:sp>
      <p:sp>
        <p:nvSpPr>
          <p:cNvPr id="75" name="Text 64"/>
          <p:cNvSpPr txBox="1"/>
          <p:nvPr/>
        </p:nvSpPr>
        <p:spPr>
          <a:xfrm>
            <a:off x="12420295" y="6620256"/>
            <a:ext cx="4953305" cy="181051"/>
          </a:xfrm>
          <a:prstGeom prst="rect">
            <a:avLst/>
          </a:prstGeom>
          <a:noFill/>
          <a:ln/>
        </p:spPr>
        <p:txBody>
          <a:bodyPr wrap="none" lIns="0" tIns="0" rIns="0" bIns="0" rtlCol="0" anchor="ctr"/>
          <a:lstStyle/>
          <a:p>
            <a:pPr algn="l" indent="0" marL="0">
              <a:buNone/>
            </a:pPr>
            <a:r>
              <a:rPr lang="en-US" sz="975" dirty="0">
                <a:solidFill>
                  <a:srgbClr val="3F6F52"/>
                </a:solidFill>
                <a:latin typeface="Pretendard" pitchFamily="34" charset="0"/>
                <a:ea typeface="Pretendard" pitchFamily="34" charset="-122"/>
                <a:cs typeface="Pretendard" pitchFamily="34" charset="-120"/>
              </a:rPr>
              <a:t>−28 % · a-C / SiN 적층 일관성 우수</a:t>
            </a:r>
            <a:endParaRPr lang="en-US" sz="975" dirty="0"/>
          </a:p>
        </p:txBody>
      </p:sp>
      <p:sp>
        <p:nvSpPr>
          <p:cNvPr id="76" name="Text 65"/>
          <p:cNvSpPr txBox="1"/>
          <p:nvPr/>
        </p:nvSpPr>
        <p:spPr>
          <a:xfrm>
            <a:off x="914400" y="7334402"/>
            <a:ext cx="16573500" cy="181051"/>
          </a:xfrm>
          <a:prstGeom prst="rect">
            <a:avLst/>
          </a:prstGeom>
          <a:noFill/>
          <a:ln/>
        </p:spPr>
        <p:txBody>
          <a:bodyPr wrap="none" lIns="0" tIns="0" rIns="0" bIns="0" rtlCol="0" anchor="ctr"/>
          <a:lstStyle/>
          <a:p>
            <a:pPr algn="l" indent="0" marL="0">
              <a:buNone/>
            </a:pPr>
            <a:r>
              <a:rPr lang="en-US" sz="975" b="1" spc="273" kern="0" dirty="0">
                <a:solidFill>
                  <a:srgbClr val="B47A1F"/>
                </a:solidFill>
                <a:latin typeface="Pretendard" pitchFamily="34" charset="0"/>
                <a:ea typeface="Pretendard" pitchFamily="34" charset="-122"/>
                <a:cs typeface="Pretendard" pitchFamily="34" charset="-120"/>
              </a:rPr>
              <a:t>OBSERVATION</a:t>
            </a:r>
            <a:endParaRPr lang="en-US" sz="975" dirty="0"/>
          </a:p>
        </p:txBody>
      </p:sp>
      <p:sp>
        <p:nvSpPr>
          <p:cNvPr id="77" name="Text 66"/>
          <p:cNvSpPr txBox="1"/>
          <p:nvPr/>
        </p:nvSpPr>
        <p:spPr>
          <a:xfrm>
            <a:off x="914400" y="7648956"/>
            <a:ext cx="16573500" cy="505663"/>
          </a:xfrm>
          <a:prstGeom prst="rect">
            <a:avLst/>
          </a:prstGeom>
          <a:noFill/>
          <a:ln/>
        </p:spPr>
        <p:txBody>
          <a:bodyPr wrap="square" lIns="0" tIns="0" rIns="0" bIns="0" rtlCol="0" anchor="ctr"/>
          <a:lstStyle/>
          <a:p>
            <a:pPr algn="l" indent="0" marL="0">
              <a:lnSpc>
                <a:spcPts val="1976"/>
              </a:lnSpc>
              <a:buNone/>
            </a:pPr>
            <a:r>
              <a:rPr lang="en-US" sz="1275" b="1" dirty="0">
                <a:solidFill>
                  <a:srgbClr val="1B2535"/>
                </a:solidFill>
                <a:latin typeface="Pretendard" pitchFamily="34" charset="0"/>
                <a:ea typeface="Pretendard" pitchFamily="34" charset="-122"/>
                <a:cs typeface="Pretendard" pitchFamily="34" charset="-120"/>
              </a:rPr>
              <a:t>Worst</a:t>
            </a:r>
            <a:pPr algn="l" indent="0" marL="0">
              <a:lnSpc>
                <a:spcPts val="1976"/>
              </a:lnSpc>
              <a:buNone/>
            </a:pPr>
            <a:r>
              <a:rPr lang="en-US" sz="1275" dirty="0">
                <a:solidFill>
                  <a:srgbClr val="44546A"/>
                </a:solidFill>
                <a:latin typeface="Pretendard" pitchFamily="34" charset="0"/>
                <a:ea typeface="Pretendard" pitchFamily="34" charset="-122"/>
                <a:cs typeface="Pretendard" pitchFamily="34" charset="-120"/>
              </a:rPr>
              <a:t> — W03 (TiN twk B · low bias). 저에너지 조건이 profile은 부드럽게 만들었으나 wafer 가장자리에서 +1 nm까지 치우침. </a:t>
            </a:r>
            <a:pPr algn="l" indent="0" marL="0">
              <a:lnSpc>
                <a:spcPts val="1976"/>
              </a:lnSpc>
              <a:buNone/>
            </a:pPr>
            <a:r>
              <a:rPr lang="en-US" sz="1275" b="1" dirty="0">
                <a:solidFill>
                  <a:srgbClr val="1B2535"/>
                </a:solidFill>
                <a:latin typeface="Pretendard" pitchFamily="34" charset="0"/>
                <a:ea typeface="Pretendard" pitchFamily="34" charset="-122"/>
                <a:cs typeface="Pretendard" pitchFamily="34" charset="-120"/>
              </a:rPr>
              <a:t>Best</a:t>
            </a:r>
            <a:pPr algn="l" indent="0" marL="0">
              <a:lnSpc>
                <a:spcPts val="1976"/>
              </a:lnSpc>
              <a:buNone/>
            </a:pPr>
            <a:r>
              <a:rPr lang="en-US" sz="1275" dirty="0">
                <a:solidFill>
                  <a:srgbClr val="44546A"/>
                </a:solidFill>
                <a:latin typeface="Pretendard" pitchFamily="34" charset="0"/>
                <a:ea typeface="Pretendard" pitchFamily="34" charset="-122"/>
                <a:cs typeface="Pretendard" pitchFamily="34" charset="-120"/>
              </a:rPr>
              <a:t> — W05 (a-C/SiN twk A · O₂ 첨가). 모든 25 site가 ±0.30 nm 이내로 분포. Split 내부에서도 Tweak A 패턴이 baseline 대비 일관되게 개선됨을 확인.</a:t>
            </a:r>
            <a:endParaRPr lang="en-US" sz="1275" dirty="0"/>
          </a:p>
        </p:txBody>
      </p:sp>
      <p:sp>
        <p:nvSpPr>
          <p:cNvPr id="78" name="Text 67"/>
          <p:cNvSpPr txBox="1"/>
          <p:nvPr/>
        </p:nvSpPr>
        <p:spPr>
          <a:xfrm>
            <a:off x="990295" y="2667305"/>
            <a:ext cx="1143000" cy="181051"/>
          </a:xfrm>
          <a:prstGeom prst="rect">
            <a:avLst/>
          </a:prstGeom>
          <a:noFill/>
          <a:ln/>
        </p:spPr>
        <p:txBody>
          <a:bodyPr wrap="none" lIns="0" tIns="0" rIns="0" bIns="0" rtlCol="0" anchor="ctr"/>
          <a:lstStyle/>
          <a:p>
            <a:pPr algn="l" indent="0" marL="0">
              <a:buNone/>
            </a:pPr>
            <a:r>
              <a:rPr lang="en-US" sz="975" spc="176" kern="0" dirty="0">
                <a:solidFill>
                  <a:srgbClr val="FFFFFF"/>
                </a:solidFill>
                <a:latin typeface="Pretendard" pitchFamily="34" charset="0"/>
                <a:ea typeface="Pretendard" pitchFamily="34" charset="-122"/>
                <a:cs typeface="Pretendard" pitchFamily="34" charset="-120"/>
              </a:rPr>
              <a:t>WAFER</a:t>
            </a:r>
            <a:endParaRPr lang="en-US" sz="975" dirty="0"/>
          </a:p>
        </p:txBody>
      </p:sp>
      <p:sp>
        <p:nvSpPr>
          <p:cNvPr id="79" name="Text 68"/>
          <p:cNvSpPr txBox="1"/>
          <p:nvPr/>
        </p:nvSpPr>
        <p:spPr>
          <a:xfrm>
            <a:off x="2286000" y="2667305"/>
            <a:ext cx="1905610" cy="181051"/>
          </a:xfrm>
          <a:prstGeom prst="rect">
            <a:avLst/>
          </a:prstGeom>
          <a:noFill/>
          <a:ln/>
        </p:spPr>
        <p:txBody>
          <a:bodyPr wrap="none" lIns="0" tIns="0" rIns="0" bIns="0" rtlCol="0" anchor="ctr"/>
          <a:lstStyle/>
          <a:p>
            <a:pPr algn="r" indent="0" marL="0">
              <a:buNone/>
            </a:pPr>
            <a:r>
              <a:rPr lang="en-US" sz="975" spc="176" kern="0" dirty="0">
                <a:solidFill>
                  <a:srgbClr val="FFFFFF"/>
                </a:solidFill>
                <a:latin typeface="Pretendard" pitchFamily="34" charset="0"/>
                <a:ea typeface="Pretendard" pitchFamily="34" charset="-122"/>
                <a:cs typeface="Pretendard" pitchFamily="34" charset="-120"/>
              </a:rPr>
              <a:t>SITE-MEAN (nm)</a:t>
            </a:r>
            <a:endParaRPr lang="en-US" sz="975" dirty="0"/>
          </a:p>
        </p:txBody>
      </p:sp>
      <p:sp>
        <p:nvSpPr>
          <p:cNvPr id="80" name="Text 69"/>
          <p:cNvSpPr txBox="1"/>
          <p:nvPr/>
        </p:nvSpPr>
        <p:spPr>
          <a:xfrm>
            <a:off x="4381805" y="2667305"/>
            <a:ext cx="1524305" cy="181051"/>
          </a:xfrm>
          <a:prstGeom prst="rect">
            <a:avLst/>
          </a:prstGeom>
          <a:noFill/>
          <a:ln/>
        </p:spPr>
        <p:txBody>
          <a:bodyPr wrap="none" lIns="0" tIns="0" rIns="0" bIns="0" rtlCol="0" anchor="ctr"/>
          <a:lstStyle/>
          <a:p>
            <a:pPr algn="r" indent="0" marL="0">
              <a:buNone/>
            </a:pPr>
            <a:r>
              <a:rPr lang="en-US" sz="975" spc="176" kern="0" dirty="0">
                <a:solidFill>
                  <a:srgbClr val="FFFFFF"/>
                </a:solidFill>
                <a:latin typeface="Pretendard" pitchFamily="34" charset="0"/>
                <a:ea typeface="Pretendard" pitchFamily="34" charset="-122"/>
                <a:cs typeface="Pretendard" pitchFamily="34" charset="-120"/>
              </a:rPr>
              <a:t>SITE-3σ (nm)</a:t>
            </a:r>
            <a:endParaRPr lang="en-US" sz="975" dirty="0"/>
          </a:p>
        </p:txBody>
      </p:sp>
      <p:sp>
        <p:nvSpPr>
          <p:cNvPr id="81" name="Text 70"/>
          <p:cNvSpPr txBox="1"/>
          <p:nvPr/>
        </p:nvSpPr>
        <p:spPr>
          <a:xfrm>
            <a:off x="6096305" y="2667305"/>
            <a:ext cx="1524305" cy="181051"/>
          </a:xfrm>
          <a:prstGeom prst="rect">
            <a:avLst/>
          </a:prstGeom>
          <a:noFill/>
          <a:ln/>
        </p:spPr>
        <p:txBody>
          <a:bodyPr wrap="none" lIns="0" tIns="0" rIns="0" bIns="0" rtlCol="0" anchor="ctr"/>
          <a:lstStyle/>
          <a:p>
            <a:pPr algn="r" indent="0" marL="0">
              <a:buNone/>
            </a:pPr>
            <a:r>
              <a:rPr lang="en-US" sz="975" spc="176" kern="0" dirty="0">
                <a:solidFill>
                  <a:srgbClr val="FFFFFF"/>
                </a:solidFill>
                <a:latin typeface="Pretendard" pitchFamily="34" charset="0"/>
                <a:ea typeface="Pretendard" pitchFamily="34" charset="-122"/>
                <a:cs typeface="Pretendard" pitchFamily="34" charset="-120"/>
              </a:rPr>
              <a:t>SITE-RANGE</a:t>
            </a:r>
            <a:endParaRPr lang="en-US" sz="975" dirty="0"/>
          </a:p>
        </p:txBody>
      </p:sp>
      <p:sp>
        <p:nvSpPr>
          <p:cNvPr id="82" name="Text 71"/>
          <p:cNvSpPr txBox="1"/>
          <p:nvPr/>
        </p:nvSpPr>
        <p:spPr>
          <a:xfrm>
            <a:off x="7810805" y="2667305"/>
            <a:ext cx="1334110" cy="181051"/>
          </a:xfrm>
          <a:prstGeom prst="rect">
            <a:avLst/>
          </a:prstGeom>
          <a:noFill/>
          <a:ln/>
        </p:spPr>
        <p:txBody>
          <a:bodyPr wrap="none" lIns="0" tIns="0" rIns="0" bIns="0" rtlCol="0" anchor="ctr"/>
          <a:lstStyle/>
          <a:p>
            <a:pPr algn="r" indent="0" marL="0">
              <a:buNone/>
            </a:pPr>
            <a:r>
              <a:rPr lang="en-US" sz="975" spc="176" kern="0" dirty="0">
                <a:solidFill>
                  <a:srgbClr val="FFFFFF"/>
                </a:solidFill>
                <a:latin typeface="Pretendard" pitchFamily="34" charset="0"/>
                <a:ea typeface="Pretendard" pitchFamily="34" charset="-122"/>
                <a:cs typeface="Pretendard" pitchFamily="34" charset="-120"/>
              </a:rPr>
              <a:t>NU% (3σ/μ)</a:t>
            </a:r>
            <a:endParaRPr lang="en-US" sz="975" dirty="0"/>
          </a:p>
        </p:txBody>
      </p:sp>
      <p:sp>
        <p:nvSpPr>
          <p:cNvPr id="83" name="Text 72"/>
          <p:cNvSpPr txBox="1"/>
          <p:nvPr/>
        </p:nvSpPr>
        <p:spPr>
          <a:xfrm>
            <a:off x="9334195" y="2667305"/>
            <a:ext cx="2095805" cy="181051"/>
          </a:xfrm>
          <a:prstGeom prst="rect">
            <a:avLst/>
          </a:prstGeom>
          <a:noFill/>
          <a:ln/>
        </p:spPr>
        <p:txBody>
          <a:bodyPr wrap="none" lIns="0" tIns="0" rIns="0" bIns="0" rtlCol="0" anchor="ctr"/>
          <a:lstStyle/>
          <a:p>
            <a:pPr algn="ctr" indent="0" marL="0">
              <a:buNone/>
            </a:pPr>
            <a:r>
              <a:rPr lang="en-US" sz="975" spc="176" kern="0" dirty="0">
                <a:solidFill>
                  <a:srgbClr val="FFFFFF"/>
                </a:solidFill>
                <a:latin typeface="Pretendard" pitchFamily="34" charset="0"/>
                <a:ea typeface="Pretendard" pitchFamily="34" charset="-122"/>
                <a:cs typeface="Pretendard" pitchFamily="34" charset="-120"/>
              </a:rPr>
              <a:t>REPEATABILITY</a:t>
            </a:r>
            <a:endParaRPr lang="en-US" sz="975" dirty="0"/>
          </a:p>
        </p:txBody>
      </p:sp>
      <p:sp>
        <p:nvSpPr>
          <p:cNvPr id="84" name="Text 73"/>
          <p:cNvSpPr txBox="1"/>
          <p:nvPr/>
        </p:nvSpPr>
        <p:spPr>
          <a:xfrm>
            <a:off x="571500" y="571500"/>
            <a:ext cx="14287500" cy="486461"/>
          </a:xfrm>
          <a:prstGeom prst="rect">
            <a:avLst/>
          </a:prstGeom>
          <a:noFill/>
          <a:ln/>
        </p:spPr>
        <p:txBody>
          <a:bodyPr wrap="none" lIns="0" tIns="0" rIns="0" bIns="0" rtlCol="0" anchor="ctr"/>
          <a:lstStyle/>
          <a:p>
            <a:pPr algn="l" indent="0" marL="0">
              <a:buNone/>
            </a:pPr>
            <a:r>
              <a:rPr lang="en-US" sz="3600" b="1" spc="-36" kern="0" dirty="0">
                <a:solidFill>
                  <a:srgbClr val="1B2535"/>
                </a:solidFill>
                <a:latin typeface="Pretendard" pitchFamily="34" charset="0"/>
                <a:ea typeface="Pretendard" pitchFamily="34" charset="-122"/>
                <a:cs typeface="Pretendard" pitchFamily="34" charset="-120"/>
              </a:rPr>
              <a:t>In-wafer Uniformity — 25 site 통계</a:t>
            </a:r>
            <a:endParaRPr lang="en-US" sz="3600" dirty="0"/>
          </a:p>
        </p:txBody>
      </p:sp>
      <p:sp>
        <p:nvSpPr>
          <p:cNvPr id="85" name="Text 74"/>
          <p:cNvSpPr txBox="1"/>
          <p:nvPr/>
        </p:nvSpPr>
        <p:spPr>
          <a:xfrm>
            <a:off x="571500" y="381305"/>
            <a:ext cx="1619402" cy="191110"/>
          </a:xfrm>
          <a:prstGeom prst="rect">
            <a:avLst/>
          </a:prstGeom>
          <a:noFill/>
          <a:ln/>
        </p:spPr>
        <p:txBody>
          <a:bodyPr wrap="none" lIns="0" tIns="0" rIns="0" bIns="0" rtlCol="0" anchor="ctr"/>
          <a:lstStyle/>
          <a:p>
            <a:pPr algn="l" indent="0" marL="0">
              <a:buNone/>
            </a:pPr>
            <a:r>
              <a:rPr lang="en-US" sz="1050" spc="336" kern="0" dirty="0">
                <a:solidFill>
                  <a:srgbClr val="7A8898"/>
                </a:solidFill>
                <a:latin typeface="Pretendard" pitchFamily="34" charset="0"/>
                <a:ea typeface="Pretendard" pitchFamily="34" charset="-122"/>
                <a:cs typeface="Pretendard" pitchFamily="34" charset="-120"/>
              </a:rPr>
              <a:t>SET 06 / 09</a:t>
            </a:r>
            <a:endParaRPr lang="en-US" sz="1050" dirty="0"/>
          </a:p>
        </p:txBody>
      </p:sp>
      <p:sp>
        <p:nvSpPr>
          <p:cNvPr id="86" name="Text 75"/>
          <p:cNvSpPr txBox="1"/>
          <p:nvPr/>
        </p:nvSpPr>
        <p:spPr>
          <a:xfrm>
            <a:off x="571500" y="571500"/>
            <a:ext cx="17336110" cy="191110"/>
          </a:xfrm>
          <a:prstGeom prst="rect">
            <a:avLst/>
          </a:prstGeom>
          <a:noFill/>
          <a:ln/>
        </p:spPr>
        <p:txBody>
          <a:bodyPr wrap="none" lIns="0" tIns="0" rIns="0" bIns="0" rtlCol="0" anchor="ctr"/>
          <a:lstStyle/>
          <a:p>
            <a:pPr algn="r" indent="0" marL="0">
              <a:buNone/>
            </a:pPr>
            <a:r>
              <a:rPr lang="en-US" sz="1050" spc="189" kern="0" dirty="0">
                <a:solidFill>
                  <a:srgbClr val="7A8898"/>
                </a:solidFill>
                <a:latin typeface="Pretendard" pitchFamily="34" charset="0"/>
                <a:ea typeface="Pretendard" pitchFamily="34" charset="-122"/>
                <a:cs typeface="Pretendard" pitchFamily="34" charset="-120"/>
              </a:rPr>
              <a:t>WITHIN-WAFER VARIATION · 25 MEASUREMENT SITES</a:t>
            </a:r>
            <a:endParaRPr lang="en-US" sz="1050" dirty="0"/>
          </a:p>
        </p:txBody>
      </p:sp>
      <p:sp>
        <p:nvSpPr>
          <p:cNvPr id="87" name="Text 76"/>
          <p:cNvSpPr txBox="1"/>
          <p:nvPr/>
        </p:nvSpPr>
        <p:spPr>
          <a:xfrm>
            <a:off x="800100" y="3010205"/>
            <a:ext cx="762610" cy="609905"/>
          </a:xfrm>
          <a:prstGeom prst="rect">
            <a:avLst/>
          </a:prstGeom>
          <a:noFill/>
          <a:ln/>
        </p:spPr>
        <p:txBody>
          <a:bodyPr wrap="non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W01</a:t>
            </a:r>
            <a:endParaRPr lang="en-US" sz="1500" dirty="0"/>
          </a:p>
        </p:txBody>
      </p:sp>
      <p:sp>
        <p:nvSpPr>
          <p:cNvPr id="88" name="Text 77"/>
          <p:cNvSpPr txBox="1"/>
          <p:nvPr/>
        </p:nvSpPr>
        <p:spPr>
          <a:xfrm>
            <a:off x="7810805" y="3010205"/>
            <a:ext cx="1334110" cy="609905"/>
          </a:xfrm>
          <a:prstGeom prst="rect">
            <a:avLst/>
          </a:prstGeom>
          <a:noFill/>
          <a:ln/>
        </p:spPr>
        <p:txBody>
          <a:bodyPr wrap="none" lIns="0" tIns="0" rIns="0" bIns="0" rtlCol="0" anchor="ctr"/>
          <a:lstStyle/>
          <a:p>
            <a:pPr algn="r" indent="0" marL="0">
              <a:buNone/>
            </a:pPr>
            <a:r>
              <a:rPr lang="en-US" sz="1650" b="1" dirty="0">
                <a:solidFill>
                  <a:srgbClr val="B47A1F"/>
                </a:solidFill>
                <a:latin typeface="Pretendard" pitchFamily="34" charset="0"/>
                <a:ea typeface="Pretendard" pitchFamily="34" charset="-122"/>
                <a:cs typeface="Pretendard" pitchFamily="34" charset="-120"/>
              </a:rPr>
              <a:t>4.0 %</a:t>
            </a:r>
            <a:endParaRPr lang="en-US" sz="1650" dirty="0"/>
          </a:p>
        </p:txBody>
      </p:sp>
      <p:sp>
        <p:nvSpPr>
          <p:cNvPr id="89" name="Text 78"/>
          <p:cNvSpPr txBox="1"/>
          <p:nvPr/>
        </p:nvSpPr>
        <p:spPr>
          <a:xfrm>
            <a:off x="800100" y="3629254"/>
            <a:ext cx="762610" cy="609905"/>
          </a:xfrm>
          <a:prstGeom prst="rect">
            <a:avLst/>
          </a:prstGeom>
          <a:noFill/>
          <a:ln/>
        </p:spPr>
        <p:txBody>
          <a:bodyPr wrap="non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W02</a:t>
            </a:r>
            <a:endParaRPr lang="en-US" sz="1500" dirty="0"/>
          </a:p>
        </p:txBody>
      </p:sp>
      <p:sp>
        <p:nvSpPr>
          <p:cNvPr id="90" name="Text 79"/>
          <p:cNvSpPr txBox="1"/>
          <p:nvPr/>
        </p:nvSpPr>
        <p:spPr>
          <a:xfrm>
            <a:off x="7810805" y="3629254"/>
            <a:ext cx="1334110" cy="609905"/>
          </a:xfrm>
          <a:prstGeom prst="rect">
            <a:avLst/>
          </a:prstGeom>
          <a:noFill/>
          <a:ln/>
        </p:spPr>
        <p:txBody>
          <a:bodyPr wrap="none" lIns="0" tIns="0" rIns="0" bIns="0" rtlCol="0" anchor="ctr"/>
          <a:lstStyle/>
          <a:p>
            <a:pPr algn="r" indent="0" marL="0">
              <a:buNone/>
            </a:pPr>
            <a:r>
              <a:rPr lang="en-US" sz="1650" b="1" dirty="0">
                <a:solidFill>
                  <a:srgbClr val="3F6F52"/>
                </a:solidFill>
                <a:latin typeface="Pretendard" pitchFamily="34" charset="0"/>
                <a:ea typeface="Pretendard" pitchFamily="34" charset="-122"/>
                <a:cs typeface="Pretendard" pitchFamily="34" charset="-120"/>
              </a:rPr>
              <a:t>3.2 %</a:t>
            </a:r>
            <a:endParaRPr lang="en-US" sz="1650" dirty="0"/>
          </a:p>
        </p:txBody>
      </p:sp>
      <p:sp>
        <p:nvSpPr>
          <p:cNvPr id="91" name="Text 80"/>
          <p:cNvSpPr txBox="1"/>
          <p:nvPr/>
        </p:nvSpPr>
        <p:spPr>
          <a:xfrm>
            <a:off x="800100" y="4248302"/>
            <a:ext cx="762610" cy="609905"/>
          </a:xfrm>
          <a:prstGeom prst="rect">
            <a:avLst/>
          </a:prstGeom>
          <a:noFill/>
          <a:ln/>
        </p:spPr>
        <p:txBody>
          <a:bodyPr wrap="non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W03</a:t>
            </a:r>
            <a:endParaRPr lang="en-US" sz="1500" dirty="0"/>
          </a:p>
        </p:txBody>
      </p:sp>
      <p:sp>
        <p:nvSpPr>
          <p:cNvPr id="92" name="Text 81"/>
          <p:cNvSpPr txBox="1"/>
          <p:nvPr/>
        </p:nvSpPr>
        <p:spPr>
          <a:xfrm>
            <a:off x="7810805" y="4248302"/>
            <a:ext cx="1334110" cy="609905"/>
          </a:xfrm>
          <a:prstGeom prst="rect">
            <a:avLst/>
          </a:prstGeom>
          <a:noFill/>
          <a:ln/>
        </p:spPr>
        <p:txBody>
          <a:bodyPr wrap="none" lIns="0" tIns="0" rIns="0" bIns="0" rtlCol="0" anchor="ctr"/>
          <a:lstStyle/>
          <a:p>
            <a:pPr algn="r" indent="0" marL="0">
              <a:buNone/>
            </a:pPr>
            <a:r>
              <a:rPr lang="en-US" sz="1650" b="1" dirty="0">
                <a:solidFill>
                  <a:srgbClr val="B43F2D"/>
                </a:solidFill>
                <a:latin typeface="Pretendard" pitchFamily="34" charset="0"/>
                <a:ea typeface="Pretendard" pitchFamily="34" charset="-122"/>
                <a:cs typeface="Pretendard" pitchFamily="34" charset="-120"/>
              </a:rPr>
              <a:t>4.7 %</a:t>
            </a:r>
            <a:endParaRPr lang="en-US" sz="1650" dirty="0"/>
          </a:p>
        </p:txBody>
      </p:sp>
      <p:sp>
        <p:nvSpPr>
          <p:cNvPr id="93" name="Text 82"/>
          <p:cNvSpPr txBox="1"/>
          <p:nvPr/>
        </p:nvSpPr>
        <p:spPr>
          <a:xfrm>
            <a:off x="800100" y="4867351"/>
            <a:ext cx="762610" cy="609905"/>
          </a:xfrm>
          <a:prstGeom prst="rect">
            <a:avLst/>
          </a:prstGeom>
          <a:noFill/>
          <a:ln/>
        </p:spPr>
        <p:txBody>
          <a:bodyPr wrap="non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W04</a:t>
            </a:r>
            <a:endParaRPr lang="en-US" sz="1500" dirty="0"/>
          </a:p>
        </p:txBody>
      </p:sp>
      <p:sp>
        <p:nvSpPr>
          <p:cNvPr id="94" name="Text 83"/>
          <p:cNvSpPr txBox="1"/>
          <p:nvPr/>
        </p:nvSpPr>
        <p:spPr>
          <a:xfrm>
            <a:off x="7810805" y="4867351"/>
            <a:ext cx="1334110" cy="609905"/>
          </a:xfrm>
          <a:prstGeom prst="rect">
            <a:avLst/>
          </a:prstGeom>
          <a:noFill/>
          <a:ln/>
        </p:spPr>
        <p:txBody>
          <a:bodyPr wrap="none" lIns="0" tIns="0" rIns="0" bIns="0" rtlCol="0" anchor="ctr"/>
          <a:lstStyle/>
          <a:p>
            <a:pPr algn="r" indent="0" marL="0">
              <a:buNone/>
            </a:pPr>
            <a:r>
              <a:rPr lang="en-US" sz="1650" b="1" dirty="0">
                <a:solidFill>
                  <a:srgbClr val="3F6F52"/>
                </a:solidFill>
                <a:latin typeface="Pretendard" pitchFamily="34" charset="0"/>
                <a:ea typeface="Pretendard" pitchFamily="34" charset="-122"/>
                <a:cs typeface="Pretendard" pitchFamily="34" charset="-120"/>
              </a:rPr>
              <a:t>2.9 %</a:t>
            </a:r>
            <a:endParaRPr lang="en-US" sz="1650" dirty="0"/>
          </a:p>
        </p:txBody>
      </p:sp>
      <p:sp>
        <p:nvSpPr>
          <p:cNvPr id="95" name="Text 84"/>
          <p:cNvSpPr txBox="1"/>
          <p:nvPr/>
        </p:nvSpPr>
        <p:spPr>
          <a:xfrm>
            <a:off x="800100" y="5486400"/>
            <a:ext cx="762610" cy="609905"/>
          </a:xfrm>
          <a:prstGeom prst="rect">
            <a:avLst/>
          </a:prstGeom>
          <a:noFill/>
          <a:ln/>
        </p:spPr>
        <p:txBody>
          <a:bodyPr wrap="non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W05</a:t>
            </a:r>
            <a:endParaRPr lang="en-US" sz="1500" dirty="0"/>
          </a:p>
        </p:txBody>
      </p:sp>
      <p:sp>
        <p:nvSpPr>
          <p:cNvPr id="96" name="Text 85"/>
          <p:cNvSpPr txBox="1"/>
          <p:nvPr/>
        </p:nvSpPr>
        <p:spPr>
          <a:xfrm>
            <a:off x="7810805" y="5486400"/>
            <a:ext cx="1334110" cy="609905"/>
          </a:xfrm>
          <a:prstGeom prst="rect">
            <a:avLst/>
          </a:prstGeom>
          <a:noFill/>
          <a:ln/>
        </p:spPr>
        <p:txBody>
          <a:bodyPr wrap="none" lIns="0" tIns="0" rIns="0" bIns="0" rtlCol="0" anchor="ctr"/>
          <a:lstStyle/>
          <a:p>
            <a:pPr algn="r" indent="0" marL="0">
              <a:buNone/>
            </a:pPr>
            <a:r>
              <a:rPr lang="en-US" sz="1650" b="1" dirty="0">
                <a:solidFill>
                  <a:srgbClr val="3F6F52"/>
                </a:solidFill>
                <a:latin typeface="Pretendard" pitchFamily="34" charset="0"/>
                <a:ea typeface="Pretendard" pitchFamily="34" charset="-122"/>
                <a:cs typeface="Pretendard" pitchFamily="34" charset="-120"/>
              </a:rPr>
              <a:t>2.5 %</a:t>
            </a:r>
            <a:endParaRPr lang="en-US" sz="1650" dirty="0"/>
          </a:p>
        </p:txBody>
      </p:sp>
      <p:sp>
        <p:nvSpPr>
          <p:cNvPr id="97" name="Text 86"/>
          <p:cNvSpPr txBox="1"/>
          <p:nvPr/>
        </p:nvSpPr>
        <p:spPr>
          <a:xfrm>
            <a:off x="800100" y="6105449"/>
            <a:ext cx="762610" cy="609905"/>
          </a:xfrm>
          <a:prstGeom prst="rect">
            <a:avLst/>
          </a:prstGeom>
          <a:noFill/>
          <a:ln/>
        </p:spPr>
        <p:txBody>
          <a:bodyPr wrap="none" lIns="0" tIns="0" rIns="0" bIns="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W06</a:t>
            </a:r>
            <a:endParaRPr lang="en-US" sz="1500" dirty="0"/>
          </a:p>
        </p:txBody>
      </p:sp>
      <p:sp>
        <p:nvSpPr>
          <p:cNvPr id="98" name="Text 87"/>
          <p:cNvSpPr txBox="1"/>
          <p:nvPr/>
        </p:nvSpPr>
        <p:spPr>
          <a:xfrm>
            <a:off x="7810805" y="6105449"/>
            <a:ext cx="1334110" cy="609905"/>
          </a:xfrm>
          <a:prstGeom prst="rect">
            <a:avLst/>
          </a:prstGeom>
          <a:noFill/>
          <a:ln/>
        </p:spPr>
        <p:txBody>
          <a:bodyPr wrap="none" lIns="0" tIns="0" rIns="0" bIns="0" rtlCol="0" anchor="ctr"/>
          <a:lstStyle/>
          <a:p>
            <a:pPr algn="r" indent="0" marL="0">
              <a:buNone/>
            </a:pPr>
            <a:r>
              <a:rPr lang="en-US" sz="1650" b="1" dirty="0">
                <a:solidFill>
                  <a:srgbClr val="3F6F52"/>
                </a:solidFill>
                <a:latin typeface="Pretendard" pitchFamily="34" charset="0"/>
                <a:ea typeface="Pretendard" pitchFamily="34" charset="-122"/>
                <a:cs typeface="Pretendard" pitchFamily="34" charset="-120"/>
              </a:rPr>
              <a:t>3.4 %</a:t>
            </a:r>
            <a:endParaRPr lang="en-US" sz="1650" dirty="0"/>
          </a:p>
        </p:txBody>
      </p:sp>
      <p:sp>
        <p:nvSpPr>
          <p:cNvPr id="99" name="Text 88"/>
          <p:cNvSpPr txBox="1"/>
          <p:nvPr/>
        </p:nvSpPr>
        <p:spPr>
          <a:xfrm>
            <a:off x="800100" y="9315907"/>
            <a:ext cx="16193110" cy="228600"/>
          </a:xfrm>
          <a:prstGeom prst="rect">
            <a:avLst/>
          </a:prstGeom>
          <a:noFill/>
          <a:ln/>
        </p:spPr>
        <p:txBody>
          <a:bodyPr wrap="non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KEY TAKEAWAY</a:t>
            </a:r>
            <a:pPr algn="l" indent="0" marL="0">
              <a:buNone/>
            </a:pPr>
            <a:r>
              <a:rPr lang="en-US" sz="1200" dirty="0">
                <a:solidFill>
                  <a:srgbClr val="FFFFFF"/>
                </a:solidFill>
                <a:latin typeface="Pretendard" pitchFamily="34" charset="0"/>
                <a:ea typeface="Pretendard" pitchFamily="34" charset="-122"/>
                <a:cs typeface="Pretendard" pitchFamily="34" charset="-120"/>
              </a:rPr>
              <a:t> a-C/SiN 측 평균 NU% 2.9% — TiN 측 평균 4.0% 대비 28 % 개선, 동일 split 내에서도 Tweak A가 가장 양호.</a:t>
            </a:r>
            <a:endParaRPr lang="en-US" sz="1200" dirty="0"/>
          </a:p>
        </p:txBody>
      </p:sp>
      <p:sp>
        <p:nvSpPr>
          <p:cNvPr id="100" name="Text 89"/>
          <p:cNvSpPr txBox="1"/>
          <p:nvPr/>
        </p:nvSpPr>
        <p:spPr>
          <a:xfrm>
            <a:off x="571500" y="9924898"/>
            <a:ext cx="11430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 내부 테스트용 더미(가상) 데이터 — 본 자료의 wafer ID/stats는 가상</a:t>
            </a:r>
            <a:endParaRPr lang="en-US" sz="975" dirty="0"/>
          </a:p>
        </p:txBody>
      </p:sp>
      <p:sp>
        <p:nvSpPr>
          <p:cNvPr id="101" name="Text 90"/>
          <p:cNvSpPr txBox="1"/>
          <p:nvPr/>
        </p:nvSpPr>
        <p:spPr>
          <a:xfrm>
            <a:off x="14287500" y="9924898"/>
            <a:ext cx="3429000" cy="181051"/>
          </a:xfrm>
          <a:prstGeom prst="rect">
            <a:avLst/>
          </a:prstGeom>
          <a:noFill/>
          <a:ln/>
        </p:spPr>
        <p:txBody>
          <a:bodyPr wrap="none" lIns="0" tIns="0" rIns="0" bIns="0" rtlCol="0" anchor="ctr"/>
          <a:lstStyle/>
          <a:p>
            <a:pPr algn="r" indent="0" marL="0">
              <a:buNone/>
            </a:pPr>
            <a:r>
              <a:rPr lang="en-US" sz="975" dirty="0">
                <a:solidFill>
                  <a:srgbClr val="7A8898"/>
                </a:solidFill>
                <a:latin typeface="Pretendard" pitchFamily="34" charset="0"/>
                <a:ea typeface="Pretendard" pitchFamily="34" charset="-122"/>
                <a:cs typeface="Pretendard" pitchFamily="34" charset="-120"/>
              </a:rPr>
              <a:t>06 / 09 · EUV-BEOL-DUMMY</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EEF2"/>
        </a:solidFill>
      </p:bgPr>
    </p:bg>
    <p:spTree>
      <p:nvGrpSpPr>
        <p:cNvPr id="1" name=""/>
        <p:cNvGrpSpPr/>
        <p:nvPr/>
      </p:nvGrpSpPr>
      <p:grpSpPr>
        <a:xfrm>
          <a:off x="0" y="0"/>
          <a:ext cx="0" cy="0"/>
          <a:chOff x="0" y="0"/>
          <a:chExt cx="0" cy="0"/>
        </a:xfrm>
      </p:grpSpPr>
      <p:sp>
        <p:nvSpPr>
          <p:cNvPr id="3" name="Shape 0"/>
          <p:cNvSpPr/>
          <p:nvPr/>
        </p:nvSpPr>
        <p:spPr>
          <a:xfrm>
            <a:off x="0" y="0"/>
            <a:ext cx="18288000" cy="1123798"/>
          </a:xfrm>
          <a:prstGeom prst="rect">
            <a:avLst/>
          </a:prstGeom>
          <a:solidFill>
            <a:srgbClr val="FFFFFF"/>
          </a:solidFill>
          <a:ln/>
        </p:spPr>
      </p:sp>
      <p:sp>
        <p:nvSpPr>
          <p:cNvPr id="4" name="Shape 1"/>
          <p:cNvSpPr/>
          <p:nvPr/>
        </p:nvSpPr>
        <p:spPr>
          <a:xfrm>
            <a:off x="0" y="1114654"/>
            <a:ext cx="18288000" cy="9144"/>
          </a:xfrm>
          <a:prstGeom prst="rect">
            <a:avLst/>
          </a:prstGeom>
          <a:solidFill>
            <a:srgbClr val="C8CED6"/>
          </a:solidFill>
          <a:ln w="12700">
            <a:solidFill>
              <a:srgbClr val="C8CED6">
                <a:alpha val="0"/>
              </a:srgbClr>
            </a:solidFill>
            <a:prstDash val="solid"/>
          </a:ln>
        </p:spPr>
      </p:sp>
      <p:sp>
        <p:nvSpPr>
          <p:cNvPr id="5" name="Shape 2"/>
          <p:cNvSpPr/>
          <p:nvPr/>
        </p:nvSpPr>
        <p:spPr>
          <a:xfrm>
            <a:off x="571500" y="1619402"/>
            <a:ext cx="8382305" cy="5715000"/>
          </a:xfrm>
          <a:prstGeom prst="rect">
            <a:avLst/>
          </a:prstGeom>
          <a:solidFill>
            <a:srgbClr val="FFFFFF"/>
          </a:solidFill>
          <a:ln w="12700">
            <a:solidFill>
              <a:srgbClr val="C8CED6"/>
            </a:solidFill>
            <a:prstDash val="solid"/>
          </a:ln>
        </p:spPr>
      </p:sp>
      <p:sp>
        <p:nvSpPr>
          <p:cNvPr id="6" name="Shape 3"/>
          <p:cNvSpPr/>
          <p:nvPr/>
        </p:nvSpPr>
        <p:spPr>
          <a:xfrm>
            <a:off x="9334195" y="1619402"/>
            <a:ext cx="8382305" cy="5715000"/>
          </a:xfrm>
          <a:prstGeom prst="rect">
            <a:avLst/>
          </a:prstGeom>
          <a:solidFill>
            <a:srgbClr val="FFFFFF"/>
          </a:solidFill>
          <a:ln w="12700">
            <a:solidFill>
              <a:srgbClr val="C8CED6"/>
            </a:solidFill>
            <a:prstDash val="solid"/>
          </a:ln>
        </p:spPr>
      </p:sp>
      <p:sp>
        <p:nvSpPr>
          <p:cNvPr id="7" name="Shape 4"/>
          <p:cNvSpPr/>
          <p:nvPr/>
        </p:nvSpPr>
        <p:spPr>
          <a:xfrm>
            <a:off x="571500" y="7524598"/>
            <a:ext cx="17145000" cy="1333195"/>
          </a:xfrm>
          <a:prstGeom prst="rect">
            <a:avLst/>
          </a:prstGeom>
          <a:solidFill>
            <a:srgbClr val="FFFFFF"/>
          </a:solidFill>
          <a:ln w="12700">
            <a:solidFill>
              <a:srgbClr val="C8CED6"/>
            </a:solidFill>
            <a:prstDash val="solid"/>
          </a:ln>
        </p:spPr>
      </p:sp>
      <p:pic>
        <p:nvPicPr>
          <p:cNvPr id="8" name="Image 0" descr="gen-dedup-74de5ec3332f686492655bfad531efc9.png">    </p:cNvPr>
          <p:cNvPicPr>
            <a:picLocks noChangeAspect="1"/>
          </p:cNvPicPr>
          <p:nvPr/>
        </p:nvPicPr>
        <p:blipFill>
          <a:blip r:embed="rId1"/>
          <a:srcRect l="-17" r="-17" t="0" b="0"/>
          <a:stretch/>
        </p:blipFill>
        <p:spPr>
          <a:xfrm>
            <a:off x="571500" y="9239098"/>
            <a:ext cx="17145000" cy="437998"/>
          </a:xfrm>
          <a:prstGeom prst="rect">
            <a:avLst/>
          </a:prstGeom>
        </p:spPr>
      </p:pic>
      <p:pic>
        <p:nvPicPr>
          <p:cNvPr id="9" name="Image 1" descr="gen-dedup-68bac70ffc575f7be58fcf62b0930262.png">    </p:cNvPr>
          <p:cNvPicPr>
            <a:picLocks noChangeAspect="1"/>
          </p:cNvPicPr>
          <p:nvPr/>
        </p:nvPicPr>
        <p:blipFill>
          <a:blip r:embed="rId2"/>
          <a:srcRect l="-2083" r="-2083" t="0" b="0"/>
          <a:stretch/>
        </p:blipFill>
        <p:spPr>
          <a:xfrm>
            <a:off x="0" y="9810598"/>
            <a:ext cx="18288000" cy="9144"/>
          </a:xfrm>
          <a:prstGeom prst="rect">
            <a:avLst/>
          </a:prstGeom>
        </p:spPr>
      </p:pic>
      <p:sp>
        <p:nvSpPr>
          <p:cNvPr id="10" name="Shape 5"/>
          <p:cNvSpPr/>
          <p:nvPr/>
        </p:nvSpPr>
        <p:spPr>
          <a:xfrm>
            <a:off x="571500" y="1619402"/>
            <a:ext cx="8382305" cy="476402"/>
          </a:xfrm>
          <a:prstGeom prst="rect">
            <a:avLst/>
          </a:prstGeom>
          <a:solidFill>
            <a:srgbClr val="2E6F8E"/>
          </a:solidFill>
          <a:ln w="12700">
            <a:solidFill>
              <a:srgbClr val="FFFFFF">
                <a:alpha val="0"/>
              </a:srgbClr>
            </a:solidFill>
            <a:prstDash val="solid"/>
          </a:ln>
        </p:spPr>
      </p:sp>
      <p:pic>
        <p:nvPicPr>
          <p:cNvPr id="11" name="Image 2" descr="gen-dedup-f877beb9807fdaa46a9903f2282cac3d.png">    </p:cNvPr>
          <p:cNvPicPr>
            <a:picLocks noChangeAspect="1"/>
          </p:cNvPicPr>
          <p:nvPr/>
        </p:nvPicPr>
        <p:blipFill>
          <a:blip r:embed="rId3"/>
          <a:srcRect l="-6" r="-6" t="0" b="0"/>
          <a:stretch/>
        </p:blipFill>
        <p:spPr>
          <a:xfrm>
            <a:off x="2286000" y="2286000"/>
            <a:ext cx="4953305" cy="4762195"/>
          </a:xfrm>
          <a:prstGeom prst="rect">
            <a:avLst/>
          </a:prstGeom>
        </p:spPr>
      </p:pic>
      <p:sp>
        <p:nvSpPr>
          <p:cNvPr id="12" name="Shape 6"/>
          <p:cNvSpPr/>
          <p:nvPr/>
        </p:nvSpPr>
        <p:spPr>
          <a:xfrm>
            <a:off x="800100" y="6762902"/>
            <a:ext cx="7962595" cy="476402"/>
          </a:xfrm>
          <a:prstGeom prst="rect">
            <a:avLst/>
          </a:prstGeom>
          <a:solidFill>
            <a:srgbClr val="F7F9FB"/>
          </a:solidFill>
          <a:ln/>
        </p:spPr>
      </p:sp>
      <p:sp>
        <p:nvSpPr>
          <p:cNvPr id="13" name="Shape 7"/>
          <p:cNvSpPr/>
          <p:nvPr/>
        </p:nvSpPr>
        <p:spPr>
          <a:xfrm>
            <a:off x="800100" y="6762902"/>
            <a:ext cx="57607" cy="476402"/>
          </a:xfrm>
          <a:prstGeom prst="rect">
            <a:avLst/>
          </a:prstGeom>
          <a:solidFill>
            <a:srgbClr val="B43F2D"/>
          </a:solidFill>
          <a:ln w="12700">
            <a:solidFill>
              <a:srgbClr val="B43F2D">
                <a:alpha val="0"/>
              </a:srgbClr>
            </a:solidFill>
            <a:prstDash val="solid"/>
          </a:ln>
        </p:spPr>
      </p:sp>
      <p:sp>
        <p:nvSpPr>
          <p:cNvPr id="14" name="Shape 8"/>
          <p:cNvSpPr/>
          <p:nvPr/>
        </p:nvSpPr>
        <p:spPr>
          <a:xfrm>
            <a:off x="9334195" y="1619402"/>
            <a:ext cx="8382305" cy="476402"/>
          </a:xfrm>
          <a:prstGeom prst="rect">
            <a:avLst/>
          </a:prstGeom>
          <a:solidFill>
            <a:srgbClr val="C8552D"/>
          </a:solidFill>
          <a:ln w="12700">
            <a:solidFill>
              <a:srgbClr val="FFFFFF">
                <a:alpha val="0"/>
              </a:srgbClr>
            </a:solidFill>
            <a:prstDash val="solid"/>
          </a:ln>
        </p:spPr>
      </p:sp>
      <p:pic>
        <p:nvPicPr>
          <p:cNvPr id="15" name="Image 3" descr="gen-dedup-f877beb9807fdaa46a9903f2282cac3d.png">    </p:cNvPr>
          <p:cNvPicPr>
            <a:picLocks noChangeAspect="1"/>
          </p:cNvPicPr>
          <p:nvPr/>
        </p:nvPicPr>
        <p:blipFill>
          <a:blip r:embed="rId4"/>
          <a:srcRect l="-6" r="-6" t="0" b="0"/>
          <a:stretch/>
        </p:blipFill>
        <p:spPr>
          <a:xfrm>
            <a:off x="11048695" y="2286000"/>
            <a:ext cx="4953305" cy="4762195"/>
          </a:xfrm>
          <a:prstGeom prst="rect">
            <a:avLst/>
          </a:prstGeom>
        </p:spPr>
      </p:pic>
      <p:sp>
        <p:nvSpPr>
          <p:cNvPr id="16" name="Shape 9"/>
          <p:cNvSpPr/>
          <p:nvPr/>
        </p:nvSpPr>
        <p:spPr>
          <a:xfrm>
            <a:off x="9562795" y="6762902"/>
            <a:ext cx="7962595" cy="476402"/>
          </a:xfrm>
          <a:prstGeom prst="rect">
            <a:avLst/>
          </a:prstGeom>
          <a:solidFill>
            <a:srgbClr val="F7F9FB"/>
          </a:solidFill>
          <a:ln/>
        </p:spPr>
      </p:sp>
      <p:sp>
        <p:nvSpPr>
          <p:cNvPr id="17" name="Shape 10"/>
          <p:cNvSpPr/>
          <p:nvPr/>
        </p:nvSpPr>
        <p:spPr>
          <a:xfrm>
            <a:off x="9562795" y="6762902"/>
            <a:ext cx="57607" cy="476402"/>
          </a:xfrm>
          <a:prstGeom prst="rect">
            <a:avLst/>
          </a:prstGeom>
          <a:solidFill>
            <a:srgbClr val="3F6F52"/>
          </a:solidFill>
          <a:ln w="12700">
            <a:solidFill>
              <a:srgbClr val="3F6F52">
                <a:alpha val="0"/>
              </a:srgbClr>
            </a:solidFill>
            <a:prstDash val="solid"/>
          </a:ln>
        </p:spPr>
      </p:sp>
      <p:sp>
        <p:nvSpPr>
          <p:cNvPr id="18" name="Shape 11"/>
          <p:cNvSpPr/>
          <p:nvPr/>
        </p:nvSpPr>
        <p:spPr>
          <a:xfrm>
            <a:off x="800100" y="8096098"/>
            <a:ext cx="342900" cy="342900"/>
          </a:xfrm>
          <a:prstGeom prst="ellipse">
            <a:avLst/>
          </a:prstGeom>
          <a:solidFill>
            <a:srgbClr val="3F6F52"/>
          </a:solidFill>
          <a:ln w="12700">
            <a:solidFill>
              <a:srgbClr val="FFFFFF">
                <a:alpha val="0"/>
              </a:srgbClr>
            </a:solidFill>
            <a:prstDash val="solid"/>
          </a:ln>
        </p:spPr>
      </p:sp>
      <p:sp>
        <p:nvSpPr>
          <p:cNvPr id="19" name="Shape 12"/>
          <p:cNvSpPr/>
          <p:nvPr/>
        </p:nvSpPr>
        <p:spPr>
          <a:xfrm>
            <a:off x="4419295" y="8096098"/>
            <a:ext cx="342900" cy="342900"/>
          </a:xfrm>
          <a:prstGeom prst="ellipse">
            <a:avLst/>
          </a:prstGeom>
          <a:solidFill>
            <a:srgbClr val="88B197"/>
          </a:solidFill>
          <a:ln w="12700">
            <a:solidFill>
              <a:srgbClr val="FFFFFF">
                <a:alpha val="0"/>
              </a:srgbClr>
            </a:solidFill>
            <a:prstDash val="solid"/>
          </a:ln>
        </p:spPr>
      </p:sp>
      <p:sp>
        <p:nvSpPr>
          <p:cNvPr id="20" name="Shape 13"/>
          <p:cNvSpPr/>
          <p:nvPr/>
        </p:nvSpPr>
        <p:spPr>
          <a:xfrm>
            <a:off x="8039405" y="8096098"/>
            <a:ext cx="342900" cy="342900"/>
          </a:xfrm>
          <a:prstGeom prst="ellipse">
            <a:avLst/>
          </a:prstGeom>
          <a:solidFill>
            <a:srgbClr val="B47A1F"/>
          </a:solidFill>
          <a:ln w="12700">
            <a:solidFill>
              <a:srgbClr val="FFFFFF">
                <a:alpha val="0"/>
              </a:srgbClr>
            </a:solidFill>
            <a:prstDash val="solid"/>
          </a:ln>
        </p:spPr>
      </p:sp>
      <p:sp>
        <p:nvSpPr>
          <p:cNvPr id="21" name="Shape 14"/>
          <p:cNvSpPr/>
          <p:nvPr/>
        </p:nvSpPr>
        <p:spPr>
          <a:xfrm>
            <a:off x="11658600" y="8096098"/>
            <a:ext cx="342900" cy="342900"/>
          </a:xfrm>
          <a:prstGeom prst="ellipse">
            <a:avLst/>
          </a:prstGeom>
          <a:solidFill>
            <a:srgbClr val="B43F2D"/>
          </a:solidFill>
          <a:ln w="12700">
            <a:solidFill>
              <a:srgbClr val="FFFFFF">
                <a:alpha val="0"/>
              </a:srgbClr>
            </a:solidFill>
            <a:prstDash val="solid"/>
          </a:ln>
        </p:spPr>
      </p:sp>
      <p:pic>
        <p:nvPicPr>
          <p:cNvPr id="22" name="Image 4" descr="gen-dedup-d2b3f263ca7080a87fe59f1b3a93ba8b.png">    </p:cNvPr>
          <p:cNvPicPr>
            <a:picLocks noChangeAspect="1"/>
          </p:cNvPicPr>
          <p:nvPr/>
        </p:nvPicPr>
        <p:blipFill>
          <a:blip r:embed="rId5"/>
          <a:srcRect l="0" r="0" t="0" b="0"/>
          <a:stretch/>
        </p:blipFill>
        <p:spPr>
          <a:xfrm>
            <a:off x="4705502" y="2171700"/>
            <a:ext cx="114300" cy="228600"/>
          </a:xfrm>
          <a:prstGeom prst="rect">
            <a:avLst/>
          </a:prstGeom>
        </p:spPr>
      </p:pic>
      <p:pic>
        <p:nvPicPr>
          <p:cNvPr id="23" name="Image 5" descr="gen-dedup-d2b3f263ca7080a87fe59f1b3a93ba8b.png">    </p:cNvPr>
          <p:cNvPicPr>
            <a:picLocks noChangeAspect="1"/>
          </p:cNvPicPr>
          <p:nvPr/>
        </p:nvPicPr>
        <p:blipFill>
          <a:blip r:embed="rId6"/>
          <a:srcRect l="0" r="0" t="0" b="0"/>
          <a:stretch/>
        </p:blipFill>
        <p:spPr>
          <a:xfrm>
            <a:off x="13468198" y="2171700"/>
            <a:ext cx="114300" cy="228600"/>
          </a:xfrm>
          <a:prstGeom prst="rect">
            <a:avLst/>
          </a:prstGeom>
        </p:spPr>
      </p:pic>
      <p:sp>
        <p:nvSpPr>
          <p:cNvPr id="24" name="Text 15"/>
          <p:cNvSpPr txBox="1"/>
          <p:nvPr/>
        </p:nvSpPr>
        <p:spPr>
          <a:xfrm>
            <a:off x="800100" y="1733702"/>
            <a:ext cx="6286500" cy="305410"/>
          </a:xfrm>
          <a:prstGeom prst="rect">
            <a:avLst/>
          </a:prstGeom>
          <a:noFill/>
          <a:ln/>
        </p:spPr>
        <p:txBody>
          <a:bodyPr wrap="squar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W03 · SPLIT A · WORST</a:t>
            </a:r>
            <a:pPr algn="l" indent="0" marL="0">
              <a:buNone/>
            </a:pPr>
            <a:r>
              <a:rPr lang="en-US" sz="1650" b="1" dirty="0">
                <a:solidFill>
                  <a:srgbClr val="FFFFFF"/>
                </a:solidFill>
                <a:latin typeface="Pretendard" pitchFamily="34" charset="0"/>
                <a:ea typeface="Pretendard" pitchFamily="34" charset="-122"/>
                <a:cs typeface="Pretendard" pitchFamily="34" charset="-120"/>
              </a:rPr>
              <a:t>TiN twk B (low bias)</a:t>
            </a:r>
            <a:endParaRPr lang="en-US" sz="1200" dirty="0"/>
          </a:p>
        </p:txBody>
      </p:sp>
      <p:sp>
        <p:nvSpPr>
          <p:cNvPr id="25" name="Text 16"/>
          <p:cNvSpPr txBox="1"/>
          <p:nvPr/>
        </p:nvSpPr>
        <p:spPr>
          <a:xfrm>
            <a:off x="800100" y="1772107"/>
            <a:ext cx="8001000" cy="228600"/>
          </a:xfrm>
          <a:prstGeom prst="rect">
            <a:avLst/>
          </a:prstGeom>
          <a:noFill/>
          <a:ln/>
        </p:spPr>
        <p:txBody>
          <a:bodyPr wrap="none" lIns="0" tIns="0" rIns="0" bIns="0" rtlCol="0" anchor="ctr"/>
          <a:lstStyle/>
          <a:p>
            <a:pPr algn="r" indent="0" marL="0">
              <a:buNone/>
            </a:pPr>
            <a:r>
              <a:rPr lang="en-US" sz="975" dirty="0">
                <a:solidFill>
                  <a:srgbClr val="FFFFFF"/>
                </a:solidFill>
                <a:latin typeface="Pretendard" pitchFamily="34" charset="0"/>
                <a:ea typeface="Pretendard" pitchFamily="34" charset="-122"/>
                <a:cs typeface="Pretendard" pitchFamily="34" charset="-120"/>
              </a:rPr>
              <a:t>NU 4.7 % · Range 3.40 nm · 8.5 / 25 sites OOT</a:t>
            </a:r>
            <a:endParaRPr lang="en-US" sz="1200" dirty="0"/>
          </a:p>
        </p:txBody>
      </p:sp>
      <p:sp>
        <p:nvSpPr>
          <p:cNvPr id="26" name="Text 17"/>
          <p:cNvSpPr txBox="1"/>
          <p:nvPr/>
        </p:nvSpPr>
        <p:spPr>
          <a:xfrm>
            <a:off x="4876495" y="2190902"/>
            <a:ext cx="762610" cy="143561"/>
          </a:xfrm>
          <a:prstGeom prst="rect">
            <a:avLst/>
          </a:prstGeom>
          <a:noFill/>
          <a:ln/>
        </p:spPr>
        <p:txBody>
          <a:bodyPr wrap="none" lIns="0" tIns="0" rIns="0" bIns="0" rtlCol="0" anchor="ctr"/>
          <a:lstStyle/>
          <a:p>
            <a:pPr algn="l" indent="0" marL="0">
              <a:buNone/>
            </a:pPr>
            <a:r>
              <a:rPr lang="en-US" sz="800" spc="135" kern="0" dirty="0">
                <a:solidFill>
                  <a:srgbClr val="7A8898"/>
                </a:solidFill>
                <a:latin typeface="Pretendard" pitchFamily="34" charset="0"/>
                <a:ea typeface="Pretendard" pitchFamily="34" charset="-122"/>
                <a:cs typeface="Pretendard" pitchFamily="34" charset="-120"/>
              </a:rPr>
              <a:t>NOTCH</a:t>
            </a:r>
            <a:endParaRPr lang="en-US" sz="800" dirty="0"/>
          </a:p>
        </p:txBody>
      </p:sp>
      <p:sp>
        <p:nvSpPr>
          <p:cNvPr id="27" name="Text 18"/>
          <p:cNvSpPr txBox="1"/>
          <p:nvPr/>
        </p:nvSpPr>
        <p:spPr>
          <a:xfrm>
            <a:off x="990295" y="6838798"/>
            <a:ext cx="762061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Edge hot — 가장자리 ring (마지막 열)에서 +0.8–1.8 nm 양 방향 편향 · 중심 대비 부하 효과</a:t>
            </a:r>
            <a:endParaRPr lang="en-US" sz="975" dirty="0"/>
          </a:p>
        </p:txBody>
      </p:sp>
      <p:sp>
        <p:nvSpPr>
          <p:cNvPr id="28" name="Text 19"/>
          <p:cNvSpPr txBox="1"/>
          <p:nvPr/>
        </p:nvSpPr>
        <p:spPr>
          <a:xfrm>
            <a:off x="9562795" y="1733702"/>
            <a:ext cx="6286500" cy="342900"/>
          </a:xfrm>
          <a:prstGeom prst="rect">
            <a:avLst/>
          </a:prstGeom>
          <a:noFill/>
          <a:ln/>
        </p:spPr>
        <p:txBody>
          <a:bodyPr wrap="squar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W05 · SPLIT B · BEST</a:t>
            </a:r>
            <a:pPr algn="l" indent="0" marL="0">
              <a:buNone/>
            </a:pPr>
            <a:r>
              <a:rPr lang="en-US" sz="1650" b="1" dirty="0">
                <a:solidFill>
                  <a:srgbClr val="FFFFFF"/>
                </a:solidFill>
                <a:latin typeface="Pretendard" pitchFamily="34" charset="0"/>
                <a:ea typeface="Pretendard" pitchFamily="34" charset="-122"/>
                <a:cs typeface="Pretendard" pitchFamily="34" charset="-120"/>
              </a:rPr>
              <a:t>a-C/SiN twk A (O₂ 첨가)</a:t>
            </a:r>
            <a:endParaRPr lang="en-US" sz="1200" dirty="0"/>
          </a:p>
        </p:txBody>
      </p:sp>
      <p:sp>
        <p:nvSpPr>
          <p:cNvPr id="29" name="Text 20"/>
          <p:cNvSpPr txBox="1"/>
          <p:nvPr/>
        </p:nvSpPr>
        <p:spPr>
          <a:xfrm>
            <a:off x="9562795" y="1772107"/>
            <a:ext cx="8001000" cy="228600"/>
          </a:xfrm>
          <a:prstGeom prst="rect">
            <a:avLst/>
          </a:prstGeom>
          <a:noFill/>
          <a:ln/>
        </p:spPr>
        <p:txBody>
          <a:bodyPr wrap="none" lIns="0" tIns="0" rIns="0" bIns="0" rtlCol="0" anchor="ctr"/>
          <a:lstStyle/>
          <a:p>
            <a:pPr algn="r" indent="0" marL="0">
              <a:buNone/>
            </a:pPr>
            <a:r>
              <a:rPr lang="en-US" sz="975" dirty="0">
                <a:solidFill>
                  <a:srgbClr val="FFFFFF"/>
                </a:solidFill>
                <a:latin typeface="Pretendard" pitchFamily="34" charset="0"/>
                <a:ea typeface="Pretendard" pitchFamily="34" charset="-122"/>
                <a:cs typeface="Pretendard" pitchFamily="34" charset="-120"/>
              </a:rPr>
              <a:t>NU 2.5 % · Range 1.78 nm · 0 / 25 sites OOT</a:t>
            </a:r>
            <a:endParaRPr lang="en-US" sz="1200" dirty="0"/>
          </a:p>
        </p:txBody>
      </p:sp>
      <p:sp>
        <p:nvSpPr>
          <p:cNvPr id="30" name="Text 21"/>
          <p:cNvSpPr txBox="1"/>
          <p:nvPr/>
        </p:nvSpPr>
        <p:spPr>
          <a:xfrm>
            <a:off x="13640105" y="2190902"/>
            <a:ext cx="762610" cy="143561"/>
          </a:xfrm>
          <a:prstGeom prst="rect">
            <a:avLst/>
          </a:prstGeom>
          <a:noFill/>
          <a:ln/>
        </p:spPr>
        <p:txBody>
          <a:bodyPr wrap="none" lIns="0" tIns="0" rIns="0" bIns="0" rtlCol="0" anchor="ctr"/>
          <a:lstStyle/>
          <a:p>
            <a:pPr algn="l" indent="0" marL="0">
              <a:buNone/>
            </a:pPr>
            <a:r>
              <a:rPr lang="en-US" sz="800" spc="135" kern="0" dirty="0">
                <a:solidFill>
                  <a:srgbClr val="7A8898"/>
                </a:solidFill>
                <a:latin typeface="Pretendard" pitchFamily="34" charset="0"/>
                <a:ea typeface="Pretendard" pitchFamily="34" charset="-122"/>
                <a:cs typeface="Pretendard" pitchFamily="34" charset="-120"/>
              </a:rPr>
              <a:t>NOTCH</a:t>
            </a:r>
            <a:endParaRPr lang="en-US" sz="800" dirty="0"/>
          </a:p>
        </p:txBody>
      </p:sp>
      <p:sp>
        <p:nvSpPr>
          <p:cNvPr id="31" name="Text 22"/>
          <p:cNvSpPr txBox="1"/>
          <p:nvPr/>
        </p:nvSpPr>
        <p:spPr>
          <a:xfrm>
            <a:off x="9753905" y="6838798"/>
            <a:ext cx="762061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균일 — 25 site 전부 ±0.20 nm 이내, 우상 코너 단 +0.2 nm 미세 패턴만 잔존</a:t>
            </a:r>
            <a:endParaRPr lang="en-US" sz="975" dirty="0"/>
          </a:p>
        </p:txBody>
      </p:sp>
      <p:sp>
        <p:nvSpPr>
          <p:cNvPr id="32" name="Text 23"/>
          <p:cNvSpPr txBox="1"/>
          <p:nvPr/>
        </p:nvSpPr>
        <p:spPr>
          <a:xfrm>
            <a:off x="800100" y="7677302"/>
            <a:ext cx="16193110" cy="181051"/>
          </a:xfrm>
          <a:prstGeom prst="rect">
            <a:avLst/>
          </a:prstGeom>
          <a:noFill/>
          <a:ln/>
        </p:spPr>
        <p:txBody>
          <a:bodyPr wrap="none" lIns="0" tIns="0" rIns="0" bIns="0" rtlCol="0" anchor="ctr"/>
          <a:lstStyle/>
          <a:p>
            <a:pPr algn="l" indent="0" marL="0">
              <a:buNone/>
            </a:pPr>
            <a:r>
              <a:rPr lang="en-US" sz="975" b="1" spc="273" kern="0" dirty="0">
                <a:solidFill>
                  <a:srgbClr val="1B2535"/>
                </a:solidFill>
                <a:latin typeface="Pretendard" pitchFamily="34" charset="0"/>
                <a:ea typeface="Pretendard" pitchFamily="34" charset="-122"/>
                <a:cs typeface="Pretendard" pitchFamily="34" charset="-120"/>
              </a:rPr>
              <a:t>DEVIATION BAND LEGEND</a:t>
            </a:r>
            <a:endParaRPr lang="en-US" sz="975" dirty="0"/>
          </a:p>
        </p:txBody>
      </p:sp>
      <p:sp>
        <p:nvSpPr>
          <p:cNvPr id="33" name="Text 24"/>
          <p:cNvSpPr txBox="1"/>
          <p:nvPr/>
        </p:nvSpPr>
        <p:spPr>
          <a:xfrm>
            <a:off x="1238098" y="8124444"/>
            <a:ext cx="2667305" cy="191110"/>
          </a:xfrm>
          <a:prstGeom prst="rect">
            <a:avLst/>
          </a:prstGeom>
          <a:noFill/>
          <a:ln/>
        </p:spPr>
        <p:txBody>
          <a:bodyPr wrap="none" lIns="0" tIns="0" rIns="0" bIns="0" rtlCol="0" anchor="ctr"/>
          <a:lstStyle/>
          <a:p>
            <a:pPr algn="l" indent="0" marL="0">
              <a:buNone/>
            </a:pPr>
            <a:r>
              <a:rPr lang="en-US" sz="1050" b="1" dirty="0">
                <a:solidFill>
                  <a:srgbClr val="1B2535"/>
                </a:solidFill>
                <a:latin typeface="Pretendard" pitchFamily="34" charset="0"/>
                <a:ea typeface="Pretendard" pitchFamily="34" charset="-122"/>
                <a:cs typeface="Pretendard" pitchFamily="34" charset="-120"/>
              </a:rPr>
              <a:t>| Δ | ≤ 0.20 nm</a:t>
            </a:r>
            <a:endParaRPr lang="en-US" sz="1050" dirty="0"/>
          </a:p>
        </p:txBody>
      </p:sp>
      <p:sp>
        <p:nvSpPr>
          <p:cNvPr id="34" name="Text 25"/>
          <p:cNvSpPr txBox="1"/>
          <p:nvPr/>
        </p:nvSpPr>
        <p:spPr>
          <a:xfrm>
            <a:off x="1238098" y="8334756"/>
            <a:ext cx="2667305"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spec center · safe</a:t>
            </a:r>
            <a:endParaRPr lang="en-US" sz="900" dirty="0"/>
          </a:p>
        </p:txBody>
      </p:sp>
      <p:sp>
        <p:nvSpPr>
          <p:cNvPr id="35" name="Text 26"/>
          <p:cNvSpPr txBox="1"/>
          <p:nvPr/>
        </p:nvSpPr>
        <p:spPr>
          <a:xfrm>
            <a:off x="4858207" y="8124444"/>
            <a:ext cx="2667305" cy="191110"/>
          </a:xfrm>
          <a:prstGeom prst="rect">
            <a:avLst/>
          </a:prstGeom>
          <a:noFill/>
          <a:ln/>
        </p:spPr>
        <p:txBody>
          <a:bodyPr wrap="none" lIns="0" tIns="0" rIns="0" bIns="0" rtlCol="0" anchor="ctr"/>
          <a:lstStyle/>
          <a:p>
            <a:pPr algn="l" indent="0" marL="0">
              <a:buNone/>
            </a:pPr>
            <a:r>
              <a:rPr lang="en-US" sz="1050" b="1" dirty="0">
                <a:solidFill>
                  <a:srgbClr val="1B2535"/>
                </a:solidFill>
                <a:latin typeface="Pretendard" pitchFamily="34" charset="0"/>
                <a:ea typeface="Pretendard" pitchFamily="34" charset="-122"/>
                <a:cs typeface="Pretendard" pitchFamily="34" charset="-120"/>
              </a:rPr>
              <a:t>0.20 &lt; | Δ | ≤ 0.50</a:t>
            </a:r>
            <a:endParaRPr lang="en-US" sz="1050" dirty="0"/>
          </a:p>
        </p:txBody>
      </p:sp>
      <p:sp>
        <p:nvSpPr>
          <p:cNvPr id="36" name="Text 27"/>
          <p:cNvSpPr txBox="1"/>
          <p:nvPr/>
        </p:nvSpPr>
        <p:spPr>
          <a:xfrm>
            <a:off x="4858207" y="8334756"/>
            <a:ext cx="2667305"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within spec · margin</a:t>
            </a:r>
            <a:endParaRPr lang="en-US" sz="900" dirty="0"/>
          </a:p>
        </p:txBody>
      </p:sp>
      <p:sp>
        <p:nvSpPr>
          <p:cNvPr id="37" name="Text 28"/>
          <p:cNvSpPr txBox="1"/>
          <p:nvPr/>
        </p:nvSpPr>
        <p:spPr>
          <a:xfrm>
            <a:off x="8477402" y="8124444"/>
            <a:ext cx="2667305" cy="191110"/>
          </a:xfrm>
          <a:prstGeom prst="rect">
            <a:avLst/>
          </a:prstGeom>
          <a:noFill/>
          <a:ln/>
        </p:spPr>
        <p:txBody>
          <a:bodyPr wrap="none" lIns="0" tIns="0" rIns="0" bIns="0" rtlCol="0" anchor="ctr"/>
          <a:lstStyle/>
          <a:p>
            <a:pPr algn="l" indent="0" marL="0">
              <a:buNone/>
            </a:pPr>
            <a:r>
              <a:rPr lang="en-US" sz="1050" b="1" dirty="0">
                <a:solidFill>
                  <a:srgbClr val="1B2535"/>
                </a:solidFill>
                <a:latin typeface="Pretendard" pitchFamily="34" charset="0"/>
                <a:ea typeface="Pretendard" pitchFamily="34" charset="-122"/>
                <a:cs typeface="Pretendard" pitchFamily="34" charset="-120"/>
              </a:rPr>
              <a:t>0.50 &lt; | Δ | ≤ 1.00</a:t>
            </a:r>
            <a:endParaRPr lang="en-US" sz="1050" dirty="0"/>
          </a:p>
        </p:txBody>
      </p:sp>
      <p:sp>
        <p:nvSpPr>
          <p:cNvPr id="38" name="Text 29"/>
          <p:cNvSpPr txBox="1"/>
          <p:nvPr/>
        </p:nvSpPr>
        <p:spPr>
          <a:xfrm>
            <a:off x="8477402" y="8334756"/>
            <a:ext cx="2667305"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edge effect · watch</a:t>
            </a:r>
            <a:endParaRPr lang="en-US" sz="900" dirty="0"/>
          </a:p>
        </p:txBody>
      </p:sp>
      <p:sp>
        <p:nvSpPr>
          <p:cNvPr id="39" name="Text 30"/>
          <p:cNvSpPr txBox="1"/>
          <p:nvPr/>
        </p:nvSpPr>
        <p:spPr>
          <a:xfrm>
            <a:off x="12096598" y="8124444"/>
            <a:ext cx="4953305" cy="191110"/>
          </a:xfrm>
          <a:prstGeom prst="rect">
            <a:avLst/>
          </a:prstGeom>
          <a:noFill/>
          <a:ln/>
        </p:spPr>
        <p:txBody>
          <a:bodyPr wrap="none" lIns="0" tIns="0" rIns="0" bIns="0" rtlCol="0" anchor="ctr"/>
          <a:lstStyle/>
          <a:p>
            <a:pPr algn="l" indent="0" marL="0">
              <a:buNone/>
            </a:pPr>
            <a:r>
              <a:rPr lang="en-US" sz="1050" b="1" dirty="0">
                <a:solidFill>
                  <a:srgbClr val="1B2535"/>
                </a:solidFill>
                <a:latin typeface="Pretendard" pitchFamily="34" charset="0"/>
                <a:ea typeface="Pretendard" pitchFamily="34" charset="-122"/>
                <a:cs typeface="Pretendard" pitchFamily="34" charset="-120"/>
              </a:rPr>
              <a:t>| Δ | &gt; 1.00 nm</a:t>
            </a:r>
            <a:endParaRPr lang="en-US" sz="1050" dirty="0"/>
          </a:p>
        </p:txBody>
      </p:sp>
      <p:sp>
        <p:nvSpPr>
          <p:cNvPr id="40" name="Text 31"/>
          <p:cNvSpPr txBox="1"/>
          <p:nvPr/>
        </p:nvSpPr>
        <p:spPr>
          <a:xfrm>
            <a:off x="12096598" y="8334756"/>
            <a:ext cx="4953305"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out-of-band · process adjustment 필요</a:t>
            </a:r>
            <a:endParaRPr lang="en-US" sz="900" dirty="0"/>
          </a:p>
        </p:txBody>
      </p:sp>
      <p:sp>
        <p:nvSpPr>
          <p:cNvPr id="41" name="Shape 32"/>
          <p:cNvSpPr/>
          <p:nvPr/>
        </p:nvSpPr>
        <p:spPr>
          <a:xfrm>
            <a:off x="2667305" y="3047695"/>
            <a:ext cx="342900" cy="342900"/>
          </a:xfrm>
          <a:prstGeom prst="ellipse">
            <a:avLst/>
          </a:prstGeom>
          <a:solidFill>
            <a:srgbClr val="88B197"/>
          </a:solidFill>
          <a:ln w="12700">
            <a:solidFill>
              <a:srgbClr val="FFFFFF">
                <a:alpha val="0"/>
              </a:srgbClr>
            </a:solidFill>
            <a:prstDash val="solid"/>
          </a:ln>
        </p:spPr>
      </p:sp>
      <p:sp>
        <p:nvSpPr>
          <p:cNvPr id="42" name="Shape 33"/>
          <p:cNvSpPr/>
          <p:nvPr/>
        </p:nvSpPr>
        <p:spPr>
          <a:xfrm>
            <a:off x="3619195" y="3047695"/>
            <a:ext cx="342900" cy="342900"/>
          </a:xfrm>
          <a:prstGeom prst="ellipse">
            <a:avLst/>
          </a:prstGeom>
          <a:solidFill>
            <a:srgbClr val="88B197"/>
          </a:solidFill>
          <a:ln w="12700">
            <a:solidFill>
              <a:srgbClr val="FFFFFF">
                <a:alpha val="0"/>
              </a:srgbClr>
            </a:solidFill>
            <a:prstDash val="solid"/>
          </a:ln>
        </p:spPr>
      </p:sp>
      <p:sp>
        <p:nvSpPr>
          <p:cNvPr id="43" name="Shape 34"/>
          <p:cNvSpPr/>
          <p:nvPr/>
        </p:nvSpPr>
        <p:spPr>
          <a:xfrm>
            <a:off x="4572000" y="3047695"/>
            <a:ext cx="342900" cy="342900"/>
          </a:xfrm>
          <a:prstGeom prst="ellipse">
            <a:avLst/>
          </a:prstGeom>
          <a:solidFill>
            <a:srgbClr val="3F6F52"/>
          </a:solidFill>
          <a:ln w="12700">
            <a:solidFill>
              <a:srgbClr val="FFFFFF">
                <a:alpha val="0"/>
              </a:srgbClr>
            </a:solidFill>
            <a:prstDash val="solid"/>
          </a:ln>
        </p:spPr>
      </p:sp>
      <p:sp>
        <p:nvSpPr>
          <p:cNvPr id="44" name="Shape 35"/>
          <p:cNvSpPr/>
          <p:nvPr/>
        </p:nvSpPr>
        <p:spPr>
          <a:xfrm>
            <a:off x="5524805" y="3047695"/>
            <a:ext cx="342900" cy="342900"/>
          </a:xfrm>
          <a:prstGeom prst="ellipse">
            <a:avLst/>
          </a:prstGeom>
          <a:solidFill>
            <a:srgbClr val="88B197"/>
          </a:solidFill>
          <a:ln w="12700">
            <a:solidFill>
              <a:srgbClr val="FFFFFF">
                <a:alpha val="0"/>
              </a:srgbClr>
            </a:solidFill>
            <a:prstDash val="solid"/>
          </a:ln>
        </p:spPr>
      </p:sp>
      <p:sp>
        <p:nvSpPr>
          <p:cNvPr id="45" name="Shape 36"/>
          <p:cNvSpPr/>
          <p:nvPr/>
        </p:nvSpPr>
        <p:spPr>
          <a:xfrm>
            <a:off x="6476695" y="3047695"/>
            <a:ext cx="342900" cy="342900"/>
          </a:xfrm>
          <a:prstGeom prst="ellipse">
            <a:avLst/>
          </a:prstGeom>
          <a:solidFill>
            <a:srgbClr val="DB9D63"/>
          </a:solidFill>
          <a:ln w="12700">
            <a:solidFill>
              <a:srgbClr val="FFFFFF">
                <a:alpha val="0"/>
              </a:srgbClr>
            </a:solidFill>
            <a:prstDash val="solid"/>
          </a:ln>
        </p:spPr>
      </p:sp>
      <p:sp>
        <p:nvSpPr>
          <p:cNvPr id="46" name="Shape 37"/>
          <p:cNvSpPr/>
          <p:nvPr/>
        </p:nvSpPr>
        <p:spPr>
          <a:xfrm>
            <a:off x="2667305" y="3810305"/>
            <a:ext cx="342900" cy="342900"/>
          </a:xfrm>
          <a:prstGeom prst="ellipse">
            <a:avLst/>
          </a:prstGeom>
          <a:solidFill>
            <a:srgbClr val="88B197"/>
          </a:solidFill>
          <a:ln w="12700">
            <a:solidFill>
              <a:srgbClr val="FFFFFF">
                <a:alpha val="0"/>
              </a:srgbClr>
            </a:solidFill>
            <a:prstDash val="solid"/>
          </a:ln>
        </p:spPr>
      </p:sp>
      <p:sp>
        <p:nvSpPr>
          <p:cNvPr id="47" name="Shape 38"/>
          <p:cNvSpPr/>
          <p:nvPr/>
        </p:nvSpPr>
        <p:spPr>
          <a:xfrm>
            <a:off x="3619195" y="3810305"/>
            <a:ext cx="342900" cy="342900"/>
          </a:xfrm>
          <a:prstGeom prst="ellipse">
            <a:avLst/>
          </a:prstGeom>
          <a:solidFill>
            <a:srgbClr val="3F6F52"/>
          </a:solidFill>
          <a:ln w="12700">
            <a:solidFill>
              <a:srgbClr val="FFFFFF">
                <a:alpha val="0"/>
              </a:srgbClr>
            </a:solidFill>
            <a:prstDash val="solid"/>
          </a:ln>
        </p:spPr>
      </p:sp>
      <p:sp>
        <p:nvSpPr>
          <p:cNvPr id="48" name="Shape 39"/>
          <p:cNvSpPr/>
          <p:nvPr/>
        </p:nvSpPr>
        <p:spPr>
          <a:xfrm>
            <a:off x="4572000" y="3810305"/>
            <a:ext cx="342900" cy="342900"/>
          </a:xfrm>
          <a:prstGeom prst="ellipse">
            <a:avLst/>
          </a:prstGeom>
          <a:solidFill>
            <a:srgbClr val="88B197"/>
          </a:solidFill>
          <a:ln w="12700">
            <a:solidFill>
              <a:srgbClr val="FFFFFF">
                <a:alpha val="0"/>
              </a:srgbClr>
            </a:solidFill>
            <a:prstDash val="solid"/>
          </a:ln>
        </p:spPr>
      </p:sp>
      <p:sp>
        <p:nvSpPr>
          <p:cNvPr id="49" name="Shape 40"/>
          <p:cNvSpPr/>
          <p:nvPr/>
        </p:nvSpPr>
        <p:spPr>
          <a:xfrm>
            <a:off x="5524805" y="3810305"/>
            <a:ext cx="342900" cy="342900"/>
          </a:xfrm>
          <a:prstGeom prst="ellipse">
            <a:avLst/>
          </a:prstGeom>
          <a:solidFill>
            <a:srgbClr val="DB9D63"/>
          </a:solidFill>
          <a:ln w="12700">
            <a:solidFill>
              <a:srgbClr val="FFFFFF">
                <a:alpha val="0"/>
              </a:srgbClr>
            </a:solidFill>
            <a:prstDash val="solid"/>
          </a:ln>
        </p:spPr>
      </p:sp>
      <p:sp>
        <p:nvSpPr>
          <p:cNvPr id="50" name="Shape 41"/>
          <p:cNvSpPr/>
          <p:nvPr/>
        </p:nvSpPr>
        <p:spPr>
          <a:xfrm>
            <a:off x="6476695" y="3810305"/>
            <a:ext cx="342900" cy="342900"/>
          </a:xfrm>
          <a:prstGeom prst="ellipse">
            <a:avLst/>
          </a:prstGeom>
          <a:solidFill>
            <a:srgbClr val="B47A1F"/>
          </a:solidFill>
          <a:ln w="12700">
            <a:solidFill>
              <a:srgbClr val="FFFFFF">
                <a:alpha val="0"/>
              </a:srgbClr>
            </a:solidFill>
            <a:prstDash val="solid"/>
          </a:ln>
        </p:spPr>
      </p:sp>
      <p:sp>
        <p:nvSpPr>
          <p:cNvPr id="51" name="Shape 42"/>
          <p:cNvSpPr/>
          <p:nvPr/>
        </p:nvSpPr>
        <p:spPr>
          <a:xfrm>
            <a:off x="2667305" y="4572000"/>
            <a:ext cx="342900" cy="342900"/>
          </a:xfrm>
          <a:prstGeom prst="ellipse">
            <a:avLst/>
          </a:prstGeom>
          <a:solidFill>
            <a:srgbClr val="88B197"/>
          </a:solidFill>
          <a:ln w="12700">
            <a:solidFill>
              <a:srgbClr val="FFFFFF">
                <a:alpha val="0"/>
              </a:srgbClr>
            </a:solidFill>
            <a:prstDash val="solid"/>
          </a:ln>
        </p:spPr>
      </p:sp>
      <p:sp>
        <p:nvSpPr>
          <p:cNvPr id="52" name="Shape 43"/>
          <p:cNvSpPr/>
          <p:nvPr/>
        </p:nvSpPr>
        <p:spPr>
          <a:xfrm>
            <a:off x="3619195" y="4572000"/>
            <a:ext cx="342900" cy="342900"/>
          </a:xfrm>
          <a:prstGeom prst="ellipse">
            <a:avLst/>
          </a:prstGeom>
          <a:solidFill>
            <a:srgbClr val="88B197"/>
          </a:solidFill>
          <a:ln w="12700">
            <a:solidFill>
              <a:srgbClr val="FFFFFF">
                <a:alpha val="0"/>
              </a:srgbClr>
            </a:solidFill>
            <a:prstDash val="solid"/>
          </a:ln>
        </p:spPr>
      </p:sp>
      <p:sp>
        <p:nvSpPr>
          <p:cNvPr id="53" name="Shape 44"/>
          <p:cNvSpPr/>
          <p:nvPr/>
        </p:nvSpPr>
        <p:spPr>
          <a:xfrm>
            <a:off x="4572000" y="4572000"/>
            <a:ext cx="342900" cy="342900"/>
          </a:xfrm>
          <a:prstGeom prst="ellipse">
            <a:avLst/>
          </a:prstGeom>
          <a:solidFill>
            <a:srgbClr val="DB9D63"/>
          </a:solidFill>
          <a:ln w="12700">
            <a:solidFill>
              <a:srgbClr val="FFFFFF">
                <a:alpha val="0"/>
              </a:srgbClr>
            </a:solidFill>
            <a:prstDash val="solid"/>
          </a:ln>
        </p:spPr>
      </p:sp>
      <p:sp>
        <p:nvSpPr>
          <p:cNvPr id="54" name="Shape 45"/>
          <p:cNvSpPr/>
          <p:nvPr/>
        </p:nvSpPr>
        <p:spPr>
          <a:xfrm>
            <a:off x="5524805" y="4572000"/>
            <a:ext cx="342900" cy="342900"/>
          </a:xfrm>
          <a:prstGeom prst="ellipse">
            <a:avLst/>
          </a:prstGeom>
          <a:solidFill>
            <a:srgbClr val="DB9D63"/>
          </a:solidFill>
          <a:ln w="12700">
            <a:solidFill>
              <a:srgbClr val="FFFFFF">
                <a:alpha val="0"/>
              </a:srgbClr>
            </a:solidFill>
            <a:prstDash val="solid"/>
          </a:ln>
        </p:spPr>
      </p:sp>
      <p:sp>
        <p:nvSpPr>
          <p:cNvPr id="55" name="Shape 46"/>
          <p:cNvSpPr/>
          <p:nvPr/>
        </p:nvSpPr>
        <p:spPr>
          <a:xfrm>
            <a:off x="6476695" y="4572000"/>
            <a:ext cx="342900" cy="342900"/>
          </a:xfrm>
          <a:prstGeom prst="ellipse">
            <a:avLst/>
          </a:prstGeom>
          <a:solidFill>
            <a:srgbClr val="B43F2D"/>
          </a:solidFill>
          <a:ln w="12700">
            <a:solidFill>
              <a:srgbClr val="FFFFFF">
                <a:alpha val="0"/>
              </a:srgbClr>
            </a:solidFill>
            <a:prstDash val="solid"/>
          </a:ln>
        </p:spPr>
      </p:sp>
      <p:sp>
        <p:nvSpPr>
          <p:cNvPr id="56" name="Shape 47"/>
          <p:cNvSpPr/>
          <p:nvPr/>
        </p:nvSpPr>
        <p:spPr>
          <a:xfrm>
            <a:off x="2667305" y="5333695"/>
            <a:ext cx="342900" cy="342900"/>
          </a:xfrm>
          <a:prstGeom prst="ellipse">
            <a:avLst/>
          </a:prstGeom>
          <a:solidFill>
            <a:srgbClr val="3F6F52"/>
          </a:solidFill>
          <a:ln w="12700">
            <a:solidFill>
              <a:srgbClr val="FFFFFF">
                <a:alpha val="0"/>
              </a:srgbClr>
            </a:solidFill>
            <a:prstDash val="solid"/>
          </a:ln>
        </p:spPr>
      </p:sp>
      <p:sp>
        <p:nvSpPr>
          <p:cNvPr id="57" name="Shape 48"/>
          <p:cNvSpPr/>
          <p:nvPr/>
        </p:nvSpPr>
        <p:spPr>
          <a:xfrm>
            <a:off x="3619195" y="5333695"/>
            <a:ext cx="342900" cy="342900"/>
          </a:xfrm>
          <a:prstGeom prst="ellipse">
            <a:avLst/>
          </a:prstGeom>
          <a:solidFill>
            <a:srgbClr val="DB9D63"/>
          </a:solidFill>
          <a:ln w="12700">
            <a:solidFill>
              <a:srgbClr val="FFFFFF">
                <a:alpha val="0"/>
              </a:srgbClr>
            </a:solidFill>
            <a:prstDash val="solid"/>
          </a:ln>
        </p:spPr>
      </p:sp>
      <p:sp>
        <p:nvSpPr>
          <p:cNvPr id="58" name="Shape 49"/>
          <p:cNvSpPr/>
          <p:nvPr/>
        </p:nvSpPr>
        <p:spPr>
          <a:xfrm>
            <a:off x="4572000" y="5333695"/>
            <a:ext cx="342900" cy="342900"/>
          </a:xfrm>
          <a:prstGeom prst="ellipse">
            <a:avLst/>
          </a:prstGeom>
          <a:solidFill>
            <a:srgbClr val="B47A1F"/>
          </a:solidFill>
          <a:ln w="12700">
            <a:solidFill>
              <a:srgbClr val="FFFFFF">
                <a:alpha val="0"/>
              </a:srgbClr>
            </a:solidFill>
            <a:prstDash val="solid"/>
          </a:ln>
        </p:spPr>
      </p:sp>
      <p:sp>
        <p:nvSpPr>
          <p:cNvPr id="59" name="Shape 50"/>
          <p:cNvSpPr/>
          <p:nvPr/>
        </p:nvSpPr>
        <p:spPr>
          <a:xfrm>
            <a:off x="5524805" y="5333695"/>
            <a:ext cx="342900" cy="342900"/>
          </a:xfrm>
          <a:prstGeom prst="ellipse">
            <a:avLst/>
          </a:prstGeom>
          <a:solidFill>
            <a:srgbClr val="B47A1F"/>
          </a:solidFill>
          <a:ln w="12700">
            <a:solidFill>
              <a:srgbClr val="FFFFFF">
                <a:alpha val="0"/>
              </a:srgbClr>
            </a:solidFill>
            <a:prstDash val="solid"/>
          </a:ln>
        </p:spPr>
      </p:sp>
      <p:sp>
        <p:nvSpPr>
          <p:cNvPr id="60" name="Shape 51"/>
          <p:cNvSpPr/>
          <p:nvPr/>
        </p:nvSpPr>
        <p:spPr>
          <a:xfrm>
            <a:off x="6476695" y="5333695"/>
            <a:ext cx="342900" cy="342900"/>
          </a:xfrm>
          <a:prstGeom prst="ellipse">
            <a:avLst/>
          </a:prstGeom>
          <a:solidFill>
            <a:srgbClr val="B43F2D"/>
          </a:solidFill>
          <a:ln w="12700">
            <a:solidFill>
              <a:srgbClr val="FFFFFF">
                <a:alpha val="0"/>
              </a:srgbClr>
            </a:solidFill>
            <a:prstDash val="solid"/>
          </a:ln>
        </p:spPr>
      </p:sp>
      <p:sp>
        <p:nvSpPr>
          <p:cNvPr id="61" name="Shape 52"/>
          <p:cNvSpPr/>
          <p:nvPr/>
        </p:nvSpPr>
        <p:spPr>
          <a:xfrm>
            <a:off x="2667305" y="6096305"/>
            <a:ext cx="342900" cy="342900"/>
          </a:xfrm>
          <a:prstGeom prst="ellipse">
            <a:avLst/>
          </a:prstGeom>
          <a:solidFill>
            <a:srgbClr val="88B197"/>
          </a:solidFill>
          <a:ln w="12700">
            <a:solidFill>
              <a:srgbClr val="FFFFFF">
                <a:alpha val="0"/>
              </a:srgbClr>
            </a:solidFill>
            <a:prstDash val="solid"/>
          </a:ln>
        </p:spPr>
      </p:sp>
      <p:sp>
        <p:nvSpPr>
          <p:cNvPr id="62" name="Shape 53"/>
          <p:cNvSpPr/>
          <p:nvPr/>
        </p:nvSpPr>
        <p:spPr>
          <a:xfrm>
            <a:off x="3619195" y="6096305"/>
            <a:ext cx="342900" cy="342900"/>
          </a:xfrm>
          <a:prstGeom prst="ellipse">
            <a:avLst/>
          </a:prstGeom>
          <a:solidFill>
            <a:srgbClr val="DB9D63"/>
          </a:solidFill>
          <a:ln w="12700">
            <a:solidFill>
              <a:srgbClr val="FFFFFF">
                <a:alpha val="0"/>
              </a:srgbClr>
            </a:solidFill>
            <a:prstDash val="solid"/>
          </a:ln>
        </p:spPr>
      </p:sp>
      <p:sp>
        <p:nvSpPr>
          <p:cNvPr id="63" name="Shape 54"/>
          <p:cNvSpPr/>
          <p:nvPr/>
        </p:nvSpPr>
        <p:spPr>
          <a:xfrm>
            <a:off x="4572000" y="6096305"/>
            <a:ext cx="342900" cy="342900"/>
          </a:xfrm>
          <a:prstGeom prst="ellipse">
            <a:avLst/>
          </a:prstGeom>
          <a:solidFill>
            <a:srgbClr val="B47A1F"/>
          </a:solidFill>
          <a:ln w="12700">
            <a:solidFill>
              <a:srgbClr val="FFFFFF">
                <a:alpha val="0"/>
              </a:srgbClr>
            </a:solidFill>
            <a:prstDash val="solid"/>
          </a:ln>
        </p:spPr>
      </p:sp>
      <p:sp>
        <p:nvSpPr>
          <p:cNvPr id="64" name="Shape 55"/>
          <p:cNvSpPr/>
          <p:nvPr/>
        </p:nvSpPr>
        <p:spPr>
          <a:xfrm>
            <a:off x="5524805" y="6096305"/>
            <a:ext cx="342900" cy="342900"/>
          </a:xfrm>
          <a:prstGeom prst="ellipse">
            <a:avLst/>
          </a:prstGeom>
          <a:solidFill>
            <a:srgbClr val="B43F2D"/>
          </a:solidFill>
          <a:ln w="12700">
            <a:solidFill>
              <a:srgbClr val="FFFFFF">
                <a:alpha val="0"/>
              </a:srgbClr>
            </a:solidFill>
            <a:prstDash val="solid"/>
          </a:ln>
        </p:spPr>
      </p:sp>
      <p:sp>
        <p:nvSpPr>
          <p:cNvPr id="65" name="Shape 56"/>
          <p:cNvSpPr/>
          <p:nvPr/>
        </p:nvSpPr>
        <p:spPr>
          <a:xfrm>
            <a:off x="6476695" y="6096305"/>
            <a:ext cx="342900" cy="342900"/>
          </a:xfrm>
          <a:prstGeom prst="ellipse">
            <a:avLst/>
          </a:prstGeom>
          <a:solidFill>
            <a:srgbClr val="B43F2D"/>
          </a:solidFill>
          <a:ln w="12700">
            <a:solidFill>
              <a:srgbClr val="FFFFFF">
                <a:alpha val="0"/>
              </a:srgbClr>
            </a:solidFill>
            <a:prstDash val="solid"/>
          </a:ln>
        </p:spPr>
      </p:sp>
      <p:sp>
        <p:nvSpPr>
          <p:cNvPr id="66" name="Shape 57"/>
          <p:cNvSpPr/>
          <p:nvPr/>
        </p:nvSpPr>
        <p:spPr>
          <a:xfrm>
            <a:off x="11430000" y="3047695"/>
            <a:ext cx="342900" cy="342900"/>
          </a:xfrm>
          <a:prstGeom prst="ellipse">
            <a:avLst/>
          </a:prstGeom>
          <a:solidFill>
            <a:srgbClr val="3F6F52"/>
          </a:solidFill>
          <a:ln w="12700">
            <a:solidFill>
              <a:srgbClr val="FFFFFF">
                <a:alpha val="0"/>
              </a:srgbClr>
            </a:solidFill>
            <a:prstDash val="solid"/>
          </a:ln>
        </p:spPr>
      </p:sp>
      <p:sp>
        <p:nvSpPr>
          <p:cNvPr id="67" name="Shape 58"/>
          <p:cNvSpPr/>
          <p:nvPr/>
        </p:nvSpPr>
        <p:spPr>
          <a:xfrm>
            <a:off x="12382805" y="3047695"/>
            <a:ext cx="342900" cy="342900"/>
          </a:xfrm>
          <a:prstGeom prst="ellipse">
            <a:avLst/>
          </a:prstGeom>
          <a:solidFill>
            <a:srgbClr val="3F6F52"/>
          </a:solidFill>
          <a:ln w="12700">
            <a:solidFill>
              <a:srgbClr val="FFFFFF">
                <a:alpha val="0"/>
              </a:srgbClr>
            </a:solidFill>
            <a:prstDash val="solid"/>
          </a:ln>
        </p:spPr>
      </p:sp>
      <p:sp>
        <p:nvSpPr>
          <p:cNvPr id="68" name="Shape 59"/>
          <p:cNvSpPr/>
          <p:nvPr/>
        </p:nvSpPr>
        <p:spPr>
          <a:xfrm>
            <a:off x="13334695" y="3047695"/>
            <a:ext cx="342900" cy="342900"/>
          </a:xfrm>
          <a:prstGeom prst="ellipse">
            <a:avLst/>
          </a:prstGeom>
          <a:solidFill>
            <a:srgbClr val="3F6F52"/>
          </a:solidFill>
          <a:ln w="12700">
            <a:solidFill>
              <a:srgbClr val="FFFFFF">
                <a:alpha val="0"/>
              </a:srgbClr>
            </a:solidFill>
            <a:prstDash val="solid"/>
          </a:ln>
        </p:spPr>
      </p:sp>
      <p:sp>
        <p:nvSpPr>
          <p:cNvPr id="69" name="Shape 60"/>
          <p:cNvSpPr/>
          <p:nvPr/>
        </p:nvSpPr>
        <p:spPr>
          <a:xfrm>
            <a:off x="14287500" y="3047695"/>
            <a:ext cx="342900" cy="342900"/>
          </a:xfrm>
          <a:prstGeom prst="ellipse">
            <a:avLst/>
          </a:prstGeom>
          <a:solidFill>
            <a:srgbClr val="3F6F52"/>
          </a:solidFill>
          <a:ln w="12700">
            <a:solidFill>
              <a:srgbClr val="FFFFFF">
                <a:alpha val="0"/>
              </a:srgbClr>
            </a:solidFill>
            <a:prstDash val="solid"/>
          </a:ln>
        </p:spPr>
      </p:sp>
      <p:sp>
        <p:nvSpPr>
          <p:cNvPr id="70" name="Shape 61"/>
          <p:cNvSpPr/>
          <p:nvPr/>
        </p:nvSpPr>
        <p:spPr>
          <a:xfrm>
            <a:off x="15240305" y="3047695"/>
            <a:ext cx="342900" cy="342900"/>
          </a:xfrm>
          <a:prstGeom prst="ellipse">
            <a:avLst/>
          </a:prstGeom>
          <a:solidFill>
            <a:srgbClr val="3F6F52"/>
          </a:solidFill>
          <a:ln w="12700">
            <a:solidFill>
              <a:srgbClr val="FFFFFF">
                <a:alpha val="0"/>
              </a:srgbClr>
            </a:solidFill>
            <a:prstDash val="solid"/>
          </a:ln>
        </p:spPr>
      </p:sp>
      <p:sp>
        <p:nvSpPr>
          <p:cNvPr id="71" name="Shape 62"/>
          <p:cNvSpPr/>
          <p:nvPr/>
        </p:nvSpPr>
        <p:spPr>
          <a:xfrm>
            <a:off x="11430000" y="3810305"/>
            <a:ext cx="342900" cy="342900"/>
          </a:xfrm>
          <a:prstGeom prst="ellipse">
            <a:avLst/>
          </a:prstGeom>
          <a:solidFill>
            <a:srgbClr val="3F6F52"/>
          </a:solidFill>
          <a:ln w="12700">
            <a:solidFill>
              <a:srgbClr val="FFFFFF">
                <a:alpha val="0"/>
              </a:srgbClr>
            </a:solidFill>
            <a:prstDash val="solid"/>
          </a:ln>
        </p:spPr>
      </p:sp>
      <p:sp>
        <p:nvSpPr>
          <p:cNvPr id="72" name="Shape 63"/>
          <p:cNvSpPr/>
          <p:nvPr/>
        </p:nvSpPr>
        <p:spPr>
          <a:xfrm>
            <a:off x="12382805" y="3810305"/>
            <a:ext cx="342900" cy="342900"/>
          </a:xfrm>
          <a:prstGeom prst="ellipse">
            <a:avLst/>
          </a:prstGeom>
          <a:solidFill>
            <a:srgbClr val="3F6F52"/>
          </a:solidFill>
          <a:ln w="12700">
            <a:solidFill>
              <a:srgbClr val="FFFFFF">
                <a:alpha val="0"/>
              </a:srgbClr>
            </a:solidFill>
            <a:prstDash val="solid"/>
          </a:ln>
        </p:spPr>
      </p:sp>
      <p:sp>
        <p:nvSpPr>
          <p:cNvPr id="73" name="Shape 64"/>
          <p:cNvSpPr/>
          <p:nvPr/>
        </p:nvSpPr>
        <p:spPr>
          <a:xfrm>
            <a:off x="13334695" y="3810305"/>
            <a:ext cx="342900" cy="342900"/>
          </a:xfrm>
          <a:prstGeom prst="ellipse">
            <a:avLst/>
          </a:prstGeom>
          <a:solidFill>
            <a:srgbClr val="3F6F52"/>
          </a:solidFill>
          <a:ln w="12700">
            <a:solidFill>
              <a:srgbClr val="FFFFFF">
                <a:alpha val="0"/>
              </a:srgbClr>
            </a:solidFill>
            <a:prstDash val="solid"/>
          </a:ln>
        </p:spPr>
      </p:sp>
      <p:sp>
        <p:nvSpPr>
          <p:cNvPr id="74" name="Shape 65"/>
          <p:cNvSpPr/>
          <p:nvPr/>
        </p:nvSpPr>
        <p:spPr>
          <a:xfrm>
            <a:off x="14287500" y="3810305"/>
            <a:ext cx="342900" cy="342900"/>
          </a:xfrm>
          <a:prstGeom prst="ellipse">
            <a:avLst/>
          </a:prstGeom>
          <a:solidFill>
            <a:srgbClr val="3F6F52"/>
          </a:solidFill>
          <a:ln w="12700">
            <a:solidFill>
              <a:srgbClr val="FFFFFF">
                <a:alpha val="0"/>
              </a:srgbClr>
            </a:solidFill>
            <a:prstDash val="solid"/>
          </a:ln>
        </p:spPr>
      </p:sp>
      <p:sp>
        <p:nvSpPr>
          <p:cNvPr id="75" name="Shape 66"/>
          <p:cNvSpPr/>
          <p:nvPr/>
        </p:nvSpPr>
        <p:spPr>
          <a:xfrm>
            <a:off x="15240305" y="3810305"/>
            <a:ext cx="342900" cy="342900"/>
          </a:xfrm>
          <a:prstGeom prst="ellipse">
            <a:avLst/>
          </a:prstGeom>
          <a:solidFill>
            <a:srgbClr val="3F6F52"/>
          </a:solidFill>
          <a:ln w="12700">
            <a:solidFill>
              <a:srgbClr val="FFFFFF">
                <a:alpha val="0"/>
              </a:srgbClr>
            </a:solidFill>
            <a:prstDash val="solid"/>
          </a:ln>
        </p:spPr>
      </p:sp>
      <p:sp>
        <p:nvSpPr>
          <p:cNvPr id="76" name="Shape 67"/>
          <p:cNvSpPr/>
          <p:nvPr/>
        </p:nvSpPr>
        <p:spPr>
          <a:xfrm>
            <a:off x="11430000" y="4572000"/>
            <a:ext cx="342900" cy="342900"/>
          </a:xfrm>
          <a:prstGeom prst="ellipse">
            <a:avLst/>
          </a:prstGeom>
          <a:solidFill>
            <a:srgbClr val="3F6F52"/>
          </a:solidFill>
          <a:ln w="12700">
            <a:solidFill>
              <a:srgbClr val="FFFFFF">
                <a:alpha val="0"/>
              </a:srgbClr>
            </a:solidFill>
            <a:prstDash val="solid"/>
          </a:ln>
        </p:spPr>
      </p:sp>
      <p:sp>
        <p:nvSpPr>
          <p:cNvPr id="77" name="Shape 68"/>
          <p:cNvSpPr/>
          <p:nvPr/>
        </p:nvSpPr>
        <p:spPr>
          <a:xfrm>
            <a:off x="12382805" y="4572000"/>
            <a:ext cx="342900" cy="342900"/>
          </a:xfrm>
          <a:prstGeom prst="ellipse">
            <a:avLst/>
          </a:prstGeom>
          <a:solidFill>
            <a:srgbClr val="3F6F52"/>
          </a:solidFill>
          <a:ln w="12700">
            <a:solidFill>
              <a:srgbClr val="FFFFFF">
                <a:alpha val="0"/>
              </a:srgbClr>
            </a:solidFill>
            <a:prstDash val="solid"/>
          </a:ln>
        </p:spPr>
      </p:sp>
      <p:sp>
        <p:nvSpPr>
          <p:cNvPr id="78" name="Shape 69"/>
          <p:cNvSpPr/>
          <p:nvPr/>
        </p:nvSpPr>
        <p:spPr>
          <a:xfrm>
            <a:off x="13334695" y="4572000"/>
            <a:ext cx="342900" cy="342900"/>
          </a:xfrm>
          <a:prstGeom prst="ellipse">
            <a:avLst/>
          </a:prstGeom>
          <a:solidFill>
            <a:srgbClr val="3F6F52"/>
          </a:solidFill>
          <a:ln w="12700">
            <a:solidFill>
              <a:srgbClr val="FFFFFF">
                <a:alpha val="0"/>
              </a:srgbClr>
            </a:solidFill>
            <a:prstDash val="solid"/>
          </a:ln>
        </p:spPr>
      </p:sp>
      <p:sp>
        <p:nvSpPr>
          <p:cNvPr id="79" name="Shape 70"/>
          <p:cNvSpPr/>
          <p:nvPr/>
        </p:nvSpPr>
        <p:spPr>
          <a:xfrm>
            <a:off x="14287500" y="4572000"/>
            <a:ext cx="342900" cy="342900"/>
          </a:xfrm>
          <a:prstGeom prst="ellipse">
            <a:avLst/>
          </a:prstGeom>
          <a:solidFill>
            <a:srgbClr val="3F6F52"/>
          </a:solidFill>
          <a:ln w="12700">
            <a:solidFill>
              <a:srgbClr val="FFFFFF">
                <a:alpha val="0"/>
              </a:srgbClr>
            </a:solidFill>
            <a:prstDash val="solid"/>
          </a:ln>
        </p:spPr>
      </p:sp>
      <p:sp>
        <p:nvSpPr>
          <p:cNvPr id="80" name="Shape 71"/>
          <p:cNvSpPr/>
          <p:nvPr/>
        </p:nvSpPr>
        <p:spPr>
          <a:xfrm>
            <a:off x="15240305" y="4572000"/>
            <a:ext cx="342900" cy="342900"/>
          </a:xfrm>
          <a:prstGeom prst="ellipse">
            <a:avLst/>
          </a:prstGeom>
          <a:solidFill>
            <a:srgbClr val="3F6F52"/>
          </a:solidFill>
          <a:ln w="12700">
            <a:solidFill>
              <a:srgbClr val="FFFFFF">
                <a:alpha val="0"/>
              </a:srgbClr>
            </a:solidFill>
            <a:prstDash val="solid"/>
          </a:ln>
        </p:spPr>
      </p:sp>
      <p:sp>
        <p:nvSpPr>
          <p:cNvPr id="81" name="Shape 72"/>
          <p:cNvSpPr/>
          <p:nvPr/>
        </p:nvSpPr>
        <p:spPr>
          <a:xfrm>
            <a:off x="11430000" y="5333695"/>
            <a:ext cx="342900" cy="342900"/>
          </a:xfrm>
          <a:prstGeom prst="ellipse">
            <a:avLst/>
          </a:prstGeom>
          <a:solidFill>
            <a:srgbClr val="3F6F52"/>
          </a:solidFill>
          <a:ln w="12700">
            <a:solidFill>
              <a:srgbClr val="FFFFFF">
                <a:alpha val="0"/>
              </a:srgbClr>
            </a:solidFill>
            <a:prstDash val="solid"/>
          </a:ln>
        </p:spPr>
      </p:sp>
      <p:sp>
        <p:nvSpPr>
          <p:cNvPr id="82" name="Shape 73"/>
          <p:cNvSpPr/>
          <p:nvPr/>
        </p:nvSpPr>
        <p:spPr>
          <a:xfrm>
            <a:off x="12382805" y="5333695"/>
            <a:ext cx="342900" cy="342900"/>
          </a:xfrm>
          <a:prstGeom prst="ellipse">
            <a:avLst/>
          </a:prstGeom>
          <a:solidFill>
            <a:srgbClr val="3F6F52"/>
          </a:solidFill>
          <a:ln w="12700">
            <a:solidFill>
              <a:srgbClr val="FFFFFF">
                <a:alpha val="0"/>
              </a:srgbClr>
            </a:solidFill>
            <a:prstDash val="solid"/>
          </a:ln>
        </p:spPr>
      </p:sp>
      <p:sp>
        <p:nvSpPr>
          <p:cNvPr id="83" name="Shape 74"/>
          <p:cNvSpPr/>
          <p:nvPr/>
        </p:nvSpPr>
        <p:spPr>
          <a:xfrm>
            <a:off x="13334695" y="5333695"/>
            <a:ext cx="342900" cy="342900"/>
          </a:xfrm>
          <a:prstGeom prst="ellipse">
            <a:avLst/>
          </a:prstGeom>
          <a:solidFill>
            <a:srgbClr val="3F6F52"/>
          </a:solidFill>
          <a:ln w="12700">
            <a:solidFill>
              <a:srgbClr val="FFFFFF">
                <a:alpha val="0"/>
              </a:srgbClr>
            </a:solidFill>
            <a:prstDash val="solid"/>
          </a:ln>
        </p:spPr>
      </p:sp>
      <p:sp>
        <p:nvSpPr>
          <p:cNvPr id="84" name="Shape 75"/>
          <p:cNvSpPr/>
          <p:nvPr/>
        </p:nvSpPr>
        <p:spPr>
          <a:xfrm>
            <a:off x="14287500" y="5333695"/>
            <a:ext cx="342900" cy="342900"/>
          </a:xfrm>
          <a:prstGeom prst="ellipse">
            <a:avLst/>
          </a:prstGeom>
          <a:solidFill>
            <a:srgbClr val="88B197"/>
          </a:solidFill>
          <a:ln w="12700">
            <a:solidFill>
              <a:srgbClr val="FFFFFF">
                <a:alpha val="0"/>
              </a:srgbClr>
            </a:solidFill>
            <a:prstDash val="solid"/>
          </a:ln>
        </p:spPr>
      </p:sp>
      <p:sp>
        <p:nvSpPr>
          <p:cNvPr id="85" name="Shape 76"/>
          <p:cNvSpPr/>
          <p:nvPr/>
        </p:nvSpPr>
        <p:spPr>
          <a:xfrm>
            <a:off x="15240305" y="5333695"/>
            <a:ext cx="342900" cy="342900"/>
          </a:xfrm>
          <a:prstGeom prst="ellipse">
            <a:avLst/>
          </a:prstGeom>
          <a:solidFill>
            <a:srgbClr val="88B197"/>
          </a:solidFill>
          <a:ln w="12700">
            <a:solidFill>
              <a:srgbClr val="FFFFFF">
                <a:alpha val="0"/>
              </a:srgbClr>
            </a:solidFill>
            <a:prstDash val="solid"/>
          </a:ln>
        </p:spPr>
      </p:sp>
      <p:sp>
        <p:nvSpPr>
          <p:cNvPr id="86" name="Shape 77"/>
          <p:cNvSpPr/>
          <p:nvPr/>
        </p:nvSpPr>
        <p:spPr>
          <a:xfrm>
            <a:off x="11430000" y="6096305"/>
            <a:ext cx="342900" cy="342900"/>
          </a:xfrm>
          <a:prstGeom prst="ellipse">
            <a:avLst/>
          </a:prstGeom>
          <a:solidFill>
            <a:srgbClr val="3F6F52"/>
          </a:solidFill>
          <a:ln w="12700">
            <a:solidFill>
              <a:srgbClr val="FFFFFF">
                <a:alpha val="0"/>
              </a:srgbClr>
            </a:solidFill>
            <a:prstDash val="solid"/>
          </a:ln>
        </p:spPr>
      </p:sp>
      <p:sp>
        <p:nvSpPr>
          <p:cNvPr id="87" name="Shape 78"/>
          <p:cNvSpPr/>
          <p:nvPr/>
        </p:nvSpPr>
        <p:spPr>
          <a:xfrm>
            <a:off x="12382805" y="6096305"/>
            <a:ext cx="342900" cy="342900"/>
          </a:xfrm>
          <a:prstGeom prst="ellipse">
            <a:avLst/>
          </a:prstGeom>
          <a:solidFill>
            <a:srgbClr val="3F6F52"/>
          </a:solidFill>
          <a:ln w="12700">
            <a:solidFill>
              <a:srgbClr val="FFFFFF">
                <a:alpha val="0"/>
              </a:srgbClr>
            </a:solidFill>
            <a:prstDash val="solid"/>
          </a:ln>
        </p:spPr>
      </p:sp>
      <p:sp>
        <p:nvSpPr>
          <p:cNvPr id="88" name="Shape 79"/>
          <p:cNvSpPr/>
          <p:nvPr/>
        </p:nvSpPr>
        <p:spPr>
          <a:xfrm>
            <a:off x="13334695" y="6096305"/>
            <a:ext cx="342900" cy="342900"/>
          </a:xfrm>
          <a:prstGeom prst="ellipse">
            <a:avLst/>
          </a:prstGeom>
          <a:solidFill>
            <a:srgbClr val="88B197"/>
          </a:solidFill>
          <a:ln w="12700">
            <a:solidFill>
              <a:srgbClr val="FFFFFF">
                <a:alpha val="0"/>
              </a:srgbClr>
            </a:solidFill>
            <a:prstDash val="solid"/>
          </a:ln>
        </p:spPr>
      </p:sp>
      <p:sp>
        <p:nvSpPr>
          <p:cNvPr id="89" name="Shape 80"/>
          <p:cNvSpPr/>
          <p:nvPr/>
        </p:nvSpPr>
        <p:spPr>
          <a:xfrm>
            <a:off x="14287500" y="6096305"/>
            <a:ext cx="342900" cy="342900"/>
          </a:xfrm>
          <a:prstGeom prst="ellipse">
            <a:avLst/>
          </a:prstGeom>
          <a:solidFill>
            <a:srgbClr val="88B197"/>
          </a:solidFill>
          <a:ln w="12700">
            <a:solidFill>
              <a:srgbClr val="FFFFFF">
                <a:alpha val="0"/>
              </a:srgbClr>
            </a:solidFill>
            <a:prstDash val="solid"/>
          </a:ln>
        </p:spPr>
      </p:sp>
      <p:sp>
        <p:nvSpPr>
          <p:cNvPr id="90" name="Shape 81"/>
          <p:cNvSpPr/>
          <p:nvPr/>
        </p:nvSpPr>
        <p:spPr>
          <a:xfrm>
            <a:off x="15240305" y="6096305"/>
            <a:ext cx="342900" cy="342900"/>
          </a:xfrm>
          <a:prstGeom prst="ellipse">
            <a:avLst/>
          </a:prstGeom>
          <a:solidFill>
            <a:srgbClr val="88B197"/>
          </a:solidFill>
          <a:ln w="12700">
            <a:solidFill>
              <a:srgbClr val="FFFFFF">
                <a:alpha val="0"/>
              </a:srgbClr>
            </a:solidFill>
            <a:prstDash val="solid"/>
          </a:ln>
        </p:spPr>
      </p:sp>
      <p:sp>
        <p:nvSpPr>
          <p:cNvPr id="91" name="Text 82"/>
          <p:cNvSpPr txBox="1"/>
          <p:nvPr/>
        </p:nvSpPr>
        <p:spPr>
          <a:xfrm>
            <a:off x="571500" y="571500"/>
            <a:ext cx="14287500" cy="486461"/>
          </a:xfrm>
          <a:prstGeom prst="rect">
            <a:avLst/>
          </a:prstGeom>
          <a:noFill/>
          <a:ln/>
        </p:spPr>
        <p:txBody>
          <a:bodyPr wrap="none" lIns="0" tIns="0" rIns="0" bIns="0" rtlCol="0" anchor="ctr"/>
          <a:lstStyle/>
          <a:p>
            <a:pPr algn="l" indent="0" marL="0">
              <a:buNone/>
            </a:pPr>
            <a:r>
              <a:rPr lang="en-US" sz="3600" b="1" spc="-36" kern="0" dirty="0">
                <a:solidFill>
                  <a:srgbClr val="1B2535"/>
                </a:solidFill>
                <a:latin typeface="Pretendard" pitchFamily="34" charset="0"/>
                <a:ea typeface="Pretendard" pitchFamily="34" charset="-122"/>
                <a:cs typeface="Pretendard" pitchFamily="34" charset="-120"/>
              </a:rPr>
              <a:t>25-point Wafer Map — 공간 분포</a:t>
            </a:r>
            <a:endParaRPr lang="en-US" sz="3600" dirty="0"/>
          </a:p>
        </p:txBody>
      </p:sp>
      <p:sp>
        <p:nvSpPr>
          <p:cNvPr id="92" name="Text 83"/>
          <p:cNvSpPr txBox="1"/>
          <p:nvPr/>
        </p:nvSpPr>
        <p:spPr>
          <a:xfrm>
            <a:off x="571500" y="381305"/>
            <a:ext cx="1619402" cy="191110"/>
          </a:xfrm>
          <a:prstGeom prst="rect">
            <a:avLst/>
          </a:prstGeom>
          <a:noFill/>
          <a:ln/>
        </p:spPr>
        <p:txBody>
          <a:bodyPr wrap="none" lIns="0" tIns="0" rIns="0" bIns="0" rtlCol="0" anchor="ctr"/>
          <a:lstStyle/>
          <a:p>
            <a:pPr algn="l" indent="0" marL="0">
              <a:buNone/>
            </a:pPr>
            <a:r>
              <a:rPr lang="en-US" sz="1050" spc="336" kern="0" dirty="0">
                <a:solidFill>
                  <a:srgbClr val="7A8898"/>
                </a:solidFill>
                <a:latin typeface="Pretendard" pitchFamily="34" charset="0"/>
                <a:ea typeface="Pretendard" pitchFamily="34" charset="-122"/>
                <a:cs typeface="Pretendard" pitchFamily="34" charset="-120"/>
              </a:rPr>
              <a:t>SET 07 / 09</a:t>
            </a:r>
            <a:endParaRPr lang="en-US" sz="1050" dirty="0"/>
          </a:p>
        </p:txBody>
      </p:sp>
      <p:sp>
        <p:nvSpPr>
          <p:cNvPr id="93" name="Text 84"/>
          <p:cNvSpPr txBox="1"/>
          <p:nvPr/>
        </p:nvSpPr>
        <p:spPr>
          <a:xfrm>
            <a:off x="571500" y="571500"/>
            <a:ext cx="17336110" cy="191110"/>
          </a:xfrm>
          <a:prstGeom prst="rect">
            <a:avLst/>
          </a:prstGeom>
          <a:noFill/>
          <a:ln/>
        </p:spPr>
        <p:txBody>
          <a:bodyPr wrap="none" lIns="0" tIns="0" rIns="0" bIns="0" rtlCol="0" anchor="ctr"/>
          <a:lstStyle/>
          <a:p>
            <a:pPr algn="r" indent="0" marL="0">
              <a:buNone/>
            </a:pPr>
            <a:r>
              <a:rPr lang="en-US" sz="1050" spc="189" kern="0" dirty="0">
                <a:solidFill>
                  <a:srgbClr val="7A8898"/>
                </a:solidFill>
                <a:latin typeface="Pretendard" pitchFamily="34" charset="0"/>
                <a:ea typeface="Pretendard" pitchFamily="34" charset="-122"/>
                <a:cs typeface="Pretendard" pitchFamily="34" charset="-120"/>
              </a:rPr>
              <a:t>AMI Δ FROM 8.50 nm TARGET · 5 × 5 SITES</a:t>
            </a:r>
            <a:endParaRPr lang="en-US" sz="1050" dirty="0"/>
          </a:p>
        </p:txBody>
      </p:sp>
      <p:sp>
        <p:nvSpPr>
          <p:cNvPr id="94" name="Text 85"/>
          <p:cNvSpPr txBox="1"/>
          <p:nvPr/>
        </p:nvSpPr>
        <p:spPr>
          <a:xfrm>
            <a:off x="2667305" y="3047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−0.3</a:t>
            </a:r>
            <a:endParaRPr lang="en-US" sz="800" dirty="0"/>
          </a:p>
        </p:txBody>
      </p:sp>
      <p:sp>
        <p:nvSpPr>
          <p:cNvPr id="95" name="Text 86"/>
          <p:cNvSpPr txBox="1"/>
          <p:nvPr/>
        </p:nvSpPr>
        <p:spPr>
          <a:xfrm>
            <a:off x="3619195" y="3047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96" name="Text 87"/>
          <p:cNvSpPr txBox="1"/>
          <p:nvPr/>
        </p:nvSpPr>
        <p:spPr>
          <a:xfrm>
            <a:off x="4572000" y="3047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97" name="Text 88"/>
          <p:cNvSpPr txBox="1"/>
          <p:nvPr/>
        </p:nvSpPr>
        <p:spPr>
          <a:xfrm>
            <a:off x="5524805" y="3047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+0.3</a:t>
            </a:r>
            <a:endParaRPr lang="en-US" sz="800" dirty="0"/>
          </a:p>
        </p:txBody>
      </p:sp>
      <p:sp>
        <p:nvSpPr>
          <p:cNvPr id="98" name="Text 89"/>
          <p:cNvSpPr txBox="1"/>
          <p:nvPr/>
        </p:nvSpPr>
        <p:spPr>
          <a:xfrm>
            <a:off x="6476695" y="3047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+0.8</a:t>
            </a:r>
            <a:endParaRPr lang="en-US" sz="800" dirty="0"/>
          </a:p>
        </p:txBody>
      </p:sp>
      <p:sp>
        <p:nvSpPr>
          <p:cNvPr id="99" name="Text 90"/>
          <p:cNvSpPr txBox="1"/>
          <p:nvPr/>
        </p:nvSpPr>
        <p:spPr>
          <a:xfrm>
            <a:off x="2667305" y="3810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−0.2</a:t>
            </a:r>
            <a:endParaRPr lang="en-US" sz="800" dirty="0"/>
          </a:p>
        </p:txBody>
      </p:sp>
      <p:sp>
        <p:nvSpPr>
          <p:cNvPr id="100" name="Text 91"/>
          <p:cNvSpPr txBox="1"/>
          <p:nvPr/>
        </p:nvSpPr>
        <p:spPr>
          <a:xfrm>
            <a:off x="3619195" y="3810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01" name="Text 92"/>
          <p:cNvSpPr txBox="1"/>
          <p:nvPr/>
        </p:nvSpPr>
        <p:spPr>
          <a:xfrm>
            <a:off x="4572000" y="3810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02" name="Text 93"/>
          <p:cNvSpPr txBox="1"/>
          <p:nvPr/>
        </p:nvSpPr>
        <p:spPr>
          <a:xfrm>
            <a:off x="5524805" y="3810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+0.4</a:t>
            </a:r>
            <a:endParaRPr lang="en-US" sz="800" dirty="0"/>
          </a:p>
        </p:txBody>
      </p:sp>
      <p:sp>
        <p:nvSpPr>
          <p:cNvPr id="103" name="Text 94"/>
          <p:cNvSpPr txBox="1"/>
          <p:nvPr/>
        </p:nvSpPr>
        <p:spPr>
          <a:xfrm>
            <a:off x="6476695" y="3810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+1.0</a:t>
            </a:r>
            <a:endParaRPr lang="en-US" sz="800" dirty="0"/>
          </a:p>
        </p:txBody>
      </p:sp>
      <p:sp>
        <p:nvSpPr>
          <p:cNvPr id="104" name="Text 95"/>
          <p:cNvSpPr txBox="1"/>
          <p:nvPr/>
        </p:nvSpPr>
        <p:spPr>
          <a:xfrm>
            <a:off x="2667305" y="4572000"/>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05" name="Text 96"/>
          <p:cNvSpPr txBox="1"/>
          <p:nvPr/>
        </p:nvSpPr>
        <p:spPr>
          <a:xfrm>
            <a:off x="3619195" y="4572000"/>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+0.2</a:t>
            </a:r>
            <a:endParaRPr lang="en-US" sz="800" dirty="0"/>
          </a:p>
        </p:txBody>
      </p:sp>
      <p:sp>
        <p:nvSpPr>
          <p:cNvPr id="106" name="Text 97"/>
          <p:cNvSpPr txBox="1"/>
          <p:nvPr/>
        </p:nvSpPr>
        <p:spPr>
          <a:xfrm>
            <a:off x="4572000" y="4572000"/>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+0.3</a:t>
            </a:r>
            <a:endParaRPr lang="en-US" sz="800" dirty="0"/>
          </a:p>
        </p:txBody>
      </p:sp>
      <p:sp>
        <p:nvSpPr>
          <p:cNvPr id="107" name="Text 98"/>
          <p:cNvSpPr txBox="1"/>
          <p:nvPr/>
        </p:nvSpPr>
        <p:spPr>
          <a:xfrm>
            <a:off x="5524805" y="4572000"/>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+0.6</a:t>
            </a:r>
            <a:endParaRPr lang="en-US" sz="800" dirty="0"/>
          </a:p>
        </p:txBody>
      </p:sp>
      <p:sp>
        <p:nvSpPr>
          <p:cNvPr id="108" name="Text 99"/>
          <p:cNvSpPr txBox="1"/>
          <p:nvPr/>
        </p:nvSpPr>
        <p:spPr>
          <a:xfrm>
            <a:off x="6476695" y="4572000"/>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+1.3</a:t>
            </a:r>
            <a:endParaRPr lang="en-US" sz="800" dirty="0"/>
          </a:p>
        </p:txBody>
      </p:sp>
      <p:sp>
        <p:nvSpPr>
          <p:cNvPr id="109" name="Text 100"/>
          <p:cNvSpPr txBox="1"/>
          <p:nvPr/>
        </p:nvSpPr>
        <p:spPr>
          <a:xfrm>
            <a:off x="2667305" y="5333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10" name="Text 101"/>
          <p:cNvSpPr txBox="1"/>
          <p:nvPr/>
        </p:nvSpPr>
        <p:spPr>
          <a:xfrm>
            <a:off x="3619195" y="5333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+0.3</a:t>
            </a:r>
            <a:endParaRPr lang="en-US" sz="800" dirty="0"/>
          </a:p>
        </p:txBody>
      </p:sp>
      <p:sp>
        <p:nvSpPr>
          <p:cNvPr id="111" name="Text 102"/>
          <p:cNvSpPr txBox="1"/>
          <p:nvPr/>
        </p:nvSpPr>
        <p:spPr>
          <a:xfrm>
            <a:off x="4572000" y="5333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+0.5</a:t>
            </a:r>
            <a:endParaRPr lang="en-US" sz="800" dirty="0"/>
          </a:p>
        </p:txBody>
      </p:sp>
      <p:sp>
        <p:nvSpPr>
          <p:cNvPr id="112" name="Text 103"/>
          <p:cNvSpPr txBox="1"/>
          <p:nvPr/>
        </p:nvSpPr>
        <p:spPr>
          <a:xfrm>
            <a:off x="5524805" y="5333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+0.9</a:t>
            </a:r>
            <a:endParaRPr lang="en-US" sz="800" dirty="0"/>
          </a:p>
        </p:txBody>
      </p:sp>
      <p:sp>
        <p:nvSpPr>
          <p:cNvPr id="113" name="Text 104"/>
          <p:cNvSpPr txBox="1"/>
          <p:nvPr/>
        </p:nvSpPr>
        <p:spPr>
          <a:xfrm>
            <a:off x="6476695" y="5333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+1.5</a:t>
            </a:r>
            <a:endParaRPr lang="en-US" sz="800" dirty="0"/>
          </a:p>
        </p:txBody>
      </p:sp>
      <p:sp>
        <p:nvSpPr>
          <p:cNvPr id="114" name="Text 105"/>
          <p:cNvSpPr txBox="1"/>
          <p:nvPr/>
        </p:nvSpPr>
        <p:spPr>
          <a:xfrm>
            <a:off x="2667305" y="6096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+0.2</a:t>
            </a:r>
            <a:endParaRPr lang="en-US" sz="800" dirty="0"/>
          </a:p>
        </p:txBody>
      </p:sp>
      <p:sp>
        <p:nvSpPr>
          <p:cNvPr id="115" name="Text 106"/>
          <p:cNvSpPr txBox="1"/>
          <p:nvPr/>
        </p:nvSpPr>
        <p:spPr>
          <a:xfrm>
            <a:off x="3619195" y="6096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+0.4</a:t>
            </a:r>
            <a:endParaRPr lang="en-US" sz="800" dirty="0"/>
          </a:p>
        </p:txBody>
      </p:sp>
      <p:sp>
        <p:nvSpPr>
          <p:cNvPr id="116" name="Text 107"/>
          <p:cNvSpPr txBox="1"/>
          <p:nvPr/>
        </p:nvSpPr>
        <p:spPr>
          <a:xfrm>
            <a:off x="4572000" y="6096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+0.7</a:t>
            </a:r>
            <a:endParaRPr lang="en-US" sz="800" dirty="0"/>
          </a:p>
        </p:txBody>
      </p:sp>
      <p:sp>
        <p:nvSpPr>
          <p:cNvPr id="117" name="Text 108"/>
          <p:cNvSpPr txBox="1"/>
          <p:nvPr/>
        </p:nvSpPr>
        <p:spPr>
          <a:xfrm>
            <a:off x="5524805" y="6096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+1.1</a:t>
            </a:r>
            <a:endParaRPr lang="en-US" sz="800" dirty="0"/>
          </a:p>
        </p:txBody>
      </p:sp>
      <p:sp>
        <p:nvSpPr>
          <p:cNvPr id="118" name="Text 109"/>
          <p:cNvSpPr txBox="1"/>
          <p:nvPr/>
        </p:nvSpPr>
        <p:spPr>
          <a:xfrm>
            <a:off x="6476695" y="6096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+1.8</a:t>
            </a:r>
            <a:endParaRPr lang="en-US" sz="800" dirty="0"/>
          </a:p>
        </p:txBody>
      </p:sp>
      <p:sp>
        <p:nvSpPr>
          <p:cNvPr id="119" name="Text 110"/>
          <p:cNvSpPr txBox="1"/>
          <p:nvPr/>
        </p:nvSpPr>
        <p:spPr>
          <a:xfrm>
            <a:off x="11430000" y="3047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20" name="Text 111"/>
          <p:cNvSpPr txBox="1"/>
          <p:nvPr/>
        </p:nvSpPr>
        <p:spPr>
          <a:xfrm>
            <a:off x="12382805" y="3047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21" name="Text 112"/>
          <p:cNvSpPr txBox="1"/>
          <p:nvPr/>
        </p:nvSpPr>
        <p:spPr>
          <a:xfrm>
            <a:off x="13334695" y="3047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22" name="Text 113"/>
          <p:cNvSpPr txBox="1"/>
          <p:nvPr/>
        </p:nvSpPr>
        <p:spPr>
          <a:xfrm>
            <a:off x="14287500" y="3047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23" name="Text 114"/>
          <p:cNvSpPr txBox="1"/>
          <p:nvPr/>
        </p:nvSpPr>
        <p:spPr>
          <a:xfrm>
            <a:off x="15240305" y="3047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24" name="Text 115"/>
          <p:cNvSpPr txBox="1"/>
          <p:nvPr/>
        </p:nvSpPr>
        <p:spPr>
          <a:xfrm>
            <a:off x="11430000" y="3810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25" name="Text 116"/>
          <p:cNvSpPr txBox="1"/>
          <p:nvPr/>
        </p:nvSpPr>
        <p:spPr>
          <a:xfrm>
            <a:off x="12382805" y="3810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26" name="Text 117"/>
          <p:cNvSpPr txBox="1"/>
          <p:nvPr/>
        </p:nvSpPr>
        <p:spPr>
          <a:xfrm>
            <a:off x="13334695" y="3810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27" name="Text 118"/>
          <p:cNvSpPr txBox="1"/>
          <p:nvPr/>
        </p:nvSpPr>
        <p:spPr>
          <a:xfrm>
            <a:off x="14287500" y="3810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28" name="Text 119"/>
          <p:cNvSpPr txBox="1"/>
          <p:nvPr/>
        </p:nvSpPr>
        <p:spPr>
          <a:xfrm>
            <a:off x="15240305" y="3810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29" name="Text 120"/>
          <p:cNvSpPr txBox="1"/>
          <p:nvPr/>
        </p:nvSpPr>
        <p:spPr>
          <a:xfrm>
            <a:off x="11430000" y="4572000"/>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30" name="Text 121"/>
          <p:cNvSpPr txBox="1"/>
          <p:nvPr/>
        </p:nvSpPr>
        <p:spPr>
          <a:xfrm>
            <a:off x="12382805" y="4572000"/>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31" name="Text 122"/>
          <p:cNvSpPr txBox="1"/>
          <p:nvPr/>
        </p:nvSpPr>
        <p:spPr>
          <a:xfrm>
            <a:off x="13334695" y="4572000"/>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32" name="Text 123"/>
          <p:cNvSpPr txBox="1"/>
          <p:nvPr/>
        </p:nvSpPr>
        <p:spPr>
          <a:xfrm>
            <a:off x="14287500" y="4572000"/>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33" name="Text 124"/>
          <p:cNvSpPr txBox="1"/>
          <p:nvPr/>
        </p:nvSpPr>
        <p:spPr>
          <a:xfrm>
            <a:off x="15240305" y="4572000"/>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34" name="Text 125"/>
          <p:cNvSpPr txBox="1"/>
          <p:nvPr/>
        </p:nvSpPr>
        <p:spPr>
          <a:xfrm>
            <a:off x="11430000" y="5333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35" name="Text 126"/>
          <p:cNvSpPr txBox="1"/>
          <p:nvPr/>
        </p:nvSpPr>
        <p:spPr>
          <a:xfrm>
            <a:off x="12382805" y="5333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0.0</a:t>
            </a:r>
            <a:endParaRPr lang="en-US" sz="800" dirty="0"/>
          </a:p>
        </p:txBody>
      </p:sp>
      <p:sp>
        <p:nvSpPr>
          <p:cNvPr id="136" name="Text 127"/>
          <p:cNvSpPr txBox="1"/>
          <p:nvPr/>
        </p:nvSpPr>
        <p:spPr>
          <a:xfrm>
            <a:off x="13334695" y="5333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37" name="Text 128"/>
          <p:cNvSpPr txBox="1"/>
          <p:nvPr/>
        </p:nvSpPr>
        <p:spPr>
          <a:xfrm>
            <a:off x="14287500" y="5333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38" name="Text 129"/>
          <p:cNvSpPr txBox="1"/>
          <p:nvPr/>
        </p:nvSpPr>
        <p:spPr>
          <a:xfrm>
            <a:off x="15240305" y="533369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39" name="Text 130"/>
          <p:cNvSpPr txBox="1"/>
          <p:nvPr/>
        </p:nvSpPr>
        <p:spPr>
          <a:xfrm>
            <a:off x="11430000" y="6096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40" name="Text 131"/>
          <p:cNvSpPr txBox="1"/>
          <p:nvPr/>
        </p:nvSpPr>
        <p:spPr>
          <a:xfrm>
            <a:off x="12382805" y="6096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41" name="Text 132"/>
          <p:cNvSpPr txBox="1"/>
          <p:nvPr/>
        </p:nvSpPr>
        <p:spPr>
          <a:xfrm>
            <a:off x="13334695" y="6096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+0.1</a:t>
            </a:r>
            <a:endParaRPr lang="en-US" sz="800" dirty="0"/>
          </a:p>
        </p:txBody>
      </p:sp>
      <p:sp>
        <p:nvSpPr>
          <p:cNvPr id="142" name="Text 133"/>
          <p:cNvSpPr txBox="1"/>
          <p:nvPr/>
        </p:nvSpPr>
        <p:spPr>
          <a:xfrm>
            <a:off x="14287500" y="6096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+0.2</a:t>
            </a:r>
            <a:endParaRPr lang="en-US" sz="800" dirty="0"/>
          </a:p>
        </p:txBody>
      </p:sp>
      <p:sp>
        <p:nvSpPr>
          <p:cNvPr id="143" name="Text 134"/>
          <p:cNvSpPr txBox="1"/>
          <p:nvPr/>
        </p:nvSpPr>
        <p:spPr>
          <a:xfrm>
            <a:off x="15240305" y="6096305"/>
            <a:ext cx="342900" cy="342900"/>
          </a:xfrm>
          <a:prstGeom prst="rect">
            <a:avLst/>
          </a:prstGeom>
          <a:noFill/>
          <a:ln/>
        </p:spPr>
        <p:txBody>
          <a:bodyPr wrap="none" lIns="0" tIns="0" rIns="0" bIns="0" rtlCol="0" anchor="ctr"/>
          <a:lstStyle/>
          <a:p>
            <a:pPr algn="ctr" indent="0" marL="0">
              <a:buNone/>
            </a:pPr>
            <a:r>
              <a:rPr lang="en-US" sz="800" b="1" dirty="0">
                <a:solidFill>
                  <a:srgbClr val="FFFFFF"/>
                </a:solidFill>
                <a:latin typeface="Pretendard" pitchFamily="34" charset="0"/>
                <a:ea typeface="Pretendard" pitchFamily="34" charset="-122"/>
                <a:cs typeface="Pretendard" pitchFamily="34" charset="-120"/>
              </a:rPr>
              <a:t>+0.2</a:t>
            </a:r>
            <a:endParaRPr lang="en-US" sz="800" dirty="0"/>
          </a:p>
        </p:txBody>
      </p:sp>
      <p:sp>
        <p:nvSpPr>
          <p:cNvPr id="144" name="Text 135"/>
          <p:cNvSpPr txBox="1"/>
          <p:nvPr/>
        </p:nvSpPr>
        <p:spPr>
          <a:xfrm>
            <a:off x="800100" y="9315907"/>
            <a:ext cx="16193110" cy="228600"/>
          </a:xfrm>
          <a:prstGeom prst="rect">
            <a:avLst/>
          </a:prstGeom>
          <a:noFill/>
          <a:ln/>
        </p:spPr>
        <p:txBody>
          <a:bodyPr wrap="non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KEY TAKEAWAY</a:t>
            </a:r>
            <a:pPr algn="l" indent="0" marL="0">
              <a:buNone/>
            </a:pPr>
            <a:r>
              <a:rPr lang="en-US" sz="1200" dirty="0">
                <a:solidFill>
                  <a:srgbClr val="FFFFFF"/>
                </a:solidFill>
                <a:latin typeface="Pretendard" pitchFamily="34" charset="0"/>
                <a:ea typeface="Pretendard" pitchFamily="34" charset="-122"/>
                <a:cs typeface="Pretendard" pitchFamily="34" charset="-120"/>
              </a:rPr>
              <a:t> W03 가장자리 ring 편향이 가장 큰 변수 — W05 (a-C / SiN 측) 대비 ring 평균 약 −1.0 nm, dummy data 안에서 25 사이트 중 0건 OOT.</a:t>
            </a:r>
            <a:endParaRPr lang="en-US" sz="1200" dirty="0"/>
          </a:p>
        </p:txBody>
      </p:sp>
      <p:sp>
        <p:nvSpPr>
          <p:cNvPr id="145" name="Text 136"/>
          <p:cNvSpPr txBox="1"/>
          <p:nvPr/>
        </p:nvSpPr>
        <p:spPr>
          <a:xfrm>
            <a:off x="571500" y="9924898"/>
            <a:ext cx="11430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 내부 테스트용 더미(가상) 데이터 — 25 site 값은 모두 가상</a:t>
            </a:r>
            <a:endParaRPr lang="en-US" sz="975" dirty="0"/>
          </a:p>
        </p:txBody>
      </p:sp>
      <p:sp>
        <p:nvSpPr>
          <p:cNvPr id="146" name="Text 137"/>
          <p:cNvSpPr txBox="1"/>
          <p:nvPr/>
        </p:nvSpPr>
        <p:spPr>
          <a:xfrm>
            <a:off x="14287500" y="9924898"/>
            <a:ext cx="3429000" cy="181051"/>
          </a:xfrm>
          <a:prstGeom prst="rect">
            <a:avLst/>
          </a:prstGeom>
          <a:noFill/>
          <a:ln/>
        </p:spPr>
        <p:txBody>
          <a:bodyPr wrap="none" lIns="0" tIns="0" rIns="0" bIns="0" rtlCol="0" anchor="ctr"/>
          <a:lstStyle/>
          <a:p>
            <a:pPr algn="r" indent="0" marL="0">
              <a:buNone/>
            </a:pPr>
            <a:r>
              <a:rPr lang="en-US" sz="975" dirty="0">
                <a:solidFill>
                  <a:srgbClr val="7A8898"/>
                </a:solidFill>
                <a:latin typeface="Pretendard" pitchFamily="34" charset="0"/>
                <a:ea typeface="Pretendard" pitchFamily="34" charset="-122"/>
                <a:cs typeface="Pretendard" pitchFamily="34" charset="-120"/>
              </a:rPr>
              <a:t>07 / 09 · EUV-BEOL-DUMMY</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EEF2"/>
        </a:solidFill>
      </p:bgPr>
    </p:bg>
    <p:spTree>
      <p:nvGrpSpPr>
        <p:cNvPr id="1" name=""/>
        <p:cNvGrpSpPr/>
        <p:nvPr/>
      </p:nvGrpSpPr>
      <p:grpSpPr>
        <a:xfrm>
          <a:off x="0" y="0"/>
          <a:ext cx="0" cy="0"/>
          <a:chOff x="0" y="0"/>
          <a:chExt cx="0" cy="0"/>
        </a:xfrm>
      </p:grpSpPr>
      <p:sp>
        <p:nvSpPr>
          <p:cNvPr id="3" name="Shape 0"/>
          <p:cNvSpPr/>
          <p:nvPr/>
        </p:nvSpPr>
        <p:spPr>
          <a:xfrm>
            <a:off x="0" y="0"/>
            <a:ext cx="18288000" cy="1123798"/>
          </a:xfrm>
          <a:prstGeom prst="rect">
            <a:avLst/>
          </a:prstGeom>
          <a:solidFill>
            <a:srgbClr val="FFFFFF"/>
          </a:solidFill>
          <a:ln/>
        </p:spPr>
      </p:sp>
      <p:sp>
        <p:nvSpPr>
          <p:cNvPr id="4" name="Shape 1"/>
          <p:cNvSpPr/>
          <p:nvPr/>
        </p:nvSpPr>
        <p:spPr>
          <a:xfrm>
            <a:off x="0" y="1114654"/>
            <a:ext cx="18288000" cy="9144"/>
          </a:xfrm>
          <a:prstGeom prst="rect">
            <a:avLst/>
          </a:prstGeom>
          <a:solidFill>
            <a:srgbClr val="C8CED6"/>
          </a:solidFill>
          <a:ln w="12700">
            <a:solidFill>
              <a:srgbClr val="C8CED6">
                <a:alpha val="0"/>
              </a:srgbClr>
            </a:solidFill>
            <a:prstDash val="solid"/>
          </a:ln>
        </p:spPr>
      </p:sp>
      <p:sp>
        <p:nvSpPr>
          <p:cNvPr id="5" name="Shape 2"/>
          <p:cNvSpPr/>
          <p:nvPr/>
        </p:nvSpPr>
        <p:spPr>
          <a:xfrm>
            <a:off x="571500" y="1619402"/>
            <a:ext cx="12191695" cy="6286500"/>
          </a:xfrm>
          <a:prstGeom prst="rect">
            <a:avLst/>
          </a:prstGeom>
          <a:solidFill>
            <a:srgbClr val="FFFFFF"/>
          </a:solidFill>
          <a:ln w="12700">
            <a:solidFill>
              <a:srgbClr val="C8CED6"/>
            </a:solidFill>
            <a:prstDash val="solid"/>
          </a:ln>
        </p:spPr>
      </p:sp>
      <p:sp>
        <p:nvSpPr>
          <p:cNvPr id="6" name="Shape 3"/>
          <p:cNvSpPr/>
          <p:nvPr/>
        </p:nvSpPr>
        <p:spPr>
          <a:xfrm>
            <a:off x="12954305" y="1619402"/>
            <a:ext cx="4762195" cy="6286500"/>
          </a:xfrm>
          <a:prstGeom prst="rect">
            <a:avLst/>
          </a:prstGeom>
          <a:solidFill>
            <a:srgbClr val="FFFFFF"/>
          </a:solidFill>
          <a:ln w="12700">
            <a:solidFill>
              <a:srgbClr val="C8CED6"/>
            </a:solidFill>
            <a:prstDash val="solid"/>
          </a:ln>
        </p:spPr>
      </p:sp>
      <p:pic>
        <p:nvPicPr>
          <p:cNvPr id="7" name="Image 0" descr="gen-dedup-74de5ec3332f686492655bfad531efc9.png">    </p:cNvPr>
          <p:cNvPicPr>
            <a:picLocks noChangeAspect="1"/>
          </p:cNvPicPr>
          <p:nvPr/>
        </p:nvPicPr>
        <p:blipFill>
          <a:blip r:embed="rId1"/>
          <a:srcRect l="-17" r="-17" t="0" b="0"/>
          <a:stretch/>
        </p:blipFill>
        <p:spPr>
          <a:xfrm>
            <a:off x="571500" y="9239098"/>
            <a:ext cx="17145000" cy="437998"/>
          </a:xfrm>
          <a:prstGeom prst="rect">
            <a:avLst/>
          </a:prstGeom>
        </p:spPr>
      </p:pic>
      <p:pic>
        <p:nvPicPr>
          <p:cNvPr id="8" name="Image 1" descr="gen-dedup-68bac70ffc575f7be58fcf62b0930262.png">    </p:cNvPr>
          <p:cNvPicPr>
            <a:picLocks noChangeAspect="1"/>
          </p:cNvPicPr>
          <p:nvPr/>
        </p:nvPicPr>
        <p:blipFill>
          <a:blip r:embed="rId2"/>
          <a:srcRect l="-2083" r="-2083" t="0" b="0"/>
          <a:stretch/>
        </p:blipFill>
        <p:spPr>
          <a:xfrm>
            <a:off x="0" y="9810598"/>
            <a:ext cx="18288000" cy="9144"/>
          </a:xfrm>
          <a:prstGeom prst="rect">
            <a:avLst/>
          </a:prstGeom>
        </p:spPr>
      </p:pic>
      <p:sp>
        <p:nvSpPr>
          <p:cNvPr id="9" name="Shape 4"/>
          <p:cNvSpPr/>
          <p:nvPr/>
        </p:nvSpPr>
        <p:spPr>
          <a:xfrm>
            <a:off x="800100" y="2495398"/>
            <a:ext cx="11734495" cy="5219395"/>
          </a:xfrm>
          <a:prstGeom prst="rect">
            <a:avLst/>
          </a:prstGeom>
          <a:solidFill>
            <a:srgbClr val="F7F9FB"/>
          </a:solidFill>
          <a:ln w="12700">
            <a:solidFill>
              <a:srgbClr val="D7DCE2"/>
            </a:solidFill>
            <a:prstDash val="solid"/>
          </a:ln>
        </p:spPr>
      </p:sp>
      <p:sp>
        <p:nvSpPr>
          <p:cNvPr id="10" name="Shape 5"/>
          <p:cNvSpPr/>
          <p:nvPr/>
        </p:nvSpPr>
        <p:spPr>
          <a:xfrm>
            <a:off x="10668305" y="4000500"/>
            <a:ext cx="1714500" cy="228600"/>
          </a:xfrm>
          <a:prstGeom prst="rect">
            <a:avLst/>
          </a:prstGeom>
          <a:solidFill>
            <a:srgbClr val="DCE9DF"/>
          </a:solidFill>
          <a:ln w="12700">
            <a:solidFill>
              <a:srgbClr val="FFFFFF">
                <a:alpha val="0"/>
              </a:srgbClr>
            </a:solidFill>
            <a:prstDash val="solid"/>
          </a:ln>
        </p:spPr>
      </p:sp>
      <p:sp>
        <p:nvSpPr>
          <p:cNvPr id="11" name="Shape 6"/>
          <p:cNvSpPr/>
          <p:nvPr/>
        </p:nvSpPr>
        <p:spPr>
          <a:xfrm>
            <a:off x="10668305" y="4733849"/>
            <a:ext cx="1714500" cy="228600"/>
          </a:xfrm>
          <a:prstGeom prst="rect">
            <a:avLst/>
          </a:prstGeom>
          <a:solidFill>
            <a:srgbClr val="F2E2C7"/>
          </a:solidFill>
          <a:ln w="12700">
            <a:solidFill>
              <a:srgbClr val="FFFFFF">
                <a:alpha val="0"/>
              </a:srgbClr>
            </a:solidFill>
            <a:prstDash val="solid"/>
          </a:ln>
        </p:spPr>
      </p:sp>
      <p:sp>
        <p:nvSpPr>
          <p:cNvPr id="12" name="Shape 7"/>
          <p:cNvSpPr/>
          <p:nvPr/>
        </p:nvSpPr>
        <p:spPr>
          <a:xfrm>
            <a:off x="10668305" y="5467198"/>
            <a:ext cx="1714500" cy="228600"/>
          </a:xfrm>
          <a:prstGeom prst="rect">
            <a:avLst/>
          </a:prstGeom>
          <a:solidFill>
            <a:srgbClr val="DCE9DF"/>
          </a:solidFill>
          <a:ln w="12700">
            <a:solidFill>
              <a:srgbClr val="FFFFFF">
                <a:alpha val="0"/>
              </a:srgbClr>
            </a:solidFill>
            <a:prstDash val="solid"/>
          </a:ln>
        </p:spPr>
      </p:sp>
      <p:sp>
        <p:nvSpPr>
          <p:cNvPr id="13" name="Shape 8"/>
          <p:cNvSpPr/>
          <p:nvPr/>
        </p:nvSpPr>
        <p:spPr>
          <a:xfrm>
            <a:off x="10668305" y="6200546"/>
            <a:ext cx="1714500" cy="228600"/>
          </a:xfrm>
          <a:prstGeom prst="rect">
            <a:avLst/>
          </a:prstGeom>
          <a:solidFill>
            <a:srgbClr val="DCE9DF"/>
          </a:solidFill>
          <a:ln w="12700">
            <a:solidFill>
              <a:srgbClr val="FFFFFF">
                <a:alpha val="0"/>
              </a:srgbClr>
            </a:solidFill>
            <a:prstDash val="solid"/>
          </a:ln>
        </p:spPr>
      </p:sp>
      <p:sp>
        <p:nvSpPr>
          <p:cNvPr id="14" name="Shape 9"/>
          <p:cNvSpPr/>
          <p:nvPr/>
        </p:nvSpPr>
        <p:spPr>
          <a:xfrm>
            <a:off x="10668305" y="6933895"/>
            <a:ext cx="1714500" cy="228600"/>
          </a:xfrm>
          <a:prstGeom prst="rect">
            <a:avLst/>
          </a:prstGeom>
          <a:solidFill>
            <a:srgbClr val="DCE9DF"/>
          </a:solidFill>
          <a:ln w="12700">
            <a:solidFill>
              <a:srgbClr val="FFFFFF">
                <a:alpha val="0"/>
              </a:srgbClr>
            </a:solidFill>
            <a:prstDash val="solid"/>
          </a:ln>
        </p:spPr>
      </p:sp>
      <p:sp>
        <p:nvSpPr>
          <p:cNvPr id="15" name="Shape 10"/>
          <p:cNvSpPr/>
          <p:nvPr/>
        </p:nvSpPr>
        <p:spPr>
          <a:xfrm>
            <a:off x="13182905" y="2286000"/>
            <a:ext cx="4304995" cy="2286000"/>
          </a:xfrm>
          <a:prstGeom prst="rect">
            <a:avLst/>
          </a:prstGeom>
          <a:solidFill>
            <a:srgbClr val="F7F9FB"/>
          </a:solidFill>
          <a:ln/>
        </p:spPr>
      </p:sp>
      <p:sp>
        <p:nvSpPr>
          <p:cNvPr id="16" name="Shape 11"/>
          <p:cNvSpPr/>
          <p:nvPr/>
        </p:nvSpPr>
        <p:spPr>
          <a:xfrm>
            <a:off x="13182905" y="2286000"/>
            <a:ext cx="57607" cy="2286000"/>
          </a:xfrm>
          <a:prstGeom prst="rect">
            <a:avLst/>
          </a:prstGeom>
          <a:solidFill>
            <a:srgbClr val="2E6F8E"/>
          </a:solidFill>
          <a:ln w="12700">
            <a:solidFill>
              <a:srgbClr val="2E6F8E">
                <a:alpha val="0"/>
              </a:srgbClr>
            </a:solidFill>
            <a:prstDash val="solid"/>
          </a:ln>
        </p:spPr>
      </p:sp>
      <p:sp>
        <p:nvSpPr>
          <p:cNvPr id="17" name="Shape 12"/>
          <p:cNvSpPr/>
          <p:nvPr/>
        </p:nvSpPr>
        <p:spPr>
          <a:xfrm>
            <a:off x="13182905" y="4762195"/>
            <a:ext cx="4304995" cy="2286000"/>
          </a:xfrm>
          <a:prstGeom prst="rect">
            <a:avLst/>
          </a:prstGeom>
          <a:solidFill>
            <a:srgbClr val="F7F9FB"/>
          </a:solidFill>
          <a:ln/>
        </p:spPr>
      </p:sp>
      <p:sp>
        <p:nvSpPr>
          <p:cNvPr id="18" name="Shape 13"/>
          <p:cNvSpPr/>
          <p:nvPr/>
        </p:nvSpPr>
        <p:spPr>
          <a:xfrm>
            <a:off x="13182905" y="4762195"/>
            <a:ext cx="57607" cy="2286000"/>
          </a:xfrm>
          <a:prstGeom prst="rect">
            <a:avLst/>
          </a:prstGeom>
          <a:solidFill>
            <a:srgbClr val="C8552D"/>
          </a:solidFill>
          <a:ln w="12700">
            <a:solidFill>
              <a:srgbClr val="C8552D">
                <a:alpha val="0"/>
              </a:srgbClr>
            </a:solidFill>
            <a:prstDash val="solid"/>
          </a:ln>
        </p:spPr>
      </p:sp>
      <p:sp>
        <p:nvSpPr>
          <p:cNvPr id="19" name="Shape 14"/>
          <p:cNvSpPr/>
          <p:nvPr/>
        </p:nvSpPr>
        <p:spPr>
          <a:xfrm>
            <a:off x="800100" y="3010205"/>
            <a:ext cx="761695" cy="724205"/>
          </a:xfrm>
          <a:prstGeom prst="rect">
            <a:avLst/>
          </a:prstGeom>
          <a:solidFill>
            <a:srgbClr val="2E6F8E"/>
          </a:solidFill>
          <a:ln w="12700">
            <a:solidFill>
              <a:srgbClr val="FFFFFF">
                <a:alpha val="0"/>
              </a:srgbClr>
            </a:solidFill>
            <a:prstDash val="solid"/>
          </a:ln>
        </p:spPr>
      </p:sp>
      <p:pic>
        <p:nvPicPr>
          <p:cNvPr id="20" name="Image 2" descr="gen-dedup-b432c84152ac06e3775b720da86442e5.png">    </p:cNvPr>
          <p:cNvPicPr>
            <a:picLocks noChangeAspect="1"/>
          </p:cNvPicPr>
          <p:nvPr/>
        </p:nvPicPr>
        <p:blipFill>
          <a:blip r:embed="rId3"/>
          <a:srcRect l="-2083" r="-2083" t="0" b="0"/>
          <a:stretch/>
        </p:blipFill>
        <p:spPr>
          <a:xfrm>
            <a:off x="800100" y="3733495"/>
            <a:ext cx="11734495" cy="9144"/>
          </a:xfrm>
          <a:prstGeom prst="rect">
            <a:avLst/>
          </a:prstGeom>
        </p:spPr>
      </p:pic>
      <p:sp>
        <p:nvSpPr>
          <p:cNvPr id="21" name="Shape 15"/>
          <p:cNvSpPr/>
          <p:nvPr/>
        </p:nvSpPr>
        <p:spPr>
          <a:xfrm>
            <a:off x="800100" y="3743554"/>
            <a:ext cx="761695" cy="724205"/>
          </a:xfrm>
          <a:prstGeom prst="rect">
            <a:avLst/>
          </a:prstGeom>
          <a:solidFill>
            <a:srgbClr val="2E6F8E"/>
          </a:solidFill>
          <a:ln w="12700">
            <a:solidFill>
              <a:srgbClr val="FFFFFF">
                <a:alpha val="0"/>
              </a:srgbClr>
            </a:solidFill>
            <a:prstDash val="solid"/>
          </a:ln>
        </p:spPr>
      </p:sp>
      <p:pic>
        <p:nvPicPr>
          <p:cNvPr id="22" name="Image 3" descr="gen-dedup-b432c84152ac06e3775b720da86442e5.png">    </p:cNvPr>
          <p:cNvPicPr>
            <a:picLocks noChangeAspect="1"/>
          </p:cNvPicPr>
          <p:nvPr/>
        </p:nvPicPr>
        <p:blipFill>
          <a:blip r:embed="rId4"/>
          <a:srcRect l="-2083" r="-2083" t="0" b="0"/>
          <a:stretch/>
        </p:blipFill>
        <p:spPr>
          <a:xfrm>
            <a:off x="800100" y="4466844"/>
            <a:ext cx="11734495" cy="9144"/>
          </a:xfrm>
          <a:prstGeom prst="rect">
            <a:avLst/>
          </a:prstGeom>
        </p:spPr>
      </p:pic>
      <p:sp>
        <p:nvSpPr>
          <p:cNvPr id="23" name="Shape 16"/>
          <p:cNvSpPr/>
          <p:nvPr/>
        </p:nvSpPr>
        <p:spPr>
          <a:xfrm>
            <a:off x="800100" y="4476902"/>
            <a:ext cx="761695" cy="724205"/>
          </a:xfrm>
          <a:prstGeom prst="rect">
            <a:avLst/>
          </a:prstGeom>
          <a:solidFill>
            <a:srgbClr val="2E6F8E"/>
          </a:solidFill>
          <a:ln w="12700">
            <a:solidFill>
              <a:srgbClr val="FFFFFF">
                <a:alpha val="0"/>
              </a:srgbClr>
            </a:solidFill>
            <a:prstDash val="solid"/>
          </a:ln>
        </p:spPr>
      </p:sp>
      <p:pic>
        <p:nvPicPr>
          <p:cNvPr id="24" name="Image 4" descr="gen-dedup-b432c84152ac06e3775b720da86442e5.png">    </p:cNvPr>
          <p:cNvPicPr>
            <a:picLocks noChangeAspect="1"/>
          </p:cNvPicPr>
          <p:nvPr/>
        </p:nvPicPr>
        <p:blipFill>
          <a:blip r:embed="rId5"/>
          <a:srcRect l="-2083" r="-2083" t="0" b="0"/>
          <a:stretch/>
        </p:blipFill>
        <p:spPr>
          <a:xfrm>
            <a:off x="800100" y="5201107"/>
            <a:ext cx="11734495" cy="9144"/>
          </a:xfrm>
          <a:prstGeom prst="rect">
            <a:avLst/>
          </a:prstGeom>
        </p:spPr>
      </p:pic>
      <p:sp>
        <p:nvSpPr>
          <p:cNvPr id="25" name="Shape 17"/>
          <p:cNvSpPr/>
          <p:nvPr/>
        </p:nvSpPr>
        <p:spPr>
          <a:xfrm>
            <a:off x="800100" y="5210251"/>
            <a:ext cx="761695" cy="724205"/>
          </a:xfrm>
          <a:prstGeom prst="rect">
            <a:avLst/>
          </a:prstGeom>
          <a:solidFill>
            <a:srgbClr val="C8552D"/>
          </a:solidFill>
          <a:ln w="12700">
            <a:solidFill>
              <a:srgbClr val="FFFFFF">
                <a:alpha val="0"/>
              </a:srgbClr>
            </a:solidFill>
            <a:prstDash val="solid"/>
          </a:ln>
        </p:spPr>
      </p:sp>
      <p:pic>
        <p:nvPicPr>
          <p:cNvPr id="26" name="Image 5" descr="gen-dedup-b432c84152ac06e3775b720da86442e5.png">    </p:cNvPr>
          <p:cNvPicPr>
            <a:picLocks noChangeAspect="1"/>
          </p:cNvPicPr>
          <p:nvPr/>
        </p:nvPicPr>
        <p:blipFill>
          <a:blip r:embed="rId6"/>
          <a:srcRect l="-2083" r="-2083" t="0" b="0"/>
          <a:stretch/>
        </p:blipFill>
        <p:spPr>
          <a:xfrm>
            <a:off x="800100" y="5934456"/>
            <a:ext cx="11734495" cy="9144"/>
          </a:xfrm>
          <a:prstGeom prst="rect">
            <a:avLst/>
          </a:prstGeom>
        </p:spPr>
      </p:pic>
      <p:sp>
        <p:nvSpPr>
          <p:cNvPr id="27" name="Shape 18"/>
          <p:cNvSpPr/>
          <p:nvPr/>
        </p:nvSpPr>
        <p:spPr>
          <a:xfrm>
            <a:off x="800100" y="5943600"/>
            <a:ext cx="761695" cy="724205"/>
          </a:xfrm>
          <a:prstGeom prst="rect">
            <a:avLst/>
          </a:prstGeom>
          <a:solidFill>
            <a:srgbClr val="C8552D"/>
          </a:solidFill>
          <a:ln w="12700">
            <a:solidFill>
              <a:srgbClr val="FFFFFF">
                <a:alpha val="0"/>
              </a:srgbClr>
            </a:solidFill>
            <a:prstDash val="solid"/>
          </a:ln>
        </p:spPr>
      </p:sp>
      <p:pic>
        <p:nvPicPr>
          <p:cNvPr id="28" name="Image 6" descr="gen-dedup-b432c84152ac06e3775b720da86442e5.png">    </p:cNvPr>
          <p:cNvPicPr>
            <a:picLocks noChangeAspect="1"/>
          </p:cNvPicPr>
          <p:nvPr/>
        </p:nvPicPr>
        <p:blipFill>
          <a:blip r:embed="rId7"/>
          <a:srcRect l="-2083" r="-2083" t="0" b="0"/>
          <a:stretch/>
        </p:blipFill>
        <p:spPr>
          <a:xfrm>
            <a:off x="800100" y="6667805"/>
            <a:ext cx="11734495" cy="9144"/>
          </a:xfrm>
          <a:prstGeom prst="rect">
            <a:avLst/>
          </a:prstGeom>
        </p:spPr>
      </p:pic>
      <p:sp>
        <p:nvSpPr>
          <p:cNvPr id="29" name="Shape 19"/>
          <p:cNvSpPr/>
          <p:nvPr/>
        </p:nvSpPr>
        <p:spPr>
          <a:xfrm>
            <a:off x="800100" y="6676949"/>
            <a:ext cx="761695" cy="724205"/>
          </a:xfrm>
          <a:prstGeom prst="rect">
            <a:avLst/>
          </a:prstGeom>
          <a:solidFill>
            <a:srgbClr val="C8552D"/>
          </a:solidFill>
          <a:ln w="12700">
            <a:solidFill>
              <a:srgbClr val="FFFFFF">
                <a:alpha val="0"/>
              </a:srgbClr>
            </a:solidFill>
            <a:prstDash val="solid"/>
          </a:ln>
        </p:spPr>
      </p:sp>
      <p:sp>
        <p:nvSpPr>
          <p:cNvPr id="30" name="Text 20"/>
          <p:cNvSpPr txBox="1"/>
          <p:nvPr/>
        </p:nvSpPr>
        <p:spPr>
          <a:xfrm>
            <a:off x="800100" y="1848002"/>
            <a:ext cx="11811305" cy="181051"/>
          </a:xfrm>
          <a:prstGeom prst="rect">
            <a:avLst/>
          </a:prstGeom>
          <a:noFill/>
          <a:ln/>
        </p:spPr>
        <p:txBody>
          <a:bodyPr wrap="none" lIns="0" tIns="0" rIns="0" bIns="0" rtlCol="0" anchor="ctr"/>
          <a:lstStyle/>
          <a:p>
            <a:pPr algn="l" indent="0" marL="0">
              <a:buNone/>
            </a:pPr>
            <a:r>
              <a:rPr lang="en-US" sz="975" b="1" spc="273" kern="0" dirty="0">
                <a:solidFill>
                  <a:srgbClr val="2E6F8E"/>
                </a:solidFill>
                <a:latin typeface="Pretendard" pitchFamily="34" charset="0"/>
                <a:ea typeface="Pretendard" pitchFamily="34" charset="-122"/>
                <a:cs typeface="Pretendard" pitchFamily="34" charset="-120"/>
              </a:rPr>
              <a:t>E-TEST NUMERIC LEDGER</a:t>
            </a:r>
            <a:endParaRPr lang="en-US" sz="975" dirty="0"/>
          </a:p>
        </p:txBody>
      </p:sp>
      <p:sp>
        <p:nvSpPr>
          <p:cNvPr id="31" name="Text 21"/>
          <p:cNvSpPr txBox="1"/>
          <p:nvPr/>
        </p:nvSpPr>
        <p:spPr>
          <a:xfrm>
            <a:off x="800100" y="2085746"/>
            <a:ext cx="11811305" cy="191110"/>
          </a:xfrm>
          <a:prstGeom prst="rect">
            <a:avLst/>
          </a:prstGeom>
          <a:noFill/>
          <a:ln/>
        </p:spPr>
        <p:txBody>
          <a:bodyPr wrap="none" lIns="0" tIns="0" rIns="0" bIns="0" rtlCol="0" anchor="ctr"/>
          <a:lstStyle/>
          <a:p>
            <a:pPr algn="l" indent="0" marL="0">
              <a:buNone/>
            </a:pPr>
            <a:r>
              <a:rPr lang="en-US" sz="1050" dirty="0">
                <a:solidFill>
                  <a:srgbClr val="44546A"/>
                </a:solidFill>
                <a:latin typeface="Pretendard" pitchFamily="34" charset="0"/>
                <a:ea typeface="Pretendard" pitchFamily="34" charset="-122"/>
                <a:cs typeface="Pretendard" pitchFamily="34" charset="-120"/>
              </a:rPr>
              <a:t>Kelvin 4-point probe (Rs), 직선 길이 80 μm line 기준 (Rline), 평행선 25-pair 위상 (Cc), 1 V 강제 bias (Ileak) — 25 die × 측정 후 median.</a:t>
            </a:r>
            <a:endParaRPr lang="en-US" sz="1050" dirty="0"/>
          </a:p>
        </p:txBody>
      </p:sp>
      <p:sp>
        <p:nvSpPr>
          <p:cNvPr id="32" name="Shape 22"/>
          <p:cNvSpPr/>
          <p:nvPr/>
        </p:nvSpPr>
        <p:spPr>
          <a:xfrm>
            <a:off x="800100" y="2495398"/>
            <a:ext cx="11734495" cy="514807"/>
          </a:xfrm>
          <a:prstGeom prst="rect">
            <a:avLst/>
          </a:prstGeom>
          <a:solidFill>
            <a:srgbClr val="1B2535"/>
          </a:solidFill>
          <a:ln w="12700">
            <a:solidFill>
              <a:srgbClr val="FFFFFF">
                <a:alpha val="0"/>
              </a:srgbClr>
            </a:solidFill>
            <a:prstDash val="solid"/>
          </a:ln>
        </p:spPr>
      </p:sp>
      <p:sp>
        <p:nvSpPr>
          <p:cNvPr id="33" name="Text 23"/>
          <p:cNvSpPr txBox="1"/>
          <p:nvPr/>
        </p:nvSpPr>
        <p:spPr>
          <a:xfrm>
            <a:off x="2286000" y="3010205"/>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0.78</a:t>
            </a:r>
            <a:endParaRPr lang="en-US" sz="1800" dirty="0"/>
          </a:p>
        </p:txBody>
      </p:sp>
      <p:sp>
        <p:nvSpPr>
          <p:cNvPr id="34" name="Text 24"/>
          <p:cNvSpPr txBox="1"/>
          <p:nvPr/>
        </p:nvSpPr>
        <p:spPr>
          <a:xfrm>
            <a:off x="4381805" y="3010205"/>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1.42</a:t>
            </a:r>
            <a:endParaRPr lang="en-US" sz="1800" dirty="0"/>
          </a:p>
        </p:txBody>
      </p:sp>
      <p:sp>
        <p:nvSpPr>
          <p:cNvPr id="35" name="Text 25"/>
          <p:cNvSpPr txBox="1"/>
          <p:nvPr/>
        </p:nvSpPr>
        <p:spPr>
          <a:xfrm>
            <a:off x="6476695" y="3010205"/>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0.181</a:t>
            </a:r>
            <a:endParaRPr lang="en-US" sz="1800" dirty="0"/>
          </a:p>
        </p:txBody>
      </p:sp>
      <p:sp>
        <p:nvSpPr>
          <p:cNvPr id="36" name="Text 26"/>
          <p:cNvSpPr txBox="1"/>
          <p:nvPr/>
        </p:nvSpPr>
        <p:spPr>
          <a:xfrm>
            <a:off x="8572500" y="3010205"/>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0.84</a:t>
            </a:r>
            <a:endParaRPr lang="en-US" sz="1800" dirty="0"/>
          </a:p>
        </p:txBody>
      </p:sp>
      <p:sp>
        <p:nvSpPr>
          <p:cNvPr id="37" name="Text 27"/>
          <p:cNvSpPr txBox="1"/>
          <p:nvPr/>
        </p:nvSpPr>
        <p:spPr>
          <a:xfrm>
            <a:off x="10668305" y="3010205"/>
            <a:ext cx="1714500" cy="724205"/>
          </a:xfrm>
          <a:prstGeom prst="rect">
            <a:avLst/>
          </a:prstGeom>
          <a:noFill/>
          <a:ln/>
        </p:spPr>
        <p:txBody>
          <a:bodyPr wrap="none" lIns="0" tIns="0" rIns="0" bIns="0" rtlCol="0" anchor="ctr"/>
          <a:lstStyle/>
          <a:p>
            <a:pPr algn="r" indent="0" marL="0">
              <a:buNone/>
            </a:pPr>
            <a:r>
              <a:rPr lang="en-US" sz="1650" dirty="0">
                <a:solidFill>
                  <a:srgbClr val="7A8898"/>
                </a:solidFill>
                <a:latin typeface="Pretendard" pitchFamily="34" charset="0"/>
                <a:ea typeface="Pretendard" pitchFamily="34" charset="-122"/>
                <a:cs typeface="Pretendard" pitchFamily="34" charset="-120"/>
              </a:rPr>
              <a:t>REF</a:t>
            </a:r>
            <a:endParaRPr lang="en-US" sz="1650" dirty="0"/>
          </a:p>
        </p:txBody>
      </p:sp>
      <p:sp>
        <p:nvSpPr>
          <p:cNvPr id="38" name="Text 28"/>
          <p:cNvSpPr txBox="1"/>
          <p:nvPr/>
        </p:nvSpPr>
        <p:spPr>
          <a:xfrm>
            <a:off x="2286000" y="3743554"/>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0.74</a:t>
            </a:r>
            <a:endParaRPr lang="en-US" sz="1800" dirty="0"/>
          </a:p>
        </p:txBody>
      </p:sp>
      <p:sp>
        <p:nvSpPr>
          <p:cNvPr id="39" name="Text 29"/>
          <p:cNvSpPr txBox="1"/>
          <p:nvPr/>
        </p:nvSpPr>
        <p:spPr>
          <a:xfrm>
            <a:off x="4381805" y="3743554"/>
            <a:ext cx="1905610" cy="724205"/>
          </a:xfrm>
          <a:prstGeom prst="rect">
            <a:avLst/>
          </a:prstGeom>
          <a:noFill/>
          <a:ln/>
        </p:spPr>
        <p:txBody>
          <a:bodyPr wrap="none" lIns="0" tIns="0" rIns="0" bIns="0" rtlCol="0" anchor="ctr"/>
          <a:lstStyle/>
          <a:p>
            <a:pPr algn="r" indent="0" marL="0">
              <a:buNone/>
            </a:pPr>
            <a:r>
              <a:rPr lang="en-US" sz="1800" b="1" dirty="0">
                <a:solidFill>
                  <a:srgbClr val="3F6F52"/>
                </a:solidFill>
                <a:latin typeface="Pretendard" pitchFamily="34" charset="0"/>
                <a:ea typeface="Pretendard" pitchFamily="34" charset="-122"/>
                <a:cs typeface="Pretendard" pitchFamily="34" charset="-120"/>
              </a:rPr>
              <a:t>1.36</a:t>
            </a:r>
            <a:endParaRPr lang="en-US" sz="1800" dirty="0"/>
          </a:p>
        </p:txBody>
      </p:sp>
      <p:sp>
        <p:nvSpPr>
          <p:cNvPr id="40" name="Text 30"/>
          <p:cNvSpPr txBox="1"/>
          <p:nvPr/>
        </p:nvSpPr>
        <p:spPr>
          <a:xfrm>
            <a:off x="6476695" y="3743554"/>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0.179</a:t>
            </a:r>
            <a:endParaRPr lang="en-US" sz="1800" dirty="0"/>
          </a:p>
        </p:txBody>
      </p:sp>
      <p:sp>
        <p:nvSpPr>
          <p:cNvPr id="41" name="Text 31"/>
          <p:cNvSpPr txBox="1"/>
          <p:nvPr/>
        </p:nvSpPr>
        <p:spPr>
          <a:xfrm>
            <a:off x="8572500" y="3743554"/>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0.79</a:t>
            </a:r>
            <a:endParaRPr lang="en-US" sz="1800" dirty="0"/>
          </a:p>
        </p:txBody>
      </p:sp>
      <p:sp>
        <p:nvSpPr>
          <p:cNvPr id="42" name="Text 32"/>
          <p:cNvSpPr txBox="1"/>
          <p:nvPr/>
        </p:nvSpPr>
        <p:spPr>
          <a:xfrm>
            <a:off x="2286000" y="4476902"/>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0.81</a:t>
            </a:r>
            <a:endParaRPr lang="en-US" sz="1800" dirty="0"/>
          </a:p>
        </p:txBody>
      </p:sp>
      <p:sp>
        <p:nvSpPr>
          <p:cNvPr id="43" name="Text 33"/>
          <p:cNvSpPr txBox="1"/>
          <p:nvPr/>
        </p:nvSpPr>
        <p:spPr>
          <a:xfrm>
            <a:off x="4381805" y="4476902"/>
            <a:ext cx="1905610" cy="724205"/>
          </a:xfrm>
          <a:prstGeom prst="rect">
            <a:avLst/>
          </a:prstGeom>
          <a:noFill/>
          <a:ln/>
        </p:spPr>
        <p:txBody>
          <a:bodyPr wrap="none" lIns="0" tIns="0" rIns="0" bIns="0" rtlCol="0" anchor="ctr"/>
          <a:lstStyle/>
          <a:p>
            <a:pPr algn="r" indent="0" marL="0">
              <a:buNone/>
            </a:pPr>
            <a:r>
              <a:rPr lang="en-US" sz="1800" b="1" dirty="0">
                <a:solidFill>
                  <a:srgbClr val="B47A1F"/>
                </a:solidFill>
                <a:latin typeface="Pretendard" pitchFamily="34" charset="0"/>
                <a:ea typeface="Pretendard" pitchFamily="34" charset="-122"/>
                <a:cs typeface="Pretendard" pitchFamily="34" charset="-120"/>
              </a:rPr>
              <a:t>1.49</a:t>
            </a:r>
            <a:endParaRPr lang="en-US" sz="1800" dirty="0"/>
          </a:p>
        </p:txBody>
      </p:sp>
      <p:sp>
        <p:nvSpPr>
          <p:cNvPr id="44" name="Text 34"/>
          <p:cNvSpPr txBox="1"/>
          <p:nvPr/>
        </p:nvSpPr>
        <p:spPr>
          <a:xfrm>
            <a:off x="6476695" y="4476902"/>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0.184</a:t>
            </a:r>
            <a:endParaRPr lang="en-US" sz="1800" dirty="0"/>
          </a:p>
        </p:txBody>
      </p:sp>
      <p:sp>
        <p:nvSpPr>
          <p:cNvPr id="45" name="Text 35"/>
          <p:cNvSpPr txBox="1"/>
          <p:nvPr/>
        </p:nvSpPr>
        <p:spPr>
          <a:xfrm>
            <a:off x="8572500" y="4476902"/>
            <a:ext cx="1905610" cy="724205"/>
          </a:xfrm>
          <a:prstGeom prst="rect">
            <a:avLst/>
          </a:prstGeom>
          <a:noFill/>
          <a:ln/>
        </p:spPr>
        <p:txBody>
          <a:bodyPr wrap="none" lIns="0" tIns="0" rIns="0" bIns="0" rtlCol="0" anchor="ctr"/>
          <a:lstStyle/>
          <a:p>
            <a:pPr algn="r" indent="0" marL="0">
              <a:buNone/>
            </a:pPr>
            <a:r>
              <a:rPr lang="en-US" sz="1800" b="1" dirty="0">
                <a:solidFill>
                  <a:srgbClr val="B47A1F"/>
                </a:solidFill>
                <a:latin typeface="Pretendard" pitchFamily="34" charset="0"/>
                <a:ea typeface="Pretendard" pitchFamily="34" charset="-122"/>
                <a:cs typeface="Pretendard" pitchFamily="34" charset="-120"/>
              </a:rPr>
              <a:t>0.91</a:t>
            </a:r>
            <a:endParaRPr lang="en-US" sz="1800" dirty="0"/>
          </a:p>
        </p:txBody>
      </p:sp>
      <p:sp>
        <p:nvSpPr>
          <p:cNvPr id="46" name="Text 36"/>
          <p:cNvSpPr txBox="1"/>
          <p:nvPr/>
        </p:nvSpPr>
        <p:spPr>
          <a:xfrm>
            <a:off x="2286000" y="5210251"/>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0.72</a:t>
            </a:r>
            <a:endParaRPr lang="en-US" sz="1800" dirty="0"/>
          </a:p>
        </p:txBody>
      </p:sp>
      <p:sp>
        <p:nvSpPr>
          <p:cNvPr id="47" name="Text 37"/>
          <p:cNvSpPr txBox="1"/>
          <p:nvPr/>
        </p:nvSpPr>
        <p:spPr>
          <a:xfrm>
            <a:off x="4381805" y="5210251"/>
            <a:ext cx="1905610" cy="724205"/>
          </a:xfrm>
          <a:prstGeom prst="rect">
            <a:avLst/>
          </a:prstGeom>
          <a:noFill/>
          <a:ln/>
        </p:spPr>
        <p:txBody>
          <a:bodyPr wrap="none" lIns="0" tIns="0" rIns="0" bIns="0" rtlCol="0" anchor="ctr"/>
          <a:lstStyle/>
          <a:p>
            <a:pPr algn="r" indent="0" marL="0">
              <a:buNone/>
            </a:pPr>
            <a:r>
              <a:rPr lang="en-US" sz="1800" b="1" dirty="0">
                <a:solidFill>
                  <a:srgbClr val="3F6F52"/>
                </a:solidFill>
                <a:latin typeface="Pretendard" pitchFamily="34" charset="0"/>
                <a:ea typeface="Pretendard" pitchFamily="34" charset="-122"/>
                <a:cs typeface="Pretendard" pitchFamily="34" charset="-120"/>
              </a:rPr>
              <a:t>1.34</a:t>
            </a:r>
            <a:endParaRPr lang="en-US" sz="1800" dirty="0"/>
          </a:p>
        </p:txBody>
      </p:sp>
      <p:sp>
        <p:nvSpPr>
          <p:cNvPr id="48" name="Text 38"/>
          <p:cNvSpPr txBox="1"/>
          <p:nvPr/>
        </p:nvSpPr>
        <p:spPr>
          <a:xfrm>
            <a:off x="6476695" y="5210251"/>
            <a:ext cx="1905610" cy="724205"/>
          </a:xfrm>
          <a:prstGeom prst="rect">
            <a:avLst/>
          </a:prstGeom>
          <a:noFill/>
          <a:ln/>
        </p:spPr>
        <p:txBody>
          <a:bodyPr wrap="none" lIns="0" tIns="0" rIns="0" bIns="0" rtlCol="0" anchor="ctr"/>
          <a:lstStyle/>
          <a:p>
            <a:pPr algn="r" indent="0" marL="0">
              <a:buNone/>
            </a:pPr>
            <a:r>
              <a:rPr lang="en-US" sz="1800" dirty="0">
                <a:solidFill>
                  <a:srgbClr val="3F6F52"/>
                </a:solidFill>
                <a:latin typeface="Pretendard" pitchFamily="34" charset="0"/>
                <a:ea typeface="Pretendard" pitchFamily="34" charset="-122"/>
                <a:cs typeface="Pretendard" pitchFamily="34" charset="-120"/>
              </a:rPr>
              <a:t>0.176</a:t>
            </a:r>
            <a:endParaRPr lang="en-US" sz="1800" dirty="0"/>
          </a:p>
        </p:txBody>
      </p:sp>
      <p:sp>
        <p:nvSpPr>
          <p:cNvPr id="49" name="Text 39"/>
          <p:cNvSpPr txBox="1"/>
          <p:nvPr/>
        </p:nvSpPr>
        <p:spPr>
          <a:xfrm>
            <a:off x="8572500" y="5210251"/>
            <a:ext cx="1905610" cy="724205"/>
          </a:xfrm>
          <a:prstGeom prst="rect">
            <a:avLst/>
          </a:prstGeom>
          <a:noFill/>
          <a:ln/>
        </p:spPr>
        <p:txBody>
          <a:bodyPr wrap="none" lIns="0" tIns="0" rIns="0" bIns="0" rtlCol="0" anchor="ctr"/>
          <a:lstStyle/>
          <a:p>
            <a:pPr algn="r" indent="0" marL="0">
              <a:buNone/>
            </a:pPr>
            <a:r>
              <a:rPr lang="en-US" sz="1800" b="1" dirty="0">
                <a:solidFill>
                  <a:srgbClr val="3F6F52"/>
                </a:solidFill>
                <a:latin typeface="Pretendard" pitchFamily="34" charset="0"/>
                <a:ea typeface="Pretendard" pitchFamily="34" charset="-122"/>
                <a:cs typeface="Pretendard" pitchFamily="34" charset="-120"/>
              </a:rPr>
              <a:t>0.71</a:t>
            </a:r>
            <a:endParaRPr lang="en-US" sz="1800" dirty="0"/>
          </a:p>
        </p:txBody>
      </p:sp>
      <p:sp>
        <p:nvSpPr>
          <p:cNvPr id="50" name="Text 40"/>
          <p:cNvSpPr txBox="1"/>
          <p:nvPr/>
        </p:nvSpPr>
        <p:spPr>
          <a:xfrm>
            <a:off x="2286000" y="5943600"/>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0.69</a:t>
            </a:r>
            <a:endParaRPr lang="en-US" sz="1800" dirty="0"/>
          </a:p>
        </p:txBody>
      </p:sp>
      <p:sp>
        <p:nvSpPr>
          <p:cNvPr id="51" name="Text 41"/>
          <p:cNvSpPr txBox="1"/>
          <p:nvPr/>
        </p:nvSpPr>
        <p:spPr>
          <a:xfrm>
            <a:off x="4381805" y="5943600"/>
            <a:ext cx="1905610" cy="724205"/>
          </a:xfrm>
          <a:prstGeom prst="rect">
            <a:avLst/>
          </a:prstGeom>
          <a:noFill/>
          <a:ln/>
        </p:spPr>
        <p:txBody>
          <a:bodyPr wrap="none" lIns="0" tIns="0" rIns="0" bIns="0" rtlCol="0" anchor="ctr"/>
          <a:lstStyle/>
          <a:p>
            <a:pPr algn="r" indent="0" marL="0">
              <a:buNone/>
            </a:pPr>
            <a:r>
              <a:rPr lang="en-US" sz="1800" b="1" dirty="0">
                <a:solidFill>
                  <a:srgbClr val="3F6F52"/>
                </a:solidFill>
                <a:latin typeface="Pretendard" pitchFamily="34" charset="0"/>
                <a:ea typeface="Pretendard" pitchFamily="34" charset="-122"/>
                <a:cs typeface="Pretendard" pitchFamily="34" charset="-120"/>
              </a:rPr>
              <a:t>1.30</a:t>
            </a:r>
            <a:endParaRPr lang="en-US" sz="1800" dirty="0"/>
          </a:p>
        </p:txBody>
      </p:sp>
      <p:sp>
        <p:nvSpPr>
          <p:cNvPr id="52" name="Text 42"/>
          <p:cNvSpPr txBox="1"/>
          <p:nvPr/>
        </p:nvSpPr>
        <p:spPr>
          <a:xfrm>
            <a:off x="6476695" y="5943600"/>
            <a:ext cx="1905610" cy="724205"/>
          </a:xfrm>
          <a:prstGeom prst="rect">
            <a:avLst/>
          </a:prstGeom>
          <a:noFill/>
          <a:ln/>
        </p:spPr>
        <p:txBody>
          <a:bodyPr wrap="none" lIns="0" tIns="0" rIns="0" bIns="0" rtlCol="0" anchor="ctr"/>
          <a:lstStyle/>
          <a:p>
            <a:pPr algn="r" indent="0" marL="0">
              <a:buNone/>
            </a:pPr>
            <a:r>
              <a:rPr lang="en-US" sz="1800" b="1" dirty="0">
                <a:solidFill>
                  <a:srgbClr val="3F6F52"/>
                </a:solidFill>
                <a:latin typeface="Pretendard" pitchFamily="34" charset="0"/>
                <a:ea typeface="Pretendard" pitchFamily="34" charset="-122"/>
                <a:cs typeface="Pretendard" pitchFamily="34" charset="-120"/>
              </a:rPr>
              <a:t>0.174</a:t>
            </a:r>
            <a:endParaRPr lang="en-US" sz="1800" dirty="0"/>
          </a:p>
        </p:txBody>
      </p:sp>
      <p:sp>
        <p:nvSpPr>
          <p:cNvPr id="53" name="Text 43"/>
          <p:cNvSpPr txBox="1"/>
          <p:nvPr/>
        </p:nvSpPr>
        <p:spPr>
          <a:xfrm>
            <a:off x="8572500" y="5943600"/>
            <a:ext cx="1905610" cy="724205"/>
          </a:xfrm>
          <a:prstGeom prst="rect">
            <a:avLst/>
          </a:prstGeom>
          <a:noFill/>
          <a:ln/>
        </p:spPr>
        <p:txBody>
          <a:bodyPr wrap="none" lIns="0" tIns="0" rIns="0" bIns="0" rtlCol="0" anchor="ctr"/>
          <a:lstStyle/>
          <a:p>
            <a:pPr algn="r" indent="0" marL="0">
              <a:buNone/>
            </a:pPr>
            <a:r>
              <a:rPr lang="en-US" sz="1800" b="1" dirty="0">
                <a:solidFill>
                  <a:srgbClr val="3F6F52"/>
                </a:solidFill>
                <a:latin typeface="Pretendard" pitchFamily="34" charset="0"/>
                <a:ea typeface="Pretendard" pitchFamily="34" charset="-122"/>
                <a:cs typeface="Pretendard" pitchFamily="34" charset="-120"/>
              </a:rPr>
              <a:t>0.66</a:t>
            </a:r>
            <a:endParaRPr lang="en-US" sz="1800" dirty="0"/>
          </a:p>
        </p:txBody>
      </p:sp>
      <p:sp>
        <p:nvSpPr>
          <p:cNvPr id="54" name="Text 44"/>
          <p:cNvSpPr txBox="1"/>
          <p:nvPr/>
        </p:nvSpPr>
        <p:spPr>
          <a:xfrm>
            <a:off x="2286000" y="6676949"/>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0.74</a:t>
            </a:r>
            <a:endParaRPr lang="en-US" sz="1800" dirty="0"/>
          </a:p>
        </p:txBody>
      </p:sp>
      <p:sp>
        <p:nvSpPr>
          <p:cNvPr id="55" name="Text 45"/>
          <p:cNvSpPr txBox="1"/>
          <p:nvPr/>
        </p:nvSpPr>
        <p:spPr>
          <a:xfrm>
            <a:off x="4381805" y="6676949"/>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1.38</a:t>
            </a:r>
            <a:endParaRPr lang="en-US" sz="1800" dirty="0"/>
          </a:p>
        </p:txBody>
      </p:sp>
      <p:sp>
        <p:nvSpPr>
          <p:cNvPr id="56" name="Text 46"/>
          <p:cNvSpPr txBox="1"/>
          <p:nvPr/>
        </p:nvSpPr>
        <p:spPr>
          <a:xfrm>
            <a:off x="6476695" y="6676949"/>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0.178</a:t>
            </a:r>
            <a:endParaRPr lang="en-US" sz="1800" dirty="0"/>
          </a:p>
        </p:txBody>
      </p:sp>
      <p:sp>
        <p:nvSpPr>
          <p:cNvPr id="57" name="Text 47"/>
          <p:cNvSpPr txBox="1"/>
          <p:nvPr/>
        </p:nvSpPr>
        <p:spPr>
          <a:xfrm>
            <a:off x="8572500" y="6676949"/>
            <a:ext cx="1905610" cy="724205"/>
          </a:xfrm>
          <a:prstGeom prst="rect">
            <a:avLst/>
          </a:prstGeom>
          <a:noFill/>
          <a:ln/>
        </p:spPr>
        <p:txBody>
          <a:bodyPr wrap="none" lIns="0" tIns="0" rIns="0" bIns="0" rtlCol="0" anchor="ctr"/>
          <a:lstStyle/>
          <a:p>
            <a:pPr algn="r" indent="0" marL="0">
              <a:buNone/>
            </a:pPr>
            <a:r>
              <a:rPr lang="en-US" sz="1800" dirty="0">
                <a:solidFill>
                  <a:srgbClr val="1B2535"/>
                </a:solidFill>
                <a:latin typeface="Pretendard" pitchFamily="34" charset="0"/>
                <a:ea typeface="Pretendard" pitchFamily="34" charset="-122"/>
                <a:cs typeface="Pretendard" pitchFamily="34" charset="-120"/>
              </a:rPr>
              <a:t>0.75</a:t>
            </a:r>
            <a:endParaRPr lang="en-US" sz="1800" dirty="0"/>
          </a:p>
        </p:txBody>
      </p:sp>
      <p:sp>
        <p:nvSpPr>
          <p:cNvPr id="58" name="Text 48"/>
          <p:cNvSpPr txBox="1"/>
          <p:nvPr/>
        </p:nvSpPr>
        <p:spPr>
          <a:xfrm>
            <a:off x="13182905" y="1848002"/>
            <a:ext cx="4381805" cy="181051"/>
          </a:xfrm>
          <a:prstGeom prst="rect">
            <a:avLst/>
          </a:prstGeom>
          <a:noFill/>
          <a:ln/>
        </p:spPr>
        <p:txBody>
          <a:bodyPr wrap="none" lIns="0" tIns="0" rIns="0" bIns="0" rtlCol="0" anchor="ctr"/>
          <a:lstStyle/>
          <a:p>
            <a:pPr algn="l" indent="0" marL="0">
              <a:buNone/>
            </a:pPr>
            <a:r>
              <a:rPr lang="en-US" sz="975" b="1" spc="273" kern="0" dirty="0">
                <a:solidFill>
                  <a:srgbClr val="C8552D"/>
                </a:solidFill>
                <a:latin typeface="Pretendard" pitchFamily="34" charset="0"/>
                <a:ea typeface="Pretendard" pitchFamily="34" charset="-122"/>
                <a:cs typeface="Pretendard" pitchFamily="34" charset="-120"/>
              </a:rPr>
              <a:t>SPLIT MEAN · MEDIAN</a:t>
            </a:r>
            <a:endParaRPr lang="en-US" sz="975" dirty="0"/>
          </a:p>
        </p:txBody>
      </p:sp>
      <p:sp>
        <p:nvSpPr>
          <p:cNvPr id="59" name="Text 49"/>
          <p:cNvSpPr txBox="1"/>
          <p:nvPr/>
        </p:nvSpPr>
        <p:spPr>
          <a:xfrm>
            <a:off x="13373100" y="2400300"/>
            <a:ext cx="4000500" cy="181051"/>
          </a:xfrm>
          <a:prstGeom prst="rect">
            <a:avLst/>
          </a:prstGeom>
          <a:noFill/>
          <a:ln/>
        </p:spPr>
        <p:txBody>
          <a:bodyPr wrap="none" lIns="0" tIns="0" rIns="0" bIns="0" rtlCol="0" anchor="ctr"/>
          <a:lstStyle/>
          <a:p>
            <a:pPr algn="l" indent="0" marL="0">
              <a:buNone/>
            </a:pPr>
            <a:r>
              <a:rPr lang="en-US" sz="975" b="1" spc="176" kern="0" dirty="0">
                <a:solidFill>
                  <a:srgbClr val="2E6F8E"/>
                </a:solidFill>
                <a:latin typeface="Pretendard" pitchFamily="34" charset="0"/>
                <a:ea typeface="Pretendard" pitchFamily="34" charset="-122"/>
                <a:cs typeface="Pretendard" pitchFamily="34" charset="-120"/>
              </a:rPr>
              <a:t>SPLIT A — TiN</a:t>
            </a:r>
            <a:endParaRPr lang="en-US" sz="975" dirty="0"/>
          </a:p>
        </p:txBody>
      </p:sp>
      <p:sp>
        <p:nvSpPr>
          <p:cNvPr id="60" name="Text 50"/>
          <p:cNvSpPr txBox="1"/>
          <p:nvPr/>
        </p:nvSpPr>
        <p:spPr>
          <a:xfrm>
            <a:off x="13373100" y="2714854"/>
            <a:ext cx="991210"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Rs median</a:t>
            </a:r>
            <a:endParaRPr lang="en-US" sz="900" dirty="0"/>
          </a:p>
        </p:txBody>
      </p:sp>
      <p:sp>
        <p:nvSpPr>
          <p:cNvPr id="61" name="Text 51"/>
          <p:cNvSpPr txBox="1"/>
          <p:nvPr/>
        </p:nvSpPr>
        <p:spPr>
          <a:xfrm>
            <a:off x="13373100" y="2876702"/>
            <a:ext cx="1179576"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0.78 Ω/sq</a:t>
            </a:r>
            <a:endParaRPr lang="en-US" sz="1650" dirty="0"/>
          </a:p>
        </p:txBody>
      </p:sp>
      <p:sp>
        <p:nvSpPr>
          <p:cNvPr id="62" name="Text 52"/>
          <p:cNvSpPr txBox="1"/>
          <p:nvPr/>
        </p:nvSpPr>
        <p:spPr>
          <a:xfrm>
            <a:off x="16083382" y="2714854"/>
            <a:ext cx="1295705"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Rline median</a:t>
            </a:r>
            <a:endParaRPr lang="en-US" sz="900" dirty="0"/>
          </a:p>
        </p:txBody>
      </p:sp>
      <p:sp>
        <p:nvSpPr>
          <p:cNvPr id="63" name="Text 53"/>
          <p:cNvSpPr txBox="1"/>
          <p:nvPr/>
        </p:nvSpPr>
        <p:spPr>
          <a:xfrm>
            <a:off x="16083382" y="2876702"/>
            <a:ext cx="1351483"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1.42 mΩ/μm</a:t>
            </a:r>
            <a:endParaRPr lang="en-US" sz="1650" dirty="0"/>
          </a:p>
        </p:txBody>
      </p:sp>
      <p:sp>
        <p:nvSpPr>
          <p:cNvPr id="64" name="Text 54"/>
          <p:cNvSpPr txBox="1"/>
          <p:nvPr/>
        </p:nvSpPr>
        <p:spPr>
          <a:xfrm>
            <a:off x="13373100" y="3314700"/>
            <a:ext cx="1248156"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Cc median</a:t>
            </a:r>
            <a:endParaRPr lang="en-US" sz="900" dirty="0"/>
          </a:p>
        </p:txBody>
      </p:sp>
      <p:sp>
        <p:nvSpPr>
          <p:cNvPr id="65" name="Text 55"/>
          <p:cNvSpPr txBox="1"/>
          <p:nvPr/>
        </p:nvSpPr>
        <p:spPr>
          <a:xfrm>
            <a:off x="13373100" y="3476549"/>
            <a:ext cx="1479499"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0.181 fF/μm</a:t>
            </a:r>
            <a:endParaRPr lang="en-US" sz="1650" dirty="0"/>
          </a:p>
        </p:txBody>
      </p:sp>
      <p:sp>
        <p:nvSpPr>
          <p:cNvPr id="66" name="Text 56"/>
          <p:cNvSpPr txBox="1"/>
          <p:nvPr/>
        </p:nvSpPr>
        <p:spPr>
          <a:xfrm>
            <a:off x="16607333" y="3314700"/>
            <a:ext cx="939089"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Ileak median</a:t>
            </a:r>
            <a:endParaRPr lang="en-US" sz="900" dirty="0"/>
          </a:p>
        </p:txBody>
      </p:sp>
      <p:sp>
        <p:nvSpPr>
          <p:cNvPr id="67" name="Text 57"/>
          <p:cNvSpPr txBox="1"/>
          <p:nvPr/>
        </p:nvSpPr>
        <p:spPr>
          <a:xfrm>
            <a:off x="16607333" y="3476549"/>
            <a:ext cx="918972"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0.84 nA</a:t>
            </a:r>
            <a:endParaRPr lang="en-US" sz="1650" dirty="0"/>
          </a:p>
        </p:txBody>
      </p:sp>
      <p:sp>
        <p:nvSpPr>
          <p:cNvPr id="68" name="Text 58"/>
          <p:cNvSpPr txBox="1"/>
          <p:nvPr/>
        </p:nvSpPr>
        <p:spPr>
          <a:xfrm>
            <a:off x="13373100" y="3914546"/>
            <a:ext cx="4000500" cy="191110"/>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Tweak A (W02) only Rline down · Tweak B (W03) UP</a:t>
            </a:r>
            <a:endParaRPr lang="en-US" sz="975" dirty="0"/>
          </a:p>
        </p:txBody>
      </p:sp>
      <p:sp>
        <p:nvSpPr>
          <p:cNvPr id="69" name="Text 59"/>
          <p:cNvSpPr txBox="1"/>
          <p:nvPr/>
        </p:nvSpPr>
        <p:spPr>
          <a:xfrm>
            <a:off x="13373100" y="4876495"/>
            <a:ext cx="4000500" cy="181051"/>
          </a:xfrm>
          <a:prstGeom prst="rect">
            <a:avLst/>
          </a:prstGeom>
          <a:noFill/>
          <a:ln/>
        </p:spPr>
        <p:txBody>
          <a:bodyPr wrap="none" lIns="0" tIns="0" rIns="0" bIns="0" rtlCol="0" anchor="ctr"/>
          <a:lstStyle/>
          <a:p>
            <a:pPr algn="l" indent="0" marL="0">
              <a:buNone/>
            </a:pPr>
            <a:r>
              <a:rPr lang="en-US" sz="975" b="1" spc="176" kern="0" dirty="0">
                <a:solidFill>
                  <a:srgbClr val="C8552D"/>
                </a:solidFill>
                <a:latin typeface="Pretendard" pitchFamily="34" charset="0"/>
                <a:ea typeface="Pretendard" pitchFamily="34" charset="-122"/>
                <a:cs typeface="Pretendard" pitchFamily="34" charset="-120"/>
              </a:rPr>
              <a:t>SPLIT B — a-C/SiN</a:t>
            </a:r>
            <a:endParaRPr lang="en-US" sz="975" dirty="0"/>
          </a:p>
        </p:txBody>
      </p:sp>
      <p:sp>
        <p:nvSpPr>
          <p:cNvPr id="70" name="Text 60"/>
          <p:cNvSpPr txBox="1"/>
          <p:nvPr/>
        </p:nvSpPr>
        <p:spPr>
          <a:xfrm>
            <a:off x="13373100" y="5191049"/>
            <a:ext cx="991210"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Rs median</a:t>
            </a:r>
            <a:endParaRPr lang="en-US" sz="900" dirty="0"/>
          </a:p>
        </p:txBody>
      </p:sp>
      <p:sp>
        <p:nvSpPr>
          <p:cNvPr id="71" name="Text 61"/>
          <p:cNvSpPr txBox="1"/>
          <p:nvPr/>
        </p:nvSpPr>
        <p:spPr>
          <a:xfrm>
            <a:off x="13373100" y="5352898"/>
            <a:ext cx="1179576"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0.72 Ω/sq</a:t>
            </a:r>
            <a:endParaRPr lang="en-US" sz="1650" dirty="0"/>
          </a:p>
        </p:txBody>
      </p:sp>
      <p:sp>
        <p:nvSpPr>
          <p:cNvPr id="72" name="Text 62"/>
          <p:cNvSpPr txBox="1"/>
          <p:nvPr/>
        </p:nvSpPr>
        <p:spPr>
          <a:xfrm>
            <a:off x="16083382" y="5191049"/>
            <a:ext cx="1295705"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Rline median</a:t>
            </a:r>
            <a:endParaRPr lang="en-US" sz="900" dirty="0"/>
          </a:p>
        </p:txBody>
      </p:sp>
      <p:sp>
        <p:nvSpPr>
          <p:cNvPr id="73" name="Text 63"/>
          <p:cNvSpPr txBox="1"/>
          <p:nvPr/>
        </p:nvSpPr>
        <p:spPr>
          <a:xfrm>
            <a:off x="16083382" y="5352898"/>
            <a:ext cx="1351483" cy="305410"/>
          </a:xfrm>
          <a:prstGeom prst="rect">
            <a:avLst/>
          </a:prstGeom>
          <a:noFill/>
          <a:ln/>
        </p:spPr>
        <p:txBody>
          <a:bodyPr wrap="none" lIns="0" tIns="0" rIns="0" bIns="0" rtlCol="0" anchor="ctr"/>
          <a:lstStyle/>
          <a:p>
            <a:pPr algn="l" indent="0" marL="0">
              <a:buNone/>
            </a:pPr>
            <a:r>
              <a:rPr lang="en-US" sz="1650" b="1" dirty="0">
                <a:solidFill>
                  <a:srgbClr val="3F6F52"/>
                </a:solidFill>
                <a:latin typeface="Pretendard" pitchFamily="34" charset="0"/>
                <a:ea typeface="Pretendard" pitchFamily="34" charset="-122"/>
                <a:cs typeface="Pretendard" pitchFamily="34" charset="-120"/>
              </a:rPr>
              <a:t>1.34 mΩ/μm</a:t>
            </a:r>
            <a:endParaRPr lang="en-US" sz="1650" dirty="0"/>
          </a:p>
        </p:txBody>
      </p:sp>
      <p:sp>
        <p:nvSpPr>
          <p:cNvPr id="74" name="Text 64"/>
          <p:cNvSpPr txBox="1"/>
          <p:nvPr/>
        </p:nvSpPr>
        <p:spPr>
          <a:xfrm>
            <a:off x="13373100" y="5790895"/>
            <a:ext cx="1248156"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Cc median</a:t>
            </a:r>
            <a:endParaRPr lang="en-US" sz="900" dirty="0"/>
          </a:p>
        </p:txBody>
      </p:sp>
      <p:sp>
        <p:nvSpPr>
          <p:cNvPr id="75" name="Text 65"/>
          <p:cNvSpPr txBox="1"/>
          <p:nvPr/>
        </p:nvSpPr>
        <p:spPr>
          <a:xfrm>
            <a:off x="13373100" y="5952744"/>
            <a:ext cx="1479499" cy="305410"/>
          </a:xfrm>
          <a:prstGeom prst="rect">
            <a:avLst/>
          </a:prstGeom>
          <a:noFill/>
          <a:ln/>
        </p:spPr>
        <p:txBody>
          <a:bodyPr wrap="none" lIns="0" tIns="0" rIns="0" bIns="0" rtlCol="0" anchor="ctr"/>
          <a:lstStyle/>
          <a:p>
            <a:pPr algn="l" indent="0" marL="0">
              <a:buNone/>
            </a:pPr>
            <a:r>
              <a:rPr lang="en-US" sz="1650" b="1" dirty="0">
                <a:solidFill>
                  <a:srgbClr val="1B2535"/>
                </a:solidFill>
                <a:latin typeface="Pretendard" pitchFamily="34" charset="0"/>
                <a:ea typeface="Pretendard" pitchFamily="34" charset="-122"/>
                <a:cs typeface="Pretendard" pitchFamily="34" charset="-120"/>
              </a:rPr>
              <a:t>0.176 fF/μm</a:t>
            </a:r>
            <a:endParaRPr lang="en-US" sz="1650" dirty="0"/>
          </a:p>
        </p:txBody>
      </p:sp>
      <p:sp>
        <p:nvSpPr>
          <p:cNvPr id="76" name="Text 66"/>
          <p:cNvSpPr txBox="1"/>
          <p:nvPr/>
        </p:nvSpPr>
        <p:spPr>
          <a:xfrm>
            <a:off x="16607333" y="5790895"/>
            <a:ext cx="939089"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Ileak median</a:t>
            </a:r>
            <a:endParaRPr lang="en-US" sz="900" dirty="0"/>
          </a:p>
        </p:txBody>
      </p:sp>
      <p:sp>
        <p:nvSpPr>
          <p:cNvPr id="77" name="Text 67"/>
          <p:cNvSpPr txBox="1"/>
          <p:nvPr/>
        </p:nvSpPr>
        <p:spPr>
          <a:xfrm>
            <a:off x="16607333" y="5952744"/>
            <a:ext cx="918972" cy="305410"/>
          </a:xfrm>
          <a:prstGeom prst="rect">
            <a:avLst/>
          </a:prstGeom>
          <a:noFill/>
          <a:ln/>
        </p:spPr>
        <p:txBody>
          <a:bodyPr wrap="none" lIns="0" tIns="0" rIns="0" bIns="0" rtlCol="0" anchor="ctr"/>
          <a:lstStyle/>
          <a:p>
            <a:pPr algn="l" indent="0" marL="0">
              <a:buNone/>
            </a:pPr>
            <a:r>
              <a:rPr lang="en-US" sz="1650" b="1" dirty="0">
                <a:solidFill>
                  <a:srgbClr val="3F6F52"/>
                </a:solidFill>
                <a:latin typeface="Pretendard" pitchFamily="34" charset="0"/>
                <a:ea typeface="Pretendard" pitchFamily="34" charset="-122"/>
                <a:cs typeface="Pretendard" pitchFamily="34" charset="-120"/>
              </a:rPr>
              <a:t>0.71 nA</a:t>
            </a:r>
            <a:endParaRPr lang="en-US" sz="1650" dirty="0"/>
          </a:p>
        </p:txBody>
      </p:sp>
      <p:sp>
        <p:nvSpPr>
          <p:cNvPr id="78" name="Text 68"/>
          <p:cNvSpPr txBox="1"/>
          <p:nvPr/>
        </p:nvSpPr>
        <p:spPr>
          <a:xfrm>
            <a:off x="13373100" y="6391656"/>
            <a:ext cx="4000500" cy="181051"/>
          </a:xfrm>
          <a:prstGeom prst="rect">
            <a:avLst/>
          </a:prstGeom>
          <a:noFill/>
          <a:ln/>
        </p:spPr>
        <p:txBody>
          <a:bodyPr wrap="none" lIns="0" tIns="0" rIns="0" bIns="0" rtlCol="0" anchor="ctr"/>
          <a:lstStyle/>
          <a:p>
            <a:pPr algn="l" indent="0" marL="0">
              <a:buNone/>
            </a:pPr>
            <a:r>
              <a:rPr lang="en-US" sz="975" b="1" dirty="0">
                <a:solidFill>
                  <a:srgbClr val="3F6F52"/>
                </a:solidFill>
                <a:latin typeface="Pretendard" pitchFamily="34" charset="0"/>
                <a:ea typeface="Pretendard" pitchFamily="34" charset="-122"/>
                <a:cs typeface="Pretendard" pitchFamily="34" charset="-120"/>
              </a:rPr>
              <a:t>Rs −7.7 % · Rline −5.6 % · Ileak −15 %</a:t>
            </a:r>
            <a:endParaRPr lang="en-US" sz="975" dirty="0"/>
          </a:p>
        </p:txBody>
      </p:sp>
      <p:sp>
        <p:nvSpPr>
          <p:cNvPr id="79" name="Text 69"/>
          <p:cNvSpPr txBox="1"/>
          <p:nvPr/>
        </p:nvSpPr>
        <p:spPr>
          <a:xfrm>
            <a:off x="990295" y="2667305"/>
            <a:ext cx="1143000" cy="181051"/>
          </a:xfrm>
          <a:prstGeom prst="rect">
            <a:avLst/>
          </a:prstGeom>
          <a:noFill/>
          <a:ln/>
        </p:spPr>
        <p:txBody>
          <a:bodyPr wrap="none" lIns="0" tIns="0" rIns="0" bIns="0" rtlCol="0" anchor="ctr"/>
          <a:lstStyle/>
          <a:p>
            <a:pPr algn="l" indent="0" marL="0">
              <a:buNone/>
            </a:pPr>
            <a:r>
              <a:rPr lang="en-US" sz="975" spc="176" kern="0" dirty="0">
                <a:solidFill>
                  <a:srgbClr val="FFFFFF"/>
                </a:solidFill>
                <a:latin typeface="Pretendard" pitchFamily="34" charset="0"/>
                <a:ea typeface="Pretendard" pitchFamily="34" charset="-122"/>
                <a:cs typeface="Pretendard" pitchFamily="34" charset="-120"/>
              </a:rPr>
              <a:t>WAFER</a:t>
            </a:r>
            <a:endParaRPr lang="en-US" sz="975" dirty="0"/>
          </a:p>
        </p:txBody>
      </p:sp>
      <p:sp>
        <p:nvSpPr>
          <p:cNvPr id="80" name="Text 70"/>
          <p:cNvSpPr txBox="1"/>
          <p:nvPr/>
        </p:nvSpPr>
        <p:spPr>
          <a:xfrm>
            <a:off x="2286000" y="2667305"/>
            <a:ext cx="1905610" cy="181051"/>
          </a:xfrm>
          <a:prstGeom prst="rect">
            <a:avLst/>
          </a:prstGeom>
          <a:noFill/>
          <a:ln/>
        </p:spPr>
        <p:txBody>
          <a:bodyPr wrap="none" lIns="0" tIns="0" rIns="0" bIns="0" rtlCol="0" anchor="ctr"/>
          <a:lstStyle/>
          <a:p>
            <a:pPr algn="r" indent="0" marL="0">
              <a:buNone/>
            </a:pPr>
            <a:r>
              <a:rPr lang="en-US" sz="975" spc="176" kern="0" dirty="0">
                <a:solidFill>
                  <a:srgbClr val="FFFFFF"/>
                </a:solidFill>
                <a:latin typeface="Pretendard" pitchFamily="34" charset="0"/>
                <a:ea typeface="Pretendard" pitchFamily="34" charset="-122"/>
                <a:cs typeface="Pretendard" pitchFamily="34" charset="-120"/>
              </a:rPr>
              <a:t>Rs (Ω/sq)</a:t>
            </a:r>
            <a:endParaRPr lang="en-US" sz="975" dirty="0"/>
          </a:p>
        </p:txBody>
      </p:sp>
      <p:sp>
        <p:nvSpPr>
          <p:cNvPr id="81" name="Text 71"/>
          <p:cNvSpPr txBox="1"/>
          <p:nvPr/>
        </p:nvSpPr>
        <p:spPr>
          <a:xfrm>
            <a:off x="4381805" y="2667305"/>
            <a:ext cx="1905610" cy="181051"/>
          </a:xfrm>
          <a:prstGeom prst="rect">
            <a:avLst/>
          </a:prstGeom>
          <a:noFill/>
          <a:ln/>
        </p:spPr>
        <p:txBody>
          <a:bodyPr wrap="none" lIns="0" tIns="0" rIns="0" bIns="0" rtlCol="0" anchor="ctr"/>
          <a:lstStyle/>
          <a:p>
            <a:pPr algn="r" indent="0" marL="0">
              <a:buNone/>
            </a:pPr>
            <a:r>
              <a:rPr lang="en-US" sz="975" spc="176" kern="0" dirty="0">
                <a:solidFill>
                  <a:srgbClr val="FFFFFF"/>
                </a:solidFill>
                <a:latin typeface="Pretendard" pitchFamily="34" charset="0"/>
                <a:ea typeface="Pretendard" pitchFamily="34" charset="-122"/>
                <a:cs typeface="Pretendard" pitchFamily="34" charset="-120"/>
              </a:rPr>
              <a:t>Rline (mΩ/μm)</a:t>
            </a:r>
            <a:endParaRPr lang="en-US" sz="975" dirty="0"/>
          </a:p>
        </p:txBody>
      </p:sp>
      <p:sp>
        <p:nvSpPr>
          <p:cNvPr id="82" name="Text 72"/>
          <p:cNvSpPr txBox="1"/>
          <p:nvPr/>
        </p:nvSpPr>
        <p:spPr>
          <a:xfrm>
            <a:off x="6476695" y="2667305"/>
            <a:ext cx="1905610" cy="181051"/>
          </a:xfrm>
          <a:prstGeom prst="rect">
            <a:avLst/>
          </a:prstGeom>
          <a:noFill/>
          <a:ln/>
        </p:spPr>
        <p:txBody>
          <a:bodyPr wrap="none" lIns="0" tIns="0" rIns="0" bIns="0" rtlCol="0" anchor="ctr"/>
          <a:lstStyle/>
          <a:p>
            <a:pPr algn="r" indent="0" marL="0">
              <a:buNone/>
            </a:pPr>
            <a:r>
              <a:rPr lang="en-US" sz="975" spc="176" kern="0" dirty="0">
                <a:solidFill>
                  <a:srgbClr val="FFFFFF"/>
                </a:solidFill>
                <a:latin typeface="Pretendard" pitchFamily="34" charset="0"/>
                <a:ea typeface="Pretendard" pitchFamily="34" charset="-122"/>
                <a:cs typeface="Pretendard" pitchFamily="34" charset="-120"/>
              </a:rPr>
              <a:t>Cc (fF/μm)</a:t>
            </a:r>
            <a:endParaRPr lang="en-US" sz="975" dirty="0"/>
          </a:p>
        </p:txBody>
      </p:sp>
      <p:sp>
        <p:nvSpPr>
          <p:cNvPr id="83" name="Text 73"/>
          <p:cNvSpPr txBox="1"/>
          <p:nvPr/>
        </p:nvSpPr>
        <p:spPr>
          <a:xfrm>
            <a:off x="8572500" y="2667305"/>
            <a:ext cx="1905610" cy="181051"/>
          </a:xfrm>
          <a:prstGeom prst="rect">
            <a:avLst/>
          </a:prstGeom>
          <a:noFill/>
          <a:ln/>
        </p:spPr>
        <p:txBody>
          <a:bodyPr wrap="none" lIns="0" tIns="0" rIns="0" bIns="0" rtlCol="0" anchor="ctr"/>
          <a:lstStyle/>
          <a:p>
            <a:pPr algn="r" indent="0" marL="0">
              <a:buNone/>
            </a:pPr>
            <a:r>
              <a:rPr lang="en-US" sz="975" spc="176" kern="0" dirty="0">
                <a:solidFill>
                  <a:srgbClr val="FFFFFF"/>
                </a:solidFill>
                <a:latin typeface="Pretendard" pitchFamily="34" charset="0"/>
                <a:ea typeface="Pretendard" pitchFamily="34" charset="-122"/>
                <a:cs typeface="Pretendard" pitchFamily="34" charset="-120"/>
              </a:rPr>
              <a:t>Ileak (nA @1V)</a:t>
            </a:r>
            <a:endParaRPr lang="en-US" sz="975" dirty="0"/>
          </a:p>
        </p:txBody>
      </p:sp>
      <p:sp>
        <p:nvSpPr>
          <p:cNvPr id="84" name="Text 74"/>
          <p:cNvSpPr txBox="1"/>
          <p:nvPr/>
        </p:nvSpPr>
        <p:spPr>
          <a:xfrm>
            <a:off x="10668305" y="2667305"/>
            <a:ext cx="1714500" cy="181051"/>
          </a:xfrm>
          <a:prstGeom prst="rect">
            <a:avLst/>
          </a:prstGeom>
          <a:noFill/>
          <a:ln/>
        </p:spPr>
        <p:txBody>
          <a:bodyPr wrap="none" lIns="0" tIns="0" rIns="0" bIns="0" rtlCol="0" anchor="ctr"/>
          <a:lstStyle/>
          <a:p>
            <a:pPr algn="r" indent="0" marL="0">
              <a:buNone/>
            </a:pPr>
            <a:r>
              <a:rPr lang="en-US" sz="975" spc="176" kern="0" dirty="0">
                <a:solidFill>
                  <a:srgbClr val="FFFFFF"/>
                </a:solidFill>
                <a:latin typeface="Pretendard" pitchFamily="34" charset="0"/>
                <a:ea typeface="Pretendard" pitchFamily="34" charset="-122"/>
                <a:cs typeface="Pretendard" pitchFamily="34" charset="-120"/>
              </a:rPr>
              <a:t>ΔRline</a:t>
            </a:r>
            <a:endParaRPr lang="en-US" sz="975" dirty="0"/>
          </a:p>
        </p:txBody>
      </p:sp>
      <p:sp>
        <p:nvSpPr>
          <p:cNvPr id="85" name="Text 75"/>
          <p:cNvSpPr txBox="1"/>
          <p:nvPr/>
        </p:nvSpPr>
        <p:spPr>
          <a:xfrm>
            <a:off x="571500" y="571500"/>
            <a:ext cx="14287500" cy="486461"/>
          </a:xfrm>
          <a:prstGeom prst="rect">
            <a:avLst/>
          </a:prstGeom>
          <a:noFill/>
          <a:ln/>
        </p:spPr>
        <p:txBody>
          <a:bodyPr wrap="none" lIns="0" tIns="0" rIns="0" bIns="0" rtlCol="0" anchor="ctr"/>
          <a:lstStyle/>
          <a:p>
            <a:pPr algn="l" indent="0" marL="0">
              <a:buNone/>
            </a:pPr>
            <a:r>
              <a:rPr lang="en-US" sz="3600" b="1" spc="-36" kern="0" dirty="0">
                <a:solidFill>
                  <a:srgbClr val="1B2535"/>
                </a:solidFill>
                <a:latin typeface="Pretendard" pitchFamily="34" charset="0"/>
                <a:ea typeface="Pretendard" pitchFamily="34" charset="-122"/>
                <a:cs typeface="Pretendard" pitchFamily="34" charset="-120"/>
              </a:rPr>
              <a:t>전기 특성 — Rs / Rline / Cc / Ileak</a:t>
            </a:r>
            <a:endParaRPr lang="en-US" sz="3600" dirty="0"/>
          </a:p>
        </p:txBody>
      </p:sp>
      <p:sp>
        <p:nvSpPr>
          <p:cNvPr id="86" name="Text 76"/>
          <p:cNvSpPr txBox="1"/>
          <p:nvPr/>
        </p:nvSpPr>
        <p:spPr>
          <a:xfrm>
            <a:off x="571500" y="381305"/>
            <a:ext cx="1619402" cy="191110"/>
          </a:xfrm>
          <a:prstGeom prst="rect">
            <a:avLst/>
          </a:prstGeom>
          <a:noFill/>
          <a:ln/>
        </p:spPr>
        <p:txBody>
          <a:bodyPr wrap="none" lIns="0" tIns="0" rIns="0" bIns="0" rtlCol="0" anchor="ctr"/>
          <a:lstStyle/>
          <a:p>
            <a:pPr algn="l" indent="0" marL="0">
              <a:buNone/>
            </a:pPr>
            <a:r>
              <a:rPr lang="en-US" sz="1050" spc="336" kern="0" dirty="0">
                <a:solidFill>
                  <a:srgbClr val="7A8898"/>
                </a:solidFill>
                <a:latin typeface="Pretendard" pitchFamily="34" charset="0"/>
                <a:ea typeface="Pretendard" pitchFamily="34" charset="-122"/>
                <a:cs typeface="Pretendard" pitchFamily="34" charset="-120"/>
              </a:rPr>
              <a:t>SET 08 / 09</a:t>
            </a:r>
            <a:endParaRPr lang="en-US" sz="1050" dirty="0"/>
          </a:p>
        </p:txBody>
      </p:sp>
      <p:sp>
        <p:nvSpPr>
          <p:cNvPr id="87" name="Text 77"/>
          <p:cNvSpPr txBox="1"/>
          <p:nvPr/>
        </p:nvSpPr>
        <p:spPr>
          <a:xfrm>
            <a:off x="571500" y="571500"/>
            <a:ext cx="17336110" cy="191110"/>
          </a:xfrm>
          <a:prstGeom prst="rect">
            <a:avLst/>
          </a:prstGeom>
          <a:noFill/>
          <a:ln/>
        </p:spPr>
        <p:txBody>
          <a:bodyPr wrap="none" lIns="0" tIns="0" rIns="0" bIns="0" rtlCol="0" anchor="ctr"/>
          <a:lstStyle/>
          <a:p>
            <a:pPr algn="r" indent="0" marL="0">
              <a:buNone/>
            </a:pPr>
            <a:r>
              <a:rPr lang="en-US" sz="1050" spc="189" kern="0" dirty="0">
                <a:solidFill>
                  <a:srgbClr val="7A8898"/>
                </a:solidFill>
                <a:latin typeface="Pretendard" pitchFamily="34" charset="0"/>
                <a:ea typeface="Pretendard" pitchFamily="34" charset="-122"/>
                <a:cs typeface="Pretendard" pitchFamily="34" charset="-120"/>
              </a:rPr>
              <a:t>M2 LINE-LEVEL ELECTRICAL · 25 DIES / WAFER</a:t>
            </a:r>
            <a:endParaRPr lang="en-US" sz="1050" dirty="0"/>
          </a:p>
        </p:txBody>
      </p:sp>
      <p:sp>
        <p:nvSpPr>
          <p:cNvPr id="88" name="Text 78"/>
          <p:cNvSpPr txBox="1"/>
          <p:nvPr/>
        </p:nvSpPr>
        <p:spPr>
          <a:xfrm>
            <a:off x="800100" y="3010205"/>
            <a:ext cx="762610" cy="724205"/>
          </a:xfrm>
          <a:prstGeom prst="rect">
            <a:avLst/>
          </a:prstGeom>
          <a:noFill/>
          <a:ln/>
        </p:spPr>
        <p:txBody>
          <a:bodyPr wrap="none" lIns="0" tIns="0" rIns="0" bIns="0" rtlCol="0" anchor="ctr"/>
          <a:lstStyle/>
          <a:p>
            <a:pPr algn="ctr" indent="0" marL="0">
              <a:buNone/>
            </a:pPr>
            <a:r>
              <a:rPr lang="en-US" sz="1650" b="1" dirty="0">
                <a:solidFill>
                  <a:srgbClr val="FFFFFF"/>
                </a:solidFill>
                <a:latin typeface="Pretendard" pitchFamily="34" charset="0"/>
                <a:ea typeface="Pretendard" pitchFamily="34" charset="-122"/>
                <a:cs typeface="Pretendard" pitchFamily="34" charset="-120"/>
              </a:rPr>
              <a:t>W01</a:t>
            </a:r>
            <a:endParaRPr lang="en-US" sz="1650" dirty="0"/>
          </a:p>
        </p:txBody>
      </p:sp>
      <p:sp>
        <p:nvSpPr>
          <p:cNvPr id="89" name="Text 79"/>
          <p:cNvSpPr txBox="1"/>
          <p:nvPr/>
        </p:nvSpPr>
        <p:spPr>
          <a:xfrm>
            <a:off x="800100" y="3743554"/>
            <a:ext cx="762610" cy="724205"/>
          </a:xfrm>
          <a:prstGeom prst="rect">
            <a:avLst/>
          </a:prstGeom>
          <a:noFill/>
          <a:ln/>
        </p:spPr>
        <p:txBody>
          <a:bodyPr wrap="none" lIns="0" tIns="0" rIns="0" bIns="0" rtlCol="0" anchor="ctr"/>
          <a:lstStyle/>
          <a:p>
            <a:pPr algn="ctr" indent="0" marL="0">
              <a:buNone/>
            </a:pPr>
            <a:r>
              <a:rPr lang="en-US" sz="1650" b="1" dirty="0">
                <a:solidFill>
                  <a:srgbClr val="FFFFFF"/>
                </a:solidFill>
                <a:latin typeface="Pretendard" pitchFamily="34" charset="0"/>
                <a:ea typeface="Pretendard" pitchFamily="34" charset="-122"/>
                <a:cs typeface="Pretendard" pitchFamily="34" charset="-120"/>
              </a:rPr>
              <a:t>W02</a:t>
            </a:r>
            <a:endParaRPr lang="en-US" sz="1650" dirty="0"/>
          </a:p>
        </p:txBody>
      </p:sp>
      <p:sp>
        <p:nvSpPr>
          <p:cNvPr id="90" name="Text 80"/>
          <p:cNvSpPr txBox="1"/>
          <p:nvPr/>
        </p:nvSpPr>
        <p:spPr>
          <a:xfrm>
            <a:off x="10668305" y="3743554"/>
            <a:ext cx="1714500" cy="724205"/>
          </a:xfrm>
          <a:prstGeom prst="rect">
            <a:avLst/>
          </a:prstGeom>
          <a:noFill/>
          <a:ln/>
        </p:spPr>
        <p:txBody>
          <a:bodyPr wrap="none" lIns="0" tIns="0" rIns="0" bIns="0" rtlCol="0" anchor="ctr"/>
          <a:lstStyle/>
          <a:p>
            <a:pPr algn="r" indent="0" marL="0">
              <a:buNone/>
            </a:pPr>
            <a:r>
              <a:rPr lang="en-US" sz="1500" b="1" dirty="0">
                <a:solidFill>
                  <a:srgbClr val="3F6F52"/>
                </a:solidFill>
                <a:latin typeface="Pretendard" pitchFamily="34" charset="0"/>
                <a:ea typeface="Pretendard" pitchFamily="34" charset="-122"/>
                <a:cs typeface="Pretendard" pitchFamily="34" charset="-120"/>
              </a:rPr>
              <a:t>−4.2 %</a:t>
            </a:r>
            <a:endParaRPr lang="en-US" sz="1500" dirty="0"/>
          </a:p>
        </p:txBody>
      </p:sp>
      <p:sp>
        <p:nvSpPr>
          <p:cNvPr id="91" name="Text 81"/>
          <p:cNvSpPr txBox="1"/>
          <p:nvPr/>
        </p:nvSpPr>
        <p:spPr>
          <a:xfrm>
            <a:off x="800100" y="4476902"/>
            <a:ext cx="762610" cy="724205"/>
          </a:xfrm>
          <a:prstGeom prst="rect">
            <a:avLst/>
          </a:prstGeom>
          <a:noFill/>
          <a:ln/>
        </p:spPr>
        <p:txBody>
          <a:bodyPr wrap="none" lIns="0" tIns="0" rIns="0" bIns="0" rtlCol="0" anchor="ctr"/>
          <a:lstStyle/>
          <a:p>
            <a:pPr algn="ctr" indent="0" marL="0">
              <a:buNone/>
            </a:pPr>
            <a:r>
              <a:rPr lang="en-US" sz="1650" b="1" dirty="0">
                <a:solidFill>
                  <a:srgbClr val="FFFFFF"/>
                </a:solidFill>
                <a:latin typeface="Pretendard" pitchFamily="34" charset="0"/>
                <a:ea typeface="Pretendard" pitchFamily="34" charset="-122"/>
                <a:cs typeface="Pretendard" pitchFamily="34" charset="-120"/>
              </a:rPr>
              <a:t>W03</a:t>
            </a:r>
            <a:endParaRPr lang="en-US" sz="1650" dirty="0"/>
          </a:p>
        </p:txBody>
      </p:sp>
      <p:sp>
        <p:nvSpPr>
          <p:cNvPr id="92" name="Text 82"/>
          <p:cNvSpPr txBox="1"/>
          <p:nvPr/>
        </p:nvSpPr>
        <p:spPr>
          <a:xfrm>
            <a:off x="10668305" y="4476902"/>
            <a:ext cx="1714500" cy="724205"/>
          </a:xfrm>
          <a:prstGeom prst="rect">
            <a:avLst/>
          </a:prstGeom>
          <a:noFill/>
          <a:ln/>
        </p:spPr>
        <p:txBody>
          <a:bodyPr wrap="none" lIns="0" tIns="0" rIns="0" bIns="0" rtlCol="0" anchor="ctr"/>
          <a:lstStyle/>
          <a:p>
            <a:pPr algn="r" indent="0" marL="0">
              <a:buNone/>
            </a:pPr>
            <a:r>
              <a:rPr lang="en-US" sz="1500" b="1" dirty="0">
                <a:solidFill>
                  <a:srgbClr val="B47A1F"/>
                </a:solidFill>
                <a:latin typeface="Pretendard" pitchFamily="34" charset="0"/>
                <a:ea typeface="Pretendard" pitchFamily="34" charset="-122"/>
                <a:cs typeface="Pretendard" pitchFamily="34" charset="-120"/>
              </a:rPr>
              <a:t>+4.9 %</a:t>
            </a:r>
            <a:endParaRPr lang="en-US" sz="1500" dirty="0"/>
          </a:p>
        </p:txBody>
      </p:sp>
      <p:sp>
        <p:nvSpPr>
          <p:cNvPr id="93" name="Text 83"/>
          <p:cNvSpPr txBox="1"/>
          <p:nvPr/>
        </p:nvSpPr>
        <p:spPr>
          <a:xfrm>
            <a:off x="800100" y="5210251"/>
            <a:ext cx="762610" cy="724205"/>
          </a:xfrm>
          <a:prstGeom prst="rect">
            <a:avLst/>
          </a:prstGeom>
          <a:noFill/>
          <a:ln/>
        </p:spPr>
        <p:txBody>
          <a:bodyPr wrap="none" lIns="0" tIns="0" rIns="0" bIns="0" rtlCol="0" anchor="ctr"/>
          <a:lstStyle/>
          <a:p>
            <a:pPr algn="ctr" indent="0" marL="0">
              <a:buNone/>
            </a:pPr>
            <a:r>
              <a:rPr lang="en-US" sz="1650" b="1" dirty="0">
                <a:solidFill>
                  <a:srgbClr val="FFFFFF"/>
                </a:solidFill>
                <a:latin typeface="Pretendard" pitchFamily="34" charset="0"/>
                <a:ea typeface="Pretendard" pitchFamily="34" charset="-122"/>
                <a:cs typeface="Pretendard" pitchFamily="34" charset="-120"/>
              </a:rPr>
              <a:t>W04</a:t>
            </a:r>
            <a:endParaRPr lang="en-US" sz="1650" dirty="0"/>
          </a:p>
        </p:txBody>
      </p:sp>
      <p:sp>
        <p:nvSpPr>
          <p:cNvPr id="94" name="Text 84"/>
          <p:cNvSpPr txBox="1"/>
          <p:nvPr/>
        </p:nvSpPr>
        <p:spPr>
          <a:xfrm>
            <a:off x="10668305" y="5210251"/>
            <a:ext cx="1714500" cy="724205"/>
          </a:xfrm>
          <a:prstGeom prst="rect">
            <a:avLst/>
          </a:prstGeom>
          <a:noFill/>
          <a:ln/>
        </p:spPr>
        <p:txBody>
          <a:bodyPr wrap="none" lIns="0" tIns="0" rIns="0" bIns="0" rtlCol="0" anchor="ctr"/>
          <a:lstStyle/>
          <a:p>
            <a:pPr algn="r" indent="0" marL="0">
              <a:buNone/>
            </a:pPr>
            <a:r>
              <a:rPr lang="en-US" sz="1500" b="1" dirty="0">
                <a:solidFill>
                  <a:srgbClr val="3F6F52"/>
                </a:solidFill>
                <a:latin typeface="Pretendard" pitchFamily="34" charset="0"/>
                <a:ea typeface="Pretendard" pitchFamily="34" charset="-122"/>
                <a:cs typeface="Pretendard" pitchFamily="34" charset="-120"/>
              </a:rPr>
              <a:t>−5.6 %</a:t>
            </a:r>
            <a:endParaRPr lang="en-US" sz="1500" dirty="0"/>
          </a:p>
        </p:txBody>
      </p:sp>
      <p:sp>
        <p:nvSpPr>
          <p:cNvPr id="95" name="Text 85"/>
          <p:cNvSpPr txBox="1"/>
          <p:nvPr/>
        </p:nvSpPr>
        <p:spPr>
          <a:xfrm>
            <a:off x="800100" y="5943600"/>
            <a:ext cx="762610" cy="724205"/>
          </a:xfrm>
          <a:prstGeom prst="rect">
            <a:avLst/>
          </a:prstGeom>
          <a:noFill/>
          <a:ln/>
        </p:spPr>
        <p:txBody>
          <a:bodyPr wrap="none" lIns="0" tIns="0" rIns="0" bIns="0" rtlCol="0" anchor="ctr"/>
          <a:lstStyle/>
          <a:p>
            <a:pPr algn="ctr" indent="0" marL="0">
              <a:buNone/>
            </a:pPr>
            <a:r>
              <a:rPr lang="en-US" sz="1650" b="1" dirty="0">
                <a:solidFill>
                  <a:srgbClr val="FFFFFF"/>
                </a:solidFill>
                <a:latin typeface="Pretendard" pitchFamily="34" charset="0"/>
                <a:ea typeface="Pretendard" pitchFamily="34" charset="-122"/>
                <a:cs typeface="Pretendard" pitchFamily="34" charset="-120"/>
              </a:rPr>
              <a:t>W05</a:t>
            </a:r>
            <a:endParaRPr lang="en-US" sz="1650" dirty="0"/>
          </a:p>
        </p:txBody>
      </p:sp>
      <p:sp>
        <p:nvSpPr>
          <p:cNvPr id="96" name="Text 86"/>
          <p:cNvSpPr txBox="1"/>
          <p:nvPr/>
        </p:nvSpPr>
        <p:spPr>
          <a:xfrm>
            <a:off x="10668305" y="5943600"/>
            <a:ext cx="1714500" cy="724205"/>
          </a:xfrm>
          <a:prstGeom prst="rect">
            <a:avLst/>
          </a:prstGeom>
          <a:noFill/>
          <a:ln/>
        </p:spPr>
        <p:txBody>
          <a:bodyPr wrap="none" lIns="0" tIns="0" rIns="0" bIns="0" rtlCol="0" anchor="ctr"/>
          <a:lstStyle/>
          <a:p>
            <a:pPr algn="r" indent="0" marL="0">
              <a:buNone/>
            </a:pPr>
            <a:r>
              <a:rPr lang="en-US" sz="1500" b="1" dirty="0">
                <a:solidFill>
                  <a:srgbClr val="3F6F52"/>
                </a:solidFill>
                <a:latin typeface="Pretendard" pitchFamily="34" charset="0"/>
                <a:ea typeface="Pretendard" pitchFamily="34" charset="-122"/>
                <a:cs typeface="Pretendard" pitchFamily="34" charset="-120"/>
              </a:rPr>
              <a:t>−8.5 %</a:t>
            </a:r>
            <a:endParaRPr lang="en-US" sz="1500" dirty="0"/>
          </a:p>
        </p:txBody>
      </p:sp>
      <p:sp>
        <p:nvSpPr>
          <p:cNvPr id="97" name="Text 87"/>
          <p:cNvSpPr txBox="1"/>
          <p:nvPr/>
        </p:nvSpPr>
        <p:spPr>
          <a:xfrm>
            <a:off x="800100" y="6676949"/>
            <a:ext cx="762610" cy="724205"/>
          </a:xfrm>
          <a:prstGeom prst="rect">
            <a:avLst/>
          </a:prstGeom>
          <a:noFill/>
          <a:ln/>
        </p:spPr>
        <p:txBody>
          <a:bodyPr wrap="none" lIns="0" tIns="0" rIns="0" bIns="0" rtlCol="0" anchor="ctr"/>
          <a:lstStyle/>
          <a:p>
            <a:pPr algn="ctr" indent="0" marL="0">
              <a:buNone/>
            </a:pPr>
            <a:r>
              <a:rPr lang="en-US" sz="1650" b="1" dirty="0">
                <a:solidFill>
                  <a:srgbClr val="FFFFFF"/>
                </a:solidFill>
                <a:latin typeface="Pretendard" pitchFamily="34" charset="0"/>
                <a:ea typeface="Pretendard" pitchFamily="34" charset="-122"/>
                <a:cs typeface="Pretendard" pitchFamily="34" charset="-120"/>
              </a:rPr>
              <a:t>W06</a:t>
            </a:r>
            <a:endParaRPr lang="en-US" sz="1650" dirty="0"/>
          </a:p>
        </p:txBody>
      </p:sp>
      <p:sp>
        <p:nvSpPr>
          <p:cNvPr id="98" name="Text 88"/>
          <p:cNvSpPr txBox="1"/>
          <p:nvPr/>
        </p:nvSpPr>
        <p:spPr>
          <a:xfrm>
            <a:off x="10668305" y="6676949"/>
            <a:ext cx="1714500" cy="724205"/>
          </a:xfrm>
          <a:prstGeom prst="rect">
            <a:avLst/>
          </a:prstGeom>
          <a:noFill/>
          <a:ln/>
        </p:spPr>
        <p:txBody>
          <a:bodyPr wrap="none" lIns="0" tIns="0" rIns="0" bIns="0" rtlCol="0" anchor="ctr"/>
          <a:lstStyle/>
          <a:p>
            <a:pPr algn="r" indent="0" marL="0">
              <a:buNone/>
            </a:pPr>
            <a:r>
              <a:rPr lang="en-US" sz="1500" b="1" dirty="0">
                <a:solidFill>
                  <a:srgbClr val="3F6F52"/>
                </a:solidFill>
                <a:latin typeface="Pretendard" pitchFamily="34" charset="0"/>
                <a:ea typeface="Pretendard" pitchFamily="34" charset="-122"/>
                <a:cs typeface="Pretendard" pitchFamily="34" charset="-120"/>
              </a:rPr>
              <a:t>−2.8 %</a:t>
            </a:r>
            <a:endParaRPr lang="en-US" sz="1500" dirty="0"/>
          </a:p>
        </p:txBody>
      </p:sp>
      <p:sp>
        <p:nvSpPr>
          <p:cNvPr id="99" name="Text 89"/>
          <p:cNvSpPr txBox="1"/>
          <p:nvPr/>
        </p:nvSpPr>
        <p:spPr>
          <a:xfrm>
            <a:off x="800100" y="9315907"/>
            <a:ext cx="16193110" cy="228600"/>
          </a:xfrm>
          <a:prstGeom prst="rect">
            <a:avLst/>
          </a:prstGeom>
          <a:noFill/>
          <a:ln/>
        </p:spPr>
        <p:txBody>
          <a:bodyPr wrap="non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KEY TAKEAWAY</a:t>
            </a:r>
            <a:pPr algn="l" indent="0" marL="0">
              <a:buNone/>
            </a:pPr>
            <a:r>
              <a:rPr lang="en-US" sz="1200" dirty="0">
                <a:solidFill>
                  <a:srgbClr val="FFFFFF"/>
                </a:solidFill>
                <a:latin typeface="Pretendard" pitchFamily="34" charset="0"/>
                <a:ea typeface="Pretendard" pitchFamily="34" charset="-122"/>
                <a:cs typeface="Pretendard" pitchFamily="34" charset="-120"/>
              </a:rPr>
              <a:t> a-C/SiN 측 median Rline 1.34, Ileak 0.71 nA — TiN baseline 대비 Rline −5.6 %, Ileak −15 % (dummy data).</a:t>
            </a:r>
            <a:endParaRPr lang="en-US" sz="1200" dirty="0"/>
          </a:p>
        </p:txBody>
      </p:sp>
      <p:sp>
        <p:nvSpPr>
          <p:cNvPr id="100" name="Text 90"/>
          <p:cNvSpPr txBox="1"/>
          <p:nvPr/>
        </p:nvSpPr>
        <p:spPr>
          <a:xfrm>
            <a:off x="571500" y="9924898"/>
            <a:ext cx="11430000" cy="181051"/>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 내부 테스트용 더미(가상) 데이터 — 전기 수치는 모두 가상</a:t>
            </a:r>
            <a:endParaRPr lang="en-US" sz="975" dirty="0"/>
          </a:p>
        </p:txBody>
      </p:sp>
      <p:sp>
        <p:nvSpPr>
          <p:cNvPr id="101" name="Text 91"/>
          <p:cNvSpPr txBox="1"/>
          <p:nvPr/>
        </p:nvSpPr>
        <p:spPr>
          <a:xfrm>
            <a:off x="14287500" y="9924898"/>
            <a:ext cx="3429000" cy="181051"/>
          </a:xfrm>
          <a:prstGeom prst="rect">
            <a:avLst/>
          </a:prstGeom>
          <a:noFill/>
          <a:ln/>
        </p:spPr>
        <p:txBody>
          <a:bodyPr wrap="none" lIns="0" tIns="0" rIns="0" bIns="0" rtlCol="0" anchor="ctr"/>
          <a:lstStyle/>
          <a:p>
            <a:pPr algn="r" indent="0" marL="0">
              <a:buNone/>
            </a:pPr>
            <a:r>
              <a:rPr lang="en-US" sz="975" dirty="0">
                <a:solidFill>
                  <a:srgbClr val="7A8898"/>
                </a:solidFill>
                <a:latin typeface="Pretendard" pitchFamily="34" charset="0"/>
                <a:ea typeface="Pretendard" pitchFamily="34" charset="-122"/>
                <a:cs typeface="Pretendard" pitchFamily="34" charset="-120"/>
              </a:rPr>
              <a:t>08 / 09 · EUV-BEOL-DUMMY</a:t>
            </a:r>
            <a:endParaRPr lang="en-US" sz="9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BEEF2"/>
        </a:solidFill>
      </p:bgPr>
    </p:bg>
    <p:spTree>
      <p:nvGrpSpPr>
        <p:cNvPr id="1" name=""/>
        <p:cNvGrpSpPr/>
        <p:nvPr/>
      </p:nvGrpSpPr>
      <p:grpSpPr>
        <a:xfrm>
          <a:off x="0" y="0"/>
          <a:ext cx="0" cy="0"/>
          <a:chOff x="0" y="0"/>
          <a:chExt cx="0" cy="0"/>
        </a:xfrm>
      </p:grpSpPr>
      <p:sp>
        <p:nvSpPr>
          <p:cNvPr id="3" name="Shape 0"/>
          <p:cNvSpPr/>
          <p:nvPr/>
        </p:nvSpPr>
        <p:spPr>
          <a:xfrm>
            <a:off x="0" y="0"/>
            <a:ext cx="18288000" cy="1123798"/>
          </a:xfrm>
          <a:prstGeom prst="rect">
            <a:avLst/>
          </a:prstGeom>
          <a:solidFill>
            <a:srgbClr val="FFFFFF"/>
          </a:solidFill>
          <a:ln/>
        </p:spPr>
      </p:sp>
      <p:sp>
        <p:nvSpPr>
          <p:cNvPr id="4" name="Shape 1"/>
          <p:cNvSpPr/>
          <p:nvPr/>
        </p:nvSpPr>
        <p:spPr>
          <a:xfrm>
            <a:off x="0" y="1114654"/>
            <a:ext cx="18288000" cy="9144"/>
          </a:xfrm>
          <a:prstGeom prst="rect">
            <a:avLst/>
          </a:prstGeom>
          <a:solidFill>
            <a:srgbClr val="C8CED6"/>
          </a:solidFill>
          <a:ln w="12700">
            <a:solidFill>
              <a:srgbClr val="C8CED6">
                <a:alpha val="0"/>
              </a:srgbClr>
            </a:solidFill>
            <a:prstDash val="solid"/>
          </a:ln>
        </p:spPr>
      </p:sp>
      <p:sp>
        <p:nvSpPr>
          <p:cNvPr id="5" name="Shape 2"/>
          <p:cNvSpPr/>
          <p:nvPr/>
        </p:nvSpPr>
        <p:spPr>
          <a:xfrm>
            <a:off x="571500" y="1619402"/>
            <a:ext cx="5524805" cy="5715000"/>
          </a:xfrm>
          <a:prstGeom prst="rect">
            <a:avLst/>
          </a:prstGeom>
          <a:solidFill>
            <a:srgbClr val="FFFFFF"/>
          </a:solidFill>
          <a:ln w="12700">
            <a:solidFill>
              <a:srgbClr val="C8CED6"/>
            </a:solidFill>
            <a:prstDash val="solid"/>
          </a:ln>
        </p:spPr>
      </p:sp>
      <p:sp>
        <p:nvSpPr>
          <p:cNvPr id="6" name="Shape 3"/>
          <p:cNvSpPr/>
          <p:nvPr/>
        </p:nvSpPr>
        <p:spPr>
          <a:xfrm>
            <a:off x="6381598" y="1619402"/>
            <a:ext cx="5524805" cy="5715000"/>
          </a:xfrm>
          <a:prstGeom prst="rect">
            <a:avLst/>
          </a:prstGeom>
          <a:solidFill>
            <a:srgbClr val="FFFFFF"/>
          </a:solidFill>
          <a:ln w="12700">
            <a:solidFill>
              <a:srgbClr val="C8CED6"/>
            </a:solidFill>
            <a:prstDash val="solid"/>
          </a:ln>
        </p:spPr>
      </p:sp>
      <p:sp>
        <p:nvSpPr>
          <p:cNvPr id="7" name="Shape 4"/>
          <p:cNvSpPr/>
          <p:nvPr/>
        </p:nvSpPr>
        <p:spPr>
          <a:xfrm>
            <a:off x="12191695" y="1619402"/>
            <a:ext cx="5524805" cy="5715000"/>
          </a:xfrm>
          <a:prstGeom prst="rect">
            <a:avLst/>
          </a:prstGeom>
          <a:solidFill>
            <a:srgbClr val="FFFFFF"/>
          </a:solidFill>
          <a:ln w="12700">
            <a:solidFill>
              <a:srgbClr val="C8CED6"/>
            </a:solidFill>
            <a:prstDash val="solid"/>
          </a:ln>
        </p:spPr>
      </p:sp>
      <p:sp>
        <p:nvSpPr>
          <p:cNvPr id="8" name="Shape 5"/>
          <p:cNvSpPr/>
          <p:nvPr/>
        </p:nvSpPr>
        <p:spPr>
          <a:xfrm>
            <a:off x="571500" y="7524598"/>
            <a:ext cx="17145000" cy="1333195"/>
          </a:xfrm>
          <a:prstGeom prst="rect">
            <a:avLst/>
          </a:prstGeom>
          <a:solidFill>
            <a:srgbClr val="FFFFFF"/>
          </a:solidFill>
          <a:ln w="12700">
            <a:solidFill>
              <a:srgbClr val="C8CED6"/>
            </a:solidFill>
            <a:prstDash val="solid"/>
          </a:ln>
        </p:spPr>
      </p:sp>
      <p:pic>
        <p:nvPicPr>
          <p:cNvPr id="9" name="Image 0" descr="gen-dedup-67de915f3037cddbbfe4bde9fde9037b.png">    </p:cNvPr>
          <p:cNvPicPr>
            <a:picLocks noChangeAspect="1"/>
          </p:cNvPicPr>
          <p:nvPr/>
        </p:nvPicPr>
        <p:blipFill>
          <a:blip r:embed="rId1"/>
          <a:srcRect l="0" r="0" t="-40" b="-40"/>
          <a:stretch/>
        </p:blipFill>
        <p:spPr>
          <a:xfrm>
            <a:off x="571500" y="9239098"/>
            <a:ext cx="17145000" cy="381305"/>
          </a:xfrm>
          <a:prstGeom prst="rect">
            <a:avLst/>
          </a:prstGeom>
        </p:spPr>
      </p:pic>
      <p:pic>
        <p:nvPicPr>
          <p:cNvPr id="10" name="Image 1" descr="gen-dedup-68bac70ffc575f7be58fcf62b0930262.png">    </p:cNvPr>
          <p:cNvPicPr>
            <a:picLocks noChangeAspect="1"/>
          </p:cNvPicPr>
          <p:nvPr/>
        </p:nvPicPr>
        <p:blipFill>
          <a:blip r:embed="rId2"/>
          <a:srcRect l="-2083" r="-2083" t="0" b="0"/>
          <a:stretch/>
        </p:blipFill>
        <p:spPr>
          <a:xfrm>
            <a:off x="0" y="9715500"/>
            <a:ext cx="18288000" cy="9144"/>
          </a:xfrm>
          <a:prstGeom prst="rect">
            <a:avLst/>
          </a:prstGeom>
        </p:spPr>
      </p:pic>
      <p:sp>
        <p:nvSpPr>
          <p:cNvPr id="11" name="Shape 6"/>
          <p:cNvSpPr/>
          <p:nvPr/>
        </p:nvSpPr>
        <p:spPr>
          <a:xfrm>
            <a:off x="571500" y="1619402"/>
            <a:ext cx="5524805" cy="514807"/>
          </a:xfrm>
          <a:prstGeom prst="rect">
            <a:avLst/>
          </a:prstGeom>
          <a:solidFill>
            <a:srgbClr val="3F6F52"/>
          </a:solidFill>
          <a:ln w="12700">
            <a:solidFill>
              <a:srgbClr val="FFFFFF">
                <a:alpha val="0"/>
              </a:srgbClr>
            </a:solidFill>
            <a:prstDash val="solid"/>
          </a:ln>
        </p:spPr>
      </p:sp>
      <p:sp>
        <p:nvSpPr>
          <p:cNvPr id="12" name="Shape 7"/>
          <p:cNvSpPr/>
          <p:nvPr/>
        </p:nvSpPr>
        <p:spPr>
          <a:xfrm>
            <a:off x="800100" y="3409798"/>
            <a:ext cx="5067605" cy="609905"/>
          </a:xfrm>
          <a:prstGeom prst="rect">
            <a:avLst/>
          </a:prstGeom>
          <a:solidFill>
            <a:srgbClr val="F7F9FB"/>
          </a:solidFill>
          <a:ln/>
        </p:spPr>
      </p:sp>
      <p:sp>
        <p:nvSpPr>
          <p:cNvPr id="13" name="Shape 8"/>
          <p:cNvSpPr/>
          <p:nvPr/>
        </p:nvSpPr>
        <p:spPr>
          <a:xfrm>
            <a:off x="800100" y="3409798"/>
            <a:ext cx="57607" cy="609905"/>
          </a:xfrm>
          <a:prstGeom prst="rect">
            <a:avLst/>
          </a:prstGeom>
          <a:solidFill>
            <a:srgbClr val="3F6F52"/>
          </a:solidFill>
          <a:ln w="12700">
            <a:solidFill>
              <a:srgbClr val="3F6F52">
                <a:alpha val="0"/>
              </a:srgbClr>
            </a:solidFill>
            <a:prstDash val="solid"/>
          </a:ln>
        </p:spPr>
      </p:sp>
      <p:sp>
        <p:nvSpPr>
          <p:cNvPr id="14" name="Shape 9"/>
          <p:cNvSpPr/>
          <p:nvPr/>
        </p:nvSpPr>
        <p:spPr>
          <a:xfrm>
            <a:off x="800100" y="4134002"/>
            <a:ext cx="5067605" cy="609905"/>
          </a:xfrm>
          <a:prstGeom prst="rect">
            <a:avLst/>
          </a:prstGeom>
          <a:solidFill>
            <a:srgbClr val="F7F9FB"/>
          </a:solidFill>
          <a:ln/>
        </p:spPr>
      </p:sp>
      <p:sp>
        <p:nvSpPr>
          <p:cNvPr id="15" name="Shape 10"/>
          <p:cNvSpPr/>
          <p:nvPr/>
        </p:nvSpPr>
        <p:spPr>
          <a:xfrm>
            <a:off x="800100" y="4134002"/>
            <a:ext cx="57607" cy="609905"/>
          </a:xfrm>
          <a:prstGeom prst="rect">
            <a:avLst/>
          </a:prstGeom>
          <a:solidFill>
            <a:srgbClr val="3F6F52"/>
          </a:solidFill>
          <a:ln w="12700">
            <a:solidFill>
              <a:srgbClr val="3F6F52">
                <a:alpha val="0"/>
              </a:srgbClr>
            </a:solidFill>
            <a:prstDash val="solid"/>
          </a:ln>
        </p:spPr>
      </p:sp>
      <p:sp>
        <p:nvSpPr>
          <p:cNvPr id="16" name="Shape 11"/>
          <p:cNvSpPr/>
          <p:nvPr/>
        </p:nvSpPr>
        <p:spPr>
          <a:xfrm>
            <a:off x="800100" y="4858207"/>
            <a:ext cx="5067605" cy="609905"/>
          </a:xfrm>
          <a:prstGeom prst="rect">
            <a:avLst/>
          </a:prstGeom>
          <a:solidFill>
            <a:srgbClr val="F7F9FB"/>
          </a:solidFill>
          <a:ln/>
        </p:spPr>
      </p:sp>
      <p:sp>
        <p:nvSpPr>
          <p:cNvPr id="17" name="Shape 12"/>
          <p:cNvSpPr/>
          <p:nvPr/>
        </p:nvSpPr>
        <p:spPr>
          <a:xfrm>
            <a:off x="800100" y="4858207"/>
            <a:ext cx="57607" cy="609905"/>
          </a:xfrm>
          <a:prstGeom prst="rect">
            <a:avLst/>
          </a:prstGeom>
          <a:solidFill>
            <a:srgbClr val="3F6F52"/>
          </a:solidFill>
          <a:ln w="12700">
            <a:solidFill>
              <a:srgbClr val="3F6F52">
                <a:alpha val="0"/>
              </a:srgbClr>
            </a:solidFill>
            <a:prstDash val="solid"/>
          </a:ln>
        </p:spPr>
      </p:sp>
      <p:sp>
        <p:nvSpPr>
          <p:cNvPr id="18" name="Shape 13"/>
          <p:cNvSpPr/>
          <p:nvPr/>
        </p:nvSpPr>
        <p:spPr>
          <a:xfrm>
            <a:off x="800100" y="5581498"/>
            <a:ext cx="5067605" cy="609905"/>
          </a:xfrm>
          <a:prstGeom prst="rect">
            <a:avLst/>
          </a:prstGeom>
          <a:solidFill>
            <a:srgbClr val="F7F9FB"/>
          </a:solidFill>
          <a:ln/>
        </p:spPr>
      </p:sp>
      <p:sp>
        <p:nvSpPr>
          <p:cNvPr id="19" name="Shape 14"/>
          <p:cNvSpPr/>
          <p:nvPr/>
        </p:nvSpPr>
        <p:spPr>
          <a:xfrm>
            <a:off x="800100" y="5581498"/>
            <a:ext cx="57607" cy="609905"/>
          </a:xfrm>
          <a:prstGeom prst="rect">
            <a:avLst/>
          </a:prstGeom>
          <a:solidFill>
            <a:srgbClr val="3F6F52"/>
          </a:solidFill>
          <a:ln w="12700">
            <a:solidFill>
              <a:srgbClr val="3F6F52">
                <a:alpha val="0"/>
              </a:srgbClr>
            </a:solidFill>
            <a:prstDash val="solid"/>
          </a:ln>
        </p:spPr>
      </p:sp>
      <p:sp>
        <p:nvSpPr>
          <p:cNvPr id="20" name="Shape 15"/>
          <p:cNvSpPr/>
          <p:nvPr/>
        </p:nvSpPr>
        <p:spPr>
          <a:xfrm>
            <a:off x="6381598" y="1619402"/>
            <a:ext cx="5524805" cy="514807"/>
          </a:xfrm>
          <a:prstGeom prst="rect">
            <a:avLst/>
          </a:prstGeom>
          <a:solidFill>
            <a:srgbClr val="B47A1F"/>
          </a:solidFill>
          <a:ln w="12700">
            <a:solidFill>
              <a:srgbClr val="FFFFFF">
                <a:alpha val="0"/>
              </a:srgbClr>
            </a:solidFill>
            <a:prstDash val="solid"/>
          </a:ln>
        </p:spPr>
      </p:sp>
      <p:sp>
        <p:nvSpPr>
          <p:cNvPr id="21" name="Shape 16"/>
          <p:cNvSpPr/>
          <p:nvPr/>
        </p:nvSpPr>
        <p:spPr>
          <a:xfrm>
            <a:off x="6610198" y="3409798"/>
            <a:ext cx="5067605" cy="609905"/>
          </a:xfrm>
          <a:prstGeom prst="rect">
            <a:avLst/>
          </a:prstGeom>
          <a:solidFill>
            <a:srgbClr val="F7F9FB"/>
          </a:solidFill>
          <a:ln/>
        </p:spPr>
      </p:sp>
      <p:sp>
        <p:nvSpPr>
          <p:cNvPr id="22" name="Shape 17"/>
          <p:cNvSpPr/>
          <p:nvPr/>
        </p:nvSpPr>
        <p:spPr>
          <a:xfrm>
            <a:off x="6610198" y="3409798"/>
            <a:ext cx="57607" cy="609905"/>
          </a:xfrm>
          <a:prstGeom prst="rect">
            <a:avLst/>
          </a:prstGeom>
          <a:solidFill>
            <a:srgbClr val="B47A1F"/>
          </a:solidFill>
          <a:ln w="12700">
            <a:solidFill>
              <a:srgbClr val="B47A1F">
                <a:alpha val="0"/>
              </a:srgbClr>
            </a:solidFill>
            <a:prstDash val="solid"/>
          </a:ln>
        </p:spPr>
      </p:sp>
      <p:sp>
        <p:nvSpPr>
          <p:cNvPr id="23" name="Shape 18"/>
          <p:cNvSpPr/>
          <p:nvPr/>
        </p:nvSpPr>
        <p:spPr>
          <a:xfrm>
            <a:off x="6610198" y="4134002"/>
            <a:ext cx="5067605" cy="609905"/>
          </a:xfrm>
          <a:prstGeom prst="rect">
            <a:avLst/>
          </a:prstGeom>
          <a:solidFill>
            <a:srgbClr val="F7F9FB"/>
          </a:solidFill>
          <a:ln/>
        </p:spPr>
      </p:sp>
      <p:sp>
        <p:nvSpPr>
          <p:cNvPr id="24" name="Shape 19"/>
          <p:cNvSpPr/>
          <p:nvPr/>
        </p:nvSpPr>
        <p:spPr>
          <a:xfrm>
            <a:off x="6610198" y="4134002"/>
            <a:ext cx="57607" cy="609905"/>
          </a:xfrm>
          <a:prstGeom prst="rect">
            <a:avLst/>
          </a:prstGeom>
          <a:solidFill>
            <a:srgbClr val="B47A1F"/>
          </a:solidFill>
          <a:ln w="12700">
            <a:solidFill>
              <a:srgbClr val="B47A1F">
                <a:alpha val="0"/>
              </a:srgbClr>
            </a:solidFill>
            <a:prstDash val="solid"/>
          </a:ln>
        </p:spPr>
      </p:sp>
      <p:sp>
        <p:nvSpPr>
          <p:cNvPr id="25" name="Shape 20"/>
          <p:cNvSpPr/>
          <p:nvPr/>
        </p:nvSpPr>
        <p:spPr>
          <a:xfrm>
            <a:off x="6610198" y="4858207"/>
            <a:ext cx="5067605" cy="609905"/>
          </a:xfrm>
          <a:prstGeom prst="rect">
            <a:avLst/>
          </a:prstGeom>
          <a:solidFill>
            <a:srgbClr val="F7F9FB"/>
          </a:solidFill>
          <a:ln/>
        </p:spPr>
      </p:sp>
      <p:sp>
        <p:nvSpPr>
          <p:cNvPr id="26" name="Shape 21"/>
          <p:cNvSpPr/>
          <p:nvPr/>
        </p:nvSpPr>
        <p:spPr>
          <a:xfrm>
            <a:off x="6610198" y="4858207"/>
            <a:ext cx="57607" cy="609905"/>
          </a:xfrm>
          <a:prstGeom prst="rect">
            <a:avLst/>
          </a:prstGeom>
          <a:solidFill>
            <a:srgbClr val="B47A1F"/>
          </a:solidFill>
          <a:ln w="12700">
            <a:solidFill>
              <a:srgbClr val="B47A1F">
                <a:alpha val="0"/>
              </a:srgbClr>
            </a:solidFill>
            <a:prstDash val="solid"/>
          </a:ln>
        </p:spPr>
      </p:sp>
      <p:sp>
        <p:nvSpPr>
          <p:cNvPr id="27" name="Shape 22"/>
          <p:cNvSpPr/>
          <p:nvPr/>
        </p:nvSpPr>
        <p:spPr>
          <a:xfrm>
            <a:off x="6610198" y="5581498"/>
            <a:ext cx="5067605" cy="609905"/>
          </a:xfrm>
          <a:prstGeom prst="rect">
            <a:avLst/>
          </a:prstGeom>
          <a:solidFill>
            <a:srgbClr val="F7F9FB"/>
          </a:solidFill>
          <a:ln/>
        </p:spPr>
      </p:sp>
      <p:sp>
        <p:nvSpPr>
          <p:cNvPr id="28" name="Shape 23"/>
          <p:cNvSpPr/>
          <p:nvPr/>
        </p:nvSpPr>
        <p:spPr>
          <a:xfrm>
            <a:off x="6610198" y="5581498"/>
            <a:ext cx="57607" cy="609905"/>
          </a:xfrm>
          <a:prstGeom prst="rect">
            <a:avLst/>
          </a:prstGeom>
          <a:solidFill>
            <a:srgbClr val="B47A1F"/>
          </a:solidFill>
          <a:ln w="12700">
            <a:solidFill>
              <a:srgbClr val="B47A1F">
                <a:alpha val="0"/>
              </a:srgbClr>
            </a:solidFill>
            <a:prstDash val="solid"/>
          </a:ln>
        </p:spPr>
      </p:sp>
      <p:sp>
        <p:nvSpPr>
          <p:cNvPr id="29" name="Shape 24"/>
          <p:cNvSpPr/>
          <p:nvPr/>
        </p:nvSpPr>
        <p:spPr>
          <a:xfrm>
            <a:off x="12191695" y="1619402"/>
            <a:ext cx="5524805" cy="514807"/>
          </a:xfrm>
          <a:prstGeom prst="rect">
            <a:avLst/>
          </a:prstGeom>
          <a:solidFill>
            <a:srgbClr val="2E6F8E"/>
          </a:solidFill>
          <a:ln w="12700">
            <a:solidFill>
              <a:srgbClr val="FFFFFF">
                <a:alpha val="0"/>
              </a:srgbClr>
            </a:solidFill>
            <a:prstDash val="solid"/>
          </a:ln>
        </p:spPr>
      </p:sp>
      <p:sp>
        <p:nvSpPr>
          <p:cNvPr id="30" name="Shape 25"/>
          <p:cNvSpPr/>
          <p:nvPr/>
        </p:nvSpPr>
        <p:spPr>
          <a:xfrm>
            <a:off x="12420295" y="3409798"/>
            <a:ext cx="5067605" cy="609905"/>
          </a:xfrm>
          <a:prstGeom prst="rect">
            <a:avLst/>
          </a:prstGeom>
          <a:solidFill>
            <a:srgbClr val="F7F9FB"/>
          </a:solidFill>
          <a:ln/>
        </p:spPr>
      </p:sp>
      <p:sp>
        <p:nvSpPr>
          <p:cNvPr id="31" name="Shape 26"/>
          <p:cNvSpPr/>
          <p:nvPr/>
        </p:nvSpPr>
        <p:spPr>
          <a:xfrm>
            <a:off x="12420295" y="3409798"/>
            <a:ext cx="57607" cy="609905"/>
          </a:xfrm>
          <a:prstGeom prst="rect">
            <a:avLst/>
          </a:prstGeom>
          <a:solidFill>
            <a:srgbClr val="2E6F8E"/>
          </a:solidFill>
          <a:ln w="12700">
            <a:solidFill>
              <a:srgbClr val="2E6F8E">
                <a:alpha val="0"/>
              </a:srgbClr>
            </a:solidFill>
            <a:prstDash val="solid"/>
          </a:ln>
        </p:spPr>
      </p:sp>
      <p:sp>
        <p:nvSpPr>
          <p:cNvPr id="32" name="Shape 27"/>
          <p:cNvSpPr/>
          <p:nvPr/>
        </p:nvSpPr>
        <p:spPr>
          <a:xfrm>
            <a:off x="12420295" y="4134002"/>
            <a:ext cx="5067605" cy="609905"/>
          </a:xfrm>
          <a:prstGeom prst="rect">
            <a:avLst/>
          </a:prstGeom>
          <a:solidFill>
            <a:srgbClr val="F7F9FB"/>
          </a:solidFill>
          <a:ln/>
        </p:spPr>
      </p:sp>
      <p:sp>
        <p:nvSpPr>
          <p:cNvPr id="33" name="Shape 28"/>
          <p:cNvSpPr/>
          <p:nvPr/>
        </p:nvSpPr>
        <p:spPr>
          <a:xfrm>
            <a:off x="12420295" y="4134002"/>
            <a:ext cx="57607" cy="609905"/>
          </a:xfrm>
          <a:prstGeom prst="rect">
            <a:avLst/>
          </a:prstGeom>
          <a:solidFill>
            <a:srgbClr val="2E6F8E"/>
          </a:solidFill>
          <a:ln w="12700">
            <a:solidFill>
              <a:srgbClr val="2E6F8E">
                <a:alpha val="0"/>
              </a:srgbClr>
            </a:solidFill>
            <a:prstDash val="solid"/>
          </a:ln>
        </p:spPr>
      </p:sp>
      <p:sp>
        <p:nvSpPr>
          <p:cNvPr id="34" name="Shape 29"/>
          <p:cNvSpPr/>
          <p:nvPr/>
        </p:nvSpPr>
        <p:spPr>
          <a:xfrm>
            <a:off x="12420295" y="4858207"/>
            <a:ext cx="5067605" cy="609905"/>
          </a:xfrm>
          <a:prstGeom prst="rect">
            <a:avLst/>
          </a:prstGeom>
          <a:solidFill>
            <a:srgbClr val="F7F9FB"/>
          </a:solidFill>
          <a:ln/>
        </p:spPr>
      </p:sp>
      <p:sp>
        <p:nvSpPr>
          <p:cNvPr id="35" name="Shape 30"/>
          <p:cNvSpPr/>
          <p:nvPr/>
        </p:nvSpPr>
        <p:spPr>
          <a:xfrm>
            <a:off x="12420295" y="4858207"/>
            <a:ext cx="57607" cy="609905"/>
          </a:xfrm>
          <a:prstGeom prst="rect">
            <a:avLst/>
          </a:prstGeom>
          <a:solidFill>
            <a:srgbClr val="2E6F8E"/>
          </a:solidFill>
          <a:ln w="12700">
            <a:solidFill>
              <a:srgbClr val="2E6F8E">
                <a:alpha val="0"/>
              </a:srgbClr>
            </a:solidFill>
            <a:prstDash val="solid"/>
          </a:ln>
        </p:spPr>
      </p:sp>
      <p:sp>
        <p:nvSpPr>
          <p:cNvPr id="36" name="Shape 31"/>
          <p:cNvSpPr/>
          <p:nvPr/>
        </p:nvSpPr>
        <p:spPr>
          <a:xfrm>
            <a:off x="12420295" y="5581498"/>
            <a:ext cx="5067605" cy="609905"/>
          </a:xfrm>
          <a:prstGeom prst="rect">
            <a:avLst/>
          </a:prstGeom>
          <a:solidFill>
            <a:srgbClr val="F7F9FB"/>
          </a:solidFill>
          <a:ln/>
        </p:spPr>
      </p:sp>
      <p:sp>
        <p:nvSpPr>
          <p:cNvPr id="37" name="Shape 32"/>
          <p:cNvSpPr/>
          <p:nvPr/>
        </p:nvSpPr>
        <p:spPr>
          <a:xfrm>
            <a:off x="12420295" y="5581498"/>
            <a:ext cx="57607" cy="609905"/>
          </a:xfrm>
          <a:prstGeom prst="rect">
            <a:avLst/>
          </a:prstGeom>
          <a:solidFill>
            <a:srgbClr val="2E6F8E"/>
          </a:solidFill>
          <a:ln w="12700">
            <a:solidFill>
              <a:srgbClr val="2E6F8E">
                <a:alpha val="0"/>
              </a:srgbClr>
            </a:solidFill>
            <a:prstDash val="solid"/>
          </a:ln>
        </p:spPr>
      </p:sp>
      <p:sp>
        <p:nvSpPr>
          <p:cNvPr id="38" name="Text 33"/>
          <p:cNvSpPr txBox="1"/>
          <p:nvPr/>
        </p:nvSpPr>
        <p:spPr>
          <a:xfrm>
            <a:off x="800100" y="1752905"/>
            <a:ext cx="4572000" cy="305410"/>
          </a:xfrm>
          <a:prstGeom prst="rect">
            <a:avLst/>
          </a:prstGeom>
          <a:noFill/>
          <a:ln/>
        </p:spPr>
        <p:txBody>
          <a:bodyPr wrap="squar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01</a:t>
            </a:r>
            <a:pPr algn="l" indent="0" marL="0">
              <a:buNone/>
            </a:pPr>
            <a:r>
              <a:rPr lang="en-US" sz="1650" b="1" dirty="0">
                <a:solidFill>
                  <a:srgbClr val="FFFFFF"/>
                </a:solidFill>
                <a:latin typeface="Pretendard" pitchFamily="34" charset="0"/>
                <a:ea typeface="Pretendard" pitchFamily="34" charset="-122"/>
                <a:cs typeface="Pretendard" pitchFamily="34" charset="-120"/>
              </a:rPr>
              <a:t>관찰된 개선 항목</a:t>
            </a:r>
            <a:endParaRPr lang="en-US" sz="1200" dirty="0"/>
          </a:p>
        </p:txBody>
      </p:sp>
      <p:sp>
        <p:nvSpPr>
          <p:cNvPr id="39" name="Text 34"/>
          <p:cNvSpPr txBox="1"/>
          <p:nvPr/>
        </p:nvSpPr>
        <p:spPr>
          <a:xfrm>
            <a:off x="800100" y="2286000"/>
            <a:ext cx="5067605" cy="228600"/>
          </a:xfrm>
          <a:prstGeom prst="rect">
            <a:avLst/>
          </a:prstGeom>
          <a:noFill/>
          <a:ln/>
        </p:spPr>
        <p:txBody>
          <a:bodyPr wrap="none" lIns="0" tIns="0" rIns="0" bIns="0" rtlCol="0" anchor="ctr"/>
          <a:lstStyle/>
          <a:p>
            <a:pPr algn="l" indent="0" marL="0">
              <a:buNone/>
            </a:pPr>
            <a:r>
              <a:rPr lang="en-US" sz="1350" b="1" dirty="0">
                <a:solidFill>
                  <a:srgbClr val="1B2535"/>
                </a:solidFill>
                <a:latin typeface="Pretendard" pitchFamily="34" charset="0"/>
                <a:ea typeface="Pretendard" pitchFamily="34" charset="-122"/>
                <a:cs typeface="Pretendard" pitchFamily="34" charset="-120"/>
              </a:rPr>
              <a:t>a-C / SiN 적층이 복합 개선을 제공</a:t>
            </a:r>
            <a:endParaRPr lang="en-US" sz="1350" dirty="0"/>
          </a:p>
        </p:txBody>
      </p:sp>
      <p:sp>
        <p:nvSpPr>
          <p:cNvPr id="40" name="Text 35"/>
          <p:cNvSpPr txBox="1"/>
          <p:nvPr/>
        </p:nvSpPr>
        <p:spPr>
          <a:xfrm>
            <a:off x="800100" y="2604211"/>
            <a:ext cx="5067605" cy="419710"/>
          </a:xfrm>
          <a:prstGeom prst="rect">
            <a:avLst/>
          </a:prstGeom>
          <a:noFill/>
          <a:ln/>
        </p:spPr>
        <p:txBody>
          <a:bodyPr wrap="square" lIns="0" tIns="0" rIns="0" bIns="0" rtlCol="0" anchor="ctr"/>
          <a:lstStyle/>
          <a:p>
            <a:pPr algn="l" indent="0" marL="0">
              <a:lnSpc>
                <a:spcPts val="1627"/>
              </a:lnSpc>
              <a:buNone/>
            </a:pPr>
            <a:r>
              <a:rPr lang="en-US" sz="1050" dirty="0">
                <a:solidFill>
                  <a:srgbClr val="44546A"/>
                </a:solidFill>
                <a:latin typeface="Pretendard" pitchFamily="34" charset="0"/>
                <a:ea typeface="Pretendard" pitchFamily="34" charset="-122"/>
                <a:cs typeface="Pretendard" pitchFamily="34" charset="-120"/>
              </a:rPr>
              <a:t>Profile 회복과 전기적 우위가 동시에 관찰. Dummy 안 Split B가 4개 metric 모두 baseline 대비 일관되게 개선.</a:t>
            </a:r>
            <a:endParaRPr lang="en-US" sz="1050" dirty="0"/>
          </a:p>
        </p:txBody>
      </p:sp>
      <p:sp>
        <p:nvSpPr>
          <p:cNvPr id="41" name="Text 36"/>
          <p:cNvSpPr txBox="1"/>
          <p:nvPr/>
        </p:nvSpPr>
        <p:spPr>
          <a:xfrm>
            <a:off x="990295" y="3504895"/>
            <a:ext cx="2667305" cy="162763"/>
          </a:xfrm>
          <a:prstGeom prst="rect">
            <a:avLst/>
          </a:prstGeom>
          <a:noFill/>
          <a:ln/>
        </p:spPr>
        <p:txBody>
          <a:bodyPr wrap="none" lIns="0" tIns="0" rIns="0" bIns="0" rtlCol="0" anchor="ctr"/>
          <a:lstStyle/>
          <a:p>
            <a:pPr algn="l" indent="0" marL="0">
              <a:buNone/>
            </a:pPr>
            <a:r>
              <a:rPr lang="en-US" sz="900" spc="36" kern="0" dirty="0">
                <a:solidFill>
                  <a:srgbClr val="7A8898"/>
                </a:solidFill>
                <a:latin typeface="Pretendard" pitchFamily="34" charset="0"/>
                <a:ea typeface="Pretendard" pitchFamily="34" charset="-122"/>
                <a:cs typeface="Pretendard" pitchFamily="34" charset="-120"/>
              </a:rPr>
              <a:t>Taper 개선</a:t>
            </a:r>
            <a:endParaRPr lang="en-US" sz="900" dirty="0"/>
          </a:p>
        </p:txBody>
      </p:sp>
      <p:sp>
        <p:nvSpPr>
          <p:cNvPr id="42" name="Text 37"/>
          <p:cNvSpPr txBox="1"/>
          <p:nvPr/>
        </p:nvSpPr>
        <p:spPr>
          <a:xfrm>
            <a:off x="990295" y="3685946"/>
            <a:ext cx="2667305" cy="277063"/>
          </a:xfrm>
          <a:prstGeom prst="rect">
            <a:avLst/>
          </a:prstGeom>
          <a:noFill/>
          <a:ln/>
        </p:spPr>
        <p:txBody>
          <a:bodyPr wrap="none" lIns="0" tIns="0" rIns="0" bIns="0" rtlCol="0" anchor="ctr"/>
          <a:lstStyle/>
          <a:p>
            <a:pPr algn="l" indent="0" marL="0">
              <a:buNone/>
            </a:pPr>
            <a:r>
              <a:rPr lang="en-US" sz="1500" b="1" dirty="0">
                <a:solidFill>
                  <a:srgbClr val="1B2535"/>
                </a:solidFill>
                <a:latin typeface="Pretendard" pitchFamily="34" charset="0"/>
                <a:ea typeface="Pretendard" pitchFamily="34" charset="-122"/>
                <a:cs typeface="Pretendard" pitchFamily="34" charset="-120"/>
              </a:rPr>
              <a:t>−1.5 nm</a:t>
            </a:r>
            <a:endParaRPr lang="en-US" sz="1500" dirty="0"/>
          </a:p>
        </p:txBody>
      </p:sp>
      <p:sp>
        <p:nvSpPr>
          <p:cNvPr id="43" name="Text 38"/>
          <p:cNvSpPr txBox="1"/>
          <p:nvPr/>
        </p:nvSpPr>
        <p:spPr>
          <a:xfrm>
            <a:off x="3847795" y="3504895"/>
            <a:ext cx="1905610" cy="162763"/>
          </a:xfrm>
          <a:prstGeom prst="rect">
            <a:avLst/>
          </a:prstGeom>
          <a:noFill/>
          <a:ln/>
        </p:spPr>
        <p:txBody>
          <a:bodyPr wrap="none" lIns="0" tIns="0" rIns="0" bIns="0" rtlCol="0" anchor="ctr"/>
          <a:lstStyle/>
          <a:p>
            <a:pPr algn="r" indent="0" marL="0">
              <a:buNone/>
            </a:pPr>
            <a:r>
              <a:rPr lang="en-US" sz="900" b="1" dirty="0">
                <a:solidFill>
                  <a:srgbClr val="3F6F52"/>
                </a:solidFill>
                <a:latin typeface="Pretendard" pitchFamily="34" charset="0"/>
                <a:ea typeface="Pretendard" pitchFamily="34" charset="-122"/>
                <a:cs typeface="Pretendard" pitchFamily="34" charset="-120"/>
              </a:rPr>
              <a:t>vs W02</a:t>
            </a:r>
            <a:endParaRPr lang="en-US" sz="900" dirty="0"/>
          </a:p>
        </p:txBody>
      </p:sp>
      <p:sp>
        <p:nvSpPr>
          <p:cNvPr id="44" name="Text 39"/>
          <p:cNvSpPr txBox="1"/>
          <p:nvPr/>
        </p:nvSpPr>
        <p:spPr>
          <a:xfrm>
            <a:off x="3847795" y="3724351"/>
            <a:ext cx="1905610" cy="162763"/>
          </a:xfrm>
          <a:prstGeom prst="rect">
            <a:avLst/>
          </a:prstGeom>
          <a:noFill/>
          <a:ln/>
        </p:spPr>
        <p:txBody>
          <a:bodyPr wrap="none" lIns="0" tIns="0" rIns="0" bIns="0" rtlCol="0" anchor="ctr"/>
          <a:lstStyle/>
          <a:p>
            <a:pPr algn="r" indent="0" marL="0">
              <a:buNone/>
            </a:pPr>
            <a:r>
              <a:rPr lang="en-US" sz="900" dirty="0">
                <a:solidFill>
                  <a:srgbClr val="44546A"/>
                </a:solidFill>
                <a:latin typeface="Pretendard" pitchFamily="34" charset="0"/>
                <a:ea typeface="Pretendard" pitchFamily="34" charset="-122"/>
                <a:cs typeface="Pretendard" pitchFamily="34" charset="-120"/>
              </a:rPr>
              <a:t>참고: slide 03 · 04</a:t>
            </a:r>
            <a:endParaRPr lang="en-US" sz="900" dirty="0"/>
          </a:p>
        </p:txBody>
      </p:sp>
      <p:sp>
        <p:nvSpPr>
          <p:cNvPr id="45" name="Text 40"/>
          <p:cNvSpPr txBox="1"/>
          <p:nvPr/>
        </p:nvSpPr>
        <p:spPr>
          <a:xfrm>
            <a:off x="990295" y="4229100"/>
            <a:ext cx="2667305" cy="162763"/>
          </a:xfrm>
          <a:prstGeom prst="rect">
            <a:avLst/>
          </a:prstGeom>
          <a:noFill/>
          <a:ln/>
        </p:spPr>
        <p:txBody>
          <a:bodyPr wrap="none" lIns="0" tIns="0" rIns="0" bIns="0" rtlCol="0" anchor="ctr"/>
          <a:lstStyle/>
          <a:p>
            <a:pPr algn="l" indent="0" marL="0">
              <a:buNone/>
            </a:pPr>
            <a:r>
              <a:rPr lang="en-US" sz="900" spc="36" kern="0" dirty="0">
                <a:solidFill>
                  <a:srgbClr val="7A8898"/>
                </a:solidFill>
                <a:latin typeface="Pretendard" pitchFamily="34" charset="0"/>
                <a:ea typeface="Pretendard" pitchFamily="34" charset="-122"/>
                <a:cs typeface="Pretendard" pitchFamily="34" charset="-120"/>
              </a:rPr>
              <a:t>NU% (within-wafer)</a:t>
            </a:r>
            <a:endParaRPr lang="en-US" sz="900" dirty="0"/>
          </a:p>
        </p:txBody>
      </p:sp>
      <p:sp>
        <p:nvSpPr>
          <p:cNvPr id="46" name="Text 41"/>
          <p:cNvSpPr txBox="1"/>
          <p:nvPr/>
        </p:nvSpPr>
        <p:spPr>
          <a:xfrm>
            <a:off x="990295" y="4410151"/>
            <a:ext cx="2667305" cy="277063"/>
          </a:xfrm>
          <a:prstGeom prst="rect">
            <a:avLst/>
          </a:prstGeom>
          <a:noFill/>
          <a:ln/>
        </p:spPr>
        <p:txBody>
          <a:bodyPr wrap="none" lIns="0" tIns="0" rIns="0" bIns="0" rtlCol="0" anchor="ctr"/>
          <a:lstStyle/>
          <a:p>
            <a:pPr algn="l" indent="0" marL="0">
              <a:buNone/>
            </a:pPr>
            <a:r>
              <a:rPr lang="en-US" sz="1500" b="1" dirty="0">
                <a:solidFill>
                  <a:srgbClr val="1B2535"/>
                </a:solidFill>
                <a:latin typeface="Pretendard" pitchFamily="34" charset="0"/>
                <a:ea typeface="Pretendard" pitchFamily="34" charset="-122"/>
                <a:cs typeface="Pretendard" pitchFamily="34" charset="-120"/>
              </a:rPr>
              <a:t>−28 %</a:t>
            </a:r>
            <a:endParaRPr lang="en-US" sz="1500" dirty="0"/>
          </a:p>
        </p:txBody>
      </p:sp>
      <p:sp>
        <p:nvSpPr>
          <p:cNvPr id="47" name="Text 42"/>
          <p:cNvSpPr txBox="1"/>
          <p:nvPr/>
        </p:nvSpPr>
        <p:spPr>
          <a:xfrm>
            <a:off x="3847795" y="4229100"/>
            <a:ext cx="1905610" cy="162763"/>
          </a:xfrm>
          <a:prstGeom prst="rect">
            <a:avLst/>
          </a:prstGeom>
          <a:noFill/>
          <a:ln/>
        </p:spPr>
        <p:txBody>
          <a:bodyPr wrap="none" lIns="0" tIns="0" rIns="0" bIns="0" rtlCol="0" anchor="ctr"/>
          <a:lstStyle/>
          <a:p>
            <a:pPr algn="r" indent="0" marL="0">
              <a:buNone/>
            </a:pPr>
            <a:r>
              <a:rPr lang="en-US" sz="900" b="1" dirty="0">
                <a:solidFill>
                  <a:srgbClr val="3F6F52"/>
                </a:solidFill>
                <a:latin typeface="Pretendard" pitchFamily="34" charset="0"/>
                <a:ea typeface="Pretendard" pitchFamily="34" charset="-122"/>
                <a:cs typeface="Pretendard" pitchFamily="34" charset="-120"/>
              </a:rPr>
              <a:t>vs Split A mean</a:t>
            </a:r>
            <a:endParaRPr lang="en-US" sz="900" dirty="0"/>
          </a:p>
        </p:txBody>
      </p:sp>
      <p:sp>
        <p:nvSpPr>
          <p:cNvPr id="48" name="Text 43"/>
          <p:cNvSpPr txBox="1"/>
          <p:nvPr/>
        </p:nvSpPr>
        <p:spPr>
          <a:xfrm>
            <a:off x="3847795" y="4448556"/>
            <a:ext cx="1905610" cy="162763"/>
          </a:xfrm>
          <a:prstGeom prst="rect">
            <a:avLst/>
          </a:prstGeom>
          <a:noFill/>
          <a:ln/>
        </p:spPr>
        <p:txBody>
          <a:bodyPr wrap="none" lIns="0" tIns="0" rIns="0" bIns="0" rtlCol="0" anchor="ctr"/>
          <a:lstStyle/>
          <a:p>
            <a:pPr algn="r" indent="0" marL="0">
              <a:buNone/>
            </a:pPr>
            <a:r>
              <a:rPr lang="en-US" sz="900" dirty="0">
                <a:solidFill>
                  <a:srgbClr val="44546A"/>
                </a:solidFill>
                <a:latin typeface="Pretendard" pitchFamily="34" charset="0"/>
                <a:ea typeface="Pretendard" pitchFamily="34" charset="-122"/>
                <a:cs typeface="Pretendard" pitchFamily="34" charset="-120"/>
              </a:rPr>
              <a:t>참고: slide 06 · 07</a:t>
            </a:r>
            <a:endParaRPr lang="en-US" sz="900" dirty="0"/>
          </a:p>
        </p:txBody>
      </p:sp>
      <p:sp>
        <p:nvSpPr>
          <p:cNvPr id="49" name="Text 44"/>
          <p:cNvSpPr txBox="1"/>
          <p:nvPr/>
        </p:nvSpPr>
        <p:spPr>
          <a:xfrm>
            <a:off x="990295" y="4953305"/>
            <a:ext cx="2667305" cy="162763"/>
          </a:xfrm>
          <a:prstGeom prst="rect">
            <a:avLst/>
          </a:prstGeom>
          <a:noFill/>
          <a:ln/>
        </p:spPr>
        <p:txBody>
          <a:bodyPr wrap="none" lIns="0" tIns="0" rIns="0" bIns="0" rtlCol="0" anchor="ctr"/>
          <a:lstStyle/>
          <a:p>
            <a:pPr algn="l" indent="0" marL="0">
              <a:buNone/>
            </a:pPr>
            <a:r>
              <a:rPr lang="en-US" sz="900" spc="36" kern="0" dirty="0">
                <a:solidFill>
                  <a:srgbClr val="7A8898"/>
                </a:solidFill>
                <a:latin typeface="Pretendard" pitchFamily="34" charset="0"/>
                <a:ea typeface="Pretendard" pitchFamily="34" charset="-122"/>
                <a:cs typeface="Pretendard" pitchFamily="34" charset="-120"/>
              </a:rPr>
              <a:t>Rline low</a:t>
            </a:r>
            <a:endParaRPr lang="en-US" sz="900" dirty="0"/>
          </a:p>
        </p:txBody>
      </p:sp>
      <p:sp>
        <p:nvSpPr>
          <p:cNvPr id="50" name="Text 45"/>
          <p:cNvSpPr txBox="1"/>
          <p:nvPr/>
        </p:nvSpPr>
        <p:spPr>
          <a:xfrm>
            <a:off x="990295" y="5134356"/>
            <a:ext cx="2667305" cy="277063"/>
          </a:xfrm>
          <a:prstGeom prst="rect">
            <a:avLst/>
          </a:prstGeom>
          <a:noFill/>
          <a:ln/>
        </p:spPr>
        <p:txBody>
          <a:bodyPr wrap="none" lIns="0" tIns="0" rIns="0" bIns="0" rtlCol="0" anchor="ctr"/>
          <a:lstStyle/>
          <a:p>
            <a:pPr algn="l" indent="0" marL="0">
              <a:buNone/>
            </a:pPr>
            <a:r>
              <a:rPr lang="en-US" sz="1500" b="1" dirty="0">
                <a:solidFill>
                  <a:srgbClr val="1B2535"/>
                </a:solidFill>
                <a:latin typeface="Pretendard" pitchFamily="34" charset="0"/>
                <a:ea typeface="Pretendard" pitchFamily="34" charset="-122"/>
                <a:cs typeface="Pretendard" pitchFamily="34" charset="-120"/>
              </a:rPr>
              <a:t>1.30 mΩ/μm</a:t>
            </a:r>
            <a:endParaRPr lang="en-US" sz="1500" dirty="0"/>
          </a:p>
        </p:txBody>
      </p:sp>
      <p:sp>
        <p:nvSpPr>
          <p:cNvPr id="51" name="Text 46"/>
          <p:cNvSpPr txBox="1"/>
          <p:nvPr/>
        </p:nvSpPr>
        <p:spPr>
          <a:xfrm>
            <a:off x="3847795" y="4953305"/>
            <a:ext cx="1905610" cy="162763"/>
          </a:xfrm>
          <a:prstGeom prst="rect">
            <a:avLst/>
          </a:prstGeom>
          <a:noFill/>
          <a:ln/>
        </p:spPr>
        <p:txBody>
          <a:bodyPr wrap="none" lIns="0" tIns="0" rIns="0" bIns="0" rtlCol="0" anchor="ctr"/>
          <a:lstStyle/>
          <a:p>
            <a:pPr algn="r" indent="0" marL="0">
              <a:buNone/>
            </a:pPr>
            <a:r>
              <a:rPr lang="en-US" sz="900" b="1" dirty="0">
                <a:solidFill>
                  <a:srgbClr val="3F6F52"/>
                </a:solidFill>
                <a:latin typeface="Pretendard" pitchFamily="34" charset="0"/>
                <a:ea typeface="Pretendard" pitchFamily="34" charset="-122"/>
                <a:cs typeface="Pretendard" pitchFamily="34" charset="-120"/>
              </a:rPr>
              <a:t>on W05</a:t>
            </a:r>
            <a:endParaRPr lang="en-US" sz="900" dirty="0"/>
          </a:p>
        </p:txBody>
      </p:sp>
      <p:sp>
        <p:nvSpPr>
          <p:cNvPr id="52" name="Text 47"/>
          <p:cNvSpPr txBox="1"/>
          <p:nvPr/>
        </p:nvSpPr>
        <p:spPr>
          <a:xfrm>
            <a:off x="3847795" y="5171846"/>
            <a:ext cx="1905610" cy="162763"/>
          </a:xfrm>
          <a:prstGeom prst="rect">
            <a:avLst/>
          </a:prstGeom>
          <a:noFill/>
          <a:ln/>
        </p:spPr>
        <p:txBody>
          <a:bodyPr wrap="none" lIns="0" tIns="0" rIns="0" bIns="0" rtlCol="0" anchor="ctr"/>
          <a:lstStyle/>
          <a:p>
            <a:pPr algn="r" indent="0" marL="0">
              <a:buNone/>
            </a:pPr>
            <a:r>
              <a:rPr lang="en-US" sz="900" dirty="0">
                <a:solidFill>
                  <a:srgbClr val="44546A"/>
                </a:solidFill>
                <a:latin typeface="Pretendard" pitchFamily="34" charset="0"/>
                <a:ea typeface="Pretendard" pitchFamily="34" charset="-122"/>
                <a:cs typeface="Pretendard" pitchFamily="34" charset="-120"/>
              </a:rPr>
              <a:t>참고: slide 08</a:t>
            </a:r>
            <a:endParaRPr lang="en-US" sz="900" dirty="0"/>
          </a:p>
        </p:txBody>
      </p:sp>
      <p:sp>
        <p:nvSpPr>
          <p:cNvPr id="53" name="Text 48"/>
          <p:cNvSpPr txBox="1"/>
          <p:nvPr/>
        </p:nvSpPr>
        <p:spPr>
          <a:xfrm>
            <a:off x="990295" y="5676595"/>
            <a:ext cx="2667305" cy="162763"/>
          </a:xfrm>
          <a:prstGeom prst="rect">
            <a:avLst/>
          </a:prstGeom>
          <a:noFill/>
          <a:ln/>
        </p:spPr>
        <p:txBody>
          <a:bodyPr wrap="none" lIns="0" tIns="0" rIns="0" bIns="0" rtlCol="0" anchor="ctr"/>
          <a:lstStyle/>
          <a:p>
            <a:pPr algn="l" indent="0" marL="0">
              <a:buNone/>
            </a:pPr>
            <a:r>
              <a:rPr lang="en-US" sz="900" spc="36" kern="0" dirty="0">
                <a:solidFill>
                  <a:srgbClr val="7A8898"/>
                </a:solidFill>
                <a:latin typeface="Pretendard" pitchFamily="34" charset="0"/>
                <a:ea typeface="Pretendard" pitchFamily="34" charset="-122"/>
                <a:cs typeface="Pretendard" pitchFamily="34" charset="-120"/>
              </a:rPr>
              <a:t>Ileak low</a:t>
            </a:r>
            <a:endParaRPr lang="en-US" sz="900" dirty="0"/>
          </a:p>
        </p:txBody>
      </p:sp>
      <p:sp>
        <p:nvSpPr>
          <p:cNvPr id="54" name="Text 49"/>
          <p:cNvSpPr txBox="1"/>
          <p:nvPr/>
        </p:nvSpPr>
        <p:spPr>
          <a:xfrm>
            <a:off x="990295" y="5857646"/>
            <a:ext cx="2667305" cy="277063"/>
          </a:xfrm>
          <a:prstGeom prst="rect">
            <a:avLst/>
          </a:prstGeom>
          <a:noFill/>
          <a:ln/>
        </p:spPr>
        <p:txBody>
          <a:bodyPr wrap="none" lIns="0" tIns="0" rIns="0" bIns="0" rtlCol="0" anchor="ctr"/>
          <a:lstStyle/>
          <a:p>
            <a:pPr algn="l" indent="0" marL="0">
              <a:buNone/>
            </a:pPr>
            <a:r>
              <a:rPr lang="en-US" sz="1500" b="1" dirty="0">
                <a:solidFill>
                  <a:srgbClr val="1B2535"/>
                </a:solidFill>
                <a:latin typeface="Pretendard" pitchFamily="34" charset="0"/>
                <a:ea typeface="Pretendard" pitchFamily="34" charset="-122"/>
                <a:cs typeface="Pretendard" pitchFamily="34" charset="-120"/>
              </a:rPr>
              <a:t>0.66 nA</a:t>
            </a:r>
            <a:endParaRPr lang="en-US" sz="1500" dirty="0"/>
          </a:p>
        </p:txBody>
      </p:sp>
      <p:sp>
        <p:nvSpPr>
          <p:cNvPr id="55" name="Text 50"/>
          <p:cNvSpPr txBox="1"/>
          <p:nvPr/>
        </p:nvSpPr>
        <p:spPr>
          <a:xfrm>
            <a:off x="3847795" y="5676595"/>
            <a:ext cx="1905610" cy="162763"/>
          </a:xfrm>
          <a:prstGeom prst="rect">
            <a:avLst/>
          </a:prstGeom>
          <a:noFill/>
          <a:ln/>
        </p:spPr>
        <p:txBody>
          <a:bodyPr wrap="none" lIns="0" tIns="0" rIns="0" bIns="0" rtlCol="0" anchor="ctr"/>
          <a:lstStyle/>
          <a:p>
            <a:pPr algn="r" indent="0" marL="0">
              <a:buNone/>
            </a:pPr>
            <a:r>
              <a:rPr lang="en-US" sz="900" b="1" dirty="0">
                <a:solidFill>
                  <a:srgbClr val="3F6F52"/>
                </a:solidFill>
                <a:latin typeface="Pretendard" pitchFamily="34" charset="0"/>
                <a:ea typeface="Pretendard" pitchFamily="34" charset="-122"/>
                <a:cs typeface="Pretendard" pitchFamily="34" charset="-120"/>
              </a:rPr>
              <a:t>−21 %</a:t>
            </a:r>
            <a:endParaRPr lang="en-US" sz="900" dirty="0"/>
          </a:p>
        </p:txBody>
      </p:sp>
      <p:sp>
        <p:nvSpPr>
          <p:cNvPr id="56" name="Text 51"/>
          <p:cNvSpPr txBox="1"/>
          <p:nvPr/>
        </p:nvSpPr>
        <p:spPr>
          <a:xfrm>
            <a:off x="3847795" y="5896051"/>
            <a:ext cx="1905610" cy="162763"/>
          </a:xfrm>
          <a:prstGeom prst="rect">
            <a:avLst/>
          </a:prstGeom>
          <a:noFill/>
          <a:ln/>
        </p:spPr>
        <p:txBody>
          <a:bodyPr wrap="none" lIns="0" tIns="0" rIns="0" bIns="0" rtlCol="0" anchor="ctr"/>
          <a:lstStyle/>
          <a:p>
            <a:pPr algn="r" indent="0" marL="0">
              <a:buNone/>
            </a:pPr>
            <a:r>
              <a:rPr lang="en-US" sz="900" dirty="0">
                <a:solidFill>
                  <a:srgbClr val="44546A"/>
                </a:solidFill>
                <a:latin typeface="Pretendard" pitchFamily="34" charset="0"/>
                <a:ea typeface="Pretendard" pitchFamily="34" charset="-122"/>
                <a:cs typeface="Pretendard" pitchFamily="34" charset="-120"/>
              </a:rPr>
              <a:t>참고: slide 08</a:t>
            </a:r>
            <a:endParaRPr lang="en-US" sz="900" dirty="0"/>
          </a:p>
        </p:txBody>
      </p:sp>
      <p:sp>
        <p:nvSpPr>
          <p:cNvPr id="57" name="Text 52"/>
          <p:cNvSpPr txBox="1"/>
          <p:nvPr/>
        </p:nvSpPr>
        <p:spPr>
          <a:xfrm>
            <a:off x="800100" y="6381598"/>
            <a:ext cx="5067605" cy="342900"/>
          </a:xfrm>
          <a:prstGeom prst="rect">
            <a:avLst/>
          </a:prstGeom>
          <a:noFill/>
          <a:ln/>
        </p:spPr>
        <p:txBody>
          <a:bodyPr wrap="square" lIns="0" tIns="0" rIns="0" bIns="0" rtlCol="0" anchor="ctr"/>
          <a:lstStyle/>
          <a:p>
            <a:pPr algn="l" indent="0" marL="0">
              <a:lnSpc>
                <a:spcPts val="1350"/>
              </a:lnSpc>
              <a:buNone/>
            </a:pPr>
            <a:r>
              <a:rPr lang="en-US" sz="900" dirty="0">
                <a:solidFill>
                  <a:srgbClr val="7A8898"/>
                </a:solidFill>
                <a:latin typeface="Pretendard" pitchFamily="34" charset="0"/>
                <a:ea typeface="Pretendard" pitchFamily="34" charset="-122"/>
                <a:cs typeface="Pretendard" pitchFamily="34" charset="-120"/>
              </a:rPr>
              <a:t>단일 hardmask 변수만 분기되었음에도 profile · CD · 전기 항목에서 cross-cutting 개선이 관찰됨 (dummy window, n=3 wafer / split).</a:t>
            </a:r>
            <a:endParaRPr lang="en-US" sz="900" dirty="0"/>
          </a:p>
        </p:txBody>
      </p:sp>
      <p:sp>
        <p:nvSpPr>
          <p:cNvPr id="58" name="Text 53"/>
          <p:cNvSpPr txBox="1"/>
          <p:nvPr/>
        </p:nvSpPr>
        <p:spPr>
          <a:xfrm>
            <a:off x="6610198" y="1752905"/>
            <a:ext cx="4572000" cy="305410"/>
          </a:xfrm>
          <a:prstGeom prst="rect">
            <a:avLst/>
          </a:prstGeom>
          <a:noFill/>
          <a:ln/>
        </p:spPr>
        <p:txBody>
          <a:bodyPr wrap="squar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02</a:t>
            </a:r>
            <a:pPr algn="l" indent="0" marL="0">
              <a:buNone/>
            </a:pPr>
            <a:r>
              <a:rPr lang="en-US" sz="1650" b="1" dirty="0">
                <a:solidFill>
                  <a:srgbClr val="FFFFFF"/>
                </a:solidFill>
                <a:latin typeface="Pretendard" pitchFamily="34" charset="0"/>
                <a:ea typeface="Pretendard" pitchFamily="34" charset="-122"/>
                <a:cs typeface="Pretendard" pitchFamily="34" charset="-120"/>
              </a:rPr>
              <a:t>잔존 우려</a:t>
            </a:r>
            <a:endParaRPr lang="en-US" sz="1200" dirty="0"/>
          </a:p>
        </p:txBody>
      </p:sp>
      <p:sp>
        <p:nvSpPr>
          <p:cNvPr id="59" name="Text 54"/>
          <p:cNvSpPr txBox="1"/>
          <p:nvPr/>
        </p:nvSpPr>
        <p:spPr>
          <a:xfrm>
            <a:off x="6610198" y="2286000"/>
            <a:ext cx="5067605" cy="228600"/>
          </a:xfrm>
          <a:prstGeom prst="rect">
            <a:avLst/>
          </a:prstGeom>
          <a:noFill/>
          <a:ln/>
        </p:spPr>
        <p:txBody>
          <a:bodyPr wrap="none" lIns="0" tIns="0" rIns="0" bIns="0" rtlCol="0" anchor="ctr"/>
          <a:lstStyle/>
          <a:p>
            <a:pPr algn="l" indent="0" marL="0">
              <a:buNone/>
            </a:pPr>
            <a:r>
              <a:rPr lang="en-US" sz="1350" b="1" dirty="0">
                <a:solidFill>
                  <a:srgbClr val="1B2535"/>
                </a:solidFill>
                <a:latin typeface="Pretendard" pitchFamily="34" charset="0"/>
                <a:ea typeface="Pretendard" pitchFamily="34" charset="-122"/>
                <a:cs typeface="Pretendard" pitchFamily="34" charset="-120"/>
              </a:rPr>
              <a:t>튠별 미세 패턴이 discipline 별 운용 결정 필요</a:t>
            </a:r>
            <a:endParaRPr lang="en-US" sz="1350" dirty="0"/>
          </a:p>
        </p:txBody>
      </p:sp>
      <p:sp>
        <p:nvSpPr>
          <p:cNvPr id="60" name="Text 55"/>
          <p:cNvSpPr txBox="1"/>
          <p:nvPr/>
        </p:nvSpPr>
        <p:spPr>
          <a:xfrm>
            <a:off x="6610198" y="2604211"/>
            <a:ext cx="5067605" cy="419710"/>
          </a:xfrm>
          <a:prstGeom prst="rect">
            <a:avLst/>
          </a:prstGeom>
          <a:noFill/>
          <a:ln/>
        </p:spPr>
        <p:txBody>
          <a:bodyPr wrap="square" lIns="0" tIns="0" rIns="0" bIns="0" rtlCol="0" anchor="ctr"/>
          <a:lstStyle/>
          <a:p>
            <a:pPr algn="l" indent="0" marL="0">
              <a:lnSpc>
                <a:spcPts val="1627"/>
              </a:lnSpc>
              <a:buNone/>
            </a:pPr>
            <a:r>
              <a:rPr lang="en-US" sz="1050" dirty="0">
                <a:solidFill>
                  <a:srgbClr val="44546A"/>
                </a:solidFill>
                <a:latin typeface="Pretendard" pitchFamily="34" charset="0"/>
                <a:ea typeface="Pretendard" pitchFamily="34" charset="-122"/>
                <a:cs typeface="Pretendard" pitchFamily="34" charset="-120"/>
              </a:rPr>
              <a:t>Split A tweak에 따라 결과가 갈렸고 W03 edge hot이 명백한 OOT 사례. Split B 단독 가속은 더 많은 데이터 필요.</a:t>
            </a:r>
            <a:endParaRPr lang="en-US" sz="1050" dirty="0"/>
          </a:p>
        </p:txBody>
      </p:sp>
      <p:sp>
        <p:nvSpPr>
          <p:cNvPr id="61" name="Text 56"/>
          <p:cNvSpPr txBox="1"/>
          <p:nvPr/>
        </p:nvSpPr>
        <p:spPr>
          <a:xfrm>
            <a:off x="6819595" y="3504895"/>
            <a:ext cx="4743907" cy="181051"/>
          </a:xfrm>
          <a:prstGeom prst="rect">
            <a:avLst/>
          </a:prstGeom>
          <a:noFill/>
          <a:ln/>
        </p:spPr>
        <p:txBody>
          <a:bodyPr wrap="none" lIns="0" tIns="0" rIns="0" bIns="0" rtlCol="0" anchor="ctr"/>
          <a:lstStyle/>
          <a:p>
            <a:pPr algn="l" indent="0" marL="0">
              <a:buNone/>
            </a:pPr>
            <a:r>
              <a:rPr lang="en-US" sz="975" b="1" dirty="0">
                <a:solidFill>
                  <a:srgbClr val="B47A1F"/>
                </a:solidFill>
                <a:latin typeface="Pretendard" pitchFamily="34" charset="0"/>
                <a:ea typeface="Pretendard" pitchFamily="34" charset="-122"/>
                <a:cs typeface="Pretendard" pitchFamily="34" charset="-120"/>
              </a:rPr>
              <a:t>W03 edge 편향</a:t>
            </a:r>
            <a:endParaRPr lang="en-US" sz="975" dirty="0"/>
          </a:p>
        </p:txBody>
      </p:sp>
      <p:sp>
        <p:nvSpPr>
          <p:cNvPr id="62" name="Text 57"/>
          <p:cNvSpPr txBox="1"/>
          <p:nvPr/>
        </p:nvSpPr>
        <p:spPr>
          <a:xfrm>
            <a:off x="6819595" y="3724351"/>
            <a:ext cx="5216652" cy="171907"/>
          </a:xfrm>
          <a:prstGeom prst="rect">
            <a:avLst/>
          </a:prstGeom>
          <a:noFill/>
          <a:ln/>
        </p:spPr>
        <p:txBody>
          <a:bodyPr wrap="none" lIns="0" tIns="0" rIns="0" bIns="0" rtlCol="0" anchor="ctr"/>
          <a:lstStyle/>
          <a:p>
            <a:pPr algn="l" indent="0" marL="0">
              <a:buNone/>
            </a:pPr>
            <a:r>
              <a:rPr lang="en-US" sz="900" dirty="0">
                <a:solidFill>
                  <a:srgbClr val="44546A"/>
                </a:solidFill>
                <a:latin typeface="Pretendard" pitchFamily="34" charset="0"/>
                <a:ea typeface="Pretendard" pitchFamily="34" charset="-122"/>
                <a:cs typeface="Pretendard" pitchFamily="34" charset="-120"/>
              </a:rPr>
              <a:t>Low bias tweak으로 profile 본체는 부드러워졌으나 가장자리 5 site가 +1 nm 이상 OOT.</a:t>
            </a:r>
            <a:endParaRPr lang="en-US" sz="900" dirty="0"/>
          </a:p>
        </p:txBody>
      </p:sp>
      <p:sp>
        <p:nvSpPr>
          <p:cNvPr id="63" name="Text 58"/>
          <p:cNvSpPr txBox="1"/>
          <p:nvPr/>
        </p:nvSpPr>
        <p:spPr>
          <a:xfrm>
            <a:off x="6819595" y="4229100"/>
            <a:ext cx="4743907" cy="181051"/>
          </a:xfrm>
          <a:prstGeom prst="rect">
            <a:avLst/>
          </a:prstGeom>
          <a:noFill/>
          <a:ln/>
        </p:spPr>
        <p:txBody>
          <a:bodyPr wrap="none" lIns="0" tIns="0" rIns="0" bIns="0" rtlCol="0" anchor="ctr"/>
          <a:lstStyle/>
          <a:p>
            <a:pPr algn="l" indent="0" marL="0">
              <a:buNone/>
            </a:pPr>
            <a:r>
              <a:rPr lang="en-US" sz="975" b="1" dirty="0">
                <a:solidFill>
                  <a:srgbClr val="B47A1F"/>
                </a:solidFill>
                <a:latin typeface="Pretendard" pitchFamily="34" charset="0"/>
                <a:ea typeface="Pretendard" pitchFamily="34" charset="-122"/>
                <a:cs typeface="Pretendard" pitchFamily="34" charset="-120"/>
              </a:rPr>
              <a:t>AASI Δ +0.30 (W03)</a:t>
            </a:r>
            <a:endParaRPr lang="en-US" sz="975" dirty="0"/>
          </a:p>
        </p:txBody>
      </p:sp>
      <p:sp>
        <p:nvSpPr>
          <p:cNvPr id="64" name="Text 59"/>
          <p:cNvSpPr txBox="1"/>
          <p:nvPr/>
        </p:nvSpPr>
        <p:spPr>
          <a:xfrm>
            <a:off x="6819595" y="4448556"/>
            <a:ext cx="4743907" cy="171907"/>
          </a:xfrm>
          <a:prstGeom prst="rect">
            <a:avLst/>
          </a:prstGeom>
          <a:noFill/>
          <a:ln/>
        </p:spPr>
        <p:txBody>
          <a:bodyPr wrap="none" lIns="0" tIns="0" rIns="0" bIns="0" rtlCol="0" anchor="ctr"/>
          <a:lstStyle/>
          <a:p>
            <a:pPr algn="l" indent="0" marL="0">
              <a:buNone/>
            </a:pPr>
            <a:r>
              <a:rPr lang="en-US" sz="900" dirty="0">
                <a:solidFill>
                  <a:srgbClr val="44546A"/>
                </a:solidFill>
                <a:latin typeface="Pretendard" pitchFamily="34" charset="0"/>
                <a:ea typeface="Pretendard" pitchFamily="34" charset="-122"/>
                <a:cs typeface="Pretendard" pitchFamily="34" charset="-120"/>
              </a:rPr>
              <a:t>Target 23.80 ± 0.40 거의 경계선 — split 안 tweak 사이 trade-off 존재.</a:t>
            </a:r>
            <a:endParaRPr lang="en-US" sz="900" dirty="0"/>
          </a:p>
        </p:txBody>
      </p:sp>
      <p:sp>
        <p:nvSpPr>
          <p:cNvPr id="65" name="Text 60"/>
          <p:cNvSpPr txBox="1"/>
          <p:nvPr/>
        </p:nvSpPr>
        <p:spPr>
          <a:xfrm>
            <a:off x="6819595" y="4953305"/>
            <a:ext cx="4743907" cy="181051"/>
          </a:xfrm>
          <a:prstGeom prst="rect">
            <a:avLst/>
          </a:prstGeom>
          <a:noFill/>
          <a:ln/>
        </p:spPr>
        <p:txBody>
          <a:bodyPr wrap="none" lIns="0" tIns="0" rIns="0" bIns="0" rtlCol="0" anchor="ctr"/>
          <a:lstStyle/>
          <a:p>
            <a:pPr algn="l" indent="0" marL="0">
              <a:buNone/>
            </a:pPr>
            <a:r>
              <a:rPr lang="en-US" sz="975" b="1" dirty="0">
                <a:solidFill>
                  <a:srgbClr val="B47A1F"/>
                </a:solidFill>
                <a:latin typeface="Pretendard" pitchFamily="34" charset="0"/>
                <a:ea typeface="Pretendard" pitchFamily="34" charset="-122"/>
                <a:cs typeface="Pretendard" pitchFamily="34" charset="-120"/>
              </a:rPr>
              <a:t>HM 잔존 SiN 정량</a:t>
            </a:r>
            <a:endParaRPr lang="en-US" sz="975" dirty="0"/>
          </a:p>
        </p:txBody>
      </p:sp>
      <p:sp>
        <p:nvSpPr>
          <p:cNvPr id="66" name="Text 61"/>
          <p:cNvSpPr txBox="1"/>
          <p:nvPr/>
        </p:nvSpPr>
        <p:spPr>
          <a:xfrm>
            <a:off x="6819595" y="5171846"/>
            <a:ext cx="4743907" cy="171907"/>
          </a:xfrm>
          <a:prstGeom prst="rect">
            <a:avLst/>
          </a:prstGeom>
          <a:noFill/>
          <a:ln/>
        </p:spPr>
        <p:txBody>
          <a:bodyPr wrap="none" lIns="0" tIns="0" rIns="0" bIns="0" rtlCol="0" anchor="ctr"/>
          <a:lstStyle/>
          <a:p>
            <a:pPr algn="l" indent="0" marL="0">
              <a:buNone/>
            </a:pPr>
            <a:r>
              <a:rPr lang="en-US" sz="900" dirty="0">
                <a:solidFill>
                  <a:srgbClr val="44546A"/>
                </a:solidFill>
                <a:latin typeface="Pretendard" pitchFamily="34" charset="0"/>
                <a:ea typeface="Pretendard" pitchFamily="34" charset="-122"/>
                <a:cs typeface="Pretendard" pitchFamily="34" charset="-120"/>
              </a:rPr>
              <a:t>W05 잔존 6.8 nm — 향후 via etch 호환성은 dataset 외부 검증 필요.</a:t>
            </a:r>
            <a:endParaRPr lang="en-US" sz="900" dirty="0"/>
          </a:p>
        </p:txBody>
      </p:sp>
      <p:sp>
        <p:nvSpPr>
          <p:cNvPr id="67" name="Text 62"/>
          <p:cNvSpPr txBox="1"/>
          <p:nvPr/>
        </p:nvSpPr>
        <p:spPr>
          <a:xfrm>
            <a:off x="6819595" y="5676595"/>
            <a:ext cx="4743907" cy="181051"/>
          </a:xfrm>
          <a:prstGeom prst="rect">
            <a:avLst/>
          </a:prstGeom>
          <a:noFill/>
          <a:ln/>
        </p:spPr>
        <p:txBody>
          <a:bodyPr wrap="none" lIns="0" tIns="0" rIns="0" bIns="0" rtlCol="0" anchor="ctr"/>
          <a:lstStyle/>
          <a:p>
            <a:pPr algn="l" indent="0" marL="0">
              <a:buNone/>
            </a:pPr>
            <a:r>
              <a:rPr lang="en-US" sz="975" b="1" dirty="0">
                <a:solidFill>
                  <a:srgbClr val="B47A1F"/>
                </a:solidFill>
                <a:latin typeface="Pretendard" pitchFamily="34" charset="0"/>
                <a:ea typeface="Pretendard" pitchFamily="34" charset="-122"/>
                <a:cs typeface="Pretendard" pitchFamily="34" charset="-120"/>
              </a:rPr>
              <a:t>Lot A1 단일 lot 한정</a:t>
            </a:r>
            <a:endParaRPr lang="en-US" sz="975" dirty="0"/>
          </a:p>
        </p:txBody>
      </p:sp>
      <p:sp>
        <p:nvSpPr>
          <p:cNvPr id="68" name="Text 63"/>
          <p:cNvSpPr txBox="1"/>
          <p:nvPr/>
        </p:nvSpPr>
        <p:spPr>
          <a:xfrm>
            <a:off x="6819595" y="5896051"/>
            <a:ext cx="4743907" cy="171907"/>
          </a:xfrm>
          <a:prstGeom prst="rect">
            <a:avLst/>
          </a:prstGeom>
          <a:noFill/>
          <a:ln/>
        </p:spPr>
        <p:txBody>
          <a:bodyPr wrap="none" lIns="0" tIns="0" rIns="0" bIns="0" rtlCol="0" anchor="ctr"/>
          <a:lstStyle/>
          <a:p>
            <a:pPr algn="l" indent="0" marL="0">
              <a:buNone/>
            </a:pPr>
            <a:r>
              <a:rPr lang="en-US" sz="900" dirty="0">
                <a:solidFill>
                  <a:srgbClr val="44546A"/>
                </a:solidFill>
                <a:latin typeface="Pretendard" pitchFamily="34" charset="0"/>
                <a:ea typeface="Pretendard" pitchFamily="34" charset="-122"/>
                <a:cs typeface="Pretendard" pitchFamily="34" charset="-120"/>
              </a:rPr>
              <a:t>n=3 wafer / split, 단일 lot — 본 수치는 일반화 판단 근거로 사용 불가.</a:t>
            </a:r>
            <a:endParaRPr lang="en-US" sz="900" dirty="0"/>
          </a:p>
        </p:txBody>
      </p:sp>
      <p:sp>
        <p:nvSpPr>
          <p:cNvPr id="69" name="Text 64"/>
          <p:cNvSpPr txBox="1"/>
          <p:nvPr/>
        </p:nvSpPr>
        <p:spPr>
          <a:xfrm>
            <a:off x="6610198" y="6381598"/>
            <a:ext cx="5518404" cy="171907"/>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Dummy report로 명시 · 데이터 외 인자 (tool offset, queue time, lot-to-lot)는 미포함.</a:t>
            </a:r>
            <a:endParaRPr lang="en-US" sz="900" dirty="0"/>
          </a:p>
        </p:txBody>
      </p:sp>
      <p:sp>
        <p:nvSpPr>
          <p:cNvPr id="70" name="Text 65"/>
          <p:cNvSpPr txBox="1"/>
          <p:nvPr/>
        </p:nvSpPr>
        <p:spPr>
          <a:xfrm>
            <a:off x="12420295" y="1752905"/>
            <a:ext cx="4572000" cy="305410"/>
          </a:xfrm>
          <a:prstGeom prst="rect">
            <a:avLst/>
          </a:prstGeom>
          <a:noFill/>
          <a:ln/>
        </p:spPr>
        <p:txBody>
          <a:bodyPr wrap="square" lIns="0" tIns="0" rIns="0" bIns="0" rtlCol="0" anchor="ctr"/>
          <a:lstStyle/>
          <a:p>
            <a:pPr algn="l" indent="0" marL="0">
              <a:buNone/>
            </a:pPr>
            <a:r>
              <a:rPr lang="en-US" sz="900" dirty="0">
                <a:solidFill>
                  <a:srgbClr val="FFFFFF"/>
                </a:solidFill>
                <a:latin typeface="Pretendard" pitchFamily="34" charset="0"/>
                <a:ea typeface="Pretendard" pitchFamily="34" charset="-122"/>
                <a:cs typeface="Pretendard" pitchFamily="34" charset="-120"/>
              </a:rPr>
              <a:t>03</a:t>
            </a:r>
            <a:pPr algn="l" indent="0" marL="0">
              <a:buNone/>
            </a:pPr>
            <a:r>
              <a:rPr lang="en-US" sz="1650" b="1" dirty="0">
                <a:solidFill>
                  <a:srgbClr val="FFFFFF"/>
                </a:solidFill>
                <a:latin typeface="Pretendard" pitchFamily="34" charset="0"/>
                <a:ea typeface="Pretendard" pitchFamily="34" charset="-122"/>
                <a:cs typeface="Pretendard" pitchFamily="34" charset="-120"/>
              </a:rPr>
              <a:t>후속 검증 권고</a:t>
            </a:r>
            <a:endParaRPr lang="en-US" sz="1200" dirty="0"/>
          </a:p>
        </p:txBody>
      </p:sp>
      <p:sp>
        <p:nvSpPr>
          <p:cNvPr id="71" name="Text 66"/>
          <p:cNvSpPr txBox="1"/>
          <p:nvPr/>
        </p:nvSpPr>
        <p:spPr>
          <a:xfrm>
            <a:off x="12420295" y="2286000"/>
            <a:ext cx="5067605" cy="228600"/>
          </a:xfrm>
          <a:prstGeom prst="rect">
            <a:avLst/>
          </a:prstGeom>
          <a:noFill/>
          <a:ln/>
        </p:spPr>
        <p:txBody>
          <a:bodyPr wrap="none" lIns="0" tIns="0" rIns="0" bIns="0" rtlCol="0" anchor="ctr"/>
          <a:lstStyle/>
          <a:p>
            <a:pPr algn="l" indent="0" marL="0">
              <a:buNone/>
            </a:pPr>
            <a:r>
              <a:rPr lang="en-US" sz="1350" b="1" dirty="0">
                <a:solidFill>
                  <a:srgbClr val="1B2535"/>
                </a:solidFill>
                <a:latin typeface="Pretendard" pitchFamily="34" charset="0"/>
                <a:ea typeface="Pretendard" pitchFamily="34" charset="-122"/>
                <a:cs typeface="Pretendard" pitchFamily="34" charset="-120"/>
              </a:rPr>
              <a:t>다음 dataset에서 테스트해볼 항목</a:t>
            </a:r>
            <a:endParaRPr lang="en-US" sz="1350" dirty="0"/>
          </a:p>
        </p:txBody>
      </p:sp>
      <p:sp>
        <p:nvSpPr>
          <p:cNvPr id="72" name="Text 67"/>
          <p:cNvSpPr txBox="1"/>
          <p:nvPr/>
        </p:nvSpPr>
        <p:spPr>
          <a:xfrm>
            <a:off x="12420295" y="2604211"/>
            <a:ext cx="5067605" cy="419710"/>
          </a:xfrm>
          <a:prstGeom prst="rect">
            <a:avLst/>
          </a:prstGeom>
          <a:noFill/>
          <a:ln/>
        </p:spPr>
        <p:txBody>
          <a:bodyPr wrap="square" lIns="0" tIns="0" rIns="0" bIns="0" rtlCol="0" anchor="ctr"/>
          <a:lstStyle/>
          <a:p>
            <a:pPr algn="l" indent="0" marL="0">
              <a:lnSpc>
                <a:spcPts val="1627"/>
              </a:lnSpc>
              <a:buNone/>
            </a:pPr>
            <a:r>
              <a:rPr lang="en-US" sz="1050" dirty="0">
                <a:solidFill>
                  <a:srgbClr val="44546A"/>
                </a:solidFill>
                <a:latin typeface="Pretendard" pitchFamily="34" charset="0"/>
                <a:ea typeface="Pretendard" pitchFamily="34" charset="-122"/>
                <a:cs typeface="Pretendard" pitchFamily="34" charset="-120"/>
              </a:rPr>
              <a:t>본 dummy lot 결과를 hint로만 활용. 후속 검증 항목은 별도 lot / chamber / 다중 measurement site 포함 필요.</a:t>
            </a:r>
            <a:endParaRPr lang="en-US" sz="1050" dirty="0"/>
          </a:p>
        </p:txBody>
      </p:sp>
      <p:sp>
        <p:nvSpPr>
          <p:cNvPr id="73" name="Text 68"/>
          <p:cNvSpPr txBox="1"/>
          <p:nvPr/>
        </p:nvSpPr>
        <p:spPr>
          <a:xfrm>
            <a:off x="12630607" y="3504895"/>
            <a:ext cx="4743907" cy="162763"/>
          </a:xfrm>
          <a:prstGeom prst="rect">
            <a:avLst/>
          </a:prstGeom>
          <a:noFill/>
          <a:ln/>
        </p:spPr>
        <p:txBody>
          <a:bodyPr wrap="none" lIns="0" tIns="0" rIns="0" bIns="0" rtlCol="0" anchor="ctr"/>
          <a:lstStyle/>
          <a:p>
            <a:pPr algn="l" indent="0" marL="0">
              <a:buNone/>
            </a:pPr>
            <a:r>
              <a:rPr lang="en-US" sz="900" b="1" spc="90" kern="0" dirty="0">
                <a:solidFill>
                  <a:srgbClr val="2E6F8E"/>
                </a:solidFill>
                <a:latin typeface="Pretendard" pitchFamily="34" charset="0"/>
                <a:ea typeface="Pretendard" pitchFamily="34" charset="-122"/>
                <a:cs typeface="Pretendard" pitchFamily="34" charset="-120"/>
              </a:rPr>
              <a:t>FOLLOW-UP · 1</a:t>
            </a:r>
            <a:endParaRPr lang="en-US" sz="900" dirty="0"/>
          </a:p>
        </p:txBody>
      </p:sp>
      <p:sp>
        <p:nvSpPr>
          <p:cNvPr id="74" name="Text 69"/>
          <p:cNvSpPr txBox="1"/>
          <p:nvPr/>
        </p:nvSpPr>
        <p:spPr>
          <a:xfrm>
            <a:off x="12630607" y="3705149"/>
            <a:ext cx="4743907" cy="181051"/>
          </a:xfrm>
          <a:prstGeom prst="rect">
            <a:avLst/>
          </a:prstGeom>
          <a:noFill/>
          <a:ln/>
        </p:spPr>
        <p:txBody>
          <a:bodyPr wrap="none" lIns="0" tIns="0" rIns="0" bIns="0" rtlCol="0" anchor="ctr"/>
          <a:lstStyle/>
          <a:p>
            <a:pPr algn="l" indent="0" marL="0">
              <a:buNone/>
            </a:pPr>
            <a:r>
              <a:rPr lang="en-US" sz="975" dirty="0">
                <a:solidFill>
                  <a:srgbClr val="44546A"/>
                </a:solidFill>
                <a:latin typeface="Pretendard" pitchFamily="34" charset="0"/>
                <a:ea typeface="Pretendard" pitchFamily="34" charset="-122"/>
                <a:cs typeface="Pretendard" pitchFamily="34" charset="-120"/>
              </a:rPr>
              <a:t>n ≥ 6 / split 으로 lot 재현성 1 회차 더</a:t>
            </a:r>
            <a:endParaRPr lang="en-US" sz="975" dirty="0"/>
          </a:p>
        </p:txBody>
      </p:sp>
      <p:sp>
        <p:nvSpPr>
          <p:cNvPr id="75" name="Text 70"/>
          <p:cNvSpPr txBox="1"/>
          <p:nvPr/>
        </p:nvSpPr>
        <p:spPr>
          <a:xfrm>
            <a:off x="12630607" y="4229100"/>
            <a:ext cx="4743907" cy="162763"/>
          </a:xfrm>
          <a:prstGeom prst="rect">
            <a:avLst/>
          </a:prstGeom>
          <a:noFill/>
          <a:ln/>
        </p:spPr>
        <p:txBody>
          <a:bodyPr wrap="none" lIns="0" tIns="0" rIns="0" bIns="0" rtlCol="0" anchor="ctr"/>
          <a:lstStyle/>
          <a:p>
            <a:pPr algn="l" indent="0" marL="0">
              <a:buNone/>
            </a:pPr>
            <a:r>
              <a:rPr lang="en-US" sz="900" b="1" spc="90" kern="0" dirty="0">
                <a:solidFill>
                  <a:srgbClr val="2E6F8E"/>
                </a:solidFill>
                <a:latin typeface="Pretendard" pitchFamily="34" charset="0"/>
                <a:ea typeface="Pretendard" pitchFamily="34" charset="-122"/>
                <a:cs typeface="Pretendard" pitchFamily="34" charset="-120"/>
              </a:rPr>
              <a:t>FOLLOW-UP · 2</a:t>
            </a:r>
            <a:endParaRPr lang="en-US" sz="900" dirty="0"/>
          </a:p>
        </p:txBody>
      </p:sp>
      <p:sp>
        <p:nvSpPr>
          <p:cNvPr id="76" name="Text 71"/>
          <p:cNvSpPr txBox="1"/>
          <p:nvPr/>
        </p:nvSpPr>
        <p:spPr>
          <a:xfrm>
            <a:off x="12630607" y="4429354"/>
            <a:ext cx="4743907" cy="181051"/>
          </a:xfrm>
          <a:prstGeom prst="rect">
            <a:avLst/>
          </a:prstGeom>
          <a:noFill/>
          <a:ln/>
        </p:spPr>
        <p:txBody>
          <a:bodyPr wrap="none" lIns="0" tIns="0" rIns="0" bIns="0" rtlCol="0" anchor="ctr"/>
          <a:lstStyle/>
          <a:p>
            <a:pPr algn="l" indent="0" marL="0">
              <a:buNone/>
            </a:pPr>
            <a:r>
              <a:rPr lang="en-US" sz="975" dirty="0">
                <a:solidFill>
                  <a:srgbClr val="44546A"/>
                </a:solidFill>
                <a:latin typeface="Pretendard" pitchFamily="34" charset="0"/>
                <a:ea typeface="Pretendard" pitchFamily="34" charset="-122"/>
                <a:cs typeface="Pretendard" pitchFamily="34" charset="-120"/>
              </a:rPr>
              <a:t>다양한 pitch (32 nm, 40 nm) 확장 평가</a:t>
            </a:r>
            <a:endParaRPr lang="en-US" sz="975" dirty="0"/>
          </a:p>
        </p:txBody>
      </p:sp>
      <p:sp>
        <p:nvSpPr>
          <p:cNvPr id="77" name="Text 72"/>
          <p:cNvSpPr txBox="1"/>
          <p:nvPr/>
        </p:nvSpPr>
        <p:spPr>
          <a:xfrm>
            <a:off x="12630607" y="4953305"/>
            <a:ext cx="4743907" cy="162763"/>
          </a:xfrm>
          <a:prstGeom prst="rect">
            <a:avLst/>
          </a:prstGeom>
          <a:noFill/>
          <a:ln/>
        </p:spPr>
        <p:txBody>
          <a:bodyPr wrap="none" lIns="0" tIns="0" rIns="0" bIns="0" rtlCol="0" anchor="ctr"/>
          <a:lstStyle/>
          <a:p>
            <a:pPr algn="l" indent="0" marL="0">
              <a:buNone/>
            </a:pPr>
            <a:r>
              <a:rPr lang="en-US" sz="900" b="1" spc="90" kern="0" dirty="0">
                <a:solidFill>
                  <a:srgbClr val="2E6F8E"/>
                </a:solidFill>
                <a:latin typeface="Pretendard" pitchFamily="34" charset="0"/>
                <a:ea typeface="Pretendard" pitchFamily="34" charset="-122"/>
                <a:cs typeface="Pretendard" pitchFamily="34" charset="-120"/>
              </a:rPr>
              <a:t>FOLLOW-UP · 3</a:t>
            </a:r>
            <a:endParaRPr lang="en-US" sz="900" dirty="0"/>
          </a:p>
        </p:txBody>
      </p:sp>
      <p:sp>
        <p:nvSpPr>
          <p:cNvPr id="78" name="Text 73"/>
          <p:cNvSpPr txBox="1"/>
          <p:nvPr/>
        </p:nvSpPr>
        <p:spPr>
          <a:xfrm>
            <a:off x="12630607" y="5152644"/>
            <a:ext cx="4743907" cy="181051"/>
          </a:xfrm>
          <a:prstGeom prst="rect">
            <a:avLst/>
          </a:prstGeom>
          <a:noFill/>
          <a:ln/>
        </p:spPr>
        <p:txBody>
          <a:bodyPr wrap="none" lIns="0" tIns="0" rIns="0" bIns="0" rtlCol="0" anchor="ctr"/>
          <a:lstStyle/>
          <a:p>
            <a:pPr algn="l" indent="0" marL="0">
              <a:buNone/>
            </a:pPr>
            <a:r>
              <a:rPr lang="en-US" sz="975" dirty="0">
                <a:solidFill>
                  <a:srgbClr val="44546A"/>
                </a:solidFill>
                <a:latin typeface="Pretendard" pitchFamily="34" charset="0"/>
                <a:ea typeface="Pretendard" pitchFamily="34" charset="-122"/>
                <a:cs typeface="Pretendard" pitchFamily="34" charset="-120"/>
              </a:rPr>
              <a:t>SiN 잔존 두께에 따른 via etch 정렬 정밀도</a:t>
            </a:r>
            <a:endParaRPr lang="en-US" sz="975" dirty="0"/>
          </a:p>
        </p:txBody>
      </p:sp>
      <p:sp>
        <p:nvSpPr>
          <p:cNvPr id="79" name="Text 74"/>
          <p:cNvSpPr txBox="1"/>
          <p:nvPr/>
        </p:nvSpPr>
        <p:spPr>
          <a:xfrm>
            <a:off x="12630607" y="5676595"/>
            <a:ext cx="4743907" cy="162763"/>
          </a:xfrm>
          <a:prstGeom prst="rect">
            <a:avLst/>
          </a:prstGeom>
          <a:noFill/>
          <a:ln/>
        </p:spPr>
        <p:txBody>
          <a:bodyPr wrap="none" lIns="0" tIns="0" rIns="0" bIns="0" rtlCol="0" anchor="ctr"/>
          <a:lstStyle/>
          <a:p>
            <a:pPr algn="l" indent="0" marL="0">
              <a:buNone/>
            </a:pPr>
            <a:r>
              <a:rPr lang="en-US" sz="900" b="1" spc="90" kern="0" dirty="0">
                <a:solidFill>
                  <a:srgbClr val="2E6F8E"/>
                </a:solidFill>
                <a:latin typeface="Pretendard" pitchFamily="34" charset="0"/>
                <a:ea typeface="Pretendard" pitchFamily="34" charset="-122"/>
                <a:cs typeface="Pretendard" pitchFamily="34" charset="-120"/>
              </a:rPr>
              <a:t>FOLLOW-UP · 4</a:t>
            </a:r>
            <a:endParaRPr lang="en-US" sz="900" dirty="0"/>
          </a:p>
        </p:txBody>
      </p:sp>
      <p:sp>
        <p:nvSpPr>
          <p:cNvPr id="80" name="Text 75"/>
          <p:cNvSpPr txBox="1"/>
          <p:nvPr/>
        </p:nvSpPr>
        <p:spPr>
          <a:xfrm>
            <a:off x="12630607" y="5876849"/>
            <a:ext cx="4743907" cy="181051"/>
          </a:xfrm>
          <a:prstGeom prst="rect">
            <a:avLst/>
          </a:prstGeom>
          <a:noFill/>
          <a:ln/>
        </p:spPr>
        <p:txBody>
          <a:bodyPr wrap="none" lIns="0" tIns="0" rIns="0" bIns="0" rtlCol="0" anchor="ctr"/>
          <a:lstStyle/>
          <a:p>
            <a:pPr algn="l" indent="0" marL="0">
              <a:buNone/>
            </a:pPr>
            <a:r>
              <a:rPr lang="en-US" sz="975" dirty="0">
                <a:solidFill>
                  <a:srgbClr val="44546A"/>
                </a:solidFill>
                <a:latin typeface="Pretendard" pitchFamily="34" charset="0"/>
                <a:ea typeface="Pretendard" pitchFamily="34" charset="-122"/>
                <a:cs typeface="Pretendard" pitchFamily="34" charset="-120"/>
              </a:rPr>
              <a:t>Ru metallization 전환 시 Wline 저항 cross-check</a:t>
            </a:r>
            <a:endParaRPr lang="en-US" sz="975" dirty="0"/>
          </a:p>
        </p:txBody>
      </p:sp>
      <p:sp>
        <p:nvSpPr>
          <p:cNvPr id="81" name="Text 76"/>
          <p:cNvSpPr txBox="1"/>
          <p:nvPr/>
        </p:nvSpPr>
        <p:spPr>
          <a:xfrm>
            <a:off x="12420295" y="6381598"/>
            <a:ext cx="5067605" cy="171907"/>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각 항목은 dummy 결과의 의도된 한계임을 인지한 상태로 별도 평가 설계 시 참고.</a:t>
            </a:r>
            <a:endParaRPr lang="en-US" sz="900" dirty="0"/>
          </a:p>
        </p:txBody>
      </p:sp>
      <p:sp>
        <p:nvSpPr>
          <p:cNvPr id="82" name="Text 77"/>
          <p:cNvSpPr txBox="1"/>
          <p:nvPr/>
        </p:nvSpPr>
        <p:spPr>
          <a:xfrm>
            <a:off x="800100" y="7696505"/>
            <a:ext cx="16193110" cy="181051"/>
          </a:xfrm>
          <a:prstGeom prst="rect">
            <a:avLst/>
          </a:prstGeom>
          <a:noFill/>
          <a:ln/>
        </p:spPr>
        <p:txBody>
          <a:bodyPr wrap="none" lIns="0" tIns="0" rIns="0" bIns="0" rtlCol="0" anchor="ctr"/>
          <a:lstStyle/>
          <a:p>
            <a:pPr algn="l" indent="0" marL="0">
              <a:buNone/>
            </a:pPr>
            <a:r>
              <a:rPr lang="en-US" sz="975" b="1" spc="273" kern="0" dirty="0">
                <a:solidFill>
                  <a:srgbClr val="1B2535"/>
                </a:solidFill>
                <a:latin typeface="Pretendard" pitchFamily="34" charset="0"/>
                <a:ea typeface="Pretendard" pitchFamily="34" charset="-122"/>
                <a:cs typeface="Pretendard" pitchFamily="34" charset="-120"/>
              </a:rPr>
              <a:t>CROSS-REFERENCE</a:t>
            </a:r>
            <a:endParaRPr lang="en-US" sz="975" dirty="0"/>
          </a:p>
        </p:txBody>
      </p:sp>
      <p:sp>
        <p:nvSpPr>
          <p:cNvPr id="83" name="Text 78"/>
          <p:cNvSpPr txBox="1"/>
          <p:nvPr/>
        </p:nvSpPr>
        <p:spPr>
          <a:xfrm>
            <a:off x="800100" y="8029346"/>
            <a:ext cx="16193110" cy="247802"/>
          </a:xfrm>
          <a:prstGeom prst="rect">
            <a:avLst/>
          </a:prstGeom>
          <a:noFill/>
          <a:ln/>
        </p:spPr>
        <p:txBody>
          <a:bodyPr wrap="none" lIns="0" tIns="0" rIns="0" bIns="0" rtlCol="0" anchor="ctr"/>
          <a:lstStyle/>
          <a:p>
            <a:pPr algn="l" indent="0" marL="0">
              <a:buNone/>
            </a:pPr>
            <a:r>
              <a:rPr lang="en-US" sz="1125" dirty="0">
                <a:solidFill>
                  <a:srgbClr val="44546A"/>
                </a:solidFill>
                <a:latin typeface="Pretendard" pitchFamily="34" charset="0"/>
                <a:ea typeface="Pretendard" pitchFamily="34" charset="-122"/>
                <a:cs typeface="Pretendard" pitchFamily="34" charset="-120"/>
              </a:rPr>
              <a:t>본 관찰은 슬라이드 03–08 데이터에 기반 · 관련: </a:t>
            </a:r>
            <a:pPr algn="l" indent="0" marL="0">
              <a:buNone/>
            </a:pPr>
            <a:r>
              <a:rPr lang="en-US" sz="1125" dirty="0">
                <a:solidFill>
                  <a:srgbClr val="2E6F8E"/>
                </a:solidFill>
                <a:latin typeface="Pretendard" pitchFamily="34" charset="0"/>
                <a:ea typeface="Pretendard" pitchFamily="34" charset="-122"/>
                <a:cs typeface="Pretendard" pitchFamily="34" charset="-120"/>
              </a:rPr>
              <a:t>03</a:t>
            </a:r>
            <a:pPr algn="l" indent="0" marL="0">
              <a:buNone/>
            </a:pPr>
            <a:r>
              <a:rPr lang="en-US" sz="1125" dirty="0">
                <a:solidFill>
                  <a:srgbClr val="44546A"/>
                </a:solidFill>
                <a:latin typeface="Pretendard" pitchFamily="34" charset="0"/>
                <a:ea typeface="Pretendard" pitchFamily="34" charset="-122"/>
                <a:cs typeface="Pretendard" pitchFamily="34" charset="-120"/>
              </a:rPr>
              <a:t>SEM / </a:t>
            </a:r>
            <a:pPr algn="l" indent="0" marL="0">
              <a:buNone/>
            </a:pPr>
            <a:r>
              <a:rPr lang="en-US" sz="1125" dirty="0">
                <a:solidFill>
                  <a:srgbClr val="2E6F8E"/>
                </a:solidFill>
                <a:latin typeface="Pretendard" pitchFamily="34" charset="0"/>
                <a:ea typeface="Pretendard" pitchFamily="34" charset="-122"/>
                <a:cs typeface="Pretendard" pitchFamily="34" charset="-120"/>
              </a:rPr>
              <a:t>04</a:t>
            </a:r>
            <a:pPr algn="l" indent="0" marL="0">
              <a:buNone/>
            </a:pPr>
            <a:r>
              <a:rPr lang="en-US" sz="1125" dirty="0">
                <a:solidFill>
                  <a:srgbClr val="44546A"/>
                </a:solidFill>
                <a:latin typeface="Pretendard" pitchFamily="34" charset="0"/>
                <a:ea typeface="Pretendard" pitchFamily="34" charset="-122"/>
                <a:cs typeface="Pretendard" pitchFamily="34" charset="-120"/>
              </a:rPr>
              <a:t>TEM / </a:t>
            </a:r>
            <a:pPr algn="l" indent="0" marL="0">
              <a:buNone/>
            </a:pPr>
            <a:r>
              <a:rPr lang="en-US" sz="1125" dirty="0">
                <a:solidFill>
                  <a:srgbClr val="2E6F8E"/>
                </a:solidFill>
                <a:latin typeface="Pretendard" pitchFamily="34" charset="0"/>
                <a:ea typeface="Pretendard" pitchFamily="34" charset="-122"/>
                <a:cs typeface="Pretendard" pitchFamily="34" charset="-120"/>
              </a:rPr>
              <a:t>05</a:t>
            </a:r>
            <a:pPr algn="l" indent="0" marL="0">
              <a:buNone/>
            </a:pPr>
            <a:r>
              <a:rPr lang="en-US" sz="1125" dirty="0">
                <a:solidFill>
                  <a:srgbClr val="44546A"/>
                </a:solidFill>
                <a:latin typeface="Pretendard" pitchFamily="34" charset="0"/>
                <a:ea typeface="Pretendard" pitchFamily="34" charset="-122"/>
                <a:cs typeface="Pretendard" pitchFamily="34" charset="-120"/>
              </a:rPr>
              <a:t>CD variation / </a:t>
            </a:r>
            <a:pPr algn="l" indent="0" marL="0">
              <a:buNone/>
            </a:pPr>
            <a:r>
              <a:rPr lang="en-US" sz="1125" dirty="0">
                <a:solidFill>
                  <a:srgbClr val="2E6F8E"/>
                </a:solidFill>
                <a:latin typeface="Pretendard" pitchFamily="34" charset="0"/>
                <a:ea typeface="Pretendard" pitchFamily="34" charset="-122"/>
                <a:cs typeface="Pretendard" pitchFamily="34" charset="-120"/>
              </a:rPr>
              <a:t>06</a:t>
            </a:r>
            <a:pPr algn="l" indent="0" marL="0">
              <a:buNone/>
            </a:pPr>
            <a:r>
              <a:rPr lang="en-US" sz="1125" dirty="0">
                <a:solidFill>
                  <a:srgbClr val="44546A"/>
                </a:solidFill>
                <a:latin typeface="Pretendard" pitchFamily="34" charset="0"/>
                <a:ea typeface="Pretendard" pitchFamily="34" charset="-122"/>
                <a:cs typeface="Pretendard" pitchFamily="34" charset="-120"/>
              </a:rPr>
              <a:t>in-wafer NU / </a:t>
            </a:r>
            <a:pPr algn="l" indent="0" marL="0">
              <a:buNone/>
            </a:pPr>
            <a:r>
              <a:rPr lang="en-US" sz="1125" dirty="0">
                <a:solidFill>
                  <a:srgbClr val="2E6F8E"/>
                </a:solidFill>
                <a:latin typeface="Pretendard" pitchFamily="34" charset="0"/>
                <a:ea typeface="Pretendard" pitchFamily="34" charset="-122"/>
                <a:cs typeface="Pretendard" pitchFamily="34" charset="-120"/>
              </a:rPr>
              <a:t>07</a:t>
            </a:r>
            <a:pPr algn="l" indent="0" marL="0">
              <a:buNone/>
            </a:pPr>
            <a:r>
              <a:rPr lang="en-US" sz="1125" dirty="0">
                <a:solidFill>
                  <a:srgbClr val="44546A"/>
                </a:solidFill>
                <a:latin typeface="Pretendard" pitchFamily="34" charset="0"/>
                <a:ea typeface="Pretendard" pitchFamily="34" charset="-122"/>
                <a:cs typeface="Pretendard" pitchFamily="34" charset="-120"/>
              </a:rPr>
              <a:t>25-pt map / </a:t>
            </a:r>
            <a:pPr algn="l" indent="0" marL="0">
              <a:buNone/>
            </a:pPr>
            <a:r>
              <a:rPr lang="en-US" sz="1125" dirty="0">
                <a:solidFill>
                  <a:srgbClr val="2E6F8E"/>
                </a:solidFill>
                <a:latin typeface="Pretendard" pitchFamily="34" charset="0"/>
                <a:ea typeface="Pretendard" pitchFamily="34" charset="-122"/>
                <a:cs typeface="Pretendard" pitchFamily="34" charset="-120"/>
              </a:rPr>
              <a:t>08</a:t>
            </a:r>
            <a:pPr algn="l" indent="0" marL="0">
              <a:buNone/>
            </a:pPr>
            <a:r>
              <a:rPr lang="en-US" sz="1125" dirty="0">
                <a:solidFill>
                  <a:srgbClr val="44546A"/>
                </a:solidFill>
                <a:latin typeface="Pretendard" pitchFamily="34" charset="0"/>
                <a:ea typeface="Pretendard" pitchFamily="34" charset="-122"/>
                <a:cs typeface="Pretendard" pitchFamily="34" charset="-120"/>
              </a:rPr>
              <a:t>Electrical</a:t>
            </a:r>
            <a:endParaRPr lang="en-US" sz="1125" dirty="0"/>
          </a:p>
        </p:txBody>
      </p:sp>
      <p:sp>
        <p:nvSpPr>
          <p:cNvPr id="84" name="Text 79"/>
          <p:cNvSpPr txBox="1"/>
          <p:nvPr/>
        </p:nvSpPr>
        <p:spPr>
          <a:xfrm>
            <a:off x="800100" y="8386877"/>
            <a:ext cx="16193110" cy="200254"/>
          </a:xfrm>
          <a:prstGeom prst="rect">
            <a:avLst/>
          </a:prstGeom>
          <a:noFill/>
          <a:ln/>
        </p:spPr>
        <p:txBody>
          <a:bodyPr wrap="none" lIns="0" tIns="0" rIns="0" bIns="0" rtlCol="0" anchor="ctr"/>
          <a:lstStyle/>
          <a:p>
            <a:pPr algn="l" indent="0" marL="0">
              <a:buNone/>
            </a:pPr>
            <a:r>
              <a:rPr lang="en-US" sz="975" dirty="0">
                <a:solidFill>
                  <a:srgbClr val="7A8898"/>
                </a:solidFill>
                <a:latin typeface="Pretendard" pitchFamily="34" charset="0"/>
                <a:ea typeface="Pretendard" pitchFamily="34" charset="-122"/>
                <a:cs typeface="Pretendard" pitchFamily="34" charset="-120"/>
              </a:rPr>
              <a:t>Dummy data report · 본 자료는 시스템 / 운영 의사결정 근거로 사용하지 않음.</a:t>
            </a:r>
            <a:endParaRPr lang="en-US" sz="975" dirty="0"/>
          </a:p>
        </p:txBody>
      </p:sp>
      <p:sp>
        <p:nvSpPr>
          <p:cNvPr id="85" name="Text 80"/>
          <p:cNvSpPr txBox="1"/>
          <p:nvPr/>
        </p:nvSpPr>
        <p:spPr>
          <a:xfrm>
            <a:off x="571500" y="381305"/>
            <a:ext cx="1619402" cy="191110"/>
          </a:xfrm>
          <a:prstGeom prst="rect">
            <a:avLst/>
          </a:prstGeom>
          <a:noFill/>
          <a:ln/>
        </p:spPr>
        <p:txBody>
          <a:bodyPr wrap="none" lIns="0" tIns="0" rIns="0" bIns="0" rtlCol="0" anchor="ctr"/>
          <a:lstStyle/>
          <a:p>
            <a:pPr algn="l" indent="0" marL="0">
              <a:buNone/>
            </a:pPr>
            <a:r>
              <a:rPr lang="en-US" sz="1050" spc="336" kern="0" dirty="0">
                <a:solidFill>
                  <a:srgbClr val="7A8898"/>
                </a:solidFill>
                <a:latin typeface="Pretendard" pitchFamily="34" charset="0"/>
                <a:ea typeface="Pretendard" pitchFamily="34" charset="-122"/>
                <a:cs typeface="Pretendard" pitchFamily="34" charset="-120"/>
              </a:rPr>
              <a:t>SET 09 / 09</a:t>
            </a:r>
            <a:endParaRPr lang="en-US" sz="1050" dirty="0"/>
          </a:p>
        </p:txBody>
      </p:sp>
      <p:sp>
        <p:nvSpPr>
          <p:cNvPr id="86" name="Text 81"/>
          <p:cNvSpPr txBox="1"/>
          <p:nvPr/>
        </p:nvSpPr>
        <p:spPr>
          <a:xfrm>
            <a:off x="571500" y="571500"/>
            <a:ext cx="14287500" cy="486461"/>
          </a:xfrm>
          <a:prstGeom prst="rect">
            <a:avLst/>
          </a:prstGeom>
          <a:noFill/>
          <a:ln/>
        </p:spPr>
        <p:txBody>
          <a:bodyPr wrap="none" lIns="0" tIns="0" rIns="0" bIns="0" rtlCol="0" anchor="ctr"/>
          <a:lstStyle/>
          <a:p>
            <a:pPr algn="l" indent="0" marL="0">
              <a:buNone/>
            </a:pPr>
            <a:r>
              <a:rPr lang="en-US" sz="3600" b="1" spc="-36" kern="0" dirty="0">
                <a:solidFill>
                  <a:srgbClr val="1B2535"/>
                </a:solidFill>
                <a:latin typeface="Pretendard" pitchFamily="34" charset="0"/>
                <a:ea typeface="Pretendard" pitchFamily="34" charset="-122"/>
                <a:cs typeface="Pretendard" pitchFamily="34" charset="-120"/>
              </a:rPr>
              <a:t>핵심 관찰 &amp; 시사점</a:t>
            </a:r>
            <a:endParaRPr lang="en-US" sz="3600" dirty="0"/>
          </a:p>
        </p:txBody>
      </p:sp>
      <p:sp>
        <p:nvSpPr>
          <p:cNvPr id="87" name="Text 82"/>
          <p:cNvSpPr txBox="1"/>
          <p:nvPr/>
        </p:nvSpPr>
        <p:spPr>
          <a:xfrm>
            <a:off x="12382805" y="571500"/>
            <a:ext cx="5334610" cy="181051"/>
          </a:xfrm>
          <a:prstGeom prst="rect">
            <a:avLst/>
          </a:prstGeom>
          <a:noFill/>
          <a:ln/>
        </p:spPr>
        <p:txBody>
          <a:bodyPr wrap="none" lIns="0" tIns="0" rIns="0" bIns="0" rtlCol="0" anchor="ctr"/>
          <a:lstStyle/>
          <a:p>
            <a:pPr algn="r" indent="0" marL="0">
              <a:buNone/>
            </a:pPr>
            <a:r>
              <a:rPr lang="en-US" sz="975" spc="176" kern="0" dirty="0">
                <a:solidFill>
                  <a:srgbClr val="7A8898"/>
                </a:solidFill>
                <a:latin typeface="Pretendard" pitchFamily="34" charset="0"/>
                <a:ea typeface="Pretendard" pitchFamily="34" charset="-122"/>
                <a:cs typeface="Pretendard" pitchFamily="34" charset="-120"/>
              </a:rPr>
              <a:t>OBSERVATION &amp; IMPLICATIONS</a:t>
            </a:r>
            <a:endParaRPr lang="en-US" sz="975" dirty="0"/>
          </a:p>
        </p:txBody>
      </p:sp>
      <p:sp>
        <p:nvSpPr>
          <p:cNvPr id="88" name="Text 83"/>
          <p:cNvSpPr txBox="1"/>
          <p:nvPr/>
        </p:nvSpPr>
        <p:spPr>
          <a:xfrm>
            <a:off x="800100" y="9296705"/>
            <a:ext cx="16193110" cy="200254"/>
          </a:xfrm>
          <a:prstGeom prst="rect">
            <a:avLst/>
          </a:prstGeom>
          <a:noFill/>
          <a:ln/>
        </p:spPr>
        <p:txBody>
          <a:bodyPr wrap="none" lIns="0" tIns="0" rIns="0" bIns="0" rtlCol="0" anchor="ctr"/>
          <a:lstStyle/>
          <a:p>
            <a:pPr algn="l" indent="0" marL="0">
              <a:buNone/>
            </a:pPr>
            <a:r>
              <a:rPr lang="en-US" sz="825" dirty="0">
                <a:solidFill>
                  <a:srgbClr val="FFFFFF"/>
                </a:solidFill>
                <a:latin typeface="Pretendard" pitchFamily="34" charset="0"/>
                <a:ea typeface="Pretendard" pitchFamily="34" charset="-122"/>
                <a:cs typeface="Pretendard" pitchFamily="34" charset="-120"/>
              </a:rPr>
              <a:t>KEY TAKEAWAY</a:t>
            </a:r>
            <a:pPr algn="l" indent="0" marL="0">
              <a:buNone/>
            </a:pPr>
            <a:r>
              <a:rPr lang="en-US" sz="1125" dirty="0">
                <a:solidFill>
                  <a:srgbClr val="FFFFFF"/>
                </a:solidFill>
                <a:latin typeface="Pretendard" pitchFamily="34" charset="0"/>
                <a:ea typeface="Pretendard" pitchFamily="34" charset="-122"/>
                <a:cs typeface="Pretendard" pitchFamily="34" charset="-120"/>
              </a:rPr>
              <a:t> dummy window이지만 a-C/SiN이 4가지 항목에서 cross-cutting 개선 — 현장 채택은 별도 lot / Ru 호환성 검증 후 결정 필요.</a:t>
            </a:r>
            <a:endParaRPr lang="en-US" sz="1125" dirty="0"/>
          </a:p>
        </p:txBody>
      </p:sp>
      <p:sp>
        <p:nvSpPr>
          <p:cNvPr id="89" name="Text 84"/>
          <p:cNvSpPr txBox="1"/>
          <p:nvPr/>
        </p:nvSpPr>
        <p:spPr>
          <a:xfrm>
            <a:off x="571500" y="9829800"/>
            <a:ext cx="12382805" cy="162763"/>
          </a:xfrm>
          <a:prstGeom prst="rect">
            <a:avLst/>
          </a:prstGeom>
          <a:noFill/>
          <a:ln/>
        </p:spPr>
        <p:txBody>
          <a:bodyPr wrap="none" lIns="0" tIns="0" rIns="0" bIns="0" rtlCol="0" anchor="ctr"/>
          <a:lstStyle/>
          <a:p>
            <a:pPr algn="l" indent="0" marL="0">
              <a:buNone/>
            </a:pPr>
            <a:r>
              <a:rPr lang="en-US" sz="900" dirty="0">
                <a:solidFill>
                  <a:srgbClr val="7A8898"/>
                </a:solidFill>
                <a:latin typeface="Pretendard" pitchFamily="34" charset="0"/>
                <a:ea typeface="Pretendard" pitchFamily="34" charset="-122"/>
                <a:cs typeface="Pretendard" pitchFamily="34" charset="-120"/>
              </a:rPr>
              <a:t>※ 내부 테스트용 더미(가상) 데이터 — 본 자료는 의사결정 근거가 아님</a:t>
            </a:r>
            <a:endParaRPr lang="en-US" sz="900" dirty="0"/>
          </a:p>
        </p:txBody>
      </p:sp>
      <p:sp>
        <p:nvSpPr>
          <p:cNvPr id="90" name="Text 85"/>
          <p:cNvSpPr txBox="1"/>
          <p:nvPr/>
        </p:nvSpPr>
        <p:spPr>
          <a:xfrm>
            <a:off x="16192195" y="9829800"/>
            <a:ext cx="1524305" cy="162763"/>
          </a:xfrm>
          <a:prstGeom prst="rect">
            <a:avLst/>
          </a:prstGeom>
          <a:noFill/>
          <a:ln/>
        </p:spPr>
        <p:txBody>
          <a:bodyPr wrap="none" lIns="0" tIns="0" rIns="0" bIns="0" rtlCol="0" anchor="ctr"/>
          <a:lstStyle/>
          <a:p>
            <a:pPr algn="r" indent="0" marL="0">
              <a:buNone/>
            </a:pPr>
            <a:r>
              <a:rPr lang="en-US" sz="900" dirty="0">
                <a:solidFill>
                  <a:srgbClr val="7A8898"/>
                </a:solidFill>
                <a:latin typeface="Pretendard" pitchFamily="34" charset="0"/>
                <a:ea typeface="Pretendard" pitchFamily="34" charset="-122"/>
                <a:cs typeface="Pretendard" pitchFamily="34" charset="-120"/>
              </a:rPr>
              <a:t>09 / 09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2026-10-04T07:25:19Z</dcterms:created>
  <dcterms:modified xsi:type="dcterms:W3CDTF">2026-10-04T07:25:19Z</dcterms:modified>
</cp:coreProperties>
</file>