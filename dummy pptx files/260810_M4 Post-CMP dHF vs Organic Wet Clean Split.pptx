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슬라이드는 평가 실험의 목적과 조건을 요약한다. M4 metal layer, 300 mm wafer 3매, split은 W1·W3=dHF / W2=organic의 구성이다.
본 자료는 dummy data임을 전제로, CD 균일도·in-wafer 분포·전기특성을 정량 비교하는 것이 목적이다.
Bath temp·process time·measurement는 통제 변수로 고정값을 사용했다. 포커스 영역은 4개 CD 메트릭 + 49-site 분포 + line/via/EM 전기특성이다.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슬라이드는 M4 단면의 SEM 광역 이미지와 TEM profile 이미지를 통해 두 split을 정성적으로 비교한다.
SEM 이미지는 wide field overview로 damascene line의 균일성을 reference로 활용한다. TEM 이미지는 via chain 단면에서 profile bowing과 잔류물을 확인한다.
두 split 모두 stack integrity는 유지되지만, organic wafer의 profile bowing이 다소 좁고 잔류물 관찰 수준이 작다.
출처는 Semiconductor Digest reference와 Springer Interconnect Processing chapter를 사용했다.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CD Variation 평가는 4개 메트릭 — AASI(target 24.4), ASEI(18.9), AMI(8.9), ACI(8.7)에 대해 wafer별 mean / 3σ / range / Δ-target 을 표로 보여준다.
좌측 카드는 top CD 메트릭(AASI/ASEI), 우측 카드는 mid/lower CD 메트릭(AMI/ACI)을 담았다.
organic wafer(W2)는 4개 메트릭 모두 mean이 target에 가장 가까우며 3σ도 가장 좁다.
dHF wafer(W1, W3)는 평균적으로 +0.11~+0.28 nm positive bias를 보인다 — bias 자체보다 3σ의 분포 차이가 주목할 점이다.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In-wafer uniformity 평가는 WIWNU와 WIDNU로 분리해 4개 metric을 보여준다.
WIWNU(좌측 카드)는 AASI/AMI within-wafer 비균일도, WIDNU(우측 카드)는 ASEI/ACI site-to-site σ다.
organic wafer(W2)는 4개 메트릭 모두 최소값을 가진다. Δ(W1−W2) 컬럼은 dHF 대비 organic의 절대 개선폭을 보여준다.
본 dummy 데이터에서 organic split은 WIWNU 약 +0.92~+0.97%p, WIDNU +0.79~+0.87%p의 우위를 보인다.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49점 wafer map 슬라이드 — AASI delta-CD를 7×7 grid로 시각화했다.
좌측 상단은 W1(dHF), 좌측 하단은 W2(organic), 우측 큰 영역은 W3(dHF 반복) + observation + cross-compare.
컬러 단계는 5단계 — deep sage, mid sage, cream, tan, terracotta.
organic map은 cream/sage band 안으로 정렬되며 분포 폭이 좁고, dHF wafer들은 edge 영역에서 +0.10 이상의 hot band가 관찰된다.
W1과 W3는 같은 dHF split이지만 반복성 차이로 W3가 약간 덜 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전기 특성은 line·via·EM MTTF·via leakage 4 metric을 table로 보여준다.
상단은 line, via table 좌우 배치, 하단은 EM card(다크, 3 rows) + leakage card(라이트, 1 row 3 cols) 배치.
W2(organic)는 reference로 Δ 컬럼 옆에 명시되며 dummy 데이터에서 4 metric 모두 우위.
dHF wafer(W1·W3)는 EM MTTF−15~−18%, leak 36~38 pA 수준.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4287500" y="761695"/>
            <a:ext cx="3238805" cy="914400"/>
          </a:xfrm>
          <a:prstGeom prst="rect">
            <a:avLst/>
          </a:prstGeom>
          <a:solidFill>
            <a:srgbClr val="1F23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190902"/>
            <a:ext cx="9905695" cy="6096305"/>
          </a:xfrm>
          <a:prstGeom prst="rect">
            <a:avLst/>
          </a:prstGeom>
          <a:solidFill>
            <a:srgbClr val="1F23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239805" y="2190902"/>
            <a:ext cx="6305702" cy="6115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8553298"/>
            <a:ext cx="16402507" cy="780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pic>
        <p:nvPicPr>
          <p:cNvPr id="7" name="Image 0" descr="gen-dedup-15661d39221ff9f646db33459d57d55f.png">    </p:cNvPr>
          <p:cNvPicPr>
            <a:picLocks noChangeAspect="1"/>
          </p:cNvPicPr>
          <p:nvPr/>
        </p:nvPicPr>
        <p:blipFill>
          <a:blip r:embed="rId1"/>
          <a:srcRect l="0" r="0" t="-204" b="-204"/>
          <a:stretch/>
        </p:blipFill>
        <p:spPr>
          <a:xfrm>
            <a:off x="952805" y="2190902"/>
            <a:ext cx="75895" cy="6096305"/>
          </a:xfrm>
          <a:prstGeom prst="rect">
            <a:avLst/>
          </a:prstGeom>
        </p:spPr>
      </p:pic>
      <p:pic>
        <p:nvPicPr>
          <p:cNvPr id="8" name="Image 1" descr="gen-dedup-9b37ba03a4a88d4c4063bcf2a33a32dc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1582705" y="7524598"/>
            <a:ext cx="5715000" cy="9144"/>
          </a:xfrm>
          <a:prstGeom prst="rect">
            <a:avLst/>
          </a:prstGeom>
        </p:spPr>
      </p:pic>
      <p:pic>
        <p:nvPicPr>
          <p:cNvPr id="9" name="Image 2" descr="gen-dedup-b04451cfe695b2385ed3c06b7f5a85cd.png">    </p:cNvPr>
          <p:cNvPicPr>
            <a:picLocks noChangeAspect="1"/>
          </p:cNvPicPr>
          <p:nvPr/>
        </p:nvPicPr>
        <p:blipFill>
          <a:blip r:embed="rId3"/>
          <a:srcRect l="-420" r="-420" t="0" b="0"/>
          <a:stretch/>
        </p:blipFill>
        <p:spPr>
          <a:xfrm>
            <a:off x="952805" y="8553298"/>
            <a:ext cx="57607" cy="76169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52805" y="666598"/>
            <a:ext cx="12382805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실험 목적 및 조건</a:t>
            </a:r>
            <a:endParaRPr lang="en-US" sz="4050" dirty="0"/>
          </a:p>
        </p:txBody>
      </p:sp>
      <p:sp>
        <p:nvSpPr>
          <p:cNvPr id="11" name="Text 5"/>
          <p:cNvSpPr txBox="1"/>
          <p:nvPr/>
        </p:nvSpPr>
        <p:spPr>
          <a:xfrm>
            <a:off x="952805" y="1410005"/>
            <a:ext cx="12382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M4 metal layer · dHF vs organic wet clean split · 3 wafers</a:t>
            </a:r>
            <a:endParaRPr lang="en-US" sz="1800" dirty="0"/>
          </a:p>
        </p:txBody>
      </p:sp>
      <p:sp>
        <p:nvSpPr>
          <p:cNvPr id="12" name="Text 6"/>
          <p:cNvSpPr txBox="1"/>
          <p:nvPr/>
        </p:nvSpPr>
        <p:spPr>
          <a:xfrm>
            <a:off x="14477695" y="914400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B5C9B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Lot matrix</a:t>
            </a:r>
            <a:endParaRPr lang="en-US" sz="1350" dirty="0"/>
          </a:p>
        </p:txBody>
      </p:sp>
      <p:sp>
        <p:nvSpPr>
          <p:cNvPr id="13" name="Text 7"/>
          <p:cNvSpPr txBox="1"/>
          <p:nvPr/>
        </p:nvSpPr>
        <p:spPr>
          <a:xfrm>
            <a:off x="14477695" y="1190549"/>
            <a:ext cx="2857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wafer · 0 lot</a:t>
            </a:r>
            <a:endParaRPr lang="en-US" sz="2250" dirty="0"/>
          </a:p>
        </p:txBody>
      </p:sp>
      <p:sp>
        <p:nvSpPr>
          <p:cNvPr id="14" name="Text 8"/>
          <p:cNvSpPr txBox="1"/>
          <p:nvPr/>
        </p:nvSpPr>
        <p:spPr>
          <a:xfrm>
            <a:off x="1333195" y="2476195"/>
            <a:ext cx="5334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C68B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— purpose</a:t>
            </a:r>
            <a:endParaRPr lang="en-US" sz="1350" dirty="0"/>
          </a:p>
        </p:txBody>
      </p:sp>
      <p:sp>
        <p:nvSpPr>
          <p:cNvPr id="15" name="Text 9"/>
          <p:cNvSpPr txBox="1"/>
          <p:nvPr/>
        </p:nvSpPr>
        <p:spPr>
          <a:xfrm>
            <a:off x="1333195" y="2829154"/>
            <a:ext cx="53346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실험 목적</a:t>
            </a:r>
            <a:endParaRPr lang="en-US" sz="3450" dirty="0"/>
          </a:p>
        </p:txBody>
      </p:sp>
      <p:sp>
        <p:nvSpPr>
          <p:cNvPr id="16" name="Text 10"/>
          <p:cNvSpPr txBox="1"/>
          <p:nvPr/>
        </p:nvSpPr>
        <p:spPr>
          <a:xfrm>
            <a:off x="1333195" y="3418027"/>
            <a:ext cx="533461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B5C9B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M4 layer post-CMP wet clean이 CD 균일도와</a:t>
            </a:r>
            <a:pPr algn="l" indent="0" marL="0">
              <a:lnSpc>
                <a:spcPts val="2392"/>
              </a:lnSpc>
              <a:buNone/>
            </a:pPr>
            <a:endParaRPr lang="en-US" sz="1650" dirty="0"/>
          </a:p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B5C9B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line/via 전기특성에 미치는 영향을 정량 비교</a:t>
            </a:r>
            <a:endParaRPr lang="en-US" sz="1650" dirty="0"/>
          </a:p>
        </p:txBody>
      </p:sp>
      <p:sp>
        <p:nvSpPr>
          <p:cNvPr id="17" name="Text 11"/>
          <p:cNvSpPr txBox="1"/>
          <p:nvPr/>
        </p:nvSpPr>
        <p:spPr>
          <a:xfrm>
            <a:off x="1333195" y="4476902"/>
            <a:ext cx="5715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68B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A1</a:t>
            </a:r>
            <a:endParaRPr lang="en-US" sz="2250" dirty="0"/>
          </a:p>
        </p:txBody>
      </p:sp>
      <p:sp>
        <p:nvSpPr>
          <p:cNvPr id="18" name="Text 12"/>
          <p:cNvSpPr txBox="1"/>
          <p:nvPr/>
        </p:nvSpPr>
        <p:spPr>
          <a:xfrm>
            <a:off x="1904695" y="4476902"/>
            <a:ext cx="87636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dHF 기반 wet clean 대비 organic chemistry가 CD mean / 3σ / within-wafer uniformity 개선 효과 검증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333195" y="5349240"/>
            <a:ext cx="571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68B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A2</a:t>
            </a:r>
            <a:endParaRPr lang="en-US" sz="2250" dirty="0"/>
          </a:p>
        </p:txBody>
      </p:sp>
      <p:sp>
        <p:nvSpPr>
          <p:cNvPr id="20" name="Text 14"/>
          <p:cNvSpPr txBox="1"/>
          <p:nvPr/>
        </p:nvSpPr>
        <p:spPr>
          <a:xfrm>
            <a:off x="1904695" y="5349240"/>
            <a:ext cx="8763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AASI · ASEI · AMI · ACI 4개 CD 메트릭에서 wafer-by-wafer 정량 비교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1333195" y="5939942"/>
            <a:ext cx="571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68B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A3</a:t>
            </a:r>
            <a:endParaRPr lang="en-US" sz="2250" dirty="0"/>
          </a:p>
        </p:txBody>
      </p:sp>
      <p:sp>
        <p:nvSpPr>
          <p:cNvPr id="22" name="Text 16"/>
          <p:cNvSpPr txBox="1"/>
          <p:nvPr/>
        </p:nvSpPr>
        <p:spPr>
          <a:xfrm>
            <a:off x="1904695" y="5939942"/>
            <a:ext cx="8763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49-site wafer map 기반 in-wafer uniformity 분포 가시화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333195" y="6530645"/>
            <a:ext cx="571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68B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A4</a:t>
            </a:r>
            <a:endParaRPr lang="en-US" sz="2250" dirty="0"/>
          </a:p>
        </p:txBody>
      </p:sp>
      <p:sp>
        <p:nvSpPr>
          <p:cNvPr id="24" name="Text 18"/>
          <p:cNvSpPr txBox="1"/>
          <p:nvPr/>
        </p:nvSpPr>
        <p:spPr>
          <a:xfrm>
            <a:off x="1904695" y="6530645"/>
            <a:ext cx="8763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line 저항 · via 저항 · EM MTTF 전기특성에 대한 split 영향 평가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11582705" y="2476195"/>
            <a:ext cx="5715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BC56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— conditions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1582705" y="2829154"/>
            <a:ext cx="57150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31" kern="0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실험 조건</a:t>
            </a:r>
            <a:endParaRPr lang="en-US" sz="3150" dirty="0"/>
          </a:p>
        </p:txBody>
      </p:sp>
      <p:sp>
        <p:nvSpPr>
          <p:cNvPr id="27" name="Text 21"/>
          <p:cNvSpPr txBox="1"/>
          <p:nvPr/>
        </p:nvSpPr>
        <p:spPr>
          <a:xfrm>
            <a:off x="11582705" y="3619195"/>
            <a:ext cx="16002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Metal layer</a:t>
            </a:r>
            <a:endParaRPr lang="en-US" sz="1575" dirty="0"/>
          </a:p>
        </p:txBody>
      </p:sp>
      <p:sp>
        <p:nvSpPr>
          <p:cNvPr id="28" name="Text 22"/>
          <p:cNvSpPr txBox="1"/>
          <p:nvPr/>
        </p:nvSpPr>
        <p:spPr>
          <a:xfrm>
            <a:off x="13182905" y="3619195"/>
            <a:ext cx="41148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B1F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M4</a:t>
            </a:r>
            <a:endParaRPr lang="en-US" sz="1725" dirty="0"/>
          </a:p>
        </p:txBody>
      </p:sp>
      <p:sp>
        <p:nvSpPr>
          <p:cNvPr id="29" name="Text 23"/>
          <p:cNvSpPr txBox="1"/>
          <p:nvPr/>
        </p:nvSpPr>
        <p:spPr>
          <a:xfrm>
            <a:off x="11582705" y="4058107"/>
            <a:ext cx="16002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Wafer</a:t>
            </a:r>
            <a:endParaRPr lang="en-US" sz="1575" dirty="0"/>
          </a:p>
        </p:txBody>
      </p:sp>
      <p:sp>
        <p:nvSpPr>
          <p:cNvPr id="30" name="Text 24"/>
          <p:cNvSpPr txBox="1"/>
          <p:nvPr/>
        </p:nvSpPr>
        <p:spPr>
          <a:xfrm>
            <a:off x="13182905" y="4058107"/>
            <a:ext cx="41148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B1F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ea · 300 mm</a:t>
            </a:r>
            <a:endParaRPr lang="en-US" sz="1725" dirty="0"/>
          </a:p>
        </p:txBody>
      </p:sp>
      <p:sp>
        <p:nvSpPr>
          <p:cNvPr id="31" name="Text 25"/>
          <p:cNvSpPr txBox="1"/>
          <p:nvPr/>
        </p:nvSpPr>
        <p:spPr>
          <a:xfrm>
            <a:off x="11582705" y="4496105"/>
            <a:ext cx="16002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Split A</a:t>
            </a:r>
            <a:endParaRPr lang="en-US" sz="1575" dirty="0"/>
          </a:p>
        </p:txBody>
      </p:sp>
      <p:sp>
        <p:nvSpPr>
          <p:cNvPr id="32" name="Shape 26"/>
          <p:cNvSpPr/>
          <p:nvPr/>
        </p:nvSpPr>
        <p:spPr>
          <a:xfrm>
            <a:off x="13182905" y="4581144"/>
            <a:ext cx="133502" cy="133502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13411505" y="4505249"/>
            <a:ext cx="1714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B1F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dHF · wafer 1</a:t>
            </a:r>
            <a:endParaRPr lang="en-US" sz="1725" dirty="0"/>
          </a:p>
        </p:txBody>
      </p:sp>
      <p:sp>
        <p:nvSpPr>
          <p:cNvPr id="34" name="Text 28"/>
          <p:cNvSpPr txBox="1"/>
          <p:nvPr/>
        </p:nvSpPr>
        <p:spPr>
          <a:xfrm>
            <a:off x="11582705" y="4934102"/>
            <a:ext cx="16002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Split B</a:t>
            </a:r>
            <a:endParaRPr lang="en-US" sz="1575" dirty="0"/>
          </a:p>
        </p:txBody>
      </p:sp>
      <p:sp>
        <p:nvSpPr>
          <p:cNvPr id="35" name="Shape 29"/>
          <p:cNvSpPr/>
          <p:nvPr/>
        </p:nvSpPr>
        <p:spPr>
          <a:xfrm>
            <a:off x="13182905" y="5020056"/>
            <a:ext cx="133502" cy="133502"/>
          </a:xfrm>
          <a:prstGeom prst="rect">
            <a:avLst/>
          </a:prstGeom>
          <a:solidFill>
            <a:srgbClr val="3E6B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13411505" y="4943246"/>
            <a:ext cx="2238451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B1F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organic · wafer 2</a:t>
            </a:r>
            <a:endParaRPr lang="en-US" sz="1725" dirty="0"/>
          </a:p>
        </p:txBody>
      </p:sp>
      <p:sp>
        <p:nvSpPr>
          <p:cNvPr id="37" name="Text 31"/>
          <p:cNvSpPr txBox="1"/>
          <p:nvPr/>
        </p:nvSpPr>
        <p:spPr>
          <a:xfrm>
            <a:off x="11582705" y="5372100"/>
            <a:ext cx="174467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Split A repeat</a:t>
            </a:r>
            <a:endParaRPr lang="en-US" sz="1575" dirty="0"/>
          </a:p>
        </p:txBody>
      </p:sp>
      <p:sp>
        <p:nvSpPr>
          <p:cNvPr id="38" name="Text 32"/>
          <p:cNvSpPr txBox="1"/>
          <p:nvPr/>
        </p:nvSpPr>
        <p:spPr>
          <a:xfrm>
            <a:off x="13411505" y="5381244"/>
            <a:ext cx="1714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B1F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dHF · wafer 3</a:t>
            </a:r>
            <a:endParaRPr lang="en-US" sz="1725" dirty="0"/>
          </a:p>
        </p:txBody>
      </p:sp>
      <p:sp>
        <p:nvSpPr>
          <p:cNvPr id="39" name="Text 33"/>
          <p:cNvSpPr txBox="1"/>
          <p:nvPr/>
        </p:nvSpPr>
        <p:spPr>
          <a:xfrm>
            <a:off x="11582705" y="5810098"/>
            <a:ext cx="16002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Post-CMP clean tool</a:t>
            </a:r>
            <a:endParaRPr lang="en-US" sz="1575" dirty="0"/>
          </a:p>
        </p:txBody>
      </p:sp>
      <p:sp>
        <p:nvSpPr>
          <p:cNvPr id="40" name="Text 34"/>
          <p:cNvSpPr txBox="1"/>
          <p:nvPr/>
        </p:nvSpPr>
        <p:spPr>
          <a:xfrm>
            <a:off x="13182905" y="5810098"/>
            <a:ext cx="41148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B1F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single-bath bench</a:t>
            </a:r>
            <a:endParaRPr lang="en-US" sz="1725" dirty="0"/>
          </a:p>
        </p:txBody>
      </p:sp>
      <p:sp>
        <p:nvSpPr>
          <p:cNvPr id="41" name="Text 35"/>
          <p:cNvSpPr txBox="1"/>
          <p:nvPr/>
        </p:nvSpPr>
        <p:spPr>
          <a:xfrm>
            <a:off x="11582705" y="6553505"/>
            <a:ext cx="16002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Bath temp</a:t>
            </a:r>
            <a:endParaRPr lang="en-US" sz="1575" dirty="0"/>
          </a:p>
        </p:txBody>
      </p:sp>
      <p:sp>
        <p:nvSpPr>
          <p:cNvPr id="42" name="Text 36"/>
          <p:cNvSpPr txBox="1"/>
          <p:nvPr/>
        </p:nvSpPr>
        <p:spPr>
          <a:xfrm>
            <a:off x="13182905" y="6553505"/>
            <a:ext cx="41148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B1F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± 1 °C</a:t>
            </a:r>
            <a:endParaRPr lang="en-US" sz="1725" dirty="0"/>
          </a:p>
        </p:txBody>
      </p:sp>
      <p:sp>
        <p:nvSpPr>
          <p:cNvPr id="43" name="Text 37"/>
          <p:cNvSpPr txBox="1"/>
          <p:nvPr/>
        </p:nvSpPr>
        <p:spPr>
          <a:xfrm>
            <a:off x="11582705" y="6991502"/>
            <a:ext cx="16002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Process time</a:t>
            </a:r>
            <a:endParaRPr lang="en-US" sz="1575" dirty="0"/>
          </a:p>
        </p:txBody>
      </p:sp>
      <p:sp>
        <p:nvSpPr>
          <p:cNvPr id="44" name="Text 38"/>
          <p:cNvSpPr txBox="1"/>
          <p:nvPr/>
        </p:nvSpPr>
        <p:spPr>
          <a:xfrm>
            <a:off x="13182905" y="6991502"/>
            <a:ext cx="41148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B1F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fixed 60 s</a:t>
            </a:r>
            <a:endParaRPr lang="en-US" sz="1725" dirty="0"/>
          </a:p>
        </p:txBody>
      </p:sp>
      <p:sp>
        <p:nvSpPr>
          <p:cNvPr id="45" name="Text 39"/>
          <p:cNvSpPr txBox="1"/>
          <p:nvPr/>
        </p:nvSpPr>
        <p:spPr>
          <a:xfrm>
            <a:off x="11582705" y="7429500"/>
            <a:ext cx="16002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Measurement</a:t>
            </a:r>
            <a:endParaRPr lang="en-US" sz="1575" dirty="0"/>
          </a:p>
        </p:txBody>
      </p:sp>
      <p:sp>
        <p:nvSpPr>
          <p:cNvPr id="46" name="Text 40"/>
          <p:cNvSpPr txBox="1"/>
          <p:nvPr/>
        </p:nvSpPr>
        <p:spPr>
          <a:xfrm>
            <a:off x="13182905" y="7429500"/>
            <a:ext cx="41148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B1F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49-site CD-SEM</a:t>
            </a:r>
            <a:endParaRPr lang="en-US" sz="1725" dirty="0"/>
          </a:p>
        </p:txBody>
      </p:sp>
      <p:sp>
        <p:nvSpPr>
          <p:cNvPr id="47" name="Shape 41"/>
          <p:cNvSpPr/>
          <p:nvPr/>
        </p:nvSpPr>
        <p:spPr>
          <a:xfrm>
            <a:off x="13182905" y="5458054"/>
            <a:ext cx="133502" cy="133502"/>
          </a:xfrm>
          <a:prstGeom prst="rect">
            <a:avLst/>
          </a:prstGeom>
          <a:solidFill>
            <a:srgbClr val="BC5638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11582705" y="7667244"/>
            <a:ext cx="5715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6E69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Scope</a:t>
            </a:r>
            <a:endParaRPr lang="en-US" sz="1350" dirty="0"/>
          </a:p>
        </p:txBody>
      </p:sp>
      <p:sp>
        <p:nvSpPr>
          <p:cNvPr id="49" name="Text 43"/>
          <p:cNvSpPr txBox="1"/>
          <p:nvPr/>
        </p:nvSpPr>
        <p:spPr>
          <a:xfrm>
            <a:off x="11582705" y="7944307"/>
            <a:ext cx="6647688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1B1F2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본 자료는 split 비교·CD 균일도·전기특성 평가를 위한 더미 데이터</a:t>
            </a:r>
            <a:endParaRPr lang="en-US" sz="1575" dirty="0"/>
          </a:p>
        </p:txBody>
      </p:sp>
      <p:sp>
        <p:nvSpPr>
          <p:cNvPr id="50" name="Text 44"/>
          <p:cNvSpPr txBox="1"/>
          <p:nvPr/>
        </p:nvSpPr>
        <p:spPr>
          <a:xfrm>
            <a:off x="1333195" y="8706002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3E6B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51" name="Text 45"/>
          <p:cNvSpPr txBox="1"/>
          <p:nvPr/>
        </p:nvSpPr>
        <p:spPr>
          <a:xfrm>
            <a:off x="3429000" y="8630107"/>
            <a:ext cx="136209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F2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dHF-반복 wafer(W1·W3)와 organic wafer(W2)를 비교해 M4 CD 편차·49-site 분포·전기특성 차이를 정량화한다.</a:t>
            </a:r>
            <a:endParaRPr lang="en-US" sz="1800" dirty="0"/>
          </a:p>
        </p:txBody>
      </p:sp>
      <p:sp>
        <p:nvSpPr>
          <p:cNvPr id="52" name="Text 46"/>
          <p:cNvSpPr txBox="1"/>
          <p:nvPr/>
        </p:nvSpPr>
        <p:spPr>
          <a:xfrm>
            <a:off x="952805" y="9696298"/>
            <a:ext cx="16383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5430500" y="800100"/>
            <a:ext cx="2115007" cy="780898"/>
          </a:xfrm>
          <a:prstGeom prst="rect">
            <a:avLst/>
          </a:prstGeom>
          <a:solidFill>
            <a:srgbClr val="F4EFE3"/>
          </a:solidFill>
          <a:ln w="12700">
            <a:solidFill>
              <a:srgbClr val="D6CDB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190902"/>
            <a:ext cx="8020202" cy="592439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34195" y="2190902"/>
            <a:ext cx="8020202" cy="592439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8553298"/>
            <a:ext cx="16383305" cy="761695"/>
          </a:xfrm>
          <a:prstGeom prst="rect">
            <a:avLst/>
          </a:prstGeom>
          <a:solidFill>
            <a:srgbClr val="1F23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18895" y="2457907"/>
            <a:ext cx="7467905" cy="4095598"/>
          </a:xfrm>
          <a:prstGeom prst="rect">
            <a:avLst/>
          </a:prstGeom>
          <a:solidFill>
            <a:srgbClr val="0E11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01200" y="2457907"/>
            <a:ext cx="7467905" cy="4095598"/>
          </a:xfrm>
          <a:prstGeom prst="rect">
            <a:avLst/>
          </a:prstGeom>
          <a:solidFill>
            <a:srgbClr val="0E11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gen-dedup-eab1ebabd8a8b4124789b876b261cfc9.jpg">    </p:cNvPr>
          <p:cNvPicPr>
            <a:picLocks noChangeAspect="1"/>
          </p:cNvPicPr>
          <p:nvPr/>
        </p:nvPicPr>
        <p:blipFill>
          <a:blip r:embed="rId1"/>
          <a:srcRect l="-28738" r="-28738" t="0" b="0"/>
          <a:stretch/>
        </p:blipFill>
        <p:spPr>
          <a:xfrm>
            <a:off x="1218895" y="2457907"/>
            <a:ext cx="7467905" cy="4095598"/>
          </a:xfrm>
          <a:prstGeom prst="rect">
            <a:avLst/>
          </a:prstGeom>
        </p:spPr>
      </p:pic>
      <p:pic>
        <p:nvPicPr>
          <p:cNvPr id="10" name="Image 1" descr="gen-dedup-820a31cee2f955a3b93ea7e812ebdc9b.jpg">    </p:cNvPr>
          <p:cNvPicPr>
            <a:picLocks noChangeAspect="1"/>
          </p:cNvPicPr>
          <p:nvPr/>
        </p:nvPicPr>
        <p:blipFill>
          <a:blip r:embed="rId2"/>
          <a:srcRect l="-73512" r="-73512" t="0" b="0"/>
          <a:stretch/>
        </p:blipFill>
        <p:spPr>
          <a:xfrm>
            <a:off x="9601200" y="2457907"/>
            <a:ext cx="7467905" cy="409559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218895" y="2457907"/>
            <a:ext cx="914400" cy="362102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601200" y="2457907"/>
            <a:ext cx="914400" cy="362102"/>
          </a:xfrm>
          <a:prstGeom prst="rect">
            <a:avLst/>
          </a:prstGeom>
          <a:solidFill>
            <a:srgbClr val="3E6B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314907" y="24953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9696298" y="24953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952805" y="666598"/>
            <a:ext cx="12382805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M4 단면 SEM · TEM 평가</a:t>
            </a:r>
            <a:endParaRPr lang="en-US" sz="4050" dirty="0"/>
          </a:p>
        </p:txBody>
      </p:sp>
      <p:sp>
        <p:nvSpPr>
          <p:cNvPr id="16" name="Text 11"/>
          <p:cNvSpPr txBox="1"/>
          <p:nvPr/>
        </p:nvSpPr>
        <p:spPr>
          <a:xfrm>
            <a:off x="952805" y="1410005"/>
            <a:ext cx="1428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단면 구조 무결성 / pattern profile / under-layer 잔류물 qualitative 비교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15620695" y="957377"/>
            <a:ext cx="133502" cy="133502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5831007" y="914400"/>
            <a:ext cx="3246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dHF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15620695" y="1233526"/>
            <a:ext cx="133502" cy="133502"/>
          </a:xfrm>
          <a:prstGeom prst="rect">
            <a:avLst/>
          </a:prstGeom>
          <a:solidFill>
            <a:srgbClr val="3E6B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5831007" y="1190549"/>
            <a:ext cx="74523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organic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1218895" y="6724498"/>
            <a:ext cx="74679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M4 damascene line · wide field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18895" y="7074713"/>
            <a:ext cx="81537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Cu/low-k stack 균일성 reference 용 wide-overview 단면 / 표선 scale-bar 별도 표기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218895" y="7601407"/>
            <a:ext cx="74679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A89E8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reference: Semiconductor Digest · Scaling the BEOL toolbox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9601200" y="6724498"/>
            <a:ext cx="74679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M4/M5 via chain · profile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9601200" y="7074713"/>
            <a:ext cx="74679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profile bowing · etch damage · 잔류물 qualitative 비교용 단면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9601200" y="7601407"/>
            <a:ext cx="74679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A89E8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reference: Springer · Interconnect Processing chapter</a:t>
            </a:r>
            <a:endParaRPr lang="en-US" sz="1350" dirty="0"/>
          </a:p>
        </p:txBody>
      </p:sp>
      <p:sp>
        <p:nvSpPr>
          <p:cNvPr id="27" name="Text 22"/>
          <p:cNvSpPr txBox="1"/>
          <p:nvPr/>
        </p:nvSpPr>
        <p:spPr>
          <a:xfrm>
            <a:off x="1333195" y="8706002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B5C9B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3429000" y="8648395"/>
            <a:ext cx="143067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두 split 모두 M4 stack 무결성 유지 / TEM profile에서 organic split은 profile bowing이 좁고 잔류물 영역도 작게 관찰됨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952805" y="9696298"/>
            <a:ext cx="16383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4287500" y="761695"/>
            <a:ext cx="3258007" cy="93360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190902"/>
            <a:ext cx="8210398" cy="6115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34195" y="2190902"/>
            <a:ext cx="8020202" cy="6115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8553298"/>
            <a:ext cx="16402507" cy="780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pic>
        <p:nvPicPr>
          <p:cNvPr id="7" name="Image 0" descr="gen-dedup-b04451cfe695b2385ed3c06b7f5a85cd.png">    </p:cNvPr>
          <p:cNvPicPr>
            <a:picLocks noChangeAspect="1"/>
          </p:cNvPicPr>
          <p:nvPr/>
        </p:nvPicPr>
        <p:blipFill>
          <a:blip r:embed="rId1"/>
          <a:srcRect l="-420" r="-420" t="0" b="0"/>
          <a:stretch/>
        </p:blipFill>
        <p:spPr>
          <a:xfrm>
            <a:off x="952805" y="8553298"/>
            <a:ext cx="57607" cy="7616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52805" y="666598"/>
            <a:ext cx="12382805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CD Variation 평가</a:t>
            </a:r>
            <a:endParaRPr lang="en-US" sz="4050" dirty="0"/>
          </a:p>
        </p:txBody>
      </p:sp>
      <p:sp>
        <p:nvSpPr>
          <p:cNvPr id="9" name="Text 5"/>
          <p:cNvSpPr txBox="1"/>
          <p:nvPr/>
        </p:nvSpPr>
        <p:spPr>
          <a:xfrm>
            <a:off x="952805" y="1410005"/>
            <a:ext cx="1428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AASI · ASEI · AMI · ACI 4개 메트릭 · wafer mean / 3σ / range / Δ to target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14477695" y="966521"/>
            <a:ext cx="114300" cy="114300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4668805" y="914400"/>
            <a:ext cx="3246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dHF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15154351" y="966521"/>
            <a:ext cx="114300" cy="114300"/>
          </a:xfrm>
          <a:prstGeom prst="rect">
            <a:avLst/>
          </a:prstGeom>
          <a:solidFill>
            <a:srgbClr val="3E6B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5344546" y="914400"/>
            <a:ext cx="74523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organic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4477695" y="1209751"/>
            <a:ext cx="299466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W1 · W3 = dHF / W2 = organic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1218895" y="2400300"/>
            <a:ext cx="7429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BC56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 CD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1218895" y="2695651"/>
            <a:ext cx="74295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AASI · ASEI</a:t>
            </a:r>
            <a:endParaRPr lang="en-US" sz="2700" dirty="0"/>
          </a:p>
        </p:txBody>
      </p:sp>
      <p:sp>
        <p:nvSpPr>
          <p:cNvPr id="17" name="Text 13"/>
          <p:cNvSpPr txBox="1"/>
          <p:nvPr/>
        </p:nvSpPr>
        <p:spPr>
          <a:xfrm>
            <a:off x="1218895" y="3191256"/>
            <a:ext cx="7429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24.4 nm · 18.9 nm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18895" y="3448202"/>
          <a:ext cx="7658100" cy="4677156"/>
        </p:xfrm>
        <a:graphic>
          <a:graphicData uri="http://schemas.openxmlformats.org/drawingml/2006/table">
            <a:tbl>
              <a:tblPr/>
              <a:tblGrid>
                <a:gridCol w="1333195"/>
                <a:gridCol w="1333195"/>
                <a:gridCol w="1333195"/>
                <a:gridCol w="1238098"/>
                <a:gridCol w="1238098"/>
                <a:gridCol w="1181405"/>
              </a:tblGrid>
              <a:tr h="519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Metric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Wafer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Mean (nm)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3σ (nm)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Range (nm)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Δ to tgt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684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BC563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AASI — target 24.4 nm</a:t>
                      </a:r>
                      <a:endParaRPr lang="en-US" sz="1200" dirty="0"/>
                    </a:p>
                  </a:txBody>
                  <a:tcPr marL="0" marR="0" marT="133502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1968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W1 · dHF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24.62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0.42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1.80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BC563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+0.22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68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W2 · organic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24.31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0.28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1.20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3E6B5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−0.09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68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W3 · dHF-rpt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24.51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0.39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1.65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+0.11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684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BC563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ASEI — target 18.9 nm</a:t>
                      </a:r>
                      <a:endParaRPr lang="en-US" sz="1200" dirty="0"/>
                    </a:p>
                  </a:txBody>
                  <a:tcPr marL="0" marR="0" marT="228600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1968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W1 · dHF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19.18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0.35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1.50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BC563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+0.28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68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W2 · organic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18.82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0.24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1.00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3E6B5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−0.08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68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W3 · dHF-rpt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19.04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0.31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1.35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+0.14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4"/>
          <p:cNvSpPr txBox="1"/>
          <p:nvPr/>
        </p:nvSpPr>
        <p:spPr>
          <a:xfrm>
            <a:off x="9601200" y="2400300"/>
            <a:ext cx="7429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3E6B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Mid / lower CD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9601200" y="2695651"/>
            <a:ext cx="74295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AMI · ACI</a:t>
            </a:r>
            <a:endParaRPr lang="en-US" sz="2700" dirty="0"/>
          </a:p>
        </p:txBody>
      </p:sp>
      <p:sp>
        <p:nvSpPr>
          <p:cNvPr id="21" name="Text 16"/>
          <p:cNvSpPr txBox="1"/>
          <p:nvPr/>
        </p:nvSpPr>
        <p:spPr>
          <a:xfrm>
            <a:off x="9601200" y="3191256"/>
            <a:ext cx="7429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8.9 nm · 8.7 nm</a:t>
            </a:r>
            <a:endParaRPr lang="en-US" sz="13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0" y="3448202"/>
          <a:ext cx="7467905" cy="4677156"/>
        </p:xfrm>
        <a:graphic>
          <a:graphicData uri="http://schemas.openxmlformats.org/drawingml/2006/table">
            <a:tbl>
              <a:tblPr/>
              <a:tblGrid>
                <a:gridCol w="1333195"/>
                <a:gridCol w="1333195"/>
                <a:gridCol w="1333195"/>
                <a:gridCol w="1143000"/>
                <a:gridCol w="1143000"/>
                <a:gridCol w="1181405"/>
              </a:tblGrid>
              <a:tr h="519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Metric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Wafer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Mean (nm)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3σ (nm)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Range (nm)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Δ to tgt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684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E6B5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AMI — target 8.9 nm</a:t>
                      </a:r>
                      <a:endParaRPr lang="en-US" sz="1200" dirty="0"/>
                    </a:p>
                  </a:txBody>
                  <a:tcPr marL="0" marR="0" marT="133502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1968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W1 · dHF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9.13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0.22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0.90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BC563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+0.23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68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W2 · organic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8.86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0.18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0.70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3E6B5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−0.04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68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W3 · dHF-rpt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9.02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0.20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0.85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+0.12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684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E6B5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ACI — target 8.7 nm</a:t>
                      </a:r>
                      <a:endParaRPr lang="en-US" sz="1200" dirty="0"/>
                    </a:p>
                  </a:txBody>
                  <a:tcPr marL="0" marR="0" marT="228600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1968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W1 · dHF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8.94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0.20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0.85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BC563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+0.24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68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W2 · organic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8.66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0.16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0.65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3E6B5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−0.04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68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W3 · dHF-rpt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8.81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0.19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0.80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+0.11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1333195" y="8706002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3E6B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3429000" y="8630107"/>
            <a:ext cx="143067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F2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organic wafer는 4개 메트릭 모두 mean이 target에 가장 가깝고 3σ·range도 가장 좁다 — dHF는 평균 +0.11~+0.28 nm 바이어스.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52805" y="9696298"/>
            <a:ext cx="16383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4668805" y="761695"/>
            <a:ext cx="2857500" cy="914400"/>
          </a:xfrm>
          <a:prstGeom prst="rect">
            <a:avLst/>
          </a:prstGeom>
          <a:solidFill>
            <a:srgbClr val="1F23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190902"/>
            <a:ext cx="8210398" cy="6115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34195" y="2190902"/>
            <a:ext cx="8020202" cy="6115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8553298"/>
            <a:ext cx="16402507" cy="780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pic>
        <p:nvPicPr>
          <p:cNvPr id="7" name="Image 0" descr="gen-dedup-b04451cfe695b2385ed3c06b7f5a85cd.png">    </p:cNvPr>
          <p:cNvPicPr>
            <a:picLocks noChangeAspect="1"/>
          </p:cNvPicPr>
          <p:nvPr/>
        </p:nvPicPr>
        <p:blipFill>
          <a:blip r:embed="rId1"/>
          <a:srcRect l="-420" r="-420" t="0" b="0"/>
          <a:stretch/>
        </p:blipFill>
        <p:spPr>
          <a:xfrm>
            <a:off x="952805" y="8553298"/>
            <a:ext cx="57607" cy="7616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52805" y="666598"/>
            <a:ext cx="142875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In-Wafer Uniformity</a:t>
            </a:r>
            <a:endParaRPr lang="en-US" sz="4050" dirty="0"/>
          </a:p>
        </p:txBody>
      </p:sp>
      <p:sp>
        <p:nvSpPr>
          <p:cNvPr id="9" name="Text 5"/>
          <p:cNvSpPr txBox="1"/>
          <p:nvPr/>
        </p:nvSpPr>
        <p:spPr>
          <a:xfrm>
            <a:off x="952805" y="1410005"/>
            <a:ext cx="1428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WIWNU · WIDNU · percent based · 49 sites per wafer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4934895" y="914400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C68B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Sites / wafer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4934895" y="1171346"/>
            <a:ext cx="24771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 pt · 7 × 7</a:t>
            </a:r>
            <a:endParaRPr lang="en-US" sz="2250" dirty="0"/>
          </a:p>
        </p:txBody>
      </p:sp>
      <p:sp>
        <p:nvSpPr>
          <p:cNvPr id="12" name="Text 8"/>
          <p:cNvSpPr txBox="1"/>
          <p:nvPr/>
        </p:nvSpPr>
        <p:spPr>
          <a:xfrm>
            <a:off x="1218895" y="2400300"/>
            <a:ext cx="7429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BC56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Within-wafer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218895" y="2695651"/>
            <a:ext cx="74295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WIWNU (%)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1218895" y="3191256"/>
            <a:ext cx="7429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AASI · AMI · by wafer · smaller is better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18895" y="3448202"/>
          <a:ext cx="7658100" cy="2382012"/>
        </p:xfrm>
        <a:graphic>
          <a:graphicData uri="http://schemas.openxmlformats.org/drawingml/2006/table">
            <a:tbl>
              <a:tblPr/>
              <a:tblGrid>
                <a:gridCol w="1904468"/>
                <a:gridCol w="1429037"/>
                <a:gridCol w="1429037"/>
                <a:gridCol w="1466522"/>
                <a:gridCol w="1429037"/>
              </a:tblGrid>
              <a:tr h="7940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Metric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W1 · dHF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W2 · organic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W3 · dHF-rpt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Δ (W1−W2)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0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AASI WIWNU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9E8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% · 3σ/mean</a:t>
                      </a:r>
                      <a:endParaRPr lang="en-US" sz="1200" dirty="0"/>
                    </a:p>
                  </a:txBody>
                  <a:tcPr marL="0" marR="0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2.13</a:t>
                      </a:r>
                      <a:endParaRPr lang="en-US" sz="2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3E6B5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1.21</a:t>
                      </a:r>
                      <a:endParaRPr lang="en-US" sz="2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2.04</a:t>
                      </a:r>
                      <a:endParaRPr lang="en-US" sz="2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BC563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+0.92</a:t>
                      </a:r>
                      <a:endParaRPr lang="en-US" sz="2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0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AMI WIWNU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9E8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% · 3σ/mean</a:t>
                      </a:r>
                      <a:endParaRPr lang="en-US" sz="1200" dirty="0"/>
                    </a:p>
                  </a:txBody>
                  <a:tcPr marL="0" marR="0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2.42</a:t>
                      </a:r>
                      <a:endParaRPr lang="en-US" sz="2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3E6B5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1.45</a:t>
                      </a:r>
                      <a:endParaRPr lang="en-US" sz="2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2.31</a:t>
                      </a:r>
                      <a:endParaRPr lang="en-US" sz="2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BC563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+0.97</a:t>
                      </a:r>
                      <a:endParaRPr lang="en-US" sz="2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1218895" y="7524598"/>
            <a:ext cx="76581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W2는 AASI/AMI 모두 W1 대비 Δ +0.92 / +0.97%p 우위.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9601200" y="2400300"/>
            <a:ext cx="7429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3E6B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Site-to-site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9601200" y="2695651"/>
            <a:ext cx="74295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WIDNU (%)</a:t>
            </a:r>
            <a:endParaRPr lang="en-US" sz="2700" dirty="0"/>
          </a:p>
        </p:txBody>
      </p:sp>
      <p:sp>
        <p:nvSpPr>
          <p:cNvPr id="19" name="Text 14"/>
          <p:cNvSpPr txBox="1"/>
          <p:nvPr/>
        </p:nvSpPr>
        <p:spPr>
          <a:xfrm>
            <a:off x="9601200" y="3191256"/>
            <a:ext cx="7429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ASEI · ACI · by wafer</a:t>
            </a:r>
            <a:endParaRPr lang="en-US" sz="13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0" y="3448202"/>
          <a:ext cx="7467905" cy="2382012"/>
        </p:xfrm>
        <a:graphic>
          <a:graphicData uri="http://schemas.openxmlformats.org/drawingml/2006/table">
            <a:tbl>
              <a:tblPr/>
              <a:tblGrid>
                <a:gridCol w="1904695"/>
                <a:gridCol w="1333195"/>
                <a:gridCol w="1333195"/>
                <a:gridCol w="1466698"/>
                <a:gridCol w="1429207"/>
              </a:tblGrid>
              <a:tr h="7940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Metric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W1 · dHF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W2 · organic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W3 · dHF-rpt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Δ (W1−W2)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0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ASEI WIDNU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9E8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% · local σ</a:t>
                      </a:r>
                      <a:endParaRPr lang="en-US" sz="1200" dirty="0"/>
                    </a:p>
                  </a:txBody>
                  <a:tcPr marL="0" marR="0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1.84</a:t>
                      </a:r>
                      <a:endParaRPr lang="en-US" sz="2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3E6B5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1.05</a:t>
                      </a:r>
                      <a:endParaRPr lang="en-US" sz="2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1.78</a:t>
                      </a:r>
                      <a:endParaRPr lang="en-US" sz="2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BC563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+0.79</a:t>
                      </a:r>
                      <a:endParaRPr lang="en-US" sz="2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0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F2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ACI WIDNU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9E8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% · local σ</a:t>
                      </a:r>
                      <a:endParaRPr lang="en-US" sz="1200" dirty="0"/>
                    </a:p>
                  </a:txBody>
                  <a:tcPr marL="0" marR="0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2.05</a:t>
                      </a:r>
                      <a:endParaRPr lang="en-US" sz="2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3E6B5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1.18</a:t>
                      </a:r>
                      <a:endParaRPr lang="en-US" sz="2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1.92</a:t>
                      </a:r>
                      <a:endParaRPr lang="en-US" sz="2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BC563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+0.87</a:t>
                      </a:r>
                      <a:endParaRPr lang="en-US" sz="22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5"/>
          <p:cNvSpPr txBox="1"/>
          <p:nvPr/>
        </p:nvSpPr>
        <p:spPr>
          <a:xfrm>
            <a:off x="9601200" y="7524598"/>
            <a:ext cx="74679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W2는 site-to-site 변동도 가장 작음.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1333195" y="8706002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3E6B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3429000" y="8630107"/>
            <a:ext cx="136209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F2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organic wafer는 4개 metric 모두 uniformity 우위 — dHF 대비 WIWNU/WIDNU 약 +0.79~+0.97%p 차이.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52805" y="9696298"/>
            <a:ext cx="16383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52805" y="2667305"/>
            <a:ext cx="5162702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5524805"/>
            <a:ext cx="5162702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76695" y="2667305"/>
            <a:ext cx="10877702" cy="5544007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8553298"/>
            <a:ext cx="16402507" cy="780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pic>
        <p:nvPicPr>
          <p:cNvPr id="7" name="Image 0" descr="gen-dedup-b04451cfe695b2385ed3c06b7f5a85cd.png">    </p:cNvPr>
          <p:cNvPicPr>
            <a:picLocks noChangeAspect="1"/>
          </p:cNvPicPr>
          <p:nvPr/>
        </p:nvPicPr>
        <p:blipFill>
          <a:blip r:embed="rId1"/>
          <a:srcRect l="-420" r="-420" t="0" b="0"/>
          <a:stretch/>
        </p:blipFill>
        <p:spPr>
          <a:xfrm>
            <a:off x="952805" y="8553298"/>
            <a:ext cx="57607" cy="7616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52805" y="571500"/>
            <a:ext cx="142875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49점 Wafer Map</a:t>
            </a:r>
            <a:endParaRPr lang="en-US" sz="4050" dirty="0"/>
          </a:p>
        </p:txBody>
      </p:sp>
      <p:sp>
        <p:nvSpPr>
          <p:cNvPr id="9" name="Text 5"/>
          <p:cNvSpPr txBox="1"/>
          <p:nvPr/>
        </p:nvSpPr>
        <p:spPr>
          <a:xfrm>
            <a:off x="952805" y="1314907"/>
            <a:ext cx="1428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AASI Δ-CD · 7×7 site · cell color = deviation from target 24.4 nm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952805" y="1966874"/>
            <a:ext cx="113111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6E69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Δ legend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2264969" y="1962302"/>
            <a:ext cx="761695" cy="228600"/>
          </a:xfrm>
          <a:prstGeom prst="rect">
            <a:avLst/>
          </a:prstGeom>
          <a:solidFill>
            <a:srgbClr val="2E5C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103474" y="1966874"/>
            <a:ext cx="7242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1F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−0.30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052621" y="1962302"/>
            <a:ext cx="761695" cy="228600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890211" y="1966874"/>
            <a:ext cx="13432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1F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−0.30 ~ −0.10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56578" y="1962302"/>
            <a:ext cx="761695" cy="228600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295083" y="1966874"/>
            <a:ext cx="13432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1F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−0.10 ~ +0.10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860536" y="1962302"/>
            <a:ext cx="761695" cy="228600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699041" y="1966874"/>
            <a:ext cx="13432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1F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+0.10 ~ +0.30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11264494" y="1962302"/>
            <a:ext cx="761695" cy="228600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2102998" y="1966874"/>
            <a:ext cx="10287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1F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+0.30 nm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1218895" y="2962656"/>
            <a:ext cx="114300" cy="114300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429207" y="2857500"/>
            <a:ext cx="115671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W1 · dHF</a:t>
            </a:r>
            <a:endParaRPr lang="en-US" sz="1950" dirty="0"/>
          </a:p>
        </p:txBody>
      </p:sp>
      <p:sp>
        <p:nvSpPr>
          <p:cNvPr id="23" name="Text 19"/>
          <p:cNvSpPr txBox="1"/>
          <p:nvPr/>
        </p:nvSpPr>
        <p:spPr>
          <a:xfrm>
            <a:off x="1218895" y="3276295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mean +0.22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1218895" y="3534156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spread +0.78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3429000" y="2857500"/>
            <a:ext cx="314554" cy="314554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758184" y="2857500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087368" y="2857500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416552" y="2857500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745736" y="2857500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074920" y="2857500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405018" y="2857500"/>
            <a:ext cx="314554" cy="314554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429000" y="3186684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758184" y="3186684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087368" y="3186684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416552" y="3186684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745736" y="3186684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074920" y="3186684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405018" y="3186684"/>
            <a:ext cx="314554" cy="314554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3429000" y="3515868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3758184" y="3515868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087368" y="3515868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416552" y="3515868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4745736" y="3515868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5074920" y="3515868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5405018" y="3515868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3429000" y="3845052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3758184" y="3845052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4087368" y="3845052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416552" y="3845052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745736" y="3845052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5074920" y="3845052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405018" y="3845052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3429000" y="4174236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3758184" y="4174236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4087368" y="4174236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4416552" y="4174236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745736" y="4174236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5074920" y="4174236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5405018" y="4174236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3429000" y="4503420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3758184" y="4503420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4087368" y="4503420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4416552" y="4503420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4745736" y="4503420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5074920" y="4503420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405018" y="4503420"/>
            <a:ext cx="314554" cy="314554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3429000" y="4833518"/>
            <a:ext cx="314554" cy="314554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3758184" y="4833518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4087368" y="4833518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4416552" y="4833518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4745736" y="4833518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5074920" y="4833518"/>
            <a:ext cx="314554" cy="314554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5405018" y="4833518"/>
            <a:ext cx="314554" cy="314554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218895" y="5820156"/>
            <a:ext cx="114300" cy="114300"/>
          </a:xfrm>
          <a:prstGeom prst="rect">
            <a:avLst/>
          </a:prstGeom>
          <a:solidFill>
            <a:srgbClr val="3E6B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1429207" y="5715000"/>
            <a:ext cx="173461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W2 · organic</a:t>
            </a:r>
            <a:endParaRPr lang="en-US" sz="1950" dirty="0"/>
          </a:p>
        </p:txBody>
      </p:sp>
      <p:sp>
        <p:nvSpPr>
          <p:cNvPr id="76" name="Text 72"/>
          <p:cNvSpPr txBox="1"/>
          <p:nvPr/>
        </p:nvSpPr>
        <p:spPr>
          <a:xfrm>
            <a:off x="1218895" y="6133795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mean −0.09</a:t>
            </a:r>
            <a:endParaRPr lang="en-US" sz="1350" dirty="0"/>
          </a:p>
        </p:txBody>
      </p:sp>
      <p:sp>
        <p:nvSpPr>
          <p:cNvPr id="77" name="Text 73"/>
          <p:cNvSpPr txBox="1"/>
          <p:nvPr/>
        </p:nvSpPr>
        <p:spPr>
          <a:xfrm>
            <a:off x="1218895" y="6391656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spread +0.46</a:t>
            </a:r>
            <a:endParaRPr lang="en-US" sz="1350" dirty="0"/>
          </a:p>
        </p:txBody>
      </p:sp>
      <p:sp>
        <p:nvSpPr>
          <p:cNvPr id="78" name="Shape 74"/>
          <p:cNvSpPr/>
          <p:nvPr/>
        </p:nvSpPr>
        <p:spPr>
          <a:xfrm>
            <a:off x="3429000" y="5715000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3758184" y="5715000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4087368" y="5715000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4416552" y="5715000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4745736" y="5715000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5074920" y="5715000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5405018" y="5715000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3429000" y="6044184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3758184" y="6044184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4087368" y="6044184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4416552" y="6044184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4745736" y="6044184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5074920" y="6044184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5405018" y="6044184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3429000" y="6373368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3758184" y="6373368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4087368" y="6373368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4416552" y="6373368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4745736" y="6373368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5074920" y="6373368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5405018" y="6373368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3429000" y="6702552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3758184" y="6702552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4087368" y="6702552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4416552" y="6702552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4745736" y="6702552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5074920" y="6702552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5405018" y="6702552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3429000" y="7031736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3758184" y="7031736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4087368" y="7031736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4416552" y="7031736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4745736" y="7031736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5074920" y="7031736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5405018" y="7031736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3429000" y="7360920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3758184" y="7360920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4087368" y="7360920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4416552" y="7360920"/>
            <a:ext cx="314554" cy="314554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4745736" y="7360920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5074920" y="7360920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5405018" y="7360920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3429000" y="7691018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3758184" y="7691018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4087368" y="7691018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4416552" y="7691018"/>
            <a:ext cx="314554" cy="314554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4745736" y="7691018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5074920" y="7691018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5405018" y="7691018"/>
            <a:ext cx="314554" cy="314554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Text 123"/>
          <p:cNvSpPr txBox="1"/>
          <p:nvPr/>
        </p:nvSpPr>
        <p:spPr>
          <a:xfrm>
            <a:off x="7010705" y="2933395"/>
            <a:ext cx="278892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W3 · dHF-repeat</a:t>
            </a:r>
            <a:endParaRPr lang="en-US" sz="2400" dirty="0"/>
          </a:p>
        </p:txBody>
      </p:sp>
      <p:sp>
        <p:nvSpPr>
          <p:cNvPr id="128" name="Text 124"/>
          <p:cNvSpPr txBox="1"/>
          <p:nvPr/>
        </p:nvSpPr>
        <p:spPr>
          <a:xfrm>
            <a:off x="6782105" y="3372307"/>
            <a:ext cx="6667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loop-check wafer · mean +0.11 · spread +0.66</a:t>
            </a:r>
            <a:endParaRPr lang="en-US" sz="1350" dirty="0"/>
          </a:p>
        </p:txBody>
      </p:sp>
      <p:sp>
        <p:nvSpPr>
          <p:cNvPr id="129" name="Shape 125"/>
          <p:cNvSpPr/>
          <p:nvPr/>
        </p:nvSpPr>
        <p:spPr>
          <a:xfrm>
            <a:off x="6782105" y="3066898"/>
            <a:ext cx="114300" cy="114300"/>
          </a:xfrm>
          <a:prstGeom prst="rect">
            <a:avLst/>
          </a:prstGeom>
          <a:solidFill>
            <a:srgbClr val="BC5638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6782105" y="3829507"/>
            <a:ext cx="504749" cy="504749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7301484" y="3829507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7821778" y="3829507"/>
            <a:ext cx="504749" cy="504749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8341157" y="3829507"/>
            <a:ext cx="504749" cy="504749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8860536" y="3829507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9380830" y="3829507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9900209" y="3829507"/>
            <a:ext cx="504749" cy="504749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6782105" y="4348886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7301484" y="4348886"/>
            <a:ext cx="504749" cy="504749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7821778" y="4348886"/>
            <a:ext cx="504749" cy="504749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8341157" y="4348886"/>
            <a:ext cx="504749" cy="504749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8860536" y="4348886"/>
            <a:ext cx="504749" cy="504749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8"/>
          <p:cNvSpPr/>
          <p:nvPr/>
        </p:nvSpPr>
        <p:spPr>
          <a:xfrm>
            <a:off x="9380830" y="4348886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9900209" y="4348886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0"/>
          <p:cNvSpPr/>
          <p:nvPr/>
        </p:nvSpPr>
        <p:spPr>
          <a:xfrm>
            <a:off x="6782105" y="4868266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1"/>
          <p:cNvSpPr/>
          <p:nvPr/>
        </p:nvSpPr>
        <p:spPr>
          <a:xfrm>
            <a:off x="7301484" y="4868266"/>
            <a:ext cx="504749" cy="504749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7821778" y="4868266"/>
            <a:ext cx="504749" cy="504749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8341157" y="4868266"/>
            <a:ext cx="504749" cy="504749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4"/>
          <p:cNvSpPr/>
          <p:nvPr/>
        </p:nvSpPr>
        <p:spPr>
          <a:xfrm>
            <a:off x="8860536" y="4868266"/>
            <a:ext cx="504749" cy="504749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5"/>
          <p:cNvSpPr/>
          <p:nvPr/>
        </p:nvSpPr>
        <p:spPr>
          <a:xfrm>
            <a:off x="9380830" y="4868266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>
            <a:off x="9900209" y="4868266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7"/>
          <p:cNvSpPr/>
          <p:nvPr/>
        </p:nvSpPr>
        <p:spPr>
          <a:xfrm>
            <a:off x="6782105" y="5388559"/>
            <a:ext cx="504749" cy="504749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8"/>
          <p:cNvSpPr/>
          <p:nvPr/>
        </p:nvSpPr>
        <p:spPr>
          <a:xfrm>
            <a:off x="7301484" y="5388559"/>
            <a:ext cx="504749" cy="504749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>
            <a:off x="7821778" y="5388559"/>
            <a:ext cx="504749" cy="504749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8341157" y="5388559"/>
            <a:ext cx="504749" cy="504749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1"/>
          <p:cNvSpPr/>
          <p:nvPr/>
        </p:nvSpPr>
        <p:spPr>
          <a:xfrm>
            <a:off x="8860536" y="5388559"/>
            <a:ext cx="504749" cy="504749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2"/>
          <p:cNvSpPr/>
          <p:nvPr/>
        </p:nvSpPr>
        <p:spPr>
          <a:xfrm>
            <a:off x="9380830" y="5388559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3"/>
          <p:cNvSpPr/>
          <p:nvPr/>
        </p:nvSpPr>
        <p:spPr>
          <a:xfrm>
            <a:off x="9900209" y="5388559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4"/>
          <p:cNvSpPr/>
          <p:nvPr/>
        </p:nvSpPr>
        <p:spPr>
          <a:xfrm>
            <a:off x="6782105" y="5907938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5"/>
          <p:cNvSpPr/>
          <p:nvPr/>
        </p:nvSpPr>
        <p:spPr>
          <a:xfrm>
            <a:off x="7301484" y="5907938"/>
            <a:ext cx="504749" cy="504749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6"/>
          <p:cNvSpPr/>
          <p:nvPr/>
        </p:nvSpPr>
        <p:spPr>
          <a:xfrm>
            <a:off x="7821778" y="5907938"/>
            <a:ext cx="504749" cy="504749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7"/>
          <p:cNvSpPr/>
          <p:nvPr/>
        </p:nvSpPr>
        <p:spPr>
          <a:xfrm>
            <a:off x="8341157" y="5907938"/>
            <a:ext cx="504749" cy="504749"/>
          </a:xfrm>
          <a:prstGeom prst="rect">
            <a:avLst/>
          </a:prstGeom>
          <a:solidFill>
            <a:srgbClr val="7FA3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8"/>
          <p:cNvSpPr/>
          <p:nvPr/>
        </p:nvSpPr>
        <p:spPr>
          <a:xfrm>
            <a:off x="8860536" y="5907938"/>
            <a:ext cx="504749" cy="504749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59"/>
          <p:cNvSpPr/>
          <p:nvPr/>
        </p:nvSpPr>
        <p:spPr>
          <a:xfrm>
            <a:off x="9380830" y="5907938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0"/>
          <p:cNvSpPr/>
          <p:nvPr/>
        </p:nvSpPr>
        <p:spPr>
          <a:xfrm>
            <a:off x="9900209" y="5907938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1"/>
          <p:cNvSpPr/>
          <p:nvPr/>
        </p:nvSpPr>
        <p:spPr>
          <a:xfrm>
            <a:off x="6782105" y="6428232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2"/>
          <p:cNvSpPr/>
          <p:nvPr/>
        </p:nvSpPr>
        <p:spPr>
          <a:xfrm>
            <a:off x="7301484" y="6428232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3"/>
          <p:cNvSpPr/>
          <p:nvPr/>
        </p:nvSpPr>
        <p:spPr>
          <a:xfrm>
            <a:off x="7821778" y="6428232"/>
            <a:ext cx="504749" cy="504749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4"/>
          <p:cNvSpPr/>
          <p:nvPr/>
        </p:nvSpPr>
        <p:spPr>
          <a:xfrm>
            <a:off x="8341157" y="6428232"/>
            <a:ext cx="504749" cy="504749"/>
          </a:xfrm>
          <a:prstGeom prst="rect">
            <a:avLst/>
          </a:prstGeom>
          <a:solidFill>
            <a:srgbClr val="E5DA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5"/>
          <p:cNvSpPr/>
          <p:nvPr/>
        </p:nvSpPr>
        <p:spPr>
          <a:xfrm>
            <a:off x="8860536" y="6428232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6"/>
          <p:cNvSpPr/>
          <p:nvPr/>
        </p:nvSpPr>
        <p:spPr>
          <a:xfrm>
            <a:off x="9380830" y="6428232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7"/>
          <p:cNvSpPr/>
          <p:nvPr/>
        </p:nvSpPr>
        <p:spPr>
          <a:xfrm>
            <a:off x="9900209" y="6428232"/>
            <a:ext cx="504749" cy="504749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8"/>
          <p:cNvSpPr/>
          <p:nvPr/>
        </p:nvSpPr>
        <p:spPr>
          <a:xfrm>
            <a:off x="6782105" y="6947611"/>
            <a:ext cx="504749" cy="504749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69"/>
          <p:cNvSpPr/>
          <p:nvPr/>
        </p:nvSpPr>
        <p:spPr>
          <a:xfrm>
            <a:off x="7301484" y="6947611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0"/>
          <p:cNvSpPr/>
          <p:nvPr/>
        </p:nvSpPr>
        <p:spPr>
          <a:xfrm>
            <a:off x="7821778" y="6947611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1"/>
          <p:cNvSpPr/>
          <p:nvPr/>
        </p:nvSpPr>
        <p:spPr>
          <a:xfrm>
            <a:off x="8341157" y="6947611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2"/>
          <p:cNvSpPr/>
          <p:nvPr/>
        </p:nvSpPr>
        <p:spPr>
          <a:xfrm>
            <a:off x="8860536" y="6947611"/>
            <a:ext cx="504749" cy="504749"/>
          </a:xfrm>
          <a:prstGeom prst="rect">
            <a:avLst/>
          </a:prstGeom>
          <a:solidFill>
            <a:srgbClr val="D89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3"/>
          <p:cNvSpPr/>
          <p:nvPr/>
        </p:nvSpPr>
        <p:spPr>
          <a:xfrm>
            <a:off x="9380830" y="6947611"/>
            <a:ext cx="504749" cy="504749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4"/>
          <p:cNvSpPr/>
          <p:nvPr/>
        </p:nvSpPr>
        <p:spPr>
          <a:xfrm>
            <a:off x="9900209" y="6947611"/>
            <a:ext cx="504749" cy="504749"/>
          </a:xfrm>
          <a:prstGeom prst="rect">
            <a:avLst/>
          </a:prstGeom>
          <a:solidFill>
            <a:srgbClr val="BC56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Text 175"/>
          <p:cNvSpPr txBox="1"/>
          <p:nvPr/>
        </p:nvSpPr>
        <p:spPr>
          <a:xfrm>
            <a:off x="10839298" y="3829507"/>
            <a:ext cx="6286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BC56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Observation</a:t>
            </a:r>
            <a:endParaRPr lang="en-US" sz="1350" dirty="0"/>
          </a:p>
        </p:txBody>
      </p:sp>
      <p:sp>
        <p:nvSpPr>
          <p:cNvPr id="180" name="Text 176"/>
          <p:cNvSpPr txBox="1"/>
          <p:nvPr/>
        </p:nvSpPr>
        <p:spPr>
          <a:xfrm>
            <a:off x="10839298" y="4144975"/>
            <a:ext cx="6286500" cy="1017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1B1F2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• edge 영역에서 Δ &gt; +0.10 hot-band 형성</a:t>
            </a:r>
            <a:pPr algn="l" indent="0" marL="0">
              <a:lnSpc>
                <a:spcPts val="2558"/>
              </a:lnSpc>
              <a:buNone/>
            </a:pPr>
            <a:endParaRPr lang="en-US" sz="1650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1B1F2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• center 근방은 mean Δ +0.04 부근으로 안정</a:t>
            </a:r>
            <a:pPr algn="l" indent="0" marL="0">
              <a:lnSpc>
                <a:spcPts val="2558"/>
              </a:lnSpc>
              <a:buNone/>
            </a:pPr>
            <a:endParaRPr lang="en-US" sz="1650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1B1F2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• W1·W3 동일 split이라 edge 패턴 유사</a:t>
            </a:r>
            <a:endParaRPr lang="en-US" sz="1650" dirty="0"/>
          </a:p>
        </p:txBody>
      </p:sp>
      <p:sp>
        <p:nvSpPr>
          <p:cNvPr id="181" name="Text 177"/>
          <p:cNvSpPr txBox="1"/>
          <p:nvPr/>
        </p:nvSpPr>
        <p:spPr>
          <a:xfrm>
            <a:off x="10839298" y="5772607"/>
            <a:ext cx="6286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3E6B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Cross-compare</a:t>
            </a:r>
            <a:endParaRPr lang="en-US" sz="1350" dirty="0"/>
          </a:p>
        </p:txBody>
      </p:sp>
      <p:sp>
        <p:nvSpPr>
          <p:cNvPr id="182" name="Text 178"/>
          <p:cNvSpPr txBox="1"/>
          <p:nvPr/>
        </p:nvSpPr>
        <p:spPr>
          <a:xfrm>
            <a:off x="10839298" y="6088075"/>
            <a:ext cx="6286500" cy="1017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1B1F2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• W2 map은 cream · sage band 안으로 정렬</a:t>
            </a:r>
            <a:pPr algn="l" indent="0" marL="0">
              <a:lnSpc>
                <a:spcPts val="2558"/>
              </a:lnSpc>
              <a:buNone/>
            </a:pPr>
            <a:endParaRPr lang="en-US" sz="1650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1B1F2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• dHF wafer 대비 분포 폭 약 40% 축소</a:t>
            </a:r>
            <a:pPr algn="l" indent="0" marL="0">
              <a:lnSpc>
                <a:spcPts val="2558"/>
              </a:lnSpc>
              <a:buNone/>
            </a:pPr>
            <a:endParaRPr lang="en-US" sz="1650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1B1F2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• hot-cell 수가 가장 적음</a:t>
            </a:r>
            <a:endParaRPr lang="en-US" sz="1650" dirty="0"/>
          </a:p>
        </p:txBody>
      </p:sp>
      <p:sp>
        <p:nvSpPr>
          <p:cNvPr id="183" name="Text 179"/>
          <p:cNvSpPr txBox="1"/>
          <p:nvPr/>
        </p:nvSpPr>
        <p:spPr>
          <a:xfrm>
            <a:off x="10839298" y="7524598"/>
            <a:ext cx="6286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89E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 values · nm · dummy data</a:t>
            </a:r>
            <a:endParaRPr lang="en-US" sz="1350" dirty="0"/>
          </a:p>
        </p:txBody>
      </p:sp>
      <p:sp>
        <p:nvSpPr>
          <p:cNvPr id="184" name="Text 180"/>
          <p:cNvSpPr txBox="1"/>
          <p:nvPr/>
        </p:nvSpPr>
        <p:spPr>
          <a:xfrm>
            <a:off x="1333195" y="8706002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3E6B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185" name="Text 181"/>
          <p:cNvSpPr txBox="1"/>
          <p:nvPr/>
        </p:nvSpPr>
        <p:spPr>
          <a:xfrm>
            <a:off x="3429000" y="8630107"/>
            <a:ext cx="136209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F2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W2 organic map은 cream·sage band 안으로 정렬 — dHF wafer의 edge hot-band와 대조적.</a:t>
            </a:r>
            <a:endParaRPr lang="en-US" sz="1800" dirty="0"/>
          </a:p>
        </p:txBody>
      </p:sp>
      <p:sp>
        <p:nvSpPr>
          <p:cNvPr id="186" name="Text 182"/>
          <p:cNvSpPr txBox="1"/>
          <p:nvPr/>
        </p:nvSpPr>
        <p:spPr>
          <a:xfrm>
            <a:off x="952805" y="9696298"/>
            <a:ext cx="16383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4668805" y="761695"/>
            <a:ext cx="2876702" cy="933602"/>
          </a:xfrm>
          <a:prstGeom prst="rect">
            <a:avLst/>
          </a:prstGeom>
          <a:solidFill>
            <a:srgbClr val="F4EFE3"/>
          </a:solidFill>
          <a:ln w="12700">
            <a:solidFill>
              <a:srgbClr val="D6CDB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190902"/>
            <a:ext cx="8020202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34195" y="2190902"/>
            <a:ext cx="8020202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5333695"/>
            <a:ext cx="10477195" cy="2952598"/>
          </a:xfrm>
          <a:prstGeom prst="rect">
            <a:avLst/>
          </a:prstGeom>
          <a:solidFill>
            <a:srgbClr val="1F23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20195" y="5333695"/>
            <a:ext cx="5734202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8553298"/>
            <a:ext cx="16402507" cy="780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8"/>
            </a:solidFill>
            <a:prstDash val="solid"/>
          </a:ln>
        </p:spPr>
      </p:sp>
      <p:pic>
        <p:nvPicPr>
          <p:cNvPr id="9" name="Image 0" descr="gen-dedup-b04451cfe695b2385ed3c06b7f5a85cd.png">    </p:cNvPr>
          <p:cNvPicPr>
            <a:picLocks noChangeAspect="1"/>
          </p:cNvPicPr>
          <p:nvPr/>
        </p:nvPicPr>
        <p:blipFill>
          <a:blip r:embed="rId1"/>
          <a:srcRect l="-420" r="-420" t="0" b="0"/>
          <a:stretch/>
        </p:blipFill>
        <p:spPr>
          <a:xfrm>
            <a:off x="952805" y="8553298"/>
            <a:ext cx="57607" cy="7616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52805" y="666598"/>
            <a:ext cx="142875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전기 특성 평가</a:t>
            </a:r>
            <a:endParaRPr lang="en-US" sz="4050" dirty="0"/>
          </a:p>
        </p:txBody>
      </p:sp>
      <p:sp>
        <p:nvSpPr>
          <p:cNvPr id="11" name="Text 7"/>
          <p:cNvSpPr txBox="1"/>
          <p:nvPr/>
        </p:nvSpPr>
        <p:spPr>
          <a:xfrm>
            <a:off x="952805" y="1410005"/>
            <a:ext cx="1428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line · via · electromigration · numeric table only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4934895" y="914400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6E69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4934895" y="1171346"/>
            <a:ext cx="24771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F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W2 = organic</a:t>
            </a:r>
            <a:endParaRPr lang="en-US" sz="2250" dirty="0"/>
          </a:p>
        </p:txBody>
      </p:sp>
      <p:sp>
        <p:nvSpPr>
          <p:cNvPr id="14" name="Text 10"/>
          <p:cNvSpPr txBox="1"/>
          <p:nvPr/>
        </p:nvSpPr>
        <p:spPr>
          <a:xfrm>
            <a:off x="1218895" y="2343607"/>
            <a:ext cx="7429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BC56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M4 line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1218895" y="2619756"/>
            <a:ext cx="7429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Line resistance</a:t>
            </a:r>
            <a:endParaRPr lang="en-US" sz="2250" dirty="0"/>
          </a:p>
        </p:txBody>
      </p:sp>
      <p:sp>
        <p:nvSpPr>
          <p:cNvPr id="16" name="Text 12"/>
          <p:cNvSpPr txBox="1"/>
          <p:nvPr/>
        </p:nvSpPr>
        <p:spPr>
          <a:xfrm>
            <a:off x="1218895" y="2971800"/>
            <a:ext cx="7429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μΩ·cm · 23 °C · 49-site median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18895" y="3372307"/>
          <a:ext cx="7467905" cy="2000707"/>
        </p:xfrm>
        <a:graphic>
          <a:graphicData uri="http://schemas.openxmlformats.org/drawingml/2006/table">
            <a:tbl>
              <a:tblPr/>
              <a:tblGrid>
                <a:gridCol w="2286000"/>
                <a:gridCol w="1619402"/>
                <a:gridCol w="1238098"/>
                <a:gridCol w="2324405"/>
              </a:tblGrid>
              <a:tr h="5001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Wafer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Mean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3σ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Δ vs W2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W1 · dHF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3.42</a:t>
                      </a:r>
                      <a:endParaRPr lang="en-US" sz="19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0.18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BC563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+0.21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W2 · organic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b="1" dirty="0">
                          <a:solidFill>
                            <a:srgbClr val="3E6B5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3.21</a:t>
                      </a:r>
                      <a:endParaRPr lang="en-US" sz="19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0.11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6E696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ref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W3 · dHF-rpt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3.39</a:t>
                      </a:r>
                      <a:endParaRPr lang="en-US" sz="19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0.16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BC563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+0.18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9601200" y="2343607"/>
            <a:ext cx="7429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3E6B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M4 → M5 via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9601200" y="2657246"/>
            <a:ext cx="7429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Via chain resistance</a:t>
            </a:r>
            <a:endParaRPr lang="en-US" sz="2250" dirty="0"/>
          </a:p>
        </p:txBody>
      </p:sp>
      <p:sp>
        <p:nvSpPr>
          <p:cNvPr id="20" name="Text 15"/>
          <p:cNvSpPr txBox="1"/>
          <p:nvPr/>
        </p:nvSpPr>
        <p:spPr>
          <a:xfrm>
            <a:off x="9601200" y="3010205"/>
            <a:ext cx="7429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Ω / via · 5k-chain · median</a:t>
            </a:r>
            <a:endParaRPr lang="en-US" sz="13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0" y="3372307"/>
          <a:ext cx="7467905" cy="2000707"/>
        </p:xfrm>
        <a:graphic>
          <a:graphicData uri="http://schemas.openxmlformats.org/drawingml/2006/table">
            <a:tbl>
              <a:tblPr/>
              <a:tblGrid>
                <a:gridCol w="2286000"/>
                <a:gridCol w="1619402"/>
                <a:gridCol w="1238098"/>
                <a:gridCol w="2324405"/>
              </a:tblGrid>
              <a:tr h="5001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Wafer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Mean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3σ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Δ vs W2</a:t>
                      </a:r>
                      <a:endParaRPr lang="en-US" sz="13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W1 · dHF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4.85</a:t>
                      </a:r>
                      <a:endParaRPr lang="en-US" sz="19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0.32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BC563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+0.24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W2 · organic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b="1" dirty="0">
                          <a:solidFill>
                            <a:srgbClr val="3E6B5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4.61</a:t>
                      </a:r>
                      <a:endParaRPr lang="en-US" sz="19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0.21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6E696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ref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W3 · dHF-rpt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4.79</a:t>
                      </a:r>
                      <a:endParaRPr lang="en-US" sz="19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0.28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BC563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+0.18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6"/>
          <p:cNvSpPr txBox="1"/>
          <p:nvPr/>
        </p:nvSpPr>
        <p:spPr>
          <a:xfrm>
            <a:off x="1218895" y="5562295"/>
            <a:ext cx="35625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C68B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1218895" y="5838444"/>
            <a:ext cx="4189781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 MTTF @ use condition</a:t>
            </a:r>
            <a:endParaRPr lang="en-US" sz="2250" dirty="0"/>
          </a:p>
        </p:txBody>
      </p:sp>
      <p:sp>
        <p:nvSpPr>
          <p:cNvPr id="24" name="Text 18"/>
          <p:cNvSpPr txBox="1"/>
          <p:nvPr/>
        </p:nvSpPr>
        <p:spPr>
          <a:xfrm>
            <a:off x="9068105" y="5734202"/>
            <a:ext cx="2057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5C9B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unit · hrs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9068105" y="5991149"/>
            <a:ext cx="2057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A89E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J-use · 100 °C · 50%</a:t>
            </a:r>
            <a:endParaRPr lang="en-US" sz="135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18895" y="6286500"/>
          <a:ext cx="9906610" cy="2048256"/>
        </p:xfrm>
        <a:graphic>
          <a:graphicData uri="http://schemas.openxmlformats.org/drawingml/2006/table">
            <a:tbl>
              <a:tblPr/>
              <a:tblGrid>
                <a:gridCol w="2667305"/>
                <a:gridCol w="1904695"/>
                <a:gridCol w="2667305"/>
                <a:gridCol w="2667305"/>
              </a:tblGrid>
              <a:tr h="682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W1 · dHF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285</a:t>
                      </a:r>
                      <a:endParaRPr lang="en-US" sz="2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5C4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−18% vs ref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304495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2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W2 · organic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b="1" dirty="0">
                          <a:solidFill>
                            <a:srgbClr val="B5C9B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348</a:t>
                      </a:r>
                      <a:endParaRPr lang="en-US" sz="2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B5C9B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ref · longest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304495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2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W3 · dHF-rpt</a:t>
                      </a:r>
                      <a:endParaRPr lang="en-US" sz="1200" dirty="0"/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296</a:t>
                      </a:r>
                      <a:endParaRPr lang="en-US" sz="2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5C4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−15% vs ref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304495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0"/>
          <p:cNvSpPr txBox="1"/>
          <p:nvPr/>
        </p:nvSpPr>
        <p:spPr>
          <a:xfrm>
            <a:off x="11887200" y="5562295"/>
            <a:ext cx="5143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C68B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Leakage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11887200" y="5838444"/>
            <a:ext cx="5143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F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via leakage</a:t>
            </a:r>
            <a:endParaRPr lang="en-US" sz="2250" dirty="0"/>
          </a:p>
        </p:txBody>
      </p:sp>
      <p:sp>
        <p:nvSpPr>
          <p:cNvPr id="29" name="Text 22"/>
          <p:cNvSpPr txBox="1"/>
          <p:nvPr/>
        </p:nvSpPr>
        <p:spPr>
          <a:xfrm>
            <a:off x="11887200" y="6248095"/>
            <a:ext cx="5143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 / via · use V</a:t>
            </a:r>
            <a:endParaRPr lang="en-US" sz="135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0" y="6458407"/>
          <a:ext cx="5143500" cy="914400"/>
        </p:xfrm>
        <a:graphic>
          <a:graphicData uri="http://schemas.openxmlformats.org/drawingml/2006/table">
            <a:tbl>
              <a:tblPr/>
              <a:tblGrid>
                <a:gridCol w="1524305"/>
                <a:gridCol w="1143000"/>
                <a:gridCol w="1238098"/>
                <a:gridCol w="123809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0" marR="0" marT="0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W1</a:t>
                      </a:r>
                      <a:endParaRPr lang="en-US" sz="1200" dirty="0"/>
                    </a:p>
                  </a:txBody>
                  <a:tcPr marL="0" marR="0" marT="0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W2</a:t>
                      </a:r>
                      <a:endParaRPr lang="en-US" sz="1200" dirty="0"/>
                    </a:p>
                  </a:txBody>
                  <a:tcPr marL="0" marR="0" marT="0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6E696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W3</a:t>
                      </a:r>
                      <a:endParaRPr lang="en-US" sz="1200" dirty="0"/>
                    </a:p>
                  </a:txBody>
                  <a:tcPr marL="0" marR="0" marT="0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value</a:t>
                      </a:r>
                      <a:endParaRPr lang="en-US" sz="1200" dirty="0"/>
                    </a:p>
                  </a:txBody>
                  <a:tcPr marL="0" marR="0" marT="171907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38</a:t>
                      </a:r>
                      <a:endParaRPr lang="en-US" sz="2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0" marT="171907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b="1" dirty="0">
                          <a:solidFill>
                            <a:srgbClr val="3E6B5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22</a:t>
                      </a:r>
                      <a:endParaRPr lang="en-US" sz="2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0" marT="171907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b="1" dirty="0">
                          <a:solidFill>
                            <a:srgbClr val="1B1F2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36</a:t>
                      </a:r>
                      <a:endParaRPr lang="en-US" sz="2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0" marT="171907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3"/>
          <p:cNvSpPr txBox="1"/>
          <p:nvPr/>
        </p:nvSpPr>
        <p:spPr>
          <a:xfrm>
            <a:off x="1333195" y="8706002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3E6B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3429000" y="8630107"/>
            <a:ext cx="136209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F2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organic wafer는 line/via 저항 ↓ + EM MTTF +63 hrs + via leakage −42% — 4 metric 모두 우위.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952805" y="9696298"/>
            <a:ext cx="16383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2026-10-03T16:15:02Z</dcterms:created>
  <dcterms:modified xsi:type="dcterms:W3CDTF">2026-10-03T16:15:02Z</dcterms:modified>
</cp:coreProperties>
</file>