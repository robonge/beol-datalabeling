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평가 설계" id="{428c5621-3020-8ed2-f976-afa5cd081b1e}">
          <p14:sldIdLst>
            <p14:sldId id="256"/>
          </p14:sldIdLst>
        </p14:section>
        <p14:section name="신뢰성" id="{d7ecee8e-a2ef-7cfd-08ce-22c6fff1223d}">
          <p14:sldIdLst>
            <p14:sldId id="257"/>
            <p14:sldId id="258"/>
            <p14:sldId id="259"/>
            <p14:sldId id="260"/>
          </p14:sldIdLst>
        </p14:section>
        <p14:section name="열" id="{ccd342bd-6689-79b6-2693-be0a3a5cedd8}">
          <p14:sldIdLst>
            <p14:sldId id="261"/>
          </p14:sldIdLst>
        </p14:section>
        <p14:section name="종합" id="{998d8b86-95a5-3fd7-f8d4-86740ae959ea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+mj-lt"/>
              </a:rPr>
              <a:t>허용 전류밀도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MA/cm²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SEB (단일 배선)</c:v>
                  </c:pt>
                  <c:pt idx="1">
                    <c:v>Unit-cell (타일)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</c:v>
                </c:pt>
                <c:pt idx="1">
                  <c:v>2.26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+mj-lt"/>
              </a:rPr>
              <a:t>TTF 산포 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단일 배선</c:v>
                  </c:pt>
                  <c:pt idx="1">
                    <c:v>타일 하향</c:v>
                  </c:pt>
                  <c:pt idx="2">
                    <c:v>타일 상향</c:v>
                  </c:pt>
                  <c:pt idx="3">
                    <c:v>타일 전체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0.3</c:v>
                </c:pt>
                <c:pt idx="2">
                  <c:v>0.2</c:v>
                </c:pt>
                <c:pt idx="3">
                  <c:v>0.27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자릿수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멱법칙 (power law)</c:v>
                  </c:pt>
                  <c:pt idx="1">
                    <c:v>√E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bubble3D val="0"/>
            <c:spPr>
              <a:solidFill>
                <a:srgbClr val="00B8A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비아층</c:v>
                </c:pt>
                <c:pt idx="1">
                  <c:v>선 층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</c:v>
                </c:pt>
                <c:pt idx="1">
                  <c:v>14</c:v>
                </c:pt>
              </c:numCache>
            </c:numRef>
          </c:val>
        </c:ser>
        <c:firstSliceAng val="0"/>
        <c:holeSize val="55"/>
      </c:doughnutChart>
      <c:spPr>
        <a:solidFill>
          <a:srgbClr val="1A1A2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CA3A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chart" Target="/ppt/charts/chart21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SPLIT MATRIX · 신뢰성 + 열 · 4 SPLITS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신뢰성·열 split 조건 매트릭스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070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금속화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2070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12070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패터닝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2070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12070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신뢰성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20700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0700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열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12070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PASS · 조건부 · FAIL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7391095" cy="914400"/>
        </p:xfrm>
        <a:graphic>
          <a:graphicData uri="http://schemas.openxmlformats.org/drawingml/2006/table">
            <a:tbl>
              <a:tblPr/>
              <a:tblGrid>
                <a:gridCol w="799186"/>
                <a:gridCol w="1398118"/>
                <a:gridCol w="2796235"/>
                <a:gridCol w="1497787"/>
                <a:gridCol w="8988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조건 수준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핵심 평가 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SP-06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EM 스트레스 구조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무배리어 Ru / Mo–Ru / Cu +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TTF, Ea, J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SP-06b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EM 설계 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SEB vs unit-cell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허용 J, 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SP-07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TDDB 변동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간격 σ · LER σ · 모델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수명 자릿수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SP-07b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MIM 유전체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SiO₂ / Al₂O₃ / OSG3.0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누설, LF 잡음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SP-08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열 경로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유전체 · 비아 · 에어갭 · BSPDN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ΔT, 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168335" y="1207008"/>
            <a:ext cx="3566160" cy="4919472"/>
          </a:xfrm>
          <a:prstGeom prst="roundRect">
            <a:avLst>
              <a:gd name="adj" fmla="val 5128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1215" y="1435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351215" y="19110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split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0042855" y="1435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7편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0042855" y="19110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전문 열람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351215" y="24414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8E72"/>
                </a:solidFill>
              </a:rPr>
              <a:t>86%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351215" y="29169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비아층 열저항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042855" y="24414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</a:rPr>
              <a:t>0.6 nm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0042855" y="29169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LER 분기점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351215" y="5349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열은 EM·TDDB를 직격 — 신뢰성과 열을 묶어 판정.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SP-06 · 신뢰성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SP-06 배선 구조별 EM 스트레스 결과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338121"/>
                <a:gridCol w="1443838"/>
                <a:gridCol w="1994306"/>
                <a:gridCol w="2613355"/>
                <a:gridCol w="1787652"/>
                <a:gridCol w="1100023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구조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피치·선폭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스트레스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무배리어 Ru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21 nm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&gt;30 MA/cm²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고장 유도 실패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무배리어 Ru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21 nm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150–200 MA/cm²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자기발열 ~260 °C에서 고장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</a:rPr>
                        <a:t>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Mo–Ru 하이브리드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330 °C, 5 MA/cm²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600 h+ 무고장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FSAV 2소재 모듈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18 nm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10 MA/cm², 300 h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저항 변화 없음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Cu / TaN + Co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장배선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라이너 의존 활성화에너지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0.84 · 1.02–1.05 eV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</a:rPr>
                        <a:t>참조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Cu / TaN +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장배선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라이너 의존 활성화에너지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0.94–0.98 eV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</a:rPr>
                        <a:t>참조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07408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TEM 근거: Ru EM 보이드는 입계(JAP Fig. 18a)와 유전체 계면(Fig. 18b)에서 별도로 발생 → 대책은 입계 제어 + 계면 에너지 제어 두 갈래. Mo–Ru 단면은 Fig. 17(b).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SP-06b · 신뢰성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SP-06b SEB vs unit-cell — 허용 전류와 산포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3840480"/>
          </a:xfrm>
          <a:prstGeom prst="roundRect">
            <a:avLst>
              <a:gd name="adj" fmla="val 4762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5135728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33008" y="1280160"/>
            <a:ext cx="5501488" cy="3840480"/>
          </a:xfrm>
          <a:prstGeom prst="roundRect">
            <a:avLst>
              <a:gd name="adj" fmla="val 4762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8" name="Chart 1" descr=""/>
          <p:cNvGraphicFramePr/>
          <p:nvPr/>
        </p:nvGraphicFramePr>
        <p:xfrm>
          <a:off x="6415888" y="1463040"/>
          <a:ext cx="5135728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303520"/>
            <a:ext cx="11277295" cy="822960"/>
          </a:xfrm>
          <a:prstGeom prst="roundRect">
            <a:avLst>
              <a:gd name="adj" fmla="val 17778"/>
            </a:avLst>
          </a:prstGeom>
          <a:solidFill>
            <a:srgbClr val="4C343D"/>
          </a:solidFill>
          <a:ln w="12700">
            <a:solidFill>
              <a:srgbClr val="4C34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53949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해석  </a:t>
            </a:r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단일 배선 SEB를 unit-cell(타일) 기준으로 교체해야 허용 전류가 현실화됨 — 룰이 정교해진 것이 아니라 기존 룰이 제품을 막는 지점.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SP-07 · 신뢰성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SP-07 가속 모델에 따른 TDDB 수명 감소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035040" cy="4846320"/>
          </a:xfrm>
          <a:prstGeom prst="roundRect">
            <a:avLst>
              <a:gd name="adj" fmla="val 3774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56692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이상적 직선 대비 수명 감소 (자릿수), 16 NM HP, 간격 Σ 0.6 NM + LER Σ 1 NM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280160"/>
            <a:ext cx="4922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모델 선택이 100배를 가른다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1664208"/>
            <a:ext cx="4922215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Croes 2015: 넓은 전계 범위에서 impact damage 모델과 멱법칙이 데이터를 가장 잘 설명. 수명 ∝ 1/간격 가정.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Fang 2025: 위치별 최단 금속–금속 퍼콜레이션 경로 → 고장확률 → 최약고리 통계 (2단계). 비아 오정렬·T2T·LER·간격 변동 포함.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Kocaay 2017: 거칠기 작을 때 간격 변동 지배, LER 1σ &gt; 0.6 nm부터 LER 지배.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12280" y="5120640"/>
            <a:ext cx="4922215" cy="1005840"/>
          </a:xfrm>
          <a:prstGeom prst="roundRect">
            <a:avLst>
              <a:gd name="adj" fmla="val 14545"/>
            </a:avLst>
          </a:prstGeom>
          <a:solidFill>
            <a:srgbClr val="14445C"/>
          </a:solidFill>
          <a:ln w="12700">
            <a:solidFill>
              <a:srgbClr val="1444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5212080"/>
            <a:ext cx="4647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가속 모델 확정 전까지 수명 예측은 조건부. 패터닝 스펙은 LER 1σ 0.6 nm을 분기점으로 설정.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SP-07b · 신뢰성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SP-07b MIM 유전체 — 전도 기구와 판정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227125"/>
                <a:gridCol w="1841602"/>
                <a:gridCol w="1994306"/>
                <a:gridCol w="2761488"/>
                <a:gridCol w="920801"/>
                <a:gridCol w="1380744"/>
                <a:gridCol w="11503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유전체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두께 / εᵣ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지배 전도 기구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트랩 준위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누설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LF 잡음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SiO₂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6 nm / 4.2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Poole-Frenkel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φ_T 0.77 ± 0.01 eV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최저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최저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Al₂O₃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5 nm / 8.9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FN 트랩보조 터널링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Φ 1.36 (상) / 1.33 eV (하)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최대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중간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OSG3.0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12 nm / 3.0 (기공 7%)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호핑 / 비정상 PF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φ_T 0.44 eV · 호핑 0.6 nm · Ea 0.47 eV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중간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최악 (RTS 다발)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143D49"/>
          </a:solidFill>
          <a:ln w="12700">
            <a:solidFill>
              <a:srgbClr val="143D4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누설·잡음 모두 SiO₂가 최고. Al₂O₃는 누설 최대, OSG3.0은 잡음 최악 + 비정상 RTS 이벤트로 전기적 불안정.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 · 열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SP-08 열저항 86%가 비아층 — 금속 교체는 무의미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4846320"/>
          </a:xfrm>
          <a:prstGeom prst="roundRect">
            <a:avLst>
              <a:gd name="adj" fmla="val 3774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63640" y="1280160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열 설계 변수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664208"/>
            <a:ext cx="2643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</a:rPr>
              <a:t>0.3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139696"/>
            <a:ext cx="2643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OSG3.0 W/m·K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999068" y="1664208"/>
            <a:ext cx="2643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+30%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999068" y="2139696"/>
            <a:ext cx="2643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에어갭 자기발열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715768"/>
            <a:ext cx="5470855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비아 배치 stacked &gt; staggered &gt; isolated.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BSPDN은 비균일 전력에서 최고온도 상승 (Si 135 → 71 W/m·K).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닫힌 고리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전기적 최적해가 열적으로는 최악 — 그리고 열은 수명을 직격한다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전기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RC·IR을 줄이는 세 선택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1D5DB"/>
                </a:solidFill>
              </a:rPr>
              <a:t>low-k 유전체, 에어갭, BSPDN — 모두 전기적 지표를 개선.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218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열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338218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같은 선택이 열에서는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38218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1D5DB"/>
                </a:solidFill>
              </a:rPr>
              <a:t>0.3 W/m·K, 자기발열 +30%, 비균일 전력에서 최고온도 상승.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19237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9237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수명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열 → EM·TDDB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1D5DB"/>
                </a:solidFill>
              </a:rPr>
              <a:t>Ru 자기발열 ~260 °C 고장, TDDB 가속 모델 100배 — 온도가 두 수명을 동시에 깎음.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11277295" cy="914400"/>
          </a:xfrm>
          <a:prstGeom prst="roundRect">
            <a:avLst>
              <a:gd name="adj" fmla="val 16000"/>
            </a:avLst>
          </a:prstGeom>
          <a:solidFill>
            <a:srgbClr val="14445C"/>
          </a:solidFill>
          <a:ln w="12700">
            <a:solidFill>
              <a:srgbClr val="1444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전기적 최적해(저유전율막·에어갭·BSPDN)가 열적으로는 최악 — RC/IR 이득을 열로 돌려받고, 열은 다시 EM·TDDB 수명을 직격하는 닫힌 고리. 금속 교체는 열에 무의미하므로 비아 배치와 유전체 선택만 남음.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">
  <a:themeElements>
    <a:clrScheme name="Turquoise DS ink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D9FF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신뢰성·열 통합 split 리뷰</dc:title>
  <dc:subject>PptxGenJS Presentation</dc:subject>
  <dc:creator>공정 AI팀</dc:creator>
  <cp:lastModifiedBy>공정 AI팀</cp:lastModifiedBy>
  <cp:revision>1</cp:revision>
  <dcterms:created xsi:type="dcterms:W3CDTF">2026-10-03T16:10:14Z</dcterms:created>
  <dcterms:modified xsi:type="dcterms:W3CDTF">2026-10-03T16:10:14Z</dcterms:modified>
</cp:coreProperties>
</file>