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MP" id="{62602e1f-7be5-24d7-8d92-4bb2ee98f952}">
          <p14:sldIdLst>
            <p14:sldId id="256"/>
            <p14:sldId id="257"/>
          </p14:sldIdLst>
        </p14:section>
        <p14:section name="overCMP" id="{098dd6a1-c49d-7907-9954-077c8803fd4b}">
          <p14:sldIdLst>
            <p14:sldId id="258"/>
            <p14:sldId id="259"/>
          </p14:sldIdLst>
        </p14:section>
        <p14:section name="일정" id="{33c5b6c3-e17a-08b0-9aac-39b710dff6ab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A8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Dishing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· 슬러리 화학·패드·패턴 밀도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311957"/>
                <a:gridCol w="248351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surface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1787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0458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표면 SEM (열처리 전/후, 산화·입자) — 잔류물·표면 상태 참고, CC BY MATERIALS 2020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861203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결과 정리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190387"/>
            <a:ext cx="3367735" cy="2981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평가 · 대응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검증 방법과 대응 옵션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741932"/>
                <a:gridCol w="2613355"/>
                <a:gridCol w="36301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355848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6744"/>
          <a:ext cx="7985455" cy="914400"/>
        </p:xfrm>
        <a:graphic>
          <a:graphicData uri="http://schemas.openxmlformats.org/drawingml/2006/table">
            <a:tbl>
              <a:tblPr/>
              <a:tblGrid>
                <a:gridCol w="2521915"/>
                <a:gridCol w="2941625"/>
                <a:gridCol w="25219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 한계 → 전기 평가 1차, EBAC 2차, AFM/TEM 3차.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트레이드오프 · CMP는 매우 좁은 공정 창에서 제어되어야 함.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기전 · 영향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· Dishing/Erosion과 저항·EM 영향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1464869"/>
                <a:gridCol w="3461918"/>
                <a:gridCol w="133136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변형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위치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의존 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Dishing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넓은 Cu 배선·패드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무른 Cu + 폴리우레탄 패드 돌기(Asperity)가 트렌치로 휘어 들어감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 시간, 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Dielectric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고밀도 L/S 영역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유전막 핀 지지력 약화 → 국부 압력↑ → Preston 식에 따라 연마율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패턴 밀도, 압력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2368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6275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919373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영향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248557"/>
            <a:ext cx="3367735" cy="292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표면 평탄도 훼손 → 상위 층 포토 DOF 불량.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저항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Dishing 깊이에 따른 저항 증가와 검증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+10% = Failure.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78308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093976"/>
          <a:ext cx="5608015" cy="914400"/>
        </p:xfrm>
        <a:graphic>
          <a:graphicData uri="http://schemas.openxmlformats.org/drawingml/2006/table">
            <a:tbl>
              <a:tblPr/>
              <a:tblGrid>
                <a:gridCol w="801014"/>
                <a:gridCol w="2403043"/>
                <a:gridCol w="240304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26480" y="5212080"/>
            <a:ext cx="5608015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26480" y="5285232"/>
            <a:ext cx="56080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CMP 공정 창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공정 창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1280160"/>
            <a:ext cx="2926080" cy="20952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08415" y="342109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피치 RU 선 에칭 후 TEM —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790624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 첨가제 레시피 고정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패드 컨디셔너 교체 후 베이스라인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522144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22144" y="1627632"/>
            <a:ext cx="179062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22144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50160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Down-force 3수준 × BTA 2수준 split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650160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W02–W03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522144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50160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WAT 선간 저항·브릿지 R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650160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522144" y="3438144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50160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단락 국소화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2650160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4587088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87088" y="1627632"/>
            <a:ext cx="1790624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87088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15104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AFM 잔류물 두께·조성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715104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87088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15104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단면 SEM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715104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6652031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652031" y="1627632"/>
            <a:ext cx="1790624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52031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80047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Cross-bridge Rs + 4-pt probe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780047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52031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80047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밀도 시뮬레이션 피드백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780047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Window Under Over Combined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