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금속화" id="{87c2bd9b-7b0e-e70a-2990-3553dd3fadf9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BEOL SPLIT TEST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BEOL SPLIT TEST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SP-02 · 금속화 · 열처리 온도 · ACS AMI 2026 / IITC 2025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Ru 열처리 온도 split — 선저항 이득 vs 원통형 변형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2962656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pic>
        <p:nvPicPr>
          <p:cNvPr id="6" name="Image 0" descr="/tmp/claude-0/-home-claude/e70767da-955c-5cc3-beb4-741bbeefa4c6/scratchpad/img/mp16_post_etch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3749040" cy="24688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3895344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NM PITCH RU · POST-ETCH TEM · © IMEC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4389120"/>
            <a:ext cx="3931920" cy="1737360"/>
          </a:xfrm>
          <a:prstGeom prst="roundRect">
            <a:avLst>
              <a:gd name="adj" fmla="val 8421"/>
            </a:avLst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44805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244D"/>
                </a:solidFill>
              </a:rPr>
              <a:t>메커니즘: 면간 자기확산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80060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</a:rPr>
              <a:t>입계 모서리에서 시작, Ru(0002) 면 원자가 측벽 Ru(1-100)·Ru(11-20) 면으로 이동·적층.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</a:rPr>
              <a:t>420 °C 벌크 D = 1.83×10⁻⁴³ m²/s인데도 특정 원자 배열이 확산을 크게 올림.</a:t>
            </a:r>
            <a:endParaRPr lang="en-US" sz="9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280160"/>
          <a:ext cx="7025335" cy="914400"/>
        </p:xfrm>
        <a:graphic>
          <a:graphicData uri="http://schemas.openxmlformats.org/drawingml/2006/table">
            <a:tbl>
              <a:tblPr/>
              <a:tblGrid>
                <a:gridCol w="2432304"/>
                <a:gridCol w="811073"/>
                <a:gridCol w="1351483"/>
                <a:gridCol w="1531620"/>
                <a:gridCol w="900684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조건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선저항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단면 형상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단락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판정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as-etched, 18–22 nm 피치 (300 mm)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기준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사각, 수직 측벽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없음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420 °C 열처리, 18–22 nm 피치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−10%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원통형 변형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웨이퍼 전역 다중 단락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325 °C, 최대 5 h (명목 10 nm 선)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원통화 경미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36B00"/>
                          </a:solidFill>
                        </a:rPr>
                        <a:t>조건부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420 °C, 최대 5 h (명목 10 nm 선)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원통화 진행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650 °C, 최대 5 h (명목 10 nm 선)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원통화 심화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709160" y="4078224"/>
            <a:ext cx="7025335" cy="2048256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4892040" y="4306824"/>
            <a:ext cx="2128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6B6B"/>
                </a:solidFill>
              </a:rPr>
              <a:t>−10%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4892040" y="4782312"/>
            <a:ext cx="2128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선저항 (420 °C)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7111898" y="4306824"/>
            <a:ext cx="2128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8E72"/>
                </a:solidFill>
              </a:rPr>
              <a:t>다중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7111898" y="4782312"/>
            <a:ext cx="2128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웨이퍼 전역 단락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9331757" y="4306824"/>
            <a:ext cx="2128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B8A9"/>
                </a:solidFill>
              </a:rPr>
              <a:t>&lt;325 °C</a:t>
            </a:r>
            <a:endParaRPr lang="en-US" sz="2200" dirty="0"/>
          </a:p>
        </p:txBody>
      </p:sp>
      <p:sp>
        <p:nvSpPr>
          <p:cNvPr id="18" name="Text 14"/>
          <p:cNvSpPr txBox="1"/>
          <p:nvPr/>
        </p:nvSpPr>
        <p:spPr>
          <a:xfrm>
            <a:off x="9331757" y="4782312"/>
            <a:ext cx="2128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허용 공정 창 (잠정)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892040" y="5266944"/>
            <a:ext cx="665957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저항 이득 10%는 단락과 교환 불가 → 후속 열 공정은 as-etched 유지 또는 저온 한정. FSAV 모듈 열저장 200 °C·120 h는 무손실.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SP-02 · 금속화 · 요약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FF8E72"/>
          </a:solidFill>
          <a:ln w="12700">
            <a:solidFill>
              <a:srgbClr val="FF8E72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한 줄 결론: 10% 저항 이득은 단락과 교환 불가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13584" cy="20116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481328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4813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이득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74520"/>
            <a:ext cx="2156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6B6B"/>
                </a:solidFill>
              </a:rPr>
              <a:t>−10%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587752"/>
            <a:ext cx="215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420 °C 열처리 후 선저항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45104" y="1280160"/>
            <a:ext cx="2613584" cy="20116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73704" y="1481328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F8E72"/>
          </a:solidFill>
          <a:ln w="12700">
            <a:solidFill>
              <a:srgbClr val="FF8E7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73704" y="14813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리스크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3573704" y="1874520"/>
            <a:ext cx="2156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8E72"/>
                </a:solidFill>
              </a:rPr>
              <a:t>다중 단락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3573704" y="2587752"/>
            <a:ext cx="215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웨이퍼 전역, 300 mm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33008" y="1280160"/>
            <a:ext cx="2613584" cy="20116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61608" y="1481328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61608" y="14813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물성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6461608" y="187452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100" b="1" dirty="0">
                <a:solidFill>
                  <a:srgbClr val="00B8A9"/>
                </a:solidFill>
              </a:rPr>
              <a:t>1.83×10⁻⁴³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6461608" y="2350008"/>
            <a:ext cx="215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Ru 벌크 확산계수 m²/s @420 °C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120911" y="1280160"/>
            <a:ext cx="2613584" cy="20116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349511" y="1481328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00A8D8"/>
          </a:solidFill>
          <a:ln w="12700">
            <a:solidFill>
              <a:srgbClr val="00A8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49511" y="14813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판정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9349511" y="187452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00A8D8"/>
                </a:solidFill>
              </a:rPr>
              <a:t>&lt;325 °C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9349511" y="2350008"/>
            <a:ext cx="215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잠정 허용 공정 창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3657600"/>
            <a:ext cx="1127729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</a:rPr>
              <a:t>TEM + AStar ACOM으로 원통형 변형과 결정방위 맵 확인 (ACS AMI 2026).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</a:rPr>
              <a:t>동일 그룹 IITC 2025: 명목 10 nm 선을 325·420·650 °C 최대 5 h 열처리 — 온도가 오를수록 원통화 심화.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</a:rPr>
              <a:t>후속 열 공정은 as-etched 유지 또는 저온 한정. FSAV 모듈 열저장 200 °C·120 h는 무손실.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coral">
  <a:themeElements>
    <a:clrScheme name="Turquoise DS coral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FF6B6B"/>
      </a:accent1>
      <a:accent2>
        <a:srgbClr val="FF8E72"/>
      </a:accent2>
      <a:accent3>
        <a:srgbClr val="00B8A9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coral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 배선 열처리 온도 split</dc:title>
  <dc:subject>PptxGenJS Presentation</dc:subject>
  <dc:creator>공정 AI팀</dc:creator>
  <cp:lastModifiedBy>공정 AI팀</cp:lastModifiedBy>
  <cp:revision>1</cp:revision>
  <dcterms:created xsi:type="dcterms:W3CDTF">2026-10-03T16:10:13Z</dcterms:created>
  <dcterms:modified xsi:type="dcterms:W3CDTF">2026-10-03T16:10:13Z</dcterms:modified>
</cp:coreProperties>
</file>