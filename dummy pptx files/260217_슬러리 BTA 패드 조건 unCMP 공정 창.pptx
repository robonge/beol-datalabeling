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CMP" id="{511f55b9-72d3-949a-b350-5e503784a622}">
          <p14:sldIdLst>
            <p14:sldId id="256"/>
            <p14:sldId id="257"/>
          </p14:sldIdLst>
        </p14:section>
        <p14:section name="종합" id="{77e38374-ffb1-90bc-00c6-4a3c782c7bb4}">
          <p14:sldIdLst>
            <p14:sldId id="258"/>
          </p14:sldIdLst>
        </p14:section>
        <p14:section name="일정" id="{87d1cd00-5ff7-41f1-8889-f14ddcac0d99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슬러리 화학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슬러리 화학과 패드 상태가 만드는 unCMP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311957"/>
                <a:gridCol w="248351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A8D8"/>
                </a:solidFill>
              </a:rPr>
              <a:t>100–300 nm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64208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흄드 실리카 입자</a:t>
            </a:r>
            <a:endParaRPr lang="en-US" sz="850" dirty="0"/>
          </a:p>
        </p:txBody>
      </p:sp>
      <p:sp>
        <p:nvSpPr>
          <p:cNvPr id="8" name="Text 5"/>
          <p:cNvSpPr txBox="1"/>
          <p:nvPr/>
        </p:nvSpPr>
        <p:spPr>
          <a:xfrm>
            <a:off x="8366760" y="1993392"/>
            <a:ext cx="33677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00B8A9"/>
                </a:solidFill>
              </a:rPr>
              <a:t>2–3단계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2377440"/>
            <a:ext cx="336773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Cu CMP 단계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798064"/>
            <a:ext cx="3367735" cy="3374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BTA는 Cu(I)-BTA 둔화층으로 갈바닉 부식을 막지만, 패드 마찰이 못 뚫으면 잔류의 원인.</a:t>
            </a:r>
            <a:endParaRPr lang="en-US" sz="105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평가 · 조치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평가 방법과 조치 옵션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 방법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741932"/>
                <a:gridCol w="2613355"/>
                <a:gridCol w="3630168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판독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1차 전기 (E-Test/WAT)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Comb-Serpentine, 촘촘한 메탈 라인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정상 pA → 잔류 시 수십 Ω 저항성 전류, Short Failure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2차 국소화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EBAC (Electron Beam Absorbed Current)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숨겨진 저항성 누설 경로 고해상도 매핑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3차 물리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AFM / 단면 TEM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잔류물 조성(Cu vs Ta/TaN)과 두께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355848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조치</a:t>
            </a:r>
            <a:endParaRPr lang="en-US" sz="13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66744"/>
          <a:ext cx="7985455" cy="914400"/>
        </p:xfrm>
        <a:graphic>
          <a:graphicData uri="http://schemas.openxmlformats.org/drawingml/2006/table">
            <a:tbl>
              <a:tblPr/>
              <a:tblGrid>
                <a:gridCol w="2521915"/>
                <a:gridCol w="2941625"/>
                <a:gridCol w="2521915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452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광학 검사로는 수십 nm 이하 잔류물 검출 한계 → 전기 평가가 1차.</a:t>
            </a:r>
            <a:endParaRPr lang="en-US" sz="1050" dirty="0"/>
          </a:p>
        </p:txBody>
      </p:sp>
      <p:sp>
        <p:nvSpPr>
          <p:cNvPr id="11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종합 · 공정 창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↔ overCMP 상충 축과 제어 수단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167689"/>
                <a:gridCol w="2189074"/>
                <a:gridCol w="2189074"/>
                <a:gridCol w="2043684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unCMP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제어 수단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연마량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부족 → 잔류·단락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과다 → Dishing·저항↑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Down-force, 시간, 다단계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슬러리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 과다 → 둔화층 미관통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산화제 과다 → Cu 과제거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BTA·산화제 농도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레이아웃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낮음 → 잔류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불균일 → 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Dummy Fill 최적화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판정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unCMP 단락 방지와 overCMP 저항 증가 사이의 상충 — CMP는 매우 좁은 공정 창에서 제어되어야 함.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일정 · CMP 공정 창 평가 보드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CMP 공정 창 평가 일정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완료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261358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5216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ECP 첨가제 레시피 고정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패드 컨디셔너 교체 후 베이스라인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85216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W01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345104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진행 중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3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45104" y="1627632"/>
            <a:ext cx="2613584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45104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3120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Down-force 3수준 × BTA 2수준 split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473120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W02–W03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45104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3120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WAT 선간 저항·브릿지 R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473120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345104" y="3438144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3120" y="3511296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EBAC 단락 국소화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3473120" y="3895344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W03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6233008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검토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3008" y="1627632"/>
            <a:ext cx="2613584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33008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361024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AFM 잔류물 두께·조성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61024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33008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1024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Dishing/Erosion 단면 SEM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361024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W04</a:t>
            </a:r>
            <a:endParaRPr lang="en-US" sz="850" dirty="0"/>
          </a:p>
        </p:txBody>
      </p:sp>
      <p:sp>
        <p:nvSpPr>
          <p:cNvPr id="32" name="Text 30"/>
          <p:cNvSpPr txBox="1"/>
          <p:nvPr/>
        </p:nvSpPr>
        <p:spPr>
          <a:xfrm>
            <a:off x="9120911" y="1280160"/>
            <a:ext cx="261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대기</a:t>
            </a:r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  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120911" y="1627632"/>
            <a:ext cx="2613584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20911" y="1755648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248927" y="1828800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Cross-bridge Rs + 4-pt probe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248927" y="2212848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0911" y="2596896"/>
            <a:ext cx="2613584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248927" y="2670048"/>
            <a:ext cx="2357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</a:rPr>
              <a:t>Dummy Fill 밀도 시뮬레이션 피드백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9248927" y="3054096"/>
            <a:ext cx="235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W06</a:t>
            </a:r>
            <a:endParaRPr lang="en-US" sz="850" dirty="0"/>
          </a:p>
        </p:txBody>
      </p:sp>
      <p:sp>
        <p:nvSpPr>
          <p:cNvPr id="4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 Slurry BTA Pad Window</dc:title>
  <dc:subject>PptxGenJS Presentation</dc:subject>
  <dc:creator>공정 AI팀</dc:creator>
  <cp:lastModifiedBy>공정 AI팀</cp:lastModifiedBy>
  <cp:revision>1</cp:revision>
  <dcterms:created xsi:type="dcterms:W3CDTF">2026-10-03T16:30:17Z</dcterms:created>
  <dcterms:modified xsi:type="dcterms:W3CDTF">2026-10-03T16:30:17Z</dcterms:modified>
</cp:coreProperties>
</file>