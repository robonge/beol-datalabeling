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1번 슬라이드는 실험 전체의 목적과 보고 범위를 잡는 단락 도입 슬라이드입니다.
발표 시 MOR이 기존 CAR 대비 갖는 차별점 — 산확산이 없고 2차 전자가 리간드를 직접 끊는 negative-tone 교가 결합 메커니즘 — 을 짧게 한 번 짚고,
이 실험이 "MOR이 18~24 nm 피치 BEOL에서 실제로 CD 제어가 되는가"를 Dose 19/28/38 mJ/cm² 3-split으로 정량 비교하는 것이 핵심이라는 점을 강조합니다.
오른쪽 메타 블록은 보고서 ID, layer 범위, wafer lot 정보를 보여주고, 왼쪽 카드 두 장은 핵심 검증 질문과 연계 평가 항목을 짚어주는 역할입니다.
질문 시간에 "왜 production 결론을 내지 않느냐"는 지적이 들어오면, dummy 데이터임을 명시하면서 본 데이터셋은 internal baseline-screening 용도로 통합 비교만 가능하다는 답변을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2번 슬라이드는 실험 셋업의 큰 그림을 잡습니다. 위쪽 4개 카드는 노출 툴(EUV NXE 계열, NA 0.33), 평가 레이어(V1+M2 dual-damascene), Dose split, 그리고 측정 메트로롤로지를 짚어줍니다.
강조하고 싶은 것은 F 영역인데, 3-level Dose 외에 PEB, 두께, 하드마스크, 식각 recipe는 모두 고정했다는 점입니다. 즉 dose가 CD 변화에 어떤 영향을 주는지 isolated effect 형태로 보려는 의도입니다.
발표할 때 "왜 더 thin하지 않은가"라는 질문이 들어오면 18nm로 박막화한 것은 High-NA EUV 진입을 가정한 reference doc line의 의도된 설정임을 답변하면 좋습니다.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3번 슬라이드는 DOE 매트릭스를 보여줍니다.
W-01, W-02, W-03 각 카드는 Dose 19 / 28 / 38 mJ/cm²로 매핑되어 있고, status chip으로 W-01은 reference, W-02는 middle tie, W-03는 deviation probe라는 역할이 표기되어 있습니다.
발표 시 강조 포인트: layer 평가는 모든 wafer에서 AASI·ASEI·AMI·ACI 4 metric 모두 동일하게 수행된다는 점이고, target CD는 23.3 / 15.7 / 9.5 / 9.1 nm로 한정되어 있습니다.
"왜 비뚤어진 Dose range인가"라는 질문이 오면, 19는 reference doc line에 근거한 published optimized value 부근, 38은 고-dose 편향 응답성을 보기 위한 ceiling으로 잡았다는 답변 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4번 슬라이드는 실제 SEM 단면 사진을 메인으로 보여주는 슬라이드입니다.
본 사진은 imec에서 공개된 N5 BEOL 단면 사진으로, EUV MOR로 형성된 V1/M2 적층 패턴의 단면을 보여줍니다.
발표 시 강조할 점은 MOR ultra-thin PR 환경에서도 측벽이 잘 유지된다는 점과, M2 라인 폭이 인접 라인 간 거의 동일한 균일 폭이라는 것입니다.
우측 3개의 observation 카드는 V1 측벽·M2 트랜치·interface cleanliness에 대한 정성적 관찰을 짧게 요약합니다.
사진 하단의 출처 표기는 imec magazine March 2017 issue임을 명시하며, 실제 web 검색을 통해 획득한 전자현미경 사진이 본문에 그대로 삽입된 형태임을 설명할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5번은 top-view 사진 + 보조 STEM 단면을 함께 배치한 슬라이드입니다.
큰 사진은 imec의 18 nm 피치 Line/Space 시연 자료로, MOR가 어떤 line-edge 거칠기를 만드는지 시각 reference로 사용됩니다.
우측 보조 사진은 IOPscience에 게재된 MOR STEM 자료로 본체/기판 경계를 한 번 더 짚어줍니다.
발표 시 "line-edge 거칠기는 양호하지만, dose가 어느 수준이냐에 따라 도메인별 편차가 실제로 달라진다"는 점을 짚고, 이 변동성을 정량적으로 본 뒤 슬라이드에서 비교 분석이 진행됨을 예고하면 됩니다.
사진은 모두 본문 안에서 직접 삽입되었고, 출처는 사진 하단 1줄로만 명시했습니다.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6번 슬라이드는 본 보고서의 메인 CD 통합 표입니다. 4 metric × 3 wafer = 12 행 × 6 열로 정리했고 왼쪽에는 wafer 색을 사용해 W-01 cyan, W-02 teal, W-03 amber로 일관되게 표기했습니다.
발표 시 강조하고 싶은 두 가지 포인트:
첫째, target 대비 Δ는 W-01이 +0.1 nm, −0.1 nm, +0.1 nm, −0.1 nm으로 모두 매우 작은데 반해 W-03은 +0.3 nm, −0.3 nm까지 벌어집니다.
둘째, range는 W-01이 0.8~1.9 nm인데 W-03은 2.9~4.2 nm로 2~3배에 달하여 dose 상향이 in-wafer 변동을 가속화 한다는 가설을 뒷받침합니다.
3σ 값도 같은 방향으로 움직이고 있어 일관된 dose-response 그래디언트가 있다고 보면 됩니다.
Range의 최대값이 4.2 nm인 ASEI W-03 row는 absolute로 도드라지므로 발표 시 call-out 할 만합니다.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7번 슬라이드는 AASI 메트릭 하나에 집중한 디테일 슬라이드입니다. Target 23.3 nm 기준으로 각 wafer 별 mean/3σ/range/Δ 4개 값을 카드 형식으로 보여주고, 하단에는 target line 위에 mean을 점으로 찍어 dose가 증가할수록 under-shot 쪽으로 내려가는 모습을 시각적으로 짚어 줍니다.
발표할 때 22 nm 근처까지 떨어지는 W-03의 −0.5 nm drift가 chemistry가 negative-tone이라는 사실과 결합되었을 때 어떤 의미를 갖는지 짚으면 좋습니다.
또한 range 1.9 → 3.8 nm로 두 배 가까이 늘어났다는 점이 dose headroom이 곧 안정성 trade-off로 연결된다는 신호로 읽힙니다.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8번 슬라이드는 ASEI에 집중한 디테일입니다. 좌측에 3-행 통계 테이블, 우측 상단에 Δ 분포 막대, 그 아래 Range 스케일링 표와 우측 하단 관찰 노트 카드를 배치했습니다.
Δ 분포 차트는 0 기준선을 중심으로 좌측으로 음의 편차, 우측으로 양의 편차를 한눈에 비교하게 만들었습니다.
발표 시 point: W-02가 +0.2 nm로 가장 가깝고, W-03 range 4.2 nm는 18 nm 피치의 약 23%까지 차지하는 값으로 production pitch-budget을 직접 overwrite 할 우려가 있다는 점을 짚어 줍니다.
W-03의 3σ 1.6 nm도 다른 두 wafer의 2~3배로 dose 증가가 단순히 CD shift만이 아니라 분포 폭까지 동시에 끌어올린다는 신호로 해석할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9번 슬라이드는 M2 레이어의 AMI와 ACI 두 메트릭을 한 슬라이드에서 좌우로 분리해서 보여줍니다.
AMI는 target 9.5 nm 대비 +0.1, −0.1, +0.3 nm의 분포를 보이며 정중앙에서 ±0.3 nm 폭입니다.
ACI는 target 9.1 nm에서 −0.1, +0.2, −0.3 nm로 비슷한 band 안에 들어가지만 38 mJ에서는 한참 under-shot인 8.8 nm까지 내려갑니다.
발표 시 핵심: dose 변화에 AMI 대비 ACI가 더 큰 폭으로 반응한다는 점을 짚고, 같은 wafer에서 두 메트릭이 비대칭으로 움직인다는 사실을 강조합니다.
즉 dose sweep를 어떤 layer description에 대해 최적화하느냐에 따라 M2 후속 mask 재설계가 어떻게 달라져야 할지 결정되어야 한다는 점이 본 슬라이드의 메시지입니다.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10번 슬라이드는 in-wafer 균일도 NU(=3σ/mean × 100)를 메인 표로 보여줍니다. 4 metric × 3 wafer = 12개 셀을 그린 후 어느 셀이 어디 band에 속하는지 색 코딩으로 표시했습니다 — emerald는 4% 이하 양호, amber는 4~8% 주의, rose는 8% 이상 이상치 영역입니다.
우측 두 카드는 W-01 평균 NU 3.4%로 acceptance margin에 들어와 있다는 신호, W-03 ACI NU 12.5%는 W-01의 3.8배에 달해 dose 상향이 변동성을 가속화한다는 핵심 facts를 줍니다.
발표 시 ACI ACIMETRIC이 W-02에서 이미 6.5%로 주의 band 진입, W-03에서 12.5%로 점프한다는 점이 dose headroom을 어디까지 가져가도 되는지 결정하는 anchor가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11번 슬라이드는 25-point wafer map을 보여줍니다. ACI에 집중한 것은 ACI가 4 metric 중 가장 dose-민감이라 wafer-level 패턴이 가장 두드러지기 때문입니다.
각 셀은 절대 CD 값을 그대로 보여주고, 색 농도는 target 9.1 nm 대비 |Δ| 크기에 따라 cyan(±0.1nm), amber(0.1~0.3), rose(0.3~0.5)로 구분했습니다.
발표 시 짚고 갈 포인트: W-01은 거의 전 셀이 cyan/light band에 속해 균일하지만 W-03는 rose 셀이 가장자리 쪽으로 많이 퍼져 있습니다. ring-edge 영역은 8.1~8.3 nm 수준의 under-shot 셀이 보이고, 그 반대쪽 모서리에서는 9.7~9.8 nm로 over-shot이 동시에 발생 — 이는 dose 상승이 center-vs-edge 패턴을 오히려 분리시킨다는 신호입니다.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12번 슬라이드는 전기 특성 종합 표입니다. V1/M2 layer로 나누어 Rs (sheet resistance), Rline (1 µm 라인 저항), Ileak (1 V 인가 시 누설 전류), 그리고 V1→M2 via chain의 via 저항을 정리했습니다.
발표 시 강조: W-01이 모든 측정 항목에서 가장 낮은 baseline을 보이지만 W-03는 V1 Rs가 0.51 Ω/sq로 baseline 대비 21.4% 증가, via 저항 41 Ω은 W-01의 1.86배, V1 누설 4.5 pA/µm은 2배 이상 증가한 fault band입니다.
즉 더 높은 dose가 얻을 수 있는 headroom은 있지만 동시에 via·누설 트레이드오프가 따라온다는 점을 짚어 줍니다.
W-02는 trade-off point로 baseline 대비 작지만 일관된 drift가 있어 dose 28 mJ가 steady-state 운영 시 reference 후보가 될 수 있는 지점임을 시사합니다.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jpe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jpeg"/><Relationship Id="rId3" Type="http://schemas.openxmlformats.org/officeDocument/2006/relationships/image" Target="../media/image-5-3.jpe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2E"/>
        </a:solidFill>
      </p:bgPr>
    </p:bg>
    <p:spTree>
      <p:nvGrpSpPr>
        <p:cNvPr id="1" name=""/>
        <p:cNvGrpSpPr/>
        <p:nvPr/>
      </p:nvGrpSpPr>
      <p:grpSpPr>
        <a:xfrm>
          <a:off x="0" y="0"/>
          <a:ext cx="0" cy="0"/>
          <a:chOff x="0" y="0"/>
          <a:chExt cx="0" cy="0"/>
        </a:xfrm>
      </p:grpSpPr>
      <p:pic>
        <p:nvPicPr>
          <p:cNvPr id="3" name="Image 0" descr="gen-dedup-5bb7b8809c8bc324f2e81a2059464217.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bf0025115f07e418339316f18dcab96d.png">    </p:cNvPr>
          <p:cNvPicPr>
            <a:picLocks noChangeAspect="1"/>
          </p:cNvPicPr>
          <p:nvPr/>
        </p:nvPicPr>
        <p:blipFill>
          <a:blip r:embed="rId2"/>
          <a:srcRect l="0" r="0" t="0" b="0"/>
          <a:stretch/>
        </p:blipFill>
        <p:spPr>
          <a:xfrm>
            <a:off x="14668805" y="-1714500"/>
            <a:ext cx="5333695" cy="5333695"/>
          </a:xfrm>
          <a:prstGeom prst="rect">
            <a:avLst/>
          </a:prstGeom>
        </p:spPr>
      </p:pic>
      <p:pic>
        <p:nvPicPr>
          <p:cNvPr id="5" name="Image 2" descr="gen-dedup-2dd709adc4a260a5bc9ce3c1e3233dc2.png">    </p:cNvPr>
          <p:cNvPicPr>
            <a:picLocks noChangeAspect="1"/>
          </p:cNvPicPr>
          <p:nvPr/>
        </p:nvPicPr>
        <p:blipFill>
          <a:blip r:embed="rId3"/>
          <a:srcRect l="0" r="0" t="0" b="0"/>
          <a:stretch/>
        </p:blipFill>
        <p:spPr>
          <a:xfrm>
            <a:off x="-1429207" y="7810805"/>
            <a:ext cx="4000500" cy="4000500"/>
          </a:xfrm>
          <a:prstGeom prst="rect">
            <a:avLst/>
          </a:prstGeom>
        </p:spPr>
      </p:pic>
      <p:pic>
        <p:nvPicPr>
          <p:cNvPr id="6" name="Image 3" descr="gen-dedup-c71c70908de4149ef681a99f61f2f564.png">    </p:cNvPr>
          <p:cNvPicPr>
            <a:picLocks noChangeAspect="1"/>
          </p:cNvPicPr>
          <p:nvPr/>
        </p:nvPicPr>
        <p:blipFill>
          <a:blip r:embed="rId4">
            <a:alphaModFix amt="18000"/>
          </a:blip>
          <a:srcRect l="-3" r="-3" t="0" b="0"/>
          <a:stretch/>
        </p:blipFill>
        <p:spPr>
          <a:xfrm>
            <a:off x="15620695" y="1333195"/>
            <a:ext cx="1904695" cy="1333195"/>
          </a:xfrm>
          <a:prstGeom prst="rect">
            <a:avLst/>
          </a:prstGeom>
        </p:spPr>
      </p:pic>
      <p:sp>
        <p:nvSpPr>
          <p:cNvPr id="7" name="Shape 0"/>
          <p:cNvSpPr/>
          <p:nvPr/>
        </p:nvSpPr>
        <p:spPr>
          <a:xfrm>
            <a:off x="1143000" y="4762195"/>
            <a:ext cx="7286854" cy="1543507"/>
          </a:xfrm>
          <a:prstGeom prst="rect">
            <a:avLst/>
          </a:prstGeom>
          <a:solidFill>
            <a:srgbClr val="142039"/>
          </a:solidFill>
          <a:ln w="12700">
            <a:solidFill>
              <a:srgbClr val="1F2D49"/>
            </a:solidFill>
            <a:prstDash val="solid"/>
          </a:ln>
        </p:spPr>
      </p:sp>
      <p:sp>
        <p:nvSpPr>
          <p:cNvPr id="8" name="Shape 1"/>
          <p:cNvSpPr/>
          <p:nvPr/>
        </p:nvSpPr>
        <p:spPr>
          <a:xfrm>
            <a:off x="1143000" y="4762195"/>
            <a:ext cx="38405" cy="1543507"/>
          </a:xfrm>
          <a:prstGeom prst="rect">
            <a:avLst/>
          </a:prstGeom>
          <a:solidFill>
            <a:srgbClr val="38BDF8"/>
          </a:solidFill>
          <a:ln w="12700">
            <a:solidFill>
              <a:srgbClr val="38BDF8">
                <a:alpha val="0"/>
              </a:srgbClr>
            </a:solidFill>
            <a:prstDash val="solid"/>
          </a:ln>
        </p:spPr>
      </p:sp>
      <p:sp>
        <p:nvSpPr>
          <p:cNvPr id="9" name="Shape 2"/>
          <p:cNvSpPr/>
          <p:nvPr/>
        </p:nvSpPr>
        <p:spPr>
          <a:xfrm>
            <a:off x="1143000" y="6515100"/>
            <a:ext cx="7286854" cy="1543507"/>
          </a:xfrm>
          <a:prstGeom prst="rect">
            <a:avLst/>
          </a:prstGeom>
          <a:solidFill>
            <a:srgbClr val="142039"/>
          </a:solidFill>
          <a:ln w="12700">
            <a:solidFill>
              <a:srgbClr val="1F2D49"/>
            </a:solidFill>
            <a:prstDash val="solid"/>
          </a:ln>
        </p:spPr>
      </p:sp>
      <p:sp>
        <p:nvSpPr>
          <p:cNvPr id="10" name="Shape 3"/>
          <p:cNvSpPr/>
          <p:nvPr/>
        </p:nvSpPr>
        <p:spPr>
          <a:xfrm>
            <a:off x="1143000" y="6515100"/>
            <a:ext cx="38405" cy="1543507"/>
          </a:xfrm>
          <a:prstGeom prst="rect">
            <a:avLst/>
          </a:prstGeom>
          <a:solidFill>
            <a:srgbClr val="14B8A6"/>
          </a:solidFill>
          <a:ln w="12700">
            <a:solidFill>
              <a:srgbClr val="14B8A6">
                <a:alpha val="0"/>
              </a:srgbClr>
            </a:solidFill>
            <a:prstDash val="solid"/>
          </a:ln>
        </p:spPr>
      </p:sp>
      <p:sp>
        <p:nvSpPr>
          <p:cNvPr id="11" name="Shape 4"/>
          <p:cNvSpPr/>
          <p:nvPr/>
        </p:nvSpPr>
        <p:spPr>
          <a:xfrm>
            <a:off x="8953805" y="4762195"/>
            <a:ext cx="8210398" cy="3295498"/>
          </a:xfrm>
          <a:prstGeom prst="rect">
            <a:avLst/>
          </a:prstGeom>
          <a:solidFill>
            <a:srgbClr val="1A2742"/>
          </a:solidFill>
          <a:ln w="12700">
            <a:solidFill>
              <a:srgbClr val="2A3D5F"/>
            </a:solidFill>
            <a:prstDash val="solid"/>
          </a:ln>
        </p:spPr>
      </p:sp>
      <p:sp>
        <p:nvSpPr>
          <p:cNvPr id="12" name="Shape 5"/>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3" name="Shape 6"/>
          <p:cNvSpPr/>
          <p:nvPr/>
        </p:nvSpPr>
        <p:spPr>
          <a:xfrm>
            <a:off x="1143000" y="9430207"/>
            <a:ext cx="28346" cy="495605"/>
          </a:xfrm>
          <a:prstGeom prst="rect">
            <a:avLst/>
          </a:prstGeom>
          <a:solidFill>
            <a:srgbClr val="38BDF8"/>
          </a:solidFill>
          <a:ln w="12700">
            <a:solidFill>
              <a:srgbClr val="38BDF8">
                <a:alpha val="0"/>
              </a:srgbClr>
            </a:solidFill>
            <a:prstDash val="solid"/>
          </a:ln>
        </p:spPr>
      </p:sp>
      <p:pic>
        <p:nvPicPr>
          <p:cNvPr id="14" name="Image 4" descr="gen-dedup-c2daa859a9d2432105d50362655a684b.png">    </p:cNvPr>
          <p:cNvPicPr>
            <a:picLocks noChangeAspect="1"/>
          </p:cNvPicPr>
          <p:nvPr/>
        </p:nvPicPr>
        <p:blipFill>
          <a:blip r:embed="rId5"/>
          <a:srcRect l="-2072" r="-2072" t="0" b="0"/>
          <a:stretch/>
        </p:blipFill>
        <p:spPr>
          <a:xfrm>
            <a:off x="9334195" y="5372100"/>
            <a:ext cx="1333195" cy="9144"/>
          </a:xfrm>
          <a:prstGeom prst="rect">
            <a:avLst/>
          </a:prstGeom>
        </p:spPr>
      </p:pic>
      <p:sp>
        <p:nvSpPr>
          <p:cNvPr id="15" name="Text 7"/>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01 / Research Framing</a:t>
            </a:r>
            <a:endParaRPr lang="en-US" sz="1350" dirty="0"/>
          </a:p>
        </p:txBody>
      </p:sp>
      <p:sp>
        <p:nvSpPr>
          <p:cNvPr id="16" name="Text 8"/>
          <p:cNvSpPr txBox="1"/>
          <p:nvPr/>
        </p:nvSpPr>
        <p:spPr>
          <a:xfrm>
            <a:off x="1143000" y="1410005"/>
            <a:ext cx="12764110" cy="933602"/>
          </a:xfrm>
          <a:prstGeom prst="rect">
            <a:avLst/>
          </a:prstGeom>
          <a:noFill/>
          <a:ln/>
        </p:spPr>
        <p:txBody>
          <a:bodyPr wrap="none" lIns="0" tIns="0" rIns="0" bIns="0" rtlCol="0" anchor="ctr"/>
          <a:lstStyle/>
          <a:p>
            <a:pPr algn="l" indent="0" marL="0">
              <a:buNone/>
            </a:pPr>
            <a:r>
              <a:rPr lang="en-US" sz="7200" b="1" spc="-72" kern="0" dirty="0">
                <a:solidFill>
                  <a:srgbClr val="E8EDF5"/>
                </a:solidFill>
                <a:latin typeface="Space Grotesk" pitchFamily="34" charset="0"/>
                <a:ea typeface="Space Grotesk" pitchFamily="34" charset="-122"/>
                <a:cs typeface="Space Grotesk" pitchFamily="34" charset="-120"/>
              </a:rPr>
              <a:t>실험 목적</a:t>
            </a:r>
            <a:endParaRPr lang="en-US" sz="7200" dirty="0"/>
          </a:p>
        </p:txBody>
      </p:sp>
      <p:pic>
        <p:nvPicPr>
          <p:cNvPr id="17" name="Image 5" descr="gen-dedup-9f06f11a82c3141b09addf679494b32c.png">    </p:cNvPr>
          <p:cNvPicPr>
            <a:picLocks noChangeAspect="1"/>
          </p:cNvPicPr>
          <p:nvPr/>
        </p:nvPicPr>
        <p:blipFill>
          <a:blip r:embed="rId6"/>
          <a:srcRect l="0" r="0" t="-412" b="-412"/>
          <a:stretch/>
        </p:blipFill>
        <p:spPr>
          <a:xfrm>
            <a:off x="1143000" y="2686507"/>
            <a:ext cx="1333195" cy="38405"/>
          </a:xfrm>
          <a:prstGeom prst="rect">
            <a:avLst/>
          </a:prstGeom>
        </p:spPr>
      </p:pic>
      <p:sp>
        <p:nvSpPr>
          <p:cNvPr id="18" name="Text 9"/>
          <p:cNvSpPr txBox="1"/>
          <p:nvPr/>
        </p:nvSpPr>
        <p:spPr>
          <a:xfrm>
            <a:off x="1143000" y="3021178"/>
            <a:ext cx="9335110" cy="1151230"/>
          </a:xfrm>
          <a:prstGeom prst="rect">
            <a:avLst/>
          </a:prstGeom>
          <a:noFill/>
          <a:ln/>
        </p:spPr>
        <p:txBody>
          <a:bodyPr wrap="square" lIns="0" tIns="0" rIns="0" bIns="0" rtlCol="0" anchor="t"/>
          <a:lstStyle/>
          <a:p>
            <a:pPr algn="l" indent="0" marL="0">
              <a:lnSpc>
                <a:spcPts val="2940"/>
              </a:lnSpc>
              <a:buNone/>
            </a:pPr>
            <a:r>
              <a:rPr lang="en-US" sz="2100" dirty="0">
                <a:solidFill>
                  <a:srgbClr val="B7C4D6"/>
                </a:solidFill>
                <a:latin typeface="IBM Plex Sans KR" pitchFamily="34" charset="0"/>
                <a:ea typeface="IBM Plex Sans KR" pitchFamily="34" charset="-122"/>
                <a:cs typeface="IBM Plex Sans KR" pitchFamily="34" charset="-120"/>
              </a:rPr>
              <a:t>MOR(Metal-Oxide Resist)의 산확산 부재 메커니즘이</a:t>
            </a:r>
            <a:pPr algn="l" indent="0" marL="0">
              <a:lnSpc>
                <a:spcPts val="2940"/>
              </a:lnSpc>
              <a:buNone/>
            </a:pPr>
            <a:endParaRPr lang="en-US" sz="2100" dirty="0"/>
          </a:p>
          <a:p>
            <a:pPr algn="l" indent="0" marL="0">
              <a:lnSpc>
                <a:spcPts val="2940"/>
              </a:lnSpc>
              <a:buNone/>
            </a:pPr>
            <a:r>
              <a:rPr lang="en-US" sz="2100" dirty="0">
                <a:solidFill>
                  <a:srgbClr val="B7C4D6"/>
                </a:solidFill>
                <a:latin typeface="IBM Plex Sans KR" pitchFamily="34" charset="0"/>
                <a:ea typeface="IBM Plex Sans KR" pitchFamily="34" charset="-122"/>
                <a:cs typeface="IBM Plex Sans KR" pitchFamily="34" charset="-120"/>
              </a:rPr>
              <a:t>18~24 nm 피치 BEOL 패터닝에서 CAR 대비 CD·LWR 제어 우위를</a:t>
            </a:r>
            <a:pPr algn="l" indent="0" marL="0">
              <a:lnSpc>
                <a:spcPts val="2940"/>
              </a:lnSpc>
              <a:buNone/>
            </a:pPr>
            <a:endParaRPr lang="en-US" sz="2100" dirty="0"/>
          </a:p>
          <a:p>
            <a:pPr algn="l" indent="0" marL="0">
              <a:lnSpc>
                <a:spcPts val="2940"/>
              </a:lnSpc>
              <a:buNone/>
            </a:pPr>
            <a:r>
              <a:rPr lang="en-US" sz="2100" dirty="0">
                <a:solidFill>
                  <a:srgbClr val="B7C4D6"/>
                </a:solidFill>
                <a:latin typeface="IBM Plex Sans KR" pitchFamily="34" charset="0"/>
                <a:ea typeface="IBM Plex Sans KR" pitchFamily="34" charset="-122"/>
                <a:cs typeface="IBM Plex Sans KR" pitchFamily="34" charset="-120"/>
              </a:rPr>
              <a:t>실제로 유지하는지 통합 검증한다.</a:t>
            </a:r>
            <a:endParaRPr lang="en-US" sz="2100" dirty="0"/>
          </a:p>
        </p:txBody>
      </p:sp>
      <p:sp>
        <p:nvSpPr>
          <p:cNvPr id="19" name="Text 10"/>
          <p:cNvSpPr txBox="1"/>
          <p:nvPr/>
        </p:nvSpPr>
        <p:spPr>
          <a:xfrm>
            <a:off x="1447495" y="4953305"/>
            <a:ext cx="6667805" cy="191110"/>
          </a:xfrm>
          <a:prstGeom prst="rect">
            <a:avLst/>
          </a:prstGeom>
          <a:noFill/>
          <a:ln/>
        </p:spPr>
        <p:txBody>
          <a:bodyPr wrap="none" lIns="0" tIns="0" rIns="0" bIns="0" rtlCol="0" anchor="ctr"/>
          <a:lstStyle/>
          <a:p>
            <a:pPr algn="l" indent="0" marL="0">
              <a:buNone/>
            </a:pPr>
            <a:r>
              <a:rPr lang="en-US" sz="1050" spc="231" kern="0" dirty="0">
                <a:solidFill>
                  <a:srgbClr val="8B9BB3"/>
                </a:solidFill>
                <a:latin typeface="JetBrains Mono" pitchFamily="34" charset="0"/>
                <a:ea typeface="JetBrains Mono" pitchFamily="34" charset="-122"/>
                <a:cs typeface="JetBrains Mono" pitchFamily="34" charset="-120"/>
              </a:rPr>
              <a:t>핵심 검증 질문</a:t>
            </a:r>
            <a:endParaRPr lang="en-US" sz="1050" dirty="0"/>
          </a:p>
        </p:txBody>
      </p:sp>
      <p:sp>
        <p:nvSpPr>
          <p:cNvPr id="20" name="Text 11"/>
          <p:cNvSpPr txBox="1"/>
          <p:nvPr/>
        </p:nvSpPr>
        <p:spPr>
          <a:xfrm>
            <a:off x="1447495" y="5203850"/>
            <a:ext cx="6667805" cy="1063447"/>
          </a:xfrm>
          <a:prstGeom prst="rect">
            <a:avLst/>
          </a:prstGeom>
          <a:noFill/>
          <a:ln/>
        </p:spPr>
        <p:txBody>
          <a:bodyPr wrap="square" lIns="0" tIns="0" rIns="0" bIns="0" rtlCol="0" anchor="t"/>
          <a:lstStyle/>
          <a:p>
            <a:pPr algn="l" indent="0" marL="0">
              <a:lnSpc>
                <a:spcPts val="2700"/>
              </a:lnSpc>
              <a:buNone/>
            </a:pPr>
            <a:r>
              <a:rPr lang="en-US" sz="1800" dirty="0">
                <a:solidFill>
                  <a:srgbClr val="E8EDF5"/>
                </a:solidFill>
                <a:latin typeface="IBM Plex Sans KR" pitchFamily="34" charset="0"/>
                <a:ea typeface="IBM Plex Sans KR" pitchFamily="34" charset="-122"/>
                <a:cs typeface="IBM Plex Sans KR" pitchFamily="34" charset="-120"/>
              </a:rPr>
              <a:t>Dose 19~38 mJ/cm² 범위에서 4 종 CD 지표(AASI·ASEI·AMI·ACI)가</a:t>
            </a:r>
            <a:pPr algn="l" indent="0" marL="0">
              <a:lnSpc>
                <a:spcPts val="2700"/>
              </a:lnSpc>
              <a:buNone/>
            </a:pPr>
            <a:endParaRPr lang="en-US" sz="1800" dirty="0"/>
          </a:p>
          <a:p>
            <a:pPr algn="l" indent="0" marL="0">
              <a:lnSpc>
                <a:spcPts val="2700"/>
              </a:lnSpc>
              <a:buNone/>
            </a:pPr>
            <a:r>
              <a:rPr lang="en-US" sz="1800" dirty="0">
                <a:solidFill>
                  <a:srgbClr val="E8EDF5"/>
                </a:solidFill>
                <a:latin typeface="IBM Plex Sans KR" pitchFamily="34" charset="0"/>
                <a:ea typeface="IBM Plex Sans KR" pitchFamily="34" charset="-122"/>
                <a:cs typeface="IBM Plex Sans KR" pitchFamily="34" charset="-120"/>
              </a:rPr>
              <a:t>target ±0.5 nm 안에 안착하는 wafer가 존재하는가?</a:t>
            </a:r>
            <a:endParaRPr lang="en-US" sz="1800" dirty="0"/>
          </a:p>
        </p:txBody>
      </p:sp>
      <p:sp>
        <p:nvSpPr>
          <p:cNvPr id="21" name="Text 12"/>
          <p:cNvSpPr txBox="1"/>
          <p:nvPr/>
        </p:nvSpPr>
        <p:spPr>
          <a:xfrm>
            <a:off x="1447495" y="6705295"/>
            <a:ext cx="6667805" cy="191110"/>
          </a:xfrm>
          <a:prstGeom prst="rect">
            <a:avLst/>
          </a:prstGeom>
          <a:noFill/>
          <a:ln/>
        </p:spPr>
        <p:txBody>
          <a:bodyPr wrap="none" lIns="0" tIns="0" rIns="0" bIns="0" rtlCol="0" anchor="ctr"/>
          <a:lstStyle/>
          <a:p>
            <a:pPr algn="l" indent="0" marL="0">
              <a:buNone/>
            </a:pPr>
            <a:r>
              <a:rPr lang="en-US" sz="1050" spc="231" kern="0" dirty="0">
                <a:solidFill>
                  <a:srgbClr val="8B9BB3"/>
                </a:solidFill>
                <a:latin typeface="JetBrains Mono" pitchFamily="34" charset="0"/>
                <a:ea typeface="JetBrains Mono" pitchFamily="34" charset="-122"/>
                <a:cs typeface="JetBrains Mono" pitchFamily="34" charset="-120"/>
              </a:rPr>
              <a:t>연계 평가 항목</a:t>
            </a:r>
            <a:endParaRPr lang="en-US" sz="1050" dirty="0"/>
          </a:p>
        </p:txBody>
      </p:sp>
      <p:sp>
        <p:nvSpPr>
          <p:cNvPr id="22" name="Text 13"/>
          <p:cNvSpPr txBox="1"/>
          <p:nvPr/>
        </p:nvSpPr>
        <p:spPr>
          <a:xfrm>
            <a:off x="1447495" y="6956755"/>
            <a:ext cx="6667805" cy="720547"/>
          </a:xfrm>
          <a:prstGeom prst="rect">
            <a:avLst/>
          </a:prstGeom>
          <a:noFill/>
          <a:ln/>
        </p:spPr>
        <p:txBody>
          <a:bodyPr wrap="square" lIns="0" tIns="0" rIns="0" bIns="0" rtlCol="0" anchor="t"/>
          <a:lstStyle/>
          <a:p>
            <a:pPr algn="l" indent="0" marL="0">
              <a:lnSpc>
                <a:spcPts val="2700"/>
              </a:lnSpc>
              <a:buNone/>
            </a:pPr>
            <a:r>
              <a:rPr lang="en-US" sz="1800" dirty="0">
                <a:solidFill>
                  <a:srgbClr val="E8EDF5"/>
                </a:solidFill>
                <a:latin typeface="IBM Plex Sans KR" pitchFamily="34" charset="0"/>
                <a:ea typeface="IBM Plex Sans KR" pitchFamily="34" charset="-122"/>
                <a:cs typeface="IBM Plex Sans KR" pitchFamily="34" charset="-120"/>
              </a:rPr>
              <a:t>In-wafer 25-point 균일도(NU)와 V1·M2 line/via 전기특성으로</a:t>
            </a:r>
            <a:pPr algn="l" indent="0" marL="0">
              <a:lnSpc>
                <a:spcPts val="2700"/>
              </a:lnSpc>
              <a:buNone/>
            </a:pPr>
            <a:endParaRPr lang="en-US" sz="1800" dirty="0"/>
          </a:p>
          <a:p>
            <a:pPr algn="l" indent="0" marL="0">
              <a:lnSpc>
                <a:spcPts val="2700"/>
              </a:lnSpc>
              <a:buNone/>
            </a:pPr>
            <a:r>
              <a:rPr lang="en-US" sz="1800" dirty="0">
                <a:solidFill>
                  <a:srgbClr val="E8EDF5"/>
                </a:solidFill>
                <a:latin typeface="IBM Plex Sans KR" pitchFamily="34" charset="0"/>
                <a:ea typeface="IBM Plex Sans KR" pitchFamily="34" charset="-122"/>
                <a:cs typeface="IBM Plex Sans KR" pitchFamily="34" charset="-120"/>
              </a:rPr>
              <a:t>통합 yield proxy 를 함께 본다. 결론 도출은 의도하지 않음.</a:t>
            </a:r>
            <a:endParaRPr lang="en-US" sz="1800" dirty="0"/>
          </a:p>
        </p:txBody>
      </p:sp>
      <p:sp>
        <p:nvSpPr>
          <p:cNvPr id="23" name="Text 14"/>
          <p:cNvSpPr txBox="1"/>
          <p:nvPr/>
        </p:nvSpPr>
        <p:spPr>
          <a:xfrm>
            <a:off x="9334195" y="5029200"/>
            <a:ext cx="7429500" cy="191110"/>
          </a:xfrm>
          <a:prstGeom prst="rect">
            <a:avLst/>
          </a:prstGeom>
          <a:noFill/>
          <a:ln/>
        </p:spPr>
        <p:txBody>
          <a:bodyPr wrap="none" lIns="0" tIns="0" rIns="0" bIns="0" rtlCol="0" anchor="ctr"/>
          <a:lstStyle/>
          <a:p>
            <a:pPr algn="l" indent="0" marL="0">
              <a:buNone/>
            </a:pPr>
            <a:r>
              <a:rPr lang="en-US" sz="1050" spc="231" kern="0" dirty="0">
                <a:solidFill>
                  <a:srgbClr val="8B9BB3"/>
                </a:solidFill>
                <a:latin typeface="JetBrains Mono" pitchFamily="34" charset="0"/>
                <a:ea typeface="JetBrains Mono" pitchFamily="34" charset="-122"/>
                <a:cs typeface="JetBrains Mono" pitchFamily="34" charset="-120"/>
              </a:rPr>
              <a:t>실험 메타</a:t>
            </a:r>
            <a:endParaRPr lang="en-US" sz="1050" dirty="0"/>
          </a:p>
        </p:txBody>
      </p:sp>
      <p:sp>
        <p:nvSpPr>
          <p:cNvPr id="24" name="Text 15"/>
          <p:cNvSpPr txBox="1"/>
          <p:nvPr/>
        </p:nvSpPr>
        <p:spPr>
          <a:xfrm>
            <a:off x="9334195" y="5562295"/>
            <a:ext cx="1524305"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Reporting ID</a:t>
            </a:r>
            <a:endParaRPr lang="en-US" sz="1350" dirty="0"/>
          </a:p>
        </p:txBody>
      </p:sp>
      <p:sp>
        <p:nvSpPr>
          <p:cNvPr id="25" name="Text 16"/>
          <p:cNvSpPr txBox="1"/>
          <p:nvPr/>
        </p:nvSpPr>
        <p:spPr>
          <a:xfrm>
            <a:off x="11087100" y="5562295"/>
            <a:ext cx="5677510"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RPT-EUV-MOR-2026Q4-15</a:t>
            </a:r>
            <a:endParaRPr lang="en-US" sz="1500" dirty="0"/>
          </a:p>
        </p:txBody>
      </p:sp>
      <p:sp>
        <p:nvSpPr>
          <p:cNvPr id="26" name="Text 17"/>
          <p:cNvSpPr txBox="1"/>
          <p:nvPr/>
        </p:nvSpPr>
        <p:spPr>
          <a:xfrm>
            <a:off x="9334195" y="5943600"/>
            <a:ext cx="1524305"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Layer Scope</a:t>
            </a:r>
            <a:endParaRPr lang="en-US" sz="1350" dirty="0"/>
          </a:p>
        </p:txBody>
      </p:sp>
      <p:sp>
        <p:nvSpPr>
          <p:cNvPr id="27" name="Text 18"/>
          <p:cNvSpPr txBox="1"/>
          <p:nvPr/>
        </p:nvSpPr>
        <p:spPr>
          <a:xfrm>
            <a:off x="11087100" y="5943600"/>
            <a:ext cx="5677510"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V1 (via-1) + M2 (metal-2)</a:t>
            </a:r>
            <a:endParaRPr lang="en-US" sz="1500" dirty="0"/>
          </a:p>
        </p:txBody>
      </p:sp>
      <p:sp>
        <p:nvSpPr>
          <p:cNvPr id="28" name="Text 19"/>
          <p:cNvSpPr txBox="1"/>
          <p:nvPr/>
        </p:nvSpPr>
        <p:spPr>
          <a:xfrm>
            <a:off x="9334195" y="6324905"/>
            <a:ext cx="1524305"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Dose Split</a:t>
            </a:r>
            <a:endParaRPr lang="en-US" sz="1350" dirty="0"/>
          </a:p>
        </p:txBody>
      </p:sp>
      <p:sp>
        <p:nvSpPr>
          <p:cNvPr id="29" name="Text 20"/>
          <p:cNvSpPr txBox="1"/>
          <p:nvPr/>
        </p:nvSpPr>
        <p:spPr>
          <a:xfrm>
            <a:off x="11087100" y="6324905"/>
            <a:ext cx="5677510"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19 · 28 · 38 mJ/cm² (3-split)</a:t>
            </a:r>
            <a:endParaRPr lang="en-US" sz="1500" dirty="0"/>
          </a:p>
        </p:txBody>
      </p:sp>
      <p:sp>
        <p:nvSpPr>
          <p:cNvPr id="30" name="Text 21"/>
          <p:cNvSpPr txBox="1"/>
          <p:nvPr/>
        </p:nvSpPr>
        <p:spPr>
          <a:xfrm>
            <a:off x="9334195" y="6705295"/>
            <a:ext cx="1524305" cy="277063"/>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Wafer Lot</a:t>
            </a:r>
            <a:endParaRPr lang="en-US" sz="1350" dirty="0"/>
          </a:p>
        </p:txBody>
      </p:sp>
      <p:sp>
        <p:nvSpPr>
          <p:cNvPr id="31" name="Text 22"/>
          <p:cNvSpPr txBox="1"/>
          <p:nvPr/>
        </p:nvSpPr>
        <p:spPr>
          <a:xfrm>
            <a:off x="11087100" y="6705295"/>
            <a:ext cx="5677510" cy="277063"/>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3 매 (W-01 · W-02 · W-03)</a:t>
            </a:r>
            <a:endParaRPr lang="en-US" sz="1500" dirty="0"/>
          </a:p>
        </p:txBody>
      </p:sp>
      <p:sp>
        <p:nvSpPr>
          <p:cNvPr id="32" name="Text 23"/>
          <p:cNvSpPr txBox="1"/>
          <p:nvPr/>
        </p:nvSpPr>
        <p:spPr>
          <a:xfrm>
            <a:off x="9334195" y="7114946"/>
            <a:ext cx="1524305" cy="277063"/>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Resist Family</a:t>
            </a:r>
            <a:endParaRPr lang="en-US" sz="1350" dirty="0"/>
          </a:p>
        </p:txBody>
      </p:sp>
      <p:sp>
        <p:nvSpPr>
          <p:cNvPr id="33" name="Text 24"/>
          <p:cNvSpPr txBox="1"/>
          <p:nvPr/>
        </p:nvSpPr>
        <p:spPr>
          <a:xfrm>
            <a:off x="11087100" y="7114946"/>
            <a:ext cx="5677510" cy="277063"/>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Sn 기반 MOR (negative-tone)</a:t>
            </a:r>
            <a:endParaRPr lang="en-US" sz="1500" dirty="0"/>
          </a:p>
        </p:txBody>
      </p:sp>
      <p:sp>
        <p:nvSpPr>
          <p:cNvPr id="34" name="Text 25"/>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산확산이 없는 MOR 2차전자 교가 메커니즘이 실제 24 nm급 피치에서 CD·LWR 통제 우위를 보이는지 정량 비교에 초점을 둔다.</a:t>
            </a:r>
            <a:endParaRPr lang="en-US" sz="1200" dirty="0"/>
          </a:p>
        </p:txBody>
      </p:sp>
      <p:sp>
        <p:nvSpPr>
          <p:cNvPr id="35" name="Text 26"/>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A2E"/>
        </a:solidFill>
      </p:bgPr>
    </p:bg>
    <p:spTree>
      <p:nvGrpSpPr>
        <p:cNvPr id="1" name=""/>
        <p:cNvGrpSpPr/>
        <p:nvPr/>
      </p:nvGrpSpPr>
      <p:grpSpPr>
        <a:xfrm>
          <a:off x="0" y="0"/>
          <a:ext cx="0" cy="0"/>
          <a:chOff x="0" y="0"/>
          <a:chExt cx="0" cy="0"/>
        </a:xfrm>
      </p:grpSpPr>
      <p:pic>
        <p:nvPicPr>
          <p:cNvPr id="3" name="Image 0" descr="gen-dedup-6811856f5378699e29061893adaea06c.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3047695"/>
            <a:ext cx="3829507" cy="2495398"/>
          </a:xfrm>
          <a:prstGeom prst="rect">
            <a:avLst/>
          </a:prstGeom>
          <a:solidFill>
            <a:srgbClr val="142039"/>
          </a:solidFill>
          <a:ln w="12700">
            <a:solidFill>
              <a:srgbClr val="1F2D49"/>
            </a:solidFill>
            <a:prstDash val="solid"/>
          </a:ln>
        </p:spPr>
      </p:sp>
      <p:sp>
        <p:nvSpPr>
          <p:cNvPr id="5" name="Shape 1"/>
          <p:cNvSpPr/>
          <p:nvPr/>
        </p:nvSpPr>
        <p:spPr>
          <a:xfrm>
            <a:off x="5333695" y="3047695"/>
            <a:ext cx="3829507" cy="2495398"/>
          </a:xfrm>
          <a:prstGeom prst="rect">
            <a:avLst/>
          </a:prstGeom>
          <a:solidFill>
            <a:srgbClr val="142039"/>
          </a:solidFill>
          <a:ln w="12700">
            <a:solidFill>
              <a:srgbClr val="1F2D49"/>
            </a:solidFill>
            <a:prstDash val="solid"/>
          </a:ln>
        </p:spPr>
      </p:sp>
      <p:sp>
        <p:nvSpPr>
          <p:cNvPr id="6" name="Shape 2"/>
          <p:cNvSpPr/>
          <p:nvPr/>
        </p:nvSpPr>
        <p:spPr>
          <a:xfrm>
            <a:off x="9525305" y="3047695"/>
            <a:ext cx="3829507" cy="2495398"/>
          </a:xfrm>
          <a:prstGeom prst="rect">
            <a:avLst/>
          </a:prstGeom>
          <a:solidFill>
            <a:srgbClr val="142039"/>
          </a:solidFill>
          <a:ln w="12700">
            <a:solidFill>
              <a:srgbClr val="1F2D49"/>
            </a:solidFill>
            <a:prstDash val="solid"/>
          </a:ln>
        </p:spPr>
      </p:sp>
      <p:sp>
        <p:nvSpPr>
          <p:cNvPr id="7" name="Shape 3"/>
          <p:cNvSpPr/>
          <p:nvPr/>
        </p:nvSpPr>
        <p:spPr>
          <a:xfrm>
            <a:off x="13716000" y="3047695"/>
            <a:ext cx="3448202" cy="2495398"/>
          </a:xfrm>
          <a:prstGeom prst="rect">
            <a:avLst/>
          </a:prstGeom>
          <a:solidFill>
            <a:srgbClr val="142039"/>
          </a:solidFill>
          <a:ln w="12700">
            <a:solidFill>
              <a:srgbClr val="1F2D49"/>
            </a:solidFill>
            <a:prstDash val="solid"/>
          </a:ln>
        </p:spPr>
      </p:sp>
      <p:sp>
        <p:nvSpPr>
          <p:cNvPr id="8" name="Shape 4"/>
          <p:cNvSpPr/>
          <p:nvPr/>
        </p:nvSpPr>
        <p:spPr>
          <a:xfrm>
            <a:off x="1143000" y="5905195"/>
            <a:ext cx="10496398" cy="3258007"/>
          </a:xfrm>
          <a:prstGeom prst="rect">
            <a:avLst/>
          </a:prstGeom>
          <a:solidFill>
            <a:srgbClr val="1A2742"/>
          </a:solidFill>
          <a:ln w="12700">
            <a:solidFill>
              <a:srgbClr val="2A3D5F"/>
            </a:solidFill>
            <a:prstDash val="solid"/>
          </a:ln>
        </p:spPr>
      </p:sp>
      <p:sp>
        <p:nvSpPr>
          <p:cNvPr id="9" name="Shape 5"/>
          <p:cNvSpPr/>
          <p:nvPr/>
        </p:nvSpPr>
        <p:spPr>
          <a:xfrm>
            <a:off x="12001500" y="5905195"/>
            <a:ext cx="5191049" cy="2876702"/>
          </a:xfrm>
          <a:prstGeom prst="rect">
            <a:avLst/>
          </a:prstGeom>
          <a:solidFill>
            <a:srgbClr val="142039"/>
          </a:solidFill>
          <a:ln w="12700">
            <a:solidFill>
              <a:srgbClr val="1F2D49"/>
            </a:solidFill>
            <a:prstDash val="solid"/>
          </a:ln>
        </p:spPr>
      </p:sp>
      <p:sp>
        <p:nvSpPr>
          <p:cNvPr id="10" name="Shape 6"/>
          <p:cNvSpPr/>
          <p:nvPr/>
        </p:nvSpPr>
        <p:spPr>
          <a:xfrm>
            <a:off x="12001500" y="5905195"/>
            <a:ext cx="38405" cy="2876702"/>
          </a:xfrm>
          <a:prstGeom prst="rect">
            <a:avLst/>
          </a:prstGeom>
          <a:solidFill>
            <a:srgbClr val="FBBF24"/>
          </a:solidFill>
          <a:ln w="12700">
            <a:solidFill>
              <a:srgbClr val="FBBF24">
                <a:alpha val="0"/>
              </a:srgbClr>
            </a:solidFill>
            <a:prstDash val="solid"/>
          </a:ln>
        </p:spPr>
      </p:sp>
      <p:sp>
        <p:nvSpPr>
          <p:cNvPr id="11" name="Shape 7"/>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2" name="Shape 8"/>
          <p:cNvSpPr/>
          <p:nvPr/>
        </p:nvSpPr>
        <p:spPr>
          <a:xfrm>
            <a:off x="1143000" y="9430207"/>
            <a:ext cx="28346" cy="495605"/>
          </a:xfrm>
          <a:prstGeom prst="rect">
            <a:avLst/>
          </a:prstGeom>
          <a:solidFill>
            <a:srgbClr val="38BDF8"/>
          </a:solidFill>
          <a:ln w="12700">
            <a:solidFill>
              <a:srgbClr val="38BDF8">
                <a:alpha val="0"/>
              </a:srgbClr>
            </a:solidFill>
            <a:prstDash val="solid"/>
          </a:ln>
        </p:spPr>
      </p:sp>
      <p:pic>
        <p:nvPicPr>
          <p:cNvPr id="13" name="Image 1" descr="gen-dedup-a556bb2a4c8a26b374f83061e5b7fed1.png">    </p:cNvPr>
          <p:cNvPicPr>
            <a:picLocks noChangeAspect="1"/>
          </p:cNvPicPr>
          <p:nvPr/>
        </p:nvPicPr>
        <p:blipFill>
          <a:blip r:embed="rId2"/>
          <a:srcRect l="0" r="0" t="-384" b="-384"/>
          <a:stretch/>
        </p:blipFill>
        <p:spPr>
          <a:xfrm>
            <a:off x="1447495" y="6400800"/>
            <a:ext cx="952805" cy="19202"/>
          </a:xfrm>
          <a:prstGeom prst="rect">
            <a:avLst/>
          </a:prstGeom>
        </p:spPr>
      </p:pic>
      <p:sp>
        <p:nvSpPr>
          <p:cNvPr id="14" name="Text 9"/>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02 / Setup</a:t>
            </a:r>
            <a:endParaRPr lang="en-US" sz="1350" dirty="0"/>
          </a:p>
        </p:txBody>
      </p:sp>
      <p:sp>
        <p:nvSpPr>
          <p:cNvPr id="15" name="Text 10"/>
          <p:cNvSpPr txBox="1"/>
          <p:nvPr/>
        </p:nvSpPr>
        <p:spPr>
          <a:xfrm>
            <a:off x="1143000" y="1410005"/>
            <a:ext cx="11430000" cy="724205"/>
          </a:xfrm>
          <a:prstGeom prst="rect">
            <a:avLst/>
          </a:prstGeom>
          <a:noFill/>
          <a:ln/>
        </p:spPr>
        <p:txBody>
          <a:bodyPr wrap="none" lIns="0" tIns="0" rIns="0" bIns="0" rtlCol="0" anchor="ctr"/>
          <a:lstStyle/>
          <a:p>
            <a:pPr algn="l" indent="0" marL="0">
              <a:buNone/>
            </a:pPr>
            <a:r>
              <a:rPr lang="en-US" sz="5400" b="1" dirty="0">
                <a:solidFill>
                  <a:srgbClr val="E8EDF5"/>
                </a:solidFill>
                <a:latin typeface="Space Grotesk" pitchFamily="34" charset="0"/>
                <a:ea typeface="Space Grotesk" pitchFamily="34" charset="-122"/>
                <a:cs typeface="Space Grotesk" pitchFamily="34" charset="-120"/>
              </a:rPr>
              <a:t>실험 조건 개요</a:t>
            </a:r>
            <a:endParaRPr lang="en-US" sz="5400" dirty="0"/>
          </a:p>
        </p:txBody>
      </p:sp>
      <p:pic>
        <p:nvPicPr>
          <p:cNvPr id="16" name="Image 2" descr="gen-dedup-8475ae58b72ae2f3da4bda7fa3d0e75d.png">    </p:cNvPr>
          <p:cNvPicPr>
            <a:picLocks noChangeAspect="1"/>
          </p:cNvPicPr>
          <p:nvPr/>
        </p:nvPicPr>
        <p:blipFill>
          <a:blip r:embed="rId3"/>
          <a:srcRect l="0" r="0" t="-400" b="-400"/>
          <a:stretch/>
        </p:blipFill>
        <p:spPr>
          <a:xfrm>
            <a:off x="1143000" y="2553005"/>
            <a:ext cx="1143000" cy="38405"/>
          </a:xfrm>
          <a:prstGeom prst="rect">
            <a:avLst/>
          </a:prstGeom>
        </p:spPr>
      </p:pic>
      <p:sp>
        <p:nvSpPr>
          <p:cNvPr id="17" name="Text 11"/>
          <p:cNvSpPr txBox="1"/>
          <p:nvPr/>
        </p:nvSpPr>
        <p:spPr>
          <a:xfrm>
            <a:off x="1447495" y="3276295"/>
            <a:ext cx="3238805" cy="162763"/>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A — Exposure Tool</a:t>
            </a:r>
            <a:endParaRPr lang="en-US" sz="975" dirty="0"/>
          </a:p>
        </p:txBody>
      </p:sp>
      <p:sp>
        <p:nvSpPr>
          <p:cNvPr id="18" name="Text 12"/>
          <p:cNvSpPr txBox="1"/>
          <p:nvPr/>
        </p:nvSpPr>
        <p:spPr>
          <a:xfrm>
            <a:off x="1447495" y="3571646"/>
            <a:ext cx="3238805" cy="438912"/>
          </a:xfrm>
          <a:prstGeom prst="rect">
            <a:avLst/>
          </a:prstGeom>
          <a:noFill/>
          <a:ln/>
        </p:spPr>
        <p:txBody>
          <a:bodyPr wrap="none" lIns="0" tIns="0" rIns="0" bIns="0" rtlCol="0" anchor="ctr"/>
          <a:lstStyle/>
          <a:p>
            <a:pPr algn="l" indent="0" marL="0">
              <a:buNone/>
            </a:pPr>
            <a:r>
              <a:rPr lang="en-US" sz="2700" b="1" dirty="0">
                <a:solidFill>
                  <a:srgbClr val="E8EDF5"/>
                </a:solidFill>
                <a:latin typeface="Space Grotesk" pitchFamily="34" charset="0"/>
                <a:ea typeface="Space Grotesk" pitchFamily="34" charset="-122"/>
                <a:cs typeface="Space Grotesk" pitchFamily="34" charset="-120"/>
              </a:rPr>
              <a:t>NXE-class EUV</a:t>
            </a:r>
            <a:endParaRPr lang="en-US" sz="2700" dirty="0"/>
          </a:p>
        </p:txBody>
      </p:sp>
      <p:sp>
        <p:nvSpPr>
          <p:cNvPr id="19" name="Text 13"/>
          <p:cNvSpPr txBox="1"/>
          <p:nvPr/>
        </p:nvSpPr>
        <p:spPr>
          <a:xfrm>
            <a:off x="1447495" y="4074566"/>
            <a:ext cx="3238805" cy="974750"/>
          </a:xfrm>
          <a:prstGeom prst="rect">
            <a:avLst/>
          </a:prstGeom>
          <a:noFill/>
          <a:ln/>
        </p:spPr>
        <p:txBody>
          <a:bodyPr wrap="square" lIns="0" tIns="0" rIns="0" bIns="0" rtlCol="0" anchor="t"/>
          <a:lstStyle/>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NA 0.33, σ 0.85</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13.5 nm 단일 파장</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Quad-pol illumination</a:t>
            </a:r>
            <a:endParaRPr lang="en-US" sz="1650" dirty="0"/>
          </a:p>
        </p:txBody>
      </p:sp>
      <p:sp>
        <p:nvSpPr>
          <p:cNvPr id="20" name="Text 14"/>
          <p:cNvSpPr txBox="1"/>
          <p:nvPr/>
        </p:nvSpPr>
        <p:spPr>
          <a:xfrm>
            <a:off x="5639105" y="3276295"/>
            <a:ext cx="3238805" cy="162763"/>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B — Layer Set</a:t>
            </a:r>
            <a:endParaRPr lang="en-US" sz="975" dirty="0"/>
          </a:p>
        </p:txBody>
      </p:sp>
      <p:sp>
        <p:nvSpPr>
          <p:cNvPr id="21" name="Text 15"/>
          <p:cNvSpPr txBox="1"/>
          <p:nvPr/>
        </p:nvSpPr>
        <p:spPr>
          <a:xfrm>
            <a:off x="5639105" y="3571646"/>
            <a:ext cx="3238805" cy="438912"/>
          </a:xfrm>
          <a:prstGeom prst="rect">
            <a:avLst/>
          </a:prstGeom>
          <a:noFill/>
          <a:ln/>
        </p:spPr>
        <p:txBody>
          <a:bodyPr wrap="none" lIns="0" tIns="0" rIns="0" bIns="0" rtlCol="0" anchor="ctr"/>
          <a:lstStyle/>
          <a:p>
            <a:pPr algn="l" indent="0" marL="0">
              <a:buNone/>
            </a:pPr>
            <a:r>
              <a:rPr lang="en-US" sz="2700" b="1" dirty="0">
                <a:solidFill>
                  <a:srgbClr val="E8EDF5"/>
                </a:solidFill>
                <a:latin typeface="Space Grotesk" pitchFamily="34" charset="0"/>
                <a:ea typeface="Space Grotesk" pitchFamily="34" charset="-122"/>
                <a:cs typeface="Space Grotesk" pitchFamily="34" charset="-120"/>
              </a:rPr>
              <a:t>V1 + M2</a:t>
            </a:r>
            <a:endParaRPr lang="en-US" sz="2700" dirty="0"/>
          </a:p>
        </p:txBody>
      </p:sp>
      <p:sp>
        <p:nvSpPr>
          <p:cNvPr id="22" name="Text 16"/>
          <p:cNvSpPr txBox="1"/>
          <p:nvPr/>
        </p:nvSpPr>
        <p:spPr>
          <a:xfrm>
            <a:off x="5639105" y="4074566"/>
            <a:ext cx="3238805" cy="974750"/>
          </a:xfrm>
          <a:prstGeom prst="rect">
            <a:avLst/>
          </a:prstGeom>
          <a:noFill/>
          <a:ln/>
        </p:spPr>
        <p:txBody>
          <a:bodyPr wrap="square" lIns="0" tIns="0" rIns="0" bIns="0" rtlCol="0" anchor="t"/>
          <a:lstStyle/>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V1 vertical CD: AASI·ASEI</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M2 horizontal CD: AMI·ACI</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Dual-damascene stack</a:t>
            </a:r>
            <a:endParaRPr lang="en-US" sz="1650" dirty="0"/>
          </a:p>
        </p:txBody>
      </p:sp>
      <p:sp>
        <p:nvSpPr>
          <p:cNvPr id="23" name="Text 17"/>
          <p:cNvSpPr txBox="1"/>
          <p:nvPr/>
        </p:nvSpPr>
        <p:spPr>
          <a:xfrm>
            <a:off x="9829800" y="3276295"/>
            <a:ext cx="3238805" cy="162763"/>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C — Dose Split</a:t>
            </a:r>
            <a:endParaRPr lang="en-US" sz="975" dirty="0"/>
          </a:p>
        </p:txBody>
      </p:sp>
      <p:sp>
        <p:nvSpPr>
          <p:cNvPr id="24" name="Text 18"/>
          <p:cNvSpPr txBox="1"/>
          <p:nvPr/>
        </p:nvSpPr>
        <p:spPr>
          <a:xfrm>
            <a:off x="9829800" y="3571646"/>
            <a:ext cx="3238805" cy="438912"/>
          </a:xfrm>
          <a:prstGeom prst="rect">
            <a:avLst/>
          </a:prstGeom>
          <a:noFill/>
          <a:ln/>
        </p:spPr>
        <p:txBody>
          <a:bodyPr wrap="none" lIns="0" tIns="0" rIns="0" bIns="0" rtlCol="0" anchor="ctr"/>
          <a:lstStyle/>
          <a:p>
            <a:pPr algn="l" indent="0" marL="0">
              <a:buNone/>
            </a:pPr>
            <a:r>
              <a:rPr lang="en-US" sz="2700" b="1" dirty="0">
                <a:solidFill>
                  <a:srgbClr val="E8EDF5"/>
                </a:solidFill>
                <a:latin typeface="Space Grotesk" pitchFamily="34" charset="0"/>
                <a:ea typeface="Space Grotesk" pitchFamily="34" charset="-122"/>
                <a:cs typeface="Space Grotesk" pitchFamily="34" charset="-120"/>
              </a:rPr>
              <a:t>3 conditions</a:t>
            </a:r>
            <a:endParaRPr lang="en-US" sz="2700" dirty="0"/>
          </a:p>
        </p:txBody>
      </p:sp>
      <p:sp>
        <p:nvSpPr>
          <p:cNvPr id="25" name="Text 19"/>
          <p:cNvSpPr txBox="1"/>
          <p:nvPr/>
        </p:nvSpPr>
        <p:spPr>
          <a:xfrm>
            <a:off x="9829800" y="4074566"/>
            <a:ext cx="3238805" cy="974750"/>
          </a:xfrm>
          <a:prstGeom prst="rect">
            <a:avLst/>
          </a:prstGeom>
          <a:noFill/>
          <a:ln/>
        </p:spPr>
        <p:txBody>
          <a:bodyPr wrap="square" lIns="0" tIns="0" rIns="0" bIns="0" rtlCol="0" anchor="t"/>
          <a:lstStyle/>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W-01 · 19 mJ/cm²</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W-02 · 28 mJ/cm²</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W-03 · 38 mJ/cm²</a:t>
            </a:r>
            <a:endParaRPr lang="en-US" sz="1650" dirty="0"/>
          </a:p>
        </p:txBody>
      </p:sp>
      <p:sp>
        <p:nvSpPr>
          <p:cNvPr id="26" name="Text 20"/>
          <p:cNvSpPr txBox="1"/>
          <p:nvPr/>
        </p:nvSpPr>
        <p:spPr>
          <a:xfrm>
            <a:off x="14020495" y="3276295"/>
            <a:ext cx="2857500" cy="162763"/>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D — Metrology</a:t>
            </a:r>
            <a:endParaRPr lang="en-US" sz="975" dirty="0"/>
          </a:p>
        </p:txBody>
      </p:sp>
      <p:sp>
        <p:nvSpPr>
          <p:cNvPr id="27" name="Text 21"/>
          <p:cNvSpPr txBox="1"/>
          <p:nvPr/>
        </p:nvSpPr>
        <p:spPr>
          <a:xfrm>
            <a:off x="14020495" y="3571646"/>
            <a:ext cx="2857500" cy="438912"/>
          </a:xfrm>
          <a:prstGeom prst="rect">
            <a:avLst/>
          </a:prstGeom>
          <a:noFill/>
          <a:ln/>
        </p:spPr>
        <p:txBody>
          <a:bodyPr wrap="none" lIns="0" tIns="0" rIns="0" bIns="0" rtlCol="0" anchor="ctr"/>
          <a:lstStyle/>
          <a:p>
            <a:pPr algn="l" indent="0" marL="0">
              <a:buNone/>
            </a:pPr>
            <a:r>
              <a:rPr lang="en-US" sz="2700" b="1" dirty="0">
                <a:solidFill>
                  <a:srgbClr val="E8EDF5"/>
                </a:solidFill>
                <a:latin typeface="Space Grotesk" pitchFamily="34" charset="0"/>
                <a:ea typeface="Space Grotesk" pitchFamily="34" charset="-122"/>
                <a:cs typeface="Space Grotesk" pitchFamily="34" charset="-120"/>
              </a:rPr>
              <a:t>CD-SEM + 4PP</a:t>
            </a:r>
            <a:endParaRPr lang="en-US" sz="2700" dirty="0"/>
          </a:p>
        </p:txBody>
      </p:sp>
      <p:sp>
        <p:nvSpPr>
          <p:cNvPr id="28" name="Text 22"/>
          <p:cNvSpPr txBox="1"/>
          <p:nvPr/>
        </p:nvSpPr>
        <p:spPr>
          <a:xfrm>
            <a:off x="14020495" y="4074566"/>
            <a:ext cx="2857500" cy="974750"/>
          </a:xfrm>
          <a:prstGeom prst="rect">
            <a:avLst/>
          </a:prstGeom>
          <a:noFill/>
          <a:ln/>
        </p:spPr>
        <p:txBody>
          <a:bodyPr wrap="square" lIns="0" tIns="0" rIns="0" bIns="0" rtlCol="0" anchor="t"/>
          <a:lstStyle/>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Hitachi GT-7230</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25 sites per wafer</a:t>
            </a:r>
            <a:pPr algn="l" indent="0" marL="0">
              <a:lnSpc>
                <a:spcPts val="2475"/>
              </a:lnSpc>
              <a:buNone/>
            </a:pPr>
            <a:endParaRPr lang="en-US" sz="1650" dirty="0"/>
          </a:p>
          <a:p>
            <a:pPr algn="l" indent="0" marL="0">
              <a:lnSpc>
                <a:spcPts val="2475"/>
              </a:lnSpc>
              <a:buNone/>
            </a:pPr>
            <a:r>
              <a:rPr lang="en-US" sz="1650" dirty="0">
                <a:solidFill>
                  <a:srgbClr val="B7C4D6"/>
                </a:solidFill>
                <a:latin typeface="IBM Plex Sans KR" pitchFamily="34" charset="0"/>
                <a:ea typeface="IBM Plex Sans KR" pitchFamily="34" charset="-122"/>
                <a:cs typeface="IBM Plex Sans KR" pitchFamily="34" charset="-120"/>
              </a:rPr>
              <a:t>4-probe Rs 측정부</a:t>
            </a:r>
            <a:endParaRPr lang="en-US" sz="1650" dirty="0"/>
          </a:p>
        </p:txBody>
      </p:sp>
      <p:sp>
        <p:nvSpPr>
          <p:cNvPr id="29" name="Text 23"/>
          <p:cNvSpPr txBox="1"/>
          <p:nvPr/>
        </p:nvSpPr>
        <p:spPr>
          <a:xfrm>
            <a:off x="1447495" y="6077102"/>
            <a:ext cx="9906610" cy="162763"/>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E — Stack &amp; Recipe Pinning</a:t>
            </a:r>
            <a:endParaRPr lang="en-US" sz="975" dirty="0"/>
          </a:p>
        </p:txBody>
      </p:sp>
      <p:sp>
        <p:nvSpPr>
          <p:cNvPr id="30" name="Text 24"/>
          <p:cNvSpPr txBox="1"/>
          <p:nvPr/>
        </p:nvSpPr>
        <p:spPr>
          <a:xfrm>
            <a:off x="1447495" y="6610198"/>
            <a:ext cx="2095805"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PR 두께</a:t>
            </a:r>
            <a:endParaRPr lang="en-US" sz="1350" dirty="0"/>
          </a:p>
        </p:txBody>
      </p:sp>
      <p:sp>
        <p:nvSpPr>
          <p:cNvPr id="31" name="Text 25"/>
          <p:cNvSpPr txBox="1"/>
          <p:nvPr/>
        </p:nvSpPr>
        <p:spPr>
          <a:xfrm>
            <a:off x="3733495" y="6610198"/>
            <a:ext cx="7620610"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18 nm (ultra-thin MOR)</a:t>
            </a:r>
            <a:endParaRPr lang="en-US" sz="1500" dirty="0"/>
          </a:p>
        </p:txBody>
      </p:sp>
      <p:sp>
        <p:nvSpPr>
          <p:cNvPr id="32" name="Text 26"/>
          <p:cNvSpPr txBox="1"/>
          <p:nvPr/>
        </p:nvSpPr>
        <p:spPr>
          <a:xfrm>
            <a:off x="1447495" y="6953098"/>
            <a:ext cx="2095805"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하드마스크</a:t>
            </a:r>
            <a:endParaRPr lang="en-US" sz="1350" dirty="0"/>
          </a:p>
        </p:txBody>
      </p:sp>
      <p:sp>
        <p:nvSpPr>
          <p:cNvPr id="33" name="Text 27"/>
          <p:cNvSpPr txBox="1"/>
          <p:nvPr/>
        </p:nvSpPr>
        <p:spPr>
          <a:xfrm>
            <a:off x="3733495" y="6953098"/>
            <a:ext cx="7620610"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SiON 12 nm / TiON 8 nm</a:t>
            </a:r>
            <a:endParaRPr lang="en-US" sz="1500" dirty="0"/>
          </a:p>
        </p:txBody>
      </p:sp>
      <p:sp>
        <p:nvSpPr>
          <p:cNvPr id="34" name="Text 28"/>
          <p:cNvSpPr txBox="1"/>
          <p:nvPr/>
        </p:nvSpPr>
        <p:spPr>
          <a:xfrm>
            <a:off x="1447495" y="7295998"/>
            <a:ext cx="2095805" cy="277063"/>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BARC</a:t>
            </a:r>
            <a:endParaRPr lang="en-US" sz="1350" dirty="0"/>
          </a:p>
        </p:txBody>
      </p:sp>
      <p:sp>
        <p:nvSpPr>
          <p:cNvPr id="35" name="Text 29"/>
          <p:cNvSpPr txBox="1"/>
          <p:nvPr/>
        </p:nvSpPr>
        <p:spPr>
          <a:xfrm>
            <a:off x="3733495" y="7295998"/>
            <a:ext cx="7620610" cy="277063"/>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Organic 28 nm (참조용)</a:t>
            </a:r>
            <a:endParaRPr lang="en-US" sz="1500" dirty="0"/>
          </a:p>
        </p:txBody>
      </p:sp>
      <p:sp>
        <p:nvSpPr>
          <p:cNvPr id="36" name="Text 30"/>
          <p:cNvSpPr txBox="1"/>
          <p:nvPr/>
        </p:nvSpPr>
        <p:spPr>
          <a:xfrm>
            <a:off x="1447495" y="7667244"/>
            <a:ext cx="2095805" cy="277063"/>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PEB</a:t>
            </a:r>
            <a:endParaRPr lang="en-US" sz="1350" dirty="0"/>
          </a:p>
        </p:txBody>
      </p:sp>
      <p:sp>
        <p:nvSpPr>
          <p:cNvPr id="37" name="Text 31"/>
          <p:cNvSpPr txBox="1"/>
          <p:nvPr/>
        </p:nvSpPr>
        <p:spPr>
          <a:xfrm>
            <a:off x="3733495" y="7667244"/>
            <a:ext cx="7620610" cy="277063"/>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MOR 분해 직결 — 110 °C / 60 s 고정</a:t>
            </a:r>
            <a:endParaRPr lang="en-US" sz="1500" dirty="0"/>
          </a:p>
        </p:txBody>
      </p:sp>
      <p:sp>
        <p:nvSpPr>
          <p:cNvPr id="38" name="Text 32"/>
          <p:cNvSpPr txBox="1"/>
          <p:nvPr/>
        </p:nvSpPr>
        <p:spPr>
          <a:xfrm>
            <a:off x="1447495" y="8039405"/>
            <a:ext cx="2095805" cy="277063"/>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Etch transfer</a:t>
            </a:r>
            <a:endParaRPr lang="en-US" sz="1350" dirty="0"/>
          </a:p>
        </p:txBody>
      </p:sp>
      <p:sp>
        <p:nvSpPr>
          <p:cNvPr id="39" name="Text 33"/>
          <p:cNvSpPr txBox="1"/>
          <p:nvPr/>
        </p:nvSpPr>
        <p:spPr>
          <a:xfrm>
            <a:off x="3733495" y="8039405"/>
            <a:ext cx="7620610" cy="277063"/>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ICP-CCP, Cl/B 기반 2-step</a:t>
            </a:r>
            <a:endParaRPr lang="en-US" sz="1500" dirty="0"/>
          </a:p>
        </p:txBody>
      </p:sp>
      <p:sp>
        <p:nvSpPr>
          <p:cNvPr id="40" name="Text 34"/>
          <p:cNvSpPr txBox="1"/>
          <p:nvPr/>
        </p:nvSpPr>
        <p:spPr>
          <a:xfrm>
            <a:off x="1447495" y="8410651"/>
            <a:ext cx="2095805" cy="277063"/>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Substrate</a:t>
            </a:r>
            <a:endParaRPr lang="en-US" sz="1350" dirty="0"/>
          </a:p>
        </p:txBody>
      </p:sp>
      <p:sp>
        <p:nvSpPr>
          <p:cNvPr id="41" name="Text 35"/>
          <p:cNvSpPr txBox="1"/>
          <p:nvPr/>
        </p:nvSpPr>
        <p:spPr>
          <a:xfrm>
            <a:off x="3733495" y="8410651"/>
            <a:ext cx="7620610" cy="277063"/>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300 mm Si, low-k Cu BEOL 기판</a:t>
            </a:r>
            <a:endParaRPr lang="en-US" sz="1500" dirty="0"/>
          </a:p>
        </p:txBody>
      </p:sp>
      <p:sp>
        <p:nvSpPr>
          <p:cNvPr id="42" name="Text 36"/>
          <p:cNvSpPr txBox="1"/>
          <p:nvPr/>
        </p:nvSpPr>
        <p:spPr>
          <a:xfrm>
            <a:off x="12305995" y="6133795"/>
            <a:ext cx="4572000" cy="162763"/>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F — Pinned Variables</a:t>
            </a:r>
            <a:endParaRPr lang="en-US" sz="975" dirty="0"/>
          </a:p>
        </p:txBody>
      </p:sp>
      <p:sp>
        <p:nvSpPr>
          <p:cNvPr id="43" name="Text 37"/>
          <p:cNvSpPr txBox="1"/>
          <p:nvPr/>
        </p:nvSpPr>
        <p:spPr>
          <a:xfrm>
            <a:off x="12305995" y="6387084"/>
            <a:ext cx="4572000" cy="1052474"/>
          </a:xfrm>
          <a:prstGeom prst="rect">
            <a:avLst/>
          </a:prstGeom>
          <a:noFill/>
          <a:ln/>
        </p:spPr>
        <p:txBody>
          <a:bodyPr wrap="square" lIns="0" tIns="0" rIns="0" bIns="0" rtlCol="0" anchor="t"/>
          <a:lstStyle/>
          <a:p>
            <a:pPr algn="l" indent="0" marL="0">
              <a:lnSpc>
                <a:spcPts val="2640"/>
              </a:lnSpc>
              <a:buNone/>
            </a:pPr>
            <a:r>
              <a:rPr lang="en-US" sz="1650" dirty="0">
                <a:solidFill>
                  <a:srgbClr val="E8EDF5"/>
                </a:solidFill>
                <a:latin typeface="IBM Plex Sans KR" pitchFamily="34" charset="0"/>
                <a:ea typeface="IBM Plex Sans KR" pitchFamily="34" charset="-122"/>
                <a:cs typeface="IBM Plex Sans KR" pitchFamily="34" charset="-120"/>
              </a:rPr>
              <a:t>3 layer CD · SEM 25 sites · wafer 3 매</a:t>
            </a:r>
            <a:pPr algn="l" indent="0" marL="0">
              <a:lnSpc>
                <a:spcPts val="2640"/>
              </a:lnSpc>
              <a:buNone/>
            </a:pPr>
            <a:endParaRPr lang="en-US" sz="1650" dirty="0"/>
          </a:p>
          <a:p>
            <a:pPr algn="l" indent="0" marL="0">
              <a:lnSpc>
                <a:spcPts val="2640"/>
              </a:lnSpc>
              <a:buNone/>
            </a:pPr>
            <a:r>
              <a:rPr lang="en-US" sz="1650" dirty="0">
                <a:solidFill>
                  <a:srgbClr val="14B8A6"/>
                </a:solidFill>
                <a:latin typeface="IBM Plex Sans KR" pitchFamily="34" charset="0"/>
                <a:ea typeface="IBM Plex Sans KR" pitchFamily="34" charset="-122"/>
                <a:cs typeface="IBM Plex Sans KR" pitchFamily="34" charset="-120"/>
              </a:rPr>
              <a:t>고정</a:t>
            </a:r>
            <a:pPr algn="l" indent="0" marL="0">
              <a:lnSpc>
                <a:spcPts val="2640"/>
              </a:lnSpc>
              <a:buNone/>
            </a:pPr>
            <a:r>
              <a:rPr lang="en-US" sz="1650" dirty="0">
                <a:solidFill>
                  <a:srgbClr val="E8EDF5"/>
                </a:solidFill>
                <a:latin typeface="IBM Plex Sans KR" pitchFamily="34" charset="0"/>
                <a:ea typeface="IBM Plex Sans KR" pitchFamily="34" charset="-122"/>
                <a:cs typeface="IBM Plex Sans KR" pitchFamily="34" charset="-120"/>
              </a:rPr>
              <a:t>: PEB · 두께 · 하드마스크 · 식각 recipe</a:t>
            </a:r>
            <a:pPr algn="l" indent="0" marL="0">
              <a:lnSpc>
                <a:spcPts val="2640"/>
              </a:lnSpc>
              <a:buNone/>
            </a:pPr>
            <a:endParaRPr lang="en-US" sz="1650" dirty="0"/>
          </a:p>
          <a:p>
            <a:pPr algn="l" indent="0" marL="0">
              <a:lnSpc>
                <a:spcPts val="2640"/>
              </a:lnSpc>
              <a:buNone/>
            </a:pPr>
            <a:r>
              <a:rPr lang="en-US" sz="1650" dirty="0">
                <a:solidFill>
                  <a:srgbClr val="FBBF24"/>
                </a:solidFill>
                <a:latin typeface="IBM Plex Sans KR" pitchFamily="34" charset="0"/>
                <a:ea typeface="IBM Plex Sans KR" pitchFamily="34" charset="-122"/>
                <a:cs typeface="IBM Plex Sans KR" pitchFamily="34" charset="-120"/>
              </a:rPr>
              <a:t>변경</a:t>
            </a:r>
            <a:pPr algn="l" indent="0" marL="0">
              <a:lnSpc>
                <a:spcPts val="2640"/>
              </a:lnSpc>
              <a:buNone/>
            </a:pPr>
            <a:r>
              <a:rPr lang="en-US" sz="1650" dirty="0">
                <a:solidFill>
                  <a:srgbClr val="E8EDF5"/>
                </a:solidFill>
                <a:latin typeface="IBM Plex Sans KR" pitchFamily="34" charset="0"/>
                <a:ea typeface="IBM Plex Sans KR" pitchFamily="34" charset="-122"/>
                <a:cs typeface="IBM Plex Sans KR" pitchFamily="34" charset="-120"/>
              </a:rPr>
              <a:t>: Dose 3-level 만 조정</a:t>
            </a:r>
            <a:endParaRPr lang="en-US" sz="1650" dirty="0"/>
          </a:p>
        </p:txBody>
      </p:sp>
      <p:sp>
        <p:nvSpPr>
          <p:cNvPr id="44" name="Text 38"/>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Dose 19·28·38 mJ/cm² 3-level 만을 변인으로 두고 PR 두께·PEB·식각 recipe는 전 wafer 동일하게 고정했다.</a:t>
            </a:r>
            <a:endParaRPr lang="en-US" sz="1200" dirty="0"/>
          </a:p>
        </p:txBody>
      </p:sp>
      <p:sp>
        <p:nvSpPr>
          <p:cNvPr id="45" name="Text 39"/>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4573707" y="1410005"/>
            <a:ext cx="2704795" cy="1162202"/>
          </a:xfrm>
          <a:prstGeom prst="rect">
            <a:avLst/>
          </a:prstGeom>
          <a:solidFill>
            <a:srgbClr val="142039"/>
          </a:solidFill>
          <a:ln w="12700">
            <a:solidFill>
              <a:srgbClr val="1F2D49"/>
            </a:solidFill>
            <a:prstDash val="solid"/>
          </a:ln>
        </p:spPr>
      </p:sp>
      <p:sp>
        <p:nvSpPr>
          <p:cNvPr id="5" name="Shape 1"/>
          <p:cNvSpPr/>
          <p:nvPr/>
        </p:nvSpPr>
        <p:spPr>
          <a:xfrm>
            <a:off x="14573707" y="1410005"/>
            <a:ext cx="28346" cy="1162202"/>
          </a:xfrm>
          <a:prstGeom prst="rect">
            <a:avLst/>
          </a:prstGeom>
          <a:solidFill>
            <a:srgbClr val="38BDF8"/>
          </a:solidFill>
          <a:ln w="12700">
            <a:solidFill>
              <a:srgbClr val="38BDF8">
                <a:alpha val="0"/>
              </a:srgbClr>
            </a:solidFill>
            <a:prstDash val="solid"/>
          </a:ln>
        </p:spPr>
      </p:sp>
      <p:sp>
        <p:nvSpPr>
          <p:cNvPr id="6" name="Shape 2"/>
          <p:cNvSpPr/>
          <p:nvPr/>
        </p:nvSpPr>
        <p:spPr>
          <a:xfrm>
            <a:off x="1143000" y="3143707"/>
            <a:ext cx="5162702" cy="4114800"/>
          </a:xfrm>
          <a:prstGeom prst="rect">
            <a:avLst/>
          </a:prstGeom>
          <a:solidFill>
            <a:srgbClr val="142039"/>
          </a:solidFill>
          <a:ln w="12700">
            <a:solidFill>
              <a:srgbClr val="1F2D49"/>
            </a:solidFill>
            <a:prstDash val="solid"/>
          </a:ln>
        </p:spPr>
      </p:sp>
      <p:sp>
        <p:nvSpPr>
          <p:cNvPr id="7" name="Shape 3"/>
          <p:cNvSpPr/>
          <p:nvPr/>
        </p:nvSpPr>
        <p:spPr>
          <a:xfrm>
            <a:off x="6572707" y="3143707"/>
            <a:ext cx="5162702" cy="4114800"/>
          </a:xfrm>
          <a:prstGeom prst="rect">
            <a:avLst/>
          </a:prstGeom>
          <a:solidFill>
            <a:srgbClr val="142039"/>
          </a:solidFill>
          <a:ln w="12700">
            <a:solidFill>
              <a:srgbClr val="1F2D49"/>
            </a:solidFill>
            <a:prstDash val="solid"/>
          </a:ln>
        </p:spPr>
      </p:sp>
      <p:sp>
        <p:nvSpPr>
          <p:cNvPr id="8" name="Shape 4"/>
          <p:cNvSpPr/>
          <p:nvPr/>
        </p:nvSpPr>
        <p:spPr>
          <a:xfrm>
            <a:off x="12001500" y="3143707"/>
            <a:ext cx="5162702" cy="4114800"/>
          </a:xfrm>
          <a:prstGeom prst="rect">
            <a:avLst/>
          </a:prstGeom>
          <a:solidFill>
            <a:srgbClr val="142039"/>
          </a:solidFill>
          <a:ln w="12700">
            <a:solidFill>
              <a:srgbClr val="1F2D49"/>
            </a:solidFill>
            <a:prstDash val="solid"/>
          </a:ln>
        </p:spPr>
      </p:sp>
      <p:sp>
        <p:nvSpPr>
          <p:cNvPr id="9" name="Shape 5"/>
          <p:cNvSpPr/>
          <p:nvPr/>
        </p:nvSpPr>
        <p:spPr>
          <a:xfrm>
            <a:off x="1143000" y="7524598"/>
            <a:ext cx="16021202" cy="1733702"/>
          </a:xfrm>
          <a:prstGeom prst="rect">
            <a:avLst/>
          </a:prstGeom>
          <a:solidFill>
            <a:srgbClr val="1A2742"/>
          </a:solidFill>
          <a:ln w="12700">
            <a:solidFill>
              <a:srgbClr val="2A3D5F"/>
            </a:solidFill>
            <a:prstDash val="solid"/>
          </a:ln>
        </p:spPr>
      </p:sp>
      <p:sp>
        <p:nvSpPr>
          <p:cNvPr id="10" name="Shape 6"/>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1" name="Shape 7"/>
          <p:cNvSpPr/>
          <p:nvPr/>
        </p:nvSpPr>
        <p:spPr>
          <a:xfrm>
            <a:off x="1143000" y="9430207"/>
            <a:ext cx="28346" cy="495605"/>
          </a:xfrm>
          <a:prstGeom prst="rect">
            <a:avLst/>
          </a:prstGeom>
          <a:solidFill>
            <a:srgbClr val="38BDF8"/>
          </a:solidFill>
          <a:ln w="12700">
            <a:solidFill>
              <a:srgbClr val="38BDF8">
                <a:alpha val="0"/>
              </a:srgbClr>
            </a:solidFill>
            <a:prstDash val="solid"/>
          </a:ln>
        </p:spPr>
      </p:sp>
      <p:pic>
        <p:nvPicPr>
          <p:cNvPr id="12" name="Image 1" descr="gen-dedup-d1eeed6e781fb2a1572663c2cf170b87.png">    </p:cNvPr>
          <p:cNvPicPr>
            <a:picLocks noChangeAspect="1"/>
          </p:cNvPicPr>
          <p:nvPr/>
        </p:nvPicPr>
        <p:blipFill>
          <a:blip r:embed="rId2"/>
          <a:srcRect l="0" r="0" t="-400" b="-400"/>
          <a:stretch/>
        </p:blipFill>
        <p:spPr>
          <a:xfrm>
            <a:off x="1143000" y="3143707"/>
            <a:ext cx="5143500" cy="57607"/>
          </a:xfrm>
          <a:prstGeom prst="rect">
            <a:avLst/>
          </a:prstGeom>
        </p:spPr>
      </p:pic>
      <p:sp>
        <p:nvSpPr>
          <p:cNvPr id="13" name="Shape 8"/>
          <p:cNvSpPr/>
          <p:nvPr/>
        </p:nvSpPr>
        <p:spPr>
          <a:xfrm>
            <a:off x="1447495" y="6629400"/>
            <a:ext cx="1714500" cy="304495"/>
          </a:xfrm>
          <a:prstGeom prst="rect">
            <a:avLst/>
          </a:prstGeom>
          <a:solidFill>
            <a:srgbClr val="38BDF8"/>
          </a:solidFill>
          <a:ln w="12700">
            <a:solidFill>
              <a:srgbClr val="FFFFFF">
                <a:alpha val="0"/>
              </a:srgbClr>
            </a:solidFill>
            <a:prstDash val="solid"/>
          </a:ln>
        </p:spPr>
      </p:sp>
      <p:pic>
        <p:nvPicPr>
          <p:cNvPr id="14" name="Image 2" descr="gen-dedup-462112e744b13e5edab3084d57dd93e5.png">    </p:cNvPr>
          <p:cNvPicPr>
            <a:picLocks noChangeAspect="1"/>
          </p:cNvPicPr>
          <p:nvPr/>
        </p:nvPicPr>
        <p:blipFill>
          <a:blip r:embed="rId3"/>
          <a:srcRect l="0" r="0" t="-400" b="-400"/>
          <a:stretch/>
        </p:blipFill>
        <p:spPr>
          <a:xfrm>
            <a:off x="6572707" y="3143707"/>
            <a:ext cx="5143500" cy="57607"/>
          </a:xfrm>
          <a:prstGeom prst="rect">
            <a:avLst/>
          </a:prstGeom>
        </p:spPr>
      </p:pic>
      <p:sp>
        <p:nvSpPr>
          <p:cNvPr id="15" name="Shape 9"/>
          <p:cNvSpPr/>
          <p:nvPr/>
        </p:nvSpPr>
        <p:spPr>
          <a:xfrm>
            <a:off x="6877202" y="6629400"/>
            <a:ext cx="1714500" cy="304495"/>
          </a:xfrm>
          <a:prstGeom prst="rect">
            <a:avLst/>
          </a:prstGeom>
          <a:solidFill>
            <a:srgbClr val="14B8A6"/>
          </a:solidFill>
          <a:ln w="12700">
            <a:solidFill>
              <a:srgbClr val="FFFFFF">
                <a:alpha val="0"/>
              </a:srgbClr>
            </a:solidFill>
            <a:prstDash val="solid"/>
          </a:ln>
        </p:spPr>
      </p:sp>
      <p:pic>
        <p:nvPicPr>
          <p:cNvPr id="16" name="Image 3" descr="gen-dedup-22049e5546d54847717d41c213610eec.png">    </p:cNvPr>
          <p:cNvPicPr>
            <a:picLocks noChangeAspect="1"/>
          </p:cNvPicPr>
          <p:nvPr/>
        </p:nvPicPr>
        <p:blipFill>
          <a:blip r:embed="rId4"/>
          <a:srcRect l="0" r="0" t="-400" b="-400"/>
          <a:stretch/>
        </p:blipFill>
        <p:spPr>
          <a:xfrm>
            <a:off x="12001500" y="3143707"/>
            <a:ext cx="5143500" cy="57607"/>
          </a:xfrm>
          <a:prstGeom prst="rect">
            <a:avLst/>
          </a:prstGeom>
        </p:spPr>
      </p:pic>
      <p:sp>
        <p:nvSpPr>
          <p:cNvPr id="17" name="Shape 10"/>
          <p:cNvSpPr/>
          <p:nvPr/>
        </p:nvSpPr>
        <p:spPr>
          <a:xfrm>
            <a:off x="12305995" y="6629400"/>
            <a:ext cx="1714500" cy="304495"/>
          </a:xfrm>
          <a:prstGeom prst="rect">
            <a:avLst/>
          </a:prstGeom>
          <a:solidFill>
            <a:srgbClr val="FBBF24"/>
          </a:solidFill>
          <a:ln w="12700">
            <a:solidFill>
              <a:srgbClr val="FFFFFF">
                <a:alpha val="0"/>
              </a:srgbClr>
            </a:solidFill>
            <a:prstDash val="solid"/>
          </a:ln>
        </p:spPr>
      </p:sp>
      <p:sp>
        <p:nvSpPr>
          <p:cNvPr id="18" name="Text 11"/>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03 / DOE</a:t>
            </a:r>
            <a:endParaRPr lang="en-US" sz="1350" dirty="0"/>
          </a:p>
        </p:txBody>
      </p:sp>
      <p:sp>
        <p:nvSpPr>
          <p:cNvPr id="19" name="Text 12"/>
          <p:cNvSpPr txBox="1"/>
          <p:nvPr/>
        </p:nvSpPr>
        <p:spPr>
          <a:xfrm>
            <a:off x="1143000" y="1410005"/>
            <a:ext cx="12764110" cy="685800"/>
          </a:xfrm>
          <a:prstGeom prst="rect">
            <a:avLst/>
          </a:prstGeom>
          <a:noFill/>
          <a:ln/>
        </p:spPr>
        <p:txBody>
          <a:bodyPr wrap="none" lIns="0" tIns="0" rIns="0" bIns="0" rtlCol="0" anchor="ctr"/>
          <a:lstStyle/>
          <a:p>
            <a:pPr algn="l" indent="0" marL="0">
              <a:buNone/>
            </a:pPr>
            <a:r>
              <a:rPr lang="en-US" sz="5100" b="1" dirty="0">
                <a:solidFill>
                  <a:srgbClr val="E8EDF5"/>
                </a:solidFill>
                <a:latin typeface="Space Grotesk" pitchFamily="34" charset="0"/>
                <a:ea typeface="Space Grotesk" pitchFamily="34" charset="-122"/>
                <a:cs typeface="Space Grotesk" pitchFamily="34" charset="-120"/>
              </a:rPr>
              <a:t>공정 Split &amp; 평가 매트릭스</a:t>
            </a:r>
            <a:endParaRPr lang="en-US" sz="5100" dirty="0"/>
          </a:p>
        </p:txBody>
      </p:sp>
      <p:pic>
        <p:nvPicPr>
          <p:cNvPr id="20" name="Image 4" descr="gen-dedup-8475ae58b72ae2f3da4bda7fa3d0e75d.png">    </p:cNvPr>
          <p:cNvPicPr>
            <a:picLocks noChangeAspect="1"/>
          </p:cNvPicPr>
          <p:nvPr/>
        </p:nvPicPr>
        <p:blipFill>
          <a:blip r:embed="rId5"/>
          <a:srcRect l="0" r="0" t="-400" b="-400"/>
          <a:stretch/>
        </p:blipFill>
        <p:spPr>
          <a:xfrm>
            <a:off x="1143000" y="2514600"/>
            <a:ext cx="1143000" cy="38405"/>
          </a:xfrm>
          <a:prstGeom prst="rect">
            <a:avLst/>
          </a:prstGeom>
        </p:spPr>
      </p:pic>
      <p:sp>
        <p:nvSpPr>
          <p:cNvPr id="21" name="Text 13"/>
          <p:cNvSpPr txBox="1"/>
          <p:nvPr/>
        </p:nvSpPr>
        <p:spPr>
          <a:xfrm>
            <a:off x="14820595" y="1580998"/>
            <a:ext cx="2286000" cy="181051"/>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DOE 크기</a:t>
            </a:r>
            <a:endParaRPr lang="en-US" sz="975" dirty="0"/>
          </a:p>
        </p:txBody>
      </p:sp>
      <p:sp>
        <p:nvSpPr>
          <p:cNvPr id="22" name="Text 14"/>
          <p:cNvSpPr txBox="1"/>
          <p:nvPr/>
        </p:nvSpPr>
        <p:spPr>
          <a:xfrm>
            <a:off x="14820595" y="1837944"/>
            <a:ext cx="2545690" cy="486461"/>
          </a:xfrm>
          <a:prstGeom prst="rect">
            <a:avLst/>
          </a:prstGeom>
          <a:noFill/>
          <a:ln/>
        </p:spPr>
        <p:txBody>
          <a:bodyPr wrap="none" lIns="0" tIns="0" rIns="0" bIns="0" rtlCol="0" anchor="ctr"/>
          <a:lstStyle/>
          <a:p>
            <a:pPr algn="l" indent="0" marL="0">
              <a:buNone/>
            </a:pPr>
            <a:r>
              <a:rPr lang="en-US" sz="3000" b="1" dirty="0">
                <a:solidFill>
                  <a:srgbClr val="E8EDF5"/>
                </a:solidFill>
                <a:latin typeface="Space Grotesk" pitchFamily="34" charset="0"/>
                <a:ea typeface="Space Grotesk" pitchFamily="34" charset="-122"/>
                <a:cs typeface="Space Grotesk" pitchFamily="34" charset="-120"/>
              </a:rPr>
              <a:t>3 × 2 × 25</a:t>
            </a:r>
            <a:endParaRPr lang="en-US" sz="3000" dirty="0"/>
          </a:p>
        </p:txBody>
      </p:sp>
      <p:sp>
        <p:nvSpPr>
          <p:cNvPr id="23" name="Text 15"/>
          <p:cNvSpPr txBox="1"/>
          <p:nvPr/>
        </p:nvSpPr>
        <p:spPr>
          <a:xfrm>
            <a:off x="14820595" y="2361895"/>
            <a:ext cx="2286000" cy="228600"/>
          </a:xfrm>
          <a:prstGeom prst="rect">
            <a:avLst/>
          </a:prstGeom>
          <a:noFill/>
          <a:ln/>
        </p:spPr>
        <p:txBody>
          <a:bodyPr wrap="none" lIns="0" tIns="0" rIns="0" bIns="0" rtlCol="0" anchor="ctr"/>
          <a:lstStyle/>
          <a:p>
            <a:pPr algn="l" indent="0" marL="0">
              <a:buNone/>
            </a:pPr>
            <a:r>
              <a:rPr lang="en-US" sz="1200" dirty="0">
                <a:solidFill>
                  <a:srgbClr val="8B9BB3"/>
                </a:solidFill>
                <a:latin typeface="IBM Plex Sans KR" pitchFamily="34" charset="0"/>
                <a:ea typeface="IBM Plex Sans KR" pitchFamily="34" charset="-122"/>
                <a:cs typeface="IBM Plex Sans KR" pitchFamily="34" charset="-120"/>
              </a:rPr>
              <a:t>Wafers · Layers · Sites</a:t>
            </a:r>
            <a:endParaRPr lang="en-US" sz="1200" dirty="0"/>
          </a:p>
        </p:txBody>
      </p:sp>
      <p:sp>
        <p:nvSpPr>
          <p:cNvPr id="24" name="Text 16"/>
          <p:cNvSpPr txBox="1"/>
          <p:nvPr/>
        </p:nvSpPr>
        <p:spPr>
          <a:xfrm>
            <a:off x="1447495" y="3372307"/>
            <a:ext cx="3620110" cy="171907"/>
          </a:xfrm>
          <a:prstGeom prst="rect">
            <a:avLst/>
          </a:prstGeom>
          <a:noFill/>
          <a:ln/>
        </p:spPr>
        <p:txBody>
          <a:bodyPr wrap="none" lIns="0" tIns="0" rIns="0" bIns="0" rtlCol="0" anchor="ctr"/>
          <a:lstStyle/>
          <a:p>
            <a:pPr algn="l" indent="0" marL="0">
              <a:buNone/>
            </a:pPr>
            <a:r>
              <a:rPr lang="en-US" sz="1050" spc="231" kern="0" dirty="0">
                <a:solidFill>
                  <a:srgbClr val="8B9BB3"/>
                </a:solidFill>
                <a:latin typeface="JetBrains Mono" pitchFamily="34" charset="0"/>
                <a:ea typeface="JetBrains Mono" pitchFamily="34" charset="-122"/>
                <a:cs typeface="JetBrains Mono" pitchFamily="34" charset="-120"/>
              </a:rPr>
              <a:t>Wafer 01 · Split A</a:t>
            </a:r>
            <a:endParaRPr lang="en-US" sz="1050" dirty="0"/>
          </a:p>
        </p:txBody>
      </p:sp>
      <p:sp>
        <p:nvSpPr>
          <p:cNvPr id="25" name="Text 17"/>
          <p:cNvSpPr txBox="1"/>
          <p:nvPr/>
        </p:nvSpPr>
        <p:spPr>
          <a:xfrm>
            <a:off x="1447495" y="3619195"/>
            <a:ext cx="3620110" cy="581558"/>
          </a:xfrm>
          <a:prstGeom prst="rect">
            <a:avLst/>
          </a:prstGeom>
          <a:noFill/>
          <a:ln/>
        </p:spPr>
        <p:txBody>
          <a:bodyPr wrap="none" lIns="0" tIns="0" rIns="0" bIns="0" rtlCol="0" anchor="ctr"/>
          <a:lstStyle/>
          <a:p>
            <a:pPr algn="l" indent="0" marL="0">
              <a:buNone/>
            </a:pPr>
            <a:r>
              <a:rPr lang="en-US" sz="3600" b="1" dirty="0">
                <a:solidFill>
                  <a:srgbClr val="38BDF8"/>
                </a:solidFill>
                <a:latin typeface="Space Grotesk" pitchFamily="34" charset="0"/>
                <a:ea typeface="Space Grotesk" pitchFamily="34" charset="-122"/>
                <a:cs typeface="Space Grotesk" pitchFamily="34" charset="-120"/>
              </a:rPr>
              <a:t>W-01</a:t>
            </a:r>
            <a:endParaRPr lang="en-US" sz="3600" dirty="0"/>
          </a:p>
        </p:txBody>
      </p:sp>
      <p:sp>
        <p:nvSpPr>
          <p:cNvPr id="26" name="Text 18"/>
          <p:cNvSpPr txBox="1"/>
          <p:nvPr/>
        </p:nvSpPr>
        <p:spPr>
          <a:xfrm>
            <a:off x="1447495" y="4591202"/>
            <a:ext cx="1239012" cy="295351"/>
          </a:xfrm>
          <a:prstGeom prst="rect">
            <a:avLst/>
          </a:prstGeom>
          <a:noFill/>
          <a:ln/>
        </p:spPr>
        <p:txBody>
          <a:bodyPr wrap="squar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Dose</a:t>
            </a:r>
            <a:endParaRPr lang="en-US" sz="1350" dirty="0"/>
          </a:p>
        </p:txBody>
      </p:sp>
      <p:sp>
        <p:nvSpPr>
          <p:cNvPr id="27" name="Text 19"/>
          <p:cNvSpPr txBox="1"/>
          <p:nvPr/>
        </p:nvSpPr>
        <p:spPr>
          <a:xfrm>
            <a:off x="2686507" y="4591202"/>
            <a:ext cx="3296412" cy="295351"/>
          </a:xfrm>
          <a:prstGeom prst="rect">
            <a:avLst/>
          </a:prstGeom>
          <a:noFill/>
          <a:ln/>
        </p:spPr>
        <p:txBody>
          <a:bodyPr wrap="none" lIns="0" tIns="0" rIns="0" bIns="0" rtlCol="0" anchor="ctr"/>
          <a:lstStyle/>
          <a:p>
            <a:pPr algn="l" indent="0" marL="0">
              <a:buNone/>
            </a:pPr>
            <a:r>
              <a:rPr lang="en-US" sz="1800" b="1" dirty="0">
                <a:solidFill>
                  <a:srgbClr val="E8EDF5"/>
                </a:solidFill>
                <a:latin typeface="JetBrains Mono" pitchFamily="34" charset="0"/>
                <a:ea typeface="JetBrains Mono" pitchFamily="34" charset="-122"/>
                <a:cs typeface="JetBrains Mono" pitchFamily="34" charset="-120"/>
              </a:rPr>
              <a:t>19 mJ/cm²</a:t>
            </a:r>
            <a:endParaRPr lang="en-US" sz="1800" dirty="0"/>
          </a:p>
        </p:txBody>
      </p:sp>
      <p:sp>
        <p:nvSpPr>
          <p:cNvPr id="28" name="Text 20"/>
          <p:cNvSpPr txBox="1"/>
          <p:nvPr/>
        </p:nvSpPr>
        <p:spPr>
          <a:xfrm>
            <a:off x="1447495" y="5020056"/>
            <a:ext cx="1239012" cy="286207"/>
          </a:xfrm>
          <a:prstGeom prst="rect">
            <a:avLst/>
          </a:prstGeom>
          <a:noFill/>
          <a:ln/>
        </p:spPr>
        <p:txBody>
          <a:bodyPr wrap="squar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Tag</a:t>
            </a:r>
            <a:endParaRPr lang="en-US" sz="1350" dirty="0"/>
          </a:p>
        </p:txBody>
      </p:sp>
      <p:sp>
        <p:nvSpPr>
          <p:cNvPr id="29" name="Text 21"/>
          <p:cNvSpPr txBox="1"/>
          <p:nvPr/>
        </p:nvSpPr>
        <p:spPr>
          <a:xfrm>
            <a:off x="2686507" y="5020056"/>
            <a:ext cx="3296412" cy="286207"/>
          </a:xfrm>
          <a:prstGeom prst="rect">
            <a:avLst/>
          </a:prstGeom>
          <a:noFill/>
          <a:ln/>
        </p:spPr>
        <p:txBody>
          <a:bodyPr wrap="none" lIns="0" tIns="0" rIns="0" bIns="0" rtlCol="0" anchor="ctr"/>
          <a:lstStyle/>
          <a:p>
            <a:pPr algn="l" indent="0" marL="0">
              <a:buNone/>
            </a:pPr>
            <a:r>
              <a:rPr lang="en-US" sz="1500" dirty="0">
                <a:solidFill>
                  <a:srgbClr val="B7C4D6"/>
                </a:solidFill>
                <a:latin typeface="IBM Plex Sans KR" pitchFamily="34" charset="0"/>
                <a:ea typeface="IBM Plex Sans KR" pitchFamily="34" charset="-122"/>
                <a:cs typeface="IBM Plex Sans KR" pitchFamily="34" charset="-120"/>
              </a:rPr>
              <a:t>Low / optimized</a:t>
            </a:r>
            <a:endParaRPr lang="en-US" sz="1500" dirty="0"/>
          </a:p>
        </p:txBody>
      </p:sp>
      <p:sp>
        <p:nvSpPr>
          <p:cNvPr id="30" name="Text 22"/>
          <p:cNvSpPr txBox="1"/>
          <p:nvPr/>
        </p:nvSpPr>
        <p:spPr>
          <a:xfrm>
            <a:off x="1447495" y="5438851"/>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V1 eval</a:t>
            </a:r>
            <a:endParaRPr lang="en-US" sz="1350" dirty="0"/>
          </a:p>
        </p:txBody>
      </p:sp>
      <p:sp>
        <p:nvSpPr>
          <p:cNvPr id="31" name="Text 23"/>
          <p:cNvSpPr txBox="1"/>
          <p:nvPr/>
        </p:nvSpPr>
        <p:spPr>
          <a:xfrm>
            <a:off x="2686507" y="5438851"/>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AASI · ASEI</a:t>
            </a:r>
            <a:endParaRPr lang="en-US" sz="1500" dirty="0"/>
          </a:p>
        </p:txBody>
      </p:sp>
      <p:sp>
        <p:nvSpPr>
          <p:cNvPr id="32" name="Text 24"/>
          <p:cNvSpPr txBox="1"/>
          <p:nvPr/>
        </p:nvSpPr>
        <p:spPr>
          <a:xfrm>
            <a:off x="1447495" y="5820156"/>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M2 eval</a:t>
            </a:r>
            <a:endParaRPr lang="en-US" sz="1350" dirty="0"/>
          </a:p>
        </p:txBody>
      </p:sp>
      <p:sp>
        <p:nvSpPr>
          <p:cNvPr id="33" name="Text 25"/>
          <p:cNvSpPr txBox="1"/>
          <p:nvPr/>
        </p:nvSpPr>
        <p:spPr>
          <a:xfrm>
            <a:off x="2686507" y="5820156"/>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AMI · ACI</a:t>
            </a:r>
            <a:endParaRPr lang="en-US" sz="1500" dirty="0"/>
          </a:p>
        </p:txBody>
      </p:sp>
      <p:sp>
        <p:nvSpPr>
          <p:cNvPr id="34" name="Text 26"/>
          <p:cNvSpPr txBox="1"/>
          <p:nvPr/>
        </p:nvSpPr>
        <p:spPr>
          <a:xfrm>
            <a:off x="1447495" y="6200546"/>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Sites</a:t>
            </a:r>
            <a:endParaRPr lang="en-US" sz="1350" dirty="0"/>
          </a:p>
        </p:txBody>
      </p:sp>
      <p:sp>
        <p:nvSpPr>
          <p:cNvPr id="35" name="Text 27"/>
          <p:cNvSpPr txBox="1"/>
          <p:nvPr/>
        </p:nvSpPr>
        <p:spPr>
          <a:xfrm>
            <a:off x="2686507" y="6200546"/>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25 × 4 metric</a:t>
            </a:r>
            <a:endParaRPr lang="en-US" sz="1500" dirty="0"/>
          </a:p>
        </p:txBody>
      </p:sp>
      <p:sp>
        <p:nvSpPr>
          <p:cNvPr id="36" name="Text 28"/>
          <p:cNvSpPr txBox="1"/>
          <p:nvPr/>
        </p:nvSpPr>
        <p:spPr>
          <a:xfrm>
            <a:off x="1580998" y="6687007"/>
            <a:ext cx="1524305" cy="457200"/>
          </a:xfrm>
          <a:prstGeom prst="rect">
            <a:avLst/>
          </a:prstGeom>
          <a:noFill/>
          <a:ln/>
        </p:spPr>
        <p:txBody>
          <a:bodyPr wrap="square" lIns="0" tIns="0" rIns="0" bIns="0" rtlCol="0" anchor="ctr"/>
          <a:lstStyle/>
          <a:p>
            <a:pPr algn="l" indent="0" marL="0">
              <a:buNone/>
            </a:pPr>
            <a:r>
              <a:rPr lang="en-US" sz="1050" b="1" dirty="0">
                <a:solidFill>
                  <a:srgbClr val="07111F"/>
                </a:solidFill>
                <a:latin typeface="JetBrains Mono" pitchFamily="34" charset="0"/>
                <a:ea typeface="JetBrains Mono" pitchFamily="34" charset="-122"/>
                <a:cs typeface="JetBrains Mono" pitchFamily="34" charset="-120"/>
              </a:rPr>
              <a:t>PRIMARY REFERENCE</a:t>
            </a:r>
            <a:endParaRPr lang="en-US" sz="1200" dirty="0"/>
          </a:p>
        </p:txBody>
      </p:sp>
      <p:sp>
        <p:nvSpPr>
          <p:cNvPr id="37" name="Text 29"/>
          <p:cNvSpPr txBox="1"/>
          <p:nvPr/>
        </p:nvSpPr>
        <p:spPr>
          <a:xfrm>
            <a:off x="6877202" y="3372307"/>
            <a:ext cx="3620110" cy="171907"/>
          </a:xfrm>
          <a:prstGeom prst="rect">
            <a:avLst/>
          </a:prstGeom>
          <a:noFill/>
          <a:ln/>
        </p:spPr>
        <p:txBody>
          <a:bodyPr wrap="none" lIns="0" tIns="0" rIns="0" bIns="0" rtlCol="0" anchor="ctr"/>
          <a:lstStyle/>
          <a:p>
            <a:pPr algn="l" indent="0" marL="0">
              <a:buNone/>
            </a:pPr>
            <a:r>
              <a:rPr lang="en-US" sz="1050" spc="231" kern="0" dirty="0">
                <a:solidFill>
                  <a:srgbClr val="8B9BB3"/>
                </a:solidFill>
                <a:latin typeface="JetBrains Mono" pitchFamily="34" charset="0"/>
                <a:ea typeface="JetBrains Mono" pitchFamily="34" charset="-122"/>
                <a:cs typeface="JetBrains Mono" pitchFamily="34" charset="-120"/>
              </a:rPr>
              <a:t>Wafer 02 · Split B</a:t>
            </a:r>
            <a:endParaRPr lang="en-US" sz="1050" dirty="0"/>
          </a:p>
        </p:txBody>
      </p:sp>
      <p:sp>
        <p:nvSpPr>
          <p:cNvPr id="38" name="Text 30"/>
          <p:cNvSpPr txBox="1"/>
          <p:nvPr/>
        </p:nvSpPr>
        <p:spPr>
          <a:xfrm>
            <a:off x="6877202" y="3619195"/>
            <a:ext cx="3620110" cy="581558"/>
          </a:xfrm>
          <a:prstGeom prst="rect">
            <a:avLst/>
          </a:prstGeom>
          <a:noFill/>
          <a:ln/>
        </p:spPr>
        <p:txBody>
          <a:bodyPr wrap="none" lIns="0" tIns="0" rIns="0" bIns="0" rtlCol="0" anchor="ctr"/>
          <a:lstStyle/>
          <a:p>
            <a:pPr algn="l" indent="0" marL="0">
              <a:buNone/>
            </a:pPr>
            <a:r>
              <a:rPr lang="en-US" sz="3600" b="1" dirty="0">
                <a:solidFill>
                  <a:srgbClr val="14B8A6"/>
                </a:solidFill>
                <a:latin typeface="Space Grotesk" pitchFamily="34" charset="0"/>
                <a:ea typeface="Space Grotesk" pitchFamily="34" charset="-122"/>
                <a:cs typeface="Space Grotesk" pitchFamily="34" charset="-120"/>
              </a:rPr>
              <a:t>W-02</a:t>
            </a:r>
            <a:endParaRPr lang="en-US" sz="3600" dirty="0"/>
          </a:p>
        </p:txBody>
      </p:sp>
      <p:sp>
        <p:nvSpPr>
          <p:cNvPr id="39" name="Text 31"/>
          <p:cNvSpPr txBox="1"/>
          <p:nvPr/>
        </p:nvSpPr>
        <p:spPr>
          <a:xfrm>
            <a:off x="6877202" y="4591202"/>
            <a:ext cx="1239012" cy="295351"/>
          </a:xfrm>
          <a:prstGeom prst="rect">
            <a:avLst/>
          </a:prstGeom>
          <a:noFill/>
          <a:ln/>
        </p:spPr>
        <p:txBody>
          <a:bodyPr wrap="squar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Dose</a:t>
            </a:r>
            <a:endParaRPr lang="en-US" sz="1350" dirty="0"/>
          </a:p>
        </p:txBody>
      </p:sp>
      <p:sp>
        <p:nvSpPr>
          <p:cNvPr id="40" name="Text 32"/>
          <p:cNvSpPr txBox="1"/>
          <p:nvPr/>
        </p:nvSpPr>
        <p:spPr>
          <a:xfrm>
            <a:off x="8115300" y="4591202"/>
            <a:ext cx="3296412" cy="295351"/>
          </a:xfrm>
          <a:prstGeom prst="rect">
            <a:avLst/>
          </a:prstGeom>
          <a:noFill/>
          <a:ln/>
        </p:spPr>
        <p:txBody>
          <a:bodyPr wrap="none" lIns="0" tIns="0" rIns="0" bIns="0" rtlCol="0" anchor="ctr"/>
          <a:lstStyle/>
          <a:p>
            <a:pPr algn="l" indent="0" marL="0">
              <a:buNone/>
            </a:pPr>
            <a:r>
              <a:rPr lang="en-US" sz="1800" b="1" dirty="0">
                <a:solidFill>
                  <a:srgbClr val="E8EDF5"/>
                </a:solidFill>
                <a:latin typeface="JetBrains Mono" pitchFamily="34" charset="0"/>
                <a:ea typeface="JetBrains Mono" pitchFamily="34" charset="-122"/>
                <a:cs typeface="JetBrains Mono" pitchFamily="34" charset="-120"/>
              </a:rPr>
              <a:t>28 mJ/cm²</a:t>
            </a:r>
            <a:endParaRPr lang="en-US" sz="1800" dirty="0"/>
          </a:p>
        </p:txBody>
      </p:sp>
      <p:sp>
        <p:nvSpPr>
          <p:cNvPr id="41" name="Text 33"/>
          <p:cNvSpPr txBox="1"/>
          <p:nvPr/>
        </p:nvSpPr>
        <p:spPr>
          <a:xfrm>
            <a:off x="6877202" y="5020056"/>
            <a:ext cx="1239012" cy="286207"/>
          </a:xfrm>
          <a:prstGeom prst="rect">
            <a:avLst/>
          </a:prstGeom>
          <a:noFill/>
          <a:ln/>
        </p:spPr>
        <p:txBody>
          <a:bodyPr wrap="squar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Tag</a:t>
            </a:r>
            <a:endParaRPr lang="en-US" sz="1350" dirty="0"/>
          </a:p>
        </p:txBody>
      </p:sp>
      <p:sp>
        <p:nvSpPr>
          <p:cNvPr id="42" name="Text 34"/>
          <p:cNvSpPr txBox="1"/>
          <p:nvPr/>
        </p:nvSpPr>
        <p:spPr>
          <a:xfrm>
            <a:off x="8115300" y="5020056"/>
            <a:ext cx="3296412" cy="286207"/>
          </a:xfrm>
          <a:prstGeom prst="rect">
            <a:avLst/>
          </a:prstGeom>
          <a:noFill/>
          <a:ln/>
        </p:spPr>
        <p:txBody>
          <a:bodyPr wrap="none" lIns="0" tIns="0" rIns="0" bIns="0" rtlCol="0" anchor="ctr"/>
          <a:lstStyle/>
          <a:p>
            <a:pPr algn="l" indent="0" marL="0">
              <a:buNone/>
            </a:pPr>
            <a:r>
              <a:rPr lang="en-US" sz="1500" dirty="0">
                <a:solidFill>
                  <a:srgbClr val="B7C4D6"/>
                </a:solidFill>
                <a:latin typeface="IBM Plex Sans KR" pitchFamily="34" charset="0"/>
                <a:ea typeface="IBM Plex Sans KR" pitchFamily="34" charset="-122"/>
                <a:cs typeface="IBM Plex Sans KR" pitchFamily="34" charset="-120"/>
              </a:rPr>
              <a:t>Mid / nominal+</a:t>
            </a:r>
            <a:endParaRPr lang="en-US" sz="1500" dirty="0"/>
          </a:p>
        </p:txBody>
      </p:sp>
      <p:sp>
        <p:nvSpPr>
          <p:cNvPr id="43" name="Text 35"/>
          <p:cNvSpPr txBox="1"/>
          <p:nvPr/>
        </p:nvSpPr>
        <p:spPr>
          <a:xfrm>
            <a:off x="6877202" y="5438851"/>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V1 eval</a:t>
            </a:r>
            <a:endParaRPr lang="en-US" sz="1350" dirty="0"/>
          </a:p>
        </p:txBody>
      </p:sp>
      <p:sp>
        <p:nvSpPr>
          <p:cNvPr id="44" name="Text 36"/>
          <p:cNvSpPr txBox="1"/>
          <p:nvPr/>
        </p:nvSpPr>
        <p:spPr>
          <a:xfrm>
            <a:off x="8115300" y="5438851"/>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AASI · ASEI</a:t>
            </a:r>
            <a:endParaRPr lang="en-US" sz="1500" dirty="0"/>
          </a:p>
        </p:txBody>
      </p:sp>
      <p:sp>
        <p:nvSpPr>
          <p:cNvPr id="45" name="Text 37"/>
          <p:cNvSpPr txBox="1"/>
          <p:nvPr/>
        </p:nvSpPr>
        <p:spPr>
          <a:xfrm>
            <a:off x="6877202" y="5820156"/>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M2 eval</a:t>
            </a:r>
            <a:endParaRPr lang="en-US" sz="1350" dirty="0"/>
          </a:p>
        </p:txBody>
      </p:sp>
      <p:sp>
        <p:nvSpPr>
          <p:cNvPr id="46" name="Text 38"/>
          <p:cNvSpPr txBox="1"/>
          <p:nvPr/>
        </p:nvSpPr>
        <p:spPr>
          <a:xfrm>
            <a:off x="8115300" y="5820156"/>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AMI · ACI</a:t>
            </a:r>
            <a:endParaRPr lang="en-US" sz="1500" dirty="0"/>
          </a:p>
        </p:txBody>
      </p:sp>
      <p:sp>
        <p:nvSpPr>
          <p:cNvPr id="47" name="Text 39"/>
          <p:cNvSpPr txBox="1"/>
          <p:nvPr/>
        </p:nvSpPr>
        <p:spPr>
          <a:xfrm>
            <a:off x="6877202" y="6200546"/>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Sites</a:t>
            </a:r>
            <a:endParaRPr lang="en-US" sz="1350" dirty="0"/>
          </a:p>
        </p:txBody>
      </p:sp>
      <p:sp>
        <p:nvSpPr>
          <p:cNvPr id="48" name="Text 40"/>
          <p:cNvSpPr txBox="1"/>
          <p:nvPr/>
        </p:nvSpPr>
        <p:spPr>
          <a:xfrm>
            <a:off x="8115300" y="6200546"/>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25 × 4 metric</a:t>
            </a:r>
            <a:endParaRPr lang="en-US" sz="1500" dirty="0"/>
          </a:p>
        </p:txBody>
      </p:sp>
      <p:sp>
        <p:nvSpPr>
          <p:cNvPr id="49" name="Text 41"/>
          <p:cNvSpPr txBox="1"/>
          <p:nvPr/>
        </p:nvSpPr>
        <p:spPr>
          <a:xfrm>
            <a:off x="7010705" y="6687007"/>
            <a:ext cx="1524305" cy="228600"/>
          </a:xfrm>
          <a:prstGeom prst="rect">
            <a:avLst/>
          </a:prstGeom>
          <a:noFill/>
          <a:ln/>
        </p:spPr>
        <p:txBody>
          <a:bodyPr wrap="none" lIns="0" tIns="0" rIns="0" bIns="0" rtlCol="0" anchor="ctr"/>
          <a:lstStyle/>
          <a:p>
            <a:pPr algn="l" indent="0" marL="0">
              <a:buNone/>
            </a:pPr>
            <a:r>
              <a:rPr lang="en-US" sz="1050" b="1" dirty="0">
                <a:solidFill>
                  <a:srgbClr val="07111F"/>
                </a:solidFill>
                <a:latin typeface="JetBrains Mono" pitchFamily="34" charset="0"/>
                <a:ea typeface="JetBrains Mono" pitchFamily="34" charset="-122"/>
                <a:cs typeface="JetBrains Mono" pitchFamily="34" charset="-120"/>
              </a:rPr>
              <a:t>MIDDLE TIE</a:t>
            </a:r>
            <a:endParaRPr lang="en-US" sz="1200" dirty="0"/>
          </a:p>
        </p:txBody>
      </p:sp>
      <p:sp>
        <p:nvSpPr>
          <p:cNvPr id="50" name="Text 42"/>
          <p:cNvSpPr txBox="1"/>
          <p:nvPr/>
        </p:nvSpPr>
        <p:spPr>
          <a:xfrm>
            <a:off x="12305995" y="3372307"/>
            <a:ext cx="3620110" cy="171907"/>
          </a:xfrm>
          <a:prstGeom prst="rect">
            <a:avLst/>
          </a:prstGeom>
          <a:noFill/>
          <a:ln/>
        </p:spPr>
        <p:txBody>
          <a:bodyPr wrap="none" lIns="0" tIns="0" rIns="0" bIns="0" rtlCol="0" anchor="ctr"/>
          <a:lstStyle/>
          <a:p>
            <a:pPr algn="l" indent="0" marL="0">
              <a:buNone/>
            </a:pPr>
            <a:r>
              <a:rPr lang="en-US" sz="1050" spc="231" kern="0" dirty="0">
                <a:solidFill>
                  <a:srgbClr val="8B9BB3"/>
                </a:solidFill>
                <a:latin typeface="JetBrains Mono" pitchFamily="34" charset="0"/>
                <a:ea typeface="JetBrains Mono" pitchFamily="34" charset="-122"/>
                <a:cs typeface="JetBrains Mono" pitchFamily="34" charset="-120"/>
              </a:rPr>
              <a:t>Wafer 03 · Split C</a:t>
            </a:r>
            <a:endParaRPr lang="en-US" sz="1050" dirty="0"/>
          </a:p>
        </p:txBody>
      </p:sp>
      <p:sp>
        <p:nvSpPr>
          <p:cNvPr id="51" name="Text 43"/>
          <p:cNvSpPr txBox="1"/>
          <p:nvPr/>
        </p:nvSpPr>
        <p:spPr>
          <a:xfrm>
            <a:off x="12305995" y="3619195"/>
            <a:ext cx="3620110" cy="581558"/>
          </a:xfrm>
          <a:prstGeom prst="rect">
            <a:avLst/>
          </a:prstGeom>
          <a:noFill/>
          <a:ln/>
        </p:spPr>
        <p:txBody>
          <a:bodyPr wrap="none" lIns="0" tIns="0" rIns="0" bIns="0" rtlCol="0" anchor="ctr"/>
          <a:lstStyle/>
          <a:p>
            <a:pPr algn="l" indent="0" marL="0">
              <a:buNone/>
            </a:pPr>
            <a:r>
              <a:rPr lang="en-US" sz="3600" b="1" dirty="0">
                <a:solidFill>
                  <a:srgbClr val="FBBF24"/>
                </a:solidFill>
                <a:latin typeface="Space Grotesk" pitchFamily="34" charset="0"/>
                <a:ea typeface="Space Grotesk" pitchFamily="34" charset="-122"/>
                <a:cs typeface="Space Grotesk" pitchFamily="34" charset="-120"/>
              </a:rPr>
              <a:t>W-03</a:t>
            </a:r>
            <a:endParaRPr lang="en-US" sz="3600" dirty="0"/>
          </a:p>
        </p:txBody>
      </p:sp>
      <p:sp>
        <p:nvSpPr>
          <p:cNvPr id="52" name="Text 44"/>
          <p:cNvSpPr txBox="1"/>
          <p:nvPr/>
        </p:nvSpPr>
        <p:spPr>
          <a:xfrm>
            <a:off x="12305995" y="4591202"/>
            <a:ext cx="1239012" cy="295351"/>
          </a:xfrm>
          <a:prstGeom prst="rect">
            <a:avLst/>
          </a:prstGeom>
          <a:noFill/>
          <a:ln/>
        </p:spPr>
        <p:txBody>
          <a:bodyPr wrap="squar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Dose</a:t>
            </a:r>
            <a:endParaRPr lang="en-US" sz="1350" dirty="0"/>
          </a:p>
        </p:txBody>
      </p:sp>
      <p:sp>
        <p:nvSpPr>
          <p:cNvPr id="53" name="Text 45"/>
          <p:cNvSpPr txBox="1"/>
          <p:nvPr/>
        </p:nvSpPr>
        <p:spPr>
          <a:xfrm>
            <a:off x="13545007" y="4591202"/>
            <a:ext cx="3296412" cy="295351"/>
          </a:xfrm>
          <a:prstGeom prst="rect">
            <a:avLst/>
          </a:prstGeom>
          <a:noFill/>
          <a:ln/>
        </p:spPr>
        <p:txBody>
          <a:bodyPr wrap="none" lIns="0" tIns="0" rIns="0" bIns="0" rtlCol="0" anchor="ctr"/>
          <a:lstStyle/>
          <a:p>
            <a:pPr algn="l" indent="0" marL="0">
              <a:buNone/>
            </a:pPr>
            <a:r>
              <a:rPr lang="en-US" sz="1800" b="1" dirty="0">
                <a:solidFill>
                  <a:srgbClr val="E8EDF5"/>
                </a:solidFill>
                <a:latin typeface="JetBrains Mono" pitchFamily="34" charset="0"/>
                <a:ea typeface="JetBrains Mono" pitchFamily="34" charset="-122"/>
                <a:cs typeface="JetBrains Mono" pitchFamily="34" charset="-120"/>
              </a:rPr>
              <a:t>38 mJ/cm²</a:t>
            </a:r>
            <a:endParaRPr lang="en-US" sz="1800" dirty="0"/>
          </a:p>
        </p:txBody>
      </p:sp>
      <p:sp>
        <p:nvSpPr>
          <p:cNvPr id="54" name="Text 46"/>
          <p:cNvSpPr txBox="1"/>
          <p:nvPr/>
        </p:nvSpPr>
        <p:spPr>
          <a:xfrm>
            <a:off x="12305995" y="5020056"/>
            <a:ext cx="1239012" cy="286207"/>
          </a:xfrm>
          <a:prstGeom prst="rect">
            <a:avLst/>
          </a:prstGeom>
          <a:noFill/>
          <a:ln/>
        </p:spPr>
        <p:txBody>
          <a:bodyPr wrap="squar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Tag</a:t>
            </a:r>
            <a:endParaRPr lang="en-US" sz="1350" dirty="0"/>
          </a:p>
        </p:txBody>
      </p:sp>
      <p:sp>
        <p:nvSpPr>
          <p:cNvPr id="55" name="Text 47"/>
          <p:cNvSpPr txBox="1"/>
          <p:nvPr/>
        </p:nvSpPr>
        <p:spPr>
          <a:xfrm>
            <a:off x="13545007" y="5020056"/>
            <a:ext cx="3296412" cy="286207"/>
          </a:xfrm>
          <a:prstGeom prst="rect">
            <a:avLst/>
          </a:prstGeom>
          <a:noFill/>
          <a:ln/>
        </p:spPr>
        <p:txBody>
          <a:bodyPr wrap="none" lIns="0" tIns="0" rIns="0" bIns="0" rtlCol="0" anchor="ctr"/>
          <a:lstStyle/>
          <a:p>
            <a:pPr algn="l" indent="0" marL="0">
              <a:buNone/>
            </a:pPr>
            <a:r>
              <a:rPr lang="en-US" sz="1500" dirty="0">
                <a:solidFill>
                  <a:srgbClr val="B7C4D6"/>
                </a:solidFill>
                <a:latin typeface="IBM Plex Sans KR" pitchFamily="34" charset="0"/>
                <a:ea typeface="IBM Plex Sans KR" pitchFamily="34" charset="-122"/>
                <a:cs typeface="IBM Plex Sans KR" pitchFamily="34" charset="-120"/>
              </a:rPr>
              <a:t>High / headroom</a:t>
            </a:r>
            <a:endParaRPr lang="en-US" sz="1500" dirty="0"/>
          </a:p>
        </p:txBody>
      </p:sp>
      <p:sp>
        <p:nvSpPr>
          <p:cNvPr id="56" name="Text 48"/>
          <p:cNvSpPr txBox="1"/>
          <p:nvPr/>
        </p:nvSpPr>
        <p:spPr>
          <a:xfrm>
            <a:off x="12305995" y="5438851"/>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V1 eval</a:t>
            </a:r>
            <a:endParaRPr lang="en-US" sz="1350" dirty="0"/>
          </a:p>
        </p:txBody>
      </p:sp>
      <p:sp>
        <p:nvSpPr>
          <p:cNvPr id="57" name="Text 49"/>
          <p:cNvSpPr txBox="1"/>
          <p:nvPr/>
        </p:nvSpPr>
        <p:spPr>
          <a:xfrm>
            <a:off x="13545007" y="5438851"/>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AASI · ASEI</a:t>
            </a:r>
            <a:endParaRPr lang="en-US" sz="1500" dirty="0"/>
          </a:p>
        </p:txBody>
      </p:sp>
      <p:sp>
        <p:nvSpPr>
          <p:cNvPr id="58" name="Text 50"/>
          <p:cNvSpPr txBox="1"/>
          <p:nvPr/>
        </p:nvSpPr>
        <p:spPr>
          <a:xfrm>
            <a:off x="12305995" y="5820156"/>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M2 eval</a:t>
            </a:r>
            <a:endParaRPr lang="en-US" sz="1350" dirty="0"/>
          </a:p>
        </p:txBody>
      </p:sp>
      <p:sp>
        <p:nvSpPr>
          <p:cNvPr id="59" name="Text 51"/>
          <p:cNvSpPr txBox="1"/>
          <p:nvPr/>
        </p:nvSpPr>
        <p:spPr>
          <a:xfrm>
            <a:off x="13545007" y="5820156"/>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AMI · ACI</a:t>
            </a:r>
            <a:endParaRPr lang="en-US" sz="1500" dirty="0"/>
          </a:p>
        </p:txBody>
      </p:sp>
      <p:sp>
        <p:nvSpPr>
          <p:cNvPr id="60" name="Text 52"/>
          <p:cNvSpPr txBox="1"/>
          <p:nvPr/>
        </p:nvSpPr>
        <p:spPr>
          <a:xfrm>
            <a:off x="12305995" y="6200546"/>
            <a:ext cx="1239012" cy="247802"/>
          </a:xfrm>
          <a:prstGeom prst="rect">
            <a:avLst/>
          </a:prstGeom>
          <a:noFill/>
          <a:ln/>
        </p:spPr>
        <p:txBody>
          <a:bodyPr wrap="none" lIns="0" tIns="0" rIns="0" bIns="0" rtlCol="0" anchor="ctr"/>
          <a:lstStyle/>
          <a:p>
            <a:pPr algn="l" indent="0" marL="0">
              <a:buNone/>
            </a:pPr>
            <a:r>
              <a:rPr lang="en-US" sz="1350" dirty="0">
                <a:solidFill>
                  <a:srgbClr val="8B9BB3"/>
                </a:solidFill>
                <a:latin typeface="JetBrains Mono" pitchFamily="34" charset="0"/>
                <a:ea typeface="JetBrains Mono" pitchFamily="34" charset="-122"/>
                <a:cs typeface="JetBrains Mono" pitchFamily="34" charset="-120"/>
              </a:rPr>
              <a:t>Sites</a:t>
            </a:r>
            <a:endParaRPr lang="en-US" sz="1350" dirty="0"/>
          </a:p>
        </p:txBody>
      </p:sp>
      <p:sp>
        <p:nvSpPr>
          <p:cNvPr id="61" name="Text 53"/>
          <p:cNvSpPr txBox="1"/>
          <p:nvPr/>
        </p:nvSpPr>
        <p:spPr>
          <a:xfrm>
            <a:off x="13545007" y="6200546"/>
            <a:ext cx="3296412"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25 × 4 metric</a:t>
            </a:r>
            <a:endParaRPr lang="en-US" sz="1500" dirty="0"/>
          </a:p>
        </p:txBody>
      </p:sp>
      <p:sp>
        <p:nvSpPr>
          <p:cNvPr id="62" name="Text 54"/>
          <p:cNvSpPr txBox="1"/>
          <p:nvPr/>
        </p:nvSpPr>
        <p:spPr>
          <a:xfrm>
            <a:off x="12439498" y="6687007"/>
            <a:ext cx="1524305" cy="228600"/>
          </a:xfrm>
          <a:prstGeom prst="rect">
            <a:avLst/>
          </a:prstGeom>
          <a:noFill/>
          <a:ln/>
        </p:spPr>
        <p:txBody>
          <a:bodyPr wrap="none" lIns="0" tIns="0" rIns="0" bIns="0" rtlCol="0" anchor="ctr"/>
          <a:lstStyle/>
          <a:p>
            <a:pPr algn="l" indent="0" marL="0">
              <a:buNone/>
            </a:pPr>
            <a:r>
              <a:rPr lang="en-US" sz="1050" b="1" dirty="0">
                <a:solidFill>
                  <a:srgbClr val="07111F"/>
                </a:solidFill>
                <a:latin typeface="JetBrains Mono" pitchFamily="34" charset="0"/>
                <a:ea typeface="JetBrains Mono" pitchFamily="34" charset="-122"/>
                <a:cs typeface="JetBrains Mono" pitchFamily="34" charset="-120"/>
              </a:rPr>
              <a:t>DEVIATION PROBE</a:t>
            </a:r>
            <a:endParaRPr lang="en-US" sz="1200" dirty="0"/>
          </a:p>
        </p:txBody>
      </p:sp>
      <p:sp>
        <p:nvSpPr>
          <p:cNvPr id="63" name="Text 55"/>
          <p:cNvSpPr txBox="1"/>
          <p:nvPr/>
        </p:nvSpPr>
        <p:spPr>
          <a:xfrm>
            <a:off x="1447495" y="7677302"/>
            <a:ext cx="5715000" cy="181051"/>
          </a:xfrm>
          <a:prstGeom prst="rect">
            <a:avLst/>
          </a:prstGeom>
          <a:noFill/>
          <a:ln/>
        </p:spPr>
        <p:txBody>
          <a:bodyPr wrap="none" lIns="0" tIns="0" rIns="0" bIns="0" rtlCol="0" anchor="ctr"/>
          <a:lstStyle/>
          <a:p>
            <a:pPr algn="l" indent="0" marL="0">
              <a:buNone/>
            </a:pPr>
            <a:r>
              <a:rPr lang="en-US" sz="975" spc="215" kern="0" dirty="0">
                <a:solidFill>
                  <a:srgbClr val="8B9BB3"/>
                </a:solidFill>
                <a:latin typeface="JetBrains Mono" pitchFamily="34" charset="0"/>
                <a:ea typeface="JetBrains Mono" pitchFamily="34" charset="-122"/>
                <a:cs typeface="JetBrains Mono" pitchFamily="34" charset="-120"/>
              </a:rPr>
              <a:t>평가항목 분포</a:t>
            </a:r>
            <a:endParaRPr lang="en-US" sz="975" dirty="0"/>
          </a:p>
        </p:txBody>
      </p:sp>
      <p:sp>
        <p:nvSpPr>
          <p:cNvPr id="64" name="Text 56"/>
          <p:cNvSpPr txBox="1"/>
          <p:nvPr/>
        </p:nvSpPr>
        <p:spPr>
          <a:xfrm>
            <a:off x="3353105" y="8001000"/>
            <a:ext cx="3381451" cy="219456"/>
          </a:xfrm>
          <a:prstGeom prst="rect">
            <a:avLst/>
          </a:prstGeom>
          <a:noFill/>
          <a:ln/>
        </p:spPr>
        <p:txBody>
          <a:bodyPr wrap="none" lIns="0" tIns="0" rIns="0" bIns="0" rtlCol="0" anchor="ctr"/>
          <a:lstStyle/>
          <a:p>
            <a:pPr algn="l" indent="0" marL="0">
              <a:buNone/>
            </a:pPr>
            <a:r>
              <a:rPr lang="en-US" sz="1350" spc="162" kern="0" dirty="0">
                <a:solidFill>
                  <a:srgbClr val="38BDF8"/>
                </a:solidFill>
                <a:latin typeface="JetBrains Mono" pitchFamily="34" charset="0"/>
                <a:ea typeface="JetBrains Mono" pitchFamily="34" charset="-122"/>
                <a:cs typeface="JetBrains Mono" pitchFamily="34" charset="-120"/>
              </a:rPr>
              <a:t>AASI</a:t>
            </a:r>
            <a:endParaRPr lang="en-US" sz="1350" dirty="0"/>
          </a:p>
        </p:txBody>
      </p:sp>
      <p:sp>
        <p:nvSpPr>
          <p:cNvPr id="65" name="Text 57"/>
          <p:cNvSpPr txBox="1"/>
          <p:nvPr/>
        </p:nvSpPr>
        <p:spPr>
          <a:xfrm>
            <a:off x="6734556" y="8001000"/>
            <a:ext cx="3381451" cy="219456"/>
          </a:xfrm>
          <a:prstGeom prst="rect">
            <a:avLst/>
          </a:prstGeom>
          <a:noFill/>
          <a:ln/>
        </p:spPr>
        <p:txBody>
          <a:bodyPr wrap="none" lIns="0" tIns="0" rIns="0" bIns="0" rtlCol="0" anchor="ctr"/>
          <a:lstStyle/>
          <a:p>
            <a:pPr algn="l" indent="0" marL="0">
              <a:buNone/>
            </a:pPr>
            <a:r>
              <a:rPr lang="en-US" sz="1350" spc="162" kern="0" dirty="0">
                <a:solidFill>
                  <a:srgbClr val="14B8A6"/>
                </a:solidFill>
                <a:latin typeface="JetBrains Mono" pitchFamily="34" charset="0"/>
                <a:ea typeface="JetBrains Mono" pitchFamily="34" charset="-122"/>
                <a:cs typeface="JetBrains Mono" pitchFamily="34" charset="-120"/>
              </a:rPr>
              <a:t>ASEI</a:t>
            </a:r>
            <a:endParaRPr lang="en-US" sz="1350" dirty="0"/>
          </a:p>
        </p:txBody>
      </p:sp>
      <p:sp>
        <p:nvSpPr>
          <p:cNvPr id="66" name="Text 58"/>
          <p:cNvSpPr txBox="1"/>
          <p:nvPr/>
        </p:nvSpPr>
        <p:spPr>
          <a:xfrm>
            <a:off x="10116007" y="8001000"/>
            <a:ext cx="3381451" cy="219456"/>
          </a:xfrm>
          <a:prstGeom prst="rect">
            <a:avLst/>
          </a:prstGeom>
          <a:noFill/>
          <a:ln/>
        </p:spPr>
        <p:txBody>
          <a:bodyPr wrap="none" lIns="0" tIns="0" rIns="0" bIns="0" rtlCol="0" anchor="ctr"/>
          <a:lstStyle/>
          <a:p>
            <a:pPr algn="l" indent="0" marL="0">
              <a:buNone/>
            </a:pPr>
            <a:r>
              <a:rPr lang="en-US" sz="1350" spc="162" kern="0" dirty="0">
                <a:solidFill>
                  <a:srgbClr val="FBBF24"/>
                </a:solidFill>
                <a:latin typeface="JetBrains Mono" pitchFamily="34" charset="0"/>
                <a:ea typeface="JetBrains Mono" pitchFamily="34" charset="-122"/>
                <a:cs typeface="JetBrains Mono" pitchFamily="34" charset="-120"/>
              </a:rPr>
              <a:t>AMI</a:t>
            </a:r>
            <a:endParaRPr lang="en-US" sz="1350" dirty="0"/>
          </a:p>
        </p:txBody>
      </p:sp>
      <p:sp>
        <p:nvSpPr>
          <p:cNvPr id="67" name="Text 59"/>
          <p:cNvSpPr txBox="1"/>
          <p:nvPr/>
        </p:nvSpPr>
        <p:spPr>
          <a:xfrm>
            <a:off x="13496544" y="8001000"/>
            <a:ext cx="3381451" cy="219456"/>
          </a:xfrm>
          <a:prstGeom prst="rect">
            <a:avLst/>
          </a:prstGeom>
          <a:noFill/>
          <a:ln/>
        </p:spPr>
        <p:txBody>
          <a:bodyPr wrap="none" lIns="0" tIns="0" rIns="0" bIns="0" rtlCol="0" anchor="ctr"/>
          <a:lstStyle/>
          <a:p>
            <a:pPr algn="l" indent="0" marL="0">
              <a:buNone/>
            </a:pPr>
            <a:r>
              <a:rPr lang="en-US" sz="1350" spc="162" kern="0" dirty="0">
                <a:solidFill>
                  <a:srgbClr val="F472B6"/>
                </a:solidFill>
                <a:latin typeface="JetBrains Mono" pitchFamily="34" charset="0"/>
                <a:ea typeface="JetBrains Mono" pitchFamily="34" charset="-122"/>
                <a:cs typeface="JetBrains Mono" pitchFamily="34" charset="-120"/>
              </a:rPr>
              <a:t>ACI</a:t>
            </a:r>
            <a:endParaRPr lang="en-US" sz="1350" dirty="0"/>
          </a:p>
        </p:txBody>
      </p:sp>
      <p:sp>
        <p:nvSpPr>
          <p:cNvPr id="68" name="Text 60"/>
          <p:cNvSpPr txBox="1"/>
          <p:nvPr/>
        </p:nvSpPr>
        <p:spPr>
          <a:xfrm>
            <a:off x="1447495" y="8277149"/>
            <a:ext cx="1905610" cy="247802"/>
          </a:xfrm>
          <a:prstGeom prst="rect">
            <a:avLst/>
          </a:prstGeom>
          <a:noFill/>
          <a:ln/>
        </p:spPr>
        <p:txBody>
          <a:bodyPr wrap="none" lIns="0" tIns="0" rIns="0" bIns="0" rtlCol="0" anchor="ctr"/>
          <a:lstStyle/>
          <a:p>
            <a:pPr algn="l" indent="0" marL="0">
              <a:buNone/>
            </a:pPr>
            <a:r>
              <a:rPr lang="en-US" sz="1350" dirty="0">
                <a:solidFill>
                  <a:srgbClr val="B7C4D6"/>
                </a:solidFill>
                <a:latin typeface="JetBrains Mono" pitchFamily="34" charset="0"/>
                <a:ea typeface="JetBrains Mono" pitchFamily="34" charset="-122"/>
                <a:cs typeface="JetBrains Mono" pitchFamily="34" charset="-120"/>
              </a:rPr>
              <a:t>Target (nm)</a:t>
            </a:r>
            <a:endParaRPr lang="en-US" sz="1350" dirty="0"/>
          </a:p>
        </p:txBody>
      </p:sp>
      <p:sp>
        <p:nvSpPr>
          <p:cNvPr id="69" name="Text 61"/>
          <p:cNvSpPr txBox="1"/>
          <p:nvPr/>
        </p:nvSpPr>
        <p:spPr>
          <a:xfrm>
            <a:off x="3353105" y="8277149"/>
            <a:ext cx="3381451"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23.3</a:t>
            </a:r>
            <a:endParaRPr lang="en-US" sz="1500" dirty="0"/>
          </a:p>
        </p:txBody>
      </p:sp>
      <p:sp>
        <p:nvSpPr>
          <p:cNvPr id="70" name="Text 62"/>
          <p:cNvSpPr txBox="1"/>
          <p:nvPr/>
        </p:nvSpPr>
        <p:spPr>
          <a:xfrm>
            <a:off x="6734556" y="8277149"/>
            <a:ext cx="3381451"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15.7</a:t>
            </a:r>
            <a:endParaRPr lang="en-US" sz="1500" dirty="0"/>
          </a:p>
        </p:txBody>
      </p:sp>
      <p:sp>
        <p:nvSpPr>
          <p:cNvPr id="71" name="Text 63"/>
          <p:cNvSpPr txBox="1"/>
          <p:nvPr/>
        </p:nvSpPr>
        <p:spPr>
          <a:xfrm>
            <a:off x="10116007" y="8277149"/>
            <a:ext cx="3381451"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9.5</a:t>
            </a:r>
            <a:endParaRPr lang="en-US" sz="1500" dirty="0"/>
          </a:p>
        </p:txBody>
      </p:sp>
      <p:sp>
        <p:nvSpPr>
          <p:cNvPr id="72" name="Text 64"/>
          <p:cNvSpPr txBox="1"/>
          <p:nvPr/>
        </p:nvSpPr>
        <p:spPr>
          <a:xfrm>
            <a:off x="13496544" y="8277149"/>
            <a:ext cx="3381451" cy="247802"/>
          </a:xfrm>
          <a:prstGeom prst="rect">
            <a:avLst/>
          </a:prstGeom>
          <a:noFill/>
          <a:ln/>
        </p:spPr>
        <p:txBody>
          <a:bodyPr wrap="none" lIns="0" tIns="0" rIns="0" bIns="0" rtlCol="0" anchor="ctr"/>
          <a:lstStyle/>
          <a:p>
            <a:pPr algn="l" indent="0" marL="0">
              <a:buNone/>
            </a:pPr>
            <a:r>
              <a:rPr lang="en-US" sz="1500" dirty="0">
                <a:solidFill>
                  <a:srgbClr val="E8EDF5"/>
                </a:solidFill>
                <a:latin typeface="JetBrains Mono" pitchFamily="34" charset="0"/>
                <a:ea typeface="JetBrains Mono" pitchFamily="34" charset="-122"/>
                <a:cs typeface="JetBrains Mono" pitchFamily="34" charset="-120"/>
              </a:rPr>
              <a:t>9.1</a:t>
            </a:r>
            <a:endParaRPr lang="en-US" sz="1500" dirty="0"/>
          </a:p>
        </p:txBody>
      </p:sp>
      <p:sp>
        <p:nvSpPr>
          <p:cNvPr id="73" name="Text 65"/>
          <p:cNvSpPr txBox="1"/>
          <p:nvPr/>
        </p:nvSpPr>
        <p:spPr>
          <a:xfrm>
            <a:off x="1447495" y="8581644"/>
            <a:ext cx="1905610" cy="257861"/>
          </a:xfrm>
          <a:prstGeom prst="rect">
            <a:avLst/>
          </a:prstGeom>
          <a:noFill/>
          <a:ln/>
        </p:spPr>
        <p:txBody>
          <a:bodyPr wrap="none" lIns="0" tIns="0" rIns="0" bIns="0" rtlCol="0" anchor="ctr"/>
          <a:lstStyle/>
          <a:p>
            <a:pPr algn="l" indent="0" marL="0">
              <a:buNone/>
            </a:pPr>
            <a:r>
              <a:rPr lang="en-US" sz="1350" dirty="0">
                <a:solidFill>
                  <a:srgbClr val="B7C4D6"/>
                </a:solidFill>
                <a:latin typeface="JetBrains Mono" pitchFamily="34" charset="0"/>
                <a:ea typeface="JetBrains Mono" pitchFamily="34" charset="-122"/>
                <a:cs typeface="JetBrains Mono" pitchFamily="34" charset="-120"/>
              </a:rPr>
              <a:t>Layer</a:t>
            </a:r>
            <a:endParaRPr lang="en-US" sz="1350" dirty="0"/>
          </a:p>
        </p:txBody>
      </p:sp>
      <p:sp>
        <p:nvSpPr>
          <p:cNvPr id="74" name="Text 66"/>
          <p:cNvSpPr txBox="1"/>
          <p:nvPr/>
        </p:nvSpPr>
        <p:spPr>
          <a:xfrm>
            <a:off x="3353105" y="8581644"/>
            <a:ext cx="3381451" cy="257861"/>
          </a:xfrm>
          <a:prstGeom prst="rect">
            <a:avLst/>
          </a:prstGeom>
          <a:noFill/>
          <a:ln/>
        </p:spPr>
        <p:txBody>
          <a:bodyPr wrap="none" lIns="0" tIns="0" rIns="0" bIns="0" rtlCol="0" anchor="ctr"/>
          <a:lstStyle/>
          <a:p>
            <a:pPr algn="l" indent="0" marL="0">
              <a:buNone/>
            </a:pPr>
            <a:r>
              <a:rPr lang="en-US" sz="1350" dirty="0">
                <a:solidFill>
                  <a:srgbClr val="E8EDF5"/>
                </a:solidFill>
                <a:latin typeface="IBM Plex Sans KR" pitchFamily="34" charset="0"/>
                <a:ea typeface="IBM Plex Sans KR" pitchFamily="34" charset="-122"/>
                <a:cs typeface="IBM Plex Sans KR" pitchFamily="34" charset="-120"/>
              </a:rPr>
              <a:t>V1 vertical</a:t>
            </a:r>
            <a:endParaRPr lang="en-US" sz="1350" dirty="0"/>
          </a:p>
        </p:txBody>
      </p:sp>
      <p:sp>
        <p:nvSpPr>
          <p:cNvPr id="75" name="Text 67"/>
          <p:cNvSpPr txBox="1"/>
          <p:nvPr/>
        </p:nvSpPr>
        <p:spPr>
          <a:xfrm>
            <a:off x="6734556" y="8581644"/>
            <a:ext cx="3381451" cy="257861"/>
          </a:xfrm>
          <a:prstGeom prst="rect">
            <a:avLst/>
          </a:prstGeom>
          <a:noFill/>
          <a:ln/>
        </p:spPr>
        <p:txBody>
          <a:bodyPr wrap="none" lIns="0" tIns="0" rIns="0" bIns="0" rtlCol="0" anchor="ctr"/>
          <a:lstStyle/>
          <a:p>
            <a:pPr algn="l" indent="0" marL="0">
              <a:buNone/>
            </a:pPr>
            <a:r>
              <a:rPr lang="en-US" sz="1350" dirty="0">
                <a:solidFill>
                  <a:srgbClr val="E8EDF5"/>
                </a:solidFill>
                <a:latin typeface="IBM Plex Sans KR" pitchFamily="34" charset="0"/>
                <a:ea typeface="IBM Plex Sans KR" pitchFamily="34" charset="-122"/>
                <a:cs typeface="IBM Plex Sans KR" pitchFamily="34" charset="-120"/>
              </a:rPr>
              <a:t>V1 post-spacer</a:t>
            </a:r>
            <a:endParaRPr lang="en-US" sz="1350" dirty="0"/>
          </a:p>
        </p:txBody>
      </p:sp>
      <p:sp>
        <p:nvSpPr>
          <p:cNvPr id="76" name="Text 68"/>
          <p:cNvSpPr txBox="1"/>
          <p:nvPr/>
        </p:nvSpPr>
        <p:spPr>
          <a:xfrm>
            <a:off x="10116007" y="8581644"/>
            <a:ext cx="3381451" cy="257861"/>
          </a:xfrm>
          <a:prstGeom prst="rect">
            <a:avLst/>
          </a:prstGeom>
          <a:noFill/>
          <a:ln/>
        </p:spPr>
        <p:txBody>
          <a:bodyPr wrap="none" lIns="0" tIns="0" rIns="0" bIns="0" rtlCol="0" anchor="ctr"/>
          <a:lstStyle/>
          <a:p>
            <a:pPr algn="l" indent="0" marL="0">
              <a:buNone/>
            </a:pPr>
            <a:r>
              <a:rPr lang="en-US" sz="1350" dirty="0">
                <a:solidFill>
                  <a:srgbClr val="E8EDF5"/>
                </a:solidFill>
                <a:latin typeface="IBM Plex Sans KR" pitchFamily="34" charset="0"/>
                <a:ea typeface="IBM Plex Sans KR" pitchFamily="34" charset="-122"/>
                <a:cs typeface="IBM Plex Sans KR" pitchFamily="34" charset="-120"/>
              </a:rPr>
              <a:t>M2 trench</a:t>
            </a:r>
            <a:endParaRPr lang="en-US" sz="1350" dirty="0"/>
          </a:p>
        </p:txBody>
      </p:sp>
      <p:sp>
        <p:nvSpPr>
          <p:cNvPr id="77" name="Text 69"/>
          <p:cNvSpPr txBox="1"/>
          <p:nvPr/>
        </p:nvSpPr>
        <p:spPr>
          <a:xfrm>
            <a:off x="13496544" y="8581644"/>
            <a:ext cx="3381451" cy="257861"/>
          </a:xfrm>
          <a:prstGeom prst="rect">
            <a:avLst/>
          </a:prstGeom>
          <a:noFill/>
          <a:ln/>
        </p:spPr>
        <p:txBody>
          <a:bodyPr wrap="none" lIns="0" tIns="0" rIns="0" bIns="0" rtlCol="0" anchor="ctr"/>
          <a:lstStyle/>
          <a:p>
            <a:pPr algn="l" indent="0" marL="0">
              <a:buNone/>
            </a:pPr>
            <a:r>
              <a:rPr lang="en-US" sz="1350" dirty="0">
                <a:solidFill>
                  <a:srgbClr val="E8EDF5"/>
                </a:solidFill>
                <a:latin typeface="IBM Plex Sans KR" pitchFamily="34" charset="0"/>
                <a:ea typeface="IBM Plex Sans KR" pitchFamily="34" charset="-122"/>
                <a:cs typeface="IBM Plex Sans KR" pitchFamily="34" charset="-120"/>
              </a:rPr>
              <a:t>M2 contact-adjacent</a:t>
            </a:r>
            <a:endParaRPr lang="en-US" sz="1350" dirty="0"/>
          </a:p>
        </p:txBody>
      </p:sp>
      <p:sp>
        <p:nvSpPr>
          <p:cNvPr id="78" name="Text 70"/>
          <p:cNvSpPr txBox="1"/>
          <p:nvPr/>
        </p:nvSpPr>
        <p:spPr>
          <a:xfrm>
            <a:off x="1447495" y="8896198"/>
            <a:ext cx="1905610" cy="247802"/>
          </a:xfrm>
          <a:prstGeom prst="rect">
            <a:avLst/>
          </a:prstGeom>
          <a:noFill/>
          <a:ln/>
        </p:spPr>
        <p:txBody>
          <a:bodyPr wrap="none" lIns="0" tIns="0" rIns="0" bIns="0" rtlCol="0" anchor="ctr"/>
          <a:lstStyle/>
          <a:p>
            <a:pPr algn="l" indent="0" marL="0">
              <a:buNone/>
            </a:pPr>
            <a:r>
              <a:rPr lang="en-US" sz="1350" dirty="0">
                <a:solidFill>
                  <a:srgbClr val="B7C4D6"/>
                </a:solidFill>
                <a:latin typeface="JetBrains Mono" pitchFamily="34" charset="0"/>
                <a:ea typeface="JetBrains Mono" pitchFamily="34" charset="-122"/>
                <a:cs typeface="JetBrains Mono" pitchFamily="34" charset="-120"/>
              </a:rPr>
              <a:t>측정 사이트</a:t>
            </a:r>
            <a:endParaRPr lang="en-US" sz="1350" dirty="0"/>
          </a:p>
        </p:txBody>
      </p:sp>
      <p:sp>
        <p:nvSpPr>
          <p:cNvPr id="79" name="Text 71"/>
          <p:cNvSpPr txBox="1"/>
          <p:nvPr/>
        </p:nvSpPr>
        <p:spPr>
          <a:xfrm>
            <a:off x="3353105" y="8896198"/>
            <a:ext cx="3381451" cy="247802"/>
          </a:xfrm>
          <a:prstGeom prst="rect">
            <a:avLst/>
          </a:prstGeom>
          <a:noFill/>
          <a:ln/>
        </p:spPr>
        <p:txBody>
          <a:bodyPr wrap="none" lIns="0" tIns="0" rIns="0" bIns="0" rtlCol="0" anchor="ctr"/>
          <a:lstStyle/>
          <a:p>
            <a:pPr algn="l" indent="0" marL="0">
              <a:buNone/>
            </a:pPr>
            <a:r>
              <a:rPr lang="en-US" sz="1350" dirty="0">
                <a:solidFill>
                  <a:srgbClr val="5F7191"/>
                </a:solidFill>
                <a:latin typeface="JetBrains Mono" pitchFamily="34" charset="0"/>
                <a:ea typeface="JetBrains Mono" pitchFamily="34" charset="-122"/>
                <a:cs typeface="JetBrains Mono" pitchFamily="34" charset="-120"/>
              </a:rPr>
              <a:t>25 / wafer</a:t>
            </a:r>
            <a:endParaRPr lang="en-US" sz="1350" dirty="0"/>
          </a:p>
        </p:txBody>
      </p:sp>
      <p:sp>
        <p:nvSpPr>
          <p:cNvPr id="80" name="Text 72"/>
          <p:cNvSpPr txBox="1"/>
          <p:nvPr/>
        </p:nvSpPr>
        <p:spPr>
          <a:xfrm>
            <a:off x="6734556" y="8896198"/>
            <a:ext cx="3381451" cy="247802"/>
          </a:xfrm>
          <a:prstGeom prst="rect">
            <a:avLst/>
          </a:prstGeom>
          <a:noFill/>
          <a:ln/>
        </p:spPr>
        <p:txBody>
          <a:bodyPr wrap="none" lIns="0" tIns="0" rIns="0" bIns="0" rtlCol="0" anchor="ctr"/>
          <a:lstStyle/>
          <a:p>
            <a:pPr algn="l" indent="0" marL="0">
              <a:buNone/>
            </a:pPr>
            <a:r>
              <a:rPr lang="en-US" sz="1350" dirty="0">
                <a:solidFill>
                  <a:srgbClr val="5F7191"/>
                </a:solidFill>
                <a:latin typeface="JetBrains Mono" pitchFamily="34" charset="0"/>
                <a:ea typeface="JetBrains Mono" pitchFamily="34" charset="-122"/>
                <a:cs typeface="JetBrains Mono" pitchFamily="34" charset="-120"/>
              </a:rPr>
              <a:t>25 / wafer</a:t>
            </a:r>
            <a:endParaRPr lang="en-US" sz="1350" dirty="0"/>
          </a:p>
        </p:txBody>
      </p:sp>
      <p:sp>
        <p:nvSpPr>
          <p:cNvPr id="81" name="Text 73"/>
          <p:cNvSpPr txBox="1"/>
          <p:nvPr/>
        </p:nvSpPr>
        <p:spPr>
          <a:xfrm>
            <a:off x="10116007" y="8896198"/>
            <a:ext cx="3381451" cy="247802"/>
          </a:xfrm>
          <a:prstGeom prst="rect">
            <a:avLst/>
          </a:prstGeom>
          <a:noFill/>
          <a:ln/>
        </p:spPr>
        <p:txBody>
          <a:bodyPr wrap="none" lIns="0" tIns="0" rIns="0" bIns="0" rtlCol="0" anchor="ctr"/>
          <a:lstStyle/>
          <a:p>
            <a:pPr algn="l" indent="0" marL="0">
              <a:buNone/>
            </a:pPr>
            <a:r>
              <a:rPr lang="en-US" sz="1350" dirty="0">
                <a:solidFill>
                  <a:srgbClr val="5F7191"/>
                </a:solidFill>
                <a:latin typeface="JetBrains Mono" pitchFamily="34" charset="0"/>
                <a:ea typeface="JetBrains Mono" pitchFamily="34" charset="-122"/>
                <a:cs typeface="JetBrains Mono" pitchFamily="34" charset="-120"/>
              </a:rPr>
              <a:t>25 / wafer</a:t>
            </a:r>
            <a:endParaRPr lang="en-US" sz="1350" dirty="0"/>
          </a:p>
        </p:txBody>
      </p:sp>
      <p:sp>
        <p:nvSpPr>
          <p:cNvPr id="82" name="Text 74"/>
          <p:cNvSpPr txBox="1"/>
          <p:nvPr/>
        </p:nvSpPr>
        <p:spPr>
          <a:xfrm>
            <a:off x="13496544" y="8896198"/>
            <a:ext cx="3381451" cy="247802"/>
          </a:xfrm>
          <a:prstGeom prst="rect">
            <a:avLst/>
          </a:prstGeom>
          <a:noFill/>
          <a:ln/>
        </p:spPr>
        <p:txBody>
          <a:bodyPr wrap="none" lIns="0" tIns="0" rIns="0" bIns="0" rtlCol="0" anchor="ctr"/>
          <a:lstStyle/>
          <a:p>
            <a:pPr algn="l" indent="0" marL="0">
              <a:buNone/>
            </a:pPr>
            <a:r>
              <a:rPr lang="en-US" sz="1350" dirty="0">
                <a:solidFill>
                  <a:srgbClr val="5F7191"/>
                </a:solidFill>
                <a:latin typeface="JetBrains Mono" pitchFamily="34" charset="0"/>
                <a:ea typeface="JetBrains Mono" pitchFamily="34" charset="-122"/>
                <a:cs typeface="JetBrains Mono" pitchFamily="34" charset="-120"/>
              </a:rPr>
              <a:t>25 / wafer</a:t>
            </a:r>
            <a:endParaRPr lang="en-US" sz="1350" dirty="0"/>
          </a:p>
        </p:txBody>
      </p:sp>
      <p:sp>
        <p:nvSpPr>
          <p:cNvPr id="83" name="Text 75"/>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3 wafer × 2 layer × 4 CD metric, 모두 동일 lot에서 진행되며 측정 사이트는 wafer 당 25-point 고정.</a:t>
            </a:r>
            <a:endParaRPr lang="en-US" sz="1200" dirty="0"/>
          </a:p>
        </p:txBody>
      </p:sp>
      <p:sp>
        <p:nvSpPr>
          <p:cNvPr id="84" name="Text 76"/>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2971800"/>
            <a:ext cx="11259007" cy="5352898"/>
          </a:xfrm>
          <a:prstGeom prst="rect">
            <a:avLst/>
          </a:prstGeom>
          <a:solidFill>
            <a:srgbClr val="04090F"/>
          </a:solidFill>
          <a:ln w="12700">
            <a:solidFill>
              <a:srgbClr val="1F2D49"/>
            </a:solidFill>
            <a:prstDash val="solid"/>
          </a:ln>
        </p:spPr>
      </p:sp>
      <p:sp>
        <p:nvSpPr>
          <p:cNvPr id="5" name="Shape 1"/>
          <p:cNvSpPr/>
          <p:nvPr/>
        </p:nvSpPr>
        <p:spPr>
          <a:xfrm>
            <a:off x="12763195" y="2971800"/>
            <a:ext cx="4419295" cy="1733702"/>
          </a:xfrm>
          <a:prstGeom prst="rect">
            <a:avLst/>
          </a:prstGeom>
          <a:solidFill>
            <a:srgbClr val="142039"/>
          </a:solidFill>
          <a:ln w="12700">
            <a:solidFill>
              <a:srgbClr val="1F2D49"/>
            </a:solidFill>
            <a:prstDash val="solid"/>
          </a:ln>
        </p:spPr>
      </p:sp>
      <p:sp>
        <p:nvSpPr>
          <p:cNvPr id="6" name="Shape 2"/>
          <p:cNvSpPr/>
          <p:nvPr/>
        </p:nvSpPr>
        <p:spPr>
          <a:xfrm>
            <a:off x="12763195" y="2971800"/>
            <a:ext cx="28346" cy="1733702"/>
          </a:xfrm>
          <a:prstGeom prst="rect">
            <a:avLst/>
          </a:prstGeom>
          <a:solidFill>
            <a:srgbClr val="38BDF8"/>
          </a:solidFill>
          <a:ln w="12700">
            <a:solidFill>
              <a:srgbClr val="38BDF8">
                <a:alpha val="0"/>
              </a:srgbClr>
            </a:solidFill>
            <a:prstDash val="solid"/>
          </a:ln>
        </p:spPr>
      </p:sp>
      <p:sp>
        <p:nvSpPr>
          <p:cNvPr id="7" name="Shape 3"/>
          <p:cNvSpPr/>
          <p:nvPr/>
        </p:nvSpPr>
        <p:spPr>
          <a:xfrm>
            <a:off x="12763195" y="4876495"/>
            <a:ext cx="4419295" cy="1733702"/>
          </a:xfrm>
          <a:prstGeom prst="rect">
            <a:avLst/>
          </a:prstGeom>
          <a:solidFill>
            <a:srgbClr val="142039"/>
          </a:solidFill>
          <a:ln w="12700">
            <a:solidFill>
              <a:srgbClr val="1F2D49"/>
            </a:solidFill>
            <a:prstDash val="solid"/>
          </a:ln>
        </p:spPr>
      </p:sp>
      <p:sp>
        <p:nvSpPr>
          <p:cNvPr id="8" name="Shape 4"/>
          <p:cNvSpPr/>
          <p:nvPr/>
        </p:nvSpPr>
        <p:spPr>
          <a:xfrm>
            <a:off x="12763195" y="4876495"/>
            <a:ext cx="28346" cy="1733702"/>
          </a:xfrm>
          <a:prstGeom prst="rect">
            <a:avLst/>
          </a:prstGeom>
          <a:solidFill>
            <a:srgbClr val="14B8A6"/>
          </a:solidFill>
          <a:ln w="12700">
            <a:solidFill>
              <a:srgbClr val="14B8A6">
                <a:alpha val="0"/>
              </a:srgbClr>
            </a:solidFill>
            <a:prstDash val="solid"/>
          </a:ln>
        </p:spPr>
      </p:sp>
      <p:sp>
        <p:nvSpPr>
          <p:cNvPr id="9" name="Shape 5"/>
          <p:cNvSpPr/>
          <p:nvPr/>
        </p:nvSpPr>
        <p:spPr>
          <a:xfrm>
            <a:off x="12763195" y="6782105"/>
            <a:ext cx="4419295" cy="1733702"/>
          </a:xfrm>
          <a:prstGeom prst="rect">
            <a:avLst/>
          </a:prstGeom>
          <a:solidFill>
            <a:srgbClr val="142039"/>
          </a:solidFill>
          <a:ln w="12700">
            <a:solidFill>
              <a:srgbClr val="1F2D49"/>
            </a:solidFill>
            <a:prstDash val="solid"/>
          </a:ln>
        </p:spPr>
      </p:sp>
      <p:sp>
        <p:nvSpPr>
          <p:cNvPr id="10" name="Shape 6"/>
          <p:cNvSpPr/>
          <p:nvPr/>
        </p:nvSpPr>
        <p:spPr>
          <a:xfrm>
            <a:off x="12763195" y="6782105"/>
            <a:ext cx="28346" cy="1733702"/>
          </a:xfrm>
          <a:prstGeom prst="rect">
            <a:avLst/>
          </a:prstGeom>
          <a:solidFill>
            <a:srgbClr val="FBBF24"/>
          </a:solidFill>
          <a:ln w="12700">
            <a:solidFill>
              <a:srgbClr val="FBBF24">
                <a:alpha val="0"/>
              </a:srgbClr>
            </a:solidFill>
            <a:prstDash val="solid"/>
          </a:ln>
        </p:spPr>
      </p:sp>
      <p:sp>
        <p:nvSpPr>
          <p:cNvPr id="11" name="Shape 7"/>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2" name="Shape 8"/>
          <p:cNvSpPr/>
          <p:nvPr/>
        </p:nvSpPr>
        <p:spPr>
          <a:xfrm>
            <a:off x="1143000" y="9430207"/>
            <a:ext cx="28346" cy="495605"/>
          </a:xfrm>
          <a:prstGeom prst="rect">
            <a:avLst/>
          </a:prstGeom>
          <a:solidFill>
            <a:srgbClr val="38BDF8"/>
          </a:solidFill>
          <a:ln w="12700">
            <a:solidFill>
              <a:srgbClr val="38BDF8">
                <a:alpha val="0"/>
              </a:srgbClr>
            </a:solidFill>
            <a:prstDash val="solid"/>
          </a:ln>
        </p:spPr>
      </p:sp>
      <p:sp>
        <p:nvSpPr>
          <p:cNvPr id="13" name="Shape 9"/>
          <p:cNvSpPr/>
          <p:nvPr/>
        </p:nvSpPr>
        <p:spPr>
          <a:xfrm>
            <a:off x="1143000" y="2971800"/>
            <a:ext cx="247802" cy="19202"/>
          </a:xfrm>
          <a:prstGeom prst="rect">
            <a:avLst/>
          </a:prstGeom>
          <a:solidFill>
            <a:srgbClr val="38BDF8"/>
          </a:solidFill>
          <a:ln w="12700">
            <a:solidFill>
              <a:srgbClr val="38BDF8">
                <a:alpha val="0"/>
              </a:srgbClr>
            </a:solidFill>
            <a:prstDash val="solid"/>
          </a:ln>
        </p:spPr>
      </p:sp>
      <p:sp>
        <p:nvSpPr>
          <p:cNvPr id="14" name="Shape 10"/>
          <p:cNvSpPr/>
          <p:nvPr/>
        </p:nvSpPr>
        <p:spPr>
          <a:xfrm>
            <a:off x="1143000" y="2971800"/>
            <a:ext cx="19202" cy="247802"/>
          </a:xfrm>
          <a:prstGeom prst="rect">
            <a:avLst/>
          </a:prstGeom>
          <a:solidFill>
            <a:srgbClr val="38BDF8"/>
          </a:solidFill>
          <a:ln w="12700">
            <a:solidFill>
              <a:srgbClr val="38BDF8">
                <a:alpha val="0"/>
              </a:srgbClr>
            </a:solidFill>
            <a:prstDash val="solid"/>
          </a:ln>
        </p:spPr>
      </p:sp>
      <p:sp>
        <p:nvSpPr>
          <p:cNvPr id="15" name="Shape 11"/>
          <p:cNvSpPr/>
          <p:nvPr/>
        </p:nvSpPr>
        <p:spPr>
          <a:xfrm>
            <a:off x="12154205" y="2971800"/>
            <a:ext cx="247802" cy="19202"/>
          </a:xfrm>
          <a:prstGeom prst="rect">
            <a:avLst/>
          </a:prstGeom>
          <a:solidFill>
            <a:srgbClr val="38BDF8"/>
          </a:solidFill>
          <a:ln w="12700">
            <a:solidFill>
              <a:srgbClr val="38BDF8">
                <a:alpha val="0"/>
              </a:srgbClr>
            </a:solidFill>
            <a:prstDash val="solid"/>
          </a:ln>
        </p:spPr>
      </p:sp>
      <p:sp>
        <p:nvSpPr>
          <p:cNvPr id="16" name="Shape 12"/>
          <p:cNvSpPr/>
          <p:nvPr/>
        </p:nvSpPr>
        <p:spPr>
          <a:xfrm>
            <a:off x="12382805" y="2971800"/>
            <a:ext cx="19202" cy="247802"/>
          </a:xfrm>
          <a:prstGeom prst="rect">
            <a:avLst/>
          </a:prstGeom>
          <a:solidFill>
            <a:srgbClr val="38BDF8"/>
          </a:solidFill>
          <a:ln w="12700">
            <a:solidFill>
              <a:srgbClr val="38BDF8">
                <a:alpha val="0"/>
              </a:srgbClr>
            </a:solidFill>
            <a:prstDash val="solid"/>
          </a:ln>
        </p:spPr>
      </p:sp>
      <p:sp>
        <p:nvSpPr>
          <p:cNvPr id="17" name="Shape 13"/>
          <p:cNvSpPr/>
          <p:nvPr/>
        </p:nvSpPr>
        <p:spPr>
          <a:xfrm>
            <a:off x="1143000" y="8305495"/>
            <a:ext cx="247802" cy="19202"/>
          </a:xfrm>
          <a:prstGeom prst="rect">
            <a:avLst/>
          </a:prstGeom>
          <a:solidFill>
            <a:srgbClr val="38BDF8"/>
          </a:solidFill>
          <a:ln w="12700">
            <a:solidFill>
              <a:srgbClr val="38BDF8">
                <a:alpha val="0"/>
              </a:srgbClr>
            </a:solidFill>
            <a:prstDash val="solid"/>
          </a:ln>
        </p:spPr>
      </p:sp>
      <p:sp>
        <p:nvSpPr>
          <p:cNvPr id="18" name="Shape 14"/>
          <p:cNvSpPr/>
          <p:nvPr/>
        </p:nvSpPr>
        <p:spPr>
          <a:xfrm>
            <a:off x="1143000" y="8076895"/>
            <a:ext cx="19202" cy="247802"/>
          </a:xfrm>
          <a:prstGeom prst="rect">
            <a:avLst/>
          </a:prstGeom>
          <a:solidFill>
            <a:srgbClr val="38BDF8"/>
          </a:solidFill>
          <a:ln w="12700">
            <a:solidFill>
              <a:srgbClr val="38BDF8">
                <a:alpha val="0"/>
              </a:srgbClr>
            </a:solidFill>
            <a:prstDash val="solid"/>
          </a:ln>
        </p:spPr>
      </p:sp>
      <p:sp>
        <p:nvSpPr>
          <p:cNvPr id="19" name="Shape 15"/>
          <p:cNvSpPr/>
          <p:nvPr/>
        </p:nvSpPr>
        <p:spPr>
          <a:xfrm>
            <a:off x="12154205" y="8305495"/>
            <a:ext cx="247802" cy="19202"/>
          </a:xfrm>
          <a:prstGeom prst="rect">
            <a:avLst/>
          </a:prstGeom>
          <a:solidFill>
            <a:srgbClr val="38BDF8"/>
          </a:solidFill>
          <a:ln w="12700">
            <a:solidFill>
              <a:srgbClr val="38BDF8">
                <a:alpha val="0"/>
              </a:srgbClr>
            </a:solidFill>
            <a:prstDash val="solid"/>
          </a:ln>
        </p:spPr>
      </p:sp>
      <p:sp>
        <p:nvSpPr>
          <p:cNvPr id="20" name="Shape 16"/>
          <p:cNvSpPr/>
          <p:nvPr/>
        </p:nvSpPr>
        <p:spPr>
          <a:xfrm>
            <a:off x="12382805" y="8076895"/>
            <a:ext cx="19202" cy="247802"/>
          </a:xfrm>
          <a:prstGeom prst="rect">
            <a:avLst/>
          </a:prstGeom>
          <a:solidFill>
            <a:srgbClr val="38BDF8"/>
          </a:solidFill>
          <a:ln w="12700">
            <a:solidFill>
              <a:srgbClr val="38BDF8">
                <a:alpha val="0"/>
              </a:srgbClr>
            </a:solidFill>
            <a:prstDash val="solid"/>
          </a:ln>
        </p:spPr>
      </p:sp>
      <p:pic>
        <p:nvPicPr>
          <p:cNvPr id="21" name="Image 1" descr="gen-dedup-fe35f73341f42a8a5191875a2482b684.jpg">    </p:cNvPr>
          <p:cNvPicPr>
            <a:picLocks noChangeAspect="1"/>
          </p:cNvPicPr>
          <p:nvPr/>
        </p:nvPicPr>
        <p:blipFill>
          <a:blip r:embed="rId2"/>
          <a:srcRect l="-6222" r="-6222" t="0" b="0"/>
          <a:stretch/>
        </p:blipFill>
        <p:spPr>
          <a:xfrm>
            <a:off x="1524305" y="3238805"/>
            <a:ext cx="10477195" cy="4800600"/>
          </a:xfrm>
          <a:prstGeom prst="rect">
            <a:avLst/>
          </a:prstGeom>
        </p:spPr>
      </p:pic>
      <p:sp>
        <p:nvSpPr>
          <p:cNvPr id="22" name="Text 17"/>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04 / Cross-section Evidence</a:t>
            </a:r>
            <a:endParaRPr lang="en-US" sz="1350" dirty="0"/>
          </a:p>
        </p:txBody>
      </p:sp>
      <p:sp>
        <p:nvSpPr>
          <p:cNvPr id="23" name="Text 18"/>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단면 SEM — V1 / M2 BEOL 적층 관찰</a:t>
            </a:r>
            <a:endParaRPr lang="en-US" sz="4800" dirty="0"/>
          </a:p>
        </p:txBody>
      </p:sp>
      <p:pic>
        <p:nvPicPr>
          <p:cNvPr id="24" name="Image 2" descr="gen-dedup-8475ae58b72ae2f3da4bda7fa3d0e75d.png">    </p:cNvPr>
          <p:cNvPicPr>
            <a:picLocks noChangeAspect="1"/>
          </p:cNvPicPr>
          <p:nvPr/>
        </p:nvPicPr>
        <p:blipFill>
          <a:blip r:embed="rId3"/>
          <a:srcRect l="0" r="0" t="-400" b="-400"/>
          <a:stretch/>
        </p:blipFill>
        <p:spPr>
          <a:xfrm>
            <a:off x="1143000" y="2514600"/>
            <a:ext cx="1143000" cy="38405"/>
          </a:xfrm>
          <a:prstGeom prst="rect">
            <a:avLst/>
          </a:prstGeom>
        </p:spPr>
      </p:pic>
      <p:sp>
        <p:nvSpPr>
          <p:cNvPr id="25" name="Text 19"/>
          <p:cNvSpPr txBox="1"/>
          <p:nvPr/>
        </p:nvSpPr>
        <p:spPr>
          <a:xfrm>
            <a:off x="13068605" y="3200400"/>
            <a:ext cx="3810305" cy="181051"/>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관찰 01</a:t>
            </a:r>
            <a:endParaRPr lang="en-US" sz="975" dirty="0"/>
          </a:p>
        </p:txBody>
      </p:sp>
      <p:sp>
        <p:nvSpPr>
          <p:cNvPr id="26" name="Text 20"/>
          <p:cNvSpPr txBox="1"/>
          <p:nvPr/>
        </p:nvSpPr>
        <p:spPr>
          <a:xfrm>
            <a:off x="13068605" y="3514954"/>
            <a:ext cx="3810305" cy="333756"/>
          </a:xfrm>
          <a:prstGeom prst="rect">
            <a:avLst/>
          </a:prstGeom>
          <a:noFill/>
          <a:ln/>
        </p:spPr>
        <p:txBody>
          <a:bodyPr wrap="none" lIns="0" tIns="0" rIns="0" bIns="0" rtlCol="0" anchor="ctr"/>
          <a:lstStyle/>
          <a:p>
            <a:pPr algn="l" indent="0" marL="0">
              <a:buNone/>
            </a:pPr>
            <a:r>
              <a:rPr lang="en-US" sz="2100" b="1" dirty="0">
                <a:solidFill>
                  <a:srgbClr val="E8EDF5"/>
                </a:solidFill>
                <a:latin typeface="Space Grotesk" pitchFamily="34" charset="0"/>
                <a:ea typeface="Space Grotesk" pitchFamily="34" charset="-122"/>
                <a:cs typeface="Space Grotesk" pitchFamily="34" charset="-120"/>
              </a:rPr>
              <a:t>V1 측벽 수직성 유지</a:t>
            </a:r>
            <a:endParaRPr lang="en-US" sz="2100" dirty="0"/>
          </a:p>
        </p:txBody>
      </p:sp>
      <p:sp>
        <p:nvSpPr>
          <p:cNvPr id="27" name="Text 21"/>
          <p:cNvSpPr txBox="1"/>
          <p:nvPr/>
        </p:nvSpPr>
        <p:spPr>
          <a:xfrm>
            <a:off x="13068605" y="3943807"/>
            <a:ext cx="3810305" cy="600761"/>
          </a:xfrm>
          <a:prstGeom prst="rect">
            <a:avLst/>
          </a:prstGeom>
          <a:noFill/>
          <a:ln/>
        </p:spPr>
        <p:txBody>
          <a:bodyPr wrap="square" lIns="0" tIns="0" rIns="0" bIns="0" rtlCol="0" anchor="ctr"/>
          <a:lstStyle/>
          <a:p>
            <a:pPr algn="l" indent="0" marL="0">
              <a:lnSpc>
                <a:spcPts val="2175"/>
              </a:lnSpc>
              <a:buNone/>
            </a:pPr>
            <a:r>
              <a:rPr lang="en-US" sz="1500" dirty="0">
                <a:solidFill>
                  <a:srgbClr val="B7C4D6"/>
                </a:solidFill>
                <a:latin typeface="IBM Plex Sans KR" pitchFamily="34" charset="0"/>
                <a:ea typeface="IBM Plex Sans KR" pitchFamily="34" charset="-122"/>
                <a:cs typeface="IBM Plex Sans KR" pitchFamily="34" charset="-120"/>
              </a:rPr>
              <a:t>식각 후에도 taper 발생 최소, 하부 SiO</a:t>
            </a:r>
            <a:pPr algn="l" indent="0" marL="0">
              <a:lnSpc>
                <a:spcPts val="2175"/>
              </a:lnSpc>
              <a:buNone/>
            </a:pPr>
            <a:r>
              <a:rPr lang="en-US" sz="1250" dirty="0">
                <a:solidFill>
                  <a:srgbClr val="B7C4D6"/>
                </a:solidFill>
                <a:latin typeface="IBM Plex Sans KR" pitchFamily="34" charset="0"/>
                <a:ea typeface="IBM Plex Sans KR" pitchFamily="34" charset="-122"/>
                <a:cs typeface="IBM Plex Sans KR" pitchFamily="34" charset="-120"/>
              </a:rPr>
              <a:t>2</a:t>
            </a:r>
            <a:pPr algn="l" indent="0" marL="0">
              <a:lnSpc>
                <a:spcPts val="2175"/>
              </a:lnSpc>
              <a:buNone/>
            </a:pPr>
            <a:r>
              <a:rPr lang="en-US" sz="1500" dirty="0">
                <a:solidFill>
                  <a:srgbClr val="B7C4D6"/>
                </a:solidFill>
                <a:latin typeface="IBM Plex Sans KR" pitchFamily="34" charset="0"/>
                <a:ea typeface="IBM Plex Sans KR" pitchFamily="34" charset="-122"/>
                <a:cs typeface="IBM Plex Sans KR" pitchFamily="34" charset="-120"/>
              </a:rPr>
              <a:t> 층과 경계면이 비교적 선명.</a:t>
            </a:r>
            <a:endParaRPr lang="en-US" sz="1500" dirty="0"/>
          </a:p>
        </p:txBody>
      </p:sp>
      <p:sp>
        <p:nvSpPr>
          <p:cNvPr id="28" name="Text 22"/>
          <p:cNvSpPr txBox="1"/>
          <p:nvPr/>
        </p:nvSpPr>
        <p:spPr>
          <a:xfrm>
            <a:off x="13068605" y="5105095"/>
            <a:ext cx="3810305" cy="181051"/>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관찰 02</a:t>
            </a:r>
            <a:endParaRPr lang="en-US" sz="975" dirty="0"/>
          </a:p>
        </p:txBody>
      </p:sp>
      <p:sp>
        <p:nvSpPr>
          <p:cNvPr id="29" name="Text 23"/>
          <p:cNvSpPr txBox="1"/>
          <p:nvPr/>
        </p:nvSpPr>
        <p:spPr>
          <a:xfrm>
            <a:off x="13068605" y="5419649"/>
            <a:ext cx="3810305" cy="333756"/>
          </a:xfrm>
          <a:prstGeom prst="rect">
            <a:avLst/>
          </a:prstGeom>
          <a:noFill/>
          <a:ln/>
        </p:spPr>
        <p:txBody>
          <a:bodyPr wrap="none" lIns="0" tIns="0" rIns="0" bIns="0" rtlCol="0" anchor="ctr"/>
          <a:lstStyle/>
          <a:p>
            <a:pPr algn="l" indent="0" marL="0">
              <a:buNone/>
            </a:pPr>
            <a:r>
              <a:rPr lang="en-US" sz="2100" b="1" dirty="0">
                <a:solidFill>
                  <a:srgbClr val="E8EDF5"/>
                </a:solidFill>
                <a:latin typeface="Space Grotesk" pitchFamily="34" charset="0"/>
                <a:ea typeface="Space Grotesk" pitchFamily="34" charset="-122"/>
                <a:cs typeface="Space Grotesk" pitchFamily="34" charset="-120"/>
              </a:rPr>
              <a:t>M2 트랜치 균일 폭</a:t>
            </a:r>
            <a:endParaRPr lang="en-US" sz="2100" dirty="0"/>
          </a:p>
        </p:txBody>
      </p:sp>
      <p:sp>
        <p:nvSpPr>
          <p:cNvPr id="30" name="Text 24"/>
          <p:cNvSpPr txBox="1"/>
          <p:nvPr/>
        </p:nvSpPr>
        <p:spPr>
          <a:xfrm>
            <a:off x="13068605" y="5848502"/>
            <a:ext cx="3810305" cy="553212"/>
          </a:xfrm>
          <a:prstGeom prst="rect">
            <a:avLst/>
          </a:prstGeom>
          <a:noFill/>
          <a:ln/>
        </p:spPr>
        <p:txBody>
          <a:bodyPr wrap="square" lIns="0" tIns="0" rIns="0" bIns="0" rtlCol="0" anchor="ctr"/>
          <a:lstStyle/>
          <a:p>
            <a:pPr algn="l" indent="0" marL="0">
              <a:lnSpc>
                <a:spcPts val="2175"/>
              </a:lnSpc>
              <a:buNone/>
            </a:pPr>
            <a:r>
              <a:rPr lang="en-US" sz="1500" dirty="0">
                <a:solidFill>
                  <a:srgbClr val="B7C4D6"/>
                </a:solidFill>
                <a:latin typeface="IBM Plex Sans KR" pitchFamily="34" charset="0"/>
                <a:ea typeface="IBM Plex Sans KR" pitchFamily="34" charset="-122"/>
                <a:cs typeface="IBM Plex Sans KR" pitchFamily="34" charset="-120"/>
              </a:rPr>
              <a:t>인접 라인 간 CD 차이가 시각적으로 좁고, 잔류 PR이 거의 보이지 않음.</a:t>
            </a:r>
            <a:endParaRPr lang="en-US" sz="1500" dirty="0"/>
          </a:p>
        </p:txBody>
      </p:sp>
      <p:sp>
        <p:nvSpPr>
          <p:cNvPr id="31" name="Text 25"/>
          <p:cNvSpPr txBox="1"/>
          <p:nvPr/>
        </p:nvSpPr>
        <p:spPr>
          <a:xfrm>
            <a:off x="13068605" y="7010705"/>
            <a:ext cx="3810305" cy="181051"/>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관찰 03</a:t>
            </a:r>
            <a:endParaRPr lang="en-US" sz="975" dirty="0"/>
          </a:p>
        </p:txBody>
      </p:sp>
      <p:sp>
        <p:nvSpPr>
          <p:cNvPr id="32" name="Text 26"/>
          <p:cNvSpPr txBox="1"/>
          <p:nvPr/>
        </p:nvSpPr>
        <p:spPr>
          <a:xfrm>
            <a:off x="13068605" y="7324344"/>
            <a:ext cx="3810305" cy="333756"/>
          </a:xfrm>
          <a:prstGeom prst="rect">
            <a:avLst/>
          </a:prstGeom>
          <a:noFill/>
          <a:ln/>
        </p:spPr>
        <p:txBody>
          <a:bodyPr wrap="none" lIns="0" tIns="0" rIns="0" bIns="0" rtlCol="0" anchor="ctr"/>
          <a:lstStyle/>
          <a:p>
            <a:pPr algn="l" indent="0" marL="0">
              <a:buNone/>
            </a:pPr>
            <a:r>
              <a:rPr lang="en-US" sz="2100" b="1" dirty="0">
                <a:solidFill>
                  <a:srgbClr val="E8EDF5"/>
                </a:solidFill>
                <a:latin typeface="Space Grotesk" pitchFamily="34" charset="0"/>
                <a:ea typeface="Space Grotesk" pitchFamily="34" charset="-122"/>
                <a:cs typeface="Space Grotesk" pitchFamily="34" charset="-120"/>
              </a:rPr>
              <a:t>Interface clean</a:t>
            </a:r>
            <a:endParaRPr lang="en-US" sz="2100" dirty="0"/>
          </a:p>
        </p:txBody>
      </p:sp>
      <p:sp>
        <p:nvSpPr>
          <p:cNvPr id="33" name="Text 27"/>
          <p:cNvSpPr txBox="1"/>
          <p:nvPr/>
        </p:nvSpPr>
        <p:spPr>
          <a:xfrm>
            <a:off x="13068605" y="7753198"/>
            <a:ext cx="3810305" cy="553212"/>
          </a:xfrm>
          <a:prstGeom prst="rect">
            <a:avLst/>
          </a:prstGeom>
          <a:noFill/>
          <a:ln/>
        </p:spPr>
        <p:txBody>
          <a:bodyPr wrap="square" lIns="0" tIns="0" rIns="0" bIns="0" rtlCol="0" anchor="ctr"/>
          <a:lstStyle/>
          <a:p>
            <a:pPr algn="l" indent="0" marL="0">
              <a:lnSpc>
                <a:spcPts val="2175"/>
              </a:lnSpc>
              <a:buNone/>
            </a:pPr>
            <a:r>
              <a:rPr lang="en-US" sz="1500" dirty="0">
                <a:solidFill>
                  <a:srgbClr val="B7C4D6"/>
                </a:solidFill>
                <a:latin typeface="IBM Plex Sans KR" pitchFamily="34" charset="0"/>
                <a:ea typeface="IBM Plex Sans KR" pitchFamily="34" charset="-122"/>
                <a:cs typeface="IBM Plex Sans KR" pitchFamily="34" charset="-120"/>
              </a:rPr>
              <a:t>PR 잔사·undercut 정성적으로 보이지 않음. dose tail 영향 정량 평가로 분리.</a:t>
            </a:r>
            <a:endParaRPr lang="en-US" sz="1500" dirty="0"/>
          </a:p>
        </p:txBody>
      </p:sp>
      <p:sp>
        <p:nvSpPr>
          <p:cNvPr id="34" name="Text 28"/>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단면에서 V1·M2 모두 수직 측벽을 유지하고 잔사/언더컷이 정성적으로 보이지 않음 — 정량 CD 변동은 별도 슬라이드에서 다룸.</a:t>
            </a:r>
            <a:endParaRPr lang="en-US" sz="1200" dirty="0"/>
          </a:p>
        </p:txBody>
      </p:sp>
      <p:sp>
        <p:nvSpPr>
          <p:cNvPr id="35" name="Text 29"/>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
        <p:nvSpPr>
          <p:cNvPr id="36" name="Text 30"/>
          <p:cNvSpPr txBox="1"/>
          <p:nvPr/>
        </p:nvSpPr>
        <p:spPr>
          <a:xfrm>
            <a:off x="1772107" y="3619195"/>
            <a:ext cx="762610" cy="228600"/>
          </a:xfrm>
          <a:prstGeom prst="rect">
            <a:avLst/>
          </a:prstGeom>
          <a:noFill/>
          <a:ln/>
        </p:spPr>
        <p:txBody>
          <a:bodyPr wrap="none" lIns="0" tIns="0" rIns="0" bIns="0" rtlCol="0" anchor="ctr"/>
          <a:lstStyle/>
          <a:p>
            <a:pPr algn="l" indent="0" marL="0">
              <a:buNone/>
            </a:pPr>
            <a:r>
              <a:rPr lang="en-US" sz="1050" b="1" dirty="0">
                <a:solidFill>
                  <a:srgbClr val="38BDF8"/>
                </a:solidFill>
                <a:latin typeface="JetBrains Mono" pitchFamily="34" charset="0"/>
                <a:ea typeface="JetBrains Mono" pitchFamily="34" charset="-122"/>
                <a:cs typeface="JetBrains Mono" pitchFamily="34" charset="-120"/>
              </a:rPr>
              <a:t>V1</a:t>
            </a:r>
            <a:endParaRPr lang="en-US" sz="1200" dirty="0"/>
          </a:p>
        </p:txBody>
      </p:sp>
      <p:pic>
        <p:nvPicPr>
          <p:cNvPr id="37" name="Image 3" descr="gen-dedup-05957302a475eaf105d04f385d0aa57c.png">    </p:cNvPr>
          <p:cNvPicPr>
            <a:picLocks noChangeAspect="1"/>
          </p:cNvPicPr>
          <p:nvPr/>
        </p:nvPicPr>
        <p:blipFill>
          <a:blip r:embed="rId4"/>
          <a:srcRect l="-2067" r="-2067" t="0" b="0"/>
          <a:stretch/>
        </p:blipFill>
        <p:spPr>
          <a:xfrm>
            <a:off x="1695298" y="3829507"/>
            <a:ext cx="437998" cy="9144"/>
          </a:xfrm>
          <a:prstGeom prst="rect">
            <a:avLst/>
          </a:prstGeom>
        </p:spPr>
      </p:pic>
      <p:sp>
        <p:nvSpPr>
          <p:cNvPr id="38" name="Text 31"/>
          <p:cNvSpPr txBox="1"/>
          <p:nvPr/>
        </p:nvSpPr>
        <p:spPr>
          <a:xfrm>
            <a:off x="1772107" y="6172200"/>
            <a:ext cx="762610" cy="228600"/>
          </a:xfrm>
          <a:prstGeom prst="rect">
            <a:avLst/>
          </a:prstGeom>
          <a:noFill/>
          <a:ln/>
        </p:spPr>
        <p:txBody>
          <a:bodyPr wrap="none" lIns="0" tIns="0" rIns="0" bIns="0" rtlCol="0" anchor="ctr"/>
          <a:lstStyle/>
          <a:p>
            <a:pPr algn="l" indent="0" marL="0">
              <a:buNone/>
            </a:pPr>
            <a:r>
              <a:rPr lang="en-US" sz="1050" b="1" dirty="0">
                <a:solidFill>
                  <a:srgbClr val="FBBF24"/>
                </a:solidFill>
                <a:latin typeface="JetBrains Mono" pitchFamily="34" charset="0"/>
                <a:ea typeface="JetBrains Mono" pitchFamily="34" charset="-122"/>
                <a:cs typeface="JetBrains Mono" pitchFamily="34" charset="-120"/>
              </a:rPr>
              <a:t>M2</a:t>
            </a:r>
            <a:endParaRPr lang="en-US" sz="1200" dirty="0"/>
          </a:p>
        </p:txBody>
      </p:sp>
      <p:pic>
        <p:nvPicPr>
          <p:cNvPr id="39" name="Image 4" descr="gen-dedup-44834ecd972a5e534f22f93ba0f8f924.png">    </p:cNvPr>
          <p:cNvPicPr>
            <a:picLocks noChangeAspect="1"/>
          </p:cNvPicPr>
          <p:nvPr/>
        </p:nvPicPr>
        <p:blipFill>
          <a:blip r:embed="rId5"/>
          <a:srcRect l="-2067" r="-2067" t="0" b="0"/>
          <a:stretch/>
        </p:blipFill>
        <p:spPr>
          <a:xfrm>
            <a:off x="1695298" y="6381598"/>
            <a:ext cx="437998" cy="9144"/>
          </a:xfrm>
          <a:prstGeom prst="rect">
            <a:avLst/>
          </a:prstGeom>
        </p:spPr>
      </p:pic>
      <p:sp>
        <p:nvSpPr>
          <p:cNvPr id="40" name="Text 32"/>
          <p:cNvSpPr txBox="1"/>
          <p:nvPr/>
        </p:nvSpPr>
        <p:spPr>
          <a:xfrm>
            <a:off x="1524305" y="8534095"/>
            <a:ext cx="10478110" cy="228600"/>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Source: imec magazine, March 2017 — First EUV lithography HVM solution for N5 BEOL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2971800"/>
            <a:ext cx="11259007" cy="5544007"/>
          </a:xfrm>
          <a:prstGeom prst="rect">
            <a:avLst/>
          </a:prstGeom>
          <a:solidFill>
            <a:srgbClr val="04090F"/>
          </a:solidFill>
          <a:ln w="12700">
            <a:solidFill>
              <a:srgbClr val="1F2D49"/>
            </a:solidFill>
            <a:prstDash val="solid"/>
          </a:ln>
        </p:spPr>
      </p:sp>
      <p:sp>
        <p:nvSpPr>
          <p:cNvPr id="5" name="Shape 1"/>
          <p:cNvSpPr/>
          <p:nvPr/>
        </p:nvSpPr>
        <p:spPr>
          <a:xfrm>
            <a:off x="12763195" y="2971800"/>
            <a:ext cx="4401007" cy="2495398"/>
          </a:xfrm>
          <a:prstGeom prst="rect">
            <a:avLst/>
          </a:prstGeom>
          <a:solidFill>
            <a:srgbClr val="04090F"/>
          </a:solidFill>
          <a:ln w="12700">
            <a:solidFill>
              <a:srgbClr val="1F2D49"/>
            </a:solidFill>
            <a:prstDash val="solid"/>
          </a:ln>
        </p:spPr>
      </p:sp>
      <p:sp>
        <p:nvSpPr>
          <p:cNvPr id="6" name="Shape 2"/>
          <p:cNvSpPr/>
          <p:nvPr/>
        </p:nvSpPr>
        <p:spPr>
          <a:xfrm>
            <a:off x="12763195" y="6133795"/>
            <a:ext cx="4401007" cy="2381098"/>
          </a:xfrm>
          <a:prstGeom prst="rect">
            <a:avLst/>
          </a:prstGeom>
          <a:solidFill>
            <a:srgbClr val="142039"/>
          </a:solidFill>
          <a:ln w="12700">
            <a:solidFill>
              <a:srgbClr val="1F2D49"/>
            </a:solidFill>
            <a:prstDash val="solid"/>
          </a:ln>
        </p:spPr>
      </p:sp>
      <p:sp>
        <p:nvSpPr>
          <p:cNvPr id="7" name="Shape 3"/>
          <p:cNvSpPr/>
          <p:nvPr/>
        </p:nvSpPr>
        <p:spPr>
          <a:xfrm>
            <a:off x="1143000" y="8667598"/>
            <a:ext cx="11277295" cy="571500"/>
          </a:xfrm>
          <a:prstGeom prst="rect">
            <a:avLst/>
          </a:prstGeom>
          <a:solidFill>
            <a:srgbClr val="1A2742"/>
          </a:solidFill>
          <a:ln/>
        </p:spPr>
      </p:sp>
      <p:sp>
        <p:nvSpPr>
          <p:cNvPr id="8" name="Shape 4"/>
          <p:cNvSpPr/>
          <p:nvPr/>
        </p:nvSpPr>
        <p:spPr>
          <a:xfrm>
            <a:off x="1143000" y="8667598"/>
            <a:ext cx="38405" cy="571500"/>
          </a:xfrm>
          <a:prstGeom prst="rect">
            <a:avLst/>
          </a:prstGeom>
          <a:solidFill>
            <a:srgbClr val="38BDF8"/>
          </a:solidFill>
          <a:ln w="12700">
            <a:solidFill>
              <a:srgbClr val="38BDF8">
                <a:alpha val="0"/>
              </a:srgbClr>
            </a:solidFill>
            <a:prstDash val="solid"/>
          </a:ln>
        </p:spPr>
      </p:sp>
      <p:sp>
        <p:nvSpPr>
          <p:cNvPr id="9" name="Shape 5"/>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0" name="Shape 6"/>
          <p:cNvSpPr/>
          <p:nvPr/>
        </p:nvSpPr>
        <p:spPr>
          <a:xfrm>
            <a:off x="1143000" y="9430207"/>
            <a:ext cx="28346" cy="495605"/>
          </a:xfrm>
          <a:prstGeom prst="rect">
            <a:avLst/>
          </a:prstGeom>
          <a:solidFill>
            <a:srgbClr val="38BDF8"/>
          </a:solidFill>
          <a:ln w="12700">
            <a:solidFill>
              <a:srgbClr val="38BDF8">
                <a:alpha val="0"/>
              </a:srgbClr>
            </a:solidFill>
            <a:prstDash val="solid"/>
          </a:ln>
        </p:spPr>
      </p:sp>
      <p:pic>
        <p:nvPicPr>
          <p:cNvPr id="11" name="Image 1" descr="gen-dedup-b64e89c0f215a64c3e760f31b61862da.jpg">    </p:cNvPr>
          <p:cNvPicPr>
            <a:picLocks noChangeAspect="1"/>
          </p:cNvPicPr>
          <p:nvPr/>
        </p:nvPicPr>
        <p:blipFill>
          <a:blip r:embed="rId2"/>
          <a:srcRect l="0" r="0" t="-32" b="-32"/>
          <a:stretch/>
        </p:blipFill>
        <p:spPr>
          <a:xfrm>
            <a:off x="1333195" y="3161995"/>
            <a:ext cx="10858500" cy="4647895"/>
          </a:xfrm>
          <a:prstGeom prst="rect">
            <a:avLst/>
          </a:prstGeom>
        </p:spPr>
      </p:pic>
      <p:pic>
        <p:nvPicPr>
          <p:cNvPr id="12" name="Image 2" descr="gen-dedup-18f7c3a81459f056f2a1b8f60ff852b9.jpg">    </p:cNvPr>
          <p:cNvPicPr>
            <a:picLocks noChangeAspect="1"/>
          </p:cNvPicPr>
          <p:nvPr/>
        </p:nvPicPr>
        <p:blipFill>
          <a:blip r:embed="rId3"/>
          <a:srcRect l="-28622" r="-28622" t="0" b="0"/>
          <a:stretch/>
        </p:blipFill>
        <p:spPr>
          <a:xfrm>
            <a:off x="12954305" y="3161995"/>
            <a:ext cx="4000500" cy="2095805"/>
          </a:xfrm>
          <a:prstGeom prst="rect">
            <a:avLst/>
          </a:prstGeom>
        </p:spPr>
      </p:pic>
      <p:sp>
        <p:nvSpPr>
          <p:cNvPr id="13" name="Text 7"/>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05 / Top-view Patterns</a:t>
            </a:r>
            <a:endParaRPr lang="en-US" sz="1350" dirty="0"/>
          </a:p>
        </p:txBody>
      </p:sp>
      <p:sp>
        <p:nvSpPr>
          <p:cNvPr id="14" name="Text 8"/>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Top-view 라인 패턴 &amp; LER 비교</a:t>
            </a:r>
            <a:endParaRPr lang="en-US" sz="4800" dirty="0"/>
          </a:p>
        </p:txBody>
      </p:sp>
      <p:pic>
        <p:nvPicPr>
          <p:cNvPr id="15" name="Image 3" descr="gen-dedup-8475ae58b72ae2f3da4bda7fa3d0e75d.png">    </p:cNvPr>
          <p:cNvPicPr>
            <a:picLocks noChangeAspect="1"/>
          </p:cNvPicPr>
          <p:nvPr/>
        </p:nvPicPr>
        <p:blipFill>
          <a:blip r:embed="rId4"/>
          <a:srcRect l="0" r="0" t="-400" b="-400"/>
          <a:stretch/>
        </p:blipFill>
        <p:spPr>
          <a:xfrm>
            <a:off x="1143000" y="2514600"/>
            <a:ext cx="1143000" cy="38405"/>
          </a:xfrm>
          <a:prstGeom prst="rect">
            <a:avLst/>
          </a:prstGeom>
        </p:spPr>
      </p:pic>
      <p:sp>
        <p:nvSpPr>
          <p:cNvPr id="16" name="Text 9"/>
          <p:cNvSpPr txBox="1"/>
          <p:nvPr/>
        </p:nvSpPr>
        <p:spPr>
          <a:xfrm>
            <a:off x="13068605" y="6362395"/>
            <a:ext cx="3810305" cy="181051"/>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관찰 요지</a:t>
            </a:r>
            <a:endParaRPr lang="en-US" sz="975" dirty="0"/>
          </a:p>
        </p:txBody>
      </p:sp>
      <p:sp>
        <p:nvSpPr>
          <p:cNvPr id="17" name="Text 10"/>
          <p:cNvSpPr txBox="1"/>
          <p:nvPr/>
        </p:nvSpPr>
        <p:spPr>
          <a:xfrm>
            <a:off x="13068605" y="6640373"/>
            <a:ext cx="3810305" cy="1017727"/>
          </a:xfrm>
          <a:prstGeom prst="rect">
            <a:avLst/>
          </a:prstGeom>
          <a:noFill/>
          <a:ln/>
        </p:spPr>
        <p:txBody>
          <a:bodyPr wrap="square" lIns="0" tIns="0" rIns="0" bIns="0" rtlCol="0" anchor="t"/>
          <a:lstStyle/>
          <a:p>
            <a:pPr algn="l" indent="0" marL="0">
              <a:lnSpc>
                <a:spcPts val="2558"/>
              </a:lnSpc>
              <a:buNone/>
            </a:pPr>
            <a:r>
              <a:rPr lang="en-US" sz="1650" dirty="0">
                <a:solidFill>
                  <a:srgbClr val="E8EDF5"/>
                </a:solidFill>
                <a:latin typeface="IBM Plex Sans KR" pitchFamily="34" charset="0"/>
                <a:ea typeface="IBM Plex Sans KR" pitchFamily="34" charset="-122"/>
                <a:cs typeface="IBM Plex Sans KR" pitchFamily="34" charset="-120"/>
              </a:rPr>
              <a:t>· 도메인 내 line-edge 거칠기 양호</a:t>
            </a:r>
            <a:pPr algn="l" indent="0" marL="0">
              <a:lnSpc>
                <a:spcPts val="2558"/>
              </a:lnSpc>
              <a:buNone/>
            </a:pPr>
            <a:endParaRPr lang="en-US" sz="1650" dirty="0"/>
          </a:p>
          <a:p>
            <a:pPr algn="l" indent="0" marL="0">
              <a:lnSpc>
                <a:spcPts val="2558"/>
              </a:lnSpc>
              <a:buNone/>
            </a:pPr>
            <a:r>
              <a:rPr lang="en-US" sz="1650" dirty="0">
                <a:solidFill>
                  <a:srgbClr val="E8EDF5"/>
                </a:solidFill>
                <a:latin typeface="IBM Plex Sans KR" pitchFamily="34" charset="0"/>
                <a:ea typeface="IBM Plex Sans KR" pitchFamily="34" charset="-122"/>
                <a:cs typeface="IBM Plex Sans KR" pitchFamily="34" charset="-120"/>
              </a:rPr>
              <a:t>· 인접 라인 폭 편차 시각적으로 작음</a:t>
            </a:r>
            <a:pPr algn="l" indent="0" marL="0">
              <a:lnSpc>
                <a:spcPts val="2558"/>
              </a:lnSpc>
              <a:buNone/>
            </a:pPr>
            <a:endParaRPr lang="en-US" sz="1650" dirty="0"/>
          </a:p>
          <a:p>
            <a:pPr algn="l" indent="0" marL="0">
              <a:lnSpc>
                <a:spcPts val="2558"/>
              </a:lnSpc>
              <a:buNone/>
            </a:pPr>
            <a:r>
              <a:rPr lang="en-US" sz="1650" dirty="0">
                <a:solidFill>
                  <a:srgbClr val="E8EDF5"/>
                </a:solidFill>
                <a:latin typeface="IBM Plex Sans KR" pitchFamily="34" charset="0"/>
                <a:ea typeface="IBM Plex Sans KR" pitchFamily="34" charset="-122"/>
                <a:cs typeface="IBM Plex Sans KR" pitchFamily="34" charset="-120"/>
              </a:rPr>
              <a:t>· STEM 단면에서 잔류 PR 클램프 구조 확인</a:t>
            </a:r>
            <a:endParaRPr lang="en-US" sz="1650" dirty="0"/>
          </a:p>
        </p:txBody>
      </p:sp>
      <p:sp>
        <p:nvSpPr>
          <p:cNvPr id="18" name="Text 11"/>
          <p:cNvSpPr txBox="1"/>
          <p:nvPr/>
        </p:nvSpPr>
        <p:spPr>
          <a:xfrm>
            <a:off x="1410005" y="8801100"/>
            <a:ext cx="10858500" cy="286207"/>
          </a:xfrm>
          <a:prstGeom prst="rect">
            <a:avLst/>
          </a:prstGeom>
          <a:noFill/>
          <a:ln/>
        </p:spPr>
        <p:txBody>
          <a:bodyPr wrap="square" lIns="0" tIns="0" rIns="0" bIns="0" rtlCol="0" anchor="ctr"/>
          <a:lstStyle/>
          <a:p>
            <a:pPr algn="l" indent="0" marL="0">
              <a:buNone/>
            </a:pPr>
            <a:r>
              <a:rPr lang="en-US" sz="1050" dirty="0">
                <a:solidFill>
                  <a:srgbClr val="38BDF8"/>
                </a:solidFill>
                <a:latin typeface="JetBrains Mono" pitchFamily="34" charset="0"/>
                <a:ea typeface="JetBrains Mono" pitchFamily="34" charset="-122"/>
                <a:cs typeface="JetBrains Mono" pitchFamily="34" charset="-120"/>
              </a:rPr>
              <a:t>비교 단서</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좌측 큰 사진 — 18 nm half-pitch line/space 일련도. 우측 STEM — MOR 본체-기판 경계 확인.</a:t>
            </a:r>
            <a:endParaRPr lang="en-US" sz="1200" dirty="0"/>
          </a:p>
        </p:txBody>
      </p:sp>
      <p:sp>
        <p:nvSpPr>
          <p:cNvPr id="19" name="Text 12"/>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18 nm 피치 라인 패턴에서 line-edge 거칠기 시각적 양호, STEM 단면에서 PR 잔사 없이 본체 전사 확인.</a:t>
            </a:r>
            <a:endParaRPr lang="en-US" sz="1200" dirty="0"/>
          </a:p>
        </p:txBody>
      </p:sp>
      <p:sp>
        <p:nvSpPr>
          <p:cNvPr id="20" name="Text 13"/>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
        <p:nvSpPr>
          <p:cNvPr id="21" name="Text 14"/>
          <p:cNvSpPr txBox="1"/>
          <p:nvPr/>
        </p:nvSpPr>
        <p:spPr>
          <a:xfrm>
            <a:off x="1333195" y="7962595"/>
            <a:ext cx="10858500" cy="228600"/>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Source: Imec — 18 nm-pitch Line/Space Patterning demonstration</a:t>
            </a:r>
            <a:endParaRPr lang="en-US" sz="1200" dirty="0"/>
          </a:p>
        </p:txBody>
      </p:sp>
      <p:sp>
        <p:nvSpPr>
          <p:cNvPr id="22" name="Text 15"/>
          <p:cNvSpPr txBox="1"/>
          <p:nvPr/>
        </p:nvSpPr>
        <p:spPr>
          <a:xfrm>
            <a:off x="12954305" y="5715000"/>
            <a:ext cx="4000500" cy="457200"/>
          </a:xfrm>
          <a:prstGeom prst="rect">
            <a:avLst/>
          </a:prstGeom>
          <a:noFill/>
          <a:ln/>
        </p:spPr>
        <p:txBody>
          <a:bodyPr wrap="squar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Source: IOP — Metal resist EUV characterized by STEM</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5" name="Shape 1"/>
          <p:cNvSpPr/>
          <p:nvPr/>
        </p:nvSpPr>
        <p:spPr>
          <a:xfrm>
            <a:off x="1143000" y="9430207"/>
            <a:ext cx="28346" cy="495605"/>
          </a:xfrm>
          <a:prstGeom prst="rect">
            <a:avLst/>
          </a:prstGeom>
          <a:solidFill>
            <a:srgbClr val="38BDF8"/>
          </a:solidFill>
          <a:ln w="12700">
            <a:solidFill>
              <a:srgbClr val="38BDF8">
                <a:alpha val="0"/>
              </a:srgbClr>
            </a:solidFill>
            <a:prstDash val="solid"/>
          </a:ln>
        </p:spPr>
      </p:sp>
      <p:sp>
        <p:nvSpPr>
          <p:cNvPr id="6" name="Text 2"/>
          <p:cNvSpPr txBox="1"/>
          <p:nvPr/>
        </p:nvSpPr>
        <p:spPr>
          <a:xfrm>
            <a:off x="1143000" y="761695"/>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06 / CD Master Table</a:t>
            </a:r>
            <a:endParaRPr lang="en-US" sz="1350" dirty="0"/>
          </a:p>
        </p:txBody>
      </p:sp>
      <p:sp>
        <p:nvSpPr>
          <p:cNvPr id="7" name="Text 3"/>
          <p:cNvSpPr txBox="1"/>
          <p:nvPr/>
        </p:nvSpPr>
        <p:spPr>
          <a:xfrm>
            <a:off x="1143000" y="1181405"/>
            <a:ext cx="14287500" cy="600761"/>
          </a:xfrm>
          <a:prstGeom prst="rect">
            <a:avLst/>
          </a:prstGeom>
          <a:noFill/>
          <a:ln/>
        </p:spPr>
        <p:txBody>
          <a:bodyPr wrap="none" lIns="0" tIns="0" rIns="0" bIns="0" rtlCol="0" anchor="ctr"/>
          <a:lstStyle/>
          <a:p>
            <a:pPr algn="l" indent="0" marL="0">
              <a:buNone/>
            </a:pPr>
            <a:r>
              <a:rPr lang="en-US" sz="4500" b="1" dirty="0">
                <a:solidFill>
                  <a:srgbClr val="E8EDF5"/>
                </a:solidFill>
                <a:latin typeface="Space Grotesk" pitchFamily="34" charset="0"/>
                <a:ea typeface="Space Grotesk" pitchFamily="34" charset="-122"/>
                <a:cs typeface="Space Grotesk" pitchFamily="34" charset="-120"/>
              </a:rPr>
              <a:t>CD Variation 종합 표</a:t>
            </a:r>
            <a:endParaRPr lang="en-US" sz="4500" dirty="0"/>
          </a:p>
        </p:txBody>
      </p:sp>
      <p:sp>
        <p:nvSpPr>
          <p:cNvPr id="8" name="Text 4"/>
          <p:cNvSpPr txBox="1"/>
          <p:nvPr/>
        </p:nvSpPr>
        <p:spPr>
          <a:xfrm>
            <a:off x="1143000" y="2038198"/>
            <a:ext cx="10478110" cy="314554"/>
          </a:xfrm>
          <a:prstGeom prst="rect">
            <a:avLst/>
          </a:prstGeom>
          <a:noFill/>
          <a:ln/>
        </p:spPr>
        <p:txBody>
          <a:bodyPr wrap="none" lIns="0" tIns="0" rIns="0" bIns="0" rtlCol="0" anchor="ctr"/>
          <a:lstStyle/>
          <a:p>
            <a:pPr algn="l" indent="0" marL="0">
              <a:buNone/>
            </a:pPr>
            <a:r>
              <a:rPr lang="en-US" sz="1650" dirty="0">
                <a:solidFill>
                  <a:srgbClr val="8B9BB3"/>
                </a:solidFill>
                <a:latin typeface="IBM Plex Sans KR" pitchFamily="34" charset="0"/>
                <a:ea typeface="IBM Plex Sans KR" pitchFamily="34" charset="-122"/>
                <a:cs typeface="IBM Plex Sans KR" pitchFamily="34" charset="-120"/>
              </a:rPr>
              <a:t>4 metric × 3 wafer × { mean · 3σ · range · Δ } — 평가 사이트 wafer 당 25.</a:t>
            </a:r>
            <a:endParaRPr lang="en-US" sz="1650" dirty="0"/>
          </a:p>
        </p:txBody>
      </p:sp>
      <p:pic>
        <p:nvPicPr>
          <p:cNvPr id="9" name="Image 1" descr="gen-dedup-cbd2dadeeb2aec465e858390d1195fd6.png">    </p:cNvPr>
          <p:cNvPicPr>
            <a:picLocks noChangeAspect="1"/>
          </p:cNvPicPr>
          <p:nvPr/>
        </p:nvPicPr>
        <p:blipFill>
          <a:blip r:embed="rId2"/>
          <a:srcRect l="-404" r="-404" t="0" b="0"/>
          <a:stretch/>
        </p:blipFill>
        <p:spPr>
          <a:xfrm>
            <a:off x="1143000" y="2361895"/>
            <a:ext cx="1143000" cy="28346"/>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1143000" y="2667305"/>
          <a:ext cx="16002000" cy="5582412"/>
        </p:xfrm>
        <a:graphic>
          <a:graphicData uri="http://schemas.openxmlformats.org/drawingml/2006/table">
            <a:tbl>
              <a:tblPr/>
              <a:tblGrid>
                <a:gridCol w="1278331"/>
                <a:gridCol w="1719072"/>
                <a:gridCol w="2600554"/>
                <a:gridCol w="2600554"/>
                <a:gridCol w="2600554"/>
                <a:gridCol w="2600554"/>
                <a:gridCol w="2601468"/>
              </a:tblGrid>
              <a:tr h="429416">
                <a:tc>
                  <a:txBody>
                    <a:bodyPr/>
                    <a:lstStyle/>
                    <a:p>
                      <a:pPr algn="l" indent="0" marL="0">
                        <a:buNone/>
                      </a:pPr>
                      <a:r>
                        <a:rPr lang="en-US" sz="1050" b="1" dirty="0">
                          <a:solidFill>
                            <a:srgbClr val="8B9BB3"/>
                          </a:solidFill>
                          <a:latin typeface="JetBrains Mono" pitchFamily="34" charset="0"/>
                          <a:ea typeface="JetBrains Mono" pitchFamily="34" charset="-122"/>
                          <a:cs typeface="JetBrains Mono" pitchFamily="34" charset="-120"/>
                        </a:rPr>
                        <a:t>METRIC</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l" indent="0" marL="0">
                        <a:buNone/>
                      </a:pPr>
                      <a:r>
                        <a:rPr lang="en-US" sz="1050" b="1" dirty="0">
                          <a:solidFill>
                            <a:srgbClr val="8B9BB3"/>
                          </a:solidFill>
                          <a:latin typeface="JetBrains Mono" pitchFamily="34" charset="0"/>
                          <a:ea typeface="JetBrains Mono" pitchFamily="34" charset="-122"/>
                          <a:cs typeface="JetBrains Mono" pitchFamily="34" charset="-120"/>
                        </a:rPr>
                        <a:t>TARGET</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l" indent="0" marL="0">
                        <a:buNone/>
                      </a:pPr>
                      <a:r>
                        <a:rPr lang="en-US" sz="1050" b="1" dirty="0">
                          <a:solidFill>
                            <a:srgbClr val="8B9BB3"/>
                          </a:solidFill>
                          <a:latin typeface="JetBrains Mono" pitchFamily="34" charset="0"/>
                          <a:ea typeface="JetBrains Mono" pitchFamily="34" charset="-122"/>
                          <a:cs typeface="JetBrains Mono" pitchFamily="34" charset="-120"/>
                        </a:rPr>
                        <a:t>WAFER / DOSE</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MEAN (NM)</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3Σ (NM)</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RANGE (NM)</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Δ VS TARGET</a:t>
                      </a:r>
                      <a:endParaRPr lang="en-US" sz="10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r>
              <a:tr h="429416">
                <a:tc rowSpan="3">
                  <a:txBody>
                    <a:bodyPr/>
                    <a:lstStyle/>
                    <a:p>
                      <a:pPr indent="0" marL="0">
                        <a:buNone/>
                      </a:pPr>
                      <a:r>
                        <a:rPr lang="en-US" sz="2700" b="1" dirty="0">
                          <a:solidFill>
                            <a:srgbClr val="38BDF8"/>
                          </a:solidFill>
                          <a:latin typeface="Space Grotesk" pitchFamily="34" charset="0"/>
                          <a:ea typeface="Space Grotesk" pitchFamily="34" charset="-122"/>
                          <a:cs typeface="Space Grotesk" pitchFamily="34" charset="-120"/>
                        </a:rPr>
                        <a:t>AASI</a:t>
                      </a:r>
                      <a:endParaRPr lang="en-US" sz="2700" dirty="0">
                        <a:latin typeface="Space Grotesk" charset="0"/>
                        <a:ea typeface="Space Grotesk" charset="0"/>
                        <a:cs typeface="Space Grotesk"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rowSpan="3">
                  <a:txBody>
                    <a:bodyPr/>
                    <a:lstStyle/>
                    <a:p>
                      <a:pPr indent="0" marL="0">
                        <a:buNone/>
                      </a:pPr>
                      <a:r>
                        <a:rPr lang="en-US" sz="1800" dirty="0">
                          <a:solidFill>
                            <a:srgbClr val="E8EDF5"/>
                          </a:solidFill>
                          <a:latin typeface="JetBrains Mono" pitchFamily="34" charset="0"/>
                          <a:ea typeface="JetBrains Mono" pitchFamily="34" charset="-122"/>
                          <a:cs typeface="JetBrains Mono" pitchFamily="34" charset="-120"/>
                        </a:rPr>
                        <a:t>23.3 nm</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indent="0" marL="0">
                        <a:buNone/>
                      </a:pPr>
                      <a:r>
                        <a:rPr lang="en-US" sz="1350" dirty="0">
                          <a:solidFill>
                            <a:srgbClr val="38BDF8"/>
                          </a:solidFill>
                          <a:latin typeface="JetBrains Mono" pitchFamily="34" charset="0"/>
                          <a:ea typeface="JetBrains Mono" pitchFamily="34" charset="-122"/>
                          <a:cs typeface="JetBrains Mono" pitchFamily="34" charset="-120"/>
                        </a:rPr>
                        <a:t>W-01 · 19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23.4</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0.7</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1.9</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650" b="1" dirty="0">
                          <a:solidFill>
                            <a:srgbClr val="34D399"/>
                          </a:solidFill>
                          <a:latin typeface="JetBrains Mono" pitchFamily="34" charset="0"/>
                          <a:ea typeface="JetBrains Mono" pitchFamily="34" charset="-122"/>
                          <a:cs typeface="JetBrains Mono" pitchFamily="34" charset="-120"/>
                        </a:rPr>
                        <a:t>+0.1</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9525"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r>
              <a:tr h="429416">
                <a:tc vMerge="1">
                  <a:tcPr/>
                </a:tc>
                <a:tc vMerge="1">
                  <a:tcPr/>
                </a:tc>
                <a:tc>
                  <a:txBody>
                    <a:bodyPr/>
                    <a:lstStyle/>
                    <a:p>
                      <a:pPr indent="0" marL="0">
                        <a:buNone/>
                      </a:pPr>
                      <a:r>
                        <a:rPr lang="en-US" sz="1350" dirty="0">
                          <a:solidFill>
                            <a:srgbClr val="14B8A6"/>
                          </a:solidFill>
                          <a:latin typeface="JetBrains Mono" pitchFamily="34" charset="0"/>
                          <a:ea typeface="JetBrains Mono" pitchFamily="34" charset="-122"/>
                          <a:cs typeface="JetBrains Mono" pitchFamily="34" charset="-120"/>
                        </a:rPr>
                        <a:t>W-02 · 28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23.1</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0.9</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2.4</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−0.2</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38BDF8">
                        <a:alpha val="4000"/>
                      </a:srgbClr>
                    </a:solidFill>
                  </a:tcPr>
                </a:tc>
              </a:tr>
              <a:tr h="429416">
                <a:tc vMerge="1">
                  <a:tcPr/>
                </a:tc>
                <a:tc vMerge="1">
                  <a:tcPr/>
                </a:tc>
                <a:tc>
                  <a:txBody>
                    <a:bodyPr/>
                    <a:lstStyle/>
                    <a:p>
                      <a:pPr indent="0" marL="0">
                        <a:buNone/>
                      </a:pPr>
                      <a:r>
                        <a:rPr lang="en-US" sz="1350" dirty="0">
                          <a:solidFill>
                            <a:srgbClr val="FBBF24"/>
                          </a:solidFill>
                          <a:latin typeface="JetBrains Mono" pitchFamily="34" charset="0"/>
                          <a:ea typeface="JetBrains Mono" pitchFamily="34" charset="-122"/>
                          <a:cs typeface="JetBrains Mono" pitchFamily="34" charset="-120"/>
                        </a:rPr>
                        <a:t>W-03 · 38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38BDF8">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22.8</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38BDF8">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1.4</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38BDF8">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3.8</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38BDF8">
                        <a:alpha val="4000"/>
                      </a:srgbClr>
                    </a:solidFill>
                  </a:tcPr>
                </a:tc>
                <a:tc>
                  <a:txBody>
                    <a:bodyPr/>
                    <a:lstStyle/>
                    <a:p>
                      <a:pPr algn="r" indent="0" marL="0">
                        <a:buNone/>
                      </a:pPr>
                      <a:r>
                        <a:rPr lang="en-US" sz="1650" b="1" dirty="0">
                          <a:solidFill>
                            <a:srgbClr val="FBBF24"/>
                          </a:solidFill>
                          <a:latin typeface="JetBrains Mono" pitchFamily="34" charset="0"/>
                          <a:ea typeface="JetBrains Mono" pitchFamily="34" charset="-122"/>
                          <a:cs typeface="JetBrains Mono" pitchFamily="34" charset="-120"/>
                        </a:rPr>
                        <a:t>−0.5</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38BDF8">
                        <a:alpha val="4000"/>
                      </a:srgbClr>
                    </a:solidFill>
                  </a:tcPr>
                </a:tc>
              </a:tr>
              <a:tr h="429416">
                <a:tc rowSpan="3">
                  <a:txBody>
                    <a:bodyPr/>
                    <a:lstStyle/>
                    <a:p>
                      <a:pPr indent="0" marL="0">
                        <a:buNone/>
                      </a:pPr>
                      <a:r>
                        <a:rPr lang="en-US" sz="2700" b="1" dirty="0">
                          <a:solidFill>
                            <a:srgbClr val="14B8A6"/>
                          </a:solidFill>
                          <a:latin typeface="Space Grotesk" pitchFamily="34" charset="0"/>
                          <a:ea typeface="Space Grotesk" pitchFamily="34" charset="-122"/>
                          <a:cs typeface="Space Grotesk" pitchFamily="34" charset="-120"/>
                        </a:rPr>
                        <a:t>ASEI</a:t>
                      </a:r>
                      <a:endParaRPr lang="en-US" sz="2700" dirty="0">
                        <a:latin typeface="Space Grotesk" charset="0"/>
                        <a:ea typeface="Space Grotesk" charset="0"/>
                        <a:cs typeface="Space Grotesk"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rowSpan="3">
                  <a:txBody>
                    <a:bodyPr/>
                    <a:lstStyle/>
                    <a:p>
                      <a:pPr indent="0" marL="0">
                        <a:buNone/>
                      </a:pPr>
                      <a:r>
                        <a:rPr lang="en-US" sz="1800" dirty="0">
                          <a:solidFill>
                            <a:srgbClr val="E8EDF5"/>
                          </a:solidFill>
                          <a:latin typeface="JetBrains Mono" pitchFamily="34" charset="0"/>
                          <a:ea typeface="JetBrains Mono" pitchFamily="34" charset="-122"/>
                          <a:cs typeface="JetBrains Mono" pitchFamily="34" charset="-120"/>
                        </a:rPr>
                        <a:t>15.7 nm</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indent="0" marL="0">
                        <a:buNone/>
                      </a:pPr>
                      <a:r>
                        <a:rPr lang="en-US" sz="1350" dirty="0">
                          <a:solidFill>
                            <a:srgbClr val="38BDF8"/>
                          </a:solidFill>
                          <a:latin typeface="JetBrains Mono" pitchFamily="34" charset="0"/>
                          <a:ea typeface="JetBrains Mono" pitchFamily="34" charset="-122"/>
                          <a:cs typeface="JetBrains Mono" pitchFamily="34" charset="-120"/>
                        </a:rPr>
                        <a:t>W-01 · 19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15.5</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0.5</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1.3</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−0.2</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r>
              <a:tr h="429416">
                <a:tc vMerge="1">
                  <a:tcPr/>
                </a:tc>
                <a:tc vMerge="1">
                  <a:tcPr/>
                </a:tc>
                <a:tc>
                  <a:txBody>
                    <a:bodyPr/>
                    <a:lstStyle/>
                    <a:p>
                      <a:pPr indent="0" marL="0">
                        <a:buNone/>
                      </a:pPr>
                      <a:r>
                        <a:rPr lang="en-US" sz="1350" dirty="0">
                          <a:solidFill>
                            <a:srgbClr val="14B8A6"/>
                          </a:solidFill>
                          <a:latin typeface="JetBrains Mono" pitchFamily="34" charset="0"/>
                          <a:ea typeface="JetBrains Mono" pitchFamily="34" charset="-122"/>
                          <a:cs typeface="JetBrains Mono" pitchFamily="34" charset="-120"/>
                        </a:rPr>
                        <a:t>W-02 · 28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15.9</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0.8</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2.1</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34D399"/>
                          </a:solidFill>
                          <a:latin typeface="JetBrains Mono" pitchFamily="34" charset="0"/>
                          <a:ea typeface="JetBrains Mono" pitchFamily="34" charset="-122"/>
                          <a:cs typeface="JetBrains Mono" pitchFamily="34" charset="-120"/>
                        </a:rPr>
                        <a:t>+0.2</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r>
              <a:tr h="429416">
                <a:tc vMerge="1">
                  <a:tcPr/>
                </a:tc>
                <a:tc vMerge="1">
                  <a:tcPr/>
                </a:tc>
                <a:tc>
                  <a:txBody>
                    <a:bodyPr/>
                    <a:lstStyle/>
                    <a:p>
                      <a:pPr indent="0" marL="0">
                        <a:buNone/>
                      </a:pPr>
                      <a:r>
                        <a:rPr lang="en-US" sz="1350" dirty="0">
                          <a:solidFill>
                            <a:srgbClr val="FBBF24"/>
                          </a:solidFill>
                          <a:latin typeface="JetBrains Mono" pitchFamily="34" charset="0"/>
                          <a:ea typeface="JetBrains Mono" pitchFamily="34" charset="-122"/>
                          <a:cs typeface="JetBrains Mono" pitchFamily="34" charset="-120"/>
                        </a:rPr>
                        <a:t>W-03 · 38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15.2</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1.6</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4.2</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c>
                  <a:txBody>
                    <a:bodyPr/>
                    <a:lstStyle/>
                    <a:p>
                      <a:pPr algn="r" indent="0" marL="0">
                        <a:buNone/>
                      </a:pPr>
                      <a:r>
                        <a:rPr lang="en-US" sz="1650" b="1" dirty="0">
                          <a:solidFill>
                            <a:srgbClr val="FBBF24"/>
                          </a:solidFill>
                          <a:latin typeface="JetBrains Mono" pitchFamily="34" charset="0"/>
                          <a:ea typeface="JetBrains Mono" pitchFamily="34" charset="-122"/>
                          <a:cs typeface="JetBrains Mono" pitchFamily="34" charset="-120"/>
                        </a:rPr>
                        <a:t>−0.5</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tcPr>
                </a:tc>
              </a:tr>
              <a:tr h="429416">
                <a:tc rowSpan="3">
                  <a:txBody>
                    <a:bodyPr/>
                    <a:lstStyle/>
                    <a:p>
                      <a:pPr indent="0" marL="0">
                        <a:buNone/>
                      </a:pPr>
                      <a:r>
                        <a:rPr lang="en-US" sz="2700" b="1" dirty="0">
                          <a:solidFill>
                            <a:srgbClr val="FBBF24"/>
                          </a:solidFill>
                          <a:latin typeface="Space Grotesk" pitchFamily="34" charset="0"/>
                          <a:ea typeface="Space Grotesk" pitchFamily="34" charset="-122"/>
                          <a:cs typeface="Space Grotesk" pitchFamily="34" charset="-120"/>
                        </a:rPr>
                        <a:t>AMI</a:t>
                      </a:r>
                      <a:endParaRPr lang="en-US" sz="2700" dirty="0">
                        <a:latin typeface="Space Grotesk" charset="0"/>
                        <a:ea typeface="Space Grotesk" charset="0"/>
                        <a:cs typeface="Space Grotesk"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rowSpan="3">
                  <a:txBody>
                    <a:bodyPr/>
                    <a:lstStyle/>
                    <a:p>
                      <a:pPr indent="0" marL="0">
                        <a:buNone/>
                      </a:pPr>
                      <a:r>
                        <a:rPr lang="en-US" sz="1800" dirty="0">
                          <a:solidFill>
                            <a:srgbClr val="E8EDF5"/>
                          </a:solidFill>
                          <a:latin typeface="JetBrains Mono" pitchFamily="34" charset="0"/>
                          <a:ea typeface="JetBrains Mono" pitchFamily="34" charset="-122"/>
                          <a:cs typeface="JetBrains Mono" pitchFamily="34" charset="-120"/>
                        </a:rPr>
                        <a:t>9.5 nm</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indent="0" marL="0">
                        <a:buNone/>
                      </a:pPr>
                      <a:r>
                        <a:rPr lang="en-US" sz="1350" dirty="0">
                          <a:solidFill>
                            <a:srgbClr val="38BDF8"/>
                          </a:solidFill>
                          <a:latin typeface="JetBrains Mono" pitchFamily="34" charset="0"/>
                          <a:ea typeface="JetBrains Mono" pitchFamily="34" charset="-122"/>
                          <a:cs typeface="JetBrains Mono" pitchFamily="34" charset="-120"/>
                        </a:rPr>
                        <a:t>W-01 · 19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9.6</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0.4</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1.0</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650" b="1" dirty="0">
                          <a:solidFill>
                            <a:srgbClr val="34D399"/>
                          </a:solidFill>
                          <a:latin typeface="JetBrains Mono" pitchFamily="34" charset="0"/>
                          <a:ea typeface="JetBrains Mono" pitchFamily="34" charset="-122"/>
                          <a:cs typeface="JetBrains Mono" pitchFamily="34" charset="-120"/>
                        </a:rPr>
                        <a:t>+0.1</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r>
              <a:tr h="429416">
                <a:tc vMerge="1">
                  <a:tcPr/>
                </a:tc>
                <a:tc vMerge="1">
                  <a:tcPr/>
                </a:tc>
                <a:tc>
                  <a:txBody>
                    <a:bodyPr/>
                    <a:lstStyle/>
                    <a:p>
                      <a:pPr indent="0" marL="0">
                        <a:buNone/>
                      </a:pPr>
                      <a:r>
                        <a:rPr lang="en-US" sz="1350" dirty="0">
                          <a:solidFill>
                            <a:srgbClr val="14B8A6"/>
                          </a:solidFill>
                          <a:latin typeface="JetBrains Mono" pitchFamily="34" charset="0"/>
                          <a:ea typeface="JetBrains Mono" pitchFamily="34" charset="-122"/>
                          <a:cs typeface="JetBrains Mono" pitchFamily="34" charset="-120"/>
                        </a:rPr>
                        <a:t>W-02 · 28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9.4</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0.5</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1.4</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−0.1</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solidFill>
                      <a:srgbClr val="FBBF24">
                        <a:alpha val="4000"/>
                      </a:srgbClr>
                    </a:solidFill>
                  </a:tcPr>
                </a:tc>
              </a:tr>
              <a:tr h="429416">
                <a:tc vMerge="1">
                  <a:tcPr/>
                </a:tc>
                <a:tc vMerge="1">
                  <a:tcPr/>
                </a:tc>
                <a:tc>
                  <a:txBody>
                    <a:bodyPr/>
                    <a:lstStyle/>
                    <a:p>
                      <a:pPr indent="0" marL="0">
                        <a:buNone/>
                      </a:pPr>
                      <a:r>
                        <a:rPr lang="en-US" sz="1350" dirty="0">
                          <a:solidFill>
                            <a:srgbClr val="FBBF24"/>
                          </a:solidFill>
                          <a:latin typeface="JetBrains Mono" pitchFamily="34" charset="0"/>
                          <a:ea typeface="JetBrains Mono" pitchFamily="34" charset="-122"/>
                          <a:cs typeface="JetBrains Mono" pitchFamily="34" charset="-120"/>
                        </a:rPr>
                        <a:t>W-03 · 38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FBBF24">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9.8</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FBBF24">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0.9</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FBBF24">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2.5</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FBBF24">
                        <a:alpha val="4000"/>
                      </a:srgbClr>
                    </a:solidFill>
                  </a:tcPr>
                </a:tc>
                <a:tc>
                  <a:txBody>
                    <a:bodyPr/>
                    <a:lstStyle/>
                    <a:p>
                      <a:pPr algn="r" indent="0" marL="0">
                        <a:buNone/>
                      </a:pPr>
                      <a:r>
                        <a:rPr lang="en-US" sz="1650" b="1" dirty="0">
                          <a:solidFill>
                            <a:srgbClr val="FBBF24"/>
                          </a:solidFill>
                          <a:latin typeface="JetBrains Mono" pitchFamily="34" charset="0"/>
                          <a:ea typeface="JetBrains Mono" pitchFamily="34" charset="-122"/>
                          <a:cs typeface="JetBrains Mono" pitchFamily="34" charset="-120"/>
                        </a:rPr>
                        <a:t>+0.3</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2A3D5F"/>
                      </a:solidFill>
                      <a:prstDash val="solid"/>
                      <a:round/>
                      <a:headEnd type="none" w="med" len="med"/>
                      <a:tailEnd type="none" w="med" len="med"/>
                    </a:lnB>
                    <a:solidFill>
                      <a:srgbClr val="FBBF24">
                        <a:alpha val="4000"/>
                      </a:srgbClr>
                    </a:solidFill>
                  </a:tcPr>
                </a:tc>
              </a:tr>
              <a:tr h="429416">
                <a:tc rowSpan="3">
                  <a:txBody>
                    <a:bodyPr/>
                    <a:lstStyle/>
                    <a:p>
                      <a:pPr indent="0" marL="0">
                        <a:buNone/>
                      </a:pPr>
                      <a:r>
                        <a:rPr lang="en-US" sz="2700" b="1" dirty="0">
                          <a:solidFill>
                            <a:srgbClr val="F472B6"/>
                          </a:solidFill>
                          <a:latin typeface="Space Grotesk" pitchFamily="34" charset="0"/>
                          <a:ea typeface="Space Grotesk" pitchFamily="34" charset="-122"/>
                          <a:cs typeface="Space Grotesk" pitchFamily="34" charset="-120"/>
                        </a:rPr>
                        <a:t>ACI</a:t>
                      </a:r>
                      <a:endParaRPr lang="en-US" sz="2700" dirty="0">
                        <a:latin typeface="Space Grotesk" charset="0"/>
                        <a:ea typeface="Space Grotesk" charset="0"/>
                        <a:cs typeface="Space Grotesk"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c rowSpan="3">
                  <a:txBody>
                    <a:bodyPr/>
                    <a:lstStyle/>
                    <a:p>
                      <a:pPr indent="0" marL="0">
                        <a:buNone/>
                      </a:pPr>
                      <a:r>
                        <a:rPr lang="en-US" sz="1800" dirty="0">
                          <a:solidFill>
                            <a:srgbClr val="E8EDF5"/>
                          </a:solidFill>
                          <a:latin typeface="JetBrains Mono" pitchFamily="34" charset="0"/>
                          <a:ea typeface="JetBrains Mono" pitchFamily="34" charset="-122"/>
                          <a:cs typeface="JetBrains Mono" pitchFamily="34" charset="-120"/>
                        </a:rPr>
                        <a:t>9.1 nm</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c>
                  <a:txBody>
                    <a:bodyPr/>
                    <a:lstStyle/>
                    <a:p>
                      <a:pPr indent="0" marL="0">
                        <a:buNone/>
                      </a:pPr>
                      <a:r>
                        <a:rPr lang="en-US" sz="1350" dirty="0">
                          <a:solidFill>
                            <a:srgbClr val="38BDF8"/>
                          </a:solidFill>
                          <a:latin typeface="JetBrains Mono" pitchFamily="34" charset="0"/>
                          <a:ea typeface="JetBrains Mono" pitchFamily="34" charset="-122"/>
                          <a:cs typeface="JetBrains Mono" pitchFamily="34" charset="-120"/>
                        </a:rPr>
                        <a:t>W-01 · 19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9.0</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0.3</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0.8</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−0.1</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r>
              <a:tr h="429416">
                <a:tc vMerge="1">
                  <a:tcPr/>
                </a:tc>
                <a:tc vMerge="1">
                  <a:tcPr/>
                </a:tc>
                <a:tc>
                  <a:txBody>
                    <a:bodyPr/>
                    <a:lstStyle/>
                    <a:p>
                      <a:pPr indent="0" marL="0">
                        <a:buNone/>
                      </a:pPr>
                      <a:r>
                        <a:rPr lang="en-US" sz="1350" dirty="0">
                          <a:solidFill>
                            <a:srgbClr val="14B8A6"/>
                          </a:solidFill>
                          <a:latin typeface="JetBrains Mono" pitchFamily="34" charset="0"/>
                          <a:ea typeface="JetBrains Mono" pitchFamily="34" charset="-122"/>
                          <a:cs typeface="JetBrains Mono" pitchFamily="34" charset="-120"/>
                        </a:rPr>
                        <a:t>W-02 · 28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9.3</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0.6</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1.6</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+0.2</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9525" cap="flat" cmpd="sng" algn="ctr">
                      <a:solidFill>
                        <a:srgbClr val="1F2D49"/>
                      </a:solidFill>
                      <a:prstDash val="solid"/>
                      <a:round/>
                      <a:headEnd type="none" w="med" len="med"/>
                      <a:tailEnd type="none" w="med" len="med"/>
                    </a:lnB>
                  </a:tcPr>
                </a:tc>
              </a:tr>
              <a:tr h="429416">
                <a:tc vMerge="1">
                  <a:tcPr/>
                </a:tc>
                <a:tc vMerge="1">
                  <a:tcPr/>
                </a:tc>
                <a:tc>
                  <a:txBody>
                    <a:bodyPr/>
                    <a:lstStyle/>
                    <a:p>
                      <a:pPr indent="0" marL="0">
                        <a:buNone/>
                      </a:pPr>
                      <a:r>
                        <a:rPr lang="en-US" sz="1350" dirty="0">
                          <a:solidFill>
                            <a:srgbClr val="FBBF24"/>
                          </a:solidFill>
                          <a:latin typeface="JetBrains Mono" pitchFamily="34" charset="0"/>
                          <a:ea typeface="JetBrains Mono" pitchFamily="34" charset="-122"/>
                          <a:cs typeface="JetBrains Mono" pitchFamily="34" charset="-120"/>
                        </a:rPr>
                        <a:t>W-03 · 38 mJ</a:t>
                      </a:r>
                      <a:endParaRPr lang="en-US" sz="13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8.8</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1.1</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2.9</a:t>
                      </a:r>
                      <a:endParaRPr lang="en-US" sz="150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c>
                  <a:txBody>
                    <a:bodyPr/>
                    <a:lstStyle/>
                    <a:p>
                      <a:pPr algn="r" indent="0" marL="0">
                        <a:buNone/>
                      </a:pPr>
                      <a:r>
                        <a:rPr lang="en-US" sz="1650" b="1" dirty="0">
                          <a:solidFill>
                            <a:srgbClr val="FBBF24"/>
                          </a:solidFill>
                          <a:latin typeface="JetBrains Mono" pitchFamily="34" charset="0"/>
                          <a:ea typeface="JetBrains Mono" pitchFamily="34" charset="-122"/>
                          <a:cs typeface="JetBrains Mono" pitchFamily="34" charset="-120"/>
                        </a:rPr>
                        <a:t>−0.3</a:t>
                      </a:r>
                      <a:endParaRPr lang="en-US" sz="1650" dirty="0">
                        <a:latin typeface="JetBrains Mono" charset="0"/>
                        <a:ea typeface="JetBrains Mono" charset="0"/>
                        <a:cs typeface="JetBrains Mono" charset="0"/>
                      </a:endParaRPr>
                    </a:p>
                  </a:txBody>
                  <a:tcPr marL="171907" marR="171907" marT="75895" marB="75895" anchor="ctr">
                    <a:lnL w="0" cap="flat" cmpd="sng" algn="ctr">
                      <a:solidFill>
                        <a:srgbClr val="2A3D5F"/>
                      </a:solidFill>
                      <a:prstDash val="solid"/>
                      <a:round/>
                      <a:headEnd type="none" w="med" len="med"/>
                      <a:tailEnd type="none" w="med" len="med"/>
                    </a:lnL>
                    <a:lnR w="0" cap="flat" cmpd="sng" algn="ctr">
                      <a:solidFill>
                        <a:srgbClr val="2A3D5F"/>
                      </a:solidFill>
                      <a:prstDash val="solid"/>
                      <a:round/>
                      <a:headEnd type="none" w="med" len="med"/>
                      <a:tailEnd type="none" w="med" len="med"/>
                    </a:lnR>
                    <a:lnT w="0" cap="flat" cmpd="sng" algn="ctr">
                      <a:solidFill>
                        <a:srgbClr val="2A3D5F"/>
                      </a:solidFill>
                      <a:prstDash val="solid"/>
                      <a:round/>
                      <a:headEnd type="none" w="med" len="med"/>
                      <a:tailEnd type="none" w="med" len="med"/>
                    </a:lnT>
                    <a:lnB w="0" cap="flat" cmpd="sng" algn="ctr">
                      <a:solidFill>
                        <a:srgbClr val="2A3D5F"/>
                      </a:solidFill>
                      <a:prstDash val="solid"/>
                      <a:round/>
                      <a:headEnd type="none" w="med" len="med"/>
                      <a:tailEnd type="none" w="med" len="med"/>
                    </a:lnB>
                  </a:tcPr>
                </a:tc>
              </a:tr>
            </a:tbl>
          </a:graphicData>
        </a:graphic>
      </p:graphicFrame>
      <p:sp>
        <p:nvSpPr>
          <p:cNvPr id="11" name="Text 5"/>
          <p:cNvSpPr txBox="1"/>
          <p:nvPr/>
        </p:nvSpPr>
        <p:spPr>
          <a:xfrm>
            <a:off x="1143000" y="8762695"/>
            <a:ext cx="7429500" cy="228600"/>
          </a:xfrm>
          <a:prstGeom prst="rect">
            <a:avLst/>
          </a:prstGeom>
          <a:noFill/>
          <a:ln/>
        </p:spPr>
        <p:txBody>
          <a:bodyPr wrap="none" lIns="0" tIns="0" rIns="0" bIns="0" rtlCol="0" anchor="ctr"/>
          <a:lstStyle/>
          <a:p>
            <a:pPr algn="l" indent="0" marL="0">
              <a:buNone/>
            </a:pPr>
            <a:r>
              <a:rPr lang="en-US" sz="1050" dirty="0">
                <a:solidFill>
                  <a:srgbClr val="34D399"/>
                </a:solidFill>
                <a:latin typeface="JetBrains Mono" pitchFamily="34" charset="0"/>
                <a:ea typeface="JetBrains Mono" pitchFamily="34" charset="-122"/>
                <a:cs typeface="JetBrains Mono" pitchFamily="34" charset="-120"/>
              </a:rPr>
              <a:t>Δ 양호: emerald</a:t>
            </a:r>
            <a:pPr algn="l" indent="0" marL="0">
              <a:buNone/>
            </a:pPr>
            <a:r>
              <a:rPr lang="en-US" sz="1050" dirty="0">
                <a:solidFill>
                  <a:srgbClr val="FBBF24"/>
                </a:solidFill>
                <a:latin typeface="JetBrains Mono" pitchFamily="34" charset="0"/>
                <a:ea typeface="JetBrains Mono" pitchFamily="34" charset="-122"/>
                <a:cs typeface="JetBrains Mono" pitchFamily="34" charset="-120"/>
              </a:rPr>
              <a:t>Δ 경계: amber</a:t>
            </a:r>
            <a:pPr algn="l" indent="0" marL="0">
              <a:buNone/>
            </a:pPr>
            <a:r>
              <a:rPr lang="en-US" sz="1050" dirty="0">
                <a:solidFill>
                  <a:srgbClr val="8B9BB3"/>
                </a:solidFill>
                <a:latin typeface="JetBrains Mono" pitchFamily="34" charset="0"/>
                <a:ea typeface="JetBrains Mono" pitchFamily="34" charset="-122"/>
                <a:cs typeface="JetBrains Mono" pitchFamily="34" charset="-120"/>
              </a:rPr>
              <a:t>3σ·range는 절대값</a:t>
            </a:r>
            <a:endParaRPr lang="en-US" sz="1200" dirty="0"/>
          </a:p>
        </p:txBody>
      </p:sp>
      <p:sp>
        <p:nvSpPr>
          <p:cNvPr id="12" name="Text 6"/>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W-01 19 mJ는 4 metric 모두 Δ ±0.2 nm 안쪽, 38 mJ W-03는 mean 편차 + range 2.9~4.2 nm까지 확대된다.</a:t>
            </a:r>
            <a:endParaRPr lang="en-US" sz="1200" dirty="0"/>
          </a:p>
        </p:txBody>
      </p:sp>
      <p:sp>
        <p:nvSpPr>
          <p:cNvPr id="13" name="Text 7"/>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2edcfb7c5c82af2a7fce0264a3f3e528.png">    </p:cNvPr>
          <p:cNvPicPr>
            <a:picLocks noChangeAspect="1"/>
          </p:cNvPicPr>
          <p:nvPr/>
        </p:nvPicPr>
        <p:blipFill>
          <a:blip r:embed="rId2"/>
          <a:srcRect l="-400" r="-400" t="0" b="0"/>
          <a:stretch/>
        </p:blipFill>
        <p:spPr>
          <a:xfrm>
            <a:off x="0" y="2286000"/>
            <a:ext cx="57607" cy="5715000"/>
          </a:xfrm>
          <a:prstGeom prst="rect">
            <a:avLst/>
          </a:prstGeom>
        </p:spPr>
      </p:pic>
      <p:sp>
        <p:nvSpPr>
          <p:cNvPr id="5" name="Shape 0"/>
          <p:cNvSpPr/>
          <p:nvPr/>
        </p:nvSpPr>
        <p:spPr>
          <a:xfrm>
            <a:off x="1143000" y="3238805"/>
            <a:ext cx="5162702" cy="3638398"/>
          </a:xfrm>
          <a:prstGeom prst="rect">
            <a:avLst/>
          </a:prstGeom>
          <a:solidFill>
            <a:srgbClr val="142039"/>
          </a:solidFill>
          <a:ln w="12700">
            <a:solidFill>
              <a:srgbClr val="1F2D49"/>
            </a:solidFill>
            <a:prstDash val="solid"/>
          </a:ln>
        </p:spPr>
      </p:sp>
      <p:sp>
        <p:nvSpPr>
          <p:cNvPr id="6" name="Shape 1"/>
          <p:cNvSpPr/>
          <p:nvPr/>
        </p:nvSpPr>
        <p:spPr>
          <a:xfrm>
            <a:off x="6572707" y="3238805"/>
            <a:ext cx="5162702" cy="3638398"/>
          </a:xfrm>
          <a:prstGeom prst="rect">
            <a:avLst/>
          </a:prstGeom>
          <a:solidFill>
            <a:srgbClr val="142039"/>
          </a:solidFill>
          <a:ln w="12700">
            <a:solidFill>
              <a:srgbClr val="1F2D49"/>
            </a:solidFill>
            <a:prstDash val="solid"/>
          </a:ln>
        </p:spPr>
      </p:sp>
      <p:sp>
        <p:nvSpPr>
          <p:cNvPr id="7" name="Shape 2"/>
          <p:cNvSpPr/>
          <p:nvPr/>
        </p:nvSpPr>
        <p:spPr>
          <a:xfrm>
            <a:off x="12001500" y="3238805"/>
            <a:ext cx="5162702" cy="3638398"/>
          </a:xfrm>
          <a:prstGeom prst="rect">
            <a:avLst/>
          </a:prstGeom>
          <a:solidFill>
            <a:srgbClr val="142039"/>
          </a:solidFill>
          <a:ln w="12700">
            <a:solidFill>
              <a:srgbClr val="1F2D49"/>
            </a:solidFill>
            <a:prstDash val="solid"/>
          </a:ln>
        </p:spPr>
      </p:sp>
      <p:sp>
        <p:nvSpPr>
          <p:cNvPr id="8" name="Shape 3"/>
          <p:cNvSpPr/>
          <p:nvPr/>
        </p:nvSpPr>
        <p:spPr>
          <a:xfrm>
            <a:off x="1143000" y="7181698"/>
            <a:ext cx="16021202" cy="1923898"/>
          </a:xfrm>
          <a:prstGeom prst="rect">
            <a:avLst/>
          </a:prstGeom>
          <a:solidFill>
            <a:srgbClr val="1A2742"/>
          </a:solidFill>
          <a:ln w="12700">
            <a:solidFill>
              <a:srgbClr val="2A3D5F"/>
            </a:solidFill>
            <a:prstDash val="solid"/>
          </a:ln>
        </p:spPr>
      </p:sp>
      <p:sp>
        <p:nvSpPr>
          <p:cNvPr id="9" name="Shape 4"/>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0" name="Shape 5"/>
          <p:cNvSpPr/>
          <p:nvPr/>
        </p:nvSpPr>
        <p:spPr>
          <a:xfrm>
            <a:off x="1143000" y="9430207"/>
            <a:ext cx="28346" cy="495605"/>
          </a:xfrm>
          <a:prstGeom prst="rect">
            <a:avLst/>
          </a:prstGeom>
          <a:solidFill>
            <a:srgbClr val="38BDF8"/>
          </a:solidFill>
          <a:ln w="12700">
            <a:solidFill>
              <a:srgbClr val="38BDF8">
                <a:alpha val="0"/>
              </a:srgbClr>
            </a:solidFill>
            <a:prstDash val="solid"/>
          </a:ln>
        </p:spPr>
      </p:sp>
      <p:pic>
        <p:nvPicPr>
          <p:cNvPr id="11" name="Image 2" descr="gen-dedup-d1eeed6e781fb2a1572663c2cf170b87.png">    </p:cNvPr>
          <p:cNvPicPr>
            <a:picLocks noChangeAspect="1"/>
          </p:cNvPicPr>
          <p:nvPr/>
        </p:nvPicPr>
        <p:blipFill>
          <a:blip r:embed="rId3"/>
          <a:srcRect l="0" r="0" t="-400" b="-400"/>
          <a:stretch/>
        </p:blipFill>
        <p:spPr>
          <a:xfrm>
            <a:off x="1143000" y="3238805"/>
            <a:ext cx="5143500" cy="57607"/>
          </a:xfrm>
          <a:prstGeom prst="rect">
            <a:avLst/>
          </a:prstGeom>
        </p:spPr>
      </p:pic>
      <p:pic>
        <p:nvPicPr>
          <p:cNvPr id="12" name="Image 3" descr="gen-dedup-462112e744b13e5edab3084d57dd93e5.png">    </p:cNvPr>
          <p:cNvPicPr>
            <a:picLocks noChangeAspect="1"/>
          </p:cNvPicPr>
          <p:nvPr/>
        </p:nvPicPr>
        <p:blipFill>
          <a:blip r:embed="rId4"/>
          <a:srcRect l="0" r="0" t="-400" b="-400"/>
          <a:stretch/>
        </p:blipFill>
        <p:spPr>
          <a:xfrm>
            <a:off x="6572707" y="3238805"/>
            <a:ext cx="5143500" cy="57607"/>
          </a:xfrm>
          <a:prstGeom prst="rect">
            <a:avLst/>
          </a:prstGeom>
        </p:spPr>
      </p:pic>
      <p:pic>
        <p:nvPicPr>
          <p:cNvPr id="13" name="Image 4" descr="gen-dedup-22049e5546d54847717d41c213610eec.png">    </p:cNvPr>
          <p:cNvPicPr>
            <a:picLocks noChangeAspect="1"/>
          </p:cNvPicPr>
          <p:nvPr/>
        </p:nvPicPr>
        <p:blipFill>
          <a:blip r:embed="rId5"/>
          <a:srcRect l="0" r="0" t="-400" b="-400"/>
          <a:stretch/>
        </p:blipFill>
        <p:spPr>
          <a:xfrm>
            <a:off x="12001500" y="3238805"/>
            <a:ext cx="5143500" cy="57607"/>
          </a:xfrm>
          <a:prstGeom prst="rect">
            <a:avLst/>
          </a:prstGeom>
        </p:spPr>
      </p:pic>
      <p:pic>
        <p:nvPicPr>
          <p:cNvPr id="14" name="Image 5" descr="gen-dedup-de6bd3027b4556935cb6412522856f35.png">    </p:cNvPr>
          <p:cNvPicPr>
            <a:picLocks noChangeAspect="1"/>
          </p:cNvPicPr>
          <p:nvPr/>
        </p:nvPicPr>
        <p:blipFill>
          <a:blip r:embed="rId6"/>
          <a:srcRect l="-2083" r="-2083" t="0" b="0"/>
          <a:stretch/>
        </p:blipFill>
        <p:spPr>
          <a:xfrm>
            <a:off x="1447495" y="8419795"/>
            <a:ext cx="15240305" cy="9144"/>
          </a:xfrm>
          <a:prstGeom prst="rect">
            <a:avLst/>
          </a:prstGeom>
        </p:spPr>
      </p:pic>
      <p:sp>
        <p:nvSpPr>
          <p:cNvPr id="15" name="Shape 6"/>
          <p:cNvSpPr/>
          <p:nvPr/>
        </p:nvSpPr>
        <p:spPr>
          <a:xfrm>
            <a:off x="3429000" y="8324698"/>
            <a:ext cx="171907" cy="171907"/>
          </a:xfrm>
          <a:prstGeom prst="ellipse">
            <a:avLst/>
          </a:prstGeom>
          <a:solidFill>
            <a:srgbClr val="38BDF8"/>
          </a:solidFill>
          <a:ln w="12700">
            <a:solidFill>
              <a:srgbClr val="FFFFFF">
                <a:alpha val="0"/>
              </a:srgbClr>
            </a:solidFill>
            <a:prstDash val="solid"/>
          </a:ln>
        </p:spPr>
      </p:sp>
      <p:sp>
        <p:nvSpPr>
          <p:cNvPr id="16" name="Shape 7"/>
          <p:cNvSpPr/>
          <p:nvPr/>
        </p:nvSpPr>
        <p:spPr>
          <a:xfrm>
            <a:off x="8762695" y="8477402"/>
            <a:ext cx="171907" cy="171907"/>
          </a:xfrm>
          <a:prstGeom prst="ellipse">
            <a:avLst/>
          </a:prstGeom>
          <a:solidFill>
            <a:srgbClr val="14B8A6"/>
          </a:solidFill>
          <a:ln w="12700">
            <a:solidFill>
              <a:srgbClr val="FFFFFF">
                <a:alpha val="0"/>
              </a:srgbClr>
            </a:solidFill>
            <a:prstDash val="solid"/>
          </a:ln>
        </p:spPr>
      </p:sp>
      <p:sp>
        <p:nvSpPr>
          <p:cNvPr id="17" name="Shape 8"/>
          <p:cNvSpPr/>
          <p:nvPr/>
        </p:nvSpPr>
        <p:spPr>
          <a:xfrm>
            <a:off x="14097305" y="8630107"/>
            <a:ext cx="171907" cy="171907"/>
          </a:xfrm>
          <a:prstGeom prst="ellipse">
            <a:avLst/>
          </a:prstGeom>
          <a:solidFill>
            <a:srgbClr val="FBBF24"/>
          </a:solidFill>
          <a:ln w="12700">
            <a:solidFill>
              <a:srgbClr val="FFFFFF">
                <a:alpha val="0"/>
              </a:srgbClr>
            </a:solidFill>
            <a:prstDash val="solid"/>
          </a:ln>
        </p:spPr>
      </p:sp>
      <p:sp>
        <p:nvSpPr>
          <p:cNvPr id="18" name="Text 9"/>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07 / AASI · V1 vertical CD</a:t>
            </a:r>
            <a:endParaRPr lang="en-US" sz="1350" dirty="0"/>
          </a:p>
        </p:txBody>
      </p:sp>
      <p:sp>
        <p:nvSpPr>
          <p:cNvPr id="19" name="Text 10"/>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AASI Linearity</a:t>
            </a:r>
            <a:endParaRPr lang="en-US" sz="4800" dirty="0"/>
          </a:p>
        </p:txBody>
      </p:sp>
      <p:sp>
        <p:nvSpPr>
          <p:cNvPr id="20" name="Text 11"/>
          <p:cNvSpPr txBox="1"/>
          <p:nvPr/>
        </p:nvSpPr>
        <p:spPr>
          <a:xfrm>
            <a:off x="1143000" y="2286000"/>
            <a:ext cx="11430000" cy="333756"/>
          </a:xfrm>
          <a:prstGeom prst="rect">
            <a:avLst/>
          </a:prstGeom>
          <a:noFill/>
          <a:ln/>
        </p:spPr>
        <p:txBody>
          <a:bodyPr wrap="none" lIns="0" tIns="0" rIns="0" bIns="0" rtlCol="0" anchor="ctr"/>
          <a:lstStyle/>
          <a:p>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Target </a:t>
            </a:r>
            <a:pPr algn="l" indent="0" marL="0">
              <a:buNone/>
            </a:pPr>
            <a:r>
              <a:rPr lang="en-US" sz="1800" dirty="0">
                <a:solidFill>
                  <a:srgbClr val="38BDF8"/>
                </a:solidFill>
                <a:latin typeface="JetBrains Mono" pitchFamily="34" charset="0"/>
                <a:ea typeface="JetBrains Mono" pitchFamily="34" charset="-122"/>
                <a:cs typeface="JetBrains Mono" pitchFamily="34" charset="-120"/>
              </a:rPr>
              <a:t>23.3 nm</a:t>
            </a:r>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 — V1 vertical CD, 25 sites per wafer.</a:t>
            </a:r>
            <a:endParaRPr lang="en-US" sz="1800" dirty="0"/>
          </a:p>
        </p:txBody>
      </p:sp>
      <p:pic>
        <p:nvPicPr>
          <p:cNvPr id="21" name="Image 6" descr="gen-dedup-cbd2dadeeb2aec465e858390d1195fd6.png">    </p:cNvPr>
          <p:cNvPicPr>
            <a:picLocks noChangeAspect="1"/>
          </p:cNvPicPr>
          <p:nvPr/>
        </p:nvPicPr>
        <p:blipFill>
          <a:blip r:embed="rId7"/>
          <a:srcRect l="-404" r="-404" t="0" b="0"/>
          <a:stretch/>
        </p:blipFill>
        <p:spPr>
          <a:xfrm>
            <a:off x="1143000" y="2819095"/>
            <a:ext cx="1143000" cy="28346"/>
          </a:xfrm>
          <a:prstGeom prst="rect">
            <a:avLst/>
          </a:prstGeom>
        </p:spPr>
      </p:pic>
      <p:sp>
        <p:nvSpPr>
          <p:cNvPr id="22" name="Text 12"/>
          <p:cNvSpPr txBox="1"/>
          <p:nvPr/>
        </p:nvSpPr>
        <p:spPr>
          <a:xfrm>
            <a:off x="1447495" y="3504895"/>
            <a:ext cx="3620110" cy="171907"/>
          </a:xfrm>
          <a:prstGeom prst="rect">
            <a:avLst/>
          </a:prstGeom>
          <a:noFill/>
          <a:ln/>
        </p:spPr>
        <p:txBody>
          <a:bodyPr wrap="none" lIns="0" tIns="0" rIns="0" bIns="0" rtlCol="0" anchor="ctr"/>
          <a:lstStyle/>
          <a:p>
            <a:pPr algn="l" indent="0" marL="0">
              <a:buNone/>
            </a:pPr>
            <a:r>
              <a:rPr lang="en-US" sz="1050" spc="231" kern="0" dirty="0">
                <a:solidFill>
                  <a:srgbClr val="38BDF8"/>
                </a:solidFill>
                <a:latin typeface="JetBrains Mono" pitchFamily="34" charset="0"/>
                <a:ea typeface="JetBrains Mono" pitchFamily="34" charset="-122"/>
                <a:cs typeface="JetBrains Mono" pitchFamily="34" charset="-120"/>
              </a:rPr>
              <a:t>W-01 · Split A</a:t>
            </a:r>
            <a:endParaRPr lang="en-US" sz="1050" dirty="0"/>
          </a:p>
        </p:txBody>
      </p:sp>
      <p:sp>
        <p:nvSpPr>
          <p:cNvPr id="23" name="Text 13"/>
          <p:cNvSpPr txBox="1"/>
          <p:nvPr/>
        </p:nvSpPr>
        <p:spPr>
          <a:xfrm>
            <a:off x="1447495" y="3733495"/>
            <a:ext cx="3620110" cy="486461"/>
          </a:xfrm>
          <a:prstGeom prst="rect">
            <a:avLst/>
          </a:prstGeom>
          <a:noFill/>
          <a:ln/>
        </p:spPr>
        <p:txBody>
          <a:bodyPr wrap="none" lIns="0" tIns="0" rIns="0" bIns="0" rtlCol="0" anchor="ctr"/>
          <a:lstStyle/>
          <a:p>
            <a:pPr algn="l" indent="0" marL="0">
              <a:buNone/>
            </a:pPr>
            <a:r>
              <a:rPr lang="en-US" sz="3000" b="1" dirty="0">
                <a:solidFill>
                  <a:srgbClr val="E8EDF5"/>
                </a:solidFill>
                <a:latin typeface="Space Grotesk" pitchFamily="34" charset="0"/>
                <a:ea typeface="Space Grotesk" pitchFamily="34" charset="-122"/>
                <a:cs typeface="Space Grotesk" pitchFamily="34" charset="-120"/>
              </a:rPr>
              <a:t>19 mJ/cm²</a:t>
            </a:r>
            <a:endParaRPr lang="en-US" sz="3000" dirty="0"/>
          </a:p>
        </p:txBody>
      </p:sp>
      <p:sp>
        <p:nvSpPr>
          <p:cNvPr id="24" name="Text 14"/>
          <p:cNvSpPr txBox="1"/>
          <p:nvPr/>
        </p:nvSpPr>
        <p:spPr>
          <a:xfrm>
            <a:off x="1447495" y="4496105"/>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Mean</a:t>
            </a:r>
            <a:endParaRPr lang="en-US" sz="1050" dirty="0"/>
          </a:p>
        </p:txBody>
      </p:sp>
      <p:sp>
        <p:nvSpPr>
          <p:cNvPr id="25" name="Text 15"/>
          <p:cNvSpPr txBox="1"/>
          <p:nvPr/>
        </p:nvSpPr>
        <p:spPr>
          <a:xfrm>
            <a:off x="1447495" y="4705502"/>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23.4</a:t>
            </a:r>
            <a:endParaRPr lang="en-US" sz="3150" dirty="0"/>
          </a:p>
        </p:txBody>
      </p:sp>
      <p:sp>
        <p:nvSpPr>
          <p:cNvPr id="26" name="Text 16"/>
          <p:cNvSpPr txBox="1"/>
          <p:nvPr/>
        </p:nvSpPr>
        <p:spPr>
          <a:xfrm>
            <a:off x="1447495" y="5238598"/>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27" name="Text 17"/>
          <p:cNvSpPr txBox="1"/>
          <p:nvPr/>
        </p:nvSpPr>
        <p:spPr>
          <a:xfrm>
            <a:off x="3715207" y="4496105"/>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3σ</a:t>
            </a:r>
            <a:endParaRPr lang="en-US" sz="1050" dirty="0"/>
          </a:p>
        </p:txBody>
      </p:sp>
      <p:sp>
        <p:nvSpPr>
          <p:cNvPr id="28" name="Text 18"/>
          <p:cNvSpPr txBox="1"/>
          <p:nvPr/>
        </p:nvSpPr>
        <p:spPr>
          <a:xfrm>
            <a:off x="3715207" y="4705502"/>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0.7</a:t>
            </a:r>
            <a:endParaRPr lang="en-US" sz="3150" dirty="0"/>
          </a:p>
        </p:txBody>
      </p:sp>
      <p:sp>
        <p:nvSpPr>
          <p:cNvPr id="29" name="Text 19"/>
          <p:cNvSpPr txBox="1"/>
          <p:nvPr/>
        </p:nvSpPr>
        <p:spPr>
          <a:xfrm>
            <a:off x="3715207" y="5238598"/>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30" name="Text 20"/>
          <p:cNvSpPr txBox="1"/>
          <p:nvPr/>
        </p:nvSpPr>
        <p:spPr>
          <a:xfrm>
            <a:off x="1447495" y="5581498"/>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Range</a:t>
            </a:r>
            <a:endParaRPr lang="en-US" sz="1050" dirty="0"/>
          </a:p>
        </p:txBody>
      </p:sp>
      <p:sp>
        <p:nvSpPr>
          <p:cNvPr id="31" name="Text 21"/>
          <p:cNvSpPr txBox="1"/>
          <p:nvPr/>
        </p:nvSpPr>
        <p:spPr>
          <a:xfrm>
            <a:off x="1447495" y="5790895"/>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1.9</a:t>
            </a:r>
            <a:endParaRPr lang="en-US" sz="3150" dirty="0"/>
          </a:p>
        </p:txBody>
      </p:sp>
      <p:sp>
        <p:nvSpPr>
          <p:cNvPr id="32" name="Text 22"/>
          <p:cNvSpPr txBox="1"/>
          <p:nvPr/>
        </p:nvSpPr>
        <p:spPr>
          <a:xfrm>
            <a:off x="1447495" y="6324905"/>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33" name="Text 23"/>
          <p:cNvSpPr txBox="1"/>
          <p:nvPr/>
        </p:nvSpPr>
        <p:spPr>
          <a:xfrm>
            <a:off x="3715207" y="5581498"/>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Δ</a:t>
            </a:r>
            <a:endParaRPr lang="en-US" sz="1050" dirty="0"/>
          </a:p>
        </p:txBody>
      </p:sp>
      <p:sp>
        <p:nvSpPr>
          <p:cNvPr id="34" name="Text 24"/>
          <p:cNvSpPr txBox="1"/>
          <p:nvPr/>
        </p:nvSpPr>
        <p:spPr>
          <a:xfrm>
            <a:off x="3715207" y="5790895"/>
            <a:ext cx="2267712" cy="534010"/>
          </a:xfrm>
          <a:prstGeom prst="rect">
            <a:avLst/>
          </a:prstGeom>
          <a:noFill/>
          <a:ln/>
        </p:spPr>
        <p:txBody>
          <a:bodyPr wrap="none" lIns="0" tIns="0" rIns="0" bIns="0" rtlCol="0" anchor="ctr"/>
          <a:lstStyle/>
          <a:p>
            <a:pPr algn="l" indent="0" marL="0">
              <a:buNone/>
            </a:pPr>
            <a:r>
              <a:rPr lang="en-US" sz="3150" b="1" dirty="0">
                <a:solidFill>
                  <a:srgbClr val="34D399"/>
                </a:solidFill>
                <a:latin typeface="JetBrains Mono" pitchFamily="34" charset="0"/>
                <a:ea typeface="JetBrains Mono" pitchFamily="34" charset="-122"/>
                <a:cs typeface="JetBrains Mono" pitchFamily="34" charset="-120"/>
              </a:rPr>
              <a:t>+0.1</a:t>
            </a:r>
            <a:endParaRPr lang="en-US" sz="3150" dirty="0"/>
          </a:p>
        </p:txBody>
      </p:sp>
      <p:sp>
        <p:nvSpPr>
          <p:cNvPr id="35" name="Text 25"/>
          <p:cNvSpPr txBox="1"/>
          <p:nvPr/>
        </p:nvSpPr>
        <p:spPr>
          <a:xfrm>
            <a:off x="3715207" y="6324905"/>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vs 23.3</a:t>
            </a:r>
            <a:endParaRPr lang="en-US" sz="1050" dirty="0"/>
          </a:p>
        </p:txBody>
      </p:sp>
      <p:sp>
        <p:nvSpPr>
          <p:cNvPr id="36" name="Text 26"/>
          <p:cNvSpPr txBox="1"/>
          <p:nvPr/>
        </p:nvSpPr>
        <p:spPr>
          <a:xfrm>
            <a:off x="6877202" y="3504895"/>
            <a:ext cx="3620110" cy="171907"/>
          </a:xfrm>
          <a:prstGeom prst="rect">
            <a:avLst/>
          </a:prstGeom>
          <a:noFill/>
          <a:ln/>
        </p:spPr>
        <p:txBody>
          <a:bodyPr wrap="none" lIns="0" tIns="0" rIns="0" bIns="0" rtlCol="0" anchor="ctr"/>
          <a:lstStyle/>
          <a:p>
            <a:pPr algn="l" indent="0" marL="0">
              <a:buNone/>
            </a:pPr>
            <a:r>
              <a:rPr lang="en-US" sz="1050" spc="231" kern="0" dirty="0">
                <a:solidFill>
                  <a:srgbClr val="14B8A6"/>
                </a:solidFill>
                <a:latin typeface="JetBrains Mono" pitchFamily="34" charset="0"/>
                <a:ea typeface="JetBrains Mono" pitchFamily="34" charset="-122"/>
                <a:cs typeface="JetBrains Mono" pitchFamily="34" charset="-120"/>
              </a:rPr>
              <a:t>W-02 · Split B</a:t>
            </a:r>
            <a:endParaRPr lang="en-US" sz="1050" dirty="0"/>
          </a:p>
        </p:txBody>
      </p:sp>
      <p:sp>
        <p:nvSpPr>
          <p:cNvPr id="37" name="Text 27"/>
          <p:cNvSpPr txBox="1"/>
          <p:nvPr/>
        </p:nvSpPr>
        <p:spPr>
          <a:xfrm>
            <a:off x="6877202" y="3733495"/>
            <a:ext cx="3620110" cy="486461"/>
          </a:xfrm>
          <a:prstGeom prst="rect">
            <a:avLst/>
          </a:prstGeom>
          <a:noFill/>
          <a:ln/>
        </p:spPr>
        <p:txBody>
          <a:bodyPr wrap="none" lIns="0" tIns="0" rIns="0" bIns="0" rtlCol="0" anchor="ctr"/>
          <a:lstStyle/>
          <a:p>
            <a:pPr algn="l" indent="0" marL="0">
              <a:buNone/>
            </a:pPr>
            <a:r>
              <a:rPr lang="en-US" sz="3000" b="1" dirty="0">
                <a:solidFill>
                  <a:srgbClr val="E8EDF5"/>
                </a:solidFill>
                <a:latin typeface="Space Grotesk" pitchFamily="34" charset="0"/>
                <a:ea typeface="Space Grotesk" pitchFamily="34" charset="-122"/>
                <a:cs typeface="Space Grotesk" pitchFamily="34" charset="-120"/>
              </a:rPr>
              <a:t>28 mJ/cm²</a:t>
            </a:r>
            <a:endParaRPr lang="en-US" sz="3000" dirty="0"/>
          </a:p>
        </p:txBody>
      </p:sp>
      <p:sp>
        <p:nvSpPr>
          <p:cNvPr id="38" name="Text 28"/>
          <p:cNvSpPr txBox="1"/>
          <p:nvPr/>
        </p:nvSpPr>
        <p:spPr>
          <a:xfrm>
            <a:off x="6877202" y="4496105"/>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Mean</a:t>
            </a:r>
            <a:endParaRPr lang="en-US" sz="1050" dirty="0"/>
          </a:p>
        </p:txBody>
      </p:sp>
      <p:sp>
        <p:nvSpPr>
          <p:cNvPr id="39" name="Text 29"/>
          <p:cNvSpPr txBox="1"/>
          <p:nvPr/>
        </p:nvSpPr>
        <p:spPr>
          <a:xfrm>
            <a:off x="6877202" y="4705502"/>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23.1</a:t>
            </a:r>
            <a:endParaRPr lang="en-US" sz="3150" dirty="0"/>
          </a:p>
        </p:txBody>
      </p:sp>
      <p:sp>
        <p:nvSpPr>
          <p:cNvPr id="40" name="Text 30"/>
          <p:cNvSpPr txBox="1"/>
          <p:nvPr/>
        </p:nvSpPr>
        <p:spPr>
          <a:xfrm>
            <a:off x="6877202" y="5238598"/>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41" name="Text 31"/>
          <p:cNvSpPr txBox="1"/>
          <p:nvPr/>
        </p:nvSpPr>
        <p:spPr>
          <a:xfrm>
            <a:off x="9144000" y="4496105"/>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3σ</a:t>
            </a:r>
            <a:endParaRPr lang="en-US" sz="1050" dirty="0"/>
          </a:p>
        </p:txBody>
      </p:sp>
      <p:sp>
        <p:nvSpPr>
          <p:cNvPr id="42" name="Text 32"/>
          <p:cNvSpPr txBox="1"/>
          <p:nvPr/>
        </p:nvSpPr>
        <p:spPr>
          <a:xfrm>
            <a:off x="9144000" y="4705502"/>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0.9</a:t>
            </a:r>
            <a:endParaRPr lang="en-US" sz="3150" dirty="0"/>
          </a:p>
        </p:txBody>
      </p:sp>
      <p:sp>
        <p:nvSpPr>
          <p:cNvPr id="43" name="Text 33"/>
          <p:cNvSpPr txBox="1"/>
          <p:nvPr/>
        </p:nvSpPr>
        <p:spPr>
          <a:xfrm>
            <a:off x="9144000" y="5238598"/>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44" name="Text 34"/>
          <p:cNvSpPr txBox="1"/>
          <p:nvPr/>
        </p:nvSpPr>
        <p:spPr>
          <a:xfrm>
            <a:off x="6877202" y="5581498"/>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Range</a:t>
            </a:r>
            <a:endParaRPr lang="en-US" sz="1050" dirty="0"/>
          </a:p>
        </p:txBody>
      </p:sp>
      <p:sp>
        <p:nvSpPr>
          <p:cNvPr id="45" name="Text 35"/>
          <p:cNvSpPr txBox="1"/>
          <p:nvPr/>
        </p:nvSpPr>
        <p:spPr>
          <a:xfrm>
            <a:off x="6877202" y="5790895"/>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2.4</a:t>
            </a:r>
            <a:endParaRPr lang="en-US" sz="3150" dirty="0"/>
          </a:p>
        </p:txBody>
      </p:sp>
      <p:sp>
        <p:nvSpPr>
          <p:cNvPr id="46" name="Text 36"/>
          <p:cNvSpPr txBox="1"/>
          <p:nvPr/>
        </p:nvSpPr>
        <p:spPr>
          <a:xfrm>
            <a:off x="6877202" y="6324905"/>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47" name="Text 37"/>
          <p:cNvSpPr txBox="1"/>
          <p:nvPr/>
        </p:nvSpPr>
        <p:spPr>
          <a:xfrm>
            <a:off x="9144000" y="5581498"/>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Δ</a:t>
            </a:r>
            <a:endParaRPr lang="en-US" sz="1050" dirty="0"/>
          </a:p>
        </p:txBody>
      </p:sp>
      <p:sp>
        <p:nvSpPr>
          <p:cNvPr id="48" name="Text 38"/>
          <p:cNvSpPr txBox="1"/>
          <p:nvPr/>
        </p:nvSpPr>
        <p:spPr>
          <a:xfrm>
            <a:off x="9144000" y="5790895"/>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−0.2</a:t>
            </a:r>
            <a:endParaRPr lang="en-US" sz="3150" dirty="0"/>
          </a:p>
        </p:txBody>
      </p:sp>
      <p:sp>
        <p:nvSpPr>
          <p:cNvPr id="49" name="Text 39"/>
          <p:cNvSpPr txBox="1"/>
          <p:nvPr/>
        </p:nvSpPr>
        <p:spPr>
          <a:xfrm>
            <a:off x="9144000" y="6324905"/>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vs 23.3</a:t>
            </a:r>
            <a:endParaRPr lang="en-US" sz="1050" dirty="0"/>
          </a:p>
        </p:txBody>
      </p:sp>
      <p:sp>
        <p:nvSpPr>
          <p:cNvPr id="50" name="Text 40"/>
          <p:cNvSpPr txBox="1"/>
          <p:nvPr/>
        </p:nvSpPr>
        <p:spPr>
          <a:xfrm>
            <a:off x="12305995" y="3504895"/>
            <a:ext cx="3620110" cy="171907"/>
          </a:xfrm>
          <a:prstGeom prst="rect">
            <a:avLst/>
          </a:prstGeom>
          <a:noFill/>
          <a:ln/>
        </p:spPr>
        <p:txBody>
          <a:bodyPr wrap="none" lIns="0" tIns="0" rIns="0" bIns="0" rtlCol="0" anchor="ctr"/>
          <a:lstStyle/>
          <a:p>
            <a:pPr algn="l" indent="0" marL="0">
              <a:buNone/>
            </a:pPr>
            <a:r>
              <a:rPr lang="en-US" sz="1050" spc="231" kern="0" dirty="0">
                <a:solidFill>
                  <a:srgbClr val="FBBF24"/>
                </a:solidFill>
                <a:latin typeface="JetBrains Mono" pitchFamily="34" charset="0"/>
                <a:ea typeface="JetBrains Mono" pitchFamily="34" charset="-122"/>
                <a:cs typeface="JetBrains Mono" pitchFamily="34" charset="-120"/>
              </a:rPr>
              <a:t>W-03 · Split C</a:t>
            </a:r>
            <a:endParaRPr lang="en-US" sz="1050" dirty="0"/>
          </a:p>
        </p:txBody>
      </p:sp>
      <p:sp>
        <p:nvSpPr>
          <p:cNvPr id="51" name="Text 41"/>
          <p:cNvSpPr txBox="1"/>
          <p:nvPr/>
        </p:nvSpPr>
        <p:spPr>
          <a:xfrm>
            <a:off x="12305995" y="3733495"/>
            <a:ext cx="3620110" cy="486461"/>
          </a:xfrm>
          <a:prstGeom prst="rect">
            <a:avLst/>
          </a:prstGeom>
          <a:noFill/>
          <a:ln/>
        </p:spPr>
        <p:txBody>
          <a:bodyPr wrap="none" lIns="0" tIns="0" rIns="0" bIns="0" rtlCol="0" anchor="ctr"/>
          <a:lstStyle/>
          <a:p>
            <a:pPr algn="l" indent="0" marL="0">
              <a:buNone/>
            </a:pPr>
            <a:r>
              <a:rPr lang="en-US" sz="3000" b="1" dirty="0">
                <a:solidFill>
                  <a:srgbClr val="E8EDF5"/>
                </a:solidFill>
                <a:latin typeface="Space Grotesk" pitchFamily="34" charset="0"/>
                <a:ea typeface="Space Grotesk" pitchFamily="34" charset="-122"/>
                <a:cs typeface="Space Grotesk" pitchFamily="34" charset="-120"/>
              </a:rPr>
              <a:t>38 mJ/cm²</a:t>
            </a:r>
            <a:endParaRPr lang="en-US" sz="3000" dirty="0"/>
          </a:p>
        </p:txBody>
      </p:sp>
      <p:sp>
        <p:nvSpPr>
          <p:cNvPr id="52" name="Text 42"/>
          <p:cNvSpPr txBox="1"/>
          <p:nvPr/>
        </p:nvSpPr>
        <p:spPr>
          <a:xfrm>
            <a:off x="12305995" y="4496105"/>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Mean</a:t>
            </a:r>
            <a:endParaRPr lang="en-US" sz="1050" dirty="0"/>
          </a:p>
        </p:txBody>
      </p:sp>
      <p:sp>
        <p:nvSpPr>
          <p:cNvPr id="53" name="Text 43"/>
          <p:cNvSpPr txBox="1"/>
          <p:nvPr/>
        </p:nvSpPr>
        <p:spPr>
          <a:xfrm>
            <a:off x="12305995" y="4705502"/>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22.8</a:t>
            </a:r>
            <a:endParaRPr lang="en-US" sz="3150" dirty="0"/>
          </a:p>
        </p:txBody>
      </p:sp>
      <p:sp>
        <p:nvSpPr>
          <p:cNvPr id="54" name="Text 44"/>
          <p:cNvSpPr txBox="1"/>
          <p:nvPr/>
        </p:nvSpPr>
        <p:spPr>
          <a:xfrm>
            <a:off x="12305995" y="5238598"/>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55" name="Text 45"/>
          <p:cNvSpPr txBox="1"/>
          <p:nvPr/>
        </p:nvSpPr>
        <p:spPr>
          <a:xfrm>
            <a:off x="14573707" y="4496105"/>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3σ</a:t>
            </a:r>
            <a:endParaRPr lang="en-US" sz="1050" dirty="0"/>
          </a:p>
        </p:txBody>
      </p:sp>
      <p:sp>
        <p:nvSpPr>
          <p:cNvPr id="56" name="Text 46"/>
          <p:cNvSpPr txBox="1"/>
          <p:nvPr/>
        </p:nvSpPr>
        <p:spPr>
          <a:xfrm>
            <a:off x="14573707" y="4705502"/>
            <a:ext cx="2267712" cy="534010"/>
          </a:xfrm>
          <a:prstGeom prst="rect">
            <a:avLst/>
          </a:prstGeom>
          <a:noFill/>
          <a:ln/>
        </p:spPr>
        <p:txBody>
          <a:bodyPr wrap="none" lIns="0" tIns="0" rIns="0" bIns="0" rtlCol="0" anchor="ctr"/>
          <a:lstStyle/>
          <a:p>
            <a:pPr algn="l" indent="0" marL="0">
              <a:buNone/>
            </a:pPr>
            <a:r>
              <a:rPr lang="en-US" sz="3150" b="1" dirty="0">
                <a:solidFill>
                  <a:srgbClr val="E8EDF5"/>
                </a:solidFill>
                <a:latin typeface="JetBrains Mono" pitchFamily="34" charset="0"/>
                <a:ea typeface="JetBrains Mono" pitchFamily="34" charset="-122"/>
                <a:cs typeface="JetBrains Mono" pitchFamily="34" charset="-120"/>
              </a:rPr>
              <a:t>1.4</a:t>
            </a:r>
            <a:endParaRPr lang="en-US" sz="3150" dirty="0"/>
          </a:p>
        </p:txBody>
      </p:sp>
      <p:sp>
        <p:nvSpPr>
          <p:cNvPr id="57" name="Text 47"/>
          <p:cNvSpPr txBox="1"/>
          <p:nvPr/>
        </p:nvSpPr>
        <p:spPr>
          <a:xfrm>
            <a:off x="14573707" y="5238598"/>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58" name="Text 48"/>
          <p:cNvSpPr txBox="1"/>
          <p:nvPr/>
        </p:nvSpPr>
        <p:spPr>
          <a:xfrm>
            <a:off x="12305995" y="5581498"/>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Range</a:t>
            </a:r>
            <a:endParaRPr lang="en-US" sz="1050" dirty="0"/>
          </a:p>
        </p:txBody>
      </p:sp>
      <p:sp>
        <p:nvSpPr>
          <p:cNvPr id="59" name="Text 49"/>
          <p:cNvSpPr txBox="1"/>
          <p:nvPr/>
        </p:nvSpPr>
        <p:spPr>
          <a:xfrm>
            <a:off x="12305995" y="5790895"/>
            <a:ext cx="2267712" cy="534010"/>
          </a:xfrm>
          <a:prstGeom prst="rect">
            <a:avLst/>
          </a:prstGeom>
          <a:noFill/>
          <a:ln/>
        </p:spPr>
        <p:txBody>
          <a:bodyPr wrap="none" lIns="0" tIns="0" rIns="0" bIns="0" rtlCol="0" anchor="ctr"/>
          <a:lstStyle/>
          <a:p>
            <a:pPr algn="l" indent="0" marL="0">
              <a:buNone/>
            </a:pPr>
            <a:r>
              <a:rPr lang="en-US" sz="3150" b="1" dirty="0">
                <a:solidFill>
                  <a:srgbClr val="FBBF24"/>
                </a:solidFill>
                <a:latin typeface="JetBrains Mono" pitchFamily="34" charset="0"/>
                <a:ea typeface="JetBrains Mono" pitchFamily="34" charset="-122"/>
                <a:cs typeface="JetBrains Mono" pitchFamily="34" charset="-120"/>
              </a:rPr>
              <a:t>3.8</a:t>
            </a:r>
            <a:endParaRPr lang="en-US" sz="3150" dirty="0"/>
          </a:p>
        </p:txBody>
      </p:sp>
      <p:sp>
        <p:nvSpPr>
          <p:cNvPr id="60" name="Text 50"/>
          <p:cNvSpPr txBox="1"/>
          <p:nvPr/>
        </p:nvSpPr>
        <p:spPr>
          <a:xfrm>
            <a:off x="12305995" y="6324905"/>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nm</a:t>
            </a:r>
            <a:endParaRPr lang="en-US" sz="1050" dirty="0"/>
          </a:p>
        </p:txBody>
      </p:sp>
      <p:sp>
        <p:nvSpPr>
          <p:cNvPr id="61" name="Text 51"/>
          <p:cNvSpPr txBox="1"/>
          <p:nvPr/>
        </p:nvSpPr>
        <p:spPr>
          <a:xfrm>
            <a:off x="14573707" y="5581498"/>
            <a:ext cx="2267712" cy="171907"/>
          </a:xfrm>
          <a:prstGeom prst="rect">
            <a:avLst/>
          </a:prstGeom>
          <a:noFill/>
          <a:ln/>
        </p:spPr>
        <p:txBody>
          <a:bodyPr wrap="none" lIns="0" tIns="0" rIns="0" bIns="0" rtlCol="0" anchor="ctr"/>
          <a:lstStyle/>
          <a:p>
            <a:pPr algn="l" indent="0" marL="0">
              <a:buNone/>
            </a:pPr>
            <a:r>
              <a:rPr lang="en-US" sz="1050" spc="189" kern="0" dirty="0">
                <a:solidFill>
                  <a:srgbClr val="8B9BB3"/>
                </a:solidFill>
                <a:latin typeface="JetBrains Mono" pitchFamily="34" charset="0"/>
                <a:ea typeface="JetBrains Mono" pitchFamily="34" charset="-122"/>
                <a:cs typeface="JetBrains Mono" pitchFamily="34" charset="-120"/>
              </a:rPr>
              <a:t>Δ</a:t>
            </a:r>
            <a:endParaRPr lang="en-US" sz="1050" dirty="0"/>
          </a:p>
        </p:txBody>
      </p:sp>
      <p:sp>
        <p:nvSpPr>
          <p:cNvPr id="62" name="Text 52"/>
          <p:cNvSpPr txBox="1"/>
          <p:nvPr/>
        </p:nvSpPr>
        <p:spPr>
          <a:xfrm>
            <a:off x="14573707" y="5790895"/>
            <a:ext cx="2267712" cy="534010"/>
          </a:xfrm>
          <a:prstGeom prst="rect">
            <a:avLst/>
          </a:prstGeom>
          <a:noFill/>
          <a:ln/>
        </p:spPr>
        <p:txBody>
          <a:bodyPr wrap="none" lIns="0" tIns="0" rIns="0" bIns="0" rtlCol="0" anchor="ctr"/>
          <a:lstStyle/>
          <a:p>
            <a:pPr algn="l" indent="0" marL="0">
              <a:buNone/>
            </a:pPr>
            <a:r>
              <a:rPr lang="en-US" sz="3150" b="1" dirty="0">
                <a:solidFill>
                  <a:srgbClr val="FBBF24"/>
                </a:solidFill>
                <a:latin typeface="JetBrains Mono" pitchFamily="34" charset="0"/>
                <a:ea typeface="JetBrains Mono" pitchFamily="34" charset="-122"/>
                <a:cs typeface="JetBrains Mono" pitchFamily="34" charset="-120"/>
              </a:rPr>
              <a:t>−0.5</a:t>
            </a:r>
            <a:endParaRPr lang="en-US" sz="3150" dirty="0"/>
          </a:p>
        </p:txBody>
      </p:sp>
      <p:sp>
        <p:nvSpPr>
          <p:cNvPr id="63" name="Text 53"/>
          <p:cNvSpPr txBox="1"/>
          <p:nvPr/>
        </p:nvSpPr>
        <p:spPr>
          <a:xfrm>
            <a:off x="14573707" y="6324905"/>
            <a:ext cx="2267712"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vs 23.3</a:t>
            </a:r>
            <a:endParaRPr lang="en-US" sz="1050" dirty="0"/>
          </a:p>
        </p:txBody>
      </p:sp>
      <p:sp>
        <p:nvSpPr>
          <p:cNvPr id="64" name="Text 54"/>
          <p:cNvSpPr txBox="1"/>
          <p:nvPr/>
        </p:nvSpPr>
        <p:spPr>
          <a:xfrm>
            <a:off x="1447495" y="7372807"/>
            <a:ext cx="5715000" cy="181051"/>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Dose 응답성 — Mean drift vs Target</a:t>
            </a:r>
            <a:endParaRPr lang="en-US" sz="975" dirty="0"/>
          </a:p>
        </p:txBody>
      </p:sp>
      <p:sp>
        <p:nvSpPr>
          <p:cNvPr id="65" name="Text 55"/>
          <p:cNvSpPr txBox="1"/>
          <p:nvPr/>
        </p:nvSpPr>
        <p:spPr>
          <a:xfrm>
            <a:off x="15430500" y="8115300"/>
            <a:ext cx="1334110" cy="228600"/>
          </a:xfrm>
          <a:prstGeom prst="rect">
            <a:avLst/>
          </a:prstGeom>
          <a:noFill/>
          <a:ln/>
        </p:spPr>
        <p:txBody>
          <a:bodyPr wrap="none" lIns="0" tIns="0" rIns="0" bIns="0" rtlCol="0" anchor="ctr"/>
          <a:lstStyle/>
          <a:p>
            <a:pPr algn="r" indent="0" marL="0">
              <a:buNone/>
            </a:pPr>
            <a:r>
              <a:rPr lang="en-US" sz="900" dirty="0">
                <a:solidFill>
                  <a:srgbClr val="5F7191"/>
                </a:solidFill>
                <a:latin typeface="JetBrains Mono" pitchFamily="34" charset="0"/>
                <a:ea typeface="JetBrains Mono" pitchFamily="34" charset="-122"/>
                <a:cs typeface="JetBrains Mono" pitchFamily="34" charset="-120"/>
              </a:rPr>
              <a:t>target 23.3</a:t>
            </a:r>
            <a:endParaRPr lang="en-US" sz="1200" dirty="0"/>
          </a:p>
        </p:txBody>
      </p:sp>
      <p:sp>
        <p:nvSpPr>
          <p:cNvPr id="66" name="Text 56"/>
          <p:cNvSpPr txBox="1"/>
          <p:nvPr/>
        </p:nvSpPr>
        <p:spPr>
          <a:xfrm>
            <a:off x="2971800" y="8667598"/>
            <a:ext cx="1143000" cy="228600"/>
          </a:xfrm>
          <a:prstGeom prst="rect">
            <a:avLst/>
          </a:prstGeom>
          <a:noFill/>
          <a:ln/>
        </p:spPr>
        <p:txBody>
          <a:bodyPr wrap="none" lIns="0" tIns="0" rIns="0" bIns="0" rtlCol="0" anchor="ctr"/>
          <a:lstStyle/>
          <a:p>
            <a:pPr algn="ctr" indent="0" marL="0">
              <a:buNone/>
            </a:pPr>
            <a:r>
              <a:rPr lang="en-US" sz="1200" dirty="0">
                <a:solidFill>
                  <a:srgbClr val="38BDF8"/>
                </a:solidFill>
                <a:latin typeface="JetBrains Mono" pitchFamily="34" charset="0"/>
                <a:ea typeface="JetBrains Mono" pitchFamily="34" charset="-122"/>
                <a:cs typeface="JetBrains Mono" pitchFamily="34" charset="-120"/>
              </a:rPr>
              <a:t>23.4</a:t>
            </a:r>
            <a:endParaRPr lang="en-US" sz="1200" dirty="0"/>
          </a:p>
        </p:txBody>
      </p:sp>
      <p:sp>
        <p:nvSpPr>
          <p:cNvPr id="67" name="Text 57"/>
          <p:cNvSpPr txBox="1"/>
          <p:nvPr/>
        </p:nvSpPr>
        <p:spPr>
          <a:xfrm>
            <a:off x="8305495" y="8667598"/>
            <a:ext cx="1143000" cy="228600"/>
          </a:xfrm>
          <a:prstGeom prst="rect">
            <a:avLst/>
          </a:prstGeom>
          <a:noFill/>
          <a:ln/>
        </p:spPr>
        <p:txBody>
          <a:bodyPr wrap="none" lIns="0" tIns="0" rIns="0" bIns="0" rtlCol="0" anchor="ctr"/>
          <a:lstStyle/>
          <a:p>
            <a:pPr algn="ctr" indent="0" marL="0">
              <a:buNone/>
            </a:pPr>
            <a:r>
              <a:rPr lang="en-US" sz="1200" dirty="0">
                <a:solidFill>
                  <a:srgbClr val="14B8A6"/>
                </a:solidFill>
                <a:latin typeface="JetBrains Mono" pitchFamily="34" charset="0"/>
                <a:ea typeface="JetBrains Mono" pitchFamily="34" charset="-122"/>
                <a:cs typeface="JetBrains Mono" pitchFamily="34" charset="-120"/>
              </a:rPr>
              <a:t>23.1</a:t>
            </a:r>
            <a:endParaRPr lang="en-US" sz="1200" dirty="0"/>
          </a:p>
        </p:txBody>
      </p:sp>
      <p:sp>
        <p:nvSpPr>
          <p:cNvPr id="68" name="Text 58"/>
          <p:cNvSpPr txBox="1"/>
          <p:nvPr/>
        </p:nvSpPr>
        <p:spPr>
          <a:xfrm>
            <a:off x="13640105" y="8667598"/>
            <a:ext cx="1143000" cy="228600"/>
          </a:xfrm>
          <a:prstGeom prst="rect">
            <a:avLst/>
          </a:prstGeom>
          <a:noFill/>
          <a:ln/>
        </p:spPr>
        <p:txBody>
          <a:bodyPr wrap="none" lIns="0" tIns="0" rIns="0" bIns="0" rtlCol="0" anchor="ctr"/>
          <a:lstStyle/>
          <a:p>
            <a:pPr algn="ctr" indent="0" marL="0">
              <a:buNone/>
            </a:pPr>
            <a:r>
              <a:rPr lang="en-US" sz="1200" dirty="0">
                <a:solidFill>
                  <a:srgbClr val="FBBF24"/>
                </a:solidFill>
                <a:latin typeface="JetBrains Mono" pitchFamily="34" charset="0"/>
                <a:ea typeface="JetBrains Mono" pitchFamily="34" charset="-122"/>
                <a:cs typeface="JetBrains Mono" pitchFamily="34" charset="-120"/>
              </a:rPr>
              <a:t>22.8</a:t>
            </a:r>
            <a:endParaRPr lang="en-US" sz="1200" dirty="0"/>
          </a:p>
        </p:txBody>
      </p:sp>
      <p:sp>
        <p:nvSpPr>
          <p:cNvPr id="69" name="Text 59"/>
          <p:cNvSpPr txBox="1"/>
          <p:nvPr/>
        </p:nvSpPr>
        <p:spPr>
          <a:xfrm>
            <a:off x="1447495"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22.0</a:t>
            </a:r>
            <a:endParaRPr lang="en-US" sz="900" dirty="0"/>
          </a:p>
        </p:txBody>
      </p:sp>
      <p:sp>
        <p:nvSpPr>
          <p:cNvPr id="70" name="Text 60"/>
          <p:cNvSpPr txBox="1"/>
          <p:nvPr/>
        </p:nvSpPr>
        <p:spPr>
          <a:xfrm>
            <a:off x="3585362"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22.3</a:t>
            </a:r>
            <a:endParaRPr lang="en-US" sz="900" dirty="0"/>
          </a:p>
        </p:txBody>
      </p:sp>
      <p:sp>
        <p:nvSpPr>
          <p:cNvPr id="71" name="Text 61"/>
          <p:cNvSpPr txBox="1"/>
          <p:nvPr/>
        </p:nvSpPr>
        <p:spPr>
          <a:xfrm>
            <a:off x="5723230"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22.6</a:t>
            </a:r>
            <a:endParaRPr lang="en-US" sz="900" dirty="0"/>
          </a:p>
        </p:txBody>
      </p:sp>
      <p:sp>
        <p:nvSpPr>
          <p:cNvPr id="72" name="Text 62"/>
          <p:cNvSpPr txBox="1"/>
          <p:nvPr/>
        </p:nvSpPr>
        <p:spPr>
          <a:xfrm>
            <a:off x="7861097"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23.0</a:t>
            </a:r>
            <a:endParaRPr lang="en-US" sz="900" dirty="0"/>
          </a:p>
        </p:txBody>
      </p:sp>
      <p:sp>
        <p:nvSpPr>
          <p:cNvPr id="73" name="Text 63"/>
          <p:cNvSpPr txBox="1"/>
          <p:nvPr/>
        </p:nvSpPr>
        <p:spPr>
          <a:xfrm>
            <a:off x="9999878"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23.3</a:t>
            </a:r>
            <a:endParaRPr lang="en-US" sz="900" dirty="0"/>
          </a:p>
        </p:txBody>
      </p:sp>
      <p:sp>
        <p:nvSpPr>
          <p:cNvPr id="74" name="Text 64"/>
          <p:cNvSpPr txBox="1"/>
          <p:nvPr/>
        </p:nvSpPr>
        <p:spPr>
          <a:xfrm>
            <a:off x="12137746"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23.6</a:t>
            </a:r>
            <a:endParaRPr lang="en-US" sz="900" dirty="0"/>
          </a:p>
        </p:txBody>
      </p:sp>
      <p:sp>
        <p:nvSpPr>
          <p:cNvPr id="75" name="Text 65"/>
          <p:cNvSpPr txBox="1"/>
          <p:nvPr/>
        </p:nvSpPr>
        <p:spPr>
          <a:xfrm>
            <a:off x="14275613"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24.0</a:t>
            </a:r>
            <a:endParaRPr lang="en-US" sz="900" dirty="0"/>
          </a:p>
        </p:txBody>
      </p:sp>
      <p:sp>
        <p:nvSpPr>
          <p:cNvPr id="76" name="Text 66"/>
          <p:cNvSpPr txBox="1"/>
          <p:nvPr/>
        </p:nvSpPr>
        <p:spPr>
          <a:xfrm>
            <a:off x="16413480" y="7791602"/>
            <a:ext cx="277063" cy="152705"/>
          </a:xfrm>
          <a:prstGeom prst="rect">
            <a:avLst/>
          </a:prstGeom>
          <a:noFill/>
          <a:ln/>
        </p:spPr>
        <p:txBody>
          <a:bodyPr wrap="none" lIns="0" tIns="0" rIns="0" bIns="0" rtlCol="0" anchor="ctr"/>
          <a:lstStyle/>
          <a:p>
            <a:pPr algn="l" indent="0" marL="0">
              <a:buNone/>
            </a:pPr>
            <a:r>
              <a:rPr lang="en-US" sz="900" dirty="0">
                <a:solidFill>
                  <a:srgbClr val="5F7191"/>
                </a:solidFill>
                <a:latin typeface="JetBrains Mono" pitchFamily="34" charset="0"/>
                <a:ea typeface="JetBrains Mono" pitchFamily="34" charset="-122"/>
                <a:cs typeface="JetBrains Mono" pitchFamily="34" charset="-120"/>
              </a:rPr>
              <a:t>24.3</a:t>
            </a:r>
            <a:endParaRPr lang="en-US" sz="900" dirty="0"/>
          </a:p>
        </p:txBody>
      </p:sp>
      <p:sp>
        <p:nvSpPr>
          <p:cNvPr id="77" name="Text 67"/>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Under-shot으로 dose-증가가 mean을 평균 0.3 nm 감소시키고, range는 1.9 → 3.8 nm로 2배 확장된다.</a:t>
            </a:r>
            <a:endParaRPr lang="en-US" sz="1200" dirty="0"/>
          </a:p>
        </p:txBody>
      </p:sp>
      <p:sp>
        <p:nvSpPr>
          <p:cNvPr id="78" name="Text 68"/>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pic>
        <p:nvPicPr>
          <p:cNvPr id="4" name="Image 1" descr="gen-dedup-4e554304bcf062d26d243b7684dd6d3f.png">    </p:cNvPr>
          <p:cNvPicPr>
            <a:picLocks noChangeAspect="1"/>
          </p:cNvPicPr>
          <p:nvPr/>
        </p:nvPicPr>
        <p:blipFill>
          <a:blip r:embed="rId2"/>
          <a:srcRect l="-400" r="-400" t="0" b="0"/>
          <a:stretch/>
        </p:blipFill>
        <p:spPr>
          <a:xfrm>
            <a:off x="0" y="2286000"/>
            <a:ext cx="57607" cy="5715000"/>
          </a:xfrm>
          <a:prstGeom prst="rect">
            <a:avLst/>
          </a:prstGeom>
        </p:spPr>
      </p:pic>
      <p:sp>
        <p:nvSpPr>
          <p:cNvPr id="5" name="Shape 0"/>
          <p:cNvSpPr/>
          <p:nvPr/>
        </p:nvSpPr>
        <p:spPr>
          <a:xfrm>
            <a:off x="10096805" y="3238805"/>
            <a:ext cx="7067398" cy="3029407"/>
          </a:xfrm>
          <a:prstGeom prst="rect">
            <a:avLst/>
          </a:prstGeom>
          <a:solidFill>
            <a:srgbClr val="142039"/>
          </a:solidFill>
          <a:ln w="12700">
            <a:solidFill>
              <a:srgbClr val="1F2D49"/>
            </a:solidFill>
            <a:prstDash val="solid"/>
          </a:ln>
        </p:spPr>
      </p:sp>
      <p:sp>
        <p:nvSpPr>
          <p:cNvPr id="6" name="Shape 1"/>
          <p:cNvSpPr/>
          <p:nvPr/>
        </p:nvSpPr>
        <p:spPr>
          <a:xfrm>
            <a:off x="1143000" y="6381598"/>
            <a:ext cx="8020202" cy="2686507"/>
          </a:xfrm>
          <a:prstGeom prst="rect">
            <a:avLst/>
          </a:prstGeom>
          <a:solidFill>
            <a:srgbClr val="1A2742"/>
          </a:solidFill>
          <a:ln w="12700">
            <a:solidFill>
              <a:srgbClr val="2A3D5F"/>
            </a:solidFill>
            <a:prstDash val="solid"/>
          </a:ln>
        </p:spPr>
      </p:sp>
      <p:sp>
        <p:nvSpPr>
          <p:cNvPr id="7" name="Shape 2"/>
          <p:cNvSpPr/>
          <p:nvPr/>
        </p:nvSpPr>
        <p:spPr>
          <a:xfrm>
            <a:off x="9525305" y="6381598"/>
            <a:ext cx="7667244" cy="2686507"/>
          </a:xfrm>
          <a:prstGeom prst="rect">
            <a:avLst/>
          </a:prstGeom>
          <a:solidFill>
            <a:srgbClr val="142039"/>
          </a:solidFill>
          <a:ln w="12700">
            <a:solidFill>
              <a:srgbClr val="1F2D49"/>
            </a:solidFill>
            <a:prstDash val="solid"/>
          </a:ln>
        </p:spPr>
      </p:sp>
      <p:sp>
        <p:nvSpPr>
          <p:cNvPr id="8" name="Shape 3"/>
          <p:cNvSpPr/>
          <p:nvPr/>
        </p:nvSpPr>
        <p:spPr>
          <a:xfrm>
            <a:off x="9525305" y="6381598"/>
            <a:ext cx="38405" cy="2686507"/>
          </a:xfrm>
          <a:prstGeom prst="rect">
            <a:avLst/>
          </a:prstGeom>
          <a:solidFill>
            <a:srgbClr val="FBBF24"/>
          </a:solidFill>
          <a:ln w="12700">
            <a:solidFill>
              <a:srgbClr val="FBBF24">
                <a:alpha val="0"/>
              </a:srgbClr>
            </a:solidFill>
            <a:prstDash val="solid"/>
          </a:ln>
        </p:spPr>
      </p:sp>
      <p:sp>
        <p:nvSpPr>
          <p:cNvPr id="9" name="Shape 4"/>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0" name="Shape 5"/>
          <p:cNvSpPr/>
          <p:nvPr/>
        </p:nvSpPr>
        <p:spPr>
          <a:xfrm>
            <a:off x="1143000" y="9430207"/>
            <a:ext cx="28346" cy="495605"/>
          </a:xfrm>
          <a:prstGeom prst="rect">
            <a:avLst/>
          </a:prstGeom>
          <a:solidFill>
            <a:srgbClr val="14B8A6"/>
          </a:solidFill>
          <a:ln w="12700">
            <a:solidFill>
              <a:srgbClr val="14B8A6">
                <a:alpha val="0"/>
              </a:srgbClr>
            </a:solidFill>
            <a:prstDash val="solid"/>
          </a:ln>
        </p:spPr>
      </p:sp>
      <p:sp>
        <p:nvSpPr>
          <p:cNvPr id="11" name="Shape 6"/>
          <p:cNvSpPr/>
          <p:nvPr/>
        </p:nvSpPr>
        <p:spPr>
          <a:xfrm>
            <a:off x="10401300" y="4629607"/>
            <a:ext cx="5219395" cy="171907"/>
          </a:xfrm>
          <a:prstGeom prst="rect">
            <a:avLst/>
          </a:prstGeom>
          <a:solidFill>
            <a:srgbClr val="78A0DC">
              <a:alpha val="6000"/>
            </a:srgbClr>
          </a:solidFill>
          <a:ln w="12700">
            <a:solidFill>
              <a:srgbClr val="FFFFFF">
                <a:alpha val="0"/>
              </a:srgbClr>
            </a:solidFill>
            <a:prstDash val="solid"/>
          </a:ln>
        </p:spPr>
      </p:sp>
      <p:sp>
        <p:nvSpPr>
          <p:cNvPr id="12" name="Shape 7"/>
          <p:cNvSpPr/>
          <p:nvPr/>
        </p:nvSpPr>
        <p:spPr>
          <a:xfrm>
            <a:off x="10401300" y="5219395"/>
            <a:ext cx="5219395" cy="171907"/>
          </a:xfrm>
          <a:prstGeom prst="rect">
            <a:avLst/>
          </a:prstGeom>
          <a:solidFill>
            <a:srgbClr val="78A0DC">
              <a:alpha val="6000"/>
            </a:srgbClr>
          </a:solidFill>
          <a:ln w="12700">
            <a:solidFill>
              <a:srgbClr val="FFFFFF">
                <a:alpha val="0"/>
              </a:srgbClr>
            </a:solidFill>
            <a:prstDash val="solid"/>
          </a:ln>
        </p:spPr>
      </p:sp>
      <p:sp>
        <p:nvSpPr>
          <p:cNvPr id="13" name="Shape 8"/>
          <p:cNvSpPr/>
          <p:nvPr/>
        </p:nvSpPr>
        <p:spPr>
          <a:xfrm>
            <a:off x="10401300" y="5810098"/>
            <a:ext cx="5219395" cy="171907"/>
          </a:xfrm>
          <a:prstGeom prst="rect">
            <a:avLst/>
          </a:prstGeom>
          <a:solidFill>
            <a:srgbClr val="78A0DC">
              <a:alpha val="6000"/>
            </a:srgbClr>
          </a:solidFill>
          <a:ln w="12700">
            <a:solidFill>
              <a:srgbClr val="FFFFFF">
                <a:alpha val="0"/>
              </a:srgbClr>
            </a:solidFill>
            <a:prstDash val="solid"/>
          </a:ln>
        </p:spPr>
      </p:sp>
      <p:pic>
        <p:nvPicPr>
          <p:cNvPr id="14" name="Image 2" descr="gen-dedup-c63c56779567b740623b5f767a24e192.png">    </p:cNvPr>
          <p:cNvPicPr>
            <a:picLocks noChangeAspect="1"/>
          </p:cNvPicPr>
          <p:nvPr/>
        </p:nvPicPr>
        <p:blipFill>
          <a:blip r:embed="rId3"/>
          <a:srcRect l="0" r="0" t="-2089" b="-2089"/>
          <a:stretch/>
        </p:blipFill>
        <p:spPr>
          <a:xfrm>
            <a:off x="13010998" y="4496105"/>
            <a:ext cx="9144" cy="1619402"/>
          </a:xfrm>
          <a:prstGeom prst="rect">
            <a:avLst/>
          </a:prstGeom>
        </p:spPr>
      </p:pic>
      <p:sp>
        <p:nvSpPr>
          <p:cNvPr id="15" name="Shape 9"/>
          <p:cNvSpPr/>
          <p:nvPr/>
        </p:nvSpPr>
        <p:spPr>
          <a:xfrm>
            <a:off x="10401300" y="4629607"/>
            <a:ext cx="1143000" cy="171907"/>
          </a:xfrm>
          <a:prstGeom prst="rect">
            <a:avLst/>
          </a:prstGeom>
          <a:solidFill>
            <a:srgbClr val="38BDF8"/>
          </a:solidFill>
          <a:ln w="12700">
            <a:solidFill>
              <a:srgbClr val="FFFFFF">
                <a:alpha val="0"/>
              </a:srgbClr>
            </a:solidFill>
            <a:prstDash val="solid"/>
          </a:ln>
        </p:spPr>
      </p:sp>
      <p:sp>
        <p:nvSpPr>
          <p:cNvPr id="16" name="Shape 10"/>
          <p:cNvSpPr/>
          <p:nvPr/>
        </p:nvSpPr>
        <p:spPr>
          <a:xfrm>
            <a:off x="13010998" y="5219395"/>
            <a:ext cx="1143000" cy="171907"/>
          </a:xfrm>
          <a:prstGeom prst="rect">
            <a:avLst/>
          </a:prstGeom>
          <a:solidFill>
            <a:srgbClr val="14B8A6"/>
          </a:solidFill>
          <a:ln w="12700">
            <a:solidFill>
              <a:srgbClr val="FFFFFF">
                <a:alpha val="0"/>
              </a:srgbClr>
            </a:solidFill>
            <a:prstDash val="solid"/>
          </a:ln>
        </p:spPr>
      </p:sp>
      <p:sp>
        <p:nvSpPr>
          <p:cNvPr id="17" name="Shape 11"/>
          <p:cNvSpPr/>
          <p:nvPr/>
        </p:nvSpPr>
        <p:spPr>
          <a:xfrm>
            <a:off x="10401300" y="5810098"/>
            <a:ext cx="2857500" cy="171907"/>
          </a:xfrm>
          <a:prstGeom prst="rect">
            <a:avLst/>
          </a:prstGeom>
          <a:solidFill>
            <a:srgbClr val="FBBF24"/>
          </a:solidFill>
          <a:ln w="12700">
            <a:solidFill>
              <a:srgbClr val="FFFFFF">
                <a:alpha val="0"/>
              </a:srgbClr>
            </a:solidFill>
            <a:prstDash val="solid"/>
          </a:ln>
        </p:spPr>
      </p:sp>
      <p:sp>
        <p:nvSpPr>
          <p:cNvPr id="18" name="Text 12"/>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14B8A6"/>
                </a:solidFill>
                <a:latin typeface="JetBrains Mono" pitchFamily="34" charset="0"/>
                <a:ea typeface="JetBrains Mono" pitchFamily="34" charset="-122"/>
                <a:cs typeface="JetBrains Mono" pitchFamily="34" charset="-120"/>
              </a:rPr>
              <a:t>08 / ASEI · V1 post-spacer CD</a:t>
            </a:r>
            <a:endParaRPr lang="en-US" sz="1350" dirty="0"/>
          </a:p>
        </p:txBody>
      </p:sp>
      <p:sp>
        <p:nvSpPr>
          <p:cNvPr id="19" name="Text 13"/>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ASEI Linearity</a:t>
            </a:r>
            <a:endParaRPr lang="en-US" sz="4800" dirty="0"/>
          </a:p>
        </p:txBody>
      </p:sp>
      <p:sp>
        <p:nvSpPr>
          <p:cNvPr id="20" name="Text 14"/>
          <p:cNvSpPr txBox="1"/>
          <p:nvPr/>
        </p:nvSpPr>
        <p:spPr>
          <a:xfrm>
            <a:off x="1143000" y="2286000"/>
            <a:ext cx="11430000" cy="333756"/>
          </a:xfrm>
          <a:prstGeom prst="rect">
            <a:avLst/>
          </a:prstGeom>
          <a:noFill/>
          <a:ln/>
        </p:spPr>
        <p:txBody>
          <a:bodyPr wrap="none" lIns="0" tIns="0" rIns="0" bIns="0" rtlCol="0" anchor="ctr"/>
          <a:lstStyle/>
          <a:p>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Target </a:t>
            </a:r>
            <a:pPr algn="l" indent="0" marL="0">
              <a:buNone/>
            </a:pPr>
            <a:r>
              <a:rPr lang="en-US" sz="1800" dirty="0">
                <a:solidFill>
                  <a:srgbClr val="14B8A6"/>
                </a:solidFill>
                <a:latin typeface="JetBrains Mono" pitchFamily="34" charset="0"/>
                <a:ea typeface="JetBrains Mono" pitchFamily="34" charset="-122"/>
                <a:cs typeface="JetBrains Mono" pitchFamily="34" charset="-120"/>
              </a:rPr>
              <a:t>15.7 nm</a:t>
            </a:r>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 — spacer 식각 후 V1 CD, Δ 중심 비교.</a:t>
            </a:r>
            <a:endParaRPr lang="en-US" sz="1800" dirty="0"/>
          </a:p>
        </p:txBody>
      </p:sp>
      <p:pic>
        <p:nvPicPr>
          <p:cNvPr id="21" name="Image 3" descr="gen-dedup-be7fbb5d50ec76c4b7ebbea91e65b936.png">    </p:cNvPr>
          <p:cNvPicPr>
            <a:picLocks noChangeAspect="1"/>
          </p:cNvPicPr>
          <p:nvPr/>
        </p:nvPicPr>
        <p:blipFill>
          <a:blip r:embed="rId4"/>
          <a:srcRect l="-404" r="-404" t="0" b="0"/>
          <a:stretch/>
        </p:blipFill>
        <p:spPr>
          <a:xfrm>
            <a:off x="1143000" y="2819095"/>
            <a:ext cx="1143000" cy="28346"/>
          </a:xfrm>
          <a:prstGeom prst="rect">
            <a:avLst/>
          </a:prstGeom>
        </p:spPr>
      </p:pic>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143000" y="3238805"/>
          <a:ext cx="8572500" cy="2076602"/>
        </p:xfrm>
        <a:graphic>
          <a:graphicData uri="http://schemas.openxmlformats.org/drawingml/2006/table">
            <a:tbl>
              <a:tblPr/>
              <a:tblGrid>
                <a:gridCol w="2171700"/>
                <a:gridCol w="1758391"/>
                <a:gridCol w="1314907"/>
                <a:gridCol w="1667866"/>
                <a:gridCol w="1659636"/>
              </a:tblGrid>
              <a:tr h="519151">
                <a:tc>
                  <a:txBody>
                    <a:bodyPr/>
                    <a:lstStyle/>
                    <a:p>
                      <a:pPr algn="l" indent="0" marL="0">
                        <a:buNone/>
                      </a:pPr>
                      <a:r>
                        <a:rPr lang="en-US" sz="1050" b="1" dirty="0">
                          <a:solidFill>
                            <a:srgbClr val="8B9BB3"/>
                          </a:solidFill>
                          <a:latin typeface="JetBrains Mono" pitchFamily="34" charset="0"/>
                          <a:ea typeface="JetBrains Mono" pitchFamily="34" charset="-122"/>
                          <a:cs typeface="JetBrains Mono" pitchFamily="34" charset="-120"/>
                        </a:rPr>
                        <a:t>WAFER · DOSE</a:t>
                      </a:r>
                      <a:endParaRPr lang="en-US" sz="1050" dirty="0">
                        <a:latin typeface="JetBrains Mono" charset="0"/>
                        <a:ea typeface="JetBrains Mono" charset="0"/>
                        <a:cs typeface="JetBrains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MEAN</a:t>
                      </a:r>
                      <a:endParaRPr lang="en-US" sz="1050" dirty="0">
                        <a:latin typeface="JetBrains Mono" charset="0"/>
                        <a:ea typeface="JetBrains Mono" charset="0"/>
                        <a:cs typeface="JetBrains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3Σ</a:t>
                      </a:r>
                      <a:endParaRPr lang="en-US" sz="1050" dirty="0">
                        <a:latin typeface="JetBrains Mono" charset="0"/>
                        <a:ea typeface="JetBrains Mono" charset="0"/>
                        <a:cs typeface="JetBrains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RANGE</a:t>
                      </a:r>
                      <a:endParaRPr lang="en-US" sz="1050" dirty="0">
                        <a:latin typeface="JetBrains Mono" charset="0"/>
                        <a:ea typeface="JetBrains Mono" charset="0"/>
                        <a:cs typeface="JetBrains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Δ</a:t>
                      </a:r>
                      <a:endParaRPr lang="en-US" sz="1050" dirty="0">
                        <a:latin typeface="JetBrains Mono" charset="0"/>
                        <a:ea typeface="JetBrains Mono" charset="0"/>
                        <a:cs typeface="JetBrains Mono" charset="0"/>
                      </a:endParaRPr>
                    </a:p>
                  </a:txBody>
                  <a:tcPr marL="133502" marR="133502"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19151">
                <a:tc>
                  <a:txBody>
                    <a:bodyPr/>
                    <a:lstStyle/>
                    <a:p>
                      <a:pPr indent="0" marL="0">
                        <a:buNone/>
                      </a:pPr>
                      <a:r>
                        <a:rPr lang="en-US" sz="1350" dirty="0">
                          <a:solidFill>
                            <a:srgbClr val="38BDF8"/>
                          </a:solidFill>
                          <a:latin typeface="JetBrains Mono" pitchFamily="34" charset="0"/>
                          <a:ea typeface="JetBrains Mono" pitchFamily="34" charset="-122"/>
                          <a:cs typeface="JetBrains Mono" pitchFamily="34" charset="-120"/>
                        </a:rPr>
                        <a:t>W-01 · 19 mJ</a:t>
                      </a:r>
                      <a:endParaRPr lang="en-US" sz="135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15.5</a:t>
                      </a:r>
                      <a:endParaRPr lang="en-US" sz="18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0.5</a:t>
                      </a:r>
                      <a:endParaRPr lang="en-US" sz="15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1.3</a:t>
                      </a:r>
                      <a:endParaRPr lang="en-US" sz="15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650" b="1" dirty="0">
                          <a:solidFill>
                            <a:srgbClr val="E8EDF5"/>
                          </a:solidFill>
                          <a:latin typeface="JetBrains Mono" pitchFamily="34" charset="0"/>
                          <a:ea typeface="JetBrains Mono" pitchFamily="34" charset="-122"/>
                          <a:cs typeface="JetBrains Mono" pitchFamily="34" charset="-120"/>
                        </a:rPr>
                        <a:t>−0.2</a:t>
                      </a:r>
                      <a:endParaRPr lang="en-US" sz="165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r>
              <a:tr h="519151">
                <a:tc>
                  <a:txBody>
                    <a:bodyPr/>
                    <a:lstStyle/>
                    <a:p>
                      <a:pPr indent="0" marL="0">
                        <a:buNone/>
                      </a:pPr>
                      <a:r>
                        <a:rPr lang="en-US" sz="1350" dirty="0">
                          <a:solidFill>
                            <a:srgbClr val="14B8A6"/>
                          </a:solidFill>
                          <a:latin typeface="JetBrains Mono" pitchFamily="34" charset="0"/>
                          <a:ea typeface="JetBrains Mono" pitchFamily="34" charset="-122"/>
                          <a:cs typeface="JetBrains Mono" pitchFamily="34" charset="-120"/>
                        </a:rPr>
                        <a:t>W-02 · 28 mJ</a:t>
                      </a:r>
                      <a:endParaRPr lang="en-US" sz="135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15.9</a:t>
                      </a:r>
                      <a:endParaRPr lang="en-US" sz="18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0.8</a:t>
                      </a:r>
                      <a:endParaRPr lang="en-US" sz="15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2.1</a:t>
                      </a:r>
                      <a:endParaRPr lang="en-US" sz="15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650" b="1" dirty="0">
                          <a:solidFill>
                            <a:srgbClr val="34D399"/>
                          </a:solidFill>
                          <a:latin typeface="JetBrains Mono" pitchFamily="34" charset="0"/>
                          <a:ea typeface="JetBrains Mono" pitchFamily="34" charset="-122"/>
                          <a:cs typeface="JetBrains Mono" pitchFamily="34" charset="-120"/>
                        </a:rPr>
                        <a:t>+0.2</a:t>
                      </a:r>
                      <a:endParaRPr lang="en-US" sz="165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r>
              <a:tr h="519151">
                <a:tc>
                  <a:txBody>
                    <a:bodyPr/>
                    <a:lstStyle/>
                    <a:p>
                      <a:pPr indent="0" marL="0">
                        <a:buNone/>
                      </a:pPr>
                      <a:r>
                        <a:rPr lang="en-US" sz="1350" dirty="0">
                          <a:solidFill>
                            <a:srgbClr val="FBBF24"/>
                          </a:solidFill>
                          <a:latin typeface="JetBrains Mono" pitchFamily="34" charset="0"/>
                          <a:ea typeface="JetBrains Mono" pitchFamily="34" charset="-122"/>
                          <a:cs typeface="JetBrains Mono" pitchFamily="34" charset="-120"/>
                        </a:rPr>
                        <a:t>W-03 · 38 mJ</a:t>
                      </a:r>
                      <a:endParaRPr lang="en-US" sz="135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15.2</a:t>
                      </a:r>
                      <a:endParaRPr lang="en-US" sz="18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1.6</a:t>
                      </a:r>
                      <a:endParaRPr lang="en-US" sz="15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500" dirty="0">
                          <a:solidFill>
                            <a:srgbClr val="B7C4D6"/>
                          </a:solidFill>
                          <a:latin typeface="JetBrains Mono" pitchFamily="34" charset="0"/>
                          <a:ea typeface="JetBrains Mono" pitchFamily="34" charset="-122"/>
                          <a:cs typeface="JetBrains Mono" pitchFamily="34" charset="-120"/>
                        </a:rPr>
                        <a:t>4.2</a:t>
                      </a:r>
                      <a:endParaRPr lang="en-US" sz="150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650" b="1" dirty="0">
                          <a:solidFill>
                            <a:srgbClr val="FBBF24"/>
                          </a:solidFill>
                          <a:latin typeface="JetBrains Mono" pitchFamily="34" charset="0"/>
                          <a:ea typeface="JetBrains Mono" pitchFamily="34" charset="-122"/>
                          <a:cs typeface="JetBrains Mono" pitchFamily="34" charset="-120"/>
                        </a:rPr>
                        <a:t>−0.5</a:t>
                      </a:r>
                      <a:endParaRPr lang="en-US" sz="1650" dirty="0">
                        <a:latin typeface="JetBrains Mono" charset="0"/>
                        <a:ea typeface="JetBrains Mono" charset="0"/>
                        <a:cs typeface="JetBrains Mono" charset="0"/>
                      </a:endParaRPr>
                    </a:p>
                  </a:txBody>
                  <a:tcPr marL="133502" marR="133502"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r>
            </a:tbl>
          </a:graphicData>
        </a:graphic>
      </p:graphicFrame>
      <p:sp>
        <p:nvSpPr>
          <p:cNvPr id="23" name="Text 15"/>
          <p:cNvSpPr txBox="1"/>
          <p:nvPr/>
        </p:nvSpPr>
        <p:spPr>
          <a:xfrm>
            <a:off x="10401300" y="3448202"/>
            <a:ext cx="6477610" cy="181051"/>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Δ 분포 (nm)</a:t>
            </a:r>
            <a:endParaRPr lang="en-US" sz="975" dirty="0"/>
          </a:p>
        </p:txBody>
      </p:sp>
      <p:sp>
        <p:nvSpPr>
          <p:cNvPr id="24" name="Text 16"/>
          <p:cNvSpPr txBox="1"/>
          <p:nvPr/>
        </p:nvSpPr>
        <p:spPr>
          <a:xfrm>
            <a:off x="10401300" y="3724351"/>
            <a:ext cx="6477610" cy="372161"/>
          </a:xfrm>
          <a:prstGeom prst="rect">
            <a:avLst/>
          </a:prstGeom>
          <a:noFill/>
          <a:ln/>
        </p:spPr>
        <p:txBody>
          <a:bodyPr wrap="none" lIns="0" tIns="0" rIns="0" bIns="0" rtlCol="0" anchor="ctr"/>
          <a:lstStyle/>
          <a:p>
            <a:pPr algn="l" indent="0" marL="0">
              <a:buNone/>
            </a:pPr>
            <a:r>
              <a:rPr lang="en-US" sz="2250" b="1" dirty="0">
                <a:solidFill>
                  <a:srgbClr val="E8EDF5"/>
                </a:solidFill>
                <a:latin typeface="Space Grotesk" pitchFamily="34" charset="0"/>
                <a:ea typeface="Space Grotesk" pitchFamily="34" charset="-122"/>
                <a:cs typeface="Space Grotesk" pitchFamily="34" charset="-120"/>
              </a:rPr>
              <a:t>Target ±0.5 nm band</a:t>
            </a:r>
            <a:endParaRPr lang="en-US" sz="2250" dirty="0"/>
          </a:p>
        </p:txBody>
      </p:sp>
      <p:sp>
        <p:nvSpPr>
          <p:cNvPr id="25" name="Text 17"/>
          <p:cNvSpPr txBox="1"/>
          <p:nvPr/>
        </p:nvSpPr>
        <p:spPr>
          <a:xfrm>
            <a:off x="15620695" y="4591202"/>
            <a:ext cx="762610" cy="238658"/>
          </a:xfrm>
          <a:prstGeom prst="rect">
            <a:avLst/>
          </a:prstGeom>
          <a:noFill/>
          <a:ln/>
        </p:spPr>
        <p:txBody>
          <a:bodyPr wrap="none" lIns="0" tIns="0" rIns="0" bIns="0" rtlCol="0" anchor="ctr"/>
          <a:lstStyle/>
          <a:p>
            <a:pPr algn="r" indent="0" marL="0">
              <a:buNone/>
            </a:pPr>
            <a:r>
              <a:rPr lang="en-US" sz="1350" b="1" dirty="0">
                <a:solidFill>
                  <a:srgbClr val="38BDF8"/>
                </a:solidFill>
                <a:latin typeface="JetBrains Mono" pitchFamily="34" charset="0"/>
                <a:ea typeface="JetBrains Mono" pitchFamily="34" charset="-122"/>
                <a:cs typeface="JetBrains Mono" pitchFamily="34" charset="-120"/>
              </a:rPr>
              <a:t>−0.2</a:t>
            </a:r>
            <a:endParaRPr lang="en-US" sz="1200" dirty="0"/>
          </a:p>
        </p:txBody>
      </p:sp>
      <p:sp>
        <p:nvSpPr>
          <p:cNvPr id="26" name="Text 18"/>
          <p:cNvSpPr txBox="1"/>
          <p:nvPr/>
        </p:nvSpPr>
        <p:spPr>
          <a:xfrm>
            <a:off x="10401300" y="4858207"/>
            <a:ext cx="1143000" cy="228600"/>
          </a:xfrm>
          <a:prstGeom prst="rect">
            <a:avLst/>
          </a:prstGeom>
          <a:noFill/>
          <a:ln/>
        </p:spPr>
        <p:txBody>
          <a:bodyPr wrap="none" lIns="0" tIns="0" rIns="0" bIns="0" rtlCol="0" anchor="ctr"/>
          <a:lstStyle/>
          <a:p>
            <a:pPr algn="l" indent="0" marL="0">
              <a:buNone/>
            </a:pPr>
            <a:r>
              <a:rPr lang="en-US" sz="1050" dirty="0">
                <a:solidFill>
                  <a:srgbClr val="8B9BB3"/>
                </a:solidFill>
                <a:latin typeface="JetBrains Mono" pitchFamily="34" charset="0"/>
                <a:ea typeface="JetBrains Mono" pitchFamily="34" charset="-122"/>
                <a:cs typeface="JetBrains Mono" pitchFamily="34" charset="-120"/>
              </a:rPr>
              <a:t>W-01</a:t>
            </a:r>
            <a:endParaRPr lang="en-US" sz="1200" dirty="0"/>
          </a:p>
        </p:txBody>
      </p:sp>
      <p:sp>
        <p:nvSpPr>
          <p:cNvPr id="27" name="Text 19"/>
          <p:cNvSpPr txBox="1"/>
          <p:nvPr/>
        </p:nvSpPr>
        <p:spPr>
          <a:xfrm>
            <a:off x="15620695" y="5181905"/>
            <a:ext cx="762610" cy="238658"/>
          </a:xfrm>
          <a:prstGeom prst="rect">
            <a:avLst/>
          </a:prstGeom>
          <a:noFill/>
          <a:ln/>
        </p:spPr>
        <p:txBody>
          <a:bodyPr wrap="none" lIns="0" tIns="0" rIns="0" bIns="0" rtlCol="0" anchor="ctr"/>
          <a:lstStyle/>
          <a:p>
            <a:pPr algn="r" indent="0" marL="0">
              <a:buNone/>
            </a:pPr>
            <a:r>
              <a:rPr lang="en-US" sz="1350" b="1" dirty="0">
                <a:solidFill>
                  <a:srgbClr val="14B8A6"/>
                </a:solidFill>
                <a:latin typeface="JetBrains Mono" pitchFamily="34" charset="0"/>
                <a:ea typeface="JetBrains Mono" pitchFamily="34" charset="-122"/>
                <a:cs typeface="JetBrains Mono" pitchFamily="34" charset="-120"/>
              </a:rPr>
              <a:t>+0.2</a:t>
            </a:r>
            <a:endParaRPr lang="en-US" sz="1200" dirty="0"/>
          </a:p>
        </p:txBody>
      </p:sp>
      <p:sp>
        <p:nvSpPr>
          <p:cNvPr id="28" name="Text 20"/>
          <p:cNvSpPr txBox="1"/>
          <p:nvPr/>
        </p:nvSpPr>
        <p:spPr>
          <a:xfrm>
            <a:off x="10401300" y="5447995"/>
            <a:ext cx="1143000" cy="228600"/>
          </a:xfrm>
          <a:prstGeom prst="rect">
            <a:avLst/>
          </a:prstGeom>
          <a:noFill/>
          <a:ln/>
        </p:spPr>
        <p:txBody>
          <a:bodyPr wrap="none" lIns="0" tIns="0" rIns="0" bIns="0" rtlCol="0" anchor="ctr"/>
          <a:lstStyle/>
          <a:p>
            <a:pPr algn="l" indent="0" marL="0">
              <a:buNone/>
            </a:pPr>
            <a:r>
              <a:rPr lang="en-US" sz="1050" dirty="0">
                <a:solidFill>
                  <a:srgbClr val="8B9BB3"/>
                </a:solidFill>
                <a:latin typeface="JetBrains Mono" pitchFamily="34" charset="0"/>
                <a:ea typeface="JetBrains Mono" pitchFamily="34" charset="-122"/>
                <a:cs typeface="JetBrains Mono" pitchFamily="34" charset="-120"/>
              </a:rPr>
              <a:t>W-02</a:t>
            </a:r>
            <a:endParaRPr lang="en-US" sz="1200" dirty="0"/>
          </a:p>
        </p:txBody>
      </p:sp>
      <p:sp>
        <p:nvSpPr>
          <p:cNvPr id="29" name="Text 21"/>
          <p:cNvSpPr txBox="1"/>
          <p:nvPr/>
        </p:nvSpPr>
        <p:spPr>
          <a:xfrm>
            <a:off x="15620695" y="5772607"/>
            <a:ext cx="762610" cy="238658"/>
          </a:xfrm>
          <a:prstGeom prst="rect">
            <a:avLst/>
          </a:prstGeom>
          <a:noFill/>
          <a:ln/>
        </p:spPr>
        <p:txBody>
          <a:bodyPr wrap="none" lIns="0" tIns="0" rIns="0" bIns="0" rtlCol="0" anchor="ctr"/>
          <a:lstStyle/>
          <a:p>
            <a:pPr algn="r" indent="0" marL="0">
              <a:buNone/>
            </a:pPr>
            <a:r>
              <a:rPr lang="en-US" sz="1350" b="1" dirty="0">
                <a:solidFill>
                  <a:srgbClr val="FBBF24"/>
                </a:solidFill>
                <a:latin typeface="JetBrains Mono" pitchFamily="34" charset="0"/>
                <a:ea typeface="JetBrains Mono" pitchFamily="34" charset="-122"/>
                <a:cs typeface="JetBrains Mono" pitchFamily="34" charset="-120"/>
              </a:rPr>
              <a:t>−0.5</a:t>
            </a:r>
            <a:endParaRPr lang="en-US" sz="1200" dirty="0"/>
          </a:p>
        </p:txBody>
      </p:sp>
      <p:sp>
        <p:nvSpPr>
          <p:cNvPr id="30" name="Text 22"/>
          <p:cNvSpPr txBox="1"/>
          <p:nvPr/>
        </p:nvSpPr>
        <p:spPr>
          <a:xfrm>
            <a:off x="10401300" y="6019495"/>
            <a:ext cx="1143000" cy="228600"/>
          </a:xfrm>
          <a:prstGeom prst="rect">
            <a:avLst/>
          </a:prstGeom>
          <a:noFill/>
          <a:ln/>
        </p:spPr>
        <p:txBody>
          <a:bodyPr wrap="none" lIns="0" tIns="0" rIns="0" bIns="0" rtlCol="0" anchor="ctr"/>
          <a:lstStyle/>
          <a:p>
            <a:pPr algn="l" indent="0" marL="0">
              <a:buNone/>
            </a:pPr>
            <a:r>
              <a:rPr lang="en-US" sz="1050" dirty="0">
                <a:solidFill>
                  <a:srgbClr val="8B9BB3"/>
                </a:solidFill>
                <a:latin typeface="JetBrains Mono" pitchFamily="34" charset="0"/>
                <a:ea typeface="JetBrains Mono" pitchFamily="34" charset="-122"/>
                <a:cs typeface="JetBrains Mono" pitchFamily="34" charset="-120"/>
              </a:rPr>
              <a:t>W-03</a:t>
            </a:r>
            <a:endParaRPr lang="en-US" sz="1200" dirty="0"/>
          </a:p>
        </p:txBody>
      </p:sp>
      <p:sp>
        <p:nvSpPr>
          <p:cNvPr id="31" name="Text 23"/>
          <p:cNvSpPr txBox="1"/>
          <p:nvPr/>
        </p:nvSpPr>
        <p:spPr>
          <a:xfrm>
            <a:off x="1447495" y="6610198"/>
            <a:ext cx="7429500" cy="181051"/>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Range 스케일링</a:t>
            </a:r>
            <a:endParaRPr lang="en-US" sz="975" dirty="0"/>
          </a:p>
        </p:txBody>
      </p:sp>
      <p:sp>
        <p:nvSpPr>
          <p:cNvPr id="32" name="Text 24"/>
          <p:cNvSpPr txBox="1"/>
          <p:nvPr/>
        </p:nvSpPr>
        <p:spPr>
          <a:xfrm>
            <a:off x="1447495" y="7048195"/>
            <a:ext cx="1905610" cy="277063"/>
          </a:xfrm>
          <a:prstGeom prst="rect">
            <a:avLst/>
          </a:prstGeom>
          <a:noFill/>
          <a:ln/>
        </p:spPr>
        <p:txBody>
          <a:bodyPr wrap="squar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W-01 range</a:t>
            </a:r>
            <a:endParaRPr lang="en-US" sz="1200" dirty="0"/>
          </a:p>
        </p:txBody>
      </p:sp>
      <p:sp>
        <p:nvSpPr>
          <p:cNvPr id="33" name="Text 25"/>
          <p:cNvSpPr txBox="1"/>
          <p:nvPr/>
        </p:nvSpPr>
        <p:spPr>
          <a:xfrm>
            <a:off x="3353105" y="7048195"/>
            <a:ext cx="5524805" cy="277063"/>
          </a:xfrm>
          <a:prstGeom prst="rect">
            <a:avLst/>
          </a:prstGeom>
          <a:noFill/>
          <a:ln/>
        </p:spPr>
        <p:txBody>
          <a:bodyPr wrap="none" lIns="0" tIns="0" rIns="0" bIns="0" rtlCol="0" anchor="ctr"/>
          <a:lstStyle/>
          <a:p>
            <a:pPr algn="l" indent="0" marL="0">
              <a:buNone/>
            </a:pPr>
            <a:r>
              <a:rPr lang="en-US" sz="1650" b="1" dirty="0">
                <a:solidFill>
                  <a:srgbClr val="E8EDF5"/>
                </a:solidFill>
                <a:latin typeface="JetBrains Mono" pitchFamily="34" charset="0"/>
                <a:ea typeface="JetBrains Mono" pitchFamily="34" charset="-122"/>
                <a:cs typeface="JetBrains Mono" pitchFamily="34" charset="-120"/>
              </a:rPr>
              <a:t>1.3 nm</a:t>
            </a:r>
            <a:endParaRPr lang="en-US" sz="1650" dirty="0"/>
          </a:p>
        </p:txBody>
      </p:sp>
      <p:sp>
        <p:nvSpPr>
          <p:cNvPr id="34" name="Text 26"/>
          <p:cNvSpPr txBox="1"/>
          <p:nvPr/>
        </p:nvSpPr>
        <p:spPr>
          <a:xfrm>
            <a:off x="1447495" y="7477049"/>
            <a:ext cx="1905610" cy="277063"/>
          </a:xfrm>
          <a:prstGeom prst="rect">
            <a:avLst/>
          </a:prstGeom>
          <a:noFill/>
          <a:ln/>
        </p:spPr>
        <p:txBody>
          <a:bodyPr wrap="squar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W-02 range</a:t>
            </a:r>
            <a:endParaRPr lang="en-US" sz="1200" dirty="0"/>
          </a:p>
        </p:txBody>
      </p:sp>
      <p:sp>
        <p:nvSpPr>
          <p:cNvPr id="35" name="Text 27"/>
          <p:cNvSpPr txBox="1"/>
          <p:nvPr/>
        </p:nvSpPr>
        <p:spPr>
          <a:xfrm>
            <a:off x="3353105" y="7477049"/>
            <a:ext cx="5524805" cy="277063"/>
          </a:xfrm>
          <a:prstGeom prst="rect">
            <a:avLst/>
          </a:prstGeom>
          <a:noFill/>
          <a:ln/>
        </p:spPr>
        <p:txBody>
          <a:bodyPr wrap="none" lIns="0" tIns="0" rIns="0" bIns="0" rtlCol="0" anchor="ctr"/>
          <a:lstStyle/>
          <a:p>
            <a:pPr algn="l" indent="0" marL="0">
              <a:buNone/>
            </a:pPr>
            <a:r>
              <a:rPr lang="en-US" sz="1650" b="1" dirty="0">
                <a:solidFill>
                  <a:srgbClr val="E8EDF5"/>
                </a:solidFill>
                <a:latin typeface="JetBrains Mono" pitchFamily="34" charset="0"/>
                <a:ea typeface="JetBrains Mono" pitchFamily="34" charset="-122"/>
                <a:cs typeface="JetBrains Mono" pitchFamily="34" charset="-120"/>
              </a:rPr>
              <a:t>2.1 nm</a:t>
            </a:r>
            <a:endParaRPr lang="en-US" sz="1650" dirty="0"/>
          </a:p>
        </p:txBody>
      </p:sp>
      <p:sp>
        <p:nvSpPr>
          <p:cNvPr id="36" name="Text 28"/>
          <p:cNvSpPr txBox="1"/>
          <p:nvPr/>
        </p:nvSpPr>
        <p:spPr>
          <a:xfrm>
            <a:off x="1447495" y="7905902"/>
            <a:ext cx="1905610" cy="277063"/>
          </a:xfrm>
          <a:prstGeom prst="rect">
            <a:avLst/>
          </a:prstGeom>
          <a:noFill/>
          <a:ln/>
        </p:spPr>
        <p:txBody>
          <a:bodyPr wrap="squar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W-03 range</a:t>
            </a:r>
            <a:endParaRPr lang="en-US" sz="1200" dirty="0"/>
          </a:p>
        </p:txBody>
      </p:sp>
      <p:sp>
        <p:nvSpPr>
          <p:cNvPr id="37" name="Text 29"/>
          <p:cNvSpPr txBox="1"/>
          <p:nvPr/>
        </p:nvSpPr>
        <p:spPr>
          <a:xfrm>
            <a:off x="3353105" y="7905902"/>
            <a:ext cx="5524805" cy="277063"/>
          </a:xfrm>
          <a:prstGeom prst="rect">
            <a:avLst/>
          </a:prstGeom>
          <a:noFill/>
          <a:ln/>
        </p:spPr>
        <p:txBody>
          <a:bodyPr wrap="none" lIns="0" tIns="0" rIns="0" bIns="0" rtlCol="0" anchor="ctr"/>
          <a:lstStyle/>
          <a:p>
            <a:pPr algn="l" indent="0" marL="0">
              <a:buNone/>
            </a:pPr>
            <a:r>
              <a:rPr lang="en-US" sz="1650" b="1" dirty="0">
                <a:solidFill>
                  <a:srgbClr val="FBBF24"/>
                </a:solidFill>
                <a:latin typeface="JetBrains Mono" pitchFamily="34" charset="0"/>
                <a:ea typeface="JetBrains Mono" pitchFamily="34" charset="-122"/>
                <a:cs typeface="JetBrains Mono" pitchFamily="34" charset="-120"/>
              </a:rPr>
              <a:t>4.2 nm</a:t>
            </a:r>
            <a:endParaRPr lang="en-US" sz="1650" dirty="0"/>
          </a:p>
        </p:txBody>
      </p:sp>
      <p:sp>
        <p:nvSpPr>
          <p:cNvPr id="38" name="Text 30"/>
          <p:cNvSpPr txBox="1"/>
          <p:nvPr/>
        </p:nvSpPr>
        <p:spPr>
          <a:xfrm>
            <a:off x="1447495" y="8334756"/>
            <a:ext cx="1905610" cy="277063"/>
          </a:xfrm>
          <a:prstGeom prst="rect">
            <a:avLst/>
          </a:prstGeom>
          <a:noFill/>
          <a:ln/>
        </p:spPr>
        <p:txBody>
          <a:bodyPr wrap="squar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W-01 → W-03 ratio</a:t>
            </a:r>
            <a:endParaRPr lang="en-US" sz="1200" dirty="0"/>
          </a:p>
        </p:txBody>
      </p:sp>
      <p:sp>
        <p:nvSpPr>
          <p:cNvPr id="39" name="Text 31"/>
          <p:cNvSpPr txBox="1"/>
          <p:nvPr/>
        </p:nvSpPr>
        <p:spPr>
          <a:xfrm>
            <a:off x="3353105" y="8334756"/>
            <a:ext cx="5524805" cy="277063"/>
          </a:xfrm>
          <a:prstGeom prst="rect">
            <a:avLst/>
          </a:prstGeom>
          <a:noFill/>
          <a:ln/>
        </p:spPr>
        <p:txBody>
          <a:bodyPr wrap="none" lIns="0" tIns="0" rIns="0" bIns="0" rtlCol="0" anchor="ctr"/>
          <a:lstStyle/>
          <a:p>
            <a:pPr algn="l" indent="0" marL="0">
              <a:buNone/>
            </a:pPr>
            <a:r>
              <a:rPr lang="en-US" sz="1650" b="1" dirty="0">
                <a:solidFill>
                  <a:srgbClr val="E8EDF5"/>
                </a:solidFill>
                <a:latin typeface="JetBrains Mono" pitchFamily="34" charset="0"/>
                <a:ea typeface="JetBrains Mono" pitchFamily="34" charset="-122"/>
                <a:cs typeface="JetBrains Mono" pitchFamily="34" charset="-120"/>
              </a:rPr>
              <a:t>×3.2</a:t>
            </a:r>
            <a:endParaRPr lang="en-US" sz="1650" dirty="0"/>
          </a:p>
        </p:txBody>
      </p:sp>
      <p:sp>
        <p:nvSpPr>
          <p:cNvPr id="40" name="Text 32"/>
          <p:cNvSpPr txBox="1"/>
          <p:nvPr/>
        </p:nvSpPr>
        <p:spPr>
          <a:xfrm>
            <a:off x="9829800" y="6610198"/>
            <a:ext cx="7049110" cy="181051"/>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관찰 노트</a:t>
            </a:r>
            <a:endParaRPr lang="en-US" sz="975" dirty="0"/>
          </a:p>
        </p:txBody>
      </p:sp>
      <p:sp>
        <p:nvSpPr>
          <p:cNvPr id="41" name="Text 33"/>
          <p:cNvSpPr txBox="1"/>
          <p:nvPr/>
        </p:nvSpPr>
        <p:spPr>
          <a:xfrm>
            <a:off x="9829800" y="6888175"/>
            <a:ext cx="7049110" cy="1342339"/>
          </a:xfrm>
          <a:prstGeom prst="rect">
            <a:avLst/>
          </a:prstGeom>
          <a:noFill/>
          <a:ln/>
        </p:spPr>
        <p:txBody>
          <a:bodyPr wrap="square" lIns="0" tIns="0" rIns="0" bIns="0" rtlCol="0" anchor="t"/>
          <a:lstStyle/>
          <a:p>
            <a:pPr algn="l" indent="0" marL="0">
              <a:lnSpc>
                <a:spcPts val="2558"/>
              </a:lnSpc>
              <a:buNone/>
            </a:pPr>
            <a:r>
              <a:rPr lang="en-US" sz="1650" dirty="0">
                <a:solidFill>
                  <a:srgbClr val="E8EDF5"/>
                </a:solidFill>
                <a:latin typeface="IBM Plex Sans KR" pitchFamily="34" charset="0"/>
                <a:ea typeface="IBM Plex Sans KR" pitchFamily="34" charset="-122"/>
                <a:cs typeface="IBM Plex Sans KR" pitchFamily="34" charset="-120"/>
              </a:rPr>
              <a:t>ASEI는 spacer 식각 이후 측정값으로 4 metric 중 Δ·range가 가장 가파르게 dose에 반응한다.</a:t>
            </a:r>
            <a:pPr algn="l" indent="0" marL="0">
              <a:lnSpc>
                <a:spcPts val="2558"/>
              </a:lnSpc>
              <a:buNone/>
            </a:pPr>
            <a:endParaRPr lang="en-US" sz="1650" dirty="0"/>
          </a:p>
          <a:p>
            <a:pPr algn="l" indent="0" marL="0">
              <a:lnSpc>
                <a:spcPts val="2558"/>
              </a:lnSpc>
              <a:buNone/>
            </a:pPr>
            <a:r>
              <a:rPr lang="en-US" sz="1650" dirty="0">
                <a:solidFill>
                  <a:srgbClr val="FBBF24"/>
                </a:solidFill>
                <a:latin typeface="IBM Plex Sans KR" pitchFamily="34" charset="0"/>
                <a:ea typeface="IBM Plex Sans KR" pitchFamily="34" charset="-122"/>
                <a:cs typeface="IBM Plex Sans KR" pitchFamily="34" charset="-120"/>
              </a:rPr>
              <a:t>W-03 단독 range 4.2 nm</a:t>
            </a:r>
            <a:pPr algn="l" indent="0" marL="0">
              <a:lnSpc>
                <a:spcPts val="2558"/>
              </a:lnSpc>
              <a:buNone/>
            </a:pPr>
            <a:r>
              <a:rPr lang="en-US" sz="1650" dirty="0">
                <a:solidFill>
                  <a:srgbClr val="E8EDF5"/>
                </a:solidFill>
                <a:latin typeface="IBM Plex Sans KR" pitchFamily="34" charset="0"/>
                <a:ea typeface="IBM Plex Sans KR" pitchFamily="34" charset="-122"/>
                <a:cs typeface="IBM Plex Sans KR" pitchFamily="34" charset="-120"/>
              </a:rPr>
              <a:t>는 18 nm 피치 pitch-budget의 약 23% — 직접 overwrite 우려 수준.</a:t>
            </a:r>
            <a:endParaRPr lang="en-US" sz="1650" dirty="0"/>
          </a:p>
        </p:txBody>
      </p:sp>
      <p:sp>
        <p:nvSpPr>
          <p:cNvPr id="42" name="Text 34"/>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14B8A6"/>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W-02가 band 안 가장 가깝고, W-03에서만 range가 4.2 nm로 18 nm 피치의 23%까지 침범한다.</a:t>
            </a:r>
            <a:endParaRPr lang="en-US" sz="1200" dirty="0"/>
          </a:p>
        </p:txBody>
      </p:sp>
      <p:sp>
        <p:nvSpPr>
          <p:cNvPr id="43" name="Text 35"/>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3238805"/>
            <a:ext cx="16021202" cy="2686507"/>
          </a:xfrm>
          <a:prstGeom prst="rect">
            <a:avLst/>
          </a:prstGeom>
          <a:solidFill>
            <a:srgbClr val="1A2742"/>
          </a:solidFill>
          <a:ln w="12700">
            <a:solidFill>
              <a:srgbClr val="2A3D5F"/>
            </a:solidFill>
            <a:prstDash val="solid"/>
          </a:ln>
        </p:spPr>
      </p:sp>
      <p:sp>
        <p:nvSpPr>
          <p:cNvPr id="5" name="Shape 1"/>
          <p:cNvSpPr/>
          <p:nvPr/>
        </p:nvSpPr>
        <p:spPr>
          <a:xfrm>
            <a:off x="1143000" y="6191402"/>
            <a:ext cx="16021202" cy="2686507"/>
          </a:xfrm>
          <a:prstGeom prst="rect">
            <a:avLst/>
          </a:prstGeom>
          <a:solidFill>
            <a:srgbClr val="1A2742"/>
          </a:solidFill>
          <a:ln w="12700">
            <a:solidFill>
              <a:srgbClr val="2A3D5F"/>
            </a:solidFill>
            <a:prstDash val="solid"/>
          </a:ln>
        </p:spPr>
      </p:sp>
      <p:sp>
        <p:nvSpPr>
          <p:cNvPr id="6" name="Shape 2"/>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7" name="Shape 3"/>
          <p:cNvSpPr/>
          <p:nvPr/>
        </p:nvSpPr>
        <p:spPr>
          <a:xfrm>
            <a:off x="1143000" y="9430207"/>
            <a:ext cx="28346" cy="495605"/>
          </a:xfrm>
          <a:prstGeom prst="rect">
            <a:avLst/>
          </a:prstGeom>
          <a:solidFill>
            <a:srgbClr val="F472B6"/>
          </a:solidFill>
          <a:ln w="12700">
            <a:solidFill>
              <a:srgbClr val="F472B6">
                <a:alpha val="0"/>
              </a:srgbClr>
            </a:solidFill>
            <a:prstDash val="solid"/>
          </a:ln>
        </p:spPr>
      </p:sp>
      <p:pic>
        <p:nvPicPr>
          <p:cNvPr id="8" name="Image 1" descr="gen-dedup-5c14d6059de585bc052850eab14c0325.png">    </p:cNvPr>
          <p:cNvPicPr>
            <a:picLocks noChangeAspect="1"/>
          </p:cNvPicPr>
          <p:nvPr/>
        </p:nvPicPr>
        <p:blipFill>
          <a:blip r:embed="rId2"/>
          <a:srcRect l="-394" r="-394" t="0" b="0"/>
          <a:stretch/>
        </p:blipFill>
        <p:spPr>
          <a:xfrm>
            <a:off x="1143000" y="3238805"/>
            <a:ext cx="57607" cy="2667305"/>
          </a:xfrm>
          <a:prstGeom prst="rect">
            <a:avLst/>
          </a:prstGeom>
        </p:spPr>
      </p:pic>
      <p:sp>
        <p:nvSpPr>
          <p:cNvPr id="9" name="Shape 4"/>
          <p:cNvSpPr/>
          <p:nvPr/>
        </p:nvSpPr>
        <p:spPr>
          <a:xfrm>
            <a:off x="7429500" y="3619195"/>
            <a:ext cx="2876702" cy="2115007"/>
          </a:xfrm>
          <a:prstGeom prst="rect">
            <a:avLst/>
          </a:prstGeom>
          <a:solidFill>
            <a:srgbClr val="142039"/>
          </a:solidFill>
          <a:ln w="12700">
            <a:solidFill>
              <a:srgbClr val="1F2D49"/>
            </a:solidFill>
            <a:prstDash val="solid"/>
          </a:ln>
        </p:spPr>
      </p:sp>
      <p:sp>
        <p:nvSpPr>
          <p:cNvPr id="10" name="Shape 5"/>
          <p:cNvSpPr/>
          <p:nvPr/>
        </p:nvSpPr>
        <p:spPr>
          <a:xfrm>
            <a:off x="10477195" y="3619195"/>
            <a:ext cx="2876702" cy="2115007"/>
          </a:xfrm>
          <a:prstGeom prst="rect">
            <a:avLst/>
          </a:prstGeom>
          <a:solidFill>
            <a:srgbClr val="142039"/>
          </a:solidFill>
          <a:ln w="12700">
            <a:solidFill>
              <a:srgbClr val="1F2D49"/>
            </a:solidFill>
            <a:prstDash val="solid"/>
          </a:ln>
        </p:spPr>
      </p:sp>
      <p:sp>
        <p:nvSpPr>
          <p:cNvPr id="11" name="Shape 6"/>
          <p:cNvSpPr/>
          <p:nvPr/>
        </p:nvSpPr>
        <p:spPr>
          <a:xfrm>
            <a:off x="13525805" y="3619195"/>
            <a:ext cx="2876702" cy="2115007"/>
          </a:xfrm>
          <a:prstGeom prst="rect">
            <a:avLst/>
          </a:prstGeom>
          <a:solidFill>
            <a:srgbClr val="142039"/>
          </a:solidFill>
          <a:ln w="12700">
            <a:solidFill>
              <a:srgbClr val="1F2D49"/>
            </a:solidFill>
            <a:prstDash val="solid"/>
          </a:ln>
        </p:spPr>
      </p:sp>
      <p:pic>
        <p:nvPicPr>
          <p:cNvPr id="12" name="Image 2" descr="gen-dedup-6cd933b4ec44fc8ee869a645a55dc260.png">    </p:cNvPr>
          <p:cNvPicPr>
            <a:picLocks noChangeAspect="1"/>
          </p:cNvPicPr>
          <p:nvPr/>
        </p:nvPicPr>
        <p:blipFill>
          <a:blip r:embed="rId3"/>
          <a:srcRect l="-394" r="-394" t="0" b="0"/>
          <a:stretch/>
        </p:blipFill>
        <p:spPr>
          <a:xfrm>
            <a:off x="1143000" y="6191402"/>
            <a:ext cx="57607" cy="2667305"/>
          </a:xfrm>
          <a:prstGeom prst="rect">
            <a:avLst/>
          </a:prstGeom>
        </p:spPr>
      </p:pic>
      <p:sp>
        <p:nvSpPr>
          <p:cNvPr id="13" name="Shape 7"/>
          <p:cNvSpPr/>
          <p:nvPr/>
        </p:nvSpPr>
        <p:spPr>
          <a:xfrm>
            <a:off x="7429500" y="6572707"/>
            <a:ext cx="2876702" cy="2115007"/>
          </a:xfrm>
          <a:prstGeom prst="rect">
            <a:avLst/>
          </a:prstGeom>
          <a:solidFill>
            <a:srgbClr val="142039"/>
          </a:solidFill>
          <a:ln w="12700">
            <a:solidFill>
              <a:srgbClr val="1F2D49"/>
            </a:solidFill>
            <a:prstDash val="solid"/>
          </a:ln>
        </p:spPr>
      </p:sp>
      <p:sp>
        <p:nvSpPr>
          <p:cNvPr id="14" name="Shape 8"/>
          <p:cNvSpPr/>
          <p:nvPr/>
        </p:nvSpPr>
        <p:spPr>
          <a:xfrm>
            <a:off x="10477195" y="6572707"/>
            <a:ext cx="2876702" cy="2115007"/>
          </a:xfrm>
          <a:prstGeom prst="rect">
            <a:avLst/>
          </a:prstGeom>
          <a:solidFill>
            <a:srgbClr val="142039"/>
          </a:solidFill>
          <a:ln w="12700">
            <a:solidFill>
              <a:srgbClr val="1F2D49"/>
            </a:solidFill>
            <a:prstDash val="solid"/>
          </a:ln>
        </p:spPr>
      </p:sp>
      <p:sp>
        <p:nvSpPr>
          <p:cNvPr id="15" name="Shape 9"/>
          <p:cNvSpPr/>
          <p:nvPr/>
        </p:nvSpPr>
        <p:spPr>
          <a:xfrm>
            <a:off x="13525805" y="6572707"/>
            <a:ext cx="2876702" cy="2115007"/>
          </a:xfrm>
          <a:prstGeom prst="rect">
            <a:avLst/>
          </a:prstGeom>
          <a:solidFill>
            <a:srgbClr val="142039"/>
          </a:solidFill>
          <a:ln w="12700">
            <a:solidFill>
              <a:srgbClr val="1F2D49"/>
            </a:solidFill>
            <a:prstDash val="solid"/>
          </a:ln>
        </p:spPr>
      </p:sp>
      <p:sp>
        <p:nvSpPr>
          <p:cNvPr id="16" name="Text 10"/>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FBBF24"/>
                </a:solidFill>
                <a:latin typeface="JetBrains Mono" pitchFamily="34" charset="0"/>
                <a:ea typeface="JetBrains Mono" pitchFamily="34" charset="-122"/>
                <a:cs typeface="JetBrains Mono" pitchFamily="34" charset="-120"/>
              </a:rPr>
              <a:t>09 / M2 Layer</a:t>
            </a:r>
            <a:endParaRPr lang="en-US" sz="1350" dirty="0"/>
          </a:p>
        </p:txBody>
      </p:sp>
      <p:sp>
        <p:nvSpPr>
          <p:cNvPr id="17" name="Text 11"/>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M2 트랜치·접점부 CD</a:t>
            </a:r>
            <a:endParaRPr lang="en-US" sz="4800" dirty="0"/>
          </a:p>
        </p:txBody>
      </p:sp>
      <p:sp>
        <p:nvSpPr>
          <p:cNvPr id="18" name="Text 12"/>
          <p:cNvSpPr txBox="1"/>
          <p:nvPr/>
        </p:nvSpPr>
        <p:spPr>
          <a:xfrm>
            <a:off x="1143000" y="2286000"/>
            <a:ext cx="12382805" cy="333756"/>
          </a:xfrm>
          <a:prstGeom prst="rect">
            <a:avLst/>
          </a:prstGeom>
          <a:noFill/>
          <a:ln/>
        </p:spPr>
        <p:txBody>
          <a:bodyPr wrap="none" lIns="0" tIns="0" rIns="0" bIns="0" rtlCol="0" anchor="ctr"/>
          <a:lstStyle/>
          <a:p>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AMI target </a:t>
            </a:r>
            <a:pPr algn="l" indent="0" marL="0">
              <a:buNone/>
            </a:pPr>
            <a:r>
              <a:rPr lang="en-US" sz="1800" dirty="0">
                <a:solidFill>
                  <a:srgbClr val="FBBF24"/>
                </a:solidFill>
                <a:latin typeface="JetBrains Mono" pitchFamily="34" charset="0"/>
                <a:ea typeface="JetBrains Mono" pitchFamily="34" charset="-122"/>
                <a:cs typeface="JetBrains Mono" pitchFamily="34" charset="-120"/>
              </a:rPr>
              <a:t>9.5 nm</a:t>
            </a:r>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 · ACI target </a:t>
            </a:r>
            <a:pPr algn="l" indent="0" marL="0">
              <a:buNone/>
            </a:pPr>
            <a:r>
              <a:rPr lang="en-US" sz="1800" dirty="0">
                <a:solidFill>
                  <a:srgbClr val="F472B6"/>
                </a:solidFill>
                <a:latin typeface="JetBrains Mono" pitchFamily="34" charset="0"/>
                <a:ea typeface="JetBrains Mono" pitchFamily="34" charset="-122"/>
                <a:cs typeface="JetBrains Mono" pitchFamily="34" charset="-120"/>
              </a:rPr>
              <a:t>9.1 nm</a:t>
            </a:r>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 — M2 단에 동시 적용.</a:t>
            </a:r>
            <a:endParaRPr lang="en-US" sz="1800" dirty="0"/>
          </a:p>
        </p:txBody>
      </p:sp>
      <p:pic>
        <p:nvPicPr>
          <p:cNvPr id="19" name="Image 3" descr="gen-dedup-da4dee075bf3a1bf96b36b52f824fa50.png">    </p:cNvPr>
          <p:cNvPicPr>
            <a:picLocks noChangeAspect="1"/>
          </p:cNvPicPr>
          <p:nvPr/>
        </p:nvPicPr>
        <p:blipFill>
          <a:blip r:embed="rId4"/>
          <a:srcRect l="-404" r="-404" t="0" b="0"/>
          <a:stretch/>
        </p:blipFill>
        <p:spPr>
          <a:xfrm>
            <a:off x="1143000" y="2819095"/>
            <a:ext cx="1143000" cy="28346"/>
          </a:xfrm>
          <a:prstGeom prst="rect">
            <a:avLst/>
          </a:prstGeom>
        </p:spPr>
      </p:pic>
      <p:sp>
        <p:nvSpPr>
          <p:cNvPr id="20" name="Text 13"/>
          <p:cNvSpPr txBox="1"/>
          <p:nvPr/>
        </p:nvSpPr>
        <p:spPr>
          <a:xfrm>
            <a:off x="1447495" y="3448202"/>
            <a:ext cx="5715000" cy="162763"/>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Metric A</a:t>
            </a:r>
            <a:endParaRPr lang="en-US" sz="975" dirty="0"/>
          </a:p>
        </p:txBody>
      </p:sp>
      <p:sp>
        <p:nvSpPr>
          <p:cNvPr id="21" name="Text 14"/>
          <p:cNvSpPr txBox="1"/>
          <p:nvPr/>
        </p:nvSpPr>
        <p:spPr>
          <a:xfrm>
            <a:off x="1447495" y="3666744"/>
            <a:ext cx="5715000" cy="486461"/>
          </a:xfrm>
          <a:prstGeom prst="rect">
            <a:avLst/>
          </a:prstGeom>
          <a:noFill/>
          <a:ln/>
        </p:spPr>
        <p:txBody>
          <a:bodyPr wrap="none" lIns="0" tIns="0" rIns="0" bIns="0" rtlCol="0" anchor="ctr"/>
          <a:lstStyle/>
          <a:p>
            <a:pPr algn="l" indent="0" marL="0">
              <a:buNone/>
            </a:pPr>
            <a:r>
              <a:rPr lang="en-US" sz="3000" b="1" dirty="0">
                <a:solidFill>
                  <a:srgbClr val="E8EDF5"/>
                </a:solidFill>
                <a:latin typeface="Space Grotesk" pitchFamily="34" charset="0"/>
                <a:ea typeface="Space Grotesk" pitchFamily="34" charset="-122"/>
                <a:cs typeface="Space Grotesk" pitchFamily="34" charset="-120"/>
              </a:rPr>
              <a:t>AMI — M2 trench</a:t>
            </a:r>
            <a:endParaRPr lang="en-US" sz="3000" dirty="0"/>
          </a:p>
        </p:txBody>
      </p:sp>
      <p:sp>
        <p:nvSpPr>
          <p:cNvPr id="22" name="Text 15"/>
          <p:cNvSpPr txBox="1"/>
          <p:nvPr/>
        </p:nvSpPr>
        <p:spPr>
          <a:xfrm>
            <a:off x="1447495" y="4209898"/>
            <a:ext cx="5715000" cy="286207"/>
          </a:xfrm>
          <a:prstGeom prst="rect">
            <a:avLst/>
          </a:prstGeom>
          <a:noFill/>
          <a:ln/>
        </p:spPr>
        <p:txBody>
          <a:bodyPr wrap="none" lIns="0" tIns="0" rIns="0" bIns="0" rtlCol="0" anchor="ctr"/>
          <a:lstStyle/>
          <a:p>
            <a:pPr algn="l" indent="0" marL="0">
              <a:buNone/>
            </a:pPr>
            <a:r>
              <a:rPr lang="en-US" sz="1500" dirty="0">
                <a:solidFill>
                  <a:srgbClr val="8B9BB3"/>
                </a:solidFill>
                <a:latin typeface="IBM Plex Sans KR" pitchFamily="34" charset="0"/>
                <a:ea typeface="IBM Plex Sans KR" pitchFamily="34" charset="-122"/>
                <a:cs typeface="IBM Plex Sans KR" pitchFamily="34" charset="-120"/>
              </a:rPr>
              <a:t>Target 9.5 nm · 25 sites · trench CD post-etch</a:t>
            </a:r>
            <a:endParaRPr lang="en-US" sz="1500" dirty="0"/>
          </a:p>
        </p:txBody>
      </p:sp>
      <p:sp>
        <p:nvSpPr>
          <p:cNvPr id="23" name="Text 16"/>
          <p:cNvSpPr txBox="1"/>
          <p:nvPr/>
        </p:nvSpPr>
        <p:spPr>
          <a:xfrm>
            <a:off x="7638898" y="3829507"/>
            <a:ext cx="2477110" cy="162763"/>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W-01</a:t>
            </a:r>
            <a:endParaRPr lang="en-US" sz="975" dirty="0"/>
          </a:p>
        </p:txBody>
      </p:sp>
      <p:sp>
        <p:nvSpPr>
          <p:cNvPr id="24" name="Text 17"/>
          <p:cNvSpPr txBox="1"/>
          <p:nvPr/>
        </p:nvSpPr>
        <p:spPr>
          <a:xfrm>
            <a:off x="7638898" y="4123944"/>
            <a:ext cx="2477110" cy="476402"/>
          </a:xfrm>
          <a:prstGeom prst="rect">
            <a:avLst/>
          </a:prstGeom>
          <a:noFill/>
          <a:ln/>
        </p:spPr>
        <p:txBody>
          <a:bodyPr wrap="none" lIns="0" tIns="0" rIns="0" bIns="0" rtlCol="0" anchor="ctr"/>
          <a:lstStyle/>
          <a:p>
            <a:pPr algn="l" indent="0" marL="0">
              <a:buNone/>
            </a:pPr>
            <a:r>
              <a:rPr lang="en-US" sz="2850" b="1" dirty="0">
                <a:solidFill>
                  <a:srgbClr val="E8EDF5"/>
                </a:solidFill>
                <a:latin typeface="JetBrains Mono" pitchFamily="34" charset="0"/>
                <a:ea typeface="JetBrains Mono" pitchFamily="34" charset="-122"/>
                <a:cs typeface="JetBrains Mono" pitchFamily="34" charset="-120"/>
              </a:rPr>
              <a:t>9.6 nm</a:t>
            </a:r>
            <a:endParaRPr lang="en-US" sz="2850" dirty="0"/>
          </a:p>
        </p:txBody>
      </p:sp>
      <p:sp>
        <p:nvSpPr>
          <p:cNvPr id="25" name="Text 18"/>
          <p:cNvSpPr txBox="1"/>
          <p:nvPr/>
        </p:nvSpPr>
        <p:spPr>
          <a:xfrm>
            <a:off x="7638898" y="4695444"/>
            <a:ext cx="2477110" cy="200254"/>
          </a:xfrm>
          <a:prstGeom prst="rect">
            <a:avLst/>
          </a:prstGeom>
          <a:noFill/>
          <a:ln/>
        </p:spPr>
        <p:txBody>
          <a:bodyPr wrap="non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3σ 0.4 · range 1.0 · Δ +0.1</a:t>
            </a:r>
            <a:endParaRPr lang="en-US" sz="1200" dirty="0"/>
          </a:p>
        </p:txBody>
      </p:sp>
      <p:sp>
        <p:nvSpPr>
          <p:cNvPr id="26" name="Text 19"/>
          <p:cNvSpPr txBox="1"/>
          <p:nvPr/>
        </p:nvSpPr>
        <p:spPr>
          <a:xfrm>
            <a:off x="10687507" y="3829507"/>
            <a:ext cx="2477110" cy="162763"/>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W-02</a:t>
            </a:r>
            <a:endParaRPr lang="en-US" sz="975" dirty="0"/>
          </a:p>
        </p:txBody>
      </p:sp>
      <p:sp>
        <p:nvSpPr>
          <p:cNvPr id="27" name="Text 20"/>
          <p:cNvSpPr txBox="1"/>
          <p:nvPr/>
        </p:nvSpPr>
        <p:spPr>
          <a:xfrm>
            <a:off x="10687507" y="4123944"/>
            <a:ext cx="2477110" cy="476402"/>
          </a:xfrm>
          <a:prstGeom prst="rect">
            <a:avLst/>
          </a:prstGeom>
          <a:noFill/>
          <a:ln/>
        </p:spPr>
        <p:txBody>
          <a:bodyPr wrap="none" lIns="0" tIns="0" rIns="0" bIns="0" rtlCol="0" anchor="ctr"/>
          <a:lstStyle/>
          <a:p>
            <a:pPr algn="l" indent="0" marL="0">
              <a:buNone/>
            </a:pPr>
            <a:r>
              <a:rPr lang="en-US" sz="2850" b="1" dirty="0">
                <a:solidFill>
                  <a:srgbClr val="E8EDF5"/>
                </a:solidFill>
                <a:latin typeface="JetBrains Mono" pitchFamily="34" charset="0"/>
                <a:ea typeface="JetBrains Mono" pitchFamily="34" charset="-122"/>
                <a:cs typeface="JetBrains Mono" pitchFamily="34" charset="-120"/>
              </a:rPr>
              <a:t>9.4 nm</a:t>
            </a:r>
            <a:endParaRPr lang="en-US" sz="2850" dirty="0"/>
          </a:p>
        </p:txBody>
      </p:sp>
      <p:sp>
        <p:nvSpPr>
          <p:cNvPr id="28" name="Text 21"/>
          <p:cNvSpPr txBox="1"/>
          <p:nvPr/>
        </p:nvSpPr>
        <p:spPr>
          <a:xfrm>
            <a:off x="10687507" y="4695444"/>
            <a:ext cx="2477110" cy="200254"/>
          </a:xfrm>
          <a:prstGeom prst="rect">
            <a:avLst/>
          </a:prstGeom>
          <a:noFill/>
          <a:ln/>
        </p:spPr>
        <p:txBody>
          <a:bodyPr wrap="non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3σ 0.5 · range 1.4 · Δ −0.1</a:t>
            </a:r>
            <a:endParaRPr lang="en-US" sz="1200" dirty="0"/>
          </a:p>
        </p:txBody>
      </p:sp>
      <p:sp>
        <p:nvSpPr>
          <p:cNvPr id="29" name="Text 22"/>
          <p:cNvSpPr txBox="1"/>
          <p:nvPr/>
        </p:nvSpPr>
        <p:spPr>
          <a:xfrm>
            <a:off x="13735202" y="3829507"/>
            <a:ext cx="2477110" cy="162763"/>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W-03</a:t>
            </a:r>
            <a:endParaRPr lang="en-US" sz="975" dirty="0"/>
          </a:p>
        </p:txBody>
      </p:sp>
      <p:sp>
        <p:nvSpPr>
          <p:cNvPr id="30" name="Text 23"/>
          <p:cNvSpPr txBox="1"/>
          <p:nvPr/>
        </p:nvSpPr>
        <p:spPr>
          <a:xfrm>
            <a:off x="13735202" y="4123944"/>
            <a:ext cx="2477110" cy="476402"/>
          </a:xfrm>
          <a:prstGeom prst="rect">
            <a:avLst/>
          </a:prstGeom>
          <a:noFill/>
          <a:ln/>
        </p:spPr>
        <p:txBody>
          <a:bodyPr wrap="none" lIns="0" tIns="0" rIns="0" bIns="0" rtlCol="0" anchor="ctr"/>
          <a:lstStyle/>
          <a:p>
            <a:pPr algn="l" indent="0" marL="0">
              <a:buNone/>
            </a:pPr>
            <a:r>
              <a:rPr lang="en-US" sz="2850" b="1" dirty="0">
                <a:solidFill>
                  <a:srgbClr val="FBBF24"/>
                </a:solidFill>
                <a:latin typeface="JetBrains Mono" pitchFamily="34" charset="0"/>
                <a:ea typeface="JetBrains Mono" pitchFamily="34" charset="-122"/>
                <a:cs typeface="JetBrains Mono" pitchFamily="34" charset="-120"/>
              </a:rPr>
              <a:t>9.8 nm</a:t>
            </a:r>
            <a:endParaRPr lang="en-US" sz="2850" dirty="0"/>
          </a:p>
        </p:txBody>
      </p:sp>
      <p:sp>
        <p:nvSpPr>
          <p:cNvPr id="31" name="Text 24"/>
          <p:cNvSpPr txBox="1"/>
          <p:nvPr/>
        </p:nvSpPr>
        <p:spPr>
          <a:xfrm>
            <a:off x="13735202" y="4695444"/>
            <a:ext cx="2477110" cy="200254"/>
          </a:xfrm>
          <a:prstGeom prst="rect">
            <a:avLst/>
          </a:prstGeom>
          <a:noFill/>
          <a:ln/>
        </p:spPr>
        <p:txBody>
          <a:bodyPr wrap="non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3σ 0.9 · range 2.5 · Δ +0.3</a:t>
            </a:r>
            <a:endParaRPr lang="en-US" sz="1200" dirty="0"/>
          </a:p>
        </p:txBody>
      </p:sp>
      <p:sp>
        <p:nvSpPr>
          <p:cNvPr id="32" name="Text 25"/>
          <p:cNvSpPr txBox="1"/>
          <p:nvPr/>
        </p:nvSpPr>
        <p:spPr>
          <a:xfrm>
            <a:off x="1447495" y="6400800"/>
            <a:ext cx="5715000" cy="162763"/>
          </a:xfrm>
          <a:prstGeom prst="rect">
            <a:avLst/>
          </a:prstGeom>
          <a:noFill/>
          <a:ln/>
        </p:spPr>
        <p:txBody>
          <a:bodyPr wrap="none" lIns="0" tIns="0" rIns="0" bIns="0" rtlCol="0" anchor="ctr"/>
          <a:lstStyle/>
          <a:p>
            <a:pPr algn="l" indent="0" marL="0">
              <a:buNone/>
            </a:pPr>
            <a:r>
              <a:rPr lang="en-US" sz="975" spc="215" kern="0" dirty="0">
                <a:solidFill>
                  <a:srgbClr val="F472B6"/>
                </a:solidFill>
                <a:latin typeface="JetBrains Mono" pitchFamily="34" charset="0"/>
                <a:ea typeface="JetBrains Mono" pitchFamily="34" charset="-122"/>
                <a:cs typeface="JetBrains Mono" pitchFamily="34" charset="-120"/>
              </a:rPr>
              <a:t>Metric B</a:t>
            </a:r>
            <a:endParaRPr lang="en-US" sz="975" dirty="0"/>
          </a:p>
        </p:txBody>
      </p:sp>
      <p:sp>
        <p:nvSpPr>
          <p:cNvPr id="33" name="Text 26"/>
          <p:cNvSpPr txBox="1"/>
          <p:nvPr/>
        </p:nvSpPr>
        <p:spPr>
          <a:xfrm>
            <a:off x="1447495" y="6620256"/>
            <a:ext cx="5715000" cy="486461"/>
          </a:xfrm>
          <a:prstGeom prst="rect">
            <a:avLst/>
          </a:prstGeom>
          <a:noFill/>
          <a:ln/>
        </p:spPr>
        <p:txBody>
          <a:bodyPr wrap="none" lIns="0" tIns="0" rIns="0" bIns="0" rtlCol="0" anchor="ctr"/>
          <a:lstStyle/>
          <a:p>
            <a:pPr algn="l" indent="0" marL="0">
              <a:buNone/>
            </a:pPr>
            <a:r>
              <a:rPr lang="en-US" sz="3000" b="1" dirty="0">
                <a:solidFill>
                  <a:srgbClr val="E8EDF5"/>
                </a:solidFill>
                <a:latin typeface="Space Grotesk" pitchFamily="34" charset="0"/>
                <a:ea typeface="Space Grotesk" pitchFamily="34" charset="-122"/>
                <a:cs typeface="Space Grotesk" pitchFamily="34" charset="-120"/>
              </a:rPr>
              <a:t>ACI — contact-adjacent</a:t>
            </a:r>
            <a:endParaRPr lang="en-US" sz="3000" dirty="0"/>
          </a:p>
        </p:txBody>
      </p:sp>
      <p:sp>
        <p:nvSpPr>
          <p:cNvPr id="34" name="Text 27"/>
          <p:cNvSpPr txBox="1"/>
          <p:nvPr/>
        </p:nvSpPr>
        <p:spPr>
          <a:xfrm>
            <a:off x="1447495" y="7162495"/>
            <a:ext cx="6081674" cy="286207"/>
          </a:xfrm>
          <a:prstGeom prst="rect">
            <a:avLst/>
          </a:prstGeom>
          <a:noFill/>
          <a:ln/>
        </p:spPr>
        <p:txBody>
          <a:bodyPr wrap="none" lIns="0" tIns="0" rIns="0" bIns="0" rtlCol="0" anchor="ctr"/>
          <a:lstStyle/>
          <a:p>
            <a:pPr algn="l" indent="0" marL="0">
              <a:buNone/>
            </a:pPr>
            <a:r>
              <a:rPr lang="en-US" sz="1500" dirty="0">
                <a:solidFill>
                  <a:srgbClr val="8B9BB3"/>
                </a:solidFill>
                <a:latin typeface="IBM Plex Sans KR" pitchFamily="34" charset="0"/>
                <a:ea typeface="IBM Plex Sans KR" pitchFamily="34" charset="-122"/>
                <a:cs typeface="IBM Plex Sans KR" pitchFamily="34" charset="-120"/>
              </a:rPr>
              <a:t>Target 9.1 nm · contact hole 부근 CD · under-bar test</a:t>
            </a:r>
            <a:endParaRPr lang="en-US" sz="1500" dirty="0"/>
          </a:p>
        </p:txBody>
      </p:sp>
      <p:sp>
        <p:nvSpPr>
          <p:cNvPr id="35" name="Text 28"/>
          <p:cNvSpPr txBox="1"/>
          <p:nvPr/>
        </p:nvSpPr>
        <p:spPr>
          <a:xfrm>
            <a:off x="7638898" y="6782105"/>
            <a:ext cx="2477110" cy="162763"/>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W-01</a:t>
            </a:r>
            <a:endParaRPr lang="en-US" sz="975" dirty="0"/>
          </a:p>
        </p:txBody>
      </p:sp>
      <p:sp>
        <p:nvSpPr>
          <p:cNvPr id="36" name="Text 29"/>
          <p:cNvSpPr txBox="1"/>
          <p:nvPr/>
        </p:nvSpPr>
        <p:spPr>
          <a:xfrm>
            <a:off x="7638898" y="7077456"/>
            <a:ext cx="2477110" cy="476402"/>
          </a:xfrm>
          <a:prstGeom prst="rect">
            <a:avLst/>
          </a:prstGeom>
          <a:noFill/>
          <a:ln/>
        </p:spPr>
        <p:txBody>
          <a:bodyPr wrap="none" lIns="0" tIns="0" rIns="0" bIns="0" rtlCol="0" anchor="ctr"/>
          <a:lstStyle/>
          <a:p>
            <a:pPr algn="l" indent="0" marL="0">
              <a:buNone/>
            </a:pPr>
            <a:r>
              <a:rPr lang="en-US" sz="2850" b="1" dirty="0">
                <a:solidFill>
                  <a:srgbClr val="E8EDF5"/>
                </a:solidFill>
                <a:latin typeface="JetBrains Mono" pitchFamily="34" charset="0"/>
                <a:ea typeface="JetBrains Mono" pitchFamily="34" charset="-122"/>
                <a:cs typeface="JetBrains Mono" pitchFamily="34" charset="-120"/>
              </a:rPr>
              <a:t>9.0 nm</a:t>
            </a:r>
            <a:endParaRPr lang="en-US" sz="2850" dirty="0"/>
          </a:p>
        </p:txBody>
      </p:sp>
      <p:sp>
        <p:nvSpPr>
          <p:cNvPr id="37" name="Text 30"/>
          <p:cNvSpPr txBox="1"/>
          <p:nvPr/>
        </p:nvSpPr>
        <p:spPr>
          <a:xfrm>
            <a:off x="7638898" y="7648956"/>
            <a:ext cx="2477110" cy="200254"/>
          </a:xfrm>
          <a:prstGeom prst="rect">
            <a:avLst/>
          </a:prstGeom>
          <a:noFill/>
          <a:ln/>
        </p:spPr>
        <p:txBody>
          <a:bodyPr wrap="non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3σ 0.3 · range 0.8 · Δ −0.1</a:t>
            </a:r>
            <a:endParaRPr lang="en-US" sz="1200" dirty="0"/>
          </a:p>
        </p:txBody>
      </p:sp>
      <p:sp>
        <p:nvSpPr>
          <p:cNvPr id="38" name="Text 31"/>
          <p:cNvSpPr txBox="1"/>
          <p:nvPr/>
        </p:nvSpPr>
        <p:spPr>
          <a:xfrm>
            <a:off x="10687507" y="6782105"/>
            <a:ext cx="2477110" cy="162763"/>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W-02</a:t>
            </a:r>
            <a:endParaRPr lang="en-US" sz="975" dirty="0"/>
          </a:p>
        </p:txBody>
      </p:sp>
      <p:sp>
        <p:nvSpPr>
          <p:cNvPr id="39" name="Text 32"/>
          <p:cNvSpPr txBox="1"/>
          <p:nvPr/>
        </p:nvSpPr>
        <p:spPr>
          <a:xfrm>
            <a:off x="10687507" y="7077456"/>
            <a:ext cx="2477110" cy="476402"/>
          </a:xfrm>
          <a:prstGeom prst="rect">
            <a:avLst/>
          </a:prstGeom>
          <a:noFill/>
          <a:ln/>
        </p:spPr>
        <p:txBody>
          <a:bodyPr wrap="none" lIns="0" tIns="0" rIns="0" bIns="0" rtlCol="0" anchor="ctr"/>
          <a:lstStyle/>
          <a:p>
            <a:pPr algn="l" indent="0" marL="0">
              <a:buNone/>
            </a:pPr>
            <a:r>
              <a:rPr lang="en-US" sz="2850" b="1" dirty="0">
                <a:solidFill>
                  <a:srgbClr val="E8EDF5"/>
                </a:solidFill>
                <a:latin typeface="JetBrains Mono" pitchFamily="34" charset="0"/>
                <a:ea typeface="JetBrains Mono" pitchFamily="34" charset="-122"/>
                <a:cs typeface="JetBrains Mono" pitchFamily="34" charset="-120"/>
              </a:rPr>
              <a:t>9.3 nm</a:t>
            </a:r>
            <a:endParaRPr lang="en-US" sz="2850" dirty="0"/>
          </a:p>
        </p:txBody>
      </p:sp>
      <p:sp>
        <p:nvSpPr>
          <p:cNvPr id="40" name="Text 33"/>
          <p:cNvSpPr txBox="1"/>
          <p:nvPr/>
        </p:nvSpPr>
        <p:spPr>
          <a:xfrm>
            <a:off x="10687507" y="7648956"/>
            <a:ext cx="2477110" cy="200254"/>
          </a:xfrm>
          <a:prstGeom prst="rect">
            <a:avLst/>
          </a:prstGeom>
          <a:noFill/>
          <a:ln/>
        </p:spPr>
        <p:txBody>
          <a:bodyPr wrap="non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3σ 0.6 · range 1.6 · Δ +0.2</a:t>
            </a:r>
            <a:endParaRPr lang="en-US" sz="1200" dirty="0"/>
          </a:p>
        </p:txBody>
      </p:sp>
      <p:sp>
        <p:nvSpPr>
          <p:cNvPr id="41" name="Text 34"/>
          <p:cNvSpPr txBox="1"/>
          <p:nvPr/>
        </p:nvSpPr>
        <p:spPr>
          <a:xfrm>
            <a:off x="13735202" y="6782105"/>
            <a:ext cx="2477110" cy="162763"/>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W-03</a:t>
            </a:r>
            <a:endParaRPr lang="en-US" sz="975" dirty="0"/>
          </a:p>
        </p:txBody>
      </p:sp>
      <p:sp>
        <p:nvSpPr>
          <p:cNvPr id="42" name="Text 35"/>
          <p:cNvSpPr txBox="1"/>
          <p:nvPr/>
        </p:nvSpPr>
        <p:spPr>
          <a:xfrm>
            <a:off x="13735202" y="7077456"/>
            <a:ext cx="2477110" cy="476402"/>
          </a:xfrm>
          <a:prstGeom prst="rect">
            <a:avLst/>
          </a:prstGeom>
          <a:noFill/>
          <a:ln/>
        </p:spPr>
        <p:txBody>
          <a:bodyPr wrap="none" lIns="0" tIns="0" rIns="0" bIns="0" rtlCol="0" anchor="ctr"/>
          <a:lstStyle/>
          <a:p>
            <a:pPr algn="l" indent="0" marL="0">
              <a:buNone/>
            </a:pPr>
            <a:r>
              <a:rPr lang="en-US" sz="2850" b="1" dirty="0">
                <a:solidFill>
                  <a:srgbClr val="FBBF24"/>
                </a:solidFill>
                <a:latin typeface="JetBrains Mono" pitchFamily="34" charset="0"/>
                <a:ea typeface="JetBrains Mono" pitchFamily="34" charset="-122"/>
                <a:cs typeface="JetBrains Mono" pitchFamily="34" charset="-120"/>
              </a:rPr>
              <a:t>8.8 nm</a:t>
            </a:r>
            <a:endParaRPr lang="en-US" sz="2850" dirty="0"/>
          </a:p>
        </p:txBody>
      </p:sp>
      <p:sp>
        <p:nvSpPr>
          <p:cNvPr id="43" name="Text 36"/>
          <p:cNvSpPr txBox="1"/>
          <p:nvPr/>
        </p:nvSpPr>
        <p:spPr>
          <a:xfrm>
            <a:off x="13735202" y="7648956"/>
            <a:ext cx="2477110" cy="200254"/>
          </a:xfrm>
          <a:prstGeom prst="rect">
            <a:avLst/>
          </a:prstGeom>
          <a:noFill/>
          <a:ln/>
        </p:spPr>
        <p:txBody>
          <a:bodyPr wrap="none" lIns="0" tIns="0" rIns="0" bIns="0" rtlCol="0" anchor="ctr"/>
          <a:lstStyle/>
          <a:p>
            <a:pPr algn="l" indent="0" marL="0">
              <a:buNone/>
            </a:pPr>
            <a:r>
              <a:rPr lang="en-US" sz="1200" dirty="0">
                <a:solidFill>
                  <a:srgbClr val="8B9BB3"/>
                </a:solidFill>
                <a:latin typeface="JetBrains Mono" pitchFamily="34" charset="0"/>
                <a:ea typeface="JetBrains Mono" pitchFamily="34" charset="-122"/>
                <a:cs typeface="JetBrains Mono" pitchFamily="34" charset="-120"/>
              </a:rPr>
              <a:t>3σ 1.1 · range 2.9 · Δ −0.3</a:t>
            </a:r>
            <a:endParaRPr lang="en-US" sz="1200" dirty="0"/>
          </a:p>
        </p:txBody>
      </p:sp>
      <p:sp>
        <p:nvSpPr>
          <p:cNvPr id="44" name="Text 37"/>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F472B6"/>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M2 단에서 ACI는 AMI 대비 dose에 30~50% 더 민감 — 두 metric이 동일 wafer에서 비대칭으로 움직인다.</a:t>
            </a:r>
            <a:endParaRPr lang="en-US" sz="1200" dirty="0"/>
          </a:p>
        </p:txBody>
      </p:sp>
      <p:sp>
        <p:nvSpPr>
          <p:cNvPr id="45" name="Text 38"/>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2382805" y="3238805"/>
            <a:ext cx="4809744" cy="2400300"/>
          </a:xfrm>
          <a:prstGeom prst="rect">
            <a:avLst/>
          </a:prstGeom>
          <a:solidFill>
            <a:srgbClr val="142039"/>
          </a:solidFill>
          <a:ln w="12700">
            <a:solidFill>
              <a:srgbClr val="1F2D49"/>
            </a:solidFill>
            <a:prstDash val="solid"/>
          </a:ln>
        </p:spPr>
      </p:sp>
      <p:sp>
        <p:nvSpPr>
          <p:cNvPr id="5" name="Shape 1"/>
          <p:cNvSpPr/>
          <p:nvPr/>
        </p:nvSpPr>
        <p:spPr>
          <a:xfrm>
            <a:off x="12382805" y="3238805"/>
            <a:ext cx="38405" cy="2400300"/>
          </a:xfrm>
          <a:prstGeom prst="rect">
            <a:avLst/>
          </a:prstGeom>
          <a:solidFill>
            <a:srgbClr val="34D399"/>
          </a:solidFill>
          <a:ln w="12700">
            <a:solidFill>
              <a:srgbClr val="34D399">
                <a:alpha val="0"/>
              </a:srgbClr>
            </a:solidFill>
            <a:prstDash val="solid"/>
          </a:ln>
        </p:spPr>
      </p:sp>
      <p:sp>
        <p:nvSpPr>
          <p:cNvPr id="6" name="Shape 2"/>
          <p:cNvSpPr/>
          <p:nvPr/>
        </p:nvSpPr>
        <p:spPr>
          <a:xfrm>
            <a:off x="12382805" y="5810098"/>
            <a:ext cx="4809744" cy="2400300"/>
          </a:xfrm>
          <a:prstGeom prst="rect">
            <a:avLst/>
          </a:prstGeom>
          <a:solidFill>
            <a:srgbClr val="142039"/>
          </a:solidFill>
          <a:ln w="12700">
            <a:solidFill>
              <a:srgbClr val="1F2D49"/>
            </a:solidFill>
            <a:prstDash val="solid"/>
          </a:ln>
        </p:spPr>
      </p:sp>
      <p:sp>
        <p:nvSpPr>
          <p:cNvPr id="7" name="Shape 3"/>
          <p:cNvSpPr/>
          <p:nvPr/>
        </p:nvSpPr>
        <p:spPr>
          <a:xfrm>
            <a:off x="12382805" y="5810098"/>
            <a:ext cx="38405" cy="2400300"/>
          </a:xfrm>
          <a:prstGeom prst="rect">
            <a:avLst/>
          </a:prstGeom>
          <a:solidFill>
            <a:srgbClr val="F472B6"/>
          </a:solidFill>
          <a:ln w="12700">
            <a:solidFill>
              <a:srgbClr val="F472B6">
                <a:alpha val="0"/>
              </a:srgbClr>
            </a:solidFill>
            <a:prstDash val="solid"/>
          </a:ln>
        </p:spPr>
      </p:sp>
      <p:sp>
        <p:nvSpPr>
          <p:cNvPr id="8" name="Shape 4"/>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9" name="Shape 5"/>
          <p:cNvSpPr/>
          <p:nvPr/>
        </p:nvSpPr>
        <p:spPr>
          <a:xfrm>
            <a:off x="1143000" y="9430207"/>
            <a:ext cx="28346" cy="495605"/>
          </a:xfrm>
          <a:prstGeom prst="rect">
            <a:avLst/>
          </a:prstGeom>
          <a:solidFill>
            <a:srgbClr val="38BDF8"/>
          </a:solidFill>
          <a:ln w="12700">
            <a:solidFill>
              <a:srgbClr val="38BDF8">
                <a:alpha val="0"/>
              </a:srgbClr>
            </a:solidFill>
            <a:prstDash val="solid"/>
          </a:ln>
        </p:spPr>
      </p:sp>
      <p:sp>
        <p:nvSpPr>
          <p:cNvPr id="10" name="Text 6"/>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10 / In-wafer Uniformity</a:t>
            </a:r>
            <a:endParaRPr lang="en-US" sz="1350" dirty="0"/>
          </a:p>
        </p:txBody>
      </p:sp>
      <p:sp>
        <p:nvSpPr>
          <p:cNvPr id="11" name="Text 7"/>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In-wafer 균일도 (NU)</a:t>
            </a:r>
            <a:endParaRPr lang="en-US" sz="4800" dirty="0"/>
          </a:p>
        </p:txBody>
      </p:sp>
      <p:sp>
        <p:nvSpPr>
          <p:cNvPr id="12" name="Text 8"/>
          <p:cNvSpPr txBox="1"/>
          <p:nvPr/>
        </p:nvSpPr>
        <p:spPr>
          <a:xfrm>
            <a:off x="1143000" y="2286000"/>
            <a:ext cx="12382805" cy="333756"/>
          </a:xfrm>
          <a:prstGeom prst="rect">
            <a:avLst/>
          </a:prstGeom>
          <a:noFill/>
          <a:ln/>
        </p:spPr>
        <p:txBody>
          <a:bodyPr wrap="none" lIns="0" tIns="0" rIns="0" bIns="0" rtlCol="0" anchor="ctr"/>
          <a:lstStyle/>
          <a:p>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NU 계산식 </a:t>
            </a:r>
            <a:pPr algn="l" indent="0" marL="0">
              <a:buNone/>
            </a:pPr>
            <a:r>
              <a:rPr lang="en-US" sz="1800" dirty="0">
                <a:solidFill>
                  <a:srgbClr val="B7C4D6"/>
                </a:solidFill>
                <a:latin typeface="JetBrains Mono" pitchFamily="34" charset="0"/>
                <a:ea typeface="JetBrains Mono" pitchFamily="34" charset="-122"/>
                <a:cs typeface="JetBrains Mono" pitchFamily="34" charset="-120"/>
              </a:rPr>
              <a:t>(3σ / mean) × 100</a:t>
            </a:r>
            <a:pPr algn="l" indent="0" marL="0">
              <a:buNone/>
            </a:pPr>
            <a:r>
              <a:rPr lang="en-US" sz="1800" dirty="0">
                <a:solidFill>
                  <a:srgbClr val="8B9BB3"/>
                </a:solidFill>
                <a:latin typeface="IBM Plex Sans KR" pitchFamily="34" charset="0"/>
                <a:ea typeface="IBM Plex Sans KR" pitchFamily="34" charset="-122"/>
                <a:cs typeface="IBM Plex Sans KR" pitchFamily="34" charset="-120"/>
              </a:rPr>
              <a:t> · 25 sites · Wafer map과 연계.</a:t>
            </a:r>
            <a:endParaRPr lang="en-US" sz="1800" dirty="0"/>
          </a:p>
        </p:txBody>
      </p:sp>
      <p:pic>
        <p:nvPicPr>
          <p:cNvPr id="13" name="Image 1" descr="gen-dedup-cbd2dadeeb2aec465e858390d1195fd6.png">    </p:cNvPr>
          <p:cNvPicPr>
            <a:picLocks noChangeAspect="1"/>
          </p:cNvPicPr>
          <p:nvPr/>
        </p:nvPicPr>
        <p:blipFill>
          <a:blip r:embed="rId2"/>
          <a:srcRect l="-404" r="-404" t="0" b="0"/>
          <a:stretch/>
        </p:blipFill>
        <p:spPr>
          <a:xfrm>
            <a:off x="1143000" y="2819095"/>
            <a:ext cx="1143000" cy="28346"/>
          </a:xfrm>
          <a:prstGeom prst="rect">
            <a:avLst/>
          </a:prstGeom>
        </p:spPr>
      </p:pic>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1143000" y="3238805"/>
          <a:ext cx="10858500" cy="2382012"/>
        </p:xfrm>
        <a:graphic>
          <a:graphicData uri="http://schemas.openxmlformats.org/drawingml/2006/table">
            <a:tbl>
              <a:tblPr/>
              <a:tblGrid>
                <a:gridCol w="2628900"/>
                <a:gridCol w="1596542"/>
                <a:gridCol w="1842516"/>
                <a:gridCol w="1596542"/>
                <a:gridCol w="1842516"/>
                <a:gridCol w="1351483"/>
              </a:tblGrid>
              <a:tr h="595503">
                <a:tc>
                  <a:txBody>
                    <a:bodyPr/>
                    <a:lstStyle/>
                    <a:p>
                      <a:pPr algn="l" indent="0" marL="0">
                        <a:buNone/>
                      </a:pPr>
                      <a:r>
                        <a:rPr lang="en-US" sz="1050" b="1" dirty="0">
                          <a:solidFill>
                            <a:srgbClr val="8B9BB3"/>
                          </a:solidFill>
                          <a:latin typeface="JetBrains Mono" pitchFamily="34" charset="0"/>
                          <a:ea typeface="JetBrains Mono" pitchFamily="34" charset="-122"/>
                          <a:cs typeface="JetBrains Mono" pitchFamily="34" charset="-120"/>
                        </a:rPr>
                        <a:t>WAFER · DOSE</a:t>
                      </a:r>
                      <a:endParaRPr lang="en-US" sz="1050" dirty="0">
                        <a:latin typeface="JetBrains Mono" charset="0"/>
                        <a:ea typeface="JetBrains Mono" charset="0"/>
                        <a:cs typeface="JetBrains Mono"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8BDF8"/>
                          </a:solidFill>
                          <a:latin typeface="JetBrains Mono" pitchFamily="34" charset="0"/>
                          <a:ea typeface="JetBrains Mono" pitchFamily="34" charset="-122"/>
                          <a:cs typeface="JetBrains Mono" pitchFamily="34" charset="-120"/>
                        </a:rPr>
                        <a:t>AASI</a:t>
                      </a:r>
                      <a:endParaRPr lang="en-US" sz="1050" dirty="0">
                        <a:latin typeface="JetBrains Mono" charset="0"/>
                        <a:ea typeface="JetBrains Mono" charset="0"/>
                        <a:cs typeface="JetBrains Mono"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14B8A6"/>
                          </a:solidFill>
                          <a:latin typeface="JetBrains Mono" pitchFamily="34" charset="0"/>
                          <a:ea typeface="JetBrains Mono" pitchFamily="34" charset="-122"/>
                          <a:cs typeface="JetBrains Mono" pitchFamily="34" charset="-120"/>
                        </a:rPr>
                        <a:t>ASEI</a:t>
                      </a:r>
                      <a:endParaRPr lang="en-US" sz="1050" dirty="0">
                        <a:latin typeface="JetBrains Mono" charset="0"/>
                        <a:ea typeface="JetBrains Mono" charset="0"/>
                        <a:cs typeface="JetBrains Mono"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FBBF24"/>
                          </a:solidFill>
                          <a:latin typeface="JetBrains Mono" pitchFamily="34" charset="0"/>
                          <a:ea typeface="JetBrains Mono" pitchFamily="34" charset="-122"/>
                          <a:cs typeface="JetBrains Mono" pitchFamily="34" charset="-120"/>
                        </a:rPr>
                        <a:t>AMI</a:t>
                      </a:r>
                      <a:endParaRPr lang="en-US" sz="1050" dirty="0">
                        <a:latin typeface="JetBrains Mono" charset="0"/>
                        <a:ea typeface="JetBrains Mono" charset="0"/>
                        <a:cs typeface="JetBrains Mono"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F472B6"/>
                          </a:solidFill>
                          <a:latin typeface="JetBrains Mono" pitchFamily="34" charset="0"/>
                          <a:ea typeface="JetBrains Mono" pitchFamily="34" charset="-122"/>
                          <a:cs typeface="JetBrains Mono" pitchFamily="34" charset="-120"/>
                        </a:rPr>
                        <a:t>ACI</a:t>
                      </a:r>
                      <a:endParaRPr lang="en-US" sz="1050" dirty="0">
                        <a:latin typeface="JetBrains Mono" charset="0"/>
                        <a:ea typeface="JetBrains Mono" charset="0"/>
                        <a:cs typeface="JetBrains Mono"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E8EDF5"/>
                          </a:solidFill>
                          <a:latin typeface="JetBrains Mono" pitchFamily="34" charset="0"/>
                          <a:ea typeface="JetBrains Mono" pitchFamily="34" charset="-122"/>
                          <a:cs typeface="JetBrains Mono" pitchFamily="34" charset="-120"/>
                        </a:rPr>
                        <a:t>AVG</a:t>
                      </a:r>
                      <a:endParaRPr lang="en-US" sz="1050" dirty="0">
                        <a:latin typeface="JetBrains Mono" charset="0"/>
                        <a:ea typeface="JetBrains Mono" charset="0"/>
                        <a:cs typeface="JetBrains Mono" charset="0"/>
                      </a:endParaRPr>
                    </a:p>
                  </a:txBody>
                  <a:tcPr marL="171907" marR="171907" marT="133502" marB="133502"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595503">
                <a:tc>
                  <a:txBody>
                    <a:bodyPr/>
                    <a:lstStyle/>
                    <a:p>
                      <a:pPr indent="0" marL="0">
                        <a:buNone/>
                      </a:pPr>
                      <a:r>
                        <a:rPr lang="en-US" sz="1500" dirty="0">
                          <a:solidFill>
                            <a:srgbClr val="38BDF8"/>
                          </a:solidFill>
                          <a:latin typeface="JetBrains Mono" pitchFamily="34" charset="0"/>
                          <a:ea typeface="JetBrains Mono" pitchFamily="34" charset="-122"/>
                          <a:cs typeface="JetBrains Mono" pitchFamily="34" charset="-120"/>
                        </a:rPr>
                        <a:t>W-01 · 19 mJ</a:t>
                      </a:r>
                      <a:endParaRPr lang="en-US" sz="15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8BDF8">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3.0%</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8BDF8">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3.2%</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8BDF8">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4.2%</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8BDF8">
                        <a:alpha val="4000"/>
                      </a:srgbClr>
                    </a:solidFill>
                  </a:tcPr>
                </a:tc>
                <a:tc>
                  <a:txBody>
                    <a:bodyPr/>
                    <a:lstStyle/>
                    <a:p>
                      <a:pPr algn="r" indent="0" marL="0">
                        <a:buNone/>
                      </a:pPr>
                      <a:r>
                        <a:rPr lang="en-US" sz="1800" b="1" dirty="0">
                          <a:solidFill>
                            <a:srgbClr val="34D399"/>
                          </a:solidFill>
                          <a:latin typeface="JetBrains Mono" pitchFamily="34" charset="0"/>
                          <a:ea typeface="JetBrains Mono" pitchFamily="34" charset="-122"/>
                          <a:cs typeface="JetBrains Mono" pitchFamily="34" charset="-120"/>
                        </a:rPr>
                        <a:t>3.3%</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8BDF8">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3.4</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38BDF8">
                        <a:alpha val="4000"/>
                      </a:srgbClr>
                    </a:solidFill>
                  </a:tcPr>
                </a:tc>
              </a:tr>
              <a:tr h="595503">
                <a:tc>
                  <a:txBody>
                    <a:bodyPr/>
                    <a:lstStyle/>
                    <a:p>
                      <a:pPr indent="0" marL="0">
                        <a:buNone/>
                      </a:pPr>
                      <a:r>
                        <a:rPr lang="en-US" sz="1500" dirty="0">
                          <a:solidFill>
                            <a:srgbClr val="14B8A6"/>
                          </a:solidFill>
                          <a:latin typeface="JetBrains Mono" pitchFamily="34" charset="0"/>
                          <a:ea typeface="JetBrains Mono" pitchFamily="34" charset="-122"/>
                          <a:cs typeface="JetBrains Mono" pitchFamily="34" charset="-120"/>
                        </a:rPr>
                        <a:t>W-02 · 28 mJ</a:t>
                      </a:r>
                      <a:endParaRPr lang="en-US" sz="15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3.9%</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5.0%</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5.3%</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6.5%</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c>
                  <a:txBody>
                    <a:bodyPr/>
                    <a:lstStyle/>
                    <a:p>
                      <a:pPr algn="r" indent="0" marL="0">
                        <a:buNone/>
                      </a:pPr>
                      <a:r>
                        <a:rPr lang="en-US" sz="1800" b="1" dirty="0">
                          <a:solidFill>
                            <a:srgbClr val="E8EDF5"/>
                          </a:solidFill>
                          <a:latin typeface="JetBrains Mono" pitchFamily="34" charset="0"/>
                          <a:ea typeface="JetBrains Mono" pitchFamily="34" charset="-122"/>
                          <a:cs typeface="JetBrains Mono" pitchFamily="34" charset="-120"/>
                        </a:rPr>
                        <a:t>5.2</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4000"/>
                      </a:srgbClr>
                    </a:solidFill>
                  </a:tcPr>
                </a:tc>
              </a:tr>
              <a:tr h="595503">
                <a:tc>
                  <a:txBody>
                    <a:bodyPr/>
                    <a:lstStyle/>
                    <a:p>
                      <a:pPr indent="0" marL="0">
                        <a:buNone/>
                      </a:pPr>
                      <a:r>
                        <a:rPr lang="en-US" sz="1500" dirty="0">
                          <a:solidFill>
                            <a:srgbClr val="FBBF24"/>
                          </a:solidFill>
                          <a:latin typeface="JetBrains Mono" pitchFamily="34" charset="0"/>
                          <a:ea typeface="JetBrains Mono" pitchFamily="34" charset="-122"/>
                          <a:cs typeface="JetBrains Mono" pitchFamily="34" charset="-120"/>
                        </a:rPr>
                        <a:t>W-03 · 38 mJ</a:t>
                      </a:r>
                      <a:endParaRPr lang="en-US" sz="15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4000"/>
                      </a:srgbClr>
                    </a:solidFill>
                  </a:tcPr>
                </a:tc>
                <a:tc>
                  <a:txBody>
                    <a:bodyPr/>
                    <a:lstStyle/>
                    <a:p>
                      <a:pPr algn="r" indent="0" marL="0">
                        <a:buNone/>
                      </a:pPr>
                      <a:r>
                        <a:rPr lang="en-US" sz="1800" b="1" dirty="0">
                          <a:solidFill>
                            <a:srgbClr val="FBBF24"/>
                          </a:solidFill>
                          <a:latin typeface="JetBrains Mono" pitchFamily="34" charset="0"/>
                          <a:ea typeface="JetBrains Mono" pitchFamily="34" charset="-122"/>
                          <a:cs typeface="JetBrains Mono" pitchFamily="34" charset="-120"/>
                        </a:rPr>
                        <a:t>6.1%</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4000"/>
                      </a:srgbClr>
                    </a:solidFill>
                  </a:tcPr>
                </a:tc>
                <a:tc>
                  <a:txBody>
                    <a:bodyPr/>
                    <a:lstStyle/>
                    <a:p>
                      <a:pPr algn="r" indent="0" marL="0">
                        <a:buNone/>
                      </a:pPr>
                      <a:r>
                        <a:rPr lang="en-US" sz="1800" b="1" dirty="0">
                          <a:solidFill>
                            <a:srgbClr val="F472B6"/>
                          </a:solidFill>
                          <a:latin typeface="JetBrains Mono" pitchFamily="34" charset="0"/>
                          <a:ea typeface="JetBrains Mono" pitchFamily="34" charset="-122"/>
                          <a:cs typeface="JetBrains Mono" pitchFamily="34" charset="-120"/>
                        </a:rPr>
                        <a:t>10.5%</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4000"/>
                      </a:srgbClr>
                    </a:solidFill>
                  </a:tcPr>
                </a:tc>
                <a:tc>
                  <a:txBody>
                    <a:bodyPr/>
                    <a:lstStyle/>
                    <a:p>
                      <a:pPr algn="r" indent="0" marL="0">
                        <a:buNone/>
                      </a:pPr>
                      <a:r>
                        <a:rPr lang="en-US" sz="1800" b="1" dirty="0">
                          <a:solidFill>
                            <a:srgbClr val="FBBF24"/>
                          </a:solidFill>
                          <a:latin typeface="JetBrains Mono" pitchFamily="34" charset="0"/>
                          <a:ea typeface="JetBrains Mono" pitchFamily="34" charset="-122"/>
                          <a:cs typeface="JetBrains Mono" pitchFamily="34" charset="-120"/>
                        </a:rPr>
                        <a:t>9.2%</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4000"/>
                      </a:srgbClr>
                    </a:solidFill>
                  </a:tcPr>
                </a:tc>
                <a:tc>
                  <a:txBody>
                    <a:bodyPr/>
                    <a:lstStyle/>
                    <a:p>
                      <a:pPr algn="r" indent="0" marL="0">
                        <a:buNone/>
                      </a:pPr>
                      <a:r>
                        <a:rPr lang="en-US" sz="1800" b="1" dirty="0">
                          <a:solidFill>
                            <a:srgbClr val="F472B6"/>
                          </a:solidFill>
                          <a:latin typeface="JetBrains Mono" pitchFamily="34" charset="0"/>
                          <a:ea typeface="JetBrains Mono" pitchFamily="34" charset="-122"/>
                          <a:cs typeface="JetBrains Mono" pitchFamily="34" charset="-120"/>
                        </a:rPr>
                        <a:t>12.5%</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4000"/>
                      </a:srgbClr>
                    </a:solidFill>
                  </a:tcPr>
                </a:tc>
                <a:tc>
                  <a:txBody>
                    <a:bodyPr/>
                    <a:lstStyle/>
                    <a:p>
                      <a:pPr algn="r" indent="0" marL="0">
                        <a:buNone/>
                      </a:pPr>
                      <a:r>
                        <a:rPr lang="en-US" sz="1800" b="1" dirty="0">
                          <a:solidFill>
                            <a:srgbClr val="FBBF24"/>
                          </a:solidFill>
                          <a:latin typeface="JetBrains Mono" pitchFamily="34" charset="0"/>
                          <a:ea typeface="JetBrains Mono" pitchFamily="34" charset="-122"/>
                          <a:cs typeface="JetBrains Mono" pitchFamily="34" charset="-120"/>
                        </a:rPr>
                        <a:t>9.6</a:t>
                      </a:r>
                      <a:endParaRPr lang="en-US" sz="1800" dirty="0">
                        <a:latin typeface="JetBrains Mono" charset="0"/>
                        <a:ea typeface="JetBrains Mono" charset="0"/>
                        <a:cs typeface="JetBrains Mono" charset="0"/>
                      </a:endParaRPr>
                    </a:p>
                  </a:txBody>
                  <a:tcPr marL="171907" marR="171907" marT="171907" marB="171907"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4000"/>
                      </a:srgbClr>
                    </a:solidFill>
                  </a:tcPr>
                </a:tc>
              </a:tr>
            </a:tbl>
          </a:graphicData>
        </a:graphic>
      </p:graphicFrame>
      <p:sp>
        <p:nvSpPr>
          <p:cNvPr id="15" name="Text 9"/>
          <p:cNvSpPr txBox="1"/>
          <p:nvPr/>
        </p:nvSpPr>
        <p:spPr>
          <a:xfrm>
            <a:off x="12668098" y="3448202"/>
            <a:ext cx="4286707" cy="162763"/>
          </a:xfrm>
          <a:prstGeom prst="rect">
            <a:avLst/>
          </a:prstGeom>
          <a:noFill/>
          <a:ln/>
        </p:spPr>
        <p:txBody>
          <a:bodyPr wrap="none" lIns="0" tIns="0" rIns="0" bIns="0" rtlCol="0" anchor="ctr"/>
          <a:lstStyle/>
          <a:p>
            <a:pPr algn="l" indent="0" marL="0">
              <a:buNone/>
            </a:pPr>
            <a:r>
              <a:rPr lang="en-US" sz="975" spc="215" kern="0" dirty="0">
                <a:solidFill>
                  <a:srgbClr val="34D399"/>
                </a:solidFill>
                <a:latin typeface="JetBrains Mono" pitchFamily="34" charset="0"/>
                <a:ea typeface="JetBrains Mono" pitchFamily="34" charset="-122"/>
                <a:cs typeface="JetBrains Mono" pitchFamily="34" charset="-120"/>
              </a:rPr>
              <a:t>Acceptance margin</a:t>
            </a:r>
            <a:endParaRPr lang="en-US" sz="975" dirty="0"/>
          </a:p>
        </p:txBody>
      </p:sp>
      <p:sp>
        <p:nvSpPr>
          <p:cNvPr id="16" name="Text 10"/>
          <p:cNvSpPr txBox="1"/>
          <p:nvPr/>
        </p:nvSpPr>
        <p:spPr>
          <a:xfrm>
            <a:off x="12668098" y="3743554"/>
            <a:ext cx="4286707" cy="505663"/>
          </a:xfrm>
          <a:prstGeom prst="rect">
            <a:avLst/>
          </a:prstGeom>
          <a:noFill/>
          <a:ln/>
        </p:spPr>
        <p:txBody>
          <a:bodyPr wrap="none" lIns="0" tIns="0" rIns="0" bIns="0" rtlCol="0" anchor="ctr"/>
          <a:lstStyle/>
          <a:p>
            <a:pPr algn="l" indent="0" marL="0">
              <a:buNone/>
            </a:pPr>
            <a:r>
              <a:rPr lang="en-US" sz="3150" b="1" dirty="0">
                <a:solidFill>
                  <a:srgbClr val="E8EDF5"/>
                </a:solidFill>
                <a:latin typeface="Space Grotesk" pitchFamily="34" charset="0"/>
                <a:ea typeface="Space Grotesk" pitchFamily="34" charset="-122"/>
                <a:cs typeface="Space Grotesk" pitchFamily="34" charset="-120"/>
              </a:rPr>
              <a:t>W-01 mean NU</a:t>
            </a:r>
            <a:endParaRPr lang="en-US" sz="3150" dirty="0"/>
          </a:p>
        </p:txBody>
      </p:sp>
      <p:sp>
        <p:nvSpPr>
          <p:cNvPr id="17" name="Text 11"/>
          <p:cNvSpPr txBox="1"/>
          <p:nvPr/>
        </p:nvSpPr>
        <p:spPr>
          <a:xfrm>
            <a:off x="12668098" y="4324198"/>
            <a:ext cx="4286707" cy="600761"/>
          </a:xfrm>
          <a:prstGeom prst="rect">
            <a:avLst/>
          </a:prstGeom>
          <a:noFill/>
          <a:ln/>
        </p:spPr>
        <p:txBody>
          <a:bodyPr wrap="none" lIns="0" tIns="0" rIns="0" bIns="0" rtlCol="0" anchor="ctr"/>
          <a:lstStyle/>
          <a:p>
            <a:pPr algn="l" indent="0" marL="0">
              <a:buNone/>
            </a:pPr>
            <a:r>
              <a:rPr lang="en-US" sz="3600" b="1" dirty="0">
                <a:solidFill>
                  <a:srgbClr val="34D399"/>
                </a:solidFill>
                <a:latin typeface="JetBrains Mono" pitchFamily="34" charset="0"/>
                <a:ea typeface="JetBrains Mono" pitchFamily="34" charset="-122"/>
                <a:cs typeface="JetBrains Mono" pitchFamily="34" charset="-120"/>
              </a:rPr>
              <a:t>3.4 %</a:t>
            </a:r>
            <a:endParaRPr lang="en-US" sz="3600" dirty="0"/>
          </a:p>
        </p:txBody>
      </p:sp>
      <p:sp>
        <p:nvSpPr>
          <p:cNvPr id="18" name="Text 12"/>
          <p:cNvSpPr txBox="1"/>
          <p:nvPr/>
        </p:nvSpPr>
        <p:spPr>
          <a:xfrm>
            <a:off x="12668098" y="4981651"/>
            <a:ext cx="4286707" cy="257861"/>
          </a:xfrm>
          <a:prstGeom prst="rect">
            <a:avLst/>
          </a:prstGeom>
          <a:noFill/>
          <a:ln/>
        </p:spPr>
        <p:txBody>
          <a:bodyPr wrap="none" lIns="0" tIns="0" rIns="0" bIns="0" rtlCol="0" anchor="ctr"/>
          <a:lstStyle/>
          <a:p>
            <a:pPr algn="l" indent="0" marL="0">
              <a:buNone/>
            </a:pPr>
            <a:r>
              <a:rPr lang="en-US" sz="1350" dirty="0">
                <a:solidFill>
                  <a:srgbClr val="8B9BB3"/>
                </a:solidFill>
                <a:latin typeface="IBM Plex Sans KR" pitchFamily="34" charset="0"/>
                <a:ea typeface="IBM Plex Sans KR" pitchFamily="34" charset="-122"/>
                <a:cs typeface="IBM Plex Sans KR" pitchFamily="34" charset="-120"/>
              </a:rPr>
              <a:t>4 metric 평균</a:t>
            </a:r>
            <a:endParaRPr lang="en-US" sz="1350" dirty="0"/>
          </a:p>
        </p:txBody>
      </p:sp>
      <p:sp>
        <p:nvSpPr>
          <p:cNvPr id="19" name="Text 13"/>
          <p:cNvSpPr txBox="1"/>
          <p:nvPr/>
        </p:nvSpPr>
        <p:spPr>
          <a:xfrm>
            <a:off x="12668098" y="6019495"/>
            <a:ext cx="4286707" cy="162763"/>
          </a:xfrm>
          <a:prstGeom prst="rect">
            <a:avLst/>
          </a:prstGeom>
          <a:noFill/>
          <a:ln/>
        </p:spPr>
        <p:txBody>
          <a:bodyPr wrap="none" lIns="0" tIns="0" rIns="0" bIns="0" rtlCol="0" anchor="ctr"/>
          <a:lstStyle/>
          <a:p>
            <a:pPr algn="l" indent="0" marL="0">
              <a:buNone/>
            </a:pPr>
            <a:r>
              <a:rPr lang="en-US" sz="975" spc="215" kern="0" dirty="0">
                <a:solidFill>
                  <a:srgbClr val="F472B6"/>
                </a:solidFill>
                <a:latin typeface="JetBrains Mono" pitchFamily="34" charset="0"/>
                <a:ea typeface="JetBrains Mono" pitchFamily="34" charset="-122"/>
                <a:cs typeface="JetBrains Mono" pitchFamily="34" charset="-120"/>
              </a:rPr>
              <a:t>Max deviation</a:t>
            </a:r>
            <a:endParaRPr lang="en-US" sz="975" dirty="0"/>
          </a:p>
        </p:txBody>
      </p:sp>
      <p:sp>
        <p:nvSpPr>
          <p:cNvPr id="20" name="Text 14"/>
          <p:cNvSpPr txBox="1"/>
          <p:nvPr/>
        </p:nvSpPr>
        <p:spPr>
          <a:xfrm>
            <a:off x="12668098" y="6314846"/>
            <a:ext cx="4286707" cy="505663"/>
          </a:xfrm>
          <a:prstGeom prst="rect">
            <a:avLst/>
          </a:prstGeom>
          <a:noFill/>
          <a:ln/>
        </p:spPr>
        <p:txBody>
          <a:bodyPr wrap="none" lIns="0" tIns="0" rIns="0" bIns="0" rtlCol="0" anchor="ctr"/>
          <a:lstStyle/>
          <a:p>
            <a:pPr algn="l" indent="0" marL="0">
              <a:buNone/>
            </a:pPr>
            <a:r>
              <a:rPr lang="en-US" sz="3150" b="1" dirty="0">
                <a:solidFill>
                  <a:srgbClr val="E8EDF5"/>
                </a:solidFill>
                <a:latin typeface="Space Grotesk" pitchFamily="34" charset="0"/>
                <a:ea typeface="Space Grotesk" pitchFamily="34" charset="-122"/>
                <a:cs typeface="Space Grotesk" pitchFamily="34" charset="-120"/>
              </a:rPr>
              <a:t>W-03 ACI NU</a:t>
            </a:r>
            <a:endParaRPr lang="en-US" sz="3150" dirty="0"/>
          </a:p>
        </p:txBody>
      </p:sp>
      <p:sp>
        <p:nvSpPr>
          <p:cNvPr id="21" name="Text 15"/>
          <p:cNvSpPr txBox="1"/>
          <p:nvPr/>
        </p:nvSpPr>
        <p:spPr>
          <a:xfrm>
            <a:off x="12668098" y="6896405"/>
            <a:ext cx="4286707" cy="600761"/>
          </a:xfrm>
          <a:prstGeom prst="rect">
            <a:avLst/>
          </a:prstGeom>
          <a:noFill/>
          <a:ln/>
        </p:spPr>
        <p:txBody>
          <a:bodyPr wrap="none" lIns="0" tIns="0" rIns="0" bIns="0" rtlCol="0" anchor="ctr"/>
          <a:lstStyle/>
          <a:p>
            <a:pPr algn="l" indent="0" marL="0">
              <a:buNone/>
            </a:pPr>
            <a:r>
              <a:rPr lang="en-US" sz="3600" b="1" dirty="0">
                <a:solidFill>
                  <a:srgbClr val="F472B6"/>
                </a:solidFill>
                <a:latin typeface="JetBrains Mono" pitchFamily="34" charset="0"/>
                <a:ea typeface="JetBrains Mono" pitchFamily="34" charset="-122"/>
                <a:cs typeface="JetBrains Mono" pitchFamily="34" charset="-120"/>
              </a:rPr>
              <a:t>12.5 %</a:t>
            </a:r>
            <a:endParaRPr lang="en-US" sz="3600" dirty="0"/>
          </a:p>
        </p:txBody>
      </p:sp>
      <p:sp>
        <p:nvSpPr>
          <p:cNvPr id="22" name="Text 16"/>
          <p:cNvSpPr txBox="1"/>
          <p:nvPr/>
        </p:nvSpPr>
        <p:spPr>
          <a:xfrm>
            <a:off x="12668098" y="7552944"/>
            <a:ext cx="4286707" cy="257861"/>
          </a:xfrm>
          <a:prstGeom prst="rect">
            <a:avLst/>
          </a:prstGeom>
          <a:noFill/>
          <a:ln/>
        </p:spPr>
        <p:txBody>
          <a:bodyPr wrap="none" lIns="0" tIns="0" rIns="0" bIns="0" rtlCol="0" anchor="ctr"/>
          <a:lstStyle/>
          <a:p>
            <a:pPr algn="l" indent="0" marL="0">
              <a:buNone/>
            </a:pPr>
            <a:r>
              <a:rPr lang="en-US" sz="1350" dirty="0">
                <a:solidFill>
                  <a:srgbClr val="8B9BB3"/>
                </a:solidFill>
                <a:latin typeface="IBM Plex Sans KR" pitchFamily="34" charset="0"/>
                <a:ea typeface="IBM Plex Sans KR" pitchFamily="34" charset="-122"/>
                <a:cs typeface="IBM Plex Sans KR" pitchFamily="34" charset="-120"/>
              </a:rPr>
              <a:t>W-01의 3.8×</a:t>
            </a:r>
            <a:endParaRPr lang="en-US" sz="1350" dirty="0"/>
          </a:p>
        </p:txBody>
      </p:sp>
      <p:sp>
        <p:nvSpPr>
          <p:cNvPr id="23" name="Text 17"/>
          <p:cNvSpPr txBox="1"/>
          <p:nvPr/>
        </p:nvSpPr>
        <p:spPr>
          <a:xfrm>
            <a:off x="1143000" y="8382305"/>
            <a:ext cx="10629900" cy="191110"/>
          </a:xfrm>
          <a:prstGeom prst="rect">
            <a:avLst/>
          </a:prstGeom>
          <a:noFill/>
          <a:ln/>
        </p:spPr>
        <p:txBody>
          <a:bodyPr wrap="none" lIns="0" tIns="0" rIns="0" bIns="0" rtlCol="0" anchor="ctr"/>
          <a:lstStyle/>
          <a:p>
            <a:pPr algn="l" indent="0" marL="0">
              <a:buNone/>
            </a:pPr>
            <a:r>
              <a:rPr lang="en-US" sz="1050" dirty="0">
                <a:solidFill>
                  <a:srgbClr val="34D399"/>
                </a:solidFill>
                <a:latin typeface="JetBrains Mono" pitchFamily="34" charset="0"/>
                <a:ea typeface="JetBrains Mono" pitchFamily="34" charset="-122"/>
                <a:cs typeface="JetBrains Mono" pitchFamily="34" charset="-120"/>
              </a:rPr>
              <a:t>≤ 4.0 % 양호</a:t>
            </a:r>
            <a:endParaRPr lang="en-US" sz="1050" dirty="0"/>
          </a:p>
        </p:txBody>
      </p:sp>
      <p:sp>
        <p:nvSpPr>
          <p:cNvPr id="24" name="Text 18"/>
          <p:cNvSpPr txBox="1"/>
          <p:nvPr/>
        </p:nvSpPr>
        <p:spPr>
          <a:xfrm>
            <a:off x="1143000" y="8572500"/>
            <a:ext cx="10629900" cy="191110"/>
          </a:xfrm>
          <a:prstGeom prst="rect">
            <a:avLst/>
          </a:prstGeom>
          <a:noFill/>
          <a:ln/>
        </p:spPr>
        <p:txBody>
          <a:bodyPr wrap="none" lIns="0" tIns="0" rIns="0" bIns="0" rtlCol="0" anchor="ctr"/>
          <a:lstStyle/>
          <a:p>
            <a:pPr algn="l" indent="0" marL="0">
              <a:buNone/>
            </a:pPr>
            <a:r>
              <a:rPr lang="en-US" sz="1050" dirty="0">
                <a:solidFill>
                  <a:srgbClr val="FBBF24"/>
                </a:solidFill>
                <a:latin typeface="JetBrains Mono" pitchFamily="34" charset="0"/>
                <a:ea typeface="JetBrains Mono" pitchFamily="34" charset="-122"/>
                <a:cs typeface="JetBrains Mono" pitchFamily="34" charset="-120"/>
              </a:rPr>
              <a:t>4.0–8.0 % 주의</a:t>
            </a:r>
            <a:endParaRPr lang="en-US" sz="1050" dirty="0"/>
          </a:p>
        </p:txBody>
      </p:sp>
      <p:sp>
        <p:nvSpPr>
          <p:cNvPr id="25" name="Text 19"/>
          <p:cNvSpPr txBox="1"/>
          <p:nvPr/>
        </p:nvSpPr>
        <p:spPr>
          <a:xfrm>
            <a:off x="1143000" y="8762695"/>
            <a:ext cx="10858500" cy="191110"/>
          </a:xfrm>
          <a:prstGeom prst="rect">
            <a:avLst/>
          </a:prstGeom>
          <a:noFill/>
          <a:ln/>
        </p:spPr>
        <p:txBody>
          <a:bodyPr wrap="none" lIns="0" tIns="0" rIns="0" bIns="0" rtlCol="0" anchor="ctr"/>
          <a:lstStyle/>
          <a:p>
            <a:pPr algn="l" indent="0" marL="0">
              <a:buNone/>
            </a:pPr>
            <a:r>
              <a:rPr lang="en-US" sz="1050" dirty="0">
                <a:solidFill>
                  <a:srgbClr val="F472B6"/>
                </a:solidFill>
                <a:latin typeface="JetBrains Mono" pitchFamily="34" charset="0"/>
                <a:ea typeface="JetBrains Mono" pitchFamily="34" charset="-122"/>
                <a:cs typeface="JetBrains Mono" pitchFamily="34" charset="-120"/>
              </a:rPr>
              <a:t>≥ 8.0 % 이상치</a:t>
            </a:r>
            <a:endParaRPr lang="en-US" sz="1050" dirty="0"/>
          </a:p>
        </p:txBody>
      </p:sp>
      <p:sp>
        <p:nvSpPr>
          <p:cNvPr id="26" name="Text 20"/>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평균 NU는 W-01 3.4% → W-02 5.2% → W-03 9.6%로 진행, ACI가 가장 dose-민감 지표로 확인.</a:t>
            </a:r>
            <a:endParaRPr lang="en-US" sz="1200" dirty="0"/>
          </a:p>
        </p:txBody>
      </p:sp>
      <p:sp>
        <p:nvSpPr>
          <p:cNvPr id="27" name="Text 21"/>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143000" y="3238805"/>
            <a:ext cx="5162702" cy="5544007"/>
          </a:xfrm>
          <a:prstGeom prst="rect">
            <a:avLst/>
          </a:prstGeom>
          <a:solidFill>
            <a:srgbClr val="142039"/>
          </a:solidFill>
          <a:ln w="12700">
            <a:solidFill>
              <a:srgbClr val="1F2D49"/>
            </a:solidFill>
            <a:prstDash val="solid"/>
          </a:ln>
        </p:spPr>
      </p:sp>
      <p:sp>
        <p:nvSpPr>
          <p:cNvPr id="5" name="Shape 1"/>
          <p:cNvSpPr/>
          <p:nvPr/>
        </p:nvSpPr>
        <p:spPr>
          <a:xfrm>
            <a:off x="6572707" y="3238805"/>
            <a:ext cx="5162702" cy="5544007"/>
          </a:xfrm>
          <a:prstGeom prst="rect">
            <a:avLst/>
          </a:prstGeom>
          <a:solidFill>
            <a:srgbClr val="142039"/>
          </a:solidFill>
          <a:ln w="12700">
            <a:solidFill>
              <a:srgbClr val="1F2D49"/>
            </a:solidFill>
            <a:prstDash val="solid"/>
          </a:ln>
        </p:spPr>
      </p:sp>
      <p:sp>
        <p:nvSpPr>
          <p:cNvPr id="6" name="Shape 2"/>
          <p:cNvSpPr/>
          <p:nvPr/>
        </p:nvSpPr>
        <p:spPr>
          <a:xfrm>
            <a:off x="12001500" y="3238805"/>
            <a:ext cx="5162702" cy="5544007"/>
          </a:xfrm>
          <a:prstGeom prst="rect">
            <a:avLst/>
          </a:prstGeom>
          <a:solidFill>
            <a:srgbClr val="142039"/>
          </a:solidFill>
          <a:ln w="12700">
            <a:solidFill>
              <a:srgbClr val="1F2D49"/>
            </a:solidFill>
            <a:prstDash val="solid"/>
          </a:ln>
        </p:spPr>
      </p:sp>
      <p:sp>
        <p:nvSpPr>
          <p:cNvPr id="7" name="Shape 3"/>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8" name="Shape 4"/>
          <p:cNvSpPr/>
          <p:nvPr/>
        </p:nvSpPr>
        <p:spPr>
          <a:xfrm>
            <a:off x="1143000" y="9430207"/>
            <a:ext cx="28346" cy="495605"/>
          </a:xfrm>
          <a:prstGeom prst="rect">
            <a:avLst/>
          </a:prstGeom>
          <a:solidFill>
            <a:srgbClr val="38BDF8"/>
          </a:solidFill>
          <a:ln w="12700">
            <a:solidFill>
              <a:srgbClr val="38BDF8">
                <a:alpha val="0"/>
              </a:srgbClr>
            </a:solidFill>
            <a:prstDash val="solid"/>
          </a:ln>
        </p:spPr>
      </p:sp>
      <p:pic>
        <p:nvPicPr>
          <p:cNvPr id="9" name="Image 1" descr="gen-dedup-d1eeed6e781fb2a1572663c2cf170b87.png">    </p:cNvPr>
          <p:cNvPicPr>
            <a:picLocks noChangeAspect="1"/>
          </p:cNvPicPr>
          <p:nvPr/>
        </p:nvPicPr>
        <p:blipFill>
          <a:blip r:embed="rId2"/>
          <a:srcRect l="0" r="0" t="-400" b="-400"/>
          <a:stretch/>
        </p:blipFill>
        <p:spPr>
          <a:xfrm>
            <a:off x="1143000" y="3238805"/>
            <a:ext cx="5143500" cy="57607"/>
          </a:xfrm>
          <a:prstGeom prst="rect">
            <a:avLst/>
          </a:prstGeom>
        </p:spPr>
      </p:pic>
      <p:pic>
        <p:nvPicPr>
          <p:cNvPr id="10" name="Image 2" descr="gen-dedup-462112e744b13e5edab3084d57dd93e5.png">    </p:cNvPr>
          <p:cNvPicPr>
            <a:picLocks noChangeAspect="1"/>
          </p:cNvPicPr>
          <p:nvPr/>
        </p:nvPicPr>
        <p:blipFill>
          <a:blip r:embed="rId3"/>
          <a:srcRect l="0" r="0" t="-400" b="-400"/>
          <a:stretch/>
        </p:blipFill>
        <p:spPr>
          <a:xfrm>
            <a:off x="6572707" y="3238805"/>
            <a:ext cx="5143500" cy="57607"/>
          </a:xfrm>
          <a:prstGeom prst="rect">
            <a:avLst/>
          </a:prstGeom>
        </p:spPr>
      </p:pic>
      <p:pic>
        <p:nvPicPr>
          <p:cNvPr id="11" name="Image 3" descr="gen-dedup-22049e5546d54847717d41c213610eec.png">    </p:cNvPr>
          <p:cNvPicPr>
            <a:picLocks noChangeAspect="1"/>
          </p:cNvPicPr>
          <p:nvPr/>
        </p:nvPicPr>
        <p:blipFill>
          <a:blip r:embed="rId4"/>
          <a:srcRect l="0" r="0" t="-400" b="-400"/>
          <a:stretch/>
        </p:blipFill>
        <p:spPr>
          <a:xfrm>
            <a:off x="12001500" y="3238805"/>
            <a:ext cx="5143500" cy="57607"/>
          </a:xfrm>
          <a:prstGeom prst="rect">
            <a:avLst/>
          </a:prstGeom>
        </p:spPr>
      </p:pic>
      <p:sp>
        <p:nvSpPr>
          <p:cNvPr id="12" name="Text 5"/>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11 / 25-point Wafer Map</a:t>
            </a:r>
            <a:endParaRPr lang="en-US" sz="1350" dirty="0"/>
          </a:p>
        </p:txBody>
      </p:sp>
      <p:sp>
        <p:nvSpPr>
          <p:cNvPr id="13" name="Text 6"/>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25-point Wafer Map — ACI</a:t>
            </a:r>
            <a:endParaRPr lang="en-US" sz="4800" dirty="0"/>
          </a:p>
        </p:txBody>
      </p:sp>
      <p:sp>
        <p:nvSpPr>
          <p:cNvPr id="14" name="Text 7"/>
          <p:cNvSpPr txBox="1"/>
          <p:nvPr/>
        </p:nvSpPr>
        <p:spPr>
          <a:xfrm>
            <a:off x="1143000" y="2286000"/>
            <a:ext cx="12382805" cy="295351"/>
          </a:xfrm>
          <a:prstGeom prst="rect">
            <a:avLst/>
          </a:prstGeom>
          <a:noFill/>
          <a:ln/>
        </p:spPr>
        <p:txBody>
          <a:bodyPr wrap="none" lIns="0" tIns="0" rIns="0" bIns="0" rtlCol="0" anchor="ctr"/>
          <a:lstStyle/>
          <a:p>
            <a:pPr algn="l" indent="0" marL="0">
              <a:buNone/>
            </a:pPr>
            <a:r>
              <a:rPr lang="en-US" sz="1650" dirty="0">
                <a:solidFill>
                  <a:srgbClr val="8B9BB3"/>
                </a:solidFill>
                <a:latin typeface="IBM Plex Sans KR" pitchFamily="34" charset="0"/>
                <a:ea typeface="IBM Plex Sans KR" pitchFamily="34" charset="-122"/>
                <a:cs typeface="IBM Plex Sans KR" pitchFamily="34" charset="-120"/>
              </a:rPr>
              <a:t>Target 9.1 nm · cell 값 = 절대 CD(nm) · 색 농도 = |</a:t>
            </a:r>
            <a:pPr algn="l" indent="0" marL="0">
              <a:buNone/>
            </a:pPr>
            <a:r>
              <a:rPr lang="en-US" sz="1650" dirty="0">
                <a:solidFill>
                  <a:srgbClr val="8B9BB3"/>
                </a:solidFill>
                <a:latin typeface="JetBrains Mono" pitchFamily="34" charset="0"/>
                <a:ea typeface="JetBrains Mono" pitchFamily="34" charset="-122"/>
                <a:cs typeface="JetBrains Mono" pitchFamily="34" charset="-120"/>
              </a:rPr>
              <a:t>Δ</a:t>
            </a:r>
            <a:pPr algn="l" indent="0" marL="0">
              <a:buNone/>
            </a:pPr>
            <a:r>
              <a:rPr lang="en-US" sz="1650" dirty="0">
                <a:solidFill>
                  <a:srgbClr val="8B9BB3"/>
                </a:solidFill>
                <a:latin typeface="IBM Plex Sans KR" pitchFamily="34" charset="0"/>
                <a:ea typeface="IBM Plex Sans KR" pitchFamily="34" charset="-122"/>
                <a:cs typeface="IBM Plex Sans KR" pitchFamily="34" charset="-120"/>
              </a:rPr>
              <a:t>| from target.</a:t>
            </a:r>
            <a:endParaRPr lang="en-US" sz="1650" dirty="0"/>
          </a:p>
        </p:txBody>
      </p:sp>
      <p:pic>
        <p:nvPicPr>
          <p:cNvPr id="15" name="Image 4" descr="gen-dedup-cbd2dadeeb2aec465e858390d1195fd6.png">    </p:cNvPr>
          <p:cNvPicPr>
            <a:picLocks noChangeAspect="1"/>
          </p:cNvPicPr>
          <p:nvPr/>
        </p:nvPicPr>
        <p:blipFill>
          <a:blip r:embed="rId5"/>
          <a:srcRect l="-404" r="-404" t="0" b="0"/>
          <a:stretch/>
        </p:blipFill>
        <p:spPr>
          <a:xfrm>
            <a:off x="1143000" y="2743200"/>
            <a:ext cx="1143000" cy="28346"/>
          </a:xfrm>
          <a:prstGeom prst="rect">
            <a:avLst/>
          </a:prstGeom>
        </p:spPr>
      </p:pic>
      <p:sp>
        <p:nvSpPr>
          <p:cNvPr id="16" name="Text 8"/>
          <p:cNvSpPr txBox="1"/>
          <p:nvPr/>
        </p:nvSpPr>
        <p:spPr>
          <a:xfrm>
            <a:off x="1447495" y="3448202"/>
            <a:ext cx="3620110" cy="162763"/>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W-01 · 19 mJ</a:t>
            </a:r>
            <a:endParaRPr lang="en-US" sz="975" dirty="0"/>
          </a:p>
        </p:txBody>
      </p:sp>
      <p:sp>
        <p:nvSpPr>
          <p:cNvPr id="17" name="Text 9"/>
          <p:cNvSpPr txBox="1"/>
          <p:nvPr/>
        </p:nvSpPr>
        <p:spPr>
          <a:xfrm>
            <a:off x="1447495" y="3666744"/>
            <a:ext cx="3620110" cy="381305"/>
          </a:xfrm>
          <a:prstGeom prst="rect">
            <a:avLst/>
          </a:prstGeom>
          <a:noFill/>
          <a:ln/>
        </p:spPr>
        <p:txBody>
          <a:bodyPr wrap="none" lIns="0" tIns="0" rIns="0" bIns="0" rtlCol="0" anchor="ctr"/>
          <a:lstStyle/>
          <a:p>
            <a:pPr algn="l" indent="0" marL="0">
              <a:buNone/>
            </a:pPr>
            <a:r>
              <a:rPr lang="en-US" sz="2400" b="1" dirty="0">
                <a:solidFill>
                  <a:srgbClr val="E8EDF5"/>
                </a:solidFill>
                <a:latin typeface="Space Grotesk" pitchFamily="34" charset="0"/>
                <a:ea typeface="Space Grotesk" pitchFamily="34" charset="-122"/>
                <a:cs typeface="Space Grotesk" pitchFamily="34" charset="-120"/>
              </a:rPr>
              <a:t>ACI wafer map</a:t>
            </a:r>
            <a:endParaRPr lang="en-US" sz="2400" dirty="0"/>
          </a:p>
        </p:txBody>
      </p:sp>
      <p:sp>
        <p:nvSpPr>
          <p:cNvPr id="18" name="Text 10"/>
          <p:cNvSpPr txBox="1"/>
          <p:nvPr/>
        </p:nvSpPr>
        <p:spPr>
          <a:xfrm>
            <a:off x="1447495" y="4190695"/>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19" name="Text 11"/>
          <p:cNvSpPr txBox="1"/>
          <p:nvPr/>
        </p:nvSpPr>
        <p:spPr>
          <a:xfrm>
            <a:off x="2343607" y="419069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20" name="Text 12"/>
          <p:cNvSpPr txBox="1"/>
          <p:nvPr/>
        </p:nvSpPr>
        <p:spPr>
          <a:xfrm>
            <a:off x="3238805" y="4190695"/>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21" name="Text 13"/>
          <p:cNvSpPr txBox="1"/>
          <p:nvPr/>
        </p:nvSpPr>
        <p:spPr>
          <a:xfrm>
            <a:off x="4134002" y="419069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22" name="Text 14"/>
          <p:cNvSpPr txBox="1"/>
          <p:nvPr/>
        </p:nvSpPr>
        <p:spPr>
          <a:xfrm>
            <a:off x="5029200" y="4190695"/>
            <a:ext cx="838505" cy="762610"/>
          </a:xfrm>
          <a:prstGeom prst="rect">
            <a:avLst/>
          </a:prstGeom>
          <a:solidFill>
            <a:srgbClr val="FBBF24">
              <a:alpha val="14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9.2</a:t>
            </a:r>
            <a:endParaRPr lang="en-US" sz="1350" dirty="0"/>
          </a:p>
        </p:txBody>
      </p:sp>
      <p:sp>
        <p:nvSpPr>
          <p:cNvPr id="23" name="Text 15"/>
          <p:cNvSpPr txBox="1"/>
          <p:nvPr/>
        </p:nvSpPr>
        <p:spPr>
          <a:xfrm>
            <a:off x="1447495" y="5009998"/>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24" name="Text 16"/>
          <p:cNvSpPr txBox="1"/>
          <p:nvPr/>
        </p:nvSpPr>
        <p:spPr>
          <a:xfrm>
            <a:off x="2343607" y="5009998"/>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25" name="Text 17"/>
          <p:cNvSpPr txBox="1"/>
          <p:nvPr/>
        </p:nvSpPr>
        <p:spPr>
          <a:xfrm>
            <a:off x="3238805" y="5009998"/>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26" name="Text 18"/>
          <p:cNvSpPr txBox="1"/>
          <p:nvPr/>
        </p:nvSpPr>
        <p:spPr>
          <a:xfrm>
            <a:off x="4134002" y="5009998"/>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27" name="Text 19"/>
          <p:cNvSpPr txBox="1"/>
          <p:nvPr/>
        </p:nvSpPr>
        <p:spPr>
          <a:xfrm>
            <a:off x="5029200" y="5009998"/>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28" name="Text 20"/>
          <p:cNvSpPr txBox="1"/>
          <p:nvPr/>
        </p:nvSpPr>
        <p:spPr>
          <a:xfrm>
            <a:off x="1447495" y="5829300"/>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29" name="Text 21"/>
          <p:cNvSpPr txBox="1"/>
          <p:nvPr/>
        </p:nvSpPr>
        <p:spPr>
          <a:xfrm>
            <a:off x="2343607" y="5829300"/>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30" name="Text 22"/>
          <p:cNvSpPr txBox="1"/>
          <p:nvPr/>
        </p:nvSpPr>
        <p:spPr>
          <a:xfrm>
            <a:off x="3238805" y="5829300"/>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31" name="Text 23"/>
          <p:cNvSpPr txBox="1"/>
          <p:nvPr/>
        </p:nvSpPr>
        <p:spPr>
          <a:xfrm>
            <a:off x="4134002" y="5829300"/>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32" name="Text 24"/>
          <p:cNvSpPr txBox="1"/>
          <p:nvPr/>
        </p:nvSpPr>
        <p:spPr>
          <a:xfrm>
            <a:off x="5029200" y="5829300"/>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33" name="Text 25"/>
          <p:cNvSpPr txBox="1"/>
          <p:nvPr/>
        </p:nvSpPr>
        <p:spPr>
          <a:xfrm>
            <a:off x="1447495" y="6648602"/>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34" name="Text 26"/>
          <p:cNvSpPr txBox="1"/>
          <p:nvPr/>
        </p:nvSpPr>
        <p:spPr>
          <a:xfrm>
            <a:off x="2343607" y="6648602"/>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35" name="Text 27"/>
          <p:cNvSpPr txBox="1"/>
          <p:nvPr/>
        </p:nvSpPr>
        <p:spPr>
          <a:xfrm>
            <a:off x="3238805" y="6648602"/>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36" name="Text 28"/>
          <p:cNvSpPr txBox="1"/>
          <p:nvPr/>
        </p:nvSpPr>
        <p:spPr>
          <a:xfrm>
            <a:off x="4134002" y="6648602"/>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37" name="Text 29"/>
          <p:cNvSpPr txBox="1"/>
          <p:nvPr/>
        </p:nvSpPr>
        <p:spPr>
          <a:xfrm>
            <a:off x="5029200" y="6648602"/>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38" name="Text 30"/>
          <p:cNvSpPr txBox="1"/>
          <p:nvPr/>
        </p:nvSpPr>
        <p:spPr>
          <a:xfrm>
            <a:off x="1447495" y="7467905"/>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39" name="Text 31"/>
          <p:cNvSpPr txBox="1"/>
          <p:nvPr/>
        </p:nvSpPr>
        <p:spPr>
          <a:xfrm>
            <a:off x="2343607" y="746790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40" name="Text 32"/>
          <p:cNvSpPr txBox="1"/>
          <p:nvPr/>
        </p:nvSpPr>
        <p:spPr>
          <a:xfrm>
            <a:off x="3238805" y="7467905"/>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41" name="Text 33"/>
          <p:cNvSpPr txBox="1"/>
          <p:nvPr/>
        </p:nvSpPr>
        <p:spPr>
          <a:xfrm>
            <a:off x="4134002" y="746790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42" name="Text 34"/>
          <p:cNvSpPr txBox="1"/>
          <p:nvPr/>
        </p:nvSpPr>
        <p:spPr>
          <a:xfrm>
            <a:off x="5029200" y="7467905"/>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43" name="Text 35"/>
          <p:cNvSpPr txBox="1"/>
          <p:nvPr/>
        </p:nvSpPr>
        <p:spPr>
          <a:xfrm>
            <a:off x="6877202" y="3448202"/>
            <a:ext cx="3620110" cy="162763"/>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W-02 · 28 mJ</a:t>
            </a:r>
            <a:endParaRPr lang="en-US" sz="975" dirty="0"/>
          </a:p>
        </p:txBody>
      </p:sp>
      <p:sp>
        <p:nvSpPr>
          <p:cNvPr id="44" name="Text 36"/>
          <p:cNvSpPr txBox="1"/>
          <p:nvPr/>
        </p:nvSpPr>
        <p:spPr>
          <a:xfrm>
            <a:off x="6877202" y="3666744"/>
            <a:ext cx="3620110" cy="381305"/>
          </a:xfrm>
          <a:prstGeom prst="rect">
            <a:avLst/>
          </a:prstGeom>
          <a:noFill/>
          <a:ln/>
        </p:spPr>
        <p:txBody>
          <a:bodyPr wrap="none" lIns="0" tIns="0" rIns="0" bIns="0" rtlCol="0" anchor="ctr"/>
          <a:lstStyle/>
          <a:p>
            <a:pPr algn="l" indent="0" marL="0">
              <a:buNone/>
            </a:pPr>
            <a:r>
              <a:rPr lang="en-US" sz="2400" b="1" dirty="0">
                <a:solidFill>
                  <a:srgbClr val="E8EDF5"/>
                </a:solidFill>
                <a:latin typeface="Space Grotesk" pitchFamily="34" charset="0"/>
                <a:ea typeface="Space Grotesk" pitchFamily="34" charset="-122"/>
                <a:cs typeface="Space Grotesk" pitchFamily="34" charset="-120"/>
              </a:rPr>
              <a:t>ACI wafer map</a:t>
            </a:r>
            <a:endParaRPr lang="en-US" sz="2400" dirty="0"/>
          </a:p>
        </p:txBody>
      </p:sp>
      <p:sp>
        <p:nvSpPr>
          <p:cNvPr id="45" name="Text 37"/>
          <p:cNvSpPr txBox="1"/>
          <p:nvPr/>
        </p:nvSpPr>
        <p:spPr>
          <a:xfrm>
            <a:off x="6877202" y="4190695"/>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9.4</a:t>
            </a:r>
            <a:endParaRPr lang="en-US" sz="1350" dirty="0"/>
          </a:p>
        </p:txBody>
      </p:sp>
      <p:sp>
        <p:nvSpPr>
          <p:cNvPr id="46" name="Text 38"/>
          <p:cNvSpPr txBox="1"/>
          <p:nvPr/>
        </p:nvSpPr>
        <p:spPr>
          <a:xfrm>
            <a:off x="7772400" y="419069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9.2</a:t>
            </a:r>
            <a:endParaRPr lang="en-US" sz="1350" dirty="0"/>
          </a:p>
        </p:txBody>
      </p:sp>
      <p:sp>
        <p:nvSpPr>
          <p:cNvPr id="47" name="Text 39"/>
          <p:cNvSpPr txBox="1"/>
          <p:nvPr/>
        </p:nvSpPr>
        <p:spPr>
          <a:xfrm>
            <a:off x="8667598" y="4190695"/>
            <a:ext cx="838505" cy="762610"/>
          </a:xfrm>
          <a:prstGeom prst="rect">
            <a:avLst/>
          </a:prstGeom>
          <a:solidFill>
            <a:srgbClr val="38BDF8">
              <a:alpha val="12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48" name="Text 40"/>
          <p:cNvSpPr txBox="1"/>
          <p:nvPr/>
        </p:nvSpPr>
        <p:spPr>
          <a:xfrm>
            <a:off x="9562795" y="4190695"/>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9.3</a:t>
            </a:r>
            <a:endParaRPr lang="en-US" sz="1350" dirty="0"/>
          </a:p>
        </p:txBody>
      </p:sp>
      <p:sp>
        <p:nvSpPr>
          <p:cNvPr id="49" name="Text 41"/>
          <p:cNvSpPr txBox="1"/>
          <p:nvPr/>
        </p:nvSpPr>
        <p:spPr>
          <a:xfrm>
            <a:off x="10458907" y="4190695"/>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9.5</a:t>
            </a:r>
            <a:endParaRPr lang="en-US" sz="1350" dirty="0"/>
          </a:p>
        </p:txBody>
      </p:sp>
      <p:sp>
        <p:nvSpPr>
          <p:cNvPr id="50" name="Text 42"/>
          <p:cNvSpPr txBox="1"/>
          <p:nvPr/>
        </p:nvSpPr>
        <p:spPr>
          <a:xfrm>
            <a:off x="6877202" y="5009998"/>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51" name="Text 43"/>
          <p:cNvSpPr txBox="1"/>
          <p:nvPr/>
        </p:nvSpPr>
        <p:spPr>
          <a:xfrm>
            <a:off x="7772400" y="5009998"/>
            <a:ext cx="838505" cy="762610"/>
          </a:xfrm>
          <a:prstGeom prst="rect">
            <a:avLst/>
          </a:prstGeom>
          <a:solidFill>
            <a:srgbClr val="38BDF8">
              <a:alpha val="12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52" name="Text 44"/>
          <p:cNvSpPr txBox="1"/>
          <p:nvPr/>
        </p:nvSpPr>
        <p:spPr>
          <a:xfrm>
            <a:off x="8667598" y="5009998"/>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9.4</a:t>
            </a:r>
            <a:endParaRPr lang="en-US" sz="1350" dirty="0"/>
          </a:p>
        </p:txBody>
      </p:sp>
      <p:sp>
        <p:nvSpPr>
          <p:cNvPr id="53" name="Text 45"/>
          <p:cNvSpPr txBox="1"/>
          <p:nvPr/>
        </p:nvSpPr>
        <p:spPr>
          <a:xfrm>
            <a:off x="9562795" y="5009998"/>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9.2</a:t>
            </a:r>
            <a:endParaRPr lang="en-US" sz="1350" dirty="0"/>
          </a:p>
        </p:txBody>
      </p:sp>
      <p:sp>
        <p:nvSpPr>
          <p:cNvPr id="54" name="Text 46"/>
          <p:cNvSpPr txBox="1"/>
          <p:nvPr/>
        </p:nvSpPr>
        <p:spPr>
          <a:xfrm>
            <a:off x="10458907" y="5009998"/>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9.5</a:t>
            </a:r>
            <a:endParaRPr lang="en-US" sz="1350" dirty="0"/>
          </a:p>
        </p:txBody>
      </p:sp>
      <p:sp>
        <p:nvSpPr>
          <p:cNvPr id="55" name="Text 47"/>
          <p:cNvSpPr txBox="1"/>
          <p:nvPr/>
        </p:nvSpPr>
        <p:spPr>
          <a:xfrm>
            <a:off x="6877202" y="5829300"/>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9.4</a:t>
            </a:r>
            <a:endParaRPr lang="en-US" sz="1350" dirty="0"/>
          </a:p>
        </p:txBody>
      </p:sp>
      <p:sp>
        <p:nvSpPr>
          <p:cNvPr id="56" name="Text 48"/>
          <p:cNvSpPr txBox="1"/>
          <p:nvPr/>
        </p:nvSpPr>
        <p:spPr>
          <a:xfrm>
            <a:off x="7772400" y="5829300"/>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57" name="Text 49"/>
          <p:cNvSpPr txBox="1"/>
          <p:nvPr/>
        </p:nvSpPr>
        <p:spPr>
          <a:xfrm>
            <a:off x="8667598" y="5829300"/>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9.3</a:t>
            </a:r>
            <a:endParaRPr lang="en-US" sz="1350" dirty="0"/>
          </a:p>
        </p:txBody>
      </p:sp>
      <p:sp>
        <p:nvSpPr>
          <p:cNvPr id="58" name="Text 50"/>
          <p:cNvSpPr txBox="1"/>
          <p:nvPr/>
        </p:nvSpPr>
        <p:spPr>
          <a:xfrm>
            <a:off x="9562795" y="5829300"/>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9.2</a:t>
            </a:r>
            <a:endParaRPr lang="en-US" sz="1350" dirty="0"/>
          </a:p>
        </p:txBody>
      </p:sp>
      <p:sp>
        <p:nvSpPr>
          <p:cNvPr id="59" name="Text 51"/>
          <p:cNvSpPr txBox="1"/>
          <p:nvPr/>
        </p:nvSpPr>
        <p:spPr>
          <a:xfrm>
            <a:off x="10458907" y="5829300"/>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9.5</a:t>
            </a:r>
            <a:endParaRPr lang="en-US" sz="1350" dirty="0"/>
          </a:p>
        </p:txBody>
      </p:sp>
      <p:sp>
        <p:nvSpPr>
          <p:cNvPr id="60" name="Text 52"/>
          <p:cNvSpPr txBox="1"/>
          <p:nvPr/>
        </p:nvSpPr>
        <p:spPr>
          <a:xfrm>
            <a:off x="6877202" y="6648602"/>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9.3</a:t>
            </a:r>
            <a:endParaRPr lang="en-US" sz="1350" dirty="0"/>
          </a:p>
        </p:txBody>
      </p:sp>
      <p:sp>
        <p:nvSpPr>
          <p:cNvPr id="61" name="Text 53"/>
          <p:cNvSpPr txBox="1"/>
          <p:nvPr/>
        </p:nvSpPr>
        <p:spPr>
          <a:xfrm>
            <a:off x="7772400" y="6648602"/>
            <a:ext cx="838505" cy="762610"/>
          </a:xfrm>
          <a:prstGeom prst="rect">
            <a:avLst/>
          </a:prstGeom>
          <a:solidFill>
            <a:srgbClr val="38BDF8">
              <a:alpha val="12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62" name="Text 54"/>
          <p:cNvSpPr txBox="1"/>
          <p:nvPr/>
        </p:nvSpPr>
        <p:spPr>
          <a:xfrm>
            <a:off x="8667598" y="6648602"/>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63" name="Text 55"/>
          <p:cNvSpPr txBox="1"/>
          <p:nvPr/>
        </p:nvSpPr>
        <p:spPr>
          <a:xfrm>
            <a:off x="9562795" y="6648602"/>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9.4</a:t>
            </a:r>
            <a:endParaRPr lang="en-US" sz="1350" dirty="0"/>
          </a:p>
        </p:txBody>
      </p:sp>
      <p:sp>
        <p:nvSpPr>
          <p:cNvPr id="64" name="Text 56"/>
          <p:cNvSpPr txBox="1"/>
          <p:nvPr/>
        </p:nvSpPr>
        <p:spPr>
          <a:xfrm>
            <a:off x="10458907" y="6648602"/>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9.3</a:t>
            </a:r>
            <a:endParaRPr lang="en-US" sz="1350" dirty="0"/>
          </a:p>
        </p:txBody>
      </p:sp>
      <p:sp>
        <p:nvSpPr>
          <p:cNvPr id="65" name="Text 57"/>
          <p:cNvSpPr txBox="1"/>
          <p:nvPr/>
        </p:nvSpPr>
        <p:spPr>
          <a:xfrm>
            <a:off x="6877202" y="7467905"/>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9.4</a:t>
            </a:r>
            <a:endParaRPr lang="en-US" sz="1350" dirty="0"/>
          </a:p>
        </p:txBody>
      </p:sp>
      <p:sp>
        <p:nvSpPr>
          <p:cNvPr id="66" name="Text 58"/>
          <p:cNvSpPr txBox="1"/>
          <p:nvPr/>
        </p:nvSpPr>
        <p:spPr>
          <a:xfrm>
            <a:off x="7772400" y="746790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9.2</a:t>
            </a:r>
            <a:endParaRPr lang="en-US" sz="1350" dirty="0"/>
          </a:p>
        </p:txBody>
      </p:sp>
      <p:sp>
        <p:nvSpPr>
          <p:cNvPr id="67" name="Text 59"/>
          <p:cNvSpPr txBox="1"/>
          <p:nvPr/>
        </p:nvSpPr>
        <p:spPr>
          <a:xfrm>
            <a:off x="8667598" y="7467905"/>
            <a:ext cx="838505" cy="762610"/>
          </a:xfrm>
          <a:prstGeom prst="rect">
            <a:avLst/>
          </a:prstGeom>
          <a:solidFill>
            <a:srgbClr val="38BDF8">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68" name="Text 60"/>
          <p:cNvSpPr txBox="1"/>
          <p:nvPr/>
        </p:nvSpPr>
        <p:spPr>
          <a:xfrm>
            <a:off x="9562795" y="7467905"/>
            <a:ext cx="838505" cy="762610"/>
          </a:xfrm>
          <a:prstGeom prst="rect">
            <a:avLst/>
          </a:prstGeom>
          <a:solidFill>
            <a:srgbClr val="FBBF24">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9.3</a:t>
            </a:r>
            <a:endParaRPr lang="en-US" sz="1350" dirty="0"/>
          </a:p>
        </p:txBody>
      </p:sp>
      <p:sp>
        <p:nvSpPr>
          <p:cNvPr id="69" name="Text 61"/>
          <p:cNvSpPr txBox="1"/>
          <p:nvPr/>
        </p:nvSpPr>
        <p:spPr>
          <a:xfrm>
            <a:off x="10458907" y="7467905"/>
            <a:ext cx="838505" cy="762610"/>
          </a:xfrm>
          <a:prstGeom prst="rect">
            <a:avLst/>
          </a:prstGeom>
          <a:solidFill>
            <a:srgbClr val="FBBF24">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9.5</a:t>
            </a:r>
            <a:endParaRPr lang="en-US" sz="1350" dirty="0"/>
          </a:p>
        </p:txBody>
      </p:sp>
      <p:sp>
        <p:nvSpPr>
          <p:cNvPr id="70" name="Text 62"/>
          <p:cNvSpPr txBox="1"/>
          <p:nvPr/>
        </p:nvSpPr>
        <p:spPr>
          <a:xfrm>
            <a:off x="12305995" y="3448202"/>
            <a:ext cx="3620110" cy="162763"/>
          </a:xfrm>
          <a:prstGeom prst="rect">
            <a:avLst/>
          </a:prstGeom>
          <a:noFill/>
          <a:ln/>
        </p:spPr>
        <p:txBody>
          <a:bodyPr wrap="none" lIns="0" tIns="0" rIns="0" bIns="0" rtlCol="0" anchor="ctr"/>
          <a:lstStyle/>
          <a:p>
            <a:pPr algn="l" indent="0" marL="0">
              <a:buNone/>
            </a:pPr>
            <a:r>
              <a:rPr lang="en-US" sz="975" spc="215" kern="0" dirty="0">
                <a:solidFill>
                  <a:srgbClr val="FBBF24"/>
                </a:solidFill>
                <a:latin typeface="JetBrains Mono" pitchFamily="34" charset="0"/>
                <a:ea typeface="JetBrains Mono" pitchFamily="34" charset="-122"/>
                <a:cs typeface="JetBrains Mono" pitchFamily="34" charset="-120"/>
              </a:rPr>
              <a:t>W-03 · 38 mJ</a:t>
            </a:r>
            <a:endParaRPr lang="en-US" sz="975" dirty="0"/>
          </a:p>
        </p:txBody>
      </p:sp>
      <p:sp>
        <p:nvSpPr>
          <p:cNvPr id="71" name="Text 63"/>
          <p:cNvSpPr txBox="1"/>
          <p:nvPr/>
        </p:nvSpPr>
        <p:spPr>
          <a:xfrm>
            <a:off x="12305995" y="3666744"/>
            <a:ext cx="3620110" cy="381305"/>
          </a:xfrm>
          <a:prstGeom prst="rect">
            <a:avLst/>
          </a:prstGeom>
          <a:noFill/>
          <a:ln/>
        </p:spPr>
        <p:txBody>
          <a:bodyPr wrap="none" lIns="0" tIns="0" rIns="0" bIns="0" rtlCol="0" anchor="ctr"/>
          <a:lstStyle/>
          <a:p>
            <a:pPr algn="l" indent="0" marL="0">
              <a:buNone/>
            </a:pPr>
            <a:r>
              <a:rPr lang="en-US" sz="2400" b="1" dirty="0">
                <a:solidFill>
                  <a:srgbClr val="E8EDF5"/>
                </a:solidFill>
                <a:latin typeface="Space Grotesk" pitchFamily="34" charset="0"/>
                <a:ea typeface="Space Grotesk" pitchFamily="34" charset="-122"/>
                <a:cs typeface="Space Grotesk" pitchFamily="34" charset="-120"/>
              </a:rPr>
              <a:t>ACI wafer map</a:t>
            </a:r>
            <a:endParaRPr lang="en-US" sz="2400" dirty="0"/>
          </a:p>
        </p:txBody>
      </p:sp>
      <p:sp>
        <p:nvSpPr>
          <p:cNvPr id="72" name="Text 64"/>
          <p:cNvSpPr txBox="1"/>
          <p:nvPr/>
        </p:nvSpPr>
        <p:spPr>
          <a:xfrm>
            <a:off x="12305995" y="4190695"/>
            <a:ext cx="838505" cy="762610"/>
          </a:xfrm>
          <a:prstGeom prst="rect">
            <a:avLst/>
          </a:prstGeom>
          <a:solidFill>
            <a:srgbClr val="F472B6">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8.7</a:t>
            </a:r>
            <a:endParaRPr lang="en-US" sz="1350" dirty="0"/>
          </a:p>
        </p:txBody>
      </p:sp>
      <p:sp>
        <p:nvSpPr>
          <p:cNvPr id="73" name="Text 65"/>
          <p:cNvSpPr txBox="1"/>
          <p:nvPr/>
        </p:nvSpPr>
        <p:spPr>
          <a:xfrm>
            <a:off x="13202107" y="4190695"/>
            <a:ext cx="838505" cy="762610"/>
          </a:xfrm>
          <a:prstGeom prst="rect">
            <a:avLst/>
          </a:prstGeom>
          <a:solidFill>
            <a:srgbClr val="38BDF8">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8.5</a:t>
            </a:r>
            <a:endParaRPr lang="en-US" sz="1350" dirty="0"/>
          </a:p>
        </p:txBody>
      </p:sp>
      <p:sp>
        <p:nvSpPr>
          <p:cNvPr id="74" name="Text 66"/>
          <p:cNvSpPr txBox="1"/>
          <p:nvPr/>
        </p:nvSpPr>
        <p:spPr>
          <a:xfrm>
            <a:off x="14097305" y="4190695"/>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8.4</a:t>
            </a:r>
            <a:endParaRPr lang="en-US" sz="1350" dirty="0"/>
          </a:p>
        </p:txBody>
      </p:sp>
      <p:sp>
        <p:nvSpPr>
          <p:cNvPr id="75" name="Text 67"/>
          <p:cNvSpPr txBox="1"/>
          <p:nvPr/>
        </p:nvSpPr>
        <p:spPr>
          <a:xfrm>
            <a:off x="14992502" y="4190695"/>
            <a:ext cx="838505" cy="762610"/>
          </a:xfrm>
          <a:prstGeom prst="rect">
            <a:avLst/>
          </a:prstGeom>
          <a:solidFill>
            <a:srgbClr val="38BDF8">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76" name="Text 68"/>
          <p:cNvSpPr txBox="1"/>
          <p:nvPr/>
        </p:nvSpPr>
        <p:spPr>
          <a:xfrm>
            <a:off x="15887700" y="4190695"/>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9.8</a:t>
            </a:r>
            <a:endParaRPr lang="en-US" sz="1350" dirty="0"/>
          </a:p>
        </p:txBody>
      </p:sp>
      <p:sp>
        <p:nvSpPr>
          <p:cNvPr id="77" name="Text 69"/>
          <p:cNvSpPr txBox="1"/>
          <p:nvPr/>
        </p:nvSpPr>
        <p:spPr>
          <a:xfrm>
            <a:off x="12305995" y="5009998"/>
            <a:ext cx="838505" cy="762610"/>
          </a:xfrm>
          <a:prstGeom prst="rect">
            <a:avLst/>
          </a:prstGeom>
          <a:solidFill>
            <a:srgbClr val="F472B6">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8.6</a:t>
            </a:r>
            <a:endParaRPr lang="en-US" sz="1350" dirty="0"/>
          </a:p>
        </p:txBody>
      </p:sp>
      <p:sp>
        <p:nvSpPr>
          <p:cNvPr id="78" name="Text 70"/>
          <p:cNvSpPr txBox="1"/>
          <p:nvPr/>
        </p:nvSpPr>
        <p:spPr>
          <a:xfrm>
            <a:off x="13202107" y="5009998"/>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8.4</a:t>
            </a:r>
            <a:endParaRPr lang="en-US" sz="1350" dirty="0"/>
          </a:p>
        </p:txBody>
      </p:sp>
      <p:sp>
        <p:nvSpPr>
          <p:cNvPr id="79" name="Text 71"/>
          <p:cNvSpPr txBox="1"/>
          <p:nvPr/>
        </p:nvSpPr>
        <p:spPr>
          <a:xfrm>
            <a:off x="14097305" y="5009998"/>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9.1</a:t>
            </a:r>
            <a:endParaRPr lang="en-US" sz="1350" dirty="0"/>
          </a:p>
        </p:txBody>
      </p:sp>
      <p:sp>
        <p:nvSpPr>
          <p:cNvPr id="80" name="Text 72"/>
          <p:cNvSpPr txBox="1"/>
          <p:nvPr/>
        </p:nvSpPr>
        <p:spPr>
          <a:xfrm>
            <a:off x="14992502" y="5009998"/>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8.4</a:t>
            </a:r>
            <a:endParaRPr lang="en-US" sz="1350" dirty="0"/>
          </a:p>
        </p:txBody>
      </p:sp>
      <p:sp>
        <p:nvSpPr>
          <p:cNvPr id="81" name="Text 73"/>
          <p:cNvSpPr txBox="1"/>
          <p:nvPr/>
        </p:nvSpPr>
        <p:spPr>
          <a:xfrm>
            <a:off x="15887700" y="5009998"/>
            <a:ext cx="838505" cy="762610"/>
          </a:xfrm>
          <a:prstGeom prst="rect">
            <a:avLst/>
          </a:prstGeom>
          <a:solidFill>
            <a:srgbClr val="F472B6">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9.6</a:t>
            </a:r>
            <a:endParaRPr lang="en-US" sz="1350" dirty="0"/>
          </a:p>
        </p:txBody>
      </p:sp>
      <p:sp>
        <p:nvSpPr>
          <p:cNvPr id="82" name="Text 74"/>
          <p:cNvSpPr txBox="1"/>
          <p:nvPr/>
        </p:nvSpPr>
        <p:spPr>
          <a:xfrm>
            <a:off x="12305995" y="5829300"/>
            <a:ext cx="838505" cy="762610"/>
          </a:xfrm>
          <a:prstGeom prst="rect">
            <a:avLst/>
          </a:prstGeom>
          <a:solidFill>
            <a:srgbClr val="38BDF8">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83" name="Text 75"/>
          <p:cNvSpPr txBox="1"/>
          <p:nvPr/>
        </p:nvSpPr>
        <p:spPr>
          <a:xfrm>
            <a:off x="13202107" y="5829300"/>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8.5</a:t>
            </a:r>
            <a:endParaRPr lang="en-US" sz="1350" dirty="0"/>
          </a:p>
        </p:txBody>
      </p:sp>
      <p:sp>
        <p:nvSpPr>
          <p:cNvPr id="84" name="Text 76"/>
          <p:cNvSpPr txBox="1"/>
          <p:nvPr/>
        </p:nvSpPr>
        <p:spPr>
          <a:xfrm>
            <a:off x="14097305" y="5829300"/>
            <a:ext cx="838505" cy="762610"/>
          </a:xfrm>
          <a:prstGeom prst="rect">
            <a:avLst/>
          </a:prstGeom>
          <a:solidFill>
            <a:srgbClr val="34D399">
              <a:alpha val="1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9.0</a:t>
            </a:r>
            <a:endParaRPr lang="en-US" sz="1350" dirty="0"/>
          </a:p>
        </p:txBody>
      </p:sp>
      <p:sp>
        <p:nvSpPr>
          <p:cNvPr id="85" name="Text 77"/>
          <p:cNvSpPr txBox="1"/>
          <p:nvPr/>
        </p:nvSpPr>
        <p:spPr>
          <a:xfrm>
            <a:off x="14992502" y="5829300"/>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8.3</a:t>
            </a:r>
            <a:endParaRPr lang="en-US" sz="1350" dirty="0"/>
          </a:p>
        </p:txBody>
      </p:sp>
      <p:sp>
        <p:nvSpPr>
          <p:cNvPr id="86" name="Text 78"/>
          <p:cNvSpPr txBox="1"/>
          <p:nvPr/>
        </p:nvSpPr>
        <p:spPr>
          <a:xfrm>
            <a:off x="15887700" y="5829300"/>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9.7</a:t>
            </a:r>
            <a:endParaRPr lang="en-US" sz="1350" dirty="0"/>
          </a:p>
        </p:txBody>
      </p:sp>
      <p:sp>
        <p:nvSpPr>
          <p:cNvPr id="87" name="Text 79"/>
          <p:cNvSpPr txBox="1"/>
          <p:nvPr/>
        </p:nvSpPr>
        <p:spPr>
          <a:xfrm>
            <a:off x="12305995" y="6648602"/>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8.5</a:t>
            </a:r>
            <a:endParaRPr lang="en-US" sz="1350" dirty="0"/>
          </a:p>
        </p:txBody>
      </p:sp>
      <p:sp>
        <p:nvSpPr>
          <p:cNvPr id="88" name="Text 80"/>
          <p:cNvSpPr txBox="1"/>
          <p:nvPr/>
        </p:nvSpPr>
        <p:spPr>
          <a:xfrm>
            <a:off x="13202107" y="6648602"/>
            <a:ext cx="838505" cy="762610"/>
          </a:xfrm>
          <a:prstGeom prst="rect">
            <a:avLst/>
          </a:prstGeom>
          <a:solidFill>
            <a:srgbClr val="38BDF8">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89" name="Text 81"/>
          <p:cNvSpPr txBox="1"/>
          <p:nvPr/>
        </p:nvSpPr>
        <p:spPr>
          <a:xfrm>
            <a:off x="14097305" y="6648602"/>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8.2</a:t>
            </a:r>
            <a:endParaRPr lang="en-US" sz="1350" dirty="0"/>
          </a:p>
        </p:txBody>
      </p:sp>
      <p:sp>
        <p:nvSpPr>
          <p:cNvPr id="90" name="Text 82"/>
          <p:cNvSpPr txBox="1"/>
          <p:nvPr/>
        </p:nvSpPr>
        <p:spPr>
          <a:xfrm>
            <a:off x="14992502" y="6648602"/>
            <a:ext cx="838505" cy="762610"/>
          </a:xfrm>
          <a:prstGeom prst="rect">
            <a:avLst/>
          </a:prstGeom>
          <a:solidFill>
            <a:srgbClr val="38BDF8">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8.9</a:t>
            </a:r>
            <a:endParaRPr lang="en-US" sz="1350" dirty="0"/>
          </a:p>
        </p:txBody>
      </p:sp>
      <p:sp>
        <p:nvSpPr>
          <p:cNvPr id="91" name="Text 83"/>
          <p:cNvSpPr txBox="1"/>
          <p:nvPr/>
        </p:nvSpPr>
        <p:spPr>
          <a:xfrm>
            <a:off x="15887700" y="6648602"/>
            <a:ext cx="838505" cy="762610"/>
          </a:xfrm>
          <a:prstGeom prst="rect">
            <a:avLst/>
          </a:prstGeom>
          <a:solidFill>
            <a:srgbClr val="F472B6">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9.5</a:t>
            </a:r>
            <a:endParaRPr lang="en-US" sz="1350" dirty="0"/>
          </a:p>
        </p:txBody>
      </p:sp>
      <p:sp>
        <p:nvSpPr>
          <p:cNvPr id="92" name="Text 84"/>
          <p:cNvSpPr txBox="1"/>
          <p:nvPr/>
        </p:nvSpPr>
        <p:spPr>
          <a:xfrm>
            <a:off x="12305995" y="7467905"/>
            <a:ext cx="838505" cy="762610"/>
          </a:xfrm>
          <a:prstGeom prst="rect">
            <a:avLst/>
          </a:prstGeom>
          <a:solidFill>
            <a:srgbClr val="F472B6">
              <a:alpha val="18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8.7</a:t>
            </a:r>
            <a:endParaRPr lang="en-US" sz="1350" dirty="0"/>
          </a:p>
        </p:txBody>
      </p:sp>
      <p:sp>
        <p:nvSpPr>
          <p:cNvPr id="93" name="Text 85"/>
          <p:cNvSpPr txBox="1"/>
          <p:nvPr/>
        </p:nvSpPr>
        <p:spPr>
          <a:xfrm>
            <a:off x="13202107" y="7467905"/>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8.3</a:t>
            </a:r>
            <a:endParaRPr lang="en-US" sz="1350" dirty="0"/>
          </a:p>
        </p:txBody>
      </p:sp>
      <p:sp>
        <p:nvSpPr>
          <p:cNvPr id="94" name="Text 86"/>
          <p:cNvSpPr txBox="1"/>
          <p:nvPr/>
        </p:nvSpPr>
        <p:spPr>
          <a:xfrm>
            <a:off x="14097305" y="7467905"/>
            <a:ext cx="838505" cy="762610"/>
          </a:xfrm>
          <a:prstGeom prst="rect">
            <a:avLst/>
          </a:prstGeom>
          <a:solidFill>
            <a:srgbClr val="F472B6">
              <a:alpha val="22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8.1</a:t>
            </a:r>
            <a:endParaRPr lang="en-US" sz="1350" dirty="0"/>
          </a:p>
        </p:txBody>
      </p:sp>
      <p:sp>
        <p:nvSpPr>
          <p:cNvPr id="95" name="Text 87"/>
          <p:cNvSpPr txBox="1"/>
          <p:nvPr/>
        </p:nvSpPr>
        <p:spPr>
          <a:xfrm>
            <a:off x="14992502" y="7467905"/>
            <a:ext cx="838505" cy="762610"/>
          </a:xfrm>
          <a:prstGeom prst="rect">
            <a:avLst/>
          </a:prstGeom>
          <a:solidFill>
            <a:srgbClr val="38BDF8">
              <a:alpha val="16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8.8</a:t>
            </a:r>
            <a:endParaRPr lang="en-US" sz="1350" dirty="0"/>
          </a:p>
        </p:txBody>
      </p:sp>
      <p:sp>
        <p:nvSpPr>
          <p:cNvPr id="96" name="Text 88"/>
          <p:cNvSpPr txBox="1"/>
          <p:nvPr/>
        </p:nvSpPr>
        <p:spPr>
          <a:xfrm>
            <a:off x="15887700" y="7467905"/>
            <a:ext cx="838505" cy="762610"/>
          </a:xfrm>
          <a:prstGeom prst="rect">
            <a:avLst/>
          </a:prstGeom>
          <a:solidFill>
            <a:srgbClr val="F472B6">
              <a:alpha val="20000"/>
            </a:srgbClr>
          </a:solidFill>
          <a:ln>
            <a:solidFill>
              <a:srgbClr val="FFFFFF">
                <a:alpha val="0"/>
              </a:srgbClr>
            </a:solidFill>
          </a:ln>
        </p:spPr>
        <p:txBody>
          <a:bodyPr wrap="square" lIns="0" tIns="0" rIns="0" bIns="0" rtlCol="0" anchor="ctr"/>
          <a:lstStyle/>
          <a:p>
            <a:pPr algn="ctr" indent="0" marL="0">
              <a:buNone/>
            </a:pPr>
            <a:r>
              <a:rPr lang="en-US" sz="1350" dirty="0">
                <a:solidFill>
                  <a:srgbClr val="E8EDF5"/>
                </a:solidFill>
                <a:latin typeface="JetBrains Mono" pitchFamily="34" charset="0"/>
                <a:ea typeface="JetBrains Mono" pitchFamily="34" charset="-122"/>
                <a:cs typeface="JetBrains Mono" pitchFamily="34" charset="-120"/>
              </a:rPr>
              <a:t>9.7</a:t>
            </a:r>
            <a:endParaRPr lang="en-US" sz="1350" dirty="0"/>
          </a:p>
        </p:txBody>
      </p:sp>
      <p:sp>
        <p:nvSpPr>
          <p:cNvPr id="97" name="Text 89"/>
          <p:cNvSpPr txBox="1"/>
          <p:nvPr/>
        </p:nvSpPr>
        <p:spPr>
          <a:xfrm>
            <a:off x="1143000" y="8791956"/>
            <a:ext cx="724205" cy="171907"/>
          </a:xfrm>
          <a:prstGeom prst="rect">
            <a:avLst/>
          </a:prstGeom>
          <a:noFill/>
          <a:ln/>
        </p:spPr>
        <p:txBody>
          <a:bodyPr wrap="none" lIns="0" tIns="0" rIns="0" bIns="0" rtlCol="0" anchor="ctr"/>
          <a:lstStyle/>
          <a:p>
            <a:pPr algn="l" indent="0" marL="0">
              <a:buNone/>
            </a:pPr>
            <a:r>
              <a:rPr lang="en-US" sz="1050" dirty="0">
                <a:solidFill>
                  <a:srgbClr val="8B9BB3"/>
                </a:solidFill>
                <a:latin typeface="JetBrains Mono" pitchFamily="34" charset="0"/>
                <a:ea typeface="JetBrains Mono" pitchFamily="34" charset="-122"/>
                <a:cs typeface="JetBrains Mono" pitchFamily="34" charset="-120"/>
              </a:rPr>
              <a:t>|Δ| ≤ 0.1</a:t>
            </a:r>
            <a:endParaRPr lang="en-US" sz="1050" dirty="0"/>
          </a:p>
        </p:txBody>
      </p:sp>
      <p:sp>
        <p:nvSpPr>
          <p:cNvPr id="98" name="Shape 90"/>
          <p:cNvSpPr/>
          <p:nvPr/>
        </p:nvSpPr>
        <p:spPr>
          <a:xfrm>
            <a:off x="2034540" y="8800186"/>
            <a:ext cx="171907" cy="171907"/>
          </a:xfrm>
          <a:prstGeom prst="rect">
            <a:avLst/>
          </a:prstGeom>
          <a:solidFill>
            <a:srgbClr val="34D399">
              <a:alpha val="30000"/>
            </a:srgbClr>
          </a:solidFill>
          <a:ln w="12700">
            <a:solidFill>
              <a:srgbClr val="FFFFFF">
                <a:alpha val="0"/>
              </a:srgbClr>
            </a:solidFill>
            <a:prstDash val="solid"/>
          </a:ln>
        </p:spPr>
      </p:sp>
      <p:sp>
        <p:nvSpPr>
          <p:cNvPr id="99" name="Text 91"/>
          <p:cNvSpPr txBox="1"/>
          <p:nvPr/>
        </p:nvSpPr>
        <p:spPr>
          <a:xfrm>
            <a:off x="2377440" y="8791956"/>
            <a:ext cx="886054" cy="171907"/>
          </a:xfrm>
          <a:prstGeom prst="rect">
            <a:avLst/>
          </a:prstGeom>
          <a:noFill/>
          <a:ln/>
        </p:spPr>
        <p:txBody>
          <a:bodyPr wrap="none" lIns="0" tIns="0" rIns="0" bIns="0" rtlCol="0" anchor="ctr"/>
          <a:lstStyle/>
          <a:p>
            <a:pPr algn="l" indent="0" marL="0">
              <a:buNone/>
            </a:pPr>
            <a:r>
              <a:rPr lang="en-US" sz="1050" dirty="0">
                <a:solidFill>
                  <a:srgbClr val="8B9BB3"/>
                </a:solidFill>
                <a:latin typeface="JetBrains Mono" pitchFamily="34" charset="0"/>
                <a:ea typeface="JetBrains Mono" pitchFamily="34" charset="-122"/>
                <a:cs typeface="JetBrains Mono" pitchFamily="34" charset="-120"/>
              </a:rPr>
              <a:t>|Δ| 0.1–0.3</a:t>
            </a:r>
            <a:endParaRPr lang="en-US" sz="1050" dirty="0"/>
          </a:p>
        </p:txBody>
      </p:sp>
      <p:sp>
        <p:nvSpPr>
          <p:cNvPr id="100" name="Shape 92"/>
          <p:cNvSpPr/>
          <p:nvPr/>
        </p:nvSpPr>
        <p:spPr>
          <a:xfrm>
            <a:off x="3429000" y="8800186"/>
            <a:ext cx="171907" cy="171907"/>
          </a:xfrm>
          <a:prstGeom prst="rect">
            <a:avLst/>
          </a:prstGeom>
          <a:solidFill>
            <a:srgbClr val="FBBF24">
              <a:alpha val="40000"/>
            </a:srgbClr>
          </a:solidFill>
          <a:ln w="12700">
            <a:solidFill>
              <a:srgbClr val="FFFFFF">
                <a:alpha val="0"/>
              </a:srgbClr>
            </a:solidFill>
            <a:prstDash val="solid"/>
          </a:ln>
        </p:spPr>
      </p:sp>
      <p:sp>
        <p:nvSpPr>
          <p:cNvPr id="101" name="Text 93"/>
          <p:cNvSpPr txBox="1"/>
          <p:nvPr/>
        </p:nvSpPr>
        <p:spPr>
          <a:xfrm>
            <a:off x="3771900" y="8791956"/>
            <a:ext cx="886054" cy="171907"/>
          </a:xfrm>
          <a:prstGeom prst="rect">
            <a:avLst/>
          </a:prstGeom>
          <a:noFill/>
          <a:ln/>
        </p:spPr>
        <p:txBody>
          <a:bodyPr wrap="none" lIns="0" tIns="0" rIns="0" bIns="0" rtlCol="0" anchor="ctr"/>
          <a:lstStyle/>
          <a:p>
            <a:pPr algn="l" indent="0" marL="0">
              <a:buNone/>
            </a:pPr>
            <a:r>
              <a:rPr lang="en-US" sz="1050" dirty="0">
                <a:solidFill>
                  <a:srgbClr val="8B9BB3"/>
                </a:solidFill>
                <a:latin typeface="JetBrains Mono" pitchFamily="34" charset="0"/>
                <a:ea typeface="JetBrains Mono" pitchFamily="34" charset="-122"/>
                <a:cs typeface="JetBrains Mono" pitchFamily="34" charset="-120"/>
              </a:rPr>
              <a:t>|Δ| 0.3–0.5</a:t>
            </a:r>
            <a:endParaRPr lang="en-US" sz="1050" dirty="0"/>
          </a:p>
        </p:txBody>
      </p:sp>
      <p:sp>
        <p:nvSpPr>
          <p:cNvPr id="102" name="Shape 94"/>
          <p:cNvSpPr/>
          <p:nvPr/>
        </p:nvSpPr>
        <p:spPr>
          <a:xfrm>
            <a:off x="4824374" y="8800186"/>
            <a:ext cx="171907" cy="171907"/>
          </a:xfrm>
          <a:prstGeom prst="rect">
            <a:avLst/>
          </a:prstGeom>
          <a:solidFill>
            <a:srgbClr val="F472B6">
              <a:alpha val="45000"/>
            </a:srgbClr>
          </a:solidFill>
          <a:ln w="12700">
            <a:solidFill>
              <a:srgbClr val="FFFFFF">
                <a:alpha val="0"/>
              </a:srgbClr>
            </a:solidFill>
            <a:prstDash val="solid"/>
          </a:ln>
        </p:spPr>
      </p:sp>
      <p:sp>
        <p:nvSpPr>
          <p:cNvPr id="103" name="Text 95"/>
          <p:cNvSpPr txBox="1"/>
          <p:nvPr/>
        </p:nvSpPr>
        <p:spPr>
          <a:xfrm>
            <a:off x="5167274" y="8791956"/>
            <a:ext cx="2086661" cy="171907"/>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|Δ| &gt; 0.5 (overshoot band)</a:t>
            </a:r>
            <a:endParaRPr lang="en-US" sz="1050" dirty="0"/>
          </a:p>
        </p:txBody>
      </p:sp>
      <p:sp>
        <p:nvSpPr>
          <p:cNvPr id="104" name="Text 96"/>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W-01은 거의 단일 band, W-03는 |Δ| 0.3 nm 초과 셀이 다수 — ring-edge 영역 편차가 두드러진다.</a:t>
            </a:r>
            <a:endParaRPr lang="en-US" sz="1200" dirty="0"/>
          </a:p>
        </p:txBody>
      </p:sp>
      <p:sp>
        <p:nvSpPr>
          <p:cNvPr id="105" name="Text 97"/>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1A2E"/>
        </a:solidFill>
      </p:bgPr>
    </p:bg>
    <p:spTree>
      <p:nvGrpSpPr>
        <p:cNvPr id="1" name=""/>
        <p:cNvGrpSpPr/>
        <p:nvPr/>
      </p:nvGrpSpPr>
      <p:grpSpPr>
        <a:xfrm>
          <a:off x="0" y="0"/>
          <a:ext cx="0" cy="0"/>
          <a:chOff x="0" y="0"/>
          <a:chExt cx="0" cy="0"/>
        </a:xfrm>
      </p:grpSpPr>
      <p:pic>
        <p:nvPicPr>
          <p:cNvPr id="3" name="Image 0" descr="gen-dedup-43cdf7b1145d98472808717ec09ce528.png">    </p:cNvPr>
          <p:cNvPicPr>
            <a:picLocks noChangeAspect="1"/>
          </p:cNvPicPr>
          <p:nvPr/>
        </p:nvPicPr>
        <p:blipFill>
          <a:blip r:embed="rId1"/>
          <a:srcRect l="0" r="0" t="0" b="0"/>
          <a:stretch/>
        </p:blipFill>
        <p:spPr>
          <a:xfrm>
            <a:off x="0" y="0"/>
            <a:ext cx="18288000" cy="10287000"/>
          </a:xfrm>
          <a:prstGeom prst="rect">
            <a:avLst/>
          </a:prstGeom>
        </p:spPr>
      </p:pic>
      <p:sp>
        <p:nvSpPr>
          <p:cNvPr id="4" name="Shape 0"/>
          <p:cNvSpPr/>
          <p:nvPr/>
        </p:nvSpPr>
        <p:spPr>
          <a:xfrm>
            <a:off x="12382805" y="3238805"/>
            <a:ext cx="4809744" cy="1543507"/>
          </a:xfrm>
          <a:prstGeom prst="rect">
            <a:avLst/>
          </a:prstGeom>
          <a:solidFill>
            <a:srgbClr val="142039"/>
          </a:solidFill>
          <a:ln w="12700">
            <a:solidFill>
              <a:srgbClr val="1F2D49"/>
            </a:solidFill>
            <a:prstDash val="solid"/>
          </a:ln>
        </p:spPr>
      </p:sp>
      <p:sp>
        <p:nvSpPr>
          <p:cNvPr id="5" name="Shape 1"/>
          <p:cNvSpPr/>
          <p:nvPr/>
        </p:nvSpPr>
        <p:spPr>
          <a:xfrm>
            <a:off x="12382805" y="3238805"/>
            <a:ext cx="38405" cy="1543507"/>
          </a:xfrm>
          <a:prstGeom prst="rect">
            <a:avLst/>
          </a:prstGeom>
          <a:solidFill>
            <a:srgbClr val="38BDF8"/>
          </a:solidFill>
          <a:ln w="12700">
            <a:solidFill>
              <a:srgbClr val="38BDF8">
                <a:alpha val="0"/>
              </a:srgbClr>
            </a:solidFill>
            <a:prstDash val="solid"/>
          </a:ln>
        </p:spPr>
      </p:sp>
      <p:sp>
        <p:nvSpPr>
          <p:cNvPr id="6" name="Shape 2"/>
          <p:cNvSpPr/>
          <p:nvPr/>
        </p:nvSpPr>
        <p:spPr>
          <a:xfrm>
            <a:off x="12382805" y="4953305"/>
            <a:ext cx="4809744" cy="1543507"/>
          </a:xfrm>
          <a:prstGeom prst="rect">
            <a:avLst/>
          </a:prstGeom>
          <a:solidFill>
            <a:srgbClr val="142039"/>
          </a:solidFill>
          <a:ln w="12700">
            <a:solidFill>
              <a:srgbClr val="1F2D49"/>
            </a:solidFill>
            <a:prstDash val="solid"/>
          </a:ln>
        </p:spPr>
      </p:sp>
      <p:sp>
        <p:nvSpPr>
          <p:cNvPr id="7" name="Shape 3"/>
          <p:cNvSpPr/>
          <p:nvPr/>
        </p:nvSpPr>
        <p:spPr>
          <a:xfrm>
            <a:off x="12382805" y="4953305"/>
            <a:ext cx="38405" cy="1543507"/>
          </a:xfrm>
          <a:prstGeom prst="rect">
            <a:avLst/>
          </a:prstGeom>
          <a:solidFill>
            <a:srgbClr val="14B8A6"/>
          </a:solidFill>
          <a:ln w="12700">
            <a:solidFill>
              <a:srgbClr val="14B8A6">
                <a:alpha val="0"/>
              </a:srgbClr>
            </a:solidFill>
            <a:prstDash val="solid"/>
          </a:ln>
        </p:spPr>
      </p:sp>
      <p:sp>
        <p:nvSpPr>
          <p:cNvPr id="8" name="Shape 4"/>
          <p:cNvSpPr/>
          <p:nvPr/>
        </p:nvSpPr>
        <p:spPr>
          <a:xfrm>
            <a:off x="12382805" y="6667805"/>
            <a:ext cx="4809744" cy="1543507"/>
          </a:xfrm>
          <a:prstGeom prst="rect">
            <a:avLst/>
          </a:prstGeom>
          <a:solidFill>
            <a:srgbClr val="142039"/>
          </a:solidFill>
          <a:ln w="12700">
            <a:solidFill>
              <a:srgbClr val="1F2D49"/>
            </a:solidFill>
            <a:prstDash val="solid"/>
          </a:ln>
        </p:spPr>
      </p:sp>
      <p:sp>
        <p:nvSpPr>
          <p:cNvPr id="9" name="Shape 5"/>
          <p:cNvSpPr/>
          <p:nvPr/>
        </p:nvSpPr>
        <p:spPr>
          <a:xfrm>
            <a:off x="12382805" y="6667805"/>
            <a:ext cx="38405" cy="1543507"/>
          </a:xfrm>
          <a:prstGeom prst="rect">
            <a:avLst/>
          </a:prstGeom>
          <a:solidFill>
            <a:srgbClr val="F472B6"/>
          </a:solidFill>
          <a:ln w="12700">
            <a:solidFill>
              <a:srgbClr val="F472B6">
                <a:alpha val="0"/>
              </a:srgbClr>
            </a:solidFill>
            <a:prstDash val="solid"/>
          </a:ln>
        </p:spPr>
      </p:sp>
      <p:sp>
        <p:nvSpPr>
          <p:cNvPr id="10" name="Shape 6"/>
          <p:cNvSpPr/>
          <p:nvPr/>
        </p:nvSpPr>
        <p:spPr>
          <a:xfrm>
            <a:off x="1143000" y="9430207"/>
            <a:ext cx="12420295" cy="495605"/>
          </a:xfrm>
          <a:prstGeom prst="rect">
            <a:avLst/>
          </a:prstGeom>
          <a:solidFill>
            <a:srgbClr val="38BDF8">
              <a:alpha val="8000"/>
            </a:srgbClr>
          </a:solidFill>
          <a:ln w="12700">
            <a:solidFill>
              <a:srgbClr val="1F2D49"/>
            </a:solidFill>
            <a:prstDash val="solid"/>
          </a:ln>
        </p:spPr>
      </p:sp>
      <p:sp>
        <p:nvSpPr>
          <p:cNvPr id="11" name="Shape 7"/>
          <p:cNvSpPr/>
          <p:nvPr/>
        </p:nvSpPr>
        <p:spPr>
          <a:xfrm>
            <a:off x="1143000" y="9430207"/>
            <a:ext cx="28346" cy="495605"/>
          </a:xfrm>
          <a:prstGeom prst="rect">
            <a:avLst/>
          </a:prstGeom>
          <a:solidFill>
            <a:srgbClr val="38BDF8"/>
          </a:solidFill>
          <a:ln w="12700">
            <a:solidFill>
              <a:srgbClr val="38BDF8">
                <a:alpha val="0"/>
              </a:srgbClr>
            </a:solidFill>
            <a:prstDash val="solid"/>
          </a:ln>
        </p:spPr>
      </p:sp>
      <p:sp>
        <p:nvSpPr>
          <p:cNvPr id="12" name="Text 8"/>
          <p:cNvSpPr txBox="1"/>
          <p:nvPr/>
        </p:nvSpPr>
        <p:spPr>
          <a:xfrm>
            <a:off x="1143000" y="914400"/>
            <a:ext cx="4953305" cy="219456"/>
          </a:xfrm>
          <a:prstGeom prst="rect">
            <a:avLst/>
          </a:prstGeom>
          <a:noFill/>
          <a:ln/>
        </p:spPr>
        <p:txBody>
          <a:bodyPr wrap="none" lIns="0" tIns="0" rIns="0" bIns="0" rtlCol="0" anchor="ctr"/>
          <a:lstStyle/>
          <a:p>
            <a:pPr algn="l" indent="0" marL="0">
              <a:buNone/>
            </a:pPr>
            <a:r>
              <a:rPr lang="en-US" sz="1350" spc="351" kern="0" dirty="0">
                <a:solidFill>
                  <a:srgbClr val="38BDF8"/>
                </a:solidFill>
                <a:latin typeface="JetBrains Mono" pitchFamily="34" charset="0"/>
                <a:ea typeface="JetBrains Mono" pitchFamily="34" charset="-122"/>
                <a:cs typeface="JetBrains Mono" pitchFamily="34" charset="-120"/>
              </a:rPr>
              <a:t>12 / Electrical</a:t>
            </a:r>
            <a:endParaRPr lang="en-US" sz="1350" dirty="0"/>
          </a:p>
        </p:txBody>
      </p:sp>
      <p:sp>
        <p:nvSpPr>
          <p:cNvPr id="13" name="Text 9"/>
          <p:cNvSpPr txBox="1"/>
          <p:nvPr/>
        </p:nvSpPr>
        <p:spPr>
          <a:xfrm>
            <a:off x="1143000" y="1410005"/>
            <a:ext cx="14287500" cy="648310"/>
          </a:xfrm>
          <a:prstGeom prst="rect">
            <a:avLst/>
          </a:prstGeom>
          <a:noFill/>
          <a:ln/>
        </p:spPr>
        <p:txBody>
          <a:bodyPr wrap="none" lIns="0" tIns="0" rIns="0" bIns="0" rtlCol="0" anchor="ctr"/>
          <a:lstStyle/>
          <a:p>
            <a:pPr algn="l" indent="0" marL="0">
              <a:buNone/>
            </a:pPr>
            <a:r>
              <a:rPr lang="en-US" sz="4800" b="1" dirty="0">
                <a:solidFill>
                  <a:srgbClr val="E8EDF5"/>
                </a:solidFill>
                <a:latin typeface="Space Grotesk" pitchFamily="34" charset="0"/>
                <a:ea typeface="Space Grotesk" pitchFamily="34" charset="-122"/>
                <a:cs typeface="Space Grotesk" pitchFamily="34" charset="-120"/>
              </a:rPr>
              <a:t>전기 특성 표</a:t>
            </a:r>
            <a:endParaRPr lang="en-US" sz="4800" dirty="0"/>
          </a:p>
        </p:txBody>
      </p:sp>
      <p:sp>
        <p:nvSpPr>
          <p:cNvPr id="14" name="Text 10"/>
          <p:cNvSpPr txBox="1"/>
          <p:nvPr/>
        </p:nvSpPr>
        <p:spPr>
          <a:xfrm>
            <a:off x="1143000" y="2286000"/>
            <a:ext cx="12382805" cy="295351"/>
          </a:xfrm>
          <a:prstGeom prst="rect">
            <a:avLst/>
          </a:prstGeom>
          <a:noFill/>
          <a:ln/>
        </p:spPr>
        <p:txBody>
          <a:bodyPr wrap="none" lIns="0" tIns="0" rIns="0" bIns="0" rtlCol="0" anchor="ctr"/>
          <a:lstStyle/>
          <a:p>
            <a:pPr algn="l" indent="0" marL="0">
              <a:buNone/>
            </a:pPr>
            <a:r>
              <a:rPr lang="en-US" sz="1650" dirty="0">
                <a:solidFill>
                  <a:srgbClr val="8B9BB3"/>
                </a:solidFill>
                <a:latin typeface="IBM Plex Sans KR" pitchFamily="34" charset="0"/>
                <a:ea typeface="IBM Plex Sans KR" pitchFamily="34" charset="-122"/>
                <a:cs typeface="IBM Plex Sans KR" pitchFamily="34" charset="-120"/>
              </a:rPr>
              <a:t>4-probe Rs · 1 µm line 측정 · V1→M2 via chain · dummy 데이터, baseline 비교용.</a:t>
            </a:r>
            <a:endParaRPr lang="en-US" sz="1650" dirty="0"/>
          </a:p>
        </p:txBody>
      </p:sp>
      <p:pic>
        <p:nvPicPr>
          <p:cNvPr id="15" name="Image 1" descr="gen-dedup-cbd2dadeeb2aec465e858390d1195fd6.png">    </p:cNvPr>
          <p:cNvPicPr>
            <a:picLocks noChangeAspect="1"/>
          </p:cNvPicPr>
          <p:nvPr/>
        </p:nvPicPr>
        <p:blipFill>
          <a:blip r:embed="rId2"/>
          <a:srcRect l="-404" r="-404" t="0" b="0"/>
          <a:stretch/>
        </p:blipFill>
        <p:spPr>
          <a:xfrm>
            <a:off x="1143000" y="2743200"/>
            <a:ext cx="1143000" cy="28346"/>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1143000" y="3238805"/>
          <a:ext cx="10858500" cy="4896612"/>
        </p:xfrm>
        <a:graphic>
          <a:graphicData uri="http://schemas.openxmlformats.org/drawingml/2006/table">
            <a:tbl>
              <a:tblPr/>
              <a:tblGrid>
                <a:gridCol w="3010205"/>
                <a:gridCol w="1676095"/>
                <a:gridCol w="2057400"/>
                <a:gridCol w="2057400"/>
                <a:gridCol w="2057400"/>
              </a:tblGrid>
              <a:tr h="445147">
                <a:tc>
                  <a:txBody>
                    <a:bodyPr/>
                    <a:lstStyle/>
                    <a:p>
                      <a:pPr algn="l" indent="0" marL="0">
                        <a:buNone/>
                      </a:pPr>
                      <a:r>
                        <a:rPr lang="en-US" sz="1050" b="1" dirty="0">
                          <a:solidFill>
                            <a:srgbClr val="8B9BB3"/>
                          </a:solidFill>
                          <a:latin typeface="JetBrains Mono" pitchFamily="34" charset="0"/>
                          <a:ea typeface="JetBrains Mono" pitchFamily="34" charset="-122"/>
                          <a:cs typeface="JetBrains Mono" pitchFamily="34" charset="-120"/>
                        </a:rPr>
                        <a:t>항목</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8B9BB3"/>
                          </a:solidFill>
                          <a:latin typeface="JetBrains Mono" pitchFamily="34" charset="0"/>
                          <a:ea typeface="JetBrains Mono" pitchFamily="34" charset="-122"/>
                          <a:cs typeface="JetBrains Mono" pitchFamily="34" charset="-120"/>
                        </a:rPr>
                        <a:t>단위</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38BDF8"/>
                          </a:solidFill>
                          <a:latin typeface="JetBrains Mono" pitchFamily="34" charset="0"/>
                          <a:ea typeface="JetBrains Mono" pitchFamily="34" charset="-122"/>
                          <a:cs typeface="JetBrains Mono" pitchFamily="34" charset="-120"/>
                        </a:rPr>
                        <a:t>W-01 · 19 MJ</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14B8A6"/>
                          </a:solidFill>
                          <a:latin typeface="JetBrains Mono" pitchFamily="34" charset="0"/>
                          <a:ea typeface="JetBrains Mono" pitchFamily="34" charset="-122"/>
                          <a:cs typeface="JetBrains Mono" pitchFamily="34" charset="-120"/>
                        </a:rPr>
                        <a:t>W-02 · 28 MJ</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050" b="1" dirty="0">
                          <a:solidFill>
                            <a:srgbClr val="FBBF24"/>
                          </a:solidFill>
                          <a:latin typeface="JetBrains Mono" pitchFamily="34" charset="0"/>
                          <a:ea typeface="JetBrains Mono" pitchFamily="34" charset="-122"/>
                          <a:cs typeface="JetBrains Mono" pitchFamily="34" charset="-120"/>
                        </a:rPr>
                        <a:t>W-03 · 38 MJ</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gridSpan="5">
                  <a:txBody>
                    <a:bodyPr/>
                    <a:lstStyle/>
                    <a:p>
                      <a:pPr indent="0" marL="0">
                        <a:buNone/>
                      </a:pPr>
                      <a:r>
                        <a:rPr lang="en-US" sz="1050" dirty="0">
                          <a:solidFill>
                            <a:srgbClr val="14B8A6"/>
                          </a:solidFill>
                          <a:latin typeface="JetBrains Mono" pitchFamily="34" charset="0"/>
                          <a:ea typeface="JetBrains Mono" pitchFamily="34" charset="-122"/>
                          <a:cs typeface="JetBrains Mono" pitchFamily="34" charset="-120"/>
                        </a:rPr>
                        <a:t>— V1 LAYER —</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14B8A6">
                        <a:alpha val="5000"/>
                      </a:srgbClr>
                    </a:solidFill>
                  </a:tcPr>
                </a:tc>
                <a:tc hMerge="1">
                  <a:tcPr/>
                </a:tc>
                <a:tc hMerge="1">
                  <a:tcPr/>
                </a:tc>
                <a:tc hMerge="1">
                  <a:tcPr/>
                </a:tc>
                <a:tc hMerge="1">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Sheet resistance (Rs)</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Ω/sq</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0.42</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0.45</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FBBF24"/>
                          </a:solidFill>
                          <a:latin typeface="JetBrains Mono" pitchFamily="34" charset="0"/>
                          <a:ea typeface="JetBrains Mono" pitchFamily="34" charset="-122"/>
                          <a:cs typeface="JetBrains Mono" pitchFamily="34" charset="-120"/>
                        </a:rPr>
                        <a:t>0.51</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Line resistance (1 µm)</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Ω/µm</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5.8</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6.1</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FBBF24"/>
                          </a:solidFill>
                          <a:latin typeface="JetBrains Mono" pitchFamily="34" charset="0"/>
                          <a:ea typeface="JetBrains Mono" pitchFamily="34" charset="-122"/>
                          <a:cs typeface="JetBrains Mono" pitchFamily="34" charset="-120"/>
                        </a:rPr>
                        <a:t>7.0</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Leakage current @ 1 V</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pA/µm</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34D399"/>
                          </a:solidFill>
                          <a:latin typeface="JetBrains Mono" pitchFamily="34" charset="0"/>
                          <a:ea typeface="JetBrains Mono" pitchFamily="34" charset="-122"/>
                          <a:cs typeface="JetBrains Mono" pitchFamily="34" charset="-120"/>
                        </a:rPr>
                        <a:t>2.1</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2.8</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F472B6"/>
                          </a:solidFill>
                          <a:latin typeface="JetBrains Mono" pitchFamily="34" charset="0"/>
                          <a:ea typeface="JetBrains Mono" pitchFamily="34" charset="-122"/>
                          <a:cs typeface="JetBrains Mono" pitchFamily="34" charset="-120"/>
                        </a:rPr>
                        <a:t>4.5</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gridSpan="5">
                  <a:txBody>
                    <a:bodyPr/>
                    <a:lstStyle/>
                    <a:p>
                      <a:pPr indent="0" marL="0">
                        <a:buNone/>
                      </a:pPr>
                      <a:r>
                        <a:rPr lang="en-US" sz="1050" dirty="0">
                          <a:solidFill>
                            <a:srgbClr val="FBBF24"/>
                          </a:solidFill>
                          <a:latin typeface="JetBrains Mono" pitchFamily="34" charset="0"/>
                          <a:ea typeface="JetBrains Mono" pitchFamily="34" charset="-122"/>
                          <a:cs typeface="JetBrains Mono" pitchFamily="34" charset="-120"/>
                        </a:rPr>
                        <a:t>— M2 LAYER —</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BBF24">
                        <a:alpha val="5000"/>
                      </a:srgbClr>
                    </a:solidFill>
                  </a:tcPr>
                </a:tc>
                <a:tc hMerge="1">
                  <a:tcPr/>
                </a:tc>
                <a:tc hMerge="1">
                  <a:tcPr/>
                </a:tc>
                <a:tc hMerge="1">
                  <a:tcPr/>
                </a:tc>
                <a:tc hMerge="1">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Sheet resistance (Rs)</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Ω/sq</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0.39</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0.41</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FBBF24"/>
                          </a:solidFill>
                          <a:latin typeface="JetBrains Mono" pitchFamily="34" charset="0"/>
                          <a:ea typeface="JetBrains Mono" pitchFamily="34" charset="-122"/>
                          <a:cs typeface="JetBrains Mono" pitchFamily="34" charset="-120"/>
                        </a:rPr>
                        <a:t>0.47</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Line resistance (1 µm)</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Ω/µm</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4.9</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5.2</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6.0</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Leakage current @ 1 V</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pA/µm</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34D399"/>
                          </a:solidFill>
                          <a:latin typeface="JetBrains Mono" pitchFamily="34" charset="0"/>
                          <a:ea typeface="JetBrains Mono" pitchFamily="34" charset="-122"/>
                          <a:cs typeface="JetBrains Mono" pitchFamily="34" charset="-120"/>
                        </a:rPr>
                        <a:t>1.6</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2.2</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F472B6"/>
                          </a:solidFill>
                          <a:latin typeface="JetBrains Mono" pitchFamily="34" charset="0"/>
                          <a:ea typeface="JetBrains Mono" pitchFamily="34" charset="-122"/>
                          <a:cs typeface="JetBrains Mono" pitchFamily="34" charset="-120"/>
                        </a:rPr>
                        <a:t>3.9</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r h="445147">
                <a:tc gridSpan="5">
                  <a:txBody>
                    <a:bodyPr/>
                    <a:lstStyle/>
                    <a:p>
                      <a:pPr indent="0" marL="0">
                        <a:buNone/>
                      </a:pPr>
                      <a:r>
                        <a:rPr lang="en-US" sz="1050" dirty="0">
                          <a:solidFill>
                            <a:srgbClr val="F472B6"/>
                          </a:solidFill>
                          <a:latin typeface="JetBrains Mono" pitchFamily="34" charset="0"/>
                          <a:ea typeface="JetBrains Mono" pitchFamily="34" charset="-122"/>
                          <a:cs typeface="JetBrains Mono" pitchFamily="34" charset="-120"/>
                        </a:rPr>
                        <a:t>— VIA CHAIN —</a:t>
                      </a:r>
                      <a:endParaRPr lang="en-US" sz="10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solidFill>
                      <a:srgbClr val="F472B6">
                        <a:alpha val="5000"/>
                      </a:srgbClr>
                    </a:solidFill>
                  </a:tcPr>
                </a:tc>
                <a:tc hMerge="1">
                  <a:tcPr/>
                </a:tc>
                <a:tc hMerge="1">
                  <a:tcPr/>
                </a:tc>
                <a:tc hMerge="1">
                  <a:tcPr/>
                </a:tc>
                <a:tc hMerge="1">
                  <a:tcPr/>
                </a:tc>
              </a:tr>
              <a:tr h="445147">
                <a:tc>
                  <a:txBody>
                    <a:bodyPr/>
                    <a:lstStyle/>
                    <a:p>
                      <a:pPr indent="0" marL="0">
                        <a:buNone/>
                      </a:pPr>
                      <a:r>
                        <a:rPr lang="en-US" sz="1500" dirty="0">
                          <a:solidFill>
                            <a:srgbClr val="E8EDF5"/>
                          </a:solidFill>
                          <a:latin typeface="IBM Plex Sans KR" pitchFamily="34" charset="0"/>
                          <a:ea typeface="IBM Plex Sans KR" pitchFamily="34" charset="-122"/>
                          <a:cs typeface="IBM Plex Sans KR" pitchFamily="34" charset="-120"/>
                        </a:rPr>
                        <a:t>Via resistance V1→M2</a:t>
                      </a:r>
                      <a:endParaRPr lang="en-US" sz="1500" dirty="0">
                        <a:latin typeface="IBM Plex Sans KR" charset="0"/>
                        <a:ea typeface="IBM Plex Sans KR" charset="0"/>
                        <a:cs typeface="IBM Plex Sans KR"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350" dirty="0">
                          <a:solidFill>
                            <a:srgbClr val="8B9BB3"/>
                          </a:solidFill>
                          <a:latin typeface="JetBrains Mono" pitchFamily="34" charset="0"/>
                          <a:ea typeface="JetBrains Mono" pitchFamily="34" charset="-122"/>
                          <a:cs typeface="JetBrains Mono" pitchFamily="34" charset="-120"/>
                        </a:rPr>
                        <a:t>Ω/via</a:t>
                      </a:r>
                      <a:endParaRPr lang="en-US" sz="13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b="1" dirty="0">
                          <a:solidFill>
                            <a:srgbClr val="34D399"/>
                          </a:solidFill>
                          <a:latin typeface="JetBrains Mono" pitchFamily="34" charset="0"/>
                          <a:ea typeface="JetBrains Mono" pitchFamily="34" charset="-122"/>
                          <a:cs typeface="JetBrains Mono" pitchFamily="34" charset="-120"/>
                        </a:rPr>
                        <a:t>22</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dirty="0">
                          <a:solidFill>
                            <a:srgbClr val="E8EDF5"/>
                          </a:solidFill>
                          <a:latin typeface="JetBrains Mono" pitchFamily="34" charset="0"/>
                          <a:ea typeface="JetBrains Mono" pitchFamily="34" charset="-122"/>
                          <a:cs typeface="JetBrains Mono" pitchFamily="34" charset="-120"/>
                        </a:rPr>
                        <a:t>28</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c>
                  <a:txBody>
                    <a:bodyPr/>
                    <a:lstStyle/>
                    <a:p>
                      <a:pPr algn="r" indent="0" marL="0">
                        <a:buNone/>
                      </a:pPr>
                      <a:r>
                        <a:rPr lang="en-US" sz="1650" b="1" dirty="0">
                          <a:solidFill>
                            <a:srgbClr val="F472B6"/>
                          </a:solidFill>
                          <a:latin typeface="JetBrains Mono" pitchFamily="34" charset="0"/>
                          <a:ea typeface="JetBrains Mono" pitchFamily="34" charset="-122"/>
                          <a:cs typeface="JetBrains Mono" pitchFamily="34" charset="-120"/>
                        </a:rPr>
                        <a:t>41</a:t>
                      </a:r>
                      <a:endParaRPr lang="en-US" sz="1650" dirty="0">
                        <a:latin typeface="JetBrains Mono" charset="0"/>
                        <a:ea typeface="JetBrains Mono" charset="0"/>
                        <a:cs typeface="JetBrains Mono" charset="0"/>
                      </a:endParaRPr>
                    </a:p>
                  </a:txBody>
                  <a:tcPr marL="171907" marR="171907" marT="95098" marB="95098" anchor="ctr">
                    <a:lnL w="0" cap="flat" cmpd="sng" algn="ctr">
                      <a:solidFill>
                        <a:srgbClr val="D4AF37"/>
                      </a:solidFill>
                      <a:prstDash val="solid"/>
                      <a:round/>
                      <a:headEnd type="none" w="med" len="med"/>
                      <a:tailEnd type="none" w="med" len="med"/>
                    </a:lnL>
                    <a:lnR w="0" cap="flat" cmpd="sng" algn="ctr">
                      <a:solidFill>
                        <a:srgbClr val="D4AF37"/>
                      </a:solidFill>
                      <a:prstDash val="solid"/>
                      <a:round/>
                      <a:headEnd type="none" w="med" len="med"/>
                      <a:tailEnd type="none" w="med" len="med"/>
                    </a:lnR>
                    <a:lnT w="0" cap="flat" cmpd="sng" algn="ctr">
                      <a:solidFill>
                        <a:srgbClr val="D4AF37"/>
                      </a:solidFill>
                      <a:prstDash val="solid"/>
                      <a:round/>
                      <a:headEnd type="none" w="med" len="med"/>
                      <a:tailEnd type="none" w="med" len="med"/>
                    </a:lnT>
                    <a:lnB w="0" cap="flat" cmpd="sng" algn="ctr">
                      <a:solidFill>
                        <a:srgbClr val="D4AF37"/>
                      </a:solidFill>
                      <a:prstDash val="solid"/>
                      <a:round/>
                      <a:headEnd type="none" w="med" len="med"/>
                      <a:tailEnd type="none" w="med" len="med"/>
                    </a:lnB>
                  </a:tcPr>
                </a:tc>
              </a:tr>
            </a:tbl>
          </a:graphicData>
        </a:graphic>
      </p:graphicFrame>
      <p:sp>
        <p:nvSpPr>
          <p:cNvPr id="17" name="Text 11"/>
          <p:cNvSpPr txBox="1"/>
          <p:nvPr/>
        </p:nvSpPr>
        <p:spPr>
          <a:xfrm>
            <a:off x="12687300" y="3448202"/>
            <a:ext cx="4286707" cy="162763"/>
          </a:xfrm>
          <a:prstGeom prst="rect">
            <a:avLst/>
          </a:prstGeom>
          <a:noFill/>
          <a:ln/>
        </p:spPr>
        <p:txBody>
          <a:bodyPr wrap="none" lIns="0" tIns="0" rIns="0" bIns="0" rtlCol="0" anchor="ctr"/>
          <a:lstStyle/>
          <a:p>
            <a:pPr algn="l" indent="0" marL="0">
              <a:buNone/>
            </a:pPr>
            <a:r>
              <a:rPr lang="en-US" sz="975" spc="215" kern="0" dirty="0">
                <a:solidFill>
                  <a:srgbClr val="38BDF8"/>
                </a:solidFill>
                <a:latin typeface="JetBrains Mono" pitchFamily="34" charset="0"/>
                <a:ea typeface="JetBrains Mono" pitchFamily="34" charset="-122"/>
                <a:cs typeface="JetBrains Mono" pitchFamily="34" charset="-120"/>
              </a:rPr>
              <a:t>W-01 baseline</a:t>
            </a:r>
            <a:endParaRPr lang="en-US" sz="975" dirty="0"/>
          </a:p>
        </p:txBody>
      </p:sp>
      <p:sp>
        <p:nvSpPr>
          <p:cNvPr id="18" name="Text 12"/>
          <p:cNvSpPr txBox="1"/>
          <p:nvPr/>
        </p:nvSpPr>
        <p:spPr>
          <a:xfrm>
            <a:off x="12687300" y="3715207"/>
            <a:ext cx="4286707" cy="599846"/>
          </a:xfrm>
          <a:prstGeom prst="rect">
            <a:avLst/>
          </a:prstGeom>
          <a:noFill/>
          <a:ln/>
        </p:spPr>
        <p:txBody>
          <a:bodyPr wrap="square" lIns="0" tIns="0" rIns="0" bIns="0" rtlCol="0" anchor="t"/>
          <a:lstStyle/>
          <a:p>
            <a:pPr algn="l" indent="0" marL="0">
              <a:lnSpc>
                <a:spcPts val="2250"/>
              </a:lnSpc>
              <a:buNone/>
            </a:pPr>
            <a:r>
              <a:rPr lang="en-US" sz="1500" dirty="0">
                <a:solidFill>
                  <a:srgbClr val="E8EDF5"/>
                </a:solidFill>
                <a:latin typeface="IBM Plex Sans KR" pitchFamily="34" charset="0"/>
                <a:ea typeface="IBM Plex Sans KR" pitchFamily="34" charset="-122"/>
                <a:cs typeface="IBM Plex Sans KR" pitchFamily="34" charset="-120"/>
              </a:rPr>
              <a:t>모든 측정에서 가장 낮은 수치.</a:t>
            </a:r>
            <a:pPr algn="l" indent="0" marL="0">
              <a:lnSpc>
                <a:spcPts val="2250"/>
              </a:lnSpc>
              <a:buNone/>
            </a:pPr>
            <a:endParaRPr lang="en-US" sz="1500" dirty="0"/>
          </a:p>
          <a:p>
            <a:pPr algn="l" indent="0" marL="0">
              <a:lnSpc>
                <a:spcPts val="2250"/>
              </a:lnSpc>
              <a:buNone/>
            </a:pPr>
            <a:r>
              <a:rPr lang="en-US" sz="1500" dirty="0">
                <a:solidFill>
                  <a:srgbClr val="E8EDF5"/>
                </a:solidFill>
                <a:latin typeface="IBM Plex Sans KR" pitchFamily="34" charset="0"/>
                <a:ea typeface="IBM Plex Sans KR" pitchFamily="34" charset="-122"/>
                <a:cs typeface="IBM Plex Sans KR" pitchFamily="34" charset="-120"/>
              </a:rPr>
              <a:t>V1 Rs 0.42 · Via 22 Ω · Ileak 2.1 pA.</a:t>
            </a:r>
            <a:endParaRPr lang="en-US" sz="1500" dirty="0"/>
          </a:p>
        </p:txBody>
      </p:sp>
      <p:sp>
        <p:nvSpPr>
          <p:cNvPr id="19" name="Text 13"/>
          <p:cNvSpPr txBox="1"/>
          <p:nvPr/>
        </p:nvSpPr>
        <p:spPr>
          <a:xfrm>
            <a:off x="12687300" y="5162702"/>
            <a:ext cx="4286707" cy="162763"/>
          </a:xfrm>
          <a:prstGeom prst="rect">
            <a:avLst/>
          </a:prstGeom>
          <a:noFill/>
          <a:ln/>
        </p:spPr>
        <p:txBody>
          <a:bodyPr wrap="none" lIns="0" tIns="0" rIns="0" bIns="0" rtlCol="0" anchor="ctr"/>
          <a:lstStyle/>
          <a:p>
            <a:pPr algn="l" indent="0" marL="0">
              <a:buNone/>
            </a:pPr>
            <a:r>
              <a:rPr lang="en-US" sz="975" spc="215" kern="0" dirty="0">
                <a:solidFill>
                  <a:srgbClr val="14B8A6"/>
                </a:solidFill>
                <a:latin typeface="JetBrains Mono" pitchFamily="34" charset="0"/>
                <a:ea typeface="JetBrains Mono" pitchFamily="34" charset="-122"/>
                <a:cs typeface="JetBrains Mono" pitchFamily="34" charset="-120"/>
              </a:rPr>
              <a:t>W-02 trade-off</a:t>
            </a:r>
            <a:endParaRPr lang="en-US" sz="975" dirty="0"/>
          </a:p>
        </p:txBody>
      </p:sp>
      <p:sp>
        <p:nvSpPr>
          <p:cNvPr id="20" name="Text 14"/>
          <p:cNvSpPr txBox="1"/>
          <p:nvPr/>
        </p:nvSpPr>
        <p:spPr>
          <a:xfrm>
            <a:off x="12687300" y="5429707"/>
            <a:ext cx="4286707" cy="599846"/>
          </a:xfrm>
          <a:prstGeom prst="rect">
            <a:avLst/>
          </a:prstGeom>
          <a:noFill/>
          <a:ln/>
        </p:spPr>
        <p:txBody>
          <a:bodyPr wrap="square" lIns="0" tIns="0" rIns="0" bIns="0" rtlCol="0" anchor="t"/>
          <a:lstStyle/>
          <a:p>
            <a:pPr algn="l" indent="0" marL="0">
              <a:lnSpc>
                <a:spcPts val="2250"/>
              </a:lnSpc>
              <a:buNone/>
            </a:pPr>
            <a:r>
              <a:rPr lang="en-US" sz="1500" dirty="0">
                <a:solidFill>
                  <a:srgbClr val="E8EDF5"/>
                </a:solidFill>
                <a:latin typeface="IBM Plex Sans KR" pitchFamily="34" charset="0"/>
                <a:ea typeface="IBM Plex Sans KR" pitchFamily="34" charset="-122"/>
                <a:cs typeface="IBM Plex Sans KR" pitchFamily="34" charset="-120"/>
              </a:rPr>
              <a:t>Baseline 대비 Rs +0.03 Ω/sq,</a:t>
            </a:r>
            <a:pPr algn="l" indent="0" marL="0">
              <a:lnSpc>
                <a:spcPts val="2250"/>
              </a:lnSpc>
              <a:buNone/>
            </a:pPr>
            <a:endParaRPr lang="en-US" sz="1500" dirty="0"/>
          </a:p>
          <a:p>
            <a:pPr algn="l" indent="0" marL="0">
              <a:lnSpc>
                <a:spcPts val="2250"/>
              </a:lnSpc>
              <a:buNone/>
            </a:pPr>
            <a:r>
              <a:rPr lang="en-US" sz="1500" dirty="0">
                <a:solidFill>
                  <a:srgbClr val="E8EDF5"/>
                </a:solidFill>
                <a:latin typeface="IBM Plex Sans KR" pitchFamily="34" charset="0"/>
                <a:ea typeface="IBM Plex Sans KR" pitchFamily="34" charset="-122"/>
                <a:cs typeface="IBM Plex Sans KR" pitchFamily="34" charset="-120"/>
              </a:rPr>
              <a:t>Via +6 Ω 증가, Ileak 30% 상승.</a:t>
            </a:r>
            <a:endParaRPr lang="en-US" sz="1500" dirty="0"/>
          </a:p>
        </p:txBody>
      </p:sp>
      <p:sp>
        <p:nvSpPr>
          <p:cNvPr id="21" name="Text 15"/>
          <p:cNvSpPr txBox="1"/>
          <p:nvPr/>
        </p:nvSpPr>
        <p:spPr>
          <a:xfrm>
            <a:off x="12687300" y="6877202"/>
            <a:ext cx="4286707" cy="162763"/>
          </a:xfrm>
          <a:prstGeom prst="rect">
            <a:avLst/>
          </a:prstGeom>
          <a:noFill/>
          <a:ln/>
        </p:spPr>
        <p:txBody>
          <a:bodyPr wrap="none" lIns="0" tIns="0" rIns="0" bIns="0" rtlCol="0" anchor="ctr"/>
          <a:lstStyle/>
          <a:p>
            <a:pPr algn="l" indent="0" marL="0">
              <a:buNone/>
            </a:pPr>
            <a:r>
              <a:rPr lang="en-US" sz="975" spc="215" kern="0" dirty="0">
                <a:solidFill>
                  <a:srgbClr val="F472B6"/>
                </a:solidFill>
                <a:latin typeface="JetBrains Mono" pitchFamily="34" charset="0"/>
                <a:ea typeface="JetBrains Mono" pitchFamily="34" charset="-122"/>
                <a:cs typeface="JetBrains Mono" pitchFamily="34" charset="-120"/>
              </a:rPr>
              <a:t>W-03 fault band</a:t>
            </a:r>
            <a:endParaRPr lang="en-US" sz="975" dirty="0"/>
          </a:p>
        </p:txBody>
      </p:sp>
      <p:sp>
        <p:nvSpPr>
          <p:cNvPr id="22" name="Text 16"/>
          <p:cNvSpPr txBox="1"/>
          <p:nvPr/>
        </p:nvSpPr>
        <p:spPr>
          <a:xfrm>
            <a:off x="12687300" y="7144207"/>
            <a:ext cx="4286707" cy="599846"/>
          </a:xfrm>
          <a:prstGeom prst="rect">
            <a:avLst/>
          </a:prstGeom>
          <a:noFill/>
          <a:ln/>
        </p:spPr>
        <p:txBody>
          <a:bodyPr wrap="square" lIns="0" tIns="0" rIns="0" bIns="0" rtlCol="0" anchor="t"/>
          <a:lstStyle/>
          <a:p>
            <a:pPr algn="l" indent="0" marL="0">
              <a:lnSpc>
                <a:spcPts val="2250"/>
              </a:lnSpc>
              <a:buNone/>
            </a:pPr>
            <a:r>
              <a:rPr lang="en-US" sz="1500" dirty="0">
                <a:solidFill>
                  <a:srgbClr val="E8EDF5"/>
                </a:solidFill>
                <a:latin typeface="IBM Plex Sans KR" pitchFamily="34" charset="0"/>
                <a:ea typeface="IBM Plex Sans KR" pitchFamily="34" charset="-122"/>
                <a:cs typeface="IBM Plex Sans KR" pitchFamily="34" charset="-120"/>
              </a:rPr>
              <a:t>Via 41 Ω · W-01의 1.86×,</a:t>
            </a:r>
            <a:pPr algn="l" indent="0" marL="0">
              <a:lnSpc>
                <a:spcPts val="2250"/>
              </a:lnSpc>
              <a:buNone/>
            </a:pPr>
            <a:endParaRPr lang="en-US" sz="1500" dirty="0"/>
          </a:p>
          <a:p>
            <a:pPr algn="l" indent="0" marL="0">
              <a:lnSpc>
                <a:spcPts val="2250"/>
              </a:lnSpc>
              <a:buNone/>
            </a:pPr>
            <a:r>
              <a:rPr lang="en-US" sz="1500" dirty="0">
                <a:solidFill>
                  <a:srgbClr val="E8EDF5"/>
                </a:solidFill>
                <a:latin typeface="IBM Plex Sans KR" pitchFamily="34" charset="0"/>
                <a:ea typeface="IBM Plex Sans KR" pitchFamily="34" charset="-122"/>
                <a:cs typeface="IBM Plex Sans KR" pitchFamily="34" charset="-120"/>
              </a:rPr>
              <a:t>Ileak V1 4.5 pA · 2× 초과 증가.</a:t>
            </a:r>
            <a:endParaRPr lang="en-US" sz="1500" dirty="0"/>
          </a:p>
        </p:txBody>
      </p:sp>
      <p:sp>
        <p:nvSpPr>
          <p:cNvPr id="23" name="Text 17"/>
          <p:cNvSpPr txBox="1"/>
          <p:nvPr/>
        </p:nvSpPr>
        <p:spPr>
          <a:xfrm>
            <a:off x="1143000" y="8858707"/>
            <a:ext cx="10858500" cy="228600"/>
          </a:xfrm>
          <a:prstGeom prst="rect">
            <a:avLst/>
          </a:prstGeom>
          <a:noFill/>
          <a:ln/>
        </p:spPr>
        <p:txBody>
          <a:bodyPr wrap="none" lIns="0" tIns="0" rIns="0" bIns="0" rtlCol="0" anchor="ctr"/>
          <a:lstStyle/>
          <a:p>
            <a:pPr algn="l" indent="0" marL="0">
              <a:buNone/>
            </a:pPr>
            <a:r>
              <a:rPr lang="en-US" sz="1050" dirty="0">
                <a:solidFill>
                  <a:srgbClr val="5F7191"/>
                </a:solidFill>
                <a:latin typeface="JetBrains Mono" pitchFamily="34" charset="0"/>
                <a:ea typeface="JetBrains Mono" pitchFamily="34" charset="-122"/>
                <a:cs typeface="JetBrains Mono" pitchFamily="34" charset="-120"/>
              </a:rPr>
              <a:t>25-site 평균 · 4-probe 측정 · V1/M2 동일 mask 적용 · 모든 수치 절대값</a:t>
            </a:r>
            <a:endParaRPr lang="en-US" sz="1200" dirty="0"/>
          </a:p>
        </p:txBody>
      </p:sp>
      <p:sp>
        <p:nvSpPr>
          <p:cNvPr id="24" name="Text 18"/>
          <p:cNvSpPr txBox="1"/>
          <p:nvPr/>
        </p:nvSpPr>
        <p:spPr>
          <a:xfrm>
            <a:off x="1314907" y="9525305"/>
            <a:ext cx="12192610" cy="286207"/>
          </a:xfrm>
          <a:prstGeom prst="rect">
            <a:avLst/>
          </a:prstGeom>
          <a:noFill/>
          <a:ln/>
        </p:spPr>
        <p:txBody>
          <a:bodyPr wrap="square" lIns="0" tIns="0" rIns="0" bIns="0" rtlCol="0" anchor="ctr"/>
          <a:lstStyle/>
          <a:p>
            <a:pPr algn="l" indent="0" marL="0">
              <a:buNone/>
            </a:pPr>
            <a:r>
              <a:rPr lang="en-US" sz="1125" dirty="0">
                <a:solidFill>
                  <a:srgbClr val="38BDF8"/>
                </a:solidFill>
                <a:latin typeface="JetBrains Mono" pitchFamily="34" charset="0"/>
                <a:ea typeface="JetBrains Mono" pitchFamily="34" charset="-122"/>
                <a:cs typeface="JetBrains Mono" pitchFamily="34" charset="-120"/>
              </a:rPr>
              <a:t>KEY TAKEAWAY</a:t>
            </a:r>
            <a:pPr algn="l" indent="0" marL="0">
              <a:buNone/>
            </a:pPr>
            <a:r>
              <a:rPr lang="en-US" sz="1500" dirty="0">
                <a:solidFill>
                  <a:srgbClr val="E8EDF5"/>
                </a:solidFill>
                <a:latin typeface="IBM Plex Sans KR" pitchFamily="34" charset="0"/>
                <a:ea typeface="IBM Plex Sans KR" pitchFamily="34" charset="-122"/>
                <a:cs typeface="IBM Plex Sans KR" pitchFamily="34" charset="-120"/>
              </a:rPr>
              <a:t>W-01 baseline 대비 W-03는 via 저항 86%, leak 2배 이상 증가 — production 후보군에서 제외 권고 신호.</a:t>
            </a:r>
            <a:endParaRPr lang="en-US" sz="1200" dirty="0"/>
          </a:p>
        </p:txBody>
      </p:sp>
      <p:sp>
        <p:nvSpPr>
          <p:cNvPr id="25" name="Text 19"/>
          <p:cNvSpPr txBox="1"/>
          <p:nvPr/>
        </p:nvSpPr>
        <p:spPr>
          <a:xfrm>
            <a:off x="13716000" y="9581998"/>
            <a:ext cx="3620110" cy="228600"/>
          </a:xfrm>
          <a:prstGeom prst="rect">
            <a:avLst/>
          </a:prstGeom>
          <a:noFill/>
          <a:ln/>
        </p:spPr>
        <p:txBody>
          <a:bodyPr wrap="none" lIns="0" tIns="0" rIns="0" bIns="0" rtlCol="0" anchor="ctr"/>
          <a:lstStyle/>
          <a:p>
            <a:pPr algn="r" indent="0" marL="0">
              <a:buNone/>
            </a:pPr>
            <a:r>
              <a:rPr lang="en-US" sz="1050" dirty="0">
                <a:solidFill>
                  <a:srgbClr val="5F7191"/>
                </a:solidFill>
                <a:latin typeface="JetBrains Mono" pitchFamily="34" charset="0"/>
                <a:ea typeface="JetBrains Mono" pitchFamily="34" charset="-122"/>
                <a:cs typeface="JetBrains Mono" pitchFamily="34" charset="-120"/>
              </a:rPr>
              <a:t>※ 내부 테스트용 더미(가상) 데이터</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Generated by Gen-Spark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Multi-page HTML Content</dc:title>
  <dc:subject>PptxGenJS Presentation</dc:subject>
  <dc:creator>Visual Extract to PPTX Converter</dc:creator>
  <cp:lastModifiedBy>Visual Extract to PPTX Converter</cp:lastModifiedBy>
  <cp:revision>1</cp:revision>
  <dcterms:created xsi:type="dcterms:W3CDTF">2026-10-04T07:31:10Z</dcterms:created>
  <dcterms:modified xsi:type="dcterms:W3CDTF">2026-10-04T07:31:10Z</dcterms:modified>
</cp:coreProperties>
</file>