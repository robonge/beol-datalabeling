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1은 split 실험의 컨텍스트를 잡는 페이지입니다. 핵심 정보는 (1)Slurry A vs B 두 갈래로 동일 lot 안에서 M4 layer Post-CMP를 평가했다는 점, (2)AASI 25.2nm / ASEI 15.4nm / AMI 9.1nm / ACI 9.8nm 의 네 가지 CD target, (3)n=3 / 3 wafer, (4)두 slurry의 recipe signature 까지 한 페이지에 정리되어 있다는 점입니다. 발표 시 "왜 M4인가" 보다는 "split를 어떻게 깔끔하게 정의했는가"를 강조해서, 후속 페이지의 데이터가 어떤 분기에서 나왔는지 청자가 즉시 따라올 수 있도록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2는 세 장의 reference image로 split 결과를 시각적으로 grounding 합니다. 핵심은 (1)Cu dual damascene 단면으로 M4 layer의 trench/via 형상이 어떻게 생겼는지 보여주고, (2)Post-CMP SEM 으로 dishing/erosion 의 정의를 넘어 pattern-density 별 외양이 어떻게 변하는지 짚고, (3)하단 우측 검정 카드로 "image 는 reference, 정량은 표"라는 안내를 다시 한 번 강조합니다. 발표 시 "여기 숫자가 핵심이고 사진은 그 위에 올라타는 보조재"라는 점을 분명히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3 CD variation은 본 보고서의 backbone 입니다. 4행(=4 metric: AASI / ASEI / AMI / ACI) × 6 wafer 카드 (=3+3) 로 정리했고 각 카드는 mean(큰 숫자), 3σ/range/Δ(작은 숫자) 를 보여줍니다. A 슬러리는 전반적으로 mean +0.1~+0.5 nm positive bias 가 있고, B 슬러리는 mean 이 -0.1~+0.2 로 target 근처 또는 살짝 아래. 3σ 도 Slurry B 가 전반적으로 0.4–1.5 로 더 좁고, A 가 0.6–1.9 로 더 넓습니다. 발표 중에는 W03–A 의 ACI +0.2 over 만 over-spec 노이즈로 짚어주고, W06–B 의 on-target 성능을 짚어 contrast 를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4는 in-wafer 균일도를 좌측 summary bar + 우측 6개 mini wafer map 으로 정리합니다. 핵심 메시지는 (1)Slurry A 의 평균 3σ% 가 5.8%, B 가 4.4% 로 B 가 약 24% 더 균일, (2)A는 edge-heavy 패턴, B는 central 영역이 가장 cool — chemistry selector 의 영향으로 미루어 짐작되는 message, (3)W04-B 와 W05-B 가 가장 균일하고 W03-A 는 +Δ 가장 큰 outlier 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5는 dishing/erosion (좌측)과 전기특성 (우측)을 한 페이지에 정리합니다. 핵심: (1)Slurry A 는 W02 dishing 32.1nm 으로 spec 초과, W03 도 30.6nm 으로 spec 경계, 평균 30.4nm vs slr B 25.3nm. (2)erosion 도 A 가 14.6–16.2, B 가 12.1–13.0, A 가 spec 14nm 살짝 초과. (3)전기특성은 B 가 Rs / Rc / via R 모두 살짝 우위 — W05-B 가 Rs 0.081, Rc 4.4, via R 2.15 로 셋 다 좋은 성과.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6은 결론. 세 장의 verdict card: (1)Slurry A — throughput 강점 / dishing + Δ 편향 / spec 일부는 conditional, (2)Slurry B — 균일·defect·via-R 모두 강점 / throughput 약점 / recommended, (3)decision frame — 우선순위 별 분기. 하단에는 5개 bottom-line KPI + next step. 발표 시간 여유가 있다면 priority 별 분기를 짚고, 짧다면 "B 추천, A 는 fallback" 한 줄로 끝냅니다.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3.png"/><Relationship Id="rId6" Type="http://schemas.openxmlformats.org/officeDocument/2006/relationships/image" Target="../media/image-3-3.png"/><Relationship Id="rId7" Type="http://schemas.openxmlformats.org/officeDocument/2006/relationships/image" Target="../media/image-3-4.png"/><Relationship Id="rId8" Type="http://schemas.openxmlformats.org/officeDocument/2006/relationships/image" Target="../media/image-3-3.png"/><Relationship Id="rId9" Type="http://schemas.openxmlformats.org/officeDocument/2006/relationships/image" Target="../media/image-3-3.png"/><Relationship Id="rId10" Type="http://schemas.openxmlformats.org/officeDocument/2006/relationships/image" Target="../media/image-3-4.png"/><Relationship Id="rId11" Type="http://schemas.openxmlformats.org/officeDocument/2006/relationships/image" Target="../media/image-3-3.png"/><Relationship Id="rId12" Type="http://schemas.openxmlformats.org/officeDocument/2006/relationships/image" Target="../media/image-3-3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3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7.png"/><Relationship Id="rId10" Type="http://schemas.openxmlformats.org/officeDocument/2006/relationships/image" Target="../media/image-4-10.png"/><Relationship Id="rId11" Type="http://schemas.openxmlformats.org/officeDocument/2006/relationships/image" Target="../media/image-4-7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3.png"/><Relationship Id="rId16" Type="http://schemas.openxmlformats.org/officeDocument/2006/relationships/image" Target="../media/image-4-16.png"/><Relationship Id="rId17" Type="http://schemas.openxmlformats.org/officeDocument/2006/relationships/image" Target="../media/image-4-13.png"/><Relationship Id="rId18" Type="http://schemas.openxmlformats.org/officeDocument/2006/relationships/image" Target="../media/image-4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image" Target="../media/image-5-7.png"/><Relationship Id="rId9" Type="http://schemas.openxmlformats.org/officeDocument/2006/relationships/image" Target="../media/image-5-9.png"/><Relationship Id="rId10" Type="http://schemas.openxmlformats.org/officeDocument/2006/relationships/image" Target="../media/image-5-9.png"/><Relationship Id="rId11" Type="http://schemas.openxmlformats.org/officeDocument/2006/relationships/image" Target="../media/image-5-9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4.png"/><Relationship Id="rId6" Type="http://schemas.openxmlformats.org/officeDocument/2006/relationships/image" Target="../media/image-6-4.png"/><Relationship Id="rId7" Type="http://schemas.openxmlformats.org/officeDocument/2006/relationships/image" Target="../media/image-6-4.png"/><Relationship Id="rId8" Type="http://schemas.openxmlformats.org/officeDocument/2006/relationships/image" Target="../media/image-6-4.png"/><Relationship Id="rId9" Type="http://schemas.openxmlformats.org/officeDocument/2006/relationships/image" Target="../media/image-6-4.png"/><Relationship Id="rId10" Type="http://schemas.openxmlformats.org/officeDocument/2006/relationships/image" Target="../media/image-6-10.png"/><Relationship Id="rId11" Type="http://schemas.openxmlformats.org/officeDocument/2006/relationships/image" Target="../media/image-6-10.png"/><Relationship Id="rId12" Type="http://schemas.openxmlformats.org/officeDocument/2006/relationships/image" Target="../media/image-6-10.png"/><Relationship Id="rId13" Type="http://schemas.openxmlformats.org/officeDocument/2006/relationships/image" Target="../media/image-6-10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287500" y="609905"/>
            <a:ext cx="3238805" cy="1904695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1695" y="3619195"/>
            <a:ext cx="3810305" cy="1647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761695" y="3619195"/>
            <a:ext cx="3810305" cy="2834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24705" y="3619195"/>
            <a:ext cx="3810305" cy="1647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724705" y="3619195"/>
            <a:ext cx="3810305" cy="28346"/>
          </a:xfrm>
          <a:prstGeom prst="rect">
            <a:avLst/>
          </a:prstGeom>
          <a:solidFill>
            <a:srgbClr val="5B6470"/>
          </a:solidFill>
          <a:ln w="12700">
            <a:solidFill>
              <a:srgbClr val="5B647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0" y="3619195"/>
            <a:ext cx="3810305" cy="1647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0" y="3619195"/>
            <a:ext cx="3810305" cy="28346"/>
          </a:xfrm>
          <a:prstGeom prst="rect">
            <a:avLst/>
          </a:prstGeom>
          <a:solidFill>
            <a:srgbClr val="5B6470"/>
          </a:solidFill>
          <a:ln w="12700">
            <a:solidFill>
              <a:srgbClr val="5B6470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648895" y="3619195"/>
            <a:ext cx="4114800" cy="1647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12648895" y="3619195"/>
            <a:ext cx="4114800" cy="2834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1695" y="7239305"/>
            <a:ext cx="8001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25305" y="7239305"/>
            <a:ext cx="8001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0" descr="gen-dedup-9b95c5d50ae7476a19b5f5fe31149d9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pic>
        <p:nvPicPr>
          <p:cNvPr id="15" name="Image 1" descr="gen-dedup-da7611139a7c2fc1816ed518683bf01b.png">    </p:cNvPr>
          <p:cNvPicPr>
            <a:picLocks noChangeAspect="1"/>
          </p:cNvPicPr>
          <p:nvPr/>
        </p:nvPicPr>
        <p:blipFill>
          <a:blip r:embed="rId2"/>
          <a:srcRect l="0" r="0" t="-201" b="-201"/>
          <a:stretch/>
        </p:blipFill>
        <p:spPr>
          <a:xfrm>
            <a:off x="761695" y="7239305"/>
            <a:ext cx="75895" cy="2286000"/>
          </a:xfrm>
          <a:prstGeom prst="rect">
            <a:avLst/>
          </a:prstGeom>
        </p:spPr>
      </p:pic>
      <p:pic>
        <p:nvPicPr>
          <p:cNvPr id="16" name="Image 2" descr="gen-dedup-1ed9f2cf3f8bb97b49e5e84548c092ed.png">    </p:cNvPr>
          <p:cNvPicPr>
            <a:picLocks noChangeAspect="1"/>
          </p:cNvPicPr>
          <p:nvPr/>
        </p:nvPicPr>
        <p:blipFill>
          <a:blip r:embed="rId3"/>
          <a:srcRect l="0" r="0" t="-201" b="-201"/>
          <a:stretch/>
        </p:blipFill>
        <p:spPr>
          <a:xfrm>
            <a:off x="9525305" y="7239305"/>
            <a:ext cx="75895" cy="22860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61695" y="609905"/>
            <a:ext cx="5334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BEOL REPORT · FILE 06 / 20 · SPLIT-LOT</a:t>
            </a:r>
            <a:endParaRPr lang="en-US" sz="975" dirty="0"/>
          </a:p>
        </p:txBody>
      </p:sp>
      <p:sp>
        <p:nvSpPr>
          <p:cNvPr id="18" name="Text 12"/>
          <p:cNvSpPr txBox="1"/>
          <p:nvPr/>
        </p:nvSpPr>
        <p:spPr>
          <a:xfrm>
            <a:off x="761695" y="905256"/>
            <a:ext cx="5334610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36" kern="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Hi there — 여기서 </a:t>
            </a:r>
            <a:pPr algn="l" indent="0" marL="0">
              <a:lnSpc>
                <a:spcPct val="110000"/>
              </a:lnSpc>
              <a:buNone/>
            </a:pPr>
            <a:r>
              <a:rPr lang="en-US" sz="3600" b="1" spc="-36" kern="0" dirty="0">
                <a:solidFill>
                  <a:srgbClr val="0E7C7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Slurry A</a:t>
            </a:r>
            <a:pPr algn="l" indent="0" marL="0">
              <a:lnSpc>
                <a:spcPct val="110000"/>
              </a:lnSpc>
              <a:buNone/>
            </a:pPr>
            <a:r>
              <a:rPr lang="en-US" sz="3600" b="1" spc="-36" kern="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와 </a:t>
            </a:r>
            <a:pPr algn="l" indent="0" marL="0">
              <a:lnSpc>
                <a:spcPct val="110000"/>
              </a:lnSpc>
              <a:buNone/>
            </a:pPr>
            <a:r>
              <a:rPr lang="en-US" sz="3600" b="1" spc="-36" kern="0" dirty="0">
                <a:solidFill>
                  <a:srgbClr val="B4530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Slurry B</a:t>
            </a:r>
            <a:pPr algn="l" indent="0" marL="0">
              <a:lnSpc>
                <a:spcPct val="110000"/>
              </a:lnSpc>
              <a:buNone/>
            </a:pPr>
            <a:r>
              <a:rPr lang="en-US" sz="3600" b="1" spc="-36" kern="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를 갈라놓고 봅니다</a:t>
            </a:r>
            <a:endParaRPr lang="en-US" sz="3600" dirty="0"/>
          </a:p>
        </p:txBody>
      </p:sp>
      <p:sp>
        <p:nvSpPr>
          <p:cNvPr id="19" name="Text 13"/>
          <p:cNvSpPr txBox="1"/>
          <p:nvPr/>
        </p:nvSpPr>
        <p:spPr>
          <a:xfrm>
            <a:off x="761695" y="2585009"/>
            <a:ext cx="53346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M4 layer Post-CMP 단계, 동일 lot 안에서 슬러리 두 종을 분기(split) 평가합니다 — 6 wafer × 4 CD 메트릭, 69-point in-line 균일도까지 한 화면에 모았습니다.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4477695" y="838505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· LOT</a:t>
            </a:r>
            <a:endParaRPr lang="en-US" sz="825" dirty="0"/>
          </a:p>
        </p:txBody>
      </p:sp>
      <p:sp>
        <p:nvSpPr>
          <p:cNvPr id="21" name="Text 15"/>
          <p:cNvSpPr txBox="1"/>
          <p:nvPr/>
        </p:nvSpPr>
        <p:spPr>
          <a:xfrm>
            <a:off x="14477695" y="1067105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DOX26-M4-S04</a:t>
            </a:r>
            <a:pPr algn="l" indent="0" marL="0">
              <a:lnSpc>
                <a:spcPct val="135000"/>
              </a:lnSpc>
              <a:buNone/>
            </a:pPr>
            <a:endParaRPr lang="en-US" sz="16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300mm / dry</a:t>
            </a:r>
            <a:endParaRPr lang="en-US" sz="1650" dirty="0"/>
          </a:p>
        </p:txBody>
      </p:sp>
      <p:sp>
        <p:nvSpPr>
          <p:cNvPr id="22" name="Text 16"/>
          <p:cNvSpPr txBox="1"/>
          <p:nvPr/>
        </p:nvSpPr>
        <p:spPr>
          <a:xfrm>
            <a:off x="14477695" y="1804111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SPLIT</a:t>
            </a:r>
            <a:endParaRPr lang="en-US" sz="825" dirty="0"/>
          </a:p>
        </p:txBody>
      </p:sp>
      <p:sp>
        <p:nvSpPr>
          <p:cNvPr id="23" name="Text 17"/>
          <p:cNvSpPr txBox="1"/>
          <p:nvPr/>
        </p:nvSpPr>
        <p:spPr>
          <a:xfrm>
            <a:off x="14477695" y="2013509"/>
            <a:ext cx="2857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· B (n=3 / 3)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761695" y="3124505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측정 CD target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761695" y="3409798"/>
            <a:ext cx="57150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4개 측정 항목 / 6 wafer / unit nm</a:t>
            </a:r>
            <a:endParaRPr lang="en-US" sz="1650" dirty="0"/>
          </a:p>
        </p:txBody>
      </p:sp>
      <p:sp>
        <p:nvSpPr>
          <p:cNvPr id="26" name="Text 20"/>
          <p:cNvSpPr txBox="1"/>
          <p:nvPr/>
        </p:nvSpPr>
        <p:spPr>
          <a:xfrm>
            <a:off x="1028700" y="3829507"/>
            <a:ext cx="32772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0E7C7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AASI · Dense L/S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028700" y="4123944"/>
            <a:ext cx="3277210" cy="77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50" b="1" spc="-93" kern="0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25.2</a:t>
            </a:r>
            <a:pPr algn="l" indent="0" marL="0">
              <a:buNone/>
            </a:pPr>
            <a:r>
              <a:rPr lang="en-US" sz="1500" b="1" spc="-93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</a:t>
            </a:r>
            <a:endParaRPr lang="en-US" sz="4650" dirty="0"/>
          </a:p>
        </p:txBody>
      </p:sp>
      <p:sp>
        <p:nvSpPr>
          <p:cNvPr id="28" name="Text 22"/>
          <p:cNvSpPr txBox="1"/>
          <p:nvPr/>
        </p:nvSpPr>
        <p:spPr>
          <a:xfrm>
            <a:off x="1028700" y="4972507"/>
            <a:ext cx="32772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Active-area after-ash sidewall image</a:t>
            </a:r>
            <a:endParaRPr lang="en-US" sz="1125" dirty="0"/>
          </a:p>
        </p:txBody>
      </p:sp>
      <p:sp>
        <p:nvSpPr>
          <p:cNvPr id="29" name="Text 23"/>
          <p:cNvSpPr txBox="1"/>
          <p:nvPr/>
        </p:nvSpPr>
        <p:spPr>
          <a:xfrm>
            <a:off x="4990795" y="3829507"/>
            <a:ext cx="32772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ASEI · Semi-dense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4990795" y="4123944"/>
            <a:ext cx="3277210" cy="781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50" b="1" spc="-93" kern="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15.4</a:t>
            </a:r>
            <a:pPr algn="l" indent="0" marL="0">
              <a:buNone/>
            </a:pPr>
            <a:r>
              <a:rPr lang="en-US" sz="1500" b="1" spc="-9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nm</a:t>
            </a:r>
            <a:endParaRPr lang="en-US" sz="4650" dirty="0"/>
          </a:p>
        </p:txBody>
      </p:sp>
      <p:sp>
        <p:nvSpPr>
          <p:cNvPr id="31" name="Text 25"/>
          <p:cNvSpPr txBox="1"/>
          <p:nvPr/>
        </p:nvSpPr>
        <p:spPr>
          <a:xfrm>
            <a:off x="4990795" y="4981651"/>
            <a:ext cx="32772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After-strip etch inspection</a:t>
            </a:r>
            <a:endParaRPr lang="en-US" sz="1125" dirty="0"/>
          </a:p>
        </p:txBody>
      </p:sp>
      <p:sp>
        <p:nvSpPr>
          <p:cNvPr id="32" name="Text 26"/>
          <p:cNvSpPr txBox="1"/>
          <p:nvPr/>
        </p:nvSpPr>
        <p:spPr>
          <a:xfrm>
            <a:off x="8953805" y="3829507"/>
            <a:ext cx="32772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AMI · Single line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8953805" y="4123944"/>
            <a:ext cx="3277210" cy="781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50" b="1" spc="-93" kern="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9.1</a:t>
            </a:r>
            <a:pPr algn="l" indent="0" marL="0">
              <a:buNone/>
            </a:pPr>
            <a:r>
              <a:rPr lang="en-US" sz="1500" b="1" spc="-9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nm</a:t>
            </a:r>
            <a:endParaRPr lang="en-US" sz="4650" dirty="0"/>
          </a:p>
        </p:txBody>
      </p:sp>
      <p:sp>
        <p:nvSpPr>
          <p:cNvPr id="34" name="Text 28"/>
          <p:cNvSpPr txBox="1"/>
          <p:nvPr/>
        </p:nvSpPr>
        <p:spPr>
          <a:xfrm>
            <a:off x="8953805" y="4981651"/>
            <a:ext cx="32772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After-metal inspection</a:t>
            </a:r>
            <a:endParaRPr lang="en-US" sz="1125" dirty="0"/>
          </a:p>
        </p:txBody>
      </p:sp>
      <p:sp>
        <p:nvSpPr>
          <p:cNvPr id="35" name="Text 29"/>
          <p:cNvSpPr txBox="1"/>
          <p:nvPr/>
        </p:nvSpPr>
        <p:spPr>
          <a:xfrm>
            <a:off x="12915900" y="3829507"/>
            <a:ext cx="35817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ACI · Via / Contact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12915900" y="4123944"/>
            <a:ext cx="3581705" cy="781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50" b="1" spc="-93" kern="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9.8</a:t>
            </a:r>
            <a:pPr algn="l" indent="0" marL="0">
              <a:buNone/>
            </a:pPr>
            <a:r>
              <a:rPr lang="en-US" sz="1500" b="1" spc="-93" kern="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nm</a:t>
            </a:r>
            <a:endParaRPr lang="en-US" sz="4650" dirty="0"/>
          </a:p>
        </p:txBody>
      </p:sp>
      <p:sp>
        <p:nvSpPr>
          <p:cNvPr id="37" name="Text 31"/>
          <p:cNvSpPr txBox="1"/>
          <p:nvPr/>
        </p:nvSpPr>
        <p:spPr>
          <a:xfrm>
            <a:off x="12915900" y="4981651"/>
            <a:ext cx="35817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After-contact inspection</a:t>
            </a:r>
            <a:endParaRPr lang="en-US" sz="1125" dirty="0"/>
          </a:p>
        </p:txBody>
      </p:sp>
      <p:sp>
        <p:nvSpPr>
          <p:cNvPr id="38" name="Text 32"/>
          <p:cNvSpPr txBox="1"/>
          <p:nvPr/>
        </p:nvSpPr>
        <p:spPr>
          <a:xfrm>
            <a:off x="761695" y="5715000"/>
            <a:ext cx="7239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02 · 03 SPLIT LEG</a:t>
            </a:r>
            <a:endParaRPr lang="en-US" sz="975" dirty="0"/>
          </a:p>
        </p:txBody>
      </p:sp>
      <p:sp>
        <p:nvSpPr>
          <p:cNvPr id="39" name="Text 33"/>
          <p:cNvSpPr txBox="1"/>
          <p:nvPr/>
        </p:nvSpPr>
        <p:spPr>
          <a:xfrm>
            <a:off x="761695" y="5971946"/>
            <a:ext cx="79251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Slurry A vs Slurry B — 동일한 트리거, 다른 polish recipe</a:t>
            </a:r>
            <a:endParaRPr lang="en-US" sz="2250" dirty="0"/>
          </a:p>
        </p:txBody>
      </p:sp>
      <p:sp>
        <p:nvSpPr>
          <p:cNvPr id="40" name="Text 34"/>
          <p:cNvSpPr txBox="1"/>
          <p:nvPr/>
        </p:nvSpPr>
        <p:spPr>
          <a:xfrm>
            <a:off x="761695" y="6534302"/>
            <a:ext cx="7239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P1/P2 단계는 동일하게 진행하고 P3 메인 polish 단계에서 slurry만 분기합니다. 모든 wafer는 동일 tool, 동일 head, 동일 pad 의 condition-down 후 12시간 이내에 측정하였습니다.</a:t>
            </a:r>
            <a:endParaRPr lang="en-US" sz="1275" dirty="0"/>
          </a:p>
        </p:txBody>
      </p:sp>
      <p:sp>
        <p:nvSpPr>
          <p:cNvPr id="41" name="Text 35"/>
          <p:cNvSpPr txBox="1"/>
          <p:nvPr/>
        </p:nvSpPr>
        <p:spPr>
          <a:xfrm>
            <a:off x="1143000" y="7487107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46" kern="0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LEG · A</a:t>
            </a:r>
            <a:endParaRPr lang="en-US" sz="975" dirty="0"/>
          </a:p>
        </p:txBody>
      </p:sp>
      <p:sp>
        <p:nvSpPr>
          <p:cNvPr id="42" name="Text 36"/>
          <p:cNvSpPr txBox="1"/>
          <p:nvPr/>
        </p:nvSpPr>
        <p:spPr>
          <a:xfrm>
            <a:off x="1143000" y="7686446"/>
            <a:ext cx="190561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Slurry A</a:t>
            </a:r>
            <a:endParaRPr lang="en-US" sz="2250" dirty="0"/>
          </a:p>
        </p:txBody>
      </p:sp>
      <p:sp>
        <p:nvSpPr>
          <p:cNvPr id="43" name="Text 37"/>
          <p:cNvSpPr txBox="1"/>
          <p:nvPr/>
        </p:nvSpPr>
        <p:spPr>
          <a:xfrm>
            <a:off x="1143000" y="8172907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Reference control</a:t>
            </a:r>
            <a:endParaRPr lang="en-US" sz="1050" dirty="0"/>
          </a:p>
        </p:txBody>
      </p:sp>
      <p:sp>
        <p:nvSpPr>
          <p:cNvPr id="44" name="Text 38"/>
          <p:cNvSpPr txBox="1"/>
          <p:nvPr/>
        </p:nvSpPr>
        <p:spPr>
          <a:xfrm>
            <a:off x="1143000" y="8600846"/>
            <a:ext cx="190561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350" b="1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wfr</a:t>
            </a:r>
            <a:endParaRPr lang="en-US" sz="2550" dirty="0"/>
          </a:p>
        </p:txBody>
      </p:sp>
      <p:sp>
        <p:nvSpPr>
          <p:cNvPr id="45" name="Text 39"/>
          <p:cNvSpPr txBox="1"/>
          <p:nvPr/>
        </p:nvSpPr>
        <p:spPr>
          <a:xfrm>
            <a:off x="1143000" y="906810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 · W02 · W03</a:t>
            </a:r>
            <a:endParaRPr lang="en-US" sz="975" dirty="0"/>
          </a:p>
        </p:txBody>
      </p:sp>
      <p:sp>
        <p:nvSpPr>
          <p:cNvPr id="46" name="Text 40"/>
          <p:cNvSpPr txBox="1"/>
          <p:nvPr/>
        </p:nvSpPr>
        <p:spPr>
          <a:xfrm>
            <a:off x="3619195" y="7487107"/>
            <a:ext cx="4953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Recipe signature</a:t>
            </a:r>
            <a:endParaRPr lang="en-US" sz="975" dirty="0"/>
          </a:p>
        </p:txBody>
      </p:sp>
      <p:sp>
        <p:nvSpPr>
          <p:cNvPr id="47" name="Text 41"/>
          <p:cNvSpPr txBox="1"/>
          <p:nvPr/>
        </p:nvSpPr>
        <p:spPr>
          <a:xfrm>
            <a:off x="3619195" y="7763256"/>
            <a:ext cx="495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94A3B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Abrasive</a:t>
            </a:r>
            <a:pPr algn="l" indent="0" marL="0">
              <a:buNone/>
            </a:pPr>
            <a:r>
              <a:rPr lang="en-US" sz="1275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colloidal silica, 80 nm, pH 10.2</a:t>
            </a:r>
            <a:endParaRPr lang="en-US" sz="1275" dirty="0"/>
          </a:p>
        </p:txBody>
      </p:sp>
      <p:sp>
        <p:nvSpPr>
          <p:cNvPr id="48" name="Text 42"/>
          <p:cNvSpPr txBox="1"/>
          <p:nvPr/>
        </p:nvSpPr>
        <p:spPr>
          <a:xfrm>
            <a:off x="3619195" y="8038490"/>
            <a:ext cx="495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94A3B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Oxidant </a:t>
            </a:r>
            <a:pPr algn="l" indent="0" marL="0">
              <a:buNone/>
            </a:pPr>
            <a:r>
              <a:rPr lang="en-US" sz="1275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H</a:t>
            </a:r>
            <a:pPr algn="l" indent="0" marL="0">
              <a:buNone/>
            </a:pPr>
            <a:r>
              <a:rPr lang="en-US" sz="1063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pPr algn="l" indent="0" marL="0">
              <a:buNone/>
            </a:pPr>
            <a:r>
              <a:rPr lang="en-US" sz="1275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</a:t>
            </a:r>
            <a:pPr algn="l" indent="0" marL="0">
              <a:buNone/>
            </a:pPr>
            <a:r>
              <a:rPr lang="en-US" sz="1063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pPr algn="l" indent="0" marL="0">
              <a:buNone/>
            </a:pPr>
            <a:r>
              <a:rPr lang="en-US" sz="1275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0.45 wt%</a:t>
            </a:r>
            <a:endParaRPr lang="en-US" sz="1275" dirty="0"/>
          </a:p>
        </p:txBody>
      </p:sp>
      <p:sp>
        <p:nvSpPr>
          <p:cNvPr id="49" name="Text 43"/>
          <p:cNvSpPr txBox="1"/>
          <p:nvPr/>
        </p:nvSpPr>
        <p:spPr>
          <a:xfrm>
            <a:off x="3619195" y="8337499"/>
            <a:ext cx="495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94A3B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RR </a:t>
            </a:r>
            <a:pPr algn="l" indent="0" marL="0">
              <a:buNone/>
            </a:pPr>
            <a:r>
              <a:rPr lang="en-US" sz="1275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Cu 3200 / Oxide 320 Å/min</a:t>
            </a:r>
            <a:endParaRPr lang="en-US" sz="1275" dirty="0"/>
          </a:p>
        </p:txBody>
      </p:sp>
      <p:sp>
        <p:nvSpPr>
          <p:cNvPr id="50" name="Text 44"/>
          <p:cNvSpPr txBox="1"/>
          <p:nvPr/>
        </p:nvSpPr>
        <p:spPr>
          <a:xfrm>
            <a:off x="3619195" y="8613648"/>
            <a:ext cx="495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94A3B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Bias </a:t>
            </a:r>
            <a:pPr algn="l" indent="0" marL="0">
              <a:buNone/>
            </a:pPr>
            <a:r>
              <a:rPr lang="en-US" sz="1275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1.8 psi · platen 38 rpm</a:t>
            </a:r>
            <a:endParaRPr lang="en-US" sz="1275" dirty="0"/>
          </a:p>
        </p:txBody>
      </p:sp>
      <p:sp>
        <p:nvSpPr>
          <p:cNvPr id="51" name="Text 45"/>
          <p:cNvSpPr txBox="1"/>
          <p:nvPr/>
        </p:nvSpPr>
        <p:spPr>
          <a:xfrm>
            <a:off x="9905695" y="7487107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46" kern="0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LEG · B</a:t>
            </a:r>
            <a:endParaRPr lang="en-US" sz="975" dirty="0"/>
          </a:p>
        </p:txBody>
      </p:sp>
      <p:sp>
        <p:nvSpPr>
          <p:cNvPr id="52" name="Text 46"/>
          <p:cNvSpPr txBox="1"/>
          <p:nvPr/>
        </p:nvSpPr>
        <p:spPr>
          <a:xfrm>
            <a:off x="9905695" y="7686446"/>
            <a:ext cx="190561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Slurry B</a:t>
            </a:r>
            <a:endParaRPr lang="en-US" sz="2250" dirty="0"/>
          </a:p>
        </p:txBody>
      </p:sp>
      <p:sp>
        <p:nvSpPr>
          <p:cNvPr id="53" name="Text 47"/>
          <p:cNvSpPr txBox="1"/>
          <p:nvPr/>
        </p:nvSpPr>
        <p:spPr>
          <a:xfrm>
            <a:off x="9905695" y="8172907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Candidate chemistry</a:t>
            </a:r>
            <a:endParaRPr lang="en-US" sz="1050" dirty="0"/>
          </a:p>
        </p:txBody>
      </p:sp>
      <p:sp>
        <p:nvSpPr>
          <p:cNvPr id="54" name="Text 48"/>
          <p:cNvSpPr txBox="1"/>
          <p:nvPr/>
        </p:nvSpPr>
        <p:spPr>
          <a:xfrm>
            <a:off x="9905695" y="8600846"/>
            <a:ext cx="190561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350" b="1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wfr</a:t>
            </a:r>
            <a:endParaRPr lang="en-US" sz="2550" dirty="0"/>
          </a:p>
        </p:txBody>
      </p:sp>
      <p:sp>
        <p:nvSpPr>
          <p:cNvPr id="55" name="Text 49"/>
          <p:cNvSpPr txBox="1"/>
          <p:nvPr/>
        </p:nvSpPr>
        <p:spPr>
          <a:xfrm>
            <a:off x="9905695" y="906810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 · W05 · W06</a:t>
            </a:r>
            <a:endParaRPr lang="en-US" sz="975" dirty="0"/>
          </a:p>
        </p:txBody>
      </p:sp>
      <p:sp>
        <p:nvSpPr>
          <p:cNvPr id="56" name="Text 50"/>
          <p:cNvSpPr txBox="1"/>
          <p:nvPr/>
        </p:nvSpPr>
        <p:spPr>
          <a:xfrm>
            <a:off x="12382805" y="7487107"/>
            <a:ext cx="4953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Recipe signature</a:t>
            </a:r>
            <a:endParaRPr lang="en-US" sz="975" dirty="0"/>
          </a:p>
        </p:txBody>
      </p:sp>
      <p:sp>
        <p:nvSpPr>
          <p:cNvPr id="57" name="Text 51"/>
          <p:cNvSpPr txBox="1"/>
          <p:nvPr/>
        </p:nvSpPr>
        <p:spPr>
          <a:xfrm>
            <a:off x="12382805" y="7763256"/>
            <a:ext cx="495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94A3B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Abrasive</a:t>
            </a:r>
            <a:pPr algn="l" indent="0" marL="0">
              <a:buNone/>
            </a:pPr>
            <a:r>
              <a:rPr lang="en-US" sz="1275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CeO</a:t>
            </a:r>
            <a:pPr algn="l" indent="0" marL="0">
              <a:buNone/>
            </a:pPr>
            <a:r>
              <a:rPr lang="en-US" sz="1063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pPr algn="l" indent="0" marL="0">
              <a:buNone/>
            </a:pPr>
            <a:r>
              <a:rPr lang="en-US" sz="1275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-doped silica, 90 nm, pH 9.6</a:t>
            </a:r>
            <a:endParaRPr lang="en-US" sz="1275" dirty="0"/>
          </a:p>
        </p:txBody>
      </p:sp>
      <p:sp>
        <p:nvSpPr>
          <p:cNvPr id="58" name="Text 52"/>
          <p:cNvSpPr txBox="1"/>
          <p:nvPr/>
        </p:nvSpPr>
        <p:spPr>
          <a:xfrm>
            <a:off x="12382805" y="8062265"/>
            <a:ext cx="495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94A3B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Oxidant </a:t>
            </a:r>
            <a:pPr algn="l" indent="0" marL="0">
              <a:buNone/>
            </a:pPr>
            <a:r>
              <a:rPr lang="en-US" sz="1275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H</a:t>
            </a:r>
            <a:pPr algn="l" indent="0" marL="0">
              <a:buNone/>
            </a:pPr>
            <a:r>
              <a:rPr lang="en-US" sz="1063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pPr algn="l" indent="0" marL="0">
              <a:buNone/>
            </a:pPr>
            <a:r>
              <a:rPr lang="en-US" sz="1275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</a:t>
            </a:r>
            <a:pPr algn="l" indent="0" marL="0">
              <a:buNone/>
            </a:pPr>
            <a:r>
              <a:rPr lang="en-US" sz="1063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pPr algn="l" indent="0" marL="0">
              <a:buNone/>
            </a:pPr>
            <a:r>
              <a:rPr lang="en-US" sz="1275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0.30 wt% + FA chelator</a:t>
            </a:r>
            <a:endParaRPr lang="en-US" sz="1275" dirty="0"/>
          </a:p>
        </p:txBody>
      </p:sp>
      <p:sp>
        <p:nvSpPr>
          <p:cNvPr id="59" name="Text 53"/>
          <p:cNvSpPr txBox="1"/>
          <p:nvPr/>
        </p:nvSpPr>
        <p:spPr>
          <a:xfrm>
            <a:off x="12382805" y="8362188"/>
            <a:ext cx="495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94A3B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RR </a:t>
            </a:r>
            <a:pPr algn="l" indent="0" marL="0">
              <a:buNone/>
            </a:pPr>
            <a:r>
              <a:rPr lang="en-US" sz="1275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Cu 2860 / Oxide 240 Å/min</a:t>
            </a:r>
            <a:endParaRPr lang="en-US" sz="1275" dirty="0"/>
          </a:p>
        </p:txBody>
      </p:sp>
      <p:sp>
        <p:nvSpPr>
          <p:cNvPr id="60" name="Text 54"/>
          <p:cNvSpPr txBox="1"/>
          <p:nvPr/>
        </p:nvSpPr>
        <p:spPr>
          <a:xfrm>
            <a:off x="12382805" y="8637422"/>
            <a:ext cx="495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94A3B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Bias </a:t>
            </a:r>
            <a:pPr algn="l" indent="0" marL="0">
              <a:buNone/>
            </a:pPr>
            <a:r>
              <a:rPr lang="en-US" sz="1275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2.1 psi · platen 38 rpm</a:t>
            </a:r>
            <a:endParaRPr lang="en-US" sz="1275" dirty="0"/>
          </a:p>
        </p:txBody>
      </p:sp>
      <p:sp>
        <p:nvSpPr>
          <p:cNvPr id="61" name="Text 55"/>
          <p:cNvSpPr txBox="1"/>
          <p:nvPr/>
        </p:nvSpPr>
        <p:spPr>
          <a:xfrm>
            <a:off x="761695" y="10019995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※ 내부 테스트용 더미(가상) 데이터 · 본 페이지는 process split 정의 / target 사양 / recipe signature 만을 다룹니다.</a:t>
            </a:r>
            <a:endParaRPr lang="en-US" sz="975" dirty="0"/>
          </a:p>
        </p:txBody>
      </p:sp>
      <p:sp>
        <p:nvSpPr>
          <p:cNvPr id="62" name="Text 56"/>
          <p:cNvSpPr txBox="1"/>
          <p:nvPr/>
        </p:nvSpPr>
        <p:spPr>
          <a:xfrm>
            <a:off x="16573500" y="10019995"/>
            <a:ext cx="952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06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1695" y="2667305"/>
            <a:ext cx="7048195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001000" y="2667305"/>
            <a:ext cx="5333695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01000" y="6476695"/>
            <a:ext cx="5333695" cy="1904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525805" y="6476695"/>
            <a:ext cx="4000500" cy="1904695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gen-dedup-9b95c5d50ae7476a19b5f5fe31149d9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90295" y="2971800"/>
            <a:ext cx="4572000" cy="4953305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5a618e1a7723359840c9082933b91f3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" y="2971800"/>
            <a:ext cx="4572000" cy="495330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229600" y="2933395"/>
            <a:ext cx="3619195" cy="2095805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2" descr="gen-dedup-6ee88706e3d796dc747708d5c9d8ea8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933395"/>
            <a:ext cx="3619195" cy="2095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229600" y="6705295"/>
            <a:ext cx="2286000" cy="1447495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3" descr="gen-dedup-6da2655559d542bf4a2a8cd2fb39660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6705295"/>
            <a:ext cx="2286000" cy="144749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761695" y="609905"/>
            <a:ext cx="10858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CROSS-SECTION IMAGERY</a:t>
            </a:r>
            <a:endParaRPr lang="en-US" sz="975" dirty="0"/>
          </a:p>
        </p:txBody>
      </p:sp>
      <p:sp>
        <p:nvSpPr>
          <p:cNvPr id="15" name="Text 8"/>
          <p:cNvSpPr txBox="1"/>
          <p:nvPr/>
        </p:nvSpPr>
        <p:spPr>
          <a:xfrm>
            <a:off x="761695" y="886054"/>
            <a:ext cx="13070434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31" kern="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 단면 사진으로 slurry 결과를 </a:t>
            </a:r>
            <a:pPr algn="l" indent="0" marL="0">
              <a:buNone/>
            </a:pPr>
            <a:r>
              <a:rPr lang="en-US" sz="3150" b="1" spc="-31" kern="0" dirty="0">
                <a:solidFill>
                  <a:srgbClr val="0E7C7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육안</a:t>
            </a:r>
            <a:pPr algn="l" indent="0" marL="0">
              <a:buNone/>
            </a:pPr>
            <a:r>
              <a:rPr lang="en-US" sz="3150" b="1" spc="-31" kern="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으로 먼저 봅니다</a:t>
            </a:r>
            <a:endParaRPr lang="en-US" sz="3150" dirty="0"/>
          </a:p>
        </p:txBody>
      </p:sp>
      <p:sp>
        <p:nvSpPr>
          <p:cNvPr id="16" name="Text 9"/>
          <p:cNvSpPr txBox="1"/>
          <p:nvPr/>
        </p:nvSpPr>
        <p:spPr>
          <a:xfrm>
            <a:off x="761695" y="1619402"/>
            <a:ext cx="10858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세 장의 reference image. 같은 SEM stage에서 얻은 post-CMP 단면과, Cu dual damascene 문헌 단면을 함께 놓고, CD 표의 숫자가 어디서 나오는지 확인합니다.</a:t>
            </a:r>
            <a:endParaRPr lang="en-US" sz="1350" dirty="0"/>
          </a:p>
        </p:txBody>
      </p:sp>
      <p:sp>
        <p:nvSpPr>
          <p:cNvPr id="17" name="Text 10"/>
          <p:cNvSpPr txBox="1"/>
          <p:nvPr/>
        </p:nvSpPr>
        <p:spPr>
          <a:xfrm>
            <a:off x="14287500" y="609905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IMAGES · 3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14287500" y="853135"/>
            <a:ext cx="3238805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Cu dual damascene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Post-CMP SEM Wafer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Dishing / Erosion</a:t>
            </a:r>
            <a:endParaRPr lang="en-US" sz="1050" dirty="0"/>
          </a:p>
        </p:txBody>
      </p:sp>
      <p:pic>
        <p:nvPicPr>
          <p:cNvPr id="19" name="Image 4" descr="gen-dedup-329671361f4416547c4a14abe7628e6a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14287500" y="1737360"/>
            <a:ext cx="2286000" cy="914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4287500" y="1880006"/>
            <a:ext cx="3238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모든 이미지는 web 검색을 통해 확보한 공개 reference 자료이며, 본 deck의 dummy 데이터 측정 컨텍스트를 시각적으로 설명하기 위한 것입니다.</a:t>
            </a:r>
            <a:endParaRPr lang="en-US" sz="975" dirty="0"/>
          </a:p>
        </p:txBody>
      </p:sp>
      <p:sp>
        <p:nvSpPr>
          <p:cNvPr id="21" name="Text 13"/>
          <p:cNvSpPr txBox="1"/>
          <p:nvPr/>
        </p:nvSpPr>
        <p:spPr>
          <a:xfrm>
            <a:off x="5790895" y="2971800"/>
            <a:ext cx="17913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0E7C7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 · 01</a:t>
            </a:r>
            <a:endParaRPr lang="en-US" sz="825" dirty="0"/>
          </a:p>
        </p:txBody>
      </p:sp>
      <p:sp>
        <p:nvSpPr>
          <p:cNvPr id="22" name="Text 14"/>
          <p:cNvSpPr txBox="1"/>
          <p:nvPr/>
        </p:nvSpPr>
        <p:spPr>
          <a:xfrm>
            <a:off x="5790895" y="3161995"/>
            <a:ext cx="17913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 dual</a:t>
            </a:r>
            <a:pPr algn="l" indent="0" marL="0">
              <a:lnSpc>
                <a:spcPct val="120000"/>
              </a:lnSpc>
              <a:buNone/>
            </a:pPr>
            <a:endParaRPr lang="en-US" sz="16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damascene</a:t>
            </a:r>
            <a:pPr algn="l" indent="0" marL="0">
              <a:lnSpc>
                <a:spcPct val="120000"/>
              </a:lnSpc>
              <a:buNone/>
            </a:pPr>
            <a:endParaRPr lang="en-US" sz="16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단면</a:t>
            </a:r>
            <a:endParaRPr lang="en-US" sz="1650" dirty="0"/>
          </a:p>
        </p:txBody>
      </p:sp>
      <p:pic>
        <p:nvPicPr>
          <p:cNvPr id="23" name="Image 5" descr="gen-dedup-99c06592bc9f9d046b7d102d3eede608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5790895" y="4049878"/>
            <a:ext cx="457200" cy="914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790895" y="4192524"/>
            <a:ext cx="17913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M1–M4 stack 의 trench / via 단면 형태를 보여주는 reference. 본 deck의 AASI / AMI 위치 매핑에 사용.</a:t>
            </a:r>
            <a:endParaRPr lang="en-US" sz="975" dirty="0"/>
          </a:p>
        </p:txBody>
      </p:sp>
      <p:sp>
        <p:nvSpPr>
          <p:cNvPr id="25" name="Text 16"/>
          <p:cNvSpPr txBox="1"/>
          <p:nvPr/>
        </p:nvSpPr>
        <p:spPr>
          <a:xfrm>
            <a:off x="5790895" y="7429500"/>
            <a:ext cx="17913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</a:t>
            </a:r>
            <a:endParaRPr lang="en-US" sz="825" dirty="0"/>
          </a:p>
        </p:txBody>
      </p:sp>
      <p:sp>
        <p:nvSpPr>
          <p:cNvPr id="26" name="Text 17"/>
          <p:cNvSpPr txBox="1"/>
          <p:nvPr/>
        </p:nvSpPr>
        <p:spPr>
          <a:xfrm>
            <a:off x="5790895" y="7619695"/>
            <a:ext cx="17913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3D InCites · Copper Dual Damascene for WLP</a:t>
            </a:r>
            <a:endParaRPr lang="en-US" sz="900" dirty="0"/>
          </a:p>
        </p:txBody>
      </p:sp>
      <p:sp>
        <p:nvSpPr>
          <p:cNvPr id="27" name="Text 18"/>
          <p:cNvSpPr txBox="1"/>
          <p:nvPr/>
        </p:nvSpPr>
        <p:spPr>
          <a:xfrm>
            <a:off x="8229600" y="52193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 · 02 · POST-CMP</a:t>
            </a:r>
            <a:endParaRPr lang="en-US" sz="825" dirty="0"/>
          </a:p>
        </p:txBody>
      </p:sp>
      <p:sp>
        <p:nvSpPr>
          <p:cNvPr id="28" name="Text 19"/>
          <p:cNvSpPr txBox="1"/>
          <p:nvPr/>
        </p:nvSpPr>
        <p:spPr>
          <a:xfrm>
            <a:off x="8229600" y="5429707"/>
            <a:ext cx="3620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Post-CMP 단면 — Slurry A vs B</a:t>
            </a:r>
            <a:endParaRPr lang="en-US" sz="1350" dirty="0"/>
          </a:p>
        </p:txBody>
      </p:sp>
      <p:sp>
        <p:nvSpPr>
          <p:cNvPr id="29" name="Text 20"/>
          <p:cNvSpPr txBox="1"/>
          <p:nvPr/>
        </p:nvSpPr>
        <p:spPr>
          <a:xfrm>
            <a:off x="12077395" y="2933395"/>
            <a:ext cx="10287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SCALE</a:t>
            </a:r>
            <a:endParaRPr lang="en-US" sz="825" dirty="0"/>
          </a:p>
        </p:txBody>
      </p:sp>
      <p:sp>
        <p:nvSpPr>
          <p:cNvPr id="30" name="Text 21"/>
          <p:cNvSpPr txBox="1"/>
          <p:nvPr/>
        </p:nvSpPr>
        <p:spPr>
          <a:xfrm>
            <a:off x="12077395" y="3124505"/>
            <a:ext cx="1028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~200 nm</a:t>
            </a:r>
            <a:endParaRPr lang="en-US" sz="1500" dirty="0"/>
          </a:p>
        </p:txBody>
      </p:sp>
      <p:pic>
        <p:nvPicPr>
          <p:cNvPr id="31" name="Image 6" descr="gen-dedup-983a04ccc845c42e319b26fcea93a3a7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12077395" y="3448202"/>
            <a:ext cx="342900" cy="914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2077395" y="3534156"/>
            <a:ext cx="152613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Tilted cross-section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12077395" y="3981298"/>
            <a:ext cx="10287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825" dirty="0"/>
          </a:p>
        </p:txBody>
      </p:sp>
      <p:sp>
        <p:nvSpPr>
          <p:cNvPr id="34" name="Text 24"/>
          <p:cNvSpPr txBox="1"/>
          <p:nvPr/>
        </p:nvSpPr>
        <p:spPr>
          <a:xfrm>
            <a:off x="12077395" y="4172407"/>
            <a:ext cx="102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Noguchi et al., post-CMP, Semantic Scholar</a:t>
            </a:r>
            <a:endParaRPr lang="en-US" sz="825" dirty="0"/>
          </a:p>
        </p:txBody>
      </p:sp>
      <p:sp>
        <p:nvSpPr>
          <p:cNvPr id="35" name="Text 25"/>
          <p:cNvSpPr txBox="1"/>
          <p:nvPr/>
        </p:nvSpPr>
        <p:spPr>
          <a:xfrm>
            <a:off x="10782605" y="6705295"/>
            <a:ext cx="2286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 · 03 · SCHEMATIC</a:t>
            </a:r>
            <a:endParaRPr lang="en-US" sz="825" dirty="0"/>
          </a:p>
        </p:txBody>
      </p:sp>
      <p:sp>
        <p:nvSpPr>
          <p:cNvPr id="36" name="Text 26"/>
          <p:cNvSpPr txBox="1"/>
          <p:nvPr/>
        </p:nvSpPr>
        <p:spPr>
          <a:xfrm>
            <a:off x="10782605" y="6896405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Dishing vs Erosion 정의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10782605" y="7164324"/>
            <a:ext cx="2286000" cy="360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wide line → Cu dishing</a:t>
            </a:r>
            <a:pPr algn="l" indent="0" marL="0">
              <a:lnSpc>
                <a:spcPts val="1350"/>
              </a:lnSpc>
              <a:buNone/>
            </a:pP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dense array → dielectric erosion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13830300" y="6724498"/>
            <a:ext cx="35058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TO READ</a:t>
            </a:r>
            <a:endParaRPr lang="en-US" sz="825" dirty="0"/>
          </a:p>
        </p:txBody>
      </p:sp>
      <p:sp>
        <p:nvSpPr>
          <p:cNvPr id="39" name="Text 29"/>
          <p:cNvSpPr txBox="1"/>
          <p:nvPr/>
        </p:nvSpPr>
        <p:spPr>
          <a:xfrm>
            <a:off x="13830300" y="6991502"/>
            <a:ext cx="35058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Image 는 reference,</a:t>
            </a:r>
            <a:pPr algn="l" indent="0" marL="0">
              <a:lnSpc>
                <a:spcPct val="135000"/>
              </a:lnSpc>
              <a:buNone/>
            </a:pP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표의 숫자가 source of truth.</a:t>
            </a:r>
            <a:endParaRPr lang="en-US" sz="1500" dirty="0"/>
          </a:p>
        </p:txBody>
      </p:sp>
      <p:sp>
        <p:nvSpPr>
          <p:cNvPr id="40" name="Text 30"/>
          <p:cNvSpPr txBox="1"/>
          <p:nvPr/>
        </p:nvSpPr>
        <p:spPr>
          <a:xfrm>
            <a:off x="13830300" y="7638898"/>
            <a:ext cx="35058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Image 는 도식적 비교와 pattern-density 정의 확인용으로만 사용하고, 슬라이드 3–5의 측정값으로 모든 정량 결론을 도출합니다.</a:t>
            </a:r>
            <a:endParaRPr lang="en-US" sz="975" dirty="0"/>
          </a:p>
        </p:txBody>
      </p:sp>
      <p:sp>
        <p:nvSpPr>
          <p:cNvPr id="41" name="Text 31"/>
          <p:cNvSpPr txBox="1"/>
          <p:nvPr/>
        </p:nvSpPr>
        <p:spPr>
          <a:xfrm>
            <a:off x="761695" y="8667598"/>
            <a:ext cx="12573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 LIST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761695" y="8887054"/>
            <a:ext cx="12573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Fig 01 — IMAPS / 3D InCites, "Copper Dual Damascene for Wafer-Level Packaging" (3dincites.com). Fig 02 — Noguchi &amp; Konishi, "Influence of post-CMP cleaning on Cu interconnects and TDDB reliability", Semantic Scholar (semanticscholar.org). Fig 03 — VLSI Concepts, "Dishing and Erosion (CMP)" (vlsi-expert.com).</a:t>
            </a:r>
            <a:endParaRPr lang="en-US" sz="975" dirty="0"/>
          </a:p>
        </p:txBody>
      </p:sp>
      <p:sp>
        <p:nvSpPr>
          <p:cNvPr id="43" name="Text 33"/>
          <p:cNvSpPr txBox="1"/>
          <p:nvPr/>
        </p:nvSpPr>
        <p:spPr>
          <a:xfrm>
            <a:off x="761695" y="10019995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※ 내부 테스트용 더미(가상) 데이터 · Image 는 공개 자료 기반 reference, 본 deck 의 측정 컨텍스트 보완 용도입니다.</a:t>
            </a:r>
            <a:endParaRPr lang="en-US" sz="975" dirty="0"/>
          </a:p>
        </p:txBody>
      </p:sp>
      <p:sp>
        <p:nvSpPr>
          <p:cNvPr id="44" name="Text 34"/>
          <p:cNvSpPr txBox="1"/>
          <p:nvPr/>
        </p:nvSpPr>
        <p:spPr>
          <a:xfrm>
            <a:off x="16573500" y="10019995"/>
            <a:ext cx="952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06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3334695" y="609905"/>
            <a:ext cx="1333195" cy="571500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859000" y="609905"/>
            <a:ext cx="1333195" cy="57150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1695" y="1904695"/>
            <a:ext cx="16763695" cy="16194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1695" y="3676802"/>
            <a:ext cx="16763695" cy="1524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1695" y="5352898"/>
            <a:ext cx="16763695" cy="1524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695" y="7029907"/>
            <a:ext cx="16763695" cy="1524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gen-dedup-9b95c5d50ae7476a19b5f5fe31149d9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pic>
        <p:nvPicPr>
          <p:cNvPr id="10" name="Image 1" descr="gen-dedup-e0917b8dbdeb939f6c8c66efe12e9cb4.png">    </p:cNvPr>
          <p:cNvPicPr>
            <a:picLocks noChangeAspect="1"/>
          </p:cNvPicPr>
          <p:nvPr/>
        </p:nvPicPr>
        <p:blipFill>
          <a:blip r:embed="rId2"/>
          <a:srcRect l="0" r="0" t="-206" b="-206"/>
          <a:stretch/>
        </p:blipFill>
        <p:spPr>
          <a:xfrm>
            <a:off x="761695" y="1904695"/>
            <a:ext cx="75895" cy="161940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619195" y="2115007"/>
            <a:ext cx="2095805" cy="12006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3752698" y="2210105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 · A</a:t>
            </a:r>
            <a:endParaRPr lang="en-US" sz="975" dirty="0"/>
          </a:p>
        </p:txBody>
      </p:sp>
      <p:sp>
        <p:nvSpPr>
          <p:cNvPr id="13" name="Text 8"/>
          <p:cNvSpPr txBox="1"/>
          <p:nvPr/>
        </p:nvSpPr>
        <p:spPr>
          <a:xfrm>
            <a:off x="3752698" y="2457907"/>
            <a:ext cx="78181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25.6</a:t>
            </a:r>
            <a:endParaRPr lang="en-US" sz="2550" dirty="0"/>
          </a:p>
        </p:txBody>
      </p:sp>
      <p:sp>
        <p:nvSpPr>
          <p:cNvPr id="14" name="Text 9"/>
          <p:cNvSpPr txBox="1"/>
          <p:nvPr/>
        </p:nvSpPr>
        <p:spPr>
          <a:xfrm>
            <a:off x="3752698" y="2915107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1.8 · R 7.2 · Δ +0.4</a:t>
            </a:r>
            <a:endParaRPr lang="en-US" sz="825" dirty="0"/>
          </a:p>
        </p:txBody>
      </p:sp>
      <p:sp>
        <p:nvSpPr>
          <p:cNvPr id="15" name="Shape 10"/>
          <p:cNvSpPr/>
          <p:nvPr/>
        </p:nvSpPr>
        <p:spPr>
          <a:xfrm>
            <a:off x="5810098" y="2115007"/>
            <a:ext cx="2095805" cy="12006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0" y="2210105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 · A</a:t>
            </a:r>
            <a:endParaRPr lang="en-US" sz="975" dirty="0"/>
          </a:p>
        </p:txBody>
      </p:sp>
      <p:sp>
        <p:nvSpPr>
          <p:cNvPr id="17" name="Text 12"/>
          <p:cNvSpPr txBox="1"/>
          <p:nvPr/>
        </p:nvSpPr>
        <p:spPr>
          <a:xfrm>
            <a:off x="5943600" y="2457907"/>
            <a:ext cx="78181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25.5</a:t>
            </a:r>
            <a:endParaRPr lang="en-US" sz="2550" dirty="0"/>
          </a:p>
        </p:txBody>
      </p:sp>
      <p:sp>
        <p:nvSpPr>
          <p:cNvPr id="18" name="Text 13"/>
          <p:cNvSpPr txBox="1"/>
          <p:nvPr/>
        </p:nvSpPr>
        <p:spPr>
          <a:xfrm>
            <a:off x="5943600" y="2915107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1.7 · R 6.9 · Δ +0.3</a:t>
            </a:r>
            <a:endParaRPr lang="en-US" sz="825" dirty="0"/>
          </a:p>
        </p:txBody>
      </p:sp>
      <p:sp>
        <p:nvSpPr>
          <p:cNvPr id="19" name="Shape 14"/>
          <p:cNvSpPr/>
          <p:nvPr/>
        </p:nvSpPr>
        <p:spPr>
          <a:xfrm>
            <a:off x="8001000" y="2115007"/>
            <a:ext cx="2095805" cy="12006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134502" y="2210105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 · A</a:t>
            </a:r>
            <a:endParaRPr lang="en-US" sz="975" dirty="0"/>
          </a:p>
        </p:txBody>
      </p:sp>
      <p:sp>
        <p:nvSpPr>
          <p:cNvPr id="21" name="Text 16"/>
          <p:cNvSpPr txBox="1"/>
          <p:nvPr/>
        </p:nvSpPr>
        <p:spPr>
          <a:xfrm>
            <a:off x="8134502" y="2457907"/>
            <a:ext cx="78181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25.7</a:t>
            </a:r>
            <a:endParaRPr lang="en-US" sz="2550" dirty="0"/>
          </a:p>
        </p:txBody>
      </p:sp>
      <p:sp>
        <p:nvSpPr>
          <p:cNvPr id="22" name="Text 17"/>
          <p:cNvSpPr txBox="1"/>
          <p:nvPr/>
        </p:nvSpPr>
        <p:spPr>
          <a:xfrm>
            <a:off x="8134502" y="2915107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1.9 · R 7.5 · Δ +0.5</a:t>
            </a:r>
            <a:endParaRPr lang="en-US" sz="825" dirty="0"/>
          </a:p>
        </p:txBody>
      </p:sp>
      <p:sp>
        <p:nvSpPr>
          <p:cNvPr id="23" name="Shape 18"/>
          <p:cNvSpPr/>
          <p:nvPr/>
        </p:nvSpPr>
        <p:spPr>
          <a:xfrm>
            <a:off x="10477195" y="2115007"/>
            <a:ext cx="2095805" cy="12006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0610698" y="2210105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 · B</a:t>
            </a:r>
            <a:endParaRPr lang="en-US" sz="975" dirty="0"/>
          </a:p>
        </p:txBody>
      </p:sp>
      <p:sp>
        <p:nvSpPr>
          <p:cNvPr id="25" name="Text 20"/>
          <p:cNvSpPr txBox="1"/>
          <p:nvPr/>
        </p:nvSpPr>
        <p:spPr>
          <a:xfrm>
            <a:off x="10610698" y="2457907"/>
            <a:ext cx="78181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25.3</a:t>
            </a:r>
            <a:endParaRPr lang="en-US" sz="2550" dirty="0"/>
          </a:p>
        </p:txBody>
      </p:sp>
      <p:sp>
        <p:nvSpPr>
          <p:cNvPr id="26" name="Text 21"/>
          <p:cNvSpPr txBox="1"/>
          <p:nvPr/>
        </p:nvSpPr>
        <p:spPr>
          <a:xfrm>
            <a:off x="10610698" y="2915107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1.5 · R 6.4 · Δ +0.1</a:t>
            </a:r>
            <a:endParaRPr lang="en-US" sz="825" dirty="0"/>
          </a:p>
        </p:txBody>
      </p:sp>
      <p:sp>
        <p:nvSpPr>
          <p:cNvPr id="27" name="Shape 22"/>
          <p:cNvSpPr/>
          <p:nvPr/>
        </p:nvSpPr>
        <p:spPr>
          <a:xfrm>
            <a:off x="12668098" y="2115007"/>
            <a:ext cx="2095805" cy="12006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2801600" y="2210105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 · B</a:t>
            </a:r>
            <a:endParaRPr lang="en-US" sz="975" dirty="0"/>
          </a:p>
        </p:txBody>
      </p:sp>
      <p:sp>
        <p:nvSpPr>
          <p:cNvPr id="29" name="Text 24"/>
          <p:cNvSpPr txBox="1"/>
          <p:nvPr/>
        </p:nvSpPr>
        <p:spPr>
          <a:xfrm>
            <a:off x="12801600" y="2457907"/>
            <a:ext cx="78181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25.4</a:t>
            </a:r>
            <a:endParaRPr lang="en-US" sz="2550" dirty="0"/>
          </a:p>
        </p:txBody>
      </p:sp>
      <p:sp>
        <p:nvSpPr>
          <p:cNvPr id="30" name="Text 25"/>
          <p:cNvSpPr txBox="1"/>
          <p:nvPr/>
        </p:nvSpPr>
        <p:spPr>
          <a:xfrm>
            <a:off x="12801600" y="2915107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1.4 · R 6.2 · Δ +0.2</a:t>
            </a:r>
            <a:endParaRPr lang="en-US" sz="825" dirty="0"/>
          </a:p>
        </p:txBody>
      </p:sp>
      <p:sp>
        <p:nvSpPr>
          <p:cNvPr id="31" name="Shape 26"/>
          <p:cNvSpPr/>
          <p:nvPr/>
        </p:nvSpPr>
        <p:spPr>
          <a:xfrm>
            <a:off x="14859000" y="2115007"/>
            <a:ext cx="2095805" cy="12006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14992502" y="2210105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 · B</a:t>
            </a:r>
            <a:endParaRPr lang="en-US" sz="975" dirty="0"/>
          </a:p>
        </p:txBody>
      </p:sp>
      <p:sp>
        <p:nvSpPr>
          <p:cNvPr id="33" name="Text 28"/>
          <p:cNvSpPr txBox="1"/>
          <p:nvPr/>
        </p:nvSpPr>
        <p:spPr>
          <a:xfrm>
            <a:off x="14992502" y="2457907"/>
            <a:ext cx="78181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25.2</a:t>
            </a:r>
            <a:endParaRPr lang="en-US" sz="2550" dirty="0"/>
          </a:p>
        </p:txBody>
      </p:sp>
      <p:pic>
        <p:nvPicPr>
          <p:cNvPr id="34" name="Image 2" descr="gen-dedup-a97ec32c4dfbbbf7b7ad3fac649a5877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14992502" y="2723998"/>
            <a:ext cx="1828800" cy="19202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4992502" y="2819095"/>
            <a:ext cx="571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target</a:t>
            </a:r>
            <a:endParaRPr lang="en-US" sz="825" dirty="0"/>
          </a:p>
        </p:txBody>
      </p:sp>
      <p:sp>
        <p:nvSpPr>
          <p:cNvPr id="36" name="Text 30"/>
          <p:cNvSpPr txBox="1"/>
          <p:nvPr/>
        </p:nvSpPr>
        <p:spPr>
          <a:xfrm>
            <a:off x="14992502" y="3029407"/>
            <a:ext cx="13908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1.5 · R 6.5 · Δ 0.0</a:t>
            </a:r>
            <a:endParaRPr lang="en-US" sz="825" dirty="0"/>
          </a:p>
        </p:txBody>
      </p:sp>
      <p:pic>
        <p:nvPicPr>
          <p:cNvPr id="37" name="Image 3" descr="gen-dedup-a401cce939241524a0092a8f9682c095.png">    </p:cNvPr>
          <p:cNvPicPr>
            <a:picLocks noChangeAspect="1"/>
          </p:cNvPicPr>
          <p:nvPr/>
        </p:nvPicPr>
        <p:blipFill>
          <a:blip r:embed="rId4"/>
          <a:srcRect l="0" r="0" t="-211" b="-211"/>
          <a:stretch/>
        </p:blipFill>
        <p:spPr>
          <a:xfrm>
            <a:off x="761695" y="3676802"/>
            <a:ext cx="75895" cy="1524305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3619195" y="3847795"/>
            <a:ext cx="2095805" cy="1181405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3752698" y="3943807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 · A</a:t>
            </a:r>
            <a:endParaRPr lang="en-US" sz="975" dirty="0"/>
          </a:p>
        </p:txBody>
      </p:sp>
      <p:sp>
        <p:nvSpPr>
          <p:cNvPr id="40" name="Text 33"/>
          <p:cNvSpPr txBox="1"/>
          <p:nvPr/>
        </p:nvSpPr>
        <p:spPr>
          <a:xfrm>
            <a:off x="3752698" y="4190695"/>
            <a:ext cx="78181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15.6</a:t>
            </a:r>
            <a:endParaRPr lang="en-US" sz="2550" dirty="0"/>
          </a:p>
        </p:txBody>
      </p:sp>
      <p:sp>
        <p:nvSpPr>
          <p:cNvPr id="41" name="Text 34"/>
          <p:cNvSpPr txBox="1"/>
          <p:nvPr/>
        </p:nvSpPr>
        <p:spPr>
          <a:xfrm>
            <a:off x="3752698" y="4647895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1.2 · R 4.8 · Δ +0.2</a:t>
            </a:r>
            <a:endParaRPr lang="en-US" sz="825" dirty="0"/>
          </a:p>
        </p:txBody>
      </p:sp>
      <p:sp>
        <p:nvSpPr>
          <p:cNvPr id="42" name="Shape 35"/>
          <p:cNvSpPr/>
          <p:nvPr/>
        </p:nvSpPr>
        <p:spPr>
          <a:xfrm>
            <a:off x="5810098" y="3847795"/>
            <a:ext cx="2095805" cy="1181405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5943600" y="3943807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 · A</a:t>
            </a:r>
            <a:endParaRPr lang="en-US" sz="975" dirty="0"/>
          </a:p>
        </p:txBody>
      </p:sp>
      <p:sp>
        <p:nvSpPr>
          <p:cNvPr id="44" name="Text 37"/>
          <p:cNvSpPr txBox="1"/>
          <p:nvPr/>
        </p:nvSpPr>
        <p:spPr>
          <a:xfrm>
            <a:off x="5943600" y="4190695"/>
            <a:ext cx="78181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15.5</a:t>
            </a:r>
            <a:endParaRPr lang="en-US" sz="2550" dirty="0"/>
          </a:p>
        </p:txBody>
      </p:sp>
      <p:sp>
        <p:nvSpPr>
          <p:cNvPr id="45" name="Text 38"/>
          <p:cNvSpPr txBox="1"/>
          <p:nvPr/>
        </p:nvSpPr>
        <p:spPr>
          <a:xfrm>
            <a:off x="5943600" y="4647895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1.1 · R 4.6 · Δ +0.1</a:t>
            </a:r>
            <a:endParaRPr lang="en-US" sz="825" dirty="0"/>
          </a:p>
        </p:txBody>
      </p:sp>
      <p:sp>
        <p:nvSpPr>
          <p:cNvPr id="46" name="Shape 39"/>
          <p:cNvSpPr/>
          <p:nvPr/>
        </p:nvSpPr>
        <p:spPr>
          <a:xfrm>
            <a:off x="8001000" y="3847795"/>
            <a:ext cx="2095805" cy="1181405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8134502" y="3943807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 · A</a:t>
            </a:r>
            <a:endParaRPr lang="en-US" sz="975" dirty="0"/>
          </a:p>
        </p:txBody>
      </p:sp>
      <p:sp>
        <p:nvSpPr>
          <p:cNvPr id="48" name="Text 41"/>
          <p:cNvSpPr txBox="1"/>
          <p:nvPr/>
        </p:nvSpPr>
        <p:spPr>
          <a:xfrm>
            <a:off x="8134502" y="4190695"/>
            <a:ext cx="78181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15.7</a:t>
            </a:r>
            <a:endParaRPr lang="en-US" sz="2550" dirty="0"/>
          </a:p>
        </p:txBody>
      </p:sp>
      <p:sp>
        <p:nvSpPr>
          <p:cNvPr id="49" name="Text 42"/>
          <p:cNvSpPr txBox="1"/>
          <p:nvPr/>
        </p:nvSpPr>
        <p:spPr>
          <a:xfrm>
            <a:off x="8134502" y="4647895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1.3 · R 5.0 · Δ +0.3</a:t>
            </a:r>
            <a:endParaRPr lang="en-US" sz="825" dirty="0"/>
          </a:p>
        </p:txBody>
      </p:sp>
      <p:sp>
        <p:nvSpPr>
          <p:cNvPr id="50" name="Shape 43"/>
          <p:cNvSpPr/>
          <p:nvPr/>
        </p:nvSpPr>
        <p:spPr>
          <a:xfrm>
            <a:off x="10477195" y="3847795"/>
            <a:ext cx="2095805" cy="1181405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10610698" y="3943807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 · B</a:t>
            </a:r>
            <a:endParaRPr lang="en-US" sz="975" dirty="0"/>
          </a:p>
        </p:txBody>
      </p:sp>
      <p:sp>
        <p:nvSpPr>
          <p:cNvPr id="52" name="Text 45"/>
          <p:cNvSpPr txBox="1"/>
          <p:nvPr/>
        </p:nvSpPr>
        <p:spPr>
          <a:xfrm>
            <a:off x="10610698" y="4190695"/>
            <a:ext cx="78181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15.3</a:t>
            </a:r>
            <a:endParaRPr lang="en-US" sz="2550" dirty="0"/>
          </a:p>
        </p:txBody>
      </p:sp>
      <p:pic>
        <p:nvPicPr>
          <p:cNvPr id="53" name="Image 4" descr="gen-dedup-a97ec32c4dfbbbf7b7ad3fac649a5877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10610698" y="4552798"/>
            <a:ext cx="1828800" cy="19202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10610698" y="4647895"/>
            <a:ext cx="6958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within ±0.1</a:t>
            </a:r>
            <a:endParaRPr lang="en-US" sz="825" dirty="0"/>
          </a:p>
        </p:txBody>
      </p:sp>
      <p:sp>
        <p:nvSpPr>
          <p:cNvPr id="55" name="Text 47"/>
          <p:cNvSpPr txBox="1"/>
          <p:nvPr/>
        </p:nvSpPr>
        <p:spPr>
          <a:xfrm>
            <a:off x="10610698" y="4839005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0.9 · R 3.8 · Δ −0.1</a:t>
            </a:r>
            <a:endParaRPr lang="en-US" sz="825" dirty="0"/>
          </a:p>
        </p:txBody>
      </p:sp>
      <p:sp>
        <p:nvSpPr>
          <p:cNvPr id="56" name="Shape 48"/>
          <p:cNvSpPr/>
          <p:nvPr/>
        </p:nvSpPr>
        <p:spPr>
          <a:xfrm>
            <a:off x="12668098" y="3847795"/>
            <a:ext cx="2095805" cy="1181405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12801600" y="3943807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 · B</a:t>
            </a:r>
            <a:endParaRPr lang="en-US" sz="975" dirty="0"/>
          </a:p>
        </p:txBody>
      </p:sp>
      <p:sp>
        <p:nvSpPr>
          <p:cNvPr id="58" name="Text 50"/>
          <p:cNvSpPr txBox="1"/>
          <p:nvPr/>
        </p:nvSpPr>
        <p:spPr>
          <a:xfrm>
            <a:off x="12801600" y="4190695"/>
            <a:ext cx="78181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15.4</a:t>
            </a:r>
            <a:endParaRPr lang="en-US" sz="2550" dirty="0"/>
          </a:p>
        </p:txBody>
      </p:sp>
      <p:pic>
        <p:nvPicPr>
          <p:cNvPr id="59" name="Image 5" descr="gen-dedup-a97ec32c4dfbbbf7b7ad3fac649a5877.png">    </p:cNvPr>
          <p:cNvPicPr>
            <a:picLocks noChangeAspect="1"/>
          </p:cNvPicPr>
          <p:nvPr/>
        </p:nvPicPr>
        <p:blipFill>
          <a:blip r:embed="rId6"/>
          <a:srcRect l="0" r="0" t="-400" b="-400"/>
          <a:stretch/>
        </p:blipFill>
        <p:spPr>
          <a:xfrm>
            <a:off x="12801600" y="4552798"/>
            <a:ext cx="1828800" cy="19202"/>
          </a:xfrm>
          <a:prstGeom prst="rect">
            <a:avLst/>
          </a:prstGeom>
        </p:spPr>
      </p:pic>
      <p:sp>
        <p:nvSpPr>
          <p:cNvPr id="60" name="Text 51"/>
          <p:cNvSpPr txBox="1"/>
          <p:nvPr/>
        </p:nvSpPr>
        <p:spPr>
          <a:xfrm>
            <a:off x="12801600" y="4647895"/>
            <a:ext cx="571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target</a:t>
            </a:r>
            <a:endParaRPr lang="en-US" sz="825" dirty="0"/>
          </a:p>
        </p:txBody>
      </p:sp>
      <p:sp>
        <p:nvSpPr>
          <p:cNvPr id="61" name="Text 52"/>
          <p:cNvSpPr txBox="1"/>
          <p:nvPr/>
        </p:nvSpPr>
        <p:spPr>
          <a:xfrm>
            <a:off x="12801600" y="4839005"/>
            <a:ext cx="13908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1.0 · R 4.0 · Δ 0.0</a:t>
            </a:r>
            <a:endParaRPr lang="en-US" sz="825" dirty="0"/>
          </a:p>
        </p:txBody>
      </p:sp>
      <p:sp>
        <p:nvSpPr>
          <p:cNvPr id="62" name="Shape 53"/>
          <p:cNvSpPr/>
          <p:nvPr/>
        </p:nvSpPr>
        <p:spPr>
          <a:xfrm>
            <a:off x="14859000" y="3847795"/>
            <a:ext cx="2095805" cy="1181405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4"/>
          <p:cNvSpPr txBox="1"/>
          <p:nvPr/>
        </p:nvSpPr>
        <p:spPr>
          <a:xfrm>
            <a:off x="14992502" y="3943807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 · B</a:t>
            </a:r>
            <a:endParaRPr lang="en-US" sz="975" dirty="0"/>
          </a:p>
        </p:txBody>
      </p:sp>
      <p:sp>
        <p:nvSpPr>
          <p:cNvPr id="64" name="Text 55"/>
          <p:cNvSpPr txBox="1"/>
          <p:nvPr/>
        </p:nvSpPr>
        <p:spPr>
          <a:xfrm>
            <a:off x="14992502" y="4190695"/>
            <a:ext cx="78181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15.3</a:t>
            </a:r>
            <a:endParaRPr lang="en-US" sz="2550" dirty="0"/>
          </a:p>
        </p:txBody>
      </p:sp>
      <p:sp>
        <p:nvSpPr>
          <p:cNvPr id="65" name="Text 56"/>
          <p:cNvSpPr txBox="1"/>
          <p:nvPr/>
        </p:nvSpPr>
        <p:spPr>
          <a:xfrm>
            <a:off x="14992502" y="4647895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0.9 · R 3.6 · Δ −0.1</a:t>
            </a:r>
            <a:endParaRPr lang="en-US" sz="825" dirty="0"/>
          </a:p>
        </p:txBody>
      </p:sp>
      <p:pic>
        <p:nvPicPr>
          <p:cNvPr id="66" name="Image 6" descr="gen-dedup-a401cce939241524a0092a8f9682c095.png">    </p:cNvPr>
          <p:cNvPicPr>
            <a:picLocks noChangeAspect="1"/>
          </p:cNvPicPr>
          <p:nvPr/>
        </p:nvPicPr>
        <p:blipFill>
          <a:blip r:embed="rId7"/>
          <a:srcRect l="0" r="0" t="-211" b="-211"/>
          <a:stretch/>
        </p:blipFill>
        <p:spPr>
          <a:xfrm>
            <a:off x="761695" y="5352898"/>
            <a:ext cx="75895" cy="1524305"/>
          </a:xfrm>
          <a:prstGeom prst="rect">
            <a:avLst/>
          </a:prstGeom>
        </p:spPr>
      </p:pic>
      <p:sp>
        <p:nvSpPr>
          <p:cNvPr id="67" name="Shape 57"/>
          <p:cNvSpPr/>
          <p:nvPr/>
        </p:nvSpPr>
        <p:spPr>
          <a:xfrm>
            <a:off x="3619195" y="5524805"/>
            <a:ext cx="2095805" cy="1181405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58"/>
          <p:cNvSpPr txBox="1"/>
          <p:nvPr/>
        </p:nvSpPr>
        <p:spPr>
          <a:xfrm>
            <a:off x="3752698" y="5619902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 · A</a:t>
            </a:r>
            <a:endParaRPr lang="en-US" sz="975" dirty="0"/>
          </a:p>
        </p:txBody>
      </p:sp>
      <p:sp>
        <p:nvSpPr>
          <p:cNvPr id="69" name="Text 59"/>
          <p:cNvSpPr txBox="1"/>
          <p:nvPr/>
        </p:nvSpPr>
        <p:spPr>
          <a:xfrm>
            <a:off x="3752698" y="5867705"/>
            <a:ext cx="5907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9.0</a:t>
            </a:r>
            <a:endParaRPr lang="en-US" sz="2550" dirty="0"/>
          </a:p>
        </p:txBody>
      </p:sp>
      <p:sp>
        <p:nvSpPr>
          <p:cNvPr id="70" name="Text 60"/>
          <p:cNvSpPr txBox="1"/>
          <p:nvPr/>
        </p:nvSpPr>
        <p:spPr>
          <a:xfrm>
            <a:off x="3752698" y="6324905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0.6 · R 2.4 · Δ −0.1</a:t>
            </a:r>
            <a:endParaRPr lang="en-US" sz="825" dirty="0"/>
          </a:p>
        </p:txBody>
      </p:sp>
      <p:sp>
        <p:nvSpPr>
          <p:cNvPr id="71" name="Shape 61"/>
          <p:cNvSpPr/>
          <p:nvPr/>
        </p:nvSpPr>
        <p:spPr>
          <a:xfrm>
            <a:off x="5810098" y="5524805"/>
            <a:ext cx="2095805" cy="1181405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62"/>
          <p:cNvSpPr txBox="1"/>
          <p:nvPr/>
        </p:nvSpPr>
        <p:spPr>
          <a:xfrm>
            <a:off x="5943600" y="5619902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 · A</a:t>
            </a:r>
            <a:endParaRPr lang="en-US" sz="975" dirty="0"/>
          </a:p>
        </p:txBody>
      </p:sp>
      <p:sp>
        <p:nvSpPr>
          <p:cNvPr id="73" name="Text 63"/>
          <p:cNvSpPr txBox="1"/>
          <p:nvPr/>
        </p:nvSpPr>
        <p:spPr>
          <a:xfrm>
            <a:off x="5943600" y="5867705"/>
            <a:ext cx="5907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9.1</a:t>
            </a:r>
            <a:endParaRPr lang="en-US" sz="2550" dirty="0"/>
          </a:p>
        </p:txBody>
      </p:sp>
      <p:pic>
        <p:nvPicPr>
          <p:cNvPr id="74" name="Image 7" descr="gen-dedup-a97ec32c4dfbbbf7b7ad3fac649a5877.png">    </p:cNvPr>
          <p:cNvPicPr>
            <a:picLocks noChangeAspect="1"/>
          </p:cNvPicPr>
          <p:nvPr/>
        </p:nvPicPr>
        <p:blipFill>
          <a:blip r:embed="rId8"/>
          <a:srcRect l="0" r="0" t="-400" b="-400"/>
          <a:stretch/>
        </p:blipFill>
        <p:spPr>
          <a:xfrm>
            <a:off x="5943600" y="6229807"/>
            <a:ext cx="1828800" cy="19202"/>
          </a:xfrm>
          <a:prstGeom prst="rect">
            <a:avLst/>
          </a:prstGeom>
        </p:spPr>
      </p:pic>
      <p:sp>
        <p:nvSpPr>
          <p:cNvPr id="75" name="Text 64"/>
          <p:cNvSpPr txBox="1"/>
          <p:nvPr/>
        </p:nvSpPr>
        <p:spPr>
          <a:xfrm>
            <a:off x="5943600" y="6324905"/>
            <a:ext cx="571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target</a:t>
            </a:r>
            <a:endParaRPr lang="en-US" sz="825" dirty="0"/>
          </a:p>
        </p:txBody>
      </p:sp>
      <p:sp>
        <p:nvSpPr>
          <p:cNvPr id="76" name="Text 65"/>
          <p:cNvSpPr txBox="1"/>
          <p:nvPr/>
        </p:nvSpPr>
        <p:spPr>
          <a:xfrm>
            <a:off x="5943600" y="6515100"/>
            <a:ext cx="13908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0.5 · R 2.2 · Δ 0.0</a:t>
            </a:r>
            <a:endParaRPr lang="en-US" sz="825" dirty="0"/>
          </a:p>
        </p:txBody>
      </p:sp>
      <p:sp>
        <p:nvSpPr>
          <p:cNvPr id="77" name="Shape 66"/>
          <p:cNvSpPr/>
          <p:nvPr/>
        </p:nvSpPr>
        <p:spPr>
          <a:xfrm>
            <a:off x="8001000" y="5524805"/>
            <a:ext cx="2095805" cy="1181405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67"/>
          <p:cNvSpPr txBox="1"/>
          <p:nvPr/>
        </p:nvSpPr>
        <p:spPr>
          <a:xfrm>
            <a:off x="8134502" y="5619902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 · A</a:t>
            </a:r>
            <a:endParaRPr lang="en-US" sz="975" dirty="0"/>
          </a:p>
        </p:txBody>
      </p:sp>
      <p:sp>
        <p:nvSpPr>
          <p:cNvPr id="79" name="Text 68"/>
          <p:cNvSpPr txBox="1"/>
          <p:nvPr/>
        </p:nvSpPr>
        <p:spPr>
          <a:xfrm>
            <a:off x="8134502" y="5867705"/>
            <a:ext cx="5907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9.2</a:t>
            </a:r>
            <a:endParaRPr lang="en-US" sz="2550" dirty="0"/>
          </a:p>
        </p:txBody>
      </p:sp>
      <p:sp>
        <p:nvSpPr>
          <p:cNvPr id="80" name="Text 69"/>
          <p:cNvSpPr txBox="1"/>
          <p:nvPr/>
        </p:nvSpPr>
        <p:spPr>
          <a:xfrm>
            <a:off x="8134502" y="6324905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0.7 · R 2.6 · Δ +0.1</a:t>
            </a:r>
            <a:endParaRPr lang="en-US" sz="825" dirty="0"/>
          </a:p>
        </p:txBody>
      </p:sp>
      <p:sp>
        <p:nvSpPr>
          <p:cNvPr id="81" name="Shape 70"/>
          <p:cNvSpPr/>
          <p:nvPr/>
        </p:nvSpPr>
        <p:spPr>
          <a:xfrm>
            <a:off x="10477195" y="5524805"/>
            <a:ext cx="2095805" cy="1181405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Text 71"/>
          <p:cNvSpPr txBox="1"/>
          <p:nvPr/>
        </p:nvSpPr>
        <p:spPr>
          <a:xfrm>
            <a:off x="10610698" y="5619902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 · B</a:t>
            </a:r>
            <a:endParaRPr lang="en-US" sz="975" dirty="0"/>
          </a:p>
        </p:txBody>
      </p:sp>
      <p:sp>
        <p:nvSpPr>
          <p:cNvPr id="83" name="Text 72"/>
          <p:cNvSpPr txBox="1"/>
          <p:nvPr/>
        </p:nvSpPr>
        <p:spPr>
          <a:xfrm>
            <a:off x="10610698" y="5867705"/>
            <a:ext cx="5907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9.0</a:t>
            </a:r>
            <a:endParaRPr lang="en-US" sz="2550" dirty="0"/>
          </a:p>
        </p:txBody>
      </p:sp>
      <p:sp>
        <p:nvSpPr>
          <p:cNvPr id="84" name="Text 73"/>
          <p:cNvSpPr txBox="1"/>
          <p:nvPr/>
        </p:nvSpPr>
        <p:spPr>
          <a:xfrm>
            <a:off x="10610698" y="6324905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0.4 · R 1.8 · Δ −0.1</a:t>
            </a:r>
            <a:endParaRPr lang="en-US" sz="825" dirty="0"/>
          </a:p>
        </p:txBody>
      </p:sp>
      <p:sp>
        <p:nvSpPr>
          <p:cNvPr id="85" name="Shape 74"/>
          <p:cNvSpPr/>
          <p:nvPr/>
        </p:nvSpPr>
        <p:spPr>
          <a:xfrm>
            <a:off x="12668098" y="5524805"/>
            <a:ext cx="2095805" cy="1181405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Text 75"/>
          <p:cNvSpPr txBox="1"/>
          <p:nvPr/>
        </p:nvSpPr>
        <p:spPr>
          <a:xfrm>
            <a:off x="12801600" y="5619902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 · B</a:t>
            </a:r>
            <a:endParaRPr lang="en-US" sz="975" dirty="0"/>
          </a:p>
        </p:txBody>
      </p:sp>
      <p:sp>
        <p:nvSpPr>
          <p:cNvPr id="87" name="Text 76"/>
          <p:cNvSpPr txBox="1"/>
          <p:nvPr/>
        </p:nvSpPr>
        <p:spPr>
          <a:xfrm>
            <a:off x="12801600" y="5867705"/>
            <a:ext cx="5907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9.1</a:t>
            </a:r>
            <a:endParaRPr lang="en-US" sz="2550" dirty="0"/>
          </a:p>
        </p:txBody>
      </p:sp>
      <p:pic>
        <p:nvPicPr>
          <p:cNvPr id="88" name="Image 8" descr="gen-dedup-a97ec32c4dfbbbf7b7ad3fac649a5877.png">    </p:cNvPr>
          <p:cNvPicPr>
            <a:picLocks noChangeAspect="1"/>
          </p:cNvPicPr>
          <p:nvPr/>
        </p:nvPicPr>
        <p:blipFill>
          <a:blip r:embed="rId9"/>
          <a:srcRect l="0" r="0" t="-400" b="-400"/>
          <a:stretch/>
        </p:blipFill>
        <p:spPr>
          <a:xfrm>
            <a:off x="12801600" y="6229807"/>
            <a:ext cx="1828800" cy="19202"/>
          </a:xfrm>
          <a:prstGeom prst="rect">
            <a:avLst/>
          </a:prstGeom>
        </p:spPr>
      </p:pic>
      <p:sp>
        <p:nvSpPr>
          <p:cNvPr id="89" name="Text 77"/>
          <p:cNvSpPr txBox="1"/>
          <p:nvPr/>
        </p:nvSpPr>
        <p:spPr>
          <a:xfrm>
            <a:off x="12801600" y="6324905"/>
            <a:ext cx="571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target</a:t>
            </a:r>
            <a:endParaRPr lang="en-US" sz="825" dirty="0"/>
          </a:p>
        </p:txBody>
      </p:sp>
      <p:sp>
        <p:nvSpPr>
          <p:cNvPr id="90" name="Text 78"/>
          <p:cNvSpPr txBox="1"/>
          <p:nvPr/>
        </p:nvSpPr>
        <p:spPr>
          <a:xfrm>
            <a:off x="12801600" y="6515100"/>
            <a:ext cx="13908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0.4 · R 1.7 · Δ 0.0</a:t>
            </a:r>
            <a:endParaRPr lang="en-US" sz="825" dirty="0"/>
          </a:p>
        </p:txBody>
      </p:sp>
      <p:sp>
        <p:nvSpPr>
          <p:cNvPr id="91" name="Shape 79"/>
          <p:cNvSpPr/>
          <p:nvPr/>
        </p:nvSpPr>
        <p:spPr>
          <a:xfrm>
            <a:off x="14859000" y="5524805"/>
            <a:ext cx="2095805" cy="1181405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Text 80"/>
          <p:cNvSpPr txBox="1"/>
          <p:nvPr/>
        </p:nvSpPr>
        <p:spPr>
          <a:xfrm>
            <a:off x="14992502" y="5619902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 · B</a:t>
            </a:r>
            <a:endParaRPr lang="en-US" sz="975" dirty="0"/>
          </a:p>
        </p:txBody>
      </p:sp>
      <p:sp>
        <p:nvSpPr>
          <p:cNvPr id="93" name="Text 81"/>
          <p:cNvSpPr txBox="1"/>
          <p:nvPr/>
        </p:nvSpPr>
        <p:spPr>
          <a:xfrm>
            <a:off x="14992502" y="5867705"/>
            <a:ext cx="5907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8.9</a:t>
            </a:r>
            <a:endParaRPr lang="en-US" sz="2550" dirty="0"/>
          </a:p>
        </p:txBody>
      </p:sp>
      <p:sp>
        <p:nvSpPr>
          <p:cNvPr id="94" name="Text 82"/>
          <p:cNvSpPr txBox="1"/>
          <p:nvPr/>
        </p:nvSpPr>
        <p:spPr>
          <a:xfrm>
            <a:off x="14992502" y="6324905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0.5 · R 1.9 · Δ −0.2</a:t>
            </a:r>
            <a:endParaRPr lang="en-US" sz="825" dirty="0"/>
          </a:p>
        </p:txBody>
      </p:sp>
      <p:pic>
        <p:nvPicPr>
          <p:cNvPr id="95" name="Image 9" descr="gen-dedup-a401cce939241524a0092a8f9682c095.png">    </p:cNvPr>
          <p:cNvPicPr>
            <a:picLocks noChangeAspect="1"/>
          </p:cNvPicPr>
          <p:nvPr/>
        </p:nvPicPr>
        <p:blipFill>
          <a:blip r:embed="rId10"/>
          <a:srcRect l="0" r="0" t="-211" b="-211"/>
          <a:stretch/>
        </p:blipFill>
        <p:spPr>
          <a:xfrm>
            <a:off x="761695" y="7029907"/>
            <a:ext cx="75895" cy="1524305"/>
          </a:xfrm>
          <a:prstGeom prst="rect">
            <a:avLst/>
          </a:prstGeom>
        </p:spPr>
      </p:pic>
      <p:sp>
        <p:nvSpPr>
          <p:cNvPr id="96" name="Shape 83"/>
          <p:cNvSpPr/>
          <p:nvPr/>
        </p:nvSpPr>
        <p:spPr>
          <a:xfrm>
            <a:off x="3619195" y="7200900"/>
            <a:ext cx="2095805" cy="1181405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Text 84"/>
          <p:cNvSpPr txBox="1"/>
          <p:nvPr/>
        </p:nvSpPr>
        <p:spPr>
          <a:xfrm>
            <a:off x="3752698" y="7295998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 · A</a:t>
            </a:r>
            <a:endParaRPr lang="en-US" sz="975" dirty="0"/>
          </a:p>
        </p:txBody>
      </p:sp>
      <p:sp>
        <p:nvSpPr>
          <p:cNvPr id="98" name="Text 85"/>
          <p:cNvSpPr txBox="1"/>
          <p:nvPr/>
        </p:nvSpPr>
        <p:spPr>
          <a:xfrm>
            <a:off x="3752698" y="7543800"/>
            <a:ext cx="5907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9.9</a:t>
            </a:r>
            <a:endParaRPr lang="en-US" sz="2550" dirty="0"/>
          </a:p>
        </p:txBody>
      </p:sp>
      <p:sp>
        <p:nvSpPr>
          <p:cNvPr id="99" name="Text 86"/>
          <p:cNvSpPr txBox="1"/>
          <p:nvPr/>
        </p:nvSpPr>
        <p:spPr>
          <a:xfrm>
            <a:off x="3752698" y="8001000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0.7 · R 2.8 · Δ +0.1</a:t>
            </a:r>
            <a:endParaRPr lang="en-US" sz="825" dirty="0"/>
          </a:p>
        </p:txBody>
      </p:sp>
      <p:sp>
        <p:nvSpPr>
          <p:cNvPr id="100" name="Shape 87"/>
          <p:cNvSpPr/>
          <p:nvPr/>
        </p:nvSpPr>
        <p:spPr>
          <a:xfrm>
            <a:off x="5810098" y="7200900"/>
            <a:ext cx="2095805" cy="1181405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Text 88"/>
          <p:cNvSpPr txBox="1"/>
          <p:nvPr/>
        </p:nvSpPr>
        <p:spPr>
          <a:xfrm>
            <a:off x="5943600" y="7295998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 · A</a:t>
            </a:r>
            <a:endParaRPr lang="en-US" sz="975" dirty="0"/>
          </a:p>
        </p:txBody>
      </p:sp>
      <p:sp>
        <p:nvSpPr>
          <p:cNvPr id="102" name="Text 89"/>
          <p:cNvSpPr txBox="1"/>
          <p:nvPr/>
        </p:nvSpPr>
        <p:spPr>
          <a:xfrm>
            <a:off x="5943600" y="7543800"/>
            <a:ext cx="5907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9.8</a:t>
            </a:r>
            <a:endParaRPr lang="en-US" sz="2550" dirty="0"/>
          </a:p>
        </p:txBody>
      </p:sp>
      <p:pic>
        <p:nvPicPr>
          <p:cNvPr id="103" name="Image 10" descr="gen-dedup-a97ec32c4dfbbbf7b7ad3fac649a5877.png">    </p:cNvPr>
          <p:cNvPicPr>
            <a:picLocks noChangeAspect="1"/>
          </p:cNvPicPr>
          <p:nvPr/>
        </p:nvPicPr>
        <p:blipFill>
          <a:blip r:embed="rId11"/>
          <a:srcRect l="0" r="0" t="-400" b="-400"/>
          <a:stretch/>
        </p:blipFill>
        <p:spPr>
          <a:xfrm>
            <a:off x="5943600" y="7905902"/>
            <a:ext cx="1828800" cy="19202"/>
          </a:xfrm>
          <a:prstGeom prst="rect">
            <a:avLst/>
          </a:prstGeom>
        </p:spPr>
      </p:pic>
      <p:sp>
        <p:nvSpPr>
          <p:cNvPr id="104" name="Text 90"/>
          <p:cNvSpPr txBox="1"/>
          <p:nvPr/>
        </p:nvSpPr>
        <p:spPr>
          <a:xfrm>
            <a:off x="5943600" y="8001000"/>
            <a:ext cx="571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target</a:t>
            </a:r>
            <a:endParaRPr lang="en-US" sz="825" dirty="0"/>
          </a:p>
        </p:txBody>
      </p:sp>
      <p:sp>
        <p:nvSpPr>
          <p:cNvPr id="105" name="Text 91"/>
          <p:cNvSpPr txBox="1"/>
          <p:nvPr/>
        </p:nvSpPr>
        <p:spPr>
          <a:xfrm>
            <a:off x="5943600" y="8191195"/>
            <a:ext cx="13908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0.6 · R 2.5 · Δ 0.0</a:t>
            </a:r>
            <a:endParaRPr lang="en-US" sz="825" dirty="0"/>
          </a:p>
        </p:txBody>
      </p:sp>
      <p:sp>
        <p:nvSpPr>
          <p:cNvPr id="106" name="Shape 92"/>
          <p:cNvSpPr/>
          <p:nvPr/>
        </p:nvSpPr>
        <p:spPr>
          <a:xfrm>
            <a:off x="8001000" y="7200900"/>
            <a:ext cx="2095805" cy="1181405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Text 93"/>
          <p:cNvSpPr txBox="1"/>
          <p:nvPr/>
        </p:nvSpPr>
        <p:spPr>
          <a:xfrm>
            <a:off x="8134502" y="7295998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 · A</a:t>
            </a:r>
            <a:endParaRPr lang="en-US" sz="975" dirty="0"/>
          </a:p>
        </p:txBody>
      </p:sp>
      <p:sp>
        <p:nvSpPr>
          <p:cNvPr id="108" name="Text 94"/>
          <p:cNvSpPr txBox="1"/>
          <p:nvPr/>
        </p:nvSpPr>
        <p:spPr>
          <a:xfrm>
            <a:off x="8134502" y="7543800"/>
            <a:ext cx="78181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10.0</a:t>
            </a:r>
            <a:endParaRPr lang="en-US" sz="2550" dirty="0"/>
          </a:p>
        </p:txBody>
      </p:sp>
      <p:sp>
        <p:nvSpPr>
          <p:cNvPr id="109" name="Text 95"/>
          <p:cNvSpPr txBox="1"/>
          <p:nvPr/>
        </p:nvSpPr>
        <p:spPr>
          <a:xfrm>
            <a:off x="8134502" y="8001000"/>
            <a:ext cx="8193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Δ +0.2 (over)</a:t>
            </a:r>
            <a:endParaRPr lang="en-US" sz="825" dirty="0"/>
          </a:p>
        </p:txBody>
      </p:sp>
      <p:sp>
        <p:nvSpPr>
          <p:cNvPr id="110" name="Text 96"/>
          <p:cNvSpPr txBox="1"/>
          <p:nvPr/>
        </p:nvSpPr>
        <p:spPr>
          <a:xfrm>
            <a:off x="8134502" y="8191195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0.8 · R 3.0 · Δ +0.2</a:t>
            </a:r>
            <a:endParaRPr lang="en-US" sz="825" dirty="0"/>
          </a:p>
        </p:txBody>
      </p:sp>
      <p:sp>
        <p:nvSpPr>
          <p:cNvPr id="111" name="Shape 97"/>
          <p:cNvSpPr/>
          <p:nvPr/>
        </p:nvSpPr>
        <p:spPr>
          <a:xfrm>
            <a:off x="10477195" y="7200900"/>
            <a:ext cx="2095805" cy="1181405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Text 98"/>
          <p:cNvSpPr txBox="1"/>
          <p:nvPr/>
        </p:nvSpPr>
        <p:spPr>
          <a:xfrm>
            <a:off x="10610698" y="7295998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 · B</a:t>
            </a:r>
            <a:endParaRPr lang="en-US" sz="975" dirty="0"/>
          </a:p>
        </p:txBody>
      </p:sp>
      <p:sp>
        <p:nvSpPr>
          <p:cNvPr id="113" name="Text 99"/>
          <p:cNvSpPr txBox="1"/>
          <p:nvPr/>
        </p:nvSpPr>
        <p:spPr>
          <a:xfrm>
            <a:off x="10610698" y="7543800"/>
            <a:ext cx="5907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9.7</a:t>
            </a:r>
            <a:endParaRPr lang="en-US" sz="2550" dirty="0"/>
          </a:p>
        </p:txBody>
      </p:sp>
      <p:sp>
        <p:nvSpPr>
          <p:cNvPr id="114" name="Text 100"/>
          <p:cNvSpPr txBox="1"/>
          <p:nvPr/>
        </p:nvSpPr>
        <p:spPr>
          <a:xfrm>
            <a:off x="10610698" y="8001000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0.5 · R 2.1 · Δ −0.1</a:t>
            </a:r>
            <a:endParaRPr lang="en-US" sz="825" dirty="0"/>
          </a:p>
        </p:txBody>
      </p:sp>
      <p:sp>
        <p:nvSpPr>
          <p:cNvPr id="115" name="Shape 101"/>
          <p:cNvSpPr/>
          <p:nvPr/>
        </p:nvSpPr>
        <p:spPr>
          <a:xfrm>
            <a:off x="12668098" y="7200900"/>
            <a:ext cx="2095805" cy="1181405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Text 102"/>
          <p:cNvSpPr txBox="1"/>
          <p:nvPr/>
        </p:nvSpPr>
        <p:spPr>
          <a:xfrm>
            <a:off x="12801600" y="7295998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 · B</a:t>
            </a:r>
            <a:endParaRPr lang="en-US" sz="975" dirty="0"/>
          </a:p>
        </p:txBody>
      </p:sp>
      <p:sp>
        <p:nvSpPr>
          <p:cNvPr id="117" name="Text 103"/>
          <p:cNvSpPr txBox="1"/>
          <p:nvPr/>
        </p:nvSpPr>
        <p:spPr>
          <a:xfrm>
            <a:off x="12801600" y="7543800"/>
            <a:ext cx="5907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9.7</a:t>
            </a:r>
            <a:endParaRPr lang="en-US" sz="2550" dirty="0"/>
          </a:p>
        </p:txBody>
      </p:sp>
      <p:sp>
        <p:nvSpPr>
          <p:cNvPr id="118" name="Text 104"/>
          <p:cNvSpPr txBox="1"/>
          <p:nvPr/>
        </p:nvSpPr>
        <p:spPr>
          <a:xfrm>
            <a:off x="12801600" y="8001000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0.4 · R 1.9 · Δ −0.1</a:t>
            </a:r>
            <a:endParaRPr lang="en-US" sz="825" dirty="0"/>
          </a:p>
        </p:txBody>
      </p:sp>
      <p:sp>
        <p:nvSpPr>
          <p:cNvPr id="119" name="Shape 105"/>
          <p:cNvSpPr/>
          <p:nvPr/>
        </p:nvSpPr>
        <p:spPr>
          <a:xfrm>
            <a:off x="14859000" y="7200900"/>
            <a:ext cx="2095805" cy="1181405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Text 106"/>
          <p:cNvSpPr txBox="1"/>
          <p:nvPr/>
        </p:nvSpPr>
        <p:spPr>
          <a:xfrm>
            <a:off x="14992502" y="7295998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 · B</a:t>
            </a:r>
            <a:endParaRPr lang="en-US" sz="975" dirty="0"/>
          </a:p>
        </p:txBody>
      </p:sp>
      <p:sp>
        <p:nvSpPr>
          <p:cNvPr id="121" name="Text 107"/>
          <p:cNvSpPr txBox="1"/>
          <p:nvPr/>
        </p:nvSpPr>
        <p:spPr>
          <a:xfrm>
            <a:off x="14992502" y="7543800"/>
            <a:ext cx="5907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9.8</a:t>
            </a:r>
            <a:endParaRPr lang="en-US" sz="2550" dirty="0"/>
          </a:p>
        </p:txBody>
      </p:sp>
      <p:pic>
        <p:nvPicPr>
          <p:cNvPr id="122" name="Image 11" descr="gen-dedup-a97ec32c4dfbbbf7b7ad3fac649a5877.png">    </p:cNvPr>
          <p:cNvPicPr>
            <a:picLocks noChangeAspect="1"/>
          </p:cNvPicPr>
          <p:nvPr/>
        </p:nvPicPr>
        <p:blipFill>
          <a:blip r:embed="rId12"/>
          <a:srcRect l="0" r="0" t="-400" b="-400"/>
          <a:stretch/>
        </p:blipFill>
        <p:spPr>
          <a:xfrm>
            <a:off x="14992502" y="7905902"/>
            <a:ext cx="1828800" cy="19202"/>
          </a:xfrm>
          <a:prstGeom prst="rect">
            <a:avLst/>
          </a:prstGeom>
        </p:spPr>
      </p:pic>
      <p:sp>
        <p:nvSpPr>
          <p:cNvPr id="123" name="Text 108"/>
          <p:cNvSpPr txBox="1"/>
          <p:nvPr/>
        </p:nvSpPr>
        <p:spPr>
          <a:xfrm>
            <a:off x="14992502" y="8001000"/>
            <a:ext cx="571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target</a:t>
            </a:r>
            <a:endParaRPr lang="en-US" sz="825" dirty="0"/>
          </a:p>
        </p:txBody>
      </p:sp>
      <p:sp>
        <p:nvSpPr>
          <p:cNvPr id="124" name="Text 109"/>
          <p:cNvSpPr txBox="1"/>
          <p:nvPr/>
        </p:nvSpPr>
        <p:spPr>
          <a:xfrm>
            <a:off x="14992502" y="8191195"/>
            <a:ext cx="13908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0.5 · R 2.0 · Δ 0.0</a:t>
            </a:r>
            <a:endParaRPr lang="en-US" sz="825" dirty="0"/>
          </a:p>
        </p:txBody>
      </p:sp>
      <p:sp>
        <p:nvSpPr>
          <p:cNvPr id="125" name="Text 110"/>
          <p:cNvSpPr txBox="1"/>
          <p:nvPr/>
        </p:nvSpPr>
        <p:spPr>
          <a:xfrm>
            <a:off x="761695" y="533095"/>
            <a:ext cx="10478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CD VARIATION</a:t>
            </a:r>
            <a:endParaRPr lang="en-US" sz="975" dirty="0"/>
          </a:p>
        </p:txBody>
      </p:sp>
      <p:sp>
        <p:nvSpPr>
          <p:cNvPr id="126" name="Text 111"/>
          <p:cNvSpPr txBox="1"/>
          <p:nvPr/>
        </p:nvSpPr>
        <p:spPr>
          <a:xfrm>
            <a:off x="761695" y="790956"/>
            <a:ext cx="10679278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spc="-29" kern="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4가지 측정 항목, 모두 wafer별 </a:t>
            </a:r>
            <a:pPr algn="l" indent="0" marL="0">
              <a:buNone/>
            </a:pPr>
            <a:r>
              <a:rPr lang="en-US" sz="2850" b="1" spc="-29" kern="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mean / 3σ / range / Δ</a:t>
            </a:r>
            <a:endParaRPr lang="en-US" sz="2850" dirty="0"/>
          </a:p>
        </p:txBody>
      </p:sp>
      <p:sp>
        <p:nvSpPr>
          <p:cNvPr id="127" name="Text 112"/>
          <p:cNvSpPr txBox="1"/>
          <p:nvPr/>
        </p:nvSpPr>
        <p:spPr>
          <a:xfrm>
            <a:off x="761695" y="1447495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각 wafer는 한 metric당 9 site × 5 shot 평균으로 산출. Δ는 wafer mean − target.</a:t>
            </a:r>
            <a:endParaRPr lang="en-US" sz="1275" dirty="0"/>
          </a:p>
        </p:txBody>
      </p:sp>
      <p:sp>
        <p:nvSpPr>
          <p:cNvPr id="128" name="Text 113"/>
          <p:cNvSpPr txBox="1"/>
          <p:nvPr/>
        </p:nvSpPr>
        <p:spPr>
          <a:xfrm>
            <a:off x="13334695" y="743407"/>
            <a:ext cx="1334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5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SLURRY A · 3 wfr</a:t>
            </a:r>
            <a:endParaRPr lang="en-US" sz="1050" dirty="0"/>
          </a:p>
        </p:txBody>
      </p:sp>
      <p:sp>
        <p:nvSpPr>
          <p:cNvPr id="129" name="Text 114"/>
          <p:cNvSpPr txBox="1"/>
          <p:nvPr/>
        </p:nvSpPr>
        <p:spPr>
          <a:xfrm>
            <a:off x="14859000" y="743407"/>
            <a:ext cx="1334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5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SLURRY B · 3 wfr</a:t>
            </a:r>
            <a:endParaRPr lang="en-US" sz="1050" dirty="0"/>
          </a:p>
        </p:txBody>
      </p:sp>
      <p:sp>
        <p:nvSpPr>
          <p:cNvPr id="130" name="Text 115"/>
          <p:cNvSpPr txBox="1"/>
          <p:nvPr/>
        </p:nvSpPr>
        <p:spPr>
          <a:xfrm>
            <a:off x="16383305" y="609905"/>
            <a:ext cx="1143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UNIT</a:t>
            </a:r>
            <a:endParaRPr lang="en-US" sz="825" dirty="0"/>
          </a:p>
        </p:txBody>
      </p:sp>
      <p:sp>
        <p:nvSpPr>
          <p:cNvPr id="131" name="Text 116"/>
          <p:cNvSpPr txBox="1"/>
          <p:nvPr/>
        </p:nvSpPr>
        <p:spPr>
          <a:xfrm>
            <a:off x="16383305" y="800100"/>
            <a:ext cx="1143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nm</a:t>
            </a:r>
            <a:endParaRPr lang="en-US" sz="1800" dirty="0"/>
          </a:p>
        </p:txBody>
      </p:sp>
      <p:sp>
        <p:nvSpPr>
          <p:cNvPr id="132" name="Text 117"/>
          <p:cNvSpPr txBox="1"/>
          <p:nvPr/>
        </p:nvSpPr>
        <p:spPr>
          <a:xfrm>
            <a:off x="1143000" y="2115007"/>
            <a:ext cx="2286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0E7C7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METRIC · 01</a:t>
            </a:r>
            <a:endParaRPr lang="en-US" sz="825" dirty="0"/>
          </a:p>
        </p:txBody>
      </p:sp>
      <p:sp>
        <p:nvSpPr>
          <p:cNvPr id="133" name="Text 118"/>
          <p:cNvSpPr txBox="1"/>
          <p:nvPr/>
        </p:nvSpPr>
        <p:spPr>
          <a:xfrm>
            <a:off x="1143000" y="2324405"/>
            <a:ext cx="2286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AASI</a:t>
            </a:r>
            <a:endParaRPr lang="en-US" sz="1950" dirty="0"/>
          </a:p>
        </p:txBody>
      </p:sp>
      <p:sp>
        <p:nvSpPr>
          <p:cNvPr id="134" name="Text 119"/>
          <p:cNvSpPr txBox="1"/>
          <p:nvPr/>
        </p:nvSpPr>
        <p:spPr>
          <a:xfrm>
            <a:off x="1143000" y="2734056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Dense L/S</a:t>
            </a:r>
            <a:endParaRPr lang="en-US" sz="1050" dirty="0"/>
          </a:p>
        </p:txBody>
      </p:sp>
      <p:sp>
        <p:nvSpPr>
          <p:cNvPr id="135" name="Text 120"/>
          <p:cNvSpPr txBox="1"/>
          <p:nvPr/>
        </p:nvSpPr>
        <p:spPr>
          <a:xfrm>
            <a:off x="1143000" y="3066898"/>
            <a:ext cx="2286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</a:t>
            </a:r>
            <a:endParaRPr lang="en-US" sz="825" dirty="0"/>
          </a:p>
        </p:txBody>
      </p:sp>
      <p:sp>
        <p:nvSpPr>
          <p:cNvPr id="136" name="Text 121"/>
          <p:cNvSpPr txBox="1"/>
          <p:nvPr/>
        </p:nvSpPr>
        <p:spPr>
          <a:xfrm>
            <a:off x="1143000" y="3219602"/>
            <a:ext cx="2286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25.2</a:t>
            </a:r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nm</a:t>
            </a:r>
            <a:endParaRPr lang="en-US" sz="1800" dirty="0"/>
          </a:p>
        </p:txBody>
      </p:sp>
      <p:sp>
        <p:nvSpPr>
          <p:cNvPr id="137" name="Text 122"/>
          <p:cNvSpPr txBox="1"/>
          <p:nvPr/>
        </p:nvSpPr>
        <p:spPr>
          <a:xfrm>
            <a:off x="10287000" y="2605126"/>
            <a:ext cx="1051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</a:t>
            </a:r>
            <a:endParaRPr lang="en-US" sz="1350" dirty="0"/>
          </a:p>
        </p:txBody>
      </p:sp>
      <p:sp>
        <p:nvSpPr>
          <p:cNvPr id="138" name="Text 123"/>
          <p:cNvSpPr txBox="1"/>
          <p:nvPr/>
        </p:nvSpPr>
        <p:spPr>
          <a:xfrm>
            <a:off x="1143000" y="3847795"/>
            <a:ext cx="2286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METRIC · 02</a:t>
            </a:r>
            <a:endParaRPr lang="en-US" sz="825" dirty="0"/>
          </a:p>
        </p:txBody>
      </p:sp>
      <p:sp>
        <p:nvSpPr>
          <p:cNvPr id="139" name="Text 124"/>
          <p:cNvSpPr txBox="1"/>
          <p:nvPr/>
        </p:nvSpPr>
        <p:spPr>
          <a:xfrm>
            <a:off x="1143000" y="4058107"/>
            <a:ext cx="2286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ASEI</a:t>
            </a:r>
            <a:endParaRPr lang="en-US" sz="1950" dirty="0"/>
          </a:p>
        </p:txBody>
      </p:sp>
      <p:sp>
        <p:nvSpPr>
          <p:cNvPr id="140" name="Text 125"/>
          <p:cNvSpPr txBox="1"/>
          <p:nvPr/>
        </p:nvSpPr>
        <p:spPr>
          <a:xfrm>
            <a:off x="1143000" y="4466844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Semi-dense</a:t>
            </a:r>
            <a:endParaRPr lang="en-US" sz="1050" dirty="0"/>
          </a:p>
        </p:txBody>
      </p:sp>
      <p:sp>
        <p:nvSpPr>
          <p:cNvPr id="141" name="Text 126"/>
          <p:cNvSpPr txBox="1"/>
          <p:nvPr/>
        </p:nvSpPr>
        <p:spPr>
          <a:xfrm>
            <a:off x="1143000" y="4800600"/>
            <a:ext cx="2286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</a:t>
            </a:r>
            <a:endParaRPr lang="en-US" sz="825" dirty="0"/>
          </a:p>
        </p:txBody>
      </p:sp>
      <p:sp>
        <p:nvSpPr>
          <p:cNvPr id="142" name="Text 127"/>
          <p:cNvSpPr txBox="1"/>
          <p:nvPr/>
        </p:nvSpPr>
        <p:spPr>
          <a:xfrm>
            <a:off x="1143000" y="4953305"/>
            <a:ext cx="2286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15.4</a:t>
            </a:r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nm</a:t>
            </a:r>
            <a:endParaRPr lang="en-US" sz="1800" dirty="0"/>
          </a:p>
        </p:txBody>
      </p:sp>
      <p:sp>
        <p:nvSpPr>
          <p:cNvPr id="143" name="Text 128"/>
          <p:cNvSpPr txBox="1"/>
          <p:nvPr/>
        </p:nvSpPr>
        <p:spPr>
          <a:xfrm>
            <a:off x="1143000" y="5524805"/>
            <a:ext cx="2286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METRIC · 03</a:t>
            </a:r>
            <a:endParaRPr lang="en-US" sz="825" dirty="0"/>
          </a:p>
        </p:txBody>
      </p:sp>
      <p:sp>
        <p:nvSpPr>
          <p:cNvPr id="144" name="Text 129"/>
          <p:cNvSpPr txBox="1"/>
          <p:nvPr/>
        </p:nvSpPr>
        <p:spPr>
          <a:xfrm>
            <a:off x="1143000" y="5734202"/>
            <a:ext cx="2286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AMI</a:t>
            </a:r>
            <a:endParaRPr lang="en-US" sz="1950" dirty="0"/>
          </a:p>
        </p:txBody>
      </p:sp>
      <p:sp>
        <p:nvSpPr>
          <p:cNvPr id="145" name="Text 130"/>
          <p:cNvSpPr txBox="1"/>
          <p:nvPr/>
        </p:nvSpPr>
        <p:spPr>
          <a:xfrm>
            <a:off x="1143000" y="6143854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Single line</a:t>
            </a:r>
            <a:endParaRPr lang="en-US" sz="1050" dirty="0"/>
          </a:p>
        </p:txBody>
      </p:sp>
      <p:sp>
        <p:nvSpPr>
          <p:cNvPr id="146" name="Text 131"/>
          <p:cNvSpPr txBox="1"/>
          <p:nvPr/>
        </p:nvSpPr>
        <p:spPr>
          <a:xfrm>
            <a:off x="1143000" y="6476695"/>
            <a:ext cx="2286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</a:t>
            </a:r>
            <a:endParaRPr lang="en-US" sz="825" dirty="0"/>
          </a:p>
        </p:txBody>
      </p:sp>
      <p:sp>
        <p:nvSpPr>
          <p:cNvPr id="147" name="Text 132"/>
          <p:cNvSpPr txBox="1"/>
          <p:nvPr/>
        </p:nvSpPr>
        <p:spPr>
          <a:xfrm>
            <a:off x="1143000" y="6629400"/>
            <a:ext cx="2286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9.1</a:t>
            </a:r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nm</a:t>
            </a:r>
            <a:endParaRPr lang="en-US" sz="1800" dirty="0"/>
          </a:p>
        </p:txBody>
      </p:sp>
      <p:sp>
        <p:nvSpPr>
          <p:cNvPr id="148" name="Text 133"/>
          <p:cNvSpPr txBox="1"/>
          <p:nvPr/>
        </p:nvSpPr>
        <p:spPr>
          <a:xfrm>
            <a:off x="1143000" y="7200900"/>
            <a:ext cx="2286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METRIC · 04</a:t>
            </a:r>
            <a:endParaRPr lang="en-US" sz="825" dirty="0"/>
          </a:p>
        </p:txBody>
      </p:sp>
      <p:sp>
        <p:nvSpPr>
          <p:cNvPr id="149" name="Text 134"/>
          <p:cNvSpPr txBox="1"/>
          <p:nvPr/>
        </p:nvSpPr>
        <p:spPr>
          <a:xfrm>
            <a:off x="1143000" y="7410298"/>
            <a:ext cx="2286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ACI</a:t>
            </a:r>
            <a:endParaRPr lang="en-US" sz="1950" dirty="0"/>
          </a:p>
        </p:txBody>
      </p:sp>
      <p:sp>
        <p:nvSpPr>
          <p:cNvPr id="150" name="Text 135"/>
          <p:cNvSpPr txBox="1"/>
          <p:nvPr/>
        </p:nvSpPr>
        <p:spPr>
          <a:xfrm>
            <a:off x="1143000" y="7819949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Via / Contact</a:t>
            </a:r>
            <a:endParaRPr lang="en-US" sz="1050" dirty="0"/>
          </a:p>
        </p:txBody>
      </p:sp>
      <p:sp>
        <p:nvSpPr>
          <p:cNvPr id="151" name="Text 136"/>
          <p:cNvSpPr txBox="1"/>
          <p:nvPr/>
        </p:nvSpPr>
        <p:spPr>
          <a:xfrm>
            <a:off x="1143000" y="8153705"/>
            <a:ext cx="2286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</a:t>
            </a:r>
            <a:endParaRPr lang="en-US" sz="825" dirty="0"/>
          </a:p>
        </p:txBody>
      </p:sp>
      <p:sp>
        <p:nvSpPr>
          <p:cNvPr id="152" name="Text 137"/>
          <p:cNvSpPr txBox="1"/>
          <p:nvPr/>
        </p:nvSpPr>
        <p:spPr>
          <a:xfrm>
            <a:off x="1143000" y="8305495"/>
            <a:ext cx="2286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9.8</a:t>
            </a:r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nm</a:t>
            </a:r>
            <a:endParaRPr lang="en-US" sz="1800" dirty="0"/>
          </a:p>
        </p:txBody>
      </p:sp>
      <p:sp>
        <p:nvSpPr>
          <p:cNvPr id="153" name="Shape 138"/>
          <p:cNvSpPr/>
          <p:nvPr/>
        </p:nvSpPr>
        <p:spPr>
          <a:xfrm>
            <a:off x="761695" y="8797442"/>
            <a:ext cx="133502" cy="133502"/>
          </a:xfrm>
          <a:prstGeom prst="rect">
            <a:avLst/>
          </a:prstGeom>
          <a:solidFill>
            <a:srgbClr val="E0F2F0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4" name="Text 139"/>
          <p:cNvSpPr txBox="1"/>
          <p:nvPr/>
        </p:nvSpPr>
        <p:spPr>
          <a:xfrm>
            <a:off x="952805" y="8772754"/>
            <a:ext cx="146304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Slurry A · W01–W03</a:t>
            </a:r>
            <a:endParaRPr lang="en-US" sz="975" dirty="0"/>
          </a:p>
        </p:txBody>
      </p:sp>
      <p:sp>
        <p:nvSpPr>
          <p:cNvPr id="155" name="Shape 140"/>
          <p:cNvSpPr/>
          <p:nvPr/>
        </p:nvSpPr>
        <p:spPr>
          <a:xfrm>
            <a:off x="2288743" y="8797442"/>
            <a:ext cx="133502" cy="133502"/>
          </a:xfrm>
          <a:prstGeom prst="rect">
            <a:avLst/>
          </a:prstGeom>
          <a:solidFill>
            <a:srgbClr val="F6E4C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6" name="Text 141"/>
          <p:cNvSpPr txBox="1"/>
          <p:nvPr/>
        </p:nvSpPr>
        <p:spPr>
          <a:xfrm>
            <a:off x="2478938" y="8772754"/>
            <a:ext cx="146304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Slurry B · W04–W06</a:t>
            </a:r>
            <a:endParaRPr lang="en-US" sz="975" dirty="0"/>
          </a:p>
        </p:txBody>
      </p:sp>
      <p:pic>
        <p:nvPicPr>
          <p:cNvPr id="157" name="Image 12" descr="gen-dedup-58de7ecedda438979dd9d990bab885c0.png">    </p:cNvPr>
          <p:cNvPicPr>
            <a:picLocks noChangeAspect="1"/>
          </p:cNvPicPr>
          <p:nvPr/>
        </p:nvPicPr>
        <p:blipFill>
          <a:blip r:embed="rId13"/>
          <a:srcRect l="0" r="0" t="-400" b="-400"/>
          <a:stretch/>
        </p:blipFill>
        <p:spPr>
          <a:xfrm>
            <a:off x="3816706" y="8855050"/>
            <a:ext cx="228600" cy="19202"/>
          </a:xfrm>
          <a:prstGeom prst="rect">
            <a:avLst/>
          </a:prstGeom>
        </p:spPr>
      </p:pic>
      <p:sp>
        <p:nvSpPr>
          <p:cNvPr id="158" name="Text 142"/>
          <p:cNvSpPr txBox="1"/>
          <p:nvPr/>
        </p:nvSpPr>
        <p:spPr>
          <a:xfrm>
            <a:off x="4102913" y="8772754"/>
            <a:ext cx="221101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하이라이트 = target on-spec wafer</a:t>
            </a:r>
            <a:endParaRPr lang="en-US" sz="975" dirty="0"/>
          </a:p>
        </p:txBody>
      </p:sp>
      <p:pic>
        <p:nvPicPr>
          <p:cNvPr id="159" name="Image 13" descr="gen-dedup-6b23e5323e82e0c19cf41bff7d47bc6a.png">    </p:cNvPr>
          <p:cNvPicPr>
            <a:picLocks noChangeAspect="1"/>
          </p:cNvPicPr>
          <p:nvPr/>
        </p:nvPicPr>
        <p:blipFill>
          <a:blip r:embed="rId14"/>
          <a:srcRect l="0" r="0" t="-400" b="-400"/>
          <a:stretch/>
        </p:blipFill>
        <p:spPr>
          <a:xfrm>
            <a:off x="6165799" y="8855050"/>
            <a:ext cx="228600" cy="19202"/>
          </a:xfrm>
          <a:prstGeom prst="rect">
            <a:avLst/>
          </a:prstGeom>
        </p:spPr>
      </p:pic>
      <p:sp>
        <p:nvSpPr>
          <p:cNvPr id="160" name="Text 143"/>
          <p:cNvSpPr txBox="1"/>
          <p:nvPr/>
        </p:nvSpPr>
        <p:spPr>
          <a:xfrm>
            <a:off x="6452006" y="8772754"/>
            <a:ext cx="208574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Δ +0.2 한 wafer는 over-bias flag</a:t>
            </a:r>
            <a:endParaRPr lang="en-US" sz="975" dirty="0"/>
          </a:p>
        </p:txBody>
      </p:sp>
      <p:sp>
        <p:nvSpPr>
          <p:cNvPr id="161" name="Text 144"/>
          <p:cNvSpPr txBox="1"/>
          <p:nvPr/>
        </p:nvSpPr>
        <p:spPr>
          <a:xfrm>
            <a:off x="761695" y="10019995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※ 내부 테스트용 더미(가상) 데이터 · 9 site × 5 shot 평균, wafer별 분량은 본 deck 4번 슬라이드의 in-wafer 균일도 맥락과 함께 읽으십시오.</a:t>
            </a:r>
            <a:endParaRPr lang="en-US" sz="975" dirty="0"/>
          </a:p>
        </p:txBody>
      </p:sp>
      <p:sp>
        <p:nvSpPr>
          <p:cNvPr id="162" name="Text 145"/>
          <p:cNvSpPr txBox="1"/>
          <p:nvPr/>
        </p:nvSpPr>
        <p:spPr>
          <a:xfrm>
            <a:off x="16573500" y="10019995"/>
            <a:ext cx="952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06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0" y="0"/>
            <a:ext cx="137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W01_heat_cells: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761695" y="1904695"/>
            <a:ext cx="4190695" cy="5333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485392d85364a6382332635f24215b5a.png">    </p:cNvPr>
          <p:cNvPicPr>
            <a:picLocks noChangeAspect="1"/>
          </p:cNvPicPr>
          <p:nvPr/>
        </p:nvPicPr>
        <p:blipFill>
          <a:blip r:embed="rId1"/>
          <a:srcRect l="-2078" r="-2078" t="0" b="0"/>
          <a:stretch/>
        </p:blipFill>
        <p:spPr>
          <a:xfrm>
            <a:off x="990295" y="4819802"/>
            <a:ext cx="37334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333695" y="2667305"/>
            <a:ext cx="4000500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525305" y="2667305"/>
            <a:ext cx="4000500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3716000" y="2667305"/>
            <a:ext cx="4000500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333695" y="5524805"/>
            <a:ext cx="4000500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25305" y="5524805"/>
            <a:ext cx="4000500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3716000" y="5524805"/>
            <a:ext cx="4000500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1695" y="8382305"/>
            <a:ext cx="16763695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gen-dedup-9b95c5d50ae7476a19b5f5fe31149d9a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pic>
        <p:nvPicPr>
          <p:cNvPr id="14" name="Image 2" descr="gen-dedup-7406f462a99bf72d195940064db74855.png">    </p:cNvPr>
          <p:cNvPicPr>
            <a:picLocks noChangeAspect="1"/>
          </p:cNvPicPr>
          <p:nvPr/>
        </p:nvPicPr>
        <p:blipFill>
          <a:blip r:embed="rId3"/>
          <a:srcRect l="0" r="0" t="-2083" b="-2083"/>
          <a:stretch/>
        </p:blipFill>
        <p:spPr>
          <a:xfrm>
            <a:off x="7410298" y="8553298"/>
            <a:ext cx="9144" cy="800100"/>
          </a:xfrm>
          <a:prstGeom prst="rect">
            <a:avLst/>
          </a:prstGeom>
        </p:spPr>
      </p:pic>
      <p:pic>
        <p:nvPicPr>
          <p:cNvPr id="15" name="Image 3" descr="gen-dedup-7406f462a99bf72d195940064db74855.png">    </p:cNvPr>
          <p:cNvPicPr>
            <a:picLocks noChangeAspect="1"/>
          </p:cNvPicPr>
          <p:nvPr/>
        </p:nvPicPr>
        <p:blipFill>
          <a:blip r:embed="rId4"/>
          <a:srcRect l="0" r="0" t="-2083" b="-2083"/>
          <a:stretch/>
        </p:blipFill>
        <p:spPr>
          <a:xfrm>
            <a:off x="10172700" y="8553298"/>
            <a:ext cx="9144" cy="800100"/>
          </a:xfrm>
          <a:prstGeom prst="rect">
            <a:avLst/>
          </a:prstGeom>
        </p:spPr>
      </p:pic>
      <p:pic>
        <p:nvPicPr>
          <p:cNvPr id="16" name="Image 4" descr="gen-dedup-7406f462a99bf72d195940064db74855.png">    </p:cNvPr>
          <p:cNvPicPr>
            <a:picLocks noChangeAspect="1"/>
          </p:cNvPicPr>
          <p:nvPr/>
        </p:nvPicPr>
        <p:blipFill>
          <a:blip r:embed="rId5"/>
          <a:srcRect l="0" r="0" t="-2083" b="-2083"/>
          <a:stretch/>
        </p:blipFill>
        <p:spPr>
          <a:xfrm>
            <a:off x="12935102" y="8553298"/>
            <a:ext cx="9144" cy="8001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61695" y="533095"/>
            <a:ext cx="10287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IN-WAFER UNIFORMITY</a:t>
            </a:r>
            <a:endParaRPr lang="en-US" sz="975" dirty="0"/>
          </a:p>
        </p:txBody>
      </p:sp>
      <p:sp>
        <p:nvSpPr>
          <p:cNvPr id="18" name="Text 10"/>
          <p:cNvSpPr txBox="1"/>
          <p:nvPr/>
        </p:nvSpPr>
        <p:spPr>
          <a:xfrm>
            <a:off x="761695" y="790956"/>
            <a:ext cx="102870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spc="-29" kern="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Wafer 6장 안에 </a:t>
            </a:r>
            <a:pPr algn="l" indent="0" marL="0">
              <a:buNone/>
            </a:pPr>
            <a:r>
              <a:rPr lang="en-US" sz="2850" b="1" spc="-29" kern="0" dirty="0">
                <a:solidFill>
                  <a:srgbClr val="0E7C7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3σ/mean</a:t>
            </a:r>
            <a:pPr algn="l" indent="0" marL="0">
              <a:buNone/>
            </a:pPr>
            <a:r>
              <a:rPr lang="en-US" sz="2850" b="1" spc="-29" kern="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과 contour, 같이 깔아둡니다</a:t>
            </a:r>
            <a:endParaRPr lang="en-US" sz="2850" dirty="0"/>
          </a:p>
        </p:txBody>
      </p:sp>
      <p:sp>
        <p:nvSpPr>
          <p:cNvPr id="19" name="Text 11"/>
          <p:cNvSpPr txBox="1"/>
          <p:nvPr/>
        </p:nvSpPr>
        <p:spPr>
          <a:xfrm>
            <a:off x="761695" y="1447495"/>
            <a:ext cx="10287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3σ 분석은 AASI 사이트에서 69 shot, contour map 은 동일 shot grid. SPEC 안쪽이면 흰색-주황 gradient.</a:t>
            </a:r>
            <a:endParaRPr lang="en-US" sz="1275" dirty="0"/>
          </a:p>
        </p:txBody>
      </p:sp>
      <p:sp>
        <p:nvSpPr>
          <p:cNvPr id="20" name="Text 12"/>
          <p:cNvSpPr txBox="1"/>
          <p:nvPr/>
        </p:nvSpPr>
        <p:spPr>
          <a:xfrm>
            <a:off x="13334695" y="609905"/>
            <a:ext cx="4191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CD DEVIATION LEGEND</a:t>
            </a:r>
            <a:endParaRPr lang="en-US" sz="825" dirty="0"/>
          </a:p>
        </p:txBody>
      </p:sp>
      <p:pic>
        <p:nvPicPr>
          <p:cNvPr id="21" name="Image 5" descr="gen-dedup-3ffd741ac203755614da748c2cd282d1.png">    </p:cNvPr>
          <p:cNvPicPr>
            <a:picLocks noChangeAspect="1"/>
          </p:cNvPicPr>
          <p:nvPr/>
        </p:nvPicPr>
        <p:blipFill>
          <a:blip r:embed="rId6"/>
          <a:srcRect l="0" r="0" t="-61" b="-61"/>
          <a:stretch/>
        </p:blipFill>
        <p:spPr>
          <a:xfrm>
            <a:off x="13334695" y="875995"/>
            <a:ext cx="3619195" cy="13350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3334695" y="1067105"/>
            <a:ext cx="191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−4σ</a:t>
            </a:r>
            <a:endParaRPr lang="en-US" sz="825" dirty="0"/>
          </a:p>
        </p:txBody>
      </p:sp>
      <p:sp>
        <p:nvSpPr>
          <p:cNvPr id="23" name="Text 14"/>
          <p:cNvSpPr txBox="1"/>
          <p:nvPr/>
        </p:nvSpPr>
        <p:spPr>
          <a:xfrm>
            <a:off x="14288414" y="1067105"/>
            <a:ext cx="191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−2σ</a:t>
            </a:r>
            <a:endParaRPr lang="en-US" sz="825" dirty="0"/>
          </a:p>
        </p:txBody>
      </p:sp>
      <p:sp>
        <p:nvSpPr>
          <p:cNvPr id="24" name="Text 15"/>
          <p:cNvSpPr txBox="1"/>
          <p:nvPr/>
        </p:nvSpPr>
        <p:spPr>
          <a:xfrm>
            <a:off x="15242134" y="1067105"/>
            <a:ext cx="381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</a:t>
            </a:r>
            <a:endParaRPr lang="en-US" sz="825" dirty="0"/>
          </a:p>
        </p:txBody>
      </p:sp>
      <p:sp>
        <p:nvSpPr>
          <p:cNvPr id="25" name="Text 16"/>
          <p:cNvSpPr txBox="1"/>
          <p:nvPr/>
        </p:nvSpPr>
        <p:spPr>
          <a:xfrm>
            <a:off x="16384219" y="1067105"/>
            <a:ext cx="191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+2σ</a:t>
            </a:r>
            <a:endParaRPr lang="en-US" sz="825" dirty="0"/>
          </a:p>
        </p:txBody>
      </p:sp>
      <p:sp>
        <p:nvSpPr>
          <p:cNvPr id="26" name="Text 17"/>
          <p:cNvSpPr txBox="1"/>
          <p:nvPr/>
        </p:nvSpPr>
        <p:spPr>
          <a:xfrm>
            <a:off x="17337024" y="1067105"/>
            <a:ext cx="191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+4σ</a:t>
            </a:r>
            <a:endParaRPr lang="en-US" sz="825" dirty="0"/>
          </a:p>
        </p:txBody>
      </p:sp>
      <p:sp>
        <p:nvSpPr>
          <p:cNvPr id="27" name="Text 18"/>
          <p:cNvSpPr txBox="1"/>
          <p:nvPr/>
        </p:nvSpPr>
        <p:spPr>
          <a:xfrm>
            <a:off x="990295" y="2115007"/>
            <a:ext cx="3734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UNIFORMITY SUMMARY</a:t>
            </a:r>
            <a:endParaRPr lang="en-US" sz="825" dirty="0"/>
          </a:p>
        </p:txBody>
      </p:sp>
      <p:sp>
        <p:nvSpPr>
          <p:cNvPr id="28" name="Text 19"/>
          <p:cNvSpPr txBox="1"/>
          <p:nvPr/>
        </p:nvSpPr>
        <p:spPr>
          <a:xfrm>
            <a:off x="990295" y="2324405"/>
            <a:ext cx="37344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3σ / mean (%)</a:t>
            </a:r>
            <a:endParaRPr lang="en-US" sz="1650" dirty="0"/>
          </a:p>
        </p:txBody>
      </p:sp>
      <p:sp>
        <p:nvSpPr>
          <p:cNvPr id="29" name="Text 20"/>
          <p:cNvSpPr txBox="1"/>
          <p:nvPr/>
        </p:nvSpPr>
        <p:spPr>
          <a:xfrm>
            <a:off x="990295" y="2676449"/>
            <a:ext cx="37344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69 shot per wafer · AASI site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990295" y="3010205"/>
            <a:ext cx="37344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W01 · A</a:t>
            </a:r>
            <a:endParaRPr lang="en-US" sz="975" dirty="0"/>
          </a:p>
        </p:txBody>
      </p:sp>
      <p:sp>
        <p:nvSpPr>
          <p:cNvPr id="31" name="Text 22"/>
          <p:cNvSpPr txBox="1"/>
          <p:nvPr/>
        </p:nvSpPr>
        <p:spPr>
          <a:xfrm>
            <a:off x="990295" y="3209544"/>
            <a:ext cx="514807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5.8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4661611" y="3372307"/>
            <a:ext cx="667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825" dirty="0"/>
          </a:p>
        </p:txBody>
      </p:sp>
      <p:pic>
        <p:nvPicPr>
          <p:cNvPr id="33" name="Image 6" descr="gen-dedup-0528ba22bfa967c39b3bd14ccd508c07.png">    </p:cNvPr>
          <p:cNvPicPr>
            <a:picLocks noChangeAspect="1"/>
          </p:cNvPicPr>
          <p:nvPr/>
        </p:nvPicPr>
        <p:blipFill>
          <a:blip r:embed="rId7"/>
          <a:srcRect l="0" r="0" t="-65" b="-65"/>
          <a:stretch/>
        </p:blipFill>
        <p:spPr>
          <a:xfrm>
            <a:off x="1600200" y="3372307"/>
            <a:ext cx="2984602" cy="133502"/>
          </a:xfrm>
          <a:prstGeom prst="rect">
            <a:avLst/>
          </a:prstGeom>
        </p:spPr>
      </p:pic>
      <p:pic>
        <p:nvPicPr>
          <p:cNvPr id="34" name="Image 7" descr="gen-dedup-75af575be298ef980a5ff401dc3af33f.png">    </p:cNvPr>
          <p:cNvPicPr>
            <a:picLocks noChangeAspect="1"/>
          </p:cNvPicPr>
          <p:nvPr/>
        </p:nvPicPr>
        <p:blipFill>
          <a:blip r:embed="rId8"/>
          <a:srcRect l="0" r="0" t="-67" b="-67"/>
          <a:stretch/>
        </p:blipFill>
        <p:spPr>
          <a:xfrm>
            <a:off x="1600200" y="3372307"/>
            <a:ext cx="2387498" cy="13350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90295" y="3619195"/>
            <a:ext cx="37344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W02 · A</a:t>
            </a:r>
            <a:endParaRPr lang="en-US" sz="975" dirty="0"/>
          </a:p>
        </p:txBody>
      </p:sp>
      <p:sp>
        <p:nvSpPr>
          <p:cNvPr id="36" name="Text 25"/>
          <p:cNvSpPr txBox="1"/>
          <p:nvPr/>
        </p:nvSpPr>
        <p:spPr>
          <a:xfrm>
            <a:off x="990295" y="3819449"/>
            <a:ext cx="514807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5.6</a:t>
            </a:r>
            <a:endParaRPr lang="en-US" sz="1800" dirty="0"/>
          </a:p>
        </p:txBody>
      </p:sp>
      <p:sp>
        <p:nvSpPr>
          <p:cNvPr id="37" name="Text 26"/>
          <p:cNvSpPr txBox="1"/>
          <p:nvPr/>
        </p:nvSpPr>
        <p:spPr>
          <a:xfrm>
            <a:off x="4661611" y="3981298"/>
            <a:ext cx="667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825" dirty="0"/>
          </a:p>
        </p:txBody>
      </p:sp>
      <p:pic>
        <p:nvPicPr>
          <p:cNvPr id="38" name="Image 8" descr="gen-dedup-0528ba22bfa967c39b3bd14ccd508c07.png">    </p:cNvPr>
          <p:cNvPicPr>
            <a:picLocks noChangeAspect="1"/>
          </p:cNvPicPr>
          <p:nvPr/>
        </p:nvPicPr>
        <p:blipFill>
          <a:blip r:embed="rId9"/>
          <a:srcRect l="0" r="0" t="-65" b="-65"/>
          <a:stretch/>
        </p:blipFill>
        <p:spPr>
          <a:xfrm>
            <a:off x="1600200" y="3981298"/>
            <a:ext cx="2984602" cy="133502"/>
          </a:xfrm>
          <a:prstGeom prst="rect">
            <a:avLst/>
          </a:prstGeom>
        </p:spPr>
      </p:pic>
      <p:pic>
        <p:nvPicPr>
          <p:cNvPr id="39" name="Image 9" descr="gen-dedup-78833e9bda93ec648e3cdc8e195dca6c.png">    </p:cNvPr>
          <p:cNvPicPr>
            <a:picLocks noChangeAspect="1"/>
          </p:cNvPicPr>
          <p:nvPr/>
        </p:nvPicPr>
        <p:blipFill>
          <a:blip r:embed="rId10"/>
          <a:srcRect l="0" r="0" t="-62" b="-62"/>
          <a:stretch/>
        </p:blipFill>
        <p:spPr>
          <a:xfrm>
            <a:off x="1600200" y="3981298"/>
            <a:ext cx="2328062" cy="133502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990295" y="4229100"/>
            <a:ext cx="37344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W03 · A</a:t>
            </a:r>
            <a:endParaRPr lang="en-US" sz="975" dirty="0"/>
          </a:p>
        </p:txBody>
      </p:sp>
      <p:sp>
        <p:nvSpPr>
          <p:cNvPr id="41" name="Text 28"/>
          <p:cNvSpPr txBox="1"/>
          <p:nvPr/>
        </p:nvSpPr>
        <p:spPr>
          <a:xfrm>
            <a:off x="990295" y="4429354"/>
            <a:ext cx="514807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6.0</a:t>
            </a:r>
            <a:endParaRPr lang="en-US" sz="1800" dirty="0"/>
          </a:p>
        </p:txBody>
      </p:sp>
      <p:sp>
        <p:nvSpPr>
          <p:cNvPr id="42" name="Text 29"/>
          <p:cNvSpPr txBox="1"/>
          <p:nvPr/>
        </p:nvSpPr>
        <p:spPr>
          <a:xfrm>
            <a:off x="4661611" y="4591202"/>
            <a:ext cx="667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825" dirty="0"/>
          </a:p>
        </p:txBody>
      </p:sp>
      <p:pic>
        <p:nvPicPr>
          <p:cNvPr id="43" name="Image 10" descr="gen-dedup-0528ba22bfa967c39b3bd14ccd508c07.png">    </p:cNvPr>
          <p:cNvPicPr>
            <a:picLocks noChangeAspect="1"/>
          </p:cNvPicPr>
          <p:nvPr/>
        </p:nvPicPr>
        <p:blipFill>
          <a:blip r:embed="rId11"/>
          <a:srcRect l="0" r="0" t="-65" b="-65"/>
          <a:stretch/>
        </p:blipFill>
        <p:spPr>
          <a:xfrm>
            <a:off x="1600200" y="4591202"/>
            <a:ext cx="2984602" cy="133502"/>
          </a:xfrm>
          <a:prstGeom prst="rect">
            <a:avLst/>
          </a:prstGeom>
        </p:spPr>
      </p:pic>
      <p:pic>
        <p:nvPicPr>
          <p:cNvPr id="44" name="Image 11" descr="gen-dedup-7098ac917cad05b332b3e2fbdc3dc5e7.png">    </p:cNvPr>
          <p:cNvPicPr>
            <a:picLocks noChangeAspect="1"/>
          </p:cNvPicPr>
          <p:nvPr/>
        </p:nvPicPr>
        <p:blipFill>
          <a:blip r:embed="rId12"/>
          <a:srcRect l="0" r="0" t="-58" b="-58"/>
          <a:stretch/>
        </p:blipFill>
        <p:spPr>
          <a:xfrm>
            <a:off x="1600200" y="4591202"/>
            <a:ext cx="2507285" cy="133502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990295" y="4990795"/>
            <a:ext cx="37344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W04 · B</a:t>
            </a:r>
            <a:endParaRPr lang="en-US" sz="975" dirty="0"/>
          </a:p>
        </p:txBody>
      </p:sp>
      <p:sp>
        <p:nvSpPr>
          <p:cNvPr id="46" name="Text 31"/>
          <p:cNvSpPr txBox="1"/>
          <p:nvPr/>
        </p:nvSpPr>
        <p:spPr>
          <a:xfrm>
            <a:off x="990295" y="5191049"/>
            <a:ext cx="514807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</a:t>
            </a:r>
            <a:endParaRPr lang="en-US" sz="1800" dirty="0"/>
          </a:p>
        </p:txBody>
      </p:sp>
      <p:sp>
        <p:nvSpPr>
          <p:cNvPr id="47" name="Text 32"/>
          <p:cNvSpPr txBox="1"/>
          <p:nvPr/>
        </p:nvSpPr>
        <p:spPr>
          <a:xfrm>
            <a:off x="4473245" y="5352898"/>
            <a:ext cx="2578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825" dirty="0"/>
          </a:p>
        </p:txBody>
      </p:sp>
      <p:pic>
        <p:nvPicPr>
          <p:cNvPr id="48" name="Image 12" descr="gen-dedup-4c69f3f8d0b9f1c9e6c42da2ab0216c4.png">    </p:cNvPr>
          <p:cNvPicPr>
            <a:picLocks noChangeAspect="1"/>
          </p:cNvPicPr>
          <p:nvPr/>
        </p:nvPicPr>
        <p:blipFill>
          <a:blip r:embed="rId13"/>
          <a:srcRect l="0" r="0" t="-62" b="-62"/>
          <a:stretch/>
        </p:blipFill>
        <p:spPr>
          <a:xfrm>
            <a:off x="1600200" y="5352898"/>
            <a:ext cx="2796235" cy="133502"/>
          </a:xfrm>
          <a:prstGeom prst="rect">
            <a:avLst/>
          </a:prstGeom>
        </p:spPr>
      </p:pic>
      <p:pic>
        <p:nvPicPr>
          <p:cNvPr id="49" name="Image 13" descr="gen-dedup-a070ecdd522ff4121d3a9872306f280d.png">    </p:cNvPr>
          <p:cNvPicPr>
            <a:picLocks noChangeAspect="1"/>
          </p:cNvPicPr>
          <p:nvPr/>
        </p:nvPicPr>
        <p:blipFill>
          <a:blip r:embed="rId14"/>
          <a:srcRect l="0" r="0" t="-57" b="-57"/>
          <a:stretch/>
        </p:blipFill>
        <p:spPr>
          <a:xfrm>
            <a:off x="1600200" y="5352898"/>
            <a:ext cx="1733702" cy="133502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990295" y="5600700"/>
            <a:ext cx="37344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W05 · B</a:t>
            </a:r>
            <a:endParaRPr lang="en-US" sz="975" dirty="0"/>
          </a:p>
        </p:txBody>
      </p:sp>
      <p:sp>
        <p:nvSpPr>
          <p:cNvPr id="51" name="Text 34"/>
          <p:cNvSpPr txBox="1"/>
          <p:nvPr/>
        </p:nvSpPr>
        <p:spPr>
          <a:xfrm>
            <a:off x="990295" y="5800954"/>
            <a:ext cx="514807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4.2</a:t>
            </a:r>
            <a:endParaRPr lang="en-US" sz="1800" dirty="0"/>
          </a:p>
        </p:txBody>
      </p:sp>
      <p:sp>
        <p:nvSpPr>
          <p:cNvPr id="52" name="Text 35"/>
          <p:cNvSpPr txBox="1"/>
          <p:nvPr/>
        </p:nvSpPr>
        <p:spPr>
          <a:xfrm>
            <a:off x="4473245" y="5962802"/>
            <a:ext cx="2578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825" dirty="0"/>
          </a:p>
        </p:txBody>
      </p:sp>
      <p:pic>
        <p:nvPicPr>
          <p:cNvPr id="53" name="Image 14" descr="gen-dedup-4c69f3f8d0b9f1c9e6c42da2ab0216c4.png">    </p:cNvPr>
          <p:cNvPicPr>
            <a:picLocks noChangeAspect="1"/>
          </p:cNvPicPr>
          <p:nvPr/>
        </p:nvPicPr>
        <p:blipFill>
          <a:blip r:embed="rId15"/>
          <a:srcRect l="0" r="0" t="-62" b="-62"/>
          <a:stretch/>
        </p:blipFill>
        <p:spPr>
          <a:xfrm>
            <a:off x="1600200" y="5962802"/>
            <a:ext cx="2796235" cy="133502"/>
          </a:xfrm>
          <a:prstGeom prst="rect">
            <a:avLst/>
          </a:prstGeom>
        </p:spPr>
      </p:pic>
      <p:pic>
        <p:nvPicPr>
          <p:cNvPr id="54" name="Image 15" descr="gen-dedup-321059ebea0994a60431884d77162f2f.png">    </p:cNvPr>
          <p:cNvPicPr>
            <a:picLocks noChangeAspect="1"/>
          </p:cNvPicPr>
          <p:nvPr/>
        </p:nvPicPr>
        <p:blipFill>
          <a:blip r:embed="rId16"/>
          <a:srcRect l="0" r="0" t="-50" b="-50"/>
          <a:stretch/>
        </p:blipFill>
        <p:spPr>
          <a:xfrm>
            <a:off x="1600200" y="5962802"/>
            <a:ext cx="1622146" cy="133502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990295" y="6210605"/>
            <a:ext cx="37344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W06 · B</a:t>
            </a:r>
            <a:endParaRPr lang="en-US" sz="975" dirty="0"/>
          </a:p>
        </p:txBody>
      </p:sp>
      <p:sp>
        <p:nvSpPr>
          <p:cNvPr id="56" name="Text 37"/>
          <p:cNvSpPr txBox="1"/>
          <p:nvPr/>
        </p:nvSpPr>
        <p:spPr>
          <a:xfrm>
            <a:off x="990295" y="6409944"/>
            <a:ext cx="514807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4.6</a:t>
            </a:r>
            <a:endParaRPr lang="en-US" sz="1800" dirty="0"/>
          </a:p>
        </p:txBody>
      </p:sp>
      <p:sp>
        <p:nvSpPr>
          <p:cNvPr id="57" name="Text 38"/>
          <p:cNvSpPr txBox="1"/>
          <p:nvPr/>
        </p:nvSpPr>
        <p:spPr>
          <a:xfrm>
            <a:off x="4473245" y="6572707"/>
            <a:ext cx="2578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825" dirty="0"/>
          </a:p>
        </p:txBody>
      </p:sp>
      <p:pic>
        <p:nvPicPr>
          <p:cNvPr id="58" name="Image 16" descr="gen-dedup-4c69f3f8d0b9f1c9e6c42da2ab0216c4.png">    </p:cNvPr>
          <p:cNvPicPr>
            <a:picLocks noChangeAspect="1"/>
          </p:cNvPicPr>
          <p:nvPr/>
        </p:nvPicPr>
        <p:blipFill>
          <a:blip r:embed="rId17"/>
          <a:srcRect l="0" r="0" t="-62" b="-62"/>
          <a:stretch/>
        </p:blipFill>
        <p:spPr>
          <a:xfrm>
            <a:off x="1600200" y="6572707"/>
            <a:ext cx="2796235" cy="133502"/>
          </a:xfrm>
          <a:prstGeom prst="rect">
            <a:avLst/>
          </a:prstGeom>
        </p:spPr>
      </p:pic>
      <p:pic>
        <p:nvPicPr>
          <p:cNvPr id="59" name="Image 17" descr="gen-dedup-2a1ff97d5f8a61369b7a059c598ebfd6.png">    </p:cNvPr>
          <p:cNvPicPr>
            <a:picLocks noChangeAspect="1"/>
          </p:cNvPicPr>
          <p:nvPr/>
        </p:nvPicPr>
        <p:blipFill>
          <a:blip r:embed="rId18"/>
          <a:srcRect l="0" r="0" t="-62" b="-62"/>
          <a:stretch/>
        </p:blipFill>
        <p:spPr>
          <a:xfrm>
            <a:off x="1600200" y="6572707"/>
            <a:ext cx="1789481" cy="133502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5333695" y="1904695"/>
            <a:ext cx="12573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69-POINT WAFER-LEVEL CD CONTOUR MAP</a:t>
            </a:r>
            <a:endParaRPr lang="en-US" sz="825" dirty="0"/>
          </a:p>
        </p:txBody>
      </p:sp>
      <p:sp>
        <p:nvSpPr>
          <p:cNvPr id="61" name="Text 40"/>
          <p:cNvSpPr txBox="1"/>
          <p:nvPr/>
        </p:nvSpPr>
        <p:spPr>
          <a:xfrm>
            <a:off x="5333695" y="2095805"/>
            <a:ext cx="12573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 wafer cards · 63-cell grid each · AASI site · CD deviation from wafer mean</a:t>
            </a:r>
            <a:endParaRPr lang="en-US" sz="975" dirty="0"/>
          </a:p>
        </p:txBody>
      </p:sp>
      <p:sp>
        <p:nvSpPr>
          <p:cNvPr id="62" name="Text 41"/>
          <p:cNvSpPr txBox="1"/>
          <p:nvPr/>
        </p:nvSpPr>
        <p:spPr>
          <a:xfrm>
            <a:off x="5505602" y="2800807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24" kern="0" dirty="0">
                <a:solidFill>
                  <a:srgbClr val="0E7C7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 · W01</a:t>
            </a:r>
            <a:endParaRPr lang="en-US" sz="825" dirty="0"/>
          </a:p>
        </p:txBody>
      </p:sp>
      <p:sp>
        <p:nvSpPr>
          <p:cNvPr id="63" name="Text 42"/>
          <p:cNvSpPr txBox="1"/>
          <p:nvPr/>
        </p:nvSpPr>
        <p:spPr>
          <a:xfrm>
            <a:off x="5505602" y="2952598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5.8%</a:t>
            </a:r>
            <a:endParaRPr lang="en-US" sz="1050" dirty="0"/>
          </a:p>
        </p:txBody>
      </p:sp>
      <p:sp>
        <p:nvSpPr>
          <p:cNvPr id="64" name="Shape 43"/>
          <p:cNvSpPr/>
          <p:nvPr/>
        </p:nvSpPr>
        <p:spPr>
          <a:xfrm>
            <a:off x="5467198" y="3143707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44"/>
          <p:cNvSpPr/>
          <p:nvPr/>
        </p:nvSpPr>
        <p:spPr>
          <a:xfrm>
            <a:off x="5884164" y="3143707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45"/>
          <p:cNvSpPr/>
          <p:nvPr/>
        </p:nvSpPr>
        <p:spPr>
          <a:xfrm>
            <a:off x="6301130" y="3143707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46"/>
          <p:cNvSpPr/>
          <p:nvPr/>
        </p:nvSpPr>
        <p:spPr>
          <a:xfrm>
            <a:off x="6718097" y="31437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47"/>
          <p:cNvSpPr/>
          <p:nvPr/>
        </p:nvSpPr>
        <p:spPr>
          <a:xfrm>
            <a:off x="7135063" y="31437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48"/>
          <p:cNvSpPr/>
          <p:nvPr/>
        </p:nvSpPr>
        <p:spPr>
          <a:xfrm>
            <a:off x="7552030" y="31437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49"/>
          <p:cNvSpPr/>
          <p:nvPr/>
        </p:nvSpPr>
        <p:spPr>
          <a:xfrm>
            <a:off x="7968996" y="3143707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50"/>
          <p:cNvSpPr/>
          <p:nvPr/>
        </p:nvSpPr>
        <p:spPr>
          <a:xfrm>
            <a:off x="8385962" y="3143707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51"/>
          <p:cNvSpPr/>
          <p:nvPr/>
        </p:nvSpPr>
        <p:spPr>
          <a:xfrm>
            <a:off x="8802929" y="3143707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52"/>
          <p:cNvSpPr/>
          <p:nvPr/>
        </p:nvSpPr>
        <p:spPr>
          <a:xfrm>
            <a:off x="5467198" y="3442716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53"/>
          <p:cNvSpPr/>
          <p:nvPr/>
        </p:nvSpPr>
        <p:spPr>
          <a:xfrm>
            <a:off x="5884164" y="3442716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54"/>
          <p:cNvSpPr/>
          <p:nvPr/>
        </p:nvSpPr>
        <p:spPr>
          <a:xfrm>
            <a:off x="6301130" y="34427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55"/>
          <p:cNvSpPr/>
          <p:nvPr/>
        </p:nvSpPr>
        <p:spPr>
          <a:xfrm>
            <a:off x="6718097" y="34427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56"/>
          <p:cNvSpPr/>
          <p:nvPr/>
        </p:nvSpPr>
        <p:spPr>
          <a:xfrm>
            <a:off x="7135063" y="34427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57"/>
          <p:cNvSpPr/>
          <p:nvPr/>
        </p:nvSpPr>
        <p:spPr>
          <a:xfrm>
            <a:off x="7552030" y="34427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58"/>
          <p:cNvSpPr/>
          <p:nvPr/>
        </p:nvSpPr>
        <p:spPr>
          <a:xfrm>
            <a:off x="7968996" y="34427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59"/>
          <p:cNvSpPr/>
          <p:nvPr/>
        </p:nvSpPr>
        <p:spPr>
          <a:xfrm>
            <a:off x="8385962" y="3442716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60"/>
          <p:cNvSpPr/>
          <p:nvPr/>
        </p:nvSpPr>
        <p:spPr>
          <a:xfrm>
            <a:off x="8802929" y="3442716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61"/>
          <p:cNvSpPr/>
          <p:nvPr/>
        </p:nvSpPr>
        <p:spPr>
          <a:xfrm>
            <a:off x="5467198" y="3741725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62"/>
          <p:cNvSpPr/>
          <p:nvPr/>
        </p:nvSpPr>
        <p:spPr>
          <a:xfrm>
            <a:off x="5884164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63"/>
          <p:cNvSpPr/>
          <p:nvPr/>
        </p:nvSpPr>
        <p:spPr>
          <a:xfrm>
            <a:off x="6301130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64"/>
          <p:cNvSpPr/>
          <p:nvPr/>
        </p:nvSpPr>
        <p:spPr>
          <a:xfrm>
            <a:off x="6718097" y="3741725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65"/>
          <p:cNvSpPr/>
          <p:nvPr/>
        </p:nvSpPr>
        <p:spPr>
          <a:xfrm>
            <a:off x="7135063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66"/>
          <p:cNvSpPr/>
          <p:nvPr/>
        </p:nvSpPr>
        <p:spPr>
          <a:xfrm>
            <a:off x="7552030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67"/>
          <p:cNvSpPr/>
          <p:nvPr/>
        </p:nvSpPr>
        <p:spPr>
          <a:xfrm>
            <a:off x="7968996" y="3741725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68"/>
          <p:cNvSpPr/>
          <p:nvPr/>
        </p:nvSpPr>
        <p:spPr>
          <a:xfrm>
            <a:off x="8385962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69"/>
          <p:cNvSpPr/>
          <p:nvPr/>
        </p:nvSpPr>
        <p:spPr>
          <a:xfrm>
            <a:off x="8802929" y="3741725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70"/>
          <p:cNvSpPr/>
          <p:nvPr/>
        </p:nvSpPr>
        <p:spPr>
          <a:xfrm>
            <a:off x="5467198" y="4041648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71"/>
          <p:cNvSpPr/>
          <p:nvPr/>
        </p:nvSpPr>
        <p:spPr>
          <a:xfrm>
            <a:off x="5884164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72"/>
          <p:cNvSpPr/>
          <p:nvPr/>
        </p:nvSpPr>
        <p:spPr>
          <a:xfrm>
            <a:off x="6301130" y="4041648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73"/>
          <p:cNvSpPr/>
          <p:nvPr/>
        </p:nvSpPr>
        <p:spPr>
          <a:xfrm>
            <a:off x="6718097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74"/>
          <p:cNvSpPr/>
          <p:nvPr/>
        </p:nvSpPr>
        <p:spPr>
          <a:xfrm>
            <a:off x="7135063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75"/>
          <p:cNvSpPr/>
          <p:nvPr/>
        </p:nvSpPr>
        <p:spPr>
          <a:xfrm>
            <a:off x="7552030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76"/>
          <p:cNvSpPr/>
          <p:nvPr/>
        </p:nvSpPr>
        <p:spPr>
          <a:xfrm>
            <a:off x="7968996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77"/>
          <p:cNvSpPr/>
          <p:nvPr/>
        </p:nvSpPr>
        <p:spPr>
          <a:xfrm>
            <a:off x="8385962" y="4041648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78"/>
          <p:cNvSpPr/>
          <p:nvPr/>
        </p:nvSpPr>
        <p:spPr>
          <a:xfrm>
            <a:off x="8802929" y="4041648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79"/>
          <p:cNvSpPr/>
          <p:nvPr/>
        </p:nvSpPr>
        <p:spPr>
          <a:xfrm>
            <a:off x="5467198" y="4340657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80"/>
          <p:cNvSpPr/>
          <p:nvPr/>
        </p:nvSpPr>
        <p:spPr>
          <a:xfrm>
            <a:off x="5884164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81"/>
          <p:cNvSpPr/>
          <p:nvPr/>
        </p:nvSpPr>
        <p:spPr>
          <a:xfrm>
            <a:off x="6301130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82"/>
          <p:cNvSpPr/>
          <p:nvPr/>
        </p:nvSpPr>
        <p:spPr>
          <a:xfrm>
            <a:off x="6718097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83"/>
          <p:cNvSpPr/>
          <p:nvPr/>
        </p:nvSpPr>
        <p:spPr>
          <a:xfrm>
            <a:off x="7135063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84"/>
          <p:cNvSpPr/>
          <p:nvPr/>
        </p:nvSpPr>
        <p:spPr>
          <a:xfrm>
            <a:off x="7552030" y="4340657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85"/>
          <p:cNvSpPr/>
          <p:nvPr/>
        </p:nvSpPr>
        <p:spPr>
          <a:xfrm>
            <a:off x="7968996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86"/>
          <p:cNvSpPr/>
          <p:nvPr/>
        </p:nvSpPr>
        <p:spPr>
          <a:xfrm>
            <a:off x="8385962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87"/>
          <p:cNvSpPr/>
          <p:nvPr/>
        </p:nvSpPr>
        <p:spPr>
          <a:xfrm>
            <a:off x="8802929" y="4340657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88"/>
          <p:cNvSpPr/>
          <p:nvPr/>
        </p:nvSpPr>
        <p:spPr>
          <a:xfrm>
            <a:off x="5467198" y="4639666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89"/>
          <p:cNvSpPr/>
          <p:nvPr/>
        </p:nvSpPr>
        <p:spPr>
          <a:xfrm>
            <a:off x="5884164" y="4639666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90"/>
          <p:cNvSpPr/>
          <p:nvPr/>
        </p:nvSpPr>
        <p:spPr>
          <a:xfrm>
            <a:off x="6301130" y="46396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91"/>
          <p:cNvSpPr/>
          <p:nvPr/>
        </p:nvSpPr>
        <p:spPr>
          <a:xfrm>
            <a:off x="6718097" y="46396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92"/>
          <p:cNvSpPr/>
          <p:nvPr/>
        </p:nvSpPr>
        <p:spPr>
          <a:xfrm>
            <a:off x="7135063" y="4639666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93"/>
          <p:cNvSpPr/>
          <p:nvPr/>
        </p:nvSpPr>
        <p:spPr>
          <a:xfrm>
            <a:off x="7552030" y="46396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94"/>
          <p:cNvSpPr/>
          <p:nvPr/>
        </p:nvSpPr>
        <p:spPr>
          <a:xfrm>
            <a:off x="7968996" y="46396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95"/>
          <p:cNvSpPr/>
          <p:nvPr/>
        </p:nvSpPr>
        <p:spPr>
          <a:xfrm>
            <a:off x="8385962" y="4639666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96"/>
          <p:cNvSpPr/>
          <p:nvPr/>
        </p:nvSpPr>
        <p:spPr>
          <a:xfrm>
            <a:off x="8802929" y="4639666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97"/>
          <p:cNvSpPr/>
          <p:nvPr/>
        </p:nvSpPr>
        <p:spPr>
          <a:xfrm>
            <a:off x="5467198" y="4939589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98"/>
          <p:cNvSpPr/>
          <p:nvPr/>
        </p:nvSpPr>
        <p:spPr>
          <a:xfrm>
            <a:off x="5884164" y="4939589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99"/>
          <p:cNvSpPr/>
          <p:nvPr/>
        </p:nvSpPr>
        <p:spPr>
          <a:xfrm>
            <a:off x="6301130" y="4939589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00"/>
          <p:cNvSpPr/>
          <p:nvPr/>
        </p:nvSpPr>
        <p:spPr>
          <a:xfrm>
            <a:off x="6718097" y="4939589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01"/>
          <p:cNvSpPr/>
          <p:nvPr/>
        </p:nvSpPr>
        <p:spPr>
          <a:xfrm>
            <a:off x="7135063" y="49395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02"/>
          <p:cNvSpPr/>
          <p:nvPr/>
        </p:nvSpPr>
        <p:spPr>
          <a:xfrm>
            <a:off x="7552030" y="4939589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03"/>
          <p:cNvSpPr/>
          <p:nvPr/>
        </p:nvSpPr>
        <p:spPr>
          <a:xfrm>
            <a:off x="7968996" y="4939589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04"/>
          <p:cNvSpPr/>
          <p:nvPr/>
        </p:nvSpPr>
        <p:spPr>
          <a:xfrm>
            <a:off x="8385962" y="4939589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05"/>
          <p:cNvSpPr/>
          <p:nvPr/>
        </p:nvSpPr>
        <p:spPr>
          <a:xfrm>
            <a:off x="8802929" y="4939589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Text 106"/>
          <p:cNvSpPr txBox="1"/>
          <p:nvPr/>
        </p:nvSpPr>
        <p:spPr>
          <a:xfrm>
            <a:off x="9696298" y="2800807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24" kern="0" dirty="0">
                <a:solidFill>
                  <a:srgbClr val="0E7C7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 · W02</a:t>
            </a:r>
            <a:endParaRPr lang="en-US" sz="825" dirty="0"/>
          </a:p>
        </p:txBody>
      </p:sp>
      <p:sp>
        <p:nvSpPr>
          <p:cNvPr id="128" name="Text 107"/>
          <p:cNvSpPr txBox="1"/>
          <p:nvPr/>
        </p:nvSpPr>
        <p:spPr>
          <a:xfrm>
            <a:off x="9696298" y="2952598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5.6%</a:t>
            </a:r>
            <a:endParaRPr lang="en-US" sz="1050" dirty="0"/>
          </a:p>
        </p:txBody>
      </p:sp>
      <p:sp>
        <p:nvSpPr>
          <p:cNvPr id="129" name="Shape 108"/>
          <p:cNvSpPr/>
          <p:nvPr/>
        </p:nvSpPr>
        <p:spPr>
          <a:xfrm>
            <a:off x="9658807" y="3143707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09"/>
          <p:cNvSpPr/>
          <p:nvPr/>
        </p:nvSpPr>
        <p:spPr>
          <a:xfrm>
            <a:off x="10074859" y="3143707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10"/>
          <p:cNvSpPr/>
          <p:nvPr/>
        </p:nvSpPr>
        <p:spPr>
          <a:xfrm>
            <a:off x="10491826" y="31437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11"/>
          <p:cNvSpPr/>
          <p:nvPr/>
        </p:nvSpPr>
        <p:spPr>
          <a:xfrm>
            <a:off x="10909706" y="31437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12"/>
          <p:cNvSpPr/>
          <p:nvPr/>
        </p:nvSpPr>
        <p:spPr>
          <a:xfrm>
            <a:off x="11326673" y="31437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13"/>
          <p:cNvSpPr/>
          <p:nvPr/>
        </p:nvSpPr>
        <p:spPr>
          <a:xfrm>
            <a:off x="11742725" y="31437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14"/>
          <p:cNvSpPr/>
          <p:nvPr/>
        </p:nvSpPr>
        <p:spPr>
          <a:xfrm>
            <a:off x="12160606" y="31437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15"/>
          <p:cNvSpPr/>
          <p:nvPr/>
        </p:nvSpPr>
        <p:spPr>
          <a:xfrm>
            <a:off x="12577572" y="3143707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16"/>
          <p:cNvSpPr/>
          <p:nvPr/>
        </p:nvSpPr>
        <p:spPr>
          <a:xfrm>
            <a:off x="12994538" y="3143707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17"/>
          <p:cNvSpPr/>
          <p:nvPr/>
        </p:nvSpPr>
        <p:spPr>
          <a:xfrm>
            <a:off x="9658807" y="3442716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18"/>
          <p:cNvSpPr/>
          <p:nvPr/>
        </p:nvSpPr>
        <p:spPr>
          <a:xfrm>
            <a:off x="10074859" y="34427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19"/>
          <p:cNvSpPr/>
          <p:nvPr/>
        </p:nvSpPr>
        <p:spPr>
          <a:xfrm>
            <a:off x="10491826" y="34427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20"/>
          <p:cNvSpPr/>
          <p:nvPr/>
        </p:nvSpPr>
        <p:spPr>
          <a:xfrm>
            <a:off x="10909706" y="3442716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21"/>
          <p:cNvSpPr/>
          <p:nvPr/>
        </p:nvSpPr>
        <p:spPr>
          <a:xfrm>
            <a:off x="11326673" y="34427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22"/>
          <p:cNvSpPr/>
          <p:nvPr/>
        </p:nvSpPr>
        <p:spPr>
          <a:xfrm>
            <a:off x="11742725" y="34427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23"/>
          <p:cNvSpPr/>
          <p:nvPr/>
        </p:nvSpPr>
        <p:spPr>
          <a:xfrm>
            <a:off x="12160606" y="3442716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24"/>
          <p:cNvSpPr/>
          <p:nvPr/>
        </p:nvSpPr>
        <p:spPr>
          <a:xfrm>
            <a:off x="12577572" y="34427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25"/>
          <p:cNvSpPr/>
          <p:nvPr/>
        </p:nvSpPr>
        <p:spPr>
          <a:xfrm>
            <a:off x="12994538" y="3442716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26"/>
          <p:cNvSpPr/>
          <p:nvPr/>
        </p:nvSpPr>
        <p:spPr>
          <a:xfrm>
            <a:off x="9658807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27"/>
          <p:cNvSpPr/>
          <p:nvPr/>
        </p:nvSpPr>
        <p:spPr>
          <a:xfrm>
            <a:off x="10074859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28"/>
          <p:cNvSpPr/>
          <p:nvPr/>
        </p:nvSpPr>
        <p:spPr>
          <a:xfrm>
            <a:off x="10491826" y="3741725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29"/>
          <p:cNvSpPr/>
          <p:nvPr/>
        </p:nvSpPr>
        <p:spPr>
          <a:xfrm>
            <a:off x="10909706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30"/>
          <p:cNvSpPr/>
          <p:nvPr/>
        </p:nvSpPr>
        <p:spPr>
          <a:xfrm>
            <a:off x="11326673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31"/>
          <p:cNvSpPr/>
          <p:nvPr/>
        </p:nvSpPr>
        <p:spPr>
          <a:xfrm>
            <a:off x="11742725" y="3741725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32"/>
          <p:cNvSpPr/>
          <p:nvPr/>
        </p:nvSpPr>
        <p:spPr>
          <a:xfrm>
            <a:off x="12160606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33"/>
          <p:cNvSpPr/>
          <p:nvPr/>
        </p:nvSpPr>
        <p:spPr>
          <a:xfrm>
            <a:off x="12577572" y="3741725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34"/>
          <p:cNvSpPr/>
          <p:nvPr/>
        </p:nvSpPr>
        <p:spPr>
          <a:xfrm>
            <a:off x="12994538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35"/>
          <p:cNvSpPr/>
          <p:nvPr/>
        </p:nvSpPr>
        <p:spPr>
          <a:xfrm>
            <a:off x="9658807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36"/>
          <p:cNvSpPr/>
          <p:nvPr/>
        </p:nvSpPr>
        <p:spPr>
          <a:xfrm>
            <a:off x="10074859" y="4041648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37"/>
          <p:cNvSpPr/>
          <p:nvPr/>
        </p:nvSpPr>
        <p:spPr>
          <a:xfrm>
            <a:off x="10491826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38"/>
          <p:cNvSpPr/>
          <p:nvPr/>
        </p:nvSpPr>
        <p:spPr>
          <a:xfrm>
            <a:off x="10909706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39"/>
          <p:cNvSpPr/>
          <p:nvPr/>
        </p:nvSpPr>
        <p:spPr>
          <a:xfrm>
            <a:off x="11326673" y="4041648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40"/>
          <p:cNvSpPr/>
          <p:nvPr/>
        </p:nvSpPr>
        <p:spPr>
          <a:xfrm>
            <a:off x="11742725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41"/>
          <p:cNvSpPr/>
          <p:nvPr/>
        </p:nvSpPr>
        <p:spPr>
          <a:xfrm>
            <a:off x="12160606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42"/>
          <p:cNvSpPr/>
          <p:nvPr/>
        </p:nvSpPr>
        <p:spPr>
          <a:xfrm>
            <a:off x="12577572" y="4041648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43"/>
          <p:cNvSpPr/>
          <p:nvPr/>
        </p:nvSpPr>
        <p:spPr>
          <a:xfrm>
            <a:off x="12994538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44"/>
          <p:cNvSpPr/>
          <p:nvPr/>
        </p:nvSpPr>
        <p:spPr>
          <a:xfrm>
            <a:off x="9658807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45"/>
          <p:cNvSpPr/>
          <p:nvPr/>
        </p:nvSpPr>
        <p:spPr>
          <a:xfrm>
            <a:off x="10074859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46"/>
          <p:cNvSpPr/>
          <p:nvPr/>
        </p:nvSpPr>
        <p:spPr>
          <a:xfrm>
            <a:off x="10491826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47"/>
          <p:cNvSpPr/>
          <p:nvPr/>
        </p:nvSpPr>
        <p:spPr>
          <a:xfrm>
            <a:off x="10909706" y="4340657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48"/>
          <p:cNvSpPr/>
          <p:nvPr/>
        </p:nvSpPr>
        <p:spPr>
          <a:xfrm>
            <a:off x="11326673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49"/>
          <p:cNvSpPr/>
          <p:nvPr/>
        </p:nvSpPr>
        <p:spPr>
          <a:xfrm>
            <a:off x="11742725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50"/>
          <p:cNvSpPr/>
          <p:nvPr/>
        </p:nvSpPr>
        <p:spPr>
          <a:xfrm>
            <a:off x="12160606" y="4340657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51"/>
          <p:cNvSpPr/>
          <p:nvPr/>
        </p:nvSpPr>
        <p:spPr>
          <a:xfrm>
            <a:off x="12577572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52"/>
          <p:cNvSpPr/>
          <p:nvPr/>
        </p:nvSpPr>
        <p:spPr>
          <a:xfrm>
            <a:off x="12994538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53"/>
          <p:cNvSpPr/>
          <p:nvPr/>
        </p:nvSpPr>
        <p:spPr>
          <a:xfrm>
            <a:off x="9658807" y="4639666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54"/>
          <p:cNvSpPr/>
          <p:nvPr/>
        </p:nvSpPr>
        <p:spPr>
          <a:xfrm>
            <a:off x="10074859" y="46396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55"/>
          <p:cNvSpPr/>
          <p:nvPr/>
        </p:nvSpPr>
        <p:spPr>
          <a:xfrm>
            <a:off x="10491826" y="46396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56"/>
          <p:cNvSpPr/>
          <p:nvPr/>
        </p:nvSpPr>
        <p:spPr>
          <a:xfrm>
            <a:off x="10909706" y="46396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57"/>
          <p:cNvSpPr/>
          <p:nvPr/>
        </p:nvSpPr>
        <p:spPr>
          <a:xfrm>
            <a:off x="11326673" y="46396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58"/>
          <p:cNvSpPr/>
          <p:nvPr/>
        </p:nvSpPr>
        <p:spPr>
          <a:xfrm>
            <a:off x="11742725" y="46396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59"/>
          <p:cNvSpPr/>
          <p:nvPr/>
        </p:nvSpPr>
        <p:spPr>
          <a:xfrm>
            <a:off x="12160606" y="46396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60"/>
          <p:cNvSpPr/>
          <p:nvPr/>
        </p:nvSpPr>
        <p:spPr>
          <a:xfrm>
            <a:off x="12577572" y="46396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61"/>
          <p:cNvSpPr/>
          <p:nvPr/>
        </p:nvSpPr>
        <p:spPr>
          <a:xfrm>
            <a:off x="12994538" y="4639666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62"/>
          <p:cNvSpPr/>
          <p:nvPr/>
        </p:nvSpPr>
        <p:spPr>
          <a:xfrm>
            <a:off x="9658807" y="4939589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63"/>
          <p:cNvSpPr/>
          <p:nvPr/>
        </p:nvSpPr>
        <p:spPr>
          <a:xfrm>
            <a:off x="10074859" y="4939589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64"/>
          <p:cNvSpPr/>
          <p:nvPr/>
        </p:nvSpPr>
        <p:spPr>
          <a:xfrm>
            <a:off x="10491826" y="49395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65"/>
          <p:cNvSpPr/>
          <p:nvPr/>
        </p:nvSpPr>
        <p:spPr>
          <a:xfrm>
            <a:off x="10909706" y="49395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66"/>
          <p:cNvSpPr/>
          <p:nvPr/>
        </p:nvSpPr>
        <p:spPr>
          <a:xfrm>
            <a:off x="11326673" y="4939589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67"/>
          <p:cNvSpPr/>
          <p:nvPr/>
        </p:nvSpPr>
        <p:spPr>
          <a:xfrm>
            <a:off x="11742725" y="49395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68"/>
          <p:cNvSpPr/>
          <p:nvPr/>
        </p:nvSpPr>
        <p:spPr>
          <a:xfrm>
            <a:off x="12160606" y="49395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69"/>
          <p:cNvSpPr/>
          <p:nvPr/>
        </p:nvSpPr>
        <p:spPr>
          <a:xfrm>
            <a:off x="12577572" y="4939589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70"/>
          <p:cNvSpPr/>
          <p:nvPr/>
        </p:nvSpPr>
        <p:spPr>
          <a:xfrm>
            <a:off x="12994538" y="4939589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Text 171"/>
          <p:cNvSpPr txBox="1"/>
          <p:nvPr/>
        </p:nvSpPr>
        <p:spPr>
          <a:xfrm>
            <a:off x="13887907" y="2800807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24" kern="0" dirty="0">
                <a:solidFill>
                  <a:srgbClr val="0E7C7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 · W03</a:t>
            </a:r>
            <a:endParaRPr lang="en-US" sz="825" dirty="0"/>
          </a:p>
        </p:txBody>
      </p:sp>
      <p:sp>
        <p:nvSpPr>
          <p:cNvPr id="193" name="Text 172"/>
          <p:cNvSpPr txBox="1"/>
          <p:nvPr/>
        </p:nvSpPr>
        <p:spPr>
          <a:xfrm>
            <a:off x="13887907" y="2952598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6.0%</a:t>
            </a:r>
            <a:endParaRPr lang="en-US" sz="1050" dirty="0"/>
          </a:p>
        </p:txBody>
      </p:sp>
      <p:sp>
        <p:nvSpPr>
          <p:cNvPr id="194" name="Shape 173"/>
          <p:cNvSpPr/>
          <p:nvPr/>
        </p:nvSpPr>
        <p:spPr>
          <a:xfrm>
            <a:off x="13849502" y="3143707"/>
            <a:ext cx="400507" cy="286207"/>
          </a:xfrm>
          <a:prstGeom prst="rect">
            <a:avLst/>
          </a:prstGeom>
          <a:solidFill>
            <a:srgbClr val="E8B9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74"/>
          <p:cNvSpPr/>
          <p:nvPr/>
        </p:nvSpPr>
        <p:spPr>
          <a:xfrm>
            <a:off x="14266469" y="3143707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75"/>
          <p:cNvSpPr/>
          <p:nvPr/>
        </p:nvSpPr>
        <p:spPr>
          <a:xfrm>
            <a:off x="14683435" y="3143707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76"/>
          <p:cNvSpPr/>
          <p:nvPr/>
        </p:nvSpPr>
        <p:spPr>
          <a:xfrm>
            <a:off x="15100402" y="31437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77"/>
          <p:cNvSpPr/>
          <p:nvPr/>
        </p:nvSpPr>
        <p:spPr>
          <a:xfrm>
            <a:off x="15517368" y="31437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78"/>
          <p:cNvSpPr/>
          <p:nvPr/>
        </p:nvSpPr>
        <p:spPr>
          <a:xfrm>
            <a:off x="15934334" y="3143707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79"/>
          <p:cNvSpPr/>
          <p:nvPr/>
        </p:nvSpPr>
        <p:spPr>
          <a:xfrm>
            <a:off x="16351301" y="3143707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80"/>
          <p:cNvSpPr/>
          <p:nvPr/>
        </p:nvSpPr>
        <p:spPr>
          <a:xfrm>
            <a:off x="16768267" y="3143707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181"/>
          <p:cNvSpPr/>
          <p:nvPr/>
        </p:nvSpPr>
        <p:spPr>
          <a:xfrm>
            <a:off x="17185234" y="3143707"/>
            <a:ext cx="400507" cy="286207"/>
          </a:xfrm>
          <a:prstGeom prst="rect">
            <a:avLst/>
          </a:prstGeom>
          <a:solidFill>
            <a:srgbClr val="E8B9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182"/>
          <p:cNvSpPr/>
          <p:nvPr/>
        </p:nvSpPr>
        <p:spPr>
          <a:xfrm>
            <a:off x="13849502" y="3442716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183"/>
          <p:cNvSpPr/>
          <p:nvPr/>
        </p:nvSpPr>
        <p:spPr>
          <a:xfrm>
            <a:off x="14266469" y="3442716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184"/>
          <p:cNvSpPr/>
          <p:nvPr/>
        </p:nvSpPr>
        <p:spPr>
          <a:xfrm>
            <a:off x="14683435" y="34427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185"/>
          <p:cNvSpPr/>
          <p:nvPr/>
        </p:nvSpPr>
        <p:spPr>
          <a:xfrm>
            <a:off x="15100402" y="34427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186"/>
          <p:cNvSpPr/>
          <p:nvPr/>
        </p:nvSpPr>
        <p:spPr>
          <a:xfrm>
            <a:off x="15517368" y="34427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187"/>
          <p:cNvSpPr/>
          <p:nvPr/>
        </p:nvSpPr>
        <p:spPr>
          <a:xfrm>
            <a:off x="15934334" y="34427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188"/>
          <p:cNvSpPr/>
          <p:nvPr/>
        </p:nvSpPr>
        <p:spPr>
          <a:xfrm>
            <a:off x="16351301" y="34427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189"/>
          <p:cNvSpPr/>
          <p:nvPr/>
        </p:nvSpPr>
        <p:spPr>
          <a:xfrm>
            <a:off x="16768267" y="3442716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190"/>
          <p:cNvSpPr/>
          <p:nvPr/>
        </p:nvSpPr>
        <p:spPr>
          <a:xfrm>
            <a:off x="17185234" y="3442716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191"/>
          <p:cNvSpPr/>
          <p:nvPr/>
        </p:nvSpPr>
        <p:spPr>
          <a:xfrm>
            <a:off x="13849502" y="3741725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192"/>
          <p:cNvSpPr/>
          <p:nvPr/>
        </p:nvSpPr>
        <p:spPr>
          <a:xfrm>
            <a:off x="14266469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193"/>
          <p:cNvSpPr/>
          <p:nvPr/>
        </p:nvSpPr>
        <p:spPr>
          <a:xfrm>
            <a:off x="14683435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194"/>
          <p:cNvSpPr/>
          <p:nvPr/>
        </p:nvSpPr>
        <p:spPr>
          <a:xfrm>
            <a:off x="15100402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195"/>
          <p:cNvSpPr/>
          <p:nvPr/>
        </p:nvSpPr>
        <p:spPr>
          <a:xfrm>
            <a:off x="15517368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196"/>
          <p:cNvSpPr/>
          <p:nvPr/>
        </p:nvSpPr>
        <p:spPr>
          <a:xfrm>
            <a:off x="15934334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197"/>
          <p:cNvSpPr/>
          <p:nvPr/>
        </p:nvSpPr>
        <p:spPr>
          <a:xfrm>
            <a:off x="16351301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198"/>
          <p:cNvSpPr/>
          <p:nvPr/>
        </p:nvSpPr>
        <p:spPr>
          <a:xfrm>
            <a:off x="16768267" y="37417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199"/>
          <p:cNvSpPr/>
          <p:nvPr/>
        </p:nvSpPr>
        <p:spPr>
          <a:xfrm>
            <a:off x="17185234" y="3741725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00"/>
          <p:cNvSpPr/>
          <p:nvPr/>
        </p:nvSpPr>
        <p:spPr>
          <a:xfrm>
            <a:off x="13849502" y="4041648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01"/>
          <p:cNvSpPr/>
          <p:nvPr/>
        </p:nvSpPr>
        <p:spPr>
          <a:xfrm>
            <a:off x="14266469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02"/>
          <p:cNvSpPr/>
          <p:nvPr/>
        </p:nvSpPr>
        <p:spPr>
          <a:xfrm>
            <a:off x="14683435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03"/>
          <p:cNvSpPr/>
          <p:nvPr/>
        </p:nvSpPr>
        <p:spPr>
          <a:xfrm>
            <a:off x="15100402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04"/>
          <p:cNvSpPr/>
          <p:nvPr/>
        </p:nvSpPr>
        <p:spPr>
          <a:xfrm>
            <a:off x="15517368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05"/>
          <p:cNvSpPr/>
          <p:nvPr/>
        </p:nvSpPr>
        <p:spPr>
          <a:xfrm>
            <a:off x="15934334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06"/>
          <p:cNvSpPr/>
          <p:nvPr/>
        </p:nvSpPr>
        <p:spPr>
          <a:xfrm>
            <a:off x="16351301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07"/>
          <p:cNvSpPr/>
          <p:nvPr/>
        </p:nvSpPr>
        <p:spPr>
          <a:xfrm>
            <a:off x="16768267" y="40416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08"/>
          <p:cNvSpPr/>
          <p:nvPr/>
        </p:nvSpPr>
        <p:spPr>
          <a:xfrm>
            <a:off x="17185234" y="4041648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09"/>
          <p:cNvSpPr/>
          <p:nvPr/>
        </p:nvSpPr>
        <p:spPr>
          <a:xfrm>
            <a:off x="13849502" y="4340657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10"/>
          <p:cNvSpPr/>
          <p:nvPr/>
        </p:nvSpPr>
        <p:spPr>
          <a:xfrm>
            <a:off x="14266469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11"/>
          <p:cNvSpPr/>
          <p:nvPr/>
        </p:nvSpPr>
        <p:spPr>
          <a:xfrm>
            <a:off x="14683435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12"/>
          <p:cNvSpPr/>
          <p:nvPr/>
        </p:nvSpPr>
        <p:spPr>
          <a:xfrm>
            <a:off x="15100402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13"/>
          <p:cNvSpPr/>
          <p:nvPr/>
        </p:nvSpPr>
        <p:spPr>
          <a:xfrm>
            <a:off x="15517368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14"/>
          <p:cNvSpPr/>
          <p:nvPr/>
        </p:nvSpPr>
        <p:spPr>
          <a:xfrm>
            <a:off x="15934334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15"/>
          <p:cNvSpPr/>
          <p:nvPr/>
        </p:nvSpPr>
        <p:spPr>
          <a:xfrm>
            <a:off x="16351301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16"/>
          <p:cNvSpPr/>
          <p:nvPr/>
        </p:nvSpPr>
        <p:spPr>
          <a:xfrm>
            <a:off x="16768267" y="43406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17"/>
          <p:cNvSpPr/>
          <p:nvPr/>
        </p:nvSpPr>
        <p:spPr>
          <a:xfrm>
            <a:off x="17185234" y="4340657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18"/>
          <p:cNvSpPr/>
          <p:nvPr/>
        </p:nvSpPr>
        <p:spPr>
          <a:xfrm>
            <a:off x="13849502" y="4639666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19"/>
          <p:cNvSpPr/>
          <p:nvPr/>
        </p:nvSpPr>
        <p:spPr>
          <a:xfrm>
            <a:off x="14266469" y="4639666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20"/>
          <p:cNvSpPr/>
          <p:nvPr/>
        </p:nvSpPr>
        <p:spPr>
          <a:xfrm>
            <a:off x="14683435" y="46396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21"/>
          <p:cNvSpPr/>
          <p:nvPr/>
        </p:nvSpPr>
        <p:spPr>
          <a:xfrm>
            <a:off x="15100402" y="46396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22"/>
          <p:cNvSpPr/>
          <p:nvPr/>
        </p:nvSpPr>
        <p:spPr>
          <a:xfrm>
            <a:off x="15517368" y="4639666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23"/>
          <p:cNvSpPr/>
          <p:nvPr/>
        </p:nvSpPr>
        <p:spPr>
          <a:xfrm>
            <a:off x="15934334" y="46396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24"/>
          <p:cNvSpPr/>
          <p:nvPr/>
        </p:nvSpPr>
        <p:spPr>
          <a:xfrm>
            <a:off x="16351301" y="46396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25"/>
          <p:cNvSpPr/>
          <p:nvPr/>
        </p:nvSpPr>
        <p:spPr>
          <a:xfrm>
            <a:off x="16768267" y="4639666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17185234" y="4639666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27"/>
          <p:cNvSpPr/>
          <p:nvPr/>
        </p:nvSpPr>
        <p:spPr>
          <a:xfrm>
            <a:off x="13849502" y="4939589"/>
            <a:ext cx="400507" cy="286207"/>
          </a:xfrm>
          <a:prstGeom prst="rect">
            <a:avLst/>
          </a:prstGeom>
          <a:solidFill>
            <a:srgbClr val="E8B9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28"/>
          <p:cNvSpPr/>
          <p:nvPr/>
        </p:nvSpPr>
        <p:spPr>
          <a:xfrm>
            <a:off x="14266469" y="4939589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29"/>
          <p:cNvSpPr/>
          <p:nvPr/>
        </p:nvSpPr>
        <p:spPr>
          <a:xfrm>
            <a:off x="14683435" y="4939589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30"/>
          <p:cNvSpPr/>
          <p:nvPr/>
        </p:nvSpPr>
        <p:spPr>
          <a:xfrm>
            <a:off x="15100402" y="4939589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31"/>
          <p:cNvSpPr/>
          <p:nvPr/>
        </p:nvSpPr>
        <p:spPr>
          <a:xfrm>
            <a:off x="15517368" y="49395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32"/>
          <p:cNvSpPr/>
          <p:nvPr/>
        </p:nvSpPr>
        <p:spPr>
          <a:xfrm>
            <a:off x="15934334" y="4939589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33"/>
          <p:cNvSpPr/>
          <p:nvPr/>
        </p:nvSpPr>
        <p:spPr>
          <a:xfrm>
            <a:off x="16351301" y="4939589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34"/>
          <p:cNvSpPr/>
          <p:nvPr/>
        </p:nvSpPr>
        <p:spPr>
          <a:xfrm>
            <a:off x="16768267" y="4939589"/>
            <a:ext cx="400507" cy="286207"/>
          </a:xfrm>
          <a:prstGeom prst="rect">
            <a:avLst/>
          </a:prstGeom>
          <a:solidFill>
            <a:srgbClr val="F6E4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35"/>
          <p:cNvSpPr/>
          <p:nvPr/>
        </p:nvSpPr>
        <p:spPr>
          <a:xfrm>
            <a:off x="17185234" y="4939589"/>
            <a:ext cx="400507" cy="286207"/>
          </a:xfrm>
          <a:prstGeom prst="rect">
            <a:avLst/>
          </a:prstGeom>
          <a:solidFill>
            <a:srgbClr val="E8B9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Text 236"/>
          <p:cNvSpPr txBox="1"/>
          <p:nvPr/>
        </p:nvSpPr>
        <p:spPr>
          <a:xfrm>
            <a:off x="5505602" y="5658307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24" kern="0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 · W04</a:t>
            </a:r>
            <a:endParaRPr lang="en-US" sz="825" dirty="0"/>
          </a:p>
        </p:txBody>
      </p:sp>
      <p:sp>
        <p:nvSpPr>
          <p:cNvPr id="258" name="Text 237"/>
          <p:cNvSpPr txBox="1"/>
          <p:nvPr/>
        </p:nvSpPr>
        <p:spPr>
          <a:xfrm>
            <a:off x="5505602" y="5810098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4.4% · best</a:t>
            </a:r>
            <a:endParaRPr lang="en-US" sz="1050" dirty="0"/>
          </a:p>
        </p:txBody>
      </p:sp>
      <p:sp>
        <p:nvSpPr>
          <p:cNvPr id="259" name="Shape 238"/>
          <p:cNvSpPr/>
          <p:nvPr/>
        </p:nvSpPr>
        <p:spPr>
          <a:xfrm>
            <a:off x="5467198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39"/>
          <p:cNvSpPr/>
          <p:nvPr/>
        </p:nvSpPr>
        <p:spPr>
          <a:xfrm>
            <a:off x="5884164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40"/>
          <p:cNvSpPr/>
          <p:nvPr/>
        </p:nvSpPr>
        <p:spPr>
          <a:xfrm>
            <a:off x="6301130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41"/>
          <p:cNvSpPr/>
          <p:nvPr/>
        </p:nvSpPr>
        <p:spPr>
          <a:xfrm>
            <a:off x="6718097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42"/>
          <p:cNvSpPr/>
          <p:nvPr/>
        </p:nvSpPr>
        <p:spPr>
          <a:xfrm>
            <a:off x="7135063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43"/>
          <p:cNvSpPr/>
          <p:nvPr/>
        </p:nvSpPr>
        <p:spPr>
          <a:xfrm>
            <a:off x="7552030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44"/>
          <p:cNvSpPr/>
          <p:nvPr/>
        </p:nvSpPr>
        <p:spPr>
          <a:xfrm>
            <a:off x="7968996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45"/>
          <p:cNvSpPr/>
          <p:nvPr/>
        </p:nvSpPr>
        <p:spPr>
          <a:xfrm>
            <a:off x="8385962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46"/>
          <p:cNvSpPr/>
          <p:nvPr/>
        </p:nvSpPr>
        <p:spPr>
          <a:xfrm>
            <a:off x="8802929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47"/>
          <p:cNvSpPr/>
          <p:nvPr/>
        </p:nvSpPr>
        <p:spPr>
          <a:xfrm>
            <a:off x="5467198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48"/>
          <p:cNvSpPr/>
          <p:nvPr/>
        </p:nvSpPr>
        <p:spPr>
          <a:xfrm>
            <a:off x="5884164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49"/>
          <p:cNvSpPr/>
          <p:nvPr/>
        </p:nvSpPr>
        <p:spPr>
          <a:xfrm>
            <a:off x="6301130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50"/>
          <p:cNvSpPr/>
          <p:nvPr/>
        </p:nvSpPr>
        <p:spPr>
          <a:xfrm>
            <a:off x="6718097" y="6300216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51"/>
          <p:cNvSpPr/>
          <p:nvPr/>
        </p:nvSpPr>
        <p:spPr>
          <a:xfrm>
            <a:off x="7135063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52"/>
          <p:cNvSpPr/>
          <p:nvPr/>
        </p:nvSpPr>
        <p:spPr>
          <a:xfrm>
            <a:off x="7552030" y="6300216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53"/>
          <p:cNvSpPr/>
          <p:nvPr/>
        </p:nvSpPr>
        <p:spPr>
          <a:xfrm>
            <a:off x="7968996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54"/>
          <p:cNvSpPr/>
          <p:nvPr/>
        </p:nvSpPr>
        <p:spPr>
          <a:xfrm>
            <a:off x="8385962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55"/>
          <p:cNvSpPr/>
          <p:nvPr/>
        </p:nvSpPr>
        <p:spPr>
          <a:xfrm>
            <a:off x="8802929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56"/>
          <p:cNvSpPr/>
          <p:nvPr/>
        </p:nvSpPr>
        <p:spPr>
          <a:xfrm>
            <a:off x="5467198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57"/>
          <p:cNvSpPr/>
          <p:nvPr/>
        </p:nvSpPr>
        <p:spPr>
          <a:xfrm>
            <a:off x="5884164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58"/>
          <p:cNvSpPr/>
          <p:nvPr/>
        </p:nvSpPr>
        <p:spPr>
          <a:xfrm>
            <a:off x="6301130" y="6599225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59"/>
          <p:cNvSpPr/>
          <p:nvPr/>
        </p:nvSpPr>
        <p:spPr>
          <a:xfrm>
            <a:off x="6718097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60"/>
          <p:cNvSpPr/>
          <p:nvPr/>
        </p:nvSpPr>
        <p:spPr>
          <a:xfrm>
            <a:off x="7135063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61"/>
          <p:cNvSpPr/>
          <p:nvPr/>
        </p:nvSpPr>
        <p:spPr>
          <a:xfrm>
            <a:off x="7552030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62"/>
          <p:cNvSpPr/>
          <p:nvPr/>
        </p:nvSpPr>
        <p:spPr>
          <a:xfrm>
            <a:off x="7968996" y="6599225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63"/>
          <p:cNvSpPr/>
          <p:nvPr/>
        </p:nvSpPr>
        <p:spPr>
          <a:xfrm>
            <a:off x="8385962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64"/>
          <p:cNvSpPr/>
          <p:nvPr/>
        </p:nvSpPr>
        <p:spPr>
          <a:xfrm>
            <a:off x="8802929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65"/>
          <p:cNvSpPr/>
          <p:nvPr/>
        </p:nvSpPr>
        <p:spPr>
          <a:xfrm>
            <a:off x="5467198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66"/>
          <p:cNvSpPr/>
          <p:nvPr/>
        </p:nvSpPr>
        <p:spPr>
          <a:xfrm>
            <a:off x="5884164" y="6899148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67"/>
          <p:cNvSpPr/>
          <p:nvPr/>
        </p:nvSpPr>
        <p:spPr>
          <a:xfrm>
            <a:off x="6301130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68"/>
          <p:cNvSpPr/>
          <p:nvPr/>
        </p:nvSpPr>
        <p:spPr>
          <a:xfrm>
            <a:off x="6718097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69"/>
          <p:cNvSpPr/>
          <p:nvPr/>
        </p:nvSpPr>
        <p:spPr>
          <a:xfrm>
            <a:off x="7135063" y="6899148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70"/>
          <p:cNvSpPr/>
          <p:nvPr/>
        </p:nvSpPr>
        <p:spPr>
          <a:xfrm>
            <a:off x="7552030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71"/>
          <p:cNvSpPr/>
          <p:nvPr/>
        </p:nvSpPr>
        <p:spPr>
          <a:xfrm>
            <a:off x="7968996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72"/>
          <p:cNvSpPr/>
          <p:nvPr/>
        </p:nvSpPr>
        <p:spPr>
          <a:xfrm>
            <a:off x="8385962" y="6899148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73"/>
          <p:cNvSpPr/>
          <p:nvPr/>
        </p:nvSpPr>
        <p:spPr>
          <a:xfrm>
            <a:off x="8802929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74"/>
          <p:cNvSpPr/>
          <p:nvPr/>
        </p:nvSpPr>
        <p:spPr>
          <a:xfrm>
            <a:off x="5467198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75"/>
          <p:cNvSpPr/>
          <p:nvPr/>
        </p:nvSpPr>
        <p:spPr>
          <a:xfrm>
            <a:off x="5884164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76"/>
          <p:cNvSpPr/>
          <p:nvPr/>
        </p:nvSpPr>
        <p:spPr>
          <a:xfrm>
            <a:off x="6301130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77"/>
          <p:cNvSpPr/>
          <p:nvPr/>
        </p:nvSpPr>
        <p:spPr>
          <a:xfrm>
            <a:off x="6718097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78"/>
          <p:cNvSpPr/>
          <p:nvPr/>
        </p:nvSpPr>
        <p:spPr>
          <a:xfrm>
            <a:off x="7135063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79"/>
          <p:cNvSpPr/>
          <p:nvPr/>
        </p:nvSpPr>
        <p:spPr>
          <a:xfrm>
            <a:off x="7552030" y="7198157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80"/>
          <p:cNvSpPr/>
          <p:nvPr/>
        </p:nvSpPr>
        <p:spPr>
          <a:xfrm>
            <a:off x="7968996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81"/>
          <p:cNvSpPr/>
          <p:nvPr/>
        </p:nvSpPr>
        <p:spPr>
          <a:xfrm>
            <a:off x="8385962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282"/>
          <p:cNvSpPr/>
          <p:nvPr/>
        </p:nvSpPr>
        <p:spPr>
          <a:xfrm>
            <a:off x="8802929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283"/>
          <p:cNvSpPr/>
          <p:nvPr/>
        </p:nvSpPr>
        <p:spPr>
          <a:xfrm>
            <a:off x="5467198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284"/>
          <p:cNvSpPr/>
          <p:nvPr/>
        </p:nvSpPr>
        <p:spPr>
          <a:xfrm>
            <a:off x="5884164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285"/>
          <p:cNvSpPr/>
          <p:nvPr/>
        </p:nvSpPr>
        <p:spPr>
          <a:xfrm>
            <a:off x="6301130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286"/>
          <p:cNvSpPr/>
          <p:nvPr/>
        </p:nvSpPr>
        <p:spPr>
          <a:xfrm>
            <a:off x="6718097" y="7497166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287"/>
          <p:cNvSpPr/>
          <p:nvPr/>
        </p:nvSpPr>
        <p:spPr>
          <a:xfrm>
            <a:off x="7135063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288"/>
          <p:cNvSpPr/>
          <p:nvPr/>
        </p:nvSpPr>
        <p:spPr>
          <a:xfrm>
            <a:off x="7552030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289"/>
          <p:cNvSpPr/>
          <p:nvPr/>
        </p:nvSpPr>
        <p:spPr>
          <a:xfrm>
            <a:off x="7968996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290"/>
          <p:cNvSpPr/>
          <p:nvPr/>
        </p:nvSpPr>
        <p:spPr>
          <a:xfrm>
            <a:off x="8385962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291"/>
          <p:cNvSpPr/>
          <p:nvPr/>
        </p:nvSpPr>
        <p:spPr>
          <a:xfrm>
            <a:off x="8802929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292"/>
          <p:cNvSpPr/>
          <p:nvPr/>
        </p:nvSpPr>
        <p:spPr>
          <a:xfrm>
            <a:off x="5467198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293"/>
          <p:cNvSpPr/>
          <p:nvPr/>
        </p:nvSpPr>
        <p:spPr>
          <a:xfrm>
            <a:off x="5884164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294"/>
          <p:cNvSpPr/>
          <p:nvPr/>
        </p:nvSpPr>
        <p:spPr>
          <a:xfrm>
            <a:off x="6301130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295"/>
          <p:cNvSpPr/>
          <p:nvPr/>
        </p:nvSpPr>
        <p:spPr>
          <a:xfrm>
            <a:off x="6718097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296"/>
          <p:cNvSpPr/>
          <p:nvPr/>
        </p:nvSpPr>
        <p:spPr>
          <a:xfrm>
            <a:off x="7135063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297"/>
          <p:cNvSpPr/>
          <p:nvPr/>
        </p:nvSpPr>
        <p:spPr>
          <a:xfrm>
            <a:off x="7552030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298"/>
          <p:cNvSpPr/>
          <p:nvPr/>
        </p:nvSpPr>
        <p:spPr>
          <a:xfrm>
            <a:off x="7968996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299"/>
          <p:cNvSpPr/>
          <p:nvPr/>
        </p:nvSpPr>
        <p:spPr>
          <a:xfrm>
            <a:off x="8385962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00"/>
          <p:cNvSpPr/>
          <p:nvPr/>
        </p:nvSpPr>
        <p:spPr>
          <a:xfrm>
            <a:off x="8802929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Text 301"/>
          <p:cNvSpPr txBox="1"/>
          <p:nvPr/>
        </p:nvSpPr>
        <p:spPr>
          <a:xfrm>
            <a:off x="9696298" y="5658307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24" kern="0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 · W05</a:t>
            </a:r>
            <a:endParaRPr lang="en-US" sz="825" dirty="0"/>
          </a:p>
        </p:txBody>
      </p:sp>
      <p:sp>
        <p:nvSpPr>
          <p:cNvPr id="323" name="Text 302"/>
          <p:cNvSpPr txBox="1"/>
          <p:nvPr/>
        </p:nvSpPr>
        <p:spPr>
          <a:xfrm>
            <a:off x="9696298" y="5810098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4.2% · best</a:t>
            </a:r>
            <a:endParaRPr lang="en-US" sz="1050" dirty="0"/>
          </a:p>
        </p:txBody>
      </p:sp>
      <p:sp>
        <p:nvSpPr>
          <p:cNvPr id="324" name="Shape 303"/>
          <p:cNvSpPr/>
          <p:nvPr/>
        </p:nvSpPr>
        <p:spPr>
          <a:xfrm>
            <a:off x="9658807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04"/>
          <p:cNvSpPr/>
          <p:nvPr/>
        </p:nvSpPr>
        <p:spPr>
          <a:xfrm>
            <a:off x="10074859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05"/>
          <p:cNvSpPr/>
          <p:nvPr/>
        </p:nvSpPr>
        <p:spPr>
          <a:xfrm>
            <a:off x="10491826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06"/>
          <p:cNvSpPr/>
          <p:nvPr/>
        </p:nvSpPr>
        <p:spPr>
          <a:xfrm>
            <a:off x="10909706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07"/>
          <p:cNvSpPr/>
          <p:nvPr/>
        </p:nvSpPr>
        <p:spPr>
          <a:xfrm>
            <a:off x="11326673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08"/>
          <p:cNvSpPr/>
          <p:nvPr/>
        </p:nvSpPr>
        <p:spPr>
          <a:xfrm>
            <a:off x="11742725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09"/>
          <p:cNvSpPr/>
          <p:nvPr/>
        </p:nvSpPr>
        <p:spPr>
          <a:xfrm>
            <a:off x="12160606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10"/>
          <p:cNvSpPr/>
          <p:nvPr/>
        </p:nvSpPr>
        <p:spPr>
          <a:xfrm>
            <a:off x="12577572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11"/>
          <p:cNvSpPr/>
          <p:nvPr/>
        </p:nvSpPr>
        <p:spPr>
          <a:xfrm>
            <a:off x="12994538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12"/>
          <p:cNvSpPr/>
          <p:nvPr/>
        </p:nvSpPr>
        <p:spPr>
          <a:xfrm>
            <a:off x="9658807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13"/>
          <p:cNvSpPr/>
          <p:nvPr/>
        </p:nvSpPr>
        <p:spPr>
          <a:xfrm>
            <a:off x="10074859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14"/>
          <p:cNvSpPr/>
          <p:nvPr/>
        </p:nvSpPr>
        <p:spPr>
          <a:xfrm>
            <a:off x="10491826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15"/>
          <p:cNvSpPr/>
          <p:nvPr/>
        </p:nvSpPr>
        <p:spPr>
          <a:xfrm>
            <a:off x="10909706" y="6300216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16"/>
          <p:cNvSpPr/>
          <p:nvPr/>
        </p:nvSpPr>
        <p:spPr>
          <a:xfrm>
            <a:off x="11326673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17"/>
          <p:cNvSpPr/>
          <p:nvPr/>
        </p:nvSpPr>
        <p:spPr>
          <a:xfrm>
            <a:off x="11742725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18"/>
          <p:cNvSpPr/>
          <p:nvPr/>
        </p:nvSpPr>
        <p:spPr>
          <a:xfrm>
            <a:off x="12160606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19"/>
          <p:cNvSpPr/>
          <p:nvPr/>
        </p:nvSpPr>
        <p:spPr>
          <a:xfrm>
            <a:off x="12577572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20"/>
          <p:cNvSpPr/>
          <p:nvPr/>
        </p:nvSpPr>
        <p:spPr>
          <a:xfrm>
            <a:off x="12994538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21"/>
          <p:cNvSpPr/>
          <p:nvPr/>
        </p:nvSpPr>
        <p:spPr>
          <a:xfrm>
            <a:off x="9658807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22"/>
          <p:cNvSpPr/>
          <p:nvPr/>
        </p:nvSpPr>
        <p:spPr>
          <a:xfrm>
            <a:off x="10074859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23"/>
          <p:cNvSpPr/>
          <p:nvPr/>
        </p:nvSpPr>
        <p:spPr>
          <a:xfrm>
            <a:off x="10491826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24"/>
          <p:cNvSpPr/>
          <p:nvPr/>
        </p:nvSpPr>
        <p:spPr>
          <a:xfrm>
            <a:off x="10909706" y="6599225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25"/>
          <p:cNvSpPr/>
          <p:nvPr/>
        </p:nvSpPr>
        <p:spPr>
          <a:xfrm>
            <a:off x="11326673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26"/>
          <p:cNvSpPr/>
          <p:nvPr/>
        </p:nvSpPr>
        <p:spPr>
          <a:xfrm>
            <a:off x="11742725" y="6599225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27"/>
          <p:cNvSpPr/>
          <p:nvPr/>
        </p:nvSpPr>
        <p:spPr>
          <a:xfrm>
            <a:off x="12160606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28"/>
          <p:cNvSpPr/>
          <p:nvPr/>
        </p:nvSpPr>
        <p:spPr>
          <a:xfrm>
            <a:off x="12577572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29"/>
          <p:cNvSpPr/>
          <p:nvPr/>
        </p:nvSpPr>
        <p:spPr>
          <a:xfrm>
            <a:off x="12994538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30"/>
          <p:cNvSpPr/>
          <p:nvPr/>
        </p:nvSpPr>
        <p:spPr>
          <a:xfrm>
            <a:off x="9658807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31"/>
          <p:cNvSpPr/>
          <p:nvPr/>
        </p:nvSpPr>
        <p:spPr>
          <a:xfrm>
            <a:off x="10074859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32"/>
          <p:cNvSpPr/>
          <p:nvPr/>
        </p:nvSpPr>
        <p:spPr>
          <a:xfrm>
            <a:off x="10491826" y="6899148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33"/>
          <p:cNvSpPr/>
          <p:nvPr/>
        </p:nvSpPr>
        <p:spPr>
          <a:xfrm>
            <a:off x="10909706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34"/>
          <p:cNvSpPr/>
          <p:nvPr/>
        </p:nvSpPr>
        <p:spPr>
          <a:xfrm>
            <a:off x="11326673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35"/>
          <p:cNvSpPr/>
          <p:nvPr/>
        </p:nvSpPr>
        <p:spPr>
          <a:xfrm>
            <a:off x="11742725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36"/>
          <p:cNvSpPr/>
          <p:nvPr/>
        </p:nvSpPr>
        <p:spPr>
          <a:xfrm>
            <a:off x="12160606" y="6899148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37"/>
          <p:cNvSpPr/>
          <p:nvPr/>
        </p:nvSpPr>
        <p:spPr>
          <a:xfrm>
            <a:off x="12577572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38"/>
          <p:cNvSpPr/>
          <p:nvPr/>
        </p:nvSpPr>
        <p:spPr>
          <a:xfrm>
            <a:off x="12994538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39"/>
          <p:cNvSpPr/>
          <p:nvPr/>
        </p:nvSpPr>
        <p:spPr>
          <a:xfrm>
            <a:off x="9658807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40"/>
          <p:cNvSpPr/>
          <p:nvPr/>
        </p:nvSpPr>
        <p:spPr>
          <a:xfrm>
            <a:off x="10074859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41"/>
          <p:cNvSpPr/>
          <p:nvPr/>
        </p:nvSpPr>
        <p:spPr>
          <a:xfrm>
            <a:off x="10491826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42"/>
          <p:cNvSpPr/>
          <p:nvPr/>
        </p:nvSpPr>
        <p:spPr>
          <a:xfrm>
            <a:off x="10909706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43"/>
          <p:cNvSpPr/>
          <p:nvPr/>
        </p:nvSpPr>
        <p:spPr>
          <a:xfrm>
            <a:off x="11326673" y="7198157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44"/>
          <p:cNvSpPr/>
          <p:nvPr/>
        </p:nvSpPr>
        <p:spPr>
          <a:xfrm>
            <a:off x="11742725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45"/>
          <p:cNvSpPr/>
          <p:nvPr/>
        </p:nvSpPr>
        <p:spPr>
          <a:xfrm>
            <a:off x="12160606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46"/>
          <p:cNvSpPr/>
          <p:nvPr/>
        </p:nvSpPr>
        <p:spPr>
          <a:xfrm>
            <a:off x="12577572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47"/>
          <p:cNvSpPr/>
          <p:nvPr/>
        </p:nvSpPr>
        <p:spPr>
          <a:xfrm>
            <a:off x="12994538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48"/>
          <p:cNvSpPr/>
          <p:nvPr/>
        </p:nvSpPr>
        <p:spPr>
          <a:xfrm>
            <a:off x="9658807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49"/>
          <p:cNvSpPr/>
          <p:nvPr/>
        </p:nvSpPr>
        <p:spPr>
          <a:xfrm>
            <a:off x="10074859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50"/>
          <p:cNvSpPr/>
          <p:nvPr/>
        </p:nvSpPr>
        <p:spPr>
          <a:xfrm>
            <a:off x="10491826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51"/>
          <p:cNvSpPr/>
          <p:nvPr/>
        </p:nvSpPr>
        <p:spPr>
          <a:xfrm>
            <a:off x="10909706" y="7497166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52"/>
          <p:cNvSpPr/>
          <p:nvPr/>
        </p:nvSpPr>
        <p:spPr>
          <a:xfrm>
            <a:off x="11326673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53"/>
          <p:cNvSpPr/>
          <p:nvPr/>
        </p:nvSpPr>
        <p:spPr>
          <a:xfrm>
            <a:off x="11742725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54"/>
          <p:cNvSpPr/>
          <p:nvPr/>
        </p:nvSpPr>
        <p:spPr>
          <a:xfrm>
            <a:off x="12160606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55"/>
          <p:cNvSpPr/>
          <p:nvPr/>
        </p:nvSpPr>
        <p:spPr>
          <a:xfrm>
            <a:off x="12577572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56"/>
          <p:cNvSpPr/>
          <p:nvPr/>
        </p:nvSpPr>
        <p:spPr>
          <a:xfrm>
            <a:off x="12994538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57"/>
          <p:cNvSpPr/>
          <p:nvPr/>
        </p:nvSpPr>
        <p:spPr>
          <a:xfrm>
            <a:off x="9658807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58"/>
          <p:cNvSpPr/>
          <p:nvPr/>
        </p:nvSpPr>
        <p:spPr>
          <a:xfrm>
            <a:off x="10074859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0" name="Shape 359"/>
          <p:cNvSpPr/>
          <p:nvPr/>
        </p:nvSpPr>
        <p:spPr>
          <a:xfrm>
            <a:off x="10491826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1" name="Shape 360"/>
          <p:cNvSpPr/>
          <p:nvPr/>
        </p:nvSpPr>
        <p:spPr>
          <a:xfrm>
            <a:off x="10909706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2" name="Shape 361"/>
          <p:cNvSpPr/>
          <p:nvPr/>
        </p:nvSpPr>
        <p:spPr>
          <a:xfrm>
            <a:off x="11326673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3" name="Shape 362"/>
          <p:cNvSpPr/>
          <p:nvPr/>
        </p:nvSpPr>
        <p:spPr>
          <a:xfrm>
            <a:off x="11742725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4" name="Shape 363"/>
          <p:cNvSpPr/>
          <p:nvPr/>
        </p:nvSpPr>
        <p:spPr>
          <a:xfrm>
            <a:off x="12160606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5" name="Shape 364"/>
          <p:cNvSpPr/>
          <p:nvPr/>
        </p:nvSpPr>
        <p:spPr>
          <a:xfrm>
            <a:off x="12577572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6" name="Shape 365"/>
          <p:cNvSpPr/>
          <p:nvPr/>
        </p:nvSpPr>
        <p:spPr>
          <a:xfrm>
            <a:off x="12994538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7" name="Text 366"/>
          <p:cNvSpPr txBox="1"/>
          <p:nvPr/>
        </p:nvSpPr>
        <p:spPr>
          <a:xfrm>
            <a:off x="13887907" y="5658307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124" kern="0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 · W06</a:t>
            </a:r>
            <a:endParaRPr lang="en-US" sz="825" dirty="0"/>
          </a:p>
        </p:txBody>
      </p:sp>
      <p:sp>
        <p:nvSpPr>
          <p:cNvPr id="388" name="Text 367"/>
          <p:cNvSpPr txBox="1"/>
          <p:nvPr/>
        </p:nvSpPr>
        <p:spPr>
          <a:xfrm>
            <a:off x="13887907" y="5810098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3σ 4.6%</a:t>
            </a:r>
            <a:endParaRPr lang="en-US" sz="1050" dirty="0"/>
          </a:p>
        </p:txBody>
      </p:sp>
      <p:sp>
        <p:nvSpPr>
          <p:cNvPr id="389" name="Shape 368"/>
          <p:cNvSpPr/>
          <p:nvPr/>
        </p:nvSpPr>
        <p:spPr>
          <a:xfrm>
            <a:off x="13849502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0" name="Shape 369"/>
          <p:cNvSpPr/>
          <p:nvPr/>
        </p:nvSpPr>
        <p:spPr>
          <a:xfrm>
            <a:off x="14266469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1" name="Shape 370"/>
          <p:cNvSpPr/>
          <p:nvPr/>
        </p:nvSpPr>
        <p:spPr>
          <a:xfrm>
            <a:off x="14683435" y="6001207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2" name="Shape 371"/>
          <p:cNvSpPr/>
          <p:nvPr/>
        </p:nvSpPr>
        <p:spPr>
          <a:xfrm>
            <a:off x="15100402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3" name="Shape 372"/>
          <p:cNvSpPr/>
          <p:nvPr/>
        </p:nvSpPr>
        <p:spPr>
          <a:xfrm>
            <a:off x="15517368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4" name="Shape 373"/>
          <p:cNvSpPr/>
          <p:nvPr/>
        </p:nvSpPr>
        <p:spPr>
          <a:xfrm>
            <a:off x="15934334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5" name="Shape 374"/>
          <p:cNvSpPr/>
          <p:nvPr/>
        </p:nvSpPr>
        <p:spPr>
          <a:xfrm>
            <a:off x="16351301" y="6001207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6" name="Shape 375"/>
          <p:cNvSpPr/>
          <p:nvPr/>
        </p:nvSpPr>
        <p:spPr>
          <a:xfrm>
            <a:off x="16768267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7" name="Shape 376"/>
          <p:cNvSpPr/>
          <p:nvPr/>
        </p:nvSpPr>
        <p:spPr>
          <a:xfrm>
            <a:off x="17185234" y="600120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8" name="Shape 377"/>
          <p:cNvSpPr/>
          <p:nvPr/>
        </p:nvSpPr>
        <p:spPr>
          <a:xfrm>
            <a:off x="13849502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9" name="Shape 378"/>
          <p:cNvSpPr/>
          <p:nvPr/>
        </p:nvSpPr>
        <p:spPr>
          <a:xfrm>
            <a:off x="14266469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0" name="Shape 379"/>
          <p:cNvSpPr/>
          <p:nvPr/>
        </p:nvSpPr>
        <p:spPr>
          <a:xfrm>
            <a:off x="14683435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1" name="Shape 380"/>
          <p:cNvSpPr/>
          <p:nvPr/>
        </p:nvSpPr>
        <p:spPr>
          <a:xfrm>
            <a:off x="15100402" y="6300216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2" name="Shape 381"/>
          <p:cNvSpPr/>
          <p:nvPr/>
        </p:nvSpPr>
        <p:spPr>
          <a:xfrm>
            <a:off x="15517368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3" name="Shape 382"/>
          <p:cNvSpPr/>
          <p:nvPr/>
        </p:nvSpPr>
        <p:spPr>
          <a:xfrm>
            <a:off x="15934334" y="6300216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4" name="Shape 383"/>
          <p:cNvSpPr/>
          <p:nvPr/>
        </p:nvSpPr>
        <p:spPr>
          <a:xfrm>
            <a:off x="16351301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5" name="Shape 384"/>
          <p:cNvSpPr/>
          <p:nvPr/>
        </p:nvSpPr>
        <p:spPr>
          <a:xfrm>
            <a:off x="16768267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6" name="Shape 385"/>
          <p:cNvSpPr/>
          <p:nvPr/>
        </p:nvSpPr>
        <p:spPr>
          <a:xfrm>
            <a:off x="17185234" y="630021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7" name="Shape 386"/>
          <p:cNvSpPr/>
          <p:nvPr/>
        </p:nvSpPr>
        <p:spPr>
          <a:xfrm>
            <a:off x="13849502" y="6599225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8" name="Shape 387"/>
          <p:cNvSpPr/>
          <p:nvPr/>
        </p:nvSpPr>
        <p:spPr>
          <a:xfrm>
            <a:off x="14266469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9" name="Shape 388"/>
          <p:cNvSpPr/>
          <p:nvPr/>
        </p:nvSpPr>
        <p:spPr>
          <a:xfrm>
            <a:off x="14683435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0" name="Shape 389"/>
          <p:cNvSpPr/>
          <p:nvPr/>
        </p:nvSpPr>
        <p:spPr>
          <a:xfrm>
            <a:off x="15100402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1" name="Shape 390"/>
          <p:cNvSpPr/>
          <p:nvPr/>
        </p:nvSpPr>
        <p:spPr>
          <a:xfrm>
            <a:off x="15517368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2" name="Shape 391"/>
          <p:cNvSpPr/>
          <p:nvPr/>
        </p:nvSpPr>
        <p:spPr>
          <a:xfrm>
            <a:off x="15934334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3" name="Shape 392"/>
          <p:cNvSpPr/>
          <p:nvPr/>
        </p:nvSpPr>
        <p:spPr>
          <a:xfrm>
            <a:off x="16351301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4" name="Shape 393"/>
          <p:cNvSpPr/>
          <p:nvPr/>
        </p:nvSpPr>
        <p:spPr>
          <a:xfrm>
            <a:off x="16768267" y="6599225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5" name="Shape 394"/>
          <p:cNvSpPr/>
          <p:nvPr/>
        </p:nvSpPr>
        <p:spPr>
          <a:xfrm>
            <a:off x="17185234" y="6599225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6" name="Shape 395"/>
          <p:cNvSpPr/>
          <p:nvPr/>
        </p:nvSpPr>
        <p:spPr>
          <a:xfrm>
            <a:off x="13849502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7" name="Shape 396"/>
          <p:cNvSpPr/>
          <p:nvPr/>
        </p:nvSpPr>
        <p:spPr>
          <a:xfrm>
            <a:off x="14266469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8" name="Shape 397"/>
          <p:cNvSpPr/>
          <p:nvPr/>
        </p:nvSpPr>
        <p:spPr>
          <a:xfrm>
            <a:off x="14683435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9" name="Shape 398"/>
          <p:cNvSpPr/>
          <p:nvPr/>
        </p:nvSpPr>
        <p:spPr>
          <a:xfrm>
            <a:off x="15100402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0" name="Shape 399"/>
          <p:cNvSpPr/>
          <p:nvPr/>
        </p:nvSpPr>
        <p:spPr>
          <a:xfrm>
            <a:off x="15517368" y="6899148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1" name="Shape 400"/>
          <p:cNvSpPr/>
          <p:nvPr/>
        </p:nvSpPr>
        <p:spPr>
          <a:xfrm>
            <a:off x="15934334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2" name="Shape 401"/>
          <p:cNvSpPr/>
          <p:nvPr/>
        </p:nvSpPr>
        <p:spPr>
          <a:xfrm>
            <a:off x="16351301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3" name="Shape 402"/>
          <p:cNvSpPr/>
          <p:nvPr/>
        </p:nvSpPr>
        <p:spPr>
          <a:xfrm>
            <a:off x="16768267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4" name="Shape 403"/>
          <p:cNvSpPr/>
          <p:nvPr/>
        </p:nvSpPr>
        <p:spPr>
          <a:xfrm>
            <a:off x="17185234" y="6899148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5" name="Shape 404"/>
          <p:cNvSpPr/>
          <p:nvPr/>
        </p:nvSpPr>
        <p:spPr>
          <a:xfrm>
            <a:off x="13849502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6" name="Shape 405"/>
          <p:cNvSpPr/>
          <p:nvPr/>
        </p:nvSpPr>
        <p:spPr>
          <a:xfrm>
            <a:off x="14266469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7" name="Shape 406"/>
          <p:cNvSpPr/>
          <p:nvPr/>
        </p:nvSpPr>
        <p:spPr>
          <a:xfrm>
            <a:off x="14683435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8" name="Shape 407"/>
          <p:cNvSpPr/>
          <p:nvPr/>
        </p:nvSpPr>
        <p:spPr>
          <a:xfrm>
            <a:off x="15100402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9" name="Shape 408"/>
          <p:cNvSpPr/>
          <p:nvPr/>
        </p:nvSpPr>
        <p:spPr>
          <a:xfrm>
            <a:off x="15517368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0" name="Shape 409"/>
          <p:cNvSpPr/>
          <p:nvPr/>
        </p:nvSpPr>
        <p:spPr>
          <a:xfrm>
            <a:off x="15934334" y="7198157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1" name="Shape 410"/>
          <p:cNvSpPr/>
          <p:nvPr/>
        </p:nvSpPr>
        <p:spPr>
          <a:xfrm>
            <a:off x="16351301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2" name="Shape 411"/>
          <p:cNvSpPr/>
          <p:nvPr/>
        </p:nvSpPr>
        <p:spPr>
          <a:xfrm>
            <a:off x="16768267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3" name="Shape 412"/>
          <p:cNvSpPr/>
          <p:nvPr/>
        </p:nvSpPr>
        <p:spPr>
          <a:xfrm>
            <a:off x="17185234" y="7198157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4" name="Shape 413"/>
          <p:cNvSpPr/>
          <p:nvPr/>
        </p:nvSpPr>
        <p:spPr>
          <a:xfrm>
            <a:off x="13849502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5" name="Shape 414"/>
          <p:cNvSpPr/>
          <p:nvPr/>
        </p:nvSpPr>
        <p:spPr>
          <a:xfrm>
            <a:off x="14266469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6" name="Shape 415"/>
          <p:cNvSpPr/>
          <p:nvPr/>
        </p:nvSpPr>
        <p:spPr>
          <a:xfrm>
            <a:off x="14683435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7" name="Shape 416"/>
          <p:cNvSpPr/>
          <p:nvPr/>
        </p:nvSpPr>
        <p:spPr>
          <a:xfrm>
            <a:off x="15100402" y="7497166"/>
            <a:ext cx="400507" cy="286207"/>
          </a:xfrm>
          <a:prstGeom prst="rect">
            <a:avLst/>
          </a:prstGeom>
          <a:solidFill>
            <a:srgbClr val="E0F2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8" name="Shape 417"/>
          <p:cNvSpPr/>
          <p:nvPr/>
        </p:nvSpPr>
        <p:spPr>
          <a:xfrm>
            <a:off x="15517368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9" name="Shape 418"/>
          <p:cNvSpPr/>
          <p:nvPr/>
        </p:nvSpPr>
        <p:spPr>
          <a:xfrm>
            <a:off x="15934334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0" name="Shape 419"/>
          <p:cNvSpPr/>
          <p:nvPr/>
        </p:nvSpPr>
        <p:spPr>
          <a:xfrm>
            <a:off x="16351301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1" name="Shape 420"/>
          <p:cNvSpPr/>
          <p:nvPr/>
        </p:nvSpPr>
        <p:spPr>
          <a:xfrm>
            <a:off x="16768267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2" name="Shape 421"/>
          <p:cNvSpPr/>
          <p:nvPr/>
        </p:nvSpPr>
        <p:spPr>
          <a:xfrm>
            <a:off x="17185234" y="7497166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3" name="Shape 422"/>
          <p:cNvSpPr/>
          <p:nvPr/>
        </p:nvSpPr>
        <p:spPr>
          <a:xfrm>
            <a:off x="13849502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4" name="Shape 423"/>
          <p:cNvSpPr/>
          <p:nvPr/>
        </p:nvSpPr>
        <p:spPr>
          <a:xfrm>
            <a:off x="14266469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5" name="Shape 424"/>
          <p:cNvSpPr/>
          <p:nvPr/>
        </p:nvSpPr>
        <p:spPr>
          <a:xfrm>
            <a:off x="14683435" y="7797089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6" name="Shape 425"/>
          <p:cNvSpPr/>
          <p:nvPr/>
        </p:nvSpPr>
        <p:spPr>
          <a:xfrm>
            <a:off x="15100402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7" name="Shape 426"/>
          <p:cNvSpPr/>
          <p:nvPr/>
        </p:nvSpPr>
        <p:spPr>
          <a:xfrm>
            <a:off x="15517368" y="7797089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8" name="Shape 427"/>
          <p:cNvSpPr/>
          <p:nvPr/>
        </p:nvSpPr>
        <p:spPr>
          <a:xfrm>
            <a:off x="15934334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9" name="Shape 428"/>
          <p:cNvSpPr/>
          <p:nvPr/>
        </p:nvSpPr>
        <p:spPr>
          <a:xfrm>
            <a:off x="16351301" y="7797089"/>
            <a:ext cx="400507" cy="286207"/>
          </a:xfrm>
          <a:prstGeom prst="rect">
            <a:avLst/>
          </a:prstGeom>
          <a:solidFill>
            <a:srgbClr val="F1DD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0" name="Shape 429"/>
          <p:cNvSpPr/>
          <p:nvPr/>
        </p:nvSpPr>
        <p:spPr>
          <a:xfrm>
            <a:off x="16768267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1" name="Shape 430"/>
          <p:cNvSpPr/>
          <p:nvPr/>
        </p:nvSpPr>
        <p:spPr>
          <a:xfrm>
            <a:off x="17185234" y="7797089"/>
            <a:ext cx="400507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2" name="Text 431"/>
          <p:cNvSpPr txBox="1"/>
          <p:nvPr/>
        </p:nvSpPr>
        <p:spPr>
          <a:xfrm>
            <a:off x="990295" y="8553298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READING</a:t>
            </a:r>
            <a:endParaRPr lang="en-US" sz="825" dirty="0"/>
          </a:p>
        </p:txBody>
      </p:sp>
      <p:sp>
        <p:nvSpPr>
          <p:cNvPr id="453" name="Text 432"/>
          <p:cNvSpPr txBox="1"/>
          <p:nvPr/>
        </p:nvSpPr>
        <p:spPr>
          <a:xfrm>
            <a:off x="990295" y="8781898"/>
            <a:ext cx="3620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 는 edge-heavy, B 는 body-cool</a:t>
            </a:r>
            <a:endParaRPr lang="en-US" sz="1350" dirty="0"/>
          </a:p>
        </p:txBody>
      </p:sp>
      <p:sp>
        <p:nvSpPr>
          <p:cNvPr id="454" name="Text 433"/>
          <p:cNvSpPr txBox="1"/>
          <p:nvPr/>
        </p:nvSpPr>
        <p:spPr>
          <a:xfrm>
            <a:off x="990295" y="9115654"/>
            <a:ext cx="3620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Slurry A wafer 는 edge에서 양의 편향, Slurry B 는 거의 중앙 음의 편향 — chemistry selector 가 영향.</a:t>
            </a:r>
            <a:endParaRPr lang="en-US" sz="975" dirty="0"/>
          </a:p>
        </p:txBody>
      </p:sp>
      <p:sp>
        <p:nvSpPr>
          <p:cNvPr id="455" name="Text 434"/>
          <p:cNvSpPr txBox="1"/>
          <p:nvPr/>
        </p:nvSpPr>
        <p:spPr>
          <a:xfrm>
            <a:off x="4953305" y="8553298"/>
            <a:ext cx="2286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· AVG 3σ%</a:t>
            </a:r>
            <a:endParaRPr lang="en-US" sz="825" dirty="0"/>
          </a:p>
        </p:txBody>
      </p:sp>
      <p:sp>
        <p:nvSpPr>
          <p:cNvPr id="456" name="Text 435"/>
          <p:cNvSpPr txBox="1"/>
          <p:nvPr/>
        </p:nvSpPr>
        <p:spPr>
          <a:xfrm>
            <a:off x="4953305" y="8762695"/>
            <a:ext cx="2286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5.80</a:t>
            </a:r>
            <a:pPr algn="l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2850" dirty="0"/>
          </a:p>
        </p:txBody>
      </p:sp>
      <p:sp>
        <p:nvSpPr>
          <p:cNvPr id="457" name="Text 436"/>
          <p:cNvSpPr txBox="1"/>
          <p:nvPr/>
        </p:nvSpPr>
        <p:spPr>
          <a:xfrm>
            <a:off x="4953305" y="9296705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n=3</a:t>
            </a:r>
            <a:endParaRPr lang="en-US" sz="975" dirty="0"/>
          </a:p>
        </p:txBody>
      </p:sp>
      <p:sp>
        <p:nvSpPr>
          <p:cNvPr id="458" name="Text 437"/>
          <p:cNvSpPr txBox="1"/>
          <p:nvPr/>
        </p:nvSpPr>
        <p:spPr>
          <a:xfrm>
            <a:off x="7715707" y="8553298"/>
            <a:ext cx="2286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 · AVG 3σ%</a:t>
            </a:r>
            <a:endParaRPr lang="en-US" sz="825" dirty="0"/>
          </a:p>
        </p:txBody>
      </p:sp>
      <p:sp>
        <p:nvSpPr>
          <p:cNvPr id="459" name="Text 438"/>
          <p:cNvSpPr txBox="1"/>
          <p:nvPr/>
        </p:nvSpPr>
        <p:spPr>
          <a:xfrm>
            <a:off x="7715707" y="8762695"/>
            <a:ext cx="2286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4.40</a:t>
            </a:r>
            <a:pPr algn="l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2850" dirty="0"/>
          </a:p>
        </p:txBody>
      </p:sp>
      <p:sp>
        <p:nvSpPr>
          <p:cNvPr id="460" name="Text 439"/>
          <p:cNvSpPr txBox="1"/>
          <p:nvPr/>
        </p:nvSpPr>
        <p:spPr>
          <a:xfrm>
            <a:off x="7715707" y="9296705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n=3</a:t>
            </a:r>
            <a:endParaRPr lang="en-US" sz="975" dirty="0"/>
          </a:p>
        </p:txBody>
      </p:sp>
      <p:sp>
        <p:nvSpPr>
          <p:cNvPr id="461" name="Text 440"/>
          <p:cNvSpPr txBox="1"/>
          <p:nvPr/>
        </p:nvSpPr>
        <p:spPr>
          <a:xfrm>
            <a:off x="10477195" y="8553298"/>
            <a:ext cx="2286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Δ vs A</a:t>
            </a:r>
            <a:endParaRPr lang="en-US" sz="825" dirty="0"/>
          </a:p>
        </p:txBody>
      </p:sp>
      <p:sp>
        <p:nvSpPr>
          <p:cNvPr id="462" name="Text 441"/>
          <p:cNvSpPr txBox="1"/>
          <p:nvPr/>
        </p:nvSpPr>
        <p:spPr>
          <a:xfrm>
            <a:off x="10477195" y="8762695"/>
            <a:ext cx="2286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−24</a:t>
            </a:r>
            <a:pPr algn="l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2850" dirty="0"/>
          </a:p>
        </p:txBody>
      </p:sp>
      <p:sp>
        <p:nvSpPr>
          <p:cNvPr id="463" name="Text 442"/>
          <p:cNvSpPr txBox="1"/>
          <p:nvPr/>
        </p:nvSpPr>
        <p:spPr>
          <a:xfrm>
            <a:off x="10477195" y="9296705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uniformity</a:t>
            </a:r>
            <a:endParaRPr lang="en-US" sz="975" dirty="0"/>
          </a:p>
        </p:txBody>
      </p:sp>
      <p:sp>
        <p:nvSpPr>
          <p:cNvPr id="464" name="Text 443"/>
          <p:cNvSpPr txBox="1"/>
          <p:nvPr/>
        </p:nvSpPr>
        <p:spPr>
          <a:xfrm>
            <a:off x="13239598" y="8553298"/>
            <a:ext cx="4000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 · 3σ%</a:t>
            </a:r>
            <a:endParaRPr lang="en-US" sz="825" dirty="0"/>
          </a:p>
        </p:txBody>
      </p:sp>
      <p:sp>
        <p:nvSpPr>
          <p:cNvPr id="465" name="Text 444"/>
          <p:cNvSpPr txBox="1"/>
          <p:nvPr/>
        </p:nvSpPr>
        <p:spPr>
          <a:xfrm>
            <a:off x="13239598" y="8762695"/>
            <a:ext cx="40005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≤ 5.0%</a:t>
            </a:r>
            <a:endParaRPr lang="en-US" sz="1800" dirty="0"/>
          </a:p>
        </p:txBody>
      </p:sp>
      <p:sp>
        <p:nvSpPr>
          <p:cNvPr id="466" name="Text 445"/>
          <p:cNvSpPr txBox="1"/>
          <p:nvPr/>
        </p:nvSpPr>
        <p:spPr>
          <a:xfrm>
            <a:off x="13239598" y="9153144"/>
            <a:ext cx="4000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 1/3 pass · B 3/3 pass</a:t>
            </a:r>
            <a:endParaRPr lang="en-US" sz="975" dirty="0"/>
          </a:p>
        </p:txBody>
      </p:sp>
      <p:sp>
        <p:nvSpPr>
          <p:cNvPr id="467" name="Text 446"/>
          <p:cNvSpPr txBox="1"/>
          <p:nvPr/>
        </p:nvSpPr>
        <p:spPr>
          <a:xfrm>
            <a:off x="761695" y="10019995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※ 내부 테스트용 더미(가상) 데이터 · wafer map 은 9×7 = 63 cell illustrative grid, AASI 사이트 기준.</a:t>
            </a:r>
            <a:endParaRPr lang="en-US" sz="975" dirty="0"/>
          </a:p>
        </p:txBody>
      </p:sp>
      <p:sp>
        <p:nvSpPr>
          <p:cNvPr id="468" name="Text 447"/>
          <p:cNvSpPr txBox="1"/>
          <p:nvPr/>
        </p:nvSpPr>
        <p:spPr>
          <a:xfrm>
            <a:off x="16573500" y="10019995"/>
            <a:ext cx="952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06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1695" y="1904695"/>
            <a:ext cx="8382305" cy="628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430207" y="1904695"/>
            <a:ext cx="8096098" cy="628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9b95c5d50ae7476a19b5f5fe31149d9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333695" y="5790895"/>
            <a:ext cx="3619195" cy="1524305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696298" y="2933395"/>
            <a:ext cx="7524598" cy="381305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5a8433ab4d8c73354fa39a724ea7a584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696298" y="3733495"/>
            <a:ext cx="7524598" cy="9144"/>
          </a:xfrm>
          <a:prstGeom prst="rect">
            <a:avLst/>
          </a:prstGeom>
        </p:spPr>
      </p:pic>
      <p:pic>
        <p:nvPicPr>
          <p:cNvPr id="9" name="Image 2" descr="gen-dedup-5a8433ab4d8c73354fa39a724ea7a584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9696298" y="4153205"/>
            <a:ext cx="7524598" cy="9144"/>
          </a:xfrm>
          <a:prstGeom prst="rect">
            <a:avLst/>
          </a:prstGeom>
        </p:spPr>
      </p:pic>
      <p:pic>
        <p:nvPicPr>
          <p:cNvPr id="10" name="Image 3" descr="gen-dedup-5a8433ab4d8c73354fa39a724ea7a584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9696298" y="4572000"/>
            <a:ext cx="7524598" cy="9144"/>
          </a:xfrm>
          <a:prstGeom prst="rect">
            <a:avLst/>
          </a:prstGeom>
        </p:spPr>
      </p:pic>
      <p:pic>
        <p:nvPicPr>
          <p:cNvPr id="11" name="Image 4" descr="gen-dedup-5a8433ab4d8c73354fa39a724ea7a584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9696298" y="4990795"/>
            <a:ext cx="7524598" cy="9144"/>
          </a:xfrm>
          <a:prstGeom prst="rect">
            <a:avLst/>
          </a:prstGeom>
        </p:spPr>
      </p:pic>
      <p:pic>
        <p:nvPicPr>
          <p:cNvPr id="12" name="Image 5" descr="gen-dedup-5a8433ab4d8c73354fa39a724ea7a584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9696298" y="5410505"/>
            <a:ext cx="7524598" cy="9144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9696298" y="6077102"/>
            <a:ext cx="7524598" cy="19046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6" descr="gen-dedup-49b05ce81efaa71a290726a9a52cf7ec.png">    </p:cNvPr>
          <p:cNvPicPr>
            <a:picLocks noChangeAspect="1"/>
          </p:cNvPicPr>
          <p:nvPr/>
        </p:nvPicPr>
        <p:blipFill>
          <a:blip r:embed="rId7"/>
          <a:srcRect l="0" r="0" t="-2083" b="-2083"/>
          <a:stretch/>
        </p:blipFill>
        <p:spPr>
          <a:xfrm>
            <a:off x="12439498" y="6400800"/>
            <a:ext cx="9144" cy="1257300"/>
          </a:xfrm>
          <a:prstGeom prst="rect">
            <a:avLst/>
          </a:prstGeom>
        </p:spPr>
      </p:pic>
      <p:pic>
        <p:nvPicPr>
          <p:cNvPr id="15" name="Image 7" descr="gen-dedup-49b05ce81efaa71a290726a9a52cf7ec.png">    </p:cNvPr>
          <p:cNvPicPr>
            <a:picLocks noChangeAspect="1"/>
          </p:cNvPicPr>
          <p:nvPr/>
        </p:nvPicPr>
        <p:blipFill>
          <a:blip r:embed="rId8"/>
          <a:srcRect l="0" r="0" t="-2083" b="-2083"/>
          <a:stretch/>
        </p:blipFill>
        <p:spPr>
          <a:xfrm>
            <a:off x="14802307" y="6400800"/>
            <a:ext cx="9144" cy="1257300"/>
          </a:xfrm>
          <a:prstGeom prst="rect">
            <a:avLst/>
          </a:prstGeom>
        </p:spPr>
      </p:pic>
      <p:sp>
        <p:nvSpPr>
          <p:cNvPr id="16" name="Text 5"/>
          <p:cNvSpPr txBox="1"/>
          <p:nvPr/>
        </p:nvSpPr>
        <p:spPr>
          <a:xfrm>
            <a:off x="761695" y="533095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DEFECT &amp; ELECTRICAL</a:t>
            </a:r>
            <a:endParaRPr lang="en-US" sz="975" dirty="0"/>
          </a:p>
        </p:txBody>
      </p:sp>
      <p:sp>
        <p:nvSpPr>
          <p:cNvPr id="17" name="Text 6"/>
          <p:cNvSpPr txBox="1"/>
          <p:nvPr/>
        </p:nvSpPr>
        <p:spPr>
          <a:xfrm>
            <a:off x="761695" y="790956"/>
            <a:ext cx="1195578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spc="-29" kern="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Dishing / Erosion table, 그리고 </a:t>
            </a:r>
            <a:pPr algn="l" indent="0" marL="0">
              <a:buNone/>
            </a:pPr>
            <a:r>
              <a:rPr lang="en-US" sz="2850" b="1" spc="-29" kern="0" dirty="0">
                <a:solidFill>
                  <a:srgbClr val="0E7C7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Rs · Rc · via-R</a:t>
            </a:r>
            <a:pPr algn="l" indent="0" marL="0">
              <a:buNone/>
            </a:pPr>
            <a:r>
              <a:rPr lang="en-US" sz="2850" b="1" spc="-29" kern="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전기특성</a:t>
            </a:r>
            <a:endParaRPr lang="en-US" sz="2850" dirty="0"/>
          </a:p>
        </p:txBody>
      </p:sp>
      <p:sp>
        <p:nvSpPr>
          <p:cNvPr id="18" name="Text 7"/>
          <p:cNvSpPr txBox="1"/>
          <p:nvPr/>
        </p:nvSpPr>
        <p:spPr>
          <a:xfrm>
            <a:off x="761695" y="1447495"/>
            <a:ext cx="11430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dishtable은 Cu 200µm line + 50% dense array 두 site, 전기특성은 동일 wafer에서 측정.</a:t>
            </a:r>
            <a:endParaRPr lang="en-US" sz="1275" dirty="0"/>
          </a:p>
        </p:txBody>
      </p:sp>
      <p:sp>
        <p:nvSpPr>
          <p:cNvPr id="19" name="Text 8"/>
          <p:cNvSpPr txBox="1"/>
          <p:nvPr/>
        </p:nvSpPr>
        <p:spPr>
          <a:xfrm>
            <a:off x="14287500" y="609905"/>
            <a:ext cx="3238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JUDGE</a:t>
            </a:r>
            <a:endParaRPr lang="en-US" sz="825" dirty="0"/>
          </a:p>
        </p:txBody>
      </p:sp>
      <p:sp>
        <p:nvSpPr>
          <p:cNvPr id="20" name="Text 9"/>
          <p:cNvSpPr txBox="1"/>
          <p:nvPr/>
        </p:nvSpPr>
        <p:spPr>
          <a:xfrm>
            <a:off x="14287500" y="813816"/>
            <a:ext cx="3238805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디싱/에로전은 </a:t>
            </a:r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0478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낮을수록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좋음.</a:t>
            </a:r>
            <a:pPr algn="l" indent="0" marL="0">
              <a:lnSpc>
                <a:spcPts val="1560"/>
              </a:lnSpc>
              <a:buNone/>
            </a:pP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Rs / Rc / via-R 도 </a:t>
            </a:r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0478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낮을수록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좋음.</a:t>
            </a:r>
            <a:endParaRPr lang="en-US" sz="975" dirty="0"/>
          </a:p>
        </p:txBody>
      </p:sp>
      <p:sp>
        <p:nvSpPr>
          <p:cNvPr id="21" name="Text 10"/>
          <p:cNvSpPr txBox="1"/>
          <p:nvPr/>
        </p:nvSpPr>
        <p:spPr>
          <a:xfrm>
            <a:off x="1028700" y="2115007"/>
            <a:ext cx="4572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· DEFECT GEOMETRY</a:t>
            </a:r>
            <a:endParaRPr lang="en-US" sz="825" dirty="0"/>
          </a:p>
        </p:txBody>
      </p:sp>
      <p:sp>
        <p:nvSpPr>
          <p:cNvPr id="22" name="Text 11"/>
          <p:cNvSpPr txBox="1"/>
          <p:nvPr/>
        </p:nvSpPr>
        <p:spPr>
          <a:xfrm>
            <a:off x="1028700" y="2343607"/>
            <a:ext cx="4572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Dishing &amp; Erosion (nm)</a:t>
            </a:r>
            <a:endParaRPr lang="en-US" sz="2100" dirty="0"/>
          </a:p>
        </p:txBody>
      </p:sp>
      <p:sp>
        <p:nvSpPr>
          <p:cNvPr id="23" name="Text 12"/>
          <p:cNvSpPr txBox="1"/>
          <p:nvPr/>
        </p:nvSpPr>
        <p:spPr>
          <a:xfrm>
            <a:off x="1028700" y="2800807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200µm wide Cu line · 50% density dielectric array</a:t>
            </a:r>
            <a:endParaRPr lang="en-US" sz="1050" dirty="0"/>
          </a:p>
        </p:txBody>
      </p:sp>
      <p:sp>
        <p:nvSpPr>
          <p:cNvPr id="24" name="Text 13"/>
          <p:cNvSpPr txBox="1"/>
          <p:nvPr/>
        </p:nvSpPr>
        <p:spPr>
          <a:xfrm>
            <a:off x="7239305" y="2115007"/>
            <a:ext cx="16386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</a:t>
            </a:r>
            <a:endParaRPr lang="en-US" sz="825" dirty="0"/>
          </a:p>
        </p:txBody>
      </p:sp>
      <p:sp>
        <p:nvSpPr>
          <p:cNvPr id="25" name="Text 14"/>
          <p:cNvSpPr txBox="1"/>
          <p:nvPr/>
        </p:nvSpPr>
        <p:spPr>
          <a:xfrm>
            <a:off x="7239305" y="2305202"/>
            <a:ext cx="16386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 ≤ 30 nm</a:t>
            </a:r>
            <a:endParaRPr lang="en-US" sz="1050" dirty="0"/>
          </a:p>
        </p:txBody>
      </p:sp>
      <p:sp>
        <p:nvSpPr>
          <p:cNvPr id="26" name="Text 15"/>
          <p:cNvSpPr txBox="1"/>
          <p:nvPr/>
        </p:nvSpPr>
        <p:spPr>
          <a:xfrm>
            <a:off x="7239305" y="2533802"/>
            <a:ext cx="16386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 ≤ 14 nm</a:t>
            </a:r>
            <a:endParaRPr lang="en-US" sz="1050" dirty="0"/>
          </a:p>
        </p:txBody>
      </p:sp>
      <p:sp>
        <p:nvSpPr>
          <p:cNvPr id="27" name="Text 16"/>
          <p:cNvSpPr txBox="1"/>
          <p:nvPr/>
        </p:nvSpPr>
        <p:spPr>
          <a:xfrm>
            <a:off x="1028700" y="2857500"/>
            <a:ext cx="5715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35" kern="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Dishing · 200µm Cu line</a:t>
            </a:r>
            <a:endParaRPr lang="en-US" sz="900" dirty="0"/>
          </a:p>
        </p:txBody>
      </p:sp>
      <p:sp>
        <p:nvSpPr>
          <p:cNvPr id="28" name="Text 17"/>
          <p:cNvSpPr txBox="1"/>
          <p:nvPr/>
        </p:nvSpPr>
        <p:spPr>
          <a:xfrm>
            <a:off x="1028700" y="3228746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 · A</a:t>
            </a:r>
            <a:endParaRPr lang="en-US" sz="975" dirty="0"/>
          </a:p>
        </p:txBody>
      </p:sp>
      <p:sp>
        <p:nvSpPr>
          <p:cNvPr id="29" name="Text 18"/>
          <p:cNvSpPr txBox="1"/>
          <p:nvPr/>
        </p:nvSpPr>
        <p:spPr>
          <a:xfrm>
            <a:off x="7981798" y="3200400"/>
            <a:ext cx="8577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28.4 nm</a:t>
            </a:r>
            <a:endParaRPr lang="en-US" sz="1350" dirty="0"/>
          </a:p>
        </p:txBody>
      </p:sp>
      <p:sp>
        <p:nvSpPr>
          <p:cNvPr id="30" name="Shape 19"/>
          <p:cNvSpPr/>
          <p:nvPr/>
        </p:nvSpPr>
        <p:spPr>
          <a:xfrm>
            <a:off x="1676095" y="3204972"/>
            <a:ext cx="6305702" cy="20939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0"/>
          <p:cNvSpPr/>
          <p:nvPr/>
        </p:nvSpPr>
        <p:spPr>
          <a:xfrm>
            <a:off x="1676095" y="3204972"/>
            <a:ext cx="2704795" cy="209398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8" descr="gen-dedup-a6e206552864b34cc6121b162777ac7c.png">    </p:cNvPr>
          <p:cNvPicPr>
            <a:picLocks noChangeAspect="1"/>
          </p:cNvPicPr>
          <p:nvPr/>
        </p:nvPicPr>
        <p:blipFill>
          <a:blip r:embed="rId9"/>
          <a:srcRect l="-343" r="-343" t="0" b="0"/>
          <a:stretch/>
        </p:blipFill>
        <p:spPr>
          <a:xfrm>
            <a:off x="4533595" y="3176626"/>
            <a:ext cx="19202" cy="267005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1028700" y="3648456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 · A</a:t>
            </a:r>
            <a:endParaRPr lang="en-US" sz="975" dirty="0"/>
          </a:p>
        </p:txBody>
      </p:sp>
      <p:sp>
        <p:nvSpPr>
          <p:cNvPr id="34" name="Text 22"/>
          <p:cNvSpPr txBox="1"/>
          <p:nvPr/>
        </p:nvSpPr>
        <p:spPr>
          <a:xfrm>
            <a:off x="7981798" y="3619195"/>
            <a:ext cx="8577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32.1 nm</a:t>
            </a:r>
            <a:endParaRPr lang="en-US" sz="1350" dirty="0"/>
          </a:p>
        </p:txBody>
      </p:sp>
      <p:sp>
        <p:nvSpPr>
          <p:cNvPr id="35" name="Shape 23"/>
          <p:cNvSpPr/>
          <p:nvPr/>
        </p:nvSpPr>
        <p:spPr>
          <a:xfrm>
            <a:off x="1676095" y="3624682"/>
            <a:ext cx="6305702" cy="20939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24"/>
          <p:cNvSpPr/>
          <p:nvPr/>
        </p:nvSpPr>
        <p:spPr>
          <a:xfrm>
            <a:off x="1676095" y="3624682"/>
            <a:ext cx="3057754" cy="209398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9" descr="gen-dedup-a6e206552864b34cc6121b162777ac7c.png">    </p:cNvPr>
          <p:cNvPicPr>
            <a:picLocks noChangeAspect="1"/>
          </p:cNvPicPr>
          <p:nvPr/>
        </p:nvPicPr>
        <p:blipFill>
          <a:blip r:embed="rId10"/>
          <a:srcRect l="-343" r="-343" t="0" b="0"/>
          <a:stretch/>
        </p:blipFill>
        <p:spPr>
          <a:xfrm>
            <a:off x="4533595" y="3595421"/>
            <a:ext cx="19202" cy="267005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1028700" y="4067251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 · A</a:t>
            </a:r>
            <a:endParaRPr lang="en-US" sz="975" dirty="0"/>
          </a:p>
        </p:txBody>
      </p:sp>
      <p:sp>
        <p:nvSpPr>
          <p:cNvPr id="39" name="Text 26"/>
          <p:cNvSpPr txBox="1"/>
          <p:nvPr/>
        </p:nvSpPr>
        <p:spPr>
          <a:xfrm>
            <a:off x="7981798" y="4038905"/>
            <a:ext cx="8577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30.6 nm</a:t>
            </a:r>
            <a:endParaRPr lang="en-US" sz="1350" dirty="0"/>
          </a:p>
        </p:txBody>
      </p:sp>
      <p:sp>
        <p:nvSpPr>
          <p:cNvPr id="40" name="Shape 27"/>
          <p:cNvSpPr/>
          <p:nvPr/>
        </p:nvSpPr>
        <p:spPr>
          <a:xfrm>
            <a:off x="1676095" y="4043477"/>
            <a:ext cx="6305702" cy="20939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28"/>
          <p:cNvSpPr/>
          <p:nvPr/>
        </p:nvSpPr>
        <p:spPr>
          <a:xfrm>
            <a:off x="1676095" y="4043477"/>
            <a:ext cx="2915107" cy="209398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10" descr="gen-dedup-a6e206552864b34cc6121b162777ac7c.png">    </p:cNvPr>
          <p:cNvPicPr>
            <a:picLocks noChangeAspect="1"/>
          </p:cNvPicPr>
          <p:nvPr/>
        </p:nvPicPr>
        <p:blipFill>
          <a:blip r:embed="rId11"/>
          <a:srcRect l="-343" r="-343" t="0" b="0"/>
          <a:stretch/>
        </p:blipFill>
        <p:spPr>
          <a:xfrm>
            <a:off x="4533595" y="4015130"/>
            <a:ext cx="19202" cy="2670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28700" y="4486046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 · B</a:t>
            </a:r>
            <a:endParaRPr lang="en-US" sz="975" dirty="0"/>
          </a:p>
        </p:txBody>
      </p:sp>
      <p:sp>
        <p:nvSpPr>
          <p:cNvPr id="44" name="Text 30"/>
          <p:cNvSpPr txBox="1"/>
          <p:nvPr/>
        </p:nvSpPr>
        <p:spPr>
          <a:xfrm>
            <a:off x="7981798" y="4457700"/>
            <a:ext cx="8577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24.7 nm</a:t>
            </a:r>
            <a:endParaRPr lang="en-US" sz="1350" dirty="0"/>
          </a:p>
        </p:txBody>
      </p:sp>
      <p:sp>
        <p:nvSpPr>
          <p:cNvPr id="45" name="Shape 31"/>
          <p:cNvSpPr/>
          <p:nvPr/>
        </p:nvSpPr>
        <p:spPr>
          <a:xfrm>
            <a:off x="1676095" y="4462272"/>
            <a:ext cx="6305702" cy="20939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2"/>
          <p:cNvSpPr/>
          <p:nvPr/>
        </p:nvSpPr>
        <p:spPr>
          <a:xfrm>
            <a:off x="1676095" y="4462272"/>
            <a:ext cx="2352751" cy="209398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3"/>
          <p:cNvSpPr txBox="1"/>
          <p:nvPr/>
        </p:nvSpPr>
        <p:spPr>
          <a:xfrm>
            <a:off x="1028700" y="4905756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 · B</a:t>
            </a:r>
            <a:endParaRPr lang="en-US" sz="975" dirty="0"/>
          </a:p>
        </p:txBody>
      </p:sp>
      <p:sp>
        <p:nvSpPr>
          <p:cNvPr id="48" name="Text 34"/>
          <p:cNvSpPr txBox="1"/>
          <p:nvPr/>
        </p:nvSpPr>
        <p:spPr>
          <a:xfrm>
            <a:off x="7981798" y="4876495"/>
            <a:ext cx="8577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26.0 nm</a:t>
            </a:r>
            <a:endParaRPr lang="en-US" sz="1350" dirty="0"/>
          </a:p>
        </p:txBody>
      </p:sp>
      <p:sp>
        <p:nvSpPr>
          <p:cNvPr id="49" name="Shape 35"/>
          <p:cNvSpPr/>
          <p:nvPr/>
        </p:nvSpPr>
        <p:spPr>
          <a:xfrm>
            <a:off x="1676095" y="4881982"/>
            <a:ext cx="6305702" cy="20939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36"/>
          <p:cNvSpPr/>
          <p:nvPr/>
        </p:nvSpPr>
        <p:spPr>
          <a:xfrm>
            <a:off x="1676095" y="4881982"/>
            <a:ext cx="2476195" cy="209398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7"/>
          <p:cNvSpPr txBox="1"/>
          <p:nvPr/>
        </p:nvSpPr>
        <p:spPr>
          <a:xfrm>
            <a:off x="1028700" y="5324551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 · B</a:t>
            </a:r>
            <a:endParaRPr lang="en-US" sz="975" dirty="0"/>
          </a:p>
        </p:txBody>
      </p:sp>
      <p:sp>
        <p:nvSpPr>
          <p:cNvPr id="52" name="Text 38"/>
          <p:cNvSpPr txBox="1"/>
          <p:nvPr/>
        </p:nvSpPr>
        <p:spPr>
          <a:xfrm>
            <a:off x="7981798" y="5296205"/>
            <a:ext cx="8577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25.3 nm</a:t>
            </a:r>
            <a:endParaRPr lang="en-US" sz="1350" dirty="0"/>
          </a:p>
        </p:txBody>
      </p:sp>
      <p:sp>
        <p:nvSpPr>
          <p:cNvPr id="53" name="Shape 39"/>
          <p:cNvSpPr/>
          <p:nvPr/>
        </p:nvSpPr>
        <p:spPr>
          <a:xfrm>
            <a:off x="1676095" y="5300777"/>
            <a:ext cx="6305702" cy="20939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>
            <a:off x="1676095" y="5300777"/>
            <a:ext cx="2409444" cy="209398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1"/>
          <p:cNvSpPr txBox="1"/>
          <p:nvPr/>
        </p:nvSpPr>
        <p:spPr>
          <a:xfrm>
            <a:off x="1028700" y="5790895"/>
            <a:ext cx="5715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35" kern="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Erosion · 50% dense array</a:t>
            </a:r>
            <a:endParaRPr lang="en-US" sz="900" dirty="0"/>
          </a:p>
        </p:txBody>
      </p:sp>
      <p:sp>
        <p:nvSpPr>
          <p:cNvPr id="56" name="Text 42"/>
          <p:cNvSpPr txBox="1"/>
          <p:nvPr/>
        </p:nvSpPr>
        <p:spPr>
          <a:xfrm>
            <a:off x="1028700" y="6152998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avg</a:t>
            </a:r>
            <a:endParaRPr lang="en-US" sz="975" dirty="0"/>
          </a:p>
        </p:txBody>
      </p:sp>
      <p:sp>
        <p:nvSpPr>
          <p:cNvPr id="57" name="Text 43"/>
          <p:cNvSpPr txBox="1"/>
          <p:nvPr/>
        </p:nvSpPr>
        <p:spPr>
          <a:xfrm>
            <a:off x="3886200" y="6133795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15.4</a:t>
            </a:r>
            <a:endParaRPr lang="en-US" sz="1200" dirty="0"/>
          </a:p>
        </p:txBody>
      </p:sp>
      <p:sp>
        <p:nvSpPr>
          <p:cNvPr id="58" name="Shape 44"/>
          <p:cNvSpPr/>
          <p:nvPr/>
        </p:nvSpPr>
        <p:spPr>
          <a:xfrm>
            <a:off x="1676095" y="6148426"/>
            <a:ext cx="2210105" cy="171907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45"/>
          <p:cNvSpPr/>
          <p:nvPr/>
        </p:nvSpPr>
        <p:spPr>
          <a:xfrm>
            <a:off x="1676095" y="6148426"/>
            <a:ext cx="1466698" cy="171907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11" descr="gen-dedup-dc6325037a70a8d7a37eddca9dc85002.png">    </p:cNvPr>
          <p:cNvPicPr>
            <a:picLocks noChangeAspect="1"/>
          </p:cNvPicPr>
          <p:nvPr/>
        </p:nvPicPr>
        <p:blipFill>
          <a:blip r:embed="rId12"/>
          <a:srcRect l="-400" r="-400" t="0" b="0"/>
          <a:stretch/>
        </p:blipFill>
        <p:spPr>
          <a:xfrm>
            <a:off x="3010205" y="6120079"/>
            <a:ext cx="19202" cy="228600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1028700" y="6572707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 avg</a:t>
            </a:r>
            <a:endParaRPr lang="en-US" sz="975" dirty="0"/>
          </a:p>
        </p:txBody>
      </p:sp>
      <p:sp>
        <p:nvSpPr>
          <p:cNvPr id="62" name="Text 47"/>
          <p:cNvSpPr txBox="1"/>
          <p:nvPr/>
        </p:nvSpPr>
        <p:spPr>
          <a:xfrm>
            <a:off x="3886200" y="6553505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12.6</a:t>
            </a:r>
            <a:endParaRPr lang="en-US" sz="1200" dirty="0"/>
          </a:p>
        </p:txBody>
      </p:sp>
      <p:sp>
        <p:nvSpPr>
          <p:cNvPr id="63" name="Shape 48"/>
          <p:cNvSpPr/>
          <p:nvPr/>
        </p:nvSpPr>
        <p:spPr>
          <a:xfrm>
            <a:off x="1676095" y="6567221"/>
            <a:ext cx="2210105" cy="171907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49"/>
          <p:cNvSpPr/>
          <p:nvPr/>
        </p:nvSpPr>
        <p:spPr>
          <a:xfrm>
            <a:off x="1676095" y="6567221"/>
            <a:ext cx="1200607" cy="171907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50"/>
          <p:cNvSpPr txBox="1"/>
          <p:nvPr/>
        </p:nvSpPr>
        <p:spPr>
          <a:xfrm>
            <a:off x="5562295" y="5982005"/>
            <a:ext cx="3238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DISHING / EROSION</a:t>
            </a:r>
            <a:endParaRPr lang="en-US" sz="825" dirty="0"/>
          </a:p>
        </p:txBody>
      </p:sp>
      <p:sp>
        <p:nvSpPr>
          <p:cNvPr id="66" name="Text 51"/>
          <p:cNvSpPr txBox="1"/>
          <p:nvPr/>
        </p:nvSpPr>
        <p:spPr>
          <a:xfrm>
            <a:off x="5562295" y="6230722"/>
            <a:ext cx="3238805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 3/3 wafer, spec 초과</a:t>
            </a:r>
            <a:pPr algn="l" indent="0" marL="0">
              <a:lnSpc>
                <a:spcPts val="1890"/>
              </a:lnSpc>
              <a:buNone/>
            </a:pP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 3/3 wafer, spec 통과</a:t>
            </a:r>
            <a:endParaRPr lang="en-US" sz="1350" dirty="0"/>
          </a:p>
        </p:txBody>
      </p:sp>
      <p:sp>
        <p:nvSpPr>
          <p:cNvPr id="67" name="Text 52"/>
          <p:cNvSpPr txBox="1"/>
          <p:nvPr/>
        </p:nvSpPr>
        <p:spPr>
          <a:xfrm>
            <a:off x="5562295" y="6861658"/>
            <a:ext cx="32388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더 보수적인 polish profile 이 dishing/erosion 모두 ±15% 영역 안쪽.</a:t>
            </a:r>
            <a:endParaRPr lang="en-US" sz="975" dirty="0"/>
          </a:p>
        </p:txBody>
      </p:sp>
      <p:sp>
        <p:nvSpPr>
          <p:cNvPr id="68" name="Text 53"/>
          <p:cNvSpPr txBox="1"/>
          <p:nvPr/>
        </p:nvSpPr>
        <p:spPr>
          <a:xfrm>
            <a:off x="9696298" y="2115007"/>
            <a:ext cx="5334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· ELECTRICAL</a:t>
            </a:r>
            <a:endParaRPr lang="en-US" sz="825" dirty="0"/>
          </a:p>
        </p:txBody>
      </p:sp>
      <p:sp>
        <p:nvSpPr>
          <p:cNvPr id="69" name="Text 54"/>
          <p:cNvSpPr txBox="1"/>
          <p:nvPr/>
        </p:nvSpPr>
        <p:spPr>
          <a:xfrm>
            <a:off x="9696298" y="2343607"/>
            <a:ext cx="5334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Rs · Rc · single via-R</a:t>
            </a:r>
            <a:endParaRPr lang="en-US" sz="2100" dirty="0"/>
          </a:p>
        </p:txBody>
      </p:sp>
      <p:sp>
        <p:nvSpPr>
          <p:cNvPr id="70" name="Text 55"/>
          <p:cNvSpPr txBox="1"/>
          <p:nvPr/>
        </p:nvSpPr>
        <p:spPr>
          <a:xfrm>
            <a:off x="9696298" y="2800807"/>
            <a:ext cx="5334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0.5µm line / M4-V3-M5 chain / single 0.9µm² via</a:t>
            </a:r>
            <a:endParaRPr lang="en-US" sz="1050" dirty="0"/>
          </a:p>
        </p:txBody>
      </p:sp>
      <p:sp>
        <p:nvSpPr>
          <p:cNvPr id="71" name="Text 56"/>
          <p:cNvSpPr txBox="1"/>
          <p:nvPr/>
        </p:nvSpPr>
        <p:spPr>
          <a:xfrm>
            <a:off x="9887407" y="3010205"/>
            <a:ext cx="1239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WAFER</a:t>
            </a:r>
            <a:endParaRPr lang="en-US" sz="825" dirty="0"/>
          </a:p>
        </p:txBody>
      </p:sp>
      <p:sp>
        <p:nvSpPr>
          <p:cNvPr id="72" name="Text 57"/>
          <p:cNvSpPr txBox="1"/>
          <p:nvPr/>
        </p:nvSpPr>
        <p:spPr>
          <a:xfrm>
            <a:off x="11201400" y="3010205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Rs · Ω/sq</a:t>
            </a:r>
            <a:endParaRPr lang="en-US" sz="825" dirty="0"/>
          </a:p>
        </p:txBody>
      </p:sp>
      <p:sp>
        <p:nvSpPr>
          <p:cNvPr id="73" name="Text 58"/>
          <p:cNvSpPr txBox="1"/>
          <p:nvPr/>
        </p:nvSpPr>
        <p:spPr>
          <a:xfrm>
            <a:off x="13334695" y="3010205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Rc · Ω·µm²</a:t>
            </a:r>
            <a:endParaRPr lang="en-US" sz="825" dirty="0"/>
          </a:p>
        </p:txBody>
      </p:sp>
      <p:sp>
        <p:nvSpPr>
          <p:cNvPr id="74" name="Text 59"/>
          <p:cNvSpPr txBox="1"/>
          <p:nvPr/>
        </p:nvSpPr>
        <p:spPr>
          <a:xfrm>
            <a:off x="15468905" y="3010205"/>
            <a:ext cx="17529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via R · Ω</a:t>
            </a:r>
            <a:endParaRPr lang="en-US" sz="825" dirty="0"/>
          </a:p>
        </p:txBody>
      </p:sp>
      <p:sp>
        <p:nvSpPr>
          <p:cNvPr id="75" name="Text 60"/>
          <p:cNvSpPr txBox="1"/>
          <p:nvPr/>
        </p:nvSpPr>
        <p:spPr>
          <a:xfrm>
            <a:off x="9696298" y="3429000"/>
            <a:ext cx="12390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 · A</a:t>
            </a:r>
            <a:endParaRPr lang="en-US" sz="1050" dirty="0"/>
          </a:p>
        </p:txBody>
      </p:sp>
      <p:sp>
        <p:nvSpPr>
          <p:cNvPr id="76" name="Text 61"/>
          <p:cNvSpPr txBox="1"/>
          <p:nvPr/>
        </p:nvSpPr>
        <p:spPr>
          <a:xfrm>
            <a:off x="11201400" y="3372307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0.084</a:t>
            </a:r>
            <a:endParaRPr lang="en-US" sz="1650" dirty="0"/>
          </a:p>
        </p:txBody>
      </p:sp>
      <p:sp>
        <p:nvSpPr>
          <p:cNvPr id="77" name="Text 62"/>
          <p:cNvSpPr txBox="1"/>
          <p:nvPr/>
        </p:nvSpPr>
        <p:spPr>
          <a:xfrm>
            <a:off x="13334695" y="3372307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4.7</a:t>
            </a:r>
            <a:endParaRPr lang="en-US" sz="1650" dirty="0"/>
          </a:p>
        </p:txBody>
      </p:sp>
      <p:sp>
        <p:nvSpPr>
          <p:cNvPr id="78" name="Text 63"/>
          <p:cNvSpPr txBox="1"/>
          <p:nvPr/>
        </p:nvSpPr>
        <p:spPr>
          <a:xfrm>
            <a:off x="15468905" y="3372307"/>
            <a:ext cx="17529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2.31</a:t>
            </a:r>
            <a:endParaRPr lang="en-US" sz="1650" dirty="0"/>
          </a:p>
        </p:txBody>
      </p:sp>
      <p:sp>
        <p:nvSpPr>
          <p:cNvPr id="79" name="Text 64"/>
          <p:cNvSpPr txBox="1"/>
          <p:nvPr/>
        </p:nvSpPr>
        <p:spPr>
          <a:xfrm>
            <a:off x="9696298" y="3847795"/>
            <a:ext cx="12390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 · A</a:t>
            </a:r>
            <a:endParaRPr lang="en-US" sz="1050" dirty="0"/>
          </a:p>
        </p:txBody>
      </p:sp>
      <p:sp>
        <p:nvSpPr>
          <p:cNvPr id="80" name="Text 65"/>
          <p:cNvSpPr txBox="1"/>
          <p:nvPr/>
        </p:nvSpPr>
        <p:spPr>
          <a:xfrm>
            <a:off x="11201400" y="3791102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0.085</a:t>
            </a:r>
            <a:endParaRPr lang="en-US" sz="1650" dirty="0"/>
          </a:p>
        </p:txBody>
      </p:sp>
      <p:sp>
        <p:nvSpPr>
          <p:cNvPr id="81" name="Text 66"/>
          <p:cNvSpPr txBox="1"/>
          <p:nvPr/>
        </p:nvSpPr>
        <p:spPr>
          <a:xfrm>
            <a:off x="13334695" y="3791102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4.8</a:t>
            </a:r>
            <a:endParaRPr lang="en-US" sz="1650" dirty="0"/>
          </a:p>
        </p:txBody>
      </p:sp>
      <p:sp>
        <p:nvSpPr>
          <p:cNvPr id="82" name="Text 67"/>
          <p:cNvSpPr txBox="1"/>
          <p:nvPr/>
        </p:nvSpPr>
        <p:spPr>
          <a:xfrm>
            <a:off x="15468905" y="3791102"/>
            <a:ext cx="17529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2.34</a:t>
            </a:r>
            <a:endParaRPr lang="en-US" sz="1650" dirty="0"/>
          </a:p>
        </p:txBody>
      </p:sp>
      <p:sp>
        <p:nvSpPr>
          <p:cNvPr id="83" name="Text 68"/>
          <p:cNvSpPr txBox="1"/>
          <p:nvPr/>
        </p:nvSpPr>
        <p:spPr>
          <a:xfrm>
            <a:off x="9696298" y="4267505"/>
            <a:ext cx="12390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 · A</a:t>
            </a:r>
            <a:endParaRPr lang="en-US" sz="1050" dirty="0"/>
          </a:p>
        </p:txBody>
      </p:sp>
      <p:sp>
        <p:nvSpPr>
          <p:cNvPr id="84" name="Text 69"/>
          <p:cNvSpPr txBox="1"/>
          <p:nvPr/>
        </p:nvSpPr>
        <p:spPr>
          <a:xfrm>
            <a:off x="11201400" y="42098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0.083</a:t>
            </a:r>
            <a:endParaRPr lang="en-US" sz="1650" dirty="0"/>
          </a:p>
        </p:txBody>
      </p:sp>
      <p:sp>
        <p:nvSpPr>
          <p:cNvPr id="85" name="Text 70"/>
          <p:cNvSpPr txBox="1"/>
          <p:nvPr/>
        </p:nvSpPr>
        <p:spPr>
          <a:xfrm>
            <a:off x="13334695" y="42098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4.6</a:t>
            </a:r>
            <a:endParaRPr lang="en-US" sz="1650" dirty="0"/>
          </a:p>
        </p:txBody>
      </p:sp>
      <p:sp>
        <p:nvSpPr>
          <p:cNvPr id="86" name="Text 71"/>
          <p:cNvSpPr txBox="1"/>
          <p:nvPr/>
        </p:nvSpPr>
        <p:spPr>
          <a:xfrm>
            <a:off x="15468905" y="4209898"/>
            <a:ext cx="17529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2.29</a:t>
            </a:r>
            <a:endParaRPr lang="en-US" sz="1650" dirty="0"/>
          </a:p>
        </p:txBody>
      </p:sp>
      <p:sp>
        <p:nvSpPr>
          <p:cNvPr id="87" name="Text 72"/>
          <p:cNvSpPr txBox="1"/>
          <p:nvPr/>
        </p:nvSpPr>
        <p:spPr>
          <a:xfrm>
            <a:off x="9696298" y="4686300"/>
            <a:ext cx="12390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 · B</a:t>
            </a:r>
            <a:endParaRPr lang="en-US" sz="1050" dirty="0"/>
          </a:p>
        </p:txBody>
      </p:sp>
      <p:sp>
        <p:nvSpPr>
          <p:cNvPr id="88" name="Text 73"/>
          <p:cNvSpPr txBox="1"/>
          <p:nvPr/>
        </p:nvSpPr>
        <p:spPr>
          <a:xfrm>
            <a:off x="11201400" y="4629607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0.082</a:t>
            </a:r>
            <a:endParaRPr lang="en-US" sz="1650" dirty="0"/>
          </a:p>
        </p:txBody>
      </p:sp>
      <p:sp>
        <p:nvSpPr>
          <p:cNvPr id="89" name="Text 74"/>
          <p:cNvSpPr txBox="1"/>
          <p:nvPr/>
        </p:nvSpPr>
        <p:spPr>
          <a:xfrm>
            <a:off x="13334695" y="4629607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4.5</a:t>
            </a:r>
            <a:endParaRPr lang="en-US" sz="1650" dirty="0"/>
          </a:p>
        </p:txBody>
      </p:sp>
      <p:sp>
        <p:nvSpPr>
          <p:cNvPr id="90" name="Text 75"/>
          <p:cNvSpPr txBox="1"/>
          <p:nvPr/>
        </p:nvSpPr>
        <p:spPr>
          <a:xfrm>
            <a:off x="15468905" y="4629607"/>
            <a:ext cx="17529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2.18</a:t>
            </a:r>
            <a:endParaRPr lang="en-US" sz="1650" dirty="0"/>
          </a:p>
        </p:txBody>
      </p:sp>
      <p:sp>
        <p:nvSpPr>
          <p:cNvPr id="91" name="Text 76"/>
          <p:cNvSpPr txBox="1"/>
          <p:nvPr/>
        </p:nvSpPr>
        <p:spPr>
          <a:xfrm>
            <a:off x="9696298" y="5105095"/>
            <a:ext cx="12390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 · B</a:t>
            </a:r>
            <a:endParaRPr lang="en-US" sz="1050" dirty="0"/>
          </a:p>
        </p:txBody>
      </p:sp>
      <p:sp>
        <p:nvSpPr>
          <p:cNvPr id="92" name="Text 77"/>
          <p:cNvSpPr txBox="1"/>
          <p:nvPr/>
        </p:nvSpPr>
        <p:spPr>
          <a:xfrm>
            <a:off x="11201400" y="5048402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0.081</a:t>
            </a:r>
            <a:endParaRPr lang="en-US" sz="1650" dirty="0"/>
          </a:p>
        </p:txBody>
      </p:sp>
      <p:sp>
        <p:nvSpPr>
          <p:cNvPr id="93" name="Text 78"/>
          <p:cNvSpPr txBox="1"/>
          <p:nvPr/>
        </p:nvSpPr>
        <p:spPr>
          <a:xfrm>
            <a:off x="13334695" y="5048402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</a:t>
            </a:r>
            <a:endParaRPr lang="en-US" sz="1650" dirty="0"/>
          </a:p>
        </p:txBody>
      </p:sp>
      <p:sp>
        <p:nvSpPr>
          <p:cNvPr id="94" name="Text 79"/>
          <p:cNvSpPr txBox="1"/>
          <p:nvPr/>
        </p:nvSpPr>
        <p:spPr>
          <a:xfrm>
            <a:off x="15468905" y="5048402"/>
            <a:ext cx="17529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2.15</a:t>
            </a:r>
            <a:endParaRPr lang="en-US" sz="1650" dirty="0"/>
          </a:p>
        </p:txBody>
      </p:sp>
      <p:sp>
        <p:nvSpPr>
          <p:cNvPr id="95" name="Text 80"/>
          <p:cNvSpPr txBox="1"/>
          <p:nvPr/>
        </p:nvSpPr>
        <p:spPr>
          <a:xfrm>
            <a:off x="9696298" y="5524805"/>
            <a:ext cx="12390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 · B</a:t>
            </a:r>
            <a:endParaRPr lang="en-US" sz="1050" dirty="0"/>
          </a:p>
        </p:txBody>
      </p:sp>
      <p:sp>
        <p:nvSpPr>
          <p:cNvPr id="96" name="Text 81"/>
          <p:cNvSpPr txBox="1"/>
          <p:nvPr/>
        </p:nvSpPr>
        <p:spPr>
          <a:xfrm>
            <a:off x="11201400" y="54671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0.082</a:t>
            </a:r>
            <a:endParaRPr lang="en-US" sz="1650" dirty="0"/>
          </a:p>
        </p:txBody>
      </p:sp>
      <p:sp>
        <p:nvSpPr>
          <p:cNvPr id="97" name="Text 82"/>
          <p:cNvSpPr txBox="1"/>
          <p:nvPr/>
        </p:nvSpPr>
        <p:spPr>
          <a:xfrm>
            <a:off x="13334695" y="54671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4.5</a:t>
            </a:r>
            <a:endParaRPr lang="en-US" sz="1650" dirty="0"/>
          </a:p>
        </p:txBody>
      </p:sp>
      <p:sp>
        <p:nvSpPr>
          <p:cNvPr id="98" name="Text 83"/>
          <p:cNvSpPr txBox="1"/>
          <p:nvPr/>
        </p:nvSpPr>
        <p:spPr>
          <a:xfrm>
            <a:off x="15468905" y="5467198"/>
            <a:ext cx="17529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2.20</a:t>
            </a:r>
            <a:endParaRPr lang="en-US" sz="1650" dirty="0"/>
          </a:p>
        </p:txBody>
      </p:sp>
      <p:sp>
        <p:nvSpPr>
          <p:cNvPr id="99" name="Text 84"/>
          <p:cNvSpPr txBox="1"/>
          <p:nvPr/>
        </p:nvSpPr>
        <p:spPr>
          <a:xfrm>
            <a:off x="9924898" y="6267298"/>
            <a:ext cx="2477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· AVG Rs</a:t>
            </a:r>
            <a:endParaRPr lang="en-US" sz="825" dirty="0"/>
          </a:p>
        </p:txBody>
      </p:sp>
      <p:sp>
        <p:nvSpPr>
          <p:cNvPr id="100" name="Text 85"/>
          <p:cNvSpPr txBox="1"/>
          <p:nvPr/>
        </p:nvSpPr>
        <p:spPr>
          <a:xfrm>
            <a:off x="9924898" y="6476695"/>
            <a:ext cx="24771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0.084</a:t>
            </a:r>
            <a:endParaRPr lang="en-US" sz="2400" dirty="0"/>
          </a:p>
        </p:txBody>
      </p:sp>
      <p:sp>
        <p:nvSpPr>
          <p:cNvPr id="101" name="Text 86"/>
          <p:cNvSpPr txBox="1"/>
          <p:nvPr/>
        </p:nvSpPr>
        <p:spPr>
          <a:xfrm>
            <a:off x="9924898" y="6943954"/>
            <a:ext cx="2477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Ω/sq (n=3)</a:t>
            </a:r>
            <a:endParaRPr lang="en-US" sz="900" dirty="0"/>
          </a:p>
        </p:txBody>
      </p:sp>
      <p:sp>
        <p:nvSpPr>
          <p:cNvPr id="102" name="Text 87"/>
          <p:cNvSpPr txBox="1"/>
          <p:nvPr/>
        </p:nvSpPr>
        <p:spPr>
          <a:xfrm>
            <a:off x="12668098" y="6267298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 · AVG Rs</a:t>
            </a:r>
            <a:endParaRPr lang="en-US" sz="825" dirty="0"/>
          </a:p>
        </p:txBody>
      </p:sp>
      <p:sp>
        <p:nvSpPr>
          <p:cNvPr id="103" name="Text 88"/>
          <p:cNvSpPr txBox="1"/>
          <p:nvPr/>
        </p:nvSpPr>
        <p:spPr>
          <a:xfrm>
            <a:off x="12668098" y="6476695"/>
            <a:ext cx="20958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0.082</a:t>
            </a:r>
            <a:endParaRPr lang="en-US" sz="2400" dirty="0"/>
          </a:p>
        </p:txBody>
      </p:sp>
      <p:sp>
        <p:nvSpPr>
          <p:cNvPr id="104" name="Text 89"/>
          <p:cNvSpPr txBox="1"/>
          <p:nvPr/>
        </p:nvSpPr>
        <p:spPr>
          <a:xfrm>
            <a:off x="12668098" y="6943954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Ω/sq · −2.4%</a:t>
            </a:r>
            <a:endParaRPr lang="en-US" sz="900" dirty="0"/>
          </a:p>
        </p:txBody>
      </p:sp>
      <p:sp>
        <p:nvSpPr>
          <p:cNvPr id="105" name="Text 90"/>
          <p:cNvSpPr txBox="1"/>
          <p:nvPr/>
        </p:nvSpPr>
        <p:spPr>
          <a:xfrm>
            <a:off x="15030907" y="6267298"/>
            <a:ext cx="21909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B/ A · via</a:t>
            </a:r>
            <a:endParaRPr lang="en-US" sz="825" dirty="0"/>
          </a:p>
        </p:txBody>
      </p:sp>
      <p:sp>
        <p:nvSpPr>
          <p:cNvPr id="106" name="Text 91"/>
          <p:cNvSpPr txBox="1"/>
          <p:nvPr/>
        </p:nvSpPr>
        <p:spPr>
          <a:xfrm>
            <a:off x="15030907" y="6476695"/>
            <a:ext cx="2190902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−6.8</a:t>
            </a:r>
            <a:pPr algn="l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2400" dirty="0"/>
          </a:p>
        </p:txBody>
      </p:sp>
      <p:sp>
        <p:nvSpPr>
          <p:cNvPr id="107" name="Text 92"/>
          <p:cNvSpPr txBox="1"/>
          <p:nvPr/>
        </p:nvSpPr>
        <p:spPr>
          <a:xfrm>
            <a:off x="15030907" y="6943954"/>
            <a:ext cx="21909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via R ratio</a:t>
            </a:r>
            <a:endParaRPr lang="en-US" sz="900" dirty="0"/>
          </a:p>
        </p:txBody>
      </p:sp>
      <p:sp>
        <p:nvSpPr>
          <p:cNvPr id="108" name="Text 93"/>
          <p:cNvSpPr txBox="1"/>
          <p:nvPr/>
        </p:nvSpPr>
        <p:spPr>
          <a:xfrm>
            <a:off x="761695" y="10019995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※ 내부 테스트용 더미(가상) 데이터 · 전기특성은 동일 wafer 의 Kelvin pattern 5-shot 평균입니다.</a:t>
            </a:r>
            <a:endParaRPr lang="en-US" sz="975" dirty="0"/>
          </a:p>
        </p:txBody>
      </p:sp>
      <p:sp>
        <p:nvSpPr>
          <p:cNvPr id="109" name="Text 94"/>
          <p:cNvSpPr txBox="1"/>
          <p:nvPr/>
        </p:nvSpPr>
        <p:spPr>
          <a:xfrm>
            <a:off x="16573500" y="10019995"/>
            <a:ext cx="952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06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1695" y="2667305"/>
            <a:ext cx="5333695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76695" y="2667305"/>
            <a:ext cx="5333695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191695" y="2667305"/>
            <a:ext cx="5333695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1695" y="8096098"/>
            <a:ext cx="16763695" cy="1524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gen-dedup-9b95c5d50ae7476a19b5f5fe31149d9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pic>
        <p:nvPicPr>
          <p:cNvPr id="8" name="Image 1" descr="gen-dedup-ffd208e8d40fbe8e4e5b5d082860fee7.png">    </p:cNvPr>
          <p:cNvPicPr>
            <a:picLocks noChangeAspect="1"/>
          </p:cNvPicPr>
          <p:nvPr/>
        </p:nvPicPr>
        <p:blipFill>
          <a:blip r:embed="rId2"/>
          <a:srcRect l="0" r="0" t="-403" b="-403"/>
          <a:stretch/>
        </p:blipFill>
        <p:spPr>
          <a:xfrm>
            <a:off x="761695" y="2667305"/>
            <a:ext cx="5333695" cy="57607"/>
          </a:xfrm>
          <a:prstGeom prst="rect">
            <a:avLst/>
          </a:prstGeom>
        </p:spPr>
      </p:pic>
      <p:pic>
        <p:nvPicPr>
          <p:cNvPr id="9" name="Image 2" descr="gen-dedup-f4115ee16b6aec878e6f3a8cad91f5a8.png">    </p:cNvPr>
          <p:cNvPicPr>
            <a:picLocks noChangeAspect="1"/>
          </p:cNvPicPr>
          <p:nvPr/>
        </p:nvPicPr>
        <p:blipFill>
          <a:blip r:embed="rId3"/>
          <a:srcRect l="0" r="0" t="-403" b="-403"/>
          <a:stretch/>
        </p:blipFill>
        <p:spPr>
          <a:xfrm>
            <a:off x="6476695" y="2667305"/>
            <a:ext cx="5333695" cy="57607"/>
          </a:xfrm>
          <a:prstGeom prst="rect">
            <a:avLst/>
          </a:prstGeom>
        </p:spPr>
      </p:pic>
      <p:pic>
        <p:nvPicPr>
          <p:cNvPr id="10" name="Image 3" descr="gen-dedup-f67390fa1c84f2eeb34c5f9e5d6aa25f.png">    </p:cNvPr>
          <p:cNvPicPr>
            <a:picLocks noChangeAspect="1"/>
          </p:cNvPicPr>
          <p:nvPr/>
        </p:nvPicPr>
        <p:blipFill>
          <a:blip r:embed="rId4"/>
          <a:srcRect l="0" r="0" t="-2072" b="-2072"/>
          <a:stretch/>
        </p:blipFill>
        <p:spPr>
          <a:xfrm>
            <a:off x="1028700" y="8762695"/>
            <a:ext cx="9144" cy="666598"/>
          </a:xfrm>
          <a:prstGeom prst="rect">
            <a:avLst/>
          </a:prstGeom>
        </p:spPr>
      </p:pic>
      <p:pic>
        <p:nvPicPr>
          <p:cNvPr id="11" name="Image 4" descr="gen-dedup-f67390fa1c84f2eeb34c5f9e5d6aa25f.png">    </p:cNvPr>
          <p:cNvPicPr>
            <a:picLocks noChangeAspect="1"/>
          </p:cNvPicPr>
          <p:nvPr/>
        </p:nvPicPr>
        <p:blipFill>
          <a:blip r:embed="rId5"/>
          <a:srcRect l="0" r="0" t="-2072" b="-2072"/>
          <a:stretch/>
        </p:blipFill>
        <p:spPr>
          <a:xfrm>
            <a:off x="3504895" y="8762695"/>
            <a:ext cx="9144" cy="666598"/>
          </a:xfrm>
          <a:prstGeom prst="rect">
            <a:avLst/>
          </a:prstGeom>
        </p:spPr>
      </p:pic>
      <p:pic>
        <p:nvPicPr>
          <p:cNvPr id="12" name="Image 5" descr="gen-dedup-f67390fa1c84f2eeb34c5f9e5d6aa25f.png">    </p:cNvPr>
          <p:cNvPicPr>
            <a:picLocks noChangeAspect="1"/>
          </p:cNvPicPr>
          <p:nvPr/>
        </p:nvPicPr>
        <p:blipFill>
          <a:blip r:embed="rId6"/>
          <a:srcRect l="0" r="0" t="-2072" b="-2072"/>
          <a:stretch/>
        </p:blipFill>
        <p:spPr>
          <a:xfrm>
            <a:off x="6172200" y="8762695"/>
            <a:ext cx="9144" cy="666598"/>
          </a:xfrm>
          <a:prstGeom prst="rect">
            <a:avLst/>
          </a:prstGeom>
        </p:spPr>
      </p:pic>
      <p:pic>
        <p:nvPicPr>
          <p:cNvPr id="13" name="Image 6" descr="gen-dedup-f67390fa1c84f2eeb34c5f9e5d6aa25f.png">    </p:cNvPr>
          <p:cNvPicPr>
            <a:picLocks noChangeAspect="1"/>
          </p:cNvPicPr>
          <p:nvPr/>
        </p:nvPicPr>
        <p:blipFill>
          <a:blip r:embed="rId7"/>
          <a:srcRect l="0" r="0" t="-2072" b="-2072"/>
          <a:stretch/>
        </p:blipFill>
        <p:spPr>
          <a:xfrm>
            <a:off x="8839505" y="8762695"/>
            <a:ext cx="9144" cy="666598"/>
          </a:xfrm>
          <a:prstGeom prst="rect">
            <a:avLst/>
          </a:prstGeom>
        </p:spPr>
      </p:pic>
      <p:pic>
        <p:nvPicPr>
          <p:cNvPr id="14" name="Image 7" descr="gen-dedup-f67390fa1c84f2eeb34c5f9e5d6aa25f.png">    </p:cNvPr>
          <p:cNvPicPr>
            <a:picLocks noChangeAspect="1"/>
          </p:cNvPicPr>
          <p:nvPr/>
        </p:nvPicPr>
        <p:blipFill>
          <a:blip r:embed="rId8"/>
          <a:srcRect l="0" r="0" t="-2072" b="-2072"/>
          <a:stretch/>
        </p:blipFill>
        <p:spPr>
          <a:xfrm>
            <a:off x="11505895" y="8762695"/>
            <a:ext cx="9144" cy="666598"/>
          </a:xfrm>
          <a:prstGeom prst="rect">
            <a:avLst/>
          </a:prstGeom>
        </p:spPr>
      </p:pic>
      <p:pic>
        <p:nvPicPr>
          <p:cNvPr id="15" name="Image 8" descr="gen-dedup-f67390fa1c84f2eeb34c5f9e5d6aa25f.png">    </p:cNvPr>
          <p:cNvPicPr>
            <a:picLocks noChangeAspect="1"/>
          </p:cNvPicPr>
          <p:nvPr/>
        </p:nvPicPr>
        <p:blipFill>
          <a:blip r:embed="rId9"/>
          <a:srcRect l="0" r="0" t="-2072" b="-2072"/>
          <a:stretch/>
        </p:blipFill>
        <p:spPr>
          <a:xfrm>
            <a:off x="14192402" y="8762695"/>
            <a:ext cx="9144" cy="666598"/>
          </a:xfrm>
          <a:prstGeom prst="rect">
            <a:avLst/>
          </a:prstGeom>
        </p:spPr>
      </p:pic>
      <p:sp>
        <p:nvSpPr>
          <p:cNvPr id="16" name="Text 4"/>
          <p:cNvSpPr txBox="1"/>
          <p:nvPr/>
        </p:nvSpPr>
        <p:spPr>
          <a:xfrm>
            <a:off x="761695" y="533095"/>
            <a:ext cx="12382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· SUMMARY &amp; SELECTION</a:t>
            </a:r>
            <a:endParaRPr lang="en-US" sz="975" dirty="0"/>
          </a:p>
        </p:txBody>
      </p:sp>
      <p:sp>
        <p:nvSpPr>
          <p:cNvPr id="17" name="Text 5"/>
          <p:cNvSpPr txBox="1"/>
          <p:nvPr/>
        </p:nvSpPr>
        <p:spPr>
          <a:xfrm>
            <a:off x="761695" y="790956"/>
            <a:ext cx="12382805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spc="-31" kern="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 split lot, 다른 결론.</a:t>
            </a:r>
            <a:pPr algn="l" indent="0" marL="0">
              <a:buNone/>
            </a:pPr>
            <a:endParaRPr lang="en-US" sz="3150" dirty="0"/>
          </a:p>
          <a:p>
            <a:pPr algn="l" indent="0" marL="0">
              <a:buNone/>
            </a:pPr>
            <a:r>
              <a:rPr lang="en-US" sz="3150" b="1" spc="-31" kern="0" dirty="0">
                <a:solidFill>
                  <a:srgbClr val="B4530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Slurry B</a:t>
            </a:r>
            <a:pPr algn="l" indent="0" marL="0">
              <a:buNone/>
            </a:pPr>
            <a:r>
              <a:rPr lang="en-US" sz="3150" b="1" spc="-31" kern="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로 가는 쪽이 이번 라운드의 답입니다</a:t>
            </a:r>
            <a:endParaRPr lang="en-US" sz="3150" dirty="0"/>
          </a:p>
        </p:txBody>
      </p:sp>
      <p:sp>
        <p:nvSpPr>
          <p:cNvPr id="18" name="Text 6"/>
          <p:cNvSpPr txBox="1"/>
          <p:nvPr/>
        </p:nvSpPr>
        <p:spPr>
          <a:xfrm>
            <a:off x="761695" y="2124151"/>
            <a:ext cx="12382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옵션은 한 가지로 묶지 않습니다 — 우선순위 별로 두 갈래 결론을 함께 적어둡니다.</a:t>
            </a:r>
            <a:endParaRPr lang="en-US" sz="1350" dirty="0"/>
          </a:p>
        </p:txBody>
      </p:sp>
      <p:sp>
        <p:nvSpPr>
          <p:cNvPr id="19" name="Text 7"/>
          <p:cNvSpPr txBox="1"/>
          <p:nvPr/>
        </p:nvSpPr>
        <p:spPr>
          <a:xfrm>
            <a:off x="1028700" y="29333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0E7C7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 · A</a:t>
            </a:r>
            <a:endParaRPr lang="en-US" sz="825" dirty="0"/>
          </a:p>
        </p:txBody>
      </p:sp>
      <p:sp>
        <p:nvSpPr>
          <p:cNvPr id="20" name="Text 8"/>
          <p:cNvSpPr txBox="1"/>
          <p:nvPr/>
        </p:nvSpPr>
        <p:spPr>
          <a:xfrm>
            <a:off x="1028700" y="3161995"/>
            <a:ext cx="36201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Slurry A</a:t>
            </a:r>
            <a:endParaRPr lang="en-US" sz="2400" dirty="0"/>
          </a:p>
        </p:txBody>
      </p:sp>
      <p:sp>
        <p:nvSpPr>
          <p:cNvPr id="21" name="Text 9"/>
          <p:cNvSpPr txBox="1"/>
          <p:nvPr/>
        </p:nvSpPr>
        <p:spPr>
          <a:xfrm>
            <a:off x="1028700" y="3676802"/>
            <a:ext cx="362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Reference · moderate bias, fast removal</a:t>
            </a:r>
            <a:endParaRPr lang="en-US" sz="1050" dirty="0"/>
          </a:p>
        </p:txBody>
      </p:sp>
      <p:sp>
        <p:nvSpPr>
          <p:cNvPr id="22" name="Text 10"/>
          <p:cNvSpPr txBox="1"/>
          <p:nvPr/>
        </p:nvSpPr>
        <p:spPr>
          <a:xfrm>
            <a:off x="1028700" y="3905402"/>
            <a:ext cx="857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0478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STRENGTH</a:t>
            </a:r>
            <a:endParaRPr lang="en-US" sz="825" dirty="0"/>
          </a:p>
        </p:txBody>
      </p:sp>
      <p:pic>
        <p:nvPicPr>
          <p:cNvPr id="23" name="Image 9" descr="gen-dedup-cf4869e222b8b2413a938a3c22a3d2bb.png">    </p:cNvPr>
          <p:cNvPicPr>
            <a:picLocks noChangeAspect="1"/>
          </p:cNvPicPr>
          <p:nvPr/>
        </p:nvPicPr>
        <p:blipFill>
          <a:blip r:embed="rId10"/>
          <a:srcRect l="-2083" r="-2083" t="0" b="0"/>
          <a:stretch/>
        </p:blipFill>
        <p:spPr>
          <a:xfrm>
            <a:off x="1962302" y="3967582"/>
            <a:ext cx="3866998" cy="9144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1028700" y="4134002"/>
            <a:ext cx="4800600" cy="820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높은 throughput</a:t>
            </a:r>
            <a:pPr algn="l" indent="0" marL="0">
              <a:lnSpc>
                <a:spcPts val="2040"/>
              </a:lnSpc>
              <a:buNone/>
            </a:pP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tool chemistry 안정성 확인</a:t>
            </a:r>
            <a:pPr algn="l" indent="0" marL="0">
              <a:lnSpc>
                <a:spcPts val="2040"/>
              </a:lnSpc>
              <a:buNone/>
            </a:pP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폴리머 잔류 적음</a:t>
            </a:r>
            <a:endParaRPr lang="en-US" sz="1200" dirty="0"/>
          </a:p>
        </p:txBody>
      </p:sp>
      <p:sp>
        <p:nvSpPr>
          <p:cNvPr id="25" name="Text 12"/>
          <p:cNvSpPr txBox="1"/>
          <p:nvPr/>
        </p:nvSpPr>
        <p:spPr>
          <a:xfrm>
            <a:off x="1028700" y="5296205"/>
            <a:ext cx="857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</a:t>
            </a:r>
            <a:endParaRPr lang="en-US" sz="825" dirty="0"/>
          </a:p>
        </p:txBody>
      </p:sp>
      <p:pic>
        <p:nvPicPr>
          <p:cNvPr id="26" name="Image 10" descr="gen-dedup-cf4869e222b8b2413a938a3c22a3d2bb.png">    </p:cNvPr>
          <p:cNvPicPr>
            <a:picLocks noChangeAspect="1"/>
          </p:cNvPicPr>
          <p:nvPr/>
        </p:nvPicPr>
        <p:blipFill>
          <a:blip r:embed="rId11"/>
          <a:srcRect l="-2083" r="-2083" t="0" b="0"/>
          <a:stretch/>
        </p:blipFill>
        <p:spPr>
          <a:xfrm>
            <a:off x="1962302" y="5357470"/>
            <a:ext cx="3866998" cy="9144"/>
          </a:xfrm>
          <a:prstGeom prst="rect">
            <a:avLst/>
          </a:prstGeom>
        </p:spPr>
      </p:pic>
      <p:sp>
        <p:nvSpPr>
          <p:cNvPr id="27" name="Text 13"/>
          <p:cNvSpPr txBox="1"/>
          <p:nvPr/>
        </p:nvSpPr>
        <p:spPr>
          <a:xfrm>
            <a:off x="1028700" y="5523890"/>
            <a:ext cx="4800600" cy="820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W02 dishing 32.1 nm spec 초과</a:t>
            </a:r>
            <a:pPr algn="l" indent="0" marL="0">
              <a:lnSpc>
                <a:spcPts val="2040"/>
              </a:lnSpc>
              <a:buNone/>
            </a:pP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mean +Δ 편향 (3/4 metric)</a:t>
            </a:r>
            <a:pPr algn="l" indent="0" marL="0">
              <a:lnSpc>
                <a:spcPts val="2040"/>
              </a:lnSpc>
              <a:buNone/>
            </a:pP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edge ring hot</a:t>
            </a:r>
            <a:endParaRPr lang="en-US" sz="1200" dirty="0"/>
          </a:p>
        </p:txBody>
      </p:sp>
      <p:sp>
        <p:nvSpPr>
          <p:cNvPr id="28" name="Text 14"/>
          <p:cNvSpPr txBox="1"/>
          <p:nvPr/>
        </p:nvSpPr>
        <p:spPr>
          <a:xfrm>
            <a:off x="1028700" y="7048195"/>
            <a:ext cx="48006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VERDICT</a:t>
            </a:r>
            <a:endParaRPr lang="en-US" sz="825" dirty="0"/>
          </a:p>
        </p:txBody>
      </p:sp>
      <p:sp>
        <p:nvSpPr>
          <p:cNvPr id="29" name="Text 15"/>
          <p:cNvSpPr txBox="1"/>
          <p:nvPr/>
        </p:nvSpPr>
        <p:spPr>
          <a:xfrm>
            <a:off x="1028700" y="7220102"/>
            <a:ext cx="48006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CONDITIONAL</a:t>
            </a:r>
            <a:endParaRPr lang="en-US" sz="1050" dirty="0"/>
          </a:p>
        </p:txBody>
      </p:sp>
      <p:sp>
        <p:nvSpPr>
          <p:cNvPr id="30" name="Text 16"/>
          <p:cNvSpPr txBox="1"/>
          <p:nvPr/>
        </p:nvSpPr>
        <p:spPr>
          <a:xfrm>
            <a:off x="6743700" y="29333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 · B</a:t>
            </a:r>
            <a:endParaRPr lang="en-US" sz="825" dirty="0"/>
          </a:p>
        </p:txBody>
      </p:sp>
      <p:sp>
        <p:nvSpPr>
          <p:cNvPr id="31" name="Text 17"/>
          <p:cNvSpPr txBox="1"/>
          <p:nvPr/>
        </p:nvSpPr>
        <p:spPr>
          <a:xfrm>
            <a:off x="6743700" y="3161995"/>
            <a:ext cx="36201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Slurry B</a:t>
            </a:r>
            <a:endParaRPr lang="en-US" sz="2400" dirty="0"/>
          </a:p>
        </p:txBody>
      </p:sp>
      <p:sp>
        <p:nvSpPr>
          <p:cNvPr id="32" name="Text 18"/>
          <p:cNvSpPr txBox="1"/>
          <p:nvPr/>
        </p:nvSpPr>
        <p:spPr>
          <a:xfrm>
            <a:off x="6743700" y="3676802"/>
            <a:ext cx="362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Candidate · conservative profile, low erosion</a:t>
            </a:r>
            <a:endParaRPr lang="en-US" sz="1050" dirty="0"/>
          </a:p>
        </p:txBody>
      </p:sp>
      <p:sp>
        <p:nvSpPr>
          <p:cNvPr id="33" name="Text 19"/>
          <p:cNvSpPr txBox="1"/>
          <p:nvPr/>
        </p:nvSpPr>
        <p:spPr>
          <a:xfrm>
            <a:off x="6743700" y="3905402"/>
            <a:ext cx="857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0478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STRENGTH</a:t>
            </a:r>
            <a:endParaRPr lang="en-US" sz="825" dirty="0"/>
          </a:p>
        </p:txBody>
      </p:sp>
      <p:pic>
        <p:nvPicPr>
          <p:cNvPr id="34" name="Image 11" descr="gen-dedup-cf4869e222b8b2413a938a3c22a3d2bb.png">    </p:cNvPr>
          <p:cNvPicPr>
            <a:picLocks noChangeAspect="1"/>
          </p:cNvPicPr>
          <p:nvPr/>
        </p:nvPicPr>
        <p:blipFill>
          <a:blip r:embed="rId12"/>
          <a:srcRect l="-2083" r="-2083" t="0" b="0"/>
          <a:stretch/>
        </p:blipFill>
        <p:spPr>
          <a:xfrm>
            <a:off x="7677302" y="3967582"/>
            <a:ext cx="3866998" cy="9144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6743700" y="4134002"/>
            <a:ext cx="4800600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모든 wafer in-spec (3σ dishing/erosion)</a:t>
            </a:r>
            <a:pPr algn="l" indent="0" marL="0">
              <a:lnSpc>
                <a:spcPts val="2040"/>
              </a:lnSpc>
              <a:buNone/>
            </a:pP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In-wafer 균일도 4.4% 평균</a:t>
            </a:r>
            <a:pPr algn="l" indent="0" marL="0">
              <a:lnSpc>
                <a:spcPts val="2040"/>
              </a:lnSpc>
              <a:buNone/>
            </a:pP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via R · Rs · Rc 모두 A 대비 우위</a:t>
            </a:r>
            <a:pPr algn="l" indent="0" marL="0">
              <a:lnSpc>
                <a:spcPts val="2040"/>
              </a:lnSpc>
              <a:buNone/>
            </a:pP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on-target 4/4 metric 가능</a:t>
            </a:r>
            <a:endParaRPr lang="en-US" sz="1200" dirty="0"/>
          </a:p>
        </p:txBody>
      </p:sp>
      <p:sp>
        <p:nvSpPr>
          <p:cNvPr id="36" name="Text 21"/>
          <p:cNvSpPr txBox="1"/>
          <p:nvPr/>
        </p:nvSpPr>
        <p:spPr>
          <a:xfrm>
            <a:off x="6743700" y="6077102"/>
            <a:ext cx="857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</a:t>
            </a:r>
            <a:endParaRPr lang="en-US" sz="825" dirty="0"/>
          </a:p>
        </p:txBody>
      </p:sp>
      <p:pic>
        <p:nvPicPr>
          <p:cNvPr id="37" name="Image 12" descr="gen-dedup-cf4869e222b8b2413a938a3c22a3d2bb.png">    </p:cNvPr>
          <p:cNvPicPr>
            <a:picLocks noChangeAspect="1"/>
          </p:cNvPicPr>
          <p:nvPr/>
        </p:nvPicPr>
        <p:blipFill>
          <a:blip r:embed="rId13"/>
          <a:srcRect l="-2083" r="-2083" t="0" b="0"/>
          <a:stretch/>
        </p:blipFill>
        <p:spPr>
          <a:xfrm>
            <a:off x="7677302" y="6139282"/>
            <a:ext cx="3866998" cy="9144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6743700" y="6305702"/>
            <a:ext cx="4800600" cy="820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W04–W06 일부 metric mean −Δ 약간</a:t>
            </a:r>
            <a:pPr algn="l" indent="0" marL="0">
              <a:lnSpc>
                <a:spcPts val="2040"/>
              </a:lnSpc>
              <a:buNone/>
            </a:pP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throughput −12% (vs A)</a:t>
            </a:r>
            <a:pPr algn="l" indent="0" marL="0">
              <a:lnSpc>
                <a:spcPts val="2040"/>
              </a:lnSpc>
              <a:buNone/>
            </a:pP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longer break-in 필요</a:t>
            </a:r>
            <a:endParaRPr lang="en-US" sz="1200" dirty="0"/>
          </a:p>
        </p:txBody>
      </p:sp>
      <p:sp>
        <p:nvSpPr>
          <p:cNvPr id="39" name="Text 23"/>
          <p:cNvSpPr txBox="1"/>
          <p:nvPr/>
        </p:nvSpPr>
        <p:spPr>
          <a:xfrm>
            <a:off x="6743700" y="7334402"/>
            <a:ext cx="48006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VERDICT</a:t>
            </a:r>
            <a:endParaRPr lang="en-US" sz="825" dirty="0"/>
          </a:p>
        </p:txBody>
      </p:sp>
      <p:sp>
        <p:nvSpPr>
          <p:cNvPr id="40" name="Text 24"/>
          <p:cNvSpPr txBox="1"/>
          <p:nvPr/>
        </p:nvSpPr>
        <p:spPr>
          <a:xfrm>
            <a:off x="6743700" y="7505395"/>
            <a:ext cx="48006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RECOMMENDED</a:t>
            </a:r>
            <a:endParaRPr lang="en-US" sz="1050" dirty="0"/>
          </a:p>
        </p:txBody>
      </p:sp>
      <p:sp>
        <p:nvSpPr>
          <p:cNvPr id="41" name="Text 25"/>
          <p:cNvSpPr txBox="1"/>
          <p:nvPr/>
        </p:nvSpPr>
        <p:spPr>
          <a:xfrm>
            <a:off x="12458700" y="29333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FBB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 FRAME</a:t>
            </a:r>
            <a:endParaRPr lang="en-US" sz="825" dirty="0"/>
          </a:p>
        </p:txBody>
      </p:sp>
      <p:sp>
        <p:nvSpPr>
          <p:cNvPr id="42" name="Text 26"/>
          <p:cNvSpPr txBox="1"/>
          <p:nvPr/>
        </p:nvSpPr>
        <p:spPr>
          <a:xfrm>
            <a:off x="12458700" y="3161995"/>
            <a:ext cx="362011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Recommended:</a:t>
            </a:r>
            <a:pPr algn="l" indent="0" marL="0">
              <a:lnSpc>
                <a:spcPct val="115000"/>
              </a:lnSpc>
              <a:buNone/>
            </a:pPr>
            <a:endParaRPr lang="en-US" sz="2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Slurry B</a:t>
            </a:r>
            <a:endParaRPr lang="en-US" sz="2400" dirty="0"/>
          </a:p>
        </p:txBody>
      </p:sp>
      <p:sp>
        <p:nvSpPr>
          <p:cNvPr id="43" name="Text 27"/>
          <p:cNvSpPr txBox="1"/>
          <p:nvPr/>
        </p:nvSpPr>
        <p:spPr>
          <a:xfrm>
            <a:off x="12458700" y="3996842"/>
            <a:ext cx="362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단, 조건부 — throughput trade-off 와 함께.</a:t>
            </a:r>
            <a:endParaRPr lang="en-US" sz="1050" dirty="0"/>
          </a:p>
        </p:txBody>
      </p:sp>
      <p:sp>
        <p:nvSpPr>
          <p:cNvPr id="44" name="Text 28"/>
          <p:cNvSpPr txBox="1"/>
          <p:nvPr/>
        </p:nvSpPr>
        <p:spPr>
          <a:xfrm>
            <a:off x="12458700" y="4572000"/>
            <a:ext cx="48006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우선순위</a:t>
            </a:r>
            <a:endParaRPr lang="en-US" sz="825" dirty="0"/>
          </a:p>
        </p:txBody>
      </p:sp>
      <p:sp>
        <p:nvSpPr>
          <p:cNvPr id="45" name="Text 29"/>
          <p:cNvSpPr txBox="1"/>
          <p:nvPr/>
        </p:nvSpPr>
        <p:spPr>
          <a:xfrm>
            <a:off x="12458700" y="4858207"/>
            <a:ext cx="48006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BBF2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uniformity &amp; defect →</a:t>
            </a:r>
            <a:endParaRPr lang="en-US" sz="1125" dirty="0"/>
          </a:p>
        </p:txBody>
      </p:sp>
      <p:sp>
        <p:nvSpPr>
          <p:cNvPr id="46" name="Text 30"/>
          <p:cNvSpPr txBox="1"/>
          <p:nvPr/>
        </p:nvSpPr>
        <p:spPr>
          <a:xfrm>
            <a:off x="12516307" y="5140757"/>
            <a:ext cx="47439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Slurry B 단독 사용</a:t>
            </a:r>
            <a:endParaRPr lang="en-US" sz="1125" dirty="0"/>
          </a:p>
        </p:txBody>
      </p:sp>
      <p:sp>
        <p:nvSpPr>
          <p:cNvPr id="47" name="Text 31"/>
          <p:cNvSpPr txBox="1"/>
          <p:nvPr/>
        </p:nvSpPr>
        <p:spPr>
          <a:xfrm>
            <a:off x="12458700" y="5576926"/>
            <a:ext cx="48006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BBF2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throughput 우선 →</a:t>
            </a:r>
            <a:endParaRPr lang="en-US" sz="1125" dirty="0"/>
          </a:p>
        </p:txBody>
      </p:sp>
      <p:sp>
        <p:nvSpPr>
          <p:cNvPr id="48" name="Text 32"/>
          <p:cNvSpPr txBox="1"/>
          <p:nvPr/>
        </p:nvSpPr>
        <p:spPr>
          <a:xfrm>
            <a:off x="12516307" y="5860390"/>
            <a:ext cx="47439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 단독, 단 post-polish buff step 추가</a:t>
            </a:r>
            <a:endParaRPr lang="en-US" sz="1125" dirty="0"/>
          </a:p>
        </p:txBody>
      </p:sp>
      <p:sp>
        <p:nvSpPr>
          <p:cNvPr id="49" name="Text 33"/>
          <p:cNvSpPr txBox="1"/>
          <p:nvPr/>
        </p:nvSpPr>
        <p:spPr>
          <a:xfrm>
            <a:off x="12458700" y="6295644"/>
            <a:ext cx="48006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BBF2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둘 다 →</a:t>
            </a:r>
            <a:endParaRPr lang="en-US" sz="1125" dirty="0"/>
          </a:p>
        </p:txBody>
      </p:sp>
      <p:sp>
        <p:nvSpPr>
          <p:cNvPr id="50" name="Text 34"/>
          <p:cNvSpPr txBox="1"/>
          <p:nvPr/>
        </p:nvSpPr>
        <p:spPr>
          <a:xfrm>
            <a:off x="12516307" y="6579108"/>
            <a:ext cx="47439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 메인, A fallback lot</a:t>
            </a:r>
            <a:endParaRPr lang="en-US" sz="1125" dirty="0"/>
          </a:p>
        </p:txBody>
      </p:sp>
      <p:sp>
        <p:nvSpPr>
          <p:cNvPr id="51" name="Text 35"/>
          <p:cNvSpPr txBox="1"/>
          <p:nvPr/>
        </p:nvSpPr>
        <p:spPr>
          <a:xfrm>
            <a:off x="1028700" y="8287207"/>
            <a:ext cx="4763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BOTTOM-LINE NUMBERS</a:t>
            </a:r>
            <a:endParaRPr lang="en-US" sz="825" dirty="0"/>
          </a:p>
        </p:txBody>
      </p:sp>
      <p:sp>
        <p:nvSpPr>
          <p:cNvPr id="52" name="Text 36"/>
          <p:cNvSpPr txBox="1"/>
          <p:nvPr/>
        </p:nvSpPr>
        <p:spPr>
          <a:xfrm>
            <a:off x="1028700" y="8477402"/>
            <a:ext cx="4763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 vs A — 핵심 4개 metric, 평균 기준</a:t>
            </a:r>
            <a:endParaRPr lang="en-US" sz="1200" dirty="0"/>
          </a:p>
        </p:txBody>
      </p:sp>
      <p:sp>
        <p:nvSpPr>
          <p:cNvPr id="53" name="Text 37"/>
          <p:cNvSpPr txBox="1"/>
          <p:nvPr/>
        </p:nvSpPr>
        <p:spPr>
          <a:xfrm>
            <a:off x="1238098" y="8744407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Δ 3σ UNIFORMITY</a:t>
            </a:r>
            <a:endParaRPr lang="en-US" sz="825" dirty="0"/>
          </a:p>
        </p:txBody>
      </p:sp>
      <p:sp>
        <p:nvSpPr>
          <p:cNvPr id="54" name="Text 38"/>
          <p:cNvSpPr txBox="1"/>
          <p:nvPr/>
        </p:nvSpPr>
        <p:spPr>
          <a:xfrm>
            <a:off x="1238098" y="8953805"/>
            <a:ext cx="2095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−24</a:t>
            </a:r>
            <a:pPr algn="l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2250" dirty="0"/>
          </a:p>
        </p:txBody>
      </p:sp>
      <p:sp>
        <p:nvSpPr>
          <p:cNvPr id="55" name="Text 39"/>
          <p:cNvSpPr txBox="1"/>
          <p:nvPr/>
        </p:nvSpPr>
        <p:spPr>
          <a:xfrm>
            <a:off x="3715207" y="8744407"/>
            <a:ext cx="2286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Δ DISHING AVG</a:t>
            </a:r>
            <a:endParaRPr lang="en-US" sz="825" dirty="0"/>
          </a:p>
        </p:txBody>
      </p:sp>
      <p:sp>
        <p:nvSpPr>
          <p:cNvPr id="56" name="Text 40"/>
          <p:cNvSpPr txBox="1"/>
          <p:nvPr/>
        </p:nvSpPr>
        <p:spPr>
          <a:xfrm>
            <a:off x="3715207" y="8953805"/>
            <a:ext cx="2286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−5.1</a:t>
            </a:r>
            <a:pPr algn="l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nm</a:t>
            </a:r>
            <a:endParaRPr lang="en-US" sz="2250" dirty="0"/>
          </a:p>
        </p:txBody>
      </p:sp>
      <p:sp>
        <p:nvSpPr>
          <p:cNvPr id="57" name="Text 41"/>
          <p:cNvSpPr txBox="1"/>
          <p:nvPr/>
        </p:nvSpPr>
        <p:spPr>
          <a:xfrm>
            <a:off x="6381598" y="8744407"/>
            <a:ext cx="2286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Δ via-R</a:t>
            </a:r>
            <a:endParaRPr lang="en-US" sz="825" dirty="0"/>
          </a:p>
        </p:txBody>
      </p:sp>
      <p:sp>
        <p:nvSpPr>
          <p:cNvPr id="58" name="Text 42"/>
          <p:cNvSpPr txBox="1"/>
          <p:nvPr/>
        </p:nvSpPr>
        <p:spPr>
          <a:xfrm>
            <a:off x="6381598" y="8953805"/>
            <a:ext cx="2286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−6.8</a:t>
            </a:r>
            <a:pPr algn="l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2250" dirty="0"/>
          </a:p>
        </p:txBody>
      </p:sp>
      <p:sp>
        <p:nvSpPr>
          <p:cNvPr id="59" name="Text 43"/>
          <p:cNvSpPr txBox="1"/>
          <p:nvPr/>
        </p:nvSpPr>
        <p:spPr>
          <a:xfrm>
            <a:off x="9048902" y="8744407"/>
            <a:ext cx="2286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Δ THROUGHPUT</a:t>
            </a:r>
            <a:endParaRPr lang="en-US" sz="825" dirty="0"/>
          </a:p>
        </p:txBody>
      </p:sp>
      <p:sp>
        <p:nvSpPr>
          <p:cNvPr id="60" name="Text 44"/>
          <p:cNvSpPr txBox="1"/>
          <p:nvPr/>
        </p:nvSpPr>
        <p:spPr>
          <a:xfrm>
            <a:off x="9048902" y="8953805"/>
            <a:ext cx="2286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91C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−12</a:t>
            </a:r>
            <a:pPr algn="l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2250" dirty="0"/>
          </a:p>
        </p:txBody>
      </p:sp>
      <p:sp>
        <p:nvSpPr>
          <p:cNvPr id="61" name="Text 45"/>
          <p:cNvSpPr txBox="1"/>
          <p:nvPr/>
        </p:nvSpPr>
        <p:spPr>
          <a:xfrm>
            <a:off x="11716207" y="8744407"/>
            <a:ext cx="2286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 PASS RATE</a:t>
            </a:r>
            <a:endParaRPr lang="en-US" sz="825" dirty="0"/>
          </a:p>
        </p:txBody>
      </p:sp>
      <p:sp>
        <p:nvSpPr>
          <p:cNvPr id="62" name="Text 46"/>
          <p:cNvSpPr txBox="1"/>
          <p:nvPr/>
        </p:nvSpPr>
        <p:spPr>
          <a:xfrm>
            <a:off x="11716207" y="8953805"/>
            <a:ext cx="2286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 3/3</a:t>
            </a:r>
            <a:pPr algn="l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1/3</a:t>
            </a:r>
            <a:endParaRPr lang="en-US" sz="2250" dirty="0"/>
          </a:p>
        </p:txBody>
      </p:sp>
      <p:sp>
        <p:nvSpPr>
          <p:cNvPr id="63" name="Text 47"/>
          <p:cNvSpPr txBox="1"/>
          <p:nvPr/>
        </p:nvSpPr>
        <p:spPr>
          <a:xfrm>
            <a:off x="14401800" y="8744407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STEP</a:t>
            </a:r>
            <a:endParaRPr lang="en-US" sz="825" dirty="0"/>
          </a:p>
        </p:txBody>
      </p:sp>
      <p:sp>
        <p:nvSpPr>
          <p:cNvPr id="64" name="Text 48"/>
          <p:cNvSpPr txBox="1"/>
          <p:nvPr/>
        </p:nvSpPr>
        <p:spPr>
          <a:xfrm>
            <a:off x="14401800" y="8953805"/>
            <a:ext cx="2857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 lot 재현, M5 검증</a:t>
            </a:r>
            <a:endParaRPr lang="en-US" sz="1350" dirty="0"/>
          </a:p>
        </p:txBody>
      </p:sp>
      <p:sp>
        <p:nvSpPr>
          <p:cNvPr id="65" name="Text 49"/>
          <p:cNvSpPr txBox="1"/>
          <p:nvPr/>
        </p:nvSpPr>
        <p:spPr>
          <a:xfrm>
            <a:off x="761695" y="10019995"/>
            <a:ext cx="12382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※ 내부 테스트용 더미(가상) 데이터 · 결론 도출용 노트 only, 본 deck 1–5 페이지 데이터에 기반.</a:t>
            </a:r>
            <a:endParaRPr lang="en-US" sz="975" dirty="0"/>
          </a:p>
        </p:txBody>
      </p:sp>
      <p:sp>
        <p:nvSpPr>
          <p:cNvPr id="66" name="Text 50"/>
          <p:cNvSpPr txBox="1"/>
          <p:nvPr/>
        </p:nvSpPr>
        <p:spPr>
          <a:xfrm>
            <a:off x="16573500" y="10019995"/>
            <a:ext cx="952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06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2026-10-03T16:09:15Z</dcterms:created>
  <dcterms:modified xsi:type="dcterms:W3CDTF">2026-10-03T16:09:15Z</dcterms:modified>
</cp:coreProperties>
</file>