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jpeg"/><Relationship Id="rId6" Type="http://schemas.openxmlformats.org/officeDocument/2006/relationships/image" Target="../media/image-3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CEE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245e6ad1566cd5d9dc5c1f20c450045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75895" y="75895"/>
            <a:ext cx="18288000" cy="38405"/>
          </a:xfrm>
          <a:prstGeom prst="rect">
            <a:avLst/>
          </a:prstGeom>
        </p:spPr>
      </p:pic>
      <p:pic>
        <p:nvPicPr>
          <p:cNvPr id="4" name="Image 1" descr="gen-dedup-9888f6907741af297722eccf39777ce8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218895" y="1981505"/>
            <a:ext cx="1143000" cy="19202"/>
          </a:xfrm>
          <a:prstGeom prst="rect">
            <a:avLst/>
          </a:prstGeom>
        </p:spPr>
      </p:pic>
      <p:pic>
        <p:nvPicPr>
          <p:cNvPr id="5" name="Image 2" descr="gen-dedup-09b6badc5a4d230c6dea14c06516ef01.png">    </p:cNvPr>
          <p:cNvPicPr>
            <a:picLocks noChangeAspect="1"/>
          </p:cNvPicPr>
          <p:nvPr/>
        </p:nvPicPr>
        <p:blipFill>
          <a:blip r:embed="rId3"/>
          <a:srcRect l="0" r="0" t="-394" b="-394"/>
          <a:stretch/>
        </p:blipFill>
        <p:spPr>
          <a:xfrm>
            <a:off x="1218895" y="8839505"/>
            <a:ext cx="2667305" cy="19202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000500" y="8810244"/>
            <a:ext cx="75895" cy="75895"/>
          </a:xfrm>
          <a:prstGeom prst="ellipse">
            <a:avLst/>
          </a:prstGeom>
          <a:solidFill>
            <a:srgbClr val="2C4A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3" descr="gen-dedup-34b6fabee1d993e192a1850b2c9351d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8700" y="1410005"/>
            <a:ext cx="5143500" cy="7744054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1218895" y="1410005"/>
            <a:ext cx="1097280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4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배선 구조 단면 비교 · 세 방식, 치수는 Murdoch VLSI 2022·Montero Alvarez IITC 2022 본문값</a:t>
            </a:r>
            <a:endParaRPr lang="en-US" sz="1800" dirty="0"/>
          </a:p>
        </p:txBody>
      </p:sp>
      <p:sp>
        <p:nvSpPr>
          <p:cNvPr id="9" name="Text 3"/>
          <p:cNvSpPr txBox="1"/>
          <p:nvPr/>
        </p:nvSpPr>
        <p:spPr>
          <a:xfrm>
            <a:off x="1218895" y="2361895"/>
            <a:ext cx="10287000" cy="2105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7800" b="1" spc="-156" kern="0" dirty="0">
                <a:solidFill>
                  <a:srgbClr val="1E25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가지 배선 구조를</a:t>
            </a:r>
            <a:pPr algn="l" indent="0" marL="0">
              <a:lnSpc>
                <a:spcPct val="106000"/>
              </a:lnSpc>
              <a:buNone/>
            </a:pPr>
            <a:endParaRPr lang="en-US" sz="78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7800" b="1" spc="-156" kern="0" dirty="0">
                <a:solidFill>
                  <a:srgbClr val="1E25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같은 척도로 놓으면</a:t>
            </a:r>
            <a:endParaRPr lang="en-US" sz="7800" dirty="0"/>
          </a:p>
        </p:txBody>
      </p:sp>
      <p:sp>
        <p:nvSpPr>
          <p:cNvPr id="10" name="Text 4"/>
          <p:cNvSpPr txBox="1"/>
          <p:nvPr/>
        </p:nvSpPr>
        <p:spPr>
          <a:xfrm>
            <a:off x="12458700" y="9315907"/>
            <a:ext cx="5143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Cross-section, 3D InCites</a:t>
            </a:r>
            <a:endParaRPr lang="en-US" sz="1050" dirty="0"/>
          </a:p>
        </p:txBody>
      </p:sp>
      <p:sp>
        <p:nvSpPr>
          <p:cNvPr id="11" name="Text 5"/>
          <p:cNvSpPr txBox="1"/>
          <p:nvPr/>
        </p:nvSpPr>
        <p:spPr>
          <a:xfrm>
            <a:off x="1218895" y="7505395"/>
            <a:ext cx="1028700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5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구조가 해결하는 문제가 각각 다릅니다.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CEE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245e6ad1566cd5d9dc5c1f20c450045d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75895" y="75895"/>
            <a:ext cx="18288000" cy="38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18895" y="2171700"/>
            <a:ext cx="10287000" cy="7239305"/>
          </a:xfrm>
          <a:prstGeom prst="rect">
            <a:avLst/>
          </a:prstGeom>
          <a:solidFill>
            <a:srgbClr val="DCE3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fe705e3dde3728fe7f2077bd972e5e94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218895" y="2171700"/>
            <a:ext cx="10287000" cy="57607"/>
          </a:xfrm>
          <a:prstGeom prst="rect">
            <a:avLst/>
          </a:prstGeom>
        </p:spPr>
      </p:pic>
      <p:pic>
        <p:nvPicPr>
          <p:cNvPr id="6" name="Image 2" descr="gen-dedup-5adea9780c8ad3e1bee9a07fdabd0cd1.png">    </p:cNvPr>
          <p:cNvPicPr>
            <a:picLocks noChangeAspect="1"/>
          </p:cNvPicPr>
          <p:nvPr/>
        </p:nvPicPr>
        <p:blipFill>
          <a:blip r:embed="rId3"/>
          <a:srcRect l="0" r="0" t="-390" b="-390"/>
          <a:stretch/>
        </p:blipFill>
        <p:spPr>
          <a:xfrm>
            <a:off x="1600200" y="7125005"/>
            <a:ext cx="1524305" cy="19202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2268505" y="2171700"/>
            <a:ext cx="4762195" cy="7239305"/>
          </a:xfrm>
          <a:prstGeom prst="rect">
            <a:avLst/>
          </a:prstGeom>
          <a:solidFill>
            <a:srgbClr val="F4F6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3" descr="gen-dedup-b1959cc859b766d6ce1508c4f343a8ba.png">    </p:cNvPr>
          <p:cNvPicPr>
            <a:picLocks noChangeAspect="1"/>
          </p:cNvPicPr>
          <p:nvPr/>
        </p:nvPicPr>
        <p:blipFill>
          <a:blip r:embed="rId4"/>
          <a:srcRect l="-398" r="-398" t="0" b="0"/>
          <a:stretch/>
        </p:blipFill>
        <p:spPr>
          <a:xfrm>
            <a:off x="12268505" y="2171700"/>
            <a:ext cx="57607" cy="7239305"/>
          </a:xfrm>
          <a:prstGeom prst="rect">
            <a:avLst/>
          </a:prstGeom>
        </p:spPr>
      </p:pic>
      <p:pic>
        <p:nvPicPr>
          <p:cNvPr id="9" name="Image 4" descr="gen-dedup-776b481752e878cf879e8fda8415a216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48895" y="5600700"/>
            <a:ext cx="4000500" cy="266730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218895" y="1218895"/>
            <a:ext cx="16193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4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배선 구조 단면 비교 · 세 방식, 치수는 Murdoch VLSI 2022·Montero Alvarez IITC 2022 본문값</a:t>
            </a:r>
            <a:endParaRPr lang="en-US" sz="1800" dirty="0"/>
          </a:p>
        </p:txBody>
      </p:sp>
      <p:sp>
        <p:nvSpPr>
          <p:cNvPr id="11" name="Text 4"/>
          <p:cNvSpPr txBox="1"/>
          <p:nvPr/>
        </p:nvSpPr>
        <p:spPr>
          <a:xfrm>
            <a:off x="1600200" y="2743200"/>
            <a:ext cx="2286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2C4A6E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</a:t>
            </a:r>
            <a:endParaRPr lang="en-US" sz="9000" dirty="0"/>
          </a:p>
        </p:txBody>
      </p:sp>
      <p:sp>
        <p:nvSpPr>
          <p:cNvPr id="12" name="Text 5"/>
          <p:cNvSpPr txBox="1"/>
          <p:nvPr/>
        </p:nvSpPr>
        <p:spPr>
          <a:xfrm>
            <a:off x="1600200" y="5029200"/>
            <a:ext cx="9525305" cy="6199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E25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①은 배리어 때문에 선폭에서 직니다.</a:t>
            </a:r>
            <a:endParaRPr lang="en-US" sz="3450" dirty="0"/>
          </a:p>
        </p:txBody>
      </p:sp>
      <p:sp>
        <p:nvSpPr>
          <p:cNvPr id="13" name="Text 6"/>
          <p:cNvSpPr txBox="1"/>
          <p:nvPr/>
        </p:nvSpPr>
        <p:spPr>
          <a:xfrm>
            <a:off x="12648895" y="2553005"/>
            <a:ext cx="19056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4A6FA5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</a:t>
            </a:r>
            <a:endParaRPr lang="en-US" sz="6300" dirty="0"/>
          </a:p>
        </p:txBody>
      </p:sp>
      <p:sp>
        <p:nvSpPr>
          <p:cNvPr id="14" name="Text 7"/>
          <p:cNvSpPr txBox="1"/>
          <p:nvPr/>
        </p:nvSpPr>
        <p:spPr>
          <a:xfrm>
            <a:off x="12648895" y="3696005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1E25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②은 배리어를 없애고 높이로 단면적을 벌지만 정전용량과 자기발열을 떠안습니다.</a:t>
            </a:r>
            <a:endParaRPr lang="en-US" sz="1800" dirty="0"/>
          </a:p>
        </p:txBody>
      </p:sp>
      <p:sp>
        <p:nvSpPr>
          <p:cNvPr id="15" name="Text 8"/>
          <p:cNvSpPr txBox="1"/>
          <p:nvPr/>
        </p:nvSpPr>
        <p:spPr>
          <a:xfrm>
            <a:off x="12648895" y="8458200"/>
            <a:ext cx="4000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SiOC air-gap SEM, ScienceDirect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" y="75895"/>
            <a:ext cx="18288000" cy="10287000"/>
          </a:xfrm>
          <a:prstGeom prst="rect">
            <a:avLst/>
          </a:prstGeom>
          <a:solidFill>
            <a:srgbClr val="ECEE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gen-dedup-55317122cbf02ba98049ea5d199fc561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75895" y="75895"/>
            <a:ext cx="18288000" cy="38405"/>
          </a:xfrm>
          <a:prstGeom prst="rect">
            <a:avLst/>
          </a:prstGeom>
        </p:spPr>
      </p:pic>
      <p:pic>
        <p:nvPicPr>
          <p:cNvPr id="4" name="Image 1" descr="gen-dedup-4baeead291b2d208996f9b4a1893893d.png">    </p:cNvPr>
          <p:cNvPicPr>
            <a:picLocks noChangeAspect="1"/>
          </p:cNvPicPr>
          <p:nvPr/>
        </p:nvPicPr>
        <p:blipFill>
          <a:blip r:embed="rId2"/>
          <a:srcRect l="-404" r="-404" t="0" b="0"/>
          <a:stretch/>
        </p:blipFill>
        <p:spPr>
          <a:xfrm>
            <a:off x="1218895" y="4076395"/>
            <a:ext cx="2286000" cy="2834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218895" y="7505395"/>
            <a:ext cx="11239805" cy="1904695"/>
          </a:xfrm>
          <a:prstGeom prst="rect">
            <a:avLst/>
          </a:prstGeom>
          <a:solidFill>
            <a:srgbClr val="DCE3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2" descr="gen-dedup-a224d913fcd432ead407983c73f23fa4.png">    </p:cNvPr>
          <p:cNvPicPr>
            <a:picLocks noChangeAspect="1"/>
          </p:cNvPicPr>
          <p:nvPr/>
        </p:nvPicPr>
        <p:blipFill>
          <a:blip r:embed="rId3"/>
          <a:srcRect l="0" r="0" t="-400" b="-400"/>
          <a:stretch/>
        </p:blipFill>
        <p:spPr>
          <a:xfrm>
            <a:off x="1600200" y="8630107"/>
            <a:ext cx="1143000" cy="19202"/>
          </a:xfrm>
          <a:prstGeom prst="rect">
            <a:avLst/>
          </a:prstGeom>
        </p:spPr>
      </p:pic>
      <p:pic>
        <p:nvPicPr>
          <p:cNvPr id="7" name="Image 3" descr="gen-dedup-38e694a754cab164f83ae68c171f248e.png">    </p:cNvPr>
          <p:cNvPicPr>
            <a:picLocks noChangeAspect="1"/>
          </p:cNvPicPr>
          <p:nvPr/>
        </p:nvPicPr>
        <p:blipFill>
          <a:blip r:embed="rId4"/>
          <a:srcRect l="0" r="0" t="-408" b="-408"/>
          <a:stretch/>
        </p:blipFill>
        <p:spPr>
          <a:xfrm>
            <a:off x="13411505" y="7981798"/>
            <a:ext cx="1904695" cy="19202"/>
          </a:xfrm>
          <a:prstGeom prst="rect">
            <a:avLst/>
          </a:prstGeom>
        </p:spPr>
      </p:pic>
      <p:pic>
        <p:nvPicPr>
          <p:cNvPr id="8" name="Image 4" descr="gen-dedup-717211d784b358d05be555bc9a800c4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11505" y="2266798"/>
            <a:ext cx="4000500" cy="1904695"/>
          </a:xfrm>
          <a:prstGeom prst="rect">
            <a:avLst/>
          </a:prstGeom>
        </p:spPr>
      </p:pic>
      <p:pic>
        <p:nvPicPr>
          <p:cNvPr id="9" name="Image 5" descr="gen-dedup-2e3433b710fe6c1c5fe2955427e4becf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11505" y="5029200"/>
            <a:ext cx="4000500" cy="1904695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1218895" y="1410005"/>
            <a:ext cx="16193110" cy="3246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5C647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배선 구조 단면 비교 · 세 방식, 치수는 Murdoch VLSI 2022·Montero Alvarez IITC 2022 본문값</a:t>
            </a:r>
            <a:endParaRPr lang="en-US" sz="1800" dirty="0"/>
          </a:p>
        </p:txBody>
      </p:sp>
      <p:sp>
        <p:nvSpPr>
          <p:cNvPr id="11" name="Text 3"/>
          <p:cNvSpPr txBox="1"/>
          <p:nvPr/>
        </p:nvSpPr>
        <p:spPr>
          <a:xfrm>
            <a:off x="1218895" y="2266798"/>
            <a:ext cx="2667305" cy="1524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0" b="1" spc="-600" kern="0" dirty="0">
                <a:solidFill>
                  <a:srgbClr val="1A2F4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</a:t>
            </a:r>
            <a:endParaRPr lang="en-US" sz="12000" dirty="0"/>
          </a:p>
        </p:txBody>
      </p:sp>
      <p:sp>
        <p:nvSpPr>
          <p:cNvPr id="12" name="Text 4"/>
          <p:cNvSpPr txBox="1"/>
          <p:nvPr/>
        </p:nvSpPr>
        <p:spPr>
          <a:xfrm>
            <a:off x="1218895" y="4647895"/>
            <a:ext cx="10478110" cy="1067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1E25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③는 연결 경로 자체를 줄여 저항과 면적을 동시에 벌지만, AR 7.7 에칭과 충진이라는 공정 난이도를 새로 집니다.</a:t>
            </a:r>
            <a:endParaRPr lang="en-US" sz="3000" dirty="0"/>
          </a:p>
        </p:txBody>
      </p:sp>
      <p:sp>
        <p:nvSpPr>
          <p:cNvPr id="13" name="Text 5"/>
          <p:cNvSpPr txBox="1"/>
          <p:nvPr/>
        </p:nvSpPr>
        <p:spPr>
          <a:xfrm>
            <a:off x="1600200" y="7886700"/>
            <a:ext cx="1047811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E253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세 가지 배선 구조를 같은 척도로 놓으면</a:t>
            </a:r>
            <a:endParaRPr lang="en-US" sz="2850" dirty="0"/>
          </a:p>
        </p:txBody>
      </p:sp>
      <p:sp>
        <p:nvSpPr>
          <p:cNvPr id="14" name="Text 6"/>
          <p:cNvSpPr txBox="1"/>
          <p:nvPr/>
        </p:nvSpPr>
        <p:spPr>
          <a:xfrm>
            <a:off x="13411505" y="4267505"/>
            <a:ext cx="4000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56 nm Cu dual-damascene, ScienceDirect</a:t>
            </a:r>
            <a:endParaRPr lang="en-US" sz="1050" dirty="0"/>
          </a:p>
        </p:txBody>
      </p:sp>
      <p:sp>
        <p:nvSpPr>
          <p:cNvPr id="15" name="Text 7"/>
          <p:cNvSpPr txBox="1"/>
          <p:nvPr/>
        </p:nvSpPr>
        <p:spPr>
          <a:xfrm>
            <a:off x="13411505" y="7029907"/>
            <a:ext cx="400050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B95A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70 nm air-gap, ScienceDirect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2026-10-03T16:48:59Z</dcterms:created>
  <dcterms:modified xsi:type="dcterms:W3CDTF">2026-10-03T16:48:59Z</dcterms:modified>
</cp:coreProperties>
</file>