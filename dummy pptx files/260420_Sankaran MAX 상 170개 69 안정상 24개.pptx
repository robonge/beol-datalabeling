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jpe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jpeg"/><Relationship Id="rId4" Type="http://schemas.openxmlformats.org/officeDocument/2006/relationships/image" Target="../media/image-2-4.png"/><Relationship Id="rId5" Type="http://schemas.openxmlformats.org/officeDocument/2006/relationships/image" Target="../media/image-2-5.jpe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jpe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jpe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3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c63e8ff1a2a828739620f600e986f0a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3" name="Image 1" descr="gen-dedup-cdb75ab0098e2d7bb2bfeeba8e7a4331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857707" y="1181405"/>
            <a:ext cx="16573500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8382305"/>
            <a:ext cx="3619195" cy="1143000"/>
          </a:xfrm>
          <a:prstGeom prst="rect">
            <a:avLst/>
          </a:prstGeom>
          <a:solidFill>
            <a:srgbClr val="F6F0D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9905695" y="2667305"/>
            <a:ext cx="7524598" cy="4190695"/>
          </a:xfrm>
          <a:prstGeom prst="rect">
            <a:avLst/>
          </a:prstGeom>
          <a:solidFill>
            <a:srgbClr val="1613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905695" y="7429500"/>
            <a:ext cx="3619195" cy="1143000"/>
          </a:xfrm>
          <a:prstGeom prst="rect">
            <a:avLst/>
          </a:prstGeom>
          <a:solidFill>
            <a:srgbClr val="F6F0D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3811098" y="7429500"/>
            <a:ext cx="3619195" cy="1143000"/>
          </a:xfrm>
          <a:prstGeom prst="rect">
            <a:avLst/>
          </a:prstGeom>
          <a:solidFill>
            <a:srgbClr val="1613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2" descr="gen-dedup-5c990eaa62238355efd0aea3f087f429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1143000" y="2857500"/>
            <a:ext cx="571500" cy="19202"/>
          </a:xfrm>
          <a:prstGeom prst="rect">
            <a:avLst/>
          </a:prstGeom>
        </p:spPr>
      </p:pic>
      <p:pic>
        <p:nvPicPr>
          <p:cNvPr id="9" name="Image 3" descr="gen-dedup-a9334faabe45278301df72915df46656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1143000" y="8382305"/>
            <a:ext cx="57607" cy="1143000"/>
          </a:xfrm>
          <a:prstGeom prst="rect">
            <a:avLst/>
          </a:prstGeom>
        </p:spPr>
      </p:pic>
      <p:pic>
        <p:nvPicPr>
          <p:cNvPr id="10" name="Image 4" descr="gen-dedup-aeb9fcc4a68da48df9acd95f51c14d3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707" y="2762402"/>
            <a:ext cx="7334402" cy="4000500"/>
          </a:xfrm>
          <a:prstGeom prst="rect">
            <a:avLst/>
          </a:prstGeom>
        </p:spPr>
      </p:pic>
      <p:pic>
        <p:nvPicPr>
          <p:cNvPr id="11" name="Image 5" descr="gen-dedup-3bb56534e432b05cf0cee48025a6dd85.png">    </p:cNvPr>
          <p:cNvPicPr>
            <a:picLocks noChangeAspect="1"/>
          </p:cNvPicPr>
          <p:nvPr/>
        </p:nvPicPr>
        <p:blipFill>
          <a:blip r:embed="rId6"/>
          <a:srcRect l="-400" r="-400" t="0" b="0"/>
          <a:stretch/>
        </p:blipFill>
        <p:spPr>
          <a:xfrm>
            <a:off x="9905695" y="7429500"/>
            <a:ext cx="57607" cy="1143000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857707" y="761695"/>
            <a:ext cx="3620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432" kern="0" dirty="0">
                <a:solidFill>
                  <a:srgbClr val="7C756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 — Sankaran</a:t>
            </a:r>
            <a:endParaRPr lang="en-US" sz="1350" dirty="0"/>
          </a:p>
        </p:txBody>
      </p:sp>
      <p:sp>
        <p:nvSpPr>
          <p:cNvPr id="13" name="Text 5"/>
          <p:cNvSpPr txBox="1"/>
          <p:nvPr/>
        </p:nvSpPr>
        <p:spPr>
          <a:xfrm>
            <a:off x="13811098" y="761695"/>
            <a:ext cx="3620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spc="243" kern="0" dirty="0">
                <a:solidFill>
                  <a:srgbClr val="4A443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MAX 상 · 전자구조 계산</a:t>
            </a:r>
            <a:endParaRPr lang="en-US" sz="1350" dirty="0"/>
          </a:p>
        </p:txBody>
      </p:sp>
      <p:sp>
        <p:nvSpPr>
          <p:cNvPr id="14" name="Text 6"/>
          <p:cNvSpPr txBox="1"/>
          <p:nvPr/>
        </p:nvSpPr>
        <p:spPr>
          <a:xfrm>
            <a:off x="857707" y="1619402"/>
            <a:ext cx="165735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A181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Sankaran은 MAX 상 170개를 전자구조 계산으로 걸렀고</a:t>
            </a:r>
            <a:endParaRPr lang="en-US" sz="2400" dirty="0"/>
          </a:p>
        </p:txBody>
      </p:sp>
      <p:sp>
        <p:nvSpPr>
          <p:cNvPr id="15" name="Text 7"/>
          <p:cNvSpPr txBox="1"/>
          <p:nvPr/>
        </p:nvSpPr>
        <p:spPr>
          <a:xfrm>
            <a:off x="1143000" y="3010205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336" kern="0" dirty="0">
                <a:solidFill>
                  <a:srgbClr val="7C756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안정상</a:t>
            </a:r>
            <a:endParaRPr lang="en-US" sz="1050" dirty="0"/>
          </a:p>
        </p:txBody>
      </p:sp>
      <p:sp>
        <p:nvSpPr>
          <p:cNvPr id="16" name="Text 8"/>
          <p:cNvSpPr txBox="1"/>
          <p:nvPr/>
        </p:nvSpPr>
        <p:spPr>
          <a:xfrm>
            <a:off x="1143000" y="3429000"/>
            <a:ext cx="3620110" cy="2572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0" b="1" spc="-900" kern="0" dirty="0">
                <a:solidFill>
                  <a:srgbClr val="7E2A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69</a:t>
            </a:r>
            <a:endParaRPr lang="en-US" sz="22500" dirty="0"/>
          </a:p>
        </p:txBody>
      </p:sp>
      <p:sp>
        <p:nvSpPr>
          <p:cNvPr id="17" name="Text 9"/>
          <p:cNvSpPr txBox="1"/>
          <p:nvPr/>
        </p:nvSpPr>
        <p:spPr>
          <a:xfrm>
            <a:off x="4515307" y="4924044"/>
            <a:ext cx="362102" cy="107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dirty="0">
                <a:solidFill>
                  <a:srgbClr val="1A181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</a:t>
            </a:r>
            <a:endParaRPr lang="en-US" sz="3150" dirty="0"/>
          </a:p>
        </p:txBody>
      </p:sp>
      <p:sp>
        <p:nvSpPr>
          <p:cNvPr id="18" name="Text 10"/>
          <p:cNvSpPr txBox="1"/>
          <p:nvPr/>
        </p:nvSpPr>
        <p:spPr>
          <a:xfrm>
            <a:off x="1181405" y="6953098"/>
            <a:ext cx="782817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1A181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안정상이 Cu보다 높은 응집에너지와 낮은 ρ₀·λ를 동시에 가졌으며</a:t>
            </a:r>
            <a:endParaRPr lang="en-US" sz="1950" dirty="0"/>
          </a:p>
        </p:txBody>
      </p:sp>
      <p:sp>
        <p:nvSpPr>
          <p:cNvPr id="19" name="Text 11"/>
          <p:cNvSpPr txBox="1"/>
          <p:nvPr/>
        </p:nvSpPr>
        <p:spPr>
          <a:xfrm>
            <a:off x="1410005" y="8553298"/>
            <a:ext cx="675742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81" kern="0" dirty="0">
                <a:solidFill>
                  <a:srgbClr val="1A181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24</a:t>
            </a:r>
            <a:endParaRPr lang="en-US" sz="4050" dirty="0"/>
          </a:p>
        </p:txBody>
      </p:sp>
      <p:sp>
        <p:nvSpPr>
          <p:cNvPr id="20" name="Text 12"/>
          <p:cNvSpPr txBox="1"/>
          <p:nvPr/>
        </p:nvSpPr>
        <p:spPr>
          <a:xfrm>
            <a:off x="2139696" y="8791956"/>
            <a:ext cx="178308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81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</a:t>
            </a:r>
            <a:endParaRPr lang="en-US" sz="1350" dirty="0"/>
          </a:p>
        </p:txBody>
      </p:sp>
      <p:sp>
        <p:nvSpPr>
          <p:cNvPr id="21" name="Text 13"/>
          <p:cNvSpPr txBox="1"/>
          <p:nvPr/>
        </p:nvSpPr>
        <p:spPr>
          <a:xfrm>
            <a:off x="1410005" y="9124798"/>
            <a:ext cx="3238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81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Ru보다도 좋았습니다</a:t>
            </a:r>
            <a:endParaRPr lang="en-US" sz="1350" dirty="0"/>
          </a:p>
        </p:txBody>
      </p:sp>
      <p:sp>
        <p:nvSpPr>
          <p:cNvPr id="22" name="Text 14"/>
          <p:cNvSpPr txBox="1"/>
          <p:nvPr/>
        </p:nvSpPr>
        <p:spPr>
          <a:xfrm>
            <a:off x="9905695" y="6953098"/>
            <a:ext cx="75255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7C756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Cu/Co-W barrier TEM · 공개 학술 자료</a:t>
            </a:r>
            <a:endParaRPr lang="en-US" sz="1050" dirty="0"/>
          </a:p>
        </p:txBody>
      </p:sp>
      <p:sp>
        <p:nvSpPr>
          <p:cNvPr id="23" name="Text 15"/>
          <p:cNvSpPr txBox="1"/>
          <p:nvPr/>
        </p:nvSpPr>
        <p:spPr>
          <a:xfrm>
            <a:off x="10172700" y="7601407"/>
            <a:ext cx="100858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81" kern="0" dirty="0">
                <a:solidFill>
                  <a:srgbClr val="1F4F4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170</a:t>
            </a:r>
            <a:endParaRPr lang="en-US" sz="4050" dirty="0"/>
          </a:p>
        </p:txBody>
      </p:sp>
      <p:sp>
        <p:nvSpPr>
          <p:cNvPr id="24" name="Text 16"/>
          <p:cNvSpPr txBox="1"/>
          <p:nvPr/>
        </p:nvSpPr>
        <p:spPr>
          <a:xfrm>
            <a:off x="11201400" y="7867498"/>
            <a:ext cx="532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81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MAX 상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10172700" y="8172907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43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전자구조 계산으로 걸렀고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14078102" y="7601407"/>
            <a:ext cx="3238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264" kern="0" dirty="0">
                <a:solidFill>
                  <a:srgbClr val="B0894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최저값</a:t>
            </a:r>
            <a:endParaRPr lang="en-US" sz="825" dirty="0"/>
          </a:p>
        </p:txBody>
      </p:sp>
      <p:sp>
        <p:nvSpPr>
          <p:cNvPr id="27" name="Text 19"/>
          <p:cNvSpPr txBox="1"/>
          <p:nvPr/>
        </p:nvSpPr>
        <p:spPr>
          <a:xfrm>
            <a:off x="14078102" y="7800746"/>
            <a:ext cx="3238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6F0D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β-Ti₄InN₃ — Cu의 1/11</a:t>
            </a:r>
            <a:endParaRPr lang="en-US" sz="1350" dirty="0"/>
          </a:p>
        </p:txBody>
      </p:sp>
      <p:sp>
        <p:nvSpPr>
          <p:cNvPr id="28" name="Text 20"/>
          <p:cNvSpPr txBox="1"/>
          <p:nvPr/>
        </p:nvSpPr>
        <p:spPr>
          <a:xfrm>
            <a:off x="14078102" y="8044891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C8BBA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0.6×10⁻¹⁶ Ω·m²</a:t>
            </a:r>
            <a:endParaRPr lang="en-US" sz="975" dirty="0"/>
          </a:p>
        </p:txBody>
      </p:sp>
      <p:pic>
        <p:nvPicPr>
          <p:cNvPr id="29" name="Image 6" descr="gen-dedup-23e9bf47d2affd35af4bcf553610e757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5143500" y="9791395"/>
            <a:ext cx="228600" cy="914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505602" y="9658807"/>
            <a:ext cx="411114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43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다만 이들은 아직 박막 증착·에칭 실증이 없는 계산 단계입니다</a:t>
            </a:r>
            <a:endParaRPr lang="en-US" sz="1050" dirty="0"/>
          </a:p>
        </p:txBody>
      </p:sp>
      <p:sp>
        <p:nvSpPr>
          <p:cNvPr id="31" name="Text 22"/>
          <p:cNvSpPr txBox="1"/>
          <p:nvPr/>
        </p:nvSpPr>
        <p:spPr>
          <a:xfrm>
            <a:off x="17431207" y="9658807"/>
            <a:ext cx="762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88" kern="0" dirty="0">
                <a:solidFill>
                  <a:srgbClr val="7C756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01/03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3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3695" cy="10287000"/>
          </a:xfrm>
          <a:prstGeom prst="rect">
            <a:avLst/>
          </a:prstGeom>
          <a:solidFill>
            <a:srgbClr val="1613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05195" y="2857500"/>
            <a:ext cx="11811305" cy="1143000"/>
          </a:xfrm>
          <a:prstGeom prst="rect">
            <a:avLst/>
          </a:prstGeom>
          <a:solidFill>
            <a:srgbClr val="F6F0D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05195" y="4381805"/>
            <a:ext cx="3810305" cy="2286000"/>
          </a:xfrm>
          <a:prstGeom prst="rect">
            <a:avLst/>
          </a:prstGeom>
          <a:solidFill>
            <a:srgbClr val="F6F0D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05695" y="4381805"/>
            <a:ext cx="3810305" cy="2286000"/>
          </a:xfrm>
          <a:prstGeom prst="rect">
            <a:avLst/>
          </a:prstGeom>
          <a:solidFill>
            <a:srgbClr val="F6F0D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906195" y="4381805"/>
            <a:ext cx="3810305" cy="2286000"/>
          </a:xfrm>
          <a:prstGeom prst="rect">
            <a:avLst/>
          </a:prstGeom>
          <a:solidFill>
            <a:srgbClr val="F6F0D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05195" y="7048195"/>
            <a:ext cx="8096098" cy="2286000"/>
          </a:xfrm>
          <a:prstGeom prst="rect">
            <a:avLst/>
          </a:prstGeom>
          <a:solidFill>
            <a:srgbClr val="1613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92402" y="7048195"/>
            <a:ext cx="3524098" cy="2286000"/>
          </a:xfrm>
          <a:prstGeom prst="rect">
            <a:avLst/>
          </a:prstGeom>
          <a:solidFill>
            <a:srgbClr val="1613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1500" y="5333695"/>
            <a:ext cx="4190695" cy="2286000"/>
          </a:xfrm>
          <a:prstGeom prst="rect">
            <a:avLst/>
          </a:prstGeom>
          <a:solidFill>
            <a:srgbClr val="1F1D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gen-dedup-f7fbee5b24d3fddbf7178b31bdcb79f4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11" name="Image 1" descr="gen-dedup-53d099bc9abc4d94ad9a71261f5c6a22.png">    </p:cNvPr>
          <p:cNvPicPr>
            <a:picLocks noChangeAspect="1"/>
          </p:cNvPicPr>
          <p:nvPr/>
        </p:nvPicPr>
        <p:blipFill>
          <a:blip r:embed="rId2"/>
          <a:srcRect l="0" r="0" t="-420" b="-420"/>
          <a:stretch/>
        </p:blipFill>
        <p:spPr>
          <a:xfrm>
            <a:off x="571500" y="4095598"/>
            <a:ext cx="761695" cy="38405"/>
          </a:xfrm>
          <a:prstGeom prst="rect">
            <a:avLst/>
          </a:prstGeom>
        </p:spPr>
      </p:pic>
      <p:pic>
        <p:nvPicPr>
          <p:cNvPr id="12" name="Image 2" descr="gen-dedup-2a9661a48d38b611f92511742f4db36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8" y="5429707"/>
            <a:ext cx="4000500" cy="2095805"/>
          </a:xfrm>
          <a:prstGeom prst="rect">
            <a:avLst/>
          </a:prstGeom>
        </p:spPr>
      </p:pic>
      <p:pic>
        <p:nvPicPr>
          <p:cNvPr id="13" name="Image 3" descr="gen-dedup-3bb56534e432b05cf0cee48025a6dd85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5905195" y="2857500"/>
            <a:ext cx="57607" cy="1143000"/>
          </a:xfrm>
          <a:prstGeom prst="rect">
            <a:avLst/>
          </a:prstGeom>
        </p:spPr>
      </p:pic>
      <p:pic>
        <p:nvPicPr>
          <p:cNvPr id="14" name="Image 4" descr="gen-dedup-3576020d4e58b71be21bc26b9e07c016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1207" y="7144207"/>
            <a:ext cx="7905902" cy="2095805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71500" y="761695"/>
            <a:ext cx="4572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432" kern="0" dirty="0">
                <a:solidFill>
                  <a:srgbClr val="B0894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— Moors</a:t>
            </a:r>
            <a:endParaRPr lang="en-US" sz="1350" dirty="0"/>
          </a:p>
        </p:txBody>
      </p:sp>
      <p:sp>
        <p:nvSpPr>
          <p:cNvPr id="16" name="Text 9"/>
          <p:cNvSpPr txBox="1"/>
          <p:nvPr/>
        </p:nvSpPr>
        <p:spPr>
          <a:xfrm>
            <a:off x="571500" y="1524305"/>
            <a:ext cx="43818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spc="-22" kern="0" dirty="0">
                <a:solidFill>
                  <a:srgbClr val="F6F0D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비등방성 금속을 스칼라 ρ₀λ로 줄이면 잘못된 순위가 나온다고 지적하고</a:t>
            </a:r>
            <a:endParaRPr lang="en-US" sz="2250" dirty="0"/>
          </a:p>
        </p:txBody>
      </p:sp>
      <p:sp>
        <p:nvSpPr>
          <p:cNvPr id="17" name="Text 10"/>
          <p:cNvSpPr txBox="1"/>
          <p:nvPr/>
        </p:nvSpPr>
        <p:spPr>
          <a:xfrm>
            <a:off x="571500" y="4419295"/>
            <a:ext cx="4381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8BBA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유한온도 수송 텐서를 제안했습니다</a:t>
            </a:r>
            <a:endParaRPr lang="en-US" sz="1800" dirty="0"/>
          </a:p>
        </p:txBody>
      </p:sp>
      <p:sp>
        <p:nvSpPr>
          <p:cNvPr id="18" name="Text 11"/>
          <p:cNvSpPr txBox="1"/>
          <p:nvPr/>
        </p:nvSpPr>
        <p:spPr>
          <a:xfrm>
            <a:off x="571500" y="7772400"/>
            <a:ext cx="4191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36" kern="0" dirty="0">
                <a:solidFill>
                  <a:srgbClr val="8B84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V2AlC SEM · 공개 학술 자료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571500" y="9696298"/>
            <a:ext cx="4572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7C756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MAX 상 · anisotropy</a:t>
            </a:r>
            <a:endParaRPr lang="en-US" sz="975" dirty="0"/>
          </a:p>
        </p:txBody>
      </p:sp>
      <p:pic>
        <p:nvPicPr>
          <p:cNvPr id="20" name="Image 5" descr="gen-dedup-90857582e94c6f70cc01e8595f97bf3e.png">    </p:cNvPr>
          <p:cNvPicPr>
            <a:picLocks noChangeAspect="1"/>
          </p:cNvPicPr>
          <p:nvPr/>
        </p:nvPicPr>
        <p:blipFill>
          <a:blip r:embed="rId6"/>
          <a:srcRect l="-400" r="-400" t="0" b="0"/>
          <a:stretch/>
        </p:blipFill>
        <p:spPr>
          <a:xfrm>
            <a:off x="5905195" y="1143000"/>
            <a:ext cx="57607" cy="5715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191402" y="1143000"/>
            <a:ext cx="5143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336" kern="0" dirty="0">
                <a:solidFill>
                  <a:srgbClr val="7C756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300 K 계산 결과</a:t>
            </a:r>
            <a:endParaRPr lang="en-US" sz="1050" dirty="0"/>
          </a:p>
        </p:txBody>
      </p:sp>
      <p:sp>
        <p:nvSpPr>
          <p:cNvPr id="22" name="Text 14"/>
          <p:cNvSpPr txBox="1"/>
          <p:nvPr/>
        </p:nvSpPr>
        <p:spPr>
          <a:xfrm>
            <a:off x="6191402" y="1476756"/>
            <a:ext cx="58293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1A181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Ru는 전 방향, V₂AlC는 면내 방향, MoPt는 x·y 방향</a:t>
            </a:r>
            <a:endParaRPr lang="en-US" sz="1950" dirty="0"/>
          </a:p>
        </p:txBody>
      </p:sp>
      <p:sp>
        <p:nvSpPr>
          <p:cNvPr id="23" name="Text 15"/>
          <p:cNvSpPr txBox="1"/>
          <p:nvPr/>
        </p:nvSpPr>
        <p:spPr>
          <a:xfrm>
            <a:off x="6286500" y="3124505"/>
            <a:ext cx="39136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81" kern="0" dirty="0">
                <a:solidFill>
                  <a:srgbClr val="1A181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</a:t>
            </a:r>
            <a:endParaRPr lang="en-US" sz="4050" dirty="0"/>
          </a:p>
        </p:txBody>
      </p:sp>
      <p:sp>
        <p:nvSpPr>
          <p:cNvPr id="24" name="Text 16"/>
          <p:cNvSpPr txBox="1"/>
          <p:nvPr/>
        </p:nvSpPr>
        <p:spPr>
          <a:xfrm>
            <a:off x="6286500" y="3696005"/>
            <a:ext cx="44348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4A443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입방정</a:t>
            </a:r>
            <a:endParaRPr lang="en-US" sz="1125" dirty="0"/>
          </a:p>
        </p:txBody>
      </p:sp>
      <p:sp>
        <p:nvSpPr>
          <p:cNvPr id="25" name="Text 17"/>
          <p:cNvSpPr txBox="1"/>
          <p:nvPr/>
        </p:nvSpPr>
        <p:spPr>
          <a:xfrm>
            <a:off x="7011619" y="3258007"/>
            <a:ext cx="2862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7C756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700" dirty="0"/>
          </a:p>
        </p:txBody>
      </p:sp>
      <p:sp>
        <p:nvSpPr>
          <p:cNvPr id="26" name="Text 18"/>
          <p:cNvSpPr txBox="1"/>
          <p:nvPr/>
        </p:nvSpPr>
        <p:spPr>
          <a:xfrm>
            <a:off x="7636154" y="3124505"/>
            <a:ext cx="39136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81" kern="0" dirty="0">
                <a:solidFill>
                  <a:srgbClr val="B0894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</a:t>
            </a:r>
            <a:endParaRPr lang="en-US" sz="4050" dirty="0"/>
          </a:p>
        </p:txBody>
      </p:sp>
      <p:sp>
        <p:nvSpPr>
          <p:cNvPr id="27" name="Text 19"/>
          <p:cNvSpPr txBox="1"/>
          <p:nvPr/>
        </p:nvSpPr>
        <p:spPr>
          <a:xfrm>
            <a:off x="7636154" y="3696005"/>
            <a:ext cx="44348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4A443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삼사정</a:t>
            </a:r>
            <a:endParaRPr lang="en-US" sz="1125" dirty="0"/>
          </a:p>
        </p:txBody>
      </p:sp>
      <p:pic>
        <p:nvPicPr>
          <p:cNvPr id="28" name="Image 6" descr="gen-dedup-abb14c0ccf0f50d7bd01453fa426ccfa.png">    </p:cNvPr>
          <p:cNvPicPr>
            <a:picLocks noChangeAspect="1"/>
          </p:cNvPicPr>
          <p:nvPr/>
        </p:nvPicPr>
        <p:blipFill>
          <a:blip r:embed="rId7"/>
          <a:srcRect l="0" r="0" t="-2083" b="-2083"/>
          <a:stretch/>
        </p:blipFill>
        <p:spPr>
          <a:xfrm>
            <a:off x="8589874" y="3228746"/>
            <a:ext cx="9144" cy="5715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9170518" y="3386023"/>
            <a:ext cx="3338474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A443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결정계에 따라 독립 성분 수가 달라지고</a:t>
            </a:r>
            <a:endParaRPr lang="en-US" sz="1350" dirty="0"/>
          </a:p>
        </p:txBody>
      </p:sp>
      <p:sp>
        <p:nvSpPr>
          <p:cNvPr id="30" name="Text 21"/>
          <p:cNvSpPr txBox="1"/>
          <p:nvPr/>
        </p:nvSpPr>
        <p:spPr>
          <a:xfrm>
            <a:off x="6286500" y="4610405"/>
            <a:ext cx="3238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7C756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후보 01</a:t>
            </a:r>
            <a:endParaRPr lang="en-US" sz="975" dirty="0"/>
          </a:p>
        </p:txBody>
      </p:sp>
      <p:sp>
        <p:nvSpPr>
          <p:cNvPr id="31" name="Text 22"/>
          <p:cNvSpPr txBox="1"/>
          <p:nvPr/>
        </p:nvSpPr>
        <p:spPr>
          <a:xfrm>
            <a:off x="6286500" y="4962449"/>
            <a:ext cx="3238805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0" b="1" spc="-198" kern="0" dirty="0">
                <a:solidFill>
                  <a:srgbClr val="1F4F4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Ru</a:t>
            </a:r>
            <a:endParaRPr lang="en-US" sz="6600" dirty="0"/>
          </a:p>
        </p:txBody>
      </p:sp>
      <p:sp>
        <p:nvSpPr>
          <p:cNvPr id="32" name="Text 23"/>
          <p:cNvSpPr txBox="1"/>
          <p:nvPr/>
        </p:nvSpPr>
        <p:spPr>
          <a:xfrm>
            <a:off x="6286500" y="5971946"/>
            <a:ext cx="3238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81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 방향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10287000" y="4610405"/>
            <a:ext cx="3238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7C756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후보 02</a:t>
            </a:r>
            <a:endParaRPr lang="en-US" sz="975" dirty="0"/>
          </a:p>
        </p:txBody>
      </p:sp>
      <p:sp>
        <p:nvSpPr>
          <p:cNvPr id="34" name="Text 25"/>
          <p:cNvSpPr txBox="1"/>
          <p:nvPr/>
        </p:nvSpPr>
        <p:spPr>
          <a:xfrm>
            <a:off x="10287000" y="4962449"/>
            <a:ext cx="32388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40" kern="0" dirty="0">
                <a:solidFill>
                  <a:srgbClr val="B43D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V₂AlC</a:t>
            </a:r>
            <a:endParaRPr lang="en-US" sz="4050" dirty="0"/>
          </a:p>
        </p:txBody>
      </p:sp>
      <p:sp>
        <p:nvSpPr>
          <p:cNvPr id="35" name="Text 26"/>
          <p:cNvSpPr txBox="1"/>
          <p:nvPr/>
        </p:nvSpPr>
        <p:spPr>
          <a:xfrm>
            <a:off x="10287000" y="5648249"/>
            <a:ext cx="3238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81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면내 방향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14287500" y="4610405"/>
            <a:ext cx="3238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7C756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후보 03</a:t>
            </a:r>
            <a:endParaRPr lang="en-US" sz="975" dirty="0"/>
          </a:p>
        </p:txBody>
      </p:sp>
      <p:sp>
        <p:nvSpPr>
          <p:cNvPr id="37" name="Text 28"/>
          <p:cNvSpPr txBox="1"/>
          <p:nvPr/>
        </p:nvSpPr>
        <p:spPr>
          <a:xfrm>
            <a:off x="14287500" y="4962449"/>
            <a:ext cx="323880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48" kern="0" dirty="0">
                <a:solidFill>
                  <a:srgbClr val="1A181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MoPt</a:t>
            </a:r>
            <a:endParaRPr lang="en-US" sz="4800" dirty="0"/>
          </a:p>
        </p:txBody>
      </p:sp>
      <p:sp>
        <p:nvSpPr>
          <p:cNvPr id="38" name="Text 29"/>
          <p:cNvSpPr txBox="1"/>
          <p:nvPr/>
        </p:nvSpPr>
        <p:spPr>
          <a:xfrm>
            <a:off x="14287500" y="5743346"/>
            <a:ext cx="3238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81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x·y 방향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5905195" y="9430207"/>
            <a:ext cx="80970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36" kern="0" dirty="0">
                <a:solidFill>
                  <a:srgbClr val="7C756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Ti3SiC2 SEM · 공개 학술 자료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14477695" y="7334402"/>
            <a:ext cx="3048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B0894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Moors는 봤습니다</a:t>
            </a:r>
            <a:endParaRPr lang="en-US" sz="975" dirty="0"/>
          </a:p>
        </p:txBody>
      </p:sp>
      <p:sp>
        <p:nvSpPr>
          <p:cNvPr id="41" name="Text 32"/>
          <p:cNvSpPr txBox="1"/>
          <p:nvPr/>
        </p:nvSpPr>
        <p:spPr>
          <a:xfrm>
            <a:off x="14477695" y="7686446"/>
            <a:ext cx="331104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F6F0D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Cu를 능가할 여지가 있다고</a:t>
            </a:r>
            <a:endParaRPr lang="en-US" sz="1950" dirty="0"/>
          </a:p>
        </p:txBody>
      </p:sp>
      <p:sp>
        <p:nvSpPr>
          <p:cNvPr id="42" name="Text 33"/>
          <p:cNvSpPr txBox="1"/>
          <p:nvPr/>
        </p:nvSpPr>
        <p:spPr>
          <a:xfrm>
            <a:off x="17431207" y="9696298"/>
            <a:ext cx="762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88" kern="0" dirty="0">
                <a:solidFill>
                  <a:srgbClr val="7C756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02/03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0403d0a7724b4f886963b3de2c4ba9f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0" y="0"/>
            <a:ext cx="18288000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620902" y="1619402"/>
            <a:ext cx="3810305" cy="2667305"/>
          </a:xfrm>
          <a:prstGeom prst="rect">
            <a:avLst/>
          </a:prstGeom>
          <a:solidFill>
            <a:srgbClr val="1F1D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57707" y="6286500"/>
            <a:ext cx="5333695" cy="1714500"/>
          </a:xfrm>
          <a:prstGeom prst="rect">
            <a:avLst/>
          </a:prstGeom>
          <a:solidFill>
            <a:srgbClr val="1F1D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76695" y="6286500"/>
            <a:ext cx="5333695" cy="1714500"/>
          </a:xfrm>
          <a:prstGeom prst="rect">
            <a:avLst/>
          </a:prstGeom>
          <a:solidFill>
            <a:srgbClr val="1F1D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96598" y="6286500"/>
            <a:ext cx="5333695" cy="1714500"/>
          </a:xfrm>
          <a:prstGeom prst="rect">
            <a:avLst/>
          </a:prstGeom>
          <a:solidFill>
            <a:srgbClr val="1F1D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7707" y="8287207"/>
            <a:ext cx="16573500" cy="1143000"/>
          </a:xfrm>
          <a:prstGeom prst="rect">
            <a:avLst/>
          </a:prstGeom>
          <a:solidFill>
            <a:srgbClr val="1F1D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gen-dedup-afada18ea879934cf9d9c2797358c942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857707" y="9696298"/>
            <a:ext cx="571500" cy="9144"/>
          </a:xfrm>
          <a:prstGeom prst="rect">
            <a:avLst/>
          </a:prstGeom>
        </p:spPr>
      </p:pic>
      <p:pic>
        <p:nvPicPr>
          <p:cNvPr id="9" name="Image 2" descr="gen-dedup-d603c090c5d3a844166ec96ceec357f8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857707" y="4572000"/>
            <a:ext cx="1143000" cy="38405"/>
          </a:xfrm>
          <a:prstGeom prst="rect">
            <a:avLst/>
          </a:prstGeom>
        </p:spPr>
      </p:pic>
      <p:pic>
        <p:nvPicPr>
          <p:cNvPr id="10" name="Image 3" descr="gen-dedup-54e35d17758f377d65dadd1dfd0ca8d5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1714500"/>
            <a:ext cx="3619195" cy="2476195"/>
          </a:xfrm>
          <a:prstGeom prst="rect">
            <a:avLst/>
          </a:prstGeom>
        </p:spPr>
      </p:pic>
      <p:pic>
        <p:nvPicPr>
          <p:cNvPr id="11" name="Image 4" descr="gen-dedup-0c5d7f76ad442d8eca2e52465962d180.png">    </p:cNvPr>
          <p:cNvPicPr>
            <a:picLocks noChangeAspect="1"/>
          </p:cNvPicPr>
          <p:nvPr/>
        </p:nvPicPr>
        <p:blipFill>
          <a:blip r:embed="rId5"/>
          <a:srcRect l="-400" r="-400" t="0" b="0"/>
          <a:stretch/>
        </p:blipFill>
        <p:spPr>
          <a:xfrm>
            <a:off x="857707" y="6286500"/>
            <a:ext cx="57607" cy="1714500"/>
          </a:xfrm>
          <a:prstGeom prst="rect">
            <a:avLst/>
          </a:prstGeom>
        </p:spPr>
      </p:pic>
      <p:pic>
        <p:nvPicPr>
          <p:cNvPr id="12" name="Image 5" descr="gen-dedup-d03a1a74d24dcb2100d16102f7ead9e0.png">    </p:cNvPr>
          <p:cNvPicPr>
            <a:picLocks noChangeAspect="1"/>
          </p:cNvPicPr>
          <p:nvPr/>
        </p:nvPicPr>
        <p:blipFill>
          <a:blip r:embed="rId6"/>
          <a:srcRect l="-400" r="-400" t="0" b="0"/>
          <a:stretch/>
        </p:blipFill>
        <p:spPr>
          <a:xfrm>
            <a:off x="6476695" y="6286500"/>
            <a:ext cx="57607" cy="1714500"/>
          </a:xfrm>
          <a:prstGeom prst="rect">
            <a:avLst/>
          </a:prstGeom>
        </p:spPr>
      </p:pic>
      <p:pic>
        <p:nvPicPr>
          <p:cNvPr id="13" name="Image 6" descr="gen-dedup-840758f4b7a03ae191c0b993cefd31c9.png">    </p:cNvPr>
          <p:cNvPicPr>
            <a:picLocks noChangeAspect="1"/>
          </p:cNvPicPr>
          <p:nvPr/>
        </p:nvPicPr>
        <p:blipFill>
          <a:blip r:embed="rId7"/>
          <a:srcRect l="-400" r="-400" t="0" b="0"/>
          <a:stretch/>
        </p:blipFill>
        <p:spPr>
          <a:xfrm>
            <a:off x="12096598" y="6286500"/>
            <a:ext cx="57607" cy="1714500"/>
          </a:xfrm>
          <a:prstGeom prst="rect">
            <a:avLst/>
          </a:prstGeom>
        </p:spPr>
      </p:pic>
      <p:pic>
        <p:nvPicPr>
          <p:cNvPr id="14" name="Image 7" descr="gen-dedup-cd6da5c545be9dfc611c81aa688cac76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602" y="8382305"/>
            <a:ext cx="2857500" cy="952805"/>
          </a:xfrm>
          <a:prstGeom prst="rect">
            <a:avLst/>
          </a:prstGeom>
        </p:spPr>
      </p:pic>
      <p:sp>
        <p:nvSpPr>
          <p:cNvPr id="15" name="Text 5"/>
          <p:cNvSpPr txBox="1"/>
          <p:nvPr/>
        </p:nvSpPr>
        <p:spPr>
          <a:xfrm>
            <a:off x="857707" y="761695"/>
            <a:ext cx="5334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432" kern="0" dirty="0">
                <a:solidFill>
                  <a:srgbClr val="B0894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 — 정리</a:t>
            </a:r>
            <a:endParaRPr lang="en-US" sz="1350" dirty="0"/>
          </a:p>
        </p:txBody>
      </p:sp>
      <p:sp>
        <p:nvSpPr>
          <p:cNvPr id="16" name="Text 6"/>
          <p:cNvSpPr txBox="1"/>
          <p:nvPr/>
        </p:nvSpPr>
        <p:spPr>
          <a:xfrm>
            <a:off x="13811098" y="761695"/>
            <a:ext cx="3620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spc="270" kern="0" dirty="0">
                <a:solidFill>
                  <a:srgbClr val="C8BBA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MAX 세라믹 — 한 페이지</a:t>
            </a:r>
            <a:endParaRPr lang="en-US" sz="1350" dirty="0"/>
          </a:p>
        </p:txBody>
      </p:sp>
      <p:sp>
        <p:nvSpPr>
          <p:cNvPr id="17" name="Text 7"/>
          <p:cNvSpPr txBox="1"/>
          <p:nvPr/>
        </p:nvSpPr>
        <p:spPr>
          <a:xfrm>
            <a:off x="857707" y="1619402"/>
            <a:ext cx="12192610" cy="9052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0" b="1" spc="-120" kern="0" dirty="0">
                <a:solidFill>
                  <a:srgbClr val="F6F0D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이론상 Cu보다 </a:t>
            </a:r>
            <a:pPr algn="l" indent="0" marL="0">
              <a:buNone/>
            </a:pPr>
            <a:r>
              <a:rPr lang="en-US" sz="6000" b="1" spc="-120" kern="0" dirty="0">
                <a:solidFill>
                  <a:srgbClr val="B43D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5–11배</a:t>
            </a:r>
            <a:pPr algn="l" indent="0" marL="0">
              <a:buNone/>
            </a:pPr>
            <a:r>
              <a:rPr lang="en-US" sz="6000" b="1" spc="-120" kern="0" dirty="0">
                <a:solidFill>
                  <a:srgbClr val="F6F0D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좋은 지표</a:t>
            </a:r>
            <a:endParaRPr lang="en-US" sz="6000" dirty="0"/>
          </a:p>
        </p:txBody>
      </p:sp>
      <p:sp>
        <p:nvSpPr>
          <p:cNvPr id="18" name="Text 8"/>
          <p:cNvSpPr txBox="1"/>
          <p:nvPr/>
        </p:nvSpPr>
        <p:spPr>
          <a:xfrm>
            <a:off x="857707" y="4876495"/>
            <a:ext cx="121926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C8BBA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다만 이들은 아직 박막 증착·에칭 실증이 없는 계산 단계입니다</a:t>
            </a:r>
            <a:endParaRPr lang="en-US" sz="2100" dirty="0"/>
          </a:p>
        </p:txBody>
      </p:sp>
      <p:sp>
        <p:nvSpPr>
          <p:cNvPr id="19" name="Text 9"/>
          <p:cNvSpPr txBox="1"/>
          <p:nvPr/>
        </p:nvSpPr>
        <p:spPr>
          <a:xfrm>
            <a:off x="13620902" y="4381805"/>
            <a:ext cx="3810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36" kern="0" dirty="0">
                <a:solidFill>
                  <a:srgbClr val="8B84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Cu air-gap interconnect · 공개 자료</a:t>
            </a:r>
            <a:endParaRPr lang="en-US" sz="900" dirty="0"/>
          </a:p>
        </p:txBody>
      </p:sp>
      <p:sp>
        <p:nvSpPr>
          <p:cNvPr id="20" name="Text 10"/>
          <p:cNvSpPr txBox="1"/>
          <p:nvPr/>
        </p:nvSpPr>
        <p:spPr>
          <a:xfrm>
            <a:off x="1238098" y="6534302"/>
            <a:ext cx="4763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8B84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1/11</a:t>
            </a:r>
            <a:endParaRPr lang="en-US" sz="975" dirty="0"/>
          </a:p>
        </p:txBody>
      </p:sp>
      <p:sp>
        <p:nvSpPr>
          <p:cNvPr id="21" name="Text 11"/>
          <p:cNvSpPr txBox="1"/>
          <p:nvPr/>
        </p:nvSpPr>
        <p:spPr>
          <a:xfrm>
            <a:off x="1238098" y="6810451"/>
            <a:ext cx="47631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6F0D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Cu의 1/11</a:t>
            </a:r>
            <a:endParaRPr lang="en-US" sz="2100" dirty="0"/>
          </a:p>
        </p:txBody>
      </p:sp>
      <p:sp>
        <p:nvSpPr>
          <p:cNvPr id="22" name="Text 12"/>
          <p:cNvSpPr txBox="1"/>
          <p:nvPr/>
        </p:nvSpPr>
        <p:spPr>
          <a:xfrm>
            <a:off x="1238098" y="7213702"/>
            <a:ext cx="4763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BBA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β-Ti₄InN₃ — 0.6×10⁻¹⁶ Ω·m²</a:t>
            </a:r>
            <a:endParaRPr lang="en-US" sz="1200" dirty="0"/>
          </a:p>
        </p:txBody>
      </p:sp>
      <p:sp>
        <p:nvSpPr>
          <p:cNvPr id="23" name="Text 13"/>
          <p:cNvSpPr txBox="1"/>
          <p:nvPr/>
        </p:nvSpPr>
        <p:spPr>
          <a:xfrm>
            <a:off x="6858000" y="6534302"/>
            <a:ext cx="4763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8B84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→ 9</a:t>
            </a:r>
            <a:endParaRPr lang="en-US" sz="975" dirty="0"/>
          </a:p>
        </p:txBody>
      </p:sp>
      <p:sp>
        <p:nvSpPr>
          <p:cNvPr id="24" name="Text 14"/>
          <p:cNvSpPr txBox="1"/>
          <p:nvPr/>
        </p:nvSpPr>
        <p:spPr>
          <a:xfrm>
            <a:off x="6858000" y="6810451"/>
            <a:ext cx="476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6F0D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입방정 1개에서 삼사정 9개까지</a:t>
            </a:r>
            <a:endParaRPr lang="en-US" sz="1800" dirty="0"/>
          </a:p>
        </p:txBody>
      </p:sp>
      <p:sp>
        <p:nvSpPr>
          <p:cNvPr id="25" name="Text 15"/>
          <p:cNvSpPr txBox="1"/>
          <p:nvPr/>
        </p:nvSpPr>
        <p:spPr>
          <a:xfrm>
            <a:off x="6858000" y="7176211"/>
            <a:ext cx="4763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BBA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결정계에 따라 달라지고</a:t>
            </a:r>
            <a:endParaRPr lang="en-US" sz="1200" dirty="0"/>
          </a:p>
        </p:txBody>
      </p:sp>
      <p:sp>
        <p:nvSpPr>
          <p:cNvPr id="26" name="Text 16"/>
          <p:cNvSpPr txBox="1"/>
          <p:nvPr/>
        </p:nvSpPr>
        <p:spPr>
          <a:xfrm>
            <a:off x="12477902" y="6534302"/>
            <a:ext cx="4763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12" kern="0" dirty="0">
                <a:solidFill>
                  <a:srgbClr val="8B84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candidates</a:t>
            </a:r>
            <a:endParaRPr lang="en-US" sz="975" dirty="0"/>
          </a:p>
        </p:txBody>
      </p:sp>
      <p:sp>
        <p:nvSpPr>
          <p:cNvPr id="27" name="Text 17"/>
          <p:cNvSpPr txBox="1"/>
          <p:nvPr/>
        </p:nvSpPr>
        <p:spPr>
          <a:xfrm>
            <a:off x="12477902" y="6810451"/>
            <a:ext cx="47631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6F0D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Ru · V₂AlC · MoPt</a:t>
            </a:r>
            <a:endParaRPr lang="en-US" sz="1800" dirty="0"/>
          </a:p>
        </p:txBody>
      </p:sp>
      <p:sp>
        <p:nvSpPr>
          <p:cNvPr id="28" name="Text 18"/>
          <p:cNvSpPr txBox="1"/>
          <p:nvPr/>
        </p:nvSpPr>
        <p:spPr>
          <a:xfrm>
            <a:off x="12477902" y="7187184"/>
            <a:ext cx="4763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BBA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Cu를 능가할 여지가 있다고 봤습니다</a:t>
            </a:r>
            <a:endParaRPr lang="en-US" sz="1200" dirty="0"/>
          </a:p>
        </p:txBody>
      </p:sp>
      <p:sp>
        <p:nvSpPr>
          <p:cNvPr id="29" name="Text 19"/>
          <p:cNvSpPr txBox="1"/>
          <p:nvPr/>
        </p:nvSpPr>
        <p:spPr>
          <a:xfrm>
            <a:off x="4095598" y="8706002"/>
            <a:ext cx="10478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C8BBA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Cu dual-damascene interconnect · 공개 학술 자료</a:t>
            </a:r>
            <a:endParaRPr lang="en-US" sz="1350" dirty="0"/>
          </a:p>
        </p:txBody>
      </p:sp>
      <p:sp>
        <p:nvSpPr>
          <p:cNvPr id="30" name="Text 20"/>
          <p:cNvSpPr txBox="1"/>
          <p:nvPr/>
        </p:nvSpPr>
        <p:spPr>
          <a:xfrm>
            <a:off x="17431207" y="9696298"/>
            <a:ext cx="762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88" kern="0" dirty="0">
                <a:solidFill>
                  <a:srgbClr val="8B84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03/03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2026-10-03T16:47:40Z</dcterms:created>
  <dcterms:modified xsi:type="dcterms:W3CDTF">2026-10-03T16:47:40Z</dcterms:modified>
</cp:coreProperties>
</file>