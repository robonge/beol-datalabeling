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200400" cy="838505"/>
          </a:xfrm>
          <a:prstGeom prst="rect">
            <a:avLst/>
          </a:prstGeom>
        </p:spPr>
      </p:pic>
      <p:pic>
        <p:nvPicPr>
          <p:cNvPr id="3" name="Image 1" descr="gen-dedup-b75414675fdda3cebdc49e7c34b11c8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807" y="1067105"/>
            <a:ext cx="1837944" cy="8385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KVIP RXAJY071.65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6012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V0 BM (TaN) skip — Ru barrier-less fill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B(TiN 0.5 nm adhesion) 진행 시 ACI CD 0.3 nm 상향. pMTS 기준 BCD 0.5nm 열화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A(Seed1) ACI CD Δ+0.25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C(BL-Ru) ACI CD Δ+0.34 nm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-9.7% 감소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24582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ET 결과 MinA POR 대비 동등수준 / VCHN 소폭 열화 / VMA 3.8%p 열화, CMA 3.5%p 열화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31012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계면 adhesion 불량 및 void 추정, Ru 확산은 미관찰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55244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FIB/TEM 2 site 계면 void 확인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379567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A(Seed1) 는 VCHN/MinA POR 대비 동등수준 / VMA 4.3%p 열화, CMA 2.0%p 열화</a:t>
            </a:r>
            <a:endParaRPr lang="en-US" sz="127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428122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TiN 0.5 nm adhesion layer split 재평가 예정 (V0 DC 기준)</a:t>
            </a:r>
            <a:endParaRPr lang="en-US" sz="1275" dirty="0"/>
          </a:p>
        </p:txBody>
      </p:sp>
      <p:sp>
        <p:nvSpPr>
          <p:cNvPr id="18" name="Text 14"/>
          <p:cNvSpPr txBox="1"/>
          <p:nvPr/>
        </p:nvSpPr>
        <p:spPr>
          <a:xfrm>
            <a:off x="6381598" y="1943100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FSAV TEM (Mx / Mx+1)</a:t>
            </a:r>
            <a:endParaRPr lang="en-US" sz="825" dirty="0"/>
          </a:p>
        </p:txBody>
      </p:sp>
      <p:sp>
        <p:nvSpPr>
          <p:cNvPr id="19" name="Text 15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629400" y="3429000"/>
            <a:ext cx="1032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39212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10305"/>
            <a:ext cx="4000500" cy="10479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402690"/>
                <a:gridCol w="2375611"/>
                <a:gridCol w="4635094"/>
                <a:gridCol w="2407615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W06, W16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1.5 nm + Ru liner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W01, 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seed 1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0.5 nm adhesion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barrier-less Ru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4895698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420258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이전·이후 공정은 전 WF POR 동일 진행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461358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721047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Line Rs / Via Rc cumulative distribution</a:t>
            </a:r>
            <a:endParaRPr lang="en-US" sz="2325" dirty="0"/>
          </a:p>
        </p:txBody>
      </p:sp>
      <p:pic>
        <p:nvPicPr>
          <p:cNvPr id="3" name="Image 0" descr="gen-dedup-0bc88943c0e5f93e73b04bf82d971c54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9747c244c7fba2444e02310e70e21613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-10.3% / Via Rc -3.4%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-9.7% / Via Rc -1.0% (median, POR 대비)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04235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Line Rs -9.5% / Via Rc -3.5%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Line Rs by wafer</a:t>
            </a:r>
            <a:endParaRPr lang="en-US" sz="2325" dirty="0"/>
          </a:p>
        </p:txBody>
      </p:sp>
      <p:pic>
        <p:nvPicPr>
          <p:cNvPr id="3" name="Image 0" descr="gen-dedup-6e0db85ddb62325e5f0b0218fbe908f3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752.9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675.3 (-10.3%)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679.8 (-9.7%)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 median 681.6 (-9.5%)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477402" y="2560320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2026-10-04T13:15:31Z</dcterms:created>
  <dcterms:modified xsi:type="dcterms:W3CDTF">2026-10-04T13:15:31Z</dcterms:modified>
</cp:coreProperties>
</file>