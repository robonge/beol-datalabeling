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2는 평가의 배경과 목적을 정리한 페이지입니다. 28 nm 피치 이하로 내려가면서 Cu 자체의 비저항이 빠르게 올라가고, 같은 pitch에서 barrier가 두꺼우면 Cu가 차지하는 단면적이 줄어들어 실효 line 저항이 더 커지는 trade-off가 생깁니다. 여기에 reliability까지 더해지면 → barrier 선택이 단순한 두께 이슈가 아니라 line R, via R, EM, TDDB 네 축을 동시에 만족시켜야 하는 multi-objective 문제가 됩니다.
우리가 본 평가에서 답을 내려고 한 질문은 사실 두 가지입니다. 첫째 "과거 PVD Ta/TaN baseline 대비 ALD TaN + Ru liner가 어느 지표에서, 얼마나 개선되는가", 둘째 "개선이 빈약한 지표는 무엇이고, 그 이유는 wafer map과 step-by-step CD 어디서 드러나는가".
우측 4개 KPI 타일은 다음 슬라이드에서 다루게 될 metric과 정확히 매칭됩니다. Line R은 300 Ω/μm 미만, via R은 via당 5 Ω 미만, EM은 normalized 0.85배 이상, TDDB Vbd는 8 MV/cm 이상을 일단 internal bar로 잡고 데이터와 비교했습니다. 이 target 자체도 실제 prod rule이 아니라 internal baseline이라는 점 미리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3는 split 정의를 한 페이지로 정리한 것입니다. 좌측은 두 split이 공유하는 baseline recipe — 동일 layer, 동일 IMD, 동일 trench etch, 동일 wet clean, 동일 Cu plating, 동일 CMP, 동일 anneal, 동일 metrology — 를 grid 형태로 한 번에 보실 수 있도록 했습니다.
우측은 4매 wafer 표입니다. ALD split이 W01, W02 — ALD TaN 1.5 nm 위에 Ru liner 1.0 nm을 얹은 구성이고, PVD split이 W03, W04 — conventional PVD TaN/Ta 합쳐 3.0 nm, liner 없는 구성이 됩니다. W01, W03가 reference 위치 wafer고 W02, W04가 repeat wafer입니다.
강조하고 싶은 점은 모든 차이가 BM 모듈에만 있다는 것입니다. etch, clean, plating, CMP, anneal은 양쪽 split에서 완전히 동일한 recipe를 사용했고, 따라서 4매 사이의 모든 차이는 BM 공정에서만 나온다고 가정하고 다음 슬라이드부터 데이터를 보시면 됩니다. CMP time이나 anneal 시간 같은 공정 변수는 양쪽에서 lock 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4는 단면 이미지로 split 차이를 직관적으로 보여주는 페이지입니다. 두 이미지 모두 공개된 reference 단면 이미지를 활용했고, 좌측은 비교적 conformal 한 ALD 적층을, 우측은 dual damascene 구조를 잘 보여주는 단면을 배치했습니다.
본 평가의 캐시드 단면도 만들어 두었지만 정량 비교는 다음 슬라이드 CD variation과 uniformity에 양보하고, 이 페이지에서는 정성적 관찰을 정리합니다. 좌측 ALD는 via 측벽에서도 TaN이 비교적 두께 일정하고, trench-top corner에서 pinch-off 없이 Cu가 잘 채워진 형상입니다. 반대로 우측 PVD baseline은 via 측벽이 두껍고 via 바닥 쪽으로 갈수록 얇아지는 step coverage 문제가 보입니다.
"VS" 배지는 두 split을 시각적으로 분리해서 비교할 수 있도록 가운데에 배치했습니다. 우측 하단에는 출처를 명시했고, 두 단면 모두 dummy 본 평가 데이터가 아니라 외부 reference 단면임을 분명히 해둡니다. 정량 판단은 다음 슬라이드부터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5는 16개 데이터 포인트, 4 metric × 4 wafer를 한 표로 정리한 페이지입니다. metric은 단계별 — AASI는 post-litho / etch 중간 단계, ASEI는 sidewall etch 이후, AMI는 mask 단계, ACI는 CMP 이후 최종 CD입니다. 각 wafer row에 mean, 3σ, range, target Δ를 두고 49 pt 데이터로 계산했습니다.
가장 눈에 띄는 차이는 ALD split이 전반적으로 target에 가깝다는 점입니다. W01과 W02 모두 AASI / ASEI / AMI / ACI 어느 metric에서도 target Δ가 ±0.3 nm 안쪽입니다. 반면 W03, W04 PVD는 AASI에서 이미 −0.6 ~ −0.7, ACI에서 −0.4 ~ −0.5 nm under-shrink 됐고 3σ는 ALD 대비 약 1.5배 수준입니다.
같은 split 내 wafer-to-wafer reproducibility는 W01 vs W02, W03 vs W04가 거의 일치합니다 — 즉 차이가 split 사이에서만 나오고 wafer 사이에는 거의 없습니다. 이 표를 본 다음 슬라이드 step별 CD 추이 차트와 in-wafer uniformity 그리고 wafer map으로 내려가면서 어디서 차이가 누적되는지 따라가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6은 step별 ACI CD 평균을 두 split으로 그린 라인 차트입니다. X축은 4단계 — trench etch 직후, anneal 후, CMP 후, final anneal 후 — 이고, Y축은 ACI CD nm입니다. 9.5 nm target은 점선으로 표시했습니다.
ALD split은 post-etch에서 11.9 nm으로 PVD보다 일찍 출발하고, 매 단계마다 일정한 폭으로 줄어 post-anneal에서 9.55 nm, target과 +0.05 nm 차이로 떨어집니다. 반면 PVD는 12.6 nm에서 시작해서 매 step마다 loss 폭이 더 크고, 최종에서 9.05 nm으로 target보다 0.45 nm 작은 under-shrink 상태입니다.
이 차이가 분산으로도 이어집니다 — PVD의 경우 ALD 대비 매 step마다 3σ가 약 50% 더 컸고, 이는 다음 슬라이드 in-wafer uniformity와 wafer map에서 더 분명하게 드러납니다. 마지막 주석으로 "overshrinks past target" 곡선 화살표를 PVD 최종점에 붙여 어디서 target을 가로지르는지 시각화했습니다.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7은 region별 in-wafer uniformity를 정리한 표입니다. 49 pt 데이터를 wafer별로 center / middle / edge 3개 region으로 묶었고, 각 region의 sample n, mean nm, 3σ nm, uniformity %를 두었습니다. 우측 사이드 패널에는 49 pt wafer 전체 평균도 같이 보여서 region 단위와 wafer 단위를 함께 보실 수 있도록 했습니다.
가장 큰 차이는 두 가지입니다. 첫째, ALD의 edge region이 2.81 ~ 2.96%로 3% 안쪽이고, PVD는 4.76 ~ 5.16%로 5%를 넘깁니다. 둘째, PVD의 mean은 center 9.18에서 edge 8.72로 wafer 안에서 0.46 nm 차이를 보이지만 ALD의 mean은 9.62에서 9.45로 0.17 nm 차이로 center — edge drift가 훨씬 작습니다.
즉 PVD는 두 가지 문제, "전체적으로 under-shrink + 균일도도 떨어짐"을 동시에 갖고, ALD는 두 가지 모두 spec 안에 있습니다. uniformity % 산식은 3σ를 mean으로 나눈 백분율, region 안에서의 변동성으로 정의했고 footnote에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8은 split별 wafer 49 pt 색 히트맵입니다. W01 ALD와 W03 PVD 두 wafer를 보여드리고, 각 60×60 cell에 ACI CD 값을 표시했습니다. 색은 target 9.50 nm 대비 Δ로 5단계로 인코딩했고 우측 legend에서 확인하실 수 있습니다.
ALD W01은 전반적으로 target ±0.10 nm 안쪽의 band가 대부분이고, ±0.20 nm 이상으로 벗어난 점은 0개입니다. 가장자리로 갈수록 9.65 ~ 9.72 nm으로 약간 두꺼워지는 약한 "edge-high" 패턴이 있는데 그 폭도 ±0.20 안쪽입니다.
PVD W03는 패턴이 다릅니다. 중심 일대는 target 근처로 비슷하지만 가장자리 — 특히 4 모서리 — 로 갈수록 9.06 ~ 9.18 nm까지 깊이 빠집니다. spec-out 점이 18개로 상당수고, edge 영역에서 Cu ECD 채움이 불안정해 보입니다.
다음 슬라이드에서 전기적 결과로 넘어가서 이 CD 차가 line R, via R, EM, TDDB 어디까지 누적되는지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슬라이드는 전기적 4 metric을 wafer 4매 단위로 정리한 table입니다. 카드나 도식 없이 한 표에 wafer ID, split, 4개 지표 값을 모두 두었고 단위는 컬럼 헤더에 명시했습니다 — Ω/μm, Ω/via, × baseline 임의 단위, MV/cm입니다. spec row를 dark plate으로 본문과 분리해서 어떤 값이 spec-in / out인지 한눈에 보이게 했습니다.
Line R은 28 nm 피치 narrow line 실효 저항으로 split A 282 / 287, split B 314 / 309. spec 300 미만 기준으로 split A는 spec-in, split B는 spec-out. via R도 Ω/via, split A 4.1 / 4.3, split B 5.7 / 5.9로 split A만 spec 5.0 미만. EM MTTF는 baseline normalized로 split A는 1.02, 0.98, split B는 0.79, 0.77 — split B가 0.85 spec-out, TDDB Vbd는 split A 8.7 / 8.5 MV/cm으로 spec 통과, split B 7.5 / 7.3으로 spec-out.
우측 작은 summary 패널에는 split A · B line R과 via R의 split mean 한 번 더 정리, 우상단 legend로 색 코딩 확인.
모든 값 dummy, spec도 internal sample target이고 prod rule과 무관.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10은 이번 평가의 결론과 다음 단계를 정리한 closing 페이지입니다. 좌측에 4개 핵심 결론, 우측에 4개 next step을 두었습니다.
결론 4개를 짧게 짚어드리면 — 첫째 ALD split이 모든 단계의 CD에서 target에 가깝게 안착했고 분산도 작았고, 둘째 edge 균일도가 5% 안쪽으로 회복됐고, 셋째 line R, via R 모두 spec을 통과했고, 넷째 EM과 TDDB는 ALD도 여유가 작아 추가 검증이 필요한 영역으로 봤습니다.
Next step은 short / mid / long horizon으로 4개 두었습니다. 단기에는 ALD lot 추가 3매 + 다른 layer 재현성 확인, 중기 1은 ULK plasma damage 분리 평가로 ALD recipe window를 더 넓힐 수 있는지, 중기 2는 24·20 nm pitch까지 RSBM 한계 확인, 장기적으로는 ALD throughput과 step-coverage 이득을 trade-off로 정량 비교해 go / no-go를 결정하는 단계로 잡았습니다.
마지막으로 강조 — 본 평가는 사내 테스트 목적의 더미 데이터 기반 보고서 샘플입니다. 실제 결정을 위해서는 실측 데이터로 다시 받아 적어주셔야 한다는 점 한 번 더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7-1.png"/><Relationship Id="rId6" Type="http://schemas.openxmlformats.org/officeDocument/2006/relationships/image" Target="../media/image-7-1.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4953305"/>
            <a:ext cx="2857500" cy="1904695"/>
          </a:xfrm>
          <a:prstGeom prst="rect">
            <a:avLst/>
          </a:prstGeom>
          <a:solidFill>
            <a:srgbClr val="ECE5D1"/>
          </a:solidFill>
          <a:ln w="12700">
            <a:solidFill>
              <a:srgbClr val="FFFFFF">
                <a:alpha val="0"/>
              </a:srgbClr>
            </a:solidFill>
            <a:prstDash val="solid"/>
          </a:ln>
        </p:spPr>
      </p:sp>
      <p:sp>
        <p:nvSpPr>
          <p:cNvPr id="4" name="Shape 1"/>
          <p:cNvSpPr/>
          <p:nvPr/>
        </p:nvSpPr>
        <p:spPr>
          <a:xfrm>
            <a:off x="3810305" y="4953305"/>
            <a:ext cx="2857500" cy="1904695"/>
          </a:xfrm>
          <a:prstGeom prst="rect">
            <a:avLst/>
          </a:prstGeom>
          <a:solidFill>
            <a:srgbClr val="ECE5D1"/>
          </a:solidFill>
          <a:ln w="12700">
            <a:solidFill>
              <a:srgbClr val="FFFFFF">
                <a:alpha val="0"/>
              </a:srgbClr>
            </a:solidFill>
            <a:prstDash val="solid"/>
          </a:ln>
        </p:spPr>
      </p:sp>
      <p:sp>
        <p:nvSpPr>
          <p:cNvPr id="5" name="Shape 2"/>
          <p:cNvSpPr/>
          <p:nvPr/>
        </p:nvSpPr>
        <p:spPr>
          <a:xfrm>
            <a:off x="6762902" y="4953305"/>
            <a:ext cx="2857500" cy="1904695"/>
          </a:xfrm>
          <a:prstGeom prst="rect">
            <a:avLst/>
          </a:prstGeom>
          <a:solidFill>
            <a:srgbClr val="ECE5D1"/>
          </a:solidFill>
          <a:ln w="12700">
            <a:solidFill>
              <a:srgbClr val="FFFFFF">
                <a:alpha val="0"/>
              </a:srgbClr>
            </a:solidFill>
            <a:prstDash val="solid"/>
          </a:ln>
        </p:spPr>
      </p:sp>
      <p:sp>
        <p:nvSpPr>
          <p:cNvPr id="6" name="Shape 3"/>
          <p:cNvSpPr/>
          <p:nvPr/>
        </p:nvSpPr>
        <p:spPr>
          <a:xfrm>
            <a:off x="10287000" y="3619195"/>
            <a:ext cx="7144207" cy="5143500"/>
          </a:xfrm>
          <a:prstGeom prst="rect">
            <a:avLst/>
          </a:prstGeom>
          <a:solidFill>
            <a:srgbClr val="15202C"/>
          </a:solidFill>
          <a:ln w="12700">
            <a:solidFill>
              <a:srgbClr val="FFFFFF">
                <a:alpha val="0"/>
              </a:srgbClr>
            </a:solidFill>
            <a:prstDash val="solid"/>
          </a:ln>
        </p:spPr>
      </p:sp>
      <p:sp>
        <p:nvSpPr>
          <p:cNvPr id="7" name="Shape 4"/>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8" name="Text 5"/>
          <p:cNvSpPr txBox="1"/>
          <p:nvPr/>
        </p:nvSpPr>
        <p:spPr>
          <a:xfrm>
            <a:off x="1067105" y="771754"/>
            <a:ext cx="3067812"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BACKGROUND &amp; OBJECTIVES</a:t>
            </a:r>
            <a:endParaRPr lang="en-US" sz="1350" dirty="0"/>
          </a:p>
        </p:txBody>
      </p:sp>
      <p:sp>
        <p:nvSpPr>
          <p:cNvPr id="9" name="Text 6"/>
          <p:cNvSpPr txBox="1"/>
          <p:nvPr/>
        </p:nvSpPr>
        <p:spPr>
          <a:xfrm>
            <a:off x="857707" y="1238098"/>
            <a:ext cx="14287500" cy="1219810"/>
          </a:xfrm>
          <a:prstGeom prst="rect">
            <a:avLst/>
          </a:prstGeom>
          <a:noFill/>
          <a:ln/>
        </p:spPr>
        <p:txBody>
          <a:bodyPr wrap="square" lIns="0" tIns="0" rIns="0" bIns="0" rtlCol="0" anchor="t"/>
          <a:lstStyle/>
          <a:p>
            <a:pPr algn="l" indent="0" marL="0">
              <a:lnSpc>
                <a:spcPct val="118000"/>
              </a:lnSpc>
              <a:buNone/>
            </a:pPr>
            <a:r>
              <a:rPr lang="en-US" sz="4050" b="1" spc="-40" kern="0" dirty="0">
                <a:solidFill>
                  <a:srgbClr val="15202C"/>
                </a:solidFill>
                <a:latin typeface="Noto Sans KR" pitchFamily="34" charset="0"/>
                <a:ea typeface="Noto Sans KR" pitchFamily="34" charset="-122"/>
                <a:cs typeface="Noto Sans KR" pitchFamily="34" charset="-120"/>
              </a:rPr>
              <a:t>M2 RSBM 평가는</a:t>
            </a:r>
            <a:pPr algn="l" indent="0" marL="0">
              <a:lnSpc>
                <a:spcPct val="118000"/>
              </a:lnSpc>
              <a:buNone/>
            </a:pPr>
            <a:endParaRPr lang="en-US" sz="4050" dirty="0"/>
          </a:p>
          <a:p>
            <a:pPr algn="l" indent="0" marL="0">
              <a:lnSpc>
                <a:spcPct val="118000"/>
              </a:lnSpc>
              <a:buNone/>
            </a:pPr>
            <a:r>
              <a:rPr lang="en-US" sz="4050" b="1" spc="-40" kern="0" dirty="0">
                <a:solidFill>
                  <a:srgbClr val="15202C"/>
                </a:solidFill>
                <a:latin typeface="Noto Sans KR" pitchFamily="34" charset="0"/>
                <a:ea typeface="Noto Sans KR" pitchFamily="34" charset="-122"/>
                <a:cs typeface="Noto Sans KR" pitchFamily="34" charset="-120"/>
              </a:rPr>
              <a:t>Cu 배선 스케일링 한계에 대한 응답입니다.</a:t>
            </a:r>
            <a:endParaRPr lang="en-US" sz="4050" dirty="0"/>
          </a:p>
        </p:txBody>
      </p:sp>
      <p:sp>
        <p:nvSpPr>
          <p:cNvPr id="10" name="Text 7"/>
          <p:cNvSpPr txBox="1"/>
          <p:nvPr/>
        </p:nvSpPr>
        <p:spPr>
          <a:xfrm>
            <a:off x="857707" y="2857500"/>
            <a:ext cx="8572500" cy="981151"/>
          </a:xfrm>
          <a:prstGeom prst="rect">
            <a:avLst/>
          </a:prstGeom>
          <a:noFill/>
          <a:ln/>
        </p:spPr>
        <p:txBody>
          <a:bodyPr wrap="square" lIns="0" tIns="0" rIns="0" bIns="0" rtlCol="0" anchor="ctr"/>
          <a:lstStyle/>
          <a:p>
            <a:pPr algn="l" indent="0" marL="0">
              <a:lnSpc>
                <a:spcPts val="2558"/>
              </a:lnSpc>
              <a:buNone/>
            </a:pPr>
            <a:r>
              <a:rPr lang="en-US" sz="1650" dirty="0">
                <a:solidFill>
                  <a:srgbClr val="4A5563"/>
                </a:solidFill>
                <a:latin typeface="Noto Sans KR" pitchFamily="34" charset="0"/>
                <a:ea typeface="Noto Sans KR" pitchFamily="34" charset="-122"/>
                <a:cs typeface="Noto Sans KR" pitchFamily="34" charset="-120"/>
              </a:rPr>
              <a:t>28 nm 피치에서 배선 폭이 좁아질수록 Cu 자체의 비저항이 증가하고, Cu가 차지하는 단면적이 줄어 barrier 두께만큼 Cu 통전을 잃습니다. 본 평가는 그 trade-off를 BM 공정 측면에서 풀어보고자 합니다.</a:t>
            </a:r>
            <a:endParaRPr lang="en-US" sz="1650" dirty="0"/>
          </a:p>
        </p:txBody>
      </p:sp>
      <p:sp>
        <p:nvSpPr>
          <p:cNvPr id="11" name="Text 8"/>
          <p:cNvSpPr txBox="1"/>
          <p:nvPr/>
        </p:nvSpPr>
        <p:spPr>
          <a:xfrm>
            <a:off x="857707" y="4524451"/>
            <a:ext cx="743407" cy="191110"/>
          </a:xfrm>
          <a:prstGeom prst="rect">
            <a:avLst/>
          </a:prstGeom>
          <a:noFill/>
          <a:ln/>
        </p:spPr>
        <p:txBody>
          <a:bodyPr wrap="none" lIns="0" tIns="0" rIns="0" bIns="0" rtlCol="0" anchor="ctr"/>
          <a:lstStyle/>
          <a:p>
            <a:pPr algn="l" indent="0" marL="0">
              <a:buNone/>
            </a:pPr>
            <a:r>
              <a:rPr lang="en-US" sz="1050" spc="231" kern="0" dirty="0">
                <a:solidFill>
                  <a:srgbClr val="8A8473"/>
                </a:solidFill>
                <a:latin typeface="Noto Sans KR" pitchFamily="34" charset="0"/>
                <a:ea typeface="Noto Sans KR" pitchFamily="34" charset="-122"/>
                <a:cs typeface="Noto Sans KR" pitchFamily="34" charset="-120"/>
              </a:rPr>
              <a:t>Drivers</a:t>
            </a:r>
            <a:endParaRPr lang="en-US" sz="1050" dirty="0"/>
          </a:p>
        </p:txBody>
      </p:sp>
      <p:pic>
        <p:nvPicPr>
          <p:cNvPr id="12" name="Image 0" descr="gen-dedup-4669686a41beeca5954ff03ab87c73be.png">    </p:cNvPr>
          <p:cNvPicPr>
            <a:picLocks noChangeAspect="1"/>
          </p:cNvPicPr>
          <p:nvPr/>
        </p:nvPicPr>
        <p:blipFill>
          <a:blip r:embed="rId1"/>
          <a:srcRect l="-2083" r="-2083" t="0" b="0"/>
          <a:stretch/>
        </p:blipFill>
        <p:spPr>
          <a:xfrm>
            <a:off x="1709014" y="4614977"/>
            <a:ext cx="7910474" cy="9144"/>
          </a:xfrm>
          <a:prstGeom prst="rect">
            <a:avLst/>
          </a:prstGeom>
        </p:spPr>
      </p:pic>
      <p:sp>
        <p:nvSpPr>
          <p:cNvPr id="13" name="Text 9"/>
          <p:cNvSpPr txBox="1"/>
          <p:nvPr/>
        </p:nvSpPr>
        <p:spPr>
          <a:xfrm>
            <a:off x="1028700" y="5143500"/>
            <a:ext cx="2514600" cy="143561"/>
          </a:xfrm>
          <a:prstGeom prst="rect">
            <a:avLst/>
          </a:prstGeom>
          <a:noFill/>
          <a:ln/>
        </p:spPr>
        <p:txBody>
          <a:bodyPr wrap="none" lIns="0" tIns="0" rIns="0" bIns="0" rtlCol="0" anchor="ctr"/>
          <a:lstStyle/>
          <a:p>
            <a:pPr algn="l" indent="0" marL="0">
              <a:buNone/>
            </a:pPr>
            <a:r>
              <a:rPr lang="en-US" sz="900" spc="90" kern="0" dirty="0">
                <a:solidFill>
                  <a:srgbClr val="B75230"/>
                </a:solidFill>
                <a:latin typeface="IBM Plex Mono" pitchFamily="34" charset="0"/>
                <a:ea typeface="IBM Plex Mono" pitchFamily="34" charset="-122"/>
                <a:cs typeface="IBM Plex Mono" pitchFamily="34" charset="-120"/>
              </a:rPr>
              <a:t>01 · RESISTIVITY</a:t>
            </a:r>
            <a:endParaRPr lang="en-US" sz="900" dirty="0"/>
          </a:p>
        </p:txBody>
      </p:sp>
      <p:sp>
        <p:nvSpPr>
          <p:cNvPr id="14" name="Text 10"/>
          <p:cNvSpPr txBox="1"/>
          <p:nvPr/>
        </p:nvSpPr>
        <p:spPr>
          <a:xfrm>
            <a:off x="1028700"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Cu bulk R 증가</a:t>
            </a:r>
            <a:endParaRPr lang="en-US" sz="1800" dirty="0"/>
          </a:p>
        </p:txBody>
      </p:sp>
      <p:sp>
        <p:nvSpPr>
          <p:cNvPr id="15" name="Text 11"/>
          <p:cNvSpPr txBox="1"/>
          <p:nvPr/>
        </p:nvSpPr>
        <p:spPr>
          <a:xfrm>
            <a:off x="1028700"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28 nm 피치 이하에서 Cu grain 산란·surface 산란이 동시에 증가해 단면 저항이 pitch 감소보다 빠르게 올라갑니다.</a:t>
            </a:r>
            <a:endParaRPr lang="en-US" sz="1125" dirty="0"/>
          </a:p>
        </p:txBody>
      </p:sp>
      <p:sp>
        <p:nvSpPr>
          <p:cNvPr id="16" name="Text 12"/>
          <p:cNvSpPr txBox="1"/>
          <p:nvPr/>
        </p:nvSpPr>
        <p:spPr>
          <a:xfrm>
            <a:off x="3981298" y="5143500"/>
            <a:ext cx="2514600" cy="143561"/>
          </a:xfrm>
          <a:prstGeom prst="rect">
            <a:avLst/>
          </a:prstGeom>
          <a:noFill/>
          <a:ln/>
        </p:spPr>
        <p:txBody>
          <a:bodyPr wrap="none" lIns="0" tIns="0" rIns="0" bIns="0" rtlCol="0" anchor="ctr"/>
          <a:lstStyle/>
          <a:p>
            <a:pPr algn="l" indent="0" marL="0">
              <a:buNone/>
            </a:pPr>
            <a:r>
              <a:rPr lang="en-US" sz="900" spc="90" kern="0" dirty="0">
                <a:solidFill>
                  <a:srgbClr val="1F6F70"/>
                </a:solidFill>
                <a:latin typeface="IBM Plex Mono" pitchFamily="34" charset="0"/>
                <a:ea typeface="IBM Plex Mono" pitchFamily="34" charset="-122"/>
                <a:cs typeface="IBM Plex Mono" pitchFamily="34" charset="-120"/>
              </a:rPr>
              <a:t>02 · Cu VOLUME</a:t>
            </a:r>
            <a:endParaRPr lang="en-US" sz="900" dirty="0"/>
          </a:p>
        </p:txBody>
      </p:sp>
      <p:sp>
        <p:nvSpPr>
          <p:cNvPr id="17" name="Text 13"/>
          <p:cNvSpPr txBox="1"/>
          <p:nvPr/>
        </p:nvSpPr>
        <p:spPr>
          <a:xfrm>
            <a:off x="3981298"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Cu 트레이드오프</a:t>
            </a:r>
            <a:endParaRPr lang="en-US" sz="1800" dirty="0"/>
          </a:p>
        </p:txBody>
      </p:sp>
      <p:sp>
        <p:nvSpPr>
          <p:cNvPr id="18" name="Text 14"/>
          <p:cNvSpPr txBox="1"/>
          <p:nvPr/>
        </p:nvSpPr>
        <p:spPr>
          <a:xfrm>
            <a:off x="3981298"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Barrier가 두꺼울수록 Cu 단면적이 줄어 동일 pitch에서 실효 저항이 커지고 reliability margin도 감소합니다.</a:t>
            </a:r>
            <a:endParaRPr lang="en-US" sz="1125" dirty="0"/>
          </a:p>
        </p:txBody>
      </p:sp>
      <p:sp>
        <p:nvSpPr>
          <p:cNvPr id="19" name="Text 15"/>
          <p:cNvSpPr txBox="1"/>
          <p:nvPr/>
        </p:nvSpPr>
        <p:spPr>
          <a:xfrm>
            <a:off x="6933895" y="5143500"/>
            <a:ext cx="2514600" cy="143561"/>
          </a:xfrm>
          <a:prstGeom prst="rect">
            <a:avLst/>
          </a:prstGeom>
          <a:noFill/>
          <a:ln/>
        </p:spPr>
        <p:txBody>
          <a:bodyPr wrap="none" lIns="0" tIns="0" rIns="0" bIns="0" rtlCol="0" anchor="ctr"/>
          <a:lstStyle/>
          <a:p>
            <a:pPr algn="l" indent="0" marL="0">
              <a:buNone/>
            </a:pPr>
            <a:r>
              <a:rPr lang="en-US" sz="900" spc="90" kern="0" dirty="0">
                <a:solidFill>
                  <a:srgbClr val="C8862B"/>
                </a:solidFill>
                <a:latin typeface="IBM Plex Mono" pitchFamily="34" charset="0"/>
                <a:ea typeface="IBM Plex Mono" pitchFamily="34" charset="-122"/>
                <a:cs typeface="IBM Plex Mono" pitchFamily="34" charset="-120"/>
              </a:rPr>
              <a:t>03 · RELIABILITY</a:t>
            </a:r>
            <a:endParaRPr lang="en-US" sz="900" dirty="0"/>
          </a:p>
        </p:txBody>
      </p:sp>
      <p:sp>
        <p:nvSpPr>
          <p:cNvPr id="20" name="Text 16"/>
          <p:cNvSpPr txBox="1"/>
          <p:nvPr/>
        </p:nvSpPr>
        <p:spPr>
          <a:xfrm>
            <a:off x="6933895"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EM · TDDB 여유</a:t>
            </a:r>
            <a:endParaRPr lang="en-US" sz="1800" dirty="0"/>
          </a:p>
        </p:txBody>
      </p:sp>
      <p:sp>
        <p:nvSpPr>
          <p:cNvPr id="21" name="Text 17"/>
          <p:cNvSpPr txBox="1"/>
          <p:nvPr/>
        </p:nvSpPr>
        <p:spPr>
          <a:xfrm>
            <a:off x="6933895"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Cu 줄어드는 상황에서 EM 수명과 ULK TDDB 모두 신중한 barrier 선택 없이는 spec을 만족시키기 어렵습니다.</a:t>
            </a:r>
            <a:endParaRPr lang="en-US" sz="1125" dirty="0"/>
          </a:p>
        </p:txBody>
      </p:sp>
      <p:sp>
        <p:nvSpPr>
          <p:cNvPr id="22" name="Text 18"/>
          <p:cNvSpPr txBox="1"/>
          <p:nvPr/>
        </p:nvSpPr>
        <p:spPr>
          <a:xfrm>
            <a:off x="10573207" y="3905402"/>
            <a:ext cx="6572707" cy="191110"/>
          </a:xfrm>
          <a:prstGeom prst="rect">
            <a:avLst/>
          </a:prstGeom>
          <a:noFill/>
          <a:ln/>
        </p:spPr>
        <p:txBody>
          <a:bodyPr wrap="none" lIns="0" tIns="0" rIns="0" bIns="0" rtlCol="0" anchor="ctr"/>
          <a:lstStyle/>
          <a:p>
            <a:pPr algn="l" indent="0" marL="0">
              <a:buNone/>
            </a:pPr>
            <a:r>
              <a:rPr lang="en-US" sz="1050" spc="231" kern="0" dirty="0">
                <a:solidFill>
                  <a:srgbClr val="C8A961"/>
                </a:solidFill>
                <a:latin typeface="Noto Sans KR" pitchFamily="34" charset="0"/>
                <a:ea typeface="Noto Sans KR" pitchFamily="34" charset="-122"/>
                <a:cs typeface="Noto Sans KR" pitchFamily="34" charset="-120"/>
              </a:rPr>
              <a:t>본 평가의 핵심 KPI</a:t>
            </a:r>
            <a:endParaRPr lang="en-US" sz="1050" dirty="0"/>
          </a:p>
        </p:txBody>
      </p:sp>
      <p:sp>
        <p:nvSpPr>
          <p:cNvPr id="23" name="Text 19"/>
          <p:cNvSpPr txBox="1"/>
          <p:nvPr/>
        </p:nvSpPr>
        <p:spPr>
          <a:xfrm>
            <a:off x="10573207" y="4229100"/>
            <a:ext cx="6572707" cy="743407"/>
          </a:xfrm>
          <a:prstGeom prst="rect">
            <a:avLst/>
          </a:prstGeom>
          <a:noFill/>
          <a:ln/>
        </p:spPr>
        <p:txBody>
          <a:bodyPr wrap="square" lIns="0" tIns="0" rIns="0" bIns="0" rtlCol="0" anchor="t"/>
          <a:lstStyle/>
          <a:p>
            <a:pPr algn="l" indent="0" marL="0">
              <a:lnSpc>
                <a:spcPct val="130000"/>
              </a:lnSpc>
              <a:buNone/>
            </a:pPr>
            <a:r>
              <a:rPr lang="en-US" sz="2250" b="1" dirty="0">
                <a:solidFill>
                  <a:srgbClr val="F1ECDB"/>
                </a:solidFill>
                <a:latin typeface="Noto Sans KR" pitchFamily="34" charset="0"/>
                <a:ea typeface="Noto Sans KR" pitchFamily="34" charset="-122"/>
                <a:cs typeface="Noto Sans KR" pitchFamily="34" charset="-120"/>
              </a:rPr>
              <a:t>ALD vs PVD,</a:t>
            </a:r>
            <a:pPr algn="l" indent="0" marL="0">
              <a:lnSpc>
                <a:spcPct val="130000"/>
              </a:lnSpc>
              <a:buNone/>
            </a:pPr>
            <a:endParaRPr lang="en-US" sz="2250" dirty="0"/>
          </a:p>
          <a:p>
            <a:pPr algn="l" indent="0" marL="0">
              <a:lnSpc>
                <a:spcPct val="130000"/>
              </a:lnSpc>
              <a:buNone/>
            </a:pPr>
            <a:r>
              <a:rPr lang="en-US" sz="2250" b="1" dirty="0">
                <a:solidFill>
                  <a:srgbClr val="F1ECDB"/>
                </a:solidFill>
                <a:latin typeface="Noto Sans KR" pitchFamily="34" charset="0"/>
                <a:ea typeface="Noto Sans KR" pitchFamily="34" charset="-122"/>
                <a:cs typeface="Noto Sans KR" pitchFamily="34" charset="-120"/>
              </a:rPr>
              <a:t>무엇이 더 잘했는가?</a:t>
            </a:r>
            <a:endParaRPr lang="en-US" sz="2250" dirty="0"/>
          </a:p>
        </p:txBody>
      </p:sp>
      <p:sp>
        <p:nvSpPr>
          <p:cNvPr id="24" name="Text 20"/>
          <p:cNvSpPr txBox="1"/>
          <p:nvPr/>
        </p:nvSpPr>
        <p:spPr>
          <a:xfrm>
            <a:off x="10573207" y="53336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Line Resistance · M2</a:t>
            </a:r>
            <a:endParaRPr lang="en-US" sz="900" dirty="0"/>
          </a:p>
        </p:txBody>
      </p:sp>
      <p:sp>
        <p:nvSpPr>
          <p:cNvPr id="25" name="Text 21"/>
          <p:cNvSpPr txBox="1"/>
          <p:nvPr/>
        </p:nvSpPr>
        <p:spPr>
          <a:xfrm>
            <a:off x="10573207" y="5553151"/>
            <a:ext cx="3804818"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&lt; 300 Ω/μm</a:t>
            </a:r>
            <a:endParaRPr lang="en-US" sz="2700" dirty="0"/>
          </a:p>
        </p:txBody>
      </p:sp>
      <p:sp>
        <p:nvSpPr>
          <p:cNvPr id="26" name="Text 22"/>
          <p:cNvSpPr txBox="1"/>
          <p:nvPr/>
        </p:nvSpPr>
        <p:spPr>
          <a:xfrm>
            <a:off x="10573207" y="6143854"/>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28 nm 피치 narrow line 실효 저항</a:t>
            </a:r>
            <a:endParaRPr lang="en-US" sz="1125" dirty="0"/>
          </a:p>
        </p:txBody>
      </p:sp>
      <p:sp>
        <p:nvSpPr>
          <p:cNvPr id="27" name="Text 23"/>
          <p:cNvSpPr txBox="1"/>
          <p:nvPr/>
        </p:nvSpPr>
        <p:spPr>
          <a:xfrm>
            <a:off x="14002207" y="53336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Via Resistance</a:t>
            </a:r>
            <a:endParaRPr lang="en-US" sz="900" dirty="0"/>
          </a:p>
        </p:txBody>
      </p:sp>
      <p:sp>
        <p:nvSpPr>
          <p:cNvPr id="28" name="Text 24"/>
          <p:cNvSpPr txBox="1"/>
          <p:nvPr/>
        </p:nvSpPr>
        <p:spPr>
          <a:xfrm>
            <a:off x="14002207" y="5553151"/>
            <a:ext cx="4017874"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&lt; 5.0 Ω/via</a:t>
            </a:r>
            <a:endParaRPr lang="en-US" sz="2700" dirty="0"/>
          </a:p>
        </p:txBody>
      </p:sp>
      <p:sp>
        <p:nvSpPr>
          <p:cNvPr id="29" name="Text 25"/>
          <p:cNvSpPr txBox="1"/>
          <p:nvPr/>
        </p:nvSpPr>
        <p:spPr>
          <a:xfrm>
            <a:off x="14002207" y="6143854"/>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M1 → M2 단일 via contact</a:t>
            </a:r>
            <a:endParaRPr lang="en-US" sz="1125" dirty="0"/>
          </a:p>
        </p:txBody>
      </p:sp>
      <p:sp>
        <p:nvSpPr>
          <p:cNvPr id="30" name="Text 26"/>
          <p:cNvSpPr txBox="1"/>
          <p:nvPr/>
        </p:nvSpPr>
        <p:spPr>
          <a:xfrm>
            <a:off x="10573207" y="70481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EM MTTF · normalized</a:t>
            </a:r>
            <a:endParaRPr lang="en-US" sz="900" dirty="0"/>
          </a:p>
        </p:txBody>
      </p:sp>
      <p:sp>
        <p:nvSpPr>
          <p:cNvPr id="31" name="Text 27"/>
          <p:cNvSpPr txBox="1"/>
          <p:nvPr/>
        </p:nvSpPr>
        <p:spPr>
          <a:xfrm>
            <a:off x="10573207" y="7267651"/>
            <a:ext cx="3238805"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 0.85x</a:t>
            </a:r>
            <a:endParaRPr lang="en-US" sz="2700" dirty="0"/>
          </a:p>
        </p:txBody>
      </p:sp>
      <p:sp>
        <p:nvSpPr>
          <p:cNvPr id="32" name="Text 28"/>
          <p:cNvSpPr txBox="1"/>
          <p:nvPr/>
        </p:nvSpPr>
        <p:spPr>
          <a:xfrm>
            <a:off x="10573207" y="7858354"/>
            <a:ext cx="3543300"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use-condition package-level extrapolated</a:t>
            </a:r>
            <a:endParaRPr lang="en-US" sz="1125" dirty="0"/>
          </a:p>
        </p:txBody>
      </p:sp>
      <p:sp>
        <p:nvSpPr>
          <p:cNvPr id="33" name="Text 29"/>
          <p:cNvSpPr txBox="1"/>
          <p:nvPr/>
        </p:nvSpPr>
        <p:spPr>
          <a:xfrm>
            <a:off x="14002207" y="7048195"/>
            <a:ext cx="3238805" cy="18105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TDDB V</a:t>
            </a:r>
            <a:pPr algn="l" indent="0" marL="0">
              <a:buNone/>
            </a:pPr>
            <a:r>
              <a:rPr lang="en-US" sz="800" spc="90" kern="0" dirty="0">
                <a:solidFill>
                  <a:srgbClr val="8C99A6"/>
                </a:solidFill>
                <a:latin typeface="IBM Plex Mono" pitchFamily="34" charset="0"/>
                <a:ea typeface="IBM Plex Mono" pitchFamily="34" charset="-122"/>
                <a:cs typeface="IBM Plex Mono" pitchFamily="34" charset="-120"/>
              </a:rPr>
              <a:t>bd</a:t>
            </a:r>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 · ULK</a:t>
            </a:r>
            <a:endParaRPr lang="en-US" sz="900" dirty="0"/>
          </a:p>
        </p:txBody>
      </p:sp>
      <p:sp>
        <p:nvSpPr>
          <p:cNvPr id="34" name="Text 30"/>
          <p:cNvSpPr txBox="1"/>
          <p:nvPr/>
        </p:nvSpPr>
        <p:spPr>
          <a:xfrm>
            <a:off x="14002207" y="7299655"/>
            <a:ext cx="3238805" cy="991210"/>
          </a:xfrm>
          <a:prstGeom prst="rect">
            <a:avLst/>
          </a:prstGeom>
          <a:noFill/>
          <a:ln/>
        </p:spPr>
        <p:txBody>
          <a:bodyPr wrap="squar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 8.0 MV/cm</a:t>
            </a:r>
            <a:endParaRPr lang="en-US" sz="2700" dirty="0"/>
          </a:p>
        </p:txBody>
      </p:sp>
      <p:sp>
        <p:nvSpPr>
          <p:cNvPr id="35" name="Text 31"/>
          <p:cNvSpPr txBox="1"/>
          <p:nvPr/>
        </p:nvSpPr>
        <p:spPr>
          <a:xfrm>
            <a:off x="14002207" y="8385962"/>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 63.2% cumulative fail · SiCOH</a:t>
            </a:r>
            <a:endParaRPr lang="en-US" sz="1125" dirty="0"/>
          </a:p>
        </p:txBody>
      </p:sp>
      <p:pic>
        <p:nvPicPr>
          <p:cNvPr id="36"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37" name="Text 32"/>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4953305" cy="6096305"/>
          </a:xfrm>
          <a:prstGeom prst="rect">
            <a:avLst/>
          </a:prstGeom>
          <a:solidFill>
            <a:srgbClr val="ECE5D1"/>
          </a:solidFill>
          <a:ln w="12700">
            <a:solidFill>
              <a:srgbClr val="FFFFFF">
                <a:alpha val="0"/>
              </a:srgbClr>
            </a:solidFill>
            <a:prstDash val="solid"/>
          </a:ln>
        </p:spPr>
      </p:sp>
      <p:sp>
        <p:nvSpPr>
          <p:cNvPr id="4" name="Shape 1"/>
          <p:cNvSpPr/>
          <p:nvPr/>
        </p:nvSpPr>
        <p:spPr>
          <a:xfrm>
            <a:off x="6286500" y="4552798"/>
            <a:ext cx="11144707" cy="1028700"/>
          </a:xfrm>
          <a:prstGeom prst="rect">
            <a:avLst/>
          </a:prstGeom>
          <a:solidFill>
            <a:srgbClr val="E2EEEC"/>
          </a:solidFill>
          <a:ln w="12700">
            <a:solidFill>
              <a:srgbClr val="FFFFFF">
                <a:alpha val="0"/>
              </a:srgbClr>
            </a:solidFill>
            <a:prstDash val="solid"/>
          </a:ln>
        </p:spPr>
      </p:sp>
      <p:sp>
        <p:nvSpPr>
          <p:cNvPr id="5" name="Shape 2"/>
          <p:cNvSpPr/>
          <p:nvPr/>
        </p:nvSpPr>
        <p:spPr>
          <a:xfrm>
            <a:off x="6286500" y="5639105"/>
            <a:ext cx="11144707" cy="1028700"/>
          </a:xfrm>
          <a:prstGeom prst="rect">
            <a:avLst/>
          </a:prstGeom>
          <a:solidFill>
            <a:srgbClr val="E2EEEC"/>
          </a:solidFill>
          <a:ln w="12700">
            <a:solidFill>
              <a:srgbClr val="FFFFFF">
                <a:alpha val="0"/>
              </a:srgbClr>
            </a:solidFill>
            <a:prstDash val="solid"/>
          </a:ln>
        </p:spPr>
      </p:sp>
      <p:sp>
        <p:nvSpPr>
          <p:cNvPr id="6" name="Shape 3"/>
          <p:cNvSpPr/>
          <p:nvPr/>
        </p:nvSpPr>
        <p:spPr>
          <a:xfrm>
            <a:off x="6286500" y="6724498"/>
            <a:ext cx="11144707" cy="1028700"/>
          </a:xfrm>
          <a:prstGeom prst="rect">
            <a:avLst/>
          </a:prstGeom>
          <a:solidFill>
            <a:srgbClr val="F2DBCE"/>
          </a:solidFill>
          <a:ln w="12700">
            <a:solidFill>
              <a:srgbClr val="FFFFFF">
                <a:alpha val="0"/>
              </a:srgbClr>
            </a:solidFill>
            <a:prstDash val="solid"/>
          </a:ln>
        </p:spPr>
      </p:sp>
      <p:sp>
        <p:nvSpPr>
          <p:cNvPr id="7" name="Shape 4"/>
          <p:cNvSpPr/>
          <p:nvPr/>
        </p:nvSpPr>
        <p:spPr>
          <a:xfrm>
            <a:off x="6286500" y="7810805"/>
            <a:ext cx="11144707" cy="1028700"/>
          </a:xfrm>
          <a:prstGeom prst="rect">
            <a:avLst/>
          </a:prstGeom>
          <a:solidFill>
            <a:srgbClr val="F2DBCE"/>
          </a:solidFill>
          <a:ln w="12700">
            <a:solidFill>
              <a:srgbClr val="FFFFFF">
                <a:alpha val="0"/>
              </a:srgbClr>
            </a:solidFill>
            <a:prstDash val="solid"/>
          </a:ln>
        </p:spPr>
      </p:sp>
      <p:sp>
        <p:nvSpPr>
          <p:cNvPr id="8" name="Shape 5"/>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9" name="Text 6"/>
          <p:cNvSpPr txBox="1"/>
          <p:nvPr/>
        </p:nvSpPr>
        <p:spPr>
          <a:xfrm>
            <a:off x="1067105" y="771754"/>
            <a:ext cx="2467051"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SPLIT &amp; CONDITIONS</a:t>
            </a:r>
            <a:endParaRPr lang="en-US" sz="1350" dirty="0"/>
          </a:p>
        </p:txBody>
      </p:sp>
      <p:sp>
        <p:nvSpPr>
          <p:cNvPr id="10" name="Text 7"/>
          <p:cNvSpPr txBox="1"/>
          <p:nvPr/>
        </p:nvSpPr>
        <p:spPr>
          <a:xfrm>
            <a:off x="857707" y="1238098"/>
            <a:ext cx="14287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실험 조건과 split 정의</a:t>
            </a:r>
            <a:endParaRPr lang="en-US" sz="3600" dirty="0"/>
          </a:p>
        </p:txBody>
      </p:sp>
      <p:sp>
        <p:nvSpPr>
          <p:cNvPr id="11" name="Text 8"/>
          <p:cNvSpPr txBox="1"/>
          <p:nvPr/>
        </p:nvSpPr>
        <p:spPr>
          <a:xfrm>
            <a:off x="857707" y="1911096"/>
            <a:ext cx="14287500" cy="277063"/>
          </a:xfrm>
          <a:prstGeom prst="rect">
            <a:avLst/>
          </a:prstGeom>
          <a:noFill/>
          <a:ln/>
        </p:spPr>
        <p:txBody>
          <a:bodyPr wrap="none" lIns="0" tIns="0" rIns="0" bIns="0" rtlCol="0" anchor="ctr"/>
          <a:lstStyle/>
          <a:p>
            <a:pPr algn="l" indent="0" marL="0">
              <a:buNone/>
            </a:pPr>
            <a:r>
              <a:rPr lang="en-US" sz="1500" dirty="0">
                <a:solidFill>
                  <a:srgbClr val="4A5563"/>
                </a:solidFill>
                <a:latin typeface="Noto Sans KR" pitchFamily="34" charset="0"/>
                <a:ea typeface="Noto Sans KR" pitchFamily="34" charset="-122"/>
                <a:cs typeface="Noto Sans KR" pitchFamily="34" charset="-120"/>
              </a:rPr>
              <a:t>IMD · etch · CMP · anneal recipe는 두 split에서 동일하게 유지하고, 차이는 BM 공정의 방식과 두께, 그리고 liner 유무로만 둡니다.</a:t>
            </a:r>
            <a:endParaRPr lang="en-US" sz="1500" dirty="0"/>
          </a:p>
        </p:txBody>
      </p:sp>
      <p:sp>
        <p:nvSpPr>
          <p:cNvPr id="12" name="Text 9"/>
          <p:cNvSpPr txBox="1"/>
          <p:nvPr/>
        </p:nvSpPr>
        <p:spPr>
          <a:xfrm>
            <a:off x="1123798" y="3504895"/>
            <a:ext cx="4420210" cy="143561"/>
          </a:xfrm>
          <a:prstGeom prst="rect">
            <a:avLst/>
          </a:prstGeom>
          <a:noFill/>
          <a:ln/>
        </p:spPr>
        <p:txBody>
          <a:bodyPr wrap="none" lIns="0" tIns="0" rIns="0" bIns="0" rtlCol="0" anchor="ctr"/>
          <a:lstStyle/>
          <a:p>
            <a:pPr algn="l" indent="0" marL="0">
              <a:buNone/>
            </a:pPr>
            <a:r>
              <a:rPr lang="en-US" sz="900" spc="144" kern="0" dirty="0">
                <a:solidFill>
                  <a:srgbClr val="15202C"/>
                </a:solidFill>
                <a:latin typeface="IBM Plex Mono" pitchFamily="34" charset="0"/>
                <a:ea typeface="IBM Plex Mono" pitchFamily="34" charset="-122"/>
                <a:cs typeface="IBM Plex Mono" pitchFamily="34" charset="-120"/>
              </a:rPr>
              <a:t>SHARED · BASELINE</a:t>
            </a:r>
            <a:endParaRPr lang="en-US" sz="900" dirty="0"/>
          </a:p>
        </p:txBody>
      </p:sp>
      <p:sp>
        <p:nvSpPr>
          <p:cNvPr id="13" name="Text 10"/>
          <p:cNvSpPr txBox="1"/>
          <p:nvPr/>
        </p:nvSpPr>
        <p:spPr>
          <a:xfrm>
            <a:off x="1123798" y="3743554"/>
            <a:ext cx="4420210" cy="419710"/>
          </a:xfrm>
          <a:prstGeom prst="rect">
            <a:avLst/>
          </a:prstGeom>
          <a:noFill/>
          <a:ln/>
        </p:spPr>
        <p:txBody>
          <a:bodyPr wrap="none" lIns="0" tIns="0" rIns="0" bIns="0" rtlCol="0" anchor="ctr"/>
          <a:lstStyle/>
          <a:p>
            <a:pPr algn="l" indent="0" marL="0">
              <a:buNone/>
            </a:pPr>
            <a:r>
              <a:rPr lang="en-US" sz="2250" b="1" dirty="0">
                <a:solidFill>
                  <a:srgbClr val="15202C"/>
                </a:solidFill>
                <a:latin typeface="Noto Sans KR" pitchFamily="34" charset="0"/>
                <a:ea typeface="Noto Sans KR" pitchFamily="34" charset="-122"/>
                <a:cs typeface="Noto Sans KR" pitchFamily="34" charset="-120"/>
              </a:rPr>
              <a:t>공통 baseline</a:t>
            </a:r>
            <a:endParaRPr lang="en-US" sz="2250" dirty="0"/>
          </a:p>
        </p:txBody>
      </p:sp>
      <p:pic>
        <p:nvPicPr>
          <p:cNvPr id="14" name="Image 0" descr="gen-dedup-c1b35bf2e62e2ce8fa3000862483e733.png">    </p:cNvPr>
          <p:cNvPicPr>
            <a:picLocks noChangeAspect="1"/>
          </p:cNvPicPr>
          <p:nvPr/>
        </p:nvPicPr>
        <p:blipFill>
          <a:blip r:embed="rId1"/>
          <a:srcRect l="-2078" r="-2078" t="0" b="0"/>
          <a:stretch/>
        </p:blipFill>
        <p:spPr>
          <a:xfrm>
            <a:off x="1123798" y="4334256"/>
            <a:ext cx="4419295" cy="9144"/>
          </a:xfrm>
          <a:prstGeom prst="rect">
            <a:avLst/>
          </a:prstGeom>
        </p:spPr>
      </p:pic>
      <p:sp>
        <p:nvSpPr>
          <p:cNvPr id="15" name="Text 11"/>
          <p:cNvSpPr txBox="1"/>
          <p:nvPr/>
        </p:nvSpPr>
        <p:spPr>
          <a:xfrm>
            <a:off x="1123798" y="4334256"/>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Layer</a:t>
            </a:r>
            <a:endParaRPr lang="en-US" sz="975" dirty="0"/>
          </a:p>
        </p:txBody>
      </p:sp>
      <p:sp>
        <p:nvSpPr>
          <p:cNvPr id="16" name="Text 12"/>
          <p:cNvSpPr txBox="1"/>
          <p:nvPr/>
        </p:nvSpPr>
        <p:spPr>
          <a:xfrm>
            <a:off x="2628900" y="4334256"/>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M2 (28 nm pitch)</a:t>
            </a:r>
            <a:endParaRPr lang="en-US" sz="1275" dirty="0"/>
          </a:p>
        </p:txBody>
      </p:sp>
      <p:sp>
        <p:nvSpPr>
          <p:cNvPr id="17" name="Text 13"/>
          <p:cNvSpPr txBox="1"/>
          <p:nvPr/>
        </p:nvSpPr>
        <p:spPr>
          <a:xfrm>
            <a:off x="1123798" y="4743907"/>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IMD</a:t>
            </a:r>
            <a:endParaRPr lang="en-US" sz="975" dirty="0"/>
          </a:p>
        </p:txBody>
      </p:sp>
      <p:sp>
        <p:nvSpPr>
          <p:cNvPr id="18" name="Text 14"/>
          <p:cNvSpPr txBox="1"/>
          <p:nvPr/>
        </p:nvSpPr>
        <p:spPr>
          <a:xfrm>
            <a:off x="2628900" y="4743907"/>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ULK SiCOH · k = 2.55</a:t>
            </a:r>
            <a:endParaRPr lang="en-US" sz="1275" dirty="0"/>
          </a:p>
        </p:txBody>
      </p:sp>
      <p:sp>
        <p:nvSpPr>
          <p:cNvPr id="19" name="Text 15"/>
          <p:cNvSpPr txBox="1"/>
          <p:nvPr/>
        </p:nvSpPr>
        <p:spPr>
          <a:xfrm>
            <a:off x="1123798" y="5152644"/>
            <a:ext cx="1334110" cy="277063"/>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Trench Etch</a:t>
            </a:r>
            <a:endParaRPr lang="en-US" sz="975" dirty="0"/>
          </a:p>
        </p:txBody>
      </p:sp>
      <p:sp>
        <p:nvSpPr>
          <p:cNvPr id="20" name="Text 16"/>
          <p:cNvSpPr txBox="1"/>
          <p:nvPr/>
        </p:nvSpPr>
        <p:spPr>
          <a:xfrm>
            <a:off x="2628900" y="5152644"/>
            <a:ext cx="2915107" cy="277063"/>
          </a:xfrm>
          <a:prstGeom prst="rect">
            <a:avLst/>
          </a:prstGeom>
          <a:noFill/>
          <a:ln/>
        </p:spPr>
        <p:txBody>
          <a:bodyPr wrap="squar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Cap-IO etch · 25 s · CF</a:t>
            </a:r>
            <a:pPr algn="l" indent="0" marL="0">
              <a:buNone/>
            </a:pPr>
            <a:r>
              <a:rPr lang="en-US" sz="1063" dirty="0">
                <a:solidFill>
                  <a:srgbClr val="15202C"/>
                </a:solidFill>
                <a:latin typeface="Noto Sans KR" pitchFamily="34" charset="0"/>
                <a:ea typeface="Noto Sans KR" pitchFamily="34" charset="-122"/>
                <a:cs typeface="Noto Sans KR" pitchFamily="34" charset="-120"/>
              </a:rPr>
              <a:t>4</a:t>
            </a:r>
            <a:pPr algn="l" indent="0" marL="0">
              <a:buNone/>
            </a:pPr>
            <a:r>
              <a:rPr lang="en-US" sz="1275" dirty="0">
                <a:solidFill>
                  <a:srgbClr val="15202C"/>
                </a:solidFill>
                <a:latin typeface="Noto Sans KR" pitchFamily="34" charset="0"/>
                <a:ea typeface="Noto Sans KR" pitchFamily="34" charset="-122"/>
                <a:cs typeface="Noto Sans KR" pitchFamily="34" charset="-120"/>
              </a:rPr>
              <a:t>/Ar</a:t>
            </a:r>
            <a:endParaRPr lang="en-US" sz="1275" dirty="0"/>
          </a:p>
        </p:txBody>
      </p:sp>
      <p:sp>
        <p:nvSpPr>
          <p:cNvPr id="21" name="Text 17"/>
          <p:cNvSpPr txBox="1"/>
          <p:nvPr/>
        </p:nvSpPr>
        <p:spPr>
          <a:xfrm>
            <a:off x="1123798" y="5595214"/>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Wet clean</a:t>
            </a:r>
            <a:endParaRPr lang="en-US" sz="975" dirty="0"/>
          </a:p>
        </p:txBody>
      </p:sp>
      <p:sp>
        <p:nvSpPr>
          <p:cNvPr id="22" name="Text 18"/>
          <p:cNvSpPr txBox="1"/>
          <p:nvPr/>
        </p:nvSpPr>
        <p:spPr>
          <a:xfrm>
            <a:off x="2628900" y="5595214"/>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Dilute HF · 60 s · post-etch residue</a:t>
            </a:r>
            <a:endParaRPr lang="en-US" sz="1275" dirty="0"/>
          </a:p>
        </p:txBody>
      </p:sp>
      <p:sp>
        <p:nvSpPr>
          <p:cNvPr id="23" name="Text 19"/>
          <p:cNvSpPr txBox="1"/>
          <p:nvPr/>
        </p:nvSpPr>
        <p:spPr>
          <a:xfrm>
            <a:off x="1123798" y="6004865"/>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Cu Plating</a:t>
            </a:r>
            <a:endParaRPr lang="en-US" sz="975" dirty="0"/>
          </a:p>
        </p:txBody>
      </p:sp>
      <p:sp>
        <p:nvSpPr>
          <p:cNvPr id="24" name="Text 20"/>
          <p:cNvSpPr txBox="1"/>
          <p:nvPr/>
        </p:nvSpPr>
        <p:spPr>
          <a:xfrm>
            <a:off x="2628900" y="6004865"/>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ECD Cu · 2-step fill · MSA additive</a:t>
            </a:r>
            <a:endParaRPr lang="en-US" sz="1275" dirty="0"/>
          </a:p>
        </p:txBody>
      </p:sp>
      <p:sp>
        <p:nvSpPr>
          <p:cNvPr id="25" name="Text 21"/>
          <p:cNvSpPr txBox="1"/>
          <p:nvPr/>
        </p:nvSpPr>
        <p:spPr>
          <a:xfrm>
            <a:off x="1123798" y="6413602"/>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CMP</a:t>
            </a:r>
            <a:endParaRPr lang="en-US" sz="975" dirty="0"/>
          </a:p>
        </p:txBody>
      </p:sp>
      <p:sp>
        <p:nvSpPr>
          <p:cNvPr id="26" name="Text 22"/>
          <p:cNvSpPr txBox="1"/>
          <p:nvPr/>
        </p:nvSpPr>
        <p:spPr>
          <a:xfrm>
            <a:off x="2628900" y="6413602"/>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3-step · Cu buff · barrier buff · soft</a:t>
            </a:r>
            <a:endParaRPr lang="en-US" sz="1275" dirty="0"/>
          </a:p>
        </p:txBody>
      </p:sp>
      <p:sp>
        <p:nvSpPr>
          <p:cNvPr id="27" name="Text 23"/>
          <p:cNvSpPr txBox="1"/>
          <p:nvPr/>
        </p:nvSpPr>
        <p:spPr>
          <a:xfrm>
            <a:off x="1123798" y="6823253"/>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Anneal</a:t>
            </a:r>
            <a:endParaRPr lang="en-US" sz="975" dirty="0"/>
          </a:p>
        </p:txBody>
      </p:sp>
      <p:sp>
        <p:nvSpPr>
          <p:cNvPr id="28" name="Text 24"/>
          <p:cNvSpPr txBox="1"/>
          <p:nvPr/>
        </p:nvSpPr>
        <p:spPr>
          <a:xfrm>
            <a:off x="2628900" y="6823253"/>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Forming gas · 400 °C · 30 min</a:t>
            </a:r>
            <a:endParaRPr lang="en-US" sz="1275" dirty="0"/>
          </a:p>
        </p:txBody>
      </p:sp>
      <p:sp>
        <p:nvSpPr>
          <p:cNvPr id="29" name="Text 25"/>
          <p:cNvSpPr txBox="1"/>
          <p:nvPr/>
        </p:nvSpPr>
        <p:spPr>
          <a:xfrm>
            <a:off x="1123798" y="7232904"/>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Metrology</a:t>
            </a:r>
            <a:endParaRPr lang="en-US" sz="975" dirty="0"/>
          </a:p>
        </p:txBody>
      </p:sp>
      <p:sp>
        <p:nvSpPr>
          <p:cNvPr id="30" name="Text 26"/>
          <p:cNvSpPr txBox="1"/>
          <p:nvPr/>
        </p:nvSpPr>
        <p:spPr>
          <a:xfrm>
            <a:off x="2628900" y="7232904"/>
            <a:ext cx="322326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49 pt CD-SEM · in-line + offline</a:t>
            </a:r>
            <a:endParaRPr lang="en-US" sz="1275" dirty="0"/>
          </a:p>
        </p:txBody>
      </p:sp>
      <p:sp>
        <p:nvSpPr>
          <p:cNvPr id="31" name="Text 27"/>
          <p:cNvSpPr txBox="1"/>
          <p:nvPr/>
        </p:nvSpPr>
        <p:spPr>
          <a:xfrm>
            <a:off x="6286500" y="3238805"/>
            <a:ext cx="11144707" cy="143561"/>
          </a:xfrm>
          <a:prstGeom prst="rect">
            <a:avLst/>
          </a:prstGeom>
          <a:noFill/>
          <a:ln/>
        </p:spPr>
        <p:txBody>
          <a:bodyPr wrap="none" lIns="0" tIns="0" rIns="0" bIns="0" rtlCol="0" anchor="ctr"/>
          <a:lstStyle/>
          <a:p>
            <a:pPr algn="l" indent="0" marL="0">
              <a:buNone/>
            </a:pPr>
            <a:r>
              <a:rPr lang="en-US" sz="900" spc="144" kern="0" dirty="0">
                <a:solidFill>
                  <a:srgbClr val="15202C"/>
                </a:solidFill>
                <a:latin typeface="IBM Plex Mono" pitchFamily="34" charset="0"/>
                <a:ea typeface="IBM Plex Mono" pitchFamily="34" charset="-122"/>
                <a:cs typeface="IBM Plex Mono" pitchFamily="34" charset="-120"/>
              </a:rPr>
              <a:t>PER-WAFER · SPLIT</a:t>
            </a:r>
            <a:endParaRPr lang="en-US" sz="900" dirty="0"/>
          </a:p>
        </p:txBody>
      </p:sp>
      <p:sp>
        <p:nvSpPr>
          <p:cNvPr id="32" name="Text 28"/>
          <p:cNvSpPr txBox="1"/>
          <p:nvPr/>
        </p:nvSpPr>
        <p:spPr>
          <a:xfrm>
            <a:off x="6286500" y="3476549"/>
            <a:ext cx="11144707" cy="419710"/>
          </a:xfrm>
          <a:prstGeom prst="rect">
            <a:avLst/>
          </a:prstGeom>
          <a:noFill/>
          <a:ln/>
        </p:spPr>
        <p:txBody>
          <a:bodyPr wrap="none" lIns="0" tIns="0" rIns="0" bIns="0" rtlCol="0" anchor="ctr"/>
          <a:lstStyle/>
          <a:p>
            <a:pPr algn="l" indent="0" marL="0">
              <a:buNone/>
            </a:pPr>
            <a:r>
              <a:rPr lang="en-US" sz="2250" b="1" dirty="0">
                <a:solidFill>
                  <a:srgbClr val="15202C"/>
                </a:solidFill>
                <a:latin typeface="Noto Sans KR" pitchFamily="34" charset="0"/>
                <a:ea typeface="Noto Sans KR" pitchFamily="34" charset="-122"/>
                <a:cs typeface="Noto Sans KR" pitchFamily="34" charset="-120"/>
              </a:rPr>
              <a:t>Wafer별 split 조건</a:t>
            </a:r>
            <a:endParaRPr lang="en-US" sz="2250" dirty="0"/>
          </a:p>
        </p:txBody>
      </p:sp>
      <p:sp>
        <p:nvSpPr>
          <p:cNvPr id="33" name="Shape 29"/>
          <p:cNvSpPr/>
          <p:nvPr/>
        </p:nvSpPr>
        <p:spPr>
          <a:xfrm>
            <a:off x="6286500" y="4524451"/>
            <a:ext cx="11144707" cy="9144"/>
          </a:xfrm>
          <a:prstGeom prst="rect">
            <a:avLst/>
          </a:prstGeom>
          <a:solidFill>
            <a:srgbClr val="15202C"/>
          </a:solidFill>
          <a:ln w="12700">
            <a:solidFill>
              <a:srgbClr val="15202C">
                <a:alpha val="0"/>
              </a:srgbClr>
            </a:solidFill>
            <a:prstDash val="solid"/>
          </a:ln>
        </p:spPr>
      </p:sp>
      <p:sp>
        <p:nvSpPr>
          <p:cNvPr id="34" name="Text 30"/>
          <p:cNvSpPr txBox="1"/>
          <p:nvPr/>
        </p:nvSpPr>
        <p:spPr>
          <a:xfrm>
            <a:off x="6286500" y="4095598"/>
            <a:ext cx="1143000"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WAFER</a:t>
            </a:r>
            <a:endParaRPr lang="en-US" sz="975" dirty="0"/>
          </a:p>
        </p:txBody>
      </p:sp>
      <p:sp>
        <p:nvSpPr>
          <p:cNvPr id="35" name="Text 31"/>
          <p:cNvSpPr txBox="1"/>
          <p:nvPr/>
        </p:nvSpPr>
        <p:spPr>
          <a:xfrm>
            <a:off x="7429500" y="4095598"/>
            <a:ext cx="2095805"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SPLIT</a:t>
            </a:r>
            <a:endParaRPr lang="en-US" sz="975" dirty="0"/>
          </a:p>
        </p:txBody>
      </p:sp>
      <p:sp>
        <p:nvSpPr>
          <p:cNvPr id="36" name="Text 32"/>
          <p:cNvSpPr txBox="1"/>
          <p:nvPr/>
        </p:nvSpPr>
        <p:spPr>
          <a:xfrm>
            <a:off x="9525305" y="4095598"/>
            <a:ext cx="2286000"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BM STACK</a:t>
            </a:r>
            <a:endParaRPr lang="en-US" sz="975" dirty="0"/>
          </a:p>
        </p:txBody>
      </p:sp>
      <p:sp>
        <p:nvSpPr>
          <p:cNvPr id="37" name="Text 33"/>
          <p:cNvSpPr txBox="1"/>
          <p:nvPr/>
        </p:nvSpPr>
        <p:spPr>
          <a:xfrm>
            <a:off x="11811305" y="4095598"/>
            <a:ext cx="2095805"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THICKNESS</a:t>
            </a:r>
            <a:endParaRPr lang="en-US" sz="975" dirty="0"/>
          </a:p>
        </p:txBody>
      </p:sp>
      <p:sp>
        <p:nvSpPr>
          <p:cNvPr id="38" name="Text 34"/>
          <p:cNvSpPr txBox="1"/>
          <p:nvPr/>
        </p:nvSpPr>
        <p:spPr>
          <a:xfrm>
            <a:off x="13906195" y="4095598"/>
            <a:ext cx="2382012"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NOTE</a:t>
            </a:r>
            <a:endParaRPr lang="en-US" sz="975" dirty="0"/>
          </a:p>
        </p:txBody>
      </p:sp>
      <p:sp>
        <p:nvSpPr>
          <p:cNvPr id="39" name="Text 35"/>
          <p:cNvSpPr txBox="1"/>
          <p:nvPr/>
        </p:nvSpPr>
        <p:spPr>
          <a:xfrm>
            <a:off x="6286500" y="4552798"/>
            <a:ext cx="1143000" cy="571500"/>
          </a:xfrm>
          <a:prstGeom prst="rect">
            <a:avLst/>
          </a:prstGeom>
          <a:noFill/>
          <a:ln/>
        </p:spPr>
        <p:txBody>
          <a:bodyPr wrap="none" lIns="0" tIns="0" rIns="0" bIns="0" rtlCol="0" anchor="ctr"/>
          <a:lstStyle/>
          <a:p>
            <a:pPr algn="l" indent="0" marL="0">
              <a:buNone/>
            </a:pPr>
            <a:r>
              <a:rPr lang="en-US" sz="1800" b="1" spc="72" kern="0" dirty="0">
                <a:solidFill>
                  <a:srgbClr val="1F6F70"/>
                </a:solidFill>
                <a:latin typeface="IBM Plex Mono" pitchFamily="34" charset="0"/>
                <a:ea typeface="IBM Plex Mono" pitchFamily="34" charset="-122"/>
                <a:cs typeface="IBM Plex Mono" pitchFamily="34" charset="-120"/>
              </a:rPr>
              <a:t>W01</a:t>
            </a:r>
            <a:endParaRPr lang="en-US" sz="1800" dirty="0"/>
          </a:p>
        </p:txBody>
      </p:sp>
      <p:sp>
        <p:nvSpPr>
          <p:cNvPr id="40" name="Text 36"/>
          <p:cNvSpPr txBox="1"/>
          <p:nvPr/>
        </p:nvSpPr>
        <p:spPr>
          <a:xfrm>
            <a:off x="7563002" y="4914900"/>
            <a:ext cx="762610" cy="295351"/>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A</a:t>
            </a:r>
            <a:endParaRPr lang="en-US" sz="975" dirty="0"/>
          </a:p>
        </p:txBody>
      </p:sp>
      <p:sp>
        <p:nvSpPr>
          <p:cNvPr id="41" name="Text 37"/>
          <p:cNvSpPr txBox="1"/>
          <p:nvPr/>
        </p:nvSpPr>
        <p:spPr>
          <a:xfrm>
            <a:off x="9658807" y="4840834"/>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ALD TaN /</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Ru liner</a:t>
            </a:r>
            <a:endParaRPr lang="en-US" sz="1350" dirty="0"/>
          </a:p>
        </p:txBody>
      </p:sp>
      <p:sp>
        <p:nvSpPr>
          <p:cNvPr id="42" name="Text 38"/>
          <p:cNvSpPr txBox="1"/>
          <p:nvPr/>
        </p:nvSpPr>
        <p:spPr>
          <a:xfrm>
            <a:off x="11944807" y="4914900"/>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 1.5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 Ru 1.0 nm</a:t>
            </a:r>
            <a:endParaRPr lang="en-US" sz="1350" dirty="0"/>
          </a:p>
        </p:txBody>
      </p:sp>
      <p:sp>
        <p:nvSpPr>
          <p:cNvPr id="43" name="Text 39"/>
          <p:cNvSpPr txBox="1"/>
          <p:nvPr/>
        </p:nvSpPr>
        <p:spPr>
          <a:xfrm>
            <a:off x="14039698" y="4822546"/>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reference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location: center</a:t>
            </a:r>
            <a:endParaRPr lang="en-US" sz="1050" dirty="0"/>
          </a:p>
        </p:txBody>
      </p:sp>
      <p:sp>
        <p:nvSpPr>
          <p:cNvPr id="44" name="Text 40"/>
          <p:cNvSpPr txBox="1"/>
          <p:nvPr/>
        </p:nvSpPr>
        <p:spPr>
          <a:xfrm>
            <a:off x="6286500" y="5639105"/>
            <a:ext cx="1143000" cy="571500"/>
          </a:xfrm>
          <a:prstGeom prst="rect">
            <a:avLst/>
          </a:prstGeom>
          <a:noFill/>
          <a:ln/>
        </p:spPr>
        <p:txBody>
          <a:bodyPr wrap="none" lIns="0" tIns="0" rIns="0" bIns="0" rtlCol="0" anchor="ctr"/>
          <a:lstStyle/>
          <a:p>
            <a:pPr algn="l" indent="0" marL="0">
              <a:buNone/>
            </a:pPr>
            <a:r>
              <a:rPr lang="en-US" sz="1800" b="1" spc="72" kern="0" dirty="0">
                <a:solidFill>
                  <a:srgbClr val="1F6F70"/>
                </a:solidFill>
                <a:latin typeface="IBM Plex Mono" pitchFamily="34" charset="0"/>
                <a:ea typeface="IBM Plex Mono" pitchFamily="34" charset="-122"/>
                <a:cs typeface="IBM Plex Mono" pitchFamily="34" charset="-120"/>
              </a:rPr>
              <a:t>W02</a:t>
            </a:r>
            <a:endParaRPr lang="en-US" sz="1800" dirty="0"/>
          </a:p>
        </p:txBody>
      </p:sp>
      <p:sp>
        <p:nvSpPr>
          <p:cNvPr id="45" name="Text 41"/>
          <p:cNvSpPr txBox="1"/>
          <p:nvPr/>
        </p:nvSpPr>
        <p:spPr>
          <a:xfrm>
            <a:off x="7563002" y="6001207"/>
            <a:ext cx="762610" cy="295351"/>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A</a:t>
            </a:r>
            <a:endParaRPr lang="en-US" sz="975" dirty="0"/>
          </a:p>
        </p:txBody>
      </p:sp>
      <p:sp>
        <p:nvSpPr>
          <p:cNvPr id="46" name="Text 42"/>
          <p:cNvSpPr txBox="1"/>
          <p:nvPr/>
        </p:nvSpPr>
        <p:spPr>
          <a:xfrm>
            <a:off x="9658807" y="5926226"/>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ALD TaN /</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Ru liner</a:t>
            </a:r>
            <a:endParaRPr lang="en-US" sz="1350" dirty="0"/>
          </a:p>
        </p:txBody>
      </p:sp>
      <p:sp>
        <p:nvSpPr>
          <p:cNvPr id="47" name="Text 43"/>
          <p:cNvSpPr txBox="1"/>
          <p:nvPr/>
        </p:nvSpPr>
        <p:spPr>
          <a:xfrm>
            <a:off x="11944807" y="6001207"/>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 1.5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 Ru 1.0 nm</a:t>
            </a:r>
            <a:endParaRPr lang="en-US" sz="1350" dirty="0"/>
          </a:p>
        </p:txBody>
      </p:sp>
      <p:sp>
        <p:nvSpPr>
          <p:cNvPr id="48" name="Text 44"/>
          <p:cNvSpPr txBox="1"/>
          <p:nvPr/>
        </p:nvSpPr>
        <p:spPr>
          <a:xfrm>
            <a:off x="14039698" y="5907938"/>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repeat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within-run reproducibility</a:t>
            </a:r>
            <a:endParaRPr lang="en-US" sz="1050" dirty="0"/>
          </a:p>
        </p:txBody>
      </p:sp>
      <p:sp>
        <p:nvSpPr>
          <p:cNvPr id="49" name="Text 45"/>
          <p:cNvSpPr txBox="1"/>
          <p:nvPr/>
        </p:nvSpPr>
        <p:spPr>
          <a:xfrm>
            <a:off x="6286500" y="6724498"/>
            <a:ext cx="1143000" cy="571500"/>
          </a:xfrm>
          <a:prstGeom prst="rect">
            <a:avLst/>
          </a:prstGeom>
          <a:noFill/>
          <a:ln/>
        </p:spPr>
        <p:txBody>
          <a:bodyPr wrap="none" lIns="0" tIns="0" rIns="0" bIns="0" rtlCol="0" anchor="ctr"/>
          <a:lstStyle/>
          <a:p>
            <a:pPr algn="l" indent="0" marL="0">
              <a:buNone/>
            </a:pPr>
            <a:r>
              <a:rPr lang="en-US" sz="1800" b="1" spc="72" kern="0" dirty="0">
                <a:solidFill>
                  <a:srgbClr val="B75230"/>
                </a:solidFill>
                <a:latin typeface="IBM Plex Mono" pitchFamily="34" charset="0"/>
                <a:ea typeface="IBM Plex Mono" pitchFamily="34" charset="-122"/>
                <a:cs typeface="IBM Plex Mono" pitchFamily="34" charset="-120"/>
              </a:rPr>
              <a:t>W03</a:t>
            </a:r>
            <a:endParaRPr lang="en-US" sz="1800" dirty="0"/>
          </a:p>
        </p:txBody>
      </p:sp>
      <p:sp>
        <p:nvSpPr>
          <p:cNvPr id="50" name="Text 46"/>
          <p:cNvSpPr txBox="1"/>
          <p:nvPr/>
        </p:nvSpPr>
        <p:spPr>
          <a:xfrm>
            <a:off x="7563002" y="7086600"/>
            <a:ext cx="762610" cy="295351"/>
          </a:xfrm>
          <a:prstGeom prst="rect">
            <a:avLst/>
          </a:prstGeom>
          <a:solidFill>
            <a:srgbClr val="B7523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B</a:t>
            </a:r>
            <a:endParaRPr lang="en-US" sz="975" dirty="0"/>
          </a:p>
        </p:txBody>
      </p:sp>
      <p:sp>
        <p:nvSpPr>
          <p:cNvPr id="51" name="Text 47"/>
          <p:cNvSpPr txBox="1"/>
          <p:nvPr/>
        </p:nvSpPr>
        <p:spPr>
          <a:xfrm>
            <a:off x="9658807" y="7012534"/>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PVD TaN / Ta</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(no Ru liner)</a:t>
            </a:r>
            <a:endParaRPr lang="en-US" sz="1350" dirty="0"/>
          </a:p>
        </p:txBody>
      </p:sp>
      <p:sp>
        <p:nvSpPr>
          <p:cNvPr id="52" name="Text 48"/>
          <p:cNvSpPr txBox="1"/>
          <p:nvPr/>
        </p:nvSpPr>
        <p:spPr>
          <a:xfrm>
            <a:off x="11944807" y="7086600"/>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TaN/Ta 3.0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(conventional)</a:t>
            </a:r>
            <a:endParaRPr lang="en-US" sz="1350" dirty="0"/>
          </a:p>
        </p:txBody>
      </p:sp>
      <p:sp>
        <p:nvSpPr>
          <p:cNvPr id="53" name="Text 49"/>
          <p:cNvSpPr txBox="1"/>
          <p:nvPr/>
        </p:nvSpPr>
        <p:spPr>
          <a:xfrm>
            <a:off x="14039698" y="6994246"/>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reference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location: center</a:t>
            </a:r>
            <a:endParaRPr lang="en-US" sz="1050" dirty="0"/>
          </a:p>
        </p:txBody>
      </p:sp>
      <p:sp>
        <p:nvSpPr>
          <p:cNvPr id="54" name="Text 50"/>
          <p:cNvSpPr txBox="1"/>
          <p:nvPr/>
        </p:nvSpPr>
        <p:spPr>
          <a:xfrm>
            <a:off x="6286500" y="7810805"/>
            <a:ext cx="1143000" cy="571500"/>
          </a:xfrm>
          <a:prstGeom prst="rect">
            <a:avLst/>
          </a:prstGeom>
          <a:noFill/>
          <a:ln/>
        </p:spPr>
        <p:txBody>
          <a:bodyPr wrap="none" lIns="0" tIns="0" rIns="0" bIns="0" rtlCol="0" anchor="ctr"/>
          <a:lstStyle/>
          <a:p>
            <a:pPr algn="l" indent="0" marL="0">
              <a:buNone/>
            </a:pPr>
            <a:r>
              <a:rPr lang="en-US" sz="1800" b="1" spc="72" kern="0" dirty="0">
                <a:solidFill>
                  <a:srgbClr val="B75230"/>
                </a:solidFill>
                <a:latin typeface="IBM Plex Mono" pitchFamily="34" charset="0"/>
                <a:ea typeface="IBM Plex Mono" pitchFamily="34" charset="-122"/>
                <a:cs typeface="IBM Plex Mono" pitchFamily="34" charset="-120"/>
              </a:rPr>
              <a:t>W04</a:t>
            </a:r>
            <a:endParaRPr lang="en-US" sz="1800" dirty="0"/>
          </a:p>
        </p:txBody>
      </p:sp>
      <p:sp>
        <p:nvSpPr>
          <p:cNvPr id="55" name="Text 51"/>
          <p:cNvSpPr txBox="1"/>
          <p:nvPr/>
        </p:nvSpPr>
        <p:spPr>
          <a:xfrm>
            <a:off x="7563002" y="8172907"/>
            <a:ext cx="762610" cy="295351"/>
          </a:xfrm>
          <a:prstGeom prst="rect">
            <a:avLst/>
          </a:prstGeom>
          <a:solidFill>
            <a:srgbClr val="B7523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B</a:t>
            </a:r>
            <a:endParaRPr lang="en-US" sz="975" dirty="0"/>
          </a:p>
        </p:txBody>
      </p:sp>
      <p:sp>
        <p:nvSpPr>
          <p:cNvPr id="56" name="Text 52"/>
          <p:cNvSpPr txBox="1"/>
          <p:nvPr/>
        </p:nvSpPr>
        <p:spPr>
          <a:xfrm>
            <a:off x="9658807" y="8097926"/>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PVD TaN / Ta</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(no Ru liner)</a:t>
            </a:r>
            <a:endParaRPr lang="en-US" sz="1350" dirty="0"/>
          </a:p>
        </p:txBody>
      </p:sp>
      <p:sp>
        <p:nvSpPr>
          <p:cNvPr id="57" name="Text 53"/>
          <p:cNvSpPr txBox="1"/>
          <p:nvPr/>
        </p:nvSpPr>
        <p:spPr>
          <a:xfrm>
            <a:off x="11944807" y="8172907"/>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TaN/Ta 3.0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(conventional)</a:t>
            </a:r>
            <a:endParaRPr lang="en-US" sz="1350" dirty="0"/>
          </a:p>
        </p:txBody>
      </p:sp>
      <p:sp>
        <p:nvSpPr>
          <p:cNvPr id="58" name="Text 54"/>
          <p:cNvSpPr txBox="1"/>
          <p:nvPr/>
        </p:nvSpPr>
        <p:spPr>
          <a:xfrm>
            <a:off x="14039698" y="8079638"/>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repeat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matching edge/center count</a:t>
            </a:r>
            <a:endParaRPr lang="en-US" sz="1050" dirty="0"/>
          </a:p>
        </p:txBody>
      </p:sp>
      <p:sp>
        <p:nvSpPr>
          <p:cNvPr id="59" name="Text 55"/>
          <p:cNvSpPr txBox="1"/>
          <p:nvPr/>
        </p:nvSpPr>
        <p:spPr>
          <a:xfrm>
            <a:off x="857707" y="9430207"/>
            <a:ext cx="5715000" cy="143561"/>
          </a:xfrm>
          <a:prstGeom prst="rect">
            <a:avLst/>
          </a:prstGeom>
          <a:noFill/>
          <a:ln/>
        </p:spPr>
        <p:txBody>
          <a:bodyPr wrap="none" lIns="0" tIns="0" rIns="0" bIns="0" rtlCol="0" anchor="ctr"/>
          <a:lstStyle/>
          <a:p>
            <a:pPr algn="l" indent="0" marL="0">
              <a:buNone/>
            </a:pPr>
            <a:r>
              <a:rPr lang="en-US" sz="900" spc="54" kern="0" dirty="0">
                <a:solidFill>
                  <a:srgbClr val="8A8473"/>
                </a:solidFill>
                <a:latin typeface="IBM Plex Mono" pitchFamily="34" charset="0"/>
                <a:ea typeface="IBM Plex Mono" pitchFamily="34" charset="-122"/>
                <a:cs typeface="IBM Plex Mono" pitchFamily="34" charset="-120"/>
              </a:rPr>
              <a:t>Only the BM module changes — everything else is held constant.</a:t>
            </a:r>
            <a:endParaRPr lang="en-US" sz="900" dirty="0"/>
          </a:p>
        </p:txBody>
      </p:sp>
      <p:pic>
        <p:nvPicPr>
          <p:cNvPr id="60"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61" name="Text 56"/>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8001000" cy="5333695"/>
          </a:xfrm>
          <a:prstGeom prst="rect">
            <a:avLst/>
          </a:prstGeom>
          <a:solidFill>
            <a:srgbClr val="15202C"/>
          </a:solidFill>
          <a:ln w="12700">
            <a:solidFill>
              <a:srgbClr val="FFFFFF">
                <a:alpha val="0"/>
              </a:srgbClr>
            </a:solidFill>
            <a:prstDash val="solid"/>
          </a:ln>
        </p:spPr>
      </p:sp>
      <p:sp>
        <p:nvSpPr>
          <p:cNvPr id="4" name="Shape 1"/>
          <p:cNvSpPr/>
          <p:nvPr/>
        </p:nvSpPr>
        <p:spPr>
          <a:xfrm>
            <a:off x="9430207" y="3238805"/>
            <a:ext cx="8001000" cy="5333695"/>
          </a:xfrm>
          <a:prstGeom prst="rect">
            <a:avLst/>
          </a:prstGeom>
          <a:solidFill>
            <a:srgbClr val="15202C"/>
          </a:solidFill>
          <a:ln w="12700">
            <a:solidFill>
              <a:srgbClr val="FFFFFF">
                <a:alpha val="0"/>
              </a:srgbClr>
            </a:solidFill>
            <a:prstDash val="solid"/>
          </a:ln>
        </p:spPr>
      </p:sp>
      <p:sp>
        <p:nvSpPr>
          <p:cNvPr id="5" name="Shape 2"/>
          <p:cNvSpPr/>
          <p:nvPr/>
        </p:nvSpPr>
        <p:spPr>
          <a:xfrm>
            <a:off x="1143000" y="7429500"/>
            <a:ext cx="761695" cy="342900"/>
          </a:xfrm>
          <a:prstGeom prst="rect">
            <a:avLst/>
          </a:prstGeom>
          <a:solidFill>
            <a:srgbClr val="1F6F70"/>
          </a:solidFill>
          <a:ln w="12700">
            <a:solidFill>
              <a:srgbClr val="FFFFFF">
                <a:alpha val="0"/>
              </a:srgbClr>
            </a:solidFill>
            <a:prstDash val="solid"/>
          </a:ln>
        </p:spPr>
      </p:sp>
      <p:sp>
        <p:nvSpPr>
          <p:cNvPr id="6" name="Shape 3"/>
          <p:cNvSpPr/>
          <p:nvPr/>
        </p:nvSpPr>
        <p:spPr>
          <a:xfrm>
            <a:off x="9715500" y="7429500"/>
            <a:ext cx="761695" cy="342900"/>
          </a:xfrm>
          <a:prstGeom prst="rect">
            <a:avLst/>
          </a:prstGeom>
          <a:solidFill>
            <a:srgbClr val="B75230"/>
          </a:solidFill>
          <a:ln w="12700">
            <a:solidFill>
              <a:srgbClr val="FFFFFF">
                <a:alpha val="0"/>
              </a:srgbClr>
            </a:solidFill>
            <a:prstDash val="solid"/>
          </a:ln>
        </p:spPr>
      </p:sp>
      <p:sp>
        <p:nvSpPr>
          <p:cNvPr id="7" name="Shape 4"/>
          <p:cNvSpPr/>
          <p:nvPr/>
        </p:nvSpPr>
        <p:spPr>
          <a:xfrm>
            <a:off x="8667598" y="5715000"/>
            <a:ext cx="952805" cy="952805"/>
          </a:xfrm>
          <a:prstGeom prst="ellipse">
            <a:avLst/>
          </a:prstGeom>
          <a:solidFill>
            <a:srgbClr val="F1ECDB"/>
          </a:solidFill>
          <a:ln w="12700">
            <a:solidFill>
              <a:srgbClr val="FFFFFF">
                <a:alpha val="0"/>
              </a:srgbClr>
            </a:solidFill>
            <a:prstDash val="solid"/>
          </a:ln>
        </p:spPr>
      </p:sp>
      <p:sp>
        <p:nvSpPr>
          <p:cNvPr id="8" name="Shape 5"/>
          <p:cNvSpPr/>
          <p:nvPr/>
        </p:nvSpPr>
        <p:spPr>
          <a:xfrm>
            <a:off x="8706002" y="5753405"/>
            <a:ext cx="875995" cy="875995"/>
          </a:xfrm>
          <a:prstGeom prst="ellipse">
            <a:avLst/>
          </a:prstGeom>
          <a:solidFill>
            <a:srgbClr val="15202C"/>
          </a:solidFill>
          <a:ln w="12700">
            <a:solidFill>
              <a:srgbClr val="FFFFFF">
                <a:alpha val="0"/>
              </a:srgbClr>
            </a:solidFill>
            <a:prstDash val="solid"/>
          </a:ln>
        </p:spPr>
      </p:sp>
      <p:sp>
        <p:nvSpPr>
          <p:cNvPr id="9" name="Shape 6"/>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0" name="Text 7"/>
          <p:cNvSpPr txBox="1"/>
          <p:nvPr/>
        </p:nvSpPr>
        <p:spPr>
          <a:xfrm>
            <a:off x="1067105" y="771754"/>
            <a:ext cx="3427171"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CROSS-SECTION · SEM / TEM</a:t>
            </a:r>
            <a:endParaRPr lang="en-US" sz="1350" dirty="0"/>
          </a:p>
        </p:txBody>
      </p:sp>
      <p:sp>
        <p:nvSpPr>
          <p:cNvPr id="11" name="Text 8"/>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단면 이미지로 본 split별 barrier 형성</a:t>
            </a:r>
            <a:endParaRPr lang="en-US" sz="3600" dirty="0"/>
          </a:p>
        </p:txBody>
      </p:sp>
      <p:sp>
        <p:nvSpPr>
          <p:cNvPr id="12" name="Text 9"/>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M2 듀얼 다마신 단면을 SEM/TEM으로 관찰했습니다. ALD 측정은 conformal하고 얇은 TaN/Ru 적층을, PVD 측은 두꺼운 TaN/Ta와 함께 다소 비대칭 적층을 보여줍니다.</a:t>
            </a:r>
            <a:endParaRPr lang="en-US" sz="1350" dirty="0"/>
          </a:p>
        </p:txBody>
      </p:sp>
      <p:sp>
        <p:nvSpPr>
          <p:cNvPr id="13" name="Text 10"/>
          <p:cNvSpPr txBox="1"/>
          <p:nvPr/>
        </p:nvSpPr>
        <p:spPr>
          <a:xfrm>
            <a:off x="1143000" y="7429500"/>
            <a:ext cx="762610" cy="238658"/>
          </a:xfrm>
          <a:prstGeom prst="rect">
            <a:avLst/>
          </a:prstGeom>
          <a:noFill/>
          <a:ln/>
        </p:spPr>
        <p:txBody>
          <a:bodyPr wrap="none" lIns="0" tIns="0" rIns="0" bIns="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14" name="Text 11"/>
          <p:cNvSpPr txBox="1"/>
          <p:nvPr/>
        </p:nvSpPr>
        <p:spPr>
          <a:xfrm>
            <a:off x="2133295" y="7524598"/>
            <a:ext cx="5600700" cy="228600"/>
          </a:xfrm>
          <a:prstGeom prst="rect">
            <a:avLst/>
          </a:prstGeom>
          <a:noFill/>
          <a:ln/>
        </p:spPr>
        <p:txBody>
          <a:bodyPr wrap="none" lIns="0" tIns="0" rIns="0" bIns="0" rtlCol="0" anchor="ctr"/>
          <a:lstStyle/>
          <a:p>
            <a:pPr algn="l" indent="0" marL="0">
              <a:buNone/>
            </a:pPr>
            <a:r>
              <a:rPr lang="en-US" sz="1200" b="1" dirty="0">
                <a:solidFill>
                  <a:srgbClr val="F1ECDB"/>
                </a:solidFill>
                <a:latin typeface="Noto Sans KR" pitchFamily="34" charset="0"/>
                <a:ea typeface="Noto Sans KR" pitchFamily="34" charset="-122"/>
                <a:cs typeface="Noto Sans KR" pitchFamily="34" charset="-120"/>
              </a:rPr>
              <a:t>ALD TaN 1.5 nm + Ru liner</a:t>
            </a:r>
            <a:endParaRPr lang="en-US" sz="1200" dirty="0"/>
          </a:p>
        </p:txBody>
      </p:sp>
      <p:sp>
        <p:nvSpPr>
          <p:cNvPr id="15" name="Text 12"/>
          <p:cNvSpPr txBox="1"/>
          <p:nvPr/>
        </p:nvSpPr>
        <p:spPr>
          <a:xfrm>
            <a:off x="1143000" y="7879385"/>
            <a:ext cx="7429500" cy="674827"/>
          </a:xfrm>
          <a:prstGeom prst="rect">
            <a:avLst/>
          </a:prstGeom>
          <a:noFill/>
          <a:ln/>
        </p:spPr>
        <p:txBody>
          <a:bodyPr wrap="square" lIns="0" tIns="0" rIns="0" bIns="0" rtlCol="0" anchor="t"/>
          <a:lstStyle/>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conformal step coverage on via sidewall</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thin, uniform barrier — Cu volume preserved</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no明显的 overhang / pinch-off at trench top corner</a:t>
            </a:r>
            <a:endParaRPr lang="en-US" sz="1050" dirty="0"/>
          </a:p>
        </p:txBody>
      </p:sp>
      <p:sp>
        <p:nvSpPr>
          <p:cNvPr id="16" name="Text 13"/>
          <p:cNvSpPr txBox="1"/>
          <p:nvPr/>
        </p:nvSpPr>
        <p:spPr>
          <a:xfrm>
            <a:off x="9715500" y="7429500"/>
            <a:ext cx="762610" cy="238658"/>
          </a:xfrm>
          <a:prstGeom prst="rect">
            <a:avLst/>
          </a:prstGeom>
          <a:noFill/>
          <a:ln/>
        </p:spPr>
        <p:txBody>
          <a:bodyPr wrap="none" lIns="0" tIns="0" rIns="0" bIns="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17" name="Text 14"/>
          <p:cNvSpPr txBox="1"/>
          <p:nvPr/>
        </p:nvSpPr>
        <p:spPr>
          <a:xfrm>
            <a:off x="10705795" y="7524598"/>
            <a:ext cx="5600700" cy="228600"/>
          </a:xfrm>
          <a:prstGeom prst="rect">
            <a:avLst/>
          </a:prstGeom>
          <a:noFill/>
          <a:ln/>
        </p:spPr>
        <p:txBody>
          <a:bodyPr wrap="none" lIns="0" tIns="0" rIns="0" bIns="0" rtlCol="0" anchor="ctr"/>
          <a:lstStyle/>
          <a:p>
            <a:pPr algn="l" indent="0" marL="0">
              <a:buNone/>
            </a:pPr>
            <a:r>
              <a:rPr lang="en-US" sz="1200" b="1" dirty="0">
                <a:solidFill>
                  <a:srgbClr val="F1ECDB"/>
                </a:solidFill>
                <a:latin typeface="Noto Sans KR" pitchFamily="34" charset="0"/>
                <a:ea typeface="Noto Sans KR" pitchFamily="34" charset="-122"/>
                <a:cs typeface="Noto Sans KR" pitchFamily="34" charset="-120"/>
              </a:rPr>
              <a:t>PVD TaN / Ta 3.0 nm · conventional</a:t>
            </a:r>
            <a:endParaRPr lang="en-US" sz="1200" dirty="0"/>
          </a:p>
        </p:txBody>
      </p:sp>
      <p:sp>
        <p:nvSpPr>
          <p:cNvPr id="18" name="Text 15"/>
          <p:cNvSpPr txBox="1"/>
          <p:nvPr/>
        </p:nvSpPr>
        <p:spPr>
          <a:xfrm>
            <a:off x="9715500" y="7879385"/>
            <a:ext cx="7429500" cy="674827"/>
          </a:xfrm>
          <a:prstGeom prst="rect">
            <a:avLst/>
          </a:prstGeom>
          <a:noFill/>
          <a:ln/>
        </p:spPr>
        <p:txBody>
          <a:bodyPr wrap="square" lIns="0" tIns="0" rIns="0" bIns="0" rtlCol="0" anchor="t"/>
          <a:lstStyle/>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poor step coverage at via bottom &amp; sidewall lower half</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thicker barrier reduces effective Cu volume</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baseline reference · conventional process flow</a:t>
            </a:r>
            <a:endParaRPr lang="en-US" sz="1050" dirty="0"/>
          </a:p>
        </p:txBody>
      </p:sp>
      <p:sp>
        <p:nvSpPr>
          <p:cNvPr id="19" name="Text 16"/>
          <p:cNvSpPr txBox="1"/>
          <p:nvPr/>
        </p:nvSpPr>
        <p:spPr>
          <a:xfrm>
            <a:off x="8667598" y="5715000"/>
            <a:ext cx="952805" cy="505663"/>
          </a:xfrm>
          <a:prstGeom prst="rect">
            <a:avLst/>
          </a:prstGeom>
          <a:noFill/>
          <a:ln/>
        </p:spPr>
        <p:txBody>
          <a:bodyPr wrap="none" lIns="0" tIns="0" rIns="0" bIns="0" rtlCol="0" anchor="ctr"/>
          <a:lstStyle/>
          <a:p>
            <a:pPr algn="ctr" indent="0" marL="0">
              <a:buNone/>
            </a:pPr>
            <a:r>
              <a:rPr lang="en-US" sz="1200" spc="240" kern="0" dirty="0">
                <a:solidFill>
                  <a:srgbClr val="C8A961"/>
                </a:solidFill>
                <a:latin typeface="IBM Plex Mono" pitchFamily="34" charset="0"/>
                <a:ea typeface="IBM Plex Mono" pitchFamily="34" charset="-122"/>
                <a:cs typeface="IBM Plex Mono" pitchFamily="34" charset="-120"/>
              </a:rPr>
              <a:t>VS</a:t>
            </a:r>
            <a:endParaRPr lang="en-US" sz="1200" dirty="0"/>
          </a:p>
        </p:txBody>
      </p:sp>
      <p:sp>
        <p:nvSpPr>
          <p:cNvPr id="20" name="Shape 17"/>
          <p:cNvSpPr/>
          <p:nvPr/>
        </p:nvSpPr>
        <p:spPr>
          <a:xfrm>
            <a:off x="857707" y="8805672"/>
            <a:ext cx="57607" cy="57607"/>
          </a:xfrm>
          <a:prstGeom prst="ellipse">
            <a:avLst/>
          </a:prstGeom>
          <a:solidFill>
            <a:srgbClr val="1F6F70"/>
          </a:solidFill>
          <a:ln w="12700">
            <a:solidFill>
              <a:srgbClr val="FFFFFF">
                <a:alpha val="0"/>
              </a:srgbClr>
            </a:solidFill>
            <a:prstDash val="solid"/>
          </a:ln>
        </p:spPr>
      </p:sp>
      <p:sp>
        <p:nvSpPr>
          <p:cNvPr id="21" name="Text 18"/>
          <p:cNvSpPr txBox="1"/>
          <p:nvPr/>
        </p:nvSpPr>
        <p:spPr>
          <a:xfrm>
            <a:off x="990295" y="8762695"/>
            <a:ext cx="7411212"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left: reproducing public reference · Springer "Interconnect" chap. (representative of conformal ALD barrier)</a:t>
            </a:r>
            <a:endParaRPr lang="en-US" sz="900" dirty="0"/>
          </a:p>
        </p:txBody>
      </p:sp>
      <p:sp>
        <p:nvSpPr>
          <p:cNvPr id="22" name="Shape 19"/>
          <p:cNvSpPr/>
          <p:nvPr/>
        </p:nvSpPr>
        <p:spPr>
          <a:xfrm>
            <a:off x="8739835" y="8805672"/>
            <a:ext cx="57607" cy="57607"/>
          </a:xfrm>
          <a:prstGeom prst="ellipse">
            <a:avLst/>
          </a:prstGeom>
          <a:solidFill>
            <a:srgbClr val="B75230"/>
          </a:solidFill>
          <a:ln w="12700">
            <a:solidFill>
              <a:srgbClr val="FFFFFF">
                <a:alpha val="0"/>
              </a:srgbClr>
            </a:solidFill>
            <a:prstDash val="solid"/>
          </a:ln>
        </p:spPr>
      </p:sp>
      <p:sp>
        <p:nvSpPr>
          <p:cNvPr id="23" name="Text 20"/>
          <p:cNvSpPr txBox="1"/>
          <p:nvPr/>
        </p:nvSpPr>
        <p:spPr>
          <a:xfrm>
            <a:off x="8873338" y="8762695"/>
            <a:ext cx="7135063"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right: reference cross-section illustrating dual damascene architecture (representative of PVD baseline)</a:t>
            </a:r>
            <a:endParaRPr lang="en-US" sz="900" dirty="0"/>
          </a:p>
        </p:txBody>
      </p:sp>
      <p:pic>
        <p:nvPicPr>
          <p:cNvPr id="24" name="Image 0" descr="gen-dedup-927e1b3d142562f2171c6a940580640a.png">    </p:cNvPr>
          <p:cNvPicPr>
            <a:picLocks noChangeAspect="1"/>
          </p:cNvPicPr>
          <p:nvPr/>
        </p:nvPicPr>
        <p:blipFill>
          <a:blip r:embed="rId1"/>
          <a:srcRect l="-2083" r="-2083" t="0" b="0"/>
          <a:stretch/>
        </p:blipFill>
        <p:spPr>
          <a:xfrm>
            <a:off x="857707" y="9715500"/>
            <a:ext cx="16573500" cy="9144"/>
          </a:xfrm>
          <a:prstGeom prst="rect">
            <a:avLst/>
          </a:prstGeom>
        </p:spPr>
      </p:pic>
      <p:sp>
        <p:nvSpPr>
          <p:cNvPr id="25" name="Text 21"/>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8762695"/>
            <a:ext cx="10287000" cy="705002"/>
          </a:xfrm>
          <a:prstGeom prst="rect">
            <a:avLst/>
          </a:prstGeom>
          <a:solidFill>
            <a:srgbClr val="15202C"/>
          </a:solidFill>
          <a:ln w="12700">
            <a:solidFill>
              <a:srgbClr val="FFFFFF">
                <a:alpha val="0"/>
              </a:srgbClr>
            </a:solidFill>
            <a:prstDash val="solid"/>
          </a:ln>
        </p:spPr>
      </p:sp>
      <p:sp>
        <p:nvSpPr>
          <p:cNvPr id="4" name="Shape 1"/>
          <p:cNvSpPr/>
          <p:nvPr/>
        </p:nvSpPr>
        <p:spPr>
          <a:xfrm>
            <a:off x="857707" y="666598"/>
            <a:ext cx="75895" cy="228600"/>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666598"/>
            <a:ext cx="1452982" cy="228600"/>
          </a:xfrm>
          <a:prstGeom prst="rect">
            <a:avLst/>
          </a:prstGeom>
          <a:noFill/>
          <a:ln/>
        </p:spPr>
        <p:txBody>
          <a:bodyPr wrap="none" lIns="0" tIns="0" rIns="0" bIns="0" rtlCol="0" anchor="ctr"/>
          <a:lstStyle/>
          <a:p>
            <a:pPr algn="l" indent="0" marL="0">
              <a:buNone/>
            </a:pPr>
            <a:r>
              <a:rPr lang="en-US" sz="1200" spc="216" kern="0" dirty="0">
                <a:solidFill>
                  <a:srgbClr val="15202C"/>
                </a:solidFill>
                <a:latin typeface="Noto Sans KR" pitchFamily="34" charset="0"/>
                <a:ea typeface="Noto Sans KR" pitchFamily="34" charset="-122"/>
                <a:cs typeface="Noto Sans KR" pitchFamily="34" charset="-120"/>
              </a:rPr>
              <a:t>CD VARIATION</a:t>
            </a:r>
            <a:endParaRPr lang="en-US" sz="1200" dirty="0"/>
          </a:p>
        </p:txBody>
      </p:sp>
      <p:sp>
        <p:nvSpPr>
          <p:cNvPr id="6" name="Text 3"/>
          <p:cNvSpPr txBox="1"/>
          <p:nvPr/>
        </p:nvSpPr>
        <p:spPr>
          <a:xfrm>
            <a:off x="857707" y="1028700"/>
            <a:ext cx="16573500" cy="467258"/>
          </a:xfrm>
          <a:prstGeom prst="rect">
            <a:avLst/>
          </a:prstGeom>
          <a:noFill/>
          <a:ln/>
        </p:spPr>
        <p:txBody>
          <a:bodyPr wrap="none" lIns="0" tIns="0" rIns="0" bIns="0" rtlCol="0" anchor="ctr"/>
          <a:lstStyle/>
          <a:p>
            <a:pPr algn="l" indent="0" marL="0">
              <a:buNone/>
            </a:pPr>
            <a:r>
              <a:rPr lang="en-US" sz="3150" b="1" spc="-31" kern="0" dirty="0">
                <a:solidFill>
                  <a:srgbClr val="15202C"/>
                </a:solidFill>
                <a:latin typeface="Noto Sans KR" pitchFamily="34" charset="0"/>
                <a:ea typeface="Noto Sans KR" pitchFamily="34" charset="-122"/>
                <a:cs typeface="Noto Sans KR" pitchFamily="34" charset="-120"/>
              </a:rPr>
              <a:t>4개 metric × 4 wafer, CD 변동 비교</a:t>
            </a:r>
            <a:endParaRPr lang="en-US" sz="3150" dirty="0"/>
          </a:p>
        </p:txBody>
      </p:sp>
      <p:sp>
        <p:nvSpPr>
          <p:cNvPr id="7" name="Text 4"/>
          <p:cNvSpPr txBox="1"/>
          <p:nvPr/>
        </p:nvSpPr>
        <p:spPr>
          <a:xfrm>
            <a:off x="857707" y="1583741"/>
            <a:ext cx="16573500" cy="247802"/>
          </a:xfrm>
          <a:prstGeom prst="rect">
            <a:avLst/>
          </a:prstGeom>
          <a:noFill/>
          <a:ln/>
        </p:spPr>
        <p:txBody>
          <a:bodyPr wrap="none" lIns="0" tIns="0" rIns="0" bIns="0" rtlCol="0" anchor="ctr"/>
          <a:lstStyle/>
          <a:p>
            <a:pPr algn="l" indent="0" marL="0">
              <a:buNone/>
            </a:pPr>
            <a:r>
              <a:rPr lang="en-US" sz="1275" dirty="0">
                <a:solidFill>
                  <a:srgbClr val="4A5563"/>
                </a:solidFill>
                <a:latin typeface="Noto Sans KR" pitchFamily="34" charset="0"/>
                <a:ea typeface="Noto Sans KR" pitchFamily="34" charset="-122"/>
                <a:cs typeface="Noto Sans KR" pitchFamily="34" charset="-120"/>
              </a:rPr>
              <a:t>AASI · ASEI · AMI · ACI, wafer별 mean / 3σ / range / target Δ. ALD split이 전반적으로 target에 가깝고 3σ도 작습니다.</a:t>
            </a:r>
            <a:endParaRPr lang="en-US" sz="127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57707" y="2667305"/>
          <a:ext cx="16573500" cy="6286500"/>
        </p:xfrm>
        <a:graphic>
          <a:graphicData uri="http://schemas.openxmlformats.org/drawingml/2006/table">
            <a:tbl>
              <a:tblPr/>
              <a:tblGrid>
                <a:gridCol w="1306606"/>
                <a:gridCol w="1398955"/>
                <a:gridCol w="1728121"/>
                <a:gridCol w="1969509"/>
                <a:gridCol w="1957622"/>
                <a:gridCol w="1964023"/>
                <a:gridCol w="6248665"/>
              </a:tblGrid>
              <a:tr h="369794">
                <a:tc>
                  <a:txBody>
                    <a:bodyPr/>
                    <a:lstStyle/>
                    <a:p>
                      <a:pPr algn="l" indent="0" marL="0">
                        <a:buNone/>
                      </a:pPr>
                      <a:r>
                        <a:rPr lang="en-US" sz="900" dirty="0">
                          <a:solidFill>
                            <a:srgbClr val="8A8473"/>
                          </a:solidFill>
                          <a:latin typeface="IBM Plex Mono" pitchFamily="34" charset="0"/>
                          <a:ea typeface="IBM Plex Mono" pitchFamily="34" charset="-122"/>
                          <a:cs typeface="IBM Plex Mono" pitchFamily="34" charset="-120"/>
                        </a:rPr>
                        <a:t>WAFER</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900" dirty="0">
                          <a:solidFill>
                            <a:srgbClr val="8A8473"/>
                          </a:solidFill>
                          <a:latin typeface="IBM Plex Mono" pitchFamily="34" charset="0"/>
                          <a:ea typeface="IBM Plex Mono" pitchFamily="34" charset="-122"/>
                          <a:cs typeface="IBM Plex Mono" pitchFamily="34" charset="-120"/>
                        </a:rPr>
                        <a:t>METRIC</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TARGET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MEAN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3σ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RANGE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Δ vs target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1.05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0.23</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23.80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1.42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1.32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8.70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0.86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0.37</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23.90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1.48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0.49</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8.60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0.88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0.39</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bl>
          </a:graphicData>
        </a:graphic>
      </p:graphicFrame>
      <p:sp>
        <p:nvSpPr>
          <p:cNvPr id="9" name="Text 5"/>
          <p:cNvSpPr txBox="1"/>
          <p:nvPr/>
        </p:nvSpPr>
        <p:spPr>
          <a:xfrm>
            <a:off x="1086307" y="8896198"/>
            <a:ext cx="9829800" cy="162763"/>
          </a:xfrm>
          <a:prstGeom prst="rect">
            <a:avLst/>
          </a:prstGeom>
          <a:noFill/>
          <a:ln/>
        </p:spPr>
        <p:txBody>
          <a:bodyPr wrap="none" lIns="0" tIns="0" rIns="0" bIns="0" rtlCol="0" anchor="ctr"/>
          <a:lstStyle/>
          <a:p>
            <a:pPr algn="l" indent="0" marL="0">
              <a:buNone/>
            </a:pPr>
            <a:r>
              <a:rPr lang="en-US" sz="900" spc="144" kern="0" dirty="0">
                <a:solidFill>
                  <a:srgbClr val="C8A961"/>
                </a:solidFill>
                <a:latin typeface="IBM Plex Mono" pitchFamily="34" charset="0"/>
                <a:ea typeface="IBM Plex Mono" pitchFamily="34" charset="-122"/>
                <a:cs typeface="IBM Plex Mono" pitchFamily="34" charset="-120"/>
              </a:rPr>
              <a:t>관찰</a:t>
            </a:r>
            <a:endParaRPr lang="en-US" sz="900" dirty="0"/>
          </a:p>
        </p:txBody>
      </p:sp>
      <p:sp>
        <p:nvSpPr>
          <p:cNvPr id="10" name="Text 6"/>
          <p:cNvSpPr txBox="1"/>
          <p:nvPr/>
        </p:nvSpPr>
        <p:spPr>
          <a:xfrm>
            <a:off x="1086307" y="9115654"/>
            <a:ext cx="9829800" cy="219456"/>
          </a:xfrm>
          <a:prstGeom prst="rect">
            <a:avLst/>
          </a:prstGeom>
          <a:noFill/>
          <a:ln/>
        </p:spPr>
        <p:txBody>
          <a:bodyPr wrap="none" lIns="0" tIns="0" rIns="0" bIns="0" rtlCol="0" anchor="ctr"/>
          <a:lstStyle/>
          <a:p>
            <a:pPr algn="l" indent="0" marL="0">
              <a:buNone/>
            </a:pPr>
            <a:r>
              <a:rPr lang="en-US" sz="1125" dirty="0">
                <a:solidFill>
                  <a:srgbClr val="F1ECDB"/>
                </a:solidFill>
                <a:latin typeface="Noto Sans KR" pitchFamily="34" charset="0"/>
                <a:ea typeface="Noto Sans KR" pitchFamily="34" charset="-122"/>
                <a:cs typeface="Noto Sans KR" pitchFamily="34" charset="-120"/>
              </a:rPr>
              <a:t>W01·W02(ALD)는 모든 metric에서 target ±0.30 nm 이내 안착. W03·W04(PVD)는 ACI −0.4 ~ −0.5 nm under-shrink, 3σ도 약 1.5×.</a:t>
            </a:r>
            <a:endParaRPr lang="en-US" sz="1125" dirty="0"/>
          </a:p>
        </p:txBody>
      </p:sp>
      <p:sp>
        <p:nvSpPr>
          <p:cNvPr id="11" name="Shape 7"/>
          <p:cNvSpPr/>
          <p:nvPr/>
        </p:nvSpPr>
        <p:spPr>
          <a:xfrm>
            <a:off x="11430000" y="8863279"/>
            <a:ext cx="133502" cy="133502"/>
          </a:xfrm>
          <a:prstGeom prst="rect">
            <a:avLst/>
          </a:prstGeom>
          <a:solidFill>
            <a:srgbClr val="D8E8E5"/>
          </a:solidFill>
          <a:ln w="12700">
            <a:solidFill>
              <a:srgbClr val="FFFFFF">
                <a:alpha val="0"/>
              </a:srgbClr>
            </a:solidFill>
            <a:prstDash val="solid"/>
          </a:ln>
        </p:spPr>
      </p:sp>
      <p:sp>
        <p:nvSpPr>
          <p:cNvPr id="12" name="Text 8"/>
          <p:cNvSpPr txBox="1"/>
          <p:nvPr/>
        </p:nvSpPr>
        <p:spPr>
          <a:xfrm>
            <a:off x="11658600" y="8839505"/>
            <a:ext cx="1073506" cy="181051"/>
          </a:xfrm>
          <a:prstGeom prst="rect">
            <a:avLst/>
          </a:prstGeom>
          <a:noFill/>
          <a:ln/>
        </p:spPr>
        <p:txBody>
          <a:bodyPr wrap="none" lIns="0" tIns="0" rIns="0" bIns="0" rtlCol="0" anchor="ctr"/>
          <a:lstStyle/>
          <a:p>
            <a:pPr algn="l" indent="0" marL="0">
              <a:buNone/>
            </a:pPr>
            <a:r>
              <a:rPr lang="en-US" sz="975" dirty="0">
                <a:solidFill>
                  <a:srgbClr val="4A5563"/>
                </a:solidFill>
                <a:latin typeface="Noto Sans KR" pitchFamily="34" charset="0"/>
                <a:ea typeface="Noto Sans KR" pitchFamily="34" charset="-122"/>
                <a:cs typeface="Noto Sans KR" pitchFamily="34" charset="-120"/>
              </a:rPr>
              <a:t>Split A · ALD</a:t>
            </a:r>
            <a:endParaRPr lang="en-US" sz="975" dirty="0"/>
          </a:p>
        </p:txBody>
      </p:sp>
      <p:sp>
        <p:nvSpPr>
          <p:cNvPr id="13" name="Shape 9"/>
          <p:cNvSpPr/>
          <p:nvPr/>
        </p:nvSpPr>
        <p:spPr>
          <a:xfrm>
            <a:off x="12538253" y="8863279"/>
            <a:ext cx="133502" cy="133502"/>
          </a:xfrm>
          <a:prstGeom prst="rect">
            <a:avLst/>
          </a:prstGeom>
          <a:solidFill>
            <a:srgbClr val="E8CCB4"/>
          </a:solidFill>
          <a:ln w="12700">
            <a:solidFill>
              <a:srgbClr val="FFFFFF">
                <a:alpha val="0"/>
              </a:srgbClr>
            </a:solidFill>
            <a:prstDash val="solid"/>
          </a:ln>
        </p:spPr>
      </p:sp>
      <p:sp>
        <p:nvSpPr>
          <p:cNvPr id="14" name="Text 10"/>
          <p:cNvSpPr txBox="1"/>
          <p:nvPr/>
        </p:nvSpPr>
        <p:spPr>
          <a:xfrm>
            <a:off x="12766853" y="8839505"/>
            <a:ext cx="1074420" cy="181051"/>
          </a:xfrm>
          <a:prstGeom prst="rect">
            <a:avLst/>
          </a:prstGeom>
          <a:noFill/>
          <a:ln/>
        </p:spPr>
        <p:txBody>
          <a:bodyPr wrap="none" lIns="0" tIns="0" rIns="0" bIns="0" rtlCol="0" anchor="ctr"/>
          <a:lstStyle/>
          <a:p>
            <a:pPr algn="l" indent="0" marL="0">
              <a:buNone/>
            </a:pPr>
            <a:r>
              <a:rPr lang="en-US" sz="975" dirty="0">
                <a:solidFill>
                  <a:srgbClr val="4A5563"/>
                </a:solidFill>
                <a:latin typeface="Noto Sans KR" pitchFamily="34" charset="0"/>
                <a:ea typeface="Noto Sans KR" pitchFamily="34" charset="-122"/>
                <a:cs typeface="Noto Sans KR" pitchFamily="34" charset="-120"/>
              </a:rPr>
              <a:t>Split B · PVD</a:t>
            </a:r>
            <a:endParaRPr lang="en-US" sz="975" dirty="0"/>
          </a:p>
        </p:txBody>
      </p:sp>
      <p:pic>
        <p:nvPicPr>
          <p:cNvPr id="15" name="Image 0" descr="gen-dedup-504ab38f38bebbd39e4789e40706fd89.png">    </p:cNvPr>
          <p:cNvPicPr>
            <a:picLocks noChangeAspect="1"/>
          </p:cNvPicPr>
          <p:nvPr/>
        </p:nvPicPr>
        <p:blipFill>
          <a:blip r:embed="rId1"/>
          <a:srcRect l="0" r="0" t="-2143" b="-2143"/>
          <a:stretch/>
        </p:blipFill>
        <p:spPr>
          <a:xfrm>
            <a:off x="13659307" y="8863279"/>
            <a:ext cx="9144" cy="133502"/>
          </a:xfrm>
          <a:prstGeom prst="rect">
            <a:avLst/>
          </a:prstGeom>
        </p:spPr>
      </p:pic>
      <p:sp>
        <p:nvSpPr>
          <p:cNvPr id="16" name="Text 11"/>
          <p:cNvSpPr txBox="1"/>
          <p:nvPr/>
        </p:nvSpPr>
        <p:spPr>
          <a:xfrm>
            <a:off x="13840358" y="8858707"/>
            <a:ext cx="1239012"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49 pt · wafer-mean</a:t>
            </a:r>
            <a:endParaRPr lang="en-US" sz="900" dirty="0"/>
          </a:p>
        </p:txBody>
      </p:sp>
      <p:sp>
        <p:nvSpPr>
          <p:cNvPr id="17" name="Text 12"/>
          <p:cNvSpPr txBox="1"/>
          <p:nvPr/>
        </p:nvSpPr>
        <p:spPr>
          <a:xfrm>
            <a:off x="11430000" y="9096451"/>
            <a:ext cx="6001207" cy="171907"/>
          </a:xfrm>
          <a:prstGeom prst="rect">
            <a:avLst/>
          </a:prstGeom>
          <a:noFill/>
          <a:ln/>
        </p:spPr>
        <p:txBody>
          <a:bodyPr wrap="none" lIns="0" tIns="0" rIns="0" bIns="0" rtlCol="0" anchor="ctr"/>
          <a:lstStyle/>
          <a:p>
            <a:pPr algn="l" indent="0" marL="0">
              <a:buNone/>
            </a:pPr>
            <a:r>
              <a:rPr lang="en-US" sz="900" dirty="0">
                <a:solidFill>
                  <a:srgbClr val="8A8473"/>
                </a:solidFill>
                <a:latin typeface="Noto Sans KR" pitchFamily="34" charset="0"/>
                <a:ea typeface="Noto Sans KR" pitchFamily="34" charset="-122"/>
                <a:cs typeface="Noto Sans KR" pitchFamily="34" charset="-120"/>
              </a:rPr>
              <a:t>Δ 색: ALD 양수 편향(웜), PVD 음수 편향(웜/러스트) — Δ 색은 split에 매핑, 값 자체는 nm.</a:t>
            </a:r>
            <a:endParaRPr lang="en-US" sz="900" dirty="0"/>
          </a:p>
        </p:txBody>
      </p:sp>
      <p:pic>
        <p:nvPicPr>
          <p:cNvPr id="18"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19" name="Text 13"/>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16573500" cy="5524805"/>
          </a:xfrm>
          <a:prstGeom prst="rect">
            <a:avLst/>
          </a:prstGeom>
          <a:solidFill>
            <a:srgbClr val="ECE5D1"/>
          </a:solidFill>
          <a:ln w="12700">
            <a:solidFill>
              <a:srgbClr val="FFFFFF">
                <a:alpha val="0"/>
              </a:srgbClr>
            </a:solidFill>
            <a:prstDash val="solid"/>
          </a:ln>
        </p:spPr>
      </p:sp>
      <p:sp>
        <p:nvSpPr>
          <p:cNvPr id="4" name="Shape 1"/>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771754"/>
            <a:ext cx="1775765"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CD STEP TREND</a:t>
            </a:r>
            <a:endParaRPr lang="en-US" sz="1350" dirty="0"/>
          </a:p>
        </p:txBody>
      </p:sp>
      <p:sp>
        <p:nvSpPr>
          <p:cNvPr id="6" name="Text 3"/>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Step별 ACI CD 변화 추이</a:t>
            </a:r>
            <a:endParaRPr lang="en-US" sz="3600" dirty="0"/>
          </a:p>
        </p:txBody>
      </p:sp>
      <p:sp>
        <p:nvSpPr>
          <p:cNvPr id="7" name="Text 4"/>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Post-Etch → Post-ASI → Post-CMP → Post-Anneal 4단계에서 split 평균 CD. PVD가 post-anneal까지 더 깊이 빠지고 under-shrink가 누적됩니다.</a:t>
            </a:r>
            <a:endParaRPr lang="en-US" sz="1350" dirty="0"/>
          </a:p>
        </p:txBody>
      </p:sp>
      <p:pic>
        <p:nvPicPr>
          <p:cNvPr id="8" name="Image 0" descr="gen-dedup-a38518400d908a3784b9c5df6b0a9844.png">    </p:cNvPr>
          <p:cNvPicPr>
            <a:picLocks noChangeAspect="1"/>
          </p:cNvPicPr>
          <p:nvPr/>
        </p:nvPicPr>
        <p:blipFill>
          <a:blip r:embed="rId1"/>
          <a:srcRect l="0" r="0" t="-3" b="-3"/>
          <a:stretch/>
        </p:blipFill>
        <p:spPr>
          <a:xfrm>
            <a:off x="857707" y="3238805"/>
            <a:ext cx="16573500" cy="5524805"/>
          </a:xfrm>
          <a:prstGeom prst="rect">
            <a:avLst/>
          </a:prstGeom>
        </p:spPr>
      </p:pic>
      <p:sp>
        <p:nvSpPr>
          <p:cNvPr id="9" name="Text 5"/>
          <p:cNvSpPr txBox="1"/>
          <p:nvPr/>
        </p:nvSpPr>
        <p:spPr>
          <a:xfrm>
            <a:off x="857707" y="8953805"/>
            <a:ext cx="8496605" cy="200254"/>
          </a:xfrm>
          <a:prstGeom prst="rect">
            <a:avLst/>
          </a:prstGeom>
          <a:noFill/>
          <a:ln/>
        </p:spPr>
        <p:txBody>
          <a:bodyPr wrap="none" lIns="0" tIns="0" rIns="0" bIns="0" rtlCol="0" anchor="ctr"/>
          <a:lstStyle/>
          <a:p>
            <a:pPr algn="l" indent="0" marL="0">
              <a:buNone/>
            </a:pPr>
            <a:r>
              <a:rPr lang="en-US" sz="1050" b="1" dirty="0">
                <a:solidFill>
                  <a:srgbClr val="1F6F70"/>
                </a:solidFill>
                <a:latin typeface="Noto Sans KR" pitchFamily="34" charset="0"/>
                <a:ea typeface="Noto Sans KR" pitchFamily="34" charset="-122"/>
                <a:cs typeface="Noto Sans KR" pitchFamily="34" charset="-120"/>
              </a:rPr>
              <a:t>ALD —</a:t>
            </a:r>
            <a:pPr algn="l" indent="0" marL="0">
              <a:buNone/>
            </a:pPr>
            <a:r>
              <a:rPr lang="en-US" sz="1050" dirty="0">
                <a:solidFill>
                  <a:srgbClr val="15202C"/>
                </a:solidFill>
                <a:latin typeface="Noto Sans KR" pitchFamily="34" charset="0"/>
                <a:ea typeface="Noto Sans KR" pitchFamily="34" charset="-122"/>
                <a:cs typeface="Noto Sans KR" pitchFamily="34" charset="-120"/>
              </a:rPr>
              <a:t> post-etch에서 시작 CD가 더 낮고, 각 단계에서 손실 폭도 작아 post-anneal에서 9.55 nm으로 target과 +0.05 nm 차이.</a:t>
            </a:r>
            <a:endParaRPr lang="en-US" sz="1050" dirty="0"/>
          </a:p>
        </p:txBody>
      </p:sp>
      <p:sp>
        <p:nvSpPr>
          <p:cNvPr id="10" name="Text 6"/>
          <p:cNvSpPr txBox="1"/>
          <p:nvPr/>
        </p:nvSpPr>
        <p:spPr>
          <a:xfrm>
            <a:off x="9239098" y="8953805"/>
            <a:ext cx="8483803" cy="200254"/>
          </a:xfrm>
          <a:prstGeom prst="rect">
            <a:avLst/>
          </a:prstGeom>
          <a:noFill/>
          <a:ln/>
        </p:spPr>
        <p:txBody>
          <a:bodyPr wrap="none" lIns="0" tIns="0" rIns="0" bIns="0" rtlCol="0" anchor="ctr"/>
          <a:lstStyle/>
          <a:p>
            <a:pPr algn="l" indent="0" marL="0">
              <a:buNone/>
            </a:pPr>
            <a:r>
              <a:rPr lang="en-US" sz="1050" b="1" dirty="0">
                <a:solidFill>
                  <a:srgbClr val="B75230"/>
                </a:solidFill>
                <a:latin typeface="Noto Sans KR" pitchFamily="34" charset="0"/>
                <a:ea typeface="Noto Sans KR" pitchFamily="34" charset="-122"/>
                <a:cs typeface="Noto Sans KR" pitchFamily="34" charset="-120"/>
              </a:rPr>
              <a:t>PVD —</a:t>
            </a:r>
            <a:pPr algn="l" indent="0" marL="0">
              <a:buNone/>
            </a:pPr>
            <a:r>
              <a:rPr lang="en-US" sz="1050" dirty="0">
                <a:solidFill>
                  <a:srgbClr val="15202C"/>
                </a:solidFill>
                <a:latin typeface="Noto Sans KR" pitchFamily="34" charset="0"/>
                <a:ea typeface="Noto Sans KR" pitchFamily="34" charset="-122"/>
                <a:cs typeface="Noto Sans KR" pitchFamily="34" charset="-120"/>
              </a:rPr>
              <a:t> post-etch에서 12.6 nm으로 더 높지만, target 대비 −0.45 nm까지 under-shrink. CMP와 anneal에서 손실이 누적됨.</a:t>
            </a:r>
            <a:endParaRPr lang="en-US" sz="1050" dirty="0"/>
          </a:p>
        </p:txBody>
      </p:sp>
      <p:pic>
        <p:nvPicPr>
          <p:cNvPr id="11"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12" name="Text 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638398"/>
            <a:ext cx="13144500" cy="457200"/>
          </a:xfrm>
          <a:prstGeom prst="rect">
            <a:avLst/>
          </a:prstGeom>
          <a:solidFill>
            <a:srgbClr val="E2EEEC"/>
          </a:solidFill>
          <a:ln w="12700">
            <a:solidFill>
              <a:srgbClr val="FFFFFF">
                <a:alpha val="0"/>
              </a:srgbClr>
            </a:solidFill>
            <a:prstDash val="solid"/>
          </a:ln>
        </p:spPr>
      </p:sp>
      <p:sp>
        <p:nvSpPr>
          <p:cNvPr id="4" name="Shape 1"/>
          <p:cNvSpPr/>
          <p:nvPr/>
        </p:nvSpPr>
        <p:spPr>
          <a:xfrm>
            <a:off x="857707" y="4552798"/>
            <a:ext cx="13144500" cy="457200"/>
          </a:xfrm>
          <a:prstGeom prst="rect">
            <a:avLst/>
          </a:prstGeom>
          <a:solidFill>
            <a:srgbClr val="E2EEEC"/>
          </a:solidFill>
          <a:ln w="12700">
            <a:solidFill>
              <a:srgbClr val="FFFFFF">
                <a:alpha val="0"/>
              </a:srgbClr>
            </a:solidFill>
            <a:prstDash val="solid"/>
          </a:ln>
        </p:spPr>
      </p:sp>
      <p:sp>
        <p:nvSpPr>
          <p:cNvPr id="5" name="Shape 2"/>
          <p:cNvSpPr/>
          <p:nvPr/>
        </p:nvSpPr>
        <p:spPr>
          <a:xfrm>
            <a:off x="857707" y="5009998"/>
            <a:ext cx="13144500" cy="457200"/>
          </a:xfrm>
          <a:prstGeom prst="rect">
            <a:avLst/>
          </a:prstGeom>
          <a:solidFill>
            <a:srgbClr val="D8E8E5"/>
          </a:solidFill>
          <a:ln w="12700">
            <a:solidFill>
              <a:srgbClr val="FFFFFF">
                <a:alpha val="0"/>
              </a:srgbClr>
            </a:solidFill>
            <a:prstDash val="solid"/>
          </a:ln>
        </p:spPr>
      </p:sp>
      <p:sp>
        <p:nvSpPr>
          <p:cNvPr id="6" name="Shape 3"/>
          <p:cNvSpPr/>
          <p:nvPr/>
        </p:nvSpPr>
        <p:spPr>
          <a:xfrm>
            <a:off x="857707" y="5467198"/>
            <a:ext cx="13144500" cy="457200"/>
          </a:xfrm>
          <a:prstGeom prst="rect">
            <a:avLst/>
          </a:prstGeom>
          <a:solidFill>
            <a:srgbClr val="D8E8E5"/>
          </a:solidFill>
          <a:ln w="12700">
            <a:solidFill>
              <a:srgbClr val="FFFFFF">
                <a:alpha val="0"/>
              </a:srgbClr>
            </a:solidFill>
            <a:prstDash val="solid"/>
          </a:ln>
        </p:spPr>
      </p:sp>
      <p:sp>
        <p:nvSpPr>
          <p:cNvPr id="7" name="Shape 4"/>
          <p:cNvSpPr/>
          <p:nvPr/>
        </p:nvSpPr>
        <p:spPr>
          <a:xfrm>
            <a:off x="857707" y="5924398"/>
            <a:ext cx="13144500" cy="457200"/>
          </a:xfrm>
          <a:prstGeom prst="rect">
            <a:avLst/>
          </a:prstGeom>
          <a:solidFill>
            <a:srgbClr val="D8E8E5"/>
          </a:solidFill>
          <a:ln w="12700">
            <a:solidFill>
              <a:srgbClr val="FFFFFF">
                <a:alpha val="0"/>
              </a:srgbClr>
            </a:solidFill>
            <a:prstDash val="solid"/>
          </a:ln>
        </p:spPr>
      </p:sp>
      <p:sp>
        <p:nvSpPr>
          <p:cNvPr id="8" name="Shape 5"/>
          <p:cNvSpPr/>
          <p:nvPr/>
        </p:nvSpPr>
        <p:spPr>
          <a:xfrm>
            <a:off x="857707" y="6381598"/>
            <a:ext cx="13144500" cy="457200"/>
          </a:xfrm>
          <a:prstGeom prst="rect">
            <a:avLst/>
          </a:prstGeom>
          <a:solidFill>
            <a:srgbClr val="F2DBCE"/>
          </a:solidFill>
          <a:ln w="12700">
            <a:solidFill>
              <a:srgbClr val="FFFFFF">
                <a:alpha val="0"/>
              </a:srgbClr>
            </a:solidFill>
            <a:prstDash val="solid"/>
          </a:ln>
        </p:spPr>
      </p:sp>
      <p:sp>
        <p:nvSpPr>
          <p:cNvPr id="9" name="Shape 6"/>
          <p:cNvSpPr/>
          <p:nvPr/>
        </p:nvSpPr>
        <p:spPr>
          <a:xfrm>
            <a:off x="857707" y="6838798"/>
            <a:ext cx="13144500" cy="457200"/>
          </a:xfrm>
          <a:prstGeom prst="rect">
            <a:avLst/>
          </a:prstGeom>
          <a:solidFill>
            <a:srgbClr val="F2DBCE"/>
          </a:solidFill>
          <a:ln w="12700">
            <a:solidFill>
              <a:srgbClr val="FFFFFF">
                <a:alpha val="0"/>
              </a:srgbClr>
            </a:solidFill>
            <a:prstDash val="solid"/>
          </a:ln>
        </p:spPr>
      </p:sp>
      <p:sp>
        <p:nvSpPr>
          <p:cNvPr id="10" name="Shape 7"/>
          <p:cNvSpPr/>
          <p:nvPr/>
        </p:nvSpPr>
        <p:spPr>
          <a:xfrm>
            <a:off x="857707" y="7295998"/>
            <a:ext cx="13144500" cy="457200"/>
          </a:xfrm>
          <a:prstGeom prst="rect">
            <a:avLst/>
          </a:prstGeom>
          <a:solidFill>
            <a:srgbClr val="F2DBCE"/>
          </a:solidFill>
          <a:ln w="12700">
            <a:solidFill>
              <a:srgbClr val="FFFFFF">
                <a:alpha val="0"/>
              </a:srgbClr>
            </a:solidFill>
            <a:prstDash val="solid"/>
          </a:ln>
        </p:spPr>
      </p:sp>
      <p:sp>
        <p:nvSpPr>
          <p:cNvPr id="11" name="Shape 8"/>
          <p:cNvSpPr/>
          <p:nvPr/>
        </p:nvSpPr>
        <p:spPr>
          <a:xfrm>
            <a:off x="857707" y="7753198"/>
            <a:ext cx="13144500" cy="457200"/>
          </a:xfrm>
          <a:prstGeom prst="rect">
            <a:avLst/>
          </a:prstGeom>
          <a:solidFill>
            <a:srgbClr val="E8CCB4"/>
          </a:solidFill>
          <a:ln w="12700">
            <a:solidFill>
              <a:srgbClr val="FFFFFF">
                <a:alpha val="0"/>
              </a:srgbClr>
            </a:solidFill>
            <a:prstDash val="solid"/>
          </a:ln>
        </p:spPr>
      </p:sp>
      <p:sp>
        <p:nvSpPr>
          <p:cNvPr id="12" name="Shape 9"/>
          <p:cNvSpPr/>
          <p:nvPr/>
        </p:nvSpPr>
        <p:spPr>
          <a:xfrm>
            <a:off x="857707" y="8210398"/>
            <a:ext cx="13144500" cy="457200"/>
          </a:xfrm>
          <a:prstGeom prst="rect">
            <a:avLst/>
          </a:prstGeom>
          <a:solidFill>
            <a:srgbClr val="E8CCB4"/>
          </a:solidFill>
          <a:ln w="12700">
            <a:solidFill>
              <a:srgbClr val="FFFFFF">
                <a:alpha val="0"/>
              </a:srgbClr>
            </a:solidFill>
            <a:prstDash val="solid"/>
          </a:ln>
        </p:spPr>
      </p:sp>
      <p:sp>
        <p:nvSpPr>
          <p:cNvPr id="13" name="Shape 10"/>
          <p:cNvSpPr/>
          <p:nvPr/>
        </p:nvSpPr>
        <p:spPr>
          <a:xfrm>
            <a:off x="857707" y="8667598"/>
            <a:ext cx="13144500" cy="457200"/>
          </a:xfrm>
          <a:prstGeom prst="rect">
            <a:avLst/>
          </a:prstGeom>
          <a:solidFill>
            <a:srgbClr val="E8CCB4"/>
          </a:solidFill>
          <a:ln w="12700">
            <a:solidFill>
              <a:srgbClr val="FFFFFF">
                <a:alpha val="0"/>
              </a:srgbClr>
            </a:solidFill>
            <a:prstDash val="solid"/>
          </a:ln>
        </p:spPr>
      </p:sp>
      <p:sp>
        <p:nvSpPr>
          <p:cNvPr id="14" name="Shape 11"/>
          <p:cNvSpPr/>
          <p:nvPr/>
        </p:nvSpPr>
        <p:spPr>
          <a:xfrm>
            <a:off x="14287500" y="3143707"/>
            <a:ext cx="3143707" cy="5982005"/>
          </a:xfrm>
          <a:prstGeom prst="rect">
            <a:avLst/>
          </a:prstGeom>
          <a:solidFill>
            <a:srgbClr val="15202C"/>
          </a:solidFill>
          <a:ln w="12700">
            <a:solidFill>
              <a:srgbClr val="FFFFFF">
                <a:alpha val="0"/>
              </a:srgbClr>
            </a:solidFill>
            <a:prstDash val="solid"/>
          </a:ln>
        </p:spPr>
      </p:sp>
      <p:sp>
        <p:nvSpPr>
          <p:cNvPr id="15" name="Shape 12"/>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6" name="Text 13"/>
          <p:cNvSpPr txBox="1"/>
          <p:nvPr/>
        </p:nvSpPr>
        <p:spPr>
          <a:xfrm>
            <a:off x="1067105" y="771754"/>
            <a:ext cx="2607869"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IN-WAFER UNIFORMITY</a:t>
            </a:r>
            <a:endParaRPr lang="en-US" sz="1350" dirty="0"/>
          </a:p>
        </p:txBody>
      </p:sp>
      <p:sp>
        <p:nvSpPr>
          <p:cNvPr id="17" name="Text 14"/>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In-wafer uniformity (49 pt, ACI 기준)</a:t>
            </a:r>
            <a:endParaRPr lang="en-US" sz="3600" dirty="0"/>
          </a:p>
        </p:txBody>
      </p:sp>
      <p:sp>
        <p:nvSpPr>
          <p:cNvPr id="18" name="Text 15"/>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49 측정점을 Center / Middle / Edge 3-region으로 묶어 region별 mean, 3σ, uniformity %를 비교했습니다. ALD가 모든 region에서 3% 이내 균일도.</a:t>
            </a:r>
            <a:endParaRPr lang="en-US" sz="1350" dirty="0"/>
          </a:p>
        </p:txBody>
      </p:sp>
      <p:sp>
        <p:nvSpPr>
          <p:cNvPr id="19" name="Shape 16"/>
          <p:cNvSpPr/>
          <p:nvPr/>
        </p:nvSpPr>
        <p:spPr>
          <a:xfrm>
            <a:off x="857707" y="3610966"/>
            <a:ext cx="13144500" cy="9144"/>
          </a:xfrm>
          <a:prstGeom prst="rect">
            <a:avLst/>
          </a:prstGeom>
          <a:solidFill>
            <a:srgbClr val="15202C"/>
          </a:solidFill>
          <a:ln w="12700">
            <a:solidFill>
              <a:srgbClr val="15202C">
                <a:alpha val="0"/>
              </a:srgbClr>
            </a:solidFill>
            <a:prstDash val="solid"/>
          </a:ln>
        </p:spPr>
      </p:sp>
      <p:sp>
        <p:nvSpPr>
          <p:cNvPr id="20" name="Text 17"/>
          <p:cNvSpPr txBox="1"/>
          <p:nvPr/>
        </p:nvSpPr>
        <p:spPr>
          <a:xfrm>
            <a:off x="857707" y="3143707"/>
            <a:ext cx="1239012"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WAFER</a:t>
            </a:r>
            <a:endParaRPr lang="en-US" sz="975" dirty="0"/>
          </a:p>
        </p:txBody>
      </p:sp>
      <p:sp>
        <p:nvSpPr>
          <p:cNvPr id="21" name="Text 18"/>
          <p:cNvSpPr txBox="1"/>
          <p:nvPr/>
        </p:nvSpPr>
        <p:spPr>
          <a:xfrm>
            <a:off x="2095805" y="3143707"/>
            <a:ext cx="2095805"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REGION</a:t>
            </a:r>
            <a:endParaRPr lang="en-US" sz="975" dirty="0"/>
          </a:p>
        </p:txBody>
      </p:sp>
      <p:sp>
        <p:nvSpPr>
          <p:cNvPr id="22" name="Text 19"/>
          <p:cNvSpPr txBox="1"/>
          <p:nvPr/>
        </p:nvSpPr>
        <p:spPr>
          <a:xfrm>
            <a:off x="4190695" y="3143707"/>
            <a:ext cx="2286000"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SAMPLE n</a:t>
            </a:r>
            <a:endParaRPr lang="en-US" sz="975" dirty="0"/>
          </a:p>
        </p:txBody>
      </p:sp>
      <p:sp>
        <p:nvSpPr>
          <p:cNvPr id="23" name="Text 20"/>
          <p:cNvSpPr txBox="1"/>
          <p:nvPr/>
        </p:nvSpPr>
        <p:spPr>
          <a:xfrm>
            <a:off x="6476695" y="3143707"/>
            <a:ext cx="2477110"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MEAN (nm)</a:t>
            </a:r>
            <a:endParaRPr lang="en-US" sz="975" dirty="0"/>
          </a:p>
        </p:txBody>
      </p:sp>
      <p:sp>
        <p:nvSpPr>
          <p:cNvPr id="24" name="Text 21"/>
          <p:cNvSpPr txBox="1"/>
          <p:nvPr/>
        </p:nvSpPr>
        <p:spPr>
          <a:xfrm>
            <a:off x="8953805" y="3143707"/>
            <a:ext cx="2382012"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3σ (nm)</a:t>
            </a:r>
            <a:endParaRPr lang="en-US" sz="975" dirty="0"/>
          </a:p>
        </p:txBody>
      </p:sp>
      <p:sp>
        <p:nvSpPr>
          <p:cNvPr id="25" name="Text 22"/>
          <p:cNvSpPr txBox="1"/>
          <p:nvPr/>
        </p:nvSpPr>
        <p:spPr>
          <a:xfrm>
            <a:off x="11334902" y="3143707"/>
            <a:ext cx="2667305"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UNIFORMITY %</a:t>
            </a:r>
            <a:endParaRPr lang="en-US" sz="975" dirty="0"/>
          </a:p>
        </p:txBody>
      </p:sp>
      <p:sp>
        <p:nvSpPr>
          <p:cNvPr id="26" name="Text 23"/>
          <p:cNvSpPr txBox="1"/>
          <p:nvPr/>
        </p:nvSpPr>
        <p:spPr>
          <a:xfrm>
            <a:off x="857707" y="36383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27" name="Text 24"/>
          <p:cNvSpPr txBox="1"/>
          <p:nvPr/>
        </p:nvSpPr>
        <p:spPr>
          <a:xfrm>
            <a:off x="2095805" y="3638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28" name="Text 25"/>
          <p:cNvSpPr txBox="1"/>
          <p:nvPr/>
        </p:nvSpPr>
        <p:spPr>
          <a:xfrm>
            <a:off x="4190695" y="3638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29" name="Text 26"/>
          <p:cNvSpPr txBox="1"/>
          <p:nvPr/>
        </p:nvSpPr>
        <p:spPr>
          <a:xfrm>
            <a:off x="6476695" y="3638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9.62</a:t>
            </a:r>
            <a:endParaRPr lang="en-US" sz="1275" dirty="0"/>
          </a:p>
        </p:txBody>
      </p:sp>
      <p:sp>
        <p:nvSpPr>
          <p:cNvPr id="30" name="Text 27"/>
          <p:cNvSpPr txBox="1"/>
          <p:nvPr/>
        </p:nvSpPr>
        <p:spPr>
          <a:xfrm>
            <a:off x="8953805" y="3638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0.18</a:t>
            </a:r>
            <a:endParaRPr lang="en-US" sz="1275" dirty="0"/>
          </a:p>
        </p:txBody>
      </p:sp>
      <p:sp>
        <p:nvSpPr>
          <p:cNvPr id="31" name="Text 28"/>
          <p:cNvSpPr txBox="1"/>
          <p:nvPr/>
        </p:nvSpPr>
        <p:spPr>
          <a:xfrm>
            <a:off x="11334902" y="36383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1.87%</a:t>
            </a:r>
            <a:endParaRPr lang="en-US" sz="1275" dirty="0"/>
          </a:p>
        </p:txBody>
      </p:sp>
      <p:sp>
        <p:nvSpPr>
          <p:cNvPr id="32" name="Text 29"/>
          <p:cNvSpPr txBox="1"/>
          <p:nvPr/>
        </p:nvSpPr>
        <p:spPr>
          <a:xfrm>
            <a:off x="857707" y="40955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33" name="Text 30"/>
          <p:cNvSpPr txBox="1"/>
          <p:nvPr/>
        </p:nvSpPr>
        <p:spPr>
          <a:xfrm>
            <a:off x="2095805" y="4095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34" name="Text 31"/>
          <p:cNvSpPr txBox="1"/>
          <p:nvPr/>
        </p:nvSpPr>
        <p:spPr>
          <a:xfrm>
            <a:off x="4190695" y="4095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35" name="Text 32"/>
          <p:cNvSpPr txBox="1"/>
          <p:nvPr/>
        </p:nvSpPr>
        <p:spPr>
          <a:xfrm>
            <a:off x="6476695" y="4095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9.58</a:t>
            </a:r>
            <a:endParaRPr lang="en-US" sz="1275" dirty="0"/>
          </a:p>
        </p:txBody>
      </p:sp>
      <p:sp>
        <p:nvSpPr>
          <p:cNvPr id="36" name="Text 33"/>
          <p:cNvSpPr txBox="1"/>
          <p:nvPr/>
        </p:nvSpPr>
        <p:spPr>
          <a:xfrm>
            <a:off x="8953805" y="4095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0.21</a:t>
            </a:r>
            <a:endParaRPr lang="en-US" sz="1275" dirty="0"/>
          </a:p>
        </p:txBody>
      </p:sp>
      <p:sp>
        <p:nvSpPr>
          <p:cNvPr id="37" name="Text 34"/>
          <p:cNvSpPr txBox="1"/>
          <p:nvPr/>
        </p:nvSpPr>
        <p:spPr>
          <a:xfrm>
            <a:off x="11334902" y="40955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2.19%</a:t>
            </a:r>
            <a:endParaRPr lang="en-US" sz="1275" dirty="0"/>
          </a:p>
        </p:txBody>
      </p:sp>
      <p:sp>
        <p:nvSpPr>
          <p:cNvPr id="38" name="Text 35"/>
          <p:cNvSpPr txBox="1"/>
          <p:nvPr/>
        </p:nvSpPr>
        <p:spPr>
          <a:xfrm>
            <a:off x="857707" y="45527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39" name="Text 36"/>
          <p:cNvSpPr txBox="1"/>
          <p:nvPr/>
        </p:nvSpPr>
        <p:spPr>
          <a:xfrm>
            <a:off x="2095805" y="45527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40" name="Text 37"/>
          <p:cNvSpPr txBox="1"/>
          <p:nvPr/>
        </p:nvSpPr>
        <p:spPr>
          <a:xfrm>
            <a:off x="4190695" y="45527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41" name="Text 38"/>
          <p:cNvSpPr txBox="1"/>
          <p:nvPr/>
        </p:nvSpPr>
        <p:spPr>
          <a:xfrm>
            <a:off x="6476695" y="45527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9.60</a:t>
            </a:r>
            <a:endParaRPr lang="en-US" sz="1275" dirty="0"/>
          </a:p>
        </p:txBody>
      </p:sp>
      <p:sp>
        <p:nvSpPr>
          <p:cNvPr id="42" name="Text 39"/>
          <p:cNvSpPr txBox="1"/>
          <p:nvPr/>
        </p:nvSpPr>
        <p:spPr>
          <a:xfrm>
            <a:off x="8953805" y="45527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0.27</a:t>
            </a:r>
            <a:endParaRPr lang="en-US" sz="1275" dirty="0"/>
          </a:p>
        </p:txBody>
      </p:sp>
      <p:sp>
        <p:nvSpPr>
          <p:cNvPr id="43" name="Text 40"/>
          <p:cNvSpPr txBox="1"/>
          <p:nvPr/>
        </p:nvSpPr>
        <p:spPr>
          <a:xfrm>
            <a:off x="11334902" y="45527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2.81%</a:t>
            </a:r>
            <a:endParaRPr lang="en-US" sz="1275" dirty="0"/>
          </a:p>
        </p:txBody>
      </p:sp>
      <p:sp>
        <p:nvSpPr>
          <p:cNvPr id="44" name="Text 41"/>
          <p:cNvSpPr txBox="1"/>
          <p:nvPr/>
        </p:nvSpPr>
        <p:spPr>
          <a:xfrm>
            <a:off x="857707" y="50099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45" name="Text 42"/>
          <p:cNvSpPr txBox="1"/>
          <p:nvPr/>
        </p:nvSpPr>
        <p:spPr>
          <a:xfrm>
            <a:off x="2095805" y="50099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46" name="Text 43"/>
          <p:cNvSpPr txBox="1"/>
          <p:nvPr/>
        </p:nvSpPr>
        <p:spPr>
          <a:xfrm>
            <a:off x="4190695" y="50099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47" name="Text 44"/>
          <p:cNvSpPr txBox="1"/>
          <p:nvPr/>
        </p:nvSpPr>
        <p:spPr>
          <a:xfrm>
            <a:off x="6476695" y="50099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9.55</a:t>
            </a:r>
            <a:endParaRPr lang="en-US" sz="1275" dirty="0"/>
          </a:p>
        </p:txBody>
      </p:sp>
      <p:sp>
        <p:nvSpPr>
          <p:cNvPr id="48" name="Text 45"/>
          <p:cNvSpPr txBox="1"/>
          <p:nvPr/>
        </p:nvSpPr>
        <p:spPr>
          <a:xfrm>
            <a:off x="8953805" y="50099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0.20</a:t>
            </a:r>
            <a:endParaRPr lang="en-US" sz="1275" dirty="0"/>
          </a:p>
        </p:txBody>
      </p:sp>
      <p:sp>
        <p:nvSpPr>
          <p:cNvPr id="49" name="Text 46"/>
          <p:cNvSpPr txBox="1"/>
          <p:nvPr/>
        </p:nvSpPr>
        <p:spPr>
          <a:xfrm>
            <a:off x="11334902" y="50099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2.10%</a:t>
            </a:r>
            <a:endParaRPr lang="en-US" sz="1275" dirty="0"/>
          </a:p>
        </p:txBody>
      </p:sp>
      <p:sp>
        <p:nvSpPr>
          <p:cNvPr id="50" name="Text 47"/>
          <p:cNvSpPr txBox="1"/>
          <p:nvPr/>
        </p:nvSpPr>
        <p:spPr>
          <a:xfrm>
            <a:off x="857707" y="54671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51" name="Text 48"/>
          <p:cNvSpPr txBox="1"/>
          <p:nvPr/>
        </p:nvSpPr>
        <p:spPr>
          <a:xfrm>
            <a:off x="2095805" y="54671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52" name="Text 49"/>
          <p:cNvSpPr txBox="1"/>
          <p:nvPr/>
        </p:nvSpPr>
        <p:spPr>
          <a:xfrm>
            <a:off x="4190695" y="54671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53" name="Text 50"/>
          <p:cNvSpPr txBox="1"/>
          <p:nvPr/>
        </p:nvSpPr>
        <p:spPr>
          <a:xfrm>
            <a:off x="6476695" y="54671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9.50</a:t>
            </a:r>
            <a:endParaRPr lang="en-US" sz="1275" dirty="0"/>
          </a:p>
        </p:txBody>
      </p:sp>
      <p:sp>
        <p:nvSpPr>
          <p:cNvPr id="54" name="Text 51"/>
          <p:cNvSpPr txBox="1"/>
          <p:nvPr/>
        </p:nvSpPr>
        <p:spPr>
          <a:xfrm>
            <a:off x="8953805" y="54671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0.22</a:t>
            </a:r>
            <a:endParaRPr lang="en-US" sz="1275" dirty="0"/>
          </a:p>
        </p:txBody>
      </p:sp>
      <p:sp>
        <p:nvSpPr>
          <p:cNvPr id="55" name="Text 52"/>
          <p:cNvSpPr txBox="1"/>
          <p:nvPr/>
        </p:nvSpPr>
        <p:spPr>
          <a:xfrm>
            <a:off x="11334902" y="54671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2.32%</a:t>
            </a:r>
            <a:endParaRPr lang="en-US" sz="1275" dirty="0"/>
          </a:p>
        </p:txBody>
      </p:sp>
      <p:sp>
        <p:nvSpPr>
          <p:cNvPr id="56" name="Text 53"/>
          <p:cNvSpPr txBox="1"/>
          <p:nvPr/>
        </p:nvSpPr>
        <p:spPr>
          <a:xfrm>
            <a:off x="857707" y="59243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57" name="Text 54"/>
          <p:cNvSpPr txBox="1"/>
          <p:nvPr/>
        </p:nvSpPr>
        <p:spPr>
          <a:xfrm>
            <a:off x="2095805" y="5924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58" name="Text 55"/>
          <p:cNvSpPr txBox="1"/>
          <p:nvPr/>
        </p:nvSpPr>
        <p:spPr>
          <a:xfrm>
            <a:off x="4190695" y="5924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59" name="Text 56"/>
          <p:cNvSpPr txBox="1"/>
          <p:nvPr/>
        </p:nvSpPr>
        <p:spPr>
          <a:xfrm>
            <a:off x="6476695" y="5924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9.45</a:t>
            </a:r>
            <a:endParaRPr lang="en-US" sz="1275" dirty="0"/>
          </a:p>
        </p:txBody>
      </p:sp>
      <p:sp>
        <p:nvSpPr>
          <p:cNvPr id="60" name="Text 57"/>
          <p:cNvSpPr txBox="1"/>
          <p:nvPr/>
        </p:nvSpPr>
        <p:spPr>
          <a:xfrm>
            <a:off x="8953805" y="5924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0.28</a:t>
            </a:r>
            <a:endParaRPr lang="en-US" sz="1275" dirty="0"/>
          </a:p>
        </p:txBody>
      </p:sp>
      <p:sp>
        <p:nvSpPr>
          <p:cNvPr id="61" name="Text 58"/>
          <p:cNvSpPr txBox="1"/>
          <p:nvPr/>
        </p:nvSpPr>
        <p:spPr>
          <a:xfrm>
            <a:off x="11334902" y="59243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2.96%</a:t>
            </a:r>
            <a:endParaRPr lang="en-US" sz="1275" dirty="0"/>
          </a:p>
        </p:txBody>
      </p:sp>
      <p:sp>
        <p:nvSpPr>
          <p:cNvPr id="62" name="Text 59"/>
          <p:cNvSpPr txBox="1"/>
          <p:nvPr/>
        </p:nvSpPr>
        <p:spPr>
          <a:xfrm>
            <a:off x="857707" y="63815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63" name="Text 60"/>
          <p:cNvSpPr txBox="1"/>
          <p:nvPr/>
        </p:nvSpPr>
        <p:spPr>
          <a:xfrm>
            <a:off x="2095805" y="6381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64" name="Text 61"/>
          <p:cNvSpPr txBox="1"/>
          <p:nvPr/>
        </p:nvSpPr>
        <p:spPr>
          <a:xfrm>
            <a:off x="4190695" y="6381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65" name="Text 62"/>
          <p:cNvSpPr txBox="1"/>
          <p:nvPr/>
        </p:nvSpPr>
        <p:spPr>
          <a:xfrm>
            <a:off x="6476695" y="6381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9.18</a:t>
            </a:r>
            <a:endParaRPr lang="en-US" sz="1275" dirty="0"/>
          </a:p>
        </p:txBody>
      </p:sp>
      <p:sp>
        <p:nvSpPr>
          <p:cNvPr id="66" name="Text 63"/>
          <p:cNvSpPr txBox="1"/>
          <p:nvPr/>
        </p:nvSpPr>
        <p:spPr>
          <a:xfrm>
            <a:off x="8953805" y="6381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0.30</a:t>
            </a:r>
            <a:endParaRPr lang="en-US" sz="1275" dirty="0"/>
          </a:p>
        </p:txBody>
      </p:sp>
      <p:sp>
        <p:nvSpPr>
          <p:cNvPr id="67" name="Text 64"/>
          <p:cNvSpPr txBox="1"/>
          <p:nvPr/>
        </p:nvSpPr>
        <p:spPr>
          <a:xfrm>
            <a:off x="11334902" y="63815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3.27%</a:t>
            </a:r>
            <a:endParaRPr lang="en-US" sz="1275" dirty="0"/>
          </a:p>
        </p:txBody>
      </p:sp>
      <p:sp>
        <p:nvSpPr>
          <p:cNvPr id="68" name="Text 65"/>
          <p:cNvSpPr txBox="1"/>
          <p:nvPr/>
        </p:nvSpPr>
        <p:spPr>
          <a:xfrm>
            <a:off x="857707" y="68387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69" name="Text 66"/>
          <p:cNvSpPr txBox="1"/>
          <p:nvPr/>
        </p:nvSpPr>
        <p:spPr>
          <a:xfrm>
            <a:off x="2095805" y="68387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70" name="Text 67"/>
          <p:cNvSpPr txBox="1"/>
          <p:nvPr/>
        </p:nvSpPr>
        <p:spPr>
          <a:xfrm>
            <a:off x="4190695" y="68387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71" name="Text 68"/>
          <p:cNvSpPr txBox="1"/>
          <p:nvPr/>
        </p:nvSpPr>
        <p:spPr>
          <a:xfrm>
            <a:off x="6476695" y="68387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9.10</a:t>
            </a:r>
            <a:endParaRPr lang="en-US" sz="1275" dirty="0"/>
          </a:p>
        </p:txBody>
      </p:sp>
      <p:sp>
        <p:nvSpPr>
          <p:cNvPr id="72" name="Text 69"/>
          <p:cNvSpPr txBox="1"/>
          <p:nvPr/>
        </p:nvSpPr>
        <p:spPr>
          <a:xfrm>
            <a:off x="8953805" y="68387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0.34</a:t>
            </a:r>
            <a:endParaRPr lang="en-US" sz="1275" dirty="0"/>
          </a:p>
        </p:txBody>
      </p:sp>
      <p:sp>
        <p:nvSpPr>
          <p:cNvPr id="73" name="Text 70"/>
          <p:cNvSpPr txBox="1"/>
          <p:nvPr/>
        </p:nvSpPr>
        <p:spPr>
          <a:xfrm>
            <a:off x="11334902" y="68387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3.74%</a:t>
            </a:r>
            <a:endParaRPr lang="en-US" sz="1275" dirty="0"/>
          </a:p>
        </p:txBody>
      </p:sp>
      <p:sp>
        <p:nvSpPr>
          <p:cNvPr id="74" name="Text 71"/>
          <p:cNvSpPr txBox="1"/>
          <p:nvPr/>
        </p:nvSpPr>
        <p:spPr>
          <a:xfrm>
            <a:off x="857707" y="72959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75" name="Text 72"/>
          <p:cNvSpPr txBox="1"/>
          <p:nvPr/>
        </p:nvSpPr>
        <p:spPr>
          <a:xfrm>
            <a:off x="2095805" y="72959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76" name="Text 73"/>
          <p:cNvSpPr txBox="1"/>
          <p:nvPr/>
        </p:nvSpPr>
        <p:spPr>
          <a:xfrm>
            <a:off x="4190695" y="72959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77" name="Text 74"/>
          <p:cNvSpPr txBox="1"/>
          <p:nvPr/>
        </p:nvSpPr>
        <p:spPr>
          <a:xfrm>
            <a:off x="6476695" y="72959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8.82</a:t>
            </a:r>
            <a:endParaRPr lang="en-US" sz="1275" dirty="0"/>
          </a:p>
        </p:txBody>
      </p:sp>
      <p:sp>
        <p:nvSpPr>
          <p:cNvPr id="78" name="Text 75"/>
          <p:cNvSpPr txBox="1"/>
          <p:nvPr/>
        </p:nvSpPr>
        <p:spPr>
          <a:xfrm>
            <a:off x="8953805" y="72959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0.42</a:t>
            </a:r>
            <a:endParaRPr lang="en-US" sz="1275" dirty="0"/>
          </a:p>
        </p:txBody>
      </p:sp>
      <p:sp>
        <p:nvSpPr>
          <p:cNvPr id="79" name="Text 76"/>
          <p:cNvSpPr txBox="1"/>
          <p:nvPr/>
        </p:nvSpPr>
        <p:spPr>
          <a:xfrm>
            <a:off x="11334902" y="72959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4.76%</a:t>
            </a:r>
            <a:endParaRPr lang="en-US" sz="1275" dirty="0"/>
          </a:p>
        </p:txBody>
      </p:sp>
      <p:sp>
        <p:nvSpPr>
          <p:cNvPr id="80" name="Text 77"/>
          <p:cNvSpPr txBox="1"/>
          <p:nvPr/>
        </p:nvSpPr>
        <p:spPr>
          <a:xfrm>
            <a:off x="857707" y="77531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81" name="Text 78"/>
          <p:cNvSpPr txBox="1"/>
          <p:nvPr/>
        </p:nvSpPr>
        <p:spPr>
          <a:xfrm>
            <a:off x="2095805" y="77531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82" name="Text 79"/>
          <p:cNvSpPr txBox="1"/>
          <p:nvPr/>
        </p:nvSpPr>
        <p:spPr>
          <a:xfrm>
            <a:off x="4190695" y="77531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83" name="Text 80"/>
          <p:cNvSpPr txBox="1"/>
          <p:nvPr/>
        </p:nvSpPr>
        <p:spPr>
          <a:xfrm>
            <a:off x="6476695" y="77531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9.12</a:t>
            </a:r>
            <a:endParaRPr lang="en-US" sz="1275" dirty="0"/>
          </a:p>
        </p:txBody>
      </p:sp>
      <p:sp>
        <p:nvSpPr>
          <p:cNvPr id="84" name="Text 81"/>
          <p:cNvSpPr txBox="1"/>
          <p:nvPr/>
        </p:nvSpPr>
        <p:spPr>
          <a:xfrm>
            <a:off x="8953805" y="77531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0.32</a:t>
            </a:r>
            <a:endParaRPr lang="en-US" sz="1275" dirty="0"/>
          </a:p>
        </p:txBody>
      </p:sp>
      <p:sp>
        <p:nvSpPr>
          <p:cNvPr id="85" name="Text 82"/>
          <p:cNvSpPr txBox="1"/>
          <p:nvPr/>
        </p:nvSpPr>
        <p:spPr>
          <a:xfrm>
            <a:off x="11334902" y="77531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3.51%</a:t>
            </a:r>
            <a:endParaRPr lang="en-US" sz="1275" dirty="0"/>
          </a:p>
        </p:txBody>
      </p:sp>
      <p:sp>
        <p:nvSpPr>
          <p:cNvPr id="86" name="Text 83"/>
          <p:cNvSpPr txBox="1"/>
          <p:nvPr/>
        </p:nvSpPr>
        <p:spPr>
          <a:xfrm>
            <a:off x="857707" y="82103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87" name="Text 84"/>
          <p:cNvSpPr txBox="1"/>
          <p:nvPr/>
        </p:nvSpPr>
        <p:spPr>
          <a:xfrm>
            <a:off x="2095805" y="8210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88" name="Text 85"/>
          <p:cNvSpPr txBox="1"/>
          <p:nvPr/>
        </p:nvSpPr>
        <p:spPr>
          <a:xfrm>
            <a:off x="4190695" y="8210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89" name="Text 86"/>
          <p:cNvSpPr txBox="1"/>
          <p:nvPr/>
        </p:nvSpPr>
        <p:spPr>
          <a:xfrm>
            <a:off x="6476695" y="8210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9.05</a:t>
            </a:r>
            <a:endParaRPr lang="en-US" sz="1275" dirty="0"/>
          </a:p>
        </p:txBody>
      </p:sp>
      <p:sp>
        <p:nvSpPr>
          <p:cNvPr id="90" name="Text 87"/>
          <p:cNvSpPr txBox="1"/>
          <p:nvPr/>
        </p:nvSpPr>
        <p:spPr>
          <a:xfrm>
            <a:off x="8953805" y="8210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0.36</a:t>
            </a:r>
            <a:endParaRPr lang="en-US" sz="1275" dirty="0"/>
          </a:p>
        </p:txBody>
      </p:sp>
      <p:sp>
        <p:nvSpPr>
          <p:cNvPr id="91" name="Text 88"/>
          <p:cNvSpPr txBox="1"/>
          <p:nvPr/>
        </p:nvSpPr>
        <p:spPr>
          <a:xfrm>
            <a:off x="11334902" y="82103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3.98%</a:t>
            </a:r>
            <a:endParaRPr lang="en-US" sz="1275" dirty="0"/>
          </a:p>
        </p:txBody>
      </p:sp>
      <p:sp>
        <p:nvSpPr>
          <p:cNvPr id="92" name="Text 89"/>
          <p:cNvSpPr txBox="1"/>
          <p:nvPr/>
        </p:nvSpPr>
        <p:spPr>
          <a:xfrm>
            <a:off x="857707" y="86675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93" name="Text 90"/>
          <p:cNvSpPr txBox="1"/>
          <p:nvPr/>
        </p:nvSpPr>
        <p:spPr>
          <a:xfrm>
            <a:off x="2095805" y="8667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94" name="Text 91"/>
          <p:cNvSpPr txBox="1"/>
          <p:nvPr/>
        </p:nvSpPr>
        <p:spPr>
          <a:xfrm>
            <a:off x="4190695" y="8667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95" name="Text 92"/>
          <p:cNvSpPr txBox="1"/>
          <p:nvPr/>
        </p:nvSpPr>
        <p:spPr>
          <a:xfrm>
            <a:off x="6476695" y="8667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8.72</a:t>
            </a:r>
            <a:endParaRPr lang="en-US" sz="1275" dirty="0"/>
          </a:p>
        </p:txBody>
      </p:sp>
      <p:sp>
        <p:nvSpPr>
          <p:cNvPr id="96" name="Text 93"/>
          <p:cNvSpPr txBox="1"/>
          <p:nvPr/>
        </p:nvSpPr>
        <p:spPr>
          <a:xfrm>
            <a:off x="8953805" y="8667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0.45</a:t>
            </a:r>
            <a:endParaRPr lang="en-US" sz="1275" dirty="0"/>
          </a:p>
        </p:txBody>
      </p:sp>
      <p:sp>
        <p:nvSpPr>
          <p:cNvPr id="97" name="Text 94"/>
          <p:cNvSpPr txBox="1"/>
          <p:nvPr/>
        </p:nvSpPr>
        <p:spPr>
          <a:xfrm>
            <a:off x="11334902" y="86675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5.16%</a:t>
            </a:r>
            <a:endParaRPr lang="en-US" sz="1275" dirty="0"/>
          </a:p>
        </p:txBody>
      </p:sp>
      <p:sp>
        <p:nvSpPr>
          <p:cNvPr id="98" name="Text 95"/>
          <p:cNvSpPr txBox="1"/>
          <p:nvPr/>
        </p:nvSpPr>
        <p:spPr>
          <a:xfrm>
            <a:off x="14477695" y="3372307"/>
            <a:ext cx="2800807" cy="143561"/>
          </a:xfrm>
          <a:prstGeom prst="rect">
            <a:avLst/>
          </a:prstGeom>
          <a:noFill/>
          <a:ln/>
        </p:spPr>
        <p:txBody>
          <a:bodyPr wrap="none" lIns="0" tIns="0" rIns="0" bIns="0" rtlCol="0" anchor="ctr"/>
          <a:lstStyle/>
          <a:p>
            <a:pPr algn="l" indent="0" marL="0">
              <a:buNone/>
            </a:pPr>
            <a:r>
              <a:rPr lang="en-US" sz="900" spc="144" kern="0" dirty="0">
                <a:solidFill>
                  <a:srgbClr val="C8A961"/>
                </a:solidFill>
                <a:latin typeface="IBM Plex Mono" pitchFamily="34" charset="0"/>
                <a:ea typeface="IBM Plex Mono" pitchFamily="34" charset="-122"/>
                <a:cs typeface="IBM Plex Mono" pitchFamily="34" charset="-120"/>
              </a:rPr>
              <a:t>49 PT WAFER MEAN</a:t>
            </a:r>
            <a:endParaRPr lang="en-US" sz="900" dirty="0"/>
          </a:p>
        </p:txBody>
      </p:sp>
      <p:sp>
        <p:nvSpPr>
          <p:cNvPr id="99" name="Text 96"/>
          <p:cNvSpPr txBox="1"/>
          <p:nvPr/>
        </p:nvSpPr>
        <p:spPr>
          <a:xfrm>
            <a:off x="14477695" y="3610051"/>
            <a:ext cx="2800807" cy="305410"/>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Wafer 전체 평균</a:t>
            </a:r>
            <a:endParaRPr lang="en-US" sz="1650" dirty="0"/>
          </a:p>
        </p:txBody>
      </p:sp>
      <p:pic>
        <p:nvPicPr>
          <p:cNvPr id="100" name="Image 0" descr="gen-dedup-08fa9cd1bfbf465929999739930fc326.png">    </p:cNvPr>
          <p:cNvPicPr>
            <a:picLocks noChangeAspect="1"/>
          </p:cNvPicPr>
          <p:nvPr/>
        </p:nvPicPr>
        <p:blipFill>
          <a:blip r:embed="rId1"/>
          <a:srcRect l="-2094" r="-2094" t="0" b="0"/>
          <a:stretch/>
        </p:blipFill>
        <p:spPr>
          <a:xfrm>
            <a:off x="14477695" y="4086454"/>
            <a:ext cx="2800807" cy="9144"/>
          </a:xfrm>
          <a:prstGeom prst="rect">
            <a:avLst/>
          </a:prstGeom>
        </p:spPr>
      </p:pic>
      <p:sp>
        <p:nvSpPr>
          <p:cNvPr id="101" name="Text 97"/>
          <p:cNvSpPr txBox="1"/>
          <p:nvPr/>
        </p:nvSpPr>
        <p:spPr>
          <a:xfrm>
            <a:off x="14477695" y="4295851"/>
            <a:ext cx="352958" cy="171907"/>
          </a:xfrm>
          <a:prstGeom prst="rect">
            <a:avLst/>
          </a:prstGeom>
          <a:noFill/>
          <a:ln/>
        </p:spPr>
        <p:txBody>
          <a:bodyPr wrap="none" lIns="0" tIns="0" rIns="0" bIns="0" rtlCol="0" anchor="ctr"/>
          <a:lstStyle/>
          <a:p>
            <a:pPr algn="l" indent="0" marL="0">
              <a:buNone/>
            </a:pPr>
            <a:r>
              <a:rPr lang="en-US" sz="1050" spc="105" kern="0" dirty="0">
                <a:solidFill>
                  <a:srgbClr val="7CC9C4"/>
                </a:solidFill>
                <a:latin typeface="IBM Plex Mono" pitchFamily="34" charset="0"/>
                <a:ea typeface="IBM Plex Mono" pitchFamily="34" charset="-122"/>
                <a:cs typeface="IBM Plex Mono" pitchFamily="34" charset="-120"/>
              </a:rPr>
              <a:t>W01</a:t>
            </a:r>
            <a:endParaRPr lang="en-US" sz="1050" dirty="0"/>
          </a:p>
        </p:txBody>
      </p:sp>
      <p:sp>
        <p:nvSpPr>
          <p:cNvPr id="102" name="Text 98"/>
          <p:cNvSpPr txBox="1"/>
          <p:nvPr/>
        </p:nvSpPr>
        <p:spPr>
          <a:xfrm>
            <a:off x="14477695" y="4466844"/>
            <a:ext cx="493776"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A · ALD</a:t>
            </a:r>
            <a:endParaRPr lang="en-US" sz="825" dirty="0"/>
          </a:p>
        </p:txBody>
      </p:sp>
      <p:sp>
        <p:nvSpPr>
          <p:cNvPr id="103" name="Text 99"/>
          <p:cNvSpPr txBox="1"/>
          <p:nvPr/>
        </p:nvSpPr>
        <p:spPr>
          <a:xfrm>
            <a:off x="16758209" y="4209898"/>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9.59</a:t>
            </a:r>
            <a:endParaRPr lang="en-US" sz="1650" dirty="0"/>
          </a:p>
        </p:txBody>
      </p:sp>
      <p:sp>
        <p:nvSpPr>
          <p:cNvPr id="104" name="Text 100"/>
          <p:cNvSpPr txBox="1"/>
          <p:nvPr/>
        </p:nvSpPr>
        <p:spPr>
          <a:xfrm>
            <a:off x="16758209" y="4486046"/>
            <a:ext cx="523951" cy="162763"/>
          </a:xfrm>
          <a:prstGeom prst="rect">
            <a:avLst/>
          </a:prstGeom>
          <a:noFill/>
          <a:ln/>
        </p:spPr>
        <p:txBody>
          <a:bodyPr wrap="none" lIns="0" tIns="0" rIns="0" bIns="0" rtlCol="0" anchor="ctr"/>
          <a:lstStyle/>
          <a:p>
            <a:pPr algn="r" indent="0" marL="0">
              <a:buNone/>
            </a:pPr>
            <a:r>
              <a:rPr lang="en-US" sz="975" dirty="0">
                <a:solidFill>
                  <a:srgbClr val="7CC9C4"/>
                </a:solidFill>
                <a:latin typeface="IBM Plex Mono" pitchFamily="34" charset="0"/>
                <a:ea typeface="IBM Plex Mono" pitchFamily="34" charset="-122"/>
                <a:cs typeface="IBM Plex Mono" pitchFamily="34" charset="-120"/>
              </a:rPr>
              <a:t>3σ 0.22</a:t>
            </a:r>
            <a:endParaRPr lang="en-US" sz="975" dirty="0"/>
          </a:p>
        </p:txBody>
      </p:sp>
      <p:sp>
        <p:nvSpPr>
          <p:cNvPr id="105" name="Shape 101"/>
          <p:cNvSpPr/>
          <p:nvPr/>
        </p:nvSpPr>
        <p:spPr>
          <a:xfrm>
            <a:off x="14477695" y="4819802"/>
            <a:ext cx="2800807" cy="9144"/>
          </a:xfrm>
          <a:prstGeom prst="rect">
            <a:avLst/>
          </a:prstGeom>
          <a:solidFill>
            <a:srgbClr val="2A3A4C"/>
          </a:solidFill>
          <a:ln w="12700">
            <a:solidFill>
              <a:srgbClr val="2A3A4C">
                <a:alpha val="0"/>
              </a:srgbClr>
            </a:solidFill>
            <a:prstDash val="solid"/>
          </a:ln>
        </p:spPr>
      </p:sp>
      <p:sp>
        <p:nvSpPr>
          <p:cNvPr id="106" name="Text 102"/>
          <p:cNvSpPr txBox="1"/>
          <p:nvPr/>
        </p:nvSpPr>
        <p:spPr>
          <a:xfrm>
            <a:off x="14477695" y="5009998"/>
            <a:ext cx="352958" cy="171907"/>
          </a:xfrm>
          <a:prstGeom prst="rect">
            <a:avLst/>
          </a:prstGeom>
          <a:noFill/>
          <a:ln/>
        </p:spPr>
        <p:txBody>
          <a:bodyPr wrap="none" lIns="0" tIns="0" rIns="0" bIns="0" rtlCol="0" anchor="ctr"/>
          <a:lstStyle/>
          <a:p>
            <a:pPr algn="l" indent="0" marL="0">
              <a:buNone/>
            </a:pPr>
            <a:r>
              <a:rPr lang="en-US" sz="1050" spc="105" kern="0" dirty="0">
                <a:solidFill>
                  <a:srgbClr val="7CC9C4"/>
                </a:solidFill>
                <a:latin typeface="IBM Plex Mono" pitchFamily="34" charset="0"/>
                <a:ea typeface="IBM Plex Mono" pitchFamily="34" charset="-122"/>
                <a:cs typeface="IBM Plex Mono" pitchFamily="34" charset="-120"/>
              </a:rPr>
              <a:t>W02</a:t>
            </a:r>
            <a:endParaRPr lang="en-US" sz="1050" dirty="0"/>
          </a:p>
        </p:txBody>
      </p:sp>
      <p:sp>
        <p:nvSpPr>
          <p:cNvPr id="107" name="Text 103"/>
          <p:cNvSpPr txBox="1"/>
          <p:nvPr/>
        </p:nvSpPr>
        <p:spPr>
          <a:xfrm>
            <a:off x="14477695" y="5181905"/>
            <a:ext cx="493776"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A · ALD</a:t>
            </a:r>
            <a:endParaRPr lang="en-US" sz="825" dirty="0"/>
          </a:p>
        </p:txBody>
      </p:sp>
      <p:sp>
        <p:nvSpPr>
          <p:cNvPr id="108" name="Text 104"/>
          <p:cNvSpPr txBox="1"/>
          <p:nvPr/>
        </p:nvSpPr>
        <p:spPr>
          <a:xfrm>
            <a:off x="16758209" y="4924044"/>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9.50</a:t>
            </a:r>
            <a:endParaRPr lang="en-US" sz="1650" dirty="0"/>
          </a:p>
        </p:txBody>
      </p:sp>
      <p:sp>
        <p:nvSpPr>
          <p:cNvPr id="109" name="Text 105"/>
          <p:cNvSpPr txBox="1"/>
          <p:nvPr/>
        </p:nvSpPr>
        <p:spPr>
          <a:xfrm>
            <a:off x="16758209" y="5201107"/>
            <a:ext cx="523951" cy="162763"/>
          </a:xfrm>
          <a:prstGeom prst="rect">
            <a:avLst/>
          </a:prstGeom>
          <a:noFill/>
          <a:ln/>
        </p:spPr>
        <p:txBody>
          <a:bodyPr wrap="none" lIns="0" tIns="0" rIns="0" bIns="0" rtlCol="0" anchor="ctr"/>
          <a:lstStyle/>
          <a:p>
            <a:pPr algn="r" indent="0" marL="0">
              <a:buNone/>
            </a:pPr>
            <a:r>
              <a:rPr lang="en-US" sz="975" dirty="0">
                <a:solidFill>
                  <a:srgbClr val="7CC9C4"/>
                </a:solidFill>
                <a:latin typeface="IBM Plex Mono" pitchFamily="34" charset="0"/>
                <a:ea typeface="IBM Plex Mono" pitchFamily="34" charset="-122"/>
                <a:cs typeface="IBM Plex Mono" pitchFamily="34" charset="-120"/>
              </a:rPr>
              <a:t>3σ 0.24</a:t>
            </a:r>
            <a:endParaRPr lang="en-US" sz="975" dirty="0"/>
          </a:p>
        </p:txBody>
      </p:sp>
      <p:sp>
        <p:nvSpPr>
          <p:cNvPr id="110" name="Shape 106"/>
          <p:cNvSpPr/>
          <p:nvPr/>
        </p:nvSpPr>
        <p:spPr>
          <a:xfrm>
            <a:off x="14477695" y="5524805"/>
            <a:ext cx="2800807" cy="9144"/>
          </a:xfrm>
          <a:prstGeom prst="rect">
            <a:avLst/>
          </a:prstGeom>
          <a:solidFill>
            <a:srgbClr val="2A3A4C"/>
          </a:solidFill>
          <a:ln w="12700">
            <a:solidFill>
              <a:srgbClr val="2A3A4C">
                <a:alpha val="0"/>
              </a:srgbClr>
            </a:solidFill>
            <a:prstDash val="solid"/>
          </a:ln>
        </p:spPr>
      </p:sp>
      <p:sp>
        <p:nvSpPr>
          <p:cNvPr id="111" name="Text 107"/>
          <p:cNvSpPr txBox="1"/>
          <p:nvPr/>
        </p:nvSpPr>
        <p:spPr>
          <a:xfrm>
            <a:off x="14477695" y="5715000"/>
            <a:ext cx="362102" cy="171907"/>
          </a:xfrm>
          <a:prstGeom prst="rect">
            <a:avLst/>
          </a:prstGeom>
          <a:noFill/>
          <a:ln/>
        </p:spPr>
        <p:txBody>
          <a:bodyPr wrap="none" lIns="0" tIns="0" rIns="0" bIns="0" rtlCol="0" anchor="ctr"/>
          <a:lstStyle/>
          <a:p>
            <a:pPr algn="l" indent="0" marL="0">
              <a:buNone/>
            </a:pPr>
            <a:r>
              <a:rPr lang="en-US" sz="1050" spc="105" kern="0" dirty="0">
                <a:solidFill>
                  <a:srgbClr val="E29A6E"/>
                </a:solidFill>
                <a:latin typeface="IBM Plex Mono" pitchFamily="34" charset="0"/>
                <a:ea typeface="IBM Plex Mono" pitchFamily="34" charset="-122"/>
                <a:cs typeface="IBM Plex Mono" pitchFamily="34" charset="-120"/>
              </a:rPr>
              <a:t>W03</a:t>
            </a:r>
            <a:endParaRPr lang="en-US" sz="1050" dirty="0"/>
          </a:p>
        </p:txBody>
      </p:sp>
      <p:sp>
        <p:nvSpPr>
          <p:cNvPr id="112" name="Text 108"/>
          <p:cNvSpPr txBox="1"/>
          <p:nvPr/>
        </p:nvSpPr>
        <p:spPr>
          <a:xfrm>
            <a:off x="14477695" y="5886907"/>
            <a:ext cx="494690"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B · PVD</a:t>
            </a:r>
            <a:endParaRPr lang="en-US" sz="825" dirty="0"/>
          </a:p>
        </p:txBody>
      </p:sp>
      <p:sp>
        <p:nvSpPr>
          <p:cNvPr id="113" name="Text 109"/>
          <p:cNvSpPr txBox="1"/>
          <p:nvPr/>
        </p:nvSpPr>
        <p:spPr>
          <a:xfrm>
            <a:off x="16758209" y="5629046"/>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9.03</a:t>
            </a:r>
            <a:endParaRPr lang="en-US" sz="1650" dirty="0"/>
          </a:p>
        </p:txBody>
      </p:sp>
      <p:sp>
        <p:nvSpPr>
          <p:cNvPr id="114" name="Text 110"/>
          <p:cNvSpPr txBox="1"/>
          <p:nvPr/>
        </p:nvSpPr>
        <p:spPr>
          <a:xfrm>
            <a:off x="16758209" y="5905195"/>
            <a:ext cx="523951" cy="162763"/>
          </a:xfrm>
          <a:prstGeom prst="rect">
            <a:avLst/>
          </a:prstGeom>
          <a:noFill/>
          <a:ln/>
        </p:spPr>
        <p:txBody>
          <a:bodyPr wrap="none" lIns="0" tIns="0" rIns="0" bIns="0" rtlCol="0" anchor="ctr"/>
          <a:lstStyle/>
          <a:p>
            <a:pPr algn="r" indent="0" marL="0">
              <a:buNone/>
            </a:pPr>
            <a:r>
              <a:rPr lang="en-US" sz="975" dirty="0">
                <a:solidFill>
                  <a:srgbClr val="E29A6E"/>
                </a:solidFill>
                <a:latin typeface="IBM Plex Mono" pitchFamily="34" charset="0"/>
                <a:ea typeface="IBM Plex Mono" pitchFamily="34" charset="-122"/>
                <a:cs typeface="IBM Plex Mono" pitchFamily="34" charset="-120"/>
              </a:rPr>
              <a:t>3σ 0.42</a:t>
            </a:r>
            <a:endParaRPr lang="en-US" sz="975" dirty="0"/>
          </a:p>
        </p:txBody>
      </p:sp>
      <p:sp>
        <p:nvSpPr>
          <p:cNvPr id="115" name="Shape 111"/>
          <p:cNvSpPr/>
          <p:nvPr/>
        </p:nvSpPr>
        <p:spPr>
          <a:xfrm>
            <a:off x="14477695" y="6229807"/>
            <a:ext cx="2800807" cy="9144"/>
          </a:xfrm>
          <a:prstGeom prst="rect">
            <a:avLst/>
          </a:prstGeom>
          <a:solidFill>
            <a:srgbClr val="2A3A4C"/>
          </a:solidFill>
          <a:ln w="12700">
            <a:solidFill>
              <a:srgbClr val="2A3A4C">
                <a:alpha val="0"/>
              </a:srgbClr>
            </a:solidFill>
            <a:prstDash val="solid"/>
          </a:ln>
        </p:spPr>
      </p:sp>
      <p:sp>
        <p:nvSpPr>
          <p:cNvPr id="116" name="Text 112"/>
          <p:cNvSpPr txBox="1"/>
          <p:nvPr/>
        </p:nvSpPr>
        <p:spPr>
          <a:xfrm>
            <a:off x="14477695" y="6420002"/>
            <a:ext cx="362102" cy="171907"/>
          </a:xfrm>
          <a:prstGeom prst="rect">
            <a:avLst/>
          </a:prstGeom>
          <a:noFill/>
          <a:ln/>
        </p:spPr>
        <p:txBody>
          <a:bodyPr wrap="none" lIns="0" tIns="0" rIns="0" bIns="0" rtlCol="0" anchor="ctr"/>
          <a:lstStyle/>
          <a:p>
            <a:pPr algn="l" indent="0" marL="0">
              <a:buNone/>
            </a:pPr>
            <a:r>
              <a:rPr lang="en-US" sz="1050" spc="105" kern="0" dirty="0">
                <a:solidFill>
                  <a:srgbClr val="E29A6E"/>
                </a:solidFill>
                <a:latin typeface="IBM Plex Mono" pitchFamily="34" charset="0"/>
                <a:ea typeface="IBM Plex Mono" pitchFamily="34" charset="-122"/>
                <a:cs typeface="IBM Plex Mono" pitchFamily="34" charset="-120"/>
              </a:rPr>
              <a:t>W04</a:t>
            </a:r>
            <a:endParaRPr lang="en-US" sz="1050" dirty="0"/>
          </a:p>
        </p:txBody>
      </p:sp>
      <p:sp>
        <p:nvSpPr>
          <p:cNvPr id="117" name="Text 113"/>
          <p:cNvSpPr txBox="1"/>
          <p:nvPr/>
        </p:nvSpPr>
        <p:spPr>
          <a:xfrm>
            <a:off x="14477695" y="6590995"/>
            <a:ext cx="494690"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B · PVD</a:t>
            </a:r>
            <a:endParaRPr lang="en-US" sz="825" dirty="0"/>
          </a:p>
        </p:txBody>
      </p:sp>
      <p:sp>
        <p:nvSpPr>
          <p:cNvPr id="118" name="Text 114"/>
          <p:cNvSpPr txBox="1"/>
          <p:nvPr/>
        </p:nvSpPr>
        <p:spPr>
          <a:xfrm>
            <a:off x="16758209" y="6334049"/>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8.96</a:t>
            </a:r>
            <a:endParaRPr lang="en-US" sz="1650" dirty="0"/>
          </a:p>
        </p:txBody>
      </p:sp>
      <p:sp>
        <p:nvSpPr>
          <p:cNvPr id="119" name="Text 115"/>
          <p:cNvSpPr txBox="1"/>
          <p:nvPr/>
        </p:nvSpPr>
        <p:spPr>
          <a:xfrm>
            <a:off x="16758209" y="6610198"/>
            <a:ext cx="523951" cy="162763"/>
          </a:xfrm>
          <a:prstGeom prst="rect">
            <a:avLst/>
          </a:prstGeom>
          <a:noFill/>
          <a:ln/>
        </p:spPr>
        <p:txBody>
          <a:bodyPr wrap="none" lIns="0" tIns="0" rIns="0" bIns="0" rtlCol="0" anchor="ctr"/>
          <a:lstStyle/>
          <a:p>
            <a:pPr algn="r" indent="0" marL="0">
              <a:buNone/>
            </a:pPr>
            <a:r>
              <a:rPr lang="en-US" sz="975" dirty="0">
                <a:solidFill>
                  <a:srgbClr val="E29A6E"/>
                </a:solidFill>
                <a:latin typeface="IBM Plex Mono" pitchFamily="34" charset="0"/>
                <a:ea typeface="IBM Plex Mono" pitchFamily="34" charset="-122"/>
                <a:cs typeface="IBM Plex Mono" pitchFamily="34" charset="-120"/>
              </a:rPr>
              <a:t>3σ 0.45</a:t>
            </a:r>
            <a:endParaRPr lang="en-US" sz="975" dirty="0"/>
          </a:p>
        </p:txBody>
      </p:sp>
      <p:pic>
        <p:nvPicPr>
          <p:cNvPr id="120" name="Image 1" descr="gen-dedup-08fa9cd1bfbf465929999739930fc326.png">    </p:cNvPr>
          <p:cNvPicPr>
            <a:picLocks noChangeAspect="1"/>
          </p:cNvPicPr>
          <p:nvPr/>
        </p:nvPicPr>
        <p:blipFill>
          <a:blip r:embed="rId2"/>
          <a:srcRect l="-2094" r="-2094" t="0" b="0"/>
          <a:stretch/>
        </p:blipFill>
        <p:spPr>
          <a:xfrm>
            <a:off x="14477695" y="7429500"/>
            <a:ext cx="2800807" cy="9144"/>
          </a:xfrm>
          <a:prstGeom prst="rect">
            <a:avLst/>
          </a:prstGeom>
        </p:spPr>
      </p:pic>
      <p:sp>
        <p:nvSpPr>
          <p:cNvPr id="121" name="Text 116"/>
          <p:cNvSpPr txBox="1"/>
          <p:nvPr/>
        </p:nvSpPr>
        <p:spPr>
          <a:xfrm>
            <a:off x="14477695" y="7553858"/>
            <a:ext cx="2800807" cy="837590"/>
          </a:xfrm>
          <a:prstGeom prst="rect">
            <a:avLst/>
          </a:prstGeom>
          <a:noFill/>
          <a:ln/>
        </p:spPr>
        <p:txBody>
          <a:bodyPr wrap="square" lIns="0" tIns="0" rIns="0" bIns="0" rtlCol="0" anchor="t"/>
          <a:lstStyle/>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Uniformity % = 3σ / mean × 100 (within region).</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Center = within 50 mm radius,</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Middle = annular ring,</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Edge = outer band.</a:t>
            </a:r>
            <a:endParaRPr lang="en-US" sz="825" dirty="0"/>
          </a:p>
        </p:txBody>
      </p:sp>
      <p:pic>
        <p:nvPicPr>
          <p:cNvPr id="122" name="Image 2" descr="gen-dedup-927e1b3d142562f2171c6a940580640a.png">    </p:cNvPr>
          <p:cNvPicPr>
            <a:picLocks noChangeAspect="1"/>
          </p:cNvPicPr>
          <p:nvPr/>
        </p:nvPicPr>
        <p:blipFill>
          <a:blip r:embed="rId3"/>
          <a:srcRect l="-2083" r="-2083" t="0" b="0"/>
          <a:stretch/>
        </p:blipFill>
        <p:spPr>
          <a:xfrm>
            <a:off x="857707" y="9715500"/>
            <a:ext cx="16573500" cy="9144"/>
          </a:xfrm>
          <a:prstGeom prst="rect">
            <a:avLst/>
          </a:prstGeom>
        </p:spPr>
      </p:pic>
      <p:sp>
        <p:nvSpPr>
          <p:cNvPr id="123" name="Text 11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2667305"/>
            <a:ext cx="5715000" cy="6286500"/>
          </a:xfrm>
          <a:prstGeom prst="rect">
            <a:avLst/>
          </a:prstGeom>
          <a:solidFill>
            <a:srgbClr val="ECE5D1"/>
          </a:solidFill>
          <a:ln w="12700">
            <a:solidFill>
              <a:srgbClr val="FFFFFF">
                <a:alpha val="0"/>
              </a:srgbClr>
            </a:solidFill>
            <a:prstDash val="solid"/>
          </a:ln>
        </p:spPr>
      </p:sp>
      <p:sp>
        <p:nvSpPr>
          <p:cNvPr id="4" name="Shape 1"/>
          <p:cNvSpPr/>
          <p:nvPr/>
        </p:nvSpPr>
        <p:spPr>
          <a:xfrm>
            <a:off x="7048195" y="2667305"/>
            <a:ext cx="5715000" cy="6286500"/>
          </a:xfrm>
          <a:prstGeom prst="rect">
            <a:avLst/>
          </a:prstGeom>
          <a:solidFill>
            <a:srgbClr val="ECE5D1"/>
          </a:solidFill>
          <a:ln w="12700">
            <a:solidFill>
              <a:srgbClr val="FFFFFF">
                <a:alpha val="0"/>
              </a:srgbClr>
            </a:solidFill>
            <a:prstDash val="solid"/>
          </a:ln>
        </p:spPr>
      </p:sp>
      <p:sp>
        <p:nvSpPr>
          <p:cNvPr id="5" name="Shape 2"/>
          <p:cNvSpPr/>
          <p:nvPr/>
        </p:nvSpPr>
        <p:spPr>
          <a:xfrm>
            <a:off x="13239598" y="2667305"/>
            <a:ext cx="4190695" cy="6286500"/>
          </a:xfrm>
          <a:prstGeom prst="rect">
            <a:avLst/>
          </a:prstGeom>
          <a:solidFill>
            <a:srgbClr val="15202C"/>
          </a:solidFill>
          <a:ln w="12700">
            <a:solidFill>
              <a:srgbClr val="FFFFFF">
                <a:alpha val="0"/>
              </a:srgbClr>
            </a:solidFill>
            <a:prstDash val="solid"/>
          </a:ln>
        </p:spPr>
      </p:sp>
      <p:sp>
        <p:nvSpPr>
          <p:cNvPr id="6" name="Shape 3"/>
          <p:cNvSpPr/>
          <p:nvPr/>
        </p:nvSpPr>
        <p:spPr>
          <a:xfrm>
            <a:off x="1228954" y="3619195"/>
            <a:ext cx="571500" cy="571500"/>
          </a:xfrm>
          <a:prstGeom prst="rect">
            <a:avLst/>
          </a:prstGeom>
          <a:solidFill>
            <a:srgbClr val="E5C49E"/>
          </a:solidFill>
          <a:ln w="12700">
            <a:solidFill>
              <a:srgbClr val="FFFFFF">
                <a:alpha val="0"/>
              </a:srgbClr>
            </a:solidFill>
            <a:prstDash val="solid"/>
          </a:ln>
        </p:spPr>
      </p:sp>
      <p:sp>
        <p:nvSpPr>
          <p:cNvPr id="7" name="Shape 4"/>
          <p:cNvSpPr/>
          <p:nvPr/>
        </p:nvSpPr>
        <p:spPr>
          <a:xfrm>
            <a:off x="1857146" y="3619195"/>
            <a:ext cx="571500" cy="571500"/>
          </a:xfrm>
          <a:prstGeom prst="rect">
            <a:avLst/>
          </a:prstGeom>
          <a:solidFill>
            <a:srgbClr val="DCC594"/>
          </a:solidFill>
          <a:ln w="12700">
            <a:solidFill>
              <a:srgbClr val="FFFFFF">
                <a:alpha val="0"/>
              </a:srgbClr>
            </a:solidFill>
            <a:prstDash val="solid"/>
          </a:ln>
        </p:spPr>
      </p:sp>
      <p:sp>
        <p:nvSpPr>
          <p:cNvPr id="8" name="Shape 5"/>
          <p:cNvSpPr/>
          <p:nvPr/>
        </p:nvSpPr>
        <p:spPr>
          <a:xfrm>
            <a:off x="2486254" y="3619195"/>
            <a:ext cx="571500" cy="571500"/>
          </a:xfrm>
          <a:prstGeom prst="rect">
            <a:avLst/>
          </a:prstGeom>
          <a:solidFill>
            <a:srgbClr val="DCC594"/>
          </a:solidFill>
          <a:ln w="12700">
            <a:solidFill>
              <a:srgbClr val="FFFFFF">
                <a:alpha val="0"/>
              </a:srgbClr>
            </a:solidFill>
            <a:prstDash val="solid"/>
          </a:ln>
        </p:spPr>
      </p:sp>
      <p:sp>
        <p:nvSpPr>
          <p:cNvPr id="9" name="Shape 6"/>
          <p:cNvSpPr/>
          <p:nvPr/>
        </p:nvSpPr>
        <p:spPr>
          <a:xfrm>
            <a:off x="3114446" y="3619195"/>
            <a:ext cx="571500" cy="571500"/>
          </a:xfrm>
          <a:prstGeom prst="rect">
            <a:avLst/>
          </a:prstGeom>
          <a:solidFill>
            <a:srgbClr val="C3DCD0"/>
          </a:solidFill>
          <a:ln w="12700">
            <a:solidFill>
              <a:srgbClr val="FFFFFF">
                <a:alpha val="0"/>
              </a:srgbClr>
            </a:solidFill>
            <a:prstDash val="solid"/>
          </a:ln>
        </p:spPr>
      </p:sp>
      <p:sp>
        <p:nvSpPr>
          <p:cNvPr id="10" name="Shape 7"/>
          <p:cNvSpPr/>
          <p:nvPr/>
        </p:nvSpPr>
        <p:spPr>
          <a:xfrm>
            <a:off x="3743554" y="3619195"/>
            <a:ext cx="571500" cy="571500"/>
          </a:xfrm>
          <a:prstGeom prst="rect">
            <a:avLst/>
          </a:prstGeom>
          <a:solidFill>
            <a:srgbClr val="DCC594"/>
          </a:solidFill>
          <a:ln w="12700">
            <a:solidFill>
              <a:srgbClr val="FFFFFF">
                <a:alpha val="0"/>
              </a:srgbClr>
            </a:solidFill>
            <a:prstDash val="solid"/>
          </a:ln>
        </p:spPr>
      </p:sp>
      <p:sp>
        <p:nvSpPr>
          <p:cNvPr id="11" name="Shape 8"/>
          <p:cNvSpPr/>
          <p:nvPr/>
        </p:nvSpPr>
        <p:spPr>
          <a:xfrm>
            <a:off x="4371746" y="3619195"/>
            <a:ext cx="571500" cy="571500"/>
          </a:xfrm>
          <a:prstGeom prst="rect">
            <a:avLst/>
          </a:prstGeom>
          <a:solidFill>
            <a:srgbClr val="DCC594"/>
          </a:solidFill>
          <a:ln w="12700">
            <a:solidFill>
              <a:srgbClr val="FFFFFF">
                <a:alpha val="0"/>
              </a:srgbClr>
            </a:solidFill>
            <a:prstDash val="solid"/>
          </a:ln>
        </p:spPr>
      </p:sp>
      <p:sp>
        <p:nvSpPr>
          <p:cNvPr id="12" name="Shape 9"/>
          <p:cNvSpPr/>
          <p:nvPr/>
        </p:nvSpPr>
        <p:spPr>
          <a:xfrm>
            <a:off x="5000854" y="3619195"/>
            <a:ext cx="571500" cy="571500"/>
          </a:xfrm>
          <a:prstGeom prst="rect">
            <a:avLst/>
          </a:prstGeom>
          <a:solidFill>
            <a:srgbClr val="E5C49E"/>
          </a:solidFill>
          <a:ln w="12700">
            <a:solidFill>
              <a:srgbClr val="FFFFFF">
                <a:alpha val="0"/>
              </a:srgbClr>
            </a:solidFill>
            <a:prstDash val="solid"/>
          </a:ln>
        </p:spPr>
      </p:sp>
      <p:sp>
        <p:nvSpPr>
          <p:cNvPr id="13" name="Shape 10"/>
          <p:cNvSpPr/>
          <p:nvPr/>
        </p:nvSpPr>
        <p:spPr>
          <a:xfrm>
            <a:off x="1228954" y="4248302"/>
            <a:ext cx="571500" cy="571500"/>
          </a:xfrm>
          <a:prstGeom prst="rect">
            <a:avLst/>
          </a:prstGeom>
          <a:solidFill>
            <a:srgbClr val="DCC594"/>
          </a:solidFill>
          <a:ln w="12700">
            <a:solidFill>
              <a:srgbClr val="FFFFFF">
                <a:alpha val="0"/>
              </a:srgbClr>
            </a:solidFill>
            <a:prstDash val="solid"/>
          </a:ln>
        </p:spPr>
      </p:sp>
      <p:sp>
        <p:nvSpPr>
          <p:cNvPr id="14" name="Shape 11"/>
          <p:cNvSpPr/>
          <p:nvPr/>
        </p:nvSpPr>
        <p:spPr>
          <a:xfrm>
            <a:off x="1857146" y="4248302"/>
            <a:ext cx="571500" cy="571500"/>
          </a:xfrm>
          <a:prstGeom prst="rect">
            <a:avLst/>
          </a:prstGeom>
          <a:solidFill>
            <a:srgbClr val="C3DCD0"/>
          </a:solidFill>
          <a:ln w="12700">
            <a:solidFill>
              <a:srgbClr val="FFFFFF">
                <a:alpha val="0"/>
              </a:srgbClr>
            </a:solidFill>
            <a:prstDash val="solid"/>
          </a:ln>
        </p:spPr>
      </p:sp>
      <p:sp>
        <p:nvSpPr>
          <p:cNvPr id="15" name="Shape 12"/>
          <p:cNvSpPr/>
          <p:nvPr/>
        </p:nvSpPr>
        <p:spPr>
          <a:xfrm>
            <a:off x="2486254" y="4248302"/>
            <a:ext cx="571500" cy="571500"/>
          </a:xfrm>
          <a:prstGeom prst="rect">
            <a:avLst/>
          </a:prstGeom>
          <a:solidFill>
            <a:srgbClr val="C3DCD0"/>
          </a:solidFill>
          <a:ln w="12700">
            <a:solidFill>
              <a:srgbClr val="FFFFFF">
                <a:alpha val="0"/>
              </a:srgbClr>
            </a:solidFill>
            <a:prstDash val="solid"/>
          </a:ln>
        </p:spPr>
      </p:sp>
      <p:sp>
        <p:nvSpPr>
          <p:cNvPr id="16" name="Shape 13"/>
          <p:cNvSpPr/>
          <p:nvPr/>
        </p:nvSpPr>
        <p:spPr>
          <a:xfrm>
            <a:off x="3114446" y="4248302"/>
            <a:ext cx="571500" cy="571500"/>
          </a:xfrm>
          <a:prstGeom prst="rect">
            <a:avLst/>
          </a:prstGeom>
          <a:solidFill>
            <a:srgbClr val="C3DCD0"/>
          </a:solidFill>
          <a:ln w="12700">
            <a:solidFill>
              <a:srgbClr val="FFFFFF">
                <a:alpha val="0"/>
              </a:srgbClr>
            </a:solidFill>
            <a:prstDash val="solid"/>
          </a:ln>
        </p:spPr>
      </p:sp>
      <p:sp>
        <p:nvSpPr>
          <p:cNvPr id="17" name="Shape 14"/>
          <p:cNvSpPr/>
          <p:nvPr/>
        </p:nvSpPr>
        <p:spPr>
          <a:xfrm>
            <a:off x="3743554" y="4248302"/>
            <a:ext cx="571500" cy="571500"/>
          </a:xfrm>
          <a:prstGeom prst="rect">
            <a:avLst/>
          </a:prstGeom>
          <a:solidFill>
            <a:srgbClr val="C3DCD0"/>
          </a:solidFill>
          <a:ln w="12700">
            <a:solidFill>
              <a:srgbClr val="FFFFFF">
                <a:alpha val="0"/>
              </a:srgbClr>
            </a:solidFill>
            <a:prstDash val="solid"/>
          </a:ln>
        </p:spPr>
      </p:sp>
      <p:sp>
        <p:nvSpPr>
          <p:cNvPr id="18" name="Shape 15"/>
          <p:cNvSpPr/>
          <p:nvPr/>
        </p:nvSpPr>
        <p:spPr>
          <a:xfrm>
            <a:off x="4371746" y="4248302"/>
            <a:ext cx="571500" cy="571500"/>
          </a:xfrm>
          <a:prstGeom prst="rect">
            <a:avLst/>
          </a:prstGeom>
          <a:solidFill>
            <a:srgbClr val="C3DCD0"/>
          </a:solidFill>
          <a:ln w="12700">
            <a:solidFill>
              <a:srgbClr val="FFFFFF">
                <a:alpha val="0"/>
              </a:srgbClr>
            </a:solidFill>
            <a:prstDash val="solid"/>
          </a:ln>
        </p:spPr>
      </p:sp>
      <p:sp>
        <p:nvSpPr>
          <p:cNvPr id="19" name="Shape 16"/>
          <p:cNvSpPr/>
          <p:nvPr/>
        </p:nvSpPr>
        <p:spPr>
          <a:xfrm>
            <a:off x="5000854" y="4248302"/>
            <a:ext cx="571500" cy="571500"/>
          </a:xfrm>
          <a:prstGeom prst="rect">
            <a:avLst/>
          </a:prstGeom>
          <a:solidFill>
            <a:srgbClr val="DCC594"/>
          </a:solidFill>
          <a:ln w="12700">
            <a:solidFill>
              <a:srgbClr val="FFFFFF">
                <a:alpha val="0"/>
              </a:srgbClr>
            </a:solidFill>
            <a:prstDash val="solid"/>
          </a:ln>
        </p:spPr>
      </p:sp>
      <p:sp>
        <p:nvSpPr>
          <p:cNvPr id="20" name="Shape 17"/>
          <p:cNvSpPr/>
          <p:nvPr/>
        </p:nvSpPr>
        <p:spPr>
          <a:xfrm>
            <a:off x="1228954" y="4876495"/>
            <a:ext cx="571500" cy="571500"/>
          </a:xfrm>
          <a:prstGeom prst="rect">
            <a:avLst/>
          </a:prstGeom>
          <a:solidFill>
            <a:srgbClr val="C3DCD0"/>
          </a:solidFill>
          <a:ln w="12700">
            <a:solidFill>
              <a:srgbClr val="FFFFFF">
                <a:alpha val="0"/>
              </a:srgbClr>
            </a:solidFill>
            <a:prstDash val="solid"/>
          </a:ln>
        </p:spPr>
      </p:sp>
      <p:sp>
        <p:nvSpPr>
          <p:cNvPr id="21" name="Shape 18"/>
          <p:cNvSpPr/>
          <p:nvPr/>
        </p:nvSpPr>
        <p:spPr>
          <a:xfrm>
            <a:off x="1857146" y="4876495"/>
            <a:ext cx="571500" cy="571500"/>
          </a:xfrm>
          <a:prstGeom prst="rect">
            <a:avLst/>
          </a:prstGeom>
          <a:solidFill>
            <a:srgbClr val="C3DCD0"/>
          </a:solidFill>
          <a:ln w="12700">
            <a:solidFill>
              <a:srgbClr val="FFFFFF">
                <a:alpha val="0"/>
              </a:srgbClr>
            </a:solidFill>
            <a:prstDash val="solid"/>
          </a:ln>
        </p:spPr>
      </p:sp>
      <p:sp>
        <p:nvSpPr>
          <p:cNvPr id="22" name="Shape 19"/>
          <p:cNvSpPr/>
          <p:nvPr/>
        </p:nvSpPr>
        <p:spPr>
          <a:xfrm>
            <a:off x="2486254" y="4876495"/>
            <a:ext cx="571500" cy="571500"/>
          </a:xfrm>
          <a:prstGeom prst="rect">
            <a:avLst/>
          </a:prstGeom>
          <a:solidFill>
            <a:srgbClr val="C3DCD0"/>
          </a:solidFill>
          <a:ln w="12700">
            <a:solidFill>
              <a:srgbClr val="FFFFFF">
                <a:alpha val="0"/>
              </a:srgbClr>
            </a:solidFill>
            <a:prstDash val="solid"/>
          </a:ln>
        </p:spPr>
      </p:sp>
      <p:sp>
        <p:nvSpPr>
          <p:cNvPr id="23" name="Shape 20"/>
          <p:cNvSpPr/>
          <p:nvPr/>
        </p:nvSpPr>
        <p:spPr>
          <a:xfrm>
            <a:off x="3114446" y="4876495"/>
            <a:ext cx="571500" cy="571500"/>
          </a:xfrm>
          <a:prstGeom prst="rect">
            <a:avLst/>
          </a:prstGeom>
          <a:solidFill>
            <a:srgbClr val="C3DCD0"/>
          </a:solidFill>
          <a:ln w="12700">
            <a:solidFill>
              <a:srgbClr val="FFFFFF">
                <a:alpha val="0"/>
              </a:srgbClr>
            </a:solidFill>
            <a:prstDash val="solid"/>
          </a:ln>
        </p:spPr>
      </p:sp>
      <p:sp>
        <p:nvSpPr>
          <p:cNvPr id="24" name="Shape 21"/>
          <p:cNvSpPr/>
          <p:nvPr/>
        </p:nvSpPr>
        <p:spPr>
          <a:xfrm>
            <a:off x="3743554" y="4876495"/>
            <a:ext cx="571500" cy="571500"/>
          </a:xfrm>
          <a:prstGeom prst="rect">
            <a:avLst/>
          </a:prstGeom>
          <a:solidFill>
            <a:srgbClr val="C3DCD0"/>
          </a:solidFill>
          <a:ln w="12700">
            <a:solidFill>
              <a:srgbClr val="FFFFFF">
                <a:alpha val="0"/>
              </a:srgbClr>
            </a:solidFill>
            <a:prstDash val="solid"/>
          </a:ln>
        </p:spPr>
      </p:sp>
      <p:sp>
        <p:nvSpPr>
          <p:cNvPr id="25" name="Shape 22"/>
          <p:cNvSpPr/>
          <p:nvPr/>
        </p:nvSpPr>
        <p:spPr>
          <a:xfrm>
            <a:off x="4371746" y="4876495"/>
            <a:ext cx="571500" cy="571500"/>
          </a:xfrm>
          <a:prstGeom prst="rect">
            <a:avLst/>
          </a:prstGeom>
          <a:solidFill>
            <a:srgbClr val="C3DCD0"/>
          </a:solidFill>
          <a:ln w="12700">
            <a:solidFill>
              <a:srgbClr val="FFFFFF">
                <a:alpha val="0"/>
              </a:srgbClr>
            </a:solidFill>
            <a:prstDash val="solid"/>
          </a:ln>
        </p:spPr>
      </p:sp>
      <p:sp>
        <p:nvSpPr>
          <p:cNvPr id="26" name="Shape 23"/>
          <p:cNvSpPr/>
          <p:nvPr/>
        </p:nvSpPr>
        <p:spPr>
          <a:xfrm>
            <a:off x="5000854" y="4876495"/>
            <a:ext cx="571500" cy="571500"/>
          </a:xfrm>
          <a:prstGeom prst="rect">
            <a:avLst/>
          </a:prstGeom>
          <a:solidFill>
            <a:srgbClr val="C3DCD0"/>
          </a:solidFill>
          <a:ln w="12700">
            <a:solidFill>
              <a:srgbClr val="FFFFFF">
                <a:alpha val="0"/>
              </a:srgbClr>
            </a:solidFill>
            <a:prstDash val="solid"/>
          </a:ln>
        </p:spPr>
      </p:sp>
      <p:sp>
        <p:nvSpPr>
          <p:cNvPr id="27" name="Shape 24"/>
          <p:cNvSpPr/>
          <p:nvPr/>
        </p:nvSpPr>
        <p:spPr>
          <a:xfrm>
            <a:off x="1228954" y="5505602"/>
            <a:ext cx="571500" cy="571500"/>
          </a:xfrm>
          <a:prstGeom prst="rect">
            <a:avLst/>
          </a:prstGeom>
          <a:solidFill>
            <a:srgbClr val="C3DCD0"/>
          </a:solidFill>
          <a:ln w="12700">
            <a:solidFill>
              <a:srgbClr val="FFFFFF">
                <a:alpha val="0"/>
              </a:srgbClr>
            </a:solidFill>
            <a:prstDash val="solid"/>
          </a:ln>
        </p:spPr>
      </p:sp>
      <p:sp>
        <p:nvSpPr>
          <p:cNvPr id="28" name="Shape 25"/>
          <p:cNvSpPr/>
          <p:nvPr/>
        </p:nvSpPr>
        <p:spPr>
          <a:xfrm>
            <a:off x="1857146" y="5505602"/>
            <a:ext cx="571500" cy="571500"/>
          </a:xfrm>
          <a:prstGeom prst="rect">
            <a:avLst/>
          </a:prstGeom>
          <a:solidFill>
            <a:srgbClr val="C3DCD0"/>
          </a:solidFill>
          <a:ln w="12700">
            <a:solidFill>
              <a:srgbClr val="FFFFFF">
                <a:alpha val="0"/>
              </a:srgbClr>
            </a:solidFill>
            <a:prstDash val="solid"/>
          </a:ln>
        </p:spPr>
      </p:sp>
      <p:sp>
        <p:nvSpPr>
          <p:cNvPr id="29" name="Shape 26"/>
          <p:cNvSpPr/>
          <p:nvPr/>
        </p:nvSpPr>
        <p:spPr>
          <a:xfrm>
            <a:off x="2486254" y="5505602"/>
            <a:ext cx="571500" cy="571500"/>
          </a:xfrm>
          <a:prstGeom prst="rect">
            <a:avLst/>
          </a:prstGeom>
          <a:solidFill>
            <a:srgbClr val="C3DCD0"/>
          </a:solidFill>
          <a:ln w="12700">
            <a:solidFill>
              <a:srgbClr val="FFFFFF">
                <a:alpha val="0"/>
              </a:srgbClr>
            </a:solidFill>
            <a:prstDash val="solid"/>
          </a:ln>
        </p:spPr>
      </p:sp>
      <p:sp>
        <p:nvSpPr>
          <p:cNvPr id="30" name="Shape 27"/>
          <p:cNvSpPr/>
          <p:nvPr/>
        </p:nvSpPr>
        <p:spPr>
          <a:xfrm>
            <a:off x="3114446" y="5505602"/>
            <a:ext cx="571500" cy="571500"/>
          </a:xfrm>
          <a:prstGeom prst="rect">
            <a:avLst/>
          </a:prstGeom>
          <a:solidFill>
            <a:srgbClr val="C3DCD0"/>
          </a:solidFill>
          <a:ln w="12700">
            <a:solidFill>
              <a:srgbClr val="FFFFFF">
                <a:alpha val="0"/>
              </a:srgbClr>
            </a:solidFill>
            <a:prstDash val="solid"/>
          </a:ln>
        </p:spPr>
      </p:sp>
      <p:sp>
        <p:nvSpPr>
          <p:cNvPr id="31" name="Shape 28"/>
          <p:cNvSpPr/>
          <p:nvPr/>
        </p:nvSpPr>
        <p:spPr>
          <a:xfrm>
            <a:off x="3743554" y="5505602"/>
            <a:ext cx="571500" cy="571500"/>
          </a:xfrm>
          <a:prstGeom prst="rect">
            <a:avLst/>
          </a:prstGeom>
          <a:solidFill>
            <a:srgbClr val="C3DCD0"/>
          </a:solidFill>
          <a:ln w="12700">
            <a:solidFill>
              <a:srgbClr val="FFFFFF">
                <a:alpha val="0"/>
              </a:srgbClr>
            </a:solidFill>
            <a:prstDash val="solid"/>
          </a:ln>
        </p:spPr>
      </p:sp>
      <p:sp>
        <p:nvSpPr>
          <p:cNvPr id="32" name="Shape 29"/>
          <p:cNvSpPr/>
          <p:nvPr/>
        </p:nvSpPr>
        <p:spPr>
          <a:xfrm>
            <a:off x="4371746" y="5505602"/>
            <a:ext cx="571500" cy="571500"/>
          </a:xfrm>
          <a:prstGeom prst="rect">
            <a:avLst/>
          </a:prstGeom>
          <a:solidFill>
            <a:srgbClr val="C3DCD0"/>
          </a:solidFill>
          <a:ln w="12700">
            <a:solidFill>
              <a:srgbClr val="FFFFFF">
                <a:alpha val="0"/>
              </a:srgbClr>
            </a:solidFill>
            <a:prstDash val="solid"/>
          </a:ln>
        </p:spPr>
      </p:sp>
      <p:sp>
        <p:nvSpPr>
          <p:cNvPr id="33" name="Shape 30"/>
          <p:cNvSpPr/>
          <p:nvPr/>
        </p:nvSpPr>
        <p:spPr>
          <a:xfrm>
            <a:off x="5000854" y="5505602"/>
            <a:ext cx="571500" cy="571500"/>
          </a:xfrm>
          <a:prstGeom prst="rect">
            <a:avLst/>
          </a:prstGeom>
          <a:solidFill>
            <a:srgbClr val="C3DCD0"/>
          </a:solidFill>
          <a:ln w="12700">
            <a:solidFill>
              <a:srgbClr val="FFFFFF">
                <a:alpha val="0"/>
              </a:srgbClr>
            </a:solidFill>
            <a:prstDash val="solid"/>
          </a:ln>
        </p:spPr>
      </p:sp>
      <p:sp>
        <p:nvSpPr>
          <p:cNvPr id="34" name="Shape 31"/>
          <p:cNvSpPr/>
          <p:nvPr/>
        </p:nvSpPr>
        <p:spPr>
          <a:xfrm>
            <a:off x="1228954" y="6133795"/>
            <a:ext cx="571500" cy="571500"/>
          </a:xfrm>
          <a:prstGeom prst="rect">
            <a:avLst/>
          </a:prstGeom>
          <a:solidFill>
            <a:srgbClr val="C3DCD0"/>
          </a:solidFill>
          <a:ln w="12700">
            <a:solidFill>
              <a:srgbClr val="FFFFFF">
                <a:alpha val="0"/>
              </a:srgbClr>
            </a:solidFill>
            <a:prstDash val="solid"/>
          </a:ln>
        </p:spPr>
      </p:sp>
      <p:sp>
        <p:nvSpPr>
          <p:cNvPr id="35" name="Shape 32"/>
          <p:cNvSpPr/>
          <p:nvPr/>
        </p:nvSpPr>
        <p:spPr>
          <a:xfrm>
            <a:off x="1857146" y="6133795"/>
            <a:ext cx="571500" cy="571500"/>
          </a:xfrm>
          <a:prstGeom prst="rect">
            <a:avLst/>
          </a:prstGeom>
          <a:solidFill>
            <a:srgbClr val="C3DCD0"/>
          </a:solidFill>
          <a:ln w="12700">
            <a:solidFill>
              <a:srgbClr val="FFFFFF">
                <a:alpha val="0"/>
              </a:srgbClr>
            </a:solidFill>
            <a:prstDash val="solid"/>
          </a:ln>
        </p:spPr>
      </p:sp>
      <p:sp>
        <p:nvSpPr>
          <p:cNvPr id="36" name="Shape 33"/>
          <p:cNvSpPr/>
          <p:nvPr/>
        </p:nvSpPr>
        <p:spPr>
          <a:xfrm>
            <a:off x="2486254" y="6133795"/>
            <a:ext cx="571500" cy="571500"/>
          </a:xfrm>
          <a:prstGeom prst="rect">
            <a:avLst/>
          </a:prstGeom>
          <a:solidFill>
            <a:srgbClr val="C3DCD0"/>
          </a:solidFill>
          <a:ln w="12700">
            <a:solidFill>
              <a:srgbClr val="FFFFFF">
                <a:alpha val="0"/>
              </a:srgbClr>
            </a:solidFill>
            <a:prstDash val="solid"/>
          </a:ln>
        </p:spPr>
      </p:sp>
      <p:sp>
        <p:nvSpPr>
          <p:cNvPr id="37" name="Shape 34"/>
          <p:cNvSpPr/>
          <p:nvPr/>
        </p:nvSpPr>
        <p:spPr>
          <a:xfrm>
            <a:off x="3114446" y="6133795"/>
            <a:ext cx="571500" cy="571500"/>
          </a:xfrm>
          <a:prstGeom prst="rect">
            <a:avLst/>
          </a:prstGeom>
          <a:solidFill>
            <a:srgbClr val="C3DCD0"/>
          </a:solidFill>
          <a:ln w="12700">
            <a:solidFill>
              <a:srgbClr val="FFFFFF">
                <a:alpha val="0"/>
              </a:srgbClr>
            </a:solidFill>
            <a:prstDash val="solid"/>
          </a:ln>
        </p:spPr>
      </p:sp>
      <p:sp>
        <p:nvSpPr>
          <p:cNvPr id="38" name="Shape 35"/>
          <p:cNvSpPr/>
          <p:nvPr/>
        </p:nvSpPr>
        <p:spPr>
          <a:xfrm>
            <a:off x="3743554" y="6133795"/>
            <a:ext cx="571500" cy="571500"/>
          </a:xfrm>
          <a:prstGeom prst="rect">
            <a:avLst/>
          </a:prstGeom>
          <a:solidFill>
            <a:srgbClr val="C3DCD0"/>
          </a:solidFill>
          <a:ln w="12700">
            <a:solidFill>
              <a:srgbClr val="FFFFFF">
                <a:alpha val="0"/>
              </a:srgbClr>
            </a:solidFill>
            <a:prstDash val="solid"/>
          </a:ln>
        </p:spPr>
      </p:sp>
      <p:sp>
        <p:nvSpPr>
          <p:cNvPr id="39" name="Shape 36"/>
          <p:cNvSpPr/>
          <p:nvPr/>
        </p:nvSpPr>
        <p:spPr>
          <a:xfrm>
            <a:off x="4371746" y="6133795"/>
            <a:ext cx="571500" cy="571500"/>
          </a:xfrm>
          <a:prstGeom prst="rect">
            <a:avLst/>
          </a:prstGeom>
          <a:solidFill>
            <a:srgbClr val="C3DCD0"/>
          </a:solidFill>
          <a:ln w="12700">
            <a:solidFill>
              <a:srgbClr val="FFFFFF">
                <a:alpha val="0"/>
              </a:srgbClr>
            </a:solidFill>
            <a:prstDash val="solid"/>
          </a:ln>
        </p:spPr>
      </p:sp>
      <p:sp>
        <p:nvSpPr>
          <p:cNvPr id="40" name="Shape 37"/>
          <p:cNvSpPr/>
          <p:nvPr/>
        </p:nvSpPr>
        <p:spPr>
          <a:xfrm>
            <a:off x="5000854" y="6133795"/>
            <a:ext cx="571500" cy="571500"/>
          </a:xfrm>
          <a:prstGeom prst="rect">
            <a:avLst/>
          </a:prstGeom>
          <a:solidFill>
            <a:srgbClr val="DCC594"/>
          </a:solidFill>
          <a:ln w="12700">
            <a:solidFill>
              <a:srgbClr val="FFFFFF">
                <a:alpha val="0"/>
              </a:srgbClr>
            </a:solidFill>
            <a:prstDash val="solid"/>
          </a:ln>
        </p:spPr>
      </p:sp>
      <p:sp>
        <p:nvSpPr>
          <p:cNvPr id="41" name="Shape 38"/>
          <p:cNvSpPr/>
          <p:nvPr/>
        </p:nvSpPr>
        <p:spPr>
          <a:xfrm>
            <a:off x="1228954" y="6762902"/>
            <a:ext cx="571500" cy="571500"/>
          </a:xfrm>
          <a:prstGeom prst="rect">
            <a:avLst/>
          </a:prstGeom>
          <a:solidFill>
            <a:srgbClr val="DCC594"/>
          </a:solidFill>
          <a:ln w="12700">
            <a:solidFill>
              <a:srgbClr val="FFFFFF">
                <a:alpha val="0"/>
              </a:srgbClr>
            </a:solidFill>
            <a:prstDash val="solid"/>
          </a:ln>
        </p:spPr>
      </p:sp>
      <p:sp>
        <p:nvSpPr>
          <p:cNvPr id="42" name="Shape 39"/>
          <p:cNvSpPr/>
          <p:nvPr/>
        </p:nvSpPr>
        <p:spPr>
          <a:xfrm>
            <a:off x="1857146" y="6762902"/>
            <a:ext cx="571500" cy="571500"/>
          </a:xfrm>
          <a:prstGeom prst="rect">
            <a:avLst/>
          </a:prstGeom>
          <a:solidFill>
            <a:srgbClr val="C3DCD0"/>
          </a:solidFill>
          <a:ln w="12700">
            <a:solidFill>
              <a:srgbClr val="FFFFFF">
                <a:alpha val="0"/>
              </a:srgbClr>
            </a:solidFill>
            <a:prstDash val="solid"/>
          </a:ln>
        </p:spPr>
      </p:sp>
      <p:sp>
        <p:nvSpPr>
          <p:cNvPr id="43" name="Shape 40"/>
          <p:cNvSpPr/>
          <p:nvPr/>
        </p:nvSpPr>
        <p:spPr>
          <a:xfrm>
            <a:off x="2486254" y="6762902"/>
            <a:ext cx="571500" cy="571500"/>
          </a:xfrm>
          <a:prstGeom prst="rect">
            <a:avLst/>
          </a:prstGeom>
          <a:solidFill>
            <a:srgbClr val="C3DCD0"/>
          </a:solidFill>
          <a:ln w="12700">
            <a:solidFill>
              <a:srgbClr val="FFFFFF">
                <a:alpha val="0"/>
              </a:srgbClr>
            </a:solidFill>
            <a:prstDash val="solid"/>
          </a:ln>
        </p:spPr>
      </p:sp>
      <p:sp>
        <p:nvSpPr>
          <p:cNvPr id="44" name="Shape 41"/>
          <p:cNvSpPr/>
          <p:nvPr/>
        </p:nvSpPr>
        <p:spPr>
          <a:xfrm>
            <a:off x="3114446" y="6762902"/>
            <a:ext cx="571500" cy="571500"/>
          </a:xfrm>
          <a:prstGeom prst="rect">
            <a:avLst/>
          </a:prstGeom>
          <a:solidFill>
            <a:srgbClr val="C3DCD0"/>
          </a:solidFill>
          <a:ln w="12700">
            <a:solidFill>
              <a:srgbClr val="FFFFFF">
                <a:alpha val="0"/>
              </a:srgbClr>
            </a:solidFill>
            <a:prstDash val="solid"/>
          </a:ln>
        </p:spPr>
      </p:sp>
      <p:sp>
        <p:nvSpPr>
          <p:cNvPr id="45" name="Shape 42"/>
          <p:cNvSpPr/>
          <p:nvPr/>
        </p:nvSpPr>
        <p:spPr>
          <a:xfrm>
            <a:off x="3743554" y="6762902"/>
            <a:ext cx="571500" cy="571500"/>
          </a:xfrm>
          <a:prstGeom prst="rect">
            <a:avLst/>
          </a:prstGeom>
          <a:solidFill>
            <a:srgbClr val="C3DCD0"/>
          </a:solidFill>
          <a:ln w="12700">
            <a:solidFill>
              <a:srgbClr val="FFFFFF">
                <a:alpha val="0"/>
              </a:srgbClr>
            </a:solidFill>
            <a:prstDash val="solid"/>
          </a:ln>
        </p:spPr>
      </p:sp>
      <p:sp>
        <p:nvSpPr>
          <p:cNvPr id="46" name="Shape 43"/>
          <p:cNvSpPr/>
          <p:nvPr/>
        </p:nvSpPr>
        <p:spPr>
          <a:xfrm>
            <a:off x="4371746" y="6762902"/>
            <a:ext cx="571500" cy="571500"/>
          </a:xfrm>
          <a:prstGeom prst="rect">
            <a:avLst/>
          </a:prstGeom>
          <a:solidFill>
            <a:srgbClr val="DCC594"/>
          </a:solidFill>
          <a:ln w="12700">
            <a:solidFill>
              <a:srgbClr val="FFFFFF">
                <a:alpha val="0"/>
              </a:srgbClr>
            </a:solidFill>
            <a:prstDash val="solid"/>
          </a:ln>
        </p:spPr>
      </p:sp>
      <p:sp>
        <p:nvSpPr>
          <p:cNvPr id="47" name="Shape 44"/>
          <p:cNvSpPr/>
          <p:nvPr/>
        </p:nvSpPr>
        <p:spPr>
          <a:xfrm>
            <a:off x="5000854" y="6762902"/>
            <a:ext cx="571500" cy="571500"/>
          </a:xfrm>
          <a:prstGeom prst="rect">
            <a:avLst/>
          </a:prstGeom>
          <a:solidFill>
            <a:srgbClr val="DCC594"/>
          </a:solidFill>
          <a:ln w="12700">
            <a:solidFill>
              <a:srgbClr val="FFFFFF">
                <a:alpha val="0"/>
              </a:srgbClr>
            </a:solidFill>
            <a:prstDash val="solid"/>
          </a:ln>
        </p:spPr>
      </p:sp>
      <p:sp>
        <p:nvSpPr>
          <p:cNvPr id="48" name="Shape 45"/>
          <p:cNvSpPr/>
          <p:nvPr/>
        </p:nvSpPr>
        <p:spPr>
          <a:xfrm>
            <a:off x="1228954" y="7391095"/>
            <a:ext cx="571500" cy="571500"/>
          </a:xfrm>
          <a:prstGeom prst="rect">
            <a:avLst/>
          </a:prstGeom>
          <a:solidFill>
            <a:srgbClr val="E5C49E"/>
          </a:solidFill>
          <a:ln w="12700">
            <a:solidFill>
              <a:srgbClr val="FFFFFF">
                <a:alpha val="0"/>
              </a:srgbClr>
            </a:solidFill>
            <a:prstDash val="solid"/>
          </a:ln>
        </p:spPr>
      </p:sp>
      <p:sp>
        <p:nvSpPr>
          <p:cNvPr id="49" name="Shape 46"/>
          <p:cNvSpPr/>
          <p:nvPr/>
        </p:nvSpPr>
        <p:spPr>
          <a:xfrm>
            <a:off x="1857146" y="7391095"/>
            <a:ext cx="571500" cy="571500"/>
          </a:xfrm>
          <a:prstGeom prst="rect">
            <a:avLst/>
          </a:prstGeom>
          <a:solidFill>
            <a:srgbClr val="DCC594"/>
          </a:solidFill>
          <a:ln w="12700">
            <a:solidFill>
              <a:srgbClr val="FFFFFF">
                <a:alpha val="0"/>
              </a:srgbClr>
            </a:solidFill>
            <a:prstDash val="solid"/>
          </a:ln>
        </p:spPr>
      </p:sp>
      <p:sp>
        <p:nvSpPr>
          <p:cNvPr id="50" name="Shape 47"/>
          <p:cNvSpPr/>
          <p:nvPr/>
        </p:nvSpPr>
        <p:spPr>
          <a:xfrm>
            <a:off x="2486254" y="7391095"/>
            <a:ext cx="571500" cy="571500"/>
          </a:xfrm>
          <a:prstGeom prst="rect">
            <a:avLst/>
          </a:prstGeom>
          <a:solidFill>
            <a:srgbClr val="DCC594"/>
          </a:solidFill>
          <a:ln w="12700">
            <a:solidFill>
              <a:srgbClr val="FFFFFF">
                <a:alpha val="0"/>
              </a:srgbClr>
            </a:solidFill>
            <a:prstDash val="solid"/>
          </a:ln>
        </p:spPr>
      </p:sp>
      <p:sp>
        <p:nvSpPr>
          <p:cNvPr id="51" name="Shape 48"/>
          <p:cNvSpPr/>
          <p:nvPr/>
        </p:nvSpPr>
        <p:spPr>
          <a:xfrm>
            <a:off x="3114446" y="7391095"/>
            <a:ext cx="571500" cy="571500"/>
          </a:xfrm>
          <a:prstGeom prst="rect">
            <a:avLst/>
          </a:prstGeom>
          <a:solidFill>
            <a:srgbClr val="C3DCD0"/>
          </a:solidFill>
          <a:ln w="12700">
            <a:solidFill>
              <a:srgbClr val="FFFFFF">
                <a:alpha val="0"/>
              </a:srgbClr>
            </a:solidFill>
            <a:prstDash val="solid"/>
          </a:ln>
        </p:spPr>
      </p:sp>
      <p:sp>
        <p:nvSpPr>
          <p:cNvPr id="52" name="Shape 49"/>
          <p:cNvSpPr/>
          <p:nvPr/>
        </p:nvSpPr>
        <p:spPr>
          <a:xfrm>
            <a:off x="3743554" y="7391095"/>
            <a:ext cx="571500" cy="571500"/>
          </a:xfrm>
          <a:prstGeom prst="rect">
            <a:avLst/>
          </a:prstGeom>
          <a:solidFill>
            <a:srgbClr val="DCC594"/>
          </a:solidFill>
          <a:ln w="12700">
            <a:solidFill>
              <a:srgbClr val="FFFFFF">
                <a:alpha val="0"/>
              </a:srgbClr>
            </a:solidFill>
            <a:prstDash val="solid"/>
          </a:ln>
        </p:spPr>
      </p:sp>
      <p:sp>
        <p:nvSpPr>
          <p:cNvPr id="53" name="Shape 50"/>
          <p:cNvSpPr/>
          <p:nvPr/>
        </p:nvSpPr>
        <p:spPr>
          <a:xfrm>
            <a:off x="4371746" y="7391095"/>
            <a:ext cx="571500" cy="571500"/>
          </a:xfrm>
          <a:prstGeom prst="rect">
            <a:avLst/>
          </a:prstGeom>
          <a:solidFill>
            <a:srgbClr val="DCC594"/>
          </a:solidFill>
          <a:ln w="12700">
            <a:solidFill>
              <a:srgbClr val="FFFFFF">
                <a:alpha val="0"/>
              </a:srgbClr>
            </a:solidFill>
            <a:prstDash val="solid"/>
          </a:ln>
        </p:spPr>
      </p:sp>
      <p:sp>
        <p:nvSpPr>
          <p:cNvPr id="54" name="Shape 51"/>
          <p:cNvSpPr/>
          <p:nvPr/>
        </p:nvSpPr>
        <p:spPr>
          <a:xfrm>
            <a:off x="5000854" y="7391095"/>
            <a:ext cx="571500" cy="571500"/>
          </a:xfrm>
          <a:prstGeom prst="rect">
            <a:avLst/>
          </a:prstGeom>
          <a:solidFill>
            <a:srgbClr val="E5C49E"/>
          </a:solidFill>
          <a:ln w="12700">
            <a:solidFill>
              <a:srgbClr val="FFFFFF">
                <a:alpha val="0"/>
              </a:srgbClr>
            </a:solidFill>
            <a:prstDash val="solid"/>
          </a:ln>
        </p:spPr>
      </p:sp>
      <p:sp>
        <p:nvSpPr>
          <p:cNvPr id="55" name="Shape 52"/>
          <p:cNvSpPr/>
          <p:nvPr/>
        </p:nvSpPr>
        <p:spPr>
          <a:xfrm>
            <a:off x="7420356" y="3619195"/>
            <a:ext cx="571500" cy="571500"/>
          </a:xfrm>
          <a:prstGeom prst="rect">
            <a:avLst/>
          </a:prstGeom>
          <a:solidFill>
            <a:srgbClr val="C77F5A"/>
          </a:solidFill>
          <a:ln w="12700">
            <a:solidFill>
              <a:srgbClr val="FFFFFF">
                <a:alpha val="0"/>
              </a:srgbClr>
            </a:solidFill>
            <a:prstDash val="solid"/>
          </a:ln>
        </p:spPr>
      </p:sp>
      <p:sp>
        <p:nvSpPr>
          <p:cNvPr id="56" name="Shape 53"/>
          <p:cNvSpPr/>
          <p:nvPr/>
        </p:nvSpPr>
        <p:spPr>
          <a:xfrm>
            <a:off x="8048549" y="3619195"/>
            <a:ext cx="571500" cy="571500"/>
          </a:xfrm>
          <a:prstGeom prst="rect">
            <a:avLst/>
          </a:prstGeom>
          <a:solidFill>
            <a:srgbClr val="C77F5A"/>
          </a:solidFill>
          <a:ln w="12700">
            <a:solidFill>
              <a:srgbClr val="FFFFFF">
                <a:alpha val="0"/>
              </a:srgbClr>
            </a:solidFill>
            <a:prstDash val="solid"/>
          </a:ln>
        </p:spPr>
      </p:sp>
      <p:sp>
        <p:nvSpPr>
          <p:cNvPr id="57" name="Shape 54"/>
          <p:cNvSpPr/>
          <p:nvPr/>
        </p:nvSpPr>
        <p:spPr>
          <a:xfrm>
            <a:off x="8677656" y="3619195"/>
            <a:ext cx="571500" cy="571500"/>
          </a:xfrm>
          <a:prstGeom prst="rect">
            <a:avLst/>
          </a:prstGeom>
          <a:solidFill>
            <a:srgbClr val="E1BC93"/>
          </a:solidFill>
          <a:ln w="12700">
            <a:solidFill>
              <a:srgbClr val="FFFFFF">
                <a:alpha val="0"/>
              </a:srgbClr>
            </a:solidFill>
            <a:prstDash val="solid"/>
          </a:ln>
        </p:spPr>
      </p:sp>
      <p:sp>
        <p:nvSpPr>
          <p:cNvPr id="58" name="Shape 55"/>
          <p:cNvSpPr/>
          <p:nvPr/>
        </p:nvSpPr>
        <p:spPr>
          <a:xfrm>
            <a:off x="9305849" y="3619195"/>
            <a:ext cx="571500" cy="571500"/>
          </a:xfrm>
          <a:prstGeom prst="rect">
            <a:avLst/>
          </a:prstGeom>
          <a:solidFill>
            <a:srgbClr val="C3DCD0"/>
          </a:solidFill>
          <a:ln w="12700">
            <a:solidFill>
              <a:srgbClr val="FFFFFF">
                <a:alpha val="0"/>
              </a:srgbClr>
            </a:solidFill>
            <a:prstDash val="solid"/>
          </a:ln>
        </p:spPr>
      </p:sp>
      <p:sp>
        <p:nvSpPr>
          <p:cNvPr id="59" name="Shape 56"/>
          <p:cNvSpPr/>
          <p:nvPr/>
        </p:nvSpPr>
        <p:spPr>
          <a:xfrm>
            <a:off x="9934956" y="3619195"/>
            <a:ext cx="571500" cy="571500"/>
          </a:xfrm>
          <a:prstGeom prst="rect">
            <a:avLst/>
          </a:prstGeom>
          <a:solidFill>
            <a:srgbClr val="E1BC93"/>
          </a:solidFill>
          <a:ln w="12700">
            <a:solidFill>
              <a:srgbClr val="FFFFFF">
                <a:alpha val="0"/>
              </a:srgbClr>
            </a:solidFill>
            <a:prstDash val="solid"/>
          </a:ln>
        </p:spPr>
      </p:sp>
      <p:sp>
        <p:nvSpPr>
          <p:cNvPr id="60" name="Shape 57"/>
          <p:cNvSpPr/>
          <p:nvPr/>
        </p:nvSpPr>
        <p:spPr>
          <a:xfrm>
            <a:off x="10563149" y="3619195"/>
            <a:ext cx="571500" cy="571500"/>
          </a:xfrm>
          <a:prstGeom prst="rect">
            <a:avLst/>
          </a:prstGeom>
          <a:solidFill>
            <a:srgbClr val="C77F5A"/>
          </a:solidFill>
          <a:ln w="12700">
            <a:solidFill>
              <a:srgbClr val="FFFFFF">
                <a:alpha val="0"/>
              </a:srgbClr>
            </a:solidFill>
            <a:prstDash val="solid"/>
          </a:ln>
        </p:spPr>
      </p:sp>
      <p:sp>
        <p:nvSpPr>
          <p:cNvPr id="61" name="Shape 58"/>
          <p:cNvSpPr/>
          <p:nvPr/>
        </p:nvSpPr>
        <p:spPr>
          <a:xfrm>
            <a:off x="11192256" y="3619195"/>
            <a:ext cx="571500" cy="571500"/>
          </a:xfrm>
          <a:prstGeom prst="rect">
            <a:avLst/>
          </a:prstGeom>
          <a:solidFill>
            <a:srgbClr val="C77F5A"/>
          </a:solidFill>
          <a:ln w="12700">
            <a:solidFill>
              <a:srgbClr val="FFFFFF">
                <a:alpha val="0"/>
              </a:srgbClr>
            </a:solidFill>
            <a:prstDash val="solid"/>
          </a:ln>
        </p:spPr>
      </p:sp>
      <p:sp>
        <p:nvSpPr>
          <p:cNvPr id="62" name="Shape 59"/>
          <p:cNvSpPr/>
          <p:nvPr/>
        </p:nvSpPr>
        <p:spPr>
          <a:xfrm>
            <a:off x="7420356" y="4248302"/>
            <a:ext cx="571500" cy="571500"/>
          </a:xfrm>
          <a:prstGeom prst="rect">
            <a:avLst/>
          </a:prstGeom>
          <a:solidFill>
            <a:srgbClr val="E1BC93"/>
          </a:solidFill>
          <a:ln w="12700">
            <a:solidFill>
              <a:srgbClr val="FFFFFF">
                <a:alpha val="0"/>
              </a:srgbClr>
            </a:solidFill>
            <a:prstDash val="solid"/>
          </a:ln>
        </p:spPr>
      </p:sp>
      <p:sp>
        <p:nvSpPr>
          <p:cNvPr id="63" name="Shape 60"/>
          <p:cNvSpPr/>
          <p:nvPr/>
        </p:nvSpPr>
        <p:spPr>
          <a:xfrm>
            <a:off x="8048549" y="4248302"/>
            <a:ext cx="571500" cy="571500"/>
          </a:xfrm>
          <a:prstGeom prst="rect">
            <a:avLst/>
          </a:prstGeom>
          <a:solidFill>
            <a:srgbClr val="C3DCD0"/>
          </a:solidFill>
          <a:ln w="12700">
            <a:solidFill>
              <a:srgbClr val="FFFFFF">
                <a:alpha val="0"/>
              </a:srgbClr>
            </a:solidFill>
            <a:prstDash val="solid"/>
          </a:ln>
        </p:spPr>
      </p:sp>
      <p:sp>
        <p:nvSpPr>
          <p:cNvPr id="64" name="Shape 61"/>
          <p:cNvSpPr/>
          <p:nvPr/>
        </p:nvSpPr>
        <p:spPr>
          <a:xfrm>
            <a:off x="8677656" y="4248302"/>
            <a:ext cx="571500" cy="571500"/>
          </a:xfrm>
          <a:prstGeom prst="rect">
            <a:avLst/>
          </a:prstGeom>
          <a:solidFill>
            <a:srgbClr val="C3DCD0"/>
          </a:solidFill>
          <a:ln w="12700">
            <a:solidFill>
              <a:srgbClr val="FFFFFF">
                <a:alpha val="0"/>
              </a:srgbClr>
            </a:solidFill>
            <a:prstDash val="solid"/>
          </a:ln>
        </p:spPr>
      </p:sp>
      <p:sp>
        <p:nvSpPr>
          <p:cNvPr id="65" name="Shape 62"/>
          <p:cNvSpPr/>
          <p:nvPr/>
        </p:nvSpPr>
        <p:spPr>
          <a:xfrm>
            <a:off x="9305849" y="4248302"/>
            <a:ext cx="571500" cy="571500"/>
          </a:xfrm>
          <a:prstGeom prst="rect">
            <a:avLst/>
          </a:prstGeom>
          <a:solidFill>
            <a:srgbClr val="C3DCD0"/>
          </a:solidFill>
          <a:ln w="12700">
            <a:solidFill>
              <a:srgbClr val="FFFFFF">
                <a:alpha val="0"/>
              </a:srgbClr>
            </a:solidFill>
            <a:prstDash val="solid"/>
          </a:ln>
        </p:spPr>
      </p:sp>
      <p:sp>
        <p:nvSpPr>
          <p:cNvPr id="66" name="Shape 63"/>
          <p:cNvSpPr/>
          <p:nvPr/>
        </p:nvSpPr>
        <p:spPr>
          <a:xfrm>
            <a:off x="9934956" y="4248302"/>
            <a:ext cx="571500" cy="571500"/>
          </a:xfrm>
          <a:prstGeom prst="rect">
            <a:avLst/>
          </a:prstGeom>
          <a:solidFill>
            <a:srgbClr val="C3DCD0"/>
          </a:solidFill>
          <a:ln w="12700">
            <a:solidFill>
              <a:srgbClr val="FFFFFF">
                <a:alpha val="0"/>
              </a:srgbClr>
            </a:solidFill>
            <a:prstDash val="solid"/>
          </a:ln>
        </p:spPr>
      </p:sp>
      <p:sp>
        <p:nvSpPr>
          <p:cNvPr id="67" name="Shape 64"/>
          <p:cNvSpPr/>
          <p:nvPr/>
        </p:nvSpPr>
        <p:spPr>
          <a:xfrm>
            <a:off x="10563149" y="4248302"/>
            <a:ext cx="571500" cy="571500"/>
          </a:xfrm>
          <a:prstGeom prst="rect">
            <a:avLst/>
          </a:prstGeom>
          <a:solidFill>
            <a:srgbClr val="E1BC93"/>
          </a:solidFill>
          <a:ln w="12700">
            <a:solidFill>
              <a:srgbClr val="FFFFFF">
                <a:alpha val="0"/>
              </a:srgbClr>
            </a:solidFill>
            <a:prstDash val="solid"/>
          </a:ln>
        </p:spPr>
      </p:sp>
      <p:sp>
        <p:nvSpPr>
          <p:cNvPr id="68" name="Shape 65"/>
          <p:cNvSpPr/>
          <p:nvPr/>
        </p:nvSpPr>
        <p:spPr>
          <a:xfrm>
            <a:off x="11192256" y="4248302"/>
            <a:ext cx="571500" cy="571500"/>
          </a:xfrm>
          <a:prstGeom prst="rect">
            <a:avLst/>
          </a:prstGeom>
          <a:solidFill>
            <a:srgbClr val="C77F5A"/>
          </a:solidFill>
          <a:ln w="12700">
            <a:solidFill>
              <a:srgbClr val="FFFFFF">
                <a:alpha val="0"/>
              </a:srgbClr>
            </a:solidFill>
            <a:prstDash val="solid"/>
          </a:ln>
        </p:spPr>
      </p:sp>
      <p:sp>
        <p:nvSpPr>
          <p:cNvPr id="69" name="Shape 66"/>
          <p:cNvSpPr/>
          <p:nvPr/>
        </p:nvSpPr>
        <p:spPr>
          <a:xfrm>
            <a:off x="7420356" y="4876495"/>
            <a:ext cx="571500" cy="571500"/>
          </a:xfrm>
          <a:prstGeom prst="rect">
            <a:avLst/>
          </a:prstGeom>
          <a:solidFill>
            <a:srgbClr val="C3DCD0"/>
          </a:solidFill>
          <a:ln w="12700">
            <a:solidFill>
              <a:srgbClr val="FFFFFF">
                <a:alpha val="0"/>
              </a:srgbClr>
            </a:solidFill>
            <a:prstDash val="solid"/>
          </a:ln>
        </p:spPr>
      </p:sp>
      <p:sp>
        <p:nvSpPr>
          <p:cNvPr id="70" name="Shape 67"/>
          <p:cNvSpPr/>
          <p:nvPr/>
        </p:nvSpPr>
        <p:spPr>
          <a:xfrm>
            <a:off x="8048549" y="4876495"/>
            <a:ext cx="571500" cy="571500"/>
          </a:xfrm>
          <a:prstGeom prst="rect">
            <a:avLst/>
          </a:prstGeom>
          <a:solidFill>
            <a:srgbClr val="C3DCD0"/>
          </a:solidFill>
          <a:ln w="12700">
            <a:solidFill>
              <a:srgbClr val="FFFFFF">
                <a:alpha val="0"/>
              </a:srgbClr>
            </a:solidFill>
            <a:prstDash val="solid"/>
          </a:ln>
        </p:spPr>
      </p:sp>
      <p:sp>
        <p:nvSpPr>
          <p:cNvPr id="71" name="Shape 68"/>
          <p:cNvSpPr/>
          <p:nvPr/>
        </p:nvSpPr>
        <p:spPr>
          <a:xfrm>
            <a:off x="8677656" y="4876495"/>
            <a:ext cx="571500" cy="571500"/>
          </a:xfrm>
          <a:prstGeom prst="rect">
            <a:avLst/>
          </a:prstGeom>
          <a:solidFill>
            <a:srgbClr val="DCC594"/>
          </a:solidFill>
          <a:ln w="12700">
            <a:solidFill>
              <a:srgbClr val="FFFFFF">
                <a:alpha val="0"/>
              </a:srgbClr>
            </a:solidFill>
            <a:prstDash val="solid"/>
          </a:ln>
        </p:spPr>
      </p:sp>
      <p:sp>
        <p:nvSpPr>
          <p:cNvPr id="72" name="Shape 69"/>
          <p:cNvSpPr/>
          <p:nvPr/>
        </p:nvSpPr>
        <p:spPr>
          <a:xfrm>
            <a:off x="9305849" y="4876495"/>
            <a:ext cx="571500" cy="571500"/>
          </a:xfrm>
          <a:prstGeom prst="rect">
            <a:avLst/>
          </a:prstGeom>
          <a:solidFill>
            <a:srgbClr val="DCC594"/>
          </a:solidFill>
          <a:ln w="12700">
            <a:solidFill>
              <a:srgbClr val="FFFFFF">
                <a:alpha val="0"/>
              </a:srgbClr>
            </a:solidFill>
            <a:prstDash val="solid"/>
          </a:ln>
        </p:spPr>
      </p:sp>
      <p:sp>
        <p:nvSpPr>
          <p:cNvPr id="73" name="Shape 70"/>
          <p:cNvSpPr/>
          <p:nvPr/>
        </p:nvSpPr>
        <p:spPr>
          <a:xfrm>
            <a:off x="9934956" y="4876495"/>
            <a:ext cx="571500" cy="571500"/>
          </a:xfrm>
          <a:prstGeom prst="rect">
            <a:avLst/>
          </a:prstGeom>
          <a:solidFill>
            <a:srgbClr val="DCC594"/>
          </a:solidFill>
          <a:ln w="12700">
            <a:solidFill>
              <a:srgbClr val="FFFFFF">
                <a:alpha val="0"/>
              </a:srgbClr>
            </a:solidFill>
            <a:prstDash val="solid"/>
          </a:ln>
        </p:spPr>
      </p:sp>
      <p:sp>
        <p:nvSpPr>
          <p:cNvPr id="74" name="Shape 71"/>
          <p:cNvSpPr/>
          <p:nvPr/>
        </p:nvSpPr>
        <p:spPr>
          <a:xfrm>
            <a:off x="10563149" y="4876495"/>
            <a:ext cx="571500" cy="571500"/>
          </a:xfrm>
          <a:prstGeom prst="rect">
            <a:avLst/>
          </a:prstGeom>
          <a:solidFill>
            <a:srgbClr val="C3DCD0"/>
          </a:solidFill>
          <a:ln w="12700">
            <a:solidFill>
              <a:srgbClr val="FFFFFF">
                <a:alpha val="0"/>
              </a:srgbClr>
            </a:solidFill>
            <a:prstDash val="solid"/>
          </a:ln>
        </p:spPr>
      </p:sp>
      <p:sp>
        <p:nvSpPr>
          <p:cNvPr id="75" name="Shape 72"/>
          <p:cNvSpPr/>
          <p:nvPr/>
        </p:nvSpPr>
        <p:spPr>
          <a:xfrm>
            <a:off x="11192256" y="4876495"/>
            <a:ext cx="571500" cy="571500"/>
          </a:xfrm>
          <a:prstGeom prst="rect">
            <a:avLst/>
          </a:prstGeom>
          <a:solidFill>
            <a:srgbClr val="C3DCD0"/>
          </a:solidFill>
          <a:ln w="12700">
            <a:solidFill>
              <a:srgbClr val="FFFFFF">
                <a:alpha val="0"/>
              </a:srgbClr>
            </a:solidFill>
            <a:prstDash val="solid"/>
          </a:ln>
        </p:spPr>
      </p:sp>
      <p:sp>
        <p:nvSpPr>
          <p:cNvPr id="76" name="Shape 73"/>
          <p:cNvSpPr/>
          <p:nvPr/>
        </p:nvSpPr>
        <p:spPr>
          <a:xfrm>
            <a:off x="7420356" y="5505602"/>
            <a:ext cx="571500" cy="571500"/>
          </a:xfrm>
          <a:prstGeom prst="rect">
            <a:avLst/>
          </a:prstGeom>
          <a:solidFill>
            <a:srgbClr val="C3DCD0"/>
          </a:solidFill>
          <a:ln w="12700">
            <a:solidFill>
              <a:srgbClr val="FFFFFF">
                <a:alpha val="0"/>
              </a:srgbClr>
            </a:solidFill>
            <a:prstDash val="solid"/>
          </a:ln>
        </p:spPr>
      </p:sp>
      <p:sp>
        <p:nvSpPr>
          <p:cNvPr id="77" name="Shape 74"/>
          <p:cNvSpPr/>
          <p:nvPr/>
        </p:nvSpPr>
        <p:spPr>
          <a:xfrm>
            <a:off x="8048549" y="5505602"/>
            <a:ext cx="571500" cy="571500"/>
          </a:xfrm>
          <a:prstGeom prst="rect">
            <a:avLst/>
          </a:prstGeom>
          <a:solidFill>
            <a:srgbClr val="C3DCD0"/>
          </a:solidFill>
          <a:ln w="12700">
            <a:solidFill>
              <a:srgbClr val="FFFFFF">
                <a:alpha val="0"/>
              </a:srgbClr>
            </a:solidFill>
            <a:prstDash val="solid"/>
          </a:ln>
        </p:spPr>
      </p:sp>
      <p:sp>
        <p:nvSpPr>
          <p:cNvPr id="78" name="Shape 75"/>
          <p:cNvSpPr/>
          <p:nvPr/>
        </p:nvSpPr>
        <p:spPr>
          <a:xfrm>
            <a:off x="8677656" y="5505602"/>
            <a:ext cx="571500" cy="571500"/>
          </a:xfrm>
          <a:prstGeom prst="rect">
            <a:avLst/>
          </a:prstGeom>
          <a:solidFill>
            <a:srgbClr val="DCC594"/>
          </a:solidFill>
          <a:ln w="12700">
            <a:solidFill>
              <a:srgbClr val="FFFFFF">
                <a:alpha val="0"/>
              </a:srgbClr>
            </a:solidFill>
            <a:prstDash val="solid"/>
          </a:ln>
        </p:spPr>
      </p:sp>
      <p:sp>
        <p:nvSpPr>
          <p:cNvPr id="79" name="Shape 76"/>
          <p:cNvSpPr/>
          <p:nvPr/>
        </p:nvSpPr>
        <p:spPr>
          <a:xfrm>
            <a:off x="9305849" y="5505602"/>
            <a:ext cx="571500" cy="571500"/>
          </a:xfrm>
          <a:prstGeom prst="rect">
            <a:avLst/>
          </a:prstGeom>
          <a:solidFill>
            <a:srgbClr val="DCC594"/>
          </a:solidFill>
          <a:ln w="12700">
            <a:solidFill>
              <a:srgbClr val="FFFFFF">
                <a:alpha val="0"/>
              </a:srgbClr>
            </a:solidFill>
            <a:prstDash val="solid"/>
          </a:ln>
        </p:spPr>
      </p:sp>
      <p:sp>
        <p:nvSpPr>
          <p:cNvPr id="80" name="Shape 77"/>
          <p:cNvSpPr/>
          <p:nvPr/>
        </p:nvSpPr>
        <p:spPr>
          <a:xfrm>
            <a:off x="9934956" y="5505602"/>
            <a:ext cx="571500" cy="571500"/>
          </a:xfrm>
          <a:prstGeom prst="rect">
            <a:avLst/>
          </a:prstGeom>
          <a:solidFill>
            <a:srgbClr val="DCC594"/>
          </a:solidFill>
          <a:ln w="12700">
            <a:solidFill>
              <a:srgbClr val="FFFFFF">
                <a:alpha val="0"/>
              </a:srgbClr>
            </a:solidFill>
            <a:prstDash val="solid"/>
          </a:ln>
        </p:spPr>
      </p:sp>
      <p:sp>
        <p:nvSpPr>
          <p:cNvPr id="81" name="Shape 78"/>
          <p:cNvSpPr/>
          <p:nvPr/>
        </p:nvSpPr>
        <p:spPr>
          <a:xfrm>
            <a:off x="10563149" y="5505602"/>
            <a:ext cx="571500" cy="571500"/>
          </a:xfrm>
          <a:prstGeom prst="rect">
            <a:avLst/>
          </a:prstGeom>
          <a:solidFill>
            <a:srgbClr val="C3DCD0"/>
          </a:solidFill>
          <a:ln w="12700">
            <a:solidFill>
              <a:srgbClr val="FFFFFF">
                <a:alpha val="0"/>
              </a:srgbClr>
            </a:solidFill>
            <a:prstDash val="solid"/>
          </a:ln>
        </p:spPr>
      </p:sp>
      <p:sp>
        <p:nvSpPr>
          <p:cNvPr id="82" name="Shape 79"/>
          <p:cNvSpPr/>
          <p:nvPr/>
        </p:nvSpPr>
        <p:spPr>
          <a:xfrm>
            <a:off x="11192256" y="5505602"/>
            <a:ext cx="571500" cy="571500"/>
          </a:xfrm>
          <a:prstGeom prst="rect">
            <a:avLst/>
          </a:prstGeom>
          <a:solidFill>
            <a:srgbClr val="E1BC93"/>
          </a:solidFill>
          <a:ln w="12700">
            <a:solidFill>
              <a:srgbClr val="FFFFFF">
                <a:alpha val="0"/>
              </a:srgbClr>
            </a:solidFill>
            <a:prstDash val="solid"/>
          </a:ln>
        </p:spPr>
      </p:sp>
      <p:sp>
        <p:nvSpPr>
          <p:cNvPr id="83" name="Shape 80"/>
          <p:cNvSpPr/>
          <p:nvPr/>
        </p:nvSpPr>
        <p:spPr>
          <a:xfrm>
            <a:off x="7420356" y="6133795"/>
            <a:ext cx="571500" cy="571500"/>
          </a:xfrm>
          <a:prstGeom prst="rect">
            <a:avLst/>
          </a:prstGeom>
          <a:solidFill>
            <a:srgbClr val="E1BC93"/>
          </a:solidFill>
          <a:ln w="12700">
            <a:solidFill>
              <a:srgbClr val="FFFFFF">
                <a:alpha val="0"/>
              </a:srgbClr>
            </a:solidFill>
            <a:prstDash val="solid"/>
          </a:ln>
        </p:spPr>
      </p:sp>
      <p:sp>
        <p:nvSpPr>
          <p:cNvPr id="84" name="Shape 81"/>
          <p:cNvSpPr/>
          <p:nvPr/>
        </p:nvSpPr>
        <p:spPr>
          <a:xfrm>
            <a:off x="8048549" y="6133795"/>
            <a:ext cx="571500" cy="571500"/>
          </a:xfrm>
          <a:prstGeom prst="rect">
            <a:avLst/>
          </a:prstGeom>
          <a:solidFill>
            <a:srgbClr val="C3DCD0"/>
          </a:solidFill>
          <a:ln w="12700">
            <a:solidFill>
              <a:srgbClr val="FFFFFF">
                <a:alpha val="0"/>
              </a:srgbClr>
            </a:solidFill>
            <a:prstDash val="solid"/>
          </a:ln>
        </p:spPr>
      </p:sp>
      <p:sp>
        <p:nvSpPr>
          <p:cNvPr id="85" name="Shape 82"/>
          <p:cNvSpPr/>
          <p:nvPr/>
        </p:nvSpPr>
        <p:spPr>
          <a:xfrm>
            <a:off x="8677656" y="6133795"/>
            <a:ext cx="571500" cy="571500"/>
          </a:xfrm>
          <a:prstGeom prst="rect">
            <a:avLst/>
          </a:prstGeom>
          <a:solidFill>
            <a:srgbClr val="DCC594"/>
          </a:solidFill>
          <a:ln w="12700">
            <a:solidFill>
              <a:srgbClr val="FFFFFF">
                <a:alpha val="0"/>
              </a:srgbClr>
            </a:solidFill>
            <a:prstDash val="solid"/>
          </a:ln>
        </p:spPr>
      </p:sp>
      <p:sp>
        <p:nvSpPr>
          <p:cNvPr id="86" name="Shape 83"/>
          <p:cNvSpPr/>
          <p:nvPr/>
        </p:nvSpPr>
        <p:spPr>
          <a:xfrm>
            <a:off x="9305849" y="6133795"/>
            <a:ext cx="571500" cy="571500"/>
          </a:xfrm>
          <a:prstGeom prst="rect">
            <a:avLst/>
          </a:prstGeom>
          <a:solidFill>
            <a:srgbClr val="C3DCD0"/>
          </a:solidFill>
          <a:ln w="12700">
            <a:solidFill>
              <a:srgbClr val="FFFFFF">
                <a:alpha val="0"/>
              </a:srgbClr>
            </a:solidFill>
            <a:prstDash val="solid"/>
          </a:ln>
        </p:spPr>
      </p:sp>
      <p:sp>
        <p:nvSpPr>
          <p:cNvPr id="87" name="Shape 84"/>
          <p:cNvSpPr/>
          <p:nvPr/>
        </p:nvSpPr>
        <p:spPr>
          <a:xfrm>
            <a:off x="9934956" y="6133795"/>
            <a:ext cx="571500" cy="571500"/>
          </a:xfrm>
          <a:prstGeom prst="rect">
            <a:avLst/>
          </a:prstGeom>
          <a:solidFill>
            <a:srgbClr val="C3DCD0"/>
          </a:solidFill>
          <a:ln w="12700">
            <a:solidFill>
              <a:srgbClr val="FFFFFF">
                <a:alpha val="0"/>
              </a:srgbClr>
            </a:solidFill>
            <a:prstDash val="solid"/>
          </a:ln>
        </p:spPr>
      </p:sp>
      <p:sp>
        <p:nvSpPr>
          <p:cNvPr id="88" name="Shape 85"/>
          <p:cNvSpPr/>
          <p:nvPr/>
        </p:nvSpPr>
        <p:spPr>
          <a:xfrm>
            <a:off x="10563149" y="6133795"/>
            <a:ext cx="571500" cy="571500"/>
          </a:xfrm>
          <a:prstGeom prst="rect">
            <a:avLst/>
          </a:prstGeom>
          <a:solidFill>
            <a:srgbClr val="C3DCD0"/>
          </a:solidFill>
          <a:ln w="12700">
            <a:solidFill>
              <a:srgbClr val="FFFFFF">
                <a:alpha val="0"/>
              </a:srgbClr>
            </a:solidFill>
            <a:prstDash val="solid"/>
          </a:ln>
        </p:spPr>
      </p:sp>
      <p:sp>
        <p:nvSpPr>
          <p:cNvPr id="89" name="Shape 86"/>
          <p:cNvSpPr/>
          <p:nvPr/>
        </p:nvSpPr>
        <p:spPr>
          <a:xfrm>
            <a:off x="11192256" y="6133795"/>
            <a:ext cx="571500" cy="571500"/>
          </a:xfrm>
          <a:prstGeom prst="rect">
            <a:avLst/>
          </a:prstGeom>
          <a:solidFill>
            <a:srgbClr val="E1BC93"/>
          </a:solidFill>
          <a:ln w="12700">
            <a:solidFill>
              <a:srgbClr val="FFFFFF">
                <a:alpha val="0"/>
              </a:srgbClr>
            </a:solidFill>
            <a:prstDash val="solid"/>
          </a:ln>
        </p:spPr>
      </p:sp>
      <p:sp>
        <p:nvSpPr>
          <p:cNvPr id="90" name="Shape 87"/>
          <p:cNvSpPr/>
          <p:nvPr/>
        </p:nvSpPr>
        <p:spPr>
          <a:xfrm>
            <a:off x="7420356" y="6762902"/>
            <a:ext cx="571500" cy="571500"/>
          </a:xfrm>
          <a:prstGeom prst="rect">
            <a:avLst/>
          </a:prstGeom>
          <a:solidFill>
            <a:srgbClr val="C77F5A"/>
          </a:solidFill>
          <a:ln w="12700">
            <a:solidFill>
              <a:srgbClr val="FFFFFF">
                <a:alpha val="0"/>
              </a:srgbClr>
            </a:solidFill>
            <a:prstDash val="solid"/>
          </a:ln>
        </p:spPr>
      </p:sp>
      <p:sp>
        <p:nvSpPr>
          <p:cNvPr id="91" name="Shape 88"/>
          <p:cNvSpPr/>
          <p:nvPr/>
        </p:nvSpPr>
        <p:spPr>
          <a:xfrm>
            <a:off x="8048549" y="6762902"/>
            <a:ext cx="571500" cy="571500"/>
          </a:xfrm>
          <a:prstGeom prst="rect">
            <a:avLst/>
          </a:prstGeom>
          <a:solidFill>
            <a:srgbClr val="E1BC93"/>
          </a:solidFill>
          <a:ln w="12700">
            <a:solidFill>
              <a:srgbClr val="FFFFFF">
                <a:alpha val="0"/>
              </a:srgbClr>
            </a:solidFill>
            <a:prstDash val="solid"/>
          </a:ln>
        </p:spPr>
      </p:sp>
      <p:sp>
        <p:nvSpPr>
          <p:cNvPr id="92" name="Shape 89"/>
          <p:cNvSpPr/>
          <p:nvPr/>
        </p:nvSpPr>
        <p:spPr>
          <a:xfrm>
            <a:off x="8677656" y="6762902"/>
            <a:ext cx="571500" cy="571500"/>
          </a:xfrm>
          <a:prstGeom prst="rect">
            <a:avLst/>
          </a:prstGeom>
          <a:solidFill>
            <a:srgbClr val="C3DCD0"/>
          </a:solidFill>
          <a:ln w="12700">
            <a:solidFill>
              <a:srgbClr val="FFFFFF">
                <a:alpha val="0"/>
              </a:srgbClr>
            </a:solidFill>
            <a:prstDash val="solid"/>
          </a:ln>
        </p:spPr>
      </p:sp>
      <p:sp>
        <p:nvSpPr>
          <p:cNvPr id="93" name="Shape 90"/>
          <p:cNvSpPr/>
          <p:nvPr/>
        </p:nvSpPr>
        <p:spPr>
          <a:xfrm>
            <a:off x="9305849" y="6762902"/>
            <a:ext cx="571500" cy="571500"/>
          </a:xfrm>
          <a:prstGeom prst="rect">
            <a:avLst/>
          </a:prstGeom>
          <a:solidFill>
            <a:srgbClr val="C3DCD0"/>
          </a:solidFill>
          <a:ln w="12700">
            <a:solidFill>
              <a:srgbClr val="FFFFFF">
                <a:alpha val="0"/>
              </a:srgbClr>
            </a:solidFill>
            <a:prstDash val="solid"/>
          </a:ln>
        </p:spPr>
      </p:sp>
      <p:sp>
        <p:nvSpPr>
          <p:cNvPr id="94" name="Shape 91"/>
          <p:cNvSpPr/>
          <p:nvPr/>
        </p:nvSpPr>
        <p:spPr>
          <a:xfrm>
            <a:off x="9934956" y="6762902"/>
            <a:ext cx="571500" cy="571500"/>
          </a:xfrm>
          <a:prstGeom prst="rect">
            <a:avLst/>
          </a:prstGeom>
          <a:solidFill>
            <a:srgbClr val="C3DCD0"/>
          </a:solidFill>
          <a:ln w="12700">
            <a:solidFill>
              <a:srgbClr val="FFFFFF">
                <a:alpha val="0"/>
              </a:srgbClr>
            </a:solidFill>
            <a:prstDash val="solid"/>
          </a:ln>
        </p:spPr>
      </p:sp>
      <p:sp>
        <p:nvSpPr>
          <p:cNvPr id="95" name="Shape 92"/>
          <p:cNvSpPr/>
          <p:nvPr/>
        </p:nvSpPr>
        <p:spPr>
          <a:xfrm>
            <a:off x="10563149" y="6762902"/>
            <a:ext cx="571500" cy="571500"/>
          </a:xfrm>
          <a:prstGeom prst="rect">
            <a:avLst/>
          </a:prstGeom>
          <a:solidFill>
            <a:srgbClr val="E1BC93"/>
          </a:solidFill>
          <a:ln w="12700">
            <a:solidFill>
              <a:srgbClr val="FFFFFF">
                <a:alpha val="0"/>
              </a:srgbClr>
            </a:solidFill>
            <a:prstDash val="solid"/>
          </a:ln>
        </p:spPr>
      </p:sp>
      <p:sp>
        <p:nvSpPr>
          <p:cNvPr id="96" name="Shape 93"/>
          <p:cNvSpPr/>
          <p:nvPr/>
        </p:nvSpPr>
        <p:spPr>
          <a:xfrm>
            <a:off x="11192256" y="6762902"/>
            <a:ext cx="571500" cy="571500"/>
          </a:xfrm>
          <a:prstGeom prst="rect">
            <a:avLst/>
          </a:prstGeom>
          <a:solidFill>
            <a:srgbClr val="C77F5A"/>
          </a:solidFill>
          <a:ln w="12700">
            <a:solidFill>
              <a:srgbClr val="FFFFFF">
                <a:alpha val="0"/>
              </a:srgbClr>
            </a:solidFill>
            <a:prstDash val="solid"/>
          </a:ln>
        </p:spPr>
      </p:sp>
      <p:sp>
        <p:nvSpPr>
          <p:cNvPr id="97" name="Shape 94"/>
          <p:cNvSpPr/>
          <p:nvPr/>
        </p:nvSpPr>
        <p:spPr>
          <a:xfrm>
            <a:off x="7420356" y="7391095"/>
            <a:ext cx="571500" cy="571500"/>
          </a:xfrm>
          <a:prstGeom prst="rect">
            <a:avLst/>
          </a:prstGeom>
          <a:solidFill>
            <a:srgbClr val="B4705A"/>
          </a:solidFill>
          <a:ln w="12700">
            <a:solidFill>
              <a:srgbClr val="FFFFFF">
                <a:alpha val="0"/>
              </a:srgbClr>
            </a:solidFill>
            <a:prstDash val="solid"/>
          </a:ln>
        </p:spPr>
      </p:sp>
      <p:sp>
        <p:nvSpPr>
          <p:cNvPr id="98" name="Shape 95"/>
          <p:cNvSpPr/>
          <p:nvPr/>
        </p:nvSpPr>
        <p:spPr>
          <a:xfrm>
            <a:off x="8048549" y="7391095"/>
            <a:ext cx="571500" cy="571500"/>
          </a:xfrm>
          <a:prstGeom prst="rect">
            <a:avLst/>
          </a:prstGeom>
          <a:solidFill>
            <a:srgbClr val="C77F5A"/>
          </a:solidFill>
          <a:ln w="12700">
            <a:solidFill>
              <a:srgbClr val="FFFFFF">
                <a:alpha val="0"/>
              </a:srgbClr>
            </a:solidFill>
            <a:prstDash val="solid"/>
          </a:ln>
        </p:spPr>
      </p:sp>
      <p:sp>
        <p:nvSpPr>
          <p:cNvPr id="99" name="Shape 96"/>
          <p:cNvSpPr/>
          <p:nvPr/>
        </p:nvSpPr>
        <p:spPr>
          <a:xfrm>
            <a:off x="8677656" y="7391095"/>
            <a:ext cx="571500" cy="571500"/>
          </a:xfrm>
          <a:prstGeom prst="rect">
            <a:avLst/>
          </a:prstGeom>
          <a:solidFill>
            <a:srgbClr val="E1BC93"/>
          </a:solidFill>
          <a:ln w="12700">
            <a:solidFill>
              <a:srgbClr val="FFFFFF">
                <a:alpha val="0"/>
              </a:srgbClr>
            </a:solidFill>
            <a:prstDash val="solid"/>
          </a:ln>
        </p:spPr>
      </p:sp>
      <p:sp>
        <p:nvSpPr>
          <p:cNvPr id="100" name="Shape 97"/>
          <p:cNvSpPr/>
          <p:nvPr/>
        </p:nvSpPr>
        <p:spPr>
          <a:xfrm>
            <a:off x="9305849" y="7391095"/>
            <a:ext cx="571500" cy="571500"/>
          </a:xfrm>
          <a:prstGeom prst="rect">
            <a:avLst/>
          </a:prstGeom>
          <a:solidFill>
            <a:srgbClr val="E1BC93"/>
          </a:solidFill>
          <a:ln w="12700">
            <a:solidFill>
              <a:srgbClr val="FFFFFF">
                <a:alpha val="0"/>
              </a:srgbClr>
            </a:solidFill>
            <a:prstDash val="solid"/>
          </a:ln>
        </p:spPr>
      </p:sp>
      <p:sp>
        <p:nvSpPr>
          <p:cNvPr id="101" name="Shape 98"/>
          <p:cNvSpPr/>
          <p:nvPr/>
        </p:nvSpPr>
        <p:spPr>
          <a:xfrm>
            <a:off x="9934956" y="7391095"/>
            <a:ext cx="571500" cy="571500"/>
          </a:xfrm>
          <a:prstGeom prst="rect">
            <a:avLst/>
          </a:prstGeom>
          <a:solidFill>
            <a:srgbClr val="C77F5A"/>
          </a:solidFill>
          <a:ln w="12700">
            <a:solidFill>
              <a:srgbClr val="FFFFFF">
                <a:alpha val="0"/>
              </a:srgbClr>
            </a:solidFill>
            <a:prstDash val="solid"/>
          </a:ln>
        </p:spPr>
      </p:sp>
      <p:sp>
        <p:nvSpPr>
          <p:cNvPr id="102" name="Shape 99"/>
          <p:cNvSpPr/>
          <p:nvPr/>
        </p:nvSpPr>
        <p:spPr>
          <a:xfrm>
            <a:off x="10563149" y="7391095"/>
            <a:ext cx="571500" cy="571500"/>
          </a:xfrm>
          <a:prstGeom prst="rect">
            <a:avLst/>
          </a:prstGeom>
          <a:solidFill>
            <a:srgbClr val="C77F5A"/>
          </a:solidFill>
          <a:ln w="12700">
            <a:solidFill>
              <a:srgbClr val="FFFFFF">
                <a:alpha val="0"/>
              </a:srgbClr>
            </a:solidFill>
            <a:prstDash val="solid"/>
          </a:ln>
        </p:spPr>
      </p:sp>
      <p:sp>
        <p:nvSpPr>
          <p:cNvPr id="103" name="Shape 100"/>
          <p:cNvSpPr/>
          <p:nvPr/>
        </p:nvSpPr>
        <p:spPr>
          <a:xfrm>
            <a:off x="11192256" y="7391095"/>
            <a:ext cx="571500" cy="571500"/>
          </a:xfrm>
          <a:prstGeom prst="rect">
            <a:avLst/>
          </a:prstGeom>
          <a:solidFill>
            <a:srgbClr val="B4705A"/>
          </a:solidFill>
          <a:ln w="12700">
            <a:solidFill>
              <a:srgbClr val="FFFFFF">
                <a:alpha val="0"/>
              </a:srgbClr>
            </a:solidFill>
            <a:prstDash val="solid"/>
          </a:ln>
        </p:spPr>
      </p:sp>
      <p:sp>
        <p:nvSpPr>
          <p:cNvPr id="104" name="Shape 101"/>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05" name="Text 102"/>
          <p:cNvSpPr txBox="1"/>
          <p:nvPr/>
        </p:nvSpPr>
        <p:spPr>
          <a:xfrm>
            <a:off x="1067105" y="771754"/>
            <a:ext cx="2743200"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WAFER MAP · 49 POINT</a:t>
            </a:r>
            <a:endParaRPr lang="en-US" sz="1350" dirty="0"/>
          </a:p>
        </p:txBody>
      </p:sp>
      <p:sp>
        <p:nvSpPr>
          <p:cNvPr id="106" name="Text 103"/>
          <p:cNvSpPr txBox="1"/>
          <p:nvPr/>
        </p:nvSpPr>
        <p:spPr>
          <a:xfrm>
            <a:off x="857707" y="1238098"/>
            <a:ext cx="16573500" cy="495605"/>
          </a:xfrm>
          <a:prstGeom prst="rect">
            <a:avLst/>
          </a:prstGeom>
          <a:noFill/>
          <a:ln/>
        </p:spPr>
        <p:txBody>
          <a:bodyPr wrap="none" lIns="0" tIns="0" rIns="0" bIns="0" rtlCol="0" anchor="ctr"/>
          <a:lstStyle/>
          <a:p>
            <a:pPr algn="l" indent="0" marL="0">
              <a:buNone/>
            </a:pPr>
            <a:r>
              <a:rPr lang="en-US" sz="3300" b="1" spc="-33" kern="0" dirty="0">
                <a:solidFill>
                  <a:srgbClr val="15202C"/>
                </a:solidFill>
                <a:latin typeface="Noto Sans KR" pitchFamily="34" charset="0"/>
                <a:ea typeface="Noto Sans KR" pitchFamily="34" charset="-122"/>
                <a:cs typeface="Noto Sans KR" pitchFamily="34" charset="-120"/>
              </a:rPr>
              <a:t>ACI CD wafer map — split별 비교</a:t>
            </a:r>
            <a:endParaRPr lang="en-US" sz="3300" dirty="0"/>
          </a:p>
        </p:txBody>
      </p:sp>
      <p:sp>
        <p:nvSpPr>
          <p:cNvPr id="107" name="Text 104"/>
          <p:cNvSpPr txBox="1"/>
          <p:nvPr/>
        </p:nvSpPr>
        <p:spPr>
          <a:xfrm>
            <a:off x="857707" y="1847088"/>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7×7 = 49 측정점 분포. 색은 target(9.50 nm) 대비 Δ, PVD는 wafer 중심도 더 얇고 edge로 갈수록 더 빠집니다.</a:t>
            </a:r>
            <a:endParaRPr lang="en-US" sz="1350" dirty="0"/>
          </a:p>
        </p:txBody>
      </p:sp>
      <p:sp>
        <p:nvSpPr>
          <p:cNvPr id="108" name="Shape 105"/>
          <p:cNvSpPr/>
          <p:nvPr/>
        </p:nvSpPr>
        <p:spPr>
          <a:xfrm>
            <a:off x="1162202" y="2962656"/>
            <a:ext cx="114300" cy="114300"/>
          </a:xfrm>
          <a:prstGeom prst="rect">
            <a:avLst/>
          </a:prstGeom>
          <a:solidFill>
            <a:srgbClr val="1F6F70"/>
          </a:solidFill>
          <a:ln w="12700">
            <a:solidFill>
              <a:srgbClr val="FFFFFF">
                <a:alpha val="0"/>
              </a:srgbClr>
            </a:solidFill>
            <a:prstDash val="solid"/>
          </a:ln>
        </p:spPr>
      </p:sp>
      <p:sp>
        <p:nvSpPr>
          <p:cNvPr id="109" name="Text 106"/>
          <p:cNvSpPr txBox="1"/>
          <p:nvPr/>
        </p:nvSpPr>
        <p:spPr>
          <a:xfrm>
            <a:off x="1410005" y="2933395"/>
            <a:ext cx="1286561" cy="171907"/>
          </a:xfrm>
          <a:prstGeom prst="rect">
            <a:avLst/>
          </a:prstGeom>
          <a:noFill/>
          <a:ln/>
        </p:spPr>
        <p:txBody>
          <a:bodyPr wrap="none" lIns="0" tIns="0" rIns="0" bIns="0" rtlCol="0" anchor="ctr"/>
          <a:lstStyle/>
          <a:p>
            <a:pPr algn="l" indent="0" marL="0">
              <a:buNone/>
            </a:pPr>
            <a:r>
              <a:rPr lang="en-US" sz="1050" spc="147" kern="0" dirty="0">
                <a:solidFill>
                  <a:srgbClr val="1F6F70"/>
                </a:solidFill>
                <a:latin typeface="IBM Plex Mono" pitchFamily="34" charset="0"/>
                <a:ea typeface="IBM Plex Mono" pitchFamily="34" charset="-122"/>
                <a:cs typeface="IBM Plex Mono" pitchFamily="34" charset="-120"/>
              </a:rPr>
              <a:t>SPLIT A · W01</a:t>
            </a:r>
            <a:endParaRPr lang="en-US" sz="1050" dirty="0"/>
          </a:p>
        </p:txBody>
      </p:sp>
      <p:sp>
        <p:nvSpPr>
          <p:cNvPr id="110" name="Text 107"/>
          <p:cNvSpPr txBox="1"/>
          <p:nvPr/>
        </p:nvSpPr>
        <p:spPr>
          <a:xfrm>
            <a:off x="2825496" y="2895905"/>
            <a:ext cx="1802282" cy="247802"/>
          </a:xfrm>
          <a:prstGeom prst="rect">
            <a:avLst/>
          </a:prstGeom>
          <a:noFill/>
          <a:ln/>
        </p:spPr>
        <p:txBody>
          <a:bodyPr wrap="none" lIns="0" tIns="0" rIns="0" bIns="0" rtlCol="0" anchor="ctr"/>
          <a:lstStyle/>
          <a:p>
            <a:pPr algn="l" indent="0" marL="0">
              <a:buNone/>
            </a:pPr>
            <a:r>
              <a:rPr lang="en-US" sz="1350" b="1" dirty="0">
                <a:solidFill>
                  <a:srgbClr val="15202C"/>
                </a:solidFill>
                <a:latin typeface="Noto Sans KR" pitchFamily="34" charset="0"/>
                <a:ea typeface="Noto Sans KR" pitchFamily="34" charset="-122"/>
                <a:cs typeface="Noto Sans KR" pitchFamily="34" charset="-120"/>
              </a:rPr>
              <a:t>ALD TaN / Ru liner</a:t>
            </a:r>
            <a:endParaRPr lang="en-US" sz="1350" dirty="0"/>
          </a:p>
        </p:txBody>
      </p:sp>
      <p:sp>
        <p:nvSpPr>
          <p:cNvPr id="111" name="Text 108"/>
          <p:cNvSpPr txBox="1"/>
          <p:nvPr/>
        </p:nvSpPr>
        <p:spPr>
          <a:xfrm>
            <a:off x="12289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9.68</a:t>
            </a:r>
            <a:endParaRPr lang="en-US" sz="975" dirty="0"/>
          </a:p>
        </p:txBody>
      </p:sp>
      <p:sp>
        <p:nvSpPr>
          <p:cNvPr id="112" name="Text 109"/>
          <p:cNvSpPr txBox="1"/>
          <p:nvPr/>
        </p:nvSpPr>
        <p:spPr>
          <a:xfrm>
            <a:off x="18571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13" name="Text 110"/>
          <p:cNvSpPr txBox="1"/>
          <p:nvPr/>
        </p:nvSpPr>
        <p:spPr>
          <a:xfrm>
            <a:off x="24862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9.62</a:t>
            </a:r>
            <a:endParaRPr lang="en-US" sz="975" dirty="0"/>
          </a:p>
        </p:txBody>
      </p:sp>
      <p:sp>
        <p:nvSpPr>
          <p:cNvPr id="114" name="Text 111"/>
          <p:cNvSpPr txBox="1"/>
          <p:nvPr/>
        </p:nvSpPr>
        <p:spPr>
          <a:xfrm>
            <a:off x="31144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15" name="Text 112"/>
          <p:cNvSpPr txBox="1"/>
          <p:nvPr/>
        </p:nvSpPr>
        <p:spPr>
          <a:xfrm>
            <a:off x="37435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9.62</a:t>
            </a:r>
            <a:endParaRPr lang="en-US" sz="975" dirty="0"/>
          </a:p>
        </p:txBody>
      </p:sp>
      <p:sp>
        <p:nvSpPr>
          <p:cNvPr id="116" name="Text 113"/>
          <p:cNvSpPr txBox="1"/>
          <p:nvPr/>
        </p:nvSpPr>
        <p:spPr>
          <a:xfrm>
            <a:off x="43717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17" name="Text 114"/>
          <p:cNvSpPr txBox="1"/>
          <p:nvPr/>
        </p:nvSpPr>
        <p:spPr>
          <a:xfrm>
            <a:off x="50008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9.70</a:t>
            </a:r>
            <a:endParaRPr lang="en-US" sz="975" dirty="0"/>
          </a:p>
        </p:txBody>
      </p:sp>
      <p:sp>
        <p:nvSpPr>
          <p:cNvPr id="118" name="Text 115"/>
          <p:cNvSpPr txBox="1"/>
          <p:nvPr/>
        </p:nvSpPr>
        <p:spPr>
          <a:xfrm>
            <a:off x="12289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19" name="Text 116"/>
          <p:cNvSpPr txBox="1"/>
          <p:nvPr/>
        </p:nvSpPr>
        <p:spPr>
          <a:xfrm>
            <a:off x="18571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20" name="Text 117"/>
          <p:cNvSpPr txBox="1"/>
          <p:nvPr/>
        </p:nvSpPr>
        <p:spPr>
          <a:xfrm>
            <a:off x="24862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21" name="Text 118"/>
          <p:cNvSpPr txBox="1"/>
          <p:nvPr/>
        </p:nvSpPr>
        <p:spPr>
          <a:xfrm>
            <a:off x="31144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22" name="Text 119"/>
          <p:cNvSpPr txBox="1"/>
          <p:nvPr/>
        </p:nvSpPr>
        <p:spPr>
          <a:xfrm>
            <a:off x="37435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23" name="Text 120"/>
          <p:cNvSpPr txBox="1"/>
          <p:nvPr/>
        </p:nvSpPr>
        <p:spPr>
          <a:xfrm>
            <a:off x="43717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9.59</a:t>
            </a:r>
            <a:endParaRPr lang="en-US" sz="975" dirty="0"/>
          </a:p>
        </p:txBody>
      </p:sp>
      <p:sp>
        <p:nvSpPr>
          <p:cNvPr id="124" name="Text 121"/>
          <p:cNvSpPr txBox="1"/>
          <p:nvPr/>
        </p:nvSpPr>
        <p:spPr>
          <a:xfrm>
            <a:off x="50008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25" name="Text 122"/>
          <p:cNvSpPr txBox="1"/>
          <p:nvPr/>
        </p:nvSpPr>
        <p:spPr>
          <a:xfrm>
            <a:off x="12289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26" name="Text 123"/>
          <p:cNvSpPr txBox="1"/>
          <p:nvPr/>
        </p:nvSpPr>
        <p:spPr>
          <a:xfrm>
            <a:off x="18571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27" name="Text 124"/>
          <p:cNvSpPr txBox="1"/>
          <p:nvPr/>
        </p:nvSpPr>
        <p:spPr>
          <a:xfrm>
            <a:off x="24862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28" name="Text 125"/>
          <p:cNvSpPr txBox="1"/>
          <p:nvPr/>
        </p:nvSpPr>
        <p:spPr>
          <a:xfrm>
            <a:off x="31144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9.50</a:t>
            </a:r>
            <a:endParaRPr lang="en-US" sz="975" dirty="0"/>
          </a:p>
        </p:txBody>
      </p:sp>
      <p:sp>
        <p:nvSpPr>
          <p:cNvPr id="129" name="Text 126"/>
          <p:cNvSpPr txBox="1"/>
          <p:nvPr/>
        </p:nvSpPr>
        <p:spPr>
          <a:xfrm>
            <a:off x="37435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130" name="Text 127"/>
          <p:cNvSpPr txBox="1"/>
          <p:nvPr/>
        </p:nvSpPr>
        <p:spPr>
          <a:xfrm>
            <a:off x="43717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31" name="Text 128"/>
          <p:cNvSpPr txBox="1"/>
          <p:nvPr/>
        </p:nvSpPr>
        <p:spPr>
          <a:xfrm>
            <a:off x="50008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32" name="Text 129"/>
          <p:cNvSpPr txBox="1"/>
          <p:nvPr/>
        </p:nvSpPr>
        <p:spPr>
          <a:xfrm>
            <a:off x="12289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33" name="Text 130"/>
          <p:cNvSpPr txBox="1"/>
          <p:nvPr/>
        </p:nvSpPr>
        <p:spPr>
          <a:xfrm>
            <a:off x="18571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9.53</a:t>
            </a:r>
            <a:endParaRPr lang="en-US" sz="975" dirty="0"/>
          </a:p>
        </p:txBody>
      </p:sp>
      <p:sp>
        <p:nvSpPr>
          <p:cNvPr id="134" name="Text 131"/>
          <p:cNvSpPr txBox="1"/>
          <p:nvPr/>
        </p:nvSpPr>
        <p:spPr>
          <a:xfrm>
            <a:off x="24862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9.49</a:t>
            </a:r>
            <a:endParaRPr lang="en-US" sz="975" dirty="0"/>
          </a:p>
        </p:txBody>
      </p:sp>
      <p:sp>
        <p:nvSpPr>
          <p:cNvPr id="135" name="Text 132"/>
          <p:cNvSpPr txBox="1"/>
          <p:nvPr/>
        </p:nvSpPr>
        <p:spPr>
          <a:xfrm>
            <a:off x="31144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36" name="Text 133"/>
          <p:cNvSpPr txBox="1"/>
          <p:nvPr/>
        </p:nvSpPr>
        <p:spPr>
          <a:xfrm>
            <a:off x="37435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9.50</a:t>
            </a:r>
            <a:endParaRPr lang="en-US" sz="975" dirty="0"/>
          </a:p>
        </p:txBody>
      </p:sp>
      <p:sp>
        <p:nvSpPr>
          <p:cNvPr id="137" name="Text 134"/>
          <p:cNvSpPr txBox="1"/>
          <p:nvPr/>
        </p:nvSpPr>
        <p:spPr>
          <a:xfrm>
            <a:off x="43717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38" name="Text 135"/>
          <p:cNvSpPr txBox="1"/>
          <p:nvPr/>
        </p:nvSpPr>
        <p:spPr>
          <a:xfrm>
            <a:off x="50008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39" name="Text 136"/>
          <p:cNvSpPr txBox="1"/>
          <p:nvPr/>
        </p:nvSpPr>
        <p:spPr>
          <a:xfrm>
            <a:off x="12289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40" name="Text 137"/>
          <p:cNvSpPr txBox="1"/>
          <p:nvPr/>
        </p:nvSpPr>
        <p:spPr>
          <a:xfrm>
            <a:off x="18571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41" name="Text 138"/>
          <p:cNvSpPr txBox="1"/>
          <p:nvPr/>
        </p:nvSpPr>
        <p:spPr>
          <a:xfrm>
            <a:off x="24862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9.53</a:t>
            </a:r>
            <a:endParaRPr lang="en-US" sz="975" dirty="0"/>
          </a:p>
        </p:txBody>
      </p:sp>
      <p:sp>
        <p:nvSpPr>
          <p:cNvPr id="142" name="Text 139"/>
          <p:cNvSpPr txBox="1"/>
          <p:nvPr/>
        </p:nvSpPr>
        <p:spPr>
          <a:xfrm>
            <a:off x="31144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143" name="Text 140"/>
          <p:cNvSpPr txBox="1"/>
          <p:nvPr/>
        </p:nvSpPr>
        <p:spPr>
          <a:xfrm>
            <a:off x="37435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44" name="Text 141"/>
          <p:cNvSpPr txBox="1"/>
          <p:nvPr/>
        </p:nvSpPr>
        <p:spPr>
          <a:xfrm>
            <a:off x="43717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45" name="Text 142"/>
          <p:cNvSpPr txBox="1"/>
          <p:nvPr/>
        </p:nvSpPr>
        <p:spPr>
          <a:xfrm>
            <a:off x="50008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46" name="Text 143"/>
          <p:cNvSpPr txBox="1"/>
          <p:nvPr/>
        </p:nvSpPr>
        <p:spPr>
          <a:xfrm>
            <a:off x="12289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47" name="Text 144"/>
          <p:cNvSpPr txBox="1"/>
          <p:nvPr/>
        </p:nvSpPr>
        <p:spPr>
          <a:xfrm>
            <a:off x="18571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48" name="Text 145"/>
          <p:cNvSpPr txBox="1"/>
          <p:nvPr/>
        </p:nvSpPr>
        <p:spPr>
          <a:xfrm>
            <a:off x="24862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49" name="Text 146"/>
          <p:cNvSpPr txBox="1"/>
          <p:nvPr/>
        </p:nvSpPr>
        <p:spPr>
          <a:xfrm>
            <a:off x="31144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50" name="Text 147"/>
          <p:cNvSpPr txBox="1"/>
          <p:nvPr/>
        </p:nvSpPr>
        <p:spPr>
          <a:xfrm>
            <a:off x="37435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51" name="Text 148"/>
          <p:cNvSpPr txBox="1"/>
          <p:nvPr/>
        </p:nvSpPr>
        <p:spPr>
          <a:xfrm>
            <a:off x="43717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52" name="Text 149"/>
          <p:cNvSpPr txBox="1"/>
          <p:nvPr/>
        </p:nvSpPr>
        <p:spPr>
          <a:xfrm>
            <a:off x="50008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9.66</a:t>
            </a:r>
            <a:endParaRPr lang="en-US" sz="975" dirty="0"/>
          </a:p>
        </p:txBody>
      </p:sp>
      <p:sp>
        <p:nvSpPr>
          <p:cNvPr id="153" name="Text 150"/>
          <p:cNvSpPr txBox="1"/>
          <p:nvPr/>
        </p:nvSpPr>
        <p:spPr>
          <a:xfrm>
            <a:off x="12289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9.71</a:t>
            </a:r>
            <a:endParaRPr lang="en-US" sz="975" dirty="0"/>
          </a:p>
        </p:txBody>
      </p:sp>
      <p:sp>
        <p:nvSpPr>
          <p:cNvPr id="154" name="Text 151"/>
          <p:cNvSpPr txBox="1"/>
          <p:nvPr/>
        </p:nvSpPr>
        <p:spPr>
          <a:xfrm>
            <a:off x="18571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9.67</a:t>
            </a:r>
            <a:endParaRPr lang="en-US" sz="975" dirty="0"/>
          </a:p>
        </p:txBody>
      </p:sp>
      <p:sp>
        <p:nvSpPr>
          <p:cNvPr id="155" name="Text 152"/>
          <p:cNvSpPr txBox="1"/>
          <p:nvPr/>
        </p:nvSpPr>
        <p:spPr>
          <a:xfrm>
            <a:off x="24862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56" name="Text 153"/>
          <p:cNvSpPr txBox="1"/>
          <p:nvPr/>
        </p:nvSpPr>
        <p:spPr>
          <a:xfrm>
            <a:off x="31144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57" name="Text 154"/>
          <p:cNvSpPr txBox="1"/>
          <p:nvPr/>
        </p:nvSpPr>
        <p:spPr>
          <a:xfrm>
            <a:off x="37435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58" name="Text 155"/>
          <p:cNvSpPr txBox="1"/>
          <p:nvPr/>
        </p:nvSpPr>
        <p:spPr>
          <a:xfrm>
            <a:off x="43717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9.68</a:t>
            </a:r>
            <a:endParaRPr lang="en-US" sz="975" dirty="0"/>
          </a:p>
        </p:txBody>
      </p:sp>
      <p:sp>
        <p:nvSpPr>
          <p:cNvPr id="159" name="Text 156"/>
          <p:cNvSpPr txBox="1"/>
          <p:nvPr/>
        </p:nvSpPr>
        <p:spPr>
          <a:xfrm>
            <a:off x="50008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9.72</a:t>
            </a:r>
            <a:endParaRPr lang="en-US" sz="975" dirty="0"/>
          </a:p>
        </p:txBody>
      </p:sp>
      <p:sp>
        <p:nvSpPr>
          <p:cNvPr id="160" name="Shape 157"/>
          <p:cNvSpPr/>
          <p:nvPr/>
        </p:nvSpPr>
        <p:spPr>
          <a:xfrm>
            <a:off x="857707" y="8287207"/>
            <a:ext cx="5715000" cy="819302"/>
          </a:xfrm>
          <a:prstGeom prst="rect">
            <a:avLst/>
          </a:prstGeom>
          <a:solidFill>
            <a:srgbClr val="1F6F70"/>
          </a:solidFill>
          <a:ln w="12700">
            <a:solidFill>
              <a:srgbClr val="FFFFFF">
                <a:alpha val="0"/>
              </a:srgbClr>
            </a:solidFill>
            <a:prstDash val="solid"/>
          </a:ln>
        </p:spPr>
      </p:sp>
      <p:sp>
        <p:nvSpPr>
          <p:cNvPr id="161" name="Text 158"/>
          <p:cNvSpPr txBox="1"/>
          <p:nvPr/>
        </p:nvSpPr>
        <p:spPr>
          <a:xfrm>
            <a:off x="1143000" y="8563356"/>
            <a:ext cx="1019556" cy="143561"/>
          </a:xfrm>
          <a:prstGeom prst="rect">
            <a:avLst/>
          </a:prstGeom>
          <a:noFill/>
          <a:ln/>
        </p:spPr>
        <p:txBody>
          <a:bodyPr wrap="none" lIns="0" tIns="0" rIns="0" bIns="0" rtlCol="0" anchor="ctr"/>
          <a:lstStyle/>
          <a:p>
            <a:pPr algn="l" indent="0" marL="0">
              <a:buNone/>
            </a:pPr>
            <a:r>
              <a:rPr lang="en-US" sz="900" spc="126" kern="0" dirty="0">
                <a:solidFill>
                  <a:srgbClr val="BCDEDA"/>
                </a:solidFill>
                <a:latin typeface="IBM Plex Mono" pitchFamily="34" charset="0"/>
                <a:ea typeface="IBM Plex Mono" pitchFamily="34" charset="-122"/>
                <a:cs typeface="IBM Plex Mono" pitchFamily="34" charset="-120"/>
              </a:rPr>
              <a:t>49 PT · MEAN</a:t>
            </a:r>
            <a:endParaRPr lang="en-US" sz="900" dirty="0"/>
          </a:p>
        </p:txBody>
      </p:sp>
      <p:sp>
        <p:nvSpPr>
          <p:cNvPr id="162" name="Text 159"/>
          <p:cNvSpPr txBox="1"/>
          <p:nvPr/>
        </p:nvSpPr>
        <p:spPr>
          <a:xfrm>
            <a:off x="3062326" y="8458200"/>
            <a:ext cx="886054" cy="277063"/>
          </a:xfrm>
          <a:prstGeom prst="rect">
            <a:avLst/>
          </a:prstGeom>
          <a:noFill/>
          <a:ln/>
        </p:spPr>
        <p:txBody>
          <a:bodyPr wrap="none" lIns="0" tIns="0" rIns="0" bIns="0" rtlCol="0" anchor="ctr"/>
          <a:lstStyle/>
          <a:p>
            <a:pPr algn="l" indent="0" marL="0">
              <a:buNone/>
            </a:pPr>
            <a:r>
              <a:rPr lang="en-US" sz="1650" b="1" dirty="0">
                <a:solidFill>
                  <a:srgbClr val="F1ECDB"/>
                </a:solidFill>
                <a:latin typeface="IBM Plex Mono" pitchFamily="34" charset="0"/>
                <a:ea typeface="IBM Plex Mono" pitchFamily="34" charset="-122"/>
                <a:cs typeface="IBM Plex Mono" pitchFamily="34" charset="-120"/>
              </a:rPr>
              <a:t>9.59 nm</a:t>
            </a:r>
            <a:endParaRPr lang="en-US" sz="1650" dirty="0"/>
          </a:p>
        </p:txBody>
      </p:sp>
      <p:sp>
        <p:nvSpPr>
          <p:cNvPr id="163" name="Text 160"/>
          <p:cNvSpPr txBox="1"/>
          <p:nvPr/>
        </p:nvSpPr>
        <p:spPr>
          <a:xfrm>
            <a:off x="4846320" y="8563356"/>
            <a:ext cx="1448410" cy="143561"/>
          </a:xfrm>
          <a:prstGeom prst="rect">
            <a:avLst/>
          </a:prstGeom>
          <a:noFill/>
          <a:ln/>
        </p:spPr>
        <p:txBody>
          <a:bodyPr wrap="none" lIns="0" tIns="0" rIns="0" bIns="0" rtlCol="0" anchor="ctr"/>
          <a:lstStyle/>
          <a:p>
            <a:pPr algn="l" indent="0" marL="0">
              <a:buNone/>
            </a:pPr>
            <a:r>
              <a:rPr lang="en-US" sz="900" dirty="0">
                <a:solidFill>
                  <a:srgbClr val="BCDEDA"/>
                </a:solidFill>
                <a:latin typeface="IBM Plex Mono" pitchFamily="34" charset="0"/>
                <a:ea typeface="IBM Plex Mono" pitchFamily="34" charset="-122"/>
                <a:cs typeface="IBM Plex Mono" pitchFamily="34" charset="-120"/>
              </a:rPr>
              <a:t>3σ 0.22 · within spec</a:t>
            </a:r>
            <a:endParaRPr lang="en-US" sz="900" dirty="0"/>
          </a:p>
        </p:txBody>
      </p:sp>
      <p:sp>
        <p:nvSpPr>
          <p:cNvPr id="164" name="Shape 161"/>
          <p:cNvSpPr/>
          <p:nvPr/>
        </p:nvSpPr>
        <p:spPr>
          <a:xfrm>
            <a:off x="7353605" y="2962656"/>
            <a:ext cx="114300" cy="114300"/>
          </a:xfrm>
          <a:prstGeom prst="rect">
            <a:avLst/>
          </a:prstGeom>
          <a:solidFill>
            <a:srgbClr val="B75230"/>
          </a:solidFill>
          <a:ln w="12700">
            <a:solidFill>
              <a:srgbClr val="FFFFFF">
                <a:alpha val="0"/>
              </a:srgbClr>
            </a:solidFill>
            <a:prstDash val="solid"/>
          </a:ln>
        </p:spPr>
      </p:sp>
      <p:sp>
        <p:nvSpPr>
          <p:cNvPr id="165" name="Text 162"/>
          <p:cNvSpPr txBox="1"/>
          <p:nvPr/>
        </p:nvSpPr>
        <p:spPr>
          <a:xfrm>
            <a:off x="7601407" y="2933395"/>
            <a:ext cx="1286561" cy="171907"/>
          </a:xfrm>
          <a:prstGeom prst="rect">
            <a:avLst/>
          </a:prstGeom>
          <a:noFill/>
          <a:ln/>
        </p:spPr>
        <p:txBody>
          <a:bodyPr wrap="none" lIns="0" tIns="0" rIns="0" bIns="0" rtlCol="0" anchor="ctr"/>
          <a:lstStyle/>
          <a:p>
            <a:pPr algn="l" indent="0" marL="0">
              <a:buNone/>
            </a:pPr>
            <a:r>
              <a:rPr lang="en-US" sz="1050" spc="147" kern="0" dirty="0">
                <a:solidFill>
                  <a:srgbClr val="B75230"/>
                </a:solidFill>
                <a:latin typeface="IBM Plex Mono" pitchFamily="34" charset="0"/>
                <a:ea typeface="IBM Plex Mono" pitchFamily="34" charset="-122"/>
                <a:cs typeface="IBM Plex Mono" pitchFamily="34" charset="-120"/>
              </a:rPr>
              <a:t>SPLIT B · W03</a:t>
            </a:r>
            <a:endParaRPr lang="en-US" sz="1050" dirty="0"/>
          </a:p>
        </p:txBody>
      </p:sp>
      <p:sp>
        <p:nvSpPr>
          <p:cNvPr id="166" name="Text 163"/>
          <p:cNvSpPr txBox="1"/>
          <p:nvPr/>
        </p:nvSpPr>
        <p:spPr>
          <a:xfrm>
            <a:off x="9016898" y="2895905"/>
            <a:ext cx="2154326" cy="247802"/>
          </a:xfrm>
          <a:prstGeom prst="rect">
            <a:avLst/>
          </a:prstGeom>
          <a:noFill/>
          <a:ln/>
        </p:spPr>
        <p:txBody>
          <a:bodyPr wrap="none" lIns="0" tIns="0" rIns="0" bIns="0" rtlCol="0" anchor="ctr"/>
          <a:lstStyle/>
          <a:p>
            <a:pPr algn="l" indent="0" marL="0">
              <a:buNone/>
            </a:pPr>
            <a:r>
              <a:rPr lang="en-US" sz="1350" b="1" dirty="0">
                <a:solidFill>
                  <a:srgbClr val="15202C"/>
                </a:solidFill>
                <a:latin typeface="Noto Sans KR" pitchFamily="34" charset="0"/>
                <a:ea typeface="Noto Sans KR" pitchFamily="34" charset="-122"/>
                <a:cs typeface="Noto Sans KR" pitchFamily="34" charset="-120"/>
              </a:rPr>
              <a:t>PVD TaN / Ta baseline</a:t>
            </a:r>
            <a:endParaRPr lang="en-US" sz="1350" dirty="0"/>
          </a:p>
        </p:txBody>
      </p:sp>
      <p:sp>
        <p:nvSpPr>
          <p:cNvPr id="167" name="Text 164"/>
          <p:cNvSpPr txBox="1"/>
          <p:nvPr/>
        </p:nvSpPr>
        <p:spPr>
          <a:xfrm>
            <a:off x="7420356"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9.18</a:t>
            </a:r>
            <a:endParaRPr lang="en-US" sz="975" dirty="0"/>
          </a:p>
        </p:txBody>
      </p:sp>
      <p:sp>
        <p:nvSpPr>
          <p:cNvPr id="168" name="Text 165"/>
          <p:cNvSpPr txBox="1"/>
          <p:nvPr/>
        </p:nvSpPr>
        <p:spPr>
          <a:xfrm>
            <a:off x="8048549"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9.22</a:t>
            </a:r>
            <a:endParaRPr lang="en-US" sz="975" dirty="0"/>
          </a:p>
        </p:txBody>
      </p:sp>
      <p:sp>
        <p:nvSpPr>
          <p:cNvPr id="169" name="Text 166"/>
          <p:cNvSpPr txBox="1"/>
          <p:nvPr/>
        </p:nvSpPr>
        <p:spPr>
          <a:xfrm>
            <a:off x="867765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170" name="Text 167"/>
          <p:cNvSpPr txBox="1"/>
          <p:nvPr/>
        </p:nvSpPr>
        <p:spPr>
          <a:xfrm>
            <a:off x="9305849"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71" name="Text 168"/>
          <p:cNvSpPr txBox="1"/>
          <p:nvPr/>
        </p:nvSpPr>
        <p:spPr>
          <a:xfrm>
            <a:off x="993495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9.32</a:t>
            </a:r>
            <a:endParaRPr lang="en-US" sz="975" dirty="0"/>
          </a:p>
        </p:txBody>
      </p:sp>
      <p:sp>
        <p:nvSpPr>
          <p:cNvPr id="172" name="Text 169"/>
          <p:cNvSpPr txBox="1"/>
          <p:nvPr/>
        </p:nvSpPr>
        <p:spPr>
          <a:xfrm>
            <a:off x="10563149"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9.24</a:t>
            </a:r>
            <a:endParaRPr lang="en-US" sz="975" dirty="0"/>
          </a:p>
        </p:txBody>
      </p:sp>
      <p:sp>
        <p:nvSpPr>
          <p:cNvPr id="173" name="Text 170"/>
          <p:cNvSpPr txBox="1"/>
          <p:nvPr/>
        </p:nvSpPr>
        <p:spPr>
          <a:xfrm>
            <a:off x="11192256"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9.15</a:t>
            </a:r>
            <a:endParaRPr lang="en-US" sz="975" dirty="0"/>
          </a:p>
        </p:txBody>
      </p:sp>
      <p:sp>
        <p:nvSpPr>
          <p:cNvPr id="174" name="Text 171"/>
          <p:cNvSpPr txBox="1"/>
          <p:nvPr/>
        </p:nvSpPr>
        <p:spPr>
          <a:xfrm>
            <a:off x="74203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9.28</a:t>
            </a:r>
            <a:endParaRPr lang="en-US" sz="975" dirty="0"/>
          </a:p>
        </p:txBody>
      </p:sp>
      <p:sp>
        <p:nvSpPr>
          <p:cNvPr id="175" name="Text 172"/>
          <p:cNvSpPr txBox="1"/>
          <p:nvPr/>
        </p:nvSpPr>
        <p:spPr>
          <a:xfrm>
            <a:off x="80485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76" name="Text 173"/>
          <p:cNvSpPr txBox="1"/>
          <p:nvPr/>
        </p:nvSpPr>
        <p:spPr>
          <a:xfrm>
            <a:off x="86776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9.42</a:t>
            </a:r>
            <a:endParaRPr lang="en-US" sz="975" dirty="0"/>
          </a:p>
        </p:txBody>
      </p:sp>
      <p:sp>
        <p:nvSpPr>
          <p:cNvPr id="177" name="Text 174"/>
          <p:cNvSpPr txBox="1"/>
          <p:nvPr/>
        </p:nvSpPr>
        <p:spPr>
          <a:xfrm>
            <a:off x="93058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78" name="Text 175"/>
          <p:cNvSpPr txBox="1"/>
          <p:nvPr/>
        </p:nvSpPr>
        <p:spPr>
          <a:xfrm>
            <a:off x="99349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9.44</a:t>
            </a:r>
            <a:endParaRPr lang="en-US" sz="975" dirty="0"/>
          </a:p>
        </p:txBody>
      </p:sp>
      <p:sp>
        <p:nvSpPr>
          <p:cNvPr id="179" name="Text 176"/>
          <p:cNvSpPr txBox="1"/>
          <p:nvPr/>
        </p:nvSpPr>
        <p:spPr>
          <a:xfrm>
            <a:off x="105631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9.36</a:t>
            </a:r>
            <a:endParaRPr lang="en-US" sz="975" dirty="0"/>
          </a:p>
        </p:txBody>
      </p:sp>
      <p:sp>
        <p:nvSpPr>
          <p:cNvPr id="180" name="Text 177"/>
          <p:cNvSpPr txBox="1"/>
          <p:nvPr/>
        </p:nvSpPr>
        <p:spPr>
          <a:xfrm>
            <a:off x="11192256" y="42483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9.26</a:t>
            </a:r>
            <a:endParaRPr lang="en-US" sz="975" dirty="0"/>
          </a:p>
        </p:txBody>
      </p:sp>
      <p:sp>
        <p:nvSpPr>
          <p:cNvPr id="181" name="Text 178"/>
          <p:cNvSpPr txBox="1"/>
          <p:nvPr/>
        </p:nvSpPr>
        <p:spPr>
          <a:xfrm>
            <a:off x="74203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9.38</a:t>
            </a:r>
            <a:endParaRPr lang="en-US" sz="975" dirty="0"/>
          </a:p>
        </p:txBody>
      </p:sp>
      <p:sp>
        <p:nvSpPr>
          <p:cNvPr id="182" name="Text 179"/>
          <p:cNvSpPr txBox="1"/>
          <p:nvPr/>
        </p:nvSpPr>
        <p:spPr>
          <a:xfrm>
            <a:off x="80485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9.45</a:t>
            </a:r>
            <a:endParaRPr lang="en-US" sz="975" dirty="0"/>
          </a:p>
        </p:txBody>
      </p:sp>
      <p:sp>
        <p:nvSpPr>
          <p:cNvPr id="183" name="Text 180"/>
          <p:cNvSpPr txBox="1"/>
          <p:nvPr/>
        </p:nvSpPr>
        <p:spPr>
          <a:xfrm>
            <a:off x="86776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84" name="Text 181"/>
          <p:cNvSpPr txBox="1"/>
          <p:nvPr/>
        </p:nvSpPr>
        <p:spPr>
          <a:xfrm>
            <a:off x="93058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85" name="Text 182"/>
          <p:cNvSpPr txBox="1"/>
          <p:nvPr/>
        </p:nvSpPr>
        <p:spPr>
          <a:xfrm>
            <a:off x="99349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86" name="Text 183"/>
          <p:cNvSpPr txBox="1"/>
          <p:nvPr/>
        </p:nvSpPr>
        <p:spPr>
          <a:xfrm>
            <a:off x="105631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9.46</a:t>
            </a:r>
            <a:endParaRPr lang="en-US" sz="975" dirty="0"/>
          </a:p>
        </p:txBody>
      </p:sp>
      <p:sp>
        <p:nvSpPr>
          <p:cNvPr id="187" name="Text 184"/>
          <p:cNvSpPr txBox="1"/>
          <p:nvPr/>
        </p:nvSpPr>
        <p:spPr>
          <a:xfrm>
            <a:off x="111922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9.36</a:t>
            </a:r>
            <a:endParaRPr lang="en-US" sz="975" dirty="0"/>
          </a:p>
        </p:txBody>
      </p:sp>
      <p:sp>
        <p:nvSpPr>
          <p:cNvPr id="188" name="Text 185"/>
          <p:cNvSpPr txBox="1"/>
          <p:nvPr/>
        </p:nvSpPr>
        <p:spPr>
          <a:xfrm>
            <a:off x="74203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9.40</a:t>
            </a:r>
            <a:endParaRPr lang="en-US" sz="975" dirty="0"/>
          </a:p>
        </p:txBody>
      </p:sp>
      <p:sp>
        <p:nvSpPr>
          <p:cNvPr id="189" name="Text 186"/>
          <p:cNvSpPr txBox="1"/>
          <p:nvPr/>
        </p:nvSpPr>
        <p:spPr>
          <a:xfrm>
            <a:off x="80485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9.47</a:t>
            </a:r>
            <a:endParaRPr lang="en-US" sz="975" dirty="0"/>
          </a:p>
        </p:txBody>
      </p:sp>
      <p:sp>
        <p:nvSpPr>
          <p:cNvPr id="190" name="Text 187"/>
          <p:cNvSpPr txBox="1"/>
          <p:nvPr/>
        </p:nvSpPr>
        <p:spPr>
          <a:xfrm>
            <a:off x="86776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91" name="Text 188"/>
          <p:cNvSpPr txBox="1"/>
          <p:nvPr/>
        </p:nvSpPr>
        <p:spPr>
          <a:xfrm>
            <a:off x="93058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92" name="Text 189"/>
          <p:cNvSpPr txBox="1"/>
          <p:nvPr/>
        </p:nvSpPr>
        <p:spPr>
          <a:xfrm>
            <a:off x="99349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93" name="Text 190"/>
          <p:cNvSpPr txBox="1"/>
          <p:nvPr/>
        </p:nvSpPr>
        <p:spPr>
          <a:xfrm>
            <a:off x="105631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94" name="Text 191"/>
          <p:cNvSpPr txBox="1"/>
          <p:nvPr/>
        </p:nvSpPr>
        <p:spPr>
          <a:xfrm>
            <a:off x="111922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95" name="Text 192"/>
          <p:cNvSpPr txBox="1"/>
          <p:nvPr/>
        </p:nvSpPr>
        <p:spPr>
          <a:xfrm>
            <a:off x="74203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96" name="Text 193"/>
          <p:cNvSpPr txBox="1"/>
          <p:nvPr/>
        </p:nvSpPr>
        <p:spPr>
          <a:xfrm>
            <a:off x="80485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9.42</a:t>
            </a:r>
            <a:endParaRPr lang="en-US" sz="975" dirty="0"/>
          </a:p>
        </p:txBody>
      </p:sp>
      <p:sp>
        <p:nvSpPr>
          <p:cNvPr id="197" name="Text 194"/>
          <p:cNvSpPr txBox="1"/>
          <p:nvPr/>
        </p:nvSpPr>
        <p:spPr>
          <a:xfrm>
            <a:off x="86776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98" name="Text 195"/>
          <p:cNvSpPr txBox="1"/>
          <p:nvPr/>
        </p:nvSpPr>
        <p:spPr>
          <a:xfrm>
            <a:off x="93058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99" name="Text 196"/>
          <p:cNvSpPr txBox="1"/>
          <p:nvPr/>
        </p:nvSpPr>
        <p:spPr>
          <a:xfrm>
            <a:off x="99349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200" name="Text 197"/>
          <p:cNvSpPr txBox="1"/>
          <p:nvPr/>
        </p:nvSpPr>
        <p:spPr>
          <a:xfrm>
            <a:off x="105631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9.43</a:t>
            </a:r>
            <a:endParaRPr lang="en-US" sz="975" dirty="0"/>
          </a:p>
        </p:txBody>
      </p:sp>
      <p:sp>
        <p:nvSpPr>
          <p:cNvPr id="201" name="Text 198"/>
          <p:cNvSpPr txBox="1"/>
          <p:nvPr/>
        </p:nvSpPr>
        <p:spPr>
          <a:xfrm>
            <a:off x="111922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9.32</a:t>
            </a:r>
            <a:endParaRPr lang="en-US" sz="975" dirty="0"/>
          </a:p>
        </p:txBody>
      </p:sp>
      <p:sp>
        <p:nvSpPr>
          <p:cNvPr id="202" name="Text 199"/>
          <p:cNvSpPr txBox="1"/>
          <p:nvPr/>
        </p:nvSpPr>
        <p:spPr>
          <a:xfrm>
            <a:off x="7420356" y="67629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9.22</a:t>
            </a:r>
            <a:endParaRPr lang="en-US" sz="975" dirty="0"/>
          </a:p>
        </p:txBody>
      </p:sp>
      <p:sp>
        <p:nvSpPr>
          <p:cNvPr id="203" name="Text 200"/>
          <p:cNvSpPr txBox="1"/>
          <p:nvPr/>
        </p:nvSpPr>
        <p:spPr>
          <a:xfrm>
            <a:off x="80485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9.29</a:t>
            </a:r>
            <a:endParaRPr lang="en-US" sz="975" dirty="0"/>
          </a:p>
        </p:txBody>
      </p:sp>
      <p:sp>
        <p:nvSpPr>
          <p:cNvPr id="204" name="Text 201"/>
          <p:cNvSpPr txBox="1"/>
          <p:nvPr/>
        </p:nvSpPr>
        <p:spPr>
          <a:xfrm>
            <a:off x="867765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9.37</a:t>
            </a:r>
            <a:endParaRPr lang="en-US" sz="975" dirty="0"/>
          </a:p>
        </p:txBody>
      </p:sp>
      <p:sp>
        <p:nvSpPr>
          <p:cNvPr id="205" name="Text 202"/>
          <p:cNvSpPr txBox="1"/>
          <p:nvPr/>
        </p:nvSpPr>
        <p:spPr>
          <a:xfrm>
            <a:off x="93058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9.41</a:t>
            </a:r>
            <a:endParaRPr lang="en-US" sz="975" dirty="0"/>
          </a:p>
        </p:txBody>
      </p:sp>
      <p:sp>
        <p:nvSpPr>
          <p:cNvPr id="206" name="Text 203"/>
          <p:cNvSpPr txBox="1"/>
          <p:nvPr/>
        </p:nvSpPr>
        <p:spPr>
          <a:xfrm>
            <a:off x="993495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9.39</a:t>
            </a:r>
            <a:endParaRPr lang="en-US" sz="975" dirty="0"/>
          </a:p>
        </p:txBody>
      </p:sp>
      <p:sp>
        <p:nvSpPr>
          <p:cNvPr id="207" name="Text 204"/>
          <p:cNvSpPr txBox="1"/>
          <p:nvPr/>
        </p:nvSpPr>
        <p:spPr>
          <a:xfrm>
            <a:off x="105631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208" name="Text 205"/>
          <p:cNvSpPr txBox="1"/>
          <p:nvPr/>
        </p:nvSpPr>
        <p:spPr>
          <a:xfrm>
            <a:off x="11192256" y="67629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9.20</a:t>
            </a:r>
            <a:endParaRPr lang="en-US" sz="975" dirty="0"/>
          </a:p>
        </p:txBody>
      </p:sp>
      <p:sp>
        <p:nvSpPr>
          <p:cNvPr id="209" name="Text 206"/>
          <p:cNvSpPr txBox="1"/>
          <p:nvPr/>
        </p:nvSpPr>
        <p:spPr>
          <a:xfrm>
            <a:off x="74203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9.08</a:t>
            </a:r>
            <a:endParaRPr lang="en-US" sz="975" dirty="0"/>
          </a:p>
        </p:txBody>
      </p:sp>
      <p:sp>
        <p:nvSpPr>
          <p:cNvPr id="210" name="Text 207"/>
          <p:cNvSpPr txBox="1"/>
          <p:nvPr/>
        </p:nvSpPr>
        <p:spPr>
          <a:xfrm>
            <a:off x="8048549"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9.16</a:t>
            </a:r>
            <a:endParaRPr lang="en-US" sz="975" dirty="0"/>
          </a:p>
        </p:txBody>
      </p:sp>
      <p:sp>
        <p:nvSpPr>
          <p:cNvPr id="211" name="Text 208"/>
          <p:cNvSpPr txBox="1"/>
          <p:nvPr/>
        </p:nvSpPr>
        <p:spPr>
          <a:xfrm>
            <a:off x="867765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9.25</a:t>
            </a:r>
            <a:endParaRPr lang="en-US" sz="975" dirty="0"/>
          </a:p>
        </p:txBody>
      </p:sp>
      <p:sp>
        <p:nvSpPr>
          <p:cNvPr id="212" name="Text 209"/>
          <p:cNvSpPr txBox="1"/>
          <p:nvPr/>
        </p:nvSpPr>
        <p:spPr>
          <a:xfrm>
            <a:off x="9305849"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213" name="Text 210"/>
          <p:cNvSpPr txBox="1"/>
          <p:nvPr/>
        </p:nvSpPr>
        <p:spPr>
          <a:xfrm>
            <a:off x="99349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9.28</a:t>
            </a:r>
            <a:endParaRPr lang="en-US" sz="975" dirty="0"/>
          </a:p>
        </p:txBody>
      </p:sp>
      <p:sp>
        <p:nvSpPr>
          <p:cNvPr id="214" name="Text 211"/>
          <p:cNvSpPr txBox="1"/>
          <p:nvPr/>
        </p:nvSpPr>
        <p:spPr>
          <a:xfrm>
            <a:off x="10563149"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9.18</a:t>
            </a:r>
            <a:endParaRPr lang="en-US" sz="975" dirty="0"/>
          </a:p>
        </p:txBody>
      </p:sp>
      <p:sp>
        <p:nvSpPr>
          <p:cNvPr id="215" name="Text 212"/>
          <p:cNvSpPr txBox="1"/>
          <p:nvPr/>
        </p:nvSpPr>
        <p:spPr>
          <a:xfrm>
            <a:off x="111922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9.06</a:t>
            </a:r>
            <a:endParaRPr lang="en-US" sz="975" dirty="0"/>
          </a:p>
        </p:txBody>
      </p:sp>
      <p:sp>
        <p:nvSpPr>
          <p:cNvPr id="216" name="Shape 213"/>
          <p:cNvSpPr/>
          <p:nvPr/>
        </p:nvSpPr>
        <p:spPr>
          <a:xfrm>
            <a:off x="7048195" y="8287207"/>
            <a:ext cx="5715000" cy="819302"/>
          </a:xfrm>
          <a:prstGeom prst="rect">
            <a:avLst/>
          </a:prstGeom>
          <a:solidFill>
            <a:srgbClr val="B75230"/>
          </a:solidFill>
          <a:ln w="12700">
            <a:solidFill>
              <a:srgbClr val="FFFFFF">
                <a:alpha val="0"/>
              </a:srgbClr>
            </a:solidFill>
            <a:prstDash val="solid"/>
          </a:ln>
        </p:spPr>
      </p:sp>
      <p:sp>
        <p:nvSpPr>
          <p:cNvPr id="217" name="Text 214"/>
          <p:cNvSpPr txBox="1"/>
          <p:nvPr/>
        </p:nvSpPr>
        <p:spPr>
          <a:xfrm>
            <a:off x="7334402" y="8563356"/>
            <a:ext cx="1019556" cy="143561"/>
          </a:xfrm>
          <a:prstGeom prst="rect">
            <a:avLst/>
          </a:prstGeom>
          <a:noFill/>
          <a:ln/>
        </p:spPr>
        <p:txBody>
          <a:bodyPr wrap="none" lIns="0" tIns="0" rIns="0" bIns="0" rtlCol="0" anchor="ctr"/>
          <a:lstStyle/>
          <a:p>
            <a:pPr algn="l" indent="0" marL="0">
              <a:buNone/>
            </a:pPr>
            <a:r>
              <a:rPr lang="en-US" sz="900" spc="126" kern="0" dirty="0">
                <a:solidFill>
                  <a:srgbClr val="F1ECDB"/>
                </a:solidFill>
                <a:latin typeface="IBM Plex Mono" pitchFamily="34" charset="0"/>
                <a:ea typeface="IBM Plex Mono" pitchFamily="34" charset="-122"/>
                <a:cs typeface="IBM Plex Mono" pitchFamily="34" charset="-120"/>
              </a:rPr>
              <a:t>49 PT · MEAN</a:t>
            </a:r>
            <a:endParaRPr lang="en-US" sz="900" dirty="0"/>
          </a:p>
        </p:txBody>
      </p:sp>
      <p:sp>
        <p:nvSpPr>
          <p:cNvPr id="218" name="Text 215"/>
          <p:cNvSpPr txBox="1"/>
          <p:nvPr/>
        </p:nvSpPr>
        <p:spPr>
          <a:xfrm>
            <a:off x="9252814" y="8458200"/>
            <a:ext cx="886054" cy="277063"/>
          </a:xfrm>
          <a:prstGeom prst="rect">
            <a:avLst/>
          </a:prstGeom>
          <a:noFill/>
          <a:ln/>
        </p:spPr>
        <p:txBody>
          <a:bodyPr wrap="none" lIns="0" tIns="0" rIns="0" bIns="0" rtlCol="0" anchor="ctr"/>
          <a:lstStyle/>
          <a:p>
            <a:pPr algn="l" indent="0" marL="0">
              <a:buNone/>
            </a:pPr>
            <a:r>
              <a:rPr lang="en-US" sz="1650" b="1" dirty="0">
                <a:solidFill>
                  <a:srgbClr val="F1ECDB"/>
                </a:solidFill>
                <a:latin typeface="IBM Plex Mono" pitchFamily="34" charset="0"/>
                <a:ea typeface="IBM Plex Mono" pitchFamily="34" charset="-122"/>
                <a:cs typeface="IBM Plex Mono" pitchFamily="34" charset="-120"/>
              </a:rPr>
              <a:t>9.03 nm</a:t>
            </a:r>
            <a:endParaRPr lang="en-US" sz="1650" dirty="0"/>
          </a:p>
        </p:txBody>
      </p:sp>
      <p:sp>
        <p:nvSpPr>
          <p:cNvPr id="219" name="Text 216"/>
          <p:cNvSpPr txBox="1"/>
          <p:nvPr/>
        </p:nvSpPr>
        <p:spPr>
          <a:xfrm>
            <a:off x="11036808" y="8563356"/>
            <a:ext cx="1448410" cy="143561"/>
          </a:xfrm>
          <a:prstGeom prst="rect">
            <a:avLst/>
          </a:prstGeom>
          <a:noFill/>
          <a:ln/>
        </p:spPr>
        <p:txBody>
          <a:bodyPr wrap="none" lIns="0" tIns="0" rIns="0" bIns="0" rtlCol="0" anchor="ctr"/>
          <a:lstStyle/>
          <a:p>
            <a:pPr algn="l" indent="0" marL="0">
              <a:buNone/>
            </a:pPr>
            <a:r>
              <a:rPr lang="en-US" sz="900" dirty="0">
                <a:solidFill>
                  <a:srgbClr val="F1ECDB"/>
                </a:solidFill>
                <a:latin typeface="IBM Plex Mono" pitchFamily="34" charset="0"/>
                <a:ea typeface="IBM Plex Mono" pitchFamily="34" charset="-122"/>
                <a:cs typeface="IBM Plex Mono" pitchFamily="34" charset="-120"/>
              </a:rPr>
              <a:t>3σ 0.42 · out of spec</a:t>
            </a:r>
            <a:endParaRPr lang="en-US" sz="900" dirty="0"/>
          </a:p>
        </p:txBody>
      </p:sp>
      <p:sp>
        <p:nvSpPr>
          <p:cNvPr id="220" name="Text 217"/>
          <p:cNvSpPr txBox="1"/>
          <p:nvPr/>
        </p:nvSpPr>
        <p:spPr>
          <a:xfrm>
            <a:off x="13506602" y="2915107"/>
            <a:ext cx="3676802" cy="162763"/>
          </a:xfrm>
          <a:prstGeom prst="rect">
            <a:avLst/>
          </a:prstGeom>
          <a:noFill/>
          <a:ln/>
        </p:spPr>
        <p:txBody>
          <a:bodyPr wrap="none" lIns="0" tIns="0" rIns="0" bIns="0" rtlCol="0" anchor="ctr"/>
          <a:lstStyle/>
          <a:p>
            <a:pPr algn="l" indent="0" marL="0">
              <a:buNone/>
            </a:pPr>
            <a:r>
              <a:rPr lang="en-US" sz="975" spc="156" kern="0" dirty="0">
                <a:solidFill>
                  <a:srgbClr val="C8A961"/>
                </a:solidFill>
                <a:latin typeface="IBM Plex Mono" pitchFamily="34" charset="0"/>
                <a:ea typeface="IBM Plex Mono" pitchFamily="34" charset="-122"/>
                <a:cs typeface="IBM Plex Mono" pitchFamily="34" charset="-120"/>
              </a:rPr>
              <a:t>Δ vs target (9.50)</a:t>
            </a:r>
            <a:endParaRPr lang="en-US" sz="975" dirty="0"/>
          </a:p>
        </p:txBody>
      </p:sp>
      <p:sp>
        <p:nvSpPr>
          <p:cNvPr id="221" name="Text 218"/>
          <p:cNvSpPr txBox="1"/>
          <p:nvPr/>
        </p:nvSpPr>
        <p:spPr>
          <a:xfrm>
            <a:off x="13506602" y="3172054"/>
            <a:ext cx="3676802" cy="333756"/>
          </a:xfrm>
          <a:prstGeom prst="rect">
            <a:avLst/>
          </a:prstGeom>
          <a:noFill/>
          <a:ln/>
        </p:spPr>
        <p:txBody>
          <a:bodyPr wrap="none" lIns="0" tIns="0" rIns="0" bIns="0" rtlCol="0" anchor="ctr"/>
          <a:lstStyle/>
          <a:p>
            <a:pPr algn="l" indent="0" marL="0">
              <a:buNone/>
            </a:pPr>
            <a:r>
              <a:rPr lang="en-US" sz="1800" b="1" dirty="0">
                <a:solidFill>
                  <a:srgbClr val="F1ECDB"/>
                </a:solidFill>
                <a:latin typeface="Noto Sans KR" pitchFamily="34" charset="0"/>
                <a:ea typeface="Noto Sans KR" pitchFamily="34" charset="-122"/>
                <a:cs typeface="Noto Sans KR" pitchFamily="34" charset="-120"/>
              </a:rPr>
              <a:t>Color · diverging</a:t>
            </a:r>
            <a:endParaRPr lang="en-US" sz="1800" dirty="0"/>
          </a:p>
        </p:txBody>
      </p:sp>
      <p:pic>
        <p:nvPicPr>
          <p:cNvPr id="222" name="Image 0" descr="gen-dedup-a04eb82f42459255b35b9bdbbf2e638b.png">    </p:cNvPr>
          <p:cNvPicPr>
            <a:picLocks noChangeAspect="1"/>
          </p:cNvPicPr>
          <p:nvPr/>
        </p:nvPicPr>
        <p:blipFill>
          <a:blip r:embed="rId1"/>
          <a:srcRect l="-2083" r="-2083" t="0" b="0"/>
          <a:stretch/>
        </p:blipFill>
        <p:spPr>
          <a:xfrm>
            <a:off x="13506602" y="3676802"/>
            <a:ext cx="3676802" cy="9144"/>
          </a:xfrm>
          <a:prstGeom prst="rect">
            <a:avLst/>
          </a:prstGeom>
        </p:spPr>
      </p:pic>
      <p:sp>
        <p:nvSpPr>
          <p:cNvPr id="223" name="Shape 219"/>
          <p:cNvSpPr/>
          <p:nvPr/>
        </p:nvSpPr>
        <p:spPr>
          <a:xfrm>
            <a:off x="13506602" y="3981298"/>
            <a:ext cx="457200" cy="342900"/>
          </a:xfrm>
          <a:prstGeom prst="rect">
            <a:avLst/>
          </a:prstGeom>
          <a:solidFill>
            <a:srgbClr val="B4705A"/>
          </a:solidFill>
          <a:ln w="12700">
            <a:solidFill>
              <a:srgbClr val="FFFFFF">
                <a:alpha val="0"/>
              </a:srgbClr>
            </a:solidFill>
            <a:prstDash val="solid"/>
          </a:ln>
        </p:spPr>
      </p:sp>
      <p:sp>
        <p:nvSpPr>
          <p:cNvPr id="224" name="Text 220"/>
          <p:cNvSpPr txBox="1"/>
          <p:nvPr/>
        </p:nvSpPr>
        <p:spPr>
          <a:xfrm>
            <a:off x="14116507" y="4067251"/>
            <a:ext cx="724205"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Δ &lt; −0.20</a:t>
            </a:r>
            <a:endParaRPr lang="en-US" sz="1050" dirty="0"/>
          </a:p>
        </p:txBody>
      </p:sp>
      <p:pic>
        <p:nvPicPr>
          <p:cNvPr id="225" name="Image 1" descr="gen-dedup-a04eb82f42459255b35b9bdbbf2e638b.png">    </p:cNvPr>
          <p:cNvPicPr>
            <a:picLocks noChangeAspect="1"/>
          </p:cNvPicPr>
          <p:nvPr/>
        </p:nvPicPr>
        <p:blipFill>
          <a:blip r:embed="rId2"/>
          <a:srcRect l="-2083" r="-2083" t="0" b="0"/>
          <a:stretch/>
        </p:blipFill>
        <p:spPr>
          <a:xfrm>
            <a:off x="13506602" y="4457700"/>
            <a:ext cx="3676802" cy="9144"/>
          </a:xfrm>
          <a:prstGeom prst="rect">
            <a:avLst/>
          </a:prstGeom>
        </p:spPr>
      </p:pic>
      <p:sp>
        <p:nvSpPr>
          <p:cNvPr id="226" name="Shape 221"/>
          <p:cNvSpPr/>
          <p:nvPr/>
        </p:nvSpPr>
        <p:spPr>
          <a:xfrm>
            <a:off x="13506602" y="4600346"/>
            <a:ext cx="457200" cy="342900"/>
          </a:xfrm>
          <a:prstGeom prst="rect">
            <a:avLst/>
          </a:prstGeom>
          <a:solidFill>
            <a:srgbClr val="E1BC93"/>
          </a:solidFill>
          <a:ln w="12700">
            <a:solidFill>
              <a:srgbClr val="FFFFFF">
                <a:alpha val="0"/>
              </a:srgbClr>
            </a:solidFill>
            <a:prstDash val="solid"/>
          </a:ln>
        </p:spPr>
      </p:sp>
      <p:sp>
        <p:nvSpPr>
          <p:cNvPr id="227" name="Text 222"/>
          <p:cNvSpPr txBox="1"/>
          <p:nvPr/>
        </p:nvSpPr>
        <p:spPr>
          <a:xfrm>
            <a:off x="14116507" y="4686300"/>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−0.20 ≤ Δ &lt; −0.10</a:t>
            </a:r>
            <a:endParaRPr lang="en-US" sz="1050" dirty="0"/>
          </a:p>
        </p:txBody>
      </p:sp>
      <p:pic>
        <p:nvPicPr>
          <p:cNvPr id="228" name="Image 2" descr="gen-dedup-a04eb82f42459255b35b9bdbbf2e638b.png">    </p:cNvPr>
          <p:cNvPicPr>
            <a:picLocks noChangeAspect="1"/>
          </p:cNvPicPr>
          <p:nvPr/>
        </p:nvPicPr>
        <p:blipFill>
          <a:blip r:embed="rId3"/>
          <a:srcRect l="-2083" r="-2083" t="0" b="0"/>
          <a:stretch/>
        </p:blipFill>
        <p:spPr>
          <a:xfrm>
            <a:off x="13506602" y="5076749"/>
            <a:ext cx="3676802" cy="9144"/>
          </a:xfrm>
          <a:prstGeom prst="rect">
            <a:avLst/>
          </a:prstGeom>
        </p:spPr>
      </p:pic>
      <p:sp>
        <p:nvSpPr>
          <p:cNvPr id="229" name="Shape 223"/>
          <p:cNvSpPr/>
          <p:nvPr/>
        </p:nvSpPr>
        <p:spPr>
          <a:xfrm>
            <a:off x="13506602" y="5219395"/>
            <a:ext cx="457200" cy="342900"/>
          </a:xfrm>
          <a:prstGeom prst="rect">
            <a:avLst/>
          </a:prstGeom>
          <a:solidFill>
            <a:srgbClr val="C3DCD0"/>
          </a:solidFill>
          <a:ln w="12700">
            <a:solidFill>
              <a:srgbClr val="FFFFFF">
                <a:alpha val="0"/>
              </a:srgbClr>
            </a:solidFill>
            <a:prstDash val="solid"/>
          </a:ln>
        </p:spPr>
      </p:sp>
      <p:sp>
        <p:nvSpPr>
          <p:cNvPr id="230" name="Text 224"/>
          <p:cNvSpPr txBox="1"/>
          <p:nvPr/>
        </p:nvSpPr>
        <p:spPr>
          <a:xfrm>
            <a:off x="14116507" y="5305349"/>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−0.10 ≤ Δ ≤ +0.10</a:t>
            </a:r>
            <a:endParaRPr lang="en-US" sz="1050" dirty="0"/>
          </a:p>
        </p:txBody>
      </p:sp>
      <p:pic>
        <p:nvPicPr>
          <p:cNvPr id="231" name="Image 3" descr="gen-dedup-a04eb82f42459255b35b9bdbbf2e638b.png">    </p:cNvPr>
          <p:cNvPicPr>
            <a:picLocks noChangeAspect="1"/>
          </p:cNvPicPr>
          <p:nvPr/>
        </p:nvPicPr>
        <p:blipFill>
          <a:blip r:embed="rId4"/>
          <a:srcRect l="-2083" r="-2083" t="0" b="0"/>
          <a:stretch/>
        </p:blipFill>
        <p:spPr>
          <a:xfrm>
            <a:off x="13506602" y="5695798"/>
            <a:ext cx="3676802" cy="9144"/>
          </a:xfrm>
          <a:prstGeom prst="rect">
            <a:avLst/>
          </a:prstGeom>
        </p:spPr>
      </p:pic>
      <p:sp>
        <p:nvSpPr>
          <p:cNvPr id="232" name="Shape 225"/>
          <p:cNvSpPr/>
          <p:nvPr/>
        </p:nvSpPr>
        <p:spPr>
          <a:xfrm>
            <a:off x="13506602" y="5838444"/>
            <a:ext cx="457200" cy="342900"/>
          </a:xfrm>
          <a:prstGeom prst="rect">
            <a:avLst/>
          </a:prstGeom>
          <a:solidFill>
            <a:srgbClr val="DCC594"/>
          </a:solidFill>
          <a:ln w="12700">
            <a:solidFill>
              <a:srgbClr val="FFFFFF">
                <a:alpha val="0"/>
              </a:srgbClr>
            </a:solidFill>
            <a:prstDash val="solid"/>
          </a:ln>
        </p:spPr>
      </p:sp>
      <p:sp>
        <p:nvSpPr>
          <p:cNvPr id="233" name="Text 226"/>
          <p:cNvSpPr txBox="1"/>
          <p:nvPr/>
        </p:nvSpPr>
        <p:spPr>
          <a:xfrm>
            <a:off x="14116507" y="5924398"/>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+0.10 &lt; Δ ≤ +0.20</a:t>
            </a:r>
            <a:endParaRPr lang="en-US" sz="1050" dirty="0"/>
          </a:p>
        </p:txBody>
      </p:sp>
      <p:pic>
        <p:nvPicPr>
          <p:cNvPr id="234" name="Image 4" descr="gen-dedup-a04eb82f42459255b35b9bdbbf2e638b.png">    </p:cNvPr>
          <p:cNvPicPr>
            <a:picLocks noChangeAspect="1"/>
          </p:cNvPicPr>
          <p:nvPr/>
        </p:nvPicPr>
        <p:blipFill>
          <a:blip r:embed="rId5"/>
          <a:srcRect l="-2083" r="-2083" t="0" b="0"/>
          <a:stretch/>
        </p:blipFill>
        <p:spPr>
          <a:xfrm>
            <a:off x="13506602" y="6314846"/>
            <a:ext cx="3676802" cy="9144"/>
          </a:xfrm>
          <a:prstGeom prst="rect">
            <a:avLst/>
          </a:prstGeom>
        </p:spPr>
      </p:pic>
      <p:sp>
        <p:nvSpPr>
          <p:cNvPr id="235" name="Shape 227"/>
          <p:cNvSpPr/>
          <p:nvPr/>
        </p:nvSpPr>
        <p:spPr>
          <a:xfrm>
            <a:off x="13506602" y="6458407"/>
            <a:ext cx="457200" cy="342900"/>
          </a:xfrm>
          <a:prstGeom prst="rect">
            <a:avLst/>
          </a:prstGeom>
          <a:solidFill>
            <a:srgbClr val="B4705A"/>
          </a:solidFill>
          <a:ln w="12700">
            <a:solidFill>
              <a:srgbClr val="FFFFFF">
                <a:alpha val="0"/>
              </a:srgbClr>
            </a:solidFill>
            <a:prstDash val="solid"/>
          </a:ln>
        </p:spPr>
      </p:sp>
      <p:sp>
        <p:nvSpPr>
          <p:cNvPr id="236" name="Text 228"/>
          <p:cNvSpPr txBox="1"/>
          <p:nvPr/>
        </p:nvSpPr>
        <p:spPr>
          <a:xfrm>
            <a:off x="14116507" y="6543446"/>
            <a:ext cx="724205"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Δ &gt; +0.20</a:t>
            </a:r>
            <a:endParaRPr lang="en-US" sz="1050" dirty="0"/>
          </a:p>
        </p:txBody>
      </p:sp>
      <p:pic>
        <p:nvPicPr>
          <p:cNvPr id="237" name="Image 5" descr="gen-dedup-a04eb82f42459255b35b9bdbbf2e638b.png">    </p:cNvPr>
          <p:cNvPicPr>
            <a:picLocks noChangeAspect="1"/>
          </p:cNvPicPr>
          <p:nvPr/>
        </p:nvPicPr>
        <p:blipFill>
          <a:blip r:embed="rId6"/>
          <a:srcRect l="-2083" r="-2083" t="0" b="0"/>
          <a:stretch/>
        </p:blipFill>
        <p:spPr>
          <a:xfrm>
            <a:off x="13506602" y="6782105"/>
            <a:ext cx="3676802" cy="9144"/>
          </a:xfrm>
          <a:prstGeom prst="rect">
            <a:avLst/>
          </a:prstGeom>
        </p:spPr>
      </p:pic>
      <p:sp>
        <p:nvSpPr>
          <p:cNvPr id="238" name="Text 229"/>
          <p:cNvSpPr txBox="1"/>
          <p:nvPr/>
        </p:nvSpPr>
        <p:spPr>
          <a:xfrm>
            <a:off x="13506602" y="6906463"/>
            <a:ext cx="3676802" cy="513893"/>
          </a:xfrm>
          <a:prstGeom prst="rect">
            <a:avLst/>
          </a:prstGeom>
          <a:noFill/>
          <a:ln/>
        </p:spPr>
        <p:txBody>
          <a:bodyPr wrap="square" lIns="0" tIns="0" rIns="0" bIns="0" rtlCol="0" anchor="t"/>
          <a:lstStyle/>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 ALD W01 — 0개 점이 spec-out</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 PVD W03 — 18개 점이 spec-out</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(양쪽 모두 더미 데이터)</a:t>
            </a:r>
            <a:endParaRPr lang="en-US" sz="825" dirty="0"/>
          </a:p>
        </p:txBody>
      </p:sp>
      <p:pic>
        <p:nvPicPr>
          <p:cNvPr id="239" name="Image 6" descr="gen-dedup-927e1b3d142562f2171c6a940580640a.png">    </p:cNvPr>
          <p:cNvPicPr>
            <a:picLocks noChangeAspect="1"/>
          </p:cNvPicPr>
          <p:nvPr/>
        </p:nvPicPr>
        <p:blipFill>
          <a:blip r:embed="rId7"/>
          <a:srcRect l="-2083" r="-2083" t="0" b="0"/>
          <a:stretch/>
        </p:blipFill>
        <p:spPr>
          <a:xfrm>
            <a:off x="857707" y="9715500"/>
            <a:ext cx="16573500" cy="9144"/>
          </a:xfrm>
          <a:prstGeom prst="rect">
            <a:avLst/>
          </a:prstGeom>
        </p:spPr>
      </p:pic>
      <p:sp>
        <p:nvSpPr>
          <p:cNvPr id="240" name="Text 230"/>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11144707" y="7524598"/>
            <a:ext cx="6286500" cy="1809598"/>
          </a:xfrm>
          <a:prstGeom prst="rect">
            <a:avLst/>
          </a:prstGeom>
          <a:solidFill>
            <a:srgbClr val="ECE5D1"/>
          </a:solidFill>
          <a:ln w="12700">
            <a:solidFill>
              <a:srgbClr val="FFFFFF">
                <a:alpha val="0"/>
              </a:srgbClr>
            </a:solidFill>
            <a:prstDash val="solid"/>
          </a:ln>
        </p:spPr>
      </p:sp>
      <p:sp>
        <p:nvSpPr>
          <p:cNvPr id="4" name="Shape 1"/>
          <p:cNvSpPr/>
          <p:nvPr/>
        </p:nvSpPr>
        <p:spPr>
          <a:xfrm>
            <a:off x="857707" y="666598"/>
            <a:ext cx="75895" cy="228600"/>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666598"/>
            <a:ext cx="3176626" cy="228600"/>
          </a:xfrm>
          <a:prstGeom prst="rect">
            <a:avLst/>
          </a:prstGeom>
          <a:noFill/>
          <a:ln/>
        </p:spPr>
        <p:txBody>
          <a:bodyPr wrap="none" lIns="0" tIns="0" rIns="0" bIns="0" rtlCol="0" anchor="ctr"/>
          <a:lstStyle/>
          <a:p>
            <a:pPr algn="l" indent="0" marL="0">
              <a:buNone/>
            </a:pPr>
            <a:r>
              <a:rPr lang="en-US" sz="1200" spc="216" kern="0" dirty="0">
                <a:solidFill>
                  <a:srgbClr val="15202C"/>
                </a:solidFill>
                <a:latin typeface="Noto Sans KR" pitchFamily="34" charset="0"/>
                <a:ea typeface="Noto Sans KR" pitchFamily="34" charset="-122"/>
                <a:cs typeface="Noto Sans KR" pitchFamily="34" charset="-120"/>
              </a:rPr>
              <a:t>ELECTRICAL RESULTS · TABLE</a:t>
            </a:r>
            <a:endParaRPr lang="en-US" sz="1200" dirty="0"/>
          </a:p>
        </p:txBody>
      </p:sp>
      <p:sp>
        <p:nvSpPr>
          <p:cNvPr id="6" name="Text 3"/>
          <p:cNvSpPr txBox="1"/>
          <p:nvPr/>
        </p:nvSpPr>
        <p:spPr>
          <a:xfrm>
            <a:off x="857707" y="1028700"/>
            <a:ext cx="16573500" cy="467258"/>
          </a:xfrm>
          <a:prstGeom prst="rect">
            <a:avLst/>
          </a:prstGeom>
          <a:noFill/>
          <a:ln/>
        </p:spPr>
        <p:txBody>
          <a:bodyPr wrap="none" lIns="0" tIns="0" rIns="0" bIns="0" rtlCol="0" anchor="ctr"/>
          <a:lstStyle/>
          <a:p>
            <a:pPr algn="l" indent="0" marL="0">
              <a:buNone/>
            </a:pPr>
            <a:r>
              <a:rPr lang="en-US" sz="3150" b="1" spc="-31" kern="0" dirty="0">
                <a:solidFill>
                  <a:srgbClr val="15202C"/>
                </a:solidFill>
                <a:latin typeface="Noto Sans KR" pitchFamily="34" charset="0"/>
                <a:ea typeface="Noto Sans KR" pitchFamily="34" charset="-122"/>
                <a:cs typeface="Noto Sans KR" pitchFamily="34" charset="-120"/>
              </a:rPr>
              <a:t>전기적 결과 — wafer / split별 4 metric</a:t>
            </a:r>
            <a:endParaRPr lang="en-US" sz="3150" dirty="0"/>
          </a:p>
        </p:txBody>
      </p:sp>
      <p:sp>
        <p:nvSpPr>
          <p:cNvPr id="7" name="Text 4"/>
          <p:cNvSpPr txBox="1"/>
          <p:nvPr/>
        </p:nvSpPr>
        <p:spPr>
          <a:xfrm>
            <a:off x="857707" y="1583741"/>
            <a:ext cx="16573500" cy="286207"/>
          </a:xfrm>
          <a:prstGeom prst="rect">
            <a:avLst/>
          </a:prstGeom>
          <a:noFill/>
          <a:ln/>
        </p:spPr>
        <p:txBody>
          <a:bodyPr wrap="none" lIns="0" tIns="0" rIns="0" bIns="0" rtlCol="0" anchor="ctr"/>
          <a:lstStyle/>
          <a:p>
            <a:pPr algn="l" indent="0" marL="0">
              <a:buNone/>
            </a:pPr>
            <a:r>
              <a:rPr lang="en-US" sz="1275" dirty="0">
                <a:solidFill>
                  <a:srgbClr val="4A5563"/>
                </a:solidFill>
                <a:latin typeface="Noto Sans KR" pitchFamily="34" charset="0"/>
                <a:ea typeface="Noto Sans KR" pitchFamily="34" charset="-122"/>
                <a:cs typeface="Noto Sans KR" pitchFamily="34" charset="-120"/>
              </a:rPr>
              <a:t>Line R · Via R · EM MTTF · TDDB V</a:t>
            </a:r>
            <a:pPr algn="l" indent="0" marL="0">
              <a:buNone/>
            </a:pPr>
            <a:r>
              <a:rPr lang="en-US" sz="1063" dirty="0">
                <a:solidFill>
                  <a:srgbClr val="4A5563"/>
                </a:solidFill>
                <a:latin typeface="Noto Sans KR" pitchFamily="34" charset="0"/>
                <a:ea typeface="Noto Sans KR" pitchFamily="34" charset="-122"/>
                <a:cs typeface="Noto Sans KR" pitchFamily="34" charset="-120"/>
              </a:rPr>
              <a:t>bd</a:t>
            </a:r>
            <a:pPr algn="l" indent="0" marL="0">
              <a:buNone/>
            </a:pPr>
            <a:r>
              <a:rPr lang="en-US" sz="1275" dirty="0">
                <a:solidFill>
                  <a:srgbClr val="4A5563"/>
                </a:solidFill>
                <a:latin typeface="Noto Sans KR" pitchFamily="34" charset="0"/>
                <a:ea typeface="Noto Sans KR" pitchFamily="34" charset="-122"/>
                <a:cs typeface="Noto Sans KR" pitchFamily="34" charset="-120"/>
              </a:rPr>
              <a:t>, 4 metric 수치를 wafer별 dummy 값으로 정리했습니다. 단위는 컬럼 헤더에 표기.</a:t>
            </a:r>
            <a:endParaRPr lang="en-US" sz="1275" dirty="0"/>
          </a:p>
        </p:txBody>
      </p:sp>
      <p:sp>
        <p:nvSpPr>
          <p:cNvPr id="8" name="Shape 5"/>
          <p:cNvSpPr/>
          <p:nvPr/>
        </p:nvSpPr>
        <p:spPr>
          <a:xfrm>
            <a:off x="857707" y="2762402"/>
            <a:ext cx="16573500" cy="761695"/>
          </a:xfrm>
          <a:prstGeom prst="rect">
            <a:avLst/>
          </a:prstGeom>
          <a:solidFill>
            <a:srgbClr val="ECE5D1"/>
          </a:solidFill>
          <a:ln/>
        </p:spPr>
      </p:sp>
      <p:sp>
        <p:nvSpPr>
          <p:cNvPr id="9" name="Shape 6"/>
          <p:cNvSpPr/>
          <p:nvPr/>
        </p:nvSpPr>
        <p:spPr>
          <a:xfrm>
            <a:off x="857707" y="3514954"/>
            <a:ext cx="16573500" cy="9144"/>
          </a:xfrm>
          <a:prstGeom prst="rect">
            <a:avLst/>
          </a:prstGeom>
          <a:solidFill>
            <a:srgbClr val="15202C"/>
          </a:solidFill>
          <a:ln w="12700">
            <a:solidFill>
              <a:srgbClr val="15202C">
                <a:alpha val="0"/>
              </a:srgbClr>
            </a:solidFill>
            <a:prstDash val="solid"/>
          </a:ln>
        </p:spPr>
      </p:sp>
      <p:sp>
        <p:nvSpPr>
          <p:cNvPr id="10" name="Text 7"/>
          <p:cNvSpPr txBox="1"/>
          <p:nvPr/>
        </p:nvSpPr>
        <p:spPr>
          <a:xfrm>
            <a:off x="857707" y="2762402"/>
            <a:ext cx="1600200" cy="762610"/>
          </a:xfrm>
          <a:prstGeom prst="rect">
            <a:avLst/>
          </a:prstGeom>
          <a:noFill/>
          <a:ln/>
        </p:spPr>
        <p:txBody>
          <a:bodyPr wrap="square" lIns="0" tIns="0" rIns="0" bIns="0" rtlCol="0" anchor="ctr"/>
          <a:lstStyle/>
          <a:p>
            <a:pPr algn="l" indent="0" marL="0">
              <a:buNone/>
            </a:pPr>
            <a:r>
              <a:rPr lang="en-US" sz="975" b="1" spc="98" kern="0" dirty="0">
                <a:solidFill>
                  <a:srgbClr val="15202C"/>
                </a:solidFill>
                <a:latin typeface="IBM Plex Mono" pitchFamily="34" charset="0"/>
                <a:ea typeface="IBM Plex Mono" pitchFamily="34" charset="-122"/>
                <a:cs typeface="IBM Plex Mono" pitchFamily="34" charset="-120"/>
              </a:rPr>
              <a:t>WAFER</a:t>
            </a:r>
            <a:endParaRPr lang="en-US" sz="975" dirty="0"/>
          </a:p>
        </p:txBody>
      </p:sp>
      <p:sp>
        <p:nvSpPr>
          <p:cNvPr id="11" name="Text 8"/>
          <p:cNvSpPr txBox="1"/>
          <p:nvPr/>
        </p:nvSpPr>
        <p:spPr>
          <a:xfrm>
            <a:off x="2454250" y="2762402"/>
            <a:ext cx="2705710" cy="762610"/>
          </a:xfrm>
          <a:prstGeom prst="rect">
            <a:avLst/>
          </a:prstGeom>
          <a:noFill/>
          <a:ln/>
        </p:spPr>
        <p:txBody>
          <a:bodyPr wrap="square" lIns="0" tIns="0" rIns="0" bIns="0" rtlCol="0" anchor="ctr"/>
          <a:lstStyle/>
          <a:p>
            <a:pPr algn="l" indent="0" marL="0">
              <a:buNone/>
            </a:pPr>
            <a:r>
              <a:rPr lang="en-US" sz="975" b="1" spc="98" kern="0" dirty="0">
                <a:solidFill>
                  <a:srgbClr val="15202C"/>
                </a:solidFill>
                <a:latin typeface="IBM Plex Mono" pitchFamily="34" charset="0"/>
                <a:ea typeface="IBM Plex Mono" pitchFamily="34" charset="-122"/>
                <a:cs typeface="IBM Plex Mono" pitchFamily="34" charset="-120"/>
              </a:rPr>
              <a:t>SPLIT</a:t>
            </a:r>
            <a:endParaRPr lang="en-US" sz="975" dirty="0"/>
          </a:p>
        </p:txBody>
      </p:sp>
      <p:sp>
        <p:nvSpPr>
          <p:cNvPr id="12" name="Text 9"/>
          <p:cNvSpPr txBox="1"/>
          <p:nvPr/>
        </p:nvSpPr>
        <p:spPr>
          <a:xfrm>
            <a:off x="5157216" y="2762402"/>
            <a:ext cx="2677363"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LINE R</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(Ω / μm)</a:t>
            </a:r>
            <a:endParaRPr lang="en-US" sz="1050" dirty="0"/>
          </a:p>
        </p:txBody>
      </p:sp>
      <p:sp>
        <p:nvSpPr>
          <p:cNvPr id="13" name="Text 10"/>
          <p:cNvSpPr txBox="1"/>
          <p:nvPr/>
        </p:nvSpPr>
        <p:spPr>
          <a:xfrm>
            <a:off x="7824521" y="2762402"/>
            <a:ext cx="2677363"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VIA R</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(Ω / via)</a:t>
            </a:r>
            <a:endParaRPr lang="en-US" sz="1050" dirty="0"/>
          </a:p>
        </p:txBody>
      </p:sp>
      <p:sp>
        <p:nvSpPr>
          <p:cNvPr id="14" name="Text 11"/>
          <p:cNvSpPr txBox="1"/>
          <p:nvPr/>
        </p:nvSpPr>
        <p:spPr>
          <a:xfrm>
            <a:off x="10491826" y="2762402"/>
            <a:ext cx="2714854"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EM MTTF</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 baseline, normalized)</a:t>
            </a:r>
            <a:endParaRPr lang="en-US" sz="1050" dirty="0"/>
          </a:p>
        </p:txBody>
      </p:sp>
      <p:sp>
        <p:nvSpPr>
          <p:cNvPr id="15" name="Text 12"/>
          <p:cNvSpPr txBox="1"/>
          <p:nvPr/>
        </p:nvSpPr>
        <p:spPr>
          <a:xfrm>
            <a:off x="13200278" y="2762402"/>
            <a:ext cx="4239158"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TDDB V</a:t>
            </a:r>
            <a:pPr algn="r" indent="0" marL="0">
              <a:buNone/>
            </a:pPr>
            <a:r>
              <a:rPr lang="en-US" sz="875" b="1" spc="105" kern="0" dirty="0">
                <a:solidFill>
                  <a:srgbClr val="15202C"/>
                </a:solidFill>
                <a:latin typeface="IBM Plex Mono" pitchFamily="34" charset="0"/>
                <a:ea typeface="IBM Plex Mono" pitchFamily="34" charset="-122"/>
                <a:cs typeface="IBM Plex Mono" pitchFamily="34" charset="-120"/>
              </a:rPr>
              <a:t>bd</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(MV / cm, @ 63.2%, ULK SiCOH)</a:t>
            </a:r>
            <a:endParaRPr lang="en-US" sz="1050" dirty="0"/>
          </a:p>
        </p:txBody>
      </p:sp>
      <p:sp>
        <p:nvSpPr>
          <p:cNvPr id="16" name="Shape 13"/>
          <p:cNvSpPr/>
          <p:nvPr/>
        </p:nvSpPr>
        <p:spPr>
          <a:xfrm>
            <a:off x="857707" y="3517697"/>
            <a:ext cx="16573500" cy="790956"/>
          </a:xfrm>
          <a:prstGeom prst="rect">
            <a:avLst/>
          </a:prstGeom>
          <a:solidFill>
            <a:srgbClr val="E2EEEC"/>
          </a:solidFill>
          <a:ln w="12700">
            <a:solidFill>
              <a:srgbClr val="FFFFFF">
                <a:alpha val="0"/>
              </a:srgbClr>
            </a:solidFill>
            <a:prstDash val="solid"/>
          </a:ln>
        </p:spPr>
      </p:sp>
      <p:sp>
        <p:nvSpPr>
          <p:cNvPr id="17" name="Text 14"/>
          <p:cNvSpPr txBox="1"/>
          <p:nvPr/>
        </p:nvSpPr>
        <p:spPr>
          <a:xfrm>
            <a:off x="857707" y="3517697"/>
            <a:ext cx="1600200" cy="790956"/>
          </a:xfrm>
          <a:prstGeom prst="rect">
            <a:avLst/>
          </a:prstGeom>
          <a:noFill/>
          <a:ln/>
        </p:spPr>
        <p:txBody>
          <a:bodyPr wrap="none" lIns="0" tIns="0" rIns="0" bIns="0" rtlCol="0" anchor="ctr"/>
          <a:lstStyle/>
          <a:p>
            <a:pPr algn="l" indent="0" marL="0">
              <a:buNone/>
            </a:pPr>
            <a:r>
              <a:rPr lang="en-US" sz="1800" b="1" dirty="0">
                <a:solidFill>
                  <a:srgbClr val="1F6F70"/>
                </a:solidFill>
                <a:latin typeface="IBM Plex Mono" pitchFamily="34" charset="0"/>
                <a:ea typeface="IBM Plex Mono" pitchFamily="34" charset="-122"/>
                <a:cs typeface="IBM Plex Mono" pitchFamily="34" charset="-120"/>
              </a:rPr>
              <a:t>W01</a:t>
            </a:r>
            <a:endParaRPr lang="en-US" sz="1800" dirty="0"/>
          </a:p>
        </p:txBody>
      </p:sp>
      <p:sp>
        <p:nvSpPr>
          <p:cNvPr id="18" name="Text 15"/>
          <p:cNvSpPr txBox="1"/>
          <p:nvPr/>
        </p:nvSpPr>
        <p:spPr>
          <a:xfrm>
            <a:off x="3594506" y="3517697"/>
            <a:ext cx="1565453" cy="790956"/>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ALD TaN / Ru</a:t>
            </a:r>
            <a:endParaRPr lang="en-US" sz="1200" dirty="0"/>
          </a:p>
        </p:txBody>
      </p:sp>
      <p:sp>
        <p:nvSpPr>
          <p:cNvPr id="19" name="Text 16"/>
          <p:cNvSpPr txBox="1"/>
          <p:nvPr/>
        </p:nvSpPr>
        <p:spPr>
          <a:xfrm>
            <a:off x="5157216" y="3517697"/>
            <a:ext cx="2677363" cy="790956"/>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282</a:t>
            </a:r>
            <a:endParaRPr lang="en-US" sz="1950" dirty="0"/>
          </a:p>
        </p:txBody>
      </p:sp>
      <p:sp>
        <p:nvSpPr>
          <p:cNvPr id="20" name="Text 17"/>
          <p:cNvSpPr txBox="1"/>
          <p:nvPr/>
        </p:nvSpPr>
        <p:spPr>
          <a:xfrm>
            <a:off x="7824521" y="3517697"/>
            <a:ext cx="2677363" cy="790956"/>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4.1</a:t>
            </a:r>
            <a:endParaRPr lang="en-US" sz="1950" dirty="0"/>
          </a:p>
        </p:txBody>
      </p:sp>
      <p:sp>
        <p:nvSpPr>
          <p:cNvPr id="21" name="Text 18"/>
          <p:cNvSpPr txBox="1"/>
          <p:nvPr/>
        </p:nvSpPr>
        <p:spPr>
          <a:xfrm>
            <a:off x="10491826" y="3517697"/>
            <a:ext cx="2714854" cy="790956"/>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1.02×</a:t>
            </a:r>
            <a:endParaRPr lang="en-US" sz="1950" dirty="0"/>
          </a:p>
        </p:txBody>
      </p:sp>
      <p:sp>
        <p:nvSpPr>
          <p:cNvPr id="22" name="Text 19"/>
          <p:cNvSpPr txBox="1"/>
          <p:nvPr/>
        </p:nvSpPr>
        <p:spPr>
          <a:xfrm>
            <a:off x="13200278" y="3517697"/>
            <a:ext cx="4239158" cy="790956"/>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8.7</a:t>
            </a:r>
            <a:endParaRPr lang="en-US" sz="1950" dirty="0"/>
          </a:p>
        </p:txBody>
      </p:sp>
      <p:sp>
        <p:nvSpPr>
          <p:cNvPr id="23" name="Shape 20"/>
          <p:cNvSpPr/>
          <p:nvPr/>
        </p:nvSpPr>
        <p:spPr>
          <a:xfrm>
            <a:off x="857707" y="4303166"/>
            <a:ext cx="16573500" cy="780898"/>
          </a:xfrm>
          <a:prstGeom prst="rect">
            <a:avLst/>
          </a:prstGeom>
          <a:solidFill>
            <a:srgbClr val="D8E8E5"/>
          </a:solidFill>
          <a:ln w="12700">
            <a:solidFill>
              <a:srgbClr val="FFFFFF">
                <a:alpha val="0"/>
              </a:srgbClr>
            </a:solidFill>
            <a:prstDash val="solid"/>
          </a:ln>
        </p:spPr>
      </p:sp>
      <p:sp>
        <p:nvSpPr>
          <p:cNvPr id="24" name="Text 21"/>
          <p:cNvSpPr txBox="1"/>
          <p:nvPr/>
        </p:nvSpPr>
        <p:spPr>
          <a:xfrm>
            <a:off x="857707" y="4303166"/>
            <a:ext cx="1600200" cy="781812"/>
          </a:xfrm>
          <a:prstGeom prst="rect">
            <a:avLst/>
          </a:prstGeom>
          <a:noFill/>
          <a:ln/>
        </p:spPr>
        <p:txBody>
          <a:bodyPr wrap="none" lIns="0" tIns="0" rIns="0" bIns="0" rtlCol="0" anchor="ctr"/>
          <a:lstStyle/>
          <a:p>
            <a:pPr algn="l" indent="0" marL="0">
              <a:buNone/>
            </a:pPr>
            <a:r>
              <a:rPr lang="en-US" sz="1800" b="1" dirty="0">
                <a:solidFill>
                  <a:srgbClr val="1F6F70"/>
                </a:solidFill>
                <a:latin typeface="IBM Plex Mono" pitchFamily="34" charset="0"/>
                <a:ea typeface="IBM Plex Mono" pitchFamily="34" charset="-122"/>
                <a:cs typeface="IBM Plex Mono" pitchFamily="34" charset="-120"/>
              </a:rPr>
              <a:t>W02</a:t>
            </a:r>
            <a:endParaRPr lang="en-US" sz="1800" dirty="0"/>
          </a:p>
        </p:txBody>
      </p:sp>
      <p:sp>
        <p:nvSpPr>
          <p:cNvPr id="25" name="Text 22"/>
          <p:cNvSpPr txBox="1"/>
          <p:nvPr/>
        </p:nvSpPr>
        <p:spPr>
          <a:xfrm>
            <a:off x="3594506" y="4303166"/>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ALD TaN / Ru</a:t>
            </a:r>
            <a:endParaRPr lang="en-US" sz="1200" dirty="0"/>
          </a:p>
        </p:txBody>
      </p:sp>
      <p:sp>
        <p:nvSpPr>
          <p:cNvPr id="26" name="Text 23"/>
          <p:cNvSpPr txBox="1"/>
          <p:nvPr/>
        </p:nvSpPr>
        <p:spPr>
          <a:xfrm>
            <a:off x="5157216" y="4303166"/>
            <a:ext cx="2677363" cy="781812"/>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287</a:t>
            </a:r>
            <a:endParaRPr lang="en-US" sz="1950" dirty="0"/>
          </a:p>
        </p:txBody>
      </p:sp>
      <p:sp>
        <p:nvSpPr>
          <p:cNvPr id="27" name="Text 24"/>
          <p:cNvSpPr txBox="1"/>
          <p:nvPr/>
        </p:nvSpPr>
        <p:spPr>
          <a:xfrm>
            <a:off x="7824521" y="4303166"/>
            <a:ext cx="2677363" cy="781812"/>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4.3</a:t>
            </a:r>
            <a:endParaRPr lang="en-US" sz="1950" dirty="0"/>
          </a:p>
        </p:txBody>
      </p:sp>
      <p:sp>
        <p:nvSpPr>
          <p:cNvPr id="28" name="Text 25"/>
          <p:cNvSpPr txBox="1"/>
          <p:nvPr/>
        </p:nvSpPr>
        <p:spPr>
          <a:xfrm>
            <a:off x="10491826" y="4303166"/>
            <a:ext cx="2714854" cy="781812"/>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0.98×</a:t>
            </a:r>
            <a:endParaRPr lang="en-US" sz="1950" dirty="0"/>
          </a:p>
        </p:txBody>
      </p:sp>
      <p:sp>
        <p:nvSpPr>
          <p:cNvPr id="29" name="Text 26"/>
          <p:cNvSpPr txBox="1"/>
          <p:nvPr/>
        </p:nvSpPr>
        <p:spPr>
          <a:xfrm>
            <a:off x="13200278" y="4303166"/>
            <a:ext cx="4239158" cy="781812"/>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8.5</a:t>
            </a:r>
            <a:endParaRPr lang="en-US" sz="1950" dirty="0"/>
          </a:p>
        </p:txBody>
      </p:sp>
      <p:sp>
        <p:nvSpPr>
          <p:cNvPr id="30" name="Shape 27"/>
          <p:cNvSpPr/>
          <p:nvPr/>
        </p:nvSpPr>
        <p:spPr>
          <a:xfrm>
            <a:off x="857707" y="5084064"/>
            <a:ext cx="16573500" cy="780898"/>
          </a:xfrm>
          <a:prstGeom prst="rect">
            <a:avLst/>
          </a:prstGeom>
          <a:solidFill>
            <a:srgbClr val="F2DBCE"/>
          </a:solidFill>
          <a:ln w="12700">
            <a:solidFill>
              <a:srgbClr val="FFFFFF">
                <a:alpha val="0"/>
              </a:srgbClr>
            </a:solidFill>
            <a:prstDash val="solid"/>
          </a:ln>
        </p:spPr>
      </p:sp>
      <p:sp>
        <p:nvSpPr>
          <p:cNvPr id="31" name="Text 28"/>
          <p:cNvSpPr txBox="1"/>
          <p:nvPr/>
        </p:nvSpPr>
        <p:spPr>
          <a:xfrm>
            <a:off x="857707" y="5084064"/>
            <a:ext cx="1600200" cy="781812"/>
          </a:xfrm>
          <a:prstGeom prst="rect">
            <a:avLst/>
          </a:prstGeom>
          <a:noFill/>
          <a:ln/>
        </p:spPr>
        <p:txBody>
          <a:bodyPr wrap="none" lIns="0" tIns="0" rIns="0" bIns="0" rtlCol="0" anchor="ctr"/>
          <a:lstStyle/>
          <a:p>
            <a:pPr algn="l" indent="0" marL="0">
              <a:buNone/>
            </a:pPr>
            <a:r>
              <a:rPr lang="en-US" sz="1800" b="1" dirty="0">
                <a:solidFill>
                  <a:srgbClr val="B75230"/>
                </a:solidFill>
                <a:latin typeface="IBM Plex Mono" pitchFamily="34" charset="0"/>
                <a:ea typeface="IBM Plex Mono" pitchFamily="34" charset="-122"/>
                <a:cs typeface="IBM Plex Mono" pitchFamily="34" charset="-120"/>
              </a:rPr>
              <a:t>W03</a:t>
            </a:r>
            <a:endParaRPr lang="en-US" sz="1800" dirty="0"/>
          </a:p>
        </p:txBody>
      </p:sp>
      <p:sp>
        <p:nvSpPr>
          <p:cNvPr id="32" name="Text 29"/>
          <p:cNvSpPr txBox="1"/>
          <p:nvPr/>
        </p:nvSpPr>
        <p:spPr>
          <a:xfrm>
            <a:off x="3594506" y="5084064"/>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PVD TaN / Ta</a:t>
            </a:r>
            <a:endParaRPr lang="en-US" sz="1200" dirty="0"/>
          </a:p>
        </p:txBody>
      </p:sp>
      <p:sp>
        <p:nvSpPr>
          <p:cNvPr id="33" name="Text 30"/>
          <p:cNvSpPr txBox="1"/>
          <p:nvPr/>
        </p:nvSpPr>
        <p:spPr>
          <a:xfrm>
            <a:off x="5157216" y="5084064"/>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314</a:t>
            </a:r>
            <a:endParaRPr lang="en-US" sz="1950" dirty="0"/>
          </a:p>
        </p:txBody>
      </p:sp>
      <p:sp>
        <p:nvSpPr>
          <p:cNvPr id="34" name="Text 31"/>
          <p:cNvSpPr txBox="1"/>
          <p:nvPr/>
        </p:nvSpPr>
        <p:spPr>
          <a:xfrm>
            <a:off x="7824521" y="5084064"/>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5.7</a:t>
            </a:r>
            <a:endParaRPr lang="en-US" sz="1950" dirty="0"/>
          </a:p>
        </p:txBody>
      </p:sp>
      <p:sp>
        <p:nvSpPr>
          <p:cNvPr id="35" name="Text 32"/>
          <p:cNvSpPr txBox="1"/>
          <p:nvPr/>
        </p:nvSpPr>
        <p:spPr>
          <a:xfrm>
            <a:off x="10491826" y="5084064"/>
            <a:ext cx="2714854"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0.79×</a:t>
            </a:r>
            <a:endParaRPr lang="en-US" sz="1950" dirty="0"/>
          </a:p>
        </p:txBody>
      </p:sp>
      <p:sp>
        <p:nvSpPr>
          <p:cNvPr id="36" name="Text 33"/>
          <p:cNvSpPr txBox="1"/>
          <p:nvPr/>
        </p:nvSpPr>
        <p:spPr>
          <a:xfrm>
            <a:off x="13200278" y="5084064"/>
            <a:ext cx="4239158"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7.5</a:t>
            </a:r>
            <a:endParaRPr lang="en-US" sz="1950" dirty="0"/>
          </a:p>
        </p:txBody>
      </p:sp>
      <p:sp>
        <p:nvSpPr>
          <p:cNvPr id="37" name="Shape 34"/>
          <p:cNvSpPr/>
          <p:nvPr/>
        </p:nvSpPr>
        <p:spPr>
          <a:xfrm>
            <a:off x="857707" y="5865876"/>
            <a:ext cx="16573500" cy="780898"/>
          </a:xfrm>
          <a:prstGeom prst="rect">
            <a:avLst/>
          </a:prstGeom>
          <a:solidFill>
            <a:srgbClr val="E8CCB4"/>
          </a:solidFill>
          <a:ln w="12700">
            <a:solidFill>
              <a:srgbClr val="FFFFFF">
                <a:alpha val="0"/>
              </a:srgbClr>
            </a:solidFill>
            <a:prstDash val="solid"/>
          </a:ln>
        </p:spPr>
      </p:sp>
      <p:sp>
        <p:nvSpPr>
          <p:cNvPr id="38" name="Text 35"/>
          <p:cNvSpPr txBox="1"/>
          <p:nvPr/>
        </p:nvSpPr>
        <p:spPr>
          <a:xfrm>
            <a:off x="857707" y="5865876"/>
            <a:ext cx="1600200" cy="781812"/>
          </a:xfrm>
          <a:prstGeom prst="rect">
            <a:avLst/>
          </a:prstGeom>
          <a:noFill/>
          <a:ln/>
        </p:spPr>
        <p:txBody>
          <a:bodyPr wrap="none" lIns="0" tIns="0" rIns="0" bIns="0" rtlCol="0" anchor="ctr"/>
          <a:lstStyle/>
          <a:p>
            <a:pPr algn="l" indent="0" marL="0">
              <a:buNone/>
            </a:pPr>
            <a:r>
              <a:rPr lang="en-US" sz="1800" b="1" dirty="0">
                <a:solidFill>
                  <a:srgbClr val="B75230"/>
                </a:solidFill>
                <a:latin typeface="IBM Plex Mono" pitchFamily="34" charset="0"/>
                <a:ea typeface="IBM Plex Mono" pitchFamily="34" charset="-122"/>
                <a:cs typeface="IBM Plex Mono" pitchFamily="34" charset="-120"/>
              </a:rPr>
              <a:t>W04</a:t>
            </a:r>
            <a:endParaRPr lang="en-US" sz="1800" dirty="0"/>
          </a:p>
        </p:txBody>
      </p:sp>
      <p:sp>
        <p:nvSpPr>
          <p:cNvPr id="39" name="Text 36"/>
          <p:cNvSpPr txBox="1"/>
          <p:nvPr/>
        </p:nvSpPr>
        <p:spPr>
          <a:xfrm>
            <a:off x="3594506" y="5865876"/>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PVD TaN / Ta</a:t>
            </a:r>
            <a:endParaRPr lang="en-US" sz="1200" dirty="0"/>
          </a:p>
        </p:txBody>
      </p:sp>
      <p:sp>
        <p:nvSpPr>
          <p:cNvPr id="40" name="Text 37"/>
          <p:cNvSpPr txBox="1"/>
          <p:nvPr/>
        </p:nvSpPr>
        <p:spPr>
          <a:xfrm>
            <a:off x="5157216" y="5865876"/>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309</a:t>
            </a:r>
            <a:endParaRPr lang="en-US" sz="1950" dirty="0"/>
          </a:p>
        </p:txBody>
      </p:sp>
      <p:sp>
        <p:nvSpPr>
          <p:cNvPr id="41" name="Text 38"/>
          <p:cNvSpPr txBox="1"/>
          <p:nvPr/>
        </p:nvSpPr>
        <p:spPr>
          <a:xfrm>
            <a:off x="7824521" y="5865876"/>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5.9</a:t>
            </a:r>
            <a:endParaRPr lang="en-US" sz="1950" dirty="0"/>
          </a:p>
        </p:txBody>
      </p:sp>
      <p:sp>
        <p:nvSpPr>
          <p:cNvPr id="42" name="Text 39"/>
          <p:cNvSpPr txBox="1"/>
          <p:nvPr/>
        </p:nvSpPr>
        <p:spPr>
          <a:xfrm>
            <a:off x="10491826" y="5865876"/>
            <a:ext cx="2714854"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0.77×</a:t>
            </a:r>
            <a:endParaRPr lang="en-US" sz="1950" dirty="0"/>
          </a:p>
        </p:txBody>
      </p:sp>
      <p:sp>
        <p:nvSpPr>
          <p:cNvPr id="43" name="Text 40"/>
          <p:cNvSpPr txBox="1"/>
          <p:nvPr/>
        </p:nvSpPr>
        <p:spPr>
          <a:xfrm>
            <a:off x="13200278" y="5865876"/>
            <a:ext cx="4239158" cy="781812"/>
          </a:xfrm>
          <a:prstGeom prst="rect">
            <a:avLst/>
          </a:prstGeom>
          <a:noFill/>
          <a:ln/>
        </p:spPr>
        <p:txBody>
          <a:bodyPr wrap="none" lIns="0" tIns="0" rIns="0" bIns="0" rtlCol="0" anchor="ctr"/>
          <a:lstStyle/>
          <a:p>
            <a:pPr algn="r" indent="0" marL="0">
              <a:buNone/>
            </a:pPr>
            <a:r>
              <a:rPr lang="en-US" sz="1950" b="1" dirty="0">
                <a:solidFill>
                  <a:srgbClr val="C8862B"/>
                </a:solidFill>
                <a:latin typeface="IBM Plex Mono" pitchFamily="34" charset="0"/>
                <a:ea typeface="IBM Plex Mono" pitchFamily="34" charset="-122"/>
                <a:cs typeface="IBM Plex Mono" pitchFamily="34" charset="-120"/>
              </a:rPr>
              <a:t>7.3</a:t>
            </a:r>
            <a:endParaRPr lang="en-US" sz="1950" dirty="0"/>
          </a:p>
        </p:txBody>
      </p:sp>
      <p:sp>
        <p:nvSpPr>
          <p:cNvPr id="44" name="Shape 41"/>
          <p:cNvSpPr/>
          <p:nvPr/>
        </p:nvSpPr>
        <p:spPr>
          <a:xfrm>
            <a:off x="857707" y="6646774"/>
            <a:ext cx="16573500" cy="599846"/>
          </a:xfrm>
          <a:prstGeom prst="rect">
            <a:avLst/>
          </a:prstGeom>
          <a:solidFill>
            <a:srgbClr val="15202C"/>
          </a:solidFill>
          <a:ln w="12700">
            <a:solidFill>
              <a:srgbClr val="FFFFFF">
                <a:alpha val="0"/>
              </a:srgbClr>
            </a:solidFill>
            <a:prstDash val="solid"/>
          </a:ln>
        </p:spPr>
      </p:sp>
      <p:sp>
        <p:nvSpPr>
          <p:cNvPr id="45" name="Text 42"/>
          <p:cNvSpPr txBox="1"/>
          <p:nvPr/>
        </p:nvSpPr>
        <p:spPr>
          <a:xfrm>
            <a:off x="857707" y="6646774"/>
            <a:ext cx="1600200" cy="600761"/>
          </a:xfrm>
          <a:prstGeom prst="rect">
            <a:avLst/>
          </a:prstGeom>
          <a:noFill/>
          <a:ln/>
        </p:spPr>
        <p:txBody>
          <a:bodyPr wrap="square" lIns="0" tIns="0" rIns="0" bIns="0" rtlCol="0" anchor="ctr"/>
          <a:lstStyle/>
          <a:p>
            <a:pPr algn="l" indent="0" marL="0">
              <a:buNone/>
            </a:pPr>
            <a:r>
              <a:rPr lang="en-US" sz="975" spc="176" kern="0" dirty="0">
                <a:solidFill>
                  <a:srgbClr val="C8A961"/>
                </a:solidFill>
                <a:latin typeface="IBM Plex Mono" pitchFamily="34" charset="0"/>
                <a:ea typeface="IBM Plex Mono" pitchFamily="34" charset="-122"/>
                <a:cs typeface="IBM Plex Mono" pitchFamily="34" charset="-120"/>
              </a:rPr>
              <a:t>SPEC</a:t>
            </a:r>
            <a:endParaRPr lang="en-US" sz="975" dirty="0"/>
          </a:p>
        </p:txBody>
      </p:sp>
      <p:sp>
        <p:nvSpPr>
          <p:cNvPr id="46" name="Text 43"/>
          <p:cNvSpPr txBox="1"/>
          <p:nvPr/>
        </p:nvSpPr>
        <p:spPr>
          <a:xfrm>
            <a:off x="2454250" y="6646774"/>
            <a:ext cx="2705710" cy="600761"/>
          </a:xfrm>
          <a:prstGeom prst="rect">
            <a:avLst/>
          </a:prstGeom>
          <a:noFill/>
          <a:ln/>
        </p:spPr>
        <p:txBody>
          <a:bodyPr wrap="square" lIns="0" tIns="0" rIns="0" bIns="0" rtlCol="0" anchor="ctr"/>
          <a:lstStyle/>
          <a:p>
            <a:pPr algn="l" indent="0" marL="0">
              <a:buNone/>
            </a:pPr>
            <a:r>
              <a:rPr lang="en-US" sz="1050" dirty="0">
                <a:solidFill>
                  <a:srgbClr val="9CA8B5"/>
                </a:solidFill>
                <a:latin typeface="Noto Sans KR" pitchFamily="34" charset="0"/>
                <a:ea typeface="Noto Sans KR" pitchFamily="34" charset="-122"/>
                <a:cs typeface="Noto Sans KR" pitchFamily="34" charset="-120"/>
              </a:rPr>
              <a:t>internal target</a:t>
            </a:r>
            <a:endParaRPr lang="en-US" sz="1050" dirty="0"/>
          </a:p>
        </p:txBody>
      </p:sp>
      <p:sp>
        <p:nvSpPr>
          <p:cNvPr id="47" name="Text 44"/>
          <p:cNvSpPr txBox="1"/>
          <p:nvPr/>
        </p:nvSpPr>
        <p:spPr>
          <a:xfrm>
            <a:off x="5157216" y="6646774"/>
            <a:ext cx="2677363"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&lt; 300</a:t>
            </a:r>
            <a:endParaRPr lang="en-US" sz="1500" dirty="0"/>
          </a:p>
        </p:txBody>
      </p:sp>
      <p:sp>
        <p:nvSpPr>
          <p:cNvPr id="48" name="Text 45"/>
          <p:cNvSpPr txBox="1"/>
          <p:nvPr/>
        </p:nvSpPr>
        <p:spPr>
          <a:xfrm>
            <a:off x="7824521" y="6646774"/>
            <a:ext cx="2677363"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&lt; 5.0</a:t>
            </a:r>
            <a:endParaRPr lang="en-US" sz="1500" dirty="0"/>
          </a:p>
        </p:txBody>
      </p:sp>
      <p:sp>
        <p:nvSpPr>
          <p:cNvPr id="49" name="Text 46"/>
          <p:cNvSpPr txBox="1"/>
          <p:nvPr/>
        </p:nvSpPr>
        <p:spPr>
          <a:xfrm>
            <a:off x="10491826" y="6646774"/>
            <a:ext cx="2714854"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 0.85×</a:t>
            </a:r>
            <a:endParaRPr lang="en-US" sz="1500" dirty="0"/>
          </a:p>
        </p:txBody>
      </p:sp>
      <p:sp>
        <p:nvSpPr>
          <p:cNvPr id="50" name="Text 47"/>
          <p:cNvSpPr txBox="1"/>
          <p:nvPr/>
        </p:nvSpPr>
        <p:spPr>
          <a:xfrm>
            <a:off x="13200278" y="6646774"/>
            <a:ext cx="4239158"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 8.0</a:t>
            </a:r>
            <a:endParaRPr lang="en-US" sz="1500" dirty="0"/>
          </a:p>
        </p:txBody>
      </p:sp>
      <p:sp>
        <p:nvSpPr>
          <p:cNvPr id="51" name="Text 48"/>
          <p:cNvSpPr txBox="1"/>
          <p:nvPr/>
        </p:nvSpPr>
        <p:spPr>
          <a:xfrm>
            <a:off x="2557577" y="3774643"/>
            <a:ext cx="975665" cy="277063"/>
          </a:xfrm>
          <a:prstGeom prst="rect">
            <a:avLst/>
          </a:prstGeom>
          <a:solidFill>
            <a:srgbClr val="1F6F7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52" name="Text 49"/>
          <p:cNvSpPr txBox="1"/>
          <p:nvPr/>
        </p:nvSpPr>
        <p:spPr>
          <a:xfrm>
            <a:off x="2557577" y="4555541"/>
            <a:ext cx="975665" cy="277063"/>
          </a:xfrm>
          <a:prstGeom prst="rect">
            <a:avLst/>
          </a:prstGeom>
          <a:solidFill>
            <a:srgbClr val="1F6F7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53" name="Text 50"/>
          <p:cNvSpPr txBox="1"/>
          <p:nvPr/>
        </p:nvSpPr>
        <p:spPr>
          <a:xfrm>
            <a:off x="2557577" y="5336438"/>
            <a:ext cx="975665" cy="277063"/>
          </a:xfrm>
          <a:prstGeom prst="rect">
            <a:avLst/>
          </a:prstGeom>
          <a:solidFill>
            <a:srgbClr val="B7523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54" name="Text 51"/>
          <p:cNvSpPr txBox="1"/>
          <p:nvPr/>
        </p:nvSpPr>
        <p:spPr>
          <a:xfrm>
            <a:off x="2557577" y="6118250"/>
            <a:ext cx="975665" cy="277063"/>
          </a:xfrm>
          <a:prstGeom prst="rect">
            <a:avLst/>
          </a:prstGeom>
          <a:solidFill>
            <a:srgbClr val="B7523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55" name="Shape 52"/>
          <p:cNvSpPr/>
          <p:nvPr/>
        </p:nvSpPr>
        <p:spPr>
          <a:xfrm>
            <a:off x="857707" y="7524598"/>
            <a:ext cx="57607" cy="190195"/>
          </a:xfrm>
          <a:prstGeom prst="rect">
            <a:avLst/>
          </a:prstGeom>
          <a:solidFill>
            <a:srgbClr val="15202C"/>
          </a:solidFill>
          <a:ln w="12700">
            <a:solidFill>
              <a:srgbClr val="FFFFFF">
                <a:alpha val="0"/>
              </a:srgbClr>
            </a:solidFill>
            <a:prstDash val="solid"/>
          </a:ln>
        </p:spPr>
      </p:sp>
      <p:sp>
        <p:nvSpPr>
          <p:cNvPr id="56" name="Text 53"/>
          <p:cNvSpPr txBox="1"/>
          <p:nvPr/>
        </p:nvSpPr>
        <p:spPr>
          <a:xfrm>
            <a:off x="1028700" y="7529170"/>
            <a:ext cx="428854" cy="181051"/>
          </a:xfrm>
          <a:prstGeom prst="rect">
            <a:avLst/>
          </a:prstGeom>
          <a:noFill/>
          <a:ln/>
        </p:spPr>
        <p:txBody>
          <a:bodyPr wrap="none" lIns="0" tIns="0" rIns="0" bIns="0" rtlCol="0" anchor="ctr"/>
          <a:lstStyle/>
          <a:p>
            <a:pPr algn="l" indent="0" marL="0">
              <a:buNone/>
            </a:pPr>
            <a:r>
              <a:rPr lang="en-US" sz="975" b="1" spc="176" kern="0" dirty="0">
                <a:solidFill>
                  <a:srgbClr val="15202C"/>
                </a:solidFill>
                <a:latin typeface="Noto Sans KR" pitchFamily="34" charset="0"/>
                <a:ea typeface="Noto Sans KR" pitchFamily="34" charset="-122"/>
                <a:cs typeface="Noto Sans KR" pitchFamily="34" charset="-120"/>
              </a:rPr>
              <a:t>Note</a:t>
            </a:r>
            <a:endParaRPr lang="en-US" sz="975" dirty="0"/>
          </a:p>
        </p:txBody>
      </p:sp>
      <p:sp>
        <p:nvSpPr>
          <p:cNvPr id="57" name="Text 54"/>
          <p:cNvSpPr txBox="1"/>
          <p:nvPr/>
        </p:nvSpPr>
        <p:spPr>
          <a:xfrm>
            <a:off x="857707" y="7815377"/>
            <a:ext cx="9906610" cy="966521"/>
          </a:xfrm>
          <a:prstGeom prst="rect">
            <a:avLst/>
          </a:prstGeom>
          <a:noFill/>
          <a:ln/>
        </p:spPr>
        <p:txBody>
          <a:bodyPr wrap="square" lIns="0" tIns="0" rIns="0" bIns="0" rtlCol="0" anchor="t"/>
          <a:lstStyle/>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Line R은 28 nm 피치 narrow line 실효 저항, Via R은 M1 → M2 단일 via contact에서 측정.</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EM MTTF는 use-condition package-level로 보정해 임의 baseline에 대해 normalized한 값, 1.0× 이상 권장.</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TDDB V</a:t>
            </a:r>
            <a:pPr algn="l" indent="0" marL="0">
              <a:lnSpc>
                <a:spcPts val="1785"/>
              </a:lnSpc>
              <a:buNone/>
            </a:pPr>
            <a:r>
              <a:rPr lang="en-US" sz="875" dirty="0">
                <a:solidFill>
                  <a:srgbClr val="4A5563"/>
                </a:solidFill>
                <a:latin typeface="Noto Sans KR" pitchFamily="34" charset="0"/>
                <a:ea typeface="Noto Sans KR" pitchFamily="34" charset="-122"/>
                <a:cs typeface="Noto Sans KR" pitchFamily="34" charset="-120"/>
              </a:rPr>
              <a:t>bd</a:t>
            </a:r>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는 SiCOH ULK에 대해 63.2% 누적 실패에서 추출한 breakdown field.</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spec row는 internal sample용 target으로 prod rule과 무관.</a:t>
            </a:r>
            <a:endParaRPr lang="en-US" sz="1050" dirty="0"/>
          </a:p>
        </p:txBody>
      </p:sp>
      <p:sp>
        <p:nvSpPr>
          <p:cNvPr id="58" name="Shape 55"/>
          <p:cNvSpPr/>
          <p:nvPr/>
        </p:nvSpPr>
        <p:spPr>
          <a:xfrm>
            <a:off x="11410798" y="7729423"/>
            <a:ext cx="114300" cy="114300"/>
          </a:xfrm>
          <a:prstGeom prst="rect">
            <a:avLst/>
          </a:prstGeom>
          <a:solidFill>
            <a:srgbClr val="1F6F70"/>
          </a:solidFill>
          <a:ln w="12700">
            <a:solidFill>
              <a:srgbClr val="FFFFFF">
                <a:alpha val="0"/>
              </a:srgbClr>
            </a:solidFill>
            <a:prstDash val="solid"/>
          </a:ln>
        </p:spPr>
      </p:sp>
      <p:sp>
        <p:nvSpPr>
          <p:cNvPr id="59" name="Text 56"/>
          <p:cNvSpPr txBox="1"/>
          <p:nvPr/>
        </p:nvSpPr>
        <p:spPr>
          <a:xfrm>
            <a:off x="11620195" y="7715707"/>
            <a:ext cx="1047902" cy="143561"/>
          </a:xfrm>
          <a:prstGeom prst="rect">
            <a:avLst/>
          </a:prstGeom>
          <a:noFill/>
          <a:ln/>
        </p:spPr>
        <p:txBody>
          <a:bodyPr wrap="none" lIns="0" tIns="0" rIns="0" bIns="0" rtlCol="0" anchor="ctr"/>
          <a:lstStyle/>
          <a:p>
            <a:pPr algn="l" indent="0" marL="0">
              <a:buNone/>
            </a:pPr>
            <a:r>
              <a:rPr lang="en-US" sz="900" spc="90" kern="0" dirty="0">
                <a:solidFill>
                  <a:srgbClr val="15202C"/>
                </a:solidFill>
                <a:latin typeface="IBM Plex Mono" pitchFamily="34" charset="0"/>
                <a:ea typeface="IBM Plex Mono" pitchFamily="34" charset="-122"/>
                <a:cs typeface="IBM Plex Mono" pitchFamily="34" charset="-120"/>
              </a:rPr>
              <a:t>SPLIT A · ALD</a:t>
            </a:r>
            <a:endParaRPr lang="en-US" sz="900" dirty="0"/>
          </a:p>
        </p:txBody>
      </p:sp>
      <p:sp>
        <p:nvSpPr>
          <p:cNvPr id="60" name="Shape 57"/>
          <p:cNvSpPr/>
          <p:nvPr/>
        </p:nvSpPr>
        <p:spPr>
          <a:xfrm>
            <a:off x="12831775" y="7729423"/>
            <a:ext cx="114300" cy="114300"/>
          </a:xfrm>
          <a:prstGeom prst="rect">
            <a:avLst/>
          </a:prstGeom>
          <a:solidFill>
            <a:srgbClr val="B75230"/>
          </a:solidFill>
          <a:ln w="12700">
            <a:solidFill>
              <a:srgbClr val="FFFFFF">
                <a:alpha val="0"/>
              </a:srgbClr>
            </a:solidFill>
            <a:prstDash val="solid"/>
          </a:ln>
        </p:spPr>
      </p:sp>
      <p:sp>
        <p:nvSpPr>
          <p:cNvPr id="61" name="Text 58"/>
          <p:cNvSpPr txBox="1"/>
          <p:nvPr/>
        </p:nvSpPr>
        <p:spPr>
          <a:xfrm>
            <a:off x="13042087" y="7715707"/>
            <a:ext cx="1047902" cy="143561"/>
          </a:xfrm>
          <a:prstGeom prst="rect">
            <a:avLst/>
          </a:prstGeom>
          <a:noFill/>
          <a:ln/>
        </p:spPr>
        <p:txBody>
          <a:bodyPr wrap="none" lIns="0" tIns="0" rIns="0" bIns="0" rtlCol="0" anchor="ctr"/>
          <a:lstStyle/>
          <a:p>
            <a:pPr algn="l" indent="0" marL="0">
              <a:buNone/>
            </a:pPr>
            <a:r>
              <a:rPr lang="en-US" sz="900" spc="90" kern="0" dirty="0">
                <a:solidFill>
                  <a:srgbClr val="15202C"/>
                </a:solidFill>
                <a:latin typeface="IBM Plex Mono" pitchFamily="34" charset="0"/>
                <a:ea typeface="IBM Plex Mono" pitchFamily="34" charset="-122"/>
                <a:cs typeface="IBM Plex Mono" pitchFamily="34" charset="-120"/>
              </a:rPr>
              <a:t>SPLIT B · PVD</a:t>
            </a:r>
            <a:endParaRPr lang="en-US" sz="900" dirty="0"/>
          </a:p>
        </p:txBody>
      </p:sp>
      <p:sp>
        <p:nvSpPr>
          <p:cNvPr id="62" name="Text 59"/>
          <p:cNvSpPr txBox="1"/>
          <p:nvPr/>
        </p:nvSpPr>
        <p:spPr>
          <a:xfrm>
            <a:off x="11410798" y="7991856"/>
            <a:ext cx="2724912" cy="133502"/>
          </a:xfrm>
          <a:prstGeom prst="rect">
            <a:avLst/>
          </a:prstGeom>
          <a:noFill/>
          <a:ln/>
        </p:spPr>
        <p:txBody>
          <a:bodyPr wrap="none" lIns="0" tIns="0" rIns="0" bIns="0" rtlCol="0" anchor="ctr"/>
          <a:lstStyle/>
          <a:p>
            <a:pPr algn="l" indent="0" marL="0">
              <a:buNone/>
            </a:pPr>
            <a:r>
              <a:rPr lang="en-US" sz="825" dirty="0">
                <a:solidFill>
                  <a:srgbClr val="8A8473"/>
                </a:solidFill>
                <a:latin typeface="IBM Plex Mono" pitchFamily="34" charset="0"/>
                <a:ea typeface="IBM Plex Mono" pitchFamily="34" charset="-122"/>
                <a:cs typeface="IBM Plex Mono" pitchFamily="34" charset="-120"/>
              </a:rPr>
              <a:t>SPLIT A mean</a:t>
            </a:r>
            <a:endParaRPr lang="en-US" sz="825" dirty="0"/>
          </a:p>
        </p:txBody>
      </p:sp>
      <p:sp>
        <p:nvSpPr>
          <p:cNvPr id="63" name="Text 60"/>
          <p:cNvSpPr txBox="1"/>
          <p:nvPr/>
        </p:nvSpPr>
        <p:spPr>
          <a:xfrm>
            <a:off x="11410798" y="8182051"/>
            <a:ext cx="866851" cy="257861"/>
          </a:xfrm>
          <a:prstGeom prst="rect">
            <a:avLst/>
          </a:prstGeom>
          <a:noFill/>
          <a:ln/>
        </p:spPr>
        <p:txBody>
          <a:bodyPr wrap="square" lIns="0" tIns="0" rIns="0" bIns="0" rtlCol="0" anchor="ctr"/>
          <a:lstStyle/>
          <a:p>
            <a:pPr algn="l" indent="0" marL="0">
              <a:buNone/>
            </a:pPr>
            <a:r>
              <a:rPr lang="en-US" sz="1500" b="1" dirty="0">
                <a:solidFill>
                  <a:srgbClr val="1F6F70"/>
                </a:solidFill>
                <a:latin typeface="IBM Plex Mono" pitchFamily="34" charset="0"/>
                <a:ea typeface="IBM Plex Mono" pitchFamily="34" charset="-122"/>
                <a:cs typeface="IBM Plex Mono" pitchFamily="34" charset="-120"/>
              </a:rPr>
              <a:t>284.5</a:t>
            </a:r>
            <a:pPr algn="l" indent="0" marL="0">
              <a:buNone/>
            </a:pPr>
            <a:r>
              <a:rPr lang="en-US" sz="825" dirty="0">
                <a:solidFill>
                  <a:srgbClr val="8A8473"/>
                </a:solidFill>
                <a:latin typeface="IBM Plex Mono" pitchFamily="34" charset="0"/>
                <a:ea typeface="IBM Plex Mono" pitchFamily="34" charset="-122"/>
                <a:cs typeface="IBM Plex Mono" pitchFamily="34" charset="-120"/>
              </a:rPr>
              <a:t>Ω/μm</a:t>
            </a:r>
            <a:endParaRPr lang="en-US" sz="1200" dirty="0"/>
          </a:p>
        </p:txBody>
      </p:sp>
      <p:sp>
        <p:nvSpPr>
          <p:cNvPr id="64" name="Text 61"/>
          <p:cNvSpPr txBox="1"/>
          <p:nvPr/>
        </p:nvSpPr>
        <p:spPr>
          <a:xfrm>
            <a:off x="12405665" y="8182051"/>
            <a:ext cx="819302" cy="257861"/>
          </a:xfrm>
          <a:prstGeom prst="rect">
            <a:avLst/>
          </a:prstGeom>
          <a:noFill/>
          <a:ln/>
        </p:spPr>
        <p:txBody>
          <a:bodyPr wrap="square" lIns="0" tIns="0" rIns="0" bIns="0" rtlCol="0" anchor="ctr"/>
          <a:lstStyle/>
          <a:p>
            <a:pPr algn="l" indent="0" marL="0">
              <a:buNone/>
            </a:pPr>
            <a:r>
              <a:rPr lang="en-US" sz="1500" b="1" dirty="0">
                <a:solidFill>
                  <a:srgbClr val="1F6F70"/>
                </a:solidFill>
                <a:latin typeface="IBM Plex Mono" pitchFamily="34" charset="0"/>
                <a:ea typeface="IBM Plex Mono" pitchFamily="34" charset="-122"/>
                <a:cs typeface="IBM Plex Mono" pitchFamily="34" charset="-120"/>
              </a:rPr>
              <a:t>4.20</a:t>
            </a:r>
            <a:pPr algn="l" indent="0" marL="0">
              <a:buNone/>
            </a:pPr>
            <a:r>
              <a:rPr lang="en-US" sz="825" dirty="0">
                <a:solidFill>
                  <a:srgbClr val="8A8473"/>
                </a:solidFill>
                <a:latin typeface="IBM Plex Mono" pitchFamily="34" charset="0"/>
                <a:ea typeface="IBM Plex Mono" pitchFamily="34" charset="-122"/>
                <a:cs typeface="IBM Plex Mono" pitchFamily="34" charset="-120"/>
              </a:rPr>
              <a:t>Ω/via</a:t>
            </a:r>
            <a:endParaRPr lang="en-US" sz="1200" dirty="0"/>
          </a:p>
        </p:txBody>
      </p:sp>
      <p:sp>
        <p:nvSpPr>
          <p:cNvPr id="65" name="Text 62"/>
          <p:cNvSpPr txBox="1"/>
          <p:nvPr/>
        </p:nvSpPr>
        <p:spPr>
          <a:xfrm>
            <a:off x="14440205" y="7991856"/>
            <a:ext cx="2724912" cy="133502"/>
          </a:xfrm>
          <a:prstGeom prst="rect">
            <a:avLst/>
          </a:prstGeom>
          <a:noFill/>
          <a:ln/>
        </p:spPr>
        <p:txBody>
          <a:bodyPr wrap="none" lIns="0" tIns="0" rIns="0" bIns="0" rtlCol="0" anchor="ctr"/>
          <a:lstStyle/>
          <a:p>
            <a:pPr algn="l" indent="0" marL="0">
              <a:buNone/>
            </a:pPr>
            <a:r>
              <a:rPr lang="en-US" sz="825" dirty="0">
                <a:solidFill>
                  <a:srgbClr val="8A8473"/>
                </a:solidFill>
                <a:latin typeface="IBM Plex Mono" pitchFamily="34" charset="0"/>
                <a:ea typeface="IBM Plex Mono" pitchFamily="34" charset="-122"/>
                <a:cs typeface="IBM Plex Mono" pitchFamily="34" charset="-120"/>
              </a:rPr>
              <a:t>SPLIT B mean</a:t>
            </a:r>
            <a:endParaRPr lang="en-US" sz="825" dirty="0"/>
          </a:p>
        </p:txBody>
      </p:sp>
      <p:sp>
        <p:nvSpPr>
          <p:cNvPr id="66" name="Text 63"/>
          <p:cNvSpPr txBox="1"/>
          <p:nvPr/>
        </p:nvSpPr>
        <p:spPr>
          <a:xfrm>
            <a:off x="14440205" y="8182051"/>
            <a:ext cx="866851" cy="257861"/>
          </a:xfrm>
          <a:prstGeom prst="rect">
            <a:avLst/>
          </a:prstGeom>
          <a:noFill/>
          <a:ln/>
        </p:spPr>
        <p:txBody>
          <a:bodyPr wrap="square" lIns="0" tIns="0" rIns="0" bIns="0" rtlCol="0" anchor="ctr"/>
          <a:lstStyle/>
          <a:p>
            <a:pPr algn="l" indent="0" marL="0">
              <a:buNone/>
            </a:pPr>
            <a:r>
              <a:rPr lang="en-US" sz="1500" b="1" dirty="0">
                <a:solidFill>
                  <a:srgbClr val="B75230"/>
                </a:solidFill>
                <a:latin typeface="IBM Plex Mono" pitchFamily="34" charset="0"/>
                <a:ea typeface="IBM Plex Mono" pitchFamily="34" charset="-122"/>
                <a:cs typeface="IBM Plex Mono" pitchFamily="34" charset="-120"/>
              </a:rPr>
              <a:t>311.5</a:t>
            </a:r>
            <a:pPr algn="l" indent="0" marL="0">
              <a:buNone/>
            </a:pPr>
            <a:r>
              <a:rPr lang="en-US" sz="825" dirty="0">
                <a:solidFill>
                  <a:srgbClr val="8A8473"/>
                </a:solidFill>
                <a:latin typeface="IBM Plex Mono" pitchFamily="34" charset="0"/>
                <a:ea typeface="IBM Plex Mono" pitchFamily="34" charset="-122"/>
                <a:cs typeface="IBM Plex Mono" pitchFamily="34" charset="-120"/>
              </a:rPr>
              <a:t>Ω/μm</a:t>
            </a:r>
            <a:endParaRPr lang="en-US" sz="1200" dirty="0"/>
          </a:p>
        </p:txBody>
      </p:sp>
      <p:sp>
        <p:nvSpPr>
          <p:cNvPr id="67" name="Text 64"/>
          <p:cNvSpPr txBox="1"/>
          <p:nvPr/>
        </p:nvSpPr>
        <p:spPr>
          <a:xfrm>
            <a:off x="15435072" y="8182051"/>
            <a:ext cx="819302" cy="257861"/>
          </a:xfrm>
          <a:prstGeom prst="rect">
            <a:avLst/>
          </a:prstGeom>
          <a:noFill/>
          <a:ln/>
        </p:spPr>
        <p:txBody>
          <a:bodyPr wrap="square" lIns="0" tIns="0" rIns="0" bIns="0" rtlCol="0" anchor="ctr"/>
          <a:lstStyle/>
          <a:p>
            <a:pPr algn="l" indent="0" marL="0">
              <a:buNone/>
            </a:pPr>
            <a:r>
              <a:rPr lang="en-US" sz="1500" b="1" dirty="0">
                <a:solidFill>
                  <a:srgbClr val="B75230"/>
                </a:solidFill>
                <a:latin typeface="IBM Plex Mono" pitchFamily="34" charset="0"/>
                <a:ea typeface="IBM Plex Mono" pitchFamily="34" charset="-122"/>
                <a:cs typeface="IBM Plex Mono" pitchFamily="34" charset="-120"/>
              </a:rPr>
              <a:t>5.80</a:t>
            </a:r>
            <a:pPr algn="l" indent="0" marL="0">
              <a:buNone/>
            </a:pPr>
            <a:r>
              <a:rPr lang="en-US" sz="825" dirty="0">
                <a:solidFill>
                  <a:srgbClr val="8A8473"/>
                </a:solidFill>
                <a:latin typeface="IBM Plex Mono" pitchFamily="34" charset="0"/>
                <a:ea typeface="IBM Plex Mono" pitchFamily="34" charset="-122"/>
                <a:cs typeface="IBM Plex Mono" pitchFamily="34" charset="-120"/>
              </a:rPr>
              <a:t>Ω/via</a:t>
            </a:r>
            <a:endParaRPr lang="en-US" sz="1200" dirty="0"/>
          </a:p>
        </p:txBody>
      </p:sp>
      <p:sp>
        <p:nvSpPr>
          <p:cNvPr id="68" name="Text 65"/>
          <p:cNvSpPr txBox="1"/>
          <p:nvPr/>
        </p:nvSpPr>
        <p:spPr>
          <a:xfrm>
            <a:off x="11410798" y="8534095"/>
            <a:ext cx="5753405" cy="171907"/>
          </a:xfrm>
          <a:prstGeom prst="rect">
            <a:avLst/>
          </a:prstGeom>
          <a:noFill/>
          <a:ln/>
        </p:spPr>
        <p:txBody>
          <a:bodyPr wrap="none" lIns="0" tIns="0" rIns="0" bIns="0" rtlCol="0" anchor="ctr"/>
          <a:lstStyle/>
          <a:p>
            <a:pPr algn="l" indent="0" marL="0">
              <a:buNone/>
            </a:pPr>
            <a:r>
              <a:rPr lang="en-US" sz="825" dirty="0">
                <a:solidFill>
                  <a:srgbClr val="6B7480"/>
                </a:solidFill>
                <a:latin typeface="IBM Plex Mono" pitchFamily="34" charset="0"/>
                <a:ea typeface="IBM Plex Mono" pitchFamily="34" charset="-122"/>
                <a:cs typeface="IBM Plex Mono" pitchFamily="34" charset="-120"/>
              </a:rPr>
              <a:t>모든 수치 더미, EM × TDDB 등 unit 표기는 컬럼 헤더에 명시.</a:t>
            </a:r>
            <a:endParaRPr lang="en-US" sz="825" dirty="0"/>
          </a:p>
        </p:txBody>
      </p:sp>
      <p:pic>
        <p:nvPicPr>
          <p:cNvPr id="69" name="Image 0" descr="gen-dedup-927e1b3d142562f2171c6a940580640a.png">    </p:cNvPr>
          <p:cNvPicPr>
            <a:picLocks noChangeAspect="1"/>
          </p:cNvPicPr>
          <p:nvPr/>
        </p:nvPicPr>
        <p:blipFill>
          <a:blip r:embed="rId1"/>
          <a:srcRect l="-2083" r="-2083" t="0" b="0"/>
          <a:stretch/>
        </p:blipFill>
        <p:spPr>
          <a:xfrm>
            <a:off x="857707" y="9715500"/>
            <a:ext cx="16573500" cy="9144"/>
          </a:xfrm>
          <a:prstGeom prst="rect">
            <a:avLst/>
          </a:prstGeom>
        </p:spPr>
      </p:pic>
      <p:sp>
        <p:nvSpPr>
          <p:cNvPr id="70" name="Text 66"/>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8287207" cy="5905195"/>
          </a:xfrm>
          <a:prstGeom prst="rect">
            <a:avLst/>
          </a:prstGeom>
          <a:solidFill>
            <a:srgbClr val="15202C"/>
          </a:solidFill>
          <a:ln w="12700">
            <a:solidFill>
              <a:srgbClr val="FFFFFF">
                <a:alpha val="0"/>
              </a:srgbClr>
            </a:solidFill>
            <a:prstDash val="solid"/>
          </a:ln>
        </p:spPr>
      </p:sp>
      <p:sp>
        <p:nvSpPr>
          <p:cNvPr id="4" name="Shape 1"/>
          <p:cNvSpPr/>
          <p:nvPr/>
        </p:nvSpPr>
        <p:spPr>
          <a:xfrm>
            <a:off x="9525305" y="4114800"/>
            <a:ext cx="7905902" cy="1143000"/>
          </a:xfrm>
          <a:prstGeom prst="rect">
            <a:avLst/>
          </a:prstGeom>
          <a:solidFill>
            <a:srgbClr val="ECE5D1"/>
          </a:solidFill>
          <a:ln w="12700">
            <a:solidFill>
              <a:srgbClr val="FFFFFF">
                <a:alpha val="0"/>
              </a:srgbClr>
            </a:solidFill>
            <a:prstDash val="solid"/>
          </a:ln>
        </p:spPr>
      </p:sp>
      <p:sp>
        <p:nvSpPr>
          <p:cNvPr id="5" name="Shape 2"/>
          <p:cNvSpPr/>
          <p:nvPr/>
        </p:nvSpPr>
        <p:spPr>
          <a:xfrm>
            <a:off x="9525305" y="5447995"/>
            <a:ext cx="7905902" cy="1143000"/>
          </a:xfrm>
          <a:prstGeom prst="rect">
            <a:avLst/>
          </a:prstGeom>
          <a:solidFill>
            <a:srgbClr val="ECE5D1"/>
          </a:solidFill>
          <a:ln w="12700">
            <a:solidFill>
              <a:srgbClr val="FFFFFF">
                <a:alpha val="0"/>
              </a:srgbClr>
            </a:solidFill>
            <a:prstDash val="solid"/>
          </a:ln>
        </p:spPr>
      </p:sp>
      <p:sp>
        <p:nvSpPr>
          <p:cNvPr id="6" name="Shape 3"/>
          <p:cNvSpPr/>
          <p:nvPr/>
        </p:nvSpPr>
        <p:spPr>
          <a:xfrm>
            <a:off x="9525305" y="6782105"/>
            <a:ext cx="7905902" cy="1143000"/>
          </a:xfrm>
          <a:prstGeom prst="rect">
            <a:avLst/>
          </a:prstGeom>
          <a:solidFill>
            <a:srgbClr val="ECE5D1"/>
          </a:solidFill>
          <a:ln w="12700">
            <a:solidFill>
              <a:srgbClr val="FFFFFF">
                <a:alpha val="0"/>
              </a:srgbClr>
            </a:solidFill>
            <a:prstDash val="solid"/>
          </a:ln>
        </p:spPr>
      </p:sp>
      <p:sp>
        <p:nvSpPr>
          <p:cNvPr id="7" name="Shape 4"/>
          <p:cNvSpPr/>
          <p:nvPr/>
        </p:nvSpPr>
        <p:spPr>
          <a:xfrm>
            <a:off x="9525305" y="8115300"/>
            <a:ext cx="7905902" cy="1028700"/>
          </a:xfrm>
          <a:prstGeom prst="rect">
            <a:avLst/>
          </a:prstGeom>
          <a:solidFill>
            <a:srgbClr val="15202C"/>
          </a:solidFill>
          <a:ln w="12700">
            <a:solidFill>
              <a:srgbClr val="FFFFFF">
                <a:alpha val="0"/>
              </a:srgbClr>
            </a:solidFill>
            <a:prstDash val="solid"/>
          </a:ln>
        </p:spPr>
      </p:sp>
      <p:sp>
        <p:nvSpPr>
          <p:cNvPr id="8" name="Shape 5"/>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9" name="Text 6"/>
          <p:cNvSpPr txBox="1"/>
          <p:nvPr/>
        </p:nvSpPr>
        <p:spPr>
          <a:xfrm>
            <a:off x="1067105" y="771754"/>
            <a:ext cx="2606954"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SUMMARY · NEXT STEP</a:t>
            </a:r>
            <a:endParaRPr lang="en-US" sz="1350" dirty="0"/>
          </a:p>
        </p:txBody>
      </p:sp>
      <p:sp>
        <p:nvSpPr>
          <p:cNvPr id="10" name="Text 7"/>
          <p:cNvSpPr txBox="1"/>
          <p:nvPr/>
        </p:nvSpPr>
        <p:spPr>
          <a:xfrm>
            <a:off x="857707" y="1238098"/>
            <a:ext cx="16573500" cy="609905"/>
          </a:xfrm>
          <a:prstGeom prst="rect">
            <a:avLst/>
          </a:prstGeom>
          <a:noFill/>
          <a:ln/>
        </p:spPr>
        <p:txBody>
          <a:bodyPr wrap="none" lIns="0" tIns="0" rIns="0" bIns="0" rtlCol="0" anchor="ctr"/>
          <a:lstStyle/>
          <a:p>
            <a:pPr algn="l" indent="0" marL="0">
              <a:buNone/>
            </a:pPr>
            <a:r>
              <a:rPr lang="en-US" sz="4050" b="1" spc="-40" kern="0" dirty="0">
                <a:solidFill>
                  <a:srgbClr val="15202C"/>
                </a:solidFill>
                <a:latin typeface="Noto Sans KR" pitchFamily="34" charset="0"/>
                <a:ea typeface="Noto Sans KR" pitchFamily="34" charset="-122"/>
                <a:cs typeface="Noto Sans KR" pitchFamily="34" charset="-120"/>
              </a:rPr>
              <a:t>결론 및 next step</a:t>
            </a:r>
            <a:endParaRPr lang="en-US" sz="4050" dirty="0"/>
          </a:p>
        </p:txBody>
      </p:sp>
      <p:sp>
        <p:nvSpPr>
          <p:cNvPr id="11" name="Text 8"/>
          <p:cNvSpPr txBox="1"/>
          <p:nvPr/>
        </p:nvSpPr>
        <p:spPr>
          <a:xfrm>
            <a:off x="857707" y="1978762"/>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본 평가는 사내 테스트 목적의 더미 데이터 기반이며, 결과는 RSBM ALD BM이 기존 PVD baseline 대비 4개 KPI 중 3개에서 spec-in임을 시사합니다.</a:t>
            </a:r>
            <a:endParaRPr lang="en-US" sz="1350" dirty="0"/>
          </a:p>
        </p:txBody>
      </p:sp>
      <p:sp>
        <p:nvSpPr>
          <p:cNvPr id="12" name="Text 9"/>
          <p:cNvSpPr txBox="1"/>
          <p:nvPr/>
        </p:nvSpPr>
        <p:spPr>
          <a:xfrm>
            <a:off x="1238098" y="3562502"/>
            <a:ext cx="7525512" cy="162763"/>
          </a:xfrm>
          <a:prstGeom prst="rect">
            <a:avLst/>
          </a:prstGeom>
          <a:noFill/>
          <a:ln/>
        </p:spPr>
        <p:txBody>
          <a:bodyPr wrap="none" lIns="0" tIns="0" rIns="0" bIns="0" rtlCol="0" anchor="ctr"/>
          <a:lstStyle/>
          <a:p>
            <a:pPr algn="l" indent="0" marL="0">
              <a:buNone/>
            </a:pPr>
            <a:r>
              <a:rPr lang="en-US" sz="975" spc="176" kern="0" dirty="0">
                <a:solidFill>
                  <a:srgbClr val="C8A961"/>
                </a:solidFill>
                <a:latin typeface="IBM Plex Mono" pitchFamily="34" charset="0"/>
                <a:ea typeface="IBM Plex Mono" pitchFamily="34" charset="-122"/>
                <a:cs typeface="IBM Plex Mono" pitchFamily="34" charset="-120"/>
              </a:rPr>
              <a:t>FOUR KEY OBSERVATIONS</a:t>
            </a:r>
            <a:endParaRPr lang="en-US" sz="975" dirty="0"/>
          </a:p>
        </p:txBody>
      </p:sp>
      <p:sp>
        <p:nvSpPr>
          <p:cNvPr id="13" name="Text 10"/>
          <p:cNvSpPr txBox="1"/>
          <p:nvPr/>
        </p:nvSpPr>
        <p:spPr>
          <a:xfrm>
            <a:off x="1238098" y="3838651"/>
            <a:ext cx="7525512" cy="467258"/>
          </a:xfrm>
          <a:prstGeom prst="rect">
            <a:avLst/>
          </a:prstGeom>
          <a:noFill/>
          <a:ln/>
        </p:spPr>
        <p:txBody>
          <a:bodyPr wrap="none" lIns="0" tIns="0" rIns="0" bIns="0" rtlCol="0" anchor="ctr"/>
          <a:lstStyle/>
          <a:p>
            <a:pPr algn="l" indent="0" marL="0">
              <a:buNone/>
            </a:pPr>
            <a:r>
              <a:rPr lang="en-US" sz="2550" b="1" dirty="0">
                <a:solidFill>
                  <a:srgbClr val="F1ECDB"/>
                </a:solidFill>
                <a:latin typeface="Noto Sans KR" pitchFamily="34" charset="0"/>
                <a:ea typeface="Noto Sans KR" pitchFamily="34" charset="-122"/>
                <a:cs typeface="Noto Sans KR" pitchFamily="34" charset="-120"/>
              </a:rPr>
              <a:t>핵심 결론</a:t>
            </a:r>
            <a:endParaRPr lang="en-US" sz="2550" dirty="0"/>
          </a:p>
        </p:txBody>
      </p:sp>
      <p:pic>
        <p:nvPicPr>
          <p:cNvPr id="14" name="Image 0" descr="gen-dedup-0586222ff686ae91be7147b38688a6e8.png">    </p:cNvPr>
          <p:cNvPicPr>
            <a:picLocks noChangeAspect="1"/>
          </p:cNvPicPr>
          <p:nvPr/>
        </p:nvPicPr>
        <p:blipFill>
          <a:blip r:embed="rId1"/>
          <a:srcRect l="-2083" r="-2083" t="0" b="0"/>
          <a:stretch/>
        </p:blipFill>
        <p:spPr>
          <a:xfrm>
            <a:off x="1238098" y="4476902"/>
            <a:ext cx="7524598" cy="9144"/>
          </a:xfrm>
          <a:prstGeom prst="rect">
            <a:avLst/>
          </a:prstGeom>
        </p:spPr>
      </p:pic>
      <p:sp>
        <p:nvSpPr>
          <p:cNvPr id="15" name="Text 11"/>
          <p:cNvSpPr txBox="1"/>
          <p:nvPr/>
        </p:nvSpPr>
        <p:spPr>
          <a:xfrm>
            <a:off x="1238098" y="4438498"/>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01</a:t>
            </a:r>
            <a:endParaRPr lang="en-US" sz="1800" dirty="0"/>
          </a:p>
        </p:txBody>
      </p:sp>
      <p:sp>
        <p:nvSpPr>
          <p:cNvPr id="16" name="Text 12"/>
          <p:cNvSpPr txBox="1"/>
          <p:nvPr/>
        </p:nvSpPr>
        <p:spPr>
          <a:xfrm>
            <a:off x="1741018" y="4438498"/>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CD 손실과 분산 동시 개선</a:t>
            </a:r>
            <a:endParaRPr lang="en-US" sz="1650" dirty="0"/>
          </a:p>
        </p:txBody>
      </p:sp>
      <p:sp>
        <p:nvSpPr>
          <p:cNvPr id="17" name="Text 13"/>
          <p:cNvSpPr txBox="1"/>
          <p:nvPr/>
        </p:nvSpPr>
        <p:spPr>
          <a:xfrm>
            <a:off x="1741018" y="4806086"/>
            <a:ext cx="7029907"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모든 metric에서 target ±0.30 nm 안쪽, 3σ도 baseline 대비 약 50% 수준으로 축소.</a:t>
            </a:r>
            <a:endParaRPr lang="en-US" sz="1125" dirty="0"/>
          </a:p>
        </p:txBody>
      </p:sp>
      <p:sp>
        <p:nvSpPr>
          <p:cNvPr id="18" name="Text 14"/>
          <p:cNvSpPr txBox="1"/>
          <p:nvPr/>
        </p:nvSpPr>
        <p:spPr>
          <a:xfrm>
            <a:off x="1238098" y="5524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02</a:t>
            </a:r>
            <a:endParaRPr lang="en-US" sz="1800" dirty="0"/>
          </a:p>
        </p:txBody>
      </p:sp>
      <p:sp>
        <p:nvSpPr>
          <p:cNvPr id="19" name="Text 15"/>
          <p:cNvSpPr txBox="1"/>
          <p:nvPr/>
        </p:nvSpPr>
        <p:spPr>
          <a:xfrm>
            <a:off x="1741018" y="5524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Edge 균일도 회복</a:t>
            </a:r>
            <a:endParaRPr lang="en-US" sz="1650" dirty="0"/>
          </a:p>
        </p:txBody>
      </p:sp>
      <p:sp>
        <p:nvSpPr>
          <p:cNvPr id="20" name="Text 16"/>
          <p:cNvSpPr txBox="1"/>
          <p:nvPr/>
        </p:nvSpPr>
        <p:spPr>
          <a:xfrm>
            <a:off x="1741018" y="5892394"/>
            <a:ext cx="7692847"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ALD는 edge uniformity가 5% 이내로 spec-in, PVD는 4.76 ~ 5.16%로 spec-out. Cu 채움 안정성 차이.</a:t>
            </a:r>
            <a:endParaRPr lang="en-US" sz="1125" dirty="0"/>
          </a:p>
        </p:txBody>
      </p:sp>
      <p:sp>
        <p:nvSpPr>
          <p:cNvPr id="21" name="Text 17"/>
          <p:cNvSpPr txBox="1"/>
          <p:nvPr/>
        </p:nvSpPr>
        <p:spPr>
          <a:xfrm>
            <a:off x="1238098" y="6667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03</a:t>
            </a:r>
            <a:endParaRPr lang="en-US" sz="1800" dirty="0"/>
          </a:p>
        </p:txBody>
      </p:sp>
      <p:sp>
        <p:nvSpPr>
          <p:cNvPr id="22" name="Text 18"/>
          <p:cNvSpPr txBox="1"/>
          <p:nvPr/>
        </p:nvSpPr>
        <p:spPr>
          <a:xfrm>
            <a:off x="1741018" y="6667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Line · via R 동시 spec-in</a:t>
            </a:r>
            <a:endParaRPr lang="en-US" sz="1650" dirty="0"/>
          </a:p>
        </p:txBody>
      </p:sp>
      <p:sp>
        <p:nvSpPr>
          <p:cNvPr id="23" name="Text 19"/>
          <p:cNvSpPr txBox="1"/>
          <p:nvPr/>
        </p:nvSpPr>
        <p:spPr>
          <a:xfrm>
            <a:off x="1741018" y="7035394"/>
            <a:ext cx="7178954"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 line R 285, via R 4.2 Ω으로 Cu 통전 단면적을 충분히 확보. PVD는 두 지표 모두 spec-out.</a:t>
            </a:r>
            <a:endParaRPr lang="en-US" sz="1125" dirty="0"/>
          </a:p>
        </p:txBody>
      </p:sp>
      <p:sp>
        <p:nvSpPr>
          <p:cNvPr id="24" name="Text 20"/>
          <p:cNvSpPr txBox="1"/>
          <p:nvPr/>
        </p:nvSpPr>
        <p:spPr>
          <a:xfrm>
            <a:off x="1238098" y="7810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04</a:t>
            </a:r>
            <a:endParaRPr lang="en-US" sz="1800" dirty="0"/>
          </a:p>
        </p:txBody>
      </p:sp>
      <p:sp>
        <p:nvSpPr>
          <p:cNvPr id="25" name="Text 21"/>
          <p:cNvSpPr txBox="1"/>
          <p:nvPr/>
        </p:nvSpPr>
        <p:spPr>
          <a:xfrm>
            <a:off x="1741018" y="7810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EM · TDDB는 추가 검증 영역</a:t>
            </a:r>
            <a:endParaRPr lang="en-US" sz="1650" dirty="0"/>
          </a:p>
        </p:txBody>
      </p:sp>
      <p:sp>
        <p:nvSpPr>
          <p:cNvPr id="26" name="Text 22"/>
          <p:cNvSpPr txBox="1"/>
          <p:nvPr/>
        </p:nvSpPr>
        <p:spPr>
          <a:xfrm>
            <a:off x="1741018" y="8178394"/>
            <a:ext cx="7367321"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ALD도 TDDB가 8.6 MV/cm으로 여유 작음. 후속 lot에서 Cu seed 두께 · anneal recipe sweep 필요.</a:t>
            </a:r>
            <a:endParaRPr lang="en-US" sz="1125" dirty="0"/>
          </a:p>
        </p:txBody>
      </p:sp>
      <p:sp>
        <p:nvSpPr>
          <p:cNvPr id="27" name="Text 23"/>
          <p:cNvSpPr txBox="1"/>
          <p:nvPr/>
        </p:nvSpPr>
        <p:spPr>
          <a:xfrm>
            <a:off x="9525305" y="3238805"/>
            <a:ext cx="7905902" cy="162763"/>
          </a:xfrm>
          <a:prstGeom prst="rect">
            <a:avLst/>
          </a:prstGeom>
          <a:noFill/>
          <a:ln/>
        </p:spPr>
        <p:txBody>
          <a:bodyPr wrap="none" lIns="0" tIns="0" rIns="0" bIns="0" rtlCol="0" anchor="ctr"/>
          <a:lstStyle/>
          <a:p>
            <a:pPr algn="l" indent="0" marL="0">
              <a:buNone/>
            </a:pPr>
            <a:r>
              <a:rPr lang="en-US" sz="975" spc="176" kern="0" dirty="0">
                <a:solidFill>
                  <a:srgbClr val="8A8473"/>
                </a:solidFill>
                <a:latin typeface="IBM Plex Mono" pitchFamily="34" charset="0"/>
                <a:ea typeface="IBM Plex Mono" pitchFamily="34" charset="-122"/>
                <a:cs typeface="IBM Plex Mono" pitchFamily="34" charset="-120"/>
              </a:rPr>
              <a:t>FOLLOW-UP PLAN</a:t>
            </a:r>
            <a:endParaRPr lang="en-US" sz="975" dirty="0"/>
          </a:p>
        </p:txBody>
      </p:sp>
      <p:sp>
        <p:nvSpPr>
          <p:cNvPr id="28" name="Text 24"/>
          <p:cNvSpPr txBox="1"/>
          <p:nvPr/>
        </p:nvSpPr>
        <p:spPr>
          <a:xfrm>
            <a:off x="9525305" y="3514954"/>
            <a:ext cx="7905902" cy="467258"/>
          </a:xfrm>
          <a:prstGeom prst="rect">
            <a:avLst/>
          </a:prstGeom>
          <a:noFill/>
          <a:ln/>
        </p:spPr>
        <p:txBody>
          <a:bodyPr wrap="none" lIns="0" tIns="0" rIns="0" bIns="0" rtlCol="0" anchor="ctr"/>
          <a:lstStyle/>
          <a:p>
            <a:pPr algn="l" indent="0" marL="0">
              <a:buNone/>
            </a:pPr>
            <a:r>
              <a:rPr lang="en-US" sz="2550" b="1" dirty="0">
                <a:solidFill>
                  <a:srgbClr val="15202C"/>
                </a:solidFill>
                <a:latin typeface="Noto Sans KR" pitchFamily="34" charset="0"/>
                <a:ea typeface="Noto Sans KR" pitchFamily="34" charset="-122"/>
                <a:cs typeface="Noto Sans KR" pitchFamily="34" charset="-120"/>
              </a:rPr>
              <a:t>다음 단계</a:t>
            </a:r>
            <a:endParaRPr lang="en-US" sz="2550" dirty="0"/>
          </a:p>
        </p:txBody>
      </p:sp>
      <p:pic>
        <p:nvPicPr>
          <p:cNvPr id="29" name="Image 1" descr="gen-dedup-6736082e04121704acd4821d06c1d87d.png">    </p:cNvPr>
          <p:cNvPicPr>
            <a:picLocks noChangeAspect="1"/>
          </p:cNvPicPr>
          <p:nvPr/>
        </p:nvPicPr>
        <p:blipFill>
          <a:blip r:embed="rId2"/>
          <a:srcRect l="0" r="0" t="-1199" b="-1199"/>
          <a:stretch/>
        </p:blipFill>
        <p:spPr>
          <a:xfrm>
            <a:off x="9525305" y="4153205"/>
            <a:ext cx="7905902" cy="14630"/>
          </a:xfrm>
          <a:prstGeom prst="rect">
            <a:avLst/>
          </a:prstGeom>
        </p:spPr>
      </p:pic>
      <p:sp>
        <p:nvSpPr>
          <p:cNvPr id="30" name="Text 25"/>
          <p:cNvSpPr txBox="1"/>
          <p:nvPr/>
        </p:nvSpPr>
        <p:spPr>
          <a:xfrm>
            <a:off x="9791395" y="4324198"/>
            <a:ext cx="1095451" cy="277063"/>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N1 · SHORT</a:t>
            </a:r>
            <a:endParaRPr lang="en-US" sz="975" dirty="0"/>
          </a:p>
        </p:txBody>
      </p:sp>
      <p:sp>
        <p:nvSpPr>
          <p:cNvPr id="31" name="Text 26"/>
          <p:cNvSpPr txBox="1"/>
          <p:nvPr/>
        </p:nvSpPr>
        <p:spPr>
          <a:xfrm>
            <a:off x="11115446" y="4324198"/>
            <a:ext cx="6048756"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ALD wafer-seed 추가 lot 검증</a:t>
            </a:r>
            <a:endParaRPr lang="en-US" sz="1425" dirty="0"/>
          </a:p>
        </p:txBody>
      </p:sp>
      <p:sp>
        <p:nvSpPr>
          <p:cNvPr id="32" name="Text 27"/>
          <p:cNvSpPr txBox="1"/>
          <p:nvPr/>
        </p:nvSpPr>
        <p:spPr>
          <a:xfrm>
            <a:off x="11115446" y="4638751"/>
            <a:ext cx="6339535" cy="200254"/>
          </a:xfrm>
          <a:prstGeom prst="rect">
            <a:avLst/>
          </a:prstGeom>
          <a:noFill/>
          <a:ln/>
        </p:spPr>
        <p:txBody>
          <a:bodyPr wrap="none" lIns="0" tIns="0" rIns="0" bIns="0" rtlCol="0" anchor="ctr"/>
          <a:lstStyle/>
          <a:p>
            <a:pPr algn="l" indent="0" marL="0">
              <a:buNone/>
            </a:pPr>
            <a:r>
              <a:rPr lang="en-US" sz="1050" dirty="0">
                <a:solidFill>
                  <a:srgbClr val="4A5563"/>
                </a:solidFill>
                <a:latin typeface="Noto Sans KR" pitchFamily="34" charset="0"/>
                <a:ea typeface="Noto Sans KR" pitchFamily="34" charset="-122"/>
                <a:cs typeface="Noto Sans KR" pitchFamily="34" charset="-120"/>
              </a:rPr>
              <a:t>49 pt에서 spec-out 0개였던 ALD를 3 lot 추가 진행, M2 외 M3·M4 동일 split 재현성 확인.</a:t>
            </a:r>
            <a:endParaRPr lang="en-US" sz="1050" dirty="0"/>
          </a:p>
        </p:txBody>
      </p:sp>
      <p:sp>
        <p:nvSpPr>
          <p:cNvPr id="33" name="Text 28"/>
          <p:cNvSpPr txBox="1"/>
          <p:nvPr/>
        </p:nvSpPr>
        <p:spPr>
          <a:xfrm>
            <a:off x="9791395" y="5658307"/>
            <a:ext cx="924458" cy="277063"/>
          </a:xfrm>
          <a:prstGeom prst="rect">
            <a:avLst/>
          </a:prstGeom>
          <a:solidFill>
            <a:srgbClr val="C8862B"/>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N2 · MID</a:t>
            </a:r>
            <a:endParaRPr lang="en-US" sz="975" dirty="0"/>
          </a:p>
        </p:txBody>
      </p:sp>
      <p:sp>
        <p:nvSpPr>
          <p:cNvPr id="34" name="Text 29"/>
          <p:cNvSpPr txBox="1"/>
          <p:nvPr/>
        </p:nvSpPr>
        <p:spPr>
          <a:xfrm>
            <a:off x="10942625" y="5658307"/>
            <a:ext cx="6229807"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ULK plasma damage 영향 분리 평가</a:t>
            </a:r>
            <a:endParaRPr lang="en-US" sz="1425" dirty="0"/>
          </a:p>
        </p:txBody>
      </p:sp>
      <p:sp>
        <p:nvSpPr>
          <p:cNvPr id="35" name="Text 30"/>
          <p:cNvSpPr txBox="1"/>
          <p:nvPr/>
        </p:nvSpPr>
        <p:spPr>
          <a:xfrm>
            <a:off x="10942625" y="5971946"/>
            <a:ext cx="6229807" cy="400507"/>
          </a:xfrm>
          <a:prstGeom prst="rect">
            <a:avLst/>
          </a:prstGeom>
          <a:noFill/>
          <a:ln/>
        </p:spPr>
        <p:txBody>
          <a:bodyPr wrap="square" lIns="0" tIns="0" rIns="0" bIns="0" rtlCol="0" anchor="ctr"/>
          <a:lstStyle/>
          <a:p>
            <a:pPr algn="l" indent="0" marL="0">
              <a:lnSpc>
                <a:spcPts val="1575"/>
              </a:lnSpc>
              <a:buNone/>
            </a:pPr>
            <a:r>
              <a:rPr lang="en-US" sz="1050" dirty="0">
                <a:solidFill>
                  <a:srgbClr val="4A5563"/>
                </a:solidFill>
                <a:latin typeface="Noto Sans KR" pitchFamily="34" charset="0"/>
                <a:ea typeface="Noto Sans KR" pitchFamily="34" charset="-122"/>
                <a:cs typeface="Noto Sans KR" pitchFamily="34" charset="-120"/>
              </a:rPr>
              <a:t>BM 노출 면적 + etch chemistry를 격리한 DOE 설계. ALD split에서 TDDB margin 추가 확보가 가능한 recipe window 탐색.</a:t>
            </a:r>
            <a:endParaRPr lang="en-US" sz="1050" dirty="0"/>
          </a:p>
        </p:txBody>
      </p:sp>
      <p:sp>
        <p:nvSpPr>
          <p:cNvPr id="36" name="Text 31"/>
          <p:cNvSpPr txBox="1"/>
          <p:nvPr/>
        </p:nvSpPr>
        <p:spPr>
          <a:xfrm>
            <a:off x="9791395" y="6991502"/>
            <a:ext cx="924458" cy="277063"/>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N3 · MID</a:t>
            </a:r>
            <a:endParaRPr lang="en-US" sz="975" dirty="0"/>
          </a:p>
        </p:txBody>
      </p:sp>
      <p:sp>
        <p:nvSpPr>
          <p:cNvPr id="37" name="Text 32"/>
          <p:cNvSpPr txBox="1"/>
          <p:nvPr/>
        </p:nvSpPr>
        <p:spPr>
          <a:xfrm>
            <a:off x="10942625" y="6991502"/>
            <a:ext cx="6229807"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Step coverage 한계 조건 추가 run</a:t>
            </a:r>
            <a:endParaRPr lang="en-US" sz="1425" dirty="0"/>
          </a:p>
        </p:txBody>
      </p:sp>
      <p:sp>
        <p:nvSpPr>
          <p:cNvPr id="38" name="Text 33"/>
          <p:cNvSpPr txBox="1"/>
          <p:nvPr/>
        </p:nvSpPr>
        <p:spPr>
          <a:xfrm>
            <a:off x="10942625" y="7306056"/>
            <a:ext cx="6915607" cy="200254"/>
          </a:xfrm>
          <a:prstGeom prst="rect">
            <a:avLst/>
          </a:prstGeom>
          <a:noFill/>
          <a:ln/>
        </p:spPr>
        <p:txBody>
          <a:bodyPr wrap="none" lIns="0" tIns="0" rIns="0" bIns="0" rtlCol="0" anchor="ctr"/>
          <a:lstStyle/>
          <a:p>
            <a:pPr algn="l" indent="0" marL="0">
              <a:buNone/>
            </a:pPr>
            <a:r>
              <a:rPr lang="en-US" sz="1050" dirty="0">
                <a:solidFill>
                  <a:srgbClr val="4A5563"/>
                </a:solidFill>
                <a:latin typeface="Noto Sans KR" pitchFamily="34" charset="0"/>
                <a:ea typeface="Noto Sans KR" pitchFamily="34" charset="-122"/>
                <a:cs typeface="Noto Sans KR" pitchFamily="34" charset="-120"/>
              </a:rPr>
              <a:t>동일 ALD recipe에서 pitch 24·20 nm draw로 단축. RSBM이 더 작은 pitch에서 유지되는지 boundary 확인.</a:t>
            </a:r>
            <a:endParaRPr lang="en-US" sz="1050" dirty="0"/>
          </a:p>
        </p:txBody>
      </p:sp>
      <p:sp>
        <p:nvSpPr>
          <p:cNvPr id="39" name="Text 34"/>
          <p:cNvSpPr txBox="1"/>
          <p:nvPr/>
        </p:nvSpPr>
        <p:spPr>
          <a:xfrm>
            <a:off x="9791395" y="8324698"/>
            <a:ext cx="1010412" cy="277063"/>
          </a:xfrm>
          <a:prstGeom prst="rect">
            <a:avLst/>
          </a:prstGeom>
          <a:solidFill>
            <a:srgbClr val="28384B"/>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C8A961"/>
                </a:solidFill>
                <a:latin typeface="IBM Plex Mono" pitchFamily="34" charset="0"/>
                <a:ea typeface="IBM Plex Mono" pitchFamily="34" charset="-122"/>
                <a:cs typeface="IBM Plex Mono" pitchFamily="34" charset="-120"/>
              </a:rPr>
              <a:t>N4 · LONG</a:t>
            </a:r>
            <a:endParaRPr lang="en-US" sz="975" dirty="0"/>
          </a:p>
        </p:txBody>
      </p:sp>
      <p:sp>
        <p:nvSpPr>
          <p:cNvPr id="40" name="Text 35"/>
          <p:cNvSpPr txBox="1"/>
          <p:nvPr/>
        </p:nvSpPr>
        <p:spPr>
          <a:xfrm>
            <a:off x="11029493" y="8324698"/>
            <a:ext cx="6143854" cy="257861"/>
          </a:xfrm>
          <a:prstGeom prst="rect">
            <a:avLst/>
          </a:prstGeom>
          <a:noFill/>
          <a:ln/>
        </p:spPr>
        <p:txBody>
          <a:bodyPr wrap="none" lIns="0" tIns="0" rIns="0" bIns="0" rtlCol="0" anchor="ctr"/>
          <a:lstStyle/>
          <a:p>
            <a:pPr algn="l" indent="0" marL="0">
              <a:buNone/>
            </a:pPr>
            <a:r>
              <a:rPr lang="en-US" sz="1425" b="1" dirty="0">
                <a:solidFill>
                  <a:srgbClr val="F1ECDB"/>
                </a:solidFill>
                <a:latin typeface="Noto Sans KR" pitchFamily="34" charset="0"/>
                <a:ea typeface="Noto Sans KR" pitchFamily="34" charset="-122"/>
                <a:cs typeface="Noto Sans KR" pitchFamily="34" charset="-120"/>
              </a:rPr>
              <a:t>Cost-of-ownership 정량 비교</a:t>
            </a:r>
            <a:endParaRPr lang="en-US" sz="1425" dirty="0"/>
          </a:p>
        </p:txBody>
      </p:sp>
      <p:sp>
        <p:nvSpPr>
          <p:cNvPr id="41" name="Text 36"/>
          <p:cNvSpPr txBox="1"/>
          <p:nvPr/>
        </p:nvSpPr>
        <p:spPr>
          <a:xfrm>
            <a:off x="11029493" y="8639251"/>
            <a:ext cx="6143854" cy="400507"/>
          </a:xfrm>
          <a:prstGeom prst="rect">
            <a:avLst/>
          </a:prstGeom>
          <a:noFill/>
          <a:ln/>
        </p:spPr>
        <p:txBody>
          <a:bodyPr wrap="square" lIns="0" tIns="0" rIns="0" bIns="0" rtlCol="0" anchor="ctr"/>
          <a:lstStyle/>
          <a:p>
            <a:pPr algn="l" indent="0" marL="0">
              <a:lnSpc>
                <a:spcPts val="1575"/>
              </a:lnSpc>
              <a:buNone/>
            </a:pPr>
            <a:r>
              <a:rPr lang="en-US" sz="1050" dirty="0">
                <a:solidFill>
                  <a:srgbClr val="B6BEC8"/>
                </a:solidFill>
                <a:latin typeface="Noto Sans KR" pitchFamily="34" charset="0"/>
                <a:ea typeface="Noto Sans KR" pitchFamily="34" charset="-122"/>
                <a:cs typeface="Noto Sans KR" pitchFamily="34" charset="-120"/>
              </a:rPr>
              <a:t>ALD throughput 대비 step-coverage 이득을 정량화. PVD baseline 대비 wafer-cost delta 산출 후 go / no-go 결정.</a:t>
            </a:r>
            <a:endParaRPr lang="en-US" sz="1050" dirty="0"/>
          </a:p>
        </p:txBody>
      </p:sp>
      <p:pic>
        <p:nvPicPr>
          <p:cNvPr id="42" name="Image 2" descr="gen-dedup-927e1b3d142562f2171c6a940580640a.png">    </p:cNvPr>
          <p:cNvPicPr>
            <a:picLocks noChangeAspect="1"/>
          </p:cNvPicPr>
          <p:nvPr/>
        </p:nvPicPr>
        <p:blipFill>
          <a:blip r:embed="rId3"/>
          <a:srcRect l="-2083" r="-2083" t="0" b="0"/>
          <a:stretch/>
        </p:blipFill>
        <p:spPr>
          <a:xfrm>
            <a:off x="857707" y="9715500"/>
            <a:ext cx="16573500" cy="9144"/>
          </a:xfrm>
          <a:prstGeom prst="rect">
            <a:avLst/>
          </a:prstGeom>
        </p:spPr>
      </p:pic>
      <p:sp>
        <p:nvSpPr>
          <p:cNvPr id="43" name="Text 3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2026-10-03T16:07:06Z</dcterms:created>
  <dcterms:modified xsi:type="dcterms:W3CDTF">2026-10-03T16:07:06Z</dcterms:modified>
</cp:coreProperties>
</file>