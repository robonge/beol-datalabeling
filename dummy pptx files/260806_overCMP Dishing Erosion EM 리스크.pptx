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CMP" id="{4dd76e21-6e35-38e1-5d69-2945c63c908e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 = 1</c:v>
                </c:pt>
              </c:strCache>
            </c:strRef>
          </c:tx>
          <c:spPr>
            <a:solidFill>
              <a:srgbClr val="00D9FF"/>
            </a:solidFill>
            <a:ln w="31750" cap="flat">
              <a:solidFill>
                <a:srgbClr val="00D9FF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D9FF"/>
              </a:solidFill>
              <a:ln w="9525" cap="flat">
                <a:solidFill>
                  <a:srgbClr val="00D9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1.0</c:v>
                  </c:pt>
                  <c:pt idx="1">
                    <c:v>1.2</c:v>
                  </c:pt>
                  <c:pt idx="2">
                    <c:v>1.4</c:v>
                  </c:pt>
                  <c:pt idx="3">
                    <c:v>1.6</c:v>
                  </c:pt>
                  <c:pt idx="4">
                    <c:v>1.8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83</c:v>
                </c:pt>
                <c:pt idx="2">
                  <c:v>71</c:v>
                </c:pt>
                <c:pt idx="3">
                  <c:v>63</c:v>
                </c:pt>
                <c:pt idx="4">
                  <c:v>56</c:v>
                </c:pt>
                <c:pt idx="5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 = 2</c:v>
                </c:pt>
              </c:strCache>
            </c:strRef>
          </c:tx>
          <c:spPr>
            <a:solidFill>
              <a:srgbClr val="00B8A9"/>
            </a:solidFill>
            <a:ln w="31750" cap="flat">
              <a:solidFill>
                <a:srgbClr val="00B8A9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B8A9"/>
              </a:solidFill>
              <a:ln w="9525" cap="flat">
                <a:solidFill>
                  <a:srgbClr val="00B8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1.0</c:v>
                  </c:pt>
                  <c:pt idx="1">
                    <c:v>1.2</c:v>
                  </c:pt>
                  <c:pt idx="2">
                    <c:v>1.4</c:v>
                  </c:pt>
                  <c:pt idx="3">
                    <c:v>1.6</c:v>
                  </c:pt>
                  <c:pt idx="4">
                    <c:v>1.8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69</c:v>
                </c:pt>
                <c:pt idx="2">
                  <c:v>51</c:v>
                </c:pt>
                <c:pt idx="3">
                  <c:v>39</c:v>
                </c:pt>
                <c:pt idx="4">
                  <c:v>31</c:v>
                </c:pt>
                <c:pt idx="5">
                  <c:v>25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CA3AF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9CA3AF"/>
                    </a:solidFill>
                    <a:latin typeface="+mn-lt"/>
                  </a:rPr>
                  <a:t>J / J₀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CA3AF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9CA3AF"/>
                    </a:solidFill>
                    <a:latin typeface="+mn-lt"/>
                  </a:rPr>
                  <a:t>상대 MTTF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CA3A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선저항 증가 (%)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4.2</c:v>
                </c:pt>
                <c:pt idx="2">
                  <c:v>8.7</c:v>
                </c:pt>
                <c:pt idx="3">
                  <c:v>13.6</c:v>
                </c:pt>
                <c:pt idx="4">
                  <c:v>19</c:v>
                </c:pt>
                <c:pt idx="5">
                  <c:v>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CA3AF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9CA3AF"/>
                    </a:solidFill>
                    <a:latin typeface="+mn-lt"/>
                  </a:rPr>
                  <a:t>Dishing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3-1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5-1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과연마 · DISHING / EROSION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overCMP · 패턴 밀도 의존 형상 손실과 전기적 영향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331366"/>
                <a:gridCol w="1464869"/>
                <a:gridCol w="3461918"/>
                <a:gridCol w="1331366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변형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발생 위치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의존 변수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Cu Dishing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넓은 Cu 배선·패드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무른 Cu + 폴리우레탄 패드 돌기(Asperity)가 트렌치로 휘어 들어감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연마 시간, 선폭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Dielectric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고밀도 L/S 영역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좁은 유전막 핀 지지력 약화 → 국부 압력↑ → Preston 식에 따라 연마율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패턴 밀도, 압력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cu_surface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280160"/>
            <a:ext cx="3367735" cy="117870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504587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표면 SEM (열처리 전/후, 산화·입자) — 잔류물·표면 상태 참고, CC BY MATERIALS 2020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2861203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전기·신뢰성 영향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3190387"/>
            <a:ext cx="3367735" cy="2981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R = ρL/(W·T): 두께 T 감소 → 선저항 즉시 증가. 첨단 노드는 수 nm Dishing만으로 10–20% 이상 저항 상승 → RC 허용치 이탈.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단면적 감소 → 전류 밀도 J 증가 → MTTF ∝ J⁻ⁿ (n = 1–2).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저항 증가 → 줄 발열 → 지수항 exp(Ea/kT) 급감 → Void 핵생성·성장 수십 배 가속 (열 폭주).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표면 평탄도 훼손 → 상위 층 포토 DOF 불량.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BLACK'S EQUATION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블랙 방정식 · 단면적 감소가 EM 수명을 지수적으로 깎는 경로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MTTF = A · J⁻ⁿ · exp(Ea / kB·T)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1277295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847649"/>
                <a:gridCol w="2712110"/>
                <a:gridCol w="338968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overCMP 영향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재료·구조 상수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J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전류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단면적↓ → J↑ (1차 효과)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전류 밀도 지수 (1–2, Void 성장)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Ea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원자 확산 활성화 에너지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줄 발열로 쉽게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절대 온도 (지수항)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미세 상승이 수명 수십 배 단축 (2차 효과)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772400" y="2103120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해석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450592"/>
            <a:ext cx="3962095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J 증가는 MTTF를 반비례 단축 (1차).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저항↑ → 줄 발열 → 온도 지수항 → Void 핵생성 수십 배 가속 (2차, 열 폭주).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Dishing으로 얇아진 배선이 정상 수명 전에 단선.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상대 MTTF · 전류 밀도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전류 밀도 증가에 따른 상대 MTTF (n = 1, 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60350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상대 전류 밀도 J/J₀ VS 상대 MTTF(%) — BLACK 식, N=1 / N=2 (온도 고정)</a:t>
            </a:r>
            <a:endParaRPr lang="en-US" sz="800" dirty="0"/>
          </a:p>
        </p:txBody>
      </p:sp>
      <p:pic>
        <p:nvPicPr>
          <p:cNvPr id="7" name="Image 0" descr="/tmp/claude-0/-home-claude/e70767da-955c-5cc3-beb4-741bbeefa4c6/scratchpad/img/cu_rdl_fi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059" y="1280160"/>
            <a:ext cx="1936376" cy="1645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0" y="2971800"/>
            <a:ext cx="48764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배선 FIB 단면 (AS-FABRICATED) — DISHING/형상 참고, CC BY MICROMACHINES 2026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6858000" y="3328416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판독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858000" y="3657600"/>
            <a:ext cx="487649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n = 2(Void 성장 지배)에서 J 1.4배만으로 MTTF 절반.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실제로는 온도 상승이 겹쳐 감소 폭이 더 큼 — 지수항 효과.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선저항 +10% 초과 = Failure 기준과 연동.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858000" y="5212080"/>
            <a:ext cx="4876495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0" y="5285232"/>
            <a:ext cx="487649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DUMMY FILL TRADE-OFF (표 2)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Dummy Metal Fill 방식별 평탄도·정전용량·크로스토크 트레이드오프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138782"/>
                <a:gridCol w="3110789"/>
                <a:gridCol w="2916936"/>
                <a:gridCol w="3110789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Dummy Fill 방식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CMP 평탄도 (Dishing/Erosion)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기생 정전용량·RC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크로스토크·전자기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미적용 (희소 패턴)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압력 불균형 → 심각한 Dishing/Erosion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신호선 낮은 C 유지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간섭 위험 낮음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플로팅 Dummy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금속 밀도 균일화 → 평탄도 크게 개선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인접 능동선과 커플링 → C 증가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노이즈 매개 안테나 → 간섭 증폭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접지 Dummy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밀도 제어·평탄도 우수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Ground 결합 → 총 C 변동 폭 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차폐 효과 → 크로스토크 억제, 열 분산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삽입 목적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덮임률 편차 최소화 → 균일 지지력 → 연마 평탄도 보장.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부작용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기생 C 증가, 인접 능동선 크로스토크. 플로팅은 안테나 효과로 노이즈 전이.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19237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최적화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19237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CMP 시뮬레이터 결합 알고리즘, 접지 더미로 차폐·열 분산.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검증 방법 · 저항 판독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Dishing 깊이 vs 선저항 증가 · 검증 방법과 Failure 기준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035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9377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DISHING 깊이(NM) VS 선저항 증가(%) — 두께 50 NM 가정 R ∝ 1/T 설명용</a:t>
            </a:r>
            <a:endParaRPr lang="en-US" sz="800" dirty="0"/>
          </a:p>
        </p:txBody>
      </p:sp>
      <p:pic>
        <p:nvPicPr>
          <p:cNvPr id="7" name="Image 0" descr="/tmp/claude-0/-home-claude/e70767da-955c-5cc3-beb4-741bbeefa4c6/scratchpad/img/hts_void_se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755" y="1280160"/>
            <a:ext cx="4481465" cy="1645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26480" y="2971800"/>
            <a:ext cx="5608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고온 저장 후 CU 배선 산화물·VOID SEM — 유사 결함 참고, CC BY MICROMACHINES 2026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6126480" y="3328416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수 nm Dishing으로 10–20% 저항 상승 → RC 허용치 이탈.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3922776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검증 방법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4233672"/>
          <a:ext cx="5608015" cy="914400"/>
        </p:xfrm>
        <a:graphic>
          <a:graphicData uri="http://schemas.openxmlformats.org/drawingml/2006/table">
            <a:tbl>
              <a:tblPr/>
              <a:tblGrid>
                <a:gridCol w="801014"/>
                <a:gridCol w="2403043"/>
                <a:gridCol w="2403043"/>
              </a:tblGrid>
              <a:tr h="3694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측정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3694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물리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단면 SEM / AFM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금속 두께 소실 깊이 (Recess)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94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Cross-bridge 저항 패턴, 4-point probe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면저항 Rs, CD 변동량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94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판정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초기 기준치 대비 R +10% 초과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동작 마진 이탈 → Failure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94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설계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CMP 시뮬레이션 → 레이아웃 피드백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더미 크기·밀도·경계선 길이 최적화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57200" y="5394960"/>
            <a:ext cx="5303520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57200" y="5468112"/>
            <a:ext cx="5303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">
  <a:themeElements>
    <a:clrScheme name="Turquoise DS ink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D9FF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 Overpolish Dishing EM Risk</dc:title>
  <dc:subject>PptxGenJS Presentation</dc:subject>
  <dc:creator>공정 AI팀</dc:creator>
  <cp:lastModifiedBy>공정 AI팀</cp:lastModifiedBy>
  <cp:revision>1</cp:revision>
  <dcterms:created xsi:type="dcterms:W3CDTF">2026-10-03T16:48:14Z</dcterms:created>
  <dcterms:modified xsi:type="dcterms:W3CDTF">2026-10-03T16:48:14Z</dcterms:modified>
</cp:coreProperties>
</file>