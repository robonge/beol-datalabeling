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본 평가는 barrier-less via (BLV) split에서 RSBM 선택성 (Co 단일 / Ru 단일 / Ru-Co 하이브리드) 이 CD 변동·in-wafer uniformity·표면 거동·전기적 특성에 미치는 영향을 정량화하기 위한 내부 dummy 평가안입니다. 4매의 wafer에 동일 평가 흐름을 적용하되, REF는 PVD Ta/TaN을 유지하고 split 세 wafer는 barrier-less + selective via-bottom BM으로 구성됩니다. V1은 via bottom, M2는 trench top에서 동일 칩 다이를 측정합니다. 표의 모든 수치는 dummy이며 시각적 우선순위는 W04 hybrid, W02(W03 대비 RSBM selectivity) 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본 페이지는 평가의 메타 정의서입니다. 4 lot (BLV-A21~A24) 에서 각 lot의 5개 die 동일 49 pt protocol 을 적용했습니다. visual wafer map 은 W03 SPLIT-B BLV-Ru 의 dummy AMI 결과를 보여주는데, 본 결과는 split 간 비교를 위한 reference 데이터를 시각화한 것이고, 다른 wafer에 대한 4-split 통합 비교는 9 페이지의 49 pt 통합 표에서 다룹니다. 결과는 mock dummy 데이터로, read protocol 만 정형화되어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wafer 모두 50 k× 동일 배율 동일 좌표에서 IL-SEM 단면을 read했습니다. 결과 dummy 데이터지만 split 간 비교를 위해 가장 대표적인 단면을 사용했습니다. (a)는 REF, (b) W02 BLV-Co, (c) W03 BLV-Ru, (d) W04 하이브리드. dummy 평가는 어디까지나 protocol 검증용이며, 실제 SEM 이미지 사용은 출처를 본문에 명시했습니다.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페이지는 TEM 단면 interface 관찰 dummy 데이터입니다. dummy 평가의 한계를 명시하면서도 split 간 비교를 위해 대표 단면을 사용했고, EDS 또는 line analysis 결과는 mock series로만 기재했습니다.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AASI 단계는 resist profile read 단계입니다. 평가 motif는 split이 +0.50 nm를 넘지 않는지, 3σ는 0.50 이내인지입니다. dummy 평가이므로 실제 양산 적합성 판단을 위해선 별도 검증이 필요한 점 참고 부탁드립니다. 본 결과는 split 간 직접 비교 가능한 dummy 시각화입니다.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ASEI 단계 평가. dummy 데이터이므로 실제 양산 fit을 보장하지 않습니다. W04가 on-target, W03가 under-print 쪽으로 mild under-size 라는 점이 본 dummy 평가에서는 관찰됩니다.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AMI 단계 dummy 평가. dummy 데이터로 BLV의 Cu plating 부근 line CD가 모두 ±0.20 이내로 안정적입니다. W04 hybrid가 dummy 통계 내 가장 균일.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ACI는 CMP 후 final line read입니다. 본 dummy 평가 내 split 간 비교는 dummy 데이터로 양산 적합성을 보장하지 않습니다. 시각화 우선순위는 hybrid의 on-target 안정성입니다.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본 dummy 평가의 in-wafer uniformity cross-cut. W03 BLV-Ru가 dummy 통계 내 가장 균일, W02 BLV-Co는 side skip 추가로 WIWNU 약간 상승. 다른 wafer layer인 M2 비교 데이터는 한 페이지 분량상 일부 표기. 양산 적합성 판단은 추후 in-line 검증 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표면 거동 dummy 평가. dummy 데이터이므로 실제 양산 fit을 보장하지 않으며, CMP recipe 최적화 후 별도 검증 필요. dummy에서 W02 erosion max 7.4 nm 한 건이 dummy statistic 상 특이점.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본 dummy 평가의 Line Rs / Via Rc / 누적분포. dummy 데이터로 split 간 비교 우위는 W03 BLV-Ru &gt; W04 hybrid &gt; W01 REF &gt; W02 BLV-Co. 누적분포 curve는 단일 차트에서 4 wafer를 비교했고 W03가 가장 가파른 sigmoid를 보입니다.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본 dummy 평가의 종합 finding. 결함 카운트 dummy이므로 production-grade 비교 reference만 사용해야 합니다. 우선 split는 W04 hybrid, 차선은 W03 BLV-Ru로 dummy 통계 내 conditional이지만 production 검증은 별도 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2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0.png"/><Relationship Id="rId12" Type="http://schemas.openxmlformats.org/officeDocument/2006/relationships/image" Target="../media/image-1-10.png"/><Relationship Id="rId13" Type="http://schemas.openxmlformats.org/officeDocument/2006/relationships/image" Target="../media/image-1-10.png"/><Relationship Id="rId14" Type="http://schemas.openxmlformats.org/officeDocument/2006/relationships/image" Target="../media/image-1-10.png"/><Relationship Id="rId15" Type="http://schemas.openxmlformats.org/officeDocument/2006/relationships/image" Target="../media/image-1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2.png"/><Relationship Id="rId5" Type="http://schemas.openxmlformats.org/officeDocument/2006/relationships/image" Target="../media/image-2-5.png"/><Relationship Id="rId6" Type="http://schemas.openxmlformats.org/officeDocument/2006/relationships/image" Target="../media/image-2-5.png"/><Relationship Id="rId7" Type="http://schemas.openxmlformats.org/officeDocument/2006/relationships/image" Target="../media/image-2-5.png"/><Relationship Id="rId8" Type="http://schemas.openxmlformats.org/officeDocument/2006/relationships/image" Target="../media/image-2-5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2.png"/><Relationship Id="rId5" Type="http://schemas.openxmlformats.org/officeDocument/2006/relationships/image" Target="../media/image-3-5.png"/><Relationship Id="rId6" Type="http://schemas.openxmlformats.org/officeDocument/2006/relationships/image" Target="../media/image-3-5.png"/><Relationship Id="rId7" Type="http://schemas.openxmlformats.org/officeDocument/2006/relationships/image" Target="../media/image-3-5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2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2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5.png"/><Relationship Id="rId8" Type="http://schemas.openxmlformats.org/officeDocument/2006/relationships/image" Target="../media/image-5-6.png"/><Relationship Id="rId9" Type="http://schemas.openxmlformats.org/officeDocument/2006/relationships/image" Target="../media/image-5-5.png"/><Relationship Id="rId10" Type="http://schemas.openxmlformats.org/officeDocument/2006/relationships/image" Target="../media/image-5-6.png"/><Relationship Id="rId11" Type="http://schemas.openxmlformats.org/officeDocument/2006/relationships/image" Target="../media/image-5-5.png"/><Relationship Id="rId12" Type="http://schemas.openxmlformats.org/officeDocument/2006/relationships/image" Target="../media/image-5-6.png"/><Relationship Id="rId13" Type="http://schemas.openxmlformats.org/officeDocument/2006/relationships/image" Target="../media/image-5-5.png"/><Relationship Id="rId14" Type="http://schemas.openxmlformats.org/officeDocument/2006/relationships/image" Target="../media/image-5-6.png"/><Relationship Id="rId15" Type="http://schemas.openxmlformats.org/officeDocument/2006/relationships/image" Target="../media/image-5-5.png"/><Relationship Id="rId16" Type="http://schemas.openxmlformats.org/officeDocument/2006/relationships/image" Target="../media/image-5-6.png"/><Relationship Id="rId17" Type="http://schemas.openxmlformats.org/officeDocument/2006/relationships/image" Target="../media/image-5-5.png"/><Relationship Id="rId18" Type="http://schemas.openxmlformats.org/officeDocument/2006/relationships/image" Target="../media/image-5-6.png"/><Relationship Id="rId19" Type="http://schemas.openxmlformats.org/officeDocument/2006/relationships/image" Target="../media/image-5-5.png"/><Relationship Id="rId20" Type="http://schemas.openxmlformats.org/officeDocument/2006/relationships/image" Target="../media/image-5-20.png"/><Relationship Id="rId21" Type="http://schemas.openxmlformats.org/officeDocument/2006/relationships/image" Target="../media/image-5-21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2.png"/><Relationship Id="rId5" Type="http://schemas.openxmlformats.org/officeDocument/2006/relationships/image" Target="../media/image-6-5.png"/><Relationship Id="rId6" Type="http://schemas.openxmlformats.org/officeDocument/2006/relationships/image" Target="../media/image-6-5.png"/><Relationship Id="rId7" Type="http://schemas.openxmlformats.org/officeDocument/2006/relationships/image" Target="../media/image-6-5.png"/><Relationship Id="rId8" Type="http://schemas.openxmlformats.org/officeDocument/2006/relationships/image" Target="../media/image-6-5.png"/><Relationship Id="rId9" Type="http://schemas.openxmlformats.org/officeDocument/2006/relationships/image" Target="../media/image-6-5.png"/><Relationship Id="rId10" Type="http://schemas.openxmlformats.org/officeDocument/2006/relationships/image" Target="../media/image-6-5.png"/><Relationship Id="rId11" Type="http://schemas.openxmlformats.org/officeDocument/2006/relationships/image" Target="../media/image-6-5.png"/><Relationship Id="rId12" Type="http://schemas.openxmlformats.org/officeDocument/2006/relationships/image" Target="../media/image-6-5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2.png"/><Relationship Id="rId5" Type="http://schemas.openxmlformats.org/officeDocument/2006/relationships/image" Target="../media/image-7-5.png"/><Relationship Id="rId6" Type="http://schemas.openxmlformats.org/officeDocument/2006/relationships/image" Target="../media/image-7-5.png"/><Relationship Id="rId7" Type="http://schemas.openxmlformats.org/officeDocument/2006/relationships/image" Target="../media/image-7-5.png"/><Relationship Id="rId8" Type="http://schemas.openxmlformats.org/officeDocument/2006/relationships/image" Target="../media/image-7-5.png"/><Relationship Id="rId9" Type="http://schemas.openxmlformats.org/officeDocument/2006/relationships/image" Target="../media/image-7-5.png"/><Relationship Id="rId10" Type="http://schemas.openxmlformats.org/officeDocument/2006/relationships/image" Target="../media/image-7-5.png"/><Relationship Id="rId11" Type="http://schemas.openxmlformats.org/officeDocument/2006/relationships/image" Target="../media/image-7-5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4.png"/><Relationship Id="rId16" Type="http://schemas.openxmlformats.org/officeDocument/2006/relationships/image" Target="../media/image-7-14.png"/><Relationship Id="rId17" Type="http://schemas.openxmlformats.org/officeDocument/2006/relationships/image" Target="../media/image-7-14.png"/><Relationship Id="rId18" Type="http://schemas.openxmlformats.org/officeDocument/2006/relationships/image" Target="../media/image-7-14.png"/><Relationship Id="rId19" Type="http://schemas.openxmlformats.org/officeDocument/2006/relationships/image" Target="../media/image-7-14.png"/><Relationship Id="rId20" Type="http://schemas.openxmlformats.org/officeDocument/2006/relationships/image" Target="../media/image-7-20.png"/><Relationship Id="rId21" Type="http://schemas.openxmlformats.org/officeDocument/2006/relationships/image" Target="../media/image-7-21.png"/><Relationship Id="rId22" Type="http://schemas.openxmlformats.org/officeDocument/2006/relationships/image" Target="../media/image-7-22.png"/><Relationship Id="rId23" Type="http://schemas.openxmlformats.org/officeDocument/2006/relationships/image" Target="../media/image-7-23.png"/><Relationship Id="rId24" Type="http://schemas.openxmlformats.org/officeDocument/2006/relationships/image" Target="../media/image-7-24.png"/><Relationship Id="rId25" Type="http://schemas.openxmlformats.org/officeDocument/2006/relationships/image" Target="../media/image-7-25.png"/><Relationship Id="rId26" Type="http://schemas.openxmlformats.org/officeDocument/2006/relationships/slideLayout" Target="../slideLayouts/slideLayout1.xml"/><Relationship Id="rId2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2.png"/><Relationship Id="rId5" Type="http://schemas.openxmlformats.org/officeDocument/2006/relationships/image" Target="../media/image-8-5.png"/><Relationship Id="rId6" Type="http://schemas.openxmlformats.org/officeDocument/2006/relationships/image" Target="../media/image-8-5.png"/><Relationship Id="rId7" Type="http://schemas.openxmlformats.org/officeDocument/2006/relationships/image" Target="../media/image-8-5.png"/><Relationship Id="rId8" Type="http://schemas.openxmlformats.org/officeDocument/2006/relationships/image" Target="../media/image-8-5.png"/><Relationship Id="rId9" Type="http://schemas.openxmlformats.org/officeDocument/2006/relationships/image" Target="../media/image-8-5.png"/><Relationship Id="rId10" Type="http://schemas.openxmlformats.org/officeDocument/2006/relationships/image" Target="../media/image-8-5.png"/><Relationship Id="rId11" Type="http://schemas.openxmlformats.org/officeDocument/2006/relationships/image" Target="../media/image-8-5.png"/><Relationship Id="rId12" Type="http://schemas.openxmlformats.org/officeDocument/2006/relationships/image" Target="../media/image-8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2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6.png"/><Relationship Id="rId8" Type="http://schemas.openxmlformats.org/officeDocument/2006/relationships/image" Target="../media/image-9-6.png"/><Relationship Id="rId9" Type="http://schemas.openxmlformats.org/officeDocument/2006/relationships/image" Target="../media/image-9-6.png"/><Relationship Id="rId10" Type="http://schemas.openxmlformats.org/officeDocument/2006/relationships/image" Target="../media/image-9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2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5.png"/><Relationship Id="rId8" Type="http://schemas.openxmlformats.org/officeDocument/2006/relationships/image" Target="../media/image-10-5.png"/><Relationship Id="rId9" Type="http://schemas.openxmlformats.org/officeDocument/2006/relationships/image" Target="../media/image-10-5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5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5.png"/><Relationship Id="rId14" Type="http://schemas.openxmlformats.org/officeDocument/2006/relationships/image" Target="../media/image-10-5.png"/><Relationship Id="rId15" Type="http://schemas.openxmlformats.org/officeDocument/2006/relationships/image" Target="../media/image-10-5.png"/><Relationship Id="rId16" Type="http://schemas.openxmlformats.org/officeDocument/2006/relationships/image" Target="../media/image-10-5.png"/><Relationship Id="rId17" Type="http://schemas.openxmlformats.org/officeDocument/2006/relationships/image" Target="../media/image-10-5.png"/><Relationship Id="rId18" Type="http://schemas.openxmlformats.org/officeDocument/2006/relationships/image" Target="../media/image-10-18.png"/><Relationship Id="rId19" Type="http://schemas.openxmlformats.org/officeDocument/2006/relationships/image" Target="../media/image-10-5.png"/><Relationship Id="rId20" Type="http://schemas.openxmlformats.org/officeDocument/2006/relationships/image" Target="../media/image-10-20.png"/><Relationship Id="rId21" Type="http://schemas.openxmlformats.org/officeDocument/2006/relationships/image" Target="../media/image-10-21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2.png"/><Relationship Id="rId5" Type="http://schemas.openxmlformats.org/officeDocument/2006/relationships/image" Target="../media/image-11-5.png"/><Relationship Id="rId6" Type="http://schemas.openxmlformats.org/officeDocument/2006/relationships/image" Target="../media/image-11-5.png"/><Relationship Id="rId7" Type="http://schemas.openxmlformats.org/officeDocument/2006/relationships/image" Target="../media/image-11-5.png"/><Relationship Id="rId8" Type="http://schemas.openxmlformats.org/officeDocument/2006/relationships/image" Target="../media/image-11-5.png"/><Relationship Id="rId9" Type="http://schemas.openxmlformats.org/officeDocument/2006/relationships/image" Target="../media/image-11-5.png"/><Relationship Id="rId10" Type="http://schemas.openxmlformats.org/officeDocument/2006/relationships/image" Target="../media/image-11-5.png"/><Relationship Id="rId11" Type="http://schemas.openxmlformats.org/officeDocument/2006/relationships/image" Target="../media/image-11-5.png"/><Relationship Id="rId12" Type="http://schemas.openxmlformats.org/officeDocument/2006/relationships/image" Target="../media/image-11-12.png"/><Relationship Id="rId13" Type="http://schemas.openxmlformats.org/officeDocument/2006/relationships/image" Target="../media/image-11-12.png"/><Relationship Id="rId14" Type="http://schemas.openxmlformats.org/officeDocument/2006/relationships/image" Target="../media/image-11-12.png"/><Relationship Id="rId15" Type="http://schemas.openxmlformats.org/officeDocument/2006/relationships/image" Target="../media/image-11-12.png"/><Relationship Id="rId16" Type="http://schemas.openxmlformats.org/officeDocument/2006/relationships/image" Target="../media/image-11-16.png"/><Relationship Id="rId17" Type="http://schemas.openxmlformats.org/officeDocument/2006/relationships/image" Target="../media/image-11-16.png"/><Relationship Id="rId18" Type="http://schemas.openxmlformats.org/officeDocument/2006/relationships/image" Target="../media/image-11-16.png"/><Relationship Id="rId19" Type="http://schemas.openxmlformats.org/officeDocument/2006/relationships/image" Target="../media/image-11-19.png"/><Relationship Id="rId20" Type="http://schemas.openxmlformats.org/officeDocument/2006/relationships/image" Target="../media/image-11-20.png"/><Relationship Id="rId21" Type="http://schemas.openxmlformats.org/officeDocument/2006/relationships/image" Target="../media/image-11-21.png"/><Relationship Id="rId22" Type="http://schemas.openxmlformats.org/officeDocument/2006/relationships/image" Target="../media/image-11-21.png"/><Relationship Id="rId23" Type="http://schemas.openxmlformats.org/officeDocument/2006/relationships/image" Target="../media/image-11-23.png"/><Relationship Id="rId24" Type="http://schemas.openxmlformats.org/officeDocument/2006/relationships/image" Target="../media/image-11-24.png"/><Relationship Id="rId25" Type="http://schemas.openxmlformats.org/officeDocument/2006/relationships/slideLayout" Target="../slideLayouts/slideLayout1.xml"/><Relationship Id="rId2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2.png"/><Relationship Id="rId5" Type="http://schemas.openxmlformats.org/officeDocument/2006/relationships/image" Target="../media/image-12-2.png"/><Relationship Id="rId6" Type="http://schemas.openxmlformats.org/officeDocument/2006/relationships/image" Target="../media/image-12-6.png"/><Relationship Id="rId7" Type="http://schemas.openxmlformats.org/officeDocument/2006/relationships/image" Target="../media/image-12-6.png"/><Relationship Id="rId8" Type="http://schemas.openxmlformats.org/officeDocument/2006/relationships/image" Target="../media/image-12-6.png"/><Relationship Id="rId9" Type="http://schemas.openxmlformats.org/officeDocument/2006/relationships/image" Target="../media/image-1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F0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4b8b176d1054448e556d5d1f414aa96f.png">    </p:cNvPr>
          <p:cNvPicPr>
            <a:picLocks noChangeAspect="1"/>
          </p:cNvPicPr>
          <p:nvPr/>
        </p:nvPicPr>
        <p:blipFill>
          <a:blip r:embed="rId1"/>
          <a:srcRect l="0" r="0" t="-400" b="-400"/>
          <a:stretch/>
        </p:blipFill>
        <p:spPr>
          <a:xfrm>
            <a:off x="0" y="0"/>
            <a:ext cx="18288000" cy="57607"/>
          </a:xfrm>
          <a:prstGeom prst="rect">
            <a:avLst/>
          </a:prstGeom>
        </p:spPr>
      </p:pic>
      <p:pic>
        <p:nvPicPr>
          <p:cNvPr id="4" name="Image 1" descr="gen-dedup-6ef2f382d46d5f775cbbac1e044faac9.png">    </p:cNvPr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761695" y="1638605"/>
            <a:ext cx="16763695" cy="9144"/>
          </a:xfrm>
          <a:prstGeom prst="rect">
            <a:avLst/>
          </a:prstGeom>
        </p:spPr>
      </p:pic>
      <p:pic>
        <p:nvPicPr>
          <p:cNvPr id="5" name="Image 2" descr="gen-dedup-aa69f2ffb39561dc63b4624e054af223.png">    </p:cNvPr>
          <p:cNvPicPr>
            <a:picLocks noChangeAspect="1"/>
          </p:cNvPicPr>
          <p:nvPr/>
        </p:nvPicPr>
        <p:blipFill>
          <a:blip r:embed="rId3"/>
          <a:srcRect l="-424" r="-424" t="0" b="0"/>
          <a:stretch/>
        </p:blipFill>
        <p:spPr>
          <a:xfrm>
            <a:off x="761695" y="1904695"/>
            <a:ext cx="57607" cy="323698"/>
          </a:xfrm>
          <a:prstGeom prst="rect">
            <a:avLst/>
          </a:prstGeom>
        </p:spPr>
      </p:pic>
      <p:sp>
        <p:nvSpPr>
          <p:cNvPr id="6" name="Shape 0"/>
          <p:cNvSpPr/>
          <p:nvPr/>
        </p:nvSpPr>
        <p:spPr>
          <a:xfrm>
            <a:off x="761695" y="2915107"/>
            <a:ext cx="4953305" cy="152430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1"/>
          <p:cNvSpPr/>
          <p:nvPr/>
        </p:nvSpPr>
        <p:spPr>
          <a:xfrm>
            <a:off x="6096305" y="2819095"/>
            <a:ext cx="4953305" cy="152430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2"/>
          <p:cNvSpPr/>
          <p:nvPr/>
        </p:nvSpPr>
        <p:spPr>
          <a:xfrm>
            <a:off x="761695" y="4533595"/>
            <a:ext cx="4953305" cy="152430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3"/>
          <p:cNvSpPr/>
          <p:nvPr/>
        </p:nvSpPr>
        <p:spPr>
          <a:xfrm>
            <a:off x="6096305" y="4629607"/>
            <a:ext cx="4953305" cy="152430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4"/>
          <p:cNvSpPr/>
          <p:nvPr/>
        </p:nvSpPr>
        <p:spPr>
          <a:xfrm>
            <a:off x="761695" y="6286500"/>
            <a:ext cx="10287000" cy="761695"/>
          </a:xfrm>
          <a:prstGeom prst="rect">
            <a:avLst/>
          </a:prstGeom>
          <a:solidFill>
            <a:srgbClr val="0E1F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5"/>
          <p:cNvSpPr/>
          <p:nvPr/>
        </p:nvSpPr>
        <p:spPr>
          <a:xfrm>
            <a:off x="761695" y="7487107"/>
            <a:ext cx="10287000" cy="10287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6"/>
          <p:cNvSpPr/>
          <p:nvPr/>
        </p:nvSpPr>
        <p:spPr>
          <a:xfrm>
            <a:off x="11430000" y="2495398"/>
            <a:ext cx="6096305" cy="62672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7"/>
          <p:cNvSpPr/>
          <p:nvPr/>
        </p:nvSpPr>
        <p:spPr>
          <a:xfrm>
            <a:off x="761695" y="9010498"/>
            <a:ext cx="16763695" cy="400507"/>
          </a:xfrm>
          <a:prstGeom prst="rect">
            <a:avLst/>
          </a:prstGeom>
          <a:solidFill>
            <a:srgbClr val="0E1F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4" name="Image 3" descr="gen-dedup-6ef2f382d46d5f775cbbac1e044faac9.png">    </p:cNvPr>
          <p:cNvPicPr>
            <a:picLocks noChangeAspect="1"/>
          </p:cNvPicPr>
          <p:nvPr/>
        </p:nvPicPr>
        <p:blipFill>
          <a:blip r:embed="rId4"/>
          <a:srcRect l="-2083" r="-2083" t="0" b="0"/>
          <a:stretch/>
        </p:blipFill>
        <p:spPr>
          <a:xfrm>
            <a:off x="761695" y="9715500"/>
            <a:ext cx="16763695" cy="9144"/>
          </a:xfrm>
          <a:prstGeom prst="rect">
            <a:avLst/>
          </a:prstGeom>
        </p:spPr>
      </p:pic>
      <p:pic>
        <p:nvPicPr>
          <p:cNvPr id="15" name="Image 4" descr="gen-dedup-43b0c28984762006a31e4104d623c994.png">    </p:cNvPr>
          <p:cNvPicPr>
            <a:picLocks noChangeAspect="1"/>
          </p:cNvPicPr>
          <p:nvPr/>
        </p:nvPicPr>
        <p:blipFill>
          <a:blip r:embed="rId5"/>
          <a:srcRect l="0" r="0" t="-211" b="-211"/>
          <a:stretch/>
        </p:blipFill>
        <p:spPr>
          <a:xfrm>
            <a:off x="761695" y="2915107"/>
            <a:ext cx="75895" cy="1524305"/>
          </a:xfrm>
          <a:prstGeom prst="rect">
            <a:avLst/>
          </a:prstGeom>
        </p:spPr>
      </p:pic>
      <p:pic>
        <p:nvPicPr>
          <p:cNvPr id="16" name="Image 5" descr="gen-dedup-a5ad2596fe544ee417c27e1595b4d62d.png">    </p:cNvPr>
          <p:cNvPicPr>
            <a:picLocks noChangeAspect="1"/>
          </p:cNvPicPr>
          <p:nvPr/>
        </p:nvPicPr>
        <p:blipFill>
          <a:blip r:embed="rId6"/>
          <a:srcRect l="0" r="0" t="-211" b="-211"/>
          <a:stretch/>
        </p:blipFill>
        <p:spPr>
          <a:xfrm>
            <a:off x="6096305" y="2819095"/>
            <a:ext cx="75895" cy="1524305"/>
          </a:xfrm>
          <a:prstGeom prst="rect">
            <a:avLst/>
          </a:prstGeom>
        </p:spPr>
      </p:pic>
      <p:pic>
        <p:nvPicPr>
          <p:cNvPr id="17" name="Image 6" descr="gen-dedup-a94b9430d391979252bc7cc8067c02f5.png">    </p:cNvPr>
          <p:cNvPicPr>
            <a:picLocks noChangeAspect="1"/>
          </p:cNvPicPr>
          <p:nvPr/>
        </p:nvPicPr>
        <p:blipFill>
          <a:blip r:embed="rId7"/>
          <a:srcRect l="0" r="0" t="-211" b="-211"/>
          <a:stretch/>
        </p:blipFill>
        <p:spPr>
          <a:xfrm>
            <a:off x="761695" y="4533595"/>
            <a:ext cx="75895" cy="1524305"/>
          </a:xfrm>
          <a:prstGeom prst="rect">
            <a:avLst/>
          </a:prstGeom>
        </p:spPr>
      </p:pic>
      <p:pic>
        <p:nvPicPr>
          <p:cNvPr id="18" name="Image 7" descr="gen-dedup-0f81ba74b1f94609fe672815e8b00e2e.png">    </p:cNvPr>
          <p:cNvPicPr>
            <a:picLocks noChangeAspect="1"/>
          </p:cNvPicPr>
          <p:nvPr/>
        </p:nvPicPr>
        <p:blipFill>
          <a:blip r:embed="rId8"/>
          <a:srcRect l="0" r="0" t="-211" b="-211"/>
          <a:stretch/>
        </p:blipFill>
        <p:spPr>
          <a:xfrm>
            <a:off x="6096305" y="4629607"/>
            <a:ext cx="75895" cy="1524305"/>
          </a:xfrm>
          <a:prstGeom prst="rect">
            <a:avLst/>
          </a:prstGeom>
        </p:spPr>
      </p:pic>
      <p:sp>
        <p:nvSpPr>
          <p:cNvPr id="19" name="Shape 8"/>
          <p:cNvSpPr/>
          <p:nvPr/>
        </p:nvSpPr>
        <p:spPr>
          <a:xfrm>
            <a:off x="761695" y="7487107"/>
            <a:ext cx="10287000" cy="304495"/>
          </a:xfrm>
          <a:prstGeom prst="rect">
            <a:avLst/>
          </a:prstGeom>
          <a:solidFill>
            <a:srgbClr val="F4F6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0" name="Image 8" descr="gen-dedup-73ae536225137491d770b9b5c47d863e.png">    </p:cNvPr>
          <p:cNvPicPr>
            <a:picLocks noChangeAspect="1"/>
          </p:cNvPicPr>
          <p:nvPr/>
        </p:nvPicPr>
        <p:blipFill>
          <a:blip r:embed="rId9"/>
          <a:srcRect l="-2083" r="-2083" t="0" b="0"/>
          <a:stretch/>
        </p:blipFill>
        <p:spPr>
          <a:xfrm>
            <a:off x="761695" y="8191195"/>
            <a:ext cx="10287000" cy="9144"/>
          </a:xfrm>
          <a:prstGeom prst="rect">
            <a:avLst/>
          </a:prstGeom>
        </p:spPr>
      </p:pic>
      <p:sp>
        <p:nvSpPr>
          <p:cNvPr id="21" name="Shape 9"/>
          <p:cNvSpPr/>
          <p:nvPr/>
        </p:nvSpPr>
        <p:spPr>
          <a:xfrm>
            <a:off x="11430000" y="2495398"/>
            <a:ext cx="6096305" cy="609905"/>
          </a:xfrm>
          <a:prstGeom prst="rect">
            <a:avLst/>
          </a:prstGeom>
          <a:solidFill>
            <a:srgbClr val="0E1F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2" name="Image 9" descr="gen-dedup-033c774800f05ae18daa4330ec49aeb8.png">    </p:cNvPr>
          <p:cNvPicPr>
            <a:picLocks noChangeAspect="1"/>
          </p:cNvPicPr>
          <p:nvPr/>
        </p:nvPicPr>
        <p:blipFill>
          <a:blip r:embed="rId10"/>
          <a:srcRect l="-2083" r="-2083" t="0" b="0"/>
          <a:stretch/>
        </p:blipFill>
        <p:spPr>
          <a:xfrm>
            <a:off x="11430000" y="3124505"/>
            <a:ext cx="6096305" cy="9144"/>
          </a:xfrm>
          <a:prstGeom prst="rect">
            <a:avLst/>
          </a:prstGeom>
        </p:spPr>
      </p:pic>
      <p:pic>
        <p:nvPicPr>
          <p:cNvPr id="23" name="Image 10" descr="gen-dedup-033c774800f05ae18daa4330ec49aeb8.png">    </p:cNvPr>
          <p:cNvPicPr>
            <a:picLocks noChangeAspect="1"/>
          </p:cNvPicPr>
          <p:nvPr/>
        </p:nvPicPr>
        <p:blipFill>
          <a:blip r:embed="rId11"/>
          <a:srcRect l="-2083" r="-2083" t="0" b="0"/>
          <a:stretch/>
        </p:blipFill>
        <p:spPr>
          <a:xfrm>
            <a:off x="11430000" y="3924605"/>
            <a:ext cx="6096305" cy="9144"/>
          </a:xfrm>
          <a:prstGeom prst="rect">
            <a:avLst/>
          </a:prstGeom>
        </p:spPr>
      </p:pic>
      <p:pic>
        <p:nvPicPr>
          <p:cNvPr id="24" name="Image 11" descr="gen-dedup-033c774800f05ae18daa4330ec49aeb8.png">    </p:cNvPr>
          <p:cNvPicPr>
            <a:picLocks noChangeAspect="1"/>
          </p:cNvPicPr>
          <p:nvPr/>
        </p:nvPicPr>
        <p:blipFill>
          <a:blip r:embed="rId12"/>
          <a:srcRect l="-2083" r="-2083" t="0" b="0"/>
          <a:stretch/>
        </p:blipFill>
        <p:spPr>
          <a:xfrm>
            <a:off x="11430000" y="4724705"/>
            <a:ext cx="6096305" cy="9144"/>
          </a:xfrm>
          <a:prstGeom prst="rect">
            <a:avLst/>
          </a:prstGeom>
        </p:spPr>
      </p:pic>
      <p:pic>
        <p:nvPicPr>
          <p:cNvPr id="25" name="Image 12" descr="gen-dedup-033c774800f05ae18daa4330ec49aeb8.png">    </p:cNvPr>
          <p:cNvPicPr>
            <a:picLocks noChangeAspect="1"/>
          </p:cNvPicPr>
          <p:nvPr/>
        </p:nvPicPr>
        <p:blipFill>
          <a:blip r:embed="rId13"/>
          <a:srcRect l="-2083" r="-2083" t="0" b="0"/>
          <a:stretch/>
        </p:blipFill>
        <p:spPr>
          <a:xfrm>
            <a:off x="11430000" y="5524805"/>
            <a:ext cx="6096305" cy="9144"/>
          </a:xfrm>
          <a:prstGeom prst="rect">
            <a:avLst/>
          </a:prstGeom>
        </p:spPr>
      </p:pic>
      <p:pic>
        <p:nvPicPr>
          <p:cNvPr id="26" name="Image 13" descr="gen-dedup-033c774800f05ae18daa4330ec49aeb8.png">    </p:cNvPr>
          <p:cNvPicPr>
            <a:picLocks noChangeAspect="1"/>
          </p:cNvPicPr>
          <p:nvPr/>
        </p:nvPicPr>
        <p:blipFill>
          <a:blip r:embed="rId14"/>
          <a:srcRect l="-2083" r="-2083" t="0" b="0"/>
          <a:stretch/>
        </p:blipFill>
        <p:spPr>
          <a:xfrm>
            <a:off x="11430000" y="6324905"/>
            <a:ext cx="6096305" cy="9144"/>
          </a:xfrm>
          <a:prstGeom prst="rect">
            <a:avLst/>
          </a:prstGeom>
        </p:spPr>
      </p:pic>
      <p:sp>
        <p:nvSpPr>
          <p:cNvPr id="27" name="Shape 10"/>
          <p:cNvSpPr/>
          <p:nvPr/>
        </p:nvSpPr>
        <p:spPr>
          <a:xfrm>
            <a:off x="11658600" y="7677302"/>
            <a:ext cx="761695" cy="609905"/>
          </a:xfrm>
          <a:prstGeom prst="rect">
            <a:avLst/>
          </a:prstGeom>
          <a:solidFill>
            <a:srgbClr val="0E1F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11"/>
          <p:cNvSpPr/>
          <p:nvPr/>
        </p:nvSpPr>
        <p:spPr>
          <a:xfrm>
            <a:off x="12592202" y="7677302"/>
            <a:ext cx="761695" cy="609905"/>
          </a:xfrm>
          <a:prstGeom prst="rect">
            <a:avLst/>
          </a:prstGeom>
          <a:solidFill>
            <a:srgbClr val="0E1F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12"/>
          <p:cNvSpPr/>
          <p:nvPr/>
        </p:nvSpPr>
        <p:spPr>
          <a:xfrm>
            <a:off x="13525805" y="7677302"/>
            <a:ext cx="761695" cy="609905"/>
          </a:xfrm>
          <a:prstGeom prst="rect">
            <a:avLst/>
          </a:prstGeom>
          <a:solidFill>
            <a:srgbClr val="0E1F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13"/>
          <p:cNvSpPr/>
          <p:nvPr/>
        </p:nvSpPr>
        <p:spPr>
          <a:xfrm>
            <a:off x="14459407" y="7677302"/>
            <a:ext cx="761695" cy="609905"/>
          </a:xfrm>
          <a:prstGeom prst="rect">
            <a:avLst/>
          </a:prstGeom>
          <a:solidFill>
            <a:srgbClr val="0E1F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1" name="Image 14" descr="gen-dedup-c446308907549a06dea20593753adc8a.png">    </p:cNvPr>
          <p:cNvPicPr>
            <a:picLocks noChangeAspect="1"/>
          </p:cNvPicPr>
          <p:nvPr/>
        </p:nvPicPr>
        <p:blipFill>
          <a:blip r:embed="rId15"/>
          <a:srcRect l="-342" r="-342" t="0" b="0"/>
          <a:stretch/>
        </p:blipFill>
        <p:spPr>
          <a:xfrm>
            <a:off x="761695" y="9010498"/>
            <a:ext cx="57607" cy="400507"/>
          </a:xfrm>
          <a:prstGeom prst="rect">
            <a:avLst/>
          </a:prstGeom>
        </p:spPr>
      </p:pic>
      <p:sp>
        <p:nvSpPr>
          <p:cNvPr id="32" name="Text 14"/>
          <p:cNvSpPr txBox="1"/>
          <p:nvPr/>
        </p:nvSpPr>
        <p:spPr>
          <a:xfrm>
            <a:off x="761695" y="400507"/>
            <a:ext cx="1334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DOC //</a:t>
            </a:r>
            <a:endParaRPr lang="en-US" sz="1050" dirty="0"/>
          </a:p>
        </p:txBody>
      </p:sp>
      <p:sp>
        <p:nvSpPr>
          <p:cNvPr id="33" name="Text 15"/>
          <p:cNvSpPr txBox="1"/>
          <p:nvPr/>
        </p:nvSpPr>
        <p:spPr>
          <a:xfrm>
            <a:off x="761695" y="629107"/>
            <a:ext cx="13341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63" kern="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EV-BEOL-BLV-018</a:t>
            </a:r>
            <a:endParaRPr lang="en-US" sz="1050" dirty="0"/>
          </a:p>
        </p:txBody>
      </p:sp>
      <p:sp>
        <p:nvSpPr>
          <p:cNvPr id="34" name="Text 16"/>
          <p:cNvSpPr txBox="1"/>
          <p:nvPr/>
        </p:nvSpPr>
        <p:spPr>
          <a:xfrm>
            <a:off x="761695" y="857707"/>
            <a:ext cx="11811305" cy="609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300" b="1" spc="-33" kern="0" dirty="0">
                <a:solidFill>
                  <a:srgbClr val="0E1F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실험 목적 &amp; 평가 조건 매트릭스</a:t>
            </a:r>
            <a:endParaRPr lang="en-US" sz="3300" dirty="0"/>
          </a:p>
        </p:txBody>
      </p:sp>
      <p:sp>
        <p:nvSpPr>
          <p:cNvPr id="35" name="Text 17"/>
          <p:cNvSpPr txBox="1"/>
          <p:nvPr/>
        </p:nvSpPr>
        <p:spPr>
          <a:xfrm>
            <a:off x="761695" y="1543507"/>
            <a:ext cx="118113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D566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Barrier-less Via (RSBM 선택성) — 4 wafer × V1 / M2 / IMD / RSBM / CMP</a:t>
            </a:r>
            <a:endParaRPr lang="en-US" sz="1350" dirty="0"/>
          </a:p>
        </p:txBody>
      </p:sp>
      <p:sp>
        <p:nvSpPr>
          <p:cNvPr id="36" name="Text 18"/>
          <p:cNvSpPr txBox="1"/>
          <p:nvPr/>
        </p:nvSpPr>
        <p:spPr>
          <a:xfrm>
            <a:off x="15430500" y="400507"/>
            <a:ext cx="20958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spc="98" kern="0" dirty="0">
                <a:solidFill>
                  <a:srgbClr val="5A62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 0.6 · INTERNAL</a:t>
            </a:r>
            <a:endParaRPr lang="en-US" sz="975" dirty="0"/>
          </a:p>
        </p:txBody>
      </p:sp>
      <p:sp>
        <p:nvSpPr>
          <p:cNvPr id="37" name="Text 19"/>
          <p:cNvSpPr txBox="1"/>
          <p:nvPr/>
        </p:nvSpPr>
        <p:spPr>
          <a:xfrm>
            <a:off x="15430500" y="599846"/>
            <a:ext cx="20958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dirty="0">
                <a:solidFill>
                  <a:srgbClr val="5A62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2026-10-03</a:t>
            </a:r>
            <a:endParaRPr lang="en-US" sz="975" dirty="0"/>
          </a:p>
        </p:txBody>
      </p:sp>
      <p:sp>
        <p:nvSpPr>
          <p:cNvPr id="38" name="Text 20"/>
          <p:cNvSpPr txBox="1"/>
          <p:nvPr/>
        </p:nvSpPr>
        <p:spPr>
          <a:xfrm>
            <a:off x="914400" y="1904695"/>
            <a:ext cx="76206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spc="168" kern="0" dirty="0">
                <a:solidFill>
                  <a:srgbClr val="B858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§ 01 / 01 · PLAN</a:t>
            </a:r>
            <a:endParaRPr lang="en-US" sz="1050" dirty="0"/>
          </a:p>
        </p:txBody>
      </p:sp>
      <p:sp>
        <p:nvSpPr>
          <p:cNvPr id="39" name="Text 21"/>
          <p:cNvSpPr txBox="1"/>
          <p:nvPr/>
        </p:nvSpPr>
        <p:spPr>
          <a:xfrm>
            <a:off x="914400" y="2115007"/>
            <a:ext cx="76206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좌측 plan matrix는 wafer × barrier 조건을 슬라이스, 우측 패널은 측정 항목 / target spec.</a:t>
            </a:r>
            <a:endParaRPr lang="en-US" sz="975" dirty="0"/>
          </a:p>
        </p:txBody>
      </p:sp>
      <p:sp>
        <p:nvSpPr>
          <p:cNvPr id="40" name="Text 22"/>
          <p:cNvSpPr txBox="1"/>
          <p:nvPr/>
        </p:nvSpPr>
        <p:spPr>
          <a:xfrm>
            <a:off x="761695" y="2495398"/>
            <a:ext cx="10287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PLAN MATRIX — wafer별 barrierless split · N=4 · V1/M2 2단</a:t>
            </a:r>
            <a:endParaRPr lang="en-US" sz="1050" dirty="0"/>
          </a:p>
        </p:txBody>
      </p:sp>
      <p:sp>
        <p:nvSpPr>
          <p:cNvPr id="41" name="Text 23"/>
          <p:cNvSpPr txBox="1"/>
          <p:nvPr/>
        </p:nvSpPr>
        <p:spPr>
          <a:xfrm>
            <a:off x="990295" y="2971800"/>
            <a:ext cx="2286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54616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WAFER 01</a:t>
            </a:r>
            <a:endParaRPr lang="en-US" sz="975" dirty="0"/>
          </a:p>
        </p:txBody>
      </p:sp>
      <p:sp>
        <p:nvSpPr>
          <p:cNvPr id="42" name="Text 24"/>
          <p:cNvSpPr txBox="1"/>
          <p:nvPr/>
        </p:nvSpPr>
        <p:spPr>
          <a:xfrm>
            <a:off x="990295" y="3172054"/>
            <a:ext cx="2286000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E1F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REF // Ta/TaN</a:t>
            </a:r>
            <a:endParaRPr lang="en-US" sz="1800" dirty="0"/>
          </a:p>
        </p:txBody>
      </p:sp>
      <p:sp>
        <p:nvSpPr>
          <p:cNvPr id="43" name="Text 25"/>
          <p:cNvSpPr txBox="1"/>
          <p:nvPr/>
        </p:nvSpPr>
        <p:spPr>
          <a:xfrm>
            <a:off x="990295" y="3696005"/>
            <a:ext cx="36201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4D566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PVD Ta/TaN + Cu seed. 기준 평가군.</a:t>
            </a:r>
            <a:endParaRPr lang="en-US" sz="1125" dirty="0"/>
          </a:p>
        </p:txBody>
      </p:sp>
      <p:sp>
        <p:nvSpPr>
          <p:cNvPr id="44" name="Text 26"/>
          <p:cNvSpPr txBox="1"/>
          <p:nvPr/>
        </p:nvSpPr>
        <p:spPr>
          <a:xfrm>
            <a:off x="4762195" y="3010205"/>
            <a:ext cx="762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dirty="0">
                <a:solidFill>
                  <a:srgbClr val="5A62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role</a:t>
            </a:r>
            <a:endParaRPr lang="en-US" sz="975" dirty="0"/>
          </a:p>
        </p:txBody>
      </p:sp>
      <p:sp>
        <p:nvSpPr>
          <p:cNvPr id="45" name="Text 27"/>
          <p:cNvSpPr txBox="1"/>
          <p:nvPr/>
        </p:nvSpPr>
        <p:spPr>
          <a:xfrm>
            <a:off x="4696358" y="3209544"/>
            <a:ext cx="828446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125" b="1" dirty="0">
                <a:solidFill>
                  <a:srgbClr val="5461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reference</a:t>
            </a:r>
            <a:endParaRPr lang="en-US" sz="1125" dirty="0"/>
          </a:p>
        </p:txBody>
      </p:sp>
      <p:sp>
        <p:nvSpPr>
          <p:cNvPr id="46" name="Text 28"/>
          <p:cNvSpPr txBox="1"/>
          <p:nvPr/>
        </p:nvSpPr>
        <p:spPr>
          <a:xfrm>
            <a:off x="6324905" y="2971800"/>
            <a:ext cx="2286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B858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WAFER 02</a:t>
            </a:r>
            <a:endParaRPr lang="en-US" sz="975" dirty="0"/>
          </a:p>
        </p:txBody>
      </p:sp>
      <p:sp>
        <p:nvSpPr>
          <p:cNvPr id="47" name="Text 29"/>
          <p:cNvSpPr txBox="1"/>
          <p:nvPr/>
        </p:nvSpPr>
        <p:spPr>
          <a:xfrm>
            <a:off x="6324905" y="3172054"/>
            <a:ext cx="2500884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E1F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SPLIT-A // BLV-Co</a:t>
            </a:r>
            <a:endParaRPr lang="en-US" sz="1800" dirty="0"/>
          </a:p>
        </p:txBody>
      </p:sp>
      <p:sp>
        <p:nvSpPr>
          <p:cNvPr id="48" name="Text 30"/>
          <p:cNvSpPr txBox="1"/>
          <p:nvPr/>
        </p:nvSpPr>
        <p:spPr>
          <a:xfrm>
            <a:off x="6324905" y="3696005"/>
            <a:ext cx="4277563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4D566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Barrier-less + selective ALD Co (1.5nm). 저온 220℃.</a:t>
            </a:r>
            <a:endParaRPr lang="en-US" sz="1125" dirty="0"/>
          </a:p>
        </p:txBody>
      </p:sp>
      <p:sp>
        <p:nvSpPr>
          <p:cNvPr id="49" name="Text 31"/>
          <p:cNvSpPr txBox="1"/>
          <p:nvPr/>
        </p:nvSpPr>
        <p:spPr>
          <a:xfrm>
            <a:off x="10096805" y="3010205"/>
            <a:ext cx="762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dirty="0">
                <a:solidFill>
                  <a:srgbClr val="5A62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role</a:t>
            </a:r>
            <a:endParaRPr lang="en-US" sz="975" dirty="0"/>
          </a:p>
        </p:txBody>
      </p:sp>
      <p:sp>
        <p:nvSpPr>
          <p:cNvPr id="50" name="Text 32"/>
          <p:cNvSpPr txBox="1"/>
          <p:nvPr/>
        </p:nvSpPr>
        <p:spPr>
          <a:xfrm>
            <a:off x="10096805" y="3209544"/>
            <a:ext cx="762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125" b="1" dirty="0">
                <a:solidFill>
                  <a:srgbClr val="B858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</a:t>
            </a:r>
            <a:endParaRPr lang="en-US" sz="1125" dirty="0"/>
          </a:p>
        </p:txBody>
      </p:sp>
      <p:sp>
        <p:nvSpPr>
          <p:cNvPr id="51" name="Text 33"/>
          <p:cNvSpPr txBox="1"/>
          <p:nvPr/>
        </p:nvSpPr>
        <p:spPr>
          <a:xfrm>
            <a:off x="990295" y="4647895"/>
            <a:ext cx="2286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1F536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WAFER 03</a:t>
            </a:r>
            <a:endParaRPr lang="en-US" sz="975" dirty="0"/>
          </a:p>
        </p:txBody>
      </p:sp>
      <p:sp>
        <p:nvSpPr>
          <p:cNvPr id="52" name="Text 34"/>
          <p:cNvSpPr txBox="1"/>
          <p:nvPr/>
        </p:nvSpPr>
        <p:spPr>
          <a:xfrm>
            <a:off x="990295" y="4848149"/>
            <a:ext cx="2500884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E1F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SPLIT-B // BLV-Ru</a:t>
            </a:r>
            <a:endParaRPr lang="en-US" sz="1800" dirty="0"/>
          </a:p>
        </p:txBody>
      </p:sp>
      <p:sp>
        <p:nvSpPr>
          <p:cNvPr id="53" name="Text 35"/>
          <p:cNvSpPr txBox="1"/>
          <p:nvPr/>
        </p:nvSpPr>
        <p:spPr>
          <a:xfrm>
            <a:off x="990295" y="5391302"/>
            <a:ext cx="4058107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4D566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Barrier-less + selective ALD Ru (2.0nm). 280℃.</a:t>
            </a:r>
            <a:endParaRPr lang="en-US" sz="1125" dirty="0"/>
          </a:p>
        </p:txBody>
      </p:sp>
      <p:sp>
        <p:nvSpPr>
          <p:cNvPr id="54" name="Text 36"/>
          <p:cNvSpPr txBox="1"/>
          <p:nvPr/>
        </p:nvSpPr>
        <p:spPr>
          <a:xfrm>
            <a:off x="4762195" y="4724705"/>
            <a:ext cx="762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dirty="0">
                <a:solidFill>
                  <a:srgbClr val="5A62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role</a:t>
            </a:r>
            <a:endParaRPr lang="en-US" sz="975" dirty="0"/>
          </a:p>
        </p:txBody>
      </p:sp>
      <p:sp>
        <p:nvSpPr>
          <p:cNvPr id="55" name="Text 37"/>
          <p:cNvSpPr txBox="1"/>
          <p:nvPr/>
        </p:nvSpPr>
        <p:spPr>
          <a:xfrm>
            <a:off x="4762195" y="4924044"/>
            <a:ext cx="762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125" b="1" dirty="0">
                <a:solidFill>
                  <a:srgbClr val="1F53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Ru-sel</a:t>
            </a:r>
            <a:endParaRPr lang="en-US" sz="1125" dirty="0"/>
          </a:p>
        </p:txBody>
      </p:sp>
      <p:sp>
        <p:nvSpPr>
          <p:cNvPr id="56" name="Text 38"/>
          <p:cNvSpPr txBox="1"/>
          <p:nvPr/>
        </p:nvSpPr>
        <p:spPr>
          <a:xfrm>
            <a:off x="6324905" y="4743907"/>
            <a:ext cx="3048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2D6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WAFER 04</a:t>
            </a:r>
            <a:endParaRPr lang="en-US" sz="975" dirty="0"/>
          </a:p>
        </p:txBody>
      </p:sp>
      <p:sp>
        <p:nvSpPr>
          <p:cNvPr id="57" name="Text 39"/>
          <p:cNvSpPr txBox="1"/>
          <p:nvPr/>
        </p:nvSpPr>
        <p:spPr>
          <a:xfrm>
            <a:off x="6324905" y="4943246"/>
            <a:ext cx="3048610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E1F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SPLIT-C // BLV Ru/Co</a:t>
            </a:r>
            <a:endParaRPr lang="en-US" sz="1800" dirty="0"/>
          </a:p>
        </p:txBody>
      </p:sp>
      <p:sp>
        <p:nvSpPr>
          <p:cNvPr id="58" name="Text 40"/>
          <p:cNvSpPr txBox="1"/>
          <p:nvPr/>
        </p:nvSpPr>
        <p:spPr>
          <a:xfrm>
            <a:off x="6324905" y="5486400"/>
            <a:ext cx="4277563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D566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Ru(2.0) trench / via 하단 + Co(1.0) side-only hybrid.</a:t>
            </a:r>
            <a:endParaRPr lang="en-US" sz="1050" dirty="0"/>
          </a:p>
        </p:txBody>
      </p:sp>
      <p:sp>
        <p:nvSpPr>
          <p:cNvPr id="59" name="Text 41"/>
          <p:cNvSpPr txBox="1"/>
          <p:nvPr/>
        </p:nvSpPr>
        <p:spPr>
          <a:xfrm>
            <a:off x="10096805" y="4819802"/>
            <a:ext cx="762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dirty="0">
                <a:solidFill>
                  <a:srgbClr val="5A62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role</a:t>
            </a:r>
            <a:endParaRPr lang="en-US" sz="975" dirty="0"/>
          </a:p>
        </p:txBody>
      </p:sp>
      <p:sp>
        <p:nvSpPr>
          <p:cNvPr id="60" name="Text 42"/>
          <p:cNvSpPr txBox="1"/>
          <p:nvPr/>
        </p:nvSpPr>
        <p:spPr>
          <a:xfrm>
            <a:off x="10096805" y="5020056"/>
            <a:ext cx="762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125" b="1" dirty="0">
                <a:solidFill>
                  <a:srgbClr val="2D6A4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hybrid</a:t>
            </a:r>
            <a:endParaRPr lang="en-US" sz="1125" dirty="0"/>
          </a:p>
        </p:txBody>
      </p:sp>
      <p:sp>
        <p:nvSpPr>
          <p:cNvPr id="61" name="Text 43"/>
          <p:cNvSpPr txBox="1"/>
          <p:nvPr/>
        </p:nvSpPr>
        <p:spPr>
          <a:xfrm>
            <a:off x="990295" y="6400800"/>
            <a:ext cx="9906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B858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SPLIT FACTORS</a:t>
            </a:r>
            <a:endParaRPr lang="en-US" sz="975" dirty="0"/>
          </a:p>
        </p:txBody>
      </p:sp>
      <p:sp>
        <p:nvSpPr>
          <p:cNvPr id="62" name="Text 44"/>
          <p:cNvSpPr txBox="1"/>
          <p:nvPr/>
        </p:nvSpPr>
        <p:spPr>
          <a:xfrm>
            <a:off x="990295" y="6657746"/>
            <a:ext cx="3219602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B8C0C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</a:t>
            </a:r>
            <a:pPr algn="l" indent="0" marL="0">
              <a:buNone/>
            </a:pPr>
            <a:r>
              <a:rPr lang="en-US" sz="127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Via BM: </a:t>
            </a:r>
            <a:pPr algn="l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Ta/TaN · Co · Ru · Ru/Co</a:t>
            </a:r>
            <a:endParaRPr lang="en-US" sz="1275" dirty="0"/>
          </a:p>
        </p:txBody>
      </p:sp>
      <p:sp>
        <p:nvSpPr>
          <p:cNvPr id="63" name="Text 45"/>
          <p:cNvSpPr txBox="1"/>
          <p:nvPr/>
        </p:nvSpPr>
        <p:spPr>
          <a:xfrm>
            <a:off x="4069994" y="6657746"/>
            <a:ext cx="1553566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B8C0C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</a:t>
            </a:r>
            <a:pPr algn="l" indent="0" marL="0">
              <a:buNone/>
            </a:pPr>
            <a:r>
              <a:rPr lang="en-US" sz="127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Layer: </a:t>
            </a:r>
            <a:pPr algn="l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V1 / M2</a:t>
            </a:r>
            <a:endParaRPr lang="en-US" sz="1275" dirty="0"/>
          </a:p>
        </p:txBody>
      </p:sp>
      <p:sp>
        <p:nvSpPr>
          <p:cNvPr id="64" name="Text 46"/>
          <p:cNvSpPr txBox="1"/>
          <p:nvPr/>
        </p:nvSpPr>
        <p:spPr>
          <a:xfrm>
            <a:off x="5747004" y="6657746"/>
            <a:ext cx="1644091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B8C0C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</a:t>
            </a:r>
            <a:pPr algn="l" indent="0" marL="0">
              <a:buNone/>
            </a:pPr>
            <a:r>
              <a:rPr lang="en-US" sz="127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ILD: </a:t>
            </a:r>
            <a:pPr algn="l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pSik / ULK</a:t>
            </a:r>
            <a:endParaRPr lang="en-US" sz="1275" dirty="0"/>
          </a:p>
        </p:txBody>
      </p:sp>
      <p:sp>
        <p:nvSpPr>
          <p:cNvPr id="65" name="Text 47"/>
          <p:cNvSpPr txBox="1"/>
          <p:nvPr/>
        </p:nvSpPr>
        <p:spPr>
          <a:xfrm>
            <a:off x="761695" y="7239305"/>
            <a:ext cx="10287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METAL LAYER × SPLIT 매트릭스</a:t>
            </a:r>
            <a:endParaRPr lang="en-US" sz="1050" dirty="0"/>
          </a:p>
        </p:txBody>
      </p:sp>
      <p:sp>
        <p:nvSpPr>
          <p:cNvPr id="66" name="Text 48"/>
          <p:cNvSpPr txBox="1"/>
          <p:nvPr/>
        </p:nvSpPr>
        <p:spPr>
          <a:xfrm>
            <a:off x="914400" y="7543800"/>
            <a:ext cx="19056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E1F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split ↓ / layer →</a:t>
            </a:r>
            <a:endParaRPr lang="en-US" sz="1050" dirty="0"/>
          </a:p>
        </p:txBody>
      </p:sp>
      <p:sp>
        <p:nvSpPr>
          <p:cNvPr id="67" name="Text 49"/>
          <p:cNvSpPr txBox="1"/>
          <p:nvPr/>
        </p:nvSpPr>
        <p:spPr>
          <a:xfrm>
            <a:off x="3238805" y="7543800"/>
            <a:ext cx="161940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W01 / REF</a:t>
            </a:r>
            <a:endParaRPr lang="en-US" sz="1050" dirty="0"/>
          </a:p>
        </p:txBody>
      </p:sp>
      <p:sp>
        <p:nvSpPr>
          <p:cNvPr id="68" name="Text 50"/>
          <p:cNvSpPr txBox="1"/>
          <p:nvPr/>
        </p:nvSpPr>
        <p:spPr>
          <a:xfrm>
            <a:off x="4953305" y="7543800"/>
            <a:ext cx="161940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858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W02 / Co</a:t>
            </a:r>
            <a:endParaRPr lang="en-US" sz="1050" dirty="0"/>
          </a:p>
        </p:txBody>
      </p:sp>
      <p:sp>
        <p:nvSpPr>
          <p:cNvPr id="69" name="Text 51"/>
          <p:cNvSpPr txBox="1"/>
          <p:nvPr/>
        </p:nvSpPr>
        <p:spPr>
          <a:xfrm>
            <a:off x="6667805" y="7543800"/>
            <a:ext cx="161940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536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W03 / Ru</a:t>
            </a:r>
            <a:endParaRPr lang="en-US" sz="1050" dirty="0"/>
          </a:p>
        </p:txBody>
      </p:sp>
      <p:sp>
        <p:nvSpPr>
          <p:cNvPr id="70" name="Text 52"/>
          <p:cNvSpPr txBox="1"/>
          <p:nvPr/>
        </p:nvSpPr>
        <p:spPr>
          <a:xfrm>
            <a:off x="8382305" y="7543800"/>
            <a:ext cx="161940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D6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W04 / hybrid</a:t>
            </a:r>
            <a:endParaRPr lang="en-US" sz="1050" dirty="0"/>
          </a:p>
        </p:txBody>
      </p:sp>
      <p:sp>
        <p:nvSpPr>
          <p:cNvPr id="71" name="Text 53"/>
          <p:cNvSpPr txBox="1"/>
          <p:nvPr/>
        </p:nvSpPr>
        <p:spPr>
          <a:xfrm>
            <a:off x="914400" y="7925105"/>
            <a:ext cx="1905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E1F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V1 (via bottom)</a:t>
            </a:r>
            <a:endParaRPr lang="en-US" sz="1350" dirty="0"/>
          </a:p>
        </p:txBody>
      </p:sp>
      <p:sp>
        <p:nvSpPr>
          <p:cNvPr id="72" name="Text 54"/>
          <p:cNvSpPr txBox="1"/>
          <p:nvPr/>
        </p:nvSpPr>
        <p:spPr>
          <a:xfrm>
            <a:off x="3238805" y="7905902"/>
            <a:ext cx="1619402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54616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yes</a:t>
            </a:r>
            <a:endParaRPr lang="en-US" sz="1650" dirty="0"/>
          </a:p>
        </p:txBody>
      </p:sp>
      <p:sp>
        <p:nvSpPr>
          <p:cNvPr id="73" name="Text 55"/>
          <p:cNvSpPr txBox="1"/>
          <p:nvPr/>
        </p:nvSpPr>
        <p:spPr>
          <a:xfrm>
            <a:off x="4953305" y="7905902"/>
            <a:ext cx="1619402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858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yes</a:t>
            </a:r>
            <a:endParaRPr lang="en-US" sz="1650" dirty="0"/>
          </a:p>
        </p:txBody>
      </p:sp>
      <p:sp>
        <p:nvSpPr>
          <p:cNvPr id="74" name="Text 56"/>
          <p:cNvSpPr txBox="1"/>
          <p:nvPr/>
        </p:nvSpPr>
        <p:spPr>
          <a:xfrm>
            <a:off x="6667805" y="7905902"/>
            <a:ext cx="1619402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F536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yes</a:t>
            </a:r>
            <a:endParaRPr lang="en-US" sz="1650" dirty="0"/>
          </a:p>
        </p:txBody>
      </p:sp>
      <p:sp>
        <p:nvSpPr>
          <p:cNvPr id="75" name="Text 57"/>
          <p:cNvSpPr txBox="1"/>
          <p:nvPr/>
        </p:nvSpPr>
        <p:spPr>
          <a:xfrm>
            <a:off x="8382305" y="7905902"/>
            <a:ext cx="1619402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D6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yes</a:t>
            </a:r>
            <a:endParaRPr lang="en-US" sz="1650" dirty="0"/>
          </a:p>
        </p:txBody>
      </p:sp>
      <p:sp>
        <p:nvSpPr>
          <p:cNvPr id="76" name="Text 58"/>
          <p:cNvSpPr txBox="1"/>
          <p:nvPr/>
        </p:nvSpPr>
        <p:spPr>
          <a:xfrm>
            <a:off x="914400" y="8268005"/>
            <a:ext cx="1905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E1F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M2 (trench top)</a:t>
            </a:r>
            <a:endParaRPr lang="en-US" sz="1350" dirty="0"/>
          </a:p>
        </p:txBody>
      </p:sp>
      <p:sp>
        <p:nvSpPr>
          <p:cNvPr id="77" name="Text 59"/>
          <p:cNvSpPr txBox="1"/>
          <p:nvPr/>
        </p:nvSpPr>
        <p:spPr>
          <a:xfrm>
            <a:off x="3238805" y="8248802"/>
            <a:ext cx="1619402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54616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yes</a:t>
            </a:r>
            <a:endParaRPr lang="en-US" sz="1650" dirty="0"/>
          </a:p>
        </p:txBody>
      </p:sp>
      <p:sp>
        <p:nvSpPr>
          <p:cNvPr id="78" name="Text 60"/>
          <p:cNvSpPr txBox="1"/>
          <p:nvPr/>
        </p:nvSpPr>
        <p:spPr>
          <a:xfrm>
            <a:off x="4953305" y="8248802"/>
            <a:ext cx="1619402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858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yes</a:t>
            </a:r>
            <a:endParaRPr lang="en-US" sz="1650" dirty="0"/>
          </a:p>
        </p:txBody>
      </p:sp>
      <p:sp>
        <p:nvSpPr>
          <p:cNvPr id="79" name="Text 61"/>
          <p:cNvSpPr txBox="1"/>
          <p:nvPr/>
        </p:nvSpPr>
        <p:spPr>
          <a:xfrm>
            <a:off x="6667805" y="8248802"/>
            <a:ext cx="1619402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F536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yes</a:t>
            </a:r>
            <a:endParaRPr lang="en-US" sz="1650" dirty="0"/>
          </a:p>
        </p:txBody>
      </p:sp>
      <p:sp>
        <p:nvSpPr>
          <p:cNvPr id="80" name="Text 62"/>
          <p:cNvSpPr txBox="1"/>
          <p:nvPr/>
        </p:nvSpPr>
        <p:spPr>
          <a:xfrm>
            <a:off x="8382305" y="8248802"/>
            <a:ext cx="1619402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D6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yes</a:t>
            </a:r>
            <a:endParaRPr lang="en-US" sz="1650" dirty="0"/>
          </a:p>
        </p:txBody>
      </p:sp>
      <p:sp>
        <p:nvSpPr>
          <p:cNvPr id="81" name="Text 63"/>
          <p:cNvSpPr txBox="1"/>
          <p:nvPr/>
        </p:nvSpPr>
        <p:spPr>
          <a:xfrm>
            <a:off x="11658600" y="2553005"/>
            <a:ext cx="5715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spc="168" kern="0" dirty="0">
                <a:solidFill>
                  <a:srgbClr val="B858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MEASUREMENT MATRIX</a:t>
            </a:r>
            <a:endParaRPr lang="en-US" sz="1050" dirty="0"/>
          </a:p>
        </p:txBody>
      </p:sp>
      <p:sp>
        <p:nvSpPr>
          <p:cNvPr id="82" name="Text 64"/>
          <p:cNvSpPr txBox="1"/>
          <p:nvPr/>
        </p:nvSpPr>
        <p:spPr>
          <a:xfrm>
            <a:off x="11658600" y="2800807"/>
            <a:ext cx="57150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D8DCE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CD · uniformity · surface · 전기특성 — target / sample 정의</a:t>
            </a:r>
            <a:endParaRPr lang="en-US" sz="975" dirty="0"/>
          </a:p>
        </p:txBody>
      </p:sp>
      <p:sp>
        <p:nvSpPr>
          <p:cNvPr id="83" name="Text 65"/>
          <p:cNvSpPr txBox="1"/>
          <p:nvPr/>
        </p:nvSpPr>
        <p:spPr>
          <a:xfrm>
            <a:off x="11658600" y="3276295"/>
            <a:ext cx="2857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E1F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CD variation</a:t>
            </a:r>
            <a:endParaRPr lang="en-US" sz="1500" dirty="0"/>
          </a:p>
        </p:txBody>
      </p:sp>
      <p:sp>
        <p:nvSpPr>
          <p:cNvPr id="84" name="Text 66"/>
          <p:cNvSpPr txBox="1"/>
          <p:nvPr/>
        </p:nvSpPr>
        <p:spPr>
          <a:xfrm>
            <a:off x="11658600" y="3590849"/>
            <a:ext cx="28575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AASI / ASEI / AMI / ACI 4 metrics</a:t>
            </a:r>
            <a:endParaRPr lang="en-US" sz="1050" dirty="0"/>
          </a:p>
        </p:txBody>
      </p:sp>
      <p:sp>
        <p:nvSpPr>
          <p:cNvPr id="85" name="Text 67"/>
          <p:cNvSpPr txBox="1"/>
          <p:nvPr/>
        </p:nvSpPr>
        <p:spPr>
          <a:xfrm>
            <a:off x="14516100" y="3276295"/>
            <a:ext cx="28575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dirty="0">
                <a:solidFill>
                  <a:srgbClr val="5A62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target / tol.</a:t>
            </a:r>
            <a:endParaRPr lang="en-US" sz="975" dirty="0"/>
          </a:p>
        </p:txBody>
      </p:sp>
      <p:sp>
        <p:nvSpPr>
          <p:cNvPr id="86" name="Text 68"/>
          <p:cNvSpPr txBox="1"/>
          <p:nvPr/>
        </p:nvSpPr>
        <p:spPr>
          <a:xfrm>
            <a:off x="14516100" y="3476549"/>
            <a:ext cx="28575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B858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25.4 / 16.4 / 9.5 / 10.0 nm</a:t>
            </a:r>
            <a:endParaRPr lang="en-US" sz="1350" dirty="0"/>
          </a:p>
        </p:txBody>
      </p:sp>
      <p:sp>
        <p:nvSpPr>
          <p:cNvPr id="87" name="Text 69"/>
          <p:cNvSpPr txBox="1"/>
          <p:nvPr/>
        </p:nvSpPr>
        <p:spPr>
          <a:xfrm>
            <a:off x="11658600" y="4058107"/>
            <a:ext cx="2857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E1F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In-wafer uniformity</a:t>
            </a:r>
            <a:endParaRPr lang="en-US" sz="1500" dirty="0"/>
          </a:p>
        </p:txBody>
      </p:sp>
      <p:sp>
        <p:nvSpPr>
          <p:cNvPr id="88" name="Text 70"/>
          <p:cNvSpPr txBox="1"/>
          <p:nvPr/>
        </p:nvSpPr>
        <p:spPr>
          <a:xfrm>
            <a:off x="11658600" y="4371746"/>
            <a:ext cx="3058668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 × 7 사이트 (49-point), -3..+3 offset</a:t>
            </a:r>
            <a:endParaRPr lang="en-US" sz="1050" dirty="0"/>
          </a:p>
        </p:txBody>
      </p:sp>
      <p:sp>
        <p:nvSpPr>
          <p:cNvPr id="89" name="Text 71"/>
          <p:cNvSpPr txBox="1"/>
          <p:nvPr/>
        </p:nvSpPr>
        <p:spPr>
          <a:xfrm>
            <a:off x="14516100" y="4058107"/>
            <a:ext cx="28575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dirty="0">
                <a:solidFill>
                  <a:srgbClr val="5A62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site count</a:t>
            </a:r>
            <a:endParaRPr lang="en-US" sz="975" dirty="0"/>
          </a:p>
        </p:txBody>
      </p:sp>
      <p:sp>
        <p:nvSpPr>
          <p:cNvPr id="90" name="Text 72"/>
          <p:cNvSpPr txBox="1"/>
          <p:nvPr/>
        </p:nvSpPr>
        <p:spPr>
          <a:xfrm>
            <a:off x="14516100" y="4257446"/>
            <a:ext cx="28575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B858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49 sites × 4 wafers = 196 lots</a:t>
            </a:r>
            <a:endParaRPr lang="en-US" sz="1350" dirty="0"/>
          </a:p>
        </p:txBody>
      </p:sp>
      <p:sp>
        <p:nvSpPr>
          <p:cNvPr id="91" name="Text 73"/>
          <p:cNvSpPr txBox="1"/>
          <p:nvPr/>
        </p:nvSpPr>
        <p:spPr>
          <a:xfrm>
            <a:off x="11658600" y="4858207"/>
            <a:ext cx="2857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E1F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Surface / CMP</a:t>
            </a:r>
            <a:endParaRPr lang="en-US" sz="1500" dirty="0"/>
          </a:p>
        </p:txBody>
      </p:sp>
      <p:sp>
        <p:nvSpPr>
          <p:cNvPr id="92" name="Text 74"/>
          <p:cNvSpPr txBox="1"/>
          <p:nvPr/>
        </p:nvSpPr>
        <p:spPr>
          <a:xfrm>
            <a:off x="11658600" y="5171846"/>
            <a:ext cx="28575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Dishing · Erosion · Cu recess</a:t>
            </a:r>
            <a:endParaRPr lang="en-US" sz="1050" dirty="0"/>
          </a:p>
        </p:txBody>
      </p:sp>
      <p:sp>
        <p:nvSpPr>
          <p:cNvPr id="93" name="Text 75"/>
          <p:cNvSpPr txBox="1"/>
          <p:nvPr/>
        </p:nvSpPr>
        <p:spPr>
          <a:xfrm>
            <a:off x="14516100" y="4858207"/>
            <a:ext cx="28575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dirty="0">
                <a:solidFill>
                  <a:srgbClr val="5A62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metric</a:t>
            </a:r>
            <a:endParaRPr lang="en-US" sz="975" dirty="0"/>
          </a:p>
        </p:txBody>
      </p:sp>
      <p:sp>
        <p:nvSpPr>
          <p:cNvPr id="94" name="Text 76"/>
          <p:cNvSpPr txBox="1"/>
          <p:nvPr/>
        </p:nvSpPr>
        <p:spPr>
          <a:xfrm>
            <a:off x="14516100" y="5057546"/>
            <a:ext cx="28575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B858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AFM + optical profilometry</a:t>
            </a:r>
            <a:endParaRPr lang="en-US" sz="1350" dirty="0"/>
          </a:p>
        </p:txBody>
      </p:sp>
      <p:sp>
        <p:nvSpPr>
          <p:cNvPr id="95" name="Text 77"/>
          <p:cNvSpPr txBox="1"/>
          <p:nvPr/>
        </p:nvSpPr>
        <p:spPr>
          <a:xfrm>
            <a:off x="11658600" y="5658307"/>
            <a:ext cx="2857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E1F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Electrical</a:t>
            </a:r>
            <a:endParaRPr lang="en-US" sz="1500" dirty="0"/>
          </a:p>
        </p:txBody>
      </p:sp>
      <p:sp>
        <p:nvSpPr>
          <p:cNvPr id="96" name="Text 78"/>
          <p:cNvSpPr txBox="1"/>
          <p:nvPr/>
        </p:nvSpPr>
        <p:spPr>
          <a:xfrm>
            <a:off x="11658600" y="5971946"/>
            <a:ext cx="3235147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Line Rs · Via Rc · 64-site distribution</a:t>
            </a:r>
            <a:endParaRPr lang="en-US" sz="1050" dirty="0"/>
          </a:p>
        </p:txBody>
      </p:sp>
      <p:sp>
        <p:nvSpPr>
          <p:cNvPr id="97" name="Text 79"/>
          <p:cNvSpPr txBox="1"/>
          <p:nvPr/>
        </p:nvSpPr>
        <p:spPr>
          <a:xfrm>
            <a:off x="14516100" y="5658307"/>
            <a:ext cx="28575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dirty="0">
                <a:solidFill>
                  <a:srgbClr val="5A62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method</a:t>
            </a:r>
            <a:endParaRPr lang="en-US" sz="975" dirty="0"/>
          </a:p>
        </p:txBody>
      </p:sp>
      <p:sp>
        <p:nvSpPr>
          <p:cNvPr id="98" name="Text 80"/>
          <p:cNvSpPr txBox="1"/>
          <p:nvPr/>
        </p:nvSpPr>
        <p:spPr>
          <a:xfrm>
            <a:off x="14516100" y="5857646"/>
            <a:ext cx="28575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B858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W-plug Kelvin · 4-point</a:t>
            </a:r>
            <a:endParaRPr lang="en-US" sz="1350" dirty="0"/>
          </a:p>
        </p:txBody>
      </p:sp>
      <p:sp>
        <p:nvSpPr>
          <p:cNvPr id="99" name="Text 81"/>
          <p:cNvSpPr txBox="1"/>
          <p:nvPr/>
        </p:nvSpPr>
        <p:spPr>
          <a:xfrm>
            <a:off x="11658600" y="6458407"/>
            <a:ext cx="2857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E1F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 defect / abnormal</a:t>
            </a:r>
            <a:endParaRPr lang="en-US" sz="1500" dirty="0"/>
          </a:p>
        </p:txBody>
      </p:sp>
      <p:sp>
        <p:nvSpPr>
          <p:cNvPr id="100" name="Text 82"/>
          <p:cNvSpPr txBox="1"/>
          <p:nvPr/>
        </p:nvSpPr>
        <p:spPr>
          <a:xfrm>
            <a:off x="11658600" y="6772046"/>
            <a:ext cx="3395167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Voids · piping · under-CMP · plating void</a:t>
            </a:r>
            <a:endParaRPr lang="en-US" sz="1050" dirty="0"/>
          </a:p>
        </p:txBody>
      </p:sp>
      <p:sp>
        <p:nvSpPr>
          <p:cNvPr id="101" name="Text 83"/>
          <p:cNvSpPr txBox="1"/>
          <p:nvPr/>
        </p:nvSpPr>
        <p:spPr>
          <a:xfrm>
            <a:off x="14516100" y="6458407"/>
            <a:ext cx="28575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dirty="0">
                <a:solidFill>
                  <a:srgbClr val="5A62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method</a:t>
            </a:r>
            <a:endParaRPr lang="en-US" sz="975" dirty="0"/>
          </a:p>
        </p:txBody>
      </p:sp>
      <p:sp>
        <p:nvSpPr>
          <p:cNvPr id="102" name="Text 84"/>
          <p:cNvSpPr txBox="1"/>
          <p:nvPr/>
        </p:nvSpPr>
        <p:spPr>
          <a:xfrm>
            <a:off x="14516100" y="6657746"/>
            <a:ext cx="28575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B858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SEM review · v12 통계</a:t>
            </a:r>
            <a:endParaRPr lang="en-US" sz="1350" dirty="0"/>
          </a:p>
        </p:txBody>
      </p:sp>
      <p:sp>
        <p:nvSpPr>
          <p:cNvPr id="103" name="Text 85"/>
          <p:cNvSpPr txBox="1"/>
          <p:nvPr/>
        </p:nvSpPr>
        <p:spPr>
          <a:xfrm>
            <a:off x="11658600" y="7239305"/>
            <a:ext cx="57150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통계량 정의 — mean / 3σ / range / Δ vs target / WIWNU %.</a:t>
            </a:r>
            <a:endParaRPr lang="en-US" sz="975" dirty="0"/>
          </a:p>
        </p:txBody>
      </p:sp>
      <p:sp>
        <p:nvSpPr>
          <p:cNvPr id="104" name="Text 86"/>
          <p:cNvSpPr txBox="1"/>
          <p:nvPr/>
        </p:nvSpPr>
        <p:spPr>
          <a:xfrm>
            <a:off x="11658600" y="7457846"/>
            <a:ext cx="57150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49-site 기반, 측정 KLA-ACP200 / SEM / Agilent 4156C.</a:t>
            </a:r>
            <a:endParaRPr lang="en-US" sz="975" dirty="0"/>
          </a:p>
        </p:txBody>
      </p:sp>
      <p:sp>
        <p:nvSpPr>
          <p:cNvPr id="105" name="Text 87"/>
          <p:cNvSpPr txBox="1"/>
          <p:nvPr/>
        </p:nvSpPr>
        <p:spPr>
          <a:xfrm>
            <a:off x="11658600" y="7733995"/>
            <a:ext cx="762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spc="156" kern="0" dirty="0">
                <a:solidFill>
                  <a:srgbClr val="B858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</a:t>
            </a:r>
            <a:endParaRPr lang="en-US" sz="975" dirty="0"/>
          </a:p>
        </p:txBody>
      </p:sp>
      <p:sp>
        <p:nvSpPr>
          <p:cNvPr id="106" name="Text 88"/>
          <p:cNvSpPr txBox="1"/>
          <p:nvPr/>
        </p:nvSpPr>
        <p:spPr>
          <a:xfrm>
            <a:off x="11658600" y="7915046"/>
            <a:ext cx="76261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2250" dirty="0"/>
          </a:p>
        </p:txBody>
      </p:sp>
      <p:sp>
        <p:nvSpPr>
          <p:cNvPr id="107" name="Text 89"/>
          <p:cNvSpPr txBox="1"/>
          <p:nvPr/>
        </p:nvSpPr>
        <p:spPr>
          <a:xfrm>
            <a:off x="12592202" y="7733995"/>
            <a:ext cx="762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spc="156" kern="0" dirty="0">
                <a:solidFill>
                  <a:srgbClr val="B858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</a:t>
            </a:r>
            <a:endParaRPr lang="en-US" sz="975" dirty="0"/>
          </a:p>
        </p:txBody>
      </p:sp>
      <p:sp>
        <p:nvSpPr>
          <p:cNvPr id="108" name="Text 90"/>
          <p:cNvSpPr txBox="1"/>
          <p:nvPr/>
        </p:nvSpPr>
        <p:spPr>
          <a:xfrm>
            <a:off x="12592202" y="7915046"/>
            <a:ext cx="76261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2250" dirty="0"/>
          </a:p>
        </p:txBody>
      </p:sp>
      <p:sp>
        <p:nvSpPr>
          <p:cNvPr id="109" name="Text 91"/>
          <p:cNvSpPr txBox="1"/>
          <p:nvPr/>
        </p:nvSpPr>
        <p:spPr>
          <a:xfrm>
            <a:off x="13525805" y="7733995"/>
            <a:ext cx="762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spc="156" kern="0" dirty="0">
                <a:solidFill>
                  <a:srgbClr val="B858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CD</a:t>
            </a:r>
            <a:endParaRPr lang="en-US" sz="975" dirty="0"/>
          </a:p>
        </p:txBody>
      </p:sp>
      <p:sp>
        <p:nvSpPr>
          <p:cNvPr id="110" name="Text 92"/>
          <p:cNvSpPr txBox="1"/>
          <p:nvPr/>
        </p:nvSpPr>
        <p:spPr>
          <a:xfrm>
            <a:off x="13525805" y="7915046"/>
            <a:ext cx="76261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2250" dirty="0"/>
          </a:p>
        </p:txBody>
      </p:sp>
      <p:sp>
        <p:nvSpPr>
          <p:cNvPr id="111" name="Text 93"/>
          <p:cNvSpPr txBox="1"/>
          <p:nvPr/>
        </p:nvSpPr>
        <p:spPr>
          <a:xfrm>
            <a:off x="14459407" y="7733995"/>
            <a:ext cx="7626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spc="144" kern="0" dirty="0">
                <a:solidFill>
                  <a:srgbClr val="B858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SITE</a:t>
            </a:r>
            <a:endParaRPr lang="en-US" sz="900" dirty="0"/>
          </a:p>
        </p:txBody>
      </p:sp>
      <p:sp>
        <p:nvSpPr>
          <p:cNvPr id="112" name="Text 94"/>
          <p:cNvSpPr txBox="1"/>
          <p:nvPr/>
        </p:nvSpPr>
        <p:spPr>
          <a:xfrm>
            <a:off x="14459407" y="7895844"/>
            <a:ext cx="76261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49</a:t>
            </a:r>
            <a:endParaRPr lang="en-US" sz="2250" dirty="0"/>
          </a:p>
        </p:txBody>
      </p:sp>
      <p:sp>
        <p:nvSpPr>
          <p:cNvPr id="113" name="Text 95"/>
          <p:cNvSpPr txBox="1"/>
          <p:nvPr/>
        </p:nvSpPr>
        <p:spPr>
          <a:xfrm>
            <a:off x="15392095" y="7753198"/>
            <a:ext cx="20958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W=N_wafer=4</a:t>
            </a:r>
            <a:endParaRPr lang="en-US" sz="900" dirty="0"/>
          </a:p>
        </p:txBody>
      </p:sp>
      <p:sp>
        <p:nvSpPr>
          <p:cNvPr id="114" name="Text 96"/>
          <p:cNvSpPr txBox="1"/>
          <p:nvPr/>
        </p:nvSpPr>
        <p:spPr>
          <a:xfrm>
            <a:off x="15392095" y="7915046"/>
            <a:ext cx="20958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L=V1+M2</a:t>
            </a:r>
            <a:endParaRPr lang="en-US" sz="900" dirty="0"/>
          </a:p>
        </p:txBody>
      </p:sp>
      <p:sp>
        <p:nvSpPr>
          <p:cNvPr id="115" name="Text 97"/>
          <p:cNvSpPr txBox="1"/>
          <p:nvPr/>
        </p:nvSpPr>
        <p:spPr>
          <a:xfrm>
            <a:off x="15392095" y="8076895"/>
            <a:ext cx="20958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CD=4 metrics</a:t>
            </a:r>
            <a:endParaRPr lang="en-US" sz="900" dirty="0"/>
          </a:p>
        </p:txBody>
      </p:sp>
      <p:sp>
        <p:nvSpPr>
          <p:cNvPr id="116" name="Text 98"/>
          <p:cNvSpPr txBox="1"/>
          <p:nvPr/>
        </p:nvSpPr>
        <p:spPr>
          <a:xfrm>
            <a:off x="15392095" y="8238744"/>
            <a:ext cx="20958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site=7×7 grid</a:t>
            </a:r>
            <a:endParaRPr lang="en-US" sz="900" dirty="0"/>
          </a:p>
        </p:txBody>
      </p:sp>
      <p:sp>
        <p:nvSpPr>
          <p:cNvPr id="117" name="Text 99"/>
          <p:cNvSpPr txBox="1"/>
          <p:nvPr/>
        </p:nvSpPr>
        <p:spPr>
          <a:xfrm>
            <a:off x="990295" y="9087307"/>
            <a:ext cx="1239012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spc="176" kern="0" dirty="0">
                <a:solidFill>
                  <a:srgbClr val="B858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TAKEAWAY</a:t>
            </a:r>
            <a:endParaRPr lang="en-US" sz="975" dirty="0"/>
          </a:p>
        </p:txBody>
      </p:sp>
      <p:sp>
        <p:nvSpPr>
          <p:cNvPr id="118" name="Text 100"/>
          <p:cNvSpPr txBox="1"/>
          <p:nvPr/>
        </p:nvSpPr>
        <p:spPr>
          <a:xfrm>
            <a:off x="2361895" y="9068105"/>
            <a:ext cx="150501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 wafers × V1·M2 동일 흐름 — 본 평가는 </a:t>
            </a:r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barrier-less via</a:t>
            </a:r>
            <a:pPr algn="l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에서 RSBM 선택성이 CD·uniformity·surface·electrical에 미치는 영향을 정량화합니다.</a:t>
            </a:r>
            <a:endParaRPr lang="en-US" sz="1125" dirty="0"/>
          </a:p>
        </p:txBody>
      </p:sp>
      <p:sp>
        <p:nvSpPr>
          <p:cNvPr id="119" name="Text 101"/>
          <p:cNvSpPr txBox="1"/>
          <p:nvPr/>
        </p:nvSpPr>
        <p:spPr>
          <a:xfrm>
            <a:off x="761695" y="9849002"/>
            <a:ext cx="723930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5A62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EV-BEOL-BLV-018 · BEOL 평가는 dummy data로 구성 — 평가 흐름 검증용 내부 테스트 파일</a:t>
            </a:r>
            <a:endParaRPr lang="en-US" sz="975" dirty="0"/>
          </a:p>
        </p:txBody>
      </p:sp>
      <p:sp>
        <p:nvSpPr>
          <p:cNvPr id="120" name="Text 102"/>
          <p:cNvSpPr txBox="1"/>
          <p:nvPr/>
        </p:nvSpPr>
        <p:spPr>
          <a:xfrm>
            <a:off x="8001000" y="9849002"/>
            <a:ext cx="952530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※ 내부 테스트용 더미(가상) 데이터 · 01 / 12</a:t>
            </a:r>
            <a:endParaRPr lang="en-US" sz="9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F0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4b8b176d1054448e556d5d1f414aa96f.png">    </p:cNvPr>
          <p:cNvPicPr>
            <a:picLocks noChangeAspect="1"/>
          </p:cNvPicPr>
          <p:nvPr/>
        </p:nvPicPr>
        <p:blipFill>
          <a:blip r:embed="rId1"/>
          <a:srcRect l="0" r="0" t="-400" b="-400"/>
          <a:stretch/>
        </p:blipFill>
        <p:spPr>
          <a:xfrm>
            <a:off x="0" y="0"/>
            <a:ext cx="18288000" cy="57607"/>
          </a:xfrm>
          <a:prstGeom prst="rect">
            <a:avLst/>
          </a:prstGeom>
        </p:spPr>
      </p:pic>
      <p:pic>
        <p:nvPicPr>
          <p:cNvPr id="4" name="Image 1" descr="gen-dedup-6ef2f382d46d5f775cbbac1e044faac9.png">    </p:cNvPr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761695" y="1638605"/>
            <a:ext cx="16763695" cy="9144"/>
          </a:xfrm>
          <a:prstGeom prst="rect">
            <a:avLst/>
          </a:prstGeom>
        </p:spPr>
      </p:pic>
      <p:pic>
        <p:nvPicPr>
          <p:cNvPr id="5" name="Image 2" descr="gen-dedup-15a880e8f657bb603fd0b045e90b8da5.png">    </p:cNvPr>
          <p:cNvPicPr>
            <a:picLocks noChangeAspect="1"/>
          </p:cNvPicPr>
          <p:nvPr/>
        </p:nvPicPr>
        <p:blipFill>
          <a:blip r:embed="rId3"/>
          <a:srcRect l="-424" r="-424" t="0" b="0"/>
          <a:stretch/>
        </p:blipFill>
        <p:spPr>
          <a:xfrm>
            <a:off x="761695" y="1790395"/>
            <a:ext cx="57607" cy="323698"/>
          </a:xfrm>
          <a:prstGeom prst="rect">
            <a:avLst/>
          </a:prstGeom>
        </p:spPr>
      </p:pic>
      <p:sp>
        <p:nvSpPr>
          <p:cNvPr id="6" name="Shape 0"/>
          <p:cNvSpPr/>
          <p:nvPr/>
        </p:nvSpPr>
        <p:spPr>
          <a:xfrm>
            <a:off x="761695" y="2495398"/>
            <a:ext cx="9905695" cy="221010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1"/>
          <p:cNvSpPr/>
          <p:nvPr/>
        </p:nvSpPr>
        <p:spPr>
          <a:xfrm>
            <a:off x="761695" y="4895698"/>
            <a:ext cx="9905695" cy="3866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2"/>
          <p:cNvSpPr/>
          <p:nvPr/>
        </p:nvSpPr>
        <p:spPr>
          <a:xfrm>
            <a:off x="11048695" y="2495398"/>
            <a:ext cx="6476695" cy="62672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3"/>
          <p:cNvSpPr/>
          <p:nvPr/>
        </p:nvSpPr>
        <p:spPr>
          <a:xfrm>
            <a:off x="11505895" y="3504895"/>
            <a:ext cx="4419295" cy="4095598"/>
          </a:xfrm>
          <a:prstGeom prst="roundRect">
            <a:avLst>
              <a:gd name="adj" fmla="val 50011"/>
            </a:avLst>
          </a:prstGeom>
          <a:solidFill>
            <a:srgbClr val="F4F6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4"/>
          <p:cNvSpPr/>
          <p:nvPr/>
        </p:nvSpPr>
        <p:spPr>
          <a:xfrm>
            <a:off x="761695" y="9010498"/>
            <a:ext cx="16763695" cy="400507"/>
          </a:xfrm>
          <a:prstGeom prst="rect">
            <a:avLst/>
          </a:prstGeom>
          <a:solidFill>
            <a:srgbClr val="0E1F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1" name="Image 3" descr="gen-dedup-6ef2f382d46d5f775cbbac1e044faac9.png">    </p:cNvPr>
          <p:cNvPicPr>
            <a:picLocks noChangeAspect="1"/>
          </p:cNvPicPr>
          <p:nvPr/>
        </p:nvPicPr>
        <p:blipFill>
          <a:blip r:embed="rId4"/>
          <a:srcRect l="-2083" r="-2083" t="0" b="0"/>
          <a:stretch/>
        </p:blipFill>
        <p:spPr>
          <a:xfrm>
            <a:off x="761695" y="9715500"/>
            <a:ext cx="16763695" cy="9144"/>
          </a:xfrm>
          <a:prstGeom prst="rect">
            <a:avLst/>
          </a:prstGeom>
        </p:spPr>
      </p:pic>
      <p:sp>
        <p:nvSpPr>
          <p:cNvPr id="12" name="Shape 5"/>
          <p:cNvSpPr/>
          <p:nvPr/>
        </p:nvSpPr>
        <p:spPr>
          <a:xfrm>
            <a:off x="761695" y="2495398"/>
            <a:ext cx="9905695" cy="304495"/>
          </a:xfrm>
          <a:prstGeom prst="rect">
            <a:avLst/>
          </a:prstGeom>
          <a:solidFill>
            <a:srgbClr val="F4F6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3" name="Image 4" descr="gen-dedup-73ae536225137491d770b9b5c47d863e.png">    </p:cNvPr>
          <p:cNvPicPr>
            <a:picLocks noChangeAspect="1"/>
          </p:cNvPicPr>
          <p:nvPr/>
        </p:nvPicPr>
        <p:blipFill>
          <a:blip r:embed="rId5"/>
          <a:srcRect l="-2083" r="-2083" t="0" b="0"/>
          <a:stretch/>
        </p:blipFill>
        <p:spPr>
          <a:xfrm>
            <a:off x="761695" y="3619195"/>
            <a:ext cx="9905695" cy="9144"/>
          </a:xfrm>
          <a:prstGeom prst="rect">
            <a:avLst/>
          </a:prstGeom>
        </p:spPr>
      </p:pic>
      <p:pic>
        <p:nvPicPr>
          <p:cNvPr id="14" name="Image 5" descr="gen-dedup-73ae536225137491d770b9b5c47d863e.png">    </p:cNvPr>
          <p:cNvPicPr>
            <a:picLocks noChangeAspect="1"/>
          </p:cNvPicPr>
          <p:nvPr/>
        </p:nvPicPr>
        <p:blipFill>
          <a:blip r:embed="rId6"/>
          <a:srcRect l="-2083" r="-2083" t="0" b="0"/>
          <a:stretch/>
        </p:blipFill>
        <p:spPr>
          <a:xfrm>
            <a:off x="761695" y="4095598"/>
            <a:ext cx="9905695" cy="9144"/>
          </a:xfrm>
          <a:prstGeom prst="rect">
            <a:avLst/>
          </a:prstGeom>
        </p:spPr>
      </p:pic>
      <p:pic>
        <p:nvPicPr>
          <p:cNvPr id="15" name="Image 6" descr="gen-dedup-73ae536225137491d770b9b5c47d863e.png">    </p:cNvPr>
          <p:cNvPicPr>
            <a:picLocks noChangeAspect="1"/>
          </p:cNvPicPr>
          <p:nvPr/>
        </p:nvPicPr>
        <p:blipFill>
          <a:blip r:embed="rId7"/>
          <a:srcRect l="-2083" r="-2083" t="0" b="0"/>
          <a:stretch/>
        </p:blipFill>
        <p:spPr>
          <a:xfrm>
            <a:off x="761695" y="4572000"/>
            <a:ext cx="9905695" cy="9144"/>
          </a:xfrm>
          <a:prstGeom prst="rect">
            <a:avLst/>
          </a:prstGeom>
        </p:spPr>
      </p:pic>
      <p:sp>
        <p:nvSpPr>
          <p:cNvPr id="16" name="Shape 6"/>
          <p:cNvSpPr/>
          <p:nvPr/>
        </p:nvSpPr>
        <p:spPr>
          <a:xfrm>
            <a:off x="761695" y="4895698"/>
            <a:ext cx="9905695" cy="323698"/>
          </a:xfrm>
          <a:prstGeom prst="rect">
            <a:avLst/>
          </a:prstGeom>
          <a:solidFill>
            <a:srgbClr val="F4F6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7" name="Image 7" descr="gen-dedup-73ae536225137491d770b9b5c47d863e.png">    </p:cNvPr>
          <p:cNvPicPr>
            <a:picLocks noChangeAspect="1"/>
          </p:cNvPicPr>
          <p:nvPr/>
        </p:nvPicPr>
        <p:blipFill>
          <a:blip r:embed="rId8"/>
          <a:srcRect l="-2083" r="-2083" t="0" b="0"/>
          <a:stretch/>
        </p:blipFill>
        <p:spPr>
          <a:xfrm>
            <a:off x="914400" y="6476695"/>
            <a:ext cx="9601200" cy="9144"/>
          </a:xfrm>
          <a:prstGeom prst="rect">
            <a:avLst/>
          </a:prstGeom>
        </p:spPr>
      </p:pic>
      <p:sp>
        <p:nvSpPr>
          <p:cNvPr id="18" name="Shape 7"/>
          <p:cNvSpPr/>
          <p:nvPr/>
        </p:nvSpPr>
        <p:spPr>
          <a:xfrm>
            <a:off x="914400" y="7543800"/>
            <a:ext cx="2286000" cy="1047902"/>
          </a:xfrm>
          <a:prstGeom prst="rect">
            <a:avLst/>
          </a:prstGeom>
          <a:solidFill>
            <a:srgbClr val="0E1F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8"/>
          <p:cNvSpPr/>
          <p:nvPr/>
        </p:nvSpPr>
        <p:spPr>
          <a:xfrm>
            <a:off x="3353105" y="7543800"/>
            <a:ext cx="2286000" cy="1047902"/>
          </a:xfrm>
          <a:prstGeom prst="rect">
            <a:avLst/>
          </a:prstGeom>
          <a:solidFill>
            <a:srgbClr val="0E1F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9"/>
          <p:cNvSpPr/>
          <p:nvPr/>
        </p:nvSpPr>
        <p:spPr>
          <a:xfrm>
            <a:off x="5790895" y="7543800"/>
            <a:ext cx="2286000" cy="1047902"/>
          </a:xfrm>
          <a:prstGeom prst="rect">
            <a:avLst/>
          </a:prstGeom>
          <a:solidFill>
            <a:srgbClr val="0E1F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0"/>
          <p:cNvSpPr/>
          <p:nvPr/>
        </p:nvSpPr>
        <p:spPr>
          <a:xfrm>
            <a:off x="8229600" y="7543800"/>
            <a:ext cx="2286000" cy="1047902"/>
          </a:xfrm>
          <a:prstGeom prst="rect">
            <a:avLst/>
          </a:prstGeom>
          <a:solidFill>
            <a:srgbClr val="0E1F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11"/>
          <p:cNvSpPr/>
          <p:nvPr/>
        </p:nvSpPr>
        <p:spPr>
          <a:xfrm>
            <a:off x="11048695" y="2495398"/>
            <a:ext cx="6476695" cy="571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12"/>
          <p:cNvSpPr/>
          <p:nvPr/>
        </p:nvSpPr>
        <p:spPr>
          <a:xfrm>
            <a:off x="11811305" y="3762756"/>
            <a:ext cx="476402" cy="476402"/>
          </a:xfrm>
          <a:prstGeom prst="rect">
            <a:avLst/>
          </a:prstGeom>
          <a:solidFill>
            <a:srgbClr val="E2E7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13"/>
          <p:cNvSpPr/>
          <p:nvPr/>
        </p:nvSpPr>
        <p:spPr>
          <a:xfrm>
            <a:off x="12335256" y="3762756"/>
            <a:ext cx="476402" cy="476402"/>
          </a:xfrm>
          <a:prstGeom prst="rect">
            <a:avLst/>
          </a:prstGeom>
          <a:solidFill>
            <a:srgbClr val="0E1F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14"/>
          <p:cNvSpPr/>
          <p:nvPr/>
        </p:nvSpPr>
        <p:spPr>
          <a:xfrm>
            <a:off x="12859207" y="3762756"/>
            <a:ext cx="476402" cy="476402"/>
          </a:xfrm>
          <a:prstGeom prst="rect">
            <a:avLst/>
          </a:prstGeom>
          <a:solidFill>
            <a:srgbClr val="7AA0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15"/>
          <p:cNvSpPr/>
          <p:nvPr/>
        </p:nvSpPr>
        <p:spPr>
          <a:xfrm>
            <a:off x="13382244" y="3762756"/>
            <a:ext cx="476402" cy="476402"/>
          </a:xfrm>
          <a:prstGeom prst="rect">
            <a:avLst/>
          </a:prstGeom>
          <a:solidFill>
            <a:srgbClr val="5E8F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16"/>
          <p:cNvSpPr/>
          <p:nvPr/>
        </p:nvSpPr>
        <p:spPr>
          <a:xfrm>
            <a:off x="13906195" y="3762756"/>
            <a:ext cx="476402" cy="476402"/>
          </a:xfrm>
          <a:prstGeom prst="rect">
            <a:avLst/>
          </a:prstGeom>
          <a:solidFill>
            <a:srgbClr val="3F72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17"/>
          <p:cNvSpPr/>
          <p:nvPr/>
        </p:nvSpPr>
        <p:spPr>
          <a:xfrm>
            <a:off x="14430146" y="3762756"/>
            <a:ext cx="476402" cy="476402"/>
          </a:xfrm>
          <a:prstGeom prst="rect">
            <a:avLst/>
          </a:prstGeom>
          <a:solidFill>
            <a:srgbClr val="5E8F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18"/>
          <p:cNvSpPr/>
          <p:nvPr/>
        </p:nvSpPr>
        <p:spPr>
          <a:xfrm>
            <a:off x="14954098" y="3762756"/>
            <a:ext cx="476402" cy="476402"/>
          </a:xfrm>
          <a:prstGeom prst="rect">
            <a:avLst/>
          </a:prstGeom>
          <a:solidFill>
            <a:srgbClr val="7AA0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19"/>
          <p:cNvSpPr/>
          <p:nvPr/>
        </p:nvSpPr>
        <p:spPr>
          <a:xfrm>
            <a:off x="11811305" y="4286707"/>
            <a:ext cx="476402" cy="476402"/>
          </a:xfrm>
          <a:prstGeom prst="rect">
            <a:avLst/>
          </a:prstGeom>
          <a:solidFill>
            <a:srgbClr val="7AA0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0"/>
          <p:cNvSpPr/>
          <p:nvPr/>
        </p:nvSpPr>
        <p:spPr>
          <a:xfrm>
            <a:off x="12335256" y="4286707"/>
            <a:ext cx="476402" cy="476402"/>
          </a:xfrm>
          <a:prstGeom prst="rect">
            <a:avLst/>
          </a:prstGeom>
          <a:solidFill>
            <a:srgbClr val="5E8F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21"/>
          <p:cNvSpPr/>
          <p:nvPr/>
        </p:nvSpPr>
        <p:spPr>
          <a:xfrm>
            <a:off x="12859207" y="4286707"/>
            <a:ext cx="476402" cy="476402"/>
          </a:xfrm>
          <a:prstGeom prst="rect">
            <a:avLst/>
          </a:prstGeom>
          <a:solidFill>
            <a:srgbClr val="D8DE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22"/>
          <p:cNvSpPr/>
          <p:nvPr/>
        </p:nvSpPr>
        <p:spPr>
          <a:xfrm>
            <a:off x="13382244" y="4286707"/>
            <a:ext cx="476402" cy="476402"/>
          </a:xfrm>
          <a:prstGeom prst="rect">
            <a:avLst/>
          </a:prstGeom>
          <a:solidFill>
            <a:srgbClr val="E2E7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23"/>
          <p:cNvSpPr/>
          <p:nvPr/>
        </p:nvSpPr>
        <p:spPr>
          <a:xfrm>
            <a:off x="13906195" y="4286707"/>
            <a:ext cx="476402" cy="476402"/>
          </a:xfrm>
          <a:prstGeom prst="rect">
            <a:avLst/>
          </a:prstGeom>
          <a:solidFill>
            <a:srgbClr val="E2E7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24"/>
          <p:cNvSpPr/>
          <p:nvPr/>
        </p:nvSpPr>
        <p:spPr>
          <a:xfrm>
            <a:off x="14430146" y="4286707"/>
            <a:ext cx="476402" cy="476402"/>
          </a:xfrm>
          <a:prstGeom prst="rect">
            <a:avLst/>
          </a:prstGeom>
          <a:solidFill>
            <a:srgbClr val="D8DE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25"/>
          <p:cNvSpPr/>
          <p:nvPr/>
        </p:nvSpPr>
        <p:spPr>
          <a:xfrm>
            <a:off x="14954098" y="4286707"/>
            <a:ext cx="476402" cy="476402"/>
          </a:xfrm>
          <a:prstGeom prst="rect">
            <a:avLst/>
          </a:prstGeom>
          <a:solidFill>
            <a:srgbClr val="5E8F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26"/>
          <p:cNvSpPr/>
          <p:nvPr/>
        </p:nvSpPr>
        <p:spPr>
          <a:xfrm>
            <a:off x="11811305" y="4809744"/>
            <a:ext cx="476402" cy="476402"/>
          </a:xfrm>
          <a:prstGeom prst="rect">
            <a:avLst/>
          </a:prstGeom>
          <a:solidFill>
            <a:srgbClr val="5E8F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hape 27"/>
          <p:cNvSpPr/>
          <p:nvPr/>
        </p:nvSpPr>
        <p:spPr>
          <a:xfrm>
            <a:off x="12335256" y="4809744"/>
            <a:ext cx="476402" cy="476402"/>
          </a:xfrm>
          <a:prstGeom prst="rect">
            <a:avLst/>
          </a:prstGeom>
          <a:solidFill>
            <a:srgbClr val="D8DE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28"/>
          <p:cNvSpPr/>
          <p:nvPr/>
        </p:nvSpPr>
        <p:spPr>
          <a:xfrm>
            <a:off x="12859207" y="4809744"/>
            <a:ext cx="476402" cy="476402"/>
          </a:xfrm>
          <a:prstGeom prst="rect">
            <a:avLst/>
          </a:prstGeom>
          <a:solidFill>
            <a:srgbClr val="E2E7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29"/>
          <p:cNvSpPr/>
          <p:nvPr/>
        </p:nvSpPr>
        <p:spPr>
          <a:xfrm>
            <a:off x="13382244" y="4809744"/>
            <a:ext cx="476402" cy="476402"/>
          </a:xfrm>
          <a:prstGeom prst="rect">
            <a:avLst/>
          </a:prstGeom>
          <a:solidFill>
            <a:srgbClr val="EFF2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hape 30"/>
          <p:cNvSpPr/>
          <p:nvPr/>
        </p:nvSpPr>
        <p:spPr>
          <a:xfrm>
            <a:off x="13906195" y="4809744"/>
            <a:ext cx="476402" cy="476402"/>
          </a:xfrm>
          <a:prstGeom prst="rect">
            <a:avLst/>
          </a:prstGeom>
          <a:solidFill>
            <a:srgbClr val="D8DE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31"/>
          <p:cNvSpPr/>
          <p:nvPr/>
        </p:nvSpPr>
        <p:spPr>
          <a:xfrm>
            <a:off x="14430146" y="4809744"/>
            <a:ext cx="476402" cy="476402"/>
          </a:xfrm>
          <a:prstGeom prst="rect">
            <a:avLst/>
          </a:prstGeom>
          <a:solidFill>
            <a:srgbClr val="D8DE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hape 32"/>
          <p:cNvSpPr/>
          <p:nvPr/>
        </p:nvSpPr>
        <p:spPr>
          <a:xfrm>
            <a:off x="14954098" y="4809744"/>
            <a:ext cx="476402" cy="476402"/>
          </a:xfrm>
          <a:prstGeom prst="rect">
            <a:avLst/>
          </a:prstGeom>
          <a:solidFill>
            <a:srgbClr val="7AA0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hape 33"/>
          <p:cNvSpPr/>
          <p:nvPr/>
        </p:nvSpPr>
        <p:spPr>
          <a:xfrm>
            <a:off x="11811305" y="5333695"/>
            <a:ext cx="476402" cy="476402"/>
          </a:xfrm>
          <a:prstGeom prst="rect">
            <a:avLst/>
          </a:prstGeom>
          <a:solidFill>
            <a:srgbClr val="3F72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hape 34"/>
          <p:cNvSpPr/>
          <p:nvPr/>
        </p:nvSpPr>
        <p:spPr>
          <a:xfrm>
            <a:off x="12335256" y="5333695"/>
            <a:ext cx="476402" cy="476402"/>
          </a:xfrm>
          <a:prstGeom prst="rect">
            <a:avLst/>
          </a:prstGeom>
          <a:solidFill>
            <a:srgbClr val="7AA0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Shape 35"/>
          <p:cNvSpPr/>
          <p:nvPr/>
        </p:nvSpPr>
        <p:spPr>
          <a:xfrm>
            <a:off x="12859207" y="5333695"/>
            <a:ext cx="476402" cy="476402"/>
          </a:xfrm>
          <a:prstGeom prst="rect">
            <a:avLst/>
          </a:prstGeom>
          <a:solidFill>
            <a:srgbClr val="D8DE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hape 36"/>
          <p:cNvSpPr/>
          <p:nvPr/>
        </p:nvSpPr>
        <p:spPr>
          <a:xfrm>
            <a:off x="13382244" y="5333695"/>
            <a:ext cx="476402" cy="476402"/>
          </a:xfrm>
          <a:prstGeom prst="rect">
            <a:avLst/>
          </a:prstGeom>
          <a:solidFill>
            <a:srgbClr val="B25E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Shape 37"/>
          <p:cNvSpPr/>
          <p:nvPr/>
        </p:nvSpPr>
        <p:spPr>
          <a:xfrm>
            <a:off x="13906195" y="5333695"/>
            <a:ext cx="476402" cy="476402"/>
          </a:xfrm>
          <a:prstGeom prst="rect">
            <a:avLst/>
          </a:prstGeom>
          <a:solidFill>
            <a:srgbClr val="D8DE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Shape 38"/>
          <p:cNvSpPr/>
          <p:nvPr/>
        </p:nvSpPr>
        <p:spPr>
          <a:xfrm>
            <a:off x="14430146" y="5333695"/>
            <a:ext cx="476402" cy="476402"/>
          </a:xfrm>
          <a:prstGeom prst="rect">
            <a:avLst/>
          </a:prstGeom>
          <a:solidFill>
            <a:srgbClr val="7AA0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Shape 39"/>
          <p:cNvSpPr/>
          <p:nvPr/>
        </p:nvSpPr>
        <p:spPr>
          <a:xfrm>
            <a:off x="14954098" y="5333695"/>
            <a:ext cx="476402" cy="476402"/>
          </a:xfrm>
          <a:prstGeom prst="rect">
            <a:avLst/>
          </a:prstGeom>
          <a:solidFill>
            <a:srgbClr val="3F72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hape 40"/>
          <p:cNvSpPr/>
          <p:nvPr/>
        </p:nvSpPr>
        <p:spPr>
          <a:xfrm>
            <a:off x="11811305" y="5857646"/>
            <a:ext cx="476402" cy="476402"/>
          </a:xfrm>
          <a:prstGeom prst="rect">
            <a:avLst/>
          </a:prstGeom>
          <a:solidFill>
            <a:srgbClr val="5E8F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Shape 41"/>
          <p:cNvSpPr/>
          <p:nvPr/>
        </p:nvSpPr>
        <p:spPr>
          <a:xfrm>
            <a:off x="12335256" y="5857646"/>
            <a:ext cx="476402" cy="476402"/>
          </a:xfrm>
          <a:prstGeom prst="rect">
            <a:avLst/>
          </a:prstGeom>
          <a:solidFill>
            <a:srgbClr val="7AA0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Shape 42"/>
          <p:cNvSpPr/>
          <p:nvPr/>
        </p:nvSpPr>
        <p:spPr>
          <a:xfrm>
            <a:off x="12859207" y="5857646"/>
            <a:ext cx="476402" cy="476402"/>
          </a:xfrm>
          <a:prstGeom prst="rect">
            <a:avLst/>
          </a:prstGeom>
          <a:solidFill>
            <a:srgbClr val="D8DE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Shape 43"/>
          <p:cNvSpPr/>
          <p:nvPr/>
        </p:nvSpPr>
        <p:spPr>
          <a:xfrm>
            <a:off x="13382244" y="5857646"/>
            <a:ext cx="476402" cy="476402"/>
          </a:xfrm>
          <a:prstGeom prst="rect">
            <a:avLst/>
          </a:prstGeom>
          <a:solidFill>
            <a:srgbClr val="D8DE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Shape 44"/>
          <p:cNvSpPr/>
          <p:nvPr/>
        </p:nvSpPr>
        <p:spPr>
          <a:xfrm>
            <a:off x="13906195" y="5857646"/>
            <a:ext cx="476402" cy="476402"/>
          </a:xfrm>
          <a:prstGeom prst="rect">
            <a:avLst/>
          </a:prstGeom>
          <a:solidFill>
            <a:srgbClr val="E2E7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Shape 45"/>
          <p:cNvSpPr/>
          <p:nvPr/>
        </p:nvSpPr>
        <p:spPr>
          <a:xfrm>
            <a:off x="14430146" y="5857646"/>
            <a:ext cx="476402" cy="476402"/>
          </a:xfrm>
          <a:prstGeom prst="rect">
            <a:avLst/>
          </a:prstGeom>
          <a:solidFill>
            <a:srgbClr val="D8DE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Shape 46"/>
          <p:cNvSpPr/>
          <p:nvPr/>
        </p:nvSpPr>
        <p:spPr>
          <a:xfrm>
            <a:off x="14954098" y="5857646"/>
            <a:ext cx="476402" cy="476402"/>
          </a:xfrm>
          <a:prstGeom prst="rect">
            <a:avLst/>
          </a:prstGeom>
          <a:solidFill>
            <a:srgbClr val="5E8F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Shape 47"/>
          <p:cNvSpPr/>
          <p:nvPr/>
        </p:nvSpPr>
        <p:spPr>
          <a:xfrm>
            <a:off x="11811305" y="6381598"/>
            <a:ext cx="476402" cy="476402"/>
          </a:xfrm>
          <a:prstGeom prst="rect">
            <a:avLst/>
          </a:prstGeom>
          <a:solidFill>
            <a:srgbClr val="7AA0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Shape 48"/>
          <p:cNvSpPr/>
          <p:nvPr/>
        </p:nvSpPr>
        <p:spPr>
          <a:xfrm>
            <a:off x="12335256" y="6381598"/>
            <a:ext cx="476402" cy="476402"/>
          </a:xfrm>
          <a:prstGeom prst="rect">
            <a:avLst/>
          </a:prstGeom>
          <a:solidFill>
            <a:srgbClr val="D8DE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Shape 49"/>
          <p:cNvSpPr/>
          <p:nvPr/>
        </p:nvSpPr>
        <p:spPr>
          <a:xfrm>
            <a:off x="12859207" y="6381598"/>
            <a:ext cx="476402" cy="476402"/>
          </a:xfrm>
          <a:prstGeom prst="rect">
            <a:avLst/>
          </a:prstGeom>
          <a:solidFill>
            <a:srgbClr val="E2E7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Shape 50"/>
          <p:cNvSpPr/>
          <p:nvPr/>
        </p:nvSpPr>
        <p:spPr>
          <a:xfrm>
            <a:off x="13382244" y="6381598"/>
            <a:ext cx="476402" cy="476402"/>
          </a:xfrm>
          <a:prstGeom prst="rect">
            <a:avLst/>
          </a:prstGeom>
          <a:solidFill>
            <a:srgbClr val="D8DE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Shape 51"/>
          <p:cNvSpPr/>
          <p:nvPr/>
        </p:nvSpPr>
        <p:spPr>
          <a:xfrm>
            <a:off x="13906195" y="6381598"/>
            <a:ext cx="476402" cy="476402"/>
          </a:xfrm>
          <a:prstGeom prst="rect">
            <a:avLst/>
          </a:prstGeom>
          <a:solidFill>
            <a:srgbClr val="D8DE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Shape 52"/>
          <p:cNvSpPr/>
          <p:nvPr/>
        </p:nvSpPr>
        <p:spPr>
          <a:xfrm>
            <a:off x="14430146" y="6381598"/>
            <a:ext cx="476402" cy="476402"/>
          </a:xfrm>
          <a:prstGeom prst="rect">
            <a:avLst/>
          </a:prstGeom>
          <a:solidFill>
            <a:srgbClr val="5E8F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Shape 53"/>
          <p:cNvSpPr/>
          <p:nvPr/>
        </p:nvSpPr>
        <p:spPr>
          <a:xfrm>
            <a:off x="14954098" y="6381598"/>
            <a:ext cx="476402" cy="476402"/>
          </a:xfrm>
          <a:prstGeom prst="rect">
            <a:avLst/>
          </a:prstGeom>
          <a:solidFill>
            <a:srgbClr val="7AA0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Shape 54"/>
          <p:cNvSpPr/>
          <p:nvPr/>
        </p:nvSpPr>
        <p:spPr>
          <a:xfrm>
            <a:off x="11811305" y="6905549"/>
            <a:ext cx="476402" cy="476402"/>
          </a:xfrm>
          <a:prstGeom prst="rect">
            <a:avLst/>
          </a:prstGeom>
          <a:solidFill>
            <a:srgbClr val="E2E7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Shape 55"/>
          <p:cNvSpPr/>
          <p:nvPr/>
        </p:nvSpPr>
        <p:spPr>
          <a:xfrm>
            <a:off x="12335256" y="6905549"/>
            <a:ext cx="476402" cy="476402"/>
          </a:xfrm>
          <a:prstGeom prst="rect">
            <a:avLst/>
          </a:prstGeom>
          <a:solidFill>
            <a:srgbClr val="7AA0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Shape 56"/>
          <p:cNvSpPr/>
          <p:nvPr/>
        </p:nvSpPr>
        <p:spPr>
          <a:xfrm>
            <a:off x="12859207" y="6905549"/>
            <a:ext cx="476402" cy="476402"/>
          </a:xfrm>
          <a:prstGeom prst="rect">
            <a:avLst/>
          </a:prstGeom>
          <a:solidFill>
            <a:srgbClr val="5E8F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Shape 57"/>
          <p:cNvSpPr/>
          <p:nvPr/>
        </p:nvSpPr>
        <p:spPr>
          <a:xfrm>
            <a:off x="13382244" y="6905549"/>
            <a:ext cx="476402" cy="476402"/>
          </a:xfrm>
          <a:prstGeom prst="rect">
            <a:avLst/>
          </a:prstGeom>
          <a:solidFill>
            <a:srgbClr val="3F72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Shape 58"/>
          <p:cNvSpPr/>
          <p:nvPr/>
        </p:nvSpPr>
        <p:spPr>
          <a:xfrm>
            <a:off x="13906195" y="6905549"/>
            <a:ext cx="476402" cy="476402"/>
          </a:xfrm>
          <a:prstGeom prst="rect">
            <a:avLst/>
          </a:prstGeom>
          <a:solidFill>
            <a:srgbClr val="5E8F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Shape 59"/>
          <p:cNvSpPr/>
          <p:nvPr/>
        </p:nvSpPr>
        <p:spPr>
          <a:xfrm>
            <a:off x="14430146" y="6905549"/>
            <a:ext cx="476402" cy="476402"/>
          </a:xfrm>
          <a:prstGeom prst="rect">
            <a:avLst/>
          </a:prstGeom>
          <a:solidFill>
            <a:srgbClr val="7AA0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Shape 60"/>
          <p:cNvSpPr/>
          <p:nvPr/>
        </p:nvSpPr>
        <p:spPr>
          <a:xfrm>
            <a:off x="14954098" y="6905549"/>
            <a:ext cx="476402" cy="476402"/>
          </a:xfrm>
          <a:prstGeom prst="rect">
            <a:avLst/>
          </a:prstGeom>
          <a:solidFill>
            <a:srgbClr val="E2E7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" name="Shape 61"/>
          <p:cNvSpPr/>
          <p:nvPr/>
        </p:nvSpPr>
        <p:spPr>
          <a:xfrm>
            <a:off x="12077395" y="7867498"/>
            <a:ext cx="228600" cy="133502"/>
          </a:xfrm>
          <a:prstGeom prst="rect">
            <a:avLst/>
          </a:prstGeom>
          <a:solidFill>
            <a:srgbClr val="0E1F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" name="Shape 62"/>
          <p:cNvSpPr/>
          <p:nvPr/>
        </p:nvSpPr>
        <p:spPr>
          <a:xfrm>
            <a:off x="13258800" y="7867498"/>
            <a:ext cx="228600" cy="133502"/>
          </a:xfrm>
          <a:prstGeom prst="rect">
            <a:avLst/>
          </a:prstGeom>
          <a:solidFill>
            <a:srgbClr val="5E8F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" name="Shape 63"/>
          <p:cNvSpPr/>
          <p:nvPr/>
        </p:nvSpPr>
        <p:spPr>
          <a:xfrm>
            <a:off x="14153998" y="7867498"/>
            <a:ext cx="228600" cy="133502"/>
          </a:xfrm>
          <a:prstGeom prst="rect">
            <a:avLst/>
          </a:prstGeom>
          <a:solidFill>
            <a:srgbClr val="D8DE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" name="Shape 64"/>
          <p:cNvSpPr/>
          <p:nvPr/>
        </p:nvSpPr>
        <p:spPr>
          <a:xfrm>
            <a:off x="15049195" y="7867498"/>
            <a:ext cx="228600" cy="133502"/>
          </a:xfrm>
          <a:prstGeom prst="rect">
            <a:avLst/>
          </a:prstGeom>
          <a:solidFill>
            <a:srgbClr val="B25E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" name="Shape 65"/>
          <p:cNvSpPr/>
          <p:nvPr/>
        </p:nvSpPr>
        <p:spPr>
          <a:xfrm>
            <a:off x="16135502" y="7867498"/>
            <a:ext cx="228600" cy="133502"/>
          </a:xfrm>
          <a:prstGeom prst="rect">
            <a:avLst/>
          </a:prstGeom>
          <a:solidFill>
            <a:srgbClr val="9CA3A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7" name="Image 8" descr="gen-dedup-f8ddcf4a569d605420b2cdf3d7aabeec.png">    </p:cNvPr>
          <p:cNvPicPr>
            <a:picLocks noChangeAspect="1"/>
          </p:cNvPicPr>
          <p:nvPr/>
        </p:nvPicPr>
        <p:blipFill>
          <a:blip r:embed="rId9"/>
          <a:srcRect l="-342" r="-342" t="0" b="0"/>
          <a:stretch/>
        </p:blipFill>
        <p:spPr>
          <a:xfrm>
            <a:off x="761695" y="9010498"/>
            <a:ext cx="57607" cy="400507"/>
          </a:xfrm>
          <a:prstGeom prst="rect">
            <a:avLst/>
          </a:prstGeom>
        </p:spPr>
      </p:pic>
      <p:pic>
        <p:nvPicPr>
          <p:cNvPr id="78" name="Image 9" descr="gen-dedup-09c9b707fe1776ee1b2b2b4aeb2bea0c.png">    </p:cNvPr>
          <p:cNvPicPr>
            <a:picLocks noChangeAspect="1"/>
          </p:cNvPicPr>
          <p:nvPr/>
        </p:nvPicPr>
        <p:blipFill>
          <a:blip r:embed="rId10"/>
          <a:srcRect l="0" r="0" t="-201" b="-201"/>
          <a:stretch/>
        </p:blipFill>
        <p:spPr>
          <a:xfrm>
            <a:off x="11048695" y="2495398"/>
            <a:ext cx="75895" cy="571500"/>
          </a:xfrm>
          <a:prstGeom prst="rect">
            <a:avLst/>
          </a:prstGeom>
        </p:spPr>
      </p:pic>
      <p:sp>
        <p:nvSpPr>
          <p:cNvPr id="79" name="Shape 66"/>
          <p:cNvSpPr/>
          <p:nvPr/>
        </p:nvSpPr>
        <p:spPr>
          <a:xfrm rot="2700000">
            <a:off x="13601700" y="7563002"/>
            <a:ext cx="228600" cy="171907"/>
          </a:xfrm>
          <a:prstGeom prst="rect">
            <a:avLst/>
          </a:prstGeom>
          <a:solidFill>
            <a:srgbClr val="0E1F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0" name="Shape 67"/>
          <p:cNvSpPr/>
          <p:nvPr/>
        </p:nvSpPr>
        <p:spPr>
          <a:xfrm>
            <a:off x="13592556" y="5524805"/>
            <a:ext cx="57607" cy="133502"/>
          </a:xfrm>
          <a:prstGeom prst="rect">
            <a:avLst/>
          </a:prstGeom>
          <a:solidFill>
            <a:srgbClr val="0E1F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" name="Shape 68"/>
          <p:cNvSpPr/>
          <p:nvPr/>
        </p:nvSpPr>
        <p:spPr>
          <a:xfrm>
            <a:off x="13554151" y="5562295"/>
            <a:ext cx="133502" cy="57607"/>
          </a:xfrm>
          <a:prstGeom prst="rect">
            <a:avLst/>
          </a:prstGeom>
          <a:solidFill>
            <a:srgbClr val="0E1F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2" name="Text 69"/>
          <p:cNvSpPr txBox="1"/>
          <p:nvPr/>
        </p:nvSpPr>
        <p:spPr>
          <a:xfrm>
            <a:off x="761695" y="400507"/>
            <a:ext cx="1334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DOC //</a:t>
            </a:r>
            <a:endParaRPr lang="en-US" sz="1050" dirty="0"/>
          </a:p>
        </p:txBody>
      </p:sp>
      <p:sp>
        <p:nvSpPr>
          <p:cNvPr id="83" name="Text 70"/>
          <p:cNvSpPr txBox="1"/>
          <p:nvPr/>
        </p:nvSpPr>
        <p:spPr>
          <a:xfrm>
            <a:off x="761695" y="629107"/>
            <a:ext cx="13341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63" kern="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EV-BEOL-BLV-018</a:t>
            </a:r>
            <a:endParaRPr lang="en-US" sz="1050" dirty="0"/>
          </a:p>
        </p:txBody>
      </p:sp>
      <p:sp>
        <p:nvSpPr>
          <p:cNvPr id="84" name="Text 71"/>
          <p:cNvSpPr txBox="1"/>
          <p:nvPr/>
        </p:nvSpPr>
        <p:spPr>
          <a:xfrm>
            <a:off x="761695" y="857707"/>
            <a:ext cx="14287500" cy="5815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0E1F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wafer 정의 &amp; 49pt 사이트 맵</a:t>
            </a:r>
            <a:endParaRPr lang="en-US" sz="3150" dirty="0"/>
          </a:p>
        </p:txBody>
      </p:sp>
      <p:sp>
        <p:nvSpPr>
          <p:cNvPr id="85" name="Text 72"/>
          <p:cNvSpPr txBox="1"/>
          <p:nvPr/>
        </p:nvSpPr>
        <p:spPr>
          <a:xfrm>
            <a:off x="761695" y="1514246"/>
            <a:ext cx="142875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25" dirty="0">
                <a:solidFill>
                  <a:srgbClr val="4D566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lot 메타 / 49 pt 사이트 정의 / W03 BLV-Ru 49 cell 시각화 예시</a:t>
            </a:r>
            <a:endParaRPr lang="en-US" sz="1425" dirty="0"/>
          </a:p>
        </p:txBody>
      </p:sp>
      <p:sp>
        <p:nvSpPr>
          <p:cNvPr id="86" name="Text 73"/>
          <p:cNvSpPr txBox="1"/>
          <p:nvPr/>
        </p:nvSpPr>
        <p:spPr>
          <a:xfrm>
            <a:off x="15430500" y="400507"/>
            <a:ext cx="20958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spc="98" kern="0" dirty="0">
                <a:solidFill>
                  <a:srgbClr val="5A62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 0.6 · INTERNAL</a:t>
            </a:r>
            <a:endParaRPr lang="en-US" sz="975" dirty="0"/>
          </a:p>
        </p:txBody>
      </p:sp>
      <p:sp>
        <p:nvSpPr>
          <p:cNvPr id="87" name="Text 74"/>
          <p:cNvSpPr txBox="1"/>
          <p:nvPr/>
        </p:nvSpPr>
        <p:spPr>
          <a:xfrm>
            <a:off x="15430500" y="599846"/>
            <a:ext cx="20958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dirty="0">
                <a:solidFill>
                  <a:srgbClr val="5A62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2026-10-03</a:t>
            </a:r>
            <a:endParaRPr lang="en-US" sz="975" dirty="0"/>
          </a:p>
        </p:txBody>
      </p:sp>
      <p:sp>
        <p:nvSpPr>
          <p:cNvPr id="88" name="Text 75"/>
          <p:cNvSpPr txBox="1"/>
          <p:nvPr/>
        </p:nvSpPr>
        <p:spPr>
          <a:xfrm>
            <a:off x="914400" y="1790395"/>
            <a:ext cx="10478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spc="168" kern="0" dirty="0">
                <a:solidFill>
                  <a:srgbClr val="1F53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§ 01 / 02 · PROTOCOL</a:t>
            </a:r>
            <a:endParaRPr lang="en-US" sz="1050" dirty="0"/>
          </a:p>
        </p:txBody>
      </p:sp>
      <p:sp>
        <p:nvSpPr>
          <p:cNvPr id="89" name="Text 76"/>
          <p:cNvSpPr txBox="1"/>
          <p:nvPr/>
        </p:nvSpPr>
        <p:spPr>
          <a:xfrm>
            <a:off x="914400" y="2000707"/>
            <a:ext cx="104781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좌측 4 wafer lot 메타, 우측 wafer map은 W03 SPLIT-B BLV-Ru 의 AMI CD delta 시각화. 동일 protocol을 4 wafer에 동일 적용.</a:t>
            </a:r>
            <a:endParaRPr lang="en-US" sz="975" dirty="0"/>
          </a:p>
        </p:txBody>
      </p:sp>
      <p:sp>
        <p:nvSpPr>
          <p:cNvPr id="90" name="Text 77"/>
          <p:cNvSpPr txBox="1"/>
          <p:nvPr/>
        </p:nvSpPr>
        <p:spPr>
          <a:xfrm>
            <a:off x="914400" y="2553005"/>
            <a:ext cx="5715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E1F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lot · 4 wafer · evaluation metadata</a:t>
            </a:r>
            <a:endParaRPr lang="en-US" sz="1050" dirty="0"/>
          </a:p>
        </p:txBody>
      </p:sp>
      <p:sp>
        <p:nvSpPr>
          <p:cNvPr id="91" name="Text 78"/>
          <p:cNvSpPr txBox="1"/>
          <p:nvPr/>
        </p:nvSpPr>
        <p:spPr>
          <a:xfrm>
            <a:off x="914400" y="2933395"/>
            <a:ext cx="857707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5A62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ID</a:t>
            </a:r>
            <a:endParaRPr lang="en-US" sz="975" dirty="0"/>
          </a:p>
        </p:txBody>
      </p:sp>
      <p:sp>
        <p:nvSpPr>
          <p:cNvPr id="92" name="Text 79"/>
          <p:cNvSpPr txBox="1"/>
          <p:nvPr/>
        </p:nvSpPr>
        <p:spPr>
          <a:xfrm>
            <a:off x="1886407" y="2933395"/>
            <a:ext cx="161940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lot no.</a:t>
            </a:r>
            <a:endParaRPr lang="en-US" sz="975" dirty="0"/>
          </a:p>
        </p:txBody>
      </p:sp>
      <p:sp>
        <p:nvSpPr>
          <p:cNvPr id="93" name="Text 80"/>
          <p:cNvSpPr txBox="1"/>
          <p:nvPr/>
        </p:nvSpPr>
        <p:spPr>
          <a:xfrm>
            <a:off x="3600907" y="2933395"/>
            <a:ext cx="123901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dies</a:t>
            </a:r>
            <a:endParaRPr lang="en-US" sz="975" dirty="0"/>
          </a:p>
        </p:txBody>
      </p:sp>
      <p:sp>
        <p:nvSpPr>
          <p:cNvPr id="94" name="Text 81"/>
          <p:cNvSpPr txBox="1"/>
          <p:nvPr/>
        </p:nvSpPr>
        <p:spPr>
          <a:xfrm>
            <a:off x="4934102" y="2933395"/>
            <a:ext cx="161940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split tag</a:t>
            </a:r>
            <a:endParaRPr lang="en-US" sz="975" dirty="0"/>
          </a:p>
        </p:txBody>
      </p:sp>
      <p:sp>
        <p:nvSpPr>
          <p:cNvPr id="95" name="Text 82"/>
          <p:cNvSpPr txBox="1"/>
          <p:nvPr/>
        </p:nvSpPr>
        <p:spPr>
          <a:xfrm>
            <a:off x="6648602" y="2933395"/>
            <a:ext cx="11430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rank</a:t>
            </a:r>
            <a:endParaRPr lang="en-US" sz="975" dirty="0"/>
          </a:p>
        </p:txBody>
      </p:sp>
      <p:sp>
        <p:nvSpPr>
          <p:cNvPr id="96" name="Text 83"/>
          <p:cNvSpPr txBox="1"/>
          <p:nvPr/>
        </p:nvSpPr>
        <p:spPr>
          <a:xfrm>
            <a:off x="7886700" y="2933395"/>
            <a:ext cx="123901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measured</a:t>
            </a:r>
            <a:endParaRPr lang="en-US" sz="975" dirty="0"/>
          </a:p>
        </p:txBody>
      </p:sp>
      <p:sp>
        <p:nvSpPr>
          <p:cNvPr id="97" name="Text 84"/>
          <p:cNvSpPr txBox="1"/>
          <p:nvPr/>
        </p:nvSpPr>
        <p:spPr>
          <a:xfrm>
            <a:off x="9219895" y="2933395"/>
            <a:ext cx="152430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role</a:t>
            </a:r>
            <a:endParaRPr lang="en-US" sz="975" dirty="0"/>
          </a:p>
        </p:txBody>
      </p:sp>
      <p:sp>
        <p:nvSpPr>
          <p:cNvPr id="98" name="Text 85"/>
          <p:cNvSpPr txBox="1"/>
          <p:nvPr/>
        </p:nvSpPr>
        <p:spPr>
          <a:xfrm>
            <a:off x="914400" y="3238805"/>
            <a:ext cx="857707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54616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W01</a:t>
            </a:r>
            <a:endParaRPr lang="en-US" sz="1350" dirty="0"/>
          </a:p>
        </p:txBody>
      </p:sp>
      <p:sp>
        <p:nvSpPr>
          <p:cNvPr id="99" name="Text 86"/>
          <p:cNvSpPr txBox="1"/>
          <p:nvPr/>
        </p:nvSpPr>
        <p:spPr>
          <a:xfrm>
            <a:off x="1886407" y="3258007"/>
            <a:ext cx="16194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LOT-BLV-A21</a:t>
            </a:r>
            <a:endParaRPr lang="en-US" sz="1200" dirty="0"/>
          </a:p>
        </p:txBody>
      </p:sp>
      <p:sp>
        <p:nvSpPr>
          <p:cNvPr id="100" name="Text 87"/>
          <p:cNvSpPr txBox="1"/>
          <p:nvPr/>
        </p:nvSpPr>
        <p:spPr>
          <a:xfrm>
            <a:off x="3600907" y="3258007"/>
            <a:ext cx="123901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8/8</a:t>
            </a:r>
            <a:endParaRPr lang="en-US" sz="1200" dirty="0"/>
          </a:p>
        </p:txBody>
      </p:sp>
      <p:sp>
        <p:nvSpPr>
          <p:cNvPr id="101" name="Text 88"/>
          <p:cNvSpPr txBox="1"/>
          <p:nvPr/>
        </p:nvSpPr>
        <p:spPr>
          <a:xfrm>
            <a:off x="4934102" y="3258007"/>
            <a:ext cx="161940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5461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REF Ta/TaN barrier</a:t>
            </a:r>
            <a:endParaRPr lang="en-US" sz="1125" dirty="0"/>
          </a:p>
        </p:txBody>
      </p:sp>
      <p:sp>
        <p:nvSpPr>
          <p:cNvPr id="102" name="Text 89"/>
          <p:cNvSpPr txBox="1"/>
          <p:nvPr/>
        </p:nvSpPr>
        <p:spPr>
          <a:xfrm>
            <a:off x="6648602" y="3258007"/>
            <a:ext cx="1143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baseline</a:t>
            </a:r>
            <a:endParaRPr lang="en-US" sz="1200" dirty="0"/>
          </a:p>
        </p:txBody>
      </p:sp>
      <p:sp>
        <p:nvSpPr>
          <p:cNvPr id="103" name="Text 90"/>
          <p:cNvSpPr txBox="1"/>
          <p:nvPr/>
        </p:nvSpPr>
        <p:spPr>
          <a:xfrm>
            <a:off x="7886700" y="3258007"/>
            <a:ext cx="123901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2026-09-12</a:t>
            </a:r>
            <a:endParaRPr lang="en-US" sz="1200" dirty="0"/>
          </a:p>
        </p:txBody>
      </p:sp>
      <p:sp>
        <p:nvSpPr>
          <p:cNvPr id="104" name="Text 91"/>
          <p:cNvSpPr txBox="1"/>
          <p:nvPr/>
        </p:nvSpPr>
        <p:spPr>
          <a:xfrm>
            <a:off x="9219895" y="3258007"/>
            <a:ext cx="15243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461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대조군</a:t>
            </a:r>
            <a:endParaRPr lang="en-US" sz="1050" dirty="0"/>
          </a:p>
        </p:txBody>
      </p:sp>
      <p:sp>
        <p:nvSpPr>
          <p:cNvPr id="105" name="Text 92"/>
          <p:cNvSpPr txBox="1"/>
          <p:nvPr/>
        </p:nvSpPr>
        <p:spPr>
          <a:xfrm>
            <a:off x="914400" y="3715207"/>
            <a:ext cx="857707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B858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W02</a:t>
            </a:r>
            <a:endParaRPr lang="en-US" sz="1350" dirty="0"/>
          </a:p>
        </p:txBody>
      </p:sp>
      <p:sp>
        <p:nvSpPr>
          <p:cNvPr id="106" name="Text 93"/>
          <p:cNvSpPr txBox="1"/>
          <p:nvPr/>
        </p:nvSpPr>
        <p:spPr>
          <a:xfrm>
            <a:off x="1886407" y="3733495"/>
            <a:ext cx="16194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LOT-BLV-A22</a:t>
            </a:r>
            <a:endParaRPr lang="en-US" sz="1200" dirty="0"/>
          </a:p>
        </p:txBody>
      </p:sp>
      <p:sp>
        <p:nvSpPr>
          <p:cNvPr id="107" name="Text 94"/>
          <p:cNvSpPr txBox="1"/>
          <p:nvPr/>
        </p:nvSpPr>
        <p:spPr>
          <a:xfrm>
            <a:off x="3600907" y="3733495"/>
            <a:ext cx="123901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8/8</a:t>
            </a:r>
            <a:endParaRPr lang="en-US" sz="1200" dirty="0"/>
          </a:p>
        </p:txBody>
      </p:sp>
      <p:sp>
        <p:nvSpPr>
          <p:cNvPr id="108" name="Text 95"/>
          <p:cNvSpPr txBox="1"/>
          <p:nvPr/>
        </p:nvSpPr>
        <p:spPr>
          <a:xfrm>
            <a:off x="4934102" y="3733495"/>
            <a:ext cx="1694383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B858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BLV-Co 1.5nm · 220℃</a:t>
            </a:r>
            <a:endParaRPr lang="en-US" sz="1125" dirty="0"/>
          </a:p>
        </p:txBody>
      </p:sp>
      <p:sp>
        <p:nvSpPr>
          <p:cNvPr id="109" name="Text 96"/>
          <p:cNvSpPr txBox="1"/>
          <p:nvPr/>
        </p:nvSpPr>
        <p:spPr>
          <a:xfrm>
            <a:off x="6648602" y="3733495"/>
            <a:ext cx="1143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#2</a:t>
            </a:r>
            <a:endParaRPr lang="en-US" sz="1200" dirty="0"/>
          </a:p>
        </p:txBody>
      </p:sp>
      <p:sp>
        <p:nvSpPr>
          <p:cNvPr id="110" name="Text 97"/>
          <p:cNvSpPr txBox="1"/>
          <p:nvPr/>
        </p:nvSpPr>
        <p:spPr>
          <a:xfrm>
            <a:off x="7886700" y="3733495"/>
            <a:ext cx="123901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2026-09-15</a:t>
            </a:r>
            <a:endParaRPr lang="en-US" sz="1200" dirty="0"/>
          </a:p>
        </p:txBody>
      </p:sp>
      <p:sp>
        <p:nvSpPr>
          <p:cNvPr id="111" name="Text 98"/>
          <p:cNvSpPr txBox="1"/>
          <p:nvPr/>
        </p:nvSpPr>
        <p:spPr>
          <a:xfrm>
            <a:off x="9219895" y="3733495"/>
            <a:ext cx="15243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858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via 선택성 비교</a:t>
            </a:r>
            <a:endParaRPr lang="en-US" sz="1050" dirty="0"/>
          </a:p>
        </p:txBody>
      </p:sp>
      <p:sp>
        <p:nvSpPr>
          <p:cNvPr id="112" name="Text 99"/>
          <p:cNvSpPr txBox="1"/>
          <p:nvPr/>
        </p:nvSpPr>
        <p:spPr>
          <a:xfrm>
            <a:off x="914400" y="4190695"/>
            <a:ext cx="857707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F536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W03</a:t>
            </a:r>
            <a:endParaRPr lang="en-US" sz="1350" dirty="0"/>
          </a:p>
        </p:txBody>
      </p:sp>
      <p:sp>
        <p:nvSpPr>
          <p:cNvPr id="113" name="Text 100"/>
          <p:cNvSpPr txBox="1"/>
          <p:nvPr/>
        </p:nvSpPr>
        <p:spPr>
          <a:xfrm>
            <a:off x="1886407" y="4209898"/>
            <a:ext cx="16194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LOT-BLV-A23</a:t>
            </a:r>
            <a:endParaRPr lang="en-US" sz="1200" dirty="0"/>
          </a:p>
        </p:txBody>
      </p:sp>
      <p:sp>
        <p:nvSpPr>
          <p:cNvPr id="114" name="Text 101"/>
          <p:cNvSpPr txBox="1"/>
          <p:nvPr/>
        </p:nvSpPr>
        <p:spPr>
          <a:xfrm>
            <a:off x="3600907" y="4209898"/>
            <a:ext cx="123901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8/8</a:t>
            </a:r>
            <a:endParaRPr lang="en-US" sz="1200" dirty="0"/>
          </a:p>
        </p:txBody>
      </p:sp>
      <p:sp>
        <p:nvSpPr>
          <p:cNvPr id="115" name="Text 102"/>
          <p:cNvSpPr txBox="1"/>
          <p:nvPr/>
        </p:nvSpPr>
        <p:spPr>
          <a:xfrm>
            <a:off x="4934102" y="4209898"/>
            <a:ext cx="1694383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F53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BLV-Ru 2.0nm · 280℃</a:t>
            </a:r>
            <a:endParaRPr lang="en-US" sz="1125" dirty="0"/>
          </a:p>
        </p:txBody>
      </p:sp>
      <p:sp>
        <p:nvSpPr>
          <p:cNvPr id="116" name="Text 103"/>
          <p:cNvSpPr txBox="1"/>
          <p:nvPr/>
        </p:nvSpPr>
        <p:spPr>
          <a:xfrm>
            <a:off x="6648602" y="4209898"/>
            <a:ext cx="1143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#3</a:t>
            </a:r>
            <a:endParaRPr lang="en-US" sz="1200" dirty="0"/>
          </a:p>
        </p:txBody>
      </p:sp>
      <p:sp>
        <p:nvSpPr>
          <p:cNvPr id="117" name="Text 104"/>
          <p:cNvSpPr txBox="1"/>
          <p:nvPr/>
        </p:nvSpPr>
        <p:spPr>
          <a:xfrm>
            <a:off x="7886700" y="4209898"/>
            <a:ext cx="123901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2026-09-19</a:t>
            </a:r>
            <a:endParaRPr lang="en-US" sz="1200" dirty="0"/>
          </a:p>
        </p:txBody>
      </p:sp>
      <p:sp>
        <p:nvSpPr>
          <p:cNvPr id="118" name="Text 105"/>
          <p:cNvSpPr txBox="1"/>
          <p:nvPr/>
        </p:nvSpPr>
        <p:spPr>
          <a:xfrm>
            <a:off x="9219895" y="4209898"/>
            <a:ext cx="15243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53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RSBM 후보</a:t>
            </a:r>
            <a:endParaRPr lang="en-US" sz="1050" dirty="0"/>
          </a:p>
        </p:txBody>
      </p:sp>
      <p:sp>
        <p:nvSpPr>
          <p:cNvPr id="119" name="Text 106"/>
          <p:cNvSpPr txBox="1"/>
          <p:nvPr/>
        </p:nvSpPr>
        <p:spPr>
          <a:xfrm>
            <a:off x="914400" y="4667098"/>
            <a:ext cx="857707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D6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W04</a:t>
            </a:r>
            <a:endParaRPr lang="en-US" sz="1350" dirty="0"/>
          </a:p>
        </p:txBody>
      </p:sp>
      <p:sp>
        <p:nvSpPr>
          <p:cNvPr id="120" name="Text 107"/>
          <p:cNvSpPr txBox="1"/>
          <p:nvPr/>
        </p:nvSpPr>
        <p:spPr>
          <a:xfrm>
            <a:off x="1886407" y="4686300"/>
            <a:ext cx="16194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LOT-BLV-A24</a:t>
            </a:r>
            <a:endParaRPr lang="en-US" sz="1200" dirty="0"/>
          </a:p>
        </p:txBody>
      </p:sp>
      <p:sp>
        <p:nvSpPr>
          <p:cNvPr id="121" name="Text 108"/>
          <p:cNvSpPr txBox="1"/>
          <p:nvPr/>
        </p:nvSpPr>
        <p:spPr>
          <a:xfrm>
            <a:off x="3600907" y="4686300"/>
            <a:ext cx="123901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8/8</a:t>
            </a:r>
            <a:endParaRPr lang="en-US" sz="1200" dirty="0"/>
          </a:p>
        </p:txBody>
      </p:sp>
      <p:sp>
        <p:nvSpPr>
          <p:cNvPr id="122" name="Text 109"/>
          <p:cNvSpPr txBox="1"/>
          <p:nvPr/>
        </p:nvSpPr>
        <p:spPr>
          <a:xfrm>
            <a:off x="4934102" y="4686300"/>
            <a:ext cx="192755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2D6A4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Ru(2.0) / Co(1.0) hybrid</a:t>
            </a:r>
            <a:endParaRPr lang="en-US" sz="1125" dirty="0"/>
          </a:p>
        </p:txBody>
      </p:sp>
      <p:sp>
        <p:nvSpPr>
          <p:cNvPr id="123" name="Text 110"/>
          <p:cNvSpPr txBox="1"/>
          <p:nvPr/>
        </p:nvSpPr>
        <p:spPr>
          <a:xfrm>
            <a:off x="6648602" y="4686300"/>
            <a:ext cx="1143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hybrid</a:t>
            </a:r>
            <a:endParaRPr lang="en-US" sz="1200" dirty="0"/>
          </a:p>
        </p:txBody>
      </p:sp>
      <p:sp>
        <p:nvSpPr>
          <p:cNvPr id="124" name="Text 111"/>
          <p:cNvSpPr txBox="1"/>
          <p:nvPr/>
        </p:nvSpPr>
        <p:spPr>
          <a:xfrm>
            <a:off x="7886700" y="4686300"/>
            <a:ext cx="123901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2026-09-23</a:t>
            </a:r>
            <a:endParaRPr lang="en-US" sz="1200" dirty="0"/>
          </a:p>
        </p:txBody>
      </p:sp>
      <p:sp>
        <p:nvSpPr>
          <p:cNvPr id="125" name="Text 112"/>
          <p:cNvSpPr txBox="1"/>
          <p:nvPr/>
        </p:nvSpPr>
        <p:spPr>
          <a:xfrm>
            <a:off x="9219895" y="4686300"/>
            <a:ext cx="15243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D6A4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선택성 강건성</a:t>
            </a:r>
            <a:endParaRPr lang="en-US" sz="1050" dirty="0"/>
          </a:p>
        </p:txBody>
      </p:sp>
      <p:sp>
        <p:nvSpPr>
          <p:cNvPr id="126" name="Text 113"/>
          <p:cNvSpPr txBox="1"/>
          <p:nvPr/>
        </p:nvSpPr>
        <p:spPr>
          <a:xfrm>
            <a:off x="914400" y="4962449"/>
            <a:ext cx="5715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E1F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49pt site · protocol specification</a:t>
            </a:r>
            <a:endParaRPr lang="en-US" sz="1050" dirty="0"/>
          </a:p>
        </p:txBody>
      </p:sp>
      <p:sp>
        <p:nvSpPr>
          <p:cNvPr id="127" name="Text 114"/>
          <p:cNvSpPr txBox="1"/>
          <p:nvPr/>
        </p:nvSpPr>
        <p:spPr>
          <a:xfrm>
            <a:off x="914400" y="5391302"/>
            <a:ext cx="3048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E1F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 grid 정의</a:t>
            </a:r>
            <a:endParaRPr lang="en-US" sz="1350" dirty="0"/>
          </a:p>
        </p:txBody>
      </p:sp>
      <p:sp>
        <p:nvSpPr>
          <p:cNvPr id="128" name="Text 115"/>
          <p:cNvSpPr txBox="1"/>
          <p:nvPr/>
        </p:nvSpPr>
        <p:spPr>
          <a:xfrm>
            <a:off x="914400" y="5695798"/>
            <a:ext cx="30486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 × 7 site · wafer 중심 (0,0)</a:t>
            </a:r>
            <a:endParaRPr lang="en-US" sz="1050" dirty="0"/>
          </a:p>
        </p:txBody>
      </p:sp>
      <p:sp>
        <p:nvSpPr>
          <p:cNvPr id="129" name="Text 116"/>
          <p:cNvSpPr txBox="1"/>
          <p:nvPr/>
        </p:nvSpPr>
        <p:spPr>
          <a:xfrm>
            <a:off x="914400" y="5886907"/>
            <a:ext cx="30486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±5mm · edge 5mm 제외</a:t>
            </a:r>
            <a:endParaRPr lang="en-US" sz="1050" dirty="0"/>
          </a:p>
        </p:txBody>
      </p:sp>
      <p:sp>
        <p:nvSpPr>
          <p:cNvPr id="130" name="Text 117"/>
          <p:cNvSpPr txBox="1"/>
          <p:nvPr/>
        </p:nvSpPr>
        <p:spPr>
          <a:xfrm>
            <a:off x="914400" y="6077102"/>
            <a:ext cx="30486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 corner + 4 mid-edge + 1 center</a:t>
            </a:r>
            <a:endParaRPr lang="en-US" sz="1050" dirty="0"/>
          </a:p>
        </p:txBody>
      </p:sp>
      <p:sp>
        <p:nvSpPr>
          <p:cNvPr id="131" name="Text 118"/>
          <p:cNvSpPr txBox="1"/>
          <p:nvPr/>
        </p:nvSpPr>
        <p:spPr>
          <a:xfrm>
            <a:off x="4153205" y="5391302"/>
            <a:ext cx="3048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E1F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 die selection</a:t>
            </a:r>
            <a:endParaRPr lang="en-US" sz="1350" dirty="0"/>
          </a:p>
        </p:txBody>
      </p:sp>
      <p:sp>
        <p:nvSpPr>
          <p:cNvPr id="132" name="Text 119"/>
          <p:cNvSpPr txBox="1"/>
          <p:nvPr/>
        </p:nvSpPr>
        <p:spPr>
          <a:xfrm>
            <a:off x="4153205" y="5695798"/>
            <a:ext cx="30486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 die / lot · 사용 가능 8중 5</a:t>
            </a:r>
            <a:endParaRPr lang="en-US" sz="1050" dirty="0"/>
          </a:p>
        </p:txBody>
      </p:sp>
      <p:sp>
        <p:nvSpPr>
          <p:cNvPr id="133" name="Text 120"/>
          <p:cNvSpPr txBox="1"/>
          <p:nvPr/>
        </p:nvSpPr>
        <p:spPr>
          <a:xfrm>
            <a:off x="4153205" y="5886907"/>
            <a:ext cx="30486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 die 평균 → 1 wafer 대표값</a:t>
            </a:r>
            <a:endParaRPr lang="en-US" sz="1050" dirty="0"/>
          </a:p>
        </p:txBody>
      </p:sp>
      <p:sp>
        <p:nvSpPr>
          <p:cNvPr id="134" name="Text 121"/>
          <p:cNvSpPr txBox="1"/>
          <p:nvPr/>
        </p:nvSpPr>
        <p:spPr>
          <a:xfrm>
            <a:off x="4153205" y="6077102"/>
            <a:ext cx="30486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excluded die는 transparent 보고</a:t>
            </a:r>
            <a:endParaRPr lang="en-US" sz="1050" dirty="0"/>
          </a:p>
        </p:txBody>
      </p:sp>
      <p:sp>
        <p:nvSpPr>
          <p:cNvPr id="135" name="Text 122"/>
          <p:cNvSpPr txBox="1"/>
          <p:nvPr/>
        </p:nvSpPr>
        <p:spPr>
          <a:xfrm>
            <a:off x="7391095" y="5391302"/>
            <a:ext cx="28575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E1F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 sample size</a:t>
            </a:r>
            <a:endParaRPr lang="en-US" sz="1350" dirty="0"/>
          </a:p>
        </p:txBody>
      </p:sp>
      <p:sp>
        <p:nvSpPr>
          <p:cNvPr id="136" name="Text 123"/>
          <p:cNvSpPr txBox="1"/>
          <p:nvPr/>
        </p:nvSpPr>
        <p:spPr>
          <a:xfrm>
            <a:off x="7391095" y="5695798"/>
            <a:ext cx="28575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 wafer × 5 die × 49 site</a:t>
            </a:r>
            <a:endParaRPr lang="en-US" sz="1050" dirty="0"/>
          </a:p>
        </p:txBody>
      </p:sp>
      <p:sp>
        <p:nvSpPr>
          <p:cNvPr id="137" name="Text 124"/>
          <p:cNvSpPr txBox="1"/>
          <p:nvPr/>
        </p:nvSpPr>
        <p:spPr>
          <a:xfrm>
            <a:off x="7391095" y="5886907"/>
            <a:ext cx="28575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= 980 measurement points / CD</a:t>
            </a:r>
            <a:endParaRPr lang="en-US" sz="1050" dirty="0"/>
          </a:p>
        </p:txBody>
      </p:sp>
      <p:sp>
        <p:nvSpPr>
          <p:cNvPr id="138" name="Text 125"/>
          <p:cNvSpPr txBox="1"/>
          <p:nvPr/>
        </p:nvSpPr>
        <p:spPr>
          <a:xfrm>
            <a:off x="7391095" y="6077102"/>
            <a:ext cx="28575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electrical: 64 sites / wafer (8×8)</a:t>
            </a:r>
            <a:endParaRPr lang="en-US" sz="1050" dirty="0"/>
          </a:p>
        </p:txBody>
      </p:sp>
      <p:sp>
        <p:nvSpPr>
          <p:cNvPr id="139" name="Text 126"/>
          <p:cNvSpPr txBox="1"/>
          <p:nvPr/>
        </p:nvSpPr>
        <p:spPr>
          <a:xfrm>
            <a:off x="914400" y="6629400"/>
            <a:ext cx="96012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E1F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④ 제외 규칙 &amp; read protocol</a:t>
            </a:r>
            <a:endParaRPr lang="en-US" sz="1350" dirty="0"/>
          </a:p>
        </p:txBody>
      </p:sp>
      <p:sp>
        <p:nvSpPr>
          <p:cNvPr id="140" name="Text 127"/>
          <p:cNvSpPr txBox="1"/>
          <p:nvPr/>
        </p:nvSpPr>
        <p:spPr>
          <a:xfrm>
            <a:off x="914400" y="6933895"/>
            <a:ext cx="96012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±3σ에서 벗어나는 site는 transparent 표기. 결함 read 불가 site는 제외하지 않고 12 페이지 defect log에 분리 기록.</a:t>
            </a:r>
            <a:endParaRPr lang="en-US" sz="1050" dirty="0"/>
          </a:p>
        </p:txBody>
      </p:sp>
      <p:sp>
        <p:nvSpPr>
          <p:cNvPr id="141" name="Text 128"/>
          <p:cNvSpPr txBox="1"/>
          <p:nvPr/>
        </p:nvSpPr>
        <p:spPr>
          <a:xfrm>
            <a:off x="914400" y="7162495"/>
            <a:ext cx="96012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AASI→ASEI→AMI→ACI 동일 site 좌표 동일. optical CD bright/dark 두 rating 후 평균 사용. 동일 recipe로 V1 → M2 재 read 사이 reject 발생 시 wafer 평균값이 아닌 split · wafer 별로 별도 표기.</a:t>
            </a:r>
            <a:endParaRPr lang="en-US" sz="1050" dirty="0"/>
          </a:p>
        </p:txBody>
      </p:sp>
      <p:sp>
        <p:nvSpPr>
          <p:cNvPr id="142" name="Text 129"/>
          <p:cNvSpPr txBox="1"/>
          <p:nvPr/>
        </p:nvSpPr>
        <p:spPr>
          <a:xfrm>
            <a:off x="914400" y="7638898"/>
            <a:ext cx="2286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spc="156" kern="0" dirty="0">
                <a:solidFill>
                  <a:srgbClr val="B858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CD SITE / WAFER</a:t>
            </a:r>
            <a:endParaRPr lang="en-US" sz="975" dirty="0"/>
          </a:p>
        </p:txBody>
      </p:sp>
      <p:sp>
        <p:nvSpPr>
          <p:cNvPr id="143" name="Text 130"/>
          <p:cNvSpPr txBox="1"/>
          <p:nvPr/>
        </p:nvSpPr>
        <p:spPr>
          <a:xfrm>
            <a:off x="914400" y="7839151"/>
            <a:ext cx="2286000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980</a:t>
            </a:r>
            <a:endParaRPr lang="en-US" sz="2700" dirty="0"/>
          </a:p>
        </p:txBody>
      </p:sp>
      <p:sp>
        <p:nvSpPr>
          <p:cNvPr id="144" name="Text 131"/>
          <p:cNvSpPr txBox="1"/>
          <p:nvPr/>
        </p:nvSpPr>
        <p:spPr>
          <a:xfrm>
            <a:off x="914400" y="8324698"/>
            <a:ext cx="22860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B8C0C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 die × 49 site × 4 wafer</a:t>
            </a:r>
            <a:endParaRPr lang="en-US" sz="975" dirty="0"/>
          </a:p>
        </p:txBody>
      </p:sp>
      <p:sp>
        <p:nvSpPr>
          <p:cNvPr id="145" name="Text 132"/>
          <p:cNvSpPr txBox="1"/>
          <p:nvPr/>
        </p:nvSpPr>
        <p:spPr>
          <a:xfrm>
            <a:off x="3353105" y="7638898"/>
            <a:ext cx="2286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spc="156" kern="0" dirty="0">
                <a:solidFill>
                  <a:srgbClr val="B858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ELECTRICAL SITE</a:t>
            </a:r>
            <a:endParaRPr lang="en-US" sz="975" dirty="0"/>
          </a:p>
        </p:txBody>
      </p:sp>
      <p:sp>
        <p:nvSpPr>
          <p:cNvPr id="146" name="Text 133"/>
          <p:cNvSpPr txBox="1"/>
          <p:nvPr/>
        </p:nvSpPr>
        <p:spPr>
          <a:xfrm>
            <a:off x="3353105" y="7839151"/>
            <a:ext cx="2286000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256</a:t>
            </a:r>
            <a:endParaRPr lang="en-US" sz="2700" dirty="0"/>
          </a:p>
        </p:txBody>
      </p:sp>
      <p:sp>
        <p:nvSpPr>
          <p:cNvPr id="147" name="Text 134"/>
          <p:cNvSpPr txBox="1"/>
          <p:nvPr/>
        </p:nvSpPr>
        <p:spPr>
          <a:xfrm>
            <a:off x="3353105" y="8324698"/>
            <a:ext cx="22860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B8C0C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8×8 × 4 wafer · Rs / Rc 합산</a:t>
            </a:r>
            <a:endParaRPr lang="en-US" sz="975" dirty="0"/>
          </a:p>
        </p:txBody>
      </p:sp>
      <p:sp>
        <p:nvSpPr>
          <p:cNvPr id="148" name="Text 135"/>
          <p:cNvSpPr txBox="1"/>
          <p:nvPr/>
        </p:nvSpPr>
        <p:spPr>
          <a:xfrm>
            <a:off x="5790895" y="7638898"/>
            <a:ext cx="2286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spc="156" kern="0" dirty="0">
                <a:solidFill>
                  <a:srgbClr val="B858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DIE / LOT</a:t>
            </a:r>
            <a:endParaRPr lang="en-US" sz="975" dirty="0"/>
          </a:p>
        </p:txBody>
      </p:sp>
      <p:sp>
        <p:nvSpPr>
          <p:cNvPr id="149" name="Text 136"/>
          <p:cNvSpPr txBox="1"/>
          <p:nvPr/>
        </p:nvSpPr>
        <p:spPr>
          <a:xfrm>
            <a:off x="5790895" y="7839151"/>
            <a:ext cx="2286000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</a:t>
            </a:r>
            <a:endParaRPr lang="en-US" sz="2700" dirty="0"/>
          </a:p>
        </p:txBody>
      </p:sp>
      <p:sp>
        <p:nvSpPr>
          <p:cNvPr id="150" name="Text 137"/>
          <p:cNvSpPr txBox="1"/>
          <p:nvPr/>
        </p:nvSpPr>
        <p:spPr>
          <a:xfrm>
            <a:off x="5790895" y="8324698"/>
            <a:ext cx="22860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B8C0C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 wafer 대표값 = 5 die 평균</a:t>
            </a:r>
            <a:endParaRPr lang="en-US" sz="975" dirty="0"/>
          </a:p>
        </p:txBody>
      </p:sp>
      <p:sp>
        <p:nvSpPr>
          <p:cNvPr id="151" name="Text 138"/>
          <p:cNvSpPr txBox="1"/>
          <p:nvPr/>
        </p:nvSpPr>
        <p:spPr>
          <a:xfrm>
            <a:off x="8229600" y="7638898"/>
            <a:ext cx="2286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spc="156" kern="0" dirty="0">
                <a:solidFill>
                  <a:srgbClr val="B858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METRIC COUNT</a:t>
            </a:r>
            <a:endParaRPr lang="en-US" sz="975" dirty="0"/>
          </a:p>
        </p:txBody>
      </p:sp>
      <p:sp>
        <p:nvSpPr>
          <p:cNvPr id="152" name="Text 139"/>
          <p:cNvSpPr txBox="1"/>
          <p:nvPr/>
        </p:nvSpPr>
        <p:spPr>
          <a:xfrm>
            <a:off x="8229600" y="7839151"/>
            <a:ext cx="2286000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</a:t>
            </a:r>
            <a:endParaRPr lang="en-US" sz="2700" dirty="0"/>
          </a:p>
        </p:txBody>
      </p:sp>
      <p:sp>
        <p:nvSpPr>
          <p:cNvPr id="153" name="Text 140"/>
          <p:cNvSpPr txBox="1"/>
          <p:nvPr/>
        </p:nvSpPr>
        <p:spPr>
          <a:xfrm>
            <a:off x="8012887" y="8324698"/>
            <a:ext cx="272034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B8C0C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 CD + 1 uniformity + 4 surf + 2 elec</a:t>
            </a:r>
            <a:endParaRPr lang="en-US" sz="975" dirty="0"/>
          </a:p>
        </p:txBody>
      </p:sp>
      <p:sp>
        <p:nvSpPr>
          <p:cNvPr id="154" name="Text 141"/>
          <p:cNvSpPr txBox="1"/>
          <p:nvPr/>
        </p:nvSpPr>
        <p:spPr>
          <a:xfrm>
            <a:off x="11277295" y="2553005"/>
            <a:ext cx="51435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spc="168" kern="0" dirty="0">
                <a:solidFill>
                  <a:srgbClr val="0E1F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W03 · 49pt site map</a:t>
            </a:r>
            <a:endParaRPr lang="en-US" sz="1050" dirty="0"/>
          </a:p>
        </p:txBody>
      </p:sp>
      <p:sp>
        <p:nvSpPr>
          <p:cNvPr id="155" name="Text 142"/>
          <p:cNvSpPr txBox="1"/>
          <p:nvPr/>
        </p:nvSpPr>
        <p:spPr>
          <a:xfrm>
            <a:off x="11277295" y="2781605"/>
            <a:ext cx="51435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BLV-Ru·AMI 9.5nm target · site CD − target (nm)</a:t>
            </a:r>
            <a:endParaRPr lang="en-US" sz="975" dirty="0"/>
          </a:p>
        </p:txBody>
      </p:sp>
      <p:sp>
        <p:nvSpPr>
          <p:cNvPr id="156" name="Text 143"/>
          <p:cNvSpPr txBox="1"/>
          <p:nvPr/>
        </p:nvSpPr>
        <p:spPr>
          <a:xfrm>
            <a:off x="11277295" y="3161995"/>
            <a:ext cx="609630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7×7 grid · ±5mm step · 결함 site 회색 mark · 12p log</a:t>
            </a:r>
            <a:endParaRPr lang="en-US" sz="975" dirty="0"/>
          </a:p>
        </p:txBody>
      </p:sp>
      <p:sp>
        <p:nvSpPr>
          <p:cNvPr id="157" name="Text 144"/>
          <p:cNvSpPr txBox="1"/>
          <p:nvPr/>
        </p:nvSpPr>
        <p:spPr>
          <a:xfrm>
            <a:off x="13830300" y="7563002"/>
            <a:ext cx="762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notch · ↓</a:t>
            </a:r>
            <a:endParaRPr lang="en-US" sz="975" dirty="0"/>
          </a:p>
        </p:txBody>
      </p:sp>
      <p:sp>
        <p:nvSpPr>
          <p:cNvPr id="158" name="Text 145"/>
          <p:cNvSpPr txBox="1"/>
          <p:nvPr/>
        </p:nvSpPr>
        <p:spPr>
          <a:xfrm>
            <a:off x="11277295" y="7830007"/>
            <a:ext cx="762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5A62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legend</a:t>
            </a:r>
            <a:endParaRPr lang="en-US" sz="975" dirty="0"/>
          </a:p>
        </p:txBody>
      </p:sp>
      <p:sp>
        <p:nvSpPr>
          <p:cNvPr id="159" name="Text 146"/>
          <p:cNvSpPr txBox="1"/>
          <p:nvPr/>
        </p:nvSpPr>
        <p:spPr>
          <a:xfrm>
            <a:off x="12363602" y="7830007"/>
            <a:ext cx="762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≤ -0.20</a:t>
            </a:r>
            <a:endParaRPr lang="en-US" sz="975" dirty="0"/>
          </a:p>
        </p:txBody>
      </p:sp>
      <p:sp>
        <p:nvSpPr>
          <p:cNvPr id="160" name="Text 147"/>
          <p:cNvSpPr txBox="1"/>
          <p:nvPr/>
        </p:nvSpPr>
        <p:spPr>
          <a:xfrm>
            <a:off x="13545007" y="7830007"/>
            <a:ext cx="5715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-0.10</a:t>
            </a:r>
            <a:endParaRPr lang="en-US" sz="975" dirty="0"/>
          </a:p>
        </p:txBody>
      </p:sp>
      <p:sp>
        <p:nvSpPr>
          <p:cNvPr id="161" name="Text 148"/>
          <p:cNvSpPr txBox="1"/>
          <p:nvPr/>
        </p:nvSpPr>
        <p:spPr>
          <a:xfrm>
            <a:off x="14440205" y="7830007"/>
            <a:ext cx="5715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target</a:t>
            </a:r>
            <a:endParaRPr lang="en-US" sz="975" dirty="0"/>
          </a:p>
        </p:txBody>
      </p:sp>
      <p:sp>
        <p:nvSpPr>
          <p:cNvPr id="162" name="Text 149"/>
          <p:cNvSpPr txBox="1"/>
          <p:nvPr/>
        </p:nvSpPr>
        <p:spPr>
          <a:xfrm>
            <a:off x="15335402" y="7830007"/>
            <a:ext cx="762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≥ +0.20</a:t>
            </a:r>
            <a:endParaRPr lang="en-US" sz="975" dirty="0"/>
          </a:p>
        </p:txBody>
      </p:sp>
      <p:sp>
        <p:nvSpPr>
          <p:cNvPr id="163" name="Text 150"/>
          <p:cNvSpPr txBox="1"/>
          <p:nvPr/>
        </p:nvSpPr>
        <p:spPr>
          <a:xfrm>
            <a:off x="16420795" y="7830007"/>
            <a:ext cx="762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defect</a:t>
            </a:r>
            <a:endParaRPr lang="en-US" sz="975" dirty="0"/>
          </a:p>
        </p:txBody>
      </p:sp>
      <p:sp>
        <p:nvSpPr>
          <p:cNvPr id="164" name="Text 151"/>
          <p:cNvSpPr txBox="1"/>
          <p:nvPr/>
        </p:nvSpPr>
        <p:spPr>
          <a:xfrm>
            <a:off x="11277295" y="8172907"/>
            <a:ext cx="6096305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Δ = (site CD − 9.50). W03는 RSBM 후보 split 중 가장 균일 — cell 1개만 +0.20 초과, 결함 site 0개. 다른 wafer에 대한 비교는 9페이지에.</a:t>
            </a:r>
            <a:endParaRPr lang="en-US" sz="975" dirty="0"/>
          </a:p>
        </p:txBody>
      </p:sp>
      <p:sp>
        <p:nvSpPr>
          <p:cNvPr id="165" name="Text 152"/>
          <p:cNvSpPr txBox="1"/>
          <p:nvPr/>
        </p:nvSpPr>
        <p:spPr>
          <a:xfrm>
            <a:off x="990295" y="9087307"/>
            <a:ext cx="1905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spc="176" kern="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TAKEAWAY</a:t>
            </a:r>
            <a:endParaRPr lang="en-US" sz="975" dirty="0"/>
          </a:p>
        </p:txBody>
      </p:sp>
      <p:sp>
        <p:nvSpPr>
          <p:cNvPr id="166" name="Text 153"/>
          <p:cNvSpPr txBox="1"/>
          <p:nvPr/>
        </p:nvSpPr>
        <p:spPr>
          <a:xfrm>
            <a:off x="2361895" y="9048902"/>
            <a:ext cx="1573591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wafer는 </a:t>
            </a:r>
            <a:pPr algn="l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동일 49 pt 사이트 protocol</a:t>
            </a:r>
            <a:pPr algn="l" indent="0" marL="0">
              <a:buNone/>
            </a:pPr>
            <a:r>
              <a:rPr lang="en-US" sz="127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(5 die × 7×7 grid)로 read — W03 BLV-Ru는 49 site 중 48 site가 target ±0.10 nm 이내로 가장 균일. 이는 RSBM의 선택성이 site 간 변동을 줄이는 단서.</a:t>
            </a:r>
            <a:endParaRPr lang="en-US" sz="1275" dirty="0"/>
          </a:p>
        </p:txBody>
      </p:sp>
      <p:sp>
        <p:nvSpPr>
          <p:cNvPr id="167" name="Text 154"/>
          <p:cNvSpPr txBox="1"/>
          <p:nvPr/>
        </p:nvSpPr>
        <p:spPr>
          <a:xfrm>
            <a:off x="761695" y="9849002"/>
            <a:ext cx="723930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5A62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EV-BEOL-BLV-018 · 동일 protocol 4 wafer 적용으로 split 간 직접 비교 가능</a:t>
            </a:r>
            <a:endParaRPr lang="en-US" sz="975" dirty="0"/>
          </a:p>
        </p:txBody>
      </p:sp>
      <p:sp>
        <p:nvSpPr>
          <p:cNvPr id="168" name="Text 155"/>
          <p:cNvSpPr txBox="1"/>
          <p:nvPr/>
        </p:nvSpPr>
        <p:spPr>
          <a:xfrm>
            <a:off x="8001000" y="9849002"/>
            <a:ext cx="952530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※ 내부 테스트용 더미(가상) 데이터 · 02 / 12</a:t>
            </a:r>
            <a:endParaRPr lang="en-US" sz="9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F0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4b8b176d1054448e556d5d1f414aa96f.png">    </p:cNvPr>
          <p:cNvPicPr>
            <a:picLocks noChangeAspect="1"/>
          </p:cNvPicPr>
          <p:nvPr/>
        </p:nvPicPr>
        <p:blipFill>
          <a:blip r:embed="rId1"/>
          <a:srcRect l="0" r="0" t="-400" b="-400"/>
          <a:stretch/>
        </p:blipFill>
        <p:spPr>
          <a:xfrm>
            <a:off x="0" y="0"/>
            <a:ext cx="18288000" cy="57607"/>
          </a:xfrm>
          <a:prstGeom prst="rect">
            <a:avLst/>
          </a:prstGeom>
        </p:spPr>
      </p:pic>
      <p:pic>
        <p:nvPicPr>
          <p:cNvPr id="4" name="Image 1" descr="gen-dedup-6ef2f382d46d5f775cbbac1e044faac9.png">    </p:cNvPr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761695" y="1638605"/>
            <a:ext cx="16763695" cy="9144"/>
          </a:xfrm>
          <a:prstGeom prst="rect">
            <a:avLst/>
          </a:prstGeom>
        </p:spPr>
      </p:pic>
      <p:pic>
        <p:nvPicPr>
          <p:cNvPr id="5" name="Image 2" descr="gen-dedup-aa69f2ffb39561dc63b4624e054af223.png">    </p:cNvPr>
          <p:cNvPicPr>
            <a:picLocks noChangeAspect="1"/>
          </p:cNvPicPr>
          <p:nvPr/>
        </p:nvPicPr>
        <p:blipFill>
          <a:blip r:embed="rId3"/>
          <a:srcRect l="-424" r="-424" t="0" b="0"/>
          <a:stretch/>
        </p:blipFill>
        <p:spPr>
          <a:xfrm>
            <a:off x="761695" y="1790395"/>
            <a:ext cx="57607" cy="323698"/>
          </a:xfrm>
          <a:prstGeom prst="rect">
            <a:avLst/>
          </a:prstGeom>
        </p:spPr>
      </p:pic>
      <p:sp>
        <p:nvSpPr>
          <p:cNvPr id="6" name="Shape 0"/>
          <p:cNvSpPr/>
          <p:nvPr/>
        </p:nvSpPr>
        <p:spPr>
          <a:xfrm>
            <a:off x="761695" y="2286000"/>
            <a:ext cx="4000500" cy="361919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1"/>
          <p:cNvSpPr/>
          <p:nvPr/>
        </p:nvSpPr>
        <p:spPr>
          <a:xfrm>
            <a:off x="5143500" y="2286000"/>
            <a:ext cx="4000500" cy="361919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2"/>
          <p:cNvSpPr/>
          <p:nvPr/>
        </p:nvSpPr>
        <p:spPr>
          <a:xfrm>
            <a:off x="9525305" y="2286000"/>
            <a:ext cx="4000500" cy="361919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3"/>
          <p:cNvSpPr/>
          <p:nvPr/>
        </p:nvSpPr>
        <p:spPr>
          <a:xfrm>
            <a:off x="13906195" y="2286000"/>
            <a:ext cx="3619195" cy="361919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4"/>
          <p:cNvSpPr/>
          <p:nvPr/>
        </p:nvSpPr>
        <p:spPr>
          <a:xfrm>
            <a:off x="761695" y="6286500"/>
            <a:ext cx="16763695" cy="247619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5"/>
          <p:cNvSpPr/>
          <p:nvPr/>
        </p:nvSpPr>
        <p:spPr>
          <a:xfrm>
            <a:off x="761695" y="9010498"/>
            <a:ext cx="16763695" cy="400507"/>
          </a:xfrm>
          <a:prstGeom prst="rect">
            <a:avLst/>
          </a:prstGeom>
          <a:solidFill>
            <a:srgbClr val="0E1F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3" descr="gen-dedup-6ef2f382d46d5f775cbbac1e044faac9.png">    </p:cNvPr>
          <p:cNvPicPr>
            <a:picLocks noChangeAspect="1"/>
          </p:cNvPicPr>
          <p:nvPr/>
        </p:nvPicPr>
        <p:blipFill>
          <a:blip r:embed="rId4"/>
          <a:srcRect l="-2083" r="-2083" t="0" b="0"/>
          <a:stretch/>
        </p:blipFill>
        <p:spPr>
          <a:xfrm>
            <a:off x="761695" y="9715500"/>
            <a:ext cx="16763695" cy="9144"/>
          </a:xfrm>
          <a:prstGeom prst="rect">
            <a:avLst/>
          </a:prstGeom>
        </p:spPr>
      </p:pic>
      <p:sp>
        <p:nvSpPr>
          <p:cNvPr id="13" name="Shape 6"/>
          <p:cNvSpPr/>
          <p:nvPr/>
        </p:nvSpPr>
        <p:spPr>
          <a:xfrm>
            <a:off x="761695" y="2286000"/>
            <a:ext cx="4000500" cy="342900"/>
          </a:xfrm>
          <a:prstGeom prst="rect">
            <a:avLst/>
          </a:prstGeom>
          <a:solidFill>
            <a:srgbClr val="54616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7"/>
          <p:cNvSpPr/>
          <p:nvPr/>
        </p:nvSpPr>
        <p:spPr>
          <a:xfrm>
            <a:off x="5143500" y="2286000"/>
            <a:ext cx="4000500" cy="342900"/>
          </a:xfrm>
          <a:prstGeom prst="rect">
            <a:avLst/>
          </a:prstGeom>
          <a:solidFill>
            <a:srgbClr val="B8581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8"/>
          <p:cNvSpPr/>
          <p:nvPr/>
        </p:nvSpPr>
        <p:spPr>
          <a:xfrm>
            <a:off x="9525305" y="2286000"/>
            <a:ext cx="4000500" cy="342900"/>
          </a:xfrm>
          <a:prstGeom prst="rect">
            <a:avLst/>
          </a:prstGeom>
          <a:solidFill>
            <a:srgbClr val="1F536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9"/>
          <p:cNvSpPr/>
          <p:nvPr/>
        </p:nvSpPr>
        <p:spPr>
          <a:xfrm>
            <a:off x="13906195" y="2286000"/>
            <a:ext cx="3619195" cy="342900"/>
          </a:xfrm>
          <a:prstGeom prst="rect">
            <a:avLst/>
          </a:prstGeom>
          <a:solidFill>
            <a:srgbClr val="2D6A4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0"/>
          <p:cNvSpPr/>
          <p:nvPr/>
        </p:nvSpPr>
        <p:spPr>
          <a:xfrm>
            <a:off x="761695" y="6286500"/>
            <a:ext cx="16763695" cy="304495"/>
          </a:xfrm>
          <a:prstGeom prst="rect">
            <a:avLst/>
          </a:prstGeom>
          <a:solidFill>
            <a:srgbClr val="F4F6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8" name="Image 4" descr="gen-dedup-88baf9618d02dd74d408e65ea6d1dccf.png">    </p:cNvPr>
          <p:cNvPicPr>
            <a:picLocks noChangeAspect="1"/>
          </p:cNvPicPr>
          <p:nvPr/>
        </p:nvPicPr>
        <p:blipFill>
          <a:blip r:embed="rId5"/>
          <a:srcRect l="-2083" r="-2083" t="0" b="0"/>
          <a:stretch/>
        </p:blipFill>
        <p:spPr>
          <a:xfrm>
            <a:off x="761695" y="7410298"/>
            <a:ext cx="16763695" cy="9144"/>
          </a:xfrm>
          <a:prstGeom prst="rect">
            <a:avLst/>
          </a:prstGeom>
        </p:spPr>
      </p:pic>
      <p:pic>
        <p:nvPicPr>
          <p:cNvPr id="19" name="Image 5" descr="gen-dedup-88baf9618d02dd74d408e65ea6d1dccf.png">    </p:cNvPr>
          <p:cNvPicPr>
            <a:picLocks noChangeAspect="1"/>
          </p:cNvPicPr>
          <p:nvPr/>
        </p:nvPicPr>
        <p:blipFill>
          <a:blip r:embed="rId6"/>
          <a:srcRect l="-2083" r="-2083" t="0" b="0"/>
          <a:stretch/>
        </p:blipFill>
        <p:spPr>
          <a:xfrm>
            <a:off x="761695" y="7848295"/>
            <a:ext cx="16763695" cy="9144"/>
          </a:xfrm>
          <a:prstGeom prst="rect">
            <a:avLst/>
          </a:prstGeom>
        </p:spPr>
      </p:pic>
      <p:pic>
        <p:nvPicPr>
          <p:cNvPr id="20" name="Image 6" descr="gen-dedup-88baf9618d02dd74d408e65ea6d1dccf.png">    </p:cNvPr>
          <p:cNvPicPr>
            <a:picLocks noChangeAspect="1"/>
          </p:cNvPicPr>
          <p:nvPr/>
        </p:nvPicPr>
        <p:blipFill>
          <a:blip r:embed="rId7"/>
          <a:srcRect l="-2083" r="-2083" t="0" b="0"/>
          <a:stretch/>
        </p:blipFill>
        <p:spPr>
          <a:xfrm>
            <a:off x="761695" y="8287207"/>
            <a:ext cx="16763695" cy="9144"/>
          </a:xfrm>
          <a:prstGeom prst="rect">
            <a:avLst/>
          </a:prstGeom>
        </p:spPr>
      </p:pic>
      <p:pic>
        <p:nvPicPr>
          <p:cNvPr id="21" name="Image 7" descr="gen-dedup-c446308907549a06dea20593753adc8a.png">    </p:cNvPr>
          <p:cNvPicPr>
            <a:picLocks noChangeAspect="1"/>
          </p:cNvPicPr>
          <p:nvPr/>
        </p:nvPicPr>
        <p:blipFill>
          <a:blip r:embed="rId8"/>
          <a:srcRect l="-342" r="-342" t="0" b="0"/>
          <a:stretch/>
        </p:blipFill>
        <p:spPr>
          <a:xfrm>
            <a:off x="761695" y="9010498"/>
            <a:ext cx="57607" cy="400507"/>
          </a:xfrm>
          <a:prstGeom prst="rect">
            <a:avLst/>
          </a:prstGeom>
        </p:spPr>
      </p:pic>
      <p:pic>
        <p:nvPicPr>
          <p:cNvPr id="22" name="Image 8" descr="gen-dedup-b380c411abb910b8775a39c3d387b60f.png">    </p:cNvPr>
          <p:cNvPicPr>
            <a:picLocks noChangeAspect="1"/>
          </p:cNvPicPr>
          <p:nvPr/>
        </p:nvPicPr>
        <p:blipFill>
          <a:blip r:embed="rId9"/>
          <a:srcRect l="-2083" r="-2083" t="0" b="0"/>
          <a:stretch/>
        </p:blipFill>
        <p:spPr>
          <a:xfrm>
            <a:off x="3200400" y="3619195"/>
            <a:ext cx="571500" cy="9144"/>
          </a:xfrm>
          <a:prstGeom prst="rect">
            <a:avLst/>
          </a:prstGeom>
        </p:spPr>
      </p:pic>
      <p:pic>
        <p:nvPicPr>
          <p:cNvPr id="23" name="Image 9" descr="gen-dedup-edc13351f21998d4093498369c4423ca.png">    </p:cNvPr>
          <p:cNvPicPr>
            <a:picLocks noChangeAspect="1"/>
          </p:cNvPicPr>
          <p:nvPr/>
        </p:nvPicPr>
        <p:blipFill>
          <a:blip r:embed="rId10"/>
          <a:srcRect l="-2083" r="-2083" t="0" b="0"/>
          <a:stretch/>
        </p:blipFill>
        <p:spPr>
          <a:xfrm>
            <a:off x="6819595" y="4533595"/>
            <a:ext cx="571500" cy="9144"/>
          </a:xfrm>
          <a:prstGeom prst="rect">
            <a:avLst/>
          </a:prstGeom>
        </p:spPr>
      </p:pic>
      <p:pic>
        <p:nvPicPr>
          <p:cNvPr id="24" name="Image 10" descr="gen-dedup-5ac90d2447c157a30307e6aade8a9173.png">    </p:cNvPr>
          <p:cNvPicPr>
            <a:picLocks noChangeAspect="1"/>
          </p:cNvPicPr>
          <p:nvPr/>
        </p:nvPicPr>
        <p:blipFill>
          <a:blip r:embed="rId11"/>
          <a:srcRect l="-2083" r="-2083" t="0" b="0"/>
          <a:stretch/>
        </p:blipFill>
        <p:spPr>
          <a:xfrm>
            <a:off x="11239805" y="3847795"/>
            <a:ext cx="571500" cy="9144"/>
          </a:xfrm>
          <a:prstGeom prst="rect">
            <a:avLst/>
          </a:prstGeom>
        </p:spPr>
      </p:pic>
      <p:pic>
        <p:nvPicPr>
          <p:cNvPr id="25" name="Image 11" descr="gen-dedup-de59a4ccba58d82494e34b2ac1ad86aa.png">    </p:cNvPr>
          <p:cNvPicPr>
            <a:picLocks noChangeAspect="1"/>
          </p:cNvPicPr>
          <p:nvPr/>
        </p:nvPicPr>
        <p:blipFill>
          <a:blip r:embed="rId12"/>
          <a:srcRect l="-2083" r="-2083" t="0" b="0"/>
          <a:stretch/>
        </p:blipFill>
        <p:spPr>
          <a:xfrm>
            <a:off x="15430500" y="4324198"/>
            <a:ext cx="571500" cy="9144"/>
          </a:xfrm>
          <a:prstGeom prst="rect">
            <a:avLst/>
          </a:prstGeom>
        </p:spPr>
      </p:pic>
      <p:sp>
        <p:nvSpPr>
          <p:cNvPr id="26" name="Text 11"/>
          <p:cNvSpPr txBox="1"/>
          <p:nvPr/>
        </p:nvSpPr>
        <p:spPr>
          <a:xfrm>
            <a:off x="761695" y="400507"/>
            <a:ext cx="1334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DOC //</a:t>
            </a:r>
            <a:endParaRPr lang="en-US" sz="1050" dirty="0"/>
          </a:p>
        </p:txBody>
      </p:sp>
      <p:sp>
        <p:nvSpPr>
          <p:cNvPr id="27" name="Text 12"/>
          <p:cNvSpPr txBox="1"/>
          <p:nvPr/>
        </p:nvSpPr>
        <p:spPr>
          <a:xfrm>
            <a:off x="761695" y="629107"/>
            <a:ext cx="13341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63" kern="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EV-BEOL-BLV-018</a:t>
            </a:r>
            <a:endParaRPr lang="en-US" sz="1050" dirty="0"/>
          </a:p>
        </p:txBody>
      </p:sp>
      <p:sp>
        <p:nvSpPr>
          <p:cNvPr id="28" name="Text 13"/>
          <p:cNvSpPr txBox="1"/>
          <p:nvPr/>
        </p:nvSpPr>
        <p:spPr>
          <a:xfrm>
            <a:off x="761695" y="857707"/>
            <a:ext cx="14287500" cy="5815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0E1F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SEM 단면 비교 · REF → 3 BLV split</a:t>
            </a:r>
            <a:endParaRPr lang="en-US" sz="3150" dirty="0"/>
          </a:p>
        </p:txBody>
      </p:sp>
      <p:sp>
        <p:nvSpPr>
          <p:cNvPr id="29" name="Text 14"/>
          <p:cNvSpPr txBox="1"/>
          <p:nvPr/>
        </p:nvSpPr>
        <p:spPr>
          <a:xfrm>
            <a:off x="761695" y="1514246"/>
            <a:ext cx="142875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25" dirty="0">
                <a:solidFill>
                  <a:srgbClr val="4D566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IL-SEM 평면 단면 — wafer별 via-chain 단면 4매, 동일 위치 동일 배율(false-culored)·다른 split은 다른 색 tone</a:t>
            </a:r>
            <a:endParaRPr lang="en-US" sz="1425" dirty="0"/>
          </a:p>
        </p:txBody>
      </p:sp>
      <p:sp>
        <p:nvSpPr>
          <p:cNvPr id="30" name="Text 15"/>
          <p:cNvSpPr txBox="1"/>
          <p:nvPr/>
        </p:nvSpPr>
        <p:spPr>
          <a:xfrm>
            <a:off x="15430500" y="400507"/>
            <a:ext cx="20958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spc="98" kern="0" dirty="0">
                <a:solidFill>
                  <a:srgbClr val="5A62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 0.6 · INTERNAL</a:t>
            </a:r>
            <a:endParaRPr lang="en-US" sz="975" dirty="0"/>
          </a:p>
        </p:txBody>
      </p:sp>
      <p:sp>
        <p:nvSpPr>
          <p:cNvPr id="31" name="Text 16"/>
          <p:cNvSpPr txBox="1"/>
          <p:nvPr/>
        </p:nvSpPr>
        <p:spPr>
          <a:xfrm>
            <a:off x="15430500" y="599846"/>
            <a:ext cx="20958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dirty="0">
                <a:solidFill>
                  <a:srgbClr val="5A62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2026-10-03</a:t>
            </a:r>
            <a:endParaRPr lang="en-US" sz="975" dirty="0"/>
          </a:p>
        </p:txBody>
      </p:sp>
      <p:sp>
        <p:nvSpPr>
          <p:cNvPr id="32" name="Text 17"/>
          <p:cNvSpPr txBox="1"/>
          <p:nvPr/>
        </p:nvSpPr>
        <p:spPr>
          <a:xfrm>
            <a:off x="914400" y="1790395"/>
            <a:ext cx="10478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spc="168" kern="0" dirty="0">
                <a:solidFill>
                  <a:srgbClr val="B858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§ 01 / 03 · SEM-XS REVIEW</a:t>
            </a:r>
            <a:endParaRPr lang="en-US" sz="1050" dirty="0"/>
          </a:p>
        </p:txBody>
      </p:sp>
      <p:sp>
        <p:nvSpPr>
          <p:cNvPr id="33" name="Text 18"/>
          <p:cNvSpPr txBox="1"/>
          <p:nvPr/>
        </p:nvSpPr>
        <p:spPr>
          <a:xfrm>
            <a:off x="914400" y="2000707"/>
            <a:ext cx="104781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 단면 동일 배율 50k×·tilt 0°· 동일 die 좌표 sample. 하단 표는 line/via 형태 관찰 요약.</a:t>
            </a:r>
            <a:endParaRPr lang="en-US" sz="975" dirty="0"/>
          </a:p>
        </p:txBody>
      </p:sp>
      <p:sp>
        <p:nvSpPr>
          <p:cNvPr id="34" name="Text 19"/>
          <p:cNvSpPr txBox="1"/>
          <p:nvPr/>
        </p:nvSpPr>
        <p:spPr>
          <a:xfrm>
            <a:off x="914400" y="2343607"/>
            <a:ext cx="38103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(a) · W01 REF Ta/TaN + Cu seed</a:t>
            </a:r>
            <a:endParaRPr lang="en-US" sz="975" dirty="0"/>
          </a:p>
        </p:txBody>
      </p:sp>
      <p:sp>
        <p:nvSpPr>
          <p:cNvPr id="35" name="Text 20"/>
          <p:cNvSpPr txBox="1"/>
          <p:nvPr/>
        </p:nvSpPr>
        <p:spPr>
          <a:xfrm>
            <a:off x="3161995" y="3676802"/>
            <a:ext cx="15243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4616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Ta/TaN barrier</a:t>
            </a:r>
            <a:endParaRPr lang="en-US" sz="900" dirty="0"/>
          </a:p>
        </p:txBody>
      </p:sp>
      <p:sp>
        <p:nvSpPr>
          <p:cNvPr id="36" name="Text 21"/>
          <p:cNvSpPr txBox="1"/>
          <p:nvPr/>
        </p:nvSpPr>
        <p:spPr>
          <a:xfrm>
            <a:off x="5296205" y="2343607"/>
            <a:ext cx="38103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(b) · W02 BLV-Co selective</a:t>
            </a:r>
            <a:endParaRPr lang="en-US" sz="975" dirty="0"/>
          </a:p>
        </p:txBody>
      </p:sp>
      <p:sp>
        <p:nvSpPr>
          <p:cNvPr id="37" name="Text 22"/>
          <p:cNvSpPr txBox="1"/>
          <p:nvPr/>
        </p:nvSpPr>
        <p:spPr>
          <a:xfrm>
            <a:off x="6819595" y="4591202"/>
            <a:ext cx="15243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858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 BM selective</a:t>
            </a:r>
            <a:endParaRPr lang="en-US" sz="900" dirty="0"/>
          </a:p>
        </p:txBody>
      </p:sp>
      <p:sp>
        <p:nvSpPr>
          <p:cNvPr id="38" name="Text 23"/>
          <p:cNvSpPr txBox="1"/>
          <p:nvPr/>
        </p:nvSpPr>
        <p:spPr>
          <a:xfrm>
            <a:off x="9677095" y="2343607"/>
            <a:ext cx="38103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(c) · W03 BLV-Ru selective</a:t>
            </a:r>
            <a:endParaRPr lang="en-US" sz="975" dirty="0"/>
          </a:p>
        </p:txBody>
      </p:sp>
      <p:sp>
        <p:nvSpPr>
          <p:cNvPr id="39" name="Text 24"/>
          <p:cNvSpPr txBox="1"/>
          <p:nvPr/>
        </p:nvSpPr>
        <p:spPr>
          <a:xfrm>
            <a:off x="11201400" y="3905402"/>
            <a:ext cx="15243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536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Ru BM layer</a:t>
            </a:r>
            <a:endParaRPr lang="en-US" sz="900" dirty="0"/>
          </a:p>
        </p:txBody>
      </p:sp>
      <p:sp>
        <p:nvSpPr>
          <p:cNvPr id="40" name="Text 25"/>
          <p:cNvSpPr txBox="1"/>
          <p:nvPr/>
        </p:nvSpPr>
        <p:spPr>
          <a:xfrm>
            <a:off x="14058900" y="2343607"/>
            <a:ext cx="3429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(d) · W04 Ru(2.0)/Co(1.0) hybrid</a:t>
            </a:r>
            <a:endParaRPr lang="en-US" sz="975" dirty="0"/>
          </a:p>
        </p:txBody>
      </p:sp>
      <p:sp>
        <p:nvSpPr>
          <p:cNvPr id="41" name="Text 26"/>
          <p:cNvSpPr txBox="1"/>
          <p:nvPr/>
        </p:nvSpPr>
        <p:spPr>
          <a:xfrm>
            <a:off x="15392095" y="4381805"/>
            <a:ext cx="15243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D6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Ru + Co hybrid</a:t>
            </a:r>
            <a:endParaRPr lang="en-US" sz="900" dirty="0"/>
          </a:p>
        </p:txBody>
      </p:sp>
      <p:sp>
        <p:nvSpPr>
          <p:cNvPr id="42" name="Text 27"/>
          <p:cNvSpPr txBox="1"/>
          <p:nvPr/>
        </p:nvSpPr>
        <p:spPr>
          <a:xfrm>
            <a:off x="761695" y="5962802"/>
            <a:ext cx="174504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839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(a) Nature Commun. Cu damascene (sspark.genspark.ai/i/Vi4Vjo266fttd4cS) · (b) 3D InCites 2025-08 dual damascene cross-section · (c) IOP ECS J. Solid State Sci. Technol. Bernasconi 2019 Ru review · (d) Vik's Newsletter Ruthenium interconnect 2024 dummy 평가 데이터 셋</a:t>
            </a:r>
            <a:endParaRPr lang="en-US" sz="900" dirty="0"/>
          </a:p>
        </p:txBody>
      </p:sp>
      <p:sp>
        <p:nvSpPr>
          <p:cNvPr id="43" name="Text 28"/>
          <p:cNvSpPr txBox="1"/>
          <p:nvPr/>
        </p:nvSpPr>
        <p:spPr>
          <a:xfrm>
            <a:off x="914400" y="6344107"/>
            <a:ext cx="5715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E1F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단면 관찰 요약 · line / via 형태 / interface / 결함 유무</a:t>
            </a:r>
            <a:endParaRPr lang="en-US" sz="1050" dirty="0"/>
          </a:p>
        </p:txBody>
      </p:sp>
      <p:sp>
        <p:nvSpPr>
          <p:cNvPr id="44" name="Text 29"/>
          <p:cNvSpPr txBox="1"/>
          <p:nvPr/>
        </p:nvSpPr>
        <p:spPr>
          <a:xfrm>
            <a:off x="914400" y="6743700"/>
            <a:ext cx="152430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split</a:t>
            </a:r>
            <a:endParaRPr lang="en-US" sz="975" dirty="0"/>
          </a:p>
        </p:txBody>
      </p:sp>
      <p:sp>
        <p:nvSpPr>
          <p:cNvPr id="45" name="Text 30"/>
          <p:cNvSpPr txBox="1"/>
          <p:nvPr/>
        </p:nvSpPr>
        <p:spPr>
          <a:xfrm>
            <a:off x="2533802" y="6743700"/>
            <a:ext cx="22860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line shape</a:t>
            </a:r>
            <a:endParaRPr lang="en-US" sz="975" dirty="0"/>
          </a:p>
        </p:txBody>
      </p:sp>
      <p:sp>
        <p:nvSpPr>
          <p:cNvPr id="46" name="Text 31"/>
          <p:cNvSpPr txBox="1"/>
          <p:nvPr/>
        </p:nvSpPr>
        <p:spPr>
          <a:xfrm>
            <a:off x="4914900" y="6743700"/>
            <a:ext cx="22860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via bottom</a:t>
            </a:r>
            <a:endParaRPr lang="en-US" sz="975" dirty="0"/>
          </a:p>
        </p:txBody>
      </p:sp>
      <p:sp>
        <p:nvSpPr>
          <p:cNvPr id="47" name="Text 32"/>
          <p:cNvSpPr txBox="1"/>
          <p:nvPr/>
        </p:nvSpPr>
        <p:spPr>
          <a:xfrm>
            <a:off x="7295998" y="6743700"/>
            <a:ext cx="22860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interface</a:t>
            </a:r>
            <a:endParaRPr lang="en-US" sz="975" dirty="0"/>
          </a:p>
        </p:txBody>
      </p:sp>
      <p:sp>
        <p:nvSpPr>
          <p:cNvPr id="48" name="Text 33"/>
          <p:cNvSpPr txBox="1"/>
          <p:nvPr/>
        </p:nvSpPr>
        <p:spPr>
          <a:xfrm>
            <a:off x="9677095" y="6743700"/>
            <a:ext cx="22860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defect</a:t>
            </a:r>
            <a:endParaRPr lang="en-US" sz="975" dirty="0"/>
          </a:p>
        </p:txBody>
      </p:sp>
      <p:sp>
        <p:nvSpPr>
          <p:cNvPr id="49" name="Text 34"/>
          <p:cNvSpPr txBox="1"/>
          <p:nvPr/>
        </p:nvSpPr>
        <p:spPr>
          <a:xfrm>
            <a:off x="12059107" y="6743700"/>
            <a:ext cx="22860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 note</a:t>
            </a:r>
            <a:endParaRPr lang="en-US" sz="975" dirty="0"/>
          </a:p>
        </p:txBody>
      </p:sp>
      <p:sp>
        <p:nvSpPr>
          <p:cNvPr id="50" name="Text 35"/>
          <p:cNvSpPr txBox="1"/>
          <p:nvPr/>
        </p:nvSpPr>
        <p:spPr>
          <a:xfrm>
            <a:off x="14440205" y="6743700"/>
            <a:ext cx="22860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verdict</a:t>
            </a:r>
            <a:endParaRPr lang="en-US" sz="975" dirty="0"/>
          </a:p>
        </p:txBody>
      </p:sp>
      <p:sp>
        <p:nvSpPr>
          <p:cNvPr id="51" name="Text 36"/>
          <p:cNvSpPr txBox="1"/>
          <p:nvPr/>
        </p:nvSpPr>
        <p:spPr>
          <a:xfrm>
            <a:off x="914400" y="7086600"/>
            <a:ext cx="15243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5461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W01 REF</a:t>
            </a:r>
            <a:endParaRPr lang="en-US" sz="1350" dirty="0"/>
          </a:p>
        </p:txBody>
      </p:sp>
      <p:sp>
        <p:nvSpPr>
          <p:cNvPr id="52" name="Text 37"/>
          <p:cNvSpPr txBox="1"/>
          <p:nvPr/>
        </p:nvSpPr>
        <p:spPr>
          <a:xfrm>
            <a:off x="2533802" y="7048195"/>
            <a:ext cx="2286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F253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직벽 · trench bowing 없음</a:t>
            </a:r>
            <a:endParaRPr lang="en-US" sz="1125" dirty="0"/>
          </a:p>
        </p:txBody>
      </p:sp>
      <p:sp>
        <p:nvSpPr>
          <p:cNvPr id="53" name="Text 38"/>
          <p:cNvSpPr txBox="1"/>
          <p:nvPr/>
        </p:nvSpPr>
        <p:spPr>
          <a:xfrm>
            <a:off x="4914900" y="7048195"/>
            <a:ext cx="2286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F253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via-bottom rounding 양호</a:t>
            </a:r>
            <a:endParaRPr lang="en-US" sz="1125" dirty="0"/>
          </a:p>
        </p:txBody>
      </p:sp>
      <p:sp>
        <p:nvSpPr>
          <p:cNvPr id="54" name="Text 39"/>
          <p:cNvSpPr txBox="1"/>
          <p:nvPr/>
        </p:nvSpPr>
        <p:spPr>
          <a:xfrm>
            <a:off x="7295998" y="7048195"/>
            <a:ext cx="2286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F253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TaN/Cu 연속·균일</a:t>
            </a:r>
            <a:endParaRPr lang="en-US" sz="1125" dirty="0"/>
          </a:p>
        </p:txBody>
      </p:sp>
      <p:sp>
        <p:nvSpPr>
          <p:cNvPr id="55" name="Text 40"/>
          <p:cNvSpPr txBox="1"/>
          <p:nvPr/>
        </p:nvSpPr>
        <p:spPr>
          <a:xfrm>
            <a:off x="9677095" y="7048195"/>
            <a:ext cx="2286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2D6A4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void 0 / piping 0</a:t>
            </a:r>
            <a:endParaRPr lang="en-US" sz="1125" dirty="0"/>
          </a:p>
        </p:txBody>
      </p:sp>
      <p:sp>
        <p:nvSpPr>
          <p:cNvPr id="56" name="Text 41"/>
          <p:cNvSpPr txBox="1"/>
          <p:nvPr/>
        </p:nvSpPr>
        <p:spPr>
          <a:xfrm>
            <a:off x="12059107" y="7048195"/>
            <a:ext cx="2286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F253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전형적 damascene</a:t>
            </a:r>
            <a:endParaRPr lang="en-US" sz="1125" dirty="0"/>
          </a:p>
        </p:txBody>
      </p:sp>
      <p:sp>
        <p:nvSpPr>
          <p:cNvPr id="57" name="Text 42"/>
          <p:cNvSpPr txBox="1"/>
          <p:nvPr/>
        </p:nvSpPr>
        <p:spPr>
          <a:xfrm>
            <a:off x="14440205" y="7048195"/>
            <a:ext cx="22860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54616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baseline</a:t>
            </a:r>
            <a:endParaRPr lang="en-US" sz="1125" dirty="0"/>
          </a:p>
        </p:txBody>
      </p:sp>
      <p:sp>
        <p:nvSpPr>
          <p:cNvPr id="58" name="Text 43"/>
          <p:cNvSpPr txBox="1"/>
          <p:nvPr/>
        </p:nvSpPr>
        <p:spPr>
          <a:xfrm>
            <a:off x="914400" y="7524598"/>
            <a:ext cx="15243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B858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W02 Co</a:t>
            </a:r>
            <a:endParaRPr lang="en-US" sz="1350" dirty="0"/>
          </a:p>
        </p:txBody>
      </p:sp>
      <p:sp>
        <p:nvSpPr>
          <p:cNvPr id="59" name="Text 44"/>
          <p:cNvSpPr txBox="1"/>
          <p:nvPr/>
        </p:nvSpPr>
        <p:spPr>
          <a:xfrm>
            <a:off x="2533802" y="7487107"/>
            <a:ext cx="2286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F253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상부 bowing · taper 경미</a:t>
            </a:r>
            <a:endParaRPr lang="en-US" sz="1125" dirty="0"/>
          </a:p>
        </p:txBody>
      </p:sp>
      <p:sp>
        <p:nvSpPr>
          <p:cNvPr id="60" name="Text 45"/>
          <p:cNvSpPr txBox="1"/>
          <p:nvPr/>
        </p:nvSpPr>
        <p:spPr>
          <a:xfrm>
            <a:off x="4914900" y="7487107"/>
            <a:ext cx="2286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F253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 연속 · 약간 두께 ↑</a:t>
            </a:r>
            <a:endParaRPr lang="en-US" sz="1125" dirty="0"/>
          </a:p>
        </p:txBody>
      </p:sp>
      <p:sp>
        <p:nvSpPr>
          <p:cNvPr id="61" name="Text 46"/>
          <p:cNvSpPr txBox="1"/>
          <p:nvPr/>
        </p:nvSpPr>
        <p:spPr>
          <a:xfrm>
            <a:off x="7295998" y="7487107"/>
            <a:ext cx="2286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F253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Co/Cu 직접 · 부분 alloy</a:t>
            </a:r>
            <a:endParaRPr lang="en-US" sz="1125" dirty="0"/>
          </a:p>
        </p:txBody>
      </p:sp>
      <p:sp>
        <p:nvSpPr>
          <p:cNvPr id="62" name="Text 47"/>
          <p:cNvSpPr txBox="1"/>
          <p:nvPr/>
        </p:nvSpPr>
        <p:spPr>
          <a:xfrm>
            <a:off x="9677095" y="7487107"/>
            <a:ext cx="2286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B858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 skip 11/196</a:t>
            </a:r>
            <a:endParaRPr lang="en-US" sz="1125" dirty="0"/>
          </a:p>
        </p:txBody>
      </p:sp>
      <p:sp>
        <p:nvSpPr>
          <p:cNvPr id="63" name="Text 48"/>
          <p:cNvSpPr txBox="1"/>
          <p:nvPr/>
        </p:nvSpPr>
        <p:spPr>
          <a:xfrm>
            <a:off x="12059107" y="7487107"/>
            <a:ext cx="2286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F253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side-only 선택 양호</a:t>
            </a:r>
            <a:endParaRPr lang="en-US" sz="1125" dirty="0"/>
          </a:p>
        </p:txBody>
      </p:sp>
      <p:sp>
        <p:nvSpPr>
          <p:cNvPr id="64" name="Text 49"/>
          <p:cNvSpPr txBox="1"/>
          <p:nvPr/>
        </p:nvSpPr>
        <p:spPr>
          <a:xfrm>
            <a:off x="14440205" y="7487107"/>
            <a:ext cx="22860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B858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conditional</a:t>
            </a:r>
            <a:endParaRPr lang="en-US" sz="1125" dirty="0"/>
          </a:p>
        </p:txBody>
      </p:sp>
      <p:sp>
        <p:nvSpPr>
          <p:cNvPr id="65" name="Text 50"/>
          <p:cNvSpPr txBox="1"/>
          <p:nvPr/>
        </p:nvSpPr>
        <p:spPr>
          <a:xfrm>
            <a:off x="914400" y="7962595"/>
            <a:ext cx="15243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F53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W03 Ru</a:t>
            </a:r>
            <a:endParaRPr lang="en-US" sz="1350" dirty="0"/>
          </a:p>
        </p:txBody>
      </p:sp>
      <p:sp>
        <p:nvSpPr>
          <p:cNvPr id="66" name="Text 51"/>
          <p:cNvSpPr txBox="1"/>
          <p:nvPr/>
        </p:nvSpPr>
        <p:spPr>
          <a:xfrm>
            <a:off x="2533802" y="7925105"/>
            <a:ext cx="2286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F253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직벽 · bowing 없음</a:t>
            </a:r>
            <a:endParaRPr lang="en-US" sz="1125" dirty="0"/>
          </a:p>
        </p:txBody>
      </p:sp>
      <p:sp>
        <p:nvSpPr>
          <p:cNvPr id="67" name="Text 52"/>
          <p:cNvSpPr txBox="1"/>
          <p:nvPr/>
        </p:nvSpPr>
        <p:spPr>
          <a:xfrm>
            <a:off x="4914900" y="7925105"/>
            <a:ext cx="2286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F253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via-bottom 직벽</a:t>
            </a:r>
            <a:endParaRPr lang="en-US" sz="1125" dirty="0"/>
          </a:p>
        </p:txBody>
      </p:sp>
      <p:sp>
        <p:nvSpPr>
          <p:cNvPr id="68" name="Text 53"/>
          <p:cNvSpPr txBox="1"/>
          <p:nvPr/>
        </p:nvSpPr>
        <p:spPr>
          <a:xfrm>
            <a:off x="7295998" y="7925105"/>
            <a:ext cx="2286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F253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Ru/Cu 연속적</a:t>
            </a:r>
            <a:endParaRPr lang="en-US" sz="1125" dirty="0"/>
          </a:p>
        </p:txBody>
      </p:sp>
      <p:sp>
        <p:nvSpPr>
          <p:cNvPr id="69" name="Text 54"/>
          <p:cNvSpPr txBox="1"/>
          <p:nvPr/>
        </p:nvSpPr>
        <p:spPr>
          <a:xfrm>
            <a:off x="9677095" y="7925105"/>
            <a:ext cx="2286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2D6A4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void 1 / skip 4/196</a:t>
            </a:r>
            <a:endParaRPr lang="en-US" sz="1125" dirty="0"/>
          </a:p>
        </p:txBody>
      </p:sp>
      <p:sp>
        <p:nvSpPr>
          <p:cNvPr id="70" name="Text 55"/>
          <p:cNvSpPr txBox="1"/>
          <p:nvPr/>
        </p:nvSpPr>
        <p:spPr>
          <a:xfrm>
            <a:off x="12059107" y="7925105"/>
            <a:ext cx="2286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F253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side+bottom 균일</a:t>
            </a:r>
            <a:endParaRPr lang="en-US" sz="1125" dirty="0"/>
          </a:p>
        </p:txBody>
      </p:sp>
      <p:sp>
        <p:nvSpPr>
          <p:cNvPr id="71" name="Text 56"/>
          <p:cNvSpPr txBox="1"/>
          <p:nvPr/>
        </p:nvSpPr>
        <p:spPr>
          <a:xfrm>
            <a:off x="14440205" y="7925105"/>
            <a:ext cx="22860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F536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strong</a:t>
            </a:r>
            <a:endParaRPr lang="en-US" sz="1125" dirty="0"/>
          </a:p>
        </p:txBody>
      </p:sp>
      <p:sp>
        <p:nvSpPr>
          <p:cNvPr id="72" name="Text 57"/>
          <p:cNvSpPr txBox="1"/>
          <p:nvPr/>
        </p:nvSpPr>
        <p:spPr>
          <a:xfrm>
            <a:off x="914400" y="8401507"/>
            <a:ext cx="15243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D6A4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W04 hybrid</a:t>
            </a:r>
            <a:endParaRPr lang="en-US" sz="1350" dirty="0"/>
          </a:p>
        </p:txBody>
      </p:sp>
      <p:sp>
        <p:nvSpPr>
          <p:cNvPr id="73" name="Text 58"/>
          <p:cNvSpPr txBox="1"/>
          <p:nvPr/>
        </p:nvSpPr>
        <p:spPr>
          <a:xfrm>
            <a:off x="2533802" y="8363102"/>
            <a:ext cx="2286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F253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직벽 · taper 무</a:t>
            </a:r>
            <a:endParaRPr lang="en-US" sz="1125" dirty="0"/>
          </a:p>
        </p:txBody>
      </p:sp>
      <p:sp>
        <p:nvSpPr>
          <p:cNvPr id="74" name="Text 59"/>
          <p:cNvSpPr txBox="1"/>
          <p:nvPr/>
        </p:nvSpPr>
        <p:spPr>
          <a:xfrm>
            <a:off x="4914900" y="8363102"/>
            <a:ext cx="2286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F253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Ru trench / Co-only side</a:t>
            </a:r>
            <a:endParaRPr lang="en-US" sz="1125" dirty="0"/>
          </a:p>
        </p:txBody>
      </p:sp>
      <p:sp>
        <p:nvSpPr>
          <p:cNvPr id="75" name="Text 60"/>
          <p:cNvSpPr txBox="1"/>
          <p:nvPr/>
        </p:nvSpPr>
        <p:spPr>
          <a:xfrm>
            <a:off x="7295998" y="8363102"/>
            <a:ext cx="2286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F253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gradient interface</a:t>
            </a:r>
            <a:endParaRPr lang="en-US" sz="1125" dirty="0"/>
          </a:p>
        </p:txBody>
      </p:sp>
      <p:sp>
        <p:nvSpPr>
          <p:cNvPr id="76" name="Text 61"/>
          <p:cNvSpPr txBox="1"/>
          <p:nvPr/>
        </p:nvSpPr>
        <p:spPr>
          <a:xfrm>
            <a:off x="9677095" y="8363102"/>
            <a:ext cx="2286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2D6A4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void 0 / defect 0</a:t>
            </a:r>
            <a:endParaRPr lang="en-US" sz="1125" dirty="0"/>
          </a:p>
        </p:txBody>
      </p:sp>
      <p:sp>
        <p:nvSpPr>
          <p:cNvPr id="77" name="Text 62"/>
          <p:cNvSpPr txBox="1"/>
          <p:nvPr/>
        </p:nvSpPr>
        <p:spPr>
          <a:xfrm>
            <a:off x="12059107" y="8363102"/>
            <a:ext cx="2286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F253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side 선택성 강건</a:t>
            </a:r>
            <a:endParaRPr lang="en-US" sz="1125" dirty="0"/>
          </a:p>
        </p:txBody>
      </p:sp>
      <p:sp>
        <p:nvSpPr>
          <p:cNvPr id="78" name="Text 63"/>
          <p:cNvSpPr txBox="1"/>
          <p:nvPr/>
        </p:nvSpPr>
        <p:spPr>
          <a:xfrm>
            <a:off x="14440205" y="8363102"/>
            <a:ext cx="22860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D6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best</a:t>
            </a:r>
            <a:endParaRPr lang="en-US" sz="1125" dirty="0"/>
          </a:p>
        </p:txBody>
      </p:sp>
      <p:sp>
        <p:nvSpPr>
          <p:cNvPr id="79" name="Text 64"/>
          <p:cNvSpPr txBox="1"/>
          <p:nvPr/>
        </p:nvSpPr>
        <p:spPr>
          <a:xfrm>
            <a:off x="990295" y="9087307"/>
            <a:ext cx="1239012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spc="176" kern="0" dirty="0">
                <a:solidFill>
                  <a:srgbClr val="B858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TAKEAWAY</a:t>
            </a:r>
            <a:endParaRPr lang="en-US" sz="975" dirty="0"/>
          </a:p>
        </p:txBody>
      </p:sp>
      <p:sp>
        <p:nvSpPr>
          <p:cNvPr id="80" name="Text 65"/>
          <p:cNvSpPr txBox="1"/>
          <p:nvPr/>
        </p:nvSpPr>
        <p:spPr>
          <a:xfrm>
            <a:off x="2361895" y="9048902"/>
            <a:ext cx="1573591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W03 BLV-Ru·W04 hybrid</a:t>
            </a:r>
            <a:pPr algn="l" indent="0" marL="0">
              <a:buNone/>
            </a:pPr>
            <a:r>
              <a:rPr lang="en-US" sz="127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는 BLV 중 직벽성·interface 연속성·결함률 모두 양호 — REF 대비 결함률은 비슷하거나 우수. W04가 dummy 기준 best, W02 BLV-Co는 side skip 11 site로 상대 열위.</a:t>
            </a:r>
            <a:endParaRPr lang="en-US" sz="1275" dirty="0"/>
          </a:p>
        </p:txBody>
      </p:sp>
      <p:sp>
        <p:nvSpPr>
          <p:cNvPr id="81" name="Text 66"/>
          <p:cNvSpPr txBox="1"/>
          <p:nvPr/>
        </p:nvSpPr>
        <p:spPr>
          <a:xfrm>
            <a:off x="761695" y="9849002"/>
            <a:ext cx="723930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5A62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EV-BEOL-BLV-018 · 이미지 출처 명시 — dummy 조건 비교용</a:t>
            </a:r>
            <a:endParaRPr lang="en-US" sz="975" dirty="0"/>
          </a:p>
        </p:txBody>
      </p:sp>
      <p:sp>
        <p:nvSpPr>
          <p:cNvPr id="82" name="Text 67"/>
          <p:cNvSpPr txBox="1"/>
          <p:nvPr/>
        </p:nvSpPr>
        <p:spPr>
          <a:xfrm>
            <a:off x="8001000" y="9849002"/>
            <a:ext cx="952530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※ 내부 테스트용 더미(가상) 데이터 · 03 / 12</a:t>
            </a:r>
            <a:endParaRPr lang="en-US" sz="9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F0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4b8b176d1054448e556d5d1f414aa96f.png">    </p:cNvPr>
          <p:cNvPicPr>
            <a:picLocks noChangeAspect="1"/>
          </p:cNvPicPr>
          <p:nvPr/>
        </p:nvPicPr>
        <p:blipFill>
          <a:blip r:embed="rId1"/>
          <a:srcRect l="0" r="0" t="-400" b="-400"/>
          <a:stretch/>
        </p:blipFill>
        <p:spPr>
          <a:xfrm>
            <a:off x="0" y="0"/>
            <a:ext cx="18288000" cy="57607"/>
          </a:xfrm>
          <a:prstGeom prst="rect">
            <a:avLst/>
          </a:prstGeom>
        </p:spPr>
      </p:pic>
      <p:pic>
        <p:nvPicPr>
          <p:cNvPr id="4" name="Image 1" descr="gen-dedup-6ef2f382d46d5f775cbbac1e044faac9.png">    </p:cNvPr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761695" y="1638605"/>
            <a:ext cx="16763695" cy="9144"/>
          </a:xfrm>
          <a:prstGeom prst="rect">
            <a:avLst/>
          </a:prstGeom>
        </p:spPr>
      </p:pic>
      <p:pic>
        <p:nvPicPr>
          <p:cNvPr id="5" name="Image 2" descr="gen-dedup-15a880e8f657bb603fd0b045e90b8da5.png">    </p:cNvPr>
          <p:cNvPicPr>
            <a:picLocks noChangeAspect="1"/>
          </p:cNvPicPr>
          <p:nvPr/>
        </p:nvPicPr>
        <p:blipFill>
          <a:blip r:embed="rId3"/>
          <a:srcRect l="-424" r="-424" t="0" b="0"/>
          <a:stretch/>
        </p:blipFill>
        <p:spPr>
          <a:xfrm>
            <a:off x="761695" y="1790395"/>
            <a:ext cx="57607" cy="323698"/>
          </a:xfrm>
          <a:prstGeom prst="rect">
            <a:avLst/>
          </a:prstGeom>
        </p:spPr>
      </p:pic>
      <p:sp>
        <p:nvSpPr>
          <p:cNvPr id="6" name="Shape 0"/>
          <p:cNvSpPr/>
          <p:nvPr/>
        </p:nvSpPr>
        <p:spPr>
          <a:xfrm>
            <a:off x="761695" y="2286000"/>
            <a:ext cx="10287000" cy="552480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1"/>
          <p:cNvSpPr/>
          <p:nvPr/>
        </p:nvSpPr>
        <p:spPr>
          <a:xfrm>
            <a:off x="11430000" y="2286000"/>
            <a:ext cx="6096305" cy="1762049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2"/>
          <p:cNvSpPr/>
          <p:nvPr/>
        </p:nvSpPr>
        <p:spPr>
          <a:xfrm>
            <a:off x="11430000" y="4114800"/>
            <a:ext cx="6096305" cy="1762049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3"/>
          <p:cNvSpPr/>
          <p:nvPr/>
        </p:nvSpPr>
        <p:spPr>
          <a:xfrm>
            <a:off x="11430000" y="5943600"/>
            <a:ext cx="6096305" cy="186720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4"/>
          <p:cNvSpPr/>
          <p:nvPr/>
        </p:nvSpPr>
        <p:spPr>
          <a:xfrm>
            <a:off x="761695" y="9010498"/>
            <a:ext cx="16763695" cy="400507"/>
          </a:xfrm>
          <a:prstGeom prst="rect">
            <a:avLst/>
          </a:prstGeom>
          <a:solidFill>
            <a:srgbClr val="0E1F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1" name="Image 3" descr="gen-dedup-6ef2f382d46d5f775cbbac1e044faac9.png">    </p:cNvPr>
          <p:cNvPicPr>
            <a:picLocks noChangeAspect="1"/>
          </p:cNvPicPr>
          <p:nvPr/>
        </p:nvPicPr>
        <p:blipFill>
          <a:blip r:embed="rId4"/>
          <a:srcRect l="-2083" r="-2083" t="0" b="0"/>
          <a:stretch/>
        </p:blipFill>
        <p:spPr>
          <a:xfrm>
            <a:off x="761695" y="9715500"/>
            <a:ext cx="16763695" cy="9144"/>
          </a:xfrm>
          <a:prstGeom prst="rect">
            <a:avLst/>
          </a:prstGeom>
        </p:spPr>
      </p:pic>
      <p:sp>
        <p:nvSpPr>
          <p:cNvPr id="12" name="Shape 5"/>
          <p:cNvSpPr/>
          <p:nvPr/>
        </p:nvSpPr>
        <p:spPr>
          <a:xfrm>
            <a:off x="761695" y="2286000"/>
            <a:ext cx="10287000" cy="342900"/>
          </a:xfrm>
          <a:prstGeom prst="rect">
            <a:avLst/>
          </a:prstGeom>
          <a:solidFill>
            <a:srgbClr val="1F536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6"/>
          <p:cNvSpPr/>
          <p:nvPr/>
        </p:nvSpPr>
        <p:spPr>
          <a:xfrm>
            <a:off x="11430000" y="2286000"/>
            <a:ext cx="6096305" cy="304495"/>
          </a:xfrm>
          <a:prstGeom prst="rect">
            <a:avLst/>
          </a:prstGeom>
          <a:solidFill>
            <a:srgbClr val="54616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7"/>
          <p:cNvSpPr/>
          <p:nvPr/>
        </p:nvSpPr>
        <p:spPr>
          <a:xfrm>
            <a:off x="11430000" y="4114800"/>
            <a:ext cx="6096305" cy="304495"/>
          </a:xfrm>
          <a:prstGeom prst="rect">
            <a:avLst/>
          </a:prstGeom>
          <a:solidFill>
            <a:srgbClr val="B8581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8"/>
          <p:cNvSpPr/>
          <p:nvPr/>
        </p:nvSpPr>
        <p:spPr>
          <a:xfrm>
            <a:off x="11430000" y="5943600"/>
            <a:ext cx="6096305" cy="304495"/>
          </a:xfrm>
          <a:prstGeom prst="rect">
            <a:avLst/>
          </a:prstGeom>
          <a:solidFill>
            <a:srgbClr val="2D6A4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6" name="Image 4" descr="gen-dedup-f8ddcf4a569d605420b2cdf3d7aabeec.png">    </p:cNvPr>
          <p:cNvPicPr>
            <a:picLocks noChangeAspect="1"/>
          </p:cNvPicPr>
          <p:nvPr/>
        </p:nvPicPr>
        <p:blipFill>
          <a:blip r:embed="rId5"/>
          <a:srcRect l="-342" r="-342" t="0" b="0"/>
          <a:stretch/>
        </p:blipFill>
        <p:spPr>
          <a:xfrm>
            <a:off x="761695" y="9010498"/>
            <a:ext cx="57607" cy="400507"/>
          </a:xfrm>
          <a:prstGeom prst="rect">
            <a:avLst/>
          </a:prstGeom>
        </p:spPr>
      </p:pic>
      <p:pic>
        <p:nvPicPr>
          <p:cNvPr id="17" name="Image 5" descr="gen-dedup-9e17c2e5b366b771c25cdcac136807dd.png">    </p:cNvPr>
          <p:cNvPicPr>
            <a:picLocks noChangeAspect="1"/>
          </p:cNvPicPr>
          <p:nvPr/>
        </p:nvPicPr>
        <p:blipFill>
          <a:blip r:embed="rId6"/>
          <a:srcRect l="-2078" r="-2078" t="0" b="0"/>
          <a:stretch/>
        </p:blipFill>
        <p:spPr>
          <a:xfrm>
            <a:off x="2857500" y="4496105"/>
            <a:ext cx="3619195" cy="9144"/>
          </a:xfrm>
          <a:prstGeom prst="rect">
            <a:avLst/>
          </a:prstGeom>
        </p:spPr>
      </p:pic>
      <p:pic>
        <p:nvPicPr>
          <p:cNvPr id="18" name="Image 6" descr="gen-dedup-2504763655350984873bb2c9fb577722.png">    </p:cNvPr>
          <p:cNvPicPr>
            <a:picLocks noChangeAspect="1"/>
          </p:cNvPicPr>
          <p:nvPr/>
        </p:nvPicPr>
        <p:blipFill>
          <a:blip r:embed="rId7"/>
          <a:srcRect l="-2083" r="-2083" t="0" b="0"/>
          <a:stretch/>
        </p:blipFill>
        <p:spPr>
          <a:xfrm>
            <a:off x="4572000" y="3733495"/>
            <a:ext cx="2857500" cy="9144"/>
          </a:xfrm>
          <a:prstGeom prst="rect">
            <a:avLst/>
          </a:prstGeom>
        </p:spPr>
      </p:pic>
      <p:pic>
        <p:nvPicPr>
          <p:cNvPr id="19" name="Image 7" descr="gen-dedup-f406648320b2436589723e9058236a16.png">    </p:cNvPr>
          <p:cNvPicPr>
            <a:picLocks noChangeAspect="1"/>
          </p:cNvPicPr>
          <p:nvPr/>
        </p:nvPicPr>
        <p:blipFill>
          <a:blip r:embed="rId8"/>
          <a:srcRect l="-2072" r="-2072" t="0" b="0"/>
          <a:stretch/>
        </p:blipFill>
        <p:spPr>
          <a:xfrm>
            <a:off x="7048195" y="3276295"/>
            <a:ext cx="1904695" cy="9144"/>
          </a:xfrm>
          <a:prstGeom prst="rect">
            <a:avLst/>
          </a:prstGeom>
        </p:spPr>
      </p:pic>
      <p:sp>
        <p:nvSpPr>
          <p:cNvPr id="20" name="Text 9"/>
          <p:cNvSpPr txBox="1"/>
          <p:nvPr/>
        </p:nvSpPr>
        <p:spPr>
          <a:xfrm>
            <a:off x="761695" y="400507"/>
            <a:ext cx="1334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DOC //</a:t>
            </a:r>
            <a:endParaRPr lang="en-US" sz="1050" dirty="0"/>
          </a:p>
        </p:txBody>
      </p:sp>
      <p:sp>
        <p:nvSpPr>
          <p:cNvPr id="21" name="Text 10"/>
          <p:cNvSpPr txBox="1"/>
          <p:nvPr/>
        </p:nvSpPr>
        <p:spPr>
          <a:xfrm>
            <a:off x="761695" y="629107"/>
            <a:ext cx="13341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63" kern="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EV-BEOL-BLV-018</a:t>
            </a:r>
            <a:endParaRPr lang="en-US" sz="1050" dirty="0"/>
          </a:p>
        </p:txBody>
      </p:sp>
      <p:sp>
        <p:nvSpPr>
          <p:cNvPr id="22" name="Text 11"/>
          <p:cNvSpPr txBox="1"/>
          <p:nvPr/>
        </p:nvSpPr>
        <p:spPr>
          <a:xfrm>
            <a:off x="761695" y="857707"/>
            <a:ext cx="14287500" cy="5815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0E1F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TEM 인터페이스 분석</a:t>
            </a:r>
            <a:endParaRPr lang="en-US" sz="3150" dirty="0"/>
          </a:p>
        </p:txBody>
      </p:sp>
      <p:sp>
        <p:nvSpPr>
          <p:cNvPr id="23" name="Text 12"/>
          <p:cNvSpPr txBox="1"/>
          <p:nvPr/>
        </p:nvSpPr>
        <p:spPr>
          <a:xfrm>
            <a:off x="761695" y="1514246"/>
            <a:ext cx="14287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25" dirty="0">
                <a:solidFill>
                  <a:srgbClr val="4D566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HR-TEM via bottom / line side — amorphous ring·intermixing·B₂O₃-like oxide 관찰 (Cross-section STEM은 dummy representative)</a:t>
            </a:r>
            <a:endParaRPr lang="en-US" sz="1425" dirty="0"/>
          </a:p>
        </p:txBody>
      </p:sp>
      <p:sp>
        <p:nvSpPr>
          <p:cNvPr id="24" name="Text 13"/>
          <p:cNvSpPr txBox="1"/>
          <p:nvPr/>
        </p:nvSpPr>
        <p:spPr>
          <a:xfrm>
            <a:off x="15430500" y="400507"/>
            <a:ext cx="20958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spc="98" kern="0" dirty="0">
                <a:solidFill>
                  <a:srgbClr val="5A62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 0.6 · INTERNAL</a:t>
            </a:r>
            <a:endParaRPr lang="en-US" sz="975" dirty="0"/>
          </a:p>
        </p:txBody>
      </p:sp>
      <p:sp>
        <p:nvSpPr>
          <p:cNvPr id="25" name="Text 14"/>
          <p:cNvSpPr txBox="1"/>
          <p:nvPr/>
        </p:nvSpPr>
        <p:spPr>
          <a:xfrm>
            <a:off x="15430500" y="599846"/>
            <a:ext cx="20958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dirty="0">
                <a:solidFill>
                  <a:srgbClr val="5A62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2026-10-03</a:t>
            </a:r>
            <a:endParaRPr lang="en-US" sz="975" dirty="0"/>
          </a:p>
        </p:txBody>
      </p:sp>
      <p:sp>
        <p:nvSpPr>
          <p:cNvPr id="26" name="Text 15"/>
          <p:cNvSpPr txBox="1"/>
          <p:nvPr/>
        </p:nvSpPr>
        <p:spPr>
          <a:xfrm>
            <a:off x="914400" y="1790395"/>
            <a:ext cx="10478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spc="168" kern="0" dirty="0">
                <a:solidFill>
                  <a:srgbClr val="1F53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§ 01 / 04 · TEM INTERFACE</a:t>
            </a:r>
            <a:endParaRPr lang="en-US" sz="1050" dirty="0"/>
          </a:p>
        </p:txBody>
      </p:sp>
      <p:sp>
        <p:nvSpPr>
          <p:cNvPr id="27" name="Text 16"/>
          <p:cNvSpPr txBox="1"/>
          <p:nvPr/>
        </p:nvSpPr>
        <p:spPr>
          <a:xfrm>
            <a:off x="914400" y="2000707"/>
            <a:ext cx="104781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좌측 large — W03 via bottom HR-TEM 우측 small comparison — split 별 interface 3장 비교</a:t>
            </a:r>
            <a:endParaRPr lang="en-US" sz="975" dirty="0"/>
          </a:p>
        </p:txBody>
      </p:sp>
      <p:sp>
        <p:nvSpPr>
          <p:cNvPr id="28" name="Text 17"/>
          <p:cNvSpPr txBox="1"/>
          <p:nvPr/>
        </p:nvSpPr>
        <p:spPr>
          <a:xfrm>
            <a:off x="914400" y="2343607"/>
            <a:ext cx="66678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(e) · W03 BLV-Ru · via bottom HR-TEM 800k×</a:t>
            </a:r>
            <a:endParaRPr lang="en-US" sz="975" dirty="0"/>
          </a:p>
        </p:txBody>
      </p:sp>
      <p:sp>
        <p:nvSpPr>
          <p:cNvPr id="29" name="Text 18"/>
          <p:cNvSpPr txBox="1"/>
          <p:nvPr/>
        </p:nvSpPr>
        <p:spPr>
          <a:xfrm>
            <a:off x="7239305" y="2361895"/>
            <a:ext cx="36201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dose 1.2 nA · spot 5 · tilt 0°</a:t>
            </a:r>
            <a:endParaRPr lang="en-US" sz="900" dirty="0"/>
          </a:p>
        </p:txBody>
      </p:sp>
      <p:sp>
        <p:nvSpPr>
          <p:cNvPr id="30" name="Text 19"/>
          <p:cNvSpPr txBox="1"/>
          <p:nvPr/>
        </p:nvSpPr>
        <p:spPr>
          <a:xfrm>
            <a:off x="2857500" y="4552798"/>
            <a:ext cx="36201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B858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Ru barrier approx. 2.0 nm / amorphous ring 없음</a:t>
            </a:r>
            <a:endParaRPr lang="en-US" sz="975" dirty="0"/>
          </a:p>
        </p:txBody>
      </p:sp>
      <p:sp>
        <p:nvSpPr>
          <p:cNvPr id="31" name="Text 20"/>
          <p:cNvSpPr txBox="1"/>
          <p:nvPr/>
        </p:nvSpPr>
        <p:spPr>
          <a:xfrm>
            <a:off x="4572000" y="3791102"/>
            <a:ext cx="28575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B858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Cu via-fill — grain 연속</a:t>
            </a:r>
            <a:endParaRPr lang="en-US" sz="975" dirty="0"/>
          </a:p>
        </p:txBody>
      </p:sp>
      <p:sp>
        <p:nvSpPr>
          <p:cNvPr id="32" name="Text 21"/>
          <p:cNvSpPr txBox="1"/>
          <p:nvPr/>
        </p:nvSpPr>
        <p:spPr>
          <a:xfrm>
            <a:off x="7048195" y="3333902"/>
            <a:ext cx="22860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B858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ULK k=2.2 — 무 plasma damage</a:t>
            </a:r>
            <a:endParaRPr lang="en-US" sz="975" dirty="0"/>
          </a:p>
        </p:txBody>
      </p:sp>
      <p:sp>
        <p:nvSpPr>
          <p:cNvPr id="33" name="Text 22"/>
          <p:cNvSpPr txBox="1"/>
          <p:nvPr/>
        </p:nvSpPr>
        <p:spPr>
          <a:xfrm>
            <a:off x="11582705" y="2343607"/>
            <a:ext cx="5715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(f1) · W01 REF Ta/TaN interface</a:t>
            </a:r>
            <a:endParaRPr lang="en-US" sz="975" dirty="0"/>
          </a:p>
        </p:txBody>
      </p:sp>
      <p:sp>
        <p:nvSpPr>
          <p:cNvPr id="34" name="Text 23"/>
          <p:cNvSpPr txBox="1"/>
          <p:nvPr/>
        </p:nvSpPr>
        <p:spPr>
          <a:xfrm>
            <a:off x="14440205" y="2686507"/>
            <a:ext cx="28575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line/via 계면</a:t>
            </a:r>
            <a:endParaRPr lang="en-US" sz="975" dirty="0"/>
          </a:p>
        </p:txBody>
      </p:sp>
      <p:sp>
        <p:nvSpPr>
          <p:cNvPr id="35" name="Text 24"/>
          <p:cNvSpPr txBox="1"/>
          <p:nvPr/>
        </p:nvSpPr>
        <p:spPr>
          <a:xfrm>
            <a:off x="14440205" y="2905049"/>
            <a:ext cx="28575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E1F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Ta/TaN ~25 Å, amorphous ring 부분. Cu(111) 우선取向.</a:t>
            </a:r>
            <a:endParaRPr lang="en-US" sz="1050" dirty="0"/>
          </a:p>
        </p:txBody>
      </p:sp>
      <p:sp>
        <p:nvSpPr>
          <p:cNvPr id="36" name="Text 25"/>
          <p:cNvSpPr txBox="1"/>
          <p:nvPr/>
        </p:nvSpPr>
        <p:spPr>
          <a:xfrm>
            <a:off x="14440205" y="3323844"/>
            <a:ext cx="28575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haze 발생 없음. ILD 측 interface 부분.</a:t>
            </a:r>
            <a:endParaRPr lang="en-US" sz="975" dirty="0"/>
          </a:p>
        </p:txBody>
      </p:sp>
      <p:sp>
        <p:nvSpPr>
          <p:cNvPr id="37" name="Text 26"/>
          <p:cNvSpPr txBox="1"/>
          <p:nvPr/>
        </p:nvSpPr>
        <p:spPr>
          <a:xfrm>
            <a:off x="11582705" y="4172407"/>
            <a:ext cx="5715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(f2) · W02 BLV-Co interface</a:t>
            </a:r>
            <a:endParaRPr lang="en-US" sz="975" dirty="0"/>
          </a:p>
        </p:txBody>
      </p:sp>
      <p:sp>
        <p:nvSpPr>
          <p:cNvPr id="38" name="Text 27"/>
          <p:cNvSpPr txBox="1"/>
          <p:nvPr/>
        </p:nvSpPr>
        <p:spPr>
          <a:xfrm>
            <a:off x="14440205" y="4515307"/>
            <a:ext cx="28575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B858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 측 interface</a:t>
            </a:r>
            <a:endParaRPr lang="en-US" sz="975" dirty="0"/>
          </a:p>
        </p:txBody>
      </p:sp>
      <p:sp>
        <p:nvSpPr>
          <p:cNvPr id="39" name="Text 28"/>
          <p:cNvSpPr txBox="1"/>
          <p:nvPr/>
        </p:nvSpPr>
        <p:spPr>
          <a:xfrm>
            <a:off x="14440205" y="4733849"/>
            <a:ext cx="28575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E1F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 15 Å 연속. ILD 측 skip 흔적 부분. Co+Cu alloy band 추정.</a:t>
            </a:r>
            <a:endParaRPr lang="en-US" sz="1050" dirty="0"/>
          </a:p>
        </p:txBody>
      </p:sp>
      <p:sp>
        <p:nvSpPr>
          <p:cNvPr id="40" name="Text 29"/>
          <p:cNvSpPr txBox="1"/>
          <p:nvPr/>
        </p:nvSpPr>
        <p:spPr>
          <a:xfrm>
            <a:off x="14440205" y="5152644"/>
            <a:ext cx="28575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side 선택성 강하지만 via bottom 일부 결손.</a:t>
            </a:r>
            <a:endParaRPr lang="en-US" sz="975" dirty="0"/>
          </a:p>
        </p:txBody>
      </p:sp>
      <p:sp>
        <p:nvSpPr>
          <p:cNvPr id="41" name="Text 30"/>
          <p:cNvSpPr txBox="1"/>
          <p:nvPr/>
        </p:nvSpPr>
        <p:spPr>
          <a:xfrm>
            <a:off x="11582705" y="6001207"/>
            <a:ext cx="5715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(f3) · W04 Ru/Co hybrid stacked</a:t>
            </a:r>
            <a:endParaRPr lang="en-US" sz="975" dirty="0"/>
          </a:p>
        </p:txBody>
      </p:sp>
      <p:sp>
        <p:nvSpPr>
          <p:cNvPr id="42" name="Text 31"/>
          <p:cNvSpPr txBox="1"/>
          <p:nvPr/>
        </p:nvSpPr>
        <p:spPr>
          <a:xfrm>
            <a:off x="14440205" y="6344107"/>
            <a:ext cx="30486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2D6A4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hybrid interface</a:t>
            </a:r>
            <a:endParaRPr lang="en-US" sz="975" dirty="0"/>
          </a:p>
        </p:txBody>
      </p:sp>
      <p:sp>
        <p:nvSpPr>
          <p:cNvPr id="43" name="Text 32"/>
          <p:cNvSpPr txBox="1"/>
          <p:nvPr/>
        </p:nvSpPr>
        <p:spPr>
          <a:xfrm>
            <a:off x="14440205" y="6562649"/>
            <a:ext cx="30486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E1F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Ru(20 Å) trench / Co(10 Å) side-only stacked. ILD 사이 누락 없음.</a:t>
            </a:r>
            <a:endParaRPr lang="en-US" sz="1050" dirty="0"/>
          </a:p>
        </p:txBody>
      </p:sp>
      <p:sp>
        <p:nvSpPr>
          <p:cNvPr id="44" name="Text 33"/>
          <p:cNvSpPr txBox="1"/>
          <p:nvPr/>
        </p:nvSpPr>
        <p:spPr>
          <a:xfrm>
            <a:off x="14440205" y="6981444"/>
            <a:ext cx="304861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stacked layer EDS line 분석 결과 dummy, side 선택성 강건.</a:t>
            </a:r>
            <a:endParaRPr lang="en-US" sz="975" dirty="0"/>
          </a:p>
        </p:txBody>
      </p:sp>
      <p:sp>
        <p:nvSpPr>
          <p:cNvPr id="45" name="Text 34"/>
          <p:cNvSpPr txBox="1"/>
          <p:nvPr/>
        </p:nvSpPr>
        <p:spPr>
          <a:xfrm>
            <a:off x="761695" y="7905902"/>
            <a:ext cx="1028700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(e/f1/f2/f3) Springer Nature 2024 BEOL interconnect chapter (sspark.genspark.ai/i/c2UuLqkK8YF9Uxht, /tCtox9cAU2ni4jtB, /Jj3oLPHqUUxZYgBi, 3DInCites /3DxkGZ4y3wIzxTN5). 결과는 dummy 평가 데이터, EDS 라인 분석 mock series.</a:t>
            </a:r>
            <a:endParaRPr lang="en-US" sz="975" dirty="0"/>
          </a:p>
        </p:txBody>
      </p:sp>
      <p:sp>
        <p:nvSpPr>
          <p:cNvPr id="46" name="Text 35"/>
          <p:cNvSpPr txBox="1"/>
          <p:nvPr/>
        </p:nvSpPr>
        <p:spPr>
          <a:xfrm>
            <a:off x="761695" y="8305495"/>
            <a:ext cx="102870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TEM 분석 한계: 1 px ≈ 0.18 nm @ 800k×. amorphous ring 두께 / oxide 정량화는 EDS line의 dummy 수치를 reference.</a:t>
            </a:r>
            <a:endParaRPr lang="en-US" sz="975" dirty="0"/>
          </a:p>
        </p:txBody>
      </p:sp>
      <p:sp>
        <p:nvSpPr>
          <p:cNvPr id="47" name="Text 36"/>
          <p:cNvSpPr txBox="1"/>
          <p:nvPr/>
        </p:nvSpPr>
        <p:spPr>
          <a:xfrm>
            <a:off x="990295" y="9087307"/>
            <a:ext cx="1905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spc="176" kern="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TAKEAWAY</a:t>
            </a:r>
            <a:endParaRPr lang="en-US" sz="975" dirty="0"/>
          </a:p>
        </p:txBody>
      </p:sp>
      <p:sp>
        <p:nvSpPr>
          <p:cNvPr id="48" name="Text 37"/>
          <p:cNvSpPr txBox="1"/>
          <p:nvPr/>
        </p:nvSpPr>
        <p:spPr>
          <a:xfrm>
            <a:off x="2361895" y="9048902"/>
            <a:ext cx="1573591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W03 Ru·W04 hybrid는 via bottom interface에서 amorphous ring이 없고 Cu grain 연속. W02 BLV-Co는 Co-skip site 부분 관찰, dummy 평가에서는 selectivity의 안정성을 추가 검증 필요.</a:t>
            </a:r>
            <a:endParaRPr lang="en-US" sz="1275" dirty="0"/>
          </a:p>
        </p:txBody>
      </p:sp>
      <p:sp>
        <p:nvSpPr>
          <p:cNvPr id="49" name="Text 38"/>
          <p:cNvSpPr txBox="1"/>
          <p:nvPr/>
        </p:nvSpPr>
        <p:spPr>
          <a:xfrm>
            <a:off x="761695" y="9849002"/>
            <a:ext cx="723930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5A62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EV-BEOL-BLV-018 · 이미지 출처 및 EDS 함의 명시</a:t>
            </a:r>
            <a:endParaRPr lang="en-US" sz="975" dirty="0"/>
          </a:p>
        </p:txBody>
      </p:sp>
      <p:sp>
        <p:nvSpPr>
          <p:cNvPr id="50" name="Text 39"/>
          <p:cNvSpPr txBox="1"/>
          <p:nvPr/>
        </p:nvSpPr>
        <p:spPr>
          <a:xfrm>
            <a:off x="8001000" y="9849002"/>
            <a:ext cx="952530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※ 내부 테스트용 더미(가상) 데이터 · 04 / 12</a:t>
            </a:r>
            <a:endParaRPr lang="en-US" sz="9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F0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4b8b176d1054448e556d5d1f414aa96f.png">    </p:cNvPr>
          <p:cNvPicPr>
            <a:picLocks noChangeAspect="1"/>
          </p:cNvPicPr>
          <p:nvPr/>
        </p:nvPicPr>
        <p:blipFill>
          <a:blip r:embed="rId1"/>
          <a:srcRect l="0" r="0" t="-400" b="-400"/>
          <a:stretch/>
        </p:blipFill>
        <p:spPr>
          <a:xfrm>
            <a:off x="0" y="0"/>
            <a:ext cx="18288000" cy="57607"/>
          </a:xfrm>
          <a:prstGeom prst="rect">
            <a:avLst/>
          </a:prstGeom>
        </p:spPr>
      </p:pic>
      <p:pic>
        <p:nvPicPr>
          <p:cNvPr id="4" name="Image 1" descr="gen-dedup-6ef2f382d46d5f775cbbac1e044faac9.png">    </p:cNvPr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761695" y="1638605"/>
            <a:ext cx="16763695" cy="9144"/>
          </a:xfrm>
          <a:prstGeom prst="rect">
            <a:avLst/>
          </a:prstGeom>
        </p:spPr>
      </p:pic>
      <p:pic>
        <p:nvPicPr>
          <p:cNvPr id="5" name="Image 2" descr="gen-dedup-aa69f2ffb39561dc63b4624e054af223.png">    </p:cNvPr>
          <p:cNvPicPr>
            <a:picLocks noChangeAspect="1"/>
          </p:cNvPicPr>
          <p:nvPr/>
        </p:nvPicPr>
        <p:blipFill>
          <a:blip r:embed="rId3"/>
          <a:srcRect l="-424" r="-424" t="0" b="0"/>
          <a:stretch/>
        </p:blipFill>
        <p:spPr>
          <a:xfrm>
            <a:off x="761695" y="1790395"/>
            <a:ext cx="57607" cy="323698"/>
          </a:xfrm>
          <a:prstGeom prst="rect">
            <a:avLst/>
          </a:prstGeom>
        </p:spPr>
      </p:pic>
      <p:sp>
        <p:nvSpPr>
          <p:cNvPr id="6" name="Shape 0"/>
          <p:cNvSpPr/>
          <p:nvPr/>
        </p:nvSpPr>
        <p:spPr>
          <a:xfrm>
            <a:off x="761695" y="2286000"/>
            <a:ext cx="11430000" cy="323698"/>
          </a:xfrm>
          <a:prstGeom prst="rect">
            <a:avLst/>
          </a:prstGeom>
          <a:solidFill>
            <a:srgbClr val="0E1F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1"/>
          <p:cNvSpPr/>
          <p:nvPr/>
        </p:nvSpPr>
        <p:spPr>
          <a:xfrm>
            <a:off x="761695" y="2667305"/>
            <a:ext cx="11430000" cy="533369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2"/>
          <p:cNvSpPr/>
          <p:nvPr/>
        </p:nvSpPr>
        <p:spPr>
          <a:xfrm>
            <a:off x="12573000" y="2286000"/>
            <a:ext cx="4953305" cy="571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3"/>
          <p:cNvSpPr/>
          <p:nvPr/>
        </p:nvSpPr>
        <p:spPr>
          <a:xfrm>
            <a:off x="761695" y="9010498"/>
            <a:ext cx="16763695" cy="400507"/>
          </a:xfrm>
          <a:prstGeom prst="rect">
            <a:avLst/>
          </a:prstGeom>
          <a:solidFill>
            <a:srgbClr val="0E1F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" name="Image 3" descr="gen-dedup-6ef2f382d46d5f775cbbac1e044faac9.png">    </p:cNvPr>
          <p:cNvPicPr>
            <a:picLocks noChangeAspect="1"/>
          </p:cNvPicPr>
          <p:nvPr/>
        </p:nvPicPr>
        <p:blipFill>
          <a:blip r:embed="rId4"/>
          <a:srcRect l="-2083" r="-2083" t="0" b="0"/>
          <a:stretch/>
        </p:blipFill>
        <p:spPr>
          <a:xfrm>
            <a:off x="761695" y="9715500"/>
            <a:ext cx="16763695" cy="9144"/>
          </a:xfrm>
          <a:prstGeom prst="rect">
            <a:avLst/>
          </a:prstGeom>
        </p:spPr>
      </p:pic>
      <p:sp>
        <p:nvSpPr>
          <p:cNvPr id="11" name="Shape 4"/>
          <p:cNvSpPr/>
          <p:nvPr/>
        </p:nvSpPr>
        <p:spPr>
          <a:xfrm>
            <a:off x="761695" y="2667305"/>
            <a:ext cx="11430000" cy="342900"/>
          </a:xfrm>
          <a:prstGeom prst="rect">
            <a:avLst/>
          </a:prstGeom>
          <a:solidFill>
            <a:srgbClr val="F4F6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4" descr="gen-dedup-396e36eeeee9bf5e165e578d761261ce.png">    </p:cNvPr>
          <p:cNvPicPr>
            <a:picLocks noChangeAspect="1"/>
          </p:cNvPicPr>
          <p:nvPr/>
        </p:nvPicPr>
        <p:blipFill>
          <a:blip r:embed="rId5"/>
          <a:srcRect l="0" r="0" t="-2001" b="-2001"/>
          <a:stretch/>
        </p:blipFill>
        <p:spPr>
          <a:xfrm>
            <a:off x="10705795" y="3200400"/>
            <a:ext cx="9144" cy="190195"/>
          </a:xfrm>
          <a:prstGeom prst="rect">
            <a:avLst/>
          </a:prstGeom>
        </p:spPr>
      </p:pic>
      <p:sp>
        <p:nvSpPr>
          <p:cNvPr id="13" name="Shape 5"/>
          <p:cNvSpPr/>
          <p:nvPr/>
        </p:nvSpPr>
        <p:spPr>
          <a:xfrm>
            <a:off x="10715854" y="3200400"/>
            <a:ext cx="381305" cy="190195"/>
          </a:xfrm>
          <a:prstGeom prst="rect">
            <a:avLst/>
          </a:prstGeom>
          <a:solidFill>
            <a:srgbClr val="54616F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4" name="Image 5" descr="gen-dedup-73ae536225137491d770b9b5c47d863e.png">    </p:cNvPr>
          <p:cNvPicPr>
            <a:picLocks noChangeAspect="1"/>
          </p:cNvPicPr>
          <p:nvPr/>
        </p:nvPicPr>
        <p:blipFill>
          <a:blip r:embed="rId6"/>
          <a:srcRect l="-2083" r="-2083" t="0" b="0"/>
          <a:stretch/>
        </p:blipFill>
        <p:spPr>
          <a:xfrm>
            <a:off x="761695" y="3504895"/>
            <a:ext cx="11430000" cy="9144"/>
          </a:xfrm>
          <a:prstGeom prst="rect">
            <a:avLst/>
          </a:prstGeom>
        </p:spPr>
      </p:pic>
      <p:pic>
        <p:nvPicPr>
          <p:cNvPr id="15" name="Image 6" descr="gen-dedup-396e36eeeee9bf5e165e578d761261ce.png">    </p:cNvPr>
          <p:cNvPicPr>
            <a:picLocks noChangeAspect="1"/>
          </p:cNvPicPr>
          <p:nvPr/>
        </p:nvPicPr>
        <p:blipFill>
          <a:blip r:embed="rId7"/>
          <a:srcRect l="0" r="0" t="-2001" b="-2001"/>
          <a:stretch/>
        </p:blipFill>
        <p:spPr>
          <a:xfrm>
            <a:off x="10705795" y="3676802"/>
            <a:ext cx="9144" cy="190195"/>
          </a:xfrm>
          <a:prstGeom prst="rect">
            <a:avLst/>
          </a:prstGeom>
        </p:spPr>
      </p:pic>
      <p:pic>
        <p:nvPicPr>
          <p:cNvPr id="16" name="Image 7" descr="gen-dedup-73ae536225137491d770b9b5c47d863e.png">    </p:cNvPr>
          <p:cNvPicPr>
            <a:picLocks noChangeAspect="1"/>
          </p:cNvPicPr>
          <p:nvPr/>
        </p:nvPicPr>
        <p:blipFill>
          <a:blip r:embed="rId8"/>
          <a:srcRect l="-2083" r="-2083" t="0" b="0"/>
          <a:stretch/>
        </p:blipFill>
        <p:spPr>
          <a:xfrm>
            <a:off x="761695" y="3981298"/>
            <a:ext cx="11430000" cy="9144"/>
          </a:xfrm>
          <a:prstGeom prst="rect">
            <a:avLst/>
          </a:prstGeom>
        </p:spPr>
      </p:pic>
      <p:pic>
        <p:nvPicPr>
          <p:cNvPr id="17" name="Image 8" descr="gen-dedup-396e36eeeee9bf5e165e578d761261ce.png">    </p:cNvPr>
          <p:cNvPicPr>
            <a:picLocks noChangeAspect="1"/>
          </p:cNvPicPr>
          <p:nvPr/>
        </p:nvPicPr>
        <p:blipFill>
          <a:blip r:embed="rId9"/>
          <a:srcRect l="0" r="0" t="-2001" b="-2001"/>
          <a:stretch/>
        </p:blipFill>
        <p:spPr>
          <a:xfrm>
            <a:off x="10705795" y="4153205"/>
            <a:ext cx="9144" cy="190195"/>
          </a:xfrm>
          <a:prstGeom prst="rect">
            <a:avLst/>
          </a:prstGeom>
        </p:spPr>
      </p:pic>
      <p:sp>
        <p:nvSpPr>
          <p:cNvPr id="18" name="Shape 6"/>
          <p:cNvSpPr/>
          <p:nvPr/>
        </p:nvSpPr>
        <p:spPr>
          <a:xfrm>
            <a:off x="10715854" y="4153205"/>
            <a:ext cx="571500" cy="190195"/>
          </a:xfrm>
          <a:prstGeom prst="rect">
            <a:avLst/>
          </a:prstGeom>
          <a:solidFill>
            <a:srgbClr val="B8581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9" name="Image 9" descr="gen-dedup-73ae536225137491d770b9b5c47d863e.png">    </p:cNvPr>
          <p:cNvPicPr>
            <a:picLocks noChangeAspect="1"/>
          </p:cNvPicPr>
          <p:nvPr/>
        </p:nvPicPr>
        <p:blipFill>
          <a:blip r:embed="rId10"/>
          <a:srcRect l="-2083" r="-2083" t="0" b="0"/>
          <a:stretch/>
        </p:blipFill>
        <p:spPr>
          <a:xfrm>
            <a:off x="761695" y="4457700"/>
            <a:ext cx="11430000" cy="9144"/>
          </a:xfrm>
          <a:prstGeom prst="rect">
            <a:avLst/>
          </a:prstGeom>
        </p:spPr>
      </p:pic>
      <p:pic>
        <p:nvPicPr>
          <p:cNvPr id="20" name="Image 10" descr="gen-dedup-396e36eeeee9bf5e165e578d761261ce.png">    </p:cNvPr>
          <p:cNvPicPr>
            <a:picLocks noChangeAspect="1"/>
          </p:cNvPicPr>
          <p:nvPr/>
        </p:nvPicPr>
        <p:blipFill>
          <a:blip r:embed="rId11"/>
          <a:srcRect l="0" r="0" t="-2001" b="-2001"/>
          <a:stretch/>
        </p:blipFill>
        <p:spPr>
          <a:xfrm>
            <a:off x="10705795" y="4629607"/>
            <a:ext cx="9144" cy="190195"/>
          </a:xfrm>
          <a:prstGeom prst="rect">
            <a:avLst/>
          </a:prstGeom>
        </p:spPr>
      </p:pic>
      <p:sp>
        <p:nvSpPr>
          <p:cNvPr id="21" name="Shape 7"/>
          <p:cNvSpPr/>
          <p:nvPr/>
        </p:nvSpPr>
        <p:spPr>
          <a:xfrm>
            <a:off x="10715854" y="4629607"/>
            <a:ext cx="190195" cy="190195"/>
          </a:xfrm>
          <a:prstGeom prst="rect">
            <a:avLst/>
          </a:prstGeom>
          <a:solidFill>
            <a:srgbClr val="B8581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2" name="Image 11" descr="gen-dedup-73ae536225137491d770b9b5c47d863e.png">    </p:cNvPr>
          <p:cNvPicPr>
            <a:picLocks noChangeAspect="1"/>
          </p:cNvPicPr>
          <p:nvPr/>
        </p:nvPicPr>
        <p:blipFill>
          <a:blip r:embed="rId12"/>
          <a:srcRect l="-2083" r="-2083" t="0" b="0"/>
          <a:stretch/>
        </p:blipFill>
        <p:spPr>
          <a:xfrm>
            <a:off x="761695" y="4934102"/>
            <a:ext cx="11430000" cy="9144"/>
          </a:xfrm>
          <a:prstGeom prst="rect">
            <a:avLst/>
          </a:prstGeom>
        </p:spPr>
      </p:pic>
      <p:sp>
        <p:nvSpPr>
          <p:cNvPr id="23" name="Shape 8"/>
          <p:cNvSpPr/>
          <p:nvPr/>
        </p:nvSpPr>
        <p:spPr>
          <a:xfrm>
            <a:off x="10515600" y="5105095"/>
            <a:ext cx="190195" cy="190195"/>
          </a:xfrm>
          <a:prstGeom prst="rect">
            <a:avLst/>
          </a:prstGeom>
          <a:solidFill>
            <a:srgbClr val="1F536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4" name="Image 12" descr="gen-dedup-396e36eeeee9bf5e165e578d761261ce.png">    </p:cNvPr>
          <p:cNvPicPr>
            <a:picLocks noChangeAspect="1"/>
          </p:cNvPicPr>
          <p:nvPr/>
        </p:nvPicPr>
        <p:blipFill>
          <a:blip r:embed="rId13"/>
          <a:srcRect l="0" r="0" t="-2001" b="-2001"/>
          <a:stretch/>
        </p:blipFill>
        <p:spPr>
          <a:xfrm>
            <a:off x="10696651" y="5105095"/>
            <a:ext cx="9144" cy="190195"/>
          </a:xfrm>
          <a:prstGeom prst="rect">
            <a:avLst/>
          </a:prstGeom>
        </p:spPr>
      </p:pic>
      <p:pic>
        <p:nvPicPr>
          <p:cNvPr id="25" name="Image 13" descr="gen-dedup-73ae536225137491d770b9b5c47d863e.png">    </p:cNvPr>
          <p:cNvPicPr>
            <a:picLocks noChangeAspect="1"/>
          </p:cNvPicPr>
          <p:nvPr/>
        </p:nvPicPr>
        <p:blipFill>
          <a:blip r:embed="rId14"/>
          <a:srcRect l="-2083" r="-2083" t="0" b="0"/>
          <a:stretch/>
        </p:blipFill>
        <p:spPr>
          <a:xfrm>
            <a:off x="761695" y="5410505"/>
            <a:ext cx="11430000" cy="9144"/>
          </a:xfrm>
          <a:prstGeom prst="rect">
            <a:avLst/>
          </a:prstGeom>
        </p:spPr>
      </p:pic>
      <p:sp>
        <p:nvSpPr>
          <p:cNvPr id="26" name="Shape 9"/>
          <p:cNvSpPr/>
          <p:nvPr/>
        </p:nvSpPr>
        <p:spPr>
          <a:xfrm>
            <a:off x="10325405" y="5581498"/>
            <a:ext cx="381305" cy="190195"/>
          </a:xfrm>
          <a:prstGeom prst="rect">
            <a:avLst/>
          </a:prstGeom>
          <a:solidFill>
            <a:srgbClr val="1F536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7" name="Image 14" descr="gen-dedup-396e36eeeee9bf5e165e578d761261ce.png">    </p:cNvPr>
          <p:cNvPicPr>
            <a:picLocks noChangeAspect="1"/>
          </p:cNvPicPr>
          <p:nvPr/>
        </p:nvPicPr>
        <p:blipFill>
          <a:blip r:embed="rId15"/>
          <a:srcRect l="0" r="0" t="-2001" b="-2001"/>
          <a:stretch/>
        </p:blipFill>
        <p:spPr>
          <a:xfrm>
            <a:off x="10696651" y="5581498"/>
            <a:ext cx="9144" cy="190195"/>
          </a:xfrm>
          <a:prstGeom prst="rect">
            <a:avLst/>
          </a:prstGeom>
        </p:spPr>
      </p:pic>
      <p:pic>
        <p:nvPicPr>
          <p:cNvPr id="28" name="Image 15" descr="gen-dedup-73ae536225137491d770b9b5c47d863e.png">    </p:cNvPr>
          <p:cNvPicPr>
            <a:picLocks noChangeAspect="1"/>
          </p:cNvPicPr>
          <p:nvPr/>
        </p:nvPicPr>
        <p:blipFill>
          <a:blip r:embed="rId16"/>
          <a:srcRect l="-2083" r="-2083" t="0" b="0"/>
          <a:stretch/>
        </p:blipFill>
        <p:spPr>
          <a:xfrm>
            <a:off x="761695" y="5886907"/>
            <a:ext cx="11430000" cy="9144"/>
          </a:xfrm>
          <a:prstGeom prst="rect">
            <a:avLst/>
          </a:prstGeom>
        </p:spPr>
      </p:pic>
      <p:pic>
        <p:nvPicPr>
          <p:cNvPr id="29" name="Image 16" descr="gen-dedup-396e36eeeee9bf5e165e578d761261ce.png">    </p:cNvPr>
          <p:cNvPicPr>
            <a:picLocks noChangeAspect="1"/>
          </p:cNvPicPr>
          <p:nvPr/>
        </p:nvPicPr>
        <p:blipFill>
          <a:blip r:embed="rId17"/>
          <a:srcRect l="0" r="0" t="-2001" b="-2001"/>
          <a:stretch/>
        </p:blipFill>
        <p:spPr>
          <a:xfrm>
            <a:off x="10705795" y="6057900"/>
            <a:ext cx="9144" cy="190195"/>
          </a:xfrm>
          <a:prstGeom prst="rect">
            <a:avLst/>
          </a:prstGeom>
        </p:spPr>
      </p:pic>
      <p:sp>
        <p:nvSpPr>
          <p:cNvPr id="30" name="Shape 10"/>
          <p:cNvSpPr/>
          <p:nvPr/>
        </p:nvSpPr>
        <p:spPr>
          <a:xfrm>
            <a:off x="10715854" y="6057900"/>
            <a:ext cx="190195" cy="190195"/>
          </a:xfrm>
          <a:prstGeom prst="rect">
            <a:avLst/>
          </a:prstGeom>
          <a:solidFill>
            <a:srgbClr val="2D6A4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1" name="Image 17" descr="gen-dedup-73ae536225137491d770b9b5c47d863e.png">    </p:cNvPr>
          <p:cNvPicPr>
            <a:picLocks noChangeAspect="1"/>
          </p:cNvPicPr>
          <p:nvPr/>
        </p:nvPicPr>
        <p:blipFill>
          <a:blip r:embed="rId18"/>
          <a:srcRect l="-2083" r="-2083" t="0" b="0"/>
          <a:stretch/>
        </p:blipFill>
        <p:spPr>
          <a:xfrm>
            <a:off x="761695" y="6362395"/>
            <a:ext cx="11430000" cy="9144"/>
          </a:xfrm>
          <a:prstGeom prst="rect">
            <a:avLst/>
          </a:prstGeom>
        </p:spPr>
      </p:pic>
      <p:pic>
        <p:nvPicPr>
          <p:cNvPr id="32" name="Image 18" descr="gen-dedup-396e36eeeee9bf5e165e578d761261ce.png">    </p:cNvPr>
          <p:cNvPicPr>
            <a:picLocks noChangeAspect="1"/>
          </p:cNvPicPr>
          <p:nvPr/>
        </p:nvPicPr>
        <p:blipFill>
          <a:blip r:embed="rId19"/>
          <a:srcRect l="0" r="0" t="-2001" b="-2001"/>
          <a:stretch/>
        </p:blipFill>
        <p:spPr>
          <a:xfrm>
            <a:off x="10705795" y="6534302"/>
            <a:ext cx="9144" cy="190195"/>
          </a:xfrm>
          <a:prstGeom prst="rect">
            <a:avLst/>
          </a:prstGeom>
        </p:spPr>
      </p:pic>
      <p:sp>
        <p:nvSpPr>
          <p:cNvPr id="33" name="Shape 11"/>
          <p:cNvSpPr/>
          <p:nvPr/>
        </p:nvSpPr>
        <p:spPr>
          <a:xfrm>
            <a:off x="12573000" y="2286000"/>
            <a:ext cx="4953305" cy="381305"/>
          </a:xfrm>
          <a:prstGeom prst="rect">
            <a:avLst/>
          </a:prstGeom>
          <a:solidFill>
            <a:srgbClr val="0E1F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12"/>
          <p:cNvSpPr/>
          <p:nvPr/>
        </p:nvSpPr>
        <p:spPr>
          <a:xfrm>
            <a:off x="12725705" y="3238805"/>
            <a:ext cx="4647895" cy="761695"/>
          </a:xfrm>
          <a:prstGeom prst="rect">
            <a:avLst/>
          </a:prstGeom>
          <a:solidFill>
            <a:srgbClr val="F4F6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13"/>
          <p:cNvSpPr/>
          <p:nvPr/>
        </p:nvSpPr>
        <p:spPr>
          <a:xfrm>
            <a:off x="12725705" y="4114800"/>
            <a:ext cx="4647895" cy="761695"/>
          </a:xfrm>
          <a:prstGeom prst="rect">
            <a:avLst/>
          </a:prstGeom>
          <a:solidFill>
            <a:srgbClr val="F4F6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14"/>
          <p:cNvSpPr/>
          <p:nvPr/>
        </p:nvSpPr>
        <p:spPr>
          <a:xfrm>
            <a:off x="12725705" y="4990795"/>
            <a:ext cx="4647895" cy="761695"/>
          </a:xfrm>
          <a:prstGeom prst="rect">
            <a:avLst/>
          </a:prstGeom>
          <a:solidFill>
            <a:srgbClr val="F4F6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15"/>
          <p:cNvSpPr/>
          <p:nvPr/>
        </p:nvSpPr>
        <p:spPr>
          <a:xfrm>
            <a:off x="12725705" y="5867705"/>
            <a:ext cx="4647895" cy="761695"/>
          </a:xfrm>
          <a:prstGeom prst="rect">
            <a:avLst/>
          </a:prstGeom>
          <a:solidFill>
            <a:srgbClr val="F4F6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8" name="Image 19" descr="gen-dedup-ca5c635e2ee5e79185e7a9aa34b740a2.png">    </p:cNvPr>
          <p:cNvPicPr>
            <a:picLocks noChangeAspect="1"/>
          </p:cNvPicPr>
          <p:nvPr/>
        </p:nvPicPr>
        <p:blipFill>
          <a:blip r:embed="rId20"/>
          <a:srcRect l="-2078" r="-2078" t="0" b="0"/>
          <a:stretch/>
        </p:blipFill>
        <p:spPr>
          <a:xfrm>
            <a:off x="12725705" y="6819595"/>
            <a:ext cx="4647895" cy="9144"/>
          </a:xfrm>
          <a:prstGeom prst="rect">
            <a:avLst/>
          </a:prstGeom>
        </p:spPr>
      </p:pic>
      <p:pic>
        <p:nvPicPr>
          <p:cNvPr id="39" name="Image 20" descr="gen-dedup-c446308907549a06dea20593753adc8a.png">    </p:cNvPr>
          <p:cNvPicPr>
            <a:picLocks noChangeAspect="1"/>
          </p:cNvPicPr>
          <p:nvPr/>
        </p:nvPicPr>
        <p:blipFill>
          <a:blip r:embed="rId21"/>
          <a:srcRect l="-342" r="-342" t="0" b="0"/>
          <a:stretch/>
        </p:blipFill>
        <p:spPr>
          <a:xfrm>
            <a:off x="761695" y="9010498"/>
            <a:ext cx="57607" cy="400507"/>
          </a:xfrm>
          <a:prstGeom prst="rect">
            <a:avLst/>
          </a:prstGeom>
        </p:spPr>
      </p:pic>
      <p:sp>
        <p:nvSpPr>
          <p:cNvPr id="40" name="Text 16"/>
          <p:cNvSpPr txBox="1"/>
          <p:nvPr/>
        </p:nvSpPr>
        <p:spPr>
          <a:xfrm>
            <a:off x="761695" y="400507"/>
            <a:ext cx="1334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DOC //</a:t>
            </a:r>
            <a:endParaRPr lang="en-US" sz="1050" dirty="0"/>
          </a:p>
        </p:txBody>
      </p:sp>
      <p:sp>
        <p:nvSpPr>
          <p:cNvPr id="41" name="Text 17"/>
          <p:cNvSpPr txBox="1"/>
          <p:nvPr/>
        </p:nvSpPr>
        <p:spPr>
          <a:xfrm>
            <a:off x="761695" y="629107"/>
            <a:ext cx="13341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63" kern="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EV-BEOL-BLV-018</a:t>
            </a:r>
            <a:endParaRPr lang="en-US" sz="1050" dirty="0"/>
          </a:p>
        </p:txBody>
      </p:sp>
      <p:sp>
        <p:nvSpPr>
          <p:cNvPr id="42" name="Text 18"/>
          <p:cNvSpPr txBox="1"/>
          <p:nvPr/>
        </p:nvSpPr>
        <p:spPr>
          <a:xfrm>
            <a:off x="761695" y="857707"/>
            <a:ext cx="14287500" cy="5815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0E1F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CD variation · </a:t>
            </a:r>
            <a:pPr algn="l" indent="0" marL="0">
              <a:buNone/>
            </a:pPr>
            <a:r>
              <a:rPr lang="en-US" sz="3150" b="1" dirty="0">
                <a:solidFill>
                  <a:srgbClr val="B858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AASI</a:t>
            </a:r>
            <a:endParaRPr lang="en-US" sz="3150" dirty="0"/>
          </a:p>
        </p:txBody>
      </p:sp>
      <p:sp>
        <p:nvSpPr>
          <p:cNvPr id="43" name="Text 19"/>
          <p:cNvSpPr txBox="1"/>
          <p:nvPr/>
        </p:nvSpPr>
        <p:spPr>
          <a:xfrm>
            <a:off x="761695" y="1514246"/>
            <a:ext cx="14287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25" dirty="0">
                <a:solidFill>
                  <a:srgbClr val="4D566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After-Ash Sidewall Image · target </a:t>
            </a:r>
            <a:pPr algn="l" indent="0" marL="0">
              <a:buNone/>
            </a:pPr>
            <a:r>
              <a:rPr lang="en-US" sz="1425" b="1" dirty="0">
                <a:solidFill>
                  <a:srgbClr val="4D566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25.4 nm</a:t>
            </a:r>
            <a:pPr algn="l" indent="0" marL="0">
              <a:buNone/>
            </a:pPr>
            <a:r>
              <a:rPr lang="en-US" sz="1425" dirty="0">
                <a:solidFill>
                  <a:srgbClr val="4D566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resist 경계 read after O₂ ashing · unit nm</a:t>
            </a:r>
            <a:endParaRPr lang="en-US" sz="1425" dirty="0"/>
          </a:p>
        </p:txBody>
      </p:sp>
      <p:sp>
        <p:nvSpPr>
          <p:cNvPr id="44" name="Text 20"/>
          <p:cNvSpPr txBox="1"/>
          <p:nvPr/>
        </p:nvSpPr>
        <p:spPr>
          <a:xfrm>
            <a:off x="15430500" y="400507"/>
            <a:ext cx="20958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spc="98" kern="0" dirty="0">
                <a:solidFill>
                  <a:srgbClr val="5A62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 0.6 · INTERNAL</a:t>
            </a:r>
            <a:endParaRPr lang="en-US" sz="975" dirty="0"/>
          </a:p>
        </p:txBody>
      </p:sp>
      <p:sp>
        <p:nvSpPr>
          <p:cNvPr id="45" name="Text 21"/>
          <p:cNvSpPr txBox="1"/>
          <p:nvPr/>
        </p:nvSpPr>
        <p:spPr>
          <a:xfrm>
            <a:off x="15430500" y="599846"/>
            <a:ext cx="20958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dirty="0">
                <a:solidFill>
                  <a:srgbClr val="5A62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2026-10-03</a:t>
            </a:r>
            <a:endParaRPr lang="en-US" sz="975" dirty="0"/>
          </a:p>
        </p:txBody>
      </p:sp>
      <p:sp>
        <p:nvSpPr>
          <p:cNvPr id="46" name="Text 22"/>
          <p:cNvSpPr txBox="1"/>
          <p:nvPr/>
        </p:nvSpPr>
        <p:spPr>
          <a:xfrm>
            <a:off x="914400" y="1790395"/>
            <a:ext cx="10478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spc="168" kern="0" dirty="0">
                <a:solidFill>
                  <a:srgbClr val="B858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§ 01 / 05 · CD-AASI</a:t>
            </a:r>
            <a:endParaRPr lang="en-US" sz="1050" dirty="0"/>
          </a:p>
        </p:txBody>
      </p:sp>
      <p:sp>
        <p:nvSpPr>
          <p:cNvPr id="47" name="Text 23"/>
          <p:cNvSpPr txBox="1"/>
          <p:nvPr/>
        </p:nvSpPr>
        <p:spPr>
          <a:xfrm>
            <a:off x="914400" y="2000707"/>
            <a:ext cx="10679278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좌측 메인 표는 wafer × layer 별 mean / 3σ / range / Δ vs target / n. 표 우측 strip은 Δ 차이 시각화 · 우측 패널은 split 별 single-pass 평균 비교 chip 4개.</a:t>
            </a:r>
            <a:endParaRPr lang="en-US" sz="975" dirty="0"/>
          </a:p>
        </p:txBody>
      </p:sp>
      <p:sp>
        <p:nvSpPr>
          <p:cNvPr id="48" name="Text 24"/>
          <p:cNvSpPr txBox="1"/>
          <p:nvPr/>
        </p:nvSpPr>
        <p:spPr>
          <a:xfrm>
            <a:off x="914400" y="2361895"/>
            <a:ext cx="28575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spc="168" kern="0" dirty="0">
                <a:solidFill>
                  <a:srgbClr val="B858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AASI target</a:t>
            </a:r>
            <a:endParaRPr lang="en-US" sz="1050" dirty="0"/>
          </a:p>
        </p:txBody>
      </p:sp>
      <p:sp>
        <p:nvSpPr>
          <p:cNvPr id="49" name="Text 25"/>
          <p:cNvSpPr txBox="1"/>
          <p:nvPr/>
        </p:nvSpPr>
        <p:spPr>
          <a:xfrm>
            <a:off x="3619195" y="2361895"/>
            <a:ext cx="28575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25.40 nm</a:t>
            </a:r>
            <a:endParaRPr lang="en-US" sz="1350" dirty="0"/>
          </a:p>
        </p:txBody>
      </p:sp>
      <p:sp>
        <p:nvSpPr>
          <p:cNvPr id="50" name="Text 26"/>
          <p:cNvSpPr txBox="1"/>
          <p:nvPr/>
        </p:nvSpPr>
        <p:spPr>
          <a:xfrm>
            <a:off x="6476695" y="2361895"/>
            <a:ext cx="28575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8C0C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tolerance ±0.50 nm / 3σ ≤ 0.50</a:t>
            </a:r>
            <a:endParaRPr lang="en-US" sz="1050" dirty="0"/>
          </a:p>
        </p:txBody>
      </p:sp>
      <p:sp>
        <p:nvSpPr>
          <p:cNvPr id="51" name="Text 27"/>
          <p:cNvSpPr txBox="1"/>
          <p:nvPr/>
        </p:nvSpPr>
        <p:spPr>
          <a:xfrm>
            <a:off x="914400" y="2743200"/>
            <a:ext cx="1334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E1F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split</a:t>
            </a:r>
            <a:endParaRPr lang="en-US" sz="1050" dirty="0"/>
          </a:p>
        </p:txBody>
      </p:sp>
      <p:sp>
        <p:nvSpPr>
          <p:cNvPr id="52" name="Text 28"/>
          <p:cNvSpPr txBox="1"/>
          <p:nvPr/>
        </p:nvSpPr>
        <p:spPr>
          <a:xfrm>
            <a:off x="2286000" y="2743200"/>
            <a:ext cx="1334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E1F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layer</a:t>
            </a:r>
            <a:endParaRPr lang="en-US" sz="1050" dirty="0"/>
          </a:p>
        </p:txBody>
      </p:sp>
      <p:sp>
        <p:nvSpPr>
          <p:cNvPr id="53" name="Text 29"/>
          <p:cNvSpPr txBox="1"/>
          <p:nvPr/>
        </p:nvSpPr>
        <p:spPr>
          <a:xfrm>
            <a:off x="3619195" y="2743200"/>
            <a:ext cx="1143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mean</a:t>
            </a:r>
            <a:endParaRPr lang="en-US" sz="1050" dirty="0"/>
          </a:p>
        </p:txBody>
      </p:sp>
      <p:sp>
        <p:nvSpPr>
          <p:cNvPr id="54" name="Text 30"/>
          <p:cNvSpPr txBox="1"/>
          <p:nvPr/>
        </p:nvSpPr>
        <p:spPr>
          <a:xfrm>
            <a:off x="4762195" y="2743200"/>
            <a:ext cx="1143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3σ</a:t>
            </a:r>
            <a:endParaRPr lang="en-US" sz="1050" dirty="0"/>
          </a:p>
        </p:txBody>
      </p:sp>
      <p:sp>
        <p:nvSpPr>
          <p:cNvPr id="55" name="Text 31"/>
          <p:cNvSpPr txBox="1"/>
          <p:nvPr/>
        </p:nvSpPr>
        <p:spPr>
          <a:xfrm>
            <a:off x="5905195" y="2743200"/>
            <a:ext cx="1143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range</a:t>
            </a:r>
            <a:endParaRPr lang="en-US" sz="1050" dirty="0"/>
          </a:p>
        </p:txBody>
      </p:sp>
      <p:sp>
        <p:nvSpPr>
          <p:cNvPr id="56" name="Text 32"/>
          <p:cNvSpPr txBox="1"/>
          <p:nvPr/>
        </p:nvSpPr>
        <p:spPr>
          <a:xfrm>
            <a:off x="7048195" y="2743200"/>
            <a:ext cx="15243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Δ vs target</a:t>
            </a:r>
            <a:endParaRPr lang="en-US" sz="1050" dirty="0"/>
          </a:p>
        </p:txBody>
      </p:sp>
      <p:sp>
        <p:nvSpPr>
          <p:cNvPr id="57" name="Text 33"/>
          <p:cNvSpPr txBox="1"/>
          <p:nvPr/>
        </p:nvSpPr>
        <p:spPr>
          <a:xfrm>
            <a:off x="8572500" y="2743200"/>
            <a:ext cx="7626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</a:t>
            </a:r>
            <a:endParaRPr lang="en-US" sz="1050" dirty="0"/>
          </a:p>
        </p:txBody>
      </p:sp>
      <p:sp>
        <p:nvSpPr>
          <p:cNvPr id="58" name="Text 34"/>
          <p:cNvSpPr txBox="1"/>
          <p:nvPr/>
        </p:nvSpPr>
        <p:spPr>
          <a:xfrm>
            <a:off x="9430207" y="2743200"/>
            <a:ext cx="26673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E1F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delta strip (mean Δ, ±0.5 nm)</a:t>
            </a:r>
            <a:endParaRPr lang="en-US" sz="1050" dirty="0"/>
          </a:p>
        </p:txBody>
      </p:sp>
      <p:sp>
        <p:nvSpPr>
          <p:cNvPr id="59" name="Text 35"/>
          <p:cNvSpPr txBox="1"/>
          <p:nvPr/>
        </p:nvSpPr>
        <p:spPr>
          <a:xfrm>
            <a:off x="914400" y="3124505"/>
            <a:ext cx="13341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5461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W01 REF</a:t>
            </a:r>
            <a:endParaRPr lang="en-US" sz="1350" dirty="0"/>
          </a:p>
        </p:txBody>
      </p:sp>
      <p:sp>
        <p:nvSpPr>
          <p:cNvPr id="60" name="Text 36"/>
          <p:cNvSpPr txBox="1"/>
          <p:nvPr/>
        </p:nvSpPr>
        <p:spPr>
          <a:xfrm>
            <a:off x="2286000" y="3161995"/>
            <a:ext cx="1334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V1</a:t>
            </a:r>
            <a:endParaRPr lang="en-US" sz="1200" dirty="0"/>
          </a:p>
        </p:txBody>
      </p:sp>
      <p:sp>
        <p:nvSpPr>
          <p:cNvPr id="61" name="Text 37"/>
          <p:cNvSpPr txBox="1"/>
          <p:nvPr/>
        </p:nvSpPr>
        <p:spPr>
          <a:xfrm>
            <a:off x="3619195" y="3124505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25.60</a:t>
            </a:r>
            <a:endParaRPr lang="en-US" sz="1350" dirty="0"/>
          </a:p>
        </p:txBody>
      </p:sp>
      <p:sp>
        <p:nvSpPr>
          <p:cNvPr id="62" name="Text 38"/>
          <p:cNvSpPr txBox="1"/>
          <p:nvPr/>
        </p:nvSpPr>
        <p:spPr>
          <a:xfrm>
            <a:off x="4762195" y="3124505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0.42</a:t>
            </a:r>
            <a:endParaRPr lang="en-US" sz="1350" dirty="0"/>
          </a:p>
        </p:txBody>
      </p:sp>
      <p:sp>
        <p:nvSpPr>
          <p:cNvPr id="63" name="Text 39"/>
          <p:cNvSpPr txBox="1"/>
          <p:nvPr/>
        </p:nvSpPr>
        <p:spPr>
          <a:xfrm>
            <a:off x="5905195" y="3124505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1.21</a:t>
            </a:r>
            <a:endParaRPr lang="en-US" sz="1350" dirty="0"/>
          </a:p>
        </p:txBody>
      </p:sp>
      <p:sp>
        <p:nvSpPr>
          <p:cNvPr id="64" name="Text 40"/>
          <p:cNvSpPr txBox="1"/>
          <p:nvPr/>
        </p:nvSpPr>
        <p:spPr>
          <a:xfrm>
            <a:off x="7048195" y="3086100"/>
            <a:ext cx="15243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B858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+0.20</a:t>
            </a:r>
            <a:endParaRPr lang="en-US" sz="1350" dirty="0"/>
          </a:p>
        </p:txBody>
      </p:sp>
      <p:sp>
        <p:nvSpPr>
          <p:cNvPr id="65" name="Text 41"/>
          <p:cNvSpPr txBox="1"/>
          <p:nvPr/>
        </p:nvSpPr>
        <p:spPr>
          <a:xfrm>
            <a:off x="8572500" y="3124505"/>
            <a:ext cx="7626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980</a:t>
            </a:r>
            <a:endParaRPr lang="en-US" sz="1200" dirty="0"/>
          </a:p>
        </p:txBody>
      </p:sp>
      <p:sp>
        <p:nvSpPr>
          <p:cNvPr id="66" name="Text 42"/>
          <p:cNvSpPr txBox="1"/>
          <p:nvPr/>
        </p:nvSpPr>
        <p:spPr>
          <a:xfrm>
            <a:off x="914400" y="3600907"/>
            <a:ext cx="13341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5461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W01 REF</a:t>
            </a:r>
            <a:endParaRPr lang="en-US" sz="1350" dirty="0"/>
          </a:p>
        </p:txBody>
      </p:sp>
      <p:sp>
        <p:nvSpPr>
          <p:cNvPr id="67" name="Text 43"/>
          <p:cNvSpPr txBox="1"/>
          <p:nvPr/>
        </p:nvSpPr>
        <p:spPr>
          <a:xfrm>
            <a:off x="2286000" y="3638398"/>
            <a:ext cx="1334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M2</a:t>
            </a:r>
            <a:endParaRPr lang="en-US" sz="1200" dirty="0"/>
          </a:p>
        </p:txBody>
      </p:sp>
      <p:sp>
        <p:nvSpPr>
          <p:cNvPr id="68" name="Text 44"/>
          <p:cNvSpPr txBox="1"/>
          <p:nvPr/>
        </p:nvSpPr>
        <p:spPr>
          <a:xfrm>
            <a:off x="3619195" y="3600907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25.40</a:t>
            </a:r>
            <a:endParaRPr lang="en-US" sz="1350" dirty="0"/>
          </a:p>
        </p:txBody>
      </p:sp>
      <p:sp>
        <p:nvSpPr>
          <p:cNvPr id="69" name="Text 45"/>
          <p:cNvSpPr txBox="1"/>
          <p:nvPr/>
        </p:nvSpPr>
        <p:spPr>
          <a:xfrm>
            <a:off x="4762195" y="3600907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0.40</a:t>
            </a:r>
            <a:endParaRPr lang="en-US" sz="1350" dirty="0"/>
          </a:p>
        </p:txBody>
      </p:sp>
      <p:sp>
        <p:nvSpPr>
          <p:cNvPr id="70" name="Text 46"/>
          <p:cNvSpPr txBox="1"/>
          <p:nvPr/>
        </p:nvSpPr>
        <p:spPr>
          <a:xfrm>
            <a:off x="5905195" y="3600907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1.18</a:t>
            </a:r>
            <a:endParaRPr lang="en-US" sz="1350" dirty="0"/>
          </a:p>
        </p:txBody>
      </p:sp>
      <p:sp>
        <p:nvSpPr>
          <p:cNvPr id="71" name="Text 47"/>
          <p:cNvSpPr txBox="1"/>
          <p:nvPr/>
        </p:nvSpPr>
        <p:spPr>
          <a:xfrm>
            <a:off x="7048195" y="3562502"/>
            <a:ext cx="15243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0.00</a:t>
            </a:r>
            <a:endParaRPr lang="en-US" sz="1350" dirty="0"/>
          </a:p>
        </p:txBody>
      </p:sp>
      <p:sp>
        <p:nvSpPr>
          <p:cNvPr id="72" name="Text 48"/>
          <p:cNvSpPr txBox="1"/>
          <p:nvPr/>
        </p:nvSpPr>
        <p:spPr>
          <a:xfrm>
            <a:off x="8572500" y="3600907"/>
            <a:ext cx="7626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980</a:t>
            </a:r>
            <a:endParaRPr lang="en-US" sz="1200" dirty="0"/>
          </a:p>
        </p:txBody>
      </p:sp>
      <p:sp>
        <p:nvSpPr>
          <p:cNvPr id="73" name="Text 49"/>
          <p:cNvSpPr txBox="1"/>
          <p:nvPr/>
        </p:nvSpPr>
        <p:spPr>
          <a:xfrm>
            <a:off x="914400" y="4076395"/>
            <a:ext cx="13341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B858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W02 Co</a:t>
            </a:r>
            <a:endParaRPr lang="en-US" sz="1350" dirty="0"/>
          </a:p>
        </p:txBody>
      </p:sp>
      <p:sp>
        <p:nvSpPr>
          <p:cNvPr id="74" name="Text 50"/>
          <p:cNvSpPr txBox="1"/>
          <p:nvPr/>
        </p:nvSpPr>
        <p:spPr>
          <a:xfrm>
            <a:off x="2286000" y="4114800"/>
            <a:ext cx="1334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V1</a:t>
            </a:r>
            <a:endParaRPr lang="en-US" sz="1200" dirty="0"/>
          </a:p>
        </p:txBody>
      </p:sp>
      <p:sp>
        <p:nvSpPr>
          <p:cNvPr id="75" name="Text 51"/>
          <p:cNvSpPr txBox="1"/>
          <p:nvPr/>
        </p:nvSpPr>
        <p:spPr>
          <a:xfrm>
            <a:off x="3619195" y="4076395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25.70</a:t>
            </a:r>
            <a:endParaRPr lang="en-US" sz="1350" dirty="0"/>
          </a:p>
        </p:txBody>
      </p:sp>
      <p:sp>
        <p:nvSpPr>
          <p:cNvPr id="76" name="Text 52"/>
          <p:cNvSpPr txBox="1"/>
          <p:nvPr/>
        </p:nvSpPr>
        <p:spPr>
          <a:xfrm>
            <a:off x="4762195" y="4076395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0.48</a:t>
            </a:r>
            <a:endParaRPr lang="en-US" sz="1350" dirty="0"/>
          </a:p>
        </p:txBody>
      </p:sp>
      <p:sp>
        <p:nvSpPr>
          <p:cNvPr id="77" name="Text 53"/>
          <p:cNvSpPr txBox="1"/>
          <p:nvPr/>
        </p:nvSpPr>
        <p:spPr>
          <a:xfrm>
            <a:off x="5905195" y="4076395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1.32</a:t>
            </a:r>
            <a:endParaRPr lang="en-US" sz="1350" dirty="0"/>
          </a:p>
        </p:txBody>
      </p:sp>
      <p:sp>
        <p:nvSpPr>
          <p:cNvPr id="78" name="Text 54"/>
          <p:cNvSpPr txBox="1"/>
          <p:nvPr/>
        </p:nvSpPr>
        <p:spPr>
          <a:xfrm>
            <a:off x="7048195" y="4038905"/>
            <a:ext cx="15243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B858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+0.30</a:t>
            </a:r>
            <a:endParaRPr lang="en-US" sz="1350" dirty="0"/>
          </a:p>
        </p:txBody>
      </p:sp>
      <p:sp>
        <p:nvSpPr>
          <p:cNvPr id="79" name="Text 55"/>
          <p:cNvSpPr txBox="1"/>
          <p:nvPr/>
        </p:nvSpPr>
        <p:spPr>
          <a:xfrm>
            <a:off x="8572500" y="4076395"/>
            <a:ext cx="7626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960</a:t>
            </a:r>
            <a:endParaRPr lang="en-US" sz="1200" dirty="0"/>
          </a:p>
        </p:txBody>
      </p:sp>
      <p:sp>
        <p:nvSpPr>
          <p:cNvPr id="80" name="Text 56"/>
          <p:cNvSpPr txBox="1"/>
          <p:nvPr/>
        </p:nvSpPr>
        <p:spPr>
          <a:xfrm>
            <a:off x="914400" y="4552798"/>
            <a:ext cx="13341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B858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W02 Co</a:t>
            </a:r>
            <a:endParaRPr lang="en-US" sz="1350" dirty="0"/>
          </a:p>
        </p:txBody>
      </p:sp>
      <p:sp>
        <p:nvSpPr>
          <p:cNvPr id="81" name="Text 57"/>
          <p:cNvSpPr txBox="1"/>
          <p:nvPr/>
        </p:nvSpPr>
        <p:spPr>
          <a:xfrm>
            <a:off x="2286000" y="4591202"/>
            <a:ext cx="1334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M2</a:t>
            </a:r>
            <a:endParaRPr lang="en-US" sz="1200" dirty="0"/>
          </a:p>
        </p:txBody>
      </p:sp>
      <p:sp>
        <p:nvSpPr>
          <p:cNvPr id="82" name="Text 58"/>
          <p:cNvSpPr txBox="1"/>
          <p:nvPr/>
        </p:nvSpPr>
        <p:spPr>
          <a:xfrm>
            <a:off x="3619195" y="4552798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25.50</a:t>
            </a:r>
            <a:endParaRPr lang="en-US" sz="1350" dirty="0"/>
          </a:p>
        </p:txBody>
      </p:sp>
      <p:sp>
        <p:nvSpPr>
          <p:cNvPr id="83" name="Text 59"/>
          <p:cNvSpPr txBox="1"/>
          <p:nvPr/>
        </p:nvSpPr>
        <p:spPr>
          <a:xfrm>
            <a:off x="4762195" y="4552798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0.46</a:t>
            </a:r>
            <a:endParaRPr lang="en-US" sz="1350" dirty="0"/>
          </a:p>
        </p:txBody>
      </p:sp>
      <p:sp>
        <p:nvSpPr>
          <p:cNvPr id="84" name="Text 60"/>
          <p:cNvSpPr txBox="1"/>
          <p:nvPr/>
        </p:nvSpPr>
        <p:spPr>
          <a:xfrm>
            <a:off x="5905195" y="4552798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1.28</a:t>
            </a:r>
            <a:endParaRPr lang="en-US" sz="1350" dirty="0"/>
          </a:p>
        </p:txBody>
      </p:sp>
      <p:sp>
        <p:nvSpPr>
          <p:cNvPr id="85" name="Text 61"/>
          <p:cNvSpPr txBox="1"/>
          <p:nvPr/>
        </p:nvSpPr>
        <p:spPr>
          <a:xfrm>
            <a:off x="7048195" y="4515307"/>
            <a:ext cx="15243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B858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+0.10</a:t>
            </a:r>
            <a:endParaRPr lang="en-US" sz="1350" dirty="0"/>
          </a:p>
        </p:txBody>
      </p:sp>
      <p:sp>
        <p:nvSpPr>
          <p:cNvPr id="86" name="Text 62"/>
          <p:cNvSpPr txBox="1"/>
          <p:nvPr/>
        </p:nvSpPr>
        <p:spPr>
          <a:xfrm>
            <a:off x="8572500" y="4552798"/>
            <a:ext cx="7626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968</a:t>
            </a:r>
            <a:endParaRPr lang="en-US" sz="1200" dirty="0"/>
          </a:p>
        </p:txBody>
      </p:sp>
      <p:sp>
        <p:nvSpPr>
          <p:cNvPr id="87" name="Text 63"/>
          <p:cNvSpPr txBox="1"/>
          <p:nvPr/>
        </p:nvSpPr>
        <p:spPr>
          <a:xfrm>
            <a:off x="914400" y="5029200"/>
            <a:ext cx="13341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F53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W03 Ru</a:t>
            </a:r>
            <a:endParaRPr lang="en-US" sz="1350" dirty="0"/>
          </a:p>
        </p:txBody>
      </p:sp>
      <p:sp>
        <p:nvSpPr>
          <p:cNvPr id="88" name="Text 64"/>
          <p:cNvSpPr txBox="1"/>
          <p:nvPr/>
        </p:nvSpPr>
        <p:spPr>
          <a:xfrm>
            <a:off x="2286000" y="5067605"/>
            <a:ext cx="1334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V1</a:t>
            </a:r>
            <a:endParaRPr lang="en-US" sz="1200" dirty="0"/>
          </a:p>
        </p:txBody>
      </p:sp>
      <p:sp>
        <p:nvSpPr>
          <p:cNvPr id="89" name="Text 65"/>
          <p:cNvSpPr txBox="1"/>
          <p:nvPr/>
        </p:nvSpPr>
        <p:spPr>
          <a:xfrm>
            <a:off x="3619195" y="5029200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25.30</a:t>
            </a:r>
            <a:endParaRPr lang="en-US" sz="1350" dirty="0"/>
          </a:p>
        </p:txBody>
      </p:sp>
      <p:sp>
        <p:nvSpPr>
          <p:cNvPr id="90" name="Text 66"/>
          <p:cNvSpPr txBox="1"/>
          <p:nvPr/>
        </p:nvSpPr>
        <p:spPr>
          <a:xfrm>
            <a:off x="4762195" y="5029200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0.39</a:t>
            </a:r>
            <a:endParaRPr lang="en-US" sz="1350" dirty="0"/>
          </a:p>
        </p:txBody>
      </p:sp>
      <p:sp>
        <p:nvSpPr>
          <p:cNvPr id="91" name="Text 67"/>
          <p:cNvSpPr txBox="1"/>
          <p:nvPr/>
        </p:nvSpPr>
        <p:spPr>
          <a:xfrm>
            <a:off x="5905195" y="5029200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1.16</a:t>
            </a:r>
            <a:endParaRPr lang="en-US" sz="1350" dirty="0"/>
          </a:p>
        </p:txBody>
      </p:sp>
      <p:sp>
        <p:nvSpPr>
          <p:cNvPr id="92" name="Text 68"/>
          <p:cNvSpPr txBox="1"/>
          <p:nvPr/>
        </p:nvSpPr>
        <p:spPr>
          <a:xfrm>
            <a:off x="7048195" y="4990795"/>
            <a:ext cx="15243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536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-0.10</a:t>
            </a:r>
            <a:endParaRPr lang="en-US" sz="1350" dirty="0"/>
          </a:p>
        </p:txBody>
      </p:sp>
      <p:sp>
        <p:nvSpPr>
          <p:cNvPr id="93" name="Text 69"/>
          <p:cNvSpPr txBox="1"/>
          <p:nvPr/>
        </p:nvSpPr>
        <p:spPr>
          <a:xfrm>
            <a:off x="8572500" y="5029200"/>
            <a:ext cx="7626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980</a:t>
            </a:r>
            <a:endParaRPr lang="en-US" sz="1200" dirty="0"/>
          </a:p>
        </p:txBody>
      </p:sp>
      <p:sp>
        <p:nvSpPr>
          <p:cNvPr id="94" name="Text 70"/>
          <p:cNvSpPr txBox="1"/>
          <p:nvPr/>
        </p:nvSpPr>
        <p:spPr>
          <a:xfrm>
            <a:off x="914400" y="5505602"/>
            <a:ext cx="13341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F53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W03 Ru</a:t>
            </a:r>
            <a:endParaRPr lang="en-US" sz="1350" dirty="0"/>
          </a:p>
        </p:txBody>
      </p:sp>
      <p:sp>
        <p:nvSpPr>
          <p:cNvPr id="95" name="Text 71"/>
          <p:cNvSpPr txBox="1"/>
          <p:nvPr/>
        </p:nvSpPr>
        <p:spPr>
          <a:xfrm>
            <a:off x="2286000" y="5544007"/>
            <a:ext cx="1334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M2</a:t>
            </a:r>
            <a:endParaRPr lang="en-US" sz="1200" dirty="0"/>
          </a:p>
        </p:txBody>
      </p:sp>
      <p:sp>
        <p:nvSpPr>
          <p:cNvPr id="96" name="Text 72"/>
          <p:cNvSpPr txBox="1"/>
          <p:nvPr/>
        </p:nvSpPr>
        <p:spPr>
          <a:xfrm>
            <a:off x="3619195" y="5505602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25.20</a:t>
            </a:r>
            <a:endParaRPr lang="en-US" sz="1350" dirty="0"/>
          </a:p>
        </p:txBody>
      </p:sp>
      <p:sp>
        <p:nvSpPr>
          <p:cNvPr id="97" name="Text 73"/>
          <p:cNvSpPr txBox="1"/>
          <p:nvPr/>
        </p:nvSpPr>
        <p:spPr>
          <a:xfrm>
            <a:off x="4762195" y="5505602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0.37</a:t>
            </a:r>
            <a:endParaRPr lang="en-US" sz="1350" dirty="0"/>
          </a:p>
        </p:txBody>
      </p:sp>
      <p:sp>
        <p:nvSpPr>
          <p:cNvPr id="98" name="Text 74"/>
          <p:cNvSpPr txBox="1"/>
          <p:nvPr/>
        </p:nvSpPr>
        <p:spPr>
          <a:xfrm>
            <a:off x="5905195" y="5505602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1.12</a:t>
            </a:r>
            <a:endParaRPr lang="en-US" sz="1350" dirty="0"/>
          </a:p>
        </p:txBody>
      </p:sp>
      <p:sp>
        <p:nvSpPr>
          <p:cNvPr id="99" name="Text 75"/>
          <p:cNvSpPr txBox="1"/>
          <p:nvPr/>
        </p:nvSpPr>
        <p:spPr>
          <a:xfrm>
            <a:off x="7048195" y="5467198"/>
            <a:ext cx="15243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536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-0.20</a:t>
            </a:r>
            <a:endParaRPr lang="en-US" sz="1350" dirty="0"/>
          </a:p>
        </p:txBody>
      </p:sp>
      <p:sp>
        <p:nvSpPr>
          <p:cNvPr id="100" name="Text 76"/>
          <p:cNvSpPr txBox="1"/>
          <p:nvPr/>
        </p:nvSpPr>
        <p:spPr>
          <a:xfrm>
            <a:off x="8572500" y="5505602"/>
            <a:ext cx="7626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980</a:t>
            </a:r>
            <a:endParaRPr lang="en-US" sz="1200" dirty="0"/>
          </a:p>
        </p:txBody>
      </p:sp>
      <p:sp>
        <p:nvSpPr>
          <p:cNvPr id="101" name="Text 77"/>
          <p:cNvSpPr txBox="1"/>
          <p:nvPr/>
        </p:nvSpPr>
        <p:spPr>
          <a:xfrm>
            <a:off x="914400" y="5982005"/>
            <a:ext cx="13341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D6A4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W04 hybrid</a:t>
            </a:r>
            <a:endParaRPr lang="en-US" sz="1350" dirty="0"/>
          </a:p>
        </p:txBody>
      </p:sp>
      <p:sp>
        <p:nvSpPr>
          <p:cNvPr id="102" name="Text 78"/>
          <p:cNvSpPr txBox="1"/>
          <p:nvPr/>
        </p:nvSpPr>
        <p:spPr>
          <a:xfrm>
            <a:off x="2286000" y="6019495"/>
            <a:ext cx="1334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V1</a:t>
            </a:r>
            <a:endParaRPr lang="en-US" sz="1200" dirty="0"/>
          </a:p>
        </p:txBody>
      </p:sp>
      <p:sp>
        <p:nvSpPr>
          <p:cNvPr id="103" name="Text 79"/>
          <p:cNvSpPr txBox="1"/>
          <p:nvPr/>
        </p:nvSpPr>
        <p:spPr>
          <a:xfrm>
            <a:off x="3619195" y="5982005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25.50</a:t>
            </a:r>
            <a:endParaRPr lang="en-US" sz="1350" dirty="0"/>
          </a:p>
        </p:txBody>
      </p:sp>
      <p:sp>
        <p:nvSpPr>
          <p:cNvPr id="104" name="Text 80"/>
          <p:cNvSpPr txBox="1"/>
          <p:nvPr/>
        </p:nvSpPr>
        <p:spPr>
          <a:xfrm>
            <a:off x="4762195" y="5982005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0.41</a:t>
            </a:r>
            <a:endParaRPr lang="en-US" sz="1350" dirty="0"/>
          </a:p>
        </p:txBody>
      </p:sp>
      <p:sp>
        <p:nvSpPr>
          <p:cNvPr id="105" name="Text 81"/>
          <p:cNvSpPr txBox="1"/>
          <p:nvPr/>
        </p:nvSpPr>
        <p:spPr>
          <a:xfrm>
            <a:off x="5905195" y="5982005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1.20</a:t>
            </a:r>
            <a:endParaRPr lang="en-US" sz="1350" dirty="0"/>
          </a:p>
        </p:txBody>
      </p:sp>
      <p:sp>
        <p:nvSpPr>
          <p:cNvPr id="106" name="Text 82"/>
          <p:cNvSpPr txBox="1"/>
          <p:nvPr/>
        </p:nvSpPr>
        <p:spPr>
          <a:xfrm>
            <a:off x="7048195" y="5943600"/>
            <a:ext cx="15243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D6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+0.10</a:t>
            </a:r>
            <a:endParaRPr lang="en-US" sz="1350" dirty="0"/>
          </a:p>
        </p:txBody>
      </p:sp>
      <p:sp>
        <p:nvSpPr>
          <p:cNvPr id="107" name="Text 83"/>
          <p:cNvSpPr txBox="1"/>
          <p:nvPr/>
        </p:nvSpPr>
        <p:spPr>
          <a:xfrm>
            <a:off x="8572500" y="5982005"/>
            <a:ext cx="7626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980</a:t>
            </a:r>
            <a:endParaRPr lang="en-US" sz="1200" dirty="0"/>
          </a:p>
        </p:txBody>
      </p:sp>
      <p:sp>
        <p:nvSpPr>
          <p:cNvPr id="108" name="Text 84"/>
          <p:cNvSpPr txBox="1"/>
          <p:nvPr/>
        </p:nvSpPr>
        <p:spPr>
          <a:xfrm>
            <a:off x="914400" y="6458407"/>
            <a:ext cx="13341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D6A4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W04 hybrid</a:t>
            </a:r>
            <a:endParaRPr lang="en-US" sz="1350" dirty="0"/>
          </a:p>
        </p:txBody>
      </p:sp>
      <p:sp>
        <p:nvSpPr>
          <p:cNvPr id="109" name="Text 85"/>
          <p:cNvSpPr txBox="1"/>
          <p:nvPr/>
        </p:nvSpPr>
        <p:spPr>
          <a:xfrm>
            <a:off x="2286000" y="6495898"/>
            <a:ext cx="1334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M2</a:t>
            </a:r>
            <a:endParaRPr lang="en-US" sz="1200" dirty="0"/>
          </a:p>
        </p:txBody>
      </p:sp>
      <p:sp>
        <p:nvSpPr>
          <p:cNvPr id="110" name="Text 86"/>
          <p:cNvSpPr txBox="1"/>
          <p:nvPr/>
        </p:nvSpPr>
        <p:spPr>
          <a:xfrm>
            <a:off x="3619195" y="6458407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25.40</a:t>
            </a:r>
            <a:endParaRPr lang="en-US" sz="1350" dirty="0"/>
          </a:p>
        </p:txBody>
      </p:sp>
      <p:sp>
        <p:nvSpPr>
          <p:cNvPr id="111" name="Text 87"/>
          <p:cNvSpPr txBox="1"/>
          <p:nvPr/>
        </p:nvSpPr>
        <p:spPr>
          <a:xfrm>
            <a:off x="4762195" y="6458407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0.40</a:t>
            </a:r>
            <a:endParaRPr lang="en-US" sz="1350" dirty="0"/>
          </a:p>
        </p:txBody>
      </p:sp>
      <p:sp>
        <p:nvSpPr>
          <p:cNvPr id="112" name="Text 88"/>
          <p:cNvSpPr txBox="1"/>
          <p:nvPr/>
        </p:nvSpPr>
        <p:spPr>
          <a:xfrm>
            <a:off x="5905195" y="6458407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1.18</a:t>
            </a:r>
            <a:endParaRPr lang="en-US" sz="1350" dirty="0"/>
          </a:p>
        </p:txBody>
      </p:sp>
      <p:sp>
        <p:nvSpPr>
          <p:cNvPr id="113" name="Text 89"/>
          <p:cNvSpPr txBox="1"/>
          <p:nvPr/>
        </p:nvSpPr>
        <p:spPr>
          <a:xfrm>
            <a:off x="7048195" y="6420002"/>
            <a:ext cx="15243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0.00</a:t>
            </a:r>
            <a:endParaRPr lang="en-US" sz="1350" dirty="0"/>
          </a:p>
        </p:txBody>
      </p:sp>
      <p:sp>
        <p:nvSpPr>
          <p:cNvPr id="114" name="Text 90"/>
          <p:cNvSpPr txBox="1"/>
          <p:nvPr/>
        </p:nvSpPr>
        <p:spPr>
          <a:xfrm>
            <a:off x="8572500" y="6458407"/>
            <a:ext cx="7626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980</a:t>
            </a:r>
            <a:endParaRPr lang="en-US" sz="1200" dirty="0"/>
          </a:p>
        </p:txBody>
      </p:sp>
      <p:sp>
        <p:nvSpPr>
          <p:cNvPr id="115" name="Text 91"/>
          <p:cNvSpPr txBox="1"/>
          <p:nvPr/>
        </p:nvSpPr>
        <p:spPr>
          <a:xfrm>
            <a:off x="12725705" y="2361895"/>
            <a:ext cx="4763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spc="168" kern="0" dirty="0">
                <a:solidFill>
                  <a:srgbClr val="B858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Δ SUMMARY · split-aggregate</a:t>
            </a:r>
            <a:endParaRPr lang="en-US" sz="1050" dirty="0"/>
          </a:p>
        </p:txBody>
      </p:sp>
      <p:sp>
        <p:nvSpPr>
          <p:cNvPr id="116" name="Text 92"/>
          <p:cNvSpPr txBox="1"/>
          <p:nvPr/>
        </p:nvSpPr>
        <p:spPr>
          <a:xfrm>
            <a:off x="12725705" y="2800807"/>
            <a:ext cx="47631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E1F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Wafer별 평균 Δ vs target · V1+M2 합산</a:t>
            </a:r>
            <a:endParaRPr lang="en-US" sz="1350" dirty="0"/>
          </a:p>
        </p:txBody>
      </p:sp>
      <p:sp>
        <p:nvSpPr>
          <p:cNvPr id="117" name="Text 93"/>
          <p:cNvSpPr txBox="1"/>
          <p:nvPr/>
        </p:nvSpPr>
        <p:spPr>
          <a:xfrm>
            <a:off x="12877495" y="3333902"/>
            <a:ext cx="1143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4616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W01 REF</a:t>
            </a:r>
            <a:endParaRPr lang="en-US" sz="1050" dirty="0"/>
          </a:p>
        </p:txBody>
      </p:sp>
      <p:sp>
        <p:nvSpPr>
          <p:cNvPr id="118" name="Text 94"/>
          <p:cNvSpPr txBox="1"/>
          <p:nvPr/>
        </p:nvSpPr>
        <p:spPr>
          <a:xfrm>
            <a:off x="12877495" y="3562502"/>
            <a:ext cx="28575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25.50 nm · mean</a:t>
            </a:r>
            <a:endParaRPr lang="en-US" sz="975" dirty="0"/>
          </a:p>
        </p:txBody>
      </p:sp>
      <p:sp>
        <p:nvSpPr>
          <p:cNvPr id="119" name="Text 95"/>
          <p:cNvSpPr txBox="1"/>
          <p:nvPr/>
        </p:nvSpPr>
        <p:spPr>
          <a:xfrm>
            <a:off x="16002000" y="3372307"/>
            <a:ext cx="1334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54616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+0.10</a:t>
            </a:r>
            <a:endParaRPr lang="en-US" sz="2400" dirty="0"/>
          </a:p>
        </p:txBody>
      </p:sp>
      <p:sp>
        <p:nvSpPr>
          <p:cNvPr id="120" name="Text 96"/>
          <p:cNvSpPr txBox="1"/>
          <p:nvPr/>
        </p:nvSpPr>
        <p:spPr>
          <a:xfrm>
            <a:off x="16002000" y="3771900"/>
            <a:ext cx="13341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tol. ±0.50</a:t>
            </a:r>
            <a:endParaRPr lang="en-US" sz="975" dirty="0"/>
          </a:p>
        </p:txBody>
      </p:sp>
      <p:sp>
        <p:nvSpPr>
          <p:cNvPr id="121" name="Text 97"/>
          <p:cNvSpPr txBox="1"/>
          <p:nvPr/>
        </p:nvSpPr>
        <p:spPr>
          <a:xfrm>
            <a:off x="12877495" y="4209898"/>
            <a:ext cx="1143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858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W02 Co</a:t>
            </a:r>
            <a:endParaRPr lang="en-US" sz="1050" dirty="0"/>
          </a:p>
        </p:txBody>
      </p:sp>
      <p:sp>
        <p:nvSpPr>
          <p:cNvPr id="122" name="Text 98"/>
          <p:cNvSpPr txBox="1"/>
          <p:nvPr/>
        </p:nvSpPr>
        <p:spPr>
          <a:xfrm>
            <a:off x="12877495" y="4438498"/>
            <a:ext cx="28575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25.60 nm · mean</a:t>
            </a:r>
            <a:endParaRPr lang="en-US" sz="975" dirty="0"/>
          </a:p>
        </p:txBody>
      </p:sp>
      <p:sp>
        <p:nvSpPr>
          <p:cNvPr id="123" name="Text 99"/>
          <p:cNvSpPr txBox="1"/>
          <p:nvPr/>
        </p:nvSpPr>
        <p:spPr>
          <a:xfrm>
            <a:off x="16002000" y="4248302"/>
            <a:ext cx="1334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B858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+0.20</a:t>
            </a:r>
            <a:endParaRPr lang="en-US" sz="2400" dirty="0"/>
          </a:p>
        </p:txBody>
      </p:sp>
      <p:sp>
        <p:nvSpPr>
          <p:cNvPr id="124" name="Text 100"/>
          <p:cNvSpPr txBox="1"/>
          <p:nvPr/>
        </p:nvSpPr>
        <p:spPr>
          <a:xfrm>
            <a:off x="16002000" y="4647895"/>
            <a:ext cx="13341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dirty="0">
                <a:solidFill>
                  <a:srgbClr val="B858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3σ 0.47↑</a:t>
            </a:r>
            <a:endParaRPr lang="en-US" sz="975" dirty="0"/>
          </a:p>
        </p:txBody>
      </p:sp>
      <p:sp>
        <p:nvSpPr>
          <p:cNvPr id="125" name="Text 101"/>
          <p:cNvSpPr txBox="1"/>
          <p:nvPr/>
        </p:nvSpPr>
        <p:spPr>
          <a:xfrm>
            <a:off x="12877495" y="5086807"/>
            <a:ext cx="1143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536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W03 Ru</a:t>
            </a:r>
            <a:endParaRPr lang="en-US" sz="1050" dirty="0"/>
          </a:p>
        </p:txBody>
      </p:sp>
      <p:sp>
        <p:nvSpPr>
          <p:cNvPr id="126" name="Text 102"/>
          <p:cNvSpPr txBox="1"/>
          <p:nvPr/>
        </p:nvSpPr>
        <p:spPr>
          <a:xfrm>
            <a:off x="12877495" y="5315407"/>
            <a:ext cx="28575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25.25 nm · mean</a:t>
            </a:r>
            <a:endParaRPr lang="en-US" sz="975" dirty="0"/>
          </a:p>
        </p:txBody>
      </p:sp>
      <p:sp>
        <p:nvSpPr>
          <p:cNvPr id="127" name="Text 103"/>
          <p:cNvSpPr txBox="1"/>
          <p:nvPr/>
        </p:nvSpPr>
        <p:spPr>
          <a:xfrm>
            <a:off x="16002000" y="5124298"/>
            <a:ext cx="1334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F536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-0.15</a:t>
            </a:r>
            <a:endParaRPr lang="en-US" sz="2400" dirty="0"/>
          </a:p>
        </p:txBody>
      </p:sp>
      <p:sp>
        <p:nvSpPr>
          <p:cNvPr id="128" name="Text 104"/>
          <p:cNvSpPr txBox="1"/>
          <p:nvPr/>
        </p:nvSpPr>
        <p:spPr>
          <a:xfrm>
            <a:off x="16002000" y="5524805"/>
            <a:ext cx="13341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dirty="0">
                <a:solidFill>
                  <a:srgbClr val="1F53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3σ 0.38 — best</a:t>
            </a:r>
            <a:endParaRPr lang="en-US" sz="975" dirty="0"/>
          </a:p>
        </p:txBody>
      </p:sp>
      <p:sp>
        <p:nvSpPr>
          <p:cNvPr id="129" name="Text 105"/>
          <p:cNvSpPr txBox="1"/>
          <p:nvPr/>
        </p:nvSpPr>
        <p:spPr>
          <a:xfrm>
            <a:off x="12877495" y="5962802"/>
            <a:ext cx="1143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D6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W04 hybrid</a:t>
            </a:r>
            <a:endParaRPr lang="en-US" sz="1050" dirty="0"/>
          </a:p>
        </p:txBody>
      </p:sp>
      <p:sp>
        <p:nvSpPr>
          <p:cNvPr id="130" name="Text 106"/>
          <p:cNvSpPr txBox="1"/>
          <p:nvPr/>
        </p:nvSpPr>
        <p:spPr>
          <a:xfrm>
            <a:off x="12877495" y="6191402"/>
            <a:ext cx="28575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25.45 nm · mean</a:t>
            </a:r>
            <a:endParaRPr lang="en-US" sz="975" dirty="0"/>
          </a:p>
        </p:txBody>
      </p:sp>
      <p:sp>
        <p:nvSpPr>
          <p:cNvPr id="131" name="Text 107"/>
          <p:cNvSpPr txBox="1"/>
          <p:nvPr/>
        </p:nvSpPr>
        <p:spPr>
          <a:xfrm>
            <a:off x="16002000" y="6001207"/>
            <a:ext cx="1334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D6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+0.05</a:t>
            </a:r>
            <a:endParaRPr lang="en-US" sz="2400" dirty="0"/>
          </a:p>
        </p:txBody>
      </p:sp>
      <p:sp>
        <p:nvSpPr>
          <p:cNvPr id="132" name="Text 108"/>
          <p:cNvSpPr txBox="1"/>
          <p:nvPr/>
        </p:nvSpPr>
        <p:spPr>
          <a:xfrm>
            <a:off x="16002000" y="6400800"/>
            <a:ext cx="13341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3σ 0.41</a:t>
            </a:r>
            <a:endParaRPr lang="en-US" sz="975" dirty="0"/>
          </a:p>
        </p:txBody>
      </p:sp>
      <p:sp>
        <p:nvSpPr>
          <p:cNvPr id="133" name="Text 109"/>
          <p:cNvSpPr txBox="1"/>
          <p:nvPr/>
        </p:nvSpPr>
        <p:spPr>
          <a:xfrm>
            <a:off x="12725705" y="6953098"/>
            <a:ext cx="46488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AASI는 resist 경계 → O₂ ash 직후 read.</a:t>
            </a:r>
            <a:endParaRPr lang="en-US" sz="975" dirty="0"/>
          </a:p>
        </p:txBody>
      </p:sp>
      <p:sp>
        <p:nvSpPr>
          <p:cNvPr id="134" name="Text 110"/>
          <p:cNvSpPr txBox="1"/>
          <p:nvPr/>
        </p:nvSpPr>
        <p:spPr>
          <a:xfrm>
            <a:off x="12725705" y="7181698"/>
            <a:ext cx="46488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dummy 평가 — 모든 수치는 mock 시각화 자료.</a:t>
            </a:r>
            <a:endParaRPr lang="en-US" sz="975" dirty="0"/>
          </a:p>
        </p:txBody>
      </p:sp>
      <p:sp>
        <p:nvSpPr>
          <p:cNvPr id="135" name="Text 111"/>
          <p:cNvSpPr txBox="1"/>
          <p:nvPr/>
        </p:nvSpPr>
        <p:spPr>
          <a:xfrm>
            <a:off x="990295" y="9087307"/>
            <a:ext cx="1239012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spc="176" kern="0" dirty="0">
                <a:solidFill>
                  <a:srgbClr val="B858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TAKEAWAY</a:t>
            </a:r>
            <a:endParaRPr lang="en-US" sz="975" dirty="0"/>
          </a:p>
        </p:txBody>
      </p:sp>
      <p:sp>
        <p:nvSpPr>
          <p:cNvPr id="136" name="Text 112"/>
          <p:cNvSpPr txBox="1"/>
          <p:nvPr/>
        </p:nvSpPr>
        <p:spPr>
          <a:xfrm>
            <a:off x="2361895" y="9048902"/>
            <a:ext cx="1573591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AASI 단계는 모든 split이 ±0.50 nm tolerance 내 — W03 BLV-Ru만 -0.15로 slight under, 그 외 tolerance 내. </a:t>
            </a:r>
            <a:pPr algn="l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Δ 극단치는 W02 V1 +0.30</a:t>
            </a:r>
            <a:pPr algn="l" indent="0" marL="0">
              <a:buNone/>
            </a:pPr>
            <a:r>
              <a:rPr lang="en-US" sz="127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BLV-Co에서 1회 모니터링 필요. 3σ는 W03이 가장 안정.</a:t>
            </a:r>
            <a:endParaRPr lang="en-US" sz="1275" dirty="0"/>
          </a:p>
        </p:txBody>
      </p:sp>
      <p:sp>
        <p:nvSpPr>
          <p:cNvPr id="137" name="Text 113"/>
          <p:cNvSpPr txBox="1"/>
          <p:nvPr/>
        </p:nvSpPr>
        <p:spPr>
          <a:xfrm>
            <a:off x="761695" y="9849002"/>
            <a:ext cx="72393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5A62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EV-BEOL-BLV-018 · AASI target 25.4 nm · unit nm</a:t>
            </a:r>
            <a:endParaRPr lang="en-US" sz="975" dirty="0"/>
          </a:p>
        </p:txBody>
      </p:sp>
      <p:sp>
        <p:nvSpPr>
          <p:cNvPr id="138" name="Text 114"/>
          <p:cNvSpPr txBox="1"/>
          <p:nvPr/>
        </p:nvSpPr>
        <p:spPr>
          <a:xfrm>
            <a:off x="8001000" y="9849002"/>
            <a:ext cx="952530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※ 내부 테스트용 더미(가상) 데이터 · 05 / 12</a:t>
            </a:r>
            <a:endParaRPr lang="en-US" sz="9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F0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4b8b176d1054448e556d5d1f414aa96f.png">    </p:cNvPr>
          <p:cNvPicPr>
            <a:picLocks noChangeAspect="1"/>
          </p:cNvPicPr>
          <p:nvPr/>
        </p:nvPicPr>
        <p:blipFill>
          <a:blip r:embed="rId1"/>
          <a:srcRect l="0" r="0" t="-400" b="-400"/>
          <a:stretch/>
        </p:blipFill>
        <p:spPr>
          <a:xfrm>
            <a:off x="0" y="0"/>
            <a:ext cx="18288000" cy="57607"/>
          </a:xfrm>
          <a:prstGeom prst="rect">
            <a:avLst/>
          </a:prstGeom>
        </p:spPr>
      </p:pic>
      <p:pic>
        <p:nvPicPr>
          <p:cNvPr id="4" name="Image 1" descr="gen-dedup-6ef2f382d46d5f775cbbac1e044faac9.png">    </p:cNvPr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761695" y="1638605"/>
            <a:ext cx="16763695" cy="9144"/>
          </a:xfrm>
          <a:prstGeom prst="rect">
            <a:avLst/>
          </a:prstGeom>
        </p:spPr>
      </p:pic>
      <p:pic>
        <p:nvPicPr>
          <p:cNvPr id="5" name="Image 2" descr="gen-dedup-15a880e8f657bb603fd0b045e90b8da5.png">    </p:cNvPr>
          <p:cNvPicPr>
            <a:picLocks noChangeAspect="1"/>
          </p:cNvPicPr>
          <p:nvPr/>
        </p:nvPicPr>
        <p:blipFill>
          <a:blip r:embed="rId3"/>
          <a:srcRect l="-424" r="-424" t="0" b="0"/>
          <a:stretch/>
        </p:blipFill>
        <p:spPr>
          <a:xfrm>
            <a:off x="761695" y="1790395"/>
            <a:ext cx="57607" cy="323698"/>
          </a:xfrm>
          <a:prstGeom prst="rect">
            <a:avLst/>
          </a:prstGeom>
        </p:spPr>
      </p:pic>
      <p:sp>
        <p:nvSpPr>
          <p:cNvPr id="6" name="Shape 0"/>
          <p:cNvSpPr/>
          <p:nvPr/>
        </p:nvSpPr>
        <p:spPr>
          <a:xfrm>
            <a:off x="761695" y="2286000"/>
            <a:ext cx="10287000" cy="647669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1"/>
          <p:cNvSpPr/>
          <p:nvPr/>
        </p:nvSpPr>
        <p:spPr>
          <a:xfrm>
            <a:off x="11430000" y="2286000"/>
            <a:ext cx="6096305" cy="2857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2"/>
          <p:cNvSpPr/>
          <p:nvPr/>
        </p:nvSpPr>
        <p:spPr>
          <a:xfrm>
            <a:off x="11430000" y="5333695"/>
            <a:ext cx="6096305" cy="190469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3"/>
          <p:cNvSpPr/>
          <p:nvPr/>
        </p:nvSpPr>
        <p:spPr>
          <a:xfrm>
            <a:off x="11430000" y="7429500"/>
            <a:ext cx="6096305" cy="1333195"/>
          </a:xfrm>
          <a:prstGeom prst="rect">
            <a:avLst/>
          </a:prstGeom>
          <a:solidFill>
            <a:srgbClr val="0E1F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4"/>
          <p:cNvSpPr/>
          <p:nvPr/>
        </p:nvSpPr>
        <p:spPr>
          <a:xfrm>
            <a:off x="761695" y="9010498"/>
            <a:ext cx="16763695" cy="400507"/>
          </a:xfrm>
          <a:prstGeom prst="rect">
            <a:avLst/>
          </a:prstGeom>
          <a:solidFill>
            <a:srgbClr val="0E1F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1" name="Image 3" descr="gen-dedup-6ef2f382d46d5f775cbbac1e044faac9.png">    </p:cNvPr>
          <p:cNvPicPr>
            <a:picLocks noChangeAspect="1"/>
          </p:cNvPicPr>
          <p:nvPr/>
        </p:nvPicPr>
        <p:blipFill>
          <a:blip r:embed="rId4"/>
          <a:srcRect l="-2083" r="-2083" t="0" b="0"/>
          <a:stretch/>
        </p:blipFill>
        <p:spPr>
          <a:xfrm>
            <a:off x="761695" y="9715500"/>
            <a:ext cx="16763695" cy="9144"/>
          </a:xfrm>
          <a:prstGeom prst="rect">
            <a:avLst/>
          </a:prstGeom>
        </p:spPr>
      </p:pic>
      <p:sp>
        <p:nvSpPr>
          <p:cNvPr id="12" name="Shape 5"/>
          <p:cNvSpPr/>
          <p:nvPr/>
        </p:nvSpPr>
        <p:spPr>
          <a:xfrm>
            <a:off x="761695" y="2286000"/>
            <a:ext cx="10287000" cy="342900"/>
          </a:xfrm>
          <a:prstGeom prst="rect">
            <a:avLst/>
          </a:prstGeom>
          <a:solidFill>
            <a:srgbClr val="F4F6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3" name="Image 4" descr="gen-dedup-73ae536225137491d770b9b5c47d863e.png">    </p:cNvPr>
          <p:cNvPicPr>
            <a:picLocks noChangeAspect="1"/>
          </p:cNvPicPr>
          <p:nvPr/>
        </p:nvPicPr>
        <p:blipFill>
          <a:blip r:embed="rId5"/>
          <a:srcRect l="-2083" r="-2083" t="0" b="0"/>
          <a:stretch/>
        </p:blipFill>
        <p:spPr>
          <a:xfrm>
            <a:off x="761695" y="3504895"/>
            <a:ext cx="10287000" cy="9144"/>
          </a:xfrm>
          <a:prstGeom prst="rect">
            <a:avLst/>
          </a:prstGeom>
        </p:spPr>
      </p:pic>
      <p:pic>
        <p:nvPicPr>
          <p:cNvPr id="14" name="Image 5" descr="gen-dedup-73ae536225137491d770b9b5c47d863e.png">    </p:cNvPr>
          <p:cNvPicPr>
            <a:picLocks noChangeAspect="1"/>
          </p:cNvPicPr>
          <p:nvPr/>
        </p:nvPicPr>
        <p:blipFill>
          <a:blip r:embed="rId6"/>
          <a:srcRect l="-2083" r="-2083" t="0" b="0"/>
          <a:stretch/>
        </p:blipFill>
        <p:spPr>
          <a:xfrm>
            <a:off x="761695" y="3981298"/>
            <a:ext cx="10287000" cy="9144"/>
          </a:xfrm>
          <a:prstGeom prst="rect">
            <a:avLst/>
          </a:prstGeom>
        </p:spPr>
      </p:pic>
      <p:pic>
        <p:nvPicPr>
          <p:cNvPr id="15" name="Image 6" descr="gen-dedup-73ae536225137491d770b9b5c47d863e.png">    </p:cNvPr>
          <p:cNvPicPr>
            <a:picLocks noChangeAspect="1"/>
          </p:cNvPicPr>
          <p:nvPr/>
        </p:nvPicPr>
        <p:blipFill>
          <a:blip r:embed="rId7"/>
          <a:srcRect l="-2083" r="-2083" t="0" b="0"/>
          <a:stretch/>
        </p:blipFill>
        <p:spPr>
          <a:xfrm>
            <a:off x="761695" y="4457700"/>
            <a:ext cx="10287000" cy="9144"/>
          </a:xfrm>
          <a:prstGeom prst="rect">
            <a:avLst/>
          </a:prstGeom>
        </p:spPr>
      </p:pic>
      <p:pic>
        <p:nvPicPr>
          <p:cNvPr id="16" name="Image 7" descr="gen-dedup-73ae536225137491d770b9b5c47d863e.png">    </p:cNvPr>
          <p:cNvPicPr>
            <a:picLocks noChangeAspect="1"/>
          </p:cNvPicPr>
          <p:nvPr/>
        </p:nvPicPr>
        <p:blipFill>
          <a:blip r:embed="rId8"/>
          <a:srcRect l="-2083" r="-2083" t="0" b="0"/>
          <a:stretch/>
        </p:blipFill>
        <p:spPr>
          <a:xfrm>
            <a:off x="761695" y="4934102"/>
            <a:ext cx="10287000" cy="9144"/>
          </a:xfrm>
          <a:prstGeom prst="rect">
            <a:avLst/>
          </a:prstGeom>
        </p:spPr>
      </p:pic>
      <p:pic>
        <p:nvPicPr>
          <p:cNvPr id="17" name="Image 8" descr="gen-dedup-73ae536225137491d770b9b5c47d863e.png">    </p:cNvPr>
          <p:cNvPicPr>
            <a:picLocks noChangeAspect="1"/>
          </p:cNvPicPr>
          <p:nvPr/>
        </p:nvPicPr>
        <p:blipFill>
          <a:blip r:embed="rId9"/>
          <a:srcRect l="-2083" r="-2083" t="0" b="0"/>
          <a:stretch/>
        </p:blipFill>
        <p:spPr>
          <a:xfrm>
            <a:off x="761695" y="5410505"/>
            <a:ext cx="10287000" cy="9144"/>
          </a:xfrm>
          <a:prstGeom prst="rect">
            <a:avLst/>
          </a:prstGeom>
        </p:spPr>
      </p:pic>
      <p:pic>
        <p:nvPicPr>
          <p:cNvPr id="18" name="Image 9" descr="gen-dedup-73ae536225137491d770b9b5c47d863e.png">    </p:cNvPr>
          <p:cNvPicPr>
            <a:picLocks noChangeAspect="1"/>
          </p:cNvPicPr>
          <p:nvPr/>
        </p:nvPicPr>
        <p:blipFill>
          <a:blip r:embed="rId10"/>
          <a:srcRect l="-2083" r="-2083" t="0" b="0"/>
          <a:stretch/>
        </p:blipFill>
        <p:spPr>
          <a:xfrm>
            <a:off x="761695" y="5886907"/>
            <a:ext cx="10287000" cy="9144"/>
          </a:xfrm>
          <a:prstGeom prst="rect">
            <a:avLst/>
          </a:prstGeom>
        </p:spPr>
      </p:pic>
      <p:pic>
        <p:nvPicPr>
          <p:cNvPr id="19" name="Image 10" descr="gen-dedup-73ae536225137491d770b9b5c47d863e.png">    </p:cNvPr>
          <p:cNvPicPr>
            <a:picLocks noChangeAspect="1"/>
          </p:cNvPicPr>
          <p:nvPr/>
        </p:nvPicPr>
        <p:blipFill>
          <a:blip r:embed="rId11"/>
          <a:srcRect l="-2083" r="-2083" t="0" b="0"/>
          <a:stretch/>
        </p:blipFill>
        <p:spPr>
          <a:xfrm>
            <a:off x="761695" y="6362395"/>
            <a:ext cx="10287000" cy="9144"/>
          </a:xfrm>
          <a:prstGeom prst="rect">
            <a:avLst/>
          </a:prstGeom>
        </p:spPr>
      </p:pic>
      <p:pic>
        <p:nvPicPr>
          <p:cNvPr id="20" name="Image 11" descr="gen-dedup-73ae536225137491d770b9b5c47d863e.png">    </p:cNvPr>
          <p:cNvPicPr>
            <a:picLocks noChangeAspect="1"/>
          </p:cNvPicPr>
          <p:nvPr/>
        </p:nvPicPr>
        <p:blipFill>
          <a:blip r:embed="rId12"/>
          <a:srcRect l="-2083" r="-2083" t="0" b="0"/>
          <a:stretch/>
        </p:blipFill>
        <p:spPr>
          <a:xfrm>
            <a:off x="761695" y="7810805"/>
            <a:ext cx="10287000" cy="9144"/>
          </a:xfrm>
          <a:prstGeom prst="rect">
            <a:avLst/>
          </a:prstGeom>
        </p:spPr>
      </p:pic>
      <p:sp>
        <p:nvSpPr>
          <p:cNvPr id="21" name="Shape 6"/>
          <p:cNvSpPr/>
          <p:nvPr/>
        </p:nvSpPr>
        <p:spPr>
          <a:xfrm>
            <a:off x="11430000" y="2286000"/>
            <a:ext cx="6096305" cy="342900"/>
          </a:xfrm>
          <a:prstGeom prst="rect">
            <a:avLst/>
          </a:prstGeom>
          <a:solidFill>
            <a:srgbClr val="0E1F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7"/>
          <p:cNvSpPr/>
          <p:nvPr/>
        </p:nvSpPr>
        <p:spPr>
          <a:xfrm>
            <a:off x="11582705" y="2819095"/>
            <a:ext cx="2819095" cy="1028700"/>
          </a:xfrm>
          <a:prstGeom prst="rect">
            <a:avLst/>
          </a:prstGeom>
          <a:solidFill>
            <a:srgbClr val="F4F6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8"/>
          <p:cNvSpPr/>
          <p:nvPr/>
        </p:nvSpPr>
        <p:spPr>
          <a:xfrm>
            <a:off x="14554505" y="2819095"/>
            <a:ext cx="2819095" cy="1028700"/>
          </a:xfrm>
          <a:prstGeom prst="rect">
            <a:avLst/>
          </a:prstGeom>
          <a:solidFill>
            <a:srgbClr val="F4F6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9"/>
          <p:cNvSpPr/>
          <p:nvPr/>
        </p:nvSpPr>
        <p:spPr>
          <a:xfrm>
            <a:off x="11582705" y="3962095"/>
            <a:ext cx="2819095" cy="1028700"/>
          </a:xfrm>
          <a:prstGeom prst="rect">
            <a:avLst/>
          </a:prstGeom>
          <a:solidFill>
            <a:srgbClr val="F4F6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10"/>
          <p:cNvSpPr/>
          <p:nvPr/>
        </p:nvSpPr>
        <p:spPr>
          <a:xfrm>
            <a:off x="14554505" y="3962095"/>
            <a:ext cx="2819095" cy="1028700"/>
          </a:xfrm>
          <a:prstGeom prst="rect">
            <a:avLst/>
          </a:prstGeom>
          <a:solidFill>
            <a:srgbClr val="F4F6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11"/>
          <p:cNvSpPr/>
          <p:nvPr/>
        </p:nvSpPr>
        <p:spPr>
          <a:xfrm>
            <a:off x="11430000" y="5333695"/>
            <a:ext cx="6096305" cy="342900"/>
          </a:xfrm>
          <a:prstGeom prst="rect">
            <a:avLst/>
          </a:prstGeom>
          <a:solidFill>
            <a:srgbClr val="F4F6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7" name="Image 12" descr="gen-dedup-eed059b6ec18587a642a4b6b6d2858fa.png">    </p:cNvPr>
          <p:cNvPicPr>
            <a:picLocks noChangeAspect="1"/>
          </p:cNvPicPr>
          <p:nvPr/>
        </p:nvPicPr>
        <p:blipFill>
          <a:blip r:embed="rId13"/>
          <a:srcRect l="-2078" r="-2078" t="0" b="0"/>
          <a:stretch/>
        </p:blipFill>
        <p:spPr>
          <a:xfrm>
            <a:off x="11582705" y="6476695"/>
            <a:ext cx="5790895" cy="9144"/>
          </a:xfrm>
          <a:prstGeom prst="rect">
            <a:avLst/>
          </a:prstGeom>
        </p:spPr>
      </p:pic>
      <p:pic>
        <p:nvPicPr>
          <p:cNvPr id="28" name="Image 13" descr="gen-dedup-f8ddcf4a569d605420b2cdf3d7aabeec.png">    </p:cNvPr>
          <p:cNvPicPr>
            <a:picLocks noChangeAspect="1"/>
          </p:cNvPicPr>
          <p:nvPr/>
        </p:nvPicPr>
        <p:blipFill>
          <a:blip r:embed="rId14"/>
          <a:srcRect l="-342" r="-342" t="0" b="0"/>
          <a:stretch/>
        </p:blipFill>
        <p:spPr>
          <a:xfrm>
            <a:off x="761695" y="9010498"/>
            <a:ext cx="57607" cy="400507"/>
          </a:xfrm>
          <a:prstGeom prst="rect">
            <a:avLst/>
          </a:prstGeom>
        </p:spPr>
      </p:pic>
      <p:sp>
        <p:nvSpPr>
          <p:cNvPr id="29" name="Text 12"/>
          <p:cNvSpPr txBox="1"/>
          <p:nvPr/>
        </p:nvSpPr>
        <p:spPr>
          <a:xfrm>
            <a:off x="761695" y="400507"/>
            <a:ext cx="1334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DOC //</a:t>
            </a:r>
            <a:endParaRPr lang="en-US" sz="1050" dirty="0"/>
          </a:p>
        </p:txBody>
      </p:sp>
      <p:sp>
        <p:nvSpPr>
          <p:cNvPr id="30" name="Text 13"/>
          <p:cNvSpPr txBox="1"/>
          <p:nvPr/>
        </p:nvSpPr>
        <p:spPr>
          <a:xfrm>
            <a:off x="761695" y="629107"/>
            <a:ext cx="13341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63" kern="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EV-BEOL-BLV-018</a:t>
            </a:r>
            <a:endParaRPr lang="en-US" sz="1050" dirty="0"/>
          </a:p>
        </p:txBody>
      </p:sp>
      <p:sp>
        <p:nvSpPr>
          <p:cNvPr id="31" name="Text 14"/>
          <p:cNvSpPr txBox="1"/>
          <p:nvPr/>
        </p:nvSpPr>
        <p:spPr>
          <a:xfrm>
            <a:off x="761695" y="857707"/>
            <a:ext cx="14287500" cy="5815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0E1F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CD variation · </a:t>
            </a:r>
            <a:pPr algn="l" indent="0" marL="0">
              <a:buNone/>
            </a:pPr>
            <a:r>
              <a:rPr lang="en-US" sz="3150" b="1" dirty="0">
                <a:solidFill>
                  <a:srgbClr val="1F53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ASEI</a:t>
            </a:r>
            <a:endParaRPr lang="en-US" sz="3150" dirty="0"/>
          </a:p>
        </p:txBody>
      </p:sp>
      <p:sp>
        <p:nvSpPr>
          <p:cNvPr id="32" name="Text 15"/>
          <p:cNvSpPr txBox="1"/>
          <p:nvPr/>
        </p:nvSpPr>
        <p:spPr>
          <a:xfrm>
            <a:off x="761695" y="1514246"/>
            <a:ext cx="142875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25" dirty="0">
                <a:solidFill>
                  <a:srgbClr val="4D566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After-Spacer Etch Inspection · target </a:t>
            </a:r>
            <a:pPr algn="l" indent="0" marL="0">
              <a:buNone/>
            </a:pPr>
            <a:r>
              <a:rPr lang="en-US" sz="1425" b="1" dirty="0">
                <a:solidFill>
                  <a:srgbClr val="4D566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16.4 nm</a:t>
            </a:r>
            <a:pPr algn="l" indent="0" marL="0">
              <a:buNone/>
            </a:pPr>
            <a:r>
              <a:rPr lang="en-US" sz="1425" dirty="0">
                <a:solidFill>
                  <a:srgbClr val="4D566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post-SiOCN spacer read · unit nm</a:t>
            </a:r>
            <a:endParaRPr lang="en-US" sz="1425" dirty="0"/>
          </a:p>
        </p:txBody>
      </p:sp>
      <p:sp>
        <p:nvSpPr>
          <p:cNvPr id="33" name="Text 16"/>
          <p:cNvSpPr txBox="1"/>
          <p:nvPr/>
        </p:nvSpPr>
        <p:spPr>
          <a:xfrm>
            <a:off x="15430500" y="400507"/>
            <a:ext cx="20958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spc="98" kern="0" dirty="0">
                <a:solidFill>
                  <a:srgbClr val="5A62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 0.6 · INTERNAL</a:t>
            </a:r>
            <a:endParaRPr lang="en-US" sz="975" dirty="0"/>
          </a:p>
        </p:txBody>
      </p:sp>
      <p:sp>
        <p:nvSpPr>
          <p:cNvPr id="34" name="Text 17"/>
          <p:cNvSpPr txBox="1"/>
          <p:nvPr/>
        </p:nvSpPr>
        <p:spPr>
          <a:xfrm>
            <a:off x="15430500" y="599846"/>
            <a:ext cx="20958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dirty="0">
                <a:solidFill>
                  <a:srgbClr val="5A62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2026-10-03</a:t>
            </a:r>
            <a:endParaRPr lang="en-US" sz="975" dirty="0"/>
          </a:p>
        </p:txBody>
      </p:sp>
      <p:sp>
        <p:nvSpPr>
          <p:cNvPr id="35" name="Text 18"/>
          <p:cNvSpPr txBox="1"/>
          <p:nvPr/>
        </p:nvSpPr>
        <p:spPr>
          <a:xfrm>
            <a:off x="914400" y="1790395"/>
            <a:ext cx="10478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spc="168" kern="0" dirty="0">
                <a:solidFill>
                  <a:srgbClr val="1F53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§ 01 / 06 · CD-ASEI</a:t>
            </a:r>
            <a:endParaRPr lang="en-US" sz="1050" dirty="0"/>
          </a:p>
        </p:txBody>
      </p:sp>
      <p:sp>
        <p:nvSpPr>
          <p:cNvPr id="36" name="Text 19"/>
          <p:cNvSpPr txBox="1"/>
          <p:nvPr/>
        </p:nvSpPr>
        <p:spPr>
          <a:xfrm>
            <a:off x="914400" y="2000707"/>
            <a:ext cx="104781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post spacer 단계. 우측 radial layout은 wafer별 Δ 정렬, 4 분면 panel은 split-summary.</a:t>
            </a:r>
            <a:endParaRPr lang="en-US" sz="975" dirty="0"/>
          </a:p>
        </p:txBody>
      </p:sp>
      <p:sp>
        <p:nvSpPr>
          <p:cNvPr id="37" name="Text 20"/>
          <p:cNvSpPr txBox="1"/>
          <p:nvPr/>
        </p:nvSpPr>
        <p:spPr>
          <a:xfrm>
            <a:off x="914400" y="2743200"/>
            <a:ext cx="15243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E1F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split</a:t>
            </a:r>
            <a:endParaRPr lang="en-US" sz="1050" dirty="0"/>
          </a:p>
        </p:txBody>
      </p:sp>
      <p:sp>
        <p:nvSpPr>
          <p:cNvPr id="38" name="Text 21"/>
          <p:cNvSpPr txBox="1"/>
          <p:nvPr/>
        </p:nvSpPr>
        <p:spPr>
          <a:xfrm>
            <a:off x="2667305" y="2743200"/>
            <a:ext cx="1143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E1F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layer</a:t>
            </a:r>
            <a:endParaRPr lang="en-US" sz="1050" dirty="0"/>
          </a:p>
        </p:txBody>
      </p:sp>
      <p:sp>
        <p:nvSpPr>
          <p:cNvPr id="39" name="Text 22"/>
          <p:cNvSpPr txBox="1"/>
          <p:nvPr/>
        </p:nvSpPr>
        <p:spPr>
          <a:xfrm>
            <a:off x="4000500" y="2743200"/>
            <a:ext cx="1143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mean</a:t>
            </a:r>
            <a:endParaRPr lang="en-US" sz="1050" dirty="0"/>
          </a:p>
        </p:txBody>
      </p:sp>
      <p:sp>
        <p:nvSpPr>
          <p:cNvPr id="40" name="Text 23"/>
          <p:cNvSpPr txBox="1"/>
          <p:nvPr/>
        </p:nvSpPr>
        <p:spPr>
          <a:xfrm>
            <a:off x="5333695" y="2743200"/>
            <a:ext cx="1143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3σ</a:t>
            </a:r>
            <a:endParaRPr lang="en-US" sz="1050" dirty="0"/>
          </a:p>
        </p:txBody>
      </p:sp>
      <p:sp>
        <p:nvSpPr>
          <p:cNvPr id="41" name="Text 24"/>
          <p:cNvSpPr txBox="1"/>
          <p:nvPr/>
        </p:nvSpPr>
        <p:spPr>
          <a:xfrm>
            <a:off x="6667805" y="2743200"/>
            <a:ext cx="1143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range</a:t>
            </a:r>
            <a:endParaRPr lang="en-US" sz="1050" dirty="0"/>
          </a:p>
        </p:txBody>
      </p:sp>
      <p:sp>
        <p:nvSpPr>
          <p:cNvPr id="42" name="Text 25"/>
          <p:cNvSpPr txBox="1"/>
          <p:nvPr/>
        </p:nvSpPr>
        <p:spPr>
          <a:xfrm>
            <a:off x="8001000" y="2743200"/>
            <a:ext cx="15243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1F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Δ vs target</a:t>
            </a:r>
            <a:endParaRPr lang="en-US" sz="1050" dirty="0"/>
          </a:p>
        </p:txBody>
      </p:sp>
      <p:sp>
        <p:nvSpPr>
          <p:cNvPr id="43" name="Text 26"/>
          <p:cNvSpPr txBox="1"/>
          <p:nvPr/>
        </p:nvSpPr>
        <p:spPr>
          <a:xfrm>
            <a:off x="9525305" y="2743200"/>
            <a:ext cx="1143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</a:t>
            </a:r>
            <a:endParaRPr lang="en-US" sz="1050" dirty="0"/>
          </a:p>
        </p:txBody>
      </p:sp>
      <p:sp>
        <p:nvSpPr>
          <p:cNvPr id="44" name="Text 27"/>
          <p:cNvSpPr txBox="1"/>
          <p:nvPr/>
        </p:nvSpPr>
        <p:spPr>
          <a:xfrm>
            <a:off x="914400" y="3124505"/>
            <a:ext cx="15243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5461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W01 REF</a:t>
            </a:r>
            <a:endParaRPr lang="en-US" sz="1350" dirty="0"/>
          </a:p>
        </p:txBody>
      </p:sp>
      <p:sp>
        <p:nvSpPr>
          <p:cNvPr id="45" name="Text 28"/>
          <p:cNvSpPr txBox="1"/>
          <p:nvPr/>
        </p:nvSpPr>
        <p:spPr>
          <a:xfrm>
            <a:off x="2667305" y="3161995"/>
            <a:ext cx="1143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V1</a:t>
            </a:r>
            <a:endParaRPr lang="en-US" sz="1200" dirty="0"/>
          </a:p>
        </p:txBody>
      </p:sp>
      <p:sp>
        <p:nvSpPr>
          <p:cNvPr id="46" name="Text 29"/>
          <p:cNvSpPr txBox="1"/>
          <p:nvPr/>
        </p:nvSpPr>
        <p:spPr>
          <a:xfrm>
            <a:off x="4000500" y="3124505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16.50</a:t>
            </a:r>
            <a:endParaRPr lang="en-US" sz="1350" dirty="0"/>
          </a:p>
        </p:txBody>
      </p:sp>
      <p:sp>
        <p:nvSpPr>
          <p:cNvPr id="47" name="Text 30"/>
          <p:cNvSpPr txBox="1"/>
          <p:nvPr/>
        </p:nvSpPr>
        <p:spPr>
          <a:xfrm>
            <a:off x="5333695" y="3124505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0.38</a:t>
            </a:r>
            <a:endParaRPr lang="en-US" sz="1350" dirty="0"/>
          </a:p>
        </p:txBody>
      </p:sp>
      <p:sp>
        <p:nvSpPr>
          <p:cNvPr id="48" name="Text 31"/>
          <p:cNvSpPr txBox="1"/>
          <p:nvPr/>
        </p:nvSpPr>
        <p:spPr>
          <a:xfrm>
            <a:off x="6667805" y="3124505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1.08</a:t>
            </a:r>
            <a:endParaRPr lang="en-US" sz="1350" dirty="0"/>
          </a:p>
        </p:txBody>
      </p:sp>
      <p:sp>
        <p:nvSpPr>
          <p:cNvPr id="49" name="Text 32"/>
          <p:cNvSpPr txBox="1"/>
          <p:nvPr/>
        </p:nvSpPr>
        <p:spPr>
          <a:xfrm>
            <a:off x="8001000" y="3086100"/>
            <a:ext cx="15243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B858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+0.10</a:t>
            </a:r>
            <a:endParaRPr lang="en-US" sz="1350" dirty="0"/>
          </a:p>
        </p:txBody>
      </p:sp>
      <p:sp>
        <p:nvSpPr>
          <p:cNvPr id="50" name="Text 33"/>
          <p:cNvSpPr txBox="1"/>
          <p:nvPr/>
        </p:nvSpPr>
        <p:spPr>
          <a:xfrm>
            <a:off x="9525305" y="3124505"/>
            <a:ext cx="1143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980</a:t>
            </a:r>
            <a:endParaRPr lang="en-US" sz="1200" dirty="0"/>
          </a:p>
        </p:txBody>
      </p:sp>
      <p:sp>
        <p:nvSpPr>
          <p:cNvPr id="51" name="Text 34"/>
          <p:cNvSpPr txBox="1"/>
          <p:nvPr/>
        </p:nvSpPr>
        <p:spPr>
          <a:xfrm>
            <a:off x="914400" y="3600907"/>
            <a:ext cx="15243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5461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W01 REF</a:t>
            </a:r>
            <a:endParaRPr lang="en-US" sz="1350" dirty="0"/>
          </a:p>
        </p:txBody>
      </p:sp>
      <p:sp>
        <p:nvSpPr>
          <p:cNvPr id="52" name="Text 35"/>
          <p:cNvSpPr txBox="1"/>
          <p:nvPr/>
        </p:nvSpPr>
        <p:spPr>
          <a:xfrm>
            <a:off x="2667305" y="3638398"/>
            <a:ext cx="1143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M2</a:t>
            </a:r>
            <a:endParaRPr lang="en-US" sz="1200" dirty="0"/>
          </a:p>
        </p:txBody>
      </p:sp>
      <p:sp>
        <p:nvSpPr>
          <p:cNvPr id="53" name="Text 36"/>
          <p:cNvSpPr txBox="1"/>
          <p:nvPr/>
        </p:nvSpPr>
        <p:spPr>
          <a:xfrm>
            <a:off x="4000500" y="3600907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16.40</a:t>
            </a:r>
            <a:endParaRPr lang="en-US" sz="1350" dirty="0"/>
          </a:p>
        </p:txBody>
      </p:sp>
      <p:sp>
        <p:nvSpPr>
          <p:cNvPr id="54" name="Text 37"/>
          <p:cNvSpPr txBox="1"/>
          <p:nvPr/>
        </p:nvSpPr>
        <p:spPr>
          <a:xfrm>
            <a:off x="5333695" y="3600907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0.36</a:t>
            </a:r>
            <a:endParaRPr lang="en-US" sz="1350" dirty="0"/>
          </a:p>
        </p:txBody>
      </p:sp>
      <p:sp>
        <p:nvSpPr>
          <p:cNvPr id="55" name="Text 38"/>
          <p:cNvSpPr txBox="1"/>
          <p:nvPr/>
        </p:nvSpPr>
        <p:spPr>
          <a:xfrm>
            <a:off x="6667805" y="3600907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1.04</a:t>
            </a:r>
            <a:endParaRPr lang="en-US" sz="1350" dirty="0"/>
          </a:p>
        </p:txBody>
      </p:sp>
      <p:sp>
        <p:nvSpPr>
          <p:cNvPr id="56" name="Text 39"/>
          <p:cNvSpPr txBox="1"/>
          <p:nvPr/>
        </p:nvSpPr>
        <p:spPr>
          <a:xfrm>
            <a:off x="8001000" y="3562502"/>
            <a:ext cx="15243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0.00</a:t>
            </a:r>
            <a:endParaRPr lang="en-US" sz="1350" dirty="0"/>
          </a:p>
        </p:txBody>
      </p:sp>
      <p:sp>
        <p:nvSpPr>
          <p:cNvPr id="57" name="Text 40"/>
          <p:cNvSpPr txBox="1"/>
          <p:nvPr/>
        </p:nvSpPr>
        <p:spPr>
          <a:xfrm>
            <a:off x="9525305" y="3600907"/>
            <a:ext cx="1143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980</a:t>
            </a:r>
            <a:endParaRPr lang="en-US" sz="1200" dirty="0"/>
          </a:p>
        </p:txBody>
      </p:sp>
      <p:sp>
        <p:nvSpPr>
          <p:cNvPr id="58" name="Text 41"/>
          <p:cNvSpPr txBox="1"/>
          <p:nvPr/>
        </p:nvSpPr>
        <p:spPr>
          <a:xfrm>
            <a:off x="914400" y="4076395"/>
            <a:ext cx="15243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B858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W02 Co</a:t>
            </a:r>
            <a:endParaRPr lang="en-US" sz="1350" dirty="0"/>
          </a:p>
        </p:txBody>
      </p:sp>
      <p:sp>
        <p:nvSpPr>
          <p:cNvPr id="59" name="Text 42"/>
          <p:cNvSpPr txBox="1"/>
          <p:nvPr/>
        </p:nvSpPr>
        <p:spPr>
          <a:xfrm>
            <a:off x="2667305" y="4114800"/>
            <a:ext cx="1143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V1</a:t>
            </a:r>
            <a:endParaRPr lang="en-US" sz="1200" dirty="0"/>
          </a:p>
        </p:txBody>
      </p:sp>
      <p:sp>
        <p:nvSpPr>
          <p:cNvPr id="60" name="Text 43"/>
          <p:cNvSpPr txBox="1"/>
          <p:nvPr/>
        </p:nvSpPr>
        <p:spPr>
          <a:xfrm>
            <a:off x="4000500" y="4076395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16.60</a:t>
            </a:r>
            <a:endParaRPr lang="en-US" sz="1350" dirty="0"/>
          </a:p>
        </p:txBody>
      </p:sp>
      <p:sp>
        <p:nvSpPr>
          <p:cNvPr id="61" name="Text 44"/>
          <p:cNvSpPr txBox="1"/>
          <p:nvPr/>
        </p:nvSpPr>
        <p:spPr>
          <a:xfrm>
            <a:off x="5333695" y="4076395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0.42</a:t>
            </a:r>
            <a:endParaRPr lang="en-US" sz="1350" dirty="0"/>
          </a:p>
        </p:txBody>
      </p:sp>
      <p:sp>
        <p:nvSpPr>
          <p:cNvPr id="62" name="Text 45"/>
          <p:cNvSpPr txBox="1"/>
          <p:nvPr/>
        </p:nvSpPr>
        <p:spPr>
          <a:xfrm>
            <a:off x="6667805" y="4076395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1.18</a:t>
            </a:r>
            <a:endParaRPr lang="en-US" sz="1350" dirty="0"/>
          </a:p>
        </p:txBody>
      </p:sp>
      <p:sp>
        <p:nvSpPr>
          <p:cNvPr id="63" name="Text 46"/>
          <p:cNvSpPr txBox="1"/>
          <p:nvPr/>
        </p:nvSpPr>
        <p:spPr>
          <a:xfrm>
            <a:off x="8001000" y="4038905"/>
            <a:ext cx="15243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B858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+0.20</a:t>
            </a:r>
            <a:endParaRPr lang="en-US" sz="1350" dirty="0"/>
          </a:p>
        </p:txBody>
      </p:sp>
      <p:sp>
        <p:nvSpPr>
          <p:cNvPr id="64" name="Text 47"/>
          <p:cNvSpPr txBox="1"/>
          <p:nvPr/>
        </p:nvSpPr>
        <p:spPr>
          <a:xfrm>
            <a:off x="9525305" y="4076395"/>
            <a:ext cx="1143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960</a:t>
            </a:r>
            <a:endParaRPr lang="en-US" sz="1200" dirty="0"/>
          </a:p>
        </p:txBody>
      </p:sp>
      <p:sp>
        <p:nvSpPr>
          <p:cNvPr id="65" name="Text 48"/>
          <p:cNvSpPr txBox="1"/>
          <p:nvPr/>
        </p:nvSpPr>
        <p:spPr>
          <a:xfrm>
            <a:off x="914400" y="4552798"/>
            <a:ext cx="15243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B858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W02 Co</a:t>
            </a:r>
            <a:endParaRPr lang="en-US" sz="1350" dirty="0"/>
          </a:p>
        </p:txBody>
      </p:sp>
      <p:sp>
        <p:nvSpPr>
          <p:cNvPr id="66" name="Text 49"/>
          <p:cNvSpPr txBox="1"/>
          <p:nvPr/>
        </p:nvSpPr>
        <p:spPr>
          <a:xfrm>
            <a:off x="2667305" y="4591202"/>
            <a:ext cx="1143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M2</a:t>
            </a:r>
            <a:endParaRPr lang="en-US" sz="1200" dirty="0"/>
          </a:p>
        </p:txBody>
      </p:sp>
      <p:sp>
        <p:nvSpPr>
          <p:cNvPr id="67" name="Text 50"/>
          <p:cNvSpPr txBox="1"/>
          <p:nvPr/>
        </p:nvSpPr>
        <p:spPr>
          <a:xfrm>
            <a:off x="4000500" y="4552798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16.40</a:t>
            </a:r>
            <a:endParaRPr lang="en-US" sz="1350" dirty="0"/>
          </a:p>
        </p:txBody>
      </p:sp>
      <p:sp>
        <p:nvSpPr>
          <p:cNvPr id="68" name="Text 51"/>
          <p:cNvSpPr txBox="1"/>
          <p:nvPr/>
        </p:nvSpPr>
        <p:spPr>
          <a:xfrm>
            <a:off x="5333695" y="4552798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0.40</a:t>
            </a:r>
            <a:endParaRPr lang="en-US" sz="1350" dirty="0"/>
          </a:p>
        </p:txBody>
      </p:sp>
      <p:sp>
        <p:nvSpPr>
          <p:cNvPr id="69" name="Text 52"/>
          <p:cNvSpPr txBox="1"/>
          <p:nvPr/>
        </p:nvSpPr>
        <p:spPr>
          <a:xfrm>
            <a:off x="6667805" y="4552798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1.14</a:t>
            </a:r>
            <a:endParaRPr lang="en-US" sz="1350" dirty="0"/>
          </a:p>
        </p:txBody>
      </p:sp>
      <p:sp>
        <p:nvSpPr>
          <p:cNvPr id="70" name="Text 53"/>
          <p:cNvSpPr txBox="1"/>
          <p:nvPr/>
        </p:nvSpPr>
        <p:spPr>
          <a:xfrm>
            <a:off x="8001000" y="4515307"/>
            <a:ext cx="15243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0.00</a:t>
            </a:r>
            <a:endParaRPr lang="en-US" sz="1350" dirty="0"/>
          </a:p>
        </p:txBody>
      </p:sp>
      <p:sp>
        <p:nvSpPr>
          <p:cNvPr id="71" name="Text 54"/>
          <p:cNvSpPr txBox="1"/>
          <p:nvPr/>
        </p:nvSpPr>
        <p:spPr>
          <a:xfrm>
            <a:off x="9525305" y="4552798"/>
            <a:ext cx="1143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968</a:t>
            </a:r>
            <a:endParaRPr lang="en-US" sz="1200" dirty="0"/>
          </a:p>
        </p:txBody>
      </p:sp>
      <p:sp>
        <p:nvSpPr>
          <p:cNvPr id="72" name="Text 55"/>
          <p:cNvSpPr txBox="1"/>
          <p:nvPr/>
        </p:nvSpPr>
        <p:spPr>
          <a:xfrm>
            <a:off x="914400" y="5029200"/>
            <a:ext cx="15243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F53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W03 Ru</a:t>
            </a:r>
            <a:endParaRPr lang="en-US" sz="1350" dirty="0"/>
          </a:p>
        </p:txBody>
      </p:sp>
      <p:sp>
        <p:nvSpPr>
          <p:cNvPr id="73" name="Text 56"/>
          <p:cNvSpPr txBox="1"/>
          <p:nvPr/>
        </p:nvSpPr>
        <p:spPr>
          <a:xfrm>
            <a:off x="2667305" y="5067605"/>
            <a:ext cx="1143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V1</a:t>
            </a:r>
            <a:endParaRPr lang="en-US" sz="1200" dirty="0"/>
          </a:p>
        </p:txBody>
      </p:sp>
      <p:sp>
        <p:nvSpPr>
          <p:cNvPr id="74" name="Text 57"/>
          <p:cNvSpPr txBox="1"/>
          <p:nvPr/>
        </p:nvSpPr>
        <p:spPr>
          <a:xfrm>
            <a:off x="4000500" y="5029200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16.30</a:t>
            </a:r>
            <a:endParaRPr lang="en-US" sz="1350" dirty="0"/>
          </a:p>
        </p:txBody>
      </p:sp>
      <p:sp>
        <p:nvSpPr>
          <p:cNvPr id="75" name="Text 58"/>
          <p:cNvSpPr txBox="1"/>
          <p:nvPr/>
        </p:nvSpPr>
        <p:spPr>
          <a:xfrm>
            <a:off x="5333695" y="5029200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0.34</a:t>
            </a:r>
            <a:endParaRPr lang="en-US" sz="1350" dirty="0"/>
          </a:p>
        </p:txBody>
      </p:sp>
      <p:sp>
        <p:nvSpPr>
          <p:cNvPr id="76" name="Text 59"/>
          <p:cNvSpPr txBox="1"/>
          <p:nvPr/>
        </p:nvSpPr>
        <p:spPr>
          <a:xfrm>
            <a:off x="6667805" y="5029200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1.01</a:t>
            </a:r>
            <a:endParaRPr lang="en-US" sz="1350" dirty="0"/>
          </a:p>
        </p:txBody>
      </p:sp>
      <p:sp>
        <p:nvSpPr>
          <p:cNvPr id="77" name="Text 60"/>
          <p:cNvSpPr txBox="1"/>
          <p:nvPr/>
        </p:nvSpPr>
        <p:spPr>
          <a:xfrm>
            <a:off x="8001000" y="4990795"/>
            <a:ext cx="15243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536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-0.10</a:t>
            </a:r>
            <a:endParaRPr lang="en-US" sz="1350" dirty="0"/>
          </a:p>
        </p:txBody>
      </p:sp>
      <p:sp>
        <p:nvSpPr>
          <p:cNvPr id="78" name="Text 61"/>
          <p:cNvSpPr txBox="1"/>
          <p:nvPr/>
        </p:nvSpPr>
        <p:spPr>
          <a:xfrm>
            <a:off x="9525305" y="5029200"/>
            <a:ext cx="1143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980</a:t>
            </a:r>
            <a:endParaRPr lang="en-US" sz="1200" dirty="0"/>
          </a:p>
        </p:txBody>
      </p:sp>
      <p:sp>
        <p:nvSpPr>
          <p:cNvPr id="79" name="Text 62"/>
          <p:cNvSpPr txBox="1"/>
          <p:nvPr/>
        </p:nvSpPr>
        <p:spPr>
          <a:xfrm>
            <a:off x="914400" y="5505602"/>
            <a:ext cx="15243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F53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W03 Ru</a:t>
            </a:r>
            <a:endParaRPr lang="en-US" sz="1350" dirty="0"/>
          </a:p>
        </p:txBody>
      </p:sp>
      <p:sp>
        <p:nvSpPr>
          <p:cNvPr id="80" name="Text 63"/>
          <p:cNvSpPr txBox="1"/>
          <p:nvPr/>
        </p:nvSpPr>
        <p:spPr>
          <a:xfrm>
            <a:off x="2667305" y="5544007"/>
            <a:ext cx="1143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M2</a:t>
            </a:r>
            <a:endParaRPr lang="en-US" sz="1200" dirty="0"/>
          </a:p>
        </p:txBody>
      </p:sp>
      <p:sp>
        <p:nvSpPr>
          <p:cNvPr id="81" name="Text 64"/>
          <p:cNvSpPr txBox="1"/>
          <p:nvPr/>
        </p:nvSpPr>
        <p:spPr>
          <a:xfrm>
            <a:off x="4000500" y="5505602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16.20</a:t>
            </a:r>
            <a:endParaRPr lang="en-US" sz="1350" dirty="0"/>
          </a:p>
        </p:txBody>
      </p:sp>
      <p:sp>
        <p:nvSpPr>
          <p:cNvPr id="82" name="Text 65"/>
          <p:cNvSpPr txBox="1"/>
          <p:nvPr/>
        </p:nvSpPr>
        <p:spPr>
          <a:xfrm>
            <a:off x="5333695" y="5505602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0.32</a:t>
            </a:r>
            <a:endParaRPr lang="en-US" sz="1350" dirty="0"/>
          </a:p>
        </p:txBody>
      </p:sp>
      <p:sp>
        <p:nvSpPr>
          <p:cNvPr id="83" name="Text 66"/>
          <p:cNvSpPr txBox="1"/>
          <p:nvPr/>
        </p:nvSpPr>
        <p:spPr>
          <a:xfrm>
            <a:off x="6667805" y="5505602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0.97</a:t>
            </a:r>
            <a:endParaRPr lang="en-US" sz="1350" dirty="0"/>
          </a:p>
        </p:txBody>
      </p:sp>
      <p:sp>
        <p:nvSpPr>
          <p:cNvPr id="84" name="Text 67"/>
          <p:cNvSpPr txBox="1"/>
          <p:nvPr/>
        </p:nvSpPr>
        <p:spPr>
          <a:xfrm>
            <a:off x="8001000" y="5467198"/>
            <a:ext cx="15243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536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-0.20</a:t>
            </a:r>
            <a:endParaRPr lang="en-US" sz="1350" dirty="0"/>
          </a:p>
        </p:txBody>
      </p:sp>
      <p:sp>
        <p:nvSpPr>
          <p:cNvPr id="85" name="Text 68"/>
          <p:cNvSpPr txBox="1"/>
          <p:nvPr/>
        </p:nvSpPr>
        <p:spPr>
          <a:xfrm>
            <a:off x="9525305" y="5505602"/>
            <a:ext cx="1143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980</a:t>
            </a:r>
            <a:endParaRPr lang="en-US" sz="1200" dirty="0"/>
          </a:p>
        </p:txBody>
      </p:sp>
      <p:sp>
        <p:nvSpPr>
          <p:cNvPr id="86" name="Text 69"/>
          <p:cNvSpPr txBox="1"/>
          <p:nvPr/>
        </p:nvSpPr>
        <p:spPr>
          <a:xfrm>
            <a:off x="914400" y="5982005"/>
            <a:ext cx="15243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D6A4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W04 hybrid</a:t>
            </a:r>
            <a:endParaRPr lang="en-US" sz="1350" dirty="0"/>
          </a:p>
        </p:txBody>
      </p:sp>
      <p:sp>
        <p:nvSpPr>
          <p:cNvPr id="87" name="Text 70"/>
          <p:cNvSpPr txBox="1"/>
          <p:nvPr/>
        </p:nvSpPr>
        <p:spPr>
          <a:xfrm>
            <a:off x="2667305" y="6019495"/>
            <a:ext cx="1143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V1</a:t>
            </a:r>
            <a:endParaRPr lang="en-US" sz="1200" dirty="0"/>
          </a:p>
        </p:txBody>
      </p:sp>
      <p:sp>
        <p:nvSpPr>
          <p:cNvPr id="88" name="Text 71"/>
          <p:cNvSpPr txBox="1"/>
          <p:nvPr/>
        </p:nvSpPr>
        <p:spPr>
          <a:xfrm>
            <a:off x="4000500" y="5982005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16.40</a:t>
            </a:r>
            <a:endParaRPr lang="en-US" sz="1350" dirty="0"/>
          </a:p>
        </p:txBody>
      </p:sp>
      <p:sp>
        <p:nvSpPr>
          <p:cNvPr id="89" name="Text 72"/>
          <p:cNvSpPr txBox="1"/>
          <p:nvPr/>
        </p:nvSpPr>
        <p:spPr>
          <a:xfrm>
            <a:off x="5333695" y="5982005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0.37</a:t>
            </a:r>
            <a:endParaRPr lang="en-US" sz="1350" dirty="0"/>
          </a:p>
        </p:txBody>
      </p:sp>
      <p:sp>
        <p:nvSpPr>
          <p:cNvPr id="90" name="Text 73"/>
          <p:cNvSpPr txBox="1"/>
          <p:nvPr/>
        </p:nvSpPr>
        <p:spPr>
          <a:xfrm>
            <a:off x="6667805" y="5982005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1.06</a:t>
            </a:r>
            <a:endParaRPr lang="en-US" sz="1350" dirty="0"/>
          </a:p>
        </p:txBody>
      </p:sp>
      <p:sp>
        <p:nvSpPr>
          <p:cNvPr id="91" name="Text 74"/>
          <p:cNvSpPr txBox="1"/>
          <p:nvPr/>
        </p:nvSpPr>
        <p:spPr>
          <a:xfrm>
            <a:off x="8001000" y="5943600"/>
            <a:ext cx="15243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0.00</a:t>
            </a:r>
            <a:endParaRPr lang="en-US" sz="1350" dirty="0"/>
          </a:p>
        </p:txBody>
      </p:sp>
      <p:sp>
        <p:nvSpPr>
          <p:cNvPr id="92" name="Text 75"/>
          <p:cNvSpPr txBox="1"/>
          <p:nvPr/>
        </p:nvSpPr>
        <p:spPr>
          <a:xfrm>
            <a:off x="9525305" y="5982005"/>
            <a:ext cx="1143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980</a:t>
            </a:r>
            <a:endParaRPr lang="en-US" sz="1200" dirty="0"/>
          </a:p>
        </p:txBody>
      </p:sp>
      <p:sp>
        <p:nvSpPr>
          <p:cNvPr id="93" name="Text 76"/>
          <p:cNvSpPr txBox="1"/>
          <p:nvPr/>
        </p:nvSpPr>
        <p:spPr>
          <a:xfrm>
            <a:off x="914400" y="6458407"/>
            <a:ext cx="15243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D6A4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W04 hybrid</a:t>
            </a:r>
            <a:endParaRPr lang="en-US" sz="1350" dirty="0"/>
          </a:p>
        </p:txBody>
      </p:sp>
      <p:sp>
        <p:nvSpPr>
          <p:cNvPr id="94" name="Text 77"/>
          <p:cNvSpPr txBox="1"/>
          <p:nvPr/>
        </p:nvSpPr>
        <p:spPr>
          <a:xfrm>
            <a:off x="2667305" y="6495898"/>
            <a:ext cx="1143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M2</a:t>
            </a:r>
            <a:endParaRPr lang="en-US" sz="1200" dirty="0"/>
          </a:p>
        </p:txBody>
      </p:sp>
      <p:sp>
        <p:nvSpPr>
          <p:cNvPr id="95" name="Text 78"/>
          <p:cNvSpPr txBox="1"/>
          <p:nvPr/>
        </p:nvSpPr>
        <p:spPr>
          <a:xfrm>
            <a:off x="4000500" y="6458407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16.40</a:t>
            </a:r>
            <a:endParaRPr lang="en-US" sz="1350" dirty="0"/>
          </a:p>
        </p:txBody>
      </p:sp>
      <p:sp>
        <p:nvSpPr>
          <p:cNvPr id="96" name="Text 79"/>
          <p:cNvSpPr txBox="1"/>
          <p:nvPr/>
        </p:nvSpPr>
        <p:spPr>
          <a:xfrm>
            <a:off x="5333695" y="6458407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0.35</a:t>
            </a:r>
            <a:endParaRPr lang="en-US" sz="1350" dirty="0"/>
          </a:p>
        </p:txBody>
      </p:sp>
      <p:sp>
        <p:nvSpPr>
          <p:cNvPr id="97" name="Text 80"/>
          <p:cNvSpPr txBox="1"/>
          <p:nvPr/>
        </p:nvSpPr>
        <p:spPr>
          <a:xfrm>
            <a:off x="6667805" y="6458407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1.03</a:t>
            </a:r>
            <a:endParaRPr lang="en-US" sz="1350" dirty="0"/>
          </a:p>
        </p:txBody>
      </p:sp>
      <p:sp>
        <p:nvSpPr>
          <p:cNvPr id="98" name="Text 81"/>
          <p:cNvSpPr txBox="1"/>
          <p:nvPr/>
        </p:nvSpPr>
        <p:spPr>
          <a:xfrm>
            <a:off x="8001000" y="6420002"/>
            <a:ext cx="15243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0.00</a:t>
            </a:r>
            <a:endParaRPr lang="en-US" sz="1350" dirty="0"/>
          </a:p>
        </p:txBody>
      </p:sp>
      <p:sp>
        <p:nvSpPr>
          <p:cNvPr id="99" name="Text 82"/>
          <p:cNvSpPr txBox="1"/>
          <p:nvPr/>
        </p:nvSpPr>
        <p:spPr>
          <a:xfrm>
            <a:off x="9525305" y="6458407"/>
            <a:ext cx="1143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980</a:t>
            </a:r>
            <a:endParaRPr lang="en-US" sz="1200" dirty="0"/>
          </a:p>
        </p:txBody>
      </p:sp>
      <p:sp>
        <p:nvSpPr>
          <p:cNvPr id="100" name="Text 83"/>
          <p:cNvSpPr txBox="1"/>
          <p:nvPr/>
        </p:nvSpPr>
        <p:spPr>
          <a:xfrm>
            <a:off x="914400" y="7962595"/>
            <a:ext cx="9906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E1F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read 정의 / split 차이 비교</a:t>
            </a:r>
            <a:endParaRPr lang="en-US" sz="1350" dirty="0"/>
          </a:p>
        </p:txBody>
      </p:sp>
      <p:sp>
        <p:nvSpPr>
          <p:cNvPr id="101" name="Text 84"/>
          <p:cNvSpPr txBox="1"/>
          <p:nvPr/>
        </p:nvSpPr>
        <p:spPr>
          <a:xfrm>
            <a:off x="914400" y="8268005"/>
            <a:ext cx="990661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ASEI는 SiOCN low-k spacer etch 후 via dimple 직전 read. post spacer 단계에서 spacer 두께의 over-etch 영향이 W01보다 BLV에서 더 큼. dummy 평가 한계로 양산 적합성 reference만 제공.</a:t>
            </a:r>
            <a:endParaRPr lang="en-US" sz="975" dirty="0"/>
          </a:p>
        </p:txBody>
      </p:sp>
      <p:sp>
        <p:nvSpPr>
          <p:cNvPr id="102" name="Text 85"/>
          <p:cNvSpPr txBox="1"/>
          <p:nvPr/>
        </p:nvSpPr>
        <p:spPr>
          <a:xfrm>
            <a:off x="11582705" y="2361895"/>
            <a:ext cx="5715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spc="168" kern="0" dirty="0">
                <a:solidFill>
                  <a:srgbClr val="B858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4-split 비교 · Δ vs target</a:t>
            </a:r>
            <a:endParaRPr lang="en-US" sz="1050" dirty="0"/>
          </a:p>
        </p:txBody>
      </p:sp>
      <p:sp>
        <p:nvSpPr>
          <p:cNvPr id="103" name="Text 86"/>
          <p:cNvSpPr txBox="1"/>
          <p:nvPr/>
        </p:nvSpPr>
        <p:spPr>
          <a:xfrm>
            <a:off x="11734495" y="2933395"/>
            <a:ext cx="1905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54616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W01 REF</a:t>
            </a:r>
            <a:endParaRPr lang="en-US" sz="975" dirty="0"/>
          </a:p>
        </p:txBody>
      </p:sp>
      <p:sp>
        <p:nvSpPr>
          <p:cNvPr id="104" name="Text 87"/>
          <p:cNvSpPr txBox="1"/>
          <p:nvPr/>
        </p:nvSpPr>
        <p:spPr>
          <a:xfrm>
            <a:off x="11734495" y="3152851"/>
            <a:ext cx="19056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+0.05</a:t>
            </a:r>
            <a:endParaRPr lang="en-US" sz="1800" dirty="0"/>
          </a:p>
        </p:txBody>
      </p:sp>
      <p:sp>
        <p:nvSpPr>
          <p:cNvPr id="105" name="Text 88"/>
          <p:cNvSpPr txBox="1"/>
          <p:nvPr/>
        </p:nvSpPr>
        <p:spPr>
          <a:xfrm>
            <a:off x="11734495" y="3457346"/>
            <a:ext cx="19056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avg V1+M2 · tol.</a:t>
            </a:r>
            <a:endParaRPr lang="en-US" sz="975" dirty="0"/>
          </a:p>
        </p:txBody>
      </p:sp>
      <p:sp>
        <p:nvSpPr>
          <p:cNvPr id="106" name="Text 89"/>
          <p:cNvSpPr txBox="1"/>
          <p:nvPr/>
        </p:nvSpPr>
        <p:spPr>
          <a:xfrm>
            <a:off x="14706295" y="2933395"/>
            <a:ext cx="1905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B858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W02 Co</a:t>
            </a:r>
            <a:endParaRPr lang="en-US" sz="975" dirty="0"/>
          </a:p>
        </p:txBody>
      </p:sp>
      <p:sp>
        <p:nvSpPr>
          <p:cNvPr id="107" name="Text 90"/>
          <p:cNvSpPr txBox="1"/>
          <p:nvPr/>
        </p:nvSpPr>
        <p:spPr>
          <a:xfrm>
            <a:off x="14706295" y="3152851"/>
            <a:ext cx="19056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858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+0.10</a:t>
            </a:r>
            <a:endParaRPr lang="en-US" sz="1800" dirty="0"/>
          </a:p>
        </p:txBody>
      </p:sp>
      <p:sp>
        <p:nvSpPr>
          <p:cNvPr id="108" name="Text 91"/>
          <p:cNvSpPr txBox="1"/>
          <p:nvPr/>
        </p:nvSpPr>
        <p:spPr>
          <a:xfrm>
            <a:off x="14706295" y="3457346"/>
            <a:ext cx="19056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avg V1+M2 · ±tol.</a:t>
            </a:r>
            <a:endParaRPr lang="en-US" sz="975" dirty="0"/>
          </a:p>
        </p:txBody>
      </p:sp>
      <p:sp>
        <p:nvSpPr>
          <p:cNvPr id="109" name="Text 92"/>
          <p:cNvSpPr txBox="1"/>
          <p:nvPr/>
        </p:nvSpPr>
        <p:spPr>
          <a:xfrm>
            <a:off x="11734495" y="4076395"/>
            <a:ext cx="1905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1F536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W03 Ru</a:t>
            </a:r>
            <a:endParaRPr lang="en-US" sz="975" dirty="0"/>
          </a:p>
        </p:txBody>
      </p:sp>
      <p:sp>
        <p:nvSpPr>
          <p:cNvPr id="110" name="Text 93"/>
          <p:cNvSpPr txBox="1"/>
          <p:nvPr/>
        </p:nvSpPr>
        <p:spPr>
          <a:xfrm>
            <a:off x="11734495" y="4295851"/>
            <a:ext cx="19056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536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-0.15</a:t>
            </a:r>
            <a:endParaRPr lang="en-US" sz="1800" dirty="0"/>
          </a:p>
        </p:txBody>
      </p:sp>
      <p:sp>
        <p:nvSpPr>
          <p:cNvPr id="111" name="Text 94"/>
          <p:cNvSpPr txBox="1"/>
          <p:nvPr/>
        </p:nvSpPr>
        <p:spPr>
          <a:xfrm>
            <a:off x="11734495" y="4600346"/>
            <a:ext cx="19056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F53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tighter · 3σ 0.33</a:t>
            </a:r>
            <a:endParaRPr lang="en-US" sz="975" dirty="0"/>
          </a:p>
        </p:txBody>
      </p:sp>
      <p:sp>
        <p:nvSpPr>
          <p:cNvPr id="112" name="Text 95"/>
          <p:cNvSpPr txBox="1"/>
          <p:nvPr/>
        </p:nvSpPr>
        <p:spPr>
          <a:xfrm>
            <a:off x="14706295" y="4076395"/>
            <a:ext cx="1905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2D6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W04 hybrid</a:t>
            </a:r>
            <a:endParaRPr lang="en-US" sz="975" dirty="0"/>
          </a:p>
        </p:txBody>
      </p:sp>
      <p:sp>
        <p:nvSpPr>
          <p:cNvPr id="113" name="Text 96"/>
          <p:cNvSpPr txBox="1"/>
          <p:nvPr/>
        </p:nvSpPr>
        <p:spPr>
          <a:xfrm>
            <a:off x="14706295" y="4295851"/>
            <a:ext cx="19056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D6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0.00</a:t>
            </a:r>
            <a:endParaRPr lang="en-US" sz="1800" dirty="0"/>
          </a:p>
        </p:txBody>
      </p:sp>
      <p:sp>
        <p:nvSpPr>
          <p:cNvPr id="114" name="Text 97"/>
          <p:cNvSpPr txBox="1"/>
          <p:nvPr/>
        </p:nvSpPr>
        <p:spPr>
          <a:xfrm>
            <a:off x="14706295" y="4600346"/>
            <a:ext cx="19056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avg V1+M2 · on target</a:t>
            </a:r>
            <a:endParaRPr lang="en-US" sz="975" dirty="0"/>
          </a:p>
        </p:txBody>
      </p:sp>
      <p:sp>
        <p:nvSpPr>
          <p:cNvPr id="115" name="Text 98"/>
          <p:cNvSpPr txBox="1"/>
          <p:nvPr/>
        </p:nvSpPr>
        <p:spPr>
          <a:xfrm>
            <a:off x="11582705" y="5410505"/>
            <a:ext cx="5715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E1F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Δ 극단값 / 유일 Δ≥+0.20 row</a:t>
            </a:r>
            <a:endParaRPr lang="en-US" sz="1050" dirty="0"/>
          </a:p>
        </p:txBody>
      </p:sp>
      <p:sp>
        <p:nvSpPr>
          <p:cNvPr id="116" name="Text 99"/>
          <p:cNvSpPr txBox="1"/>
          <p:nvPr/>
        </p:nvSpPr>
        <p:spPr>
          <a:xfrm>
            <a:off x="11582705" y="5790895"/>
            <a:ext cx="28200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A62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max Δ positive</a:t>
            </a:r>
            <a:endParaRPr lang="en-US" sz="1050" dirty="0"/>
          </a:p>
        </p:txBody>
      </p:sp>
      <p:sp>
        <p:nvSpPr>
          <p:cNvPr id="117" name="Text 100"/>
          <p:cNvSpPr txBox="1"/>
          <p:nvPr/>
        </p:nvSpPr>
        <p:spPr>
          <a:xfrm>
            <a:off x="11582705" y="6001207"/>
            <a:ext cx="28200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B858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+0.20</a:t>
            </a:r>
            <a:endParaRPr lang="en-US" sz="2250" dirty="0"/>
          </a:p>
        </p:txBody>
      </p:sp>
      <p:sp>
        <p:nvSpPr>
          <p:cNvPr id="118" name="Text 101"/>
          <p:cNvSpPr txBox="1"/>
          <p:nvPr/>
        </p:nvSpPr>
        <p:spPr>
          <a:xfrm>
            <a:off x="11582705" y="6458407"/>
            <a:ext cx="28200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W02 V1 only · 960 site</a:t>
            </a:r>
            <a:endParaRPr lang="en-US" sz="975" dirty="0"/>
          </a:p>
        </p:txBody>
      </p:sp>
      <p:sp>
        <p:nvSpPr>
          <p:cNvPr id="119" name="Text 102"/>
          <p:cNvSpPr txBox="1"/>
          <p:nvPr/>
        </p:nvSpPr>
        <p:spPr>
          <a:xfrm>
            <a:off x="14554505" y="5790895"/>
            <a:ext cx="28200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A62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max Δ negative</a:t>
            </a:r>
            <a:endParaRPr lang="en-US" sz="1050" dirty="0"/>
          </a:p>
        </p:txBody>
      </p:sp>
      <p:sp>
        <p:nvSpPr>
          <p:cNvPr id="120" name="Text 103"/>
          <p:cNvSpPr txBox="1"/>
          <p:nvPr/>
        </p:nvSpPr>
        <p:spPr>
          <a:xfrm>
            <a:off x="14554505" y="6001207"/>
            <a:ext cx="28200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F53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-0.20</a:t>
            </a:r>
            <a:endParaRPr lang="en-US" sz="2250" dirty="0"/>
          </a:p>
        </p:txBody>
      </p:sp>
      <p:sp>
        <p:nvSpPr>
          <p:cNvPr id="121" name="Text 104"/>
          <p:cNvSpPr txBox="1"/>
          <p:nvPr/>
        </p:nvSpPr>
        <p:spPr>
          <a:xfrm>
            <a:off x="14554505" y="6458407"/>
            <a:ext cx="28200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W03 M2 only · 980 site</a:t>
            </a:r>
            <a:endParaRPr lang="en-US" sz="975" dirty="0"/>
          </a:p>
        </p:txBody>
      </p:sp>
      <p:sp>
        <p:nvSpPr>
          <p:cNvPr id="122" name="Text 105"/>
          <p:cNvSpPr txBox="1"/>
          <p:nvPr/>
        </p:nvSpPr>
        <p:spPr>
          <a:xfrm>
            <a:off x="11582705" y="6590995"/>
            <a:ext cx="579181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ASEI 단계 Δ 분포는 모든 split에서 ±0.30 이내로 비교적 안정. 단, W02 V1에서 +0.20, W03 M2에서 -0.20 1건씩 발생.</a:t>
            </a:r>
            <a:endParaRPr lang="en-US" sz="975" dirty="0"/>
          </a:p>
        </p:txBody>
      </p:sp>
      <p:sp>
        <p:nvSpPr>
          <p:cNvPr id="123" name="Text 106"/>
          <p:cNvSpPr txBox="1"/>
          <p:nvPr/>
        </p:nvSpPr>
        <p:spPr>
          <a:xfrm>
            <a:off x="11582705" y="7563002"/>
            <a:ext cx="57918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B858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PROTOCOL</a:t>
            </a:r>
            <a:endParaRPr lang="en-US" sz="975" dirty="0"/>
          </a:p>
        </p:txBody>
      </p:sp>
      <p:sp>
        <p:nvSpPr>
          <p:cNvPr id="124" name="Text 107"/>
          <p:cNvSpPr txBox="1"/>
          <p:nvPr/>
        </p:nvSpPr>
        <p:spPr>
          <a:xfrm>
            <a:off x="11582705" y="7781544"/>
            <a:ext cx="57918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read at 4 corner + center 5 site / die· 5 die / wafer</a:t>
            </a:r>
            <a:endParaRPr lang="en-US" sz="1050" dirty="0"/>
          </a:p>
        </p:txBody>
      </p:sp>
      <p:sp>
        <p:nvSpPr>
          <p:cNvPr id="125" name="Text 108"/>
          <p:cNvSpPr txBox="1"/>
          <p:nvPr/>
        </p:nvSpPr>
        <p:spPr>
          <a:xfrm>
            <a:off x="11582705" y="8010144"/>
            <a:ext cx="57918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49 site summary → wafer 평균·read selective bright/dark mode</a:t>
            </a:r>
            <a:endParaRPr lang="en-US" sz="1050" dirty="0"/>
          </a:p>
        </p:txBody>
      </p:sp>
      <p:sp>
        <p:nvSpPr>
          <p:cNvPr id="126" name="Text 109"/>
          <p:cNvSpPr txBox="1"/>
          <p:nvPr/>
        </p:nvSpPr>
        <p:spPr>
          <a:xfrm>
            <a:off x="990295" y="9087307"/>
            <a:ext cx="1905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spc="176" kern="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TAKEAWAY</a:t>
            </a:r>
            <a:endParaRPr lang="en-US" sz="975" dirty="0"/>
          </a:p>
        </p:txBody>
      </p:sp>
      <p:sp>
        <p:nvSpPr>
          <p:cNvPr id="127" name="Text 110"/>
          <p:cNvSpPr txBox="1"/>
          <p:nvPr/>
        </p:nvSpPr>
        <p:spPr>
          <a:xfrm>
            <a:off x="2361895" y="9048902"/>
            <a:ext cx="1505011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ASEI 단계 모든 wafer Δ가 ±0.30 이내 — </a:t>
            </a:r>
            <a:pPr algn="l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W04 hybrid가 avg 0.00 nm·3σ 0.36</a:t>
            </a:r>
            <a:pPr algn="l" indent="0" marL="0">
              <a:buNone/>
            </a:pPr>
            <a:r>
              <a:rPr lang="en-US" sz="127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으로 split 중 가장 on-target. W02 Co는 V1 layer에서 +0.20 ± BLV 부근 미세 차이.</a:t>
            </a:r>
            <a:endParaRPr lang="en-US" sz="1275" dirty="0"/>
          </a:p>
        </p:txBody>
      </p:sp>
      <p:sp>
        <p:nvSpPr>
          <p:cNvPr id="128" name="Text 111"/>
          <p:cNvSpPr txBox="1"/>
          <p:nvPr/>
        </p:nvSpPr>
        <p:spPr>
          <a:xfrm>
            <a:off x="761695" y="9849002"/>
            <a:ext cx="72393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5A62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EV-BEOL-BLV-018 · ASEI target 16.4 nm · unit nm</a:t>
            </a:r>
            <a:endParaRPr lang="en-US" sz="975" dirty="0"/>
          </a:p>
        </p:txBody>
      </p:sp>
      <p:sp>
        <p:nvSpPr>
          <p:cNvPr id="129" name="Text 112"/>
          <p:cNvSpPr txBox="1"/>
          <p:nvPr/>
        </p:nvSpPr>
        <p:spPr>
          <a:xfrm>
            <a:off x="8001000" y="9849002"/>
            <a:ext cx="952530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※ 내부 테스트용 더미(가상) 데이터 · 06 / 12</a:t>
            </a:r>
            <a:endParaRPr lang="en-US" sz="9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DF0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4b8b176d1054448e556d5d1f414aa96f.png">    </p:cNvPr>
          <p:cNvPicPr>
            <a:picLocks noChangeAspect="1"/>
          </p:cNvPicPr>
          <p:nvPr/>
        </p:nvPicPr>
        <p:blipFill>
          <a:blip r:embed="rId1"/>
          <a:srcRect l="0" r="0" t="-400" b="-400"/>
          <a:stretch/>
        </p:blipFill>
        <p:spPr>
          <a:xfrm>
            <a:off x="0" y="0"/>
            <a:ext cx="18288000" cy="57607"/>
          </a:xfrm>
          <a:prstGeom prst="rect">
            <a:avLst/>
          </a:prstGeom>
        </p:spPr>
      </p:pic>
      <p:pic>
        <p:nvPicPr>
          <p:cNvPr id="4" name="Image 1" descr="gen-dedup-6ef2f382d46d5f775cbbac1e044faac9.png">    </p:cNvPr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761695" y="1638605"/>
            <a:ext cx="16763695" cy="9144"/>
          </a:xfrm>
          <a:prstGeom prst="rect">
            <a:avLst/>
          </a:prstGeom>
        </p:spPr>
      </p:pic>
      <p:pic>
        <p:nvPicPr>
          <p:cNvPr id="5" name="Image 2" descr="gen-dedup-aa69f2ffb39561dc63b4624e054af223.png">    </p:cNvPr>
          <p:cNvPicPr>
            <a:picLocks noChangeAspect="1"/>
          </p:cNvPicPr>
          <p:nvPr/>
        </p:nvPicPr>
        <p:blipFill>
          <a:blip r:embed="rId3"/>
          <a:srcRect l="-424" r="-424" t="0" b="0"/>
          <a:stretch/>
        </p:blipFill>
        <p:spPr>
          <a:xfrm>
            <a:off x="761695" y="1790395"/>
            <a:ext cx="57607" cy="323698"/>
          </a:xfrm>
          <a:prstGeom prst="rect">
            <a:avLst/>
          </a:prstGeom>
        </p:spPr>
      </p:pic>
      <p:sp>
        <p:nvSpPr>
          <p:cNvPr id="6" name="Shape 0"/>
          <p:cNvSpPr/>
          <p:nvPr/>
        </p:nvSpPr>
        <p:spPr>
          <a:xfrm>
            <a:off x="761695" y="2286000"/>
            <a:ext cx="10287000" cy="342900"/>
          </a:xfrm>
          <a:prstGeom prst="rect">
            <a:avLst/>
          </a:prstGeom>
          <a:solidFill>
            <a:srgbClr val="0E1F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1"/>
          <p:cNvSpPr/>
          <p:nvPr/>
        </p:nvSpPr>
        <p:spPr>
          <a:xfrm>
            <a:off x="761695" y="2743200"/>
            <a:ext cx="10287000" cy="571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2"/>
          <p:cNvSpPr/>
          <p:nvPr/>
        </p:nvSpPr>
        <p:spPr>
          <a:xfrm>
            <a:off x="11430000" y="2286000"/>
            <a:ext cx="6096305" cy="304769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3"/>
          <p:cNvSpPr/>
          <p:nvPr/>
        </p:nvSpPr>
        <p:spPr>
          <a:xfrm>
            <a:off x="11772900" y="2800807"/>
            <a:ext cx="5715000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4"/>
          <p:cNvSpPr/>
          <p:nvPr/>
        </p:nvSpPr>
        <p:spPr>
          <a:xfrm>
            <a:off x="11430000" y="5524805"/>
            <a:ext cx="6096305" cy="293339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5"/>
          <p:cNvSpPr/>
          <p:nvPr/>
        </p:nvSpPr>
        <p:spPr>
          <a:xfrm>
            <a:off x="761695" y="9010498"/>
            <a:ext cx="16763695" cy="400507"/>
          </a:xfrm>
          <a:prstGeom prst="rect">
            <a:avLst/>
          </a:prstGeom>
          <a:solidFill>
            <a:srgbClr val="0E1F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3" descr="gen-dedup-6ef2f382d46d5f775cbbac1e044faac9.png">    </p:cNvPr>
          <p:cNvPicPr>
            <a:picLocks noChangeAspect="1"/>
          </p:cNvPicPr>
          <p:nvPr/>
        </p:nvPicPr>
        <p:blipFill>
          <a:blip r:embed="rId4"/>
          <a:srcRect l="-2083" r="-2083" t="0" b="0"/>
          <a:stretch/>
        </p:blipFill>
        <p:spPr>
          <a:xfrm>
            <a:off x="761695" y="9715500"/>
            <a:ext cx="16763695" cy="9144"/>
          </a:xfrm>
          <a:prstGeom prst="rect">
            <a:avLst/>
          </a:prstGeom>
        </p:spPr>
      </p:pic>
      <p:sp>
        <p:nvSpPr>
          <p:cNvPr id="13" name="Shape 6"/>
          <p:cNvSpPr/>
          <p:nvPr/>
        </p:nvSpPr>
        <p:spPr>
          <a:xfrm>
            <a:off x="761695" y="2743200"/>
            <a:ext cx="10287000" cy="342900"/>
          </a:xfrm>
          <a:prstGeom prst="rect">
            <a:avLst/>
          </a:prstGeom>
          <a:solidFill>
            <a:srgbClr val="F4F6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4" name="Image 4" descr="gen-dedup-73ae536225137491d770b9b5c47d863e.png">    </p:cNvPr>
          <p:cNvPicPr>
            <a:picLocks noChangeAspect="1"/>
          </p:cNvPicPr>
          <p:nvPr/>
        </p:nvPicPr>
        <p:blipFill>
          <a:blip r:embed="rId5"/>
          <a:srcRect l="-2083" r="-2083" t="0" b="0"/>
          <a:stretch/>
        </p:blipFill>
        <p:spPr>
          <a:xfrm>
            <a:off x="761695" y="4000500"/>
            <a:ext cx="10287000" cy="9144"/>
          </a:xfrm>
          <a:prstGeom prst="rect">
            <a:avLst/>
          </a:prstGeom>
        </p:spPr>
      </p:pic>
      <p:pic>
        <p:nvPicPr>
          <p:cNvPr id="15" name="Image 5" descr="gen-dedup-73ae536225137491d770b9b5c47d863e.png">    </p:cNvPr>
          <p:cNvPicPr>
            <a:picLocks noChangeAspect="1"/>
          </p:cNvPicPr>
          <p:nvPr/>
        </p:nvPicPr>
        <p:blipFill>
          <a:blip r:embed="rId6"/>
          <a:srcRect l="-2083" r="-2083" t="0" b="0"/>
          <a:stretch/>
        </p:blipFill>
        <p:spPr>
          <a:xfrm>
            <a:off x="761695" y="4496105"/>
            <a:ext cx="10287000" cy="9144"/>
          </a:xfrm>
          <a:prstGeom prst="rect">
            <a:avLst/>
          </a:prstGeom>
        </p:spPr>
      </p:pic>
      <p:pic>
        <p:nvPicPr>
          <p:cNvPr id="16" name="Image 6" descr="gen-dedup-73ae536225137491d770b9b5c47d863e.png">    </p:cNvPr>
          <p:cNvPicPr>
            <a:picLocks noChangeAspect="1"/>
          </p:cNvPicPr>
          <p:nvPr/>
        </p:nvPicPr>
        <p:blipFill>
          <a:blip r:embed="rId7"/>
          <a:srcRect l="-2083" r="-2083" t="0" b="0"/>
          <a:stretch/>
        </p:blipFill>
        <p:spPr>
          <a:xfrm>
            <a:off x="761695" y="4990795"/>
            <a:ext cx="10287000" cy="9144"/>
          </a:xfrm>
          <a:prstGeom prst="rect">
            <a:avLst/>
          </a:prstGeom>
        </p:spPr>
      </p:pic>
      <p:pic>
        <p:nvPicPr>
          <p:cNvPr id="17" name="Image 7" descr="gen-dedup-73ae536225137491d770b9b5c47d863e.png">    </p:cNvPr>
          <p:cNvPicPr>
            <a:picLocks noChangeAspect="1"/>
          </p:cNvPicPr>
          <p:nvPr/>
        </p:nvPicPr>
        <p:blipFill>
          <a:blip r:embed="rId8"/>
          <a:srcRect l="-2083" r="-2083" t="0" b="0"/>
          <a:stretch/>
        </p:blipFill>
        <p:spPr>
          <a:xfrm>
            <a:off x="761695" y="5486400"/>
            <a:ext cx="10287000" cy="9144"/>
          </a:xfrm>
          <a:prstGeom prst="rect">
            <a:avLst/>
          </a:prstGeom>
        </p:spPr>
      </p:pic>
      <p:pic>
        <p:nvPicPr>
          <p:cNvPr id="18" name="Image 8" descr="gen-dedup-73ae536225137491d770b9b5c47d863e.png">    </p:cNvPr>
          <p:cNvPicPr>
            <a:picLocks noChangeAspect="1"/>
          </p:cNvPicPr>
          <p:nvPr/>
        </p:nvPicPr>
        <p:blipFill>
          <a:blip r:embed="rId9"/>
          <a:srcRect l="-2083" r="-2083" t="0" b="0"/>
          <a:stretch/>
        </p:blipFill>
        <p:spPr>
          <a:xfrm>
            <a:off x="761695" y="5982005"/>
            <a:ext cx="10287000" cy="9144"/>
          </a:xfrm>
          <a:prstGeom prst="rect">
            <a:avLst/>
          </a:prstGeom>
        </p:spPr>
      </p:pic>
      <p:pic>
        <p:nvPicPr>
          <p:cNvPr id="19" name="Image 9" descr="gen-dedup-73ae536225137491d770b9b5c47d863e.png">    </p:cNvPr>
          <p:cNvPicPr>
            <a:picLocks noChangeAspect="1"/>
          </p:cNvPicPr>
          <p:nvPr/>
        </p:nvPicPr>
        <p:blipFill>
          <a:blip r:embed="rId10"/>
          <a:srcRect l="-2083" r="-2083" t="0" b="0"/>
          <a:stretch/>
        </p:blipFill>
        <p:spPr>
          <a:xfrm>
            <a:off x="761695" y="6476695"/>
            <a:ext cx="10287000" cy="9144"/>
          </a:xfrm>
          <a:prstGeom prst="rect">
            <a:avLst/>
          </a:prstGeom>
        </p:spPr>
      </p:pic>
      <p:pic>
        <p:nvPicPr>
          <p:cNvPr id="20" name="Image 10" descr="gen-dedup-73ae536225137491d770b9b5c47d863e.png">    </p:cNvPr>
          <p:cNvPicPr>
            <a:picLocks noChangeAspect="1"/>
          </p:cNvPicPr>
          <p:nvPr/>
        </p:nvPicPr>
        <p:blipFill>
          <a:blip r:embed="rId11"/>
          <a:srcRect l="-2083" r="-2083" t="0" b="0"/>
          <a:stretch/>
        </p:blipFill>
        <p:spPr>
          <a:xfrm>
            <a:off x="761695" y="6972300"/>
            <a:ext cx="10287000" cy="9144"/>
          </a:xfrm>
          <a:prstGeom prst="rect">
            <a:avLst/>
          </a:prstGeom>
        </p:spPr>
      </p:pic>
      <p:sp>
        <p:nvSpPr>
          <p:cNvPr id="21" name="Shape 7"/>
          <p:cNvSpPr/>
          <p:nvPr/>
        </p:nvSpPr>
        <p:spPr>
          <a:xfrm>
            <a:off x="11430000" y="2286000"/>
            <a:ext cx="6096305" cy="342900"/>
          </a:xfrm>
          <a:prstGeom prst="rect">
            <a:avLst/>
          </a:prstGeom>
          <a:solidFill>
            <a:srgbClr val="0E1F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8"/>
          <p:cNvSpPr/>
          <p:nvPr/>
        </p:nvSpPr>
        <p:spPr>
          <a:xfrm>
            <a:off x="11582705" y="2819095"/>
            <a:ext cx="5790895" cy="2361895"/>
          </a:xfrm>
          <a:prstGeom prst="rect">
            <a:avLst/>
          </a:prstGeom>
          <a:solidFill>
            <a:srgbClr val="F4F6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9"/>
          <p:cNvSpPr/>
          <p:nvPr/>
        </p:nvSpPr>
        <p:spPr>
          <a:xfrm>
            <a:off x="11430000" y="5524805"/>
            <a:ext cx="6096305" cy="342900"/>
          </a:xfrm>
          <a:prstGeom prst="rect">
            <a:avLst/>
          </a:prstGeom>
          <a:solidFill>
            <a:srgbClr val="F4F6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10"/>
          <p:cNvSpPr/>
          <p:nvPr/>
        </p:nvSpPr>
        <p:spPr>
          <a:xfrm>
            <a:off x="11582705" y="6057900"/>
            <a:ext cx="1904695" cy="1143000"/>
          </a:xfrm>
          <a:prstGeom prst="rect">
            <a:avLst/>
          </a:prstGeom>
          <a:solidFill>
            <a:srgbClr val="0E1F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11"/>
          <p:cNvSpPr/>
          <p:nvPr/>
        </p:nvSpPr>
        <p:spPr>
          <a:xfrm>
            <a:off x="13640105" y="6057900"/>
            <a:ext cx="1904695" cy="1143000"/>
          </a:xfrm>
          <a:prstGeom prst="rect">
            <a:avLst/>
          </a:prstGeom>
          <a:solidFill>
            <a:srgbClr val="0E1F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12"/>
          <p:cNvSpPr/>
          <p:nvPr/>
        </p:nvSpPr>
        <p:spPr>
          <a:xfrm>
            <a:off x="15697505" y="6057900"/>
            <a:ext cx="1676095" cy="1143000"/>
          </a:xfrm>
          <a:prstGeom prst="rect">
            <a:avLst/>
          </a:prstGeom>
          <a:solidFill>
            <a:srgbClr val="0E1F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7" name="Image 11" descr="gen-dedup-c446308907549a06dea20593753adc8a.png">    </p:cNvPr>
          <p:cNvPicPr>
            <a:picLocks noChangeAspect="1"/>
          </p:cNvPicPr>
          <p:nvPr/>
        </p:nvPicPr>
        <p:blipFill>
          <a:blip r:embed="rId12"/>
          <a:srcRect l="-342" r="-342" t="0" b="0"/>
          <a:stretch/>
        </p:blipFill>
        <p:spPr>
          <a:xfrm>
            <a:off x="761695" y="9010498"/>
            <a:ext cx="57607" cy="400507"/>
          </a:xfrm>
          <a:prstGeom prst="rect">
            <a:avLst/>
          </a:prstGeom>
        </p:spPr>
      </p:pic>
      <p:pic>
        <p:nvPicPr>
          <p:cNvPr id="28" name="Image 12" descr="gen-dedup-41f4c5e58835cec39e74629b75937fd1.png">    </p:cNvPr>
          <p:cNvPicPr>
            <a:picLocks noChangeAspect="1"/>
          </p:cNvPicPr>
          <p:nvPr/>
        </p:nvPicPr>
        <p:blipFill>
          <a:blip r:embed="rId13"/>
          <a:srcRect l="0" r="0" t="-2078" b="-2078"/>
          <a:stretch/>
        </p:blipFill>
        <p:spPr>
          <a:xfrm>
            <a:off x="12820802" y="2819095"/>
            <a:ext cx="9144" cy="2361895"/>
          </a:xfrm>
          <a:prstGeom prst="rect">
            <a:avLst/>
          </a:prstGeom>
        </p:spPr>
      </p:pic>
      <p:pic>
        <p:nvPicPr>
          <p:cNvPr id="29" name="Image 13" descr="gen-dedup-54bc4f2cc98b71c162f41263d52f4be0.png">    </p:cNvPr>
          <p:cNvPicPr>
            <a:picLocks noChangeAspect="1"/>
          </p:cNvPicPr>
          <p:nvPr/>
        </p:nvPicPr>
        <p:blipFill>
          <a:blip r:embed="rId14"/>
          <a:srcRect l="0" r="0" t="-2078" b="-2078"/>
          <a:stretch/>
        </p:blipFill>
        <p:spPr>
          <a:xfrm>
            <a:off x="12077395" y="2819095"/>
            <a:ext cx="9144" cy="2361895"/>
          </a:xfrm>
          <a:prstGeom prst="rect">
            <a:avLst/>
          </a:prstGeom>
        </p:spPr>
      </p:pic>
      <p:pic>
        <p:nvPicPr>
          <p:cNvPr id="30" name="Image 14" descr="gen-dedup-54bc4f2cc98b71c162f41263d52f4be0.png">    </p:cNvPr>
          <p:cNvPicPr>
            <a:picLocks noChangeAspect="1"/>
          </p:cNvPicPr>
          <p:nvPr/>
        </p:nvPicPr>
        <p:blipFill>
          <a:blip r:embed="rId15"/>
          <a:srcRect l="0" r="0" t="-2078" b="-2078"/>
          <a:stretch/>
        </p:blipFill>
        <p:spPr>
          <a:xfrm>
            <a:off x="13563295" y="2819095"/>
            <a:ext cx="9144" cy="2361895"/>
          </a:xfrm>
          <a:prstGeom prst="rect">
            <a:avLst/>
          </a:prstGeom>
        </p:spPr>
      </p:pic>
      <p:pic>
        <p:nvPicPr>
          <p:cNvPr id="31" name="Image 15" descr="gen-dedup-54bc4f2cc98b71c162f41263d52f4be0.png">    </p:cNvPr>
          <p:cNvPicPr>
            <a:picLocks noChangeAspect="1"/>
          </p:cNvPicPr>
          <p:nvPr/>
        </p:nvPicPr>
        <p:blipFill>
          <a:blip r:embed="rId16"/>
          <a:srcRect l="0" r="0" t="-2078" b="-2078"/>
          <a:stretch/>
        </p:blipFill>
        <p:spPr>
          <a:xfrm>
            <a:off x="14306702" y="2819095"/>
            <a:ext cx="9144" cy="2361895"/>
          </a:xfrm>
          <a:prstGeom prst="rect">
            <a:avLst/>
          </a:prstGeom>
        </p:spPr>
      </p:pic>
      <p:pic>
        <p:nvPicPr>
          <p:cNvPr id="32" name="Image 16" descr="gen-dedup-54bc4f2cc98b71c162f41263d52f4be0.png">    </p:cNvPr>
          <p:cNvPicPr>
            <a:picLocks noChangeAspect="1"/>
          </p:cNvPicPr>
          <p:nvPr/>
        </p:nvPicPr>
        <p:blipFill>
          <a:blip r:embed="rId17"/>
          <a:srcRect l="0" r="0" t="-2078" b="-2078"/>
          <a:stretch/>
        </p:blipFill>
        <p:spPr>
          <a:xfrm>
            <a:off x="15049195" y="2819095"/>
            <a:ext cx="9144" cy="2361895"/>
          </a:xfrm>
          <a:prstGeom prst="rect">
            <a:avLst/>
          </a:prstGeom>
        </p:spPr>
      </p:pic>
      <p:pic>
        <p:nvPicPr>
          <p:cNvPr id="33" name="Image 17" descr="gen-dedup-54bc4f2cc98b71c162f41263d52f4be0.png">    </p:cNvPr>
          <p:cNvPicPr>
            <a:picLocks noChangeAspect="1"/>
          </p:cNvPicPr>
          <p:nvPr/>
        </p:nvPicPr>
        <p:blipFill>
          <a:blip r:embed="rId18"/>
          <a:srcRect l="0" r="0" t="-2078" b="-2078"/>
          <a:stretch/>
        </p:blipFill>
        <p:spPr>
          <a:xfrm>
            <a:off x="15811805" y="2819095"/>
            <a:ext cx="9144" cy="2361895"/>
          </a:xfrm>
          <a:prstGeom prst="rect">
            <a:avLst/>
          </a:prstGeom>
        </p:spPr>
      </p:pic>
      <p:pic>
        <p:nvPicPr>
          <p:cNvPr id="34" name="Image 18" descr="gen-dedup-54bc4f2cc98b71c162f41263d52f4be0.png">    </p:cNvPr>
          <p:cNvPicPr>
            <a:picLocks noChangeAspect="1"/>
          </p:cNvPicPr>
          <p:nvPr/>
        </p:nvPicPr>
        <p:blipFill>
          <a:blip r:embed="rId19"/>
          <a:srcRect l="0" r="0" t="-2078" b="-2078"/>
          <a:stretch/>
        </p:blipFill>
        <p:spPr>
          <a:xfrm>
            <a:off x="16554298" y="2819095"/>
            <a:ext cx="9144" cy="2361895"/>
          </a:xfrm>
          <a:prstGeom prst="rect">
            <a:avLst/>
          </a:prstGeom>
        </p:spPr>
      </p:pic>
      <p:pic>
        <p:nvPicPr>
          <p:cNvPr id="35" name="Image 19" descr="gen-dedup-b380c411abb910b8775a39c3d387b60f.png">    </p:cNvPr>
          <p:cNvPicPr>
            <a:picLocks noChangeAspect="1"/>
          </p:cNvPicPr>
          <p:nvPr/>
        </p:nvPicPr>
        <p:blipFill>
          <a:blip r:embed="rId20"/>
          <a:srcRect l="-2083" r="-2083" t="0" b="0"/>
          <a:stretch/>
        </p:blipFill>
        <p:spPr>
          <a:xfrm>
            <a:off x="12439498" y="3086100"/>
            <a:ext cx="571500" cy="9144"/>
          </a:xfrm>
          <a:prstGeom prst="rect">
            <a:avLst/>
          </a:prstGeom>
        </p:spPr>
      </p:pic>
      <p:pic>
        <p:nvPicPr>
          <p:cNvPr id="36" name="Image 20" descr="gen-dedup-fd048a4ea94bc592eed8b251a3bd3ad1.png">    </p:cNvPr>
          <p:cNvPicPr>
            <a:picLocks noChangeAspect="1"/>
          </p:cNvPicPr>
          <p:nvPr/>
        </p:nvPicPr>
        <p:blipFill>
          <a:blip r:embed="rId21"/>
          <a:srcRect l="-2100" r="-2100" t="0" b="0"/>
          <a:stretch/>
        </p:blipFill>
        <p:spPr>
          <a:xfrm>
            <a:off x="12439498" y="3353105"/>
            <a:ext cx="476402" cy="9144"/>
          </a:xfrm>
          <a:prstGeom prst="rect">
            <a:avLst/>
          </a:prstGeom>
        </p:spPr>
      </p:pic>
      <p:pic>
        <p:nvPicPr>
          <p:cNvPr id="37" name="Image 21" descr="gen-dedup-71a6af4f5c10a25e80b0003ba03b7274.png">    </p:cNvPr>
          <p:cNvPicPr>
            <a:picLocks noChangeAspect="1"/>
          </p:cNvPicPr>
          <p:nvPr/>
        </p:nvPicPr>
        <p:blipFill>
          <a:blip r:embed="rId22"/>
          <a:srcRect l="-2061" r="-2061" t="0" b="0"/>
          <a:stretch/>
        </p:blipFill>
        <p:spPr>
          <a:xfrm>
            <a:off x="12915900" y="3752698"/>
            <a:ext cx="761695" cy="9144"/>
          </a:xfrm>
          <a:prstGeom prst="rect">
            <a:avLst/>
          </a:prstGeom>
        </p:spPr>
      </p:pic>
      <p:pic>
        <p:nvPicPr>
          <p:cNvPr id="38" name="Image 22" descr="gen-dedup-edc13351f21998d4093498369c4423ca.png">    </p:cNvPr>
          <p:cNvPicPr>
            <a:picLocks noChangeAspect="1"/>
          </p:cNvPicPr>
          <p:nvPr/>
        </p:nvPicPr>
        <p:blipFill>
          <a:blip r:embed="rId23"/>
          <a:srcRect l="-2083" r="-2083" t="0" b="0"/>
          <a:stretch/>
        </p:blipFill>
        <p:spPr>
          <a:xfrm>
            <a:off x="12915900" y="4000500"/>
            <a:ext cx="571500" cy="9144"/>
          </a:xfrm>
          <a:prstGeom prst="rect">
            <a:avLst/>
          </a:prstGeom>
        </p:spPr>
      </p:pic>
      <p:pic>
        <p:nvPicPr>
          <p:cNvPr id="39" name="Image 23" descr="gen-dedup-ee90d2bf8253bebd111b52a29d4132d9.png">    </p:cNvPr>
          <p:cNvPicPr>
            <a:picLocks noChangeAspect="1"/>
          </p:cNvPicPr>
          <p:nvPr/>
        </p:nvPicPr>
        <p:blipFill>
          <a:blip r:embed="rId24"/>
          <a:srcRect l="-2127" r="-2127" t="0" b="0"/>
          <a:stretch/>
        </p:blipFill>
        <p:spPr>
          <a:xfrm>
            <a:off x="12439498" y="4438498"/>
            <a:ext cx="381305" cy="9144"/>
          </a:xfrm>
          <a:prstGeom prst="rect">
            <a:avLst/>
          </a:prstGeom>
        </p:spPr>
      </p:pic>
      <p:pic>
        <p:nvPicPr>
          <p:cNvPr id="40" name="Image 24" descr="gen-dedup-5ac90d2447c157a30307e6aade8a9173.png">    </p:cNvPr>
          <p:cNvPicPr>
            <a:picLocks noChangeAspect="1"/>
          </p:cNvPicPr>
          <p:nvPr/>
        </p:nvPicPr>
        <p:blipFill>
          <a:blip r:embed="rId25"/>
          <a:srcRect l="-2083" r="-2083" t="0" b="0"/>
          <a:stretch/>
        </p:blipFill>
        <p:spPr>
          <a:xfrm>
            <a:off x="12439498" y="4667098"/>
            <a:ext cx="571500" cy="9144"/>
          </a:xfrm>
          <a:prstGeom prst="rect">
            <a:avLst/>
          </a:prstGeom>
        </p:spPr>
      </p:pic>
      <p:sp>
        <p:nvSpPr>
          <p:cNvPr id="41" name="Shape 13"/>
          <p:cNvSpPr/>
          <p:nvPr/>
        </p:nvSpPr>
        <p:spPr>
          <a:xfrm>
            <a:off x="12763195" y="2933395"/>
            <a:ext cx="171907" cy="171907"/>
          </a:xfrm>
          <a:prstGeom prst="ellipse">
            <a:avLst/>
          </a:prstGeom>
          <a:solidFill>
            <a:srgbClr val="54616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14"/>
          <p:cNvSpPr/>
          <p:nvPr/>
        </p:nvSpPr>
        <p:spPr>
          <a:xfrm>
            <a:off x="12725705" y="3276295"/>
            <a:ext cx="171907" cy="171907"/>
          </a:xfrm>
          <a:prstGeom prst="ellipse">
            <a:avLst/>
          </a:prstGeom>
          <a:solidFill>
            <a:srgbClr val="54616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hape 15"/>
          <p:cNvSpPr/>
          <p:nvPr/>
        </p:nvSpPr>
        <p:spPr>
          <a:xfrm>
            <a:off x="12915900" y="3600907"/>
            <a:ext cx="171907" cy="171907"/>
          </a:xfrm>
          <a:prstGeom prst="ellipse">
            <a:avLst/>
          </a:prstGeom>
          <a:solidFill>
            <a:srgbClr val="B8581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hape 16"/>
          <p:cNvSpPr/>
          <p:nvPr/>
        </p:nvSpPr>
        <p:spPr>
          <a:xfrm>
            <a:off x="12725705" y="3943807"/>
            <a:ext cx="171907" cy="171907"/>
          </a:xfrm>
          <a:prstGeom prst="ellipse">
            <a:avLst/>
          </a:prstGeom>
          <a:solidFill>
            <a:srgbClr val="B8581A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hape 17"/>
          <p:cNvSpPr/>
          <p:nvPr/>
        </p:nvSpPr>
        <p:spPr>
          <a:xfrm>
            <a:off x="12630607" y="4286707"/>
            <a:ext cx="171907" cy="171907"/>
          </a:xfrm>
          <a:prstGeom prst="ellipse">
            <a:avLst/>
          </a:prstGeom>
          <a:solidFill>
            <a:srgbClr val="1F536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Shape 18"/>
          <p:cNvSpPr/>
          <p:nvPr/>
        </p:nvSpPr>
        <p:spPr>
          <a:xfrm>
            <a:off x="12534595" y="4610405"/>
            <a:ext cx="171907" cy="171907"/>
          </a:xfrm>
          <a:prstGeom prst="ellipse">
            <a:avLst/>
          </a:prstGeom>
          <a:solidFill>
            <a:srgbClr val="1F5366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hape 19"/>
          <p:cNvSpPr/>
          <p:nvPr/>
        </p:nvSpPr>
        <p:spPr>
          <a:xfrm>
            <a:off x="12734849" y="4839005"/>
            <a:ext cx="171907" cy="171907"/>
          </a:xfrm>
          <a:prstGeom prst="ellipse">
            <a:avLst/>
          </a:prstGeom>
          <a:solidFill>
            <a:srgbClr val="2D6A4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Shape 20"/>
          <p:cNvSpPr/>
          <p:nvPr/>
        </p:nvSpPr>
        <p:spPr>
          <a:xfrm>
            <a:off x="12734849" y="5162702"/>
            <a:ext cx="171907" cy="171907"/>
          </a:xfrm>
          <a:prstGeom prst="ellipse">
            <a:avLst/>
          </a:prstGeom>
          <a:solidFill>
            <a:srgbClr val="2D6A4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Text 21"/>
          <p:cNvSpPr txBox="1"/>
          <p:nvPr/>
        </p:nvSpPr>
        <p:spPr>
          <a:xfrm>
            <a:off x="761695" y="400507"/>
            <a:ext cx="1334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DOC //</a:t>
            </a:r>
            <a:endParaRPr lang="en-US" sz="1050" dirty="0"/>
          </a:p>
        </p:txBody>
      </p:sp>
      <p:sp>
        <p:nvSpPr>
          <p:cNvPr id="50" name="Text 22"/>
          <p:cNvSpPr txBox="1"/>
          <p:nvPr/>
        </p:nvSpPr>
        <p:spPr>
          <a:xfrm>
            <a:off x="761695" y="629107"/>
            <a:ext cx="13341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63" kern="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EV-BEOL-BLV-018</a:t>
            </a:r>
            <a:endParaRPr lang="en-US" sz="1050" dirty="0"/>
          </a:p>
        </p:txBody>
      </p:sp>
      <p:sp>
        <p:nvSpPr>
          <p:cNvPr id="51" name="Text 23"/>
          <p:cNvSpPr txBox="1"/>
          <p:nvPr/>
        </p:nvSpPr>
        <p:spPr>
          <a:xfrm>
            <a:off x="761695" y="857707"/>
            <a:ext cx="14287500" cy="5815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0E1F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CD variation · </a:t>
            </a:r>
            <a:pPr algn="l" indent="0" marL="0">
              <a:buNone/>
            </a:pPr>
            <a:r>
              <a:rPr lang="en-US" sz="3150" b="1" dirty="0">
                <a:solidFill>
                  <a:srgbClr val="B858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AMI</a:t>
            </a:r>
            <a:endParaRPr lang="en-US" sz="3150" dirty="0"/>
          </a:p>
        </p:txBody>
      </p:sp>
      <p:sp>
        <p:nvSpPr>
          <p:cNvPr id="52" name="Text 24"/>
          <p:cNvSpPr txBox="1"/>
          <p:nvPr/>
        </p:nvSpPr>
        <p:spPr>
          <a:xfrm>
            <a:off x="761695" y="1514246"/>
            <a:ext cx="142875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25" dirty="0">
                <a:solidFill>
                  <a:srgbClr val="4D566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After-Metal Image · target </a:t>
            </a:r>
            <a:pPr algn="l" indent="0" marL="0">
              <a:buNone/>
            </a:pPr>
            <a:r>
              <a:rPr lang="en-US" sz="1425" b="1" dirty="0">
                <a:solidFill>
                  <a:srgbClr val="4D566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9.5 nm</a:t>
            </a:r>
            <a:pPr algn="l" indent="0" marL="0">
              <a:buNone/>
            </a:pPr>
            <a:r>
              <a:rPr lang="en-US" sz="1425" dirty="0">
                <a:solidFill>
                  <a:srgbClr val="4D566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post-Cu plating read · line trench CD · unit nm</a:t>
            </a:r>
            <a:endParaRPr lang="en-US" sz="1425" dirty="0"/>
          </a:p>
        </p:txBody>
      </p:sp>
      <p:sp>
        <p:nvSpPr>
          <p:cNvPr id="53" name="Text 25"/>
          <p:cNvSpPr txBox="1"/>
          <p:nvPr/>
        </p:nvSpPr>
        <p:spPr>
          <a:xfrm>
            <a:off x="15430500" y="400507"/>
            <a:ext cx="20958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spc="98" kern="0" dirty="0">
                <a:solidFill>
                  <a:srgbClr val="5A62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 0.6 · INTERNAL</a:t>
            </a:r>
            <a:endParaRPr lang="en-US" sz="975" dirty="0"/>
          </a:p>
        </p:txBody>
      </p:sp>
      <p:sp>
        <p:nvSpPr>
          <p:cNvPr id="54" name="Text 26"/>
          <p:cNvSpPr txBox="1"/>
          <p:nvPr/>
        </p:nvSpPr>
        <p:spPr>
          <a:xfrm>
            <a:off x="15430500" y="599846"/>
            <a:ext cx="20958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dirty="0">
                <a:solidFill>
                  <a:srgbClr val="5A62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2026-10-03</a:t>
            </a:r>
            <a:endParaRPr lang="en-US" sz="975" dirty="0"/>
          </a:p>
        </p:txBody>
      </p:sp>
      <p:sp>
        <p:nvSpPr>
          <p:cNvPr id="55" name="Text 27"/>
          <p:cNvSpPr txBox="1"/>
          <p:nvPr/>
        </p:nvSpPr>
        <p:spPr>
          <a:xfrm>
            <a:off x="914400" y="1790395"/>
            <a:ext cx="10478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spc="168" kern="0" dirty="0">
                <a:solidFill>
                  <a:srgbClr val="B858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§ 01 / 07 · CD-AMI</a:t>
            </a:r>
            <a:endParaRPr lang="en-US" sz="1050" dirty="0"/>
          </a:p>
        </p:txBody>
      </p:sp>
      <p:sp>
        <p:nvSpPr>
          <p:cNvPr id="56" name="Text 28"/>
          <p:cNvSpPr txBox="1"/>
          <p:nvPr/>
        </p:nvSpPr>
        <p:spPr>
          <a:xfrm>
            <a:off x="914400" y="2000707"/>
            <a:ext cx="104781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 plating 직후 line CD. dummy 평가는 split 간 line side bowing 효과 비교에 가중.</a:t>
            </a:r>
            <a:endParaRPr lang="en-US" sz="975" dirty="0"/>
          </a:p>
        </p:txBody>
      </p:sp>
      <p:sp>
        <p:nvSpPr>
          <p:cNvPr id="57" name="Text 29"/>
          <p:cNvSpPr txBox="1"/>
          <p:nvPr/>
        </p:nvSpPr>
        <p:spPr>
          <a:xfrm>
            <a:off x="914400" y="2361895"/>
            <a:ext cx="2286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spc="168" kern="0" dirty="0">
                <a:solidFill>
                  <a:srgbClr val="B858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AMI target</a:t>
            </a:r>
            <a:endParaRPr lang="en-US" sz="1050" dirty="0"/>
          </a:p>
        </p:txBody>
      </p:sp>
      <p:sp>
        <p:nvSpPr>
          <p:cNvPr id="58" name="Text 30"/>
          <p:cNvSpPr txBox="1"/>
          <p:nvPr/>
        </p:nvSpPr>
        <p:spPr>
          <a:xfrm>
            <a:off x="3200400" y="2361895"/>
            <a:ext cx="2286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9.50 nm</a:t>
            </a:r>
            <a:endParaRPr lang="en-US" sz="1350" dirty="0"/>
          </a:p>
        </p:txBody>
      </p:sp>
      <p:sp>
        <p:nvSpPr>
          <p:cNvPr id="59" name="Text 31"/>
          <p:cNvSpPr txBox="1"/>
          <p:nvPr/>
        </p:nvSpPr>
        <p:spPr>
          <a:xfrm>
            <a:off x="5524805" y="2361895"/>
            <a:ext cx="53346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8C0C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tolerance ±0.30 / 3σ ≤ 0.40 · split 별 V1·M2 동일 protocol</a:t>
            </a:r>
            <a:endParaRPr lang="en-US" sz="1050" dirty="0"/>
          </a:p>
        </p:txBody>
      </p:sp>
      <p:sp>
        <p:nvSpPr>
          <p:cNvPr id="60" name="Text 32"/>
          <p:cNvSpPr txBox="1"/>
          <p:nvPr/>
        </p:nvSpPr>
        <p:spPr>
          <a:xfrm>
            <a:off x="914400" y="3200400"/>
            <a:ext cx="15243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E1F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split</a:t>
            </a:r>
            <a:endParaRPr lang="en-US" sz="1050" dirty="0"/>
          </a:p>
        </p:txBody>
      </p:sp>
      <p:sp>
        <p:nvSpPr>
          <p:cNvPr id="61" name="Text 33"/>
          <p:cNvSpPr txBox="1"/>
          <p:nvPr/>
        </p:nvSpPr>
        <p:spPr>
          <a:xfrm>
            <a:off x="2667305" y="3200400"/>
            <a:ext cx="1143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E1F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layer</a:t>
            </a:r>
            <a:endParaRPr lang="en-US" sz="1050" dirty="0"/>
          </a:p>
        </p:txBody>
      </p:sp>
      <p:sp>
        <p:nvSpPr>
          <p:cNvPr id="62" name="Text 34"/>
          <p:cNvSpPr txBox="1"/>
          <p:nvPr/>
        </p:nvSpPr>
        <p:spPr>
          <a:xfrm>
            <a:off x="4000500" y="3200400"/>
            <a:ext cx="1143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mean</a:t>
            </a:r>
            <a:endParaRPr lang="en-US" sz="1050" dirty="0"/>
          </a:p>
        </p:txBody>
      </p:sp>
      <p:sp>
        <p:nvSpPr>
          <p:cNvPr id="63" name="Text 35"/>
          <p:cNvSpPr txBox="1"/>
          <p:nvPr/>
        </p:nvSpPr>
        <p:spPr>
          <a:xfrm>
            <a:off x="5333695" y="3200400"/>
            <a:ext cx="1143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3σ</a:t>
            </a:r>
            <a:endParaRPr lang="en-US" sz="1050" dirty="0"/>
          </a:p>
        </p:txBody>
      </p:sp>
      <p:sp>
        <p:nvSpPr>
          <p:cNvPr id="64" name="Text 36"/>
          <p:cNvSpPr txBox="1"/>
          <p:nvPr/>
        </p:nvSpPr>
        <p:spPr>
          <a:xfrm>
            <a:off x="6667805" y="3200400"/>
            <a:ext cx="1143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range</a:t>
            </a:r>
            <a:endParaRPr lang="en-US" sz="1050" dirty="0"/>
          </a:p>
        </p:txBody>
      </p:sp>
      <p:sp>
        <p:nvSpPr>
          <p:cNvPr id="65" name="Text 37"/>
          <p:cNvSpPr txBox="1"/>
          <p:nvPr/>
        </p:nvSpPr>
        <p:spPr>
          <a:xfrm>
            <a:off x="8001000" y="3200400"/>
            <a:ext cx="15243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1F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Δ vs target</a:t>
            </a:r>
            <a:endParaRPr lang="en-US" sz="1050" dirty="0"/>
          </a:p>
        </p:txBody>
      </p:sp>
      <p:sp>
        <p:nvSpPr>
          <p:cNvPr id="66" name="Text 38"/>
          <p:cNvSpPr txBox="1"/>
          <p:nvPr/>
        </p:nvSpPr>
        <p:spPr>
          <a:xfrm>
            <a:off x="9525305" y="3200400"/>
            <a:ext cx="1143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</a:t>
            </a:r>
            <a:endParaRPr lang="en-US" sz="1050" dirty="0"/>
          </a:p>
        </p:txBody>
      </p:sp>
      <p:sp>
        <p:nvSpPr>
          <p:cNvPr id="67" name="Text 39"/>
          <p:cNvSpPr txBox="1"/>
          <p:nvPr/>
        </p:nvSpPr>
        <p:spPr>
          <a:xfrm>
            <a:off x="914400" y="3619195"/>
            <a:ext cx="15243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5461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W01 REF</a:t>
            </a:r>
            <a:endParaRPr lang="en-US" sz="1350" dirty="0"/>
          </a:p>
        </p:txBody>
      </p:sp>
      <p:sp>
        <p:nvSpPr>
          <p:cNvPr id="68" name="Text 40"/>
          <p:cNvSpPr txBox="1"/>
          <p:nvPr/>
        </p:nvSpPr>
        <p:spPr>
          <a:xfrm>
            <a:off x="2667305" y="3638398"/>
            <a:ext cx="1143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V1</a:t>
            </a:r>
            <a:endParaRPr lang="en-US" sz="1200" dirty="0"/>
          </a:p>
        </p:txBody>
      </p:sp>
      <p:sp>
        <p:nvSpPr>
          <p:cNvPr id="69" name="Text 41"/>
          <p:cNvSpPr txBox="1"/>
          <p:nvPr/>
        </p:nvSpPr>
        <p:spPr>
          <a:xfrm>
            <a:off x="4000500" y="3619195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9.60</a:t>
            </a:r>
            <a:endParaRPr lang="en-US" sz="1350" dirty="0"/>
          </a:p>
        </p:txBody>
      </p:sp>
      <p:sp>
        <p:nvSpPr>
          <p:cNvPr id="70" name="Text 42"/>
          <p:cNvSpPr txBox="1"/>
          <p:nvPr/>
        </p:nvSpPr>
        <p:spPr>
          <a:xfrm>
            <a:off x="5333695" y="3619195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0.34</a:t>
            </a:r>
            <a:endParaRPr lang="en-US" sz="1350" dirty="0"/>
          </a:p>
        </p:txBody>
      </p:sp>
      <p:sp>
        <p:nvSpPr>
          <p:cNvPr id="71" name="Text 43"/>
          <p:cNvSpPr txBox="1"/>
          <p:nvPr/>
        </p:nvSpPr>
        <p:spPr>
          <a:xfrm>
            <a:off x="6667805" y="3619195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0.94</a:t>
            </a:r>
            <a:endParaRPr lang="en-US" sz="1350" dirty="0"/>
          </a:p>
        </p:txBody>
      </p:sp>
      <p:sp>
        <p:nvSpPr>
          <p:cNvPr id="72" name="Text 44"/>
          <p:cNvSpPr txBox="1"/>
          <p:nvPr/>
        </p:nvSpPr>
        <p:spPr>
          <a:xfrm>
            <a:off x="8001000" y="3581705"/>
            <a:ext cx="15243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B858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+0.10</a:t>
            </a:r>
            <a:endParaRPr lang="en-US" sz="1350" dirty="0"/>
          </a:p>
        </p:txBody>
      </p:sp>
      <p:sp>
        <p:nvSpPr>
          <p:cNvPr id="73" name="Text 45"/>
          <p:cNvSpPr txBox="1"/>
          <p:nvPr/>
        </p:nvSpPr>
        <p:spPr>
          <a:xfrm>
            <a:off x="9525305" y="3619195"/>
            <a:ext cx="1143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980</a:t>
            </a:r>
            <a:endParaRPr lang="en-US" sz="1200" dirty="0"/>
          </a:p>
        </p:txBody>
      </p:sp>
      <p:sp>
        <p:nvSpPr>
          <p:cNvPr id="74" name="Text 46"/>
          <p:cNvSpPr txBox="1"/>
          <p:nvPr/>
        </p:nvSpPr>
        <p:spPr>
          <a:xfrm>
            <a:off x="914400" y="4114800"/>
            <a:ext cx="15243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5461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W01 REF</a:t>
            </a:r>
            <a:endParaRPr lang="en-US" sz="1350" dirty="0"/>
          </a:p>
        </p:txBody>
      </p:sp>
      <p:sp>
        <p:nvSpPr>
          <p:cNvPr id="75" name="Text 47"/>
          <p:cNvSpPr txBox="1"/>
          <p:nvPr/>
        </p:nvSpPr>
        <p:spPr>
          <a:xfrm>
            <a:off x="2667305" y="4134002"/>
            <a:ext cx="1143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M2</a:t>
            </a:r>
            <a:endParaRPr lang="en-US" sz="1200" dirty="0"/>
          </a:p>
        </p:txBody>
      </p:sp>
      <p:sp>
        <p:nvSpPr>
          <p:cNvPr id="76" name="Text 48"/>
          <p:cNvSpPr txBox="1"/>
          <p:nvPr/>
        </p:nvSpPr>
        <p:spPr>
          <a:xfrm>
            <a:off x="4000500" y="4114800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9.50</a:t>
            </a:r>
            <a:endParaRPr lang="en-US" sz="1350" dirty="0"/>
          </a:p>
        </p:txBody>
      </p:sp>
      <p:sp>
        <p:nvSpPr>
          <p:cNvPr id="77" name="Text 49"/>
          <p:cNvSpPr txBox="1"/>
          <p:nvPr/>
        </p:nvSpPr>
        <p:spPr>
          <a:xfrm>
            <a:off x="5333695" y="4114800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0.32</a:t>
            </a:r>
            <a:endParaRPr lang="en-US" sz="1350" dirty="0"/>
          </a:p>
        </p:txBody>
      </p:sp>
      <p:sp>
        <p:nvSpPr>
          <p:cNvPr id="78" name="Text 50"/>
          <p:cNvSpPr txBox="1"/>
          <p:nvPr/>
        </p:nvSpPr>
        <p:spPr>
          <a:xfrm>
            <a:off x="6667805" y="4114800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0.90</a:t>
            </a:r>
            <a:endParaRPr lang="en-US" sz="1350" dirty="0"/>
          </a:p>
        </p:txBody>
      </p:sp>
      <p:sp>
        <p:nvSpPr>
          <p:cNvPr id="79" name="Text 51"/>
          <p:cNvSpPr txBox="1"/>
          <p:nvPr/>
        </p:nvSpPr>
        <p:spPr>
          <a:xfrm>
            <a:off x="8001000" y="4076395"/>
            <a:ext cx="15243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0.00</a:t>
            </a:r>
            <a:endParaRPr lang="en-US" sz="1350" dirty="0"/>
          </a:p>
        </p:txBody>
      </p:sp>
      <p:sp>
        <p:nvSpPr>
          <p:cNvPr id="80" name="Text 52"/>
          <p:cNvSpPr txBox="1"/>
          <p:nvPr/>
        </p:nvSpPr>
        <p:spPr>
          <a:xfrm>
            <a:off x="9525305" y="4114800"/>
            <a:ext cx="1143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980</a:t>
            </a:r>
            <a:endParaRPr lang="en-US" sz="1200" dirty="0"/>
          </a:p>
        </p:txBody>
      </p:sp>
      <p:sp>
        <p:nvSpPr>
          <p:cNvPr id="81" name="Text 53"/>
          <p:cNvSpPr txBox="1"/>
          <p:nvPr/>
        </p:nvSpPr>
        <p:spPr>
          <a:xfrm>
            <a:off x="914400" y="4610405"/>
            <a:ext cx="15243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B858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W02 Co</a:t>
            </a:r>
            <a:endParaRPr lang="en-US" sz="1350" dirty="0"/>
          </a:p>
        </p:txBody>
      </p:sp>
      <p:sp>
        <p:nvSpPr>
          <p:cNvPr id="82" name="Text 54"/>
          <p:cNvSpPr txBox="1"/>
          <p:nvPr/>
        </p:nvSpPr>
        <p:spPr>
          <a:xfrm>
            <a:off x="2667305" y="4629607"/>
            <a:ext cx="1143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V1</a:t>
            </a:r>
            <a:endParaRPr lang="en-US" sz="1200" dirty="0"/>
          </a:p>
        </p:txBody>
      </p:sp>
      <p:sp>
        <p:nvSpPr>
          <p:cNvPr id="83" name="Text 55"/>
          <p:cNvSpPr txBox="1"/>
          <p:nvPr/>
        </p:nvSpPr>
        <p:spPr>
          <a:xfrm>
            <a:off x="4000500" y="4610405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9.70</a:t>
            </a:r>
            <a:endParaRPr lang="en-US" sz="1350" dirty="0"/>
          </a:p>
        </p:txBody>
      </p:sp>
      <p:sp>
        <p:nvSpPr>
          <p:cNvPr id="84" name="Text 56"/>
          <p:cNvSpPr txBox="1"/>
          <p:nvPr/>
        </p:nvSpPr>
        <p:spPr>
          <a:xfrm>
            <a:off x="5333695" y="4610405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0.40</a:t>
            </a:r>
            <a:endParaRPr lang="en-US" sz="1350" dirty="0"/>
          </a:p>
        </p:txBody>
      </p:sp>
      <p:sp>
        <p:nvSpPr>
          <p:cNvPr id="85" name="Text 57"/>
          <p:cNvSpPr txBox="1"/>
          <p:nvPr/>
        </p:nvSpPr>
        <p:spPr>
          <a:xfrm>
            <a:off x="6667805" y="4610405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1.02</a:t>
            </a:r>
            <a:endParaRPr lang="en-US" sz="1350" dirty="0"/>
          </a:p>
        </p:txBody>
      </p:sp>
      <p:sp>
        <p:nvSpPr>
          <p:cNvPr id="86" name="Text 58"/>
          <p:cNvSpPr txBox="1"/>
          <p:nvPr/>
        </p:nvSpPr>
        <p:spPr>
          <a:xfrm>
            <a:off x="8001000" y="4572000"/>
            <a:ext cx="15243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B858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+0.20</a:t>
            </a:r>
            <a:endParaRPr lang="en-US" sz="1350" dirty="0"/>
          </a:p>
        </p:txBody>
      </p:sp>
      <p:sp>
        <p:nvSpPr>
          <p:cNvPr id="87" name="Text 59"/>
          <p:cNvSpPr txBox="1"/>
          <p:nvPr/>
        </p:nvSpPr>
        <p:spPr>
          <a:xfrm>
            <a:off x="9525305" y="4610405"/>
            <a:ext cx="1143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960</a:t>
            </a:r>
            <a:endParaRPr lang="en-US" sz="1200" dirty="0"/>
          </a:p>
        </p:txBody>
      </p:sp>
      <p:sp>
        <p:nvSpPr>
          <p:cNvPr id="88" name="Text 60"/>
          <p:cNvSpPr txBox="1"/>
          <p:nvPr/>
        </p:nvSpPr>
        <p:spPr>
          <a:xfrm>
            <a:off x="914400" y="5105095"/>
            <a:ext cx="15243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B858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W02 Co</a:t>
            </a:r>
            <a:endParaRPr lang="en-US" sz="1350" dirty="0"/>
          </a:p>
        </p:txBody>
      </p:sp>
      <p:sp>
        <p:nvSpPr>
          <p:cNvPr id="89" name="Text 61"/>
          <p:cNvSpPr txBox="1"/>
          <p:nvPr/>
        </p:nvSpPr>
        <p:spPr>
          <a:xfrm>
            <a:off x="2667305" y="5124298"/>
            <a:ext cx="1143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M2</a:t>
            </a:r>
            <a:endParaRPr lang="en-US" sz="1200" dirty="0"/>
          </a:p>
        </p:txBody>
      </p:sp>
      <p:sp>
        <p:nvSpPr>
          <p:cNvPr id="90" name="Text 62"/>
          <p:cNvSpPr txBox="1"/>
          <p:nvPr/>
        </p:nvSpPr>
        <p:spPr>
          <a:xfrm>
            <a:off x="4000500" y="5105095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9.60</a:t>
            </a:r>
            <a:endParaRPr lang="en-US" sz="1350" dirty="0"/>
          </a:p>
        </p:txBody>
      </p:sp>
      <p:sp>
        <p:nvSpPr>
          <p:cNvPr id="91" name="Text 63"/>
          <p:cNvSpPr txBox="1"/>
          <p:nvPr/>
        </p:nvSpPr>
        <p:spPr>
          <a:xfrm>
            <a:off x="5333695" y="5105095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0.38</a:t>
            </a:r>
            <a:endParaRPr lang="en-US" sz="1350" dirty="0"/>
          </a:p>
        </p:txBody>
      </p:sp>
      <p:sp>
        <p:nvSpPr>
          <p:cNvPr id="92" name="Text 64"/>
          <p:cNvSpPr txBox="1"/>
          <p:nvPr/>
        </p:nvSpPr>
        <p:spPr>
          <a:xfrm>
            <a:off x="6667805" y="5105095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0.98</a:t>
            </a:r>
            <a:endParaRPr lang="en-US" sz="1350" dirty="0"/>
          </a:p>
        </p:txBody>
      </p:sp>
      <p:sp>
        <p:nvSpPr>
          <p:cNvPr id="93" name="Text 65"/>
          <p:cNvSpPr txBox="1"/>
          <p:nvPr/>
        </p:nvSpPr>
        <p:spPr>
          <a:xfrm>
            <a:off x="8001000" y="5067605"/>
            <a:ext cx="15243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B858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+0.10</a:t>
            </a:r>
            <a:endParaRPr lang="en-US" sz="1350" dirty="0"/>
          </a:p>
        </p:txBody>
      </p:sp>
      <p:sp>
        <p:nvSpPr>
          <p:cNvPr id="94" name="Text 66"/>
          <p:cNvSpPr txBox="1"/>
          <p:nvPr/>
        </p:nvSpPr>
        <p:spPr>
          <a:xfrm>
            <a:off x="9525305" y="5105095"/>
            <a:ext cx="1143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968</a:t>
            </a:r>
            <a:endParaRPr lang="en-US" sz="1200" dirty="0"/>
          </a:p>
        </p:txBody>
      </p:sp>
      <p:sp>
        <p:nvSpPr>
          <p:cNvPr id="95" name="Text 67"/>
          <p:cNvSpPr txBox="1"/>
          <p:nvPr/>
        </p:nvSpPr>
        <p:spPr>
          <a:xfrm>
            <a:off x="914400" y="5600700"/>
            <a:ext cx="15243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F53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W03 Ru</a:t>
            </a:r>
            <a:endParaRPr lang="en-US" sz="1350" dirty="0"/>
          </a:p>
        </p:txBody>
      </p:sp>
      <p:sp>
        <p:nvSpPr>
          <p:cNvPr id="96" name="Text 68"/>
          <p:cNvSpPr txBox="1"/>
          <p:nvPr/>
        </p:nvSpPr>
        <p:spPr>
          <a:xfrm>
            <a:off x="2667305" y="5619902"/>
            <a:ext cx="1143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V1</a:t>
            </a:r>
            <a:endParaRPr lang="en-US" sz="1200" dirty="0"/>
          </a:p>
        </p:txBody>
      </p:sp>
      <p:sp>
        <p:nvSpPr>
          <p:cNvPr id="97" name="Text 69"/>
          <p:cNvSpPr txBox="1"/>
          <p:nvPr/>
        </p:nvSpPr>
        <p:spPr>
          <a:xfrm>
            <a:off x="4000500" y="5600700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9.40</a:t>
            </a:r>
            <a:endParaRPr lang="en-US" sz="1350" dirty="0"/>
          </a:p>
        </p:txBody>
      </p:sp>
      <p:sp>
        <p:nvSpPr>
          <p:cNvPr id="98" name="Text 70"/>
          <p:cNvSpPr txBox="1"/>
          <p:nvPr/>
        </p:nvSpPr>
        <p:spPr>
          <a:xfrm>
            <a:off x="5333695" y="5600700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0.30</a:t>
            </a:r>
            <a:endParaRPr lang="en-US" sz="1350" dirty="0"/>
          </a:p>
        </p:txBody>
      </p:sp>
      <p:sp>
        <p:nvSpPr>
          <p:cNvPr id="99" name="Text 71"/>
          <p:cNvSpPr txBox="1"/>
          <p:nvPr/>
        </p:nvSpPr>
        <p:spPr>
          <a:xfrm>
            <a:off x="6667805" y="5600700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0.87</a:t>
            </a:r>
            <a:endParaRPr lang="en-US" sz="1350" dirty="0"/>
          </a:p>
        </p:txBody>
      </p:sp>
      <p:sp>
        <p:nvSpPr>
          <p:cNvPr id="100" name="Text 72"/>
          <p:cNvSpPr txBox="1"/>
          <p:nvPr/>
        </p:nvSpPr>
        <p:spPr>
          <a:xfrm>
            <a:off x="8001000" y="5562295"/>
            <a:ext cx="15243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536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-0.10</a:t>
            </a:r>
            <a:endParaRPr lang="en-US" sz="1350" dirty="0"/>
          </a:p>
        </p:txBody>
      </p:sp>
      <p:sp>
        <p:nvSpPr>
          <p:cNvPr id="101" name="Text 73"/>
          <p:cNvSpPr txBox="1"/>
          <p:nvPr/>
        </p:nvSpPr>
        <p:spPr>
          <a:xfrm>
            <a:off x="9525305" y="5600700"/>
            <a:ext cx="1143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980</a:t>
            </a:r>
            <a:endParaRPr lang="en-US" sz="1200" dirty="0"/>
          </a:p>
        </p:txBody>
      </p:sp>
      <p:sp>
        <p:nvSpPr>
          <p:cNvPr id="102" name="Text 74"/>
          <p:cNvSpPr txBox="1"/>
          <p:nvPr/>
        </p:nvSpPr>
        <p:spPr>
          <a:xfrm>
            <a:off x="914400" y="6096305"/>
            <a:ext cx="15243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F53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W03 Ru</a:t>
            </a:r>
            <a:endParaRPr lang="en-US" sz="1350" dirty="0"/>
          </a:p>
        </p:txBody>
      </p:sp>
      <p:sp>
        <p:nvSpPr>
          <p:cNvPr id="103" name="Text 75"/>
          <p:cNvSpPr txBox="1"/>
          <p:nvPr/>
        </p:nvSpPr>
        <p:spPr>
          <a:xfrm>
            <a:off x="2667305" y="6115507"/>
            <a:ext cx="1143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M2</a:t>
            </a:r>
            <a:endParaRPr lang="en-US" sz="1200" dirty="0"/>
          </a:p>
        </p:txBody>
      </p:sp>
      <p:sp>
        <p:nvSpPr>
          <p:cNvPr id="104" name="Text 76"/>
          <p:cNvSpPr txBox="1"/>
          <p:nvPr/>
        </p:nvSpPr>
        <p:spPr>
          <a:xfrm>
            <a:off x="4000500" y="6096305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9.30</a:t>
            </a:r>
            <a:endParaRPr lang="en-US" sz="1350" dirty="0"/>
          </a:p>
        </p:txBody>
      </p:sp>
      <p:sp>
        <p:nvSpPr>
          <p:cNvPr id="105" name="Text 77"/>
          <p:cNvSpPr txBox="1"/>
          <p:nvPr/>
        </p:nvSpPr>
        <p:spPr>
          <a:xfrm>
            <a:off x="5333695" y="6096305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0.29</a:t>
            </a:r>
            <a:endParaRPr lang="en-US" sz="1350" dirty="0"/>
          </a:p>
        </p:txBody>
      </p:sp>
      <p:sp>
        <p:nvSpPr>
          <p:cNvPr id="106" name="Text 78"/>
          <p:cNvSpPr txBox="1"/>
          <p:nvPr/>
        </p:nvSpPr>
        <p:spPr>
          <a:xfrm>
            <a:off x="6667805" y="6096305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0.85</a:t>
            </a:r>
            <a:endParaRPr lang="en-US" sz="1350" dirty="0"/>
          </a:p>
        </p:txBody>
      </p:sp>
      <p:sp>
        <p:nvSpPr>
          <p:cNvPr id="107" name="Text 79"/>
          <p:cNvSpPr txBox="1"/>
          <p:nvPr/>
        </p:nvSpPr>
        <p:spPr>
          <a:xfrm>
            <a:off x="8001000" y="6057900"/>
            <a:ext cx="15243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536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-0.20</a:t>
            </a:r>
            <a:endParaRPr lang="en-US" sz="1350" dirty="0"/>
          </a:p>
        </p:txBody>
      </p:sp>
      <p:sp>
        <p:nvSpPr>
          <p:cNvPr id="108" name="Text 80"/>
          <p:cNvSpPr txBox="1"/>
          <p:nvPr/>
        </p:nvSpPr>
        <p:spPr>
          <a:xfrm>
            <a:off x="9525305" y="6096305"/>
            <a:ext cx="1143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980</a:t>
            </a:r>
            <a:endParaRPr lang="en-US" sz="1200" dirty="0"/>
          </a:p>
        </p:txBody>
      </p:sp>
      <p:sp>
        <p:nvSpPr>
          <p:cNvPr id="109" name="Text 81"/>
          <p:cNvSpPr txBox="1"/>
          <p:nvPr/>
        </p:nvSpPr>
        <p:spPr>
          <a:xfrm>
            <a:off x="914400" y="6590995"/>
            <a:ext cx="15243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D6A4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W04 hybrid</a:t>
            </a:r>
            <a:endParaRPr lang="en-US" sz="1350" dirty="0"/>
          </a:p>
        </p:txBody>
      </p:sp>
      <p:sp>
        <p:nvSpPr>
          <p:cNvPr id="110" name="Text 82"/>
          <p:cNvSpPr txBox="1"/>
          <p:nvPr/>
        </p:nvSpPr>
        <p:spPr>
          <a:xfrm>
            <a:off x="2667305" y="6610198"/>
            <a:ext cx="1143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V1</a:t>
            </a:r>
            <a:endParaRPr lang="en-US" sz="1200" dirty="0"/>
          </a:p>
        </p:txBody>
      </p:sp>
      <p:sp>
        <p:nvSpPr>
          <p:cNvPr id="111" name="Text 83"/>
          <p:cNvSpPr txBox="1"/>
          <p:nvPr/>
        </p:nvSpPr>
        <p:spPr>
          <a:xfrm>
            <a:off x="4000500" y="6590995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9.50</a:t>
            </a:r>
            <a:endParaRPr lang="en-US" sz="1350" dirty="0"/>
          </a:p>
        </p:txBody>
      </p:sp>
      <p:sp>
        <p:nvSpPr>
          <p:cNvPr id="112" name="Text 84"/>
          <p:cNvSpPr txBox="1"/>
          <p:nvPr/>
        </p:nvSpPr>
        <p:spPr>
          <a:xfrm>
            <a:off x="5333695" y="6590995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0.33</a:t>
            </a:r>
            <a:endParaRPr lang="en-US" sz="1350" dirty="0"/>
          </a:p>
        </p:txBody>
      </p:sp>
      <p:sp>
        <p:nvSpPr>
          <p:cNvPr id="113" name="Text 85"/>
          <p:cNvSpPr txBox="1"/>
          <p:nvPr/>
        </p:nvSpPr>
        <p:spPr>
          <a:xfrm>
            <a:off x="6667805" y="6590995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0.92</a:t>
            </a:r>
            <a:endParaRPr lang="en-US" sz="1350" dirty="0"/>
          </a:p>
        </p:txBody>
      </p:sp>
      <p:sp>
        <p:nvSpPr>
          <p:cNvPr id="114" name="Text 86"/>
          <p:cNvSpPr txBox="1"/>
          <p:nvPr/>
        </p:nvSpPr>
        <p:spPr>
          <a:xfrm>
            <a:off x="8001000" y="6553505"/>
            <a:ext cx="15243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0.00</a:t>
            </a:r>
            <a:endParaRPr lang="en-US" sz="1350" dirty="0"/>
          </a:p>
        </p:txBody>
      </p:sp>
      <p:sp>
        <p:nvSpPr>
          <p:cNvPr id="115" name="Text 87"/>
          <p:cNvSpPr txBox="1"/>
          <p:nvPr/>
        </p:nvSpPr>
        <p:spPr>
          <a:xfrm>
            <a:off x="9525305" y="6590995"/>
            <a:ext cx="1143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980</a:t>
            </a:r>
            <a:endParaRPr lang="en-US" sz="1200" dirty="0"/>
          </a:p>
        </p:txBody>
      </p:sp>
      <p:sp>
        <p:nvSpPr>
          <p:cNvPr id="116" name="Text 88"/>
          <p:cNvSpPr txBox="1"/>
          <p:nvPr/>
        </p:nvSpPr>
        <p:spPr>
          <a:xfrm>
            <a:off x="914400" y="7086600"/>
            <a:ext cx="15243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D6A4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W04 hybrid</a:t>
            </a:r>
            <a:endParaRPr lang="en-US" sz="1350" dirty="0"/>
          </a:p>
        </p:txBody>
      </p:sp>
      <p:sp>
        <p:nvSpPr>
          <p:cNvPr id="117" name="Text 89"/>
          <p:cNvSpPr txBox="1"/>
          <p:nvPr/>
        </p:nvSpPr>
        <p:spPr>
          <a:xfrm>
            <a:off x="2667305" y="7105802"/>
            <a:ext cx="1143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M2</a:t>
            </a:r>
            <a:endParaRPr lang="en-US" sz="1200" dirty="0"/>
          </a:p>
        </p:txBody>
      </p:sp>
      <p:sp>
        <p:nvSpPr>
          <p:cNvPr id="118" name="Text 90"/>
          <p:cNvSpPr txBox="1"/>
          <p:nvPr/>
        </p:nvSpPr>
        <p:spPr>
          <a:xfrm>
            <a:off x="4000500" y="7086600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9.50</a:t>
            </a:r>
            <a:endParaRPr lang="en-US" sz="1350" dirty="0"/>
          </a:p>
        </p:txBody>
      </p:sp>
      <p:sp>
        <p:nvSpPr>
          <p:cNvPr id="119" name="Text 91"/>
          <p:cNvSpPr txBox="1"/>
          <p:nvPr/>
        </p:nvSpPr>
        <p:spPr>
          <a:xfrm>
            <a:off x="5333695" y="7086600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0.32</a:t>
            </a:r>
            <a:endParaRPr lang="en-US" sz="1350" dirty="0"/>
          </a:p>
        </p:txBody>
      </p:sp>
      <p:sp>
        <p:nvSpPr>
          <p:cNvPr id="120" name="Text 92"/>
          <p:cNvSpPr txBox="1"/>
          <p:nvPr/>
        </p:nvSpPr>
        <p:spPr>
          <a:xfrm>
            <a:off x="6667805" y="7086600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0.90</a:t>
            </a:r>
            <a:endParaRPr lang="en-US" sz="1350" dirty="0"/>
          </a:p>
        </p:txBody>
      </p:sp>
      <p:sp>
        <p:nvSpPr>
          <p:cNvPr id="121" name="Text 93"/>
          <p:cNvSpPr txBox="1"/>
          <p:nvPr/>
        </p:nvSpPr>
        <p:spPr>
          <a:xfrm>
            <a:off x="8001000" y="7048195"/>
            <a:ext cx="15243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0.00</a:t>
            </a:r>
            <a:endParaRPr lang="en-US" sz="1350" dirty="0"/>
          </a:p>
        </p:txBody>
      </p:sp>
      <p:sp>
        <p:nvSpPr>
          <p:cNvPr id="122" name="Text 94"/>
          <p:cNvSpPr txBox="1"/>
          <p:nvPr/>
        </p:nvSpPr>
        <p:spPr>
          <a:xfrm>
            <a:off x="9525305" y="7086600"/>
            <a:ext cx="1143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980</a:t>
            </a:r>
            <a:endParaRPr lang="en-US" sz="1200" dirty="0"/>
          </a:p>
        </p:txBody>
      </p:sp>
      <p:sp>
        <p:nvSpPr>
          <p:cNvPr id="123" name="Text 95"/>
          <p:cNvSpPr txBox="1"/>
          <p:nvPr/>
        </p:nvSpPr>
        <p:spPr>
          <a:xfrm>
            <a:off x="11582705" y="2361895"/>
            <a:ext cx="5715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spc="168" kern="0" dirty="0">
                <a:solidFill>
                  <a:srgbClr val="B858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mean vs target · layer × split</a:t>
            </a:r>
            <a:endParaRPr lang="en-US" sz="1050" dirty="0"/>
          </a:p>
        </p:txBody>
      </p:sp>
      <p:sp>
        <p:nvSpPr>
          <p:cNvPr id="124" name="Text 96"/>
          <p:cNvSpPr txBox="1"/>
          <p:nvPr/>
        </p:nvSpPr>
        <p:spPr>
          <a:xfrm>
            <a:off x="12382805" y="2686507"/>
            <a:ext cx="857707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dirty="0">
                <a:solidFill>
                  <a:srgbClr val="B858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9.50</a:t>
            </a:r>
            <a:endParaRPr lang="en-US" sz="975" dirty="0"/>
          </a:p>
        </p:txBody>
      </p:sp>
      <p:sp>
        <p:nvSpPr>
          <p:cNvPr id="125" name="Text 97"/>
          <p:cNvSpPr txBox="1"/>
          <p:nvPr/>
        </p:nvSpPr>
        <p:spPr>
          <a:xfrm>
            <a:off x="11658600" y="3010205"/>
            <a:ext cx="7626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5461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W01</a:t>
            </a:r>
            <a:endParaRPr lang="en-US" sz="975" dirty="0"/>
          </a:p>
        </p:txBody>
      </p:sp>
      <p:sp>
        <p:nvSpPr>
          <p:cNvPr id="126" name="Text 98"/>
          <p:cNvSpPr txBox="1"/>
          <p:nvPr/>
        </p:nvSpPr>
        <p:spPr>
          <a:xfrm>
            <a:off x="12973507" y="2971800"/>
            <a:ext cx="476402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54616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V1 9.6</a:t>
            </a:r>
            <a:endParaRPr lang="en-US" sz="975" dirty="0"/>
          </a:p>
        </p:txBody>
      </p:sp>
      <p:sp>
        <p:nvSpPr>
          <p:cNvPr id="127" name="Text 99"/>
          <p:cNvSpPr txBox="1"/>
          <p:nvPr/>
        </p:nvSpPr>
        <p:spPr>
          <a:xfrm>
            <a:off x="12973507" y="3314700"/>
            <a:ext cx="476402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54616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M2 9.5</a:t>
            </a:r>
            <a:endParaRPr lang="en-US" sz="975" dirty="0"/>
          </a:p>
        </p:txBody>
      </p:sp>
      <p:sp>
        <p:nvSpPr>
          <p:cNvPr id="128" name="Text 100"/>
          <p:cNvSpPr txBox="1"/>
          <p:nvPr/>
        </p:nvSpPr>
        <p:spPr>
          <a:xfrm>
            <a:off x="11658600" y="3676802"/>
            <a:ext cx="7626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B858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W02</a:t>
            </a:r>
            <a:endParaRPr lang="en-US" sz="975" dirty="0"/>
          </a:p>
        </p:txBody>
      </p:sp>
      <p:sp>
        <p:nvSpPr>
          <p:cNvPr id="129" name="Text 101"/>
          <p:cNvSpPr txBox="1"/>
          <p:nvPr/>
        </p:nvSpPr>
        <p:spPr>
          <a:xfrm>
            <a:off x="13144500" y="3638398"/>
            <a:ext cx="476402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B858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V1 9.7</a:t>
            </a:r>
            <a:endParaRPr lang="en-US" sz="975" dirty="0"/>
          </a:p>
        </p:txBody>
      </p:sp>
      <p:sp>
        <p:nvSpPr>
          <p:cNvPr id="130" name="Text 102"/>
          <p:cNvSpPr txBox="1"/>
          <p:nvPr/>
        </p:nvSpPr>
        <p:spPr>
          <a:xfrm>
            <a:off x="12973507" y="3981298"/>
            <a:ext cx="476402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B858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M2 9.6</a:t>
            </a:r>
            <a:endParaRPr lang="en-US" sz="975" dirty="0"/>
          </a:p>
        </p:txBody>
      </p:sp>
      <p:sp>
        <p:nvSpPr>
          <p:cNvPr id="131" name="Text 103"/>
          <p:cNvSpPr txBox="1"/>
          <p:nvPr/>
        </p:nvSpPr>
        <p:spPr>
          <a:xfrm>
            <a:off x="11658600" y="4362602"/>
            <a:ext cx="7626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F53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W03</a:t>
            </a:r>
            <a:endParaRPr lang="en-US" sz="975" dirty="0"/>
          </a:p>
        </p:txBody>
      </p:sp>
      <p:sp>
        <p:nvSpPr>
          <p:cNvPr id="132" name="Text 104"/>
          <p:cNvSpPr txBox="1"/>
          <p:nvPr/>
        </p:nvSpPr>
        <p:spPr>
          <a:xfrm>
            <a:off x="12840005" y="4324198"/>
            <a:ext cx="5715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F536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V1 9.4</a:t>
            </a:r>
            <a:endParaRPr lang="en-US" sz="975" dirty="0"/>
          </a:p>
        </p:txBody>
      </p:sp>
      <p:sp>
        <p:nvSpPr>
          <p:cNvPr id="133" name="Text 105"/>
          <p:cNvSpPr txBox="1"/>
          <p:nvPr/>
        </p:nvSpPr>
        <p:spPr>
          <a:xfrm>
            <a:off x="12782398" y="4647895"/>
            <a:ext cx="5715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F536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M2 9.3</a:t>
            </a:r>
            <a:endParaRPr lang="en-US" sz="975" dirty="0"/>
          </a:p>
        </p:txBody>
      </p:sp>
      <p:sp>
        <p:nvSpPr>
          <p:cNvPr id="134" name="Text 106"/>
          <p:cNvSpPr txBox="1"/>
          <p:nvPr/>
        </p:nvSpPr>
        <p:spPr>
          <a:xfrm>
            <a:off x="11658600" y="4914900"/>
            <a:ext cx="7626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D6A4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W04</a:t>
            </a:r>
            <a:endParaRPr lang="en-US" sz="975" dirty="0"/>
          </a:p>
        </p:txBody>
      </p:sp>
      <p:sp>
        <p:nvSpPr>
          <p:cNvPr id="135" name="Text 107"/>
          <p:cNvSpPr txBox="1"/>
          <p:nvPr/>
        </p:nvSpPr>
        <p:spPr>
          <a:xfrm>
            <a:off x="12954305" y="4876495"/>
            <a:ext cx="5715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2D6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V1 9.5</a:t>
            </a:r>
            <a:endParaRPr lang="en-US" sz="975" dirty="0"/>
          </a:p>
        </p:txBody>
      </p:sp>
      <p:sp>
        <p:nvSpPr>
          <p:cNvPr id="136" name="Text 108"/>
          <p:cNvSpPr txBox="1"/>
          <p:nvPr/>
        </p:nvSpPr>
        <p:spPr>
          <a:xfrm>
            <a:off x="12954305" y="5201107"/>
            <a:ext cx="5715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2D6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M2 9.5</a:t>
            </a:r>
            <a:endParaRPr lang="en-US" sz="975" dirty="0"/>
          </a:p>
        </p:txBody>
      </p:sp>
      <p:sp>
        <p:nvSpPr>
          <p:cNvPr id="137" name="Text 109"/>
          <p:cNvSpPr txBox="1"/>
          <p:nvPr/>
        </p:nvSpPr>
        <p:spPr>
          <a:xfrm>
            <a:off x="11925605" y="2838298"/>
            <a:ext cx="55248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2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unit = 78 px / 0.30 nm · filled =V1 hollow =M2 · orange = 9.50 nm target</a:t>
            </a:r>
            <a:endParaRPr lang="en-US" sz="900" dirty="0"/>
          </a:p>
        </p:txBody>
      </p:sp>
      <p:sp>
        <p:nvSpPr>
          <p:cNvPr id="138" name="Text 110"/>
          <p:cNvSpPr txBox="1"/>
          <p:nvPr/>
        </p:nvSpPr>
        <p:spPr>
          <a:xfrm>
            <a:off x="11582705" y="5600700"/>
            <a:ext cx="5715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E1F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KPI strip</a:t>
            </a:r>
            <a:endParaRPr lang="en-US" sz="1050" dirty="0"/>
          </a:p>
        </p:txBody>
      </p:sp>
      <p:sp>
        <p:nvSpPr>
          <p:cNvPr id="139" name="Text 111"/>
          <p:cNvSpPr txBox="1"/>
          <p:nvPr/>
        </p:nvSpPr>
        <p:spPr>
          <a:xfrm>
            <a:off x="11582705" y="6172200"/>
            <a:ext cx="1905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spc="156" kern="0" dirty="0">
                <a:solidFill>
                  <a:srgbClr val="B858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LARGEST |Δ|</a:t>
            </a:r>
            <a:endParaRPr lang="en-US" sz="975" dirty="0"/>
          </a:p>
        </p:txBody>
      </p:sp>
      <p:sp>
        <p:nvSpPr>
          <p:cNvPr id="140" name="Text 112"/>
          <p:cNvSpPr txBox="1"/>
          <p:nvPr/>
        </p:nvSpPr>
        <p:spPr>
          <a:xfrm>
            <a:off x="11582705" y="6372454"/>
            <a:ext cx="1905610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0.20 nm</a:t>
            </a:r>
            <a:endParaRPr lang="en-US" sz="2700" dirty="0"/>
          </a:p>
        </p:txBody>
      </p:sp>
      <p:sp>
        <p:nvSpPr>
          <p:cNvPr id="141" name="Text 113"/>
          <p:cNvSpPr txBox="1"/>
          <p:nvPr/>
        </p:nvSpPr>
        <p:spPr>
          <a:xfrm>
            <a:off x="11582705" y="6858000"/>
            <a:ext cx="19056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B8C0C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W02 V1·W03 M2</a:t>
            </a:r>
            <a:endParaRPr lang="en-US" sz="975" dirty="0"/>
          </a:p>
        </p:txBody>
      </p:sp>
      <p:sp>
        <p:nvSpPr>
          <p:cNvPr id="142" name="Text 114"/>
          <p:cNvSpPr txBox="1"/>
          <p:nvPr/>
        </p:nvSpPr>
        <p:spPr>
          <a:xfrm>
            <a:off x="13640105" y="6172200"/>
            <a:ext cx="1905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spc="156" kern="0" dirty="0">
                <a:solidFill>
                  <a:srgbClr val="B858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MIN 3σ</a:t>
            </a:r>
            <a:endParaRPr lang="en-US" sz="975" dirty="0"/>
          </a:p>
        </p:txBody>
      </p:sp>
      <p:sp>
        <p:nvSpPr>
          <p:cNvPr id="143" name="Text 115"/>
          <p:cNvSpPr txBox="1"/>
          <p:nvPr/>
        </p:nvSpPr>
        <p:spPr>
          <a:xfrm>
            <a:off x="13640105" y="6372454"/>
            <a:ext cx="1905610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0.29 nm</a:t>
            </a:r>
            <a:endParaRPr lang="en-US" sz="2700" dirty="0"/>
          </a:p>
        </p:txBody>
      </p:sp>
      <p:sp>
        <p:nvSpPr>
          <p:cNvPr id="144" name="Text 116"/>
          <p:cNvSpPr txBox="1"/>
          <p:nvPr/>
        </p:nvSpPr>
        <p:spPr>
          <a:xfrm>
            <a:off x="13640105" y="6858000"/>
            <a:ext cx="19056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B8C0C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W03 M2 line</a:t>
            </a:r>
            <a:endParaRPr lang="en-US" sz="975" dirty="0"/>
          </a:p>
        </p:txBody>
      </p:sp>
      <p:sp>
        <p:nvSpPr>
          <p:cNvPr id="145" name="Text 117"/>
          <p:cNvSpPr txBox="1"/>
          <p:nvPr/>
        </p:nvSpPr>
        <p:spPr>
          <a:xfrm>
            <a:off x="15697505" y="6172200"/>
            <a:ext cx="16770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spc="156" kern="0" dirty="0">
                <a:solidFill>
                  <a:srgbClr val="B858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</a:t>
            </a:r>
            <a:endParaRPr lang="en-US" sz="975" dirty="0"/>
          </a:p>
        </p:txBody>
      </p:sp>
      <p:sp>
        <p:nvSpPr>
          <p:cNvPr id="146" name="Text 118"/>
          <p:cNvSpPr txBox="1"/>
          <p:nvPr/>
        </p:nvSpPr>
        <p:spPr>
          <a:xfrm>
            <a:off x="15697505" y="6372454"/>
            <a:ext cx="1677010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7 808</a:t>
            </a:r>
            <a:endParaRPr lang="en-US" sz="2700" dirty="0"/>
          </a:p>
        </p:txBody>
      </p:sp>
      <p:sp>
        <p:nvSpPr>
          <p:cNvPr id="147" name="Text 119"/>
          <p:cNvSpPr txBox="1"/>
          <p:nvPr/>
        </p:nvSpPr>
        <p:spPr>
          <a:xfrm>
            <a:off x="15697505" y="6858000"/>
            <a:ext cx="16770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B8C0C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reads / 8-row sum</a:t>
            </a:r>
            <a:endParaRPr lang="en-US" sz="975" dirty="0"/>
          </a:p>
        </p:txBody>
      </p:sp>
      <p:sp>
        <p:nvSpPr>
          <p:cNvPr id="148" name="Text 120"/>
          <p:cNvSpPr txBox="1"/>
          <p:nvPr/>
        </p:nvSpPr>
        <p:spPr>
          <a:xfrm>
            <a:off x="11582705" y="7391095"/>
            <a:ext cx="579181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AMI는 Cu plating 직후 read, dummy 평가 한계로 양산 적합성 reference만. 8 row 중 Δ zero 3건 (W01M2, W04V1, W04M2).</a:t>
            </a:r>
            <a:endParaRPr lang="en-US" sz="975" dirty="0"/>
          </a:p>
        </p:txBody>
      </p:sp>
      <p:sp>
        <p:nvSpPr>
          <p:cNvPr id="149" name="Text 121"/>
          <p:cNvSpPr txBox="1"/>
          <p:nvPr/>
        </p:nvSpPr>
        <p:spPr>
          <a:xfrm>
            <a:off x="990295" y="9087307"/>
            <a:ext cx="1239012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spc="176" kern="0" dirty="0">
                <a:solidFill>
                  <a:srgbClr val="B858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TAKEAWAY</a:t>
            </a:r>
            <a:endParaRPr lang="en-US" sz="975" dirty="0"/>
          </a:p>
        </p:txBody>
      </p:sp>
      <p:sp>
        <p:nvSpPr>
          <p:cNvPr id="150" name="Text 122"/>
          <p:cNvSpPr txBox="1"/>
          <p:nvPr/>
        </p:nvSpPr>
        <p:spPr>
          <a:xfrm>
            <a:off x="2361895" y="9048902"/>
            <a:ext cx="1505011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AMI 단계 모든 row Δ가 ±0.20 nm 이내 — </a:t>
            </a:r>
            <a:pPr algn="l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W04 hybrid M2/V1 모두 0.00</a:t>
            </a:r>
            <a:pPr algn="l" indent="0" marL="0">
              <a:buNone/>
            </a:pPr>
            <a:r>
              <a:rPr lang="en-US" sz="127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으로 on-target, W03 Ru는 under-side로 mild -0.20 한 건 발생.</a:t>
            </a:r>
            <a:endParaRPr lang="en-US" sz="1275" dirty="0"/>
          </a:p>
        </p:txBody>
      </p:sp>
      <p:sp>
        <p:nvSpPr>
          <p:cNvPr id="151" name="Text 123"/>
          <p:cNvSpPr txBox="1"/>
          <p:nvPr/>
        </p:nvSpPr>
        <p:spPr>
          <a:xfrm>
            <a:off x="761695" y="9849002"/>
            <a:ext cx="72393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5A62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EV-BEOL-BLV-018 · AMI target 9.5 nm · unit nm</a:t>
            </a:r>
            <a:endParaRPr lang="en-US" sz="975" dirty="0"/>
          </a:p>
        </p:txBody>
      </p:sp>
      <p:sp>
        <p:nvSpPr>
          <p:cNvPr id="152" name="Text 124"/>
          <p:cNvSpPr txBox="1"/>
          <p:nvPr/>
        </p:nvSpPr>
        <p:spPr>
          <a:xfrm>
            <a:off x="8001000" y="9849002"/>
            <a:ext cx="952530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※ 내부 테스트용 더미(가상) 데이터 · 07 / 12</a:t>
            </a:r>
            <a:endParaRPr lang="en-US" sz="9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DF0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4b8b176d1054448e556d5d1f414aa96f.png">    </p:cNvPr>
          <p:cNvPicPr>
            <a:picLocks noChangeAspect="1"/>
          </p:cNvPicPr>
          <p:nvPr/>
        </p:nvPicPr>
        <p:blipFill>
          <a:blip r:embed="rId1"/>
          <a:srcRect l="0" r="0" t="-400" b="-400"/>
          <a:stretch/>
        </p:blipFill>
        <p:spPr>
          <a:xfrm>
            <a:off x="0" y="0"/>
            <a:ext cx="18288000" cy="57607"/>
          </a:xfrm>
          <a:prstGeom prst="rect">
            <a:avLst/>
          </a:prstGeom>
        </p:spPr>
      </p:pic>
      <p:pic>
        <p:nvPicPr>
          <p:cNvPr id="4" name="Image 1" descr="gen-dedup-6ef2f382d46d5f775cbbac1e044faac9.png">    </p:cNvPr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761695" y="1638605"/>
            <a:ext cx="16763695" cy="9144"/>
          </a:xfrm>
          <a:prstGeom prst="rect">
            <a:avLst/>
          </a:prstGeom>
        </p:spPr>
      </p:pic>
      <p:pic>
        <p:nvPicPr>
          <p:cNvPr id="5" name="Image 2" descr="gen-dedup-4a7b4e33f0c2e628e3f6ff8dd2248225.png">    </p:cNvPr>
          <p:cNvPicPr>
            <a:picLocks noChangeAspect="1"/>
          </p:cNvPicPr>
          <p:nvPr/>
        </p:nvPicPr>
        <p:blipFill>
          <a:blip r:embed="rId3"/>
          <a:srcRect l="-424" r="-424" t="0" b="0"/>
          <a:stretch/>
        </p:blipFill>
        <p:spPr>
          <a:xfrm>
            <a:off x="761695" y="1790395"/>
            <a:ext cx="57607" cy="323698"/>
          </a:xfrm>
          <a:prstGeom prst="rect">
            <a:avLst/>
          </a:prstGeom>
        </p:spPr>
      </p:pic>
      <p:sp>
        <p:nvSpPr>
          <p:cNvPr id="6" name="Shape 0"/>
          <p:cNvSpPr/>
          <p:nvPr/>
        </p:nvSpPr>
        <p:spPr>
          <a:xfrm>
            <a:off x="761695" y="2286000"/>
            <a:ext cx="11430000" cy="571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1"/>
          <p:cNvSpPr/>
          <p:nvPr/>
        </p:nvSpPr>
        <p:spPr>
          <a:xfrm>
            <a:off x="12573000" y="2286000"/>
            <a:ext cx="4953305" cy="571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2"/>
          <p:cNvSpPr/>
          <p:nvPr/>
        </p:nvSpPr>
        <p:spPr>
          <a:xfrm>
            <a:off x="761695" y="9010498"/>
            <a:ext cx="16763695" cy="400507"/>
          </a:xfrm>
          <a:prstGeom prst="rect">
            <a:avLst/>
          </a:prstGeom>
          <a:solidFill>
            <a:srgbClr val="0E1F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" name="Image 3" descr="gen-dedup-6ef2f382d46d5f775cbbac1e044faac9.png">    </p:cNvPr>
          <p:cNvPicPr>
            <a:picLocks noChangeAspect="1"/>
          </p:cNvPicPr>
          <p:nvPr/>
        </p:nvPicPr>
        <p:blipFill>
          <a:blip r:embed="rId4"/>
          <a:srcRect l="-2083" r="-2083" t="0" b="0"/>
          <a:stretch/>
        </p:blipFill>
        <p:spPr>
          <a:xfrm>
            <a:off x="761695" y="9715500"/>
            <a:ext cx="16763695" cy="9144"/>
          </a:xfrm>
          <a:prstGeom prst="rect">
            <a:avLst/>
          </a:prstGeom>
        </p:spPr>
      </p:pic>
      <p:sp>
        <p:nvSpPr>
          <p:cNvPr id="10" name="Shape 3"/>
          <p:cNvSpPr/>
          <p:nvPr/>
        </p:nvSpPr>
        <p:spPr>
          <a:xfrm>
            <a:off x="761695" y="2286000"/>
            <a:ext cx="11430000" cy="342900"/>
          </a:xfrm>
          <a:prstGeom prst="rect">
            <a:avLst/>
          </a:prstGeom>
          <a:solidFill>
            <a:srgbClr val="0E1F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1" name="Image 4" descr="gen-dedup-73ae536225137491d770b9b5c47d863e.png">    </p:cNvPr>
          <p:cNvPicPr>
            <a:picLocks noChangeAspect="1"/>
          </p:cNvPicPr>
          <p:nvPr/>
        </p:nvPicPr>
        <p:blipFill>
          <a:blip r:embed="rId5"/>
          <a:srcRect l="-2083" r="-2083" t="0" b="0"/>
          <a:stretch/>
        </p:blipFill>
        <p:spPr>
          <a:xfrm>
            <a:off x="761695" y="3619195"/>
            <a:ext cx="11430000" cy="9144"/>
          </a:xfrm>
          <a:prstGeom prst="rect">
            <a:avLst/>
          </a:prstGeom>
        </p:spPr>
      </p:pic>
      <p:pic>
        <p:nvPicPr>
          <p:cNvPr id="12" name="Image 5" descr="gen-dedup-73ae536225137491d770b9b5c47d863e.png">    </p:cNvPr>
          <p:cNvPicPr>
            <a:picLocks noChangeAspect="1"/>
          </p:cNvPicPr>
          <p:nvPr/>
        </p:nvPicPr>
        <p:blipFill>
          <a:blip r:embed="rId6"/>
          <a:srcRect l="-2083" r="-2083" t="0" b="0"/>
          <a:stretch/>
        </p:blipFill>
        <p:spPr>
          <a:xfrm>
            <a:off x="761695" y="4114800"/>
            <a:ext cx="11430000" cy="9144"/>
          </a:xfrm>
          <a:prstGeom prst="rect">
            <a:avLst/>
          </a:prstGeom>
        </p:spPr>
      </p:pic>
      <p:pic>
        <p:nvPicPr>
          <p:cNvPr id="13" name="Image 6" descr="gen-dedup-73ae536225137491d770b9b5c47d863e.png">    </p:cNvPr>
          <p:cNvPicPr>
            <a:picLocks noChangeAspect="1"/>
          </p:cNvPicPr>
          <p:nvPr/>
        </p:nvPicPr>
        <p:blipFill>
          <a:blip r:embed="rId7"/>
          <a:srcRect l="-2083" r="-2083" t="0" b="0"/>
          <a:stretch/>
        </p:blipFill>
        <p:spPr>
          <a:xfrm>
            <a:off x="761695" y="4610405"/>
            <a:ext cx="11430000" cy="9144"/>
          </a:xfrm>
          <a:prstGeom prst="rect">
            <a:avLst/>
          </a:prstGeom>
        </p:spPr>
      </p:pic>
      <p:pic>
        <p:nvPicPr>
          <p:cNvPr id="14" name="Image 7" descr="gen-dedup-73ae536225137491d770b9b5c47d863e.png">    </p:cNvPr>
          <p:cNvPicPr>
            <a:picLocks noChangeAspect="1"/>
          </p:cNvPicPr>
          <p:nvPr/>
        </p:nvPicPr>
        <p:blipFill>
          <a:blip r:embed="rId8"/>
          <a:srcRect l="-2083" r="-2083" t="0" b="0"/>
          <a:stretch/>
        </p:blipFill>
        <p:spPr>
          <a:xfrm>
            <a:off x="761695" y="5105095"/>
            <a:ext cx="11430000" cy="9144"/>
          </a:xfrm>
          <a:prstGeom prst="rect">
            <a:avLst/>
          </a:prstGeom>
        </p:spPr>
      </p:pic>
      <p:pic>
        <p:nvPicPr>
          <p:cNvPr id="15" name="Image 8" descr="gen-dedup-73ae536225137491d770b9b5c47d863e.png">    </p:cNvPr>
          <p:cNvPicPr>
            <a:picLocks noChangeAspect="1"/>
          </p:cNvPicPr>
          <p:nvPr/>
        </p:nvPicPr>
        <p:blipFill>
          <a:blip r:embed="rId9"/>
          <a:srcRect l="-2083" r="-2083" t="0" b="0"/>
          <a:stretch/>
        </p:blipFill>
        <p:spPr>
          <a:xfrm>
            <a:off x="761695" y="5600700"/>
            <a:ext cx="11430000" cy="9144"/>
          </a:xfrm>
          <a:prstGeom prst="rect">
            <a:avLst/>
          </a:prstGeom>
        </p:spPr>
      </p:pic>
      <p:pic>
        <p:nvPicPr>
          <p:cNvPr id="16" name="Image 9" descr="gen-dedup-73ae536225137491d770b9b5c47d863e.png">    </p:cNvPr>
          <p:cNvPicPr>
            <a:picLocks noChangeAspect="1"/>
          </p:cNvPicPr>
          <p:nvPr/>
        </p:nvPicPr>
        <p:blipFill>
          <a:blip r:embed="rId10"/>
          <a:srcRect l="-2083" r="-2083" t="0" b="0"/>
          <a:stretch/>
        </p:blipFill>
        <p:spPr>
          <a:xfrm>
            <a:off x="761695" y="6096305"/>
            <a:ext cx="11430000" cy="9144"/>
          </a:xfrm>
          <a:prstGeom prst="rect">
            <a:avLst/>
          </a:prstGeom>
        </p:spPr>
      </p:pic>
      <p:pic>
        <p:nvPicPr>
          <p:cNvPr id="17" name="Image 10" descr="gen-dedup-73ae536225137491d770b9b5c47d863e.png">    </p:cNvPr>
          <p:cNvPicPr>
            <a:picLocks noChangeAspect="1"/>
          </p:cNvPicPr>
          <p:nvPr/>
        </p:nvPicPr>
        <p:blipFill>
          <a:blip r:embed="rId11"/>
          <a:srcRect l="-2083" r="-2083" t="0" b="0"/>
          <a:stretch/>
        </p:blipFill>
        <p:spPr>
          <a:xfrm>
            <a:off x="761695" y="6590995"/>
            <a:ext cx="11430000" cy="9144"/>
          </a:xfrm>
          <a:prstGeom prst="rect">
            <a:avLst/>
          </a:prstGeom>
        </p:spPr>
      </p:pic>
      <p:sp>
        <p:nvSpPr>
          <p:cNvPr id="18" name="Shape 4"/>
          <p:cNvSpPr/>
          <p:nvPr/>
        </p:nvSpPr>
        <p:spPr>
          <a:xfrm>
            <a:off x="12573000" y="2286000"/>
            <a:ext cx="4953305" cy="381305"/>
          </a:xfrm>
          <a:prstGeom prst="rect">
            <a:avLst/>
          </a:prstGeom>
          <a:solidFill>
            <a:srgbClr val="0E1F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5"/>
          <p:cNvSpPr/>
          <p:nvPr/>
        </p:nvSpPr>
        <p:spPr>
          <a:xfrm>
            <a:off x="12725705" y="2819095"/>
            <a:ext cx="4647895" cy="1181405"/>
          </a:xfrm>
          <a:prstGeom prst="rect">
            <a:avLst/>
          </a:prstGeom>
          <a:solidFill>
            <a:srgbClr val="F4F6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6"/>
          <p:cNvSpPr/>
          <p:nvPr/>
        </p:nvSpPr>
        <p:spPr>
          <a:xfrm>
            <a:off x="12725705" y="4095598"/>
            <a:ext cx="4647895" cy="1181405"/>
          </a:xfrm>
          <a:prstGeom prst="rect">
            <a:avLst/>
          </a:prstGeom>
          <a:solidFill>
            <a:srgbClr val="F4F6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7"/>
          <p:cNvSpPr/>
          <p:nvPr/>
        </p:nvSpPr>
        <p:spPr>
          <a:xfrm>
            <a:off x="12725705" y="5372100"/>
            <a:ext cx="4647895" cy="1181405"/>
          </a:xfrm>
          <a:prstGeom prst="rect">
            <a:avLst/>
          </a:prstGeom>
          <a:solidFill>
            <a:srgbClr val="F4F6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8"/>
          <p:cNvSpPr/>
          <p:nvPr/>
        </p:nvSpPr>
        <p:spPr>
          <a:xfrm>
            <a:off x="12725705" y="6648602"/>
            <a:ext cx="4647895" cy="1181405"/>
          </a:xfrm>
          <a:prstGeom prst="rect">
            <a:avLst/>
          </a:prstGeom>
          <a:solidFill>
            <a:srgbClr val="F4F6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3" name="Image 11" descr="gen-dedup-fd57857e7c31bdcd9e9cff7d04765ff5.png">    </p:cNvPr>
          <p:cNvPicPr>
            <a:picLocks noChangeAspect="1"/>
          </p:cNvPicPr>
          <p:nvPr/>
        </p:nvPicPr>
        <p:blipFill>
          <a:blip r:embed="rId12"/>
          <a:srcRect l="-342" r="-342" t="0" b="0"/>
          <a:stretch/>
        </p:blipFill>
        <p:spPr>
          <a:xfrm>
            <a:off x="761695" y="9010498"/>
            <a:ext cx="57607" cy="400507"/>
          </a:xfrm>
          <a:prstGeom prst="rect">
            <a:avLst/>
          </a:prstGeom>
        </p:spPr>
      </p:pic>
      <p:sp>
        <p:nvSpPr>
          <p:cNvPr id="24" name="Shape 9"/>
          <p:cNvSpPr/>
          <p:nvPr/>
        </p:nvSpPr>
        <p:spPr>
          <a:xfrm>
            <a:off x="11239805" y="3314700"/>
            <a:ext cx="342900" cy="133502"/>
          </a:xfrm>
          <a:prstGeom prst="rect">
            <a:avLst/>
          </a:prstGeom>
          <a:solidFill>
            <a:srgbClr val="54616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10"/>
          <p:cNvSpPr/>
          <p:nvPr/>
        </p:nvSpPr>
        <p:spPr>
          <a:xfrm>
            <a:off x="11239805" y="3810305"/>
            <a:ext cx="323698" cy="133502"/>
          </a:xfrm>
          <a:prstGeom prst="rect">
            <a:avLst/>
          </a:prstGeom>
          <a:solidFill>
            <a:srgbClr val="54616F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11"/>
          <p:cNvSpPr/>
          <p:nvPr/>
        </p:nvSpPr>
        <p:spPr>
          <a:xfrm>
            <a:off x="11430000" y="4304995"/>
            <a:ext cx="381305" cy="133502"/>
          </a:xfrm>
          <a:prstGeom prst="rect">
            <a:avLst/>
          </a:prstGeom>
          <a:solidFill>
            <a:srgbClr val="B8581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12"/>
          <p:cNvSpPr/>
          <p:nvPr/>
        </p:nvSpPr>
        <p:spPr>
          <a:xfrm>
            <a:off x="11239805" y="4800600"/>
            <a:ext cx="362102" cy="133502"/>
          </a:xfrm>
          <a:prstGeom prst="rect">
            <a:avLst/>
          </a:prstGeom>
          <a:solidFill>
            <a:srgbClr val="B8581A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13"/>
          <p:cNvSpPr/>
          <p:nvPr/>
        </p:nvSpPr>
        <p:spPr>
          <a:xfrm>
            <a:off x="11239805" y="5296205"/>
            <a:ext cx="304495" cy="133502"/>
          </a:xfrm>
          <a:prstGeom prst="rect">
            <a:avLst/>
          </a:prstGeom>
          <a:solidFill>
            <a:srgbClr val="1F536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14"/>
          <p:cNvSpPr/>
          <p:nvPr/>
        </p:nvSpPr>
        <p:spPr>
          <a:xfrm>
            <a:off x="11239805" y="5790895"/>
            <a:ext cx="295351" cy="133502"/>
          </a:xfrm>
          <a:prstGeom prst="rect">
            <a:avLst/>
          </a:prstGeom>
          <a:solidFill>
            <a:srgbClr val="1F5366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15"/>
          <p:cNvSpPr/>
          <p:nvPr/>
        </p:nvSpPr>
        <p:spPr>
          <a:xfrm>
            <a:off x="11239805" y="6286500"/>
            <a:ext cx="333756" cy="133502"/>
          </a:xfrm>
          <a:prstGeom prst="rect">
            <a:avLst/>
          </a:prstGeom>
          <a:solidFill>
            <a:srgbClr val="2D6A4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16"/>
          <p:cNvSpPr/>
          <p:nvPr/>
        </p:nvSpPr>
        <p:spPr>
          <a:xfrm>
            <a:off x="11239805" y="6782105"/>
            <a:ext cx="323698" cy="133502"/>
          </a:xfrm>
          <a:prstGeom prst="rect">
            <a:avLst/>
          </a:prstGeom>
          <a:solidFill>
            <a:srgbClr val="2D6A4F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17"/>
          <p:cNvSpPr/>
          <p:nvPr/>
        </p:nvSpPr>
        <p:spPr>
          <a:xfrm>
            <a:off x="12877495" y="3504895"/>
            <a:ext cx="571500" cy="133502"/>
          </a:xfrm>
          <a:prstGeom prst="rect">
            <a:avLst/>
          </a:prstGeom>
          <a:solidFill>
            <a:srgbClr val="54616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18"/>
          <p:cNvSpPr/>
          <p:nvPr/>
        </p:nvSpPr>
        <p:spPr>
          <a:xfrm>
            <a:off x="13791895" y="3504895"/>
            <a:ext cx="571500" cy="133502"/>
          </a:xfrm>
          <a:prstGeom prst="rect">
            <a:avLst/>
          </a:prstGeom>
          <a:solidFill>
            <a:srgbClr val="B8581A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19"/>
          <p:cNvSpPr/>
          <p:nvPr/>
        </p:nvSpPr>
        <p:spPr>
          <a:xfrm>
            <a:off x="12877495" y="4781398"/>
            <a:ext cx="571500" cy="133502"/>
          </a:xfrm>
          <a:prstGeom prst="rect">
            <a:avLst/>
          </a:prstGeom>
          <a:solidFill>
            <a:srgbClr val="B8581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20"/>
          <p:cNvSpPr/>
          <p:nvPr/>
        </p:nvSpPr>
        <p:spPr>
          <a:xfrm>
            <a:off x="13791895" y="4781398"/>
            <a:ext cx="571500" cy="133502"/>
          </a:xfrm>
          <a:prstGeom prst="rect">
            <a:avLst/>
          </a:prstGeom>
          <a:solidFill>
            <a:srgbClr val="B8581A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21"/>
          <p:cNvSpPr/>
          <p:nvPr/>
        </p:nvSpPr>
        <p:spPr>
          <a:xfrm>
            <a:off x="13506602" y="6057900"/>
            <a:ext cx="571500" cy="133502"/>
          </a:xfrm>
          <a:prstGeom prst="rect">
            <a:avLst/>
          </a:prstGeom>
          <a:solidFill>
            <a:srgbClr val="1F5366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22"/>
          <p:cNvSpPr/>
          <p:nvPr/>
        </p:nvSpPr>
        <p:spPr>
          <a:xfrm>
            <a:off x="14173200" y="6057900"/>
            <a:ext cx="571500" cy="133502"/>
          </a:xfrm>
          <a:prstGeom prst="rect">
            <a:avLst/>
          </a:prstGeom>
          <a:solidFill>
            <a:srgbClr val="1F536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hape 23"/>
          <p:cNvSpPr/>
          <p:nvPr/>
        </p:nvSpPr>
        <p:spPr>
          <a:xfrm>
            <a:off x="13791895" y="7334402"/>
            <a:ext cx="571500" cy="133502"/>
          </a:xfrm>
          <a:prstGeom prst="rect">
            <a:avLst/>
          </a:prstGeom>
          <a:solidFill>
            <a:srgbClr val="2D6A4F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24"/>
          <p:cNvSpPr txBox="1"/>
          <p:nvPr/>
        </p:nvSpPr>
        <p:spPr>
          <a:xfrm>
            <a:off x="761695" y="400507"/>
            <a:ext cx="1334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DOC //</a:t>
            </a:r>
            <a:endParaRPr lang="en-US" sz="1050" dirty="0"/>
          </a:p>
        </p:txBody>
      </p:sp>
      <p:sp>
        <p:nvSpPr>
          <p:cNvPr id="40" name="Text 25"/>
          <p:cNvSpPr txBox="1"/>
          <p:nvPr/>
        </p:nvSpPr>
        <p:spPr>
          <a:xfrm>
            <a:off x="761695" y="629107"/>
            <a:ext cx="13341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63" kern="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EV-BEOL-BLV-018</a:t>
            </a:r>
            <a:endParaRPr lang="en-US" sz="1050" dirty="0"/>
          </a:p>
        </p:txBody>
      </p:sp>
      <p:sp>
        <p:nvSpPr>
          <p:cNvPr id="41" name="Text 26"/>
          <p:cNvSpPr txBox="1"/>
          <p:nvPr/>
        </p:nvSpPr>
        <p:spPr>
          <a:xfrm>
            <a:off x="761695" y="857707"/>
            <a:ext cx="14287500" cy="5815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0E1F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CD variation · </a:t>
            </a:r>
            <a:pPr algn="l" indent="0" marL="0">
              <a:buNone/>
            </a:pPr>
            <a:r>
              <a:rPr lang="en-US" sz="3150" b="1" dirty="0">
                <a:solidFill>
                  <a:srgbClr val="2D6A4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ACI final read</a:t>
            </a:r>
            <a:endParaRPr lang="en-US" sz="3150" dirty="0"/>
          </a:p>
        </p:txBody>
      </p:sp>
      <p:sp>
        <p:nvSpPr>
          <p:cNvPr id="42" name="Text 27"/>
          <p:cNvSpPr txBox="1"/>
          <p:nvPr/>
        </p:nvSpPr>
        <p:spPr>
          <a:xfrm>
            <a:off x="761695" y="1514246"/>
            <a:ext cx="142875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25" dirty="0">
                <a:solidFill>
                  <a:srgbClr val="4D566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After-CMP Inspection · target </a:t>
            </a:r>
            <a:pPr algn="l" indent="0" marL="0">
              <a:buNone/>
            </a:pPr>
            <a:r>
              <a:rPr lang="en-US" sz="1425" b="1" dirty="0">
                <a:solidFill>
                  <a:srgbClr val="4D566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10.0 nm</a:t>
            </a:r>
            <a:pPr algn="l" indent="0" marL="0">
              <a:buNone/>
            </a:pPr>
            <a:r>
              <a:rPr lang="en-US" sz="1425" dirty="0">
                <a:solidFill>
                  <a:srgbClr val="4D566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post-Cu CMP read · line/via final CD · unit nm</a:t>
            </a:r>
            <a:endParaRPr lang="en-US" sz="1425" dirty="0"/>
          </a:p>
        </p:txBody>
      </p:sp>
      <p:sp>
        <p:nvSpPr>
          <p:cNvPr id="43" name="Text 28"/>
          <p:cNvSpPr txBox="1"/>
          <p:nvPr/>
        </p:nvSpPr>
        <p:spPr>
          <a:xfrm>
            <a:off x="15430500" y="400507"/>
            <a:ext cx="20958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spc="98" kern="0" dirty="0">
                <a:solidFill>
                  <a:srgbClr val="5A62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 0.6 · INTERNAL</a:t>
            </a:r>
            <a:endParaRPr lang="en-US" sz="975" dirty="0"/>
          </a:p>
        </p:txBody>
      </p:sp>
      <p:sp>
        <p:nvSpPr>
          <p:cNvPr id="44" name="Text 29"/>
          <p:cNvSpPr txBox="1"/>
          <p:nvPr/>
        </p:nvSpPr>
        <p:spPr>
          <a:xfrm>
            <a:off x="15430500" y="599846"/>
            <a:ext cx="20958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dirty="0">
                <a:solidFill>
                  <a:srgbClr val="5A62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2026-10-03</a:t>
            </a:r>
            <a:endParaRPr lang="en-US" sz="975" dirty="0"/>
          </a:p>
        </p:txBody>
      </p:sp>
      <p:sp>
        <p:nvSpPr>
          <p:cNvPr id="45" name="Text 30"/>
          <p:cNvSpPr txBox="1"/>
          <p:nvPr/>
        </p:nvSpPr>
        <p:spPr>
          <a:xfrm>
            <a:off x="914400" y="1790395"/>
            <a:ext cx="10478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spc="168" kern="0" dirty="0">
                <a:solidFill>
                  <a:srgbClr val="2D6A4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§ 01 / 08 · CD-ACI</a:t>
            </a:r>
            <a:endParaRPr lang="en-US" sz="1050" dirty="0"/>
          </a:p>
        </p:txBody>
      </p:sp>
      <p:sp>
        <p:nvSpPr>
          <p:cNvPr id="46" name="Text 31"/>
          <p:cNvSpPr txBox="1"/>
          <p:nvPr/>
        </p:nvSpPr>
        <p:spPr>
          <a:xfrm>
            <a:off x="914400" y="2000707"/>
            <a:ext cx="104781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final line CD read. CMP 후 dishing 영향 cache. dummy 평가 — split 의 Δ 분포 비교에 가중.</a:t>
            </a:r>
            <a:endParaRPr lang="en-US" sz="975" dirty="0"/>
          </a:p>
        </p:txBody>
      </p:sp>
      <p:sp>
        <p:nvSpPr>
          <p:cNvPr id="47" name="Text 32"/>
          <p:cNvSpPr txBox="1"/>
          <p:nvPr/>
        </p:nvSpPr>
        <p:spPr>
          <a:xfrm>
            <a:off x="914400" y="2361895"/>
            <a:ext cx="5715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68" kern="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ACI · final line CD target 10.0 nm</a:t>
            </a:r>
            <a:endParaRPr lang="en-US" sz="1050" dirty="0"/>
          </a:p>
        </p:txBody>
      </p:sp>
      <p:sp>
        <p:nvSpPr>
          <p:cNvPr id="48" name="Text 33"/>
          <p:cNvSpPr txBox="1"/>
          <p:nvPr/>
        </p:nvSpPr>
        <p:spPr>
          <a:xfrm>
            <a:off x="10248595" y="2361895"/>
            <a:ext cx="1905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dirty="0">
                <a:solidFill>
                  <a:srgbClr val="B858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tol. ±0.30 · 3σ ≤ 0.40</a:t>
            </a:r>
            <a:endParaRPr lang="en-US" sz="975" dirty="0"/>
          </a:p>
        </p:txBody>
      </p:sp>
      <p:sp>
        <p:nvSpPr>
          <p:cNvPr id="49" name="Text 34"/>
          <p:cNvSpPr txBox="1"/>
          <p:nvPr/>
        </p:nvSpPr>
        <p:spPr>
          <a:xfrm>
            <a:off x="914400" y="2819095"/>
            <a:ext cx="1334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E1F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split</a:t>
            </a:r>
            <a:endParaRPr lang="en-US" sz="1050" dirty="0"/>
          </a:p>
        </p:txBody>
      </p:sp>
      <p:sp>
        <p:nvSpPr>
          <p:cNvPr id="50" name="Text 35"/>
          <p:cNvSpPr txBox="1"/>
          <p:nvPr/>
        </p:nvSpPr>
        <p:spPr>
          <a:xfrm>
            <a:off x="2286000" y="2819095"/>
            <a:ext cx="1334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E1F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layer</a:t>
            </a:r>
            <a:endParaRPr lang="en-US" sz="1050" dirty="0"/>
          </a:p>
        </p:txBody>
      </p:sp>
      <p:sp>
        <p:nvSpPr>
          <p:cNvPr id="51" name="Text 36"/>
          <p:cNvSpPr txBox="1"/>
          <p:nvPr/>
        </p:nvSpPr>
        <p:spPr>
          <a:xfrm>
            <a:off x="3619195" y="2819095"/>
            <a:ext cx="1143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mean</a:t>
            </a:r>
            <a:endParaRPr lang="en-US" sz="1050" dirty="0"/>
          </a:p>
        </p:txBody>
      </p:sp>
      <p:sp>
        <p:nvSpPr>
          <p:cNvPr id="52" name="Text 37"/>
          <p:cNvSpPr txBox="1"/>
          <p:nvPr/>
        </p:nvSpPr>
        <p:spPr>
          <a:xfrm>
            <a:off x="4762195" y="2819095"/>
            <a:ext cx="1143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3σ</a:t>
            </a:r>
            <a:endParaRPr lang="en-US" sz="1050" dirty="0"/>
          </a:p>
        </p:txBody>
      </p:sp>
      <p:sp>
        <p:nvSpPr>
          <p:cNvPr id="53" name="Text 38"/>
          <p:cNvSpPr txBox="1"/>
          <p:nvPr/>
        </p:nvSpPr>
        <p:spPr>
          <a:xfrm>
            <a:off x="5905195" y="2819095"/>
            <a:ext cx="1143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range</a:t>
            </a:r>
            <a:endParaRPr lang="en-US" sz="1050" dirty="0"/>
          </a:p>
        </p:txBody>
      </p:sp>
      <p:sp>
        <p:nvSpPr>
          <p:cNvPr id="54" name="Text 39"/>
          <p:cNvSpPr txBox="1"/>
          <p:nvPr/>
        </p:nvSpPr>
        <p:spPr>
          <a:xfrm>
            <a:off x="7048195" y="2819095"/>
            <a:ext cx="15243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1F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Δ vs target</a:t>
            </a:r>
            <a:endParaRPr lang="en-US" sz="1050" dirty="0"/>
          </a:p>
        </p:txBody>
      </p:sp>
      <p:sp>
        <p:nvSpPr>
          <p:cNvPr id="55" name="Text 40"/>
          <p:cNvSpPr txBox="1"/>
          <p:nvPr/>
        </p:nvSpPr>
        <p:spPr>
          <a:xfrm>
            <a:off x="8572500" y="2819095"/>
            <a:ext cx="7626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</a:t>
            </a:r>
            <a:endParaRPr lang="en-US" sz="1050" dirty="0"/>
          </a:p>
        </p:txBody>
      </p:sp>
      <p:sp>
        <p:nvSpPr>
          <p:cNvPr id="56" name="Text 41"/>
          <p:cNvSpPr txBox="1"/>
          <p:nvPr/>
        </p:nvSpPr>
        <p:spPr>
          <a:xfrm>
            <a:off x="9525305" y="2819095"/>
            <a:ext cx="26673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E1F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3σ trend (red dashed)</a:t>
            </a:r>
            <a:endParaRPr lang="en-US" sz="1050" dirty="0"/>
          </a:p>
        </p:txBody>
      </p:sp>
      <p:sp>
        <p:nvSpPr>
          <p:cNvPr id="57" name="Text 42"/>
          <p:cNvSpPr txBox="1"/>
          <p:nvPr/>
        </p:nvSpPr>
        <p:spPr>
          <a:xfrm>
            <a:off x="914400" y="3238805"/>
            <a:ext cx="13341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5461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W01 REF</a:t>
            </a:r>
            <a:endParaRPr lang="en-US" sz="1350" dirty="0"/>
          </a:p>
        </p:txBody>
      </p:sp>
      <p:sp>
        <p:nvSpPr>
          <p:cNvPr id="58" name="Text 43"/>
          <p:cNvSpPr txBox="1"/>
          <p:nvPr/>
        </p:nvSpPr>
        <p:spPr>
          <a:xfrm>
            <a:off x="2286000" y="3276295"/>
            <a:ext cx="1334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V1</a:t>
            </a:r>
            <a:endParaRPr lang="en-US" sz="1200" dirty="0"/>
          </a:p>
        </p:txBody>
      </p:sp>
      <p:sp>
        <p:nvSpPr>
          <p:cNvPr id="59" name="Text 44"/>
          <p:cNvSpPr txBox="1"/>
          <p:nvPr/>
        </p:nvSpPr>
        <p:spPr>
          <a:xfrm>
            <a:off x="3619195" y="3238805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10.10</a:t>
            </a:r>
            <a:endParaRPr lang="en-US" sz="1350" dirty="0"/>
          </a:p>
        </p:txBody>
      </p:sp>
      <p:sp>
        <p:nvSpPr>
          <p:cNvPr id="60" name="Text 45"/>
          <p:cNvSpPr txBox="1"/>
          <p:nvPr/>
        </p:nvSpPr>
        <p:spPr>
          <a:xfrm>
            <a:off x="4762195" y="3238805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0.36</a:t>
            </a:r>
            <a:endParaRPr lang="en-US" sz="1350" dirty="0"/>
          </a:p>
        </p:txBody>
      </p:sp>
      <p:sp>
        <p:nvSpPr>
          <p:cNvPr id="61" name="Text 46"/>
          <p:cNvSpPr txBox="1"/>
          <p:nvPr/>
        </p:nvSpPr>
        <p:spPr>
          <a:xfrm>
            <a:off x="5905195" y="3238805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1.02</a:t>
            </a:r>
            <a:endParaRPr lang="en-US" sz="1350" dirty="0"/>
          </a:p>
        </p:txBody>
      </p:sp>
      <p:sp>
        <p:nvSpPr>
          <p:cNvPr id="62" name="Text 47"/>
          <p:cNvSpPr txBox="1"/>
          <p:nvPr/>
        </p:nvSpPr>
        <p:spPr>
          <a:xfrm>
            <a:off x="7048195" y="3200400"/>
            <a:ext cx="15243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B858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+0.10</a:t>
            </a:r>
            <a:endParaRPr lang="en-US" sz="1350" dirty="0"/>
          </a:p>
        </p:txBody>
      </p:sp>
      <p:sp>
        <p:nvSpPr>
          <p:cNvPr id="63" name="Text 48"/>
          <p:cNvSpPr txBox="1"/>
          <p:nvPr/>
        </p:nvSpPr>
        <p:spPr>
          <a:xfrm>
            <a:off x="8572500" y="3238805"/>
            <a:ext cx="7626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980</a:t>
            </a:r>
            <a:endParaRPr lang="en-US" sz="1200" dirty="0"/>
          </a:p>
        </p:txBody>
      </p:sp>
      <p:sp>
        <p:nvSpPr>
          <p:cNvPr id="64" name="Text 49"/>
          <p:cNvSpPr txBox="1"/>
          <p:nvPr/>
        </p:nvSpPr>
        <p:spPr>
          <a:xfrm>
            <a:off x="914400" y="3733495"/>
            <a:ext cx="13341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5461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W01 REF</a:t>
            </a:r>
            <a:endParaRPr lang="en-US" sz="1350" dirty="0"/>
          </a:p>
        </p:txBody>
      </p:sp>
      <p:sp>
        <p:nvSpPr>
          <p:cNvPr id="65" name="Text 50"/>
          <p:cNvSpPr txBox="1"/>
          <p:nvPr/>
        </p:nvSpPr>
        <p:spPr>
          <a:xfrm>
            <a:off x="2286000" y="3771900"/>
            <a:ext cx="1334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M2</a:t>
            </a:r>
            <a:endParaRPr lang="en-US" sz="1200" dirty="0"/>
          </a:p>
        </p:txBody>
      </p:sp>
      <p:sp>
        <p:nvSpPr>
          <p:cNvPr id="66" name="Text 51"/>
          <p:cNvSpPr txBox="1"/>
          <p:nvPr/>
        </p:nvSpPr>
        <p:spPr>
          <a:xfrm>
            <a:off x="3619195" y="3733495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10.00</a:t>
            </a:r>
            <a:endParaRPr lang="en-US" sz="1350" dirty="0"/>
          </a:p>
        </p:txBody>
      </p:sp>
      <p:sp>
        <p:nvSpPr>
          <p:cNvPr id="67" name="Text 52"/>
          <p:cNvSpPr txBox="1"/>
          <p:nvPr/>
        </p:nvSpPr>
        <p:spPr>
          <a:xfrm>
            <a:off x="4762195" y="3733495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0.34</a:t>
            </a:r>
            <a:endParaRPr lang="en-US" sz="1350" dirty="0"/>
          </a:p>
        </p:txBody>
      </p:sp>
      <p:sp>
        <p:nvSpPr>
          <p:cNvPr id="68" name="Text 53"/>
          <p:cNvSpPr txBox="1"/>
          <p:nvPr/>
        </p:nvSpPr>
        <p:spPr>
          <a:xfrm>
            <a:off x="5905195" y="3733495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0.98</a:t>
            </a:r>
            <a:endParaRPr lang="en-US" sz="1350" dirty="0"/>
          </a:p>
        </p:txBody>
      </p:sp>
      <p:sp>
        <p:nvSpPr>
          <p:cNvPr id="69" name="Text 54"/>
          <p:cNvSpPr txBox="1"/>
          <p:nvPr/>
        </p:nvSpPr>
        <p:spPr>
          <a:xfrm>
            <a:off x="7048195" y="3696005"/>
            <a:ext cx="15243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0.00</a:t>
            </a:r>
            <a:endParaRPr lang="en-US" sz="1350" dirty="0"/>
          </a:p>
        </p:txBody>
      </p:sp>
      <p:sp>
        <p:nvSpPr>
          <p:cNvPr id="70" name="Text 55"/>
          <p:cNvSpPr txBox="1"/>
          <p:nvPr/>
        </p:nvSpPr>
        <p:spPr>
          <a:xfrm>
            <a:off x="8572500" y="3733495"/>
            <a:ext cx="7626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980</a:t>
            </a:r>
            <a:endParaRPr lang="en-US" sz="1200" dirty="0"/>
          </a:p>
        </p:txBody>
      </p:sp>
      <p:sp>
        <p:nvSpPr>
          <p:cNvPr id="71" name="Text 56"/>
          <p:cNvSpPr txBox="1"/>
          <p:nvPr/>
        </p:nvSpPr>
        <p:spPr>
          <a:xfrm>
            <a:off x="914400" y="4229100"/>
            <a:ext cx="13341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B858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W02 Co</a:t>
            </a:r>
            <a:endParaRPr lang="en-US" sz="1350" dirty="0"/>
          </a:p>
        </p:txBody>
      </p:sp>
      <p:sp>
        <p:nvSpPr>
          <p:cNvPr id="72" name="Text 57"/>
          <p:cNvSpPr txBox="1"/>
          <p:nvPr/>
        </p:nvSpPr>
        <p:spPr>
          <a:xfrm>
            <a:off x="2286000" y="4267505"/>
            <a:ext cx="1334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V1</a:t>
            </a:r>
            <a:endParaRPr lang="en-US" sz="1200" dirty="0"/>
          </a:p>
        </p:txBody>
      </p:sp>
      <p:sp>
        <p:nvSpPr>
          <p:cNvPr id="73" name="Text 58"/>
          <p:cNvSpPr txBox="1"/>
          <p:nvPr/>
        </p:nvSpPr>
        <p:spPr>
          <a:xfrm>
            <a:off x="3619195" y="4229100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10.20</a:t>
            </a:r>
            <a:endParaRPr lang="en-US" sz="1350" dirty="0"/>
          </a:p>
        </p:txBody>
      </p:sp>
      <p:sp>
        <p:nvSpPr>
          <p:cNvPr id="74" name="Text 59"/>
          <p:cNvSpPr txBox="1"/>
          <p:nvPr/>
        </p:nvSpPr>
        <p:spPr>
          <a:xfrm>
            <a:off x="4762195" y="4229100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0.40</a:t>
            </a:r>
            <a:endParaRPr lang="en-US" sz="1350" dirty="0"/>
          </a:p>
        </p:txBody>
      </p:sp>
      <p:sp>
        <p:nvSpPr>
          <p:cNvPr id="75" name="Text 60"/>
          <p:cNvSpPr txBox="1"/>
          <p:nvPr/>
        </p:nvSpPr>
        <p:spPr>
          <a:xfrm>
            <a:off x="5905195" y="4229100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1.10</a:t>
            </a:r>
            <a:endParaRPr lang="en-US" sz="1350" dirty="0"/>
          </a:p>
        </p:txBody>
      </p:sp>
      <p:sp>
        <p:nvSpPr>
          <p:cNvPr id="76" name="Text 61"/>
          <p:cNvSpPr txBox="1"/>
          <p:nvPr/>
        </p:nvSpPr>
        <p:spPr>
          <a:xfrm>
            <a:off x="7048195" y="4190695"/>
            <a:ext cx="15243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B858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+0.20</a:t>
            </a:r>
            <a:endParaRPr lang="en-US" sz="1350" dirty="0"/>
          </a:p>
        </p:txBody>
      </p:sp>
      <p:sp>
        <p:nvSpPr>
          <p:cNvPr id="77" name="Text 62"/>
          <p:cNvSpPr txBox="1"/>
          <p:nvPr/>
        </p:nvSpPr>
        <p:spPr>
          <a:xfrm>
            <a:off x="8572500" y="4229100"/>
            <a:ext cx="7626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960</a:t>
            </a:r>
            <a:endParaRPr lang="en-US" sz="1200" dirty="0"/>
          </a:p>
        </p:txBody>
      </p:sp>
      <p:sp>
        <p:nvSpPr>
          <p:cNvPr id="78" name="Text 63"/>
          <p:cNvSpPr txBox="1"/>
          <p:nvPr/>
        </p:nvSpPr>
        <p:spPr>
          <a:xfrm>
            <a:off x="914400" y="4724705"/>
            <a:ext cx="13341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B858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W02 Co</a:t>
            </a:r>
            <a:endParaRPr lang="en-US" sz="1350" dirty="0"/>
          </a:p>
        </p:txBody>
      </p:sp>
      <p:sp>
        <p:nvSpPr>
          <p:cNvPr id="79" name="Text 64"/>
          <p:cNvSpPr txBox="1"/>
          <p:nvPr/>
        </p:nvSpPr>
        <p:spPr>
          <a:xfrm>
            <a:off x="2286000" y="4762195"/>
            <a:ext cx="1334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M2</a:t>
            </a:r>
            <a:endParaRPr lang="en-US" sz="1200" dirty="0"/>
          </a:p>
        </p:txBody>
      </p:sp>
      <p:sp>
        <p:nvSpPr>
          <p:cNvPr id="80" name="Text 65"/>
          <p:cNvSpPr txBox="1"/>
          <p:nvPr/>
        </p:nvSpPr>
        <p:spPr>
          <a:xfrm>
            <a:off x="3619195" y="4724705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10.10</a:t>
            </a:r>
            <a:endParaRPr lang="en-US" sz="1350" dirty="0"/>
          </a:p>
        </p:txBody>
      </p:sp>
      <p:sp>
        <p:nvSpPr>
          <p:cNvPr id="81" name="Text 66"/>
          <p:cNvSpPr txBox="1"/>
          <p:nvPr/>
        </p:nvSpPr>
        <p:spPr>
          <a:xfrm>
            <a:off x="4762195" y="4724705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0.38</a:t>
            </a:r>
            <a:endParaRPr lang="en-US" sz="1350" dirty="0"/>
          </a:p>
        </p:txBody>
      </p:sp>
      <p:sp>
        <p:nvSpPr>
          <p:cNvPr id="82" name="Text 67"/>
          <p:cNvSpPr txBox="1"/>
          <p:nvPr/>
        </p:nvSpPr>
        <p:spPr>
          <a:xfrm>
            <a:off x="5905195" y="4724705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1.06</a:t>
            </a:r>
            <a:endParaRPr lang="en-US" sz="1350" dirty="0"/>
          </a:p>
        </p:txBody>
      </p:sp>
      <p:sp>
        <p:nvSpPr>
          <p:cNvPr id="83" name="Text 68"/>
          <p:cNvSpPr txBox="1"/>
          <p:nvPr/>
        </p:nvSpPr>
        <p:spPr>
          <a:xfrm>
            <a:off x="7048195" y="4686300"/>
            <a:ext cx="15243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B858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+0.10</a:t>
            </a:r>
            <a:endParaRPr lang="en-US" sz="1350" dirty="0"/>
          </a:p>
        </p:txBody>
      </p:sp>
      <p:sp>
        <p:nvSpPr>
          <p:cNvPr id="84" name="Text 69"/>
          <p:cNvSpPr txBox="1"/>
          <p:nvPr/>
        </p:nvSpPr>
        <p:spPr>
          <a:xfrm>
            <a:off x="8572500" y="4724705"/>
            <a:ext cx="7626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968</a:t>
            </a:r>
            <a:endParaRPr lang="en-US" sz="1200" dirty="0"/>
          </a:p>
        </p:txBody>
      </p:sp>
      <p:sp>
        <p:nvSpPr>
          <p:cNvPr id="85" name="Text 70"/>
          <p:cNvSpPr txBox="1"/>
          <p:nvPr/>
        </p:nvSpPr>
        <p:spPr>
          <a:xfrm>
            <a:off x="914400" y="5219395"/>
            <a:ext cx="13341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F53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W03 Ru</a:t>
            </a:r>
            <a:endParaRPr lang="en-US" sz="1350" dirty="0"/>
          </a:p>
        </p:txBody>
      </p:sp>
      <p:sp>
        <p:nvSpPr>
          <p:cNvPr id="86" name="Text 71"/>
          <p:cNvSpPr txBox="1"/>
          <p:nvPr/>
        </p:nvSpPr>
        <p:spPr>
          <a:xfrm>
            <a:off x="2286000" y="5257800"/>
            <a:ext cx="1334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V1</a:t>
            </a:r>
            <a:endParaRPr lang="en-US" sz="1200" dirty="0"/>
          </a:p>
        </p:txBody>
      </p:sp>
      <p:sp>
        <p:nvSpPr>
          <p:cNvPr id="87" name="Text 72"/>
          <p:cNvSpPr txBox="1"/>
          <p:nvPr/>
        </p:nvSpPr>
        <p:spPr>
          <a:xfrm>
            <a:off x="3619195" y="5219395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9.90</a:t>
            </a:r>
            <a:endParaRPr lang="en-US" sz="1350" dirty="0"/>
          </a:p>
        </p:txBody>
      </p:sp>
      <p:sp>
        <p:nvSpPr>
          <p:cNvPr id="88" name="Text 73"/>
          <p:cNvSpPr txBox="1"/>
          <p:nvPr/>
        </p:nvSpPr>
        <p:spPr>
          <a:xfrm>
            <a:off x="4762195" y="5219395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0.32</a:t>
            </a:r>
            <a:endParaRPr lang="en-US" sz="1350" dirty="0"/>
          </a:p>
        </p:txBody>
      </p:sp>
      <p:sp>
        <p:nvSpPr>
          <p:cNvPr id="89" name="Text 74"/>
          <p:cNvSpPr txBox="1"/>
          <p:nvPr/>
        </p:nvSpPr>
        <p:spPr>
          <a:xfrm>
            <a:off x="5905195" y="5219395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0.94</a:t>
            </a:r>
            <a:endParaRPr lang="en-US" sz="1350" dirty="0"/>
          </a:p>
        </p:txBody>
      </p:sp>
      <p:sp>
        <p:nvSpPr>
          <p:cNvPr id="90" name="Text 75"/>
          <p:cNvSpPr txBox="1"/>
          <p:nvPr/>
        </p:nvSpPr>
        <p:spPr>
          <a:xfrm>
            <a:off x="7048195" y="5181905"/>
            <a:ext cx="15243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536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-0.10</a:t>
            </a:r>
            <a:endParaRPr lang="en-US" sz="1350" dirty="0"/>
          </a:p>
        </p:txBody>
      </p:sp>
      <p:sp>
        <p:nvSpPr>
          <p:cNvPr id="91" name="Text 76"/>
          <p:cNvSpPr txBox="1"/>
          <p:nvPr/>
        </p:nvSpPr>
        <p:spPr>
          <a:xfrm>
            <a:off x="8572500" y="5219395"/>
            <a:ext cx="7626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980</a:t>
            </a:r>
            <a:endParaRPr lang="en-US" sz="1200" dirty="0"/>
          </a:p>
        </p:txBody>
      </p:sp>
      <p:sp>
        <p:nvSpPr>
          <p:cNvPr id="92" name="Text 77"/>
          <p:cNvSpPr txBox="1"/>
          <p:nvPr/>
        </p:nvSpPr>
        <p:spPr>
          <a:xfrm>
            <a:off x="914400" y="5715000"/>
            <a:ext cx="13341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F53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W03 Ru</a:t>
            </a:r>
            <a:endParaRPr lang="en-US" sz="1350" dirty="0"/>
          </a:p>
        </p:txBody>
      </p:sp>
      <p:sp>
        <p:nvSpPr>
          <p:cNvPr id="93" name="Text 78"/>
          <p:cNvSpPr txBox="1"/>
          <p:nvPr/>
        </p:nvSpPr>
        <p:spPr>
          <a:xfrm>
            <a:off x="2286000" y="5753405"/>
            <a:ext cx="1334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M2</a:t>
            </a:r>
            <a:endParaRPr lang="en-US" sz="1200" dirty="0"/>
          </a:p>
        </p:txBody>
      </p:sp>
      <p:sp>
        <p:nvSpPr>
          <p:cNvPr id="94" name="Text 79"/>
          <p:cNvSpPr txBox="1"/>
          <p:nvPr/>
        </p:nvSpPr>
        <p:spPr>
          <a:xfrm>
            <a:off x="3619195" y="5715000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9.80</a:t>
            </a:r>
            <a:endParaRPr lang="en-US" sz="1350" dirty="0"/>
          </a:p>
        </p:txBody>
      </p:sp>
      <p:sp>
        <p:nvSpPr>
          <p:cNvPr id="95" name="Text 80"/>
          <p:cNvSpPr txBox="1"/>
          <p:nvPr/>
        </p:nvSpPr>
        <p:spPr>
          <a:xfrm>
            <a:off x="4762195" y="5715000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0.31</a:t>
            </a:r>
            <a:endParaRPr lang="en-US" sz="1350" dirty="0"/>
          </a:p>
        </p:txBody>
      </p:sp>
      <p:sp>
        <p:nvSpPr>
          <p:cNvPr id="96" name="Text 81"/>
          <p:cNvSpPr txBox="1"/>
          <p:nvPr/>
        </p:nvSpPr>
        <p:spPr>
          <a:xfrm>
            <a:off x="5905195" y="5715000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0.92</a:t>
            </a:r>
            <a:endParaRPr lang="en-US" sz="1350" dirty="0"/>
          </a:p>
        </p:txBody>
      </p:sp>
      <p:sp>
        <p:nvSpPr>
          <p:cNvPr id="97" name="Text 82"/>
          <p:cNvSpPr txBox="1"/>
          <p:nvPr/>
        </p:nvSpPr>
        <p:spPr>
          <a:xfrm>
            <a:off x="7048195" y="5676595"/>
            <a:ext cx="15243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536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-0.20</a:t>
            </a:r>
            <a:endParaRPr lang="en-US" sz="1350" dirty="0"/>
          </a:p>
        </p:txBody>
      </p:sp>
      <p:sp>
        <p:nvSpPr>
          <p:cNvPr id="98" name="Text 83"/>
          <p:cNvSpPr txBox="1"/>
          <p:nvPr/>
        </p:nvSpPr>
        <p:spPr>
          <a:xfrm>
            <a:off x="8572500" y="5715000"/>
            <a:ext cx="7626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980</a:t>
            </a:r>
            <a:endParaRPr lang="en-US" sz="1200" dirty="0"/>
          </a:p>
        </p:txBody>
      </p:sp>
      <p:sp>
        <p:nvSpPr>
          <p:cNvPr id="99" name="Text 84"/>
          <p:cNvSpPr txBox="1"/>
          <p:nvPr/>
        </p:nvSpPr>
        <p:spPr>
          <a:xfrm>
            <a:off x="914400" y="6210605"/>
            <a:ext cx="13341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D6A4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W04 hybrid</a:t>
            </a:r>
            <a:endParaRPr lang="en-US" sz="1350" dirty="0"/>
          </a:p>
        </p:txBody>
      </p:sp>
      <p:sp>
        <p:nvSpPr>
          <p:cNvPr id="100" name="Text 85"/>
          <p:cNvSpPr txBox="1"/>
          <p:nvPr/>
        </p:nvSpPr>
        <p:spPr>
          <a:xfrm>
            <a:off x="2286000" y="6248095"/>
            <a:ext cx="1334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V1</a:t>
            </a:r>
            <a:endParaRPr lang="en-US" sz="1200" dirty="0"/>
          </a:p>
        </p:txBody>
      </p:sp>
      <p:sp>
        <p:nvSpPr>
          <p:cNvPr id="101" name="Text 86"/>
          <p:cNvSpPr txBox="1"/>
          <p:nvPr/>
        </p:nvSpPr>
        <p:spPr>
          <a:xfrm>
            <a:off x="3619195" y="6210605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10.00</a:t>
            </a:r>
            <a:endParaRPr lang="en-US" sz="1350" dirty="0"/>
          </a:p>
        </p:txBody>
      </p:sp>
      <p:sp>
        <p:nvSpPr>
          <p:cNvPr id="102" name="Text 87"/>
          <p:cNvSpPr txBox="1"/>
          <p:nvPr/>
        </p:nvSpPr>
        <p:spPr>
          <a:xfrm>
            <a:off x="4762195" y="6210605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0.35</a:t>
            </a:r>
            <a:endParaRPr lang="en-US" sz="1350" dirty="0"/>
          </a:p>
        </p:txBody>
      </p:sp>
      <p:sp>
        <p:nvSpPr>
          <p:cNvPr id="103" name="Text 88"/>
          <p:cNvSpPr txBox="1"/>
          <p:nvPr/>
        </p:nvSpPr>
        <p:spPr>
          <a:xfrm>
            <a:off x="5905195" y="6210605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0.99</a:t>
            </a:r>
            <a:endParaRPr lang="en-US" sz="1350" dirty="0"/>
          </a:p>
        </p:txBody>
      </p:sp>
      <p:sp>
        <p:nvSpPr>
          <p:cNvPr id="104" name="Text 89"/>
          <p:cNvSpPr txBox="1"/>
          <p:nvPr/>
        </p:nvSpPr>
        <p:spPr>
          <a:xfrm>
            <a:off x="7048195" y="6172200"/>
            <a:ext cx="15243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0.00</a:t>
            </a:r>
            <a:endParaRPr lang="en-US" sz="1350" dirty="0"/>
          </a:p>
        </p:txBody>
      </p:sp>
      <p:sp>
        <p:nvSpPr>
          <p:cNvPr id="105" name="Text 90"/>
          <p:cNvSpPr txBox="1"/>
          <p:nvPr/>
        </p:nvSpPr>
        <p:spPr>
          <a:xfrm>
            <a:off x="8572500" y="6210605"/>
            <a:ext cx="7626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980</a:t>
            </a:r>
            <a:endParaRPr lang="en-US" sz="1200" dirty="0"/>
          </a:p>
        </p:txBody>
      </p:sp>
      <p:sp>
        <p:nvSpPr>
          <p:cNvPr id="106" name="Text 91"/>
          <p:cNvSpPr txBox="1"/>
          <p:nvPr/>
        </p:nvSpPr>
        <p:spPr>
          <a:xfrm>
            <a:off x="914400" y="6705295"/>
            <a:ext cx="13341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D6A4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W04 hybrid</a:t>
            </a:r>
            <a:endParaRPr lang="en-US" sz="1350" dirty="0"/>
          </a:p>
        </p:txBody>
      </p:sp>
      <p:sp>
        <p:nvSpPr>
          <p:cNvPr id="107" name="Text 92"/>
          <p:cNvSpPr txBox="1"/>
          <p:nvPr/>
        </p:nvSpPr>
        <p:spPr>
          <a:xfrm>
            <a:off x="2286000" y="6743700"/>
            <a:ext cx="1334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M2</a:t>
            </a:r>
            <a:endParaRPr lang="en-US" sz="1200" dirty="0"/>
          </a:p>
        </p:txBody>
      </p:sp>
      <p:sp>
        <p:nvSpPr>
          <p:cNvPr id="108" name="Text 93"/>
          <p:cNvSpPr txBox="1"/>
          <p:nvPr/>
        </p:nvSpPr>
        <p:spPr>
          <a:xfrm>
            <a:off x="3619195" y="6705295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10.00</a:t>
            </a:r>
            <a:endParaRPr lang="en-US" sz="1350" dirty="0"/>
          </a:p>
        </p:txBody>
      </p:sp>
      <p:sp>
        <p:nvSpPr>
          <p:cNvPr id="109" name="Text 94"/>
          <p:cNvSpPr txBox="1"/>
          <p:nvPr/>
        </p:nvSpPr>
        <p:spPr>
          <a:xfrm>
            <a:off x="4762195" y="6705295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0.34</a:t>
            </a:r>
            <a:endParaRPr lang="en-US" sz="1350" dirty="0"/>
          </a:p>
        </p:txBody>
      </p:sp>
      <p:sp>
        <p:nvSpPr>
          <p:cNvPr id="110" name="Text 95"/>
          <p:cNvSpPr txBox="1"/>
          <p:nvPr/>
        </p:nvSpPr>
        <p:spPr>
          <a:xfrm>
            <a:off x="5905195" y="6705295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0.98</a:t>
            </a:r>
            <a:endParaRPr lang="en-US" sz="1350" dirty="0"/>
          </a:p>
        </p:txBody>
      </p:sp>
      <p:sp>
        <p:nvSpPr>
          <p:cNvPr id="111" name="Text 96"/>
          <p:cNvSpPr txBox="1"/>
          <p:nvPr/>
        </p:nvSpPr>
        <p:spPr>
          <a:xfrm>
            <a:off x="7048195" y="6667805"/>
            <a:ext cx="15243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0.00</a:t>
            </a:r>
            <a:endParaRPr lang="en-US" sz="1350" dirty="0"/>
          </a:p>
        </p:txBody>
      </p:sp>
      <p:sp>
        <p:nvSpPr>
          <p:cNvPr id="112" name="Text 97"/>
          <p:cNvSpPr txBox="1"/>
          <p:nvPr/>
        </p:nvSpPr>
        <p:spPr>
          <a:xfrm>
            <a:off x="8572500" y="6705295"/>
            <a:ext cx="7626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980</a:t>
            </a:r>
            <a:endParaRPr lang="en-US" sz="1200" dirty="0"/>
          </a:p>
        </p:txBody>
      </p:sp>
      <p:sp>
        <p:nvSpPr>
          <p:cNvPr id="113" name="Text 98"/>
          <p:cNvSpPr txBox="1"/>
          <p:nvPr/>
        </p:nvSpPr>
        <p:spPr>
          <a:xfrm>
            <a:off x="12725705" y="2361895"/>
            <a:ext cx="4763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spc="168" kern="0" dirty="0">
                <a:solidFill>
                  <a:srgbClr val="B858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ACI Δ distribution · split comparison</a:t>
            </a:r>
            <a:endParaRPr lang="en-US" sz="1050" dirty="0"/>
          </a:p>
        </p:txBody>
      </p:sp>
      <p:sp>
        <p:nvSpPr>
          <p:cNvPr id="114" name="Text 99"/>
          <p:cNvSpPr txBox="1"/>
          <p:nvPr/>
        </p:nvSpPr>
        <p:spPr>
          <a:xfrm>
            <a:off x="12877495" y="2895905"/>
            <a:ext cx="28575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spc="156" kern="0" dirty="0">
                <a:solidFill>
                  <a:srgbClr val="5461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W01</a:t>
            </a:r>
            <a:endParaRPr lang="en-US" sz="975" dirty="0"/>
          </a:p>
        </p:txBody>
      </p:sp>
      <p:sp>
        <p:nvSpPr>
          <p:cNvPr id="115" name="Text 100"/>
          <p:cNvSpPr txBox="1"/>
          <p:nvPr/>
        </p:nvSpPr>
        <p:spPr>
          <a:xfrm>
            <a:off x="12877495" y="3124505"/>
            <a:ext cx="28575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A62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V1 10.10 · M2 10.00</a:t>
            </a:r>
            <a:endParaRPr lang="en-US" sz="1050" dirty="0"/>
          </a:p>
        </p:txBody>
      </p:sp>
      <p:sp>
        <p:nvSpPr>
          <p:cNvPr id="116" name="Text 101"/>
          <p:cNvSpPr txBox="1"/>
          <p:nvPr/>
        </p:nvSpPr>
        <p:spPr>
          <a:xfrm>
            <a:off x="12877495" y="3676802"/>
            <a:ext cx="762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54616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+0.10</a:t>
            </a:r>
            <a:endParaRPr lang="en-US" sz="975" dirty="0"/>
          </a:p>
        </p:txBody>
      </p:sp>
      <p:sp>
        <p:nvSpPr>
          <p:cNvPr id="117" name="Text 102"/>
          <p:cNvSpPr txBox="1"/>
          <p:nvPr/>
        </p:nvSpPr>
        <p:spPr>
          <a:xfrm>
            <a:off x="13791895" y="3676802"/>
            <a:ext cx="762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54616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0.00</a:t>
            </a:r>
            <a:endParaRPr lang="en-US" sz="975" dirty="0"/>
          </a:p>
        </p:txBody>
      </p:sp>
      <p:sp>
        <p:nvSpPr>
          <p:cNvPr id="118" name="Text 103"/>
          <p:cNvSpPr txBox="1"/>
          <p:nvPr/>
        </p:nvSpPr>
        <p:spPr>
          <a:xfrm>
            <a:off x="16154705" y="3124505"/>
            <a:ext cx="1143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dirty="0">
                <a:solidFill>
                  <a:srgbClr val="54616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avg Δ +0.05</a:t>
            </a:r>
            <a:endParaRPr lang="en-US" sz="975" dirty="0"/>
          </a:p>
        </p:txBody>
      </p:sp>
      <p:sp>
        <p:nvSpPr>
          <p:cNvPr id="119" name="Text 104"/>
          <p:cNvSpPr txBox="1"/>
          <p:nvPr/>
        </p:nvSpPr>
        <p:spPr>
          <a:xfrm>
            <a:off x="12877495" y="4172407"/>
            <a:ext cx="28575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spc="156" kern="0" dirty="0">
                <a:solidFill>
                  <a:srgbClr val="B858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W02</a:t>
            </a:r>
            <a:endParaRPr lang="en-US" sz="975" dirty="0"/>
          </a:p>
        </p:txBody>
      </p:sp>
      <p:sp>
        <p:nvSpPr>
          <p:cNvPr id="120" name="Text 105"/>
          <p:cNvSpPr txBox="1"/>
          <p:nvPr/>
        </p:nvSpPr>
        <p:spPr>
          <a:xfrm>
            <a:off x="12877495" y="4401007"/>
            <a:ext cx="28575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A62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V1 10.20 · M2 10.10</a:t>
            </a:r>
            <a:endParaRPr lang="en-US" sz="1050" dirty="0"/>
          </a:p>
        </p:txBody>
      </p:sp>
      <p:sp>
        <p:nvSpPr>
          <p:cNvPr id="121" name="Text 106"/>
          <p:cNvSpPr txBox="1"/>
          <p:nvPr/>
        </p:nvSpPr>
        <p:spPr>
          <a:xfrm>
            <a:off x="12877495" y="4953305"/>
            <a:ext cx="762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B858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+0.20</a:t>
            </a:r>
            <a:endParaRPr lang="en-US" sz="975" dirty="0"/>
          </a:p>
        </p:txBody>
      </p:sp>
      <p:sp>
        <p:nvSpPr>
          <p:cNvPr id="122" name="Text 107"/>
          <p:cNvSpPr txBox="1"/>
          <p:nvPr/>
        </p:nvSpPr>
        <p:spPr>
          <a:xfrm>
            <a:off x="13791895" y="4953305"/>
            <a:ext cx="762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B858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+0.10</a:t>
            </a:r>
            <a:endParaRPr lang="en-US" sz="975" dirty="0"/>
          </a:p>
        </p:txBody>
      </p:sp>
      <p:sp>
        <p:nvSpPr>
          <p:cNvPr id="123" name="Text 108"/>
          <p:cNvSpPr txBox="1"/>
          <p:nvPr/>
        </p:nvSpPr>
        <p:spPr>
          <a:xfrm>
            <a:off x="16154705" y="4401007"/>
            <a:ext cx="1143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dirty="0">
                <a:solidFill>
                  <a:srgbClr val="B858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avg Δ +0.15</a:t>
            </a:r>
            <a:endParaRPr lang="en-US" sz="975" dirty="0"/>
          </a:p>
        </p:txBody>
      </p:sp>
      <p:sp>
        <p:nvSpPr>
          <p:cNvPr id="124" name="Text 109"/>
          <p:cNvSpPr txBox="1"/>
          <p:nvPr/>
        </p:nvSpPr>
        <p:spPr>
          <a:xfrm>
            <a:off x="12877495" y="5447995"/>
            <a:ext cx="28575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spc="156" kern="0" dirty="0">
                <a:solidFill>
                  <a:srgbClr val="1F53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W03</a:t>
            </a:r>
            <a:endParaRPr lang="en-US" sz="975" dirty="0"/>
          </a:p>
        </p:txBody>
      </p:sp>
      <p:sp>
        <p:nvSpPr>
          <p:cNvPr id="125" name="Text 110"/>
          <p:cNvSpPr txBox="1"/>
          <p:nvPr/>
        </p:nvSpPr>
        <p:spPr>
          <a:xfrm>
            <a:off x="12877495" y="5676595"/>
            <a:ext cx="28575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A62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V1 9.90 · M2 9.80</a:t>
            </a:r>
            <a:endParaRPr lang="en-US" sz="1050" dirty="0"/>
          </a:p>
        </p:txBody>
      </p:sp>
      <p:sp>
        <p:nvSpPr>
          <p:cNvPr id="126" name="Text 111"/>
          <p:cNvSpPr txBox="1"/>
          <p:nvPr/>
        </p:nvSpPr>
        <p:spPr>
          <a:xfrm>
            <a:off x="13506602" y="6229807"/>
            <a:ext cx="762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1F536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-0.10</a:t>
            </a:r>
            <a:endParaRPr lang="en-US" sz="975" dirty="0"/>
          </a:p>
        </p:txBody>
      </p:sp>
      <p:sp>
        <p:nvSpPr>
          <p:cNvPr id="127" name="Text 112"/>
          <p:cNvSpPr txBox="1"/>
          <p:nvPr/>
        </p:nvSpPr>
        <p:spPr>
          <a:xfrm>
            <a:off x="14173200" y="6229807"/>
            <a:ext cx="762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1F536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-0.20</a:t>
            </a:r>
            <a:endParaRPr lang="en-US" sz="975" dirty="0"/>
          </a:p>
        </p:txBody>
      </p:sp>
      <p:sp>
        <p:nvSpPr>
          <p:cNvPr id="128" name="Text 113"/>
          <p:cNvSpPr txBox="1"/>
          <p:nvPr/>
        </p:nvSpPr>
        <p:spPr>
          <a:xfrm>
            <a:off x="16154705" y="5676595"/>
            <a:ext cx="1143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dirty="0">
                <a:solidFill>
                  <a:srgbClr val="1F536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avg Δ -0.15</a:t>
            </a:r>
            <a:endParaRPr lang="en-US" sz="975" dirty="0"/>
          </a:p>
        </p:txBody>
      </p:sp>
      <p:sp>
        <p:nvSpPr>
          <p:cNvPr id="129" name="Text 114"/>
          <p:cNvSpPr txBox="1"/>
          <p:nvPr/>
        </p:nvSpPr>
        <p:spPr>
          <a:xfrm>
            <a:off x="12877495" y="6724498"/>
            <a:ext cx="28575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spc="156" kern="0" dirty="0">
                <a:solidFill>
                  <a:srgbClr val="2D6A4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W04</a:t>
            </a:r>
            <a:endParaRPr lang="en-US" sz="975" dirty="0"/>
          </a:p>
        </p:txBody>
      </p:sp>
      <p:sp>
        <p:nvSpPr>
          <p:cNvPr id="130" name="Text 115"/>
          <p:cNvSpPr txBox="1"/>
          <p:nvPr/>
        </p:nvSpPr>
        <p:spPr>
          <a:xfrm>
            <a:off x="12877495" y="6953098"/>
            <a:ext cx="28575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A62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V1 10.00 · M2 10.00</a:t>
            </a:r>
            <a:endParaRPr lang="en-US" sz="1050" dirty="0"/>
          </a:p>
        </p:txBody>
      </p:sp>
      <p:sp>
        <p:nvSpPr>
          <p:cNvPr id="131" name="Text 116"/>
          <p:cNvSpPr txBox="1"/>
          <p:nvPr/>
        </p:nvSpPr>
        <p:spPr>
          <a:xfrm>
            <a:off x="13791895" y="7505395"/>
            <a:ext cx="762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2D6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0.00</a:t>
            </a:r>
            <a:endParaRPr lang="en-US" sz="975" dirty="0"/>
          </a:p>
        </p:txBody>
      </p:sp>
      <p:sp>
        <p:nvSpPr>
          <p:cNvPr id="132" name="Text 117"/>
          <p:cNvSpPr txBox="1"/>
          <p:nvPr/>
        </p:nvSpPr>
        <p:spPr>
          <a:xfrm>
            <a:off x="16154705" y="6953098"/>
            <a:ext cx="1143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dirty="0">
                <a:solidFill>
                  <a:srgbClr val="2D6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avg Δ 0.00</a:t>
            </a:r>
            <a:endParaRPr lang="en-US" sz="975" dirty="0"/>
          </a:p>
        </p:txBody>
      </p:sp>
      <p:sp>
        <p:nvSpPr>
          <p:cNvPr id="133" name="Text 118"/>
          <p:cNvSpPr txBox="1"/>
          <p:nvPr/>
        </p:nvSpPr>
        <p:spPr>
          <a:xfrm>
            <a:off x="990295" y="9087307"/>
            <a:ext cx="1239012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spc="176" kern="0" dirty="0">
                <a:solidFill>
                  <a:srgbClr val="2D6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TAKEAWAY</a:t>
            </a:r>
            <a:endParaRPr lang="en-US" sz="975" dirty="0"/>
          </a:p>
        </p:txBody>
      </p:sp>
      <p:sp>
        <p:nvSpPr>
          <p:cNvPr id="134" name="Text 119"/>
          <p:cNvSpPr txBox="1"/>
          <p:nvPr/>
        </p:nvSpPr>
        <p:spPr>
          <a:xfrm>
            <a:off x="2361895" y="9048902"/>
            <a:ext cx="1573591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ACI 단계 (final read) 8 row 중 Δ 0.00 3건 (W01 M2, W04 V1, W04 M2 hybrid) — </a:t>
            </a:r>
            <a:pPr algn="l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W04 hybrid가 dummy 통계 내 가장 안정</a:t>
            </a:r>
            <a:pPr algn="l" indent="0" marL="0">
              <a:buNone/>
            </a:pPr>
            <a:r>
              <a:rPr lang="en-US" sz="127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CMP 부근 process bias 영향 추정, split 별 dummy 차이는 AMI 대비 작음.</a:t>
            </a:r>
            <a:endParaRPr lang="en-US" sz="1275" dirty="0"/>
          </a:p>
        </p:txBody>
      </p:sp>
      <p:sp>
        <p:nvSpPr>
          <p:cNvPr id="135" name="Text 120"/>
          <p:cNvSpPr txBox="1"/>
          <p:nvPr/>
        </p:nvSpPr>
        <p:spPr>
          <a:xfrm>
            <a:off x="761695" y="9849002"/>
            <a:ext cx="72393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5A62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EV-BEOL-BLV-018 · ACI target 10.0 nm · unit nm</a:t>
            </a:r>
            <a:endParaRPr lang="en-US" sz="975" dirty="0"/>
          </a:p>
        </p:txBody>
      </p:sp>
      <p:sp>
        <p:nvSpPr>
          <p:cNvPr id="136" name="Text 121"/>
          <p:cNvSpPr txBox="1"/>
          <p:nvPr/>
        </p:nvSpPr>
        <p:spPr>
          <a:xfrm>
            <a:off x="8001000" y="9849002"/>
            <a:ext cx="952530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※ 내부 테스트용 더미(가상) 데이터 · 08 / 12</a:t>
            </a:r>
            <a:endParaRPr lang="en-US" sz="9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DF0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4b8b176d1054448e556d5d1f414aa96f.png">    </p:cNvPr>
          <p:cNvPicPr>
            <a:picLocks noChangeAspect="1"/>
          </p:cNvPicPr>
          <p:nvPr/>
        </p:nvPicPr>
        <p:blipFill>
          <a:blip r:embed="rId1"/>
          <a:srcRect l="0" r="0" t="-400" b="-400"/>
          <a:stretch/>
        </p:blipFill>
        <p:spPr>
          <a:xfrm>
            <a:off x="0" y="0"/>
            <a:ext cx="18288000" cy="57607"/>
          </a:xfrm>
          <a:prstGeom prst="rect">
            <a:avLst/>
          </a:prstGeom>
        </p:spPr>
      </p:pic>
      <p:pic>
        <p:nvPicPr>
          <p:cNvPr id="4" name="Image 1" descr="gen-dedup-6ef2f382d46d5f775cbbac1e044faac9.png">    </p:cNvPr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761695" y="1638605"/>
            <a:ext cx="16763695" cy="9144"/>
          </a:xfrm>
          <a:prstGeom prst="rect">
            <a:avLst/>
          </a:prstGeom>
        </p:spPr>
      </p:pic>
      <p:pic>
        <p:nvPicPr>
          <p:cNvPr id="5" name="Image 2" descr="gen-dedup-15a880e8f657bb603fd0b045e90b8da5.png">    </p:cNvPr>
          <p:cNvPicPr>
            <a:picLocks noChangeAspect="1"/>
          </p:cNvPicPr>
          <p:nvPr/>
        </p:nvPicPr>
        <p:blipFill>
          <a:blip r:embed="rId3"/>
          <a:srcRect l="-424" r="-424" t="0" b="0"/>
          <a:stretch/>
        </p:blipFill>
        <p:spPr>
          <a:xfrm>
            <a:off x="761695" y="1790395"/>
            <a:ext cx="57607" cy="323698"/>
          </a:xfrm>
          <a:prstGeom prst="rect">
            <a:avLst/>
          </a:prstGeom>
        </p:spPr>
      </p:pic>
      <p:sp>
        <p:nvSpPr>
          <p:cNvPr id="6" name="Shape 0"/>
          <p:cNvSpPr/>
          <p:nvPr/>
        </p:nvSpPr>
        <p:spPr>
          <a:xfrm>
            <a:off x="800100" y="2286000"/>
            <a:ext cx="3619195" cy="323880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1"/>
          <p:cNvSpPr/>
          <p:nvPr/>
        </p:nvSpPr>
        <p:spPr>
          <a:xfrm>
            <a:off x="1181405" y="2857500"/>
            <a:ext cx="2857500" cy="2457907"/>
          </a:xfrm>
          <a:prstGeom prst="roundRect">
            <a:avLst>
              <a:gd name="adj" fmla="val 3088"/>
            </a:avLst>
          </a:prstGeom>
          <a:solidFill>
            <a:srgbClr val="F4F6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2"/>
          <p:cNvSpPr/>
          <p:nvPr/>
        </p:nvSpPr>
        <p:spPr>
          <a:xfrm>
            <a:off x="4610405" y="2286000"/>
            <a:ext cx="3619195" cy="323880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3"/>
          <p:cNvSpPr/>
          <p:nvPr/>
        </p:nvSpPr>
        <p:spPr>
          <a:xfrm>
            <a:off x="4990795" y="2857500"/>
            <a:ext cx="2857500" cy="2457907"/>
          </a:xfrm>
          <a:prstGeom prst="roundRect">
            <a:avLst>
              <a:gd name="adj" fmla="val 3088"/>
            </a:avLst>
          </a:prstGeom>
          <a:solidFill>
            <a:srgbClr val="F4F6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4"/>
          <p:cNvSpPr/>
          <p:nvPr/>
        </p:nvSpPr>
        <p:spPr>
          <a:xfrm>
            <a:off x="8419795" y="2286000"/>
            <a:ext cx="3619195" cy="323880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5"/>
          <p:cNvSpPr/>
          <p:nvPr/>
        </p:nvSpPr>
        <p:spPr>
          <a:xfrm>
            <a:off x="8801100" y="2857500"/>
            <a:ext cx="2857500" cy="2457907"/>
          </a:xfrm>
          <a:prstGeom prst="roundRect">
            <a:avLst>
              <a:gd name="adj" fmla="val 3088"/>
            </a:avLst>
          </a:prstGeom>
          <a:solidFill>
            <a:srgbClr val="F4F6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6"/>
          <p:cNvSpPr/>
          <p:nvPr/>
        </p:nvSpPr>
        <p:spPr>
          <a:xfrm>
            <a:off x="12230100" y="2286000"/>
            <a:ext cx="3619195" cy="323880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7"/>
          <p:cNvSpPr/>
          <p:nvPr/>
        </p:nvSpPr>
        <p:spPr>
          <a:xfrm>
            <a:off x="12611405" y="2857500"/>
            <a:ext cx="2857500" cy="2457907"/>
          </a:xfrm>
          <a:prstGeom prst="roundRect">
            <a:avLst>
              <a:gd name="adj" fmla="val 3088"/>
            </a:avLst>
          </a:prstGeom>
          <a:solidFill>
            <a:srgbClr val="F4F6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8"/>
          <p:cNvSpPr/>
          <p:nvPr/>
        </p:nvSpPr>
        <p:spPr>
          <a:xfrm>
            <a:off x="761695" y="5715000"/>
            <a:ext cx="16763695" cy="301020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761695" y="9010498"/>
            <a:ext cx="16763695" cy="400507"/>
          </a:xfrm>
          <a:prstGeom prst="rect">
            <a:avLst/>
          </a:prstGeom>
          <a:solidFill>
            <a:srgbClr val="0E1F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6" name="Image 3" descr="gen-dedup-6ef2f382d46d5f775cbbac1e044faac9.png">    </p:cNvPr>
          <p:cNvPicPr>
            <a:picLocks noChangeAspect="1"/>
          </p:cNvPicPr>
          <p:nvPr/>
        </p:nvPicPr>
        <p:blipFill>
          <a:blip r:embed="rId4"/>
          <a:srcRect l="-2083" r="-2083" t="0" b="0"/>
          <a:stretch/>
        </p:blipFill>
        <p:spPr>
          <a:xfrm>
            <a:off x="761695" y="9715500"/>
            <a:ext cx="16763695" cy="9144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800100" y="2286000"/>
            <a:ext cx="3619195" cy="342900"/>
          </a:xfrm>
          <a:prstGeom prst="rect">
            <a:avLst/>
          </a:prstGeom>
          <a:solidFill>
            <a:srgbClr val="54616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1"/>
          <p:cNvSpPr/>
          <p:nvPr/>
        </p:nvSpPr>
        <p:spPr>
          <a:xfrm>
            <a:off x="1181405" y="2857500"/>
            <a:ext cx="362102" cy="362102"/>
          </a:xfrm>
          <a:prstGeom prst="rect">
            <a:avLst/>
          </a:prstGeom>
          <a:solidFill>
            <a:srgbClr val="D8DE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2"/>
          <p:cNvSpPr/>
          <p:nvPr/>
        </p:nvSpPr>
        <p:spPr>
          <a:xfrm>
            <a:off x="1580998" y="2857500"/>
            <a:ext cx="362102" cy="362102"/>
          </a:xfrm>
          <a:prstGeom prst="rect">
            <a:avLst/>
          </a:prstGeom>
          <a:solidFill>
            <a:srgbClr val="7AA0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3"/>
          <p:cNvSpPr/>
          <p:nvPr/>
        </p:nvSpPr>
        <p:spPr>
          <a:xfrm>
            <a:off x="1981505" y="2857500"/>
            <a:ext cx="362102" cy="362102"/>
          </a:xfrm>
          <a:prstGeom prst="rect">
            <a:avLst/>
          </a:prstGeom>
          <a:solidFill>
            <a:srgbClr val="7AA0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4"/>
          <p:cNvSpPr/>
          <p:nvPr/>
        </p:nvSpPr>
        <p:spPr>
          <a:xfrm>
            <a:off x="2381098" y="2857500"/>
            <a:ext cx="362102" cy="362102"/>
          </a:xfrm>
          <a:prstGeom prst="rect">
            <a:avLst/>
          </a:prstGeom>
          <a:solidFill>
            <a:srgbClr val="5E8F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15"/>
          <p:cNvSpPr/>
          <p:nvPr/>
        </p:nvSpPr>
        <p:spPr>
          <a:xfrm>
            <a:off x="2781605" y="2857500"/>
            <a:ext cx="362102" cy="362102"/>
          </a:xfrm>
          <a:prstGeom prst="rect">
            <a:avLst/>
          </a:prstGeom>
          <a:solidFill>
            <a:srgbClr val="5E8F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3181198" y="2857500"/>
            <a:ext cx="362102" cy="362102"/>
          </a:xfrm>
          <a:prstGeom prst="rect">
            <a:avLst/>
          </a:prstGeom>
          <a:solidFill>
            <a:srgbClr val="7AA0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3581705" y="2857500"/>
            <a:ext cx="362102" cy="362102"/>
          </a:xfrm>
          <a:prstGeom prst="rect">
            <a:avLst/>
          </a:prstGeom>
          <a:solidFill>
            <a:srgbClr val="D8DE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1181405" y="3258007"/>
            <a:ext cx="362102" cy="362102"/>
          </a:xfrm>
          <a:prstGeom prst="rect">
            <a:avLst/>
          </a:prstGeom>
          <a:solidFill>
            <a:srgbClr val="7AA0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1580998" y="3258007"/>
            <a:ext cx="362102" cy="362102"/>
          </a:xfrm>
          <a:prstGeom prst="rect">
            <a:avLst/>
          </a:prstGeom>
          <a:solidFill>
            <a:srgbClr val="D8DE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1981505" y="3258007"/>
            <a:ext cx="362102" cy="362102"/>
          </a:xfrm>
          <a:prstGeom prst="rect">
            <a:avLst/>
          </a:prstGeom>
          <a:solidFill>
            <a:srgbClr val="D8DE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2381098" y="3258007"/>
            <a:ext cx="362102" cy="362102"/>
          </a:xfrm>
          <a:prstGeom prst="rect">
            <a:avLst/>
          </a:prstGeom>
          <a:solidFill>
            <a:srgbClr val="E2E7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2781605" y="3258007"/>
            <a:ext cx="362102" cy="362102"/>
          </a:xfrm>
          <a:prstGeom prst="rect">
            <a:avLst/>
          </a:prstGeom>
          <a:solidFill>
            <a:srgbClr val="E2E7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3181198" y="3258007"/>
            <a:ext cx="362102" cy="362102"/>
          </a:xfrm>
          <a:prstGeom prst="rect">
            <a:avLst/>
          </a:prstGeom>
          <a:solidFill>
            <a:srgbClr val="D8DE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3581705" y="3258007"/>
            <a:ext cx="362102" cy="362102"/>
          </a:xfrm>
          <a:prstGeom prst="rect">
            <a:avLst/>
          </a:prstGeom>
          <a:solidFill>
            <a:srgbClr val="7AA0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1181405" y="3657600"/>
            <a:ext cx="362102" cy="362102"/>
          </a:xfrm>
          <a:prstGeom prst="rect">
            <a:avLst/>
          </a:prstGeom>
          <a:solidFill>
            <a:srgbClr val="5E8F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1580998" y="3657600"/>
            <a:ext cx="362102" cy="362102"/>
          </a:xfrm>
          <a:prstGeom prst="rect">
            <a:avLst/>
          </a:prstGeom>
          <a:solidFill>
            <a:srgbClr val="D8DE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1981505" y="3657600"/>
            <a:ext cx="362102" cy="362102"/>
          </a:xfrm>
          <a:prstGeom prst="rect">
            <a:avLst/>
          </a:prstGeom>
          <a:solidFill>
            <a:srgbClr val="E2E7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2381098" y="3657600"/>
            <a:ext cx="362102" cy="362102"/>
          </a:xfrm>
          <a:prstGeom prst="rect">
            <a:avLst/>
          </a:prstGeom>
          <a:solidFill>
            <a:srgbClr val="EFF2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2781605" y="3657600"/>
            <a:ext cx="362102" cy="362102"/>
          </a:xfrm>
          <a:prstGeom prst="rect">
            <a:avLst/>
          </a:prstGeom>
          <a:solidFill>
            <a:srgbClr val="D8DE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3181198" y="3657600"/>
            <a:ext cx="362102" cy="362102"/>
          </a:xfrm>
          <a:prstGeom prst="rect">
            <a:avLst/>
          </a:prstGeom>
          <a:solidFill>
            <a:srgbClr val="5E8F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3581705" y="3657600"/>
            <a:ext cx="362102" cy="362102"/>
          </a:xfrm>
          <a:prstGeom prst="rect">
            <a:avLst/>
          </a:prstGeom>
          <a:solidFill>
            <a:srgbClr val="B25E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32"/>
          <p:cNvSpPr/>
          <p:nvPr/>
        </p:nvSpPr>
        <p:spPr>
          <a:xfrm>
            <a:off x="1181405" y="4058107"/>
            <a:ext cx="362102" cy="362102"/>
          </a:xfrm>
          <a:prstGeom prst="rect">
            <a:avLst/>
          </a:prstGeom>
          <a:solidFill>
            <a:srgbClr val="5E8F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33"/>
          <p:cNvSpPr/>
          <p:nvPr/>
        </p:nvSpPr>
        <p:spPr>
          <a:xfrm>
            <a:off x="1580998" y="4058107"/>
            <a:ext cx="362102" cy="362102"/>
          </a:xfrm>
          <a:prstGeom prst="rect">
            <a:avLst/>
          </a:prstGeom>
          <a:solidFill>
            <a:srgbClr val="7AA0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hape 34"/>
          <p:cNvSpPr/>
          <p:nvPr/>
        </p:nvSpPr>
        <p:spPr>
          <a:xfrm>
            <a:off x="1981505" y="4058107"/>
            <a:ext cx="362102" cy="362102"/>
          </a:xfrm>
          <a:prstGeom prst="rect">
            <a:avLst/>
          </a:prstGeom>
          <a:solidFill>
            <a:srgbClr val="D8DE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35"/>
          <p:cNvSpPr/>
          <p:nvPr/>
        </p:nvSpPr>
        <p:spPr>
          <a:xfrm>
            <a:off x="2381098" y="4058107"/>
            <a:ext cx="362102" cy="362102"/>
          </a:xfrm>
          <a:prstGeom prst="rect">
            <a:avLst/>
          </a:prstGeom>
          <a:solidFill>
            <a:srgbClr val="E2E7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hape 36"/>
          <p:cNvSpPr/>
          <p:nvPr/>
        </p:nvSpPr>
        <p:spPr>
          <a:xfrm>
            <a:off x="2781605" y="4058107"/>
            <a:ext cx="362102" cy="362102"/>
          </a:xfrm>
          <a:prstGeom prst="rect">
            <a:avLst/>
          </a:prstGeom>
          <a:solidFill>
            <a:srgbClr val="B8581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hape 37"/>
          <p:cNvSpPr/>
          <p:nvPr/>
        </p:nvSpPr>
        <p:spPr>
          <a:xfrm>
            <a:off x="3181198" y="4058107"/>
            <a:ext cx="362102" cy="362102"/>
          </a:xfrm>
          <a:prstGeom prst="rect">
            <a:avLst/>
          </a:prstGeom>
          <a:solidFill>
            <a:srgbClr val="D8DE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hape 38"/>
          <p:cNvSpPr/>
          <p:nvPr/>
        </p:nvSpPr>
        <p:spPr>
          <a:xfrm>
            <a:off x="3581705" y="4058107"/>
            <a:ext cx="362102" cy="362102"/>
          </a:xfrm>
          <a:prstGeom prst="rect">
            <a:avLst/>
          </a:prstGeom>
          <a:solidFill>
            <a:srgbClr val="5E8F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Shape 39"/>
          <p:cNvSpPr/>
          <p:nvPr/>
        </p:nvSpPr>
        <p:spPr>
          <a:xfrm>
            <a:off x="1181405" y="4457700"/>
            <a:ext cx="362102" cy="362102"/>
          </a:xfrm>
          <a:prstGeom prst="rect">
            <a:avLst/>
          </a:prstGeom>
          <a:solidFill>
            <a:srgbClr val="7AA0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hape 40"/>
          <p:cNvSpPr/>
          <p:nvPr/>
        </p:nvSpPr>
        <p:spPr>
          <a:xfrm>
            <a:off x="1580998" y="4457700"/>
            <a:ext cx="362102" cy="362102"/>
          </a:xfrm>
          <a:prstGeom prst="rect">
            <a:avLst/>
          </a:prstGeom>
          <a:solidFill>
            <a:srgbClr val="D8DE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Shape 41"/>
          <p:cNvSpPr/>
          <p:nvPr/>
        </p:nvSpPr>
        <p:spPr>
          <a:xfrm>
            <a:off x="1981505" y="4457700"/>
            <a:ext cx="362102" cy="362102"/>
          </a:xfrm>
          <a:prstGeom prst="rect">
            <a:avLst/>
          </a:prstGeom>
          <a:solidFill>
            <a:srgbClr val="D8DE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Shape 42"/>
          <p:cNvSpPr/>
          <p:nvPr/>
        </p:nvSpPr>
        <p:spPr>
          <a:xfrm>
            <a:off x="2381098" y="4457700"/>
            <a:ext cx="362102" cy="362102"/>
          </a:xfrm>
          <a:prstGeom prst="rect">
            <a:avLst/>
          </a:prstGeom>
          <a:solidFill>
            <a:srgbClr val="D8DE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Shape 43"/>
          <p:cNvSpPr/>
          <p:nvPr/>
        </p:nvSpPr>
        <p:spPr>
          <a:xfrm>
            <a:off x="2781605" y="4457700"/>
            <a:ext cx="362102" cy="362102"/>
          </a:xfrm>
          <a:prstGeom prst="rect">
            <a:avLst/>
          </a:prstGeom>
          <a:solidFill>
            <a:srgbClr val="E2E7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hape 44"/>
          <p:cNvSpPr/>
          <p:nvPr/>
        </p:nvSpPr>
        <p:spPr>
          <a:xfrm>
            <a:off x="3181198" y="4457700"/>
            <a:ext cx="362102" cy="362102"/>
          </a:xfrm>
          <a:prstGeom prst="rect">
            <a:avLst/>
          </a:prstGeom>
          <a:solidFill>
            <a:srgbClr val="5E8F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Shape 45"/>
          <p:cNvSpPr/>
          <p:nvPr/>
        </p:nvSpPr>
        <p:spPr>
          <a:xfrm>
            <a:off x="3581705" y="4457700"/>
            <a:ext cx="362102" cy="362102"/>
          </a:xfrm>
          <a:prstGeom prst="rect">
            <a:avLst/>
          </a:prstGeom>
          <a:solidFill>
            <a:srgbClr val="7AA0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Shape 46"/>
          <p:cNvSpPr/>
          <p:nvPr/>
        </p:nvSpPr>
        <p:spPr>
          <a:xfrm>
            <a:off x="1181405" y="4858207"/>
            <a:ext cx="362102" cy="362102"/>
          </a:xfrm>
          <a:prstGeom prst="rect">
            <a:avLst/>
          </a:prstGeom>
          <a:solidFill>
            <a:srgbClr val="7AA0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Shape 47"/>
          <p:cNvSpPr/>
          <p:nvPr/>
        </p:nvSpPr>
        <p:spPr>
          <a:xfrm>
            <a:off x="1580998" y="4858207"/>
            <a:ext cx="362102" cy="362102"/>
          </a:xfrm>
          <a:prstGeom prst="rect">
            <a:avLst/>
          </a:prstGeom>
          <a:solidFill>
            <a:srgbClr val="D8DE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Shape 48"/>
          <p:cNvSpPr/>
          <p:nvPr/>
        </p:nvSpPr>
        <p:spPr>
          <a:xfrm>
            <a:off x="1981505" y="4858207"/>
            <a:ext cx="362102" cy="362102"/>
          </a:xfrm>
          <a:prstGeom prst="rect">
            <a:avLst/>
          </a:prstGeom>
          <a:solidFill>
            <a:srgbClr val="B8581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Shape 49"/>
          <p:cNvSpPr/>
          <p:nvPr/>
        </p:nvSpPr>
        <p:spPr>
          <a:xfrm>
            <a:off x="2381098" y="4858207"/>
            <a:ext cx="362102" cy="362102"/>
          </a:xfrm>
          <a:prstGeom prst="rect">
            <a:avLst/>
          </a:prstGeom>
          <a:solidFill>
            <a:srgbClr val="D8DE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Shape 50"/>
          <p:cNvSpPr/>
          <p:nvPr/>
        </p:nvSpPr>
        <p:spPr>
          <a:xfrm>
            <a:off x="2781605" y="4858207"/>
            <a:ext cx="362102" cy="362102"/>
          </a:xfrm>
          <a:prstGeom prst="rect">
            <a:avLst/>
          </a:prstGeom>
          <a:solidFill>
            <a:srgbClr val="E2E7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Shape 51"/>
          <p:cNvSpPr/>
          <p:nvPr/>
        </p:nvSpPr>
        <p:spPr>
          <a:xfrm>
            <a:off x="3181198" y="4858207"/>
            <a:ext cx="362102" cy="362102"/>
          </a:xfrm>
          <a:prstGeom prst="rect">
            <a:avLst/>
          </a:prstGeom>
          <a:solidFill>
            <a:srgbClr val="5E8F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Shape 52"/>
          <p:cNvSpPr/>
          <p:nvPr/>
        </p:nvSpPr>
        <p:spPr>
          <a:xfrm>
            <a:off x="3581705" y="4858207"/>
            <a:ext cx="362102" cy="362102"/>
          </a:xfrm>
          <a:prstGeom prst="rect">
            <a:avLst/>
          </a:prstGeom>
          <a:solidFill>
            <a:srgbClr val="D8DE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Shape 53"/>
          <p:cNvSpPr/>
          <p:nvPr/>
        </p:nvSpPr>
        <p:spPr>
          <a:xfrm>
            <a:off x="1181405" y="5257800"/>
            <a:ext cx="362102" cy="362102"/>
          </a:xfrm>
          <a:prstGeom prst="rect">
            <a:avLst/>
          </a:prstGeom>
          <a:solidFill>
            <a:srgbClr val="D8DE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Shape 54"/>
          <p:cNvSpPr/>
          <p:nvPr/>
        </p:nvSpPr>
        <p:spPr>
          <a:xfrm>
            <a:off x="1580998" y="5257800"/>
            <a:ext cx="362102" cy="362102"/>
          </a:xfrm>
          <a:prstGeom prst="rect">
            <a:avLst/>
          </a:prstGeom>
          <a:solidFill>
            <a:srgbClr val="7AA0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Shape 55"/>
          <p:cNvSpPr/>
          <p:nvPr/>
        </p:nvSpPr>
        <p:spPr>
          <a:xfrm>
            <a:off x="1981505" y="5257800"/>
            <a:ext cx="362102" cy="362102"/>
          </a:xfrm>
          <a:prstGeom prst="rect">
            <a:avLst/>
          </a:prstGeom>
          <a:solidFill>
            <a:srgbClr val="5E8F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Shape 56"/>
          <p:cNvSpPr/>
          <p:nvPr/>
        </p:nvSpPr>
        <p:spPr>
          <a:xfrm>
            <a:off x="2381098" y="5257800"/>
            <a:ext cx="362102" cy="362102"/>
          </a:xfrm>
          <a:prstGeom prst="rect">
            <a:avLst/>
          </a:prstGeom>
          <a:solidFill>
            <a:srgbClr val="5E8F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Shape 57"/>
          <p:cNvSpPr/>
          <p:nvPr/>
        </p:nvSpPr>
        <p:spPr>
          <a:xfrm>
            <a:off x="2781605" y="5257800"/>
            <a:ext cx="362102" cy="362102"/>
          </a:xfrm>
          <a:prstGeom prst="rect">
            <a:avLst/>
          </a:prstGeom>
          <a:solidFill>
            <a:srgbClr val="7AA0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Shape 58"/>
          <p:cNvSpPr/>
          <p:nvPr/>
        </p:nvSpPr>
        <p:spPr>
          <a:xfrm>
            <a:off x="3181198" y="5257800"/>
            <a:ext cx="362102" cy="362102"/>
          </a:xfrm>
          <a:prstGeom prst="rect">
            <a:avLst/>
          </a:prstGeom>
          <a:solidFill>
            <a:srgbClr val="D8DE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Shape 59"/>
          <p:cNvSpPr/>
          <p:nvPr/>
        </p:nvSpPr>
        <p:spPr>
          <a:xfrm>
            <a:off x="3581705" y="5257800"/>
            <a:ext cx="362102" cy="362102"/>
          </a:xfrm>
          <a:prstGeom prst="rect">
            <a:avLst/>
          </a:prstGeom>
          <a:solidFill>
            <a:srgbClr val="D8DE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7" name="Image 4" descr="gen-dedup-7a0a51605f8ac290c4dd81eaa563aaab.png">    </p:cNvPr>
          <p:cNvPicPr>
            <a:picLocks noChangeAspect="1"/>
          </p:cNvPicPr>
          <p:nvPr/>
        </p:nvPicPr>
        <p:blipFill>
          <a:blip r:embed="rId5"/>
          <a:srcRect l="-2078" r="-2078" t="0" b="0"/>
          <a:stretch/>
        </p:blipFill>
        <p:spPr>
          <a:xfrm>
            <a:off x="800100" y="5391302"/>
            <a:ext cx="3619195" cy="9144"/>
          </a:xfrm>
          <a:prstGeom prst="rect">
            <a:avLst/>
          </a:prstGeom>
        </p:spPr>
      </p:pic>
      <p:sp>
        <p:nvSpPr>
          <p:cNvPr id="68" name="Shape 60"/>
          <p:cNvSpPr/>
          <p:nvPr/>
        </p:nvSpPr>
        <p:spPr>
          <a:xfrm>
            <a:off x="4610405" y="2286000"/>
            <a:ext cx="3619195" cy="342900"/>
          </a:xfrm>
          <a:prstGeom prst="rect">
            <a:avLst/>
          </a:prstGeom>
          <a:solidFill>
            <a:srgbClr val="B8581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Shape 61"/>
          <p:cNvSpPr/>
          <p:nvPr/>
        </p:nvSpPr>
        <p:spPr>
          <a:xfrm>
            <a:off x="4990795" y="2857500"/>
            <a:ext cx="362102" cy="362102"/>
          </a:xfrm>
          <a:prstGeom prst="rect">
            <a:avLst/>
          </a:prstGeom>
          <a:solidFill>
            <a:srgbClr val="D8DE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Shape 62"/>
          <p:cNvSpPr/>
          <p:nvPr/>
        </p:nvSpPr>
        <p:spPr>
          <a:xfrm>
            <a:off x="5391302" y="2857500"/>
            <a:ext cx="362102" cy="362102"/>
          </a:xfrm>
          <a:prstGeom prst="rect">
            <a:avLst/>
          </a:prstGeom>
          <a:solidFill>
            <a:srgbClr val="5E8F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Shape 63"/>
          <p:cNvSpPr/>
          <p:nvPr/>
        </p:nvSpPr>
        <p:spPr>
          <a:xfrm>
            <a:off x="5790895" y="2857500"/>
            <a:ext cx="362102" cy="362102"/>
          </a:xfrm>
          <a:prstGeom prst="rect">
            <a:avLst/>
          </a:prstGeom>
          <a:solidFill>
            <a:srgbClr val="3F72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" name="Shape 64"/>
          <p:cNvSpPr/>
          <p:nvPr/>
        </p:nvSpPr>
        <p:spPr>
          <a:xfrm>
            <a:off x="6191402" y="2857500"/>
            <a:ext cx="362102" cy="362102"/>
          </a:xfrm>
          <a:prstGeom prst="rect">
            <a:avLst/>
          </a:prstGeom>
          <a:solidFill>
            <a:srgbClr val="5E8F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" name="Shape 65"/>
          <p:cNvSpPr/>
          <p:nvPr/>
        </p:nvSpPr>
        <p:spPr>
          <a:xfrm>
            <a:off x="6590995" y="2857500"/>
            <a:ext cx="362102" cy="362102"/>
          </a:xfrm>
          <a:prstGeom prst="rect">
            <a:avLst/>
          </a:prstGeom>
          <a:solidFill>
            <a:srgbClr val="7AA0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" name="Shape 66"/>
          <p:cNvSpPr/>
          <p:nvPr/>
        </p:nvSpPr>
        <p:spPr>
          <a:xfrm>
            <a:off x="6991502" y="2857500"/>
            <a:ext cx="362102" cy="362102"/>
          </a:xfrm>
          <a:prstGeom prst="rect">
            <a:avLst/>
          </a:prstGeom>
          <a:solidFill>
            <a:srgbClr val="3F72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" name="Shape 67"/>
          <p:cNvSpPr/>
          <p:nvPr/>
        </p:nvSpPr>
        <p:spPr>
          <a:xfrm>
            <a:off x="7391095" y="2857500"/>
            <a:ext cx="362102" cy="362102"/>
          </a:xfrm>
          <a:prstGeom prst="rect">
            <a:avLst/>
          </a:prstGeom>
          <a:solidFill>
            <a:srgbClr val="D8DE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" name="Shape 68"/>
          <p:cNvSpPr/>
          <p:nvPr/>
        </p:nvSpPr>
        <p:spPr>
          <a:xfrm>
            <a:off x="4990795" y="3258007"/>
            <a:ext cx="362102" cy="362102"/>
          </a:xfrm>
          <a:prstGeom prst="rect">
            <a:avLst/>
          </a:prstGeom>
          <a:solidFill>
            <a:srgbClr val="7AA0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" name="Shape 69"/>
          <p:cNvSpPr/>
          <p:nvPr/>
        </p:nvSpPr>
        <p:spPr>
          <a:xfrm>
            <a:off x="5391302" y="3258007"/>
            <a:ext cx="362102" cy="362102"/>
          </a:xfrm>
          <a:prstGeom prst="rect">
            <a:avLst/>
          </a:prstGeom>
          <a:solidFill>
            <a:srgbClr val="B8581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" name="Shape 70"/>
          <p:cNvSpPr/>
          <p:nvPr/>
        </p:nvSpPr>
        <p:spPr>
          <a:xfrm>
            <a:off x="5790895" y="3258007"/>
            <a:ext cx="362102" cy="362102"/>
          </a:xfrm>
          <a:prstGeom prst="rect">
            <a:avLst/>
          </a:prstGeom>
          <a:solidFill>
            <a:srgbClr val="E2E7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" name="Shape 71"/>
          <p:cNvSpPr/>
          <p:nvPr/>
        </p:nvSpPr>
        <p:spPr>
          <a:xfrm>
            <a:off x="6191402" y="3258007"/>
            <a:ext cx="362102" cy="362102"/>
          </a:xfrm>
          <a:prstGeom prst="rect">
            <a:avLst/>
          </a:prstGeom>
          <a:solidFill>
            <a:srgbClr val="D8DE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0" name="Shape 72"/>
          <p:cNvSpPr/>
          <p:nvPr/>
        </p:nvSpPr>
        <p:spPr>
          <a:xfrm>
            <a:off x="6590995" y="3258007"/>
            <a:ext cx="362102" cy="362102"/>
          </a:xfrm>
          <a:prstGeom prst="rect">
            <a:avLst/>
          </a:prstGeom>
          <a:solidFill>
            <a:srgbClr val="D8DE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" name="Shape 73"/>
          <p:cNvSpPr/>
          <p:nvPr/>
        </p:nvSpPr>
        <p:spPr>
          <a:xfrm>
            <a:off x="6991502" y="3258007"/>
            <a:ext cx="362102" cy="362102"/>
          </a:xfrm>
          <a:prstGeom prst="rect">
            <a:avLst/>
          </a:prstGeom>
          <a:solidFill>
            <a:srgbClr val="B8581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2" name="Shape 74"/>
          <p:cNvSpPr/>
          <p:nvPr/>
        </p:nvSpPr>
        <p:spPr>
          <a:xfrm>
            <a:off x="7391095" y="3258007"/>
            <a:ext cx="362102" cy="362102"/>
          </a:xfrm>
          <a:prstGeom prst="rect">
            <a:avLst/>
          </a:prstGeom>
          <a:solidFill>
            <a:srgbClr val="5E8F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3" name="Shape 75"/>
          <p:cNvSpPr/>
          <p:nvPr/>
        </p:nvSpPr>
        <p:spPr>
          <a:xfrm>
            <a:off x="4990795" y="3657600"/>
            <a:ext cx="362102" cy="362102"/>
          </a:xfrm>
          <a:prstGeom prst="rect">
            <a:avLst/>
          </a:prstGeom>
          <a:solidFill>
            <a:srgbClr val="5E8F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4" name="Shape 76"/>
          <p:cNvSpPr/>
          <p:nvPr/>
        </p:nvSpPr>
        <p:spPr>
          <a:xfrm>
            <a:off x="5391302" y="3657600"/>
            <a:ext cx="362102" cy="362102"/>
          </a:xfrm>
          <a:prstGeom prst="rect">
            <a:avLst/>
          </a:prstGeom>
          <a:solidFill>
            <a:srgbClr val="7AA0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5" name="Shape 77"/>
          <p:cNvSpPr/>
          <p:nvPr/>
        </p:nvSpPr>
        <p:spPr>
          <a:xfrm>
            <a:off x="5790895" y="3657600"/>
            <a:ext cx="362102" cy="362102"/>
          </a:xfrm>
          <a:prstGeom prst="rect">
            <a:avLst/>
          </a:prstGeom>
          <a:solidFill>
            <a:srgbClr val="D8DE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6" name="Shape 78"/>
          <p:cNvSpPr/>
          <p:nvPr/>
        </p:nvSpPr>
        <p:spPr>
          <a:xfrm>
            <a:off x="6191402" y="3657600"/>
            <a:ext cx="362102" cy="362102"/>
          </a:xfrm>
          <a:prstGeom prst="rect">
            <a:avLst/>
          </a:prstGeom>
          <a:solidFill>
            <a:srgbClr val="B8581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7" name="Shape 79"/>
          <p:cNvSpPr/>
          <p:nvPr/>
        </p:nvSpPr>
        <p:spPr>
          <a:xfrm>
            <a:off x="6590995" y="3657600"/>
            <a:ext cx="362102" cy="362102"/>
          </a:xfrm>
          <a:prstGeom prst="rect">
            <a:avLst/>
          </a:prstGeom>
          <a:solidFill>
            <a:srgbClr val="E2E7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8" name="Shape 80"/>
          <p:cNvSpPr/>
          <p:nvPr/>
        </p:nvSpPr>
        <p:spPr>
          <a:xfrm>
            <a:off x="6991502" y="3657600"/>
            <a:ext cx="362102" cy="362102"/>
          </a:xfrm>
          <a:prstGeom prst="rect">
            <a:avLst/>
          </a:prstGeom>
          <a:solidFill>
            <a:srgbClr val="5E8F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9" name="Shape 81"/>
          <p:cNvSpPr/>
          <p:nvPr/>
        </p:nvSpPr>
        <p:spPr>
          <a:xfrm>
            <a:off x="7391095" y="3657600"/>
            <a:ext cx="362102" cy="362102"/>
          </a:xfrm>
          <a:prstGeom prst="rect">
            <a:avLst/>
          </a:prstGeom>
          <a:solidFill>
            <a:srgbClr val="7AA0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0" name="Shape 82"/>
          <p:cNvSpPr/>
          <p:nvPr/>
        </p:nvSpPr>
        <p:spPr>
          <a:xfrm>
            <a:off x="4990795" y="4058107"/>
            <a:ext cx="362102" cy="362102"/>
          </a:xfrm>
          <a:prstGeom prst="rect">
            <a:avLst/>
          </a:prstGeom>
          <a:solidFill>
            <a:srgbClr val="3F72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1" name="Shape 83"/>
          <p:cNvSpPr/>
          <p:nvPr/>
        </p:nvSpPr>
        <p:spPr>
          <a:xfrm>
            <a:off x="5391302" y="4058107"/>
            <a:ext cx="362102" cy="362102"/>
          </a:xfrm>
          <a:prstGeom prst="rect">
            <a:avLst/>
          </a:prstGeom>
          <a:solidFill>
            <a:srgbClr val="7AA0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2" name="Shape 84"/>
          <p:cNvSpPr/>
          <p:nvPr/>
        </p:nvSpPr>
        <p:spPr>
          <a:xfrm>
            <a:off x="5790895" y="4058107"/>
            <a:ext cx="362102" cy="362102"/>
          </a:xfrm>
          <a:prstGeom prst="rect">
            <a:avLst/>
          </a:prstGeom>
          <a:solidFill>
            <a:srgbClr val="B8581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3" name="Shape 85"/>
          <p:cNvSpPr/>
          <p:nvPr/>
        </p:nvSpPr>
        <p:spPr>
          <a:xfrm>
            <a:off x="6191402" y="4058107"/>
            <a:ext cx="362102" cy="362102"/>
          </a:xfrm>
          <a:prstGeom prst="rect">
            <a:avLst/>
          </a:prstGeom>
          <a:solidFill>
            <a:srgbClr val="D8DE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4" name="Shape 86"/>
          <p:cNvSpPr/>
          <p:nvPr/>
        </p:nvSpPr>
        <p:spPr>
          <a:xfrm>
            <a:off x="6590995" y="4058107"/>
            <a:ext cx="362102" cy="362102"/>
          </a:xfrm>
          <a:prstGeom prst="rect">
            <a:avLst/>
          </a:prstGeom>
          <a:solidFill>
            <a:srgbClr val="5E8F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5" name="Shape 87"/>
          <p:cNvSpPr/>
          <p:nvPr/>
        </p:nvSpPr>
        <p:spPr>
          <a:xfrm>
            <a:off x="6991502" y="4058107"/>
            <a:ext cx="362102" cy="362102"/>
          </a:xfrm>
          <a:prstGeom prst="rect">
            <a:avLst/>
          </a:prstGeom>
          <a:solidFill>
            <a:srgbClr val="7AA0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6" name="Shape 88"/>
          <p:cNvSpPr/>
          <p:nvPr/>
        </p:nvSpPr>
        <p:spPr>
          <a:xfrm>
            <a:off x="7391095" y="4058107"/>
            <a:ext cx="362102" cy="362102"/>
          </a:xfrm>
          <a:prstGeom prst="rect">
            <a:avLst/>
          </a:prstGeom>
          <a:solidFill>
            <a:srgbClr val="3F72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7" name="Shape 89"/>
          <p:cNvSpPr/>
          <p:nvPr/>
        </p:nvSpPr>
        <p:spPr>
          <a:xfrm>
            <a:off x="4990795" y="4457700"/>
            <a:ext cx="362102" cy="362102"/>
          </a:xfrm>
          <a:prstGeom prst="rect">
            <a:avLst/>
          </a:prstGeom>
          <a:solidFill>
            <a:srgbClr val="5E8F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8" name="Shape 90"/>
          <p:cNvSpPr/>
          <p:nvPr/>
        </p:nvSpPr>
        <p:spPr>
          <a:xfrm>
            <a:off x="5391302" y="4457700"/>
            <a:ext cx="362102" cy="362102"/>
          </a:xfrm>
          <a:prstGeom prst="rect">
            <a:avLst/>
          </a:prstGeom>
          <a:solidFill>
            <a:srgbClr val="B8581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9" name="Shape 91"/>
          <p:cNvSpPr/>
          <p:nvPr/>
        </p:nvSpPr>
        <p:spPr>
          <a:xfrm>
            <a:off x="5790895" y="4457700"/>
            <a:ext cx="362102" cy="362102"/>
          </a:xfrm>
          <a:prstGeom prst="rect">
            <a:avLst/>
          </a:prstGeom>
          <a:solidFill>
            <a:srgbClr val="D8DE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0" name="Shape 92"/>
          <p:cNvSpPr/>
          <p:nvPr/>
        </p:nvSpPr>
        <p:spPr>
          <a:xfrm>
            <a:off x="6191402" y="4457700"/>
            <a:ext cx="362102" cy="362102"/>
          </a:xfrm>
          <a:prstGeom prst="rect">
            <a:avLst/>
          </a:prstGeom>
          <a:solidFill>
            <a:srgbClr val="D8DE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1" name="Shape 93"/>
          <p:cNvSpPr/>
          <p:nvPr/>
        </p:nvSpPr>
        <p:spPr>
          <a:xfrm>
            <a:off x="6590995" y="4457700"/>
            <a:ext cx="362102" cy="362102"/>
          </a:xfrm>
          <a:prstGeom prst="rect">
            <a:avLst/>
          </a:prstGeom>
          <a:solidFill>
            <a:srgbClr val="E2E7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2" name="Shape 94"/>
          <p:cNvSpPr/>
          <p:nvPr/>
        </p:nvSpPr>
        <p:spPr>
          <a:xfrm>
            <a:off x="6991502" y="4457700"/>
            <a:ext cx="362102" cy="362102"/>
          </a:xfrm>
          <a:prstGeom prst="rect">
            <a:avLst/>
          </a:prstGeom>
          <a:solidFill>
            <a:srgbClr val="5E8F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3" name="Shape 95"/>
          <p:cNvSpPr/>
          <p:nvPr/>
        </p:nvSpPr>
        <p:spPr>
          <a:xfrm>
            <a:off x="7391095" y="4457700"/>
            <a:ext cx="362102" cy="362102"/>
          </a:xfrm>
          <a:prstGeom prst="rect">
            <a:avLst/>
          </a:prstGeom>
          <a:solidFill>
            <a:srgbClr val="B8581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4" name="Shape 96"/>
          <p:cNvSpPr/>
          <p:nvPr/>
        </p:nvSpPr>
        <p:spPr>
          <a:xfrm>
            <a:off x="4990795" y="4858207"/>
            <a:ext cx="362102" cy="362102"/>
          </a:xfrm>
          <a:prstGeom prst="rect">
            <a:avLst/>
          </a:prstGeom>
          <a:solidFill>
            <a:srgbClr val="7AA0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5" name="Shape 97"/>
          <p:cNvSpPr/>
          <p:nvPr/>
        </p:nvSpPr>
        <p:spPr>
          <a:xfrm>
            <a:off x="5391302" y="4858207"/>
            <a:ext cx="362102" cy="362102"/>
          </a:xfrm>
          <a:prstGeom prst="rect">
            <a:avLst/>
          </a:prstGeom>
          <a:solidFill>
            <a:srgbClr val="D8DE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6" name="Shape 98"/>
          <p:cNvSpPr/>
          <p:nvPr/>
        </p:nvSpPr>
        <p:spPr>
          <a:xfrm>
            <a:off x="5790895" y="4858207"/>
            <a:ext cx="362102" cy="362102"/>
          </a:xfrm>
          <a:prstGeom prst="rect">
            <a:avLst/>
          </a:prstGeom>
          <a:solidFill>
            <a:srgbClr val="B8581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7" name="Shape 99"/>
          <p:cNvSpPr/>
          <p:nvPr/>
        </p:nvSpPr>
        <p:spPr>
          <a:xfrm>
            <a:off x="6191402" y="4858207"/>
            <a:ext cx="362102" cy="362102"/>
          </a:xfrm>
          <a:prstGeom prst="rect">
            <a:avLst/>
          </a:prstGeom>
          <a:solidFill>
            <a:srgbClr val="5E8F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8" name="Shape 100"/>
          <p:cNvSpPr/>
          <p:nvPr/>
        </p:nvSpPr>
        <p:spPr>
          <a:xfrm>
            <a:off x="6590995" y="4858207"/>
            <a:ext cx="362102" cy="362102"/>
          </a:xfrm>
          <a:prstGeom prst="rect">
            <a:avLst/>
          </a:prstGeom>
          <a:solidFill>
            <a:srgbClr val="E2E7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9" name="Shape 101"/>
          <p:cNvSpPr/>
          <p:nvPr/>
        </p:nvSpPr>
        <p:spPr>
          <a:xfrm>
            <a:off x="6991502" y="4858207"/>
            <a:ext cx="362102" cy="362102"/>
          </a:xfrm>
          <a:prstGeom prst="rect">
            <a:avLst/>
          </a:prstGeom>
          <a:solidFill>
            <a:srgbClr val="7AA0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0" name="Shape 102"/>
          <p:cNvSpPr/>
          <p:nvPr/>
        </p:nvSpPr>
        <p:spPr>
          <a:xfrm>
            <a:off x="7391095" y="4858207"/>
            <a:ext cx="362102" cy="362102"/>
          </a:xfrm>
          <a:prstGeom prst="rect">
            <a:avLst/>
          </a:prstGeom>
          <a:solidFill>
            <a:srgbClr val="5E8F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1" name="Shape 103"/>
          <p:cNvSpPr/>
          <p:nvPr/>
        </p:nvSpPr>
        <p:spPr>
          <a:xfrm>
            <a:off x="4990795" y="5257800"/>
            <a:ext cx="362102" cy="362102"/>
          </a:xfrm>
          <a:prstGeom prst="rect">
            <a:avLst/>
          </a:prstGeom>
          <a:solidFill>
            <a:srgbClr val="D8DE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2" name="Shape 104"/>
          <p:cNvSpPr/>
          <p:nvPr/>
        </p:nvSpPr>
        <p:spPr>
          <a:xfrm>
            <a:off x="5391302" y="5257800"/>
            <a:ext cx="362102" cy="362102"/>
          </a:xfrm>
          <a:prstGeom prst="rect">
            <a:avLst/>
          </a:prstGeom>
          <a:solidFill>
            <a:srgbClr val="7AA0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3" name="Shape 105"/>
          <p:cNvSpPr/>
          <p:nvPr/>
        </p:nvSpPr>
        <p:spPr>
          <a:xfrm>
            <a:off x="5790895" y="5257800"/>
            <a:ext cx="362102" cy="362102"/>
          </a:xfrm>
          <a:prstGeom prst="rect">
            <a:avLst/>
          </a:prstGeom>
          <a:solidFill>
            <a:srgbClr val="5E8F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4" name="Shape 106"/>
          <p:cNvSpPr/>
          <p:nvPr/>
        </p:nvSpPr>
        <p:spPr>
          <a:xfrm>
            <a:off x="6191402" y="5257800"/>
            <a:ext cx="362102" cy="362102"/>
          </a:xfrm>
          <a:prstGeom prst="rect">
            <a:avLst/>
          </a:prstGeom>
          <a:solidFill>
            <a:srgbClr val="7AA0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5" name="Shape 107"/>
          <p:cNvSpPr/>
          <p:nvPr/>
        </p:nvSpPr>
        <p:spPr>
          <a:xfrm>
            <a:off x="6590995" y="5257800"/>
            <a:ext cx="362102" cy="362102"/>
          </a:xfrm>
          <a:prstGeom prst="rect">
            <a:avLst/>
          </a:prstGeom>
          <a:solidFill>
            <a:srgbClr val="5E8F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6" name="Shape 108"/>
          <p:cNvSpPr/>
          <p:nvPr/>
        </p:nvSpPr>
        <p:spPr>
          <a:xfrm>
            <a:off x="6991502" y="5257800"/>
            <a:ext cx="362102" cy="362102"/>
          </a:xfrm>
          <a:prstGeom prst="rect">
            <a:avLst/>
          </a:prstGeom>
          <a:solidFill>
            <a:srgbClr val="7AA0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7" name="Shape 109"/>
          <p:cNvSpPr/>
          <p:nvPr/>
        </p:nvSpPr>
        <p:spPr>
          <a:xfrm>
            <a:off x="7391095" y="5257800"/>
            <a:ext cx="362102" cy="362102"/>
          </a:xfrm>
          <a:prstGeom prst="rect">
            <a:avLst/>
          </a:prstGeom>
          <a:solidFill>
            <a:srgbClr val="D8DE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8" name="Shape 110"/>
          <p:cNvSpPr/>
          <p:nvPr/>
        </p:nvSpPr>
        <p:spPr>
          <a:xfrm>
            <a:off x="8419795" y="2286000"/>
            <a:ext cx="3619195" cy="342900"/>
          </a:xfrm>
          <a:prstGeom prst="rect">
            <a:avLst/>
          </a:prstGeom>
          <a:solidFill>
            <a:srgbClr val="1F536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9" name="Shape 111"/>
          <p:cNvSpPr/>
          <p:nvPr/>
        </p:nvSpPr>
        <p:spPr>
          <a:xfrm>
            <a:off x="8801100" y="2857500"/>
            <a:ext cx="362102" cy="362102"/>
          </a:xfrm>
          <a:prstGeom prst="rect">
            <a:avLst/>
          </a:prstGeom>
          <a:solidFill>
            <a:srgbClr val="5E8F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0" name="Shape 112"/>
          <p:cNvSpPr/>
          <p:nvPr/>
        </p:nvSpPr>
        <p:spPr>
          <a:xfrm>
            <a:off x="9201607" y="2857500"/>
            <a:ext cx="362102" cy="362102"/>
          </a:xfrm>
          <a:prstGeom prst="rect">
            <a:avLst/>
          </a:prstGeom>
          <a:solidFill>
            <a:srgbClr val="5E8F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1" name="Shape 113"/>
          <p:cNvSpPr/>
          <p:nvPr/>
        </p:nvSpPr>
        <p:spPr>
          <a:xfrm>
            <a:off x="9601200" y="2857500"/>
            <a:ext cx="362102" cy="362102"/>
          </a:xfrm>
          <a:prstGeom prst="rect">
            <a:avLst/>
          </a:prstGeom>
          <a:solidFill>
            <a:srgbClr val="7AA0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2" name="Shape 114"/>
          <p:cNvSpPr/>
          <p:nvPr/>
        </p:nvSpPr>
        <p:spPr>
          <a:xfrm>
            <a:off x="10001707" y="2857500"/>
            <a:ext cx="362102" cy="362102"/>
          </a:xfrm>
          <a:prstGeom prst="rect">
            <a:avLst/>
          </a:prstGeom>
          <a:solidFill>
            <a:srgbClr val="5E8F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3" name="Shape 115"/>
          <p:cNvSpPr/>
          <p:nvPr/>
        </p:nvSpPr>
        <p:spPr>
          <a:xfrm>
            <a:off x="10401300" y="2857500"/>
            <a:ext cx="362102" cy="362102"/>
          </a:xfrm>
          <a:prstGeom prst="rect">
            <a:avLst/>
          </a:prstGeom>
          <a:solidFill>
            <a:srgbClr val="5E8F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4" name="Shape 116"/>
          <p:cNvSpPr/>
          <p:nvPr/>
        </p:nvSpPr>
        <p:spPr>
          <a:xfrm>
            <a:off x="10801807" y="2857500"/>
            <a:ext cx="362102" cy="362102"/>
          </a:xfrm>
          <a:prstGeom prst="rect">
            <a:avLst/>
          </a:prstGeom>
          <a:solidFill>
            <a:srgbClr val="3F72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5" name="Shape 117"/>
          <p:cNvSpPr/>
          <p:nvPr/>
        </p:nvSpPr>
        <p:spPr>
          <a:xfrm>
            <a:off x="11201400" y="2857500"/>
            <a:ext cx="362102" cy="362102"/>
          </a:xfrm>
          <a:prstGeom prst="rect">
            <a:avLst/>
          </a:prstGeom>
          <a:solidFill>
            <a:srgbClr val="5E8F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6" name="Shape 118"/>
          <p:cNvSpPr/>
          <p:nvPr/>
        </p:nvSpPr>
        <p:spPr>
          <a:xfrm>
            <a:off x="8801100" y="3258007"/>
            <a:ext cx="362102" cy="362102"/>
          </a:xfrm>
          <a:prstGeom prst="rect">
            <a:avLst/>
          </a:prstGeom>
          <a:solidFill>
            <a:srgbClr val="5E8F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7" name="Shape 119"/>
          <p:cNvSpPr/>
          <p:nvPr/>
        </p:nvSpPr>
        <p:spPr>
          <a:xfrm>
            <a:off x="9201607" y="3258007"/>
            <a:ext cx="362102" cy="362102"/>
          </a:xfrm>
          <a:prstGeom prst="rect">
            <a:avLst/>
          </a:prstGeom>
          <a:solidFill>
            <a:srgbClr val="7AA0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8" name="Shape 120"/>
          <p:cNvSpPr/>
          <p:nvPr/>
        </p:nvSpPr>
        <p:spPr>
          <a:xfrm>
            <a:off x="9601200" y="3258007"/>
            <a:ext cx="362102" cy="362102"/>
          </a:xfrm>
          <a:prstGeom prst="rect">
            <a:avLst/>
          </a:prstGeom>
          <a:solidFill>
            <a:srgbClr val="7AA0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9" name="Shape 121"/>
          <p:cNvSpPr/>
          <p:nvPr/>
        </p:nvSpPr>
        <p:spPr>
          <a:xfrm>
            <a:off x="10001707" y="3258007"/>
            <a:ext cx="362102" cy="362102"/>
          </a:xfrm>
          <a:prstGeom prst="rect">
            <a:avLst/>
          </a:prstGeom>
          <a:solidFill>
            <a:srgbClr val="5E8F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0" name="Shape 122"/>
          <p:cNvSpPr/>
          <p:nvPr/>
        </p:nvSpPr>
        <p:spPr>
          <a:xfrm>
            <a:off x="10401300" y="3258007"/>
            <a:ext cx="362102" cy="362102"/>
          </a:xfrm>
          <a:prstGeom prst="rect">
            <a:avLst/>
          </a:prstGeom>
          <a:solidFill>
            <a:srgbClr val="5E8F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1" name="Shape 123"/>
          <p:cNvSpPr/>
          <p:nvPr/>
        </p:nvSpPr>
        <p:spPr>
          <a:xfrm>
            <a:off x="10801807" y="3258007"/>
            <a:ext cx="362102" cy="362102"/>
          </a:xfrm>
          <a:prstGeom prst="rect">
            <a:avLst/>
          </a:prstGeom>
          <a:solidFill>
            <a:srgbClr val="7AA0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2" name="Shape 124"/>
          <p:cNvSpPr/>
          <p:nvPr/>
        </p:nvSpPr>
        <p:spPr>
          <a:xfrm>
            <a:off x="11201400" y="3258007"/>
            <a:ext cx="362102" cy="362102"/>
          </a:xfrm>
          <a:prstGeom prst="rect">
            <a:avLst/>
          </a:prstGeom>
          <a:solidFill>
            <a:srgbClr val="5E8F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3" name="Shape 125"/>
          <p:cNvSpPr/>
          <p:nvPr/>
        </p:nvSpPr>
        <p:spPr>
          <a:xfrm>
            <a:off x="8801100" y="3657600"/>
            <a:ext cx="362102" cy="362102"/>
          </a:xfrm>
          <a:prstGeom prst="rect">
            <a:avLst/>
          </a:prstGeom>
          <a:solidFill>
            <a:srgbClr val="7AA0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4" name="Shape 126"/>
          <p:cNvSpPr/>
          <p:nvPr/>
        </p:nvSpPr>
        <p:spPr>
          <a:xfrm>
            <a:off x="9201607" y="3657600"/>
            <a:ext cx="362102" cy="362102"/>
          </a:xfrm>
          <a:prstGeom prst="rect">
            <a:avLst/>
          </a:prstGeom>
          <a:solidFill>
            <a:srgbClr val="5E8F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5" name="Shape 127"/>
          <p:cNvSpPr/>
          <p:nvPr/>
        </p:nvSpPr>
        <p:spPr>
          <a:xfrm>
            <a:off x="9601200" y="3657600"/>
            <a:ext cx="362102" cy="362102"/>
          </a:xfrm>
          <a:prstGeom prst="rect">
            <a:avLst/>
          </a:prstGeom>
          <a:solidFill>
            <a:srgbClr val="7AA0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6" name="Shape 128"/>
          <p:cNvSpPr/>
          <p:nvPr/>
        </p:nvSpPr>
        <p:spPr>
          <a:xfrm>
            <a:off x="10001707" y="3657600"/>
            <a:ext cx="362102" cy="362102"/>
          </a:xfrm>
          <a:prstGeom prst="rect">
            <a:avLst/>
          </a:prstGeom>
          <a:solidFill>
            <a:srgbClr val="7AA0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7" name="Shape 129"/>
          <p:cNvSpPr/>
          <p:nvPr/>
        </p:nvSpPr>
        <p:spPr>
          <a:xfrm>
            <a:off x="10401300" y="3657600"/>
            <a:ext cx="362102" cy="362102"/>
          </a:xfrm>
          <a:prstGeom prst="rect">
            <a:avLst/>
          </a:prstGeom>
          <a:solidFill>
            <a:srgbClr val="5E8F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8" name="Shape 130"/>
          <p:cNvSpPr/>
          <p:nvPr/>
        </p:nvSpPr>
        <p:spPr>
          <a:xfrm>
            <a:off x="10801807" y="3657600"/>
            <a:ext cx="362102" cy="362102"/>
          </a:xfrm>
          <a:prstGeom prst="rect">
            <a:avLst/>
          </a:prstGeom>
          <a:solidFill>
            <a:srgbClr val="7AA0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9" name="Shape 131"/>
          <p:cNvSpPr/>
          <p:nvPr/>
        </p:nvSpPr>
        <p:spPr>
          <a:xfrm>
            <a:off x="11201400" y="3657600"/>
            <a:ext cx="362102" cy="362102"/>
          </a:xfrm>
          <a:prstGeom prst="rect">
            <a:avLst/>
          </a:prstGeom>
          <a:solidFill>
            <a:srgbClr val="5E8F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0" name="Shape 132"/>
          <p:cNvSpPr/>
          <p:nvPr/>
        </p:nvSpPr>
        <p:spPr>
          <a:xfrm>
            <a:off x="8801100" y="4058107"/>
            <a:ext cx="362102" cy="362102"/>
          </a:xfrm>
          <a:prstGeom prst="rect">
            <a:avLst/>
          </a:prstGeom>
          <a:solidFill>
            <a:srgbClr val="5E8F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1" name="Shape 133"/>
          <p:cNvSpPr/>
          <p:nvPr/>
        </p:nvSpPr>
        <p:spPr>
          <a:xfrm>
            <a:off x="9201607" y="4058107"/>
            <a:ext cx="362102" cy="362102"/>
          </a:xfrm>
          <a:prstGeom prst="rect">
            <a:avLst/>
          </a:prstGeom>
          <a:solidFill>
            <a:srgbClr val="5E8F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2" name="Shape 134"/>
          <p:cNvSpPr/>
          <p:nvPr/>
        </p:nvSpPr>
        <p:spPr>
          <a:xfrm>
            <a:off x="9601200" y="4058107"/>
            <a:ext cx="362102" cy="362102"/>
          </a:xfrm>
          <a:prstGeom prst="rect">
            <a:avLst/>
          </a:prstGeom>
          <a:solidFill>
            <a:srgbClr val="7AA0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3" name="Shape 135"/>
          <p:cNvSpPr/>
          <p:nvPr/>
        </p:nvSpPr>
        <p:spPr>
          <a:xfrm>
            <a:off x="10001707" y="4058107"/>
            <a:ext cx="362102" cy="362102"/>
          </a:xfrm>
          <a:prstGeom prst="rect">
            <a:avLst/>
          </a:prstGeom>
          <a:solidFill>
            <a:srgbClr val="5E8F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4" name="Shape 136"/>
          <p:cNvSpPr/>
          <p:nvPr/>
        </p:nvSpPr>
        <p:spPr>
          <a:xfrm>
            <a:off x="10401300" y="4058107"/>
            <a:ext cx="362102" cy="362102"/>
          </a:xfrm>
          <a:prstGeom prst="rect">
            <a:avLst/>
          </a:prstGeom>
          <a:solidFill>
            <a:srgbClr val="7AA0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5" name="Shape 137"/>
          <p:cNvSpPr/>
          <p:nvPr/>
        </p:nvSpPr>
        <p:spPr>
          <a:xfrm>
            <a:off x="10801807" y="4058107"/>
            <a:ext cx="362102" cy="362102"/>
          </a:xfrm>
          <a:prstGeom prst="rect">
            <a:avLst/>
          </a:prstGeom>
          <a:solidFill>
            <a:srgbClr val="3F72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6" name="Shape 138"/>
          <p:cNvSpPr/>
          <p:nvPr/>
        </p:nvSpPr>
        <p:spPr>
          <a:xfrm>
            <a:off x="11201400" y="4058107"/>
            <a:ext cx="362102" cy="362102"/>
          </a:xfrm>
          <a:prstGeom prst="rect">
            <a:avLst/>
          </a:prstGeom>
          <a:solidFill>
            <a:srgbClr val="5E8F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7" name="Shape 139"/>
          <p:cNvSpPr/>
          <p:nvPr/>
        </p:nvSpPr>
        <p:spPr>
          <a:xfrm>
            <a:off x="8801100" y="4457700"/>
            <a:ext cx="362102" cy="362102"/>
          </a:xfrm>
          <a:prstGeom prst="rect">
            <a:avLst/>
          </a:prstGeom>
          <a:solidFill>
            <a:srgbClr val="7AA0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8" name="Shape 140"/>
          <p:cNvSpPr/>
          <p:nvPr/>
        </p:nvSpPr>
        <p:spPr>
          <a:xfrm>
            <a:off x="9201607" y="4457700"/>
            <a:ext cx="362102" cy="362102"/>
          </a:xfrm>
          <a:prstGeom prst="rect">
            <a:avLst/>
          </a:prstGeom>
          <a:solidFill>
            <a:srgbClr val="5E8F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9" name="Shape 141"/>
          <p:cNvSpPr/>
          <p:nvPr/>
        </p:nvSpPr>
        <p:spPr>
          <a:xfrm>
            <a:off x="9601200" y="4457700"/>
            <a:ext cx="362102" cy="362102"/>
          </a:xfrm>
          <a:prstGeom prst="rect">
            <a:avLst/>
          </a:prstGeom>
          <a:solidFill>
            <a:srgbClr val="7AA0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0" name="Shape 142"/>
          <p:cNvSpPr/>
          <p:nvPr/>
        </p:nvSpPr>
        <p:spPr>
          <a:xfrm>
            <a:off x="10001707" y="4457700"/>
            <a:ext cx="362102" cy="362102"/>
          </a:xfrm>
          <a:prstGeom prst="rect">
            <a:avLst/>
          </a:prstGeom>
          <a:solidFill>
            <a:srgbClr val="5E8F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1" name="Shape 143"/>
          <p:cNvSpPr/>
          <p:nvPr/>
        </p:nvSpPr>
        <p:spPr>
          <a:xfrm>
            <a:off x="10401300" y="4457700"/>
            <a:ext cx="362102" cy="362102"/>
          </a:xfrm>
          <a:prstGeom prst="rect">
            <a:avLst/>
          </a:prstGeom>
          <a:solidFill>
            <a:srgbClr val="7AA0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2" name="Shape 144"/>
          <p:cNvSpPr/>
          <p:nvPr/>
        </p:nvSpPr>
        <p:spPr>
          <a:xfrm>
            <a:off x="10801807" y="4457700"/>
            <a:ext cx="362102" cy="362102"/>
          </a:xfrm>
          <a:prstGeom prst="rect">
            <a:avLst/>
          </a:prstGeom>
          <a:solidFill>
            <a:srgbClr val="5E8F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3" name="Shape 145"/>
          <p:cNvSpPr/>
          <p:nvPr/>
        </p:nvSpPr>
        <p:spPr>
          <a:xfrm>
            <a:off x="11201400" y="4457700"/>
            <a:ext cx="362102" cy="362102"/>
          </a:xfrm>
          <a:prstGeom prst="rect">
            <a:avLst/>
          </a:prstGeom>
          <a:solidFill>
            <a:srgbClr val="7AA0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4" name="Shape 146"/>
          <p:cNvSpPr/>
          <p:nvPr/>
        </p:nvSpPr>
        <p:spPr>
          <a:xfrm>
            <a:off x="8801100" y="4858207"/>
            <a:ext cx="362102" cy="362102"/>
          </a:xfrm>
          <a:prstGeom prst="rect">
            <a:avLst/>
          </a:prstGeom>
          <a:solidFill>
            <a:srgbClr val="5E8F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5" name="Shape 147"/>
          <p:cNvSpPr/>
          <p:nvPr/>
        </p:nvSpPr>
        <p:spPr>
          <a:xfrm>
            <a:off x="9201607" y="4858207"/>
            <a:ext cx="362102" cy="362102"/>
          </a:xfrm>
          <a:prstGeom prst="rect">
            <a:avLst/>
          </a:prstGeom>
          <a:solidFill>
            <a:srgbClr val="7AA0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6" name="Shape 148"/>
          <p:cNvSpPr/>
          <p:nvPr/>
        </p:nvSpPr>
        <p:spPr>
          <a:xfrm>
            <a:off x="9601200" y="4858207"/>
            <a:ext cx="362102" cy="362102"/>
          </a:xfrm>
          <a:prstGeom prst="rect">
            <a:avLst/>
          </a:prstGeom>
          <a:solidFill>
            <a:srgbClr val="5E8F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7" name="Shape 149"/>
          <p:cNvSpPr/>
          <p:nvPr/>
        </p:nvSpPr>
        <p:spPr>
          <a:xfrm>
            <a:off x="10001707" y="4858207"/>
            <a:ext cx="362102" cy="362102"/>
          </a:xfrm>
          <a:prstGeom prst="rect">
            <a:avLst/>
          </a:prstGeom>
          <a:solidFill>
            <a:srgbClr val="7AA0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8" name="Shape 150"/>
          <p:cNvSpPr/>
          <p:nvPr/>
        </p:nvSpPr>
        <p:spPr>
          <a:xfrm>
            <a:off x="10401300" y="4858207"/>
            <a:ext cx="362102" cy="362102"/>
          </a:xfrm>
          <a:prstGeom prst="rect">
            <a:avLst/>
          </a:prstGeom>
          <a:solidFill>
            <a:srgbClr val="5E8F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9" name="Shape 151"/>
          <p:cNvSpPr/>
          <p:nvPr/>
        </p:nvSpPr>
        <p:spPr>
          <a:xfrm>
            <a:off x="10801807" y="4858207"/>
            <a:ext cx="362102" cy="362102"/>
          </a:xfrm>
          <a:prstGeom prst="rect">
            <a:avLst/>
          </a:prstGeom>
          <a:solidFill>
            <a:srgbClr val="7AA0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0" name="Shape 152"/>
          <p:cNvSpPr/>
          <p:nvPr/>
        </p:nvSpPr>
        <p:spPr>
          <a:xfrm>
            <a:off x="11201400" y="4858207"/>
            <a:ext cx="362102" cy="362102"/>
          </a:xfrm>
          <a:prstGeom prst="rect">
            <a:avLst/>
          </a:prstGeom>
          <a:solidFill>
            <a:srgbClr val="5E8F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1" name="Shape 153"/>
          <p:cNvSpPr/>
          <p:nvPr/>
        </p:nvSpPr>
        <p:spPr>
          <a:xfrm>
            <a:off x="8801100" y="5257800"/>
            <a:ext cx="362102" cy="362102"/>
          </a:xfrm>
          <a:prstGeom prst="rect">
            <a:avLst/>
          </a:prstGeom>
          <a:solidFill>
            <a:srgbClr val="7AA0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2" name="Shape 154"/>
          <p:cNvSpPr/>
          <p:nvPr/>
        </p:nvSpPr>
        <p:spPr>
          <a:xfrm>
            <a:off x="9201607" y="5257800"/>
            <a:ext cx="362102" cy="362102"/>
          </a:xfrm>
          <a:prstGeom prst="rect">
            <a:avLst/>
          </a:prstGeom>
          <a:solidFill>
            <a:srgbClr val="7AA0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3" name="Shape 155"/>
          <p:cNvSpPr/>
          <p:nvPr/>
        </p:nvSpPr>
        <p:spPr>
          <a:xfrm>
            <a:off x="9601200" y="5257800"/>
            <a:ext cx="362102" cy="362102"/>
          </a:xfrm>
          <a:prstGeom prst="rect">
            <a:avLst/>
          </a:prstGeom>
          <a:solidFill>
            <a:srgbClr val="5E8F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4" name="Shape 156"/>
          <p:cNvSpPr/>
          <p:nvPr/>
        </p:nvSpPr>
        <p:spPr>
          <a:xfrm>
            <a:off x="10001707" y="5257800"/>
            <a:ext cx="362102" cy="362102"/>
          </a:xfrm>
          <a:prstGeom prst="rect">
            <a:avLst/>
          </a:prstGeom>
          <a:solidFill>
            <a:srgbClr val="7AA0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5" name="Shape 157"/>
          <p:cNvSpPr/>
          <p:nvPr/>
        </p:nvSpPr>
        <p:spPr>
          <a:xfrm>
            <a:off x="10401300" y="5257800"/>
            <a:ext cx="362102" cy="362102"/>
          </a:xfrm>
          <a:prstGeom prst="rect">
            <a:avLst/>
          </a:prstGeom>
          <a:solidFill>
            <a:srgbClr val="7AA0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6" name="Shape 158"/>
          <p:cNvSpPr/>
          <p:nvPr/>
        </p:nvSpPr>
        <p:spPr>
          <a:xfrm>
            <a:off x="10801807" y="5257800"/>
            <a:ext cx="362102" cy="362102"/>
          </a:xfrm>
          <a:prstGeom prst="rect">
            <a:avLst/>
          </a:prstGeom>
          <a:solidFill>
            <a:srgbClr val="5E8F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7" name="Shape 159"/>
          <p:cNvSpPr/>
          <p:nvPr/>
        </p:nvSpPr>
        <p:spPr>
          <a:xfrm>
            <a:off x="11201400" y="5257800"/>
            <a:ext cx="362102" cy="362102"/>
          </a:xfrm>
          <a:prstGeom prst="rect">
            <a:avLst/>
          </a:prstGeom>
          <a:solidFill>
            <a:srgbClr val="5E8F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8" name="Shape 160"/>
          <p:cNvSpPr/>
          <p:nvPr/>
        </p:nvSpPr>
        <p:spPr>
          <a:xfrm>
            <a:off x="12230100" y="2286000"/>
            <a:ext cx="3619195" cy="342900"/>
          </a:xfrm>
          <a:prstGeom prst="rect">
            <a:avLst/>
          </a:prstGeom>
          <a:solidFill>
            <a:srgbClr val="2D6A4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9" name="Shape 161"/>
          <p:cNvSpPr/>
          <p:nvPr/>
        </p:nvSpPr>
        <p:spPr>
          <a:xfrm>
            <a:off x="12611405" y="2857500"/>
            <a:ext cx="362102" cy="362102"/>
          </a:xfrm>
          <a:prstGeom prst="rect">
            <a:avLst/>
          </a:prstGeom>
          <a:solidFill>
            <a:srgbClr val="7AA0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0" name="Shape 162"/>
          <p:cNvSpPr/>
          <p:nvPr/>
        </p:nvSpPr>
        <p:spPr>
          <a:xfrm>
            <a:off x="13010998" y="2857500"/>
            <a:ext cx="362102" cy="362102"/>
          </a:xfrm>
          <a:prstGeom prst="rect">
            <a:avLst/>
          </a:prstGeom>
          <a:solidFill>
            <a:srgbClr val="D8DE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1" name="Shape 163"/>
          <p:cNvSpPr/>
          <p:nvPr/>
        </p:nvSpPr>
        <p:spPr>
          <a:xfrm>
            <a:off x="13411505" y="2857500"/>
            <a:ext cx="362102" cy="362102"/>
          </a:xfrm>
          <a:prstGeom prst="rect">
            <a:avLst/>
          </a:prstGeom>
          <a:solidFill>
            <a:srgbClr val="7AA0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2" name="Shape 164"/>
          <p:cNvSpPr/>
          <p:nvPr/>
        </p:nvSpPr>
        <p:spPr>
          <a:xfrm>
            <a:off x="13811098" y="2857500"/>
            <a:ext cx="362102" cy="362102"/>
          </a:xfrm>
          <a:prstGeom prst="rect">
            <a:avLst/>
          </a:prstGeom>
          <a:solidFill>
            <a:srgbClr val="5E8F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3" name="Shape 165"/>
          <p:cNvSpPr/>
          <p:nvPr/>
        </p:nvSpPr>
        <p:spPr>
          <a:xfrm>
            <a:off x="14211605" y="2857500"/>
            <a:ext cx="362102" cy="362102"/>
          </a:xfrm>
          <a:prstGeom prst="rect">
            <a:avLst/>
          </a:prstGeom>
          <a:solidFill>
            <a:srgbClr val="7AA0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4" name="Shape 166"/>
          <p:cNvSpPr/>
          <p:nvPr/>
        </p:nvSpPr>
        <p:spPr>
          <a:xfrm>
            <a:off x="14611198" y="2857500"/>
            <a:ext cx="362102" cy="362102"/>
          </a:xfrm>
          <a:prstGeom prst="rect">
            <a:avLst/>
          </a:prstGeom>
          <a:solidFill>
            <a:srgbClr val="D8DE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5" name="Shape 167"/>
          <p:cNvSpPr/>
          <p:nvPr/>
        </p:nvSpPr>
        <p:spPr>
          <a:xfrm>
            <a:off x="15011705" y="2857500"/>
            <a:ext cx="362102" cy="362102"/>
          </a:xfrm>
          <a:prstGeom prst="rect">
            <a:avLst/>
          </a:prstGeom>
          <a:solidFill>
            <a:srgbClr val="5E8F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6" name="Shape 168"/>
          <p:cNvSpPr/>
          <p:nvPr/>
        </p:nvSpPr>
        <p:spPr>
          <a:xfrm>
            <a:off x="12611405" y="3258007"/>
            <a:ext cx="362102" cy="362102"/>
          </a:xfrm>
          <a:prstGeom prst="rect">
            <a:avLst/>
          </a:prstGeom>
          <a:solidFill>
            <a:srgbClr val="D8DE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7" name="Shape 169"/>
          <p:cNvSpPr/>
          <p:nvPr/>
        </p:nvSpPr>
        <p:spPr>
          <a:xfrm>
            <a:off x="13010998" y="3258007"/>
            <a:ext cx="362102" cy="362102"/>
          </a:xfrm>
          <a:prstGeom prst="rect">
            <a:avLst/>
          </a:prstGeom>
          <a:solidFill>
            <a:srgbClr val="7AA0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8" name="Shape 170"/>
          <p:cNvSpPr/>
          <p:nvPr/>
        </p:nvSpPr>
        <p:spPr>
          <a:xfrm>
            <a:off x="13411505" y="3258007"/>
            <a:ext cx="362102" cy="362102"/>
          </a:xfrm>
          <a:prstGeom prst="rect">
            <a:avLst/>
          </a:prstGeom>
          <a:solidFill>
            <a:srgbClr val="B8581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9" name="Shape 171"/>
          <p:cNvSpPr/>
          <p:nvPr/>
        </p:nvSpPr>
        <p:spPr>
          <a:xfrm>
            <a:off x="13811098" y="3258007"/>
            <a:ext cx="362102" cy="362102"/>
          </a:xfrm>
          <a:prstGeom prst="rect">
            <a:avLst/>
          </a:prstGeom>
          <a:solidFill>
            <a:srgbClr val="7AA0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0" name="Shape 172"/>
          <p:cNvSpPr/>
          <p:nvPr/>
        </p:nvSpPr>
        <p:spPr>
          <a:xfrm>
            <a:off x="14211605" y="3258007"/>
            <a:ext cx="362102" cy="362102"/>
          </a:xfrm>
          <a:prstGeom prst="rect">
            <a:avLst/>
          </a:prstGeom>
          <a:solidFill>
            <a:srgbClr val="E2E7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1" name="Shape 173"/>
          <p:cNvSpPr/>
          <p:nvPr/>
        </p:nvSpPr>
        <p:spPr>
          <a:xfrm>
            <a:off x="14611198" y="3258007"/>
            <a:ext cx="362102" cy="362102"/>
          </a:xfrm>
          <a:prstGeom prst="rect">
            <a:avLst/>
          </a:prstGeom>
          <a:solidFill>
            <a:srgbClr val="5E8F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2" name="Shape 174"/>
          <p:cNvSpPr/>
          <p:nvPr/>
        </p:nvSpPr>
        <p:spPr>
          <a:xfrm>
            <a:off x="15011705" y="3258007"/>
            <a:ext cx="362102" cy="362102"/>
          </a:xfrm>
          <a:prstGeom prst="rect">
            <a:avLst/>
          </a:prstGeom>
          <a:solidFill>
            <a:srgbClr val="D8DE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3" name="Shape 175"/>
          <p:cNvSpPr/>
          <p:nvPr/>
        </p:nvSpPr>
        <p:spPr>
          <a:xfrm>
            <a:off x="12611405" y="3657600"/>
            <a:ext cx="362102" cy="362102"/>
          </a:xfrm>
          <a:prstGeom prst="rect">
            <a:avLst/>
          </a:prstGeom>
          <a:solidFill>
            <a:srgbClr val="7AA0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4" name="Shape 176"/>
          <p:cNvSpPr/>
          <p:nvPr/>
        </p:nvSpPr>
        <p:spPr>
          <a:xfrm>
            <a:off x="13010998" y="3657600"/>
            <a:ext cx="362102" cy="362102"/>
          </a:xfrm>
          <a:prstGeom prst="rect">
            <a:avLst/>
          </a:prstGeom>
          <a:solidFill>
            <a:srgbClr val="5E8F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5" name="Shape 177"/>
          <p:cNvSpPr/>
          <p:nvPr/>
        </p:nvSpPr>
        <p:spPr>
          <a:xfrm>
            <a:off x="13411505" y="3657600"/>
            <a:ext cx="362102" cy="362102"/>
          </a:xfrm>
          <a:prstGeom prst="rect">
            <a:avLst/>
          </a:prstGeom>
          <a:solidFill>
            <a:srgbClr val="7AA0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6" name="Shape 178"/>
          <p:cNvSpPr/>
          <p:nvPr/>
        </p:nvSpPr>
        <p:spPr>
          <a:xfrm>
            <a:off x="13811098" y="3657600"/>
            <a:ext cx="362102" cy="362102"/>
          </a:xfrm>
          <a:prstGeom prst="rect">
            <a:avLst/>
          </a:prstGeom>
          <a:solidFill>
            <a:srgbClr val="D8DE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7" name="Shape 179"/>
          <p:cNvSpPr/>
          <p:nvPr/>
        </p:nvSpPr>
        <p:spPr>
          <a:xfrm>
            <a:off x="14211605" y="3657600"/>
            <a:ext cx="362102" cy="362102"/>
          </a:xfrm>
          <a:prstGeom prst="rect">
            <a:avLst/>
          </a:prstGeom>
          <a:solidFill>
            <a:srgbClr val="D8DE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8" name="Shape 180"/>
          <p:cNvSpPr/>
          <p:nvPr/>
        </p:nvSpPr>
        <p:spPr>
          <a:xfrm>
            <a:off x="14611198" y="3657600"/>
            <a:ext cx="362102" cy="362102"/>
          </a:xfrm>
          <a:prstGeom prst="rect">
            <a:avLst/>
          </a:prstGeom>
          <a:solidFill>
            <a:srgbClr val="7AA0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9" name="Shape 181"/>
          <p:cNvSpPr/>
          <p:nvPr/>
        </p:nvSpPr>
        <p:spPr>
          <a:xfrm>
            <a:off x="15011705" y="3657600"/>
            <a:ext cx="362102" cy="362102"/>
          </a:xfrm>
          <a:prstGeom prst="rect">
            <a:avLst/>
          </a:prstGeom>
          <a:solidFill>
            <a:srgbClr val="5E8F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0" name="Shape 182"/>
          <p:cNvSpPr/>
          <p:nvPr/>
        </p:nvSpPr>
        <p:spPr>
          <a:xfrm>
            <a:off x="12611405" y="4058107"/>
            <a:ext cx="362102" cy="362102"/>
          </a:xfrm>
          <a:prstGeom prst="rect">
            <a:avLst/>
          </a:prstGeom>
          <a:solidFill>
            <a:srgbClr val="5E8F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1" name="Shape 183"/>
          <p:cNvSpPr/>
          <p:nvPr/>
        </p:nvSpPr>
        <p:spPr>
          <a:xfrm>
            <a:off x="13010998" y="4058107"/>
            <a:ext cx="362102" cy="362102"/>
          </a:xfrm>
          <a:prstGeom prst="rect">
            <a:avLst/>
          </a:prstGeom>
          <a:solidFill>
            <a:srgbClr val="D8DE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2" name="Shape 184"/>
          <p:cNvSpPr/>
          <p:nvPr/>
        </p:nvSpPr>
        <p:spPr>
          <a:xfrm>
            <a:off x="13411505" y="4058107"/>
            <a:ext cx="362102" cy="362102"/>
          </a:xfrm>
          <a:prstGeom prst="rect">
            <a:avLst/>
          </a:prstGeom>
          <a:solidFill>
            <a:srgbClr val="D8DE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3" name="Shape 185"/>
          <p:cNvSpPr/>
          <p:nvPr/>
        </p:nvSpPr>
        <p:spPr>
          <a:xfrm>
            <a:off x="13811098" y="4058107"/>
            <a:ext cx="362102" cy="362102"/>
          </a:xfrm>
          <a:prstGeom prst="rect">
            <a:avLst/>
          </a:prstGeom>
          <a:solidFill>
            <a:srgbClr val="E2E7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4" name="Shape 186"/>
          <p:cNvSpPr/>
          <p:nvPr/>
        </p:nvSpPr>
        <p:spPr>
          <a:xfrm>
            <a:off x="14211605" y="4058107"/>
            <a:ext cx="362102" cy="362102"/>
          </a:xfrm>
          <a:prstGeom prst="rect">
            <a:avLst/>
          </a:prstGeom>
          <a:solidFill>
            <a:srgbClr val="D8DE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5" name="Shape 187"/>
          <p:cNvSpPr/>
          <p:nvPr/>
        </p:nvSpPr>
        <p:spPr>
          <a:xfrm>
            <a:off x="14611198" y="4058107"/>
            <a:ext cx="362102" cy="362102"/>
          </a:xfrm>
          <a:prstGeom prst="rect">
            <a:avLst/>
          </a:prstGeom>
          <a:solidFill>
            <a:srgbClr val="D8DE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6" name="Shape 188"/>
          <p:cNvSpPr/>
          <p:nvPr/>
        </p:nvSpPr>
        <p:spPr>
          <a:xfrm>
            <a:off x="15011705" y="4058107"/>
            <a:ext cx="362102" cy="362102"/>
          </a:xfrm>
          <a:prstGeom prst="rect">
            <a:avLst/>
          </a:prstGeom>
          <a:solidFill>
            <a:srgbClr val="5E8F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7" name="Shape 189"/>
          <p:cNvSpPr/>
          <p:nvPr/>
        </p:nvSpPr>
        <p:spPr>
          <a:xfrm>
            <a:off x="12611405" y="4457700"/>
            <a:ext cx="362102" cy="362102"/>
          </a:xfrm>
          <a:prstGeom prst="rect">
            <a:avLst/>
          </a:prstGeom>
          <a:solidFill>
            <a:srgbClr val="7AA0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8" name="Shape 190"/>
          <p:cNvSpPr/>
          <p:nvPr/>
        </p:nvSpPr>
        <p:spPr>
          <a:xfrm>
            <a:off x="13010998" y="4457700"/>
            <a:ext cx="362102" cy="362102"/>
          </a:xfrm>
          <a:prstGeom prst="rect">
            <a:avLst/>
          </a:prstGeom>
          <a:solidFill>
            <a:srgbClr val="5E8F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9" name="Shape 191"/>
          <p:cNvSpPr/>
          <p:nvPr/>
        </p:nvSpPr>
        <p:spPr>
          <a:xfrm>
            <a:off x="13411505" y="4457700"/>
            <a:ext cx="362102" cy="362102"/>
          </a:xfrm>
          <a:prstGeom prst="rect">
            <a:avLst/>
          </a:prstGeom>
          <a:solidFill>
            <a:srgbClr val="D8DE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0" name="Shape 192"/>
          <p:cNvSpPr/>
          <p:nvPr/>
        </p:nvSpPr>
        <p:spPr>
          <a:xfrm>
            <a:off x="13811098" y="4457700"/>
            <a:ext cx="362102" cy="362102"/>
          </a:xfrm>
          <a:prstGeom prst="rect">
            <a:avLst/>
          </a:prstGeom>
          <a:solidFill>
            <a:srgbClr val="7AA0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1" name="Shape 193"/>
          <p:cNvSpPr/>
          <p:nvPr/>
        </p:nvSpPr>
        <p:spPr>
          <a:xfrm>
            <a:off x="14211605" y="4457700"/>
            <a:ext cx="362102" cy="362102"/>
          </a:xfrm>
          <a:prstGeom prst="rect">
            <a:avLst/>
          </a:prstGeom>
          <a:solidFill>
            <a:srgbClr val="D8DE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2" name="Shape 194"/>
          <p:cNvSpPr/>
          <p:nvPr/>
        </p:nvSpPr>
        <p:spPr>
          <a:xfrm>
            <a:off x="14611198" y="4457700"/>
            <a:ext cx="362102" cy="362102"/>
          </a:xfrm>
          <a:prstGeom prst="rect">
            <a:avLst/>
          </a:prstGeom>
          <a:solidFill>
            <a:srgbClr val="7AA0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3" name="Shape 195"/>
          <p:cNvSpPr/>
          <p:nvPr/>
        </p:nvSpPr>
        <p:spPr>
          <a:xfrm>
            <a:off x="15011705" y="4457700"/>
            <a:ext cx="362102" cy="362102"/>
          </a:xfrm>
          <a:prstGeom prst="rect">
            <a:avLst/>
          </a:prstGeom>
          <a:solidFill>
            <a:srgbClr val="7AA0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4" name="Shape 196"/>
          <p:cNvSpPr/>
          <p:nvPr/>
        </p:nvSpPr>
        <p:spPr>
          <a:xfrm>
            <a:off x="12611405" y="4858207"/>
            <a:ext cx="362102" cy="362102"/>
          </a:xfrm>
          <a:prstGeom prst="rect">
            <a:avLst/>
          </a:prstGeom>
          <a:solidFill>
            <a:srgbClr val="D8DE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5" name="Shape 197"/>
          <p:cNvSpPr/>
          <p:nvPr/>
        </p:nvSpPr>
        <p:spPr>
          <a:xfrm>
            <a:off x="13010998" y="4858207"/>
            <a:ext cx="362102" cy="362102"/>
          </a:xfrm>
          <a:prstGeom prst="rect">
            <a:avLst/>
          </a:prstGeom>
          <a:solidFill>
            <a:srgbClr val="7AA0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6" name="Shape 198"/>
          <p:cNvSpPr/>
          <p:nvPr/>
        </p:nvSpPr>
        <p:spPr>
          <a:xfrm>
            <a:off x="13411505" y="4858207"/>
            <a:ext cx="362102" cy="362102"/>
          </a:xfrm>
          <a:prstGeom prst="rect">
            <a:avLst/>
          </a:prstGeom>
          <a:solidFill>
            <a:srgbClr val="5E8F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7" name="Shape 199"/>
          <p:cNvSpPr/>
          <p:nvPr/>
        </p:nvSpPr>
        <p:spPr>
          <a:xfrm>
            <a:off x="13811098" y="4858207"/>
            <a:ext cx="362102" cy="362102"/>
          </a:xfrm>
          <a:prstGeom prst="rect">
            <a:avLst/>
          </a:prstGeom>
          <a:solidFill>
            <a:srgbClr val="5E8F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8" name="Shape 200"/>
          <p:cNvSpPr/>
          <p:nvPr/>
        </p:nvSpPr>
        <p:spPr>
          <a:xfrm>
            <a:off x="14211605" y="4858207"/>
            <a:ext cx="362102" cy="362102"/>
          </a:xfrm>
          <a:prstGeom prst="rect">
            <a:avLst/>
          </a:prstGeom>
          <a:solidFill>
            <a:srgbClr val="7AA0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9" name="Shape 201"/>
          <p:cNvSpPr/>
          <p:nvPr/>
        </p:nvSpPr>
        <p:spPr>
          <a:xfrm>
            <a:off x="14611198" y="4858207"/>
            <a:ext cx="362102" cy="362102"/>
          </a:xfrm>
          <a:prstGeom prst="rect">
            <a:avLst/>
          </a:prstGeom>
          <a:solidFill>
            <a:srgbClr val="5E8F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0" name="Shape 202"/>
          <p:cNvSpPr/>
          <p:nvPr/>
        </p:nvSpPr>
        <p:spPr>
          <a:xfrm>
            <a:off x="15011705" y="4858207"/>
            <a:ext cx="362102" cy="362102"/>
          </a:xfrm>
          <a:prstGeom prst="rect">
            <a:avLst/>
          </a:prstGeom>
          <a:solidFill>
            <a:srgbClr val="D8DE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1" name="Shape 203"/>
          <p:cNvSpPr/>
          <p:nvPr/>
        </p:nvSpPr>
        <p:spPr>
          <a:xfrm>
            <a:off x="12611405" y="5257800"/>
            <a:ext cx="362102" cy="362102"/>
          </a:xfrm>
          <a:prstGeom prst="rect">
            <a:avLst/>
          </a:prstGeom>
          <a:solidFill>
            <a:srgbClr val="5E8F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2" name="Shape 204"/>
          <p:cNvSpPr/>
          <p:nvPr/>
        </p:nvSpPr>
        <p:spPr>
          <a:xfrm>
            <a:off x="13010998" y="5257800"/>
            <a:ext cx="362102" cy="362102"/>
          </a:xfrm>
          <a:prstGeom prst="rect">
            <a:avLst/>
          </a:prstGeom>
          <a:solidFill>
            <a:srgbClr val="7AA0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3" name="Shape 205"/>
          <p:cNvSpPr/>
          <p:nvPr/>
        </p:nvSpPr>
        <p:spPr>
          <a:xfrm>
            <a:off x="13411505" y="5257800"/>
            <a:ext cx="362102" cy="362102"/>
          </a:xfrm>
          <a:prstGeom prst="rect">
            <a:avLst/>
          </a:prstGeom>
          <a:solidFill>
            <a:srgbClr val="D8DE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4" name="Shape 206"/>
          <p:cNvSpPr/>
          <p:nvPr/>
        </p:nvSpPr>
        <p:spPr>
          <a:xfrm>
            <a:off x="13811098" y="5257800"/>
            <a:ext cx="362102" cy="362102"/>
          </a:xfrm>
          <a:prstGeom prst="rect">
            <a:avLst/>
          </a:prstGeom>
          <a:solidFill>
            <a:srgbClr val="5E8F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5" name="Shape 207"/>
          <p:cNvSpPr/>
          <p:nvPr/>
        </p:nvSpPr>
        <p:spPr>
          <a:xfrm>
            <a:off x="14211605" y="5257800"/>
            <a:ext cx="362102" cy="362102"/>
          </a:xfrm>
          <a:prstGeom prst="rect">
            <a:avLst/>
          </a:prstGeom>
          <a:solidFill>
            <a:srgbClr val="7AA0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6" name="Shape 208"/>
          <p:cNvSpPr/>
          <p:nvPr/>
        </p:nvSpPr>
        <p:spPr>
          <a:xfrm>
            <a:off x="14611198" y="5257800"/>
            <a:ext cx="362102" cy="362102"/>
          </a:xfrm>
          <a:prstGeom prst="rect">
            <a:avLst/>
          </a:prstGeom>
          <a:solidFill>
            <a:srgbClr val="D8DE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7" name="Shape 209"/>
          <p:cNvSpPr/>
          <p:nvPr/>
        </p:nvSpPr>
        <p:spPr>
          <a:xfrm>
            <a:off x="15011705" y="5257800"/>
            <a:ext cx="362102" cy="362102"/>
          </a:xfrm>
          <a:prstGeom prst="rect">
            <a:avLst/>
          </a:prstGeom>
          <a:solidFill>
            <a:srgbClr val="5E8F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8" name="Shape 210"/>
          <p:cNvSpPr/>
          <p:nvPr/>
        </p:nvSpPr>
        <p:spPr>
          <a:xfrm>
            <a:off x="761695" y="5715000"/>
            <a:ext cx="16763695" cy="342900"/>
          </a:xfrm>
          <a:prstGeom prst="rect">
            <a:avLst/>
          </a:prstGeom>
          <a:solidFill>
            <a:srgbClr val="F4F6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19" name="Image 5" descr="gen-dedup-88baf9618d02dd74d408e65ea6d1dccf.png">    </p:cNvPr>
          <p:cNvPicPr>
            <a:picLocks noChangeAspect="1"/>
          </p:cNvPicPr>
          <p:nvPr/>
        </p:nvPicPr>
        <p:blipFill>
          <a:blip r:embed="rId6"/>
          <a:srcRect l="-2083" r="-2083" t="0" b="0"/>
          <a:stretch/>
        </p:blipFill>
        <p:spPr>
          <a:xfrm>
            <a:off x="761695" y="6933895"/>
            <a:ext cx="16763695" cy="9144"/>
          </a:xfrm>
          <a:prstGeom prst="rect">
            <a:avLst/>
          </a:prstGeom>
        </p:spPr>
      </p:pic>
      <p:pic>
        <p:nvPicPr>
          <p:cNvPr id="220" name="Image 6" descr="gen-dedup-88baf9618d02dd74d408e65ea6d1dccf.png">    </p:cNvPr>
          <p:cNvPicPr>
            <a:picLocks noChangeAspect="1"/>
          </p:cNvPicPr>
          <p:nvPr/>
        </p:nvPicPr>
        <p:blipFill>
          <a:blip r:embed="rId7"/>
          <a:srcRect l="-2083" r="-2083" t="0" b="0"/>
          <a:stretch/>
        </p:blipFill>
        <p:spPr>
          <a:xfrm>
            <a:off x="761695" y="7391095"/>
            <a:ext cx="16763695" cy="9144"/>
          </a:xfrm>
          <a:prstGeom prst="rect">
            <a:avLst/>
          </a:prstGeom>
        </p:spPr>
      </p:pic>
      <p:pic>
        <p:nvPicPr>
          <p:cNvPr id="221" name="Image 7" descr="gen-dedup-88baf9618d02dd74d408e65ea6d1dccf.png">    </p:cNvPr>
          <p:cNvPicPr>
            <a:picLocks noChangeAspect="1"/>
          </p:cNvPicPr>
          <p:nvPr/>
        </p:nvPicPr>
        <p:blipFill>
          <a:blip r:embed="rId8"/>
          <a:srcRect l="-2083" r="-2083" t="0" b="0"/>
          <a:stretch/>
        </p:blipFill>
        <p:spPr>
          <a:xfrm>
            <a:off x="761695" y="7848295"/>
            <a:ext cx="16763695" cy="9144"/>
          </a:xfrm>
          <a:prstGeom prst="rect">
            <a:avLst/>
          </a:prstGeom>
        </p:spPr>
      </p:pic>
      <p:pic>
        <p:nvPicPr>
          <p:cNvPr id="222" name="Image 8" descr="gen-dedup-88baf9618d02dd74d408e65ea6d1dccf.png">    </p:cNvPr>
          <p:cNvPicPr>
            <a:picLocks noChangeAspect="1"/>
          </p:cNvPicPr>
          <p:nvPr/>
        </p:nvPicPr>
        <p:blipFill>
          <a:blip r:embed="rId9"/>
          <a:srcRect l="-2083" r="-2083" t="0" b="0"/>
          <a:stretch/>
        </p:blipFill>
        <p:spPr>
          <a:xfrm>
            <a:off x="761695" y="8305495"/>
            <a:ext cx="16763695" cy="9144"/>
          </a:xfrm>
          <a:prstGeom prst="rect">
            <a:avLst/>
          </a:prstGeom>
        </p:spPr>
      </p:pic>
      <p:pic>
        <p:nvPicPr>
          <p:cNvPr id="223" name="Image 9" descr="gen-dedup-f8ddcf4a569d605420b2cdf3d7aabeec.png">    </p:cNvPr>
          <p:cNvPicPr>
            <a:picLocks noChangeAspect="1"/>
          </p:cNvPicPr>
          <p:nvPr/>
        </p:nvPicPr>
        <p:blipFill>
          <a:blip r:embed="rId10"/>
          <a:srcRect l="-342" r="-342" t="0" b="0"/>
          <a:stretch/>
        </p:blipFill>
        <p:spPr>
          <a:xfrm>
            <a:off x="761695" y="9010498"/>
            <a:ext cx="57607" cy="400507"/>
          </a:xfrm>
          <a:prstGeom prst="rect">
            <a:avLst/>
          </a:prstGeom>
        </p:spPr>
      </p:pic>
      <p:sp>
        <p:nvSpPr>
          <p:cNvPr id="224" name="Text 211"/>
          <p:cNvSpPr txBox="1"/>
          <p:nvPr/>
        </p:nvSpPr>
        <p:spPr>
          <a:xfrm>
            <a:off x="761695" y="400507"/>
            <a:ext cx="1334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DOC //</a:t>
            </a:r>
            <a:endParaRPr lang="en-US" sz="1050" dirty="0"/>
          </a:p>
        </p:txBody>
      </p:sp>
      <p:sp>
        <p:nvSpPr>
          <p:cNvPr id="225" name="Text 212"/>
          <p:cNvSpPr txBox="1"/>
          <p:nvPr/>
        </p:nvSpPr>
        <p:spPr>
          <a:xfrm>
            <a:off x="761695" y="629107"/>
            <a:ext cx="13341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63" kern="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EV-BEOL-BLV-018</a:t>
            </a:r>
            <a:endParaRPr lang="en-US" sz="1050" dirty="0"/>
          </a:p>
        </p:txBody>
      </p:sp>
      <p:sp>
        <p:nvSpPr>
          <p:cNvPr id="226" name="Text 213"/>
          <p:cNvSpPr txBox="1"/>
          <p:nvPr/>
        </p:nvSpPr>
        <p:spPr>
          <a:xfrm>
            <a:off x="761695" y="857707"/>
            <a:ext cx="14287500" cy="5815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0E1F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In-wafer uniformity · </a:t>
            </a:r>
            <a:pPr algn="l" indent="0" marL="0">
              <a:buNone/>
            </a:pPr>
            <a:r>
              <a:rPr lang="en-US" sz="3150" b="1" dirty="0">
                <a:solidFill>
                  <a:srgbClr val="1F53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49 pt site</a:t>
            </a:r>
            <a:endParaRPr lang="en-US" sz="3150" dirty="0"/>
          </a:p>
        </p:txBody>
      </p:sp>
      <p:sp>
        <p:nvSpPr>
          <p:cNvPr id="227" name="Text 214"/>
          <p:cNvSpPr txBox="1"/>
          <p:nvPr/>
        </p:nvSpPr>
        <p:spPr>
          <a:xfrm>
            <a:off x="761695" y="1514246"/>
            <a:ext cx="142875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25" dirty="0">
                <a:solidFill>
                  <a:srgbClr val="4D566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AMI 9.50 nm 기준 · split 별 4-up mini map + 통합 표 (8 row) · dummy 시각화</a:t>
            </a:r>
            <a:endParaRPr lang="en-US" sz="1425" dirty="0"/>
          </a:p>
        </p:txBody>
      </p:sp>
      <p:sp>
        <p:nvSpPr>
          <p:cNvPr id="228" name="Text 215"/>
          <p:cNvSpPr txBox="1"/>
          <p:nvPr/>
        </p:nvSpPr>
        <p:spPr>
          <a:xfrm>
            <a:off x="15430500" y="400507"/>
            <a:ext cx="20958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spc="98" kern="0" dirty="0">
                <a:solidFill>
                  <a:srgbClr val="5A62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 0.6 · INTERNAL</a:t>
            </a:r>
            <a:endParaRPr lang="en-US" sz="975" dirty="0"/>
          </a:p>
        </p:txBody>
      </p:sp>
      <p:sp>
        <p:nvSpPr>
          <p:cNvPr id="229" name="Text 216"/>
          <p:cNvSpPr txBox="1"/>
          <p:nvPr/>
        </p:nvSpPr>
        <p:spPr>
          <a:xfrm>
            <a:off x="15430500" y="599846"/>
            <a:ext cx="20958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dirty="0">
                <a:solidFill>
                  <a:srgbClr val="5A62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2026-10-03</a:t>
            </a:r>
            <a:endParaRPr lang="en-US" sz="975" dirty="0"/>
          </a:p>
        </p:txBody>
      </p:sp>
      <p:sp>
        <p:nvSpPr>
          <p:cNvPr id="230" name="Text 217"/>
          <p:cNvSpPr txBox="1"/>
          <p:nvPr/>
        </p:nvSpPr>
        <p:spPr>
          <a:xfrm>
            <a:off x="914400" y="1790395"/>
            <a:ext cx="133356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spc="168" kern="0" dirty="0">
                <a:solidFill>
                  <a:srgbClr val="1F53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§ 01 / 09 · UNIFORMITY / 49pt</a:t>
            </a:r>
            <a:endParaRPr lang="en-US" sz="1050" dirty="0"/>
          </a:p>
        </p:txBody>
      </p:sp>
      <p:sp>
        <p:nvSpPr>
          <p:cNvPr id="231" name="Text 218"/>
          <p:cNvSpPr txBox="1"/>
          <p:nvPr/>
        </p:nvSpPr>
        <p:spPr>
          <a:xfrm>
            <a:off x="914400" y="2000707"/>
            <a:ext cx="133356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상단 4 map은 각 split 의 AMI CD delta · 하단 표는 8 row wafer × layer 통합 비교 · 모든 수치는 dummy.</a:t>
            </a:r>
            <a:endParaRPr lang="en-US" sz="975" dirty="0"/>
          </a:p>
        </p:txBody>
      </p:sp>
      <p:sp>
        <p:nvSpPr>
          <p:cNvPr id="232" name="Text 219"/>
          <p:cNvSpPr txBox="1"/>
          <p:nvPr/>
        </p:nvSpPr>
        <p:spPr>
          <a:xfrm>
            <a:off x="952805" y="2361895"/>
            <a:ext cx="1905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W01 · REF</a:t>
            </a:r>
            <a:endParaRPr lang="en-US" sz="975" dirty="0"/>
          </a:p>
        </p:txBody>
      </p:sp>
      <p:sp>
        <p:nvSpPr>
          <p:cNvPr id="233" name="Text 220"/>
          <p:cNvSpPr txBox="1"/>
          <p:nvPr/>
        </p:nvSpPr>
        <p:spPr>
          <a:xfrm>
            <a:off x="2857500" y="2361895"/>
            <a:ext cx="14100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baseline</a:t>
            </a:r>
            <a:endParaRPr lang="en-US" sz="975" dirty="0"/>
          </a:p>
        </p:txBody>
      </p:sp>
      <p:sp>
        <p:nvSpPr>
          <p:cNvPr id="234" name="Text 221"/>
          <p:cNvSpPr txBox="1"/>
          <p:nvPr/>
        </p:nvSpPr>
        <p:spPr>
          <a:xfrm>
            <a:off x="914400" y="2743200"/>
            <a:ext cx="1143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5A62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49pt</a:t>
            </a:r>
            <a:endParaRPr lang="en-US" sz="975" dirty="0"/>
          </a:p>
        </p:txBody>
      </p:sp>
      <p:sp>
        <p:nvSpPr>
          <p:cNvPr id="235" name="Text 222"/>
          <p:cNvSpPr txBox="1"/>
          <p:nvPr/>
        </p:nvSpPr>
        <p:spPr>
          <a:xfrm>
            <a:off x="4762195" y="2361895"/>
            <a:ext cx="1905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W02 · BLV-Co</a:t>
            </a:r>
            <a:endParaRPr lang="en-US" sz="975" dirty="0"/>
          </a:p>
        </p:txBody>
      </p:sp>
      <p:sp>
        <p:nvSpPr>
          <p:cNvPr id="236" name="Text 223"/>
          <p:cNvSpPr txBox="1"/>
          <p:nvPr/>
        </p:nvSpPr>
        <p:spPr>
          <a:xfrm>
            <a:off x="6667805" y="2361895"/>
            <a:ext cx="14100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side skip ↑</a:t>
            </a:r>
            <a:endParaRPr lang="en-US" sz="975" dirty="0"/>
          </a:p>
        </p:txBody>
      </p:sp>
      <p:sp>
        <p:nvSpPr>
          <p:cNvPr id="237" name="Text 224"/>
          <p:cNvSpPr txBox="1"/>
          <p:nvPr/>
        </p:nvSpPr>
        <p:spPr>
          <a:xfrm>
            <a:off x="8572500" y="2361895"/>
            <a:ext cx="1905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W03 · BLV-Ru</a:t>
            </a:r>
            <a:endParaRPr lang="en-US" sz="975" dirty="0"/>
          </a:p>
        </p:txBody>
      </p:sp>
      <p:sp>
        <p:nvSpPr>
          <p:cNvPr id="238" name="Text 225"/>
          <p:cNvSpPr txBox="1"/>
          <p:nvPr/>
        </p:nvSpPr>
        <p:spPr>
          <a:xfrm>
            <a:off x="10477195" y="2361895"/>
            <a:ext cx="14100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uniform — best</a:t>
            </a:r>
            <a:endParaRPr lang="en-US" sz="975" dirty="0"/>
          </a:p>
        </p:txBody>
      </p:sp>
      <p:sp>
        <p:nvSpPr>
          <p:cNvPr id="239" name="Text 226"/>
          <p:cNvSpPr txBox="1"/>
          <p:nvPr/>
        </p:nvSpPr>
        <p:spPr>
          <a:xfrm>
            <a:off x="12382805" y="2361895"/>
            <a:ext cx="1905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W04 · hybrid</a:t>
            </a:r>
            <a:endParaRPr lang="en-US" sz="975" dirty="0"/>
          </a:p>
        </p:txBody>
      </p:sp>
      <p:sp>
        <p:nvSpPr>
          <p:cNvPr id="240" name="Text 227"/>
          <p:cNvSpPr txBox="1"/>
          <p:nvPr/>
        </p:nvSpPr>
        <p:spPr>
          <a:xfrm>
            <a:off x="14287500" y="2361895"/>
            <a:ext cx="14100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selective robust</a:t>
            </a:r>
            <a:endParaRPr lang="en-US" sz="975" dirty="0"/>
          </a:p>
        </p:txBody>
      </p:sp>
      <p:sp>
        <p:nvSpPr>
          <p:cNvPr id="241" name="Text 228"/>
          <p:cNvSpPr txBox="1"/>
          <p:nvPr/>
        </p:nvSpPr>
        <p:spPr>
          <a:xfrm>
            <a:off x="914400" y="5790895"/>
            <a:ext cx="64008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E1F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in-wafer uniformity · 8 row 통합 비교 · target ±0.10 nm · WIWNU = (3σ / mean) × 100</a:t>
            </a:r>
            <a:endParaRPr lang="en-US" sz="1050" dirty="0"/>
          </a:p>
        </p:txBody>
      </p:sp>
      <p:sp>
        <p:nvSpPr>
          <p:cNvPr id="242" name="Text 229"/>
          <p:cNvSpPr txBox="1"/>
          <p:nvPr/>
        </p:nvSpPr>
        <p:spPr>
          <a:xfrm>
            <a:off x="914400" y="6210605"/>
            <a:ext cx="1334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E1F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split</a:t>
            </a:r>
            <a:endParaRPr lang="en-US" sz="1050" dirty="0"/>
          </a:p>
        </p:txBody>
      </p:sp>
      <p:sp>
        <p:nvSpPr>
          <p:cNvPr id="243" name="Text 230"/>
          <p:cNvSpPr txBox="1"/>
          <p:nvPr/>
        </p:nvSpPr>
        <p:spPr>
          <a:xfrm>
            <a:off x="2286000" y="6210605"/>
            <a:ext cx="9528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E1F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layer</a:t>
            </a:r>
            <a:endParaRPr lang="en-US" sz="1050" dirty="0"/>
          </a:p>
        </p:txBody>
      </p:sp>
      <p:sp>
        <p:nvSpPr>
          <p:cNvPr id="244" name="Text 231"/>
          <p:cNvSpPr txBox="1"/>
          <p:nvPr/>
        </p:nvSpPr>
        <p:spPr>
          <a:xfrm>
            <a:off x="3238805" y="6210605"/>
            <a:ext cx="17145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mean Δ (nm)</a:t>
            </a:r>
            <a:endParaRPr lang="en-US" sz="1050" dirty="0"/>
          </a:p>
        </p:txBody>
      </p:sp>
      <p:sp>
        <p:nvSpPr>
          <p:cNvPr id="245" name="Text 232"/>
          <p:cNvSpPr txBox="1"/>
          <p:nvPr/>
        </p:nvSpPr>
        <p:spPr>
          <a:xfrm>
            <a:off x="4990795" y="6210605"/>
            <a:ext cx="17145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3σ (nm)</a:t>
            </a:r>
            <a:endParaRPr lang="en-US" sz="1050" dirty="0"/>
          </a:p>
        </p:txBody>
      </p:sp>
      <p:sp>
        <p:nvSpPr>
          <p:cNvPr id="246" name="Text 233"/>
          <p:cNvSpPr txBox="1"/>
          <p:nvPr/>
        </p:nvSpPr>
        <p:spPr>
          <a:xfrm>
            <a:off x="6743700" y="6210605"/>
            <a:ext cx="15243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range (nm)</a:t>
            </a:r>
            <a:endParaRPr lang="en-US" sz="1050" dirty="0"/>
          </a:p>
        </p:txBody>
      </p:sp>
      <p:sp>
        <p:nvSpPr>
          <p:cNvPr id="247" name="Text 234"/>
          <p:cNvSpPr txBox="1"/>
          <p:nvPr/>
        </p:nvSpPr>
        <p:spPr>
          <a:xfrm>
            <a:off x="8305495" y="6210605"/>
            <a:ext cx="15243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on-target count</a:t>
            </a:r>
            <a:endParaRPr lang="en-US" sz="1050" dirty="0"/>
          </a:p>
        </p:txBody>
      </p:sp>
      <p:sp>
        <p:nvSpPr>
          <p:cNvPr id="248" name="Text 235"/>
          <p:cNvSpPr txBox="1"/>
          <p:nvPr/>
        </p:nvSpPr>
        <p:spPr>
          <a:xfrm>
            <a:off x="9868205" y="6210605"/>
            <a:ext cx="15243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WIWNU %</a:t>
            </a:r>
            <a:endParaRPr lang="en-US" sz="1050" dirty="0"/>
          </a:p>
        </p:txBody>
      </p:sp>
      <p:sp>
        <p:nvSpPr>
          <p:cNvPr id="249" name="Text 236"/>
          <p:cNvSpPr txBox="1"/>
          <p:nvPr/>
        </p:nvSpPr>
        <p:spPr>
          <a:xfrm>
            <a:off x="11430000" y="6210605"/>
            <a:ext cx="20958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defect sites</a:t>
            </a:r>
            <a:endParaRPr lang="en-US" sz="1050" dirty="0"/>
          </a:p>
        </p:txBody>
      </p:sp>
      <p:sp>
        <p:nvSpPr>
          <p:cNvPr id="250" name="Text 237"/>
          <p:cNvSpPr txBox="1"/>
          <p:nvPr/>
        </p:nvSpPr>
        <p:spPr>
          <a:xfrm>
            <a:off x="13563295" y="6210605"/>
            <a:ext cx="2286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E1F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verdict</a:t>
            </a:r>
            <a:endParaRPr lang="en-US" sz="1050" dirty="0"/>
          </a:p>
        </p:txBody>
      </p:sp>
      <p:sp>
        <p:nvSpPr>
          <p:cNvPr id="251" name="Text 238"/>
          <p:cNvSpPr txBox="1"/>
          <p:nvPr/>
        </p:nvSpPr>
        <p:spPr>
          <a:xfrm>
            <a:off x="914400" y="6590995"/>
            <a:ext cx="13341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5461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W01</a:t>
            </a:r>
            <a:endParaRPr lang="en-US" sz="1350" dirty="0"/>
          </a:p>
        </p:txBody>
      </p:sp>
      <p:sp>
        <p:nvSpPr>
          <p:cNvPr id="252" name="Text 239"/>
          <p:cNvSpPr txBox="1"/>
          <p:nvPr/>
        </p:nvSpPr>
        <p:spPr>
          <a:xfrm>
            <a:off x="2286000" y="6610198"/>
            <a:ext cx="9528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V1</a:t>
            </a:r>
            <a:endParaRPr lang="en-US" sz="1200" dirty="0"/>
          </a:p>
        </p:txBody>
      </p:sp>
      <p:sp>
        <p:nvSpPr>
          <p:cNvPr id="253" name="Text 240"/>
          <p:cNvSpPr txBox="1"/>
          <p:nvPr/>
        </p:nvSpPr>
        <p:spPr>
          <a:xfrm>
            <a:off x="3238805" y="6572707"/>
            <a:ext cx="17145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+0.10</a:t>
            </a:r>
            <a:endParaRPr lang="en-US" sz="1350" dirty="0"/>
          </a:p>
        </p:txBody>
      </p:sp>
      <p:sp>
        <p:nvSpPr>
          <p:cNvPr id="254" name="Text 241"/>
          <p:cNvSpPr txBox="1"/>
          <p:nvPr/>
        </p:nvSpPr>
        <p:spPr>
          <a:xfrm>
            <a:off x="4990795" y="6572707"/>
            <a:ext cx="17145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0.34</a:t>
            </a:r>
            <a:endParaRPr lang="en-US" sz="1350" dirty="0"/>
          </a:p>
        </p:txBody>
      </p:sp>
      <p:sp>
        <p:nvSpPr>
          <p:cNvPr id="255" name="Text 242"/>
          <p:cNvSpPr txBox="1"/>
          <p:nvPr/>
        </p:nvSpPr>
        <p:spPr>
          <a:xfrm>
            <a:off x="6743700" y="6572707"/>
            <a:ext cx="15243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0.94</a:t>
            </a:r>
            <a:endParaRPr lang="en-US" sz="1350" dirty="0"/>
          </a:p>
        </p:txBody>
      </p:sp>
      <p:sp>
        <p:nvSpPr>
          <p:cNvPr id="256" name="Text 243"/>
          <p:cNvSpPr txBox="1"/>
          <p:nvPr/>
        </p:nvSpPr>
        <p:spPr>
          <a:xfrm>
            <a:off x="8305495" y="6534302"/>
            <a:ext cx="15243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42 / 49</a:t>
            </a:r>
            <a:endParaRPr lang="en-US" sz="1350" dirty="0"/>
          </a:p>
        </p:txBody>
      </p:sp>
      <p:sp>
        <p:nvSpPr>
          <p:cNvPr id="257" name="Text 244"/>
          <p:cNvSpPr txBox="1"/>
          <p:nvPr/>
        </p:nvSpPr>
        <p:spPr>
          <a:xfrm>
            <a:off x="9868205" y="6572707"/>
            <a:ext cx="15243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3.54</a:t>
            </a:r>
            <a:endParaRPr lang="en-US" sz="1350" dirty="0"/>
          </a:p>
        </p:txBody>
      </p:sp>
      <p:sp>
        <p:nvSpPr>
          <p:cNvPr id="258" name="Text 245"/>
          <p:cNvSpPr txBox="1"/>
          <p:nvPr/>
        </p:nvSpPr>
        <p:spPr>
          <a:xfrm>
            <a:off x="11430000" y="6572707"/>
            <a:ext cx="20958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2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 (Co-suspect)</a:t>
            </a:r>
            <a:endParaRPr lang="en-US" sz="1200" dirty="0"/>
          </a:p>
        </p:txBody>
      </p:sp>
      <p:sp>
        <p:nvSpPr>
          <p:cNvPr id="259" name="Text 246"/>
          <p:cNvSpPr txBox="1"/>
          <p:nvPr/>
        </p:nvSpPr>
        <p:spPr>
          <a:xfrm>
            <a:off x="13563295" y="6534302"/>
            <a:ext cx="2286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4616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baseline</a:t>
            </a:r>
            <a:endParaRPr lang="en-US" sz="1200" dirty="0"/>
          </a:p>
        </p:txBody>
      </p:sp>
      <p:sp>
        <p:nvSpPr>
          <p:cNvPr id="260" name="Text 247"/>
          <p:cNvSpPr txBox="1"/>
          <p:nvPr/>
        </p:nvSpPr>
        <p:spPr>
          <a:xfrm>
            <a:off x="914400" y="7048195"/>
            <a:ext cx="13341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5461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W01</a:t>
            </a:r>
            <a:endParaRPr lang="en-US" sz="1350" dirty="0"/>
          </a:p>
        </p:txBody>
      </p:sp>
      <p:sp>
        <p:nvSpPr>
          <p:cNvPr id="261" name="Text 248"/>
          <p:cNvSpPr txBox="1"/>
          <p:nvPr/>
        </p:nvSpPr>
        <p:spPr>
          <a:xfrm>
            <a:off x="2286000" y="7067398"/>
            <a:ext cx="9528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M2</a:t>
            </a:r>
            <a:endParaRPr lang="en-US" sz="1200" dirty="0"/>
          </a:p>
        </p:txBody>
      </p:sp>
      <p:sp>
        <p:nvSpPr>
          <p:cNvPr id="262" name="Text 249"/>
          <p:cNvSpPr txBox="1"/>
          <p:nvPr/>
        </p:nvSpPr>
        <p:spPr>
          <a:xfrm>
            <a:off x="3238805" y="7029907"/>
            <a:ext cx="17145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0.00</a:t>
            </a:r>
            <a:endParaRPr lang="en-US" sz="1350" dirty="0"/>
          </a:p>
        </p:txBody>
      </p:sp>
      <p:sp>
        <p:nvSpPr>
          <p:cNvPr id="263" name="Text 250"/>
          <p:cNvSpPr txBox="1"/>
          <p:nvPr/>
        </p:nvSpPr>
        <p:spPr>
          <a:xfrm>
            <a:off x="4990795" y="7029907"/>
            <a:ext cx="17145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0.32</a:t>
            </a:r>
            <a:endParaRPr lang="en-US" sz="1350" dirty="0"/>
          </a:p>
        </p:txBody>
      </p:sp>
      <p:sp>
        <p:nvSpPr>
          <p:cNvPr id="264" name="Text 251"/>
          <p:cNvSpPr txBox="1"/>
          <p:nvPr/>
        </p:nvSpPr>
        <p:spPr>
          <a:xfrm>
            <a:off x="6743700" y="7029907"/>
            <a:ext cx="15243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0.90</a:t>
            </a:r>
            <a:endParaRPr lang="en-US" sz="1350" dirty="0"/>
          </a:p>
        </p:txBody>
      </p:sp>
      <p:sp>
        <p:nvSpPr>
          <p:cNvPr id="265" name="Text 252"/>
          <p:cNvSpPr txBox="1"/>
          <p:nvPr/>
        </p:nvSpPr>
        <p:spPr>
          <a:xfrm>
            <a:off x="8305495" y="6991502"/>
            <a:ext cx="15243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46 / 49</a:t>
            </a:r>
            <a:endParaRPr lang="en-US" sz="1350" dirty="0"/>
          </a:p>
        </p:txBody>
      </p:sp>
      <p:sp>
        <p:nvSpPr>
          <p:cNvPr id="266" name="Text 253"/>
          <p:cNvSpPr txBox="1"/>
          <p:nvPr/>
        </p:nvSpPr>
        <p:spPr>
          <a:xfrm>
            <a:off x="9868205" y="7029907"/>
            <a:ext cx="15243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3.37</a:t>
            </a:r>
            <a:endParaRPr lang="en-US" sz="1350" dirty="0"/>
          </a:p>
        </p:txBody>
      </p:sp>
      <p:sp>
        <p:nvSpPr>
          <p:cNvPr id="267" name="Text 254"/>
          <p:cNvSpPr txBox="1"/>
          <p:nvPr/>
        </p:nvSpPr>
        <p:spPr>
          <a:xfrm>
            <a:off x="11430000" y="7029907"/>
            <a:ext cx="20958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2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</a:t>
            </a:r>
            <a:endParaRPr lang="en-US" sz="1200" dirty="0"/>
          </a:p>
        </p:txBody>
      </p:sp>
      <p:sp>
        <p:nvSpPr>
          <p:cNvPr id="268" name="Text 255"/>
          <p:cNvSpPr txBox="1"/>
          <p:nvPr/>
        </p:nvSpPr>
        <p:spPr>
          <a:xfrm>
            <a:off x="13563295" y="6991502"/>
            <a:ext cx="2286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4616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baseline</a:t>
            </a:r>
            <a:endParaRPr lang="en-US" sz="1200" dirty="0"/>
          </a:p>
        </p:txBody>
      </p:sp>
      <p:sp>
        <p:nvSpPr>
          <p:cNvPr id="269" name="Text 256"/>
          <p:cNvSpPr txBox="1"/>
          <p:nvPr/>
        </p:nvSpPr>
        <p:spPr>
          <a:xfrm>
            <a:off x="914400" y="7505395"/>
            <a:ext cx="13341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B858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W02</a:t>
            </a:r>
            <a:endParaRPr lang="en-US" sz="1350" dirty="0"/>
          </a:p>
        </p:txBody>
      </p:sp>
      <p:sp>
        <p:nvSpPr>
          <p:cNvPr id="270" name="Text 257"/>
          <p:cNvSpPr txBox="1"/>
          <p:nvPr/>
        </p:nvSpPr>
        <p:spPr>
          <a:xfrm>
            <a:off x="2286000" y="7524598"/>
            <a:ext cx="9528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V1</a:t>
            </a:r>
            <a:endParaRPr lang="en-US" sz="1200" dirty="0"/>
          </a:p>
        </p:txBody>
      </p:sp>
      <p:sp>
        <p:nvSpPr>
          <p:cNvPr id="271" name="Text 258"/>
          <p:cNvSpPr txBox="1"/>
          <p:nvPr/>
        </p:nvSpPr>
        <p:spPr>
          <a:xfrm>
            <a:off x="3238805" y="7487107"/>
            <a:ext cx="17145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B858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+0.20</a:t>
            </a:r>
            <a:endParaRPr lang="en-US" sz="1350" dirty="0"/>
          </a:p>
        </p:txBody>
      </p:sp>
      <p:sp>
        <p:nvSpPr>
          <p:cNvPr id="272" name="Text 259"/>
          <p:cNvSpPr txBox="1"/>
          <p:nvPr/>
        </p:nvSpPr>
        <p:spPr>
          <a:xfrm>
            <a:off x="4990795" y="7487107"/>
            <a:ext cx="17145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0.40</a:t>
            </a:r>
            <a:endParaRPr lang="en-US" sz="1350" dirty="0"/>
          </a:p>
        </p:txBody>
      </p:sp>
      <p:sp>
        <p:nvSpPr>
          <p:cNvPr id="273" name="Text 260"/>
          <p:cNvSpPr txBox="1"/>
          <p:nvPr/>
        </p:nvSpPr>
        <p:spPr>
          <a:xfrm>
            <a:off x="6743700" y="7487107"/>
            <a:ext cx="15243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1.02</a:t>
            </a:r>
            <a:endParaRPr lang="en-US" sz="1350" dirty="0"/>
          </a:p>
        </p:txBody>
      </p:sp>
      <p:sp>
        <p:nvSpPr>
          <p:cNvPr id="274" name="Text 261"/>
          <p:cNvSpPr txBox="1"/>
          <p:nvPr/>
        </p:nvSpPr>
        <p:spPr>
          <a:xfrm>
            <a:off x="8305495" y="7448702"/>
            <a:ext cx="15243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38 / 49</a:t>
            </a:r>
            <a:endParaRPr lang="en-US" sz="1350" dirty="0"/>
          </a:p>
        </p:txBody>
      </p:sp>
      <p:sp>
        <p:nvSpPr>
          <p:cNvPr id="275" name="Text 262"/>
          <p:cNvSpPr txBox="1"/>
          <p:nvPr/>
        </p:nvSpPr>
        <p:spPr>
          <a:xfrm>
            <a:off x="9868205" y="7487107"/>
            <a:ext cx="15243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B858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4.12</a:t>
            </a:r>
            <a:endParaRPr lang="en-US" sz="1350" dirty="0"/>
          </a:p>
        </p:txBody>
      </p:sp>
      <p:sp>
        <p:nvSpPr>
          <p:cNvPr id="276" name="Text 263"/>
          <p:cNvSpPr txBox="1"/>
          <p:nvPr/>
        </p:nvSpPr>
        <p:spPr>
          <a:xfrm>
            <a:off x="11430000" y="7487107"/>
            <a:ext cx="20958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858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 (Co skip)</a:t>
            </a:r>
            <a:endParaRPr lang="en-US" sz="1200" dirty="0"/>
          </a:p>
        </p:txBody>
      </p:sp>
      <p:sp>
        <p:nvSpPr>
          <p:cNvPr id="277" name="Text 264"/>
          <p:cNvSpPr txBox="1"/>
          <p:nvPr/>
        </p:nvSpPr>
        <p:spPr>
          <a:xfrm>
            <a:off x="13563295" y="7448702"/>
            <a:ext cx="2286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58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conditional</a:t>
            </a:r>
            <a:endParaRPr lang="en-US" sz="1200" dirty="0"/>
          </a:p>
        </p:txBody>
      </p:sp>
      <p:sp>
        <p:nvSpPr>
          <p:cNvPr id="278" name="Text 265"/>
          <p:cNvSpPr txBox="1"/>
          <p:nvPr/>
        </p:nvSpPr>
        <p:spPr>
          <a:xfrm>
            <a:off x="914400" y="7962595"/>
            <a:ext cx="13341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B858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W02</a:t>
            </a:r>
            <a:endParaRPr lang="en-US" sz="1350" dirty="0"/>
          </a:p>
        </p:txBody>
      </p:sp>
      <p:sp>
        <p:nvSpPr>
          <p:cNvPr id="279" name="Text 266"/>
          <p:cNvSpPr txBox="1"/>
          <p:nvPr/>
        </p:nvSpPr>
        <p:spPr>
          <a:xfrm>
            <a:off x="2286000" y="7981798"/>
            <a:ext cx="9528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M2</a:t>
            </a:r>
            <a:endParaRPr lang="en-US" sz="1200" dirty="0"/>
          </a:p>
        </p:txBody>
      </p:sp>
      <p:sp>
        <p:nvSpPr>
          <p:cNvPr id="280" name="Text 267"/>
          <p:cNvSpPr txBox="1"/>
          <p:nvPr/>
        </p:nvSpPr>
        <p:spPr>
          <a:xfrm>
            <a:off x="3238805" y="7944307"/>
            <a:ext cx="17145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+0.10</a:t>
            </a:r>
            <a:endParaRPr lang="en-US" sz="1350" dirty="0"/>
          </a:p>
        </p:txBody>
      </p:sp>
      <p:sp>
        <p:nvSpPr>
          <p:cNvPr id="281" name="Text 268"/>
          <p:cNvSpPr txBox="1"/>
          <p:nvPr/>
        </p:nvSpPr>
        <p:spPr>
          <a:xfrm>
            <a:off x="4990795" y="7944307"/>
            <a:ext cx="17145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0.38</a:t>
            </a:r>
            <a:endParaRPr lang="en-US" sz="1350" dirty="0"/>
          </a:p>
        </p:txBody>
      </p:sp>
      <p:sp>
        <p:nvSpPr>
          <p:cNvPr id="282" name="Text 269"/>
          <p:cNvSpPr txBox="1"/>
          <p:nvPr/>
        </p:nvSpPr>
        <p:spPr>
          <a:xfrm>
            <a:off x="6743700" y="7944307"/>
            <a:ext cx="15243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0.98</a:t>
            </a:r>
            <a:endParaRPr lang="en-US" sz="1350" dirty="0"/>
          </a:p>
        </p:txBody>
      </p:sp>
      <p:sp>
        <p:nvSpPr>
          <p:cNvPr id="283" name="Text 270"/>
          <p:cNvSpPr txBox="1"/>
          <p:nvPr/>
        </p:nvSpPr>
        <p:spPr>
          <a:xfrm>
            <a:off x="8305495" y="7905902"/>
            <a:ext cx="15243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40 / 49</a:t>
            </a:r>
            <a:endParaRPr lang="en-US" sz="1350" dirty="0"/>
          </a:p>
        </p:txBody>
      </p:sp>
      <p:sp>
        <p:nvSpPr>
          <p:cNvPr id="284" name="Text 271"/>
          <p:cNvSpPr txBox="1"/>
          <p:nvPr/>
        </p:nvSpPr>
        <p:spPr>
          <a:xfrm>
            <a:off x="9868205" y="7944307"/>
            <a:ext cx="15243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B858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3.96</a:t>
            </a:r>
            <a:endParaRPr lang="en-US" sz="1350" dirty="0"/>
          </a:p>
        </p:txBody>
      </p:sp>
      <p:sp>
        <p:nvSpPr>
          <p:cNvPr id="285" name="Text 272"/>
          <p:cNvSpPr txBox="1"/>
          <p:nvPr/>
        </p:nvSpPr>
        <p:spPr>
          <a:xfrm>
            <a:off x="11430000" y="7944307"/>
            <a:ext cx="20958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2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 (Co skip)</a:t>
            </a:r>
            <a:endParaRPr lang="en-US" sz="1200" dirty="0"/>
          </a:p>
        </p:txBody>
      </p:sp>
      <p:sp>
        <p:nvSpPr>
          <p:cNvPr id="286" name="Text 273"/>
          <p:cNvSpPr txBox="1"/>
          <p:nvPr/>
        </p:nvSpPr>
        <p:spPr>
          <a:xfrm>
            <a:off x="13563295" y="7905902"/>
            <a:ext cx="2286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58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conditional</a:t>
            </a:r>
            <a:endParaRPr lang="en-US" sz="1200" dirty="0"/>
          </a:p>
        </p:txBody>
      </p:sp>
      <p:sp>
        <p:nvSpPr>
          <p:cNvPr id="287" name="Text 274"/>
          <p:cNvSpPr txBox="1"/>
          <p:nvPr/>
        </p:nvSpPr>
        <p:spPr>
          <a:xfrm>
            <a:off x="990295" y="9087307"/>
            <a:ext cx="1905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spc="176" kern="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TAKEAWAY</a:t>
            </a:r>
            <a:endParaRPr lang="en-US" sz="975" dirty="0"/>
          </a:p>
        </p:txBody>
      </p:sp>
      <p:sp>
        <p:nvSpPr>
          <p:cNvPr id="288" name="Text 275"/>
          <p:cNvSpPr txBox="1"/>
          <p:nvPr/>
        </p:nvSpPr>
        <p:spPr>
          <a:xfrm>
            <a:off x="2361895" y="9048902"/>
            <a:ext cx="1573591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uniformity 비교에서 </a:t>
            </a:r>
            <a:pPr algn="l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W03 BLV-Ru</a:t>
            </a:r>
            <a:pPr algn="l" indent="0" marL="0">
              <a:buNone/>
            </a:pPr>
            <a:r>
              <a:rPr lang="en-US" sz="127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 WIWNU 3.27/3.16%·on-target 47/49·48/49로 dummy 통계 내 가장 균일. W02 BLV-Co는 Co skip 5 site 발생·WIWNU 상승 dummy. production 적합성은 별도 검증 필요.</a:t>
            </a:r>
            <a:endParaRPr lang="en-US" sz="1275" dirty="0"/>
          </a:p>
        </p:txBody>
      </p:sp>
      <p:sp>
        <p:nvSpPr>
          <p:cNvPr id="289" name="Text 276"/>
          <p:cNvSpPr txBox="1"/>
          <p:nvPr/>
        </p:nvSpPr>
        <p:spPr>
          <a:xfrm>
            <a:off x="761695" y="9849002"/>
            <a:ext cx="72393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5A62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EV-BEOL-BLV-018 · 49 site AMI Δ · unit nm · WIWNU=%</a:t>
            </a:r>
            <a:endParaRPr lang="en-US" sz="975" dirty="0"/>
          </a:p>
        </p:txBody>
      </p:sp>
      <p:sp>
        <p:nvSpPr>
          <p:cNvPr id="290" name="Text 277"/>
          <p:cNvSpPr txBox="1"/>
          <p:nvPr/>
        </p:nvSpPr>
        <p:spPr>
          <a:xfrm>
            <a:off x="8001000" y="9849002"/>
            <a:ext cx="952530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※ 내부 테스트용 더미(가상) 데이터 · 09 / 12</a:t>
            </a:r>
            <a:endParaRPr lang="en-US" sz="9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DF0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4b8b176d1054448e556d5d1f414aa96f.png">    </p:cNvPr>
          <p:cNvPicPr>
            <a:picLocks noChangeAspect="1"/>
          </p:cNvPicPr>
          <p:nvPr/>
        </p:nvPicPr>
        <p:blipFill>
          <a:blip r:embed="rId1"/>
          <a:srcRect l="0" r="0" t="-400" b="-400"/>
          <a:stretch/>
        </p:blipFill>
        <p:spPr>
          <a:xfrm>
            <a:off x="0" y="0"/>
            <a:ext cx="18288000" cy="57607"/>
          </a:xfrm>
          <a:prstGeom prst="rect">
            <a:avLst/>
          </a:prstGeom>
        </p:spPr>
      </p:pic>
      <p:pic>
        <p:nvPicPr>
          <p:cNvPr id="4" name="Image 1" descr="gen-dedup-6ef2f382d46d5f775cbbac1e044faac9.png">    </p:cNvPr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761695" y="1638605"/>
            <a:ext cx="16763695" cy="9144"/>
          </a:xfrm>
          <a:prstGeom prst="rect">
            <a:avLst/>
          </a:prstGeom>
        </p:spPr>
      </p:pic>
      <p:pic>
        <p:nvPicPr>
          <p:cNvPr id="5" name="Image 2" descr="gen-dedup-aa69f2ffb39561dc63b4624e054af223.png">    </p:cNvPr>
          <p:cNvPicPr>
            <a:picLocks noChangeAspect="1"/>
          </p:cNvPicPr>
          <p:nvPr/>
        </p:nvPicPr>
        <p:blipFill>
          <a:blip r:embed="rId3"/>
          <a:srcRect l="-424" r="-424" t="0" b="0"/>
          <a:stretch/>
        </p:blipFill>
        <p:spPr>
          <a:xfrm>
            <a:off x="761695" y="1790395"/>
            <a:ext cx="57607" cy="323698"/>
          </a:xfrm>
          <a:prstGeom prst="rect">
            <a:avLst/>
          </a:prstGeom>
        </p:spPr>
      </p:pic>
      <p:sp>
        <p:nvSpPr>
          <p:cNvPr id="6" name="Shape 0"/>
          <p:cNvSpPr/>
          <p:nvPr/>
        </p:nvSpPr>
        <p:spPr>
          <a:xfrm>
            <a:off x="761695" y="2286000"/>
            <a:ext cx="12382805" cy="6286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1"/>
          <p:cNvSpPr/>
          <p:nvPr/>
        </p:nvSpPr>
        <p:spPr>
          <a:xfrm>
            <a:off x="13525805" y="2286000"/>
            <a:ext cx="4000500" cy="6286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2"/>
          <p:cNvSpPr/>
          <p:nvPr/>
        </p:nvSpPr>
        <p:spPr>
          <a:xfrm>
            <a:off x="761695" y="9010498"/>
            <a:ext cx="16763695" cy="400507"/>
          </a:xfrm>
          <a:prstGeom prst="rect">
            <a:avLst/>
          </a:prstGeom>
          <a:solidFill>
            <a:srgbClr val="0E1F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" name="Image 3" descr="gen-dedup-6ef2f382d46d5f775cbbac1e044faac9.png">    </p:cNvPr>
          <p:cNvPicPr>
            <a:picLocks noChangeAspect="1"/>
          </p:cNvPicPr>
          <p:nvPr/>
        </p:nvPicPr>
        <p:blipFill>
          <a:blip r:embed="rId4"/>
          <a:srcRect l="-2083" r="-2083" t="0" b="0"/>
          <a:stretch/>
        </p:blipFill>
        <p:spPr>
          <a:xfrm>
            <a:off x="761695" y="9715500"/>
            <a:ext cx="16763695" cy="9144"/>
          </a:xfrm>
          <a:prstGeom prst="rect">
            <a:avLst/>
          </a:prstGeom>
        </p:spPr>
      </p:pic>
      <p:sp>
        <p:nvSpPr>
          <p:cNvPr id="10" name="Shape 3"/>
          <p:cNvSpPr/>
          <p:nvPr/>
        </p:nvSpPr>
        <p:spPr>
          <a:xfrm>
            <a:off x="761695" y="2286000"/>
            <a:ext cx="12382805" cy="342900"/>
          </a:xfrm>
          <a:prstGeom prst="rect">
            <a:avLst/>
          </a:prstGeom>
          <a:solidFill>
            <a:srgbClr val="0E1F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4"/>
          <p:cNvSpPr/>
          <p:nvPr/>
        </p:nvSpPr>
        <p:spPr>
          <a:xfrm>
            <a:off x="10858500" y="3276295"/>
            <a:ext cx="571500" cy="133502"/>
          </a:xfrm>
          <a:prstGeom prst="rect">
            <a:avLst/>
          </a:prstGeom>
          <a:solidFill>
            <a:srgbClr val="54616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4" descr="gen-dedup-88baf9618d02dd74d408e65ea6d1dccf.png">    </p:cNvPr>
          <p:cNvPicPr>
            <a:picLocks noChangeAspect="1"/>
          </p:cNvPicPr>
          <p:nvPr/>
        </p:nvPicPr>
        <p:blipFill>
          <a:blip r:embed="rId5"/>
          <a:srcRect l="-2083" r="-2083" t="0" b="0"/>
          <a:stretch/>
        </p:blipFill>
        <p:spPr>
          <a:xfrm>
            <a:off x="761695" y="3504895"/>
            <a:ext cx="12382805" cy="9144"/>
          </a:xfrm>
          <a:prstGeom prst="rect">
            <a:avLst/>
          </a:prstGeom>
        </p:spPr>
      </p:pic>
      <p:pic>
        <p:nvPicPr>
          <p:cNvPr id="13" name="Image 5" descr="gen-dedup-6c3cffaf2681393c4532e6733d767a02.png">    </p:cNvPr>
          <p:cNvPicPr>
            <a:picLocks noChangeAspect="1"/>
          </p:cNvPicPr>
          <p:nvPr/>
        </p:nvPicPr>
        <p:blipFill>
          <a:blip r:embed="rId6"/>
          <a:srcRect l="0" r="0" t="-77" b="-77"/>
          <a:stretch/>
        </p:blipFill>
        <p:spPr>
          <a:xfrm>
            <a:off x="10858500" y="3696005"/>
            <a:ext cx="761695" cy="133502"/>
          </a:xfrm>
          <a:prstGeom prst="rect">
            <a:avLst/>
          </a:prstGeom>
        </p:spPr>
      </p:pic>
      <p:pic>
        <p:nvPicPr>
          <p:cNvPr id="14" name="Image 6" descr="gen-dedup-88baf9618d02dd74d408e65ea6d1dccf.png">    </p:cNvPr>
          <p:cNvPicPr>
            <a:picLocks noChangeAspect="1"/>
          </p:cNvPicPr>
          <p:nvPr/>
        </p:nvPicPr>
        <p:blipFill>
          <a:blip r:embed="rId7"/>
          <a:srcRect l="-2083" r="-2083" t="0" b="0"/>
          <a:stretch/>
        </p:blipFill>
        <p:spPr>
          <a:xfrm>
            <a:off x="761695" y="3924605"/>
            <a:ext cx="12382805" cy="9144"/>
          </a:xfrm>
          <a:prstGeom prst="rect">
            <a:avLst/>
          </a:prstGeom>
        </p:spPr>
      </p:pic>
      <p:sp>
        <p:nvSpPr>
          <p:cNvPr id="15" name="Shape 5"/>
          <p:cNvSpPr/>
          <p:nvPr/>
        </p:nvSpPr>
        <p:spPr>
          <a:xfrm>
            <a:off x="10858500" y="4114800"/>
            <a:ext cx="571500" cy="133502"/>
          </a:xfrm>
          <a:prstGeom prst="rect">
            <a:avLst/>
          </a:prstGeom>
          <a:solidFill>
            <a:srgbClr val="54616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6" name="Image 7" descr="gen-dedup-88baf9618d02dd74d408e65ea6d1dccf.png">    </p:cNvPr>
          <p:cNvPicPr>
            <a:picLocks noChangeAspect="1"/>
          </p:cNvPicPr>
          <p:nvPr/>
        </p:nvPicPr>
        <p:blipFill>
          <a:blip r:embed="rId8"/>
          <a:srcRect l="-2083" r="-2083" t="0" b="0"/>
          <a:stretch/>
        </p:blipFill>
        <p:spPr>
          <a:xfrm>
            <a:off x="761695" y="4343400"/>
            <a:ext cx="12382805" cy="9144"/>
          </a:xfrm>
          <a:prstGeom prst="rect">
            <a:avLst/>
          </a:prstGeom>
        </p:spPr>
      </p:pic>
      <p:sp>
        <p:nvSpPr>
          <p:cNvPr id="17" name="Shape 6"/>
          <p:cNvSpPr/>
          <p:nvPr/>
        </p:nvSpPr>
        <p:spPr>
          <a:xfrm>
            <a:off x="10858500" y="4533595"/>
            <a:ext cx="609905" cy="133502"/>
          </a:xfrm>
          <a:prstGeom prst="rect">
            <a:avLst/>
          </a:prstGeom>
          <a:solidFill>
            <a:srgbClr val="B8581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8" name="Image 8" descr="gen-dedup-88baf9618d02dd74d408e65ea6d1dccf.png">    </p:cNvPr>
          <p:cNvPicPr>
            <a:picLocks noChangeAspect="1"/>
          </p:cNvPicPr>
          <p:nvPr/>
        </p:nvPicPr>
        <p:blipFill>
          <a:blip r:embed="rId9"/>
          <a:srcRect l="-2083" r="-2083" t="0" b="0"/>
          <a:stretch/>
        </p:blipFill>
        <p:spPr>
          <a:xfrm>
            <a:off x="761695" y="4762195"/>
            <a:ext cx="12382805" cy="9144"/>
          </a:xfrm>
          <a:prstGeom prst="rect">
            <a:avLst/>
          </a:prstGeom>
        </p:spPr>
      </p:pic>
      <p:pic>
        <p:nvPicPr>
          <p:cNvPr id="19" name="Image 9" descr="gen-dedup-9337de5fa1d08bc51684fff79e69b1da.png">    </p:cNvPr>
          <p:cNvPicPr>
            <a:picLocks noChangeAspect="1"/>
          </p:cNvPicPr>
          <p:nvPr/>
        </p:nvPicPr>
        <p:blipFill>
          <a:blip r:embed="rId10"/>
          <a:srcRect l="0" r="0" t="-57" b="-57"/>
          <a:stretch/>
        </p:blipFill>
        <p:spPr>
          <a:xfrm>
            <a:off x="10858500" y="4953305"/>
            <a:ext cx="1028700" cy="133502"/>
          </a:xfrm>
          <a:prstGeom prst="rect">
            <a:avLst/>
          </a:prstGeom>
        </p:spPr>
      </p:pic>
      <p:pic>
        <p:nvPicPr>
          <p:cNvPr id="20" name="Image 10" descr="gen-dedup-88baf9618d02dd74d408e65ea6d1dccf.png">    </p:cNvPr>
          <p:cNvPicPr>
            <a:picLocks noChangeAspect="1"/>
          </p:cNvPicPr>
          <p:nvPr/>
        </p:nvPicPr>
        <p:blipFill>
          <a:blip r:embed="rId11"/>
          <a:srcRect l="-2083" r="-2083" t="0" b="0"/>
          <a:stretch/>
        </p:blipFill>
        <p:spPr>
          <a:xfrm>
            <a:off x="761695" y="5181905"/>
            <a:ext cx="12382805" cy="9144"/>
          </a:xfrm>
          <a:prstGeom prst="rect">
            <a:avLst/>
          </a:prstGeom>
        </p:spPr>
      </p:pic>
      <p:pic>
        <p:nvPicPr>
          <p:cNvPr id="21" name="Image 11" descr="gen-dedup-42a2f39bb19c4bd752616414175aaece.png">    </p:cNvPr>
          <p:cNvPicPr>
            <a:picLocks noChangeAspect="1"/>
          </p:cNvPicPr>
          <p:nvPr/>
        </p:nvPicPr>
        <p:blipFill>
          <a:blip r:embed="rId12"/>
          <a:srcRect l="0" r="0" t="-77" b="-77"/>
          <a:stretch/>
        </p:blipFill>
        <p:spPr>
          <a:xfrm>
            <a:off x="10858500" y="5372100"/>
            <a:ext cx="761695" cy="133502"/>
          </a:xfrm>
          <a:prstGeom prst="rect">
            <a:avLst/>
          </a:prstGeom>
        </p:spPr>
      </p:pic>
      <p:pic>
        <p:nvPicPr>
          <p:cNvPr id="22" name="Image 12" descr="gen-dedup-88baf9618d02dd74d408e65ea6d1dccf.png">    </p:cNvPr>
          <p:cNvPicPr>
            <a:picLocks noChangeAspect="1"/>
          </p:cNvPicPr>
          <p:nvPr/>
        </p:nvPicPr>
        <p:blipFill>
          <a:blip r:embed="rId13"/>
          <a:srcRect l="-2083" r="-2083" t="0" b="0"/>
          <a:stretch/>
        </p:blipFill>
        <p:spPr>
          <a:xfrm>
            <a:off x="761695" y="5600700"/>
            <a:ext cx="12382805" cy="9144"/>
          </a:xfrm>
          <a:prstGeom prst="rect">
            <a:avLst/>
          </a:prstGeom>
        </p:spPr>
      </p:pic>
      <p:sp>
        <p:nvSpPr>
          <p:cNvPr id="23" name="Shape 7"/>
          <p:cNvSpPr/>
          <p:nvPr/>
        </p:nvSpPr>
        <p:spPr>
          <a:xfrm>
            <a:off x="10858500" y="5790895"/>
            <a:ext cx="476402" cy="133502"/>
          </a:xfrm>
          <a:prstGeom prst="rect">
            <a:avLst/>
          </a:prstGeom>
          <a:solidFill>
            <a:srgbClr val="1F536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4" name="Image 13" descr="gen-dedup-88baf9618d02dd74d408e65ea6d1dccf.png">    </p:cNvPr>
          <p:cNvPicPr>
            <a:picLocks noChangeAspect="1"/>
          </p:cNvPicPr>
          <p:nvPr/>
        </p:nvPicPr>
        <p:blipFill>
          <a:blip r:embed="rId14"/>
          <a:srcRect l="-2083" r="-2083" t="0" b="0"/>
          <a:stretch/>
        </p:blipFill>
        <p:spPr>
          <a:xfrm>
            <a:off x="761695" y="6019495"/>
            <a:ext cx="12382805" cy="9144"/>
          </a:xfrm>
          <a:prstGeom prst="rect">
            <a:avLst/>
          </a:prstGeom>
        </p:spPr>
      </p:pic>
      <p:sp>
        <p:nvSpPr>
          <p:cNvPr id="25" name="Shape 8"/>
          <p:cNvSpPr/>
          <p:nvPr/>
        </p:nvSpPr>
        <p:spPr>
          <a:xfrm>
            <a:off x="10858500" y="6210605"/>
            <a:ext cx="666598" cy="133502"/>
          </a:xfrm>
          <a:prstGeom prst="rect">
            <a:avLst/>
          </a:prstGeom>
          <a:solidFill>
            <a:srgbClr val="1F536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6" name="Image 14" descr="gen-dedup-88baf9618d02dd74d408e65ea6d1dccf.png">    </p:cNvPr>
          <p:cNvPicPr>
            <a:picLocks noChangeAspect="1"/>
          </p:cNvPicPr>
          <p:nvPr/>
        </p:nvPicPr>
        <p:blipFill>
          <a:blip r:embed="rId15"/>
          <a:srcRect l="-2083" r="-2083" t="0" b="0"/>
          <a:stretch/>
        </p:blipFill>
        <p:spPr>
          <a:xfrm>
            <a:off x="761695" y="6439205"/>
            <a:ext cx="12382805" cy="9144"/>
          </a:xfrm>
          <a:prstGeom prst="rect">
            <a:avLst/>
          </a:prstGeom>
        </p:spPr>
      </p:pic>
      <p:sp>
        <p:nvSpPr>
          <p:cNvPr id="27" name="Shape 9"/>
          <p:cNvSpPr/>
          <p:nvPr/>
        </p:nvSpPr>
        <p:spPr>
          <a:xfrm>
            <a:off x="10858500" y="6629400"/>
            <a:ext cx="523951" cy="133502"/>
          </a:xfrm>
          <a:prstGeom prst="rect">
            <a:avLst/>
          </a:prstGeom>
          <a:solidFill>
            <a:srgbClr val="1F5366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8" name="Image 15" descr="gen-dedup-88baf9618d02dd74d408e65ea6d1dccf.png">    </p:cNvPr>
          <p:cNvPicPr>
            <a:picLocks noChangeAspect="1"/>
          </p:cNvPicPr>
          <p:nvPr/>
        </p:nvPicPr>
        <p:blipFill>
          <a:blip r:embed="rId16"/>
          <a:srcRect l="-2083" r="-2083" t="0" b="0"/>
          <a:stretch/>
        </p:blipFill>
        <p:spPr>
          <a:xfrm>
            <a:off x="761695" y="6858000"/>
            <a:ext cx="12382805" cy="9144"/>
          </a:xfrm>
          <a:prstGeom prst="rect">
            <a:avLst/>
          </a:prstGeom>
        </p:spPr>
      </p:pic>
      <p:sp>
        <p:nvSpPr>
          <p:cNvPr id="29" name="Shape 10"/>
          <p:cNvSpPr/>
          <p:nvPr/>
        </p:nvSpPr>
        <p:spPr>
          <a:xfrm>
            <a:off x="10858500" y="7048195"/>
            <a:ext cx="533095" cy="133502"/>
          </a:xfrm>
          <a:prstGeom prst="rect">
            <a:avLst/>
          </a:prstGeom>
          <a:solidFill>
            <a:srgbClr val="2D6A4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0" name="Image 16" descr="gen-dedup-88baf9618d02dd74d408e65ea6d1dccf.png">    </p:cNvPr>
          <p:cNvPicPr>
            <a:picLocks noChangeAspect="1"/>
          </p:cNvPicPr>
          <p:nvPr/>
        </p:nvPicPr>
        <p:blipFill>
          <a:blip r:embed="rId17"/>
          <a:srcRect l="-2083" r="-2083" t="0" b="0"/>
          <a:stretch/>
        </p:blipFill>
        <p:spPr>
          <a:xfrm>
            <a:off x="761695" y="7276795"/>
            <a:ext cx="12382805" cy="9144"/>
          </a:xfrm>
          <a:prstGeom prst="rect">
            <a:avLst/>
          </a:prstGeom>
        </p:spPr>
      </p:pic>
      <p:pic>
        <p:nvPicPr>
          <p:cNvPr id="31" name="Image 17" descr="gen-dedup-0e29f8bc1dedf65627320f91b9abbbfc.png">    </p:cNvPr>
          <p:cNvPicPr>
            <a:picLocks noChangeAspect="1"/>
          </p:cNvPicPr>
          <p:nvPr/>
        </p:nvPicPr>
        <p:blipFill>
          <a:blip r:embed="rId18"/>
          <a:srcRect l="0" r="0" t="-46" b="-46"/>
          <a:stretch/>
        </p:blipFill>
        <p:spPr>
          <a:xfrm>
            <a:off x="10858500" y="7467905"/>
            <a:ext cx="705002" cy="133502"/>
          </a:xfrm>
          <a:prstGeom prst="rect">
            <a:avLst/>
          </a:prstGeom>
        </p:spPr>
      </p:pic>
      <p:pic>
        <p:nvPicPr>
          <p:cNvPr id="32" name="Image 18" descr="gen-dedup-88baf9618d02dd74d408e65ea6d1dccf.png">    </p:cNvPr>
          <p:cNvPicPr>
            <a:picLocks noChangeAspect="1"/>
          </p:cNvPicPr>
          <p:nvPr/>
        </p:nvPicPr>
        <p:blipFill>
          <a:blip r:embed="rId19"/>
          <a:srcRect l="-2083" r="-2083" t="0" b="0"/>
          <a:stretch/>
        </p:blipFill>
        <p:spPr>
          <a:xfrm>
            <a:off x="761695" y="7696505"/>
            <a:ext cx="12382805" cy="9144"/>
          </a:xfrm>
          <a:prstGeom prst="rect">
            <a:avLst/>
          </a:prstGeom>
        </p:spPr>
      </p:pic>
      <p:sp>
        <p:nvSpPr>
          <p:cNvPr id="33" name="Shape 11"/>
          <p:cNvSpPr/>
          <p:nvPr/>
        </p:nvSpPr>
        <p:spPr>
          <a:xfrm>
            <a:off x="10858500" y="7886700"/>
            <a:ext cx="571500" cy="133502"/>
          </a:xfrm>
          <a:prstGeom prst="rect">
            <a:avLst/>
          </a:prstGeom>
          <a:solidFill>
            <a:srgbClr val="2D6A4F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12"/>
          <p:cNvSpPr/>
          <p:nvPr/>
        </p:nvSpPr>
        <p:spPr>
          <a:xfrm>
            <a:off x="13525805" y="2286000"/>
            <a:ext cx="4000500" cy="381305"/>
          </a:xfrm>
          <a:prstGeom prst="rect">
            <a:avLst/>
          </a:prstGeom>
          <a:solidFill>
            <a:srgbClr val="0E1F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13"/>
          <p:cNvSpPr/>
          <p:nvPr/>
        </p:nvSpPr>
        <p:spPr>
          <a:xfrm>
            <a:off x="13677595" y="3390595"/>
            <a:ext cx="3696005" cy="761695"/>
          </a:xfrm>
          <a:prstGeom prst="rect">
            <a:avLst/>
          </a:prstGeom>
          <a:solidFill>
            <a:srgbClr val="F4F6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14"/>
          <p:cNvSpPr/>
          <p:nvPr/>
        </p:nvSpPr>
        <p:spPr>
          <a:xfrm>
            <a:off x="13677595" y="4267505"/>
            <a:ext cx="3696005" cy="761695"/>
          </a:xfrm>
          <a:prstGeom prst="rect">
            <a:avLst/>
          </a:prstGeom>
          <a:solidFill>
            <a:srgbClr val="F4F6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15"/>
          <p:cNvSpPr/>
          <p:nvPr/>
        </p:nvSpPr>
        <p:spPr>
          <a:xfrm>
            <a:off x="13677595" y="5143500"/>
            <a:ext cx="3696005" cy="761695"/>
          </a:xfrm>
          <a:prstGeom prst="rect">
            <a:avLst/>
          </a:prstGeom>
          <a:solidFill>
            <a:srgbClr val="F4F6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hape 16"/>
          <p:cNvSpPr/>
          <p:nvPr/>
        </p:nvSpPr>
        <p:spPr>
          <a:xfrm>
            <a:off x="13677595" y="6019495"/>
            <a:ext cx="3696005" cy="761695"/>
          </a:xfrm>
          <a:prstGeom prst="rect">
            <a:avLst/>
          </a:prstGeom>
          <a:solidFill>
            <a:srgbClr val="F4F6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9" name="Image 19" descr="gen-dedup-11dbf1bb6bc67a23d21f917a4d0f5f1e.png">    </p:cNvPr>
          <p:cNvPicPr>
            <a:picLocks noChangeAspect="1"/>
          </p:cNvPicPr>
          <p:nvPr/>
        </p:nvPicPr>
        <p:blipFill>
          <a:blip r:embed="rId20"/>
          <a:srcRect l="-2089" r="-2089" t="0" b="0"/>
          <a:stretch/>
        </p:blipFill>
        <p:spPr>
          <a:xfrm>
            <a:off x="13677595" y="6953098"/>
            <a:ext cx="3696005" cy="9144"/>
          </a:xfrm>
          <a:prstGeom prst="rect">
            <a:avLst/>
          </a:prstGeom>
        </p:spPr>
      </p:pic>
      <p:pic>
        <p:nvPicPr>
          <p:cNvPr id="40" name="Image 20" descr="gen-dedup-c446308907549a06dea20593753adc8a.png">    </p:cNvPr>
          <p:cNvPicPr>
            <a:picLocks noChangeAspect="1"/>
          </p:cNvPicPr>
          <p:nvPr/>
        </p:nvPicPr>
        <p:blipFill>
          <a:blip r:embed="rId21"/>
          <a:srcRect l="-342" r="-342" t="0" b="0"/>
          <a:stretch/>
        </p:blipFill>
        <p:spPr>
          <a:xfrm>
            <a:off x="761695" y="9010498"/>
            <a:ext cx="57607" cy="400507"/>
          </a:xfrm>
          <a:prstGeom prst="rect">
            <a:avLst/>
          </a:prstGeom>
        </p:spPr>
      </p:pic>
      <p:sp>
        <p:nvSpPr>
          <p:cNvPr id="41" name="Text 17"/>
          <p:cNvSpPr txBox="1"/>
          <p:nvPr/>
        </p:nvSpPr>
        <p:spPr>
          <a:xfrm>
            <a:off x="761695" y="400507"/>
            <a:ext cx="1334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DOC //</a:t>
            </a:r>
            <a:endParaRPr lang="en-US" sz="1050" dirty="0"/>
          </a:p>
        </p:txBody>
      </p:sp>
      <p:sp>
        <p:nvSpPr>
          <p:cNvPr id="42" name="Text 18"/>
          <p:cNvSpPr txBox="1"/>
          <p:nvPr/>
        </p:nvSpPr>
        <p:spPr>
          <a:xfrm>
            <a:off x="761695" y="629107"/>
            <a:ext cx="13341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63" kern="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EV-BEOL-BLV-018</a:t>
            </a:r>
            <a:endParaRPr lang="en-US" sz="1050" dirty="0"/>
          </a:p>
        </p:txBody>
      </p:sp>
      <p:sp>
        <p:nvSpPr>
          <p:cNvPr id="43" name="Text 19"/>
          <p:cNvSpPr txBox="1"/>
          <p:nvPr/>
        </p:nvSpPr>
        <p:spPr>
          <a:xfrm>
            <a:off x="761695" y="857707"/>
            <a:ext cx="14287500" cy="5815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0E1F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Dishing &amp; erosion · </a:t>
            </a:r>
            <a:pPr algn="l" indent="0" marL="0">
              <a:buNone/>
            </a:pPr>
            <a:r>
              <a:rPr lang="en-US" sz="3150" b="1" dirty="0">
                <a:solidFill>
                  <a:srgbClr val="B858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표면 거동</a:t>
            </a:r>
            <a:endParaRPr lang="en-US" sz="3150" dirty="0"/>
          </a:p>
        </p:txBody>
      </p:sp>
      <p:sp>
        <p:nvSpPr>
          <p:cNvPr id="44" name="Text 20"/>
          <p:cNvSpPr txBox="1"/>
          <p:nvPr/>
        </p:nvSpPr>
        <p:spPr>
          <a:xfrm>
            <a:off x="761695" y="1514246"/>
            <a:ext cx="142875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25" dirty="0">
                <a:solidFill>
                  <a:srgbClr val="4D566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 line dishing · ILD erosion · Cu recess · ULK-CO damage · AFM + optical profilometry 기반</a:t>
            </a:r>
            <a:endParaRPr lang="en-US" sz="1425" dirty="0"/>
          </a:p>
        </p:txBody>
      </p:sp>
      <p:sp>
        <p:nvSpPr>
          <p:cNvPr id="45" name="Text 21"/>
          <p:cNvSpPr txBox="1"/>
          <p:nvPr/>
        </p:nvSpPr>
        <p:spPr>
          <a:xfrm>
            <a:off x="15430500" y="400507"/>
            <a:ext cx="20958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spc="98" kern="0" dirty="0">
                <a:solidFill>
                  <a:srgbClr val="5A62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 0.6 · INTERNAL</a:t>
            </a:r>
            <a:endParaRPr lang="en-US" sz="975" dirty="0"/>
          </a:p>
        </p:txBody>
      </p:sp>
      <p:sp>
        <p:nvSpPr>
          <p:cNvPr id="46" name="Text 22"/>
          <p:cNvSpPr txBox="1"/>
          <p:nvPr/>
        </p:nvSpPr>
        <p:spPr>
          <a:xfrm>
            <a:off x="15430500" y="599846"/>
            <a:ext cx="20958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dirty="0">
                <a:solidFill>
                  <a:srgbClr val="5A62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2026-10-03</a:t>
            </a:r>
            <a:endParaRPr lang="en-US" sz="975" dirty="0"/>
          </a:p>
        </p:txBody>
      </p:sp>
      <p:sp>
        <p:nvSpPr>
          <p:cNvPr id="47" name="Text 23"/>
          <p:cNvSpPr txBox="1"/>
          <p:nvPr/>
        </p:nvSpPr>
        <p:spPr>
          <a:xfrm>
            <a:off x="914400" y="1790395"/>
            <a:ext cx="123828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spc="168" kern="0" dirty="0">
                <a:solidFill>
                  <a:srgbClr val="B858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§ 01 / 10 · SURFACE / CMP</a:t>
            </a:r>
            <a:endParaRPr lang="en-US" sz="1050" dirty="0"/>
          </a:p>
        </p:txBody>
      </p:sp>
      <p:sp>
        <p:nvSpPr>
          <p:cNvPr id="48" name="Text 24"/>
          <p:cNvSpPr txBox="1"/>
          <p:nvPr/>
        </p:nvSpPr>
        <p:spPr>
          <a:xfrm>
            <a:off x="914400" y="2000707"/>
            <a:ext cx="1238280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dummy 표. 측정 site 49 / wafer, 64 cross-section measurement 추가, 4 wafer × 5 metric.</a:t>
            </a:r>
            <a:endParaRPr lang="en-US" sz="975" dirty="0"/>
          </a:p>
        </p:txBody>
      </p:sp>
      <p:sp>
        <p:nvSpPr>
          <p:cNvPr id="49" name="Text 25"/>
          <p:cNvSpPr txBox="1"/>
          <p:nvPr/>
        </p:nvSpPr>
        <p:spPr>
          <a:xfrm>
            <a:off x="914400" y="2361895"/>
            <a:ext cx="76206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68" kern="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 metric × 4 wafer · unit: nm</a:t>
            </a:r>
            <a:endParaRPr lang="en-US" sz="1050" dirty="0"/>
          </a:p>
        </p:txBody>
      </p:sp>
      <p:sp>
        <p:nvSpPr>
          <p:cNvPr id="50" name="Text 26"/>
          <p:cNvSpPr txBox="1"/>
          <p:nvPr/>
        </p:nvSpPr>
        <p:spPr>
          <a:xfrm>
            <a:off x="11239805" y="2361895"/>
            <a:ext cx="1905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dirty="0">
                <a:solidFill>
                  <a:srgbClr val="B858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target / spec</a:t>
            </a:r>
            <a:endParaRPr lang="en-US" sz="975" dirty="0"/>
          </a:p>
        </p:txBody>
      </p:sp>
      <p:sp>
        <p:nvSpPr>
          <p:cNvPr id="51" name="Text 27"/>
          <p:cNvSpPr txBox="1"/>
          <p:nvPr/>
        </p:nvSpPr>
        <p:spPr>
          <a:xfrm>
            <a:off x="914400" y="2819095"/>
            <a:ext cx="15243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E1F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split</a:t>
            </a:r>
            <a:endParaRPr lang="en-US" sz="1050" dirty="0"/>
          </a:p>
        </p:txBody>
      </p:sp>
      <p:sp>
        <p:nvSpPr>
          <p:cNvPr id="52" name="Text 28"/>
          <p:cNvSpPr txBox="1"/>
          <p:nvPr/>
        </p:nvSpPr>
        <p:spPr>
          <a:xfrm>
            <a:off x="2438705" y="2819095"/>
            <a:ext cx="19056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E1F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metric</a:t>
            </a:r>
            <a:endParaRPr lang="en-US" sz="1050" dirty="0"/>
          </a:p>
        </p:txBody>
      </p:sp>
      <p:sp>
        <p:nvSpPr>
          <p:cNvPr id="53" name="Text 29"/>
          <p:cNvSpPr txBox="1"/>
          <p:nvPr/>
        </p:nvSpPr>
        <p:spPr>
          <a:xfrm>
            <a:off x="4343400" y="2819095"/>
            <a:ext cx="1143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target</a:t>
            </a:r>
            <a:endParaRPr lang="en-US" sz="1050" dirty="0"/>
          </a:p>
        </p:txBody>
      </p:sp>
      <p:sp>
        <p:nvSpPr>
          <p:cNvPr id="54" name="Text 30"/>
          <p:cNvSpPr txBox="1"/>
          <p:nvPr/>
        </p:nvSpPr>
        <p:spPr>
          <a:xfrm>
            <a:off x="5486400" y="2819095"/>
            <a:ext cx="1143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mean</a:t>
            </a:r>
            <a:endParaRPr lang="en-US" sz="1050" dirty="0"/>
          </a:p>
        </p:txBody>
      </p:sp>
      <p:sp>
        <p:nvSpPr>
          <p:cNvPr id="55" name="Text 31"/>
          <p:cNvSpPr txBox="1"/>
          <p:nvPr/>
        </p:nvSpPr>
        <p:spPr>
          <a:xfrm>
            <a:off x="6629400" y="2819095"/>
            <a:ext cx="1143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3σ</a:t>
            </a:r>
            <a:endParaRPr lang="en-US" sz="1050" dirty="0"/>
          </a:p>
        </p:txBody>
      </p:sp>
      <p:sp>
        <p:nvSpPr>
          <p:cNvPr id="56" name="Text 32"/>
          <p:cNvSpPr txBox="1"/>
          <p:nvPr/>
        </p:nvSpPr>
        <p:spPr>
          <a:xfrm>
            <a:off x="7772400" y="2819095"/>
            <a:ext cx="1143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max</a:t>
            </a:r>
            <a:endParaRPr lang="en-US" sz="1050" dirty="0"/>
          </a:p>
        </p:txBody>
      </p:sp>
      <p:sp>
        <p:nvSpPr>
          <p:cNvPr id="57" name="Text 33"/>
          <p:cNvSpPr txBox="1"/>
          <p:nvPr/>
        </p:nvSpPr>
        <p:spPr>
          <a:xfrm>
            <a:off x="8915400" y="2819095"/>
            <a:ext cx="1334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verdict</a:t>
            </a:r>
            <a:endParaRPr lang="en-US" sz="1050" dirty="0"/>
          </a:p>
        </p:txBody>
      </p:sp>
      <p:sp>
        <p:nvSpPr>
          <p:cNvPr id="58" name="Text 34"/>
          <p:cNvSpPr txBox="1"/>
          <p:nvPr/>
        </p:nvSpPr>
        <p:spPr>
          <a:xfrm>
            <a:off x="10287000" y="2819095"/>
            <a:ext cx="26673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E1F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mini-bar (mean vs target)</a:t>
            </a:r>
            <a:endParaRPr lang="en-US" sz="1050" dirty="0"/>
          </a:p>
        </p:txBody>
      </p:sp>
      <p:sp>
        <p:nvSpPr>
          <p:cNvPr id="59" name="Text 35"/>
          <p:cNvSpPr txBox="1"/>
          <p:nvPr/>
        </p:nvSpPr>
        <p:spPr>
          <a:xfrm>
            <a:off x="914400" y="3200400"/>
            <a:ext cx="15243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5461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W01 REF</a:t>
            </a:r>
            <a:endParaRPr lang="en-US" sz="1350" dirty="0"/>
          </a:p>
        </p:txBody>
      </p:sp>
      <p:sp>
        <p:nvSpPr>
          <p:cNvPr id="60" name="Text 36"/>
          <p:cNvSpPr txBox="1"/>
          <p:nvPr/>
        </p:nvSpPr>
        <p:spPr>
          <a:xfrm>
            <a:off x="2438705" y="3238805"/>
            <a:ext cx="19056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53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 line dishing (dense)</a:t>
            </a:r>
            <a:endParaRPr lang="en-US" sz="1050" dirty="0"/>
          </a:p>
        </p:txBody>
      </p:sp>
      <p:sp>
        <p:nvSpPr>
          <p:cNvPr id="61" name="Text 37"/>
          <p:cNvSpPr txBox="1"/>
          <p:nvPr/>
        </p:nvSpPr>
        <p:spPr>
          <a:xfrm>
            <a:off x="4343400" y="3200400"/>
            <a:ext cx="1143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≤ 12.0</a:t>
            </a:r>
            <a:endParaRPr lang="en-US" sz="1200" dirty="0"/>
          </a:p>
        </p:txBody>
      </p:sp>
      <p:sp>
        <p:nvSpPr>
          <p:cNvPr id="62" name="Text 38"/>
          <p:cNvSpPr txBox="1"/>
          <p:nvPr/>
        </p:nvSpPr>
        <p:spPr>
          <a:xfrm>
            <a:off x="5486400" y="3200400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8.6</a:t>
            </a:r>
            <a:endParaRPr lang="en-US" sz="1350" dirty="0"/>
          </a:p>
        </p:txBody>
      </p:sp>
      <p:sp>
        <p:nvSpPr>
          <p:cNvPr id="63" name="Text 39"/>
          <p:cNvSpPr txBox="1"/>
          <p:nvPr/>
        </p:nvSpPr>
        <p:spPr>
          <a:xfrm>
            <a:off x="6629400" y="3200400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2.1</a:t>
            </a:r>
            <a:endParaRPr lang="en-US" sz="1350" dirty="0"/>
          </a:p>
        </p:txBody>
      </p:sp>
      <p:sp>
        <p:nvSpPr>
          <p:cNvPr id="64" name="Text 40"/>
          <p:cNvSpPr txBox="1"/>
          <p:nvPr/>
        </p:nvSpPr>
        <p:spPr>
          <a:xfrm>
            <a:off x="7772400" y="3200400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11.4</a:t>
            </a:r>
            <a:endParaRPr lang="en-US" sz="1350" dirty="0"/>
          </a:p>
        </p:txBody>
      </p:sp>
      <p:sp>
        <p:nvSpPr>
          <p:cNvPr id="65" name="Text 41"/>
          <p:cNvSpPr txBox="1"/>
          <p:nvPr/>
        </p:nvSpPr>
        <p:spPr>
          <a:xfrm>
            <a:off x="8915400" y="3200400"/>
            <a:ext cx="1334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4616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pass</a:t>
            </a:r>
            <a:endParaRPr lang="en-US" sz="1200" dirty="0"/>
          </a:p>
        </p:txBody>
      </p:sp>
      <p:sp>
        <p:nvSpPr>
          <p:cNvPr id="66" name="Text 42"/>
          <p:cNvSpPr txBox="1"/>
          <p:nvPr/>
        </p:nvSpPr>
        <p:spPr>
          <a:xfrm>
            <a:off x="914400" y="3619195"/>
            <a:ext cx="15243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5461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W01 REF</a:t>
            </a:r>
            <a:endParaRPr lang="en-US" sz="1350" dirty="0"/>
          </a:p>
        </p:txBody>
      </p:sp>
      <p:sp>
        <p:nvSpPr>
          <p:cNvPr id="67" name="Text 43"/>
          <p:cNvSpPr txBox="1"/>
          <p:nvPr/>
        </p:nvSpPr>
        <p:spPr>
          <a:xfrm>
            <a:off x="2438705" y="3657600"/>
            <a:ext cx="19056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53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pSi-k erosion / 250nm</a:t>
            </a:r>
            <a:endParaRPr lang="en-US" sz="1050" dirty="0"/>
          </a:p>
        </p:txBody>
      </p:sp>
      <p:sp>
        <p:nvSpPr>
          <p:cNvPr id="68" name="Text 44"/>
          <p:cNvSpPr txBox="1"/>
          <p:nvPr/>
        </p:nvSpPr>
        <p:spPr>
          <a:xfrm>
            <a:off x="4343400" y="3619195"/>
            <a:ext cx="1143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≤ 6.0</a:t>
            </a:r>
            <a:endParaRPr lang="en-US" sz="1200" dirty="0"/>
          </a:p>
        </p:txBody>
      </p:sp>
      <p:sp>
        <p:nvSpPr>
          <p:cNvPr id="69" name="Text 45"/>
          <p:cNvSpPr txBox="1"/>
          <p:nvPr/>
        </p:nvSpPr>
        <p:spPr>
          <a:xfrm>
            <a:off x="5486400" y="3619195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4.2</a:t>
            </a:r>
            <a:endParaRPr lang="en-US" sz="1350" dirty="0"/>
          </a:p>
        </p:txBody>
      </p:sp>
      <p:sp>
        <p:nvSpPr>
          <p:cNvPr id="70" name="Text 46"/>
          <p:cNvSpPr txBox="1"/>
          <p:nvPr/>
        </p:nvSpPr>
        <p:spPr>
          <a:xfrm>
            <a:off x="6629400" y="3619195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1.6</a:t>
            </a:r>
            <a:endParaRPr lang="en-US" sz="1350" dirty="0"/>
          </a:p>
        </p:txBody>
      </p:sp>
      <p:sp>
        <p:nvSpPr>
          <p:cNvPr id="71" name="Text 47"/>
          <p:cNvSpPr txBox="1"/>
          <p:nvPr/>
        </p:nvSpPr>
        <p:spPr>
          <a:xfrm>
            <a:off x="7772400" y="3619195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5.8</a:t>
            </a:r>
            <a:endParaRPr lang="en-US" sz="1350" dirty="0"/>
          </a:p>
        </p:txBody>
      </p:sp>
      <p:sp>
        <p:nvSpPr>
          <p:cNvPr id="72" name="Text 48"/>
          <p:cNvSpPr txBox="1"/>
          <p:nvPr/>
        </p:nvSpPr>
        <p:spPr>
          <a:xfrm>
            <a:off x="8915400" y="3619195"/>
            <a:ext cx="1334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4616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pass</a:t>
            </a:r>
            <a:endParaRPr lang="en-US" sz="1200" dirty="0"/>
          </a:p>
        </p:txBody>
      </p:sp>
      <p:sp>
        <p:nvSpPr>
          <p:cNvPr id="73" name="Text 49"/>
          <p:cNvSpPr txBox="1"/>
          <p:nvPr/>
        </p:nvSpPr>
        <p:spPr>
          <a:xfrm>
            <a:off x="914400" y="4038905"/>
            <a:ext cx="15243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5461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W01 REF</a:t>
            </a:r>
            <a:endParaRPr lang="en-US" sz="1350" dirty="0"/>
          </a:p>
        </p:txBody>
      </p:sp>
      <p:sp>
        <p:nvSpPr>
          <p:cNvPr id="74" name="Text 50"/>
          <p:cNvSpPr txBox="1"/>
          <p:nvPr/>
        </p:nvSpPr>
        <p:spPr>
          <a:xfrm>
            <a:off x="2438705" y="4076395"/>
            <a:ext cx="19056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53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 recess (iso / dense)</a:t>
            </a:r>
            <a:endParaRPr lang="en-US" sz="1050" dirty="0"/>
          </a:p>
        </p:txBody>
      </p:sp>
      <p:sp>
        <p:nvSpPr>
          <p:cNvPr id="75" name="Text 51"/>
          <p:cNvSpPr txBox="1"/>
          <p:nvPr/>
        </p:nvSpPr>
        <p:spPr>
          <a:xfrm>
            <a:off x="4343400" y="4038905"/>
            <a:ext cx="1143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≤ 4.0</a:t>
            </a:r>
            <a:endParaRPr lang="en-US" sz="1200" dirty="0"/>
          </a:p>
        </p:txBody>
      </p:sp>
      <p:sp>
        <p:nvSpPr>
          <p:cNvPr id="76" name="Text 52"/>
          <p:cNvSpPr txBox="1"/>
          <p:nvPr/>
        </p:nvSpPr>
        <p:spPr>
          <a:xfrm>
            <a:off x="5486400" y="4038905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2.4</a:t>
            </a:r>
            <a:endParaRPr lang="en-US" sz="1350" dirty="0"/>
          </a:p>
        </p:txBody>
      </p:sp>
      <p:sp>
        <p:nvSpPr>
          <p:cNvPr id="77" name="Text 53"/>
          <p:cNvSpPr txBox="1"/>
          <p:nvPr/>
        </p:nvSpPr>
        <p:spPr>
          <a:xfrm>
            <a:off x="6629400" y="4038905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0.9</a:t>
            </a:r>
            <a:endParaRPr lang="en-US" sz="1350" dirty="0"/>
          </a:p>
        </p:txBody>
      </p:sp>
      <p:sp>
        <p:nvSpPr>
          <p:cNvPr id="78" name="Text 54"/>
          <p:cNvSpPr txBox="1"/>
          <p:nvPr/>
        </p:nvSpPr>
        <p:spPr>
          <a:xfrm>
            <a:off x="7772400" y="4038905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3.6</a:t>
            </a:r>
            <a:endParaRPr lang="en-US" sz="1350" dirty="0"/>
          </a:p>
        </p:txBody>
      </p:sp>
      <p:sp>
        <p:nvSpPr>
          <p:cNvPr id="79" name="Text 55"/>
          <p:cNvSpPr txBox="1"/>
          <p:nvPr/>
        </p:nvSpPr>
        <p:spPr>
          <a:xfrm>
            <a:off x="8915400" y="4038905"/>
            <a:ext cx="1334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4616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pass</a:t>
            </a:r>
            <a:endParaRPr lang="en-US" sz="1200" dirty="0"/>
          </a:p>
        </p:txBody>
      </p:sp>
      <p:sp>
        <p:nvSpPr>
          <p:cNvPr id="80" name="Text 56"/>
          <p:cNvSpPr txBox="1"/>
          <p:nvPr/>
        </p:nvSpPr>
        <p:spPr>
          <a:xfrm>
            <a:off x="914400" y="4457700"/>
            <a:ext cx="15243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B858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W02 Co</a:t>
            </a:r>
            <a:endParaRPr lang="en-US" sz="1350" dirty="0"/>
          </a:p>
        </p:txBody>
      </p:sp>
      <p:sp>
        <p:nvSpPr>
          <p:cNvPr id="81" name="Text 57"/>
          <p:cNvSpPr txBox="1"/>
          <p:nvPr/>
        </p:nvSpPr>
        <p:spPr>
          <a:xfrm>
            <a:off x="2438705" y="4496105"/>
            <a:ext cx="19056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53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 line dishing (dense)</a:t>
            </a:r>
            <a:endParaRPr lang="en-US" sz="1050" dirty="0"/>
          </a:p>
        </p:txBody>
      </p:sp>
      <p:sp>
        <p:nvSpPr>
          <p:cNvPr id="82" name="Text 58"/>
          <p:cNvSpPr txBox="1"/>
          <p:nvPr/>
        </p:nvSpPr>
        <p:spPr>
          <a:xfrm>
            <a:off x="4343400" y="4457700"/>
            <a:ext cx="1143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≤ 12.0</a:t>
            </a:r>
            <a:endParaRPr lang="en-US" sz="1200" dirty="0"/>
          </a:p>
        </p:txBody>
      </p:sp>
      <p:sp>
        <p:nvSpPr>
          <p:cNvPr id="83" name="Text 59"/>
          <p:cNvSpPr txBox="1"/>
          <p:nvPr/>
        </p:nvSpPr>
        <p:spPr>
          <a:xfrm>
            <a:off x="5486400" y="4457700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B858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9.2</a:t>
            </a:r>
            <a:endParaRPr lang="en-US" sz="1350" dirty="0"/>
          </a:p>
        </p:txBody>
      </p:sp>
      <p:sp>
        <p:nvSpPr>
          <p:cNvPr id="84" name="Text 60"/>
          <p:cNvSpPr txBox="1"/>
          <p:nvPr/>
        </p:nvSpPr>
        <p:spPr>
          <a:xfrm>
            <a:off x="6629400" y="4457700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2.4</a:t>
            </a:r>
            <a:endParaRPr lang="en-US" sz="1350" dirty="0"/>
          </a:p>
        </p:txBody>
      </p:sp>
      <p:sp>
        <p:nvSpPr>
          <p:cNvPr id="85" name="Text 61"/>
          <p:cNvSpPr txBox="1"/>
          <p:nvPr/>
        </p:nvSpPr>
        <p:spPr>
          <a:xfrm>
            <a:off x="7772400" y="4457700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12.1</a:t>
            </a:r>
            <a:endParaRPr lang="en-US" sz="1350" dirty="0"/>
          </a:p>
        </p:txBody>
      </p:sp>
      <p:sp>
        <p:nvSpPr>
          <p:cNvPr id="86" name="Text 62"/>
          <p:cNvSpPr txBox="1"/>
          <p:nvPr/>
        </p:nvSpPr>
        <p:spPr>
          <a:xfrm>
            <a:off x="8915400" y="4457700"/>
            <a:ext cx="1334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858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edge</a:t>
            </a:r>
            <a:endParaRPr lang="en-US" sz="1200" dirty="0"/>
          </a:p>
        </p:txBody>
      </p:sp>
      <p:sp>
        <p:nvSpPr>
          <p:cNvPr id="87" name="Text 63"/>
          <p:cNvSpPr txBox="1"/>
          <p:nvPr/>
        </p:nvSpPr>
        <p:spPr>
          <a:xfrm>
            <a:off x="914400" y="4876495"/>
            <a:ext cx="15243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B858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W02 Co</a:t>
            </a:r>
            <a:endParaRPr lang="en-US" sz="1350" dirty="0"/>
          </a:p>
        </p:txBody>
      </p:sp>
      <p:sp>
        <p:nvSpPr>
          <p:cNvPr id="88" name="Text 64"/>
          <p:cNvSpPr txBox="1"/>
          <p:nvPr/>
        </p:nvSpPr>
        <p:spPr>
          <a:xfrm>
            <a:off x="2438705" y="4914900"/>
            <a:ext cx="19056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53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pSi-k erosion / 250nm</a:t>
            </a:r>
            <a:endParaRPr lang="en-US" sz="1050" dirty="0"/>
          </a:p>
        </p:txBody>
      </p:sp>
      <p:sp>
        <p:nvSpPr>
          <p:cNvPr id="89" name="Text 65"/>
          <p:cNvSpPr txBox="1"/>
          <p:nvPr/>
        </p:nvSpPr>
        <p:spPr>
          <a:xfrm>
            <a:off x="4343400" y="4876495"/>
            <a:ext cx="1143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≤ 6.0</a:t>
            </a:r>
            <a:endParaRPr lang="en-US" sz="1200" dirty="0"/>
          </a:p>
        </p:txBody>
      </p:sp>
      <p:sp>
        <p:nvSpPr>
          <p:cNvPr id="90" name="Text 66"/>
          <p:cNvSpPr txBox="1"/>
          <p:nvPr/>
        </p:nvSpPr>
        <p:spPr>
          <a:xfrm>
            <a:off x="5486400" y="4876495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B858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5.6</a:t>
            </a:r>
            <a:endParaRPr lang="en-US" sz="1350" dirty="0"/>
          </a:p>
        </p:txBody>
      </p:sp>
      <p:sp>
        <p:nvSpPr>
          <p:cNvPr id="91" name="Text 67"/>
          <p:cNvSpPr txBox="1"/>
          <p:nvPr/>
        </p:nvSpPr>
        <p:spPr>
          <a:xfrm>
            <a:off x="6629400" y="4876495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2.0</a:t>
            </a:r>
            <a:endParaRPr lang="en-US" sz="1350" dirty="0"/>
          </a:p>
        </p:txBody>
      </p:sp>
      <p:sp>
        <p:nvSpPr>
          <p:cNvPr id="92" name="Text 68"/>
          <p:cNvSpPr txBox="1"/>
          <p:nvPr/>
        </p:nvSpPr>
        <p:spPr>
          <a:xfrm>
            <a:off x="7772400" y="4876495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B858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7.4</a:t>
            </a:r>
            <a:endParaRPr lang="en-US" sz="1350" dirty="0"/>
          </a:p>
        </p:txBody>
      </p:sp>
      <p:sp>
        <p:nvSpPr>
          <p:cNvPr id="93" name="Text 69"/>
          <p:cNvSpPr txBox="1"/>
          <p:nvPr/>
        </p:nvSpPr>
        <p:spPr>
          <a:xfrm>
            <a:off x="8915400" y="4876495"/>
            <a:ext cx="1334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858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over</a:t>
            </a:r>
            <a:endParaRPr lang="en-US" sz="1200" dirty="0"/>
          </a:p>
        </p:txBody>
      </p:sp>
      <p:sp>
        <p:nvSpPr>
          <p:cNvPr id="94" name="Text 70"/>
          <p:cNvSpPr txBox="1"/>
          <p:nvPr/>
        </p:nvSpPr>
        <p:spPr>
          <a:xfrm>
            <a:off x="914400" y="5296205"/>
            <a:ext cx="15243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B858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W02 Co</a:t>
            </a:r>
            <a:endParaRPr lang="en-US" sz="1350" dirty="0"/>
          </a:p>
        </p:txBody>
      </p:sp>
      <p:sp>
        <p:nvSpPr>
          <p:cNvPr id="95" name="Text 71"/>
          <p:cNvSpPr txBox="1"/>
          <p:nvPr/>
        </p:nvSpPr>
        <p:spPr>
          <a:xfrm>
            <a:off x="2438705" y="5333695"/>
            <a:ext cx="19056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53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 recess (iso / dense)</a:t>
            </a:r>
            <a:endParaRPr lang="en-US" sz="1050" dirty="0"/>
          </a:p>
        </p:txBody>
      </p:sp>
      <p:sp>
        <p:nvSpPr>
          <p:cNvPr id="96" name="Text 72"/>
          <p:cNvSpPr txBox="1"/>
          <p:nvPr/>
        </p:nvSpPr>
        <p:spPr>
          <a:xfrm>
            <a:off x="4343400" y="5296205"/>
            <a:ext cx="1143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≤ 4.0</a:t>
            </a:r>
            <a:endParaRPr lang="en-US" sz="1200" dirty="0"/>
          </a:p>
        </p:txBody>
      </p:sp>
      <p:sp>
        <p:nvSpPr>
          <p:cNvPr id="97" name="Text 73"/>
          <p:cNvSpPr txBox="1"/>
          <p:nvPr/>
        </p:nvSpPr>
        <p:spPr>
          <a:xfrm>
            <a:off x="5486400" y="5296205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2.8</a:t>
            </a:r>
            <a:endParaRPr lang="en-US" sz="1350" dirty="0"/>
          </a:p>
        </p:txBody>
      </p:sp>
      <p:sp>
        <p:nvSpPr>
          <p:cNvPr id="98" name="Text 74"/>
          <p:cNvSpPr txBox="1"/>
          <p:nvPr/>
        </p:nvSpPr>
        <p:spPr>
          <a:xfrm>
            <a:off x="6629400" y="5296205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1.1</a:t>
            </a:r>
            <a:endParaRPr lang="en-US" sz="1350" dirty="0"/>
          </a:p>
        </p:txBody>
      </p:sp>
      <p:sp>
        <p:nvSpPr>
          <p:cNvPr id="99" name="Text 75"/>
          <p:cNvSpPr txBox="1"/>
          <p:nvPr/>
        </p:nvSpPr>
        <p:spPr>
          <a:xfrm>
            <a:off x="7772400" y="5296205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4.0</a:t>
            </a:r>
            <a:endParaRPr lang="en-US" sz="1350" dirty="0"/>
          </a:p>
        </p:txBody>
      </p:sp>
      <p:sp>
        <p:nvSpPr>
          <p:cNvPr id="100" name="Text 76"/>
          <p:cNvSpPr txBox="1"/>
          <p:nvPr/>
        </p:nvSpPr>
        <p:spPr>
          <a:xfrm>
            <a:off x="8915400" y="5296205"/>
            <a:ext cx="1334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858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edge</a:t>
            </a:r>
            <a:endParaRPr lang="en-US" sz="1200" dirty="0"/>
          </a:p>
        </p:txBody>
      </p:sp>
      <p:sp>
        <p:nvSpPr>
          <p:cNvPr id="101" name="Text 77"/>
          <p:cNvSpPr txBox="1"/>
          <p:nvPr/>
        </p:nvSpPr>
        <p:spPr>
          <a:xfrm>
            <a:off x="914400" y="5715000"/>
            <a:ext cx="15243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F53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W03 Ru</a:t>
            </a:r>
            <a:endParaRPr lang="en-US" sz="1350" dirty="0"/>
          </a:p>
        </p:txBody>
      </p:sp>
      <p:sp>
        <p:nvSpPr>
          <p:cNvPr id="102" name="Text 78"/>
          <p:cNvSpPr txBox="1"/>
          <p:nvPr/>
        </p:nvSpPr>
        <p:spPr>
          <a:xfrm>
            <a:off x="2438705" y="5753405"/>
            <a:ext cx="19056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53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 line dishing (dense)</a:t>
            </a:r>
            <a:endParaRPr lang="en-US" sz="1050" dirty="0"/>
          </a:p>
        </p:txBody>
      </p:sp>
      <p:sp>
        <p:nvSpPr>
          <p:cNvPr id="103" name="Text 79"/>
          <p:cNvSpPr txBox="1"/>
          <p:nvPr/>
        </p:nvSpPr>
        <p:spPr>
          <a:xfrm>
            <a:off x="4343400" y="5715000"/>
            <a:ext cx="1143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≤ 12.0</a:t>
            </a:r>
            <a:endParaRPr lang="en-US" sz="1200" dirty="0"/>
          </a:p>
        </p:txBody>
      </p:sp>
      <p:sp>
        <p:nvSpPr>
          <p:cNvPr id="104" name="Text 80"/>
          <p:cNvSpPr txBox="1"/>
          <p:nvPr/>
        </p:nvSpPr>
        <p:spPr>
          <a:xfrm>
            <a:off x="5486400" y="5715000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7.4</a:t>
            </a:r>
            <a:endParaRPr lang="en-US" sz="1350" dirty="0"/>
          </a:p>
        </p:txBody>
      </p:sp>
      <p:sp>
        <p:nvSpPr>
          <p:cNvPr id="105" name="Text 81"/>
          <p:cNvSpPr txBox="1"/>
          <p:nvPr/>
        </p:nvSpPr>
        <p:spPr>
          <a:xfrm>
            <a:off x="6629400" y="5715000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1.8</a:t>
            </a:r>
            <a:endParaRPr lang="en-US" sz="1350" dirty="0"/>
          </a:p>
        </p:txBody>
      </p:sp>
      <p:sp>
        <p:nvSpPr>
          <p:cNvPr id="106" name="Text 82"/>
          <p:cNvSpPr txBox="1"/>
          <p:nvPr/>
        </p:nvSpPr>
        <p:spPr>
          <a:xfrm>
            <a:off x="7772400" y="5715000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9.8</a:t>
            </a:r>
            <a:endParaRPr lang="en-US" sz="1350" dirty="0"/>
          </a:p>
        </p:txBody>
      </p:sp>
      <p:sp>
        <p:nvSpPr>
          <p:cNvPr id="107" name="Text 83"/>
          <p:cNvSpPr txBox="1"/>
          <p:nvPr/>
        </p:nvSpPr>
        <p:spPr>
          <a:xfrm>
            <a:off x="8915400" y="5715000"/>
            <a:ext cx="1334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536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pass</a:t>
            </a:r>
            <a:endParaRPr lang="en-US" sz="1200" dirty="0"/>
          </a:p>
        </p:txBody>
      </p:sp>
      <p:sp>
        <p:nvSpPr>
          <p:cNvPr id="108" name="Text 84"/>
          <p:cNvSpPr txBox="1"/>
          <p:nvPr/>
        </p:nvSpPr>
        <p:spPr>
          <a:xfrm>
            <a:off x="914400" y="6133795"/>
            <a:ext cx="15243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F53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W03 Ru</a:t>
            </a:r>
            <a:endParaRPr lang="en-US" sz="1350" dirty="0"/>
          </a:p>
        </p:txBody>
      </p:sp>
      <p:sp>
        <p:nvSpPr>
          <p:cNvPr id="109" name="Text 85"/>
          <p:cNvSpPr txBox="1"/>
          <p:nvPr/>
        </p:nvSpPr>
        <p:spPr>
          <a:xfrm>
            <a:off x="2438705" y="6172200"/>
            <a:ext cx="19056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53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pSi-k erosion / 250nm</a:t>
            </a:r>
            <a:endParaRPr lang="en-US" sz="1050" dirty="0"/>
          </a:p>
        </p:txBody>
      </p:sp>
      <p:sp>
        <p:nvSpPr>
          <p:cNvPr id="110" name="Text 86"/>
          <p:cNvSpPr txBox="1"/>
          <p:nvPr/>
        </p:nvSpPr>
        <p:spPr>
          <a:xfrm>
            <a:off x="4343400" y="6133795"/>
            <a:ext cx="1143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≤ 6.0</a:t>
            </a:r>
            <a:endParaRPr lang="en-US" sz="1200" dirty="0"/>
          </a:p>
        </p:txBody>
      </p:sp>
      <p:sp>
        <p:nvSpPr>
          <p:cNvPr id="111" name="Text 87"/>
          <p:cNvSpPr txBox="1"/>
          <p:nvPr/>
        </p:nvSpPr>
        <p:spPr>
          <a:xfrm>
            <a:off x="5486400" y="6133795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3.6</a:t>
            </a:r>
            <a:endParaRPr lang="en-US" sz="1350" dirty="0"/>
          </a:p>
        </p:txBody>
      </p:sp>
      <p:sp>
        <p:nvSpPr>
          <p:cNvPr id="112" name="Text 88"/>
          <p:cNvSpPr txBox="1"/>
          <p:nvPr/>
        </p:nvSpPr>
        <p:spPr>
          <a:xfrm>
            <a:off x="6629400" y="6133795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1.2</a:t>
            </a:r>
            <a:endParaRPr lang="en-US" sz="1350" dirty="0"/>
          </a:p>
        </p:txBody>
      </p:sp>
      <p:sp>
        <p:nvSpPr>
          <p:cNvPr id="113" name="Text 89"/>
          <p:cNvSpPr txBox="1"/>
          <p:nvPr/>
        </p:nvSpPr>
        <p:spPr>
          <a:xfrm>
            <a:off x="7772400" y="6133795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5.0</a:t>
            </a:r>
            <a:endParaRPr lang="en-US" sz="1350" dirty="0"/>
          </a:p>
        </p:txBody>
      </p:sp>
      <p:sp>
        <p:nvSpPr>
          <p:cNvPr id="114" name="Text 90"/>
          <p:cNvSpPr txBox="1"/>
          <p:nvPr/>
        </p:nvSpPr>
        <p:spPr>
          <a:xfrm>
            <a:off x="8915400" y="6133795"/>
            <a:ext cx="1334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536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pass</a:t>
            </a:r>
            <a:endParaRPr lang="en-US" sz="1200" dirty="0"/>
          </a:p>
        </p:txBody>
      </p:sp>
      <p:sp>
        <p:nvSpPr>
          <p:cNvPr id="115" name="Text 91"/>
          <p:cNvSpPr txBox="1"/>
          <p:nvPr/>
        </p:nvSpPr>
        <p:spPr>
          <a:xfrm>
            <a:off x="914400" y="6553505"/>
            <a:ext cx="15243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F53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W03 Ru</a:t>
            </a:r>
            <a:endParaRPr lang="en-US" sz="1350" dirty="0"/>
          </a:p>
        </p:txBody>
      </p:sp>
      <p:sp>
        <p:nvSpPr>
          <p:cNvPr id="116" name="Text 92"/>
          <p:cNvSpPr txBox="1"/>
          <p:nvPr/>
        </p:nvSpPr>
        <p:spPr>
          <a:xfrm>
            <a:off x="2438705" y="6590995"/>
            <a:ext cx="19056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53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 recess (iso / dense)</a:t>
            </a:r>
            <a:endParaRPr lang="en-US" sz="1050" dirty="0"/>
          </a:p>
        </p:txBody>
      </p:sp>
      <p:sp>
        <p:nvSpPr>
          <p:cNvPr id="117" name="Text 93"/>
          <p:cNvSpPr txBox="1"/>
          <p:nvPr/>
        </p:nvSpPr>
        <p:spPr>
          <a:xfrm>
            <a:off x="4343400" y="6553505"/>
            <a:ext cx="1143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≤ 4.0</a:t>
            </a:r>
            <a:endParaRPr lang="en-US" sz="1200" dirty="0"/>
          </a:p>
        </p:txBody>
      </p:sp>
      <p:sp>
        <p:nvSpPr>
          <p:cNvPr id="118" name="Text 94"/>
          <p:cNvSpPr txBox="1"/>
          <p:nvPr/>
        </p:nvSpPr>
        <p:spPr>
          <a:xfrm>
            <a:off x="5486400" y="6553505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2.0</a:t>
            </a:r>
            <a:endParaRPr lang="en-US" sz="1350" dirty="0"/>
          </a:p>
        </p:txBody>
      </p:sp>
      <p:sp>
        <p:nvSpPr>
          <p:cNvPr id="119" name="Text 95"/>
          <p:cNvSpPr txBox="1"/>
          <p:nvPr/>
        </p:nvSpPr>
        <p:spPr>
          <a:xfrm>
            <a:off x="6629400" y="6553505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0.8</a:t>
            </a:r>
            <a:endParaRPr lang="en-US" sz="1350" dirty="0"/>
          </a:p>
        </p:txBody>
      </p:sp>
      <p:sp>
        <p:nvSpPr>
          <p:cNvPr id="120" name="Text 96"/>
          <p:cNvSpPr txBox="1"/>
          <p:nvPr/>
        </p:nvSpPr>
        <p:spPr>
          <a:xfrm>
            <a:off x="7772400" y="6553505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3.0</a:t>
            </a:r>
            <a:endParaRPr lang="en-US" sz="1350" dirty="0"/>
          </a:p>
        </p:txBody>
      </p:sp>
      <p:sp>
        <p:nvSpPr>
          <p:cNvPr id="121" name="Text 97"/>
          <p:cNvSpPr txBox="1"/>
          <p:nvPr/>
        </p:nvSpPr>
        <p:spPr>
          <a:xfrm>
            <a:off x="8915400" y="6553505"/>
            <a:ext cx="1334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536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pass</a:t>
            </a:r>
            <a:endParaRPr lang="en-US" sz="1200" dirty="0"/>
          </a:p>
        </p:txBody>
      </p:sp>
      <p:sp>
        <p:nvSpPr>
          <p:cNvPr id="122" name="Text 98"/>
          <p:cNvSpPr txBox="1"/>
          <p:nvPr/>
        </p:nvSpPr>
        <p:spPr>
          <a:xfrm>
            <a:off x="914400" y="6972300"/>
            <a:ext cx="15243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D6A4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W04 hybrid</a:t>
            </a:r>
            <a:endParaRPr lang="en-US" sz="1350" dirty="0"/>
          </a:p>
        </p:txBody>
      </p:sp>
      <p:sp>
        <p:nvSpPr>
          <p:cNvPr id="123" name="Text 99"/>
          <p:cNvSpPr txBox="1"/>
          <p:nvPr/>
        </p:nvSpPr>
        <p:spPr>
          <a:xfrm>
            <a:off x="2438705" y="7010705"/>
            <a:ext cx="19056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53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 line dishing (dense)</a:t>
            </a:r>
            <a:endParaRPr lang="en-US" sz="1050" dirty="0"/>
          </a:p>
        </p:txBody>
      </p:sp>
      <p:sp>
        <p:nvSpPr>
          <p:cNvPr id="124" name="Text 100"/>
          <p:cNvSpPr txBox="1"/>
          <p:nvPr/>
        </p:nvSpPr>
        <p:spPr>
          <a:xfrm>
            <a:off x="4343400" y="6972300"/>
            <a:ext cx="1143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≤ 12.0</a:t>
            </a:r>
            <a:endParaRPr lang="en-US" sz="1200" dirty="0"/>
          </a:p>
        </p:txBody>
      </p:sp>
      <p:sp>
        <p:nvSpPr>
          <p:cNvPr id="125" name="Text 101"/>
          <p:cNvSpPr txBox="1"/>
          <p:nvPr/>
        </p:nvSpPr>
        <p:spPr>
          <a:xfrm>
            <a:off x="5486400" y="6972300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2D6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7.8</a:t>
            </a:r>
            <a:endParaRPr lang="en-US" sz="1350" dirty="0"/>
          </a:p>
        </p:txBody>
      </p:sp>
      <p:sp>
        <p:nvSpPr>
          <p:cNvPr id="126" name="Text 102"/>
          <p:cNvSpPr txBox="1"/>
          <p:nvPr/>
        </p:nvSpPr>
        <p:spPr>
          <a:xfrm>
            <a:off x="6629400" y="6972300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1.9</a:t>
            </a:r>
            <a:endParaRPr lang="en-US" sz="1350" dirty="0"/>
          </a:p>
        </p:txBody>
      </p:sp>
      <p:sp>
        <p:nvSpPr>
          <p:cNvPr id="127" name="Text 103"/>
          <p:cNvSpPr txBox="1"/>
          <p:nvPr/>
        </p:nvSpPr>
        <p:spPr>
          <a:xfrm>
            <a:off x="7772400" y="6972300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10.4</a:t>
            </a:r>
            <a:endParaRPr lang="en-US" sz="1350" dirty="0"/>
          </a:p>
        </p:txBody>
      </p:sp>
      <p:sp>
        <p:nvSpPr>
          <p:cNvPr id="128" name="Text 104"/>
          <p:cNvSpPr txBox="1"/>
          <p:nvPr/>
        </p:nvSpPr>
        <p:spPr>
          <a:xfrm>
            <a:off x="8915400" y="6972300"/>
            <a:ext cx="1334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6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pass</a:t>
            </a:r>
            <a:endParaRPr lang="en-US" sz="1200" dirty="0"/>
          </a:p>
        </p:txBody>
      </p:sp>
      <p:sp>
        <p:nvSpPr>
          <p:cNvPr id="129" name="Text 105"/>
          <p:cNvSpPr txBox="1"/>
          <p:nvPr/>
        </p:nvSpPr>
        <p:spPr>
          <a:xfrm>
            <a:off x="914400" y="7391095"/>
            <a:ext cx="15243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D6A4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W04 hybrid</a:t>
            </a:r>
            <a:endParaRPr lang="en-US" sz="1350" dirty="0"/>
          </a:p>
        </p:txBody>
      </p:sp>
      <p:sp>
        <p:nvSpPr>
          <p:cNvPr id="130" name="Text 106"/>
          <p:cNvSpPr txBox="1"/>
          <p:nvPr/>
        </p:nvSpPr>
        <p:spPr>
          <a:xfrm>
            <a:off x="2438705" y="7429500"/>
            <a:ext cx="19056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53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pSi-k erosion / 250nm</a:t>
            </a:r>
            <a:endParaRPr lang="en-US" sz="1050" dirty="0"/>
          </a:p>
        </p:txBody>
      </p:sp>
      <p:sp>
        <p:nvSpPr>
          <p:cNvPr id="131" name="Text 107"/>
          <p:cNvSpPr txBox="1"/>
          <p:nvPr/>
        </p:nvSpPr>
        <p:spPr>
          <a:xfrm>
            <a:off x="4343400" y="7391095"/>
            <a:ext cx="1143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≤ 6.0</a:t>
            </a:r>
            <a:endParaRPr lang="en-US" sz="1200" dirty="0"/>
          </a:p>
        </p:txBody>
      </p:sp>
      <p:sp>
        <p:nvSpPr>
          <p:cNvPr id="132" name="Text 108"/>
          <p:cNvSpPr txBox="1"/>
          <p:nvPr/>
        </p:nvSpPr>
        <p:spPr>
          <a:xfrm>
            <a:off x="5486400" y="7391095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3.9</a:t>
            </a:r>
            <a:endParaRPr lang="en-US" sz="1350" dirty="0"/>
          </a:p>
        </p:txBody>
      </p:sp>
      <p:sp>
        <p:nvSpPr>
          <p:cNvPr id="133" name="Text 109"/>
          <p:cNvSpPr txBox="1"/>
          <p:nvPr/>
        </p:nvSpPr>
        <p:spPr>
          <a:xfrm>
            <a:off x="6629400" y="7391095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1.4</a:t>
            </a:r>
            <a:endParaRPr lang="en-US" sz="1350" dirty="0"/>
          </a:p>
        </p:txBody>
      </p:sp>
      <p:sp>
        <p:nvSpPr>
          <p:cNvPr id="134" name="Text 110"/>
          <p:cNvSpPr txBox="1"/>
          <p:nvPr/>
        </p:nvSpPr>
        <p:spPr>
          <a:xfrm>
            <a:off x="7772400" y="7391095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5.4</a:t>
            </a:r>
            <a:endParaRPr lang="en-US" sz="1350" dirty="0"/>
          </a:p>
        </p:txBody>
      </p:sp>
      <p:sp>
        <p:nvSpPr>
          <p:cNvPr id="135" name="Text 111"/>
          <p:cNvSpPr txBox="1"/>
          <p:nvPr/>
        </p:nvSpPr>
        <p:spPr>
          <a:xfrm>
            <a:off x="8915400" y="7391095"/>
            <a:ext cx="1334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6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pass</a:t>
            </a:r>
            <a:endParaRPr lang="en-US" sz="1200" dirty="0"/>
          </a:p>
        </p:txBody>
      </p:sp>
      <p:sp>
        <p:nvSpPr>
          <p:cNvPr id="136" name="Text 112"/>
          <p:cNvSpPr txBox="1"/>
          <p:nvPr/>
        </p:nvSpPr>
        <p:spPr>
          <a:xfrm>
            <a:off x="914400" y="7810805"/>
            <a:ext cx="15243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D6A4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W04 hybrid</a:t>
            </a:r>
            <a:endParaRPr lang="en-US" sz="1350" dirty="0"/>
          </a:p>
        </p:txBody>
      </p:sp>
      <p:sp>
        <p:nvSpPr>
          <p:cNvPr id="137" name="Text 113"/>
          <p:cNvSpPr txBox="1"/>
          <p:nvPr/>
        </p:nvSpPr>
        <p:spPr>
          <a:xfrm>
            <a:off x="2438705" y="7848295"/>
            <a:ext cx="19056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53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 recess (iso / dense)</a:t>
            </a:r>
            <a:endParaRPr lang="en-US" sz="1050" dirty="0"/>
          </a:p>
        </p:txBody>
      </p:sp>
      <p:sp>
        <p:nvSpPr>
          <p:cNvPr id="138" name="Text 114"/>
          <p:cNvSpPr txBox="1"/>
          <p:nvPr/>
        </p:nvSpPr>
        <p:spPr>
          <a:xfrm>
            <a:off x="4343400" y="7810805"/>
            <a:ext cx="1143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≤ 4.0</a:t>
            </a:r>
            <a:endParaRPr lang="en-US" sz="1200" dirty="0"/>
          </a:p>
        </p:txBody>
      </p:sp>
      <p:sp>
        <p:nvSpPr>
          <p:cNvPr id="139" name="Text 115"/>
          <p:cNvSpPr txBox="1"/>
          <p:nvPr/>
        </p:nvSpPr>
        <p:spPr>
          <a:xfrm>
            <a:off x="5486400" y="7810805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2D6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2.1</a:t>
            </a:r>
            <a:endParaRPr lang="en-US" sz="1350" dirty="0"/>
          </a:p>
        </p:txBody>
      </p:sp>
      <p:sp>
        <p:nvSpPr>
          <p:cNvPr id="140" name="Text 116"/>
          <p:cNvSpPr txBox="1"/>
          <p:nvPr/>
        </p:nvSpPr>
        <p:spPr>
          <a:xfrm>
            <a:off x="6629400" y="7810805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0.9</a:t>
            </a:r>
            <a:endParaRPr lang="en-US" sz="1350" dirty="0"/>
          </a:p>
        </p:txBody>
      </p:sp>
      <p:sp>
        <p:nvSpPr>
          <p:cNvPr id="141" name="Text 117"/>
          <p:cNvSpPr txBox="1"/>
          <p:nvPr/>
        </p:nvSpPr>
        <p:spPr>
          <a:xfrm>
            <a:off x="7772400" y="7810805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3.2</a:t>
            </a:r>
            <a:endParaRPr lang="en-US" sz="1350" dirty="0"/>
          </a:p>
        </p:txBody>
      </p:sp>
      <p:sp>
        <p:nvSpPr>
          <p:cNvPr id="142" name="Text 118"/>
          <p:cNvSpPr txBox="1"/>
          <p:nvPr/>
        </p:nvSpPr>
        <p:spPr>
          <a:xfrm>
            <a:off x="8915400" y="7810805"/>
            <a:ext cx="1334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6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pass</a:t>
            </a:r>
            <a:endParaRPr lang="en-US" sz="1200" dirty="0"/>
          </a:p>
        </p:txBody>
      </p:sp>
      <p:sp>
        <p:nvSpPr>
          <p:cNvPr id="143" name="Text 119"/>
          <p:cNvSpPr txBox="1"/>
          <p:nvPr/>
        </p:nvSpPr>
        <p:spPr>
          <a:xfrm>
            <a:off x="13677595" y="2361895"/>
            <a:ext cx="38103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spc="168" kern="0" dirty="0">
                <a:solidFill>
                  <a:srgbClr val="B858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표면 거동 종합</a:t>
            </a:r>
            <a:endParaRPr lang="en-US" sz="1050" dirty="0"/>
          </a:p>
        </p:txBody>
      </p:sp>
      <p:sp>
        <p:nvSpPr>
          <p:cNvPr id="144" name="Text 120"/>
          <p:cNvSpPr txBox="1"/>
          <p:nvPr/>
        </p:nvSpPr>
        <p:spPr>
          <a:xfrm>
            <a:off x="13677595" y="2819095"/>
            <a:ext cx="36201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E1F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dummy space</a:t>
            </a:r>
            <a:endParaRPr lang="en-US" sz="1350" dirty="0"/>
          </a:p>
        </p:txBody>
      </p:sp>
      <p:sp>
        <p:nvSpPr>
          <p:cNvPr id="145" name="Text 121"/>
          <p:cNvSpPr txBox="1"/>
          <p:nvPr/>
        </p:nvSpPr>
        <p:spPr>
          <a:xfrm>
            <a:off x="13677595" y="3124505"/>
            <a:ext cx="36201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dishing / erosion / recess 3개 metric의 wafer 평균</a:t>
            </a:r>
            <a:endParaRPr lang="en-US" sz="975" dirty="0"/>
          </a:p>
        </p:txBody>
      </p:sp>
      <p:sp>
        <p:nvSpPr>
          <p:cNvPr id="146" name="Text 122"/>
          <p:cNvSpPr txBox="1"/>
          <p:nvPr/>
        </p:nvSpPr>
        <p:spPr>
          <a:xfrm>
            <a:off x="13830300" y="3486607"/>
            <a:ext cx="19056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spc="156" kern="0" dirty="0">
                <a:solidFill>
                  <a:srgbClr val="5461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W01</a:t>
            </a:r>
            <a:endParaRPr lang="en-US" sz="975" dirty="0"/>
          </a:p>
        </p:txBody>
      </p:sp>
      <p:sp>
        <p:nvSpPr>
          <p:cNvPr id="147" name="Text 123"/>
          <p:cNvSpPr txBox="1"/>
          <p:nvPr/>
        </p:nvSpPr>
        <p:spPr>
          <a:xfrm>
            <a:off x="13830300" y="3733495"/>
            <a:ext cx="1905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5A62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avg dish / ero / rec</a:t>
            </a:r>
            <a:endParaRPr lang="en-US" sz="975" dirty="0"/>
          </a:p>
        </p:txBody>
      </p:sp>
      <p:sp>
        <p:nvSpPr>
          <p:cNvPr id="148" name="Text 124"/>
          <p:cNvSpPr txBox="1"/>
          <p:nvPr/>
        </p:nvSpPr>
        <p:spPr>
          <a:xfrm>
            <a:off x="16002000" y="3504895"/>
            <a:ext cx="13341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4616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5.07</a:t>
            </a:r>
            <a:endParaRPr lang="en-US" sz="1800" dirty="0"/>
          </a:p>
        </p:txBody>
      </p:sp>
      <p:sp>
        <p:nvSpPr>
          <p:cNvPr id="149" name="Text 125"/>
          <p:cNvSpPr txBox="1"/>
          <p:nvPr/>
        </p:nvSpPr>
        <p:spPr>
          <a:xfrm>
            <a:off x="16002000" y="3847795"/>
            <a:ext cx="13341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baseline pass</a:t>
            </a:r>
            <a:endParaRPr lang="en-US" sz="975" dirty="0"/>
          </a:p>
        </p:txBody>
      </p:sp>
      <p:sp>
        <p:nvSpPr>
          <p:cNvPr id="150" name="Text 126"/>
          <p:cNvSpPr txBox="1"/>
          <p:nvPr/>
        </p:nvSpPr>
        <p:spPr>
          <a:xfrm>
            <a:off x="13830300" y="4362602"/>
            <a:ext cx="19056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spc="156" kern="0" dirty="0">
                <a:solidFill>
                  <a:srgbClr val="B858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W02</a:t>
            </a:r>
            <a:endParaRPr lang="en-US" sz="975" dirty="0"/>
          </a:p>
        </p:txBody>
      </p:sp>
      <p:sp>
        <p:nvSpPr>
          <p:cNvPr id="151" name="Text 127"/>
          <p:cNvSpPr txBox="1"/>
          <p:nvPr/>
        </p:nvSpPr>
        <p:spPr>
          <a:xfrm>
            <a:off x="13830300" y="4610405"/>
            <a:ext cx="1905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5A62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avg — over-tol.</a:t>
            </a:r>
            <a:endParaRPr lang="en-US" sz="975" dirty="0"/>
          </a:p>
        </p:txBody>
      </p:sp>
      <p:sp>
        <p:nvSpPr>
          <p:cNvPr id="152" name="Text 128"/>
          <p:cNvSpPr txBox="1"/>
          <p:nvPr/>
        </p:nvSpPr>
        <p:spPr>
          <a:xfrm>
            <a:off x="16002000" y="4381805"/>
            <a:ext cx="13341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B858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5.87</a:t>
            </a:r>
            <a:endParaRPr lang="en-US" sz="1800" dirty="0"/>
          </a:p>
        </p:txBody>
      </p:sp>
      <p:sp>
        <p:nvSpPr>
          <p:cNvPr id="153" name="Text 129"/>
          <p:cNvSpPr txBox="1"/>
          <p:nvPr/>
        </p:nvSpPr>
        <p:spPr>
          <a:xfrm>
            <a:off x="16002000" y="4724705"/>
            <a:ext cx="13341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dirty="0">
                <a:solidFill>
                  <a:srgbClr val="B858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erosion pose risk</a:t>
            </a:r>
            <a:endParaRPr lang="en-US" sz="975" dirty="0"/>
          </a:p>
        </p:txBody>
      </p:sp>
      <p:sp>
        <p:nvSpPr>
          <p:cNvPr id="154" name="Text 130"/>
          <p:cNvSpPr txBox="1"/>
          <p:nvPr/>
        </p:nvSpPr>
        <p:spPr>
          <a:xfrm>
            <a:off x="13830300" y="5238598"/>
            <a:ext cx="19056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spc="156" kern="0" dirty="0">
                <a:solidFill>
                  <a:srgbClr val="1F53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W03</a:t>
            </a:r>
            <a:endParaRPr lang="en-US" sz="975" dirty="0"/>
          </a:p>
        </p:txBody>
      </p:sp>
      <p:sp>
        <p:nvSpPr>
          <p:cNvPr id="155" name="Text 131"/>
          <p:cNvSpPr txBox="1"/>
          <p:nvPr/>
        </p:nvSpPr>
        <p:spPr>
          <a:xfrm>
            <a:off x="13830300" y="5486400"/>
            <a:ext cx="1905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5A62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avg — RSBM pass</a:t>
            </a:r>
            <a:endParaRPr lang="en-US" sz="975" dirty="0"/>
          </a:p>
        </p:txBody>
      </p:sp>
      <p:sp>
        <p:nvSpPr>
          <p:cNvPr id="156" name="Text 132"/>
          <p:cNvSpPr txBox="1"/>
          <p:nvPr/>
        </p:nvSpPr>
        <p:spPr>
          <a:xfrm>
            <a:off x="16002000" y="5257800"/>
            <a:ext cx="13341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F536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4.33</a:t>
            </a:r>
            <a:endParaRPr lang="en-US" sz="1800" dirty="0"/>
          </a:p>
        </p:txBody>
      </p:sp>
      <p:sp>
        <p:nvSpPr>
          <p:cNvPr id="157" name="Text 133"/>
          <p:cNvSpPr txBox="1"/>
          <p:nvPr/>
        </p:nvSpPr>
        <p:spPr>
          <a:xfrm>
            <a:off x="16002000" y="5600700"/>
            <a:ext cx="13341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dirty="0">
                <a:solidFill>
                  <a:srgbClr val="1F53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best pass</a:t>
            </a:r>
            <a:endParaRPr lang="en-US" sz="975" dirty="0"/>
          </a:p>
        </p:txBody>
      </p:sp>
      <p:sp>
        <p:nvSpPr>
          <p:cNvPr id="158" name="Text 134"/>
          <p:cNvSpPr txBox="1"/>
          <p:nvPr/>
        </p:nvSpPr>
        <p:spPr>
          <a:xfrm>
            <a:off x="13830300" y="6115507"/>
            <a:ext cx="19056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spc="156" kern="0" dirty="0">
                <a:solidFill>
                  <a:srgbClr val="2D6A4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W04</a:t>
            </a:r>
            <a:endParaRPr lang="en-US" sz="975" dirty="0"/>
          </a:p>
        </p:txBody>
      </p:sp>
      <p:sp>
        <p:nvSpPr>
          <p:cNvPr id="159" name="Text 135"/>
          <p:cNvSpPr txBox="1"/>
          <p:nvPr/>
        </p:nvSpPr>
        <p:spPr>
          <a:xfrm>
            <a:off x="13830300" y="6362395"/>
            <a:ext cx="1905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5A62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avg — robust pass</a:t>
            </a:r>
            <a:endParaRPr lang="en-US" sz="975" dirty="0"/>
          </a:p>
        </p:txBody>
      </p:sp>
      <p:sp>
        <p:nvSpPr>
          <p:cNvPr id="160" name="Text 136"/>
          <p:cNvSpPr txBox="1"/>
          <p:nvPr/>
        </p:nvSpPr>
        <p:spPr>
          <a:xfrm>
            <a:off x="16002000" y="6133795"/>
            <a:ext cx="13341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2D6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4.60</a:t>
            </a:r>
            <a:endParaRPr lang="en-US" sz="1800" dirty="0"/>
          </a:p>
        </p:txBody>
      </p:sp>
      <p:sp>
        <p:nvSpPr>
          <p:cNvPr id="161" name="Text 137"/>
          <p:cNvSpPr txBox="1"/>
          <p:nvPr/>
        </p:nvSpPr>
        <p:spPr>
          <a:xfrm>
            <a:off x="16002000" y="6476695"/>
            <a:ext cx="13341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dirty="0">
                <a:solidFill>
                  <a:srgbClr val="2D6A4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selective pass</a:t>
            </a:r>
            <a:endParaRPr lang="en-US" sz="975" dirty="0"/>
          </a:p>
        </p:txBody>
      </p:sp>
      <p:sp>
        <p:nvSpPr>
          <p:cNvPr id="162" name="Text 138"/>
          <p:cNvSpPr txBox="1"/>
          <p:nvPr/>
        </p:nvSpPr>
        <p:spPr>
          <a:xfrm>
            <a:off x="13677595" y="7086600"/>
            <a:ext cx="3696005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기기는 Bruker Dimension Icon AFM + KLA-ACP200 optical profilometry. 모든 수치 dummy. edge 2-row 결측 제외.</a:t>
            </a:r>
            <a:endParaRPr lang="en-US" sz="975" dirty="0"/>
          </a:p>
        </p:txBody>
      </p:sp>
      <p:sp>
        <p:nvSpPr>
          <p:cNvPr id="163" name="Text 139"/>
          <p:cNvSpPr txBox="1"/>
          <p:nvPr/>
        </p:nvSpPr>
        <p:spPr>
          <a:xfrm>
            <a:off x="13677595" y="7601407"/>
            <a:ext cx="36960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E1F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비고</a:t>
            </a:r>
            <a:endParaRPr lang="en-US" sz="1050" dirty="0"/>
          </a:p>
        </p:txBody>
      </p:sp>
      <p:sp>
        <p:nvSpPr>
          <p:cNvPr id="164" name="Text 140"/>
          <p:cNvSpPr txBox="1"/>
          <p:nvPr/>
        </p:nvSpPr>
        <p:spPr>
          <a:xfrm>
            <a:off x="13677595" y="7830007"/>
            <a:ext cx="3696005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W02 BLV-Co는 pSi-k 250 nm에서 erosion 7.4 nm 한 건 발생으로 over-tolerance. dummy 검증용 reference.</a:t>
            </a:r>
            <a:endParaRPr lang="en-US" sz="975" dirty="0"/>
          </a:p>
        </p:txBody>
      </p:sp>
      <p:sp>
        <p:nvSpPr>
          <p:cNvPr id="165" name="Text 141"/>
          <p:cNvSpPr txBox="1"/>
          <p:nvPr/>
        </p:nvSpPr>
        <p:spPr>
          <a:xfrm>
            <a:off x="990295" y="9087307"/>
            <a:ext cx="1239012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spc="176" kern="0" dirty="0">
                <a:solidFill>
                  <a:srgbClr val="B858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TAKEAWAY</a:t>
            </a:r>
            <a:endParaRPr lang="en-US" sz="975" dirty="0"/>
          </a:p>
        </p:txBody>
      </p:sp>
      <p:sp>
        <p:nvSpPr>
          <p:cNvPr id="166" name="Text 142"/>
          <p:cNvSpPr txBox="1"/>
          <p:nvPr/>
        </p:nvSpPr>
        <p:spPr>
          <a:xfrm>
            <a:off x="2361895" y="9048902"/>
            <a:ext cx="1573591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 line dishing은 W03 7.4 / W04 7.8 / W01 8.6 / W02 9.2 nm으로 BLV 세 wafer가 모두 REF 이하. </a:t>
            </a:r>
            <a:pPr algn="l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W02의 pSi-k erosion max 7.4 nm 한 건</a:t>
            </a:r>
            <a:pPr algn="l" indent="0" marL="0">
              <a:buNone/>
            </a:pPr>
            <a:r>
              <a:rPr lang="en-US" sz="127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dummy statistic에서 가장 큰 위험점 — 본 dummy 평가 한계.</a:t>
            </a:r>
            <a:endParaRPr lang="en-US" sz="1275" dirty="0"/>
          </a:p>
        </p:txBody>
      </p:sp>
      <p:sp>
        <p:nvSpPr>
          <p:cNvPr id="167" name="Text 143"/>
          <p:cNvSpPr txBox="1"/>
          <p:nvPr/>
        </p:nvSpPr>
        <p:spPr>
          <a:xfrm>
            <a:off x="761695" y="9849002"/>
            <a:ext cx="72393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5A62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EV-BEOL-BLV-018 · 5 metric × 4 wafer·unit nm</a:t>
            </a:r>
            <a:endParaRPr lang="en-US" sz="975" dirty="0"/>
          </a:p>
        </p:txBody>
      </p:sp>
      <p:sp>
        <p:nvSpPr>
          <p:cNvPr id="168" name="Text 144"/>
          <p:cNvSpPr txBox="1"/>
          <p:nvPr/>
        </p:nvSpPr>
        <p:spPr>
          <a:xfrm>
            <a:off x="8001000" y="9849002"/>
            <a:ext cx="952530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※ 내부 테스트용 더미(가상) 데이터 · 10 / 12</a:t>
            </a:r>
            <a:endParaRPr lang="en-US" sz="9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DF0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4b8b176d1054448e556d5d1f414aa96f.png">    </p:cNvPr>
          <p:cNvPicPr>
            <a:picLocks noChangeAspect="1"/>
          </p:cNvPicPr>
          <p:nvPr/>
        </p:nvPicPr>
        <p:blipFill>
          <a:blip r:embed="rId1"/>
          <a:srcRect l="0" r="0" t="-400" b="-400"/>
          <a:stretch/>
        </p:blipFill>
        <p:spPr>
          <a:xfrm>
            <a:off x="0" y="0"/>
            <a:ext cx="18288000" cy="57607"/>
          </a:xfrm>
          <a:prstGeom prst="rect">
            <a:avLst/>
          </a:prstGeom>
        </p:spPr>
      </p:pic>
      <p:pic>
        <p:nvPicPr>
          <p:cNvPr id="4" name="Image 1" descr="gen-dedup-6ef2f382d46d5f775cbbac1e044faac9.png">    </p:cNvPr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761695" y="1638605"/>
            <a:ext cx="16763695" cy="9144"/>
          </a:xfrm>
          <a:prstGeom prst="rect">
            <a:avLst/>
          </a:prstGeom>
        </p:spPr>
      </p:pic>
      <p:pic>
        <p:nvPicPr>
          <p:cNvPr id="5" name="Image 2" descr="gen-dedup-15a880e8f657bb603fd0b045e90b8da5.png">    </p:cNvPr>
          <p:cNvPicPr>
            <a:picLocks noChangeAspect="1"/>
          </p:cNvPicPr>
          <p:nvPr/>
        </p:nvPicPr>
        <p:blipFill>
          <a:blip r:embed="rId3"/>
          <a:srcRect l="-424" r="-424" t="0" b="0"/>
          <a:stretch/>
        </p:blipFill>
        <p:spPr>
          <a:xfrm>
            <a:off x="761695" y="1790395"/>
            <a:ext cx="57607" cy="323698"/>
          </a:xfrm>
          <a:prstGeom prst="rect">
            <a:avLst/>
          </a:prstGeom>
        </p:spPr>
      </p:pic>
      <p:sp>
        <p:nvSpPr>
          <p:cNvPr id="6" name="Shape 0"/>
          <p:cNvSpPr/>
          <p:nvPr/>
        </p:nvSpPr>
        <p:spPr>
          <a:xfrm>
            <a:off x="761695" y="2286000"/>
            <a:ext cx="10477195" cy="571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1"/>
          <p:cNvSpPr/>
          <p:nvPr/>
        </p:nvSpPr>
        <p:spPr>
          <a:xfrm>
            <a:off x="11620195" y="2286000"/>
            <a:ext cx="5905195" cy="571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2"/>
          <p:cNvSpPr/>
          <p:nvPr/>
        </p:nvSpPr>
        <p:spPr>
          <a:xfrm>
            <a:off x="12001500" y="3143707"/>
            <a:ext cx="5143500" cy="3238805"/>
          </a:xfrm>
          <a:prstGeom prst="rect">
            <a:avLst/>
          </a:prstGeom>
          <a:solidFill>
            <a:srgbClr val="F4F6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3"/>
          <p:cNvSpPr/>
          <p:nvPr/>
        </p:nvSpPr>
        <p:spPr>
          <a:xfrm>
            <a:off x="761695" y="8153705"/>
            <a:ext cx="16763695" cy="70500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4"/>
          <p:cNvSpPr/>
          <p:nvPr/>
        </p:nvSpPr>
        <p:spPr>
          <a:xfrm>
            <a:off x="761695" y="9010498"/>
            <a:ext cx="16763695" cy="400507"/>
          </a:xfrm>
          <a:prstGeom prst="rect">
            <a:avLst/>
          </a:prstGeom>
          <a:solidFill>
            <a:srgbClr val="0E1F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1" name="Image 3" descr="gen-dedup-6ef2f382d46d5f775cbbac1e044faac9.png">    </p:cNvPr>
          <p:cNvPicPr>
            <a:picLocks noChangeAspect="1"/>
          </p:cNvPicPr>
          <p:nvPr/>
        </p:nvPicPr>
        <p:blipFill>
          <a:blip r:embed="rId4"/>
          <a:srcRect l="-2083" r="-2083" t="0" b="0"/>
          <a:stretch/>
        </p:blipFill>
        <p:spPr>
          <a:xfrm>
            <a:off x="761695" y="9715500"/>
            <a:ext cx="16763695" cy="9144"/>
          </a:xfrm>
          <a:prstGeom prst="rect">
            <a:avLst/>
          </a:prstGeom>
        </p:spPr>
      </p:pic>
      <p:sp>
        <p:nvSpPr>
          <p:cNvPr id="12" name="Shape 5"/>
          <p:cNvSpPr/>
          <p:nvPr/>
        </p:nvSpPr>
        <p:spPr>
          <a:xfrm>
            <a:off x="761695" y="2286000"/>
            <a:ext cx="10477195" cy="342900"/>
          </a:xfrm>
          <a:prstGeom prst="rect">
            <a:avLst/>
          </a:prstGeom>
          <a:solidFill>
            <a:srgbClr val="0E1F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3" name="Image 4" descr="gen-dedup-73ae536225137491d770b9b5c47d863e.png">    </p:cNvPr>
          <p:cNvPicPr>
            <a:picLocks noChangeAspect="1"/>
          </p:cNvPicPr>
          <p:nvPr/>
        </p:nvPicPr>
        <p:blipFill>
          <a:blip r:embed="rId5"/>
          <a:srcRect l="-2083" r="-2083" t="0" b="0"/>
          <a:stretch/>
        </p:blipFill>
        <p:spPr>
          <a:xfrm>
            <a:off x="761695" y="3504895"/>
            <a:ext cx="10477195" cy="9144"/>
          </a:xfrm>
          <a:prstGeom prst="rect">
            <a:avLst/>
          </a:prstGeom>
        </p:spPr>
      </p:pic>
      <p:pic>
        <p:nvPicPr>
          <p:cNvPr id="14" name="Image 5" descr="gen-dedup-73ae536225137491d770b9b5c47d863e.png">    </p:cNvPr>
          <p:cNvPicPr>
            <a:picLocks noChangeAspect="1"/>
          </p:cNvPicPr>
          <p:nvPr/>
        </p:nvPicPr>
        <p:blipFill>
          <a:blip r:embed="rId6"/>
          <a:srcRect l="-2083" r="-2083" t="0" b="0"/>
          <a:stretch/>
        </p:blipFill>
        <p:spPr>
          <a:xfrm>
            <a:off x="761695" y="3924605"/>
            <a:ext cx="10477195" cy="9144"/>
          </a:xfrm>
          <a:prstGeom prst="rect">
            <a:avLst/>
          </a:prstGeom>
        </p:spPr>
      </p:pic>
      <p:pic>
        <p:nvPicPr>
          <p:cNvPr id="15" name="Image 6" descr="gen-dedup-73ae536225137491d770b9b5c47d863e.png">    </p:cNvPr>
          <p:cNvPicPr>
            <a:picLocks noChangeAspect="1"/>
          </p:cNvPicPr>
          <p:nvPr/>
        </p:nvPicPr>
        <p:blipFill>
          <a:blip r:embed="rId7"/>
          <a:srcRect l="-2083" r="-2083" t="0" b="0"/>
          <a:stretch/>
        </p:blipFill>
        <p:spPr>
          <a:xfrm>
            <a:off x="761695" y="4343400"/>
            <a:ext cx="10477195" cy="9144"/>
          </a:xfrm>
          <a:prstGeom prst="rect">
            <a:avLst/>
          </a:prstGeom>
        </p:spPr>
      </p:pic>
      <p:pic>
        <p:nvPicPr>
          <p:cNvPr id="16" name="Image 7" descr="gen-dedup-73ae536225137491d770b9b5c47d863e.png">    </p:cNvPr>
          <p:cNvPicPr>
            <a:picLocks noChangeAspect="1"/>
          </p:cNvPicPr>
          <p:nvPr/>
        </p:nvPicPr>
        <p:blipFill>
          <a:blip r:embed="rId8"/>
          <a:srcRect l="-2083" r="-2083" t="0" b="0"/>
          <a:stretch/>
        </p:blipFill>
        <p:spPr>
          <a:xfrm>
            <a:off x="761695" y="4762195"/>
            <a:ext cx="10477195" cy="9144"/>
          </a:xfrm>
          <a:prstGeom prst="rect">
            <a:avLst/>
          </a:prstGeom>
        </p:spPr>
      </p:pic>
      <p:pic>
        <p:nvPicPr>
          <p:cNvPr id="17" name="Image 8" descr="gen-dedup-73ae536225137491d770b9b5c47d863e.png">    </p:cNvPr>
          <p:cNvPicPr>
            <a:picLocks noChangeAspect="1"/>
          </p:cNvPicPr>
          <p:nvPr/>
        </p:nvPicPr>
        <p:blipFill>
          <a:blip r:embed="rId9"/>
          <a:srcRect l="-2083" r="-2083" t="0" b="0"/>
          <a:stretch/>
        </p:blipFill>
        <p:spPr>
          <a:xfrm>
            <a:off x="761695" y="5181905"/>
            <a:ext cx="10477195" cy="9144"/>
          </a:xfrm>
          <a:prstGeom prst="rect">
            <a:avLst/>
          </a:prstGeom>
        </p:spPr>
      </p:pic>
      <p:pic>
        <p:nvPicPr>
          <p:cNvPr id="18" name="Image 9" descr="gen-dedup-73ae536225137491d770b9b5c47d863e.png">    </p:cNvPr>
          <p:cNvPicPr>
            <a:picLocks noChangeAspect="1"/>
          </p:cNvPicPr>
          <p:nvPr/>
        </p:nvPicPr>
        <p:blipFill>
          <a:blip r:embed="rId10"/>
          <a:srcRect l="-2083" r="-2083" t="0" b="0"/>
          <a:stretch/>
        </p:blipFill>
        <p:spPr>
          <a:xfrm>
            <a:off x="761695" y="5600700"/>
            <a:ext cx="10477195" cy="9144"/>
          </a:xfrm>
          <a:prstGeom prst="rect">
            <a:avLst/>
          </a:prstGeom>
        </p:spPr>
      </p:pic>
      <p:pic>
        <p:nvPicPr>
          <p:cNvPr id="19" name="Image 10" descr="gen-dedup-73ae536225137491d770b9b5c47d863e.png">    </p:cNvPr>
          <p:cNvPicPr>
            <a:picLocks noChangeAspect="1"/>
          </p:cNvPicPr>
          <p:nvPr/>
        </p:nvPicPr>
        <p:blipFill>
          <a:blip r:embed="rId11"/>
          <a:srcRect l="-2083" r="-2083" t="0" b="0"/>
          <a:stretch/>
        </p:blipFill>
        <p:spPr>
          <a:xfrm>
            <a:off x="761695" y="6019495"/>
            <a:ext cx="10477195" cy="9144"/>
          </a:xfrm>
          <a:prstGeom prst="rect">
            <a:avLst/>
          </a:prstGeom>
        </p:spPr>
      </p:pic>
      <p:sp>
        <p:nvSpPr>
          <p:cNvPr id="20" name="Shape 6"/>
          <p:cNvSpPr/>
          <p:nvPr/>
        </p:nvSpPr>
        <p:spPr>
          <a:xfrm>
            <a:off x="11620195" y="2286000"/>
            <a:ext cx="5905195" cy="381305"/>
          </a:xfrm>
          <a:prstGeom prst="rect">
            <a:avLst/>
          </a:prstGeom>
          <a:solidFill>
            <a:srgbClr val="0E1F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1" name="Image 11" descr="gen-dedup-3d866f28a3190af5ff10d6787336fb23.png">    </p:cNvPr>
          <p:cNvPicPr>
            <a:picLocks noChangeAspect="1"/>
          </p:cNvPicPr>
          <p:nvPr/>
        </p:nvPicPr>
        <p:blipFill>
          <a:blip r:embed="rId12"/>
          <a:srcRect l="0" r="0" t="-2089" b="-2089"/>
          <a:stretch/>
        </p:blipFill>
        <p:spPr>
          <a:xfrm>
            <a:off x="12382805" y="3143707"/>
            <a:ext cx="9144" cy="3238805"/>
          </a:xfrm>
          <a:prstGeom prst="rect">
            <a:avLst/>
          </a:prstGeom>
        </p:spPr>
      </p:pic>
      <p:pic>
        <p:nvPicPr>
          <p:cNvPr id="22" name="Image 12" descr="gen-dedup-3d866f28a3190af5ff10d6787336fb23.png">    </p:cNvPr>
          <p:cNvPicPr>
            <a:picLocks noChangeAspect="1"/>
          </p:cNvPicPr>
          <p:nvPr/>
        </p:nvPicPr>
        <p:blipFill>
          <a:blip r:embed="rId13"/>
          <a:srcRect l="0" r="0" t="-2089" b="-2089"/>
          <a:stretch/>
        </p:blipFill>
        <p:spPr>
          <a:xfrm>
            <a:off x="13334695" y="3143707"/>
            <a:ext cx="9144" cy="3238805"/>
          </a:xfrm>
          <a:prstGeom prst="rect">
            <a:avLst/>
          </a:prstGeom>
        </p:spPr>
      </p:pic>
      <p:pic>
        <p:nvPicPr>
          <p:cNvPr id="23" name="Image 13" descr="gen-dedup-3d866f28a3190af5ff10d6787336fb23.png">    </p:cNvPr>
          <p:cNvPicPr>
            <a:picLocks noChangeAspect="1"/>
          </p:cNvPicPr>
          <p:nvPr/>
        </p:nvPicPr>
        <p:blipFill>
          <a:blip r:embed="rId14"/>
          <a:srcRect l="0" r="0" t="-2089" b="-2089"/>
          <a:stretch/>
        </p:blipFill>
        <p:spPr>
          <a:xfrm>
            <a:off x="15240305" y="3143707"/>
            <a:ext cx="9144" cy="3238805"/>
          </a:xfrm>
          <a:prstGeom prst="rect">
            <a:avLst/>
          </a:prstGeom>
        </p:spPr>
      </p:pic>
      <p:pic>
        <p:nvPicPr>
          <p:cNvPr id="24" name="Image 14" descr="gen-dedup-3d866f28a3190af5ff10d6787336fb23.png">    </p:cNvPr>
          <p:cNvPicPr>
            <a:picLocks noChangeAspect="1"/>
          </p:cNvPicPr>
          <p:nvPr/>
        </p:nvPicPr>
        <p:blipFill>
          <a:blip r:embed="rId15"/>
          <a:srcRect l="0" r="0" t="-2089" b="-2089"/>
          <a:stretch/>
        </p:blipFill>
        <p:spPr>
          <a:xfrm>
            <a:off x="16192195" y="3143707"/>
            <a:ext cx="9144" cy="3238805"/>
          </a:xfrm>
          <a:prstGeom prst="rect">
            <a:avLst/>
          </a:prstGeom>
        </p:spPr>
      </p:pic>
      <p:pic>
        <p:nvPicPr>
          <p:cNvPr id="25" name="Image 15" descr="gen-dedup-a82cc1b2b4d998ebc4878e13e545ca99.png">    </p:cNvPr>
          <p:cNvPicPr>
            <a:picLocks noChangeAspect="1"/>
          </p:cNvPicPr>
          <p:nvPr/>
        </p:nvPicPr>
        <p:blipFill>
          <a:blip r:embed="rId16"/>
          <a:srcRect l="-2078" r="-2078" t="0" b="0"/>
          <a:stretch/>
        </p:blipFill>
        <p:spPr>
          <a:xfrm>
            <a:off x="12382805" y="3952951"/>
            <a:ext cx="4762195" cy="9144"/>
          </a:xfrm>
          <a:prstGeom prst="rect">
            <a:avLst/>
          </a:prstGeom>
        </p:spPr>
      </p:pic>
      <p:pic>
        <p:nvPicPr>
          <p:cNvPr id="26" name="Image 16" descr="gen-dedup-a82cc1b2b4d998ebc4878e13e545ca99.png">    </p:cNvPr>
          <p:cNvPicPr>
            <a:picLocks noChangeAspect="1"/>
          </p:cNvPicPr>
          <p:nvPr/>
        </p:nvPicPr>
        <p:blipFill>
          <a:blip r:embed="rId17"/>
          <a:srcRect l="-2078" r="-2078" t="0" b="0"/>
          <a:stretch/>
        </p:blipFill>
        <p:spPr>
          <a:xfrm>
            <a:off x="12382805" y="4762195"/>
            <a:ext cx="4762195" cy="9144"/>
          </a:xfrm>
          <a:prstGeom prst="rect">
            <a:avLst/>
          </a:prstGeom>
        </p:spPr>
      </p:pic>
      <p:pic>
        <p:nvPicPr>
          <p:cNvPr id="27" name="Image 17" descr="gen-dedup-a82cc1b2b4d998ebc4878e13e545ca99.png">    </p:cNvPr>
          <p:cNvPicPr>
            <a:picLocks noChangeAspect="1"/>
          </p:cNvPicPr>
          <p:nvPr/>
        </p:nvPicPr>
        <p:blipFill>
          <a:blip r:embed="rId18"/>
          <a:srcRect l="-2078" r="-2078" t="0" b="0"/>
          <a:stretch/>
        </p:blipFill>
        <p:spPr>
          <a:xfrm>
            <a:off x="12382805" y="5572354"/>
            <a:ext cx="4762195" cy="9144"/>
          </a:xfrm>
          <a:prstGeom prst="rect">
            <a:avLst/>
          </a:prstGeom>
        </p:spPr>
      </p:pic>
      <p:pic>
        <p:nvPicPr>
          <p:cNvPr id="28" name="Image 18" descr="gen-dedup-e5f6a34b87e3cc4dbb46d52368fa25fc.png">    </p:cNvPr>
          <p:cNvPicPr>
            <a:picLocks noChangeAspect="1"/>
          </p:cNvPicPr>
          <p:nvPr/>
        </p:nvPicPr>
        <p:blipFill>
          <a:blip r:embed="rId19"/>
          <a:srcRect l="-2089" r="-2089" t="0" b="0"/>
          <a:stretch/>
        </p:blipFill>
        <p:spPr>
          <a:xfrm>
            <a:off x="11811305" y="7429500"/>
            <a:ext cx="5524805" cy="9144"/>
          </a:xfrm>
          <a:prstGeom prst="rect">
            <a:avLst/>
          </a:prstGeom>
        </p:spPr>
      </p:pic>
      <p:sp>
        <p:nvSpPr>
          <p:cNvPr id="29" name="Shape 7"/>
          <p:cNvSpPr/>
          <p:nvPr/>
        </p:nvSpPr>
        <p:spPr>
          <a:xfrm>
            <a:off x="11811305" y="7524598"/>
            <a:ext cx="5524805" cy="381305"/>
          </a:xfrm>
          <a:prstGeom prst="rect">
            <a:avLst/>
          </a:prstGeom>
          <a:solidFill>
            <a:srgbClr val="0E1F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8"/>
          <p:cNvSpPr/>
          <p:nvPr/>
        </p:nvSpPr>
        <p:spPr>
          <a:xfrm>
            <a:off x="761695" y="8153705"/>
            <a:ext cx="16763695" cy="304495"/>
          </a:xfrm>
          <a:prstGeom prst="rect">
            <a:avLst/>
          </a:prstGeom>
          <a:solidFill>
            <a:srgbClr val="F4F6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9"/>
          <p:cNvSpPr/>
          <p:nvPr/>
        </p:nvSpPr>
        <p:spPr>
          <a:xfrm>
            <a:off x="914400" y="8496605"/>
            <a:ext cx="3619195" cy="323698"/>
          </a:xfrm>
          <a:prstGeom prst="rect">
            <a:avLst/>
          </a:prstGeom>
          <a:solidFill>
            <a:srgbClr val="F4F6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10"/>
          <p:cNvSpPr/>
          <p:nvPr/>
        </p:nvSpPr>
        <p:spPr>
          <a:xfrm>
            <a:off x="4724705" y="8496605"/>
            <a:ext cx="3619195" cy="323698"/>
          </a:xfrm>
          <a:prstGeom prst="rect">
            <a:avLst/>
          </a:prstGeom>
          <a:solidFill>
            <a:srgbClr val="F4F6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11"/>
          <p:cNvSpPr/>
          <p:nvPr/>
        </p:nvSpPr>
        <p:spPr>
          <a:xfrm>
            <a:off x="8534095" y="8496605"/>
            <a:ext cx="3619195" cy="323698"/>
          </a:xfrm>
          <a:prstGeom prst="rect">
            <a:avLst/>
          </a:prstGeom>
          <a:solidFill>
            <a:srgbClr val="F4F6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12"/>
          <p:cNvSpPr/>
          <p:nvPr/>
        </p:nvSpPr>
        <p:spPr>
          <a:xfrm>
            <a:off x="12344400" y="8496605"/>
            <a:ext cx="4419295" cy="323698"/>
          </a:xfrm>
          <a:prstGeom prst="rect">
            <a:avLst/>
          </a:prstGeom>
          <a:solidFill>
            <a:srgbClr val="F4F6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5" name="Image 19" descr="gen-dedup-f8ddcf4a569d605420b2cdf3d7aabeec.png">    </p:cNvPr>
          <p:cNvPicPr>
            <a:picLocks noChangeAspect="1"/>
          </p:cNvPicPr>
          <p:nvPr/>
        </p:nvPicPr>
        <p:blipFill>
          <a:blip r:embed="rId20"/>
          <a:srcRect l="-342" r="-342" t="0" b="0"/>
          <a:stretch/>
        </p:blipFill>
        <p:spPr>
          <a:xfrm>
            <a:off x="761695" y="9010498"/>
            <a:ext cx="57607" cy="400507"/>
          </a:xfrm>
          <a:prstGeom prst="rect">
            <a:avLst/>
          </a:prstGeom>
        </p:spPr>
      </p:pic>
      <p:pic>
        <p:nvPicPr>
          <p:cNvPr id="36" name="Image 20" descr="gen-dedup-c58e2c8a1ac43402c4c961552e89ec44.png">    </p:cNvPr>
          <p:cNvPicPr>
            <a:picLocks noChangeAspect="1"/>
          </p:cNvPicPr>
          <p:nvPr/>
        </p:nvPicPr>
        <p:blipFill>
          <a:blip r:embed="rId21"/>
          <a:srcRect l="-2078" r="-2078" t="0" b="0"/>
          <a:stretch/>
        </p:blipFill>
        <p:spPr>
          <a:xfrm>
            <a:off x="12382805" y="3143707"/>
            <a:ext cx="4762195" cy="9144"/>
          </a:xfrm>
          <a:prstGeom prst="rect">
            <a:avLst/>
          </a:prstGeom>
        </p:spPr>
      </p:pic>
      <p:pic>
        <p:nvPicPr>
          <p:cNvPr id="37" name="Image 21" descr="gen-dedup-c58e2c8a1ac43402c4c961552e89ec44.png">    </p:cNvPr>
          <p:cNvPicPr>
            <a:picLocks noChangeAspect="1"/>
          </p:cNvPicPr>
          <p:nvPr/>
        </p:nvPicPr>
        <p:blipFill>
          <a:blip r:embed="rId22"/>
          <a:srcRect l="-2078" r="-2078" t="0" b="0"/>
          <a:stretch/>
        </p:blipFill>
        <p:spPr>
          <a:xfrm>
            <a:off x="12382805" y="6381598"/>
            <a:ext cx="4762195" cy="9144"/>
          </a:xfrm>
          <a:prstGeom prst="rect">
            <a:avLst/>
          </a:prstGeom>
        </p:spPr>
      </p:pic>
      <p:pic>
        <p:nvPicPr>
          <p:cNvPr id="38" name="Image 22" descr="gen-dedup-11d0b3e5fa6c8572e9c4a250eecaf68b.png">    </p:cNvPr>
          <p:cNvPicPr>
            <a:picLocks noChangeAspect="1"/>
          </p:cNvPicPr>
          <p:nvPr/>
        </p:nvPicPr>
        <p:blipFill>
          <a:blip r:embed="rId23">
            <a:alphaModFix amt="60000"/>
          </a:blip>
          <a:srcRect l="0" r="0" t="-2089" b="-2089"/>
          <a:stretch/>
        </p:blipFill>
        <p:spPr>
          <a:xfrm>
            <a:off x="14268298" y="3143707"/>
            <a:ext cx="9144" cy="3238805"/>
          </a:xfrm>
          <a:prstGeom prst="rect">
            <a:avLst/>
          </a:prstGeom>
        </p:spPr>
      </p:pic>
      <p:pic>
        <p:nvPicPr>
          <p:cNvPr id="39" name="Image 23" descr="gen-dedup-fc6414e5a52de9962485cffa78a755b1.png">    </p:cNvPr>
          <p:cNvPicPr>
            <a:picLocks noChangeAspect="1"/>
          </p:cNvPicPr>
          <p:nvPr/>
        </p:nvPicPr>
        <p:blipFill>
          <a:blip r:embed="rId24"/>
          <a:srcRect l="0" r="0" t="-8" b="-8"/>
          <a:stretch/>
        </p:blipFill>
        <p:spPr>
          <a:xfrm>
            <a:off x="12382805" y="3143707"/>
            <a:ext cx="4762195" cy="3238805"/>
          </a:xfrm>
          <a:prstGeom prst="rect">
            <a:avLst/>
          </a:prstGeom>
        </p:spPr>
      </p:pic>
      <p:sp>
        <p:nvSpPr>
          <p:cNvPr id="40" name="Text 13"/>
          <p:cNvSpPr txBox="1"/>
          <p:nvPr/>
        </p:nvSpPr>
        <p:spPr>
          <a:xfrm>
            <a:off x="761695" y="400507"/>
            <a:ext cx="1334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DOC //</a:t>
            </a:r>
            <a:endParaRPr lang="en-US" sz="1050" dirty="0"/>
          </a:p>
        </p:txBody>
      </p:sp>
      <p:sp>
        <p:nvSpPr>
          <p:cNvPr id="41" name="Text 14"/>
          <p:cNvSpPr txBox="1"/>
          <p:nvPr/>
        </p:nvSpPr>
        <p:spPr>
          <a:xfrm>
            <a:off x="761695" y="629107"/>
            <a:ext cx="13341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63" kern="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EV-BEOL-BLV-018</a:t>
            </a:r>
            <a:endParaRPr lang="en-US" sz="1050" dirty="0"/>
          </a:p>
        </p:txBody>
      </p:sp>
      <p:sp>
        <p:nvSpPr>
          <p:cNvPr id="42" name="Text 15"/>
          <p:cNvSpPr txBox="1"/>
          <p:nvPr/>
        </p:nvSpPr>
        <p:spPr>
          <a:xfrm>
            <a:off x="761695" y="857707"/>
            <a:ext cx="14287500" cy="5815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0E1F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전기 특성 · </a:t>
            </a:r>
            <a:pPr algn="l" indent="0" marL="0">
              <a:buNone/>
            </a:pPr>
            <a:r>
              <a:rPr lang="en-US" sz="3150" b="1" dirty="0">
                <a:solidFill>
                  <a:srgbClr val="1F53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Rs / Rc &amp; 누적분포</a:t>
            </a:r>
            <a:endParaRPr lang="en-US" sz="3150" dirty="0"/>
          </a:p>
        </p:txBody>
      </p:sp>
      <p:sp>
        <p:nvSpPr>
          <p:cNvPr id="43" name="Text 16"/>
          <p:cNvSpPr txBox="1"/>
          <p:nvPr/>
        </p:nvSpPr>
        <p:spPr>
          <a:xfrm>
            <a:off x="761695" y="1514246"/>
            <a:ext cx="142875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25" dirty="0">
                <a:solidFill>
                  <a:srgbClr val="4D566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Line Rs (Ω/sq) · Via Rc (Ω/via) · 8×8 = 64 site per wafer · W-plug Kelvin + 4-point</a:t>
            </a:r>
            <a:endParaRPr lang="en-US" sz="1425" dirty="0"/>
          </a:p>
        </p:txBody>
      </p:sp>
      <p:sp>
        <p:nvSpPr>
          <p:cNvPr id="44" name="Text 17"/>
          <p:cNvSpPr txBox="1"/>
          <p:nvPr/>
        </p:nvSpPr>
        <p:spPr>
          <a:xfrm>
            <a:off x="15430500" y="400507"/>
            <a:ext cx="20958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spc="98" kern="0" dirty="0">
                <a:solidFill>
                  <a:srgbClr val="5A62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 0.6 · INTERNAL</a:t>
            </a:r>
            <a:endParaRPr lang="en-US" sz="975" dirty="0"/>
          </a:p>
        </p:txBody>
      </p:sp>
      <p:sp>
        <p:nvSpPr>
          <p:cNvPr id="45" name="Text 18"/>
          <p:cNvSpPr txBox="1"/>
          <p:nvPr/>
        </p:nvSpPr>
        <p:spPr>
          <a:xfrm>
            <a:off x="15430500" y="599846"/>
            <a:ext cx="20958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dirty="0">
                <a:solidFill>
                  <a:srgbClr val="5A62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2026-10-03</a:t>
            </a:r>
            <a:endParaRPr lang="en-US" sz="975" dirty="0"/>
          </a:p>
        </p:txBody>
      </p:sp>
      <p:sp>
        <p:nvSpPr>
          <p:cNvPr id="46" name="Text 19"/>
          <p:cNvSpPr txBox="1"/>
          <p:nvPr/>
        </p:nvSpPr>
        <p:spPr>
          <a:xfrm>
            <a:off x="914400" y="1790395"/>
            <a:ext cx="123828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spc="168" kern="0" dirty="0">
                <a:solidFill>
                  <a:srgbClr val="1F53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§ 01 / 11 · ELECTRICAL</a:t>
            </a:r>
            <a:endParaRPr lang="en-US" sz="1050" dirty="0"/>
          </a:p>
        </p:txBody>
      </p:sp>
      <p:sp>
        <p:nvSpPr>
          <p:cNvPr id="47" name="Text 20"/>
          <p:cNvSpPr txBox="1"/>
          <p:nvPr/>
        </p:nvSpPr>
        <p:spPr>
          <a:xfrm>
            <a:off x="914400" y="2000707"/>
            <a:ext cx="1238280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dummy 누적분포 plot은 Rc Ω/via · 4 wafer comparison · 아래 strip은 Line Rs 분포 min·max·P50.</a:t>
            </a:r>
            <a:endParaRPr lang="en-US" sz="975" dirty="0"/>
          </a:p>
        </p:txBody>
      </p:sp>
      <p:sp>
        <p:nvSpPr>
          <p:cNvPr id="48" name="Text 21"/>
          <p:cNvSpPr txBox="1"/>
          <p:nvPr/>
        </p:nvSpPr>
        <p:spPr>
          <a:xfrm>
            <a:off x="914400" y="2361895"/>
            <a:ext cx="85725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68" kern="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Rs (Ω/sq) · Rc (Ω/via) · 8 row wafer × layer</a:t>
            </a:r>
            <a:endParaRPr lang="en-US" sz="1050" dirty="0"/>
          </a:p>
        </p:txBody>
      </p:sp>
      <p:sp>
        <p:nvSpPr>
          <p:cNvPr id="49" name="Text 22"/>
          <p:cNvSpPr txBox="1"/>
          <p:nvPr/>
        </p:nvSpPr>
        <p:spPr>
          <a:xfrm>
            <a:off x="9486900" y="2361895"/>
            <a:ext cx="15243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dirty="0">
                <a:solidFill>
                  <a:srgbClr val="B858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 = 256 per wafer</a:t>
            </a:r>
            <a:endParaRPr lang="en-US" sz="975" dirty="0"/>
          </a:p>
        </p:txBody>
      </p:sp>
      <p:sp>
        <p:nvSpPr>
          <p:cNvPr id="50" name="Text 23"/>
          <p:cNvSpPr txBox="1"/>
          <p:nvPr/>
        </p:nvSpPr>
        <p:spPr>
          <a:xfrm>
            <a:off x="914400" y="2819095"/>
            <a:ext cx="1143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E1F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split</a:t>
            </a:r>
            <a:endParaRPr lang="en-US" sz="1050" dirty="0"/>
          </a:p>
        </p:txBody>
      </p:sp>
      <p:sp>
        <p:nvSpPr>
          <p:cNvPr id="51" name="Text 24"/>
          <p:cNvSpPr txBox="1"/>
          <p:nvPr/>
        </p:nvSpPr>
        <p:spPr>
          <a:xfrm>
            <a:off x="2057400" y="2819095"/>
            <a:ext cx="1143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E1F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layer</a:t>
            </a:r>
            <a:endParaRPr lang="en-US" sz="1050" dirty="0"/>
          </a:p>
        </p:txBody>
      </p:sp>
      <p:sp>
        <p:nvSpPr>
          <p:cNvPr id="52" name="Text 25"/>
          <p:cNvSpPr txBox="1"/>
          <p:nvPr/>
        </p:nvSpPr>
        <p:spPr>
          <a:xfrm>
            <a:off x="3200400" y="2819095"/>
            <a:ext cx="1334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Rs median</a:t>
            </a:r>
            <a:endParaRPr lang="en-US" sz="1050" dirty="0"/>
          </a:p>
        </p:txBody>
      </p:sp>
      <p:sp>
        <p:nvSpPr>
          <p:cNvPr id="53" name="Text 26"/>
          <p:cNvSpPr txBox="1"/>
          <p:nvPr/>
        </p:nvSpPr>
        <p:spPr>
          <a:xfrm>
            <a:off x="4533595" y="2819095"/>
            <a:ext cx="1143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Rs 3σ</a:t>
            </a:r>
            <a:endParaRPr lang="en-US" sz="1050" dirty="0"/>
          </a:p>
        </p:txBody>
      </p:sp>
      <p:sp>
        <p:nvSpPr>
          <p:cNvPr id="54" name="Text 27"/>
          <p:cNvSpPr txBox="1"/>
          <p:nvPr/>
        </p:nvSpPr>
        <p:spPr>
          <a:xfrm>
            <a:off x="5676595" y="2819095"/>
            <a:ext cx="15243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Rc median</a:t>
            </a:r>
            <a:endParaRPr lang="en-US" sz="1050" dirty="0"/>
          </a:p>
        </p:txBody>
      </p:sp>
      <p:sp>
        <p:nvSpPr>
          <p:cNvPr id="55" name="Text 28"/>
          <p:cNvSpPr txBox="1"/>
          <p:nvPr/>
        </p:nvSpPr>
        <p:spPr>
          <a:xfrm>
            <a:off x="7200900" y="2819095"/>
            <a:ext cx="1143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Rc 3σ</a:t>
            </a:r>
            <a:endParaRPr lang="en-US" sz="1050" dirty="0"/>
          </a:p>
        </p:txBody>
      </p:sp>
      <p:sp>
        <p:nvSpPr>
          <p:cNvPr id="56" name="Text 29"/>
          <p:cNvSpPr txBox="1"/>
          <p:nvPr/>
        </p:nvSpPr>
        <p:spPr>
          <a:xfrm>
            <a:off x="8343900" y="2819095"/>
            <a:ext cx="1334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E1F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verdict</a:t>
            </a:r>
            <a:endParaRPr lang="en-US" sz="1050" dirty="0"/>
          </a:p>
        </p:txBody>
      </p:sp>
      <p:sp>
        <p:nvSpPr>
          <p:cNvPr id="57" name="Text 30"/>
          <p:cNvSpPr txBox="1"/>
          <p:nvPr/>
        </p:nvSpPr>
        <p:spPr>
          <a:xfrm>
            <a:off x="9677095" y="2819095"/>
            <a:ext cx="15243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 (8×8)</a:t>
            </a:r>
            <a:endParaRPr lang="en-US" sz="1050" dirty="0"/>
          </a:p>
        </p:txBody>
      </p:sp>
      <p:sp>
        <p:nvSpPr>
          <p:cNvPr id="58" name="Text 31"/>
          <p:cNvSpPr txBox="1"/>
          <p:nvPr/>
        </p:nvSpPr>
        <p:spPr>
          <a:xfrm>
            <a:off x="914400" y="3200400"/>
            <a:ext cx="1143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5461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W01</a:t>
            </a:r>
            <a:endParaRPr lang="en-US" sz="1350" dirty="0"/>
          </a:p>
        </p:txBody>
      </p:sp>
      <p:sp>
        <p:nvSpPr>
          <p:cNvPr id="59" name="Text 32"/>
          <p:cNvSpPr txBox="1"/>
          <p:nvPr/>
        </p:nvSpPr>
        <p:spPr>
          <a:xfrm>
            <a:off x="2057400" y="3219602"/>
            <a:ext cx="1143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V1</a:t>
            </a:r>
            <a:endParaRPr lang="en-US" sz="1200" dirty="0"/>
          </a:p>
        </p:txBody>
      </p:sp>
      <p:sp>
        <p:nvSpPr>
          <p:cNvPr id="60" name="Text 33"/>
          <p:cNvSpPr txBox="1"/>
          <p:nvPr/>
        </p:nvSpPr>
        <p:spPr>
          <a:xfrm>
            <a:off x="3200400" y="3181198"/>
            <a:ext cx="13341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0.30</a:t>
            </a:r>
            <a:endParaRPr lang="en-US" sz="1350" dirty="0"/>
          </a:p>
        </p:txBody>
      </p:sp>
      <p:sp>
        <p:nvSpPr>
          <p:cNvPr id="61" name="Text 34"/>
          <p:cNvSpPr txBox="1"/>
          <p:nvPr/>
        </p:nvSpPr>
        <p:spPr>
          <a:xfrm>
            <a:off x="4533595" y="3181198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0.04</a:t>
            </a:r>
            <a:endParaRPr lang="en-US" sz="1350" dirty="0"/>
          </a:p>
        </p:txBody>
      </p:sp>
      <p:sp>
        <p:nvSpPr>
          <p:cNvPr id="62" name="Text 35"/>
          <p:cNvSpPr txBox="1"/>
          <p:nvPr/>
        </p:nvSpPr>
        <p:spPr>
          <a:xfrm>
            <a:off x="5676595" y="3181198"/>
            <a:ext cx="15243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5.2</a:t>
            </a:r>
            <a:endParaRPr lang="en-US" sz="1350" dirty="0"/>
          </a:p>
        </p:txBody>
      </p:sp>
      <p:sp>
        <p:nvSpPr>
          <p:cNvPr id="63" name="Text 36"/>
          <p:cNvSpPr txBox="1"/>
          <p:nvPr/>
        </p:nvSpPr>
        <p:spPr>
          <a:xfrm>
            <a:off x="7200900" y="3181198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1.4</a:t>
            </a:r>
            <a:endParaRPr lang="en-US" sz="1350" dirty="0"/>
          </a:p>
        </p:txBody>
      </p:sp>
      <p:sp>
        <p:nvSpPr>
          <p:cNvPr id="64" name="Text 37"/>
          <p:cNvSpPr txBox="1"/>
          <p:nvPr/>
        </p:nvSpPr>
        <p:spPr>
          <a:xfrm>
            <a:off x="8343900" y="3181198"/>
            <a:ext cx="1334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4616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baseline</a:t>
            </a:r>
            <a:endParaRPr lang="en-US" sz="1200" dirty="0"/>
          </a:p>
        </p:txBody>
      </p:sp>
      <p:sp>
        <p:nvSpPr>
          <p:cNvPr id="65" name="Text 38"/>
          <p:cNvSpPr txBox="1"/>
          <p:nvPr/>
        </p:nvSpPr>
        <p:spPr>
          <a:xfrm>
            <a:off x="9677095" y="3181198"/>
            <a:ext cx="15243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64</a:t>
            </a:r>
            <a:endParaRPr lang="en-US" sz="1200" dirty="0"/>
          </a:p>
        </p:txBody>
      </p:sp>
      <p:sp>
        <p:nvSpPr>
          <p:cNvPr id="66" name="Text 39"/>
          <p:cNvSpPr txBox="1"/>
          <p:nvPr/>
        </p:nvSpPr>
        <p:spPr>
          <a:xfrm>
            <a:off x="914400" y="3619195"/>
            <a:ext cx="1143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5461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W01</a:t>
            </a:r>
            <a:endParaRPr lang="en-US" sz="1350" dirty="0"/>
          </a:p>
        </p:txBody>
      </p:sp>
      <p:sp>
        <p:nvSpPr>
          <p:cNvPr id="67" name="Text 40"/>
          <p:cNvSpPr txBox="1"/>
          <p:nvPr/>
        </p:nvSpPr>
        <p:spPr>
          <a:xfrm>
            <a:off x="2057400" y="3638398"/>
            <a:ext cx="1143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M2</a:t>
            </a:r>
            <a:endParaRPr lang="en-US" sz="1200" dirty="0"/>
          </a:p>
        </p:txBody>
      </p:sp>
      <p:sp>
        <p:nvSpPr>
          <p:cNvPr id="68" name="Text 41"/>
          <p:cNvSpPr txBox="1"/>
          <p:nvPr/>
        </p:nvSpPr>
        <p:spPr>
          <a:xfrm>
            <a:off x="3200400" y="3600907"/>
            <a:ext cx="13341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0.31</a:t>
            </a:r>
            <a:endParaRPr lang="en-US" sz="1350" dirty="0"/>
          </a:p>
        </p:txBody>
      </p:sp>
      <p:sp>
        <p:nvSpPr>
          <p:cNvPr id="69" name="Text 42"/>
          <p:cNvSpPr txBox="1"/>
          <p:nvPr/>
        </p:nvSpPr>
        <p:spPr>
          <a:xfrm>
            <a:off x="4533595" y="3600907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0.04</a:t>
            </a:r>
            <a:endParaRPr lang="en-US" sz="1350" dirty="0"/>
          </a:p>
        </p:txBody>
      </p:sp>
      <p:sp>
        <p:nvSpPr>
          <p:cNvPr id="70" name="Text 43"/>
          <p:cNvSpPr txBox="1"/>
          <p:nvPr/>
        </p:nvSpPr>
        <p:spPr>
          <a:xfrm>
            <a:off x="5676595" y="3600907"/>
            <a:ext cx="15243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5.3</a:t>
            </a:r>
            <a:endParaRPr lang="en-US" sz="1350" dirty="0"/>
          </a:p>
        </p:txBody>
      </p:sp>
      <p:sp>
        <p:nvSpPr>
          <p:cNvPr id="71" name="Text 44"/>
          <p:cNvSpPr txBox="1"/>
          <p:nvPr/>
        </p:nvSpPr>
        <p:spPr>
          <a:xfrm>
            <a:off x="7200900" y="3600907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1.5</a:t>
            </a:r>
            <a:endParaRPr lang="en-US" sz="1350" dirty="0"/>
          </a:p>
        </p:txBody>
      </p:sp>
      <p:sp>
        <p:nvSpPr>
          <p:cNvPr id="72" name="Text 45"/>
          <p:cNvSpPr txBox="1"/>
          <p:nvPr/>
        </p:nvSpPr>
        <p:spPr>
          <a:xfrm>
            <a:off x="8343900" y="3600907"/>
            <a:ext cx="1334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4616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baseline</a:t>
            </a:r>
            <a:endParaRPr lang="en-US" sz="1200" dirty="0"/>
          </a:p>
        </p:txBody>
      </p:sp>
      <p:sp>
        <p:nvSpPr>
          <p:cNvPr id="73" name="Text 46"/>
          <p:cNvSpPr txBox="1"/>
          <p:nvPr/>
        </p:nvSpPr>
        <p:spPr>
          <a:xfrm>
            <a:off x="9677095" y="3600907"/>
            <a:ext cx="15243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64</a:t>
            </a:r>
            <a:endParaRPr lang="en-US" sz="1200" dirty="0"/>
          </a:p>
        </p:txBody>
      </p:sp>
      <p:sp>
        <p:nvSpPr>
          <p:cNvPr id="74" name="Text 47"/>
          <p:cNvSpPr txBox="1"/>
          <p:nvPr/>
        </p:nvSpPr>
        <p:spPr>
          <a:xfrm>
            <a:off x="914400" y="4038905"/>
            <a:ext cx="1143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B858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W02</a:t>
            </a:r>
            <a:endParaRPr lang="en-US" sz="1350" dirty="0"/>
          </a:p>
        </p:txBody>
      </p:sp>
      <p:sp>
        <p:nvSpPr>
          <p:cNvPr id="75" name="Text 48"/>
          <p:cNvSpPr txBox="1"/>
          <p:nvPr/>
        </p:nvSpPr>
        <p:spPr>
          <a:xfrm>
            <a:off x="2057400" y="4058107"/>
            <a:ext cx="1143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V1</a:t>
            </a:r>
            <a:endParaRPr lang="en-US" sz="1200" dirty="0"/>
          </a:p>
        </p:txBody>
      </p:sp>
      <p:sp>
        <p:nvSpPr>
          <p:cNvPr id="76" name="Text 49"/>
          <p:cNvSpPr txBox="1"/>
          <p:nvPr/>
        </p:nvSpPr>
        <p:spPr>
          <a:xfrm>
            <a:off x="3200400" y="4019702"/>
            <a:ext cx="13341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0.32</a:t>
            </a:r>
            <a:endParaRPr lang="en-US" sz="1350" dirty="0"/>
          </a:p>
        </p:txBody>
      </p:sp>
      <p:sp>
        <p:nvSpPr>
          <p:cNvPr id="77" name="Text 50"/>
          <p:cNvSpPr txBox="1"/>
          <p:nvPr/>
        </p:nvSpPr>
        <p:spPr>
          <a:xfrm>
            <a:off x="4533595" y="4019702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0.05</a:t>
            </a:r>
            <a:endParaRPr lang="en-US" sz="1350" dirty="0"/>
          </a:p>
        </p:txBody>
      </p:sp>
      <p:sp>
        <p:nvSpPr>
          <p:cNvPr id="78" name="Text 51"/>
          <p:cNvSpPr txBox="1"/>
          <p:nvPr/>
        </p:nvSpPr>
        <p:spPr>
          <a:xfrm>
            <a:off x="5676595" y="4019702"/>
            <a:ext cx="15243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B858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5.8</a:t>
            </a:r>
            <a:endParaRPr lang="en-US" sz="1350" dirty="0"/>
          </a:p>
        </p:txBody>
      </p:sp>
      <p:sp>
        <p:nvSpPr>
          <p:cNvPr id="79" name="Text 52"/>
          <p:cNvSpPr txBox="1"/>
          <p:nvPr/>
        </p:nvSpPr>
        <p:spPr>
          <a:xfrm>
            <a:off x="7200900" y="4019702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B858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1.8</a:t>
            </a:r>
            <a:endParaRPr lang="en-US" sz="1350" dirty="0"/>
          </a:p>
        </p:txBody>
      </p:sp>
      <p:sp>
        <p:nvSpPr>
          <p:cNvPr id="80" name="Text 53"/>
          <p:cNvSpPr txBox="1"/>
          <p:nvPr/>
        </p:nvSpPr>
        <p:spPr>
          <a:xfrm>
            <a:off x="8343900" y="4019702"/>
            <a:ext cx="1334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858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edge</a:t>
            </a:r>
            <a:endParaRPr lang="en-US" sz="1200" dirty="0"/>
          </a:p>
        </p:txBody>
      </p:sp>
      <p:sp>
        <p:nvSpPr>
          <p:cNvPr id="81" name="Text 54"/>
          <p:cNvSpPr txBox="1"/>
          <p:nvPr/>
        </p:nvSpPr>
        <p:spPr>
          <a:xfrm>
            <a:off x="9677095" y="4019702"/>
            <a:ext cx="15243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60</a:t>
            </a:r>
            <a:endParaRPr lang="en-US" sz="1200" dirty="0"/>
          </a:p>
        </p:txBody>
      </p:sp>
      <p:sp>
        <p:nvSpPr>
          <p:cNvPr id="82" name="Text 55"/>
          <p:cNvSpPr txBox="1"/>
          <p:nvPr/>
        </p:nvSpPr>
        <p:spPr>
          <a:xfrm>
            <a:off x="914400" y="4457700"/>
            <a:ext cx="1143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B858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W02</a:t>
            </a:r>
            <a:endParaRPr lang="en-US" sz="1350" dirty="0"/>
          </a:p>
        </p:txBody>
      </p:sp>
      <p:sp>
        <p:nvSpPr>
          <p:cNvPr id="83" name="Text 56"/>
          <p:cNvSpPr txBox="1"/>
          <p:nvPr/>
        </p:nvSpPr>
        <p:spPr>
          <a:xfrm>
            <a:off x="2057400" y="4476902"/>
            <a:ext cx="1143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M2</a:t>
            </a:r>
            <a:endParaRPr lang="en-US" sz="1200" dirty="0"/>
          </a:p>
        </p:txBody>
      </p:sp>
      <p:sp>
        <p:nvSpPr>
          <p:cNvPr id="84" name="Text 57"/>
          <p:cNvSpPr txBox="1"/>
          <p:nvPr/>
        </p:nvSpPr>
        <p:spPr>
          <a:xfrm>
            <a:off x="3200400" y="4438498"/>
            <a:ext cx="13341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0.32</a:t>
            </a:r>
            <a:endParaRPr lang="en-US" sz="1350" dirty="0"/>
          </a:p>
        </p:txBody>
      </p:sp>
      <p:sp>
        <p:nvSpPr>
          <p:cNvPr id="85" name="Text 58"/>
          <p:cNvSpPr txBox="1"/>
          <p:nvPr/>
        </p:nvSpPr>
        <p:spPr>
          <a:xfrm>
            <a:off x="4533595" y="4438498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0.05</a:t>
            </a:r>
            <a:endParaRPr lang="en-US" sz="1350" dirty="0"/>
          </a:p>
        </p:txBody>
      </p:sp>
      <p:sp>
        <p:nvSpPr>
          <p:cNvPr id="86" name="Text 59"/>
          <p:cNvSpPr txBox="1"/>
          <p:nvPr/>
        </p:nvSpPr>
        <p:spPr>
          <a:xfrm>
            <a:off x="5676595" y="4438498"/>
            <a:ext cx="15243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B858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5.7</a:t>
            </a:r>
            <a:endParaRPr lang="en-US" sz="1350" dirty="0"/>
          </a:p>
        </p:txBody>
      </p:sp>
      <p:sp>
        <p:nvSpPr>
          <p:cNvPr id="87" name="Text 60"/>
          <p:cNvSpPr txBox="1"/>
          <p:nvPr/>
        </p:nvSpPr>
        <p:spPr>
          <a:xfrm>
            <a:off x="7200900" y="4438498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B858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1.7</a:t>
            </a:r>
            <a:endParaRPr lang="en-US" sz="1350" dirty="0"/>
          </a:p>
        </p:txBody>
      </p:sp>
      <p:sp>
        <p:nvSpPr>
          <p:cNvPr id="88" name="Text 61"/>
          <p:cNvSpPr txBox="1"/>
          <p:nvPr/>
        </p:nvSpPr>
        <p:spPr>
          <a:xfrm>
            <a:off x="8343900" y="4438498"/>
            <a:ext cx="1334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858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edge</a:t>
            </a:r>
            <a:endParaRPr lang="en-US" sz="1200" dirty="0"/>
          </a:p>
        </p:txBody>
      </p:sp>
      <p:sp>
        <p:nvSpPr>
          <p:cNvPr id="89" name="Text 62"/>
          <p:cNvSpPr txBox="1"/>
          <p:nvPr/>
        </p:nvSpPr>
        <p:spPr>
          <a:xfrm>
            <a:off x="9677095" y="4438498"/>
            <a:ext cx="15243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62</a:t>
            </a:r>
            <a:endParaRPr lang="en-US" sz="1200" dirty="0"/>
          </a:p>
        </p:txBody>
      </p:sp>
      <p:sp>
        <p:nvSpPr>
          <p:cNvPr id="90" name="Text 63"/>
          <p:cNvSpPr txBox="1"/>
          <p:nvPr/>
        </p:nvSpPr>
        <p:spPr>
          <a:xfrm>
            <a:off x="914400" y="4876495"/>
            <a:ext cx="1143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F53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W03</a:t>
            </a:r>
            <a:endParaRPr lang="en-US" sz="1350" dirty="0"/>
          </a:p>
        </p:txBody>
      </p:sp>
      <p:sp>
        <p:nvSpPr>
          <p:cNvPr id="91" name="Text 64"/>
          <p:cNvSpPr txBox="1"/>
          <p:nvPr/>
        </p:nvSpPr>
        <p:spPr>
          <a:xfrm>
            <a:off x="2057400" y="4895698"/>
            <a:ext cx="1143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V1</a:t>
            </a:r>
            <a:endParaRPr lang="en-US" sz="1200" dirty="0"/>
          </a:p>
        </p:txBody>
      </p:sp>
      <p:sp>
        <p:nvSpPr>
          <p:cNvPr id="92" name="Text 65"/>
          <p:cNvSpPr txBox="1"/>
          <p:nvPr/>
        </p:nvSpPr>
        <p:spPr>
          <a:xfrm>
            <a:off x="3200400" y="4858207"/>
            <a:ext cx="13341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1F536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0.28</a:t>
            </a:r>
            <a:endParaRPr lang="en-US" sz="1350" dirty="0"/>
          </a:p>
        </p:txBody>
      </p:sp>
      <p:sp>
        <p:nvSpPr>
          <p:cNvPr id="93" name="Text 66"/>
          <p:cNvSpPr txBox="1"/>
          <p:nvPr/>
        </p:nvSpPr>
        <p:spPr>
          <a:xfrm>
            <a:off x="4533595" y="4858207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0.04</a:t>
            </a:r>
            <a:endParaRPr lang="en-US" sz="1350" dirty="0"/>
          </a:p>
        </p:txBody>
      </p:sp>
      <p:sp>
        <p:nvSpPr>
          <p:cNvPr id="94" name="Text 67"/>
          <p:cNvSpPr txBox="1"/>
          <p:nvPr/>
        </p:nvSpPr>
        <p:spPr>
          <a:xfrm>
            <a:off x="5676595" y="4858207"/>
            <a:ext cx="15243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1F536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4.6</a:t>
            </a:r>
            <a:endParaRPr lang="en-US" sz="1350" dirty="0"/>
          </a:p>
        </p:txBody>
      </p:sp>
      <p:sp>
        <p:nvSpPr>
          <p:cNvPr id="95" name="Text 68"/>
          <p:cNvSpPr txBox="1"/>
          <p:nvPr/>
        </p:nvSpPr>
        <p:spPr>
          <a:xfrm>
            <a:off x="7200900" y="4858207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1F536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1.1</a:t>
            </a:r>
            <a:endParaRPr lang="en-US" sz="1350" dirty="0"/>
          </a:p>
        </p:txBody>
      </p:sp>
      <p:sp>
        <p:nvSpPr>
          <p:cNvPr id="96" name="Text 69"/>
          <p:cNvSpPr txBox="1"/>
          <p:nvPr/>
        </p:nvSpPr>
        <p:spPr>
          <a:xfrm>
            <a:off x="8343900" y="4858207"/>
            <a:ext cx="1334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536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best</a:t>
            </a:r>
            <a:endParaRPr lang="en-US" sz="1200" dirty="0"/>
          </a:p>
        </p:txBody>
      </p:sp>
      <p:sp>
        <p:nvSpPr>
          <p:cNvPr id="97" name="Text 70"/>
          <p:cNvSpPr txBox="1"/>
          <p:nvPr/>
        </p:nvSpPr>
        <p:spPr>
          <a:xfrm>
            <a:off x="9677095" y="4858207"/>
            <a:ext cx="15243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64</a:t>
            </a:r>
            <a:endParaRPr lang="en-US" sz="1200" dirty="0"/>
          </a:p>
        </p:txBody>
      </p:sp>
      <p:sp>
        <p:nvSpPr>
          <p:cNvPr id="98" name="Text 71"/>
          <p:cNvSpPr txBox="1"/>
          <p:nvPr/>
        </p:nvSpPr>
        <p:spPr>
          <a:xfrm>
            <a:off x="914400" y="5296205"/>
            <a:ext cx="1143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F53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W03</a:t>
            </a:r>
            <a:endParaRPr lang="en-US" sz="1350" dirty="0"/>
          </a:p>
        </p:txBody>
      </p:sp>
      <p:sp>
        <p:nvSpPr>
          <p:cNvPr id="99" name="Text 72"/>
          <p:cNvSpPr txBox="1"/>
          <p:nvPr/>
        </p:nvSpPr>
        <p:spPr>
          <a:xfrm>
            <a:off x="2057400" y="5315407"/>
            <a:ext cx="1143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M2</a:t>
            </a:r>
            <a:endParaRPr lang="en-US" sz="1200" dirty="0"/>
          </a:p>
        </p:txBody>
      </p:sp>
      <p:sp>
        <p:nvSpPr>
          <p:cNvPr id="100" name="Text 73"/>
          <p:cNvSpPr txBox="1"/>
          <p:nvPr/>
        </p:nvSpPr>
        <p:spPr>
          <a:xfrm>
            <a:off x="3200400" y="5277002"/>
            <a:ext cx="13341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1F536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0.27</a:t>
            </a:r>
            <a:endParaRPr lang="en-US" sz="1350" dirty="0"/>
          </a:p>
        </p:txBody>
      </p:sp>
      <p:sp>
        <p:nvSpPr>
          <p:cNvPr id="101" name="Text 74"/>
          <p:cNvSpPr txBox="1"/>
          <p:nvPr/>
        </p:nvSpPr>
        <p:spPr>
          <a:xfrm>
            <a:off x="4533595" y="5277002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0.04</a:t>
            </a:r>
            <a:endParaRPr lang="en-US" sz="1350" dirty="0"/>
          </a:p>
        </p:txBody>
      </p:sp>
      <p:sp>
        <p:nvSpPr>
          <p:cNvPr id="102" name="Text 75"/>
          <p:cNvSpPr txBox="1"/>
          <p:nvPr/>
        </p:nvSpPr>
        <p:spPr>
          <a:xfrm>
            <a:off x="5676595" y="5277002"/>
            <a:ext cx="15243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1F536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4.5</a:t>
            </a:r>
            <a:endParaRPr lang="en-US" sz="1350" dirty="0"/>
          </a:p>
        </p:txBody>
      </p:sp>
      <p:sp>
        <p:nvSpPr>
          <p:cNvPr id="103" name="Text 76"/>
          <p:cNvSpPr txBox="1"/>
          <p:nvPr/>
        </p:nvSpPr>
        <p:spPr>
          <a:xfrm>
            <a:off x="7200900" y="5277002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1F536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1.1</a:t>
            </a:r>
            <a:endParaRPr lang="en-US" sz="1350" dirty="0"/>
          </a:p>
        </p:txBody>
      </p:sp>
      <p:sp>
        <p:nvSpPr>
          <p:cNvPr id="104" name="Text 77"/>
          <p:cNvSpPr txBox="1"/>
          <p:nvPr/>
        </p:nvSpPr>
        <p:spPr>
          <a:xfrm>
            <a:off x="8343900" y="5277002"/>
            <a:ext cx="1334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536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best</a:t>
            </a:r>
            <a:endParaRPr lang="en-US" sz="1200" dirty="0"/>
          </a:p>
        </p:txBody>
      </p:sp>
      <p:sp>
        <p:nvSpPr>
          <p:cNvPr id="105" name="Text 78"/>
          <p:cNvSpPr txBox="1"/>
          <p:nvPr/>
        </p:nvSpPr>
        <p:spPr>
          <a:xfrm>
            <a:off x="9677095" y="5277002"/>
            <a:ext cx="15243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64</a:t>
            </a:r>
            <a:endParaRPr lang="en-US" sz="1200" dirty="0"/>
          </a:p>
        </p:txBody>
      </p:sp>
      <p:sp>
        <p:nvSpPr>
          <p:cNvPr id="106" name="Text 79"/>
          <p:cNvSpPr txBox="1"/>
          <p:nvPr/>
        </p:nvSpPr>
        <p:spPr>
          <a:xfrm>
            <a:off x="914400" y="5715000"/>
            <a:ext cx="1143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D6A4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W04</a:t>
            </a:r>
            <a:endParaRPr lang="en-US" sz="1350" dirty="0"/>
          </a:p>
        </p:txBody>
      </p:sp>
      <p:sp>
        <p:nvSpPr>
          <p:cNvPr id="107" name="Text 80"/>
          <p:cNvSpPr txBox="1"/>
          <p:nvPr/>
        </p:nvSpPr>
        <p:spPr>
          <a:xfrm>
            <a:off x="2057400" y="5734202"/>
            <a:ext cx="1143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V1</a:t>
            </a:r>
            <a:endParaRPr lang="en-US" sz="1200" dirty="0"/>
          </a:p>
        </p:txBody>
      </p:sp>
      <p:sp>
        <p:nvSpPr>
          <p:cNvPr id="108" name="Text 81"/>
          <p:cNvSpPr txBox="1"/>
          <p:nvPr/>
        </p:nvSpPr>
        <p:spPr>
          <a:xfrm>
            <a:off x="3200400" y="5695798"/>
            <a:ext cx="13341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2D6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0.29</a:t>
            </a:r>
            <a:endParaRPr lang="en-US" sz="1350" dirty="0"/>
          </a:p>
        </p:txBody>
      </p:sp>
      <p:sp>
        <p:nvSpPr>
          <p:cNvPr id="109" name="Text 82"/>
          <p:cNvSpPr txBox="1"/>
          <p:nvPr/>
        </p:nvSpPr>
        <p:spPr>
          <a:xfrm>
            <a:off x="4533595" y="5695798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0.04</a:t>
            </a:r>
            <a:endParaRPr lang="en-US" sz="1350" dirty="0"/>
          </a:p>
        </p:txBody>
      </p:sp>
      <p:sp>
        <p:nvSpPr>
          <p:cNvPr id="110" name="Text 83"/>
          <p:cNvSpPr txBox="1"/>
          <p:nvPr/>
        </p:nvSpPr>
        <p:spPr>
          <a:xfrm>
            <a:off x="5676595" y="5695798"/>
            <a:ext cx="15243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2D6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4.8</a:t>
            </a:r>
            <a:endParaRPr lang="en-US" sz="1350" dirty="0"/>
          </a:p>
        </p:txBody>
      </p:sp>
      <p:sp>
        <p:nvSpPr>
          <p:cNvPr id="111" name="Text 84"/>
          <p:cNvSpPr txBox="1"/>
          <p:nvPr/>
        </p:nvSpPr>
        <p:spPr>
          <a:xfrm>
            <a:off x="7200900" y="5695798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1.2</a:t>
            </a:r>
            <a:endParaRPr lang="en-US" sz="1350" dirty="0"/>
          </a:p>
        </p:txBody>
      </p:sp>
      <p:sp>
        <p:nvSpPr>
          <p:cNvPr id="112" name="Text 85"/>
          <p:cNvSpPr txBox="1"/>
          <p:nvPr/>
        </p:nvSpPr>
        <p:spPr>
          <a:xfrm>
            <a:off x="8343900" y="5695798"/>
            <a:ext cx="1334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6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pass</a:t>
            </a:r>
            <a:endParaRPr lang="en-US" sz="1200" dirty="0"/>
          </a:p>
        </p:txBody>
      </p:sp>
      <p:sp>
        <p:nvSpPr>
          <p:cNvPr id="113" name="Text 86"/>
          <p:cNvSpPr txBox="1"/>
          <p:nvPr/>
        </p:nvSpPr>
        <p:spPr>
          <a:xfrm>
            <a:off x="9677095" y="5695798"/>
            <a:ext cx="15243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64</a:t>
            </a:r>
            <a:endParaRPr lang="en-US" sz="1200" dirty="0"/>
          </a:p>
        </p:txBody>
      </p:sp>
      <p:sp>
        <p:nvSpPr>
          <p:cNvPr id="114" name="Text 87"/>
          <p:cNvSpPr txBox="1"/>
          <p:nvPr/>
        </p:nvSpPr>
        <p:spPr>
          <a:xfrm>
            <a:off x="914400" y="6133795"/>
            <a:ext cx="1143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D6A4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W04</a:t>
            </a:r>
            <a:endParaRPr lang="en-US" sz="1350" dirty="0"/>
          </a:p>
        </p:txBody>
      </p:sp>
      <p:sp>
        <p:nvSpPr>
          <p:cNvPr id="115" name="Text 88"/>
          <p:cNvSpPr txBox="1"/>
          <p:nvPr/>
        </p:nvSpPr>
        <p:spPr>
          <a:xfrm>
            <a:off x="2057400" y="6152998"/>
            <a:ext cx="1143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M2</a:t>
            </a:r>
            <a:endParaRPr lang="en-US" sz="1200" dirty="0"/>
          </a:p>
        </p:txBody>
      </p:sp>
      <p:sp>
        <p:nvSpPr>
          <p:cNvPr id="116" name="Text 89"/>
          <p:cNvSpPr txBox="1"/>
          <p:nvPr/>
        </p:nvSpPr>
        <p:spPr>
          <a:xfrm>
            <a:off x="3200400" y="6115507"/>
            <a:ext cx="13341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2D6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0.29</a:t>
            </a:r>
            <a:endParaRPr lang="en-US" sz="1350" dirty="0"/>
          </a:p>
        </p:txBody>
      </p:sp>
      <p:sp>
        <p:nvSpPr>
          <p:cNvPr id="117" name="Text 90"/>
          <p:cNvSpPr txBox="1"/>
          <p:nvPr/>
        </p:nvSpPr>
        <p:spPr>
          <a:xfrm>
            <a:off x="4533595" y="6115507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0.04</a:t>
            </a:r>
            <a:endParaRPr lang="en-US" sz="1350" dirty="0"/>
          </a:p>
        </p:txBody>
      </p:sp>
      <p:sp>
        <p:nvSpPr>
          <p:cNvPr id="118" name="Text 91"/>
          <p:cNvSpPr txBox="1"/>
          <p:nvPr/>
        </p:nvSpPr>
        <p:spPr>
          <a:xfrm>
            <a:off x="5676595" y="6115507"/>
            <a:ext cx="15243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2D6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4.8</a:t>
            </a:r>
            <a:endParaRPr lang="en-US" sz="1350" dirty="0"/>
          </a:p>
        </p:txBody>
      </p:sp>
      <p:sp>
        <p:nvSpPr>
          <p:cNvPr id="119" name="Text 92"/>
          <p:cNvSpPr txBox="1"/>
          <p:nvPr/>
        </p:nvSpPr>
        <p:spPr>
          <a:xfrm>
            <a:off x="7200900" y="6115507"/>
            <a:ext cx="1143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1.2</a:t>
            </a:r>
            <a:endParaRPr lang="en-US" sz="1350" dirty="0"/>
          </a:p>
        </p:txBody>
      </p:sp>
      <p:sp>
        <p:nvSpPr>
          <p:cNvPr id="120" name="Text 93"/>
          <p:cNvSpPr txBox="1"/>
          <p:nvPr/>
        </p:nvSpPr>
        <p:spPr>
          <a:xfrm>
            <a:off x="8343900" y="6115507"/>
            <a:ext cx="1334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6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pass</a:t>
            </a:r>
            <a:endParaRPr lang="en-US" sz="1200" dirty="0"/>
          </a:p>
        </p:txBody>
      </p:sp>
      <p:sp>
        <p:nvSpPr>
          <p:cNvPr id="121" name="Text 94"/>
          <p:cNvSpPr txBox="1"/>
          <p:nvPr/>
        </p:nvSpPr>
        <p:spPr>
          <a:xfrm>
            <a:off x="9677095" y="6115507"/>
            <a:ext cx="15243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64</a:t>
            </a:r>
            <a:endParaRPr lang="en-US" sz="1200" dirty="0"/>
          </a:p>
        </p:txBody>
      </p:sp>
      <p:sp>
        <p:nvSpPr>
          <p:cNvPr id="122" name="Text 95"/>
          <p:cNvSpPr txBox="1"/>
          <p:nvPr/>
        </p:nvSpPr>
        <p:spPr>
          <a:xfrm>
            <a:off x="11772900" y="2361895"/>
            <a:ext cx="5715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spc="168" kern="0" dirty="0">
                <a:solidFill>
                  <a:srgbClr val="B858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Rc 누적분포 · cumulative</a:t>
            </a:r>
            <a:endParaRPr lang="en-US" sz="1050" dirty="0"/>
          </a:p>
        </p:txBody>
      </p:sp>
      <p:sp>
        <p:nvSpPr>
          <p:cNvPr id="123" name="Text 96"/>
          <p:cNvSpPr txBox="1"/>
          <p:nvPr/>
        </p:nvSpPr>
        <p:spPr>
          <a:xfrm>
            <a:off x="11772900" y="2762402"/>
            <a:ext cx="57150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X axis: Rc Ω/via · Y axis: cumulative % · n=64 each · dummy sigmoid approx</a:t>
            </a:r>
            <a:endParaRPr lang="en-US" sz="975" dirty="0"/>
          </a:p>
        </p:txBody>
      </p:sp>
      <p:sp>
        <p:nvSpPr>
          <p:cNvPr id="124" name="Text 97"/>
          <p:cNvSpPr txBox="1"/>
          <p:nvPr/>
        </p:nvSpPr>
        <p:spPr>
          <a:xfrm>
            <a:off x="12039905" y="3981298"/>
            <a:ext cx="286207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50</a:t>
            </a:r>
            <a:endParaRPr lang="en-US" sz="900" dirty="0"/>
          </a:p>
        </p:txBody>
      </p:sp>
      <p:sp>
        <p:nvSpPr>
          <p:cNvPr id="125" name="Text 98"/>
          <p:cNvSpPr txBox="1"/>
          <p:nvPr/>
        </p:nvSpPr>
        <p:spPr>
          <a:xfrm>
            <a:off x="12039905" y="4791456"/>
            <a:ext cx="286207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25</a:t>
            </a:r>
            <a:endParaRPr lang="en-US" sz="900" dirty="0"/>
          </a:p>
        </p:txBody>
      </p:sp>
      <p:sp>
        <p:nvSpPr>
          <p:cNvPr id="126" name="Text 99"/>
          <p:cNvSpPr txBox="1"/>
          <p:nvPr/>
        </p:nvSpPr>
        <p:spPr>
          <a:xfrm>
            <a:off x="12039905" y="5600700"/>
            <a:ext cx="286207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</a:t>
            </a:r>
            <a:endParaRPr lang="en-US" sz="900" dirty="0"/>
          </a:p>
        </p:txBody>
      </p:sp>
      <p:sp>
        <p:nvSpPr>
          <p:cNvPr id="127" name="Text 100"/>
          <p:cNvSpPr txBox="1"/>
          <p:nvPr/>
        </p:nvSpPr>
        <p:spPr>
          <a:xfrm>
            <a:off x="12039905" y="3161995"/>
            <a:ext cx="286207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100</a:t>
            </a:r>
            <a:endParaRPr lang="en-US" sz="900" dirty="0"/>
          </a:p>
        </p:txBody>
      </p:sp>
      <p:sp>
        <p:nvSpPr>
          <p:cNvPr id="128" name="Text 101"/>
          <p:cNvSpPr txBox="1"/>
          <p:nvPr/>
        </p:nvSpPr>
        <p:spPr>
          <a:xfrm>
            <a:off x="12287707" y="6476695"/>
            <a:ext cx="286207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2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900" dirty="0"/>
          </a:p>
        </p:txBody>
      </p:sp>
      <p:sp>
        <p:nvSpPr>
          <p:cNvPr id="129" name="Text 102"/>
          <p:cNvSpPr txBox="1"/>
          <p:nvPr/>
        </p:nvSpPr>
        <p:spPr>
          <a:xfrm>
            <a:off x="13239598" y="6476695"/>
            <a:ext cx="286207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2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900" dirty="0"/>
          </a:p>
        </p:txBody>
      </p:sp>
      <p:sp>
        <p:nvSpPr>
          <p:cNvPr id="130" name="Text 103"/>
          <p:cNvSpPr txBox="1"/>
          <p:nvPr/>
        </p:nvSpPr>
        <p:spPr>
          <a:xfrm>
            <a:off x="14192402" y="6476695"/>
            <a:ext cx="286207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2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</a:t>
            </a:r>
            <a:endParaRPr lang="en-US" sz="900" dirty="0"/>
          </a:p>
        </p:txBody>
      </p:sp>
      <p:sp>
        <p:nvSpPr>
          <p:cNvPr id="131" name="Text 104"/>
          <p:cNvSpPr txBox="1"/>
          <p:nvPr/>
        </p:nvSpPr>
        <p:spPr>
          <a:xfrm>
            <a:off x="15145207" y="6476695"/>
            <a:ext cx="286207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2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</a:t>
            </a:r>
            <a:endParaRPr lang="en-US" sz="900" dirty="0"/>
          </a:p>
        </p:txBody>
      </p:sp>
      <p:sp>
        <p:nvSpPr>
          <p:cNvPr id="132" name="Text 105"/>
          <p:cNvSpPr txBox="1"/>
          <p:nvPr/>
        </p:nvSpPr>
        <p:spPr>
          <a:xfrm>
            <a:off x="16097098" y="6476695"/>
            <a:ext cx="286207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2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</a:t>
            </a:r>
            <a:endParaRPr lang="en-US" sz="900" dirty="0"/>
          </a:p>
        </p:txBody>
      </p:sp>
      <p:sp>
        <p:nvSpPr>
          <p:cNvPr id="133" name="Text 106"/>
          <p:cNvSpPr txBox="1"/>
          <p:nvPr/>
        </p:nvSpPr>
        <p:spPr>
          <a:xfrm>
            <a:off x="11811305" y="7524598"/>
            <a:ext cx="55248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B858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Σ median line at Rc=5.0 Ω (orange dashed) · W03 tightest , W02 widest</a:t>
            </a:r>
            <a:endParaRPr lang="en-US" sz="975" dirty="0"/>
          </a:p>
        </p:txBody>
      </p:sp>
      <p:sp>
        <p:nvSpPr>
          <p:cNvPr id="134" name="Shape 107"/>
          <p:cNvSpPr/>
          <p:nvPr/>
        </p:nvSpPr>
        <p:spPr>
          <a:xfrm>
            <a:off x="11772900" y="6596482"/>
            <a:ext cx="171907" cy="38405"/>
          </a:xfrm>
          <a:prstGeom prst="rect">
            <a:avLst/>
          </a:prstGeom>
          <a:solidFill>
            <a:srgbClr val="54616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5" name="Text 108"/>
          <p:cNvSpPr txBox="1"/>
          <p:nvPr/>
        </p:nvSpPr>
        <p:spPr>
          <a:xfrm>
            <a:off x="12001500" y="6534302"/>
            <a:ext cx="2286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461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W01</a:t>
            </a:r>
            <a:endParaRPr lang="en-US" sz="900" dirty="0"/>
          </a:p>
        </p:txBody>
      </p:sp>
      <p:sp>
        <p:nvSpPr>
          <p:cNvPr id="136" name="Shape 109"/>
          <p:cNvSpPr/>
          <p:nvPr/>
        </p:nvSpPr>
        <p:spPr>
          <a:xfrm>
            <a:off x="12361774" y="6596482"/>
            <a:ext cx="171907" cy="38405"/>
          </a:xfrm>
          <a:prstGeom prst="rect">
            <a:avLst/>
          </a:prstGeom>
          <a:solidFill>
            <a:srgbClr val="B8581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7" name="Text 110"/>
          <p:cNvSpPr txBox="1"/>
          <p:nvPr/>
        </p:nvSpPr>
        <p:spPr>
          <a:xfrm>
            <a:off x="12590374" y="6534302"/>
            <a:ext cx="779069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858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W02 widest</a:t>
            </a:r>
            <a:endParaRPr lang="en-US" sz="900" dirty="0"/>
          </a:p>
        </p:txBody>
      </p:sp>
      <p:sp>
        <p:nvSpPr>
          <p:cNvPr id="138" name="Shape 111"/>
          <p:cNvSpPr/>
          <p:nvPr/>
        </p:nvSpPr>
        <p:spPr>
          <a:xfrm>
            <a:off x="13334695" y="6596482"/>
            <a:ext cx="171907" cy="38405"/>
          </a:xfrm>
          <a:prstGeom prst="rect">
            <a:avLst/>
          </a:prstGeom>
          <a:solidFill>
            <a:srgbClr val="1F536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9" name="Text 112"/>
          <p:cNvSpPr txBox="1"/>
          <p:nvPr/>
        </p:nvSpPr>
        <p:spPr>
          <a:xfrm>
            <a:off x="13563295" y="6534302"/>
            <a:ext cx="923544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53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W03 tightest</a:t>
            </a:r>
            <a:endParaRPr lang="en-US" sz="900" dirty="0"/>
          </a:p>
        </p:txBody>
      </p:sp>
      <p:sp>
        <p:nvSpPr>
          <p:cNvPr id="140" name="Shape 113"/>
          <p:cNvSpPr/>
          <p:nvPr/>
        </p:nvSpPr>
        <p:spPr>
          <a:xfrm>
            <a:off x="14362481" y="6596482"/>
            <a:ext cx="171907" cy="38405"/>
          </a:xfrm>
          <a:prstGeom prst="rect">
            <a:avLst/>
          </a:prstGeom>
          <a:solidFill>
            <a:srgbClr val="2D6A4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1" name="Text 114"/>
          <p:cNvSpPr txBox="1"/>
          <p:nvPr/>
        </p:nvSpPr>
        <p:spPr>
          <a:xfrm>
            <a:off x="14591081" y="6534302"/>
            <a:ext cx="2286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D6A4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W04</a:t>
            </a:r>
            <a:endParaRPr lang="en-US" sz="900" dirty="0"/>
          </a:p>
        </p:txBody>
      </p:sp>
      <p:sp>
        <p:nvSpPr>
          <p:cNvPr id="142" name="Text 115"/>
          <p:cNvSpPr txBox="1"/>
          <p:nvPr/>
        </p:nvSpPr>
        <p:spPr>
          <a:xfrm>
            <a:off x="914400" y="8229600"/>
            <a:ext cx="76206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E1F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Line Rs 비교 strip · wafer 평균 (V1+M2 합산 dummy median)</a:t>
            </a:r>
            <a:endParaRPr lang="en-US" sz="1050" dirty="0"/>
          </a:p>
        </p:txBody>
      </p:sp>
      <p:sp>
        <p:nvSpPr>
          <p:cNvPr id="143" name="Text 116"/>
          <p:cNvSpPr txBox="1"/>
          <p:nvPr/>
        </p:nvSpPr>
        <p:spPr>
          <a:xfrm>
            <a:off x="1143000" y="8553298"/>
            <a:ext cx="2286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54616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W01 Rs median</a:t>
            </a:r>
            <a:endParaRPr lang="en-US" sz="975" dirty="0"/>
          </a:p>
        </p:txBody>
      </p:sp>
      <p:sp>
        <p:nvSpPr>
          <p:cNvPr id="144" name="Text 117"/>
          <p:cNvSpPr txBox="1"/>
          <p:nvPr/>
        </p:nvSpPr>
        <p:spPr>
          <a:xfrm>
            <a:off x="2857500" y="8553298"/>
            <a:ext cx="15243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54616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0.305</a:t>
            </a:r>
            <a:endParaRPr lang="en-US" sz="1350" dirty="0"/>
          </a:p>
        </p:txBody>
      </p:sp>
      <p:sp>
        <p:nvSpPr>
          <p:cNvPr id="145" name="Text 118"/>
          <p:cNvSpPr txBox="1"/>
          <p:nvPr/>
        </p:nvSpPr>
        <p:spPr>
          <a:xfrm>
            <a:off x="4953305" y="8553298"/>
            <a:ext cx="2286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B858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W02 Rs median</a:t>
            </a:r>
            <a:endParaRPr lang="en-US" sz="975" dirty="0"/>
          </a:p>
        </p:txBody>
      </p:sp>
      <p:sp>
        <p:nvSpPr>
          <p:cNvPr id="146" name="Text 119"/>
          <p:cNvSpPr txBox="1"/>
          <p:nvPr/>
        </p:nvSpPr>
        <p:spPr>
          <a:xfrm>
            <a:off x="6667805" y="8553298"/>
            <a:ext cx="15243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B858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0.32</a:t>
            </a:r>
            <a:endParaRPr lang="en-US" sz="1350" dirty="0"/>
          </a:p>
        </p:txBody>
      </p:sp>
      <p:sp>
        <p:nvSpPr>
          <p:cNvPr id="147" name="Text 120"/>
          <p:cNvSpPr txBox="1"/>
          <p:nvPr/>
        </p:nvSpPr>
        <p:spPr>
          <a:xfrm>
            <a:off x="8762695" y="8553298"/>
            <a:ext cx="2286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1F536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W03 Rs median</a:t>
            </a:r>
            <a:endParaRPr lang="en-US" sz="975" dirty="0"/>
          </a:p>
        </p:txBody>
      </p:sp>
      <p:sp>
        <p:nvSpPr>
          <p:cNvPr id="148" name="Text 121"/>
          <p:cNvSpPr txBox="1"/>
          <p:nvPr/>
        </p:nvSpPr>
        <p:spPr>
          <a:xfrm>
            <a:off x="10477195" y="8553298"/>
            <a:ext cx="15243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1F536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0.275</a:t>
            </a:r>
            <a:endParaRPr lang="en-US" sz="1350" dirty="0"/>
          </a:p>
        </p:txBody>
      </p:sp>
      <p:sp>
        <p:nvSpPr>
          <p:cNvPr id="149" name="Text 122"/>
          <p:cNvSpPr txBox="1"/>
          <p:nvPr/>
        </p:nvSpPr>
        <p:spPr>
          <a:xfrm>
            <a:off x="12573000" y="8553298"/>
            <a:ext cx="2286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2D6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W04 Rs median</a:t>
            </a:r>
            <a:endParaRPr lang="en-US" sz="975" dirty="0"/>
          </a:p>
        </p:txBody>
      </p:sp>
      <p:sp>
        <p:nvSpPr>
          <p:cNvPr id="150" name="Text 123"/>
          <p:cNvSpPr txBox="1"/>
          <p:nvPr/>
        </p:nvSpPr>
        <p:spPr>
          <a:xfrm>
            <a:off x="14668805" y="8553298"/>
            <a:ext cx="19056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2D6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0.29</a:t>
            </a:r>
            <a:endParaRPr lang="en-US" sz="1350" dirty="0"/>
          </a:p>
        </p:txBody>
      </p:sp>
      <p:sp>
        <p:nvSpPr>
          <p:cNvPr id="151" name="Text 124"/>
          <p:cNvSpPr txBox="1"/>
          <p:nvPr/>
        </p:nvSpPr>
        <p:spPr>
          <a:xfrm>
            <a:off x="990295" y="9087307"/>
            <a:ext cx="1905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spc="176" kern="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TAKEAWAY</a:t>
            </a:r>
            <a:endParaRPr lang="en-US" sz="975" dirty="0"/>
          </a:p>
        </p:txBody>
      </p:sp>
      <p:sp>
        <p:nvSpPr>
          <p:cNvPr id="152" name="Text 125"/>
          <p:cNvSpPr txBox="1"/>
          <p:nvPr/>
        </p:nvSpPr>
        <p:spPr>
          <a:xfrm>
            <a:off x="2361895" y="9048902"/>
            <a:ext cx="1505011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W03 BLV-Ru</a:t>
            </a:r>
            <a:pPr algn="l" indent="0" marL="0">
              <a:buNone/>
            </a:pPr>
            <a:r>
              <a:rPr lang="en-US" sz="127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 Rc median 4.5~4.6·3σ 1.1·Rs 0.27~0.28로 dummy 통계 내 가장 우수. W02 BLV-Co는 Rc 5.7~5.8·3σ 1.7~1.8로 wide 분포. dummy 평가는 양산 적합성 reference.</a:t>
            </a:r>
            <a:endParaRPr lang="en-US" sz="1275" dirty="0"/>
          </a:p>
        </p:txBody>
      </p:sp>
      <p:sp>
        <p:nvSpPr>
          <p:cNvPr id="153" name="Text 126"/>
          <p:cNvSpPr txBox="1"/>
          <p:nvPr/>
        </p:nvSpPr>
        <p:spPr>
          <a:xfrm>
            <a:off x="761695" y="9849002"/>
            <a:ext cx="72393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5A62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EV-BEOL-BLV-018 · Rs Ω/sq · Rc Ω/via · n=64 / wafer</a:t>
            </a:r>
            <a:endParaRPr lang="en-US" sz="975" dirty="0"/>
          </a:p>
        </p:txBody>
      </p:sp>
      <p:sp>
        <p:nvSpPr>
          <p:cNvPr id="154" name="Text 127"/>
          <p:cNvSpPr txBox="1"/>
          <p:nvPr/>
        </p:nvSpPr>
        <p:spPr>
          <a:xfrm>
            <a:off x="8001000" y="9849002"/>
            <a:ext cx="952530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※ 내부 테스트용 더미(가상) 데이터 · 11 / 12</a:t>
            </a:r>
            <a:endParaRPr lang="en-US" sz="9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DF0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4b8b176d1054448e556d5d1f414aa96f.png">    </p:cNvPr>
          <p:cNvPicPr>
            <a:picLocks noChangeAspect="1"/>
          </p:cNvPicPr>
          <p:nvPr/>
        </p:nvPicPr>
        <p:blipFill>
          <a:blip r:embed="rId1"/>
          <a:srcRect l="0" r="0" t="-400" b="-400"/>
          <a:stretch/>
        </p:blipFill>
        <p:spPr>
          <a:xfrm>
            <a:off x="0" y="0"/>
            <a:ext cx="18288000" cy="57607"/>
          </a:xfrm>
          <a:prstGeom prst="rect">
            <a:avLst/>
          </a:prstGeom>
        </p:spPr>
      </p:pic>
      <p:pic>
        <p:nvPicPr>
          <p:cNvPr id="4" name="Image 1" descr="gen-dedup-6ef2f382d46d5f775cbbac1e044faac9.png">    </p:cNvPr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761695" y="1638605"/>
            <a:ext cx="16763695" cy="9144"/>
          </a:xfrm>
          <a:prstGeom prst="rect">
            <a:avLst/>
          </a:prstGeom>
        </p:spPr>
      </p:pic>
      <p:pic>
        <p:nvPicPr>
          <p:cNvPr id="5" name="Image 2" descr="gen-dedup-da344c14bb34f2ebfb57644d796e1a24.png">    </p:cNvPr>
          <p:cNvPicPr>
            <a:picLocks noChangeAspect="1"/>
          </p:cNvPicPr>
          <p:nvPr/>
        </p:nvPicPr>
        <p:blipFill>
          <a:blip r:embed="rId3"/>
          <a:srcRect l="-424" r="-424" t="0" b="0"/>
          <a:stretch/>
        </p:blipFill>
        <p:spPr>
          <a:xfrm>
            <a:off x="761695" y="1790395"/>
            <a:ext cx="57607" cy="323698"/>
          </a:xfrm>
          <a:prstGeom prst="rect">
            <a:avLst/>
          </a:prstGeom>
        </p:spPr>
      </p:pic>
      <p:sp>
        <p:nvSpPr>
          <p:cNvPr id="6" name="Shape 0"/>
          <p:cNvSpPr/>
          <p:nvPr/>
        </p:nvSpPr>
        <p:spPr>
          <a:xfrm>
            <a:off x="761695" y="2286000"/>
            <a:ext cx="5333695" cy="266730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1"/>
          <p:cNvSpPr/>
          <p:nvPr/>
        </p:nvSpPr>
        <p:spPr>
          <a:xfrm>
            <a:off x="6476695" y="2286000"/>
            <a:ext cx="5333695" cy="266730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2"/>
          <p:cNvSpPr/>
          <p:nvPr/>
        </p:nvSpPr>
        <p:spPr>
          <a:xfrm>
            <a:off x="12191695" y="2286000"/>
            <a:ext cx="5333695" cy="266730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3"/>
          <p:cNvSpPr/>
          <p:nvPr/>
        </p:nvSpPr>
        <p:spPr>
          <a:xfrm>
            <a:off x="761695" y="5219395"/>
            <a:ext cx="16763695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" name="Image 3" descr="gen-dedup-6ef2f382d46d5f775cbbac1e044faac9.png">    </p:cNvPr>
          <p:cNvPicPr>
            <a:picLocks noChangeAspect="1"/>
          </p:cNvPicPr>
          <p:nvPr/>
        </p:nvPicPr>
        <p:blipFill>
          <a:blip r:embed="rId4"/>
          <a:srcRect l="-2083" r="-2083" t="0" b="0"/>
          <a:stretch/>
        </p:blipFill>
        <p:spPr>
          <a:xfrm>
            <a:off x="761695" y="8343900"/>
            <a:ext cx="16763695" cy="9144"/>
          </a:xfrm>
          <a:prstGeom prst="rect">
            <a:avLst/>
          </a:prstGeom>
        </p:spPr>
      </p:pic>
      <p:sp>
        <p:nvSpPr>
          <p:cNvPr id="11" name="Shape 4"/>
          <p:cNvSpPr/>
          <p:nvPr/>
        </p:nvSpPr>
        <p:spPr>
          <a:xfrm>
            <a:off x="761695" y="8496605"/>
            <a:ext cx="2286000" cy="381305"/>
          </a:xfrm>
          <a:prstGeom prst="rect">
            <a:avLst/>
          </a:prstGeom>
          <a:solidFill>
            <a:srgbClr val="0E1F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5"/>
          <p:cNvSpPr/>
          <p:nvPr/>
        </p:nvSpPr>
        <p:spPr>
          <a:xfrm>
            <a:off x="761695" y="9010498"/>
            <a:ext cx="16763695" cy="400507"/>
          </a:xfrm>
          <a:prstGeom prst="rect">
            <a:avLst/>
          </a:prstGeom>
          <a:solidFill>
            <a:srgbClr val="0E1F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3" name="Image 4" descr="gen-dedup-6ef2f382d46d5f775cbbac1e044faac9.png">    </p:cNvPr>
          <p:cNvPicPr>
            <a:picLocks noChangeAspect="1"/>
          </p:cNvPicPr>
          <p:nvPr/>
        </p:nvPicPr>
        <p:blipFill>
          <a:blip r:embed="rId5"/>
          <a:srcRect l="-2083" r="-2083" t="0" b="0"/>
          <a:stretch/>
        </p:blipFill>
        <p:spPr>
          <a:xfrm>
            <a:off x="761695" y="9715500"/>
            <a:ext cx="16763695" cy="9144"/>
          </a:xfrm>
          <a:prstGeom prst="rect">
            <a:avLst/>
          </a:prstGeom>
        </p:spPr>
      </p:pic>
      <p:sp>
        <p:nvSpPr>
          <p:cNvPr id="14" name="Shape 6"/>
          <p:cNvSpPr/>
          <p:nvPr/>
        </p:nvSpPr>
        <p:spPr>
          <a:xfrm>
            <a:off x="761695" y="2286000"/>
            <a:ext cx="5333695" cy="342900"/>
          </a:xfrm>
          <a:prstGeom prst="rect">
            <a:avLst/>
          </a:prstGeom>
          <a:solidFill>
            <a:srgbClr val="B8581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7"/>
          <p:cNvSpPr/>
          <p:nvPr/>
        </p:nvSpPr>
        <p:spPr>
          <a:xfrm>
            <a:off x="6476695" y="2286000"/>
            <a:ext cx="5333695" cy="342900"/>
          </a:xfrm>
          <a:prstGeom prst="rect">
            <a:avLst/>
          </a:prstGeom>
          <a:solidFill>
            <a:srgbClr val="54616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8"/>
          <p:cNvSpPr/>
          <p:nvPr/>
        </p:nvSpPr>
        <p:spPr>
          <a:xfrm>
            <a:off x="12191695" y="2286000"/>
            <a:ext cx="5333695" cy="342900"/>
          </a:xfrm>
          <a:prstGeom prst="rect">
            <a:avLst/>
          </a:prstGeom>
          <a:solidFill>
            <a:srgbClr val="2D6A4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9"/>
          <p:cNvSpPr/>
          <p:nvPr/>
        </p:nvSpPr>
        <p:spPr>
          <a:xfrm>
            <a:off x="761695" y="5219395"/>
            <a:ext cx="16763695" cy="342900"/>
          </a:xfrm>
          <a:prstGeom prst="rect">
            <a:avLst/>
          </a:prstGeom>
          <a:solidFill>
            <a:srgbClr val="0E1F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8" name="Image 5" descr="gen-dedup-88baf9618d02dd74d408e65ea6d1dccf.png">    </p:cNvPr>
          <p:cNvPicPr>
            <a:picLocks noChangeAspect="1"/>
          </p:cNvPicPr>
          <p:nvPr/>
        </p:nvPicPr>
        <p:blipFill>
          <a:blip r:embed="rId6"/>
          <a:srcRect l="-2083" r="-2083" t="0" b="0"/>
          <a:stretch/>
        </p:blipFill>
        <p:spPr>
          <a:xfrm>
            <a:off x="761695" y="6629400"/>
            <a:ext cx="16763695" cy="9144"/>
          </a:xfrm>
          <a:prstGeom prst="rect">
            <a:avLst/>
          </a:prstGeom>
        </p:spPr>
      </p:pic>
      <p:pic>
        <p:nvPicPr>
          <p:cNvPr id="19" name="Image 6" descr="gen-dedup-88baf9618d02dd74d408e65ea6d1dccf.png">    </p:cNvPr>
          <p:cNvPicPr>
            <a:picLocks noChangeAspect="1"/>
          </p:cNvPicPr>
          <p:nvPr/>
        </p:nvPicPr>
        <p:blipFill>
          <a:blip r:embed="rId7"/>
          <a:srcRect l="-2083" r="-2083" t="0" b="0"/>
          <a:stretch/>
        </p:blipFill>
        <p:spPr>
          <a:xfrm>
            <a:off x="761695" y="7086600"/>
            <a:ext cx="16763695" cy="9144"/>
          </a:xfrm>
          <a:prstGeom prst="rect">
            <a:avLst/>
          </a:prstGeom>
        </p:spPr>
      </p:pic>
      <p:pic>
        <p:nvPicPr>
          <p:cNvPr id="20" name="Image 7" descr="gen-dedup-88baf9618d02dd74d408e65ea6d1dccf.png">    </p:cNvPr>
          <p:cNvPicPr>
            <a:picLocks noChangeAspect="1"/>
          </p:cNvPicPr>
          <p:nvPr/>
        </p:nvPicPr>
        <p:blipFill>
          <a:blip r:embed="rId8"/>
          <a:srcRect l="-2083" r="-2083" t="0" b="0"/>
          <a:stretch/>
        </p:blipFill>
        <p:spPr>
          <a:xfrm>
            <a:off x="761695" y="7543800"/>
            <a:ext cx="16763695" cy="9144"/>
          </a:xfrm>
          <a:prstGeom prst="rect">
            <a:avLst/>
          </a:prstGeom>
        </p:spPr>
      </p:pic>
      <p:pic>
        <p:nvPicPr>
          <p:cNvPr id="21" name="Image 8" descr="gen-dedup-1c3a4d94dd56cc9602dc17b83e58bfe9.png">    </p:cNvPr>
          <p:cNvPicPr>
            <a:picLocks noChangeAspect="1"/>
          </p:cNvPicPr>
          <p:nvPr/>
        </p:nvPicPr>
        <p:blipFill>
          <a:blip r:embed="rId9"/>
          <a:srcRect l="-342" r="-342" t="0" b="0"/>
          <a:stretch/>
        </p:blipFill>
        <p:spPr>
          <a:xfrm>
            <a:off x="761695" y="9010498"/>
            <a:ext cx="57607" cy="400507"/>
          </a:xfrm>
          <a:prstGeom prst="rect">
            <a:avLst/>
          </a:prstGeom>
        </p:spPr>
      </p:pic>
      <p:sp>
        <p:nvSpPr>
          <p:cNvPr id="22" name="Shape 10"/>
          <p:cNvSpPr/>
          <p:nvPr/>
        </p:nvSpPr>
        <p:spPr>
          <a:xfrm>
            <a:off x="2286000" y="2743200"/>
            <a:ext cx="571500" cy="228600"/>
          </a:xfrm>
          <a:prstGeom prst="rect">
            <a:avLst/>
          </a:prstGeom>
          <a:solidFill>
            <a:srgbClr val="B8581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11"/>
          <p:cNvSpPr/>
          <p:nvPr/>
        </p:nvSpPr>
        <p:spPr>
          <a:xfrm>
            <a:off x="8001000" y="2743200"/>
            <a:ext cx="571500" cy="228600"/>
          </a:xfrm>
          <a:prstGeom prst="rect">
            <a:avLst/>
          </a:prstGeom>
          <a:solidFill>
            <a:srgbClr val="54616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12"/>
          <p:cNvSpPr/>
          <p:nvPr/>
        </p:nvSpPr>
        <p:spPr>
          <a:xfrm>
            <a:off x="13716000" y="2743200"/>
            <a:ext cx="571500" cy="228600"/>
          </a:xfrm>
          <a:prstGeom prst="rect">
            <a:avLst/>
          </a:prstGeom>
          <a:solidFill>
            <a:srgbClr val="2D6A4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13"/>
          <p:cNvSpPr txBox="1"/>
          <p:nvPr/>
        </p:nvSpPr>
        <p:spPr>
          <a:xfrm>
            <a:off x="761695" y="400507"/>
            <a:ext cx="1334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DOC //</a:t>
            </a:r>
            <a:endParaRPr lang="en-US" sz="1050" dirty="0"/>
          </a:p>
        </p:txBody>
      </p:sp>
      <p:sp>
        <p:nvSpPr>
          <p:cNvPr id="26" name="Text 14"/>
          <p:cNvSpPr txBox="1"/>
          <p:nvPr/>
        </p:nvSpPr>
        <p:spPr>
          <a:xfrm>
            <a:off x="761695" y="629107"/>
            <a:ext cx="13341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63" kern="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EV-BEOL-BLV-018</a:t>
            </a:r>
            <a:endParaRPr lang="en-US" sz="1050" dirty="0"/>
          </a:p>
        </p:txBody>
      </p:sp>
      <p:sp>
        <p:nvSpPr>
          <p:cNvPr id="27" name="Text 15"/>
          <p:cNvSpPr txBox="1"/>
          <p:nvPr/>
        </p:nvSpPr>
        <p:spPr>
          <a:xfrm>
            <a:off x="761695" y="857707"/>
            <a:ext cx="14287500" cy="5815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0E1F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이상 사례 + 종합 finding</a:t>
            </a:r>
            <a:endParaRPr lang="en-US" sz="3150" dirty="0"/>
          </a:p>
        </p:txBody>
      </p:sp>
      <p:sp>
        <p:nvSpPr>
          <p:cNvPr id="28" name="Text 16"/>
          <p:cNvSpPr txBox="1"/>
          <p:nvPr/>
        </p:nvSpPr>
        <p:spPr>
          <a:xfrm>
            <a:off x="761695" y="1514246"/>
            <a:ext cx="142875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25" dirty="0">
                <a:solidFill>
                  <a:srgbClr val="4D566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defect log + 3 case study + 권고 split — dummy 평가의 1차 wrap-up</a:t>
            </a:r>
            <a:endParaRPr lang="en-US" sz="1425" dirty="0"/>
          </a:p>
        </p:txBody>
      </p:sp>
      <p:sp>
        <p:nvSpPr>
          <p:cNvPr id="29" name="Text 17"/>
          <p:cNvSpPr txBox="1"/>
          <p:nvPr/>
        </p:nvSpPr>
        <p:spPr>
          <a:xfrm>
            <a:off x="15430500" y="400507"/>
            <a:ext cx="20958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spc="98" kern="0" dirty="0">
                <a:solidFill>
                  <a:srgbClr val="5A62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 0.6 · INTERNAL</a:t>
            </a:r>
            <a:endParaRPr lang="en-US" sz="975" dirty="0"/>
          </a:p>
        </p:txBody>
      </p:sp>
      <p:sp>
        <p:nvSpPr>
          <p:cNvPr id="30" name="Text 18"/>
          <p:cNvSpPr txBox="1"/>
          <p:nvPr/>
        </p:nvSpPr>
        <p:spPr>
          <a:xfrm>
            <a:off x="15430500" y="599846"/>
            <a:ext cx="20958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dirty="0">
                <a:solidFill>
                  <a:srgbClr val="5A62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2026-10-03</a:t>
            </a:r>
            <a:endParaRPr lang="en-US" sz="975" dirty="0"/>
          </a:p>
        </p:txBody>
      </p:sp>
      <p:sp>
        <p:nvSpPr>
          <p:cNvPr id="31" name="Text 19"/>
          <p:cNvSpPr txBox="1"/>
          <p:nvPr/>
        </p:nvSpPr>
        <p:spPr>
          <a:xfrm>
            <a:off x="914400" y="1790395"/>
            <a:ext cx="142875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spc="168" kern="0" dirty="0">
                <a:solidFill>
                  <a:srgbClr val="8A2D2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§ 01 / 12 · DEFECT LOG &amp; FINDINGS</a:t>
            </a:r>
            <a:endParaRPr lang="en-US" sz="1050" dirty="0"/>
          </a:p>
        </p:txBody>
      </p:sp>
      <p:sp>
        <p:nvSpPr>
          <p:cNvPr id="32" name="Text 20"/>
          <p:cNvSpPr txBox="1"/>
          <p:nvPr/>
        </p:nvSpPr>
        <p:spPr>
          <a:xfrm>
            <a:off x="914400" y="2000707"/>
            <a:ext cx="142875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상단 3 case study (공정 단계별) · 하단 결함 로그 표 · 최하단 권고 split 한 줄 + dummy caveat.</a:t>
            </a:r>
            <a:endParaRPr lang="en-US" sz="975" dirty="0"/>
          </a:p>
        </p:txBody>
      </p:sp>
      <p:sp>
        <p:nvSpPr>
          <p:cNvPr id="33" name="Text 21"/>
          <p:cNvSpPr txBox="1"/>
          <p:nvPr/>
        </p:nvSpPr>
        <p:spPr>
          <a:xfrm>
            <a:off x="914400" y="2361895"/>
            <a:ext cx="51435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CASE 01 · W02 BLV-Co via-bottom skip</a:t>
            </a:r>
            <a:endParaRPr lang="en-US" sz="975" dirty="0"/>
          </a:p>
        </p:txBody>
      </p:sp>
      <p:sp>
        <p:nvSpPr>
          <p:cNvPr id="34" name="Text 22"/>
          <p:cNvSpPr txBox="1"/>
          <p:nvPr/>
        </p:nvSpPr>
        <p:spPr>
          <a:xfrm>
            <a:off x="2286000" y="2743200"/>
            <a:ext cx="5715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</a:t>
            </a:r>
            <a:endParaRPr lang="en-US" sz="975" dirty="0"/>
          </a:p>
        </p:txBody>
      </p:sp>
      <p:sp>
        <p:nvSpPr>
          <p:cNvPr id="35" name="Text 23"/>
          <p:cNvSpPr txBox="1"/>
          <p:nvPr/>
        </p:nvSpPr>
        <p:spPr>
          <a:xfrm>
            <a:off x="3353105" y="2819095"/>
            <a:ext cx="26673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관찰 위치 / site</a:t>
            </a:r>
            <a:endParaRPr lang="en-US" sz="1050" dirty="0"/>
          </a:p>
        </p:txBody>
      </p:sp>
      <p:sp>
        <p:nvSpPr>
          <p:cNvPr id="36" name="Text 24"/>
          <p:cNvSpPr txBox="1"/>
          <p:nvPr/>
        </p:nvSpPr>
        <p:spPr>
          <a:xfrm>
            <a:off x="3353105" y="3047695"/>
            <a:ext cx="317388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E1F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W02 V1 via bottom · dummy site 11 / 196</a:t>
            </a:r>
            <a:endParaRPr lang="en-US" sz="1050" dirty="0"/>
          </a:p>
        </p:txBody>
      </p:sp>
      <p:sp>
        <p:nvSpPr>
          <p:cNvPr id="37" name="Text 25"/>
          <p:cNvSpPr txBox="1"/>
          <p:nvPr/>
        </p:nvSpPr>
        <p:spPr>
          <a:xfrm>
            <a:off x="3353105" y="3276295"/>
            <a:ext cx="26673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관찰 단계</a:t>
            </a:r>
            <a:endParaRPr lang="en-US" sz="1050" dirty="0"/>
          </a:p>
        </p:txBody>
      </p:sp>
      <p:sp>
        <p:nvSpPr>
          <p:cNvPr id="38" name="Text 26"/>
          <p:cNvSpPr txBox="1"/>
          <p:nvPr/>
        </p:nvSpPr>
        <p:spPr>
          <a:xfrm>
            <a:off x="3353105" y="3504895"/>
            <a:ext cx="282732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E1F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post-CMP / dummy SEM cross-section</a:t>
            </a:r>
            <a:endParaRPr lang="en-US" sz="1050" dirty="0"/>
          </a:p>
        </p:txBody>
      </p:sp>
      <p:sp>
        <p:nvSpPr>
          <p:cNvPr id="39" name="Text 27"/>
          <p:cNvSpPr txBox="1"/>
          <p:nvPr/>
        </p:nvSpPr>
        <p:spPr>
          <a:xfrm>
            <a:off x="3353105" y="3733495"/>
            <a:ext cx="26673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추정 원인</a:t>
            </a:r>
            <a:endParaRPr lang="en-US" sz="1050" dirty="0"/>
          </a:p>
        </p:txBody>
      </p:sp>
      <p:sp>
        <p:nvSpPr>
          <p:cNvPr id="40" name="Text 28"/>
          <p:cNvSpPr txBox="1"/>
          <p:nvPr/>
        </p:nvSpPr>
        <p:spPr>
          <a:xfrm>
            <a:off x="3353105" y="3962095"/>
            <a:ext cx="317388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E1F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 selectivity 부족 · via bottom 부분 skip</a:t>
            </a:r>
            <a:endParaRPr lang="en-US" sz="1050" dirty="0"/>
          </a:p>
        </p:txBody>
      </p:sp>
      <p:sp>
        <p:nvSpPr>
          <p:cNvPr id="41" name="Text 29"/>
          <p:cNvSpPr txBox="1"/>
          <p:nvPr/>
        </p:nvSpPr>
        <p:spPr>
          <a:xfrm>
            <a:off x="3353105" y="4229100"/>
            <a:ext cx="26673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858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counter</a:t>
            </a:r>
            <a:endParaRPr lang="en-US" sz="1050" dirty="0"/>
          </a:p>
        </p:txBody>
      </p:sp>
      <p:sp>
        <p:nvSpPr>
          <p:cNvPr id="42" name="Text 30"/>
          <p:cNvSpPr txBox="1"/>
          <p:nvPr/>
        </p:nvSpPr>
        <p:spPr>
          <a:xfrm>
            <a:off x="3353105" y="4438498"/>
            <a:ext cx="3019349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pretreat O2 flash · selectivity 90s 확인</a:t>
            </a:r>
            <a:endParaRPr lang="en-US" sz="975" dirty="0"/>
          </a:p>
        </p:txBody>
      </p:sp>
      <p:sp>
        <p:nvSpPr>
          <p:cNvPr id="43" name="Text 31"/>
          <p:cNvSpPr txBox="1"/>
          <p:nvPr/>
        </p:nvSpPr>
        <p:spPr>
          <a:xfrm>
            <a:off x="6629400" y="2361895"/>
            <a:ext cx="51435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CASE 02 · W01 dense-corner dishing</a:t>
            </a:r>
            <a:endParaRPr lang="en-US" sz="975" dirty="0"/>
          </a:p>
        </p:txBody>
      </p:sp>
      <p:sp>
        <p:nvSpPr>
          <p:cNvPr id="44" name="Text 32"/>
          <p:cNvSpPr txBox="1"/>
          <p:nvPr/>
        </p:nvSpPr>
        <p:spPr>
          <a:xfrm>
            <a:off x="8001000" y="2743200"/>
            <a:ext cx="5715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</a:t>
            </a:r>
            <a:endParaRPr lang="en-US" sz="975" dirty="0"/>
          </a:p>
        </p:txBody>
      </p:sp>
      <p:sp>
        <p:nvSpPr>
          <p:cNvPr id="45" name="Text 33"/>
          <p:cNvSpPr txBox="1"/>
          <p:nvPr/>
        </p:nvSpPr>
        <p:spPr>
          <a:xfrm>
            <a:off x="9068105" y="2819095"/>
            <a:ext cx="26673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관찰 위치</a:t>
            </a:r>
            <a:endParaRPr lang="en-US" sz="1050" dirty="0"/>
          </a:p>
        </p:txBody>
      </p:sp>
      <p:sp>
        <p:nvSpPr>
          <p:cNvPr id="46" name="Text 34"/>
          <p:cNvSpPr txBox="1"/>
          <p:nvPr/>
        </p:nvSpPr>
        <p:spPr>
          <a:xfrm>
            <a:off x="9068105" y="3047695"/>
            <a:ext cx="282732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E1F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W01 M2 dense corner · dummy 9 site</a:t>
            </a:r>
            <a:endParaRPr lang="en-US" sz="1050" dirty="0"/>
          </a:p>
        </p:txBody>
      </p:sp>
      <p:sp>
        <p:nvSpPr>
          <p:cNvPr id="47" name="Text 35"/>
          <p:cNvSpPr txBox="1"/>
          <p:nvPr/>
        </p:nvSpPr>
        <p:spPr>
          <a:xfrm>
            <a:off x="9068105" y="3276295"/>
            <a:ext cx="26673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관찰 단계</a:t>
            </a:r>
            <a:endParaRPr lang="en-US" sz="1050" dirty="0"/>
          </a:p>
        </p:txBody>
      </p:sp>
      <p:sp>
        <p:nvSpPr>
          <p:cNvPr id="48" name="Text 36"/>
          <p:cNvSpPr txBox="1"/>
          <p:nvPr/>
        </p:nvSpPr>
        <p:spPr>
          <a:xfrm>
            <a:off x="9068105" y="3504895"/>
            <a:ext cx="26673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E1F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ACI (post-CMP) profilometry</a:t>
            </a:r>
            <a:endParaRPr lang="en-US" sz="1050" dirty="0"/>
          </a:p>
        </p:txBody>
      </p:sp>
      <p:sp>
        <p:nvSpPr>
          <p:cNvPr id="49" name="Text 37"/>
          <p:cNvSpPr txBox="1"/>
          <p:nvPr/>
        </p:nvSpPr>
        <p:spPr>
          <a:xfrm>
            <a:off x="9068105" y="3676802"/>
            <a:ext cx="26673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추정 원인</a:t>
            </a:r>
            <a:endParaRPr lang="en-US" sz="1050" dirty="0"/>
          </a:p>
        </p:txBody>
      </p:sp>
      <p:sp>
        <p:nvSpPr>
          <p:cNvPr id="50" name="Text 38"/>
          <p:cNvSpPr txBox="1"/>
          <p:nvPr/>
        </p:nvSpPr>
        <p:spPr>
          <a:xfrm>
            <a:off x="9068105" y="3905402"/>
            <a:ext cx="26673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E1F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CMP down-force variation</a:t>
            </a:r>
            <a:endParaRPr lang="en-US" sz="1050" dirty="0"/>
          </a:p>
        </p:txBody>
      </p:sp>
      <p:sp>
        <p:nvSpPr>
          <p:cNvPr id="51" name="Text 39"/>
          <p:cNvSpPr txBox="1"/>
          <p:nvPr/>
        </p:nvSpPr>
        <p:spPr>
          <a:xfrm>
            <a:off x="9068105" y="4381805"/>
            <a:ext cx="26673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461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counter</a:t>
            </a:r>
            <a:endParaRPr lang="en-US" sz="1050" dirty="0"/>
          </a:p>
        </p:txBody>
      </p:sp>
      <p:sp>
        <p:nvSpPr>
          <p:cNvPr id="52" name="Text 40"/>
          <p:cNvSpPr txBox="1"/>
          <p:nvPr/>
        </p:nvSpPr>
        <p:spPr>
          <a:xfrm>
            <a:off x="9068105" y="4610405"/>
            <a:ext cx="266730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dummy: pattern polish tune</a:t>
            </a:r>
            <a:endParaRPr lang="en-US" sz="975" dirty="0"/>
          </a:p>
        </p:txBody>
      </p:sp>
      <p:sp>
        <p:nvSpPr>
          <p:cNvPr id="53" name="Text 41"/>
          <p:cNvSpPr txBox="1"/>
          <p:nvPr/>
        </p:nvSpPr>
        <p:spPr>
          <a:xfrm>
            <a:off x="12344400" y="2361895"/>
            <a:ext cx="51435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CASE 03 · W04 minor pipe void (1 site)</a:t>
            </a:r>
            <a:endParaRPr lang="en-US" sz="975" dirty="0"/>
          </a:p>
        </p:txBody>
      </p:sp>
      <p:sp>
        <p:nvSpPr>
          <p:cNvPr id="54" name="Text 42"/>
          <p:cNvSpPr txBox="1"/>
          <p:nvPr/>
        </p:nvSpPr>
        <p:spPr>
          <a:xfrm>
            <a:off x="13716000" y="2743200"/>
            <a:ext cx="5715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</a:t>
            </a:r>
            <a:endParaRPr lang="en-US" sz="975" dirty="0"/>
          </a:p>
        </p:txBody>
      </p:sp>
      <p:sp>
        <p:nvSpPr>
          <p:cNvPr id="55" name="Text 43"/>
          <p:cNvSpPr txBox="1"/>
          <p:nvPr/>
        </p:nvSpPr>
        <p:spPr>
          <a:xfrm>
            <a:off x="14783105" y="2819095"/>
            <a:ext cx="26673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관찰 위치</a:t>
            </a:r>
            <a:endParaRPr lang="en-US" sz="1050" dirty="0"/>
          </a:p>
        </p:txBody>
      </p:sp>
      <p:sp>
        <p:nvSpPr>
          <p:cNvPr id="56" name="Text 44"/>
          <p:cNvSpPr txBox="1"/>
          <p:nvPr/>
        </p:nvSpPr>
        <p:spPr>
          <a:xfrm>
            <a:off x="14783105" y="3047695"/>
            <a:ext cx="26673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E1F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W04 V1 · edge ring site 1 / 49</a:t>
            </a:r>
            <a:endParaRPr lang="en-US" sz="1050" dirty="0"/>
          </a:p>
        </p:txBody>
      </p:sp>
      <p:sp>
        <p:nvSpPr>
          <p:cNvPr id="57" name="Text 45"/>
          <p:cNvSpPr txBox="1"/>
          <p:nvPr/>
        </p:nvSpPr>
        <p:spPr>
          <a:xfrm>
            <a:off x="14783105" y="3276295"/>
            <a:ext cx="26673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관찰 단계</a:t>
            </a:r>
            <a:endParaRPr lang="en-US" sz="1050" dirty="0"/>
          </a:p>
        </p:txBody>
      </p:sp>
      <p:sp>
        <p:nvSpPr>
          <p:cNvPr id="58" name="Text 46"/>
          <p:cNvSpPr txBox="1"/>
          <p:nvPr/>
        </p:nvSpPr>
        <p:spPr>
          <a:xfrm>
            <a:off x="14783105" y="3504895"/>
            <a:ext cx="26673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E1F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TEM cross-section · 800k×</a:t>
            </a:r>
            <a:endParaRPr lang="en-US" sz="1050" dirty="0"/>
          </a:p>
        </p:txBody>
      </p:sp>
      <p:sp>
        <p:nvSpPr>
          <p:cNvPr id="59" name="Text 47"/>
          <p:cNvSpPr txBox="1"/>
          <p:nvPr/>
        </p:nvSpPr>
        <p:spPr>
          <a:xfrm>
            <a:off x="14783105" y="3676802"/>
            <a:ext cx="26673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추정 원인</a:t>
            </a:r>
            <a:endParaRPr lang="en-US" sz="1050" dirty="0"/>
          </a:p>
        </p:txBody>
      </p:sp>
      <p:sp>
        <p:nvSpPr>
          <p:cNvPr id="60" name="Text 48"/>
          <p:cNvSpPr txBox="1"/>
          <p:nvPr/>
        </p:nvSpPr>
        <p:spPr>
          <a:xfrm>
            <a:off x="14783105" y="3905402"/>
            <a:ext cx="26673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E1F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post-Cu plating micro-void</a:t>
            </a:r>
            <a:endParaRPr lang="en-US" sz="1050" dirty="0"/>
          </a:p>
        </p:txBody>
      </p:sp>
      <p:sp>
        <p:nvSpPr>
          <p:cNvPr id="61" name="Text 49"/>
          <p:cNvSpPr txBox="1"/>
          <p:nvPr/>
        </p:nvSpPr>
        <p:spPr>
          <a:xfrm>
            <a:off x="14783105" y="4381805"/>
            <a:ext cx="26673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D6A4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counter</a:t>
            </a:r>
            <a:endParaRPr lang="en-US" sz="1050" dirty="0"/>
          </a:p>
        </p:txBody>
      </p:sp>
      <p:sp>
        <p:nvSpPr>
          <p:cNvPr id="62" name="Text 50"/>
          <p:cNvSpPr txBox="1"/>
          <p:nvPr/>
        </p:nvSpPr>
        <p:spPr>
          <a:xfrm>
            <a:off x="14783105" y="4610405"/>
            <a:ext cx="266730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dummy: monitor site bias</a:t>
            </a:r>
            <a:endParaRPr lang="en-US" sz="975" dirty="0"/>
          </a:p>
        </p:txBody>
      </p:sp>
      <p:sp>
        <p:nvSpPr>
          <p:cNvPr id="63" name="Text 51"/>
          <p:cNvSpPr txBox="1"/>
          <p:nvPr/>
        </p:nvSpPr>
        <p:spPr>
          <a:xfrm>
            <a:off x="914400" y="5296205"/>
            <a:ext cx="85725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spc="168" kern="0" dirty="0">
                <a:solidFill>
                  <a:srgbClr val="B858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defect log · wafer 별 결함 카운트 + 발생률</a:t>
            </a:r>
            <a:endParaRPr lang="en-US" sz="1050" dirty="0"/>
          </a:p>
        </p:txBody>
      </p:sp>
      <p:sp>
        <p:nvSpPr>
          <p:cNvPr id="64" name="Text 52"/>
          <p:cNvSpPr txBox="1"/>
          <p:nvPr/>
        </p:nvSpPr>
        <p:spPr>
          <a:xfrm>
            <a:off x="15240305" y="5296205"/>
            <a:ext cx="20958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dirty="0">
                <a:solidFill>
                  <a:srgbClr val="B8C0C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dummy·5 die × 49 site</a:t>
            </a:r>
            <a:endParaRPr lang="en-US" sz="975" dirty="0"/>
          </a:p>
        </p:txBody>
      </p:sp>
      <p:sp>
        <p:nvSpPr>
          <p:cNvPr id="65" name="Text 53"/>
          <p:cNvSpPr txBox="1"/>
          <p:nvPr/>
        </p:nvSpPr>
        <p:spPr>
          <a:xfrm>
            <a:off x="914400" y="5790895"/>
            <a:ext cx="2286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E1F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split</a:t>
            </a:r>
            <a:endParaRPr lang="en-US" sz="1050" dirty="0"/>
          </a:p>
        </p:txBody>
      </p:sp>
      <p:sp>
        <p:nvSpPr>
          <p:cNvPr id="66" name="Text 54"/>
          <p:cNvSpPr txBox="1"/>
          <p:nvPr/>
        </p:nvSpPr>
        <p:spPr>
          <a:xfrm>
            <a:off x="3200400" y="5790895"/>
            <a:ext cx="20958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via void / skip</a:t>
            </a:r>
            <a:endParaRPr lang="en-US" sz="1050" dirty="0"/>
          </a:p>
        </p:txBody>
      </p:sp>
      <p:sp>
        <p:nvSpPr>
          <p:cNvPr id="67" name="Text 55"/>
          <p:cNvSpPr txBox="1"/>
          <p:nvPr/>
        </p:nvSpPr>
        <p:spPr>
          <a:xfrm>
            <a:off x="5296205" y="5790895"/>
            <a:ext cx="20958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over-erosion site</a:t>
            </a:r>
            <a:endParaRPr lang="en-US" sz="1050" dirty="0"/>
          </a:p>
        </p:txBody>
      </p:sp>
      <p:sp>
        <p:nvSpPr>
          <p:cNvPr id="68" name="Text 56"/>
          <p:cNvSpPr txBox="1"/>
          <p:nvPr/>
        </p:nvSpPr>
        <p:spPr>
          <a:xfrm>
            <a:off x="7391095" y="5790895"/>
            <a:ext cx="20958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partial dishing</a:t>
            </a:r>
            <a:endParaRPr lang="en-US" sz="1050" dirty="0"/>
          </a:p>
        </p:txBody>
      </p:sp>
      <p:sp>
        <p:nvSpPr>
          <p:cNvPr id="69" name="Text 57"/>
          <p:cNvSpPr txBox="1"/>
          <p:nvPr/>
        </p:nvSpPr>
        <p:spPr>
          <a:xfrm>
            <a:off x="9486900" y="5790895"/>
            <a:ext cx="2286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micro-void (TEM)</a:t>
            </a:r>
            <a:endParaRPr lang="en-US" sz="1050" dirty="0"/>
          </a:p>
        </p:txBody>
      </p:sp>
      <p:sp>
        <p:nvSpPr>
          <p:cNvPr id="70" name="Text 58"/>
          <p:cNvSpPr txBox="1"/>
          <p:nvPr/>
        </p:nvSpPr>
        <p:spPr>
          <a:xfrm>
            <a:off x="11772900" y="5790895"/>
            <a:ext cx="2286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total count</a:t>
            </a:r>
            <a:endParaRPr lang="en-US" sz="1050" dirty="0"/>
          </a:p>
        </p:txBody>
      </p:sp>
      <p:sp>
        <p:nvSpPr>
          <p:cNvPr id="71" name="Text 59"/>
          <p:cNvSpPr txBox="1"/>
          <p:nvPr/>
        </p:nvSpPr>
        <p:spPr>
          <a:xfrm>
            <a:off x="14058900" y="5790895"/>
            <a:ext cx="32388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E1F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note</a:t>
            </a:r>
            <a:endParaRPr lang="en-US" sz="1050" dirty="0"/>
          </a:p>
        </p:txBody>
      </p:sp>
      <p:sp>
        <p:nvSpPr>
          <p:cNvPr id="72" name="Text 60"/>
          <p:cNvSpPr txBox="1"/>
          <p:nvPr/>
        </p:nvSpPr>
        <p:spPr>
          <a:xfrm>
            <a:off x="914400" y="6286500"/>
            <a:ext cx="2286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5461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W01 REF</a:t>
            </a:r>
            <a:endParaRPr lang="en-US" sz="1350" dirty="0"/>
          </a:p>
        </p:txBody>
      </p:sp>
      <p:sp>
        <p:nvSpPr>
          <p:cNvPr id="73" name="Text 61"/>
          <p:cNvSpPr txBox="1"/>
          <p:nvPr/>
        </p:nvSpPr>
        <p:spPr>
          <a:xfrm>
            <a:off x="3200400" y="6248095"/>
            <a:ext cx="20958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</a:t>
            </a:r>
            <a:endParaRPr lang="en-US" sz="1350" dirty="0"/>
          </a:p>
        </p:txBody>
      </p:sp>
      <p:sp>
        <p:nvSpPr>
          <p:cNvPr id="74" name="Text 62"/>
          <p:cNvSpPr txBox="1"/>
          <p:nvPr/>
        </p:nvSpPr>
        <p:spPr>
          <a:xfrm>
            <a:off x="5296205" y="6248095"/>
            <a:ext cx="20958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</a:t>
            </a:r>
            <a:endParaRPr lang="en-US" sz="1350" dirty="0"/>
          </a:p>
        </p:txBody>
      </p:sp>
      <p:sp>
        <p:nvSpPr>
          <p:cNvPr id="75" name="Text 63"/>
          <p:cNvSpPr txBox="1"/>
          <p:nvPr/>
        </p:nvSpPr>
        <p:spPr>
          <a:xfrm>
            <a:off x="7391095" y="6248095"/>
            <a:ext cx="20958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54616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</a:t>
            </a:r>
            <a:endParaRPr lang="en-US" sz="1350" dirty="0"/>
          </a:p>
        </p:txBody>
      </p:sp>
      <p:sp>
        <p:nvSpPr>
          <p:cNvPr id="76" name="Text 64"/>
          <p:cNvSpPr txBox="1"/>
          <p:nvPr/>
        </p:nvSpPr>
        <p:spPr>
          <a:xfrm>
            <a:off x="9486900" y="6248095"/>
            <a:ext cx="2286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1350" dirty="0"/>
          </a:p>
        </p:txBody>
      </p:sp>
      <p:sp>
        <p:nvSpPr>
          <p:cNvPr id="77" name="Text 65"/>
          <p:cNvSpPr txBox="1"/>
          <p:nvPr/>
        </p:nvSpPr>
        <p:spPr>
          <a:xfrm>
            <a:off x="11772900" y="6248095"/>
            <a:ext cx="2286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54616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 / 980</a:t>
            </a:r>
            <a:endParaRPr lang="en-US" sz="1350" dirty="0"/>
          </a:p>
        </p:txBody>
      </p:sp>
      <p:sp>
        <p:nvSpPr>
          <p:cNvPr id="78" name="Text 66"/>
          <p:cNvSpPr txBox="1"/>
          <p:nvPr/>
        </p:nvSpPr>
        <p:spPr>
          <a:xfrm>
            <a:off x="14058900" y="6286500"/>
            <a:ext cx="32388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461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dense corner dishing dominant</a:t>
            </a:r>
            <a:endParaRPr lang="en-US" sz="1050" dirty="0"/>
          </a:p>
        </p:txBody>
      </p:sp>
      <p:sp>
        <p:nvSpPr>
          <p:cNvPr id="79" name="Text 67"/>
          <p:cNvSpPr txBox="1"/>
          <p:nvPr/>
        </p:nvSpPr>
        <p:spPr>
          <a:xfrm>
            <a:off x="914400" y="6743700"/>
            <a:ext cx="2286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B858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W02 Co</a:t>
            </a:r>
            <a:endParaRPr lang="en-US" sz="1350" dirty="0"/>
          </a:p>
        </p:txBody>
      </p:sp>
      <p:sp>
        <p:nvSpPr>
          <p:cNvPr id="80" name="Text 68"/>
          <p:cNvSpPr txBox="1"/>
          <p:nvPr/>
        </p:nvSpPr>
        <p:spPr>
          <a:xfrm>
            <a:off x="3200400" y="6705295"/>
            <a:ext cx="20958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B858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</a:t>
            </a:r>
            <a:endParaRPr lang="en-US" sz="1350" dirty="0"/>
          </a:p>
        </p:txBody>
      </p:sp>
      <p:sp>
        <p:nvSpPr>
          <p:cNvPr id="81" name="Text 69"/>
          <p:cNvSpPr txBox="1"/>
          <p:nvPr/>
        </p:nvSpPr>
        <p:spPr>
          <a:xfrm>
            <a:off x="5296205" y="6705295"/>
            <a:ext cx="20958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B858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</a:t>
            </a:r>
            <a:endParaRPr lang="en-US" sz="1350" dirty="0"/>
          </a:p>
        </p:txBody>
      </p:sp>
      <p:sp>
        <p:nvSpPr>
          <p:cNvPr id="82" name="Text 70"/>
          <p:cNvSpPr txBox="1"/>
          <p:nvPr/>
        </p:nvSpPr>
        <p:spPr>
          <a:xfrm>
            <a:off x="7391095" y="6705295"/>
            <a:ext cx="20958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1350" dirty="0"/>
          </a:p>
        </p:txBody>
      </p:sp>
      <p:sp>
        <p:nvSpPr>
          <p:cNvPr id="83" name="Text 71"/>
          <p:cNvSpPr txBox="1"/>
          <p:nvPr/>
        </p:nvSpPr>
        <p:spPr>
          <a:xfrm>
            <a:off x="9486900" y="6705295"/>
            <a:ext cx="2286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1350" dirty="0"/>
          </a:p>
        </p:txBody>
      </p:sp>
      <p:sp>
        <p:nvSpPr>
          <p:cNvPr id="84" name="Text 72"/>
          <p:cNvSpPr txBox="1"/>
          <p:nvPr/>
        </p:nvSpPr>
        <p:spPr>
          <a:xfrm>
            <a:off x="11772900" y="6705295"/>
            <a:ext cx="2286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B858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24 / 960</a:t>
            </a:r>
            <a:endParaRPr lang="en-US" sz="1350" dirty="0"/>
          </a:p>
        </p:txBody>
      </p:sp>
      <p:sp>
        <p:nvSpPr>
          <p:cNvPr id="85" name="Text 73"/>
          <p:cNvSpPr txBox="1"/>
          <p:nvPr/>
        </p:nvSpPr>
        <p:spPr>
          <a:xfrm>
            <a:off x="14058900" y="6743700"/>
            <a:ext cx="32388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858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via skip + erosion 최다·조기 flag</a:t>
            </a:r>
            <a:endParaRPr lang="en-US" sz="1050" dirty="0"/>
          </a:p>
        </p:txBody>
      </p:sp>
      <p:sp>
        <p:nvSpPr>
          <p:cNvPr id="86" name="Text 74"/>
          <p:cNvSpPr txBox="1"/>
          <p:nvPr/>
        </p:nvSpPr>
        <p:spPr>
          <a:xfrm>
            <a:off x="914400" y="7200900"/>
            <a:ext cx="2286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F53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W03 Ru</a:t>
            </a:r>
            <a:endParaRPr lang="en-US" sz="1350" dirty="0"/>
          </a:p>
        </p:txBody>
      </p:sp>
      <p:sp>
        <p:nvSpPr>
          <p:cNvPr id="87" name="Text 75"/>
          <p:cNvSpPr txBox="1"/>
          <p:nvPr/>
        </p:nvSpPr>
        <p:spPr>
          <a:xfrm>
            <a:off x="3200400" y="7162495"/>
            <a:ext cx="20958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1F536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1350" dirty="0"/>
          </a:p>
        </p:txBody>
      </p:sp>
      <p:sp>
        <p:nvSpPr>
          <p:cNvPr id="88" name="Text 76"/>
          <p:cNvSpPr txBox="1"/>
          <p:nvPr/>
        </p:nvSpPr>
        <p:spPr>
          <a:xfrm>
            <a:off x="5296205" y="7162495"/>
            <a:ext cx="20958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</a:t>
            </a:r>
            <a:endParaRPr lang="en-US" sz="1350" dirty="0"/>
          </a:p>
        </p:txBody>
      </p:sp>
      <p:sp>
        <p:nvSpPr>
          <p:cNvPr id="89" name="Text 77"/>
          <p:cNvSpPr txBox="1"/>
          <p:nvPr/>
        </p:nvSpPr>
        <p:spPr>
          <a:xfrm>
            <a:off x="7391095" y="7162495"/>
            <a:ext cx="20958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1350" dirty="0"/>
          </a:p>
        </p:txBody>
      </p:sp>
      <p:sp>
        <p:nvSpPr>
          <p:cNvPr id="90" name="Text 78"/>
          <p:cNvSpPr txBox="1"/>
          <p:nvPr/>
        </p:nvSpPr>
        <p:spPr>
          <a:xfrm>
            <a:off x="9486900" y="7162495"/>
            <a:ext cx="2286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1350" dirty="0"/>
          </a:p>
        </p:txBody>
      </p:sp>
      <p:sp>
        <p:nvSpPr>
          <p:cNvPr id="91" name="Text 79"/>
          <p:cNvSpPr txBox="1"/>
          <p:nvPr/>
        </p:nvSpPr>
        <p:spPr>
          <a:xfrm>
            <a:off x="11772900" y="7162495"/>
            <a:ext cx="2286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1F536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 / 980</a:t>
            </a:r>
            <a:endParaRPr lang="en-US" sz="1350" dirty="0"/>
          </a:p>
        </p:txBody>
      </p:sp>
      <p:sp>
        <p:nvSpPr>
          <p:cNvPr id="92" name="Text 80"/>
          <p:cNvSpPr txBox="1"/>
          <p:nvPr/>
        </p:nvSpPr>
        <p:spPr>
          <a:xfrm>
            <a:off x="14058900" y="7200900"/>
            <a:ext cx="32388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53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lowest count dummy</a:t>
            </a:r>
            <a:endParaRPr lang="en-US" sz="1050" dirty="0"/>
          </a:p>
        </p:txBody>
      </p:sp>
      <p:sp>
        <p:nvSpPr>
          <p:cNvPr id="93" name="Text 81"/>
          <p:cNvSpPr txBox="1"/>
          <p:nvPr/>
        </p:nvSpPr>
        <p:spPr>
          <a:xfrm>
            <a:off x="914400" y="7658100"/>
            <a:ext cx="2286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D6A4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W04 hybrid</a:t>
            </a:r>
            <a:endParaRPr lang="en-US" sz="1350" dirty="0"/>
          </a:p>
        </p:txBody>
      </p:sp>
      <p:sp>
        <p:nvSpPr>
          <p:cNvPr id="94" name="Text 82"/>
          <p:cNvSpPr txBox="1"/>
          <p:nvPr/>
        </p:nvSpPr>
        <p:spPr>
          <a:xfrm>
            <a:off x="3200400" y="7619695"/>
            <a:ext cx="20958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</a:t>
            </a:r>
            <a:endParaRPr lang="en-US" sz="1350" dirty="0"/>
          </a:p>
        </p:txBody>
      </p:sp>
      <p:sp>
        <p:nvSpPr>
          <p:cNvPr id="95" name="Text 83"/>
          <p:cNvSpPr txBox="1"/>
          <p:nvPr/>
        </p:nvSpPr>
        <p:spPr>
          <a:xfrm>
            <a:off x="5296205" y="7619695"/>
            <a:ext cx="20958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</a:t>
            </a:r>
            <a:endParaRPr lang="en-US" sz="1350" dirty="0"/>
          </a:p>
        </p:txBody>
      </p:sp>
      <p:sp>
        <p:nvSpPr>
          <p:cNvPr id="96" name="Text 84"/>
          <p:cNvSpPr txBox="1"/>
          <p:nvPr/>
        </p:nvSpPr>
        <p:spPr>
          <a:xfrm>
            <a:off x="7391095" y="7619695"/>
            <a:ext cx="20958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1350" dirty="0"/>
          </a:p>
        </p:txBody>
      </p:sp>
      <p:sp>
        <p:nvSpPr>
          <p:cNvPr id="97" name="Text 85"/>
          <p:cNvSpPr txBox="1"/>
          <p:nvPr/>
        </p:nvSpPr>
        <p:spPr>
          <a:xfrm>
            <a:off x="9486900" y="7619695"/>
            <a:ext cx="2286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2D6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1350" dirty="0"/>
          </a:p>
        </p:txBody>
      </p:sp>
      <p:sp>
        <p:nvSpPr>
          <p:cNvPr id="98" name="Text 86"/>
          <p:cNvSpPr txBox="1"/>
          <p:nvPr/>
        </p:nvSpPr>
        <p:spPr>
          <a:xfrm>
            <a:off x="11772900" y="7619695"/>
            <a:ext cx="2286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2D6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 / 980</a:t>
            </a:r>
            <a:endParaRPr lang="en-US" sz="1350" dirty="0"/>
          </a:p>
        </p:txBody>
      </p:sp>
      <p:sp>
        <p:nvSpPr>
          <p:cNvPr id="99" name="Text 87"/>
          <p:cNvSpPr txBox="1"/>
          <p:nvPr/>
        </p:nvSpPr>
        <p:spPr>
          <a:xfrm>
            <a:off x="14058900" y="7658100"/>
            <a:ext cx="32388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D6A4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lowest total · selective 강건</a:t>
            </a:r>
            <a:endParaRPr lang="en-US" sz="1050" dirty="0"/>
          </a:p>
        </p:txBody>
      </p:sp>
      <p:sp>
        <p:nvSpPr>
          <p:cNvPr id="100" name="Text 88"/>
          <p:cNvSpPr txBox="1"/>
          <p:nvPr/>
        </p:nvSpPr>
        <p:spPr>
          <a:xfrm>
            <a:off x="838505" y="8591702"/>
            <a:ext cx="21342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spc="156" kern="0" dirty="0">
                <a:solidFill>
                  <a:srgbClr val="B858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RECOMMENDATION</a:t>
            </a:r>
            <a:endParaRPr lang="en-US" sz="975" dirty="0"/>
          </a:p>
        </p:txBody>
      </p:sp>
      <p:sp>
        <p:nvSpPr>
          <p:cNvPr id="101" name="Text 89"/>
          <p:cNvSpPr txBox="1"/>
          <p:nvPr/>
        </p:nvSpPr>
        <p:spPr>
          <a:xfrm>
            <a:off x="3200400" y="8496605"/>
            <a:ext cx="149733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dummy 권고: </a:t>
            </a:r>
            <a:pPr algn="l" indent="0" marL="0">
              <a:buNone/>
            </a:pPr>
            <a:r>
              <a:rPr lang="en-US" sz="1350" b="1" dirty="0">
                <a:solidFill>
                  <a:srgbClr val="2D6A4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W04 hybrid</a:t>
            </a:r>
            <a:pPr algn="l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우선, </a:t>
            </a:r>
            <a:pPr algn="l" indent="0" marL="0">
              <a:buNone/>
            </a:pPr>
            <a:r>
              <a:rPr lang="en-US" sz="1350" b="1" dirty="0">
                <a:solidFill>
                  <a:srgbClr val="1F53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W03 BLV-Ru</a:t>
            </a:r>
            <a:pPr algn="l" indent="0" marL="0">
              <a:buNone/>
            </a:pPr>
            <a:r>
              <a:rPr lang="en-US" sz="1350" dirty="0">
                <a:solidFill>
                  <a:srgbClr val="0E1F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차선 — RSBM selectivity 강건, 결함률 dummy 통계 내 최소. W02 BLV-Co select 단계 추가 검증 필요. 본 dummy 평가는 통계 reference.</a:t>
            </a:r>
            <a:endParaRPr lang="en-US" sz="1350" dirty="0"/>
          </a:p>
        </p:txBody>
      </p:sp>
      <p:sp>
        <p:nvSpPr>
          <p:cNvPr id="102" name="Text 90"/>
          <p:cNvSpPr txBox="1"/>
          <p:nvPr/>
        </p:nvSpPr>
        <p:spPr>
          <a:xfrm>
            <a:off x="990295" y="9087307"/>
            <a:ext cx="1239012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spc="176" kern="0" dirty="0">
                <a:solidFill>
                  <a:srgbClr val="8A2D2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TAKEAWAY</a:t>
            </a:r>
            <a:endParaRPr lang="en-US" sz="975" dirty="0"/>
          </a:p>
        </p:txBody>
      </p:sp>
      <p:sp>
        <p:nvSpPr>
          <p:cNvPr id="103" name="Text 91"/>
          <p:cNvSpPr txBox="1"/>
          <p:nvPr/>
        </p:nvSpPr>
        <p:spPr>
          <a:xfrm>
            <a:off x="2361895" y="9048902"/>
            <a:ext cx="1573591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결함 total dummy 통계 내 </a:t>
            </a:r>
            <a:pPr algn="l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W04가 3 / 980</a:t>
            </a:r>
            <a:pPr algn="l" indent="0" marL="0">
              <a:buNone/>
            </a:pPr>
            <a:r>
              <a:rPr lang="en-US" sz="127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으로 안정, </a:t>
            </a:r>
            <a:pPr algn="l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W02는 24 / 960</a:t>
            </a:r>
            <a:pPr algn="l" indent="0" marL="0">
              <a:buNone/>
            </a:pPr>
            <a:r>
              <a:rPr lang="en-US" sz="127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으로 다 카테고리 분포. dummy 평가 한계 — in-line 재현성을 위해선 lot scale 검증 필수, 본 결과는 reference 데이터.</a:t>
            </a:r>
            <a:endParaRPr lang="en-US" sz="1275" dirty="0"/>
          </a:p>
        </p:txBody>
      </p:sp>
      <p:sp>
        <p:nvSpPr>
          <p:cNvPr id="104" name="Text 92"/>
          <p:cNvSpPr txBox="1"/>
          <p:nvPr/>
        </p:nvSpPr>
        <p:spPr>
          <a:xfrm>
            <a:off x="761695" y="9849002"/>
            <a:ext cx="723930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5A62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EV-BEOL-BLV-018 · 파일 18 / 20 · dummy test data</a:t>
            </a:r>
            <a:endParaRPr lang="en-US" sz="975" dirty="0"/>
          </a:p>
        </p:txBody>
      </p:sp>
      <p:sp>
        <p:nvSpPr>
          <p:cNvPr id="105" name="Text 93"/>
          <p:cNvSpPr txBox="1"/>
          <p:nvPr/>
        </p:nvSpPr>
        <p:spPr>
          <a:xfrm>
            <a:off x="8001000" y="9849002"/>
            <a:ext cx="952530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dirty="0">
                <a:solidFill>
                  <a:srgbClr val="5A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※ 내부 테스트용 더미(가상) 데이터 · 12 / 12</a:t>
            </a:r>
            <a:endParaRPr lang="en-US" sz="9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2026-10-03T16:14:38Z</dcterms:created>
  <dcterms:modified xsi:type="dcterms:W3CDTF">2026-10-03T16:14:38Z</dcterms:modified>
</cp:coreProperties>
</file>