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본 RSBM 평가 실험의 목적과 조건을 요약한다. 비교 대상은 동일 M6 layer / 동일 dual damascene 공정 베이스라인에서 barrier 모듈만 ALD TaN/Ru (Split A) 와 PVD Ta/Ta (Split B) 로 분리한 split 이다. 도금 조건, anneal, 메트롤로지 recipe, 전기 평가 항목은 두 split 모두 동일하게 유지하여 barrier 모듈 차이에 의한 효과만 분리해 본다. Wafer는 3매 — W01, W02 는 Split A, W03 은 Split B 로 매핑된다. 평가 metric 으로 CD (AASI/ASEI/AMI/ACI) 변동, in-wafer uniformity, sheet/line/via resistance, inter-metal leakage, EM TTFA 를 사용한다. 발표 시 "다른 조건을 손대지 않고 barrier 만 swap 했다" 는 점을 먼저 분명히 한 뒤, 이후 슬라이드에서 split 별 결과를 한 장씩 풀어가는 흐름을 안내한다.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두 스플릿의 차이를 한 장에 정리한다. Split A — ALD TaN 1.5 nm + ALD Ru 1.0 nm 으로 총 2.5 nm 두께, ALD 의 장점인 step coverage 95 % 이상을 노리는 모듈이다. 매핑은 W01, W02 두 장. Split B — PVD Ta 2.0 nm + PVD TaN 1.5 nm 으로 총 3.5 nm 두께, step coverage 약 60 % 수준이지만 baseline 안정성을 노린다. 매핑은 W03 단일 wafer. seed/plating, post anneal, 그 뒤 모든 process step 은 동일하게 유지해 barrier 만 swap 했음을 분명히 한다. 발표 시 "두께는 1 nm 가까이 차이난다 — 이 차이가 Cu volume 과 저항, EM 수명 모두에 영향을 줄 것" 으로 다음 슬라이드 (SEM) 로 연결한다.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M6 단면 SEM 한 장을 큰 박스로 가운데 두고 우측에 관찰 항목 4 개를 정리한다. 메인 이미지는 공개 자료 (Semiconductor Digest / imec toolbox 기사, https://www.semiconductor-digest.com/scaling-the-beol-a-toolbox-filled-with-new-processes-boosters-and-conductors/) 에서 빌려온 BEOL 단면을 인용해 시각적 기준으로 사용한다. 발표 시 "이 단면 자체는 더미 실험의 실제 cut 이 아니라 reference 단면이지만, 두 split 모두 동일 recipe 로 capture 했고 0°/45° tilt 5 site per die 프로토콜을 따랐다" 고 먼저 말한다. 그 다음 1) barrier conformality, 2) via 하단 thinning — Split B 의 void 위험, 3) ULK 손상 split 간 차이 없음, 4) Cu grain 조대화 — 4 개 포인트로 이동한다. TEM 슬라이드에서 barrier 계면을 더 깊이 보일 거라 여기서는 형상·coating 관점에서 잘라낸다.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 슬라이드에서는 SEM 과 달리 barrier 계면 화학 쪽으로 시선을 옮긴다. 메인 이미지는 우측 큰 박스에 배치 — 공개 자료 (Nature Communications, Turing-patterned barrier 관련 도식)에서 가져온 HAADF 형상을 인용 형식으로 사용한다. 좌측에는 두 split 의 관찰 결과를 카드로 정리: Split A — Ru 직상 Cu 계면에 agglomeration 없음, RMS 0.31 nm 로 매끄럽다, Split B — PVD TaN 위 Cu 계면에 약 1.2 nm 의 부분 비정질 interlayer, sidewall variation 큼. 그 아래에 EDS quick read 를 어두운 박스로 묶어 Cu/O 함량을 4 개 수치로 보여준다 — A 의 O at% 0.9, B 2.3 이라는 차이는 후속 Rs/EM 으로 직결된다고 짚고 넘어간다. 핵심은 "TEM 단계에서 이미 barrier 모듈의 차이가 보였고, 이 차이가 뒤 슬라이드 결과의 원인이 된다" 는 점을 분명히 하는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4 종 CD metric × 3 wafer 결과를 4 카드 (2x2) 로 풀어낸다. metric 별로 AASI / ASEI (파란 그라데이션, 24.6 / 15.8 nm target) 와 AMI / ACI (틸 그라데이션, 9.3 / 8.1 nm target) 의 두 색군으로 묶었는데 이는 ACI 가 after-CMP 시점이라 후행 metric 임을 색으로 표현한 것이다. 각 카드는 헤더 + 3 wafer 행 으로 구성되고 한 행에 mean (큰 숫자 / split 색상), 3σ, range, Δ vs target 을 정렬했다. Δ 음수는 0F766E (틸) 로 살짝 강조, 양수 경미한 것은 주황, +0.35 같은 큰 양수는 그대로 표시. Key takeaway 에서 "Split B (W03) 가 네 metric 모두에서 mean·3σ·range 가 모두 위로 간다" 고 요약한다. 발표 시 "AASI 가 24.6 target 대비 어떻게 모이는지가 첫번째 시그널" 이런 흐름으로 진행.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전기 특성 5 종을 한 표에 정리한다. 의도적으로 도식 (차트) 없이 모두 숫자 테이블로 — Rs (Ω/sq), Rline (Ω/µm), Rvia (Ω/via), Jleak (A/cm² @ 1 MV/cm · 125 °C), EM TTFA (year @ t₅₀, 2 MA/cm² · 300 °C). 헤더에 측정 조건 스트립, 본 표는 6 열 구조 — metric · condition · W01 · W02 · W03 · Δ vs W01. W01·W02 는 Split A 컬러 (#1D4ED8), W03 은 Split B 컬러 (#0F766E) 로 split 색을 일관 적용한다. Δ 컬럼은 전부 양수 또는 큰 음수이므로 주황으로 처리. 발표 시 Rs/Rline/Rvia 는 셋 다 20 % 안팎 차이라 splitter Cu volume 차이로 설명 가능, Jleak +119 % 와 EM TTFA -42 % 는 결정적 차이임을 짚고 wafer 추가 EM 검증이 다음 step 이라고 정리한다.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4.png"/><Relationship Id="rId7" Type="http://schemas.openxmlformats.org/officeDocument/2006/relationships/image" Target="../media/image-1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jpe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jpe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5.png"/><Relationship Id="rId7" Type="http://schemas.openxmlformats.org/officeDocument/2006/relationships/image" Target="../media/image-5-3.png"/><Relationship Id="rId8" Type="http://schemas.openxmlformats.org/officeDocument/2006/relationships/image" Target="../media/image-5-4.png"/><Relationship Id="rId9" Type="http://schemas.openxmlformats.org/officeDocument/2006/relationships/image" Target="../media/image-5-5.png"/><Relationship Id="rId10" Type="http://schemas.openxmlformats.org/officeDocument/2006/relationships/image" Target="../media/image-5-5.png"/><Relationship Id="rId11" Type="http://schemas.openxmlformats.org/officeDocument/2006/relationships/image" Target="../media/image-5-11.png"/><Relationship Id="rId12" Type="http://schemas.openxmlformats.org/officeDocument/2006/relationships/image" Target="../media/image-5-4.png"/><Relationship Id="rId13" Type="http://schemas.openxmlformats.org/officeDocument/2006/relationships/image" Target="../media/image-5-5.png"/><Relationship Id="rId14" Type="http://schemas.openxmlformats.org/officeDocument/2006/relationships/image" Target="../media/image-5-5.png"/><Relationship Id="rId15" Type="http://schemas.openxmlformats.org/officeDocument/2006/relationships/image" Target="../media/image-5-11.png"/><Relationship Id="rId16" Type="http://schemas.openxmlformats.org/officeDocument/2006/relationships/image" Target="../media/image-5-4.png"/><Relationship Id="rId17" Type="http://schemas.openxmlformats.org/officeDocument/2006/relationships/image" Target="../media/image-5-5.png"/><Relationship Id="rId18" Type="http://schemas.openxmlformats.org/officeDocument/2006/relationships/image" Target="../media/image-5-5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3.png"/><Relationship Id="rId5" Type="http://schemas.openxmlformats.org/officeDocument/2006/relationships/image" Target="../media/image-6-3.png"/><Relationship Id="rId6" Type="http://schemas.openxmlformats.org/officeDocument/2006/relationships/image" Target="../media/image-6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5E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bfb57895a49cac99413505a9d8b253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4287500" y="1333195"/>
            <a:ext cx="3448202" cy="163860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571500" y="4476902"/>
            <a:ext cx="5162702" cy="1429207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905195" y="4476902"/>
            <a:ext cx="5162702" cy="1429207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71500" y="6057900"/>
            <a:ext cx="5162702" cy="1429207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905195" y="6057900"/>
            <a:ext cx="5162702" cy="1429207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</p:sp>
      <p:pic>
        <p:nvPicPr>
          <p:cNvPr id="9" name="Image 1" descr="gen-dedup-82dc8a1e7b606bca439e0fc72f2bcfca.png">    </p:cNvPr>
          <p:cNvPicPr>
            <a:picLocks noChangeAspect="1"/>
          </p:cNvPicPr>
          <p:nvPr/>
        </p:nvPicPr>
        <p:blipFill>
          <a:blip r:embed="rId2"/>
          <a:srcRect l="0" r="0" t="-5" b="-5"/>
          <a:stretch/>
        </p:blipFill>
        <p:spPr>
          <a:xfrm>
            <a:off x="11239805" y="4476902"/>
            <a:ext cx="6476695" cy="299100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71500" y="7810805"/>
            <a:ext cx="17164202" cy="1543507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0" y="9620402"/>
            <a:ext cx="18288000" cy="666598"/>
          </a:xfrm>
          <a:prstGeom prst="rect">
            <a:avLst/>
          </a:prstGeom>
          <a:solidFill>
            <a:srgbClr val="0F24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2" descr="gen-dedup-3bc330a2cec19012a14138f805592d46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571500" y="514807"/>
            <a:ext cx="17145000" cy="9144"/>
          </a:xfrm>
          <a:prstGeom prst="rect">
            <a:avLst/>
          </a:prstGeom>
        </p:spPr>
      </p:pic>
      <p:pic>
        <p:nvPicPr>
          <p:cNvPr id="13" name="Image 3" descr="gen-dedup-8adf1e833e54bb068b83a7f7812ab623.png">    </p:cNvPr>
          <p:cNvPicPr>
            <a:picLocks noChangeAspect="1"/>
          </p:cNvPicPr>
          <p:nvPr/>
        </p:nvPicPr>
        <p:blipFill>
          <a:blip r:embed="rId4"/>
          <a:srcRect l="-389" r="-389" t="0" b="0"/>
          <a:stretch/>
        </p:blipFill>
        <p:spPr>
          <a:xfrm>
            <a:off x="571500" y="4476902"/>
            <a:ext cx="57607" cy="1410005"/>
          </a:xfrm>
          <a:prstGeom prst="rect">
            <a:avLst/>
          </a:prstGeom>
        </p:spPr>
      </p:pic>
      <p:pic>
        <p:nvPicPr>
          <p:cNvPr id="14" name="Image 4" descr="gen-dedup-dfc49648fbb6de3edd5fbda9561f45a5.png">    </p:cNvPr>
          <p:cNvPicPr>
            <a:picLocks noChangeAspect="1"/>
          </p:cNvPicPr>
          <p:nvPr/>
        </p:nvPicPr>
        <p:blipFill>
          <a:blip r:embed="rId5"/>
          <a:srcRect l="-389" r="-389" t="0" b="0"/>
          <a:stretch/>
        </p:blipFill>
        <p:spPr>
          <a:xfrm>
            <a:off x="5905195" y="4476902"/>
            <a:ext cx="57607" cy="1410005"/>
          </a:xfrm>
          <a:prstGeom prst="rect">
            <a:avLst/>
          </a:prstGeom>
        </p:spPr>
      </p:pic>
      <p:pic>
        <p:nvPicPr>
          <p:cNvPr id="15" name="Image 5" descr="gen-dedup-8adf1e833e54bb068b83a7f7812ab623.png">    </p:cNvPr>
          <p:cNvPicPr>
            <a:picLocks noChangeAspect="1"/>
          </p:cNvPicPr>
          <p:nvPr/>
        </p:nvPicPr>
        <p:blipFill>
          <a:blip r:embed="rId6"/>
          <a:srcRect l="-389" r="-389" t="0" b="0"/>
          <a:stretch/>
        </p:blipFill>
        <p:spPr>
          <a:xfrm>
            <a:off x="571500" y="6057900"/>
            <a:ext cx="57607" cy="1410005"/>
          </a:xfrm>
          <a:prstGeom prst="rect">
            <a:avLst/>
          </a:prstGeom>
        </p:spPr>
      </p:pic>
      <p:pic>
        <p:nvPicPr>
          <p:cNvPr id="16" name="Image 6" descr="gen-dedup-dfc49648fbb6de3edd5fbda9561f45a5.png">    </p:cNvPr>
          <p:cNvPicPr>
            <a:picLocks noChangeAspect="1"/>
          </p:cNvPicPr>
          <p:nvPr/>
        </p:nvPicPr>
        <p:blipFill>
          <a:blip r:embed="rId7"/>
          <a:srcRect l="-389" r="-389" t="0" b="0"/>
          <a:stretch/>
        </p:blipFill>
        <p:spPr>
          <a:xfrm>
            <a:off x="5905195" y="6057900"/>
            <a:ext cx="57607" cy="1410005"/>
          </a:xfrm>
          <a:prstGeom prst="rect">
            <a:avLst/>
          </a:prstGeom>
        </p:spPr>
      </p:pic>
      <p:sp>
        <p:nvSpPr>
          <p:cNvPr id="17" name="Shape 7"/>
          <p:cNvSpPr/>
          <p:nvPr/>
        </p:nvSpPr>
        <p:spPr>
          <a:xfrm>
            <a:off x="571500" y="7810805"/>
            <a:ext cx="1143000" cy="1524305"/>
          </a:xfrm>
          <a:prstGeom prst="rect">
            <a:avLst/>
          </a:prstGeom>
          <a:solidFill>
            <a:srgbClr val="0F24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8"/>
          <p:cNvSpPr txBox="1"/>
          <p:nvPr/>
        </p:nvSpPr>
        <p:spPr>
          <a:xfrm>
            <a:off x="571500" y="705002"/>
            <a:ext cx="4953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RSBM Split 평가 · M6 layer · Lot D-series Dummy</a:t>
            </a:r>
            <a:endParaRPr lang="en-US" sz="1050" dirty="0"/>
          </a:p>
        </p:txBody>
      </p:sp>
      <p:sp>
        <p:nvSpPr>
          <p:cNvPr id="19" name="Text 9"/>
          <p:cNvSpPr txBox="1"/>
          <p:nvPr/>
        </p:nvSpPr>
        <p:spPr>
          <a:xfrm>
            <a:off x="15811805" y="705002"/>
            <a:ext cx="1905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spc="126" kern="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/ 실험 개요</a:t>
            </a:r>
            <a:endParaRPr lang="en-US" sz="1050" dirty="0"/>
          </a:p>
        </p:txBody>
      </p:sp>
      <p:sp>
        <p:nvSpPr>
          <p:cNvPr id="20" name="Text 10"/>
          <p:cNvSpPr txBox="1"/>
          <p:nvPr/>
        </p:nvSpPr>
        <p:spPr>
          <a:xfrm>
            <a:off x="571500" y="1238098"/>
            <a:ext cx="121926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spc="-19" kern="0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목적 및 평가 조건</a:t>
            </a:r>
            <a:endParaRPr lang="en-US" sz="1950" dirty="0"/>
          </a:p>
        </p:txBody>
      </p:sp>
      <p:sp>
        <p:nvSpPr>
          <p:cNvPr id="21" name="Text 11"/>
          <p:cNvSpPr txBox="1"/>
          <p:nvPr/>
        </p:nvSpPr>
        <p:spPr>
          <a:xfrm>
            <a:off x="571500" y="1723644"/>
            <a:ext cx="12192610" cy="1276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650" b="1" spc="-93" kern="0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ALD TaN/Ru vs PVD Ta/Ta</a:t>
            </a:r>
            <a:pPr algn="l" indent="0" marL="0">
              <a:lnSpc>
                <a:spcPct val="108000"/>
              </a:lnSpc>
              <a:buNone/>
            </a:pPr>
            <a:r>
              <a:rPr lang="en-US" sz="4650" b="1" spc="-93" kern="0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pPr algn="l" indent="0" marL="0">
              <a:lnSpc>
                <a:spcPct val="108000"/>
              </a:lnSpc>
              <a:buNone/>
            </a:pPr>
            <a:r>
              <a:rPr lang="en-US" sz="4650" b="1" spc="-93" kern="0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Barrier 스플릿 비교</a:t>
            </a:r>
            <a:endParaRPr lang="en-US" sz="4650" dirty="0"/>
          </a:p>
        </p:txBody>
      </p:sp>
      <p:sp>
        <p:nvSpPr>
          <p:cNvPr id="22" name="Text 12"/>
          <p:cNvSpPr txBox="1"/>
          <p:nvPr/>
        </p:nvSpPr>
        <p:spPr>
          <a:xfrm>
            <a:off x="14477695" y="1524305"/>
            <a:ext cx="3048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6B79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BLOCK</a:t>
            </a:r>
            <a:endParaRPr lang="en-US" sz="975" dirty="0"/>
          </a:p>
        </p:txBody>
      </p:sp>
      <p:sp>
        <p:nvSpPr>
          <p:cNvPr id="23" name="Text 13"/>
          <p:cNvSpPr txBox="1"/>
          <p:nvPr/>
        </p:nvSpPr>
        <p:spPr>
          <a:xfrm>
            <a:off x="14477695" y="1809598"/>
            <a:ext cx="3481121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M6 · Dual damascene</a:t>
            </a:r>
            <a:endParaRPr lang="en-US" sz="2250" dirty="0"/>
          </a:p>
        </p:txBody>
      </p:sp>
      <p:sp>
        <p:nvSpPr>
          <p:cNvPr id="24" name="Text 14"/>
          <p:cNvSpPr txBox="1"/>
          <p:nvPr/>
        </p:nvSpPr>
        <p:spPr>
          <a:xfrm>
            <a:off x="14477695" y="2190902"/>
            <a:ext cx="3048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ULK k ≈ 2.55 · wafer 3매</a:t>
            </a:r>
            <a:endParaRPr lang="en-US" sz="1350" dirty="0"/>
          </a:p>
        </p:txBody>
      </p:sp>
      <p:sp>
        <p:nvSpPr>
          <p:cNvPr id="25" name="Text 15"/>
          <p:cNvSpPr txBox="1"/>
          <p:nvPr/>
        </p:nvSpPr>
        <p:spPr>
          <a:xfrm>
            <a:off x="571500" y="361919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3D6F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EVALUATION CONDITIONS</a:t>
            </a:r>
            <a:endParaRPr lang="en-US" sz="1050" dirty="0"/>
          </a:p>
        </p:txBody>
      </p:sp>
      <p:sp>
        <p:nvSpPr>
          <p:cNvPr id="26" name="Text 16"/>
          <p:cNvSpPr txBox="1"/>
          <p:nvPr/>
        </p:nvSpPr>
        <p:spPr>
          <a:xfrm>
            <a:off x="571500" y="3847795"/>
            <a:ext cx="57150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조건 한눈에 보기</a:t>
            </a:r>
            <a:endParaRPr lang="en-US" sz="2400" dirty="0"/>
          </a:p>
        </p:txBody>
      </p:sp>
      <p:sp>
        <p:nvSpPr>
          <p:cNvPr id="27" name="Text 17"/>
          <p:cNvSpPr txBox="1"/>
          <p:nvPr/>
        </p:nvSpPr>
        <p:spPr>
          <a:xfrm>
            <a:off x="857707" y="4629607"/>
            <a:ext cx="46680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CONDITION 01</a:t>
            </a:r>
            <a:endParaRPr lang="en-US" sz="975" dirty="0"/>
          </a:p>
        </p:txBody>
      </p:sp>
      <p:sp>
        <p:nvSpPr>
          <p:cNvPr id="28" name="Text 18"/>
          <p:cNvSpPr txBox="1"/>
          <p:nvPr/>
        </p:nvSpPr>
        <p:spPr>
          <a:xfrm>
            <a:off x="857707" y="4839005"/>
            <a:ext cx="466801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Barrier 모듈 비교</a:t>
            </a:r>
            <a:endParaRPr lang="en-US" sz="1800" dirty="0"/>
          </a:p>
        </p:txBody>
      </p:sp>
      <p:sp>
        <p:nvSpPr>
          <p:cNvPr id="29" name="Text 19"/>
          <p:cNvSpPr txBox="1"/>
          <p:nvPr/>
        </p:nvSpPr>
        <p:spPr>
          <a:xfrm>
            <a:off x="857707" y="5248656"/>
            <a:ext cx="466801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ALD TaN 1.5 nm + Ru 1.0 nm / Split B: PVD Ta 2.0 nm + TaN 1.5 nm</a:t>
            </a:r>
            <a:endParaRPr lang="en-US" sz="1350" dirty="0"/>
          </a:p>
        </p:txBody>
      </p:sp>
      <p:sp>
        <p:nvSpPr>
          <p:cNvPr id="30" name="Text 20"/>
          <p:cNvSpPr txBox="1"/>
          <p:nvPr/>
        </p:nvSpPr>
        <p:spPr>
          <a:xfrm>
            <a:off x="6191402" y="4629607"/>
            <a:ext cx="46680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CONDITION 02</a:t>
            </a:r>
            <a:endParaRPr lang="en-US" sz="975" dirty="0"/>
          </a:p>
        </p:txBody>
      </p:sp>
      <p:sp>
        <p:nvSpPr>
          <p:cNvPr id="31" name="Text 21"/>
          <p:cNvSpPr txBox="1"/>
          <p:nvPr/>
        </p:nvSpPr>
        <p:spPr>
          <a:xfrm>
            <a:off x="6191402" y="4839005"/>
            <a:ext cx="466801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Seed &amp; Plating 공통</a:t>
            </a:r>
            <a:endParaRPr lang="en-US" sz="1800" dirty="0"/>
          </a:p>
        </p:txBody>
      </p:sp>
      <p:sp>
        <p:nvSpPr>
          <p:cNvPr id="32" name="Text 22"/>
          <p:cNvSpPr txBox="1"/>
          <p:nvPr/>
        </p:nvSpPr>
        <p:spPr>
          <a:xfrm>
            <a:off x="6191402" y="5248656"/>
            <a:ext cx="535381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 PVD seed 8 nm · ECP Cu fill · 200°C anneal (양 split 동일)</a:t>
            </a:r>
            <a:endParaRPr lang="en-US" sz="1350" dirty="0"/>
          </a:p>
        </p:txBody>
      </p:sp>
      <p:sp>
        <p:nvSpPr>
          <p:cNvPr id="33" name="Text 23"/>
          <p:cNvSpPr txBox="1"/>
          <p:nvPr/>
        </p:nvSpPr>
        <p:spPr>
          <a:xfrm>
            <a:off x="857707" y="6210605"/>
            <a:ext cx="46680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CONDITION 03</a:t>
            </a:r>
            <a:endParaRPr lang="en-US" sz="975" dirty="0"/>
          </a:p>
        </p:txBody>
      </p:sp>
      <p:sp>
        <p:nvSpPr>
          <p:cNvPr id="34" name="Text 24"/>
          <p:cNvSpPr txBox="1"/>
          <p:nvPr/>
        </p:nvSpPr>
        <p:spPr>
          <a:xfrm>
            <a:off x="857707" y="6420002"/>
            <a:ext cx="466801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 메트롤로지</a:t>
            </a:r>
            <a:endParaRPr lang="en-US" sz="1800" dirty="0"/>
          </a:p>
        </p:txBody>
      </p:sp>
      <p:sp>
        <p:nvSpPr>
          <p:cNvPr id="35" name="Text 25"/>
          <p:cNvSpPr txBox="1"/>
          <p:nvPr/>
        </p:nvSpPr>
        <p:spPr>
          <a:xfrm>
            <a:off x="857707" y="6829654"/>
            <a:ext cx="535381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AASI · ASEI · AMI · ACI 4종, wafer별 25pt n &gt; 1,200 site</a:t>
            </a:r>
            <a:endParaRPr lang="en-US" sz="1350" dirty="0"/>
          </a:p>
        </p:txBody>
      </p:sp>
      <p:sp>
        <p:nvSpPr>
          <p:cNvPr id="36" name="Text 26"/>
          <p:cNvSpPr txBox="1"/>
          <p:nvPr/>
        </p:nvSpPr>
        <p:spPr>
          <a:xfrm>
            <a:off x="6191402" y="6210605"/>
            <a:ext cx="46680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CONDITION 04</a:t>
            </a:r>
            <a:endParaRPr lang="en-US" sz="975" dirty="0"/>
          </a:p>
        </p:txBody>
      </p:sp>
      <p:sp>
        <p:nvSpPr>
          <p:cNvPr id="37" name="Text 27"/>
          <p:cNvSpPr txBox="1"/>
          <p:nvPr/>
        </p:nvSpPr>
        <p:spPr>
          <a:xfrm>
            <a:off x="6191402" y="6420002"/>
            <a:ext cx="466801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 평가 항목</a:t>
            </a:r>
            <a:endParaRPr lang="en-US" sz="1800" dirty="0"/>
          </a:p>
        </p:txBody>
      </p:sp>
      <p:sp>
        <p:nvSpPr>
          <p:cNvPr id="38" name="Text 28"/>
          <p:cNvSpPr txBox="1"/>
          <p:nvPr/>
        </p:nvSpPr>
        <p:spPr>
          <a:xfrm>
            <a:off x="6191402" y="6829654"/>
            <a:ext cx="535381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 · Rline · Rvia · inter-metal leakage · EM TTFA 300°C</a:t>
            </a:r>
            <a:endParaRPr lang="en-US" sz="1350" dirty="0"/>
          </a:p>
        </p:txBody>
      </p:sp>
      <p:sp>
        <p:nvSpPr>
          <p:cNvPr id="39" name="Text 29"/>
          <p:cNvSpPr txBox="1"/>
          <p:nvPr/>
        </p:nvSpPr>
        <p:spPr>
          <a:xfrm>
            <a:off x="11525098" y="4705502"/>
            <a:ext cx="5906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9DC3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MATRIX</a:t>
            </a:r>
            <a:endParaRPr lang="en-US" sz="975" dirty="0"/>
          </a:p>
        </p:txBody>
      </p:sp>
      <p:sp>
        <p:nvSpPr>
          <p:cNvPr id="40" name="Text 30"/>
          <p:cNvSpPr txBox="1"/>
          <p:nvPr/>
        </p:nvSpPr>
        <p:spPr>
          <a:xfrm>
            <a:off x="11525098" y="4972507"/>
            <a:ext cx="59061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W01 · W02 · W03</a:t>
            </a:r>
            <a:endParaRPr lang="en-US" sz="2250" dirty="0"/>
          </a:p>
        </p:txBody>
      </p:sp>
      <p:sp>
        <p:nvSpPr>
          <p:cNvPr id="41" name="Text 31"/>
          <p:cNvSpPr txBox="1"/>
          <p:nvPr/>
        </p:nvSpPr>
        <p:spPr>
          <a:xfrm>
            <a:off x="11525098" y="5429707"/>
            <a:ext cx="5906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8D6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W01 → Split A · W02 → Split A · W03 → Split B</a:t>
            </a:r>
            <a:endParaRPr lang="en-US" sz="1350" dirty="0"/>
          </a:p>
        </p:txBody>
      </p:sp>
      <p:sp>
        <p:nvSpPr>
          <p:cNvPr id="42" name="Text 32"/>
          <p:cNvSpPr txBox="1"/>
          <p:nvPr/>
        </p:nvSpPr>
        <p:spPr>
          <a:xfrm>
            <a:off x="11525098" y="5961888"/>
            <a:ext cx="18672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9DC3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METAL</a:t>
            </a:r>
            <a:endParaRPr lang="en-US" sz="975" dirty="0"/>
          </a:p>
        </p:txBody>
      </p:sp>
      <p:sp>
        <p:nvSpPr>
          <p:cNvPr id="43" name="Text 33"/>
          <p:cNvSpPr txBox="1"/>
          <p:nvPr/>
        </p:nvSpPr>
        <p:spPr>
          <a:xfrm>
            <a:off x="11525098" y="6152083"/>
            <a:ext cx="18672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M6</a:t>
            </a:r>
            <a:endParaRPr lang="en-US" sz="1950" dirty="0"/>
          </a:p>
        </p:txBody>
      </p:sp>
      <p:sp>
        <p:nvSpPr>
          <p:cNvPr id="44" name="Text 34"/>
          <p:cNvSpPr txBox="1"/>
          <p:nvPr/>
        </p:nvSpPr>
        <p:spPr>
          <a:xfrm>
            <a:off x="13545007" y="5961888"/>
            <a:ext cx="18672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9DC3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PITCH</a:t>
            </a:r>
            <a:endParaRPr lang="en-US" sz="975" dirty="0"/>
          </a:p>
        </p:txBody>
      </p:sp>
      <p:sp>
        <p:nvSpPr>
          <p:cNvPr id="45" name="Text 35"/>
          <p:cNvSpPr txBox="1"/>
          <p:nvPr/>
        </p:nvSpPr>
        <p:spPr>
          <a:xfrm>
            <a:off x="13545007" y="6152083"/>
            <a:ext cx="18672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nm</a:t>
            </a:r>
            <a:endParaRPr lang="en-US" sz="1950" dirty="0"/>
          </a:p>
        </p:txBody>
      </p:sp>
      <p:sp>
        <p:nvSpPr>
          <p:cNvPr id="46" name="Text 36"/>
          <p:cNvSpPr txBox="1"/>
          <p:nvPr/>
        </p:nvSpPr>
        <p:spPr>
          <a:xfrm>
            <a:off x="15564002" y="5961888"/>
            <a:ext cx="18672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9DC3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DK</a:t>
            </a:r>
            <a:endParaRPr lang="en-US" sz="975" dirty="0"/>
          </a:p>
        </p:txBody>
      </p:sp>
      <p:sp>
        <p:nvSpPr>
          <p:cNvPr id="47" name="Text 37"/>
          <p:cNvSpPr txBox="1"/>
          <p:nvPr/>
        </p:nvSpPr>
        <p:spPr>
          <a:xfrm>
            <a:off x="15564002" y="6152083"/>
            <a:ext cx="18672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2.55</a:t>
            </a:r>
            <a:endParaRPr lang="en-US" sz="1950" dirty="0"/>
          </a:p>
        </p:txBody>
      </p:sp>
      <p:sp>
        <p:nvSpPr>
          <p:cNvPr id="48" name="Text 38"/>
          <p:cNvSpPr txBox="1"/>
          <p:nvPr/>
        </p:nvSpPr>
        <p:spPr>
          <a:xfrm>
            <a:off x="571500" y="8401507"/>
            <a:ext cx="1143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spc="176" kern="0" dirty="0">
                <a:solidFill>
                  <a:srgbClr val="9DC3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49" name="Text 39"/>
          <p:cNvSpPr txBox="1"/>
          <p:nvPr/>
        </p:nvSpPr>
        <p:spPr>
          <a:xfrm>
            <a:off x="1904695" y="8153705"/>
            <a:ext cx="154305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IMD / CMP / 메트롤로지 조건 하에서 barrier 모듈만 분리 —</a:t>
            </a:r>
            <a:endParaRPr lang="en-US" sz="1800" dirty="0"/>
          </a:p>
        </p:txBody>
      </p:sp>
      <p:sp>
        <p:nvSpPr>
          <p:cNvPr id="50" name="Text 40"/>
          <p:cNvSpPr txBox="1"/>
          <p:nvPr/>
        </p:nvSpPr>
        <p:spPr>
          <a:xfrm>
            <a:off x="1904695" y="8606333"/>
            <a:ext cx="154305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ALD TaN/Ru (Split A)</a:t>
            </a:r>
            <a:pPr algn="l" indent="0" marL="0">
              <a:buNone/>
            </a:pPr>
            <a:r>
              <a:rPr lang="en-US" sz="1650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와 </a:t>
            </a:r>
            <a:pPr algn="l" indent="0" marL="0">
              <a:buNone/>
            </a:pPr>
            <a:r>
              <a:rPr lang="en-US" sz="16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PVD Ta/Ta (Split B)</a:t>
            </a:r>
            <a:pPr algn="l" indent="0" marL="0">
              <a:buNone/>
            </a:pPr>
            <a:r>
              <a:rPr lang="en-US" sz="1650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의 CD · in-wafer uniformity · 전기특성을 정량 비교한다.</a:t>
            </a:r>
            <a:endParaRPr lang="en-US" sz="1650" dirty="0"/>
          </a:p>
        </p:txBody>
      </p:sp>
      <p:sp>
        <p:nvSpPr>
          <p:cNvPr id="51" name="Text 41"/>
          <p:cNvSpPr txBox="1"/>
          <p:nvPr/>
        </p:nvSpPr>
        <p:spPr>
          <a:xfrm>
            <a:off x="571500" y="9620402"/>
            <a:ext cx="11430000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6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내부 테스트용 더미(가상) 데이터</a:t>
            </a:r>
            <a:endParaRPr lang="en-US" sz="1200" dirty="0"/>
          </a:p>
        </p:txBody>
      </p:sp>
      <p:sp>
        <p:nvSpPr>
          <p:cNvPr id="52" name="Text 42"/>
          <p:cNvSpPr txBox="1"/>
          <p:nvPr/>
        </p:nvSpPr>
        <p:spPr>
          <a:xfrm>
            <a:off x="14097305" y="9620402"/>
            <a:ext cx="3620110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spc="126" kern="0" dirty="0">
                <a:solidFill>
                  <a:srgbClr val="9DC3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BEOL RSBM · Dummy · 01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E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bfb57895a49cac99413505a9d8b253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71500" y="2857500"/>
            <a:ext cx="8210398" cy="535289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9525305" y="2857500"/>
            <a:ext cx="8210398" cy="535289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71500" y="8572500"/>
            <a:ext cx="17164202" cy="72420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0" y="9620402"/>
            <a:ext cx="18288000" cy="666598"/>
          </a:xfrm>
          <a:prstGeom prst="rect">
            <a:avLst/>
          </a:prstGeom>
          <a:solidFill>
            <a:srgbClr val="0F24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1" descr="gen-dedup-3bc330a2cec19012a14138f805592d46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571500" y="514807"/>
            <a:ext cx="17145000" cy="9144"/>
          </a:xfrm>
          <a:prstGeom prst="rect">
            <a:avLst/>
          </a:prstGeom>
        </p:spPr>
      </p:pic>
      <p:pic>
        <p:nvPicPr>
          <p:cNvPr id="9" name="Image 2" descr="gen-dedup-99da58d78ee3a33a0442009dfccfb61d.png">    </p:cNvPr>
          <p:cNvPicPr>
            <a:picLocks noChangeAspect="1"/>
          </p:cNvPicPr>
          <p:nvPr/>
        </p:nvPicPr>
        <p:blipFill>
          <a:blip r:embed="rId3"/>
          <a:srcRect l="0" r="0" t="-33" b="-33"/>
          <a:stretch/>
        </p:blipFill>
        <p:spPr>
          <a:xfrm>
            <a:off x="571500" y="2857500"/>
            <a:ext cx="8191195" cy="743407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857707" y="5048402"/>
            <a:ext cx="7638898" cy="2876702"/>
          </a:xfrm>
          <a:prstGeom prst="rect">
            <a:avLst/>
          </a:prstGeom>
          <a:solidFill>
            <a:srgbClr val="F4F8FD"/>
          </a:solidFill>
          <a:ln w="12700">
            <a:solidFill>
              <a:srgbClr val="DCE5F1"/>
            </a:solidFill>
            <a:prstDash val="solid"/>
          </a:ln>
        </p:spPr>
      </p:sp>
      <p:pic>
        <p:nvPicPr>
          <p:cNvPr id="11" name="Image 3" descr="gen-dedup-6128de1bf57ff475c04142e11fa1a7df.png">    </p:cNvPr>
          <p:cNvPicPr>
            <a:picLocks noChangeAspect="1"/>
          </p:cNvPicPr>
          <p:nvPr/>
        </p:nvPicPr>
        <p:blipFill>
          <a:blip r:embed="rId4"/>
          <a:srcRect l="0" r="0" t="-33" b="-33"/>
          <a:stretch/>
        </p:blipFill>
        <p:spPr>
          <a:xfrm>
            <a:off x="9525305" y="2857500"/>
            <a:ext cx="8191195" cy="743407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9810598" y="5048402"/>
            <a:ext cx="7638898" cy="2876702"/>
          </a:xfrm>
          <a:prstGeom prst="rect">
            <a:avLst/>
          </a:prstGeom>
          <a:solidFill>
            <a:srgbClr val="F0F9F6"/>
          </a:solidFill>
          <a:ln w="12700">
            <a:solidFill>
              <a:srgbClr val="CCEAE0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571500" y="8572500"/>
            <a:ext cx="1143000" cy="705002"/>
          </a:xfrm>
          <a:prstGeom prst="rect">
            <a:avLst/>
          </a:prstGeom>
          <a:solidFill>
            <a:srgbClr val="0F24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7"/>
          <p:cNvSpPr txBox="1"/>
          <p:nvPr/>
        </p:nvSpPr>
        <p:spPr>
          <a:xfrm>
            <a:off x="571500" y="705002"/>
            <a:ext cx="4953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RSBM Split 평가 · M6 layer · Lot D-series Dummy</a:t>
            </a:r>
            <a:endParaRPr lang="en-US" sz="1050" dirty="0"/>
          </a:p>
        </p:txBody>
      </p:sp>
      <p:sp>
        <p:nvSpPr>
          <p:cNvPr id="15" name="Text 8"/>
          <p:cNvSpPr txBox="1"/>
          <p:nvPr/>
        </p:nvSpPr>
        <p:spPr>
          <a:xfrm>
            <a:off x="15811805" y="705002"/>
            <a:ext cx="1905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spc="126" kern="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스플릿 정의</a:t>
            </a:r>
            <a:endParaRPr lang="en-US" sz="1050" dirty="0"/>
          </a:p>
        </p:txBody>
      </p:sp>
      <p:sp>
        <p:nvSpPr>
          <p:cNvPr id="16" name="Text 9"/>
          <p:cNvSpPr txBox="1"/>
          <p:nvPr/>
        </p:nvSpPr>
        <p:spPr>
          <a:xfrm>
            <a:off x="571500" y="1238098"/>
            <a:ext cx="14287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Barrier 모듈 스플릿 구조</a:t>
            </a:r>
            <a:endParaRPr lang="en-US" sz="1950" dirty="0"/>
          </a:p>
        </p:txBody>
      </p:sp>
      <p:sp>
        <p:nvSpPr>
          <p:cNvPr id="17" name="Text 10"/>
          <p:cNvSpPr txBox="1"/>
          <p:nvPr/>
        </p:nvSpPr>
        <p:spPr>
          <a:xfrm>
            <a:off x="571500" y="1723644"/>
            <a:ext cx="14287500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split 의 </a:t>
            </a:r>
            <a:pPr algn="l" indent="0" marL="0">
              <a:buNone/>
            </a:pPr>
            <a:r>
              <a:rPr lang="en-US" sz="4800" b="1" spc="-96" kern="0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 차이</a:t>
            </a:r>
            <a:pPr algn="l" indent="0" marL="0">
              <a:buNone/>
            </a:pPr>
            <a:r>
              <a:rPr lang="en-US" sz="4800" b="1" spc="-96" kern="0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어디까지인가</a:t>
            </a:r>
            <a:endParaRPr lang="en-US" sz="4800" dirty="0"/>
          </a:p>
        </p:txBody>
      </p:sp>
      <p:sp>
        <p:nvSpPr>
          <p:cNvPr id="18" name="Text 11"/>
          <p:cNvSpPr txBox="1"/>
          <p:nvPr/>
        </p:nvSpPr>
        <p:spPr>
          <a:xfrm>
            <a:off x="800100" y="2857500"/>
            <a:ext cx="7429500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FD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</a:t>
            </a:r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· ALD TaN + Ru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7429500" y="2857500"/>
            <a:ext cx="1143000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FD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857707" y="3847795"/>
            <a:ext cx="7620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 타입 · ALD (atomic layer deposition)</a:t>
            </a:r>
            <a:endParaRPr lang="en-US" sz="1350" dirty="0"/>
          </a:p>
        </p:txBody>
      </p:sp>
      <p:sp>
        <p:nvSpPr>
          <p:cNvPr id="21" name="Text 14"/>
          <p:cNvSpPr txBox="1"/>
          <p:nvPr/>
        </p:nvSpPr>
        <p:spPr>
          <a:xfrm>
            <a:off x="857707" y="4134002"/>
            <a:ext cx="76206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— TaN 1.5 nm + Ru 1.0 nm (총 2.5 nm)</a:t>
            </a:r>
            <a:endParaRPr lang="en-US" sz="1800" dirty="0"/>
          </a:p>
        </p:txBody>
      </p:sp>
      <p:sp>
        <p:nvSpPr>
          <p:cNvPr id="22" name="Text 15"/>
          <p:cNvSpPr txBox="1"/>
          <p:nvPr/>
        </p:nvSpPr>
        <p:spPr>
          <a:xfrm>
            <a:off x="857707" y="4505249"/>
            <a:ext cx="7620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coverage — &gt; 95 % at 7:1 AR via</a:t>
            </a:r>
            <a:endParaRPr lang="en-US" sz="1350" dirty="0"/>
          </a:p>
        </p:txBody>
      </p:sp>
      <p:sp>
        <p:nvSpPr>
          <p:cNvPr id="23" name="Text 16"/>
          <p:cNvSpPr txBox="1"/>
          <p:nvPr/>
        </p:nvSpPr>
        <p:spPr>
          <a:xfrm>
            <a:off x="1047902" y="5219395"/>
            <a:ext cx="7239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SPEC ITEMS</a:t>
            </a:r>
            <a:endParaRPr lang="en-US" sz="1050" dirty="0"/>
          </a:p>
        </p:txBody>
      </p:sp>
      <p:sp>
        <p:nvSpPr>
          <p:cNvPr id="24" name="Text 17"/>
          <p:cNvSpPr txBox="1"/>
          <p:nvPr/>
        </p:nvSpPr>
        <p:spPr>
          <a:xfrm>
            <a:off x="1047902" y="5524805"/>
            <a:ext cx="7239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Barrier layer 1</a:t>
            </a:r>
            <a:pPr algn="l" indent="0" marL="0">
              <a:buNone/>
            </a:pPr>
            <a:r>
              <a:rPr lang="en-US" sz="150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ALD TaN · 1.5 nm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1047902" y="5886907"/>
            <a:ext cx="7239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Barrier layer 2</a:t>
            </a:r>
            <a:pPr algn="l" indent="0" marL="0">
              <a:buNone/>
            </a:pPr>
            <a:r>
              <a:rPr lang="en-US" sz="150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ALD Ru · 1.0 nm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1047902" y="6248095"/>
            <a:ext cx="7239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매핑</a:t>
            </a:r>
            <a:pPr algn="l" indent="0" marL="0">
              <a:buNone/>
            </a:pPr>
            <a:r>
              <a:rPr lang="en-US" sz="150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W01 · W02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047902" y="6610198"/>
            <a:ext cx="7239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Seed/plating</a:t>
            </a:r>
            <a:pPr algn="l" indent="0" marL="0">
              <a:buNone/>
            </a:pPr>
            <a:r>
              <a:rPr lang="en-US" sz="150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 PVD 8 nm · ECP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047902" y="6972300"/>
            <a:ext cx="7239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anneal</a:t>
            </a:r>
            <a:pPr algn="l" indent="0" marL="0">
              <a:buNone/>
            </a:pPr>
            <a:r>
              <a:rPr lang="en-US" sz="150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 °C · 30 min · N₂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047902" y="7334402"/>
            <a:ext cx="7239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강점</a:t>
            </a:r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thin·conformal · low-Rs 잠재력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9753905" y="2857500"/>
            <a:ext cx="7429500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7F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</a:t>
            </a:r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· PVD Ta + TaN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6383305" y="2857500"/>
            <a:ext cx="1143000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7F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9810598" y="3847795"/>
            <a:ext cx="7620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 타입 · PVD (physical vapor deposition)</a:t>
            </a:r>
            <a:endParaRPr lang="en-US" sz="1350" dirty="0"/>
          </a:p>
        </p:txBody>
      </p:sp>
      <p:sp>
        <p:nvSpPr>
          <p:cNvPr id="33" name="Text 26"/>
          <p:cNvSpPr txBox="1"/>
          <p:nvPr/>
        </p:nvSpPr>
        <p:spPr>
          <a:xfrm>
            <a:off x="9810598" y="4134002"/>
            <a:ext cx="76206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— Ta 2.0 nm + TaN 1.5 nm (총 3.5 nm)</a:t>
            </a:r>
            <a:endParaRPr lang="en-US" sz="1800" dirty="0"/>
          </a:p>
        </p:txBody>
      </p:sp>
      <p:sp>
        <p:nvSpPr>
          <p:cNvPr id="34" name="Text 27"/>
          <p:cNvSpPr txBox="1"/>
          <p:nvPr/>
        </p:nvSpPr>
        <p:spPr>
          <a:xfrm>
            <a:off x="9810598" y="4505249"/>
            <a:ext cx="7620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coverage — 약 60 % at 7:1 AR via</a:t>
            </a:r>
            <a:endParaRPr lang="en-US" sz="1350" dirty="0"/>
          </a:p>
        </p:txBody>
      </p:sp>
      <p:sp>
        <p:nvSpPr>
          <p:cNvPr id="35" name="Text 28"/>
          <p:cNvSpPr txBox="1"/>
          <p:nvPr/>
        </p:nvSpPr>
        <p:spPr>
          <a:xfrm>
            <a:off x="10001707" y="5219395"/>
            <a:ext cx="7239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SPEC ITEMS</a:t>
            </a:r>
            <a:endParaRPr lang="en-US" sz="1050" dirty="0"/>
          </a:p>
        </p:txBody>
      </p:sp>
      <p:sp>
        <p:nvSpPr>
          <p:cNvPr id="36" name="Text 29"/>
          <p:cNvSpPr txBox="1"/>
          <p:nvPr/>
        </p:nvSpPr>
        <p:spPr>
          <a:xfrm>
            <a:off x="10001707" y="5524805"/>
            <a:ext cx="7239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Barrier layer 1</a:t>
            </a:r>
            <a:pPr algn="l" indent="0" marL="0">
              <a:buNone/>
            </a:pPr>
            <a:r>
              <a:rPr lang="en-US" sz="150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PVD Ta · 2.0 nm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10001707" y="5886907"/>
            <a:ext cx="7239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Barrier layer 2</a:t>
            </a:r>
            <a:pPr algn="l" indent="0" marL="0">
              <a:buNone/>
            </a:pPr>
            <a:r>
              <a:rPr lang="en-US" sz="150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PVD TaN · 1.5 nm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10001707" y="6248095"/>
            <a:ext cx="7239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매핑</a:t>
            </a:r>
            <a:pPr algn="l" indent="0" marL="0">
              <a:buNone/>
            </a:pPr>
            <a:r>
              <a:rPr lang="en-US" sz="150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W03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0001707" y="6610198"/>
            <a:ext cx="7239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Seed/plating</a:t>
            </a:r>
            <a:pPr algn="l" indent="0" marL="0">
              <a:buNone/>
            </a:pPr>
            <a:r>
              <a:rPr lang="en-US" sz="150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 PVD 8 nm · ECP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0001707" y="6972300"/>
            <a:ext cx="7239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anneal</a:t>
            </a:r>
            <a:pPr algn="l" indent="0" marL="0">
              <a:buNone/>
            </a:pPr>
            <a:r>
              <a:rPr lang="en-US" sz="150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 °C · 30 min · N₂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0001707" y="7334402"/>
            <a:ext cx="7239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강점</a:t>
            </a:r>
            <a:pPr algn="l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legacy 안정성 · DK 영향 적음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571500" y="8572500"/>
            <a:ext cx="1143000" cy="705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spc="176" kern="0" dirty="0">
                <a:solidFill>
                  <a:srgbClr val="9DC3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43" name="Text 36"/>
          <p:cNvSpPr txBox="1"/>
          <p:nvPr/>
        </p:nvSpPr>
        <p:spPr>
          <a:xfrm>
            <a:off x="1904695" y="8572500"/>
            <a:ext cx="15430500" cy="705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Barrier 만 swap — thickness·deposition 방식·wafer 매핑만 다르고, IMD, CMP, 메트롤로지, anneal 은 동일 baseline 유지.</a:t>
            </a:r>
            <a:endParaRPr lang="en-US" sz="1650" dirty="0"/>
          </a:p>
        </p:txBody>
      </p:sp>
      <p:sp>
        <p:nvSpPr>
          <p:cNvPr id="44" name="Text 37"/>
          <p:cNvSpPr txBox="1"/>
          <p:nvPr/>
        </p:nvSpPr>
        <p:spPr>
          <a:xfrm>
            <a:off x="571500" y="9620402"/>
            <a:ext cx="11430000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6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내부 테스트용 더미(가상) 데이터</a:t>
            </a:r>
            <a:endParaRPr lang="en-US" sz="1200" dirty="0"/>
          </a:p>
        </p:txBody>
      </p:sp>
      <p:sp>
        <p:nvSpPr>
          <p:cNvPr id="45" name="Text 38"/>
          <p:cNvSpPr txBox="1"/>
          <p:nvPr/>
        </p:nvSpPr>
        <p:spPr>
          <a:xfrm>
            <a:off x="14097305" y="9620402"/>
            <a:ext cx="3620110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spc="126" kern="0" dirty="0">
                <a:solidFill>
                  <a:srgbClr val="9DC3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BEOL RSBM · Dummy · 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E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bfb57895a49cac99413505a9d8b253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71500" y="2857500"/>
            <a:ext cx="10858500" cy="5524805"/>
          </a:xfrm>
          <a:prstGeom prst="rect">
            <a:avLst/>
          </a:prstGeom>
          <a:solidFill>
            <a:srgbClr val="0F24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11716207" y="2857500"/>
            <a:ext cx="6019495" cy="5544007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71500" y="8667598"/>
            <a:ext cx="5544007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286500" y="8667598"/>
            <a:ext cx="1144920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0" y="9620402"/>
            <a:ext cx="18288000" cy="666598"/>
          </a:xfrm>
          <a:prstGeom prst="rect">
            <a:avLst/>
          </a:prstGeom>
          <a:solidFill>
            <a:srgbClr val="0F24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gen-dedup-3bc330a2cec19012a14138f805592d46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571500" y="514807"/>
            <a:ext cx="17145000" cy="9144"/>
          </a:xfrm>
          <a:prstGeom prst="rect">
            <a:avLst/>
          </a:prstGeom>
        </p:spPr>
      </p:pic>
      <p:pic>
        <p:nvPicPr>
          <p:cNvPr id="10" name="Image 2" descr="gen-dedup-49b768cf0b3e2dc6e1c5a8863c85bc9c.jpg">    </p:cNvPr>
          <p:cNvPicPr>
            <a:picLocks noChangeAspect="1"/>
          </p:cNvPicPr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571500" y="2857500"/>
            <a:ext cx="10858500" cy="552480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11906402" y="3847795"/>
            <a:ext cx="342900" cy="3429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11906402" y="4629607"/>
            <a:ext cx="342900" cy="3429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11906402" y="5410505"/>
            <a:ext cx="342900" cy="3429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11906402" y="6191402"/>
            <a:ext cx="342900" cy="3429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3" descr="gen-dedup-5e1778522815ef5cce22f0a864d6fb2f.png">    </p:cNvPr>
          <p:cNvPicPr>
            <a:picLocks noChangeAspect="1"/>
          </p:cNvPicPr>
          <p:nvPr/>
        </p:nvPicPr>
        <p:blipFill>
          <a:blip r:embed="rId4"/>
          <a:srcRect l="-411" r="-411" t="0" b="0"/>
          <a:stretch/>
        </p:blipFill>
        <p:spPr>
          <a:xfrm>
            <a:off x="6286500" y="8667598"/>
            <a:ext cx="57607" cy="666598"/>
          </a:xfrm>
          <a:prstGeom prst="rect">
            <a:avLst/>
          </a:prstGeom>
        </p:spPr>
      </p:pic>
      <p:pic>
        <p:nvPicPr>
          <p:cNvPr id="16" name="Image 4" descr="gen-dedup-aa8f49d24e482c61c033c23c9cf33eaa.png">    </p:cNvPr>
          <p:cNvPicPr>
            <a:picLocks noChangeAspect="1"/>
          </p:cNvPicPr>
          <p:nvPr/>
        </p:nvPicPr>
        <p:blipFill>
          <a:blip r:embed="rId5"/>
          <a:srcRect l="0" r="0" t="-3" b="-3"/>
          <a:stretch/>
        </p:blipFill>
        <p:spPr>
          <a:xfrm>
            <a:off x="571500" y="2857500"/>
            <a:ext cx="10858500" cy="5524805"/>
          </a:xfrm>
          <a:prstGeom prst="rect">
            <a:avLst/>
          </a:prstGeom>
        </p:spPr>
      </p:pic>
      <p:pic>
        <p:nvPicPr>
          <p:cNvPr id="17" name="Image 5" descr="gen-dedup-9ec2064f9c7bcb1b3299a4e9a0509812.png">    </p:cNvPr>
          <p:cNvPicPr>
            <a:picLocks noChangeAspect="1"/>
          </p:cNvPicPr>
          <p:nvPr/>
        </p:nvPicPr>
        <p:blipFill>
          <a:blip r:embed="rId6"/>
          <a:srcRect l="-228" r="-228" t="0" b="0"/>
          <a:stretch/>
        </p:blipFill>
        <p:spPr>
          <a:xfrm>
            <a:off x="10287000" y="7810805"/>
            <a:ext cx="857707" cy="75895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571500" y="705002"/>
            <a:ext cx="4953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RSBM Split 평가 · M6 layer · Lot D-series Dummy</a:t>
            </a:r>
            <a:endParaRPr lang="en-US" sz="1050" dirty="0"/>
          </a:p>
        </p:txBody>
      </p:sp>
      <p:sp>
        <p:nvSpPr>
          <p:cNvPr id="19" name="Text 10"/>
          <p:cNvSpPr txBox="1"/>
          <p:nvPr/>
        </p:nvSpPr>
        <p:spPr>
          <a:xfrm>
            <a:off x="15811805" y="705002"/>
            <a:ext cx="1905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spc="126" kern="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SEM 단면</a:t>
            </a:r>
            <a:endParaRPr lang="en-US" sz="1050" dirty="0"/>
          </a:p>
        </p:txBody>
      </p:sp>
      <p:sp>
        <p:nvSpPr>
          <p:cNvPr id="20" name="Text 11"/>
          <p:cNvSpPr txBox="1"/>
          <p:nvPr/>
        </p:nvSpPr>
        <p:spPr>
          <a:xfrm>
            <a:off x="571500" y="1238098"/>
            <a:ext cx="14287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단면 SEM · M6 metal layer</a:t>
            </a:r>
            <a:endParaRPr lang="en-US" sz="1950" dirty="0"/>
          </a:p>
        </p:txBody>
      </p:sp>
      <p:sp>
        <p:nvSpPr>
          <p:cNvPr id="21" name="Text 12"/>
          <p:cNvSpPr txBox="1"/>
          <p:nvPr/>
        </p:nvSpPr>
        <p:spPr>
          <a:xfrm>
            <a:off x="571500" y="1705356"/>
            <a:ext cx="1428750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350" b="1" spc="-87" kern="0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Barrier 두께 차이가 Cu fill 에 남긴 </a:t>
            </a:r>
            <a:pPr algn="l" indent="0" marL="0">
              <a:buNone/>
            </a:pPr>
            <a:r>
              <a:rPr lang="en-US" sz="4350" b="1" spc="-87" kern="0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단면 형상</a:t>
            </a:r>
            <a:endParaRPr lang="en-US" sz="4350" dirty="0"/>
          </a:p>
        </p:txBody>
      </p:sp>
      <p:sp>
        <p:nvSpPr>
          <p:cNvPr id="22" name="Text 13"/>
          <p:cNvSpPr txBox="1"/>
          <p:nvPr/>
        </p:nvSpPr>
        <p:spPr>
          <a:xfrm>
            <a:off x="800100" y="7524598"/>
            <a:ext cx="6286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FIG. 3-A</a:t>
            </a:r>
            <a:endParaRPr lang="en-US" sz="1050" dirty="0"/>
          </a:p>
        </p:txBody>
      </p:sp>
      <p:sp>
        <p:nvSpPr>
          <p:cNvPr id="23" name="Text 14"/>
          <p:cNvSpPr txBox="1"/>
          <p:nvPr/>
        </p:nvSpPr>
        <p:spPr>
          <a:xfrm>
            <a:off x="800100" y="7733995"/>
            <a:ext cx="6286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 damascene cross-section · Mx stack</a:t>
            </a:r>
            <a:endParaRPr lang="en-US" sz="1350" dirty="0"/>
          </a:p>
        </p:txBody>
      </p:sp>
      <p:sp>
        <p:nvSpPr>
          <p:cNvPr id="24" name="Text 15"/>
          <p:cNvSpPr txBox="1"/>
          <p:nvPr/>
        </p:nvSpPr>
        <p:spPr>
          <a:xfrm>
            <a:off x="800100" y="7944307"/>
            <a:ext cx="6286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6E2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Semiconductor Digest / imec toolbox 기사 인용</a:t>
            </a:r>
            <a:endParaRPr lang="en-US" sz="1050" dirty="0"/>
          </a:p>
        </p:txBody>
      </p:sp>
      <p:sp>
        <p:nvSpPr>
          <p:cNvPr id="25" name="Text 16"/>
          <p:cNvSpPr txBox="1"/>
          <p:nvPr/>
        </p:nvSpPr>
        <p:spPr>
          <a:xfrm>
            <a:off x="10344607" y="7905902"/>
            <a:ext cx="1143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 nm</a:t>
            </a:r>
            <a:endParaRPr lang="en-US" sz="975" dirty="0"/>
          </a:p>
        </p:txBody>
      </p:sp>
      <p:sp>
        <p:nvSpPr>
          <p:cNvPr id="26" name="Text 17"/>
          <p:cNvSpPr txBox="1"/>
          <p:nvPr/>
        </p:nvSpPr>
        <p:spPr>
          <a:xfrm>
            <a:off x="11906402" y="304769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OBSERVATIONS</a:t>
            </a:r>
            <a:endParaRPr lang="en-US" sz="1050" dirty="0"/>
          </a:p>
        </p:txBody>
      </p:sp>
      <p:sp>
        <p:nvSpPr>
          <p:cNvPr id="27" name="Text 18"/>
          <p:cNvSpPr txBox="1"/>
          <p:nvPr/>
        </p:nvSpPr>
        <p:spPr>
          <a:xfrm>
            <a:off x="11906402" y="3276295"/>
            <a:ext cx="57150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별 SEM 관찰 포인트</a:t>
            </a:r>
            <a:endParaRPr lang="en-US" sz="2250" dirty="0"/>
          </a:p>
        </p:txBody>
      </p:sp>
      <p:sp>
        <p:nvSpPr>
          <p:cNvPr id="28" name="Text 19"/>
          <p:cNvSpPr txBox="1"/>
          <p:nvPr/>
        </p:nvSpPr>
        <p:spPr>
          <a:xfrm>
            <a:off x="11906402" y="3847795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50" dirty="0"/>
          </a:p>
        </p:txBody>
      </p:sp>
      <p:sp>
        <p:nvSpPr>
          <p:cNvPr id="29" name="Text 20"/>
          <p:cNvSpPr txBox="1"/>
          <p:nvPr/>
        </p:nvSpPr>
        <p:spPr>
          <a:xfrm>
            <a:off x="12382805" y="3829507"/>
            <a:ext cx="5143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Barrier conformality</a:t>
            </a:r>
            <a:endParaRPr lang="en-US" sz="1500" dirty="0"/>
          </a:p>
        </p:txBody>
      </p:sp>
      <p:sp>
        <p:nvSpPr>
          <p:cNvPr id="30" name="Text 21"/>
          <p:cNvSpPr txBox="1"/>
          <p:nvPr/>
        </p:nvSpPr>
        <p:spPr>
          <a:xfrm>
            <a:off x="12382805" y="4086454"/>
            <a:ext cx="51435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(ALD) 의 측벽 코팅이 via 상부부터 하단까지 균일</a:t>
            </a:r>
            <a:endParaRPr lang="en-US" sz="1275" dirty="0"/>
          </a:p>
        </p:txBody>
      </p:sp>
      <p:sp>
        <p:nvSpPr>
          <p:cNvPr id="31" name="Text 22"/>
          <p:cNvSpPr txBox="1"/>
          <p:nvPr/>
        </p:nvSpPr>
        <p:spPr>
          <a:xfrm>
            <a:off x="11906402" y="4629607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50" dirty="0"/>
          </a:p>
        </p:txBody>
      </p:sp>
      <p:sp>
        <p:nvSpPr>
          <p:cNvPr id="32" name="Text 23"/>
          <p:cNvSpPr txBox="1"/>
          <p:nvPr/>
        </p:nvSpPr>
        <p:spPr>
          <a:xfrm>
            <a:off x="12382805" y="4610405"/>
            <a:ext cx="5143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bottom coverage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12382805" y="4867351"/>
            <a:ext cx="51435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(PVD) via 하단 thinning 관찰, Cu void 위험</a:t>
            </a:r>
            <a:endParaRPr lang="en-US" sz="1275" dirty="0"/>
          </a:p>
        </p:txBody>
      </p:sp>
      <p:sp>
        <p:nvSpPr>
          <p:cNvPr id="34" name="Text 25"/>
          <p:cNvSpPr txBox="1"/>
          <p:nvPr/>
        </p:nvSpPr>
        <p:spPr>
          <a:xfrm>
            <a:off x="11906402" y="5410505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50" dirty="0"/>
          </a:p>
        </p:txBody>
      </p:sp>
      <p:sp>
        <p:nvSpPr>
          <p:cNvPr id="35" name="Text 26"/>
          <p:cNvSpPr txBox="1"/>
          <p:nvPr/>
        </p:nvSpPr>
        <p:spPr>
          <a:xfrm>
            <a:off x="12382805" y="5391302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ULK low-k 손상</a:t>
            </a:r>
            <a:endParaRPr lang="en-US" sz="1500" dirty="0"/>
          </a:p>
        </p:txBody>
      </p:sp>
      <p:sp>
        <p:nvSpPr>
          <p:cNvPr id="36" name="Text 27"/>
          <p:cNvSpPr txBox="1"/>
          <p:nvPr/>
        </p:nvSpPr>
        <p:spPr>
          <a:xfrm>
            <a:off x="12382805" y="5705856"/>
            <a:ext cx="51435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plasma 데미지 패턴 split 간 큰 차이 없음, post-RTA 보존</a:t>
            </a:r>
            <a:endParaRPr lang="en-US" sz="1275" dirty="0"/>
          </a:p>
        </p:txBody>
      </p:sp>
      <p:sp>
        <p:nvSpPr>
          <p:cNvPr id="37" name="Text 28"/>
          <p:cNvSpPr txBox="1"/>
          <p:nvPr/>
        </p:nvSpPr>
        <p:spPr>
          <a:xfrm>
            <a:off x="11906402" y="6191402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50" dirty="0"/>
          </a:p>
        </p:txBody>
      </p:sp>
      <p:sp>
        <p:nvSpPr>
          <p:cNvPr id="38" name="Text 29"/>
          <p:cNvSpPr txBox="1"/>
          <p:nvPr/>
        </p:nvSpPr>
        <p:spPr>
          <a:xfrm>
            <a:off x="12382805" y="6172200"/>
            <a:ext cx="5143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 seam · grain</a:t>
            </a:r>
            <a:endParaRPr lang="en-US" sz="1500" dirty="0"/>
          </a:p>
        </p:txBody>
      </p:sp>
      <p:sp>
        <p:nvSpPr>
          <p:cNvPr id="39" name="Text 30"/>
          <p:cNvSpPr txBox="1"/>
          <p:nvPr/>
        </p:nvSpPr>
        <p:spPr>
          <a:xfrm>
            <a:off x="12382805" y="6429146"/>
            <a:ext cx="51435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에서 Cu grain 더 조대, texture random</a:t>
            </a:r>
            <a:endParaRPr lang="en-US" sz="1275" dirty="0"/>
          </a:p>
        </p:txBody>
      </p:sp>
      <p:sp>
        <p:nvSpPr>
          <p:cNvPr id="40" name="Text 31"/>
          <p:cNvSpPr txBox="1"/>
          <p:nvPr/>
        </p:nvSpPr>
        <p:spPr>
          <a:xfrm>
            <a:off x="11906402" y="704819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CAPTURE RECIPE</a:t>
            </a:r>
            <a:endParaRPr lang="en-US" sz="1050" dirty="0"/>
          </a:p>
        </p:txBody>
      </p:sp>
      <p:sp>
        <p:nvSpPr>
          <p:cNvPr id="41" name="Text 32"/>
          <p:cNvSpPr txBox="1"/>
          <p:nvPr/>
        </p:nvSpPr>
        <p:spPr>
          <a:xfrm>
            <a:off x="11906402" y="7276795"/>
            <a:ext cx="5715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per-die 5 site · tilt 0° / 45° · 5 kV</a:t>
            </a:r>
            <a:endParaRPr lang="en-US" sz="1350" dirty="0"/>
          </a:p>
        </p:txBody>
      </p:sp>
      <p:sp>
        <p:nvSpPr>
          <p:cNvPr id="42" name="Text 33"/>
          <p:cNvSpPr txBox="1"/>
          <p:nvPr/>
        </p:nvSpPr>
        <p:spPr>
          <a:xfrm>
            <a:off x="780898" y="8801100"/>
            <a:ext cx="53154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</a:t>
            </a:r>
            <a:endParaRPr lang="en-US" sz="1050" dirty="0"/>
          </a:p>
        </p:txBody>
      </p:sp>
      <p:sp>
        <p:nvSpPr>
          <p:cNvPr id="43" name="Text 34"/>
          <p:cNvSpPr txBox="1"/>
          <p:nvPr/>
        </p:nvSpPr>
        <p:spPr>
          <a:xfrm>
            <a:off x="780898" y="9010498"/>
            <a:ext cx="53154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split 모두 동일 recipe · 공개 자료 인용</a:t>
            </a:r>
            <a:endParaRPr lang="en-US" sz="1350" dirty="0"/>
          </a:p>
        </p:txBody>
      </p:sp>
      <p:sp>
        <p:nvSpPr>
          <p:cNvPr id="44" name="Text 35"/>
          <p:cNvSpPr txBox="1"/>
          <p:nvPr/>
        </p:nvSpPr>
        <p:spPr>
          <a:xfrm>
            <a:off x="6515100" y="8667598"/>
            <a:ext cx="2286000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5" name="Text 36"/>
          <p:cNvSpPr txBox="1"/>
          <p:nvPr/>
        </p:nvSpPr>
        <p:spPr>
          <a:xfrm>
            <a:off x="8801100" y="8667598"/>
            <a:ext cx="8763610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Barrier 두께·conformality 차이가 Cu fill 형상에 그대로 반영된다.</a:t>
            </a:r>
            <a:endParaRPr lang="en-US" sz="1350" dirty="0"/>
          </a:p>
        </p:txBody>
      </p:sp>
      <p:sp>
        <p:nvSpPr>
          <p:cNvPr id="46" name="Text 37"/>
          <p:cNvSpPr txBox="1"/>
          <p:nvPr/>
        </p:nvSpPr>
        <p:spPr>
          <a:xfrm>
            <a:off x="571500" y="9620402"/>
            <a:ext cx="11430000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6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내부 테스트용 더미(가상) 데이터</a:t>
            </a:r>
            <a:endParaRPr lang="en-US" sz="1200" dirty="0"/>
          </a:p>
        </p:txBody>
      </p:sp>
      <p:sp>
        <p:nvSpPr>
          <p:cNvPr id="47" name="Text 38"/>
          <p:cNvSpPr txBox="1"/>
          <p:nvPr/>
        </p:nvSpPr>
        <p:spPr>
          <a:xfrm>
            <a:off x="14097305" y="9620402"/>
            <a:ext cx="3620110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spc="126" kern="0" dirty="0">
                <a:solidFill>
                  <a:srgbClr val="9DC3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BEOL RSBM · Dummy · 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5E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bfb57895a49cac99413505a9d8b253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382305" y="2857500"/>
            <a:ext cx="9334195" cy="5715000"/>
          </a:xfrm>
          <a:prstGeom prst="rect">
            <a:avLst/>
          </a:prstGeom>
          <a:solidFill>
            <a:srgbClr val="0F24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571500" y="2857500"/>
            <a:ext cx="7448702" cy="573420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71500" y="8762695"/>
            <a:ext cx="17164202" cy="59070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0" y="9620402"/>
            <a:ext cx="18288000" cy="666598"/>
          </a:xfrm>
          <a:prstGeom prst="rect">
            <a:avLst/>
          </a:prstGeom>
          <a:solidFill>
            <a:srgbClr val="0F24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1" descr="gen-dedup-3bc330a2cec19012a14138f805592d46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571500" y="514807"/>
            <a:ext cx="17145000" cy="9144"/>
          </a:xfrm>
          <a:prstGeom prst="rect">
            <a:avLst/>
          </a:prstGeom>
        </p:spPr>
      </p:pic>
      <p:pic>
        <p:nvPicPr>
          <p:cNvPr id="9" name="Image 2" descr="gen-dedup-601db0ebb01afb7b323a6358076091ca.jpg">    </p:cNvPr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8382305" y="2857500"/>
            <a:ext cx="9334195" cy="571500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800100" y="3847795"/>
            <a:ext cx="7029907" cy="1143000"/>
          </a:xfrm>
          <a:prstGeom prst="rect">
            <a:avLst/>
          </a:prstGeom>
          <a:solidFill>
            <a:srgbClr val="F4F8FD"/>
          </a:solidFill>
          <a:ln/>
        </p:spPr>
      </p:sp>
      <p:sp>
        <p:nvSpPr>
          <p:cNvPr id="11" name="Shape 5"/>
          <p:cNvSpPr/>
          <p:nvPr/>
        </p:nvSpPr>
        <p:spPr>
          <a:xfrm>
            <a:off x="800100" y="3847795"/>
            <a:ext cx="57607" cy="1143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800100" y="5143500"/>
            <a:ext cx="7029907" cy="1143000"/>
          </a:xfrm>
          <a:prstGeom prst="rect">
            <a:avLst/>
          </a:prstGeom>
          <a:solidFill>
            <a:srgbClr val="F0F9F6"/>
          </a:solidFill>
          <a:ln/>
        </p:spPr>
      </p:sp>
      <p:sp>
        <p:nvSpPr>
          <p:cNvPr id="13" name="Shape 7"/>
          <p:cNvSpPr/>
          <p:nvPr/>
        </p:nvSpPr>
        <p:spPr>
          <a:xfrm>
            <a:off x="800100" y="5143500"/>
            <a:ext cx="57607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14" name="Image 3" descr="gen-dedup-cb1dbfd7a30124832c4111101d9d3d42.png">    </p:cNvPr>
          <p:cNvPicPr>
            <a:picLocks noChangeAspect="1"/>
          </p:cNvPicPr>
          <p:nvPr/>
        </p:nvPicPr>
        <p:blipFill>
          <a:blip r:embed="rId4"/>
          <a:srcRect l="-8" r="-8" t="0" b="0"/>
          <a:stretch/>
        </p:blipFill>
        <p:spPr>
          <a:xfrm>
            <a:off x="800100" y="6515100"/>
            <a:ext cx="6972300" cy="1904695"/>
          </a:xfrm>
          <a:prstGeom prst="rect">
            <a:avLst/>
          </a:prstGeom>
        </p:spPr>
      </p:pic>
      <p:pic>
        <p:nvPicPr>
          <p:cNvPr id="15" name="Image 4" descr="gen-dedup-9ebcd80430f24d1305183825556a5ed0.png">    </p:cNvPr>
          <p:cNvPicPr>
            <a:picLocks noChangeAspect="1"/>
          </p:cNvPicPr>
          <p:nvPr/>
        </p:nvPicPr>
        <p:blipFill>
          <a:blip r:embed="rId5"/>
          <a:srcRect l="-400" r="-400" t="0" b="0"/>
          <a:stretch/>
        </p:blipFill>
        <p:spPr>
          <a:xfrm>
            <a:off x="571500" y="8762695"/>
            <a:ext cx="57607" cy="571500"/>
          </a:xfrm>
          <a:prstGeom prst="rect">
            <a:avLst/>
          </a:prstGeom>
        </p:spPr>
      </p:pic>
      <p:pic>
        <p:nvPicPr>
          <p:cNvPr id="16" name="Image 5" descr="gen-dedup-a3c2fcfdea890a825561f27da8b4a106.png">    </p:cNvPr>
          <p:cNvPicPr>
            <a:picLocks noChangeAspect="1"/>
          </p:cNvPicPr>
          <p:nvPr/>
        </p:nvPicPr>
        <p:blipFill>
          <a:blip r:embed="rId6"/>
          <a:srcRect l="0" r="0" t="-2" b="-2"/>
          <a:stretch/>
        </p:blipFill>
        <p:spPr>
          <a:xfrm>
            <a:off x="8382305" y="2857500"/>
            <a:ext cx="9334195" cy="5715000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571500" y="705002"/>
            <a:ext cx="4953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RSBM Split 평가 · M6 layer · Lot D-series Dummy</a:t>
            </a:r>
            <a:endParaRPr lang="en-US" sz="1050" dirty="0"/>
          </a:p>
        </p:txBody>
      </p:sp>
      <p:sp>
        <p:nvSpPr>
          <p:cNvPr id="18" name="Text 9"/>
          <p:cNvSpPr txBox="1"/>
          <p:nvPr/>
        </p:nvSpPr>
        <p:spPr>
          <a:xfrm>
            <a:off x="15811805" y="705002"/>
            <a:ext cx="1905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spc="126" kern="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TEM barrier 계면</a:t>
            </a:r>
            <a:endParaRPr lang="en-US" sz="1050" dirty="0"/>
          </a:p>
        </p:txBody>
      </p:sp>
      <p:sp>
        <p:nvSpPr>
          <p:cNvPr id="19" name="Text 10"/>
          <p:cNvSpPr txBox="1"/>
          <p:nvPr/>
        </p:nvSpPr>
        <p:spPr>
          <a:xfrm>
            <a:off x="571500" y="1238098"/>
            <a:ext cx="14287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 · M6 barrier 계면</a:t>
            </a:r>
            <a:endParaRPr lang="en-US" sz="1950" dirty="0"/>
          </a:p>
        </p:txBody>
      </p:sp>
      <p:sp>
        <p:nvSpPr>
          <p:cNvPr id="20" name="Text 11"/>
          <p:cNvSpPr txBox="1"/>
          <p:nvPr/>
        </p:nvSpPr>
        <p:spPr>
          <a:xfrm>
            <a:off x="571500" y="1705356"/>
            <a:ext cx="14287500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spc="-81" kern="0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ALD Ru vs PVD TaN — </a:t>
            </a:r>
            <a:pPr algn="l" indent="0" marL="0">
              <a:buNone/>
            </a:pPr>
            <a:r>
              <a:rPr lang="en-US" sz="4050" b="1" spc="-81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계면 화학</a:t>
            </a:r>
            <a:pPr algn="l" indent="0" marL="0">
              <a:buNone/>
            </a:pPr>
            <a:r>
              <a:rPr lang="en-US" sz="4050" b="1" spc="-81" kern="0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차이</a:t>
            </a:r>
            <a:endParaRPr lang="en-US" sz="4050" dirty="0"/>
          </a:p>
        </p:txBody>
      </p:sp>
      <p:sp>
        <p:nvSpPr>
          <p:cNvPr id="21" name="Text 12"/>
          <p:cNvSpPr txBox="1"/>
          <p:nvPr/>
        </p:nvSpPr>
        <p:spPr>
          <a:xfrm>
            <a:off x="8572500" y="781080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A6D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FIG. 4-A</a:t>
            </a:r>
            <a:endParaRPr lang="en-US" sz="1050" dirty="0"/>
          </a:p>
        </p:txBody>
      </p:sp>
      <p:sp>
        <p:nvSpPr>
          <p:cNvPr id="22" name="Text 13"/>
          <p:cNvSpPr txBox="1"/>
          <p:nvPr/>
        </p:nvSpPr>
        <p:spPr>
          <a:xfrm>
            <a:off x="8572500" y="8020202"/>
            <a:ext cx="5715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Barrier / Cu interface · HAADF</a:t>
            </a:r>
            <a:endParaRPr lang="en-US" sz="1350" dirty="0"/>
          </a:p>
        </p:txBody>
      </p:sp>
      <p:sp>
        <p:nvSpPr>
          <p:cNvPr id="23" name="Text 14"/>
          <p:cNvSpPr txBox="1"/>
          <p:nvPr/>
        </p:nvSpPr>
        <p:spPr>
          <a:xfrm>
            <a:off x="8572500" y="8229600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A6B7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Nature Communications, Turing-patterned barrier 도식 변형</a:t>
            </a:r>
            <a:endParaRPr lang="en-US" sz="1125" dirty="0"/>
          </a:p>
        </p:txBody>
      </p:sp>
      <p:sp>
        <p:nvSpPr>
          <p:cNvPr id="24" name="Text 15"/>
          <p:cNvSpPr txBox="1"/>
          <p:nvPr/>
        </p:nvSpPr>
        <p:spPr>
          <a:xfrm>
            <a:off x="800100" y="3047695"/>
            <a:ext cx="7049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INTERFACE FINDINGS</a:t>
            </a:r>
            <a:endParaRPr lang="en-US" sz="1050" dirty="0"/>
          </a:p>
        </p:txBody>
      </p:sp>
      <p:sp>
        <p:nvSpPr>
          <p:cNvPr id="25" name="Text 16"/>
          <p:cNvSpPr txBox="1"/>
          <p:nvPr/>
        </p:nvSpPr>
        <p:spPr>
          <a:xfrm>
            <a:off x="800100" y="3276295"/>
            <a:ext cx="7049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Barrier / Cu 계면 분석 포인트</a:t>
            </a:r>
            <a:endParaRPr lang="en-US" sz="2250" dirty="0"/>
          </a:p>
        </p:txBody>
      </p:sp>
      <p:sp>
        <p:nvSpPr>
          <p:cNvPr id="26" name="Text 17"/>
          <p:cNvSpPr txBox="1"/>
          <p:nvPr/>
        </p:nvSpPr>
        <p:spPr>
          <a:xfrm>
            <a:off x="990295" y="3981298"/>
            <a:ext cx="6667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· ALD TaN + Ru</a:t>
            </a:r>
            <a:endParaRPr lang="en-US" sz="1050" dirty="0"/>
          </a:p>
        </p:txBody>
      </p:sp>
      <p:sp>
        <p:nvSpPr>
          <p:cNvPr id="27" name="Text 18"/>
          <p:cNvSpPr txBox="1"/>
          <p:nvPr/>
        </p:nvSpPr>
        <p:spPr>
          <a:xfrm>
            <a:off x="990295" y="4209898"/>
            <a:ext cx="6667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 직상 Cu 계면 — agglomeration 관찰 없음</a:t>
            </a:r>
            <a:endParaRPr lang="en-US" sz="1500" dirty="0"/>
          </a:p>
        </p:txBody>
      </p:sp>
      <p:sp>
        <p:nvSpPr>
          <p:cNvPr id="28" name="Text 19"/>
          <p:cNvSpPr txBox="1"/>
          <p:nvPr/>
        </p:nvSpPr>
        <p:spPr>
          <a:xfrm>
            <a:off x="990295" y="4524451"/>
            <a:ext cx="6667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평균 barrier 두께 2.45 nm, RMS roughness 0.31 nm</a:t>
            </a:r>
            <a:endParaRPr lang="en-US" sz="1275" dirty="0"/>
          </a:p>
        </p:txBody>
      </p:sp>
      <p:sp>
        <p:nvSpPr>
          <p:cNvPr id="29" name="Text 20"/>
          <p:cNvSpPr txBox="1"/>
          <p:nvPr/>
        </p:nvSpPr>
        <p:spPr>
          <a:xfrm>
            <a:off x="990295" y="5277002"/>
            <a:ext cx="6667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· PVD Ta + TaN</a:t>
            </a:r>
            <a:endParaRPr lang="en-US" sz="1050" dirty="0"/>
          </a:p>
        </p:txBody>
      </p:sp>
      <p:sp>
        <p:nvSpPr>
          <p:cNvPr id="30" name="Text 21"/>
          <p:cNvSpPr txBox="1"/>
          <p:nvPr/>
        </p:nvSpPr>
        <p:spPr>
          <a:xfrm>
            <a:off x="990295" y="5505602"/>
            <a:ext cx="6667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TaN 위 Cu 계면 — 부분 비정질층 1.2 nm 관찰</a:t>
            </a:r>
            <a:endParaRPr lang="en-US" sz="1500" dirty="0"/>
          </a:p>
        </p:txBody>
      </p:sp>
      <p:sp>
        <p:nvSpPr>
          <p:cNvPr id="31" name="Text 22"/>
          <p:cNvSpPr txBox="1"/>
          <p:nvPr/>
        </p:nvSpPr>
        <p:spPr>
          <a:xfrm>
            <a:off x="990295" y="5820156"/>
            <a:ext cx="6667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평균 barrier 두께 3.62 nm, sidewall variation 큼</a:t>
            </a:r>
            <a:endParaRPr lang="en-US" sz="1275" dirty="0"/>
          </a:p>
        </p:txBody>
      </p:sp>
      <p:sp>
        <p:nvSpPr>
          <p:cNvPr id="32" name="Text 23"/>
          <p:cNvSpPr txBox="1"/>
          <p:nvPr/>
        </p:nvSpPr>
        <p:spPr>
          <a:xfrm>
            <a:off x="1028700" y="6705295"/>
            <a:ext cx="6477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9DC3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EDS QUICK READ</a:t>
            </a:r>
            <a:endParaRPr lang="en-US" sz="1050" dirty="0"/>
          </a:p>
        </p:txBody>
      </p:sp>
      <p:sp>
        <p:nvSpPr>
          <p:cNvPr id="33" name="Text 24"/>
          <p:cNvSpPr txBox="1"/>
          <p:nvPr/>
        </p:nvSpPr>
        <p:spPr>
          <a:xfrm>
            <a:off x="1028700" y="7086600"/>
            <a:ext cx="7050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9DC3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바닥 Cu</a:t>
            </a:r>
            <a:endParaRPr lang="en-US" sz="975" dirty="0"/>
          </a:p>
        </p:txBody>
      </p:sp>
      <p:sp>
        <p:nvSpPr>
          <p:cNvPr id="34" name="Text 25"/>
          <p:cNvSpPr txBox="1"/>
          <p:nvPr/>
        </p:nvSpPr>
        <p:spPr>
          <a:xfrm>
            <a:off x="1028700" y="7324344"/>
            <a:ext cx="839419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98.6 %</a:t>
            </a:r>
            <a:endParaRPr lang="en-US" sz="1800" dirty="0"/>
          </a:p>
        </p:txBody>
      </p:sp>
      <p:sp>
        <p:nvSpPr>
          <p:cNvPr id="35" name="Text 26"/>
          <p:cNvSpPr txBox="1"/>
          <p:nvPr/>
        </p:nvSpPr>
        <p:spPr>
          <a:xfrm>
            <a:off x="1922069" y="7086600"/>
            <a:ext cx="7050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9DC3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바닥 Cu</a:t>
            </a:r>
            <a:endParaRPr lang="en-US" sz="975" dirty="0"/>
          </a:p>
        </p:txBody>
      </p:sp>
      <p:sp>
        <p:nvSpPr>
          <p:cNvPr id="36" name="Text 27"/>
          <p:cNvSpPr txBox="1"/>
          <p:nvPr/>
        </p:nvSpPr>
        <p:spPr>
          <a:xfrm>
            <a:off x="1922069" y="7324344"/>
            <a:ext cx="839419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97.1 %</a:t>
            </a:r>
            <a:endParaRPr lang="en-US" sz="1800" dirty="0"/>
          </a:p>
        </p:txBody>
      </p:sp>
      <p:sp>
        <p:nvSpPr>
          <p:cNvPr id="37" name="Text 28"/>
          <p:cNvSpPr txBox="1"/>
          <p:nvPr/>
        </p:nvSpPr>
        <p:spPr>
          <a:xfrm>
            <a:off x="2815438" y="7086600"/>
            <a:ext cx="8001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9DC3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계면 O</a:t>
            </a:r>
            <a:endParaRPr lang="en-US" sz="975" dirty="0"/>
          </a:p>
        </p:txBody>
      </p:sp>
      <p:sp>
        <p:nvSpPr>
          <p:cNvPr id="38" name="Text 29"/>
          <p:cNvSpPr txBox="1"/>
          <p:nvPr/>
        </p:nvSpPr>
        <p:spPr>
          <a:xfrm>
            <a:off x="2815438" y="7324344"/>
            <a:ext cx="9528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 at%</a:t>
            </a:r>
            <a:endParaRPr lang="en-US" sz="1800" dirty="0"/>
          </a:p>
        </p:txBody>
      </p:sp>
      <p:sp>
        <p:nvSpPr>
          <p:cNvPr id="39" name="Text 30"/>
          <p:cNvSpPr txBox="1"/>
          <p:nvPr/>
        </p:nvSpPr>
        <p:spPr>
          <a:xfrm>
            <a:off x="3802075" y="7086600"/>
            <a:ext cx="8001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9DC3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계면 O</a:t>
            </a:r>
            <a:endParaRPr lang="en-US" sz="975" dirty="0"/>
          </a:p>
        </p:txBody>
      </p:sp>
      <p:sp>
        <p:nvSpPr>
          <p:cNvPr id="40" name="Text 31"/>
          <p:cNvSpPr txBox="1"/>
          <p:nvPr/>
        </p:nvSpPr>
        <p:spPr>
          <a:xfrm>
            <a:off x="3802075" y="7324344"/>
            <a:ext cx="9528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2.3 at%</a:t>
            </a:r>
            <a:endParaRPr lang="en-US" sz="1800" dirty="0"/>
          </a:p>
        </p:txBody>
      </p:sp>
      <p:sp>
        <p:nvSpPr>
          <p:cNvPr id="41" name="Text 32"/>
          <p:cNvSpPr txBox="1"/>
          <p:nvPr/>
        </p:nvSpPr>
        <p:spPr>
          <a:xfrm>
            <a:off x="800100" y="8762695"/>
            <a:ext cx="2857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2" name="Text 33"/>
          <p:cNvSpPr txBox="1"/>
          <p:nvPr/>
        </p:nvSpPr>
        <p:spPr>
          <a:xfrm>
            <a:off x="3619195" y="8762695"/>
            <a:ext cx="1390711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ALD Ru 계면은 산소·탄소 contamination 이 낮고 roughness 가 작아, 후속 Rs/EM 차이가 TEM 단계에서 이미 예측된다.</a:t>
            </a:r>
            <a:endParaRPr lang="en-US" sz="1350" dirty="0"/>
          </a:p>
        </p:txBody>
      </p:sp>
      <p:sp>
        <p:nvSpPr>
          <p:cNvPr id="43" name="Text 34"/>
          <p:cNvSpPr txBox="1"/>
          <p:nvPr/>
        </p:nvSpPr>
        <p:spPr>
          <a:xfrm>
            <a:off x="571500" y="9620402"/>
            <a:ext cx="11430000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6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내부 테스트용 더미(가상) 데이터</a:t>
            </a:r>
            <a:endParaRPr lang="en-US" sz="1200" dirty="0"/>
          </a:p>
        </p:txBody>
      </p:sp>
      <p:sp>
        <p:nvSpPr>
          <p:cNvPr id="44" name="Text 35"/>
          <p:cNvSpPr txBox="1"/>
          <p:nvPr/>
        </p:nvSpPr>
        <p:spPr>
          <a:xfrm>
            <a:off x="14097305" y="9620402"/>
            <a:ext cx="3620110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spc="126" kern="0" dirty="0">
                <a:solidFill>
                  <a:srgbClr val="9DC3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BEOL RSBM · Dummy · 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E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bfb57895a49cac99413505a9d8b253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71500" y="2857500"/>
            <a:ext cx="8305495" cy="278160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9430207" y="2857500"/>
            <a:ext cx="8305495" cy="278160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71500" y="5810098"/>
            <a:ext cx="8305495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430207" y="5810098"/>
            <a:ext cx="8305495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71500" y="8667598"/>
            <a:ext cx="17164202" cy="72420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0" y="9620402"/>
            <a:ext cx="18288000" cy="666598"/>
          </a:xfrm>
          <a:prstGeom prst="rect">
            <a:avLst/>
          </a:prstGeom>
          <a:solidFill>
            <a:srgbClr val="0F24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1" descr="gen-dedup-3bc330a2cec19012a14138f805592d46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571500" y="514807"/>
            <a:ext cx="17145000" cy="9144"/>
          </a:xfrm>
          <a:prstGeom prst="rect">
            <a:avLst/>
          </a:prstGeom>
        </p:spPr>
      </p:pic>
      <p:pic>
        <p:nvPicPr>
          <p:cNvPr id="11" name="Image 2" descr="gen-dedup-6dc65fd5b0193589580ef906b22e301b.png">    </p:cNvPr>
          <p:cNvPicPr>
            <a:picLocks noChangeAspect="1"/>
          </p:cNvPicPr>
          <p:nvPr/>
        </p:nvPicPr>
        <p:blipFill>
          <a:blip r:embed="rId3"/>
          <a:srcRect l="0" r="0" t="-42" b="-42"/>
          <a:stretch/>
        </p:blipFill>
        <p:spPr>
          <a:xfrm>
            <a:off x="571500" y="2857500"/>
            <a:ext cx="8287207" cy="514807"/>
          </a:xfrm>
          <a:prstGeom prst="rect">
            <a:avLst/>
          </a:prstGeom>
        </p:spPr>
      </p:pic>
      <p:pic>
        <p:nvPicPr>
          <p:cNvPr id="12" name="Image 3" descr="gen-dedup-cf077b8d5875c5be0d616039b25205c0.png">    </p:cNvPr>
          <p:cNvPicPr>
            <a:picLocks noChangeAspect="1"/>
          </p:cNvPicPr>
          <p:nvPr/>
        </p:nvPicPr>
        <p:blipFill>
          <a:blip r:embed="rId4"/>
          <a:srcRect l="-2089" r="-2089" t="0" b="0"/>
          <a:stretch/>
        </p:blipFill>
        <p:spPr>
          <a:xfrm>
            <a:off x="800100" y="3829507"/>
            <a:ext cx="7830007" cy="9144"/>
          </a:xfrm>
          <a:prstGeom prst="rect">
            <a:avLst/>
          </a:prstGeom>
        </p:spPr>
      </p:pic>
      <p:pic>
        <p:nvPicPr>
          <p:cNvPr id="13" name="Image 4" descr="gen-dedup-798e49f402b7981acd71a2a8e7527881.png">    </p:cNvPr>
          <p:cNvPicPr>
            <a:picLocks noChangeAspect="1"/>
          </p:cNvPicPr>
          <p:nvPr/>
        </p:nvPicPr>
        <p:blipFill>
          <a:blip r:embed="rId5"/>
          <a:srcRect l="-2089" r="-2089" t="0" b="0"/>
          <a:stretch/>
        </p:blipFill>
        <p:spPr>
          <a:xfrm>
            <a:off x="800100" y="4438498"/>
            <a:ext cx="7830007" cy="9144"/>
          </a:xfrm>
          <a:prstGeom prst="rect">
            <a:avLst/>
          </a:prstGeom>
        </p:spPr>
      </p:pic>
      <p:pic>
        <p:nvPicPr>
          <p:cNvPr id="14" name="Image 5" descr="gen-dedup-798e49f402b7981acd71a2a8e7527881.png">    </p:cNvPr>
          <p:cNvPicPr>
            <a:picLocks noChangeAspect="1"/>
          </p:cNvPicPr>
          <p:nvPr/>
        </p:nvPicPr>
        <p:blipFill>
          <a:blip r:embed="rId6"/>
          <a:srcRect l="-2089" r="-2089" t="0" b="0"/>
          <a:stretch/>
        </p:blipFill>
        <p:spPr>
          <a:xfrm>
            <a:off x="800100" y="5009998"/>
            <a:ext cx="7830007" cy="9144"/>
          </a:xfrm>
          <a:prstGeom prst="rect">
            <a:avLst/>
          </a:prstGeom>
        </p:spPr>
      </p:pic>
      <p:pic>
        <p:nvPicPr>
          <p:cNvPr id="15" name="Image 6" descr="gen-dedup-6dc65fd5b0193589580ef906b22e301b.png">    </p:cNvPr>
          <p:cNvPicPr>
            <a:picLocks noChangeAspect="1"/>
          </p:cNvPicPr>
          <p:nvPr/>
        </p:nvPicPr>
        <p:blipFill>
          <a:blip r:embed="rId7"/>
          <a:srcRect l="0" r="0" t="-42" b="-42"/>
          <a:stretch/>
        </p:blipFill>
        <p:spPr>
          <a:xfrm>
            <a:off x="9430207" y="2857500"/>
            <a:ext cx="8287207" cy="514807"/>
          </a:xfrm>
          <a:prstGeom prst="rect">
            <a:avLst/>
          </a:prstGeom>
        </p:spPr>
      </p:pic>
      <p:pic>
        <p:nvPicPr>
          <p:cNvPr id="16" name="Image 7" descr="gen-dedup-cf077b8d5875c5be0d616039b25205c0.png">    </p:cNvPr>
          <p:cNvPicPr>
            <a:picLocks noChangeAspect="1"/>
          </p:cNvPicPr>
          <p:nvPr/>
        </p:nvPicPr>
        <p:blipFill>
          <a:blip r:embed="rId8"/>
          <a:srcRect l="-2089" r="-2089" t="0" b="0"/>
          <a:stretch/>
        </p:blipFill>
        <p:spPr>
          <a:xfrm>
            <a:off x="9658807" y="3829507"/>
            <a:ext cx="7830007" cy="9144"/>
          </a:xfrm>
          <a:prstGeom prst="rect">
            <a:avLst/>
          </a:prstGeom>
        </p:spPr>
      </p:pic>
      <p:pic>
        <p:nvPicPr>
          <p:cNvPr id="17" name="Image 8" descr="gen-dedup-798e49f402b7981acd71a2a8e7527881.png">    </p:cNvPr>
          <p:cNvPicPr>
            <a:picLocks noChangeAspect="1"/>
          </p:cNvPicPr>
          <p:nvPr/>
        </p:nvPicPr>
        <p:blipFill>
          <a:blip r:embed="rId9"/>
          <a:srcRect l="-2089" r="-2089" t="0" b="0"/>
          <a:stretch/>
        </p:blipFill>
        <p:spPr>
          <a:xfrm>
            <a:off x="9658807" y="4438498"/>
            <a:ext cx="7830007" cy="9144"/>
          </a:xfrm>
          <a:prstGeom prst="rect">
            <a:avLst/>
          </a:prstGeom>
        </p:spPr>
      </p:pic>
      <p:pic>
        <p:nvPicPr>
          <p:cNvPr id="18" name="Image 9" descr="gen-dedup-798e49f402b7981acd71a2a8e7527881.png">    </p:cNvPr>
          <p:cNvPicPr>
            <a:picLocks noChangeAspect="1"/>
          </p:cNvPicPr>
          <p:nvPr/>
        </p:nvPicPr>
        <p:blipFill>
          <a:blip r:embed="rId10"/>
          <a:srcRect l="-2089" r="-2089" t="0" b="0"/>
          <a:stretch/>
        </p:blipFill>
        <p:spPr>
          <a:xfrm>
            <a:off x="9658807" y="5009998"/>
            <a:ext cx="7830007" cy="9144"/>
          </a:xfrm>
          <a:prstGeom prst="rect">
            <a:avLst/>
          </a:prstGeom>
        </p:spPr>
      </p:pic>
      <p:pic>
        <p:nvPicPr>
          <p:cNvPr id="19" name="Image 10" descr="gen-dedup-2e28640f8d376230eafe6221cc6d977b.png">    </p:cNvPr>
          <p:cNvPicPr>
            <a:picLocks noChangeAspect="1"/>
          </p:cNvPicPr>
          <p:nvPr/>
        </p:nvPicPr>
        <p:blipFill>
          <a:blip r:embed="rId11"/>
          <a:srcRect l="0" r="0" t="-42" b="-42"/>
          <a:stretch/>
        </p:blipFill>
        <p:spPr>
          <a:xfrm>
            <a:off x="571500" y="5810098"/>
            <a:ext cx="8287207" cy="514807"/>
          </a:xfrm>
          <a:prstGeom prst="rect">
            <a:avLst/>
          </a:prstGeom>
        </p:spPr>
      </p:pic>
      <p:pic>
        <p:nvPicPr>
          <p:cNvPr id="20" name="Image 11" descr="gen-dedup-cf077b8d5875c5be0d616039b25205c0.png">    </p:cNvPr>
          <p:cNvPicPr>
            <a:picLocks noChangeAspect="1"/>
          </p:cNvPicPr>
          <p:nvPr/>
        </p:nvPicPr>
        <p:blipFill>
          <a:blip r:embed="rId12"/>
          <a:srcRect l="-2089" r="-2089" t="0" b="0"/>
          <a:stretch/>
        </p:blipFill>
        <p:spPr>
          <a:xfrm>
            <a:off x="800100" y="6782105"/>
            <a:ext cx="7830007" cy="9144"/>
          </a:xfrm>
          <a:prstGeom prst="rect">
            <a:avLst/>
          </a:prstGeom>
        </p:spPr>
      </p:pic>
      <p:pic>
        <p:nvPicPr>
          <p:cNvPr id="21" name="Image 12" descr="gen-dedup-798e49f402b7981acd71a2a8e7527881.png">    </p:cNvPr>
          <p:cNvPicPr>
            <a:picLocks noChangeAspect="1"/>
          </p:cNvPicPr>
          <p:nvPr/>
        </p:nvPicPr>
        <p:blipFill>
          <a:blip r:embed="rId13"/>
          <a:srcRect l="-2089" r="-2089" t="0" b="0"/>
          <a:stretch/>
        </p:blipFill>
        <p:spPr>
          <a:xfrm>
            <a:off x="800100" y="7315200"/>
            <a:ext cx="7830007" cy="9144"/>
          </a:xfrm>
          <a:prstGeom prst="rect">
            <a:avLst/>
          </a:prstGeom>
        </p:spPr>
      </p:pic>
      <p:pic>
        <p:nvPicPr>
          <p:cNvPr id="22" name="Image 13" descr="gen-dedup-798e49f402b7981acd71a2a8e7527881.png">    </p:cNvPr>
          <p:cNvPicPr>
            <a:picLocks noChangeAspect="1"/>
          </p:cNvPicPr>
          <p:nvPr/>
        </p:nvPicPr>
        <p:blipFill>
          <a:blip r:embed="rId14"/>
          <a:srcRect l="-2089" r="-2089" t="0" b="0"/>
          <a:stretch/>
        </p:blipFill>
        <p:spPr>
          <a:xfrm>
            <a:off x="800100" y="7810805"/>
            <a:ext cx="7830007" cy="9144"/>
          </a:xfrm>
          <a:prstGeom prst="rect">
            <a:avLst/>
          </a:prstGeom>
        </p:spPr>
      </p:pic>
      <p:pic>
        <p:nvPicPr>
          <p:cNvPr id="23" name="Image 14" descr="gen-dedup-2e28640f8d376230eafe6221cc6d977b.png">    </p:cNvPr>
          <p:cNvPicPr>
            <a:picLocks noChangeAspect="1"/>
          </p:cNvPicPr>
          <p:nvPr/>
        </p:nvPicPr>
        <p:blipFill>
          <a:blip r:embed="rId15"/>
          <a:srcRect l="0" r="0" t="-42" b="-42"/>
          <a:stretch/>
        </p:blipFill>
        <p:spPr>
          <a:xfrm>
            <a:off x="9430207" y="5810098"/>
            <a:ext cx="8287207" cy="514807"/>
          </a:xfrm>
          <a:prstGeom prst="rect">
            <a:avLst/>
          </a:prstGeom>
        </p:spPr>
      </p:pic>
      <p:pic>
        <p:nvPicPr>
          <p:cNvPr id="24" name="Image 15" descr="gen-dedup-cf077b8d5875c5be0d616039b25205c0.png">    </p:cNvPr>
          <p:cNvPicPr>
            <a:picLocks noChangeAspect="1"/>
          </p:cNvPicPr>
          <p:nvPr/>
        </p:nvPicPr>
        <p:blipFill>
          <a:blip r:embed="rId16"/>
          <a:srcRect l="-2089" r="-2089" t="0" b="0"/>
          <a:stretch/>
        </p:blipFill>
        <p:spPr>
          <a:xfrm>
            <a:off x="9658807" y="6782105"/>
            <a:ext cx="7830007" cy="9144"/>
          </a:xfrm>
          <a:prstGeom prst="rect">
            <a:avLst/>
          </a:prstGeom>
        </p:spPr>
      </p:pic>
      <p:pic>
        <p:nvPicPr>
          <p:cNvPr id="25" name="Image 16" descr="gen-dedup-798e49f402b7981acd71a2a8e7527881.png">    </p:cNvPr>
          <p:cNvPicPr>
            <a:picLocks noChangeAspect="1"/>
          </p:cNvPicPr>
          <p:nvPr/>
        </p:nvPicPr>
        <p:blipFill>
          <a:blip r:embed="rId17"/>
          <a:srcRect l="-2089" r="-2089" t="0" b="0"/>
          <a:stretch/>
        </p:blipFill>
        <p:spPr>
          <a:xfrm>
            <a:off x="9658807" y="7315200"/>
            <a:ext cx="7830007" cy="9144"/>
          </a:xfrm>
          <a:prstGeom prst="rect">
            <a:avLst/>
          </a:prstGeom>
        </p:spPr>
      </p:pic>
      <p:pic>
        <p:nvPicPr>
          <p:cNvPr id="26" name="Image 17" descr="gen-dedup-798e49f402b7981acd71a2a8e7527881.png">    </p:cNvPr>
          <p:cNvPicPr>
            <a:picLocks noChangeAspect="1"/>
          </p:cNvPicPr>
          <p:nvPr/>
        </p:nvPicPr>
        <p:blipFill>
          <a:blip r:embed="rId18"/>
          <a:srcRect l="-2089" r="-2089" t="0" b="0"/>
          <a:stretch/>
        </p:blipFill>
        <p:spPr>
          <a:xfrm>
            <a:off x="9658807" y="7810805"/>
            <a:ext cx="7830007" cy="9144"/>
          </a:xfrm>
          <a:prstGeom prst="rect">
            <a:avLst/>
          </a:prstGeom>
        </p:spPr>
      </p:pic>
      <p:sp>
        <p:nvSpPr>
          <p:cNvPr id="27" name="Shape 6"/>
          <p:cNvSpPr/>
          <p:nvPr/>
        </p:nvSpPr>
        <p:spPr>
          <a:xfrm>
            <a:off x="571500" y="8667598"/>
            <a:ext cx="1143000" cy="705002"/>
          </a:xfrm>
          <a:prstGeom prst="rect">
            <a:avLst/>
          </a:prstGeom>
          <a:solidFill>
            <a:srgbClr val="0F24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7"/>
          <p:cNvSpPr txBox="1"/>
          <p:nvPr/>
        </p:nvSpPr>
        <p:spPr>
          <a:xfrm>
            <a:off x="571500" y="705002"/>
            <a:ext cx="4953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RSBM Split 평가 · M6 layer · Lot D-series Dummy</a:t>
            </a:r>
            <a:endParaRPr lang="en-US" sz="1050" dirty="0"/>
          </a:p>
        </p:txBody>
      </p:sp>
      <p:sp>
        <p:nvSpPr>
          <p:cNvPr id="29" name="Text 8"/>
          <p:cNvSpPr txBox="1"/>
          <p:nvPr/>
        </p:nvSpPr>
        <p:spPr>
          <a:xfrm>
            <a:off x="15811805" y="705002"/>
            <a:ext cx="1905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spc="126" kern="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CD variation</a:t>
            </a:r>
            <a:endParaRPr lang="en-US" sz="1050" dirty="0"/>
          </a:p>
        </p:txBody>
      </p:sp>
      <p:sp>
        <p:nvSpPr>
          <p:cNvPr id="30" name="Text 9"/>
          <p:cNvSpPr txBox="1"/>
          <p:nvPr/>
        </p:nvSpPr>
        <p:spPr>
          <a:xfrm>
            <a:off x="571500" y="1143000"/>
            <a:ext cx="14287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 variation · wafer × metric</a:t>
            </a:r>
            <a:endParaRPr lang="en-US" sz="1950" dirty="0"/>
          </a:p>
        </p:txBody>
      </p:sp>
      <p:sp>
        <p:nvSpPr>
          <p:cNvPr id="31" name="Text 10"/>
          <p:cNvSpPr txBox="1"/>
          <p:nvPr/>
        </p:nvSpPr>
        <p:spPr>
          <a:xfrm>
            <a:off x="571500" y="1533449"/>
            <a:ext cx="14287500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spc="-81" kern="0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종 CD 의 </a:t>
            </a:r>
            <a:pPr algn="l" indent="0" marL="0">
              <a:buNone/>
            </a:pPr>
            <a:r>
              <a:rPr lang="en-US" sz="4050" b="1" spc="-81" kern="0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mean · 3σ · range · Δ</a:t>
            </a:r>
            <a:endParaRPr lang="en-US" sz="4050" dirty="0"/>
          </a:p>
        </p:txBody>
      </p:sp>
      <p:sp>
        <p:nvSpPr>
          <p:cNvPr id="32" name="Text 11"/>
          <p:cNvSpPr txBox="1"/>
          <p:nvPr/>
        </p:nvSpPr>
        <p:spPr>
          <a:xfrm>
            <a:off x="571500" y="2247595"/>
            <a:ext cx="16193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 · nm / site n &gt; 1,200 per wafer · Δ compared to nominal target</a:t>
            </a:r>
            <a:endParaRPr lang="en-US" sz="1350" dirty="0"/>
          </a:p>
        </p:txBody>
      </p:sp>
      <p:sp>
        <p:nvSpPr>
          <p:cNvPr id="33" name="Text 12"/>
          <p:cNvSpPr txBox="1"/>
          <p:nvPr/>
        </p:nvSpPr>
        <p:spPr>
          <a:xfrm>
            <a:off x="800100" y="2933395"/>
            <a:ext cx="5715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FD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METRIC 01</a:t>
            </a:r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AASI</a:t>
            </a:r>
            <a:pPr algn="l" indent="0" marL="0">
              <a:buNone/>
            </a:pPr>
            <a:r>
              <a:rPr lang="en-US" sz="1350" dirty="0">
                <a:solidFill>
                  <a:srgbClr val="BFD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After-Ash Sidewall Inspection</a:t>
            </a:r>
            <a:endParaRPr lang="en-US" sz="1200" dirty="0"/>
          </a:p>
        </p:txBody>
      </p:sp>
      <p:sp>
        <p:nvSpPr>
          <p:cNvPr id="34" name="Text 13"/>
          <p:cNvSpPr txBox="1"/>
          <p:nvPr/>
        </p:nvSpPr>
        <p:spPr>
          <a:xfrm>
            <a:off x="6534302" y="2933395"/>
            <a:ext cx="2095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· 24.6 nm</a:t>
            </a:r>
            <a:endParaRPr lang="en-US" sz="1200" dirty="0"/>
          </a:p>
        </p:txBody>
      </p:sp>
      <p:sp>
        <p:nvSpPr>
          <p:cNvPr id="35" name="Text 14"/>
          <p:cNvSpPr txBox="1"/>
          <p:nvPr/>
        </p:nvSpPr>
        <p:spPr>
          <a:xfrm>
            <a:off x="800100" y="3504895"/>
            <a:ext cx="7810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</a:t>
            </a:r>
            <a:pPr algn="l" indent="0" marL="0">
              <a:buNone/>
            </a:pPr>
            <a:r>
              <a:rPr lang="en-US" sz="975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MEAN</a:t>
            </a:r>
            <a:pPr algn="l" indent="0" marL="0">
              <a:buNone/>
            </a:pPr>
            <a:r>
              <a:rPr lang="en-US" sz="975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σ</a:t>
            </a:r>
            <a:pPr algn="l" indent="0" marL="0">
              <a:buNone/>
            </a:pPr>
            <a:r>
              <a:rPr lang="en-US" sz="975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RANGE</a:t>
            </a:r>
            <a:pPr algn="l" indent="0" marL="0">
              <a:buNone/>
            </a:pPr>
            <a:r>
              <a:rPr lang="en-US" sz="975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Δ vs target</a:t>
            </a:r>
            <a:endParaRPr lang="en-US" sz="1200" dirty="0"/>
          </a:p>
        </p:txBody>
      </p:sp>
      <p:sp>
        <p:nvSpPr>
          <p:cNvPr id="36" name="Text 15"/>
          <p:cNvSpPr txBox="1"/>
          <p:nvPr/>
        </p:nvSpPr>
        <p:spPr>
          <a:xfrm>
            <a:off x="800100" y="3924605"/>
            <a:ext cx="7810805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W01 · A</a:t>
            </a:r>
            <a:pPr algn="l" indent="0" marL="0">
              <a:buNone/>
            </a:pPr>
            <a:r>
              <a:rPr lang="en-US" sz="19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24.52</a:t>
            </a:r>
            <a:pPr algn="l" indent="0" marL="0">
              <a:buNone/>
            </a:pPr>
            <a:r>
              <a:rPr lang="en-US" sz="165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0.42</a:t>
            </a:r>
            <a:pPr algn="l" indent="0" marL="0">
              <a:buNone/>
            </a:pPr>
            <a:r>
              <a:rPr lang="en-US" sz="165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4.8</a:t>
            </a:r>
            <a:pPr algn="l" indent="0" marL="0">
              <a:buNone/>
            </a:pPr>
            <a:r>
              <a:rPr lang="en-US" sz="165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−0.08</a:t>
            </a:r>
            <a:endParaRPr lang="en-US" sz="1200" dirty="0"/>
          </a:p>
        </p:txBody>
      </p:sp>
      <p:sp>
        <p:nvSpPr>
          <p:cNvPr id="37" name="Text 16"/>
          <p:cNvSpPr txBox="1"/>
          <p:nvPr/>
        </p:nvSpPr>
        <p:spPr>
          <a:xfrm>
            <a:off x="800100" y="4496105"/>
            <a:ext cx="7810805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W02 · A</a:t>
            </a:r>
            <a:pPr algn="l" indent="0" marL="0">
              <a:buNone/>
            </a:pPr>
            <a:r>
              <a:rPr lang="en-US" sz="19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24.71</a:t>
            </a:r>
            <a:pPr algn="l" indent="0" marL="0">
              <a:buNone/>
            </a:pPr>
            <a:r>
              <a:rPr lang="en-US" sz="165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0.38</a:t>
            </a:r>
            <a:pPr algn="l" indent="0" marL="0">
              <a:buNone/>
            </a:pPr>
            <a:r>
              <a:rPr lang="en-US" sz="165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4.5</a:t>
            </a:r>
            <a:pPr algn="l" indent="0" marL="0">
              <a:buNone/>
            </a:pPr>
            <a:r>
              <a:rPr lang="en-US" sz="1650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+0.11</a:t>
            </a:r>
            <a:endParaRPr lang="en-US" sz="1200" dirty="0"/>
          </a:p>
        </p:txBody>
      </p:sp>
      <p:sp>
        <p:nvSpPr>
          <p:cNvPr id="38" name="Text 17"/>
          <p:cNvSpPr txBox="1"/>
          <p:nvPr/>
        </p:nvSpPr>
        <p:spPr>
          <a:xfrm>
            <a:off x="800100" y="5048402"/>
            <a:ext cx="7810805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W03 · B</a:t>
            </a:r>
            <a:pPr algn="l" indent="0" marL="0">
              <a:buNone/>
            </a:pPr>
            <a:r>
              <a:rPr lang="en-US" sz="19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24.95</a:t>
            </a:r>
            <a:pPr algn="l" indent="0" marL="0">
              <a:buNone/>
            </a:pPr>
            <a:r>
              <a:rPr lang="en-US" sz="165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0.51</a:t>
            </a:r>
            <a:pPr algn="l" indent="0" marL="0">
              <a:buNone/>
            </a:pPr>
            <a:r>
              <a:rPr lang="en-US" sz="165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5.6</a:t>
            </a:r>
            <a:pPr algn="l" indent="0" marL="0">
              <a:buNone/>
            </a:pPr>
            <a:r>
              <a:rPr lang="en-US" sz="1650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+0.35</a:t>
            </a:r>
            <a:endParaRPr lang="en-US" sz="1200" dirty="0"/>
          </a:p>
        </p:txBody>
      </p:sp>
      <p:sp>
        <p:nvSpPr>
          <p:cNvPr id="39" name="Text 18"/>
          <p:cNvSpPr txBox="1"/>
          <p:nvPr/>
        </p:nvSpPr>
        <p:spPr>
          <a:xfrm>
            <a:off x="9658807" y="2933395"/>
            <a:ext cx="5715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FD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METRIC 02</a:t>
            </a:r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ASEI</a:t>
            </a:r>
            <a:pPr algn="l" indent="0" marL="0">
              <a:buNone/>
            </a:pPr>
            <a:r>
              <a:rPr lang="en-US" sz="1350" dirty="0">
                <a:solidFill>
                  <a:srgbClr val="BFD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After-Strip Etch Inspection</a:t>
            </a:r>
            <a:endParaRPr lang="en-US" sz="1200" dirty="0"/>
          </a:p>
        </p:txBody>
      </p:sp>
      <p:sp>
        <p:nvSpPr>
          <p:cNvPr id="40" name="Text 19"/>
          <p:cNvSpPr txBox="1"/>
          <p:nvPr/>
        </p:nvSpPr>
        <p:spPr>
          <a:xfrm>
            <a:off x="15392095" y="2933395"/>
            <a:ext cx="2095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· 15.8 nm</a:t>
            </a:r>
            <a:endParaRPr lang="en-US" sz="1200" dirty="0"/>
          </a:p>
        </p:txBody>
      </p:sp>
      <p:sp>
        <p:nvSpPr>
          <p:cNvPr id="41" name="Text 20"/>
          <p:cNvSpPr txBox="1"/>
          <p:nvPr/>
        </p:nvSpPr>
        <p:spPr>
          <a:xfrm>
            <a:off x="9658807" y="3504895"/>
            <a:ext cx="7810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</a:t>
            </a:r>
            <a:pPr algn="l" indent="0" marL="0">
              <a:buNone/>
            </a:pPr>
            <a:r>
              <a:rPr lang="en-US" sz="975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MEAN</a:t>
            </a:r>
            <a:pPr algn="l" indent="0" marL="0">
              <a:buNone/>
            </a:pPr>
            <a:r>
              <a:rPr lang="en-US" sz="975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σ</a:t>
            </a:r>
            <a:pPr algn="l" indent="0" marL="0">
              <a:buNone/>
            </a:pPr>
            <a:r>
              <a:rPr lang="en-US" sz="975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RANGE</a:t>
            </a:r>
            <a:pPr algn="l" indent="0" marL="0">
              <a:buNone/>
            </a:pPr>
            <a:r>
              <a:rPr lang="en-US" sz="975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Δ vs target</a:t>
            </a:r>
            <a:endParaRPr lang="en-US" sz="1200" dirty="0"/>
          </a:p>
        </p:txBody>
      </p:sp>
      <p:sp>
        <p:nvSpPr>
          <p:cNvPr id="42" name="Text 21"/>
          <p:cNvSpPr txBox="1"/>
          <p:nvPr/>
        </p:nvSpPr>
        <p:spPr>
          <a:xfrm>
            <a:off x="9658807" y="3924605"/>
            <a:ext cx="7810805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W01 · A</a:t>
            </a:r>
            <a:pPr algn="l" indent="0" marL="0">
              <a:buNone/>
            </a:pPr>
            <a:r>
              <a:rPr lang="en-US" sz="19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15.74</a:t>
            </a:r>
            <a:pPr algn="l" indent="0" marL="0">
              <a:buNone/>
            </a:pPr>
            <a:r>
              <a:rPr lang="en-US" sz="165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0.31</a:t>
            </a:r>
            <a:pPr algn="l" indent="0" marL="0">
              <a:buNone/>
            </a:pPr>
            <a:r>
              <a:rPr lang="en-US" sz="165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3.4</a:t>
            </a:r>
            <a:pPr algn="l" indent="0" marL="0">
              <a:buNone/>
            </a:pPr>
            <a:r>
              <a:rPr lang="en-US" sz="165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−0.06</a:t>
            </a:r>
            <a:endParaRPr lang="en-US" sz="1200" dirty="0"/>
          </a:p>
        </p:txBody>
      </p:sp>
      <p:sp>
        <p:nvSpPr>
          <p:cNvPr id="43" name="Text 22"/>
          <p:cNvSpPr txBox="1"/>
          <p:nvPr/>
        </p:nvSpPr>
        <p:spPr>
          <a:xfrm>
            <a:off x="9658807" y="4496105"/>
            <a:ext cx="7810805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W02 · A</a:t>
            </a:r>
            <a:pPr algn="l" indent="0" marL="0">
              <a:buNone/>
            </a:pPr>
            <a:r>
              <a:rPr lang="en-US" sz="19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15.88</a:t>
            </a:r>
            <a:pPr algn="l" indent="0" marL="0">
              <a:buNone/>
            </a:pPr>
            <a:r>
              <a:rPr lang="en-US" sz="165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0.34</a:t>
            </a:r>
            <a:pPr algn="l" indent="0" marL="0">
              <a:buNone/>
            </a:pPr>
            <a:r>
              <a:rPr lang="en-US" sz="165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3.8</a:t>
            </a:r>
            <a:pPr algn="l" indent="0" marL="0">
              <a:buNone/>
            </a:pPr>
            <a:r>
              <a:rPr lang="en-US" sz="1650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+0.08</a:t>
            </a:r>
            <a:endParaRPr lang="en-US" sz="1200" dirty="0"/>
          </a:p>
        </p:txBody>
      </p:sp>
      <p:sp>
        <p:nvSpPr>
          <p:cNvPr id="44" name="Text 23"/>
          <p:cNvSpPr txBox="1"/>
          <p:nvPr/>
        </p:nvSpPr>
        <p:spPr>
          <a:xfrm>
            <a:off x="9658807" y="5048402"/>
            <a:ext cx="7810805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W03 · B</a:t>
            </a:r>
            <a:pPr algn="l" indent="0" marL="0">
              <a:buNone/>
            </a:pPr>
            <a:r>
              <a:rPr lang="en-US" sz="19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16.04</a:t>
            </a:r>
            <a:pPr algn="l" indent="0" marL="0">
              <a:buNone/>
            </a:pPr>
            <a:r>
              <a:rPr lang="en-US" sz="165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0.46</a:t>
            </a:r>
            <a:pPr algn="l" indent="0" marL="0">
              <a:buNone/>
            </a:pPr>
            <a:r>
              <a:rPr lang="en-US" sz="165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4.9</a:t>
            </a:r>
            <a:pPr algn="l" indent="0" marL="0">
              <a:buNone/>
            </a:pPr>
            <a:r>
              <a:rPr lang="en-US" sz="1650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+0.24</a:t>
            </a:r>
            <a:endParaRPr lang="en-US" sz="1200" dirty="0"/>
          </a:p>
        </p:txBody>
      </p:sp>
      <p:sp>
        <p:nvSpPr>
          <p:cNvPr id="45" name="Text 24"/>
          <p:cNvSpPr txBox="1"/>
          <p:nvPr/>
        </p:nvSpPr>
        <p:spPr>
          <a:xfrm>
            <a:off x="800100" y="5886907"/>
            <a:ext cx="5715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7F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METRIC 03</a:t>
            </a:r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AMI</a:t>
            </a:r>
            <a:pPr algn="l" indent="0" marL="0">
              <a:buNone/>
            </a:pPr>
            <a:r>
              <a:rPr lang="en-US" sz="1350" dirty="0">
                <a:solidFill>
                  <a:srgbClr val="A7F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After-Metal Inspection</a:t>
            </a:r>
            <a:endParaRPr lang="en-US" sz="1200" dirty="0"/>
          </a:p>
        </p:txBody>
      </p:sp>
      <p:sp>
        <p:nvSpPr>
          <p:cNvPr id="46" name="Text 25"/>
          <p:cNvSpPr txBox="1"/>
          <p:nvPr/>
        </p:nvSpPr>
        <p:spPr>
          <a:xfrm>
            <a:off x="6534302" y="5886907"/>
            <a:ext cx="2095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· 9.3 nm</a:t>
            </a:r>
            <a:endParaRPr lang="en-US" sz="1200" dirty="0"/>
          </a:p>
        </p:txBody>
      </p:sp>
      <p:sp>
        <p:nvSpPr>
          <p:cNvPr id="47" name="Text 26"/>
          <p:cNvSpPr txBox="1"/>
          <p:nvPr/>
        </p:nvSpPr>
        <p:spPr>
          <a:xfrm>
            <a:off x="800100" y="6458407"/>
            <a:ext cx="7810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</a:t>
            </a:r>
            <a:pPr algn="l" indent="0" marL="0">
              <a:buNone/>
            </a:pPr>
            <a:r>
              <a:rPr lang="en-US" sz="975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MEAN</a:t>
            </a:r>
            <a:pPr algn="l" indent="0" marL="0">
              <a:buNone/>
            </a:pPr>
            <a:r>
              <a:rPr lang="en-US" sz="975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σ</a:t>
            </a:r>
            <a:pPr algn="l" indent="0" marL="0">
              <a:buNone/>
            </a:pPr>
            <a:r>
              <a:rPr lang="en-US" sz="975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RANGE</a:t>
            </a:r>
            <a:pPr algn="l" indent="0" marL="0">
              <a:buNone/>
            </a:pPr>
            <a:r>
              <a:rPr lang="en-US" sz="975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Δ vs target</a:t>
            </a:r>
            <a:endParaRPr lang="en-US" sz="1200" dirty="0"/>
          </a:p>
        </p:txBody>
      </p:sp>
      <p:sp>
        <p:nvSpPr>
          <p:cNvPr id="48" name="Text 27"/>
          <p:cNvSpPr txBox="1"/>
          <p:nvPr/>
        </p:nvSpPr>
        <p:spPr>
          <a:xfrm>
            <a:off x="800100" y="6858000"/>
            <a:ext cx="781080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W01 · A</a:t>
            </a:r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9.22</a:t>
            </a:r>
            <a:pPr algn="l" indent="0" marL="0">
              <a:buNone/>
            </a:pPr>
            <a:r>
              <a:rPr lang="en-US" sz="150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0.21</a:t>
            </a:r>
            <a:pPr algn="l" indent="0" marL="0">
              <a:buNone/>
            </a:pPr>
            <a:r>
              <a:rPr lang="en-US" sz="150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2.2</a:t>
            </a:r>
            <a:pPr algn="l" indent="0" marL="0">
              <a:buNone/>
            </a:pPr>
            <a:r>
              <a:rPr lang="en-US" sz="150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−0.08</a:t>
            </a:r>
            <a:endParaRPr lang="en-US" sz="1200" dirty="0"/>
          </a:p>
        </p:txBody>
      </p:sp>
      <p:sp>
        <p:nvSpPr>
          <p:cNvPr id="49" name="Text 28"/>
          <p:cNvSpPr txBox="1"/>
          <p:nvPr/>
        </p:nvSpPr>
        <p:spPr>
          <a:xfrm>
            <a:off x="800100" y="7353605"/>
            <a:ext cx="781080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W02 · A</a:t>
            </a:r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9.31</a:t>
            </a:r>
            <a:pPr algn="l" indent="0" marL="0">
              <a:buNone/>
            </a:pPr>
            <a:r>
              <a:rPr lang="en-US" sz="150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0.19</a:t>
            </a:r>
            <a:pPr algn="l" indent="0" marL="0">
              <a:buNone/>
            </a:pPr>
            <a:r>
              <a:rPr lang="en-US" sz="150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2.0</a:t>
            </a:r>
            <a:pPr algn="l" indent="0" marL="0">
              <a:buNone/>
            </a:pPr>
            <a:r>
              <a:rPr lang="en-US" sz="1500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+0.01</a:t>
            </a:r>
            <a:endParaRPr lang="en-US" sz="1200" dirty="0"/>
          </a:p>
        </p:txBody>
      </p:sp>
      <p:sp>
        <p:nvSpPr>
          <p:cNvPr id="50" name="Text 29"/>
          <p:cNvSpPr txBox="1"/>
          <p:nvPr/>
        </p:nvSpPr>
        <p:spPr>
          <a:xfrm>
            <a:off x="800100" y="7830007"/>
            <a:ext cx="781080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W03 · B</a:t>
            </a:r>
            <a:pPr algn="l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9.46</a:t>
            </a:r>
            <a:pPr algn="l" indent="0" marL="0">
              <a:buNone/>
            </a:pPr>
            <a:r>
              <a:rPr lang="en-US" sz="150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0.28</a:t>
            </a:r>
            <a:pPr algn="l" indent="0" marL="0">
              <a:buNone/>
            </a:pPr>
            <a:r>
              <a:rPr lang="en-US" sz="150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2.9</a:t>
            </a:r>
            <a:pPr algn="l" indent="0" marL="0">
              <a:buNone/>
            </a:pPr>
            <a:r>
              <a:rPr lang="en-US" sz="1500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+0.16</a:t>
            </a:r>
            <a:endParaRPr lang="en-US" sz="1200" dirty="0"/>
          </a:p>
        </p:txBody>
      </p:sp>
      <p:sp>
        <p:nvSpPr>
          <p:cNvPr id="51" name="Text 30"/>
          <p:cNvSpPr txBox="1"/>
          <p:nvPr/>
        </p:nvSpPr>
        <p:spPr>
          <a:xfrm>
            <a:off x="9658807" y="5886907"/>
            <a:ext cx="5715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7F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METRIC 04</a:t>
            </a:r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ACI</a:t>
            </a:r>
            <a:pPr algn="l" indent="0" marL="0">
              <a:buNone/>
            </a:pPr>
            <a:r>
              <a:rPr lang="en-US" sz="1350" dirty="0">
                <a:solidFill>
                  <a:srgbClr val="A7F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After-CMP Inspection</a:t>
            </a:r>
            <a:endParaRPr lang="en-US" sz="1200" dirty="0"/>
          </a:p>
        </p:txBody>
      </p:sp>
      <p:sp>
        <p:nvSpPr>
          <p:cNvPr id="52" name="Text 31"/>
          <p:cNvSpPr txBox="1"/>
          <p:nvPr/>
        </p:nvSpPr>
        <p:spPr>
          <a:xfrm>
            <a:off x="15392095" y="5886907"/>
            <a:ext cx="2095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· 8.1 nm</a:t>
            </a:r>
            <a:endParaRPr lang="en-US" sz="1200" dirty="0"/>
          </a:p>
        </p:txBody>
      </p:sp>
      <p:sp>
        <p:nvSpPr>
          <p:cNvPr id="53" name="Text 32"/>
          <p:cNvSpPr txBox="1"/>
          <p:nvPr/>
        </p:nvSpPr>
        <p:spPr>
          <a:xfrm>
            <a:off x="9658807" y="6458407"/>
            <a:ext cx="7810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</a:t>
            </a:r>
            <a:pPr algn="l" indent="0" marL="0">
              <a:buNone/>
            </a:pPr>
            <a:r>
              <a:rPr lang="en-US" sz="975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MEAN</a:t>
            </a:r>
            <a:pPr algn="l" indent="0" marL="0">
              <a:buNone/>
            </a:pPr>
            <a:r>
              <a:rPr lang="en-US" sz="975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σ</a:t>
            </a:r>
            <a:pPr algn="l" indent="0" marL="0">
              <a:buNone/>
            </a:pPr>
            <a:r>
              <a:rPr lang="en-US" sz="975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RANGE</a:t>
            </a:r>
            <a:pPr algn="l" indent="0" marL="0">
              <a:buNone/>
            </a:pPr>
            <a:r>
              <a:rPr lang="en-US" sz="975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Δ vs target</a:t>
            </a:r>
            <a:endParaRPr lang="en-US" sz="1200" dirty="0"/>
          </a:p>
        </p:txBody>
      </p:sp>
      <p:sp>
        <p:nvSpPr>
          <p:cNvPr id="54" name="Text 33"/>
          <p:cNvSpPr txBox="1"/>
          <p:nvPr/>
        </p:nvSpPr>
        <p:spPr>
          <a:xfrm>
            <a:off x="9658807" y="6858000"/>
            <a:ext cx="781080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W01 · A</a:t>
            </a:r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8.06</a:t>
            </a:r>
            <a:pPr algn="l" indent="0" marL="0">
              <a:buNone/>
            </a:pPr>
            <a:r>
              <a:rPr lang="en-US" sz="150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0.18</a:t>
            </a:r>
            <a:pPr algn="l" indent="0" marL="0">
              <a:buNone/>
            </a:pPr>
            <a:r>
              <a:rPr lang="en-US" sz="150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1.9</a:t>
            </a:r>
            <a:pPr algn="l" indent="0" marL="0">
              <a:buNone/>
            </a:pPr>
            <a:r>
              <a:rPr lang="en-US" sz="1500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−0.04</a:t>
            </a:r>
            <a:endParaRPr lang="en-US" sz="1200" dirty="0"/>
          </a:p>
        </p:txBody>
      </p:sp>
      <p:sp>
        <p:nvSpPr>
          <p:cNvPr id="55" name="Text 34"/>
          <p:cNvSpPr txBox="1"/>
          <p:nvPr/>
        </p:nvSpPr>
        <p:spPr>
          <a:xfrm>
            <a:off x="9658807" y="7353605"/>
            <a:ext cx="781080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W02 · A</a:t>
            </a:r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8.14</a:t>
            </a:r>
            <a:pPr algn="l" indent="0" marL="0">
              <a:buNone/>
            </a:pPr>
            <a:r>
              <a:rPr lang="en-US" sz="150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0.20</a:t>
            </a:r>
            <a:pPr algn="l" indent="0" marL="0">
              <a:buNone/>
            </a:pPr>
            <a:r>
              <a:rPr lang="en-US" sz="150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2.1</a:t>
            </a:r>
            <a:pPr algn="l" indent="0" marL="0">
              <a:buNone/>
            </a:pPr>
            <a:r>
              <a:rPr lang="en-US" sz="1500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+0.04</a:t>
            </a:r>
            <a:endParaRPr lang="en-US" sz="1200" dirty="0"/>
          </a:p>
        </p:txBody>
      </p:sp>
      <p:sp>
        <p:nvSpPr>
          <p:cNvPr id="56" name="Text 35"/>
          <p:cNvSpPr txBox="1"/>
          <p:nvPr/>
        </p:nvSpPr>
        <p:spPr>
          <a:xfrm>
            <a:off x="9658807" y="7830007"/>
            <a:ext cx="781080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W03 · B</a:t>
            </a:r>
            <a:pPr algn="l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8.27</a:t>
            </a:r>
            <a:pPr algn="l" indent="0" marL="0">
              <a:buNone/>
            </a:pPr>
            <a:r>
              <a:rPr lang="en-US" sz="150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0.25</a:t>
            </a:r>
            <a:pPr algn="l" indent="0" marL="0">
              <a:buNone/>
            </a:pPr>
            <a:r>
              <a:rPr lang="en-US" sz="150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2.7</a:t>
            </a:r>
            <a:pPr algn="l" indent="0" marL="0">
              <a:buNone/>
            </a:pPr>
            <a:r>
              <a:rPr lang="en-US" sz="1500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+0.17</a:t>
            </a:r>
            <a:endParaRPr lang="en-US" sz="1200" dirty="0"/>
          </a:p>
        </p:txBody>
      </p:sp>
      <p:sp>
        <p:nvSpPr>
          <p:cNvPr id="57" name="Text 36"/>
          <p:cNvSpPr txBox="1"/>
          <p:nvPr/>
        </p:nvSpPr>
        <p:spPr>
          <a:xfrm>
            <a:off x="571500" y="8667598"/>
            <a:ext cx="1143000" cy="705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spc="176" kern="0" dirty="0">
                <a:solidFill>
                  <a:srgbClr val="9DC3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58" name="Text 37"/>
          <p:cNvSpPr txBox="1"/>
          <p:nvPr/>
        </p:nvSpPr>
        <p:spPr>
          <a:xfrm>
            <a:off x="1904695" y="8667598"/>
            <a:ext cx="15430500" cy="705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(W03) 가 네 metric 모두에서 </a:t>
            </a:r>
            <a:pPr algn="l" indent="0" marL="0">
              <a:buNone/>
            </a:pPr>
            <a:r>
              <a:rPr lang="en-US" sz="16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mean ↑ · 3σ ↑ · range ↑</a:t>
            </a:r>
            <a:pPr algn="l" indent="0" marL="0">
              <a:buNone/>
            </a:pPr>
            <a:r>
              <a:rPr lang="en-US" sz="1650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Split A 대비 일관되게 변동이 크다.</a:t>
            </a:r>
            <a:endParaRPr lang="en-US" sz="1650" dirty="0"/>
          </a:p>
        </p:txBody>
      </p:sp>
      <p:sp>
        <p:nvSpPr>
          <p:cNvPr id="59" name="Text 38"/>
          <p:cNvSpPr txBox="1"/>
          <p:nvPr/>
        </p:nvSpPr>
        <p:spPr>
          <a:xfrm>
            <a:off x="571500" y="9620402"/>
            <a:ext cx="11430000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6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내부 테스트용 더미(가상) 데이터</a:t>
            </a:r>
            <a:endParaRPr lang="en-US" sz="1200" dirty="0"/>
          </a:p>
        </p:txBody>
      </p:sp>
      <p:sp>
        <p:nvSpPr>
          <p:cNvPr id="60" name="Text 39"/>
          <p:cNvSpPr txBox="1"/>
          <p:nvPr/>
        </p:nvSpPr>
        <p:spPr>
          <a:xfrm>
            <a:off x="14097305" y="9620402"/>
            <a:ext cx="3620110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spc="126" kern="0" dirty="0">
                <a:solidFill>
                  <a:srgbClr val="9DC3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BEOL RSBM · Dummy · 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E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bfb57895a49cac99413505a9d8b253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2857500"/>
            <a:ext cx="3258007" cy="535289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95598" y="2857500"/>
            <a:ext cx="3258007" cy="535289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19695" y="2857500"/>
            <a:ext cx="3258007" cy="535289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144707" y="2857500"/>
            <a:ext cx="6590995" cy="535289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1500" y="8572500"/>
            <a:ext cx="17164202" cy="72420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9620402"/>
            <a:ext cx="18288000" cy="666598"/>
          </a:xfrm>
          <a:prstGeom prst="rect">
            <a:avLst/>
          </a:prstGeom>
          <a:solidFill>
            <a:srgbClr val="0F24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gen-dedup-3bc330a2cec19012a14138f805592d46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571500" y="514807"/>
            <a:ext cx="17145000" cy="91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00100" y="4324198"/>
            <a:ext cx="495605" cy="495605"/>
          </a:xfrm>
          <a:prstGeom prst="rect">
            <a:avLst/>
          </a:prstGeom>
          <a:solidFill>
            <a:srgbClr val="BFD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314907" y="4324198"/>
            <a:ext cx="495605" cy="495605"/>
          </a:xfrm>
          <a:prstGeom prst="rect">
            <a:avLst/>
          </a:prstGeom>
          <a:solidFill>
            <a:srgbClr val="BFD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828800" y="4324198"/>
            <a:ext cx="495605" cy="495605"/>
          </a:xfrm>
          <a:prstGeom prst="rect">
            <a:avLst/>
          </a:prstGeom>
          <a:solidFill>
            <a:srgbClr val="C7DB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343607" y="4324198"/>
            <a:ext cx="495605" cy="495605"/>
          </a:xfrm>
          <a:prstGeom prst="rect">
            <a:avLst/>
          </a:prstGeom>
          <a:solidFill>
            <a:srgbClr val="BFD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857500" y="4324198"/>
            <a:ext cx="495605" cy="495605"/>
          </a:xfrm>
          <a:prstGeom prst="rect">
            <a:avLst/>
          </a:prstGeom>
          <a:solidFill>
            <a:srgbClr val="BFD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0100" y="4839005"/>
            <a:ext cx="495605" cy="495605"/>
          </a:xfrm>
          <a:prstGeom prst="rect">
            <a:avLst/>
          </a:prstGeom>
          <a:solidFill>
            <a:srgbClr val="BFD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314907" y="4839005"/>
            <a:ext cx="495605" cy="495605"/>
          </a:xfrm>
          <a:prstGeom prst="rect">
            <a:avLst/>
          </a:prstGeom>
          <a:solidFill>
            <a:srgbClr val="C7DB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828800" y="4839005"/>
            <a:ext cx="495605" cy="495605"/>
          </a:xfrm>
          <a:prstGeom prst="rect">
            <a:avLst/>
          </a:prstGeom>
          <a:solidFill>
            <a:srgbClr val="BFD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343607" y="4839005"/>
            <a:ext cx="495605" cy="495605"/>
          </a:xfrm>
          <a:prstGeom prst="rect">
            <a:avLst/>
          </a:prstGeom>
          <a:solidFill>
            <a:srgbClr val="BFD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857500" y="4839005"/>
            <a:ext cx="495605" cy="495605"/>
          </a:xfrm>
          <a:prstGeom prst="rect">
            <a:avLst/>
          </a:prstGeom>
          <a:solidFill>
            <a:srgbClr val="C7DB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00100" y="5352898"/>
            <a:ext cx="495605" cy="495605"/>
          </a:xfrm>
          <a:prstGeom prst="rect">
            <a:avLst/>
          </a:prstGeom>
          <a:solidFill>
            <a:srgbClr val="C7DB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314907" y="5352898"/>
            <a:ext cx="495605" cy="495605"/>
          </a:xfrm>
          <a:prstGeom prst="rect">
            <a:avLst/>
          </a:prstGeom>
          <a:solidFill>
            <a:srgbClr val="BFD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828800" y="5352898"/>
            <a:ext cx="495605" cy="495605"/>
          </a:xfrm>
          <a:prstGeom prst="rect">
            <a:avLst/>
          </a:prstGeom>
          <a:solidFill>
            <a:srgbClr val="BFD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343607" y="5352898"/>
            <a:ext cx="495605" cy="495605"/>
          </a:xfrm>
          <a:prstGeom prst="rect">
            <a:avLst/>
          </a:prstGeom>
          <a:solidFill>
            <a:srgbClr val="C7DB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2857500" y="5352898"/>
            <a:ext cx="495605" cy="495605"/>
          </a:xfrm>
          <a:prstGeom prst="rect">
            <a:avLst/>
          </a:prstGeom>
          <a:solidFill>
            <a:srgbClr val="C7DB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00100" y="5867705"/>
            <a:ext cx="495605" cy="495605"/>
          </a:xfrm>
          <a:prstGeom prst="rect">
            <a:avLst/>
          </a:prstGeom>
          <a:solidFill>
            <a:srgbClr val="BFD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1314907" y="5867705"/>
            <a:ext cx="495605" cy="495605"/>
          </a:xfrm>
          <a:prstGeom prst="rect">
            <a:avLst/>
          </a:prstGeom>
          <a:solidFill>
            <a:srgbClr val="C7DB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828800" y="5867705"/>
            <a:ext cx="495605" cy="495605"/>
          </a:xfrm>
          <a:prstGeom prst="rect">
            <a:avLst/>
          </a:prstGeom>
          <a:solidFill>
            <a:srgbClr val="BFD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2343607" y="5867705"/>
            <a:ext cx="495605" cy="495605"/>
          </a:xfrm>
          <a:prstGeom prst="rect">
            <a:avLst/>
          </a:prstGeom>
          <a:solidFill>
            <a:srgbClr val="C7DB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2857500" y="5867705"/>
            <a:ext cx="495605" cy="495605"/>
          </a:xfrm>
          <a:prstGeom prst="rect">
            <a:avLst/>
          </a:prstGeom>
          <a:solidFill>
            <a:srgbClr val="BFD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00100" y="6381598"/>
            <a:ext cx="495605" cy="495605"/>
          </a:xfrm>
          <a:prstGeom prst="rect">
            <a:avLst/>
          </a:prstGeom>
          <a:solidFill>
            <a:srgbClr val="C7DB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1314907" y="6381598"/>
            <a:ext cx="495605" cy="495605"/>
          </a:xfrm>
          <a:prstGeom prst="rect">
            <a:avLst/>
          </a:prstGeom>
          <a:solidFill>
            <a:srgbClr val="BFD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828800" y="6381598"/>
            <a:ext cx="495605" cy="495605"/>
          </a:xfrm>
          <a:prstGeom prst="rect">
            <a:avLst/>
          </a:prstGeom>
          <a:solidFill>
            <a:srgbClr val="C7DB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2343607" y="6381598"/>
            <a:ext cx="495605" cy="495605"/>
          </a:xfrm>
          <a:prstGeom prst="rect">
            <a:avLst/>
          </a:prstGeom>
          <a:solidFill>
            <a:srgbClr val="BFD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2857500" y="6381598"/>
            <a:ext cx="495605" cy="495605"/>
          </a:xfrm>
          <a:prstGeom prst="rect">
            <a:avLst/>
          </a:prstGeom>
          <a:solidFill>
            <a:srgbClr val="BFD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324198" y="4324198"/>
            <a:ext cx="495605" cy="495605"/>
          </a:xfrm>
          <a:prstGeom prst="rect">
            <a:avLst/>
          </a:prstGeom>
          <a:solidFill>
            <a:srgbClr val="C7DB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839005" y="4324198"/>
            <a:ext cx="495605" cy="495605"/>
          </a:xfrm>
          <a:prstGeom prst="rect">
            <a:avLst/>
          </a:prstGeom>
          <a:solidFill>
            <a:srgbClr val="BFD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5352898" y="4324198"/>
            <a:ext cx="495605" cy="495605"/>
          </a:xfrm>
          <a:prstGeom prst="rect">
            <a:avLst/>
          </a:prstGeom>
          <a:solidFill>
            <a:srgbClr val="C7DB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5867705" y="4324198"/>
            <a:ext cx="495605" cy="495605"/>
          </a:xfrm>
          <a:prstGeom prst="rect">
            <a:avLst/>
          </a:prstGeom>
          <a:solidFill>
            <a:srgbClr val="BFD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381598" y="4324198"/>
            <a:ext cx="495605" cy="495605"/>
          </a:xfrm>
          <a:prstGeom prst="rect">
            <a:avLst/>
          </a:prstGeom>
          <a:solidFill>
            <a:srgbClr val="BFD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4324198" y="4839005"/>
            <a:ext cx="495605" cy="495605"/>
          </a:xfrm>
          <a:prstGeom prst="rect">
            <a:avLst/>
          </a:prstGeom>
          <a:solidFill>
            <a:srgbClr val="BFD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4839005" y="4839005"/>
            <a:ext cx="495605" cy="495605"/>
          </a:xfrm>
          <a:prstGeom prst="rect">
            <a:avLst/>
          </a:prstGeom>
          <a:solidFill>
            <a:srgbClr val="C7DB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5352898" y="4839005"/>
            <a:ext cx="495605" cy="495605"/>
          </a:xfrm>
          <a:prstGeom prst="rect">
            <a:avLst/>
          </a:prstGeom>
          <a:solidFill>
            <a:srgbClr val="C7DB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5867705" y="4839005"/>
            <a:ext cx="495605" cy="495605"/>
          </a:xfrm>
          <a:prstGeom prst="rect">
            <a:avLst/>
          </a:prstGeom>
          <a:solidFill>
            <a:srgbClr val="BFD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6381598" y="4839005"/>
            <a:ext cx="495605" cy="495605"/>
          </a:xfrm>
          <a:prstGeom prst="rect">
            <a:avLst/>
          </a:prstGeom>
          <a:solidFill>
            <a:srgbClr val="BFD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4324198" y="5352898"/>
            <a:ext cx="495605" cy="495605"/>
          </a:xfrm>
          <a:prstGeom prst="rect">
            <a:avLst/>
          </a:prstGeom>
          <a:solidFill>
            <a:srgbClr val="BFD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4839005" y="5352898"/>
            <a:ext cx="495605" cy="495605"/>
          </a:xfrm>
          <a:prstGeom prst="rect">
            <a:avLst/>
          </a:prstGeom>
          <a:solidFill>
            <a:srgbClr val="C7DB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5352898" y="5352898"/>
            <a:ext cx="495605" cy="495605"/>
          </a:xfrm>
          <a:prstGeom prst="rect">
            <a:avLst/>
          </a:prstGeom>
          <a:solidFill>
            <a:srgbClr val="C7DB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5867705" y="5352898"/>
            <a:ext cx="495605" cy="495605"/>
          </a:xfrm>
          <a:prstGeom prst="rect">
            <a:avLst/>
          </a:prstGeom>
          <a:solidFill>
            <a:srgbClr val="BFD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6381598" y="5352898"/>
            <a:ext cx="495605" cy="495605"/>
          </a:xfrm>
          <a:prstGeom prst="rect">
            <a:avLst/>
          </a:prstGeom>
          <a:solidFill>
            <a:srgbClr val="C7DB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4324198" y="5867705"/>
            <a:ext cx="495605" cy="495605"/>
          </a:xfrm>
          <a:prstGeom prst="rect">
            <a:avLst/>
          </a:prstGeom>
          <a:solidFill>
            <a:srgbClr val="C7DB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4839005" y="5867705"/>
            <a:ext cx="495605" cy="495605"/>
          </a:xfrm>
          <a:prstGeom prst="rect">
            <a:avLst/>
          </a:prstGeom>
          <a:solidFill>
            <a:srgbClr val="C7DB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5352898" y="5867705"/>
            <a:ext cx="495605" cy="495605"/>
          </a:xfrm>
          <a:prstGeom prst="rect">
            <a:avLst/>
          </a:prstGeom>
          <a:solidFill>
            <a:srgbClr val="BFD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5867705" y="5867705"/>
            <a:ext cx="495605" cy="495605"/>
          </a:xfrm>
          <a:prstGeom prst="rect">
            <a:avLst/>
          </a:prstGeom>
          <a:solidFill>
            <a:srgbClr val="C7DB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6381598" y="5867705"/>
            <a:ext cx="495605" cy="495605"/>
          </a:xfrm>
          <a:prstGeom prst="rect">
            <a:avLst/>
          </a:prstGeom>
          <a:solidFill>
            <a:srgbClr val="BFD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4324198" y="6381598"/>
            <a:ext cx="495605" cy="495605"/>
          </a:xfrm>
          <a:prstGeom prst="rect">
            <a:avLst/>
          </a:prstGeom>
          <a:solidFill>
            <a:srgbClr val="BFD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4839005" y="6381598"/>
            <a:ext cx="495605" cy="495605"/>
          </a:xfrm>
          <a:prstGeom prst="rect">
            <a:avLst/>
          </a:prstGeom>
          <a:solidFill>
            <a:srgbClr val="C7DB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5352898" y="6381598"/>
            <a:ext cx="495605" cy="495605"/>
          </a:xfrm>
          <a:prstGeom prst="rect">
            <a:avLst/>
          </a:prstGeom>
          <a:solidFill>
            <a:srgbClr val="BFD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5867705" y="6381598"/>
            <a:ext cx="495605" cy="495605"/>
          </a:xfrm>
          <a:prstGeom prst="rect">
            <a:avLst/>
          </a:prstGeom>
          <a:solidFill>
            <a:srgbClr val="C7DB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6381598" y="6381598"/>
            <a:ext cx="495605" cy="495605"/>
          </a:xfrm>
          <a:prstGeom prst="rect">
            <a:avLst/>
          </a:prstGeom>
          <a:solidFill>
            <a:srgbClr val="BFD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7848295" y="4324198"/>
            <a:ext cx="495605" cy="495605"/>
          </a:xfrm>
          <a:prstGeom prst="rect">
            <a:avLst/>
          </a:prstGeom>
          <a:solidFill>
            <a:srgbClr val="9CC2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8363102" y="4324198"/>
            <a:ext cx="495605" cy="495605"/>
          </a:xfrm>
          <a:prstGeom prst="rect">
            <a:avLst/>
          </a:prstGeom>
          <a:solidFill>
            <a:srgbClr val="C7DB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8876995" y="4324198"/>
            <a:ext cx="495605" cy="495605"/>
          </a:xfrm>
          <a:prstGeom prst="rect">
            <a:avLst/>
          </a:prstGeom>
          <a:solidFill>
            <a:srgbClr val="BFD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9391802" y="4324198"/>
            <a:ext cx="495605" cy="495605"/>
          </a:xfrm>
          <a:prstGeom prst="rect">
            <a:avLst/>
          </a:prstGeom>
          <a:solidFill>
            <a:srgbClr val="7AB1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9905695" y="4324198"/>
            <a:ext cx="495605" cy="495605"/>
          </a:xfrm>
          <a:prstGeom prst="rect">
            <a:avLst/>
          </a:prstGeom>
          <a:solidFill>
            <a:srgbClr val="5C9D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7848295" y="4839005"/>
            <a:ext cx="495605" cy="495605"/>
          </a:xfrm>
          <a:prstGeom prst="rect">
            <a:avLst/>
          </a:prstGeom>
          <a:solidFill>
            <a:srgbClr val="BFD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8363102" y="4839005"/>
            <a:ext cx="495605" cy="495605"/>
          </a:xfrm>
          <a:prstGeom prst="rect">
            <a:avLst/>
          </a:prstGeom>
          <a:solidFill>
            <a:srgbClr val="9CC2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8876995" y="4839005"/>
            <a:ext cx="495605" cy="495605"/>
          </a:xfrm>
          <a:prstGeom prst="rect">
            <a:avLst/>
          </a:prstGeom>
          <a:solidFill>
            <a:srgbClr val="BFD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9391802" y="4839005"/>
            <a:ext cx="495605" cy="495605"/>
          </a:xfrm>
          <a:prstGeom prst="rect">
            <a:avLst/>
          </a:prstGeom>
          <a:solidFill>
            <a:srgbClr val="7AB1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9905695" y="4839005"/>
            <a:ext cx="495605" cy="495605"/>
          </a:xfrm>
          <a:prstGeom prst="rect">
            <a:avLst/>
          </a:prstGeom>
          <a:solidFill>
            <a:srgbClr val="7AB1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7848295" y="5352898"/>
            <a:ext cx="495605" cy="495605"/>
          </a:xfrm>
          <a:prstGeom prst="rect">
            <a:avLst/>
          </a:prstGeom>
          <a:solidFill>
            <a:srgbClr val="9CC2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8363102" y="5352898"/>
            <a:ext cx="495605" cy="495605"/>
          </a:xfrm>
          <a:prstGeom prst="rect">
            <a:avLst/>
          </a:prstGeom>
          <a:solidFill>
            <a:srgbClr val="7AB1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8876995" y="5352898"/>
            <a:ext cx="495605" cy="495605"/>
          </a:xfrm>
          <a:prstGeom prst="rect">
            <a:avLst/>
          </a:prstGeom>
          <a:solidFill>
            <a:srgbClr val="9CC2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9391802" y="5352898"/>
            <a:ext cx="495605" cy="495605"/>
          </a:xfrm>
          <a:prstGeom prst="rect">
            <a:avLst/>
          </a:prstGeom>
          <a:solidFill>
            <a:srgbClr val="BFD7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9905695" y="5352898"/>
            <a:ext cx="495605" cy="495605"/>
          </a:xfrm>
          <a:prstGeom prst="rect">
            <a:avLst/>
          </a:prstGeom>
          <a:solidFill>
            <a:srgbClr val="9CC2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7848295" y="5867705"/>
            <a:ext cx="495605" cy="495605"/>
          </a:xfrm>
          <a:prstGeom prst="rect">
            <a:avLst/>
          </a:prstGeom>
          <a:solidFill>
            <a:srgbClr val="7AB1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8363102" y="5867705"/>
            <a:ext cx="495605" cy="495605"/>
          </a:xfrm>
          <a:prstGeom prst="rect">
            <a:avLst/>
          </a:prstGeom>
          <a:solidFill>
            <a:srgbClr val="9CC2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8876995" y="5867705"/>
            <a:ext cx="495605" cy="495605"/>
          </a:xfrm>
          <a:prstGeom prst="rect">
            <a:avLst/>
          </a:prstGeom>
          <a:solidFill>
            <a:srgbClr val="7AB1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9391802" y="5867705"/>
            <a:ext cx="495605" cy="495605"/>
          </a:xfrm>
          <a:prstGeom prst="rect">
            <a:avLst/>
          </a:prstGeom>
          <a:solidFill>
            <a:srgbClr val="7AB1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9905695" y="5867705"/>
            <a:ext cx="495605" cy="495605"/>
          </a:xfrm>
          <a:prstGeom prst="rect">
            <a:avLst/>
          </a:prstGeom>
          <a:solidFill>
            <a:srgbClr val="7AB1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7848295" y="6381598"/>
            <a:ext cx="495605" cy="495605"/>
          </a:xfrm>
          <a:prstGeom prst="rect">
            <a:avLst/>
          </a:prstGeom>
          <a:solidFill>
            <a:srgbClr val="9CC2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8363102" y="6381598"/>
            <a:ext cx="495605" cy="495605"/>
          </a:xfrm>
          <a:prstGeom prst="rect">
            <a:avLst/>
          </a:prstGeom>
          <a:solidFill>
            <a:srgbClr val="7AB1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8876995" y="6381598"/>
            <a:ext cx="495605" cy="495605"/>
          </a:xfrm>
          <a:prstGeom prst="rect">
            <a:avLst/>
          </a:prstGeom>
          <a:solidFill>
            <a:srgbClr val="9CC2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>
            <a:off x="9391802" y="6381598"/>
            <a:ext cx="495605" cy="495605"/>
          </a:xfrm>
          <a:prstGeom prst="rect">
            <a:avLst/>
          </a:prstGeom>
          <a:solidFill>
            <a:srgbClr val="9CC2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9905695" y="6381598"/>
            <a:ext cx="495605" cy="495605"/>
          </a:xfrm>
          <a:prstGeom prst="rect">
            <a:avLst/>
          </a:prstGeom>
          <a:solidFill>
            <a:srgbClr val="9CC2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11373307" y="3847795"/>
            <a:ext cx="6115507" cy="514807"/>
          </a:xfrm>
          <a:prstGeom prst="rect">
            <a:avLst/>
          </a:prstGeom>
          <a:solidFill>
            <a:srgbClr val="0F24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6" name="Image 2" descr="gen-dedup-85c9ec0c2266fb49ef768da873185a6c.png">    </p:cNvPr>
          <p:cNvPicPr>
            <a:picLocks noChangeAspect="1"/>
          </p:cNvPicPr>
          <p:nvPr/>
        </p:nvPicPr>
        <p:blipFill>
          <a:blip r:embed="rId3"/>
          <a:srcRect l="-2089" r="-2089" t="0" b="0"/>
          <a:stretch/>
        </p:blipFill>
        <p:spPr>
          <a:xfrm>
            <a:off x="11373307" y="4781398"/>
            <a:ext cx="6115507" cy="9144"/>
          </a:xfrm>
          <a:prstGeom prst="rect">
            <a:avLst/>
          </a:prstGeom>
        </p:spPr>
      </p:pic>
      <p:pic>
        <p:nvPicPr>
          <p:cNvPr id="87" name="Image 3" descr="gen-dedup-85c9ec0c2266fb49ef768da873185a6c.png">    </p:cNvPr>
          <p:cNvPicPr>
            <a:picLocks noChangeAspect="1"/>
          </p:cNvPicPr>
          <p:nvPr/>
        </p:nvPicPr>
        <p:blipFill>
          <a:blip r:embed="rId4"/>
          <a:srcRect l="-2089" r="-2089" t="0" b="0"/>
          <a:stretch/>
        </p:blipFill>
        <p:spPr>
          <a:xfrm>
            <a:off x="11373307" y="5296205"/>
            <a:ext cx="6115507" cy="9144"/>
          </a:xfrm>
          <a:prstGeom prst="rect">
            <a:avLst/>
          </a:prstGeom>
        </p:spPr>
      </p:pic>
      <p:pic>
        <p:nvPicPr>
          <p:cNvPr id="88" name="Image 4" descr="gen-dedup-85c9ec0c2266fb49ef768da873185a6c.png">    </p:cNvPr>
          <p:cNvPicPr>
            <a:picLocks noChangeAspect="1"/>
          </p:cNvPicPr>
          <p:nvPr/>
        </p:nvPicPr>
        <p:blipFill>
          <a:blip r:embed="rId5"/>
          <a:srcRect l="-2089" r="-2089" t="0" b="0"/>
          <a:stretch/>
        </p:blipFill>
        <p:spPr>
          <a:xfrm>
            <a:off x="11373307" y="5810098"/>
            <a:ext cx="6115507" cy="9144"/>
          </a:xfrm>
          <a:prstGeom prst="rect">
            <a:avLst/>
          </a:prstGeom>
        </p:spPr>
      </p:pic>
      <p:pic>
        <p:nvPicPr>
          <p:cNvPr id="89" name="Image 5" descr="gen-dedup-85c9ec0c2266fb49ef768da873185a6c.png">    </p:cNvPr>
          <p:cNvPicPr>
            <a:picLocks noChangeAspect="1"/>
          </p:cNvPicPr>
          <p:nvPr/>
        </p:nvPicPr>
        <p:blipFill>
          <a:blip r:embed="rId6"/>
          <a:srcRect l="-2089" r="-2089" t="0" b="0"/>
          <a:stretch/>
        </p:blipFill>
        <p:spPr>
          <a:xfrm>
            <a:off x="11373307" y="6324905"/>
            <a:ext cx="6115507" cy="9144"/>
          </a:xfrm>
          <a:prstGeom prst="rect">
            <a:avLst/>
          </a:prstGeom>
        </p:spPr>
      </p:pic>
      <p:sp>
        <p:nvSpPr>
          <p:cNvPr id="90" name="Shape 82"/>
          <p:cNvSpPr/>
          <p:nvPr/>
        </p:nvSpPr>
        <p:spPr>
          <a:xfrm>
            <a:off x="11373307" y="6534302"/>
            <a:ext cx="6115507" cy="1524305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3"/>
          <p:cNvSpPr/>
          <p:nvPr/>
        </p:nvSpPr>
        <p:spPr>
          <a:xfrm>
            <a:off x="11563502" y="7029907"/>
            <a:ext cx="228600" cy="228600"/>
          </a:xfrm>
          <a:prstGeom prst="rect">
            <a:avLst/>
          </a:prstGeom>
          <a:solidFill>
            <a:srgbClr val="5C9D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4"/>
          <p:cNvSpPr/>
          <p:nvPr/>
        </p:nvSpPr>
        <p:spPr>
          <a:xfrm>
            <a:off x="11563502" y="7334402"/>
            <a:ext cx="228600" cy="228600"/>
          </a:xfrm>
          <a:prstGeom prst="rect">
            <a:avLst/>
          </a:prstGeom>
          <a:solidFill>
            <a:srgbClr val="9CC2E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85"/>
          <p:cNvSpPr/>
          <p:nvPr/>
        </p:nvSpPr>
        <p:spPr>
          <a:xfrm>
            <a:off x="13849502" y="7029907"/>
            <a:ext cx="228600" cy="228600"/>
          </a:xfrm>
          <a:prstGeom prst="rect">
            <a:avLst/>
          </a:prstGeom>
          <a:solidFill>
            <a:srgbClr val="C7DB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86"/>
          <p:cNvSpPr/>
          <p:nvPr/>
        </p:nvSpPr>
        <p:spPr>
          <a:xfrm>
            <a:off x="13849502" y="7334402"/>
            <a:ext cx="228600" cy="228600"/>
          </a:xfrm>
          <a:prstGeom prst="rect">
            <a:avLst/>
          </a:prstGeom>
          <a:solidFill>
            <a:srgbClr val="BFD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87"/>
          <p:cNvSpPr/>
          <p:nvPr/>
        </p:nvSpPr>
        <p:spPr>
          <a:xfrm>
            <a:off x="571500" y="8572500"/>
            <a:ext cx="1143000" cy="705002"/>
          </a:xfrm>
          <a:prstGeom prst="rect">
            <a:avLst/>
          </a:prstGeom>
          <a:solidFill>
            <a:srgbClr val="0F24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Text 88"/>
          <p:cNvSpPr txBox="1"/>
          <p:nvPr/>
        </p:nvSpPr>
        <p:spPr>
          <a:xfrm>
            <a:off x="571500" y="705002"/>
            <a:ext cx="4953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RSBM Split 평가 · M6 layer · Lot D-series Dummy</a:t>
            </a:r>
            <a:endParaRPr lang="en-US" sz="1050" dirty="0"/>
          </a:p>
        </p:txBody>
      </p:sp>
      <p:sp>
        <p:nvSpPr>
          <p:cNvPr id="97" name="Text 89"/>
          <p:cNvSpPr txBox="1"/>
          <p:nvPr/>
        </p:nvSpPr>
        <p:spPr>
          <a:xfrm>
            <a:off x="15639898" y="705002"/>
            <a:ext cx="207660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spc="126" kern="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Wafer uniformity</a:t>
            </a:r>
            <a:endParaRPr lang="en-US" sz="1050" dirty="0"/>
          </a:p>
        </p:txBody>
      </p:sp>
      <p:sp>
        <p:nvSpPr>
          <p:cNvPr id="98" name="Text 90"/>
          <p:cNvSpPr txBox="1"/>
          <p:nvPr/>
        </p:nvSpPr>
        <p:spPr>
          <a:xfrm>
            <a:off x="571500" y="1143000"/>
            <a:ext cx="14287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In-wafer uniformity</a:t>
            </a:r>
            <a:endParaRPr lang="en-US" sz="1950" dirty="0"/>
          </a:p>
        </p:txBody>
      </p:sp>
      <p:sp>
        <p:nvSpPr>
          <p:cNvPr id="99" name="Text 91"/>
          <p:cNvSpPr txBox="1"/>
          <p:nvPr/>
        </p:nvSpPr>
        <p:spPr>
          <a:xfrm>
            <a:off x="571500" y="1533449"/>
            <a:ext cx="14287500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spc="-81" kern="0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pt wafer map &amp; </a:t>
            </a:r>
            <a:pPr algn="l" indent="0" marL="0">
              <a:buNone/>
            </a:pPr>
            <a:r>
              <a:rPr lang="en-US" sz="4050" b="1" spc="-81" kern="0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uniformity 표</a:t>
            </a:r>
            <a:endParaRPr lang="en-US" sz="4050" dirty="0"/>
          </a:p>
        </p:txBody>
      </p:sp>
      <p:sp>
        <p:nvSpPr>
          <p:cNvPr id="100" name="Text 92"/>
          <p:cNvSpPr txBox="1"/>
          <p:nvPr/>
        </p:nvSpPr>
        <p:spPr>
          <a:xfrm>
            <a:off x="571500" y="2247595"/>
            <a:ext cx="16193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metric · AMI (5 × 5 sampling) · all values in nm · map scale 통일 min 8.9 → max 9.8</a:t>
            </a:r>
            <a:endParaRPr lang="en-US" sz="1350" dirty="0"/>
          </a:p>
        </p:txBody>
      </p:sp>
      <p:sp>
        <p:nvSpPr>
          <p:cNvPr id="101" name="Text 93"/>
          <p:cNvSpPr txBox="1"/>
          <p:nvPr/>
        </p:nvSpPr>
        <p:spPr>
          <a:xfrm>
            <a:off x="800100" y="3010205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</a:t>
            </a:r>
            <a:endParaRPr lang="en-US" sz="1050" dirty="0"/>
          </a:p>
        </p:txBody>
      </p:sp>
      <p:sp>
        <p:nvSpPr>
          <p:cNvPr id="102" name="Text 94"/>
          <p:cNvSpPr txBox="1"/>
          <p:nvPr/>
        </p:nvSpPr>
        <p:spPr>
          <a:xfrm>
            <a:off x="800100" y="3200400"/>
            <a:ext cx="2857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W01</a:t>
            </a:r>
            <a:endParaRPr lang="en-US" sz="2400" dirty="0"/>
          </a:p>
        </p:txBody>
      </p:sp>
      <p:sp>
        <p:nvSpPr>
          <p:cNvPr id="103" name="Text 95"/>
          <p:cNvSpPr txBox="1"/>
          <p:nvPr/>
        </p:nvSpPr>
        <p:spPr>
          <a:xfrm>
            <a:off x="800100" y="3581705"/>
            <a:ext cx="2857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· ALD TaN/Ru</a:t>
            </a:r>
            <a:endParaRPr lang="en-US" sz="1200" dirty="0"/>
          </a:p>
        </p:txBody>
      </p:sp>
      <p:sp>
        <p:nvSpPr>
          <p:cNvPr id="104" name="Text 96"/>
          <p:cNvSpPr txBox="1"/>
          <p:nvPr/>
        </p:nvSpPr>
        <p:spPr>
          <a:xfrm>
            <a:off x="800100" y="3829507"/>
            <a:ext cx="2857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mean · 9.22 nm</a:t>
            </a:r>
            <a:endParaRPr lang="en-US" sz="975" dirty="0"/>
          </a:p>
        </p:txBody>
      </p:sp>
      <p:sp>
        <p:nvSpPr>
          <p:cNvPr id="105" name="Text 97"/>
          <p:cNvSpPr txBox="1"/>
          <p:nvPr/>
        </p:nvSpPr>
        <p:spPr>
          <a:xfrm>
            <a:off x="800100" y="4000500"/>
            <a:ext cx="2857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 % · 0.84</a:t>
            </a:r>
            <a:endParaRPr lang="en-US" sz="975" dirty="0"/>
          </a:p>
        </p:txBody>
      </p:sp>
      <p:sp>
        <p:nvSpPr>
          <p:cNvPr id="106" name="Text 98"/>
          <p:cNvSpPr txBox="1"/>
          <p:nvPr/>
        </p:nvSpPr>
        <p:spPr>
          <a:xfrm>
            <a:off x="800100" y="43241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9.20</a:t>
            </a:r>
            <a:endParaRPr lang="en-US" sz="1200" dirty="0"/>
          </a:p>
        </p:txBody>
      </p:sp>
      <p:sp>
        <p:nvSpPr>
          <p:cNvPr id="107" name="Text 99"/>
          <p:cNvSpPr txBox="1"/>
          <p:nvPr/>
        </p:nvSpPr>
        <p:spPr>
          <a:xfrm>
            <a:off x="1314907" y="43241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9.18</a:t>
            </a:r>
            <a:endParaRPr lang="en-US" sz="1200" dirty="0"/>
          </a:p>
        </p:txBody>
      </p:sp>
      <p:sp>
        <p:nvSpPr>
          <p:cNvPr id="108" name="Text 100"/>
          <p:cNvSpPr txBox="1"/>
          <p:nvPr/>
        </p:nvSpPr>
        <p:spPr>
          <a:xfrm>
            <a:off x="1828800" y="43241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9.22</a:t>
            </a:r>
            <a:endParaRPr lang="en-US" sz="1200" dirty="0"/>
          </a:p>
        </p:txBody>
      </p:sp>
      <p:sp>
        <p:nvSpPr>
          <p:cNvPr id="109" name="Text 101"/>
          <p:cNvSpPr txBox="1"/>
          <p:nvPr/>
        </p:nvSpPr>
        <p:spPr>
          <a:xfrm>
            <a:off x="2343607" y="43241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9.25</a:t>
            </a:r>
            <a:endParaRPr lang="en-US" sz="1200" dirty="0"/>
          </a:p>
        </p:txBody>
      </p:sp>
      <p:sp>
        <p:nvSpPr>
          <p:cNvPr id="110" name="Text 102"/>
          <p:cNvSpPr txBox="1"/>
          <p:nvPr/>
        </p:nvSpPr>
        <p:spPr>
          <a:xfrm>
            <a:off x="2857500" y="43241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9.21</a:t>
            </a:r>
            <a:endParaRPr lang="en-US" sz="1200" dirty="0"/>
          </a:p>
        </p:txBody>
      </p:sp>
      <p:sp>
        <p:nvSpPr>
          <p:cNvPr id="111" name="Text 103"/>
          <p:cNvSpPr txBox="1"/>
          <p:nvPr/>
        </p:nvSpPr>
        <p:spPr>
          <a:xfrm>
            <a:off x="800100" y="4839005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9.18</a:t>
            </a:r>
            <a:endParaRPr lang="en-US" sz="1200" dirty="0"/>
          </a:p>
        </p:txBody>
      </p:sp>
      <p:sp>
        <p:nvSpPr>
          <p:cNvPr id="112" name="Text 104"/>
          <p:cNvSpPr txBox="1"/>
          <p:nvPr/>
        </p:nvSpPr>
        <p:spPr>
          <a:xfrm>
            <a:off x="1314907" y="4839005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9.24</a:t>
            </a:r>
            <a:endParaRPr lang="en-US" sz="1200" dirty="0"/>
          </a:p>
        </p:txBody>
      </p:sp>
      <p:sp>
        <p:nvSpPr>
          <p:cNvPr id="113" name="Text 105"/>
          <p:cNvSpPr txBox="1"/>
          <p:nvPr/>
        </p:nvSpPr>
        <p:spPr>
          <a:xfrm>
            <a:off x="1828800" y="4839005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9.21</a:t>
            </a:r>
            <a:endParaRPr lang="en-US" sz="1200" dirty="0"/>
          </a:p>
        </p:txBody>
      </p:sp>
      <p:sp>
        <p:nvSpPr>
          <p:cNvPr id="114" name="Text 106"/>
          <p:cNvSpPr txBox="1"/>
          <p:nvPr/>
        </p:nvSpPr>
        <p:spPr>
          <a:xfrm>
            <a:off x="2343607" y="4839005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9.20</a:t>
            </a:r>
            <a:endParaRPr lang="en-US" sz="1200" dirty="0"/>
          </a:p>
        </p:txBody>
      </p:sp>
      <p:sp>
        <p:nvSpPr>
          <p:cNvPr id="115" name="Text 107"/>
          <p:cNvSpPr txBox="1"/>
          <p:nvPr/>
        </p:nvSpPr>
        <p:spPr>
          <a:xfrm>
            <a:off x="2857500" y="4839005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9.23</a:t>
            </a:r>
            <a:endParaRPr lang="en-US" sz="1200" dirty="0"/>
          </a:p>
        </p:txBody>
      </p:sp>
      <p:sp>
        <p:nvSpPr>
          <p:cNvPr id="116" name="Text 108"/>
          <p:cNvSpPr txBox="1"/>
          <p:nvPr/>
        </p:nvSpPr>
        <p:spPr>
          <a:xfrm>
            <a:off x="800100" y="53528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9.22</a:t>
            </a:r>
            <a:endParaRPr lang="en-US" sz="1200" dirty="0"/>
          </a:p>
        </p:txBody>
      </p:sp>
      <p:sp>
        <p:nvSpPr>
          <p:cNvPr id="117" name="Text 109"/>
          <p:cNvSpPr txBox="1"/>
          <p:nvPr/>
        </p:nvSpPr>
        <p:spPr>
          <a:xfrm>
            <a:off x="1314907" y="53528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9.19</a:t>
            </a:r>
            <a:endParaRPr lang="en-US" sz="1200" dirty="0"/>
          </a:p>
        </p:txBody>
      </p:sp>
      <p:sp>
        <p:nvSpPr>
          <p:cNvPr id="118" name="Text 110"/>
          <p:cNvSpPr txBox="1"/>
          <p:nvPr/>
        </p:nvSpPr>
        <p:spPr>
          <a:xfrm>
            <a:off x="1828800" y="53528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9.20</a:t>
            </a:r>
            <a:endParaRPr lang="en-US" sz="1200" dirty="0"/>
          </a:p>
        </p:txBody>
      </p:sp>
      <p:sp>
        <p:nvSpPr>
          <p:cNvPr id="119" name="Text 111"/>
          <p:cNvSpPr txBox="1"/>
          <p:nvPr/>
        </p:nvSpPr>
        <p:spPr>
          <a:xfrm>
            <a:off x="2343607" y="53528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9.22</a:t>
            </a:r>
            <a:endParaRPr lang="en-US" sz="1200" dirty="0"/>
          </a:p>
        </p:txBody>
      </p:sp>
      <p:sp>
        <p:nvSpPr>
          <p:cNvPr id="120" name="Text 112"/>
          <p:cNvSpPr txBox="1"/>
          <p:nvPr/>
        </p:nvSpPr>
        <p:spPr>
          <a:xfrm>
            <a:off x="2857500" y="53528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9.24</a:t>
            </a:r>
            <a:endParaRPr lang="en-US" sz="1200" dirty="0"/>
          </a:p>
        </p:txBody>
      </p:sp>
      <p:sp>
        <p:nvSpPr>
          <p:cNvPr id="121" name="Text 113"/>
          <p:cNvSpPr txBox="1"/>
          <p:nvPr/>
        </p:nvSpPr>
        <p:spPr>
          <a:xfrm>
            <a:off x="800100" y="5867705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9.21</a:t>
            </a:r>
            <a:endParaRPr lang="en-US" sz="1200" dirty="0"/>
          </a:p>
        </p:txBody>
      </p:sp>
      <p:sp>
        <p:nvSpPr>
          <p:cNvPr id="122" name="Text 114"/>
          <p:cNvSpPr txBox="1"/>
          <p:nvPr/>
        </p:nvSpPr>
        <p:spPr>
          <a:xfrm>
            <a:off x="1314907" y="5867705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9.22</a:t>
            </a:r>
            <a:endParaRPr lang="en-US" sz="1200" dirty="0"/>
          </a:p>
        </p:txBody>
      </p:sp>
      <p:sp>
        <p:nvSpPr>
          <p:cNvPr id="123" name="Text 115"/>
          <p:cNvSpPr txBox="1"/>
          <p:nvPr/>
        </p:nvSpPr>
        <p:spPr>
          <a:xfrm>
            <a:off x="1828800" y="5867705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9.20</a:t>
            </a:r>
            <a:endParaRPr lang="en-US" sz="1200" dirty="0"/>
          </a:p>
        </p:txBody>
      </p:sp>
      <p:sp>
        <p:nvSpPr>
          <p:cNvPr id="124" name="Text 116"/>
          <p:cNvSpPr txBox="1"/>
          <p:nvPr/>
        </p:nvSpPr>
        <p:spPr>
          <a:xfrm>
            <a:off x="2417674" y="6048756"/>
            <a:ext cx="33467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9.23</a:t>
            </a:r>
            <a:endParaRPr lang="en-US" sz="975" dirty="0"/>
          </a:p>
        </p:txBody>
      </p:sp>
      <p:sp>
        <p:nvSpPr>
          <p:cNvPr id="125" name="Text 117"/>
          <p:cNvSpPr txBox="1"/>
          <p:nvPr/>
        </p:nvSpPr>
        <p:spPr>
          <a:xfrm>
            <a:off x="2857500" y="5867705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9.19</a:t>
            </a:r>
            <a:endParaRPr lang="en-US" sz="1200" dirty="0"/>
          </a:p>
        </p:txBody>
      </p:sp>
      <p:sp>
        <p:nvSpPr>
          <p:cNvPr id="126" name="Text 118"/>
          <p:cNvSpPr txBox="1"/>
          <p:nvPr/>
        </p:nvSpPr>
        <p:spPr>
          <a:xfrm>
            <a:off x="800100" y="63815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9.24</a:t>
            </a:r>
            <a:endParaRPr lang="en-US" sz="1200" dirty="0"/>
          </a:p>
        </p:txBody>
      </p:sp>
      <p:sp>
        <p:nvSpPr>
          <p:cNvPr id="127" name="Text 119"/>
          <p:cNvSpPr txBox="1"/>
          <p:nvPr/>
        </p:nvSpPr>
        <p:spPr>
          <a:xfrm>
            <a:off x="1314907" y="63815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9.21</a:t>
            </a:r>
            <a:endParaRPr lang="en-US" sz="1200" dirty="0"/>
          </a:p>
        </p:txBody>
      </p:sp>
      <p:sp>
        <p:nvSpPr>
          <p:cNvPr id="128" name="Text 120"/>
          <p:cNvSpPr txBox="1"/>
          <p:nvPr/>
        </p:nvSpPr>
        <p:spPr>
          <a:xfrm>
            <a:off x="1828800" y="63815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9.23</a:t>
            </a:r>
            <a:endParaRPr lang="en-US" sz="1200" dirty="0"/>
          </a:p>
        </p:txBody>
      </p:sp>
      <p:sp>
        <p:nvSpPr>
          <p:cNvPr id="129" name="Text 121"/>
          <p:cNvSpPr txBox="1"/>
          <p:nvPr/>
        </p:nvSpPr>
        <p:spPr>
          <a:xfrm>
            <a:off x="2343607" y="63815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9.19</a:t>
            </a:r>
            <a:endParaRPr lang="en-US" sz="1200" dirty="0"/>
          </a:p>
        </p:txBody>
      </p:sp>
      <p:sp>
        <p:nvSpPr>
          <p:cNvPr id="130" name="Text 122"/>
          <p:cNvSpPr txBox="1"/>
          <p:nvPr/>
        </p:nvSpPr>
        <p:spPr>
          <a:xfrm>
            <a:off x="2857500" y="63815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9.22</a:t>
            </a:r>
            <a:endParaRPr lang="en-US" sz="1200" dirty="0"/>
          </a:p>
        </p:txBody>
      </p:sp>
      <p:sp>
        <p:nvSpPr>
          <p:cNvPr id="131" name="Text 123"/>
          <p:cNvSpPr txBox="1"/>
          <p:nvPr/>
        </p:nvSpPr>
        <p:spPr>
          <a:xfrm>
            <a:off x="800100" y="7048195"/>
            <a:ext cx="2857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 9.18 · max 9.25</a:t>
            </a:r>
            <a:endParaRPr lang="en-US" sz="975" dirty="0"/>
          </a:p>
        </p:txBody>
      </p:sp>
      <p:sp>
        <p:nvSpPr>
          <p:cNvPr id="132" name="Text 124"/>
          <p:cNvSpPr txBox="1"/>
          <p:nvPr/>
        </p:nvSpPr>
        <p:spPr>
          <a:xfrm>
            <a:off x="800100" y="7200900"/>
            <a:ext cx="2857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range 0.07 · NU 0.76 %</a:t>
            </a:r>
            <a:endParaRPr lang="en-US" sz="975" dirty="0"/>
          </a:p>
        </p:txBody>
      </p:sp>
      <p:sp>
        <p:nvSpPr>
          <p:cNvPr id="133" name="Text 125"/>
          <p:cNvSpPr txBox="1"/>
          <p:nvPr/>
        </p:nvSpPr>
        <p:spPr>
          <a:xfrm>
            <a:off x="4324198" y="3010205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</a:t>
            </a:r>
            <a:endParaRPr lang="en-US" sz="1050" dirty="0"/>
          </a:p>
        </p:txBody>
      </p:sp>
      <p:sp>
        <p:nvSpPr>
          <p:cNvPr id="134" name="Text 126"/>
          <p:cNvSpPr txBox="1"/>
          <p:nvPr/>
        </p:nvSpPr>
        <p:spPr>
          <a:xfrm>
            <a:off x="4324198" y="3200400"/>
            <a:ext cx="2857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W02</a:t>
            </a:r>
            <a:endParaRPr lang="en-US" sz="2400" dirty="0"/>
          </a:p>
        </p:txBody>
      </p:sp>
      <p:sp>
        <p:nvSpPr>
          <p:cNvPr id="135" name="Text 127"/>
          <p:cNvSpPr txBox="1"/>
          <p:nvPr/>
        </p:nvSpPr>
        <p:spPr>
          <a:xfrm>
            <a:off x="4324198" y="3581705"/>
            <a:ext cx="2857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· ALD TaN/Ru</a:t>
            </a:r>
            <a:endParaRPr lang="en-US" sz="1200" dirty="0"/>
          </a:p>
        </p:txBody>
      </p:sp>
      <p:sp>
        <p:nvSpPr>
          <p:cNvPr id="136" name="Text 128"/>
          <p:cNvSpPr txBox="1"/>
          <p:nvPr/>
        </p:nvSpPr>
        <p:spPr>
          <a:xfrm>
            <a:off x="4324198" y="3829507"/>
            <a:ext cx="2857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mean · 9.31 nm</a:t>
            </a:r>
            <a:endParaRPr lang="en-US" sz="975" dirty="0"/>
          </a:p>
        </p:txBody>
      </p:sp>
      <p:sp>
        <p:nvSpPr>
          <p:cNvPr id="137" name="Text 129"/>
          <p:cNvSpPr txBox="1"/>
          <p:nvPr/>
        </p:nvSpPr>
        <p:spPr>
          <a:xfrm>
            <a:off x="4324198" y="4000500"/>
            <a:ext cx="2857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 % · 0.62</a:t>
            </a:r>
            <a:endParaRPr lang="en-US" sz="975" dirty="0"/>
          </a:p>
        </p:txBody>
      </p:sp>
      <p:sp>
        <p:nvSpPr>
          <p:cNvPr id="138" name="Text 130"/>
          <p:cNvSpPr txBox="1"/>
          <p:nvPr/>
        </p:nvSpPr>
        <p:spPr>
          <a:xfrm>
            <a:off x="4324198" y="43241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9.34</a:t>
            </a:r>
            <a:endParaRPr lang="en-US" sz="1200" dirty="0"/>
          </a:p>
        </p:txBody>
      </p:sp>
      <p:sp>
        <p:nvSpPr>
          <p:cNvPr id="139" name="Text 131"/>
          <p:cNvSpPr txBox="1"/>
          <p:nvPr/>
        </p:nvSpPr>
        <p:spPr>
          <a:xfrm>
            <a:off x="4839005" y="43241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9.29</a:t>
            </a:r>
            <a:endParaRPr lang="en-US" sz="1200" dirty="0"/>
          </a:p>
        </p:txBody>
      </p:sp>
      <p:sp>
        <p:nvSpPr>
          <p:cNvPr id="140" name="Text 132"/>
          <p:cNvSpPr txBox="1"/>
          <p:nvPr/>
        </p:nvSpPr>
        <p:spPr>
          <a:xfrm>
            <a:off x="5352898" y="43241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9.32</a:t>
            </a:r>
            <a:endParaRPr lang="en-US" sz="1200" dirty="0"/>
          </a:p>
        </p:txBody>
      </p:sp>
      <p:sp>
        <p:nvSpPr>
          <p:cNvPr id="141" name="Text 133"/>
          <p:cNvSpPr txBox="1"/>
          <p:nvPr/>
        </p:nvSpPr>
        <p:spPr>
          <a:xfrm>
            <a:off x="5867705" y="43241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9.30</a:t>
            </a:r>
            <a:endParaRPr lang="en-US" sz="1200" dirty="0"/>
          </a:p>
        </p:txBody>
      </p:sp>
      <p:sp>
        <p:nvSpPr>
          <p:cNvPr id="142" name="Text 134"/>
          <p:cNvSpPr txBox="1"/>
          <p:nvPr/>
        </p:nvSpPr>
        <p:spPr>
          <a:xfrm>
            <a:off x="6381598" y="43241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9.28</a:t>
            </a:r>
            <a:endParaRPr lang="en-US" sz="1200" dirty="0"/>
          </a:p>
        </p:txBody>
      </p:sp>
      <p:sp>
        <p:nvSpPr>
          <p:cNvPr id="143" name="Text 135"/>
          <p:cNvSpPr txBox="1"/>
          <p:nvPr/>
        </p:nvSpPr>
        <p:spPr>
          <a:xfrm>
            <a:off x="4324198" y="4839005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9.30</a:t>
            </a:r>
            <a:endParaRPr lang="en-US" sz="1200" dirty="0"/>
          </a:p>
        </p:txBody>
      </p:sp>
      <p:sp>
        <p:nvSpPr>
          <p:cNvPr id="144" name="Text 136"/>
          <p:cNvSpPr txBox="1"/>
          <p:nvPr/>
        </p:nvSpPr>
        <p:spPr>
          <a:xfrm>
            <a:off x="4839005" y="4839005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9.32</a:t>
            </a:r>
            <a:endParaRPr lang="en-US" sz="1200" dirty="0"/>
          </a:p>
        </p:txBody>
      </p:sp>
      <p:sp>
        <p:nvSpPr>
          <p:cNvPr id="145" name="Text 137"/>
          <p:cNvSpPr txBox="1"/>
          <p:nvPr/>
        </p:nvSpPr>
        <p:spPr>
          <a:xfrm>
            <a:off x="5352898" y="4839005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9.34</a:t>
            </a:r>
            <a:endParaRPr lang="en-US" sz="1200" dirty="0"/>
          </a:p>
        </p:txBody>
      </p:sp>
      <p:sp>
        <p:nvSpPr>
          <p:cNvPr id="146" name="Text 138"/>
          <p:cNvSpPr txBox="1"/>
          <p:nvPr/>
        </p:nvSpPr>
        <p:spPr>
          <a:xfrm>
            <a:off x="5867705" y="4839005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9.31</a:t>
            </a:r>
            <a:endParaRPr lang="en-US" sz="1200" dirty="0"/>
          </a:p>
        </p:txBody>
      </p:sp>
      <p:sp>
        <p:nvSpPr>
          <p:cNvPr id="147" name="Text 139"/>
          <p:cNvSpPr txBox="1"/>
          <p:nvPr/>
        </p:nvSpPr>
        <p:spPr>
          <a:xfrm>
            <a:off x="6381598" y="4839005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9.29</a:t>
            </a:r>
            <a:endParaRPr lang="en-US" sz="1200" dirty="0"/>
          </a:p>
        </p:txBody>
      </p:sp>
      <p:sp>
        <p:nvSpPr>
          <p:cNvPr id="148" name="Text 140"/>
          <p:cNvSpPr txBox="1"/>
          <p:nvPr/>
        </p:nvSpPr>
        <p:spPr>
          <a:xfrm>
            <a:off x="4324198" y="53528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9.28</a:t>
            </a:r>
            <a:endParaRPr lang="en-US" sz="1200" dirty="0"/>
          </a:p>
        </p:txBody>
      </p:sp>
      <p:sp>
        <p:nvSpPr>
          <p:cNvPr id="149" name="Text 141"/>
          <p:cNvSpPr txBox="1"/>
          <p:nvPr/>
        </p:nvSpPr>
        <p:spPr>
          <a:xfrm>
            <a:off x="4839005" y="53528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9.31</a:t>
            </a:r>
            <a:endParaRPr lang="en-US" sz="1200" dirty="0"/>
          </a:p>
        </p:txBody>
      </p:sp>
      <p:sp>
        <p:nvSpPr>
          <p:cNvPr id="150" name="Text 142"/>
          <p:cNvSpPr txBox="1"/>
          <p:nvPr/>
        </p:nvSpPr>
        <p:spPr>
          <a:xfrm>
            <a:off x="5352898" y="53528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9.33</a:t>
            </a:r>
            <a:endParaRPr lang="en-US" sz="1200" dirty="0"/>
          </a:p>
        </p:txBody>
      </p:sp>
      <p:sp>
        <p:nvSpPr>
          <p:cNvPr id="151" name="Text 143"/>
          <p:cNvSpPr txBox="1"/>
          <p:nvPr/>
        </p:nvSpPr>
        <p:spPr>
          <a:xfrm>
            <a:off x="5867705" y="53528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9.30</a:t>
            </a:r>
            <a:endParaRPr lang="en-US" sz="1200" dirty="0"/>
          </a:p>
        </p:txBody>
      </p:sp>
      <p:sp>
        <p:nvSpPr>
          <p:cNvPr id="152" name="Text 144"/>
          <p:cNvSpPr txBox="1"/>
          <p:nvPr/>
        </p:nvSpPr>
        <p:spPr>
          <a:xfrm>
            <a:off x="6381598" y="53528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9.32</a:t>
            </a:r>
            <a:endParaRPr lang="en-US" sz="1200" dirty="0"/>
          </a:p>
        </p:txBody>
      </p:sp>
      <p:sp>
        <p:nvSpPr>
          <p:cNvPr id="153" name="Text 145"/>
          <p:cNvSpPr txBox="1"/>
          <p:nvPr/>
        </p:nvSpPr>
        <p:spPr>
          <a:xfrm>
            <a:off x="4324198" y="5867705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9.31</a:t>
            </a:r>
            <a:endParaRPr lang="en-US" sz="1200" dirty="0"/>
          </a:p>
        </p:txBody>
      </p:sp>
      <p:sp>
        <p:nvSpPr>
          <p:cNvPr id="154" name="Text 146"/>
          <p:cNvSpPr txBox="1"/>
          <p:nvPr/>
        </p:nvSpPr>
        <p:spPr>
          <a:xfrm>
            <a:off x="4839005" y="5867705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9.33</a:t>
            </a:r>
            <a:endParaRPr lang="en-US" sz="1200" dirty="0"/>
          </a:p>
        </p:txBody>
      </p:sp>
      <p:sp>
        <p:nvSpPr>
          <p:cNvPr id="155" name="Text 147"/>
          <p:cNvSpPr txBox="1"/>
          <p:nvPr/>
        </p:nvSpPr>
        <p:spPr>
          <a:xfrm>
            <a:off x="5352898" y="5867705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9.30</a:t>
            </a:r>
            <a:endParaRPr lang="en-US" sz="1200" dirty="0"/>
          </a:p>
        </p:txBody>
      </p:sp>
      <p:sp>
        <p:nvSpPr>
          <p:cNvPr id="156" name="Text 148"/>
          <p:cNvSpPr txBox="1"/>
          <p:nvPr/>
        </p:nvSpPr>
        <p:spPr>
          <a:xfrm>
            <a:off x="5867705" y="5867705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9.32</a:t>
            </a:r>
            <a:endParaRPr lang="en-US" sz="1200" dirty="0"/>
          </a:p>
        </p:txBody>
      </p:sp>
      <p:sp>
        <p:nvSpPr>
          <p:cNvPr id="157" name="Text 149"/>
          <p:cNvSpPr txBox="1"/>
          <p:nvPr/>
        </p:nvSpPr>
        <p:spPr>
          <a:xfrm>
            <a:off x="6381598" y="5867705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9.29</a:t>
            </a:r>
            <a:endParaRPr lang="en-US" sz="1200" dirty="0"/>
          </a:p>
        </p:txBody>
      </p:sp>
      <p:sp>
        <p:nvSpPr>
          <p:cNvPr id="158" name="Text 150"/>
          <p:cNvSpPr txBox="1"/>
          <p:nvPr/>
        </p:nvSpPr>
        <p:spPr>
          <a:xfrm>
            <a:off x="4324198" y="63815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9.29</a:t>
            </a:r>
            <a:endParaRPr lang="en-US" sz="1200" dirty="0"/>
          </a:p>
        </p:txBody>
      </p:sp>
      <p:sp>
        <p:nvSpPr>
          <p:cNvPr id="159" name="Text 151"/>
          <p:cNvSpPr txBox="1"/>
          <p:nvPr/>
        </p:nvSpPr>
        <p:spPr>
          <a:xfrm>
            <a:off x="4839005" y="63815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9.32</a:t>
            </a:r>
            <a:endParaRPr lang="en-US" sz="1200" dirty="0"/>
          </a:p>
        </p:txBody>
      </p:sp>
      <p:sp>
        <p:nvSpPr>
          <p:cNvPr id="160" name="Text 152"/>
          <p:cNvSpPr txBox="1"/>
          <p:nvPr/>
        </p:nvSpPr>
        <p:spPr>
          <a:xfrm>
            <a:off x="5352898" y="63815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9.31</a:t>
            </a:r>
            <a:endParaRPr lang="en-US" sz="1200" dirty="0"/>
          </a:p>
        </p:txBody>
      </p:sp>
      <p:sp>
        <p:nvSpPr>
          <p:cNvPr id="161" name="Text 153"/>
          <p:cNvSpPr txBox="1"/>
          <p:nvPr/>
        </p:nvSpPr>
        <p:spPr>
          <a:xfrm>
            <a:off x="5867705" y="63815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9.33</a:t>
            </a:r>
            <a:endParaRPr lang="en-US" sz="1200" dirty="0"/>
          </a:p>
        </p:txBody>
      </p:sp>
      <p:sp>
        <p:nvSpPr>
          <p:cNvPr id="162" name="Text 154"/>
          <p:cNvSpPr txBox="1"/>
          <p:nvPr/>
        </p:nvSpPr>
        <p:spPr>
          <a:xfrm>
            <a:off x="6381598" y="63815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9.30</a:t>
            </a:r>
            <a:endParaRPr lang="en-US" sz="1200" dirty="0"/>
          </a:p>
        </p:txBody>
      </p:sp>
      <p:sp>
        <p:nvSpPr>
          <p:cNvPr id="163" name="Text 155"/>
          <p:cNvSpPr txBox="1"/>
          <p:nvPr/>
        </p:nvSpPr>
        <p:spPr>
          <a:xfrm>
            <a:off x="4324198" y="7048195"/>
            <a:ext cx="2857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 9.28 · max 9.34</a:t>
            </a:r>
            <a:endParaRPr lang="en-US" sz="975" dirty="0"/>
          </a:p>
        </p:txBody>
      </p:sp>
      <p:sp>
        <p:nvSpPr>
          <p:cNvPr id="164" name="Text 156"/>
          <p:cNvSpPr txBox="1"/>
          <p:nvPr/>
        </p:nvSpPr>
        <p:spPr>
          <a:xfrm>
            <a:off x="4324198" y="7200900"/>
            <a:ext cx="2857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range 0.06 · NU 0.65 %</a:t>
            </a:r>
            <a:endParaRPr lang="en-US" sz="975" dirty="0"/>
          </a:p>
        </p:txBody>
      </p:sp>
      <p:sp>
        <p:nvSpPr>
          <p:cNvPr id="165" name="Text 157"/>
          <p:cNvSpPr txBox="1"/>
          <p:nvPr/>
        </p:nvSpPr>
        <p:spPr>
          <a:xfrm>
            <a:off x="7848295" y="3010205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</a:t>
            </a:r>
            <a:endParaRPr lang="en-US" sz="1050" dirty="0"/>
          </a:p>
        </p:txBody>
      </p:sp>
      <p:sp>
        <p:nvSpPr>
          <p:cNvPr id="166" name="Text 158"/>
          <p:cNvSpPr txBox="1"/>
          <p:nvPr/>
        </p:nvSpPr>
        <p:spPr>
          <a:xfrm>
            <a:off x="7848295" y="3200400"/>
            <a:ext cx="2857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W03</a:t>
            </a:r>
            <a:endParaRPr lang="en-US" sz="2400" dirty="0"/>
          </a:p>
        </p:txBody>
      </p:sp>
      <p:sp>
        <p:nvSpPr>
          <p:cNvPr id="167" name="Text 159"/>
          <p:cNvSpPr txBox="1"/>
          <p:nvPr/>
        </p:nvSpPr>
        <p:spPr>
          <a:xfrm>
            <a:off x="7848295" y="3581705"/>
            <a:ext cx="2857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· PVD Ta/TaN</a:t>
            </a:r>
            <a:endParaRPr lang="en-US" sz="1200" dirty="0"/>
          </a:p>
        </p:txBody>
      </p:sp>
      <p:sp>
        <p:nvSpPr>
          <p:cNvPr id="168" name="Text 160"/>
          <p:cNvSpPr txBox="1"/>
          <p:nvPr/>
        </p:nvSpPr>
        <p:spPr>
          <a:xfrm>
            <a:off x="7848295" y="3829507"/>
            <a:ext cx="2857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mean · 9.46 nm</a:t>
            </a:r>
            <a:endParaRPr lang="en-US" sz="975" dirty="0"/>
          </a:p>
        </p:txBody>
      </p:sp>
      <p:sp>
        <p:nvSpPr>
          <p:cNvPr id="169" name="Text 161"/>
          <p:cNvSpPr txBox="1"/>
          <p:nvPr/>
        </p:nvSpPr>
        <p:spPr>
          <a:xfrm>
            <a:off x="7848295" y="4000500"/>
            <a:ext cx="2857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 % · 1.78</a:t>
            </a:r>
            <a:endParaRPr lang="en-US" sz="975" dirty="0"/>
          </a:p>
        </p:txBody>
      </p:sp>
      <p:sp>
        <p:nvSpPr>
          <p:cNvPr id="170" name="Text 162"/>
          <p:cNvSpPr txBox="1"/>
          <p:nvPr/>
        </p:nvSpPr>
        <p:spPr>
          <a:xfrm>
            <a:off x="7848295" y="43241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9.50</a:t>
            </a:r>
            <a:endParaRPr lang="en-US" sz="1200" dirty="0"/>
          </a:p>
        </p:txBody>
      </p:sp>
      <p:sp>
        <p:nvSpPr>
          <p:cNvPr id="171" name="Text 163"/>
          <p:cNvSpPr txBox="1"/>
          <p:nvPr/>
        </p:nvSpPr>
        <p:spPr>
          <a:xfrm>
            <a:off x="8363102" y="43241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9.42</a:t>
            </a:r>
            <a:endParaRPr lang="en-US" sz="1200" dirty="0"/>
          </a:p>
        </p:txBody>
      </p:sp>
      <p:sp>
        <p:nvSpPr>
          <p:cNvPr id="172" name="Text 164"/>
          <p:cNvSpPr txBox="1"/>
          <p:nvPr/>
        </p:nvSpPr>
        <p:spPr>
          <a:xfrm>
            <a:off x="8876995" y="43241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9.46</a:t>
            </a:r>
            <a:endParaRPr lang="en-US" sz="1200" dirty="0"/>
          </a:p>
        </p:txBody>
      </p:sp>
      <p:sp>
        <p:nvSpPr>
          <p:cNvPr id="173" name="Text 165"/>
          <p:cNvSpPr txBox="1"/>
          <p:nvPr/>
        </p:nvSpPr>
        <p:spPr>
          <a:xfrm>
            <a:off x="9391802" y="43241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9.39</a:t>
            </a:r>
            <a:endParaRPr lang="en-US" sz="1200" dirty="0"/>
          </a:p>
        </p:txBody>
      </p:sp>
      <p:sp>
        <p:nvSpPr>
          <p:cNvPr id="174" name="Text 166"/>
          <p:cNvSpPr txBox="1"/>
          <p:nvPr/>
        </p:nvSpPr>
        <p:spPr>
          <a:xfrm>
            <a:off x="9905695" y="43241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9.55</a:t>
            </a:r>
            <a:endParaRPr lang="en-US" sz="1200" dirty="0"/>
          </a:p>
        </p:txBody>
      </p:sp>
      <p:sp>
        <p:nvSpPr>
          <p:cNvPr id="175" name="Text 167"/>
          <p:cNvSpPr txBox="1"/>
          <p:nvPr/>
        </p:nvSpPr>
        <p:spPr>
          <a:xfrm>
            <a:off x="7848295" y="4839005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9.41</a:t>
            </a:r>
            <a:endParaRPr lang="en-US" sz="1200" dirty="0"/>
          </a:p>
        </p:txBody>
      </p:sp>
      <p:sp>
        <p:nvSpPr>
          <p:cNvPr id="176" name="Text 168"/>
          <p:cNvSpPr txBox="1"/>
          <p:nvPr/>
        </p:nvSpPr>
        <p:spPr>
          <a:xfrm>
            <a:off x="8363102" y="4839005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9.48</a:t>
            </a:r>
            <a:endParaRPr lang="en-US" sz="1200" dirty="0"/>
          </a:p>
        </p:txBody>
      </p:sp>
      <p:sp>
        <p:nvSpPr>
          <p:cNvPr id="177" name="Text 169"/>
          <p:cNvSpPr txBox="1"/>
          <p:nvPr/>
        </p:nvSpPr>
        <p:spPr>
          <a:xfrm>
            <a:off x="8876995" y="4839005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9.44</a:t>
            </a:r>
            <a:endParaRPr lang="en-US" sz="1200" dirty="0"/>
          </a:p>
        </p:txBody>
      </p:sp>
      <p:sp>
        <p:nvSpPr>
          <p:cNvPr id="178" name="Text 170"/>
          <p:cNvSpPr txBox="1"/>
          <p:nvPr/>
        </p:nvSpPr>
        <p:spPr>
          <a:xfrm>
            <a:off x="9391802" y="4839005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9.51</a:t>
            </a:r>
            <a:endParaRPr lang="en-US" sz="1200" dirty="0"/>
          </a:p>
        </p:txBody>
      </p:sp>
      <p:sp>
        <p:nvSpPr>
          <p:cNvPr id="179" name="Text 171"/>
          <p:cNvSpPr txBox="1"/>
          <p:nvPr/>
        </p:nvSpPr>
        <p:spPr>
          <a:xfrm>
            <a:off x="9905695" y="4839005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9.39</a:t>
            </a:r>
            <a:endParaRPr lang="en-US" sz="1200" dirty="0"/>
          </a:p>
        </p:txBody>
      </p:sp>
      <p:sp>
        <p:nvSpPr>
          <p:cNvPr id="180" name="Text 172"/>
          <p:cNvSpPr txBox="1"/>
          <p:nvPr/>
        </p:nvSpPr>
        <p:spPr>
          <a:xfrm>
            <a:off x="7848295" y="53528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9.43</a:t>
            </a:r>
            <a:endParaRPr lang="en-US" sz="1200" dirty="0"/>
          </a:p>
        </p:txBody>
      </p:sp>
      <p:sp>
        <p:nvSpPr>
          <p:cNvPr id="181" name="Text 173"/>
          <p:cNvSpPr txBox="1"/>
          <p:nvPr/>
        </p:nvSpPr>
        <p:spPr>
          <a:xfrm>
            <a:off x="8363102" y="53528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9.50</a:t>
            </a:r>
            <a:endParaRPr lang="en-US" sz="1200" dirty="0"/>
          </a:p>
        </p:txBody>
      </p:sp>
      <p:sp>
        <p:nvSpPr>
          <p:cNvPr id="182" name="Text 174"/>
          <p:cNvSpPr txBox="1"/>
          <p:nvPr/>
        </p:nvSpPr>
        <p:spPr>
          <a:xfrm>
            <a:off x="8876995" y="53528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9.45</a:t>
            </a:r>
            <a:endParaRPr lang="en-US" sz="1200" dirty="0"/>
          </a:p>
        </p:txBody>
      </p:sp>
      <p:sp>
        <p:nvSpPr>
          <p:cNvPr id="183" name="Text 175"/>
          <p:cNvSpPr txBox="1"/>
          <p:nvPr/>
        </p:nvSpPr>
        <p:spPr>
          <a:xfrm>
            <a:off x="9391802" y="53528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9.46</a:t>
            </a:r>
            <a:endParaRPr lang="en-US" sz="1200" dirty="0"/>
          </a:p>
        </p:txBody>
      </p:sp>
      <p:sp>
        <p:nvSpPr>
          <p:cNvPr id="184" name="Text 176"/>
          <p:cNvSpPr txBox="1"/>
          <p:nvPr/>
        </p:nvSpPr>
        <p:spPr>
          <a:xfrm>
            <a:off x="9905695" y="53528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9.42</a:t>
            </a:r>
            <a:endParaRPr lang="en-US" sz="1200" dirty="0"/>
          </a:p>
        </p:txBody>
      </p:sp>
      <p:sp>
        <p:nvSpPr>
          <p:cNvPr id="185" name="Text 177"/>
          <p:cNvSpPr txBox="1"/>
          <p:nvPr/>
        </p:nvSpPr>
        <p:spPr>
          <a:xfrm>
            <a:off x="7848295" y="5867705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9.49</a:t>
            </a:r>
            <a:endParaRPr lang="en-US" sz="1200" dirty="0"/>
          </a:p>
        </p:txBody>
      </p:sp>
      <p:sp>
        <p:nvSpPr>
          <p:cNvPr id="186" name="Text 178"/>
          <p:cNvSpPr txBox="1"/>
          <p:nvPr/>
        </p:nvSpPr>
        <p:spPr>
          <a:xfrm>
            <a:off x="8363102" y="5867705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9.43</a:t>
            </a:r>
            <a:endParaRPr lang="en-US" sz="1200" dirty="0"/>
          </a:p>
        </p:txBody>
      </p:sp>
      <p:sp>
        <p:nvSpPr>
          <p:cNvPr id="187" name="Text 179"/>
          <p:cNvSpPr txBox="1"/>
          <p:nvPr/>
        </p:nvSpPr>
        <p:spPr>
          <a:xfrm>
            <a:off x="8876995" y="5867705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9.47</a:t>
            </a:r>
            <a:endParaRPr lang="en-US" sz="1200" dirty="0"/>
          </a:p>
        </p:txBody>
      </p:sp>
      <p:sp>
        <p:nvSpPr>
          <p:cNvPr id="188" name="Text 180"/>
          <p:cNvSpPr txBox="1"/>
          <p:nvPr/>
        </p:nvSpPr>
        <p:spPr>
          <a:xfrm>
            <a:off x="9391802" y="5867705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9.40</a:t>
            </a:r>
            <a:endParaRPr lang="en-US" sz="1200" dirty="0"/>
          </a:p>
        </p:txBody>
      </p:sp>
      <p:sp>
        <p:nvSpPr>
          <p:cNvPr id="189" name="Text 181"/>
          <p:cNvSpPr txBox="1"/>
          <p:nvPr/>
        </p:nvSpPr>
        <p:spPr>
          <a:xfrm>
            <a:off x="9905695" y="5867705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9.51</a:t>
            </a:r>
            <a:endParaRPr lang="en-US" sz="1200" dirty="0"/>
          </a:p>
        </p:txBody>
      </p:sp>
      <p:sp>
        <p:nvSpPr>
          <p:cNvPr id="190" name="Text 182"/>
          <p:cNvSpPr txBox="1"/>
          <p:nvPr/>
        </p:nvSpPr>
        <p:spPr>
          <a:xfrm>
            <a:off x="7848295" y="63815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9.45</a:t>
            </a:r>
            <a:endParaRPr lang="en-US" sz="1200" dirty="0"/>
          </a:p>
        </p:txBody>
      </p:sp>
      <p:sp>
        <p:nvSpPr>
          <p:cNvPr id="191" name="Text 183"/>
          <p:cNvSpPr txBox="1"/>
          <p:nvPr/>
        </p:nvSpPr>
        <p:spPr>
          <a:xfrm>
            <a:off x="8363102" y="63815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9.39</a:t>
            </a:r>
            <a:endParaRPr lang="en-US" sz="1200" dirty="0"/>
          </a:p>
        </p:txBody>
      </p:sp>
      <p:sp>
        <p:nvSpPr>
          <p:cNvPr id="192" name="Text 184"/>
          <p:cNvSpPr txBox="1"/>
          <p:nvPr/>
        </p:nvSpPr>
        <p:spPr>
          <a:xfrm>
            <a:off x="8876995" y="63815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9.42</a:t>
            </a:r>
            <a:endParaRPr lang="en-US" sz="1200" dirty="0"/>
          </a:p>
        </p:txBody>
      </p:sp>
      <p:sp>
        <p:nvSpPr>
          <p:cNvPr id="193" name="Text 185"/>
          <p:cNvSpPr txBox="1"/>
          <p:nvPr/>
        </p:nvSpPr>
        <p:spPr>
          <a:xfrm>
            <a:off x="9391802" y="63815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9.48</a:t>
            </a:r>
            <a:endParaRPr lang="en-US" sz="1200" dirty="0"/>
          </a:p>
        </p:txBody>
      </p:sp>
      <p:sp>
        <p:nvSpPr>
          <p:cNvPr id="194" name="Text 186"/>
          <p:cNvSpPr txBox="1"/>
          <p:nvPr/>
        </p:nvSpPr>
        <p:spPr>
          <a:xfrm>
            <a:off x="9905695" y="638159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9.44</a:t>
            </a:r>
            <a:endParaRPr lang="en-US" sz="1200" dirty="0"/>
          </a:p>
        </p:txBody>
      </p:sp>
      <p:sp>
        <p:nvSpPr>
          <p:cNvPr id="195" name="Text 187"/>
          <p:cNvSpPr txBox="1"/>
          <p:nvPr/>
        </p:nvSpPr>
        <p:spPr>
          <a:xfrm>
            <a:off x="7848295" y="7048195"/>
            <a:ext cx="2857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 9.39 · max 9.55</a:t>
            </a:r>
            <a:endParaRPr lang="en-US" sz="975" dirty="0"/>
          </a:p>
        </p:txBody>
      </p:sp>
      <p:sp>
        <p:nvSpPr>
          <p:cNvPr id="196" name="Text 188"/>
          <p:cNvSpPr txBox="1"/>
          <p:nvPr/>
        </p:nvSpPr>
        <p:spPr>
          <a:xfrm>
            <a:off x="7848295" y="7200900"/>
            <a:ext cx="2857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range 0.16 · NU 1.78 %</a:t>
            </a:r>
            <a:endParaRPr lang="en-US" sz="975" dirty="0"/>
          </a:p>
        </p:txBody>
      </p:sp>
      <p:sp>
        <p:nvSpPr>
          <p:cNvPr id="197" name="Text 189"/>
          <p:cNvSpPr txBox="1"/>
          <p:nvPr/>
        </p:nvSpPr>
        <p:spPr>
          <a:xfrm>
            <a:off x="11373307" y="3047695"/>
            <a:ext cx="6096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UNIFORMITY SUMMARY</a:t>
            </a:r>
            <a:endParaRPr lang="en-US" sz="1050" dirty="0"/>
          </a:p>
        </p:txBody>
      </p:sp>
      <p:sp>
        <p:nvSpPr>
          <p:cNvPr id="198" name="Text 190"/>
          <p:cNvSpPr txBox="1"/>
          <p:nvPr/>
        </p:nvSpPr>
        <p:spPr>
          <a:xfrm>
            <a:off x="11373307" y="3276295"/>
            <a:ext cx="6096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metric × 3 wafer NU 표</a:t>
            </a:r>
            <a:endParaRPr lang="en-US" sz="1950" dirty="0"/>
          </a:p>
        </p:txBody>
      </p:sp>
      <p:sp>
        <p:nvSpPr>
          <p:cNvPr id="199" name="Text 191"/>
          <p:cNvSpPr txBox="1"/>
          <p:nvPr/>
        </p:nvSpPr>
        <p:spPr>
          <a:xfrm>
            <a:off x="11563502" y="3847795"/>
            <a:ext cx="1905610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b="1" spc="158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METRIC</a:t>
            </a:r>
            <a:endParaRPr lang="en-US" sz="1125" dirty="0"/>
          </a:p>
        </p:txBody>
      </p:sp>
      <p:sp>
        <p:nvSpPr>
          <p:cNvPr id="200" name="Text 192"/>
          <p:cNvSpPr txBox="1"/>
          <p:nvPr/>
        </p:nvSpPr>
        <p:spPr>
          <a:xfrm>
            <a:off x="13468198" y="3847795"/>
            <a:ext cx="1334110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b="1" spc="113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W01 NU %</a:t>
            </a:r>
            <a:endParaRPr lang="en-US" sz="1125" dirty="0"/>
          </a:p>
        </p:txBody>
      </p:sp>
      <p:sp>
        <p:nvSpPr>
          <p:cNvPr id="201" name="Text 193"/>
          <p:cNvSpPr txBox="1"/>
          <p:nvPr/>
        </p:nvSpPr>
        <p:spPr>
          <a:xfrm>
            <a:off x="14802307" y="3847795"/>
            <a:ext cx="1334110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b="1" spc="113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W02 NU %</a:t>
            </a:r>
            <a:endParaRPr lang="en-US" sz="1125" dirty="0"/>
          </a:p>
        </p:txBody>
      </p:sp>
      <p:sp>
        <p:nvSpPr>
          <p:cNvPr id="202" name="Text 194"/>
          <p:cNvSpPr txBox="1"/>
          <p:nvPr/>
        </p:nvSpPr>
        <p:spPr>
          <a:xfrm>
            <a:off x="16135502" y="3847795"/>
            <a:ext cx="1219810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b="1" spc="113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W03 NU %</a:t>
            </a:r>
            <a:endParaRPr lang="en-US" sz="1125" dirty="0"/>
          </a:p>
        </p:txBody>
      </p:sp>
      <p:sp>
        <p:nvSpPr>
          <p:cNvPr id="203" name="Text 195"/>
          <p:cNvSpPr txBox="1"/>
          <p:nvPr/>
        </p:nvSpPr>
        <p:spPr>
          <a:xfrm>
            <a:off x="11373307" y="4324198"/>
            <a:ext cx="6115507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AASI</a:t>
            </a:r>
            <a:pPr algn="l" indent="0" marL="0">
              <a:buNone/>
            </a:pPr>
            <a:r>
              <a:rPr lang="en-US" sz="150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0.71</a:t>
            </a:r>
            <a:pPr algn="l" indent="0" marL="0">
              <a:buNone/>
            </a:pPr>
            <a:r>
              <a:rPr lang="en-US" sz="150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0.65</a:t>
            </a:r>
            <a:pPr algn="l" indent="0" marL="0">
              <a:buNone/>
            </a:pPr>
            <a:r>
              <a:rPr lang="en-US" sz="1500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1.41</a:t>
            </a:r>
            <a:endParaRPr lang="en-US" sz="1200" dirty="0"/>
          </a:p>
        </p:txBody>
      </p:sp>
      <p:sp>
        <p:nvSpPr>
          <p:cNvPr id="204" name="Text 196"/>
          <p:cNvSpPr txBox="1"/>
          <p:nvPr/>
        </p:nvSpPr>
        <p:spPr>
          <a:xfrm>
            <a:off x="11373307" y="4839005"/>
            <a:ext cx="6115507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ASEI</a:t>
            </a:r>
            <a:pPr algn="l" indent="0" marL="0">
              <a:buNone/>
            </a:pPr>
            <a:r>
              <a:rPr lang="en-US" sz="150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0.68</a:t>
            </a:r>
            <a:pPr algn="l" indent="0" marL="0">
              <a:buNone/>
            </a:pPr>
            <a:r>
              <a:rPr lang="en-US" sz="150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0.74</a:t>
            </a:r>
            <a:pPr algn="l" indent="0" marL="0">
              <a:buNone/>
            </a:pPr>
            <a:r>
              <a:rPr lang="en-US" sz="1500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1.78</a:t>
            </a:r>
            <a:endParaRPr lang="en-US" sz="1200" dirty="0"/>
          </a:p>
        </p:txBody>
      </p:sp>
      <p:sp>
        <p:nvSpPr>
          <p:cNvPr id="205" name="Text 197"/>
          <p:cNvSpPr txBox="1"/>
          <p:nvPr/>
        </p:nvSpPr>
        <p:spPr>
          <a:xfrm>
            <a:off x="11373307" y="5352898"/>
            <a:ext cx="6115507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AMI</a:t>
            </a:r>
            <a:pPr algn="l" indent="0" marL="0">
              <a:buNone/>
            </a:pPr>
            <a:r>
              <a:rPr lang="en-US" sz="150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0.76</a:t>
            </a:r>
            <a:pPr algn="l" indent="0" marL="0">
              <a:buNone/>
            </a:pPr>
            <a:r>
              <a:rPr lang="en-US" sz="150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0.65</a:t>
            </a:r>
            <a:pPr algn="l" indent="0" marL="0">
              <a:buNone/>
            </a:pPr>
            <a:r>
              <a:rPr lang="en-US" sz="1500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1.78</a:t>
            </a:r>
            <a:endParaRPr lang="en-US" sz="1200" dirty="0"/>
          </a:p>
        </p:txBody>
      </p:sp>
      <p:sp>
        <p:nvSpPr>
          <p:cNvPr id="206" name="Text 198"/>
          <p:cNvSpPr txBox="1"/>
          <p:nvPr/>
        </p:nvSpPr>
        <p:spPr>
          <a:xfrm>
            <a:off x="11373307" y="5867705"/>
            <a:ext cx="6115507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ACI</a:t>
            </a:r>
            <a:pPr algn="l" indent="0" marL="0">
              <a:buNone/>
            </a:pPr>
            <a:r>
              <a:rPr lang="en-US" sz="150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0.81</a:t>
            </a:r>
            <a:pPr algn="l" indent="0" marL="0">
              <a:buNone/>
            </a:pPr>
            <a:r>
              <a:rPr lang="en-US" sz="150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0.86</a:t>
            </a:r>
            <a:pPr algn="l" indent="0" marL="0">
              <a:buNone/>
            </a:pPr>
            <a:r>
              <a:rPr lang="en-US" sz="1500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1.61</a:t>
            </a:r>
            <a:endParaRPr lang="en-US" sz="1200" dirty="0"/>
          </a:p>
        </p:txBody>
      </p:sp>
      <p:sp>
        <p:nvSpPr>
          <p:cNvPr id="207" name="Text 199"/>
          <p:cNvSpPr txBox="1"/>
          <p:nvPr/>
        </p:nvSpPr>
        <p:spPr>
          <a:xfrm>
            <a:off x="11563502" y="6687007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LEGEND</a:t>
            </a:r>
            <a:endParaRPr lang="en-US" sz="1050" dirty="0"/>
          </a:p>
        </p:txBody>
      </p:sp>
      <p:sp>
        <p:nvSpPr>
          <p:cNvPr id="208" name="Text 200"/>
          <p:cNvSpPr txBox="1"/>
          <p:nvPr/>
        </p:nvSpPr>
        <p:spPr>
          <a:xfrm>
            <a:off x="11867998" y="6991502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 (≥ 9.50 nm)</a:t>
            </a:r>
            <a:endParaRPr lang="en-US" sz="1200" dirty="0"/>
          </a:p>
        </p:txBody>
      </p:sp>
      <p:sp>
        <p:nvSpPr>
          <p:cNvPr id="209" name="Text 201"/>
          <p:cNvSpPr txBox="1"/>
          <p:nvPr/>
        </p:nvSpPr>
        <p:spPr>
          <a:xfrm>
            <a:off x="11867998" y="7295998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mid</a:t>
            </a:r>
            <a:endParaRPr lang="en-US" sz="1200" dirty="0"/>
          </a:p>
        </p:txBody>
      </p:sp>
      <p:sp>
        <p:nvSpPr>
          <p:cNvPr id="210" name="Text 202"/>
          <p:cNvSpPr txBox="1"/>
          <p:nvPr/>
        </p:nvSpPr>
        <p:spPr>
          <a:xfrm>
            <a:off x="14153998" y="6991502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low (≤ 9.25 nm)</a:t>
            </a:r>
            <a:endParaRPr lang="en-US" sz="1200" dirty="0"/>
          </a:p>
        </p:txBody>
      </p:sp>
      <p:sp>
        <p:nvSpPr>
          <p:cNvPr id="211" name="Text 203"/>
          <p:cNvSpPr txBox="1"/>
          <p:nvPr/>
        </p:nvSpPr>
        <p:spPr>
          <a:xfrm>
            <a:off x="14153998" y="7295998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band</a:t>
            </a:r>
            <a:endParaRPr lang="en-US" sz="1200" dirty="0"/>
          </a:p>
        </p:txBody>
      </p:sp>
      <p:sp>
        <p:nvSpPr>
          <p:cNvPr id="212" name="Text 204"/>
          <p:cNvSpPr txBox="1"/>
          <p:nvPr/>
        </p:nvSpPr>
        <p:spPr>
          <a:xfrm>
            <a:off x="11563502" y="7677302"/>
            <a:ext cx="5715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 % = (max-min) / (2 × mean)</a:t>
            </a:r>
            <a:endParaRPr lang="en-US" sz="975" dirty="0"/>
          </a:p>
        </p:txBody>
      </p:sp>
      <p:sp>
        <p:nvSpPr>
          <p:cNvPr id="213" name="Text 205"/>
          <p:cNvSpPr txBox="1"/>
          <p:nvPr/>
        </p:nvSpPr>
        <p:spPr>
          <a:xfrm>
            <a:off x="571500" y="8572500"/>
            <a:ext cx="1143000" cy="705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spc="176" kern="0" dirty="0">
                <a:solidFill>
                  <a:srgbClr val="9DC3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214" name="Text 206"/>
          <p:cNvSpPr txBox="1"/>
          <p:nvPr/>
        </p:nvSpPr>
        <p:spPr>
          <a:xfrm>
            <a:off x="1904695" y="8572500"/>
            <a:ext cx="15430500" cy="705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W03 map 은 edge-to-center 편차가 0.16 nm 로 Split A 두 wafer 의 0.06~0.07 대비 </a:t>
            </a:r>
            <a:pPr algn="l" indent="0" marL="0">
              <a:buNone/>
            </a:pPr>
            <a:r>
              <a:rPr lang="en-US" sz="16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 % 약 2.5 ×</a:t>
            </a:r>
            <a:pPr algn="l" indent="0" marL="0">
              <a:buNone/>
            </a:pPr>
            <a:r>
              <a:rPr lang="en-US" sz="1650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4 metric 전체에서 worst.</a:t>
            </a:r>
            <a:endParaRPr lang="en-US" sz="1650" dirty="0"/>
          </a:p>
        </p:txBody>
      </p:sp>
      <p:sp>
        <p:nvSpPr>
          <p:cNvPr id="215" name="Text 207"/>
          <p:cNvSpPr txBox="1"/>
          <p:nvPr/>
        </p:nvSpPr>
        <p:spPr>
          <a:xfrm>
            <a:off x="571500" y="9620402"/>
            <a:ext cx="11430000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6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내부 테스트용 더미(가상) 데이터</a:t>
            </a:r>
            <a:endParaRPr lang="en-US" sz="1200" dirty="0"/>
          </a:p>
        </p:txBody>
      </p:sp>
      <p:sp>
        <p:nvSpPr>
          <p:cNvPr id="216" name="Text 208"/>
          <p:cNvSpPr txBox="1"/>
          <p:nvPr/>
        </p:nvSpPr>
        <p:spPr>
          <a:xfrm>
            <a:off x="14097305" y="9620402"/>
            <a:ext cx="3620110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spc="126" kern="0" dirty="0">
                <a:solidFill>
                  <a:srgbClr val="9DC3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BEOL RSBM · Dummy · 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E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bfb57895a49cac99413505a9d8b253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71500" y="2286000"/>
            <a:ext cx="17164202" cy="72420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571500" y="3200400"/>
            <a:ext cx="17145000" cy="609905"/>
          </a:xfrm>
          <a:prstGeom prst="rect">
            <a:avLst/>
          </a:prstGeom>
          <a:solidFill>
            <a:srgbClr val="0F24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71500" y="3847795"/>
            <a:ext cx="17164202" cy="972007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71500" y="4839005"/>
            <a:ext cx="17164202" cy="972007"/>
          </a:xfrm>
          <a:prstGeom prst="rect">
            <a:avLst/>
          </a:prstGeom>
          <a:solidFill>
            <a:srgbClr val="F4F7FB"/>
          </a:solidFill>
          <a:ln w="12700">
            <a:solidFill>
              <a:srgbClr val="DCE5F1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71500" y="5829300"/>
            <a:ext cx="17164202" cy="972007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71500" y="6819595"/>
            <a:ext cx="17164202" cy="972007"/>
          </a:xfrm>
          <a:prstGeom prst="rect">
            <a:avLst/>
          </a:prstGeom>
          <a:solidFill>
            <a:srgbClr val="F4F7FB"/>
          </a:solidFill>
          <a:ln w="12700">
            <a:solidFill>
              <a:srgbClr val="DCE5F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71500" y="7810805"/>
            <a:ext cx="17164202" cy="78089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F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71500" y="8762695"/>
            <a:ext cx="17164202" cy="629107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0" y="9620402"/>
            <a:ext cx="18288000" cy="666598"/>
          </a:xfrm>
          <a:prstGeom prst="rect">
            <a:avLst/>
          </a:prstGeom>
          <a:solidFill>
            <a:srgbClr val="0F24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1" descr="gen-dedup-3bc330a2cec19012a14138f805592d46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571500" y="514807"/>
            <a:ext cx="17145000" cy="9144"/>
          </a:xfrm>
          <a:prstGeom prst="rect">
            <a:avLst/>
          </a:prstGeom>
        </p:spPr>
      </p:pic>
      <p:pic>
        <p:nvPicPr>
          <p:cNvPr id="14" name="Image 2" descr="gen-dedup-aae6ddcf6608bf271fb95256de394123.png">    </p:cNvPr>
          <p:cNvPicPr>
            <a:picLocks noChangeAspect="1"/>
          </p:cNvPicPr>
          <p:nvPr/>
        </p:nvPicPr>
        <p:blipFill>
          <a:blip r:embed="rId3"/>
          <a:srcRect l="-375" r="-375" t="0" b="0"/>
          <a:stretch/>
        </p:blipFill>
        <p:spPr>
          <a:xfrm>
            <a:off x="571500" y="8762695"/>
            <a:ext cx="57607" cy="60990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71500" y="705002"/>
            <a:ext cx="4953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RSBM Split 평가 · M6 layer · Lot D-series Dummy</a:t>
            </a:r>
            <a:endParaRPr lang="en-US" sz="1050" dirty="0"/>
          </a:p>
        </p:txBody>
      </p:sp>
      <p:sp>
        <p:nvSpPr>
          <p:cNvPr id="16" name="Text 10"/>
          <p:cNvSpPr txBox="1"/>
          <p:nvPr/>
        </p:nvSpPr>
        <p:spPr>
          <a:xfrm>
            <a:off x="15811805" y="705002"/>
            <a:ext cx="1905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spc="126" kern="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전기 특성</a:t>
            </a:r>
            <a:endParaRPr lang="en-US" sz="1050" dirty="0"/>
          </a:p>
        </p:txBody>
      </p:sp>
      <p:sp>
        <p:nvSpPr>
          <p:cNvPr id="17" name="Text 11"/>
          <p:cNvSpPr txBox="1"/>
          <p:nvPr/>
        </p:nvSpPr>
        <p:spPr>
          <a:xfrm>
            <a:off x="571500" y="1143000"/>
            <a:ext cx="14287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 특성 종합</a:t>
            </a:r>
            <a:endParaRPr lang="en-US" sz="1950" dirty="0"/>
          </a:p>
        </p:txBody>
      </p:sp>
      <p:sp>
        <p:nvSpPr>
          <p:cNvPr id="18" name="Text 12"/>
          <p:cNvSpPr txBox="1"/>
          <p:nvPr/>
        </p:nvSpPr>
        <p:spPr>
          <a:xfrm>
            <a:off x="571500" y="1609344"/>
            <a:ext cx="14287500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spc="-81" kern="0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 · Rline · Rvia · Jleak · EM TTFA </a:t>
            </a:r>
            <a:pPr algn="l" indent="0" marL="0">
              <a:buNone/>
            </a:pPr>
            <a:r>
              <a:rPr lang="en-US" sz="4050" b="1" spc="-81" kern="0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</a:t>
            </a:r>
            <a:pPr algn="l" indent="0" marL="0">
              <a:buNone/>
            </a:pPr>
            <a:r>
              <a:rPr lang="en-US" sz="4050" b="1" spc="-81" kern="0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본다</a:t>
            </a:r>
            <a:endParaRPr lang="en-US" sz="4050" dirty="0"/>
          </a:p>
        </p:txBody>
      </p:sp>
      <p:sp>
        <p:nvSpPr>
          <p:cNvPr id="19" name="Text 13"/>
          <p:cNvSpPr txBox="1"/>
          <p:nvPr/>
        </p:nvSpPr>
        <p:spPr>
          <a:xfrm>
            <a:off x="800100" y="2419502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CONDITIONS</a:t>
            </a:r>
            <a:endParaRPr lang="en-US" sz="1050" dirty="0"/>
          </a:p>
        </p:txBody>
      </p:sp>
      <p:sp>
        <p:nvSpPr>
          <p:cNvPr id="20" name="Text 14"/>
          <p:cNvSpPr txBox="1"/>
          <p:nvPr/>
        </p:nvSpPr>
        <p:spPr>
          <a:xfrm>
            <a:off x="800100" y="2686507"/>
            <a:ext cx="1666951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Jleak · 1 MV/cm @ 125 °C · EM · 2 MA/cm² @ 300 °C · TTF 정의 t₅₀ · via chain 100 개 직렬</a:t>
            </a:r>
            <a:endParaRPr lang="en-US" sz="1275" dirty="0"/>
          </a:p>
        </p:txBody>
      </p:sp>
      <p:sp>
        <p:nvSpPr>
          <p:cNvPr id="21" name="Text 15"/>
          <p:cNvSpPr txBox="1"/>
          <p:nvPr/>
        </p:nvSpPr>
        <p:spPr>
          <a:xfrm>
            <a:off x="857707" y="3372307"/>
            <a:ext cx="2286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b="1" spc="203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METRIC</a:t>
            </a:r>
            <a:endParaRPr lang="en-US" sz="1125" dirty="0"/>
          </a:p>
        </p:txBody>
      </p:sp>
      <p:sp>
        <p:nvSpPr>
          <p:cNvPr id="22" name="Text 16"/>
          <p:cNvSpPr txBox="1"/>
          <p:nvPr/>
        </p:nvSpPr>
        <p:spPr>
          <a:xfrm>
            <a:off x="3143707" y="3372307"/>
            <a:ext cx="3620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b="1" spc="203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CONDITION</a:t>
            </a:r>
            <a:endParaRPr lang="en-US" sz="1125" dirty="0"/>
          </a:p>
        </p:txBody>
      </p:sp>
      <p:sp>
        <p:nvSpPr>
          <p:cNvPr id="23" name="Text 17"/>
          <p:cNvSpPr txBox="1"/>
          <p:nvPr/>
        </p:nvSpPr>
        <p:spPr>
          <a:xfrm>
            <a:off x="6762902" y="3372307"/>
            <a:ext cx="2286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b="1" spc="158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W01 · Split A</a:t>
            </a:r>
            <a:endParaRPr lang="en-US" sz="1125" dirty="0"/>
          </a:p>
        </p:txBody>
      </p:sp>
      <p:sp>
        <p:nvSpPr>
          <p:cNvPr id="24" name="Text 18"/>
          <p:cNvSpPr txBox="1"/>
          <p:nvPr/>
        </p:nvSpPr>
        <p:spPr>
          <a:xfrm>
            <a:off x="9048902" y="3372307"/>
            <a:ext cx="2286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b="1" spc="158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W02 · Split A</a:t>
            </a:r>
            <a:endParaRPr lang="en-US" sz="1125" dirty="0"/>
          </a:p>
        </p:txBody>
      </p:sp>
      <p:sp>
        <p:nvSpPr>
          <p:cNvPr id="25" name="Text 19"/>
          <p:cNvSpPr txBox="1"/>
          <p:nvPr/>
        </p:nvSpPr>
        <p:spPr>
          <a:xfrm>
            <a:off x="11334902" y="3372307"/>
            <a:ext cx="2286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b="1" spc="158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W03 · Split B</a:t>
            </a:r>
            <a:endParaRPr lang="en-US" sz="1125" dirty="0"/>
          </a:p>
        </p:txBody>
      </p:sp>
      <p:sp>
        <p:nvSpPr>
          <p:cNvPr id="26" name="Text 20"/>
          <p:cNvSpPr txBox="1"/>
          <p:nvPr/>
        </p:nvSpPr>
        <p:spPr>
          <a:xfrm>
            <a:off x="13620902" y="3372307"/>
            <a:ext cx="3810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Δ W03 vs W01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857707" y="4076395"/>
            <a:ext cx="22860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</a:t>
            </a:r>
            <a:endParaRPr lang="en-US" sz="2250" dirty="0"/>
          </a:p>
        </p:txBody>
      </p:sp>
      <p:sp>
        <p:nvSpPr>
          <p:cNvPr id="28" name="Text 22"/>
          <p:cNvSpPr txBox="1"/>
          <p:nvPr/>
        </p:nvSpPr>
        <p:spPr>
          <a:xfrm>
            <a:off x="857707" y="4457700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Ω / sq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3143707" y="4076395"/>
            <a:ext cx="3620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4-pt probe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3143707" y="4352544"/>
            <a:ext cx="3620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메탈 면 저항 직접 측정</a:t>
            </a:r>
            <a:endParaRPr lang="en-US" sz="1125" dirty="0"/>
          </a:p>
        </p:txBody>
      </p:sp>
      <p:sp>
        <p:nvSpPr>
          <p:cNvPr id="31" name="Text 25"/>
          <p:cNvSpPr txBox="1"/>
          <p:nvPr/>
        </p:nvSpPr>
        <p:spPr>
          <a:xfrm>
            <a:off x="6762902" y="4134002"/>
            <a:ext cx="2286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0.31</a:t>
            </a:r>
            <a:endParaRPr lang="en-US" sz="2400" dirty="0"/>
          </a:p>
        </p:txBody>
      </p:sp>
      <p:sp>
        <p:nvSpPr>
          <p:cNvPr id="32" name="Text 26"/>
          <p:cNvSpPr txBox="1"/>
          <p:nvPr/>
        </p:nvSpPr>
        <p:spPr>
          <a:xfrm>
            <a:off x="9048902" y="4134002"/>
            <a:ext cx="2286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0.32</a:t>
            </a:r>
            <a:endParaRPr lang="en-US" sz="2400" dirty="0"/>
          </a:p>
        </p:txBody>
      </p:sp>
      <p:sp>
        <p:nvSpPr>
          <p:cNvPr id="33" name="Text 27"/>
          <p:cNvSpPr txBox="1"/>
          <p:nvPr/>
        </p:nvSpPr>
        <p:spPr>
          <a:xfrm>
            <a:off x="11334902" y="4134002"/>
            <a:ext cx="2286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0.38</a:t>
            </a:r>
            <a:endParaRPr lang="en-US" sz="2400" dirty="0"/>
          </a:p>
        </p:txBody>
      </p:sp>
      <p:sp>
        <p:nvSpPr>
          <p:cNvPr id="34" name="Text 28"/>
          <p:cNvSpPr txBox="1"/>
          <p:nvPr/>
        </p:nvSpPr>
        <p:spPr>
          <a:xfrm>
            <a:off x="13620902" y="4134002"/>
            <a:ext cx="3810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+22.6 %</a:t>
            </a:r>
            <a:endParaRPr lang="en-US" sz="1950" dirty="0"/>
          </a:p>
        </p:txBody>
      </p:sp>
      <p:sp>
        <p:nvSpPr>
          <p:cNvPr id="35" name="Text 29"/>
          <p:cNvSpPr txBox="1"/>
          <p:nvPr/>
        </p:nvSpPr>
        <p:spPr>
          <a:xfrm>
            <a:off x="857707" y="5067605"/>
            <a:ext cx="22860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Rline</a:t>
            </a:r>
            <a:endParaRPr lang="en-US" sz="2250" dirty="0"/>
          </a:p>
        </p:txBody>
      </p:sp>
      <p:sp>
        <p:nvSpPr>
          <p:cNvPr id="36" name="Text 30"/>
          <p:cNvSpPr txBox="1"/>
          <p:nvPr/>
        </p:nvSpPr>
        <p:spPr>
          <a:xfrm>
            <a:off x="857707" y="5447995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Ω / µm</a:t>
            </a:r>
            <a:endParaRPr lang="en-US" sz="1200" dirty="0"/>
          </a:p>
        </p:txBody>
      </p:sp>
      <p:sp>
        <p:nvSpPr>
          <p:cNvPr id="37" name="Text 31"/>
          <p:cNvSpPr txBox="1"/>
          <p:nvPr/>
        </p:nvSpPr>
        <p:spPr>
          <a:xfrm>
            <a:off x="3143707" y="5067605"/>
            <a:ext cx="3620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nm pitch · L = 1 mm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3143707" y="5343754"/>
            <a:ext cx="3620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라인 평균</a:t>
            </a:r>
            <a:endParaRPr lang="en-US" sz="1125" dirty="0"/>
          </a:p>
        </p:txBody>
      </p:sp>
      <p:sp>
        <p:nvSpPr>
          <p:cNvPr id="39" name="Text 33"/>
          <p:cNvSpPr txBox="1"/>
          <p:nvPr/>
        </p:nvSpPr>
        <p:spPr>
          <a:xfrm>
            <a:off x="6762902" y="5124298"/>
            <a:ext cx="2286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1.84</a:t>
            </a:r>
            <a:endParaRPr lang="en-US" sz="2400" dirty="0"/>
          </a:p>
        </p:txBody>
      </p:sp>
      <p:sp>
        <p:nvSpPr>
          <p:cNvPr id="40" name="Text 34"/>
          <p:cNvSpPr txBox="1"/>
          <p:nvPr/>
        </p:nvSpPr>
        <p:spPr>
          <a:xfrm>
            <a:off x="9048902" y="5124298"/>
            <a:ext cx="2286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1.86</a:t>
            </a:r>
            <a:endParaRPr lang="en-US" sz="2400" dirty="0"/>
          </a:p>
        </p:txBody>
      </p:sp>
      <p:sp>
        <p:nvSpPr>
          <p:cNvPr id="41" name="Text 35"/>
          <p:cNvSpPr txBox="1"/>
          <p:nvPr/>
        </p:nvSpPr>
        <p:spPr>
          <a:xfrm>
            <a:off x="11334902" y="5124298"/>
            <a:ext cx="2286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2.21</a:t>
            </a:r>
            <a:endParaRPr lang="en-US" sz="2400" dirty="0"/>
          </a:p>
        </p:txBody>
      </p:sp>
      <p:sp>
        <p:nvSpPr>
          <p:cNvPr id="42" name="Text 36"/>
          <p:cNvSpPr txBox="1"/>
          <p:nvPr/>
        </p:nvSpPr>
        <p:spPr>
          <a:xfrm>
            <a:off x="13620902" y="5124298"/>
            <a:ext cx="3810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+20.1 %</a:t>
            </a:r>
            <a:endParaRPr lang="en-US" sz="1950" dirty="0"/>
          </a:p>
        </p:txBody>
      </p:sp>
      <p:sp>
        <p:nvSpPr>
          <p:cNvPr id="43" name="Text 37"/>
          <p:cNvSpPr txBox="1"/>
          <p:nvPr/>
        </p:nvSpPr>
        <p:spPr>
          <a:xfrm>
            <a:off x="857707" y="6057900"/>
            <a:ext cx="22860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Rvia</a:t>
            </a:r>
            <a:endParaRPr lang="en-US" sz="2250" dirty="0"/>
          </a:p>
        </p:txBody>
      </p:sp>
      <p:sp>
        <p:nvSpPr>
          <p:cNvPr id="44" name="Text 38"/>
          <p:cNvSpPr txBox="1"/>
          <p:nvPr/>
        </p:nvSpPr>
        <p:spPr>
          <a:xfrm>
            <a:off x="857707" y="6439205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Ω / via</a:t>
            </a:r>
            <a:endParaRPr lang="en-US" sz="1200" dirty="0"/>
          </a:p>
        </p:txBody>
      </p:sp>
      <p:sp>
        <p:nvSpPr>
          <p:cNvPr id="45" name="Text 39"/>
          <p:cNvSpPr txBox="1"/>
          <p:nvPr/>
        </p:nvSpPr>
        <p:spPr>
          <a:xfrm>
            <a:off x="3143707" y="6057900"/>
            <a:ext cx="3620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M5 → M6 · 0-V array</a:t>
            </a:r>
            <a:endParaRPr lang="en-US" sz="1500" dirty="0"/>
          </a:p>
        </p:txBody>
      </p:sp>
      <p:sp>
        <p:nvSpPr>
          <p:cNvPr id="46" name="Text 40"/>
          <p:cNvSpPr txBox="1"/>
          <p:nvPr/>
        </p:nvSpPr>
        <p:spPr>
          <a:xfrm>
            <a:off x="3143707" y="6391656"/>
            <a:ext cx="3620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chain 중앙값</a:t>
            </a:r>
            <a:endParaRPr lang="en-US" sz="1125" dirty="0"/>
          </a:p>
        </p:txBody>
      </p:sp>
      <p:sp>
        <p:nvSpPr>
          <p:cNvPr id="47" name="Text 41"/>
          <p:cNvSpPr txBox="1"/>
          <p:nvPr/>
        </p:nvSpPr>
        <p:spPr>
          <a:xfrm>
            <a:off x="6762902" y="6115507"/>
            <a:ext cx="2286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4.2</a:t>
            </a:r>
            <a:endParaRPr lang="en-US" sz="2400" dirty="0"/>
          </a:p>
        </p:txBody>
      </p:sp>
      <p:sp>
        <p:nvSpPr>
          <p:cNvPr id="48" name="Text 42"/>
          <p:cNvSpPr txBox="1"/>
          <p:nvPr/>
        </p:nvSpPr>
        <p:spPr>
          <a:xfrm>
            <a:off x="9048902" y="6115507"/>
            <a:ext cx="2286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4.3</a:t>
            </a:r>
            <a:endParaRPr lang="en-US" sz="2400" dirty="0"/>
          </a:p>
        </p:txBody>
      </p:sp>
      <p:sp>
        <p:nvSpPr>
          <p:cNvPr id="49" name="Text 43"/>
          <p:cNvSpPr txBox="1"/>
          <p:nvPr/>
        </p:nvSpPr>
        <p:spPr>
          <a:xfrm>
            <a:off x="11334902" y="6115507"/>
            <a:ext cx="2286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5.1</a:t>
            </a:r>
            <a:endParaRPr lang="en-US" sz="2400" dirty="0"/>
          </a:p>
        </p:txBody>
      </p:sp>
      <p:sp>
        <p:nvSpPr>
          <p:cNvPr id="50" name="Text 44"/>
          <p:cNvSpPr txBox="1"/>
          <p:nvPr/>
        </p:nvSpPr>
        <p:spPr>
          <a:xfrm>
            <a:off x="13620902" y="6115507"/>
            <a:ext cx="3810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+21.4 %</a:t>
            </a:r>
            <a:endParaRPr lang="en-US" sz="1950" dirty="0"/>
          </a:p>
        </p:txBody>
      </p:sp>
      <p:sp>
        <p:nvSpPr>
          <p:cNvPr id="51" name="Text 45"/>
          <p:cNvSpPr txBox="1"/>
          <p:nvPr/>
        </p:nvSpPr>
        <p:spPr>
          <a:xfrm>
            <a:off x="857707" y="7048195"/>
            <a:ext cx="22860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Jleak</a:t>
            </a:r>
            <a:endParaRPr lang="en-US" sz="2250" dirty="0"/>
          </a:p>
        </p:txBody>
      </p:sp>
      <p:sp>
        <p:nvSpPr>
          <p:cNvPr id="52" name="Text 46"/>
          <p:cNvSpPr txBox="1"/>
          <p:nvPr/>
        </p:nvSpPr>
        <p:spPr>
          <a:xfrm>
            <a:off x="857707" y="7429500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/ cm²</a:t>
            </a:r>
            <a:endParaRPr lang="en-US" sz="1200" dirty="0"/>
          </a:p>
        </p:txBody>
      </p:sp>
      <p:sp>
        <p:nvSpPr>
          <p:cNvPr id="53" name="Text 47"/>
          <p:cNvSpPr txBox="1"/>
          <p:nvPr/>
        </p:nvSpPr>
        <p:spPr>
          <a:xfrm>
            <a:off x="3143707" y="7048195"/>
            <a:ext cx="3620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 1 MV/cm · 125 °C</a:t>
            </a:r>
            <a:endParaRPr lang="en-US" sz="1500" dirty="0"/>
          </a:p>
        </p:txBody>
      </p:sp>
      <p:sp>
        <p:nvSpPr>
          <p:cNvPr id="54" name="Text 48"/>
          <p:cNvSpPr txBox="1"/>
          <p:nvPr/>
        </p:nvSpPr>
        <p:spPr>
          <a:xfrm>
            <a:off x="3143707" y="7324344"/>
            <a:ext cx="3620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combo 구조 누설</a:t>
            </a:r>
            <a:endParaRPr lang="en-US" sz="1125" dirty="0"/>
          </a:p>
        </p:txBody>
      </p:sp>
      <p:sp>
        <p:nvSpPr>
          <p:cNvPr id="55" name="Text 49"/>
          <p:cNvSpPr txBox="1"/>
          <p:nvPr/>
        </p:nvSpPr>
        <p:spPr>
          <a:xfrm>
            <a:off x="6762902" y="7105802"/>
            <a:ext cx="228600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2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2.1 × 10⁻⁹</a:t>
            </a:r>
            <a:endParaRPr lang="en-US" sz="2250" dirty="0"/>
          </a:p>
        </p:txBody>
      </p:sp>
      <p:sp>
        <p:nvSpPr>
          <p:cNvPr id="56" name="Text 50"/>
          <p:cNvSpPr txBox="1"/>
          <p:nvPr/>
        </p:nvSpPr>
        <p:spPr>
          <a:xfrm>
            <a:off x="9048902" y="7105802"/>
            <a:ext cx="228600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2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2.3 × 10⁻⁹</a:t>
            </a:r>
            <a:endParaRPr lang="en-US" sz="2250" dirty="0"/>
          </a:p>
        </p:txBody>
      </p:sp>
      <p:sp>
        <p:nvSpPr>
          <p:cNvPr id="57" name="Text 51"/>
          <p:cNvSpPr txBox="1"/>
          <p:nvPr/>
        </p:nvSpPr>
        <p:spPr>
          <a:xfrm>
            <a:off x="11334902" y="7105802"/>
            <a:ext cx="228600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2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4.6 × 10⁻⁹</a:t>
            </a:r>
            <a:endParaRPr lang="en-US" sz="2250" dirty="0"/>
          </a:p>
        </p:txBody>
      </p:sp>
      <p:sp>
        <p:nvSpPr>
          <p:cNvPr id="58" name="Text 52"/>
          <p:cNvSpPr txBox="1"/>
          <p:nvPr/>
        </p:nvSpPr>
        <p:spPr>
          <a:xfrm>
            <a:off x="13620902" y="7105802"/>
            <a:ext cx="3810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+119 %</a:t>
            </a:r>
            <a:endParaRPr lang="en-US" sz="1950" dirty="0"/>
          </a:p>
        </p:txBody>
      </p:sp>
      <p:sp>
        <p:nvSpPr>
          <p:cNvPr id="59" name="Text 53"/>
          <p:cNvSpPr txBox="1"/>
          <p:nvPr/>
        </p:nvSpPr>
        <p:spPr>
          <a:xfrm>
            <a:off x="857707" y="7944307"/>
            <a:ext cx="2286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 TTFA</a:t>
            </a:r>
            <a:endParaRPr lang="en-US" sz="2100" dirty="0"/>
          </a:p>
        </p:txBody>
      </p:sp>
      <p:sp>
        <p:nvSpPr>
          <p:cNvPr id="60" name="Text 54"/>
          <p:cNvSpPr txBox="1"/>
          <p:nvPr/>
        </p:nvSpPr>
        <p:spPr>
          <a:xfrm>
            <a:off x="857707" y="8277149"/>
            <a:ext cx="2286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year (t₅₀)</a:t>
            </a:r>
            <a:endParaRPr lang="en-US" sz="1200" dirty="0"/>
          </a:p>
        </p:txBody>
      </p:sp>
      <p:sp>
        <p:nvSpPr>
          <p:cNvPr id="61" name="Text 55"/>
          <p:cNvSpPr txBox="1"/>
          <p:nvPr/>
        </p:nvSpPr>
        <p:spPr>
          <a:xfrm>
            <a:off x="3143707" y="7944307"/>
            <a:ext cx="3620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E41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 2 MA/cm² · 300 °C</a:t>
            </a:r>
            <a:endParaRPr lang="en-US" sz="1500" dirty="0"/>
          </a:p>
        </p:txBody>
      </p:sp>
      <p:sp>
        <p:nvSpPr>
          <p:cNvPr id="62" name="Text 56"/>
          <p:cNvSpPr txBox="1"/>
          <p:nvPr/>
        </p:nvSpPr>
        <p:spPr>
          <a:xfrm>
            <a:off x="3143707" y="8201254"/>
            <a:ext cx="3620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5B6E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median time-to-fail</a:t>
            </a:r>
            <a:endParaRPr lang="en-US" sz="1125" dirty="0"/>
          </a:p>
        </p:txBody>
      </p:sp>
      <p:sp>
        <p:nvSpPr>
          <p:cNvPr id="63" name="Text 57"/>
          <p:cNvSpPr txBox="1"/>
          <p:nvPr/>
        </p:nvSpPr>
        <p:spPr>
          <a:xfrm>
            <a:off x="6762902" y="8020202"/>
            <a:ext cx="2286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12.4</a:t>
            </a:r>
            <a:endParaRPr lang="en-US" sz="2400" dirty="0"/>
          </a:p>
        </p:txBody>
      </p:sp>
      <p:sp>
        <p:nvSpPr>
          <p:cNvPr id="64" name="Text 58"/>
          <p:cNvSpPr txBox="1"/>
          <p:nvPr/>
        </p:nvSpPr>
        <p:spPr>
          <a:xfrm>
            <a:off x="9048902" y="8020202"/>
            <a:ext cx="2286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11.8</a:t>
            </a:r>
            <a:endParaRPr lang="en-US" sz="2400" dirty="0"/>
          </a:p>
        </p:txBody>
      </p:sp>
      <p:sp>
        <p:nvSpPr>
          <p:cNvPr id="65" name="Text 59"/>
          <p:cNvSpPr txBox="1"/>
          <p:nvPr/>
        </p:nvSpPr>
        <p:spPr>
          <a:xfrm>
            <a:off x="11334902" y="8020202"/>
            <a:ext cx="2286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7.2</a:t>
            </a:r>
            <a:endParaRPr lang="en-US" sz="2400" dirty="0"/>
          </a:p>
        </p:txBody>
      </p:sp>
      <p:sp>
        <p:nvSpPr>
          <p:cNvPr id="66" name="Text 60"/>
          <p:cNvSpPr txBox="1"/>
          <p:nvPr/>
        </p:nvSpPr>
        <p:spPr>
          <a:xfrm>
            <a:off x="13620902" y="8020202"/>
            <a:ext cx="3810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−41.9 %</a:t>
            </a:r>
            <a:endParaRPr lang="en-US" sz="1950" dirty="0"/>
          </a:p>
        </p:txBody>
      </p:sp>
      <p:sp>
        <p:nvSpPr>
          <p:cNvPr id="67" name="Text 61"/>
          <p:cNvSpPr txBox="1"/>
          <p:nvPr/>
        </p:nvSpPr>
        <p:spPr>
          <a:xfrm>
            <a:off x="800100" y="8762695"/>
            <a:ext cx="285750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68" name="Text 62"/>
          <p:cNvSpPr txBox="1"/>
          <p:nvPr/>
        </p:nvSpPr>
        <p:spPr>
          <a:xfrm>
            <a:off x="3619195" y="8762695"/>
            <a:ext cx="1390711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가 5 항목 모두 우세 — Rs · Rline · Rvia +20 % 안팎, Jleak +119 %, EM TTFA −42 % 까지 벌어진다.</a:t>
            </a:r>
            <a:endParaRPr lang="en-US" sz="1350" dirty="0"/>
          </a:p>
        </p:txBody>
      </p:sp>
      <p:sp>
        <p:nvSpPr>
          <p:cNvPr id="69" name="Text 63"/>
          <p:cNvSpPr txBox="1"/>
          <p:nvPr/>
        </p:nvSpPr>
        <p:spPr>
          <a:xfrm>
            <a:off x="571500" y="9620402"/>
            <a:ext cx="11430000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6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내부 테스트용 더미(가상) 데이터</a:t>
            </a:r>
            <a:endParaRPr lang="en-US" sz="1200" dirty="0"/>
          </a:p>
        </p:txBody>
      </p:sp>
      <p:sp>
        <p:nvSpPr>
          <p:cNvPr id="70" name="Text 64"/>
          <p:cNvSpPr txBox="1"/>
          <p:nvPr/>
        </p:nvSpPr>
        <p:spPr>
          <a:xfrm>
            <a:off x="14097305" y="9620402"/>
            <a:ext cx="3620110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spc="126" kern="0" dirty="0">
                <a:solidFill>
                  <a:srgbClr val="9DC3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BEOL RSBM · Dummy · 07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2026-10-03T16:07:35Z</dcterms:created>
  <dcterms:modified xsi:type="dcterms:W3CDTF">2026-10-03T16:07:35Z</dcterms:modified>
</cp:coreProperties>
</file>