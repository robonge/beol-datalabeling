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195" y="-2476195"/>
            <a:ext cx="4972507" cy="4972507"/>
          </a:xfrm>
          <a:prstGeom prst="ellipse">
            <a:avLst/>
          </a:prstGeom>
          <a:noFill/>
          <a:ln w="12700">
            <a:solidFill>
              <a:srgbClr val="C8884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24305" y="-1524305"/>
            <a:ext cx="3066898" cy="3066898"/>
          </a:xfrm>
          <a:prstGeom prst="ellipse">
            <a:avLst/>
          </a:prstGeom>
          <a:noFill/>
          <a:ln w="12700">
            <a:solidFill>
              <a:srgbClr val="C8884A">
                <a:alpha val="10000"/>
              </a:srgbClr>
            </a:solidFill>
            <a:prstDash val="solid"/>
          </a:ln>
        </p:spPr>
      </p:sp>
      <p:pic>
        <p:nvPicPr>
          <p:cNvPr id="4" name="Image 0" descr="gen-dedup-e9a6ca97036ff14459dfaae7d01f7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190902"/>
            <a:ext cx="7258507" cy="3829507"/>
          </a:xfrm>
          <a:prstGeom prst="rect">
            <a:avLst/>
          </a:prstGeom>
        </p:spPr>
      </p:pic>
      <p:pic>
        <p:nvPicPr>
          <p:cNvPr id="5" name="Image 1" descr="gen-dedup-a0397bb9195f4f186e0f4c94074153a9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762695" y="2190902"/>
            <a:ext cx="28346" cy="53336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7707" y="666598"/>
            <a:ext cx="7239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</a:t>
            </a:r>
            <a:endParaRPr lang="en-US" sz="5400" dirty="0"/>
          </a:p>
        </p:txBody>
      </p:sp>
      <p:pic>
        <p:nvPicPr>
          <p:cNvPr id="7" name="Image 2" descr="gen-dedup-b587ff453f2cdc162f128f7f5b4986f2.png">    </p:cNvPr>
          <p:cNvPicPr>
            <a:picLocks noChangeAspect="1"/>
          </p:cNvPicPr>
          <p:nvPr/>
        </p:nvPicPr>
        <p:blipFill>
          <a:blip r:embed="rId3"/>
          <a:srcRect l="-411" r="-411" t="0" b="0"/>
          <a:stretch/>
        </p:blipFill>
        <p:spPr>
          <a:xfrm>
            <a:off x="857707" y="1752905"/>
            <a:ext cx="209580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7707" y="6172200"/>
            <a:ext cx="79251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· globalsino.com — Copper (Cu) Interconnects with Tantalum (Ta) Barrier</a:t>
            </a:r>
            <a:endParaRPr lang="en-US" sz="1350" dirty="0"/>
          </a:p>
        </p:txBody>
      </p:sp>
      <p:sp>
        <p:nvSpPr>
          <p:cNvPr id="9" name="Text 4"/>
          <p:cNvSpPr txBox="1"/>
          <p:nvPr/>
        </p:nvSpPr>
        <p:spPr>
          <a:xfrm>
            <a:off x="857707" y="6762902"/>
            <a:ext cx="72393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CuAl</a:t>
            </a:r>
            <a:pPr algn="l" indent="0" marL="0">
              <a:lnSpc>
                <a:spcPts val="2790"/>
              </a:lnSpc>
              <a:buNone/>
            </a:pPr>
            <a:r>
              <a:rPr lang="en-US" sz="15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28 nm 막 값 9.5 µΩ·cm는 그 상의 벌크 저항률 6.5 µΩ·cm에 꾸준히 접근한 수치입니다.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8572500"/>
            <a:ext cx="72393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Soulié는 "CuAl</a:t>
            </a:r>
            <a:pPr algn="l" indent="0" marL="0">
              <a:lnSpc>
                <a:spcPts val="2558"/>
              </a:lnSpc>
              <a:buNone/>
            </a:pPr>
            <a:r>
              <a:rPr lang="en-US" sz="1375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10 nm 이상 두께에서 Ru를 이기고, CuAl·CuAl</a:t>
            </a:r>
            <a:pPr algn="l" indent="0" marL="0">
              <a:lnSpc>
                <a:spcPts val="2558"/>
              </a:lnSpc>
              <a:buNone/>
            </a:pPr>
            <a:r>
              <a:rPr lang="en-US" sz="1375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둘 다 조사한 전 두께 범위에서 Mo를 이겼다"고 씁니다.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48902" y="2190902"/>
          <a:ext cx="8668512" cy="6172200"/>
        </p:xfrm>
        <a:graphic>
          <a:graphicData uri="http://schemas.openxmlformats.org/drawingml/2006/table">
            <a:tbl>
              <a:tblPr/>
              <a:tblGrid>
                <a:gridCol w="3143707"/>
                <a:gridCol w="1143000"/>
                <a:gridCol w="1619402"/>
                <a:gridCol w="1333195"/>
                <a:gridCol w="1429207"/>
              </a:tblGrid>
              <a:tr h="771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저항률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열처리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NiAl (Ge(100) 에피탑사)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7.7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11.5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NiAl (PVD)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13.9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600 °C PDA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NiAl (420 °C 증착)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in-situ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CuAl / CuAl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888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9.5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 °C PDA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JVST B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</a:t>
                      </a:r>
                      <a:endParaRPr lang="en-US" sz="1200" dirty="0"/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~30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&lt;10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 °C PDA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</a:t>
                      </a:r>
                      <a:endParaRPr lang="en-US" sz="1200" dirty="0"/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12.6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 °C PDA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DFC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Mg</a:t>
                      </a:r>
                      <a:endParaRPr lang="en-US" sz="1200" dirty="0"/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 nm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25.5 µΩ·cm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JAP 2024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3" descr="gen-dedup-6b3f0d90d66e4dd14358b4889e0ca854.png">    </p:cNvPr>
          <p:cNvPicPr>
            <a:picLocks noChangeAspect="1"/>
          </p:cNvPicPr>
          <p:nvPr/>
        </p:nvPicPr>
        <p:blipFill>
          <a:blip r:embed="rId4"/>
          <a:srcRect l="-2094" r="-2094" t="0" b="0"/>
          <a:stretch/>
        </p:blipFill>
        <p:spPr>
          <a:xfrm>
            <a:off x="857707" y="9620402"/>
            <a:ext cx="1524305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c621c789ad7d93c13b4ff85bf62692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402" y="2495398"/>
            <a:ext cx="8115300" cy="3258007"/>
          </a:xfrm>
          <a:prstGeom prst="rect">
            <a:avLst/>
          </a:prstGeom>
        </p:spPr>
      </p:pic>
      <p:pic>
        <p:nvPicPr>
          <p:cNvPr id="3" name="Image 1" descr="gen-dedup-01c663fab8e9455b98d91e8a223981a8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9144000" y="2857500"/>
            <a:ext cx="9144" cy="5333695"/>
          </a:xfrm>
          <a:prstGeom prst="rect">
            <a:avLst/>
          </a:prstGeom>
        </p:spPr>
      </p:pic>
      <p:pic>
        <p:nvPicPr>
          <p:cNvPr id="4" name="Image 2" descr="gen-dedup-aa25346c99409533f6945eeaddab89db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857707" y="6286500"/>
            <a:ext cx="8096098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57707" y="705002"/>
            <a:ext cx="161931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스크리닝 지표로 본 후보군</a:t>
            </a:r>
            <a:endParaRPr lang="en-US" sz="4350" dirty="0"/>
          </a:p>
        </p:txBody>
      </p:sp>
      <p:sp>
        <p:nvSpPr>
          <p:cNvPr id="6" name="Text 1"/>
          <p:cNvSpPr txBox="1"/>
          <p:nvPr/>
        </p:nvSpPr>
        <p:spPr>
          <a:xfrm>
            <a:off x="857707" y="1619402"/>
            <a:ext cx="168789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650" dirty="0"/>
          </a:p>
        </p:txBody>
      </p:sp>
      <p:sp>
        <p:nvSpPr>
          <p:cNvPr id="7" name="Text 2"/>
          <p:cNvSpPr txBox="1"/>
          <p:nvPr/>
        </p:nvSpPr>
        <p:spPr>
          <a:xfrm>
            <a:off x="857707" y="2495398"/>
            <a:ext cx="80970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88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세라믹</a:t>
            </a:r>
            <a:endParaRPr lang="en-US" sz="1950" dirty="0"/>
          </a:p>
        </p:txBody>
      </p:sp>
      <p:sp>
        <p:nvSpPr>
          <p:cNvPr id="8" name="Text 3"/>
          <p:cNvSpPr txBox="1"/>
          <p:nvPr/>
        </p:nvSpPr>
        <p:spPr>
          <a:xfrm>
            <a:off x="857707" y="2915107"/>
            <a:ext cx="8097012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Sankaran은 MAX 상 170개를 전자구조 계산으로 걸렀고, 그중 69개 안정상이 Cu보다 높은 응집에너지와 낮은 ρ</a:t>
            </a:r>
            <a:pPr algn="l" indent="0" marL="0">
              <a:lnSpc>
                <a:spcPts val="2906"/>
              </a:lnSpc>
              <a:buNone/>
            </a:pPr>
            <a:r>
              <a:rPr lang="en-US" sz="1562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·λ를 동시에 가졌으며, 24개는 Ru보다도 좋았습니다.</a:t>
            </a:r>
            <a:endParaRPr lang="en-US" sz="1875" dirty="0"/>
          </a:p>
        </p:txBody>
      </p:sp>
      <p:sp>
        <p:nvSpPr>
          <p:cNvPr id="9" name="Text 4"/>
          <p:cNvSpPr txBox="1"/>
          <p:nvPr/>
        </p:nvSpPr>
        <p:spPr>
          <a:xfrm>
            <a:off x="857707" y="4552798"/>
            <a:ext cx="80970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최저값은 β-Ti</a:t>
            </a:r>
            <a:pPr algn="l" indent="0" marL="0">
              <a:lnSpc>
                <a:spcPts val="2906"/>
              </a:lnSpc>
              <a:buNone/>
            </a:pPr>
            <a:r>
              <a:rPr lang="en-US" sz="1562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</a:t>
            </a:r>
            <a:pPr algn="l" indent="0" marL="0">
              <a:lnSpc>
                <a:spcPts val="2906"/>
              </a:lnSpc>
              <a:buNone/>
            </a:pPr>
            <a:r>
              <a:rPr lang="en-US" sz="1562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0.6×10</a:t>
            </a:r>
            <a:pPr algn="l" indent="0" marL="0">
              <a:lnSpc>
                <a:spcPts val="2906"/>
              </a:lnSpc>
              <a:buNone/>
            </a:pPr>
            <a:r>
              <a:rPr lang="en-US" sz="1562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−16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Ω·m</a:t>
            </a:r>
            <a:pPr algn="l" indent="0" marL="0">
              <a:lnSpc>
                <a:spcPts val="2906"/>
              </a:lnSpc>
              <a:buNone/>
            </a:pPr>
            <a:r>
              <a:rPr lang="en-US" sz="1562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Cu의 1/11입니다. 다만 이들은 아직 박막 증착·에칭 실증이 없는 계산 단계입니다.</a:t>
            </a:r>
            <a:endParaRPr lang="en-US" sz="1875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6553505"/>
            <a:ext cx="38103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170</a:t>
            </a:r>
            <a:endParaRPr lang="en-US" sz="585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7429500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9A91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상 전자구조 계산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5143500" y="6553505"/>
            <a:ext cx="38103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50" b="1" dirty="0">
                <a:solidFill>
                  <a:srgbClr val="C88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5850" dirty="0"/>
          </a:p>
        </p:txBody>
      </p:sp>
      <p:sp>
        <p:nvSpPr>
          <p:cNvPr id="13" name="Text 8"/>
          <p:cNvSpPr txBox="1"/>
          <p:nvPr/>
        </p:nvSpPr>
        <p:spPr>
          <a:xfrm>
            <a:off x="5143500" y="7429500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9A91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Ru보다 좋은 안정상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857707" y="8762695"/>
            <a:ext cx="80970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i="1" dirty="0">
                <a:solidFill>
                  <a:srgbClr val="9A91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9620402" y="5848502"/>
            <a:ext cx="80970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· Vik's Newsletter — Ruthenium: The Next Step in Interconnects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9620402" y="6286500"/>
            <a:ext cx="80970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A8B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유한온도 텐서로 본 Ru</a:t>
            </a:r>
            <a:endParaRPr lang="en-US" sz="1950" dirty="0"/>
          </a:p>
        </p:txBody>
      </p:sp>
      <p:sp>
        <p:nvSpPr>
          <p:cNvPr id="17" name="Text 12"/>
          <p:cNvSpPr txBox="1"/>
          <p:nvPr/>
        </p:nvSpPr>
        <p:spPr>
          <a:xfrm>
            <a:off x="9620402" y="6724498"/>
            <a:ext cx="80970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Moors는 비등방성 금속을 스칼라 ρ</a:t>
            </a:r>
            <a:pPr algn="l" indent="0" marL="0">
              <a:lnSpc>
                <a:spcPts val="2813"/>
              </a:lnSpc>
              <a:buNone/>
            </a:pPr>
            <a:r>
              <a:rPr lang="en-US" sz="1562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λ로 줄이면 잘못된 순위가 나온다고 지적하고 유한온도 수송 텐서를 제안했습니다.</a:t>
            </a:r>
            <a:endParaRPr lang="en-US" sz="1875" dirty="0"/>
          </a:p>
        </p:txBody>
      </p:sp>
      <p:sp>
        <p:nvSpPr>
          <p:cNvPr id="18" name="Text 13"/>
          <p:cNvSpPr txBox="1"/>
          <p:nvPr/>
        </p:nvSpPr>
        <p:spPr>
          <a:xfrm>
            <a:off x="9620402" y="7905902"/>
            <a:ext cx="8097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 K 계산 결과 Ru는 전 방향, V</a:t>
            </a:r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D5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AlC는 면내 방향, MoPt는 x·y 방향에서 Cu를 능가할 여지가 있다고 봤습니다.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211b8a33abddd4190d8bc97fc736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115007"/>
            <a:ext cx="8020202" cy="3448202"/>
          </a:xfrm>
          <a:prstGeom prst="rect">
            <a:avLst/>
          </a:prstGeom>
        </p:spPr>
      </p:pic>
      <p:pic>
        <p:nvPicPr>
          <p:cNvPr id="3" name="Image 1" descr="gen-dedup-3cb1390181c47f7c72c02b179691212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6286500"/>
            <a:ext cx="6877202" cy="32954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57707" y="705002"/>
            <a:ext cx="161931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유명한 </a:t>
            </a:r>
            <a:pPr algn="l" indent="0" marL="0">
              <a:buNone/>
            </a:pPr>
            <a:r>
              <a:rPr lang="en-US" sz="4350" b="1" i="1" dirty="0">
                <a:solidFill>
                  <a:srgbClr val="C88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"holy grail"</a:t>
            </a:r>
            <a:pPr algn="l" indent="0" marL="0">
              <a:buNone/>
            </a:pPr>
            <a:r>
              <a:rPr lang="en-US" sz="4350" b="1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논문입니다</a:t>
            </a:r>
            <a:endParaRPr lang="en-US" sz="4350" dirty="0"/>
          </a:p>
        </p:txBody>
      </p:sp>
      <p:pic>
        <p:nvPicPr>
          <p:cNvPr id="5" name="Image 2" descr="gen-dedup-ccf3cb5dfade0c2f4f52e79bf38e8dcc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857707" y="1619402"/>
            <a:ext cx="1714500" cy="1920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9715500" y="5658307"/>
            <a:ext cx="8001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· IMEC — semi-damascene self-aligned vias, 18 nm metal pitch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9715500" y="9658807"/>
            <a:ext cx="6858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· Interconnect (Springer Nature)</a:t>
            </a:r>
            <a:endParaRPr lang="en-US" sz="1350" dirty="0"/>
          </a:p>
        </p:txBody>
      </p:sp>
      <p:sp>
        <p:nvSpPr>
          <p:cNvPr id="8" name="Text 3"/>
          <p:cNvSpPr txBox="1"/>
          <p:nvPr/>
        </p:nvSpPr>
        <p:spPr>
          <a:xfrm>
            <a:off x="16763695" y="6286500"/>
            <a:ext cx="191110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eaVert"/>
          <a:lstStyle/>
          <a:p>
            <a:pPr algn="l" indent="0" marL="0">
              <a:buNone/>
            </a:pPr>
            <a:r>
              <a:rPr lang="en-US" sz="1050" dirty="0">
                <a:solidFill>
                  <a:srgbClr val="797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air-gap · low-κ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07" y="2115007"/>
          <a:ext cx="8382305" cy="5095951"/>
        </p:xfrm>
        <a:graphic>
          <a:graphicData uri="http://schemas.openxmlformats.org/drawingml/2006/table">
            <a:tbl>
              <a:tblPr/>
              <a:tblGrid>
                <a:gridCol w="2819095"/>
                <a:gridCol w="5563210"/>
              </a:tblGrid>
              <a:tr h="6369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9A91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피치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 → 18 nm (2소재 실증)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선폭(CD)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 nm, PVD Ru 30 nm → AR ≈ 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전도 단면적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명목 270 nm² / 전기적 250 nm²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비아 저항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88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 Ω &lt; R &lt; 60 Ω (18–26 nm 피치 전 구간)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Ru가 Cu를 이기는 지점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전도 단면적 268 nm² 미만 (≈ CD 12 nm 미만)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MA/cm², 300 h 저항 변화 없음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5CD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절연파괴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FE6D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&gt;9 MV/cm @100 °C, &gt;16 V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857707" y="7810805"/>
            <a:ext cx="90681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FE6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nm 비아 홀이 9 nm 선에 내려앉으면서 스스로 180 nm²로 줌어드는 게 핵심입니다.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83246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imec은 AR=6 Ru 선이 AR=3 대비 선 저항을 약 40% 낮춘다고 보고했습니다.</a:t>
            </a:r>
            <a:endParaRPr lang="en-US" sz="165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8821217"/>
            <a:ext cx="8382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패터닝 조합은 M</a:t>
            </a:r>
            <a:pPr algn="l" indent="0" marL="0">
              <a:buNone/>
            </a:pPr>
            <a:r>
              <a:rPr lang="en-US" sz="1375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pPr algn="l" indent="0" marL="0"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EUV+SADP, M</a:t>
            </a:r>
            <a:pPr algn="l" indent="0" marL="0">
              <a:buNone/>
            </a:pPr>
            <a:r>
              <a:rPr lang="en-US" sz="1375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x+1</a:t>
            </a:r>
            <a:pPr algn="l" indent="0" marL="0">
              <a:buNone/>
            </a:pPr>
            <a:r>
              <a:rPr lang="en-US" sz="1650" dirty="0">
                <a:solidFill>
                  <a:srgbClr val="B9B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비아가 EUV 단일 노광입니다.</a:t>
            </a:r>
            <a:endParaRPr lang="en-US" sz="1650" dirty="0"/>
          </a:p>
        </p:txBody>
      </p:sp>
      <p:pic>
        <p:nvPicPr>
          <p:cNvPr id="13" name="Image 3" descr="gen-dedup-416e1dcc9c8ad232db466e92eec685b5.png">    </p:cNvPr>
          <p:cNvPicPr>
            <a:picLocks noChangeAspect="1"/>
          </p:cNvPicPr>
          <p:nvPr/>
        </p:nvPicPr>
        <p:blipFill>
          <a:blip r:embed="rId4"/>
          <a:srcRect l="-2072" r="-2072" t="0" b="0"/>
          <a:stretch/>
        </p:blipFill>
        <p:spPr>
          <a:xfrm>
            <a:off x="857707" y="9905695"/>
            <a:ext cx="1333195" cy="9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2026-10-03T16:47:53Z</dcterms:created>
  <dcterms:modified xsi:type="dcterms:W3CDTF">2026-10-03T16:47:53Z</dcterms:modified>
</cp:coreProperties>
</file>