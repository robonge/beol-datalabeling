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4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패터닝" id="{b378b669-2055-c21c-21d0-ab0d666544fb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목표 충족률 (%)</c:v>
                </c:pt>
              </c:strCache>
            </c:strRef>
          </c:tx>
          <c:spPr>
            <a:solidFill>
              <a:srgbClr val="00A8D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16 nm</c:v>
                  </c:pt>
                  <c:pt idx="1">
                    <c:v>18 nm</c:v>
                  </c:pt>
                  <c:pt idx="2">
                    <c:v>20 nm</c:v>
                  </c:pt>
                  <c:pt idx="3">
                    <c:v>22 nm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+mn-lt"/>
                  </a:rPr>
                  <a:t>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SP-04b · 패터닝 · 16 nm 피치 · IITC 2025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A8D8"/>
          </a:solidFill>
          <a:ln w="12700">
            <a:solidFill>
              <a:srgbClr val="00A8D8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16 nm 피치 Ru 선 — 기록적 저저항, 수율은 과제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A8D8"/>
                </a:solidFill>
              </a:rPr>
              <a:t>656 Ω/µm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16 nm 피치 평균 선저항 (10 µm, 4단자)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45104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73704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0B8A9"/>
                </a:solidFill>
              </a:rPr>
              <a:t>40%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573704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16 nm 피치 목표 충족 구조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33008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61608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8E72"/>
                </a:solidFill>
              </a:rPr>
              <a:t>&gt;90%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18–22 nm 피치 전 웨이퍼 수율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20911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349511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085B6"/>
                </a:solidFill>
              </a:rPr>
              <a:t>8 nm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349511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로컬 배선 선폭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57600"/>
            <a:ext cx="112772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</a:rPr>
              <a:t>2022년 18 nm 피치 실증 이후 2025 IITC에서 16 nm 피치 Ru 선 — 기록적 저저항.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</a:rPr>
              <a:t>16 nm은 저항 목표 충족률 40%로 수율 과제가 남음 → 조건부.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SP-04b · 패터닝 · 피치별 목표 충족률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피치별 저항 목표 충족 구조 비율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6400800" cy="48463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60350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576072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18–22 NM은 '&gt;90%' 공개값을 90으로 표기.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1280160"/>
            <a:ext cx="4556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16 nm만 40%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1664208"/>
            <a:ext cx="4556455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18–22 nm 피치는 전 웨이퍼 수율 &gt;90% — 공정 창 확보.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16 nm은 8 nm 선폭에서 저항 산포가 커 목표 충족 40%.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조건부 판정: 에칭 CD 균일도와 Ru 입계 제어가 다음 split 변수.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178040" y="5120640"/>
            <a:ext cx="4556455" cy="1005840"/>
          </a:xfrm>
          <a:prstGeom prst="roundRect">
            <a:avLst>
              <a:gd name="adj" fmla="val 14545"/>
            </a:avLst>
          </a:prstGeom>
          <a:solidFill>
            <a:srgbClr val="E6F8F6"/>
          </a:solidFill>
          <a:ln w="12700">
            <a:solidFill>
              <a:srgbClr val="E6F8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0" y="5212080"/>
            <a:ext cx="4282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16 nm 피치는 조건부 — 저항 수준은 달성, 산포가 수율을 가름.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SP-04b · 단면 · 16 nm 피치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FF8E72"/>
          </a:solidFill>
          <a:ln w="12700">
            <a:solidFill>
              <a:srgbClr val="FF8E72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16 nm 피치 Ru 선 — 에칭 후 단면과 광역 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501488" cy="2962656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pic>
        <p:nvPicPr>
          <p:cNvPr id="6" name="Image 0" descr="/tmp/claude-0/-home-claude/e70767da-955c-5cc3-beb4-741bbeefa4c6/scratchpad/img/mp16_post_etc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318608" cy="2468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3895344"/>
            <a:ext cx="528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 RU ETCH · 20 NM SCALE · © IMEC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233008" y="1280160"/>
            <a:ext cx="5501488" cy="2962656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pic>
        <p:nvPicPr>
          <p:cNvPr id="9" name="Image 1" descr="/tmp/claude-0/-home-claude/e70767da-955c-5cc3-beb4-741bbeefa4c6/scratchpad/img/mp16_zoom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4448" y="1371600"/>
            <a:ext cx="5318608" cy="24688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342736" y="3895344"/>
            <a:ext cx="528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WIDE-FIELD STEM · 200 NM SCALE · © IMEC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526280"/>
            <a:ext cx="2636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A8D8"/>
                </a:solidFill>
              </a:rPr>
              <a:t>8 nm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5001768"/>
            <a:ext cx="26364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선폭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3276524" y="4526280"/>
            <a:ext cx="2636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B8A9"/>
                </a:solidFill>
              </a:rPr>
              <a:t>16 nm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3276524" y="5001768"/>
            <a:ext cx="26364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피치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6095848" y="4526280"/>
            <a:ext cx="2636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8E72"/>
                </a:solidFill>
              </a:rPr>
              <a:t>656 Ω/µm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6095848" y="5001768"/>
            <a:ext cx="26364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평균 선저항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8915171" y="4526280"/>
            <a:ext cx="2636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85B6"/>
                </a:solidFill>
              </a:rPr>
              <a:t>40%</a:t>
            </a:r>
            <a:endParaRPr lang="en-US" sz="2600" dirty="0"/>
          </a:p>
        </p:txBody>
      </p:sp>
      <p:sp>
        <p:nvSpPr>
          <p:cNvPr id="18" name="Text 14"/>
          <p:cNvSpPr txBox="1"/>
          <p:nvPr/>
        </p:nvSpPr>
        <p:spPr>
          <a:xfrm>
            <a:off x="8915171" y="5001768"/>
            <a:ext cx="26364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목표 충족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cyan">
  <a:themeElements>
    <a:clrScheme name="Turquoise DS cyan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A8D8"/>
      </a:accent1>
      <a:accent2>
        <a:srgbClr val="00B8A9"/>
      </a:accent2>
      <a:accent3>
        <a:srgbClr val="FF8E72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cyan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 nm 피치 Ru 선 저항·수율</dc:title>
  <dc:subject>PptxGenJS Presentation</dc:subject>
  <dc:creator>공정 AI팀</dc:creator>
  <cp:lastModifiedBy>공정 AI팀</cp:lastModifiedBy>
  <cp:revision>1</cp:revision>
  <dcterms:created xsi:type="dcterms:W3CDTF">2026-10-03T16:10:13Z</dcterms:created>
  <dcterms:modified xsi:type="dcterms:W3CDTF">2026-10-03T16:10:13Z</dcterms:modified>
</cp:coreProperties>
</file>