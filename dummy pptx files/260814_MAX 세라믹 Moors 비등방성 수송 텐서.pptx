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좌측에 MAX 세라믹 제목과 0.6×10⁻¹⁶ Ω·m² 인용문, 두 단락. 우측에 TSMC 5nm 인터커넥트 단면 TEM 사진과 1줄 출처.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좌측 imec 16nm Ru semi-damascene 사진과 MAX 상 지표 텍스트. 우측 IBM Cu BEOL 사진과 Ru 거동 텍스트. 사진마다 1줄 출처.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스크리닝과 패턴, holy grail 핵심 수치를 한 슬라이드에 정리. 좌측에 imec 18nm 사진, 후보/패턴/자기정렬 해설. 우측 상단에 12행 표, 하단에 자기정렬과 패터닝 조합 해설.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2.png"/><Relationship Id="rId5" Type="http://schemas.openxmlformats.org/officeDocument/2006/relationships/image" Target="../media/image-1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1.png"/><Relationship Id="rId5" Type="http://schemas.openxmlformats.org/officeDocument/2006/relationships/image" Target="../media/image-2-5.jpeg"/><Relationship Id="rId6" Type="http://schemas.openxmlformats.org/officeDocument/2006/relationships/image" Target="../media/image-2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63ddf41dcb35d675433763aac85590c3.png">    </p:cNvPr>
          <p:cNvPicPr>
            <a:picLocks noChangeAspect="1"/>
          </p:cNvPicPr>
          <p:nvPr/>
        </p:nvPicPr>
        <p:blipFill>
          <a:blip r:embed="rId1"/>
          <a:srcRect l="0" r="0" t="-80" b="-80"/>
          <a:stretch/>
        </p:blipFill>
        <p:spPr>
          <a:xfrm>
            <a:off x="0" y="0"/>
            <a:ext cx="95098" cy="10287000"/>
          </a:xfrm>
          <a:prstGeom prst="rect">
            <a:avLst/>
          </a:prstGeom>
        </p:spPr>
      </p:pic>
      <p:pic>
        <p:nvPicPr>
          <p:cNvPr id="4" name="Image 1" descr="gen-dedup-8d0ff3993c86b95904a676894f336cb2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571500" y="571500"/>
            <a:ext cx="15811805" cy="9144"/>
          </a:xfrm>
          <a:prstGeom prst="rect">
            <a:avLst/>
          </a:prstGeom>
        </p:spPr>
      </p:pic>
      <p:pic>
        <p:nvPicPr>
          <p:cNvPr id="5" name="Image 2" descr="gen-dedup-d69deb34a735f0bc1581f272ee27ff7d.png">    </p:cNvPr>
          <p:cNvPicPr>
            <a:picLocks noChangeAspect="1"/>
          </p:cNvPicPr>
          <p:nvPr/>
        </p:nvPicPr>
        <p:blipFill>
          <a:blip r:embed="rId3"/>
          <a:srcRect l="-2061" r="-2061" t="0" b="0"/>
          <a:stretch/>
        </p:blipFill>
        <p:spPr>
          <a:xfrm>
            <a:off x="11239805" y="8382305"/>
            <a:ext cx="761695" cy="9144"/>
          </a:xfrm>
          <a:prstGeom prst="rect">
            <a:avLst/>
          </a:prstGeom>
        </p:spPr>
      </p:pic>
      <p:pic>
        <p:nvPicPr>
          <p:cNvPr id="6" name="Image 3" descr="gen-dedup-8d0ff3993c86b95904a676894f336cb2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571500" y="9905695"/>
            <a:ext cx="16192195" cy="9144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571500" y="523951"/>
            <a:ext cx="75895" cy="75895"/>
          </a:xfrm>
          <a:prstGeom prst="ellipse">
            <a:avLst/>
          </a:prstGeom>
          <a:solidFill>
            <a:srgbClr val="B557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4" descr="gen-dedup-1f5cd5b1dbf75a7544bd2910fc4615aa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805" y="857707"/>
            <a:ext cx="6476695" cy="7429500"/>
          </a:xfrm>
          <a:prstGeom prst="rect">
            <a:avLst/>
          </a:prstGeom>
        </p:spPr>
      </p:pic>
      <p:sp>
        <p:nvSpPr>
          <p:cNvPr id="9" name="Text 1"/>
          <p:cNvSpPr txBox="1"/>
          <p:nvPr/>
        </p:nvSpPr>
        <p:spPr>
          <a:xfrm>
            <a:off x="571500" y="857707"/>
            <a:ext cx="10478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83" kern="0" dirty="0">
                <a:solidFill>
                  <a:srgbClr val="B557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이론상 Cu보다 5–11배 좋은 지표</a:t>
            </a:r>
            <a:endParaRPr lang="en-US" sz="1650" dirty="0"/>
          </a:p>
        </p:txBody>
      </p:sp>
      <p:sp>
        <p:nvSpPr>
          <p:cNvPr id="10" name="Text 2"/>
          <p:cNvSpPr txBox="1"/>
          <p:nvPr/>
        </p:nvSpPr>
        <p:spPr>
          <a:xfrm>
            <a:off x="571500" y="1333195"/>
            <a:ext cx="10478110" cy="1905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0" b="1" spc="-300" kern="0" dirty="0">
                <a:solidFill>
                  <a:srgbClr val="1F282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MAX </a:t>
            </a:r>
            <a:pPr algn="l" indent="0" marL="0">
              <a:buNone/>
            </a:pPr>
            <a:r>
              <a:rPr lang="en-US" sz="15000" b="1" spc="-300" kern="0" dirty="0">
                <a:solidFill>
                  <a:srgbClr val="B5572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세라믹</a:t>
            </a:r>
            <a:endParaRPr lang="en-US" sz="15000" dirty="0"/>
          </a:p>
        </p:txBody>
      </p:sp>
      <p:sp>
        <p:nvSpPr>
          <p:cNvPr id="11" name="Text 3"/>
          <p:cNvSpPr txBox="1"/>
          <p:nvPr/>
        </p:nvSpPr>
        <p:spPr>
          <a:xfrm>
            <a:off x="571500" y="3619195"/>
            <a:ext cx="104781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3A40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"0.6×10⁻¹⁶ Ω·m² — Cu의 1/11입니다"</a:t>
            </a:r>
            <a:endParaRPr lang="en-US" sz="3000" dirty="0"/>
          </a:p>
        </p:txBody>
      </p:sp>
      <p:sp>
        <p:nvSpPr>
          <p:cNvPr id="12" name="Text 4"/>
          <p:cNvSpPr txBox="1"/>
          <p:nvPr/>
        </p:nvSpPr>
        <p:spPr>
          <a:xfrm>
            <a:off x="571500" y="4858207"/>
            <a:ext cx="102870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1F28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Sankaran은 MAX 상 170개를 전자구조 계산으로 걸렀고, 그중 69개 안정상이 Cu보다 높은 응집에너지와 낮은 ρ₀·λ를 동시에 가졌으며, 24개는 Ru보다도 좋았습니다. 다만 이들은 아직 박막 증착·에칭 실증이 없는 계산 단계입니다.</a:t>
            </a:r>
            <a:endParaRPr lang="en-US" sz="1575" dirty="0"/>
          </a:p>
        </p:txBody>
      </p:sp>
      <p:sp>
        <p:nvSpPr>
          <p:cNvPr id="13" name="Text 5"/>
          <p:cNvSpPr txBox="1"/>
          <p:nvPr/>
        </p:nvSpPr>
        <p:spPr>
          <a:xfrm>
            <a:off x="571500" y="7239305"/>
            <a:ext cx="10287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6E6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Moors는 여기서 한 발 더 나가, 비등방성 금속을 스칼라 ρ₀λ로 줄이면 잘못된 순위가 나온다고 지적하고 유한온도 수송 텐서를 제안했습니다.</a:t>
            </a:r>
            <a:endParaRPr lang="en-US" sz="1500" dirty="0"/>
          </a:p>
        </p:txBody>
      </p:sp>
      <p:sp>
        <p:nvSpPr>
          <p:cNvPr id="14" name="Text 6"/>
          <p:cNvSpPr txBox="1"/>
          <p:nvPr/>
        </p:nvSpPr>
        <p:spPr>
          <a:xfrm>
            <a:off x="11239805" y="8553298"/>
            <a:ext cx="6477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Semiconductor Digest · Intel 4 Cu interconnect cross section</a:t>
            </a:r>
            <a:endParaRPr lang="en-US" sz="1050" dirty="0"/>
          </a:p>
        </p:txBody>
      </p:sp>
      <p:sp>
        <p:nvSpPr>
          <p:cNvPr id="15" name="Text 7"/>
          <p:cNvSpPr txBox="1"/>
          <p:nvPr/>
        </p:nvSpPr>
        <p:spPr>
          <a:xfrm>
            <a:off x="571500" y="10019995"/>
            <a:ext cx="10478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dummy set 16 · slide 01 of 03 · 표지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8d0ff3993c86b95904a676894f336cb2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571500" y="666598"/>
            <a:ext cx="17145000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1500" y="523951"/>
            <a:ext cx="95098" cy="95098"/>
          </a:xfrm>
          <a:prstGeom prst="rect">
            <a:avLst/>
          </a:prstGeom>
          <a:solidFill>
            <a:srgbClr val="B557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0327a002232741aca8ad08a514c6559f.png">    </p:cNvPr>
          <p:cNvPicPr>
            <a:picLocks noChangeAspect="1"/>
          </p:cNvPicPr>
          <p:nvPr/>
        </p:nvPicPr>
        <p:blipFill>
          <a:blip r:embed="rId2"/>
          <a:srcRect l="0" r="0" t="-408" b="-408"/>
          <a:stretch/>
        </p:blipFill>
        <p:spPr>
          <a:xfrm>
            <a:off x="571500" y="2286000"/>
            <a:ext cx="1904695" cy="19202"/>
          </a:xfrm>
          <a:prstGeom prst="rect">
            <a:avLst/>
          </a:prstGeom>
        </p:spPr>
      </p:pic>
      <p:pic>
        <p:nvPicPr>
          <p:cNvPr id="6" name="Image 2" descr="gen-dedup-080a7418a5ccedd4a7a789d9559e0f21.png">    </p:cNvPr>
          <p:cNvPicPr>
            <a:picLocks noChangeAspect="1"/>
          </p:cNvPicPr>
          <p:nvPr/>
        </p:nvPicPr>
        <p:blipFill>
          <a:blip r:embed="rId3"/>
          <a:srcRect l="0" r="0" t="-2083" b="-2083"/>
          <a:stretch/>
        </p:blipFill>
        <p:spPr>
          <a:xfrm>
            <a:off x="9239098" y="2667305"/>
            <a:ext cx="9144" cy="7048195"/>
          </a:xfrm>
          <a:prstGeom prst="rect">
            <a:avLst/>
          </a:prstGeom>
        </p:spPr>
      </p:pic>
      <p:pic>
        <p:nvPicPr>
          <p:cNvPr id="7" name="Image 3" descr="gen-dedup-8d0ff3993c86b95904a676894f336cb2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571500" y="9905695"/>
            <a:ext cx="17145000" cy="9144"/>
          </a:xfrm>
          <a:prstGeom prst="rect">
            <a:avLst/>
          </a:prstGeom>
        </p:spPr>
      </p:pic>
      <p:pic>
        <p:nvPicPr>
          <p:cNvPr id="8" name="Image 4" descr="gen-dedup-ec55e73ba8a0804d17f1de91136cce18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67305"/>
            <a:ext cx="8382305" cy="2667305"/>
          </a:xfrm>
          <a:prstGeom prst="rect">
            <a:avLst/>
          </a:prstGeom>
        </p:spPr>
      </p:pic>
      <p:pic>
        <p:nvPicPr>
          <p:cNvPr id="9" name="Image 5" descr="gen-dedup-20568dc93c10abc8f31b08a47a9eb19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0207" y="2667305"/>
            <a:ext cx="8287207" cy="2667305"/>
          </a:xfrm>
          <a:prstGeom prst="rect">
            <a:avLst/>
          </a:prstGeom>
        </p:spPr>
      </p:pic>
      <p:sp>
        <p:nvSpPr>
          <p:cNvPr id="10" name="Text 1"/>
          <p:cNvSpPr txBox="1"/>
          <p:nvPr/>
        </p:nvSpPr>
        <p:spPr>
          <a:xfrm>
            <a:off x="571500" y="914400"/>
            <a:ext cx="1714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1F282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MAX 세라믹: 이론상 Cu보다 5–11배 좋은 지표</a:t>
            </a:r>
            <a:endParaRPr lang="en-US" sz="4050" dirty="0"/>
          </a:p>
        </p:txBody>
      </p:sp>
      <p:sp>
        <p:nvSpPr>
          <p:cNvPr id="11" name="Text 2"/>
          <p:cNvSpPr txBox="1"/>
          <p:nvPr/>
        </p:nvSpPr>
        <p:spPr>
          <a:xfrm>
            <a:off x="571500" y="1619402"/>
            <a:ext cx="17145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8C3F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Ru의 복병: 열처리가 선을 원통형으로 만든다</a:t>
            </a:r>
            <a:endParaRPr lang="en-US" sz="2250" dirty="0"/>
          </a:p>
        </p:txBody>
      </p:sp>
      <p:sp>
        <p:nvSpPr>
          <p:cNvPr id="12" name="Text 3"/>
          <p:cNvSpPr txBox="1"/>
          <p:nvPr/>
        </p:nvSpPr>
        <p:spPr>
          <a:xfrm>
            <a:off x="571500" y="5410505"/>
            <a:ext cx="8382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imec · 16nm Ru lines using semi-damascene integration approach</a:t>
            </a:r>
            <a:endParaRPr lang="en-US" sz="1050" dirty="0"/>
          </a:p>
        </p:txBody>
      </p:sp>
      <p:sp>
        <p:nvSpPr>
          <p:cNvPr id="13" name="Text 4"/>
          <p:cNvSpPr txBox="1"/>
          <p:nvPr/>
        </p:nvSpPr>
        <p:spPr>
          <a:xfrm>
            <a:off x="571500" y="5810098"/>
            <a:ext cx="8382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1B384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MAX 상 — 계산 단계의 후보 지표</a:t>
            </a:r>
            <a:endParaRPr lang="en-US" sz="1800" dirty="0"/>
          </a:p>
        </p:txBody>
      </p:sp>
      <p:sp>
        <p:nvSpPr>
          <p:cNvPr id="14" name="Text 5"/>
          <p:cNvSpPr txBox="1"/>
          <p:nvPr/>
        </p:nvSpPr>
        <p:spPr>
          <a:xfrm>
            <a:off x="571500" y="6286500"/>
            <a:ext cx="83823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1F28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Sankaran은 MAX 상 170개를 전자구조 계산으로 걸렀고, 그중 69개 안정상이 Cu보다 높은 응집에너지와 낮은 ρ₀·λ를 동시에 가졌으며, 24개는 Ru보다도 좋았습니다. 최저값은 β-Ti₄InN₃의 0.6×10⁻¹⁶ Ω·m² — Cu의 1/11입니다. 다만 이들은 아직 박막 증착·에칭 실증이 없는 계산 단계입니다.</a:t>
            </a:r>
            <a:endParaRPr lang="en-US" sz="1425" dirty="0"/>
          </a:p>
        </p:txBody>
      </p:sp>
      <p:sp>
        <p:nvSpPr>
          <p:cNvPr id="15" name="Text 6"/>
          <p:cNvSpPr txBox="1"/>
          <p:nvPr/>
        </p:nvSpPr>
        <p:spPr>
          <a:xfrm>
            <a:off x="571500" y="8382305"/>
            <a:ext cx="83823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F28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Moors는 여기서 한 발 더 나가, 비등방성 금속을 스칼라 ρ₀λ로 줄이면 잘못된 순위가 나온다고 지적하고 유한온도 수송 텐서를 제안했습니다. 결정계에 따라 독립 성분 수가 입방정 1개에서 삼사정 9개까지 달라지고, 300 K 계산 결과 Ru는 전 방향, V₂AlC는 면내 방향, MoPt는 x·y 방향에서 Cu를 능가할 여지가 있다고 봤습니다.</a:t>
            </a:r>
            <a:endParaRPr lang="en-US" sz="1350" dirty="0"/>
          </a:p>
        </p:txBody>
      </p:sp>
      <p:sp>
        <p:nvSpPr>
          <p:cNvPr id="16" name="Text 7"/>
          <p:cNvSpPr txBox="1"/>
          <p:nvPr/>
        </p:nvSpPr>
        <p:spPr>
          <a:xfrm>
            <a:off x="9430207" y="5410505"/>
            <a:ext cx="82872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IBM Research · "Copper evolution and beyond"</a:t>
            </a:r>
            <a:endParaRPr lang="en-US" sz="1050" dirty="0"/>
          </a:p>
        </p:txBody>
      </p:sp>
      <p:sp>
        <p:nvSpPr>
          <p:cNvPr id="17" name="Text 8"/>
          <p:cNvSpPr txBox="1"/>
          <p:nvPr/>
        </p:nvSpPr>
        <p:spPr>
          <a:xfrm>
            <a:off x="9430207" y="5810098"/>
            <a:ext cx="8287207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8C3F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Ru — 원통화, 자기확산, 전자이동 내성</a:t>
            </a:r>
            <a:endParaRPr lang="en-US" sz="1800" dirty="0"/>
          </a:p>
        </p:txBody>
      </p:sp>
      <p:sp>
        <p:nvSpPr>
          <p:cNvPr id="18" name="Text 9"/>
          <p:cNvSpPr txBox="1"/>
          <p:nvPr/>
        </p:nvSpPr>
        <p:spPr>
          <a:xfrm>
            <a:off x="9430207" y="6286500"/>
            <a:ext cx="8287207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F28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18–22 nm 피치 Ru 배선을 300 mm 웨이퍼에서 열처리했더니 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F28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 저항이 10% 떨어지면서 시단면이 원통형으로 변형(cylinderization)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F28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하고, 웨이퍼 전역에서 다중 단락이 나타났습니다. 원인은 입계 모서리에서 시작된 면간 자기확산 — Ru(0002) 면의 원자가 측벽면 Ru(1̅0̅0)·Ru(11̅20)으로 옮겨가 쌓입니다. 420 °C에서 Ru 벌크 확산계수는 1.83×10⁻⁴³ m²/s에 불과하지만, 특정 원자 배열은 이를 크게 올립니다. 동일 그룹의 IITC 2025 발표는 명목 선폭 10 nm Ru 선을 325·420·650 °C에서 최대 5시간 열처리했을 때 온도가 올라갈수록 원통화가 심해졌다고 보고합니다.</a:t>
            </a:r>
            <a:endParaRPr lang="en-US" sz="1275" dirty="0"/>
          </a:p>
        </p:txBody>
      </p:sp>
      <p:sp>
        <p:nvSpPr>
          <p:cNvPr id="19" name="Text 10"/>
          <p:cNvSpPr txBox="1"/>
          <p:nvPr/>
        </p:nvSpPr>
        <p:spPr>
          <a:xfrm>
            <a:off x="9430207" y="8382305"/>
            <a:ext cx="8287207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F28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반면 Ru의 전자이동 내성은 뛰어납니다. 21 nm 피치 무배리어 Ru는 30 MA/cm² 초과에서도 고장을 유도하지 못했고, 150–200 MA/cm²까지 올려 자기발열 ~260 °C에 도달해서야 고장이 나왔습니다. Mo–Ru 하이브리드 구조는 330 °C, 5 MA/cm²에서 600시간 이상 무고장입니다. Cu 장배선의 활성화에너지가 라이너 종류에 따라 0.80–1.05 eV 구간에 흔터지는 것과 대조됩니다(TaN/Co 0.84·1.02–1.05 eV, TaN/Ru 0.94–0.98 eV).</a:t>
            </a:r>
            <a:endParaRPr lang="en-US" sz="1275" dirty="0"/>
          </a:p>
        </p:txBody>
      </p:sp>
      <p:sp>
        <p:nvSpPr>
          <p:cNvPr id="20" name="Text 11"/>
          <p:cNvSpPr txBox="1"/>
          <p:nvPr/>
        </p:nvSpPr>
        <p:spPr>
          <a:xfrm>
            <a:off x="571500" y="10019995"/>
            <a:ext cx="10478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dummy set 16 · slide 02 of 03 · 후보와 실제 거동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63ddf41dcb35d675433763aac85590c3.png">    </p:cNvPr>
          <p:cNvPicPr>
            <a:picLocks noChangeAspect="1"/>
          </p:cNvPicPr>
          <p:nvPr/>
        </p:nvPicPr>
        <p:blipFill>
          <a:blip r:embed="rId1"/>
          <a:srcRect l="0" r="0" t="-80" b="-80"/>
          <a:stretch/>
        </p:blipFill>
        <p:spPr>
          <a:xfrm>
            <a:off x="0" y="0"/>
            <a:ext cx="95098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667805" y="2476195"/>
            <a:ext cx="11048695" cy="5238598"/>
          </a:xfrm>
          <a:prstGeom prst="rect">
            <a:avLst/>
          </a:prstGeom>
          <a:solidFill>
            <a:srgbClr val="F4EC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ff06e9ea52eac3a52baba800ddb12bce.png">    </p:cNvPr>
          <p:cNvPicPr>
            <a:picLocks noChangeAspect="1"/>
          </p:cNvPicPr>
          <p:nvPr/>
        </p:nvPicPr>
        <p:blipFill>
          <a:blip r:embed="rId2"/>
          <a:srcRect l="0" r="0" t="-390" b="-390"/>
          <a:stretch/>
        </p:blipFill>
        <p:spPr>
          <a:xfrm>
            <a:off x="571500" y="2190902"/>
            <a:ext cx="1524305" cy="19202"/>
          </a:xfrm>
          <a:prstGeom prst="rect">
            <a:avLst/>
          </a:prstGeom>
        </p:spPr>
      </p:pic>
      <p:pic>
        <p:nvPicPr>
          <p:cNvPr id="6" name="Image 2" descr="gen-dedup-b3da3eeab7242033f9d124166d531e83.png">    </p:cNvPr>
          <p:cNvPicPr>
            <a:picLocks noChangeAspect="1"/>
          </p:cNvPicPr>
          <p:nvPr/>
        </p:nvPicPr>
        <p:blipFill>
          <a:blip r:embed="rId3"/>
          <a:srcRect l="0" r="0" t="-2083" b="-2083"/>
          <a:stretch/>
        </p:blipFill>
        <p:spPr>
          <a:xfrm>
            <a:off x="6476695" y="2476195"/>
            <a:ext cx="9144" cy="7239305"/>
          </a:xfrm>
          <a:prstGeom prst="rect">
            <a:avLst/>
          </a:prstGeom>
        </p:spPr>
      </p:pic>
      <p:pic>
        <p:nvPicPr>
          <p:cNvPr id="7" name="Image 3" descr="gen-dedup-8d0ff3993c86b95904a676894f336cb2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571500" y="9905695"/>
            <a:ext cx="17145000" cy="9144"/>
          </a:xfrm>
          <a:prstGeom prst="rect">
            <a:avLst/>
          </a:prstGeom>
        </p:spPr>
      </p:pic>
      <p:pic>
        <p:nvPicPr>
          <p:cNvPr id="8" name="Image 4" descr="gen-dedup-1197b7feee47653134b50231cab34da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76195"/>
            <a:ext cx="5524805" cy="2286000"/>
          </a:xfrm>
          <a:prstGeom prst="rect">
            <a:avLst/>
          </a:prstGeom>
        </p:spPr>
      </p:pic>
      <p:sp>
        <p:nvSpPr>
          <p:cNvPr id="9" name="Text 1"/>
          <p:cNvSpPr txBox="1"/>
          <p:nvPr/>
        </p:nvSpPr>
        <p:spPr>
          <a:xfrm>
            <a:off x="571500" y="761695"/>
            <a:ext cx="1619311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b="1" spc="-37" kern="0" dirty="0">
                <a:solidFill>
                  <a:srgbClr val="1F282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이것이 유명한 "holy grail" 논문입니다. 핵심 수치</a:t>
            </a:r>
            <a:endParaRPr lang="en-US" sz="3750" dirty="0"/>
          </a:p>
        </p:txBody>
      </p:sp>
      <p:sp>
        <p:nvSpPr>
          <p:cNvPr id="10" name="Text 2"/>
          <p:cNvSpPr txBox="1"/>
          <p:nvPr/>
        </p:nvSpPr>
        <p:spPr>
          <a:xfrm>
            <a:off x="571500" y="1447495"/>
            <a:ext cx="16193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Soulié et al., J. Appl. Phys. 136, 171101 (2024) Table II·III와 Sankaran et al., Phys. Rev. Mater. 5, 056002 (2021)의 계산값을 합쳐 재작도</a:t>
            </a:r>
            <a:endParaRPr lang="en-US" sz="1200" dirty="0"/>
          </a:p>
        </p:txBody>
      </p:sp>
      <p:sp>
        <p:nvSpPr>
          <p:cNvPr id="11" name="Text 3"/>
          <p:cNvSpPr txBox="1"/>
          <p:nvPr/>
        </p:nvSpPr>
        <p:spPr>
          <a:xfrm>
            <a:off x="571500" y="1733702"/>
            <a:ext cx="16193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Soulié et al., J. Appl. Phys. 136, 171101 (2024) Table II·III와 Sankaran et al., Phys. Rev. Mater. 5, 056002 (2021)의 계산값을 합쳐 재작도</a:t>
            </a:r>
            <a:endParaRPr lang="en-US" sz="1200" dirty="0"/>
          </a:p>
        </p:txBody>
      </p:sp>
      <p:sp>
        <p:nvSpPr>
          <p:cNvPr id="12" name="Text 4"/>
          <p:cNvSpPr txBox="1"/>
          <p:nvPr/>
        </p:nvSpPr>
        <p:spPr>
          <a:xfrm>
            <a:off x="571500" y="4839005"/>
            <a:ext cx="565190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imec · semi-damascene with fully self-aligned vias at 18nm pitch</a:t>
            </a:r>
            <a:endParaRPr lang="en-US" sz="1050" dirty="0"/>
          </a:p>
        </p:txBody>
      </p:sp>
      <p:sp>
        <p:nvSpPr>
          <p:cNvPr id="13" name="Text 5"/>
          <p:cNvSpPr txBox="1"/>
          <p:nvPr/>
        </p:nvSpPr>
        <p:spPr>
          <a:xfrm>
            <a:off x="571500" y="5333695"/>
            <a:ext cx="5524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384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스크리닝 지표로 본 후보군</a:t>
            </a:r>
            <a:endParaRPr lang="en-US" sz="1650" dirty="0"/>
          </a:p>
        </p:txBody>
      </p:sp>
      <p:sp>
        <p:nvSpPr>
          <p:cNvPr id="14" name="Text 6"/>
          <p:cNvSpPr txBox="1"/>
          <p:nvPr/>
        </p:nvSpPr>
        <p:spPr>
          <a:xfrm>
            <a:off x="571500" y="5810098"/>
            <a:ext cx="55248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F28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 상이 계산상 가장 낮지만 아직 증착·에칭 실증이 없습니다. 실제로 300 mm 웨이퍼에서 돌아간 건 Ru, Mo, 그리고 Al 기반 금속간화합물뿐입니다.</a:t>
            </a:r>
            <a:endParaRPr lang="en-US" sz="1275" dirty="0"/>
          </a:p>
        </p:txBody>
      </p:sp>
      <p:sp>
        <p:nvSpPr>
          <p:cNvPr id="15" name="Text 7"/>
          <p:cNvSpPr txBox="1"/>
          <p:nvPr/>
        </p:nvSpPr>
        <p:spPr>
          <a:xfrm>
            <a:off x="571500" y="7048195"/>
            <a:ext cx="5524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84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패터닝·집적: 다마신을 버리고 금속을 직접 긎는다</a:t>
            </a:r>
            <a:endParaRPr lang="en-US" sz="1500" dirty="0"/>
          </a:p>
        </p:txBody>
      </p:sp>
      <p:sp>
        <p:nvSpPr>
          <p:cNvPr id="16" name="Text 8"/>
          <p:cNvSpPr txBox="1"/>
          <p:nvPr/>
        </p:nvSpPr>
        <p:spPr>
          <a:xfrm>
            <a:off x="571500" y="7524598"/>
            <a:ext cx="5524805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F28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semi-damascene은 도랑을 파고 금속을 채우는 대신 금속을 먼저 깔고 직접 에칭합니다. 그 결과 배리어가 필요 없고, CMP가 제한하던 종횡비(AR)를 올릴 수 있습니다. 기존 Cu 다마신 선의 AR은 대략 1.6, semi-damascene은 1세대 2 → 2세대 3 → 이후 4, 5, 6으로 올리는 5세대 로드맵입니다. imec은 AR=6 Ru 선이 AR=3 대비 선 저항을 약 40% 낮춘다고 보고했습니다.</a:t>
            </a:r>
            <a:endParaRPr lang="en-US" sz="1125" dirty="0"/>
          </a:p>
        </p:txBody>
      </p:sp>
      <p:sp>
        <p:nvSpPr>
          <p:cNvPr id="17" name="Text 9"/>
          <p:cNvSpPr txBox="1"/>
          <p:nvPr/>
        </p:nvSpPr>
        <p:spPr>
          <a:xfrm>
            <a:off x="571500" y="9620402"/>
            <a:ext cx="5524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6E6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 nm 피치 2소재 완전 자기정렬 비아(Murdoch, VLSI 2022)</a:t>
            </a:r>
            <a:endParaRPr lang="en-US" sz="975" dirty="0"/>
          </a:p>
        </p:txBody>
      </p:sp>
      <p:sp>
        <p:nvSpPr>
          <p:cNvPr id="18" name="Text 10"/>
          <p:cNvSpPr txBox="1"/>
          <p:nvPr/>
        </p:nvSpPr>
        <p:spPr>
          <a:xfrm>
            <a:off x="6858000" y="2609698"/>
            <a:ext cx="10287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spc="51" kern="0" dirty="0">
                <a:solidFill>
                  <a:srgbClr val="1F28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수치</a:t>
            </a:r>
            <a:endParaRPr lang="en-US" sz="127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2952598"/>
          <a:ext cx="10668305" cy="3915461"/>
        </p:xfrm>
        <a:graphic>
          <a:graphicData uri="http://schemas.openxmlformats.org/drawingml/2006/table">
            <a:tbl>
              <a:tblPr/>
              <a:tblGrid>
                <a:gridCol w="3413455"/>
                <a:gridCol w="7253935"/>
              </a:tblGrid>
              <a:tr h="326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ECE3D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85954" marB="85954" anchor="t">
                    <a:lnL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ECE3D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값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85954" marB="85954" anchor="t">
                    <a:lnL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26"/>
                    </a:solidFill>
                  </a:tcPr>
                </a:tc>
              </a:tr>
              <a:tr h="326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3F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금속 피치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26 → 18 nm (2소재 실증)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3F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선폭(CD)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9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 nm, PVD Ru 30 nm → AR ≈ 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98C">
                        <a:alpha val="10000"/>
                      </a:srgbClr>
                    </a:solidFill>
                  </a:tcPr>
                </a:tc>
              </a:tr>
              <a:tr h="326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3F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전도 단면적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명목 270 nm² / 전기적 250 nm² / 물리적 257 nm²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3F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EUV 비아 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9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최소 20 nm → 접촉면적 180 nm²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98C">
                        <a:alpha val="10000"/>
                      </a:srgbClr>
                    </a:solidFill>
                  </a:tcPr>
                </a:tc>
              </a:tr>
              <a:tr h="326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3F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비아 저항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 Ω &lt; R &lt; 60 Ω (18–26 nm 피치 전 구간)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3F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Ru 저항률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9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에칭 후 13–15 µΩ·cm, 420 °C 열처리 후 14–15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98C">
                        <a:alpha val="10000"/>
                      </a:srgbClr>
                    </a:solidFill>
                  </a:tcPr>
                </a:tc>
              </a:tr>
              <a:tr h="326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3F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Ru가 Cu를 이기는 지점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전도 단면적 268 nm² 미만 (≈ CD 12 nm 미만)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3F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정렬 허용도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9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의도적 오정렬 ±5 nm까지 비아 저항 유지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98C">
                        <a:alpha val="10000"/>
                      </a:srgbClr>
                    </a:solidFill>
                  </a:tcPr>
                </a:tc>
              </a:tr>
              <a:tr h="326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3F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절연파괴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&gt;9 MV/cm @100 °C, 26 nm 피치에서 &gt;16 V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3F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EM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9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 MA/cm², 300 h 저항 변화 없음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98C">
                        <a:alpha val="10000"/>
                      </a:srgbClr>
                    </a:solidFill>
                  </a:tcPr>
                </a:tc>
              </a:tr>
              <a:tr h="326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C3F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열저장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200 °C, 120 h 저항·수율 손실 없음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57607" marB="57607" anchor="t">
                    <a:lnL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A9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1"/>
          <p:cNvSpPr txBox="1"/>
          <p:nvPr/>
        </p:nvSpPr>
        <p:spPr>
          <a:xfrm>
            <a:off x="6667805" y="7905902"/>
            <a:ext cx="11239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8C3F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"완전 자기정렬"</a:t>
            </a:r>
            <a:endParaRPr lang="en-US" sz="1350" dirty="0"/>
          </a:p>
        </p:txBody>
      </p:sp>
      <p:sp>
        <p:nvSpPr>
          <p:cNvPr id="21" name="Text 12"/>
          <p:cNvSpPr txBox="1"/>
          <p:nvPr/>
        </p:nvSpPr>
        <p:spPr>
          <a:xfrm>
            <a:off x="6667805" y="8229600"/>
            <a:ext cx="11239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F28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"완전 자기정렬"은 두 번 정렬된다는 뜻입니다. 아래쪽은 Ru 선 위에 남은 SiN 캐핑 안에서 고선택비 가스에칭으로 비아를 뚫어 SiO₂ 걡필을 건드리지 않고, 위쪽은 Ru 과에칭으로 상부 선 가장자에 맞춥니다. 20 nm 비아 홀이 9 nm 선에 내려앉으면서 스스로 180 nm²로 줌어드는 게 핵심입니다.</a:t>
            </a:r>
            <a:endParaRPr lang="en-US" sz="1125" dirty="0"/>
          </a:p>
        </p:txBody>
      </p:sp>
      <p:sp>
        <p:nvSpPr>
          <p:cNvPr id="22" name="Text 13"/>
          <p:cNvSpPr txBox="1"/>
          <p:nvPr/>
        </p:nvSpPr>
        <p:spPr>
          <a:xfrm>
            <a:off x="6667805" y="8791956"/>
            <a:ext cx="11239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8C3F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패터닝 조합</a:t>
            </a:r>
            <a:endParaRPr lang="en-US" sz="1350" dirty="0"/>
          </a:p>
        </p:txBody>
      </p:sp>
      <p:sp>
        <p:nvSpPr>
          <p:cNvPr id="23" name="Text 14"/>
          <p:cNvSpPr txBox="1"/>
          <p:nvPr/>
        </p:nvSpPr>
        <p:spPr>
          <a:xfrm>
            <a:off x="6667805" y="9096451"/>
            <a:ext cx="11239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F28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패터닝 조합은 Mx가 EUV+SADP, Mx+1과 비아가 EUV 단일 노광입니다. 상부 금속은 정전용량 증가를 상쇄하려고 에어갭과 조합합니다.</a:t>
            </a:r>
            <a:endParaRPr lang="en-US" sz="1125" dirty="0"/>
          </a:p>
        </p:txBody>
      </p:sp>
      <p:sp>
        <p:nvSpPr>
          <p:cNvPr id="24" name="Text 15"/>
          <p:cNvSpPr txBox="1"/>
          <p:nvPr/>
        </p:nvSpPr>
        <p:spPr>
          <a:xfrm>
            <a:off x="571500" y="10019995"/>
            <a:ext cx="10478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dummy set 16 · slide 03 of 03 · holy grail 핵심 수치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2026-10-03T16:46:46Z</dcterms:created>
  <dcterms:modified xsi:type="dcterms:W3CDTF">2026-10-03T16:46:46Z</dcterms:modified>
</cp:coreProperties>
</file>