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" id="{06000f09-7db5-9e23-5f69-b48c64b128e2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열저항 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bubble3D val="0"/>
            <c:spPr>
              <a:solidFill>
                <a:srgbClr val="00B8A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비아층</c:v>
                </c:pt>
                <c:pt idx="1">
                  <c:v>선 층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</c:v>
                </c:pt>
                <c:pt idx="1">
                  <c:v>14</c:v>
                </c:pt>
              </c:numCache>
            </c:numRef>
          </c:val>
        </c:ser>
        <c:firstSliceAng val="0"/>
        <c:holeSize val="55"/>
      </c:doughnutChart>
      <c:spPr>
        <a:solidFill>
          <a:srgbClr val="1A1A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CA3A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W/m·K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OSG3.0</c:v>
                  </c:pt>
                  <c:pt idx="1">
                    <c:v>등가 BEOL 스택</c:v>
                  </c:pt>
                  <c:pt idx="2">
                    <c:v>SiO₂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0.65</c:v>
                </c:pt>
                <c:pt idx="2">
                  <c:v>1.15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9CA3AF"/>
                    </a:solidFill>
                    <a:latin typeface="+mn-lt"/>
                  </a:rPr>
                  <a:t>W/m·K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W/m·K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M1–M4</c:v>
                  </c:pt>
                  <c:pt idx="1">
                    <c:v>M1–M6</c:v>
                  </c:pt>
                  <c:pt idx="2">
                    <c:v>V4–M6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</c:v>
                </c:pt>
                <c:pt idx="1">
                  <c:v>0.64</c:v>
                </c:pt>
                <c:pt idx="2">
                  <c:v>0.67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9CA3AF"/>
                    </a:solidFill>
                    <a:latin typeface="+mn-lt"/>
                  </a:rPr>
                  <a:t>W/m·K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 · 열 · 열저항 분해 · ECTC 2024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14층 BEOL 스택 열저항 — 86%가 비아층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669280" cy="4846320"/>
          </a:xfrm>
          <a:prstGeom prst="roundRect">
            <a:avLst>
              <a:gd name="adj" fmla="val 377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46520" y="1280160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비아층의 97% 이상이 유전체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664208"/>
            <a:ext cx="2552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</a:rPr>
              <a:t>86%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139696"/>
            <a:ext cx="2552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비아층 열저항 비중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090508" y="1664208"/>
            <a:ext cx="2552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3 %~35%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090508" y="2139696"/>
            <a:ext cx="2552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비아층 금속 부피비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715768"/>
            <a:ext cx="5287975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선 층 금속 부피비 17–35%, 비아층 3% 내외–최대 35% → 비아층이 사실상 유전체 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비아 배치: stacked &gt; staggered(연결된 엇갈림) &gt; isolated 순으로 유리.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배선 금속 Cu → Ru/Mo 교체는 열 방출에 거의 영향 없음.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46520" y="5120640"/>
            <a:ext cx="5287975" cy="1005840"/>
          </a:xfrm>
          <a:prstGeom prst="roundRect">
            <a:avLst>
              <a:gd name="adj" fmla="val 14545"/>
            </a:avLst>
          </a:prstGeom>
          <a:solidFill>
            <a:srgbClr val="14445C"/>
          </a:solidFill>
          <a:ln w="12700">
            <a:solidFill>
              <a:srgbClr val="1444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5212080"/>
            <a:ext cx="5013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열 설계 변수는 금속이 아니라 비아 배치와 유전체.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 · 열 · 유전체 열전도도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유전체 열전도도 — OSG3.0은 사실상 단열재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937760" cy="4846320"/>
          </a:xfrm>
          <a:prstGeom prst="roundRect">
            <a:avLst>
              <a:gd name="adj" fmla="val 377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4572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 &lt; 1 W/M·K에서 BEOL 온도 급상승 (IMEC)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280160"/>
          <a:ext cx="6019495" cy="914400"/>
        </p:xfrm>
        <a:graphic>
          <a:graphicData uri="http://schemas.openxmlformats.org/drawingml/2006/table">
            <a:tbl>
              <a:tblPr/>
              <a:tblGrid>
                <a:gridCol w="1185977"/>
                <a:gridCol w="1732788"/>
                <a:gridCol w="2371039"/>
                <a:gridCol w="729691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변수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층간 유전체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SiO₂ 1.15 vs OSG3.0 0.3 W/m·K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k &lt; 1 W/m·K에서 BEOL 온도 급상승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비아 배치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stacked / staggered / isolated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열저항 86%가 비아층 → stacked &gt; staggered &gt; isolated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배선 금속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Cu → Ru / Mo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열 방출 거의 무변화 (직렬 열저항은 최악 고리가 결정)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A3AF"/>
                          </a:solidFill>
                        </a:rPr>
                        <a:t>참조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등가 열전도도 (실측)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M1–M4 / M1–M6 / V4–M6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0.65 ± 0.066 / 0.64 / 0.67 ± 0.087 W/m·K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A3AF"/>
                          </a:solidFill>
                        </a:rPr>
                        <a:t>참조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 · 열 · 실측 등가 열전도도 · ARXIV 2508.07740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실제 스택 등가 열전도도 — 0.64–0.67 W/m·K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400800" cy="4846320"/>
          </a:xfrm>
          <a:prstGeom prst="roundRect">
            <a:avLst>
              <a:gd name="adj" fmla="val 377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M1–M4 ±0.066 · V4–M6 ±0.087 (광학 열반사 측정)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1280160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제3자 측정치로 규모감 확보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664208"/>
            <a:ext cx="4556455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imec 12층·18 nm 피치 스택의 층별 k 표는 미공개 — ECTC 2024 accepted manuscript(Lirias)로 보완 필요.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등가 k 0.65는 SiO₂ 1.15와 OSG3.0 0.3의 중간 — 스택 평균이 아니라 최악 고리(비아층)가 결정.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로직셀 전력밀도 ~10 W/mm² 수준에서 ΔT 민감도 큼.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 · 열 · 핵심 수치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열 평가 핵심 수치 네 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0D9FF"/>
                </a:solidFill>
              </a:rPr>
              <a:t>86%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열저항 중 비아층 비중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5104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3704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</a:rPr>
              <a:t>10 W/mm²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로직셀 전력밀도 (= 1000 W/cm²)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3008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1608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8E72"/>
                </a:solidFill>
              </a:rPr>
              <a:t>+30%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에어갭 자기발열 (A14)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20911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49511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6B6B"/>
                </a:solidFill>
              </a:rPr>
              <a:t>0.3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OSG3.0 W/m·K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57600"/>
            <a:ext cx="11277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</a:rPr>
              <a:t>에어갭은 정전용량을 줄이지만 A14 노드에서 금속선 자기발열 +30%.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</a:rPr>
              <a:t>열은 EM·TDDB 수명을 직격 — 전기적 최적해가 열적으로는 최악인 닫힌 고리.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 · 열 · 종합 판정표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열 경로 split 종합 — 유전체·비아 배치·에어갭·BSPDN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024482"/>
                <a:gridCol w="2891333"/>
                <a:gridCol w="5204765"/>
                <a:gridCol w="115671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변수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층간 유전체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SiO₂ 1.15 vs OSG3.0 0.3 W/m·K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k &lt; 1 W/m·K에서 BEOL 온도 급상승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비아 배치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stacked / staggered / isolated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열저항 86%가 비아층 → stacked &gt; staggered &gt; isolated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배선 금속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Cu → Ru / Mo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열 방출 거의 무변화 (직렬 열저항은 최악 고리가 결정)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A3AF"/>
                          </a:solidFill>
                        </a:rPr>
                        <a:t>참조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에어갭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A14 노드, 상부 금속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금속선 자기발열 +30%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BSPDN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균일 전력 가정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전면 PDN 대비 우위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BSPDN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비균일 전력 (5 µm 해상도)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최고온도가 전면 PDN보다 일관되게 높음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등가 열전도도 (실측)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M1–M4 / M1–M6 / V4–M6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0.65 ± 0.066 / 0.64 / 0.67 ± 0.087 W/m·K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CA3AF"/>
                          </a:solidFill>
                        </a:rPr>
                        <a:t>참조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비아층 열저항 평가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