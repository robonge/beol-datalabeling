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3998a61c8c53b41e93b2d4e1fac5c9.png">    </p:cNvPr>
          <p:cNvPicPr>
            <a:picLocks noChangeAspect="1"/>
          </p:cNvPicPr>
          <p:nvPr/>
        </p:nvPicPr>
        <p:blipFill>
          <a:blip r:embed="rId1"/>
          <a:srcRect l="-16" r="-16" t="0" b="0"/>
          <a:stretch/>
        </p:blipFill>
        <p:spPr>
          <a:xfrm>
            <a:off x="17335195" y="0"/>
            <a:ext cx="952805" cy="10287000"/>
          </a:xfrm>
          <a:prstGeom prst="rect">
            <a:avLst/>
          </a:prstGeom>
        </p:spPr>
      </p:pic>
      <p:pic>
        <p:nvPicPr>
          <p:cNvPr id="3" name="Image 1" descr="gen-dedup-4f9dd0deab5777b758d194dbd054284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8572500"/>
            <a:ext cx="10287000" cy="9144"/>
          </a:xfrm>
          <a:prstGeom prst="rect">
            <a:avLst/>
          </a:prstGeom>
        </p:spPr>
      </p:pic>
      <p:pic>
        <p:nvPicPr>
          <p:cNvPr id="4" name="Image 2" descr="gen-dedup-fe0c42a09bac497bd33140dcaa4c77ff.png">    </p:cNvPr>
          <p:cNvPicPr>
            <a:picLocks noChangeAspect="1"/>
          </p:cNvPicPr>
          <p:nvPr/>
        </p:nvPicPr>
        <p:blipFill>
          <a:blip r:embed="rId3"/>
          <a:srcRect l="-392" r="-392" t="0" b="0"/>
          <a:stretch/>
        </p:blipFill>
        <p:spPr>
          <a:xfrm>
            <a:off x="761695" y="1143000"/>
            <a:ext cx="1333195" cy="28346"/>
          </a:xfrm>
          <a:prstGeom prst="rect">
            <a:avLst/>
          </a:prstGeom>
        </p:spPr>
      </p:pic>
      <p:pic>
        <p:nvPicPr>
          <p:cNvPr id="5" name="Image 3" descr="gen-dedup-ce96fcdd07cbe46857bf2458304d9b20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6192195" y="1143000"/>
            <a:ext cx="1333195" cy="28346"/>
          </a:xfrm>
          <a:prstGeom prst="rect">
            <a:avLst/>
          </a:prstGeom>
        </p:spPr>
      </p:pic>
      <p:pic>
        <p:nvPicPr>
          <p:cNvPr id="6" name="Image 4" descr="gen-dedup-af6d4a313f2d74330015ffd21052c5e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805" y="1143000"/>
            <a:ext cx="6476695" cy="7239305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1239805" y="1143000"/>
            <a:ext cx="6495898" cy="7258507"/>
          </a:xfrm>
          <a:prstGeom prst="rect">
            <a:avLst/>
          </a:prstGeom>
          <a:noFill/>
          <a:ln w="12700">
            <a:solidFill>
              <a:srgbClr val="2A3144"/>
            </a:solidFill>
            <a:prstDash val="solid"/>
          </a:ln>
        </p:spPr>
      </p:sp>
      <p:sp>
        <p:nvSpPr>
          <p:cNvPr id="8" name="Text 1"/>
          <p:cNvSpPr txBox="1"/>
          <p:nvPr/>
        </p:nvSpPr>
        <p:spPr>
          <a:xfrm>
            <a:off x="761695" y="2095805"/>
            <a:ext cx="10287000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b="1" spc="-144" kern="0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BEOL</a:t>
            </a:r>
            <a:pPr algn="l" indent="0" marL="0">
              <a:lnSpc>
                <a:spcPct val="104000"/>
              </a:lnSpc>
              <a:buNone/>
            </a:pPr>
            <a:endParaRPr lang="en-US" sz="7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7200" b="1" spc="-144" kern="0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20편 심층 리뷰</a:t>
            </a:r>
            <a:endParaRPr lang="en-US" sz="7200" dirty="0"/>
          </a:p>
        </p:txBody>
      </p:sp>
      <p:sp>
        <p:nvSpPr>
          <p:cNvPr id="9" name="Text 2"/>
          <p:cNvSpPr txBox="1"/>
          <p:nvPr/>
        </p:nvSpPr>
        <p:spPr>
          <a:xfrm>
            <a:off x="761695" y="5293462"/>
            <a:ext cx="10287000" cy="84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BFC7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imec Institutional Repository에서 BEOL 관련 논문 20편을 골라,</a:t>
            </a:r>
            <a:pPr algn="l" indent="0" marL="0">
              <a:lnSpc>
                <a:spcPts val="3150"/>
              </a:lnSpc>
              <a:buNone/>
            </a:pPr>
            <a:endParaRPr lang="en-US" sz="210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BFC7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금속화·패터닝·신뢰성·열 네 축으로 읽은 기록입니다.</a:t>
            </a:r>
            <a:endParaRPr lang="en-US" sz="21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6858000"/>
            <a:ext cx="10287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수치와 그래프는 원문에서 뽑아 재작도했고, 오픈액세스(CC-BY) 논문을 우선 선정했습니다.</a:t>
            </a:r>
            <a:endParaRPr lang="en-US" sz="1650" dirty="0"/>
          </a:p>
        </p:txBody>
      </p:sp>
      <p:sp>
        <p:nvSpPr>
          <p:cNvPr id="11" name="Text 4"/>
          <p:cNvSpPr txBox="1"/>
          <p:nvPr/>
        </p:nvSpPr>
        <p:spPr>
          <a:xfrm>
            <a:off x="761695" y="8953805"/>
            <a:ext cx="10287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Oct 3, 2026 </a:t>
            </a:r>
            <a:pPr algn="l" indent="0" marL="0">
              <a:buNone/>
            </a:pPr>
            <a:r>
              <a:rPr lang="en-US" sz="1950" dirty="0">
                <a:solidFill>
                  <a:srgbClr val="5C63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pPr algn="l" indent="0" marL="0">
              <a:buNone/>
            </a:pPr>
            <a:r>
              <a:rPr lang="en-US" sz="1950" dirty="0">
                <a:solidFill>
                  <a:srgbClr val="E76F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@Eric Lee</a:t>
            </a:r>
            <a:endParaRPr lang="en-US" sz="1950" dirty="0"/>
          </a:p>
        </p:txBody>
      </p:sp>
      <p:sp>
        <p:nvSpPr>
          <p:cNvPr id="12" name="Text 5"/>
          <p:cNvSpPr txBox="1"/>
          <p:nvPr/>
        </p:nvSpPr>
        <p:spPr>
          <a:xfrm>
            <a:off x="11239805" y="8572500"/>
            <a:ext cx="6477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— imec.int.com (A view on the logic technology roadmap)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9dd0deab5777b758d194dbd0542847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5524805"/>
            <a:ext cx="16002000" cy="19202"/>
          </a:xfrm>
          <a:prstGeom prst="rect">
            <a:avLst/>
          </a:prstGeom>
        </p:spPr>
      </p:pic>
      <p:pic>
        <p:nvPicPr>
          <p:cNvPr id="3" name="Image 1" descr="gen-dedup-a01075c90f3732919700233f03c35ae0.png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761695" y="761695"/>
            <a:ext cx="952805" cy="28346"/>
          </a:xfrm>
          <a:prstGeom prst="rect">
            <a:avLst/>
          </a:prstGeom>
        </p:spPr>
      </p:pic>
      <p:pic>
        <p:nvPicPr>
          <p:cNvPr id="4" name="Image 2" descr="gen-dedup-eba0c355bae6008ec4335bae25841d9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6096305"/>
            <a:ext cx="8382305" cy="2667305"/>
          </a:xfrm>
          <a:prstGeom prst="rect">
            <a:avLst/>
          </a:prstGeom>
        </p:spPr>
      </p:pic>
      <p:pic>
        <p:nvPicPr>
          <p:cNvPr id="5" name="Image 3" descr="gen-dedup-95bb76d9631911e7cebd8615d5e02d0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95" y="6096305"/>
            <a:ext cx="8191195" cy="266730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6096305"/>
            <a:ext cx="8401507" cy="2686507"/>
          </a:xfrm>
          <a:prstGeom prst="rect">
            <a:avLst/>
          </a:prstGeom>
          <a:noFill/>
          <a:ln w="12700">
            <a:solidFill>
              <a:srgbClr val="2A3144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9334195" y="6096305"/>
            <a:ext cx="8210398" cy="2686507"/>
          </a:xfrm>
          <a:prstGeom prst="rect">
            <a:avLst/>
          </a:prstGeom>
          <a:noFill/>
          <a:ln w="12700">
            <a:solidFill>
              <a:srgbClr val="2A3144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61695" y="1143000"/>
            <a:ext cx="142875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Ru의 복병: 열처리가 선을 원통형으로 만든다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1904695"/>
            <a:ext cx="174504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B0B7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18–22 nm 피치 Ru 배선을 300 mm 웨이퍼에서 열처리했더니 </a:t>
            </a:r>
            <a:pPr algn="l" indent="0" marL="0">
              <a:buNone/>
            </a:pPr>
            <a:r>
              <a:rPr lang="en-US" sz="1650" b="1" dirty="0">
                <a:solidFill>
                  <a:srgbClr val="E76F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 저항이 10% 떨어지면서</a:t>
            </a:r>
            <a:pPr algn="l" indent="0" marL="0">
              <a:buNone/>
            </a:pPr>
            <a:r>
              <a:rPr lang="en-US" sz="1650" dirty="0">
                <a:solidFill>
                  <a:srgbClr val="B0B7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시단면이 원통형으로 변형(cylinderization)하고, 웨이퍼 전역에서 다중 단락이 나타났습니다.</a:t>
            </a:r>
            <a:endParaRPr lang="en-US" sz="1650" dirty="0"/>
          </a:p>
        </p:txBody>
      </p:sp>
      <p:sp>
        <p:nvSpPr>
          <p:cNvPr id="10" name="Shape 4"/>
          <p:cNvSpPr/>
          <p:nvPr/>
        </p:nvSpPr>
        <p:spPr>
          <a:xfrm>
            <a:off x="761695" y="3429000"/>
            <a:ext cx="3962095" cy="2095805"/>
          </a:xfrm>
          <a:prstGeom prst="rect">
            <a:avLst/>
          </a:prstGeom>
          <a:solidFill>
            <a:srgbClr val="1E2434"/>
          </a:solidFill>
          <a:ln/>
        </p:spPr>
      </p:sp>
      <p:sp>
        <p:nvSpPr>
          <p:cNvPr id="11" name="Shape 5"/>
          <p:cNvSpPr/>
          <p:nvPr/>
        </p:nvSpPr>
        <p:spPr>
          <a:xfrm>
            <a:off x="761695" y="3429000"/>
            <a:ext cx="3962095" cy="38405"/>
          </a:xfrm>
          <a:prstGeom prst="rect">
            <a:avLst/>
          </a:prstGeom>
          <a:solidFill>
            <a:srgbClr val="E76F2C"/>
          </a:solidFill>
          <a:ln w="12700">
            <a:solidFill>
              <a:srgbClr val="E76F2C">
                <a:alpha val="0"/>
              </a:srgbClr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1009498" y="3733495"/>
            <a:ext cx="26974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76F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50" dirty="0"/>
          </a:p>
        </p:txBody>
      </p:sp>
      <p:sp>
        <p:nvSpPr>
          <p:cNvPr id="13" name="Text 7"/>
          <p:cNvSpPr txBox="1"/>
          <p:nvPr/>
        </p:nvSpPr>
        <p:spPr>
          <a:xfrm>
            <a:off x="1390802" y="3676802"/>
            <a:ext cx="85313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금속화</a:t>
            </a:r>
            <a:endParaRPr lang="en-US" sz="2100" dirty="0"/>
          </a:p>
        </p:txBody>
      </p:sp>
      <p:sp>
        <p:nvSpPr>
          <p:cNvPr id="14" name="Text 8"/>
          <p:cNvSpPr txBox="1"/>
          <p:nvPr/>
        </p:nvSpPr>
        <p:spPr>
          <a:xfrm>
            <a:off x="1009498" y="4190695"/>
            <a:ext cx="34674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76F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−10%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009498" y="4886554"/>
            <a:ext cx="34674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 저항이 떨어지며 시단면 원통화</a:t>
            </a:r>
            <a:endParaRPr lang="en-US" sz="1275" dirty="0"/>
          </a:p>
        </p:txBody>
      </p:sp>
      <p:sp>
        <p:nvSpPr>
          <p:cNvPr id="16" name="Shape 10"/>
          <p:cNvSpPr/>
          <p:nvPr/>
        </p:nvSpPr>
        <p:spPr>
          <a:xfrm>
            <a:off x="4876495" y="3429000"/>
            <a:ext cx="3962095" cy="2095805"/>
          </a:xfrm>
          <a:prstGeom prst="rect">
            <a:avLst/>
          </a:prstGeom>
          <a:solidFill>
            <a:srgbClr val="1E2434"/>
          </a:solidFill>
          <a:ln/>
        </p:spPr>
      </p:sp>
      <p:sp>
        <p:nvSpPr>
          <p:cNvPr id="17" name="Shape 11"/>
          <p:cNvSpPr/>
          <p:nvPr/>
        </p:nvSpPr>
        <p:spPr>
          <a:xfrm>
            <a:off x="4876495" y="3429000"/>
            <a:ext cx="3962095" cy="38405"/>
          </a:xfrm>
          <a:prstGeom prst="rect">
            <a:avLst/>
          </a:prstGeom>
          <a:solidFill>
            <a:srgbClr val="5BA0CC"/>
          </a:solidFill>
          <a:ln w="12700">
            <a:solidFill>
              <a:srgbClr val="5BA0CC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124298" y="3733495"/>
            <a:ext cx="26974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A0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5505602" y="3676802"/>
            <a:ext cx="85313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패터닝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5124298" y="4190695"/>
            <a:ext cx="1104595" cy="714146"/>
          </a:xfrm>
          <a:prstGeom prst="rect">
            <a:avLst/>
          </a:prstGeom>
          <a:solidFill>
            <a:srgbClr val="252C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181905" y="4286707"/>
            <a:ext cx="9912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BA0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325</a:t>
            </a:r>
            <a:endParaRPr lang="en-US" sz="2700" dirty="0"/>
          </a:p>
        </p:txBody>
      </p:sp>
      <p:sp>
        <p:nvSpPr>
          <p:cNvPr id="22" name="Text 16"/>
          <p:cNvSpPr txBox="1"/>
          <p:nvPr/>
        </p:nvSpPr>
        <p:spPr>
          <a:xfrm>
            <a:off x="5181905" y="4647895"/>
            <a:ext cx="991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°C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305702" y="4190695"/>
            <a:ext cx="1104595" cy="714146"/>
          </a:xfrm>
          <a:prstGeom prst="rect">
            <a:avLst/>
          </a:prstGeom>
          <a:solidFill>
            <a:srgbClr val="252C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362395" y="4286707"/>
            <a:ext cx="9912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BA0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420</a:t>
            </a:r>
            <a:endParaRPr lang="en-US" sz="2700" dirty="0"/>
          </a:p>
        </p:txBody>
      </p:sp>
      <p:sp>
        <p:nvSpPr>
          <p:cNvPr id="25" name="Text 19"/>
          <p:cNvSpPr txBox="1"/>
          <p:nvPr/>
        </p:nvSpPr>
        <p:spPr>
          <a:xfrm>
            <a:off x="6362395" y="4647895"/>
            <a:ext cx="991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°C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487107" y="4190695"/>
            <a:ext cx="1104595" cy="714146"/>
          </a:xfrm>
          <a:prstGeom prst="rect">
            <a:avLst/>
          </a:prstGeom>
          <a:solidFill>
            <a:srgbClr val="252C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543800" y="4286707"/>
            <a:ext cx="9912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5BA0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650</a:t>
            </a:r>
            <a:endParaRPr lang="en-US" sz="2700" dirty="0"/>
          </a:p>
        </p:txBody>
      </p:sp>
      <p:sp>
        <p:nvSpPr>
          <p:cNvPr id="28" name="Text 22"/>
          <p:cNvSpPr txBox="1"/>
          <p:nvPr/>
        </p:nvSpPr>
        <p:spPr>
          <a:xfrm>
            <a:off x="7543800" y="4647895"/>
            <a:ext cx="991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°C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5124298" y="5000854"/>
            <a:ext cx="34674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명목 선폭 10 nm Ru 선 · 최대 5시간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991295" y="3429000"/>
            <a:ext cx="3962095" cy="2095805"/>
          </a:xfrm>
          <a:prstGeom prst="rect">
            <a:avLst/>
          </a:prstGeom>
          <a:solidFill>
            <a:srgbClr val="1E2434"/>
          </a:solidFill>
          <a:ln/>
        </p:spPr>
      </p:sp>
      <p:sp>
        <p:nvSpPr>
          <p:cNvPr id="31" name="Shape 25"/>
          <p:cNvSpPr/>
          <p:nvPr/>
        </p:nvSpPr>
        <p:spPr>
          <a:xfrm>
            <a:off x="8991295" y="3429000"/>
            <a:ext cx="3962095" cy="38405"/>
          </a:xfrm>
          <a:prstGeom prst="rect">
            <a:avLst/>
          </a:prstGeom>
          <a:solidFill>
            <a:srgbClr val="6FB58A"/>
          </a:solidFill>
          <a:ln w="12700">
            <a:solidFill>
              <a:srgbClr val="6FB58A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239098" y="3733495"/>
            <a:ext cx="26974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FB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50" dirty="0"/>
          </a:p>
        </p:txBody>
      </p:sp>
      <p:sp>
        <p:nvSpPr>
          <p:cNvPr id="33" name="Text 27"/>
          <p:cNvSpPr txBox="1"/>
          <p:nvPr/>
        </p:nvSpPr>
        <p:spPr>
          <a:xfrm>
            <a:off x="9620402" y="3676802"/>
            <a:ext cx="85313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2100" dirty="0"/>
          </a:p>
        </p:txBody>
      </p:sp>
      <p:sp>
        <p:nvSpPr>
          <p:cNvPr id="34" name="Text 28"/>
          <p:cNvSpPr txBox="1"/>
          <p:nvPr/>
        </p:nvSpPr>
        <p:spPr>
          <a:xfrm>
            <a:off x="9239098" y="4190695"/>
            <a:ext cx="34674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FB5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&gt;30 MA/cm²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239098" y="4743907"/>
            <a:ext cx="34674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nm 피치 무배리어 Ru도 고장 없음</a:t>
            </a:r>
            <a:endParaRPr lang="en-US" sz="1275" dirty="0"/>
          </a:p>
        </p:txBody>
      </p:sp>
      <p:sp>
        <p:nvSpPr>
          <p:cNvPr id="36" name="Shape 30"/>
          <p:cNvSpPr/>
          <p:nvPr/>
        </p:nvSpPr>
        <p:spPr>
          <a:xfrm>
            <a:off x="13106095" y="3429000"/>
            <a:ext cx="4419295" cy="2095805"/>
          </a:xfrm>
          <a:prstGeom prst="rect">
            <a:avLst/>
          </a:prstGeom>
          <a:solidFill>
            <a:srgbClr val="1E2434"/>
          </a:solidFill>
          <a:ln/>
        </p:spPr>
      </p:sp>
      <p:sp>
        <p:nvSpPr>
          <p:cNvPr id="37" name="Shape 31"/>
          <p:cNvSpPr/>
          <p:nvPr/>
        </p:nvSpPr>
        <p:spPr>
          <a:xfrm>
            <a:off x="13106095" y="3429000"/>
            <a:ext cx="4419295" cy="38405"/>
          </a:xfrm>
          <a:prstGeom prst="rect">
            <a:avLst/>
          </a:prstGeom>
          <a:solidFill>
            <a:srgbClr val="D9B45C"/>
          </a:solidFill>
          <a:ln w="12700">
            <a:solidFill>
              <a:srgbClr val="D9B45C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3353898" y="3733495"/>
            <a:ext cx="26974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B4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50" dirty="0"/>
          </a:p>
        </p:txBody>
      </p:sp>
      <p:sp>
        <p:nvSpPr>
          <p:cNvPr id="39" name="Text 33"/>
          <p:cNvSpPr txBox="1"/>
          <p:nvPr/>
        </p:nvSpPr>
        <p:spPr>
          <a:xfrm>
            <a:off x="13735202" y="3676802"/>
            <a:ext cx="284378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</a:t>
            </a:r>
            <a:endParaRPr lang="en-US" sz="2100" dirty="0"/>
          </a:p>
        </p:txBody>
      </p:sp>
      <p:sp>
        <p:nvSpPr>
          <p:cNvPr id="40" name="Text 34"/>
          <p:cNvSpPr txBox="1"/>
          <p:nvPr/>
        </p:nvSpPr>
        <p:spPr>
          <a:xfrm>
            <a:off x="13353898" y="4190695"/>
            <a:ext cx="158099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9B4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pPr algn="l" indent="0" marL="0">
              <a:buNone/>
            </a:pPr>
            <a:r>
              <a:rPr lang="en-US" sz="2250" b="1" dirty="0">
                <a:solidFill>
                  <a:srgbClr val="D9B4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800" dirty="0"/>
          </a:p>
        </p:txBody>
      </p:sp>
      <p:sp>
        <p:nvSpPr>
          <p:cNvPr id="41" name="Text 35"/>
          <p:cNvSpPr txBox="1"/>
          <p:nvPr/>
        </p:nvSpPr>
        <p:spPr>
          <a:xfrm>
            <a:off x="14482267" y="4496105"/>
            <a:ext cx="11338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3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14705381" y="4438498"/>
            <a:ext cx="8961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pPr algn="l" indent="0" marL="0">
              <a:buNone/>
            </a:pPr>
            <a:r>
              <a:rPr lang="en-US" sz="1350" b="1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2700" dirty="0"/>
          </a:p>
        </p:txBody>
      </p:sp>
      <p:sp>
        <p:nvSpPr>
          <p:cNvPr id="43" name="Text 37"/>
          <p:cNvSpPr txBox="1"/>
          <p:nvPr/>
        </p:nvSpPr>
        <p:spPr>
          <a:xfrm>
            <a:off x="13353898" y="4905756"/>
            <a:ext cx="3924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비아층 / 선 층 비중 (14층 BEOL 스택)</a:t>
            </a:r>
            <a:endParaRPr lang="en-US" sz="1275" dirty="0"/>
          </a:p>
        </p:txBody>
      </p:sp>
      <p:sp>
        <p:nvSpPr>
          <p:cNvPr id="44" name="Text 38"/>
          <p:cNvSpPr txBox="1"/>
          <p:nvPr/>
        </p:nvSpPr>
        <p:spPr>
          <a:xfrm>
            <a:off x="761695" y="8858707"/>
            <a:ext cx="8382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— Semiconductor Digest (Intel 4 BEOL interconnect metal scheme figure)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9334195" y="8858707"/>
            <a:ext cx="8192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— Semantic Scholar (Large Grain Ruthenium for Alternative Interconnects figure)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761695" y="9430207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3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반면 Ru의 전자이동 내성은 뛰어납니다 — Mo–Ru 하이브리드 구조는 330 °C, 5 MA/cm²에서 600시간 이상 무고장.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20803a1a9348c02d61d5083f7519a60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7429500"/>
            <a:ext cx="16763695" cy="9144"/>
          </a:xfrm>
          <a:prstGeom prst="rect">
            <a:avLst/>
          </a:prstGeom>
        </p:spPr>
      </p:pic>
      <p:pic>
        <p:nvPicPr>
          <p:cNvPr id="3" name="Image 1" descr="gen-dedup-c9eaaf4a5b61a55b3f733f2a0deb5534.png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761695" y="571500"/>
            <a:ext cx="952805" cy="28346"/>
          </a:xfrm>
          <a:prstGeom prst="rect">
            <a:avLst/>
          </a:prstGeom>
        </p:spPr>
      </p:pic>
      <p:pic>
        <p:nvPicPr>
          <p:cNvPr id="4" name="Image 2" descr="gen-dedup-94008af1e017237ee22b84a01ccc0b5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2190902"/>
            <a:ext cx="8382305" cy="4572000"/>
          </a:xfrm>
          <a:prstGeom prst="rect">
            <a:avLst/>
          </a:prstGeom>
        </p:spPr>
      </p:pic>
      <p:pic>
        <p:nvPicPr>
          <p:cNvPr id="5" name="Image 3" descr="gen-dedup-0a30092c2ffa1c177d5317ec43a2ef3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195" y="2190902"/>
            <a:ext cx="8191195" cy="4572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190902"/>
            <a:ext cx="8401507" cy="4591202"/>
          </a:xfrm>
          <a:prstGeom prst="rect">
            <a:avLst/>
          </a:prstGeom>
          <a:noFill/>
          <a:ln w="12700">
            <a:solidFill>
              <a:srgbClr val="2A3144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9334195" y="2190902"/>
            <a:ext cx="8210398" cy="4591202"/>
          </a:xfrm>
          <a:prstGeom prst="rect">
            <a:avLst/>
          </a:prstGeom>
          <a:noFill/>
          <a:ln w="12700">
            <a:solidFill>
              <a:srgbClr val="2A3144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61695" y="838505"/>
            <a:ext cx="167646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전자현미경 사진이 실제로 보여주는 것</a:t>
            </a:r>
            <a:endParaRPr lang="en-US" sz="315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1505102"/>
            <a:ext cx="1676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B0B7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20편 중 미세구조 영상이 들어있는 건 7편입니다.</a:t>
            </a:r>
            <a:endParaRPr lang="en-US" sz="165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6858000"/>
            <a:ext cx="8382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— Nature Electronics (Low-temperature ultrathin interconnect barrier paper figure)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9334195" y="6858000"/>
            <a:ext cx="8877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5A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— Semantic Scholar (Demonstration of a reliable high-performance air gap interconnect process)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761695" y="7619695"/>
            <a:ext cx="8382305" cy="2095805"/>
          </a:xfrm>
          <a:prstGeom prst="rect">
            <a:avLst/>
          </a:prstGeom>
          <a:solidFill>
            <a:srgbClr val="1A1F2C"/>
          </a:solidFill>
          <a:ln/>
        </p:spPr>
      </p:sp>
      <p:sp>
        <p:nvSpPr>
          <p:cNvPr id="13" name="Shape 7"/>
          <p:cNvSpPr/>
          <p:nvPr/>
        </p:nvSpPr>
        <p:spPr>
          <a:xfrm>
            <a:off x="761695" y="7619695"/>
            <a:ext cx="38405" cy="2095805"/>
          </a:xfrm>
          <a:prstGeom prst="rect">
            <a:avLst/>
          </a:prstGeom>
          <a:solidFill>
            <a:srgbClr val="E76F2C"/>
          </a:solidFill>
          <a:ln w="12700">
            <a:solidFill>
              <a:srgbClr val="E76F2C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067105" y="7877556"/>
            <a:ext cx="2212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76F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1402690" y="7830007"/>
            <a:ext cx="333481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입계와 계면, 두 갈래의 보이드</a:t>
            </a:r>
            <a:endParaRPr lang="en-US" sz="1650" dirty="0"/>
          </a:p>
        </p:txBody>
      </p:sp>
      <p:sp>
        <p:nvSpPr>
          <p:cNvPr id="16" name="Text 10"/>
          <p:cNvSpPr txBox="1"/>
          <p:nvPr/>
        </p:nvSpPr>
        <p:spPr>
          <a:xfrm>
            <a:off x="1067105" y="8268005"/>
            <a:ext cx="7810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2C8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Ru의 EM 보이드가 입계와 유전체 계면 두 곳에서 별도로 생긴다는 것(JAP Fig. 18)은 대책이 두 가지로 갈라진다는 뜻입니다 — 입계 제어와 계면 에너지 제어.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334195" y="7619695"/>
            <a:ext cx="8191195" cy="2095805"/>
          </a:xfrm>
          <a:prstGeom prst="rect">
            <a:avLst/>
          </a:prstGeom>
          <a:solidFill>
            <a:srgbClr val="1A1F2C"/>
          </a:solidFill>
          <a:ln/>
        </p:spPr>
      </p:sp>
      <p:sp>
        <p:nvSpPr>
          <p:cNvPr id="18" name="Shape 12"/>
          <p:cNvSpPr/>
          <p:nvPr/>
        </p:nvSpPr>
        <p:spPr>
          <a:xfrm>
            <a:off x="9334195" y="7619695"/>
            <a:ext cx="38405" cy="2095805"/>
          </a:xfrm>
          <a:prstGeom prst="rect">
            <a:avLst/>
          </a:prstGeom>
          <a:solidFill>
            <a:srgbClr val="5BA0CC"/>
          </a:solidFill>
          <a:ln w="12700">
            <a:solidFill>
              <a:srgbClr val="5BA0CC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639605" y="7877556"/>
            <a:ext cx="2212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BA0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9975190" y="7830007"/>
            <a:ext cx="349117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대나무형 입계가 수치를 설명한다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9639605" y="8268005"/>
            <a:ext cx="7620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2C8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CuAl₂의 대나무형 입계(JVST B Fig. 6)는 입계가 막 두께만큼 크다는 뜻이고, 이게 저항률 9.5 µΩ·cm의 직접적인 이유입니다. 사진이 수치를 설명하는 전형적인 경우입니다.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2026-10-03T16:45:37Z</dcterms:created>
  <dcterms:modified xsi:type="dcterms:W3CDTF">2026-10-03T16:45:37Z</dcterms:modified>
</cp:coreProperties>
</file>