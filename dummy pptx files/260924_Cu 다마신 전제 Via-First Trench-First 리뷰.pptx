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a3f50abb-52ac-e9cb-f3f6-cb0ad6318be2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RC 지연 상대값</c:v>
                </c:pt>
              </c:strCache>
            </c:strRef>
          </c:tx>
          <c:spPr>
            <a:solidFill>
              <a:srgbClr val="006B5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85B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Al 배선</c:v>
                  </c:pt>
                  <c:pt idx="1">
                    <c:v>Cu 배선 (하한)</c:v>
                  </c:pt>
                  <c:pt idx="2">
                    <c:v>Cu 배선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70</c:v>
                </c:pt>
                <c:pt idx="2">
                  <c:v>60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CU VS AL · DAMASCENE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이중 상감 공정의 물리적 전제 · Al 대비 장점과 RIE 불가 제약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28646"/>
                <a:gridCol w="364297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Al 배선 (RIE 서브트랙티브)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배선 (다마신)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RIE 식각 용이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휘발성 할로겐 화합물(CuCl₂, CuF) 미형성 → RIE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RC 지연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30–40% 감소 (낮은 비저항)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저항성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한계 도달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훨씬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식각(트렌치+비아) → 배리어/시드 → ECP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이중 상감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트렌치+비아 동시 충진, 공정 단계·비용 절감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dd_flow_schemati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71448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3040363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DD 패터닝 흐름 (VIA-FIRST / TRENCH-FIRST) — 참고 도식, CC BY ELECTRONICS 2022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3396979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6B5E"/>
                </a:solidFill>
              </a:rPr>
              <a:t>30–40%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781027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RC 지연 감소 (vs Al)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8366760" y="4110211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85B6"/>
                </a:solidFill>
              </a:rPr>
              <a:t>k ≤ 2.5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366760" y="4494259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다공성 Low-k 유전율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8366760" y="4914883"/>
            <a:ext cx="3367735" cy="125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Via-First / Trench-First 두 흐름. 첨단 노드는 다공성 Low-k(k ≤ 2.5) 보호를 위해 금속 하드마스크(MHM) 통합 공정 채택.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유전체는 기계적 강도가 약하고 화학적 변형에 취약 → 후속 공정 결함의 근원.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nm 이하 노드에서 식각·금속화·CMP 상호작용이 수율·신뢰성 이슈로 직결.</a:t>
            </a:r>
            <a:endParaRPr lang="en-US" sz="105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 · 불량 지도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네 가지 주요 불량 기전과 영향 경로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420624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20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RC 지연 상대값 — CU는 AL 대비 30–40% 감소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1280160"/>
            <a:ext cx="67052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불량 → 결과 → 신뢰성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609344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식각·금속화·CMP 상호작용이 10 nm 이하에서 수율·신뢰성 이슈로 직결.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569464"/>
          <a:ext cx="6705295" cy="914400"/>
        </p:xfrm>
        <a:graphic>
          <a:graphicData uri="http://schemas.openxmlformats.org/drawingml/2006/table">
            <a:tbl>
              <a:tblPr/>
              <a:tblGrid>
                <a:gridCol w="1676095"/>
                <a:gridCol w="1196950"/>
                <a:gridCol w="2155241"/>
                <a:gridCol w="1676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결함 유형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발생 공정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직접 결과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2E"/>
                          </a:solidFill>
                        </a:rPr>
                        <a:t>신뢰성 파급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하드마스크 고갈 / 펀치스루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트렌치·비아 식각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CD 확장, 금속 브릿지 → Metal Short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TDDB TTF 수십 배 단축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unCMP 잔류물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Cu/배리어 CMP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Cu·TaN 잔류 → 횡방향 누설·단락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WAT Short Failure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overCMP Dishing / Erosion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과연마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단면적 감소 → 선저항 +10–20%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J↑·줄 발열 → EM MTTF 급감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비아 챔퍼 무너짐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트렌치 과식각 (VFTL)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PVD 오버행 → 핀치오프 → Cu Void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B5563"/>
                          </a:solidFill>
                        </a:rPr>
                        <a:t>비아 Open, 배리어 단절 → TDDB</a:t>
                      </a:r>
                      <a:endParaRPr lang="en-US" sz="9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deep">
  <a:themeElements>
    <a:clrScheme name="Turquoise DS deep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6B5E"/>
      </a:accent1>
      <a:accent2>
        <a:srgbClr val="0085B6"/>
      </a:accent2>
      <a:accent3>
        <a:srgbClr val="16213E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deep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Damascene Premise Review</dc:title>
  <dc:subject>PptxGenJS Presentation</dc:subject>
  <dc:creator>공정 AI팀</dc:creator>
  <cp:lastModifiedBy>공정 AI팀</cp:lastModifiedBy>
  <cp:revision>1</cp:revision>
  <dcterms:created xsi:type="dcterms:W3CDTF">2026-10-03T16:48:14Z</dcterms:created>
  <dcterms:modified xsi:type="dcterms:W3CDTF">2026-10-03T16:48:14Z</dcterms:modified>
</cp:coreProperties>
</file>