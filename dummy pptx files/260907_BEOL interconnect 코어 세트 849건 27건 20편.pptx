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jpe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jpeg"/><Relationship Id="rId8" Type="http://schemas.openxmlformats.org/officeDocument/2006/relationships/image" Target="../media/image-2-8.jpe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4.png"/><Relationship Id="rId6" Type="http://schemas.openxmlformats.org/officeDocument/2006/relationships/image" Target="../media/image-3-4.png"/><Relationship Id="rId7" Type="http://schemas.openxmlformats.org/officeDocument/2006/relationships/image" Target="../media/image-3-4.png"/><Relationship Id="rId8" Type="http://schemas.openxmlformats.org/officeDocument/2006/relationships/image" Target="../media/image-3-4.png"/><Relationship Id="rId9" Type="http://schemas.openxmlformats.org/officeDocument/2006/relationships/image" Target="../media/image-3-4.png"/><Relationship Id="rId10" Type="http://schemas.openxmlformats.org/officeDocument/2006/relationships/image" Target="../media/image-3-4.png"/><Relationship Id="rId11" Type="http://schemas.openxmlformats.org/officeDocument/2006/relationships/image" Target="../media/image-3-4.png"/><Relationship Id="rId12" Type="http://schemas.openxmlformats.org/officeDocument/2006/relationships/image" Target="../media/image-3-4.png"/><Relationship Id="rId13" Type="http://schemas.openxmlformats.org/officeDocument/2006/relationships/image" Target="../media/image-3-4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jpeg"/><Relationship Id="rId17" Type="http://schemas.openxmlformats.org/officeDocument/2006/relationships/image" Target="../media/image-3-17.jpe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6534302"/>
            <a:ext cx="2857500" cy="1524305"/>
          </a:xfrm>
          <a:prstGeom prst="rect">
            <a:avLst/>
          </a:prstGeom>
          <a:solidFill>
            <a:srgbClr val="1217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19195" y="6534302"/>
            <a:ext cx="2857500" cy="1524305"/>
          </a:xfrm>
          <a:prstGeom prst="rect">
            <a:avLst/>
          </a:prstGeom>
          <a:solidFill>
            <a:srgbClr val="1217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67805" y="6534302"/>
            <a:ext cx="2857500" cy="1904695"/>
          </a:xfrm>
          <a:prstGeom prst="rect">
            <a:avLst/>
          </a:prstGeom>
          <a:solidFill>
            <a:srgbClr val="1A13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93f5c3295a3d26ea89361ef8768f352d.png">    </p:cNvPr>
          <p:cNvPicPr>
            <a:picLocks noChangeAspect="1"/>
          </p:cNvPicPr>
          <p:nvPr/>
        </p:nvPicPr>
        <p:blipFill>
          <a:blip r:embed="rId1"/>
          <a:srcRect l="-390" r="-390" t="0" b="0"/>
          <a:stretch/>
        </p:blipFill>
        <p:spPr>
          <a:xfrm>
            <a:off x="571500" y="6534302"/>
            <a:ext cx="38405" cy="1524305"/>
          </a:xfrm>
          <a:prstGeom prst="rect">
            <a:avLst/>
          </a:prstGeom>
        </p:spPr>
      </p:pic>
      <p:pic>
        <p:nvPicPr>
          <p:cNvPr id="6" name="Image 1" descr="gen-dedup-caed58b467bdc949e2bcd0f99db8af66.png">    </p:cNvPr>
          <p:cNvPicPr>
            <a:picLocks noChangeAspect="1"/>
          </p:cNvPicPr>
          <p:nvPr/>
        </p:nvPicPr>
        <p:blipFill>
          <a:blip r:embed="rId2"/>
          <a:srcRect l="-390" r="-390" t="0" b="0"/>
          <a:stretch/>
        </p:blipFill>
        <p:spPr>
          <a:xfrm>
            <a:off x="3619195" y="6534302"/>
            <a:ext cx="38405" cy="1524305"/>
          </a:xfrm>
          <a:prstGeom prst="rect">
            <a:avLst/>
          </a:prstGeom>
        </p:spPr>
      </p:pic>
      <p:pic>
        <p:nvPicPr>
          <p:cNvPr id="7" name="Image 2" descr="gen-dedup-0bcdb948eb3fb95cb841478231a7203e.png">    </p:cNvPr>
          <p:cNvPicPr>
            <a:picLocks noChangeAspect="1"/>
          </p:cNvPicPr>
          <p:nvPr/>
        </p:nvPicPr>
        <p:blipFill>
          <a:blip r:embed="rId3"/>
          <a:srcRect l="-408" r="-408" t="0" b="0"/>
          <a:stretch/>
        </p:blipFill>
        <p:spPr>
          <a:xfrm>
            <a:off x="6667805" y="6534302"/>
            <a:ext cx="38405" cy="1904695"/>
          </a:xfrm>
          <a:prstGeom prst="rect">
            <a:avLst/>
          </a:prstGeom>
        </p:spPr>
      </p:pic>
      <p:pic>
        <p:nvPicPr>
          <p:cNvPr id="8" name="Image 3" descr="gen-dedup-26e454525cf305bd6b1c953553ca43be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133502" y="0"/>
            <a:ext cx="57607" cy="10287000"/>
          </a:xfrm>
          <a:prstGeom prst="rect">
            <a:avLst/>
          </a:prstGeom>
        </p:spPr>
      </p:pic>
      <p:pic>
        <p:nvPicPr>
          <p:cNvPr id="9" name="Image 4" descr="gen-dedup-d5a5d7881f9dbff035ce229b370ec574.png">    </p:cNvPr>
          <p:cNvPicPr>
            <a:picLocks noChangeAspect="1"/>
          </p:cNvPicPr>
          <p:nvPr/>
        </p:nvPicPr>
        <p:blipFill>
          <a:blip r:embed="rId5"/>
          <a:srcRect l="-57" r="-57" t="0" b="0"/>
          <a:stretch/>
        </p:blipFill>
        <p:spPr>
          <a:xfrm>
            <a:off x="0" y="0"/>
            <a:ext cx="133502" cy="10287000"/>
          </a:xfrm>
          <a:prstGeom prst="rect">
            <a:avLst/>
          </a:prstGeom>
        </p:spPr>
      </p:pic>
      <p:pic>
        <p:nvPicPr>
          <p:cNvPr id="10" name="Image 5" descr="gen-dedup-45c5e3b2d70eb0113e303aa4b2d1513c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5895" y="1333195"/>
            <a:ext cx="6286500" cy="6476695"/>
          </a:xfrm>
          <a:prstGeom prst="rect">
            <a:avLst/>
          </a:prstGeom>
        </p:spPr>
      </p:pic>
      <p:pic>
        <p:nvPicPr>
          <p:cNvPr id="11" name="Image 6" descr="gen-dedup-a16620ac36e0f2e0441050c9395be915.png">    </p:cNvPr>
          <p:cNvPicPr>
            <a:picLocks noChangeAspect="1"/>
          </p:cNvPicPr>
          <p:nvPr/>
        </p:nvPicPr>
        <p:blipFill>
          <a:blip r:embed="rId7"/>
          <a:srcRect l="0" r="0" t="-400" b="-400"/>
          <a:stretch/>
        </p:blipFill>
        <p:spPr>
          <a:xfrm>
            <a:off x="11505895" y="1333195"/>
            <a:ext cx="6286500" cy="57607"/>
          </a:xfrm>
          <a:prstGeom prst="rect">
            <a:avLst/>
          </a:prstGeom>
        </p:spPr>
      </p:pic>
      <p:sp>
        <p:nvSpPr>
          <p:cNvPr id="12" name="Text 3"/>
          <p:cNvSpPr txBox="1"/>
          <p:nvPr/>
        </p:nvSpPr>
        <p:spPr>
          <a:xfrm>
            <a:off x="15430500" y="571500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spc="144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 14 / 30 · DUMMY</a:t>
            </a:r>
            <a:endParaRPr lang="en-US" sz="1200" dirty="0"/>
          </a:p>
        </p:txBody>
      </p:sp>
      <p:sp>
        <p:nvSpPr>
          <p:cNvPr id="13" name="Text 4"/>
          <p:cNvSpPr txBox="1"/>
          <p:nvPr/>
        </p:nvSpPr>
        <p:spPr>
          <a:xfrm>
            <a:off x="571500" y="914400"/>
            <a:ext cx="4953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BEOL · INTERCONNECT · CORE SET</a:t>
            </a:r>
            <a:endParaRPr lang="en-US" sz="1050" dirty="0"/>
          </a:p>
        </p:txBody>
      </p:sp>
      <p:sp>
        <p:nvSpPr>
          <p:cNvPr id="14" name="Text 5"/>
          <p:cNvSpPr txBox="1"/>
          <p:nvPr/>
        </p:nvSpPr>
        <p:spPr>
          <a:xfrm>
            <a:off x="571500" y="1333195"/>
            <a:ext cx="10858500" cy="2714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100" b="1" spc="-222" kern="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선정 기준과</a:t>
            </a:r>
            <a:pPr algn="l" indent="0" marL="0">
              <a:lnSpc>
                <a:spcPct val="96000"/>
              </a:lnSpc>
              <a:buNone/>
            </a:pPr>
            <a:endParaRPr lang="en-US" sz="1110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11100" b="1" spc="-222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20편</a:t>
            </a:r>
            <a:endParaRPr lang="en-US" sz="11100" dirty="0"/>
          </a:p>
        </p:txBody>
      </p:sp>
      <p:sp>
        <p:nvSpPr>
          <p:cNvPr id="15" name="Text 6"/>
          <p:cNvSpPr txBox="1"/>
          <p:nvPr/>
        </p:nvSpPr>
        <p:spPr>
          <a:xfrm>
            <a:off x="571500" y="4496105"/>
            <a:ext cx="9715500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9A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imec Institutional Repository에서 BEOL 질의가 849건, subject:(interconnect)가 27건을 돌려줍니다. 849건 중 BEOL 코어 이슈(금속화·패터닝·신뢰성·열)를 다루고, 원문 전문 또는 수치가 담긴 초록에 접근 가능한 논문 20편을 골랐습니다.</a:t>
            </a:r>
            <a:endParaRPr lang="en-US" sz="1650" dirty="0"/>
          </a:p>
        </p:txBody>
      </p:sp>
      <p:sp>
        <p:nvSpPr>
          <p:cNvPr id="16" name="Text 7"/>
          <p:cNvSpPr txBox="1"/>
          <p:nvPr/>
        </p:nvSpPr>
        <p:spPr>
          <a:xfrm>
            <a:off x="780898" y="6705295"/>
            <a:ext cx="25530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9AA3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QUERY · BEOL</a:t>
            </a:r>
            <a:endParaRPr lang="en-US" sz="825" dirty="0"/>
          </a:p>
        </p:txBody>
      </p:sp>
      <p:sp>
        <p:nvSpPr>
          <p:cNvPr id="17" name="Text 8"/>
          <p:cNvSpPr txBox="1"/>
          <p:nvPr/>
        </p:nvSpPr>
        <p:spPr>
          <a:xfrm>
            <a:off x="780898" y="6915607"/>
            <a:ext cx="2553005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550" b="1" spc="-111" kern="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849</a:t>
            </a:r>
            <a:pPr algn="l" indent="0" marL="0">
              <a:buNone/>
            </a:pPr>
            <a:r>
              <a:rPr lang="en-US" sz="1800" b="1" spc="-111" kern="0" dirty="0">
                <a:solidFill>
                  <a:srgbClr val="525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건</a:t>
            </a:r>
            <a:endParaRPr lang="en-US" sz="5550" dirty="0"/>
          </a:p>
        </p:txBody>
      </p:sp>
      <p:sp>
        <p:nvSpPr>
          <p:cNvPr id="18" name="Text 9"/>
          <p:cNvSpPr txBox="1"/>
          <p:nvPr/>
        </p:nvSpPr>
        <p:spPr>
          <a:xfrm>
            <a:off x="3829507" y="6705295"/>
            <a:ext cx="25530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9AA3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QUERY · INTERCONNECT</a:t>
            </a:r>
            <a:endParaRPr lang="en-US" sz="825" dirty="0"/>
          </a:p>
        </p:txBody>
      </p:sp>
      <p:sp>
        <p:nvSpPr>
          <p:cNvPr id="19" name="Text 10"/>
          <p:cNvSpPr txBox="1"/>
          <p:nvPr/>
        </p:nvSpPr>
        <p:spPr>
          <a:xfrm>
            <a:off x="3829507" y="6915607"/>
            <a:ext cx="2553005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550" b="1" spc="-111" kern="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</a:t>
            </a:r>
            <a:pPr algn="l" indent="0" marL="0">
              <a:buNone/>
            </a:pPr>
            <a:r>
              <a:rPr lang="en-US" sz="1800" b="1" spc="-111" kern="0" dirty="0">
                <a:solidFill>
                  <a:srgbClr val="525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건</a:t>
            </a:r>
            <a:endParaRPr lang="en-US" sz="5550" dirty="0"/>
          </a:p>
        </p:txBody>
      </p:sp>
      <p:sp>
        <p:nvSpPr>
          <p:cNvPr id="20" name="Text 11"/>
          <p:cNvSpPr txBox="1"/>
          <p:nvPr/>
        </p:nvSpPr>
        <p:spPr>
          <a:xfrm>
            <a:off x="6877202" y="6705295"/>
            <a:ext cx="25530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9AA3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코어 이슈 · 접근 가능</a:t>
            </a:r>
            <a:endParaRPr lang="en-US" sz="825" dirty="0"/>
          </a:p>
        </p:txBody>
      </p:sp>
      <p:sp>
        <p:nvSpPr>
          <p:cNvPr id="21" name="Text 12"/>
          <p:cNvSpPr txBox="1"/>
          <p:nvPr/>
        </p:nvSpPr>
        <p:spPr>
          <a:xfrm>
            <a:off x="6877202" y="6933895"/>
            <a:ext cx="2553005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0" b="1" spc="-132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</a:t>
            </a:r>
            <a:pPr algn="l" indent="0" marL="0">
              <a:buNone/>
            </a:pPr>
            <a:r>
              <a:rPr lang="en-US" sz="1800" b="1" spc="-132" kern="0" dirty="0">
                <a:solidFill>
                  <a:srgbClr val="525B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편</a:t>
            </a:r>
            <a:endParaRPr lang="en-US" sz="6600" dirty="0"/>
          </a:p>
        </p:txBody>
      </p:sp>
      <p:sp>
        <p:nvSpPr>
          <p:cNvPr id="22" name="Text 13"/>
          <p:cNvSpPr txBox="1"/>
          <p:nvPr/>
        </p:nvSpPr>
        <p:spPr>
          <a:xfrm>
            <a:off x="6877202" y="7905902"/>
            <a:ext cx="25530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AA3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금속화·패터닝·신뢰성·열</a:t>
            </a:r>
            <a:endParaRPr lang="en-US" sz="825" dirty="0"/>
          </a:p>
        </p:txBody>
      </p:sp>
      <p:sp>
        <p:nvSpPr>
          <p:cNvPr id="23" name="Text 14"/>
          <p:cNvSpPr txBox="1"/>
          <p:nvPr/>
        </p:nvSpPr>
        <p:spPr>
          <a:xfrm>
            <a:off x="571500" y="8762695"/>
            <a:ext cx="9715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EXCLUSIONS</a:t>
            </a:r>
            <a:endParaRPr lang="en-US" sz="900" dirty="0"/>
          </a:p>
        </p:txBody>
      </p:sp>
      <p:sp>
        <p:nvSpPr>
          <p:cNvPr id="24" name="Text 15"/>
          <p:cNvSpPr txBox="1"/>
          <p:nvPr/>
        </p:nvSpPr>
        <p:spPr>
          <a:xfrm>
            <a:off x="571500" y="9001354"/>
            <a:ext cx="9715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9A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제외한 것들: 광자·플렉시블·태양광 논문(주제 불일치), 세정·레지스트 스트립 계열(수치 공개 거의 없음), 그리고 초록조차 수치를 담지 않은 2000년대 초 oral presentation 기록.</a:t>
            </a:r>
            <a:endParaRPr lang="en-US" sz="1200" dirty="0"/>
          </a:p>
        </p:txBody>
      </p:sp>
      <p:sp>
        <p:nvSpPr>
          <p:cNvPr id="25" name="Text 16"/>
          <p:cNvSpPr txBox="1"/>
          <p:nvPr/>
        </p:nvSpPr>
        <p:spPr>
          <a:xfrm>
            <a:off x="11505895" y="7962595"/>
            <a:ext cx="6286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54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 dual-damascene interconnect cross section · Nature Communications</a:t>
            </a:r>
            <a:endParaRPr lang="en-US" sz="900" dirty="0"/>
          </a:p>
        </p:txBody>
      </p:sp>
      <p:sp>
        <p:nvSpPr>
          <p:cNvPr id="26" name="Text 17"/>
          <p:cNvSpPr txBox="1"/>
          <p:nvPr/>
        </p:nvSpPr>
        <p:spPr>
          <a:xfrm>
            <a:off x="11505895" y="8734349"/>
            <a:ext cx="6286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spc="54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리포지터리 PDF는 대부분 request-a-copy 제한이라,</a:t>
            </a:r>
            <a:pPr algn="l" indent="0" marL="0">
              <a:lnSpc>
                <a:spcPts val="1530"/>
              </a:lnSpc>
              <a:buNone/>
            </a:pP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spc="54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오픈액세스·무료 accepted manuscript를 우선했습니다.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9ec9db23cf9e315bba25dd921347c5c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571500" y="2286000"/>
            <a:ext cx="17145000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0" y="2667305"/>
            <a:ext cx="12001500" cy="1047902"/>
          </a:xfrm>
          <a:prstGeom prst="rect">
            <a:avLst/>
          </a:prstGeom>
          <a:solidFill>
            <a:srgbClr val="161B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715000" y="3829507"/>
            <a:ext cx="12001500" cy="1047902"/>
          </a:xfrm>
          <a:prstGeom prst="rect">
            <a:avLst/>
          </a:prstGeom>
          <a:solidFill>
            <a:srgbClr val="0F1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0" y="4990795"/>
            <a:ext cx="12001500" cy="1714500"/>
          </a:xfrm>
          <a:prstGeom prst="rect">
            <a:avLst/>
          </a:prstGeom>
          <a:solidFill>
            <a:srgbClr val="121A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15000" y="6819595"/>
            <a:ext cx="12001500" cy="1047902"/>
          </a:xfrm>
          <a:prstGeom prst="rect">
            <a:avLst/>
          </a:prstGeom>
          <a:solidFill>
            <a:srgbClr val="1A140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15000" y="7981798"/>
            <a:ext cx="12001500" cy="1047902"/>
          </a:xfrm>
          <a:prstGeom prst="rect">
            <a:avLst/>
          </a:prstGeom>
          <a:solidFill>
            <a:srgbClr val="1711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gen-dedup-c8739c31276d8ddefa32469760c12f77.png">    </p:cNvPr>
          <p:cNvPicPr>
            <a:picLocks noChangeAspect="1"/>
          </p:cNvPicPr>
          <p:nvPr/>
        </p:nvPicPr>
        <p:blipFill>
          <a:blip r:embed="rId2"/>
          <a:srcRect l="-393" r="-393" t="0" b="0"/>
          <a:stretch/>
        </p:blipFill>
        <p:spPr>
          <a:xfrm>
            <a:off x="5715000" y="2667305"/>
            <a:ext cx="57607" cy="1047902"/>
          </a:xfrm>
          <a:prstGeom prst="rect">
            <a:avLst/>
          </a:prstGeom>
        </p:spPr>
      </p:pic>
      <p:pic>
        <p:nvPicPr>
          <p:cNvPr id="9" name="Image 2" descr="gen-dedup-99939b15139867dff0ecc2343afcf5ac.png">    </p:cNvPr>
          <p:cNvPicPr>
            <a:picLocks noChangeAspect="1"/>
          </p:cNvPicPr>
          <p:nvPr/>
        </p:nvPicPr>
        <p:blipFill>
          <a:blip r:embed="rId3"/>
          <a:srcRect l="-393" r="-393" t="0" b="0"/>
          <a:stretch/>
        </p:blipFill>
        <p:spPr>
          <a:xfrm>
            <a:off x="5715000" y="3829507"/>
            <a:ext cx="57607" cy="1047902"/>
          </a:xfrm>
          <a:prstGeom prst="rect">
            <a:avLst/>
          </a:prstGeom>
        </p:spPr>
      </p:pic>
      <p:pic>
        <p:nvPicPr>
          <p:cNvPr id="10" name="Image 3" descr="gen-dedup-24b3483363ce781b2084541273c8838e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5715000" y="4990795"/>
            <a:ext cx="57607" cy="1714500"/>
          </a:xfrm>
          <a:prstGeom prst="rect">
            <a:avLst/>
          </a:prstGeom>
        </p:spPr>
      </p:pic>
      <p:pic>
        <p:nvPicPr>
          <p:cNvPr id="11" name="Image 4" descr="gen-dedup-b98cd1d4bb4a196fb628a9dceafec88e.png">    </p:cNvPr>
          <p:cNvPicPr>
            <a:picLocks noChangeAspect="1"/>
          </p:cNvPicPr>
          <p:nvPr/>
        </p:nvPicPr>
        <p:blipFill>
          <a:blip r:embed="rId5"/>
          <a:srcRect l="-393" r="-393" t="0" b="0"/>
          <a:stretch/>
        </p:blipFill>
        <p:spPr>
          <a:xfrm>
            <a:off x="5715000" y="6819595"/>
            <a:ext cx="57607" cy="1047902"/>
          </a:xfrm>
          <a:prstGeom prst="rect">
            <a:avLst/>
          </a:prstGeom>
        </p:spPr>
      </p:pic>
      <p:pic>
        <p:nvPicPr>
          <p:cNvPr id="12" name="Image 5" descr="gen-dedup-6da7ee71c726dbe183d6ad00fb3640e7.png">    </p:cNvPr>
          <p:cNvPicPr>
            <a:picLocks noChangeAspect="1"/>
          </p:cNvPicPr>
          <p:nvPr/>
        </p:nvPicPr>
        <p:blipFill>
          <a:blip r:embed="rId6"/>
          <a:srcRect l="-393" r="-393" t="0" b="0"/>
          <a:stretch/>
        </p:blipFill>
        <p:spPr>
          <a:xfrm>
            <a:off x="5715000" y="7981798"/>
            <a:ext cx="57607" cy="1047902"/>
          </a:xfrm>
          <a:prstGeom prst="rect">
            <a:avLst/>
          </a:prstGeom>
        </p:spPr>
      </p:pic>
      <p:pic>
        <p:nvPicPr>
          <p:cNvPr id="13" name="Image 6" descr="gen-dedup-c1bdfaf980c16e50f2e82af79c9f2158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667305"/>
            <a:ext cx="4762195" cy="5715000"/>
          </a:xfrm>
          <a:prstGeom prst="rect">
            <a:avLst/>
          </a:prstGeom>
        </p:spPr>
      </p:pic>
      <p:pic>
        <p:nvPicPr>
          <p:cNvPr id="14" name="Image 7" descr="gen-dedup-cb1375cf9325724047dd597767cde92d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9105595"/>
            <a:ext cx="4762195" cy="743407"/>
          </a:xfrm>
          <a:prstGeom prst="rect">
            <a:avLst/>
          </a:prstGeom>
        </p:spPr>
      </p:pic>
      <p:pic>
        <p:nvPicPr>
          <p:cNvPr id="15" name="Image 8" descr="gen-dedup-a23828e34581a926f9121d6092fd6657.png">    </p:cNvPr>
          <p:cNvPicPr>
            <a:picLocks noChangeAspect="1"/>
          </p:cNvPicPr>
          <p:nvPr/>
        </p:nvPicPr>
        <p:blipFill>
          <a:blip r:embed="rId9"/>
          <a:srcRect l="0" r="0" t="-403" b="-403"/>
          <a:stretch/>
        </p:blipFill>
        <p:spPr>
          <a:xfrm>
            <a:off x="571500" y="2667305"/>
            <a:ext cx="4762195" cy="57607"/>
          </a:xfrm>
          <a:prstGeom prst="rect">
            <a:avLst/>
          </a:prstGeom>
        </p:spPr>
      </p:pic>
      <p:sp>
        <p:nvSpPr>
          <p:cNvPr id="16" name="Text 5"/>
          <p:cNvSpPr txBox="1"/>
          <p:nvPr/>
        </p:nvSpPr>
        <p:spPr>
          <a:xfrm>
            <a:off x="761695" y="2857500"/>
            <a:ext cx="1162202" cy="277063"/>
          </a:xfrm>
          <a:prstGeom prst="rect">
            <a:avLst/>
          </a:prstGeom>
          <a:solidFill>
            <a:srgbClr val="0B0E14">
              <a:alpha val="7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63500" rIns="114300" bIns="6350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FAFA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· 20편</a:t>
            </a:r>
            <a:endParaRPr lang="en-US" sz="900" dirty="0"/>
          </a:p>
        </p:txBody>
      </p:sp>
      <p:sp>
        <p:nvSpPr>
          <p:cNvPr id="17" name="Text 6"/>
          <p:cNvSpPr txBox="1"/>
          <p:nvPr/>
        </p:nvSpPr>
        <p:spPr>
          <a:xfrm>
            <a:off x="571500" y="609905"/>
            <a:ext cx="7429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MAP · 5 BRANCHES</a:t>
            </a:r>
            <a:endParaRPr lang="en-US" sz="1050" dirty="0"/>
          </a:p>
        </p:txBody>
      </p:sp>
      <p:sp>
        <p:nvSpPr>
          <p:cNvPr id="18" name="Text 7"/>
          <p:cNvSpPr txBox="1"/>
          <p:nvPr/>
        </p:nvSpPr>
        <p:spPr>
          <a:xfrm>
            <a:off x="15430500" y="609905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215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03</a:t>
            </a:r>
            <a:endParaRPr lang="en-US" sz="975" dirty="0"/>
          </a:p>
        </p:txBody>
      </p:sp>
      <p:sp>
        <p:nvSpPr>
          <p:cNvPr id="19" name="Text 8"/>
          <p:cNvSpPr txBox="1"/>
          <p:nvPr/>
        </p:nvSpPr>
        <p:spPr>
          <a:xfrm>
            <a:off x="571500" y="914400"/>
            <a:ext cx="14287500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선정 기준과 20편</a:t>
            </a:r>
            <a:pPr algn="l" indent="0" marL="0">
              <a:lnSpc>
                <a:spcPct val="105000"/>
              </a:lnSpc>
              <a:buNone/>
            </a:pPr>
            <a:endParaRPr lang="en-US" sz="4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100" b="1" spc="-90" kern="0" dirty="0">
                <a:solidFill>
                  <a:srgbClr val="9A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다섯 축으로 갈라집니다</a:t>
            </a:r>
            <a:endParaRPr lang="en-US" sz="4500" dirty="0"/>
          </a:p>
        </p:txBody>
      </p:sp>
      <p:sp>
        <p:nvSpPr>
          <p:cNvPr id="20" name="Text 9"/>
          <p:cNvSpPr txBox="1"/>
          <p:nvPr/>
        </p:nvSpPr>
        <p:spPr>
          <a:xfrm>
            <a:off x="571500" y="8534095"/>
            <a:ext cx="4763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54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BEOL stage overview · imec</a:t>
            </a:r>
            <a:endParaRPr lang="en-US" sz="900" dirty="0"/>
          </a:p>
        </p:txBody>
      </p:sp>
      <p:sp>
        <p:nvSpPr>
          <p:cNvPr id="21" name="Text 10"/>
          <p:cNvSpPr txBox="1"/>
          <p:nvPr/>
        </p:nvSpPr>
        <p:spPr>
          <a:xfrm>
            <a:off x="5962802" y="2800807"/>
            <a:ext cx="21717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01</a:t>
            </a:r>
            <a:endParaRPr lang="en-US" sz="825" dirty="0"/>
          </a:p>
        </p:txBody>
      </p:sp>
      <p:sp>
        <p:nvSpPr>
          <p:cNvPr id="22" name="Text 11"/>
          <p:cNvSpPr txBox="1"/>
          <p:nvPr/>
        </p:nvSpPr>
        <p:spPr>
          <a:xfrm>
            <a:off x="5962802" y="3029407"/>
            <a:ext cx="21717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금속화</a:t>
            </a:r>
            <a:endParaRPr lang="en-US" sz="2250" dirty="0"/>
          </a:p>
        </p:txBody>
      </p:sp>
      <p:sp>
        <p:nvSpPr>
          <p:cNvPr id="23" name="Text 12"/>
          <p:cNvSpPr txBox="1"/>
          <p:nvPr/>
        </p:nvSpPr>
        <p:spPr>
          <a:xfrm>
            <a:off x="5962802" y="3448202"/>
            <a:ext cx="21717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spc="-42" kern="0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pPr algn="l" indent="0" marL="0">
              <a:buNone/>
            </a:pPr>
            <a:r>
              <a:rPr lang="en-US" sz="1050" b="1" spc="-42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편</a:t>
            </a:r>
            <a:endParaRPr lang="en-US" sz="2100" dirty="0"/>
          </a:p>
        </p:txBody>
      </p:sp>
      <p:sp>
        <p:nvSpPr>
          <p:cNvPr id="24" name="Shape 13"/>
          <p:cNvSpPr/>
          <p:nvPr/>
        </p:nvSpPr>
        <p:spPr>
          <a:xfrm>
            <a:off x="8382305" y="2800807"/>
            <a:ext cx="1790395" cy="780898"/>
          </a:xfrm>
          <a:prstGeom prst="rect">
            <a:avLst/>
          </a:prstGeom>
          <a:solidFill>
            <a:srgbClr val="1F2532"/>
          </a:solidFill>
          <a:ln w="12700">
            <a:solidFill>
              <a:srgbClr val="2C3548"/>
            </a:solidFill>
            <a:prstDash val="solid"/>
          </a:ln>
        </p:spPr>
      </p:sp>
      <p:sp>
        <p:nvSpPr>
          <p:cNvPr id="25" name="Text 14"/>
          <p:cNvSpPr txBox="1"/>
          <p:nvPr/>
        </p:nvSpPr>
        <p:spPr>
          <a:xfrm>
            <a:off x="8524951" y="2924251"/>
            <a:ext cx="15051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#01</a:t>
            </a:r>
            <a:endParaRPr lang="en-US" sz="825" dirty="0"/>
          </a:p>
        </p:txBody>
      </p:sp>
      <p:sp>
        <p:nvSpPr>
          <p:cNvPr id="26" name="Text 15"/>
          <p:cNvSpPr txBox="1"/>
          <p:nvPr/>
        </p:nvSpPr>
        <p:spPr>
          <a:xfrm>
            <a:off x="8524951" y="3114446"/>
            <a:ext cx="15051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Soulié, 2024</a:t>
            </a:r>
            <a:endParaRPr lang="en-US" sz="975" dirty="0"/>
          </a:p>
        </p:txBody>
      </p:sp>
      <p:sp>
        <p:nvSpPr>
          <p:cNvPr id="27" name="Text 16"/>
          <p:cNvSpPr txBox="1"/>
          <p:nvPr/>
        </p:nvSpPr>
        <p:spPr>
          <a:xfrm>
            <a:off x="8524951" y="3305556"/>
            <a:ext cx="15051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C4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JAP 136, 171101</a:t>
            </a:r>
            <a:endParaRPr lang="en-US" sz="825" dirty="0"/>
          </a:p>
        </p:txBody>
      </p:sp>
      <p:sp>
        <p:nvSpPr>
          <p:cNvPr id="28" name="Shape 17"/>
          <p:cNvSpPr/>
          <p:nvPr/>
        </p:nvSpPr>
        <p:spPr>
          <a:xfrm>
            <a:off x="10244938" y="2800807"/>
            <a:ext cx="1790395" cy="780898"/>
          </a:xfrm>
          <a:prstGeom prst="rect">
            <a:avLst/>
          </a:prstGeom>
          <a:solidFill>
            <a:srgbClr val="1F2532"/>
          </a:solidFill>
          <a:ln w="12700">
            <a:solidFill>
              <a:srgbClr val="2C3548"/>
            </a:solidFill>
            <a:prstDash val="solid"/>
          </a:ln>
        </p:spPr>
      </p:sp>
      <p:sp>
        <p:nvSpPr>
          <p:cNvPr id="29" name="Text 18"/>
          <p:cNvSpPr txBox="1"/>
          <p:nvPr/>
        </p:nvSpPr>
        <p:spPr>
          <a:xfrm>
            <a:off x="10388498" y="2924251"/>
            <a:ext cx="15051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#02</a:t>
            </a:r>
            <a:endParaRPr lang="en-US" sz="825" dirty="0"/>
          </a:p>
        </p:txBody>
      </p:sp>
      <p:sp>
        <p:nvSpPr>
          <p:cNvPr id="30" name="Text 19"/>
          <p:cNvSpPr txBox="1"/>
          <p:nvPr/>
        </p:nvSpPr>
        <p:spPr>
          <a:xfrm>
            <a:off x="10388498" y="3114446"/>
            <a:ext cx="15051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Soulié, 2024</a:t>
            </a:r>
            <a:endParaRPr lang="en-US" sz="975" dirty="0"/>
          </a:p>
        </p:txBody>
      </p:sp>
      <p:sp>
        <p:nvSpPr>
          <p:cNvPr id="31" name="Text 20"/>
          <p:cNvSpPr txBox="1"/>
          <p:nvPr/>
        </p:nvSpPr>
        <p:spPr>
          <a:xfrm>
            <a:off x="10388498" y="3305556"/>
            <a:ext cx="15051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C4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JVST B 42, 043203</a:t>
            </a:r>
            <a:endParaRPr lang="en-US" sz="825" dirty="0"/>
          </a:p>
        </p:txBody>
      </p:sp>
      <p:sp>
        <p:nvSpPr>
          <p:cNvPr id="32" name="Shape 21"/>
          <p:cNvSpPr/>
          <p:nvPr/>
        </p:nvSpPr>
        <p:spPr>
          <a:xfrm>
            <a:off x="12108485" y="2800807"/>
            <a:ext cx="1790395" cy="780898"/>
          </a:xfrm>
          <a:prstGeom prst="rect">
            <a:avLst/>
          </a:prstGeom>
          <a:solidFill>
            <a:srgbClr val="1F2532"/>
          </a:solidFill>
          <a:ln w="12700">
            <a:solidFill>
              <a:srgbClr val="2C3548"/>
            </a:solidFill>
            <a:prstDash val="solid"/>
          </a:ln>
        </p:spPr>
      </p:sp>
      <p:sp>
        <p:nvSpPr>
          <p:cNvPr id="33" name="Text 22"/>
          <p:cNvSpPr txBox="1"/>
          <p:nvPr/>
        </p:nvSpPr>
        <p:spPr>
          <a:xfrm>
            <a:off x="12251131" y="2924251"/>
            <a:ext cx="15051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#03</a:t>
            </a:r>
            <a:endParaRPr lang="en-US" sz="825" dirty="0"/>
          </a:p>
        </p:txBody>
      </p:sp>
      <p:sp>
        <p:nvSpPr>
          <p:cNvPr id="34" name="Text 23"/>
          <p:cNvSpPr txBox="1"/>
          <p:nvPr/>
        </p:nvSpPr>
        <p:spPr>
          <a:xfrm>
            <a:off x="12251131" y="3114446"/>
            <a:ext cx="15051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Moors, 2022</a:t>
            </a:r>
            <a:endParaRPr lang="en-US" sz="975" dirty="0"/>
          </a:p>
        </p:txBody>
      </p:sp>
      <p:sp>
        <p:nvSpPr>
          <p:cNvPr id="35" name="Text 24"/>
          <p:cNvSpPr txBox="1"/>
          <p:nvPr/>
        </p:nvSpPr>
        <p:spPr>
          <a:xfrm>
            <a:off x="12251131" y="3305556"/>
            <a:ext cx="15051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C4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PRM 6, 123804</a:t>
            </a:r>
            <a:endParaRPr lang="en-US" sz="825" dirty="0"/>
          </a:p>
        </p:txBody>
      </p:sp>
      <p:sp>
        <p:nvSpPr>
          <p:cNvPr id="36" name="Shape 25"/>
          <p:cNvSpPr/>
          <p:nvPr/>
        </p:nvSpPr>
        <p:spPr>
          <a:xfrm>
            <a:off x="13971118" y="2800807"/>
            <a:ext cx="1790395" cy="780898"/>
          </a:xfrm>
          <a:prstGeom prst="rect">
            <a:avLst/>
          </a:prstGeom>
          <a:solidFill>
            <a:srgbClr val="1F2532"/>
          </a:solidFill>
          <a:ln w="12700">
            <a:solidFill>
              <a:srgbClr val="2C3548"/>
            </a:solidFill>
            <a:prstDash val="solid"/>
          </a:ln>
        </p:spPr>
      </p:sp>
      <p:sp>
        <p:nvSpPr>
          <p:cNvPr id="37" name="Text 26"/>
          <p:cNvSpPr txBox="1"/>
          <p:nvPr/>
        </p:nvSpPr>
        <p:spPr>
          <a:xfrm>
            <a:off x="14114678" y="2924251"/>
            <a:ext cx="15051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#04</a:t>
            </a:r>
            <a:endParaRPr lang="en-US" sz="825" dirty="0"/>
          </a:p>
        </p:txBody>
      </p:sp>
      <p:sp>
        <p:nvSpPr>
          <p:cNvPr id="38" name="Text 27"/>
          <p:cNvSpPr txBox="1"/>
          <p:nvPr/>
        </p:nvSpPr>
        <p:spPr>
          <a:xfrm>
            <a:off x="14114678" y="3114446"/>
            <a:ext cx="15051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Sankaran, 2021</a:t>
            </a:r>
            <a:endParaRPr lang="en-US" sz="975" dirty="0"/>
          </a:p>
        </p:txBody>
      </p:sp>
      <p:sp>
        <p:nvSpPr>
          <p:cNvPr id="39" name="Text 28"/>
          <p:cNvSpPr txBox="1"/>
          <p:nvPr/>
        </p:nvSpPr>
        <p:spPr>
          <a:xfrm>
            <a:off x="14114678" y="3305556"/>
            <a:ext cx="15051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C4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PRM 5, 056002</a:t>
            </a:r>
            <a:endParaRPr lang="en-US" sz="825" dirty="0"/>
          </a:p>
        </p:txBody>
      </p:sp>
      <p:sp>
        <p:nvSpPr>
          <p:cNvPr id="40" name="Shape 29"/>
          <p:cNvSpPr/>
          <p:nvPr/>
        </p:nvSpPr>
        <p:spPr>
          <a:xfrm>
            <a:off x="15834665" y="2800807"/>
            <a:ext cx="1790395" cy="780898"/>
          </a:xfrm>
          <a:prstGeom prst="rect">
            <a:avLst/>
          </a:prstGeom>
          <a:solidFill>
            <a:srgbClr val="1F2532"/>
          </a:solidFill>
          <a:ln w="12700">
            <a:solidFill>
              <a:srgbClr val="2C3548"/>
            </a:solidFill>
            <a:prstDash val="solid"/>
          </a:ln>
        </p:spPr>
      </p:sp>
      <p:sp>
        <p:nvSpPr>
          <p:cNvPr id="41" name="Text 30"/>
          <p:cNvSpPr txBox="1"/>
          <p:nvPr/>
        </p:nvSpPr>
        <p:spPr>
          <a:xfrm>
            <a:off x="15977311" y="2924251"/>
            <a:ext cx="15051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E8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#05</a:t>
            </a:r>
            <a:endParaRPr lang="en-US" sz="825" dirty="0"/>
          </a:p>
        </p:txBody>
      </p:sp>
      <p:sp>
        <p:nvSpPr>
          <p:cNvPr id="42" name="Text 31"/>
          <p:cNvSpPr txBox="1"/>
          <p:nvPr/>
        </p:nvSpPr>
        <p:spPr>
          <a:xfrm>
            <a:off x="15977311" y="3114446"/>
            <a:ext cx="15051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Shah, 2026</a:t>
            </a:r>
            <a:endParaRPr lang="en-US" sz="975" dirty="0"/>
          </a:p>
        </p:txBody>
      </p:sp>
      <p:sp>
        <p:nvSpPr>
          <p:cNvPr id="43" name="Text 32"/>
          <p:cNvSpPr txBox="1"/>
          <p:nvPr/>
        </p:nvSpPr>
        <p:spPr>
          <a:xfrm>
            <a:off x="15977311" y="3305556"/>
            <a:ext cx="15051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C4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ACS AMI 18, 20763</a:t>
            </a:r>
            <a:endParaRPr lang="en-US" sz="825" dirty="0"/>
          </a:p>
        </p:txBody>
      </p:sp>
      <p:sp>
        <p:nvSpPr>
          <p:cNvPr id="44" name="Text 33"/>
          <p:cNvSpPr txBox="1"/>
          <p:nvPr/>
        </p:nvSpPr>
        <p:spPr>
          <a:xfrm>
            <a:off x="5962802" y="3962095"/>
            <a:ext cx="21717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02</a:t>
            </a:r>
            <a:endParaRPr lang="en-US" sz="825" dirty="0"/>
          </a:p>
        </p:txBody>
      </p:sp>
      <p:sp>
        <p:nvSpPr>
          <p:cNvPr id="45" name="Text 34"/>
          <p:cNvSpPr txBox="1"/>
          <p:nvPr/>
        </p:nvSpPr>
        <p:spPr>
          <a:xfrm>
            <a:off x="5962802" y="4190695"/>
            <a:ext cx="21717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패터닝</a:t>
            </a:r>
            <a:endParaRPr lang="en-US" sz="2250" dirty="0"/>
          </a:p>
        </p:txBody>
      </p:sp>
      <p:sp>
        <p:nvSpPr>
          <p:cNvPr id="46" name="Text 35"/>
          <p:cNvSpPr txBox="1"/>
          <p:nvPr/>
        </p:nvSpPr>
        <p:spPr>
          <a:xfrm>
            <a:off x="5962802" y="4591202"/>
            <a:ext cx="21717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spc="-42" kern="0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pPr algn="l" indent="0" marL="0">
              <a:buNone/>
            </a:pPr>
            <a:r>
              <a:rPr lang="en-US" sz="1050" b="1" spc="-42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편</a:t>
            </a:r>
            <a:endParaRPr lang="en-US" sz="2100" dirty="0"/>
          </a:p>
        </p:txBody>
      </p:sp>
      <p:sp>
        <p:nvSpPr>
          <p:cNvPr id="47" name="Shape 36"/>
          <p:cNvSpPr/>
          <p:nvPr/>
        </p:nvSpPr>
        <p:spPr>
          <a:xfrm>
            <a:off x="8382305" y="3962095"/>
            <a:ext cx="3019349" cy="771754"/>
          </a:xfrm>
          <a:prstGeom prst="rect">
            <a:avLst/>
          </a:prstGeom>
          <a:solidFill>
            <a:srgbClr val="16202B"/>
          </a:solidFill>
          <a:ln w="12700">
            <a:solidFill>
              <a:srgbClr val="2C3548"/>
            </a:solidFill>
            <a:prstDash val="solid"/>
          </a:ln>
        </p:spPr>
      </p:sp>
      <p:sp>
        <p:nvSpPr>
          <p:cNvPr id="48" name="Text 37"/>
          <p:cNvSpPr txBox="1"/>
          <p:nvPr/>
        </p:nvSpPr>
        <p:spPr>
          <a:xfrm>
            <a:off x="8524951" y="4086454"/>
            <a:ext cx="27340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#06</a:t>
            </a:r>
            <a:endParaRPr lang="en-US" sz="825" dirty="0"/>
          </a:p>
        </p:txBody>
      </p:sp>
      <p:sp>
        <p:nvSpPr>
          <p:cNvPr id="49" name="Text 38"/>
          <p:cNvSpPr txBox="1"/>
          <p:nvPr/>
        </p:nvSpPr>
        <p:spPr>
          <a:xfrm>
            <a:off x="8524951" y="4276649"/>
            <a:ext cx="273405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Murdoch, 2022</a:t>
            </a:r>
            <a:endParaRPr lang="en-US" sz="1050" dirty="0"/>
          </a:p>
        </p:txBody>
      </p:sp>
      <p:sp>
        <p:nvSpPr>
          <p:cNvPr id="50" name="Text 39"/>
          <p:cNvSpPr txBox="1"/>
          <p:nvPr/>
        </p:nvSpPr>
        <p:spPr>
          <a:xfrm>
            <a:off x="8524951" y="4476902"/>
            <a:ext cx="27340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C4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VLSI Symp. 2022</a:t>
            </a:r>
            <a:endParaRPr lang="en-US" sz="825" dirty="0"/>
          </a:p>
        </p:txBody>
      </p:sp>
      <p:sp>
        <p:nvSpPr>
          <p:cNvPr id="51" name="Shape 40"/>
          <p:cNvSpPr/>
          <p:nvPr/>
        </p:nvSpPr>
        <p:spPr>
          <a:xfrm>
            <a:off x="11493094" y="3962095"/>
            <a:ext cx="3019349" cy="771754"/>
          </a:xfrm>
          <a:prstGeom prst="rect">
            <a:avLst/>
          </a:prstGeom>
          <a:solidFill>
            <a:srgbClr val="16202B"/>
          </a:solidFill>
          <a:ln w="12700">
            <a:solidFill>
              <a:srgbClr val="2C3548"/>
            </a:solidFill>
            <a:prstDash val="solid"/>
          </a:ln>
        </p:spPr>
      </p:sp>
      <p:sp>
        <p:nvSpPr>
          <p:cNvPr id="52" name="Text 41"/>
          <p:cNvSpPr txBox="1"/>
          <p:nvPr/>
        </p:nvSpPr>
        <p:spPr>
          <a:xfrm>
            <a:off x="11636654" y="4086454"/>
            <a:ext cx="27340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#07</a:t>
            </a:r>
            <a:endParaRPr lang="en-US" sz="825" dirty="0"/>
          </a:p>
        </p:txBody>
      </p:sp>
      <p:sp>
        <p:nvSpPr>
          <p:cNvPr id="53" name="Text 42"/>
          <p:cNvSpPr txBox="1"/>
          <p:nvPr/>
        </p:nvSpPr>
        <p:spPr>
          <a:xfrm>
            <a:off x="11636654" y="4276649"/>
            <a:ext cx="273405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Montero Alvarez, 2022</a:t>
            </a:r>
            <a:endParaRPr lang="en-US" sz="1050" dirty="0"/>
          </a:p>
        </p:txBody>
      </p:sp>
      <p:sp>
        <p:nvSpPr>
          <p:cNvPr id="54" name="Text 43"/>
          <p:cNvSpPr txBox="1"/>
          <p:nvPr/>
        </p:nvSpPr>
        <p:spPr>
          <a:xfrm>
            <a:off x="11636654" y="4476902"/>
            <a:ext cx="27340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C4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IITC 2022</a:t>
            </a:r>
            <a:endParaRPr lang="en-US" sz="825" dirty="0"/>
          </a:p>
        </p:txBody>
      </p:sp>
      <p:sp>
        <p:nvSpPr>
          <p:cNvPr id="55" name="Shape 44"/>
          <p:cNvSpPr/>
          <p:nvPr/>
        </p:nvSpPr>
        <p:spPr>
          <a:xfrm>
            <a:off x="14604797" y="3962095"/>
            <a:ext cx="3019349" cy="771754"/>
          </a:xfrm>
          <a:prstGeom prst="rect">
            <a:avLst/>
          </a:prstGeom>
          <a:solidFill>
            <a:srgbClr val="16202B"/>
          </a:solidFill>
          <a:ln w="12700">
            <a:solidFill>
              <a:srgbClr val="2C3548"/>
            </a:solidFill>
            <a:prstDash val="solid"/>
          </a:ln>
        </p:spPr>
      </p:sp>
      <p:sp>
        <p:nvSpPr>
          <p:cNvPr id="56" name="Text 45"/>
          <p:cNvSpPr txBox="1"/>
          <p:nvPr/>
        </p:nvSpPr>
        <p:spPr>
          <a:xfrm>
            <a:off x="14747443" y="4086454"/>
            <a:ext cx="27340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#08</a:t>
            </a:r>
            <a:endParaRPr lang="en-US" sz="825" dirty="0"/>
          </a:p>
        </p:txBody>
      </p:sp>
      <p:sp>
        <p:nvSpPr>
          <p:cNvPr id="57" name="Text 46"/>
          <p:cNvSpPr txBox="1"/>
          <p:nvPr/>
        </p:nvSpPr>
        <p:spPr>
          <a:xfrm>
            <a:off x="14747443" y="4276649"/>
            <a:ext cx="273405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Das, 2021</a:t>
            </a:r>
            <a:endParaRPr lang="en-US" sz="1050" dirty="0"/>
          </a:p>
        </p:txBody>
      </p:sp>
      <p:sp>
        <p:nvSpPr>
          <p:cNvPr id="58" name="Text 47"/>
          <p:cNvSpPr txBox="1"/>
          <p:nvPr/>
        </p:nvSpPr>
        <p:spPr>
          <a:xfrm>
            <a:off x="14747443" y="4476902"/>
            <a:ext cx="27340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C4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Proc. SPIE 11611, 116112A</a:t>
            </a:r>
            <a:endParaRPr lang="en-US" sz="825" dirty="0"/>
          </a:p>
        </p:txBody>
      </p:sp>
      <p:sp>
        <p:nvSpPr>
          <p:cNvPr id="59" name="Text 48"/>
          <p:cNvSpPr txBox="1"/>
          <p:nvPr/>
        </p:nvSpPr>
        <p:spPr>
          <a:xfrm>
            <a:off x="5962802" y="5105095"/>
            <a:ext cx="21717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03</a:t>
            </a:r>
            <a:endParaRPr lang="en-US" sz="825" dirty="0"/>
          </a:p>
        </p:txBody>
      </p:sp>
      <p:sp>
        <p:nvSpPr>
          <p:cNvPr id="60" name="Text 49"/>
          <p:cNvSpPr txBox="1"/>
          <p:nvPr/>
        </p:nvSpPr>
        <p:spPr>
          <a:xfrm>
            <a:off x="5962802" y="5333695"/>
            <a:ext cx="21717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신뢰성</a:t>
            </a:r>
            <a:endParaRPr lang="en-US" sz="2250" dirty="0"/>
          </a:p>
        </p:txBody>
      </p:sp>
      <p:sp>
        <p:nvSpPr>
          <p:cNvPr id="61" name="Text 50"/>
          <p:cNvSpPr txBox="1"/>
          <p:nvPr/>
        </p:nvSpPr>
        <p:spPr>
          <a:xfrm>
            <a:off x="5962802" y="5772607"/>
            <a:ext cx="21717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84CC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pPr algn="l" indent="0" marL="0">
              <a:buNone/>
            </a:pPr>
            <a:r>
              <a:rPr lang="en-US" sz="1050" b="1" spc="-66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편</a:t>
            </a:r>
            <a:endParaRPr lang="en-US" sz="3300" dirty="0"/>
          </a:p>
        </p:txBody>
      </p:sp>
      <p:sp>
        <p:nvSpPr>
          <p:cNvPr id="62" name="Shape 51"/>
          <p:cNvSpPr/>
          <p:nvPr/>
        </p:nvSpPr>
        <p:spPr>
          <a:xfrm>
            <a:off x="8382305" y="5086807"/>
            <a:ext cx="2257654" cy="657454"/>
          </a:xfrm>
          <a:prstGeom prst="rect">
            <a:avLst/>
          </a:prstGeom>
          <a:solidFill>
            <a:srgbClr val="1B2418"/>
          </a:solidFill>
          <a:ln w="12700">
            <a:solidFill>
              <a:srgbClr val="2C3548"/>
            </a:solidFill>
            <a:prstDash val="solid"/>
          </a:ln>
        </p:spPr>
      </p:sp>
      <p:sp>
        <p:nvSpPr>
          <p:cNvPr id="63" name="Text 52"/>
          <p:cNvSpPr txBox="1"/>
          <p:nvPr/>
        </p:nvSpPr>
        <p:spPr>
          <a:xfrm>
            <a:off x="8505749" y="5181905"/>
            <a:ext cx="2009851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#09</a:t>
            </a:r>
            <a:endParaRPr lang="en-US" sz="800" dirty="0"/>
          </a:p>
        </p:txBody>
      </p:sp>
      <p:sp>
        <p:nvSpPr>
          <p:cNvPr id="64" name="Text 53"/>
          <p:cNvSpPr txBox="1"/>
          <p:nvPr/>
        </p:nvSpPr>
        <p:spPr>
          <a:xfrm>
            <a:off x="8505749" y="5343754"/>
            <a:ext cx="20098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Zahedmanesh, 2024</a:t>
            </a:r>
            <a:endParaRPr lang="en-US" sz="975" dirty="0"/>
          </a:p>
        </p:txBody>
      </p:sp>
      <p:sp>
        <p:nvSpPr>
          <p:cNvPr id="65" name="Text 54"/>
          <p:cNvSpPr txBox="1"/>
          <p:nvPr/>
        </p:nvSpPr>
        <p:spPr>
          <a:xfrm>
            <a:off x="8505749" y="5524805"/>
            <a:ext cx="2009851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4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Micromachines 15, 956</a:t>
            </a:r>
            <a:endParaRPr lang="en-US" sz="800" dirty="0"/>
          </a:p>
        </p:txBody>
      </p:sp>
      <p:sp>
        <p:nvSpPr>
          <p:cNvPr id="66" name="Shape 55"/>
          <p:cNvSpPr/>
          <p:nvPr/>
        </p:nvSpPr>
        <p:spPr>
          <a:xfrm>
            <a:off x="10711282" y="5086807"/>
            <a:ext cx="2257654" cy="657454"/>
          </a:xfrm>
          <a:prstGeom prst="rect">
            <a:avLst/>
          </a:prstGeom>
          <a:solidFill>
            <a:srgbClr val="1B2418"/>
          </a:solidFill>
          <a:ln w="12700">
            <a:solidFill>
              <a:srgbClr val="2C3548"/>
            </a:solidFill>
            <a:prstDash val="solid"/>
          </a:ln>
        </p:spPr>
      </p:sp>
      <p:sp>
        <p:nvSpPr>
          <p:cNvPr id="67" name="Text 56"/>
          <p:cNvSpPr txBox="1"/>
          <p:nvPr/>
        </p:nvSpPr>
        <p:spPr>
          <a:xfrm>
            <a:off x="10834726" y="5181905"/>
            <a:ext cx="2009851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#10</a:t>
            </a:r>
            <a:endParaRPr lang="en-US" sz="800" dirty="0"/>
          </a:p>
        </p:txBody>
      </p:sp>
      <p:sp>
        <p:nvSpPr>
          <p:cNvPr id="68" name="Text 57"/>
          <p:cNvSpPr txBox="1"/>
          <p:nvPr/>
        </p:nvSpPr>
        <p:spPr>
          <a:xfrm>
            <a:off x="10834726" y="5343754"/>
            <a:ext cx="20098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Esposto, 2025</a:t>
            </a:r>
            <a:endParaRPr lang="en-US" sz="975" dirty="0"/>
          </a:p>
        </p:txBody>
      </p:sp>
      <p:sp>
        <p:nvSpPr>
          <p:cNvPr id="69" name="Text 58"/>
          <p:cNvSpPr txBox="1"/>
          <p:nvPr/>
        </p:nvSpPr>
        <p:spPr>
          <a:xfrm>
            <a:off x="10834726" y="5524805"/>
            <a:ext cx="2009851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4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IEEE TDMR 25, 232</a:t>
            </a:r>
            <a:endParaRPr lang="en-US" sz="800" dirty="0"/>
          </a:p>
        </p:txBody>
      </p:sp>
      <p:sp>
        <p:nvSpPr>
          <p:cNvPr id="70" name="Shape 59"/>
          <p:cNvSpPr/>
          <p:nvPr/>
        </p:nvSpPr>
        <p:spPr>
          <a:xfrm>
            <a:off x="13039344" y="5086807"/>
            <a:ext cx="2257654" cy="657454"/>
          </a:xfrm>
          <a:prstGeom prst="rect">
            <a:avLst/>
          </a:prstGeom>
          <a:solidFill>
            <a:srgbClr val="1B2418"/>
          </a:solidFill>
          <a:ln w="12700">
            <a:solidFill>
              <a:srgbClr val="2C3548"/>
            </a:solidFill>
            <a:prstDash val="solid"/>
          </a:ln>
        </p:spPr>
      </p:sp>
      <p:sp>
        <p:nvSpPr>
          <p:cNvPr id="71" name="Text 60"/>
          <p:cNvSpPr txBox="1"/>
          <p:nvPr/>
        </p:nvSpPr>
        <p:spPr>
          <a:xfrm>
            <a:off x="13163702" y="5181905"/>
            <a:ext cx="2009851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#11</a:t>
            </a:r>
            <a:endParaRPr lang="en-US" sz="800" dirty="0"/>
          </a:p>
        </p:txBody>
      </p:sp>
      <p:sp>
        <p:nvSpPr>
          <p:cNvPr id="72" name="Text 61"/>
          <p:cNvSpPr txBox="1"/>
          <p:nvPr/>
        </p:nvSpPr>
        <p:spPr>
          <a:xfrm>
            <a:off x="13163702" y="5343754"/>
            <a:ext cx="20098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Fang, 2025</a:t>
            </a:r>
            <a:endParaRPr lang="en-US" sz="975" dirty="0"/>
          </a:p>
        </p:txBody>
      </p:sp>
      <p:sp>
        <p:nvSpPr>
          <p:cNvPr id="73" name="Text 62"/>
          <p:cNvSpPr txBox="1"/>
          <p:nvPr/>
        </p:nvSpPr>
        <p:spPr>
          <a:xfrm>
            <a:off x="13163702" y="5524805"/>
            <a:ext cx="2009851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4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IEEE TED 72, 2165</a:t>
            </a:r>
            <a:endParaRPr lang="en-US" sz="800" dirty="0"/>
          </a:p>
        </p:txBody>
      </p:sp>
      <p:sp>
        <p:nvSpPr>
          <p:cNvPr id="74" name="Shape 63"/>
          <p:cNvSpPr/>
          <p:nvPr/>
        </p:nvSpPr>
        <p:spPr>
          <a:xfrm>
            <a:off x="15368321" y="5086807"/>
            <a:ext cx="2257654" cy="657454"/>
          </a:xfrm>
          <a:prstGeom prst="rect">
            <a:avLst/>
          </a:prstGeom>
          <a:solidFill>
            <a:srgbClr val="1B2418"/>
          </a:solidFill>
          <a:ln w="12700">
            <a:solidFill>
              <a:srgbClr val="2C3548"/>
            </a:solidFill>
            <a:prstDash val="solid"/>
          </a:ln>
        </p:spPr>
      </p:sp>
      <p:sp>
        <p:nvSpPr>
          <p:cNvPr id="75" name="Text 64"/>
          <p:cNvSpPr txBox="1"/>
          <p:nvPr/>
        </p:nvSpPr>
        <p:spPr>
          <a:xfrm>
            <a:off x="15492679" y="5181905"/>
            <a:ext cx="2009851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#12</a:t>
            </a:r>
            <a:endParaRPr lang="en-US" sz="800" dirty="0"/>
          </a:p>
        </p:txBody>
      </p:sp>
      <p:sp>
        <p:nvSpPr>
          <p:cNvPr id="76" name="Text 65"/>
          <p:cNvSpPr txBox="1"/>
          <p:nvPr/>
        </p:nvSpPr>
        <p:spPr>
          <a:xfrm>
            <a:off x="15492679" y="5343754"/>
            <a:ext cx="200985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Croes, 2015</a:t>
            </a:r>
            <a:endParaRPr lang="en-US" sz="975" dirty="0"/>
          </a:p>
        </p:txBody>
      </p:sp>
      <p:sp>
        <p:nvSpPr>
          <p:cNvPr id="77" name="Text 66"/>
          <p:cNvSpPr txBox="1"/>
          <p:nvPr/>
        </p:nvSpPr>
        <p:spPr>
          <a:xfrm>
            <a:off x="15492679" y="5524805"/>
            <a:ext cx="2009851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4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ECS JSS 4, N3094</a:t>
            </a:r>
            <a:endParaRPr lang="en-US" sz="800" dirty="0"/>
          </a:p>
        </p:txBody>
      </p:sp>
      <p:sp>
        <p:nvSpPr>
          <p:cNvPr id="78" name="Shape 67"/>
          <p:cNvSpPr/>
          <p:nvPr/>
        </p:nvSpPr>
        <p:spPr>
          <a:xfrm>
            <a:off x="8382305" y="5820156"/>
            <a:ext cx="2476195" cy="657454"/>
          </a:xfrm>
          <a:prstGeom prst="rect">
            <a:avLst/>
          </a:prstGeom>
          <a:solidFill>
            <a:srgbClr val="1B2418"/>
          </a:solidFill>
          <a:ln w="12700">
            <a:solidFill>
              <a:srgbClr val="2C3548"/>
            </a:solidFill>
            <a:prstDash val="solid"/>
          </a:ln>
        </p:spPr>
      </p:sp>
      <p:sp>
        <p:nvSpPr>
          <p:cNvPr id="79" name="Text 68"/>
          <p:cNvSpPr txBox="1"/>
          <p:nvPr/>
        </p:nvSpPr>
        <p:spPr>
          <a:xfrm>
            <a:off x="8505749" y="5915254"/>
            <a:ext cx="22293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#13</a:t>
            </a:r>
            <a:endParaRPr lang="en-US" sz="800" dirty="0"/>
          </a:p>
        </p:txBody>
      </p:sp>
      <p:sp>
        <p:nvSpPr>
          <p:cNvPr id="80" name="Text 69"/>
          <p:cNvSpPr txBox="1"/>
          <p:nvPr/>
        </p:nvSpPr>
        <p:spPr>
          <a:xfrm>
            <a:off x="8505749" y="6077102"/>
            <a:ext cx="22293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Kocaay, 2017</a:t>
            </a:r>
            <a:endParaRPr lang="en-US" sz="975" dirty="0"/>
          </a:p>
        </p:txBody>
      </p:sp>
      <p:sp>
        <p:nvSpPr>
          <p:cNvPr id="81" name="Text 70"/>
          <p:cNvSpPr txBox="1"/>
          <p:nvPr/>
        </p:nvSpPr>
        <p:spPr>
          <a:xfrm>
            <a:off x="8505749" y="6258154"/>
            <a:ext cx="22293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4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Microelectron. Reliab.</a:t>
            </a:r>
            <a:endParaRPr lang="en-US" sz="800" dirty="0"/>
          </a:p>
        </p:txBody>
      </p:sp>
      <p:sp>
        <p:nvSpPr>
          <p:cNvPr id="82" name="Shape 71"/>
          <p:cNvSpPr/>
          <p:nvPr/>
        </p:nvSpPr>
        <p:spPr>
          <a:xfrm>
            <a:off x="10934395" y="5820156"/>
            <a:ext cx="2476195" cy="657454"/>
          </a:xfrm>
          <a:prstGeom prst="rect">
            <a:avLst/>
          </a:prstGeom>
          <a:solidFill>
            <a:srgbClr val="1B2418"/>
          </a:solidFill>
          <a:ln w="12700">
            <a:solidFill>
              <a:srgbClr val="2C3548"/>
            </a:solidFill>
            <a:prstDash val="solid"/>
          </a:ln>
        </p:spPr>
      </p:sp>
      <p:sp>
        <p:nvSpPr>
          <p:cNvPr id="83" name="Text 72"/>
          <p:cNvSpPr txBox="1"/>
          <p:nvPr/>
        </p:nvSpPr>
        <p:spPr>
          <a:xfrm>
            <a:off x="11058754" y="5915254"/>
            <a:ext cx="22293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#14</a:t>
            </a:r>
            <a:endParaRPr lang="en-US" sz="800" dirty="0"/>
          </a:p>
        </p:txBody>
      </p:sp>
      <p:sp>
        <p:nvSpPr>
          <p:cNvPr id="84" name="Text 73"/>
          <p:cNvSpPr txBox="1"/>
          <p:nvPr/>
        </p:nvSpPr>
        <p:spPr>
          <a:xfrm>
            <a:off x="11058754" y="6077102"/>
            <a:ext cx="22293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Vanstreels, 2014</a:t>
            </a:r>
            <a:endParaRPr lang="en-US" sz="975" dirty="0"/>
          </a:p>
        </p:txBody>
      </p:sp>
      <p:sp>
        <p:nvSpPr>
          <p:cNvPr id="85" name="Text 74"/>
          <p:cNvSpPr txBox="1"/>
          <p:nvPr/>
        </p:nvSpPr>
        <p:spPr>
          <a:xfrm>
            <a:off x="11058754" y="6258154"/>
            <a:ext cx="22293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4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Appl. Phys. Lett. 105</a:t>
            </a:r>
            <a:endParaRPr lang="en-US" sz="800" dirty="0"/>
          </a:p>
        </p:txBody>
      </p:sp>
      <p:sp>
        <p:nvSpPr>
          <p:cNvPr id="86" name="Shape 75"/>
          <p:cNvSpPr/>
          <p:nvPr/>
        </p:nvSpPr>
        <p:spPr>
          <a:xfrm>
            <a:off x="13487400" y="5820156"/>
            <a:ext cx="2476195" cy="657454"/>
          </a:xfrm>
          <a:prstGeom prst="rect">
            <a:avLst/>
          </a:prstGeom>
          <a:solidFill>
            <a:srgbClr val="1B2418"/>
          </a:solidFill>
          <a:ln w="12700">
            <a:solidFill>
              <a:srgbClr val="2C3548"/>
            </a:solidFill>
            <a:prstDash val="solid"/>
          </a:ln>
        </p:spPr>
      </p:sp>
      <p:sp>
        <p:nvSpPr>
          <p:cNvPr id="87" name="Text 76"/>
          <p:cNvSpPr txBox="1"/>
          <p:nvPr/>
        </p:nvSpPr>
        <p:spPr>
          <a:xfrm>
            <a:off x="13610844" y="5915254"/>
            <a:ext cx="22293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#15</a:t>
            </a:r>
            <a:endParaRPr lang="en-US" sz="800" dirty="0"/>
          </a:p>
        </p:txBody>
      </p:sp>
      <p:sp>
        <p:nvSpPr>
          <p:cNvPr id="88" name="Text 77"/>
          <p:cNvSpPr txBox="1"/>
          <p:nvPr/>
        </p:nvSpPr>
        <p:spPr>
          <a:xfrm>
            <a:off x="13610844" y="6077102"/>
            <a:ext cx="22293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Giusi, 2025</a:t>
            </a:r>
            <a:endParaRPr lang="en-US" sz="975" dirty="0"/>
          </a:p>
        </p:txBody>
      </p:sp>
      <p:sp>
        <p:nvSpPr>
          <p:cNvPr id="89" name="Text 78"/>
          <p:cNvSpPr txBox="1"/>
          <p:nvPr/>
        </p:nvSpPr>
        <p:spPr>
          <a:xfrm>
            <a:off x="13610844" y="6258154"/>
            <a:ext cx="2229307" cy="124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4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IEEE TED 72, 1933</a:t>
            </a:r>
            <a:endParaRPr lang="en-US" sz="800" dirty="0"/>
          </a:p>
        </p:txBody>
      </p:sp>
      <p:sp>
        <p:nvSpPr>
          <p:cNvPr id="90" name="Text 79"/>
          <p:cNvSpPr txBox="1"/>
          <p:nvPr/>
        </p:nvSpPr>
        <p:spPr>
          <a:xfrm>
            <a:off x="5962802" y="6933895"/>
            <a:ext cx="21717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04</a:t>
            </a:r>
            <a:endParaRPr lang="en-US" sz="825" dirty="0"/>
          </a:p>
        </p:txBody>
      </p:sp>
      <p:sp>
        <p:nvSpPr>
          <p:cNvPr id="91" name="Text 80"/>
          <p:cNvSpPr txBox="1"/>
          <p:nvPr/>
        </p:nvSpPr>
        <p:spPr>
          <a:xfrm>
            <a:off x="5962802" y="7162495"/>
            <a:ext cx="21717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열</a:t>
            </a:r>
            <a:endParaRPr lang="en-US" sz="2250" dirty="0"/>
          </a:p>
        </p:txBody>
      </p:sp>
      <p:sp>
        <p:nvSpPr>
          <p:cNvPr id="92" name="Text 81"/>
          <p:cNvSpPr txBox="1"/>
          <p:nvPr/>
        </p:nvSpPr>
        <p:spPr>
          <a:xfrm>
            <a:off x="5962802" y="7582205"/>
            <a:ext cx="21717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spc="-42" kern="0" dirty="0">
                <a:solidFill>
                  <a:srgbClr val="F973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pPr algn="l" indent="0" marL="0">
              <a:buNone/>
            </a:pPr>
            <a:r>
              <a:rPr lang="en-US" sz="1050" b="1" spc="-42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편</a:t>
            </a:r>
            <a:endParaRPr lang="en-US" sz="2100" dirty="0"/>
          </a:p>
        </p:txBody>
      </p:sp>
      <p:sp>
        <p:nvSpPr>
          <p:cNvPr id="93" name="Shape 82"/>
          <p:cNvSpPr/>
          <p:nvPr/>
        </p:nvSpPr>
        <p:spPr>
          <a:xfrm>
            <a:off x="8382305" y="6933895"/>
            <a:ext cx="3019349" cy="771754"/>
          </a:xfrm>
          <a:prstGeom prst="rect">
            <a:avLst/>
          </a:prstGeom>
          <a:solidFill>
            <a:srgbClr val="241A12"/>
          </a:solidFill>
          <a:ln w="12700">
            <a:solidFill>
              <a:srgbClr val="2C3548"/>
            </a:solidFill>
            <a:prstDash val="solid"/>
          </a:ln>
        </p:spPr>
      </p:sp>
      <p:sp>
        <p:nvSpPr>
          <p:cNvPr id="94" name="Text 83"/>
          <p:cNvSpPr txBox="1"/>
          <p:nvPr/>
        </p:nvSpPr>
        <p:spPr>
          <a:xfrm>
            <a:off x="8524951" y="7058254"/>
            <a:ext cx="27340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F973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#16</a:t>
            </a:r>
            <a:endParaRPr lang="en-US" sz="825" dirty="0"/>
          </a:p>
        </p:txBody>
      </p:sp>
      <p:sp>
        <p:nvSpPr>
          <p:cNvPr id="95" name="Text 84"/>
          <p:cNvSpPr txBox="1"/>
          <p:nvPr/>
        </p:nvSpPr>
        <p:spPr>
          <a:xfrm>
            <a:off x="8524951" y="7248449"/>
            <a:ext cx="273405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Chang, 2024</a:t>
            </a:r>
            <a:endParaRPr lang="en-US" sz="1050" dirty="0"/>
          </a:p>
        </p:txBody>
      </p:sp>
      <p:sp>
        <p:nvSpPr>
          <p:cNvPr id="96" name="Text 85"/>
          <p:cNvSpPr txBox="1"/>
          <p:nvPr/>
        </p:nvSpPr>
        <p:spPr>
          <a:xfrm>
            <a:off x="8524951" y="7448702"/>
            <a:ext cx="27340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C4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ECTC 2024, p.498</a:t>
            </a:r>
            <a:endParaRPr lang="en-US" sz="825" dirty="0"/>
          </a:p>
        </p:txBody>
      </p:sp>
      <p:sp>
        <p:nvSpPr>
          <p:cNvPr id="97" name="Shape 86"/>
          <p:cNvSpPr/>
          <p:nvPr/>
        </p:nvSpPr>
        <p:spPr>
          <a:xfrm>
            <a:off x="11493094" y="6933895"/>
            <a:ext cx="3019349" cy="771754"/>
          </a:xfrm>
          <a:prstGeom prst="rect">
            <a:avLst/>
          </a:prstGeom>
          <a:solidFill>
            <a:srgbClr val="241A12"/>
          </a:solidFill>
          <a:ln w="12700">
            <a:solidFill>
              <a:srgbClr val="2C3548"/>
            </a:solidFill>
            <a:prstDash val="solid"/>
          </a:ln>
        </p:spPr>
      </p:sp>
      <p:sp>
        <p:nvSpPr>
          <p:cNvPr id="98" name="Text 87"/>
          <p:cNvSpPr txBox="1"/>
          <p:nvPr/>
        </p:nvSpPr>
        <p:spPr>
          <a:xfrm>
            <a:off x="11636654" y="7058254"/>
            <a:ext cx="27340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F973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#17</a:t>
            </a:r>
            <a:endParaRPr lang="en-US" sz="825" dirty="0"/>
          </a:p>
        </p:txBody>
      </p:sp>
      <p:sp>
        <p:nvSpPr>
          <p:cNvPr id="99" name="Text 88"/>
          <p:cNvSpPr txBox="1"/>
          <p:nvPr/>
        </p:nvSpPr>
        <p:spPr>
          <a:xfrm>
            <a:off x="11636654" y="7248449"/>
            <a:ext cx="273405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Chang, 2025</a:t>
            </a:r>
            <a:endParaRPr lang="en-US" sz="1050" dirty="0"/>
          </a:p>
        </p:txBody>
      </p:sp>
      <p:sp>
        <p:nvSpPr>
          <p:cNvPr id="100" name="Text 89"/>
          <p:cNvSpPr txBox="1"/>
          <p:nvPr/>
        </p:nvSpPr>
        <p:spPr>
          <a:xfrm>
            <a:off x="11636654" y="7448702"/>
            <a:ext cx="27340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C4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IEEE TCPMT 15, 1708</a:t>
            </a:r>
            <a:endParaRPr lang="en-US" sz="825" dirty="0"/>
          </a:p>
        </p:txBody>
      </p:sp>
      <p:sp>
        <p:nvSpPr>
          <p:cNvPr id="101" name="Shape 90"/>
          <p:cNvSpPr/>
          <p:nvPr/>
        </p:nvSpPr>
        <p:spPr>
          <a:xfrm>
            <a:off x="14604797" y="6933895"/>
            <a:ext cx="3019349" cy="771754"/>
          </a:xfrm>
          <a:prstGeom prst="rect">
            <a:avLst/>
          </a:prstGeom>
          <a:solidFill>
            <a:srgbClr val="241A12"/>
          </a:solidFill>
          <a:ln w="12700">
            <a:solidFill>
              <a:srgbClr val="2C3548"/>
            </a:solidFill>
            <a:prstDash val="solid"/>
          </a:ln>
        </p:spPr>
      </p:sp>
      <p:sp>
        <p:nvSpPr>
          <p:cNvPr id="102" name="Text 91"/>
          <p:cNvSpPr txBox="1"/>
          <p:nvPr/>
        </p:nvSpPr>
        <p:spPr>
          <a:xfrm>
            <a:off x="14747443" y="7058254"/>
            <a:ext cx="27340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F973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#18</a:t>
            </a:r>
            <a:endParaRPr lang="en-US" sz="825" dirty="0"/>
          </a:p>
        </p:txBody>
      </p:sp>
      <p:sp>
        <p:nvSpPr>
          <p:cNvPr id="103" name="Text 92"/>
          <p:cNvSpPr txBox="1"/>
          <p:nvPr/>
        </p:nvSpPr>
        <p:spPr>
          <a:xfrm>
            <a:off x="14747443" y="7248449"/>
            <a:ext cx="273405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Chen, 2025</a:t>
            </a:r>
            <a:endParaRPr lang="en-US" sz="1050" dirty="0"/>
          </a:p>
        </p:txBody>
      </p:sp>
      <p:sp>
        <p:nvSpPr>
          <p:cNvPr id="104" name="Text 93"/>
          <p:cNvSpPr txBox="1"/>
          <p:nvPr/>
        </p:nvSpPr>
        <p:spPr>
          <a:xfrm>
            <a:off x="14747443" y="7448702"/>
            <a:ext cx="27340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C4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arXiv:2508.02284</a:t>
            </a:r>
            <a:endParaRPr lang="en-US" sz="825" dirty="0"/>
          </a:p>
        </p:txBody>
      </p:sp>
      <p:sp>
        <p:nvSpPr>
          <p:cNvPr id="105" name="Text 94"/>
          <p:cNvSpPr txBox="1"/>
          <p:nvPr/>
        </p:nvSpPr>
        <p:spPr>
          <a:xfrm>
            <a:off x="5962802" y="8096098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AXIS 05</a:t>
            </a:r>
            <a:endParaRPr lang="en-US" sz="825" dirty="0"/>
          </a:p>
        </p:txBody>
      </p:sp>
      <p:sp>
        <p:nvSpPr>
          <p:cNvPr id="106" name="Text 95"/>
          <p:cNvSpPr txBox="1"/>
          <p:nvPr/>
        </p:nvSpPr>
        <p:spPr>
          <a:xfrm>
            <a:off x="5962802" y="8324698"/>
            <a:ext cx="2667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대체 배선</a:t>
            </a:r>
            <a:endParaRPr lang="en-US" sz="2250" dirty="0"/>
          </a:p>
        </p:txBody>
      </p:sp>
      <p:sp>
        <p:nvSpPr>
          <p:cNvPr id="107" name="Text 96"/>
          <p:cNvSpPr txBox="1"/>
          <p:nvPr/>
        </p:nvSpPr>
        <p:spPr>
          <a:xfrm>
            <a:off x="5962802" y="8725205"/>
            <a:ext cx="26673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spc="-42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pPr algn="l" indent="0" marL="0">
              <a:buNone/>
            </a:pPr>
            <a:r>
              <a:rPr lang="en-US" sz="1050" b="1" spc="-42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편</a:t>
            </a:r>
            <a:endParaRPr lang="en-US" sz="2100" dirty="0"/>
          </a:p>
        </p:txBody>
      </p:sp>
      <p:sp>
        <p:nvSpPr>
          <p:cNvPr id="108" name="Shape 97"/>
          <p:cNvSpPr/>
          <p:nvPr/>
        </p:nvSpPr>
        <p:spPr>
          <a:xfrm>
            <a:off x="8762695" y="8096098"/>
            <a:ext cx="4315054" cy="771754"/>
          </a:xfrm>
          <a:prstGeom prst="rect">
            <a:avLst/>
          </a:prstGeom>
          <a:solidFill>
            <a:srgbClr val="1F1A2C"/>
          </a:solidFill>
          <a:ln w="12700">
            <a:solidFill>
              <a:srgbClr val="2C3548"/>
            </a:solidFill>
            <a:prstDash val="solid"/>
          </a:ln>
        </p:spPr>
      </p:sp>
      <p:sp>
        <p:nvSpPr>
          <p:cNvPr id="109" name="Text 98"/>
          <p:cNvSpPr txBox="1"/>
          <p:nvPr/>
        </p:nvSpPr>
        <p:spPr>
          <a:xfrm>
            <a:off x="8943746" y="8220456"/>
            <a:ext cx="39529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#19</a:t>
            </a:r>
            <a:endParaRPr lang="en-US" sz="825" dirty="0"/>
          </a:p>
        </p:txBody>
      </p:sp>
      <p:sp>
        <p:nvSpPr>
          <p:cNvPr id="110" name="Text 99"/>
          <p:cNvSpPr txBox="1"/>
          <p:nvPr/>
        </p:nvSpPr>
        <p:spPr>
          <a:xfrm>
            <a:off x="8943746" y="8410651"/>
            <a:ext cx="395295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Xu, 2022</a:t>
            </a:r>
            <a:endParaRPr lang="en-US" sz="1050" dirty="0"/>
          </a:p>
        </p:txBody>
      </p:sp>
      <p:sp>
        <p:nvSpPr>
          <p:cNvPr id="111" name="Text 100"/>
          <p:cNvSpPr txBox="1"/>
          <p:nvPr/>
        </p:nvSpPr>
        <p:spPr>
          <a:xfrm>
            <a:off x="8943746" y="8610905"/>
            <a:ext cx="39529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C4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Micromachines 13, 1148</a:t>
            </a:r>
            <a:endParaRPr lang="en-US" sz="825" dirty="0"/>
          </a:p>
        </p:txBody>
      </p:sp>
      <p:sp>
        <p:nvSpPr>
          <p:cNvPr id="112" name="Shape 101"/>
          <p:cNvSpPr/>
          <p:nvPr/>
        </p:nvSpPr>
        <p:spPr>
          <a:xfrm>
            <a:off x="13211251" y="8096098"/>
            <a:ext cx="4315054" cy="771754"/>
          </a:xfrm>
          <a:prstGeom prst="rect">
            <a:avLst/>
          </a:prstGeom>
          <a:solidFill>
            <a:srgbClr val="1F1A2C"/>
          </a:solidFill>
          <a:ln w="12700">
            <a:solidFill>
              <a:srgbClr val="2C3548"/>
            </a:solidFill>
            <a:prstDash val="solid"/>
          </a:ln>
        </p:spPr>
      </p:sp>
      <p:sp>
        <p:nvSpPr>
          <p:cNvPr id="113" name="Text 102"/>
          <p:cNvSpPr txBox="1"/>
          <p:nvPr/>
        </p:nvSpPr>
        <p:spPr>
          <a:xfrm>
            <a:off x="13392302" y="8220456"/>
            <a:ext cx="39529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#20</a:t>
            </a:r>
            <a:endParaRPr lang="en-US" sz="825" dirty="0"/>
          </a:p>
        </p:txBody>
      </p:sp>
      <p:sp>
        <p:nvSpPr>
          <p:cNvPr id="114" name="Text 103"/>
          <p:cNvSpPr txBox="1"/>
          <p:nvPr/>
        </p:nvSpPr>
        <p:spPr>
          <a:xfrm>
            <a:off x="13392302" y="8410651"/>
            <a:ext cx="395295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Pei, 2023</a:t>
            </a:r>
            <a:endParaRPr lang="en-US" sz="1050" dirty="0"/>
          </a:p>
        </p:txBody>
      </p:sp>
      <p:sp>
        <p:nvSpPr>
          <p:cNvPr id="115" name="Text 104"/>
          <p:cNvSpPr txBox="1"/>
          <p:nvPr/>
        </p:nvSpPr>
        <p:spPr>
          <a:xfrm>
            <a:off x="13392302" y="8610905"/>
            <a:ext cx="39529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C4CC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IEEE TED 70, 230</a:t>
            </a:r>
            <a:endParaRPr lang="en-US" sz="825" dirty="0"/>
          </a:p>
        </p:txBody>
      </p:sp>
      <p:sp>
        <p:nvSpPr>
          <p:cNvPr id="116" name="Text 105"/>
          <p:cNvSpPr txBox="1"/>
          <p:nvPr/>
        </p:nvSpPr>
        <p:spPr>
          <a:xfrm>
            <a:off x="571500" y="9905695"/>
            <a:ext cx="4763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 28 nm pitch cross section · Semantic Scholar</a:t>
            </a:r>
            <a:endParaRPr lang="en-US" sz="825" dirty="0"/>
          </a:p>
        </p:txBody>
      </p:sp>
      <p:sp>
        <p:nvSpPr>
          <p:cNvPr id="117" name="Text 106"/>
          <p:cNvSpPr txBox="1"/>
          <p:nvPr/>
        </p:nvSpPr>
        <p:spPr>
          <a:xfrm>
            <a:off x="5715000" y="9239098"/>
            <a:ext cx="12001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162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금속화 5 · 패터닝 3 · 신뢰성 7 · 열 3 · 대체 배선 2 = 20편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59053a476a684df2c6993b58da70266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571500" y="2190902"/>
            <a:ext cx="6286500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333695"/>
            <a:ext cx="6286500" cy="1619402"/>
          </a:xfrm>
          <a:prstGeom prst="rect">
            <a:avLst/>
          </a:prstGeom>
          <a:solidFill>
            <a:srgbClr val="1016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ef572b9947a3808830f4a87365b62d0c.png">    </p:cNvPr>
          <p:cNvPicPr>
            <a:picLocks noChangeAspect="1"/>
          </p:cNvPicPr>
          <p:nvPr/>
        </p:nvPicPr>
        <p:blipFill>
          <a:blip r:embed="rId2"/>
          <a:srcRect l="-404" r="-404" t="0" b="0"/>
          <a:stretch/>
        </p:blipFill>
        <p:spPr>
          <a:xfrm>
            <a:off x="571500" y="7125005"/>
            <a:ext cx="62865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239305" y="914400"/>
            <a:ext cx="10668305" cy="400507"/>
          </a:xfrm>
          <a:prstGeom prst="rect">
            <a:avLst/>
          </a:prstGeom>
          <a:solidFill>
            <a:srgbClr val="1018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239305" y="1333195"/>
            <a:ext cx="10668305" cy="571500"/>
          </a:xfrm>
          <a:prstGeom prst="rect">
            <a:avLst/>
          </a:prstGeom>
          <a:solidFill>
            <a:srgbClr val="0E13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239305" y="1904695"/>
            <a:ext cx="10668305" cy="571500"/>
          </a:xfrm>
          <a:prstGeom prst="rect">
            <a:avLst/>
          </a:prstGeom>
          <a:solidFill>
            <a:srgbClr val="0F14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239305" y="2476195"/>
            <a:ext cx="10668305" cy="571500"/>
          </a:xfrm>
          <a:prstGeom prst="rect">
            <a:avLst/>
          </a:prstGeom>
          <a:solidFill>
            <a:srgbClr val="0E13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239305" y="3047695"/>
            <a:ext cx="10668305" cy="571500"/>
          </a:xfrm>
          <a:prstGeom prst="rect">
            <a:avLst/>
          </a:prstGeom>
          <a:solidFill>
            <a:srgbClr val="0F14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239305" y="3619195"/>
            <a:ext cx="10668305" cy="571500"/>
          </a:xfrm>
          <a:prstGeom prst="rect">
            <a:avLst/>
          </a:prstGeom>
          <a:solidFill>
            <a:srgbClr val="0E13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239305" y="4190695"/>
            <a:ext cx="10668305" cy="571500"/>
          </a:xfrm>
          <a:prstGeom prst="rect">
            <a:avLst/>
          </a:prstGeom>
          <a:solidFill>
            <a:srgbClr val="0F14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239305" y="4762195"/>
            <a:ext cx="10668305" cy="857707"/>
          </a:xfrm>
          <a:prstGeom prst="rect">
            <a:avLst/>
          </a:prstGeom>
          <a:solidFill>
            <a:srgbClr val="1A13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239305" y="5619902"/>
            <a:ext cx="10668305" cy="571500"/>
          </a:xfrm>
          <a:prstGeom prst="rect">
            <a:avLst/>
          </a:prstGeom>
          <a:solidFill>
            <a:srgbClr val="0E13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239305" y="6191402"/>
            <a:ext cx="10668305" cy="571500"/>
          </a:xfrm>
          <a:prstGeom prst="rect">
            <a:avLst/>
          </a:prstGeom>
          <a:solidFill>
            <a:srgbClr val="0F14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39305" y="6762902"/>
            <a:ext cx="10668305" cy="571500"/>
          </a:xfrm>
          <a:prstGeom prst="rect">
            <a:avLst/>
          </a:prstGeom>
          <a:solidFill>
            <a:srgbClr val="0E13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39305" y="7334402"/>
            <a:ext cx="10668305" cy="571500"/>
          </a:xfrm>
          <a:prstGeom prst="rect">
            <a:avLst/>
          </a:prstGeom>
          <a:solidFill>
            <a:srgbClr val="0F142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gen-dedup-037c4390b38b5681761d1aa25e95d7e5.png">    </p:cNvPr>
          <p:cNvPicPr>
            <a:picLocks noChangeAspect="1"/>
          </p:cNvPicPr>
          <p:nvPr/>
        </p:nvPicPr>
        <p:blipFill>
          <a:blip r:embed="rId3"/>
          <a:srcRect l="-342" r="-342" t="0" b="0"/>
          <a:stretch/>
        </p:blipFill>
        <p:spPr>
          <a:xfrm>
            <a:off x="7239305" y="914400"/>
            <a:ext cx="57607" cy="400507"/>
          </a:xfrm>
          <a:prstGeom prst="rect">
            <a:avLst/>
          </a:prstGeom>
        </p:spPr>
      </p:pic>
      <p:pic>
        <p:nvPicPr>
          <p:cNvPr id="18" name="Image 3" descr="gen-dedup-f3a63ec25712eeae245dc025a55445b5.png">    </p:cNvPr>
          <p:cNvPicPr>
            <a:picLocks noChangeAspect="1"/>
          </p:cNvPicPr>
          <p:nvPr/>
        </p:nvPicPr>
        <p:blipFill>
          <a:blip r:embed="rId4"/>
          <a:srcRect l="0" r="0" t="-2083" b="-2083"/>
          <a:stretch/>
        </p:blipFill>
        <p:spPr>
          <a:xfrm>
            <a:off x="7239305" y="1333195"/>
            <a:ext cx="9144" cy="571500"/>
          </a:xfrm>
          <a:prstGeom prst="rect">
            <a:avLst/>
          </a:prstGeom>
        </p:spPr>
      </p:pic>
      <p:pic>
        <p:nvPicPr>
          <p:cNvPr id="19" name="Image 4" descr="gen-dedup-f3a63ec25712eeae245dc025a55445b5.png">    </p:cNvPr>
          <p:cNvPicPr>
            <a:picLocks noChangeAspect="1"/>
          </p:cNvPicPr>
          <p:nvPr/>
        </p:nvPicPr>
        <p:blipFill>
          <a:blip r:embed="rId5"/>
          <a:srcRect l="0" r="0" t="-2083" b="-2083"/>
          <a:stretch/>
        </p:blipFill>
        <p:spPr>
          <a:xfrm>
            <a:off x="7239305" y="1904695"/>
            <a:ext cx="9144" cy="571500"/>
          </a:xfrm>
          <a:prstGeom prst="rect">
            <a:avLst/>
          </a:prstGeom>
        </p:spPr>
      </p:pic>
      <p:pic>
        <p:nvPicPr>
          <p:cNvPr id="20" name="Image 5" descr="gen-dedup-f3a63ec25712eeae245dc025a55445b5.png">    </p:cNvPr>
          <p:cNvPicPr>
            <a:picLocks noChangeAspect="1"/>
          </p:cNvPicPr>
          <p:nvPr/>
        </p:nvPicPr>
        <p:blipFill>
          <a:blip r:embed="rId6"/>
          <a:srcRect l="0" r="0" t="-2083" b="-2083"/>
          <a:stretch/>
        </p:blipFill>
        <p:spPr>
          <a:xfrm>
            <a:off x="7239305" y="2476195"/>
            <a:ext cx="9144" cy="571500"/>
          </a:xfrm>
          <a:prstGeom prst="rect">
            <a:avLst/>
          </a:prstGeom>
        </p:spPr>
      </p:pic>
      <p:pic>
        <p:nvPicPr>
          <p:cNvPr id="21" name="Image 6" descr="gen-dedup-f3a63ec25712eeae245dc025a55445b5.png">    </p:cNvPr>
          <p:cNvPicPr>
            <a:picLocks noChangeAspect="1"/>
          </p:cNvPicPr>
          <p:nvPr/>
        </p:nvPicPr>
        <p:blipFill>
          <a:blip r:embed="rId7"/>
          <a:srcRect l="0" r="0" t="-2083" b="-2083"/>
          <a:stretch/>
        </p:blipFill>
        <p:spPr>
          <a:xfrm>
            <a:off x="7239305" y="3047695"/>
            <a:ext cx="9144" cy="571500"/>
          </a:xfrm>
          <a:prstGeom prst="rect">
            <a:avLst/>
          </a:prstGeom>
        </p:spPr>
      </p:pic>
      <p:pic>
        <p:nvPicPr>
          <p:cNvPr id="22" name="Image 7" descr="gen-dedup-f3a63ec25712eeae245dc025a55445b5.png">    </p:cNvPr>
          <p:cNvPicPr>
            <a:picLocks noChangeAspect="1"/>
          </p:cNvPicPr>
          <p:nvPr/>
        </p:nvPicPr>
        <p:blipFill>
          <a:blip r:embed="rId8"/>
          <a:srcRect l="0" r="0" t="-2083" b="-2083"/>
          <a:stretch/>
        </p:blipFill>
        <p:spPr>
          <a:xfrm>
            <a:off x="7239305" y="3619195"/>
            <a:ext cx="9144" cy="571500"/>
          </a:xfrm>
          <a:prstGeom prst="rect">
            <a:avLst/>
          </a:prstGeom>
        </p:spPr>
      </p:pic>
      <p:pic>
        <p:nvPicPr>
          <p:cNvPr id="23" name="Image 8" descr="gen-dedup-f3a63ec25712eeae245dc025a55445b5.png">    </p:cNvPr>
          <p:cNvPicPr>
            <a:picLocks noChangeAspect="1"/>
          </p:cNvPicPr>
          <p:nvPr/>
        </p:nvPicPr>
        <p:blipFill>
          <a:blip r:embed="rId9"/>
          <a:srcRect l="0" r="0" t="-2083" b="-2083"/>
          <a:stretch/>
        </p:blipFill>
        <p:spPr>
          <a:xfrm>
            <a:off x="7239305" y="4190695"/>
            <a:ext cx="9144" cy="571500"/>
          </a:xfrm>
          <a:prstGeom prst="rect">
            <a:avLst/>
          </a:prstGeom>
        </p:spPr>
      </p:pic>
      <p:pic>
        <p:nvPicPr>
          <p:cNvPr id="24" name="Image 9" descr="gen-dedup-f3a63ec25712eeae245dc025a55445b5.png">    </p:cNvPr>
          <p:cNvPicPr>
            <a:picLocks noChangeAspect="1"/>
          </p:cNvPicPr>
          <p:nvPr/>
        </p:nvPicPr>
        <p:blipFill>
          <a:blip r:embed="rId10"/>
          <a:srcRect l="0" r="0" t="-2083" b="-2083"/>
          <a:stretch/>
        </p:blipFill>
        <p:spPr>
          <a:xfrm>
            <a:off x="7239305" y="5619902"/>
            <a:ext cx="9144" cy="571500"/>
          </a:xfrm>
          <a:prstGeom prst="rect">
            <a:avLst/>
          </a:prstGeom>
        </p:spPr>
      </p:pic>
      <p:pic>
        <p:nvPicPr>
          <p:cNvPr id="25" name="Image 10" descr="gen-dedup-f3a63ec25712eeae245dc025a55445b5.png">    </p:cNvPr>
          <p:cNvPicPr>
            <a:picLocks noChangeAspect="1"/>
          </p:cNvPicPr>
          <p:nvPr/>
        </p:nvPicPr>
        <p:blipFill>
          <a:blip r:embed="rId11"/>
          <a:srcRect l="0" r="0" t="-2083" b="-2083"/>
          <a:stretch/>
        </p:blipFill>
        <p:spPr>
          <a:xfrm>
            <a:off x="7239305" y="6191402"/>
            <a:ext cx="9144" cy="571500"/>
          </a:xfrm>
          <a:prstGeom prst="rect">
            <a:avLst/>
          </a:prstGeom>
        </p:spPr>
      </p:pic>
      <p:pic>
        <p:nvPicPr>
          <p:cNvPr id="26" name="Image 11" descr="gen-dedup-f3a63ec25712eeae245dc025a55445b5.png">    </p:cNvPr>
          <p:cNvPicPr>
            <a:picLocks noChangeAspect="1"/>
          </p:cNvPicPr>
          <p:nvPr/>
        </p:nvPicPr>
        <p:blipFill>
          <a:blip r:embed="rId12"/>
          <a:srcRect l="0" r="0" t="-2083" b="-2083"/>
          <a:stretch/>
        </p:blipFill>
        <p:spPr>
          <a:xfrm>
            <a:off x="7239305" y="6762902"/>
            <a:ext cx="9144" cy="571500"/>
          </a:xfrm>
          <a:prstGeom prst="rect">
            <a:avLst/>
          </a:prstGeom>
        </p:spPr>
      </p:pic>
      <p:pic>
        <p:nvPicPr>
          <p:cNvPr id="27" name="Image 12" descr="gen-dedup-f3a63ec25712eeae245dc025a55445b5.png">    </p:cNvPr>
          <p:cNvPicPr>
            <a:picLocks noChangeAspect="1"/>
          </p:cNvPicPr>
          <p:nvPr/>
        </p:nvPicPr>
        <p:blipFill>
          <a:blip r:embed="rId13"/>
          <a:srcRect l="0" r="0" t="-2083" b="-2083"/>
          <a:stretch/>
        </p:blipFill>
        <p:spPr>
          <a:xfrm>
            <a:off x="7239305" y="7334402"/>
            <a:ext cx="9144" cy="571500"/>
          </a:xfrm>
          <a:prstGeom prst="rect">
            <a:avLst/>
          </a:prstGeom>
        </p:spPr>
      </p:pic>
      <p:pic>
        <p:nvPicPr>
          <p:cNvPr id="28" name="Image 13" descr="gen-dedup-85de628d7643a996d0b61a3698caf256.png">    </p:cNvPr>
          <p:cNvPicPr>
            <a:picLocks noChangeAspect="1"/>
          </p:cNvPicPr>
          <p:nvPr/>
        </p:nvPicPr>
        <p:blipFill>
          <a:blip r:embed="rId14"/>
          <a:srcRect l="-395" r="-395" t="0" b="0"/>
          <a:stretch/>
        </p:blipFill>
        <p:spPr>
          <a:xfrm>
            <a:off x="571500" y="5333695"/>
            <a:ext cx="38405" cy="1619402"/>
          </a:xfrm>
          <a:prstGeom prst="rect">
            <a:avLst/>
          </a:prstGeom>
        </p:spPr>
      </p:pic>
      <p:pic>
        <p:nvPicPr>
          <p:cNvPr id="29" name="Image 14" descr="gen-dedup-b0351d5d2e2124b3c6f69c8d595c6f66.png">    </p:cNvPr>
          <p:cNvPicPr>
            <a:picLocks noChangeAspect="1"/>
          </p:cNvPicPr>
          <p:nvPr/>
        </p:nvPicPr>
        <p:blipFill>
          <a:blip r:embed="rId15"/>
          <a:srcRect l="-373" r="-373" t="0" b="0"/>
          <a:stretch/>
        </p:blipFill>
        <p:spPr>
          <a:xfrm>
            <a:off x="7239305" y="4762195"/>
            <a:ext cx="57607" cy="857707"/>
          </a:xfrm>
          <a:prstGeom prst="rect">
            <a:avLst/>
          </a:prstGeom>
        </p:spPr>
      </p:pic>
      <p:pic>
        <p:nvPicPr>
          <p:cNvPr id="30" name="Image 15" descr="gen-dedup-c1f54cf5f9c40ea29c2a6a6f711284a3.jp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8172907"/>
            <a:ext cx="6286500" cy="1619402"/>
          </a:xfrm>
          <a:prstGeom prst="rect">
            <a:avLst/>
          </a:prstGeom>
        </p:spPr>
      </p:pic>
      <p:pic>
        <p:nvPicPr>
          <p:cNvPr id="31" name="Image 16" descr="gen-dedup-6a9b57d9830f8b0398d87d9d97b9785c.jp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39305" y="8172907"/>
            <a:ext cx="10668305" cy="1524305"/>
          </a:xfrm>
          <a:prstGeom prst="rect">
            <a:avLst/>
          </a:prstGeom>
        </p:spPr>
      </p:pic>
      <p:sp>
        <p:nvSpPr>
          <p:cNvPr id="32" name="Text 13"/>
          <p:cNvSpPr txBox="1"/>
          <p:nvPr/>
        </p:nvSpPr>
        <p:spPr>
          <a:xfrm>
            <a:off x="15430500" y="571500"/>
            <a:ext cx="2286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215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03</a:t>
            </a:r>
            <a:endParaRPr lang="en-US" sz="975" dirty="0"/>
          </a:p>
        </p:txBody>
      </p:sp>
      <p:sp>
        <p:nvSpPr>
          <p:cNvPr id="33" name="Text 14"/>
          <p:cNvSpPr txBox="1"/>
          <p:nvPr/>
        </p:nvSpPr>
        <p:spPr>
          <a:xfrm>
            <a:off x="571500" y="609905"/>
            <a:ext cx="5715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HOLY GRAIL · VLSI 2022</a:t>
            </a:r>
            <a:endParaRPr lang="en-US" sz="1050" dirty="0"/>
          </a:p>
        </p:txBody>
      </p:sp>
      <p:sp>
        <p:nvSpPr>
          <p:cNvPr id="34" name="Text 15"/>
          <p:cNvSpPr txBox="1"/>
          <p:nvPr/>
        </p:nvSpPr>
        <p:spPr>
          <a:xfrm>
            <a:off x="571500" y="914400"/>
            <a:ext cx="62865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패터닝·집적</a:t>
            </a:r>
            <a:endParaRPr lang="en-US" sz="4800" dirty="0"/>
          </a:p>
        </p:txBody>
      </p:sp>
      <p:sp>
        <p:nvSpPr>
          <p:cNvPr id="35" name="Text 16"/>
          <p:cNvSpPr txBox="1"/>
          <p:nvPr/>
        </p:nvSpPr>
        <p:spPr>
          <a:xfrm>
            <a:off x="571500" y="1619402"/>
            <a:ext cx="6286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38BD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다마신을 버리고 금속을 직접 긎는다</a:t>
            </a:r>
            <a:endParaRPr lang="en-US" sz="2250" dirty="0"/>
          </a:p>
        </p:txBody>
      </p:sp>
      <p:sp>
        <p:nvSpPr>
          <p:cNvPr id="36" name="Text 17"/>
          <p:cNvSpPr txBox="1"/>
          <p:nvPr/>
        </p:nvSpPr>
        <p:spPr>
          <a:xfrm>
            <a:off x="571500" y="2361895"/>
            <a:ext cx="69723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spc="-22" kern="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이것이 유명한 </a:t>
            </a:r>
            <a:pPr algn="l" indent="0" marL="0">
              <a:buNone/>
            </a:pPr>
            <a:r>
              <a:rPr lang="en-US" sz="2250" b="1" spc="-22" kern="0" dirty="0">
                <a:solidFill>
                  <a:srgbClr val="38BD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"holy grail"</a:t>
            </a:r>
            <a:pPr algn="l" indent="0" marL="0">
              <a:buNone/>
            </a:pPr>
            <a:r>
              <a:rPr lang="en-US" sz="2250" spc="-22" kern="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논문입니다. 핵심 수치:</a:t>
            </a:r>
            <a:endParaRPr lang="en-US" sz="2250" dirty="0"/>
          </a:p>
        </p:txBody>
      </p:sp>
      <p:sp>
        <p:nvSpPr>
          <p:cNvPr id="37" name="Text 18"/>
          <p:cNvSpPr txBox="1"/>
          <p:nvPr/>
        </p:nvSpPr>
        <p:spPr>
          <a:xfrm>
            <a:off x="571500" y="2884018"/>
            <a:ext cx="62865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 nm 피치 2소재 완전 자기정렬 비아(Murdoch, VLSI 2022)</a:t>
            </a:r>
            <a:endParaRPr lang="en-US" sz="1200" dirty="0"/>
          </a:p>
        </p:txBody>
      </p:sp>
      <p:sp>
        <p:nvSpPr>
          <p:cNvPr id="38" name="Text 19"/>
          <p:cNvSpPr txBox="1"/>
          <p:nvPr/>
        </p:nvSpPr>
        <p:spPr>
          <a:xfrm>
            <a:off x="571500" y="3847795"/>
            <a:ext cx="6286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SEMI-DAMASCENE</a:t>
            </a:r>
            <a:endParaRPr lang="en-US" sz="825" dirty="0"/>
          </a:p>
        </p:txBody>
      </p:sp>
      <p:sp>
        <p:nvSpPr>
          <p:cNvPr id="39" name="Text 20"/>
          <p:cNvSpPr txBox="1"/>
          <p:nvPr/>
        </p:nvSpPr>
        <p:spPr>
          <a:xfrm>
            <a:off x="571500" y="4076395"/>
            <a:ext cx="6286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A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semi-damascene은 도랑을 파고 금속을 채우는 대신 금속을 먼저 깔고 직접 에칭합니다. 그 결과 배리어가 필요 없고, CMP가 제한하던 종횡비(AR)를 올릴 수 있습니다.</a:t>
            </a:r>
            <a:endParaRPr lang="en-US" sz="1200" dirty="0"/>
          </a:p>
        </p:txBody>
      </p:sp>
      <p:sp>
        <p:nvSpPr>
          <p:cNvPr id="40" name="Text 21"/>
          <p:cNvSpPr txBox="1"/>
          <p:nvPr/>
        </p:nvSpPr>
        <p:spPr>
          <a:xfrm>
            <a:off x="800100" y="5505602"/>
            <a:ext cx="5906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 ROADMAP</a:t>
            </a:r>
            <a:endParaRPr lang="en-US" sz="825" dirty="0"/>
          </a:p>
        </p:txBody>
      </p:sp>
      <p:sp>
        <p:nvSpPr>
          <p:cNvPr id="41" name="Text 22"/>
          <p:cNvSpPr txBox="1"/>
          <p:nvPr/>
        </p:nvSpPr>
        <p:spPr>
          <a:xfrm>
            <a:off x="800100" y="5715000"/>
            <a:ext cx="5906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기존 Cu 다마신 선의 AR은 대략 1.6</a:t>
            </a:r>
            <a:endParaRPr lang="en-US" sz="1200" dirty="0"/>
          </a:p>
        </p:txBody>
      </p:sp>
      <p:sp>
        <p:nvSpPr>
          <p:cNvPr id="42" name="Text 23"/>
          <p:cNvSpPr txBox="1"/>
          <p:nvPr/>
        </p:nvSpPr>
        <p:spPr>
          <a:xfrm>
            <a:off x="800100" y="6038698"/>
            <a:ext cx="61676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semi-damascene은 1세대 2 → 2세대 3 → 이후 4, 5, 6으로 올리는 5세대 로드맵</a:t>
            </a:r>
            <a:endParaRPr lang="en-US" sz="1200" dirty="0"/>
          </a:p>
        </p:txBody>
      </p:sp>
      <p:sp>
        <p:nvSpPr>
          <p:cNvPr id="43" name="Text 24"/>
          <p:cNvSpPr txBox="1"/>
          <p:nvPr/>
        </p:nvSpPr>
        <p:spPr>
          <a:xfrm>
            <a:off x="800100" y="6344107"/>
            <a:ext cx="5906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imec은 AR=6 Ru 선이 AR=3 대비 선 저항을 약 40% 낮춘다고 보고했습니다.</a:t>
            </a:r>
            <a:endParaRPr lang="en-US" sz="1050" dirty="0"/>
          </a:p>
        </p:txBody>
      </p:sp>
      <p:sp>
        <p:nvSpPr>
          <p:cNvPr id="44" name="Text 25"/>
          <p:cNvSpPr txBox="1"/>
          <p:nvPr/>
        </p:nvSpPr>
        <p:spPr>
          <a:xfrm>
            <a:off x="571500" y="7218274"/>
            <a:ext cx="6286500" cy="61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spc="-16" kern="0" dirty="0">
                <a:solidFill>
                  <a:srgbClr val="38BD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nm 비아 홀이 9 nm 선에 내려앉으면서</a:t>
            </a:r>
            <a:pPr algn="l" indent="0" marL="0">
              <a:lnSpc>
                <a:spcPts val="2310"/>
              </a:lnSpc>
              <a:buNone/>
            </a:pPr>
            <a:endParaRPr lang="en-US" sz="1650" dirty="0"/>
          </a:p>
          <a:p>
            <a:pPr algn="l" indent="0" marL="0">
              <a:lnSpc>
                <a:spcPts val="2310"/>
              </a:lnSpc>
              <a:buNone/>
            </a:pPr>
            <a:r>
              <a:rPr lang="en-US" sz="1650" spc="-16" kern="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스스로 </a:t>
            </a:r>
            <a:pPr algn="l" indent="0" marL="0">
              <a:lnSpc>
                <a:spcPts val="2310"/>
              </a:lnSpc>
              <a:buNone/>
            </a:pPr>
            <a:r>
              <a:rPr lang="en-US" sz="1650" b="1" spc="-16" kern="0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180 nm²</a:t>
            </a:r>
            <a:pPr algn="l" indent="0" marL="0">
              <a:lnSpc>
                <a:spcPts val="2310"/>
              </a:lnSpc>
              <a:buNone/>
            </a:pPr>
            <a:r>
              <a:rPr lang="en-US" sz="1650" spc="-16" kern="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로 줌어드는 게 핵심입니다.</a:t>
            </a:r>
            <a:endParaRPr lang="en-US" sz="1650" dirty="0"/>
          </a:p>
        </p:txBody>
      </p:sp>
      <p:sp>
        <p:nvSpPr>
          <p:cNvPr id="45" name="Text 26"/>
          <p:cNvSpPr txBox="1"/>
          <p:nvPr/>
        </p:nvSpPr>
        <p:spPr>
          <a:xfrm>
            <a:off x="571500" y="9868205"/>
            <a:ext cx="6286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 diffusion barrier review · Semantic Scholar</a:t>
            </a:r>
            <a:endParaRPr lang="en-US" sz="825" dirty="0"/>
          </a:p>
        </p:txBody>
      </p:sp>
      <p:sp>
        <p:nvSpPr>
          <p:cNvPr id="46" name="Text 27"/>
          <p:cNvSpPr txBox="1"/>
          <p:nvPr/>
        </p:nvSpPr>
        <p:spPr>
          <a:xfrm>
            <a:off x="7429500" y="1028700"/>
            <a:ext cx="5334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9AA3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MEASUREMENT</a:t>
            </a:r>
            <a:endParaRPr lang="en-US" sz="975" dirty="0"/>
          </a:p>
        </p:txBody>
      </p:sp>
      <p:sp>
        <p:nvSpPr>
          <p:cNvPr id="47" name="Text 28"/>
          <p:cNvSpPr txBox="1"/>
          <p:nvPr/>
        </p:nvSpPr>
        <p:spPr>
          <a:xfrm>
            <a:off x="12573000" y="1028700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195" kern="0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VALUE</a:t>
            </a:r>
            <a:endParaRPr lang="en-US" sz="975" dirty="0"/>
          </a:p>
        </p:txBody>
      </p:sp>
      <p:sp>
        <p:nvSpPr>
          <p:cNvPr id="48" name="Text 29"/>
          <p:cNvSpPr txBox="1"/>
          <p:nvPr/>
        </p:nvSpPr>
        <p:spPr>
          <a:xfrm>
            <a:off x="7429500" y="1333195"/>
            <a:ext cx="6766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금속 피치</a:t>
            </a:r>
            <a:endParaRPr lang="en-US" sz="1350" dirty="0"/>
          </a:p>
        </p:txBody>
      </p:sp>
      <p:sp>
        <p:nvSpPr>
          <p:cNvPr id="49" name="Text 30"/>
          <p:cNvSpPr txBox="1"/>
          <p:nvPr/>
        </p:nvSpPr>
        <p:spPr>
          <a:xfrm>
            <a:off x="12573000" y="1333195"/>
            <a:ext cx="514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26 → 18 nm </a:t>
            </a:r>
            <a:pPr algn="r" indent="0" marL="0">
              <a:buNone/>
            </a:pPr>
            <a:r>
              <a:rPr lang="en-US" sz="1275" b="1" dirty="0">
                <a:solidFill>
                  <a:srgbClr val="9A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(2소재 실증)</a:t>
            </a:r>
            <a:endParaRPr lang="en-US" sz="1575" dirty="0"/>
          </a:p>
        </p:txBody>
      </p:sp>
      <p:sp>
        <p:nvSpPr>
          <p:cNvPr id="50" name="Text 31"/>
          <p:cNvSpPr txBox="1"/>
          <p:nvPr/>
        </p:nvSpPr>
        <p:spPr>
          <a:xfrm>
            <a:off x="7429500" y="1904695"/>
            <a:ext cx="6574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선폭(CD)</a:t>
            </a:r>
            <a:endParaRPr lang="en-US" sz="1350" dirty="0"/>
          </a:p>
        </p:txBody>
      </p:sp>
      <p:sp>
        <p:nvSpPr>
          <p:cNvPr id="51" name="Text 32"/>
          <p:cNvSpPr txBox="1"/>
          <p:nvPr/>
        </p:nvSpPr>
        <p:spPr>
          <a:xfrm>
            <a:off x="12573000" y="1904695"/>
            <a:ext cx="514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nm, PVD Ru 30 nm → AR ≈ 3</a:t>
            </a:r>
            <a:endParaRPr lang="en-US" sz="1575" dirty="0"/>
          </a:p>
        </p:txBody>
      </p:sp>
      <p:sp>
        <p:nvSpPr>
          <p:cNvPr id="52" name="Text 33"/>
          <p:cNvSpPr txBox="1"/>
          <p:nvPr/>
        </p:nvSpPr>
        <p:spPr>
          <a:xfrm>
            <a:off x="7429500" y="2476195"/>
            <a:ext cx="8385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전도 단면적</a:t>
            </a:r>
            <a:endParaRPr lang="en-US" sz="1350" dirty="0"/>
          </a:p>
        </p:txBody>
      </p:sp>
      <p:sp>
        <p:nvSpPr>
          <p:cNvPr id="53" name="Text 34"/>
          <p:cNvSpPr txBox="1"/>
          <p:nvPr/>
        </p:nvSpPr>
        <p:spPr>
          <a:xfrm>
            <a:off x="12573000" y="2476195"/>
            <a:ext cx="514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명목 270 / 전기적 250 / 물리적 257 nm²</a:t>
            </a:r>
            <a:endParaRPr lang="en-US" sz="1575" dirty="0"/>
          </a:p>
        </p:txBody>
      </p:sp>
      <p:sp>
        <p:nvSpPr>
          <p:cNvPr id="54" name="Text 35"/>
          <p:cNvSpPr txBox="1"/>
          <p:nvPr/>
        </p:nvSpPr>
        <p:spPr>
          <a:xfrm>
            <a:off x="7429500" y="3047695"/>
            <a:ext cx="8769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EUV 비아 홀</a:t>
            </a:r>
            <a:endParaRPr lang="en-US" sz="1350" dirty="0"/>
          </a:p>
        </p:txBody>
      </p:sp>
      <p:sp>
        <p:nvSpPr>
          <p:cNvPr id="55" name="Text 36"/>
          <p:cNvSpPr txBox="1"/>
          <p:nvPr/>
        </p:nvSpPr>
        <p:spPr>
          <a:xfrm>
            <a:off x="12573000" y="3047695"/>
            <a:ext cx="514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최소 20 nm → 접촉면적 180 nm²</a:t>
            </a:r>
            <a:endParaRPr lang="en-US" sz="1575" dirty="0"/>
          </a:p>
        </p:txBody>
      </p:sp>
      <p:sp>
        <p:nvSpPr>
          <p:cNvPr id="56" name="Text 37"/>
          <p:cNvSpPr txBox="1"/>
          <p:nvPr/>
        </p:nvSpPr>
        <p:spPr>
          <a:xfrm>
            <a:off x="7429500" y="3619195"/>
            <a:ext cx="6766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비아 저항</a:t>
            </a:r>
            <a:endParaRPr lang="en-US" sz="1350" dirty="0"/>
          </a:p>
        </p:txBody>
      </p:sp>
      <p:sp>
        <p:nvSpPr>
          <p:cNvPr id="57" name="Text 38"/>
          <p:cNvSpPr txBox="1"/>
          <p:nvPr/>
        </p:nvSpPr>
        <p:spPr>
          <a:xfrm>
            <a:off x="12573000" y="3619195"/>
            <a:ext cx="514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38BD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 Ω &lt; R &lt; 60 Ω</a:t>
            </a:r>
            <a:endParaRPr lang="en-US" sz="1650" dirty="0"/>
          </a:p>
        </p:txBody>
      </p:sp>
      <p:sp>
        <p:nvSpPr>
          <p:cNvPr id="58" name="Text 39"/>
          <p:cNvSpPr txBox="1"/>
          <p:nvPr/>
        </p:nvSpPr>
        <p:spPr>
          <a:xfrm>
            <a:off x="7429500" y="4190695"/>
            <a:ext cx="7242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 저항률</a:t>
            </a:r>
            <a:endParaRPr lang="en-US" sz="1350" dirty="0"/>
          </a:p>
        </p:txBody>
      </p:sp>
      <p:sp>
        <p:nvSpPr>
          <p:cNvPr id="59" name="Text 40"/>
          <p:cNvSpPr txBox="1"/>
          <p:nvPr/>
        </p:nvSpPr>
        <p:spPr>
          <a:xfrm>
            <a:off x="12573000" y="4190695"/>
            <a:ext cx="514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25" b="1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에칭 후 13–15 µΩ·cm</a:t>
            </a:r>
            <a:pPr algn="r" indent="0" marL="0">
              <a:lnSpc>
                <a:spcPct val="120000"/>
              </a:lnSpc>
              <a:buNone/>
            </a:pPr>
            <a:endParaRPr lang="en-US" sz="1425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9AA3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420 °C 열처리 후 14–15</a:t>
            </a:r>
            <a:endParaRPr lang="en-US" sz="1425" dirty="0"/>
          </a:p>
        </p:txBody>
      </p:sp>
      <p:sp>
        <p:nvSpPr>
          <p:cNvPr id="60" name="Text 41"/>
          <p:cNvSpPr txBox="1"/>
          <p:nvPr/>
        </p:nvSpPr>
        <p:spPr>
          <a:xfrm>
            <a:off x="7429500" y="4762195"/>
            <a:ext cx="16386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Ru가 Cu를 이기는 지점</a:t>
            </a:r>
            <a:endParaRPr lang="en-US" sz="1350" dirty="0"/>
          </a:p>
        </p:txBody>
      </p:sp>
      <p:sp>
        <p:nvSpPr>
          <p:cNvPr id="61" name="Text 42"/>
          <p:cNvSpPr txBox="1"/>
          <p:nvPr/>
        </p:nvSpPr>
        <p:spPr>
          <a:xfrm>
            <a:off x="12573000" y="4762195"/>
            <a:ext cx="51435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25" b="1" dirty="0">
                <a:solidFill>
                  <a:srgbClr val="E8A3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전도 단면적 268 nm² 미만</a:t>
            </a:r>
            <a:pPr algn="r" indent="0" marL="0">
              <a:lnSpc>
                <a:spcPct val="130000"/>
              </a:lnSpc>
              <a:buNone/>
            </a:pPr>
            <a:endParaRPr lang="en-US" sz="1425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(≈ CD 12 nm 미만)</a:t>
            </a:r>
            <a:endParaRPr lang="en-US" sz="1425" dirty="0"/>
          </a:p>
        </p:txBody>
      </p:sp>
      <p:sp>
        <p:nvSpPr>
          <p:cNvPr id="62" name="Text 43"/>
          <p:cNvSpPr txBox="1"/>
          <p:nvPr/>
        </p:nvSpPr>
        <p:spPr>
          <a:xfrm>
            <a:off x="7429500" y="5619902"/>
            <a:ext cx="8385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정렬 허용도</a:t>
            </a:r>
            <a:endParaRPr lang="en-US" sz="1350" dirty="0"/>
          </a:p>
        </p:txBody>
      </p:sp>
      <p:sp>
        <p:nvSpPr>
          <p:cNvPr id="63" name="Text 44"/>
          <p:cNvSpPr txBox="1"/>
          <p:nvPr/>
        </p:nvSpPr>
        <p:spPr>
          <a:xfrm>
            <a:off x="12573000" y="5619902"/>
            <a:ext cx="514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±5 nm까지 비아 저항 유지</a:t>
            </a:r>
            <a:endParaRPr lang="en-US" sz="1575" dirty="0"/>
          </a:p>
        </p:txBody>
      </p:sp>
      <p:sp>
        <p:nvSpPr>
          <p:cNvPr id="64" name="Text 45"/>
          <p:cNvSpPr txBox="1"/>
          <p:nvPr/>
        </p:nvSpPr>
        <p:spPr>
          <a:xfrm>
            <a:off x="7429500" y="6191402"/>
            <a:ext cx="6382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절연파괴</a:t>
            </a:r>
            <a:endParaRPr lang="en-US" sz="1350" dirty="0"/>
          </a:p>
        </p:txBody>
      </p:sp>
      <p:sp>
        <p:nvSpPr>
          <p:cNvPr id="65" name="Text 46"/>
          <p:cNvSpPr txBox="1"/>
          <p:nvPr/>
        </p:nvSpPr>
        <p:spPr>
          <a:xfrm>
            <a:off x="12573000" y="6191402"/>
            <a:ext cx="514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&gt;9 MV/cm @100 °C, 26 nm 피치에서 &gt;16 V</a:t>
            </a:r>
            <a:endParaRPr lang="en-US" sz="1425" dirty="0"/>
          </a:p>
        </p:txBody>
      </p:sp>
      <p:sp>
        <p:nvSpPr>
          <p:cNvPr id="66" name="Text 47"/>
          <p:cNvSpPr txBox="1"/>
          <p:nvPr/>
        </p:nvSpPr>
        <p:spPr>
          <a:xfrm>
            <a:off x="7429500" y="6762902"/>
            <a:ext cx="2478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</a:t>
            </a:r>
            <a:endParaRPr lang="en-US" sz="1350" dirty="0"/>
          </a:p>
        </p:txBody>
      </p:sp>
      <p:sp>
        <p:nvSpPr>
          <p:cNvPr id="67" name="Text 48"/>
          <p:cNvSpPr txBox="1"/>
          <p:nvPr/>
        </p:nvSpPr>
        <p:spPr>
          <a:xfrm>
            <a:off x="12573000" y="6762902"/>
            <a:ext cx="514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84CC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MA/cm², 300 h 저항 변화 없음</a:t>
            </a:r>
            <a:endParaRPr lang="en-US" sz="1575" dirty="0"/>
          </a:p>
        </p:txBody>
      </p:sp>
      <p:sp>
        <p:nvSpPr>
          <p:cNvPr id="68" name="Text 49"/>
          <p:cNvSpPr txBox="1"/>
          <p:nvPr/>
        </p:nvSpPr>
        <p:spPr>
          <a:xfrm>
            <a:off x="7429500" y="7334402"/>
            <a:ext cx="4764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열저장</a:t>
            </a:r>
            <a:endParaRPr lang="en-US" sz="1350" dirty="0"/>
          </a:p>
        </p:txBody>
      </p:sp>
      <p:sp>
        <p:nvSpPr>
          <p:cNvPr id="69" name="Text 50"/>
          <p:cNvSpPr txBox="1"/>
          <p:nvPr/>
        </p:nvSpPr>
        <p:spPr>
          <a:xfrm>
            <a:off x="12573000" y="7334402"/>
            <a:ext cx="514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E7EA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 °C, 120 h 저항·수율 손실 없음</a:t>
            </a:r>
            <a:endParaRPr lang="en-US" sz="1575" dirty="0"/>
          </a:p>
        </p:txBody>
      </p:sp>
      <p:sp>
        <p:nvSpPr>
          <p:cNvPr id="70" name="Text 51"/>
          <p:cNvSpPr txBox="1"/>
          <p:nvPr/>
        </p:nvSpPr>
        <p:spPr>
          <a:xfrm>
            <a:off x="7239305" y="9753905"/>
            <a:ext cx="498165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Scaling BEOL: New Processes, Boosters, Conductors · Semiconductor Digest</a:t>
            </a:r>
            <a:endParaRPr lang="en-US" sz="825" dirty="0"/>
          </a:p>
        </p:txBody>
      </p:sp>
      <p:sp>
        <p:nvSpPr>
          <p:cNvPr id="71" name="Text 52"/>
          <p:cNvSpPr txBox="1"/>
          <p:nvPr/>
        </p:nvSpPr>
        <p:spPr>
          <a:xfrm>
            <a:off x="14066215" y="9753905"/>
            <a:ext cx="38487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525B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Murdoch, VLSI Symp. 2022 · 18 nm pitch · PVD Ru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2026-10-03T16:46:21Z</dcterms:created>
  <dcterms:modified xsi:type="dcterms:W3CDTF">2026-10-03T16:46:21Z</dcterms:modified>
</cp:coreProperties>
</file>