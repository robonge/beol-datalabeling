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jpeg"/><Relationship Id="rId6" Type="http://schemas.openxmlformats.org/officeDocument/2006/relationships/image" Target="../media/image-2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E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fd479c8b60bb9f1b827561cf5bc7ae4.png">    </p:cNvPr>
          <p:cNvPicPr>
            <a:picLocks noChangeAspect="1"/>
          </p:cNvPicPr>
          <p:nvPr/>
        </p:nvPicPr>
        <p:blipFill>
          <a:blip r:embed="rId1"/>
          <a:srcRect l="-57" r="-57" t="0" b="0"/>
          <a:stretch/>
        </p:blipFill>
        <p:spPr>
          <a:xfrm>
            <a:off x="571500" y="533095"/>
            <a:ext cx="133502" cy="1143000"/>
          </a:xfrm>
          <a:prstGeom prst="rect">
            <a:avLst/>
          </a:prstGeom>
        </p:spPr>
      </p:pic>
      <p:pic>
        <p:nvPicPr>
          <p:cNvPr id="3" name="Image 1" descr="gen-dedup-a68c357fddfdf8176dd4846da7d8db8e.png">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 l="0" r="0" t="-399" b="-399"/>
          <a:stretch/>
        </p:blipFill>
        <p:spPr>
          <a:xfrm>
            <a:off x="571500" y="2590495"/>
            <a:ext cx="11811305" cy="1920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430000" y="6210605"/>
            <a:ext cx="6286500" cy="2095805"/>
          </a:xfrm>
          <a:prstGeom prst="rect">
            <a:avLst/>
          </a:prstGeom>
          <a:solidFill>
            <a:srgbClr val="F4ECD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11430000" y="8496605"/>
            <a:ext cx="6286500" cy="1333195"/>
          </a:xfrm>
          <a:prstGeom prst="rect">
            <a:avLst/>
          </a:prstGeom>
          <a:solidFill>
            <a:srgbClr val="DFD0A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2" descr="gen-dedup-18b213e99770143731fd9ba3cb5ed0ec.png">    </p:cNvPr>
          <p:cNvPicPr>
            <a:picLocks noChangeAspect="1"/>
          </p:cNvPicPr>
          <p:nvPr/>
        </p:nvPicPr>
        <p:blipFill>
          <a:blip r:embed="rId3"/>
          <a:srcRect l="-201" r="-201" t="0" b="0"/>
          <a:stretch/>
        </p:blipFill>
        <p:spPr>
          <a:xfrm>
            <a:off x="11430000" y="6210605"/>
            <a:ext cx="6286500" cy="75895"/>
          </a:xfrm>
          <a:prstGeom prst="rect">
            <a:avLst/>
          </a:prstGeom>
        </p:spPr>
      </p:pic>
      <p:pic>
        <p:nvPicPr>
          <p:cNvPr id="7" name="Image 3" descr="gen-dedup-bde7565d4655ceebf65f7ca2f41d8a55.png">    </p:cNvPr>
          <p:cNvPicPr>
            <a:picLocks noChangeAspect="1"/>
          </p:cNvPicPr>
          <p:nvPr/>
        </p:nvPicPr>
        <p:blipFill>
          <a:blip r:embed="rId4"/>
          <a:srcRect l="0" r="0" t="-190" b="-190"/>
          <a:stretch/>
        </p:blipFill>
        <p:spPr>
          <a:xfrm>
            <a:off x="11430000" y="8496605"/>
            <a:ext cx="75895" cy="1333195"/>
          </a:xfrm>
          <a:prstGeom prst="rect">
            <a:avLst/>
          </a:prstGeom>
        </p:spPr>
      </p:pic>
      <p:pic>
        <p:nvPicPr>
          <p:cNvPr id="8" name="Image 4" descr="gen-dedup-9d991fab001e76cc86ced6e4a5c3db77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0" y="2723998"/>
            <a:ext cx="6286500" cy="3047695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914400" y="533095"/>
            <a:ext cx="1219261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0" b="1" spc="-108" kern="0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선정 기준과 20편</a:t>
            </a:r>
            <a:endParaRPr lang="en-US" sz="5400" dirty="0"/>
          </a:p>
        </p:txBody>
      </p:sp>
      <p:sp>
        <p:nvSpPr>
          <p:cNvPr id="10" name="Text 3"/>
          <p:cNvSpPr txBox="1"/>
          <p:nvPr/>
        </p:nvSpPr>
        <p:spPr>
          <a:xfrm>
            <a:off x="571500" y="1752905"/>
            <a:ext cx="156216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4A3F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imec Institutional Repository에서 BEOL 질의가 849건, subject:(interconnect)가 27건을 돌려줍니다. 849건 중 BEOL 코어 이슈(금속화·패터닝·신뢰성·열)를 다루고, 원문 전문 또는 수치가 담긴 초록에 접근 가능한 논문 20편을 골랐습니다. 리포지터리 PDF는 대부분 request-a-copy 제한이라, 오픈액세스·무료 accepted manuscript를 우선했습니다.</a:t>
            </a:r>
            <a:endParaRPr lang="en-US" sz="1500" dirty="0"/>
          </a:p>
        </p:txBody>
      </p:sp>
      <p:sp>
        <p:nvSpPr>
          <p:cNvPr id="11" name="Shape 4"/>
          <p:cNvSpPr/>
          <p:nvPr/>
        </p:nvSpPr>
        <p:spPr>
          <a:xfrm>
            <a:off x="571500" y="2723998"/>
            <a:ext cx="571500" cy="390449"/>
          </a:xfrm>
          <a:prstGeom prst="rect">
            <a:avLst/>
          </a:prstGeom>
          <a:solidFill>
            <a:srgbClr val="D9C4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5"/>
          <p:cNvSpPr txBox="1"/>
          <p:nvPr/>
        </p:nvSpPr>
        <p:spPr>
          <a:xfrm>
            <a:off x="1143000" y="2723998"/>
            <a:ext cx="4953305" cy="391363"/>
          </a:xfrm>
          <a:prstGeom prst="rect">
            <a:avLst/>
          </a:prstGeom>
          <a:solidFill>
            <a:srgbClr val="D9C49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76200" rIns="114300" bIns="76200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논문 (제1저자, 연도)</a:t>
            </a:r>
            <a:endParaRPr lang="en-US" sz="1275" dirty="0"/>
          </a:p>
        </p:txBody>
      </p:sp>
      <p:sp>
        <p:nvSpPr>
          <p:cNvPr id="13" name="Text 6"/>
          <p:cNvSpPr txBox="1"/>
          <p:nvPr/>
        </p:nvSpPr>
        <p:spPr>
          <a:xfrm>
            <a:off x="6096305" y="2723998"/>
            <a:ext cx="2362810" cy="391363"/>
          </a:xfrm>
          <a:prstGeom prst="rect">
            <a:avLst/>
          </a:prstGeom>
          <a:solidFill>
            <a:srgbClr val="D9C49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76200" rIns="114300" bIns="76200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</a:t>
            </a:r>
            <a:endParaRPr lang="en-US" sz="1275" dirty="0"/>
          </a:p>
        </p:txBody>
      </p:sp>
      <p:sp>
        <p:nvSpPr>
          <p:cNvPr id="14" name="Text 7"/>
          <p:cNvSpPr txBox="1"/>
          <p:nvPr/>
        </p:nvSpPr>
        <p:spPr>
          <a:xfrm>
            <a:off x="8458200" y="2723998"/>
            <a:ext cx="1334110" cy="391363"/>
          </a:xfrm>
          <a:prstGeom prst="rect">
            <a:avLst/>
          </a:prstGeom>
          <a:solidFill>
            <a:srgbClr val="D9C49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76200" rIns="63500" bIns="7620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</a:t>
            </a:r>
            <a:endParaRPr lang="en-US" sz="1275" dirty="0"/>
          </a:p>
        </p:txBody>
      </p:sp>
      <p:sp>
        <p:nvSpPr>
          <p:cNvPr id="15" name="Text 8"/>
          <p:cNvSpPr txBox="1"/>
          <p:nvPr/>
        </p:nvSpPr>
        <p:spPr>
          <a:xfrm>
            <a:off x="9791395" y="2723998"/>
            <a:ext cx="1257300" cy="391363"/>
          </a:xfrm>
          <a:prstGeom prst="rect">
            <a:avLst/>
          </a:prstGeom>
          <a:solidFill>
            <a:srgbClr val="D9C49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76200" rIns="114300" bIns="76200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 접근</a:t>
            </a:r>
            <a:endParaRPr lang="en-US" sz="1275" dirty="0"/>
          </a:p>
        </p:txBody>
      </p:sp>
      <p:sp>
        <p:nvSpPr>
          <p:cNvPr id="16" name="Shape 9"/>
          <p:cNvSpPr/>
          <p:nvPr/>
        </p:nvSpPr>
        <p:spPr>
          <a:xfrm>
            <a:off x="571500" y="3400654"/>
            <a:ext cx="5715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571500" y="3114446"/>
            <a:ext cx="5715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50800" rIns="11430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3F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050" dirty="0"/>
          </a:p>
        </p:txBody>
      </p:sp>
      <p:sp>
        <p:nvSpPr>
          <p:cNvPr id="18" name="Shape 11"/>
          <p:cNvSpPr/>
          <p:nvPr/>
        </p:nvSpPr>
        <p:spPr>
          <a:xfrm>
            <a:off x="1143000" y="3400654"/>
            <a:ext cx="495330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1143000" y="3114446"/>
            <a:ext cx="49533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Selecting alternative metals for advanced interconnects (Soulié, 2024)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6096305" y="3400654"/>
            <a:ext cx="23618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6096305" y="3114446"/>
            <a:ext cx="23628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J. Appl. Phys. 136, 171101</a:t>
            </a:r>
            <a:endParaRPr lang="en-US" sz="975" dirty="0"/>
          </a:p>
        </p:txBody>
      </p:sp>
      <p:sp>
        <p:nvSpPr>
          <p:cNvPr id="22" name="Shape 15"/>
          <p:cNvSpPr/>
          <p:nvPr/>
        </p:nvSpPr>
        <p:spPr>
          <a:xfrm>
            <a:off x="8458200" y="3400654"/>
            <a:ext cx="13331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9015984" y="3114446"/>
            <a:ext cx="77632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50800" rIns="635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금속화</a:t>
            </a:r>
            <a:endParaRPr lang="en-US" sz="975" dirty="0"/>
          </a:p>
        </p:txBody>
      </p:sp>
      <p:sp>
        <p:nvSpPr>
          <p:cNvPr id="24" name="Shape 17"/>
          <p:cNvSpPr/>
          <p:nvPr/>
        </p:nvSpPr>
        <p:spPr>
          <a:xfrm>
            <a:off x="9791395" y="3400654"/>
            <a:ext cx="12573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9791395" y="3114446"/>
            <a:ext cx="12573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CC BY-NC · arXiv</a:t>
            </a:r>
            <a:endParaRPr lang="en-US" sz="975" dirty="0"/>
          </a:p>
        </p:txBody>
      </p:sp>
      <p:sp>
        <p:nvSpPr>
          <p:cNvPr id="26" name="Shape 19"/>
          <p:cNvSpPr/>
          <p:nvPr/>
        </p:nvSpPr>
        <p:spPr>
          <a:xfrm>
            <a:off x="571500" y="3405226"/>
            <a:ext cx="10477195" cy="323698"/>
          </a:xfrm>
          <a:prstGeom prst="rect">
            <a:avLst/>
          </a:prstGeom>
          <a:solidFill>
            <a:srgbClr val="F0E5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571500" y="3719779"/>
            <a:ext cx="5715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571500" y="3405226"/>
            <a:ext cx="571500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50800" rIns="11430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3F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1143000" y="3719779"/>
            <a:ext cx="495330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1143000" y="3405226"/>
            <a:ext cx="4953305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50800" rIns="1143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</a:t>
            </a:r>
            <a:pPr algn="l" indent="0" marL="0">
              <a:buNone/>
            </a:pPr>
            <a:r>
              <a:rPr lang="en-US" sz="8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1−x</a:t>
            </a:r>
            <a:pPr algn="l" indent="0" marL="0">
              <a:buNone/>
            </a:pPr>
            <a:r>
              <a:rPr lang="en-US" sz="1050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</a:t>
            </a:r>
            <a:pPr algn="l" indent="0" marL="0">
              <a:buNone/>
            </a:pPr>
            <a:r>
              <a:rPr lang="en-US" sz="8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</a:t>
            </a:r>
            <a:pPr algn="l" indent="0" marL="0">
              <a:buNone/>
            </a:pPr>
            <a:r>
              <a:rPr lang="en-US" sz="1050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films as alternatives to copper (Soulié, 2024)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6096305" y="3719779"/>
            <a:ext cx="23618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6096305" y="3405226"/>
            <a:ext cx="2362810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JVST B 42, 043203</a:t>
            </a:r>
            <a:endParaRPr lang="en-US" sz="975" dirty="0"/>
          </a:p>
        </p:txBody>
      </p:sp>
      <p:sp>
        <p:nvSpPr>
          <p:cNvPr id="33" name="Shape 26"/>
          <p:cNvSpPr/>
          <p:nvPr/>
        </p:nvSpPr>
        <p:spPr>
          <a:xfrm>
            <a:off x="8458200" y="3719779"/>
            <a:ext cx="13331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9015984" y="3405226"/>
            <a:ext cx="776326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50800" rIns="635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금속화</a:t>
            </a:r>
            <a:endParaRPr lang="en-US" sz="975" dirty="0"/>
          </a:p>
        </p:txBody>
      </p:sp>
      <p:sp>
        <p:nvSpPr>
          <p:cNvPr id="35" name="Shape 28"/>
          <p:cNvSpPr/>
          <p:nvPr/>
        </p:nvSpPr>
        <p:spPr>
          <a:xfrm>
            <a:off x="9791395" y="3719779"/>
            <a:ext cx="12573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9791395" y="3405226"/>
            <a:ext cx="1257300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arXiv</a:t>
            </a:r>
            <a:endParaRPr lang="en-US" sz="975" dirty="0"/>
          </a:p>
        </p:txBody>
      </p:sp>
      <p:sp>
        <p:nvSpPr>
          <p:cNvPr id="37" name="Shape 30"/>
          <p:cNvSpPr/>
          <p:nvPr/>
        </p:nvSpPr>
        <p:spPr>
          <a:xfrm>
            <a:off x="571500" y="4013302"/>
            <a:ext cx="5715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71500" y="3727094"/>
            <a:ext cx="5715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50800" rIns="11430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3F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1143000" y="4013302"/>
            <a:ext cx="495330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1143000" y="3727094"/>
            <a:ext cx="49533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First-principles screening of anisotropic metals (Moors, 2022)</a:t>
            </a:r>
            <a:endParaRPr lang="en-US" sz="1050" dirty="0"/>
          </a:p>
        </p:txBody>
      </p:sp>
      <p:sp>
        <p:nvSpPr>
          <p:cNvPr id="41" name="Shape 34"/>
          <p:cNvSpPr/>
          <p:nvPr/>
        </p:nvSpPr>
        <p:spPr>
          <a:xfrm>
            <a:off x="6096305" y="4013302"/>
            <a:ext cx="23618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6096305" y="3727094"/>
            <a:ext cx="23628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Phys. Rev. Mater. 6, 123804</a:t>
            </a:r>
            <a:endParaRPr lang="en-US" sz="975" dirty="0"/>
          </a:p>
        </p:txBody>
      </p:sp>
      <p:sp>
        <p:nvSpPr>
          <p:cNvPr id="43" name="Shape 36"/>
          <p:cNvSpPr/>
          <p:nvPr/>
        </p:nvSpPr>
        <p:spPr>
          <a:xfrm>
            <a:off x="8458200" y="4013302"/>
            <a:ext cx="13331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9015984" y="3727094"/>
            <a:ext cx="77632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50800" rIns="635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금속화</a:t>
            </a:r>
            <a:endParaRPr lang="en-US" sz="975" dirty="0"/>
          </a:p>
        </p:txBody>
      </p:sp>
      <p:sp>
        <p:nvSpPr>
          <p:cNvPr id="45" name="Shape 38"/>
          <p:cNvSpPr/>
          <p:nvPr/>
        </p:nvSpPr>
        <p:spPr>
          <a:xfrm>
            <a:off x="9791395" y="4013302"/>
            <a:ext cx="12573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9791395" y="3727094"/>
            <a:ext cx="12573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arXiv</a:t>
            </a:r>
            <a:endParaRPr lang="en-US" sz="975" dirty="0"/>
          </a:p>
        </p:txBody>
      </p:sp>
      <p:sp>
        <p:nvSpPr>
          <p:cNvPr id="47" name="Shape 40"/>
          <p:cNvSpPr/>
          <p:nvPr/>
        </p:nvSpPr>
        <p:spPr>
          <a:xfrm>
            <a:off x="571500" y="4022446"/>
            <a:ext cx="10477195" cy="295351"/>
          </a:xfrm>
          <a:prstGeom prst="rect">
            <a:avLst/>
          </a:prstGeom>
          <a:solidFill>
            <a:srgbClr val="F0E5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571500" y="4308653"/>
            <a:ext cx="5715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571500" y="4022446"/>
            <a:ext cx="5715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50800" rIns="11430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3F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050" dirty="0"/>
          </a:p>
        </p:txBody>
      </p:sp>
      <p:sp>
        <p:nvSpPr>
          <p:cNvPr id="50" name="Shape 43"/>
          <p:cNvSpPr/>
          <p:nvPr/>
        </p:nvSpPr>
        <p:spPr>
          <a:xfrm>
            <a:off x="1143000" y="4308653"/>
            <a:ext cx="495330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1143000" y="4022446"/>
            <a:ext cx="49533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Ab initio screening of metallic MAX ceramics (Sankaran, 2021)</a:t>
            </a:r>
            <a:endParaRPr lang="en-US" sz="1050" dirty="0"/>
          </a:p>
        </p:txBody>
      </p:sp>
      <p:sp>
        <p:nvSpPr>
          <p:cNvPr id="52" name="Shape 45"/>
          <p:cNvSpPr/>
          <p:nvPr/>
        </p:nvSpPr>
        <p:spPr>
          <a:xfrm>
            <a:off x="6096305" y="4308653"/>
            <a:ext cx="23618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53" name="Text 46"/>
          <p:cNvSpPr txBox="1"/>
          <p:nvPr/>
        </p:nvSpPr>
        <p:spPr>
          <a:xfrm>
            <a:off x="6096305" y="4022446"/>
            <a:ext cx="23628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Phys. Rev. Mater. 5, 056002</a:t>
            </a:r>
            <a:endParaRPr lang="en-US" sz="975" dirty="0"/>
          </a:p>
        </p:txBody>
      </p:sp>
      <p:sp>
        <p:nvSpPr>
          <p:cNvPr id="54" name="Shape 47"/>
          <p:cNvSpPr/>
          <p:nvPr/>
        </p:nvSpPr>
        <p:spPr>
          <a:xfrm>
            <a:off x="8458200" y="4308653"/>
            <a:ext cx="13331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55" name="Text 48"/>
          <p:cNvSpPr txBox="1"/>
          <p:nvPr/>
        </p:nvSpPr>
        <p:spPr>
          <a:xfrm>
            <a:off x="9015984" y="4022446"/>
            <a:ext cx="77632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50800" rIns="635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금속화</a:t>
            </a:r>
            <a:endParaRPr lang="en-US" sz="975" dirty="0"/>
          </a:p>
        </p:txBody>
      </p:sp>
      <p:sp>
        <p:nvSpPr>
          <p:cNvPr id="56" name="Shape 49"/>
          <p:cNvSpPr/>
          <p:nvPr/>
        </p:nvSpPr>
        <p:spPr>
          <a:xfrm>
            <a:off x="9791395" y="4308653"/>
            <a:ext cx="12573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57" name="Text 50"/>
          <p:cNvSpPr txBox="1"/>
          <p:nvPr/>
        </p:nvSpPr>
        <p:spPr>
          <a:xfrm>
            <a:off x="9791395" y="4022446"/>
            <a:ext cx="12573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arXiv</a:t>
            </a:r>
            <a:endParaRPr lang="en-US" sz="975" dirty="0"/>
          </a:p>
        </p:txBody>
      </p:sp>
      <p:sp>
        <p:nvSpPr>
          <p:cNvPr id="58" name="Shape 51"/>
          <p:cNvSpPr/>
          <p:nvPr/>
        </p:nvSpPr>
        <p:spPr>
          <a:xfrm>
            <a:off x="571500" y="4774997"/>
            <a:ext cx="5715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59" name="Text 52"/>
          <p:cNvSpPr txBox="1"/>
          <p:nvPr/>
        </p:nvSpPr>
        <p:spPr>
          <a:xfrm>
            <a:off x="571500" y="4317797"/>
            <a:ext cx="571500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50800" rIns="11430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3F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1050" dirty="0"/>
          </a:p>
        </p:txBody>
      </p:sp>
      <p:sp>
        <p:nvSpPr>
          <p:cNvPr id="60" name="Shape 53"/>
          <p:cNvSpPr/>
          <p:nvPr/>
        </p:nvSpPr>
        <p:spPr>
          <a:xfrm>
            <a:off x="1143000" y="4774997"/>
            <a:ext cx="495330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61" name="Text 54"/>
          <p:cNvSpPr txBox="1"/>
          <p:nvPr/>
        </p:nvSpPr>
        <p:spPr>
          <a:xfrm>
            <a:off x="1143000" y="4317797"/>
            <a:ext cx="4953305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50800" rIns="1143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Thermally induced anomaly in 18 nm pitch Ru (Shah, 2026)</a:t>
            </a:r>
            <a:endParaRPr lang="en-US" sz="1050" dirty="0"/>
          </a:p>
        </p:txBody>
      </p:sp>
      <p:sp>
        <p:nvSpPr>
          <p:cNvPr id="62" name="Shape 55"/>
          <p:cNvSpPr/>
          <p:nvPr/>
        </p:nvSpPr>
        <p:spPr>
          <a:xfrm>
            <a:off x="6096305" y="4774997"/>
            <a:ext cx="23618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63" name="Text 56"/>
          <p:cNvSpPr txBox="1"/>
          <p:nvPr/>
        </p:nvSpPr>
        <p:spPr>
          <a:xfrm>
            <a:off x="6096305" y="4317797"/>
            <a:ext cx="2362810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ACS Appl. Mater. Interfaces 18, 20763</a:t>
            </a:r>
            <a:endParaRPr lang="en-US" sz="975" dirty="0"/>
          </a:p>
        </p:txBody>
      </p:sp>
      <p:sp>
        <p:nvSpPr>
          <p:cNvPr id="64" name="Shape 57"/>
          <p:cNvSpPr/>
          <p:nvPr/>
        </p:nvSpPr>
        <p:spPr>
          <a:xfrm>
            <a:off x="8458200" y="4774997"/>
            <a:ext cx="13331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65" name="Text 58"/>
          <p:cNvSpPr txBox="1"/>
          <p:nvPr/>
        </p:nvSpPr>
        <p:spPr>
          <a:xfrm>
            <a:off x="9015984" y="4317797"/>
            <a:ext cx="776326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50800" rIns="635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금속화</a:t>
            </a:r>
            <a:endParaRPr lang="en-US" sz="975" dirty="0"/>
          </a:p>
        </p:txBody>
      </p:sp>
      <p:sp>
        <p:nvSpPr>
          <p:cNvPr id="66" name="Shape 59"/>
          <p:cNvSpPr/>
          <p:nvPr/>
        </p:nvSpPr>
        <p:spPr>
          <a:xfrm>
            <a:off x="9791395" y="4774997"/>
            <a:ext cx="12573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67" name="Text 60"/>
          <p:cNvSpPr txBox="1"/>
          <p:nvPr/>
        </p:nvSpPr>
        <p:spPr>
          <a:xfrm>
            <a:off x="9791395" y="4317797"/>
            <a:ext cx="1257300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유료 (초록만)</a:t>
            </a:r>
            <a:endParaRPr lang="en-US" sz="975" dirty="0"/>
          </a:p>
        </p:txBody>
      </p:sp>
      <p:sp>
        <p:nvSpPr>
          <p:cNvPr id="68" name="Shape 61"/>
          <p:cNvSpPr/>
          <p:nvPr/>
        </p:nvSpPr>
        <p:spPr>
          <a:xfrm>
            <a:off x="571500" y="4784141"/>
            <a:ext cx="10477195" cy="295351"/>
          </a:xfrm>
          <a:prstGeom prst="rect">
            <a:avLst/>
          </a:prstGeom>
          <a:solidFill>
            <a:srgbClr val="F0E5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2"/>
          <p:cNvSpPr/>
          <p:nvPr/>
        </p:nvSpPr>
        <p:spPr>
          <a:xfrm>
            <a:off x="571500" y="5070348"/>
            <a:ext cx="5715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70" name="Text 63"/>
          <p:cNvSpPr txBox="1"/>
          <p:nvPr/>
        </p:nvSpPr>
        <p:spPr>
          <a:xfrm>
            <a:off x="571500" y="4784141"/>
            <a:ext cx="5715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50800" rIns="11430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3F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1050" dirty="0"/>
          </a:p>
        </p:txBody>
      </p:sp>
      <p:sp>
        <p:nvSpPr>
          <p:cNvPr id="71" name="Shape 64"/>
          <p:cNvSpPr/>
          <p:nvPr/>
        </p:nvSpPr>
        <p:spPr>
          <a:xfrm>
            <a:off x="1143000" y="5070348"/>
            <a:ext cx="495330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72" name="Text 65"/>
          <p:cNvSpPr txBox="1"/>
          <p:nvPr/>
        </p:nvSpPr>
        <p:spPr>
          <a:xfrm>
            <a:off x="1143000" y="4784141"/>
            <a:ext cx="49533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Two metal level semi-damascene with FSAV at 18MP (Murdoch, 2022)</a:t>
            </a:r>
            <a:endParaRPr lang="en-US" sz="1050" dirty="0"/>
          </a:p>
        </p:txBody>
      </p:sp>
      <p:sp>
        <p:nvSpPr>
          <p:cNvPr id="73" name="Shape 66"/>
          <p:cNvSpPr/>
          <p:nvPr/>
        </p:nvSpPr>
        <p:spPr>
          <a:xfrm>
            <a:off x="6096305" y="5070348"/>
            <a:ext cx="23618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74" name="Text 67"/>
          <p:cNvSpPr txBox="1"/>
          <p:nvPr/>
        </p:nvSpPr>
        <p:spPr>
          <a:xfrm>
            <a:off x="6096305" y="4784141"/>
            <a:ext cx="23628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VLSI Symp. 2022</a:t>
            </a:r>
            <a:endParaRPr lang="en-US" sz="975" dirty="0"/>
          </a:p>
        </p:txBody>
      </p:sp>
      <p:sp>
        <p:nvSpPr>
          <p:cNvPr id="75" name="Shape 68"/>
          <p:cNvSpPr/>
          <p:nvPr/>
        </p:nvSpPr>
        <p:spPr>
          <a:xfrm>
            <a:off x="8458200" y="5070348"/>
            <a:ext cx="13331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76" name="Text 69"/>
          <p:cNvSpPr txBox="1"/>
          <p:nvPr/>
        </p:nvSpPr>
        <p:spPr>
          <a:xfrm>
            <a:off x="9015984" y="4784141"/>
            <a:ext cx="77632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50800" rIns="635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패터닝</a:t>
            </a:r>
            <a:endParaRPr lang="en-US" sz="975" dirty="0"/>
          </a:p>
        </p:txBody>
      </p:sp>
      <p:sp>
        <p:nvSpPr>
          <p:cNvPr id="77" name="Shape 70"/>
          <p:cNvSpPr/>
          <p:nvPr/>
        </p:nvSpPr>
        <p:spPr>
          <a:xfrm>
            <a:off x="9791395" y="5070348"/>
            <a:ext cx="12573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78" name="Text 71"/>
          <p:cNvSpPr txBox="1"/>
          <p:nvPr/>
        </p:nvSpPr>
        <p:spPr>
          <a:xfrm>
            <a:off x="9791395" y="4784141"/>
            <a:ext cx="12573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imec 무료 전문</a:t>
            </a:r>
            <a:endParaRPr lang="en-US" sz="975" dirty="0"/>
          </a:p>
        </p:txBody>
      </p:sp>
      <p:sp>
        <p:nvSpPr>
          <p:cNvPr id="79" name="Shape 72"/>
          <p:cNvSpPr/>
          <p:nvPr/>
        </p:nvSpPr>
        <p:spPr>
          <a:xfrm>
            <a:off x="571500" y="5365699"/>
            <a:ext cx="5715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80" name="Text 73"/>
          <p:cNvSpPr txBox="1"/>
          <p:nvPr/>
        </p:nvSpPr>
        <p:spPr>
          <a:xfrm>
            <a:off x="571500" y="5079492"/>
            <a:ext cx="5715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50800" rIns="11430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3F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</a:t>
            </a:r>
            <a:endParaRPr lang="en-US" sz="1050" dirty="0"/>
          </a:p>
        </p:txBody>
      </p:sp>
      <p:sp>
        <p:nvSpPr>
          <p:cNvPr id="81" name="Shape 74"/>
          <p:cNvSpPr/>
          <p:nvPr/>
        </p:nvSpPr>
        <p:spPr>
          <a:xfrm>
            <a:off x="1143000" y="5365699"/>
            <a:ext cx="495330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82" name="Text 75"/>
          <p:cNvSpPr txBox="1"/>
          <p:nvPr/>
        </p:nvSpPr>
        <p:spPr>
          <a:xfrm>
            <a:off x="1143000" y="5079492"/>
            <a:ext cx="49533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3-level high aspect ratio supervias (Montero Alvarez, 2022)</a:t>
            </a:r>
            <a:endParaRPr lang="en-US" sz="1050" dirty="0"/>
          </a:p>
        </p:txBody>
      </p:sp>
      <p:sp>
        <p:nvSpPr>
          <p:cNvPr id="83" name="Shape 76"/>
          <p:cNvSpPr/>
          <p:nvPr/>
        </p:nvSpPr>
        <p:spPr>
          <a:xfrm>
            <a:off x="6096305" y="5365699"/>
            <a:ext cx="23618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84" name="Text 77"/>
          <p:cNvSpPr txBox="1"/>
          <p:nvPr/>
        </p:nvSpPr>
        <p:spPr>
          <a:xfrm>
            <a:off x="6096305" y="5079492"/>
            <a:ext cx="23628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IITC 2022</a:t>
            </a:r>
            <a:endParaRPr lang="en-US" sz="975" dirty="0"/>
          </a:p>
        </p:txBody>
      </p:sp>
      <p:sp>
        <p:nvSpPr>
          <p:cNvPr id="85" name="Shape 78"/>
          <p:cNvSpPr/>
          <p:nvPr/>
        </p:nvSpPr>
        <p:spPr>
          <a:xfrm>
            <a:off x="8458200" y="5365699"/>
            <a:ext cx="13331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86" name="Text 79"/>
          <p:cNvSpPr txBox="1"/>
          <p:nvPr/>
        </p:nvSpPr>
        <p:spPr>
          <a:xfrm>
            <a:off x="9015984" y="5079492"/>
            <a:ext cx="77632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50800" rIns="635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패터닝</a:t>
            </a:r>
            <a:endParaRPr lang="en-US" sz="975" dirty="0"/>
          </a:p>
        </p:txBody>
      </p:sp>
      <p:sp>
        <p:nvSpPr>
          <p:cNvPr id="87" name="Shape 80"/>
          <p:cNvSpPr/>
          <p:nvPr/>
        </p:nvSpPr>
        <p:spPr>
          <a:xfrm>
            <a:off x="9791395" y="5365699"/>
            <a:ext cx="12573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88" name="Text 81"/>
          <p:cNvSpPr txBox="1"/>
          <p:nvPr/>
        </p:nvSpPr>
        <p:spPr>
          <a:xfrm>
            <a:off x="9791395" y="5079492"/>
            <a:ext cx="12573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imec 무료 전문</a:t>
            </a:r>
            <a:endParaRPr lang="en-US" sz="975" dirty="0"/>
          </a:p>
        </p:txBody>
      </p:sp>
      <p:sp>
        <p:nvSpPr>
          <p:cNvPr id="89" name="Shape 82"/>
          <p:cNvSpPr/>
          <p:nvPr/>
        </p:nvSpPr>
        <p:spPr>
          <a:xfrm>
            <a:off x="571500" y="5374843"/>
            <a:ext cx="10477195" cy="295351"/>
          </a:xfrm>
          <a:prstGeom prst="rect">
            <a:avLst/>
          </a:prstGeom>
          <a:solidFill>
            <a:srgbClr val="F0E5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3"/>
          <p:cNvSpPr/>
          <p:nvPr/>
        </p:nvSpPr>
        <p:spPr>
          <a:xfrm>
            <a:off x="571500" y="5661050"/>
            <a:ext cx="5715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91" name="Text 84"/>
          <p:cNvSpPr txBox="1"/>
          <p:nvPr/>
        </p:nvSpPr>
        <p:spPr>
          <a:xfrm>
            <a:off x="571500" y="5374843"/>
            <a:ext cx="5715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50800" rIns="11430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3F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</a:t>
            </a:r>
            <a:endParaRPr lang="en-US" sz="1050" dirty="0"/>
          </a:p>
        </p:txBody>
      </p:sp>
      <p:sp>
        <p:nvSpPr>
          <p:cNvPr id="92" name="Shape 85"/>
          <p:cNvSpPr/>
          <p:nvPr/>
        </p:nvSpPr>
        <p:spPr>
          <a:xfrm>
            <a:off x="1143000" y="5661050"/>
            <a:ext cx="495330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93" name="Text 86"/>
          <p:cNvSpPr txBox="1"/>
          <p:nvPr/>
        </p:nvSpPr>
        <p:spPr>
          <a:xfrm>
            <a:off x="1143000" y="5374843"/>
            <a:ext cx="49533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Scatterometry for 14 nm half-pitch BEOL EUV (Das, 2021)</a:t>
            </a:r>
            <a:endParaRPr lang="en-US" sz="1050" dirty="0"/>
          </a:p>
        </p:txBody>
      </p:sp>
      <p:sp>
        <p:nvSpPr>
          <p:cNvPr id="94" name="Shape 87"/>
          <p:cNvSpPr/>
          <p:nvPr/>
        </p:nvSpPr>
        <p:spPr>
          <a:xfrm>
            <a:off x="6096305" y="5661050"/>
            <a:ext cx="23618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95" name="Text 88"/>
          <p:cNvSpPr txBox="1"/>
          <p:nvPr/>
        </p:nvSpPr>
        <p:spPr>
          <a:xfrm>
            <a:off x="6096305" y="5374843"/>
            <a:ext cx="23628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Proc. SPIE 11611, 116112A</a:t>
            </a:r>
            <a:endParaRPr lang="en-US" sz="975" dirty="0"/>
          </a:p>
        </p:txBody>
      </p:sp>
      <p:sp>
        <p:nvSpPr>
          <p:cNvPr id="96" name="Shape 89"/>
          <p:cNvSpPr/>
          <p:nvPr/>
        </p:nvSpPr>
        <p:spPr>
          <a:xfrm>
            <a:off x="8458200" y="5661050"/>
            <a:ext cx="13331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97" name="Text 90"/>
          <p:cNvSpPr txBox="1"/>
          <p:nvPr/>
        </p:nvSpPr>
        <p:spPr>
          <a:xfrm>
            <a:off x="9015984" y="5374843"/>
            <a:ext cx="77632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50800" rIns="635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패터닝</a:t>
            </a:r>
            <a:endParaRPr lang="en-US" sz="975" dirty="0"/>
          </a:p>
        </p:txBody>
      </p:sp>
      <p:sp>
        <p:nvSpPr>
          <p:cNvPr id="98" name="Shape 91"/>
          <p:cNvSpPr/>
          <p:nvPr/>
        </p:nvSpPr>
        <p:spPr>
          <a:xfrm>
            <a:off x="9791395" y="5661050"/>
            <a:ext cx="12573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99" name="Text 92"/>
          <p:cNvSpPr txBox="1"/>
          <p:nvPr/>
        </p:nvSpPr>
        <p:spPr>
          <a:xfrm>
            <a:off x="9791395" y="5374843"/>
            <a:ext cx="12573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벤더 리프린트</a:t>
            </a:r>
            <a:endParaRPr lang="en-US" sz="975" dirty="0"/>
          </a:p>
        </p:txBody>
      </p:sp>
      <p:sp>
        <p:nvSpPr>
          <p:cNvPr id="100" name="Shape 93"/>
          <p:cNvSpPr/>
          <p:nvPr/>
        </p:nvSpPr>
        <p:spPr>
          <a:xfrm>
            <a:off x="571500" y="5956402"/>
            <a:ext cx="5715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01" name="Text 94"/>
          <p:cNvSpPr txBox="1"/>
          <p:nvPr/>
        </p:nvSpPr>
        <p:spPr>
          <a:xfrm>
            <a:off x="571500" y="5670194"/>
            <a:ext cx="5715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50800" rIns="11430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3F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</a:t>
            </a:r>
            <a:endParaRPr lang="en-US" sz="1050" dirty="0"/>
          </a:p>
        </p:txBody>
      </p:sp>
      <p:sp>
        <p:nvSpPr>
          <p:cNvPr id="102" name="Shape 95"/>
          <p:cNvSpPr/>
          <p:nvPr/>
        </p:nvSpPr>
        <p:spPr>
          <a:xfrm>
            <a:off x="1143000" y="5956402"/>
            <a:ext cx="495330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03" name="Text 96"/>
          <p:cNvSpPr txBox="1"/>
          <p:nvPr/>
        </p:nvSpPr>
        <p:spPr>
          <a:xfrm>
            <a:off x="1143000" y="5670194"/>
            <a:ext cx="49533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EM in redundant mesh networks (Zahedmanesh, 2024)</a:t>
            </a:r>
            <a:endParaRPr lang="en-US" sz="1050" dirty="0"/>
          </a:p>
        </p:txBody>
      </p:sp>
      <p:sp>
        <p:nvSpPr>
          <p:cNvPr id="104" name="Shape 97"/>
          <p:cNvSpPr/>
          <p:nvPr/>
        </p:nvSpPr>
        <p:spPr>
          <a:xfrm>
            <a:off x="6096305" y="5956402"/>
            <a:ext cx="23618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05" name="Text 98"/>
          <p:cNvSpPr txBox="1"/>
          <p:nvPr/>
        </p:nvSpPr>
        <p:spPr>
          <a:xfrm>
            <a:off x="6096305" y="5670194"/>
            <a:ext cx="23628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Micromachines 15, 956</a:t>
            </a:r>
            <a:endParaRPr lang="en-US" sz="975" dirty="0"/>
          </a:p>
        </p:txBody>
      </p:sp>
      <p:sp>
        <p:nvSpPr>
          <p:cNvPr id="106" name="Shape 99"/>
          <p:cNvSpPr/>
          <p:nvPr/>
        </p:nvSpPr>
        <p:spPr>
          <a:xfrm>
            <a:off x="8458200" y="5956402"/>
            <a:ext cx="13331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07" name="Text 100"/>
          <p:cNvSpPr txBox="1"/>
          <p:nvPr/>
        </p:nvSpPr>
        <p:spPr>
          <a:xfrm>
            <a:off x="9015984" y="5670194"/>
            <a:ext cx="77632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50800" rIns="635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신뢰성</a:t>
            </a:r>
            <a:endParaRPr lang="en-US" sz="975" dirty="0"/>
          </a:p>
        </p:txBody>
      </p:sp>
      <p:sp>
        <p:nvSpPr>
          <p:cNvPr id="108" name="Shape 101"/>
          <p:cNvSpPr/>
          <p:nvPr/>
        </p:nvSpPr>
        <p:spPr>
          <a:xfrm>
            <a:off x="9791395" y="5956402"/>
            <a:ext cx="12573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09" name="Text 102"/>
          <p:cNvSpPr txBox="1"/>
          <p:nvPr/>
        </p:nvSpPr>
        <p:spPr>
          <a:xfrm>
            <a:off x="9791395" y="5670194"/>
            <a:ext cx="12573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CC BY</a:t>
            </a:r>
            <a:endParaRPr lang="en-US" sz="975" dirty="0"/>
          </a:p>
        </p:txBody>
      </p:sp>
      <p:sp>
        <p:nvSpPr>
          <p:cNvPr id="110" name="Shape 103"/>
          <p:cNvSpPr/>
          <p:nvPr/>
        </p:nvSpPr>
        <p:spPr>
          <a:xfrm>
            <a:off x="571500" y="5965546"/>
            <a:ext cx="10477195" cy="295351"/>
          </a:xfrm>
          <a:prstGeom prst="rect">
            <a:avLst/>
          </a:prstGeom>
          <a:solidFill>
            <a:srgbClr val="F0E5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4"/>
          <p:cNvSpPr/>
          <p:nvPr/>
        </p:nvSpPr>
        <p:spPr>
          <a:xfrm>
            <a:off x="571500" y="6251753"/>
            <a:ext cx="5715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12" name="Text 105"/>
          <p:cNvSpPr txBox="1"/>
          <p:nvPr/>
        </p:nvSpPr>
        <p:spPr>
          <a:xfrm>
            <a:off x="571500" y="5965546"/>
            <a:ext cx="5715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50800" rIns="11430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3F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050" dirty="0"/>
          </a:p>
        </p:txBody>
      </p:sp>
      <p:sp>
        <p:nvSpPr>
          <p:cNvPr id="113" name="Shape 106"/>
          <p:cNvSpPr/>
          <p:nvPr/>
        </p:nvSpPr>
        <p:spPr>
          <a:xfrm>
            <a:off x="1143000" y="6251753"/>
            <a:ext cx="495330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14" name="Text 107"/>
          <p:cNvSpPr txBox="1"/>
          <p:nvPr/>
        </p:nvSpPr>
        <p:spPr>
          <a:xfrm>
            <a:off x="1143000" y="5965546"/>
            <a:ext cx="49533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Unit-cell EM compliance in VLSI PDN (Esposto, 2025)</a:t>
            </a:r>
            <a:endParaRPr lang="en-US" sz="1050" dirty="0"/>
          </a:p>
        </p:txBody>
      </p:sp>
      <p:sp>
        <p:nvSpPr>
          <p:cNvPr id="115" name="Shape 108"/>
          <p:cNvSpPr/>
          <p:nvPr/>
        </p:nvSpPr>
        <p:spPr>
          <a:xfrm>
            <a:off x="6096305" y="6251753"/>
            <a:ext cx="23618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16" name="Text 109"/>
          <p:cNvSpPr txBox="1"/>
          <p:nvPr/>
        </p:nvSpPr>
        <p:spPr>
          <a:xfrm>
            <a:off x="6096305" y="5965546"/>
            <a:ext cx="23628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IEEE TDMR 25, 232</a:t>
            </a:r>
            <a:endParaRPr lang="en-US" sz="975" dirty="0"/>
          </a:p>
        </p:txBody>
      </p:sp>
      <p:sp>
        <p:nvSpPr>
          <p:cNvPr id="117" name="Shape 110"/>
          <p:cNvSpPr/>
          <p:nvPr/>
        </p:nvSpPr>
        <p:spPr>
          <a:xfrm>
            <a:off x="8458200" y="6251753"/>
            <a:ext cx="13331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18" name="Text 111"/>
          <p:cNvSpPr txBox="1"/>
          <p:nvPr/>
        </p:nvSpPr>
        <p:spPr>
          <a:xfrm>
            <a:off x="9015984" y="5965546"/>
            <a:ext cx="77632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50800" rIns="635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신뢰성</a:t>
            </a:r>
            <a:endParaRPr lang="en-US" sz="975" dirty="0"/>
          </a:p>
        </p:txBody>
      </p:sp>
      <p:sp>
        <p:nvSpPr>
          <p:cNvPr id="119" name="Shape 112"/>
          <p:cNvSpPr/>
          <p:nvPr/>
        </p:nvSpPr>
        <p:spPr>
          <a:xfrm>
            <a:off x="9791395" y="6251753"/>
            <a:ext cx="12573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20" name="Text 113"/>
          <p:cNvSpPr txBox="1"/>
          <p:nvPr/>
        </p:nvSpPr>
        <p:spPr>
          <a:xfrm>
            <a:off x="9791395" y="5965546"/>
            <a:ext cx="12573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Green OA</a:t>
            </a:r>
            <a:endParaRPr lang="en-US" sz="975" dirty="0"/>
          </a:p>
        </p:txBody>
      </p:sp>
      <p:sp>
        <p:nvSpPr>
          <p:cNvPr id="121" name="Shape 114"/>
          <p:cNvSpPr/>
          <p:nvPr/>
        </p:nvSpPr>
        <p:spPr>
          <a:xfrm>
            <a:off x="571500" y="6547104"/>
            <a:ext cx="5715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22" name="Text 115"/>
          <p:cNvSpPr txBox="1"/>
          <p:nvPr/>
        </p:nvSpPr>
        <p:spPr>
          <a:xfrm>
            <a:off x="571500" y="6260897"/>
            <a:ext cx="5715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50800" rIns="11430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3F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50" dirty="0"/>
          </a:p>
        </p:txBody>
      </p:sp>
      <p:sp>
        <p:nvSpPr>
          <p:cNvPr id="123" name="Shape 116"/>
          <p:cNvSpPr/>
          <p:nvPr/>
        </p:nvSpPr>
        <p:spPr>
          <a:xfrm>
            <a:off x="1143000" y="6547104"/>
            <a:ext cx="495330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24" name="Text 117"/>
          <p:cNvSpPr txBox="1"/>
          <p:nvPr/>
        </p:nvSpPr>
        <p:spPr>
          <a:xfrm>
            <a:off x="1143000" y="6260897"/>
            <a:ext cx="49533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3D modeling of BEOL TDDB, sub-20 nm HP (Fang, 2025)</a:t>
            </a:r>
            <a:endParaRPr lang="en-US" sz="1050" dirty="0"/>
          </a:p>
        </p:txBody>
      </p:sp>
      <p:sp>
        <p:nvSpPr>
          <p:cNvPr id="125" name="Shape 118"/>
          <p:cNvSpPr/>
          <p:nvPr/>
        </p:nvSpPr>
        <p:spPr>
          <a:xfrm>
            <a:off x="6096305" y="6547104"/>
            <a:ext cx="23618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26" name="Text 119"/>
          <p:cNvSpPr txBox="1"/>
          <p:nvPr/>
        </p:nvSpPr>
        <p:spPr>
          <a:xfrm>
            <a:off x="6096305" y="6260897"/>
            <a:ext cx="23628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IEEE TED 72, 2165</a:t>
            </a:r>
            <a:endParaRPr lang="en-US" sz="975" dirty="0"/>
          </a:p>
        </p:txBody>
      </p:sp>
      <p:sp>
        <p:nvSpPr>
          <p:cNvPr id="127" name="Shape 120"/>
          <p:cNvSpPr/>
          <p:nvPr/>
        </p:nvSpPr>
        <p:spPr>
          <a:xfrm>
            <a:off x="8458200" y="6547104"/>
            <a:ext cx="13331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28" name="Text 121"/>
          <p:cNvSpPr txBox="1"/>
          <p:nvPr/>
        </p:nvSpPr>
        <p:spPr>
          <a:xfrm>
            <a:off x="9015984" y="6260897"/>
            <a:ext cx="77632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50800" rIns="635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신뢰성</a:t>
            </a:r>
            <a:endParaRPr lang="en-US" sz="975" dirty="0"/>
          </a:p>
        </p:txBody>
      </p:sp>
      <p:sp>
        <p:nvSpPr>
          <p:cNvPr id="129" name="Shape 122"/>
          <p:cNvSpPr/>
          <p:nvPr/>
        </p:nvSpPr>
        <p:spPr>
          <a:xfrm>
            <a:off x="9791395" y="6547104"/>
            <a:ext cx="12573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30" name="Text 123"/>
          <p:cNvSpPr txBox="1"/>
          <p:nvPr/>
        </p:nvSpPr>
        <p:spPr>
          <a:xfrm>
            <a:off x="9791395" y="6260897"/>
            <a:ext cx="12573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유료</a:t>
            </a:r>
            <a:endParaRPr lang="en-US" sz="975" dirty="0"/>
          </a:p>
        </p:txBody>
      </p:sp>
      <p:sp>
        <p:nvSpPr>
          <p:cNvPr id="131" name="Shape 124"/>
          <p:cNvSpPr/>
          <p:nvPr/>
        </p:nvSpPr>
        <p:spPr>
          <a:xfrm>
            <a:off x="571500" y="6556248"/>
            <a:ext cx="10477195" cy="295351"/>
          </a:xfrm>
          <a:prstGeom prst="rect">
            <a:avLst/>
          </a:prstGeom>
          <a:solidFill>
            <a:srgbClr val="F0E5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25"/>
          <p:cNvSpPr/>
          <p:nvPr/>
        </p:nvSpPr>
        <p:spPr>
          <a:xfrm>
            <a:off x="571500" y="6842455"/>
            <a:ext cx="5715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33" name="Text 126"/>
          <p:cNvSpPr txBox="1"/>
          <p:nvPr/>
        </p:nvSpPr>
        <p:spPr>
          <a:xfrm>
            <a:off x="571500" y="6556248"/>
            <a:ext cx="5715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50800" rIns="11430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3F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050" dirty="0"/>
          </a:p>
        </p:txBody>
      </p:sp>
      <p:sp>
        <p:nvSpPr>
          <p:cNvPr id="134" name="Shape 127"/>
          <p:cNvSpPr/>
          <p:nvPr/>
        </p:nvSpPr>
        <p:spPr>
          <a:xfrm>
            <a:off x="1143000" y="6842455"/>
            <a:ext cx="495330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35" name="Text 128"/>
          <p:cNvSpPr txBox="1"/>
          <p:nvPr/>
        </p:nvSpPr>
        <p:spPr>
          <a:xfrm>
            <a:off x="1143000" y="6556248"/>
            <a:ext cx="49533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Current understanding of BEOL TDDB lifetime models (Croes, 2015)</a:t>
            </a:r>
            <a:endParaRPr lang="en-US" sz="1050" dirty="0"/>
          </a:p>
        </p:txBody>
      </p:sp>
      <p:sp>
        <p:nvSpPr>
          <p:cNvPr id="136" name="Shape 129"/>
          <p:cNvSpPr/>
          <p:nvPr/>
        </p:nvSpPr>
        <p:spPr>
          <a:xfrm>
            <a:off x="6096305" y="6842455"/>
            <a:ext cx="23618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37" name="Text 130"/>
          <p:cNvSpPr txBox="1"/>
          <p:nvPr/>
        </p:nvSpPr>
        <p:spPr>
          <a:xfrm>
            <a:off x="6096305" y="6556248"/>
            <a:ext cx="23628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ECS JSS 4, N3094</a:t>
            </a:r>
            <a:endParaRPr lang="en-US" sz="975" dirty="0"/>
          </a:p>
        </p:txBody>
      </p:sp>
      <p:sp>
        <p:nvSpPr>
          <p:cNvPr id="138" name="Shape 131"/>
          <p:cNvSpPr/>
          <p:nvPr/>
        </p:nvSpPr>
        <p:spPr>
          <a:xfrm>
            <a:off x="8458200" y="6842455"/>
            <a:ext cx="13331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39" name="Text 132"/>
          <p:cNvSpPr txBox="1"/>
          <p:nvPr/>
        </p:nvSpPr>
        <p:spPr>
          <a:xfrm>
            <a:off x="9015984" y="6556248"/>
            <a:ext cx="77632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50800" rIns="635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신뢰성</a:t>
            </a:r>
            <a:endParaRPr lang="en-US" sz="975" dirty="0"/>
          </a:p>
        </p:txBody>
      </p:sp>
      <p:sp>
        <p:nvSpPr>
          <p:cNvPr id="140" name="Shape 133"/>
          <p:cNvSpPr/>
          <p:nvPr/>
        </p:nvSpPr>
        <p:spPr>
          <a:xfrm>
            <a:off x="9791395" y="6842455"/>
            <a:ext cx="12573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41" name="Text 134"/>
          <p:cNvSpPr txBox="1"/>
          <p:nvPr/>
        </p:nvSpPr>
        <p:spPr>
          <a:xfrm>
            <a:off x="9791395" y="6556248"/>
            <a:ext cx="12573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CC BY-NC-ND</a:t>
            </a:r>
            <a:endParaRPr lang="en-US" sz="975" dirty="0"/>
          </a:p>
        </p:txBody>
      </p:sp>
      <p:sp>
        <p:nvSpPr>
          <p:cNvPr id="142" name="Shape 135"/>
          <p:cNvSpPr/>
          <p:nvPr/>
        </p:nvSpPr>
        <p:spPr>
          <a:xfrm>
            <a:off x="571500" y="7137806"/>
            <a:ext cx="5715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43" name="Text 136"/>
          <p:cNvSpPr txBox="1"/>
          <p:nvPr/>
        </p:nvSpPr>
        <p:spPr>
          <a:xfrm>
            <a:off x="571500" y="6851599"/>
            <a:ext cx="5715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50800" rIns="11430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3F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1050" dirty="0"/>
          </a:p>
        </p:txBody>
      </p:sp>
      <p:sp>
        <p:nvSpPr>
          <p:cNvPr id="144" name="Shape 137"/>
          <p:cNvSpPr/>
          <p:nvPr/>
        </p:nvSpPr>
        <p:spPr>
          <a:xfrm>
            <a:off x="1143000" y="7137806"/>
            <a:ext cx="495330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45" name="Text 138"/>
          <p:cNvSpPr txBox="1"/>
          <p:nvPr/>
        </p:nvSpPr>
        <p:spPr>
          <a:xfrm>
            <a:off x="1143000" y="6851599"/>
            <a:ext cx="49533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LER and spacing variability on BEOL TDDB (Kocaay, 2017)</a:t>
            </a:r>
            <a:endParaRPr lang="en-US" sz="1050" dirty="0"/>
          </a:p>
        </p:txBody>
      </p:sp>
      <p:sp>
        <p:nvSpPr>
          <p:cNvPr id="146" name="Shape 139"/>
          <p:cNvSpPr/>
          <p:nvPr/>
        </p:nvSpPr>
        <p:spPr>
          <a:xfrm>
            <a:off x="6096305" y="7137806"/>
            <a:ext cx="23618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47" name="Text 140"/>
          <p:cNvSpPr txBox="1"/>
          <p:nvPr/>
        </p:nvSpPr>
        <p:spPr>
          <a:xfrm>
            <a:off x="6096305" y="6851599"/>
            <a:ext cx="23628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Microelectron. Reliab. 76-77, 131</a:t>
            </a:r>
            <a:endParaRPr lang="en-US" sz="975" dirty="0"/>
          </a:p>
        </p:txBody>
      </p:sp>
      <p:sp>
        <p:nvSpPr>
          <p:cNvPr id="148" name="Shape 141"/>
          <p:cNvSpPr/>
          <p:nvPr/>
        </p:nvSpPr>
        <p:spPr>
          <a:xfrm>
            <a:off x="8458200" y="7137806"/>
            <a:ext cx="13331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49" name="Text 142"/>
          <p:cNvSpPr txBox="1"/>
          <p:nvPr/>
        </p:nvSpPr>
        <p:spPr>
          <a:xfrm>
            <a:off x="9015984" y="6851599"/>
            <a:ext cx="77632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50800" rIns="635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신뢰성</a:t>
            </a:r>
            <a:endParaRPr lang="en-US" sz="975" dirty="0"/>
          </a:p>
        </p:txBody>
      </p:sp>
      <p:sp>
        <p:nvSpPr>
          <p:cNvPr id="150" name="Shape 143"/>
          <p:cNvSpPr/>
          <p:nvPr/>
        </p:nvSpPr>
        <p:spPr>
          <a:xfrm>
            <a:off x="9791395" y="7137806"/>
            <a:ext cx="12573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51" name="Text 144"/>
          <p:cNvSpPr txBox="1"/>
          <p:nvPr/>
        </p:nvSpPr>
        <p:spPr>
          <a:xfrm>
            <a:off x="9791395" y="6851599"/>
            <a:ext cx="12573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유료</a:t>
            </a:r>
            <a:endParaRPr lang="en-US" sz="975" dirty="0"/>
          </a:p>
        </p:txBody>
      </p:sp>
      <p:sp>
        <p:nvSpPr>
          <p:cNvPr id="152" name="Shape 145"/>
          <p:cNvSpPr/>
          <p:nvPr/>
        </p:nvSpPr>
        <p:spPr>
          <a:xfrm>
            <a:off x="571500" y="7146950"/>
            <a:ext cx="10477195" cy="295351"/>
          </a:xfrm>
          <a:prstGeom prst="rect">
            <a:avLst/>
          </a:prstGeom>
          <a:solidFill>
            <a:srgbClr val="F0E5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Shape 146"/>
          <p:cNvSpPr/>
          <p:nvPr/>
        </p:nvSpPr>
        <p:spPr>
          <a:xfrm>
            <a:off x="571500" y="7433158"/>
            <a:ext cx="5715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54" name="Text 147"/>
          <p:cNvSpPr txBox="1"/>
          <p:nvPr/>
        </p:nvSpPr>
        <p:spPr>
          <a:xfrm>
            <a:off x="571500" y="7146950"/>
            <a:ext cx="5715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50800" rIns="11430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3F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</a:t>
            </a:r>
            <a:endParaRPr lang="en-US" sz="1050" dirty="0"/>
          </a:p>
        </p:txBody>
      </p:sp>
      <p:sp>
        <p:nvSpPr>
          <p:cNvPr id="155" name="Shape 148"/>
          <p:cNvSpPr/>
          <p:nvPr/>
        </p:nvSpPr>
        <p:spPr>
          <a:xfrm>
            <a:off x="1143000" y="7433158"/>
            <a:ext cx="495330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56" name="Text 149"/>
          <p:cNvSpPr txBox="1"/>
          <p:nvPr/>
        </p:nvSpPr>
        <p:spPr>
          <a:xfrm>
            <a:off x="1143000" y="7146950"/>
            <a:ext cx="49533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In-situ SEM of fracture during BEOL microbeam bending (Vanstreels, 2014)</a:t>
            </a:r>
            <a:endParaRPr lang="en-US" sz="1050" dirty="0"/>
          </a:p>
        </p:txBody>
      </p:sp>
      <p:sp>
        <p:nvSpPr>
          <p:cNvPr id="157" name="Shape 150"/>
          <p:cNvSpPr/>
          <p:nvPr/>
        </p:nvSpPr>
        <p:spPr>
          <a:xfrm>
            <a:off x="6096305" y="7433158"/>
            <a:ext cx="23618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58" name="Text 151"/>
          <p:cNvSpPr txBox="1"/>
          <p:nvPr/>
        </p:nvSpPr>
        <p:spPr>
          <a:xfrm>
            <a:off x="6096305" y="7146950"/>
            <a:ext cx="23628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Appl. Phys. Lett. 105, 213102</a:t>
            </a:r>
            <a:endParaRPr lang="en-US" sz="975" dirty="0"/>
          </a:p>
        </p:txBody>
      </p:sp>
      <p:sp>
        <p:nvSpPr>
          <p:cNvPr id="159" name="Shape 152"/>
          <p:cNvSpPr/>
          <p:nvPr/>
        </p:nvSpPr>
        <p:spPr>
          <a:xfrm>
            <a:off x="8458200" y="7433158"/>
            <a:ext cx="13331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60" name="Text 153"/>
          <p:cNvSpPr txBox="1"/>
          <p:nvPr/>
        </p:nvSpPr>
        <p:spPr>
          <a:xfrm>
            <a:off x="9015984" y="7146950"/>
            <a:ext cx="77632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50800" rIns="635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신뢰성</a:t>
            </a:r>
            <a:endParaRPr lang="en-US" sz="975" dirty="0"/>
          </a:p>
        </p:txBody>
      </p:sp>
      <p:sp>
        <p:nvSpPr>
          <p:cNvPr id="161" name="Shape 154"/>
          <p:cNvSpPr/>
          <p:nvPr/>
        </p:nvSpPr>
        <p:spPr>
          <a:xfrm>
            <a:off x="9791395" y="7433158"/>
            <a:ext cx="12573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62" name="Text 155"/>
          <p:cNvSpPr txBox="1"/>
          <p:nvPr/>
        </p:nvSpPr>
        <p:spPr>
          <a:xfrm>
            <a:off x="9791395" y="7146950"/>
            <a:ext cx="12573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Bronze OA</a:t>
            </a:r>
            <a:endParaRPr lang="en-US" sz="975" dirty="0"/>
          </a:p>
        </p:txBody>
      </p:sp>
      <p:sp>
        <p:nvSpPr>
          <p:cNvPr id="163" name="Shape 156"/>
          <p:cNvSpPr/>
          <p:nvPr/>
        </p:nvSpPr>
        <p:spPr>
          <a:xfrm>
            <a:off x="571500" y="7728509"/>
            <a:ext cx="5715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64" name="Text 157"/>
          <p:cNvSpPr txBox="1"/>
          <p:nvPr/>
        </p:nvSpPr>
        <p:spPr>
          <a:xfrm>
            <a:off x="571500" y="7442302"/>
            <a:ext cx="5715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50800" rIns="11430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3F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endParaRPr lang="en-US" sz="1050" dirty="0"/>
          </a:p>
        </p:txBody>
      </p:sp>
      <p:sp>
        <p:nvSpPr>
          <p:cNvPr id="165" name="Shape 158"/>
          <p:cNvSpPr/>
          <p:nvPr/>
        </p:nvSpPr>
        <p:spPr>
          <a:xfrm>
            <a:off x="1143000" y="7728509"/>
            <a:ext cx="495330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66" name="Text 159"/>
          <p:cNvSpPr txBox="1"/>
          <p:nvPr/>
        </p:nvSpPr>
        <p:spPr>
          <a:xfrm>
            <a:off x="1143000" y="7442302"/>
            <a:ext cx="49533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LF noise in BEOL MIM capacitors (Giusi, 2025)</a:t>
            </a:r>
            <a:endParaRPr lang="en-US" sz="1050" dirty="0"/>
          </a:p>
        </p:txBody>
      </p:sp>
      <p:sp>
        <p:nvSpPr>
          <p:cNvPr id="167" name="Shape 160"/>
          <p:cNvSpPr/>
          <p:nvPr/>
        </p:nvSpPr>
        <p:spPr>
          <a:xfrm>
            <a:off x="6096305" y="7728509"/>
            <a:ext cx="23618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68" name="Text 161"/>
          <p:cNvSpPr txBox="1"/>
          <p:nvPr/>
        </p:nvSpPr>
        <p:spPr>
          <a:xfrm>
            <a:off x="6096305" y="7442302"/>
            <a:ext cx="23628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IEEE TED 72, 1933</a:t>
            </a:r>
            <a:endParaRPr lang="en-US" sz="975" dirty="0"/>
          </a:p>
        </p:txBody>
      </p:sp>
      <p:sp>
        <p:nvSpPr>
          <p:cNvPr id="169" name="Shape 162"/>
          <p:cNvSpPr/>
          <p:nvPr/>
        </p:nvSpPr>
        <p:spPr>
          <a:xfrm>
            <a:off x="8458200" y="7728509"/>
            <a:ext cx="13331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70" name="Text 163"/>
          <p:cNvSpPr txBox="1"/>
          <p:nvPr/>
        </p:nvSpPr>
        <p:spPr>
          <a:xfrm>
            <a:off x="9015984" y="7442302"/>
            <a:ext cx="77632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50800" rIns="635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신뢰성</a:t>
            </a:r>
            <a:endParaRPr lang="en-US" sz="975" dirty="0"/>
          </a:p>
        </p:txBody>
      </p:sp>
      <p:sp>
        <p:nvSpPr>
          <p:cNvPr id="171" name="Shape 164"/>
          <p:cNvSpPr/>
          <p:nvPr/>
        </p:nvSpPr>
        <p:spPr>
          <a:xfrm>
            <a:off x="9791395" y="7728509"/>
            <a:ext cx="12573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72" name="Text 165"/>
          <p:cNvSpPr txBox="1"/>
          <p:nvPr/>
        </p:nvSpPr>
        <p:spPr>
          <a:xfrm>
            <a:off x="9791395" y="7442302"/>
            <a:ext cx="12573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imec 무료 전문</a:t>
            </a:r>
            <a:endParaRPr lang="en-US" sz="975" dirty="0"/>
          </a:p>
        </p:txBody>
      </p:sp>
      <p:sp>
        <p:nvSpPr>
          <p:cNvPr id="173" name="Shape 166"/>
          <p:cNvSpPr/>
          <p:nvPr/>
        </p:nvSpPr>
        <p:spPr>
          <a:xfrm>
            <a:off x="571500" y="7736738"/>
            <a:ext cx="10477195" cy="295351"/>
          </a:xfrm>
          <a:prstGeom prst="rect">
            <a:avLst/>
          </a:prstGeom>
          <a:solidFill>
            <a:srgbClr val="F0E5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Shape 167"/>
          <p:cNvSpPr/>
          <p:nvPr/>
        </p:nvSpPr>
        <p:spPr>
          <a:xfrm>
            <a:off x="571500" y="8022946"/>
            <a:ext cx="5715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75" name="Text 168"/>
          <p:cNvSpPr txBox="1"/>
          <p:nvPr/>
        </p:nvSpPr>
        <p:spPr>
          <a:xfrm>
            <a:off x="571500" y="7736738"/>
            <a:ext cx="5715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50800" rIns="11430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3F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</a:t>
            </a:r>
            <a:endParaRPr lang="en-US" sz="1050" dirty="0"/>
          </a:p>
        </p:txBody>
      </p:sp>
      <p:sp>
        <p:nvSpPr>
          <p:cNvPr id="176" name="Shape 169"/>
          <p:cNvSpPr/>
          <p:nvPr/>
        </p:nvSpPr>
        <p:spPr>
          <a:xfrm>
            <a:off x="1143000" y="8022946"/>
            <a:ext cx="495330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77" name="Text 170"/>
          <p:cNvSpPr txBox="1"/>
          <p:nvPr/>
        </p:nvSpPr>
        <p:spPr>
          <a:xfrm>
            <a:off x="1143000" y="7736738"/>
            <a:ext cx="49533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Thermal modeling for BEOL and BSPDN stacks (Chang, 2024)</a:t>
            </a:r>
            <a:endParaRPr lang="en-US" sz="1050" dirty="0"/>
          </a:p>
        </p:txBody>
      </p:sp>
      <p:sp>
        <p:nvSpPr>
          <p:cNvPr id="178" name="Shape 171"/>
          <p:cNvSpPr/>
          <p:nvPr/>
        </p:nvSpPr>
        <p:spPr>
          <a:xfrm>
            <a:off x="6096305" y="8022946"/>
            <a:ext cx="23618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79" name="Text 172"/>
          <p:cNvSpPr txBox="1"/>
          <p:nvPr/>
        </p:nvSpPr>
        <p:spPr>
          <a:xfrm>
            <a:off x="6096305" y="7736738"/>
            <a:ext cx="23628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ECTC 2024, p.498</a:t>
            </a:r>
            <a:endParaRPr lang="en-US" sz="975" dirty="0"/>
          </a:p>
        </p:txBody>
      </p:sp>
      <p:sp>
        <p:nvSpPr>
          <p:cNvPr id="180" name="Shape 173"/>
          <p:cNvSpPr/>
          <p:nvPr/>
        </p:nvSpPr>
        <p:spPr>
          <a:xfrm>
            <a:off x="8458200" y="8022946"/>
            <a:ext cx="13331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81" name="Text 174"/>
          <p:cNvSpPr txBox="1"/>
          <p:nvPr/>
        </p:nvSpPr>
        <p:spPr>
          <a:xfrm>
            <a:off x="9130284" y="7736738"/>
            <a:ext cx="66202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50800" rIns="635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열</a:t>
            </a:r>
            <a:endParaRPr lang="en-US" sz="975" dirty="0"/>
          </a:p>
        </p:txBody>
      </p:sp>
      <p:sp>
        <p:nvSpPr>
          <p:cNvPr id="182" name="Shape 175"/>
          <p:cNvSpPr/>
          <p:nvPr/>
        </p:nvSpPr>
        <p:spPr>
          <a:xfrm>
            <a:off x="9791395" y="8022946"/>
            <a:ext cx="12573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83" name="Text 176"/>
          <p:cNvSpPr txBox="1"/>
          <p:nvPr/>
        </p:nvSpPr>
        <p:spPr>
          <a:xfrm>
            <a:off x="9791395" y="7736738"/>
            <a:ext cx="12573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Green OA</a:t>
            </a:r>
            <a:endParaRPr lang="en-US" sz="975" dirty="0"/>
          </a:p>
        </p:txBody>
      </p:sp>
      <p:sp>
        <p:nvSpPr>
          <p:cNvPr id="184" name="Shape 177"/>
          <p:cNvSpPr/>
          <p:nvPr/>
        </p:nvSpPr>
        <p:spPr>
          <a:xfrm>
            <a:off x="571500" y="8318297"/>
            <a:ext cx="5715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85" name="Text 178"/>
          <p:cNvSpPr txBox="1"/>
          <p:nvPr/>
        </p:nvSpPr>
        <p:spPr>
          <a:xfrm>
            <a:off x="571500" y="8032090"/>
            <a:ext cx="5715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50800" rIns="11430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3F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</a:t>
            </a:r>
            <a:endParaRPr lang="en-US" sz="1050" dirty="0"/>
          </a:p>
        </p:txBody>
      </p:sp>
      <p:sp>
        <p:nvSpPr>
          <p:cNvPr id="186" name="Shape 179"/>
          <p:cNvSpPr/>
          <p:nvPr/>
        </p:nvSpPr>
        <p:spPr>
          <a:xfrm>
            <a:off x="1143000" y="8318297"/>
            <a:ext cx="495330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87" name="Text 180"/>
          <p:cNvSpPr txBox="1"/>
          <p:nvPr/>
        </p:nvSpPr>
        <p:spPr>
          <a:xfrm>
            <a:off x="1143000" y="8032090"/>
            <a:ext cx="49533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Equivalent thermal properties for BEOL stacks (Chang, 2025)</a:t>
            </a:r>
            <a:endParaRPr lang="en-US" sz="1050" dirty="0"/>
          </a:p>
        </p:txBody>
      </p:sp>
      <p:sp>
        <p:nvSpPr>
          <p:cNvPr id="188" name="Shape 181"/>
          <p:cNvSpPr/>
          <p:nvPr/>
        </p:nvSpPr>
        <p:spPr>
          <a:xfrm>
            <a:off x="6096305" y="8318297"/>
            <a:ext cx="23618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89" name="Text 182"/>
          <p:cNvSpPr txBox="1"/>
          <p:nvPr/>
        </p:nvSpPr>
        <p:spPr>
          <a:xfrm>
            <a:off x="6096305" y="8032090"/>
            <a:ext cx="23628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IEEE TCPMT 15, 1708</a:t>
            </a:r>
            <a:endParaRPr lang="en-US" sz="975" dirty="0"/>
          </a:p>
        </p:txBody>
      </p:sp>
      <p:sp>
        <p:nvSpPr>
          <p:cNvPr id="190" name="Shape 183"/>
          <p:cNvSpPr/>
          <p:nvPr/>
        </p:nvSpPr>
        <p:spPr>
          <a:xfrm>
            <a:off x="8458200" y="8318297"/>
            <a:ext cx="13331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91" name="Text 184"/>
          <p:cNvSpPr txBox="1"/>
          <p:nvPr/>
        </p:nvSpPr>
        <p:spPr>
          <a:xfrm>
            <a:off x="9130284" y="8032090"/>
            <a:ext cx="66202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50800" rIns="635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열</a:t>
            </a:r>
            <a:endParaRPr lang="en-US" sz="975" dirty="0"/>
          </a:p>
        </p:txBody>
      </p:sp>
      <p:sp>
        <p:nvSpPr>
          <p:cNvPr id="192" name="Shape 185"/>
          <p:cNvSpPr/>
          <p:nvPr/>
        </p:nvSpPr>
        <p:spPr>
          <a:xfrm>
            <a:off x="9791395" y="8318297"/>
            <a:ext cx="12573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93" name="Text 186"/>
          <p:cNvSpPr txBox="1"/>
          <p:nvPr/>
        </p:nvSpPr>
        <p:spPr>
          <a:xfrm>
            <a:off x="9791395" y="8032090"/>
            <a:ext cx="12573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유료</a:t>
            </a:r>
            <a:endParaRPr lang="en-US" sz="975" dirty="0"/>
          </a:p>
        </p:txBody>
      </p:sp>
      <p:sp>
        <p:nvSpPr>
          <p:cNvPr id="194" name="Shape 187"/>
          <p:cNvSpPr/>
          <p:nvPr/>
        </p:nvSpPr>
        <p:spPr>
          <a:xfrm>
            <a:off x="571500" y="8327441"/>
            <a:ext cx="10477195" cy="295351"/>
          </a:xfrm>
          <a:prstGeom prst="rect">
            <a:avLst/>
          </a:prstGeom>
          <a:solidFill>
            <a:srgbClr val="F0E5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5" name="Shape 188"/>
          <p:cNvSpPr/>
          <p:nvPr/>
        </p:nvSpPr>
        <p:spPr>
          <a:xfrm>
            <a:off x="571500" y="8613648"/>
            <a:ext cx="5715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96" name="Text 189"/>
          <p:cNvSpPr txBox="1"/>
          <p:nvPr/>
        </p:nvSpPr>
        <p:spPr>
          <a:xfrm>
            <a:off x="571500" y="8327441"/>
            <a:ext cx="5715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50800" rIns="11430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3F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</a:t>
            </a:r>
            <a:endParaRPr lang="en-US" sz="1050" dirty="0"/>
          </a:p>
        </p:txBody>
      </p:sp>
      <p:sp>
        <p:nvSpPr>
          <p:cNvPr id="197" name="Shape 190"/>
          <p:cNvSpPr/>
          <p:nvPr/>
        </p:nvSpPr>
        <p:spPr>
          <a:xfrm>
            <a:off x="1143000" y="8613648"/>
            <a:ext cx="495330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198" name="Text 191"/>
          <p:cNvSpPr txBox="1"/>
          <p:nvPr/>
        </p:nvSpPr>
        <p:spPr>
          <a:xfrm>
            <a:off x="1143000" y="8327441"/>
            <a:ext cx="49533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Non-uniform power in BSPDN chiplets (Chen, 2025)</a:t>
            </a:r>
            <a:endParaRPr lang="en-US" sz="1050" dirty="0"/>
          </a:p>
        </p:txBody>
      </p:sp>
      <p:sp>
        <p:nvSpPr>
          <p:cNvPr id="199" name="Shape 192"/>
          <p:cNvSpPr/>
          <p:nvPr/>
        </p:nvSpPr>
        <p:spPr>
          <a:xfrm>
            <a:off x="6096305" y="8613648"/>
            <a:ext cx="23618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200" name="Text 193"/>
          <p:cNvSpPr txBox="1"/>
          <p:nvPr/>
        </p:nvSpPr>
        <p:spPr>
          <a:xfrm>
            <a:off x="6096305" y="8327441"/>
            <a:ext cx="23628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arXiv:2508.02284</a:t>
            </a:r>
            <a:endParaRPr lang="en-US" sz="975" dirty="0"/>
          </a:p>
        </p:txBody>
      </p:sp>
      <p:sp>
        <p:nvSpPr>
          <p:cNvPr id="201" name="Shape 194"/>
          <p:cNvSpPr/>
          <p:nvPr/>
        </p:nvSpPr>
        <p:spPr>
          <a:xfrm>
            <a:off x="8458200" y="8613648"/>
            <a:ext cx="13331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202" name="Text 195"/>
          <p:cNvSpPr txBox="1"/>
          <p:nvPr/>
        </p:nvSpPr>
        <p:spPr>
          <a:xfrm>
            <a:off x="9130284" y="8327441"/>
            <a:ext cx="66202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50800" rIns="635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열</a:t>
            </a:r>
            <a:endParaRPr lang="en-US" sz="975" dirty="0"/>
          </a:p>
        </p:txBody>
      </p:sp>
      <p:sp>
        <p:nvSpPr>
          <p:cNvPr id="203" name="Shape 196"/>
          <p:cNvSpPr/>
          <p:nvPr/>
        </p:nvSpPr>
        <p:spPr>
          <a:xfrm>
            <a:off x="9791395" y="8613648"/>
            <a:ext cx="12573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204" name="Text 197"/>
          <p:cNvSpPr txBox="1"/>
          <p:nvPr/>
        </p:nvSpPr>
        <p:spPr>
          <a:xfrm>
            <a:off x="9791395" y="8327441"/>
            <a:ext cx="12573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오픈</a:t>
            </a:r>
            <a:endParaRPr lang="en-US" sz="975" dirty="0"/>
          </a:p>
        </p:txBody>
      </p:sp>
      <p:sp>
        <p:nvSpPr>
          <p:cNvPr id="205" name="Shape 198"/>
          <p:cNvSpPr/>
          <p:nvPr/>
        </p:nvSpPr>
        <p:spPr>
          <a:xfrm>
            <a:off x="571500" y="8908999"/>
            <a:ext cx="5715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206" name="Text 199"/>
          <p:cNvSpPr txBox="1"/>
          <p:nvPr/>
        </p:nvSpPr>
        <p:spPr>
          <a:xfrm>
            <a:off x="571500" y="8622792"/>
            <a:ext cx="5715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50800" rIns="11430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3F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</a:t>
            </a:r>
            <a:endParaRPr lang="en-US" sz="1050" dirty="0"/>
          </a:p>
        </p:txBody>
      </p:sp>
      <p:sp>
        <p:nvSpPr>
          <p:cNvPr id="207" name="Shape 200"/>
          <p:cNvSpPr/>
          <p:nvPr/>
        </p:nvSpPr>
        <p:spPr>
          <a:xfrm>
            <a:off x="1143000" y="8908999"/>
            <a:ext cx="495330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208" name="Text 201"/>
          <p:cNvSpPr txBox="1"/>
          <p:nvPr/>
        </p:nvSpPr>
        <p:spPr>
          <a:xfrm>
            <a:off x="1143000" y="8622792"/>
            <a:ext cx="49533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CNT on-chip interconnects (Xu, 2022)</a:t>
            </a:r>
            <a:endParaRPr lang="en-US" sz="1050" dirty="0"/>
          </a:p>
        </p:txBody>
      </p:sp>
      <p:sp>
        <p:nvSpPr>
          <p:cNvPr id="209" name="Shape 202"/>
          <p:cNvSpPr/>
          <p:nvPr/>
        </p:nvSpPr>
        <p:spPr>
          <a:xfrm>
            <a:off x="6096305" y="8908999"/>
            <a:ext cx="23618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210" name="Text 203"/>
          <p:cNvSpPr txBox="1"/>
          <p:nvPr/>
        </p:nvSpPr>
        <p:spPr>
          <a:xfrm>
            <a:off x="6096305" y="8622792"/>
            <a:ext cx="23628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Micromachines 13, 1148</a:t>
            </a:r>
            <a:endParaRPr lang="en-US" sz="975" dirty="0"/>
          </a:p>
        </p:txBody>
      </p:sp>
      <p:sp>
        <p:nvSpPr>
          <p:cNvPr id="211" name="Shape 204"/>
          <p:cNvSpPr/>
          <p:nvPr/>
        </p:nvSpPr>
        <p:spPr>
          <a:xfrm>
            <a:off x="8458200" y="8908999"/>
            <a:ext cx="1333195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212" name="Text 205"/>
          <p:cNvSpPr txBox="1"/>
          <p:nvPr/>
        </p:nvSpPr>
        <p:spPr>
          <a:xfrm>
            <a:off x="8941918" y="8622792"/>
            <a:ext cx="85039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50800" rIns="635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대체 배선</a:t>
            </a:r>
            <a:endParaRPr lang="en-US" sz="975" dirty="0"/>
          </a:p>
        </p:txBody>
      </p:sp>
      <p:sp>
        <p:nvSpPr>
          <p:cNvPr id="213" name="Shape 206"/>
          <p:cNvSpPr/>
          <p:nvPr/>
        </p:nvSpPr>
        <p:spPr>
          <a:xfrm>
            <a:off x="9791395" y="8908999"/>
            <a:ext cx="1257300" cy="9144"/>
          </a:xfrm>
          <a:prstGeom prst="rect">
            <a:avLst/>
          </a:prstGeom>
          <a:solidFill>
            <a:srgbClr val="CFBE93"/>
          </a:solidFill>
          <a:ln w="12700">
            <a:solidFill>
              <a:srgbClr val="CFBE93">
                <a:alpha val="0"/>
              </a:srgbClr>
            </a:solidFill>
            <a:prstDash val="solid"/>
          </a:ln>
        </p:spPr>
      </p:sp>
      <p:sp>
        <p:nvSpPr>
          <p:cNvPr id="214" name="Text 207"/>
          <p:cNvSpPr txBox="1"/>
          <p:nvPr/>
        </p:nvSpPr>
        <p:spPr>
          <a:xfrm>
            <a:off x="9791395" y="8622792"/>
            <a:ext cx="12573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CC BY</a:t>
            </a:r>
            <a:endParaRPr lang="en-US" sz="975" dirty="0"/>
          </a:p>
        </p:txBody>
      </p:sp>
      <p:sp>
        <p:nvSpPr>
          <p:cNvPr id="215" name="Shape 208"/>
          <p:cNvSpPr/>
          <p:nvPr/>
        </p:nvSpPr>
        <p:spPr>
          <a:xfrm>
            <a:off x="571500" y="8918143"/>
            <a:ext cx="10477195" cy="295351"/>
          </a:xfrm>
          <a:prstGeom prst="rect">
            <a:avLst/>
          </a:prstGeom>
          <a:solidFill>
            <a:srgbClr val="F0E5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6" name="Text 209"/>
          <p:cNvSpPr txBox="1"/>
          <p:nvPr/>
        </p:nvSpPr>
        <p:spPr>
          <a:xfrm>
            <a:off x="571500" y="8918143"/>
            <a:ext cx="5715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3F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</a:t>
            </a:r>
            <a:endParaRPr lang="en-US" sz="1050" dirty="0"/>
          </a:p>
        </p:txBody>
      </p:sp>
      <p:sp>
        <p:nvSpPr>
          <p:cNvPr id="217" name="Text 210"/>
          <p:cNvSpPr txBox="1"/>
          <p:nvPr/>
        </p:nvSpPr>
        <p:spPr>
          <a:xfrm>
            <a:off x="1143000" y="8918143"/>
            <a:ext cx="49533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Graphene interconnect for large SRAM caches (Pei, 2023)</a:t>
            </a:r>
            <a:endParaRPr lang="en-US" sz="1050" dirty="0"/>
          </a:p>
        </p:txBody>
      </p:sp>
      <p:sp>
        <p:nvSpPr>
          <p:cNvPr id="218" name="Text 211"/>
          <p:cNvSpPr txBox="1"/>
          <p:nvPr/>
        </p:nvSpPr>
        <p:spPr>
          <a:xfrm>
            <a:off x="6096305" y="8918143"/>
            <a:ext cx="23628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IEEE TED 70, 230</a:t>
            </a:r>
            <a:endParaRPr lang="en-US" sz="975" dirty="0"/>
          </a:p>
        </p:txBody>
      </p:sp>
      <p:sp>
        <p:nvSpPr>
          <p:cNvPr id="219" name="Text 212"/>
          <p:cNvSpPr txBox="1"/>
          <p:nvPr/>
        </p:nvSpPr>
        <p:spPr>
          <a:xfrm>
            <a:off x="8941918" y="8918143"/>
            <a:ext cx="850392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대체 배선</a:t>
            </a:r>
            <a:endParaRPr lang="en-US" sz="975" dirty="0"/>
          </a:p>
        </p:txBody>
      </p:sp>
      <p:sp>
        <p:nvSpPr>
          <p:cNvPr id="220" name="Text 213"/>
          <p:cNvSpPr txBox="1"/>
          <p:nvPr/>
        </p:nvSpPr>
        <p:spPr>
          <a:xfrm>
            <a:off x="9791395" y="8918143"/>
            <a:ext cx="12573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무료 manuscript</a:t>
            </a:r>
            <a:endParaRPr lang="en-US" sz="975" dirty="0"/>
          </a:p>
        </p:txBody>
      </p:sp>
      <p:sp>
        <p:nvSpPr>
          <p:cNvPr id="221" name="Shape 214"/>
          <p:cNvSpPr/>
          <p:nvPr/>
        </p:nvSpPr>
        <p:spPr>
          <a:xfrm>
            <a:off x="8891626" y="3237890"/>
            <a:ext cx="75895" cy="75895"/>
          </a:xfrm>
          <a:prstGeom prst="ellipse">
            <a:avLst/>
          </a:prstGeom>
          <a:solidFill>
            <a:srgbClr val="BC55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2" name="Shape 215"/>
          <p:cNvSpPr/>
          <p:nvPr/>
        </p:nvSpPr>
        <p:spPr>
          <a:xfrm>
            <a:off x="8891626" y="3546958"/>
            <a:ext cx="75895" cy="75895"/>
          </a:xfrm>
          <a:prstGeom prst="ellipse">
            <a:avLst/>
          </a:prstGeom>
          <a:solidFill>
            <a:srgbClr val="BC55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3" name="Shape 216"/>
          <p:cNvSpPr/>
          <p:nvPr/>
        </p:nvSpPr>
        <p:spPr>
          <a:xfrm>
            <a:off x="8891626" y="3855110"/>
            <a:ext cx="75895" cy="75895"/>
          </a:xfrm>
          <a:prstGeom prst="ellipse">
            <a:avLst/>
          </a:prstGeom>
          <a:solidFill>
            <a:srgbClr val="BC55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4" name="Shape 217"/>
          <p:cNvSpPr/>
          <p:nvPr/>
        </p:nvSpPr>
        <p:spPr>
          <a:xfrm>
            <a:off x="8891626" y="4150462"/>
            <a:ext cx="75895" cy="75895"/>
          </a:xfrm>
          <a:prstGeom prst="ellipse">
            <a:avLst/>
          </a:prstGeom>
          <a:solidFill>
            <a:srgbClr val="BC55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5" name="Shape 218"/>
          <p:cNvSpPr/>
          <p:nvPr/>
        </p:nvSpPr>
        <p:spPr>
          <a:xfrm>
            <a:off x="8891626" y="4531766"/>
            <a:ext cx="75895" cy="75895"/>
          </a:xfrm>
          <a:prstGeom prst="ellipse">
            <a:avLst/>
          </a:prstGeom>
          <a:solidFill>
            <a:srgbClr val="BC55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6" name="Shape 219"/>
          <p:cNvSpPr/>
          <p:nvPr/>
        </p:nvSpPr>
        <p:spPr>
          <a:xfrm>
            <a:off x="8891626" y="4913071"/>
            <a:ext cx="75895" cy="75895"/>
          </a:xfrm>
          <a:prstGeom prst="ellipse">
            <a:avLst/>
          </a:prstGeom>
          <a:solidFill>
            <a:srgbClr val="3F63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7" name="Shape 220"/>
          <p:cNvSpPr/>
          <p:nvPr/>
        </p:nvSpPr>
        <p:spPr>
          <a:xfrm>
            <a:off x="8891626" y="5207508"/>
            <a:ext cx="75895" cy="75895"/>
          </a:xfrm>
          <a:prstGeom prst="ellipse">
            <a:avLst/>
          </a:prstGeom>
          <a:solidFill>
            <a:srgbClr val="3F63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8" name="Shape 221"/>
          <p:cNvSpPr/>
          <p:nvPr/>
        </p:nvSpPr>
        <p:spPr>
          <a:xfrm>
            <a:off x="8891626" y="5502859"/>
            <a:ext cx="75895" cy="75895"/>
          </a:xfrm>
          <a:prstGeom prst="ellipse">
            <a:avLst/>
          </a:prstGeom>
          <a:solidFill>
            <a:srgbClr val="3F63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9" name="Shape 222"/>
          <p:cNvSpPr/>
          <p:nvPr/>
        </p:nvSpPr>
        <p:spPr>
          <a:xfrm>
            <a:off x="8891626" y="5798210"/>
            <a:ext cx="75895" cy="75895"/>
          </a:xfrm>
          <a:prstGeom prst="ellipse">
            <a:avLst/>
          </a:prstGeom>
          <a:solidFill>
            <a:srgbClr val="2C58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0" name="Shape 223"/>
          <p:cNvSpPr/>
          <p:nvPr/>
        </p:nvSpPr>
        <p:spPr>
          <a:xfrm>
            <a:off x="8891626" y="6093562"/>
            <a:ext cx="75895" cy="75895"/>
          </a:xfrm>
          <a:prstGeom prst="ellipse">
            <a:avLst/>
          </a:prstGeom>
          <a:solidFill>
            <a:srgbClr val="2C58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1" name="Shape 224"/>
          <p:cNvSpPr/>
          <p:nvPr/>
        </p:nvSpPr>
        <p:spPr>
          <a:xfrm>
            <a:off x="8891626" y="6388913"/>
            <a:ext cx="75895" cy="75895"/>
          </a:xfrm>
          <a:prstGeom prst="ellipse">
            <a:avLst/>
          </a:prstGeom>
          <a:solidFill>
            <a:srgbClr val="2C58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2" name="Shape 225"/>
          <p:cNvSpPr/>
          <p:nvPr/>
        </p:nvSpPr>
        <p:spPr>
          <a:xfrm>
            <a:off x="8891626" y="6684264"/>
            <a:ext cx="75895" cy="75895"/>
          </a:xfrm>
          <a:prstGeom prst="ellipse">
            <a:avLst/>
          </a:prstGeom>
          <a:solidFill>
            <a:srgbClr val="2C58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3" name="Shape 226"/>
          <p:cNvSpPr/>
          <p:nvPr/>
        </p:nvSpPr>
        <p:spPr>
          <a:xfrm>
            <a:off x="8891626" y="6979615"/>
            <a:ext cx="75895" cy="75895"/>
          </a:xfrm>
          <a:prstGeom prst="ellipse">
            <a:avLst/>
          </a:prstGeom>
          <a:solidFill>
            <a:srgbClr val="2C58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4" name="Shape 227"/>
          <p:cNvSpPr/>
          <p:nvPr/>
        </p:nvSpPr>
        <p:spPr>
          <a:xfrm>
            <a:off x="8891626" y="7274966"/>
            <a:ext cx="75895" cy="75895"/>
          </a:xfrm>
          <a:prstGeom prst="ellipse">
            <a:avLst/>
          </a:prstGeom>
          <a:solidFill>
            <a:srgbClr val="2C58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5" name="Shape 228"/>
          <p:cNvSpPr/>
          <p:nvPr/>
        </p:nvSpPr>
        <p:spPr>
          <a:xfrm>
            <a:off x="8891626" y="7570318"/>
            <a:ext cx="75895" cy="75895"/>
          </a:xfrm>
          <a:prstGeom prst="ellipse">
            <a:avLst/>
          </a:prstGeom>
          <a:solidFill>
            <a:srgbClr val="2C58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6" name="Shape 229"/>
          <p:cNvSpPr/>
          <p:nvPr/>
        </p:nvSpPr>
        <p:spPr>
          <a:xfrm>
            <a:off x="9005926" y="7865669"/>
            <a:ext cx="75895" cy="75895"/>
          </a:xfrm>
          <a:prstGeom prst="ellipse">
            <a:avLst/>
          </a:prstGeom>
          <a:solidFill>
            <a:srgbClr val="C184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7" name="Shape 230"/>
          <p:cNvSpPr/>
          <p:nvPr/>
        </p:nvSpPr>
        <p:spPr>
          <a:xfrm>
            <a:off x="9005926" y="8161020"/>
            <a:ext cx="75895" cy="75895"/>
          </a:xfrm>
          <a:prstGeom prst="ellipse">
            <a:avLst/>
          </a:prstGeom>
          <a:solidFill>
            <a:srgbClr val="C184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8" name="Shape 231"/>
          <p:cNvSpPr/>
          <p:nvPr/>
        </p:nvSpPr>
        <p:spPr>
          <a:xfrm>
            <a:off x="9005926" y="8456371"/>
            <a:ext cx="75895" cy="75895"/>
          </a:xfrm>
          <a:prstGeom prst="ellipse">
            <a:avLst/>
          </a:prstGeom>
          <a:solidFill>
            <a:srgbClr val="C184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9" name="Shape 232"/>
          <p:cNvSpPr/>
          <p:nvPr/>
        </p:nvSpPr>
        <p:spPr>
          <a:xfrm>
            <a:off x="8817559" y="8750808"/>
            <a:ext cx="75895" cy="75895"/>
          </a:xfrm>
          <a:prstGeom prst="ellipse">
            <a:avLst/>
          </a:prstGeom>
          <a:solidFill>
            <a:srgbClr val="6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0" name="Shape 233"/>
          <p:cNvSpPr/>
          <p:nvPr/>
        </p:nvSpPr>
        <p:spPr>
          <a:xfrm>
            <a:off x="8817559" y="9046159"/>
            <a:ext cx="75895" cy="75895"/>
          </a:xfrm>
          <a:prstGeom prst="ellipse">
            <a:avLst/>
          </a:prstGeom>
          <a:solidFill>
            <a:srgbClr val="6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1" name="Text 234"/>
          <p:cNvSpPr txBox="1"/>
          <p:nvPr/>
        </p:nvSpPr>
        <p:spPr>
          <a:xfrm>
            <a:off x="11430000" y="5848502"/>
            <a:ext cx="6286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4A3F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Springer Nature, Fine-Pitch Cu nanowire 단면</a:t>
            </a:r>
            <a:endParaRPr lang="en-US" sz="975" dirty="0"/>
          </a:p>
        </p:txBody>
      </p:sp>
      <p:sp>
        <p:nvSpPr>
          <p:cNvPr id="242" name="Text 235"/>
          <p:cNvSpPr txBox="1"/>
          <p:nvPr/>
        </p:nvSpPr>
        <p:spPr>
          <a:xfrm>
            <a:off x="11658600" y="6400800"/>
            <a:ext cx="58110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축별 분포</a:t>
            </a:r>
            <a:endParaRPr lang="en-US" sz="1350" dirty="0"/>
          </a:p>
        </p:txBody>
      </p:sp>
      <p:sp>
        <p:nvSpPr>
          <p:cNvPr id="243" name="Text 236"/>
          <p:cNvSpPr txBox="1"/>
          <p:nvPr/>
        </p:nvSpPr>
        <p:spPr>
          <a:xfrm>
            <a:off x="17354398" y="6782105"/>
            <a:ext cx="1143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6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1500" dirty="0"/>
          </a:p>
        </p:txBody>
      </p:sp>
      <p:sp>
        <p:nvSpPr>
          <p:cNvPr id="244" name="Text 237"/>
          <p:cNvSpPr txBox="1"/>
          <p:nvPr/>
        </p:nvSpPr>
        <p:spPr>
          <a:xfrm>
            <a:off x="17354398" y="7114946"/>
            <a:ext cx="1143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6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500" dirty="0"/>
          </a:p>
        </p:txBody>
      </p:sp>
      <p:sp>
        <p:nvSpPr>
          <p:cNvPr id="245" name="Text 238"/>
          <p:cNvSpPr txBox="1"/>
          <p:nvPr/>
        </p:nvSpPr>
        <p:spPr>
          <a:xfrm>
            <a:off x="17354398" y="7448702"/>
            <a:ext cx="1143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6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</a:t>
            </a:r>
            <a:endParaRPr lang="en-US" sz="1500" dirty="0"/>
          </a:p>
        </p:txBody>
      </p:sp>
      <p:sp>
        <p:nvSpPr>
          <p:cNvPr id="246" name="Text 239"/>
          <p:cNvSpPr txBox="1"/>
          <p:nvPr/>
        </p:nvSpPr>
        <p:spPr>
          <a:xfrm>
            <a:off x="17354398" y="7781544"/>
            <a:ext cx="1143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6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500" dirty="0"/>
          </a:p>
        </p:txBody>
      </p:sp>
      <p:sp>
        <p:nvSpPr>
          <p:cNvPr id="247" name="Text 240"/>
          <p:cNvSpPr txBox="1"/>
          <p:nvPr/>
        </p:nvSpPr>
        <p:spPr>
          <a:xfrm>
            <a:off x="17354398" y="8115300"/>
            <a:ext cx="1143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6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500" dirty="0"/>
          </a:p>
        </p:txBody>
      </p:sp>
      <p:sp>
        <p:nvSpPr>
          <p:cNvPr id="248" name="Shape 241"/>
          <p:cNvSpPr/>
          <p:nvPr/>
        </p:nvSpPr>
        <p:spPr>
          <a:xfrm>
            <a:off x="11658600" y="6890004"/>
            <a:ext cx="95098" cy="95098"/>
          </a:xfrm>
          <a:prstGeom prst="ellipse">
            <a:avLst/>
          </a:prstGeom>
          <a:solidFill>
            <a:srgbClr val="BC55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9" name="Text 242"/>
          <p:cNvSpPr txBox="1"/>
          <p:nvPr/>
        </p:nvSpPr>
        <p:spPr>
          <a:xfrm>
            <a:off x="11830507" y="6795821"/>
            <a:ext cx="48829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금속화</a:t>
            </a:r>
            <a:endParaRPr lang="en-US" sz="1200" dirty="0"/>
          </a:p>
        </p:txBody>
      </p:sp>
      <p:sp>
        <p:nvSpPr>
          <p:cNvPr id="250" name="Shape 243"/>
          <p:cNvSpPr/>
          <p:nvPr/>
        </p:nvSpPr>
        <p:spPr>
          <a:xfrm>
            <a:off x="11658600" y="7223760"/>
            <a:ext cx="95098" cy="95098"/>
          </a:xfrm>
          <a:prstGeom prst="ellipse">
            <a:avLst/>
          </a:prstGeom>
          <a:solidFill>
            <a:srgbClr val="3F63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1" name="Text 244"/>
          <p:cNvSpPr txBox="1"/>
          <p:nvPr/>
        </p:nvSpPr>
        <p:spPr>
          <a:xfrm>
            <a:off x="11830507" y="7129577"/>
            <a:ext cx="48829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패터닝</a:t>
            </a:r>
            <a:endParaRPr lang="en-US" sz="1200" dirty="0"/>
          </a:p>
        </p:txBody>
      </p:sp>
      <p:sp>
        <p:nvSpPr>
          <p:cNvPr id="252" name="Shape 245"/>
          <p:cNvSpPr/>
          <p:nvPr/>
        </p:nvSpPr>
        <p:spPr>
          <a:xfrm>
            <a:off x="11658600" y="7556602"/>
            <a:ext cx="95098" cy="95098"/>
          </a:xfrm>
          <a:prstGeom prst="ellipse">
            <a:avLst/>
          </a:prstGeom>
          <a:solidFill>
            <a:srgbClr val="2C58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3" name="Text 246"/>
          <p:cNvSpPr txBox="1"/>
          <p:nvPr/>
        </p:nvSpPr>
        <p:spPr>
          <a:xfrm>
            <a:off x="11830507" y="7462418"/>
            <a:ext cx="48829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신뢰성</a:t>
            </a:r>
            <a:endParaRPr lang="en-US" sz="1200" dirty="0"/>
          </a:p>
        </p:txBody>
      </p:sp>
      <p:sp>
        <p:nvSpPr>
          <p:cNvPr id="254" name="Shape 247"/>
          <p:cNvSpPr/>
          <p:nvPr/>
        </p:nvSpPr>
        <p:spPr>
          <a:xfrm>
            <a:off x="11658600" y="7890358"/>
            <a:ext cx="95098" cy="95098"/>
          </a:xfrm>
          <a:prstGeom prst="ellipse">
            <a:avLst/>
          </a:prstGeom>
          <a:solidFill>
            <a:srgbClr val="C184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5" name="Text 248"/>
          <p:cNvSpPr txBox="1"/>
          <p:nvPr/>
        </p:nvSpPr>
        <p:spPr>
          <a:xfrm>
            <a:off x="11830507" y="7796174"/>
            <a:ext cx="1627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열</a:t>
            </a:r>
            <a:endParaRPr lang="en-US" sz="1200" dirty="0"/>
          </a:p>
        </p:txBody>
      </p:sp>
      <p:sp>
        <p:nvSpPr>
          <p:cNvPr id="256" name="Shape 249"/>
          <p:cNvSpPr/>
          <p:nvPr/>
        </p:nvSpPr>
        <p:spPr>
          <a:xfrm>
            <a:off x="11658600" y="8224114"/>
            <a:ext cx="95098" cy="95098"/>
          </a:xfrm>
          <a:prstGeom prst="ellipse">
            <a:avLst/>
          </a:prstGeom>
          <a:solidFill>
            <a:srgbClr val="6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7" name="Text 250"/>
          <p:cNvSpPr txBox="1"/>
          <p:nvPr/>
        </p:nvSpPr>
        <p:spPr>
          <a:xfrm>
            <a:off x="11830507" y="8129930"/>
            <a:ext cx="7488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대체 배선</a:t>
            </a:r>
            <a:endParaRPr lang="en-US" sz="1200" dirty="0"/>
          </a:p>
        </p:txBody>
      </p:sp>
      <p:sp>
        <p:nvSpPr>
          <p:cNvPr id="258" name="Text 251"/>
          <p:cNvSpPr txBox="1"/>
          <p:nvPr/>
        </p:nvSpPr>
        <p:spPr>
          <a:xfrm>
            <a:off x="11697005" y="8648395"/>
            <a:ext cx="581101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제외한 것들</a:t>
            </a:r>
            <a:endParaRPr lang="en-US" sz="1275" dirty="0"/>
          </a:p>
        </p:txBody>
      </p:sp>
      <p:sp>
        <p:nvSpPr>
          <p:cNvPr id="259" name="Text 252"/>
          <p:cNvSpPr txBox="1"/>
          <p:nvPr/>
        </p:nvSpPr>
        <p:spPr>
          <a:xfrm>
            <a:off x="11697005" y="8953805"/>
            <a:ext cx="58110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A3F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제외한 것들: 광자·플렉시블·태양광 논문(주제 불일치), 세정·레지스트 스트립 계열(수치 공개 거의 없음), 그리고 초록조차 수치를 담지 않은 2000년대 초 oral presentation 기록.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8c8234648ac6c2ac190f5df06303c0d.png">    </p:cNvPr>
          <p:cNvPicPr>
            <a:picLocks noChangeAspect="1"/>
          </p:cNvPicPr>
          <p:nvPr/>
        </p:nvPicPr>
        <p:blipFill>
          <a:blip r:embed="rId1"/>
          <a:srcRect l="-400" r="-400" t="0" b="0"/>
          <a:stretch/>
        </p:blipFill>
        <p:spPr>
          <a:xfrm>
            <a:off x="571500" y="1638605"/>
            <a:ext cx="57607" cy="3429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2667305"/>
            <a:ext cx="6858000" cy="2762402"/>
          </a:xfrm>
          <a:prstGeom prst="rect">
            <a:avLst/>
          </a:prstGeom>
          <a:solidFill>
            <a:srgbClr val="F4ECD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3716000" y="2667305"/>
            <a:ext cx="4000500" cy="2762402"/>
          </a:xfrm>
          <a:prstGeom prst="rect">
            <a:avLst/>
          </a:prstGeom>
          <a:solidFill>
            <a:srgbClr val="DFD0A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1500" y="8953805"/>
            <a:ext cx="7429500" cy="1218895"/>
          </a:xfrm>
          <a:prstGeom prst="rect">
            <a:avLst/>
          </a:prstGeom>
          <a:solidFill>
            <a:srgbClr val="F4ECD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1" descr="gen-dedup-7d9ac818c434621e956e34049f8fdac8.png">    </p:cNvPr>
          <p:cNvPicPr>
            <a:picLocks noChangeAspect="1"/>
          </p:cNvPicPr>
          <p:nvPr/>
        </p:nvPicPr>
        <p:blipFill>
          <a:blip r:embed="rId2"/>
          <a:srcRect l="-201" r="-201" t="0" b="0"/>
          <a:stretch/>
        </p:blipFill>
        <p:spPr>
          <a:xfrm>
            <a:off x="571500" y="2667305"/>
            <a:ext cx="6858000" cy="75895"/>
          </a:xfrm>
          <a:prstGeom prst="rect">
            <a:avLst/>
          </a:prstGeom>
        </p:spPr>
      </p:pic>
      <p:pic>
        <p:nvPicPr>
          <p:cNvPr id="7" name="Image 2" descr="gen-dedup-c0bd9cabac69f9d24ca2631cd95d3c39.png">    </p:cNvPr>
          <p:cNvPicPr>
            <a:picLocks noChangeAspect="1"/>
          </p:cNvPicPr>
          <p:nvPr/>
        </p:nvPicPr>
        <p:blipFill>
          <a:blip r:embed="rId3"/>
          <a:srcRect l="-201" r="-201" t="0" b="0"/>
          <a:stretch/>
        </p:blipFill>
        <p:spPr>
          <a:xfrm>
            <a:off x="13716000" y="2667305"/>
            <a:ext cx="4000500" cy="75895"/>
          </a:xfrm>
          <a:prstGeom prst="rect">
            <a:avLst/>
          </a:prstGeom>
        </p:spPr>
      </p:pic>
      <p:pic>
        <p:nvPicPr>
          <p:cNvPr id="8" name="Image 3" descr="gen-dedup-daadf3d8e4a387539822bc7a8113af61.png">    </p:cNvPr>
          <p:cNvPicPr>
            <a:picLocks noChangeAspect="1"/>
          </p:cNvPicPr>
          <p:nvPr/>
        </p:nvPicPr>
        <p:blipFill>
          <a:blip r:embed="rId4"/>
          <a:srcRect l="-201" r="-201" t="0" b="0"/>
          <a:stretch/>
        </p:blipFill>
        <p:spPr>
          <a:xfrm>
            <a:off x="571500" y="8953805"/>
            <a:ext cx="7429500" cy="75895"/>
          </a:xfrm>
          <a:prstGeom prst="rect">
            <a:avLst/>
          </a:prstGeom>
        </p:spPr>
      </p:pic>
      <p:pic>
        <p:nvPicPr>
          <p:cNvPr id="9" name="Image 4" descr="gen-dedup-9ba6acf284c2e1e005d9dfe014eefa3c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695" y="2667305"/>
            <a:ext cx="5905195" cy="2572207"/>
          </a:xfrm>
          <a:prstGeom prst="rect">
            <a:avLst/>
          </a:prstGeom>
        </p:spPr>
      </p:pic>
      <p:pic>
        <p:nvPicPr>
          <p:cNvPr id="10" name="Image 5" descr="gen-dedup-13bb7741b14612e503832f759a680b8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195" y="8953805"/>
            <a:ext cx="7239305" cy="1143000"/>
          </a:xfrm>
          <a:prstGeom prst="rect">
            <a:avLst/>
          </a:prstGeom>
        </p:spPr>
      </p:pic>
      <p:sp>
        <p:nvSpPr>
          <p:cNvPr id="11" name="Text 3"/>
          <p:cNvSpPr txBox="1"/>
          <p:nvPr/>
        </p:nvSpPr>
        <p:spPr>
          <a:xfrm>
            <a:off x="571500" y="571500"/>
            <a:ext cx="16474745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650" b="1" spc="-93" kern="0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Cu가 지는 지점은 저항률이 아니라 평균자유경로다</a:t>
            </a:r>
            <a:endParaRPr lang="en-US" sz="4650" dirty="0"/>
          </a:p>
        </p:txBody>
      </p:sp>
      <p:sp>
        <p:nvSpPr>
          <p:cNvPr id="12" name="Text 4"/>
          <p:cNvSpPr txBox="1"/>
          <p:nvPr/>
        </p:nvSpPr>
        <p:spPr>
          <a:xfrm>
            <a:off x="761695" y="1638605"/>
            <a:ext cx="15621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95"/>
              </a:lnSpc>
              <a:buNone/>
            </a:pPr>
            <a:r>
              <a:rPr lang="en-US" sz="1425" dirty="0">
                <a:solidFill>
                  <a:srgbClr val="4A3F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Cu의 문제는 벌크 저항률 1.68 µΩ·cm이 나빠서가 아니라 상온 평균자유경로 λ가 40.7 nm나 되기 때문입니다. 선폭이 λ보다 작아지면 표면·입계 산란이 지배하고, 저항률은 치수에 반비례해 치솟습니다. 따라서 선택 지표는 ρ₀가 아니라 ρ₀·λ 곱이고, 이 값이 작을수록 좌은 선에서 유리합니다. Cu는 6.8×10⁻¹⁶ Ω·m²로 후보군 중 가장 나쁜 축에 속합니다.</a:t>
            </a:r>
            <a:endParaRPr lang="en-US" sz="1425" dirty="0"/>
          </a:p>
        </p:txBody>
      </p:sp>
      <p:sp>
        <p:nvSpPr>
          <p:cNvPr id="13" name="Text 5"/>
          <p:cNvSpPr txBox="1"/>
          <p:nvPr/>
        </p:nvSpPr>
        <p:spPr>
          <a:xfrm>
            <a:off x="761695" y="2915107"/>
            <a:ext cx="3560674" cy="952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0" b="1" spc="-198" kern="0" dirty="0">
                <a:solidFill>
                  <a:srgbClr val="BC553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40.7</a:t>
            </a:r>
            <a:pPr algn="l" indent="0" marL="0">
              <a:buNone/>
            </a:pPr>
            <a:r>
              <a:rPr lang="en-US" sz="2400" b="1" spc="-198" kern="0" dirty="0">
                <a:solidFill>
                  <a:srgbClr val="4A3F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nm</a:t>
            </a:r>
            <a:endParaRPr lang="en-US" sz="6600" dirty="0"/>
          </a:p>
        </p:txBody>
      </p:sp>
      <p:sp>
        <p:nvSpPr>
          <p:cNvPr id="14" name="Text 6"/>
          <p:cNvSpPr txBox="1"/>
          <p:nvPr/>
        </p:nvSpPr>
        <p:spPr>
          <a:xfrm>
            <a:off x="761695" y="3996842"/>
            <a:ext cx="3238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4A3F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 상온 평균자유경로 λ</a:t>
            </a:r>
            <a:endParaRPr lang="en-US" sz="1125" dirty="0"/>
          </a:p>
        </p:txBody>
      </p:sp>
      <p:sp>
        <p:nvSpPr>
          <p:cNvPr id="15" name="Text 7"/>
          <p:cNvSpPr txBox="1"/>
          <p:nvPr/>
        </p:nvSpPr>
        <p:spPr>
          <a:xfrm>
            <a:off x="4095598" y="2971800"/>
            <a:ext cx="31437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따라서 선택 지표는 ρ₀가 아니라 ρ₀·λ 곱이고, 이 값이 작을수록 좌은 선에서 유리합니다.</a:t>
            </a:r>
            <a:endParaRPr lang="en-US" sz="1200" dirty="0"/>
          </a:p>
        </p:txBody>
      </p:sp>
      <p:sp>
        <p:nvSpPr>
          <p:cNvPr id="16" name="Text 8"/>
          <p:cNvSpPr txBox="1"/>
          <p:nvPr/>
        </p:nvSpPr>
        <p:spPr>
          <a:xfrm>
            <a:off x="4095598" y="3562502"/>
            <a:ext cx="3143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A3F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Cu는 6.8×10⁻¹⁶ Ω·m²로 후보군 중 가장 나쁜 축에 속합니다.</a:t>
            </a:r>
            <a:endParaRPr lang="en-US" sz="1050" dirty="0"/>
          </a:p>
        </p:txBody>
      </p:sp>
      <p:sp>
        <p:nvSpPr>
          <p:cNvPr id="17" name="Text 9"/>
          <p:cNvSpPr txBox="1"/>
          <p:nvPr/>
        </p:nvSpPr>
        <p:spPr>
          <a:xfrm>
            <a:off x="7619695" y="5296205"/>
            <a:ext cx="5906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4A3F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Springer Nature, Cu interconnect cross-section</a:t>
            </a:r>
            <a:endParaRPr lang="en-US" sz="975" dirty="0"/>
          </a:p>
        </p:txBody>
      </p:sp>
      <p:sp>
        <p:nvSpPr>
          <p:cNvPr id="18" name="Text 10"/>
          <p:cNvSpPr txBox="1"/>
          <p:nvPr/>
        </p:nvSpPr>
        <p:spPr>
          <a:xfrm>
            <a:off x="13925398" y="2857500"/>
            <a:ext cx="36201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imec 로드맵 — 최소 금속 피치</a:t>
            </a:r>
            <a:endParaRPr lang="en-US" sz="127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925398" y="3219602"/>
          <a:ext cx="3620110" cy="1600200"/>
        </p:xfrm>
        <a:graphic>
          <a:graphicData uri="http://schemas.openxmlformats.org/drawingml/2006/table">
            <a:tbl>
              <a:tblPr/>
              <a:tblGrid>
                <a:gridCol w="685800"/>
                <a:gridCol w="1598371"/>
                <a:gridCol w="1335938"/>
              </a:tblGrid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3F3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2nm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7607" marR="57607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b="1" dirty="0">
                          <a:solidFill>
                            <a:srgbClr val="1B161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23 nm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7607" marR="57607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3F3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14A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7607" marR="57607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b="1" dirty="0">
                          <a:solidFill>
                            <a:srgbClr val="1B161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20 nm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7607" marR="57607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3F3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10A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7607" marR="57607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b="1" dirty="0">
                          <a:solidFill>
                            <a:srgbClr val="1B161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18 nm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7607" marR="57607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F63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(CFET)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3F3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7A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7607" marR="57607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b="1" dirty="0">
                          <a:solidFill>
                            <a:srgbClr val="1B161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16 nm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7607" marR="57607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3F3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5A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7607" marR="57607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b="1" dirty="0">
                          <a:solidFill>
                            <a:srgbClr val="1B161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14 nm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7607" marR="57607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3F3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3A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7607" marR="57607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b="1" dirty="0">
                          <a:solidFill>
                            <a:srgbClr val="1B161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12 nm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7607" marR="57607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1"/>
          <p:cNvSpPr txBox="1"/>
          <p:nvPr/>
        </p:nvSpPr>
        <p:spPr>
          <a:xfrm>
            <a:off x="571500" y="5715000"/>
            <a:ext cx="11811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실측 박막 저항률</a:t>
            </a:r>
            <a:endParaRPr lang="en-US" sz="15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6019495"/>
          <a:ext cx="11811305" cy="2638958"/>
        </p:xfrm>
        <a:graphic>
          <a:graphicData uri="http://schemas.openxmlformats.org/drawingml/2006/table">
            <a:tbl>
              <a:tblPr/>
              <a:tblGrid>
                <a:gridCol w="2667305"/>
                <a:gridCol w="1904695"/>
                <a:gridCol w="2476195"/>
                <a:gridCol w="2476195"/>
                <a:gridCol w="2286000"/>
              </a:tblGrid>
              <a:tr h="3298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1B161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재료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C49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1B161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두께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C49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1B161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저항률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C49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1B161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열처리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C49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1B161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출처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C49E"/>
                    </a:solidFill>
                  </a:tcPr>
                </a:tc>
              </a:tr>
              <a:tr h="329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61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NiAl (Ge(100) 에피탑사)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61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7.7 nm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61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11.5 µΩ·cm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4A3F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4A3F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JAP 2024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61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NiAl (PVD)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5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61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56 nm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5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61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13.9 µΩ·cm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5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4A3F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600 °C PDA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5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4A3F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JAP 2024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5C7"/>
                    </a:solidFill>
                  </a:tcPr>
                </a:tc>
              </a:tr>
              <a:tr h="329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61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NiAl (420 °C 증착)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61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22 nm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61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18 µΩ·cm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4A3F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in-situ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4A3F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JAP 2024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61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CuAl / CuAl</a:t>
                      </a:r>
                      <a:pPr indent="0" marL="0">
                        <a:buNone/>
                      </a:pPr>
                      <a:r>
                        <a:rPr lang="en-US" sz="875" dirty="0">
                          <a:solidFill>
                            <a:srgbClr val="1B161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5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61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28 nm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5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C553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9.5 µΩ·cm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5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4A3F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400 °C PDA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5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4A3F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JVST B 2024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5C7"/>
                    </a:solidFill>
                  </a:tcPr>
                </a:tc>
              </a:tr>
              <a:tr h="329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61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Al</a:t>
                      </a:r>
                      <a:pPr indent="0" marL="0">
                        <a:buNone/>
                      </a:pPr>
                      <a:r>
                        <a:rPr lang="en-US" sz="875" dirty="0">
                          <a:solidFill>
                            <a:srgbClr val="1B161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61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61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~30 nm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61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&lt;10 µΩ·cm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4A3F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500 °C PDA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4A3F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JAP 2024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61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Al</a:t>
                      </a:r>
                      <a:pPr indent="0" marL="0">
                        <a:buNone/>
                      </a:pPr>
                      <a:r>
                        <a:rPr lang="en-US" sz="875" dirty="0">
                          <a:solidFill>
                            <a:srgbClr val="1B161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61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5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61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24 nm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5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61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12.6 µΩ·cm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5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4A3F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500 °C PDA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5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4A3F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JAP 2024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5C7"/>
                    </a:solidFill>
                  </a:tcPr>
                </a:tc>
              </a:tr>
              <a:tr h="329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61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</a:t>
                      </a:r>
                      <a:pPr indent="0" marL="0">
                        <a:buNone/>
                      </a:pPr>
                      <a:r>
                        <a:rPr lang="en-US" sz="875" dirty="0">
                          <a:solidFill>
                            <a:srgbClr val="1B161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61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Mg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61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 nm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61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25.5 µΩ·cm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4A3F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4A3F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JAP 2024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2"/>
          <p:cNvSpPr txBox="1"/>
          <p:nvPr/>
        </p:nvSpPr>
        <p:spPr>
          <a:xfrm>
            <a:off x="800100" y="9144000"/>
            <a:ext cx="7049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Ru의 복병: 열처리가 선을 원통형으로 만든다</a:t>
            </a:r>
            <a:endParaRPr lang="en-US" sz="1050" dirty="0"/>
          </a:p>
        </p:txBody>
      </p:sp>
      <p:sp>
        <p:nvSpPr>
          <p:cNvPr id="23" name="Text 13"/>
          <p:cNvSpPr txBox="1"/>
          <p:nvPr/>
        </p:nvSpPr>
        <p:spPr>
          <a:xfrm>
            <a:off x="800100" y="9374429"/>
            <a:ext cx="70491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A3F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 nm 피치 무배리어 Ru는 30 MA/cm² 초과에서도 고장을 유도하지 못했고, 150–200 MA/cm²까지 올려 자기발열 ~260 °C에 도달해서야 고장이 나왔습니다.</a:t>
            </a:r>
            <a:endParaRPr lang="en-US" sz="975" dirty="0"/>
          </a:p>
        </p:txBody>
      </p:sp>
      <p:sp>
        <p:nvSpPr>
          <p:cNvPr id="24" name="Text 14"/>
          <p:cNvSpPr txBox="1"/>
          <p:nvPr/>
        </p:nvSpPr>
        <p:spPr>
          <a:xfrm>
            <a:off x="15620695" y="8953805"/>
            <a:ext cx="2286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dirty="0">
                <a:solidFill>
                  <a:srgbClr val="4A3F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Semiconductor Engineering, Ru interconnect lines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2667305"/>
            <a:ext cx="3810305" cy="2095805"/>
          </a:xfrm>
          <a:prstGeom prst="rect">
            <a:avLst/>
          </a:prstGeom>
          <a:solidFill>
            <a:srgbClr val="F4ECD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2667305"/>
            <a:ext cx="3810305" cy="2095805"/>
          </a:xfrm>
          <a:prstGeom prst="rect">
            <a:avLst/>
          </a:prstGeom>
          <a:solidFill>
            <a:srgbClr val="F4ECD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72500" y="2667305"/>
            <a:ext cx="3810305" cy="2095805"/>
          </a:xfrm>
          <a:prstGeom prst="rect">
            <a:avLst/>
          </a:prstGeom>
          <a:solidFill>
            <a:srgbClr val="F4ECD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5143500"/>
            <a:ext cx="11811305" cy="4858207"/>
          </a:xfrm>
          <a:prstGeom prst="rect">
            <a:avLst/>
          </a:prstGeom>
          <a:solidFill>
            <a:srgbClr val="DFD0A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573000" y="5143500"/>
            <a:ext cx="5143500" cy="4858207"/>
          </a:xfrm>
          <a:prstGeom prst="rect">
            <a:avLst/>
          </a:prstGeom>
          <a:solidFill>
            <a:srgbClr val="F4ECD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gen-dedup-f124333f85feeb3e6a0981a46acab429.png">    </p:cNvPr>
          <p:cNvPicPr>
            <a:picLocks noChangeAspect="1"/>
          </p:cNvPicPr>
          <p:nvPr/>
        </p:nvPicPr>
        <p:blipFill>
          <a:blip r:embed="rId1"/>
          <a:srcRect l="-205" r="-205" t="0" b="0"/>
          <a:stretch/>
        </p:blipFill>
        <p:spPr>
          <a:xfrm>
            <a:off x="571500" y="2667305"/>
            <a:ext cx="3810305" cy="75895"/>
          </a:xfrm>
          <a:prstGeom prst="rect">
            <a:avLst/>
          </a:prstGeom>
        </p:spPr>
      </p:pic>
      <p:pic>
        <p:nvPicPr>
          <p:cNvPr id="8" name="Image 1" descr="gen-dedup-daf8cc2963eeedc2c8ead52133b6dcf0.png">    </p:cNvPr>
          <p:cNvPicPr>
            <a:picLocks noChangeAspect="1"/>
          </p:cNvPicPr>
          <p:nvPr/>
        </p:nvPicPr>
        <p:blipFill>
          <a:blip r:embed="rId2"/>
          <a:srcRect l="-205" r="-205" t="0" b="0"/>
          <a:stretch/>
        </p:blipFill>
        <p:spPr>
          <a:xfrm>
            <a:off x="4572000" y="2667305"/>
            <a:ext cx="3810305" cy="75895"/>
          </a:xfrm>
          <a:prstGeom prst="rect">
            <a:avLst/>
          </a:prstGeom>
        </p:spPr>
      </p:pic>
      <p:pic>
        <p:nvPicPr>
          <p:cNvPr id="9" name="Image 2" descr="gen-dedup-7d1bde12648b8b5575ae02f4ece7d09e.png">    </p:cNvPr>
          <p:cNvPicPr>
            <a:picLocks noChangeAspect="1"/>
          </p:cNvPicPr>
          <p:nvPr/>
        </p:nvPicPr>
        <p:blipFill>
          <a:blip r:embed="rId3"/>
          <a:srcRect l="-205" r="-205" t="0" b="0"/>
          <a:stretch/>
        </p:blipFill>
        <p:spPr>
          <a:xfrm>
            <a:off x="8572500" y="2667305"/>
            <a:ext cx="3810305" cy="75895"/>
          </a:xfrm>
          <a:prstGeom prst="rect">
            <a:avLst/>
          </a:prstGeom>
        </p:spPr>
      </p:pic>
      <p:pic>
        <p:nvPicPr>
          <p:cNvPr id="10" name="Image 3" descr="gen-dedup-0d12851d438df43e8974e69fd37d58bd.png">    </p:cNvPr>
          <p:cNvPicPr>
            <a:picLocks noChangeAspect="1"/>
          </p:cNvPicPr>
          <p:nvPr/>
        </p:nvPicPr>
        <p:blipFill>
          <a:blip r:embed="rId4"/>
          <a:srcRect l="0" r="0" t="-206" b="-206"/>
          <a:stretch/>
        </p:blipFill>
        <p:spPr>
          <a:xfrm>
            <a:off x="571500" y="5143500"/>
            <a:ext cx="75895" cy="4858207"/>
          </a:xfrm>
          <a:prstGeom prst="rect">
            <a:avLst/>
          </a:prstGeom>
        </p:spPr>
      </p:pic>
      <p:pic>
        <p:nvPicPr>
          <p:cNvPr id="11" name="Image 4" descr="gen-dedup-8673d1c6c0c8d17b56a623ecd0fa8855.png">    </p:cNvPr>
          <p:cNvPicPr>
            <a:picLocks noChangeAspect="1"/>
          </p:cNvPicPr>
          <p:nvPr/>
        </p:nvPicPr>
        <p:blipFill>
          <a:blip r:embed="rId5"/>
          <a:srcRect l="-201" r="-201" t="0" b="0"/>
          <a:stretch/>
        </p:blipFill>
        <p:spPr>
          <a:xfrm>
            <a:off x="12573000" y="5143500"/>
            <a:ext cx="5143500" cy="75895"/>
          </a:xfrm>
          <a:prstGeom prst="rect">
            <a:avLst/>
          </a:prstGeom>
        </p:spPr>
      </p:pic>
      <p:pic>
        <p:nvPicPr>
          <p:cNvPr id="12" name="Image 5" descr="gen-dedup-9cfc43ed6bcda1ee5c2f5a42823fc253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0" y="2667305"/>
            <a:ext cx="5143500" cy="2095805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571500" y="571500"/>
            <a:ext cx="1562161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b="1" spc="-90" kern="0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패터닝: 다마신을 버리고 금속을 직접 긎는다</a:t>
            </a:r>
            <a:endParaRPr lang="en-US" sz="4500" dirty="0"/>
          </a:p>
        </p:txBody>
      </p:sp>
      <p:sp>
        <p:nvSpPr>
          <p:cNvPr id="14" name="Text 6"/>
          <p:cNvSpPr txBox="1"/>
          <p:nvPr/>
        </p:nvSpPr>
        <p:spPr>
          <a:xfrm>
            <a:off x="571500" y="1580998"/>
            <a:ext cx="1683319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3F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동시에 배리어는 기능을 잃지 않고는 2–3 nm 미만으로 줄일 수 없어, 12 nm 피치에서 배리어가 도전 단면적을 거의 다 먹습니다. 배리어 없이 쓸 수 있는 금속을 찾는 것이 본질입니다.</a:t>
            </a:r>
            <a:endParaRPr lang="en-US" sz="1500" dirty="0"/>
          </a:p>
        </p:txBody>
      </p:sp>
      <p:sp>
        <p:nvSpPr>
          <p:cNvPr id="15" name="Text 7"/>
          <p:cNvSpPr txBox="1"/>
          <p:nvPr/>
        </p:nvSpPr>
        <p:spPr>
          <a:xfrm>
            <a:off x="800100" y="2933395"/>
            <a:ext cx="3429000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spc="-54" kern="0" dirty="0">
                <a:solidFill>
                  <a:srgbClr val="BC553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β-Ti</a:t>
            </a:r>
            <a:pPr algn="l" indent="0" marL="0">
              <a:buNone/>
            </a:pPr>
            <a:r>
              <a:rPr lang="en-US" sz="1500" b="1" spc="-54" kern="0" dirty="0">
                <a:solidFill>
                  <a:srgbClr val="BC553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pPr algn="l" indent="0" marL="0">
              <a:buNone/>
            </a:pPr>
            <a:r>
              <a:rPr lang="en-US" sz="2700" b="1" spc="-54" kern="0" dirty="0">
                <a:solidFill>
                  <a:srgbClr val="BC553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InN</a:t>
            </a:r>
            <a:pPr algn="l" indent="0" marL="0">
              <a:buNone/>
            </a:pPr>
            <a:r>
              <a:rPr lang="en-US" sz="1500" b="1" spc="-54" kern="0" dirty="0">
                <a:solidFill>
                  <a:srgbClr val="BC553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700" dirty="0"/>
          </a:p>
        </p:txBody>
      </p:sp>
      <p:sp>
        <p:nvSpPr>
          <p:cNvPr id="16" name="Text 8"/>
          <p:cNvSpPr txBox="1"/>
          <p:nvPr/>
        </p:nvSpPr>
        <p:spPr>
          <a:xfrm>
            <a:off x="800100" y="3411626"/>
            <a:ext cx="3429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6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0.6×10⁻¹⁶ Ω·m²</a:t>
            </a:r>
            <a:endParaRPr lang="en-US" sz="1500" dirty="0"/>
          </a:p>
        </p:txBody>
      </p:sp>
      <p:sp>
        <p:nvSpPr>
          <p:cNvPr id="17" name="Text 9"/>
          <p:cNvSpPr txBox="1"/>
          <p:nvPr/>
        </p:nvSpPr>
        <p:spPr>
          <a:xfrm>
            <a:off x="800100" y="3773729"/>
            <a:ext cx="3429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A3F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Cu의 1/11 — 이론상 최저값, MAX 170상 중 24개는 Ru보다도 좋았음.</a:t>
            </a:r>
            <a:endParaRPr lang="en-US" sz="1050" dirty="0"/>
          </a:p>
        </p:txBody>
      </p:sp>
      <p:sp>
        <p:nvSpPr>
          <p:cNvPr id="18" name="Text 10"/>
          <p:cNvSpPr txBox="1"/>
          <p:nvPr/>
        </p:nvSpPr>
        <p:spPr>
          <a:xfrm>
            <a:off x="4800600" y="2971800"/>
            <a:ext cx="3429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spc="-54" kern="0" dirty="0">
                <a:solidFill>
                  <a:srgbClr val="3F634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 = 6</a:t>
            </a:r>
            <a:endParaRPr lang="en-US" sz="2700" dirty="0"/>
          </a:p>
        </p:txBody>
      </p:sp>
      <p:sp>
        <p:nvSpPr>
          <p:cNvPr id="19" name="Text 11"/>
          <p:cNvSpPr txBox="1"/>
          <p:nvPr/>
        </p:nvSpPr>
        <p:spPr>
          <a:xfrm>
            <a:off x="4800600" y="3448202"/>
            <a:ext cx="34290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A3F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Cu 다마신 선의 AR은 대략 1.6, semi-damascene은 1세대 2 → 2세대 3 → 이후 4, 5, 6으로 올리는 5세대 로드맵. AR=6 Ru 선이 AR=3 대비 선 저항 약 40% 낮춤.</a:t>
            </a:r>
            <a:endParaRPr lang="en-US" sz="1050" dirty="0"/>
          </a:p>
        </p:txBody>
      </p:sp>
      <p:sp>
        <p:nvSpPr>
          <p:cNvPr id="20" name="Text 12"/>
          <p:cNvSpPr txBox="1"/>
          <p:nvPr/>
        </p:nvSpPr>
        <p:spPr>
          <a:xfrm>
            <a:off x="8801100" y="2971800"/>
            <a:ext cx="3429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spc="-54" kern="0" dirty="0">
                <a:solidFill>
                  <a:srgbClr val="C184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~260 °C</a:t>
            </a:r>
            <a:endParaRPr lang="en-US" sz="2700" dirty="0"/>
          </a:p>
        </p:txBody>
      </p:sp>
      <p:sp>
        <p:nvSpPr>
          <p:cNvPr id="21" name="Text 13"/>
          <p:cNvSpPr txBox="1"/>
          <p:nvPr/>
        </p:nvSpPr>
        <p:spPr>
          <a:xfrm>
            <a:off x="8801100" y="3448202"/>
            <a:ext cx="3429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A3F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 nm 피치 무배리어 Ru + 30 MA/cm² 초과에서 무고장. 자기발열이 260 °C에 닿아서야 고장이 나옴.</a:t>
            </a:r>
            <a:endParaRPr lang="en-US" sz="1050" dirty="0"/>
          </a:p>
        </p:txBody>
      </p:sp>
      <p:sp>
        <p:nvSpPr>
          <p:cNvPr id="22" name="Text 14"/>
          <p:cNvSpPr txBox="1"/>
          <p:nvPr/>
        </p:nvSpPr>
        <p:spPr>
          <a:xfrm>
            <a:off x="12573000" y="4819802"/>
            <a:ext cx="5143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4A3F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ResearchGate, BEOL air-gap interconnect 단면</a:t>
            </a:r>
            <a:endParaRPr lang="en-US" sz="975" dirty="0"/>
          </a:p>
        </p:txBody>
      </p:sp>
      <p:sp>
        <p:nvSpPr>
          <p:cNvPr id="23" name="Text 15"/>
          <p:cNvSpPr txBox="1"/>
          <p:nvPr/>
        </p:nvSpPr>
        <p:spPr>
          <a:xfrm>
            <a:off x="952805" y="5410505"/>
            <a:ext cx="11239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완전 자기정렬과 패터닝 조합</a:t>
            </a:r>
            <a:endParaRPr lang="en-US" sz="1800" dirty="0"/>
          </a:p>
        </p:txBody>
      </p:sp>
      <p:sp>
        <p:nvSpPr>
          <p:cNvPr id="24" name="Text 16"/>
          <p:cNvSpPr txBox="1"/>
          <p:nvPr/>
        </p:nvSpPr>
        <p:spPr>
          <a:xfrm>
            <a:off x="952805" y="5962802"/>
            <a:ext cx="5334610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"완전 자기정렬"은 두 번 정렬된다는 뜻입니다. 아래쪽은 Ru 선 위에 남은 SiN 캐핑 안에서 고선택비 가스에칭으로 비아를 뚫어 SiO₂ 걡필을 건드리지 않고, 위쪽은 Ru 과에칭으로 상부 선 가장자에 맞춥니다. 20 nm 비아 홀이 9 nm 선에 내려앉으면서 스스로 180 nm²로 줌어드는 게 핵심입니다.</a:t>
            </a:r>
            <a:endParaRPr lang="en-US" sz="1350" dirty="0"/>
          </a:p>
        </p:txBody>
      </p:sp>
      <p:sp>
        <p:nvSpPr>
          <p:cNvPr id="25" name="Text 17"/>
          <p:cNvSpPr txBox="1"/>
          <p:nvPr/>
        </p:nvSpPr>
        <p:spPr>
          <a:xfrm>
            <a:off x="6667805" y="5962802"/>
            <a:ext cx="55248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패터닝 조합은 Mx가 EUV+SADP, Mx+1과 비아가 EUV 단일 노광입니다. 상부 금속은 정전용량 증가를 상쇄하려고 에어갭과 조합합니다.</a:t>
            </a:r>
            <a:endParaRPr lang="en-US" sz="1350" dirty="0"/>
          </a:p>
        </p:txBody>
      </p:sp>
      <p:sp>
        <p:nvSpPr>
          <p:cNvPr id="26" name="Text 18"/>
          <p:cNvSpPr txBox="1"/>
          <p:nvPr/>
        </p:nvSpPr>
        <p:spPr>
          <a:xfrm>
            <a:off x="6667805" y="6682435"/>
            <a:ext cx="55248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MAX 상이 계산상 가장 낮지만 아직 증착·에칭 실증이 없습니다. 실제로 300 mm 웨이퍼에서 돌아간 건 Ru, Mo, 그리고 Al 기반 금속간화합물뿐입니다.</a:t>
            </a:r>
            <a:endParaRPr lang="en-US" sz="1350" dirty="0"/>
          </a:p>
        </p:txBody>
      </p:sp>
      <p:sp>
        <p:nvSpPr>
          <p:cNvPr id="27" name="Text 19"/>
          <p:cNvSpPr txBox="1"/>
          <p:nvPr/>
        </p:nvSpPr>
        <p:spPr>
          <a:xfrm>
            <a:off x="12801600" y="5333695"/>
            <a:ext cx="4763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6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 nm 피치 2소재 완전 자기정렬 비아</a:t>
            </a:r>
            <a:endParaRPr lang="en-US" sz="1350" dirty="0"/>
          </a:p>
        </p:txBody>
      </p:sp>
      <p:sp>
        <p:nvSpPr>
          <p:cNvPr id="28" name="Text 20"/>
          <p:cNvSpPr txBox="1"/>
          <p:nvPr/>
        </p:nvSpPr>
        <p:spPr>
          <a:xfrm>
            <a:off x="12801600" y="5619902"/>
            <a:ext cx="4763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4A3F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Murdoch, VLSI 2022 — 이것이 유명한 "holy grail" 논문입니다. 핵심 수치:</a:t>
            </a:r>
            <a:endParaRPr lang="en-US" sz="975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573000" y="5962802"/>
          <a:ext cx="5143500" cy="3134563"/>
        </p:xfrm>
        <a:graphic>
          <a:graphicData uri="http://schemas.openxmlformats.org/drawingml/2006/table">
            <a:tbl>
              <a:tblPr/>
              <a:tblGrid>
                <a:gridCol w="1904695"/>
                <a:gridCol w="3238805"/>
              </a:tblGrid>
              <a:tr h="28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1B161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금속 피치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47549" marB="47549" anchor="t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61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26 → 18 nm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895" marR="75895" marT="47549" marB="47549" anchor="t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1B161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선폭(CD)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47549" marB="47549" anchor="t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5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61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 nm, PVD Ru 30 nm → AR ≈ 3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895" marR="75895" marT="47549" marB="47549" anchor="t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5C7"/>
                    </a:solidFill>
                  </a:tcPr>
                </a:tc>
              </a:tr>
              <a:tr h="28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1B161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전도 단면적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47549" marB="47549" anchor="t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61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명목 270 nm² / 전기적 250 / 물리적 257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895" marR="75895" marT="47549" marB="47549" anchor="t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1B161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EUV 비아 홀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47549" marB="47549" anchor="t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5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61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최소 20 nm → 접촉면적 180 nm²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895" marR="75895" marT="47549" marB="47549" anchor="t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5C7"/>
                    </a:solidFill>
                  </a:tcPr>
                </a:tc>
              </a:tr>
              <a:tr h="28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1B161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비아 저항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47549" marB="47549" anchor="t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61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40 Ω &lt; R &lt; 60 Ω (18–26 nm 피치 전 구간)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895" marR="75895" marT="47549" marB="47549" anchor="t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1B161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Ru 저항률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47549" marB="47549" anchor="t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5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61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에칭 후 13–15 µΩ·cm, 420 °C 후 14–15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895" marR="75895" marT="47549" marB="47549" anchor="t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5C7"/>
                    </a:solidFill>
                  </a:tcPr>
                </a:tc>
              </a:tr>
              <a:tr h="28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F63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Ru가 Cu를 이기는 지점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47549" marB="47549" anchor="t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61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전도 단면적 268 nm² 미만 (≈ CD 12 nm 미만)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895" marR="75895" marT="47549" marB="47549" anchor="t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1B161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정렬 허용도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47549" marB="47549" anchor="t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5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61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의도적 오정렬 ±5 nm까지 비아 저항 유지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895" marR="75895" marT="47549" marB="47549" anchor="t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5C7"/>
                    </a:solidFill>
                  </a:tcPr>
                </a:tc>
              </a:tr>
              <a:tr h="28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1B161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절연파괴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47549" marB="47549" anchor="t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61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&gt;9 MV/cm @100 °C, 26 nm 피치에서 &gt;16 V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895" marR="75895" marT="47549" marB="47549" anchor="t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1B161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EM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47549" marB="47549" anchor="t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5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61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10 MA/cm², 300 h 저항 변화 없음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895" marR="75895" marT="47549" marB="47549" anchor="t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5C7"/>
                    </a:solidFill>
                  </a:tcPr>
                </a:tc>
              </a:tr>
              <a:tr h="28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1B161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열저장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47549" marB="47549" anchor="t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61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200 °C, 120 h 저항·수율 손실 없음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895" marR="75895" marT="47549" marB="47549" anchor="t">
                    <a:lnL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2026-10-03T16:44:45Z</dcterms:created>
  <dcterms:modified xsi:type="dcterms:W3CDTF">2026-10-03T16:44:45Z</dcterms:modified>
</cp:coreProperties>
</file>