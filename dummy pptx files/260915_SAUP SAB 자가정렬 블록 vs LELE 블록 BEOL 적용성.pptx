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더미 평가 보고서의 첫 페이지로, 평가 목적과 6 가지 평가 조건을 요약한다.
발표 시 "왜 SAB 와 LELE 블록을 동시에 보느냐" 가 핵심 질문임을 상기하고, 사내 SAUP 백그라운드 문서에서 강조한 오버레이 마진 부족 / tip‑to‑tip 제약 두 문제를 짚어주며 시작한다.
Right 패널의 6 개 조건은 이후 모든 슬라이드의 평가 매트릭스를 정의한다.
페이지 하단 면책 문구는 모든 슬라이드에 통일 적용되며, 데모용 가상 수치임을 명시한다.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공정 경로의 정의와 차이를 한 화면에서 비교한다.
발표 시 Left 는 SAB 의 자가정렬 트릭과 오버레이 부담 경감을 짚고, Right 는 LELE 블록의 두 mask 단계와 tip‑to‑tip 변형의 한계를 짚는다.
Wafer·layer 분배(W1, W2, W3) 를 명시해, 이후 슬라이드의 매트릭스가 어떤 경로의 어떤 wafer 결과를 다루는지 미리 고정한다.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장의 실제 단면/모듈 사진을 좌우 2 단으로 배치한다.
Photo A 는 BEOL Cu 단면 stack, Photo B 는 imec 의 자체 정렬 2 metal level 모듈로, SAB 경로의 시각적 우호성을 짚는다.
사진 인용은 사진 아래 1 줄 출처만 표기하며, 별도 reference list 슬라이드는 두지 않는다.
발표 시 "이 두 장이 본 평가의 시각 기준선"임을 알리고, 정량 비교는 다음 슬라이드들로 이동한다.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장의 평면 사진을 좌우로 배치하고 하단 strip 에서 시각 코멘트를 정리한다.
Photo C 는 라인 배열 overview, Photo D 는 16 nm 급 sub‑30 nm 피치 사례.
발표 시 SAB / LELE 두 경로의 cut 영역 안정성 차이를 짚고 정량 CD 비교로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가지 CD 측정 항목 target 을 좌측 큰 글자로, 측정 도구 정의를 우측 dark panel 에 둔다.
발표 시 25.7 → 17.1 → 9.8 → 8.0 nm 으로 갈수록 값이 줄어드는 흐름을 짚고, 다음 슬라이드 CD 표에서 wafer 별 분포로 들어간다.
모든 숫자는 dummy 라는 점을 명시한다.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Variation 표 전체 12 행을 좌측 큰 카드에 우상단엔 wafer 별 비교 summary, 우하단엔 관찰 노트를 둔다.
발표 시 Δ 의 부호와 절대값을 강조한다 — 특히 W3 가 AASI 에서 +0.5, ACI 에서 +0.6 으로 누적되는 흐름을 짚는다.
W2 가 모든 metric 에서 가장 작은 3σ 을 갖는다는 점이 SAB 안정성 보강으로 해석 여지가 있음을 언급한다.
dummy nm 값임을 면책 문구와 함께 명시한다.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개의 wafer map 으로 AASI Δ 의 분포를 시각화한다. W1·W2 는 SAB, W3 은 LELE.
발표 시 가장자리 페일 ring 패턴이 W3 에서 두텁게 나타나는 점을 짚고, 곧장 SAB 가 SAB 가 균일도를 구조적으로 개선하는 후보임을 다시금 환기한다.
색은 3 단계만 사용 (warm gray · gold · copper) — 복잡한 색 척도를 의도적으로 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In-wafer 균일도 표. 큰 카드에 12 행 (3 wafer × 4 metric, rowspan 으로 wafer 묶음)을 배치하고, 우측 dark 패널에 NU% 비교 + pass rate 평균을 둔다.
발표 시 W2 의 NU% 4.9 ~ 6.1 % 와 pass 99 % 를 강조해 SAB 가 M2 단계에서 가장 균일하다는 결론으로 연결한다.
W3 LELE 의 NU% 8 ~ 9.7 %, pass 75 % 와 비교해 균일도 측면의 약점을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특성은 도식 없이 숫자 표로 정리한다. 8 개 항목 × 3 wafer 표, 우측 dark 패널에 관찰 노트.
W3 LELE 에서 out-of-spec (Rs 3σ 7.2, 누설 0.42, Vbd 6.6, 수율 93.4/94.5) 에 토큰 빨강/구리 색으로 강조.
발표 시 SAB 가 균일도뿐 아니라 전기 손실도 함께 개선하는 후보임을 환기한다.
마지막 dummy 면책을 다시 한번 상기해 청중에 단단히 못박는다.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9eef726cdfac5e95a10441e1411e04a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097305" y="-381305"/>
            <a:ext cx="4572000" cy="4572000"/>
          </a:xfrm>
          <a:prstGeom prst="rect">
            <a:avLst/>
          </a:prstGeom>
        </p:spPr>
      </p:pic>
      <p:pic>
        <p:nvPicPr>
          <p:cNvPr id="4" name="Image 1" descr="gen-dedup-118760531d3eed5537ccf7d32998c79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857707" y="8287207"/>
            <a:ext cx="6667805" cy="914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57707" y="4524451"/>
            <a:ext cx="10287000" cy="3524098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1430000" y="1762049"/>
            <a:ext cx="6001207" cy="6286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023f2b15a396c78a69228a07b194b805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857707" y="9696298"/>
            <a:ext cx="16573500" cy="9144"/>
          </a:xfrm>
          <a:prstGeom prst="rect">
            <a:avLst/>
          </a:prstGeom>
        </p:spPr>
      </p:pic>
      <p:pic>
        <p:nvPicPr>
          <p:cNvPr id="8" name="Image 3" descr="gen-dedup-7de93be722f1c89264dcf2038c4c0050.png">    </p:cNvPr>
          <p:cNvPicPr>
            <a:picLocks noChangeAspect="1"/>
          </p:cNvPicPr>
          <p:nvPr/>
        </p:nvPicPr>
        <p:blipFill>
          <a:blip r:embed="rId4"/>
          <a:srcRect l="-402" r="-402" t="0" b="0"/>
          <a:stretch/>
        </p:blipFill>
        <p:spPr>
          <a:xfrm>
            <a:off x="857707" y="4524451"/>
            <a:ext cx="57607" cy="3524098"/>
          </a:xfrm>
          <a:prstGeom prst="rect">
            <a:avLst/>
          </a:prstGeom>
        </p:spPr>
      </p:pic>
      <p:pic>
        <p:nvPicPr>
          <p:cNvPr id="9" name="Image 4" descr="gen-dedup-e9c1d2ce095ae1e0d3fb9dc631114cde.png">    </p:cNvPr>
          <p:cNvPicPr>
            <a:picLocks noChangeAspect="1"/>
          </p:cNvPicPr>
          <p:nvPr/>
        </p:nvPicPr>
        <p:blipFill>
          <a:blip r:embed="rId5"/>
          <a:srcRect l="0" r="0" t="-420" b="-420"/>
          <a:stretch/>
        </p:blipFill>
        <p:spPr>
          <a:xfrm>
            <a:off x="11430000" y="1762049"/>
            <a:ext cx="761695" cy="3840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0"/>
            <a:ext cx="286207" cy="102870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5" descr="gen-dedup-fd61fe85c426a1d70a068660fc8288e0.png">    </p:cNvPr>
          <p:cNvPicPr>
            <a:picLocks noChangeAspect="1"/>
          </p:cNvPicPr>
          <p:nvPr/>
        </p:nvPicPr>
        <p:blipFill>
          <a:blip r:embed="rId6"/>
          <a:srcRect l="0" r="0" t="-2083" b="-2083"/>
          <a:stretch/>
        </p:blipFill>
        <p:spPr>
          <a:xfrm>
            <a:off x="286207" y="1143000"/>
            <a:ext cx="9144" cy="80010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857707" y="761695"/>
            <a:ext cx="171907" cy="171907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4"/>
          <p:cNvSpPr txBox="1"/>
          <p:nvPr/>
        </p:nvSpPr>
        <p:spPr>
          <a:xfrm>
            <a:off x="1143000" y="743407"/>
            <a:ext cx="38176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EUV · BEOL 평가 · DUMMY 12/15</a:t>
            </a:r>
            <a:endParaRPr lang="en-US" sz="1350" dirty="0"/>
          </a:p>
        </p:txBody>
      </p:sp>
      <p:sp>
        <p:nvSpPr>
          <p:cNvPr id="14" name="Text 5"/>
          <p:cNvSpPr txBox="1"/>
          <p:nvPr/>
        </p:nvSpPr>
        <p:spPr>
          <a:xfrm>
            <a:off x="857707" y="1238098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— 평가 개요</a:t>
            </a:r>
            <a:endParaRPr lang="en-US" sz="1650" dirty="0"/>
          </a:p>
        </p:txBody>
      </p:sp>
      <p:sp>
        <p:nvSpPr>
          <p:cNvPr id="15" name="Text 6"/>
          <p:cNvSpPr txBox="1"/>
          <p:nvPr/>
        </p:nvSpPr>
        <p:spPr>
          <a:xfrm>
            <a:off x="857707" y="1762049"/>
            <a:ext cx="10478110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SAUP · SAB 와</a:t>
            </a:r>
            <a:pPr algn="l" indent="0" marL="0">
              <a:lnSpc>
                <a:spcPct val="118000"/>
              </a:lnSpc>
              <a:buNone/>
            </a:pPr>
            <a:endParaRPr lang="en-US" sz="4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LELE 블록 경로의</a:t>
            </a:r>
            <a:pPr algn="l" indent="0" marL="0">
              <a:lnSpc>
                <a:spcPct val="118000"/>
              </a:lnSpc>
              <a:buNone/>
            </a:pPr>
            <a:endParaRPr lang="en-US" sz="4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BEOL 적용성 비교 평가</a:t>
            </a:r>
            <a:endParaRPr lang="en-US" sz="4800" dirty="0"/>
          </a:p>
        </p:txBody>
      </p:sp>
      <p:sp>
        <p:nvSpPr>
          <p:cNvPr id="16" name="Text 7"/>
          <p:cNvSpPr txBox="1"/>
          <p:nvPr/>
        </p:nvSpPr>
        <p:spPr>
          <a:xfrm>
            <a:off x="15757855" y="1143000"/>
            <a:ext cx="1768450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0" b="1" i="1" dirty="0">
                <a:solidFill>
                  <a:srgbClr val="E0D8B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0500" dirty="0"/>
          </a:p>
        </p:txBody>
      </p:sp>
      <p:sp>
        <p:nvSpPr>
          <p:cNvPr id="17" name="Text 8"/>
          <p:cNvSpPr txBox="1"/>
          <p:nvPr/>
        </p:nvSpPr>
        <p:spPr>
          <a:xfrm>
            <a:off x="857707" y="8524951"/>
            <a:ext cx="10478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80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SAUP 체계에서 SAB는 30 nm 이하 sub‑pitch Mx 레이어에서 오버레이 마진과 설계 보편성을 모두 만족하는 후보 경로다.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238098" y="4809744"/>
            <a:ext cx="9525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SAB 와 LELE 블록을 동시에 평가하는가</a:t>
            </a:r>
            <a:endParaRPr lang="en-US" sz="2400" dirty="0"/>
          </a:p>
        </p:txBody>
      </p:sp>
      <p:sp>
        <p:nvSpPr>
          <p:cNvPr id="19" name="Text 10"/>
          <p:cNvSpPr txBox="1"/>
          <p:nvPr/>
        </p:nvSpPr>
        <p:spPr>
          <a:xfrm>
            <a:off x="1238098" y="5419649"/>
            <a:ext cx="9525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 1D 라인을 형성한 뒤 단순 컷/블록 마스크만 덮는 방식은 오버레이 오차에 매우 취약하며, 인접 라인 손상 없이 tip‑to‑tip 변형을 가하는 확률론적 한계를 가진다.</a:t>
            </a:r>
            <a:endParaRPr lang="en-US" sz="165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6202375"/>
            <a:ext cx="95253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평가는 듀미 메탈 채움 트렌치 위에 </a:t>
            </a:r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SAB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(자가정렬 블록) 와 </a:t>
            </a:r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LELE 블록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(포토‑식각‑포토‑식각) 의 두 경로를 동일 V1 / M2 층, 동일 wafer 3 매 조건에서 비교해 CD 마진·in‑wafer 균일도·전기적 손실을 정량 비교하는 것을 목적으로 한다.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11811305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CONDITIONS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11811305" y="2419502"/>
            <a:ext cx="5334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평가 조건 6 항목</a:t>
            </a:r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FB39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Evaluation conditions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1305" y="3619195"/>
          <a:ext cx="5334610" cy="3305556"/>
        </p:xfrm>
        <a:graphic>
          <a:graphicData uri="http://schemas.openxmlformats.org/drawingml/2006/table">
            <a:tbl>
              <a:tblPr/>
              <a:tblGrid>
                <a:gridCol w="1714500"/>
                <a:gridCol w="3619195"/>
              </a:tblGrid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V1 (via‑first) · M2 (metal‑2)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SPLIT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vs LELE block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 매 (W1 · W2 · W3)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TOOL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CD‑SEM · in‑line metrology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PITCH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sub‑30 nm Mx target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METROLOGY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 pt / wafer · 4 metric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14"/>
          <p:cNvSpPr txBox="1"/>
          <p:nvPr/>
        </p:nvSpPr>
        <p:spPr>
          <a:xfrm>
            <a:off x="857707" y="9810598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3429000"/>
            <a:ext cx="8191195" cy="5143500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3429000"/>
            <a:ext cx="8096098" cy="5143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810244"/>
            <a:ext cx="16573500" cy="9144"/>
          </a:xfrm>
          <a:prstGeom prst="rect">
            <a:avLst/>
          </a:prstGeom>
        </p:spPr>
      </p:pic>
      <p:pic>
        <p:nvPicPr>
          <p:cNvPr id="6" name="Image 1" descr="gen-dedup-4d0bf5d92f4f073b019507ecff878bee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57707" y="3429000"/>
            <a:ext cx="95098" cy="5143500"/>
          </a:xfrm>
          <a:prstGeom prst="rect">
            <a:avLst/>
          </a:prstGeom>
        </p:spPr>
      </p:pic>
      <p:pic>
        <p:nvPicPr>
          <p:cNvPr id="7" name="Image 2" descr="gen-dedup-db91e90b5051ab69c89504d9cb2d49b7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9334195" y="3429000"/>
            <a:ext cx="95098" cy="5143500"/>
          </a:xfrm>
          <a:prstGeom prst="rect">
            <a:avLst/>
          </a:prstGeom>
        </p:spPr>
      </p:pic>
      <p:pic>
        <p:nvPicPr>
          <p:cNvPr id="8" name="Image 3" descr="gen-dedup-582dae8fad4e936eb1a750d2a88c6e2e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857707" y="761695"/>
            <a:ext cx="342900" cy="384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857707" y="952805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— 공정 설계</a:t>
            </a:r>
            <a:endParaRPr lang="en-US" sz="1500" dirty="0"/>
          </a:p>
        </p:txBody>
      </p:sp>
      <p:sp>
        <p:nvSpPr>
          <p:cNvPr id="10" name="Text 3"/>
          <p:cNvSpPr txBox="1"/>
          <p:nvPr/>
        </p:nvSpPr>
        <p:spPr>
          <a:xfrm>
            <a:off x="857707" y="1333195"/>
            <a:ext cx="1238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SAB vs LELE 블록 — 두 경로의 차이</a:t>
            </a:r>
            <a:endParaRPr lang="en-US" sz="3900" dirty="0"/>
          </a:p>
        </p:txBody>
      </p:sp>
      <p:sp>
        <p:nvSpPr>
          <p:cNvPr id="11" name="Text 4"/>
          <p:cNvSpPr txBox="1"/>
          <p:nvPr/>
        </p:nvSpPr>
        <p:spPr>
          <a:xfrm>
            <a:off x="857707" y="2667305"/>
            <a:ext cx="12382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metal stack 위에서 자가정렬 블록이 경로 마진을 어떻게 바꾸는지, 그리고 LELE 블록 대비 공정 단계 / 오버레이 부담이 어떻게 분포하는지를 정리한다.</a:t>
            </a:r>
            <a:endParaRPr lang="en-US" sz="1650" dirty="0"/>
          </a:p>
        </p:txBody>
      </p:sp>
      <p:sp>
        <p:nvSpPr>
          <p:cNvPr id="12" name="Text 5"/>
          <p:cNvSpPr txBox="1"/>
          <p:nvPr/>
        </p:nvSpPr>
        <p:spPr>
          <a:xfrm>
            <a:off x="1238098" y="3715207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405" kern="0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 A</a:t>
            </a:r>
            <a:endParaRPr lang="en-US" sz="1350" dirty="0"/>
          </a:p>
        </p:txBody>
      </p:sp>
      <p:sp>
        <p:nvSpPr>
          <p:cNvPr id="13" name="Text 6"/>
          <p:cNvSpPr txBox="1"/>
          <p:nvPr/>
        </p:nvSpPr>
        <p:spPr>
          <a:xfrm>
            <a:off x="1238098" y="4058107"/>
            <a:ext cx="7429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SAB · Self‑Aligned Block</a:t>
            </a:r>
            <a:endParaRPr lang="en-US" sz="3000" dirty="0"/>
          </a:p>
        </p:txBody>
      </p:sp>
      <p:sp>
        <p:nvSpPr>
          <p:cNvPr id="14" name="Text 7"/>
          <p:cNvSpPr txBox="1"/>
          <p:nvPr/>
        </p:nvSpPr>
        <p:spPr>
          <a:xfrm>
            <a:off x="1238098" y="4533595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자가정렬 블록 + 희생 산화막 (SOL)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4953305"/>
          <a:ext cx="7429500" cy="3400654"/>
        </p:xfrm>
        <a:graphic>
          <a:graphicData uri="http://schemas.openxmlformats.org/drawingml/2006/table">
            <a:tbl>
              <a:tblPr/>
              <a:tblGrid>
                <a:gridCol w="247802"/>
                <a:gridCol w="7181698"/>
              </a:tblGrid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단차·선택비 기반 자가정렬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TiN 마스크 위에 트렌치를 미리 형성, 더미 메탈로 채운 뒤 block 형성을 유도.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오버레이 부담 경감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블록이 물리적으로 라인 사이로 정렬되므로 align margin 요구가 작다.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설계 보편성 (universality)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sub‑30 nm pitch Mx 패턴에서 보편적으로 적용 가능성을 보고.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wafer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(V1+SAB), W2 (M2+SAB), W3 (LELE reference)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8"/>
          <p:cNvSpPr txBox="1"/>
          <p:nvPr/>
        </p:nvSpPr>
        <p:spPr>
          <a:xfrm>
            <a:off x="9715500" y="3715207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405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 B</a:t>
            </a:r>
            <a:endParaRPr lang="en-US" sz="1350" dirty="0"/>
          </a:p>
        </p:txBody>
      </p:sp>
      <p:sp>
        <p:nvSpPr>
          <p:cNvPr id="17" name="Text 9"/>
          <p:cNvSpPr txBox="1"/>
          <p:nvPr/>
        </p:nvSpPr>
        <p:spPr>
          <a:xfrm>
            <a:off x="9715500" y="4058107"/>
            <a:ext cx="822228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LELE · Litho‑Etch‑Litho‑Etch Block</a:t>
            </a:r>
            <a:endParaRPr lang="en-US" sz="3000" dirty="0"/>
          </a:p>
        </p:txBody>
      </p:sp>
      <p:sp>
        <p:nvSpPr>
          <p:cNvPr id="18" name="Text 10"/>
          <p:cNvSpPr txBox="1"/>
          <p:nvPr/>
        </p:nvSpPr>
        <p:spPr>
          <a:xfrm>
            <a:off x="9715500" y="4533595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FB3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포토‑식각‑포토‑식각 두 번의 마스크 조합</a:t>
            </a:r>
            <a:endParaRPr lang="en-US" sz="13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15500" y="4953305"/>
          <a:ext cx="7429500" cy="3400654"/>
        </p:xfrm>
        <a:graphic>
          <a:graphicData uri="http://schemas.openxmlformats.org/drawingml/2006/table">
            <a:tbl>
              <a:tblPr/>
              <a:tblGrid>
                <a:gridCol w="247802"/>
                <a:gridCol w="7181698"/>
              </a:tblGrid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 단계 mask 정의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블록 마스크를 두 번 노출·식각하여 정의.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오버레이 마진 요구 큼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인접 라인 손상 방지를 위해 매우 정밀한 align 필요.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tip‑to‑tip 변형은 확률적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컷 정확도가 보편성을 제한 — 기준 (reference) 경로로 사용.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wafer · layer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(V1, LELE block) · W2/W3 (참고 비교군으로 부분 적용)</a:t>
                      </a:r>
                      <a:endParaRPr lang="en-US" sz="1200" dirty="0"/>
                    </a:p>
                  </a:txBody>
                  <a:tcPr marL="152705" marR="0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857707" y="9001354"/>
            <a:ext cx="1703801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SAB 는 자가정렬을 통해 align 부담을 구조적으로 줄이는 대신 process step 이 늘어나고, LELE 은 노출 단계가 단순하지만 마진 요구가 큰 경로다.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857707" y="9810598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095805"/>
            <a:ext cx="8001000" cy="53336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39098" y="2095805"/>
            <a:ext cx="8191195" cy="5333695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7715707"/>
            <a:ext cx="16573500" cy="857707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9696298"/>
            <a:ext cx="16573500" cy="9144"/>
          </a:xfrm>
          <a:prstGeom prst="rect">
            <a:avLst/>
          </a:prstGeom>
        </p:spPr>
      </p:pic>
      <p:pic>
        <p:nvPicPr>
          <p:cNvPr id="7" name="Image 1" descr="gen-dedup-f4cc4f23fbfb31acfd5cc3dcce9e95fc.png">    </p:cNvPr>
          <p:cNvPicPr>
            <a:picLocks noChangeAspect="1"/>
          </p:cNvPicPr>
          <p:nvPr/>
        </p:nvPicPr>
        <p:blipFill>
          <a:blip r:embed="rId2"/>
          <a:srcRect l="-397" r="-397" t="0" b="0"/>
          <a:stretch/>
        </p:blipFill>
        <p:spPr>
          <a:xfrm>
            <a:off x="1143000" y="6143854"/>
            <a:ext cx="57607" cy="1095451"/>
          </a:xfrm>
          <a:prstGeom prst="rect">
            <a:avLst/>
          </a:prstGeom>
        </p:spPr>
      </p:pic>
      <p:pic>
        <p:nvPicPr>
          <p:cNvPr id="8" name="Image 2" descr="gen-dedup-12e5ed1a2fdc0d1bea94b2b8ce2ace59.png">    </p:cNvPr>
          <p:cNvPicPr>
            <a:picLocks noChangeAspect="1"/>
          </p:cNvPicPr>
          <p:nvPr/>
        </p:nvPicPr>
        <p:blipFill>
          <a:blip r:embed="rId3"/>
          <a:srcRect l="-397" r="-397" t="0" b="0"/>
          <a:stretch/>
        </p:blipFill>
        <p:spPr>
          <a:xfrm>
            <a:off x="9525305" y="6143854"/>
            <a:ext cx="57607" cy="1095451"/>
          </a:xfrm>
          <a:prstGeom prst="rect">
            <a:avLst/>
          </a:prstGeom>
        </p:spPr>
      </p:pic>
      <p:pic>
        <p:nvPicPr>
          <p:cNvPr id="9" name="Image 3" descr="gen-dedup-f44c7140f545b9bd905c3af3047e345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81098"/>
            <a:ext cx="7429500" cy="3619195"/>
          </a:xfrm>
          <a:prstGeom prst="rect">
            <a:avLst/>
          </a:prstGeom>
        </p:spPr>
      </p:pic>
      <p:pic>
        <p:nvPicPr>
          <p:cNvPr id="10" name="Image 4" descr="gen-dedup-72db1e72cdf7b7cbf7333418adb1a4ef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305" y="2381098"/>
            <a:ext cx="7619695" cy="361919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857707" y="76169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— 단면 SEM · TEM 관찰</a:t>
            </a:r>
            <a:endParaRPr lang="en-US" sz="1500" dirty="0"/>
          </a:p>
        </p:txBody>
      </p:sp>
      <p:sp>
        <p:nvSpPr>
          <p:cNvPr id="12" name="Text 4"/>
          <p:cNvSpPr txBox="1"/>
          <p:nvPr/>
        </p:nvSpPr>
        <p:spPr>
          <a:xfrm>
            <a:off x="857707" y="1123798"/>
            <a:ext cx="1428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단면 관찰 — 패턴 형상 / 라인 단차</a:t>
            </a:r>
            <a:endParaRPr lang="en-US" sz="3450" dirty="0"/>
          </a:p>
        </p:txBody>
      </p:sp>
      <p:sp>
        <p:nvSpPr>
          <p:cNvPr id="13" name="Text 5"/>
          <p:cNvSpPr txBox="1"/>
          <p:nvPr/>
        </p:nvSpPr>
        <p:spPr>
          <a:xfrm>
            <a:off x="1333195" y="6143854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38" kern="0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 A · CROSS‑SECTION</a:t>
            </a:r>
            <a:endParaRPr lang="en-US" sz="1350" dirty="0"/>
          </a:p>
        </p:txBody>
      </p:sp>
      <p:sp>
        <p:nvSpPr>
          <p:cNvPr id="14" name="Text 6"/>
          <p:cNvSpPr txBox="1"/>
          <p:nvPr/>
        </p:nvSpPr>
        <p:spPr>
          <a:xfrm>
            <a:off x="1333195" y="6448349"/>
            <a:ext cx="7239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BEOL 단면 — M2 + via‑first stack</a:t>
            </a:r>
            <a:endParaRPr lang="en-US" sz="1650" dirty="0"/>
          </a:p>
        </p:txBody>
      </p:sp>
      <p:sp>
        <p:nvSpPr>
          <p:cNvPr id="15" name="Text 7"/>
          <p:cNvSpPr txBox="1"/>
          <p:nvPr/>
        </p:nvSpPr>
        <p:spPr>
          <a:xfrm>
            <a:off x="1333195" y="6829654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라인 / barrier / via 영역 경계가 비교적 또렷, dummy metal 잔류 흔적 없음.</a:t>
            </a:r>
            <a:endParaRPr lang="en-US" sz="1350" dirty="0"/>
          </a:p>
        </p:txBody>
      </p:sp>
      <p:sp>
        <p:nvSpPr>
          <p:cNvPr id="16" name="Text 8"/>
          <p:cNvSpPr txBox="1"/>
          <p:nvPr/>
        </p:nvSpPr>
        <p:spPr>
          <a:xfrm>
            <a:off x="1333195" y="7154266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Semiconductor Digest — Intel 4 BEOL interconnect architecture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9715500" y="6143854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38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 B · MODULE VIEW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9715500" y="6448349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EF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자가정렬 모듈 단면 — 두 metal layer</a:t>
            </a:r>
            <a:endParaRPr lang="en-US" sz="1650" dirty="0"/>
          </a:p>
        </p:txBody>
      </p:sp>
      <p:sp>
        <p:nvSpPr>
          <p:cNvPr id="19" name="Text 11"/>
          <p:cNvSpPr txBox="1"/>
          <p:nvPr/>
        </p:nvSpPr>
        <p:spPr>
          <a:xfrm>
            <a:off x="9715500" y="6829654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FB3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폭 균일도 유지 / tip‑to‑tip 영역 추가 변형 없음, SAB 경로 우호 형상.</a:t>
            </a: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9715500" y="7154266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imec — fully self‑aligned two‑metal‑level semi‑damascene module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7905902"/>
            <a:ext cx="1600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노트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8210398"/>
            <a:ext cx="16002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시편 모두 라인 측벽이 수직에 가깝고 잔류 spacer 흔적이 관찰되지 않는다. cut 변형 영역 폭 차이는 정량 비교를 다음 슬라이드의 CD 표로 넘긴다.</a:t>
            </a:r>
            <a:endParaRPr lang="en-US" sz="1650" dirty="0"/>
          </a:p>
        </p:txBody>
      </p:sp>
      <p:sp>
        <p:nvSpPr>
          <p:cNvPr id="23" name="Text 15"/>
          <p:cNvSpPr txBox="1"/>
          <p:nvPr/>
        </p:nvSpPr>
        <p:spPr>
          <a:xfrm>
            <a:off x="857707" y="8858707"/>
            <a:ext cx="16573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단면 시각 검사만으로는 cut 변형 여부를 단정할 수 없으며, 정량 CD 편차 평가는 다음 슬라이드의 표로 분리한다.</a:t>
            </a:r>
            <a:endParaRPr lang="en-US" sz="1650" dirty="0"/>
          </a:p>
        </p:txBody>
      </p:sp>
      <p:sp>
        <p:nvSpPr>
          <p:cNvPr id="24" name="Text 16"/>
          <p:cNvSpPr txBox="1"/>
          <p:nvPr/>
        </p:nvSpPr>
        <p:spPr>
          <a:xfrm>
            <a:off x="857707" y="9810598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333549"/>
            <a:ext cx="8001000" cy="30476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39098" y="2333549"/>
            <a:ext cx="8191195" cy="3047695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6476695"/>
            <a:ext cx="16573500" cy="2286000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9696298"/>
            <a:ext cx="165735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7707" y="1904695"/>
            <a:ext cx="57607" cy="286207"/>
          </a:xfrm>
          <a:prstGeom prst="rect">
            <a:avLst/>
          </a:prstGeom>
          <a:solidFill>
            <a:srgbClr val="2E50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239098" y="1904695"/>
            <a:ext cx="57607" cy="286207"/>
          </a:xfrm>
          <a:prstGeom prst="rect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2212580b6eb490ba13c419e10f4ef657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857707" y="6476695"/>
            <a:ext cx="16573500" cy="38405"/>
          </a:xfrm>
          <a:prstGeom prst="rect">
            <a:avLst/>
          </a:prstGeom>
        </p:spPr>
      </p:pic>
      <p:pic>
        <p:nvPicPr>
          <p:cNvPr id="10" name="Image 2" descr="gen-dedup-d269c137ec4f15da2d00b70c6b86da5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" y="2523744"/>
            <a:ext cx="7619695" cy="2667305"/>
          </a:xfrm>
          <a:prstGeom prst="rect">
            <a:avLst/>
          </a:prstGeom>
        </p:spPr>
      </p:pic>
      <p:pic>
        <p:nvPicPr>
          <p:cNvPr id="11" name="Image 3" descr="gen-dedup-58ef9cc83040d13a898a3a0566cb382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207" y="2523744"/>
            <a:ext cx="7810805" cy="26673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68805" y="286207"/>
            <a:ext cx="28575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0" b="1" dirty="0">
                <a:solidFill>
                  <a:srgbClr val="E0D8B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3500" dirty="0"/>
          </a:p>
        </p:txBody>
      </p:sp>
      <p:sp>
        <p:nvSpPr>
          <p:cNvPr id="13" name="Text 6"/>
          <p:cNvSpPr txBox="1"/>
          <p:nvPr/>
        </p:nvSpPr>
        <p:spPr>
          <a:xfrm>
            <a:off x="857707" y="76169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— 평면 / Top‑view 관찰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857707" y="1123798"/>
            <a:ext cx="13335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평면 관찰 — 라인 배열 / line‑edge roughness</a:t>
            </a:r>
            <a:endParaRPr lang="en-US" sz="3300" dirty="0"/>
          </a:p>
        </p:txBody>
      </p:sp>
      <p:sp>
        <p:nvSpPr>
          <p:cNvPr id="15" name="Text 8"/>
          <p:cNvSpPr txBox="1"/>
          <p:nvPr/>
        </p:nvSpPr>
        <p:spPr>
          <a:xfrm>
            <a:off x="1047902" y="1886407"/>
            <a:ext cx="7620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PHOTO C · 라인 배열 overview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857707" y="5524805"/>
            <a:ext cx="86868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폭 / 피치 분포가 안정적이나, line‑edge roughness 가 SAB · LELE 두 경로에서 차이를 보인다.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857707" y="5838444"/>
            <a:ext cx="8001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SPIE — N5 EUV hybrid and EUV single patterning BEOL metal layers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9430207" y="1886407"/>
            <a:ext cx="7620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PHOTO D · sub‑30 nm metal pitch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9239098" y="5524805"/>
            <a:ext cx="8192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nm 급 피치 라인 배열 — spacer‑is‑dielectric SADP 기반 평가에서 채택된 형상.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9239098" y="5838444"/>
            <a:ext cx="8192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SPIE — Patterning exploration of 16nm pitch metal lines using SADP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238098" y="6762902"/>
            <a:ext cx="1581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405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238098" y="7067398"/>
            <a:ext cx="1581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평면 사진의 시각 코멘트</a:t>
            </a:r>
            <a:endParaRPr lang="en-US" sz="2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7524598"/>
          <a:ext cx="7810805" cy="1314907"/>
        </p:xfrm>
        <a:graphic>
          <a:graphicData uri="http://schemas.openxmlformats.org/drawingml/2006/table">
            <a:tbl>
              <a:tblPr/>
              <a:tblGrid>
                <a:gridCol w="171907"/>
                <a:gridCol w="7638898"/>
              </a:tblGrid>
              <a:tr h="2629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라인 정렬 일관성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8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영역에서 cut 변형 영역이 정의되어 인접 라인의 손상이 관찰되지 않음.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6298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629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Spacing 균일도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8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reference 경로 대비 line‑edge 변동성은 평균 ±0.9 nm 수준으로 판정.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7524598"/>
          <a:ext cx="7429500" cy="1429207"/>
        </p:xfrm>
        <a:graphic>
          <a:graphicData uri="http://schemas.openxmlformats.org/drawingml/2006/table">
            <a:tbl>
              <a:tblPr/>
              <a:tblGrid>
                <a:gridCol w="171907"/>
                <a:gridCol w="7200900"/>
              </a:tblGrid>
              <a:tr h="2858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Cut 영역 형태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8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경로는 cut region 의 폭 균일도가 안정적, LELE 은 위치 의존 변형 존재.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858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858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다음 슬라이드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84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 metric 정량 평가는 다음 슬라이드의 CD variation 표에서 wafer 별로 분리한다.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Text 16"/>
          <p:cNvSpPr txBox="1"/>
          <p:nvPr/>
        </p:nvSpPr>
        <p:spPr>
          <a:xfrm>
            <a:off x="857707" y="8953805"/>
            <a:ext cx="16573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평면 검사에서 SAB 영역 cut 폭 균일도가 LELE reference 보다 안정적이며, 정량 차이는 다음 슬라이드 CD 표에서 명시한다.</a:t>
            </a:r>
            <a:endParaRPr lang="en-US" sz="1650" dirty="0"/>
          </a:p>
        </p:txBody>
      </p:sp>
      <p:sp>
        <p:nvSpPr>
          <p:cNvPr id="26" name="Text 17"/>
          <p:cNvSpPr txBox="1"/>
          <p:nvPr/>
        </p:nvSpPr>
        <p:spPr>
          <a:xfrm>
            <a:off x="857707" y="9810598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667305"/>
            <a:ext cx="10477195" cy="1238098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4048049"/>
            <a:ext cx="10477195" cy="1238098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5429707"/>
            <a:ext cx="10477195" cy="1238098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6810451"/>
            <a:ext cx="10477195" cy="1238098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11305" y="2286000"/>
            <a:ext cx="5619902" cy="5762549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9696298"/>
            <a:ext cx="16573500" cy="9144"/>
          </a:xfrm>
          <a:prstGeom prst="rect">
            <a:avLst/>
          </a:prstGeom>
        </p:spPr>
      </p:pic>
      <p:pic>
        <p:nvPicPr>
          <p:cNvPr id="9" name="Image 1" descr="gen-dedup-0334bcf633ab914328c9523c7730bda7.png">    </p:cNvPr>
          <p:cNvPicPr>
            <a:picLocks noChangeAspect="1"/>
          </p:cNvPicPr>
          <p:nvPr/>
        </p:nvPicPr>
        <p:blipFill>
          <a:blip r:embed="rId2"/>
          <a:srcRect l="-406" r="-406" t="0" b="0"/>
          <a:stretch/>
        </p:blipFill>
        <p:spPr>
          <a:xfrm>
            <a:off x="857707" y="2667305"/>
            <a:ext cx="57607" cy="1238098"/>
          </a:xfrm>
          <a:prstGeom prst="rect">
            <a:avLst/>
          </a:prstGeom>
        </p:spPr>
      </p:pic>
      <p:pic>
        <p:nvPicPr>
          <p:cNvPr id="10" name="Image 2" descr="gen-dedup-0334bcf633ab914328c9523c7730bda7.png">    </p:cNvPr>
          <p:cNvPicPr>
            <a:picLocks noChangeAspect="1"/>
          </p:cNvPicPr>
          <p:nvPr/>
        </p:nvPicPr>
        <p:blipFill>
          <a:blip r:embed="rId3"/>
          <a:srcRect l="-406" r="-406" t="0" b="0"/>
          <a:stretch/>
        </p:blipFill>
        <p:spPr>
          <a:xfrm>
            <a:off x="857707" y="4048049"/>
            <a:ext cx="57607" cy="1238098"/>
          </a:xfrm>
          <a:prstGeom prst="rect">
            <a:avLst/>
          </a:prstGeom>
        </p:spPr>
      </p:pic>
      <p:pic>
        <p:nvPicPr>
          <p:cNvPr id="11" name="Image 3" descr="gen-dedup-1b303f3763517da971cbb0d2c72c2a98.png">    </p:cNvPr>
          <p:cNvPicPr>
            <a:picLocks noChangeAspect="1"/>
          </p:cNvPicPr>
          <p:nvPr/>
        </p:nvPicPr>
        <p:blipFill>
          <a:blip r:embed="rId4"/>
          <a:srcRect l="-406" r="-406" t="0" b="0"/>
          <a:stretch/>
        </p:blipFill>
        <p:spPr>
          <a:xfrm>
            <a:off x="857707" y="5429707"/>
            <a:ext cx="57607" cy="1238098"/>
          </a:xfrm>
          <a:prstGeom prst="rect">
            <a:avLst/>
          </a:prstGeom>
        </p:spPr>
      </p:pic>
      <p:pic>
        <p:nvPicPr>
          <p:cNvPr id="12" name="Image 4" descr="gen-dedup-1b303f3763517da971cbb0d2c72c2a98.png">    </p:cNvPr>
          <p:cNvPicPr>
            <a:picLocks noChangeAspect="1"/>
          </p:cNvPicPr>
          <p:nvPr/>
        </p:nvPicPr>
        <p:blipFill>
          <a:blip r:embed="rId5"/>
          <a:srcRect l="-406" r="-406" t="0" b="0"/>
          <a:stretch/>
        </p:blipFill>
        <p:spPr>
          <a:xfrm>
            <a:off x="857707" y="6810451"/>
            <a:ext cx="57607" cy="1238098"/>
          </a:xfrm>
          <a:prstGeom prst="rect">
            <a:avLst/>
          </a:prstGeom>
        </p:spPr>
      </p:pic>
      <p:pic>
        <p:nvPicPr>
          <p:cNvPr id="13" name="Image 5" descr="gen-dedup-e9c1d2ce095ae1e0d3fb9dc631114cde.png">    </p:cNvPr>
          <p:cNvPicPr>
            <a:picLocks noChangeAspect="1"/>
          </p:cNvPicPr>
          <p:nvPr/>
        </p:nvPicPr>
        <p:blipFill>
          <a:blip r:embed="rId6"/>
          <a:srcRect l="0" r="0" t="-420" b="-420"/>
          <a:stretch/>
        </p:blipFill>
        <p:spPr>
          <a:xfrm>
            <a:off x="11811305" y="2286000"/>
            <a:ext cx="761695" cy="3840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4287500" y="286207"/>
            <a:ext cx="362011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0" b="1" spc="-300" kern="0" dirty="0">
                <a:solidFill>
                  <a:srgbClr val="E0D8B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15000" dirty="0"/>
          </a:p>
        </p:txBody>
      </p:sp>
      <p:sp>
        <p:nvSpPr>
          <p:cNvPr id="15" name="Text 6"/>
          <p:cNvSpPr txBox="1"/>
          <p:nvPr/>
        </p:nvSpPr>
        <p:spPr>
          <a:xfrm>
            <a:off x="857707" y="761695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— CD 측정 항목 정의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857707" y="1143000"/>
            <a:ext cx="1333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 가지 CD 측정 항목과 target 값</a:t>
            </a:r>
            <a:endParaRPr lang="en-US" sz="3450" dirty="0"/>
          </a:p>
        </p:txBody>
      </p:sp>
      <p:sp>
        <p:nvSpPr>
          <p:cNvPr id="17" name="Text 8"/>
          <p:cNvSpPr txBox="1"/>
          <p:nvPr/>
        </p:nvSpPr>
        <p:spPr>
          <a:xfrm>
            <a:off x="857707" y="2286000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 DEFINITIONS</a:t>
            </a:r>
            <a:endParaRPr lang="en-US" sz="1350" dirty="0"/>
          </a:p>
        </p:txBody>
      </p:sp>
      <p:sp>
        <p:nvSpPr>
          <p:cNvPr id="18" name="Text 9"/>
          <p:cNvSpPr txBox="1"/>
          <p:nvPr/>
        </p:nvSpPr>
        <p:spPr>
          <a:xfrm>
            <a:off x="1238098" y="2857500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238098" y="3191256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After‑ALD Si‑CD</a:t>
            </a:r>
            <a:endParaRPr lang="en-US" sz="255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360456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ALD 증착 후 실리콘 CD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5143500" y="3571646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· nominal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1238098" y="4238244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238098" y="4572000"/>
            <a:ext cx="4277563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After‑Si etch Inter‑CD</a:t>
            </a:r>
            <a:endParaRPr lang="en-US" sz="2550" dirty="0"/>
          </a:p>
        </p:txBody>
      </p:sp>
      <p:sp>
        <p:nvSpPr>
          <p:cNvPr id="24" name="Text 15"/>
          <p:cNvSpPr txBox="1"/>
          <p:nvPr/>
        </p:nvSpPr>
        <p:spPr>
          <a:xfrm>
            <a:off x="1238098" y="4985309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식각 후 line‑to‑line CD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143500" y="4953305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· nominal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238098" y="5619902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AMI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1238098" y="5952744"/>
            <a:ext cx="413034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 Metal Inter‑CD</a:t>
            </a:r>
            <a:endParaRPr lang="en-US" sz="2550" dirty="0"/>
          </a:p>
        </p:txBody>
      </p:sp>
      <p:sp>
        <p:nvSpPr>
          <p:cNvPr id="28" name="Text 19"/>
          <p:cNvSpPr txBox="1"/>
          <p:nvPr/>
        </p:nvSpPr>
        <p:spPr>
          <a:xfrm>
            <a:off x="1238098" y="6366053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메탈 증착 후 line CD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5143500" y="6334049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· nominal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1238098" y="7000646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ACI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1238098" y="7334402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 CMP Inter‑CD</a:t>
            </a:r>
            <a:endParaRPr lang="en-US" sz="2550" dirty="0"/>
          </a:p>
        </p:txBody>
      </p:sp>
      <p:sp>
        <p:nvSpPr>
          <p:cNvPr id="32" name="Text 23"/>
          <p:cNvSpPr txBox="1"/>
          <p:nvPr/>
        </p:nvSpPr>
        <p:spPr>
          <a:xfrm>
            <a:off x="1238098" y="7747711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CMP 후 최종 line CD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5143500" y="7715707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· nominal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2096598" y="2667305"/>
            <a:ext cx="5048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METROLOGY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12096598" y="2971800"/>
            <a:ext cx="50484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평가 도구 / 측정 정의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96598" y="3619195"/>
          <a:ext cx="5048402" cy="2905963"/>
        </p:xfrm>
        <a:graphic>
          <a:graphicData uri="http://schemas.openxmlformats.org/drawingml/2006/table">
            <a:tbl>
              <a:tblPr/>
              <a:tblGrid>
                <a:gridCol w="1333195"/>
                <a:gridCol w="3715207"/>
              </a:tblGrid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TOOL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CD‑SEM · inline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SITES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 point / wafer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DELTA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measured − target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within‑wafer spread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max − min (49 pt)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LAYERS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V1 · M2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D3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27"/>
          <p:cNvSpPr txBox="1"/>
          <p:nvPr/>
        </p:nvSpPr>
        <p:spPr>
          <a:xfrm>
            <a:off x="857707" y="8334756"/>
            <a:ext cx="17259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 항목(AASI 25.7 · ASEI 17.1 · AMI 9.8 · ACI 8.0) 을 동일 target 으로 두고, 3 wafer × 5 stat(mean·3σ·range·delta) 을 다음 표에서 펼쳐본다.</a:t>
            </a:r>
            <a:endParaRPr lang="en-US" sz="1650" dirty="0"/>
          </a:p>
        </p:txBody>
      </p:sp>
      <p:sp>
        <p:nvSpPr>
          <p:cNvPr id="38" name="Text 28"/>
          <p:cNvSpPr txBox="1"/>
          <p:nvPr/>
        </p:nvSpPr>
        <p:spPr>
          <a:xfrm>
            <a:off x="857707" y="9810598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476195"/>
            <a:ext cx="11144707" cy="59051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382805" y="2476195"/>
            <a:ext cx="5143500" cy="2857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382805" y="5524805"/>
            <a:ext cx="5143500" cy="2857500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667598"/>
            <a:ext cx="16668598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286207" cy="102870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7707" y="2476195"/>
            <a:ext cx="11144707" cy="571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e9c1d2ce095ae1e0d3fb9dc631114cde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12382805" y="2476195"/>
            <a:ext cx="761695" cy="38405"/>
          </a:xfrm>
          <a:prstGeom prst="rect">
            <a:avLst/>
          </a:prstGeom>
        </p:spPr>
      </p:pic>
      <p:pic>
        <p:nvPicPr>
          <p:cNvPr id="10" name="Image 2" descr="gen-dedup-ecca58457e82e7ff997648b7f1456ac4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2382805" y="5524805"/>
            <a:ext cx="57607" cy="28575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57707" y="666598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— CD Variation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1000354"/>
            <a:ext cx="1428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CD Variation 표 — 4 metric × 3 wafer</a:t>
            </a:r>
            <a:endParaRPr lang="en-US" sz="3450" dirty="0"/>
          </a:p>
        </p:txBody>
      </p:sp>
      <p:sp>
        <p:nvSpPr>
          <p:cNvPr id="13" name="Text 7"/>
          <p:cNvSpPr txBox="1"/>
          <p:nvPr/>
        </p:nvSpPr>
        <p:spPr>
          <a:xfrm>
            <a:off x="857707" y="1904695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49 pt 측정, Δ = 측정 mean − target. 모두 더미 nm 단위.</a:t>
            </a:r>
            <a:endParaRPr lang="en-US" sz="16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48102"/>
          <a:ext cx="10573207" cy="247802"/>
        </p:xfrm>
        <a:graphic>
          <a:graphicData uri="http://schemas.openxmlformats.org/drawingml/2006/table">
            <a:tbl>
              <a:tblPr/>
              <a:tblGrid>
                <a:gridCol w="1904695"/>
                <a:gridCol w="1238098"/>
                <a:gridCol w="857707"/>
                <a:gridCol w="1429207"/>
                <a:gridCol w="1333195"/>
                <a:gridCol w="1524305"/>
                <a:gridCol w="2286000"/>
              </a:tblGrid>
              <a:tr h="2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METRIC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TARGET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(mean − target)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143707"/>
          <a:ext cx="10573207" cy="6954012"/>
        </p:xfrm>
        <a:graphic>
          <a:graphicData uri="http://schemas.openxmlformats.org/drawingml/2006/table">
            <a:tbl>
              <a:tblPr/>
              <a:tblGrid>
                <a:gridCol w="5013655"/>
                <a:gridCol w="1059790"/>
                <a:gridCol w="746150"/>
                <a:gridCol w="1095451"/>
                <a:gridCol w="757123"/>
                <a:gridCol w="757123"/>
                <a:gridCol w="1143000"/>
              </a:tblGrid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ALD Si‑CD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−0.3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ALD Si‑CD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ALD Si‑CD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Line‑to‑line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−0.3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Line‑to‑line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−0.1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Line‑to‑line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+0.3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Metal line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−0.1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Metal line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Metal line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10.3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Post‑CMP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Post‑CMP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Post‑CMP CD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8"/>
          <p:cNvSpPr txBox="1"/>
          <p:nvPr/>
        </p:nvSpPr>
        <p:spPr>
          <a:xfrm>
            <a:off x="12668098" y="27624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350" dirty="0"/>
          </a:p>
        </p:txBody>
      </p:sp>
      <p:sp>
        <p:nvSpPr>
          <p:cNvPr id="17" name="Text 9"/>
          <p:cNvSpPr txBox="1"/>
          <p:nvPr/>
        </p:nvSpPr>
        <p:spPr>
          <a:xfrm>
            <a:off x="12668098" y="3066898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Wafer 별 비교</a:t>
            </a:r>
            <a:endParaRPr lang="en-US" sz="2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68098" y="3476549"/>
          <a:ext cx="4572000" cy="1200607"/>
        </p:xfrm>
        <a:graphic>
          <a:graphicData uri="http://schemas.openxmlformats.org/drawingml/2006/table">
            <a:tbl>
              <a:tblPr/>
              <a:tblGrid>
                <a:gridCol w="857536"/>
                <a:gridCol w="3714464"/>
              </a:tblGrid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V1, target 부근 평균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M2, 가장 안정적 3σ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LELE 블록 ref, Δ 우상향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0"/>
          <p:cNvSpPr txBox="1"/>
          <p:nvPr/>
        </p:nvSpPr>
        <p:spPr>
          <a:xfrm>
            <a:off x="12668098" y="5762549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OBSERVATIONS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12668098" y="6086246"/>
            <a:ext cx="4572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단계는 W3 에서 Δ +0.5 의 우상향, 후속 단계로 갈수록 AMI / ACI 의 W3 Δ 가 +0.5 ~ +0.6 까지 누적된다.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12668098" y="7162495"/>
            <a:ext cx="4572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SAB 적용 wafer(W1/W2) 는 Δ 가 ±0.3 이내에 머무르며, LELE reference wafer(W3) 가 일관되게 큰 편차를 보인다.</a:t>
            </a:r>
            <a:endParaRPr lang="en-US" sz="1650" dirty="0"/>
          </a:p>
        </p:txBody>
      </p:sp>
      <p:sp>
        <p:nvSpPr>
          <p:cNvPr id="22" name="Text 13"/>
          <p:cNvSpPr txBox="1"/>
          <p:nvPr/>
        </p:nvSpPr>
        <p:spPr>
          <a:xfrm>
            <a:off x="857707" y="8858707"/>
            <a:ext cx="173553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SAB 적용 wafer(W1·W2) 는 4 metric 모두 Δ ≤ ±0.3 nm 로 유지되며, W3 LELE reference 에서 Δ 가 +0.5 ~ +0.6 까지 누적되는 경향이 확인된다.</a:t>
            </a:r>
            <a:endParaRPr lang="en-US" sz="1650" dirty="0"/>
          </a:p>
        </p:txBody>
      </p:sp>
      <p:sp>
        <p:nvSpPr>
          <p:cNvPr id="23" name="Text 14"/>
          <p:cNvSpPr txBox="1"/>
          <p:nvPr/>
        </p:nvSpPr>
        <p:spPr>
          <a:xfrm>
            <a:off x="857707" y="9810598"/>
            <a:ext cx="16669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095805"/>
            <a:ext cx="3429000" cy="36191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0" y="2095805"/>
            <a:ext cx="3429000" cy="36191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87207" y="2095805"/>
            <a:ext cx="3429000" cy="361919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96598" y="2095805"/>
            <a:ext cx="5429707" cy="3619195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5905195"/>
            <a:ext cx="16668598" cy="2667305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9696298"/>
            <a:ext cx="16668598" cy="9144"/>
          </a:xfrm>
          <a:prstGeom prst="rect">
            <a:avLst/>
          </a:prstGeom>
        </p:spPr>
      </p:pic>
      <p:pic>
        <p:nvPicPr>
          <p:cNvPr id="9" name="Image 1" descr="gen-dedup-354beecedfb352ab0ce30b0ad7eb804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24305" y="2286000"/>
            <a:ext cx="2115007" cy="2115007"/>
          </a:xfrm>
          <a:prstGeom prst="rect">
            <a:avLst/>
          </a:prstGeom>
        </p:spPr>
      </p:pic>
      <p:pic>
        <p:nvPicPr>
          <p:cNvPr id="10" name="Image 2" descr="gen-dedup-354beecedfb352ab0ce30b0ad7eb804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38598" y="2286000"/>
            <a:ext cx="2115007" cy="2115007"/>
          </a:xfrm>
          <a:prstGeom prst="rect">
            <a:avLst/>
          </a:prstGeom>
        </p:spPr>
      </p:pic>
      <p:pic>
        <p:nvPicPr>
          <p:cNvPr id="11" name="Image 3" descr="gen-dedup-354beecedfb352ab0ce30b0ad7eb804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53805" y="2286000"/>
            <a:ext cx="2115007" cy="2115007"/>
          </a:xfrm>
          <a:prstGeom prst="rect">
            <a:avLst/>
          </a:prstGeom>
        </p:spPr>
      </p:pic>
      <p:pic>
        <p:nvPicPr>
          <p:cNvPr id="12" name="Image 4" descr="gen-dedup-e9c1d2ce095ae1e0d3fb9dc631114cde.png">    </p:cNvPr>
          <p:cNvPicPr>
            <a:picLocks noChangeAspect="1"/>
          </p:cNvPicPr>
          <p:nvPr/>
        </p:nvPicPr>
        <p:blipFill>
          <a:blip r:embed="rId5"/>
          <a:srcRect l="0" r="0" t="-420" b="-420"/>
          <a:stretch/>
        </p:blipFill>
        <p:spPr>
          <a:xfrm>
            <a:off x="12096598" y="2095805"/>
            <a:ext cx="761695" cy="38405"/>
          </a:xfrm>
          <a:prstGeom prst="rect">
            <a:avLst/>
          </a:prstGeom>
        </p:spPr>
      </p:pic>
      <p:pic>
        <p:nvPicPr>
          <p:cNvPr id="13" name="Image 5" descr="gen-dedup-2212580b6eb490ba13c419e10f4ef657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857707" y="5905195"/>
            <a:ext cx="16668598" cy="3840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4802307" y="286207"/>
            <a:ext cx="28575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0D8B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15000" dirty="0"/>
          </a:p>
        </p:txBody>
      </p:sp>
      <p:sp>
        <p:nvSpPr>
          <p:cNvPr id="15" name="Text 6"/>
          <p:cNvSpPr txBox="1"/>
          <p:nvPr/>
        </p:nvSpPr>
        <p:spPr>
          <a:xfrm>
            <a:off x="857707" y="76169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— 49 pt wafer map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857707" y="1143000"/>
            <a:ext cx="13335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49 pt wafer map — wafer 별 AASI Δ 시각화</a:t>
            </a:r>
            <a:endParaRPr lang="en-US" sz="3300" dirty="0"/>
          </a:p>
        </p:txBody>
      </p:sp>
      <p:sp>
        <p:nvSpPr>
          <p:cNvPr id="17" name="Text 8"/>
          <p:cNvSpPr txBox="1"/>
          <p:nvPr/>
        </p:nvSpPr>
        <p:spPr>
          <a:xfrm>
            <a:off x="857707" y="4572000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83" kern="0" dirty="0">
                <a:solidFill>
                  <a:srgbClr val="2E5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 · SAB / V1</a:t>
            </a:r>
            <a:endParaRPr lang="en-US" sz="1650" dirty="0"/>
          </a:p>
        </p:txBody>
      </p:sp>
      <p:sp>
        <p:nvSpPr>
          <p:cNvPr id="18" name="Text 9"/>
          <p:cNvSpPr txBox="1"/>
          <p:nvPr/>
        </p:nvSpPr>
        <p:spPr>
          <a:xfrm>
            <a:off x="857707" y="4934102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Δ 평균 −0.18 · 균일 분포</a:t>
            </a:r>
            <a:endParaRPr lang="en-US" sz="1350" dirty="0"/>
          </a:p>
        </p:txBody>
      </p:sp>
      <p:sp>
        <p:nvSpPr>
          <p:cNvPr id="19" name="Text 10"/>
          <p:cNvSpPr txBox="1"/>
          <p:nvPr/>
        </p:nvSpPr>
        <p:spPr>
          <a:xfrm>
            <a:off x="4572000" y="4572000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83" kern="0" dirty="0">
                <a:solidFill>
                  <a:srgbClr val="7A6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W2 · SAB / M2</a:t>
            </a:r>
            <a:endParaRPr lang="en-US" sz="1650" dirty="0"/>
          </a:p>
        </p:txBody>
      </p:sp>
      <p:sp>
        <p:nvSpPr>
          <p:cNvPr id="20" name="Text 11"/>
          <p:cNvSpPr txBox="1"/>
          <p:nvPr/>
        </p:nvSpPr>
        <p:spPr>
          <a:xfrm>
            <a:off x="4572000" y="4934102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Δ 평균 +0.06 · 가장 균일</a:t>
            </a:r>
            <a:endParaRPr lang="en-US" sz="1350" dirty="0"/>
          </a:p>
        </p:txBody>
      </p:sp>
      <p:sp>
        <p:nvSpPr>
          <p:cNvPr id="21" name="Text 12"/>
          <p:cNvSpPr txBox="1"/>
          <p:nvPr/>
        </p:nvSpPr>
        <p:spPr>
          <a:xfrm>
            <a:off x="8287207" y="4572000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83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W3 · LELE block</a:t>
            </a:r>
            <a:endParaRPr lang="en-US" sz="1650" dirty="0"/>
          </a:p>
        </p:txBody>
      </p:sp>
      <p:sp>
        <p:nvSpPr>
          <p:cNvPr id="22" name="Text 13"/>
          <p:cNvSpPr txBox="1"/>
          <p:nvPr/>
        </p:nvSpPr>
        <p:spPr>
          <a:xfrm>
            <a:off x="8287207" y="4934102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D35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Δ 평균 +0.42 · 가장 분산 큼</a:t>
            </a:r>
            <a:endParaRPr lang="en-US" sz="1350" dirty="0"/>
          </a:p>
        </p:txBody>
      </p:sp>
      <p:sp>
        <p:nvSpPr>
          <p:cNvPr id="23" name="Text 14"/>
          <p:cNvSpPr txBox="1"/>
          <p:nvPr/>
        </p:nvSpPr>
        <p:spPr>
          <a:xfrm>
            <a:off x="12430354" y="2428646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 SCALE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12430354" y="2734056"/>
            <a:ext cx="4953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Δ (mean − target)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30354" y="3238805"/>
          <a:ext cx="4953305" cy="1200607"/>
        </p:xfrm>
        <a:graphic>
          <a:graphicData uri="http://schemas.openxmlformats.org/drawingml/2006/table">
            <a:tbl>
              <a:tblPr/>
              <a:tblGrid>
                <a:gridCol w="209398"/>
                <a:gridCol w="3079699"/>
                <a:gridCol w="1663294"/>
              </a:tblGrid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within ±0.2 nm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in‑spec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±0.2 ~ ±0.5 nm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borderline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±0.5 nm 초과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16"/>
          <p:cNvSpPr txBox="1"/>
          <p:nvPr/>
        </p:nvSpPr>
        <p:spPr>
          <a:xfrm>
            <a:off x="1238098" y="6191402"/>
            <a:ext cx="1581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405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OBSERVATIONS</a:t>
            </a:r>
            <a:endParaRPr lang="en-US" sz="1350" dirty="0"/>
          </a:p>
        </p:txBody>
      </p:sp>
      <p:sp>
        <p:nvSpPr>
          <p:cNvPr id="27" name="Text 17"/>
          <p:cNvSpPr txBox="1"/>
          <p:nvPr/>
        </p:nvSpPr>
        <p:spPr>
          <a:xfrm>
            <a:off x="1238098" y="6495898"/>
            <a:ext cx="1581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시각 분포 — wafer 별 패턴 비교</a:t>
            </a:r>
            <a:endParaRPr lang="en-US" sz="2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6953098"/>
          <a:ext cx="7810805" cy="1410005"/>
        </p:xfrm>
        <a:graphic>
          <a:graphicData uri="http://schemas.openxmlformats.org/drawingml/2006/table">
            <a:tbl>
              <a:tblPr/>
              <a:tblGrid>
                <a:gridCol w="171907"/>
                <a:gridCol w="7638898"/>
              </a:tblGrid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· SAB / V1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50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site 대부분 in‑spec, 우하단에 5 site 가 borderline · out 분포.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 · SAB / M2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50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49 site 중 1 site 만 borderline — 가장 균일.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6953098"/>
          <a:ext cx="7620610" cy="1410005"/>
        </p:xfrm>
        <a:graphic>
          <a:graphicData uri="http://schemas.openxmlformats.org/drawingml/2006/table">
            <a:tbl>
              <a:tblPr/>
              <a:tblGrid>
                <a:gridCol w="171907"/>
                <a:gridCol w="7448702"/>
              </a:tblGrid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 · LELE block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50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 분포가 가장 두텁고, 링 형태 페일 영역이 wafer 가장자리에 집중.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공정 함의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50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경로가 wafer‑edge 균일도에서 명백한 우위를 보이며, LELE 은 cut 영역 균일도가 약점.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0" name="Text 18"/>
          <p:cNvSpPr txBox="1"/>
          <p:nvPr/>
        </p:nvSpPr>
        <p:spPr>
          <a:xfrm>
            <a:off x="857707" y="8810244"/>
            <a:ext cx="166695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W3 LELE wafer 에서 out 영역이 wafer—edge 에 집중되는 반면, SAB wafer(W1/W2) 는 edge 편차가 현저히 작다.</a:t>
            </a:r>
            <a:endParaRPr lang="en-US" sz="1650" dirty="0"/>
          </a:p>
        </p:txBody>
      </p:sp>
      <p:sp>
        <p:nvSpPr>
          <p:cNvPr id="31" name="Text 19"/>
          <p:cNvSpPr txBox="1"/>
          <p:nvPr/>
        </p:nvSpPr>
        <p:spPr>
          <a:xfrm>
            <a:off x="857707" y="9810598"/>
            <a:ext cx="16669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18571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2143354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24286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2714854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30001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3286354" y="2428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17145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20007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22860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25722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28575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3143707" y="2714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34290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16194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19046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21909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24761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27624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30476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3333902" y="3000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15718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18571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21433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24286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27148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30001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3286354" y="32863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16194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1904695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1909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2476195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27624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047695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3333902" y="3571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4"/>
          <p:cNvSpPr/>
          <p:nvPr/>
        </p:nvSpPr>
        <p:spPr>
          <a:xfrm>
            <a:off x="1714500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2000707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6"/>
          <p:cNvSpPr/>
          <p:nvPr/>
        </p:nvSpPr>
        <p:spPr>
          <a:xfrm>
            <a:off x="2286000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2572207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2857500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9"/>
          <p:cNvSpPr/>
          <p:nvPr/>
        </p:nvSpPr>
        <p:spPr>
          <a:xfrm>
            <a:off x="3143707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>
            <a:off x="3429000" y="3857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1857146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2143354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2428646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4"/>
          <p:cNvSpPr/>
          <p:nvPr/>
        </p:nvSpPr>
        <p:spPr>
          <a:xfrm>
            <a:off x="2714854" y="4143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65"/>
          <p:cNvSpPr/>
          <p:nvPr/>
        </p:nvSpPr>
        <p:spPr>
          <a:xfrm>
            <a:off x="3000146" y="4143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2505456" y="4334256"/>
            <a:ext cx="133502" cy="75895"/>
          </a:xfrm>
          <a:prstGeom prst="rect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7"/>
          <p:cNvSpPr/>
          <p:nvPr/>
        </p:nvSpPr>
        <p:spPr>
          <a:xfrm>
            <a:off x="5572354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68"/>
          <p:cNvSpPr/>
          <p:nvPr/>
        </p:nvSpPr>
        <p:spPr>
          <a:xfrm>
            <a:off x="58576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9"/>
          <p:cNvSpPr/>
          <p:nvPr/>
        </p:nvSpPr>
        <p:spPr>
          <a:xfrm>
            <a:off x="6143854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0"/>
          <p:cNvSpPr/>
          <p:nvPr/>
        </p:nvSpPr>
        <p:spPr>
          <a:xfrm>
            <a:off x="64291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6715354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2"/>
          <p:cNvSpPr/>
          <p:nvPr/>
        </p:nvSpPr>
        <p:spPr>
          <a:xfrm>
            <a:off x="7000646" y="2428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54297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57150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60012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76"/>
          <p:cNvSpPr/>
          <p:nvPr/>
        </p:nvSpPr>
        <p:spPr>
          <a:xfrm>
            <a:off x="62865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65727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8"/>
          <p:cNvSpPr/>
          <p:nvPr/>
        </p:nvSpPr>
        <p:spPr>
          <a:xfrm>
            <a:off x="6858000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7144207" y="2714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53336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1"/>
          <p:cNvSpPr/>
          <p:nvPr/>
        </p:nvSpPr>
        <p:spPr>
          <a:xfrm>
            <a:off x="56199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59051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3"/>
          <p:cNvSpPr/>
          <p:nvPr/>
        </p:nvSpPr>
        <p:spPr>
          <a:xfrm>
            <a:off x="61914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84"/>
          <p:cNvSpPr/>
          <p:nvPr/>
        </p:nvSpPr>
        <p:spPr>
          <a:xfrm>
            <a:off x="64766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67629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86"/>
          <p:cNvSpPr/>
          <p:nvPr/>
        </p:nvSpPr>
        <p:spPr>
          <a:xfrm>
            <a:off x="7048195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87"/>
          <p:cNvSpPr/>
          <p:nvPr/>
        </p:nvSpPr>
        <p:spPr>
          <a:xfrm>
            <a:off x="52861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88"/>
          <p:cNvSpPr/>
          <p:nvPr/>
        </p:nvSpPr>
        <p:spPr>
          <a:xfrm>
            <a:off x="55723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89"/>
          <p:cNvSpPr/>
          <p:nvPr/>
        </p:nvSpPr>
        <p:spPr>
          <a:xfrm>
            <a:off x="58576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0"/>
          <p:cNvSpPr/>
          <p:nvPr/>
        </p:nvSpPr>
        <p:spPr>
          <a:xfrm>
            <a:off x="61438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64291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6715354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7000646" y="32863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5333695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56199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5905195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6191402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98"/>
          <p:cNvSpPr/>
          <p:nvPr/>
        </p:nvSpPr>
        <p:spPr>
          <a:xfrm>
            <a:off x="6476695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99"/>
          <p:cNvSpPr/>
          <p:nvPr/>
        </p:nvSpPr>
        <p:spPr>
          <a:xfrm>
            <a:off x="67629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7048195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5429707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5715000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6001207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4"/>
          <p:cNvSpPr/>
          <p:nvPr/>
        </p:nvSpPr>
        <p:spPr>
          <a:xfrm>
            <a:off x="6286500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5"/>
          <p:cNvSpPr/>
          <p:nvPr/>
        </p:nvSpPr>
        <p:spPr>
          <a:xfrm>
            <a:off x="6572707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06"/>
          <p:cNvSpPr/>
          <p:nvPr/>
        </p:nvSpPr>
        <p:spPr>
          <a:xfrm>
            <a:off x="6858000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07"/>
          <p:cNvSpPr/>
          <p:nvPr/>
        </p:nvSpPr>
        <p:spPr>
          <a:xfrm>
            <a:off x="7144207" y="3857854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08"/>
          <p:cNvSpPr/>
          <p:nvPr/>
        </p:nvSpPr>
        <p:spPr>
          <a:xfrm>
            <a:off x="5572354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09"/>
          <p:cNvSpPr/>
          <p:nvPr/>
        </p:nvSpPr>
        <p:spPr>
          <a:xfrm>
            <a:off x="5857646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0"/>
          <p:cNvSpPr/>
          <p:nvPr/>
        </p:nvSpPr>
        <p:spPr>
          <a:xfrm>
            <a:off x="6143854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11"/>
          <p:cNvSpPr/>
          <p:nvPr/>
        </p:nvSpPr>
        <p:spPr>
          <a:xfrm>
            <a:off x="6429146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2"/>
          <p:cNvSpPr/>
          <p:nvPr/>
        </p:nvSpPr>
        <p:spPr>
          <a:xfrm>
            <a:off x="6715354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13"/>
          <p:cNvSpPr/>
          <p:nvPr/>
        </p:nvSpPr>
        <p:spPr>
          <a:xfrm>
            <a:off x="7000646" y="4143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14"/>
          <p:cNvSpPr/>
          <p:nvPr/>
        </p:nvSpPr>
        <p:spPr>
          <a:xfrm>
            <a:off x="6219749" y="4334256"/>
            <a:ext cx="133502" cy="75895"/>
          </a:xfrm>
          <a:prstGeom prst="rect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15"/>
          <p:cNvSpPr/>
          <p:nvPr/>
        </p:nvSpPr>
        <p:spPr>
          <a:xfrm>
            <a:off x="9239098" y="2428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6"/>
          <p:cNvSpPr/>
          <p:nvPr/>
        </p:nvSpPr>
        <p:spPr>
          <a:xfrm>
            <a:off x="9525305" y="2428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17"/>
          <p:cNvSpPr/>
          <p:nvPr/>
        </p:nvSpPr>
        <p:spPr>
          <a:xfrm>
            <a:off x="9810598" y="2428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8"/>
          <p:cNvSpPr/>
          <p:nvPr/>
        </p:nvSpPr>
        <p:spPr>
          <a:xfrm>
            <a:off x="10096805" y="2428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19"/>
          <p:cNvSpPr/>
          <p:nvPr/>
        </p:nvSpPr>
        <p:spPr>
          <a:xfrm>
            <a:off x="10382098" y="2428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0"/>
          <p:cNvSpPr/>
          <p:nvPr/>
        </p:nvSpPr>
        <p:spPr>
          <a:xfrm>
            <a:off x="9144000" y="2714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1"/>
          <p:cNvSpPr/>
          <p:nvPr/>
        </p:nvSpPr>
        <p:spPr>
          <a:xfrm>
            <a:off x="9430207" y="2714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22"/>
          <p:cNvSpPr/>
          <p:nvPr/>
        </p:nvSpPr>
        <p:spPr>
          <a:xfrm>
            <a:off x="9715500" y="2714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23"/>
          <p:cNvSpPr/>
          <p:nvPr/>
        </p:nvSpPr>
        <p:spPr>
          <a:xfrm>
            <a:off x="10001707" y="2714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24"/>
          <p:cNvSpPr/>
          <p:nvPr/>
        </p:nvSpPr>
        <p:spPr>
          <a:xfrm>
            <a:off x="10287000" y="2714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25"/>
          <p:cNvSpPr/>
          <p:nvPr/>
        </p:nvSpPr>
        <p:spPr>
          <a:xfrm>
            <a:off x="10573207" y="2714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26"/>
          <p:cNvSpPr/>
          <p:nvPr/>
        </p:nvSpPr>
        <p:spPr>
          <a:xfrm>
            <a:off x="10858500" y="2714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27"/>
          <p:cNvSpPr/>
          <p:nvPr/>
        </p:nvSpPr>
        <p:spPr>
          <a:xfrm>
            <a:off x="9048902" y="30001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28"/>
          <p:cNvSpPr/>
          <p:nvPr/>
        </p:nvSpPr>
        <p:spPr>
          <a:xfrm>
            <a:off x="9334195" y="3000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29"/>
          <p:cNvSpPr/>
          <p:nvPr/>
        </p:nvSpPr>
        <p:spPr>
          <a:xfrm>
            <a:off x="9620402" y="3000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30"/>
          <p:cNvSpPr/>
          <p:nvPr/>
        </p:nvSpPr>
        <p:spPr>
          <a:xfrm>
            <a:off x="9905695" y="3000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1"/>
          <p:cNvSpPr/>
          <p:nvPr/>
        </p:nvSpPr>
        <p:spPr>
          <a:xfrm>
            <a:off x="10191902" y="3000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32"/>
          <p:cNvSpPr/>
          <p:nvPr/>
        </p:nvSpPr>
        <p:spPr>
          <a:xfrm>
            <a:off x="10477195" y="3000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33"/>
          <p:cNvSpPr/>
          <p:nvPr/>
        </p:nvSpPr>
        <p:spPr>
          <a:xfrm>
            <a:off x="10763402" y="3000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34"/>
          <p:cNvSpPr/>
          <p:nvPr/>
        </p:nvSpPr>
        <p:spPr>
          <a:xfrm>
            <a:off x="9001354" y="32863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35"/>
          <p:cNvSpPr/>
          <p:nvPr/>
        </p:nvSpPr>
        <p:spPr>
          <a:xfrm>
            <a:off x="9286646" y="32863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36"/>
          <p:cNvSpPr/>
          <p:nvPr/>
        </p:nvSpPr>
        <p:spPr>
          <a:xfrm>
            <a:off x="9572854" y="32863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37"/>
          <p:cNvSpPr/>
          <p:nvPr/>
        </p:nvSpPr>
        <p:spPr>
          <a:xfrm>
            <a:off x="9858146" y="32863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38"/>
          <p:cNvSpPr/>
          <p:nvPr/>
        </p:nvSpPr>
        <p:spPr>
          <a:xfrm>
            <a:off x="10144354" y="32863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39"/>
          <p:cNvSpPr/>
          <p:nvPr/>
        </p:nvSpPr>
        <p:spPr>
          <a:xfrm>
            <a:off x="10429646" y="32863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40"/>
          <p:cNvSpPr/>
          <p:nvPr/>
        </p:nvSpPr>
        <p:spPr>
          <a:xfrm>
            <a:off x="10715854" y="32863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41"/>
          <p:cNvSpPr/>
          <p:nvPr/>
        </p:nvSpPr>
        <p:spPr>
          <a:xfrm>
            <a:off x="9048902" y="3571646"/>
            <a:ext cx="114300" cy="114300"/>
          </a:xfrm>
          <a:prstGeom prst="ellipse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42"/>
          <p:cNvSpPr/>
          <p:nvPr/>
        </p:nvSpPr>
        <p:spPr>
          <a:xfrm>
            <a:off x="9334195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43"/>
          <p:cNvSpPr/>
          <p:nvPr/>
        </p:nvSpPr>
        <p:spPr>
          <a:xfrm>
            <a:off x="9620402" y="3571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44"/>
          <p:cNvSpPr/>
          <p:nvPr/>
        </p:nvSpPr>
        <p:spPr>
          <a:xfrm>
            <a:off x="9905695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45"/>
          <p:cNvSpPr/>
          <p:nvPr/>
        </p:nvSpPr>
        <p:spPr>
          <a:xfrm>
            <a:off x="10191902" y="3571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46"/>
          <p:cNvSpPr/>
          <p:nvPr/>
        </p:nvSpPr>
        <p:spPr>
          <a:xfrm>
            <a:off x="10477195" y="35716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47"/>
          <p:cNvSpPr/>
          <p:nvPr/>
        </p:nvSpPr>
        <p:spPr>
          <a:xfrm>
            <a:off x="10763402" y="35716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48"/>
          <p:cNvSpPr/>
          <p:nvPr/>
        </p:nvSpPr>
        <p:spPr>
          <a:xfrm>
            <a:off x="9144000" y="3857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49"/>
          <p:cNvSpPr/>
          <p:nvPr/>
        </p:nvSpPr>
        <p:spPr>
          <a:xfrm>
            <a:off x="9430207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50"/>
          <p:cNvSpPr/>
          <p:nvPr/>
        </p:nvSpPr>
        <p:spPr>
          <a:xfrm>
            <a:off x="9715500" y="3857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51"/>
          <p:cNvSpPr/>
          <p:nvPr/>
        </p:nvSpPr>
        <p:spPr>
          <a:xfrm>
            <a:off x="10001707" y="3857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52"/>
          <p:cNvSpPr/>
          <p:nvPr/>
        </p:nvSpPr>
        <p:spPr>
          <a:xfrm>
            <a:off x="10287000" y="3857854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53"/>
          <p:cNvSpPr/>
          <p:nvPr/>
        </p:nvSpPr>
        <p:spPr>
          <a:xfrm>
            <a:off x="10573207" y="3857854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54"/>
          <p:cNvSpPr/>
          <p:nvPr/>
        </p:nvSpPr>
        <p:spPr>
          <a:xfrm>
            <a:off x="9286646" y="4143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55"/>
          <p:cNvSpPr/>
          <p:nvPr/>
        </p:nvSpPr>
        <p:spPr>
          <a:xfrm>
            <a:off x="9572854" y="4143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56"/>
          <p:cNvSpPr/>
          <p:nvPr/>
        </p:nvSpPr>
        <p:spPr>
          <a:xfrm>
            <a:off x="9858146" y="4143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57"/>
          <p:cNvSpPr/>
          <p:nvPr/>
        </p:nvSpPr>
        <p:spPr>
          <a:xfrm>
            <a:off x="10144354" y="4143146"/>
            <a:ext cx="114300" cy="114300"/>
          </a:xfrm>
          <a:prstGeom prst="ellipse">
            <a:avLst/>
          </a:prstGeom>
          <a:solidFill>
            <a:srgbClr val="A855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58"/>
          <p:cNvSpPr/>
          <p:nvPr/>
        </p:nvSpPr>
        <p:spPr>
          <a:xfrm>
            <a:off x="10429646" y="4143146"/>
            <a:ext cx="114300" cy="1143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59"/>
          <p:cNvSpPr/>
          <p:nvPr/>
        </p:nvSpPr>
        <p:spPr>
          <a:xfrm>
            <a:off x="9934956" y="4334256"/>
            <a:ext cx="133502" cy="75895"/>
          </a:xfrm>
          <a:prstGeom prst="rect">
            <a:avLst/>
          </a:prstGeom>
          <a:solidFill>
            <a:srgbClr val="BFB39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476195"/>
            <a:ext cx="11144707" cy="6286500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382805" y="2476195"/>
            <a:ext cx="5143500" cy="6286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906256"/>
            <a:ext cx="16668598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7707" y="2476195"/>
            <a:ext cx="11144707" cy="571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e9c1d2ce095ae1e0d3fb9dc631114cde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12382805" y="2476195"/>
            <a:ext cx="761695" cy="38405"/>
          </a:xfrm>
          <a:prstGeom prst="rect">
            <a:avLst/>
          </a:prstGeom>
        </p:spPr>
      </p:pic>
      <p:pic>
        <p:nvPicPr>
          <p:cNvPr id="8" name="Image 2" descr="gen-dedup-9cf84a3ddfa35b66ce9729e398fce8a0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2668098" y="5143500"/>
            <a:ext cx="4572000" cy="9144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57707" y="761695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— In‑wafer Uniformity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857707" y="1123798"/>
            <a:ext cx="1428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In‑wafer 균일도 — NU% / pass rate</a:t>
            </a:r>
            <a:endParaRPr lang="en-US" sz="345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1904695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NU% = 3σ / mean × 100 · pass = 49 pt 모두 |Δ| ≤ 0.5 nm 충족</a:t>
            </a:r>
            <a:endParaRPr lang="en-US" sz="1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2667305"/>
          <a:ext cx="10383012" cy="247802"/>
        </p:xfrm>
        <a:graphic>
          <a:graphicData uri="http://schemas.openxmlformats.org/drawingml/2006/table">
            <a:tbl>
              <a:tblPr/>
              <a:tblGrid>
                <a:gridCol w="889711"/>
                <a:gridCol w="1977847"/>
                <a:gridCol w="1779422"/>
                <a:gridCol w="1779422"/>
                <a:gridCol w="1977847"/>
                <a:gridCol w="1977847"/>
              </a:tblGrid>
              <a:tr h="2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METRIC · TARGET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NU%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PASS / 49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3143707"/>
          <a:ext cx="10383012" cy="5982005"/>
        </p:xfrm>
        <a:graphic>
          <a:graphicData uri="http://schemas.openxmlformats.org/drawingml/2006/table">
            <a:tbl>
              <a:tblPr/>
              <a:tblGrid>
                <a:gridCol w="2617013"/>
                <a:gridCol w="2620670"/>
                <a:gridCol w="838505"/>
                <a:gridCol w="1439266"/>
                <a:gridCol w="1439266"/>
                <a:gridCol w="1427378"/>
              </a:tblGrid>
              <a:tr h="49850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W1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66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V1</a:t>
                      </a:r>
                      <a:endParaRPr lang="en-US" sz="1200" dirty="0"/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25.7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25.4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6.30 %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17.1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6.55 %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9.8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7.22 %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46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8.0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6.25 %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50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47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W2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66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M2</a:t>
                      </a:r>
                      <a:endParaRPr lang="en-US" sz="1200" dirty="0"/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25.7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5.43 %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17.1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5.29 %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9.8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6.06 %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8.0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4.88 %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A6F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W3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0766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LELE block</a:t>
                      </a:r>
                      <a:endParaRPr lang="en-US" sz="1200" dirty="0"/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AASI · 25.7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8.02 %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ASEI · 17.1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17.4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8.62 %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39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AMI · 9.8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9.71 %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ACI · 8.0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9.30 %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 / 49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6"/>
          <p:cNvSpPr txBox="1"/>
          <p:nvPr/>
        </p:nvSpPr>
        <p:spPr>
          <a:xfrm>
            <a:off x="12668098" y="28099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UNIFORMITY SUMMARY</a:t>
            </a:r>
            <a:endParaRPr lang="en-US" sz="1350" dirty="0"/>
          </a:p>
        </p:txBody>
      </p:sp>
      <p:sp>
        <p:nvSpPr>
          <p:cNvPr id="15" name="Text 7"/>
          <p:cNvSpPr txBox="1"/>
          <p:nvPr/>
        </p:nvSpPr>
        <p:spPr>
          <a:xfrm>
            <a:off x="12668098" y="3114446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NU% 비교</a:t>
            </a:r>
            <a:endParaRPr lang="en-US" sz="2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68098" y="3619195"/>
          <a:ext cx="4572000" cy="1314907"/>
        </p:xfrm>
        <a:graphic>
          <a:graphicData uri="http://schemas.openxmlformats.org/drawingml/2006/table">
            <a:tbl>
              <a:tblPr/>
              <a:tblGrid>
                <a:gridCol w="857707"/>
                <a:gridCol w="2289658"/>
                <a:gridCol w="1424635"/>
              </a:tblGrid>
              <a:tr h="43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NU% 6.2 ~ 7.2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V1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NU% 4.9 ~ 6.1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SAB · M2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NU% 8.0 ~ 9.7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BFB39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LELE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8"/>
          <p:cNvSpPr txBox="1"/>
          <p:nvPr/>
        </p:nvSpPr>
        <p:spPr>
          <a:xfrm>
            <a:off x="12668098" y="5381244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RATE AVG</a:t>
            </a:r>
            <a:endParaRPr lang="en-US" sz="135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68098" y="5762549"/>
          <a:ext cx="4572000" cy="1286561"/>
        </p:xfrm>
        <a:graphic>
          <a:graphicData uri="http://schemas.openxmlformats.org/drawingml/2006/table">
            <a:tbl>
              <a:tblPr/>
              <a:tblGrid>
                <a:gridCol w="1420978"/>
                <a:gridCol w="3151022"/>
              </a:tblGrid>
              <a:tr h="4288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91.8 %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8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99.0 %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8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75.0 %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9"/>
          <p:cNvSpPr txBox="1"/>
          <p:nvPr/>
        </p:nvSpPr>
        <p:spPr>
          <a:xfrm>
            <a:off x="857707" y="9077249"/>
            <a:ext cx="16783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W2 (SAB · M2) 가 모든 metric 에서 NU% ≤ 6.1 %, pass rate 99 % 로 가장 우수하고 W3 LELE 은 NU% 8 ~ 9.7 % · pass 75 % 로 균일도가 약점이다.</a:t>
            </a:r>
            <a:endParaRPr lang="en-US" sz="1650" dirty="0"/>
          </a:p>
        </p:txBody>
      </p:sp>
      <p:sp>
        <p:nvSpPr>
          <p:cNvPr id="20" name="Text 10"/>
          <p:cNvSpPr txBox="1"/>
          <p:nvPr/>
        </p:nvSpPr>
        <p:spPr>
          <a:xfrm>
            <a:off x="857707" y="9810598"/>
            <a:ext cx="16669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476195"/>
            <a:ext cx="11144707" cy="5715000"/>
          </a:xfrm>
          <a:prstGeom prst="rect">
            <a:avLst/>
          </a:prstGeom>
          <a:solidFill>
            <a:srgbClr val="F5EF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382805" y="2476195"/>
            <a:ext cx="5143500" cy="57150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023f2b15a396c78a69228a07b194b805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8667598"/>
            <a:ext cx="16668598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7707" y="2476195"/>
            <a:ext cx="11144707" cy="571500"/>
          </a:xfrm>
          <a:prstGeom prst="rect">
            <a:avLst/>
          </a:prstGeom>
          <a:solidFill>
            <a:srgbClr val="1F1B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e9c1d2ce095ae1e0d3fb9dc631114cde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12382805" y="2476195"/>
            <a:ext cx="761695" cy="38405"/>
          </a:xfrm>
          <a:prstGeom prst="rect">
            <a:avLst/>
          </a:prstGeom>
        </p:spPr>
      </p:pic>
      <p:pic>
        <p:nvPicPr>
          <p:cNvPr id="8" name="Image 2" descr="gen-dedup-9cf84a3ddfa35b66ce9729e398fce8a0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2668098" y="6667805"/>
            <a:ext cx="4572000" cy="9144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57707" y="761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80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— 전기 특성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857707" y="1123798"/>
            <a:ext cx="1428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F1B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전기 특성 평가 — Rs · Rc · 누설 · Vbd · 수율</a:t>
            </a:r>
            <a:endParaRPr lang="en-US" sz="3450" dirty="0"/>
          </a:p>
        </p:txBody>
      </p:sp>
      <p:sp>
        <p:nvSpPr>
          <p:cNvPr id="11" name="Text 5"/>
          <p:cNvSpPr txBox="1"/>
          <p:nvPr/>
        </p:nvSpPr>
        <p:spPr>
          <a:xfrm>
            <a:off x="14668805" y="286207"/>
            <a:ext cx="28575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E0D8B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1500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1904695"/>
            <a:ext cx="1428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 site 평균 · RT 측정 · dummy 데이터, 도식 없이 숫자만 기재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2667305"/>
          <a:ext cx="10383012" cy="247802"/>
        </p:xfrm>
        <a:graphic>
          <a:graphicData uri="http://schemas.openxmlformats.org/drawingml/2006/table">
            <a:tbl>
              <a:tblPr/>
              <a:tblGrid>
                <a:gridCol w="3392424"/>
                <a:gridCol w="1619402"/>
                <a:gridCol w="1784909"/>
                <a:gridCol w="1784909"/>
                <a:gridCol w="1800454"/>
              </a:tblGrid>
              <a:tr h="2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METRIC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UNIT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· SAB / V1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 · SAB / M2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 · LELE block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098" y="3143707"/>
          <a:ext cx="10383012" cy="4638751"/>
        </p:xfrm>
        <a:graphic>
          <a:graphicData uri="http://schemas.openxmlformats.org/drawingml/2006/table">
            <a:tbl>
              <a:tblPr/>
              <a:tblGrid>
                <a:gridCol w="4908499"/>
                <a:gridCol w="1702613"/>
                <a:gridCol w="1257300"/>
                <a:gridCol w="1257300"/>
                <a:gridCol w="1257300"/>
              </a:tblGrid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Line Rs @ RT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Ω / sq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142.4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138.7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156.9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Line Rs 3σ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Ω / sq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Via Rc (mean)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Ω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23.5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Via Rc 3σ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Ω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1.9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Leakage @ 1 V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nA / μm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0.18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Vbd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Via chain yield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99.1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98.6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93.4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8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F1B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Line yield (L &gt; 5 μm)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99.2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3D35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98.7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A8553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94.5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0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7"/>
          <p:cNvSpPr txBox="1"/>
          <p:nvPr/>
        </p:nvSpPr>
        <p:spPr>
          <a:xfrm>
            <a:off x="12668098" y="28099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C9A9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</a:t>
            </a:r>
            <a:endParaRPr lang="en-US" sz="1350" dirty="0"/>
          </a:p>
        </p:txBody>
      </p:sp>
      <p:sp>
        <p:nvSpPr>
          <p:cNvPr id="16" name="Text 8"/>
          <p:cNvSpPr txBox="1"/>
          <p:nvPr/>
        </p:nvSpPr>
        <p:spPr>
          <a:xfrm>
            <a:off x="12668098" y="3114446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전기적 함의</a:t>
            </a:r>
            <a:endParaRPr lang="en-US" sz="21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68098" y="3619195"/>
          <a:ext cx="4572000" cy="2153412"/>
        </p:xfrm>
        <a:graphic>
          <a:graphicData uri="http://schemas.openxmlformats.org/drawingml/2006/table">
            <a:tbl>
              <a:tblPr/>
              <a:tblGrid>
                <a:gridCol w="171873"/>
                <a:gridCol w="4400127"/>
              </a:tblGrid>
              <a:tr h="5383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W1 균형 — SAB V1 안정, Rc·leakage 모두 spec 내.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W2 가장 낮은 Rs·Rc 평균, M2 분산은 SAB 의 강점 부각.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W3 누설·Vbd·수율 모두 열위, LELE reference 의 약점 표면화.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5EFD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Out-of-spec 값(빨강) 이 W3 에 집중 — SAB 가 전기 손실도 누그러뜨림.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9"/>
          <p:cNvSpPr txBox="1"/>
          <p:nvPr/>
        </p:nvSpPr>
        <p:spPr>
          <a:xfrm>
            <a:off x="12668098" y="68580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</a:t>
            </a:r>
            <a:endParaRPr lang="en-US" sz="1350" dirty="0"/>
          </a:p>
        </p:txBody>
      </p:sp>
      <p:sp>
        <p:nvSpPr>
          <p:cNvPr id="19" name="Text 10"/>
          <p:cNvSpPr txBox="1"/>
          <p:nvPr/>
        </p:nvSpPr>
        <p:spPr>
          <a:xfrm>
            <a:off x="12668098" y="7162495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5EF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QA 시스템과 동일한 unit 표기로 정리했으며, 절대값은 dummy 이므로 직접 인용 금지.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857707" y="8858707"/>
            <a:ext cx="173553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855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 · </a:t>
            </a:r>
            <a:pPr algn="l" indent="0" marL="0">
              <a:buNone/>
            </a:pPr>
            <a:r>
              <a:rPr lang="en-US" sz="1650" dirty="0">
                <a:solidFill>
                  <a:srgbClr val="1F1B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W2 SAB·M2 가 최저 Rs·Rc 와 균일한 Vbd 를 보이며 W3 LELE 은 Rs 3σ, 누설, Vbd, 수율 모두에서 일관되게 약점 — SAB 가 전기 손실까지 구조적으로 유리하다.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857707" y="9810598"/>
            <a:ext cx="16669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76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2026-10-04T07:30:00Z</dcterms:created>
  <dcterms:modified xsi:type="dcterms:W3CDTF">2026-10-04T07:30:00Z</dcterms:modified>
</cp:coreProperties>
</file>