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0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비아 챔퍼" id="{127c6eda-5609-d1b6-5764-bc627a65dd85}">
          <p14:sldIdLst>
            <p14:sldId id="256"/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상대 Recess</c:v>
                </c:pt>
              </c:strCache>
            </c:strRef>
          </c:tx>
          <c:spPr>
            <a:solidFill>
              <a:srgbClr val="FF6B6B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6B6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8E7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B8A9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초기 (WAT 통과)</c:v>
                  </c:pt>
                  <c:pt idx="1">
                    <c:v>스트레스 후 (하한)</c:v>
                  </c:pt>
                  <c:pt idx="2">
                    <c:v>스트레스 후 (상한)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1A1A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5E7EB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1A1A2E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SP-VIA · 기전 · 평가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비아 챔퍼 붕괴 · 기전 스텝와 검증 방법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7985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기전</a:t>
            </a:r>
            <a:endParaRPr lang="en-US" sz="13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91056"/>
          <a:ext cx="7985455" cy="914400"/>
        </p:xfrm>
        <a:graphic>
          <a:graphicData uri="http://schemas.openxmlformats.org/drawingml/2006/table">
            <a:tbl>
              <a:tblPr/>
              <a:tblGrid>
                <a:gridCol w="1597457"/>
                <a:gridCol w="3193999"/>
                <a:gridCol w="3193999"/>
              </a:tblGrid>
              <a:tr h="3368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단계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현상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결과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368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VFTL 흐름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M1까지 비아 선식각 → 재포토 → 트렌치 식각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비아 상단 모서리 장시간 플라즈마 노출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68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ARDE 극복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입사 에너지·과식각 시간 증가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BARC 희생층에도 모서리 집중 식각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68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각도 분산·시스 스퍼터링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최상단 모서리 집중 타격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챔퍼 무너짐 (Shoulder Loss), V자형·나팔형 프로파일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68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PVD TaN/Ta + Cu 시드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직진성 → 무너진 모서리에 두껍게 누적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오버행(Overhang), 입구 축소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68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ECP Cu 충진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입구 선폐쇄 (Top pinch-off)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비아 하단·경계 Void → 비아 R↑, Open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68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배리어 측벽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Zero Step Coverage 영역 발생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Cu → Low-k 침투 방어선 단절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4177284"/>
            <a:ext cx="7985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평가</a:t>
            </a:r>
            <a:endParaRPr lang="en-US" sz="13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488180"/>
          <a:ext cx="7985455" cy="914400"/>
        </p:xfrm>
        <a:graphic>
          <a:graphicData uri="http://schemas.openxmlformats.org/drawingml/2006/table">
            <a:tbl>
              <a:tblPr/>
              <a:tblGrid>
                <a:gridCol w="1189634"/>
                <a:gridCol w="2718511"/>
                <a:gridCol w="4077310"/>
              </a:tblGrid>
              <a:tr h="3368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구분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방법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측정·판독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368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물리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단계별 TEM + EDX 매핑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비아 프로파일, 모서리 Ta 두께, 바닥 Cu Recess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68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물리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과도 플라즈마 파워 조건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비아 바닥·챔퍼 Cu 산화·유실, TaN 단절 관찰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68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신뢰성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HTOL / 고전류 EM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WAT 통과 칩도 수십 h 후 Recess 2–3배 → 급격 고장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68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신뢰성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TDDB (E / E² 모델)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챔퍼 경유 Cu⁺ 드리프트 → 트랩 포화 → 단락 경로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9" name="Image 0" descr="/tmp/claude-0/-home-claude/e70767da-955c-5cc3-beb4-741bbeefa4c6/scratchpad/img/trench_liner_te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4609" y="1280160"/>
            <a:ext cx="2382253" cy="219456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8716975" y="352044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트렌치 라이너 측벽·바닥 커버리지 TEM — 유사 구조 참고, CC BY ELECTRONICS 2019</a:t>
            </a:r>
            <a:endParaRPr lang="en-US" sz="800" dirty="0"/>
          </a:p>
        </p:txBody>
      </p:sp>
      <p:sp>
        <p:nvSpPr>
          <p:cNvPr id="11" name="Text 6"/>
          <p:cNvSpPr txBox="1"/>
          <p:nvPr/>
        </p:nvSpPr>
        <p:spPr>
          <a:xfrm>
            <a:off x="8716975" y="387705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포인트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8716975" y="4242816"/>
            <a:ext cx="30175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침투한 Cu⁺는 수분(Si-OH)과 반응해 Low-k 내부 전하 트랩을 포화시키고 절연막을 단숨에 관통.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전기장이 활성화 에너지를 낮춘다는 E-Model / E²-Model로 해석.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구조적 무너짐 → 확산 방어선 파괴 + 유전막 화학적 취약성 극대화 → 전기적 수명 근본 박탈.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8716975" y="5303520"/>
            <a:ext cx="3017520" cy="0"/>
          </a:xfrm>
          <a:prstGeom prst="line">
            <a:avLst/>
          </a:prstGeom>
          <a:noFill/>
          <a:ln w="9525">
            <a:solidFill>
              <a:srgbClr val="FF6B6B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8716975" y="5376672"/>
            <a:ext cx="30175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판정  </a:t>
            </a:r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챔퍼 붕괴는 Void(Open)와 배리어 단절(TDDB) 두 경로로 동시에 수명을 깎는 도미노 기전.</a:t>
            </a:r>
            <a:endParaRPr lang="en-US" sz="1000" dirty="0"/>
          </a:p>
        </p:txBody>
      </p:sp>
      <p:sp>
        <p:nvSpPr>
          <p:cNvPr id="15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SP-VIA · RECESS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열·전기 응력 후 Cu Recess 2–3배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457200" y="1280160"/>
          <a:ext cx="548640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585216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RECESS 상대 깊이 — 수십 H 열·전기 응력 후 2–3배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1280160"/>
            <a:ext cx="5425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판독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309360" y="1609344"/>
            <a:ext cx="5425135" cy="4562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초기 WAT 통과 ≠ 신뢰성 통과 — 수십 h 후 급격 고장.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플라즈마 파워 과다 시 비아 바닥·챔퍼 Cu 산화·유실, TaN 단절.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ALD Ru 라이너로 오버행·핀치오프 확률 저감 (복구 기술 참조).</a:t>
            </a:r>
            <a:endParaRPr lang="en-US" sz="1050" dirty="0"/>
          </a:p>
        </p:txBody>
      </p:sp>
      <p:sp>
        <p:nvSpPr>
          <p:cNvPr id="9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rquoise DS coral">
  <a:themeElements>
    <a:clrScheme name="Turquoise DS coral">
      <a:dk1>
        <a:srgbClr val="1A1A2E"/>
      </a:dk1>
      <a:lt1>
        <a:srgbClr val="FFFFFF"/>
      </a:lt1>
      <a:dk2>
        <a:srgbClr val="16213E"/>
      </a:dk2>
      <a:lt2>
        <a:srgbClr val="F5F5F5"/>
      </a:lt2>
      <a:accent1>
        <a:srgbClr val="FF6B6B"/>
      </a:accent1>
      <a:accent2>
        <a:srgbClr val="FF8E72"/>
      </a:accent2>
      <a:accent3>
        <a:srgbClr val="00B8A9"/>
      </a:accent3>
      <a:accent4>
        <a:srgbClr val="FF8E72"/>
      </a:accent4>
      <a:accent5>
        <a:srgbClr val="008B7C"/>
      </a:accent5>
      <a:accent6>
        <a:srgbClr val="0085B6"/>
      </a:accent6>
      <a:hlink>
        <a:srgbClr val="0085B6"/>
      </a:hlink>
      <a:folHlink>
        <a:srgbClr val="006B5E"/>
      </a:folHlink>
    </a:clrScheme>
    <a:fontScheme name="Turquoise DS coral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V1 Profile Step Coverage Check</dc:title>
  <dc:subject>PptxGenJS Presentation</dc:subject>
  <dc:creator>공정 AI팀</dc:creator>
  <cp:lastModifiedBy>공정 AI팀</cp:lastModifiedBy>
  <cp:revision>1</cp:revision>
  <dcterms:created xsi:type="dcterms:W3CDTF">2026-10-03T16:48:15Z</dcterms:created>
  <dcterms:modified xsi:type="dcterms:W3CDTF">2026-10-03T16:48:15Z</dcterms:modified>
</cp:coreProperties>
</file>