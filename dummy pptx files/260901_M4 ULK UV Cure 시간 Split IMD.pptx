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평가는 M4층 ULK IMD 공정의 UV cure 시간 변화가 CD 균일도, 전기/신뢰도, 기계 강도에 미치는 영향을 동시에 확인하기 위한 내부 dummy 평가다. 동일 lot에서 분기된 3매 wafer에 UV cure 시간을 180/240/300초로 split 한다. Baseline은 240초로 고정하고, 180초 / 300초 영역의 거동을 비교한다. 본 평가는 동일 실험군 내에서 split 만 달리한 보고서 파일 시리즈(파일 16/20 시리즈)와 연계된다. 평가 결과는 모두 dummy data이며, 실제 양산 baseline 또는 타 공정의 spec과 직접 매핑되지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평가는 UV cure 시간을 180/240/300초로 구분한 3-spllit 실험이다. Split B(W42, 240초)를 본 평가의 baseline으로 두고, Split A(W41, 180초)는 under-cure 영역, Split C(W43, 300초)는 over-cure 영역을 대표한다. IMD, hard mask, metallization 공정은 모두 동일 POR recipe로 고정하고 UV cure 단계 시간만 변경한다. 동일 wafer lot에서 분기된 3 wafer를 사용했고, 측정 site는 중심부 dummy 패턴 군집 내부에서 49pt로 정의한다. 본 평가 데이터는 dummy data이며, 다른 split 실험 파일과 직접 비교·연계될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평가는 LOT-M4-A18 단일 lot에서 분기된 3매 wafer로 진행된다. layer는 M4 한정, mask rev-D dummy pattern 군집 내부에서 49 site 좌표를 정의한다. 측정 행렬은 SEM/TEM 단면, 4종 CD-SEM, 49pt in-wafer map, Line/Via Rs, EM, TDDB Weibull, CMP dishing/erosion 까지 9개 카테고리로 구성되며 모두 동일 recipe · 동일 site 셋업에서 측정한다. Split B(W42)는 baseline 표시이고, 다른 두 split은 동일한 wafer management 포인트를 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M4 단면 SEM 참고 이미지다. 본 평가는 dummy 평가로서 이미지 자체는 공개 자료(Springer Nature의 BEOL chapter)에서 가져온 구조 참고 그림이며, 본 평가의 측정값이나 결론과 직접 매핑되지 않는다. 본 평가의 wafer 단면은 동일 lot·동일 좌표·동일 recipe에서 별도로 채취되었음을 메모에서 명시한다. Split A/C의 단면 차이는 후속 CD variation slide에서 정량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슬라이드는 M3 → M4 via chain TEM 참고 이미지다. 본 평가는 dummy 평가이며, 이미지는 공개 자료(3D InCites)의 BEOL copper dual damascene 참고 figure다. 본 슬라이드의 측벽·바닥·ULK 손상층·trench 손상층·cap/ES 다섯 항목은 wafer 별 단면 차이를 후속 정량 분석할 때 사용하는 annotation 참고점이다. FIB lift-out은 동일 recipe에서 진행했다.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AASI(After Active Si Isolation) CD variation 표. Target 23.1 nm, spec ±0.5 nm, 3σ ≤ 1.5 nm, range ≤ 5.5 nm. W41(180s)은 under-cure 영역으로 mean이 +0.32 nm drift, W42(240s, baseline)은 mean 23.07, 3σ 0.92, range 3.84, Δ -0.03으로 가장 안정적이었다. W43(300s)은 mean -0.36 nm shift, range 5.27로 spec band 한계 부근이지만 in-spec. 3σ는 모든 split이 spec 내. AASI는 split 대칭성이 깨지는 전형적인 under/over-cure response를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ASEI(After Spacer Etch Isolation) CD variation. Target 16.6 nm, spec ±0.5 nm, 3σ ≤ 1.2 nm, range ≤ 3.5 nm. 데이터는 W41(180s, +0.21), W42(240s, -0.05), W43(300s, -0.28). AASI 대비 ASEI의 Δ drift 폭은 절반 수준으로 폭이 좁다. W42가 모든 metric spec band 중앙에 가장 가깝다. 3σ는 세 split 모두 비교적 양호, range는 W41 2.94, W42 2.36, W43 3.21로 W42가 가장 좁다.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AMI(After Metal Inspection) CD variation. Target 8.3 nm, spec ±0.3 nm, 3σ ≤ 0.55 nm, range ≤ 2.2 nm. 데이터 W41(180s)+0.16, W42(240s)-0.06, W43(300s)-0.23. AMI는 작은 CD임에도 Δ drift 방향성이 AASI와 같다(180s 양, 300s 음). W42의 3σ 0.32, range 1.27이 가장 좁다. W43은 spec band 하단 edge에 위치, in-wafer map 슬라이드에서 edge site 분포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ACI(After CMP Inspection) CD variation. Target 9.1 nm, spec ±0.3 nm, 3σ ≤ 0.55 nm, range ≤ 2.2 nm. 데이터 W41(180s)+0.24, W42(240s)-0.06, W43(300s)-0.27. ACI는 CMP 단계 직후 Cu dishing·erosion의 영향을 함께 반영한다. 4 종의 Δ drift 패턴이 동일(180s 양, 300s 음)하므로 평가의 분기점 일관성을 확인할 수 있다. 4 종 가운데 AASI(23.1)가 가장 큰 range 5대 영역, ACI가 다음, AMI/ACI가 좁은 분포다.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49pt wafer map — AASI Δ(기준 target 23.1 nm). 동일 lot 3 wafer를 7×7 site로 동일 좌표 정의해 AASI를 측정. W41(180s)은 ring 부근 즉 waer edge에서 양 drift, W42(240s, baseline)는 중앙 cluster 형태로 가장 균질, W43(300s)은 ring 부근 음 drift가 강하고 중심 1 site에서 양 편차 관찰. 색은 5 단계 quick scale. 본 슬라이드의 패턴은 정량 비교(다음 슬라이드)로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In-wafer uniformity 정량 표 — 4종 CD × 49pt. AASI는 가장 큰 분포, ASEI는 좁고 균질, AMI/ACI는 표 아래에 압축 정리. W42(baseline)는 WIW 3σ 0.94→0.61→1.18, Edge−Ctr Δ가 +0.18로 가장 작다. W41은 ring-hot / W43은 ring-cold 비대칭이 모든 CD에서 같은 부호로 나타난다. AMI, ACI는 양쪽 split에서 모두 in-spec이지만 W43의 range가 한계 부근.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Rs와 Via Rs, EM MTTF. Line Rs는 33 nm-wide M4 line 49 site 평균 — W42 (baseline) 0.272 Ω/μm에서 가장 낮고 W41 (+16.9%), W43 (+8.5%) 증가. Via Rs (M3→M4)는 W42 4.18, W41 +13.4%, W43 +7.9%. EM은 j=0.10 mA/μm, 300°C로 baseline ratio 0.57× / 1.0× / 1.40×. W43이 MTTF 가장 길다. 같은 Wafer set에서 Rs와 EM이 동시에 좋아지지 않는 trade-off가 본 평가에서 정량으로 묶인다.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TDDB Weibull(좌측) — β 1.32 / 1.61 / 1.86, η 4.21 / 8.74 / 14.51 hr. W41 낮은 slope, W43 가장 가파른 slope. CMP dishing/erosion(우측) — dishing 28/22/19 nm, erosion 14/11/9 nm, 합 42/33/28 nm. over-cure W43에서 reliable &amp; CMP 두 metric이 동시에 가장 양호, Rs(이전 slide)는 trade-off. 분기점 일관성: TDDB·CMP는 같은 split(W43)에서 동시에 좋아지나 전기 특성 Rs는 baseline 대비 역전, 본 평가는 trade-off 정량화에 집중.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667305"/>
            <a:ext cx="8191195" cy="5715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334195" y="2667305"/>
            <a:ext cx="8191195" cy="57150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8667598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1695" y="5715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 Brief / BEOL M4 IMD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1047902"/>
            <a:ext cx="13335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ULK UV Cure 시간 Split 평가 — M4 IMD</a:t>
            </a:r>
            <a:endParaRPr lang="en-US" sz="345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698041"/>
            <a:ext cx="13335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 / low-k Dual Damascene 단면, 3 wafer lot, dummy internal evaluation</a:t>
            </a:r>
            <a:endParaRPr lang="en-US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1047902" y="2895905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A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1047902" y="3114446"/>
            <a:ext cx="22860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배경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3619195"/>
            <a:ext cx="762061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M4층 inter-metal dielectric(IMD)에 적용되는 ULK 공정은 UV cure 시간에 따라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A9352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기계 강도(hardness·modulus), k-value, plasma damage recovery, TDDB lifetime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동시에 움직인다. 동일 wafer lot에서 분기된 3매 wafer에 UV cure 시간을 달리하여 under-cure / baseline / over-cure 영역을 한 번에 매핑하는 것이 본 평가의 1차 목적이다.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047902" y="5009998"/>
            <a:ext cx="7620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평가는 4 종 CD(AASI / ASEI / AMI / ACI) variation, in-wafer 49pt uniformity, line·via Rs, electromigration, TDDB Weibull, CMP dishing/erosion 까지 동일한 wafer set 위에서 진행된다. Baseline은 split B로 고정하고 다른 두 split에 대한 deltas를 함께 보고한다.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620402" y="2895905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B</a:t>
            </a:r>
            <a:endParaRPr lang="en-US" sz="975" dirty="0"/>
          </a:p>
        </p:txBody>
      </p:sp>
      <p:sp>
        <p:nvSpPr>
          <p:cNvPr id="15" name="Text 11"/>
          <p:cNvSpPr txBox="1"/>
          <p:nvPr/>
        </p:nvSpPr>
        <p:spPr>
          <a:xfrm>
            <a:off x="9620402" y="3114446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평가 항목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9620402" y="4028846"/>
            <a:ext cx="758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96298" y="4028846"/>
            <a:ext cx="21332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696298" y="3619195"/>
            <a:ext cx="2134210" cy="334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단면 구조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11830507" y="4028846"/>
            <a:ext cx="541050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1830507" y="3619195"/>
            <a:ext cx="5410505" cy="334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76200" rIns="762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SEM 단면, via chain TEM 단면 — 각 split 별 1 site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9620402" y="4710074"/>
            <a:ext cx="758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696298" y="4710074"/>
            <a:ext cx="21332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696298" y="4033418"/>
            <a:ext cx="2134210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76200" rIns="1143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CD-SEM 4 종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11830507" y="4710074"/>
            <a:ext cx="541050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1830507" y="4033418"/>
            <a:ext cx="54105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AASI(23.1) · ASEI(16.6) · AMI(8.3) · ACI(9.1) nm — wafer 별 mean/3σ/range/Δ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9620402" y="5128870"/>
            <a:ext cx="758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696298" y="5128870"/>
            <a:ext cx="21332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696298" y="4719218"/>
            <a:ext cx="2134210" cy="334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In-wafer Uniformity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11830507" y="5128870"/>
            <a:ext cx="541050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1830507" y="4719218"/>
            <a:ext cx="5410505" cy="334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76200" rIns="762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49pt wafer map + 정량 uniformity 표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9620402" y="5548579"/>
            <a:ext cx="758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696298" y="5548579"/>
            <a:ext cx="21332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696298" y="5138928"/>
            <a:ext cx="2134210" cy="334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 특성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11830507" y="5548579"/>
            <a:ext cx="541050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830507" y="5138928"/>
            <a:ext cx="5410505" cy="3346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76200" rIns="762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33 nm line Rs, M3→M4 via Rs, EM MTTF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9620402" y="5977433"/>
            <a:ext cx="758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696298" y="5977433"/>
            <a:ext cx="213329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696298" y="5557723"/>
            <a:ext cx="213421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76200" rIns="1143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신뢰도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11830507" y="5977433"/>
            <a:ext cx="5410505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830507" y="5557723"/>
            <a:ext cx="5410505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76200" rIns="7620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TDDB Weibull β·η (use-V, 125°C)</a:t>
            </a:r>
            <a:endParaRPr lang="en-US" sz="1350" dirty="0"/>
          </a:p>
        </p:txBody>
      </p:sp>
      <p:sp>
        <p:nvSpPr>
          <p:cNvPr id="41" name="Text 37"/>
          <p:cNvSpPr txBox="1"/>
          <p:nvPr/>
        </p:nvSpPr>
        <p:spPr>
          <a:xfrm>
            <a:off x="9696298" y="5986577"/>
            <a:ext cx="213421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CMP 형상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1830507" y="5986577"/>
            <a:ext cx="5410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100 μm pad dishing / erosion (nm)</a:t>
            </a:r>
            <a:endParaRPr lang="en-US" sz="1350" dirty="0"/>
          </a:p>
        </p:txBody>
      </p:sp>
      <p:sp>
        <p:nvSpPr>
          <p:cNvPr id="43" name="Shape 39"/>
          <p:cNvSpPr/>
          <p:nvPr/>
        </p:nvSpPr>
        <p:spPr>
          <a:xfrm>
            <a:off x="9620402" y="3810305"/>
            <a:ext cx="75895" cy="75895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620402" y="4362602"/>
            <a:ext cx="75895" cy="758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20402" y="4914900"/>
            <a:ext cx="75895" cy="758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9620402" y="5333695"/>
            <a:ext cx="75895" cy="758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620402" y="5757977"/>
            <a:ext cx="75895" cy="758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620402" y="6186830"/>
            <a:ext cx="75895" cy="758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90295" y="8872423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50" name="Text 46"/>
          <p:cNvSpPr txBox="1"/>
          <p:nvPr/>
        </p:nvSpPr>
        <p:spPr>
          <a:xfrm>
            <a:off x="2407615" y="8796528"/>
            <a:ext cx="13116154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ULK 기계 강도 vs. k-value trade-off 매핑이 본 평가의 1차 목적이며, 동일 wafer set에서 CD · uniformity · TDDB 까지 단일 보고서로 정리한다.</a:t>
            </a:r>
            <a:endParaRPr lang="en-US" sz="1650" dirty="0"/>
          </a:p>
        </p:txBody>
      </p:sp>
      <p:sp>
        <p:nvSpPr>
          <p:cNvPr id="51" name="Text 47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476195"/>
            <a:ext cx="16763695" cy="571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3047695"/>
            <a:ext cx="16763695" cy="133319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4381805"/>
            <a:ext cx="16763695" cy="13331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5715000"/>
            <a:ext cx="16763695" cy="133319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7334402"/>
            <a:ext cx="10858500" cy="9144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811305" y="7334402"/>
            <a:ext cx="5715000" cy="1238098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Conditions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028700"/>
            <a:ext cx="13335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UV Cure 시간 Split — 3 wafer 조건</a:t>
            </a:r>
            <a:endParaRPr lang="en-US" sz="315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1595628"/>
            <a:ext cx="1333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lot · 동일 layer · 동일 recipe, UV cure 단계만 시간 변동 (sec)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2476195"/>
          <a:ext cx="16193110" cy="571500"/>
        </p:xfrm>
        <a:graphic>
          <a:graphicData uri="http://schemas.openxmlformats.org/drawingml/2006/table">
            <a:tbl>
              <a:tblPr/>
              <a:tblGrid>
                <a:gridCol w="1542593"/>
                <a:gridCol w="1888236"/>
                <a:gridCol w="1890979"/>
                <a:gridCol w="2636215"/>
                <a:gridCol w="2636215"/>
                <a:gridCol w="5597957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 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K-TARGET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TARGET CURE ZONE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메모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3047695"/>
          <a:ext cx="16193110" cy="1334110"/>
        </p:xfrm>
        <a:graphic>
          <a:graphicData uri="http://schemas.openxmlformats.org/drawingml/2006/table">
            <a:tbl>
              <a:tblPr/>
              <a:tblGrid>
                <a:gridCol w="1532534"/>
                <a:gridCol w="1890065"/>
                <a:gridCol w="1890065"/>
                <a:gridCol w="2631643"/>
                <a:gridCol w="2636215"/>
                <a:gridCol w="5611673"/>
              </a:tblGrid>
              <a:tr h="1334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s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W41-S1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2.75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Under-cure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F3A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기계 강도 확보 부족, k 회복 진행 영역. Reference baseline 대비 CD drift 예상.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4381805"/>
          <a:ext cx="16193110" cy="1334110"/>
        </p:xfrm>
        <a:graphic>
          <a:graphicData uri="http://schemas.openxmlformats.org/drawingml/2006/table">
            <a:tbl>
              <a:tblPr/>
              <a:tblGrid>
                <a:gridCol w="1532534"/>
                <a:gridCol w="1890065"/>
                <a:gridCol w="1890065"/>
                <a:gridCol w="2631643"/>
                <a:gridCol w="2639873"/>
                <a:gridCol w="5608930"/>
              </a:tblGrid>
              <a:tr h="1334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 s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W42-S1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2.80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Baseline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F3A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본 평가의 reference baseline. 다른 split Δ 산출의 기준점.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5715000"/>
          <a:ext cx="16193110" cy="1334110"/>
        </p:xfrm>
        <a:graphic>
          <a:graphicData uri="http://schemas.openxmlformats.org/drawingml/2006/table">
            <a:tbl>
              <a:tblPr/>
              <a:tblGrid>
                <a:gridCol w="1533449"/>
                <a:gridCol w="1890979"/>
                <a:gridCol w="1890979"/>
                <a:gridCol w="2633472"/>
                <a:gridCol w="2633472"/>
                <a:gridCol w="5609844"/>
              </a:tblGrid>
              <a:tr h="1334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b="1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s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W43-S1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2.85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Over-cure</a:t>
                      </a:r>
                      <a:endParaRPr lang="en-US" sz="16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F3A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기계 강도 최대치 부근. Plasma damage 잔존에 따른 TDDB 민감도 ↑ 예상.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0"/>
          <p:cNvSpPr txBox="1"/>
          <p:nvPr/>
        </p:nvSpPr>
        <p:spPr>
          <a:xfrm>
            <a:off x="761695" y="7429500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 Conditions</a:t>
            </a:r>
            <a:endParaRPr lang="en-US" sz="975" dirty="0"/>
          </a:p>
        </p:txBody>
      </p:sp>
      <p:sp>
        <p:nvSpPr>
          <p:cNvPr id="19" name="Text 11"/>
          <p:cNvSpPr txBox="1"/>
          <p:nvPr/>
        </p:nvSpPr>
        <p:spPr>
          <a:xfrm>
            <a:off x="2857500" y="7397496"/>
            <a:ext cx="876361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IMD: 동일 POR recipe (k_eff ≈ 2.8 at 100 kHz)</a:t>
            </a:r>
            <a:pPr algn="l" indent="0" marL="0">
              <a:lnSpc>
                <a:spcPts val="2209"/>
              </a:lnSpc>
              <a:buNone/>
            </a:pPr>
            <a:endParaRPr lang="en-US" sz="1425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Hard mask / cap: 동일 stack, 동일 두께</a:t>
            </a:r>
            <a:pPr algn="l" indent="0" marL="0">
              <a:lnSpc>
                <a:spcPts val="2209"/>
              </a:lnSpc>
              <a:buNone/>
            </a:pPr>
            <a:endParaRPr lang="en-US" sz="1425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Metallization: ALD Ru/TaN + PVD Cu seed + ECD Cu + CMP 동일</a:t>
            </a:r>
            <a:pPr algn="l" indent="0" marL="0">
              <a:lnSpc>
                <a:spcPts val="2209"/>
              </a:lnSpc>
              <a:buNone/>
            </a:pPr>
            <a:endParaRPr lang="en-US" sz="1425" dirty="0"/>
          </a:p>
          <a:p>
            <a:pPr algn="l" indent="0" marL="0">
              <a:lnSpc>
                <a:spcPts val="2209"/>
              </a:lnSpc>
              <a:buNone/>
            </a:pPr>
            <a:r>
              <a:rPr lang="en-US" sz="1425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• 측정 site: wafer 中心 49 site, dummy 패턴 군집 블록 내부</a:t>
            </a:r>
            <a:endParaRPr lang="en-US" sz="1425" dirty="0"/>
          </a:p>
        </p:txBody>
      </p:sp>
      <p:sp>
        <p:nvSpPr>
          <p:cNvPr id="20" name="Text 12"/>
          <p:cNvSpPr txBox="1"/>
          <p:nvPr/>
        </p:nvSpPr>
        <p:spPr>
          <a:xfrm>
            <a:off x="12059107" y="7505395"/>
            <a:ext cx="52203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Watch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12059107" y="7744054"/>
            <a:ext cx="5220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Split A(180s)는 ULK 치밀화 부족, Split C(300s)는 과경화로 인한 shrinkage / Cu pull-back 모두 동일한 lot · 동일 측정 조건에서 비교됨.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23" name="Text 15"/>
          <p:cNvSpPr txBox="1"/>
          <p:nvPr/>
        </p:nvSpPr>
        <p:spPr>
          <a:xfrm>
            <a:off x="2407615" y="8896198"/>
            <a:ext cx="108402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Baseline 240s 대비 180s(under) / 300s(over) 각 ±60s 영역을 3 wafer로 매핑, IMD step 이후 동일 recipe로 평가 진행.</a:t>
            </a:r>
            <a:endParaRPr lang="en-US" sz="1575" dirty="0"/>
          </a:p>
        </p:txBody>
      </p:sp>
      <p:sp>
        <p:nvSpPr>
          <p:cNvPr id="24" name="Text 16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8001000" cy="6286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953805" y="2286000"/>
            <a:ext cx="8572500" cy="6286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/ Run Matrix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1028700"/>
            <a:ext cx="13335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 Lot · 측정 행렬</a:t>
            </a:r>
            <a:endParaRPr lang="en-US" sz="315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595628"/>
            <a:ext cx="1333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lot · 동일 키트 lot · 동일 측정 Recipe, M4 layer 한정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47902" y="247619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Identifier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1047902" y="2695651"/>
            <a:ext cx="5715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Wafer 정보</a:t>
            </a:r>
            <a:endParaRPr lang="en-US" sz="1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3238805"/>
          <a:ext cx="7429500" cy="2820010"/>
        </p:xfrm>
        <a:graphic>
          <a:graphicData uri="http://schemas.openxmlformats.org/drawingml/2006/table">
            <a:tbl>
              <a:tblPr/>
              <a:tblGrid>
                <a:gridCol w="952805"/>
                <a:gridCol w="2770632"/>
                <a:gridCol w="3706063"/>
              </a:tblGrid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LOT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LOT-M4-A18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66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300 mm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LAYER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66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Sx 1 / dummy-pattern 군집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MASK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RET-M4-D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66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internal dummy mask rev-D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TOOL · STEP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HE-CMP-04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66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post-ECD Cu anneal 동일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SITE 수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49 pt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66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 × 7, edge 제외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ANNEAL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350°C / 30 min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6E66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N2 ambient, 동일</a:t>
                      </a:r>
                      <a:endParaRPr lang="en-US" sz="135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1047902" y="6381598"/>
            <a:ext cx="7429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Wafer start condition</a:t>
            </a:r>
            <a:endParaRPr lang="en-US" sz="975" dirty="0"/>
          </a:p>
        </p:txBody>
      </p:sp>
      <p:sp>
        <p:nvSpPr>
          <p:cNvPr id="14" name="Shape 9"/>
          <p:cNvSpPr/>
          <p:nvPr/>
        </p:nvSpPr>
        <p:spPr>
          <a:xfrm>
            <a:off x="1047902" y="6638544"/>
            <a:ext cx="2419502" cy="1037844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190549" y="6782105"/>
            <a:ext cx="2134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W41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1190549" y="7000646"/>
            <a:ext cx="21342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A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1190549" y="7334402"/>
            <a:ext cx="21342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180 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556102" y="6638544"/>
            <a:ext cx="2419502" cy="1037844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698748" y="6782105"/>
            <a:ext cx="2134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W42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3698748" y="7000646"/>
            <a:ext cx="21342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B</a:t>
            </a:r>
            <a:endParaRPr lang="en-US" sz="1650" dirty="0"/>
          </a:p>
        </p:txBody>
      </p:sp>
      <p:sp>
        <p:nvSpPr>
          <p:cNvPr id="21" name="Text 16"/>
          <p:cNvSpPr txBox="1"/>
          <p:nvPr/>
        </p:nvSpPr>
        <p:spPr>
          <a:xfrm>
            <a:off x="3698748" y="7334402"/>
            <a:ext cx="21342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240 s · baseline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64301" y="6638544"/>
            <a:ext cx="2419502" cy="1037844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06947" y="6782105"/>
            <a:ext cx="2134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W43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6206947" y="7000646"/>
            <a:ext cx="21342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C</a:t>
            </a:r>
            <a:endParaRPr lang="en-US" sz="1650" dirty="0"/>
          </a:p>
        </p:txBody>
      </p:sp>
      <p:sp>
        <p:nvSpPr>
          <p:cNvPr id="25" name="Text 20"/>
          <p:cNvSpPr txBox="1"/>
          <p:nvPr/>
        </p:nvSpPr>
        <p:spPr>
          <a:xfrm>
            <a:off x="6206947" y="7334402"/>
            <a:ext cx="21342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300 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9239098" y="247619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Measurement Matrix</a:t>
            </a:r>
            <a:endParaRPr lang="en-US" sz="975" dirty="0"/>
          </a:p>
        </p:txBody>
      </p:sp>
      <p:sp>
        <p:nvSpPr>
          <p:cNvPr id="27" name="Text 22"/>
          <p:cNvSpPr txBox="1"/>
          <p:nvPr/>
        </p:nvSpPr>
        <p:spPr>
          <a:xfrm>
            <a:off x="9239098" y="2695651"/>
            <a:ext cx="5715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측정 행렬</a:t>
            </a:r>
            <a:endParaRPr lang="en-US" sz="1950" dirty="0"/>
          </a:p>
        </p:txBody>
      </p:sp>
      <p:sp>
        <p:nvSpPr>
          <p:cNvPr id="28" name="Shape 23"/>
          <p:cNvSpPr/>
          <p:nvPr/>
        </p:nvSpPr>
        <p:spPr>
          <a:xfrm>
            <a:off x="9239098" y="3667658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581998" y="3238805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단면 (SEM)</a:t>
            </a:r>
            <a:endParaRPr lang="en-US" sz="1275" dirty="0"/>
          </a:p>
        </p:txBody>
      </p:sp>
      <p:sp>
        <p:nvSpPr>
          <p:cNvPr id="30" name="Text 25"/>
          <p:cNvSpPr txBox="1"/>
          <p:nvPr/>
        </p:nvSpPr>
        <p:spPr>
          <a:xfrm>
            <a:off x="11716207" y="3238805"/>
            <a:ext cx="5524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단면, 1 site per wafer, 동일한 슬라이스 위치에서 인접 두 site</a:t>
            </a:r>
            <a:endParaRPr lang="en-US" sz="1275" dirty="0"/>
          </a:p>
        </p:txBody>
      </p:sp>
      <p:sp>
        <p:nvSpPr>
          <p:cNvPr id="31" name="Shape 26"/>
          <p:cNvSpPr/>
          <p:nvPr/>
        </p:nvSpPr>
        <p:spPr>
          <a:xfrm>
            <a:off x="9239098" y="4101084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581998" y="3672230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단면 (TEM)</a:t>
            </a:r>
            <a:endParaRPr lang="en-US" sz="1275" dirty="0"/>
          </a:p>
        </p:txBody>
      </p:sp>
      <p:sp>
        <p:nvSpPr>
          <p:cNvPr id="33" name="Text 28"/>
          <p:cNvSpPr txBox="1"/>
          <p:nvPr/>
        </p:nvSpPr>
        <p:spPr>
          <a:xfrm>
            <a:off x="11716207" y="3672230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M3 → M4 via chain 1 view, 동일 조건</a:t>
            </a:r>
            <a:endParaRPr lang="en-US" sz="1275" dirty="0"/>
          </a:p>
        </p:txBody>
      </p:sp>
      <p:sp>
        <p:nvSpPr>
          <p:cNvPr id="34" name="Shape 29"/>
          <p:cNvSpPr/>
          <p:nvPr/>
        </p:nvSpPr>
        <p:spPr>
          <a:xfrm>
            <a:off x="9239098" y="4539082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581998" y="4110228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CD-SEM (4 종)</a:t>
            </a:r>
            <a:endParaRPr lang="en-US" sz="1275" dirty="0"/>
          </a:p>
        </p:txBody>
      </p:sp>
      <p:sp>
        <p:nvSpPr>
          <p:cNvPr id="36" name="Text 31"/>
          <p:cNvSpPr txBox="1"/>
          <p:nvPr/>
        </p:nvSpPr>
        <p:spPr>
          <a:xfrm>
            <a:off x="11716207" y="4110228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23.1 / ASEI 16.6 / AMI 8.3 / ACI 9.1 nm — 49 pt × 4 종</a:t>
            </a:r>
            <a:endParaRPr lang="en-US" sz="1275" dirty="0"/>
          </a:p>
        </p:txBody>
      </p:sp>
      <p:sp>
        <p:nvSpPr>
          <p:cNvPr id="37" name="Shape 32"/>
          <p:cNvSpPr/>
          <p:nvPr/>
        </p:nvSpPr>
        <p:spPr>
          <a:xfrm>
            <a:off x="9239098" y="4977079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9581998" y="4548226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In-wafer Map</a:t>
            </a:r>
            <a:endParaRPr lang="en-US" sz="1275" dirty="0"/>
          </a:p>
        </p:txBody>
      </p:sp>
      <p:sp>
        <p:nvSpPr>
          <p:cNvPr id="39" name="Text 34"/>
          <p:cNvSpPr txBox="1"/>
          <p:nvPr/>
        </p:nvSpPr>
        <p:spPr>
          <a:xfrm>
            <a:off x="11716207" y="4548226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7×7 site, color-grade Δ-CD 또는 Rs overlay</a:t>
            </a:r>
            <a:endParaRPr lang="en-US" sz="1275" dirty="0"/>
          </a:p>
        </p:txBody>
      </p:sp>
      <p:sp>
        <p:nvSpPr>
          <p:cNvPr id="40" name="Shape 35"/>
          <p:cNvSpPr/>
          <p:nvPr/>
        </p:nvSpPr>
        <p:spPr>
          <a:xfrm>
            <a:off x="9239098" y="5415077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581998" y="4986223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Line Rs</a:t>
            </a:r>
            <a:endParaRPr lang="en-US" sz="1275" dirty="0"/>
          </a:p>
        </p:txBody>
      </p:sp>
      <p:sp>
        <p:nvSpPr>
          <p:cNvPr id="42" name="Text 37"/>
          <p:cNvSpPr txBox="1"/>
          <p:nvPr/>
        </p:nvSpPr>
        <p:spPr>
          <a:xfrm>
            <a:off x="11716207" y="4986223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33 nm-wide M4 line, Kelvin 4T, 49 site 평균</a:t>
            </a:r>
            <a:endParaRPr lang="en-US" sz="1275" dirty="0"/>
          </a:p>
        </p:txBody>
      </p:sp>
      <p:sp>
        <p:nvSpPr>
          <p:cNvPr id="43" name="Shape 38"/>
          <p:cNvSpPr/>
          <p:nvPr/>
        </p:nvSpPr>
        <p:spPr>
          <a:xfrm>
            <a:off x="9239098" y="5853074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581998" y="5424221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Rs</a:t>
            </a:r>
            <a:endParaRPr lang="en-US" sz="1275" dirty="0"/>
          </a:p>
        </p:txBody>
      </p:sp>
      <p:sp>
        <p:nvSpPr>
          <p:cNvPr id="45" name="Text 40"/>
          <p:cNvSpPr txBox="1"/>
          <p:nvPr/>
        </p:nvSpPr>
        <p:spPr>
          <a:xfrm>
            <a:off x="11716207" y="5424221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M3 → M4 단일 via, d = 18 nm, 49 site 평균</a:t>
            </a:r>
            <a:endParaRPr lang="en-US" sz="1275" dirty="0"/>
          </a:p>
        </p:txBody>
      </p:sp>
      <p:sp>
        <p:nvSpPr>
          <p:cNvPr id="46" name="Shape 41"/>
          <p:cNvSpPr/>
          <p:nvPr/>
        </p:nvSpPr>
        <p:spPr>
          <a:xfrm>
            <a:off x="9239098" y="6291072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9581998" y="5862218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EM</a:t>
            </a:r>
            <a:endParaRPr lang="en-US" sz="1275" dirty="0"/>
          </a:p>
        </p:txBody>
      </p:sp>
      <p:sp>
        <p:nvSpPr>
          <p:cNvPr id="48" name="Text 43"/>
          <p:cNvSpPr txBox="1"/>
          <p:nvPr/>
        </p:nvSpPr>
        <p:spPr>
          <a:xfrm>
            <a:off x="11716207" y="5862218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0.10 mA/μm, 300°C, MTTF 누적 log-normal 분석</a:t>
            </a:r>
            <a:endParaRPr lang="en-US" sz="1275" dirty="0"/>
          </a:p>
        </p:txBody>
      </p:sp>
      <p:sp>
        <p:nvSpPr>
          <p:cNvPr id="49" name="Shape 44"/>
          <p:cNvSpPr/>
          <p:nvPr/>
        </p:nvSpPr>
        <p:spPr>
          <a:xfrm>
            <a:off x="9239098" y="6729984"/>
            <a:ext cx="8001000" cy="9144"/>
          </a:xfrm>
          <a:prstGeom prst="rect">
            <a:avLst/>
          </a:prstGeom>
          <a:solidFill>
            <a:srgbClr val="6E6657"/>
          </a:solidFill>
          <a:ln w="12700">
            <a:solidFill>
              <a:srgbClr val="6E6657">
                <a:alpha val="0"/>
              </a:srgbClr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581998" y="6301130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TDDB</a:t>
            </a:r>
            <a:endParaRPr lang="en-US" sz="1275" dirty="0"/>
          </a:p>
        </p:txBody>
      </p:sp>
      <p:sp>
        <p:nvSpPr>
          <p:cNvPr id="51" name="Text 46"/>
          <p:cNvSpPr txBox="1"/>
          <p:nvPr/>
        </p:nvSpPr>
        <p:spPr>
          <a:xfrm>
            <a:off x="11716207" y="6301130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use-V, 125°C, Weibull β·η 추출</a:t>
            </a:r>
            <a:endParaRPr lang="en-US" sz="1275" dirty="0"/>
          </a:p>
        </p:txBody>
      </p:sp>
      <p:sp>
        <p:nvSpPr>
          <p:cNvPr id="52" name="Text 47"/>
          <p:cNvSpPr txBox="1"/>
          <p:nvPr/>
        </p:nvSpPr>
        <p:spPr>
          <a:xfrm>
            <a:off x="9581998" y="6739128"/>
            <a:ext cx="21342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CMP</a:t>
            </a:r>
            <a:endParaRPr lang="en-US" sz="1275" dirty="0"/>
          </a:p>
        </p:txBody>
      </p:sp>
      <p:sp>
        <p:nvSpPr>
          <p:cNvPr id="53" name="Text 48"/>
          <p:cNvSpPr txBox="1"/>
          <p:nvPr/>
        </p:nvSpPr>
        <p:spPr>
          <a:xfrm>
            <a:off x="11716207" y="6739128"/>
            <a:ext cx="5524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100 μm pad dishing, dense 80% area erosion (nm)</a:t>
            </a:r>
            <a:endParaRPr lang="en-US" sz="1275" dirty="0"/>
          </a:p>
        </p:txBody>
      </p:sp>
      <p:sp>
        <p:nvSpPr>
          <p:cNvPr id="54" name="Shape 49"/>
          <p:cNvSpPr/>
          <p:nvPr/>
        </p:nvSpPr>
        <p:spPr>
          <a:xfrm>
            <a:off x="9239098" y="3409798"/>
            <a:ext cx="95098" cy="95098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9249156" y="3847795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49156" y="4286707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249156" y="4724705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9249156" y="5162702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9249156" y="5600700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249156" y="6038698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9249156" y="6476695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9249156" y="6915607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64" name="Text 59"/>
          <p:cNvSpPr txBox="1"/>
          <p:nvPr/>
        </p:nvSpPr>
        <p:spPr>
          <a:xfrm>
            <a:off x="2407615" y="8896198"/>
            <a:ext cx="87444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lot 단일 baseline, 9 종 평가 항목을 동일 recipe · 동일 site 좌표 위에 단일 셋업에서 측정한다.</a:t>
            </a:r>
            <a:endParaRPr lang="en-US" sz="1575" dirty="0"/>
          </a:p>
        </p:txBody>
      </p:sp>
      <p:sp>
        <p:nvSpPr>
          <p:cNvPr id="65" name="Text 60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0477195" cy="6286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1430000" y="2286000"/>
            <a:ext cx="6096305" cy="6286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716207" y="7239305"/>
            <a:ext cx="5524805" cy="11430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33195" y="2857500"/>
            <a:ext cx="9334195" cy="5333695"/>
          </a:xfrm>
          <a:prstGeom prst="rect">
            <a:avLst/>
          </a:prstGeom>
          <a:solidFill>
            <a:srgbClr val="F2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aa0ec185a97640c55734963df1e7ab4c.jpg">    </p:cNvPr>
          <p:cNvPicPr>
            <a:picLocks noChangeAspect="1"/>
          </p:cNvPicPr>
          <p:nvPr/>
        </p:nvPicPr>
        <p:blipFill>
          <a:blip r:embed="rId2"/>
          <a:srcRect l="-23578" r="-23578" t="0" b="0"/>
          <a:stretch/>
        </p:blipFill>
        <p:spPr>
          <a:xfrm>
            <a:off x="1333195" y="2857500"/>
            <a:ext cx="9334195" cy="53336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Cross-section · M4 SEM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M4 단면 SEM — Cu / low-k Dual Damascene</a:t>
            </a:r>
            <a:endParaRPr lang="en-US" sz="31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595628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Baseline(Split B, 240s) wafer W42-S1 단면, 동일 site 좌표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7902" y="2476195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 · BEOL Architecture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716207" y="2476195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Annotation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11716207" y="2695651"/>
            <a:ext cx="4763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구조 판독 메모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716207" y="3238805"/>
          <a:ext cx="5524805" cy="2905963"/>
        </p:xfrm>
        <a:graphic>
          <a:graphicData uri="http://schemas.openxmlformats.org/drawingml/2006/table">
            <a:tbl>
              <a:tblPr/>
              <a:tblGrid>
                <a:gridCol w="1524305"/>
                <a:gridCol w="4000500"/>
              </a:tblGrid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CAP LAYER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SiCN(H) cap, 동일 두께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IMD (ULK)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SiOCH(k ≈ 2.8 at 100 kHz)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ETCH-STOP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SiCN(O) 듀얼 ES, 동일 두께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BARRIER / LINER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ALD Ru/TaN, 분해능 ≈ 2 nm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M4 TRENCH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33 nm CD, 동일 mask rev-D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3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CMP / DISHING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4110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 μm pad 측정 (별도 slide)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11887200" y="7391095"/>
            <a:ext cx="5334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Observation Note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0" y="7610551"/>
            <a:ext cx="5334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W42 baseline 단면에서 IMD 박리 / Cu void / etch-stop misalignment은 관찰되지 않음. Split W41·W43 단면은 동일 좌표의 자료로 보관됨.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2407615" y="8896198"/>
            <a:ext cx="11068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Baseline(W42) 단면은 IMD/ES/barrier 모두 spec 내 형상을 보였고, 세 split의 단면은 동일 좌표 인접 두 site에서 채취되었다.</a:t>
            </a:r>
            <a:endParaRPr lang="en-US" sz="1575" dirty="0"/>
          </a:p>
        </p:txBody>
      </p:sp>
      <p:sp>
        <p:nvSpPr>
          <p:cNvPr id="21" name="Text 15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 · 단면 참고 image: Springer Nature (BEOL chapter)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7239305" cy="6286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191195" y="2286000"/>
            <a:ext cx="5715000" cy="6286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4097305" y="2286000"/>
            <a:ext cx="3429000" cy="6286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43000" y="2952598"/>
            <a:ext cx="6476695" cy="5333695"/>
          </a:xfrm>
          <a:prstGeom prst="rect">
            <a:avLst/>
          </a:prstGeom>
          <a:solidFill>
            <a:srgbClr val="F2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381b5dabd447e83519f0ee7afcd85132.png">    </p:cNvPr>
          <p:cNvPicPr>
            <a:picLocks noChangeAspect="1"/>
          </p:cNvPicPr>
          <p:nvPr/>
        </p:nvPicPr>
        <p:blipFill>
          <a:blip r:embed="rId2"/>
          <a:srcRect l="-23976" r="-23976" t="0" b="0"/>
          <a:stretch/>
        </p:blipFill>
        <p:spPr>
          <a:xfrm>
            <a:off x="1143000" y="2952598"/>
            <a:ext cx="6476695" cy="53336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Cross-section · Via Chain TEM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M3 → M4 Via Chain TEM 단면</a:t>
            </a:r>
            <a:endParaRPr lang="en-US" sz="31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595628"/>
            <a:ext cx="1428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+ trench 동시 노출, dual damascene 구조 reference view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47902" y="2476195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 View · Via Chain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8477402" y="2476195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Stack Map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8477402" y="2695651"/>
            <a:ext cx="5143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관찰 포인트 메모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477402" y="3667658"/>
            <a:ext cx="5143500" cy="9144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820302" y="3238805"/>
            <a:ext cx="17529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측벽</a:t>
            </a:r>
            <a:endParaRPr lang="en-US" sz="1275" dirty="0"/>
          </a:p>
        </p:txBody>
      </p:sp>
      <p:sp>
        <p:nvSpPr>
          <p:cNvPr id="18" name="Text 13"/>
          <p:cNvSpPr txBox="1"/>
          <p:nvPr/>
        </p:nvSpPr>
        <p:spPr>
          <a:xfrm>
            <a:off x="10573207" y="3238805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ALD Ru/TaN 연속성, void-free 확인</a:t>
            </a:r>
            <a:endParaRPr lang="en-US" sz="1275" dirty="0"/>
          </a:p>
        </p:txBody>
      </p:sp>
      <p:sp>
        <p:nvSpPr>
          <p:cNvPr id="19" name="Shape 14"/>
          <p:cNvSpPr/>
          <p:nvPr/>
        </p:nvSpPr>
        <p:spPr>
          <a:xfrm>
            <a:off x="8477402" y="4101084"/>
            <a:ext cx="5143500" cy="9144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20302" y="3672230"/>
            <a:ext cx="17529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바닥</a:t>
            </a:r>
            <a:endParaRPr lang="en-US" sz="1275" dirty="0"/>
          </a:p>
        </p:txBody>
      </p:sp>
      <p:sp>
        <p:nvSpPr>
          <p:cNvPr id="21" name="Text 16"/>
          <p:cNvSpPr txBox="1"/>
          <p:nvPr/>
        </p:nvSpPr>
        <p:spPr>
          <a:xfrm>
            <a:off x="10573207" y="3672230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하층 Cu 접합부 — 보이드·미세 균열 점검</a:t>
            </a:r>
            <a:endParaRPr lang="en-US" sz="1275" dirty="0"/>
          </a:p>
        </p:txBody>
      </p:sp>
      <p:sp>
        <p:nvSpPr>
          <p:cNvPr id="22" name="Shape 17"/>
          <p:cNvSpPr/>
          <p:nvPr/>
        </p:nvSpPr>
        <p:spPr>
          <a:xfrm>
            <a:off x="8477402" y="4539082"/>
            <a:ext cx="5143500" cy="9144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820302" y="4110228"/>
            <a:ext cx="17529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ULK 손상층</a:t>
            </a:r>
            <a:endParaRPr lang="en-US" sz="1275" dirty="0"/>
          </a:p>
        </p:txBody>
      </p:sp>
      <p:sp>
        <p:nvSpPr>
          <p:cNvPr id="24" name="Text 19"/>
          <p:cNvSpPr txBox="1"/>
          <p:nvPr/>
        </p:nvSpPr>
        <p:spPr>
          <a:xfrm>
            <a:off x="10573207" y="4110228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plasma damage ring 두께 분리 관찰</a:t>
            </a:r>
            <a:endParaRPr lang="en-US" sz="1275" dirty="0"/>
          </a:p>
        </p:txBody>
      </p:sp>
      <p:sp>
        <p:nvSpPr>
          <p:cNvPr id="25" name="Shape 20"/>
          <p:cNvSpPr/>
          <p:nvPr/>
        </p:nvSpPr>
        <p:spPr>
          <a:xfrm>
            <a:off x="8477402" y="4977079"/>
            <a:ext cx="5143500" cy="9144"/>
          </a:xfrm>
          <a:prstGeom prst="rect">
            <a:avLst/>
          </a:prstGeom>
          <a:solidFill>
            <a:srgbClr val="14110D"/>
          </a:solidFill>
          <a:ln w="12700">
            <a:solidFill>
              <a:srgbClr val="14110D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820302" y="4548226"/>
            <a:ext cx="17529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trench 손상층</a:t>
            </a:r>
            <a:endParaRPr lang="en-US" sz="1275" dirty="0"/>
          </a:p>
        </p:txBody>
      </p:sp>
      <p:sp>
        <p:nvSpPr>
          <p:cNvPr id="27" name="Text 22"/>
          <p:cNvSpPr txBox="1"/>
          <p:nvPr/>
        </p:nvSpPr>
        <p:spPr>
          <a:xfrm>
            <a:off x="10573207" y="4548226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기계 강도 회복 vs. k 회복 trade-off</a:t>
            </a:r>
            <a:endParaRPr lang="en-US" sz="1275" dirty="0"/>
          </a:p>
        </p:txBody>
      </p:sp>
      <p:sp>
        <p:nvSpPr>
          <p:cNvPr id="28" name="Text 23"/>
          <p:cNvSpPr txBox="1"/>
          <p:nvPr/>
        </p:nvSpPr>
        <p:spPr>
          <a:xfrm>
            <a:off x="8820302" y="4986223"/>
            <a:ext cx="17529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cap / ES</a:t>
            </a:r>
            <a:endParaRPr lang="en-US" sz="1275" dirty="0"/>
          </a:p>
        </p:txBody>
      </p:sp>
      <p:sp>
        <p:nvSpPr>
          <p:cNvPr id="29" name="Text 24"/>
          <p:cNvSpPr txBox="1"/>
          <p:nvPr/>
        </p:nvSpPr>
        <p:spPr>
          <a:xfrm>
            <a:off x="10573207" y="4986223"/>
            <a:ext cx="3048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SiCN(H)/SiCN(O) 적층 유지</a:t>
            </a:r>
            <a:endParaRPr lang="en-US" sz="1275" dirty="0"/>
          </a:p>
        </p:txBody>
      </p:sp>
      <p:sp>
        <p:nvSpPr>
          <p:cNvPr id="30" name="Shape 25"/>
          <p:cNvSpPr/>
          <p:nvPr/>
        </p:nvSpPr>
        <p:spPr>
          <a:xfrm>
            <a:off x="8477402" y="3409798"/>
            <a:ext cx="95098" cy="95098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86546" y="3847795"/>
            <a:ext cx="95098" cy="95098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486546" y="4286707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486546" y="4724705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486546" y="5162702"/>
            <a:ext cx="95098" cy="95098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4382598" y="2476195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Quick Numbers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4382598" y="2952598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via dia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4382598" y="3152851"/>
            <a:ext cx="2857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nm</a:t>
            </a:r>
            <a:endParaRPr lang="en-US" sz="2400" dirty="0"/>
          </a:p>
        </p:txBody>
      </p:sp>
      <p:sp>
        <p:nvSpPr>
          <p:cNvPr id="38" name="Text 33"/>
          <p:cNvSpPr txBox="1"/>
          <p:nvPr/>
        </p:nvSpPr>
        <p:spPr>
          <a:xfrm>
            <a:off x="14382598" y="3762756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trench CD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14382598" y="3962095"/>
            <a:ext cx="2857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nm</a:t>
            </a:r>
            <a:endParaRPr lang="en-US" sz="2400" dirty="0"/>
          </a:p>
        </p:txBody>
      </p:sp>
      <p:sp>
        <p:nvSpPr>
          <p:cNvPr id="40" name="Text 35"/>
          <p:cNvSpPr txBox="1"/>
          <p:nvPr/>
        </p:nvSpPr>
        <p:spPr>
          <a:xfrm>
            <a:off x="14382598" y="4572000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barrier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4382598" y="4772254"/>
            <a:ext cx="2857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2 nm</a:t>
            </a:r>
            <a:endParaRPr lang="en-US" sz="2400" dirty="0"/>
          </a:p>
        </p:txBody>
      </p:sp>
      <p:sp>
        <p:nvSpPr>
          <p:cNvPr id="42" name="Text 37"/>
          <p:cNvSpPr txBox="1"/>
          <p:nvPr/>
        </p:nvSpPr>
        <p:spPr>
          <a:xfrm>
            <a:off x="14382598" y="5381244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aspect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14382598" y="5581498"/>
            <a:ext cx="2857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: 2.1</a:t>
            </a:r>
            <a:endParaRPr lang="en-US" sz="2400" dirty="0"/>
          </a:p>
        </p:txBody>
      </p:sp>
      <p:sp>
        <p:nvSpPr>
          <p:cNvPr id="44" name="Text 39"/>
          <p:cNvSpPr txBox="1"/>
          <p:nvPr/>
        </p:nvSpPr>
        <p:spPr>
          <a:xfrm>
            <a:off x="14382598" y="7429500"/>
            <a:ext cx="34006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TEM 1 view / wafer, FIB lift-out 동일 recipe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46" name="Text 41"/>
          <p:cNvSpPr txBox="1"/>
          <p:nvPr/>
        </p:nvSpPr>
        <p:spPr>
          <a:xfrm>
            <a:off x="2407615" y="8896198"/>
            <a:ext cx="110871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측벽 / 바닥, ULK 손상층의 회복 거동은 split별 정량 비교의 근거이며 본 슬라이드의 reference view는 평가 좌표만 공유한다.</a:t>
            </a:r>
            <a:endParaRPr lang="en-US" sz="1575" dirty="0"/>
          </a:p>
        </p:txBody>
      </p:sp>
      <p:sp>
        <p:nvSpPr>
          <p:cNvPr id="47" name="Text 42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 · 단면 참고 image: 3D InCites / public domain BEOL figure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1239805" cy="571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4000500"/>
            <a:ext cx="11239805" cy="11430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5143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6476695"/>
            <a:ext cx="11239805" cy="76169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382805" y="2286000"/>
            <a:ext cx="5143500" cy="495330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5715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CD-SEM · AASI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CD Variation — After Active Si Isolation</a:t>
            </a:r>
            <a:endParaRPr lang="en-US" sz="315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23.1 nm · 49 pt · wafer 평균 / 3σ / range / Δ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286000"/>
          <a:ext cx="10858500" cy="571500"/>
        </p:xfrm>
        <a:graphic>
          <a:graphicData uri="http://schemas.openxmlformats.org/drawingml/2006/table">
            <a:tbl>
              <a:tblPr/>
              <a:tblGrid>
                <a:gridCol w="1614830"/>
                <a:gridCol w="1072591"/>
                <a:gridCol w="1228039"/>
                <a:gridCol w="1619402"/>
                <a:gridCol w="1370686"/>
                <a:gridCol w="1381658"/>
                <a:gridCol w="1525219"/>
                <a:gridCol w="1046074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 VS TGT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857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89093"/>
                <a:gridCol w="1045071"/>
                <a:gridCol w="1199592"/>
                <a:gridCol w="1667725"/>
                <a:gridCol w="1376970"/>
                <a:gridCol w="1376970"/>
                <a:gridCol w="1560749"/>
                <a:gridCol w="1042328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 · 180s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23.42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4.61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+0.32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4000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89093"/>
                <a:gridCol w="1045071"/>
                <a:gridCol w="1199592"/>
                <a:gridCol w="1667725"/>
                <a:gridCol w="1376970"/>
                <a:gridCol w="1376970"/>
                <a:gridCol w="1560749"/>
                <a:gridCol w="1042328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W42-S1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 · 240s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23.07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0.92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3.84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-0.03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10573207" y="4095598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9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143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81912"/>
                <a:gridCol w="1039673"/>
                <a:gridCol w="1193292"/>
                <a:gridCol w="1663294"/>
                <a:gridCol w="1372514"/>
                <a:gridCol w="1372514"/>
                <a:gridCol w="1555394"/>
                <a:gridCol w="1078992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 · 300s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22.74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5.27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-0.36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BORDER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0858500" cy="762610"/>
        </p:xfrm>
        <a:graphic>
          <a:graphicData uri="http://schemas.openxmlformats.org/drawingml/2006/table">
            <a:tbl>
              <a:tblPr/>
              <a:tblGrid>
                <a:gridCol w="2113178"/>
                <a:gridCol w="2188159"/>
                <a:gridCol w="2184502"/>
                <a:gridCol w="2184502"/>
                <a:gridCol w="2187245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 BAND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target 23.1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± 0.5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≤ 1.5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 ≤ 5.5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12668098" y="247619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Spec Window</a:t>
            </a:r>
            <a:endParaRPr lang="en-US" sz="975" dirty="0"/>
          </a:p>
        </p:txBody>
      </p:sp>
      <p:sp>
        <p:nvSpPr>
          <p:cNvPr id="21" name="Text 12"/>
          <p:cNvSpPr txBox="1"/>
          <p:nvPr/>
        </p:nvSpPr>
        <p:spPr>
          <a:xfrm>
            <a:off x="12668098" y="2695651"/>
            <a:ext cx="4572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Δ 분석 노트</a:t>
            </a:r>
            <a:endParaRPr lang="en-US" sz="1800" dirty="0"/>
          </a:p>
        </p:txBody>
      </p:sp>
      <p:sp>
        <p:nvSpPr>
          <p:cNvPr id="22" name="Text 13"/>
          <p:cNvSpPr txBox="1"/>
          <p:nvPr/>
        </p:nvSpPr>
        <p:spPr>
          <a:xfrm>
            <a:off x="12668098" y="3238805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± 0.5 nm · unit nm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12668098" y="4114800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22.6 · 23.1 · 24.0</a:t>
            </a:r>
            <a:endParaRPr lang="en-US" sz="825" dirty="0"/>
          </a:p>
        </p:txBody>
      </p:sp>
      <p:sp>
        <p:nvSpPr>
          <p:cNvPr id="24" name="Shape 15"/>
          <p:cNvSpPr/>
          <p:nvPr/>
        </p:nvSpPr>
        <p:spPr>
          <a:xfrm>
            <a:off x="12668098" y="3429000"/>
            <a:ext cx="4591202" cy="590702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13821156" y="3438144"/>
            <a:ext cx="2286000" cy="571500"/>
          </a:xfrm>
          <a:prstGeom prst="rect">
            <a:avLst/>
          </a:prstGeom>
          <a:solidFill>
            <a:srgbClr val="1F4D5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gen-dedup-6ae9ec89ac9ea6b8de4c5108248ff119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4964156" y="3438144"/>
            <a:ext cx="19202" cy="5715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5354605" y="3610051"/>
            <a:ext cx="133502" cy="228600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5354605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W41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14925751" y="3610051"/>
            <a:ext cx="133502" cy="2286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4725498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W42 ★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13135356" y="3610051"/>
            <a:ext cx="133502" cy="228600"/>
          </a:xfrm>
          <a:prstGeom prst="rect">
            <a:avLst/>
          </a:prstGeom>
          <a:solidFill>
            <a:srgbClr val="A9352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12963449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2668098" y="4762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</a:t>
            </a:r>
            <a:endParaRPr lang="en-US" sz="975" dirty="0"/>
          </a:p>
        </p:txBody>
      </p:sp>
      <p:sp>
        <p:nvSpPr>
          <p:cNvPr id="34" name="Text 24"/>
          <p:cNvSpPr txBox="1"/>
          <p:nvPr/>
        </p:nvSpPr>
        <p:spPr>
          <a:xfrm>
            <a:off x="12668098" y="5020056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W41(180s)는 under-cure 영역에서 mean이 +0.32 nm drift, W43(300s)는 -0.36 nm shift로 평균값 symmetry가 깨진다. Baseline(W42)은 ±0.05 nm 이내.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12668098" y="5969203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</a:t>
            </a:r>
            <a:endParaRPr lang="en-US" sz="975" dirty="0"/>
          </a:p>
        </p:txBody>
      </p:sp>
      <p:sp>
        <p:nvSpPr>
          <p:cNvPr id="36" name="Text 26"/>
          <p:cNvSpPr txBox="1"/>
          <p:nvPr/>
        </p:nvSpPr>
        <p:spPr>
          <a:xfrm>
            <a:off x="12668098" y="6206947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3σ는 세 split 모두 spec 내(≤ 1.5), W43의 range 5.27은 한계 부근 — 후속 in-wafer map에서 site 분포 확인 필요.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8" name="Text 28"/>
          <p:cNvSpPr txBox="1"/>
          <p:nvPr/>
        </p:nvSpPr>
        <p:spPr>
          <a:xfrm>
            <a:off x="2407615" y="8891626"/>
            <a:ext cx="9706356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AASI Δ는 split 대칭성을 보이지 않으며(180s 양 drift / 300s 음 drift), W42가 Δ·3σ 모두 가장 안정적이었다.</a:t>
            </a:r>
            <a:endParaRPr lang="en-US" sz="1575" dirty="0"/>
          </a:p>
        </p:txBody>
      </p:sp>
      <p:sp>
        <p:nvSpPr>
          <p:cNvPr id="39" name="Text 29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1239805" cy="571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4000500"/>
            <a:ext cx="11239805" cy="11430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5143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6476695"/>
            <a:ext cx="11239805" cy="76169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382805" y="2286000"/>
            <a:ext cx="5143500" cy="495330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5715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CD-SEM · ASEI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 CD Variation — After Spacer Etch Isolation</a:t>
            </a:r>
            <a:endParaRPr lang="en-US" sz="315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16.6 nm · 49 pt · wafer 평균 / 3σ / range / Δ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286000"/>
          <a:ext cx="10858500" cy="571500"/>
        </p:xfrm>
        <a:graphic>
          <a:graphicData uri="http://schemas.openxmlformats.org/drawingml/2006/table">
            <a:tbl>
              <a:tblPr/>
              <a:tblGrid>
                <a:gridCol w="1614830"/>
                <a:gridCol w="1072591"/>
                <a:gridCol w="1228039"/>
                <a:gridCol w="1619402"/>
                <a:gridCol w="1370686"/>
                <a:gridCol w="1381658"/>
                <a:gridCol w="1525219"/>
                <a:gridCol w="1046074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 VS TGT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857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1056"/>
                <a:gridCol w="1046074"/>
                <a:gridCol w="1200607"/>
                <a:gridCol w="1669694"/>
                <a:gridCol w="1378001"/>
                <a:gridCol w="1378001"/>
                <a:gridCol w="1561795"/>
                <a:gridCol w="1033272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 · 180s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16.81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2.94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4000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1056"/>
                <a:gridCol w="1046074"/>
                <a:gridCol w="1200607"/>
                <a:gridCol w="1669694"/>
                <a:gridCol w="1378001"/>
                <a:gridCol w="1378001"/>
                <a:gridCol w="1561795"/>
                <a:gridCol w="1033272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W42-S1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 · 240s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16.55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0.58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2.36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-0.05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10573207" y="4095598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9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143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1056"/>
                <a:gridCol w="1046074"/>
                <a:gridCol w="1200607"/>
                <a:gridCol w="1669694"/>
                <a:gridCol w="1378001"/>
                <a:gridCol w="1378001"/>
                <a:gridCol w="1561795"/>
                <a:gridCol w="1033272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 · 300s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16.32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3.21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-0.28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0858500" cy="762610"/>
        </p:xfrm>
        <a:graphic>
          <a:graphicData uri="http://schemas.openxmlformats.org/drawingml/2006/table">
            <a:tbl>
              <a:tblPr/>
              <a:tblGrid>
                <a:gridCol w="2113178"/>
                <a:gridCol w="2188159"/>
                <a:gridCol w="2184502"/>
                <a:gridCol w="2184502"/>
                <a:gridCol w="2187245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 BAND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target 16.6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± 0.5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≤ 1.2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 ≤ 3.5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12668098" y="2476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분석 노트</a:t>
            </a:r>
            <a:endParaRPr lang="en-US" sz="975" dirty="0"/>
          </a:p>
        </p:txBody>
      </p:sp>
      <p:sp>
        <p:nvSpPr>
          <p:cNvPr id="21" name="Text 12"/>
          <p:cNvSpPr txBox="1"/>
          <p:nvPr/>
        </p:nvSpPr>
        <p:spPr>
          <a:xfrm>
            <a:off x="12668098" y="27148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관찰</a:t>
            </a:r>
            <a:endParaRPr lang="en-US" sz="1800" dirty="0"/>
          </a:p>
        </p:txBody>
      </p:sp>
      <p:sp>
        <p:nvSpPr>
          <p:cNvPr id="22" name="Text 13"/>
          <p:cNvSpPr txBox="1"/>
          <p:nvPr/>
        </p:nvSpPr>
        <p:spPr>
          <a:xfrm>
            <a:off x="12668098" y="3238805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± 0.5 nm · unit nm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12668098" y="4114800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15.7 · 16.6 · 17.1</a:t>
            </a:r>
            <a:endParaRPr lang="en-US" sz="825" dirty="0"/>
          </a:p>
        </p:txBody>
      </p:sp>
      <p:sp>
        <p:nvSpPr>
          <p:cNvPr id="24" name="Shape 15"/>
          <p:cNvSpPr/>
          <p:nvPr/>
        </p:nvSpPr>
        <p:spPr>
          <a:xfrm>
            <a:off x="12668098" y="3429000"/>
            <a:ext cx="4591202" cy="590702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13821156" y="3438144"/>
            <a:ext cx="2286000" cy="571500"/>
          </a:xfrm>
          <a:prstGeom prst="rect">
            <a:avLst/>
          </a:prstGeom>
          <a:solidFill>
            <a:srgbClr val="1F4D5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gen-dedup-6ae9ec89ac9ea6b8de4c5108248ff119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4964156" y="3438144"/>
            <a:ext cx="19202" cy="5715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6297351" y="3610051"/>
            <a:ext cx="133502" cy="228600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6297351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W41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15307056" y="3610051"/>
            <a:ext cx="133502" cy="2286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5106802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W42 ★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14697151" y="3610051"/>
            <a:ext cx="133502" cy="228600"/>
          </a:xfrm>
          <a:prstGeom prst="rect">
            <a:avLst/>
          </a:prstGeom>
          <a:solidFill>
            <a:srgbClr val="A9352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14582851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2668098" y="4762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</a:t>
            </a:r>
            <a:endParaRPr lang="en-US" sz="975" dirty="0"/>
          </a:p>
        </p:txBody>
      </p:sp>
      <p:sp>
        <p:nvSpPr>
          <p:cNvPr id="34" name="Text 24"/>
          <p:cNvSpPr txBox="1"/>
          <p:nvPr/>
        </p:nvSpPr>
        <p:spPr>
          <a:xfrm>
            <a:off x="12668098" y="5020056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 Δ drift는 +0.21 / -0.05 / -0.28 nm. W41 under-cure는 spacer etch 잔여물 영향으로 mean이 양(+)으로, W43 over-cure는 음(-)으로 치우쳤다. W42가 가장 안정적.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12668098" y="5969203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</a:t>
            </a:r>
            <a:endParaRPr lang="en-US" sz="975" dirty="0"/>
          </a:p>
        </p:txBody>
      </p:sp>
      <p:sp>
        <p:nvSpPr>
          <p:cNvPr id="36" name="Text 26"/>
          <p:cNvSpPr txBox="1"/>
          <p:nvPr/>
        </p:nvSpPr>
        <p:spPr>
          <a:xfrm>
            <a:off x="12668098" y="6206947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 Δ 폭은 AASI 대비 절반 수준, 3σ는 세 split 모두 ≤ 1.0 nm로 AASI보다 양호.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8" name="Text 28"/>
          <p:cNvSpPr txBox="1"/>
          <p:nvPr/>
        </p:nvSpPr>
        <p:spPr>
          <a:xfrm>
            <a:off x="2407615" y="8891626"/>
            <a:ext cx="9421063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ASEI는 AASI보다 drift 폭이 절반 수준으로 안정적이며, W42가 Δ·3σ 모두 spec band 중앙에 가장 가깝다.</a:t>
            </a:r>
            <a:endParaRPr lang="en-US" sz="1575" dirty="0"/>
          </a:p>
        </p:txBody>
      </p:sp>
      <p:sp>
        <p:nvSpPr>
          <p:cNvPr id="39" name="Text 29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1239805" cy="571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4000500"/>
            <a:ext cx="11239805" cy="11430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5143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6476695"/>
            <a:ext cx="11239805" cy="76169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382805" y="2286000"/>
            <a:ext cx="5143500" cy="495330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5715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CD-SEM · AMI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CD Variation — After Metal Inspection</a:t>
            </a:r>
            <a:endParaRPr lang="en-US" sz="315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8.3 nm · 49 pt · wafer 평균 / 3σ / range / Δ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286000"/>
          <a:ext cx="10858500" cy="571500"/>
        </p:xfrm>
        <a:graphic>
          <a:graphicData uri="http://schemas.openxmlformats.org/drawingml/2006/table">
            <a:tbl>
              <a:tblPr/>
              <a:tblGrid>
                <a:gridCol w="1614830"/>
                <a:gridCol w="1072591"/>
                <a:gridCol w="1228039"/>
                <a:gridCol w="1619402"/>
                <a:gridCol w="1370686"/>
                <a:gridCol w="1381658"/>
                <a:gridCol w="1525219"/>
                <a:gridCol w="1046074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 VS TGT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857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5628"/>
                <a:gridCol w="1048817"/>
                <a:gridCol w="1205179"/>
                <a:gridCol w="1644091"/>
                <a:gridCol w="1381658"/>
                <a:gridCol w="1381658"/>
                <a:gridCol w="1565453"/>
                <a:gridCol w="1036015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 · 180s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8.46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+0.16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4000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5628"/>
                <a:gridCol w="1048817"/>
                <a:gridCol w="1205179"/>
                <a:gridCol w="1644091"/>
                <a:gridCol w="1381658"/>
                <a:gridCol w="1381658"/>
                <a:gridCol w="1565453"/>
                <a:gridCol w="1036015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W42-S1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 · 240s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8.24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0.32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1.27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-0.06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10573207" y="4095598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9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143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0142"/>
                <a:gridCol w="1045159"/>
                <a:gridCol w="1200607"/>
                <a:gridCol w="1639519"/>
                <a:gridCol w="1378001"/>
                <a:gridCol w="1378001"/>
                <a:gridCol w="1561795"/>
                <a:gridCol w="1065276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 · 300s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8.07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0.48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2.04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-0.23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BORDER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0858500" cy="762610"/>
        </p:xfrm>
        <a:graphic>
          <a:graphicData uri="http://schemas.openxmlformats.org/drawingml/2006/table">
            <a:tbl>
              <a:tblPr/>
              <a:tblGrid>
                <a:gridCol w="2113178"/>
                <a:gridCol w="2188159"/>
                <a:gridCol w="2184502"/>
                <a:gridCol w="2185416"/>
                <a:gridCol w="2187245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 BAND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target 8.3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± 0.3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≤ 0.55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 ≤ 2.2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12668098" y="2476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분석 노트</a:t>
            </a:r>
            <a:endParaRPr lang="en-US" sz="975" dirty="0"/>
          </a:p>
        </p:txBody>
      </p:sp>
      <p:sp>
        <p:nvSpPr>
          <p:cNvPr id="21" name="Text 12"/>
          <p:cNvSpPr txBox="1"/>
          <p:nvPr/>
        </p:nvSpPr>
        <p:spPr>
          <a:xfrm>
            <a:off x="12668098" y="27148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관찰</a:t>
            </a:r>
            <a:endParaRPr lang="en-US" sz="1800" dirty="0"/>
          </a:p>
        </p:txBody>
      </p:sp>
      <p:sp>
        <p:nvSpPr>
          <p:cNvPr id="22" name="Text 13"/>
          <p:cNvSpPr txBox="1"/>
          <p:nvPr/>
        </p:nvSpPr>
        <p:spPr>
          <a:xfrm>
            <a:off x="12668098" y="3238805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± 0.3 nm · unit nm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12668098" y="4114800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7.6 · 8.3 · 9.0</a:t>
            </a:r>
            <a:endParaRPr lang="en-US" sz="825" dirty="0"/>
          </a:p>
        </p:txBody>
      </p:sp>
      <p:sp>
        <p:nvSpPr>
          <p:cNvPr id="24" name="Shape 15"/>
          <p:cNvSpPr/>
          <p:nvPr/>
        </p:nvSpPr>
        <p:spPr>
          <a:xfrm>
            <a:off x="12668098" y="3429000"/>
            <a:ext cx="4591202" cy="590702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13821156" y="3438144"/>
            <a:ext cx="2286000" cy="571500"/>
          </a:xfrm>
          <a:prstGeom prst="rect">
            <a:avLst/>
          </a:prstGeom>
          <a:solidFill>
            <a:srgbClr val="1F4D5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gen-dedup-6ae9ec89ac9ea6b8de4c5108248ff119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4964156" y="3438144"/>
            <a:ext cx="19202" cy="5715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5488107" y="3610051"/>
            <a:ext cx="133502" cy="228600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5344546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W41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14773046" y="3610051"/>
            <a:ext cx="133502" cy="2286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4582851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W42 ★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14211605" y="3610051"/>
            <a:ext cx="133502" cy="228600"/>
          </a:xfrm>
          <a:prstGeom prst="rect">
            <a:avLst/>
          </a:prstGeom>
          <a:solidFill>
            <a:srgbClr val="A9352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14087246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2668098" y="4762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</a:t>
            </a:r>
            <a:endParaRPr lang="en-US" sz="975" dirty="0"/>
          </a:p>
        </p:txBody>
      </p:sp>
      <p:sp>
        <p:nvSpPr>
          <p:cNvPr id="34" name="Text 24"/>
          <p:cNvSpPr txBox="1"/>
          <p:nvPr/>
        </p:nvSpPr>
        <p:spPr>
          <a:xfrm>
            <a:off x="12668098" y="5020056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Δ drift는 +0.16 / -0.06 / -0.23 nm. Mean drift는 AASI와 같은 방향이지만 폭은 좁다. W43은 spec band edge 부근, Δ = -0.23 nm.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12668098" y="5969203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</a:t>
            </a:r>
            <a:endParaRPr lang="en-US" sz="975" dirty="0"/>
          </a:p>
        </p:txBody>
      </p:sp>
      <p:sp>
        <p:nvSpPr>
          <p:cNvPr id="36" name="Text 26"/>
          <p:cNvSpPr txBox="1"/>
          <p:nvPr/>
        </p:nvSpPr>
        <p:spPr>
          <a:xfrm>
            <a:off x="12668098" y="6206947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3σ 0.41 → 0.32 → 0.48, range 1.62 → 1.27 → 2.04. W43은 borderline, in-wafer map에서 edge site 확인 필요.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8" name="Text 28"/>
          <p:cNvSpPr txBox="1"/>
          <p:nvPr/>
        </p:nvSpPr>
        <p:spPr>
          <a:xfrm>
            <a:off x="2407615" y="8891626"/>
            <a:ext cx="11668658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AMI는 W42가 3σ·range 모두 가장 좁고, W43(300s)은 spec band 하단 edge 부근 — over-cure 측 pressure가 가장 크게 나타난다.</a:t>
            </a:r>
            <a:endParaRPr lang="en-US" sz="1575" dirty="0"/>
          </a:p>
        </p:txBody>
      </p:sp>
      <p:sp>
        <p:nvSpPr>
          <p:cNvPr id="39" name="Text 29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1239805" cy="571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4000500"/>
            <a:ext cx="11239805" cy="11430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5143500"/>
            <a:ext cx="11239805" cy="11430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6476695"/>
            <a:ext cx="11239805" cy="76169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382805" y="2286000"/>
            <a:ext cx="5143500" cy="495330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5715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CD-SEM · ACI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 CD Variation — After CMP Inspection</a:t>
            </a:r>
            <a:endParaRPr lang="en-US" sz="315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Target 9.1 nm · 49 pt · wafer 평균 / 3σ / range / Δ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286000"/>
          <a:ext cx="10858500" cy="571500"/>
        </p:xfrm>
        <a:graphic>
          <a:graphicData uri="http://schemas.openxmlformats.org/drawingml/2006/table">
            <a:tbl>
              <a:tblPr/>
              <a:tblGrid>
                <a:gridCol w="1614830"/>
                <a:gridCol w="1072591"/>
                <a:gridCol w="1228039"/>
                <a:gridCol w="1619402"/>
                <a:gridCol w="1370686"/>
                <a:gridCol w="1381658"/>
                <a:gridCol w="1525219"/>
                <a:gridCol w="1046074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SPLIT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(NM)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 VS TGT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857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5628"/>
                <a:gridCol w="1048817"/>
                <a:gridCol w="1205179"/>
                <a:gridCol w="1644091"/>
                <a:gridCol w="1381658"/>
                <a:gridCol w="1381658"/>
                <a:gridCol w="1565453"/>
                <a:gridCol w="1036015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 · 180s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9.34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0.43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4000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5628"/>
                <a:gridCol w="1048817"/>
                <a:gridCol w="1205179"/>
                <a:gridCol w="1644091"/>
                <a:gridCol w="1381658"/>
                <a:gridCol w="1381658"/>
                <a:gridCol w="1565453"/>
                <a:gridCol w="1036015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W42-S1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 · 240s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9.04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1.36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-0.06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PASS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10573207" y="4095598"/>
            <a:ext cx="123901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90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143500"/>
          <a:ext cx="10858500" cy="1143000"/>
        </p:xfrm>
        <a:graphic>
          <a:graphicData uri="http://schemas.openxmlformats.org/drawingml/2006/table">
            <a:tbl>
              <a:tblPr/>
              <a:tblGrid>
                <a:gridCol w="1590142"/>
                <a:gridCol w="1045159"/>
                <a:gridCol w="1200607"/>
                <a:gridCol w="1639519"/>
                <a:gridCol w="1378001"/>
                <a:gridCol w="1378001"/>
                <a:gridCol w="1561795"/>
                <a:gridCol w="1065276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W43-S1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 · 300s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8.83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2.18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-0.27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5270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BORDER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476695"/>
          <a:ext cx="10858500" cy="762610"/>
        </p:xfrm>
        <a:graphic>
          <a:graphicData uri="http://schemas.openxmlformats.org/drawingml/2006/table">
            <a:tbl>
              <a:tblPr/>
              <a:tblGrid>
                <a:gridCol w="2113178"/>
                <a:gridCol w="2188159"/>
                <a:gridCol w="2184502"/>
                <a:gridCol w="2185416"/>
                <a:gridCol w="2187245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SPEC BAND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target 9.1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± 0.3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≤ 0.55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 ≤ 2.2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1"/>
          <p:cNvSpPr txBox="1"/>
          <p:nvPr/>
        </p:nvSpPr>
        <p:spPr>
          <a:xfrm>
            <a:off x="12668098" y="2476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분석 노트</a:t>
            </a:r>
            <a:endParaRPr lang="en-US" sz="975" dirty="0"/>
          </a:p>
        </p:txBody>
      </p:sp>
      <p:sp>
        <p:nvSpPr>
          <p:cNvPr id="21" name="Text 12"/>
          <p:cNvSpPr txBox="1"/>
          <p:nvPr/>
        </p:nvSpPr>
        <p:spPr>
          <a:xfrm>
            <a:off x="12668098" y="2714854"/>
            <a:ext cx="4572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Cross-split Trend</a:t>
            </a:r>
            <a:endParaRPr lang="en-US" sz="1800" dirty="0"/>
          </a:p>
        </p:txBody>
      </p:sp>
      <p:sp>
        <p:nvSpPr>
          <p:cNvPr id="22" name="Text 13"/>
          <p:cNvSpPr txBox="1"/>
          <p:nvPr/>
        </p:nvSpPr>
        <p:spPr>
          <a:xfrm>
            <a:off x="12668098" y="3238805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± 0.3 nm · unit nm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12668098" y="4114800"/>
            <a:ext cx="4572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 · 9.1 · 9.8</a:t>
            </a:r>
            <a:endParaRPr lang="en-US" sz="825" dirty="0"/>
          </a:p>
        </p:txBody>
      </p:sp>
      <p:sp>
        <p:nvSpPr>
          <p:cNvPr id="24" name="Shape 15"/>
          <p:cNvSpPr/>
          <p:nvPr/>
        </p:nvSpPr>
        <p:spPr>
          <a:xfrm>
            <a:off x="12668098" y="3429000"/>
            <a:ext cx="4591202" cy="590702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13821156" y="3438144"/>
            <a:ext cx="2286000" cy="571500"/>
          </a:xfrm>
          <a:prstGeom prst="rect">
            <a:avLst/>
          </a:prstGeom>
          <a:solidFill>
            <a:srgbClr val="1F4D52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1" descr="gen-dedup-6ae9ec89ac9ea6b8de4c5108248ff119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4964156" y="3438144"/>
            <a:ext cx="19202" cy="5715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15745054" y="3610051"/>
            <a:ext cx="133502" cy="228600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15649956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W41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14773046" y="3610051"/>
            <a:ext cx="133502" cy="2286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4621256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W42 ★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14078102" y="3610051"/>
            <a:ext cx="133502" cy="228600"/>
          </a:xfrm>
          <a:prstGeom prst="rect">
            <a:avLst/>
          </a:prstGeom>
          <a:solidFill>
            <a:srgbClr val="A9352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13963802" y="4048049"/>
            <a:ext cx="571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W43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12668098" y="4762195"/>
            <a:ext cx="457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</a:t>
            </a:r>
            <a:endParaRPr lang="en-US" sz="975" dirty="0"/>
          </a:p>
        </p:txBody>
      </p:sp>
      <p:sp>
        <p:nvSpPr>
          <p:cNvPr id="34" name="Text 24"/>
          <p:cNvSpPr txBox="1"/>
          <p:nvPr/>
        </p:nvSpPr>
        <p:spPr>
          <a:xfrm>
            <a:off x="12668098" y="5020056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ACI는 CMP 직후 측정으로 Cu dishing·erosion 영향이 포함된다. Δ drift는 AMI와 동일한 +0.24 / -0.06 / -0.27 nm.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12668098" y="5703113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Cross-Spec</a:t>
            </a:r>
            <a:endParaRPr lang="en-US" sz="975" dirty="0"/>
          </a:p>
        </p:txBody>
      </p:sp>
      <p:sp>
        <p:nvSpPr>
          <p:cNvPr id="36" name="Text 26"/>
          <p:cNvSpPr txBox="1"/>
          <p:nvPr/>
        </p:nvSpPr>
        <p:spPr>
          <a:xfrm>
            <a:off x="12668098" y="5941771"/>
            <a:ext cx="457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AMI 대비 ACI 평균값이 +0.8 nm 큼(spec 차이), split 별 Δ는 동일 패턴. 4 종 CD 가운데 ACI가 AASI 다음으로 range 가장 넓음.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8" name="Text 28"/>
          <p:cNvSpPr txBox="1"/>
          <p:nvPr/>
        </p:nvSpPr>
        <p:spPr>
          <a:xfrm>
            <a:off x="2407615" y="8891626"/>
            <a:ext cx="10649102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ACI는 4 종 중 CMP 민감도가 높아 dishing 영향이 반영되며, Δ 패턴은 AMI와 동일 / W42가 가장 안정 / W43 borderline.</a:t>
            </a:r>
            <a:endParaRPr lang="en-US" sz="1575" dirty="0"/>
          </a:p>
        </p:txBody>
      </p:sp>
      <p:sp>
        <p:nvSpPr>
          <p:cNvPr id="39" name="Text 29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857500"/>
            <a:ext cx="3619195" cy="3619195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953305" y="2857500"/>
            <a:ext cx="3619195" cy="3619195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0" y="2857500"/>
            <a:ext cx="3619195" cy="3619195"/>
          </a:xfrm>
          <a:prstGeom prst="rect">
            <a:avLst/>
          </a:prstGeom>
          <a:solidFill>
            <a:srgbClr val="F2EEE3"/>
          </a:solidFill>
          <a:ln w="12700">
            <a:solidFill>
              <a:srgbClr val="14110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3334695" y="2190902"/>
            <a:ext cx="4190695" cy="2857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334695" y="5238598"/>
            <a:ext cx="4190695" cy="190469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505" y="2933395"/>
          <a:ext cx="3467405" cy="3639312"/>
        </p:xfrm>
        <a:graphic>
          <a:graphicData uri="http://schemas.openxmlformats.org/drawingml/2006/table">
            <a:tbl>
              <a:tblPr/>
              <a:tblGrid>
                <a:gridCol w="451714"/>
                <a:gridCol w="451714"/>
                <a:gridCol w="451714"/>
                <a:gridCol w="451714"/>
                <a:gridCol w="451714"/>
                <a:gridCol w="451714"/>
                <a:gridCol w="451714"/>
              </a:tblGrid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352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933395"/>
          <a:ext cx="3467405" cy="3639312"/>
        </p:xfrm>
        <a:graphic>
          <a:graphicData uri="http://schemas.openxmlformats.org/drawingml/2006/table">
            <a:tbl>
              <a:tblPr/>
              <a:tblGrid>
                <a:gridCol w="451714"/>
                <a:gridCol w="451714"/>
                <a:gridCol w="451714"/>
                <a:gridCol w="451714"/>
                <a:gridCol w="451714"/>
                <a:gridCol w="451714"/>
                <a:gridCol w="451714"/>
              </a:tblGrid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19895" y="2933395"/>
          <a:ext cx="3467405" cy="3639312"/>
        </p:xfrm>
        <a:graphic>
          <a:graphicData uri="http://schemas.openxmlformats.org/drawingml/2006/table">
            <a:tbl>
              <a:tblPr/>
              <a:tblGrid>
                <a:gridCol w="451714"/>
                <a:gridCol w="451714"/>
                <a:gridCol w="451714"/>
                <a:gridCol w="451714"/>
                <a:gridCol w="451714"/>
                <a:gridCol w="451714"/>
                <a:gridCol w="451714"/>
              </a:tblGrid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</a:tr>
              <a:tr h="519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9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rif" charset="0"/>
                        <a:ea typeface="serif" charset="0"/>
                        <a:cs typeface="serif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52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In-wafer Uniformity · 49 pt Map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49pt Site Map — AASI Δ(23.1)</a:t>
            </a:r>
            <a:endParaRPr lang="en-US" sz="315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lot · 7×7 site · cell 색은 target 23.1 nm 대비 Δ(class 0.25 nm 단계)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190902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W41-S1 · Split A · 180s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409444"/>
            <a:ext cx="3620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23.42 · 3σ 1.18 · range 4.61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4953305" y="2190902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W42-S1 ★ · Split B · 240s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4953305" y="2409444"/>
            <a:ext cx="3620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23.07 · 3σ 0.92 · range 3.84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9144000" y="2190902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W43-S1 · Split C · 300s</a:t>
            </a:r>
            <a:endParaRPr lang="en-US" sz="975" dirty="0"/>
          </a:p>
        </p:txBody>
      </p:sp>
      <p:sp>
        <p:nvSpPr>
          <p:cNvPr id="21" name="Text 14"/>
          <p:cNvSpPr txBox="1"/>
          <p:nvPr/>
        </p:nvSpPr>
        <p:spPr>
          <a:xfrm>
            <a:off x="9144000" y="2409444"/>
            <a:ext cx="36201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22.74 · 3σ 1.41 · range 5.27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3620902" y="2400300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Scale · Δ vs 23.1 nm</a:t>
            </a:r>
            <a:endParaRPr lang="en-US" sz="975" dirty="0"/>
          </a:p>
        </p:txBody>
      </p:sp>
      <p:sp>
        <p:nvSpPr>
          <p:cNvPr id="23" name="Text 16"/>
          <p:cNvSpPr txBox="1"/>
          <p:nvPr/>
        </p:nvSpPr>
        <p:spPr>
          <a:xfrm>
            <a:off x="13963802" y="2838298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-0.50</a:t>
            </a:r>
            <a:endParaRPr lang="en-US" sz="975" dirty="0"/>
          </a:p>
        </p:txBody>
      </p:sp>
      <p:sp>
        <p:nvSpPr>
          <p:cNvPr id="24" name="Text 17"/>
          <p:cNvSpPr txBox="1"/>
          <p:nvPr/>
        </p:nvSpPr>
        <p:spPr>
          <a:xfrm>
            <a:off x="15987370" y="2838298"/>
            <a:ext cx="1257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far below</a:t>
            </a:r>
            <a:endParaRPr lang="en-US" sz="975" dirty="0"/>
          </a:p>
        </p:txBody>
      </p:sp>
      <p:sp>
        <p:nvSpPr>
          <p:cNvPr id="25" name="Text 18"/>
          <p:cNvSpPr txBox="1"/>
          <p:nvPr/>
        </p:nvSpPr>
        <p:spPr>
          <a:xfrm>
            <a:off x="13963802" y="3124505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-0.50 ~ -0.25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13963802" y="3409798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-0.25 ~ -0.10</a:t>
            </a:r>
            <a:endParaRPr lang="en-US" sz="975" dirty="0"/>
          </a:p>
        </p:txBody>
      </p:sp>
      <p:sp>
        <p:nvSpPr>
          <p:cNvPr id="27" name="Text 20"/>
          <p:cNvSpPr txBox="1"/>
          <p:nvPr/>
        </p:nvSpPr>
        <p:spPr>
          <a:xfrm>
            <a:off x="13963802" y="3696005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-0.10 ~ -0.02</a:t>
            </a:r>
            <a:endParaRPr lang="en-US" sz="975" dirty="0"/>
          </a:p>
        </p:txBody>
      </p:sp>
      <p:sp>
        <p:nvSpPr>
          <p:cNvPr id="28" name="Text 21"/>
          <p:cNvSpPr txBox="1"/>
          <p:nvPr/>
        </p:nvSpPr>
        <p:spPr>
          <a:xfrm>
            <a:off x="13963802" y="3981298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± 0.02</a:t>
            </a:r>
            <a:endParaRPr lang="en-US" sz="975" dirty="0"/>
          </a:p>
        </p:txBody>
      </p:sp>
      <p:sp>
        <p:nvSpPr>
          <p:cNvPr id="29" name="Text 22"/>
          <p:cNvSpPr txBox="1"/>
          <p:nvPr/>
        </p:nvSpPr>
        <p:spPr>
          <a:xfrm>
            <a:off x="15987370" y="3981298"/>
            <a:ext cx="1257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in-window</a:t>
            </a:r>
            <a:endParaRPr lang="en-US" sz="975" dirty="0"/>
          </a:p>
        </p:txBody>
      </p:sp>
      <p:sp>
        <p:nvSpPr>
          <p:cNvPr id="30" name="Text 23"/>
          <p:cNvSpPr txBox="1"/>
          <p:nvPr/>
        </p:nvSpPr>
        <p:spPr>
          <a:xfrm>
            <a:off x="13963802" y="4267505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+0.20 ~ +0.40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13963802" y="4552798"/>
            <a:ext cx="202905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4110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+0.40</a:t>
            </a:r>
            <a:endParaRPr lang="en-US" sz="975" dirty="0"/>
          </a:p>
        </p:txBody>
      </p:sp>
      <p:sp>
        <p:nvSpPr>
          <p:cNvPr id="32" name="Text 25"/>
          <p:cNvSpPr txBox="1"/>
          <p:nvPr/>
        </p:nvSpPr>
        <p:spPr>
          <a:xfrm>
            <a:off x="15987370" y="4552798"/>
            <a:ext cx="1257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E66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far above</a:t>
            </a:r>
            <a:endParaRPr lang="en-US" sz="975" dirty="0"/>
          </a:p>
        </p:txBody>
      </p:sp>
      <p:sp>
        <p:nvSpPr>
          <p:cNvPr id="33" name="Shape 26"/>
          <p:cNvSpPr/>
          <p:nvPr/>
        </p:nvSpPr>
        <p:spPr>
          <a:xfrm>
            <a:off x="13620902" y="2895905"/>
            <a:ext cx="228600" cy="133502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3620902" y="3181198"/>
            <a:ext cx="228600" cy="133502"/>
          </a:xfrm>
          <a:prstGeom prst="rect">
            <a:avLst/>
          </a:prstGeom>
          <a:solidFill>
            <a:srgbClr val="5489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3620902" y="3467405"/>
            <a:ext cx="228600" cy="133502"/>
          </a:xfrm>
          <a:prstGeom prst="rect">
            <a:avLst/>
          </a:prstGeom>
          <a:solidFill>
            <a:srgbClr val="6E98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3620902" y="3752698"/>
            <a:ext cx="228600" cy="133502"/>
          </a:xfrm>
          <a:prstGeom prst="rect">
            <a:avLst/>
          </a:prstGeom>
          <a:solidFill>
            <a:srgbClr val="A5B7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3620902" y="4038905"/>
            <a:ext cx="228600" cy="133502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3620902" y="4324198"/>
            <a:ext cx="228600" cy="133502"/>
          </a:xfrm>
          <a:prstGeom prst="rect">
            <a:avLst/>
          </a:prstGeom>
          <a:solidFill>
            <a:srgbClr val="C77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3620902" y="4610405"/>
            <a:ext cx="228600" cy="133502"/>
          </a:xfrm>
          <a:prstGeom prst="rect">
            <a:avLst/>
          </a:prstGeom>
          <a:solidFill>
            <a:srgbClr val="A935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3582498" y="5410505"/>
            <a:ext cx="36960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Observation</a:t>
            </a:r>
            <a:endParaRPr lang="en-US" sz="975" dirty="0"/>
          </a:p>
        </p:txBody>
      </p:sp>
      <p:sp>
        <p:nvSpPr>
          <p:cNvPr id="41" name="Text 34"/>
          <p:cNvSpPr txBox="1"/>
          <p:nvPr/>
        </p:nvSpPr>
        <p:spPr>
          <a:xfrm>
            <a:off x="13582498" y="5686654"/>
            <a:ext cx="3696005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W41(W·corner ring 강세), W43(corner 음 drift + 1 cell 강한 양 편차), W42(중심 cluster). 후속 uniformity 표에서 정량 비교.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43" name="Text 36"/>
          <p:cNvSpPr txBox="1"/>
          <p:nvPr/>
        </p:nvSpPr>
        <p:spPr>
          <a:xfrm>
            <a:off x="2407615" y="8896198"/>
            <a:ext cx="116302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49pt map은 W42가 좁고 균질한 분포, W41은 corner-hot / W43은 corner-cold 비대칭 패턴 — UV cure 시간 비대칭 거동을 시각화.</a:t>
            </a:r>
            <a:endParaRPr lang="en-US" sz="1575" dirty="0"/>
          </a:p>
        </p:txBody>
      </p:sp>
      <p:sp>
        <p:nvSpPr>
          <p:cNvPr id="44" name="Text 37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6763695" cy="5715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16763695" cy="3429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1695" y="3200400"/>
            <a:ext cx="16763695" cy="571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61695" y="3771900"/>
            <a:ext cx="16763695" cy="5715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61695" y="4343400"/>
            <a:ext cx="16763695" cy="571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61695" y="5029200"/>
            <a:ext cx="16763695" cy="3429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61695" y="5372100"/>
            <a:ext cx="16763695" cy="571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1695" y="5943600"/>
            <a:ext cx="16763695" cy="5715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695" y="6515100"/>
            <a:ext cx="16763695" cy="571500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1695" y="7200900"/>
            <a:ext cx="16763695" cy="3429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695" y="7543800"/>
            <a:ext cx="16763695" cy="476402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1695" y="8020202"/>
            <a:ext cx="16763695" cy="476402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In-wafer Uniformity · Numerical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In-wafer Uniformity 정량 — 4 종 CD × 49pt</a:t>
            </a:r>
            <a:endParaRPr lang="en-US" sz="3150" dirty="0"/>
          </a:p>
        </p:txBody>
      </p:sp>
      <p:sp>
        <p:nvSpPr>
          <p:cNvPr id="19" name="Text 15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49 site WIW 평균 · 3σ · min · max · Edge-Center Δ · WIW/CoV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2860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CD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MEAN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WIW 3Σ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MIN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MAX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EDGE − CTR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COV (%)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952805" y="2857500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 · target 23.1 nm</a:t>
            </a:r>
            <a:endParaRPr lang="en-US" sz="975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32004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23.42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22.21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24.62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+0.71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1.36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ring-hot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37719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★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23.07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22.27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23.84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+0.18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43434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22.74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21.30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24.18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−0.84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ring-cold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952805" y="5029200"/>
            <a:ext cx="1638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 · target 16.6 nm</a:t>
            </a:r>
            <a:endParaRPr lang="en-US" sz="975" dirty="0"/>
          </a:p>
        </p:txBody>
      </p:sp>
      <p:graphicFrame>
        <p:nvGraphicFramePr>
          <p:cNvPr id="5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3721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16.81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0.58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15.94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17.42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1.16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in-spec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59436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★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16.55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15.94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17.06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+0.09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0.85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6515100"/>
          <a:ext cx="16383305" cy="571500"/>
        </p:xfrm>
        <a:graphic>
          <a:graphicData uri="http://schemas.openxmlformats.org/drawingml/2006/table">
            <a:tbl>
              <a:tblPr/>
              <a:tblGrid>
                <a:gridCol w="1622969"/>
                <a:gridCol w="1405354"/>
                <a:gridCol w="1207855"/>
                <a:gridCol w="1910075"/>
                <a:gridCol w="1712576"/>
                <a:gridCol w="1712576"/>
                <a:gridCol w="1712576"/>
                <a:gridCol w="1712576"/>
                <a:gridCol w="1712576"/>
                <a:gridCol w="1674173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300s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16.32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0.69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15.42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17.14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−0.41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1.42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114300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in-spec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75895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18"/>
          <p:cNvSpPr txBox="1"/>
          <p:nvPr/>
        </p:nvSpPr>
        <p:spPr>
          <a:xfrm>
            <a:off x="952805" y="7200900"/>
            <a:ext cx="16383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2EEE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 / ACI · 압축 표 · 3σ / range · W41 / W42 / W43</a:t>
            </a:r>
            <a:endParaRPr lang="en-US" sz="975" dirty="0"/>
          </a:p>
        </p:txBody>
      </p:sp>
      <p:graphicFrame>
        <p:nvGraphicFramePr>
          <p:cNvPr id="8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7543800"/>
          <a:ext cx="16383305" cy="476402"/>
        </p:xfrm>
        <a:graphic>
          <a:graphicData uri="http://schemas.openxmlformats.org/drawingml/2006/table">
            <a:tbl>
              <a:tblPr/>
              <a:tblGrid>
                <a:gridCol w="2181758"/>
                <a:gridCol w="3128162"/>
                <a:gridCol w="4034333"/>
                <a:gridCol w="3128162"/>
                <a:gridCol w="3910889"/>
              </a:tblGrid>
              <a:tr h="476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AMI · 8.3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· W41 / W42 / W43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0.41 · 0.32 · 0.48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 · W41 / W42 / W43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 · 1.27 · 2.04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0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8020202"/>
          <a:ext cx="16383305" cy="476402"/>
        </p:xfrm>
        <a:graphic>
          <a:graphicData uri="http://schemas.openxmlformats.org/drawingml/2006/table">
            <a:tbl>
              <a:tblPr/>
              <a:tblGrid>
                <a:gridCol w="2181758"/>
                <a:gridCol w="3128162"/>
                <a:gridCol w="4034333"/>
                <a:gridCol w="3128162"/>
                <a:gridCol w="3910889"/>
              </a:tblGrid>
              <a:tr h="476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ACI · 9.1 NM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3σ · W41 / W42 / W43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0.43 · 0.34 · 0.51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range · W41 / W42 / W43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1.74 · 1.36 · 2.18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19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3" name="Text 20"/>
          <p:cNvSpPr txBox="1"/>
          <p:nvPr/>
        </p:nvSpPr>
        <p:spPr>
          <a:xfrm>
            <a:off x="2407615" y="8891626"/>
            <a:ext cx="12106656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W42가 WIW 3σ와 Edge-Ctr Δ 모두 가장 작고, W41과 W43는 각각 ring-hot / ring-cold 비대칭으로 split 대칭 거동이 일관되게 나타난다.</a:t>
            </a:r>
            <a:endParaRPr lang="en-US" sz="1575" dirty="0"/>
          </a:p>
        </p:txBody>
      </p:sp>
      <p:sp>
        <p:nvSpPr>
          <p:cNvPr id="34" name="Text 21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095805"/>
            <a:ext cx="7429500" cy="419069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47902" y="3619195"/>
            <a:ext cx="6858000" cy="761695"/>
          </a:xfrm>
          <a:prstGeom prst="rect">
            <a:avLst/>
          </a:prstGeom>
          <a:solidFill>
            <a:srgbClr val="F2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47902" y="4381805"/>
            <a:ext cx="6858000" cy="761695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47902" y="5143500"/>
            <a:ext cx="6858000" cy="761695"/>
          </a:xfrm>
          <a:prstGeom prst="rect">
            <a:avLst/>
          </a:prstGeom>
          <a:solidFill>
            <a:srgbClr val="F2EE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2305" y="2095805"/>
            <a:ext cx="9144000" cy="419069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67598" y="3619195"/>
            <a:ext cx="8572500" cy="761695"/>
          </a:xfrm>
          <a:prstGeom prst="rect">
            <a:avLst/>
          </a:prstGeom>
          <a:solidFill>
            <a:srgbClr val="1F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67598" y="4381805"/>
            <a:ext cx="8572500" cy="761695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667598" y="5143500"/>
            <a:ext cx="8572500" cy="761695"/>
          </a:xfrm>
          <a:prstGeom prst="rect">
            <a:avLst/>
          </a:prstGeom>
          <a:solidFill>
            <a:srgbClr val="1F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1695" y="6476695"/>
            <a:ext cx="16763695" cy="209580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82305" y="6858000"/>
            <a:ext cx="9144000" cy="152430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 / Via Rs · EM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 특성 — Line Rs · Via Rs · EM</a:t>
            </a:r>
            <a:endParaRPr lang="en-US" sz="315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33 nm-wide line Kelvin 4T · M3→M4 단일 via · EM 0.10 mA/μm, 300°C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47902" y="2286000"/>
            <a:ext cx="6858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A</a:t>
            </a:r>
            <a:endParaRPr lang="en-US" sz="975" dirty="0"/>
          </a:p>
        </p:txBody>
      </p:sp>
      <p:sp>
        <p:nvSpPr>
          <p:cNvPr id="19" name="Text 15"/>
          <p:cNvSpPr txBox="1"/>
          <p:nvPr/>
        </p:nvSpPr>
        <p:spPr>
          <a:xfrm>
            <a:off x="1047902" y="2505456"/>
            <a:ext cx="685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Line Resistance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047902" y="2905049"/>
            <a:ext cx="685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33 nm-wide M4 line · 49 site 평균 · 25°C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3238805"/>
          <a:ext cx="6858000" cy="333756"/>
        </p:xfrm>
        <a:graphic>
          <a:graphicData uri="http://schemas.openxmlformats.org/drawingml/2006/table">
            <a:tbl>
              <a:tblPr/>
              <a:tblGrid>
                <a:gridCol w="1904695"/>
                <a:gridCol w="2133295"/>
                <a:gridCol w="1904695"/>
                <a:gridCol w="91440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RS (Ω/ΜM)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 VS B (%)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3619195"/>
          <a:ext cx="6858000" cy="762610"/>
        </p:xfrm>
        <a:graphic>
          <a:graphicData uri="http://schemas.openxmlformats.org/drawingml/2006/table">
            <a:tbl>
              <a:tblPr/>
              <a:tblGrid>
                <a:gridCol w="1904695"/>
                <a:gridCol w="2133295"/>
                <a:gridCol w="1904695"/>
                <a:gridCol w="914400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 · A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0.318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+16.9%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gap-films ↓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4381805"/>
          <a:ext cx="6858000" cy="762610"/>
        </p:xfrm>
        <a:graphic>
          <a:graphicData uri="http://schemas.openxmlformats.org/drawingml/2006/table">
            <a:tbl>
              <a:tblPr/>
              <a:tblGrid>
                <a:gridCol w="1904695"/>
                <a:gridCol w="2133295"/>
                <a:gridCol w="1904695"/>
                <a:gridCol w="914400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· B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0.272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reference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5143500"/>
          <a:ext cx="6858000" cy="762610"/>
        </p:xfrm>
        <a:graphic>
          <a:graphicData uri="http://schemas.openxmlformats.org/drawingml/2006/table">
            <a:tbl>
              <a:tblPr/>
              <a:tblGrid>
                <a:gridCol w="1904695"/>
                <a:gridCol w="2133295"/>
                <a:gridCol w="1904695"/>
                <a:gridCol w="914400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 · C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0.295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+8.5%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barrier ↑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8667598" y="2286000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B</a:t>
            </a:r>
            <a:endParaRPr lang="en-US" sz="975" dirty="0"/>
          </a:p>
        </p:txBody>
      </p:sp>
      <p:sp>
        <p:nvSpPr>
          <p:cNvPr id="26" name="Text 18"/>
          <p:cNvSpPr txBox="1"/>
          <p:nvPr/>
        </p:nvSpPr>
        <p:spPr>
          <a:xfrm>
            <a:off x="8667598" y="2505456"/>
            <a:ext cx="8572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Via Rs · M3 → M4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8667598" y="2905049"/>
            <a:ext cx="8572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9D1B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 = 18 nm 단일 via · 49 site 평균 · 25°C</a:t>
            </a:r>
            <a:endParaRPr lang="en-US" sz="1050" dirty="0"/>
          </a:p>
        </p:txBody>
      </p:sp>
      <p:graphicFrame>
        <p:nvGraphicFramePr>
          <p:cNvPr id="6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67598" y="3238805"/>
          <a:ext cx="8572500" cy="333756"/>
        </p:xfrm>
        <a:graphic>
          <a:graphicData uri="http://schemas.openxmlformats.org/drawingml/2006/table">
            <a:tbl>
              <a:tblPr/>
              <a:tblGrid>
                <a:gridCol w="2304288"/>
                <a:gridCol w="2580437"/>
                <a:gridCol w="2073859"/>
                <a:gridCol w="1613002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RS (Ω/VIA)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Δ VS B (%)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67598" y="3619195"/>
          <a:ext cx="8572500" cy="762610"/>
        </p:xfrm>
        <a:graphic>
          <a:graphicData uri="http://schemas.openxmlformats.org/drawingml/2006/table">
            <a:tbl>
              <a:tblPr/>
              <a:tblGrid>
                <a:gridCol w="2304288"/>
                <a:gridCol w="2580437"/>
                <a:gridCol w="2073859"/>
                <a:gridCol w="1613002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 · A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4.74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+13.4%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barrier ↑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67598" y="4381805"/>
          <a:ext cx="8572500" cy="762610"/>
        </p:xfrm>
        <a:graphic>
          <a:graphicData uri="http://schemas.openxmlformats.org/drawingml/2006/table">
            <a:tbl>
              <a:tblPr/>
              <a:tblGrid>
                <a:gridCol w="2304288"/>
                <a:gridCol w="2580437"/>
                <a:gridCol w="2073859"/>
                <a:gridCol w="1613002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· B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4.18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reference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67598" y="5143500"/>
          <a:ext cx="8572500" cy="762610"/>
        </p:xfrm>
        <a:graphic>
          <a:graphicData uri="http://schemas.openxmlformats.org/drawingml/2006/table">
            <a:tbl>
              <a:tblPr/>
              <a:tblGrid>
                <a:gridCol w="2304288"/>
                <a:gridCol w="2580437"/>
                <a:gridCol w="2073859"/>
                <a:gridCol w="1613002"/>
              </a:tblGrid>
              <a:tr h="762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 · C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4.51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+7.9%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barrier ↑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0"/>
          <p:cNvSpPr txBox="1"/>
          <p:nvPr/>
        </p:nvSpPr>
        <p:spPr>
          <a:xfrm>
            <a:off x="1047902" y="666780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A935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C</a:t>
            </a:r>
            <a:endParaRPr lang="en-US" sz="975" dirty="0"/>
          </a:p>
        </p:txBody>
      </p:sp>
      <p:sp>
        <p:nvSpPr>
          <p:cNvPr id="33" name="Text 21"/>
          <p:cNvSpPr txBox="1"/>
          <p:nvPr/>
        </p:nvSpPr>
        <p:spPr>
          <a:xfrm>
            <a:off x="1047902" y="6886346"/>
            <a:ext cx="5715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Electromigration MTTF</a:t>
            </a:r>
            <a:endParaRPr lang="en-US" sz="1800" dirty="0"/>
          </a:p>
        </p:txBody>
      </p:sp>
      <p:sp>
        <p:nvSpPr>
          <p:cNvPr id="34" name="Text 22"/>
          <p:cNvSpPr txBox="1"/>
          <p:nvPr/>
        </p:nvSpPr>
        <p:spPr>
          <a:xfrm>
            <a:off x="1047902" y="7286854"/>
            <a:ext cx="5715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j = 0.10 mA/μm · T = 300°C · log-normal fit</a:t>
            </a:r>
            <a:endParaRPr lang="en-US" sz="1050" dirty="0"/>
          </a:p>
        </p:txBody>
      </p:sp>
      <p:graphicFrame>
        <p:nvGraphicFramePr>
          <p:cNvPr id="10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7334402"/>
          <a:ext cx="6667805" cy="1562710"/>
        </p:xfrm>
        <a:graphic>
          <a:graphicData uri="http://schemas.openxmlformats.org/drawingml/2006/table">
            <a:tbl>
              <a:tblPr/>
              <a:tblGrid>
                <a:gridCol w="1333195"/>
                <a:gridCol w="571500"/>
                <a:gridCol w="4081882"/>
                <a:gridCol w="680314"/>
              </a:tblGrid>
              <a:tr h="520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 · 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MTTF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1245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· B ★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MTTF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2168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9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 · C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MTTF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3042</a:t>
                      </a:r>
                      <a:endParaRPr lang="en-US" sz="24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6E665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23"/>
          <p:cNvSpPr txBox="1"/>
          <p:nvPr/>
        </p:nvSpPr>
        <p:spPr>
          <a:xfrm>
            <a:off x="8667598" y="7086600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 관찰</a:t>
            </a:r>
            <a:endParaRPr lang="en-US" sz="975" dirty="0"/>
          </a:p>
        </p:txBody>
      </p:sp>
      <p:sp>
        <p:nvSpPr>
          <p:cNvPr id="37" name="Text 24"/>
          <p:cNvSpPr txBox="1"/>
          <p:nvPr/>
        </p:nvSpPr>
        <p:spPr>
          <a:xfrm>
            <a:off x="8667598" y="7401154"/>
            <a:ext cx="85725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W43 MTTF 3042 hr — over-cure에서 Cu/low-k 계면 안정화로 Cu drift 감소로 해석. W41 1245 hr은 짧아 under-cure에서 가속. baseline ratio 0.57× / 1.0× / 1.40×.</a:t>
            </a:r>
            <a:endParaRPr lang="en-US" sz="1350" dirty="0"/>
          </a:p>
        </p:txBody>
      </p:sp>
      <p:sp>
        <p:nvSpPr>
          <p:cNvPr id="38" name="Text 25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9" name="Text 26"/>
          <p:cNvSpPr txBox="1"/>
          <p:nvPr/>
        </p:nvSpPr>
        <p:spPr>
          <a:xfrm>
            <a:off x="2407615" y="8896198"/>
            <a:ext cx="134115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Rs는 W42에서 가장 낮고 EM은 W43에서 가장 길다 — 같은 Wafer set에서 Rs와 MTTF가 동시에 최적화되지 않는 trade-off 거동이 본 평가에서 동시에 확인.</a:t>
            </a:r>
            <a:endParaRPr lang="en-US" sz="1575" dirty="0"/>
          </a:p>
        </p:txBody>
      </p:sp>
      <p:sp>
        <p:nvSpPr>
          <p:cNvPr id="40" name="Text 27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81fd906a06207034c64ec71444557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0287000" cy="6096305"/>
          </a:xfrm>
          <a:prstGeom prst="rect">
            <a:avLst/>
          </a:prstGeom>
          <a:solidFill>
            <a:srgbClr val="ECE6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047902" y="3238805"/>
            <a:ext cx="9715500" cy="476402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47902" y="3715207"/>
            <a:ext cx="9715500" cy="1143000"/>
          </a:xfrm>
          <a:prstGeom prst="rect">
            <a:avLst/>
          </a:prstGeom>
          <a:solidFill>
            <a:srgbClr val="DAB9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47902" y="4858207"/>
            <a:ext cx="9715500" cy="1143000"/>
          </a:xfrm>
          <a:prstGeom prst="rect">
            <a:avLst/>
          </a:prstGeom>
          <a:solidFill>
            <a:srgbClr val="D9D1B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47902" y="6001207"/>
            <a:ext cx="9715500" cy="1143000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239805" y="2286000"/>
            <a:ext cx="6286500" cy="6096305"/>
          </a:xfrm>
          <a:prstGeom prst="rect">
            <a:avLst/>
          </a:prstGeom>
          <a:solidFill>
            <a:srgbClr val="14110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1525098" y="3676802"/>
            <a:ext cx="5715000" cy="952805"/>
          </a:xfrm>
          <a:prstGeom prst="rect">
            <a:avLst/>
          </a:prstGeom>
          <a:solidFill>
            <a:srgbClr val="1F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525098" y="4629607"/>
            <a:ext cx="5715000" cy="952805"/>
          </a:xfrm>
          <a:prstGeom prst="rect">
            <a:avLst/>
          </a:prstGeom>
          <a:solidFill>
            <a:srgbClr val="3D363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525098" y="5581498"/>
            <a:ext cx="5715000" cy="952805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1695" y="8762695"/>
            <a:ext cx="16763695" cy="571500"/>
          </a:xfrm>
          <a:prstGeom prst="rect">
            <a:avLst/>
          </a:prstGeom>
          <a:solidFill>
            <a:srgbClr val="1F4D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61695" y="57150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TDDB · CMP Dishing / Erosion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1028700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신뢰도 · CMP 형상 — TDDB Weibull · Dishing / Erosion</a:t>
            </a:r>
            <a:endParaRPr lang="en-US" sz="315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1595628"/>
            <a:ext cx="14287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use-V 125°C Weibull · 100 μm pad dishing · dense 80 % area erosion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47902" y="2476195"/>
            <a:ext cx="9525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1F4D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TDDB · Weibull · use-V · 125°C</a:t>
            </a:r>
            <a:endParaRPr lang="en-US" sz="975" dirty="0"/>
          </a:p>
        </p:txBody>
      </p:sp>
      <p:sp>
        <p:nvSpPr>
          <p:cNvPr id="18" name="Text 14"/>
          <p:cNvSpPr txBox="1"/>
          <p:nvPr/>
        </p:nvSpPr>
        <p:spPr>
          <a:xfrm>
            <a:off x="1047902" y="2695651"/>
            <a:ext cx="95253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Weibull β · η 통계</a:t>
            </a:r>
            <a:endParaRPr lang="en-US" sz="1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3238805"/>
          <a:ext cx="9715500" cy="476402"/>
        </p:xfrm>
        <a:graphic>
          <a:graphicData uri="http://schemas.openxmlformats.org/drawingml/2006/table">
            <a:tbl>
              <a:tblPr/>
              <a:tblGrid>
                <a:gridCol w="1227125"/>
                <a:gridCol w="1519733"/>
                <a:gridCol w="2078431"/>
                <a:gridCol w="2078431"/>
                <a:gridCol w="1702613"/>
                <a:gridCol w="1109167"/>
              </a:tblGrid>
              <a:tr h="4764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UV CURE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Β (SHAPE)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Η (SCALE, HR)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T_1% (HR)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NOTE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3791102"/>
          <a:ext cx="9715500" cy="1143000"/>
        </p:xfrm>
        <a:graphic>
          <a:graphicData uri="http://schemas.openxmlformats.org/drawingml/2006/table">
            <a:tbl>
              <a:tblPr/>
              <a:tblGrid>
                <a:gridCol w="1222553"/>
                <a:gridCol w="1513332"/>
                <a:gridCol w="2084832"/>
                <a:gridCol w="2084832"/>
                <a:gridCol w="1709014"/>
                <a:gridCol w="1100938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s · A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8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1.32</a:t>
                      </a:r>
                      <a:endParaRPr lang="en-US" sz="2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850" dirty="0">
                          <a:solidFill>
                            <a:srgbClr val="A9352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4.21</a:t>
                      </a:r>
                      <a:endParaRPr lang="en-US" sz="2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 0.04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3F3A2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low β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4934102"/>
          <a:ext cx="9715500" cy="1143000"/>
        </p:xfrm>
        <a:graphic>
          <a:graphicData uri="http://schemas.openxmlformats.org/drawingml/2006/table">
            <a:tbl>
              <a:tblPr/>
              <a:tblGrid>
                <a:gridCol w="1219810"/>
                <a:gridCol w="1509674"/>
                <a:gridCol w="2081174"/>
                <a:gridCol w="2081174"/>
                <a:gridCol w="1705356"/>
                <a:gridCol w="1117397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★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240 s · B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8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1.61</a:t>
                      </a:r>
                      <a:endParaRPr lang="en-US" sz="2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8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8.74</a:t>
                      </a:r>
                      <a:endParaRPr lang="en-US" sz="2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14110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 0.21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4D5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baseline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6077102"/>
          <a:ext cx="9715500" cy="1143000"/>
        </p:xfrm>
        <a:graphic>
          <a:graphicData uri="http://schemas.openxmlformats.org/drawingml/2006/table">
            <a:tbl>
              <a:tblPr/>
              <a:tblGrid>
                <a:gridCol w="1219810"/>
                <a:gridCol w="1510589"/>
                <a:gridCol w="2081174"/>
                <a:gridCol w="2092147"/>
                <a:gridCol w="1705356"/>
                <a:gridCol w="1105510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</a:t>
                      </a:r>
                      <a:endParaRPr lang="en-US" sz="18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s · C</a:t>
                      </a:r>
                      <a:endParaRPr lang="en-US" sz="13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8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1.86</a:t>
                      </a:r>
                      <a:endParaRPr lang="en-US" sz="2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850" dirty="0">
                          <a:solidFill>
                            <a:srgbClr val="A5B7B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14.51</a:t>
                      </a:r>
                      <a:endParaRPr lang="en-US" sz="2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~ 0.51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A5B7B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best slope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5"/>
          <p:cNvSpPr txBox="1"/>
          <p:nvPr/>
        </p:nvSpPr>
        <p:spPr>
          <a:xfrm>
            <a:off x="1047902" y="7334402"/>
            <a:ext cx="9715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4110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β 1.32 → 1.61 → 1.86, η 4.21 → 8.74 → 14.51 hr. W43 baseline 대비 약 1.7×, W41 대비 약 3.4× η. over-cure에서 Weibull tail이 가장 가파르고 t_1%도 가장 길다.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11525098" y="247619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CMP · 100 μm pad</a:t>
            </a:r>
            <a:endParaRPr lang="en-US" sz="975" dirty="0"/>
          </a:p>
        </p:txBody>
      </p:sp>
      <p:sp>
        <p:nvSpPr>
          <p:cNvPr id="25" name="Text 17"/>
          <p:cNvSpPr txBox="1"/>
          <p:nvPr/>
        </p:nvSpPr>
        <p:spPr>
          <a:xfrm>
            <a:off x="11525098" y="2695651"/>
            <a:ext cx="5715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Dishing · Erosion (nm)</a:t>
            </a:r>
            <a:endParaRPr lang="en-US" sz="1950" dirty="0"/>
          </a:p>
        </p:txBody>
      </p:sp>
      <p:graphicFrame>
        <p:nvGraphicFramePr>
          <p:cNvPr id="6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25098" y="3238805"/>
          <a:ext cx="5715000" cy="400507"/>
        </p:xfrm>
        <a:graphic>
          <a:graphicData uri="http://schemas.openxmlformats.org/drawingml/2006/table">
            <a:tbl>
              <a:tblPr/>
              <a:tblGrid>
                <a:gridCol w="1260958"/>
                <a:gridCol w="1722730"/>
                <a:gridCol w="1470355"/>
                <a:gridCol w="1260958"/>
              </a:tblGrid>
              <a:tr h="4005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DISHING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EROSION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SUM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25098" y="3676802"/>
          <a:ext cx="5715000" cy="952805"/>
        </p:xfrm>
        <a:graphic>
          <a:graphicData uri="http://schemas.openxmlformats.org/drawingml/2006/table">
            <a:tbl>
              <a:tblPr/>
              <a:tblGrid>
                <a:gridCol w="1260958"/>
                <a:gridCol w="1722730"/>
                <a:gridCol w="1470355"/>
                <a:gridCol w="1260958"/>
              </a:tblGrid>
              <a:tr h="9528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700" dirty="0">
                          <a:solidFill>
                            <a:srgbClr val="C77B5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</a:t>
                      </a:r>
                      <a:endParaRPr lang="en-US" sz="2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700" dirty="0">
                          <a:solidFill>
                            <a:srgbClr val="A5B7B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14</a:t>
                      </a:r>
                      <a:endParaRPr lang="en-US" sz="2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D9D1B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25098" y="4629607"/>
          <a:ext cx="5715000" cy="952805"/>
        </p:xfrm>
        <a:graphic>
          <a:graphicData uri="http://schemas.openxmlformats.org/drawingml/2006/table">
            <a:tbl>
              <a:tblPr/>
              <a:tblGrid>
                <a:gridCol w="1260958"/>
                <a:gridCol w="1722730"/>
                <a:gridCol w="1470355"/>
                <a:gridCol w="1260958"/>
              </a:tblGrid>
              <a:tr h="9528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W42 ★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7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22</a:t>
                      </a:r>
                      <a:endParaRPr lang="en-US" sz="2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7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</a:t>
                      </a:r>
                      <a:endParaRPr lang="en-US" sz="2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5B7B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33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25098" y="5581498"/>
          <a:ext cx="5715000" cy="952805"/>
        </p:xfrm>
        <a:graphic>
          <a:graphicData uri="http://schemas.openxmlformats.org/drawingml/2006/table">
            <a:tbl>
              <a:tblPr/>
              <a:tblGrid>
                <a:gridCol w="1260958"/>
                <a:gridCol w="1722730"/>
                <a:gridCol w="1470355"/>
                <a:gridCol w="1260958"/>
              </a:tblGrid>
              <a:tr h="9528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W43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7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19</a:t>
                      </a:r>
                      <a:endParaRPr lang="en-US" sz="2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700" dirty="0">
                          <a:solidFill>
                            <a:srgbClr val="F2EEE3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</a:t>
                      </a:r>
                      <a:endParaRPr lang="en-US" sz="27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50" dirty="0">
                          <a:solidFill>
                            <a:srgbClr val="A5B7B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28</a:t>
                      </a:r>
                      <a:endParaRPr lang="en-US" sz="19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18"/>
          <p:cNvSpPr txBox="1"/>
          <p:nvPr/>
        </p:nvSpPr>
        <p:spPr>
          <a:xfrm>
            <a:off x="11525098" y="67629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dishing+erosion · 비교 노트</a:t>
            </a:r>
            <a:endParaRPr lang="en-US" sz="975" dirty="0"/>
          </a:p>
        </p:txBody>
      </p:sp>
      <p:sp>
        <p:nvSpPr>
          <p:cNvPr id="31" name="Text 19"/>
          <p:cNvSpPr txBox="1"/>
          <p:nvPr/>
        </p:nvSpPr>
        <p:spPr>
          <a:xfrm>
            <a:off x="11525098" y="7039051"/>
            <a:ext cx="57150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sum 42 / 33 / 28 nm. W43이 가장 작은 dishing+erosion 합 — over-cure에서 IMD가 더 단단해져 polishing 응답이 안정된 결과로 해석.</a:t>
            </a:r>
            <a:endParaRPr lang="en-US" sz="1200" dirty="0"/>
          </a:p>
        </p:txBody>
      </p:sp>
      <p:sp>
        <p:nvSpPr>
          <p:cNvPr id="32" name="Text 20"/>
          <p:cNvSpPr txBox="1"/>
          <p:nvPr/>
        </p:nvSpPr>
        <p:spPr>
          <a:xfrm>
            <a:off x="990295" y="8967521"/>
            <a:ext cx="11914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9D1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33" name="Text 21"/>
          <p:cNvSpPr txBox="1"/>
          <p:nvPr/>
        </p:nvSpPr>
        <p:spPr>
          <a:xfrm>
            <a:off x="2407615" y="8891626"/>
            <a:ext cx="13973861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2EEE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TDDB β/η은 over-cure(W43)에서 가장 우수, dishing/erosion 합도 W43에서 가장 작다. 단 Rs(이전 slide)는 baseline 대비 +8.5% 상승해 trade-off로 분리됨.</a:t>
            </a:r>
            <a:endParaRPr lang="en-US" sz="1575" dirty="0"/>
          </a:p>
        </p:txBody>
      </p:sp>
      <p:sp>
        <p:nvSpPr>
          <p:cNvPr id="34" name="Text 22"/>
          <p:cNvSpPr txBox="1"/>
          <p:nvPr/>
        </p:nvSpPr>
        <p:spPr>
          <a:xfrm>
            <a:off x="0" y="9810598"/>
            <a:ext cx="18288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6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내부 테스트용 더미(가상) 데이터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2026-10-03T16:13:45Z</dcterms:created>
  <dcterms:modified xsi:type="dcterms:W3CDTF">2026-10-03T16:13:45Z</dcterms:modified>
</cp:coreProperties>
</file>