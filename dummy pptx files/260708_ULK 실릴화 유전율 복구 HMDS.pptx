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f3d0a6d1-1394-3cee-9917-431765da65ef}">
          <p14:sldIdLst>
            <p14:sldId id="256"/>
            <p14:sldId id="257"/>
            <p14:sldId id="258"/>
          </p14:sldIdLst>
        </p14:section>
        <p14:section name="일정" id="{cb31008d-ea49-d23a-9cd9-21c5ede73963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접촉각 (°)</c:v>
                </c:pt>
              </c:strCache>
            </c:strRef>
          </c:tx>
          <c:spPr>
            <a:solidFill>
              <a:srgbClr val="0085B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1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손상 직후</c:v>
                  </c:pt>
                  <c:pt idx="1">
                    <c:v>HMDS 후 (하한)</c:v>
                  </c:pt>
                  <c:pt idx="2">
                    <c:v>HMDS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80</c:v>
                </c:pt>
                <c:pt idx="2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HMDS SILYLATION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HMDS 실릴화 · Si-OH를 소수성 트리메틸실릴기로 치환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2(Si-OH) + (CH₃)₃Si-NH-Si(CH₃)₃ → 2(Si-O-Si(CH₃)₃) + NH₃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2262226"/>
                <a:gridCol w="1615745"/>
                <a:gridCol w="1939442"/>
                <a:gridCol w="113111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지표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손상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HMDS 처리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Si-OH 피크 (3350 cm⁻¹)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존재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소멸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수분 접촉각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친수성 (저)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80–88°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 배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벌크 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침투 깊이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tmp/claude-0/-home-claude/e70767da-955c-5cc3-beb4-741bbeefa4c6/scratchpad/img/ar3_vs_ar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0776" y="2103120"/>
            <a:ext cx="2625344" cy="1737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3886200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 SEMI-DAMASCENE AR 3 VS AR 6 단면 — © IMEC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4242816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해석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4590288"/>
            <a:ext cx="3962095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O₂·F 라디칼로 메틸기 고갈 + 수분 흡수된 Low-k를 HMDS 증기 또는 H₂/He 플라즈마로 실릴화.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친수성 Si-OH → 소수성 트리메틸실릴 그룹으로 치환, 기공 밀봉(Sealing).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FTIR: 3350 cm⁻¹ Si-OH 피크 소멸. 수분 접촉각 80–88° 이상 회복.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유전율 복구, TDDB TTF 수 배 연장. 한계: 침투 깊이 제한 → 벌크 완전 복구는 어려움.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접촉각 · 라이너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접촉각 80–88° 회복과 ALD Ru/Co 라이너 박막화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1206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수분 접촉각(°) — 손상 직후 값은 친수성 표현을 위한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280160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Barrier Scaling 한계 돌파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609344"/>
            <a:ext cx="579089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PVD TaN/Ta 4–5 nm는 박막화 한계 → Cu 체적 잠식 '저항 스케일링 한계'.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챔퍼 무너짐 부근 오버행·핀치오프 확률 획기적 감소.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과제: Ru–Cu 계면 스캐터링에 의한 약간의 저항 상승 상쇄.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 · 신뢰성 개선 및 한계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첨단 배선 기술 적용에 따른 신뢰성 개선과 한계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711135" cy="914400"/>
        </p:xfrm>
        <a:graphic>
          <a:graphicData uri="http://schemas.openxmlformats.org/drawingml/2006/table">
            <a:tbl>
              <a:tblPr/>
              <a:tblGrid>
                <a:gridCol w="1284732"/>
                <a:gridCol w="2313432"/>
                <a:gridCol w="2313432"/>
                <a:gridCol w="179953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적용 기술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주요 개선 메커니즘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신뢰성 효과 (EM / TDDB)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적용상 한계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HMDS 실릴화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Si-OH → 소수성 트리메틸기 치환, 기공 밀봉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누설 감소, TDDB TTF 대폭 증가, 접촉각 80° 이상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침투 깊이 한계 → 벌크 복구 불완전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ALD Ru 라이너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Ta → Ru 대체, Cu 체적 극대화, Seedless 도금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저항 급감, 오버행/Pinch-off 방지 → Void 억제, EM 연장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Ru–Cu 계면 스캐터링 저항 상승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에어 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절연막 일부 제거 → k = 1.0 공기층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기생 C 17–20% 감소, 신호 지연 개선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기계적 강도↓, 갭 지붕 불안정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mp16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6629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34095" y="19888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피치 RU 선 광역 STEM — © IMEC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에어 갭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배선 사이 공기층(k = 1.0) 삽입 → 기생 정전용량 17–20% 감소, RC Delay 최소화.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과제: 기계적 강도 저하, 상부 층 증착 시 갭 지붕(Pinch-off) 형상 불안정.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Semi-Damascene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완전 배제 → unCMP 단락, overCMP Dishing/Erosion·저항 증가 원천 제거.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BSPDN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신호·전력선을 전면 BEOL에 모두 넣던 방식에서 탈피 — nTSV로 후면에서 직접 전력 공급.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전면 배선층 라우팅 혼잡·패턴 밀도 불균형 해소 → CMP 국부 압력 분산 → 평탄도 극대화.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복구·차세대 기술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복구·차세대 기술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HMDS 증기 처리 조건 확정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FTIR 3350 cm⁻¹ 피크 확인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접촉각 측정 (목표 ≥ 80°)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에어갭 샘플 지붕 형상 SEM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TTF 비교 (처리 전/후)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W04–W07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Semi-damascene Ru 샘플 수령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BSPDN DTCO 입력 정리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W08</a:t>
            </a:r>
            <a:endParaRPr lang="en-US" sz="850" dirty="0"/>
          </a:p>
        </p:txBody>
      </p:sp>
      <p:sp>
        <p:nvSpPr>
          <p:cNvPr id="3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slate">
  <a:themeElements>
    <a:clrScheme name="Turquoise DS slat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85B6"/>
      </a:accent1>
      <a:accent2>
        <a:srgbClr val="16213E"/>
      </a:accent2>
      <a:accent3>
        <a:srgbClr val="006B5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slat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ULK Silylation Dielectric Recovery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