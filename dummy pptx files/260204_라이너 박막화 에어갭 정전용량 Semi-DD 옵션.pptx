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복구·차세대" id="{a9310ce5-1a3d-58fa-fc2e-9c282b15585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배리어/라이너 두께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두께 (nm)</c:v>
                </c:pt>
              </c:strCache>
            </c:strRef>
          </c:tx>
          <c:spPr>
            <a:solidFill>
              <a:srgbClr val="006B5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PVD TaN/Ta (하한)</c:v>
                  </c:pt>
                  <c:pt idx="1">
                    <c:v>PVD TaN/Ta (상한)</c:v>
                  </c:pt>
                  <c:pt idx="2">
                    <c:v>ALD Ru/Co (하한)</c:v>
                  </c:pt>
                  <c:pt idx="3">
                    <c:v>ALD Ru/Co (상한)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5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기생 정전용량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C (%)</c:v>
                </c:pt>
              </c:strCache>
            </c:strRef>
          </c:tx>
          <c:spPr>
            <a:solidFill>
              <a:srgbClr val="006B5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Low-k 기준</c:v>
                  </c:pt>
                  <c:pt idx="1">
                    <c:v>에어갭 (하한)</c:v>
                  </c:pt>
                  <c:pt idx="2">
                    <c:v>에어갭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83</c:v>
                </c:pt>
                <c:pt idx="2">
                  <c:v>80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chart" Target="/ppt/charts/chart2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라이너 · 에어갭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라이너 박막화와 에어갭 정전용량 감소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배리어/라이너 두께 (NM)</a:t>
            </a:r>
            <a:endParaRPr lang="en-US" sz="8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78728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78728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층간 기생 정전용량 상대값 (%)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34340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Ru/Co 라이너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690872"/>
            <a:ext cx="54557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ALD Ru/Co 라이너 1–2 nm: 젖음성·연속성 유지, Ru는 시드 없이 직접 ECP 가능.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챔퍼 무너짐 부근 오버행·핀치오프 확률 획기적 감소.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434340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에어 갭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278728" y="4690872"/>
            <a:ext cx="54557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배선 사이 공기층(k = 1.0) 삽입 → 기생 정전용량 17–20% 감소, RC Delay 최소화.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과제: 기계적 강도 저하, 상부 층 증착 시 갭 지붕(Pinch-off) 형상 불안정.</a:t>
            </a:r>
            <a:endParaRPr lang="en-US" sz="105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표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적용 기술별 개선·효과·한계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1879092"/>
                <a:gridCol w="3383280"/>
                <a:gridCol w="3383280"/>
                <a:gridCol w="2631643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적용 기술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주요 개선 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신뢰성 효과 (EM / TDDB)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적용상 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HMDS 실릴화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Si-OH → 소수성 트리메틸기 치환, 기공 밀봉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누설 감소, TDDB TTF 대폭 증가, 접촉각 80° 이상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침투 깊이 한계 → 벌크 복구 불완전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ALD Ru 라이너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 → Ru 대체, Cu 체적 극대화, Seedless 도금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저항 급감, 오버행/Pinch-off 방지 → Void 억제, EM 연장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Ru–Cu 계면 스캐터링 저항 상승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에어 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절연막 일부 제거 → k = 1.0 공기층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기생 C 17–20% 감소, 신호 지연 개선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기계적 강도↓, 갭 지붕 불안정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판정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13632"/>
            <a:ext cx="545576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세 기술 모두 기존 공정 수명 연장 수단 — 근원적 해결은 아님.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278728" y="356616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다음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78728" y="3913632"/>
            <a:ext cx="545576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1.5 nm 이후 Semi-DD + BSPDN.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SP-NEXT · SEMI-DD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Semi-Damascene 구조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mp16_wi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937760" cy="1463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7889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NM PITCH RU LINES · STEM · © IMEC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108960"/>
            <a:ext cx="4937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Ru/Mo 내화 금속 전면 증착 → 서브트랙티브 RIE로 배선 직접 형성 → 사이를 유전막/에어갭 충진.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완전 배제 → unCMP 단락, overCMP Dishing/Erosion·저항 증가 원천 제거.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금속 선식각 → 고종횡비 배선 → 전류 밀도 획기적 감소.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1.5–2 nm 이하 노드의 구조적 모순 타파 수단.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280160"/>
            <a:ext cx="5973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구조 비교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591056"/>
          <a:ext cx="5973775" cy="914400"/>
        </p:xfrm>
        <a:graphic>
          <a:graphicData uri="http://schemas.openxmlformats.org/drawingml/2006/table">
            <a:tbl>
              <a:tblPr/>
              <a:tblGrid>
                <a:gridCol w="1311250"/>
                <a:gridCol w="2330806"/>
                <a:gridCol w="2330806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Cu Dual Damascene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Semi-Damascene (Ru/Mo)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배선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ILD 식각 → 충진 →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증착 → 직접 식각 → 갭필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필수 (un/overCMP 창 협소)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TaN/Ta 필수 (체적 잠식)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종횡비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≈ 1.6 (CMP 제한)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고종횡비 가능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주요 결함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단락·Dishing·챔퍼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에칭 프로파일·열처리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760720" y="5303520"/>
            <a:ext cx="5973775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760720" y="5376672"/>
            <a:ext cx="597377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단위 공정 최적화(HMDS·ALD 라이너·에어갭)로 기존 공정 수명을 연장하되, 1.5 nm 이후는 Semi-Damascene + BSPDN 패러다임 전환이 필수.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deep">
  <a:themeElements>
    <a:clrScheme name="Turquoise DS deep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6B5E"/>
      </a:accent1>
      <a:accent2>
        <a:srgbClr val="0085B6"/>
      </a:accent2>
      <a:accent3>
        <a:srgbClr val="16213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deep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Liner AirGap Semi DD Options</dc:title>
  <dc:subject>PptxGenJS Presentation</dc:subject>
  <dc:creator>공정 AI팀</dc:creator>
  <cp:lastModifiedBy>공정 AI팀</cp:lastModifiedBy>
  <cp:revision>1</cp:revision>
  <dcterms:created xsi:type="dcterms:W3CDTF">2026-10-03T16:30:18Z</dcterms:created>
  <dcterms:modified xsi:type="dcterms:W3CDTF">2026-10-03T16:30:18Z</dcterms:modified>
</cp:coreProperties>
</file>