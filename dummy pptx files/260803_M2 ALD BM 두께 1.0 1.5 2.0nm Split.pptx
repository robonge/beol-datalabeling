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평가의 큰 그림과 split 구성을 한눈에 보여주는 intro-역할의 페이지다.
3개 split 카드는 색상으로 일관되게 구분되며 — Split A=시안(1.0nm, aggressive), Split B=바이올렛(1.5nm, reference), Split C=앰버(2.0nm, conservative).
같은 색은 CD variation, SEM/TEM, Rs/Rc 슬라이드에서도 동일하게 매핑되어, 청중이 "어느 split인지"를 매번 다시 학습할 필요가 없도록 했다.
강조하고 싶은 것은 "BM 두께가 얇을수록 Rc는 좋아지지만 CD seat이 약간 무르고, BM이 두꺼울수록 CD uniformity는 좋지만 Rc 손해가 발생한다"는 트레이드오프 가설이다 — 이 가설이 이 보고서 전체의 spine.
우측 상단 "3 / 6 / M2" 카운터 카드와 하단 metrology 툴 스트립으로 평가 범위를 명시한다.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Lot-level 통제 상태를 보여주는 페이지. 6 wafer를 3x2 도식 좌측에 봤을 때 top row는 split A 한쪽, split B 한쪽 + W01~W03처럼 배치했고, bottom row는 split B 한쪽과 split C 두 장을 두어 2/2/2 시각적 균형을 만들었다.
우측 lot summary 테이블은 실제 lot ID와 tool, time window까지 더미이지만 현실적인 값으로 채워 두었다 — 공정 chamber 공유, 동일 PVD Cu seed, 동일 dielectric, 같은 run window 안에서 BM 두께만 분기.
KEY TAKEAWAY가 가장 중요한 메시지: "BM 두께 외 변수는 잠금, 차이는 오직 split 변수에서만 나와야 한다." 차후 슬라이드에서 어떤 deviation이 보이든 "lot-level 통제 밖의 효과"는 아니어야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4개 CD metric을 한 슬라이드에서 모두 보여주는 overview. 위 4장 카드에서 metric 정의와 각 split 평균을, 아래 테이블에서 target 대비 Δ와 best split을 한 줄로 보여준다.
핵심 패턴: Split A(1.0nm)는 모든 metric에서 +, Split C(2.0nm)는 모든 metric에서 −, Split B(1.5nm)는 4/4 metric 모두 target에 가장 가깝다.
즉 이 lot의 optimum은 단순히 "CD = target"이 아니라 "모든 metric이 동시에 target에 수렴"하는 1.5 nm에 있다.
흩어진 metric 사이에서 일부만 만족하는 게 아니라 4개 모두를 동시에 잡아야 한다는 것이 M2 layer split의 까다로운 점이며, B만이 그 균형을 보여준다.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variation의 wafer별 풀-디테일 페이지. 한 wafer 수평 한 줄에 4 metric의 mean / 3σ / Δ-target이 들어간다. Δ가 ±0.10nm 이내면 초록, 그 너머는 amber로 표시된다.
W04 행은 violet으로 음영을 깔았고 ★ 마크를 줬다 — 4 metric에서 Δ가 ±0.05 nm 이내, 3σ가 4 metric 모두에서 한 자리로 가장 작다.
Split A는 모든 wafer에서 +편향, Split C는 모두 −편향이 일관되게 나타난다.
그리고 split B (W03, W04)는 not only mean but 3σ도 가장 좋다 — BM 1.5nm가 thickness uniformity와 step coverage 양쪽에서 균형이 좋다는 그림이다.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In-wafer uniformity 페이지 — split별로 대표 wafer 한 장씩(W01 / W04 / W05)을 골라 7×7=49점 좌표를 색으로 표현했다. 각 셀 색의 진하기는 target 24.1nm과의 편차 magnitude.
의도적으로 W01은 amber 위주(전반적 +편향 + edge가 더 진함), W04는 violet/teal mix로 부드럽게, W05는 cool tone 위주로 그렸다.
핵심 주장: WIWNU 자체는 Split C가 3.05%로 가장 작지만 target에서 −0.18nm 떨져 있어, "uniformity만 좋은 게 아니라 mean도 target에 맞아야" 합격이다.
Split B(W04)는 3.36% WIWNU + Δ-target 0.04nm로 균형이 가장 좋다.
컬러 토큰 의미: 녹색=target 근처, cyan=−편향, amber=+편향, violet=target 부근 미세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전기 파라미터 누적분포 페이지. 두 개의 카드(Rs / Rc)로 나뉘며, 각 카드는 7개 percentile × 3개 split = 21개 셀 table을 가진다.
P50 row만 violet 음영 + ★ 표기 — middle 값이 split 비교에 가장 의미 있다.
하단 Δ-strip은 B를 reference로 잡았을 때의 % 차이를 보여준다. Rs에서 A가 +22.8 % 확산은 line resistance로 직결되는 손해, Rc에서 A가 +46 %는 contact 자체의 큰 열화다. C는 11 %로 moderate.
핵심 주장: 1.5 nm가 "Δ &lt; 12 %"라는 자가 기준을 양쪽에서 동시에 통과 — 전력·속도 마진에서 가장 안전한 sweet spot.
P99 같은 tail percentile에서도 B는 Rc 21.7로 가장 양호, A는 31.8로 outlier가 두드러진다.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FIB-prepared SEM 단면 페이지. 메인 이미지는 sem_lowk_stack.jpg (3D InCites dual damascene, 600×903 PNG에서 880×480으로 cover-fit).
우측 상단 chip에 source를 plain text로 명시 (clickable URL 금지 규칙 따라서 평문만).
메인 이미지 위에 4개의 small annotation data-object — Cu line (cyan) / via (violet) / low-k (amber) / ALD BM (green) — layer 식별을 위해 라벨을 추가했다.
우측 observation 패널은 3개 observation, 하단 비교 패널은 W01/W04/W05 짧은 코멘트.
의도적인 메시지: 이상치 없음, W04가 가장 보기 좋다는 cross-section confirmation. EM·stress migration은 별도 슬라이드에서 다루지 않지만 SEM 관찰만 놓고 보면 구조적으로 깨끗하다.
이미지는 활짝 깔끔하지 않을 수 있는데(자료성 stock), 굵은 annotation 라벨과 대비로 핵심을 잡아준다.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 분석 페이지. 3장 비교 카드를 나란히 — W01 / W04 / W05. 동일 reference 이미지에 약간씩 다른 CSS filter를 입혀 분기처럼 보이게 했다 (실제로는 한 자료 이미지를 상징적으로 재사용 + 텍스트 노트로 split별 관찰을 적었다).
각 카드 아래 짧은 코멘트:
- W01: BM 얇음 — step coverage는 OK이나 비정상 미세 흔들림
- W04: 균일 · Cu grain 대비 매끄러운 계면 (★)
- W05: 두꺼워서 seed 부피 손실, CD 미세 축소
하단에 5개 측정 요약 (Cu grain, sidewall taper, step coverage, via void, source plain text) 추가.
끝 key takeaway: step coverage 94 % + via void 없음 — B가 barrier/seed 분배 균형이 가장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 anomaly 페이지. 좌측에 메인 reference 이미지 (sem_anomaly.jpg), 우측에 4가지 anomaly type 카드 (2×2) 와 그 아래 split별 카운트 strip.
의도적으로 12건의 더미 anomaly를 분산:
- Type 01 Delamination (2건, A 편향): W01 corner 1건이 메인 이미지에 시각화됨
- Type 02 Slit void (3건, C 편향)
- Type 03 Seam 노출 (4건, A only)
- Type 04 Cu protrusion (3건, split 균등 분포)
합계: A=7건, B=1건, C=4건 — B만 1건 (drift 1건) 이라는 우호적 그림.
KEY TAKEAWAY: 1.5nm가 안정성에서도 가장 좋다. Split A/C의 결함 유형 차이는 barrier 두께가 Cu grain growth stress와 CMP에 미치는 영향으로 분리된다 — 가설적 해석.
이미지 출처 c2UuLqkK8YF9Uxht — Springer Nature Interconnect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전기특성 페이지 — 7개 metric × 3 split + best 컬럼, 그리고 우측에 4개 KPI 타일.
행렬은 yield / Rs / Rc / Ileak / EM MTTF / TDDB T63 / WIWNU AASI.
모두 더미 값이지만 split별 경향: A는 양산 마진 부족 (yield -5.2, Rc +46%), C는 중간 정도 (yield +2.5 떨어짐, WIWNU + 좋음), B가 6개 best + 단 한 개(WIWNU)만 C 우세.
KPI: yield 98.6%, EM MTTF 9.8yrs (target 7 통과), Δ vs A of Rc −46%, 마지막 "decision log"에 짧게 baseline 권고.
KEY TAKEAWAY: 7개 metric 중 6에서 B가 best — 1.5 nm가 본 lot baseline 후보다.
별도 결론 슬라이드 없음 규칙을 지켜 Slide 10은 "summary of metrics" 형태, 결론 문장은 key takeaway 안에.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8.png"/><Relationship Id="rId10" Type="http://schemas.openxmlformats.org/officeDocument/2006/relationships/image" Target="../media/image-1-8.png"/><Relationship Id="rId11" Type="http://schemas.openxmlformats.org/officeDocument/2006/relationships/image" Target="../media/image-1-8.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4.png"/><Relationship Id="rId7" Type="http://schemas.openxmlformats.org/officeDocument/2006/relationships/image" Target="../media/image-3-4.png"/><Relationship Id="rId8" Type="http://schemas.openxmlformats.org/officeDocument/2006/relationships/image" Target="../media/image-3-4.png"/><Relationship Id="rId9" Type="http://schemas.openxmlformats.org/officeDocument/2006/relationships/image" Target="../media/image-3-4.png"/><Relationship Id="rId10" Type="http://schemas.openxmlformats.org/officeDocument/2006/relationships/image" Target="../media/image-3-4.png"/><Relationship Id="rId11" Type="http://schemas.openxmlformats.org/officeDocument/2006/relationships/image" Target="../media/image-3-4.png"/><Relationship Id="rId12" Type="http://schemas.openxmlformats.org/officeDocument/2006/relationships/image" Target="../media/image-3-4.png"/><Relationship Id="rId13" Type="http://schemas.openxmlformats.org/officeDocument/2006/relationships/image" Target="../media/image-3-4.png"/><Relationship Id="rId14" Type="http://schemas.openxmlformats.org/officeDocument/2006/relationships/image" Target="../media/image-3-4.png"/><Relationship Id="rId15" Type="http://schemas.openxmlformats.org/officeDocument/2006/relationships/image" Target="../media/image-3-4.png"/><Relationship Id="rId16" Type="http://schemas.openxmlformats.org/officeDocument/2006/relationships/image" Target="../media/image-3-16.png"/><Relationship Id="rId17" Type="http://schemas.openxmlformats.org/officeDocument/2006/relationships/slideLayout" Target="../slideLayouts/slideLayout1.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2.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4-8.png"/><Relationship Id="rId13" Type="http://schemas.openxmlformats.org/officeDocument/2006/relationships/image" Target="../media/image-4-13.png"/><Relationship Id="rId14" Type="http://schemas.openxmlformats.org/officeDocument/2006/relationships/image" Target="../media/image-4-8.png"/><Relationship Id="rId15" Type="http://schemas.openxmlformats.org/officeDocument/2006/relationships/image" Target="../media/image-4-13.png"/><Relationship Id="rId16" Type="http://schemas.openxmlformats.org/officeDocument/2006/relationships/image" Target="../media/image-4-8.png"/><Relationship Id="rId17" Type="http://schemas.openxmlformats.org/officeDocument/2006/relationships/image" Target="../media/image-4-17.png"/><Relationship Id="rId18" Type="http://schemas.openxmlformats.org/officeDocument/2006/relationships/image" Target="../media/image-4-8.png"/><Relationship Id="rId19" Type="http://schemas.openxmlformats.org/officeDocument/2006/relationships/image" Target="../media/image-4-17.png"/><Relationship Id="rId20" Type="http://schemas.openxmlformats.org/officeDocument/2006/relationships/image" Target="../media/image-4-20.png"/><Relationship Id="rId21" Type="http://schemas.openxmlformats.org/officeDocument/2006/relationships/slideLayout" Target="../slideLayouts/slideLayout1.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jpeg"/><Relationship Id="rId5" Type="http://schemas.openxmlformats.org/officeDocument/2006/relationships/image" Target="../media/image-8-5.jpeg"/><Relationship Id="rId6" Type="http://schemas.openxmlformats.org/officeDocument/2006/relationships/image" Target="../media/image-8-6.jpeg"/><Relationship Id="rId7" Type="http://schemas.openxmlformats.org/officeDocument/2006/relationships/image" Target="../media/image-8-7.png"/><Relationship Id="rId8" Type="http://schemas.openxmlformats.org/officeDocument/2006/relationships/image" Target="../media/image-8-7.png"/><Relationship Id="rId9" Type="http://schemas.openxmlformats.org/officeDocument/2006/relationships/image" Target="../media/image-8-7.png"/><Relationship Id="rId10" Type="http://schemas.openxmlformats.org/officeDocument/2006/relationships/image" Target="../media/image-8-7.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jpe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60C"/>
        </a:solidFill>
      </p:bgPr>
    </p:bg>
    <p:spTree>
      <p:nvGrpSpPr>
        <p:cNvPr id="1" name=""/>
        <p:cNvGrpSpPr/>
        <p:nvPr/>
      </p:nvGrpSpPr>
      <p:grpSpPr>
        <a:xfrm>
          <a:off x="0" y="0"/>
          <a:ext cx="0" cy="0"/>
          <a:chOff x="0" y="0"/>
          <a:chExt cx="0" cy="0"/>
        </a:xfrm>
      </p:grpSpPr>
      <p:pic>
        <p:nvPicPr>
          <p:cNvPr id="3" name="Image 0" descr="gen-dedup-8038021a0e2dd2d2e3f2d242b8f7f0a9.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5f7b6a6c8f8d91cc63b1c0161e7c6adf.png">    </p:cNvPr>
          <p:cNvPicPr>
            <a:picLocks noChangeAspect="1"/>
          </p:cNvPicPr>
          <p:nvPr/>
        </p:nvPicPr>
        <p:blipFill>
          <a:blip r:embed="rId2"/>
          <a:srcRect l="-5" r="-5" t="0" b="0"/>
          <a:stretch/>
        </p:blipFill>
        <p:spPr>
          <a:xfrm>
            <a:off x="11811305" y="1619402"/>
            <a:ext cx="5734202" cy="1923898"/>
          </a:xfrm>
          <a:prstGeom prst="rect">
            <a:avLst/>
          </a:prstGeom>
        </p:spPr>
      </p:pic>
      <p:sp>
        <p:nvSpPr>
          <p:cNvPr id="5" name="Shape 0"/>
          <p:cNvSpPr/>
          <p:nvPr/>
        </p:nvSpPr>
        <p:spPr>
          <a:xfrm>
            <a:off x="761695" y="4572000"/>
            <a:ext cx="5352898" cy="2686507"/>
          </a:xfrm>
          <a:prstGeom prst="rect">
            <a:avLst/>
          </a:prstGeom>
          <a:solidFill>
            <a:srgbClr val="131A2D"/>
          </a:solidFill>
          <a:ln w="12700">
            <a:solidFill>
              <a:srgbClr val="22D3EE">
                <a:alpha val="35000"/>
              </a:srgbClr>
            </a:solidFill>
            <a:prstDash val="solid"/>
          </a:ln>
        </p:spPr>
      </p:sp>
      <p:pic>
        <p:nvPicPr>
          <p:cNvPr id="6" name="Image 2" descr="gen-dedup-761b23fc23f34e06aedebf0a16005e9e.png">    </p:cNvPr>
          <p:cNvPicPr>
            <a:picLocks noChangeAspect="1"/>
          </p:cNvPicPr>
          <p:nvPr/>
        </p:nvPicPr>
        <p:blipFill>
          <a:blip r:embed="rId3"/>
          <a:srcRect l="-394" r="-394" t="0" b="0"/>
          <a:stretch/>
        </p:blipFill>
        <p:spPr>
          <a:xfrm>
            <a:off x="771754" y="4581144"/>
            <a:ext cx="38405" cy="2667305"/>
          </a:xfrm>
          <a:prstGeom prst="rect">
            <a:avLst/>
          </a:prstGeom>
        </p:spPr>
      </p:pic>
      <p:sp>
        <p:nvSpPr>
          <p:cNvPr id="7" name="Shape 1"/>
          <p:cNvSpPr/>
          <p:nvPr/>
        </p:nvSpPr>
        <p:spPr>
          <a:xfrm>
            <a:off x="6476695" y="4572000"/>
            <a:ext cx="5352898" cy="2686507"/>
          </a:xfrm>
          <a:prstGeom prst="rect">
            <a:avLst/>
          </a:prstGeom>
          <a:solidFill>
            <a:srgbClr val="131A2D"/>
          </a:solidFill>
          <a:ln w="12700">
            <a:solidFill>
              <a:srgbClr val="A78BFA">
                <a:alpha val="35000"/>
              </a:srgbClr>
            </a:solidFill>
            <a:prstDash val="solid"/>
          </a:ln>
        </p:spPr>
      </p:sp>
      <p:pic>
        <p:nvPicPr>
          <p:cNvPr id="8" name="Image 3" descr="gen-dedup-04c062a9d856f0bfe79b4bc2ac069160.png">    </p:cNvPr>
          <p:cNvPicPr>
            <a:picLocks noChangeAspect="1"/>
          </p:cNvPicPr>
          <p:nvPr/>
        </p:nvPicPr>
        <p:blipFill>
          <a:blip r:embed="rId4"/>
          <a:srcRect l="-394" r="-394" t="0" b="0"/>
          <a:stretch/>
        </p:blipFill>
        <p:spPr>
          <a:xfrm>
            <a:off x="6486754" y="4581144"/>
            <a:ext cx="38405" cy="2667305"/>
          </a:xfrm>
          <a:prstGeom prst="rect">
            <a:avLst/>
          </a:prstGeom>
        </p:spPr>
      </p:pic>
      <p:sp>
        <p:nvSpPr>
          <p:cNvPr id="9" name="Shape 2"/>
          <p:cNvSpPr/>
          <p:nvPr/>
        </p:nvSpPr>
        <p:spPr>
          <a:xfrm>
            <a:off x="12191695" y="4572000"/>
            <a:ext cx="5352898" cy="2686507"/>
          </a:xfrm>
          <a:prstGeom prst="rect">
            <a:avLst/>
          </a:prstGeom>
          <a:solidFill>
            <a:srgbClr val="131A2D"/>
          </a:solidFill>
          <a:ln w="12700">
            <a:solidFill>
              <a:srgbClr val="F59E0B">
                <a:alpha val="35000"/>
              </a:srgbClr>
            </a:solidFill>
            <a:prstDash val="solid"/>
          </a:ln>
        </p:spPr>
      </p:sp>
      <p:pic>
        <p:nvPicPr>
          <p:cNvPr id="10" name="Image 4" descr="gen-dedup-b8142d08541094a55aa0dc1d9186c371.png">    </p:cNvPr>
          <p:cNvPicPr>
            <a:picLocks noChangeAspect="1"/>
          </p:cNvPicPr>
          <p:nvPr/>
        </p:nvPicPr>
        <p:blipFill>
          <a:blip r:embed="rId5"/>
          <a:srcRect l="-394" r="-394" t="0" b="0"/>
          <a:stretch/>
        </p:blipFill>
        <p:spPr>
          <a:xfrm>
            <a:off x="12201754" y="4581144"/>
            <a:ext cx="38405" cy="2667305"/>
          </a:xfrm>
          <a:prstGeom prst="rect">
            <a:avLst/>
          </a:prstGeom>
        </p:spPr>
      </p:pic>
      <p:sp>
        <p:nvSpPr>
          <p:cNvPr id="11" name="Shape 3"/>
          <p:cNvSpPr/>
          <p:nvPr/>
        </p:nvSpPr>
        <p:spPr>
          <a:xfrm>
            <a:off x="761695" y="7524598"/>
            <a:ext cx="16782898" cy="875995"/>
          </a:xfrm>
          <a:prstGeom prst="rect">
            <a:avLst/>
          </a:prstGeom>
          <a:solidFill>
            <a:srgbClr val="0F1525"/>
          </a:solidFill>
          <a:ln w="12700">
            <a:solidFill>
              <a:srgbClr val="FFFFFF">
                <a:alpha val="6000"/>
              </a:srgbClr>
            </a:solidFill>
            <a:prstDash val="solid"/>
          </a:ln>
        </p:spPr>
      </p:sp>
      <p:pic>
        <p:nvPicPr>
          <p:cNvPr id="12" name="Image 5" descr="gen-dedup-3c5afde5b66b90b79da912cf895be36d.png">    </p:cNvPr>
          <p:cNvPicPr>
            <a:picLocks noChangeAspect="1"/>
          </p:cNvPicPr>
          <p:nvPr/>
        </p:nvPicPr>
        <p:blipFill>
          <a:blip r:embed="rId6"/>
          <a:srcRect l="0" r="0" t="-30" b="-30"/>
          <a:stretch/>
        </p:blipFill>
        <p:spPr>
          <a:xfrm>
            <a:off x="761695" y="8667598"/>
            <a:ext cx="16792956" cy="743407"/>
          </a:xfrm>
          <a:prstGeom prst="rect">
            <a:avLst/>
          </a:prstGeom>
        </p:spPr>
      </p:pic>
      <p:pic>
        <p:nvPicPr>
          <p:cNvPr id="13" name="Image 6" descr="gen-dedup-254703a04c84b6a855582b8f89c36dca.png">    </p:cNvPr>
          <p:cNvPicPr>
            <a:picLocks noChangeAspect="1"/>
          </p:cNvPicPr>
          <p:nvPr/>
        </p:nvPicPr>
        <p:blipFill>
          <a:blip r:embed="rId7"/>
          <a:srcRect l="-2083" r="-2083" t="0" b="0"/>
          <a:stretch/>
        </p:blipFill>
        <p:spPr>
          <a:xfrm>
            <a:off x="761695" y="857707"/>
            <a:ext cx="16763695" cy="9144"/>
          </a:xfrm>
          <a:prstGeom prst="rect">
            <a:avLst/>
          </a:prstGeom>
        </p:spPr>
      </p:pic>
      <p:sp>
        <p:nvSpPr>
          <p:cNvPr id="14" name="Shape 4"/>
          <p:cNvSpPr/>
          <p:nvPr/>
        </p:nvSpPr>
        <p:spPr>
          <a:xfrm>
            <a:off x="761695" y="500177"/>
            <a:ext cx="75895" cy="75895"/>
          </a:xfrm>
          <a:prstGeom prst="rect">
            <a:avLst/>
          </a:prstGeom>
          <a:solidFill>
            <a:srgbClr val="22D3EE"/>
          </a:solidFill>
          <a:ln w="12700">
            <a:solidFill>
              <a:srgbClr val="FFFFFF">
                <a:alpha val="0"/>
              </a:srgbClr>
            </a:solidFill>
            <a:prstDash val="solid"/>
          </a:ln>
          <a:effectLst>
            <a:outerShdw sx="100000" sy="100000" kx="0" ky="0" algn="bl" rotWithShape="0" blurRad="114300" dist="12700" dir="16200000">
              <a:srgbClr val="22d3ee">
                <a:alpha val="100000"/>
              </a:srgbClr>
            </a:outerShdw>
          </a:effectLst>
        </p:spPr>
      </p:sp>
      <p:sp>
        <p:nvSpPr>
          <p:cNvPr id="15" name="Text 5"/>
          <p:cNvSpPr txBox="1"/>
          <p:nvPr/>
        </p:nvSpPr>
        <p:spPr>
          <a:xfrm>
            <a:off x="952805" y="457200"/>
            <a:ext cx="3715207" cy="162763"/>
          </a:xfrm>
          <a:prstGeom prst="rect">
            <a:avLst/>
          </a:prstGeom>
          <a:noFill/>
          <a:ln/>
        </p:spPr>
        <p:txBody>
          <a:bodyPr wrap="none" lIns="0" tIns="0" rIns="0" bIns="0" rtlCol="0" anchor="ctr"/>
          <a:lstStyle/>
          <a:p>
            <a:pPr algn="l" indent="0" marL="0">
              <a:buNone/>
            </a:pPr>
            <a:r>
              <a:rPr lang="en-US" sz="1050" spc="294" kern="0" dirty="0">
                <a:solidFill>
                  <a:srgbClr val="22D3EE"/>
                </a:solidFill>
                <a:latin typeface="Inter" pitchFamily="34" charset="0"/>
                <a:ea typeface="Inter" pitchFamily="34" charset="-122"/>
                <a:cs typeface="Inter" pitchFamily="34" charset="-120"/>
              </a:rPr>
              <a:t>SLIDE 01 · Purpose &amp; Conditions</a:t>
            </a:r>
            <a:endParaRPr lang="en-US" sz="1050" dirty="0"/>
          </a:p>
        </p:txBody>
      </p:sp>
      <p:sp>
        <p:nvSpPr>
          <p:cNvPr id="16" name="Text 6"/>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BEOL M2 · RSBM SPLIT EVAL · DUMMY</a:t>
            </a:r>
            <a:endParaRPr lang="en-US" sz="1200" dirty="0"/>
          </a:p>
        </p:txBody>
      </p:sp>
      <p:sp>
        <p:nvSpPr>
          <p:cNvPr id="17" name="Text 7"/>
          <p:cNvSpPr txBox="1"/>
          <p:nvPr/>
        </p:nvSpPr>
        <p:spPr>
          <a:xfrm>
            <a:off x="761695" y="1238098"/>
            <a:ext cx="10478110" cy="1286561"/>
          </a:xfrm>
          <a:prstGeom prst="rect">
            <a:avLst/>
          </a:prstGeom>
          <a:noFill/>
          <a:ln/>
        </p:spPr>
        <p:txBody>
          <a:bodyPr wrap="square" lIns="0" tIns="0" rIns="0" bIns="0" rtlCol="0" anchor="t"/>
          <a:lstStyle/>
          <a:p>
            <a:pPr algn="l" indent="0" marL="0">
              <a:lnSpc>
                <a:spcPct val="105000"/>
              </a:lnSpc>
              <a:buNone/>
            </a:pPr>
            <a:r>
              <a:rPr lang="en-US" sz="4800" b="1" spc="-96" kern="0" dirty="0">
                <a:solidFill>
                  <a:srgbClr val="E6EDF7"/>
                </a:solidFill>
                <a:latin typeface="Inter" pitchFamily="34" charset="0"/>
                <a:ea typeface="Inter" pitchFamily="34" charset="-122"/>
                <a:cs typeface="Inter" pitchFamily="34" charset="-120"/>
              </a:rPr>
              <a:t>ALD BM 두께 최적화를 위한</a:t>
            </a:r>
            <a:pPr algn="l" indent="0" marL="0">
              <a:lnSpc>
                <a:spcPct val="105000"/>
              </a:lnSpc>
              <a:buNone/>
            </a:pPr>
            <a:endParaRPr lang="en-US" sz="4800" dirty="0"/>
          </a:p>
          <a:p>
            <a:pPr algn="l" indent="0" marL="0">
              <a:lnSpc>
                <a:spcPct val="105000"/>
              </a:lnSpc>
              <a:buNone/>
            </a:pPr>
            <a:r>
              <a:rPr lang="en-US" sz="4800" b="1" spc="-96" kern="0" dirty="0">
                <a:solidFill>
                  <a:srgbClr val="22D3EE"/>
                </a:solidFill>
                <a:latin typeface="Inter" pitchFamily="34" charset="0"/>
                <a:ea typeface="Inter" pitchFamily="34" charset="-122"/>
                <a:cs typeface="Inter" pitchFamily="34" charset="-120"/>
              </a:rPr>
              <a:t>M2 layer split 평가</a:t>
            </a:r>
            <a:endParaRPr lang="en-US" sz="4800" dirty="0"/>
          </a:p>
        </p:txBody>
      </p:sp>
      <p:sp>
        <p:nvSpPr>
          <p:cNvPr id="18" name="Text 8"/>
          <p:cNvSpPr txBox="1"/>
          <p:nvPr/>
        </p:nvSpPr>
        <p:spPr>
          <a:xfrm>
            <a:off x="761695" y="2746858"/>
            <a:ext cx="9335110" cy="981151"/>
          </a:xfrm>
          <a:prstGeom prst="rect">
            <a:avLst/>
          </a:prstGeom>
          <a:noFill/>
          <a:ln/>
        </p:spPr>
        <p:txBody>
          <a:bodyPr wrap="square" lIns="0" tIns="0" rIns="0" bIns="0" rtlCol="0" anchor="ctr"/>
          <a:lstStyle/>
          <a:p>
            <a:pPr algn="l" indent="0" marL="0">
              <a:lnSpc>
                <a:spcPts val="2558"/>
              </a:lnSpc>
              <a:buNone/>
            </a:pPr>
            <a:r>
              <a:rPr lang="en-US" sz="1650" dirty="0">
                <a:solidFill>
                  <a:srgbClr val="8B95A8"/>
                </a:solidFill>
                <a:latin typeface="IBM Plex Sans KR" pitchFamily="34" charset="0"/>
                <a:ea typeface="IBM Plex Sans KR" pitchFamily="34" charset="-122"/>
                <a:cs typeface="IBM Plex Sans KR" pitchFamily="34" charset="-120"/>
              </a:rPr>
              <a:t>ALD barrier metal 두께를 1.0 / 1.5 / 2.0 nm 세 조건으로 분기하여 line·via 임계치수(CD)와 저항을 동시에 평가하고, plasma damage가 없는 damascene 공정에서 8.1 nm급 M2 line에 대한 BM 두께 sweet spot을 도출한다.</a:t>
            </a:r>
            <a:endParaRPr lang="en-US" sz="1650" dirty="0"/>
          </a:p>
        </p:txBody>
      </p:sp>
      <p:sp>
        <p:nvSpPr>
          <p:cNvPr id="19" name="Text 9"/>
          <p:cNvSpPr txBox="1"/>
          <p:nvPr/>
        </p:nvSpPr>
        <p:spPr>
          <a:xfrm>
            <a:off x="12191695" y="1904695"/>
            <a:ext cx="4953305" cy="162763"/>
          </a:xfrm>
          <a:prstGeom prst="rect">
            <a:avLst/>
          </a:prstGeom>
          <a:noFill/>
          <a:ln/>
        </p:spPr>
        <p:txBody>
          <a:bodyPr wrap="none" lIns="0" tIns="0" rIns="0" bIns="0" rtlCol="0" anchor="ctr"/>
          <a:lstStyle/>
          <a:p>
            <a:pPr algn="l" indent="0" marL="0">
              <a:buNone/>
            </a:pPr>
            <a:r>
              <a:rPr lang="en-US" sz="975" spc="176" kern="0" dirty="0">
                <a:solidFill>
                  <a:srgbClr val="5C6478"/>
                </a:solidFill>
                <a:latin typeface="JetBrains Mono" pitchFamily="34" charset="0"/>
                <a:ea typeface="JetBrains Mono" pitchFamily="34" charset="-122"/>
                <a:cs typeface="JetBrains Mono" pitchFamily="34" charset="-120"/>
              </a:rPr>
              <a:t>REPORT KEY</a:t>
            </a:r>
            <a:endParaRPr lang="en-US" sz="975" dirty="0"/>
          </a:p>
        </p:txBody>
      </p:sp>
      <p:sp>
        <p:nvSpPr>
          <p:cNvPr id="20" name="Text 10"/>
          <p:cNvSpPr txBox="1"/>
          <p:nvPr/>
        </p:nvSpPr>
        <p:spPr>
          <a:xfrm>
            <a:off x="12191695" y="2162556"/>
            <a:ext cx="4953305" cy="381305"/>
          </a:xfrm>
          <a:prstGeom prst="rect">
            <a:avLst/>
          </a:prstGeom>
          <a:noFill/>
          <a:ln/>
        </p:spPr>
        <p:txBody>
          <a:bodyPr wrap="none" lIns="0" tIns="0" rIns="0" bIns="0" rtlCol="0" anchor="ctr"/>
          <a:lstStyle/>
          <a:p>
            <a:pPr algn="l" indent="0" marL="0">
              <a:buNone/>
            </a:pPr>
            <a:r>
              <a:rPr lang="en-US" sz="2100" b="1" dirty="0">
                <a:solidFill>
                  <a:srgbClr val="E6EDF7"/>
                </a:solidFill>
                <a:latin typeface="Inter" pitchFamily="34" charset="0"/>
                <a:ea typeface="Inter" pitchFamily="34" charset="-122"/>
                <a:cs typeface="Inter" pitchFamily="34" charset="-120"/>
              </a:rPr>
              <a:t>하나의 split 카드, 하나의 결</a:t>
            </a:r>
            <a:endParaRPr lang="en-US" sz="2100" dirty="0"/>
          </a:p>
        </p:txBody>
      </p:sp>
      <p:sp>
        <p:nvSpPr>
          <p:cNvPr id="21" name="Text 11"/>
          <p:cNvSpPr txBox="1"/>
          <p:nvPr/>
        </p:nvSpPr>
        <p:spPr>
          <a:xfrm>
            <a:off x="12191695" y="2771546"/>
            <a:ext cx="486461"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WAFERS</a:t>
            </a:r>
            <a:endParaRPr lang="en-US" sz="825" dirty="0"/>
          </a:p>
        </p:txBody>
      </p:sp>
      <p:sp>
        <p:nvSpPr>
          <p:cNvPr id="22" name="Text 12"/>
          <p:cNvSpPr txBox="1"/>
          <p:nvPr/>
        </p:nvSpPr>
        <p:spPr>
          <a:xfrm>
            <a:off x="12191695" y="2905049"/>
            <a:ext cx="486461" cy="419710"/>
          </a:xfrm>
          <a:prstGeom prst="rect">
            <a:avLst/>
          </a:prstGeom>
          <a:noFill/>
          <a:ln/>
        </p:spPr>
        <p:txBody>
          <a:bodyPr wrap="none" lIns="0" tIns="0" rIns="0" bIns="0" rtlCol="0" anchor="ctr"/>
          <a:lstStyle/>
          <a:p>
            <a:pPr algn="l" indent="0" marL="0">
              <a:buNone/>
            </a:pPr>
            <a:r>
              <a:rPr lang="en-US" sz="2700" b="1" dirty="0">
                <a:solidFill>
                  <a:srgbClr val="22D3EE"/>
                </a:solidFill>
                <a:latin typeface="Inter" pitchFamily="34" charset="0"/>
                <a:ea typeface="Inter" pitchFamily="34" charset="-122"/>
                <a:cs typeface="Inter" pitchFamily="34" charset="-120"/>
              </a:rPr>
              <a:t>6</a:t>
            </a:r>
            <a:endParaRPr lang="en-US" sz="2700" dirty="0"/>
          </a:p>
        </p:txBody>
      </p:sp>
      <p:sp>
        <p:nvSpPr>
          <p:cNvPr id="23" name="Text 13"/>
          <p:cNvSpPr txBox="1"/>
          <p:nvPr/>
        </p:nvSpPr>
        <p:spPr>
          <a:xfrm>
            <a:off x="12974422" y="2771546"/>
            <a:ext cx="486461"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SPLITS</a:t>
            </a:r>
            <a:endParaRPr lang="en-US" sz="825" dirty="0"/>
          </a:p>
        </p:txBody>
      </p:sp>
      <p:sp>
        <p:nvSpPr>
          <p:cNvPr id="24" name="Text 14"/>
          <p:cNvSpPr txBox="1"/>
          <p:nvPr/>
        </p:nvSpPr>
        <p:spPr>
          <a:xfrm>
            <a:off x="12974422" y="2905049"/>
            <a:ext cx="486461" cy="419710"/>
          </a:xfrm>
          <a:prstGeom prst="rect">
            <a:avLst/>
          </a:prstGeom>
          <a:noFill/>
          <a:ln/>
        </p:spPr>
        <p:txBody>
          <a:bodyPr wrap="none" lIns="0" tIns="0" rIns="0" bIns="0" rtlCol="0" anchor="ctr"/>
          <a:lstStyle/>
          <a:p>
            <a:pPr algn="l" indent="0" marL="0">
              <a:buNone/>
            </a:pPr>
            <a:r>
              <a:rPr lang="en-US" sz="2700" b="1" dirty="0">
                <a:solidFill>
                  <a:srgbClr val="A78BFA"/>
                </a:solidFill>
                <a:latin typeface="Inter" pitchFamily="34" charset="0"/>
                <a:ea typeface="Inter" pitchFamily="34" charset="-122"/>
                <a:cs typeface="Inter" pitchFamily="34" charset="-120"/>
              </a:rPr>
              <a:t>3</a:t>
            </a:r>
            <a:endParaRPr lang="en-US" sz="2700" dirty="0"/>
          </a:p>
        </p:txBody>
      </p:sp>
      <p:sp>
        <p:nvSpPr>
          <p:cNvPr id="25" name="Text 15"/>
          <p:cNvSpPr txBox="1"/>
          <p:nvPr/>
        </p:nvSpPr>
        <p:spPr>
          <a:xfrm>
            <a:off x="13757148" y="2771546"/>
            <a:ext cx="543154"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METAL</a:t>
            </a:r>
            <a:endParaRPr lang="en-US" sz="825" dirty="0"/>
          </a:p>
        </p:txBody>
      </p:sp>
      <p:sp>
        <p:nvSpPr>
          <p:cNvPr id="26" name="Text 16"/>
          <p:cNvSpPr txBox="1"/>
          <p:nvPr/>
        </p:nvSpPr>
        <p:spPr>
          <a:xfrm>
            <a:off x="13757148" y="2905049"/>
            <a:ext cx="543154" cy="419710"/>
          </a:xfrm>
          <a:prstGeom prst="rect">
            <a:avLst/>
          </a:prstGeom>
          <a:noFill/>
          <a:ln/>
        </p:spPr>
        <p:txBody>
          <a:bodyPr wrap="none" lIns="0" tIns="0" rIns="0" bIns="0" rtlCol="0" anchor="ctr"/>
          <a:lstStyle/>
          <a:p>
            <a:pPr algn="l" indent="0" marL="0">
              <a:buNone/>
            </a:pPr>
            <a:r>
              <a:rPr lang="en-US" sz="2700" b="1" dirty="0">
                <a:solidFill>
                  <a:srgbClr val="F59E0B"/>
                </a:solidFill>
                <a:latin typeface="Inter" pitchFamily="34" charset="0"/>
                <a:ea typeface="Inter" pitchFamily="34" charset="-122"/>
                <a:cs typeface="Inter" pitchFamily="34" charset="-120"/>
              </a:rPr>
              <a:t>M2</a:t>
            </a:r>
            <a:endParaRPr lang="en-US" sz="2700" dirty="0"/>
          </a:p>
        </p:txBody>
      </p:sp>
      <p:sp>
        <p:nvSpPr>
          <p:cNvPr id="27" name="Text 17"/>
          <p:cNvSpPr txBox="1"/>
          <p:nvPr/>
        </p:nvSpPr>
        <p:spPr>
          <a:xfrm>
            <a:off x="1047902" y="4809744"/>
            <a:ext cx="3048610" cy="152705"/>
          </a:xfrm>
          <a:prstGeom prst="rect">
            <a:avLst/>
          </a:prstGeom>
          <a:noFill/>
          <a:ln/>
        </p:spPr>
        <p:txBody>
          <a:bodyPr wrap="none" lIns="0" tIns="0" rIns="0" bIns="0" rtlCol="0" anchor="ctr"/>
          <a:lstStyle/>
          <a:p>
            <a:pPr algn="l" indent="0" marL="0">
              <a:buNone/>
            </a:pPr>
            <a:r>
              <a:rPr lang="en-US" sz="900" spc="198" kern="0" dirty="0">
                <a:solidFill>
                  <a:srgbClr val="22D3EE"/>
                </a:solidFill>
                <a:latin typeface="JetBrains Mono" pitchFamily="34" charset="0"/>
                <a:ea typeface="JetBrains Mono" pitchFamily="34" charset="-122"/>
                <a:cs typeface="JetBrains Mono" pitchFamily="34" charset="-120"/>
              </a:rPr>
              <a:t>SPLIT · A</a:t>
            </a:r>
            <a:endParaRPr lang="en-US" sz="900" dirty="0"/>
          </a:p>
        </p:txBody>
      </p:sp>
      <p:sp>
        <p:nvSpPr>
          <p:cNvPr id="28" name="Text 18"/>
          <p:cNvSpPr txBox="1"/>
          <p:nvPr/>
        </p:nvSpPr>
        <p:spPr>
          <a:xfrm>
            <a:off x="1047902" y="5020056"/>
            <a:ext cx="3048610" cy="486461"/>
          </a:xfrm>
          <a:prstGeom prst="rect">
            <a:avLst/>
          </a:prstGeom>
          <a:noFill/>
          <a:ln/>
        </p:spPr>
        <p:txBody>
          <a:bodyPr wrap="none" lIns="0" tIns="0" rIns="0" bIns="0" rtlCol="0" anchor="ctr"/>
          <a:lstStyle/>
          <a:p>
            <a:pPr algn="l" indent="0" marL="0">
              <a:buNone/>
            </a:pPr>
            <a:r>
              <a:rPr lang="en-US" sz="3150" b="1" dirty="0">
                <a:solidFill>
                  <a:srgbClr val="E6EDF7"/>
                </a:solidFill>
                <a:latin typeface="Inter" pitchFamily="34" charset="0"/>
                <a:ea typeface="Inter" pitchFamily="34" charset="-122"/>
                <a:cs typeface="Inter" pitchFamily="34" charset="-120"/>
              </a:rPr>
              <a:t>1.0 </a:t>
            </a:r>
            <a:pPr algn="l" indent="0" marL="0">
              <a:buNone/>
            </a:pPr>
            <a:r>
              <a:rPr lang="en-US" sz="1650" b="1" dirty="0">
                <a:solidFill>
                  <a:srgbClr val="8B95A8"/>
                </a:solidFill>
                <a:latin typeface="Inter" pitchFamily="34" charset="0"/>
                <a:ea typeface="Inter" pitchFamily="34" charset="-122"/>
                <a:cs typeface="Inter" pitchFamily="34" charset="-120"/>
              </a:rPr>
              <a:t>nm</a:t>
            </a:r>
            <a:endParaRPr lang="en-US" sz="3150" dirty="0"/>
          </a:p>
        </p:txBody>
      </p:sp>
      <p:sp>
        <p:nvSpPr>
          <p:cNvPr id="29" name="Text 19"/>
          <p:cNvSpPr txBox="1"/>
          <p:nvPr/>
        </p:nvSpPr>
        <p:spPr>
          <a:xfrm>
            <a:off x="1047902" y="5562295"/>
            <a:ext cx="3048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ALD barrier metal</a:t>
            </a:r>
            <a:endParaRPr lang="en-US" sz="1350" dirty="0"/>
          </a:p>
        </p:txBody>
      </p:sp>
      <p:sp>
        <p:nvSpPr>
          <p:cNvPr id="30" name="Text 20"/>
          <p:cNvSpPr txBox="1"/>
          <p:nvPr/>
        </p:nvSpPr>
        <p:spPr>
          <a:xfrm>
            <a:off x="1047902" y="6096305"/>
            <a:ext cx="1200607"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WAFER</a:t>
            </a:r>
            <a:endParaRPr lang="en-US" sz="825" dirty="0"/>
          </a:p>
        </p:txBody>
      </p:sp>
      <p:sp>
        <p:nvSpPr>
          <p:cNvPr id="31" name="Text 21"/>
          <p:cNvSpPr txBox="1"/>
          <p:nvPr/>
        </p:nvSpPr>
        <p:spPr>
          <a:xfrm>
            <a:off x="1047902" y="6229807"/>
            <a:ext cx="1324051"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W01 · W02</a:t>
            </a:r>
            <a:endParaRPr lang="en-US" sz="1800" dirty="0"/>
          </a:p>
        </p:txBody>
      </p:sp>
      <p:sp>
        <p:nvSpPr>
          <p:cNvPr id="32" name="Text 22"/>
          <p:cNvSpPr txBox="1"/>
          <p:nvPr/>
        </p:nvSpPr>
        <p:spPr>
          <a:xfrm>
            <a:off x="2585923" y="6096305"/>
            <a:ext cx="1248156"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ROLE</a:t>
            </a:r>
            <a:endParaRPr lang="en-US" sz="825" dirty="0"/>
          </a:p>
        </p:txBody>
      </p:sp>
      <p:sp>
        <p:nvSpPr>
          <p:cNvPr id="33" name="Text 23"/>
          <p:cNvSpPr txBox="1"/>
          <p:nvPr/>
        </p:nvSpPr>
        <p:spPr>
          <a:xfrm>
            <a:off x="2585923" y="6229807"/>
            <a:ext cx="1467612" cy="277063"/>
          </a:xfrm>
          <a:prstGeom prst="rect">
            <a:avLst/>
          </a:prstGeom>
          <a:noFill/>
          <a:ln/>
        </p:spPr>
        <p:txBody>
          <a:bodyPr wrap="none" lIns="0" tIns="0" rIns="0" bIns="0" rtlCol="0" anchor="ctr"/>
          <a:lstStyle/>
          <a:p>
            <a:pPr algn="l" indent="0" marL="0">
              <a:buNone/>
            </a:pPr>
            <a:r>
              <a:rPr lang="en-US" sz="1800" b="1" dirty="0">
                <a:solidFill>
                  <a:srgbClr val="22D3EE"/>
                </a:solidFill>
                <a:latin typeface="Inter" pitchFamily="34" charset="0"/>
                <a:ea typeface="Inter" pitchFamily="34" charset="-122"/>
                <a:cs typeface="Inter" pitchFamily="34" charset="-120"/>
              </a:rPr>
              <a:t>Aggressive</a:t>
            </a:r>
            <a:endParaRPr lang="en-US" sz="1800" dirty="0"/>
          </a:p>
        </p:txBody>
      </p:sp>
      <p:sp>
        <p:nvSpPr>
          <p:cNvPr id="34" name="Text 24"/>
          <p:cNvSpPr txBox="1"/>
          <p:nvPr/>
        </p:nvSpPr>
        <p:spPr>
          <a:xfrm>
            <a:off x="6762902" y="4809744"/>
            <a:ext cx="3048610" cy="152705"/>
          </a:xfrm>
          <a:prstGeom prst="rect">
            <a:avLst/>
          </a:prstGeom>
          <a:noFill/>
          <a:ln/>
        </p:spPr>
        <p:txBody>
          <a:bodyPr wrap="none" lIns="0" tIns="0" rIns="0" bIns="0" rtlCol="0" anchor="ctr"/>
          <a:lstStyle/>
          <a:p>
            <a:pPr algn="l" indent="0" marL="0">
              <a:buNone/>
            </a:pPr>
            <a:r>
              <a:rPr lang="en-US" sz="900" spc="198" kern="0" dirty="0">
                <a:solidFill>
                  <a:srgbClr val="A78BFA"/>
                </a:solidFill>
                <a:latin typeface="JetBrains Mono" pitchFamily="34" charset="0"/>
                <a:ea typeface="JetBrains Mono" pitchFamily="34" charset="-122"/>
                <a:cs typeface="JetBrains Mono" pitchFamily="34" charset="-120"/>
              </a:rPr>
              <a:t>SPLIT · B</a:t>
            </a:r>
            <a:endParaRPr lang="en-US" sz="900" dirty="0"/>
          </a:p>
        </p:txBody>
      </p:sp>
      <p:sp>
        <p:nvSpPr>
          <p:cNvPr id="35" name="Text 25"/>
          <p:cNvSpPr txBox="1"/>
          <p:nvPr/>
        </p:nvSpPr>
        <p:spPr>
          <a:xfrm>
            <a:off x="6762902" y="5020056"/>
            <a:ext cx="3048610" cy="486461"/>
          </a:xfrm>
          <a:prstGeom prst="rect">
            <a:avLst/>
          </a:prstGeom>
          <a:noFill/>
          <a:ln/>
        </p:spPr>
        <p:txBody>
          <a:bodyPr wrap="none" lIns="0" tIns="0" rIns="0" bIns="0" rtlCol="0" anchor="ctr"/>
          <a:lstStyle/>
          <a:p>
            <a:pPr algn="l" indent="0" marL="0">
              <a:buNone/>
            </a:pPr>
            <a:r>
              <a:rPr lang="en-US" sz="3150" b="1" dirty="0">
                <a:solidFill>
                  <a:srgbClr val="E6EDF7"/>
                </a:solidFill>
                <a:latin typeface="Inter" pitchFamily="34" charset="0"/>
                <a:ea typeface="Inter" pitchFamily="34" charset="-122"/>
                <a:cs typeface="Inter" pitchFamily="34" charset="-120"/>
              </a:rPr>
              <a:t>1.5 </a:t>
            </a:r>
            <a:pPr algn="l" indent="0" marL="0">
              <a:buNone/>
            </a:pPr>
            <a:r>
              <a:rPr lang="en-US" sz="1650" b="1" dirty="0">
                <a:solidFill>
                  <a:srgbClr val="8B95A8"/>
                </a:solidFill>
                <a:latin typeface="Inter" pitchFamily="34" charset="0"/>
                <a:ea typeface="Inter" pitchFamily="34" charset="-122"/>
                <a:cs typeface="Inter" pitchFamily="34" charset="-120"/>
              </a:rPr>
              <a:t>nm</a:t>
            </a:r>
            <a:endParaRPr lang="en-US" sz="3150" dirty="0"/>
          </a:p>
        </p:txBody>
      </p:sp>
      <p:sp>
        <p:nvSpPr>
          <p:cNvPr id="36" name="Text 26"/>
          <p:cNvSpPr txBox="1"/>
          <p:nvPr/>
        </p:nvSpPr>
        <p:spPr>
          <a:xfrm>
            <a:off x="6762902" y="5562295"/>
            <a:ext cx="3262579" cy="267005"/>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Baseline (현재量产 baseline 후보)</a:t>
            </a:r>
            <a:endParaRPr lang="en-US" sz="1350" dirty="0"/>
          </a:p>
        </p:txBody>
      </p:sp>
      <p:sp>
        <p:nvSpPr>
          <p:cNvPr id="37" name="Text 27"/>
          <p:cNvSpPr txBox="1"/>
          <p:nvPr/>
        </p:nvSpPr>
        <p:spPr>
          <a:xfrm>
            <a:off x="6762902" y="6096305"/>
            <a:ext cx="1257300"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WAFER</a:t>
            </a:r>
            <a:endParaRPr lang="en-US" sz="825" dirty="0"/>
          </a:p>
        </p:txBody>
      </p:sp>
      <p:sp>
        <p:nvSpPr>
          <p:cNvPr id="38" name="Text 28"/>
          <p:cNvSpPr txBox="1"/>
          <p:nvPr/>
        </p:nvSpPr>
        <p:spPr>
          <a:xfrm>
            <a:off x="6762902" y="6229807"/>
            <a:ext cx="132588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W03 · W04</a:t>
            </a:r>
            <a:endParaRPr lang="en-US" sz="1800" dirty="0"/>
          </a:p>
        </p:txBody>
      </p:sp>
      <p:sp>
        <p:nvSpPr>
          <p:cNvPr id="39" name="Text 29"/>
          <p:cNvSpPr txBox="1"/>
          <p:nvPr/>
        </p:nvSpPr>
        <p:spPr>
          <a:xfrm>
            <a:off x="8359445" y="6096305"/>
            <a:ext cx="1133856"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ROLE</a:t>
            </a:r>
            <a:endParaRPr lang="en-US" sz="825" dirty="0"/>
          </a:p>
        </p:txBody>
      </p:sp>
      <p:sp>
        <p:nvSpPr>
          <p:cNvPr id="40" name="Text 30"/>
          <p:cNvSpPr txBox="1"/>
          <p:nvPr/>
        </p:nvSpPr>
        <p:spPr>
          <a:xfrm>
            <a:off x="8359445" y="6229807"/>
            <a:ext cx="1321308" cy="277063"/>
          </a:xfrm>
          <a:prstGeom prst="rect">
            <a:avLst/>
          </a:prstGeom>
          <a:noFill/>
          <a:ln/>
        </p:spPr>
        <p:txBody>
          <a:bodyPr wrap="none" lIns="0" tIns="0" rIns="0" bIns="0" rtlCol="0" anchor="ctr"/>
          <a:lstStyle/>
          <a:p>
            <a:pPr algn="l" indent="0" marL="0">
              <a:buNone/>
            </a:pPr>
            <a:r>
              <a:rPr lang="en-US" sz="1800" b="1" dirty="0">
                <a:solidFill>
                  <a:srgbClr val="A78BFA"/>
                </a:solidFill>
                <a:latin typeface="Inter" pitchFamily="34" charset="0"/>
                <a:ea typeface="Inter" pitchFamily="34" charset="-122"/>
                <a:cs typeface="Inter" pitchFamily="34" charset="-120"/>
              </a:rPr>
              <a:t>Reference</a:t>
            </a:r>
            <a:endParaRPr lang="en-US" sz="1800" dirty="0"/>
          </a:p>
        </p:txBody>
      </p:sp>
      <p:sp>
        <p:nvSpPr>
          <p:cNvPr id="41" name="Text 31"/>
          <p:cNvSpPr txBox="1"/>
          <p:nvPr/>
        </p:nvSpPr>
        <p:spPr>
          <a:xfrm>
            <a:off x="12477902" y="4809744"/>
            <a:ext cx="3048610" cy="152705"/>
          </a:xfrm>
          <a:prstGeom prst="rect">
            <a:avLst/>
          </a:prstGeom>
          <a:noFill/>
          <a:ln/>
        </p:spPr>
        <p:txBody>
          <a:bodyPr wrap="none" lIns="0" tIns="0" rIns="0" bIns="0" rtlCol="0" anchor="ctr"/>
          <a:lstStyle/>
          <a:p>
            <a:pPr algn="l" indent="0" marL="0">
              <a:buNone/>
            </a:pPr>
            <a:r>
              <a:rPr lang="en-US" sz="900" spc="198" kern="0" dirty="0">
                <a:solidFill>
                  <a:srgbClr val="F59E0B"/>
                </a:solidFill>
                <a:latin typeface="JetBrains Mono" pitchFamily="34" charset="0"/>
                <a:ea typeface="JetBrains Mono" pitchFamily="34" charset="-122"/>
                <a:cs typeface="JetBrains Mono" pitchFamily="34" charset="-120"/>
              </a:rPr>
              <a:t>SPLIT · C</a:t>
            </a:r>
            <a:endParaRPr lang="en-US" sz="900" dirty="0"/>
          </a:p>
        </p:txBody>
      </p:sp>
      <p:sp>
        <p:nvSpPr>
          <p:cNvPr id="42" name="Text 32"/>
          <p:cNvSpPr txBox="1"/>
          <p:nvPr/>
        </p:nvSpPr>
        <p:spPr>
          <a:xfrm>
            <a:off x="12477902" y="5020056"/>
            <a:ext cx="3048610" cy="486461"/>
          </a:xfrm>
          <a:prstGeom prst="rect">
            <a:avLst/>
          </a:prstGeom>
          <a:noFill/>
          <a:ln/>
        </p:spPr>
        <p:txBody>
          <a:bodyPr wrap="none" lIns="0" tIns="0" rIns="0" bIns="0" rtlCol="0" anchor="ctr"/>
          <a:lstStyle/>
          <a:p>
            <a:pPr algn="l" indent="0" marL="0">
              <a:buNone/>
            </a:pPr>
            <a:r>
              <a:rPr lang="en-US" sz="3150" b="1" dirty="0">
                <a:solidFill>
                  <a:srgbClr val="E6EDF7"/>
                </a:solidFill>
                <a:latin typeface="Inter" pitchFamily="34" charset="0"/>
                <a:ea typeface="Inter" pitchFamily="34" charset="-122"/>
                <a:cs typeface="Inter" pitchFamily="34" charset="-120"/>
              </a:rPr>
              <a:t>2.0 </a:t>
            </a:r>
            <a:pPr algn="l" indent="0" marL="0">
              <a:buNone/>
            </a:pPr>
            <a:r>
              <a:rPr lang="en-US" sz="1650" b="1" dirty="0">
                <a:solidFill>
                  <a:srgbClr val="8B95A8"/>
                </a:solidFill>
                <a:latin typeface="Inter" pitchFamily="34" charset="0"/>
                <a:ea typeface="Inter" pitchFamily="34" charset="-122"/>
                <a:cs typeface="Inter" pitchFamily="34" charset="-120"/>
              </a:rPr>
              <a:t>nm</a:t>
            </a:r>
            <a:endParaRPr lang="en-US" sz="3150" dirty="0"/>
          </a:p>
        </p:txBody>
      </p:sp>
      <p:sp>
        <p:nvSpPr>
          <p:cNvPr id="43" name="Text 33"/>
          <p:cNvSpPr txBox="1"/>
          <p:nvPr/>
        </p:nvSpPr>
        <p:spPr>
          <a:xfrm>
            <a:off x="12477902" y="5562295"/>
            <a:ext cx="3048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Robustness margin</a:t>
            </a:r>
            <a:endParaRPr lang="en-US" sz="1350" dirty="0"/>
          </a:p>
        </p:txBody>
      </p:sp>
      <p:sp>
        <p:nvSpPr>
          <p:cNvPr id="44" name="Text 34"/>
          <p:cNvSpPr txBox="1"/>
          <p:nvPr/>
        </p:nvSpPr>
        <p:spPr>
          <a:xfrm>
            <a:off x="12477902" y="6096305"/>
            <a:ext cx="1248156"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WAFER</a:t>
            </a:r>
            <a:endParaRPr lang="en-US" sz="825" dirty="0"/>
          </a:p>
        </p:txBody>
      </p:sp>
      <p:sp>
        <p:nvSpPr>
          <p:cNvPr id="45" name="Text 35"/>
          <p:cNvSpPr txBox="1"/>
          <p:nvPr/>
        </p:nvSpPr>
        <p:spPr>
          <a:xfrm>
            <a:off x="12477902" y="6229807"/>
            <a:ext cx="132588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W05 · W06</a:t>
            </a:r>
            <a:endParaRPr lang="en-US" sz="1800" dirty="0"/>
          </a:p>
        </p:txBody>
      </p:sp>
      <p:sp>
        <p:nvSpPr>
          <p:cNvPr id="46" name="Text 36"/>
          <p:cNvSpPr txBox="1"/>
          <p:nvPr/>
        </p:nvSpPr>
        <p:spPr>
          <a:xfrm>
            <a:off x="14062558" y="6096305"/>
            <a:ext cx="1476756"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ROLE</a:t>
            </a:r>
            <a:endParaRPr lang="en-US" sz="825" dirty="0"/>
          </a:p>
        </p:txBody>
      </p:sp>
      <p:sp>
        <p:nvSpPr>
          <p:cNvPr id="47" name="Text 37"/>
          <p:cNvSpPr txBox="1"/>
          <p:nvPr/>
        </p:nvSpPr>
        <p:spPr>
          <a:xfrm>
            <a:off x="14062558" y="6229807"/>
            <a:ext cx="1757477" cy="277063"/>
          </a:xfrm>
          <a:prstGeom prst="rect">
            <a:avLst/>
          </a:prstGeom>
          <a:noFill/>
          <a:ln/>
        </p:spPr>
        <p:txBody>
          <a:bodyPr wrap="none" lIns="0" tIns="0" rIns="0" bIns="0" rtlCol="0" anchor="ctr"/>
          <a:lstStyle/>
          <a:p>
            <a:pPr algn="l" indent="0" marL="0">
              <a:buNone/>
            </a:pPr>
            <a:r>
              <a:rPr lang="en-US" sz="1800" b="1" dirty="0">
                <a:solidFill>
                  <a:srgbClr val="F59E0B"/>
                </a:solidFill>
                <a:latin typeface="Inter" pitchFamily="34" charset="0"/>
                <a:ea typeface="Inter" pitchFamily="34" charset="-122"/>
                <a:cs typeface="Inter" pitchFamily="34" charset="-120"/>
              </a:rPr>
              <a:t>Conservative</a:t>
            </a:r>
            <a:endParaRPr lang="en-US" sz="1800" dirty="0"/>
          </a:p>
        </p:txBody>
      </p:sp>
      <p:sp>
        <p:nvSpPr>
          <p:cNvPr id="48" name="Text 38"/>
          <p:cNvSpPr txBox="1"/>
          <p:nvPr/>
        </p:nvSpPr>
        <p:spPr>
          <a:xfrm>
            <a:off x="1047902" y="7724851"/>
            <a:ext cx="2220163"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METROLOGY</a:t>
            </a:r>
            <a:endParaRPr lang="en-US" sz="825" dirty="0"/>
          </a:p>
        </p:txBody>
      </p:sp>
      <p:sp>
        <p:nvSpPr>
          <p:cNvPr id="49" name="Text 39"/>
          <p:cNvSpPr txBox="1"/>
          <p:nvPr/>
        </p:nvSpPr>
        <p:spPr>
          <a:xfrm>
            <a:off x="1047902" y="7895844"/>
            <a:ext cx="2641702" cy="314554"/>
          </a:xfrm>
          <a:prstGeom prst="rect">
            <a:avLst/>
          </a:prstGeom>
          <a:noFill/>
          <a:ln/>
        </p:spPr>
        <p:txBody>
          <a:bodyPr wrap="none" lIns="0" tIns="0" rIns="0" bIns="0" rtlCol="0" anchor="ctr"/>
          <a:lstStyle/>
          <a:p>
            <a:pPr algn="l" indent="0" marL="0">
              <a:buNone/>
            </a:pPr>
            <a:r>
              <a:rPr lang="en-US" sz="1650" b="1" dirty="0">
                <a:solidFill>
                  <a:srgbClr val="E6EDF7"/>
                </a:solidFill>
                <a:latin typeface="IBM Plex Sans KR" pitchFamily="34" charset="0"/>
                <a:ea typeface="IBM Plex Sans KR" pitchFamily="34" charset="-122"/>
                <a:cs typeface="IBM Plex Sans KR" pitchFamily="34" charset="-120"/>
              </a:rPr>
              <a:t>CD-SEM · 49pt · in-line</a:t>
            </a:r>
            <a:endParaRPr lang="en-US" sz="1650" dirty="0"/>
          </a:p>
        </p:txBody>
      </p:sp>
      <p:pic>
        <p:nvPicPr>
          <p:cNvPr id="50" name="Image 7" descr="gen-dedup-8922461a7f9f10446094002db16c125d.png">    </p:cNvPr>
          <p:cNvPicPr>
            <a:picLocks noChangeAspect="1"/>
          </p:cNvPicPr>
          <p:nvPr/>
        </p:nvPicPr>
        <p:blipFill>
          <a:blip r:embed="rId8"/>
          <a:srcRect l="0" r="0" t="-2083" b="-2083"/>
          <a:stretch/>
        </p:blipFill>
        <p:spPr>
          <a:xfrm>
            <a:off x="3715207" y="7739482"/>
            <a:ext cx="9144" cy="457200"/>
          </a:xfrm>
          <a:prstGeom prst="rect">
            <a:avLst/>
          </a:prstGeom>
        </p:spPr>
      </p:pic>
      <p:sp>
        <p:nvSpPr>
          <p:cNvPr id="51" name="Text 40"/>
          <p:cNvSpPr txBox="1"/>
          <p:nvPr/>
        </p:nvSpPr>
        <p:spPr>
          <a:xfrm>
            <a:off x="4182466" y="7724851"/>
            <a:ext cx="1591056"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E-TEST</a:t>
            </a:r>
            <a:endParaRPr lang="en-US" sz="825" dirty="0"/>
          </a:p>
        </p:txBody>
      </p:sp>
      <p:sp>
        <p:nvSpPr>
          <p:cNvPr id="52" name="Text 41"/>
          <p:cNvSpPr txBox="1"/>
          <p:nvPr/>
        </p:nvSpPr>
        <p:spPr>
          <a:xfrm>
            <a:off x="4182466" y="7895844"/>
            <a:ext cx="1893722" cy="314554"/>
          </a:xfrm>
          <a:prstGeom prst="rect">
            <a:avLst/>
          </a:prstGeom>
          <a:noFill/>
          <a:ln/>
        </p:spPr>
        <p:txBody>
          <a:bodyPr wrap="none" lIns="0" tIns="0" rIns="0" bIns="0" rtlCol="0" anchor="ctr"/>
          <a:lstStyle/>
          <a:p>
            <a:pPr algn="l" indent="0" marL="0">
              <a:buNone/>
            </a:pPr>
            <a:r>
              <a:rPr lang="en-US" sz="1650" b="1" dirty="0">
                <a:solidFill>
                  <a:srgbClr val="E6EDF7"/>
                </a:solidFill>
                <a:latin typeface="IBM Plex Sans KR" pitchFamily="34" charset="0"/>
                <a:ea typeface="IBM Plex Sans KR" pitchFamily="34" charset="-122"/>
                <a:cs typeface="IBM Plex Sans KR" pitchFamily="34" charset="-120"/>
              </a:rPr>
              <a:t>Rs / Rc via chain</a:t>
            </a:r>
            <a:endParaRPr lang="en-US" sz="1650" dirty="0"/>
          </a:p>
        </p:txBody>
      </p:sp>
      <p:pic>
        <p:nvPicPr>
          <p:cNvPr id="53" name="Image 8" descr="gen-dedup-8922461a7f9f10446094002db16c125d.png">    </p:cNvPr>
          <p:cNvPicPr>
            <a:picLocks noChangeAspect="1"/>
          </p:cNvPicPr>
          <p:nvPr/>
        </p:nvPicPr>
        <p:blipFill>
          <a:blip r:embed="rId9"/>
          <a:srcRect l="0" r="0" t="-2083" b="-2083"/>
          <a:stretch/>
        </p:blipFill>
        <p:spPr>
          <a:xfrm>
            <a:off x="6229807" y="7739482"/>
            <a:ext cx="9144" cy="457200"/>
          </a:xfrm>
          <a:prstGeom prst="rect">
            <a:avLst/>
          </a:prstGeom>
        </p:spPr>
      </p:pic>
      <p:sp>
        <p:nvSpPr>
          <p:cNvPr id="54" name="Text 42"/>
          <p:cNvSpPr txBox="1"/>
          <p:nvPr/>
        </p:nvSpPr>
        <p:spPr>
          <a:xfrm>
            <a:off x="6697066" y="7724851"/>
            <a:ext cx="1581912"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IMAGING</a:t>
            </a:r>
            <a:endParaRPr lang="en-US" sz="825" dirty="0"/>
          </a:p>
        </p:txBody>
      </p:sp>
      <p:sp>
        <p:nvSpPr>
          <p:cNvPr id="55" name="Text 43"/>
          <p:cNvSpPr txBox="1"/>
          <p:nvPr/>
        </p:nvSpPr>
        <p:spPr>
          <a:xfrm>
            <a:off x="6697066" y="7895844"/>
            <a:ext cx="1881835" cy="314554"/>
          </a:xfrm>
          <a:prstGeom prst="rect">
            <a:avLst/>
          </a:prstGeom>
          <a:noFill/>
          <a:ln/>
        </p:spPr>
        <p:txBody>
          <a:bodyPr wrap="none" lIns="0" tIns="0" rIns="0" bIns="0" rtlCol="0" anchor="ctr"/>
          <a:lstStyle/>
          <a:p>
            <a:pPr algn="l" indent="0" marL="0">
              <a:buNone/>
            </a:pPr>
            <a:r>
              <a:rPr lang="en-US" sz="1650" b="1" dirty="0">
                <a:solidFill>
                  <a:srgbClr val="E6EDF7"/>
                </a:solidFill>
                <a:latin typeface="IBM Plex Sans KR" pitchFamily="34" charset="0"/>
                <a:ea typeface="IBM Plex Sans KR" pitchFamily="34" charset="-122"/>
                <a:cs typeface="IBM Plex Sans KR" pitchFamily="34" charset="-120"/>
              </a:rPr>
              <a:t>SEM / FIB / TEM</a:t>
            </a:r>
            <a:endParaRPr lang="en-US" sz="1650" dirty="0"/>
          </a:p>
        </p:txBody>
      </p:sp>
      <p:pic>
        <p:nvPicPr>
          <p:cNvPr id="56" name="Image 9" descr="gen-dedup-8922461a7f9f10446094002db16c125d.png">    </p:cNvPr>
          <p:cNvPicPr>
            <a:picLocks noChangeAspect="1"/>
          </p:cNvPicPr>
          <p:nvPr/>
        </p:nvPicPr>
        <p:blipFill>
          <a:blip r:embed="rId10"/>
          <a:srcRect l="0" r="0" t="-2083" b="-2083"/>
          <a:stretch/>
        </p:blipFill>
        <p:spPr>
          <a:xfrm>
            <a:off x="8726119" y="7739482"/>
            <a:ext cx="9144" cy="457200"/>
          </a:xfrm>
          <a:prstGeom prst="rect">
            <a:avLst/>
          </a:prstGeom>
        </p:spPr>
      </p:pic>
      <p:sp>
        <p:nvSpPr>
          <p:cNvPr id="57" name="Text 44"/>
          <p:cNvSpPr txBox="1"/>
          <p:nvPr/>
        </p:nvSpPr>
        <p:spPr>
          <a:xfrm>
            <a:off x="9193378" y="7757770"/>
            <a:ext cx="409651"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LAYER</a:t>
            </a:r>
            <a:endParaRPr lang="en-US" sz="825" dirty="0"/>
          </a:p>
        </p:txBody>
      </p:sp>
      <p:sp>
        <p:nvSpPr>
          <p:cNvPr id="58" name="Text 45"/>
          <p:cNvSpPr txBox="1"/>
          <p:nvPr/>
        </p:nvSpPr>
        <p:spPr>
          <a:xfrm>
            <a:off x="9193378" y="7929677"/>
            <a:ext cx="409651" cy="247802"/>
          </a:xfrm>
          <a:prstGeom prst="rect">
            <a:avLst/>
          </a:prstGeom>
          <a:noFill/>
          <a:ln/>
        </p:spPr>
        <p:txBody>
          <a:bodyPr wrap="none" lIns="0" tIns="0" rIns="0" bIns="0" rtlCol="0" anchor="ctr"/>
          <a:lstStyle/>
          <a:p>
            <a:pPr algn="l" indent="0" marL="0">
              <a:buNone/>
            </a:pPr>
            <a:r>
              <a:rPr lang="en-US" sz="1650" b="1" dirty="0">
                <a:solidFill>
                  <a:srgbClr val="22D3EE"/>
                </a:solidFill>
                <a:latin typeface="Inter" pitchFamily="34" charset="0"/>
                <a:ea typeface="Inter" pitchFamily="34" charset="-122"/>
                <a:cs typeface="Inter" pitchFamily="34" charset="-120"/>
              </a:rPr>
              <a:t>M2</a:t>
            </a:r>
            <a:endParaRPr lang="en-US" sz="1650" dirty="0"/>
          </a:p>
        </p:txBody>
      </p:sp>
      <p:pic>
        <p:nvPicPr>
          <p:cNvPr id="59" name="Image 10" descr="gen-dedup-8922461a7f9f10446094002db16c125d.png">    </p:cNvPr>
          <p:cNvPicPr>
            <a:picLocks noChangeAspect="1"/>
          </p:cNvPicPr>
          <p:nvPr/>
        </p:nvPicPr>
        <p:blipFill>
          <a:blip r:embed="rId11"/>
          <a:srcRect l="0" r="0" t="-2083" b="-2083"/>
          <a:stretch/>
        </p:blipFill>
        <p:spPr>
          <a:xfrm>
            <a:off x="10059314" y="7739482"/>
            <a:ext cx="9144" cy="457200"/>
          </a:xfrm>
          <a:prstGeom prst="rect">
            <a:avLst/>
          </a:prstGeom>
        </p:spPr>
      </p:pic>
      <p:sp>
        <p:nvSpPr>
          <p:cNvPr id="60" name="Text 46"/>
          <p:cNvSpPr txBox="1"/>
          <p:nvPr/>
        </p:nvSpPr>
        <p:spPr>
          <a:xfrm>
            <a:off x="10525658" y="7715707"/>
            <a:ext cx="2153412"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DIELECTRIC</a:t>
            </a:r>
            <a:endParaRPr lang="en-US" sz="825" dirty="0"/>
          </a:p>
        </p:txBody>
      </p:sp>
      <p:sp>
        <p:nvSpPr>
          <p:cNvPr id="61" name="Text 47"/>
          <p:cNvSpPr txBox="1"/>
          <p:nvPr/>
        </p:nvSpPr>
        <p:spPr>
          <a:xfrm>
            <a:off x="10525658" y="7886700"/>
            <a:ext cx="2562149" cy="333756"/>
          </a:xfrm>
          <a:prstGeom prst="rect">
            <a:avLst/>
          </a:prstGeom>
          <a:noFill/>
          <a:ln/>
        </p:spPr>
        <p:txBody>
          <a:bodyPr wrap="none" lIns="0" tIns="0" rIns="0" bIns="0" rtlCol="0" anchor="ctr"/>
          <a:lstStyle/>
          <a:p>
            <a:pPr algn="l" indent="0" marL="0">
              <a:buNone/>
            </a:pPr>
            <a:r>
              <a:rPr lang="en-US" sz="1650" b="1" dirty="0">
                <a:solidFill>
                  <a:srgbClr val="E6EDF7"/>
                </a:solidFill>
                <a:latin typeface="IBM Plex Sans KR" pitchFamily="34" charset="0"/>
                <a:ea typeface="IBM Plex Sans KR" pitchFamily="34" charset="-122"/>
                <a:cs typeface="IBM Plex Sans KR" pitchFamily="34" charset="-120"/>
              </a:rPr>
              <a:t>low-k SiCOH (k ≈ 3.0)</a:t>
            </a:r>
            <a:endParaRPr lang="en-US" sz="1650" dirty="0"/>
          </a:p>
        </p:txBody>
      </p:sp>
      <p:sp>
        <p:nvSpPr>
          <p:cNvPr id="62" name="Text 48"/>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22D3EE"/>
                </a:solidFill>
                <a:latin typeface="JetBrains Mono" pitchFamily="34" charset="0"/>
                <a:ea typeface="JetBrains Mono" pitchFamily="34" charset="-122"/>
                <a:cs typeface="JetBrains Mono" pitchFamily="34" charset="-120"/>
              </a:rPr>
              <a:t>KEY TAKEAWAY</a:t>
            </a:r>
            <a:endParaRPr lang="en-US" sz="900" dirty="0"/>
          </a:p>
        </p:txBody>
      </p:sp>
      <p:pic>
        <p:nvPicPr>
          <p:cNvPr id="63" name="Image 11" descr="gen-dedup-8d980d668bad90bb12bf24434f109175.png">    </p:cNvPr>
          <p:cNvPicPr>
            <a:picLocks noChangeAspect="1"/>
          </p:cNvPicPr>
          <p:nvPr/>
        </p:nvPicPr>
        <p:blipFill>
          <a:blip r:embed="rId12"/>
          <a:srcRect l="-2083" r="-2083" t="0" b="0"/>
          <a:stretch/>
        </p:blipFill>
        <p:spPr>
          <a:xfrm>
            <a:off x="2325319" y="8904427"/>
            <a:ext cx="228600" cy="9144"/>
          </a:xfrm>
          <a:prstGeom prst="rect">
            <a:avLst/>
          </a:prstGeom>
        </p:spPr>
      </p:pic>
      <p:sp>
        <p:nvSpPr>
          <p:cNvPr id="64" name="Text 49"/>
          <p:cNvSpPr txBox="1"/>
          <p:nvPr/>
        </p:nvSpPr>
        <p:spPr>
          <a:xfrm>
            <a:off x="2724912" y="8762695"/>
            <a:ext cx="9382658"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3개 split × 6 wafer 구성으로 BM 두께에 따른 CD-저항 트레이드오프와 uniformity를 동시에 확보한다.</a:t>
            </a:r>
            <a:endParaRPr lang="en-US" sz="1650" dirty="0"/>
          </a:p>
        </p:txBody>
      </p:sp>
      <p:sp>
        <p:nvSpPr>
          <p:cNvPr id="65" name="Text 50"/>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60C"/>
        </a:solidFill>
      </p:bgPr>
    </p:bg>
    <p:spTree>
      <p:nvGrpSpPr>
        <p:cNvPr id="1" name=""/>
        <p:cNvGrpSpPr/>
        <p:nvPr/>
      </p:nvGrpSpPr>
      <p:grpSpPr>
        <a:xfrm>
          <a:off x="0" y="0"/>
          <a:ext cx="0" cy="0"/>
          <a:chOff x="0" y="0"/>
          <a:chExt cx="0" cy="0"/>
        </a:xfrm>
      </p:grpSpPr>
      <p:pic>
        <p:nvPicPr>
          <p:cNvPr id="3" name="Image 0" descr="gen-dedup-052e53b080ecf23cfc5d8382d73266cc.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761695" y="2667305"/>
            <a:ext cx="7258507" cy="5734202"/>
          </a:xfrm>
          <a:prstGeom prst="rect">
            <a:avLst/>
          </a:prstGeom>
          <a:solidFill>
            <a:srgbClr val="131A2D"/>
          </a:solidFill>
          <a:ln w="12700">
            <a:solidFill>
              <a:srgbClr val="00D4FF">
                <a:alpha val="18000"/>
              </a:srgbClr>
            </a:solidFill>
            <a:prstDash val="solid"/>
          </a:ln>
        </p:spPr>
      </p:sp>
      <p:sp>
        <p:nvSpPr>
          <p:cNvPr id="5" name="Shape 1"/>
          <p:cNvSpPr/>
          <p:nvPr/>
        </p:nvSpPr>
        <p:spPr>
          <a:xfrm>
            <a:off x="8382305" y="2971800"/>
            <a:ext cx="9163202" cy="5429707"/>
          </a:xfrm>
          <a:prstGeom prst="rect">
            <a:avLst/>
          </a:prstGeom>
          <a:solidFill>
            <a:srgbClr val="0F1525"/>
          </a:solidFill>
          <a:ln w="12700">
            <a:solidFill>
              <a:srgbClr val="FFFFFF">
                <a:alpha val="6000"/>
              </a:srgbClr>
            </a:solidFill>
            <a:prstDash val="solid"/>
          </a:ln>
        </p:spPr>
      </p:sp>
      <p:pic>
        <p:nvPicPr>
          <p:cNvPr id="6" name="Image 1" descr="gen-dedup-17d65ede92ab9cddc95b6a25bb2a0efb.png">    </p:cNvPr>
          <p:cNvPicPr>
            <a:picLocks noChangeAspect="1"/>
          </p:cNvPicPr>
          <p:nvPr/>
        </p:nvPicPr>
        <p:blipFill>
          <a:blip r:embed="rId2"/>
          <a:srcRect l="0" r="0" t="-30" b="-30"/>
          <a:stretch/>
        </p:blipFill>
        <p:spPr>
          <a:xfrm>
            <a:off x="761695" y="8667598"/>
            <a:ext cx="16792956" cy="743407"/>
          </a:xfrm>
          <a:prstGeom prst="rect">
            <a:avLst/>
          </a:prstGeom>
        </p:spPr>
      </p:pic>
      <p:pic>
        <p:nvPicPr>
          <p:cNvPr id="7" name="Image 2" descr="gen-dedup-254703a04c84b6a855582b8f89c36dca.png">    </p:cNvPr>
          <p:cNvPicPr>
            <a:picLocks noChangeAspect="1"/>
          </p:cNvPicPr>
          <p:nvPr/>
        </p:nvPicPr>
        <p:blipFill>
          <a:blip r:embed="rId3"/>
          <a:srcRect l="-2083" r="-2083" t="0" b="0"/>
          <a:stretch/>
        </p:blipFill>
        <p:spPr>
          <a:xfrm>
            <a:off x="761695" y="857707"/>
            <a:ext cx="16763695" cy="9144"/>
          </a:xfrm>
          <a:prstGeom prst="rect">
            <a:avLst/>
          </a:prstGeom>
        </p:spPr>
      </p:pic>
      <p:pic>
        <p:nvPicPr>
          <p:cNvPr id="8" name="Image 3" descr="gen-dedup-d10faf5be5cb30c205d14919ed994e70.png">    </p:cNvPr>
          <p:cNvPicPr>
            <a:picLocks noChangeAspect="1"/>
          </p:cNvPicPr>
          <p:nvPr/>
        </p:nvPicPr>
        <p:blipFill>
          <a:blip r:embed="rId4"/>
          <a:srcRect l="0" r="0" t="0" b="0"/>
          <a:stretch/>
        </p:blipFill>
        <p:spPr>
          <a:xfrm>
            <a:off x="1524305" y="3619195"/>
            <a:ext cx="1733702" cy="1733702"/>
          </a:xfrm>
          <a:prstGeom prst="rect">
            <a:avLst/>
          </a:prstGeom>
        </p:spPr>
      </p:pic>
      <p:pic>
        <p:nvPicPr>
          <p:cNvPr id="9" name="Image 4" descr="gen-dedup-cf402033e64aa1bce7af596ca1fc35d1.png">    </p:cNvPr>
          <p:cNvPicPr>
            <a:picLocks noChangeAspect="1"/>
          </p:cNvPicPr>
          <p:nvPr/>
        </p:nvPicPr>
        <p:blipFill>
          <a:blip r:embed="rId5"/>
          <a:srcRect l="0" r="0" t="0" b="0"/>
          <a:stretch/>
        </p:blipFill>
        <p:spPr>
          <a:xfrm>
            <a:off x="3524098" y="3619195"/>
            <a:ext cx="1733702" cy="1733702"/>
          </a:xfrm>
          <a:prstGeom prst="rect">
            <a:avLst/>
          </a:prstGeom>
        </p:spPr>
      </p:pic>
      <p:pic>
        <p:nvPicPr>
          <p:cNvPr id="10" name="Image 5" descr="gen-dedup-30b31f7efd585485e135bf7a271616d6.png">    </p:cNvPr>
          <p:cNvPicPr>
            <a:picLocks noChangeAspect="1"/>
          </p:cNvPicPr>
          <p:nvPr/>
        </p:nvPicPr>
        <p:blipFill>
          <a:blip r:embed="rId6"/>
          <a:srcRect l="0" r="0" t="0" b="0"/>
          <a:stretch/>
        </p:blipFill>
        <p:spPr>
          <a:xfrm>
            <a:off x="5524805" y="3619195"/>
            <a:ext cx="1733702" cy="1733702"/>
          </a:xfrm>
          <a:prstGeom prst="rect">
            <a:avLst/>
          </a:prstGeom>
        </p:spPr>
      </p:pic>
      <p:pic>
        <p:nvPicPr>
          <p:cNvPr id="11" name="Image 6" descr="gen-dedup-243be1094626c6d29c508284e18e8b13.png">    </p:cNvPr>
          <p:cNvPicPr>
            <a:picLocks noChangeAspect="1"/>
          </p:cNvPicPr>
          <p:nvPr/>
        </p:nvPicPr>
        <p:blipFill>
          <a:blip r:embed="rId7"/>
          <a:srcRect l="0" r="0" t="0" b="0"/>
          <a:stretch/>
        </p:blipFill>
        <p:spPr>
          <a:xfrm>
            <a:off x="2523744" y="6286500"/>
            <a:ext cx="1733702" cy="1733702"/>
          </a:xfrm>
          <a:prstGeom prst="rect">
            <a:avLst/>
          </a:prstGeom>
        </p:spPr>
      </p:pic>
      <p:pic>
        <p:nvPicPr>
          <p:cNvPr id="12" name="Image 7" descr="gen-dedup-32098cde96dc634eec9a25dae0e0cc55.png">    </p:cNvPr>
          <p:cNvPicPr>
            <a:picLocks noChangeAspect="1"/>
          </p:cNvPicPr>
          <p:nvPr/>
        </p:nvPicPr>
        <p:blipFill>
          <a:blip r:embed="rId8"/>
          <a:srcRect l="0" r="0" t="0" b="0"/>
          <a:stretch/>
        </p:blipFill>
        <p:spPr>
          <a:xfrm>
            <a:off x="4524451" y="6286500"/>
            <a:ext cx="1733702" cy="1733702"/>
          </a:xfrm>
          <a:prstGeom prst="rect">
            <a:avLst/>
          </a:prstGeom>
        </p:spPr>
      </p:pic>
      <p:pic>
        <p:nvPicPr>
          <p:cNvPr id="13" name="Image 8" descr="gen-dedup-2646615b6653ff8141ed232e04cacc4a.png">    </p:cNvPr>
          <p:cNvPicPr>
            <a:picLocks noChangeAspect="1"/>
          </p:cNvPicPr>
          <p:nvPr/>
        </p:nvPicPr>
        <p:blipFill>
          <a:blip r:embed="rId9"/>
          <a:srcRect l="0" r="0" t="0" b="0"/>
          <a:stretch/>
        </p:blipFill>
        <p:spPr>
          <a:xfrm>
            <a:off x="6524244" y="6286500"/>
            <a:ext cx="1733702" cy="1733702"/>
          </a:xfrm>
          <a:prstGeom prst="rect">
            <a:avLst/>
          </a:prstGeom>
        </p:spPr>
      </p:pic>
      <p:sp>
        <p:nvSpPr>
          <p:cNvPr id="14" name="Shape 2"/>
          <p:cNvSpPr/>
          <p:nvPr/>
        </p:nvSpPr>
        <p:spPr>
          <a:xfrm>
            <a:off x="761695" y="500177"/>
            <a:ext cx="75895" cy="75895"/>
          </a:xfrm>
          <a:prstGeom prst="rect">
            <a:avLst/>
          </a:prstGeom>
          <a:solidFill>
            <a:srgbClr val="A78BFA"/>
          </a:solidFill>
          <a:ln w="12700">
            <a:solidFill>
              <a:srgbClr val="FFFFFF">
                <a:alpha val="0"/>
              </a:srgbClr>
            </a:solidFill>
            <a:prstDash val="solid"/>
          </a:ln>
          <a:effectLst>
            <a:outerShdw sx="100000" sy="100000" kx="0" ky="0" algn="bl" rotWithShape="0" blurRad="114300" dist="12700" dir="16200000">
              <a:srgbClr val="a78bfa">
                <a:alpha val="100000"/>
              </a:srgbClr>
            </a:outerShdw>
          </a:effectLst>
        </p:spPr>
      </p:sp>
      <p:sp>
        <p:nvSpPr>
          <p:cNvPr id="15" name="Text 3"/>
          <p:cNvSpPr txBox="1"/>
          <p:nvPr/>
        </p:nvSpPr>
        <p:spPr>
          <a:xfrm>
            <a:off x="952805" y="457200"/>
            <a:ext cx="3128162" cy="162763"/>
          </a:xfrm>
          <a:prstGeom prst="rect">
            <a:avLst/>
          </a:prstGeom>
          <a:noFill/>
          <a:ln/>
        </p:spPr>
        <p:txBody>
          <a:bodyPr wrap="none" lIns="0" tIns="0" rIns="0" bIns="0" rtlCol="0" anchor="ctr"/>
          <a:lstStyle/>
          <a:p>
            <a:pPr algn="l" indent="0" marL="0">
              <a:buNone/>
            </a:pPr>
            <a:r>
              <a:rPr lang="en-US" sz="1050" spc="294" kern="0" dirty="0">
                <a:solidFill>
                  <a:srgbClr val="A78BFA"/>
                </a:solidFill>
                <a:latin typeface="Inter" pitchFamily="34" charset="0"/>
                <a:ea typeface="Inter" pitchFamily="34" charset="-122"/>
                <a:cs typeface="Inter" pitchFamily="34" charset="-120"/>
              </a:rPr>
              <a:t>SLIDE 02 · Lot &amp; Wafer Map</a:t>
            </a:r>
            <a:endParaRPr lang="en-US" sz="1050" dirty="0"/>
          </a:p>
        </p:txBody>
      </p:sp>
      <p:sp>
        <p:nvSpPr>
          <p:cNvPr id="16" name="Text 4"/>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BEOL M2 · RSBM SPLIT EVAL · DUMMY</a:t>
            </a:r>
            <a:endParaRPr lang="en-US" sz="1200" dirty="0"/>
          </a:p>
        </p:txBody>
      </p:sp>
      <p:sp>
        <p:nvSpPr>
          <p:cNvPr id="17" name="Text 5"/>
          <p:cNvSpPr txBox="1"/>
          <p:nvPr/>
        </p:nvSpPr>
        <p:spPr>
          <a:xfrm>
            <a:off x="761695" y="1143000"/>
            <a:ext cx="11430000" cy="505663"/>
          </a:xfrm>
          <a:prstGeom prst="rect">
            <a:avLst/>
          </a:prstGeom>
          <a:noFill/>
          <a:ln/>
        </p:spPr>
        <p:txBody>
          <a:bodyPr wrap="none" lIns="0" tIns="0" rIns="0" bIns="0" rtlCol="0" anchor="ctr"/>
          <a:lstStyle/>
          <a:p>
            <a:pPr algn="l" indent="0" marL="0">
              <a:buNone/>
            </a:pPr>
            <a:r>
              <a:rPr lang="en-US" sz="3600" b="1" spc="-36" kern="0" dirty="0">
                <a:solidFill>
                  <a:srgbClr val="E6EDF7"/>
                </a:solidFill>
                <a:latin typeface="Inter" pitchFamily="34" charset="0"/>
                <a:ea typeface="Inter" pitchFamily="34" charset="-122"/>
                <a:cs typeface="Inter" pitchFamily="34" charset="-120"/>
              </a:rPr>
              <a:t>Lot 정보 &amp; </a:t>
            </a:r>
            <a:pPr algn="l" indent="0" marL="0">
              <a:buNone/>
            </a:pPr>
            <a:r>
              <a:rPr lang="en-US" sz="3600" b="1" spc="-36" kern="0" dirty="0">
                <a:solidFill>
                  <a:srgbClr val="A78BFA"/>
                </a:solidFill>
                <a:latin typeface="Inter" pitchFamily="34" charset="0"/>
                <a:ea typeface="Inter" pitchFamily="34" charset="-122"/>
                <a:cs typeface="Inter" pitchFamily="34" charset="-120"/>
              </a:rPr>
              <a:t>Wafer 배치</a:t>
            </a:r>
            <a:endParaRPr lang="en-US" sz="3600" dirty="0"/>
          </a:p>
        </p:txBody>
      </p:sp>
      <p:sp>
        <p:nvSpPr>
          <p:cNvPr id="18" name="Text 6"/>
          <p:cNvSpPr txBox="1"/>
          <p:nvPr/>
        </p:nvSpPr>
        <p:spPr>
          <a:xfrm>
            <a:off x="761695" y="1779422"/>
            <a:ext cx="114300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동일 lot 안에서 6 wafer를 2장씩 3개 split으로 분기, 동일 chamber·동일 recipe에서 BM 두께만 분기 처리.</a:t>
            </a:r>
            <a:endParaRPr lang="en-US" sz="1500" dirty="0"/>
          </a:p>
        </p:txBody>
      </p:sp>
      <p:sp>
        <p:nvSpPr>
          <p:cNvPr id="19" name="Text 7"/>
          <p:cNvSpPr txBox="1"/>
          <p:nvPr/>
        </p:nvSpPr>
        <p:spPr>
          <a:xfrm>
            <a:off x="1047902" y="2857500"/>
            <a:ext cx="5715000" cy="152705"/>
          </a:xfrm>
          <a:prstGeom prst="rect">
            <a:avLst/>
          </a:prstGeom>
          <a:noFill/>
          <a:ln/>
        </p:spPr>
        <p:txBody>
          <a:bodyPr wrap="none" lIns="0" tIns="0" rIns="0" bIns="0" rtlCol="0" anchor="ctr"/>
          <a:lstStyle/>
          <a:p>
            <a:pPr algn="l" indent="0" marL="0">
              <a:buNone/>
            </a:pPr>
            <a:r>
              <a:rPr lang="en-US" sz="900" spc="198" kern="0" dirty="0">
                <a:solidFill>
                  <a:srgbClr val="5C6478"/>
                </a:solidFill>
                <a:latin typeface="JetBrains Mono" pitchFamily="34" charset="0"/>
                <a:ea typeface="JetBrains Mono" pitchFamily="34" charset="-122"/>
                <a:cs typeface="JetBrains Mono" pitchFamily="34" charset="-120"/>
              </a:rPr>
              <a:t>300 mm WAFER · 6-UP SPLIT</a:t>
            </a:r>
            <a:endParaRPr lang="en-US" sz="900" dirty="0"/>
          </a:p>
        </p:txBody>
      </p:sp>
      <p:sp>
        <p:nvSpPr>
          <p:cNvPr id="20" name="Text 8"/>
          <p:cNvSpPr txBox="1"/>
          <p:nvPr/>
        </p:nvSpPr>
        <p:spPr>
          <a:xfrm>
            <a:off x="1047902" y="3066898"/>
            <a:ext cx="5715000"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Lot L24-M2-BM-008</a:t>
            </a:r>
            <a:endParaRPr lang="en-US" sz="1650" dirty="0"/>
          </a:p>
        </p:txBody>
      </p:sp>
      <p:sp>
        <p:nvSpPr>
          <p:cNvPr id="21" name="Text 9"/>
          <p:cNvSpPr txBox="1"/>
          <p:nvPr/>
        </p:nvSpPr>
        <p:spPr>
          <a:xfrm>
            <a:off x="1524305" y="4238244"/>
            <a:ext cx="1714500" cy="133502"/>
          </a:xfrm>
          <a:prstGeom prst="rect">
            <a:avLst/>
          </a:prstGeom>
          <a:noFill/>
          <a:ln/>
        </p:spPr>
        <p:txBody>
          <a:bodyPr wrap="none" lIns="0" tIns="0" rIns="0" bIns="0" rtlCol="0" anchor="ctr"/>
          <a:lstStyle/>
          <a:p>
            <a:pPr algn="ctr" indent="0" marL="0">
              <a:buNone/>
            </a:pPr>
            <a:r>
              <a:rPr lang="en-US" sz="825" spc="149" kern="0" dirty="0">
                <a:solidFill>
                  <a:srgbClr val="22D3EE"/>
                </a:solidFill>
                <a:latin typeface="JetBrains Mono" pitchFamily="34" charset="0"/>
                <a:ea typeface="JetBrains Mono" pitchFamily="34" charset="-122"/>
                <a:cs typeface="JetBrains Mono" pitchFamily="34" charset="-120"/>
              </a:rPr>
              <a:t>WAFER</a:t>
            </a:r>
            <a:endParaRPr lang="en-US" sz="825" dirty="0"/>
          </a:p>
        </p:txBody>
      </p:sp>
      <p:sp>
        <p:nvSpPr>
          <p:cNvPr id="22" name="Text 10"/>
          <p:cNvSpPr txBox="1"/>
          <p:nvPr/>
        </p:nvSpPr>
        <p:spPr>
          <a:xfrm>
            <a:off x="1524305" y="4390949"/>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W01</a:t>
            </a:r>
            <a:endParaRPr lang="en-US" sz="2400" dirty="0"/>
          </a:p>
        </p:txBody>
      </p:sp>
      <p:sp>
        <p:nvSpPr>
          <p:cNvPr id="23" name="Text 11"/>
          <p:cNvSpPr txBox="1"/>
          <p:nvPr/>
        </p:nvSpPr>
        <p:spPr>
          <a:xfrm>
            <a:off x="1524305" y="5381244"/>
            <a:ext cx="171450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A · 1.0 nm</a:t>
            </a:r>
            <a:endParaRPr lang="en-US" sz="825" dirty="0"/>
          </a:p>
        </p:txBody>
      </p:sp>
      <p:sp>
        <p:nvSpPr>
          <p:cNvPr id="24" name="Text 12"/>
          <p:cNvSpPr txBox="1"/>
          <p:nvPr/>
        </p:nvSpPr>
        <p:spPr>
          <a:xfrm>
            <a:off x="3524098" y="4238244"/>
            <a:ext cx="1714500" cy="133502"/>
          </a:xfrm>
          <a:prstGeom prst="rect">
            <a:avLst/>
          </a:prstGeom>
          <a:noFill/>
          <a:ln/>
        </p:spPr>
        <p:txBody>
          <a:bodyPr wrap="none" lIns="0" tIns="0" rIns="0" bIns="0" rtlCol="0" anchor="ctr"/>
          <a:lstStyle/>
          <a:p>
            <a:pPr algn="ctr" indent="0" marL="0">
              <a:buNone/>
            </a:pPr>
            <a:r>
              <a:rPr lang="en-US" sz="825" spc="149" kern="0" dirty="0">
                <a:solidFill>
                  <a:srgbClr val="22D3EE"/>
                </a:solidFill>
                <a:latin typeface="JetBrains Mono" pitchFamily="34" charset="0"/>
                <a:ea typeface="JetBrains Mono" pitchFamily="34" charset="-122"/>
                <a:cs typeface="JetBrains Mono" pitchFamily="34" charset="-120"/>
              </a:rPr>
              <a:t>WAFER</a:t>
            </a:r>
            <a:endParaRPr lang="en-US" sz="825" dirty="0"/>
          </a:p>
        </p:txBody>
      </p:sp>
      <p:sp>
        <p:nvSpPr>
          <p:cNvPr id="25" name="Text 13"/>
          <p:cNvSpPr txBox="1"/>
          <p:nvPr/>
        </p:nvSpPr>
        <p:spPr>
          <a:xfrm>
            <a:off x="3524098" y="4390949"/>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W02</a:t>
            </a:r>
            <a:endParaRPr lang="en-US" sz="2400" dirty="0"/>
          </a:p>
        </p:txBody>
      </p:sp>
      <p:sp>
        <p:nvSpPr>
          <p:cNvPr id="26" name="Text 14"/>
          <p:cNvSpPr txBox="1"/>
          <p:nvPr/>
        </p:nvSpPr>
        <p:spPr>
          <a:xfrm>
            <a:off x="3524098" y="5381244"/>
            <a:ext cx="171450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A · 1.0 nm</a:t>
            </a:r>
            <a:endParaRPr lang="en-US" sz="825" dirty="0"/>
          </a:p>
        </p:txBody>
      </p:sp>
      <p:sp>
        <p:nvSpPr>
          <p:cNvPr id="27" name="Text 15"/>
          <p:cNvSpPr txBox="1"/>
          <p:nvPr/>
        </p:nvSpPr>
        <p:spPr>
          <a:xfrm>
            <a:off x="5524805" y="4238244"/>
            <a:ext cx="1714500" cy="133502"/>
          </a:xfrm>
          <a:prstGeom prst="rect">
            <a:avLst/>
          </a:prstGeom>
          <a:noFill/>
          <a:ln/>
        </p:spPr>
        <p:txBody>
          <a:bodyPr wrap="none" lIns="0" tIns="0" rIns="0" bIns="0" rtlCol="0" anchor="ctr"/>
          <a:lstStyle/>
          <a:p>
            <a:pPr algn="ctr" indent="0" marL="0">
              <a:buNone/>
            </a:pPr>
            <a:r>
              <a:rPr lang="en-US" sz="825" spc="149" kern="0" dirty="0">
                <a:solidFill>
                  <a:srgbClr val="A78BFA"/>
                </a:solidFill>
                <a:latin typeface="JetBrains Mono" pitchFamily="34" charset="0"/>
                <a:ea typeface="JetBrains Mono" pitchFamily="34" charset="-122"/>
                <a:cs typeface="JetBrains Mono" pitchFamily="34" charset="-120"/>
              </a:rPr>
              <a:t>WAFER</a:t>
            </a:r>
            <a:endParaRPr lang="en-US" sz="825" dirty="0"/>
          </a:p>
        </p:txBody>
      </p:sp>
      <p:sp>
        <p:nvSpPr>
          <p:cNvPr id="28" name="Text 16"/>
          <p:cNvSpPr txBox="1"/>
          <p:nvPr/>
        </p:nvSpPr>
        <p:spPr>
          <a:xfrm>
            <a:off x="5524805" y="4390949"/>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W03</a:t>
            </a:r>
            <a:endParaRPr lang="en-US" sz="2400" dirty="0"/>
          </a:p>
        </p:txBody>
      </p:sp>
      <p:sp>
        <p:nvSpPr>
          <p:cNvPr id="29" name="Text 17"/>
          <p:cNvSpPr txBox="1"/>
          <p:nvPr/>
        </p:nvSpPr>
        <p:spPr>
          <a:xfrm>
            <a:off x="5524805" y="5381244"/>
            <a:ext cx="171450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B · 1.5 nm</a:t>
            </a:r>
            <a:endParaRPr lang="en-US" sz="825" dirty="0"/>
          </a:p>
        </p:txBody>
      </p:sp>
      <p:sp>
        <p:nvSpPr>
          <p:cNvPr id="30" name="Text 18"/>
          <p:cNvSpPr txBox="1"/>
          <p:nvPr/>
        </p:nvSpPr>
        <p:spPr>
          <a:xfrm>
            <a:off x="2523744" y="6905549"/>
            <a:ext cx="1714500" cy="133502"/>
          </a:xfrm>
          <a:prstGeom prst="rect">
            <a:avLst/>
          </a:prstGeom>
          <a:noFill/>
          <a:ln/>
        </p:spPr>
        <p:txBody>
          <a:bodyPr wrap="none" lIns="0" tIns="0" rIns="0" bIns="0" rtlCol="0" anchor="ctr"/>
          <a:lstStyle/>
          <a:p>
            <a:pPr algn="ctr" indent="0" marL="0">
              <a:buNone/>
            </a:pPr>
            <a:r>
              <a:rPr lang="en-US" sz="825" spc="149" kern="0" dirty="0">
                <a:solidFill>
                  <a:srgbClr val="A78BFA"/>
                </a:solidFill>
                <a:latin typeface="JetBrains Mono" pitchFamily="34" charset="0"/>
                <a:ea typeface="JetBrains Mono" pitchFamily="34" charset="-122"/>
                <a:cs typeface="JetBrains Mono" pitchFamily="34" charset="-120"/>
              </a:rPr>
              <a:t>WAFER</a:t>
            </a:r>
            <a:endParaRPr lang="en-US" sz="825" dirty="0"/>
          </a:p>
        </p:txBody>
      </p:sp>
      <p:sp>
        <p:nvSpPr>
          <p:cNvPr id="31" name="Text 19"/>
          <p:cNvSpPr txBox="1"/>
          <p:nvPr/>
        </p:nvSpPr>
        <p:spPr>
          <a:xfrm>
            <a:off x="2523744" y="7058254"/>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W04</a:t>
            </a:r>
            <a:endParaRPr lang="en-US" sz="2400" dirty="0"/>
          </a:p>
        </p:txBody>
      </p:sp>
      <p:sp>
        <p:nvSpPr>
          <p:cNvPr id="32" name="Text 20"/>
          <p:cNvSpPr txBox="1"/>
          <p:nvPr/>
        </p:nvSpPr>
        <p:spPr>
          <a:xfrm>
            <a:off x="2523744" y="7286854"/>
            <a:ext cx="171450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B · 1.5 nm</a:t>
            </a:r>
            <a:endParaRPr lang="en-US" sz="825" dirty="0"/>
          </a:p>
        </p:txBody>
      </p:sp>
      <p:sp>
        <p:nvSpPr>
          <p:cNvPr id="33" name="Text 21"/>
          <p:cNvSpPr txBox="1"/>
          <p:nvPr/>
        </p:nvSpPr>
        <p:spPr>
          <a:xfrm>
            <a:off x="4524451" y="6905549"/>
            <a:ext cx="1714500" cy="133502"/>
          </a:xfrm>
          <a:prstGeom prst="rect">
            <a:avLst/>
          </a:prstGeom>
          <a:noFill/>
          <a:ln/>
        </p:spPr>
        <p:txBody>
          <a:bodyPr wrap="none" lIns="0" tIns="0" rIns="0" bIns="0" rtlCol="0" anchor="ctr"/>
          <a:lstStyle/>
          <a:p>
            <a:pPr algn="ctr" indent="0" marL="0">
              <a:buNone/>
            </a:pPr>
            <a:r>
              <a:rPr lang="en-US" sz="825" spc="149" kern="0" dirty="0">
                <a:solidFill>
                  <a:srgbClr val="F59E0B"/>
                </a:solidFill>
                <a:latin typeface="JetBrains Mono" pitchFamily="34" charset="0"/>
                <a:ea typeface="JetBrains Mono" pitchFamily="34" charset="-122"/>
                <a:cs typeface="JetBrains Mono" pitchFamily="34" charset="-120"/>
              </a:rPr>
              <a:t>WAFER</a:t>
            </a:r>
            <a:endParaRPr lang="en-US" sz="825" dirty="0"/>
          </a:p>
        </p:txBody>
      </p:sp>
      <p:sp>
        <p:nvSpPr>
          <p:cNvPr id="34" name="Text 22"/>
          <p:cNvSpPr txBox="1"/>
          <p:nvPr/>
        </p:nvSpPr>
        <p:spPr>
          <a:xfrm>
            <a:off x="4524451" y="7058254"/>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W05</a:t>
            </a:r>
            <a:endParaRPr lang="en-US" sz="2400" dirty="0"/>
          </a:p>
        </p:txBody>
      </p:sp>
      <p:sp>
        <p:nvSpPr>
          <p:cNvPr id="35" name="Text 23"/>
          <p:cNvSpPr txBox="1"/>
          <p:nvPr/>
        </p:nvSpPr>
        <p:spPr>
          <a:xfrm>
            <a:off x="4524451" y="7286854"/>
            <a:ext cx="171450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C · 2.0 nm</a:t>
            </a:r>
            <a:endParaRPr lang="en-US" sz="825" dirty="0"/>
          </a:p>
        </p:txBody>
      </p:sp>
      <p:sp>
        <p:nvSpPr>
          <p:cNvPr id="36" name="Text 24"/>
          <p:cNvSpPr txBox="1"/>
          <p:nvPr/>
        </p:nvSpPr>
        <p:spPr>
          <a:xfrm>
            <a:off x="6524244" y="6905549"/>
            <a:ext cx="1714500" cy="133502"/>
          </a:xfrm>
          <a:prstGeom prst="rect">
            <a:avLst/>
          </a:prstGeom>
          <a:noFill/>
          <a:ln/>
        </p:spPr>
        <p:txBody>
          <a:bodyPr wrap="none" lIns="0" tIns="0" rIns="0" bIns="0" rtlCol="0" anchor="ctr"/>
          <a:lstStyle/>
          <a:p>
            <a:pPr algn="ctr" indent="0" marL="0">
              <a:buNone/>
            </a:pPr>
            <a:r>
              <a:rPr lang="en-US" sz="825" spc="149" kern="0" dirty="0">
                <a:solidFill>
                  <a:srgbClr val="F59E0B"/>
                </a:solidFill>
                <a:latin typeface="JetBrains Mono" pitchFamily="34" charset="0"/>
                <a:ea typeface="JetBrains Mono" pitchFamily="34" charset="-122"/>
                <a:cs typeface="JetBrains Mono" pitchFamily="34" charset="-120"/>
              </a:rPr>
              <a:t>WAFER</a:t>
            </a:r>
            <a:endParaRPr lang="en-US" sz="825" dirty="0"/>
          </a:p>
        </p:txBody>
      </p:sp>
      <p:sp>
        <p:nvSpPr>
          <p:cNvPr id="37" name="Text 25"/>
          <p:cNvSpPr txBox="1"/>
          <p:nvPr/>
        </p:nvSpPr>
        <p:spPr>
          <a:xfrm>
            <a:off x="6524244" y="7058254"/>
            <a:ext cx="1714500" cy="372161"/>
          </a:xfrm>
          <a:prstGeom prst="rect">
            <a:avLst/>
          </a:prstGeom>
          <a:noFill/>
          <a:ln/>
        </p:spPr>
        <p:txBody>
          <a:bodyPr wrap="none" lIns="0" tIns="0" rIns="0" bIns="0" rtlCol="0" anchor="ctr"/>
          <a:lstStyle/>
          <a:p>
            <a:pPr algn="ctr" indent="0" marL="0">
              <a:buNone/>
            </a:pPr>
            <a:r>
              <a:rPr lang="en-US" sz="2400" b="1" dirty="0">
                <a:solidFill>
                  <a:srgbClr val="E6EDF7"/>
                </a:solidFill>
                <a:latin typeface="Inter" pitchFamily="34" charset="0"/>
                <a:ea typeface="Inter" pitchFamily="34" charset="-122"/>
                <a:cs typeface="Inter" pitchFamily="34" charset="-120"/>
              </a:rPr>
              <a:t>W06</a:t>
            </a:r>
            <a:endParaRPr lang="en-US" sz="2400" dirty="0"/>
          </a:p>
        </p:txBody>
      </p:sp>
      <p:sp>
        <p:nvSpPr>
          <p:cNvPr id="38" name="Text 26"/>
          <p:cNvSpPr txBox="1"/>
          <p:nvPr/>
        </p:nvSpPr>
        <p:spPr>
          <a:xfrm>
            <a:off x="6524244" y="7286854"/>
            <a:ext cx="1334110" cy="133502"/>
          </a:xfrm>
          <a:prstGeom prst="rect">
            <a:avLst/>
          </a:prstGeom>
          <a:noFill/>
          <a:ln/>
        </p:spPr>
        <p:txBody>
          <a:bodyPr wrap="none" lIns="0" tIns="0" rIns="0" bIns="0" rtlCol="0" anchor="ctr"/>
          <a:lstStyle/>
          <a:p>
            <a:pPr algn="ctr" indent="0" marL="0">
              <a:buNone/>
            </a:pPr>
            <a:r>
              <a:rPr lang="en-US" sz="825" dirty="0">
                <a:solidFill>
                  <a:srgbClr val="5C6478"/>
                </a:solidFill>
                <a:latin typeface="JetBrains Mono" pitchFamily="34" charset="0"/>
                <a:ea typeface="JetBrains Mono" pitchFamily="34" charset="-122"/>
                <a:cs typeface="JetBrains Mono" pitchFamily="34" charset="-120"/>
              </a:rPr>
              <a:t>SPLIT C · 2.0 nm</a:t>
            </a:r>
            <a:endParaRPr lang="en-US" sz="825" dirty="0"/>
          </a:p>
        </p:txBody>
      </p:sp>
      <p:sp>
        <p:nvSpPr>
          <p:cNvPr id="39" name="Text 27"/>
          <p:cNvSpPr txBox="1"/>
          <p:nvPr/>
        </p:nvSpPr>
        <p:spPr>
          <a:xfrm>
            <a:off x="8382305" y="2667305"/>
            <a:ext cx="9144000" cy="152705"/>
          </a:xfrm>
          <a:prstGeom prst="rect">
            <a:avLst/>
          </a:prstGeom>
          <a:noFill/>
          <a:ln/>
        </p:spPr>
        <p:txBody>
          <a:bodyPr wrap="none" lIns="0" tIns="0" rIns="0" bIns="0" rtlCol="0" anchor="ctr"/>
          <a:lstStyle/>
          <a:p>
            <a:pPr algn="l" indent="0" marL="0">
              <a:buNone/>
            </a:pPr>
            <a:r>
              <a:rPr lang="en-US" sz="900" spc="198" kern="0" dirty="0">
                <a:solidFill>
                  <a:srgbClr val="5C6478"/>
                </a:solidFill>
                <a:latin typeface="JetBrains Mono" pitchFamily="34" charset="0"/>
                <a:ea typeface="JetBrains Mono" pitchFamily="34" charset="-122"/>
                <a:cs typeface="JetBrains Mono" pitchFamily="34" charset="-120"/>
              </a:rPr>
              <a:t>LOT SUMMARY</a:t>
            </a:r>
            <a:endParaRPr lang="en-US" sz="900" dirty="0"/>
          </a:p>
        </p:txBody>
      </p:sp>
      <p:sp>
        <p:nvSpPr>
          <p:cNvPr id="40" name="Shape 28"/>
          <p:cNvSpPr/>
          <p:nvPr/>
        </p:nvSpPr>
        <p:spPr>
          <a:xfrm>
            <a:off x="8572500" y="3410712"/>
            <a:ext cx="8762695" cy="9144"/>
          </a:xfrm>
          <a:prstGeom prst="rect">
            <a:avLst/>
          </a:prstGeom>
          <a:solidFill>
            <a:srgbClr val="00D4FF">
              <a:alpha val="18000"/>
            </a:srgbClr>
          </a:solidFill>
          <a:ln w="12700">
            <a:solidFill>
              <a:srgbClr val="00D4FF">
                <a:alpha val="0"/>
              </a:srgbClr>
            </a:solidFill>
            <a:prstDash val="solid"/>
          </a:ln>
        </p:spPr>
      </p:sp>
      <p:sp>
        <p:nvSpPr>
          <p:cNvPr id="41" name="Text 29"/>
          <p:cNvSpPr txBox="1"/>
          <p:nvPr/>
        </p:nvSpPr>
        <p:spPr>
          <a:xfrm>
            <a:off x="8572500" y="3143707"/>
            <a:ext cx="1905610"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FIELD</a:t>
            </a:r>
            <a:endParaRPr lang="en-US" sz="825" dirty="0"/>
          </a:p>
        </p:txBody>
      </p:sp>
      <p:sp>
        <p:nvSpPr>
          <p:cNvPr id="42" name="Text 30"/>
          <p:cNvSpPr txBox="1"/>
          <p:nvPr/>
        </p:nvSpPr>
        <p:spPr>
          <a:xfrm>
            <a:off x="10477195" y="3143707"/>
            <a:ext cx="6858000"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VALUE</a:t>
            </a:r>
            <a:endParaRPr lang="en-US" sz="825" dirty="0"/>
          </a:p>
        </p:txBody>
      </p:sp>
      <p:sp>
        <p:nvSpPr>
          <p:cNvPr id="43" name="Shape 31"/>
          <p:cNvSpPr/>
          <p:nvPr/>
        </p:nvSpPr>
        <p:spPr>
          <a:xfrm>
            <a:off x="8572500" y="3952951"/>
            <a:ext cx="8762695" cy="9144"/>
          </a:xfrm>
          <a:prstGeom prst="rect">
            <a:avLst/>
          </a:prstGeom>
          <a:solidFill>
            <a:srgbClr val="FFFFFF">
              <a:alpha val="6000"/>
            </a:srgbClr>
          </a:solidFill>
          <a:ln w="12700">
            <a:solidFill>
              <a:srgbClr val="FFFFFF">
                <a:alpha val="0"/>
              </a:srgbClr>
            </a:solidFill>
            <a:prstDash val="solid"/>
          </a:ln>
        </p:spPr>
      </p:sp>
      <p:sp>
        <p:nvSpPr>
          <p:cNvPr id="44" name="Text 32"/>
          <p:cNvSpPr txBox="1"/>
          <p:nvPr/>
        </p:nvSpPr>
        <p:spPr>
          <a:xfrm>
            <a:off x="8572500" y="3600907"/>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Lot ID</a:t>
            </a:r>
            <a:endParaRPr lang="en-US" sz="1350" dirty="0"/>
          </a:p>
        </p:txBody>
      </p:sp>
      <p:sp>
        <p:nvSpPr>
          <p:cNvPr id="45" name="Text 33"/>
          <p:cNvSpPr txBox="1"/>
          <p:nvPr/>
        </p:nvSpPr>
        <p:spPr>
          <a:xfrm>
            <a:off x="10477195" y="3600907"/>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L24-M2-BM-008</a:t>
            </a:r>
            <a:endParaRPr lang="en-US" sz="1500" dirty="0"/>
          </a:p>
        </p:txBody>
      </p:sp>
      <p:sp>
        <p:nvSpPr>
          <p:cNvPr id="46" name="Shape 34"/>
          <p:cNvSpPr/>
          <p:nvPr/>
        </p:nvSpPr>
        <p:spPr>
          <a:xfrm>
            <a:off x="8572500" y="4429354"/>
            <a:ext cx="8762695" cy="9144"/>
          </a:xfrm>
          <a:prstGeom prst="rect">
            <a:avLst/>
          </a:prstGeom>
          <a:solidFill>
            <a:srgbClr val="FFFFFF">
              <a:alpha val="6000"/>
            </a:srgbClr>
          </a:solidFill>
          <a:ln w="12700">
            <a:solidFill>
              <a:srgbClr val="FFFFFF">
                <a:alpha val="0"/>
              </a:srgbClr>
            </a:solidFill>
            <a:prstDash val="solid"/>
          </a:ln>
        </p:spPr>
      </p:sp>
      <p:sp>
        <p:nvSpPr>
          <p:cNvPr id="47" name="Text 35"/>
          <p:cNvSpPr txBox="1"/>
          <p:nvPr/>
        </p:nvSpPr>
        <p:spPr>
          <a:xfrm>
            <a:off x="8572500" y="4076395"/>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Metal layer</a:t>
            </a:r>
            <a:endParaRPr lang="en-US" sz="1350" dirty="0"/>
          </a:p>
        </p:txBody>
      </p:sp>
      <p:sp>
        <p:nvSpPr>
          <p:cNvPr id="48" name="Text 36"/>
          <p:cNvSpPr txBox="1"/>
          <p:nvPr/>
        </p:nvSpPr>
        <p:spPr>
          <a:xfrm>
            <a:off x="10477195" y="4076395"/>
            <a:ext cx="6858000" cy="257861"/>
          </a:xfrm>
          <a:prstGeom prst="rect">
            <a:avLst/>
          </a:prstGeom>
          <a:noFill/>
          <a:ln/>
        </p:spPr>
        <p:txBody>
          <a:bodyPr wrap="none" lIns="0" tIns="0" rIns="0" bIns="0" rtlCol="0" anchor="ctr"/>
          <a:lstStyle/>
          <a:p>
            <a:pPr algn="l" indent="0" marL="0">
              <a:buNone/>
            </a:pPr>
            <a:r>
              <a:rPr lang="en-US" sz="1500" dirty="0">
                <a:solidFill>
                  <a:srgbClr val="22D3EE"/>
                </a:solidFill>
                <a:latin typeface="JetBrains Mono" pitchFamily="34" charset="0"/>
                <a:ea typeface="JetBrains Mono" pitchFamily="34" charset="-122"/>
                <a:cs typeface="JetBrains Mono" pitchFamily="34" charset="-120"/>
              </a:rPr>
              <a:t>M2 (2nd interconnect level)</a:t>
            </a:r>
            <a:endParaRPr lang="en-US" sz="1500" dirty="0"/>
          </a:p>
        </p:txBody>
      </p:sp>
      <p:sp>
        <p:nvSpPr>
          <p:cNvPr id="49" name="Shape 37"/>
          <p:cNvSpPr/>
          <p:nvPr/>
        </p:nvSpPr>
        <p:spPr>
          <a:xfrm>
            <a:off x="8572500" y="4905756"/>
            <a:ext cx="8762695" cy="9144"/>
          </a:xfrm>
          <a:prstGeom prst="rect">
            <a:avLst/>
          </a:prstGeom>
          <a:solidFill>
            <a:srgbClr val="FFFFFF">
              <a:alpha val="6000"/>
            </a:srgbClr>
          </a:solidFill>
          <a:ln w="12700">
            <a:solidFill>
              <a:srgbClr val="FFFFFF">
                <a:alpha val="0"/>
              </a:srgbClr>
            </a:solidFill>
            <a:prstDash val="solid"/>
          </a:ln>
        </p:spPr>
      </p:sp>
      <p:sp>
        <p:nvSpPr>
          <p:cNvPr id="50" name="Text 38"/>
          <p:cNvSpPr txBox="1"/>
          <p:nvPr/>
        </p:nvSpPr>
        <p:spPr>
          <a:xfrm>
            <a:off x="8572500" y="4552798"/>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Wafer qty</a:t>
            </a:r>
            <a:endParaRPr lang="en-US" sz="1350" dirty="0"/>
          </a:p>
        </p:txBody>
      </p:sp>
      <p:sp>
        <p:nvSpPr>
          <p:cNvPr id="51" name="Text 39"/>
          <p:cNvSpPr txBox="1"/>
          <p:nvPr/>
        </p:nvSpPr>
        <p:spPr>
          <a:xfrm>
            <a:off x="10477195" y="4552798"/>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6 ea (300 mm, blanket Cu seed)</a:t>
            </a:r>
            <a:endParaRPr lang="en-US" sz="1500" dirty="0"/>
          </a:p>
        </p:txBody>
      </p:sp>
      <p:sp>
        <p:nvSpPr>
          <p:cNvPr id="52" name="Shape 40"/>
          <p:cNvSpPr/>
          <p:nvPr/>
        </p:nvSpPr>
        <p:spPr>
          <a:xfrm>
            <a:off x="8572500" y="5401361"/>
            <a:ext cx="8762695" cy="9144"/>
          </a:xfrm>
          <a:prstGeom prst="rect">
            <a:avLst/>
          </a:prstGeom>
          <a:solidFill>
            <a:srgbClr val="FFFFFF">
              <a:alpha val="6000"/>
            </a:srgbClr>
          </a:solidFill>
          <a:ln w="12700">
            <a:solidFill>
              <a:srgbClr val="FFFFFF">
                <a:alpha val="0"/>
              </a:srgbClr>
            </a:solidFill>
            <a:prstDash val="solid"/>
          </a:ln>
        </p:spPr>
      </p:sp>
      <p:sp>
        <p:nvSpPr>
          <p:cNvPr id="53" name="Text 41"/>
          <p:cNvSpPr txBox="1"/>
          <p:nvPr/>
        </p:nvSpPr>
        <p:spPr>
          <a:xfrm>
            <a:off x="8572500" y="5029200"/>
            <a:ext cx="1905610" cy="277063"/>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ALD BM 두께</a:t>
            </a:r>
            <a:endParaRPr lang="en-US" sz="1350" dirty="0"/>
          </a:p>
        </p:txBody>
      </p:sp>
      <p:sp>
        <p:nvSpPr>
          <p:cNvPr id="54" name="Text 42"/>
          <p:cNvSpPr txBox="1"/>
          <p:nvPr/>
        </p:nvSpPr>
        <p:spPr>
          <a:xfrm>
            <a:off x="10477195" y="5029200"/>
            <a:ext cx="1000354" cy="277063"/>
          </a:xfrm>
          <a:prstGeom prst="rect">
            <a:avLst/>
          </a:prstGeom>
          <a:solidFill>
            <a:srgbClr val="22D3EE">
              <a:alpha val="16000"/>
            </a:srgbClr>
          </a:solidFill>
          <a:ln>
            <a:solidFill>
              <a:srgbClr val="FFFFFF">
                <a:alpha val="0"/>
              </a:srgbClr>
            </a:solidFill>
          </a:ln>
        </p:spPr>
        <p:txBody>
          <a:bodyPr wrap="none" lIns="139700" tIns="38100" rIns="139700" bIns="38100" rtlCol="0" anchor="ctr"/>
          <a:lstStyle/>
          <a:p>
            <a:pPr algn="l" indent="0" marL="0">
              <a:buNone/>
            </a:pPr>
            <a:r>
              <a:rPr lang="en-US" sz="1200" dirty="0">
                <a:solidFill>
                  <a:srgbClr val="22D3EE"/>
                </a:solidFill>
                <a:latin typeface="JetBrains Mono" pitchFamily="34" charset="0"/>
                <a:ea typeface="JetBrains Mono" pitchFamily="34" charset="-122"/>
                <a:cs typeface="JetBrains Mono" pitchFamily="34" charset="-120"/>
              </a:rPr>
              <a:t>A 1.0 nm</a:t>
            </a:r>
            <a:endParaRPr lang="en-US" sz="1200" dirty="0"/>
          </a:p>
        </p:txBody>
      </p:sp>
      <p:sp>
        <p:nvSpPr>
          <p:cNvPr id="55" name="Text 43"/>
          <p:cNvSpPr txBox="1"/>
          <p:nvPr/>
        </p:nvSpPr>
        <p:spPr>
          <a:xfrm>
            <a:off x="11647627" y="5029200"/>
            <a:ext cx="1000354" cy="277063"/>
          </a:xfrm>
          <a:prstGeom prst="rect">
            <a:avLst/>
          </a:prstGeom>
          <a:solidFill>
            <a:srgbClr val="A78BFA">
              <a:alpha val="16000"/>
            </a:srgbClr>
          </a:solidFill>
          <a:ln>
            <a:solidFill>
              <a:srgbClr val="FFFFFF">
                <a:alpha val="0"/>
              </a:srgbClr>
            </a:solidFill>
          </a:ln>
        </p:spPr>
        <p:txBody>
          <a:bodyPr wrap="none" lIns="139700" tIns="38100" rIns="139700" bIns="38100" rtlCol="0" anchor="ctr"/>
          <a:lstStyle/>
          <a:p>
            <a:pPr algn="l" indent="0" marL="0">
              <a:buNone/>
            </a:pPr>
            <a:r>
              <a:rPr lang="en-US" sz="1200" dirty="0">
                <a:solidFill>
                  <a:srgbClr val="A78BFA"/>
                </a:solidFill>
                <a:latin typeface="JetBrains Mono" pitchFamily="34" charset="0"/>
                <a:ea typeface="JetBrains Mono" pitchFamily="34" charset="-122"/>
                <a:cs typeface="JetBrains Mono" pitchFamily="34" charset="-120"/>
              </a:rPr>
              <a:t>B 1.5 nm</a:t>
            </a:r>
            <a:endParaRPr lang="en-US" sz="1200" dirty="0"/>
          </a:p>
        </p:txBody>
      </p:sp>
      <p:sp>
        <p:nvSpPr>
          <p:cNvPr id="56" name="Text 44"/>
          <p:cNvSpPr txBox="1"/>
          <p:nvPr/>
        </p:nvSpPr>
        <p:spPr>
          <a:xfrm>
            <a:off x="12817145" y="5029200"/>
            <a:ext cx="1000354" cy="277063"/>
          </a:xfrm>
          <a:prstGeom prst="rect">
            <a:avLst/>
          </a:prstGeom>
          <a:solidFill>
            <a:srgbClr val="F59E0B">
              <a:alpha val="16000"/>
            </a:srgbClr>
          </a:solidFill>
          <a:ln>
            <a:solidFill>
              <a:srgbClr val="FFFFFF">
                <a:alpha val="0"/>
              </a:srgbClr>
            </a:solidFill>
          </a:ln>
        </p:spPr>
        <p:txBody>
          <a:bodyPr wrap="none" lIns="139700" tIns="38100" rIns="139700" bIns="38100" rtlCol="0" anchor="ctr"/>
          <a:lstStyle/>
          <a:p>
            <a:pPr algn="l" indent="0" marL="0">
              <a:buNone/>
            </a:pPr>
            <a:r>
              <a:rPr lang="en-US" sz="1200" dirty="0">
                <a:solidFill>
                  <a:srgbClr val="F59E0B"/>
                </a:solidFill>
                <a:latin typeface="JetBrains Mono" pitchFamily="34" charset="0"/>
                <a:ea typeface="JetBrains Mono" pitchFamily="34" charset="-122"/>
                <a:cs typeface="JetBrains Mono" pitchFamily="34" charset="-120"/>
              </a:rPr>
              <a:t>C 2.0 nm</a:t>
            </a:r>
            <a:endParaRPr lang="en-US" sz="1200" dirty="0"/>
          </a:p>
        </p:txBody>
      </p:sp>
      <p:sp>
        <p:nvSpPr>
          <p:cNvPr id="57" name="Shape 45"/>
          <p:cNvSpPr/>
          <p:nvPr/>
        </p:nvSpPr>
        <p:spPr>
          <a:xfrm>
            <a:off x="8572500" y="5972861"/>
            <a:ext cx="8762695" cy="9144"/>
          </a:xfrm>
          <a:prstGeom prst="rect">
            <a:avLst/>
          </a:prstGeom>
          <a:solidFill>
            <a:srgbClr val="FFFFFF">
              <a:alpha val="6000"/>
            </a:srgbClr>
          </a:solidFill>
          <a:ln w="12700">
            <a:solidFill>
              <a:srgbClr val="FFFFFF">
                <a:alpha val="0"/>
              </a:srgbClr>
            </a:solidFill>
            <a:prstDash val="solid"/>
          </a:ln>
        </p:spPr>
      </p:sp>
      <p:sp>
        <p:nvSpPr>
          <p:cNvPr id="58" name="Text 46"/>
          <p:cNvSpPr txBox="1"/>
          <p:nvPr/>
        </p:nvSpPr>
        <p:spPr>
          <a:xfrm>
            <a:off x="8572500" y="5619902"/>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ALD chamber</a:t>
            </a:r>
            <a:endParaRPr lang="en-US" sz="1350" dirty="0"/>
          </a:p>
        </p:txBody>
      </p:sp>
      <p:sp>
        <p:nvSpPr>
          <p:cNvPr id="59" name="Text 47"/>
          <p:cNvSpPr txBox="1"/>
          <p:nvPr/>
        </p:nvSpPr>
        <p:spPr>
          <a:xfrm>
            <a:off x="10477195" y="5619902"/>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PE-ALD · batch · shared with split</a:t>
            </a:r>
            <a:endParaRPr lang="en-US" sz="1500" dirty="0"/>
          </a:p>
        </p:txBody>
      </p:sp>
      <p:sp>
        <p:nvSpPr>
          <p:cNvPr id="60" name="Shape 48"/>
          <p:cNvSpPr/>
          <p:nvPr/>
        </p:nvSpPr>
        <p:spPr>
          <a:xfrm>
            <a:off x="8572500" y="6468466"/>
            <a:ext cx="8762695" cy="9144"/>
          </a:xfrm>
          <a:prstGeom prst="rect">
            <a:avLst/>
          </a:prstGeom>
          <a:solidFill>
            <a:srgbClr val="FFFFFF">
              <a:alpha val="6000"/>
            </a:srgbClr>
          </a:solidFill>
          <a:ln w="12700">
            <a:solidFill>
              <a:srgbClr val="FFFFFF">
                <a:alpha val="0"/>
              </a:srgbClr>
            </a:solidFill>
            <a:prstDash val="solid"/>
          </a:ln>
        </p:spPr>
      </p:sp>
      <p:sp>
        <p:nvSpPr>
          <p:cNvPr id="61" name="Text 49"/>
          <p:cNvSpPr txBox="1"/>
          <p:nvPr/>
        </p:nvSpPr>
        <p:spPr>
          <a:xfrm>
            <a:off x="8572500" y="6096305"/>
            <a:ext cx="1905610" cy="277063"/>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Cu seed</a:t>
            </a:r>
            <a:endParaRPr lang="en-US" sz="1350" dirty="0"/>
          </a:p>
        </p:txBody>
      </p:sp>
      <p:sp>
        <p:nvSpPr>
          <p:cNvPr id="62" name="Text 50"/>
          <p:cNvSpPr txBox="1"/>
          <p:nvPr/>
        </p:nvSpPr>
        <p:spPr>
          <a:xfrm>
            <a:off x="10477195" y="6096305"/>
            <a:ext cx="6858000" cy="277063"/>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PVD Cu seed · 동일 target</a:t>
            </a:r>
            <a:endParaRPr lang="en-US" sz="1500" dirty="0"/>
          </a:p>
        </p:txBody>
      </p:sp>
      <p:sp>
        <p:nvSpPr>
          <p:cNvPr id="63" name="Shape 51"/>
          <p:cNvSpPr/>
          <p:nvPr/>
        </p:nvSpPr>
        <p:spPr>
          <a:xfrm>
            <a:off x="8572500" y="6924751"/>
            <a:ext cx="8762695" cy="9144"/>
          </a:xfrm>
          <a:prstGeom prst="rect">
            <a:avLst/>
          </a:prstGeom>
          <a:solidFill>
            <a:srgbClr val="FFFFFF">
              <a:alpha val="6000"/>
            </a:srgbClr>
          </a:solidFill>
          <a:ln w="12700">
            <a:solidFill>
              <a:srgbClr val="FFFFFF">
                <a:alpha val="0"/>
              </a:srgbClr>
            </a:solidFill>
            <a:prstDash val="solid"/>
          </a:ln>
        </p:spPr>
      </p:sp>
      <p:sp>
        <p:nvSpPr>
          <p:cNvPr id="64" name="Text 52"/>
          <p:cNvSpPr txBox="1"/>
          <p:nvPr/>
        </p:nvSpPr>
        <p:spPr>
          <a:xfrm>
            <a:off x="8572500" y="6572707"/>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Dielectric</a:t>
            </a:r>
            <a:endParaRPr lang="en-US" sz="1350" dirty="0"/>
          </a:p>
        </p:txBody>
      </p:sp>
      <p:sp>
        <p:nvSpPr>
          <p:cNvPr id="65" name="Text 53"/>
          <p:cNvSpPr txBox="1"/>
          <p:nvPr/>
        </p:nvSpPr>
        <p:spPr>
          <a:xfrm>
            <a:off x="10477195" y="6572707"/>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low-k SiCOH (k ≈ 3.0) · plasma damage-free</a:t>
            </a:r>
            <a:endParaRPr lang="en-US" sz="1500" dirty="0"/>
          </a:p>
        </p:txBody>
      </p:sp>
      <p:sp>
        <p:nvSpPr>
          <p:cNvPr id="66" name="Shape 54"/>
          <p:cNvSpPr/>
          <p:nvPr/>
        </p:nvSpPr>
        <p:spPr>
          <a:xfrm>
            <a:off x="8572500" y="7496251"/>
            <a:ext cx="8762695" cy="9144"/>
          </a:xfrm>
          <a:prstGeom prst="rect">
            <a:avLst/>
          </a:prstGeom>
          <a:solidFill>
            <a:srgbClr val="FFFFFF">
              <a:alpha val="6000"/>
            </a:srgbClr>
          </a:solidFill>
          <a:ln w="12700">
            <a:solidFill>
              <a:srgbClr val="FFFFFF">
                <a:alpha val="0"/>
              </a:srgbClr>
            </a:solidFill>
            <a:prstDash val="solid"/>
          </a:ln>
        </p:spPr>
      </p:sp>
      <p:sp>
        <p:nvSpPr>
          <p:cNvPr id="67" name="Text 55"/>
          <p:cNvSpPr txBox="1"/>
          <p:nvPr/>
        </p:nvSpPr>
        <p:spPr>
          <a:xfrm>
            <a:off x="8572500" y="7144207"/>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Process tool</a:t>
            </a:r>
            <a:endParaRPr lang="en-US" sz="1350" dirty="0"/>
          </a:p>
        </p:txBody>
      </p:sp>
      <p:sp>
        <p:nvSpPr>
          <p:cNvPr id="68" name="Text 56"/>
          <p:cNvSpPr txBox="1"/>
          <p:nvPr/>
        </p:nvSpPr>
        <p:spPr>
          <a:xfrm>
            <a:off x="10477195" y="7144207"/>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300 mm PE-ALD chamber-MK3</a:t>
            </a:r>
            <a:endParaRPr lang="en-US" sz="1500" dirty="0"/>
          </a:p>
        </p:txBody>
      </p:sp>
      <p:sp>
        <p:nvSpPr>
          <p:cNvPr id="69" name="Text 57"/>
          <p:cNvSpPr txBox="1"/>
          <p:nvPr/>
        </p:nvSpPr>
        <p:spPr>
          <a:xfrm>
            <a:off x="8572500" y="7619695"/>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Run time window</a:t>
            </a:r>
            <a:endParaRPr lang="en-US" sz="1350" dirty="0"/>
          </a:p>
        </p:txBody>
      </p:sp>
      <p:sp>
        <p:nvSpPr>
          <p:cNvPr id="70" name="Text 58"/>
          <p:cNvSpPr txBox="1"/>
          <p:nvPr/>
        </p:nvSpPr>
        <p:spPr>
          <a:xfrm>
            <a:off x="10477195" y="7619695"/>
            <a:ext cx="6858000" cy="257861"/>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2026-09-12 → 2026-09-18</a:t>
            </a:r>
            <a:endParaRPr lang="en-US" sz="1500" dirty="0"/>
          </a:p>
        </p:txBody>
      </p:sp>
      <p:sp>
        <p:nvSpPr>
          <p:cNvPr id="71" name="Text 59"/>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A78BFA"/>
                </a:solidFill>
                <a:latin typeface="JetBrains Mono" pitchFamily="34" charset="0"/>
                <a:ea typeface="JetBrains Mono" pitchFamily="34" charset="-122"/>
                <a:cs typeface="JetBrains Mono" pitchFamily="34" charset="-120"/>
              </a:rPr>
              <a:t>KEY TAKEAWAY</a:t>
            </a:r>
            <a:endParaRPr lang="en-US" sz="900" dirty="0"/>
          </a:p>
        </p:txBody>
      </p:sp>
      <p:pic>
        <p:nvPicPr>
          <p:cNvPr id="72" name="Image 9" descr="gen-dedup-642cea137e417ddededf78a9e7c0f521.png">    </p:cNvPr>
          <p:cNvPicPr>
            <a:picLocks noChangeAspect="1"/>
          </p:cNvPicPr>
          <p:nvPr/>
        </p:nvPicPr>
        <p:blipFill>
          <a:blip r:embed="rId10"/>
          <a:srcRect l="-2083" r="-2083" t="0" b="0"/>
          <a:stretch/>
        </p:blipFill>
        <p:spPr>
          <a:xfrm>
            <a:off x="2325319" y="8904427"/>
            <a:ext cx="228600" cy="9144"/>
          </a:xfrm>
          <a:prstGeom prst="rect">
            <a:avLst/>
          </a:prstGeom>
        </p:spPr>
      </p:pic>
      <p:sp>
        <p:nvSpPr>
          <p:cNvPr id="73" name="Text 60"/>
          <p:cNvSpPr txBox="1"/>
          <p:nvPr/>
        </p:nvSpPr>
        <p:spPr>
          <a:xfrm>
            <a:off x="2724912" y="8762695"/>
            <a:ext cx="10626242"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BM 두께를 제외한 모든 변수(챔버, 시드, 레시피)는 잠금 — 차이는 오직 split 변수에서만 나와야 한다.</a:t>
            </a:r>
            <a:endParaRPr lang="en-US" sz="1650" dirty="0"/>
          </a:p>
        </p:txBody>
      </p:sp>
      <p:sp>
        <p:nvSpPr>
          <p:cNvPr id="74" name="Text 61"/>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60C"/>
        </a:solidFill>
      </p:bgPr>
    </p:bg>
    <p:spTree>
      <p:nvGrpSpPr>
        <p:cNvPr id="1" name=""/>
        <p:cNvGrpSpPr/>
        <p:nvPr/>
      </p:nvGrpSpPr>
      <p:grpSpPr>
        <a:xfrm>
          <a:off x="0" y="0"/>
          <a:ext cx="0" cy="0"/>
          <a:chOff x="0" y="0"/>
          <a:chExt cx="0" cy="0"/>
        </a:xfrm>
      </p:grpSpPr>
      <p:pic>
        <p:nvPicPr>
          <p:cNvPr id="3" name="Image 0" descr="gen-dedup-a10c5dc0c72b67824e803030d38d45d7.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4668805" y="1143000"/>
            <a:ext cx="2876702" cy="875995"/>
          </a:xfrm>
          <a:prstGeom prst="rect">
            <a:avLst/>
          </a:prstGeom>
          <a:solidFill>
            <a:srgbClr val="0F1525"/>
          </a:solidFill>
          <a:ln w="12700">
            <a:solidFill>
              <a:srgbClr val="FFFFFF">
                <a:alpha val="6000"/>
              </a:srgbClr>
            </a:solidFill>
            <a:prstDash val="solid"/>
          </a:ln>
        </p:spPr>
      </p:sp>
      <p:sp>
        <p:nvSpPr>
          <p:cNvPr id="5" name="Shape 1"/>
          <p:cNvSpPr/>
          <p:nvPr/>
        </p:nvSpPr>
        <p:spPr>
          <a:xfrm>
            <a:off x="761695" y="2476195"/>
            <a:ext cx="4019702" cy="3066898"/>
          </a:xfrm>
          <a:prstGeom prst="rect">
            <a:avLst/>
          </a:prstGeom>
          <a:solidFill>
            <a:srgbClr val="131A2D"/>
          </a:solidFill>
          <a:ln w="12700">
            <a:solidFill>
              <a:srgbClr val="00D4FF">
                <a:alpha val="18000"/>
              </a:srgbClr>
            </a:solidFill>
            <a:prstDash val="solid"/>
          </a:ln>
        </p:spPr>
      </p:sp>
      <p:sp>
        <p:nvSpPr>
          <p:cNvPr id="6" name="Shape 2"/>
          <p:cNvSpPr/>
          <p:nvPr/>
        </p:nvSpPr>
        <p:spPr>
          <a:xfrm>
            <a:off x="4953305" y="2476195"/>
            <a:ext cx="4019702" cy="3066898"/>
          </a:xfrm>
          <a:prstGeom prst="rect">
            <a:avLst/>
          </a:prstGeom>
          <a:solidFill>
            <a:srgbClr val="131A2D"/>
          </a:solidFill>
          <a:ln w="12700">
            <a:solidFill>
              <a:srgbClr val="00D4FF">
                <a:alpha val="18000"/>
              </a:srgbClr>
            </a:solidFill>
            <a:prstDash val="solid"/>
          </a:ln>
        </p:spPr>
      </p:sp>
      <p:sp>
        <p:nvSpPr>
          <p:cNvPr id="7" name="Shape 3"/>
          <p:cNvSpPr/>
          <p:nvPr/>
        </p:nvSpPr>
        <p:spPr>
          <a:xfrm>
            <a:off x="9144000" y="2476195"/>
            <a:ext cx="4019702" cy="3066898"/>
          </a:xfrm>
          <a:prstGeom prst="rect">
            <a:avLst/>
          </a:prstGeom>
          <a:solidFill>
            <a:srgbClr val="131A2D"/>
          </a:solidFill>
          <a:ln w="12700">
            <a:solidFill>
              <a:srgbClr val="00D4FF">
                <a:alpha val="18000"/>
              </a:srgbClr>
            </a:solidFill>
            <a:prstDash val="solid"/>
          </a:ln>
        </p:spPr>
      </p:sp>
      <p:sp>
        <p:nvSpPr>
          <p:cNvPr id="8" name="Shape 4"/>
          <p:cNvSpPr/>
          <p:nvPr/>
        </p:nvSpPr>
        <p:spPr>
          <a:xfrm>
            <a:off x="13334695" y="2476195"/>
            <a:ext cx="4209898" cy="3066898"/>
          </a:xfrm>
          <a:prstGeom prst="rect">
            <a:avLst/>
          </a:prstGeom>
          <a:solidFill>
            <a:srgbClr val="131A2D"/>
          </a:solidFill>
          <a:ln w="12700">
            <a:solidFill>
              <a:srgbClr val="00D4FF">
                <a:alpha val="18000"/>
              </a:srgbClr>
            </a:solidFill>
            <a:prstDash val="solid"/>
          </a:ln>
        </p:spPr>
      </p:sp>
      <p:sp>
        <p:nvSpPr>
          <p:cNvPr id="9" name="Shape 5"/>
          <p:cNvSpPr/>
          <p:nvPr/>
        </p:nvSpPr>
        <p:spPr>
          <a:xfrm>
            <a:off x="761695" y="5905195"/>
            <a:ext cx="16782898" cy="2305202"/>
          </a:xfrm>
          <a:prstGeom prst="rect">
            <a:avLst/>
          </a:prstGeom>
          <a:solidFill>
            <a:srgbClr val="0F1525"/>
          </a:solidFill>
          <a:ln w="12700">
            <a:solidFill>
              <a:srgbClr val="FFFFFF">
                <a:alpha val="6000"/>
              </a:srgbClr>
            </a:solidFill>
            <a:prstDash val="solid"/>
          </a:ln>
        </p:spPr>
      </p:sp>
      <p:pic>
        <p:nvPicPr>
          <p:cNvPr id="10" name="Image 1" descr="gen-dedup-2712fb7471c64502699eff29447b9cb1.png">    </p:cNvPr>
          <p:cNvPicPr>
            <a:picLocks noChangeAspect="1"/>
          </p:cNvPicPr>
          <p:nvPr/>
        </p:nvPicPr>
        <p:blipFill>
          <a:blip r:embed="rId2"/>
          <a:srcRect l="0" r="0" t="-30" b="-30"/>
          <a:stretch/>
        </p:blipFill>
        <p:spPr>
          <a:xfrm>
            <a:off x="761695" y="8667598"/>
            <a:ext cx="16792956" cy="743407"/>
          </a:xfrm>
          <a:prstGeom prst="rect">
            <a:avLst/>
          </a:prstGeom>
        </p:spPr>
      </p:pic>
      <p:pic>
        <p:nvPicPr>
          <p:cNvPr id="11" name="Image 2" descr="gen-dedup-254703a04c84b6a855582b8f89c36dca.png">    </p:cNvPr>
          <p:cNvPicPr>
            <a:picLocks noChangeAspect="1"/>
          </p:cNvPicPr>
          <p:nvPr/>
        </p:nvPicPr>
        <p:blipFill>
          <a:blip r:embed="rId3"/>
          <a:srcRect l="-2083" r="-2083" t="0" b="0"/>
          <a:stretch/>
        </p:blipFill>
        <p:spPr>
          <a:xfrm>
            <a:off x="761695" y="857707"/>
            <a:ext cx="16763695" cy="9144"/>
          </a:xfrm>
          <a:prstGeom prst="rect">
            <a:avLst/>
          </a:prstGeom>
        </p:spPr>
      </p:pic>
      <p:sp>
        <p:nvSpPr>
          <p:cNvPr id="12" name="Shape 6"/>
          <p:cNvSpPr/>
          <p:nvPr/>
        </p:nvSpPr>
        <p:spPr>
          <a:xfrm>
            <a:off x="761695" y="500177"/>
            <a:ext cx="75895" cy="75895"/>
          </a:xfrm>
          <a:prstGeom prst="rect">
            <a:avLst/>
          </a:prstGeom>
          <a:solidFill>
            <a:srgbClr val="22D3EE"/>
          </a:solidFill>
          <a:ln w="12700">
            <a:solidFill>
              <a:srgbClr val="FFFFFF">
                <a:alpha val="0"/>
              </a:srgbClr>
            </a:solidFill>
            <a:prstDash val="solid"/>
          </a:ln>
          <a:effectLst>
            <a:outerShdw sx="100000" sy="100000" kx="0" ky="0" algn="bl" rotWithShape="0" blurRad="114300" dist="12700" dir="16200000">
              <a:srgbClr val="22d3ee">
                <a:alpha val="100000"/>
              </a:srgbClr>
            </a:outerShdw>
          </a:effectLst>
        </p:spPr>
      </p:sp>
      <p:sp>
        <p:nvSpPr>
          <p:cNvPr id="13" name="Text 7"/>
          <p:cNvSpPr txBox="1"/>
          <p:nvPr/>
        </p:nvSpPr>
        <p:spPr>
          <a:xfrm>
            <a:off x="952805" y="457200"/>
            <a:ext cx="2642616" cy="162763"/>
          </a:xfrm>
          <a:prstGeom prst="rect">
            <a:avLst/>
          </a:prstGeom>
          <a:noFill/>
          <a:ln/>
        </p:spPr>
        <p:txBody>
          <a:bodyPr wrap="none" lIns="0" tIns="0" rIns="0" bIns="0" rtlCol="0" anchor="ctr"/>
          <a:lstStyle/>
          <a:p>
            <a:pPr algn="l" indent="0" marL="0">
              <a:buNone/>
            </a:pPr>
            <a:r>
              <a:rPr lang="en-US" sz="1050" spc="294" kern="0" dirty="0">
                <a:solidFill>
                  <a:srgbClr val="22D3EE"/>
                </a:solidFill>
                <a:latin typeface="Inter" pitchFamily="34" charset="0"/>
                <a:ea typeface="Inter" pitchFamily="34" charset="-122"/>
                <a:cs typeface="Inter" pitchFamily="34" charset="-120"/>
              </a:rPr>
              <a:t>SLIDE 03 · CD Overview</a:t>
            </a:r>
            <a:endParaRPr lang="en-US" sz="1050" dirty="0"/>
          </a:p>
        </p:txBody>
      </p:sp>
      <p:sp>
        <p:nvSpPr>
          <p:cNvPr id="14" name="Text 8"/>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49-PT MEAN · n = die-wide</a:t>
            </a:r>
            <a:endParaRPr lang="en-US" sz="1200" dirty="0"/>
          </a:p>
        </p:txBody>
      </p:sp>
      <p:sp>
        <p:nvSpPr>
          <p:cNvPr id="15" name="Text 9"/>
          <p:cNvSpPr txBox="1"/>
          <p:nvPr/>
        </p:nvSpPr>
        <p:spPr>
          <a:xfrm>
            <a:off x="761695" y="1143000"/>
            <a:ext cx="14287500" cy="486461"/>
          </a:xfrm>
          <a:prstGeom prst="rect">
            <a:avLst/>
          </a:prstGeom>
          <a:noFill/>
          <a:ln/>
        </p:spPr>
        <p:txBody>
          <a:bodyPr wrap="none" lIns="0" tIns="0" rIns="0" bIns="0" rtlCol="0" anchor="ctr"/>
          <a:lstStyle/>
          <a:p>
            <a:pPr algn="l" indent="0" marL="0">
              <a:buNone/>
            </a:pPr>
            <a:r>
              <a:rPr lang="en-US" sz="3450" b="1" spc="-34" kern="0" dirty="0">
                <a:solidFill>
                  <a:srgbClr val="E6EDF7"/>
                </a:solidFill>
                <a:latin typeface="Inter" pitchFamily="34" charset="0"/>
                <a:ea typeface="Inter" pitchFamily="34" charset="-122"/>
                <a:cs typeface="Inter" pitchFamily="34" charset="-120"/>
              </a:rPr>
              <a:t>4종 CD 측정 결과 · split 평균 비교</a:t>
            </a:r>
            <a:endParaRPr lang="en-US" sz="3450" dirty="0"/>
          </a:p>
        </p:txBody>
      </p:sp>
      <p:sp>
        <p:nvSpPr>
          <p:cNvPr id="16" name="Text 10"/>
          <p:cNvSpPr txBox="1"/>
          <p:nvPr/>
        </p:nvSpPr>
        <p:spPr>
          <a:xfrm>
            <a:off x="761695" y="1758391"/>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M2 layer에서 측정된 네 가지 CD metric — AASI · ASEI · AMI · ACI. 각 split의 wafer 평균을 target 대비로 표시한다.</a:t>
            </a:r>
            <a:endParaRPr lang="en-US" sz="1500" dirty="0"/>
          </a:p>
        </p:txBody>
      </p:sp>
      <p:sp>
        <p:nvSpPr>
          <p:cNvPr id="17" name="Text 11"/>
          <p:cNvSpPr txBox="1"/>
          <p:nvPr/>
        </p:nvSpPr>
        <p:spPr>
          <a:xfrm>
            <a:off x="14668805" y="1333195"/>
            <a:ext cx="2857500" cy="133502"/>
          </a:xfrm>
          <a:prstGeom prst="rect">
            <a:avLst/>
          </a:prstGeom>
          <a:noFill/>
          <a:ln/>
        </p:spPr>
        <p:txBody>
          <a:bodyPr wrap="none" lIns="0" tIns="0" rIns="0" bIns="0" rtlCol="0" anchor="ctr"/>
          <a:lstStyle/>
          <a:p>
            <a:pPr algn="ctr" indent="0" marL="0">
              <a:buNone/>
            </a:pPr>
            <a:r>
              <a:rPr lang="en-US" sz="825" spc="132" kern="0" dirty="0">
                <a:solidFill>
                  <a:srgbClr val="5C6478"/>
                </a:solidFill>
                <a:latin typeface="JetBrains Mono" pitchFamily="34" charset="0"/>
                <a:ea typeface="JetBrains Mono" pitchFamily="34" charset="-122"/>
                <a:cs typeface="JetBrains Mono" pitchFamily="34" charset="-120"/>
              </a:rPr>
              <a:t>TARGET WINS</a:t>
            </a:r>
            <a:endParaRPr lang="en-US" sz="825" dirty="0"/>
          </a:p>
        </p:txBody>
      </p:sp>
      <p:sp>
        <p:nvSpPr>
          <p:cNvPr id="18" name="Text 12"/>
          <p:cNvSpPr txBox="1"/>
          <p:nvPr/>
        </p:nvSpPr>
        <p:spPr>
          <a:xfrm>
            <a:off x="14551762" y="1524305"/>
            <a:ext cx="3090672" cy="277063"/>
          </a:xfrm>
          <a:prstGeom prst="rect">
            <a:avLst/>
          </a:prstGeom>
          <a:noFill/>
          <a:ln/>
        </p:spPr>
        <p:txBody>
          <a:bodyPr wrap="none" lIns="0" tIns="0" rIns="0" bIns="0" rtlCol="0" anchor="ctr"/>
          <a:lstStyle/>
          <a:p>
            <a:pPr algn="ctr" indent="0" marL="0">
              <a:buNone/>
            </a:pPr>
            <a:r>
              <a:rPr lang="en-US" sz="1800" b="1" dirty="0">
                <a:solidFill>
                  <a:srgbClr val="34D399"/>
                </a:solidFill>
                <a:latin typeface="Inter" pitchFamily="34" charset="0"/>
                <a:ea typeface="Inter" pitchFamily="34" charset="-122"/>
                <a:cs typeface="Inter" pitchFamily="34" charset="-120"/>
              </a:rPr>
              <a:t>Split B · 4/4 metrics</a:t>
            </a:r>
            <a:endParaRPr lang="en-US" sz="1800" dirty="0"/>
          </a:p>
        </p:txBody>
      </p:sp>
      <p:sp>
        <p:nvSpPr>
          <p:cNvPr id="19" name="Text 13"/>
          <p:cNvSpPr txBox="1"/>
          <p:nvPr/>
        </p:nvSpPr>
        <p:spPr>
          <a:xfrm>
            <a:off x="1047902" y="2667305"/>
            <a:ext cx="3620110"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CD METRIC</a:t>
            </a:r>
            <a:endParaRPr lang="en-US" sz="900" dirty="0"/>
          </a:p>
        </p:txBody>
      </p:sp>
      <p:sp>
        <p:nvSpPr>
          <p:cNvPr id="20" name="Text 14"/>
          <p:cNvSpPr txBox="1"/>
          <p:nvPr/>
        </p:nvSpPr>
        <p:spPr>
          <a:xfrm>
            <a:off x="1047902" y="2876702"/>
            <a:ext cx="3620110" cy="438912"/>
          </a:xfrm>
          <a:prstGeom prst="rect">
            <a:avLst/>
          </a:prstGeom>
          <a:noFill/>
          <a:ln/>
        </p:spPr>
        <p:txBody>
          <a:bodyPr wrap="none" lIns="0" tIns="0" rIns="0" bIns="0" rtlCol="0" anchor="ctr"/>
          <a:lstStyle/>
          <a:p>
            <a:pPr algn="l" indent="0" marL="0">
              <a:buNone/>
            </a:pPr>
            <a:r>
              <a:rPr lang="en-US" sz="3450" b="1" dirty="0">
                <a:solidFill>
                  <a:srgbClr val="22D3EE"/>
                </a:solidFill>
                <a:latin typeface="Inter" pitchFamily="34" charset="0"/>
                <a:ea typeface="Inter" pitchFamily="34" charset="-122"/>
                <a:cs typeface="Inter" pitchFamily="34" charset="-120"/>
              </a:rPr>
              <a:t>AASI</a:t>
            </a:r>
            <a:endParaRPr lang="en-US" sz="3450" dirty="0"/>
          </a:p>
        </p:txBody>
      </p:sp>
      <p:sp>
        <p:nvSpPr>
          <p:cNvPr id="21" name="Text 15"/>
          <p:cNvSpPr txBox="1"/>
          <p:nvPr/>
        </p:nvSpPr>
        <p:spPr>
          <a:xfrm>
            <a:off x="1047902" y="3372307"/>
            <a:ext cx="362011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Active Area Sidewall Image</a:t>
            </a:r>
            <a:endParaRPr lang="en-US" sz="1200" dirty="0"/>
          </a:p>
        </p:txBody>
      </p:sp>
      <p:sp>
        <p:nvSpPr>
          <p:cNvPr id="22" name="Text 16"/>
          <p:cNvSpPr txBox="1"/>
          <p:nvPr/>
        </p:nvSpPr>
        <p:spPr>
          <a:xfrm>
            <a:off x="1047902" y="3733495"/>
            <a:ext cx="3620110" cy="162763"/>
          </a:xfrm>
          <a:prstGeom prst="rect">
            <a:avLst/>
          </a:prstGeom>
          <a:noFill/>
          <a:ln/>
        </p:spPr>
        <p:txBody>
          <a:bodyPr wrap="none" lIns="0" tIns="0" rIns="0" bIns="0" rtlCol="0" anchor="ctr"/>
          <a:lstStyle/>
          <a:p>
            <a:pPr algn="l" indent="0" marL="0">
              <a:buNone/>
            </a:pPr>
            <a:r>
              <a:rPr lang="en-US" sz="975" dirty="0">
                <a:solidFill>
                  <a:srgbClr val="5C6478"/>
                </a:solidFill>
                <a:latin typeface="JetBrains Mono" pitchFamily="34" charset="0"/>
                <a:ea typeface="JetBrains Mono" pitchFamily="34" charset="-122"/>
                <a:cs typeface="JetBrains Mono" pitchFamily="34" charset="-120"/>
              </a:rPr>
              <a:t>target · 24.1 nm</a:t>
            </a:r>
            <a:endParaRPr lang="en-US" sz="975" dirty="0"/>
          </a:p>
        </p:txBody>
      </p:sp>
      <p:sp>
        <p:nvSpPr>
          <p:cNvPr id="23" name="Text 17"/>
          <p:cNvSpPr txBox="1"/>
          <p:nvPr/>
        </p:nvSpPr>
        <p:spPr>
          <a:xfrm>
            <a:off x="1047902" y="4005072"/>
            <a:ext cx="476402" cy="162763"/>
          </a:xfrm>
          <a:prstGeom prst="rect">
            <a:avLst/>
          </a:prstGeom>
          <a:noFill/>
          <a:ln/>
        </p:spPr>
        <p:txBody>
          <a:bodyPr wrap="none" lIns="0" tIns="0" rIns="0" bIns="0" rtlCol="0" anchor="ctr"/>
          <a:lstStyle/>
          <a:p>
            <a:pPr algn="l" indent="0" marL="0">
              <a:buNone/>
            </a:pPr>
            <a:r>
              <a:rPr lang="en-US" sz="975" dirty="0">
                <a:solidFill>
                  <a:srgbClr val="22D3EE"/>
                </a:solidFill>
                <a:latin typeface="JetBrains Mono" pitchFamily="34" charset="0"/>
                <a:ea typeface="JetBrains Mono" pitchFamily="34" charset="-122"/>
                <a:cs typeface="JetBrains Mono" pitchFamily="34" charset="-120"/>
              </a:rPr>
              <a:t>A</a:t>
            </a:r>
            <a:endParaRPr lang="en-US" sz="975" dirty="0"/>
          </a:p>
        </p:txBody>
      </p:sp>
      <p:sp>
        <p:nvSpPr>
          <p:cNvPr id="24" name="Text 18"/>
          <p:cNvSpPr txBox="1"/>
          <p:nvPr/>
        </p:nvSpPr>
        <p:spPr>
          <a:xfrm>
            <a:off x="3962095" y="4000500"/>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24.39 nm</a:t>
            </a:r>
            <a:endParaRPr lang="en-US" sz="1050" dirty="0"/>
          </a:p>
        </p:txBody>
      </p:sp>
      <p:sp>
        <p:nvSpPr>
          <p:cNvPr id="25" name="Text 19"/>
          <p:cNvSpPr txBox="1"/>
          <p:nvPr/>
        </p:nvSpPr>
        <p:spPr>
          <a:xfrm>
            <a:off x="1047902" y="4272077"/>
            <a:ext cx="476402" cy="162763"/>
          </a:xfrm>
          <a:prstGeom prst="rect">
            <a:avLst/>
          </a:prstGeom>
          <a:noFill/>
          <a:ln/>
        </p:spPr>
        <p:txBody>
          <a:bodyPr wrap="none" lIns="0" tIns="0" rIns="0" bIns="0" rtlCol="0" anchor="ctr"/>
          <a:lstStyle/>
          <a:p>
            <a:pPr algn="l" indent="0" marL="0">
              <a:buNone/>
            </a:pPr>
            <a:r>
              <a:rPr lang="en-US" sz="975" dirty="0">
                <a:solidFill>
                  <a:srgbClr val="A78BFA"/>
                </a:solidFill>
                <a:latin typeface="JetBrains Mono" pitchFamily="34" charset="0"/>
                <a:ea typeface="JetBrains Mono" pitchFamily="34" charset="-122"/>
                <a:cs typeface="JetBrains Mono" pitchFamily="34" charset="-120"/>
              </a:rPr>
              <a:t>B</a:t>
            </a:r>
            <a:endParaRPr lang="en-US" sz="975" dirty="0"/>
          </a:p>
        </p:txBody>
      </p:sp>
      <p:sp>
        <p:nvSpPr>
          <p:cNvPr id="26" name="Text 20"/>
          <p:cNvSpPr txBox="1"/>
          <p:nvPr/>
        </p:nvSpPr>
        <p:spPr>
          <a:xfrm>
            <a:off x="3962095" y="426750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24.16 nm</a:t>
            </a:r>
            <a:endParaRPr lang="en-US" sz="1050" dirty="0"/>
          </a:p>
        </p:txBody>
      </p:sp>
      <p:sp>
        <p:nvSpPr>
          <p:cNvPr id="27" name="Text 21"/>
          <p:cNvSpPr txBox="1"/>
          <p:nvPr/>
        </p:nvSpPr>
        <p:spPr>
          <a:xfrm>
            <a:off x="1047902" y="4539082"/>
            <a:ext cx="476402" cy="162763"/>
          </a:xfrm>
          <a:prstGeom prst="rect">
            <a:avLst/>
          </a:prstGeom>
          <a:noFill/>
          <a:ln/>
        </p:spPr>
        <p:txBody>
          <a:bodyPr wrap="none" lIns="0" tIns="0" rIns="0" bIns="0" rtlCol="0" anchor="ctr"/>
          <a:lstStyle/>
          <a:p>
            <a:pPr algn="l" indent="0" marL="0">
              <a:buNone/>
            </a:pPr>
            <a:r>
              <a:rPr lang="en-US" sz="975" dirty="0">
                <a:solidFill>
                  <a:srgbClr val="F59E0B"/>
                </a:solidFill>
                <a:latin typeface="JetBrains Mono" pitchFamily="34" charset="0"/>
                <a:ea typeface="JetBrains Mono" pitchFamily="34" charset="-122"/>
                <a:cs typeface="JetBrains Mono" pitchFamily="34" charset="-120"/>
              </a:rPr>
              <a:t>C</a:t>
            </a:r>
            <a:endParaRPr lang="en-US" sz="975" dirty="0"/>
          </a:p>
        </p:txBody>
      </p:sp>
      <p:sp>
        <p:nvSpPr>
          <p:cNvPr id="28" name="Text 22"/>
          <p:cNvSpPr txBox="1"/>
          <p:nvPr/>
        </p:nvSpPr>
        <p:spPr>
          <a:xfrm>
            <a:off x="3962095" y="453359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23.89 nm</a:t>
            </a:r>
            <a:endParaRPr lang="en-US" sz="1050" dirty="0"/>
          </a:p>
        </p:txBody>
      </p:sp>
      <p:sp>
        <p:nvSpPr>
          <p:cNvPr id="29" name="Shape 23"/>
          <p:cNvSpPr/>
          <p:nvPr/>
        </p:nvSpPr>
        <p:spPr>
          <a:xfrm>
            <a:off x="1619402" y="4000500"/>
            <a:ext cx="2247595" cy="171907"/>
          </a:xfrm>
          <a:prstGeom prst="rect">
            <a:avLst/>
          </a:prstGeom>
          <a:solidFill>
            <a:srgbClr val="22D3EE">
              <a:alpha val="10000"/>
            </a:srgbClr>
          </a:solidFill>
          <a:ln w="12700">
            <a:solidFill>
              <a:srgbClr val="FFFFFF">
                <a:alpha val="0"/>
              </a:srgbClr>
            </a:solidFill>
            <a:prstDash val="solid"/>
          </a:ln>
        </p:spPr>
      </p:sp>
      <p:pic>
        <p:nvPicPr>
          <p:cNvPr id="30" name="Image 3" descr="gen-dedup-164e619e61835f3ad20a86fb4546f511.png">    </p:cNvPr>
          <p:cNvPicPr>
            <a:picLocks noChangeAspect="1"/>
          </p:cNvPicPr>
          <p:nvPr/>
        </p:nvPicPr>
        <p:blipFill>
          <a:blip r:embed="rId4"/>
          <a:srcRect l="0" r="0" t="-538" b="-538"/>
          <a:stretch/>
        </p:blipFill>
        <p:spPr>
          <a:xfrm>
            <a:off x="2743200" y="4000500"/>
            <a:ext cx="28346" cy="171907"/>
          </a:xfrm>
          <a:prstGeom prst="rect">
            <a:avLst/>
          </a:prstGeom>
        </p:spPr>
      </p:pic>
      <p:sp>
        <p:nvSpPr>
          <p:cNvPr id="31" name="Shape 24"/>
          <p:cNvSpPr/>
          <p:nvPr/>
        </p:nvSpPr>
        <p:spPr>
          <a:xfrm>
            <a:off x="2743200" y="4000500"/>
            <a:ext cx="838505" cy="171907"/>
          </a:xfrm>
          <a:prstGeom prst="rect">
            <a:avLst/>
          </a:prstGeom>
          <a:solidFill>
            <a:srgbClr val="22D3EE"/>
          </a:solidFill>
          <a:ln w="12700">
            <a:solidFill>
              <a:srgbClr val="FFFFFF">
                <a:alpha val="0"/>
              </a:srgbClr>
            </a:solidFill>
            <a:prstDash val="solid"/>
          </a:ln>
        </p:spPr>
      </p:sp>
      <p:sp>
        <p:nvSpPr>
          <p:cNvPr id="32" name="Shape 25"/>
          <p:cNvSpPr/>
          <p:nvPr/>
        </p:nvSpPr>
        <p:spPr>
          <a:xfrm>
            <a:off x="1619402" y="4267505"/>
            <a:ext cx="2247595" cy="171907"/>
          </a:xfrm>
          <a:prstGeom prst="rect">
            <a:avLst/>
          </a:prstGeom>
          <a:solidFill>
            <a:srgbClr val="A78BFA">
              <a:alpha val="10000"/>
            </a:srgbClr>
          </a:solidFill>
          <a:ln w="12700">
            <a:solidFill>
              <a:srgbClr val="FFFFFF">
                <a:alpha val="0"/>
              </a:srgbClr>
            </a:solidFill>
            <a:prstDash val="solid"/>
          </a:ln>
        </p:spPr>
      </p:sp>
      <p:pic>
        <p:nvPicPr>
          <p:cNvPr id="33" name="Image 4" descr="gen-dedup-164e619e61835f3ad20a86fb4546f511.png">    </p:cNvPr>
          <p:cNvPicPr>
            <a:picLocks noChangeAspect="1"/>
          </p:cNvPicPr>
          <p:nvPr/>
        </p:nvPicPr>
        <p:blipFill>
          <a:blip r:embed="rId5"/>
          <a:srcRect l="0" r="0" t="-538" b="-538"/>
          <a:stretch/>
        </p:blipFill>
        <p:spPr>
          <a:xfrm>
            <a:off x="2743200" y="4267505"/>
            <a:ext cx="28346" cy="171907"/>
          </a:xfrm>
          <a:prstGeom prst="rect">
            <a:avLst/>
          </a:prstGeom>
        </p:spPr>
      </p:pic>
      <p:sp>
        <p:nvSpPr>
          <p:cNvPr id="34" name="Shape 26"/>
          <p:cNvSpPr/>
          <p:nvPr/>
        </p:nvSpPr>
        <p:spPr>
          <a:xfrm>
            <a:off x="2952598" y="4267505"/>
            <a:ext cx="286207" cy="171907"/>
          </a:xfrm>
          <a:prstGeom prst="rect">
            <a:avLst/>
          </a:prstGeom>
          <a:solidFill>
            <a:srgbClr val="A78BFA"/>
          </a:solidFill>
          <a:ln w="12700">
            <a:solidFill>
              <a:srgbClr val="FFFFFF">
                <a:alpha val="0"/>
              </a:srgbClr>
            </a:solidFill>
            <a:prstDash val="solid"/>
          </a:ln>
        </p:spPr>
      </p:sp>
      <p:sp>
        <p:nvSpPr>
          <p:cNvPr id="35" name="Shape 27"/>
          <p:cNvSpPr/>
          <p:nvPr/>
        </p:nvSpPr>
        <p:spPr>
          <a:xfrm>
            <a:off x="1619402" y="4533595"/>
            <a:ext cx="2247595" cy="171907"/>
          </a:xfrm>
          <a:prstGeom prst="rect">
            <a:avLst/>
          </a:prstGeom>
          <a:solidFill>
            <a:srgbClr val="F59E0B">
              <a:alpha val="10000"/>
            </a:srgbClr>
          </a:solidFill>
          <a:ln w="12700">
            <a:solidFill>
              <a:srgbClr val="FFFFFF">
                <a:alpha val="0"/>
              </a:srgbClr>
            </a:solidFill>
            <a:prstDash val="solid"/>
          </a:ln>
        </p:spPr>
      </p:sp>
      <p:pic>
        <p:nvPicPr>
          <p:cNvPr id="36" name="Image 5" descr="gen-dedup-164e619e61835f3ad20a86fb4546f511.png">    </p:cNvPr>
          <p:cNvPicPr>
            <a:picLocks noChangeAspect="1"/>
          </p:cNvPicPr>
          <p:nvPr/>
        </p:nvPicPr>
        <p:blipFill>
          <a:blip r:embed="rId6"/>
          <a:srcRect l="0" r="0" t="-538" b="-538"/>
          <a:stretch/>
        </p:blipFill>
        <p:spPr>
          <a:xfrm>
            <a:off x="2743200" y="4533595"/>
            <a:ext cx="28346" cy="171907"/>
          </a:xfrm>
          <a:prstGeom prst="rect">
            <a:avLst/>
          </a:prstGeom>
        </p:spPr>
      </p:pic>
      <p:sp>
        <p:nvSpPr>
          <p:cNvPr id="37" name="Shape 28"/>
          <p:cNvSpPr/>
          <p:nvPr/>
        </p:nvSpPr>
        <p:spPr>
          <a:xfrm>
            <a:off x="2533802" y="4533595"/>
            <a:ext cx="590702" cy="171907"/>
          </a:xfrm>
          <a:prstGeom prst="rect">
            <a:avLst/>
          </a:prstGeom>
          <a:solidFill>
            <a:srgbClr val="F59E0B"/>
          </a:solidFill>
          <a:ln w="12700">
            <a:solidFill>
              <a:srgbClr val="FFFFFF">
                <a:alpha val="0"/>
              </a:srgbClr>
            </a:solidFill>
            <a:prstDash val="solid"/>
          </a:ln>
        </p:spPr>
      </p:sp>
      <p:sp>
        <p:nvSpPr>
          <p:cNvPr id="38" name="Text 29"/>
          <p:cNvSpPr txBox="1"/>
          <p:nvPr/>
        </p:nvSpPr>
        <p:spPr>
          <a:xfrm>
            <a:off x="5238598" y="2667305"/>
            <a:ext cx="3620110"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CD METRIC</a:t>
            </a:r>
            <a:endParaRPr lang="en-US" sz="900" dirty="0"/>
          </a:p>
        </p:txBody>
      </p:sp>
      <p:sp>
        <p:nvSpPr>
          <p:cNvPr id="39" name="Text 30"/>
          <p:cNvSpPr txBox="1"/>
          <p:nvPr/>
        </p:nvSpPr>
        <p:spPr>
          <a:xfrm>
            <a:off x="5238598" y="2876702"/>
            <a:ext cx="3620110" cy="438912"/>
          </a:xfrm>
          <a:prstGeom prst="rect">
            <a:avLst/>
          </a:prstGeom>
          <a:noFill/>
          <a:ln/>
        </p:spPr>
        <p:txBody>
          <a:bodyPr wrap="none" lIns="0" tIns="0" rIns="0" bIns="0" rtlCol="0" anchor="ctr"/>
          <a:lstStyle/>
          <a:p>
            <a:pPr algn="l" indent="0" marL="0">
              <a:buNone/>
            </a:pPr>
            <a:r>
              <a:rPr lang="en-US" sz="3450" b="1" dirty="0">
                <a:solidFill>
                  <a:srgbClr val="22D3EE"/>
                </a:solidFill>
                <a:latin typeface="Inter" pitchFamily="34" charset="0"/>
                <a:ea typeface="Inter" pitchFamily="34" charset="-122"/>
                <a:cs typeface="Inter" pitchFamily="34" charset="-120"/>
              </a:rPr>
              <a:t>ASEI</a:t>
            </a:r>
            <a:endParaRPr lang="en-US" sz="3450" dirty="0"/>
          </a:p>
        </p:txBody>
      </p:sp>
      <p:sp>
        <p:nvSpPr>
          <p:cNvPr id="40" name="Text 31"/>
          <p:cNvSpPr txBox="1"/>
          <p:nvPr/>
        </p:nvSpPr>
        <p:spPr>
          <a:xfrm>
            <a:off x="5238598" y="3372307"/>
            <a:ext cx="362011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Active Spacer Edge Image</a:t>
            </a:r>
            <a:endParaRPr lang="en-US" sz="1200" dirty="0"/>
          </a:p>
        </p:txBody>
      </p:sp>
      <p:sp>
        <p:nvSpPr>
          <p:cNvPr id="41" name="Text 32"/>
          <p:cNvSpPr txBox="1"/>
          <p:nvPr/>
        </p:nvSpPr>
        <p:spPr>
          <a:xfrm>
            <a:off x="5238598" y="3733495"/>
            <a:ext cx="3620110" cy="162763"/>
          </a:xfrm>
          <a:prstGeom prst="rect">
            <a:avLst/>
          </a:prstGeom>
          <a:noFill/>
          <a:ln/>
        </p:spPr>
        <p:txBody>
          <a:bodyPr wrap="none" lIns="0" tIns="0" rIns="0" bIns="0" rtlCol="0" anchor="ctr"/>
          <a:lstStyle/>
          <a:p>
            <a:pPr algn="l" indent="0" marL="0">
              <a:buNone/>
            </a:pPr>
            <a:r>
              <a:rPr lang="en-US" sz="975" dirty="0">
                <a:solidFill>
                  <a:srgbClr val="5C6478"/>
                </a:solidFill>
                <a:latin typeface="JetBrains Mono" pitchFamily="34" charset="0"/>
                <a:ea typeface="JetBrains Mono" pitchFamily="34" charset="-122"/>
                <a:cs typeface="JetBrains Mono" pitchFamily="34" charset="-120"/>
              </a:rPr>
              <a:t>target · 17.2 nm</a:t>
            </a:r>
            <a:endParaRPr lang="en-US" sz="975" dirty="0"/>
          </a:p>
        </p:txBody>
      </p:sp>
      <p:sp>
        <p:nvSpPr>
          <p:cNvPr id="42" name="Text 33"/>
          <p:cNvSpPr txBox="1"/>
          <p:nvPr/>
        </p:nvSpPr>
        <p:spPr>
          <a:xfrm>
            <a:off x="5238598" y="4005072"/>
            <a:ext cx="476402" cy="162763"/>
          </a:xfrm>
          <a:prstGeom prst="rect">
            <a:avLst/>
          </a:prstGeom>
          <a:noFill/>
          <a:ln/>
        </p:spPr>
        <p:txBody>
          <a:bodyPr wrap="none" lIns="0" tIns="0" rIns="0" bIns="0" rtlCol="0" anchor="ctr"/>
          <a:lstStyle/>
          <a:p>
            <a:pPr algn="l" indent="0" marL="0">
              <a:buNone/>
            </a:pPr>
            <a:r>
              <a:rPr lang="en-US" sz="975" dirty="0">
                <a:solidFill>
                  <a:srgbClr val="22D3EE"/>
                </a:solidFill>
                <a:latin typeface="JetBrains Mono" pitchFamily="34" charset="0"/>
                <a:ea typeface="JetBrains Mono" pitchFamily="34" charset="-122"/>
                <a:cs typeface="JetBrains Mono" pitchFamily="34" charset="-120"/>
              </a:rPr>
              <a:t>A</a:t>
            </a:r>
            <a:endParaRPr lang="en-US" sz="975" dirty="0"/>
          </a:p>
        </p:txBody>
      </p:sp>
      <p:sp>
        <p:nvSpPr>
          <p:cNvPr id="43" name="Text 34"/>
          <p:cNvSpPr txBox="1"/>
          <p:nvPr/>
        </p:nvSpPr>
        <p:spPr>
          <a:xfrm>
            <a:off x="8153705" y="4000500"/>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17.43 nm</a:t>
            </a:r>
            <a:endParaRPr lang="en-US" sz="1050" dirty="0"/>
          </a:p>
        </p:txBody>
      </p:sp>
      <p:sp>
        <p:nvSpPr>
          <p:cNvPr id="44" name="Text 35"/>
          <p:cNvSpPr txBox="1"/>
          <p:nvPr/>
        </p:nvSpPr>
        <p:spPr>
          <a:xfrm>
            <a:off x="5238598" y="4272077"/>
            <a:ext cx="476402" cy="162763"/>
          </a:xfrm>
          <a:prstGeom prst="rect">
            <a:avLst/>
          </a:prstGeom>
          <a:noFill/>
          <a:ln/>
        </p:spPr>
        <p:txBody>
          <a:bodyPr wrap="none" lIns="0" tIns="0" rIns="0" bIns="0" rtlCol="0" anchor="ctr"/>
          <a:lstStyle/>
          <a:p>
            <a:pPr algn="l" indent="0" marL="0">
              <a:buNone/>
            </a:pPr>
            <a:r>
              <a:rPr lang="en-US" sz="975" dirty="0">
                <a:solidFill>
                  <a:srgbClr val="A78BFA"/>
                </a:solidFill>
                <a:latin typeface="JetBrains Mono" pitchFamily="34" charset="0"/>
                <a:ea typeface="JetBrains Mono" pitchFamily="34" charset="-122"/>
                <a:cs typeface="JetBrains Mono" pitchFamily="34" charset="-120"/>
              </a:rPr>
              <a:t>B</a:t>
            </a:r>
            <a:endParaRPr lang="en-US" sz="975" dirty="0"/>
          </a:p>
        </p:txBody>
      </p:sp>
      <p:sp>
        <p:nvSpPr>
          <p:cNvPr id="45" name="Text 36"/>
          <p:cNvSpPr txBox="1"/>
          <p:nvPr/>
        </p:nvSpPr>
        <p:spPr>
          <a:xfrm>
            <a:off x="8153705" y="426750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17.22 nm</a:t>
            </a:r>
            <a:endParaRPr lang="en-US" sz="1050" dirty="0"/>
          </a:p>
        </p:txBody>
      </p:sp>
      <p:sp>
        <p:nvSpPr>
          <p:cNvPr id="46" name="Text 37"/>
          <p:cNvSpPr txBox="1"/>
          <p:nvPr/>
        </p:nvSpPr>
        <p:spPr>
          <a:xfrm>
            <a:off x="5238598" y="4539082"/>
            <a:ext cx="476402" cy="162763"/>
          </a:xfrm>
          <a:prstGeom prst="rect">
            <a:avLst/>
          </a:prstGeom>
          <a:noFill/>
          <a:ln/>
        </p:spPr>
        <p:txBody>
          <a:bodyPr wrap="none" lIns="0" tIns="0" rIns="0" bIns="0" rtlCol="0" anchor="ctr"/>
          <a:lstStyle/>
          <a:p>
            <a:pPr algn="l" indent="0" marL="0">
              <a:buNone/>
            </a:pPr>
            <a:r>
              <a:rPr lang="en-US" sz="975" dirty="0">
                <a:solidFill>
                  <a:srgbClr val="F59E0B"/>
                </a:solidFill>
                <a:latin typeface="JetBrains Mono" pitchFamily="34" charset="0"/>
                <a:ea typeface="JetBrains Mono" pitchFamily="34" charset="-122"/>
                <a:cs typeface="JetBrains Mono" pitchFamily="34" charset="-120"/>
              </a:rPr>
              <a:t>C</a:t>
            </a:r>
            <a:endParaRPr lang="en-US" sz="975" dirty="0"/>
          </a:p>
        </p:txBody>
      </p:sp>
      <p:sp>
        <p:nvSpPr>
          <p:cNvPr id="47" name="Text 38"/>
          <p:cNvSpPr txBox="1"/>
          <p:nvPr/>
        </p:nvSpPr>
        <p:spPr>
          <a:xfrm>
            <a:off x="8153705" y="453359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16.95 nm</a:t>
            </a:r>
            <a:endParaRPr lang="en-US" sz="1050" dirty="0"/>
          </a:p>
        </p:txBody>
      </p:sp>
      <p:sp>
        <p:nvSpPr>
          <p:cNvPr id="48" name="Shape 39"/>
          <p:cNvSpPr/>
          <p:nvPr/>
        </p:nvSpPr>
        <p:spPr>
          <a:xfrm>
            <a:off x="5810098" y="4000500"/>
            <a:ext cx="2247595" cy="171907"/>
          </a:xfrm>
          <a:prstGeom prst="rect">
            <a:avLst/>
          </a:prstGeom>
          <a:solidFill>
            <a:srgbClr val="22D3EE">
              <a:alpha val="10000"/>
            </a:srgbClr>
          </a:solidFill>
          <a:ln w="12700">
            <a:solidFill>
              <a:srgbClr val="FFFFFF">
                <a:alpha val="0"/>
              </a:srgbClr>
            </a:solidFill>
            <a:prstDash val="solid"/>
          </a:ln>
        </p:spPr>
      </p:sp>
      <p:pic>
        <p:nvPicPr>
          <p:cNvPr id="49" name="Image 6" descr="gen-dedup-164e619e61835f3ad20a86fb4546f511.png">    </p:cNvPr>
          <p:cNvPicPr>
            <a:picLocks noChangeAspect="1"/>
          </p:cNvPicPr>
          <p:nvPr/>
        </p:nvPicPr>
        <p:blipFill>
          <a:blip r:embed="rId7"/>
          <a:srcRect l="0" r="0" t="-538" b="-538"/>
          <a:stretch/>
        </p:blipFill>
        <p:spPr>
          <a:xfrm>
            <a:off x="6933895" y="4000500"/>
            <a:ext cx="28346" cy="171907"/>
          </a:xfrm>
          <a:prstGeom prst="rect">
            <a:avLst/>
          </a:prstGeom>
        </p:spPr>
      </p:pic>
      <p:sp>
        <p:nvSpPr>
          <p:cNvPr id="50" name="Shape 40"/>
          <p:cNvSpPr/>
          <p:nvPr/>
        </p:nvSpPr>
        <p:spPr>
          <a:xfrm>
            <a:off x="6933895" y="4000500"/>
            <a:ext cx="761695" cy="171907"/>
          </a:xfrm>
          <a:prstGeom prst="rect">
            <a:avLst/>
          </a:prstGeom>
          <a:solidFill>
            <a:srgbClr val="22D3EE"/>
          </a:solidFill>
          <a:ln w="12700">
            <a:solidFill>
              <a:srgbClr val="FFFFFF">
                <a:alpha val="0"/>
              </a:srgbClr>
            </a:solidFill>
            <a:prstDash val="solid"/>
          </a:ln>
        </p:spPr>
      </p:sp>
      <p:sp>
        <p:nvSpPr>
          <p:cNvPr id="51" name="Shape 41"/>
          <p:cNvSpPr/>
          <p:nvPr/>
        </p:nvSpPr>
        <p:spPr>
          <a:xfrm>
            <a:off x="5810098" y="4267505"/>
            <a:ext cx="2247595" cy="171907"/>
          </a:xfrm>
          <a:prstGeom prst="rect">
            <a:avLst/>
          </a:prstGeom>
          <a:solidFill>
            <a:srgbClr val="A78BFA">
              <a:alpha val="10000"/>
            </a:srgbClr>
          </a:solidFill>
          <a:ln w="12700">
            <a:solidFill>
              <a:srgbClr val="FFFFFF">
                <a:alpha val="0"/>
              </a:srgbClr>
            </a:solidFill>
            <a:prstDash val="solid"/>
          </a:ln>
        </p:spPr>
      </p:sp>
      <p:pic>
        <p:nvPicPr>
          <p:cNvPr id="52" name="Image 7" descr="gen-dedup-164e619e61835f3ad20a86fb4546f511.png">    </p:cNvPr>
          <p:cNvPicPr>
            <a:picLocks noChangeAspect="1"/>
          </p:cNvPicPr>
          <p:nvPr/>
        </p:nvPicPr>
        <p:blipFill>
          <a:blip r:embed="rId8"/>
          <a:srcRect l="0" r="0" t="-538" b="-538"/>
          <a:stretch/>
        </p:blipFill>
        <p:spPr>
          <a:xfrm>
            <a:off x="6933895" y="4267505"/>
            <a:ext cx="28346" cy="171907"/>
          </a:xfrm>
          <a:prstGeom prst="rect">
            <a:avLst/>
          </a:prstGeom>
        </p:spPr>
      </p:pic>
      <p:sp>
        <p:nvSpPr>
          <p:cNvPr id="53" name="Shape 42"/>
          <p:cNvSpPr/>
          <p:nvPr/>
        </p:nvSpPr>
        <p:spPr>
          <a:xfrm>
            <a:off x="7000646" y="4267505"/>
            <a:ext cx="133502" cy="171907"/>
          </a:xfrm>
          <a:prstGeom prst="rect">
            <a:avLst/>
          </a:prstGeom>
          <a:solidFill>
            <a:srgbClr val="A78BFA"/>
          </a:solidFill>
          <a:ln w="12700">
            <a:solidFill>
              <a:srgbClr val="FFFFFF">
                <a:alpha val="0"/>
              </a:srgbClr>
            </a:solidFill>
            <a:prstDash val="solid"/>
          </a:ln>
        </p:spPr>
      </p:sp>
      <p:sp>
        <p:nvSpPr>
          <p:cNvPr id="54" name="Shape 43"/>
          <p:cNvSpPr/>
          <p:nvPr/>
        </p:nvSpPr>
        <p:spPr>
          <a:xfrm>
            <a:off x="5810098" y="4533595"/>
            <a:ext cx="2247595" cy="171907"/>
          </a:xfrm>
          <a:prstGeom prst="rect">
            <a:avLst/>
          </a:prstGeom>
          <a:solidFill>
            <a:srgbClr val="F59E0B">
              <a:alpha val="10000"/>
            </a:srgbClr>
          </a:solidFill>
          <a:ln w="12700">
            <a:solidFill>
              <a:srgbClr val="FFFFFF">
                <a:alpha val="0"/>
              </a:srgbClr>
            </a:solidFill>
            <a:prstDash val="solid"/>
          </a:ln>
        </p:spPr>
      </p:sp>
      <p:pic>
        <p:nvPicPr>
          <p:cNvPr id="55" name="Image 8" descr="gen-dedup-164e619e61835f3ad20a86fb4546f511.png">    </p:cNvPr>
          <p:cNvPicPr>
            <a:picLocks noChangeAspect="1"/>
          </p:cNvPicPr>
          <p:nvPr/>
        </p:nvPicPr>
        <p:blipFill>
          <a:blip r:embed="rId9"/>
          <a:srcRect l="0" r="0" t="-538" b="-538"/>
          <a:stretch/>
        </p:blipFill>
        <p:spPr>
          <a:xfrm>
            <a:off x="6933895" y="4533595"/>
            <a:ext cx="28346" cy="171907"/>
          </a:xfrm>
          <a:prstGeom prst="rect">
            <a:avLst/>
          </a:prstGeom>
        </p:spPr>
      </p:pic>
      <p:sp>
        <p:nvSpPr>
          <p:cNvPr id="56" name="Shape 44"/>
          <p:cNvSpPr/>
          <p:nvPr/>
        </p:nvSpPr>
        <p:spPr>
          <a:xfrm>
            <a:off x="6724498" y="4533595"/>
            <a:ext cx="514807" cy="171907"/>
          </a:xfrm>
          <a:prstGeom prst="rect">
            <a:avLst/>
          </a:prstGeom>
          <a:solidFill>
            <a:srgbClr val="F59E0B"/>
          </a:solidFill>
          <a:ln w="12700">
            <a:solidFill>
              <a:srgbClr val="FFFFFF">
                <a:alpha val="0"/>
              </a:srgbClr>
            </a:solidFill>
            <a:prstDash val="solid"/>
          </a:ln>
        </p:spPr>
      </p:sp>
      <p:sp>
        <p:nvSpPr>
          <p:cNvPr id="57" name="Text 45"/>
          <p:cNvSpPr txBox="1"/>
          <p:nvPr/>
        </p:nvSpPr>
        <p:spPr>
          <a:xfrm>
            <a:off x="9430207" y="2667305"/>
            <a:ext cx="3620110"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CD METRIC</a:t>
            </a:r>
            <a:endParaRPr lang="en-US" sz="900" dirty="0"/>
          </a:p>
        </p:txBody>
      </p:sp>
      <p:sp>
        <p:nvSpPr>
          <p:cNvPr id="58" name="Text 46"/>
          <p:cNvSpPr txBox="1"/>
          <p:nvPr/>
        </p:nvSpPr>
        <p:spPr>
          <a:xfrm>
            <a:off x="9430207" y="2876702"/>
            <a:ext cx="3620110" cy="438912"/>
          </a:xfrm>
          <a:prstGeom prst="rect">
            <a:avLst/>
          </a:prstGeom>
          <a:noFill/>
          <a:ln/>
        </p:spPr>
        <p:txBody>
          <a:bodyPr wrap="none" lIns="0" tIns="0" rIns="0" bIns="0" rtlCol="0" anchor="ctr"/>
          <a:lstStyle/>
          <a:p>
            <a:pPr algn="l" indent="0" marL="0">
              <a:buNone/>
            </a:pPr>
            <a:r>
              <a:rPr lang="en-US" sz="3450" b="1" dirty="0">
                <a:solidFill>
                  <a:srgbClr val="22D3EE"/>
                </a:solidFill>
                <a:latin typeface="Inter" pitchFamily="34" charset="0"/>
                <a:ea typeface="Inter" pitchFamily="34" charset="-122"/>
                <a:cs typeface="Inter" pitchFamily="34" charset="-120"/>
              </a:rPr>
              <a:t>AMI</a:t>
            </a:r>
            <a:endParaRPr lang="en-US" sz="3450" dirty="0"/>
          </a:p>
        </p:txBody>
      </p:sp>
      <p:sp>
        <p:nvSpPr>
          <p:cNvPr id="59" name="Text 47"/>
          <p:cNvSpPr txBox="1"/>
          <p:nvPr/>
        </p:nvSpPr>
        <p:spPr>
          <a:xfrm>
            <a:off x="9430207" y="3372307"/>
            <a:ext cx="362011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After-Metal-etch Image</a:t>
            </a:r>
            <a:endParaRPr lang="en-US" sz="1200" dirty="0"/>
          </a:p>
        </p:txBody>
      </p:sp>
      <p:sp>
        <p:nvSpPr>
          <p:cNvPr id="60" name="Text 48"/>
          <p:cNvSpPr txBox="1"/>
          <p:nvPr/>
        </p:nvSpPr>
        <p:spPr>
          <a:xfrm>
            <a:off x="9430207" y="3733495"/>
            <a:ext cx="3620110" cy="162763"/>
          </a:xfrm>
          <a:prstGeom prst="rect">
            <a:avLst/>
          </a:prstGeom>
          <a:noFill/>
          <a:ln/>
        </p:spPr>
        <p:txBody>
          <a:bodyPr wrap="none" lIns="0" tIns="0" rIns="0" bIns="0" rtlCol="0" anchor="ctr"/>
          <a:lstStyle/>
          <a:p>
            <a:pPr algn="l" indent="0" marL="0">
              <a:buNone/>
            </a:pPr>
            <a:r>
              <a:rPr lang="en-US" sz="975" dirty="0">
                <a:solidFill>
                  <a:srgbClr val="5C6478"/>
                </a:solidFill>
                <a:latin typeface="JetBrains Mono" pitchFamily="34" charset="0"/>
                <a:ea typeface="JetBrains Mono" pitchFamily="34" charset="-122"/>
                <a:cs typeface="JetBrains Mono" pitchFamily="34" charset="-120"/>
              </a:rPr>
              <a:t>target · 8.1 nm</a:t>
            </a:r>
            <a:endParaRPr lang="en-US" sz="975" dirty="0"/>
          </a:p>
        </p:txBody>
      </p:sp>
      <p:sp>
        <p:nvSpPr>
          <p:cNvPr id="61" name="Text 49"/>
          <p:cNvSpPr txBox="1"/>
          <p:nvPr/>
        </p:nvSpPr>
        <p:spPr>
          <a:xfrm>
            <a:off x="9430207" y="4005072"/>
            <a:ext cx="476402" cy="162763"/>
          </a:xfrm>
          <a:prstGeom prst="rect">
            <a:avLst/>
          </a:prstGeom>
          <a:noFill/>
          <a:ln/>
        </p:spPr>
        <p:txBody>
          <a:bodyPr wrap="none" lIns="0" tIns="0" rIns="0" bIns="0" rtlCol="0" anchor="ctr"/>
          <a:lstStyle/>
          <a:p>
            <a:pPr algn="l" indent="0" marL="0">
              <a:buNone/>
            </a:pPr>
            <a:r>
              <a:rPr lang="en-US" sz="975" dirty="0">
                <a:solidFill>
                  <a:srgbClr val="22D3EE"/>
                </a:solidFill>
                <a:latin typeface="JetBrains Mono" pitchFamily="34" charset="0"/>
                <a:ea typeface="JetBrains Mono" pitchFamily="34" charset="-122"/>
                <a:cs typeface="JetBrains Mono" pitchFamily="34" charset="-120"/>
              </a:rPr>
              <a:t>A</a:t>
            </a:r>
            <a:endParaRPr lang="en-US" sz="975" dirty="0"/>
          </a:p>
        </p:txBody>
      </p:sp>
      <p:sp>
        <p:nvSpPr>
          <p:cNvPr id="62" name="Text 50"/>
          <p:cNvSpPr txBox="1"/>
          <p:nvPr/>
        </p:nvSpPr>
        <p:spPr>
          <a:xfrm>
            <a:off x="12344400" y="4000500"/>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8.33 nm</a:t>
            </a:r>
            <a:endParaRPr lang="en-US" sz="1050" dirty="0"/>
          </a:p>
        </p:txBody>
      </p:sp>
      <p:sp>
        <p:nvSpPr>
          <p:cNvPr id="63" name="Text 51"/>
          <p:cNvSpPr txBox="1"/>
          <p:nvPr/>
        </p:nvSpPr>
        <p:spPr>
          <a:xfrm>
            <a:off x="9430207" y="4272077"/>
            <a:ext cx="476402" cy="162763"/>
          </a:xfrm>
          <a:prstGeom prst="rect">
            <a:avLst/>
          </a:prstGeom>
          <a:noFill/>
          <a:ln/>
        </p:spPr>
        <p:txBody>
          <a:bodyPr wrap="none" lIns="0" tIns="0" rIns="0" bIns="0" rtlCol="0" anchor="ctr"/>
          <a:lstStyle/>
          <a:p>
            <a:pPr algn="l" indent="0" marL="0">
              <a:buNone/>
            </a:pPr>
            <a:r>
              <a:rPr lang="en-US" sz="975" dirty="0">
                <a:solidFill>
                  <a:srgbClr val="A78BFA"/>
                </a:solidFill>
                <a:latin typeface="JetBrains Mono" pitchFamily="34" charset="0"/>
                <a:ea typeface="JetBrains Mono" pitchFamily="34" charset="-122"/>
                <a:cs typeface="JetBrains Mono" pitchFamily="34" charset="-120"/>
              </a:rPr>
              <a:t>B</a:t>
            </a:r>
            <a:endParaRPr lang="en-US" sz="975" dirty="0"/>
          </a:p>
        </p:txBody>
      </p:sp>
      <p:sp>
        <p:nvSpPr>
          <p:cNvPr id="64" name="Text 52"/>
          <p:cNvSpPr txBox="1"/>
          <p:nvPr/>
        </p:nvSpPr>
        <p:spPr>
          <a:xfrm>
            <a:off x="12344400" y="426750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8.15 nm</a:t>
            </a:r>
            <a:endParaRPr lang="en-US" sz="1050" dirty="0"/>
          </a:p>
        </p:txBody>
      </p:sp>
      <p:sp>
        <p:nvSpPr>
          <p:cNvPr id="65" name="Text 53"/>
          <p:cNvSpPr txBox="1"/>
          <p:nvPr/>
        </p:nvSpPr>
        <p:spPr>
          <a:xfrm>
            <a:off x="9430207" y="4539082"/>
            <a:ext cx="476402" cy="162763"/>
          </a:xfrm>
          <a:prstGeom prst="rect">
            <a:avLst/>
          </a:prstGeom>
          <a:noFill/>
          <a:ln/>
        </p:spPr>
        <p:txBody>
          <a:bodyPr wrap="none" lIns="0" tIns="0" rIns="0" bIns="0" rtlCol="0" anchor="ctr"/>
          <a:lstStyle/>
          <a:p>
            <a:pPr algn="l" indent="0" marL="0">
              <a:buNone/>
            </a:pPr>
            <a:r>
              <a:rPr lang="en-US" sz="975" dirty="0">
                <a:solidFill>
                  <a:srgbClr val="F59E0B"/>
                </a:solidFill>
                <a:latin typeface="JetBrains Mono" pitchFamily="34" charset="0"/>
                <a:ea typeface="JetBrains Mono" pitchFamily="34" charset="-122"/>
                <a:cs typeface="JetBrains Mono" pitchFamily="34" charset="-120"/>
              </a:rPr>
              <a:t>C</a:t>
            </a:r>
            <a:endParaRPr lang="en-US" sz="975" dirty="0"/>
          </a:p>
        </p:txBody>
      </p:sp>
      <p:sp>
        <p:nvSpPr>
          <p:cNvPr id="66" name="Text 54"/>
          <p:cNvSpPr txBox="1"/>
          <p:nvPr/>
        </p:nvSpPr>
        <p:spPr>
          <a:xfrm>
            <a:off x="12344400" y="453359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7.96 nm</a:t>
            </a:r>
            <a:endParaRPr lang="en-US" sz="1050" dirty="0"/>
          </a:p>
        </p:txBody>
      </p:sp>
      <p:sp>
        <p:nvSpPr>
          <p:cNvPr id="67" name="Shape 55"/>
          <p:cNvSpPr/>
          <p:nvPr/>
        </p:nvSpPr>
        <p:spPr>
          <a:xfrm>
            <a:off x="10001707" y="4000500"/>
            <a:ext cx="2247595" cy="171907"/>
          </a:xfrm>
          <a:prstGeom prst="rect">
            <a:avLst/>
          </a:prstGeom>
          <a:solidFill>
            <a:srgbClr val="22D3EE">
              <a:alpha val="10000"/>
            </a:srgbClr>
          </a:solidFill>
          <a:ln w="12700">
            <a:solidFill>
              <a:srgbClr val="FFFFFF">
                <a:alpha val="0"/>
              </a:srgbClr>
            </a:solidFill>
            <a:prstDash val="solid"/>
          </a:ln>
        </p:spPr>
      </p:sp>
      <p:pic>
        <p:nvPicPr>
          <p:cNvPr id="68" name="Image 9" descr="gen-dedup-164e619e61835f3ad20a86fb4546f511.png">    </p:cNvPr>
          <p:cNvPicPr>
            <a:picLocks noChangeAspect="1"/>
          </p:cNvPicPr>
          <p:nvPr/>
        </p:nvPicPr>
        <p:blipFill>
          <a:blip r:embed="rId10"/>
          <a:srcRect l="0" r="0" t="-538" b="-538"/>
          <a:stretch/>
        </p:blipFill>
        <p:spPr>
          <a:xfrm>
            <a:off x="11125505" y="4000500"/>
            <a:ext cx="28346" cy="171907"/>
          </a:xfrm>
          <a:prstGeom prst="rect">
            <a:avLst/>
          </a:prstGeom>
        </p:spPr>
      </p:pic>
      <p:sp>
        <p:nvSpPr>
          <p:cNvPr id="69" name="Shape 56"/>
          <p:cNvSpPr/>
          <p:nvPr/>
        </p:nvSpPr>
        <p:spPr>
          <a:xfrm>
            <a:off x="11125505" y="4000500"/>
            <a:ext cx="724205" cy="171907"/>
          </a:xfrm>
          <a:prstGeom prst="rect">
            <a:avLst/>
          </a:prstGeom>
          <a:solidFill>
            <a:srgbClr val="22D3EE"/>
          </a:solidFill>
          <a:ln w="12700">
            <a:solidFill>
              <a:srgbClr val="FFFFFF">
                <a:alpha val="0"/>
              </a:srgbClr>
            </a:solidFill>
            <a:prstDash val="solid"/>
          </a:ln>
        </p:spPr>
      </p:sp>
      <p:sp>
        <p:nvSpPr>
          <p:cNvPr id="70" name="Shape 57"/>
          <p:cNvSpPr/>
          <p:nvPr/>
        </p:nvSpPr>
        <p:spPr>
          <a:xfrm>
            <a:off x="10001707" y="4267505"/>
            <a:ext cx="2247595" cy="171907"/>
          </a:xfrm>
          <a:prstGeom prst="rect">
            <a:avLst/>
          </a:prstGeom>
          <a:solidFill>
            <a:srgbClr val="A78BFA">
              <a:alpha val="10000"/>
            </a:srgbClr>
          </a:solidFill>
          <a:ln w="12700">
            <a:solidFill>
              <a:srgbClr val="FFFFFF">
                <a:alpha val="0"/>
              </a:srgbClr>
            </a:solidFill>
            <a:prstDash val="solid"/>
          </a:ln>
        </p:spPr>
      </p:sp>
      <p:pic>
        <p:nvPicPr>
          <p:cNvPr id="71" name="Image 10" descr="gen-dedup-164e619e61835f3ad20a86fb4546f511.png">    </p:cNvPr>
          <p:cNvPicPr>
            <a:picLocks noChangeAspect="1"/>
          </p:cNvPicPr>
          <p:nvPr/>
        </p:nvPicPr>
        <p:blipFill>
          <a:blip r:embed="rId11"/>
          <a:srcRect l="0" r="0" t="-538" b="-538"/>
          <a:stretch/>
        </p:blipFill>
        <p:spPr>
          <a:xfrm>
            <a:off x="11125505" y="4267505"/>
            <a:ext cx="28346" cy="171907"/>
          </a:xfrm>
          <a:prstGeom prst="rect">
            <a:avLst/>
          </a:prstGeom>
        </p:spPr>
      </p:pic>
      <p:sp>
        <p:nvSpPr>
          <p:cNvPr id="72" name="Shape 58"/>
          <p:cNvSpPr/>
          <p:nvPr/>
        </p:nvSpPr>
        <p:spPr>
          <a:xfrm>
            <a:off x="11239805" y="4267505"/>
            <a:ext cx="190195" cy="171907"/>
          </a:xfrm>
          <a:prstGeom prst="rect">
            <a:avLst/>
          </a:prstGeom>
          <a:solidFill>
            <a:srgbClr val="A78BFA"/>
          </a:solidFill>
          <a:ln w="12700">
            <a:solidFill>
              <a:srgbClr val="FFFFFF">
                <a:alpha val="0"/>
              </a:srgbClr>
            </a:solidFill>
            <a:prstDash val="solid"/>
          </a:ln>
        </p:spPr>
      </p:sp>
      <p:sp>
        <p:nvSpPr>
          <p:cNvPr id="73" name="Shape 59"/>
          <p:cNvSpPr/>
          <p:nvPr/>
        </p:nvSpPr>
        <p:spPr>
          <a:xfrm>
            <a:off x="10001707" y="4533595"/>
            <a:ext cx="2247595" cy="171907"/>
          </a:xfrm>
          <a:prstGeom prst="rect">
            <a:avLst/>
          </a:prstGeom>
          <a:solidFill>
            <a:srgbClr val="F59E0B">
              <a:alpha val="10000"/>
            </a:srgbClr>
          </a:solidFill>
          <a:ln w="12700">
            <a:solidFill>
              <a:srgbClr val="FFFFFF">
                <a:alpha val="0"/>
              </a:srgbClr>
            </a:solidFill>
            <a:prstDash val="solid"/>
          </a:ln>
        </p:spPr>
      </p:sp>
      <p:pic>
        <p:nvPicPr>
          <p:cNvPr id="74" name="Image 11" descr="gen-dedup-164e619e61835f3ad20a86fb4546f511.png">    </p:cNvPr>
          <p:cNvPicPr>
            <a:picLocks noChangeAspect="1"/>
          </p:cNvPicPr>
          <p:nvPr/>
        </p:nvPicPr>
        <p:blipFill>
          <a:blip r:embed="rId12"/>
          <a:srcRect l="0" r="0" t="-538" b="-538"/>
          <a:stretch/>
        </p:blipFill>
        <p:spPr>
          <a:xfrm>
            <a:off x="11125505" y="4533595"/>
            <a:ext cx="28346" cy="171907"/>
          </a:xfrm>
          <a:prstGeom prst="rect">
            <a:avLst/>
          </a:prstGeom>
        </p:spPr>
      </p:pic>
      <p:sp>
        <p:nvSpPr>
          <p:cNvPr id="75" name="Shape 60"/>
          <p:cNvSpPr/>
          <p:nvPr/>
        </p:nvSpPr>
        <p:spPr>
          <a:xfrm>
            <a:off x="11001146" y="4533595"/>
            <a:ext cx="476402" cy="171907"/>
          </a:xfrm>
          <a:prstGeom prst="rect">
            <a:avLst/>
          </a:prstGeom>
          <a:solidFill>
            <a:srgbClr val="F59E0B"/>
          </a:solidFill>
          <a:ln w="12700">
            <a:solidFill>
              <a:srgbClr val="FFFFFF">
                <a:alpha val="0"/>
              </a:srgbClr>
            </a:solidFill>
            <a:prstDash val="solid"/>
          </a:ln>
        </p:spPr>
      </p:sp>
      <p:sp>
        <p:nvSpPr>
          <p:cNvPr id="76" name="Text 61"/>
          <p:cNvSpPr txBox="1"/>
          <p:nvPr/>
        </p:nvSpPr>
        <p:spPr>
          <a:xfrm>
            <a:off x="13620902" y="2667305"/>
            <a:ext cx="3810305"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CD METRIC</a:t>
            </a:r>
            <a:endParaRPr lang="en-US" sz="900" dirty="0"/>
          </a:p>
        </p:txBody>
      </p:sp>
      <p:sp>
        <p:nvSpPr>
          <p:cNvPr id="77" name="Text 62"/>
          <p:cNvSpPr txBox="1"/>
          <p:nvPr/>
        </p:nvSpPr>
        <p:spPr>
          <a:xfrm>
            <a:off x="13620902" y="2876702"/>
            <a:ext cx="3810305" cy="438912"/>
          </a:xfrm>
          <a:prstGeom prst="rect">
            <a:avLst/>
          </a:prstGeom>
          <a:noFill/>
          <a:ln/>
        </p:spPr>
        <p:txBody>
          <a:bodyPr wrap="none" lIns="0" tIns="0" rIns="0" bIns="0" rtlCol="0" anchor="ctr"/>
          <a:lstStyle/>
          <a:p>
            <a:pPr algn="l" indent="0" marL="0">
              <a:buNone/>
            </a:pPr>
            <a:r>
              <a:rPr lang="en-US" sz="3450" b="1" dirty="0">
                <a:solidFill>
                  <a:srgbClr val="22D3EE"/>
                </a:solidFill>
                <a:latin typeface="Inter" pitchFamily="34" charset="0"/>
                <a:ea typeface="Inter" pitchFamily="34" charset="-122"/>
                <a:cs typeface="Inter" pitchFamily="34" charset="-120"/>
              </a:rPr>
              <a:t>ACI</a:t>
            </a:r>
            <a:endParaRPr lang="en-US" sz="3450" dirty="0"/>
          </a:p>
        </p:txBody>
      </p:sp>
      <p:sp>
        <p:nvSpPr>
          <p:cNvPr id="78" name="Text 63"/>
          <p:cNvSpPr txBox="1"/>
          <p:nvPr/>
        </p:nvSpPr>
        <p:spPr>
          <a:xfrm>
            <a:off x="13620902" y="3372307"/>
            <a:ext cx="3810305"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After-Clean Image</a:t>
            </a:r>
            <a:endParaRPr lang="en-US" sz="1200" dirty="0"/>
          </a:p>
        </p:txBody>
      </p:sp>
      <p:sp>
        <p:nvSpPr>
          <p:cNvPr id="79" name="Text 64"/>
          <p:cNvSpPr txBox="1"/>
          <p:nvPr/>
        </p:nvSpPr>
        <p:spPr>
          <a:xfrm>
            <a:off x="13620902" y="3733495"/>
            <a:ext cx="3810305" cy="162763"/>
          </a:xfrm>
          <a:prstGeom prst="rect">
            <a:avLst/>
          </a:prstGeom>
          <a:noFill/>
          <a:ln/>
        </p:spPr>
        <p:txBody>
          <a:bodyPr wrap="none" lIns="0" tIns="0" rIns="0" bIns="0" rtlCol="0" anchor="ctr"/>
          <a:lstStyle/>
          <a:p>
            <a:pPr algn="l" indent="0" marL="0">
              <a:buNone/>
            </a:pPr>
            <a:r>
              <a:rPr lang="en-US" sz="975" dirty="0">
                <a:solidFill>
                  <a:srgbClr val="5C6478"/>
                </a:solidFill>
                <a:latin typeface="JetBrains Mono" pitchFamily="34" charset="0"/>
                <a:ea typeface="JetBrains Mono" pitchFamily="34" charset="-122"/>
                <a:cs typeface="JetBrains Mono" pitchFamily="34" charset="-120"/>
              </a:rPr>
              <a:t>target · 8.4 nm</a:t>
            </a:r>
            <a:endParaRPr lang="en-US" sz="975" dirty="0"/>
          </a:p>
        </p:txBody>
      </p:sp>
      <p:sp>
        <p:nvSpPr>
          <p:cNvPr id="80" name="Text 65"/>
          <p:cNvSpPr txBox="1"/>
          <p:nvPr/>
        </p:nvSpPr>
        <p:spPr>
          <a:xfrm>
            <a:off x="13620902" y="4005072"/>
            <a:ext cx="476402" cy="162763"/>
          </a:xfrm>
          <a:prstGeom prst="rect">
            <a:avLst/>
          </a:prstGeom>
          <a:noFill/>
          <a:ln/>
        </p:spPr>
        <p:txBody>
          <a:bodyPr wrap="none" lIns="0" tIns="0" rIns="0" bIns="0" rtlCol="0" anchor="ctr"/>
          <a:lstStyle/>
          <a:p>
            <a:pPr algn="l" indent="0" marL="0">
              <a:buNone/>
            </a:pPr>
            <a:r>
              <a:rPr lang="en-US" sz="975" dirty="0">
                <a:solidFill>
                  <a:srgbClr val="22D3EE"/>
                </a:solidFill>
                <a:latin typeface="JetBrains Mono" pitchFamily="34" charset="0"/>
                <a:ea typeface="JetBrains Mono" pitchFamily="34" charset="-122"/>
                <a:cs typeface="JetBrains Mono" pitchFamily="34" charset="-120"/>
              </a:rPr>
              <a:t>A</a:t>
            </a:r>
            <a:endParaRPr lang="en-US" sz="975" dirty="0"/>
          </a:p>
        </p:txBody>
      </p:sp>
      <p:sp>
        <p:nvSpPr>
          <p:cNvPr id="81" name="Text 66"/>
          <p:cNvSpPr txBox="1"/>
          <p:nvPr/>
        </p:nvSpPr>
        <p:spPr>
          <a:xfrm>
            <a:off x="16726205" y="4000500"/>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8.60 nm</a:t>
            </a:r>
            <a:endParaRPr lang="en-US" sz="1050" dirty="0"/>
          </a:p>
        </p:txBody>
      </p:sp>
      <p:sp>
        <p:nvSpPr>
          <p:cNvPr id="82" name="Text 67"/>
          <p:cNvSpPr txBox="1"/>
          <p:nvPr/>
        </p:nvSpPr>
        <p:spPr>
          <a:xfrm>
            <a:off x="13620902" y="4272077"/>
            <a:ext cx="476402" cy="162763"/>
          </a:xfrm>
          <a:prstGeom prst="rect">
            <a:avLst/>
          </a:prstGeom>
          <a:noFill/>
          <a:ln/>
        </p:spPr>
        <p:txBody>
          <a:bodyPr wrap="none" lIns="0" tIns="0" rIns="0" bIns="0" rtlCol="0" anchor="ctr"/>
          <a:lstStyle/>
          <a:p>
            <a:pPr algn="l" indent="0" marL="0">
              <a:buNone/>
            </a:pPr>
            <a:r>
              <a:rPr lang="en-US" sz="975" dirty="0">
                <a:solidFill>
                  <a:srgbClr val="A78BFA"/>
                </a:solidFill>
                <a:latin typeface="JetBrains Mono" pitchFamily="34" charset="0"/>
                <a:ea typeface="JetBrains Mono" pitchFamily="34" charset="-122"/>
                <a:cs typeface="JetBrains Mono" pitchFamily="34" charset="-120"/>
              </a:rPr>
              <a:t>B</a:t>
            </a:r>
            <a:endParaRPr lang="en-US" sz="975" dirty="0"/>
          </a:p>
        </p:txBody>
      </p:sp>
      <p:sp>
        <p:nvSpPr>
          <p:cNvPr id="83" name="Text 68"/>
          <p:cNvSpPr txBox="1"/>
          <p:nvPr/>
        </p:nvSpPr>
        <p:spPr>
          <a:xfrm>
            <a:off x="16726205" y="426750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8.42 nm</a:t>
            </a:r>
            <a:endParaRPr lang="en-US" sz="1050" dirty="0"/>
          </a:p>
        </p:txBody>
      </p:sp>
      <p:sp>
        <p:nvSpPr>
          <p:cNvPr id="84" name="Text 69"/>
          <p:cNvSpPr txBox="1"/>
          <p:nvPr/>
        </p:nvSpPr>
        <p:spPr>
          <a:xfrm>
            <a:off x="13620902" y="4539082"/>
            <a:ext cx="476402" cy="162763"/>
          </a:xfrm>
          <a:prstGeom prst="rect">
            <a:avLst/>
          </a:prstGeom>
          <a:noFill/>
          <a:ln/>
        </p:spPr>
        <p:txBody>
          <a:bodyPr wrap="none" lIns="0" tIns="0" rIns="0" bIns="0" rtlCol="0" anchor="ctr"/>
          <a:lstStyle/>
          <a:p>
            <a:pPr algn="l" indent="0" marL="0">
              <a:buNone/>
            </a:pPr>
            <a:r>
              <a:rPr lang="en-US" sz="975" dirty="0">
                <a:solidFill>
                  <a:srgbClr val="F59E0B"/>
                </a:solidFill>
                <a:latin typeface="JetBrains Mono" pitchFamily="34" charset="0"/>
                <a:ea typeface="JetBrains Mono" pitchFamily="34" charset="-122"/>
                <a:cs typeface="JetBrains Mono" pitchFamily="34" charset="-120"/>
              </a:rPr>
              <a:t>C</a:t>
            </a:r>
            <a:endParaRPr lang="en-US" sz="975" dirty="0"/>
          </a:p>
        </p:txBody>
      </p:sp>
      <p:sp>
        <p:nvSpPr>
          <p:cNvPr id="85" name="Text 70"/>
          <p:cNvSpPr txBox="1"/>
          <p:nvPr/>
        </p:nvSpPr>
        <p:spPr>
          <a:xfrm>
            <a:off x="16726205" y="4533595"/>
            <a:ext cx="705002" cy="171907"/>
          </a:xfrm>
          <a:prstGeom prst="rect">
            <a:avLst/>
          </a:prstGeom>
          <a:noFill/>
          <a:ln/>
        </p:spPr>
        <p:txBody>
          <a:bodyPr wrap="none" lIns="0" tIns="0" rIns="0" bIns="0" rtlCol="0" anchor="ctr"/>
          <a:lstStyle/>
          <a:p>
            <a:pPr algn="r" indent="0" marL="0">
              <a:buNone/>
            </a:pPr>
            <a:r>
              <a:rPr lang="en-US" sz="1050" dirty="0">
                <a:solidFill>
                  <a:srgbClr val="E6EDF7"/>
                </a:solidFill>
                <a:latin typeface="JetBrains Mono" pitchFamily="34" charset="0"/>
                <a:ea typeface="JetBrains Mono" pitchFamily="34" charset="-122"/>
                <a:cs typeface="JetBrains Mono" pitchFamily="34" charset="-120"/>
              </a:rPr>
              <a:t>8.26 nm</a:t>
            </a:r>
            <a:endParaRPr lang="en-US" sz="1050" dirty="0"/>
          </a:p>
        </p:txBody>
      </p:sp>
      <p:sp>
        <p:nvSpPr>
          <p:cNvPr id="86" name="Shape 71"/>
          <p:cNvSpPr/>
          <p:nvPr/>
        </p:nvSpPr>
        <p:spPr>
          <a:xfrm>
            <a:off x="14192402" y="4000500"/>
            <a:ext cx="2438705" cy="171907"/>
          </a:xfrm>
          <a:prstGeom prst="rect">
            <a:avLst/>
          </a:prstGeom>
          <a:solidFill>
            <a:srgbClr val="22D3EE">
              <a:alpha val="10000"/>
            </a:srgbClr>
          </a:solidFill>
          <a:ln w="12700">
            <a:solidFill>
              <a:srgbClr val="FFFFFF">
                <a:alpha val="0"/>
              </a:srgbClr>
            </a:solidFill>
            <a:prstDash val="solid"/>
          </a:ln>
        </p:spPr>
      </p:sp>
      <p:pic>
        <p:nvPicPr>
          <p:cNvPr id="87" name="Image 12" descr="gen-dedup-164e619e61835f3ad20a86fb4546f511.png">    </p:cNvPr>
          <p:cNvPicPr>
            <a:picLocks noChangeAspect="1"/>
          </p:cNvPicPr>
          <p:nvPr/>
        </p:nvPicPr>
        <p:blipFill>
          <a:blip r:embed="rId13"/>
          <a:srcRect l="0" r="0" t="-538" b="-538"/>
          <a:stretch/>
        </p:blipFill>
        <p:spPr>
          <a:xfrm>
            <a:off x="15411298" y="4000500"/>
            <a:ext cx="28346" cy="171907"/>
          </a:xfrm>
          <a:prstGeom prst="rect">
            <a:avLst/>
          </a:prstGeom>
        </p:spPr>
      </p:pic>
      <p:sp>
        <p:nvSpPr>
          <p:cNvPr id="88" name="Shape 72"/>
          <p:cNvSpPr/>
          <p:nvPr/>
        </p:nvSpPr>
        <p:spPr>
          <a:xfrm>
            <a:off x="15411298" y="4000500"/>
            <a:ext cx="647395" cy="171907"/>
          </a:xfrm>
          <a:prstGeom prst="rect">
            <a:avLst/>
          </a:prstGeom>
          <a:solidFill>
            <a:srgbClr val="22D3EE"/>
          </a:solidFill>
          <a:ln w="12700">
            <a:solidFill>
              <a:srgbClr val="FFFFFF">
                <a:alpha val="0"/>
              </a:srgbClr>
            </a:solidFill>
            <a:prstDash val="solid"/>
          </a:ln>
        </p:spPr>
      </p:sp>
      <p:sp>
        <p:nvSpPr>
          <p:cNvPr id="89" name="Shape 73"/>
          <p:cNvSpPr/>
          <p:nvPr/>
        </p:nvSpPr>
        <p:spPr>
          <a:xfrm>
            <a:off x="14192402" y="4267505"/>
            <a:ext cx="2438705" cy="171907"/>
          </a:xfrm>
          <a:prstGeom prst="rect">
            <a:avLst/>
          </a:prstGeom>
          <a:solidFill>
            <a:srgbClr val="A78BFA">
              <a:alpha val="10000"/>
            </a:srgbClr>
          </a:solidFill>
          <a:ln w="12700">
            <a:solidFill>
              <a:srgbClr val="FFFFFF">
                <a:alpha val="0"/>
              </a:srgbClr>
            </a:solidFill>
            <a:prstDash val="solid"/>
          </a:ln>
        </p:spPr>
      </p:sp>
      <p:pic>
        <p:nvPicPr>
          <p:cNvPr id="90" name="Image 13" descr="gen-dedup-164e619e61835f3ad20a86fb4546f511.png">    </p:cNvPr>
          <p:cNvPicPr>
            <a:picLocks noChangeAspect="1"/>
          </p:cNvPicPr>
          <p:nvPr/>
        </p:nvPicPr>
        <p:blipFill>
          <a:blip r:embed="rId14"/>
          <a:srcRect l="0" r="0" t="-538" b="-538"/>
          <a:stretch/>
        </p:blipFill>
        <p:spPr>
          <a:xfrm>
            <a:off x="15411298" y="4267505"/>
            <a:ext cx="28346" cy="171907"/>
          </a:xfrm>
          <a:prstGeom prst="rect">
            <a:avLst/>
          </a:prstGeom>
        </p:spPr>
      </p:pic>
      <p:sp>
        <p:nvSpPr>
          <p:cNvPr id="91" name="Shape 74"/>
          <p:cNvSpPr/>
          <p:nvPr/>
        </p:nvSpPr>
        <p:spPr>
          <a:xfrm>
            <a:off x="15449702" y="4267505"/>
            <a:ext cx="133502" cy="171907"/>
          </a:xfrm>
          <a:prstGeom prst="rect">
            <a:avLst/>
          </a:prstGeom>
          <a:solidFill>
            <a:srgbClr val="A78BFA"/>
          </a:solidFill>
          <a:ln w="12700">
            <a:solidFill>
              <a:srgbClr val="FFFFFF">
                <a:alpha val="0"/>
              </a:srgbClr>
            </a:solidFill>
            <a:prstDash val="solid"/>
          </a:ln>
        </p:spPr>
      </p:sp>
      <p:sp>
        <p:nvSpPr>
          <p:cNvPr id="92" name="Shape 75"/>
          <p:cNvSpPr/>
          <p:nvPr/>
        </p:nvSpPr>
        <p:spPr>
          <a:xfrm>
            <a:off x="14192402" y="4533595"/>
            <a:ext cx="2438705" cy="171907"/>
          </a:xfrm>
          <a:prstGeom prst="rect">
            <a:avLst/>
          </a:prstGeom>
          <a:solidFill>
            <a:srgbClr val="F59E0B">
              <a:alpha val="10000"/>
            </a:srgbClr>
          </a:solidFill>
          <a:ln w="12700">
            <a:solidFill>
              <a:srgbClr val="FFFFFF">
                <a:alpha val="0"/>
              </a:srgbClr>
            </a:solidFill>
            <a:prstDash val="solid"/>
          </a:ln>
        </p:spPr>
      </p:sp>
      <p:pic>
        <p:nvPicPr>
          <p:cNvPr id="93" name="Image 14" descr="gen-dedup-164e619e61835f3ad20a86fb4546f511.png">    </p:cNvPr>
          <p:cNvPicPr>
            <a:picLocks noChangeAspect="1"/>
          </p:cNvPicPr>
          <p:nvPr/>
        </p:nvPicPr>
        <p:blipFill>
          <a:blip r:embed="rId15"/>
          <a:srcRect l="0" r="0" t="-538" b="-538"/>
          <a:stretch/>
        </p:blipFill>
        <p:spPr>
          <a:xfrm>
            <a:off x="15411298" y="4533595"/>
            <a:ext cx="28346" cy="171907"/>
          </a:xfrm>
          <a:prstGeom prst="rect">
            <a:avLst/>
          </a:prstGeom>
        </p:spPr>
      </p:pic>
      <p:sp>
        <p:nvSpPr>
          <p:cNvPr id="94" name="Shape 76"/>
          <p:cNvSpPr/>
          <p:nvPr/>
        </p:nvSpPr>
        <p:spPr>
          <a:xfrm>
            <a:off x="15230246" y="4533595"/>
            <a:ext cx="457200" cy="171907"/>
          </a:xfrm>
          <a:prstGeom prst="rect">
            <a:avLst/>
          </a:prstGeom>
          <a:solidFill>
            <a:srgbClr val="F59E0B"/>
          </a:solidFill>
          <a:ln w="12700">
            <a:solidFill>
              <a:srgbClr val="FFFFFF">
                <a:alpha val="0"/>
              </a:srgbClr>
            </a:solidFill>
            <a:prstDash val="solid"/>
          </a:ln>
        </p:spPr>
      </p:sp>
      <p:sp>
        <p:nvSpPr>
          <p:cNvPr id="95" name="Text 77"/>
          <p:cNvSpPr txBox="1"/>
          <p:nvPr/>
        </p:nvSpPr>
        <p:spPr>
          <a:xfrm>
            <a:off x="1047902" y="6077102"/>
            <a:ext cx="16193110" cy="171907"/>
          </a:xfrm>
          <a:prstGeom prst="rect">
            <a:avLst/>
          </a:prstGeom>
          <a:noFill/>
          <a:ln/>
        </p:spPr>
        <p:txBody>
          <a:bodyPr wrap="none" lIns="0" tIns="0" rIns="0" bIns="0" rtlCol="0" anchor="ctr"/>
          <a:lstStyle/>
          <a:p>
            <a:pPr algn="l" indent="0" marL="0">
              <a:buNone/>
            </a:pPr>
            <a:r>
              <a:rPr lang="en-US" sz="1050" spc="189" kern="0" dirty="0">
                <a:solidFill>
                  <a:srgbClr val="8B95A8"/>
                </a:solidFill>
                <a:latin typeface="JetBrains Mono" pitchFamily="34" charset="0"/>
                <a:ea typeface="JetBrains Mono" pitchFamily="34" charset="-122"/>
                <a:cs typeface="JetBrains Mono" pitchFamily="34" charset="-120"/>
              </a:rPr>
              <a:t>RANK BY TARGET DELTA · LOWER |mean − target| IS BETTER</a:t>
            </a:r>
            <a:endParaRPr lang="en-US" sz="1050" dirty="0"/>
          </a:p>
        </p:txBody>
      </p:sp>
      <p:sp>
        <p:nvSpPr>
          <p:cNvPr id="96" name="Shape 78"/>
          <p:cNvSpPr/>
          <p:nvPr/>
        </p:nvSpPr>
        <p:spPr>
          <a:xfrm>
            <a:off x="1047902" y="6782105"/>
            <a:ext cx="2095805" cy="9144"/>
          </a:xfrm>
          <a:prstGeom prst="rect">
            <a:avLst/>
          </a:prstGeom>
          <a:solidFill>
            <a:srgbClr val="FFFFFF">
              <a:alpha val="6000"/>
            </a:srgbClr>
          </a:solidFill>
          <a:ln w="12700">
            <a:solidFill>
              <a:srgbClr val="FFFFFF">
                <a:alpha val="0"/>
              </a:srgbClr>
            </a:solidFill>
            <a:prstDash val="solid"/>
          </a:ln>
        </p:spPr>
      </p:sp>
      <p:sp>
        <p:nvSpPr>
          <p:cNvPr id="97" name="Text 79"/>
          <p:cNvSpPr txBox="1"/>
          <p:nvPr/>
        </p:nvSpPr>
        <p:spPr>
          <a:xfrm>
            <a:off x="1047902" y="6476695"/>
            <a:ext cx="2095805" cy="229514"/>
          </a:xfrm>
          <a:prstGeom prst="rect">
            <a:avLst/>
          </a:prstGeom>
          <a:solidFill>
            <a:srgbClr val="FFFFFF">
              <a:alpha val="0"/>
            </a:srgbClr>
          </a:solidFill>
          <a:ln>
            <a:solidFill>
              <a:srgbClr val="FFFFFF">
                <a:alpha val="0"/>
              </a:srgbClr>
            </a:solidFill>
          </a:ln>
        </p:spPr>
        <p:txBody>
          <a:bodyPr wrap="none" lIns="76200" tIns="76200" rIns="7620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METRIC</a:t>
            </a:r>
            <a:endParaRPr lang="en-US" sz="900" dirty="0"/>
          </a:p>
        </p:txBody>
      </p:sp>
      <p:sp>
        <p:nvSpPr>
          <p:cNvPr id="98" name="Shape 80"/>
          <p:cNvSpPr/>
          <p:nvPr/>
        </p:nvSpPr>
        <p:spPr>
          <a:xfrm>
            <a:off x="3143707" y="6782105"/>
            <a:ext cx="3524098" cy="9144"/>
          </a:xfrm>
          <a:prstGeom prst="rect">
            <a:avLst/>
          </a:prstGeom>
          <a:solidFill>
            <a:srgbClr val="FFFFFF">
              <a:alpha val="6000"/>
            </a:srgbClr>
          </a:solidFill>
          <a:ln w="12700">
            <a:solidFill>
              <a:srgbClr val="FFFFFF">
                <a:alpha val="0"/>
              </a:srgbClr>
            </a:solidFill>
            <a:prstDash val="solid"/>
          </a:ln>
        </p:spPr>
      </p:sp>
      <p:sp>
        <p:nvSpPr>
          <p:cNvPr id="99" name="Text 81"/>
          <p:cNvSpPr txBox="1"/>
          <p:nvPr/>
        </p:nvSpPr>
        <p:spPr>
          <a:xfrm>
            <a:off x="3143707" y="6476695"/>
            <a:ext cx="3525012" cy="229514"/>
          </a:xfrm>
          <a:prstGeom prst="rect">
            <a:avLst/>
          </a:prstGeom>
          <a:solidFill>
            <a:srgbClr val="FFFFFF">
              <a:alpha val="0"/>
            </a:srgbClr>
          </a:solidFill>
          <a:ln>
            <a:solidFill>
              <a:srgbClr val="FFFFFF">
                <a:alpha val="0"/>
              </a:srgbClr>
            </a:solidFill>
          </a:ln>
        </p:spPr>
        <p:txBody>
          <a:bodyPr wrap="none" lIns="76200" tIns="76200" rIns="7620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A · 1.0 nm</a:t>
            </a:r>
            <a:endParaRPr lang="en-US" sz="900" dirty="0"/>
          </a:p>
        </p:txBody>
      </p:sp>
      <p:sp>
        <p:nvSpPr>
          <p:cNvPr id="100" name="Shape 82"/>
          <p:cNvSpPr/>
          <p:nvPr/>
        </p:nvSpPr>
        <p:spPr>
          <a:xfrm>
            <a:off x="6667805" y="6782105"/>
            <a:ext cx="3524098" cy="9144"/>
          </a:xfrm>
          <a:prstGeom prst="rect">
            <a:avLst/>
          </a:prstGeom>
          <a:solidFill>
            <a:srgbClr val="FFFFFF">
              <a:alpha val="6000"/>
            </a:srgbClr>
          </a:solidFill>
          <a:ln w="12700">
            <a:solidFill>
              <a:srgbClr val="FFFFFF">
                <a:alpha val="0"/>
              </a:srgbClr>
            </a:solidFill>
            <a:prstDash val="solid"/>
          </a:ln>
        </p:spPr>
      </p:sp>
      <p:sp>
        <p:nvSpPr>
          <p:cNvPr id="101" name="Text 83"/>
          <p:cNvSpPr txBox="1"/>
          <p:nvPr/>
        </p:nvSpPr>
        <p:spPr>
          <a:xfrm>
            <a:off x="6667805" y="6476695"/>
            <a:ext cx="3525012" cy="229514"/>
          </a:xfrm>
          <a:prstGeom prst="rect">
            <a:avLst/>
          </a:prstGeom>
          <a:solidFill>
            <a:srgbClr val="FFFFFF">
              <a:alpha val="0"/>
            </a:srgbClr>
          </a:solidFill>
          <a:ln>
            <a:solidFill>
              <a:srgbClr val="FFFFFF">
                <a:alpha val="0"/>
              </a:srgbClr>
            </a:solidFill>
          </a:ln>
        </p:spPr>
        <p:txBody>
          <a:bodyPr wrap="none" lIns="76200" tIns="76200" rIns="7620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B · 1.5 nm</a:t>
            </a:r>
            <a:endParaRPr lang="en-US" sz="900" dirty="0"/>
          </a:p>
        </p:txBody>
      </p:sp>
      <p:sp>
        <p:nvSpPr>
          <p:cNvPr id="102" name="Shape 84"/>
          <p:cNvSpPr/>
          <p:nvPr/>
        </p:nvSpPr>
        <p:spPr>
          <a:xfrm>
            <a:off x="10191902" y="6782105"/>
            <a:ext cx="3524098" cy="9144"/>
          </a:xfrm>
          <a:prstGeom prst="rect">
            <a:avLst/>
          </a:prstGeom>
          <a:solidFill>
            <a:srgbClr val="FFFFFF">
              <a:alpha val="6000"/>
            </a:srgbClr>
          </a:solidFill>
          <a:ln w="12700">
            <a:solidFill>
              <a:srgbClr val="FFFFFF">
                <a:alpha val="0"/>
              </a:srgbClr>
            </a:solidFill>
            <a:prstDash val="solid"/>
          </a:ln>
        </p:spPr>
      </p:sp>
      <p:sp>
        <p:nvSpPr>
          <p:cNvPr id="103" name="Text 85"/>
          <p:cNvSpPr txBox="1"/>
          <p:nvPr/>
        </p:nvSpPr>
        <p:spPr>
          <a:xfrm>
            <a:off x="10191902" y="6476695"/>
            <a:ext cx="3525012" cy="229514"/>
          </a:xfrm>
          <a:prstGeom prst="rect">
            <a:avLst/>
          </a:prstGeom>
          <a:solidFill>
            <a:srgbClr val="FFFFFF">
              <a:alpha val="0"/>
            </a:srgbClr>
          </a:solidFill>
          <a:ln>
            <a:solidFill>
              <a:srgbClr val="FFFFFF">
                <a:alpha val="0"/>
              </a:srgbClr>
            </a:solidFill>
          </a:ln>
        </p:spPr>
        <p:txBody>
          <a:bodyPr wrap="none" lIns="76200" tIns="76200" rIns="7620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C · 2.0 nm</a:t>
            </a:r>
            <a:endParaRPr lang="en-US" sz="900" dirty="0"/>
          </a:p>
        </p:txBody>
      </p:sp>
      <p:sp>
        <p:nvSpPr>
          <p:cNvPr id="104" name="Shape 86"/>
          <p:cNvSpPr/>
          <p:nvPr/>
        </p:nvSpPr>
        <p:spPr>
          <a:xfrm>
            <a:off x="13716000" y="6782105"/>
            <a:ext cx="3524098" cy="9144"/>
          </a:xfrm>
          <a:prstGeom prst="rect">
            <a:avLst/>
          </a:prstGeom>
          <a:solidFill>
            <a:srgbClr val="FFFFFF">
              <a:alpha val="6000"/>
            </a:srgbClr>
          </a:solidFill>
          <a:ln w="12700">
            <a:solidFill>
              <a:srgbClr val="FFFFFF">
                <a:alpha val="0"/>
              </a:srgbClr>
            </a:solidFill>
            <a:prstDash val="solid"/>
          </a:ln>
        </p:spPr>
      </p:sp>
      <p:sp>
        <p:nvSpPr>
          <p:cNvPr id="105" name="Text 87"/>
          <p:cNvSpPr txBox="1"/>
          <p:nvPr/>
        </p:nvSpPr>
        <p:spPr>
          <a:xfrm>
            <a:off x="13716000" y="6476695"/>
            <a:ext cx="3525012" cy="229514"/>
          </a:xfrm>
          <a:prstGeom prst="rect">
            <a:avLst/>
          </a:prstGeom>
          <a:solidFill>
            <a:srgbClr val="FFFFFF">
              <a:alpha val="0"/>
            </a:srgbClr>
          </a:solidFill>
          <a:ln>
            <a:solidFill>
              <a:srgbClr val="FFFFFF">
                <a:alpha val="0"/>
              </a:srgbClr>
            </a:solidFill>
          </a:ln>
        </p:spPr>
        <p:txBody>
          <a:bodyPr wrap="none" lIns="76200" tIns="76200" rIns="7620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BEST</a:t>
            </a:r>
            <a:endParaRPr lang="en-US" sz="900" dirty="0"/>
          </a:p>
        </p:txBody>
      </p:sp>
      <p:sp>
        <p:nvSpPr>
          <p:cNvPr id="106" name="Shape 88"/>
          <p:cNvSpPr/>
          <p:nvPr/>
        </p:nvSpPr>
        <p:spPr>
          <a:xfrm>
            <a:off x="1047902" y="7229246"/>
            <a:ext cx="16192195" cy="9144"/>
          </a:xfrm>
          <a:prstGeom prst="rect">
            <a:avLst/>
          </a:prstGeom>
          <a:solidFill>
            <a:srgbClr val="FFFFFF">
              <a:alpha val="6000"/>
            </a:srgbClr>
          </a:solidFill>
          <a:ln w="12700">
            <a:solidFill>
              <a:srgbClr val="FFFFFF">
                <a:alpha val="0"/>
              </a:srgbClr>
            </a:solidFill>
            <a:prstDash val="solid"/>
          </a:ln>
        </p:spPr>
      </p:sp>
      <p:sp>
        <p:nvSpPr>
          <p:cNvPr id="107" name="Text 89"/>
          <p:cNvSpPr txBox="1"/>
          <p:nvPr/>
        </p:nvSpPr>
        <p:spPr>
          <a:xfrm>
            <a:off x="1047902" y="6915607"/>
            <a:ext cx="2095805"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AASI · Δ (nm)</a:t>
            </a:r>
            <a:endParaRPr lang="en-US" sz="1350" dirty="0"/>
          </a:p>
        </p:txBody>
      </p:sp>
      <p:sp>
        <p:nvSpPr>
          <p:cNvPr id="108" name="Text 90"/>
          <p:cNvSpPr txBox="1"/>
          <p:nvPr/>
        </p:nvSpPr>
        <p:spPr>
          <a:xfrm>
            <a:off x="3143707" y="6915607"/>
            <a:ext cx="3525012" cy="219456"/>
          </a:xfrm>
          <a:prstGeom prst="rect">
            <a:avLst/>
          </a:prstGeom>
          <a:noFill/>
          <a:ln/>
        </p:spPr>
        <p:txBody>
          <a:bodyPr wrap="none" lIns="0" tIns="0" rIns="0" bIns="0" rtlCol="0" anchor="ctr"/>
          <a:lstStyle/>
          <a:p>
            <a:pPr algn="l" indent="0" marL="0">
              <a:buNone/>
            </a:pPr>
            <a:r>
              <a:rPr lang="en-US" sz="1350" dirty="0">
                <a:solidFill>
                  <a:srgbClr val="22D3EE"/>
                </a:solidFill>
                <a:latin typeface="JetBrains Mono" pitchFamily="34" charset="0"/>
                <a:ea typeface="JetBrains Mono" pitchFamily="34" charset="-122"/>
                <a:cs typeface="JetBrains Mono" pitchFamily="34" charset="-120"/>
              </a:rPr>
              <a:t>+0.29</a:t>
            </a:r>
            <a:endParaRPr lang="en-US" sz="1350" dirty="0"/>
          </a:p>
        </p:txBody>
      </p:sp>
      <p:sp>
        <p:nvSpPr>
          <p:cNvPr id="109" name="Text 91"/>
          <p:cNvSpPr txBox="1"/>
          <p:nvPr/>
        </p:nvSpPr>
        <p:spPr>
          <a:xfrm>
            <a:off x="6667805" y="6915607"/>
            <a:ext cx="3525012" cy="219456"/>
          </a:xfrm>
          <a:prstGeom prst="rect">
            <a:avLst/>
          </a:prstGeom>
          <a:noFill/>
          <a:ln/>
        </p:spPr>
        <p:txBody>
          <a:bodyPr wrap="none" lIns="0" tIns="0" rIns="0" bIns="0" rtlCol="0" anchor="ctr"/>
          <a:lstStyle/>
          <a:p>
            <a:pPr algn="l" indent="0" marL="0">
              <a:buNone/>
            </a:pPr>
            <a:r>
              <a:rPr lang="en-US" sz="1350" dirty="0">
                <a:solidFill>
                  <a:srgbClr val="34D399"/>
                </a:solidFill>
                <a:latin typeface="JetBrains Mono" pitchFamily="34" charset="0"/>
                <a:ea typeface="JetBrains Mono" pitchFamily="34" charset="-122"/>
                <a:cs typeface="JetBrains Mono" pitchFamily="34" charset="-120"/>
              </a:rPr>
              <a:t>+0.06 ★</a:t>
            </a:r>
            <a:endParaRPr lang="en-US" sz="1350" dirty="0"/>
          </a:p>
        </p:txBody>
      </p:sp>
      <p:sp>
        <p:nvSpPr>
          <p:cNvPr id="110" name="Text 92"/>
          <p:cNvSpPr txBox="1"/>
          <p:nvPr/>
        </p:nvSpPr>
        <p:spPr>
          <a:xfrm>
            <a:off x="10191902" y="6915607"/>
            <a:ext cx="3525012" cy="219456"/>
          </a:xfrm>
          <a:prstGeom prst="rect">
            <a:avLst/>
          </a:prstGeom>
          <a:noFill/>
          <a:ln/>
        </p:spPr>
        <p:txBody>
          <a:bodyPr wrap="none" lIns="0" tIns="0" rIns="0" bIns="0" rtlCol="0" anchor="ctr"/>
          <a:lstStyle/>
          <a:p>
            <a:pPr algn="l" indent="0" marL="0">
              <a:buNone/>
            </a:pPr>
            <a:r>
              <a:rPr lang="en-US" sz="1350" dirty="0">
                <a:solidFill>
                  <a:srgbClr val="F59E0B"/>
                </a:solidFill>
                <a:latin typeface="JetBrains Mono" pitchFamily="34" charset="0"/>
                <a:ea typeface="JetBrains Mono" pitchFamily="34" charset="-122"/>
                <a:cs typeface="JetBrains Mono" pitchFamily="34" charset="-120"/>
              </a:rPr>
              <a:t>−0.21</a:t>
            </a:r>
            <a:endParaRPr lang="en-US" sz="1350" dirty="0"/>
          </a:p>
        </p:txBody>
      </p:sp>
      <p:sp>
        <p:nvSpPr>
          <p:cNvPr id="111" name="Text 93"/>
          <p:cNvSpPr txBox="1"/>
          <p:nvPr/>
        </p:nvSpPr>
        <p:spPr>
          <a:xfrm>
            <a:off x="13716000" y="6943954"/>
            <a:ext cx="3525012"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112" name="Shape 94"/>
          <p:cNvSpPr/>
          <p:nvPr/>
        </p:nvSpPr>
        <p:spPr>
          <a:xfrm>
            <a:off x="1047902" y="7591349"/>
            <a:ext cx="16192195" cy="9144"/>
          </a:xfrm>
          <a:prstGeom prst="rect">
            <a:avLst/>
          </a:prstGeom>
          <a:solidFill>
            <a:srgbClr val="FFFFFF">
              <a:alpha val="6000"/>
            </a:srgbClr>
          </a:solidFill>
          <a:ln w="12700">
            <a:solidFill>
              <a:srgbClr val="FFFFFF">
                <a:alpha val="0"/>
              </a:srgbClr>
            </a:solidFill>
            <a:prstDash val="solid"/>
          </a:ln>
        </p:spPr>
      </p:sp>
      <p:sp>
        <p:nvSpPr>
          <p:cNvPr id="113" name="Text 95"/>
          <p:cNvSpPr txBox="1"/>
          <p:nvPr/>
        </p:nvSpPr>
        <p:spPr>
          <a:xfrm>
            <a:off x="1047902" y="7276795"/>
            <a:ext cx="2095805"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ASEI · Δ (nm)</a:t>
            </a:r>
            <a:endParaRPr lang="en-US" sz="1350" dirty="0"/>
          </a:p>
        </p:txBody>
      </p:sp>
      <p:sp>
        <p:nvSpPr>
          <p:cNvPr id="114" name="Text 96"/>
          <p:cNvSpPr txBox="1"/>
          <p:nvPr/>
        </p:nvSpPr>
        <p:spPr>
          <a:xfrm>
            <a:off x="3143707" y="7276795"/>
            <a:ext cx="3525012" cy="219456"/>
          </a:xfrm>
          <a:prstGeom prst="rect">
            <a:avLst/>
          </a:prstGeom>
          <a:noFill/>
          <a:ln/>
        </p:spPr>
        <p:txBody>
          <a:bodyPr wrap="none" lIns="0" tIns="0" rIns="0" bIns="0" rtlCol="0" anchor="ctr"/>
          <a:lstStyle/>
          <a:p>
            <a:pPr algn="l" indent="0" marL="0">
              <a:buNone/>
            </a:pPr>
            <a:r>
              <a:rPr lang="en-US" sz="1350" dirty="0">
                <a:solidFill>
                  <a:srgbClr val="22D3EE"/>
                </a:solidFill>
                <a:latin typeface="JetBrains Mono" pitchFamily="34" charset="0"/>
                <a:ea typeface="JetBrains Mono" pitchFamily="34" charset="-122"/>
                <a:cs typeface="JetBrains Mono" pitchFamily="34" charset="-120"/>
              </a:rPr>
              <a:t>+0.23</a:t>
            </a:r>
            <a:endParaRPr lang="en-US" sz="1350" dirty="0"/>
          </a:p>
        </p:txBody>
      </p:sp>
      <p:sp>
        <p:nvSpPr>
          <p:cNvPr id="115" name="Text 97"/>
          <p:cNvSpPr txBox="1"/>
          <p:nvPr/>
        </p:nvSpPr>
        <p:spPr>
          <a:xfrm>
            <a:off x="6667805" y="7276795"/>
            <a:ext cx="3525012" cy="219456"/>
          </a:xfrm>
          <a:prstGeom prst="rect">
            <a:avLst/>
          </a:prstGeom>
          <a:noFill/>
          <a:ln/>
        </p:spPr>
        <p:txBody>
          <a:bodyPr wrap="none" lIns="0" tIns="0" rIns="0" bIns="0" rtlCol="0" anchor="ctr"/>
          <a:lstStyle/>
          <a:p>
            <a:pPr algn="l" indent="0" marL="0">
              <a:buNone/>
            </a:pPr>
            <a:r>
              <a:rPr lang="en-US" sz="1350" dirty="0">
                <a:solidFill>
                  <a:srgbClr val="34D399"/>
                </a:solidFill>
                <a:latin typeface="JetBrains Mono" pitchFamily="34" charset="0"/>
                <a:ea typeface="JetBrains Mono" pitchFamily="34" charset="-122"/>
                <a:cs typeface="JetBrains Mono" pitchFamily="34" charset="-120"/>
              </a:rPr>
              <a:t>+0.02 ★</a:t>
            </a:r>
            <a:endParaRPr lang="en-US" sz="1350" dirty="0"/>
          </a:p>
        </p:txBody>
      </p:sp>
      <p:sp>
        <p:nvSpPr>
          <p:cNvPr id="116" name="Text 98"/>
          <p:cNvSpPr txBox="1"/>
          <p:nvPr/>
        </p:nvSpPr>
        <p:spPr>
          <a:xfrm>
            <a:off x="10191902" y="7276795"/>
            <a:ext cx="3525012" cy="219456"/>
          </a:xfrm>
          <a:prstGeom prst="rect">
            <a:avLst/>
          </a:prstGeom>
          <a:noFill/>
          <a:ln/>
        </p:spPr>
        <p:txBody>
          <a:bodyPr wrap="none" lIns="0" tIns="0" rIns="0" bIns="0" rtlCol="0" anchor="ctr"/>
          <a:lstStyle/>
          <a:p>
            <a:pPr algn="l" indent="0" marL="0">
              <a:buNone/>
            </a:pPr>
            <a:r>
              <a:rPr lang="en-US" sz="1350" dirty="0">
                <a:solidFill>
                  <a:srgbClr val="F59E0B"/>
                </a:solidFill>
                <a:latin typeface="JetBrains Mono" pitchFamily="34" charset="0"/>
                <a:ea typeface="JetBrains Mono" pitchFamily="34" charset="-122"/>
                <a:cs typeface="JetBrains Mono" pitchFamily="34" charset="-120"/>
              </a:rPr>
              <a:t>−0.25</a:t>
            </a:r>
            <a:endParaRPr lang="en-US" sz="1350" dirty="0"/>
          </a:p>
        </p:txBody>
      </p:sp>
      <p:sp>
        <p:nvSpPr>
          <p:cNvPr id="117" name="Text 99"/>
          <p:cNvSpPr txBox="1"/>
          <p:nvPr/>
        </p:nvSpPr>
        <p:spPr>
          <a:xfrm>
            <a:off x="13716000" y="7306056"/>
            <a:ext cx="3525012"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118" name="Text 100"/>
          <p:cNvSpPr txBox="1"/>
          <p:nvPr/>
        </p:nvSpPr>
        <p:spPr>
          <a:xfrm>
            <a:off x="1047902" y="7638898"/>
            <a:ext cx="2095805"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AMI · Δ (nm)</a:t>
            </a:r>
            <a:endParaRPr lang="en-US" sz="1350" dirty="0"/>
          </a:p>
        </p:txBody>
      </p:sp>
      <p:sp>
        <p:nvSpPr>
          <p:cNvPr id="119" name="Text 101"/>
          <p:cNvSpPr txBox="1"/>
          <p:nvPr/>
        </p:nvSpPr>
        <p:spPr>
          <a:xfrm>
            <a:off x="3143707" y="7638898"/>
            <a:ext cx="3525012" cy="219456"/>
          </a:xfrm>
          <a:prstGeom prst="rect">
            <a:avLst/>
          </a:prstGeom>
          <a:noFill/>
          <a:ln/>
        </p:spPr>
        <p:txBody>
          <a:bodyPr wrap="none" lIns="0" tIns="0" rIns="0" bIns="0" rtlCol="0" anchor="ctr"/>
          <a:lstStyle/>
          <a:p>
            <a:pPr algn="l" indent="0" marL="0">
              <a:buNone/>
            </a:pPr>
            <a:r>
              <a:rPr lang="en-US" sz="1350" dirty="0">
                <a:solidFill>
                  <a:srgbClr val="22D3EE"/>
                </a:solidFill>
                <a:latin typeface="JetBrains Mono" pitchFamily="34" charset="0"/>
                <a:ea typeface="JetBrains Mono" pitchFamily="34" charset="-122"/>
                <a:cs typeface="JetBrains Mono" pitchFamily="34" charset="-120"/>
              </a:rPr>
              <a:t>+0.23</a:t>
            </a:r>
            <a:endParaRPr lang="en-US" sz="1350" dirty="0"/>
          </a:p>
        </p:txBody>
      </p:sp>
      <p:sp>
        <p:nvSpPr>
          <p:cNvPr id="120" name="Text 102"/>
          <p:cNvSpPr txBox="1"/>
          <p:nvPr/>
        </p:nvSpPr>
        <p:spPr>
          <a:xfrm>
            <a:off x="6667805" y="7638898"/>
            <a:ext cx="3525012" cy="219456"/>
          </a:xfrm>
          <a:prstGeom prst="rect">
            <a:avLst/>
          </a:prstGeom>
          <a:noFill/>
          <a:ln/>
        </p:spPr>
        <p:txBody>
          <a:bodyPr wrap="none" lIns="0" tIns="0" rIns="0" bIns="0" rtlCol="0" anchor="ctr"/>
          <a:lstStyle/>
          <a:p>
            <a:pPr algn="l" indent="0" marL="0">
              <a:buNone/>
            </a:pPr>
            <a:r>
              <a:rPr lang="en-US" sz="1350" dirty="0">
                <a:solidFill>
                  <a:srgbClr val="34D399"/>
                </a:solidFill>
                <a:latin typeface="JetBrains Mono" pitchFamily="34" charset="0"/>
                <a:ea typeface="JetBrains Mono" pitchFamily="34" charset="-122"/>
                <a:cs typeface="JetBrains Mono" pitchFamily="34" charset="-120"/>
              </a:rPr>
              <a:t>+0.05 ★</a:t>
            </a:r>
            <a:endParaRPr lang="en-US" sz="1350" dirty="0"/>
          </a:p>
        </p:txBody>
      </p:sp>
      <p:sp>
        <p:nvSpPr>
          <p:cNvPr id="121" name="Text 103"/>
          <p:cNvSpPr txBox="1"/>
          <p:nvPr/>
        </p:nvSpPr>
        <p:spPr>
          <a:xfrm>
            <a:off x="10191902" y="7638898"/>
            <a:ext cx="3525012" cy="219456"/>
          </a:xfrm>
          <a:prstGeom prst="rect">
            <a:avLst/>
          </a:prstGeom>
          <a:noFill/>
          <a:ln/>
        </p:spPr>
        <p:txBody>
          <a:bodyPr wrap="none" lIns="0" tIns="0" rIns="0" bIns="0" rtlCol="0" anchor="ctr"/>
          <a:lstStyle/>
          <a:p>
            <a:pPr algn="l" indent="0" marL="0">
              <a:buNone/>
            </a:pPr>
            <a:r>
              <a:rPr lang="en-US" sz="1350" dirty="0">
                <a:solidFill>
                  <a:srgbClr val="F59E0B"/>
                </a:solidFill>
                <a:latin typeface="JetBrains Mono" pitchFamily="34" charset="0"/>
                <a:ea typeface="JetBrains Mono" pitchFamily="34" charset="-122"/>
                <a:cs typeface="JetBrains Mono" pitchFamily="34" charset="-120"/>
              </a:rPr>
              <a:t>−0.14</a:t>
            </a:r>
            <a:endParaRPr lang="en-US" sz="1350" dirty="0"/>
          </a:p>
        </p:txBody>
      </p:sp>
      <p:sp>
        <p:nvSpPr>
          <p:cNvPr id="122" name="Text 104"/>
          <p:cNvSpPr txBox="1"/>
          <p:nvPr/>
        </p:nvSpPr>
        <p:spPr>
          <a:xfrm>
            <a:off x="13716000" y="7667244"/>
            <a:ext cx="3525012"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123" name="Text 105"/>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34D399"/>
                </a:solidFill>
                <a:latin typeface="JetBrains Mono" pitchFamily="34" charset="0"/>
                <a:ea typeface="JetBrains Mono" pitchFamily="34" charset="-122"/>
                <a:cs typeface="JetBrains Mono" pitchFamily="34" charset="-120"/>
              </a:rPr>
              <a:t>KEY TAKEAWAY</a:t>
            </a:r>
            <a:endParaRPr lang="en-US" sz="900" dirty="0"/>
          </a:p>
        </p:txBody>
      </p:sp>
      <p:pic>
        <p:nvPicPr>
          <p:cNvPr id="124" name="Image 15" descr="gen-dedup-a1859ed18a5643c89d5696e5133d62cb.png">    </p:cNvPr>
          <p:cNvPicPr>
            <a:picLocks noChangeAspect="1"/>
          </p:cNvPicPr>
          <p:nvPr/>
        </p:nvPicPr>
        <p:blipFill>
          <a:blip r:embed="rId16"/>
          <a:srcRect l="-2083" r="-2083" t="0" b="0"/>
          <a:stretch/>
        </p:blipFill>
        <p:spPr>
          <a:xfrm>
            <a:off x="2325319" y="8904427"/>
            <a:ext cx="228600" cy="9144"/>
          </a:xfrm>
          <a:prstGeom prst="rect">
            <a:avLst/>
          </a:prstGeom>
        </p:spPr>
      </p:pic>
      <p:sp>
        <p:nvSpPr>
          <p:cNvPr id="125" name="Text 106"/>
          <p:cNvSpPr txBox="1"/>
          <p:nvPr/>
        </p:nvSpPr>
        <p:spPr>
          <a:xfrm>
            <a:off x="2724912" y="8762695"/>
            <a:ext cx="8887054"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Split B가 4 metric 모두에서 target에 가장 가까움 — A는 +편향, C는 −편향이 일관되게 나타난다.</a:t>
            </a:r>
            <a:endParaRPr lang="en-US" sz="1650" dirty="0"/>
          </a:p>
        </p:txBody>
      </p:sp>
      <p:sp>
        <p:nvSpPr>
          <p:cNvPr id="126" name="Text 107"/>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761695" y="2476195"/>
            <a:ext cx="16782898" cy="5924398"/>
          </a:xfrm>
          <a:prstGeom prst="rect">
            <a:avLst/>
          </a:prstGeom>
          <a:solidFill>
            <a:srgbClr val="131A2D"/>
          </a:solidFill>
          <a:ln w="12700">
            <a:solidFill>
              <a:srgbClr val="00D4FF">
                <a:alpha val="18000"/>
              </a:srgbClr>
            </a:solidFill>
            <a:prstDash val="solid"/>
          </a:ln>
        </p:spPr>
      </p:sp>
      <p:pic>
        <p:nvPicPr>
          <p:cNvPr id="4" name="Image 0" descr="gen-dedup-24685c2c0c07f1e6761e9b0bcb9b353c.png">    </p:cNvPr>
          <p:cNvPicPr>
            <a:picLocks noChangeAspect="1"/>
          </p:cNvPicPr>
          <p:nvPr/>
        </p:nvPicPr>
        <p:blipFill>
          <a:blip r:embed="rId1"/>
          <a:srcRect l="0" r="0" t="-30" b="-30"/>
          <a:stretch/>
        </p:blipFill>
        <p:spPr>
          <a:xfrm>
            <a:off x="761695" y="8667598"/>
            <a:ext cx="16792956" cy="743407"/>
          </a:xfrm>
          <a:prstGeom prst="rect">
            <a:avLst/>
          </a:prstGeom>
        </p:spPr>
      </p:pic>
      <p:pic>
        <p:nvPicPr>
          <p:cNvPr id="5" name="Image 1" descr="gen-dedup-254703a04c84b6a855582b8f89c36dca.png">    </p:cNvPr>
          <p:cNvPicPr>
            <a:picLocks noChangeAspect="1"/>
          </p:cNvPicPr>
          <p:nvPr/>
        </p:nvPicPr>
        <p:blipFill>
          <a:blip r:embed="rId2"/>
          <a:srcRect l="-2083" r="-2083" t="0" b="0"/>
          <a:stretch/>
        </p:blipFill>
        <p:spPr>
          <a:xfrm>
            <a:off x="761695" y="857707"/>
            <a:ext cx="16763695" cy="9144"/>
          </a:xfrm>
          <a:prstGeom prst="rect">
            <a:avLst/>
          </a:prstGeom>
        </p:spPr>
      </p:pic>
      <p:sp>
        <p:nvSpPr>
          <p:cNvPr id="6" name="Shape 1"/>
          <p:cNvSpPr/>
          <p:nvPr/>
        </p:nvSpPr>
        <p:spPr>
          <a:xfrm>
            <a:off x="761695" y="500177"/>
            <a:ext cx="75895" cy="75895"/>
          </a:xfrm>
          <a:prstGeom prst="rect">
            <a:avLst/>
          </a:prstGeom>
          <a:solidFill>
            <a:srgbClr val="F59E0B"/>
          </a:solidFill>
          <a:ln w="12700">
            <a:solidFill>
              <a:srgbClr val="FFFFFF">
                <a:alpha val="0"/>
              </a:srgbClr>
            </a:solidFill>
            <a:prstDash val="solid"/>
          </a:ln>
          <a:effectLst>
            <a:outerShdw sx="100000" sy="100000" kx="0" ky="0" algn="bl" rotWithShape="0" blurRad="114300" dist="12700" dir="16200000">
              <a:srgbClr val="f59e0b">
                <a:alpha val="100000"/>
              </a:srgbClr>
            </a:outerShdw>
          </a:effectLst>
        </p:spPr>
      </p:sp>
      <p:sp>
        <p:nvSpPr>
          <p:cNvPr id="7" name="Text 2"/>
          <p:cNvSpPr txBox="1"/>
          <p:nvPr/>
        </p:nvSpPr>
        <p:spPr>
          <a:xfrm>
            <a:off x="952805" y="457200"/>
            <a:ext cx="2761488" cy="162763"/>
          </a:xfrm>
          <a:prstGeom prst="rect">
            <a:avLst/>
          </a:prstGeom>
          <a:noFill/>
          <a:ln/>
        </p:spPr>
        <p:txBody>
          <a:bodyPr wrap="none" lIns="0" tIns="0" rIns="0" bIns="0" rtlCol="0" anchor="ctr"/>
          <a:lstStyle/>
          <a:p>
            <a:pPr algn="l" indent="0" marL="0">
              <a:buNone/>
            </a:pPr>
            <a:r>
              <a:rPr lang="en-US" sz="1050" spc="294" kern="0" dirty="0">
                <a:solidFill>
                  <a:srgbClr val="F59E0B"/>
                </a:solidFill>
                <a:latin typeface="Inter" pitchFamily="34" charset="0"/>
                <a:ea typeface="Inter" pitchFamily="34" charset="-122"/>
                <a:cs typeface="Inter" pitchFamily="34" charset="-120"/>
              </a:rPr>
              <a:t>SLIDE 04 · CD Variation</a:t>
            </a:r>
            <a:endParaRPr lang="en-US" sz="1050" dirty="0"/>
          </a:p>
        </p:txBody>
      </p:sp>
      <p:sp>
        <p:nvSpPr>
          <p:cNvPr id="8" name="Text 3"/>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4 METRICS · 6 WAFERS · MEAN / 3σ / Δ</a:t>
            </a:r>
            <a:endParaRPr lang="en-US" sz="1200" dirty="0"/>
          </a:p>
        </p:txBody>
      </p:sp>
      <p:sp>
        <p:nvSpPr>
          <p:cNvPr id="9" name="Text 4"/>
          <p:cNvSpPr txBox="1"/>
          <p:nvPr/>
        </p:nvSpPr>
        <p:spPr>
          <a:xfrm>
            <a:off x="761695" y="1143000"/>
            <a:ext cx="14287500" cy="467258"/>
          </a:xfrm>
          <a:prstGeom prst="rect">
            <a:avLst/>
          </a:prstGeom>
          <a:noFill/>
          <a:ln/>
        </p:spPr>
        <p:txBody>
          <a:bodyPr wrap="none" lIns="0" tIns="0" rIns="0" bIns="0" rtlCol="0" anchor="ctr"/>
          <a:lstStyle/>
          <a:p>
            <a:pPr algn="l" indent="0" marL="0">
              <a:buNone/>
            </a:pPr>
            <a:r>
              <a:rPr lang="en-US" sz="3300" b="1" spc="-33" kern="0" dirty="0">
                <a:solidFill>
                  <a:srgbClr val="E6EDF7"/>
                </a:solidFill>
                <a:latin typeface="Inter" pitchFamily="34" charset="0"/>
                <a:ea typeface="Inter" pitchFamily="34" charset="-122"/>
                <a:cs typeface="Inter" pitchFamily="34" charset="-120"/>
              </a:rPr>
              <a:t>Wafer별 CD 상세 · mean / 3σ / Δ-target</a:t>
            </a:r>
            <a:endParaRPr lang="en-US" sz="3300" dirty="0"/>
          </a:p>
        </p:txBody>
      </p:sp>
      <p:sp>
        <p:nvSpPr>
          <p:cNvPr id="10" name="Text 5"/>
          <p:cNvSpPr txBox="1"/>
          <p:nvPr/>
        </p:nvSpPr>
        <p:spPr>
          <a:xfrm>
            <a:off x="761695" y="1737360"/>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동일 lot 내 6 wafer에 대해 4 metric의 평균·3σ·target 오차를 wafer 단위로 표시. Δ가 ±0.10 nm 이내면 합격(green) 톤으로 표기.</a:t>
            </a:r>
            <a:endParaRPr lang="en-US" sz="1500" dirty="0"/>
          </a:p>
        </p:txBody>
      </p:sp>
      <p:sp>
        <p:nvSpPr>
          <p:cNvPr id="11" name="Text 6"/>
          <p:cNvSpPr txBox="1"/>
          <p:nvPr/>
        </p:nvSpPr>
        <p:spPr>
          <a:xfrm>
            <a:off x="761695" y="2476195"/>
            <a:ext cx="1714500" cy="571500"/>
          </a:xfrm>
          <a:prstGeom prst="rect">
            <a:avLst/>
          </a:prstGeom>
          <a:noFill/>
          <a:ln/>
        </p:spPr>
        <p:txBody>
          <a:bodyPr wrap="squar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WAFER</a:t>
            </a:r>
            <a:endParaRPr lang="en-US" sz="825" dirty="0"/>
          </a:p>
        </p:txBody>
      </p:sp>
      <p:pic>
        <p:nvPicPr>
          <p:cNvPr id="12" name="Image 2" descr="gen-dedup-c867fc31472252c6690366a53bcb6450.png">    </p:cNvPr>
          <p:cNvPicPr>
            <a:picLocks noChangeAspect="1"/>
          </p:cNvPicPr>
          <p:nvPr/>
        </p:nvPicPr>
        <p:blipFill>
          <a:blip r:embed="rId3"/>
          <a:srcRect l="0" r="0" t="-420" b="-420"/>
          <a:stretch/>
        </p:blipFill>
        <p:spPr>
          <a:xfrm>
            <a:off x="2476195" y="2476195"/>
            <a:ext cx="761695" cy="38405"/>
          </a:xfrm>
          <a:prstGeom prst="rect">
            <a:avLst/>
          </a:prstGeom>
        </p:spPr>
      </p:pic>
      <p:sp>
        <p:nvSpPr>
          <p:cNvPr id="13" name="Text 7"/>
          <p:cNvSpPr txBox="1"/>
          <p:nvPr/>
        </p:nvSpPr>
        <p:spPr>
          <a:xfrm>
            <a:off x="2476195" y="2476195"/>
            <a:ext cx="3762756" cy="381305"/>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AASI · target 24.1 nm</a:t>
            </a:r>
            <a:endParaRPr lang="en-US" sz="1650" dirty="0"/>
          </a:p>
        </p:txBody>
      </p:sp>
      <p:pic>
        <p:nvPicPr>
          <p:cNvPr id="14" name="Image 3" descr="gen-dedup-c867fc31472252c6690366a53bcb6450.png">    </p:cNvPr>
          <p:cNvPicPr>
            <a:picLocks noChangeAspect="1"/>
          </p:cNvPicPr>
          <p:nvPr/>
        </p:nvPicPr>
        <p:blipFill>
          <a:blip r:embed="rId4"/>
          <a:srcRect l="0" r="0" t="-420" b="-420"/>
          <a:stretch/>
        </p:blipFill>
        <p:spPr>
          <a:xfrm>
            <a:off x="6238951" y="2476195"/>
            <a:ext cx="761695" cy="38405"/>
          </a:xfrm>
          <a:prstGeom prst="rect">
            <a:avLst/>
          </a:prstGeom>
        </p:spPr>
      </p:pic>
      <p:sp>
        <p:nvSpPr>
          <p:cNvPr id="15" name="Text 8"/>
          <p:cNvSpPr txBox="1"/>
          <p:nvPr/>
        </p:nvSpPr>
        <p:spPr>
          <a:xfrm>
            <a:off x="6238951" y="2476195"/>
            <a:ext cx="3762756" cy="381305"/>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ASEI · target 17.2 nm</a:t>
            </a:r>
            <a:endParaRPr lang="en-US" sz="1650" dirty="0"/>
          </a:p>
        </p:txBody>
      </p:sp>
      <p:pic>
        <p:nvPicPr>
          <p:cNvPr id="16" name="Image 4" descr="gen-dedup-c867fc31472252c6690366a53bcb6450.png">    </p:cNvPr>
          <p:cNvPicPr>
            <a:picLocks noChangeAspect="1"/>
          </p:cNvPicPr>
          <p:nvPr/>
        </p:nvPicPr>
        <p:blipFill>
          <a:blip r:embed="rId5"/>
          <a:srcRect l="0" r="0" t="-420" b="-420"/>
          <a:stretch/>
        </p:blipFill>
        <p:spPr>
          <a:xfrm>
            <a:off x="10001707" y="2476195"/>
            <a:ext cx="761695" cy="38405"/>
          </a:xfrm>
          <a:prstGeom prst="rect">
            <a:avLst/>
          </a:prstGeom>
        </p:spPr>
      </p:pic>
      <p:sp>
        <p:nvSpPr>
          <p:cNvPr id="17" name="Text 9"/>
          <p:cNvSpPr txBox="1"/>
          <p:nvPr/>
        </p:nvSpPr>
        <p:spPr>
          <a:xfrm>
            <a:off x="10001707" y="2476195"/>
            <a:ext cx="3762756" cy="381305"/>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AMI · target 8.1 nm</a:t>
            </a:r>
            <a:endParaRPr lang="en-US" sz="1650" dirty="0"/>
          </a:p>
        </p:txBody>
      </p:sp>
      <p:pic>
        <p:nvPicPr>
          <p:cNvPr id="18" name="Image 5" descr="gen-dedup-c867fc31472252c6690366a53bcb6450.png">    </p:cNvPr>
          <p:cNvPicPr>
            <a:picLocks noChangeAspect="1"/>
          </p:cNvPicPr>
          <p:nvPr/>
        </p:nvPicPr>
        <p:blipFill>
          <a:blip r:embed="rId6"/>
          <a:srcRect l="0" r="0" t="-420" b="-420"/>
          <a:stretch/>
        </p:blipFill>
        <p:spPr>
          <a:xfrm>
            <a:off x="13763549" y="2476195"/>
            <a:ext cx="761695" cy="38405"/>
          </a:xfrm>
          <a:prstGeom prst="rect">
            <a:avLst/>
          </a:prstGeom>
        </p:spPr>
      </p:pic>
      <p:sp>
        <p:nvSpPr>
          <p:cNvPr id="19" name="Text 10"/>
          <p:cNvSpPr txBox="1"/>
          <p:nvPr/>
        </p:nvSpPr>
        <p:spPr>
          <a:xfrm>
            <a:off x="13763549" y="2476195"/>
            <a:ext cx="3762756" cy="381305"/>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ACI · target 8.4 nm</a:t>
            </a:r>
            <a:endParaRPr lang="en-US" sz="1650" dirty="0"/>
          </a:p>
        </p:txBody>
      </p:sp>
      <p:pic>
        <p:nvPicPr>
          <p:cNvPr id="20" name="Image 6" descr="gen-dedup-254703a04c84b6a855582b8f89c36dca.png">    </p:cNvPr>
          <p:cNvPicPr>
            <a:picLocks noChangeAspect="1"/>
          </p:cNvPicPr>
          <p:nvPr/>
        </p:nvPicPr>
        <p:blipFill>
          <a:blip r:embed="rId7"/>
          <a:srcRect l="-2083" r="-2083" t="0" b="0"/>
          <a:stretch/>
        </p:blipFill>
        <p:spPr>
          <a:xfrm>
            <a:off x="761695" y="3038551"/>
            <a:ext cx="16763695" cy="9144"/>
          </a:xfrm>
          <a:prstGeom prst="rect">
            <a:avLst/>
          </a:prstGeom>
        </p:spPr>
      </p:pic>
      <p:sp>
        <p:nvSpPr>
          <p:cNvPr id="21" name="Text 11"/>
          <p:cNvSpPr txBox="1"/>
          <p:nvPr/>
        </p:nvSpPr>
        <p:spPr>
          <a:xfrm>
            <a:off x="2704795"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mean</a:t>
            </a:r>
            <a:endParaRPr lang="en-US" sz="900" dirty="0"/>
          </a:p>
        </p:txBody>
      </p:sp>
      <p:sp>
        <p:nvSpPr>
          <p:cNvPr id="22" name="Text 12"/>
          <p:cNvSpPr txBox="1"/>
          <p:nvPr/>
        </p:nvSpPr>
        <p:spPr>
          <a:xfrm>
            <a:off x="3882542"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3σ</a:t>
            </a:r>
            <a:endParaRPr lang="en-US" sz="900" dirty="0"/>
          </a:p>
        </p:txBody>
      </p:sp>
      <p:sp>
        <p:nvSpPr>
          <p:cNvPr id="23" name="Text 13"/>
          <p:cNvSpPr txBox="1"/>
          <p:nvPr/>
        </p:nvSpPr>
        <p:spPr>
          <a:xfrm>
            <a:off x="5061204"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Δ vs tgt</a:t>
            </a:r>
            <a:endParaRPr lang="en-US" sz="900" dirty="0"/>
          </a:p>
        </p:txBody>
      </p:sp>
      <p:sp>
        <p:nvSpPr>
          <p:cNvPr id="24" name="Text 14"/>
          <p:cNvSpPr txBox="1"/>
          <p:nvPr/>
        </p:nvSpPr>
        <p:spPr>
          <a:xfrm>
            <a:off x="6467551"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mean</a:t>
            </a:r>
            <a:endParaRPr lang="en-US" sz="900" dirty="0"/>
          </a:p>
        </p:txBody>
      </p:sp>
      <p:sp>
        <p:nvSpPr>
          <p:cNvPr id="25" name="Text 15"/>
          <p:cNvSpPr txBox="1"/>
          <p:nvPr/>
        </p:nvSpPr>
        <p:spPr>
          <a:xfrm>
            <a:off x="7645298"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3σ</a:t>
            </a:r>
            <a:endParaRPr lang="en-US" sz="900" dirty="0"/>
          </a:p>
        </p:txBody>
      </p:sp>
      <p:sp>
        <p:nvSpPr>
          <p:cNvPr id="26" name="Text 16"/>
          <p:cNvSpPr txBox="1"/>
          <p:nvPr/>
        </p:nvSpPr>
        <p:spPr>
          <a:xfrm>
            <a:off x="8823046"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Δ vs tgt</a:t>
            </a:r>
            <a:endParaRPr lang="en-US" sz="900" dirty="0"/>
          </a:p>
        </p:txBody>
      </p:sp>
      <p:sp>
        <p:nvSpPr>
          <p:cNvPr id="27" name="Text 17"/>
          <p:cNvSpPr txBox="1"/>
          <p:nvPr/>
        </p:nvSpPr>
        <p:spPr>
          <a:xfrm>
            <a:off x="10230307"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mean</a:t>
            </a:r>
            <a:endParaRPr lang="en-US" sz="900" dirty="0"/>
          </a:p>
        </p:txBody>
      </p:sp>
      <p:sp>
        <p:nvSpPr>
          <p:cNvPr id="28" name="Text 18"/>
          <p:cNvSpPr txBox="1"/>
          <p:nvPr/>
        </p:nvSpPr>
        <p:spPr>
          <a:xfrm>
            <a:off x="11408054"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3σ</a:t>
            </a:r>
            <a:endParaRPr lang="en-US" sz="900" dirty="0"/>
          </a:p>
        </p:txBody>
      </p:sp>
      <p:sp>
        <p:nvSpPr>
          <p:cNvPr id="29" name="Text 19"/>
          <p:cNvSpPr txBox="1"/>
          <p:nvPr/>
        </p:nvSpPr>
        <p:spPr>
          <a:xfrm>
            <a:off x="12585802"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Δ vs tgt</a:t>
            </a:r>
            <a:endParaRPr lang="en-US" sz="900" dirty="0"/>
          </a:p>
        </p:txBody>
      </p:sp>
      <p:sp>
        <p:nvSpPr>
          <p:cNvPr id="30" name="Text 20"/>
          <p:cNvSpPr txBox="1"/>
          <p:nvPr/>
        </p:nvSpPr>
        <p:spPr>
          <a:xfrm>
            <a:off x="13992149"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mean</a:t>
            </a:r>
            <a:endParaRPr lang="en-US" sz="900" dirty="0"/>
          </a:p>
        </p:txBody>
      </p:sp>
      <p:sp>
        <p:nvSpPr>
          <p:cNvPr id="31" name="Text 21"/>
          <p:cNvSpPr txBox="1"/>
          <p:nvPr/>
        </p:nvSpPr>
        <p:spPr>
          <a:xfrm>
            <a:off x="15169896"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3σ</a:t>
            </a:r>
            <a:endParaRPr lang="en-US" sz="900" dirty="0"/>
          </a:p>
        </p:txBody>
      </p:sp>
      <p:sp>
        <p:nvSpPr>
          <p:cNvPr id="32" name="Text 22"/>
          <p:cNvSpPr txBox="1"/>
          <p:nvPr/>
        </p:nvSpPr>
        <p:spPr>
          <a:xfrm>
            <a:off x="16347643" y="3047695"/>
            <a:ext cx="1181405" cy="400507"/>
          </a:xfrm>
          <a:prstGeom prst="rect">
            <a:avLst/>
          </a:prstGeom>
          <a:noFill/>
          <a:ln/>
        </p:spPr>
        <p:txBody>
          <a:bodyPr wrap="square" lIns="0" tIns="0" rIns="0" bIns="0" rtlCol="0" anchor="ctr"/>
          <a:lstStyle/>
          <a:p>
            <a:pPr algn="l" indent="0" marL="0">
              <a:buNone/>
            </a:pPr>
            <a:r>
              <a:rPr lang="en-US" sz="900" spc="144" kern="0" dirty="0">
                <a:solidFill>
                  <a:srgbClr val="5C6478"/>
                </a:solidFill>
                <a:latin typeface="JetBrains Mono" pitchFamily="34" charset="0"/>
                <a:ea typeface="JetBrains Mono" pitchFamily="34" charset="-122"/>
                <a:cs typeface="JetBrains Mono" pitchFamily="34" charset="-120"/>
              </a:rPr>
              <a:t>Δ vs tgt</a:t>
            </a:r>
            <a:endParaRPr lang="en-US" sz="900" dirty="0"/>
          </a:p>
        </p:txBody>
      </p:sp>
      <p:pic>
        <p:nvPicPr>
          <p:cNvPr id="33" name="Image 7" descr="gen-dedup-fa75a65cc9629246e5c7e832fb9827e2.png">    </p:cNvPr>
          <p:cNvPicPr>
            <a:picLocks noChangeAspect="1"/>
          </p:cNvPicPr>
          <p:nvPr/>
        </p:nvPicPr>
        <p:blipFill>
          <a:blip r:embed="rId8"/>
          <a:srcRect l="-2083" r="-2083" t="0" b="0"/>
          <a:stretch/>
        </p:blipFill>
        <p:spPr>
          <a:xfrm>
            <a:off x="761695" y="3438144"/>
            <a:ext cx="16763695" cy="9144"/>
          </a:xfrm>
          <a:prstGeom prst="rect">
            <a:avLst/>
          </a:prstGeom>
        </p:spPr>
      </p:pic>
      <p:sp>
        <p:nvSpPr>
          <p:cNvPr id="34" name="Text 23"/>
          <p:cNvSpPr txBox="1"/>
          <p:nvPr/>
        </p:nvSpPr>
        <p:spPr>
          <a:xfrm>
            <a:off x="2704795"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24.42</a:t>
            </a:r>
            <a:endParaRPr lang="en-US" sz="1500" dirty="0"/>
          </a:p>
        </p:txBody>
      </p:sp>
      <p:sp>
        <p:nvSpPr>
          <p:cNvPr id="35" name="Text 24"/>
          <p:cNvSpPr txBox="1"/>
          <p:nvPr/>
        </p:nvSpPr>
        <p:spPr>
          <a:xfrm>
            <a:off x="3882542"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1.72</a:t>
            </a:r>
            <a:endParaRPr lang="en-US" sz="1500" dirty="0"/>
          </a:p>
        </p:txBody>
      </p:sp>
      <p:sp>
        <p:nvSpPr>
          <p:cNvPr id="36" name="Text 25"/>
          <p:cNvSpPr txBox="1"/>
          <p:nvPr/>
        </p:nvSpPr>
        <p:spPr>
          <a:xfrm>
            <a:off x="5061204" y="37243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+0.32</a:t>
            </a:r>
            <a:endParaRPr lang="en-US" sz="1500" dirty="0"/>
          </a:p>
        </p:txBody>
      </p:sp>
      <p:sp>
        <p:nvSpPr>
          <p:cNvPr id="37" name="Text 26"/>
          <p:cNvSpPr txBox="1"/>
          <p:nvPr/>
        </p:nvSpPr>
        <p:spPr>
          <a:xfrm>
            <a:off x="6467551"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17.45</a:t>
            </a:r>
            <a:endParaRPr lang="en-US" sz="1500" dirty="0"/>
          </a:p>
        </p:txBody>
      </p:sp>
      <p:sp>
        <p:nvSpPr>
          <p:cNvPr id="38" name="Text 27"/>
          <p:cNvSpPr txBox="1"/>
          <p:nvPr/>
        </p:nvSpPr>
        <p:spPr>
          <a:xfrm>
            <a:off x="7645298"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1.18</a:t>
            </a:r>
            <a:endParaRPr lang="en-US" sz="1500" dirty="0"/>
          </a:p>
        </p:txBody>
      </p:sp>
      <p:sp>
        <p:nvSpPr>
          <p:cNvPr id="39" name="Text 28"/>
          <p:cNvSpPr txBox="1"/>
          <p:nvPr/>
        </p:nvSpPr>
        <p:spPr>
          <a:xfrm>
            <a:off x="8823046" y="37243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+0.25</a:t>
            </a:r>
            <a:endParaRPr lang="en-US" sz="1500" dirty="0"/>
          </a:p>
        </p:txBody>
      </p:sp>
      <p:sp>
        <p:nvSpPr>
          <p:cNvPr id="40" name="Text 29"/>
          <p:cNvSpPr txBox="1"/>
          <p:nvPr/>
        </p:nvSpPr>
        <p:spPr>
          <a:xfrm>
            <a:off x="10230307"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8.34</a:t>
            </a:r>
            <a:endParaRPr lang="en-US" sz="1500" dirty="0"/>
          </a:p>
        </p:txBody>
      </p:sp>
      <p:sp>
        <p:nvSpPr>
          <p:cNvPr id="41" name="Text 30"/>
          <p:cNvSpPr txBox="1"/>
          <p:nvPr/>
        </p:nvSpPr>
        <p:spPr>
          <a:xfrm>
            <a:off x="11408054"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0.62</a:t>
            </a:r>
            <a:endParaRPr lang="en-US" sz="1500" dirty="0"/>
          </a:p>
        </p:txBody>
      </p:sp>
      <p:sp>
        <p:nvSpPr>
          <p:cNvPr id="42" name="Text 31"/>
          <p:cNvSpPr txBox="1"/>
          <p:nvPr/>
        </p:nvSpPr>
        <p:spPr>
          <a:xfrm>
            <a:off x="12585802" y="37243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+0.24</a:t>
            </a:r>
            <a:endParaRPr lang="en-US" sz="1500" dirty="0"/>
          </a:p>
        </p:txBody>
      </p:sp>
      <p:sp>
        <p:nvSpPr>
          <p:cNvPr id="43" name="Text 32"/>
          <p:cNvSpPr txBox="1"/>
          <p:nvPr/>
        </p:nvSpPr>
        <p:spPr>
          <a:xfrm>
            <a:off x="13992149"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8.62</a:t>
            </a:r>
            <a:endParaRPr lang="en-US" sz="1500" dirty="0"/>
          </a:p>
        </p:txBody>
      </p:sp>
      <p:sp>
        <p:nvSpPr>
          <p:cNvPr id="44" name="Text 33"/>
          <p:cNvSpPr txBox="1"/>
          <p:nvPr/>
        </p:nvSpPr>
        <p:spPr>
          <a:xfrm>
            <a:off x="15169896" y="37243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0.69</a:t>
            </a:r>
            <a:endParaRPr lang="en-US" sz="1500" dirty="0"/>
          </a:p>
        </p:txBody>
      </p:sp>
      <p:sp>
        <p:nvSpPr>
          <p:cNvPr id="45" name="Text 34"/>
          <p:cNvSpPr txBox="1"/>
          <p:nvPr/>
        </p:nvSpPr>
        <p:spPr>
          <a:xfrm>
            <a:off x="16347643" y="37243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+0.22</a:t>
            </a:r>
            <a:endParaRPr lang="en-US" sz="1500" dirty="0"/>
          </a:p>
        </p:txBody>
      </p:sp>
      <p:pic>
        <p:nvPicPr>
          <p:cNvPr id="46" name="Image 8" descr="gen-dedup-408fd89e97e27d6f77b4fc0d145a727a.png">    </p:cNvPr>
          <p:cNvPicPr>
            <a:picLocks noChangeAspect="1"/>
          </p:cNvPicPr>
          <p:nvPr/>
        </p:nvPicPr>
        <p:blipFill>
          <a:blip r:embed="rId9"/>
          <a:srcRect l="-400" r="-400" t="0" b="0"/>
          <a:stretch/>
        </p:blipFill>
        <p:spPr>
          <a:xfrm>
            <a:off x="990295" y="3676802"/>
            <a:ext cx="57607" cy="342900"/>
          </a:xfrm>
          <a:prstGeom prst="rect">
            <a:avLst/>
          </a:prstGeom>
        </p:spPr>
      </p:pic>
      <p:sp>
        <p:nvSpPr>
          <p:cNvPr id="47" name="Text 35"/>
          <p:cNvSpPr txBox="1"/>
          <p:nvPr/>
        </p:nvSpPr>
        <p:spPr>
          <a:xfrm>
            <a:off x="1181405" y="3700577"/>
            <a:ext cx="534010"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W01</a:t>
            </a:r>
            <a:endParaRPr lang="en-US" sz="1950" dirty="0"/>
          </a:p>
        </p:txBody>
      </p:sp>
      <p:sp>
        <p:nvSpPr>
          <p:cNvPr id="48" name="Text 36"/>
          <p:cNvSpPr txBox="1"/>
          <p:nvPr/>
        </p:nvSpPr>
        <p:spPr>
          <a:xfrm>
            <a:off x="1788566" y="3772814"/>
            <a:ext cx="76810" cy="152705"/>
          </a:xfrm>
          <a:prstGeom prst="rect">
            <a:avLst/>
          </a:prstGeom>
          <a:noFill/>
          <a:ln/>
        </p:spPr>
        <p:txBody>
          <a:bodyPr wrap="none" lIns="0" tIns="0" rIns="0" bIns="0" rtlCol="0" anchor="ctr"/>
          <a:lstStyle/>
          <a:p>
            <a:pPr algn="l" indent="0" marL="0">
              <a:buNone/>
            </a:pPr>
            <a:r>
              <a:rPr lang="en-US" sz="900" dirty="0">
                <a:solidFill>
                  <a:srgbClr val="22D3EE"/>
                </a:solidFill>
                <a:latin typeface="JetBrains Mono" pitchFamily="34" charset="0"/>
                <a:ea typeface="JetBrains Mono" pitchFamily="34" charset="-122"/>
                <a:cs typeface="JetBrains Mono" pitchFamily="34" charset="-120"/>
              </a:rPr>
              <a:t>A</a:t>
            </a:r>
            <a:endParaRPr lang="en-US" sz="900" dirty="0"/>
          </a:p>
        </p:txBody>
      </p:sp>
      <p:pic>
        <p:nvPicPr>
          <p:cNvPr id="49" name="Image 9" descr="gen-dedup-fa75a65cc9629246e5c7e832fb9827e2.png">    </p:cNvPr>
          <p:cNvPicPr>
            <a:picLocks noChangeAspect="1"/>
          </p:cNvPicPr>
          <p:nvPr/>
        </p:nvPicPr>
        <p:blipFill>
          <a:blip r:embed="rId10"/>
          <a:srcRect l="-2083" r="-2083" t="0" b="0"/>
          <a:stretch/>
        </p:blipFill>
        <p:spPr>
          <a:xfrm>
            <a:off x="990295" y="4238244"/>
            <a:ext cx="16535095" cy="9144"/>
          </a:xfrm>
          <a:prstGeom prst="rect">
            <a:avLst/>
          </a:prstGeom>
        </p:spPr>
      </p:pic>
      <p:sp>
        <p:nvSpPr>
          <p:cNvPr id="50" name="Text 37"/>
          <p:cNvSpPr txBox="1"/>
          <p:nvPr/>
        </p:nvSpPr>
        <p:spPr>
          <a:xfrm>
            <a:off x="2704795"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24.36</a:t>
            </a:r>
            <a:endParaRPr lang="en-US" sz="1500" dirty="0"/>
          </a:p>
        </p:txBody>
      </p:sp>
      <p:sp>
        <p:nvSpPr>
          <p:cNvPr id="51" name="Text 38"/>
          <p:cNvSpPr txBox="1"/>
          <p:nvPr/>
        </p:nvSpPr>
        <p:spPr>
          <a:xfrm>
            <a:off x="3882542"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1.65</a:t>
            </a:r>
            <a:endParaRPr lang="en-US" sz="1500" dirty="0"/>
          </a:p>
        </p:txBody>
      </p:sp>
      <p:sp>
        <p:nvSpPr>
          <p:cNvPr id="52" name="Text 39"/>
          <p:cNvSpPr txBox="1"/>
          <p:nvPr/>
        </p:nvSpPr>
        <p:spPr>
          <a:xfrm>
            <a:off x="5061204" y="45244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+0.26</a:t>
            </a:r>
            <a:endParaRPr lang="en-US" sz="1500" dirty="0"/>
          </a:p>
        </p:txBody>
      </p:sp>
      <p:sp>
        <p:nvSpPr>
          <p:cNvPr id="53" name="Text 40"/>
          <p:cNvSpPr txBox="1"/>
          <p:nvPr/>
        </p:nvSpPr>
        <p:spPr>
          <a:xfrm>
            <a:off x="6467551"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17.41</a:t>
            </a:r>
            <a:endParaRPr lang="en-US" sz="1500" dirty="0"/>
          </a:p>
        </p:txBody>
      </p:sp>
      <p:sp>
        <p:nvSpPr>
          <p:cNvPr id="54" name="Text 41"/>
          <p:cNvSpPr txBox="1"/>
          <p:nvPr/>
        </p:nvSpPr>
        <p:spPr>
          <a:xfrm>
            <a:off x="7645298"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1.13</a:t>
            </a:r>
            <a:endParaRPr lang="en-US" sz="1500" dirty="0"/>
          </a:p>
        </p:txBody>
      </p:sp>
      <p:sp>
        <p:nvSpPr>
          <p:cNvPr id="55" name="Text 42"/>
          <p:cNvSpPr txBox="1"/>
          <p:nvPr/>
        </p:nvSpPr>
        <p:spPr>
          <a:xfrm>
            <a:off x="8823046" y="45244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+0.21</a:t>
            </a:r>
            <a:endParaRPr lang="en-US" sz="1500" dirty="0"/>
          </a:p>
        </p:txBody>
      </p:sp>
      <p:sp>
        <p:nvSpPr>
          <p:cNvPr id="56" name="Text 43"/>
          <p:cNvSpPr txBox="1"/>
          <p:nvPr/>
        </p:nvSpPr>
        <p:spPr>
          <a:xfrm>
            <a:off x="10230307"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8.31</a:t>
            </a:r>
            <a:endParaRPr lang="en-US" sz="1500" dirty="0"/>
          </a:p>
        </p:txBody>
      </p:sp>
      <p:sp>
        <p:nvSpPr>
          <p:cNvPr id="57" name="Text 44"/>
          <p:cNvSpPr txBox="1"/>
          <p:nvPr/>
        </p:nvSpPr>
        <p:spPr>
          <a:xfrm>
            <a:off x="11408054"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0.58</a:t>
            </a:r>
            <a:endParaRPr lang="en-US" sz="1500" dirty="0"/>
          </a:p>
        </p:txBody>
      </p:sp>
      <p:sp>
        <p:nvSpPr>
          <p:cNvPr id="58" name="Text 45"/>
          <p:cNvSpPr txBox="1"/>
          <p:nvPr/>
        </p:nvSpPr>
        <p:spPr>
          <a:xfrm>
            <a:off x="12585802" y="45244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+0.21</a:t>
            </a:r>
            <a:endParaRPr lang="en-US" sz="1500" dirty="0"/>
          </a:p>
        </p:txBody>
      </p:sp>
      <p:sp>
        <p:nvSpPr>
          <p:cNvPr id="59" name="Text 46"/>
          <p:cNvSpPr txBox="1"/>
          <p:nvPr/>
        </p:nvSpPr>
        <p:spPr>
          <a:xfrm>
            <a:off x="13992149"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8.58</a:t>
            </a:r>
            <a:endParaRPr lang="en-US" sz="1500" dirty="0"/>
          </a:p>
        </p:txBody>
      </p:sp>
      <p:sp>
        <p:nvSpPr>
          <p:cNvPr id="60" name="Text 47"/>
          <p:cNvSpPr txBox="1"/>
          <p:nvPr/>
        </p:nvSpPr>
        <p:spPr>
          <a:xfrm>
            <a:off x="15169896" y="45244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0.66</a:t>
            </a:r>
            <a:endParaRPr lang="en-US" sz="1500" dirty="0"/>
          </a:p>
        </p:txBody>
      </p:sp>
      <p:sp>
        <p:nvSpPr>
          <p:cNvPr id="61" name="Text 48"/>
          <p:cNvSpPr txBox="1"/>
          <p:nvPr/>
        </p:nvSpPr>
        <p:spPr>
          <a:xfrm>
            <a:off x="16347643" y="4524451"/>
            <a:ext cx="1181405"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+0.18</a:t>
            </a:r>
            <a:endParaRPr lang="en-US" sz="1500" dirty="0"/>
          </a:p>
        </p:txBody>
      </p:sp>
      <p:pic>
        <p:nvPicPr>
          <p:cNvPr id="62" name="Image 10" descr="gen-dedup-408fd89e97e27d6f77b4fc0d145a727a.png">    </p:cNvPr>
          <p:cNvPicPr>
            <a:picLocks noChangeAspect="1"/>
          </p:cNvPicPr>
          <p:nvPr/>
        </p:nvPicPr>
        <p:blipFill>
          <a:blip r:embed="rId11"/>
          <a:srcRect l="-400" r="-400" t="0" b="0"/>
          <a:stretch/>
        </p:blipFill>
        <p:spPr>
          <a:xfrm>
            <a:off x="990295" y="4476902"/>
            <a:ext cx="57607" cy="342900"/>
          </a:xfrm>
          <a:prstGeom prst="rect">
            <a:avLst/>
          </a:prstGeom>
        </p:spPr>
      </p:pic>
      <p:sp>
        <p:nvSpPr>
          <p:cNvPr id="63" name="Text 49"/>
          <p:cNvSpPr txBox="1"/>
          <p:nvPr/>
        </p:nvSpPr>
        <p:spPr>
          <a:xfrm>
            <a:off x="1181405" y="4500677"/>
            <a:ext cx="581558"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W02</a:t>
            </a:r>
            <a:endParaRPr lang="en-US" sz="1950" dirty="0"/>
          </a:p>
        </p:txBody>
      </p:sp>
      <p:sp>
        <p:nvSpPr>
          <p:cNvPr id="64" name="Text 50"/>
          <p:cNvSpPr txBox="1"/>
          <p:nvPr/>
        </p:nvSpPr>
        <p:spPr>
          <a:xfrm>
            <a:off x="1837030" y="4572914"/>
            <a:ext cx="76810" cy="152705"/>
          </a:xfrm>
          <a:prstGeom prst="rect">
            <a:avLst/>
          </a:prstGeom>
          <a:noFill/>
          <a:ln/>
        </p:spPr>
        <p:txBody>
          <a:bodyPr wrap="none" lIns="0" tIns="0" rIns="0" bIns="0" rtlCol="0" anchor="ctr"/>
          <a:lstStyle/>
          <a:p>
            <a:pPr algn="l" indent="0" marL="0">
              <a:buNone/>
            </a:pPr>
            <a:r>
              <a:rPr lang="en-US" sz="900" dirty="0">
                <a:solidFill>
                  <a:srgbClr val="22D3EE"/>
                </a:solidFill>
                <a:latin typeface="JetBrains Mono" pitchFamily="34" charset="0"/>
                <a:ea typeface="JetBrains Mono" pitchFamily="34" charset="-122"/>
                <a:cs typeface="JetBrains Mono" pitchFamily="34" charset="-120"/>
              </a:rPr>
              <a:t>A</a:t>
            </a:r>
            <a:endParaRPr lang="en-US" sz="900" dirty="0"/>
          </a:p>
        </p:txBody>
      </p:sp>
      <p:pic>
        <p:nvPicPr>
          <p:cNvPr id="65" name="Image 11" descr="gen-dedup-fa75a65cc9629246e5c7e832fb9827e2.png">    </p:cNvPr>
          <p:cNvPicPr>
            <a:picLocks noChangeAspect="1"/>
          </p:cNvPicPr>
          <p:nvPr/>
        </p:nvPicPr>
        <p:blipFill>
          <a:blip r:embed="rId12"/>
          <a:srcRect l="-2083" r="-2083" t="0" b="0"/>
          <a:stretch/>
        </p:blipFill>
        <p:spPr>
          <a:xfrm>
            <a:off x="990295" y="5038344"/>
            <a:ext cx="16535095" cy="9144"/>
          </a:xfrm>
          <a:prstGeom prst="rect">
            <a:avLst/>
          </a:prstGeom>
        </p:spPr>
      </p:pic>
      <p:sp>
        <p:nvSpPr>
          <p:cNvPr id="66" name="Text 51"/>
          <p:cNvSpPr txBox="1"/>
          <p:nvPr/>
        </p:nvSpPr>
        <p:spPr>
          <a:xfrm>
            <a:off x="2704795"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24.18</a:t>
            </a:r>
            <a:endParaRPr lang="en-US" sz="1500" dirty="0"/>
          </a:p>
        </p:txBody>
      </p:sp>
      <p:sp>
        <p:nvSpPr>
          <p:cNvPr id="67" name="Text 52"/>
          <p:cNvSpPr txBox="1"/>
          <p:nvPr/>
        </p:nvSpPr>
        <p:spPr>
          <a:xfrm>
            <a:off x="3882542"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1.41</a:t>
            </a:r>
            <a:endParaRPr lang="en-US" sz="1500" dirty="0"/>
          </a:p>
        </p:txBody>
      </p:sp>
      <p:sp>
        <p:nvSpPr>
          <p:cNvPr id="68" name="Text 53"/>
          <p:cNvSpPr txBox="1"/>
          <p:nvPr/>
        </p:nvSpPr>
        <p:spPr>
          <a:xfrm>
            <a:off x="5061204" y="53245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+0.08</a:t>
            </a:r>
            <a:endParaRPr lang="en-US" sz="1500" dirty="0"/>
          </a:p>
        </p:txBody>
      </p:sp>
      <p:sp>
        <p:nvSpPr>
          <p:cNvPr id="69" name="Text 54"/>
          <p:cNvSpPr txBox="1"/>
          <p:nvPr/>
        </p:nvSpPr>
        <p:spPr>
          <a:xfrm>
            <a:off x="6467551"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17.24</a:t>
            </a:r>
            <a:endParaRPr lang="en-US" sz="1500" dirty="0"/>
          </a:p>
        </p:txBody>
      </p:sp>
      <p:sp>
        <p:nvSpPr>
          <p:cNvPr id="70" name="Text 55"/>
          <p:cNvSpPr txBox="1"/>
          <p:nvPr/>
        </p:nvSpPr>
        <p:spPr>
          <a:xfrm>
            <a:off x="7645298"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0.93</a:t>
            </a:r>
            <a:endParaRPr lang="en-US" sz="1500" dirty="0"/>
          </a:p>
        </p:txBody>
      </p:sp>
      <p:sp>
        <p:nvSpPr>
          <p:cNvPr id="71" name="Text 56"/>
          <p:cNvSpPr txBox="1"/>
          <p:nvPr/>
        </p:nvSpPr>
        <p:spPr>
          <a:xfrm>
            <a:off x="8823046" y="53245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+0.04</a:t>
            </a:r>
            <a:endParaRPr lang="en-US" sz="1500" dirty="0"/>
          </a:p>
        </p:txBody>
      </p:sp>
      <p:sp>
        <p:nvSpPr>
          <p:cNvPr id="72" name="Text 57"/>
          <p:cNvSpPr txBox="1"/>
          <p:nvPr/>
        </p:nvSpPr>
        <p:spPr>
          <a:xfrm>
            <a:off x="10230307"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8.16</a:t>
            </a:r>
            <a:endParaRPr lang="en-US" sz="1500" dirty="0"/>
          </a:p>
        </p:txBody>
      </p:sp>
      <p:sp>
        <p:nvSpPr>
          <p:cNvPr id="73" name="Text 58"/>
          <p:cNvSpPr txBox="1"/>
          <p:nvPr/>
        </p:nvSpPr>
        <p:spPr>
          <a:xfrm>
            <a:off x="11408054"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0.48</a:t>
            </a:r>
            <a:endParaRPr lang="en-US" sz="1500" dirty="0"/>
          </a:p>
        </p:txBody>
      </p:sp>
      <p:sp>
        <p:nvSpPr>
          <p:cNvPr id="74" name="Text 59"/>
          <p:cNvSpPr txBox="1"/>
          <p:nvPr/>
        </p:nvSpPr>
        <p:spPr>
          <a:xfrm>
            <a:off x="12585802" y="53245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+0.06</a:t>
            </a:r>
            <a:endParaRPr lang="en-US" sz="1500" dirty="0"/>
          </a:p>
        </p:txBody>
      </p:sp>
      <p:sp>
        <p:nvSpPr>
          <p:cNvPr id="75" name="Text 60"/>
          <p:cNvSpPr txBox="1"/>
          <p:nvPr/>
        </p:nvSpPr>
        <p:spPr>
          <a:xfrm>
            <a:off x="13992149"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8.43</a:t>
            </a:r>
            <a:endParaRPr lang="en-US" sz="1500" dirty="0"/>
          </a:p>
        </p:txBody>
      </p:sp>
      <p:sp>
        <p:nvSpPr>
          <p:cNvPr id="76" name="Text 61"/>
          <p:cNvSpPr txBox="1"/>
          <p:nvPr/>
        </p:nvSpPr>
        <p:spPr>
          <a:xfrm>
            <a:off x="15169896" y="53245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0.51</a:t>
            </a:r>
            <a:endParaRPr lang="en-US" sz="1500" dirty="0"/>
          </a:p>
        </p:txBody>
      </p:sp>
      <p:sp>
        <p:nvSpPr>
          <p:cNvPr id="77" name="Text 62"/>
          <p:cNvSpPr txBox="1"/>
          <p:nvPr/>
        </p:nvSpPr>
        <p:spPr>
          <a:xfrm>
            <a:off x="16347643" y="53245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+0.03</a:t>
            </a:r>
            <a:endParaRPr lang="en-US" sz="1500" dirty="0"/>
          </a:p>
        </p:txBody>
      </p:sp>
      <p:pic>
        <p:nvPicPr>
          <p:cNvPr id="78" name="Image 12" descr="gen-dedup-9dd11e71d3a9ef7254715de7218e4e58.png">    </p:cNvPr>
          <p:cNvPicPr>
            <a:picLocks noChangeAspect="1"/>
          </p:cNvPicPr>
          <p:nvPr/>
        </p:nvPicPr>
        <p:blipFill>
          <a:blip r:embed="rId13"/>
          <a:srcRect l="-400" r="-400" t="0" b="0"/>
          <a:stretch/>
        </p:blipFill>
        <p:spPr>
          <a:xfrm>
            <a:off x="990295" y="5277002"/>
            <a:ext cx="57607" cy="342900"/>
          </a:xfrm>
          <a:prstGeom prst="rect">
            <a:avLst/>
          </a:prstGeom>
        </p:spPr>
      </p:pic>
      <p:sp>
        <p:nvSpPr>
          <p:cNvPr id="79" name="Text 63"/>
          <p:cNvSpPr txBox="1"/>
          <p:nvPr/>
        </p:nvSpPr>
        <p:spPr>
          <a:xfrm>
            <a:off x="1181405" y="5300777"/>
            <a:ext cx="590702"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W03</a:t>
            </a:r>
            <a:endParaRPr lang="en-US" sz="1950" dirty="0"/>
          </a:p>
        </p:txBody>
      </p:sp>
      <p:sp>
        <p:nvSpPr>
          <p:cNvPr id="80" name="Text 64"/>
          <p:cNvSpPr txBox="1"/>
          <p:nvPr/>
        </p:nvSpPr>
        <p:spPr>
          <a:xfrm>
            <a:off x="1841602" y="5373014"/>
            <a:ext cx="76810" cy="152705"/>
          </a:xfrm>
          <a:prstGeom prst="rect">
            <a:avLst/>
          </a:prstGeom>
          <a:noFill/>
          <a:ln/>
        </p:spPr>
        <p:txBody>
          <a:bodyPr wrap="none" lIns="0" tIns="0" rIns="0" bIns="0" rtlCol="0" anchor="ctr"/>
          <a:lstStyle/>
          <a:p>
            <a:pPr algn="l" indent="0" marL="0">
              <a:buNone/>
            </a:pPr>
            <a:r>
              <a:rPr lang="en-US" sz="900" dirty="0">
                <a:solidFill>
                  <a:srgbClr val="A78BFA"/>
                </a:solidFill>
                <a:latin typeface="JetBrains Mono" pitchFamily="34" charset="0"/>
                <a:ea typeface="JetBrains Mono" pitchFamily="34" charset="-122"/>
                <a:cs typeface="JetBrains Mono" pitchFamily="34" charset="-120"/>
              </a:rPr>
              <a:t>B</a:t>
            </a:r>
            <a:endParaRPr lang="en-US" sz="900" dirty="0"/>
          </a:p>
        </p:txBody>
      </p:sp>
      <p:pic>
        <p:nvPicPr>
          <p:cNvPr id="81" name="Image 13" descr="gen-dedup-fa75a65cc9629246e5c7e832fb9827e2.png">    </p:cNvPr>
          <p:cNvPicPr>
            <a:picLocks noChangeAspect="1"/>
          </p:cNvPicPr>
          <p:nvPr/>
        </p:nvPicPr>
        <p:blipFill>
          <a:blip r:embed="rId14"/>
          <a:srcRect l="-2083" r="-2083" t="0" b="0"/>
          <a:stretch/>
        </p:blipFill>
        <p:spPr>
          <a:xfrm>
            <a:off x="990295" y="5838444"/>
            <a:ext cx="16535095" cy="9144"/>
          </a:xfrm>
          <a:prstGeom prst="rect">
            <a:avLst/>
          </a:prstGeom>
        </p:spPr>
      </p:pic>
      <p:sp>
        <p:nvSpPr>
          <p:cNvPr id="82" name="Shape 65"/>
          <p:cNvSpPr/>
          <p:nvPr/>
        </p:nvSpPr>
        <p:spPr>
          <a:xfrm>
            <a:off x="761695" y="5848502"/>
            <a:ext cx="16763695" cy="800100"/>
          </a:xfrm>
          <a:prstGeom prst="rect">
            <a:avLst/>
          </a:prstGeom>
          <a:solidFill>
            <a:srgbClr val="A78BFA">
              <a:alpha val="4000"/>
            </a:srgbClr>
          </a:solidFill>
          <a:ln w="12700">
            <a:solidFill>
              <a:srgbClr val="FFFFFF">
                <a:alpha val="0"/>
              </a:srgbClr>
            </a:solidFill>
            <a:prstDash val="solid"/>
          </a:ln>
        </p:spPr>
      </p:sp>
      <p:sp>
        <p:nvSpPr>
          <p:cNvPr id="83" name="Text 66"/>
          <p:cNvSpPr txBox="1"/>
          <p:nvPr/>
        </p:nvSpPr>
        <p:spPr>
          <a:xfrm>
            <a:off x="2704795" y="61246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24.14</a:t>
            </a:r>
            <a:endParaRPr lang="en-US" sz="1500" dirty="0"/>
          </a:p>
        </p:txBody>
      </p:sp>
      <p:sp>
        <p:nvSpPr>
          <p:cNvPr id="84" name="Text 67"/>
          <p:cNvSpPr txBox="1"/>
          <p:nvPr/>
        </p:nvSpPr>
        <p:spPr>
          <a:xfrm>
            <a:off x="3882542"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1.36</a:t>
            </a:r>
            <a:endParaRPr lang="en-US" sz="1500" dirty="0"/>
          </a:p>
        </p:txBody>
      </p:sp>
      <p:sp>
        <p:nvSpPr>
          <p:cNvPr id="85" name="Text 68"/>
          <p:cNvSpPr txBox="1"/>
          <p:nvPr/>
        </p:nvSpPr>
        <p:spPr>
          <a:xfrm>
            <a:off x="5061204"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+0.04</a:t>
            </a:r>
            <a:endParaRPr lang="en-US" sz="1500" dirty="0"/>
          </a:p>
        </p:txBody>
      </p:sp>
      <p:sp>
        <p:nvSpPr>
          <p:cNvPr id="86" name="Text 69"/>
          <p:cNvSpPr txBox="1"/>
          <p:nvPr/>
        </p:nvSpPr>
        <p:spPr>
          <a:xfrm>
            <a:off x="6467551" y="61246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17.20</a:t>
            </a:r>
            <a:endParaRPr lang="en-US" sz="1500" dirty="0"/>
          </a:p>
        </p:txBody>
      </p:sp>
      <p:sp>
        <p:nvSpPr>
          <p:cNvPr id="87" name="Text 70"/>
          <p:cNvSpPr txBox="1"/>
          <p:nvPr/>
        </p:nvSpPr>
        <p:spPr>
          <a:xfrm>
            <a:off x="7645298"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0.88</a:t>
            </a:r>
            <a:endParaRPr lang="en-US" sz="1500" dirty="0"/>
          </a:p>
        </p:txBody>
      </p:sp>
      <p:sp>
        <p:nvSpPr>
          <p:cNvPr id="88" name="Text 71"/>
          <p:cNvSpPr txBox="1"/>
          <p:nvPr/>
        </p:nvSpPr>
        <p:spPr>
          <a:xfrm>
            <a:off x="8823046"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±0.00</a:t>
            </a:r>
            <a:endParaRPr lang="en-US" sz="1500" dirty="0"/>
          </a:p>
        </p:txBody>
      </p:sp>
      <p:sp>
        <p:nvSpPr>
          <p:cNvPr id="89" name="Text 72"/>
          <p:cNvSpPr txBox="1"/>
          <p:nvPr/>
        </p:nvSpPr>
        <p:spPr>
          <a:xfrm>
            <a:off x="10230307" y="61246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8.13</a:t>
            </a:r>
            <a:endParaRPr lang="en-US" sz="1500" dirty="0"/>
          </a:p>
        </p:txBody>
      </p:sp>
      <p:sp>
        <p:nvSpPr>
          <p:cNvPr id="90" name="Text 73"/>
          <p:cNvSpPr txBox="1"/>
          <p:nvPr/>
        </p:nvSpPr>
        <p:spPr>
          <a:xfrm>
            <a:off x="11408054"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0.45</a:t>
            </a:r>
            <a:endParaRPr lang="en-US" sz="1500" dirty="0"/>
          </a:p>
        </p:txBody>
      </p:sp>
      <p:sp>
        <p:nvSpPr>
          <p:cNvPr id="91" name="Text 74"/>
          <p:cNvSpPr txBox="1"/>
          <p:nvPr/>
        </p:nvSpPr>
        <p:spPr>
          <a:xfrm>
            <a:off x="12585802"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+0.03</a:t>
            </a:r>
            <a:endParaRPr lang="en-US" sz="1500" dirty="0"/>
          </a:p>
        </p:txBody>
      </p:sp>
      <p:sp>
        <p:nvSpPr>
          <p:cNvPr id="92" name="Text 75"/>
          <p:cNvSpPr txBox="1"/>
          <p:nvPr/>
        </p:nvSpPr>
        <p:spPr>
          <a:xfrm>
            <a:off x="13992149" y="61246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8.41</a:t>
            </a:r>
            <a:endParaRPr lang="en-US" sz="1500" dirty="0"/>
          </a:p>
        </p:txBody>
      </p:sp>
      <p:sp>
        <p:nvSpPr>
          <p:cNvPr id="93" name="Text 76"/>
          <p:cNvSpPr txBox="1"/>
          <p:nvPr/>
        </p:nvSpPr>
        <p:spPr>
          <a:xfrm>
            <a:off x="15169896"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0.49</a:t>
            </a:r>
            <a:endParaRPr lang="en-US" sz="1500" dirty="0"/>
          </a:p>
        </p:txBody>
      </p:sp>
      <p:sp>
        <p:nvSpPr>
          <p:cNvPr id="94" name="Text 77"/>
          <p:cNvSpPr txBox="1"/>
          <p:nvPr/>
        </p:nvSpPr>
        <p:spPr>
          <a:xfrm>
            <a:off x="16347643" y="6124651"/>
            <a:ext cx="11814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+0.01</a:t>
            </a:r>
            <a:endParaRPr lang="en-US" sz="1500" dirty="0"/>
          </a:p>
        </p:txBody>
      </p:sp>
      <p:pic>
        <p:nvPicPr>
          <p:cNvPr id="95" name="Image 14" descr="gen-dedup-9dd11e71d3a9ef7254715de7218e4e58.png">    </p:cNvPr>
          <p:cNvPicPr>
            <a:picLocks noChangeAspect="1"/>
          </p:cNvPicPr>
          <p:nvPr/>
        </p:nvPicPr>
        <p:blipFill>
          <a:blip r:embed="rId15"/>
          <a:srcRect l="-400" r="-400" t="0" b="0"/>
          <a:stretch/>
        </p:blipFill>
        <p:spPr>
          <a:xfrm>
            <a:off x="990295" y="6077102"/>
            <a:ext cx="57607" cy="342900"/>
          </a:xfrm>
          <a:prstGeom prst="rect">
            <a:avLst/>
          </a:prstGeom>
        </p:spPr>
      </p:pic>
      <p:sp>
        <p:nvSpPr>
          <p:cNvPr id="96" name="Text 78"/>
          <p:cNvSpPr txBox="1"/>
          <p:nvPr/>
        </p:nvSpPr>
        <p:spPr>
          <a:xfrm>
            <a:off x="1181405" y="6100877"/>
            <a:ext cx="600761"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W04</a:t>
            </a:r>
            <a:endParaRPr lang="en-US" sz="1950" dirty="0"/>
          </a:p>
        </p:txBody>
      </p:sp>
      <p:sp>
        <p:nvSpPr>
          <p:cNvPr id="97" name="Text 79"/>
          <p:cNvSpPr txBox="1"/>
          <p:nvPr/>
        </p:nvSpPr>
        <p:spPr>
          <a:xfrm>
            <a:off x="1848917" y="6173114"/>
            <a:ext cx="210312" cy="152705"/>
          </a:xfrm>
          <a:prstGeom prst="rect">
            <a:avLst/>
          </a:prstGeom>
          <a:noFill/>
          <a:ln/>
        </p:spPr>
        <p:txBody>
          <a:bodyPr wrap="none" lIns="0" tIns="0" rIns="0" bIns="0" rtlCol="0" anchor="ctr"/>
          <a:lstStyle/>
          <a:p>
            <a:pPr algn="l" indent="0" marL="0">
              <a:buNone/>
            </a:pPr>
            <a:r>
              <a:rPr lang="en-US" sz="900" dirty="0">
                <a:solidFill>
                  <a:srgbClr val="A78BFA"/>
                </a:solidFill>
                <a:latin typeface="JetBrains Mono" pitchFamily="34" charset="0"/>
                <a:ea typeface="JetBrains Mono" pitchFamily="34" charset="-122"/>
                <a:cs typeface="JetBrains Mono" pitchFamily="34" charset="-120"/>
              </a:rPr>
              <a:t>B ★</a:t>
            </a:r>
            <a:endParaRPr lang="en-US" sz="900" dirty="0"/>
          </a:p>
        </p:txBody>
      </p:sp>
      <p:pic>
        <p:nvPicPr>
          <p:cNvPr id="98" name="Image 15" descr="gen-dedup-fa75a65cc9629246e5c7e832fb9827e2.png">    </p:cNvPr>
          <p:cNvPicPr>
            <a:picLocks noChangeAspect="1"/>
          </p:cNvPicPr>
          <p:nvPr/>
        </p:nvPicPr>
        <p:blipFill>
          <a:blip r:embed="rId16"/>
          <a:srcRect l="-2083" r="-2083" t="0" b="0"/>
          <a:stretch/>
        </p:blipFill>
        <p:spPr>
          <a:xfrm>
            <a:off x="990295" y="6638544"/>
            <a:ext cx="16535095" cy="9144"/>
          </a:xfrm>
          <a:prstGeom prst="rect">
            <a:avLst/>
          </a:prstGeom>
        </p:spPr>
      </p:pic>
      <p:sp>
        <p:nvSpPr>
          <p:cNvPr id="99" name="Text 80"/>
          <p:cNvSpPr txBox="1"/>
          <p:nvPr/>
        </p:nvSpPr>
        <p:spPr>
          <a:xfrm>
            <a:off x="2704795"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23.92</a:t>
            </a:r>
            <a:endParaRPr lang="en-US" sz="1500" dirty="0"/>
          </a:p>
        </p:txBody>
      </p:sp>
      <p:sp>
        <p:nvSpPr>
          <p:cNvPr id="100" name="Text 81"/>
          <p:cNvSpPr txBox="1"/>
          <p:nvPr/>
        </p:nvSpPr>
        <p:spPr>
          <a:xfrm>
            <a:off x="3882542"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1.22</a:t>
            </a:r>
            <a:endParaRPr lang="en-US" sz="1500" dirty="0"/>
          </a:p>
        </p:txBody>
      </p:sp>
      <p:sp>
        <p:nvSpPr>
          <p:cNvPr id="101" name="Text 82"/>
          <p:cNvSpPr txBox="1"/>
          <p:nvPr/>
        </p:nvSpPr>
        <p:spPr>
          <a:xfrm>
            <a:off x="5061204" y="69247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−0.18</a:t>
            </a:r>
            <a:endParaRPr lang="en-US" sz="1500" dirty="0"/>
          </a:p>
        </p:txBody>
      </p:sp>
      <p:sp>
        <p:nvSpPr>
          <p:cNvPr id="102" name="Text 83"/>
          <p:cNvSpPr txBox="1"/>
          <p:nvPr/>
        </p:nvSpPr>
        <p:spPr>
          <a:xfrm>
            <a:off x="6467551"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16.97</a:t>
            </a:r>
            <a:endParaRPr lang="en-US" sz="1500" dirty="0"/>
          </a:p>
        </p:txBody>
      </p:sp>
      <p:sp>
        <p:nvSpPr>
          <p:cNvPr id="103" name="Text 84"/>
          <p:cNvSpPr txBox="1"/>
          <p:nvPr/>
        </p:nvSpPr>
        <p:spPr>
          <a:xfrm>
            <a:off x="7645298"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0.84</a:t>
            </a:r>
            <a:endParaRPr lang="en-US" sz="1500" dirty="0"/>
          </a:p>
        </p:txBody>
      </p:sp>
      <p:sp>
        <p:nvSpPr>
          <p:cNvPr id="104" name="Text 85"/>
          <p:cNvSpPr txBox="1"/>
          <p:nvPr/>
        </p:nvSpPr>
        <p:spPr>
          <a:xfrm>
            <a:off x="8823046" y="69247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−0.23</a:t>
            </a:r>
            <a:endParaRPr lang="en-US" sz="1500" dirty="0"/>
          </a:p>
        </p:txBody>
      </p:sp>
      <p:sp>
        <p:nvSpPr>
          <p:cNvPr id="105" name="Text 86"/>
          <p:cNvSpPr txBox="1"/>
          <p:nvPr/>
        </p:nvSpPr>
        <p:spPr>
          <a:xfrm>
            <a:off x="10230307"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7.97</a:t>
            </a:r>
            <a:endParaRPr lang="en-US" sz="1500" dirty="0"/>
          </a:p>
        </p:txBody>
      </p:sp>
      <p:sp>
        <p:nvSpPr>
          <p:cNvPr id="106" name="Text 87"/>
          <p:cNvSpPr txBox="1"/>
          <p:nvPr/>
        </p:nvSpPr>
        <p:spPr>
          <a:xfrm>
            <a:off x="11408054"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0.41</a:t>
            </a:r>
            <a:endParaRPr lang="en-US" sz="1500" dirty="0"/>
          </a:p>
        </p:txBody>
      </p:sp>
      <p:sp>
        <p:nvSpPr>
          <p:cNvPr id="107" name="Text 88"/>
          <p:cNvSpPr txBox="1"/>
          <p:nvPr/>
        </p:nvSpPr>
        <p:spPr>
          <a:xfrm>
            <a:off x="12585802" y="69247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−0.13</a:t>
            </a:r>
            <a:endParaRPr lang="en-US" sz="1500" dirty="0"/>
          </a:p>
        </p:txBody>
      </p:sp>
      <p:sp>
        <p:nvSpPr>
          <p:cNvPr id="108" name="Text 89"/>
          <p:cNvSpPr txBox="1"/>
          <p:nvPr/>
        </p:nvSpPr>
        <p:spPr>
          <a:xfrm>
            <a:off x="13992149"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8.27</a:t>
            </a:r>
            <a:endParaRPr lang="en-US" sz="1500" dirty="0"/>
          </a:p>
        </p:txBody>
      </p:sp>
      <p:sp>
        <p:nvSpPr>
          <p:cNvPr id="109" name="Text 90"/>
          <p:cNvSpPr txBox="1"/>
          <p:nvPr/>
        </p:nvSpPr>
        <p:spPr>
          <a:xfrm>
            <a:off x="15169896" y="69247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0.46</a:t>
            </a:r>
            <a:endParaRPr lang="en-US" sz="1500" dirty="0"/>
          </a:p>
        </p:txBody>
      </p:sp>
      <p:sp>
        <p:nvSpPr>
          <p:cNvPr id="110" name="Text 91"/>
          <p:cNvSpPr txBox="1"/>
          <p:nvPr/>
        </p:nvSpPr>
        <p:spPr>
          <a:xfrm>
            <a:off x="16347643" y="69247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−0.13</a:t>
            </a:r>
            <a:endParaRPr lang="en-US" sz="1500" dirty="0"/>
          </a:p>
        </p:txBody>
      </p:sp>
      <p:pic>
        <p:nvPicPr>
          <p:cNvPr id="111" name="Image 16" descr="gen-dedup-8c15047980405355366326b697786b9a.png">    </p:cNvPr>
          <p:cNvPicPr>
            <a:picLocks noChangeAspect="1"/>
          </p:cNvPicPr>
          <p:nvPr/>
        </p:nvPicPr>
        <p:blipFill>
          <a:blip r:embed="rId17"/>
          <a:srcRect l="-400" r="-400" t="0" b="0"/>
          <a:stretch/>
        </p:blipFill>
        <p:spPr>
          <a:xfrm>
            <a:off x="990295" y="6877202"/>
            <a:ext cx="57607" cy="342900"/>
          </a:xfrm>
          <a:prstGeom prst="rect">
            <a:avLst/>
          </a:prstGeom>
        </p:spPr>
      </p:pic>
      <p:sp>
        <p:nvSpPr>
          <p:cNvPr id="112" name="Text 92"/>
          <p:cNvSpPr txBox="1"/>
          <p:nvPr/>
        </p:nvSpPr>
        <p:spPr>
          <a:xfrm>
            <a:off x="1181405" y="6900977"/>
            <a:ext cx="581558"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W05</a:t>
            </a:r>
            <a:endParaRPr lang="en-US" sz="1950" dirty="0"/>
          </a:p>
        </p:txBody>
      </p:sp>
      <p:sp>
        <p:nvSpPr>
          <p:cNvPr id="113" name="Text 93"/>
          <p:cNvSpPr txBox="1"/>
          <p:nvPr/>
        </p:nvSpPr>
        <p:spPr>
          <a:xfrm>
            <a:off x="1835201" y="6973214"/>
            <a:ext cx="76810" cy="152705"/>
          </a:xfrm>
          <a:prstGeom prst="rect">
            <a:avLst/>
          </a:prstGeom>
          <a:noFill/>
          <a:ln/>
        </p:spPr>
        <p:txBody>
          <a:bodyPr wrap="none" lIns="0" tIns="0" rIns="0" bIns="0" rtlCol="0" anchor="ctr"/>
          <a:lstStyle/>
          <a:p>
            <a:pPr algn="l" indent="0" marL="0">
              <a:buNone/>
            </a:pPr>
            <a:r>
              <a:rPr lang="en-US" sz="900" dirty="0">
                <a:solidFill>
                  <a:srgbClr val="F59E0B"/>
                </a:solidFill>
                <a:latin typeface="JetBrains Mono" pitchFamily="34" charset="0"/>
                <a:ea typeface="JetBrains Mono" pitchFamily="34" charset="-122"/>
                <a:cs typeface="JetBrains Mono" pitchFamily="34" charset="-120"/>
              </a:rPr>
              <a:t>C</a:t>
            </a:r>
            <a:endParaRPr lang="en-US" sz="900" dirty="0"/>
          </a:p>
        </p:txBody>
      </p:sp>
      <p:pic>
        <p:nvPicPr>
          <p:cNvPr id="114" name="Image 17" descr="gen-dedup-fa75a65cc9629246e5c7e832fb9827e2.png">    </p:cNvPr>
          <p:cNvPicPr>
            <a:picLocks noChangeAspect="1"/>
          </p:cNvPicPr>
          <p:nvPr/>
        </p:nvPicPr>
        <p:blipFill>
          <a:blip r:embed="rId18"/>
          <a:srcRect l="-2083" r="-2083" t="0" b="0"/>
          <a:stretch/>
        </p:blipFill>
        <p:spPr>
          <a:xfrm>
            <a:off x="990295" y="7438644"/>
            <a:ext cx="16535095" cy="9144"/>
          </a:xfrm>
          <a:prstGeom prst="rect">
            <a:avLst/>
          </a:prstGeom>
        </p:spPr>
      </p:pic>
      <p:sp>
        <p:nvSpPr>
          <p:cNvPr id="115" name="Text 94"/>
          <p:cNvSpPr txBox="1"/>
          <p:nvPr/>
        </p:nvSpPr>
        <p:spPr>
          <a:xfrm>
            <a:off x="2704795"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23.86</a:t>
            </a:r>
            <a:endParaRPr lang="en-US" sz="1500" dirty="0"/>
          </a:p>
        </p:txBody>
      </p:sp>
      <p:sp>
        <p:nvSpPr>
          <p:cNvPr id="116" name="Text 95"/>
          <p:cNvSpPr txBox="1"/>
          <p:nvPr/>
        </p:nvSpPr>
        <p:spPr>
          <a:xfrm>
            <a:off x="3882542"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1.28</a:t>
            </a:r>
            <a:endParaRPr lang="en-US" sz="1500" dirty="0"/>
          </a:p>
        </p:txBody>
      </p:sp>
      <p:sp>
        <p:nvSpPr>
          <p:cNvPr id="117" name="Text 96"/>
          <p:cNvSpPr txBox="1"/>
          <p:nvPr/>
        </p:nvSpPr>
        <p:spPr>
          <a:xfrm>
            <a:off x="5061204" y="77248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−0.24</a:t>
            </a:r>
            <a:endParaRPr lang="en-US" sz="1500" dirty="0"/>
          </a:p>
        </p:txBody>
      </p:sp>
      <p:sp>
        <p:nvSpPr>
          <p:cNvPr id="118" name="Text 97"/>
          <p:cNvSpPr txBox="1"/>
          <p:nvPr/>
        </p:nvSpPr>
        <p:spPr>
          <a:xfrm>
            <a:off x="6467551"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16.93</a:t>
            </a:r>
            <a:endParaRPr lang="en-US" sz="1500" dirty="0"/>
          </a:p>
        </p:txBody>
      </p:sp>
      <p:sp>
        <p:nvSpPr>
          <p:cNvPr id="119" name="Text 98"/>
          <p:cNvSpPr txBox="1"/>
          <p:nvPr/>
        </p:nvSpPr>
        <p:spPr>
          <a:xfrm>
            <a:off x="7645298"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0.89</a:t>
            </a:r>
            <a:endParaRPr lang="en-US" sz="1500" dirty="0"/>
          </a:p>
        </p:txBody>
      </p:sp>
      <p:sp>
        <p:nvSpPr>
          <p:cNvPr id="120" name="Text 99"/>
          <p:cNvSpPr txBox="1"/>
          <p:nvPr/>
        </p:nvSpPr>
        <p:spPr>
          <a:xfrm>
            <a:off x="8823046" y="77248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−0.27</a:t>
            </a:r>
            <a:endParaRPr lang="en-US" sz="1500" dirty="0"/>
          </a:p>
        </p:txBody>
      </p:sp>
      <p:sp>
        <p:nvSpPr>
          <p:cNvPr id="121" name="Text 100"/>
          <p:cNvSpPr txBox="1"/>
          <p:nvPr/>
        </p:nvSpPr>
        <p:spPr>
          <a:xfrm>
            <a:off x="10230307"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7.94</a:t>
            </a:r>
            <a:endParaRPr lang="en-US" sz="1500" dirty="0"/>
          </a:p>
        </p:txBody>
      </p:sp>
      <p:sp>
        <p:nvSpPr>
          <p:cNvPr id="122" name="Text 101"/>
          <p:cNvSpPr txBox="1"/>
          <p:nvPr/>
        </p:nvSpPr>
        <p:spPr>
          <a:xfrm>
            <a:off x="11408054"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0.44</a:t>
            </a:r>
            <a:endParaRPr lang="en-US" sz="1500" dirty="0"/>
          </a:p>
        </p:txBody>
      </p:sp>
      <p:sp>
        <p:nvSpPr>
          <p:cNvPr id="123" name="Text 102"/>
          <p:cNvSpPr txBox="1"/>
          <p:nvPr/>
        </p:nvSpPr>
        <p:spPr>
          <a:xfrm>
            <a:off x="12585802" y="77248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−0.16</a:t>
            </a:r>
            <a:endParaRPr lang="en-US" sz="1500" dirty="0"/>
          </a:p>
        </p:txBody>
      </p:sp>
      <p:sp>
        <p:nvSpPr>
          <p:cNvPr id="124" name="Text 103"/>
          <p:cNvSpPr txBox="1"/>
          <p:nvPr/>
        </p:nvSpPr>
        <p:spPr>
          <a:xfrm>
            <a:off x="13992149"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8.24</a:t>
            </a:r>
            <a:endParaRPr lang="en-US" sz="1500" dirty="0"/>
          </a:p>
        </p:txBody>
      </p:sp>
      <p:sp>
        <p:nvSpPr>
          <p:cNvPr id="125" name="Text 104"/>
          <p:cNvSpPr txBox="1"/>
          <p:nvPr/>
        </p:nvSpPr>
        <p:spPr>
          <a:xfrm>
            <a:off x="15169896" y="7724851"/>
            <a:ext cx="11814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0.49</a:t>
            </a:r>
            <a:endParaRPr lang="en-US" sz="1500" dirty="0"/>
          </a:p>
        </p:txBody>
      </p:sp>
      <p:sp>
        <p:nvSpPr>
          <p:cNvPr id="126" name="Text 105"/>
          <p:cNvSpPr txBox="1"/>
          <p:nvPr/>
        </p:nvSpPr>
        <p:spPr>
          <a:xfrm>
            <a:off x="16347643" y="7724851"/>
            <a:ext cx="1181405" cy="247802"/>
          </a:xfrm>
          <a:prstGeom prst="rect">
            <a:avLst/>
          </a:prstGeom>
          <a:noFill/>
          <a:ln/>
        </p:spPr>
        <p:txBody>
          <a:bodyPr wrap="none" lIns="0" tIns="0" rIns="0" bIns="0" rtlCol="0" anchor="ctr"/>
          <a:lstStyle/>
          <a:p>
            <a:pPr algn="l" indent="0" marL="0">
              <a:buNone/>
            </a:pPr>
            <a:r>
              <a:rPr lang="en-US" sz="1500" dirty="0">
                <a:solidFill>
                  <a:srgbClr val="8B95A8"/>
                </a:solidFill>
                <a:latin typeface="JetBrains Mono" pitchFamily="34" charset="0"/>
                <a:ea typeface="JetBrains Mono" pitchFamily="34" charset="-122"/>
                <a:cs typeface="JetBrains Mono" pitchFamily="34" charset="-120"/>
              </a:rPr>
              <a:t>−0.16</a:t>
            </a:r>
            <a:endParaRPr lang="en-US" sz="1500" dirty="0"/>
          </a:p>
        </p:txBody>
      </p:sp>
      <p:pic>
        <p:nvPicPr>
          <p:cNvPr id="127" name="Image 18" descr="gen-dedup-8c15047980405355366326b697786b9a.png">    </p:cNvPr>
          <p:cNvPicPr>
            <a:picLocks noChangeAspect="1"/>
          </p:cNvPicPr>
          <p:nvPr/>
        </p:nvPicPr>
        <p:blipFill>
          <a:blip r:embed="rId19"/>
          <a:srcRect l="-400" r="-400" t="0" b="0"/>
          <a:stretch/>
        </p:blipFill>
        <p:spPr>
          <a:xfrm>
            <a:off x="990295" y="7677302"/>
            <a:ext cx="57607" cy="342900"/>
          </a:xfrm>
          <a:prstGeom prst="rect">
            <a:avLst/>
          </a:prstGeom>
        </p:spPr>
      </p:pic>
      <p:sp>
        <p:nvSpPr>
          <p:cNvPr id="128" name="Text 106"/>
          <p:cNvSpPr txBox="1"/>
          <p:nvPr/>
        </p:nvSpPr>
        <p:spPr>
          <a:xfrm>
            <a:off x="1181405" y="7701077"/>
            <a:ext cx="590702" cy="295351"/>
          </a:xfrm>
          <a:prstGeom prst="rect">
            <a:avLst/>
          </a:prstGeom>
          <a:noFill/>
          <a:ln/>
        </p:spPr>
        <p:txBody>
          <a:bodyPr wrap="none" lIns="0" tIns="0" rIns="0" bIns="0" rtlCol="0" anchor="ctr"/>
          <a:lstStyle/>
          <a:p>
            <a:pPr algn="l" indent="0" marL="0">
              <a:buNone/>
            </a:pPr>
            <a:r>
              <a:rPr lang="en-US" sz="1950" b="1" dirty="0">
                <a:solidFill>
                  <a:srgbClr val="E6EDF7"/>
                </a:solidFill>
                <a:latin typeface="Inter" pitchFamily="34" charset="0"/>
                <a:ea typeface="Inter" pitchFamily="34" charset="-122"/>
                <a:cs typeface="Inter" pitchFamily="34" charset="-120"/>
              </a:rPr>
              <a:t>W06</a:t>
            </a:r>
            <a:endParaRPr lang="en-US" sz="1950" dirty="0"/>
          </a:p>
        </p:txBody>
      </p:sp>
      <p:sp>
        <p:nvSpPr>
          <p:cNvPr id="129" name="Text 107"/>
          <p:cNvSpPr txBox="1"/>
          <p:nvPr/>
        </p:nvSpPr>
        <p:spPr>
          <a:xfrm>
            <a:off x="1842516" y="7773314"/>
            <a:ext cx="76810" cy="152705"/>
          </a:xfrm>
          <a:prstGeom prst="rect">
            <a:avLst/>
          </a:prstGeom>
          <a:noFill/>
          <a:ln/>
        </p:spPr>
        <p:txBody>
          <a:bodyPr wrap="none" lIns="0" tIns="0" rIns="0" bIns="0" rtlCol="0" anchor="ctr"/>
          <a:lstStyle/>
          <a:p>
            <a:pPr algn="l" indent="0" marL="0">
              <a:buNone/>
            </a:pPr>
            <a:r>
              <a:rPr lang="en-US" sz="900" dirty="0">
                <a:solidFill>
                  <a:srgbClr val="F59E0B"/>
                </a:solidFill>
                <a:latin typeface="JetBrains Mono" pitchFamily="34" charset="0"/>
                <a:ea typeface="JetBrains Mono" pitchFamily="34" charset="-122"/>
                <a:cs typeface="JetBrains Mono" pitchFamily="34" charset="-120"/>
              </a:rPr>
              <a:t>C</a:t>
            </a:r>
            <a:endParaRPr lang="en-US" sz="900" dirty="0"/>
          </a:p>
        </p:txBody>
      </p:sp>
      <p:sp>
        <p:nvSpPr>
          <p:cNvPr id="130" name="Text 108"/>
          <p:cNvSpPr txBox="1"/>
          <p:nvPr/>
        </p:nvSpPr>
        <p:spPr>
          <a:xfrm>
            <a:off x="8382305" y="8382305"/>
            <a:ext cx="8382305"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단위 nm · ★ 표시는 4 metric 모두 target mean ±0.05 nm 이내</a:t>
            </a:r>
            <a:endParaRPr lang="en-US" sz="1200" dirty="0"/>
          </a:p>
        </p:txBody>
      </p:sp>
      <p:sp>
        <p:nvSpPr>
          <p:cNvPr id="131" name="Text 109"/>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F59E0B"/>
                </a:solidFill>
                <a:latin typeface="JetBrains Mono" pitchFamily="34" charset="0"/>
                <a:ea typeface="JetBrains Mono" pitchFamily="34" charset="-122"/>
                <a:cs typeface="JetBrains Mono" pitchFamily="34" charset="-120"/>
              </a:rPr>
              <a:t>KEY TAKEAWAY</a:t>
            </a:r>
            <a:endParaRPr lang="en-US" sz="900" dirty="0"/>
          </a:p>
        </p:txBody>
      </p:sp>
      <p:pic>
        <p:nvPicPr>
          <p:cNvPr id="132" name="Image 19" descr="gen-dedup-43d2841c910acb372c328c3a638b3377.png">    </p:cNvPr>
          <p:cNvPicPr>
            <a:picLocks noChangeAspect="1"/>
          </p:cNvPicPr>
          <p:nvPr/>
        </p:nvPicPr>
        <p:blipFill>
          <a:blip r:embed="rId20"/>
          <a:srcRect l="-2083" r="-2083" t="0" b="0"/>
          <a:stretch/>
        </p:blipFill>
        <p:spPr>
          <a:xfrm>
            <a:off x="2325319" y="8904427"/>
            <a:ext cx="228600" cy="9144"/>
          </a:xfrm>
          <a:prstGeom prst="rect">
            <a:avLst/>
          </a:prstGeom>
        </p:spPr>
      </p:pic>
      <p:sp>
        <p:nvSpPr>
          <p:cNvPr id="133" name="Text 110"/>
          <p:cNvSpPr txBox="1"/>
          <p:nvPr/>
        </p:nvSpPr>
        <p:spPr>
          <a:xfrm>
            <a:off x="2724912" y="8762695"/>
            <a:ext cx="9592056"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W04가 4 metric 모두에서 mean·3σ·Δ-target을 동시에 가장 좋게 가짐 — "전부 만족하는" 유일한 wafer.</a:t>
            </a:r>
            <a:endParaRPr lang="en-US" sz="1650" dirty="0"/>
          </a:p>
        </p:txBody>
      </p:sp>
      <p:sp>
        <p:nvSpPr>
          <p:cNvPr id="134" name="Text 111"/>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761695" y="2476195"/>
            <a:ext cx="4972507" cy="4591202"/>
          </a:xfrm>
          <a:prstGeom prst="rect">
            <a:avLst/>
          </a:prstGeom>
          <a:solidFill>
            <a:srgbClr val="131A2D"/>
          </a:solidFill>
          <a:ln w="12700">
            <a:solidFill>
              <a:srgbClr val="22D3EE">
                <a:alpha val="30000"/>
              </a:srgbClr>
            </a:solidFill>
            <a:prstDash val="solid"/>
          </a:ln>
        </p:spPr>
      </p:sp>
      <p:sp>
        <p:nvSpPr>
          <p:cNvPr id="4" name="Shape 1"/>
          <p:cNvSpPr/>
          <p:nvPr/>
        </p:nvSpPr>
        <p:spPr>
          <a:xfrm>
            <a:off x="6667805" y="2476195"/>
            <a:ext cx="4972507" cy="4591202"/>
          </a:xfrm>
          <a:prstGeom prst="rect">
            <a:avLst/>
          </a:prstGeom>
          <a:solidFill>
            <a:srgbClr val="131A2D"/>
          </a:solidFill>
          <a:ln w="12700">
            <a:solidFill>
              <a:srgbClr val="A78BFA">
                <a:alpha val="40000"/>
              </a:srgbClr>
            </a:solidFill>
            <a:prstDash val="solid"/>
          </a:ln>
        </p:spPr>
      </p:sp>
      <p:sp>
        <p:nvSpPr>
          <p:cNvPr id="5" name="Shape 2"/>
          <p:cNvSpPr/>
          <p:nvPr/>
        </p:nvSpPr>
        <p:spPr>
          <a:xfrm>
            <a:off x="12573000" y="2476195"/>
            <a:ext cx="4972507" cy="4591202"/>
          </a:xfrm>
          <a:prstGeom prst="rect">
            <a:avLst/>
          </a:prstGeom>
          <a:solidFill>
            <a:srgbClr val="131A2D"/>
          </a:solidFill>
          <a:ln w="12700">
            <a:solidFill>
              <a:srgbClr val="F59E0B">
                <a:alpha val="30000"/>
              </a:srgbClr>
            </a:solidFill>
            <a:prstDash val="solid"/>
          </a:ln>
        </p:spPr>
      </p:sp>
      <p:sp>
        <p:nvSpPr>
          <p:cNvPr id="6" name="Shape 3"/>
          <p:cNvSpPr/>
          <p:nvPr/>
        </p:nvSpPr>
        <p:spPr>
          <a:xfrm>
            <a:off x="761695" y="7239305"/>
            <a:ext cx="16782898" cy="1162202"/>
          </a:xfrm>
          <a:prstGeom prst="rect">
            <a:avLst/>
          </a:prstGeom>
          <a:solidFill>
            <a:srgbClr val="0F1525"/>
          </a:solidFill>
          <a:ln w="12700">
            <a:solidFill>
              <a:srgbClr val="FFFFFF">
                <a:alpha val="6000"/>
              </a:srgbClr>
            </a:solidFill>
            <a:prstDash val="solid"/>
          </a:ln>
        </p:spPr>
      </p:sp>
      <p:pic>
        <p:nvPicPr>
          <p:cNvPr id="7" name="Image 0" descr="gen-dedup-7dd2ee937cc3141287d8dd626f99995d.png">    </p:cNvPr>
          <p:cNvPicPr>
            <a:picLocks noChangeAspect="1"/>
          </p:cNvPicPr>
          <p:nvPr/>
        </p:nvPicPr>
        <p:blipFill>
          <a:blip r:embed="rId1"/>
          <a:srcRect l="0" r="0" t="-30" b="-30"/>
          <a:stretch/>
        </p:blipFill>
        <p:spPr>
          <a:xfrm>
            <a:off x="761695" y="8667598"/>
            <a:ext cx="16792956" cy="743407"/>
          </a:xfrm>
          <a:prstGeom prst="rect">
            <a:avLst/>
          </a:prstGeom>
        </p:spPr>
      </p:pic>
      <p:pic>
        <p:nvPicPr>
          <p:cNvPr id="8" name="Image 1" descr="gen-dedup-254703a04c84b6a855582b8f89c36dca.png">    </p:cNvPr>
          <p:cNvPicPr>
            <a:picLocks noChangeAspect="1"/>
          </p:cNvPicPr>
          <p:nvPr/>
        </p:nvPicPr>
        <p:blipFill>
          <a:blip r:embed="rId2"/>
          <a:srcRect l="-2083" r="-2083" t="0" b="0"/>
          <a:stretch/>
        </p:blipFill>
        <p:spPr>
          <a:xfrm>
            <a:off x="761695" y="857707"/>
            <a:ext cx="16763695" cy="9144"/>
          </a:xfrm>
          <a:prstGeom prst="rect">
            <a:avLst/>
          </a:prstGeom>
        </p:spPr>
      </p:pic>
      <p:sp>
        <p:nvSpPr>
          <p:cNvPr id="9" name="Shape 4"/>
          <p:cNvSpPr/>
          <p:nvPr/>
        </p:nvSpPr>
        <p:spPr>
          <a:xfrm>
            <a:off x="761695" y="500177"/>
            <a:ext cx="75895" cy="75895"/>
          </a:xfrm>
          <a:prstGeom prst="rect">
            <a:avLst/>
          </a:prstGeom>
          <a:solidFill>
            <a:srgbClr val="34D399"/>
          </a:solidFill>
          <a:ln w="12700">
            <a:solidFill>
              <a:srgbClr val="FFFFFF">
                <a:alpha val="0"/>
              </a:srgbClr>
            </a:solidFill>
            <a:prstDash val="solid"/>
          </a:ln>
          <a:effectLst>
            <a:outerShdw sx="100000" sy="100000" kx="0" ky="0" algn="bl" rotWithShape="0" blurRad="114300" dist="12700" dir="16200000">
              <a:srgbClr val="34d399">
                <a:alpha val="100000"/>
              </a:srgbClr>
            </a:outerShdw>
          </a:effectLst>
        </p:spPr>
      </p:sp>
      <p:sp>
        <p:nvSpPr>
          <p:cNvPr id="10" name="Text 5"/>
          <p:cNvSpPr txBox="1"/>
          <p:nvPr/>
        </p:nvSpPr>
        <p:spPr>
          <a:xfrm>
            <a:off x="952805" y="457200"/>
            <a:ext cx="3598164" cy="162763"/>
          </a:xfrm>
          <a:prstGeom prst="rect">
            <a:avLst/>
          </a:prstGeom>
          <a:noFill/>
          <a:ln/>
        </p:spPr>
        <p:txBody>
          <a:bodyPr wrap="none" lIns="0" tIns="0" rIns="0" bIns="0" rtlCol="0" anchor="ctr"/>
          <a:lstStyle/>
          <a:p>
            <a:pPr algn="l" indent="0" marL="0">
              <a:buNone/>
            </a:pPr>
            <a:r>
              <a:rPr lang="en-US" sz="1050" spc="294" kern="0" dirty="0">
                <a:solidFill>
                  <a:srgbClr val="34D399"/>
                </a:solidFill>
                <a:latin typeface="Inter" pitchFamily="34" charset="0"/>
                <a:ea typeface="Inter" pitchFamily="34" charset="-122"/>
                <a:cs typeface="Inter" pitchFamily="34" charset="-120"/>
              </a:rPr>
              <a:t>SLIDE 05 · In-Wafer Uniformity</a:t>
            </a:r>
            <a:endParaRPr lang="en-US" sz="1050" dirty="0"/>
          </a:p>
        </p:txBody>
      </p:sp>
      <p:sp>
        <p:nvSpPr>
          <p:cNvPr id="11" name="Text 6"/>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7 × 7 DIES · 49 SITES / WAFER</a:t>
            </a:r>
            <a:endParaRPr lang="en-US" sz="1200" dirty="0"/>
          </a:p>
        </p:txBody>
      </p:sp>
      <p:sp>
        <p:nvSpPr>
          <p:cNvPr id="12" name="Text 7"/>
          <p:cNvSpPr txBox="1"/>
          <p:nvPr/>
        </p:nvSpPr>
        <p:spPr>
          <a:xfrm>
            <a:off x="761695" y="1143000"/>
            <a:ext cx="14287500" cy="467258"/>
          </a:xfrm>
          <a:prstGeom prst="rect">
            <a:avLst/>
          </a:prstGeom>
          <a:noFill/>
          <a:ln/>
        </p:spPr>
        <p:txBody>
          <a:bodyPr wrap="none" lIns="0" tIns="0" rIns="0" bIns="0" rtlCol="0" anchor="ctr"/>
          <a:lstStyle/>
          <a:p>
            <a:pPr algn="l" indent="0" marL="0">
              <a:buNone/>
            </a:pPr>
            <a:r>
              <a:rPr lang="en-US" sz="3300" b="1" spc="-33" kern="0" dirty="0">
                <a:solidFill>
                  <a:srgbClr val="E6EDF7"/>
                </a:solidFill>
                <a:latin typeface="Inter" pitchFamily="34" charset="0"/>
                <a:ea typeface="Inter" pitchFamily="34" charset="-122"/>
                <a:cs typeface="Inter" pitchFamily="34" charset="-120"/>
              </a:rPr>
              <a:t>49pt In-Wafer Uniformity · AASI 기준</a:t>
            </a:r>
            <a:endParaRPr lang="en-US" sz="3300" dirty="0"/>
          </a:p>
        </p:txBody>
      </p:sp>
      <p:sp>
        <p:nvSpPr>
          <p:cNvPr id="13" name="Text 8"/>
          <p:cNvSpPr txBox="1"/>
          <p:nvPr/>
        </p:nvSpPr>
        <p:spPr>
          <a:xfrm>
            <a:off x="761695" y="1737360"/>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Split 대표 wafer(W01 / W04 / W05)에서의 AASI 절대값 분포 — 셀 색은 target 24.1 nm 대비 deviation을 표시한다.</a:t>
            </a:r>
            <a:endParaRPr lang="en-US" sz="1500" dirty="0"/>
          </a:p>
        </p:txBody>
      </p:sp>
      <p:sp>
        <p:nvSpPr>
          <p:cNvPr id="14" name="Text 9"/>
          <p:cNvSpPr txBox="1"/>
          <p:nvPr/>
        </p:nvSpPr>
        <p:spPr>
          <a:xfrm>
            <a:off x="1047902" y="2667305"/>
            <a:ext cx="4572000" cy="133502"/>
          </a:xfrm>
          <a:prstGeom prst="rect">
            <a:avLst/>
          </a:prstGeom>
          <a:noFill/>
          <a:ln/>
        </p:spPr>
        <p:txBody>
          <a:bodyPr wrap="none" lIns="0" tIns="0" rIns="0" bIns="0" rtlCol="0" anchor="ctr"/>
          <a:lstStyle/>
          <a:p>
            <a:pPr algn="l" indent="0" marL="0">
              <a:buNone/>
            </a:pPr>
            <a:r>
              <a:rPr lang="en-US" sz="825" spc="182" kern="0" dirty="0">
                <a:solidFill>
                  <a:srgbClr val="22D3EE"/>
                </a:solidFill>
                <a:latin typeface="JetBrains Mono" pitchFamily="34" charset="0"/>
                <a:ea typeface="JetBrains Mono" pitchFamily="34" charset="-122"/>
                <a:cs typeface="JetBrains Mono" pitchFamily="34" charset="-120"/>
              </a:rPr>
              <a:t>SPLIT A · W01 · 1.0 nm</a:t>
            </a:r>
            <a:endParaRPr lang="en-US" sz="825" dirty="0"/>
          </a:p>
        </p:txBody>
      </p:sp>
      <p:sp>
        <p:nvSpPr>
          <p:cNvPr id="15" name="Text 10"/>
          <p:cNvSpPr txBox="1"/>
          <p:nvPr/>
        </p:nvSpPr>
        <p:spPr>
          <a:xfrm>
            <a:off x="1047902" y="2857500"/>
            <a:ext cx="457200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mean </a:t>
            </a:r>
            <a:pPr algn="l" indent="0" marL="0">
              <a:buNone/>
            </a:pPr>
            <a:r>
              <a:rPr lang="en-US" sz="1800" b="1" dirty="0">
                <a:solidFill>
                  <a:srgbClr val="22D3EE"/>
                </a:solidFill>
                <a:latin typeface="Inter" pitchFamily="34" charset="0"/>
                <a:ea typeface="Inter" pitchFamily="34" charset="-122"/>
                <a:cs typeface="Inter" pitchFamily="34" charset="-120"/>
              </a:rPr>
              <a:t>24.42</a:t>
            </a:r>
            <a:pPr algn="l" indent="0" marL="0">
              <a:buNone/>
            </a:pPr>
            <a:r>
              <a:rPr lang="en-US" sz="1800" b="1" dirty="0">
                <a:solidFill>
                  <a:srgbClr val="E6EDF7"/>
                </a:solidFill>
                <a:latin typeface="Inter" pitchFamily="34" charset="0"/>
                <a:ea typeface="Inter" pitchFamily="34" charset="-122"/>
                <a:cs typeface="Inter" pitchFamily="34" charset="-120"/>
              </a:rPr>
              <a:t> · 3σ </a:t>
            </a:r>
            <a:pPr algn="l" indent="0" marL="0">
              <a:buNone/>
            </a:pPr>
            <a:r>
              <a:rPr lang="en-US" sz="1800" b="1" dirty="0">
                <a:solidFill>
                  <a:srgbClr val="E6EDF7"/>
                </a:solidFill>
                <a:latin typeface="Inter" pitchFamily="34" charset="0"/>
                <a:ea typeface="Inter" pitchFamily="34" charset="-122"/>
                <a:cs typeface="Inter" pitchFamily="34" charset="-120"/>
              </a:rPr>
              <a:t>1.72</a:t>
            </a:r>
            <a:endParaRPr lang="en-US" sz="1800" dirty="0"/>
          </a:p>
        </p:txBody>
      </p:sp>
      <p:sp>
        <p:nvSpPr>
          <p:cNvPr id="16" name="Shape 11"/>
          <p:cNvSpPr/>
          <p:nvPr/>
        </p:nvSpPr>
        <p:spPr>
          <a:xfrm>
            <a:off x="1143000" y="3429000"/>
            <a:ext cx="552298" cy="552298"/>
          </a:xfrm>
          <a:prstGeom prst="rect">
            <a:avLst/>
          </a:prstGeom>
          <a:solidFill>
            <a:srgbClr val="F59E0B">
              <a:alpha val="30000"/>
            </a:srgbClr>
          </a:solidFill>
          <a:ln w="12700">
            <a:solidFill>
              <a:srgbClr val="F59E0B">
                <a:alpha val="40000"/>
              </a:srgbClr>
            </a:solidFill>
            <a:prstDash val="solid"/>
          </a:ln>
        </p:spPr>
      </p:sp>
      <p:sp>
        <p:nvSpPr>
          <p:cNvPr id="17" name="Shape 12"/>
          <p:cNvSpPr/>
          <p:nvPr/>
        </p:nvSpPr>
        <p:spPr>
          <a:xfrm>
            <a:off x="1750162" y="3429000"/>
            <a:ext cx="552298" cy="552298"/>
          </a:xfrm>
          <a:prstGeom prst="rect">
            <a:avLst/>
          </a:prstGeom>
          <a:solidFill>
            <a:srgbClr val="F59E0B">
              <a:alpha val="22000"/>
            </a:srgbClr>
          </a:solidFill>
          <a:ln w="12700">
            <a:solidFill>
              <a:srgbClr val="F59E0B">
                <a:alpha val="35000"/>
              </a:srgbClr>
            </a:solidFill>
            <a:prstDash val="solid"/>
          </a:ln>
        </p:spPr>
      </p:sp>
      <p:sp>
        <p:nvSpPr>
          <p:cNvPr id="18" name="Shape 13"/>
          <p:cNvSpPr/>
          <p:nvPr/>
        </p:nvSpPr>
        <p:spPr>
          <a:xfrm>
            <a:off x="2356409" y="3429000"/>
            <a:ext cx="552298" cy="552298"/>
          </a:xfrm>
          <a:prstGeom prst="rect">
            <a:avLst/>
          </a:prstGeom>
          <a:solidFill>
            <a:srgbClr val="F59E0B">
              <a:alpha val="34000"/>
            </a:srgbClr>
          </a:solidFill>
          <a:ln w="12700">
            <a:solidFill>
              <a:srgbClr val="F59E0B">
                <a:alpha val="42000"/>
              </a:srgbClr>
            </a:solidFill>
            <a:prstDash val="solid"/>
          </a:ln>
        </p:spPr>
      </p:sp>
      <p:sp>
        <p:nvSpPr>
          <p:cNvPr id="19" name="Shape 14"/>
          <p:cNvSpPr/>
          <p:nvPr/>
        </p:nvSpPr>
        <p:spPr>
          <a:xfrm>
            <a:off x="2963570" y="3429000"/>
            <a:ext cx="552298" cy="552298"/>
          </a:xfrm>
          <a:prstGeom prst="rect">
            <a:avLst/>
          </a:prstGeom>
          <a:solidFill>
            <a:srgbClr val="F59E0B">
              <a:alpha val="28000"/>
            </a:srgbClr>
          </a:solidFill>
          <a:ln w="12700">
            <a:solidFill>
              <a:srgbClr val="F59E0B">
                <a:alpha val="38000"/>
              </a:srgbClr>
            </a:solidFill>
            <a:prstDash val="solid"/>
          </a:ln>
        </p:spPr>
      </p:sp>
      <p:sp>
        <p:nvSpPr>
          <p:cNvPr id="20" name="Shape 15"/>
          <p:cNvSpPr/>
          <p:nvPr/>
        </p:nvSpPr>
        <p:spPr>
          <a:xfrm>
            <a:off x="3570732" y="3429000"/>
            <a:ext cx="552298" cy="552298"/>
          </a:xfrm>
          <a:prstGeom prst="rect">
            <a:avLst/>
          </a:prstGeom>
          <a:solidFill>
            <a:srgbClr val="F59E0B">
              <a:alpha val="36000"/>
            </a:srgbClr>
          </a:solidFill>
          <a:ln w="12700">
            <a:solidFill>
              <a:srgbClr val="F59E0B">
                <a:alpha val="45000"/>
              </a:srgbClr>
            </a:solidFill>
            <a:prstDash val="solid"/>
          </a:ln>
        </p:spPr>
      </p:sp>
      <p:sp>
        <p:nvSpPr>
          <p:cNvPr id="21" name="Shape 16"/>
          <p:cNvSpPr/>
          <p:nvPr/>
        </p:nvSpPr>
        <p:spPr>
          <a:xfrm>
            <a:off x="4177894" y="3429000"/>
            <a:ext cx="552298" cy="552298"/>
          </a:xfrm>
          <a:prstGeom prst="rect">
            <a:avLst/>
          </a:prstGeom>
          <a:solidFill>
            <a:srgbClr val="F59E0B">
              <a:alpha val="30000"/>
            </a:srgbClr>
          </a:solidFill>
          <a:ln w="12700">
            <a:solidFill>
              <a:srgbClr val="F59E0B">
                <a:alpha val="40000"/>
              </a:srgbClr>
            </a:solidFill>
            <a:prstDash val="solid"/>
          </a:ln>
        </p:spPr>
      </p:sp>
      <p:sp>
        <p:nvSpPr>
          <p:cNvPr id="22" name="Shape 17"/>
          <p:cNvSpPr/>
          <p:nvPr/>
        </p:nvSpPr>
        <p:spPr>
          <a:xfrm>
            <a:off x="4784141" y="3429000"/>
            <a:ext cx="552298" cy="552298"/>
          </a:xfrm>
          <a:prstGeom prst="rect">
            <a:avLst/>
          </a:prstGeom>
          <a:solidFill>
            <a:srgbClr val="F59E0B">
              <a:alpha val="42000"/>
            </a:srgbClr>
          </a:solidFill>
          <a:ln w="12700">
            <a:solidFill>
              <a:srgbClr val="F59E0B">
                <a:alpha val="50000"/>
              </a:srgbClr>
            </a:solidFill>
            <a:prstDash val="solid"/>
          </a:ln>
        </p:spPr>
      </p:sp>
      <p:sp>
        <p:nvSpPr>
          <p:cNvPr id="23" name="Shape 18"/>
          <p:cNvSpPr/>
          <p:nvPr/>
        </p:nvSpPr>
        <p:spPr>
          <a:xfrm>
            <a:off x="1143000" y="4036162"/>
            <a:ext cx="552298" cy="552298"/>
          </a:xfrm>
          <a:prstGeom prst="rect">
            <a:avLst/>
          </a:prstGeom>
          <a:solidFill>
            <a:srgbClr val="F59E0B">
              <a:alpha val="18000"/>
            </a:srgbClr>
          </a:solidFill>
          <a:ln w="12700">
            <a:solidFill>
              <a:srgbClr val="F59E0B">
                <a:alpha val="30000"/>
              </a:srgbClr>
            </a:solidFill>
            <a:prstDash val="solid"/>
          </a:ln>
        </p:spPr>
      </p:sp>
      <p:sp>
        <p:nvSpPr>
          <p:cNvPr id="24" name="Shape 19"/>
          <p:cNvSpPr/>
          <p:nvPr/>
        </p:nvSpPr>
        <p:spPr>
          <a:xfrm>
            <a:off x="1750162" y="4036162"/>
            <a:ext cx="552298" cy="552298"/>
          </a:xfrm>
          <a:prstGeom prst="rect">
            <a:avLst/>
          </a:prstGeom>
          <a:solidFill>
            <a:srgbClr val="F59E0B">
              <a:alpha val="26000"/>
            </a:srgbClr>
          </a:solidFill>
          <a:ln w="12700">
            <a:solidFill>
              <a:srgbClr val="F59E0B">
                <a:alpha val="36000"/>
              </a:srgbClr>
            </a:solidFill>
            <a:prstDash val="solid"/>
          </a:ln>
        </p:spPr>
      </p:sp>
      <p:sp>
        <p:nvSpPr>
          <p:cNvPr id="25" name="Shape 20"/>
          <p:cNvSpPr/>
          <p:nvPr/>
        </p:nvSpPr>
        <p:spPr>
          <a:xfrm>
            <a:off x="2356409" y="4036162"/>
            <a:ext cx="552298" cy="552298"/>
          </a:xfrm>
          <a:prstGeom prst="rect">
            <a:avLst/>
          </a:prstGeom>
          <a:solidFill>
            <a:srgbClr val="F59E0B">
              <a:alpha val="20000"/>
            </a:srgbClr>
          </a:solidFill>
          <a:ln w="12700">
            <a:solidFill>
              <a:srgbClr val="F59E0B">
                <a:alpha val="32000"/>
              </a:srgbClr>
            </a:solidFill>
            <a:prstDash val="solid"/>
          </a:ln>
        </p:spPr>
      </p:sp>
      <p:sp>
        <p:nvSpPr>
          <p:cNvPr id="26" name="Shape 21"/>
          <p:cNvSpPr/>
          <p:nvPr/>
        </p:nvSpPr>
        <p:spPr>
          <a:xfrm>
            <a:off x="2963570" y="4036162"/>
            <a:ext cx="552298" cy="552298"/>
          </a:xfrm>
          <a:prstGeom prst="rect">
            <a:avLst/>
          </a:prstGeom>
          <a:solidFill>
            <a:srgbClr val="F59E0B">
              <a:alpha val="22000"/>
            </a:srgbClr>
          </a:solidFill>
          <a:ln w="12700">
            <a:solidFill>
              <a:srgbClr val="F59E0B">
                <a:alpha val="34000"/>
              </a:srgbClr>
            </a:solidFill>
            <a:prstDash val="solid"/>
          </a:ln>
        </p:spPr>
      </p:sp>
      <p:sp>
        <p:nvSpPr>
          <p:cNvPr id="27" name="Shape 22"/>
          <p:cNvSpPr/>
          <p:nvPr/>
        </p:nvSpPr>
        <p:spPr>
          <a:xfrm>
            <a:off x="3570732" y="4036162"/>
            <a:ext cx="552298" cy="552298"/>
          </a:xfrm>
          <a:prstGeom prst="rect">
            <a:avLst/>
          </a:prstGeom>
          <a:solidFill>
            <a:srgbClr val="F59E0B">
              <a:alpha val="30000"/>
            </a:srgbClr>
          </a:solidFill>
          <a:ln w="12700">
            <a:solidFill>
              <a:srgbClr val="F59E0B">
                <a:alpha val="40000"/>
              </a:srgbClr>
            </a:solidFill>
            <a:prstDash val="solid"/>
          </a:ln>
        </p:spPr>
      </p:sp>
      <p:sp>
        <p:nvSpPr>
          <p:cNvPr id="28" name="Shape 23"/>
          <p:cNvSpPr/>
          <p:nvPr/>
        </p:nvSpPr>
        <p:spPr>
          <a:xfrm>
            <a:off x="4177894" y="4036162"/>
            <a:ext cx="552298" cy="552298"/>
          </a:xfrm>
          <a:prstGeom prst="rect">
            <a:avLst/>
          </a:prstGeom>
          <a:solidFill>
            <a:srgbClr val="F59E0B">
              <a:alpha val="34000"/>
            </a:srgbClr>
          </a:solidFill>
          <a:ln w="12700">
            <a:solidFill>
              <a:srgbClr val="F59E0B">
                <a:alpha val="44000"/>
              </a:srgbClr>
            </a:solidFill>
            <a:prstDash val="solid"/>
          </a:ln>
        </p:spPr>
      </p:sp>
      <p:sp>
        <p:nvSpPr>
          <p:cNvPr id="29" name="Shape 24"/>
          <p:cNvSpPr/>
          <p:nvPr/>
        </p:nvSpPr>
        <p:spPr>
          <a:xfrm>
            <a:off x="4784141" y="4036162"/>
            <a:ext cx="552298" cy="552298"/>
          </a:xfrm>
          <a:prstGeom prst="rect">
            <a:avLst/>
          </a:prstGeom>
          <a:solidFill>
            <a:srgbClr val="F59E0B">
              <a:alpha val="40000"/>
            </a:srgbClr>
          </a:solidFill>
          <a:ln w="12700">
            <a:solidFill>
              <a:srgbClr val="F59E0B">
                <a:alpha val="48000"/>
              </a:srgbClr>
            </a:solidFill>
            <a:prstDash val="solid"/>
          </a:ln>
        </p:spPr>
      </p:sp>
      <p:sp>
        <p:nvSpPr>
          <p:cNvPr id="30" name="Shape 25"/>
          <p:cNvSpPr/>
          <p:nvPr/>
        </p:nvSpPr>
        <p:spPr>
          <a:xfrm>
            <a:off x="1143000" y="4642409"/>
            <a:ext cx="552298" cy="552298"/>
          </a:xfrm>
          <a:prstGeom prst="rect">
            <a:avLst/>
          </a:prstGeom>
          <a:solidFill>
            <a:srgbClr val="F59E0B">
              <a:alpha val="18000"/>
            </a:srgbClr>
          </a:solidFill>
          <a:ln w="12700">
            <a:solidFill>
              <a:srgbClr val="F59E0B">
                <a:alpha val="30000"/>
              </a:srgbClr>
            </a:solidFill>
            <a:prstDash val="solid"/>
          </a:ln>
        </p:spPr>
      </p:sp>
      <p:sp>
        <p:nvSpPr>
          <p:cNvPr id="31" name="Shape 26"/>
          <p:cNvSpPr/>
          <p:nvPr/>
        </p:nvSpPr>
        <p:spPr>
          <a:xfrm>
            <a:off x="1750162" y="4642409"/>
            <a:ext cx="552298" cy="552298"/>
          </a:xfrm>
          <a:prstGeom prst="rect">
            <a:avLst/>
          </a:prstGeom>
          <a:solidFill>
            <a:srgbClr val="F59E0B">
              <a:alpha val="22000"/>
            </a:srgbClr>
          </a:solidFill>
          <a:ln w="12700">
            <a:solidFill>
              <a:srgbClr val="F59E0B">
                <a:alpha val="34000"/>
              </a:srgbClr>
            </a:solidFill>
            <a:prstDash val="solid"/>
          </a:ln>
        </p:spPr>
      </p:sp>
      <p:sp>
        <p:nvSpPr>
          <p:cNvPr id="32" name="Shape 27"/>
          <p:cNvSpPr/>
          <p:nvPr/>
        </p:nvSpPr>
        <p:spPr>
          <a:xfrm>
            <a:off x="2356409" y="4642409"/>
            <a:ext cx="552298" cy="552298"/>
          </a:xfrm>
          <a:prstGeom prst="rect">
            <a:avLst/>
          </a:prstGeom>
          <a:solidFill>
            <a:srgbClr val="22D3EE">
              <a:alpha val="22000"/>
            </a:srgbClr>
          </a:solidFill>
          <a:ln w="12700">
            <a:solidFill>
              <a:srgbClr val="22D3EE">
                <a:alpha val="34000"/>
              </a:srgbClr>
            </a:solidFill>
            <a:prstDash val="solid"/>
          </a:ln>
        </p:spPr>
      </p:sp>
      <p:sp>
        <p:nvSpPr>
          <p:cNvPr id="33" name="Shape 28"/>
          <p:cNvSpPr/>
          <p:nvPr/>
        </p:nvSpPr>
        <p:spPr>
          <a:xfrm>
            <a:off x="2963570" y="4642409"/>
            <a:ext cx="552298" cy="552298"/>
          </a:xfrm>
          <a:prstGeom prst="rect">
            <a:avLst/>
          </a:prstGeom>
          <a:solidFill>
            <a:srgbClr val="F59E0B">
              <a:alpha val="20000"/>
            </a:srgbClr>
          </a:solidFill>
          <a:ln w="12700">
            <a:solidFill>
              <a:srgbClr val="F59E0B">
                <a:alpha val="32000"/>
              </a:srgbClr>
            </a:solidFill>
            <a:prstDash val="solid"/>
          </a:ln>
        </p:spPr>
      </p:sp>
      <p:sp>
        <p:nvSpPr>
          <p:cNvPr id="34" name="Shape 29"/>
          <p:cNvSpPr/>
          <p:nvPr/>
        </p:nvSpPr>
        <p:spPr>
          <a:xfrm>
            <a:off x="3570732" y="4642409"/>
            <a:ext cx="552298" cy="552298"/>
          </a:xfrm>
          <a:prstGeom prst="rect">
            <a:avLst/>
          </a:prstGeom>
          <a:solidFill>
            <a:srgbClr val="F59E0B">
              <a:alpha val="26000"/>
            </a:srgbClr>
          </a:solidFill>
          <a:ln w="12700">
            <a:solidFill>
              <a:srgbClr val="F59E0B">
                <a:alpha val="36000"/>
              </a:srgbClr>
            </a:solidFill>
            <a:prstDash val="solid"/>
          </a:ln>
        </p:spPr>
      </p:sp>
      <p:sp>
        <p:nvSpPr>
          <p:cNvPr id="35" name="Shape 30"/>
          <p:cNvSpPr/>
          <p:nvPr/>
        </p:nvSpPr>
        <p:spPr>
          <a:xfrm>
            <a:off x="4177894" y="4642409"/>
            <a:ext cx="552298" cy="552298"/>
          </a:xfrm>
          <a:prstGeom prst="rect">
            <a:avLst/>
          </a:prstGeom>
          <a:solidFill>
            <a:srgbClr val="F59E0B">
              <a:alpha val="30000"/>
            </a:srgbClr>
          </a:solidFill>
          <a:ln w="12700">
            <a:solidFill>
              <a:srgbClr val="F59E0B">
                <a:alpha val="40000"/>
              </a:srgbClr>
            </a:solidFill>
            <a:prstDash val="solid"/>
          </a:ln>
        </p:spPr>
      </p:sp>
      <p:sp>
        <p:nvSpPr>
          <p:cNvPr id="36" name="Shape 31"/>
          <p:cNvSpPr/>
          <p:nvPr/>
        </p:nvSpPr>
        <p:spPr>
          <a:xfrm>
            <a:off x="4784141" y="4642409"/>
            <a:ext cx="552298" cy="552298"/>
          </a:xfrm>
          <a:prstGeom prst="rect">
            <a:avLst/>
          </a:prstGeom>
          <a:solidFill>
            <a:srgbClr val="F59E0B">
              <a:alpha val="42000"/>
            </a:srgbClr>
          </a:solidFill>
          <a:ln w="12700">
            <a:solidFill>
              <a:srgbClr val="F59E0B">
                <a:alpha val="50000"/>
              </a:srgbClr>
            </a:solidFill>
            <a:prstDash val="solid"/>
          </a:ln>
        </p:spPr>
      </p:sp>
      <p:sp>
        <p:nvSpPr>
          <p:cNvPr id="37" name="Shape 32"/>
          <p:cNvSpPr/>
          <p:nvPr/>
        </p:nvSpPr>
        <p:spPr>
          <a:xfrm>
            <a:off x="1143000" y="5249570"/>
            <a:ext cx="552298" cy="552298"/>
          </a:xfrm>
          <a:prstGeom prst="rect">
            <a:avLst/>
          </a:prstGeom>
          <a:solidFill>
            <a:srgbClr val="F59E0B">
              <a:alpha val="22000"/>
            </a:srgbClr>
          </a:solidFill>
          <a:ln w="12700">
            <a:solidFill>
              <a:srgbClr val="F59E0B">
                <a:alpha val="34000"/>
              </a:srgbClr>
            </a:solidFill>
            <a:prstDash val="solid"/>
          </a:ln>
        </p:spPr>
      </p:sp>
      <p:sp>
        <p:nvSpPr>
          <p:cNvPr id="38" name="Shape 33"/>
          <p:cNvSpPr/>
          <p:nvPr/>
        </p:nvSpPr>
        <p:spPr>
          <a:xfrm>
            <a:off x="1750162" y="5249570"/>
            <a:ext cx="552298" cy="552298"/>
          </a:xfrm>
          <a:prstGeom prst="rect">
            <a:avLst/>
          </a:prstGeom>
          <a:solidFill>
            <a:srgbClr val="F59E0B">
              <a:alpha val="18000"/>
            </a:srgbClr>
          </a:solidFill>
          <a:ln w="12700">
            <a:solidFill>
              <a:srgbClr val="F59E0B">
                <a:alpha val="30000"/>
              </a:srgbClr>
            </a:solidFill>
            <a:prstDash val="solid"/>
          </a:ln>
        </p:spPr>
      </p:sp>
      <p:sp>
        <p:nvSpPr>
          <p:cNvPr id="39" name="Shape 34"/>
          <p:cNvSpPr/>
          <p:nvPr/>
        </p:nvSpPr>
        <p:spPr>
          <a:xfrm>
            <a:off x="2356409" y="5249570"/>
            <a:ext cx="552298" cy="552298"/>
          </a:xfrm>
          <a:prstGeom prst="rect">
            <a:avLst/>
          </a:prstGeom>
          <a:solidFill>
            <a:srgbClr val="F59E0B">
              <a:alpha val="18000"/>
            </a:srgbClr>
          </a:solidFill>
          <a:ln w="12700">
            <a:solidFill>
              <a:srgbClr val="F59E0B">
                <a:alpha val="30000"/>
              </a:srgbClr>
            </a:solidFill>
            <a:prstDash val="solid"/>
          </a:ln>
        </p:spPr>
      </p:sp>
      <p:sp>
        <p:nvSpPr>
          <p:cNvPr id="40" name="Shape 35"/>
          <p:cNvSpPr/>
          <p:nvPr/>
        </p:nvSpPr>
        <p:spPr>
          <a:xfrm>
            <a:off x="2963570" y="5249570"/>
            <a:ext cx="552298" cy="552298"/>
          </a:xfrm>
          <a:prstGeom prst="rect">
            <a:avLst/>
          </a:prstGeom>
          <a:solidFill>
            <a:srgbClr val="22D3EE">
              <a:alpha val="18000"/>
            </a:srgbClr>
          </a:solidFill>
          <a:ln w="12700">
            <a:solidFill>
              <a:srgbClr val="22D3EE">
                <a:alpha val="30000"/>
              </a:srgbClr>
            </a:solidFill>
            <a:prstDash val="solid"/>
          </a:ln>
        </p:spPr>
      </p:sp>
      <p:sp>
        <p:nvSpPr>
          <p:cNvPr id="41" name="Shape 36"/>
          <p:cNvSpPr/>
          <p:nvPr/>
        </p:nvSpPr>
        <p:spPr>
          <a:xfrm>
            <a:off x="3570732" y="5249570"/>
            <a:ext cx="552298" cy="552298"/>
          </a:xfrm>
          <a:prstGeom prst="rect">
            <a:avLst/>
          </a:prstGeom>
          <a:solidFill>
            <a:srgbClr val="F59E0B">
              <a:alpha val="22000"/>
            </a:srgbClr>
          </a:solidFill>
          <a:ln w="12700">
            <a:solidFill>
              <a:srgbClr val="F59E0B">
                <a:alpha val="34000"/>
              </a:srgbClr>
            </a:solidFill>
            <a:prstDash val="solid"/>
          </a:ln>
        </p:spPr>
      </p:sp>
      <p:sp>
        <p:nvSpPr>
          <p:cNvPr id="42" name="Shape 37"/>
          <p:cNvSpPr/>
          <p:nvPr/>
        </p:nvSpPr>
        <p:spPr>
          <a:xfrm>
            <a:off x="4177894" y="5249570"/>
            <a:ext cx="552298" cy="552298"/>
          </a:xfrm>
          <a:prstGeom prst="rect">
            <a:avLst/>
          </a:prstGeom>
          <a:solidFill>
            <a:srgbClr val="F59E0B">
              <a:alpha val="26000"/>
            </a:srgbClr>
          </a:solidFill>
          <a:ln w="12700">
            <a:solidFill>
              <a:srgbClr val="F59E0B">
                <a:alpha val="36000"/>
              </a:srgbClr>
            </a:solidFill>
            <a:prstDash val="solid"/>
          </a:ln>
        </p:spPr>
      </p:sp>
      <p:sp>
        <p:nvSpPr>
          <p:cNvPr id="43" name="Shape 38"/>
          <p:cNvSpPr/>
          <p:nvPr/>
        </p:nvSpPr>
        <p:spPr>
          <a:xfrm>
            <a:off x="4784141" y="5249570"/>
            <a:ext cx="552298" cy="552298"/>
          </a:xfrm>
          <a:prstGeom prst="rect">
            <a:avLst/>
          </a:prstGeom>
          <a:solidFill>
            <a:srgbClr val="F59E0B">
              <a:alpha val="34000"/>
            </a:srgbClr>
          </a:solidFill>
          <a:ln w="12700">
            <a:solidFill>
              <a:srgbClr val="F59E0B">
                <a:alpha val="42000"/>
              </a:srgbClr>
            </a:solidFill>
            <a:prstDash val="solid"/>
          </a:ln>
        </p:spPr>
      </p:sp>
      <p:sp>
        <p:nvSpPr>
          <p:cNvPr id="44" name="Shape 39"/>
          <p:cNvSpPr/>
          <p:nvPr/>
        </p:nvSpPr>
        <p:spPr>
          <a:xfrm>
            <a:off x="1143000" y="5856732"/>
            <a:ext cx="552298" cy="552298"/>
          </a:xfrm>
          <a:prstGeom prst="rect">
            <a:avLst/>
          </a:prstGeom>
          <a:solidFill>
            <a:srgbClr val="F59E0B">
              <a:alpha val="26000"/>
            </a:srgbClr>
          </a:solidFill>
          <a:ln w="12700">
            <a:solidFill>
              <a:srgbClr val="F59E0B">
                <a:alpha val="36000"/>
              </a:srgbClr>
            </a:solidFill>
            <a:prstDash val="solid"/>
          </a:ln>
        </p:spPr>
      </p:sp>
      <p:sp>
        <p:nvSpPr>
          <p:cNvPr id="45" name="Shape 40"/>
          <p:cNvSpPr/>
          <p:nvPr/>
        </p:nvSpPr>
        <p:spPr>
          <a:xfrm>
            <a:off x="1750162" y="5856732"/>
            <a:ext cx="552298" cy="552298"/>
          </a:xfrm>
          <a:prstGeom prst="rect">
            <a:avLst/>
          </a:prstGeom>
          <a:solidFill>
            <a:srgbClr val="F59E0B">
              <a:alpha val="22000"/>
            </a:srgbClr>
          </a:solidFill>
          <a:ln w="12700">
            <a:solidFill>
              <a:srgbClr val="F59E0B">
                <a:alpha val="34000"/>
              </a:srgbClr>
            </a:solidFill>
            <a:prstDash val="solid"/>
          </a:ln>
        </p:spPr>
      </p:sp>
      <p:sp>
        <p:nvSpPr>
          <p:cNvPr id="46" name="Shape 41"/>
          <p:cNvSpPr/>
          <p:nvPr/>
        </p:nvSpPr>
        <p:spPr>
          <a:xfrm>
            <a:off x="2356409" y="5856732"/>
            <a:ext cx="552298" cy="552298"/>
          </a:xfrm>
          <a:prstGeom prst="rect">
            <a:avLst/>
          </a:prstGeom>
          <a:solidFill>
            <a:srgbClr val="F59E0B">
              <a:alpha val="20000"/>
            </a:srgbClr>
          </a:solidFill>
          <a:ln w="12700">
            <a:solidFill>
              <a:srgbClr val="F59E0B">
                <a:alpha val="32000"/>
              </a:srgbClr>
            </a:solidFill>
            <a:prstDash val="solid"/>
          </a:ln>
        </p:spPr>
      </p:sp>
      <p:sp>
        <p:nvSpPr>
          <p:cNvPr id="47" name="Shape 42"/>
          <p:cNvSpPr/>
          <p:nvPr/>
        </p:nvSpPr>
        <p:spPr>
          <a:xfrm>
            <a:off x="2963570" y="5856732"/>
            <a:ext cx="552298" cy="552298"/>
          </a:xfrm>
          <a:prstGeom prst="rect">
            <a:avLst/>
          </a:prstGeom>
          <a:solidFill>
            <a:srgbClr val="F59E0B">
              <a:alpha val="24000"/>
            </a:srgbClr>
          </a:solidFill>
          <a:ln w="12700">
            <a:solidFill>
              <a:srgbClr val="F59E0B">
                <a:alpha val="36000"/>
              </a:srgbClr>
            </a:solidFill>
            <a:prstDash val="solid"/>
          </a:ln>
        </p:spPr>
      </p:sp>
      <p:sp>
        <p:nvSpPr>
          <p:cNvPr id="48" name="Shape 43"/>
          <p:cNvSpPr/>
          <p:nvPr/>
        </p:nvSpPr>
        <p:spPr>
          <a:xfrm>
            <a:off x="3570732" y="5856732"/>
            <a:ext cx="552298" cy="552298"/>
          </a:xfrm>
          <a:prstGeom prst="rect">
            <a:avLst/>
          </a:prstGeom>
          <a:solidFill>
            <a:srgbClr val="F59E0B">
              <a:alpha val="28000"/>
            </a:srgbClr>
          </a:solidFill>
          <a:ln w="12700">
            <a:solidFill>
              <a:srgbClr val="F59E0B">
                <a:alpha val="38000"/>
              </a:srgbClr>
            </a:solidFill>
            <a:prstDash val="solid"/>
          </a:ln>
        </p:spPr>
      </p:sp>
      <p:sp>
        <p:nvSpPr>
          <p:cNvPr id="49" name="Shape 44"/>
          <p:cNvSpPr/>
          <p:nvPr/>
        </p:nvSpPr>
        <p:spPr>
          <a:xfrm>
            <a:off x="4177894" y="5856732"/>
            <a:ext cx="552298" cy="552298"/>
          </a:xfrm>
          <a:prstGeom prst="rect">
            <a:avLst/>
          </a:prstGeom>
          <a:solidFill>
            <a:srgbClr val="F59E0B">
              <a:alpha val="34000"/>
            </a:srgbClr>
          </a:solidFill>
          <a:ln w="12700">
            <a:solidFill>
              <a:srgbClr val="F59E0B">
                <a:alpha val="44000"/>
              </a:srgbClr>
            </a:solidFill>
            <a:prstDash val="solid"/>
          </a:ln>
        </p:spPr>
      </p:sp>
      <p:sp>
        <p:nvSpPr>
          <p:cNvPr id="50" name="Shape 45"/>
          <p:cNvSpPr/>
          <p:nvPr/>
        </p:nvSpPr>
        <p:spPr>
          <a:xfrm>
            <a:off x="4784141" y="5856732"/>
            <a:ext cx="552298" cy="552298"/>
          </a:xfrm>
          <a:prstGeom prst="rect">
            <a:avLst/>
          </a:prstGeom>
          <a:solidFill>
            <a:srgbClr val="F59E0B">
              <a:alpha val="40000"/>
            </a:srgbClr>
          </a:solidFill>
          <a:ln w="12700">
            <a:solidFill>
              <a:srgbClr val="F59E0B">
                <a:alpha val="48000"/>
              </a:srgbClr>
            </a:solidFill>
            <a:prstDash val="solid"/>
          </a:ln>
        </p:spPr>
      </p:sp>
      <p:sp>
        <p:nvSpPr>
          <p:cNvPr id="51" name="Shape 46"/>
          <p:cNvSpPr/>
          <p:nvPr/>
        </p:nvSpPr>
        <p:spPr>
          <a:xfrm>
            <a:off x="1143000" y="6463894"/>
            <a:ext cx="552298" cy="552298"/>
          </a:xfrm>
          <a:prstGeom prst="rect">
            <a:avLst/>
          </a:prstGeom>
          <a:solidFill>
            <a:srgbClr val="F59E0B">
              <a:alpha val="30000"/>
            </a:srgbClr>
          </a:solidFill>
          <a:ln w="12700">
            <a:solidFill>
              <a:srgbClr val="F59E0B">
                <a:alpha val="40000"/>
              </a:srgbClr>
            </a:solidFill>
            <a:prstDash val="solid"/>
          </a:ln>
        </p:spPr>
      </p:sp>
      <p:sp>
        <p:nvSpPr>
          <p:cNvPr id="52" name="Shape 47"/>
          <p:cNvSpPr/>
          <p:nvPr/>
        </p:nvSpPr>
        <p:spPr>
          <a:xfrm>
            <a:off x="1750162" y="6463894"/>
            <a:ext cx="552298" cy="552298"/>
          </a:xfrm>
          <a:prstGeom prst="rect">
            <a:avLst/>
          </a:prstGeom>
          <a:solidFill>
            <a:srgbClr val="F59E0B">
              <a:alpha val="32000"/>
            </a:srgbClr>
          </a:solidFill>
          <a:ln w="12700">
            <a:solidFill>
              <a:srgbClr val="F59E0B">
                <a:alpha val="42000"/>
              </a:srgbClr>
            </a:solidFill>
            <a:prstDash val="solid"/>
          </a:ln>
        </p:spPr>
      </p:sp>
      <p:sp>
        <p:nvSpPr>
          <p:cNvPr id="53" name="Shape 48"/>
          <p:cNvSpPr/>
          <p:nvPr/>
        </p:nvSpPr>
        <p:spPr>
          <a:xfrm>
            <a:off x="2356409" y="6463894"/>
            <a:ext cx="552298" cy="552298"/>
          </a:xfrm>
          <a:prstGeom prst="rect">
            <a:avLst/>
          </a:prstGeom>
          <a:solidFill>
            <a:srgbClr val="F59E0B">
              <a:alpha val="34000"/>
            </a:srgbClr>
          </a:solidFill>
          <a:ln w="12700">
            <a:solidFill>
              <a:srgbClr val="F59E0B">
                <a:alpha val="42000"/>
              </a:srgbClr>
            </a:solidFill>
            <a:prstDash val="solid"/>
          </a:ln>
        </p:spPr>
      </p:sp>
      <p:sp>
        <p:nvSpPr>
          <p:cNvPr id="54" name="Shape 49"/>
          <p:cNvSpPr/>
          <p:nvPr/>
        </p:nvSpPr>
        <p:spPr>
          <a:xfrm>
            <a:off x="2963570" y="6463894"/>
            <a:ext cx="552298" cy="552298"/>
          </a:xfrm>
          <a:prstGeom prst="rect">
            <a:avLst/>
          </a:prstGeom>
          <a:solidFill>
            <a:srgbClr val="F59E0B">
              <a:alpha val="32000"/>
            </a:srgbClr>
          </a:solidFill>
          <a:ln w="12700">
            <a:solidFill>
              <a:srgbClr val="F59E0B">
                <a:alpha val="40000"/>
              </a:srgbClr>
            </a:solidFill>
            <a:prstDash val="solid"/>
          </a:ln>
        </p:spPr>
      </p:sp>
      <p:sp>
        <p:nvSpPr>
          <p:cNvPr id="55" name="Shape 50"/>
          <p:cNvSpPr/>
          <p:nvPr/>
        </p:nvSpPr>
        <p:spPr>
          <a:xfrm>
            <a:off x="3570732" y="6463894"/>
            <a:ext cx="552298" cy="552298"/>
          </a:xfrm>
          <a:prstGeom prst="rect">
            <a:avLst/>
          </a:prstGeom>
          <a:solidFill>
            <a:srgbClr val="F59E0B">
              <a:alpha val="40000"/>
            </a:srgbClr>
          </a:solidFill>
          <a:ln w="12700">
            <a:solidFill>
              <a:srgbClr val="F59E0B">
                <a:alpha val="48000"/>
              </a:srgbClr>
            </a:solidFill>
            <a:prstDash val="solid"/>
          </a:ln>
        </p:spPr>
      </p:sp>
      <p:sp>
        <p:nvSpPr>
          <p:cNvPr id="56" name="Shape 51"/>
          <p:cNvSpPr/>
          <p:nvPr/>
        </p:nvSpPr>
        <p:spPr>
          <a:xfrm>
            <a:off x="4177894" y="6463894"/>
            <a:ext cx="552298" cy="552298"/>
          </a:xfrm>
          <a:prstGeom prst="rect">
            <a:avLst/>
          </a:prstGeom>
          <a:solidFill>
            <a:srgbClr val="F59E0B">
              <a:alpha val="44000"/>
            </a:srgbClr>
          </a:solidFill>
          <a:ln w="12700">
            <a:solidFill>
              <a:srgbClr val="F59E0B">
                <a:alpha val="50000"/>
              </a:srgbClr>
            </a:solidFill>
            <a:prstDash val="solid"/>
          </a:ln>
        </p:spPr>
      </p:sp>
      <p:sp>
        <p:nvSpPr>
          <p:cNvPr id="57" name="Shape 52"/>
          <p:cNvSpPr/>
          <p:nvPr/>
        </p:nvSpPr>
        <p:spPr>
          <a:xfrm>
            <a:off x="4784141" y="6463894"/>
            <a:ext cx="552298" cy="552298"/>
          </a:xfrm>
          <a:prstGeom prst="rect">
            <a:avLst/>
          </a:prstGeom>
          <a:solidFill>
            <a:srgbClr val="F59E0B">
              <a:alpha val="48000"/>
            </a:srgbClr>
          </a:solidFill>
          <a:ln w="12700">
            <a:solidFill>
              <a:srgbClr val="F59E0B">
                <a:alpha val="55000"/>
              </a:srgbClr>
            </a:solidFill>
            <a:prstDash val="solid"/>
          </a:ln>
        </p:spPr>
      </p:sp>
      <p:sp>
        <p:nvSpPr>
          <p:cNvPr id="58" name="Shape 53"/>
          <p:cNvSpPr/>
          <p:nvPr/>
        </p:nvSpPr>
        <p:spPr>
          <a:xfrm>
            <a:off x="1143000" y="7070141"/>
            <a:ext cx="552298" cy="552298"/>
          </a:xfrm>
          <a:prstGeom prst="rect">
            <a:avLst/>
          </a:prstGeom>
          <a:solidFill>
            <a:srgbClr val="F59E0B">
              <a:alpha val="36000"/>
            </a:srgbClr>
          </a:solidFill>
          <a:ln w="12700">
            <a:solidFill>
              <a:srgbClr val="F59E0B">
                <a:alpha val="45000"/>
              </a:srgbClr>
            </a:solidFill>
            <a:prstDash val="solid"/>
          </a:ln>
        </p:spPr>
      </p:sp>
      <p:sp>
        <p:nvSpPr>
          <p:cNvPr id="59" name="Shape 54"/>
          <p:cNvSpPr/>
          <p:nvPr/>
        </p:nvSpPr>
        <p:spPr>
          <a:xfrm>
            <a:off x="1750162" y="7070141"/>
            <a:ext cx="552298" cy="552298"/>
          </a:xfrm>
          <a:prstGeom prst="rect">
            <a:avLst/>
          </a:prstGeom>
          <a:solidFill>
            <a:srgbClr val="F59E0B">
              <a:alpha val="42000"/>
            </a:srgbClr>
          </a:solidFill>
          <a:ln w="12700">
            <a:solidFill>
              <a:srgbClr val="F59E0B">
                <a:alpha val="50000"/>
              </a:srgbClr>
            </a:solidFill>
            <a:prstDash val="solid"/>
          </a:ln>
        </p:spPr>
      </p:sp>
      <p:sp>
        <p:nvSpPr>
          <p:cNvPr id="60" name="Shape 55"/>
          <p:cNvSpPr/>
          <p:nvPr/>
        </p:nvSpPr>
        <p:spPr>
          <a:xfrm>
            <a:off x="2356409" y="7070141"/>
            <a:ext cx="552298" cy="552298"/>
          </a:xfrm>
          <a:prstGeom prst="rect">
            <a:avLst/>
          </a:prstGeom>
          <a:solidFill>
            <a:srgbClr val="F59E0B">
              <a:alpha val="40000"/>
            </a:srgbClr>
          </a:solidFill>
          <a:ln w="12700">
            <a:solidFill>
              <a:srgbClr val="F59E0B">
                <a:alpha val="48000"/>
              </a:srgbClr>
            </a:solidFill>
            <a:prstDash val="solid"/>
          </a:ln>
        </p:spPr>
      </p:sp>
      <p:sp>
        <p:nvSpPr>
          <p:cNvPr id="61" name="Shape 56"/>
          <p:cNvSpPr/>
          <p:nvPr/>
        </p:nvSpPr>
        <p:spPr>
          <a:xfrm>
            <a:off x="2963570" y="7070141"/>
            <a:ext cx="552298" cy="552298"/>
          </a:xfrm>
          <a:prstGeom prst="rect">
            <a:avLst/>
          </a:prstGeom>
          <a:solidFill>
            <a:srgbClr val="F59E0B">
              <a:alpha val="46000"/>
            </a:srgbClr>
          </a:solidFill>
          <a:ln w="12700">
            <a:solidFill>
              <a:srgbClr val="F59E0B">
                <a:alpha val="52000"/>
              </a:srgbClr>
            </a:solidFill>
            <a:prstDash val="solid"/>
          </a:ln>
        </p:spPr>
      </p:sp>
      <p:sp>
        <p:nvSpPr>
          <p:cNvPr id="62" name="Shape 57"/>
          <p:cNvSpPr/>
          <p:nvPr/>
        </p:nvSpPr>
        <p:spPr>
          <a:xfrm>
            <a:off x="3570732" y="7070141"/>
            <a:ext cx="552298" cy="552298"/>
          </a:xfrm>
          <a:prstGeom prst="rect">
            <a:avLst/>
          </a:prstGeom>
          <a:solidFill>
            <a:srgbClr val="F59E0B">
              <a:alpha val="50000"/>
            </a:srgbClr>
          </a:solidFill>
          <a:ln w="12700">
            <a:solidFill>
              <a:srgbClr val="F59E0B">
                <a:alpha val="56000"/>
              </a:srgbClr>
            </a:solidFill>
            <a:prstDash val="solid"/>
          </a:ln>
        </p:spPr>
      </p:sp>
      <p:sp>
        <p:nvSpPr>
          <p:cNvPr id="63" name="Shape 58"/>
          <p:cNvSpPr/>
          <p:nvPr/>
        </p:nvSpPr>
        <p:spPr>
          <a:xfrm>
            <a:off x="4177894" y="7070141"/>
            <a:ext cx="552298" cy="552298"/>
          </a:xfrm>
          <a:prstGeom prst="rect">
            <a:avLst/>
          </a:prstGeom>
          <a:solidFill>
            <a:srgbClr val="F59E0B">
              <a:alpha val="55000"/>
            </a:srgbClr>
          </a:solidFill>
          <a:ln w="12700">
            <a:solidFill>
              <a:srgbClr val="F59E0B">
                <a:alpha val="60000"/>
              </a:srgbClr>
            </a:solidFill>
            <a:prstDash val="solid"/>
          </a:ln>
        </p:spPr>
      </p:sp>
      <p:sp>
        <p:nvSpPr>
          <p:cNvPr id="64" name="Shape 59"/>
          <p:cNvSpPr/>
          <p:nvPr/>
        </p:nvSpPr>
        <p:spPr>
          <a:xfrm>
            <a:off x="4784141" y="7070141"/>
            <a:ext cx="552298" cy="552298"/>
          </a:xfrm>
          <a:prstGeom prst="rect">
            <a:avLst/>
          </a:prstGeom>
          <a:solidFill>
            <a:srgbClr val="F59E0B">
              <a:alpha val="60000"/>
            </a:srgbClr>
          </a:solidFill>
          <a:ln w="12700">
            <a:solidFill>
              <a:srgbClr val="F59E0B">
                <a:alpha val="60000"/>
              </a:srgbClr>
            </a:solidFill>
            <a:prstDash val="solid"/>
          </a:ln>
        </p:spPr>
      </p:sp>
      <p:sp>
        <p:nvSpPr>
          <p:cNvPr id="65" name="Text 60"/>
          <p:cNvSpPr txBox="1"/>
          <p:nvPr/>
        </p:nvSpPr>
        <p:spPr>
          <a:xfrm>
            <a:off x="1047902" y="6667805"/>
            <a:ext cx="4572000" cy="257861"/>
          </a:xfrm>
          <a:prstGeom prst="rect">
            <a:avLst/>
          </a:prstGeom>
          <a:noFill/>
          <a:ln/>
        </p:spPr>
        <p:txBody>
          <a:bodyPr wrap="none" lIns="0" tIns="0" rIns="0" bIns="0" rtlCol="0" anchor="ctr"/>
          <a:lstStyle/>
          <a:p>
            <a:pPr algn="l" indent="0" marL="0">
              <a:buNone/>
            </a:pPr>
            <a:r>
              <a:rPr lang="en-US" sz="1350" dirty="0">
                <a:solidFill>
                  <a:srgbClr val="22D3EE"/>
                </a:solidFill>
                <a:latin typeface="IBM Plex Sans KR" pitchFamily="34" charset="0"/>
                <a:ea typeface="IBM Plex Sans KR" pitchFamily="34" charset="-122"/>
                <a:cs typeface="IBM Plex Sans KR" pitchFamily="34" charset="-120"/>
              </a:rPr>
              <a:t>Edge-high 패턴 · WIWNU 4.21%</a:t>
            </a:r>
            <a:endParaRPr lang="en-US" sz="1350" dirty="0"/>
          </a:p>
        </p:txBody>
      </p:sp>
      <p:sp>
        <p:nvSpPr>
          <p:cNvPr id="66" name="Text 61"/>
          <p:cNvSpPr txBox="1"/>
          <p:nvPr/>
        </p:nvSpPr>
        <p:spPr>
          <a:xfrm>
            <a:off x="6953098" y="2667305"/>
            <a:ext cx="4572000" cy="133502"/>
          </a:xfrm>
          <a:prstGeom prst="rect">
            <a:avLst/>
          </a:prstGeom>
          <a:noFill/>
          <a:ln/>
        </p:spPr>
        <p:txBody>
          <a:bodyPr wrap="none" lIns="0" tIns="0" rIns="0" bIns="0" rtlCol="0" anchor="ctr"/>
          <a:lstStyle/>
          <a:p>
            <a:pPr algn="l" indent="0" marL="0">
              <a:buNone/>
            </a:pPr>
            <a:r>
              <a:rPr lang="en-US" sz="825" spc="182" kern="0" dirty="0">
                <a:solidFill>
                  <a:srgbClr val="A78BFA"/>
                </a:solidFill>
                <a:latin typeface="JetBrains Mono" pitchFamily="34" charset="0"/>
                <a:ea typeface="JetBrains Mono" pitchFamily="34" charset="-122"/>
                <a:cs typeface="JetBrains Mono" pitchFamily="34" charset="-120"/>
              </a:rPr>
              <a:t>SPLIT B · W04 · 1.5 nm ★</a:t>
            </a:r>
            <a:endParaRPr lang="en-US" sz="825" dirty="0"/>
          </a:p>
        </p:txBody>
      </p:sp>
      <p:sp>
        <p:nvSpPr>
          <p:cNvPr id="67" name="Text 62"/>
          <p:cNvSpPr txBox="1"/>
          <p:nvPr/>
        </p:nvSpPr>
        <p:spPr>
          <a:xfrm>
            <a:off x="6953098" y="2857500"/>
            <a:ext cx="457200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mean </a:t>
            </a:r>
            <a:pPr algn="l" indent="0" marL="0">
              <a:buNone/>
            </a:pPr>
            <a:r>
              <a:rPr lang="en-US" sz="1800" b="1" dirty="0">
                <a:solidFill>
                  <a:srgbClr val="A78BFA"/>
                </a:solidFill>
                <a:latin typeface="Inter" pitchFamily="34" charset="0"/>
                <a:ea typeface="Inter" pitchFamily="34" charset="-122"/>
                <a:cs typeface="Inter" pitchFamily="34" charset="-120"/>
              </a:rPr>
              <a:t>24.14</a:t>
            </a:r>
            <a:pPr algn="l" indent="0" marL="0">
              <a:buNone/>
            </a:pPr>
            <a:r>
              <a:rPr lang="en-US" sz="1800" b="1" dirty="0">
                <a:solidFill>
                  <a:srgbClr val="E6EDF7"/>
                </a:solidFill>
                <a:latin typeface="Inter" pitchFamily="34" charset="0"/>
                <a:ea typeface="Inter" pitchFamily="34" charset="-122"/>
                <a:cs typeface="Inter" pitchFamily="34" charset="-120"/>
              </a:rPr>
              <a:t> · 3σ </a:t>
            </a:r>
            <a:pPr algn="l" indent="0" marL="0">
              <a:buNone/>
            </a:pPr>
            <a:r>
              <a:rPr lang="en-US" sz="1800" b="1" dirty="0">
                <a:solidFill>
                  <a:srgbClr val="34D399"/>
                </a:solidFill>
                <a:latin typeface="Inter" pitchFamily="34" charset="0"/>
                <a:ea typeface="Inter" pitchFamily="34" charset="-122"/>
                <a:cs typeface="Inter" pitchFamily="34" charset="-120"/>
              </a:rPr>
              <a:t>1.36</a:t>
            </a:r>
            <a:endParaRPr lang="en-US" sz="1800" dirty="0"/>
          </a:p>
        </p:txBody>
      </p:sp>
      <p:sp>
        <p:nvSpPr>
          <p:cNvPr id="68" name="Shape 63"/>
          <p:cNvSpPr/>
          <p:nvPr/>
        </p:nvSpPr>
        <p:spPr>
          <a:xfrm>
            <a:off x="7048195" y="3429000"/>
            <a:ext cx="552298" cy="552298"/>
          </a:xfrm>
          <a:prstGeom prst="rect">
            <a:avLst/>
          </a:prstGeom>
          <a:solidFill>
            <a:srgbClr val="34D399">
              <a:alpha val="16000"/>
            </a:srgbClr>
          </a:solidFill>
          <a:ln w="12700">
            <a:solidFill>
              <a:srgbClr val="34D399">
                <a:alpha val="22000"/>
              </a:srgbClr>
            </a:solidFill>
            <a:prstDash val="solid"/>
          </a:ln>
        </p:spPr>
      </p:sp>
      <p:sp>
        <p:nvSpPr>
          <p:cNvPr id="69" name="Shape 64"/>
          <p:cNvSpPr/>
          <p:nvPr/>
        </p:nvSpPr>
        <p:spPr>
          <a:xfrm>
            <a:off x="7655357" y="3429000"/>
            <a:ext cx="552298" cy="552298"/>
          </a:xfrm>
          <a:prstGeom prst="rect">
            <a:avLst/>
          </a:prstGeom>
          <a:solidFill>
            <a:srgbClr val="A78BFA">
              <a:alpha val="18000"/>
            </a:srgbClr>
          </a:solidFill>
          <a:ln w="12700">
            <a:solidFill>
              <a:srgbClr val="A78BFA">
                <a:alpha val="22000"/>
              </a:srgbClr>
            </a:solidFill>
            <a:prstDash val="solid"/>
          </a:ln>
        </p:spPr>
      </p:sp>
      <p:sp>
        <p:nvSpPr>
          <p:cNvPr id="70" name="Shape 65"/>
          <p:cNvSpPr/>
          <p:nvPr/>
        </p:nvSpPr>
        <p:spPr>
          <a:xfrm>
            <a:off x="8262518" y="3429000"/>
            <a:ext cx="552298" cy="552298"/>
          </a:xfrm>
          <a:prstGeom prst="rect">
            <a:avLst/>
          </a:prstGeom>
          <a:solidFill>
            <a:srgbClr val="34D399">
              <a:alpha val="14000"/>
            </a:srgbClr>
          </a:solidFill>
          <a:ln w="12700">
            <a:solidFill>
              <a:srgbClr val="34D399">
                <a:alpha val="20000"/>
              </a:srgbClr>
            </a:solidFill>
            <a:prstDash val="solid"/>
          </a:ln>
        </p:spPr>
      </p:sp>
      <p:sp>
        <p:nvSpPr>
          <p:cNvPr id="71" name="Shape 66"/>
          <p:cNvSpPr/>
          <p:nvPr/>
        </p:nvSpPr>
        <p:spPr>
          <a:xfrm>
            <a:off x="8869680" y="3429000"/>
            <a:ext cx="552298" cy="552298"/>
          </a:xfrm>
          <a:prstGeom prst="rect">
            <a:avLst/>
          </a:prstGeom>
          <a:solidFill>
            <a:srgbClr val="34D399">
              <a:alpha val="18000"/>
            </a:srgbClr>
          </a:solidFill>
          <a:ln w="12700">
            <a:solidFill>
              <a:srgbClr val="34D399">
                <a:alpha val="24000"/>
              </a:srgbClr>
            </a:solidFill>
            <a:prstDash val="solid"/>
          </a:ln>
        </p:spPr>
      </p:sp>
      <p:sp>
        <p:nvSpPr>
          <p:cNvPr id="72" name="Shape 67"/>
          <p:cNvSpPr/>
          <p:nvPr/>
        </p:nvSpPr>
        <p:spPr>
          <a:xfrm>
            <a:off x="9475927" y="3429000"/>
            <a:ext cx="552298" cy="552298"/>
          </a:xfrm>
          <a:prstGeom prst="rect">
            <a:avLst/>
          </a:prstGeom>
          <a:solidFill>
            <a:srgbClr val="34D399">
              <a:alpha val="14000"/>
            </a:srgbClr>
          </a:solidFill>
          <a:ln w="12700">
            <a:solidFill>
              <a:srgbClr val="34D399">
                <a:alpha val="20000"/>
              </a:srgbClr>
            </a:solidFill>
            <a:prstDash val="solid"/>
          </a:ln>
        </p:spPr>
      </p:sp>
      <p:sp>
        <p:nvSpPr>
          <p:cNvPr id="73" name="Shape 68"/>
          <p:cNvSpPr/>
          <p:nvPr/>
        </p:nvSpPr>
        <p:spPr>
          <a:xfrm>
            <a:off x="10083089" y="3429000"/>
            <a:ext cx="552298" cy="552298"/>
          </a:xfrm>
          <a:prstGeom prst="rect">
            <a:avLst/>
          </a:prstGeom>
          <a:solidFill>
            <a:srgbClr val="A78BFA">
              <a:alpha val="16000"/>
            </a:srgbClr>
          </a:solidFill>
          <a:ln w="12700">
            <a:solidFill>
              <a:srgbClr val="A78BFA">
                <a:alpha val="22000"/>
              </a:srgbClr>
            </a:solidFill>
            <a:prstDash val="solid"/>
          </a:ln>
        </p:spPr>
      </p:sp>
      <p:sp>
        <p:nvSpPr>
          <p:cNvPr id="74" name="Shape 69"/>
          <p:cNvSpPr/>
          <p:nvPr/>
        </p:nvSpPr>
        <p:spPr>
          <a:xfrm>
            <a:off x="10690250" y="3429000"/>
            <a:ext cx="552298" cy="552298"/>
          </a:xfrm>
          <a:prstGeom prst="rect">
            <a:avLst/>
          </a:prstGeom>
          <a:solidFill>
            <a:srgbClr val="A78BFA">
              <a:alpha val="22000"/>
            </a:srgbClr>
          </a:solidFill>
          <a:ln w="12700">
            <a:solidFill>
              <a:srgbClr val="A78BFA">
                <a:alpha val="26000"/>
              </a:srgbClr>
            </a:solidFill>
            <a:prstDash val="solid"/>
          </a:ln>
        </p:spPr>
      </p:sp>
      <p:sp>
        <p:nvSpPr>
          <p:cNvPr id="75" name="Shape 70"/>
          <p:cNvSpPr/>
          <p:nvPr/>
        </p:nvSpPr>
        <p:spPr>
          <a:xfrm>
            <a:off x="7048195" y="4036162"/>
            <a:ext cx="552298" cy="552298"/>
          </a:xfrm>
          <a:prstGeom prst="rect">
            <a:avLst/>
          </a:prstGeom>
          <a:solidFill>
            <a:srgbClr val="34D399">
              <a:alpha val="14000"/>
            </a:srgbClr>
          </a:solidFill>
          <a:ln w="12700">
            <a:solidFill>
              <a:srgbClr val="34D399">
                <a:alpha val="20000"/>
              </a:srgbClr>
            </a:solidFill>
            <a:prstDash val="solid"/>
          </a:ln>
        </p:spPr>
      </p:sp>
      <p:sp>
        <p:nvSpPr>
          <p:cNvPr id="76" name="Shape 71"/>
          <p:cNvSpPr/>
          <p:nvPr/>
        </p:nvSpPr>
        <p:spPr>
          <a:xfrm>
            <a:off x="7655357" y="4036162"/>
            <a:ext cx="552298" cy="552298"/>
          </a:xfrm>
          <a:prstGeom prst="rect">
            <a:avLst/>
          </a:prstGeom>
          <a:solidFill>
            <a:srgbClr val="34D399">
              <a:alpha val="12000"/>
            </a:srgbClr>
          </a:solidFill>
          <a:ln w="12700">
            <a:solidFill>
              <a:srgbClr val="34D399">
                <a:alpha val="18000"/>
              </a:srgbClr>
            </a:solidFill>
            <a:prstDash val="solid"/>
          </a:ln>
        </p:spPr>
      </p:sp>
      <p:sp>
        <p:nvSpPr>
          <p:cNvPr id="77" name="Shape 72"/>
          <p:cNvSpPr/>
          <p:nvPr/>
        </p:nvSpPr>
        <p:spPr>
          <a:xfrm>
            <a:off x="8262518" y="4036162"/>
            <a:ext cx="552298" cy="552298"/>
          </a:xfrm>
          <a:prstGeom prst="rect">
            <a:avLst/>
          </a:prstGeom>
          <a:solidFill>
            <a:srgbClr val="34D399">
              <a:alpha val="10000"/>
            </a:srgbClr>
          </a:solidFill>
          <a:ln w="12700">
            <a:solidFill>
              <a:srgbClr val="34D399">
                <a:alpha val="16000"/>
              </a:srgbClr>
            </a:solidFill>
            <a:prstDash val="solid"/>
          </a:ln>
        </p:spPr>
      </p:sp>
      <p:sp>
        <p:nvSpPr>
          <p:cNvPr id="78" name="Shape 73"/>
          <p:cNvSpPr/>
          <p:nvPr/>
        </p:nvSpPr>
        <p:spPr>
          <a:xfrm>
            <a:off x="8869680" y="4036162"/>
            <a:ext cx="552298" cy="552298"/>
          </a:xfrm>
          <a:prstGeom prst="rect">
            <a:avLst/>
          </a:prstGeom>
          <a:solidFill>
            <a:srgbClr val="34D399">
              <a:alpha val="14000"/>
            </a:srgbClr>
          </a:solidFill>
          <a:ln w="12700">
            <a:solidFill>
              <a:srgbClr val="34D399">
                <a:alpha val="20000"/>
              </a:srgbClr>
            </a:solidFill>
            <a:prstDash val="solid"/>
          </a:ln>
        </p:spPr>
      </p:sp>
      <p:sp>
        <p:nvSpPr>
          <p:cNvPr id="79" name="Shape 74"/>
          <p:cNvSpPr/>
          <p:nvPr/>
        </p:nvSpPr>
        <p:spPr>
          <a:xfrm>
            <a:off x="9475927" y="4036162"/>
            <a:ext cx="552298" cy="552298"/>
          </a:xfrm>
          <a:prstGeom prst="rect">
            <a:avLst/>
          </a:prstGeom>
          <a:solidFill>
            <a:srgbClr val="34D399">
              <a:alpha val="12000"/>
            </a:srgbClr>
          </a:solidFill>
          <a:ln w="12700">
            <a:solidFill>
              <a:srgbClr val="34D399">
                <a:alpha val="18000"/>
              </a:srgbClr>
            </a:solidFill>
            <a:prstDash val="solid"/>
          </a:ln>
        </p:spPr>
      </p:sp>
      <p:sp>
        <p:nvSpPr>
          <p:cNvPr id="80" name="Shape 75"/>
          <p:cNvSpPr/>
          <p:nvPr/>
        </p:nvSpPr>
        <p:spPr>
          <a:xfrm>
            <a:off x="10083089" y="4036162"/>
            <a:ext cx="552298" cy="552298"/>
          </a:xfrm>
          <a:prstGeom prst="rect">
            <a:avLst/>
          </a:prstGeom>
          <a:solidFill>
            <a:srgbClr val="A78BFA">
              <a:alpha val="18000"/>
            </a:srgbClr>
          </a:solidFill>
          <a:ln w="12700">
            <a:solidFill>
              <a:srgbClr val="A78BFA">
                <a:alpha val="22000"/>
              </a:srgbClr>
            </a:solidFill>
            <a:prstDash val="solid"/>
          </a:ln>
        </p:spPr>
      </p:sp>
      <p:sp>
        <p:nvSpPr>
          <p:cNvPr id="81" name="Shape 76"/>
          <p:cNvSpPr/>
          <p:nvPr/>
        </p:nvSpPr>
        <p:spPr>
          <a:xfrm>
            <a:off x="10690250" y="4036162"/>
            <a:ext cx="552298" cy="552298"/>
          </a:xfrm>
          <a:prstGeom prst="rect">
            <a:avLst/>
          </a:prstGeom>
          <a:solidFill>
            <a:srgbClr val="A78BFA">
              <a:alpha val="20000"/>
            </a:srgbClr>
          </a:solidFill>
          <a:ln w="12700">
            <a:solidFill>
              <a:srgbClr val="A78BFA">
                <a:alpha val="26000"/>
              </a:srgbClr>
            </a:solidFill>
            <a:prstDash val="solid"/>
          </a:ln>
        </p:spPr>
      </p:sp>
      <p:sp>
        <p:nvSpPr>
          <p:cNvPr id="82" name="Shape 77"/>
          <p:cNvSpPr/>
          <p:nvPr/>
        </p:nvSpPr>
        <p:spPr>
          <a:xfrm>
            <a:off x="7048195" y="4642409"/>
            <a:ext cx="552298" cy="552298"/>
          </a:xfrm>
          <a:prstGeom prst="rect">
            <a:avLst/>
          </a:prstGeom>
          <a:solidFill>
            <a:srgbClr val="34D399">
              <a:alpha val="18000"/>
            </a:srgbClr>
          </a:solidFill>
          <a:ln w="12700">
            <a:solidFill>
              <a:srgbClr val="34D399">
                <a:alpha val="22000"/>
              </a:srgbClr>
            </a:solidFill>
            <a:prstDash val="solid"/>
          </a:ln>
        </p:spPr>
      </p:sp>
      <p:sp>
        <p:nvSpPr>
          <p:cNvPr id="83" name="Shape 78"/>
          <p:cNvSpPr/>
          <p:nvPr/>
        </p:nvSpPr>
        <p:spPr>
          <a:xfrm>
            <a:off x="7655357" y="4642409"/>
            <a:ext cx="552298" cy="552298"/>
          </a:xfrm>
          <a:prstGeom prst="rect">
            <a:avLst/>
          </a:prstGeom>
          <a:solidFill>
            <a:srgbClr val="34D399">
              <a:alpha val="14000"/>
            </a:srgbClr>
          </a:solidFill>
          <a:ln w="12700">
            <a:solidFill>
              <a:srgbClr val="34D399">
                <a:alpha val="20000"/>
              </a:srgbClr>
            </a:solidFill>
            <a:prstDash val="solid"/>
          </a:ln>
        </p:spPr>
      </p:sp>
      <p:sp>
        <p:nvSpPr>
          <p:cNvPr id="84" name="Shape 79"/>
          <p:cNvSpPr/>
          <p:nvPr/>
        </p:nvSpPr>
        <p:spPr>
          <a:xfrm>
            <a:off x="8262518" y="4642409"/>
            <a:ext cx="552298" cy="552298"/>
          </a:xfrm>
          <a:prstGeom prst="rect">
            <a:avLst/>
          </a:prstGeom>
          <a:solidFill>
            <a:srgbClr val="34D399">
              <a:alpha val="10000"/>
            </a:srgbClr>
          </a:solidFill>
          <a:ln w="12700">
            <a:solidFill>
              <a:srgbClr val="34D399">
                <a:alpha val="16000"/>
              </a:srgbClr>
            </a:solidFill>
            <a:prstDash val="solid"/>
          </a:ln>
        </p:spPr>
      </p:sp>
      <p:sp>
        <p:nvSpPr>
          <p:cNvPr id="85" name="Shape 80"/>
          <p:cNvSpPr/>
          <p:nvPr/>
        </p:nvSpPr>
        <p:spPr>
          <a:xfrm>
            <a:off x="8869680" y="4642409"/>
            <a:ext cx="552298" cy="552298"/>
          </a:xfrm>
          <a:prstGeom prst="rect">
            <a:avLst/>
          </a:prstGeom>
          <a:solidFill>
            <a:srgbClr val="34D399">
              <a:alpha val="10000"/>
            </a:srgbClr>
          </a:solidFill>
          <a:ln w="12700">
            <a:solidFill>
              <a:srgbClr val="34D399">
                <a:alpha val="16000"/>
              </a:srgbClr>
            </a:solidFill>
            <a:prstDash val="solid"/>
          </a:ln>
        </p:spPr>
      </p:sp>
      <p:sp>
        <p:nvSpPr>
          <p:cNvPr id="86" name="Shape 81"/>
          <p:cNvSpPr/>
          <p:nvPr/>
        </p:nvSpPr>
        <p:spPr>
          <a:xfrm>
            <a:off x="9475927" y="4642409"/>
            <a:ext cx="552298" cy="552298"/>
          </a:xfrm>
          <a:prstGeom prst="rect">
            <a:avLst/>
          </a:prstGeom>
          <a:solidFill>
            <a:srgbClr val="34D399">
              <a:alpha val="12000"/>
            </a:srgbClr>
          </a:solidFill>
          <a:ln w="12700">
            <a:solidFill>
              <a:srgbClr val="34D399">
                <a:alpha val="18000"/>
              </a:srgbClr>
            </a:solidFill>
            <a:prstDash val="solid"/>
          </a:ln>
        </p:spPr>
      </p:sp>
      <p:sp>
        <p:nvSpPr>
          <p:cNvPr id="87" name="Shape 82"/>
          <p:cNvSpPr/>
          <p:nvPr/>
        </p:nvSpPr>
        <p:spPr>
          <a:xfrm>
            <a:off x="10083089" y="4642409"/>
            <a:ext cx="552298" cy="552298"/>
          </a:xfrm>
          <a:prstGeom prst="rect">
            <a:avLst/>
          </a:prstGeom>
          <a:solidFill>
            <a:srgbClr val="A78BFA">
              <a:alpha val="16000"/>
            </a:srgbClr>
          </a:solidFill>
          <a:ln w="12700">
            <a:solidFill>
              <a:srgbClr val="A78BFA">
                <a:alpha val="22000"/>
              </a:srgbClr>
            </a:solidFill>
            <a:prstDash val="solid"/>
          </a:ln>
        </p:spPr>
      </p:sp>
      <p:sp>
        <p:nvSpPr>
          <p:cNvPr id="88" name="Shape 83"/>
          <p:cNvSpPr/>
          <p:nvPr/>
        </p:nvSpPr>
        <p:spPr>
          <a:xfrm>
            <a:off x="10690250" y="4642409"/>
            <a:ext cx="552298" cy="552298"/>
          </a:xfrm>
          <a:prstGeom prst="rect">
            <a:avLst/>
          </a:prstGeom>
          <a:solidFill>
            <a:srgbClr val="A78BFA">
              <a:alpha val="16000"/>
            </a:srgbClr>
          </a:solidFill>
          <a:ln w="12700">
            <a:solidFill>
              <a:srgbClr val="A78BFA">
                <a:alpha val="22000"/>
              </a:srgbClr>
            </a:solidFill>
            <a:prstDash val="solid"/>
          </a:ln>
        </p:spPr>
      </p:sp>
      <p:sp>
        <p:nvSpPr>
          <p:cNvPr id="89" name="Shape 84"/>
          <p:cNvSpPr/>
          <p:nvPr/>
        </p:nvSpPr>
        <p:spPr>
          <a:xfrm>
            <a:off x="7048195" y="5249570"/>
            <a:ext cx="552298" cy="552298"/>
          </a:xfrm>
          <a:prstGeom prst="rect">
            <a:avLst/>
          </a:prstGeom>
          <a:solidFill>
            <a:srgbClr val="34D399">
              <a:alpha val="16000"/>
            </a:srgbClr>
          </a:solidFill>
          <a:ln w="12700">
            <a:solidFill>
              <a:srgbClr val="34D399">
                <a:alpha val="22000"/>
              </a:srgbClr>
            </a:solidFill>
            <a:prstDash val="solid"/>
          </a:ln>
        </p:spPr>
      </p:sp>
      <p:sp>
        <p:nvSpPr>
          <p:cNvPr id="90" name="Shape 85"/>
          <p:cNvSpPr/>
          <p:nvPr/>
        </p:nvSpPr>
        <p:spPr>
          <a:xfrm>
            <a:off x="7655357" y="5249570"/>
            <a:ext cx="552298" cy="552298"/>
          </a:xfrm>
          <a:prstGeom prst="rect">
            <a:avLst/>
          </a:prstGeom>
          <a:solidFill>
            <a:srgbClr val="34D399">
              <a:alpha val="12000"/>
            </a:srgbClr>
          </a:solidFill>
          <a:ln w="12700">
            <a:solidFill>
              <a:srgbClr val="34D399">
                <a:alpha val="18000"/>
              </a:srgbClr>
            </a:solidFill>
            <a:prstDash val="solid"/>
          </a:ln>
        </p:spPr>
      </p:sp>
      <p:sp>
        <p:nvSpPr>
          <p:cNvPr id="91" name="Shape 86"/>
          <p:cNvSpPr/>
          <p:nvPr/>
        </p:nvSpPr>
        <p:spPr>
          <a:xfrm>
            <a:off x="8262518" y="5249570"/>
            <a:ext cx="552298" cy="552298"/>
          </a:xfrm>
          <a:prstGeom prst="rect">
            <a:avLst/>
          </a:prstGeom>
          <a:solidFill>
            <a:srgbClr val="34D399">
              <a:alpha val="10000"/>
            </a:srgbClr>
          </a:solidFill>
          <a:ln w="12700">
            <a:solidFill>
              <a:srgbClr val="34D399">
                <a:alpha val="16000"/>
              </a:srgbClr>
            </a:solidFill>
            <a:prstDash val="solid"/>
          </a:ln>
        </p:spPr>
      </p:sp>
      <p:sp>
        <p:nvSpPr>
          <p:cNvPr id="92" name="Shape 87"/>
          <p:cNvSpPr/>
          <p:nvPr/>
        </p:nvSpPr>
        <p:spPr>
          <a:xfrm>
            <a:off x="8869680" y="5249570"/>
            <a:ext cx="552298" cy="552298"/>
          </a:xfrm>
          <a:prstGeom prst="rect">
            <a:avLst/>
          </a:prstGeom>
          <a:solidFill>
            <a:srgbClr val="34D399">
              <a:alpha val="10000"/>
            </a:srgbClr>
          </a:solidFill>
          <a:ln w="12700">
            <a:solidFill>
              <a:srgbClr val="34D399">
                <a:alpha val="16000"/>
              </a:srgbClr>
            </a:solidFill>
            <a:prstDash val="solid"/>
          </a:ln>
        </p:spPr>
      </p:sp>
      <p:sp>
        <p:nvSpPr>
          <p:cNvPr id="93" name="Shape 88"/>
          <p:cNvSpPr/>
          <p:nvPr/>
        </p:nvSpPr>
        <p:spPr>
          <a:xfrm>
            <a:off x="9475927" y="5249570"/>
            <a:ext cx="552298" cy="552298"/>
          </a:xfrm>
          <a:prstGeom prst="rect">
            <a:avLst/>
          </a:prstGeom>
          <a:solidFill>
            <a:srgbClr val="34D399">
              <a:alpha val="14000"/>
            </a:srgbClr>
          </a:solidFill>
          <a:ln w="12700">
            <a:solidFill>
              <a:srgbClr val="34D399">
                <a:alpha val="20000"/>
              </a:srgbClr>
            </a:solidFill>
            <a:prstDash val="solid"/>
          </a:ln>
        </p:spPr>
      </p:sp>
      <p:sp>
        <p:nvSpPr>
          <p:cNvPr id="94" name="Shape 89"/>
          <p:cNvSpPr/>
          <p:nvPr/>
        </p:nvSpPr>
        <p:spPr>
          <a:xfrm>
            <a:off x="10083089" y="5249570"/>
            <a:ext cx="552298" cy="552298"/>
          </a:xfrm>
          <a:prstGeom prst="rect">
            <a:avLst/>
          </a:prstGeom>
          <a:solidFill>
            <a:srgbClr val="A78BFA">
              <a:alpha val="18000"/>
            </a:srgbClr>
          </a:solidFill>
          <a:ln w="12700">
            <a:solidFill>
              <a:srgbClr val="A78BFA">
                <a:alpha val="22000"/>
              </a:srgbClr>
            </a:solidFill>
            <a:prstDash val="solid"/>
          </a:ln>
        </p:spPr>
      </p:sp>
      <p:sp>
        <p:nvSpPr>
          <p:cNvPr id="95" name="Shape 90"/>
          <p:cNvSpPr/>
          <p:nvPr/>
        </p:nvSpPr>
        <p:spPr>
          <a:xfrm>
            <a:off x="10690250" y="5249570"/>
            <a:ext cx="552298" cy="552298"/>
          </a:xfrm>
          <a:prstGeom prst="rect">
            <a:avLst/>
          </a:prstGeom>
          <a:solidFill>
            <a:srgbClr val="A78BFA">
              <a:alpha val="20000"/>
            </a:srgbClr>
          </a:solidFill>
          <a:ln w="12700">
            <a:solidFill>
              <a:srgbClr val="A78BFA">
                <a:alpha val="24000"/>
              </a:srgbClr>
            </a:solidFill>
            <a:prstDash val="solid"/>
          </a:ln>
        </p:spPr>
      </p:sp>
      <p:sp>
        <p:nvSpPr>
          <p:cNvPr id="96" name="Shape 91"/>
          <p:cNvSpPr/>
          <p:nvPr/>
        </p:nvSpPr>
        <p:spPr>
          <a:xfrm>
            <a:off x="7048195" y="5856732"/>
            <a:ext cx="552298" cy="552298"/>
          </a:xfrm>
          <a:prstGeom prst="rect">
            <a:avLst/>
          </a:prstGeom>
          <a:solidFill>
            <a:srgbClr val="A78BFA">
              <a:alpha val="18000"/>
            </a:srgbClr>
          </a:solidFill>
          <a:ln w="12700">
            <a:solidFill>
              <a:srgbClr val="A78BFA">
                <a:alpha val="24000"/>
              </a:srgbClr>
            </a:solidFill>
            <a:prstDash val="solid"/>
          </a:ln>
        </p:spPr>
      </p:sp>
      <p:sp>
        <p:nvSpPr>
          <p:cNvPr id="97" name="Shape 92"/>
          <p:cNvSpPr/>
          <p:nvPr/>
        </p:nvSpPr>
        <p:spPr>
          <a:xfrm>
            <a:off x="7655357" y="5856732"/>
            <a:ext cx="552298" cy="552298"/>
          </a:xfrm>
          <a:prstGeom prst="rect">
            <a:avLst/>
          </a:prstGeom>
          <a:solidFill>
            <a:srgbClr val="34D399">
              <a:alpha val="20000"/>
            </a:srgbClr>
          </a:solidFill>
          <a:ln w="12700">
            <a:solidFill>
              <a:srgbClr val="34D399">
                <a:alpha val="26000"/>
              </a:srgbClr>
            </a:solidFill>
            <a:prstDash val="solid"/>
          </a:ln>
        </p:spPr>
      </p:sp>
      <p:sp>
        <p:nvSpPr>
          <p:cNvPr id="98" name="Shape 93"/>
          <p:cNvSpPr/>
          <p:nvPr/>
        </p:nvSpPr>
        <p:spPr>
          <a:xfrm>
            <a:off x="8262518" y="5856732"/>
            <a:ext cx="552298" cy="552298"/>
          </a:xfrm>
          <a:prstGeom prst="rect">
            <a:avLst/>
          </a:prstGeom>
          <a:solidFill>
            <a:srgbClr val="34D399">
              <a:alpha val="16000"/>
            </a:srgbClr>
          </a:solidFill>
          <a:ln w="12700">
            <a:solidFill>
              <a:srgbClr val="34D399">
                <a:alpha val="22000"/>
              </a:srgbClr>
            </a:solidFill>
            <a:prstDash val="solid"/>
          </a:ln>
        </p:spPr>
      </p:sp>
      <p:sp>
        <p:nvSpPr>
          <p:cNvPr id="99" name="Shape 94"/>
          <p:cNvSpPr/>
          <p:nvPr/>
        </p:nvSpPr>
        <p:spPr>
          <a:xfrm>
            <a:off x="8869680" y="5856732"/>
            <a:ext cx="552298" cy="552298"/>
          </a:xfrm>
          <a:prstGeom prst="rect">
            <a:avLst/>
          </a:prstGeom>
          <a:solidFill>
            <a:srgbClr val="34D399">
              <a:alpha val="14000"/>
            </a:srgbClr>
          </a:solidFill>
          <a:ln w="12700">
            <a:solidFill>
              <a:srgbClr val="34D399">
                <a:alpha val="20000"/>
              </a:srgbClr>
            </a:solidFill>
            <a:prstDash val="solid"/>
          </a:ln>
        </p:spPr>
      </p:sp>
      <p:sp>
        <p:nvSpPr>
          <p:cNvPr id="100" name="Shape 95"/>
          <p:cNvSpPr/>
          <p:nvPr/>
        </p:nvSpPr>
        <p:spPr>
          <a:xfrm>
            <a:off x="9475927" y="5856732"/>
            <a:ext cx="552298" cy="552298"/>
          </a:xfrm>
          <a:prstGeom prst="rect">
            <a:avLst/>
          </a:prstGeom>
          <a:solidFill>
            <a:srgbClr val="34D399">
              <a:alpha val="18000"/>
            </a:srgbClr>
          </a:solidFill>
          <a:ln w="12700">
            <a:solidFill>
              <a:srgbClr val="34D399">
                <a:alpha val="24000"/>
              </a:srgbClr>
            </a:solidFill>
            <a:prstDash val="solid"/>
          </a:ln>
        </p:spPr>
      </p:sp>
      <p:sp>
        <p:nvSpPr>
          <p:cNvPr id="101" name="Shape 96"/>
          <p:cNvSpPr/>
          <p:nvPr/>
        </p:nvSpPr>
        <p:spPr>
          <a:xfrm>
            <a:off x="10083089" y="5856732"/>
            <a:ext cx="552298" cy="552298"/>
          </a:xfrm>
          <a:prstGeom prst="rect">
            <a:avLst/>
          </a:prstGeom>
          <a:solidFill>
            <a:srgbClr val="A78BFA">
              <a:alpha val="20000"/>
            </a:srgbClr>
          </a:solidFill>
          <a:ln w="12700">
            <a:solidFill>
              <a:srgbClr val="A78BFA">
                <a:alpha val="26000"/>
              </a:srgbClr>
            </a:solidFill>
            <a:prstDash val="solid"/>
          </a:ln>
        </p:spPr>
      </p:sp>
      <p:sp>
        <p:nvSpPr>
          <p:cNvPr id="102" name="Shape 97"/>
          <p:cNvSpPr/>
          <p:nvPr/>
        </p:nvSpPr>
        <p:spPr>
          <a:xfrm>
            <a:off x="10690250" y="5856732"/>
            <a:ext cx="552298" cy="552298"/>
          </a:xfrm>
          <a:prstGeom prst="rect">
            <a:avLst/>
          </a:prstGeom>
          <a:solidFill>
            <a:srgbClr val="A78BFA">
              <a:alpha val="22000"/>
            </a:srgbClr>
          </a:solidFill>
          <a:ln w="12700">
            <a:solidFill>
              <a:srgbClr val="A78BFA">
                <a:alpha val="28000"/>
              </a:srgbClr>
            </a:solidFill>
            <a:prstDash val="solid"/>
          </a:ln>
        </p:spPr>
      </p:sp>
      <p:sp>
        <p:nvSpPr>
          <p:cNvPr id="103" name="Shape 98"/>
          <p:cNvSpPr/>
          <p:nvPr/>
        </p:nvSpPr>
        <p:spPr>
          <a:xfrm>
            <a:off x="7048195" y="6463894"/>
            <a:ext cx="552298" cy="552298"/>
          </a:xfrm>
          <a:prstGeom prst="rect">
            <a:avLst/>
          </a:prstGeom>
          <a:solidFill>
            <a:srgbClr val="A78BFA">
              <a:alpha val="24000"/>
            </a:srgbClr>
          </a:solidFill>
          <a:ln w="12700">
            <a:solidFill>
              <a:srgbClr val="A78BFA">
                <a:alpha val="30000"/>
              </a:srgbClr>
            </a:solidFill>
            <a:prstDash val="solid"/>
          </a:ln>
        </p:spPr>
      </p:sp>
      <p:sp>
        <p:nvSpPr>
          <p:cNvPr id="104" name="Shape 99"/>
          <p:cNvSpPr/>
          <p:nvPr/>
        </p:nvSpPr>
        <p:spPr>
          <a:xfrm>
            <a:off x="7655357" y="6463894"/>
            <a:ext cx="552298" cy="552298"/>
          </a:xfrm>
          <a:prstGeom prst="rect">
            <a:avLst/>
          </a:prstGeom>
          <a:solidFill>
            <a:srgbClr val="34D399">
              <a:alpha val="18000"/>
            </a:srgbClr>
          </a:solidFill>
          <a:ln w="12700">
            <a:solidFill>
              <a:srgbClr val="34D399">
                <a:alpha val="24000"/>
              </a:srgbClr>
            </a:solidFill>
            <a:prstDash val="solid"/>
          </a:ln>
        </p:spPr>
      </p:sp>
      <p:sp>
        <p:nvSpPr>
          <p:cNvPr id="105" name="Shape 100"/>
          <p:cNvSpPr/>
          <p:nvPr/>
        </p:nvSpPr>
        <p:spPr>
          <a:xfrm>
            <a:off x="8262518" y="6463894"/>
            <a:ext cx="552298" cy="552298"/>
          </a:xfrm>
          <a:prstGeom prst="rect">
            <a:avLst/>
          </a:prstGeom>
          <a:solidFill>
            <a:srgbClr val="34D399">
              <a:alpha val="16000"/>
            </a:srgbClr>
          </a:solidFill>
          <a:ln w="12700">
            <a:solidFill>
              <a:srgbClr val="34D399">
                <a:alpha val="22000"/>
              </a:srgbClr>
            </a:solidFill>
            <a:prstDash val="solid"/>
          </a:ln>
        </p:spPr>
      </p:sp>
      <p:sp>
        <p:nvSpPr>
          <p:cNvPr id="106" name="Shape 101"/>
          <p:cNvSpPr/>
          <p:nvPr/>
        </p:nvSpPr>
        <p:spPr>
          <a:xfrm>
            <a:off x="8869680" y="6463894"/>
            <a:ext cx="552298" cy="552298"/>
          </a:xfrm>
          <a:prstGeom prst="rect">
            <a:avLst/>
          </a:prstGeom>
          <a:solidFill>
            <a:srgbClr val="34D399">
              <a:alpha val="20000"/>
            </a:srgbClr>
          </a:solidFill>
          <a:ln w="12700">
            <a:solidFill>
              <a:srgbClr val="34D399">
                <a:alpha val="26000"/>
              </a:srgbClr>
            </a:solidFill>
            <a:prstDash val="solid"/>
          </a:ln>
        </p:spPr>
      </p:sp>
      <p:sp>
        <p:nvSpPr>
          <p:cNvPr id="107" name="Shape 102"/>
          <p:cNvSpPr/>
          <p:nvPr/>
        </p:nvSpPr>
        <p:spPr>
          <a:xfrm>
            <a:off x="9475927" y="6463894"/>
            <a:ext cx="552298" cy="552298"/>
          </a:xfrm>
          <a:prstGeom prst="rect">
            <a:avLst/>
          </a:prstGeom>
          <a:solidFill>
            <a:srgbClr val="A78BFA">
              <a:alpha val="20000"/>
            </a:srgbClr>
          </a:solidFill>
          <a:ln w="12700">
            <a:solidFill>
              <a:srgbClr val="A78BFA">
                <a:alpha val="26000"/>
              </a:srgbClr>
            </a:solidFill>
            <a:prstDash val="solid"/>
          </a:ln>
        </p:spPr>
      </p:sp>
      <p:sp>
        <p:nvSpPr>
          <p:cNvPr id="108" name="Shape 103"/>
          <p:cNvSpPr/>
          <p:nvPr/>
        </p:nvSpPr>
        <p:spPr>
          <a:xfrm>
            <a:off x="10083089" y="6463894"/>
            <a:ext cx="552298" cy="552298"/>
          </a:xfrm>
          <a:prstGeom prst="rect">
            <a:avLst/>
          </a:prstGeom>
          <a:solidFill>
            <a:srgbClr val="A78BFA">
              <a:alpha val="18000"/>
            </a:srgbClr>
          </a:solidFill>
          <a:ln w="12700">
            <a:solidFill>
              <a:srgbClr val="A78BFA">
                <a:alpha val="24000"/>
              </a:srgbClr>
            </a:solidFill>
            <a:prstDash val="solid"/>
          </a:ln>
        </p:spPr>
      </p:sp>
      <p:sp>
        <p:nvSpPr>
          <p:cNvPr id="109" name="Shape 104"/>
          <p:cNvSpPr/>
          <p:nvPr/>
        </p:nvSpPr>
        <p:spPr>
          <a:xfrm>
            <a:off x="10690250" y="6463894"/>
            <a:ext cx="552298" cy="552298"/>
          </a:xfrm>
          <a:prstGeom prst="rect">
            <a:avLst/>
          </a:prstGeom>
          <a:solidFill>
            <a:srgbClr val="A78BFA">
              <a:alpha val="22000"/>
            </a:srgbClr>
          </a:solidFill>
          <a:ln w="12700">
            <a:solidFill>
              <a:srgbClr val="A78BFA">
                <a:alpha val="28000"/>
              </a:srgbClr>
            </a:solidFill>
            <a:prstDash val="solid"/>
          </a:ln>
        </p:spPr>
      </p:sp>
      <p:sp>
        <p:nvSpPr>
          <p:cNvPr id="110" name="Shape 105"/>
          <p:cNvSpPr/>
          <p:nvPr/>
        </p:nvSpPr>
        <p:spPr>
          <a:xfrm>
            <a:off x="7048195" y="7070141"/>
            <a:ext cx="552298" cy="552298"/>
          </a:xfrm>
          <a:prstGeom prst="rect">
            <a:avLst/>
          </a:prstGeom>
          <a:solidFill>
            <a:srgbClr val="A78BFA">
              <a:alpha val="20000"/>
            </a:srgbClr>
          </a:solidFill>
          <a:ln w="12700">
            <a:solidFill>
              <a:srgbClr val="A78BFA">
                <a:alpha val="26000"/>
              </a:srgbClr>
            </a:solidFill>
            <a:prstDash val="solid"/>
          </a:ln>
        </p:spPr>
      </p:sp>
      <p:sp>
        <p:nvSpPr>
          <p:cNvPr id="111" name="Shape 106"/>
          <p:cNvSpPr/>
          <p:nvPr/>
        </p:nvSpPr>
        <p:spPr>
          <a:xfrm>
            <a:off x="7655357" y="7070141"/>
            <a:ext cx="552298" cy="552298"/>
          </a:xfrm>
          <a:prstGeom prst="rect">
            <a:avLst/>
          </a:prstGeom>
          <a:solidFill>
            <a:srgbClr val="34D399">
              <a:alpha val="20000"/>
            </a:srgbClr>
          </a:solidFill>
          <a:ln w="12700">
            <a:solidFill>
              <a:srgbClr val="34D399">
                <a:alpha val="26000"/>
              </a:srgbClr>
            </a:solidFill>
            <a:prstDash val="solid"/>
          </a:ln>
        </p:spPr>
      </p:sp>
      <p:sp>
        <p:nvSpPr>
          <p:cNvPr id="112" name="Shape 107"/>
          <p:cNvSpPr/>
          <p:nvPr/>
        </p:nvSpPr>
        <p:spPr>
          <a:xfrm>
            <a:off x="8262518" y="7070141"/>
            <a:ext cx="552298" cy="552298"/>
          </a:xfrm>
          <a:prstGeom prst="rect">
            <a:avLst/>
          </a:prstGeom>
          <a:solidFill>
            <a:srgbClr val="34D399">
              <a:alpha val="22000"/>
            </a:srgbClr>
          </a:solidFill>
          <a:ln w="12700">
            <a:solidFill>
              <a:srgbClr val="34D399">
                <a:alpha val="28000"/>
              </a:srgbClr>
            </a:solidFill>
            <a:prstDash val="solid"/>
          </a:ln>
        </p:spPr>
      </p:sp>
      <p:sp>
        <p:nvSpPr>
          <p:cNvPr id="113" name="Shape 108"/>
          <p:cNvSpPr/>
          <p:nvPr/>
        </p:nvSpPr>
        <p:spPr>
          <a:xfrm>
            <a:off x="8869680" y="7070141"/>
            <a:ext cx="552298" cy="552298"/>
          </a:xfrm>
          <a:prstGeom prst="rect">
            <a:avLst/>
          </a:prstGeom>
          <a:solidFill>
            <a:srgbClr val="34D399">
              <a:alpha val="18000"/>
            </a:srgbClr>
          </a:solidFill>
          <a:ln w="12700">
            <a:solidFill>
              <a:srgbClr val="34D399">
                <a:alpha val="24000"/>
              </a:srgbClr>
            </a:solidFill>
            <a:prstDash val="solid"/>
          </a:ln>
        </p:spPr>
      </p:sp>
      <p:sp>
        <p:nvSpPr>
          <p:cNvPr id="114" name="Shape 109"/>
          <p:cNvSpPr/>
          <p:nvPr/>
        </p:nvSpPr>
        <p:spPr>
          <a:xfrm>
            <a:off x="9475927" y="7070141"/>
            <a:ext cx="552298" cy="552298"/>
          </a:xfrm>
          <a:prstGeom prst="rect">
            <a:avLst/>
          </a:prstGeom>
          <a:solidFill>
            <a:srgbClr val="34D399">
              <a:alpha val="24000"/>
            </a:srgbClr>
          </a:solidFill>
          <a:ln w="12700">
            <a:solidFill>
              <a:srgbClr val="34D399">
                <a:alpha val="30000"/>
              </a:srgbClr>
            </a:solidFill>
            <a:prstDash val="solid"/>
          </a:ln>
        </p:spPr>
      </p:sp>
      <p:sp>
        <p:nvSpPr>
          <p:cNvPr id="115" name="Shape 110"/>
          <p:cNvSpPr/>
          <p:nvPr/>
        </p:nvSpPr>
        <p:spPr>
          <a:xfrm>
            <a:off x="10083089" y="7070141"/>
            <a:ext cx="552298" cy="552298"/>
          </a:xfrm>
          <a:prstGeom prst="rect">
            <a:avLst/>
          </a:prstGeom>
          <a:solidFill>
            <a:srgbClr val="A78BFA">
              <a:alpha val="22000"/>
            </a:srgbClr>
          </a:solidFill>
          <a:ln w="12700">
            <a:solidFill>
              <a:srgbClr val="A78BFA">
                <a:alpha val="28000"/>
              </a:srgbClr>
            </a:solidFill>
            <a:prstDash val="solid"/>
          </a:ln>
        </p:spPr>
      </p:sp>
      <p:sp>
        <p:nvSpPr>
          <p:cNvPr id="116" name="Shape 111"/>
          <p:cNvSpPr/>
          <p:nvPr/>
        </p:nvSpPr>
        <p:spPr>
          <a:xfrm>
            <a:off x="10690250" y="7070141"/>
            <a:ext cx="552298" cy="552298"/>
          </a:xfrm>
          <a:prstGeom prst="rect">
            <a:avLst/>
          </a:prstGeom>
          <a:solidFill>
            <a:srgbClr val="A78BFA">
              <a:alpha val="20000"/>
            </a:srgbClr>
          </a:solidFill>
          <a:ln w="12700">
            <a:solidFill>
              <a:srgbClr val="A78BFA">
                <a:alpha val="26000"/>
              </a:srgbClr>
            </a:solidFill>
            <a:prstDash val="solid"/>
          </a:ln>
        </p:spPr>
      </p:sp>
      <p:sp>
        <p:nvSpPr>
          <p:cNvPr id="117" name="Shape 112"/>
          <p:cNvSpPr/>
          <p:nvPr/>
        </p:nvSpPr>
        <p:spPr>
          <a:xfrm>
            <a:off x="7048195" y="7677302"/>
            <a:ext cx="552298" cy="552298"/>
          </a:xfrm>
          <a:prstGeom prst="rect">
            <a:avLst/>
          </a:prstGeom>
          <a:solidFill>
            <a:srgbClr val="34D399">
              <a:alpha val="22000"/>
            </a:srgbClr>
          </a:solidFill>
          <a:ln w="12700">
            <a:solidFill>
              <a:srgbClr val="34D399">
                <a:alpha val="28000"/>
              </a:srgbClr>
            </a:solidFill>
            <a:prstDash val="solid"/>
          </a:ln>
        </p:spPr>
      </p:sp>
      <p:sp>
        <p:nvSpPr>
          <p:cNvPr id="118" name="Text 113"/>
          <p:cNvSpPr txBox="1"/>
          <p:nvPr/>
        </p:nvSpPr>
        <p:spPr>
          <a:xfrm>
            <a:off x="6953098" y="6667805"/>
            <a:ext cx="4572000" cy="257861"/>
          </a:xfrm>
          <a:prstGeom prst="rect">
            <a:avLst/>
          </a:prstGeom>
          <a:noFill/>
          <a:ln/>
        </p:spPr>
        <p:txBody>
          <a:bodyPr wrap="none" lIns="0" tIns="0" rIns="0" bIns="0" rtlCol="0" anchor="ctr"/>
          <a:lstStyle/>
          <a:p>
            <a:pPr algn="l" indent="0" marL="0">
              <a:buNone/>
            </a:pPr>
            <a:r>
              <a:rPr lang="en-US" sz="1350" dirty="0">
                <a:solidFill>
                  <a:srgbClr val="34D399"/>
                </a:solidFill>
                <a:latin typeface="IBM Plex Sans KR" pitchFamily="34" charset="0"/>
                <a:ea typeface="IBM Plex Sans KR" pitchFamily="34" charset="-122"/>
                <a:cs typeface="IBM Plex Sans KR" pitchFamily="34" charset="-120"/>
              </a:rPr>
              <a:t>고른 분포 · WIWNU 3.36%</a:t>
            </a:r>
            <a:endParaRPr lang="en-US" sz="1350" dirty="0"/>
          </a:p>
        </p:txBody>
      </p:sp>
      <p:sp>
        <p:nvSpPr>
          <p:cNvPr id="119" name="Text 114"/>
          <p:cNvSpPr txBox="1"/>
          <p:nvPr/>
        </p:nvSpPr>
        <p:spPr>
          <a:xfrm>
            <a:off x="12859207" y="2667305"/>
            <a:ext cx="4572000" cy="133502"/>
          </a:xfrm>
          <a:prstGeom prst="rect">
            <a:avLst/>
          </a:prstGeom>
          <a:noFill/>
          <a:ln/>
        </p:spPr>
        <p:txBody>
          <a:bodyPr wrap="none" lIns="0" tIns="0" rIns="0" bIns="0" rtlCol="0" anchor="ctr"/>
          <a:lstStyle/>
          <a:p>
            <a:pPr algn="l" indent="0" marL="0">
              <a:buNone/>
            </a:pPr>
            <a:r>
              <a:rPr lang="en-US" sz="825" spc="182" kern="0" dirty="0">
                <a:solidFill>
                  <a:srgbClr val="F59E0B"/>
                </a:solidFill>
                <a:latin typeface="JetBrains Mono" pitchFamily="34" charset="0"/>
                <a:ea typeface="JetBrains Mono" pitchFamily="34" charset="-122"/>
                <a:cs typeface="JetBrains Mono" pitchFamily="34" charset="-120"/>
              </a:rPr>
              <a:t>SPLIT C · W05 · 2.0 nm</a:t>
            </a:r>
            <a:endParaRPr lang="en-US" sz="825" dirty="0"/>
          </a:p>
        </p:txBody>
      </p:sp>
      <p:sp>
        <p:nvSpPr>
          <p:cNvPr id="120" name="Text 115"/>
          <p:cNvSpPr txBox="1"/>
          <p:nvPr/>
        </p:nvSpPr>
        <p:spPr>
          <a:xfrm>
            <a:off x="12859207" y="2857500"/>
            <a:ext cx="457200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mean </a:t>
            </a:r>
            <a:pPr algn="l" indent="0" marL="0">
              <a:buNone/>
            </a:pPr>
            <a:r>
              <a:rPr lang="en-US" sz="1800" b="1" dirty="0">
                <a:solidFill>
                  <a:srgbClr val="F59E0B"/>
                </a:solidFill>
                <a:latin typeface="Inter" pitchFamily="34" charset="0"/>
                <a:ea typeface="Inter" pitchFamily="34" charset="-122"/>
                <a:cs typeface="Inter" pitchFamily="34" charset="-120"/>
              </a:rPr>
              <a:t>23.92</a:t>
            </a:r>
            <a:pPr algn="l" indent="0" marL="0">
              <a:buNone/>
            </a:pPr>
            <a:r>
              <a:rPr lang="en-US" sz="1800" b="1" dirty="0">
                <a:solidFill>
                  <a:srgbClr val="E6EDF7"/>
                </a:solidFill>
                <a:latin typeface="Inter" pitchFamily="34" charset="0"/>
                <a:ea typeface="Inter" pitchFamily="34" charset="-122"/>
                <a:cs typeface="Inter" pitchFamily="34" charset="-120"/>
              </a:rPr>
              <a:t> · 3σ </a:t>
            </a:r>
            <a:pPr algn="l" indent="0" marL="0">
              <a:buNone/>
            </a:pPr>
            <a:r>
              <a:rPr lang="en-US" sz="1800" b="1" dirty="0">
                <a:solidFill>
                  <a:srgbClr val="E6EDF7"/>
                </a:solidFill>
                <a:latin typeface="Inter" pitchFamily="34" charset="0"/>
                <a:ea typeface="Inter" pitchFamily="34" charset="-122"/>
                <a:cs typeface="Inter" pitchFamily="34" charset="-120"/>
              </a:rPr>
              <a:t>1.22</a:t>
            </a:r>
            <a:endParaRPr lang="en-US" sz="1800" dirty="0"/>
          </a:p>
        </p:txBody>
      </p:sp>
      <p:sp>
        <p:nvSpPr>
          <p:cNvPr id="121" name="Shape 116"/>
          <p:cNvSpPr/>
          <p:nvPr/>
        </p:nvSpPr>
        <p:spPr>
          <a:xfrm>
            <a:off x="12954305" y="3429000"/>
            <a:ext cx="552298" cy="552298"/>
          </a:xfrm>
          <a:prstGeom prst="rect">
            <a:avLst/>
          </a:prstGeom>
          <a:solidFill>
            <a:srgbClr val="22D3EE">
              <a:alpha val="20000"/>
            </a:srgbClr>
          </a:solidFill>
          <a:ln w="12700">
            <a:solidFill>
              <a:srgbClr val="22D3EE">
                <a:alpha val="30000"/>
              </a:srgbClr>
            </a:solidFill>
            <a:prstDash val="solid"/>
          </a:ln>
        </p:spPr>
      </p:sp>
      <p:sp>
        <p:nvSpPr>
          <p:cNvPr id="122" name="Shape 117"/>
          <p:cNvSpPr/>
          <p:nvPr/>
        </p:nvSpPr>
        <p:spPr>
          <a:xfrm>
            <a:off x="13560552" y="3429000"/>
            <a:ext cx="552298" cy="552298"/>
          </a:xfrm>
          <a:prstGeom prst="rect">
            <a:avLst/>
          </a:prstGeom>
          <a:solidFill>
            <a:srgbClr val="22D3EE">
              <a:alpha val="16000"/>
            </a:srgbClr>
          </a:solidFill>
          <a:ln w="12700">
            <a:solidFill>
              <a:srgbClr val="22D3EE">
                <a:alpha val="24000"/>
              </a:srgbClr>
            </a:solidFill>
            <a:prstDash val="solid"/>
          </a:ln>
        </p:spPr>
      </p:sp>
      <p:sp>
        <p:nvSpPr>
          <p:cNvPr id="123" name="Shape 118"/>
          <p:cNvSpPr/>
          <p:nvPr/>
        </p:nvSpPr>
        <p:spPr>
          <a:xfrm>
            <a:off x="14167714" y="3429000"/>
            <a:ext cx="552298" cy="552298"/>
          </a:xfrm>
          <a:prstGeom prst="rect">
            <a:avLst/>
          </a:prstGeom>
          <a:solidFill>
            <a:srgbClr val="22D3EE">
              <a:alpha val="12000"/>
            </a:srgbClr>
          </a:solidFill>
          <a:ln w="12700">
            <a:solidFill>
              <a:srgbClr val="22D3EE">
                <a:alpha val="20000"/>
              </a:srgbClr>
            </a:solidFill>
            <a:prstDash val="solid"/>
          </a:ln>
        </p:spPr>
      </p:sp>
      <p:sp>
        <p:nvSpPr>
          <p:cNvPr id="124" name="Shape 119"/>
          <p:cNvSpPr/>
          <p:nvPr/>
        </p:nvSpPr>
        <p:spPr>
          <a:xfrm>
            <a:off x="14774875" y="3429000"/>
            <a:ext cx="552298" cy="552298"/>
          </a:xfrm>
          <a:prstGeom prst="rect">
            <a:avLst/>
          </a:prstGeom>
          <a:solidFill>
            <a:srgbClr val="22D3EE">
              <a:alpha val="10000"/>
            </a:srgbClr>
          </a:solidFill>
          <a:ln w="12700">
            <a:solidFill>
              <a:srgbClr val="22D3EE">
                <a:alpha val="18000"/>
              </a:srgbClr>
            </a:solidFill>
            <a:prstDash val="solid"/>
          </a:ln>
        </p:spPr>
      </p:sp>
      <p:sp>
        <p:nvSpPr>
          <p:cNvPr id="125" name="Shape 120"/>
          <p:cNvSpPr/>
          <p:nvPr/>
        </p:nvSpPr>
        <p:spPr>
          <a:xfrm>
            <a:off x="15382037" y="3429000"/>
            <a:ext cx="552298" cy="552298"/>
          </a:xfrm>
          <a:prstGeom prst="rect">
            <a:avLst/>
          </a:prstGeom>
          <a:solidFill>
            <a:srgbClr val="22D3EE">
              <a:alpha val="14000"/>
            </a:srgbClr>
          </a:solidFill>
          <a:ln w="12700">
            <a:solidFill>
              <a:srgbClr val="22D3EE">
                <a:alpha val="22000"/>
              </a:srgbClr>
            </a:solidFill>
            <a:prstDash val="solid"/>
          </a:ln>
        </p:spPr>
      </p:sp>
      <p:sp>
        <p:nvSpPr>
          <p:cNvPr id="126" name="Shape 121"/>
          <p:cNvSpPr/>
          <p:nvPr/>
        </p:nvSpPr>
        <p:spPr>
          <a:xfrm>
            <a:off x="15988284" y="3429000"/>
            <a:ext cx="552298" cy="552298"/>
          </a:xfrm>
          <a:prstGeom prst="rect">
            <a:avLst/>
          </a:prstGeom>
          <a:solidFill>
            <a:srgbClr val="22D3EE">
              <a:alpha val="18000"/>
            </a:srgbClr>
          </a:solidFill>
          <a:ln w="12700">
            <a:solidFill>
              <a:srgbClr val="22D3EE">
                <a:alpha val="26000"/>
              </a:srgbClr>
            </a:solidFill>
            <a:prstDash val="solid"/>
          </a:ln>
        </p:spPr>
      </p:sp>
      <p:sp>
        <p:nvSpPr>
          <p:cNvPr id="127" name="Shape 122"/>
          <p:cNvSpPr/>
          <p:nvPr/>
        </p:nvSpPr>
        <p:spPr>
          <a:xfrm>
            <a:off x="16595446" y="3429000"/>
            <a:ext cx="552298" cy="552298"/>
          </a:xfrm>
          <a:prstGeom prst="rect">
            <a:avLst/>
          </a:prstGeom>
          <a:solidFill>
            <a:srgbClr val="22D3EE">
              <a:alpha val="22000"/>
            </a:srgbClr>
          </a:solidFill>
          <a:ln w="12700">
            <a:solidFill>
              <a:srgbClr val="22D3EE">
                <a:alpha val="30000"/>
              </a:srgbClr>
            </a:solidFill>
            <a:prstDash val="solid"/>
          </a:ln>
        </p:spPr>
      </p:sp>
      <p:sp>
        <p:nvSpPr>
          <p:cNvPr id="128" name="Shape 123"/>
          <p:cNvSpPr/>
          <p:nvPr/>
        </p:nvSpPr>
        <p:spPr>
          <a:xfrm>
            <a:off x="12954305" y="4036162"/>
            <a:ext cx="552298" cy="552298"/>
          </a:xfrm>
          <a:prstGeom prst="rect">
            <a:avLst/>
          </a:prstGeom>
          <a:solidFill>
            <a:srgbClr val="22D3EE">
              <a:alpha val="18000"/>
            </a:srgbClr>
          </a:solidFill>
          <a:ln w="12700">
            <a:solidFill>
              <a:srgbClr val="22D3EE">
                <a:alpha val="26000"/>
              </a:srgbClr>
            </a:solidFill>
            <a:prstDash val="solid"/>
          </a:ln>
        </p:spPr>
      </p:sp>
      <p:sp>
        <p:nvSpPr>
          <p:cNvPr id="129" name="Shape 124"/>
          <p:cNvSpPr/>
          <p:nvPr/>
        </p:nvSpPr>
        <p:spPr>
          <a:xfrm>
            <a:off x="13560552" y="4036162"/>
            <a:ext cx="552298" cy="552298"/>
          </a:xfrm>
          <a:prstGeom prst="rect">
            <a:avLst/>
          </a:prstGeom>
          <a:solidFill>
            <a:srgbClr val="22D3EE">
              <a:alpha val="14000"/>
            </a:srgbClr>
          </a:solidFill>
          <a:ln w="12700">
            <a:solidFill>
              <a:srgbClr val="22D3EE">
                <a:alpha val="22000"/>
              </a:srgbClr>
            </a:solidFill>
            <a:prstDash val="solid"/>
          </a:ln>
        </p:spPr>
      </p:sp>
      <p:sp>
        <p:nvSpPr>
          <p:cNvPr id="130" name="Shape 125"/>
          <p:cNvSpPr/>
          <p:nvPr/>
        </p:nvSpPr>
        <p:spPr>
          <a:xfrm>
            <a:off x="14167714" y="4036162"/>
            <a:ext cx="552298" cy="552298"/>
          </a:xfrm>
          <a:prstGeom prst="rect">
            <a:avLst/>
          </a:prstGeom>
          <a:solidFill>
            <a:srgbClr val="22D3EE">
              <a:alpha val="10000"/>
            </a:srgbClr>
          </a:solidFill>
          <a:ln w="12700">
            <a:solidFill>
              <a:srgbClr val="22D3EE">
                <a:alpha val="18000"/>
              </a:srgbClr>
            </a:solidFill>
            <a:prstDash val="solid"/>
          </a:ln>
        </p:spPr>
      </p:sp>
      <p:sp>
        <p:nvSpPr>
          <p:cNvPr id="131" name="Shape 126"/>
          <p:cNvSpPr/>
          <p:nvPr/>
        </p:nvSpPr>
        <p:spPr>
          <a:xfrm>
            <a:off x="14774875" y="4036162"/>
            <a:ext cx="552298" cy="552298"/>
          </a:xfrm>
          <a:prstGeom prst="rect">
            <a:avLst/>
          </a:prstGeom>
          <a:solidFill>
            <a:srgbClr val="34D399">
              <a:alpha val="10000"/>
            </a:srgbClr>
          </a:solidFill>
          <a:ln w="12700">
            <a:solidFill>
              <a:srgbClr val="34D399">
                <a:alpha val="18000"/>
              </a:srgbClr>
            </a:solidFill>
            <a:prstDash val="solid"/>
          </a:ln>
        </p:spPr>
      </p:sp>
      <p:sp>
        <p:nvSpPr>
          <p:cNvPr id="132" name="Shape 127"/>
          <p:cNvSpPr/>
          <p:nvPr/>
        </p:nvSpPr>
        <p:spPr>
          <a:xfrm>
            <a:off x="15382037" y="4036162"/>
            <a:ext cx="552298" cy="552298"/>
          </a:xfrm>
          <a:prstGeom prst="rect">
            <a:avLst/>
          </a:prstGeom>
          <a:solidFill>
            <a:srgbClr val="34D399">
              <a:alpha val="12000"/>
            </a:srgbClr>
          </a:solidFill>
          <a:ln w="12700">
            <a:solidFill>
              <a:srgbClr val="34D399">
                <a:alpha val="20000"/>
              </a:srgbClr>
            </a:solidFill>
            <a:prstDash val="solid"/>
          </a:ln>
        </p:spPr>
      </p:sp>
      <p:sp>
        <p:nvSpPr>
          <p:cNvPr id="133" name="Shape 128"/>
          <p:cNvSpPr/>
          <p:nvPr/>
        </p:nvSpPr>
        <p:spPr>
          <a:xfrm>
            <a:off x="15988284" y="4036162"/>
            <a:ext cx="552298" cy="552298"/>
          </a:xfrm>
          <a:prstGeom prst="rect">
            <a:avLst/>
          </a:prstGeom>
          <a:solidFill>
            <a:srgbClr val="22D3EE">
              <a:alpha val="16000"/>
            </a:srgbClr>
          </a:solidFill>
          <a:ln w="12700">
            <a:solidFill>
              <a:srgbClr val="22D3EE">
                <a:alpha val="24000"/>
              </a:srgbClr>
            </a:solidFill>
            <a:prstDash val="solid"/>
          </a:ln>
        </p:spPr>
      </p:sp>
      <p:sp>
        <p:nvSpPr>
          <p:cNvPr id="134" name="Shape 129"/>
          <p:cNvSpPr/>
          <p:nvPr/>
        </p:nvSpPr>
        <p:spPr>
          <a:xfrm>
            <a:off x="16595446" y="4036162"/>
            <a:ext cx="552298" cy="552298"/>
          </a:xfrm>
          <a:prstGeom prst="rect">
            <a:avLst/>
          </a:prstGeom>
          <a:solidFill>
            <a:srgbClr val="22D3EE">
              <a:alpha val="20000"/>
            </a:srgbClr>
          </a:solidFill>
          <a:ln w="12700">
            <a:solidFill>
              <a:srgbClr val="22D3EE">
                <a:alpha val="28000"/>
              </a:srgbClr>
            </a:solidFill>
            <a:prstDash val="solid"/>
          </a:ln>
        </p:spPr>
      </p:sp>
      <p:sp>
        <p:nvSpPr>
          <p:cNvPr id="135" name="Shape 130"/>
          <p:cNvSpPr/>
          <p:nvPr/>
        </p:nvSpPr>
        <p:spPr>
          <a:xfrm>
            <a:off x="12954305" y="4642409"/>
            <a:ext cx="552298" cy="552298"/>
          </a:xfrm>
          <a:prstGeom prst="rect">
            <a:avLst/>
          </a:prstGeom>
          <a:solidFill>
            <a:srgbClr val="22D3EE">
              <a:alpha val="18000"/>
            </a:srgbClr>
          </a:solidFill>
          <a:ln w="12700">
            <a:solidFill>
              <a:srgbClr val="22D3EE">
                <a:alpha val="26000"/>
              </a:srgbClr>
            </a:solidFill>
            <a:prstDash val="solid"/>
          </a:ln>
        </p:spPr>
      </p:sp>
      <p:sp>
        <p:nvSpPr>
          <p:cNvPr id="136" name="Shape 131"/>
          <p:cNvSpPr/>
          <p:nvPr/>
        </p:nvSpPr>
        <p:spPr>
          <a:xfrm>
            <a:off x="13560552" y="4642409"/>
            <a:ext cx="552298" cy="552298"/>
          </a:xfrm>
          <a:prstGeom prst="rect">
            <a:avLst/>
          </a:prstGeom>
          <a:solidFill>
            <a:srgbClr val="22D3EE">
              <a:alpha val="14000"/>
            </a:srgbClr>
          </a:solidFill>
          <a:ln w="12700">
            <a:solidFill>
              <a:srgbClr val="22D3EE">
                <a:alpha val="22000"/>
              </a:srgbClr>
            </a:solidFill>
            <a:prstDash val="solid"/>
          </a:ln>
        </p:spPr>
      </p:sp>
      <p:sp>
        <p:nvSpPr>
          <p:cNvPr id="137" name="Shape 132"/>
          <p:cNvSpPr/>
          <p:nvPr/>
        </p:nvSpPr>
        <p:spPr>
          <a:xfrm>
            <a:off x="14167714" y="4642409"/>
            <a:ext cx="552298" cy="552298"/>
          </a:xfrm>
          <a:prstGeom prst="rect">
            <a:avLst/>
          </a:prstGeom>
          <a:solidFill>
            <a:srgbClr val="34D399">
              <a:alpha val="10000"/>
            </a:srgbClr>
          </a:solidFill>
          <a:ln w="12700">
            <a:solidFill>
              <a:srgbClr val="34D399">
                <a:alpha val="18000"/>
              </a:srgbClr>
            </a:solidFill>
            <a:prstDash val="solid"/>
          </a:ln>
        </p:spPr>
      </p:sp>
      <p:sp>
        <p:nvSpPr>
          <p:cNvPr id="138" name="Shape 133"/>
          <p:cNvSpPr/>
          <p:nvPr/>
        </p:nvSpPr>
        <p:spPr>
          <a:xfrm>
            <a:off x="14774875" y="4642409"/>
            <a:ext cx="552298" cy="552298"/>
          </a:xfrm>
          <a:prstGeom prst="rect">
            <a:avLst/>
          </a:prstGeom>
          <a:solidFill>
            <a:srgbClr val="34D399">
              <a:alpha val="8000"/>
            </a:srgbClr>
          </a:solidFill>
          <a:ln w="12700">
            <a:solidFill>
              <a:srgbClr val="34D399">
                <a:alpha val="16000"/>
              </a:srgbClr>
            </a:solidFill>
            <a:prstDash val="solid"/>
          </a:ln>
        </p:spPr>
      </p:sp>
      <p:sp>
        <p:nvSpPr>
          <p:cNvPr id="139" name="Shape 134"/>
          <p:cNvSpPr/>
          <p:nvPr/>
        </p:nvSpPr>
        <p:spPr>
          <a:xfrm>
            <a:off x="15382037" y="4642409"/>
            <a:ext cx="552298" cy="552298"/>
          </a:xfrm>
          <a:prstGeom prst="rect">
            <a:avLst/>
          </a:prstGeom>
          <a:solidFill>
            <a:srgbClr val="34D399">
              <a:alpha val="10000"/>
            </a:srgbClr>
          </a:solidFill>
          <a:ln w="12700">
            <a:solidFill>
              <a:srgbClr val="34D399">
                <a:alpha val="18000"/>
              </a:srgbClr>
            </a:solidFill>
            <a:prstDash val="solid"/>
          </a:ln>
        </p:spPr>
      </p:sp>
      <p:sp>
        <p:nvSpPr>
          <p:cNvPr id="140" name="Shape 135"/>
          <p:cNvSpPr/>
          <p:nvPr/>
        </p:nvSpPr>
        <p:spPr>
          <a:xfrm>
            <a:off x="15988284" y="4642409"/>
            <a:ext cx="552298" cy="552298"/>
          </a:xfrm>
          <a:prstGeom prst="rect">
            <a:avLst/>
          </a:prstGeom>
          <a:solidFill>
            <a:srgbClr val="22D3EE">
              <a:alpha val="16000"/>
            </a:srgbClr>
          </a:solidFill>
          <a:ln w="12700">
            <a:solidFill>
              <a:srgbClr val="22D3EE">
                <a:alpha val="24000"/>
              </a:srgbClr>
            </a:solidFill>
            <a:prstDash val="solid"/>
          </a:ln>
        </p:spPr>
      </p:sp>
      <p:sp>
        <p:nvSpPr>
          <p:cNvPr id="141" name="Shape 136"/>
          <p:cNvSpPr/>
          <p:nvPr/>
        </p:nvSpPr>
        <p:spPr>
          <a:xfrm>
            <a:off x="16595446" y="4642409"/>
            <a:ext cx="552298" cy="552298"/>
          </a:xfrm>
          <a:prstGeom prst="rect">
            <a:avLst/>
          </a:prstGeom>
          <a:solidFill>
            <a:srgbClr val="22D3EE">
              <a:alpha val="18000"/>
            </a:srgbClr>
          </a:solidFill>
          <a:ln w="12700">
            <a:solidFill>
              <a:srgbClr val="22D3EE">
                <a:alpha val="26000"/>
              </a:srgbClr>
            </a:solidFill>
            <a:prstDash val="solid"/>
          </a:ln>
        </p:spPr>
      </p:sp>
      <p:sp>
        <p:nvSpPr>
          <p:cNvPr id="142" name="Shape 137"/>
          <p:cNvSpPr/>
          <p:nvPr/>
        </p:nvSpPr>
        <p:spPr>
          <a:xfrm>
            <a:off x="12954305" y="5249570"/>
            <a:ext cx="552298" cy="552298"/>
          </a:xfrm>
          <a:prstGeom prst="rect">
            <a:avLst/>
          </a:prstGeom>
          <a:solidFill>
            <a:srgbClr val="22D3EE">
              <a:alpha val="18000"/>
            </a:srgbClr>
          </a:solidFill>
          <a:ln w="12700">
            <a:solidFill>
              <a:srgbClr val="22D3EE">
                <a:alpha val="26000"/>
              </a:srgbClr>
            </a:solidFill>
            <a:prstDash val="solid"/>
          </a:ln>
        </p:spPr>
      </p:sp>
      <p:sp>
        <p:nvSpPr>
          <p:cNvPr id="143" name="Shape 138"/>
          <p:cNvSpPr/>
          <p:nvPr/>
        </p:nvSpPr>
        <p:spPr>
          <a:xfrm>
            <a:off x="13560552" y="5249570"/>
            <a:ext cx="552298" cy="552298"/>
          </a:xfrm>
          <a:prstGeom prst="rect">
            <a:avLst/>
          </a:prstGeom>
          <a:solidFill>
            <a:srgbClr val="22D3EE">
              <a:alpha val="16000"/>
            </a:srgbClr>
          </a:solidFill>
          <a:ln w="12700">
            <a:solidFill>
              <a:srgbClr val="22D3EE">
                <a:alpha val="24000"/>
              </a:srgbClr>
            </a:solidFill>
            <a:prstDash val="solid"/>
          </a:ln>
        </p:spPr>
      </p:sp>
      <p:sp>
        <p:nvSpPr>
          <p:cNvPr id="144" name="Shape 139"/>
          <p:cNvSpPr/>
          <p:nvPr/>
        </p:nvSpPr>
        <p:spPr>
          <a:xfrm>
            <a:off x="14167714" y="5249570"/>
            <a:ext cx="552298" cy="552298"/>
          </a:xfrm>
          <a:prstGeom prst="rect">
            <a:avLst/>
          </a:prstGeom>
          <a:solidFill>
            <a:srgbClr val="34D399">
              <a:alpha val="10000"/>
            </a:srgbClr>
          </a:solidFill>
          <a:ln w="12700">
            <a:solidFill>
              <a:srgbClr val="34D399">
                <a:alpha val="18000"/>
              </a:srgbClr>
            </a:solidFill>
            <a:prstDash val="solid"/>
          </a:ln>
        </p:spPr>
      </p:sp>
      <p:sp>
        <p:nvSpPr>
          <p:cNvPr id="145" name="Shape 140"/>
          <p:cNvSpPr/>
          <p:nvPr/>
        </p:nvSpPr>
        <p:spPr>
          <a:xfrm>
            <a:off x="14774875" y="5249570"/>
            <a:ext cx="552298" cy="552298"/>
          </a:xfrm>
          <a:prstGeom prst="rect">
            <a:avLst/>
          </a:prstGeom>
          <a:solidFill>
            <a:srgbClr val="34D399">
              <a:alpha val="8000"/>
            </a:srgbClr>
          </a:solidFill>
          <a:ln w="12700">
            <a:solidFill>
              <a:srgbClr val="34D399">
                <a:alpha val="16000"/>
              </a:srgbClr>
            </a:solidFill>
            <a:prstDash val="solid"/>
          </a:ln>
        </p:spPr>
      </p:sp>
      <p:sp>
        <p:nvSpPr>
          <p:cNvPr id="146" name="Shape 141"/>
          <p:cNvSpPr/>
          <p:nvPr/>
        </p:nvSpPr>
        <p:spPr>
          <a:xfrm>
            <a:off x="15382037" y="5249570"/>
            <a:ext cx="552298" cy="552298"/>
          </a:xfrm>
          <a:prstGeom prst="rect">
            <a:avLst/>
          </a:prstGeom>
          <a:solidFill>
            <a:srgbClr val="34D399">
              <a:alpha val="12000"/>
            </a:srgbClr>
          </a:solidFill>
          <a:ln w="12700">
            <a:solidFill>
              <a:srgbClr val="34D399">
                <a:alpha val="20000"/>
              </a:srgbClr>
            </a:solidFill>
            <a:prstDash val="solid"/>
          </a:ln>
        </p:spPr>
      </p:sp>
      <p:sp>
        <p:nvSpPr>
          <p:cNvPr id="147" name="Shape 142"/>
          <p:cNvSpPr/>
          <p:nvPr/>
        </p:nvSpPr>
        <p:spPr>
          <a:xfrm>
            <a:off x="15988284" y="5249570"/>
            <a:ext cx="552298" cy="552298"/>
          </a:xfrm>
          <a:prstGeom prst="rect">
            <a:avLst/>
          </a:prstGeom>
          <a:solidFill>
            <a:srgbClr val="22D3EE">
              <a:alpha val="18000"/>
            </a:srgbClr>
          </a:solidFill>
          <a:ln w="12700">
            <a:solidFill>
              <a:srgbClr val="22D3EE">
                <a:alpha val="26000"/>
              </a:srgbClr>
            </a:solidFill>
            <a:prstDash val="solid"/>
          </a:ln>
        </p:spPr>
      </p:sp>
      <p:sp>
        <p:nvSpPr>
          <p:cNvPr id="148" name="Shape 143"/>
          <p:cNvSpPr/>
          <p:nvPr/>
        </p:nvSpPr>
        <p:spPr>
          <a:xfrm>
            <a:off x="16595446" y="5249570"/>
            <a:ext cx="552298" cy="552298"/>
          </a:xfrm>
          <a:prstGeom prst="rect">
            <a:avLst/>
          </a:prstGeom>
          <a:solidFill>
            <a:srgbClr val="22D3EE">
              <a:alpha val="20000"/>
            </a:srgbClr>
          </a:solidFill>
          <a:ln w="12700">
            <a:solidFill>
              <a:srgbClr val="22D3EE">
                <a:alpha val="28000"/>
              </a:srgbClr>
            </a:solidFill>
            <a:prstDash val="solid"/>
          </a:ln>
        </p:spPr>
      </p:sp>
      <p:sp>
        <p:nvSpPr>
          <p:cNvPr id="149" name="Shape 144"/>
          <p:cNvSpPr/>
          <p:nvPr/>
        </p:nvSpPr>
        <p:spPr>
          <a:xfrm>
            <a:off x="12954305" y="5856732"/>
            <a:ext cx="552298" cy="552298"/>
          </a:xfrm>
          <a:prstGeom prst="rect">
            <a:avLst/>
          </a:prstGeom>
          <a:solidFill>
            <a:srgbClr val="22D3EE">
              <a:alpha val="22000"/>
            </a:srgbClr>
          </a:solidFill>
          <a:ln w="12700">
            <a:solidFill>
              <a:srgbClr val="22D3EE">
                <a:alpha val="30000"/>
              </a:srgbClr>
            </a:solidFill>
            <a:prstDash val="solid"/>
          </a:ln>
        </p:spPr>
      </p:sp>
      <p:sp>
        <p:nvSpPr>
          <p:cNvPr id="150" name="Shape 145"/>
          <p:cNvSpPr/>
          <p:nvPr/>
        </p:nvSpPr>
        <p:spPr>
          <a:xfrm>
            <a:off x="13560552" y="5856732"/>
            <a:ext cx="552298" cy="552298"/>
          </a:xfrm>
          <a:prstGeom prst="rect">
            <a:avLst/>
          </a:prstGeom>
          <a:solidFill>
            <a:srgbClr val="22D3EE">
              <a:alpha val="18000"/>
            </a:srgbClr>
          </a:solidFill>
          <a:ln w="12700">
            <a:solidFill>
              <a:srgbClr val="22D3EE">
                <a:alpha val="26000"/>
              </a:srgbClr>
            </a:solidFill>
            <a:prstDash val="solid"/>
          </a:ln>
        </p:spPr>
      </p:sp>
      <p:sp>
        <p:nvSpPr>
          <p:cNvPr id="151" name="Shape 146"/>
          <p:cNvSpPr/>
          <p:nvPr/>
        </p:nvSpPr>
        <p:spPr>
          <a:xfrm>
            <a:off x="14167714" y="5856732"/>
            <a:ext cx="552298" cy="552298"/>
          </a:xfrm>
          <a:prstGeom prst="rect">
            <a:avLst/>
          </a:prstGeom>
          <a:solidFill>
            <a:srgbClr val="22D3EE">
              <a:alpha val="16000"/>
            </a:srgbClr>
          </a:solidFill>
          <a:ln w="12700">
            <a:solidFill>
              <a:srgbClr val="22D3EE">
                <a:alpha val="24000"/>
              </a:srgbClr>
            </a:solidFill>
            <a:prstDash val="solid"/>
          </a:ln>
        </p:spPr>
      </p:sp>
      <p:sp>
        <p:nvSpPr>
          <p:cNvPr id="152" name="Shape 147"/>
          <p:cNvSpPr/>
          <p:nvPr/>
        </p:nvSpPr>
        <p:spPr>
          <a:xfrm>
            <a:off x="14774875" y="5856732"/>
            <a:ext cx="552298" cy="552298"/>
          </a:xfrm>
          <a:prstGeom prst="rect">
            <a:avLst/>
          </a:prstGeom>
          <a:solidFill>
            <a:srgbClr val="22D3EE">
              <a:alpha val="14000"/>
            </a:srgbClr>
          </a:solidFill>
          <a:ln w="12700">
            <a:solidFill>
              <a:srgbClr val="22D3EE">
                <a:alpha val="22000"/>
              </a:srgbClr>
            </a:solidFill>
            <a:prstDash val="solid"/>
          </a:ln>
        </p:spPr>
      </p:sp>
      <p:sp>
        <p:nvSpPr>
          <p:cNvPr id="153" name="Shape 148"/>
          <p:cNvSpPr/>
          <p:nvPr/>
        </p:nvSpPr>
        <p:spPr>
          <a:xfrm>
            <a:off x="15382037" y="5856732"/>
            <a:ext cx="552298" cy="552298"/>
          </a:xfrm>
          <a:prstGeom prst="rect">
            <a:avLst/>
          </a:prstGeom>
          <a:solidFill>
            <a:srgbClr val="22D3EE">
              <a:alpha val="18000"/>
            </a:srgbClr>
          </a:solidFill>
          <a:ln w="12700">
            <a:solidFill>
              <a:srgbClr val="22D3EE">
                <a:alpha val="26000"/>
              </a:srgbClr>
            </a:solidFill>
            <a:prstDash val="solid"/>
          </a:ln>
        </p:spPr>
      </p:sp>
      <p:sp>
        <p:nvSpPr>
          <p:cNvPr id="154" name="Shape 149"/>
          <p:cNvSpPr/>
          <p:nvPr/>
        </p:nvSpPr>
        <p:spPr>
          <a:xfrm>
            <a:off x="15988284" y="5856732"/>
            <a:ext cx="552298" cy="552298"/>
          </a:xfrm>
          <a:prstGeom prst="rect">
            <a:avLst/>
          </a:prstGeom>
          <a:solidFill>
            <a:srgbClr val="22D3EE">
              <a:alpha val="20000"/>
            </a:srgbClr>
          </a:solidFill>
          <a:ln w="12700">
            <a:solidFill>
              <a:srgbClr val="22D3EE">
                <a:alpha val="28000"/>
              </a:srgbClr>
            </a:solidFill>
            <a:prstDash val="solid"/>
          </a:ln>
        </p:spPr>
      </p:sp>
      <p:sp>
        <p:nvSpPr>
          <p:cNvPr id="155" name="Shape 150"/>
          <p:cNvSpPr/>
          <p:nvPr/>
        </p:nvSpPr>
        <p:spPr>
          <a:xfrm>
            <a:off x="16595446" y="5856732"/>
            <a:ext cx="552298" cy="552298"/>
          </a:xfrm>
          <a:prstGeom prst="rect">
            <a:avLst/>
          </a:prstGeom>
          <a:solidFill>
            <a:srgbClr val="22D3EE">
              <a:alpha val="18000"/>
            </a:srgbClr>
          </a:solidFill>
          <a:ln w="12700">
            <a:solidFill>
              <a:srgbClr val="22D3EE">
                <a:alpha val="26000"/>
              </a:srgbClr>
            </a:solidFill>
            <a:prstDash val="solid"/>
          </a:ln>
        </p:spPr>
      </p:sp>
      <p:sp>
        <p:nvSpPr>
          <p:cNvPr id="156" name="Shape 151"/>
          <p:cNvSpPr/>
          <p:nvPr/>
        </p:nvSpPr>
        <p:spPr>
          <a:xfrm>
            <a:off x="12954305" y="6463894"/>
            <a:ext cx="552298" cy="552298"/>
          </a:xfrm>
          <a:prstGeom prst="rect">
            <a:avLst/>
          </a:prstGeom>
          <a:solidFill>
            <a:srgbClr val="22D3EE">
              <a:alpha val="18000"/>
            </a:srgbClr>
          </a:solidFill>
          <a:ln w="12700">
            <a:solidFill>
              <a:srgbClr val="22D3EE">
                <a:alpha val="26000"/>
              </a:srgbClr>
            </a:solidFill>
            <a:prstDash val="solid"/>
          </a:ln>
        </p:spPr>
      </p:sp>
      <p:sp>
        <p:nvSpPr>
          <p:cNvPr id="157" name="Shape 152"/>
          <p:cNvSpPr/>
          <p:nvPr/>
        </p:nvSpPr>
        <p:spPr>
          <a:xfrm>
            <a:off x="13560552" y="6463894"/>
            <a:ext cx="552298" cy="552298"/>
          </a:xfrm>
          <a:prstGeom prst="rect">
            <a:avLst/>
          </a:prstGeom>
          <a:solidFill>
            <a:srgbClr val="22D3EE">
              <a:alpha val="18000"/>
            </a:srgbClr>
          </a:solidFill>
          <a:ln w="12700">
            <a:solidFill>
              <a:srgbClr val="22D3EE">
                <a:alpha val="26000"/>
              </a:srgbClr>
            </a:solidFill>
            <a:prstDash val="solid"/>
          </a:ln>
        </p:spPr>
      </p:sp>
      <p:sp>
        <p:nvSpPr>
          <p:cNvPr id="158" name="Shape 153"/>
          <p:cNvSpPr/>
          <p:nvPr/>
        </p:nvSpPr>
        <p:spPr>
          <a:xfrm>
            <a:off x="14167714" y="6463894"/>
            <a:ext cx="552298" cy="552298"/>
          </a:xfrm>
          <a:prstGeom prst="rect">
            <a:avLst/>
          </a:prstGeom>
          <a:solidFill>
            <a:srgbClr val="22D3EE">
              <a:alpha val="20000"/>
            </a:srgbClr>
          </a:solidFill>
          <a:ln w="12700">
            <a:solidFill>
              <a:srgbClr val="22D3EE">
                <a:alpha val="28000"/>
              </a:srgbClr>
            </a:solidFill>
            <a:prstDash val="solid"/>
          </a:ln>
        </p:spPr>
      </p:sp>
      <p:sp>
        <p:nvSpPr>
          <p:cNvPr id="159" name="Shape 154"/>
          <p:cNvSpPr/>
          <p:nvPr/>
        </p:nvSpPr>
        <p:spPr>
          <a:xfrm>
            <a:off x="14774875" y="6463894"/>
            <a:ext cx="552298" cy="552298"/>
          </a:xfrm>
          <a:prstGeom prst="rect">
            <a:avLst/>
          </a:prstGeom>
          <a:solidFill>
            <a:srgbClr val="22D3EE">
              <a:alpha val="16000"/>
            </a:srgbClr>
          </a:solidFill>
          <a:ln w="12700">
            <a:solidFill>
              <a:srgbClr val="22D3EE">
                <a:alpha val="24000"/>
              </a:srgbClr>
            </a:solidFill>
            <a:prstDash val="solid"/>
          </a:ln>
        </p:spPr>
      </p:sp>
      <p:sp>
        <p:nvSpPr>
          <p:cNvPr id="160" name="Shape 155"/>
          <p:cNvSpPr/>
          <p:nvPr/>
        </p:nvSpPr>
        <p:spPr>
          <a:xfrm>
            <a:off x="15382037" y="6463894"/>
            <a:ext cx="552298" cy="552298"/>
          </a:xfrm>
          <a:prstGeom prst="rect">
            <a:avLst/>
          </a:prstGeom>
          <a:solidFill>
            <a:srgbClr val="22D3EE">
              <a:alpha val="18000"/>
            </a:srgbClr>
          </a:solidFill>
          <a:ln w="12700">
            <a:solidFill>
              <a:srgbClr val="22D3EE">
                <a:alpha val="26000"/>
              </a:srgbClr>
            </a:solidFill>
            <a:prstDash val="solid"/>
          </a:ln>
        </p:spPr>
      </p:sp>
      <p:sp>
        <p:nvSpPr>
          <p:cNvPr id="161" name="Shape 156"/>
          <p:cNvSpPr/>
          <p:nvPr/>
        </p:nvSpPr>
        <p:spPr>
          <a:xfrm>
            <a:off x="15988284" y="6463894"/>
            <a:ext cx="552298" cy="552298"/>
          </a:xfrm>
          <a:prstGeom prst="rect">
            <a:avLst/>
          </a:prstGeom>
          <a:solidFill>
            <a:srgbClr val="22D3EE">
              <a:alpha val="22000"/>
            </a:srgbClr>
          </a:solidFill>
          <a:ln w="12700">
            <a:solidFill>
              <a:srgbClr val="22D3EE">
                <a:alpha val="30000"/>
              </a:srgbClr>
            </a:solidFill>
            <a:prstDash val="solid"/>
          </a:ln>
        </p:spPr>
      </p:sp>
      <p:sp>
        <p:nvSpPr>
          <p:cNvPr id="162" name="Shape 157"/>
          <p:cNvSpPr/>
          <p:nvPr/>
        </p:nvSpPr>
        <p:spPr>
          <a:xfrm>
            <a:off x="16595446" y="6463894"/>
            <a:ext cx="552298" cy="552298"/>
          </a:xfrm>
          <a:prstGeom prst="rect">
            <a:avLst/>
          </a:prstGeom>
          <a:solidFill>
            <a:srgbClr val="22D3EE">
              <a:alpha val="20000"/>
            </a:srgbClr>
          </a:solidFill>
          <a:ln w="12700">
            <a:solidFill>
              <a:srgbClr val="22D3EE">
                <a:alpha val="28000"/>
              </a:srgbClr>
            </a:solidFill>
            <a:prstDash val="solid"/>
          </a:ln>
        </p:spPr>
      </p:sp>
      <p:sp>
        <p:nvSpPr>
          <p:cNvPr id="163" name="Shape 158"/>
          <p:cNvSpPr/>
          <p:nvPr/>
        </p:nvSpPr>
        <p:spPr>
          <a:xfrm>
            <a:off x="12954305" y="7070141"/>
            <a:ext cx="552298" cy="552298"/>
          </a:xfrm>
          <a:prstGeom prst="rect">
            <a:avLst/>
          </a:prstGeom>
          <a:solidFill>
            <a:srgbClr val="22D3EE">
              <a:alpha val="18000"/>
            </a:srgbClr>
          </a:solidFill>
          <a:ln w="12700">
            <a:solidFill>
              <a:srgbClr val="22D3EE">
                <a:alpha val="26000"/>
              </a:srgbClr>
            </a:solidFill>
            <a:prstDash val="solid"/>
          </a:ln>
        </p:spPr>
      </p:sp>
      <p:sp>
        <p:nvSpPr>
          <p:cNvPr id="164" name="Shape 159"/>
          <p:cNvSpPr/>
          <p:nvPr/>
        </p:nvSpPr>
        <p:spPr>
          <a:xfrm>
            <a:off x="13560552" y="7070141"/>
            <a:ext cx="552298" cy="552298"/>
          </a:xfrm>
          <a:prstGeom prst="rect">
            <a:avLst/>
          </a:prstGeom>
          <a:solidFill>
            <a:srgbClr val="22D3EE">
              <a:alpha val="22000"/>
            </a:srgbClr>
          </a:solidFill>
          <a:ln w="12700">
            <a:solidFill>
              <a:srgbClr val="22D3EE">
                <a:alpha val="30000"/>
              </a:srgbClr>
            </a:solidFill>
            <a:prstDash val="solid"/>
          </a:ln>
        </p:spPr>
      </p:sp>
      <p:sp>
        <p:nvSpPr>
          <p:cNvPr id="165" name="Shape 160"/>
          <p:cNvSpPr/>
          <p:nvPr/>
        </p:nvSpPr>
        <p:spPr>
          <a:xfrm>
            <a:off x="14167714" y="7070141"/>
            <a:ext cx="552298" cy="552298"/>
          </a:xfrm>
          <a:prstGeom prst="rect">
            <a:avLst/>
          </a:prstGeom>
          <a:solidFill>
            <a:srgbClr val="22D3EE">
              <a:alpha val="18000"/>
            </a:srgbClr>
          </a:solidFill>
          <a:ln w="12700">
            <a:solidFill>
              <a:srgbClr val="22D3EE">
                <a:alpha val="26000"/>
              </a:srgbClr>
            </a:solidFill>
            <a:prstDash val="solid"/>
          </a:ln>
        </p:spPr>
      </p:sp>
      <p:sp>
        <p:nvSpPr>
          <p:cNvPr id="166" name="Shape 161"/>
          <p:cNvSpPr/>
          <p:nvPr/>
        </p:nvSpPr>
        <p:spPr>
          <a:xfrm>
            <a:off x="14774875" y="7070141"/>
            <a:ext cx="552298" cy="552298"/>
          </a:xfrm>
          <a:prstGeom prst="rect">
            <a:avLst/>
          </a:prstGeom>
          <a:solidFill>
            <a:srgbClr val="22D3EE">
              <a:alpha val="20000"/>
            </a:srgbClr>
          </a:solidFill>
          <a:ln w="12700">
            <a:solidFill>
              <a:srgbClr val="22D3EE">
                <a:alpha val="28000"/>
              </a:srgbClr>
            </a:solidFill>
            <a:prstDash val="solid"/>
          </a:ln>
        </p:spPr>
      </p:sp>
      <p:sp>
        <p:nvSpPr>
          <p:cNvPr id="167" name="Shape 162"/>
          <p:cNvSpPr/>
          <p:nvPr/>
        </p:nvSpPr>
        <p:spPr>
          <a:xfrm>
            <a:off x="15382037" y="7070141"/>
            <a:ext cx="552298" cy="552298"/>
          </a:xfrm>
          <a:prstGeom prst="rect">
            <a:avLst/>
          </a:prstGeom>
          <a:solidFill>
            <a:srgbClr val="22D3EE">
              <a:alpha val="22000"/>
            </a:srgbClr>
          </a:solidFill>
          <a:ln w="12700">
            <a:solidFill>
              <a:srgbClr val="22D3EE">
                <a:alpha val="30000"/>
              </a:srgbClr>
            </a:solidFill>
            <a:prstDash val="solid"/>
          </a:ln>
        </p:spPr>
      </p:sp>
      <p:sp>
        <p:nvSpPr>
          <p:cNvPr id="168" name="Shape 163"/>
          <p:cNvSpPr/>
          <p:nvPr/>
        </p:nvSpPr>
        <p:spPr>
          <a:xfrm>
            <a:off x="15988284" y="7070141"/>
            <a:ext cx="552298" cy="552298"/>
          </a:xfrm>
          <a:prstGeom prst="rect">
            <a:avLst/>
          </a:prstGeom>
          <a:solidFill>
            <a:srgbClr val="22D3EE">
              <a:alpha val="22000"/>
            </a:srgbClr>
          </a:solidFill>
          <a:ln w="12700">
            <a:solidFill>
              <a:srgbClr val="22D3EE">
                <a:alpha val="30000"/>
              </a:srgbClr>
            </a:solidFill>
            <a:prstDash val="solid"/>
          </a:ln>
        </p:spPr>
      </p:sp>
      <p:sp>
        <p:nvSpPr>
          <p:cNvPr id="169" name="Shape 164"/>
          <p:cNvSpPr/>
          <p:nvPr/>
        </p:nvSpPr>
        <p:spPr>
          <a:xfrm>
            <a:off x="16595446" y="7070141"/>
            <a:ext cx="552298" cy="552298"/>
          </a:xfrm>
          <a:prstGeom prst="rect">
            <a:avLst/>
          </a:prstGeom>
          <a:solidFill>
            <a:srgbClr val="22D3EE">
              <a:alpha val="24000"/>
            </a:srgbClr>
          </a:solidFill>
          <a:ln w="12700">
            <a:solidFill>
              <a:srgbClr val="22D3EE">
                <a:alpha val="32000"/>
              </a:srgbClr>
            </a:solidFill>
            <a:prstDash val="solid"/>
          </a:ln>
        </p:spPr>
      </p:sp>
      <p:sp>
        <p:nvSpPr>
          <p:cNvPr id="170" name="Text 165"/>
          <p:cNvSpPr txBox="1"/>
          <p:nvPr/>
        </p:nvSpPr>
        <p:spPr>
          <a:xfrm>
            <a:off x="12859207" y="6667805"/>
            <a:ext cx="4572000" cy="257861"/>
          </a:xfrm>
          <a:prstGeom prst="rect">
            <a:avLst/>
          </a:prstGeom>
          <a:noFill/>
          <a:ln/>
        </p:spPr>
        <p:txBody>
          <a:bodyPr wrap="none" lIns="0" tIns="0" rIns="0" bIns="0" rtlCol="0" anchor="ctr"/>
          <a:lstStyle/>
          <a:p>
            <a:pPr algn="l" indent="0" marL="0">
              <a:buNone/>
            </a:pPr>
            <a:r>
              <a:rPr lang="en-US" sz="1350" dirty="0">
                <a:solidFill>
                  <a:srgbClr val="F59E0B"/>
                </a:solidFill>
                <a:latin typeface="IBM Plex Sans KR" pitchFamily="34" charset="0"/>
                <a:ea typeface="IBM Plex Sans KR" pitchFamily="34" charset="-122"/>
                <a:cs typeface="IBM Plex Sans KR" pitchFamily="34" charset="-120"/>
              </a:rPr>
              <a:t>Center 균일, edge −편향 · WIWNU 3.05%</a:t>
            </a:r>
            <a:endParaRPr lang="en-US" sz="1350" dirty="0"/>
          </a:p>
        </p:txBody>
      </p:sp>
      <p:sp>
        <p:nvSpPr>
          <p:cNvPr id="171" name="Shape 166"/>
          <p:cNvSpPr/>
          <p:nvPr/>
        </p:nvSpPr>
        <p:spPr>
          <a:xfrm>
            <a:off x="1047902" y="7687361"/>
            <a:ext cx="16192195" cy="9144"/>
          </a:xfrm>
          <a:prstGeom prst="rect">
            <a:avLst/>
          </a:prstGeom>
          <a:solidFill>
            <a:srgbClr val="00D4FF">
              <a:alpha val="18000"/>
            </a:srgbClr>
          </a:solidFill>
          <a:ln w="12700">
            <a:solidFill>
              <a:srgbClr val="00D4FF">
                <a:alpha val="0"/>
              </a:srgbClr>
            </a:solidFill>
            <a:prstDash val="solid"/>
          </a:ln>
        </p:spPr>
      </p:sp>
      <p:sp>
        <p:nvSpPr>
          <p:cNvPr id="172" name="Text 167"/>
          <p:cNvSpPr txBox="1"/>
          <p:nvPr/>
        </p:nvSpPr>
        <p:spPr>
          <a:xfrm>
            <a:off x="1047902" y="7429500"/>
            <a:ext cx="1905610" cy="162763"/>
          </a:xfrm>
          <a:prstGeom prst="rect">
            <a:avLst/>
          </a:prstGeom>
          <a:noFill/>
          <a:ln/>
        </p:spPr>
        <p:txBody>
          <a:bodyPr wrap="none" lIns="0" tIns="0" rIns="0" bIns="0" rtlCol="0" anchor="ctr"/>
          <a:lstStyle/>
          <a:p>
            <a:pPr algn="l" indent="0" marL="0">
              <a:buNone/>
            </a:pPr>
            <a:r>
              <a:rPr lang="en-US" sz="975" spc="176" kern="0" dirty="0">
                <a:solidFill>
                  <a:srgbClr val="8B95A8"/>
                </a:solidFill>
                <a:latin typeface="JetBrains Mono" pitchFamily="34" charset="0"/>
                <a:ea typeface="JetBrains Mono" pitchFamily="34" charset="-122"/>
                <a:cs typeface="JetBrains Mono" pitchFamily="34" charset="-120"/>
              </a:rPr>
              <a:t>SUMMARY</a:t>
            </a:r>
            <a:endParaRPr lang="en-US" sz="975" dirty="0"/>
          </a:p>
        </p:txBody>
      </p:sp>
      <p:sp>
        <p:nvSpPr>
          <p:cNvPr id="173" name="Text 168"/>
          <p:cNvSpPr txBox="1"/>
          <p:nvPr/>
        </p:nvSpPr>
        <p:spPr>
          <a:xfrm>
            <a:off x="2952598" y="7429500"/>
            <a:ext cx="2857500" cy="162763"/>
          </a:xfrm>
          <a:prstGeom prst="rect">
            <a:avLst/>
          </a:prstGeom>
          <a:noFill/>
          <a:ln/>
        </p:spPr>
        <p:txBody>
          <a:bodyPr wrap="none" lIns="0" tIns="0" rIns="0" bIns="0" rtlCol="0" anchor="ctr"/>
          <a:lstStyle/>
          <a:p>
            <a:pPr algn="l" indent="0" marL="0">
              <a:buNone/>
            </a:pPr>
            <a:r>
              <a:rPr lang="en-US" sz="975" spc="156" kern="0" dirty="0">
                <a:solidFill>
                  <a:srgbClr val="8B95A8"/>
                </a:solidFill>
                <a:latin typeface="JetBrains Mono" pitchFamily="34" charset="0"/>
                <a:ea typeface="JetBrains Mono" pitchFamily="34" charset="-122"/>
                <a:cs typeface="JetBrains Mono" pitchFamily="34" charset="-120"/>
              </a:rPr>
              <a:t>3σ (nm)</a:t>
            </a:r>
            <a:endParaRPr lang="en-US" sz="975" dirty="0"/>
          </a:p>
        </p:txBody>
      </p:sp>
      <p:sp>
        <p:nvSpPr>
          <p:cNvPr id="174" name="Text 169"/>
          <p:cNvSpPr txBox="1"/>
          <p:nvPr/>
        </p:nvSpPr>
        <p:spPr>
          <a:xfrm>
            <a:off x="5810098" y="7429500"/>
            <a:ext cx="2857500" cy="162763"/>
          </a:xfrm>
          <a:prstGeom prst="rect">
            <a:avLst/>
          </a:prstGeom>
          <a:noFill/>
          <a:ln/>
        </p:spPr>
        <p:txBody>
          <a:bodyPr wrap="none" lIns="0" tIns="0" rIns="0" bIns="0" rtlCol="0" anchor="ctr"/>
          <a:lstStyle/>
          <a:p>
            <a:pPr algn="l" indent="0" marL="0">
              <a:buNone/>
            </a:pPr>
            <a:r>
              <a:rPr lang="en-US" sz="975" spc="156" kern="0" dirty="0">
                <a:solidFill>
                  <a:srgbClr val="8B95A8"/>
                </a:solidFill>
                <a:latin typeface="JetBrains Mono" pitchFamily="34" charset="0"/>
                <a:ea typeface="JetBrains Mono" pitchFamily="34" charset="-122"/>
                <a:cs typeface="JetBrains Mono" pitchFamily="34" charset="-120"/>
              </a:rPr>
              <a:t>Min · Max</a:t>
            </a:r>
            <a:endParaRPr lang="en-US" sz="975" dirty="0"/>
          </a:p>
        </p:txBody>
      </p:sp>
      <p:sp>
        <p:nvSpPr>
          <p:cNvPr id="175" name="Text 170"/>
          <p:cNvSpPr txBox="1"/>
          <p:nvPr/>
        </p:nvSpPr>
        <p:spPr>
          <a:xfrm>
            <a:off x="8667598" y="7429500"/>
            <a:ext cx="2857500" cy="162763"/>
          </a:xfrm>
          <a:prstGeom prst="rect">
            <a:avLst/>
          </a:prstGeom>
          <a:noFill/>
          <a:ln/>
        </p:spPr>
        <p:txBody>
          <a:bodyPr wrap="none" lIns="0" tIns="0" rIns="0" bIns="0" rtlCol="0" anchor="ctr"/>
          <a:lstStyle/>
          <a:p>
            <a:pPr algn="l" indent="0" marL="0">
              <a:buNone/>
            </a:pPr>
            <a:r>
              <a:rPr lang="en-US" sz="975" spc="156" kern="0" dirty="0">
                <a:solidFill>
                  <a:srgbClr val="8B95A8"/>
                </a:solidFill>
                <a:latin typeface="JetBrains Mono" pitchFamily="34" charset="0"/>
                <a:ea typeface="JetBrains Mono" pitchFamily="34" charset="-122"/>
                <a:cs typeface="JetBrains Mono" pitchFamily="34" charset="-120"/>
              </a:rPr>
              <a:t>WIWNU (%)</a:t>
            </a:r>
            <a:endParaRPr lang="en-US" sz="975" dirty="0"/>
          </a:p>
        </p:txBody>
      </p:sp>
      <p:sp>
        <p:nvSpPr>
          <p:cNvPr id="176" name="Text 171"/>
          <p:cNvSpPr txBox="1"/>
          <p:nvPr/>
        </p:nvSpPr>
        <p:spPr>
          <a:xfrm>
            <a:off x="11525098" y="7429500"/>
            <a:ext cx="2857500" cy="162763"/>
          </a:xfrm>
          <a:prstGeom prst="rect">
            <a:avLst/>
          </a:prstGeom>
          <a:noFill/>
          <a:ln/>
        </p:spPr>
        <p:txBody>
          <a:bodyPr wrap="none" lIns="0" tIns="0" rIns="0" bIns="0" rtlCol="0" anchor="ctr"/>
          <a:lstStyle/>
          <a:p>
            <a:pPr algn="l" indent="0" marL="0">
              <a:buNone/>
            </a:pPr>
            <a:r>
              <a:rPr lang="en-US" sz="975" spc="156" kern="0" dirty="0">
                <a:solidFill>
                  <a:srgbClr val="8B95A8"/>
                </a:solidFill>
                <a:latin typeface="JetBrains Mono" pitchFamily="34" charset="0"/>
                <a:ea typeface="JetBrains Mono" pitchFamily="34" charset="-122"/>
                <a:cs typeface="JetBrains Mono" pitchFamily="34" charset="-120"/>
              </a:rPr>
              <a:t>Hot spot</a:t>
            </a:r>
            <a:endParaRPr lang="en-US" sz="975" dirty="0"/>
          </a:p>
        </p:txBody>
      </p:sp>
      <p:sp>
        <p:nvSpPr>
          <p:cNvPr id="177" name="Text 172"/>
          <p:cNvSpPr txBox="1"/>
          <p:nvPr/>
        </p:nvSpPr>
        <p:spPr>
          <a:xfrm>
            <a:off x="14382598" y="7429500"/>
            <a:ext cx="2857500" cy="162763"/>
          </a:xfrm>
          <a:prstGeom prst="rect">
            <a:avLst/>
          </a:prstGeom>
          <a:noFill/>
          <a:ln/>
        </p:spPr>
        <p:txBody>
          <a:bodyPr wrap="none" lIns="0" tIns="0" rIns="0" bIns="0" rtlCol="0" anchor="ctr"/>
          <a:lstStyle/>
          <a:p>
            <a:pPr algn="l" indent="0" marL="0">
              <a:buNone/>
            </a:pPr>
            <a:r>
              <a:rPr lang="en-US" sz="975" spc="156" kern="0" dirty="0">
                <a:solidFill>
                  <a:srgbClr val="8B95A8"/>
                </a:solidFill>
                <a:latin typeface="JetBrains Mono" pitchFamily="34" charset="0"/>
                <a:ea typeface="JetBrains Mono" pitchFamily="34" charset="-122"/>
                <a:cs typeface="JetBrains Mono" pitchFamily="34" charset="-120"/>
              </a:rPr>
              <a:t>verdict</a:t>
            </a:r>
            <a:endParaRPr lang="en-US" sz="975" dirty="0"/>
          </a:p>
        </p:txBody>
      </p:sp>
      <p:sp>
        <p:nvSpPr>
          <p:cNvPr id="178" name="Text 173"/>
          <p:cNvSpPr txBox="1"/>
          <p:nvPr/>
        </p:nvSpPr>
        <p:spPr>
          <a:xfrm>
            <a:off x="1047902" y="7839151"/>
            <a:ext cx="1905610" cy="200254"/>
          </a:xfrm>
          <a:prstGeom prst="rect">
            <a:avLst/>
          </a:prstGeom>
          <a:noFill/>
          <a:ln/>
        </p:spPr>
        <p:txBody>
          <a:bodyPr wrap="none" lIns="0" tIns="0" rIns="0" bIns="0" rtlCol="0" anchor="ctr"/>
          <a:lstStyle/>
          <a:p>
            <a:pPr algn="l" indent="0" marL="0">
              <a:buNone/>
            </a:pPr>
            <a:r>
              <a:rPr lang="en-US" sz="1350" b="1" dirty="0">
                <a:solidFill>
                  <a:srgbClr val="22D3EE"/>
                </a:solidFill>
                <a:latin typeface="Inter" pitchFamily="34" charset="0"/>
                <a:ea typeface="Inter" pitchFamily="34" charset="-122"/>
                <a:cs typeface="Inter" pitchFamily="34" charset="-120"/>
              </a:rPr>
              <a:t>W01 · A</a:t>
            </a:r>
            <a:endParaRPr lang="en-US" sz="1350" dirty="0"/>
          </a:p>
        </p:txBody>
      </p:sp>
      <p:sp>
        <p:nvSpPr>
          <p:cNvPr id="179" name="Text 174"/>
          <p:cNvSpPr txBox="1"/>
          <p:nvPr/>
        </p:nvSpPr>
        <p:spPr>
          <a:xfrm>
            <a:off x="2952598" y="7830007"/>
            <a:ext cx="285750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1.72</a:t>
            </a:r>
            <a:endParaRPr lang="en-US" sz="1350" dirty="0"/>
          </a:p>
        </p:txBody>
      </p:sp>
      <p:sp>
        <p:nvSpPr>
          <p:cNvPr id="180" name="Text 175"/>
          <p:cNvSpPr txBox="1"/>
          <p:nvPr/>
        </p:nvSpPr>
        <p:spPr>
          <a:xfrm>
            <a:off x="5810098" y="7830007"/>
            <a:ext cx="285750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23.95 − 24.88</a:t>
            </a:r>
            <a:endParaRPr lang="en-US" sz="1350" dirty="0"/>
          </a:p>
        </p:txBody>
      </p:sp>
      <p:sp>
        <p:nvSpPr>
          <p:cNvPr id="181" name="Text 176"/>
          <p:cNvSpPr txBox="1"/>
          <p:nvPr/>
        </p:nvSpPr>
        <p:spPr>
          <a:xfrm>
            <a:off x="8667598" y="7830007"/>
            <a:ext cx="285750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4.21</a:t>
            </a:r>
            <a:endParaRPr lang="en-US" sz="1350" dirty="0"/>
          </a:p>
        </p:txBody>
      </p:sp>
      <p:sp>
        <p:nvSpPr>
          <p:cNvPr id="182" name="Text 177"/>
          <p:cNvSpPr txBox="1"/>
          <p:nvPr/>
        </p:nvSpPr>
        <p:spPr>
          <a:xfrm>
            <a:off x="11525098" y="7810805"/>
            <a:ext cx="285750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edge-heavy</a:t>
            </a:r>
            <a:endParaRPr lang="en-US" sz="1350" dirty="0"/>
          </a:p>
        </p:txBody>
      </p:sp>
      <p:sp>
        <p:nvSpPr>
          <p:cNvPr id="183" name="Text 178"/>
          <p:cNvSpPr txBox="1"/>
          <p:nvPr/>
        </p:nvSpPr>
        <p:spPr>
          <a:xfrm>
            <a:off x="14382598" y="7858354"/>
            <a:ext cx="2857500" cy="162763"/>
          </a:xfrm>
          <a:prstGeom prst="rect">
            <a:avLst/>
          </a:prstGeom>
          <a:noFill/>
          <a:ln/>
        </p:spPr>
        <p:txBody>
          <a:bodyPr wrap="none" lIns="0" tIns="0" rIns="0" bIns="0" rtlCol="0" anchor="ctr"/>
          <a:lstStyle/>
          <a:p>
            <a:pPr algn="l" indent="0" marL="0">
              <a:buNone/>
            </a:pPr>
            <a:r>
              <a:rPr lang="en-US" sz="1050" dirty="0">
                <a:solidFill>
                  <a:srgbClr val="F59E0B"/>
                </a:solidFill>
                <a:latin typeface="Inter" pitchFamily="34" charset="0"/>
                <a:ea typeface="Inter" pitchFamily="34" charset="-122"/>
                <a:cs typeface="Inter" pitchFamily="34" charset="-120"/>
              </a:rPr>
              <a:t>marginal</a:t>
            </a:r>
            <a:endParaRPr lang="en-US" sz="1050" dirty="0"/>
          </a:p>
        </p:txBody>
      </p:sp>
      <p:sp>
        <p:nvSpPr>
          <p:cNvPr id="184" name="Text 179"/>
          <p:cNvSpPr txBox="1"/>
          <p:nvPr/>
        </p:nvSpPr>
        <p:spPr>
          <a:xfrm>
            <a:off x="1047902" y="8124444"/>
            <a:ext cx="1905610" cy="200254"/>
          </a:xfrm>
          <a:prstGeom prst="rect">
            <a:avLst/>
          </a:prstGeom>
          <a:noFill/>
          <a:ln/>
        </p:spPr>
        <p:txBody>
          <a:bodyPr wrap="none" lIns="0" tIns="0" rIns="0" bIns="0" rtlCol="0" anchor="ctr"/>
          <a:lstStyle/>
          <a:p>
            <a:pPr algn="l" indent="0" marL="0">
              <a:buNone/>
            </a:pPr>
            <a:r>
              <a:rPr lang="en-US" sz="1350" b="1" dirty="0">
                <a:solidFill>
                  <a:srgbClr val="A78BFA"/>
                </a:solidFill>
                <a:latin typeface="Inter" pitchFamily="34" charset="0"/>
                <a:ea typeface="Inter" pitchFamily="34" charset="-122"/>
                <a:cs typeface="Inter" pitchFamily="34" charset="-120"/>
              </a:rPr>
              <a:t>W04 · B</a:t>
            </a:r>
            <a:endParaRPr lang="en-US" sz="1350" dirty="0"/>
          </a:p>
        </p:txBody>
      </p:sp>
      <p:sp>
        <p:nvSpPr>
          <p:cNvPr id="185" name="Text 180"/>
          <p:cNvSpPr txBox="1"/>
          <p:nvPr/>
        </p:nvSpPr>
        <p:spPr>
          <a:xfrm>
            <a:off x="2952598" y="8115300"/>
            <a:ext cx="2857500" cy="219456"/>
          </a:xfrm>
          <a:prstGeom prst="rect">
            <a:avLst/>
          </a:prstGeom>
          <a:noFill/>
          <a:ln/>
        </p:spPr>
        <p:txBody>
          <a:bodyPr wrap="none" lIns="0" tIns="0" rIns="0" bIns="0" rtlCol="0" anchor="ctr"/>
          <a:lstStyle/>
          <a:p>
            <a:pPr algn="l" indent="0" marL="0">
              <a:buNone/>
            </a:pPr>
            <a:r>
              <a:rPr lang="en-US" sz="1350" dirty="0">
                <a:solidFill>
                  <a:srgbClr val="34D399"/>
                </a:solidFill>
                <a:latin typeface="JetBrains Mono" pitchFamily="34" charset="0"/>
                <a:ea typeface="JetBrains Mono" pitchFamily="34" charset="-122"/>
                <a:cs typeface="JetBrains Mono" pitchFamily="34" charset="-120"/>
              </a:rPr>
              <a:t>1.36</a:t>
            </a:r>
            <a:endParaRPr lang="en-US" sz="1350" dirty="0"/>
          </a:p>
        </p:txBody>
      </p:sp>
      <p:sp>
        <p:nvSpPr>
          <p:cNvPr id="186" name="Text 181"/>
          <p:cNvSpPr txBox="1"/>
          <p:nvPr/>
        </p:nvSpPr>
        <p:spPr>
          <a:xfrm>
            <a:off x="5810098" y="8115300"/>
            <a:ext cx="285750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23.82 − 24.45</a:t>
            </a:r>
            <a:endParaRPr lang="en-US" sz="1350" dirty="0"/>
          </a:p>
        </p:txBody>
      </p:sp>
      <p:sp>
        <p:nvSpPr>
          <p:cNvPr id="187" name="Text 182"/>
          <p:cNvSpPr txBox="1"/>
          <p:nvPr/>
        </p:nvSpPr>
        <p:spPr>
          <a:xfrm>
            <a:off x="8667598" y="8115300"/>
            <a:ext cx="2857500" cy="219456"/>
          </a:xfrm>
          <a:prstGeom prst="rect">
            <a:avLst/>
          </a:prstGeom>
          <a:noFill/>
          <a:ln/>
        </p:spPr>
        <p:txBody>
          <a:bodyPr wrap="none" lIns="0" tIns="0" rIns="0" bIns="0" rtlCol="0" anchor="ctr"/>
          <a:lstStyle/>
          <a:p>
            <a:pPr algn="l" indent="0" marL="0">
              <a:buNone/>
            </a:pPr>
            <a:r>
              <a:rPr lang="en-US" sz="1350" dirty="0">
                <a:solidFill>
                  <a:srgbClr val="34D399"/>
                </a:solidFill>
                <a:latin typeface="JetBrains Mono" pitchFamily="34" charset="0"/>
                <a:ea typeface="JetBrains Mono" pitchFamily="34" charset="-122"/>
                <a:cs typeface="JetBrains Mono" pitchFamily="34" charset="-120"/>
              </a:rPr>
              <a:t>3.36</a:t>
            </a:r>
            <a:endParaRPr lang="en-US" sz="1350" dirty="0"/>
          </a:p>
        </p:txBody>
      </p:sp>
      <p:sp>
        <p:nvSpPr>
          <p:cNvPr id="188" name="Text 183"/>
          <p:cNvSpPr txBox="1"/>
          <p:nvPr/>
        </p:nvSpPr>
        <p:spPr>
          <a:xfrm>
            <a:off x="11525098" y="8096098"/>
            <a:ext cx="285750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no pattern</a:t>
            </a:r>
            <a:endParaRPr lang="en-US" sz="1350" dirty="0"/>
          </a:p>
        </p:txBody>
      </p:sp>
      <p:sp>
        <p:nvSpPr>
          <p:cNvPr id="189" name="Text 184"/>
          <p:cNvSpPr txBox="1"/>
          <p:nvPr/>
        </p:nvSpPr>
        <p:spPr>
          <a:xfrm>
            <a:off x="14382598" y="8143646"/>
            <a:ext cx="2857500"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best</a:t>
            </a:r>
            <a:endParaRPr lang="en-US" sz="1050" dirty="0"/>
          </a:p>
        </p:txBody>
      </p:sp>
      <p:sp>
        <p:nvSpPr>
          <p:cNvPr id="190" name="Text 185"/>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34D399"/>
                </a:solidFill>
                <a:latin typeface="JetBrains Mono" pitchFamily="34" charset="0"/>
                <a:ea typeface="JetBrains Mono" pitchFamily="34" charset="-122"/>
                <a:cs typeface="JetBrains Mono" pitchFamily="34" charset="-120"/>
              </a:rPr>
              <a:t>KEY TAKEAWAY</a:t>
            </a:r>
            <a:endParaRPr lang="en-US" sz="900" dirty="0"/>
          </a:p>
        </p:txBody>
      </p:sp>
      <p:pic>
        <p:nvPicPr>
          <p:cNvPr id="191" name="Image 2" descr="gen-dedup-a1859ed18a5643c89d5696e5133d62cb.png">    </p:cNvPr>
          <p:cNvPicPr>
            <a:picLocks noChangeAspect="1"/>
          </p:cNvPicPr>
          <p:nvPr/>
        </p:nvPicPr>
        <p:blipFill>
          <a:blip r:embed="rId3"/>
          <a:srcRect l="-2083" r="-2083" t="0" b="0"/>
          <a:stretch/>
        </p:blipFill>
        <p:spPr>
          <a:xfrm>
            <a:off x="2325319" y="8904427"/>
            <a:ext cx="228600" cy="9144"/>
          </a:xfrm>
          <a:prstGeom prst="rect">
            <a:avLst/>
          </a:prstGeom>
        </p:spPr>
      </p:pic>
      <p:sp>
        <p:nvSpPr>
          <p:cNvPr id="192" name="Text 186"/>
          <p:cNvSpPr txBox="1"/>
          <p:nvPr/>
        </p:nvSpPr>
        <p:spPr>
          <a:xfrm>
            <a:off x="2724912" y="8762695"/>
            <a:ext cx="9706356"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BM 두께가 얇을수록 edge-high, 두꺼울수록 center-flat — 1.5 nm가 패턴도 약하고 WIWNU도 가장 낮다.</a:t>
            </a:r>
            <a:endParaRPr lang="en-US" sz="1650" dirty="0"/>
          </a:p>
        </p:txBody>
      </p:sp>
      <p:sp>
        <p:nvSpPr>
          <p:cNvPr id="193" name="Text 187"/>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761695" y="2476195"/>
            <a:ext cx="8401507" cy="4114800"/>
          </a:xfrm>
          <a:prstGeom prst="rect">
            <a:avLst/>
          </a:prstGeom>
          <a:solidFill>
            <a:srgbClr val="131A2D"/>
          </a:solidFill>
          <a:ln w="12700">
            <a:solidFill>
              <a:srgbClr val="00D4FF">
                <a:alpha val="18000"/>
              </a:srgbClr>
            </a:solidFill>
            <a:prstDash val="solid"/>
          </a:ln>
        </p:spPr>
      </p:sp>
      <p:sp>
        <p:nvSpPr>
          <p:cNvPr id="4" name="Shape 1"/>
          <p:cNvSpPr/>
          <p:nvPr/>
        </p:nvSpPr>
        <p:spPr>
          <a:xfrm>
            <a:off x="9525305" y="2476195"/>
            <a:ext cx="8020202" cy="4114800"/>
          </a:xfrm>
          <a:prstGeom prst="rect">
            <a:avLst/>
          </a:prstGeom>
          <a:solidFill>
            <a:srgbClr val="131A2D"/>
          </a:solidFill>
          <a:ln w="12700">
            <a:solidFill>
              <a:srgbClr val="00D4FF">
                <a:alpha val="18000"/>
              </a:srgbClr>
            </a:solidFill>
            <a:prstDash val="solid"/>
          </a:ln>
        </p:spPr>
      </p:sp>
      <p:sp>
        <p:nvSpPr>
          <p:cNvPr id="5" name="Shape 2"/>
          <p:cNvSpPr/>
          <p:nvPr/>
        </p:nvSpPr>
        <p:spPr>
          <a:xfrm>
            <a:off x="761695" y="6762902"/>
            <a:ext cx="16782898" cy="1543507"/>
          </a:xfrm>
          <a:prstGeom prst="rect">
            <a:avLst/>
          </a:prstGeom>
          <a:solidFill>
            <a:srgbClr val="0F1525"/>
          </a:solidFill>
          <a:ln w="12700">
            <a:solidFill>
              <a:srgbClr val="FFFFFF">
                <a:alpha val="6000"/>
              </a:srgbClr>
            </a:solidFill>
            <a:prstDash val="solid"/>
          </a:ln>
        </p:spPr>
      </p:sp>
      <p:pic>
        <p:nvPicPr>
          <p:cNvPr id="6" name="Image 0" descr="gen-dedup-f873123b32c6b70869bdc39c6c5199bf.png">    </p:cNvPr>
          <p:cNvPicPr>
            <a:picLocks noChangeAspect="1"/>
          </p:cNvPicPr>
          <p:nvPr/>
        </p:nvPicPr>
        <p:blipFill>
          <a:blip r:embed="rId1"/>
          <a:srcRect l="0" r="0" t="-30" b="-30"/>
          <a:stretch/>
        </p:blipFill>
        <p:spPr>
          <a:xfrm>
            <a:off x="761695" y="8515807"/>
            <a:ext cx="16792956" cy="743407"/>
          </a:xfrm>
          <a:prstGeom prst="rect">
            <a:avLst/>
          </a:prstGeom>
        </p:spPr>
      </p:pic>
      <p:pic>
        <p:nvPicPr>
          <p:cNvPr id="7" name="Image 1" descr="gen-dedup-254703a04c84b6a855582b8f89c36dca.png">    </p:cNvPr>
          <p:cNvPicPr>
            <a:picLocks noChangeAspect="1"/>
          </p:cNvPicPr>
          <p:nvPr/>
        </p:nvPicPr>
        <p:blipFill>
          <a:blip r:embed="rId2"/>
          <a:srcRect l="-2083" r="-2083" t="0" b="0"/>
          <a:stretch/>
        </p:blipFill>
        <p:spPr>
          <a:xfrm>
            <a:off x="761695" y="857707"/>
            <a:ext cx="16763695" cy="9144"/>
          </a:xfrm>
          <a:prstGeom prst="rect">
            <a:avLst/>
          </a:prstGeom>
        </p:spPr>
      </p:pic>
      <p:sp>
        <p:nvSpPr>
          <p:cNvPr id="8" name="Shape 3"/>
          <p:cNvSpPr/>
          <p:nvPr/>
        </p:nvSpPr>
        <p:spPr>
          <a:xfrm>
            <a:off x="761695" y="500177"/>
            <a:ext cx="75895" cy="75895"/>
          </a:xfrm>
          <a:prstGeom prst="rect">
            <a:avLst/>
          </a:prstGeom>
          <a:solidFill>
            <a:srgbClr val="A78BFA"/>
          </a:solidFill>
          <a:ln w="12700">
            <a:solidFill>
              <a:srgbClr val="FFFFFF">
                <a:alpha val="0"/>
              </a:srgbClr>
            </a:solidFill>
            <a:prstDash val="solid"/>
          </a:ln>
          <a:effectLst>
            <a:outerShdw sx="100000" sy="100000" kx="0" ky="0" algn="bl" rotWithShape="0" blurRad="114300" dist="12700" dir="16200000">
              <a:srgbClr val="a78bfa">
                <a:alpha val="100000"/>
              </a:srgbClr>
            </a:outerShdw>
          </a:effectLst>
        </p:spPr>
      </p:sp>
      <p:sp>
        <p:nvSpPr>
          <p:cNvPr id="9" name="Text 4"/>
          <p:cNvSpPr txBox="1"/>
          <p:nvPr/>
        </p:nvSpPr>
        <p:spPr>
          <a:xfrm>
            <a:off x="952805" y="457200"/>
            <a:ext cx="3480206" cy="162763"/>
          </a:xfrm>
          <a:prstGeom prst="rect">
            <a:avLst/>
          </a:prstGeom>
          <a:noFill/>
          <a:ln/>
        </p:spPr>
        <p:txBody>
          <a:bodyPr wrap="none" lIns="0" tIns="0" rIns="0" bIns="0" rtlCol="0" anchor="ctr"/>
          <a:lstStyle/>
          <a:p>
            <a:pPr algn="l" indent="0" marL="0">
              <a:buNone/>
            </a:pPr>
            <a:r>
              <a:rPr lang="en-US" sz="1050" spc="294" kern="0" dirty="0">
                <a:solidFill>
                  <a:srgbClr val="A78BFA"/>
                </a:solidFill>
                <a:latin typeface="Inter" pitchFamily="34" charset="0"/>
                <a:ea typeface="Inter" pitchFamily="34" charset="-122"/>
                <a:cs typeface="Inter" pitchFamily="34" charset="-120"/>
              </a:rPr>
              <a:t>SLIDE 06 · Rs / Rc Cumulative</a:t>
            </a:r>
            <a:endParaRPr lang="en-US" sz="1050" dirty="0"/>
          </a:p>
        </p:txBody>
      </p:sp>
      <p:sp>
        <p:nvSpPr>
          <p:cNvPr id="10" name="Text 5"/>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PERCENTILE TABLE · 49 DIE / WAFER</a:t>
            </a:r>
            <a:endParaRPr lang="en-US" sz="1200" dirty="0"/>
          </a:p>
        </p:txBody>
      </p:sp>
      <p:sp>
        <p:nvSpPr>
          <p:cNvPr id="11" name="Text 6"/>
          <p:cNvSpPr txBox="1"/>
          <p:nvPr/>
        </p:nvSpPr>
        <p:spPr>
          <a:xfrm>
            <a:off x="761695" y="1143000"/>
            <a:ext cx="14287500" cy="467258"/>
          </a:xfrm>
          <a:prstGeom prst="rect">
            <a:avLst/>
          </a:prstGeom>
          <a:noFill/>
          <a:ln/>
        </p:spPr>
        <p:txBody>
          <a:bodyPr wrap="none" lIns="0" tIns="0" rIns="0" bIns="0" rtlCol="0" anchor="ctr"/>
          <a:lstStyle/>
          <a:p>
            <a:pPr algn="l" indent="0" marL="0">
              <a:buNone/>
            </a:pPr>
            <a:r>
              <a:rPr lang="en-US" sz="3300" b="1" spc="-33" kern="0" dirty="0">
                <a:solidFill>
                  <a:srgbClr val="E6EDF7"/>
                </a:solidFill>
                <a:latin typeface="Inter" pitchFamily="34" charset="0"/>
                <a:ea typeface="Inter" pitchFamily="34" charset="-122"/>
                <a:cs typeface="Inter" pitchFamily="34" charset="-120"/>
              </a:rPr>
              <a:t>Rs / Rc 누적 분포 · split별 percentile</a:t>
            </a:r>
            <a:endParaRPr lang="en-US" sz="3300" dirty="0"/>
          </a:p>
        </p:txBody>
      </p:sp>
      <p:sp>
        <p:nvSpPr>
          <p:cNvPr id="12" name="Text 7"/>
          <p:cNvSpPr txBox="1"/>
          <p:nvPr/>
        </p:nvSpPr>
        <p:spPr>
          <a:xfrm>
            <a:off x="761695" y="1737360"/>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라인 저항(Rs, mΩ/μm)·비아 컨택 저항(Rc, Ω/via) 의 1 / 5 / 25 / 50 / 75 / 95 / 99 percentile을 split별로 비교.</a:t>
            </a:r>
            <a:endParaRPr lang="en-US" sz="1500" dirty="0"/>
          </a:p>
        </p:txBody>
      </p:sp>
      <p:sp>
        <p:nvSpPr>
          <p:cNvPr id="13" name="Text 8"/>
          <p:cNvSpPr txBox="1"/>
          <p:nvPr/>
        </p:nvSpPr>
        <p:spPr>
          <a:xfrm>
            <a:off x="1047902" y="2762402"/>
            <a:ext cx="2067458" cy="133502"/>
          </a:xfrm>
          <a:prstGeom prst="rect">
            <a:avLst/>
          </a:prstGeom>
          <a:noFill/>
          <a:ln/>
        </p:spPr>
        <p:txBody>
          <a:bodyPr wrap="non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METRIC · LINE RESISTANCE</a:t>
            </a:r>
            <a:endParaRPr lang="en-US" sz="825" dirty="0"/>
          </a:p>
        </p:txBody>
      </p:sp>
      <p:sp>
        <p:nvSpPr>
          <p:cNvPr id="14" name="Text 9"/>
          <p:cNvSpPr txBox="1"/>
          <p:nvPr/>
        </p:nvSpPr>
        <p:spPr>
          <a:xfrm>
            <a:off x="1047902" y="2952598"/>
            <a:ext cx="2067458" cy="342900"/>
          </a:xfrm>
          <a:prstGeom prst="rect">
            <a:avLst/>
          </a:prstGeom>
          <a:noFill/>
          <a:ln/>
        </p:spPr>
        <p:txBody>
          <a:bodyPr wrap="none" lIns="0" tIns="0" rIns="0" bIns="0" rtlCol="0" anchor="ctr"/>
          <a:lstStyle/>
          <a:p>
            <a:pPr algn="l" indent="0" marL="0">
              <a:buNone/>
            </a:pPr>
            <a:r>
              <a:rPr lang="en-US" sz="2700" b="1" dirty="0">
                <a:solidFill>
                  <a:srgbClr val="E6EDF7"/>
                </a:solidFill>
                <a:latin typeface="Inter" pitchFamily="34" charset="0"/>
                <a:ea typeface="Inter" pitchFamily="34" charset="-122"/>
                <a:cs typeface="Inter" pitchFamily="34" charset="-120"/>
              </a:rPr>
              <a:t>Rs </a:t>
            </a:r>
            <a:pPr algn="l" indent="0" marL="0">
              <a:buNone/>
            </a:pPr>
            <a:r>
              <a:rPr lang="en-US" sz="1350" b="1" dirty="0">
                <a:solidFill>
                  <a:srgbClr val="8B95A8"/>
                </a:solidFill>
                <a:latin typeface="Inter" pitchFamily="34" charset="0"/>
                <a:ea typeface="Inter" pitchFamily="34" charset="-122"/>
                <a:cs typeface="Inter" pitchFamily="34" charset="-120"/>
              </a:rPr>
              <a:t>mΩ/μm</a:t>
            </a:r>
            <a:endParaRPr lang="en-US" sz="2700" dirty="0"/>
          </a:p>
        </p:txBody>
      </p:sp>
      <p:sp>
        <p:nvSpPr>
          <p:cNvPr id="15" name="Text 10"/>
          <p:cNvSpPr txBox="1"/>
          <p:nvPr/>
        </p:nvSpPr>
        <p:spPr>
          <a:xfrm>
            <a:off x="7735824" y="2667305"/>
            <a:ext cx="1314907" cy="305410"/>
          </a:xfrm>
          <a:prstGeom prst="rect">
            <a:avLst/>
          </a:prstGeom>
          <a:solidFill>
            <a:srgbClr val="A78BFA">
              <a:alpha val="10000"/>
            </a:srgbClr>
          </a:solidFill>
          <a:ln w="12700">
            <a:solidFill>
              <a:srgbClr val="A78BFA">
                <a:alpha val="30000"/>
              </a:srgbClr>
            </a:solidFill>
          </a:ln>
        </p:spPr>
        <p:txBody>
          <a:bodyPr wrap="none" lIns="139700" tIns="63500" rIns="139700" bIns="63500" rtlCol="0" anchor="ctr"/>
          <a:lstStyle/>
          <a:p>
            <a:pPr algn="l" indent="0" marL="0">
              <a:buNone/>
            </a:pPr>
            <a:r>
              <a:rPr lang="en-US" sz="1050" spc="105" kern="0" dirty="0">
                <a:solidFill>
                  <a:srgbClr val="A78BFA"/>
                </a:solidFill>
                <a:latin typeface="JetBrains Mono" pitchFamily="34" charset="0"/>
                <a:ea typeface="JetBrains Mono" pitchFamily="34" charset="-122"/>
                <a:cs typeface="JetBrains Mono" pitchFamily="34" charset="-120"/>
              </a:rPr>
              <a:t>B 50% · 232</a:t>
            </a:r>
            <a:endParaRPr lang="en-US" sz="1050" dirty="0"/>
          </a:p>
        </p:txBody>
      </p:sp>
      <p:sp>
        <p:nvSpPr>
          <p:cNvPr id="16" name="Shape 11"/>
          <p:cNvSpPr/>
          <p:nvPr/>
        </p:nvSpPr>
        <p:spPr>
          <a:xfrm>
            <a:off x="1047902" y="3752698"/>
            <a:ext cx="8001000" cy="9144"/>
          </a:xfrm>
          <a:prstGeom prst="rect">
            <a:avLst/>
          </a:prstGeom>
          <a:solidFill>
            <a:srgbClr val="00D4FF">
              <a:alpha val="18000"/>
            </a:srgbClr>
          </a:solidFill>
          <a:ln w="12700">
            <a:solidFill>
              <a:srgbClr val="00D4FF">
                <a:alpha val="0"/>
              </a:srgbClr>
            </a:solidFill>
            <a:prstDash val="solid"/>
          </a:ln>
        </p:spPr>
      </p:sp>
      <p:sp>
        <p:nvSpPr>
          <p:cNvPr id="17" name="Text 12"/>
          <p:cNvSpPr txBox="1"/>
          <p:nvPr/>
        </p:nvSpPr>
        <p:spPr>
          <a:xfrm>
            <a:off x="1047902" y="3504895"/>
            <a:ext cx="1334110"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PERCENTILE</a:t>
            </a:r>
            <a:endParaRPr lang="en-US" sz="900" dirty="0"/>
          </a:p>
        </p:txBody>
      </p:sp>
      <p:sp>
        <p:nvSpPr>
          <p:cNvPr id="18" name="Text 13"/>
          <p:cNvSpPr txBox="1"/>
          <p:nvPr/>
        </p:nvSpPr>
        <p:spPr>
          <a:xfrm>
            <a:off x="2381098" y="3504895"/>
            <a:ext cx="2095805" cy="152705"/>
          </a:xfrm>
          <a:prstGeom prst="rect">
            <a:avLst/>
          </a:prstGeom>
          <a:noFill/>
          <a:ln/>
        </p:spPr>
        <p:txBody>
          <a:bodyPr wrap="none" lIns="0" tIns="0" rIns="0" bIns="0" rtlCol="0" anchor="ctr"/>
          <a:lstStyle/>
          <a:p>
            <a:pPr algn="l" indent="0" marL="0">
              <a:buNone/>
            </a:pPr>
            <a:r>
              <a:rPr lang="en-US" sz="900" spc="162" kern="0" dirty="0">
                <a:solidFill>
                  <a:srgbClr val="22D3EE"/>
                </a:solidFill>
                <a:latin typeface="JetBrains Mono" pitchFamily="34" charset="0"/>
                <a:ea typeface="JetBrains Mono" pitchFamily="34" charset="-122"/>
                <a:cs typeface="JetBrains Mono" pitchFamily="34" charset="-120"/>
              </a:rPr>
              <a:t>A · 1.0 nm</a:t>
            </a:r>
            <a:endParaRPr lang="en-US" sz="900" dirty="0"/>
          </a:p>
        </p:txBody>
      </p:sp>
      <p:sp>
        <p:nvSpPr>
          <p:cNvPr id="19" name="Text 14"/>
          <p:cNvSpPr txBox="1"/>
          <p:nvPr/>
        </p:nvSpPr>
        <p:spPr>
          <a:xfrm>
            <a:off x="4476902" y="3504895"/>
            <a:ext cx="2095805" cy="152705"/>
          </a:xfrm>
          <a:prstGeom prst="rect">
            <a:avLst/>
          </a:prstGeom>
          <a:noFill/>
          <a:ln/>
        </p:spPr>
        <p:txBody>
          <a:bodyPr wrap="none" lIns="0" tIns="0" rIns="0" bIns="0" rtlCol="0" anchor="ctr"/>
          <a:lstStyle/>
          <a:p>
            <a:pPr algn="l" indent="0" marL="0">
              <a:buNone/>
            </a:pPr>
            <a:r>
              <a:rPr lang="en-US" sz="900" spc="162" kern="0" dirty="0">
                <a:solidFill>
                  <a:srgbClr val="A78BFA"/>
                </a:solidFill>
                <a:latin typeface="JetBrains Mono" pitchFamily="34" charset="0"/>
                <a:ea typeface="JetBrains Mono" pitchFamily="34" charset="-122"/>
                <a:cs typeface="JetBrains Mono" pitchFamily="34" charset="-120"/>
              </a:rPr>
              <a:t>B · 1.5 nm</a:t>
            </a:r>
            <a:endParaRPr lang="en-US" sz="900" dirty="0"/>
          </a:p>
        </p:txBody>
      </p:sp>
      <p:sp>
        <p:nvSpPr>
          <p:cNvPr id="20" name="Text 15"/>
          <p:cNvSpPr txBox="1"/>
          <p:nvPr/>
        </p:nvSpPr>
        <p:spPr>
          <a:xfrm>
            <a:off x="6572707" y="3504895"/>
            <a:ext cx="2095805" cy="152705"/>
          </a:xfrm>
          <a:prstGeom prst="rect">
            <a:avLst/>
          </a:prstGeom>
          <a:noFill/>
          <a:ln/>
        </p:spPr>
        <p:txBody>
          <a:bodyPr wrap="none" lIns="0" tIns="0" rIns="0" bIns="0" rtlCol="0" anchor="ctr"/>
          <a:lstStyle/>
          <a:p>
            <a:pPr algn="l" indent="0" marL="0">
              <a:buNone/>
            </a:pPr>
            <a:r>
              <a:rPr lang="en-US" sz="900" spc="162" kern="0" dirty="0">
                <a:solidFill>
                  <a:srgbClr val="F59E0B"/>
                </a:solidFill>
                <a:latin typeface="JetBrains Mono" pitchFamily="34" charset="0"/>
                <a:ea typeface="JetBrains Mono" pitchFamily="34" charset="-122"/>
                <a:cs typeface="JetBrains Mono" pitchFamily="34" charset="-120"/>
              </a:rPr>
              <a:t>C · 2.0 nm</a:t>
            </a:r>
            <a:endParaRPr lang="en-US" sz="900" dirty="0"/>
          </a:p>
        </p:txBody>
      </p:sp>
      <p:sp>
        <p:nvSpPr>
          <p:cNvPr id="21" name="Text 16"/>
          <p:cNvSpPr txBox="1"/>
          <p:nvPr/>
        </p:nvSpPr>
        <p:spPr>
          <a:xfrm>
            <a:off x="1047902" y="399592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P1 %</a:t>
            </a:r>
            <a:endParaRPr lang="en-US" sz="1350" dirty="0"/>
          </a:p>
        </p:txBody>
      </p:sp>
      <p:sp>
        <p:nvSpPr>
          <p:cNvPr id="22" name="Text 17"/>
          <p:cNvSpPr txBox="1"/>
          <p:nvPr/>
        </p:nvSpPr>
        <p:spPr>
          <a:xfrm>
            <a:off x="2381098" y="3981298"/>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271</a:t>
            </a:r>
            <a:endParaRPr lang="en-US" sz="1500" dirty="0"/>
          </a:p>
        </p:txBody>
      </p:sp>
      <p:sp>
        <p:nvSpPr>
          <p:cNvPr id="23" name="Text 18"/>
          <p:cNvSpPr txBox="1"/>
          <p:nvPr/>
        </p:nvSpPr>
        <p:spPr>
          <a:xfrm>
            <a:off x="4476902" y="3981298"/>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216</a:t>
            </a:r>
            <a:endParaRPr lang="en-US" sz="1500" dirty="0"/>
          </a:p>
        </p:txBody>
      </p:sp>
      <p:sp>
        <p:nvSpPr>
          <p:cNvPr id="24" name="Text 19"/>
          <p:cNvSpPr txBox="1"/>
          <p:nvPr/>
        </p:nvSpPr>
        <p:spPr>
          <a:xfrm>
            <a:off x="6572707" y="3981298"/>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232</a:t>
            </a:r>
            <a:endParaRPr lang="en-US" sz="1500" dirty="0"/>
          </a:p>
        </p:txBody>
      </p:sp>
      <p:sp>
        <p:nvSpPr>
          <p:cNvPr id="25" name="Text 20"/>
          <p:cNvSpPr txBox="1"/>
          <p:nvPr/>
        </p:nvSpPr>
        <p:spPr>
          <a:xfrm>
            <a:off x="1047902" y="4358030"/>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P5 %</a:t>
            </a:r>
            <a:endParaRPr lang="en-US" sz="1350" dirty="0"/>
          </a:p>
        </p:txBody>
      </p:sp>
      <p:sp>
        <p:nvSpPr>
          <p:cNvPr id="26" name="Text 21"/>
          <p:cNvSpPr txBox="1"/>
          <p:nvPr/>
        </p:nvSpPr>
        <p:spPr>
          <a:xfrm>
            <a:off x="2381098" y="4343400"/>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275</a:t>
            </a:r>
            <a:endParaRPr lang="en-US" sz="1500" dirty="0"/>
          </a:p>
        </p:txBody>
      </p:sp>
      <p:sp>
        <p:nvSpPr>
          <p:cNvPr id="27" name="Text 22"/>
          <p:cNvSpPr txBox="1"/>
          <p:nvPr/>
        </p:nvSpPr>
        <p:spPr>
          <a:xfrm>
            <a:off x="4476902" y="4343400"/>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221</a:t>
            </a:r>
            <a:endParaRPr lang="en-US" sz="1500" dirty="0"/>
          </a:p>
        </p:txBody>
      </p:sp>
      <p:sp>
        <p:nvSpPr>
          <p:cNvPr id="28" name="Text 23"/>
          <p:cNvSpPr txBox="1"/>
          <p:nvPr/>
        </p:nvSpPr>
        <p:spPr>
          <a:xfrm>
            <a:off x="6572707" y="4343400"/>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237</a:t>
            </a:r>
            <a:endParaRPr lang="en-US" sz="1500" dirty="0"/>
          </a:p>
        </p:txBody>
      </p:sp>
      <p:sp>
        <p:nvSpPr>
          <p:cNvPr id="29" name="Text 24"/>
          <p:cNvSpPr txBox="1"/>
          <p:nvPr/>
        </p:nvSpPr>
        <p:spPr>
          <a:xfrm>
            <a:off x="1047902" y="471921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P25 %</a:t>
            </a:r>
            <a:endParaRPr lang="en-US" sz="1350" dirty="0"/>
          </a:p>
        </p:txBody>
      </p:sp>
      <p:sp>
        <p:nvSpPr>
          <p:cNvPr id="30" name="Text 25"/>
          <p:cNvSpPr txBox="1"/>
          <p:nvPr/>
        </p:nvSpPr>
        <p:spPr>
          <a:xfrm>
            <a:off x="2381098" y="47055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282</a:t>
            </a:r>
            <a:endParaRPr lang="en-US" sz="1500" dirty="0"/>
          </a:p>
        </p:txBody>
      </p:sp>
      <p:sp>
        <p:nvSpPr>
          <p:cNvPr id="31" name="Text 26"/>
          <p:cNvSpPr txBox="1"/>
          <p:nvPr/>
        </p:nvSpPr>
        <p:spPr>
          <a:xfrm>
            <a:off x="4476902" y="4705502"/>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228</a:t>
            </a:r>
            <a:endParaRPr lang="en-US" sz="1500" dirty="0"/>
          </a:p>
        </p:txBody>
      </p:sp>
      <p:sp>
        <p:nvSpPr>
          <p:cNvPr id="32" name="Text 27"/>
          <p:cNvSpPr txBox="1"/>
          <p:nvPr/>
        </p:nvSpPr>
        <p:spPr>
          <a:xfrm>
            <a:off x="6572707" y="47055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243</a:t>
            </a:r>
            <a:endParaRPr lang="en-US" sz="1500" dirty="0"/>
          </a:p>
        </p:txBody>
      </p:sp>
      <p:sp>
        <p:nvSpPr>
          <p:cNvPr id="33" name="Shape 28"/>
          <p:cNvSpPr/>
          <p:nvPr/>
        </p:nvSpPr>
        <p:spPr>
          <a:xfrm>
            <a:off x="1047902" y="4990795"/>
            <a:ext cx="8001000" cy="448056"/>
          </a:xfrm>
          <a:prstGeom prst="rect">
            <a:avLst/>
          </a:prstGeom>
          <a:solidFill>
            <a:srgbClr val="A78BFA">
              <a:alpha val="8000"/>
            </a:srgbClr>
          </a:solidFill>
          <a:ln w="12700">
            <a:solidFill>
              <a:srgbClr val="FFFFFF">
                <a:alpha val="0"/>
              </a:srgbClr>
            </a:solidFill>
            <a:prstDash val="solid"/>
          </a:ln>
        </p:spPr>
      </p:sp>
      <p:sp>
        <p:nvSpPr>
          <p:cNvPr id="34" name="Text 29"/>
          <p:cNvSpPr txBox="1"/>
          <p:nvPr/>
        </p:nvSpPr>
        <p:spPr>
          <a:xfrm>
            <a:off x="1047902" y="5105095"/>
            <a:ext cx="133411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P50 %</a:t>
            </a:r>
            <a:endParaRPr lang="en-US" sz="1350" dirty="0"/>
          </a:p>
        </p:txBody>
      </p:sp>
      <p:sp>
        <p:nvSpPr>
          <p:cNvPr id="35" name="Text 30"/>
          <p:cNvSpPr txBox="1"/>
          <p:nvPr/>
        </p:nvSpPr>
        <p:spPr>
          <a:xfrm>
            <a:off x="2381098" y="5076749"/>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285</a:t>
            </a:r>
            <a:endParaRPr lang="en-US" sz="1650" dirty="0"/>
          </a:p>
        </p:txBody>
      </p:sp>
      <p:sp>
        <p:nvSpPr>
          <p:cNvPr id="36" name="Text 31"/>
          <p:cNvSpPr txBox="1"/>
          <p:nvPr/>
        </p:nvSpPr>
        <p:spPr>
          <a:xfrm>
            <a:off x="4476902" y="5067605"/>
            <a:ext cx="2095805" cy="295351"/>
          </a:xfrm>
          <a:prstGeom prst="rect">
            <a:avLst/>
          </a:prstGeom>
          <a:noFill/>
          <a:ln/>
        </p:spPr>
        <p:txBody>
          <a:bodyPr wrap="none" lIns="0" tIns="0" rIns="0" bIns="0" rtlCol="0" anchor="ctr"/>
          <a:lstStyle/>
          <a:p>
            <a:pPr algn="l" indent="0" marL="0">
              <a:buNone/>
            </a:pPr>
            <a:r>
              <a:rPr lang="en-US" sz="1800" b="1" dirty="0">
                <a:solidFill>
                  <a:srgbClr val="34D399"/>
                </a:solidFill>
                <a:latin typeface="JetBrains Mono" pitchFamily="34" charset="0"/>
                <a:ea typeface="JetBrains Mono" pitchFamily="34" charset="-122"/>
                <a:cs typeface="JetBrains Mono" pitchFamily="34" charset="-120"/>
              </a:rPr>
              <a:t>232 ★</a:t>
            </a:r>
            <a:endParaRPr lang="en-US" sz="1800" dirty="0"/>
          </a:p>
        </p:txBody>
      </p:sp>
      <p:sp>
        <p:nvSpPr>
          <p:cNvPr id="37" name="Text 32"/>
          <p:cNvSpPr txBox="1"/>
          <p:nvPr/>
        </p:nvSpPr>
        <p:spPr>
          <a:xfrm>
            <a:off x="6572707" y="5076749"/>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246</a:t>
            </a:r>
            <a:endParaRPr lang="en-US" sz="1650" dirty="0"/>
          </a:p>
        </p:txBody>
      </p:sp>
      <p:sp>
        <p:nvSpPr>
          <p:cNvPr id="38" name="Text 33"/>
          <p:cNvSpPr txBox="1"/>
          <p:nvPr/>
        </p:nvSpPr>
        <p:spPr>
          <a:xfrm>
            <a:off x="1047902" y="551931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P75 %</a:t>
            </a:r>
            <a:endParaRPr lang="en-US" sz="1350" dirty="0"/>
          </a:p>
        </p:txBody>
      </p:sp>
      <p:sp>
        <p:nvSpPr>
          <p:cNvPr id="39" name="Text 34"/>
          <p:cNvSpPr txBox="1"/>
          <p:nvPr/>
        </p:nvSpPr>
        <p:spPr>
          <a:xfrm>
            <a:off x="2381098" y="55056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289</a:t>
            </a:r>
            <a:endParaRPr lang="en-US" sz="1500" dirty="0"/>
          </a:p>
        </p:txBody>
      </p:sp>
      <p:sp>
        <p:nvSpPr>
          <p:cNvPr id="40" name="Text 35"/>
          <p:cNvSpPr txBox="1"/>
          <p:nvPr/>
        </p:nvSpPr>
        <p:spPr>
          <a:xfrm>
            <a:off x="4476902" y="5505602"/>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236</a:t>
            </a:r>
            <a:endParaRPr lang="en-US" sz="1500" dirty="0"/>
          </a:p>
        </p:txBody>
      </p:sp>
      <p:sp>
        <p:nvSpPr>
          <p:cNvPr id="41" name="Text 36"/>
          <p:cNvSpPr txBox="1"/>
          <p:nvPr/>
        </p:nvSpPr>
        <p:spPr>
          <a:xfrm>
            <a:off x="6572707" y="55056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250</a:t>
            </a:r>
            <a:endParaRPr lang="en-US" sz="1500" dirty="0"/>
          </a:p>
        </p:txBody>
      </p:sp>
      <p:sp>
        <p:nvSpPr>
          <p:cNvPr id="42" name="Text 37"/>
          <p:cNvSpPr txBox="1"/>
          <p:nvPr/>
        </p:nvSpPr>
        <p:spPr>
          <a:xfrm>
            <a:off x="1047902" y="5881421"/>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P95 %</a:t>
            </a:r>
            <a:endParaRPr lang="en-US" sz="1350" dirty="0"/>
          </a:p>
        </p:txBody>
      </p:sp>
      <p:sp>
        <p:nvSpPr>
          <p:cNvPr id="43" name="Text 38"/>
          <p:cNvSpPr txBox="1"/>
          <p:nvPr/>
        </p:nvSpPr>
        <p:spPr>
          <a:xfrm>
            <a:off x="2381098" y="5867705"/>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296</a:t>
            </a:r>
            <a:endParaRPr lang="en-US" sz="1500" dirty="0"/>
          </a:p>
        </p:txBody>
      </p:sp>
      <p:sp>
        <p:nvSpPr>
          <p:cNvPr id="44" name="Text 39"/>
          <p:cNvSpPr txBox="1"/>
          <p:nvPr/>
        </p:nvSpPr>
        <p:spPr>
          <a:xfrm>
            <a:off x="4476902" y="5867705"/>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243</a:t>
            </a:r>
            <a:endParaRPr lang="en-US" sz="1500" dirty="0"/>
          </a:p>
        </p:txBody>
      </p:sp>
      <p:sp>
        <p:nvSpPr>
          <p:cNvPr id="45" name="Text 40"/>
          <p:cNvSpPr txBox="1"/>
          <p:nvPr/>
        </p:nvSpPr>
        <p:spPr>
          <a:xfrm>
            <a:off x="6572707" y="5867705"/>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258</a:t>
            </a:r>
            <a:endParaRPr lang="en-US" sz="1500" dirty="0"/>
          </a:p>
        </p:txBody>
      </p:sp>
      <p:sp>
        <p:nvSpPr>
          <p:cNvPr id="46" name="Text 41"/>
          <p:cNvSpPr txBox="1"/>
          <p:nvPr/>
        </p:nvSpPr>
        <p:spPr>
          <a:xfrm>
            <a:off x="1047902" y="6243523"/>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P99 %</a:t>
            </a:r>
            <a:endParaRPr lang="en-US" sz="1350" dirty="0"/>
          </a:p>
        </p:txBody>
      </p:sp>
      <p:sp>
        <p:nvSpPr>
          <p:cNvPr id="47" name="Text 42"/>
          <p:cNvSpPr txBox="1"/>
          <p:nvPr/>
        </p:nvSpPr>
        <p:spPr>
          <a:xfrm>
            <a:off x="2381098" y="6229807"/>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304</a:t>
            </a:r>
            <a:endParaRPr lang="en-US" sz="1500" dirty="0"/>
          </a:p>
        </p:txBody>
      </p:sp>
      <p:sp>
        <p:nvSpPr>
          <p:cNvPr id="48" name="Text 43"/>
          <p:cNvSpPr txBox="1"/>
          <p:nvPr/>
        </p:nvSpPr>
        <p:spPr>
          <a:xfrm>
            <a:off x="4476902" y="6229807"/>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248</a:t>
            </a:r>
            <a:endParaRPr lang="en-US" sz="1500" dirty="0"/>
          </a:p>
        </p:txBody>
      </p:sp>
      <p:sp>
        <p:nvSpPr>
          <p:cNvPr id="49" name="Text 44"/>
          <p:cNvSpPr txBox="1"/>
          <p:nvPr/>
        </p:nvSpPr>
        <p:spPr>
          <a:xfrm>
            <a:off x="6572707" y="6229807"/>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261</a:t>
            </a:r>
            <a:endParaRPr lang="en-US" sz="1500" dirty="0"/>
          </a:p>
        </p:txBody>
      </p:sp>
      <p:sp>
        <p:nvSpPr>
          <p:cNvPr id="50" name="Text 45"/>
          <p:cNvSpPr txBox="1"/>
          <p:nvPr/>
        </p:nvSpPr>
        <p:spPr>
          <a:xfrm>
            <a:off x="9810598" y="2762402"/>
            <a:ext cx="2324405" cy="133502"/>
          </a:xfrm>
          <a:prstGeom prst="rect">
            <a:avLst/>
          </a:prstGeom>
          <a:noFill/>
          <a:ln/>
        </p:spPr>
        <p:txBody>
          <a:bodyPr wrap="non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METRIC · CONTACT RESISTANCE</a:t>
            </a:r>
            <a:endParaRPr lang="en-US" sz="825" dirty="0"/>
          </a:p>
        </p:txBody>
      </p:sp>
      <p:sp>
        <p:nvSpPr>
          <p:cNvPr id="51" name="Text 46"/>
          <p:cNvSpPr txBox="1"/>
          <p:nvPr/>
        </p:nvSpPr>
        <p:spPr>
          <a:xfrm>
            <a:off x="9810598" y="2952598"/>
            <a:ext cx="2324405" cy="342900"/>
          </a:xfrm>
          <a:prstGeom prst="rect">
            <a:avLst/>
          </a:prstGeom>
          <a:noFill/>
          <a:ln/>
        </p:spPr>
        <p:txBody>
          <a:bodyPr wrap="none" lIns="0" tIns="0" rIns="0" bIns="0" rtlCol="0" anchor="ctr"/>
          <a:lstStyle/>
          <a:p>
            <a:pPr algn="l" indent="0" marL="0">
              <a:buNone/>
            </a:pPr>
            <a:r>
              <a:rPr lang="en-US" sz="2700" b="1" dirty="0">
                <a:solidFill>
                  <a:srgbClr val="E6EDF7"/>
                </a:solidFill>
                <a:latin typeface="Inter" pitchFamily="34" charset="0"/>
                <a:ea typeface="Inter" pitchFamily="34" charset="-122"/>
                <a:cs typeface="Inter" pitchFamily="34" charset="-120"/>
              </a:rPr>
              <a:t>Rc </a:t>
            </a:r>
            <a:pPr algn="l" indent="0" marL="0">
              <a:buNone/>
            </a:pPr>
            <a:r>
              <a:rPr lang="en-US" sz="1350" b="1" dirty="0">
                <a:solidFill>
                  <a:srgbClr val="8B95A8"/>
                </a:solidFill>
                <a:latin typeface="Inter" pitchFamily="34" charset="0"/>
                <a:ea typeface="Inter" pitchFamily="34" charset="-122"/>
                <a:cs typeface="Inter" pitchFamily="34" charset="-120"/>
              </a:rPr>
              <a:t>Ω/via</a:t>
            </a:r>
            <a:endParaRPr lang="en-US" sz="2700" dirty="0"/>
          </a:p>
        </p:txBody>
      </p:sp>
      <p:sp>
        <p:nvSpPr>
          <p:cNvPr id="52" name="Text 47"/>
          <p:cNvSpPr txBox="1"/>
          <p:nvPr/>
        </p:nvSpPr>
        <p:spPr>
          <a:xfrm>
            <a:off x="15745054" y="2667305"/>
            <a:ext cx="1686154" cy="305410"/>
          </a:xfrm>
          <a:prstGeom prst="rect">
            <a:avLst/>
          </a:prstGeom>
          <a:solidFill>
            <a:srgbClr val="A78BFA">
              <a:alpha val="10000"/>
            </a:srgbClr>
          </a:solidFill>
          <a:ln w="12700">
            <a:solidFill>
              <a:srgbClr val="A78BFA">
                <a:alpha val="30000"/>
              </a:srgbClr>
            </a:solidFill>
          </a:ln>
        </p:spPr>
        <p:txBody>
          <a:bodyPr wrap="none" lIns="139700" tIns="63500" rIns="139700" bIns="63500" rtlCol="0" anchor="ctr"/>
          <a:lstStyle/>
          <a:p>
            <a:pPr algn="l" indent="0" marL="0">
              <a:buNone/>
            </a:pPr>
            <a:r>
              <a:rPr lang="en-US" sz="1050" spc="105" kern="0" dirty="0">
                <a:solidFill>
                  <a:srgbClr val="A78BFA"/>
                </a:solidFill>
                <a:latin typeface="JetBrains Mono" pitchFamily="34" charset="0"/>
                <a:ea typeface="JetBrains Mono" pitchFamily="34" charset="-122"/>
                <a:cs typeface="JetBrains Mono" pitchFamily="34" charset="-120"/>
              </a:rPr>
              <a:t>B median · 19.4</a:t>
            </a:r>
            <a:endParaRPr lang="en-US" sz="1050" dirty="0"/>
          </a:p>
        </p:txBody>
      </p:sp>
      <p:sp>
        <p:nvSpPr>
          <p:cNvPr id="53" name="Shape 48"/>
          <p:cNvSpPr/>
          <p:nvPr/>
        </p:nvSpPr>
        <p:spPr>
          <a:xfrm>
            <a:off x="9810598" y="3752698"/>
            <a:ext cx="7619695" cy="9144"/>
          </a:xfrm>
          <a:prstGeom prst="rect">
            <a:avLst/>
          </a:prstGeom>
          <a:solidFill>
            <a:srgbClr val="00D4FF">
              <a:alpha val="18000"/>
            </a:srgbClr>
          </a:solidFill>
          <a:ln w="12700">
            <a:solidFill>
              <a:srgbClr val="00D4FF">
                <a:alpha val="0"/>
              </a:srgbClr>
            </a:solidFill>
            <a:prstDash val="solid"/>
          </a:ln>
        </p:spPr>
      </p:sp>
      <p:sp>
        <p:nvSpPr>
          <p:cNvPr id="54" name="Text 49"/>
          <p:cNvSpPr txBox="1"/>
          <p:nvPr/>
        </p:nvSpPr>
        <p:spPr>
          <a:xfrm>
            <a:off x="9810598" y="3504895"/>
            <a:ext cx="1334110" cy="152705"/>
          </a:xfrm>
          <a:prstGeom prst="rect">
            <a:avLst/>
          </a:prstGeom>
          <a:no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PERCENTILE</a:t>
            </a:r>
            <a:endParaRPr lang="en-US" sz="900" dirty="0"/>
          </a:p>
        </p:txBody>
      </p:sp>
      <p:sp>
        <p:nvSpPr>
          <p:cNvPr id="55" name="Text 50"/>
          <p:cNvSpPr txBox="1"/>
          <p:nvPr/>
        </p:nvSpPr>
        <p:spPr>
          <a:xfrm>
            <a:off x="11144707" y="3504895"/>
            <a:ext cx="2095805" cy="152705"/>
          </a:xfrm>
          <a:prstGeom prst="rect">
            <a:avLst/>
          </a:prstGeom>
          <a:noFill/>
          <a:ln/>
        </p:spPr>
        <p:txBody>
          <a:bodyPr wrap="none" lIns="0" tIns="0" rIns="0" bIns="0" rtlCol="0" anchor="ctr"/>
          <a:lstStyle/>
          <a:p>
            <a:pPr algn="l" indent="0" marL="0">
              <a:buNone/>
            </a:pPr>
            <a:r>
              <a:rPr lang="en-US" sz="900" spc="162" kern="0" dirty="0">
                <a:solidFill>
                  <a:srgbClr val="22D3EE"/>
                </a:solidFill>
                <a:latin typeface="JetBrains Mono" pitchFamily="34" charset="0"/>
                <a:ea typeface="JetBrains Mono" pitchFamily="34" charset="-122"/>
                <a:cs typeface="JetBrains Mono" pitchFamily="34" charset="-120"/>
              </a:rPr>
              <a:t>A · 1.0 nm</a:t>
            </a:r>
            <a:endParaRPr lang="en-US" sz="900" dirty="0"/>
          </a:p>
        </p:txBody>
      </p:sp>
      <p:sp>
        <p:nvSpPr>
          <p:cNvPr id="56" name="Text 51"/>
          <p:cNvSpPr txBox="1"/>
          <p:nvPr/>
        </p:nvSpPr>
        <p:spPr>
          <a:xfrm>
            <a:off x="13239598" y="3504895"/>
            <a:ext cx="2095805" cy="152705"/>
          </a:xfrm>
          <a:prstGeom prst="rect">
            <a:avLst/>
          </a:prstGeom>
          <a:noFill/>
          <a:ln/>
        </p:spPr>
        <p:txBody>
          <a:bodyPr wrap="none" lIns="0" tIns="0" rIns="0" bIns="0" rtlCol="0" anchor="ctr"/>
          <a:lstStyle/>
          <a:p>
            <a:pPr algn="l" indent="0" marL="0">
              <a:buNone/>
            </a:pPr>
            <a:r>
              <a:rPr lang="en-US" sz="900" spc="162" kern="0" dirty="0">
                <a:solidFill>
                  <a:srgbClr val="A78BFA"/>
                </a:solidFill>
                <a:latin typeface="JetBrains Mono" pitchFamily="34" charset="0"/>
                <a:ea typeface="JetBrains Mono" pitchFamily="34" charset="-122"/>
                <a:cs typeface="JetBrains Mono" pitchFamily="34" charset="-120"/>
              </a:rPr>
              <a:t>B · 1.5 nm</a:t>
            </a:r>
            <a:endParaRPr lang="en-US" sz="900" dirty="0"/>
          </a:p>
        </p:txBody>
      </p:sp>
      <p:sp>
        <p:nvSpPr>
          <p:cNvPr id="57" name="Text 52"/>
          <p:cNvSpPr txBox="1"/>
          <p:nvPr/>
        </p:nvSpPr>
        <p:spPr>
          <a:xfrm>
            <a:off x="15335402" y="3504895"/>
            <a:ext cx="2095805" cy="152705"/>
          </a:xfrm>
          <a:prstGeom prst="rect">
            <a:avLst/>
          </a:prstGeom>
          <a:noFill/>
          <a:ln/>
        </p:spPr>
        <p:txBody>
          <a:bodyPr wrap="none" lIns="0" tIns="0" rIns="0" bIns="0" rtlCol="0" anchor="ctr"/>
          <a:lstStyle/>
          <a:p>
            <a:pPr algn="l" indent="0" marL="0">
              <a:buNone/>
            </a:pPr>
            <a:r>
              <a:rPr lang="en-US" sz="900" spc="162" kern="0" dirty="0">
                <a:solidFill>
                  <a:srgbClr val="F59E0B"/>
                </a:solidFill>
                <a:latin typeface="JetBrains Mono" pitchFamily="34" charset="0"/>
                <a:ea typeface="JetBrains Mono" pitchFamily="34" charset="-122"/>
                <a:cs typeface="JetBrains Mono" pitchFamily="34" charset="-120"/>
              </a:rPr>
              <a:t>C · 2.0 nm</a:t>
            </a:r>
            <a:endParaRPr lang="en-US" sz="900" dirty="0"/>
          </a:p>
        </p:txBody>
      </p:sp>
      <p:sp>
        <p:nvSpPr>
          <p:cNvPr id="58" name="Text 53"/>
          <p:cNvSpPr txBox="1"/>
          <p:nvPr/>
        </p:nvSpPr>
        <p:spPr>
          <a:xfrm>
            <a:off x="9810598" y="399592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P1 %</a:t>
            </a:r>
            <a:endParaRPr lang="en-US" sz="1350" dirty="0"/>
          </a:p>
        </p:txBody>
      </p:sp>
      <p:sp>
        <p:nvSpPr>
          <p:cNvPr id="59" name="Text 54"/>
          <p:cNvSpPr txBox="1"/>
          <p:nvPr/>
        </p:nvSpPr>
        <p:spPr>
          <a:xfrm>
            <a:off x="11144707" y="3981298"/>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26.5</a:t>
            </a:r>
            <a:endParaRPr lang="en-US" sz="1500" dirty="0"/>
          </a:p>
        </p:txBody>
      </p:sp>
      <p:sp>
        <p:nvSpPr>
          <p:cNvPr id="60" name="Text 55"/>
          <p:cNvSpPr txBox="1"/>
          <p:nvPr/>
        </p:nvSpPr>
        <p:spPr>
          <a:xfrm>
            <a:off x="13239598" y="3981298"/>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17.6</a:t>
            </a:r>
            <a:endParaRPr lang="en-US" sz="1500" dirty="0"/>
          </a:p>
        </p:txBody>
      </p:sp>
      <p:sp>
        <p:nvSpPr>
          <p:cNvPr id="61" name="Text 56"/>
          <p:cNvSpPr txBox="1"/>
          <p:nvPr/>
        </p:nvSpPr>
        <p:spPr>
          <a:xfrm>
            <a:off x="15335402" y="3981298"/>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19.4</a:t>
            </a:r>
            <a:endParaRPr lang="en-US" sz="1500" dirty="0"/>
          </a:p>
        </p:txBody>
      </p:sp>
      <p:sp>
        <p:nvSpPr>
          <p:cNvPr id="62" name="Text 57"/>
          <p:cNvSpPr txBox="1"/>
          <p:nvPr/>
        </p:nvSpPr>
        <p:spPr>
          <a:xfrm>
            <a:off x="9810598" y="4358030"/>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P5 %</a:t>
            </a:r>
            <a:endParaRPr lang="en-US" sz="1350" dirty="0"/>
          </a:p>
        </p:txBody>
      </p:sp>
      <p:sp>
        <p:nvSpPr>
          <p:cNvPr id="63" name="Text 58"/>
          <p:cNvSpPr txBox="1"/>
          <p:nvPr/>
        </p:nvSpPr>
        <p:spPr>
          <a:xfrm>
            <a:off x="11144707" y="4343400"/>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27.2</a:t>
            </a:r>
            <a:endParaRPr lang="en-US" sz="1500" dirty="0"/>
          </a:p>
        </p:txBody>
      </p:sp>
      <p:sp>
        <p:nvSpPr>
          <p:cNvPr id="64" name="Text 59"/>
          <p:cNvSpPr txBox="1"/>
          <p:nvPr/>
        </p:nvSpPr>
        <p:spPr>
          <a:xfrm>
            <a:off x="13239598" y="4343400"/>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18.2</a:t>
            </a:r>
            <a:endParaRPr lang="en-US" sz="1500" dirty="0"/>
          </a:p>
        </p:txBody>
      </p:sp>
      <p:sp>
        <p:nvSpPr>
          <p:cNvPr id="65" name="Text 60"/>
          <p:cNvSpPr txBox="1"/>
          <p:nvPr/>
        </p:nvSpPr>
        <p:spPr>
          <a:xfrm>
            <a:off x="15335402" y="4343400"/>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20.3</a:t>
            </a:r>
            <a:endParaRPr lang="en-US" sz="1500" dirty="0"/>
          </a:p>
        </p:txBody>
      </p:sp>
      <p:sp>
        <p:nvSpPr>
          <p:cNvPr id="66" name="Text 61"/>
          <p:cNvSpPr txBox="1"/>
          <p:nvPr/>
        </p:nvSpPr>
        <p:spPr>
          <a:xfrm>
            <a:off x="9810598" y="471921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P25 %</a:t>
            </a:r>
            <a:endParaRPr lang="en-US" sz="1350" dirty="0"/>
          </a:p>
        </p:txBody>
      </p:sp>
      <p:sp>
        <p:nvSpPr>
          <p:cNvPr id="67" name="Text 62"/>
          <p:cNvSpPr txBox="1"/>
          <p:nvPr/>
        </p:nvSpPr>
        <p:spPr>
          <a:xfrm>
            <a:off x="11144707" y="47055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27.8</a:t>
            </a:r>
            <a:endParaRPr lang="en-US" sz="1500" dirty="0"/>
          </a:p>
        </p:txBody>
      </p:sp>
      <p:sp>
        <p:nvSpPr>
          <p:cNvPr id="68" name="Text 63"/>
          <p:cNvSpPr txBox="1"/>
          <p:nvPr/>
        </p:nvSpPr>
        <p:spPr>
          <a:xfrm>
            <a:off x="13239598" y="4705502"/>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18.9</a:t>
            </a:r>
            <a:endParaRPr lang="en-US" sz="1500" dirty="0"/>
          </a:p>
        </p:txBody>
      </p:sp>
      <p:sp>
        <p:nvSpPr>
          <p:cNvPr id="69" name="Text 64"/>
          <p:cNvSpPr txBox="1"/>
          <p:nvPr/>
        </p:nvSpPr>
        <p:spPr>
          <a:xfrm>
            <a:off x="15335402" y="47055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21.0</a:t>
            </a:r>
            <a:endParaRPr lang="en-US" sz="1500" dirty="0"/>
          </a:p>
        </p:txBody>
      </p:sp>
      <p:sp>
        <p:nvSpPr>
          <p:cNvPr id="70" name="Shape 65"/>
          <p:cNvSpPr/>
          <p:nvPr/>
        </p:nvSpPr>
        <p:spPr>
          <a:xfrm>
            <a:off x="9810598" y="4990795"/>
            <a:ext cx="7619695" cy="448056"/>
          </a:xfrm>
          <a:prstGeom prst="rect">
            <a:avLst/>
          </a:prstGeom>
          <a:solidFill>
            <a:srgbClr val="A78BFA">
              <a:alpha val="8000"/>
            </a:srgbClr>
          </a:solidFill>
          <a:ln w="12700">
            <a:solidFill>
              <a:srgbClr val="FFFFFF">
                <a:alpha val="0"/>
              </a:srgbClr>
            </a:solidFill>
            <a:prstDash val="solid"/>
          </a:ln>
        </p:spPr>
      </p:sp>
      <p:sp>
        <p:nvSpPr>
          <p:cNvPr id="71" name="Text 66"/>
          <p:cNvSpPr txBox="1"/>
          <p:nvPr/>
        </p:nvSpPr>
        <p:spPr>
          <a:xfrm>
            <a:off x="9810598" y="5105095"/>
            <a:ext cx="1334110" cy="219456"/>
          </a:xfrm>
          <a:prstGeom prst="rect">
            <a:avLst/>
          </a:prstGeom>
          <a:noFill/>
          <a:ln/>
        </p:spPr>
        <p:txBody>
          <a:bodyPr wrap="none" lIns="0" tIns="0" rIns="0" bIns="0" rtlCol="0" anchor="ctr"/>
          <a:lstStyle/>
          <a:p>
            <a:pPr algn="l" indent="0" marL="0">
              <a:buNone/>
            </a:pPr>
            <a:r>
              <a:rPr lang="en-US" sz="1350" dirty="0">
                <a:solidFill>
                  <a:srgbClr val="E6EDF7"/>
                </a:solidFill>
                <a:latin typeface="JetBrains Mono" pitchFamily="34" charset="0"/>
                <a:ea typeface="JetBrains Mono" pitchFamily="34" charset="-122"/>
                <a:cs typeface="JetBrains Mono" pitchFamily="34" charset="-120"/>
              </a:rPr>
              <a:t>P50 %</a:t>
            </a:r>
            <a:endParaRPr lang="en-US" sz="1350" dirty="0"/>
          </a:p>
        </p:txBody>
      </p:sp>
      <p:sp>
        <p:nvSpPr>
          <p:cNvPr id="72" name="Text 67"/>
          <p:cNvSpPr txBox="1"/>
          <p:nvPr/>
        </p:nvSpPr>
        <p:spPr>
          <a:xfrm>
            <a:off x="11144707" y="5076749"/>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28.4</a:t>
            </a:r>
            <a:endParaRPr lang="en-US" sz="1650" dirty="0"/>
          </a:p>
        </p:txBody>
      </p:sp>
      <p:sp>
        <p:nvSpPr>
          <p:cNvPr id="73" name="Text 68"/>
          <p:cNvSpPr txBox="1"/>
          <p:nvPr/>
        </p:nvSpPr>
        <p:spPr>
          <a:xfrm>
            <a:off x="13239598" y="5067605"/>
            <a:ext cx="2095805" cy="295351"/>
          </a:xfrm>
          <a:prstGeom prst="rect">
            <a:avLst/>
          </a:prstGeom>
          <a:noFill/>
          <a:ln/>
        </p:spPr>
        <p:txBody>
          <a:bodyPr wrap="none" lIns="0" tIns="0" rIns="0" bIns="0" rtlCol="0" anchor="ctr"/>
          <a:lstStyle/>
          <a:p>
            <a:pPr algn="l" indent="0" marL="0">
              <a:buNone/>
            </a:pPr>
            <a:r>
              <a:rPr lang="en-US" sz="1800" b="1" dirty="0">
                <a:solidFill>
                  <a:srgbClr val="34D399"/>
                </a:solidFill>
                <a:latin typeface="JetBrains Mono" pitchFamily="34" charset="0"/>
                <a:ea typeface="JetBrains Mono" pitchFamily="34" charset="-122"/>
                <a:cs typeface="JetBrains Mono" pitchFamily="34" charset="-120"/>
              </a:rPr>
              <a:t>19.4 ★</a:t>
            </a:r>
            <a:endParaRPr lang="en-US" sz="1800" dirty="0"/>
          </a:p>
        </p:txBody>
      </p:sp>
      <p:sp>
        <p:nvSpPr>
          <p:cNvPr id="74" name="Text 69"/>
          <p:cNvSpPr txBox="1"/>
          <p:nvPr/>
        </p:nvSpPr>
        <p:spPr>
          <a:xfrm>
            <a:off x="15335402" y="5076749"/>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21.6</a:t>
            </a:r>
            <a:endParaRPr lang="en-US" sz="1650" dirty="0"/>
          </a:p>
        </p:txBody>
      </p:sp>
      <p:sp>
        <p:nvSpPr>
          <p:cNvPr id="75" name="Text 70"/>
          <p:cNvSpPr txBox="1"/>
          <p:nvPr/>
        </p:nvSpPr>
        <p:spPr>
          <a:xfrm>
            <a:off x="9810598" y="5519318"/>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P75 %</a:t>
            </a:r>
            <a:endParaRPr lang="en-US" sz="1350" dirty="0"/>
          </a:p>
        </p:txBody>
      </p:sp>
      <p:sp>
        <p:nvSpPr>
          <p:cNvPr id="76" name="Text 71"/>
          <p:cNvSpPr txBox="1"/>
          <p:nvPr/>
        </p:nvSpPr>
        <p:spPr>
          <a:xfrm>
            <a:off x="11144707" y="55056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29.2</a:t>
            </a:r>
            <a:endParaRPr lang="en-US" sz="1500" dirty="0"/>
          </a:p>
        </p:txBody>
      </p:sp>
      <p:sp>
        <p:nvSpPr>
          <p:cNvPr id="77" name="Text 72"/>
          <p:cNvSpPr txBox="1"/>
          <p:nvPr/>
        </p:nvSpPr>
        <p:spPr>
          <a:xfrm>
            <a:off x="13239598" y="5505602"/>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20.0</a:t>
            </a:r>
            <a:endParaRPr lang="en-US" sz="1500" dirty="0"/>
          </a:p>
        </p:txBody>
      </p:sp>
      <p:sp>
        <p:nvSpPr>
          <p:cNvPr id="78" name="Text 73"/>
          <p:cNvSpPr txBox="1"/>
          <p:nvPr/>
        </p:nvSpPr>
        <p:spPr>
          <a:xfrm>
            <a:off x="15335402" y="5505602"/>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22.2</a:t>
            </a:r>
            <a:endParaRPr lang="en-US" sz="1500" dirty="0"/>
          </a:p>
        </p:txBody>
      </p:sp>
      <p:sp>
        <p:nvSpPr>
          <p:cNvPr id="79" name="Text 74"/>
          <p:cNvSpPr txBox="1"/>
          <p:nvPr/>
        </p:nvSpPr>
        <p:spPr>
          <a:xfrm>
            <a:off x="9810598" y="5881421"/>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P95 %</a:t>
            </a:r>
            <a:endParaRPr lang="en-US" sz="1350" dirty="0"/>
          </a:p>
        </p:txBody>
      </p:sp>
      <p:sp>
        <p:nvSpPr>
          <p:cNvPr id="80" name="Text 75"/>
          <p:cNvSpPr txBox="1"/>
          <p:nvPr/>
        </p:nvSpPr>
        <p:spPr>
          <a:xfrm>
            <a:off x="11144707" y="5867705"/>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30.6</a:t>
            </a:r>
            <a:endParaRPr lang="en-US" sz="1500" dirty="0"/>
          </a:p>
        </p:txBody>
      </p:sp>
      <p:sp>
        <p:nvSpPr>
          <p:cNvPr id="81" name="Text 76"/>
          <p:cNvSpPr txBox="1"/>
          <p:nvPr/>
        </p:nvSpPr>
        <p:spPr>
          <a:xfrm>
            <a:off x="13239598" y="5867705"/>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21.1</a:t>
            </a:r>
            <a:endParaRPr lang="en-US" sz="1500" dirty="0"/>
          </a:p>
        </p:txBody>
      </p:sp>
      <p:sp>
        <p:nvSpPr>
          <p:cNvPr id="82" name="Text 77"/>
          <p:cNvSpPr txBox="1"/>
          <p:nvPr/>
        </p:nvSpPr>
        <p:spPr>
          <a:xfrm>
            <a:off x="15335402" y="5867705"/>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23.4</a:t>
            </a:r>
            <a:endParaRPr lang="en-US" sz="1500" dirty="0"/>
          </a:p>
        </p:txBody>
      </p:sp>
      <p:sp>
        <p:nvSpPr>
          <p:cNvPr id="83" name="Text 78"/>
          <p:cNvSpPr txBox="1"/>
          <p:nvPr/>
        </p:nvSpPr>
        <p:spPr>
          <a:xfrm>
            <a:off x="9810598" y="6243523"/>
            <a:ext cx="1334110" cy="219456"/>
          </a:xfrm>
          <a:prstGeom prst="rect">
            <a:avLst/>
          </a:prstGeom>
          <a:noFill/>
          <a:ln/>
        </p:spPr>
        <p:txBody>
          <a:bodyPr wrap="none" lIns="0" tIns="0" rIns="0" bIns="0" rtlCol="0" anchor="ctr"/>
          <a:lstStyle/>
          <a:p>
            <a:pPr algn="l" indent="0" marL="0">
              <a:buNone/>
            </a:pPr>
            <a:r>
              <a:rPr lang="en-US" sz="1350" dirty="0">
                <a:solidFill>
                  <a:srgbClr val="8B95A8"/>
                </a:solidFill>
                <a:latin typeface="JetBrains Mono" pitchFamily="34" charset="0"/>
                <a:ea typeface="JetBrains Mono" pitchFamily="34" charset="-122"/>
                <a:cs typeface="JetBrains Mono" pitchFamily="34" charset="-120"/>
              </a:rPr>
              <a:t>P99 %</a:t>
            </a:r>
            <a:endParaRPr lang="en-US" sz="1350" dirty="0"/>
          </a:p>
        </p:txBody>
      </p:sp>
      <p:sp>
        <p:nvSpPr>
          <p:cNvPr id="84" name="Text 79"/>
          <p:cNvSpPr txBox="1"/>
          <p:nvPr/>
        </p:nvSpPr>
        <p:spPr>
          <a:xfrm>
            <a:off x="11144707" y="6229807"/>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31.8</a:t>
            </a:r>
            <a:endParaRPr lang="en-US" sz="1500" dirty="0"/>
          </a:p>
        </p:txBody>
      </p:sp>
      <p:sp>
        <p:nvSpPr>
          <p:cNvPr id="85" name="Text 80"/>
          <p:cNvSpPr txBox="1"/>
          <p:nvPr/>
        </p:nvSpPr>
        <p:spPr>
          <a:xfrm>
            <a:off x="13239598" y="6229807"/>
            <a:ext cx="2095805" cy="247802"/>
          </a:xfrm>
          <a:prstGeom prst="rect">
            <a:avLst/>
          </a:prstGeom>
          <a:noFill/>
          <a:ln/>
        </p:spPr>
        <p:txBody>
          <a:bodyPr wrap="none" lIns="0" tIns="0" rIns="0" bIns="0" rtlCol="0" anchor="ctr"/>
          <a:lstStyle/>
          <a:p>
            <a:pPr algn="l" indent="0" marL="0">
              <a:buNone/>
            </a:pPr>
            <a:r>
              <a:rPr lang="en-US" sz="1500" dirty="0">
                <a:solidFill>
                  <a:srgbClr val="34D399"/>
                </a:solidFill>
                <a:latin typeface="JetBrains Mono" pitchFamily="34" charset="0"/>
                <a:ea typeface="JetBrains Mono" pitchFamily="34" charset="-122"/>
                <a:cs typeface="JetBrains Mono" pitchFamily="34" charset="-120"/>
              </a:rPr>
              <a:t>21.7</a:t>
            </a:r>
            <a:endParaRPr lang="en-US" sz="1500" dirty="0"/>
          </a:p>
        </p:txBody>
      </p:sp>
      <p:sp>
        <p:nvSpPr>
          <p:cNvPr id="86" name="Text 81"/>
          <p:cNvSpPr txBox="1"/>
          <p:nvPr/>
        </p:nvSpPr>
        <p:spPr>
          <a:xfrm>
            <a:off x="15335402" y="6229807"/>
            <a:ext cx="2095805" cy="247802"/>
          </a:xfrm>
          <a:prstGeom prst="rect">
            <a:avLst/>
          </a:prstGeom>
          <a:noFill/>
          <a:ln/>
        </p:spPr>
        <p:txBody>
          <a:bodyPr wrap="none" lIns="0" tIns="0" rIns="0" bIns="0" rtlCol="0" anchor="ctr"/>
          <a:lstStyle/>
          <a:p>
            <a:pPr algn="l" indent="0" marL="0">
              <a:buNone/>
            </a:pPr>
            <a:r>
              <a:rPr lang="en-US" sz="1500" dirty="0">
                <a:solidFill>
                  <a:srgbClr val="E6EDF7"/>
                </a:solidFill>
                <a:latin typeface="JetBrains Mono" pitchFamily="34" charset="0"/>
                <a:ea typeface="JetBrains Mono" pitchFamily="34" charset="-122"/>
                <a:cs typeface="JetBrains Mono" pitchFamily="34" charset="-120"/>
              </a:rPr>
              <a:t>24.1</a:t>
            </a:r>
            <a:endParaRPr lang="en-US" sz="1500" dirty="0"/>
          </a:p>
        </p:txBody>
      </p:sp>
      <p:sp>
        <p:nvSpPr>
          <p:cNvPr id="87" name="Text 82"/>
          <p:cNvSpPr txBox="1"/>
          <p:nvPr/>
        </p:nvSpPr>
        <p:spPr>
          <a:xfrm>
            <a:off x="1047902" y="6896405"/>
            <a:ext cx="16193110" cy="162763"/>
          </a:xfrm>
          <a:prstGeom prst="rect">
            <a:avLst/>
          </a:prstGeom>
          <a:noFill/>
          <a:ln/>
        </p:spPr>
        <p:txBody>
          <a:bodyPr wrap="none" lIns="0" tIns="0" rIns="0" bIns="0" rtlCol="0" anchor="ctr"/>
          <a:lstStyle/>
          <a:p>
            <a:pPr algn="l" indent="0" marL="0">
              <a:buNone/>
            </a:pPr>
            <a:r>
              <a:rPr lang="en-US" sz="975" spc="215" kern="0" dirty="0">
                <a:solidFill>
                  <a:srgbClr val="8B95A8"/>
                </a:solidFill>
                <a:latin typeface="JetBrains Mono" pitchFamily="34" charset="0"/>
                <a:ea typeface="JetBrains Mono" pitchFamily="34" charset="-122"/>
                <a:cs typeface="JetBrains Mono" pitchFamily="34" charset="-120"/>
              </a:rPr>
              <a:t>DELTA · B IS REFERENCE</a:t>
            </a:r>
            <a:endParaRPr lang="en-US" sz="975" dirty="0"/>
          </a:p>
        </p:txBody>
      </p:sp>
      <p:sp>
        <p:nvSpPr>
          <p:cNvPr id="88" name="Shape 83"/>
          <p:cNvSpPr/>
          <p:nvPr/>
        </p:nvSpPr>
        <p:spPr>
          <a:xfrm>
            <a:off x="1047902" y="7420356"/>
            <a:ext cx="16192195" cy="9144"/>
          </a:xfrm>
          <a:prstGeom prst="rect">
            <a:avLst/>
          </a:prstGeom>
          <a:solidFill>
            <a:srgbClr val="FFFFFF">
              <a:alpha val="6000"/>
            </a:srgbClr>
          </a:solidFill>
          <a:ln w="12700">
            <a:solidFill>
              <a:srgbClr val="FFFFFF">
                <a:alpha val="0"/>
              </a:srgbClr>
            </a:solidFill>
            <a:prstDash val="solid"/>
          </a:ln>
        </p:spPr>
      </p:sp>
      <p:sp>
        <p:nvSpPr>
          <p:cNvPr id="89" name="Text 84"/>
          <p:cNvSpPr txBox="1"/>
          <p:nvPr/>
        </p:nvSpPr>
        <p:spPr>
          <a:xfrm>
            <a:off x="1047902" y="7181698"/>
            <a:ext cx="1905610" cy="162763"/>
          </a:xfrm>
          <a:prstGeom prst="rect">
            <a:avLst/>
          </a:prstGeom>
          <a:noFill/>
          <a:ln/>
        </p:spPr>
        <p:txBody>
          <a:bodyPr wrap="none" lIns="0" tIns="0" rIns="0" bIns="0" rtlCol="0" anchor="ctr"/>
          <a:lstStyle/>
          <a:p>
            <a:pPr algn="l" indent="0" marL="0">
              <a:buNone/>
            </a:pPr>
            <a:r>
              <a:rPr lang="en-US" sz="975" dirty="0">
                <a:solidFill>
                  <a:srgbClr val="8B95A8"/>
                </a:solidFill>
                <a:latin typeface="JetBrains Mono" pitchFamily="34" charset="0"/>
                <a:ea typeface="JetBrains Mono" pitchFamily="34" charset="-122"/>
                <a:cs typeface="JetBrains Mono" pitchFamily="34" charset="-120"/>
              </a:rPr>
              <a:t>METRIC · Δ vs B</a:t>
            </a:r>
            <a:endParaRPr lang="en-US" sz="975" dirty="0"/>
          </a:p>
        </p:txBody>
      </p:sp>
      <p:sp>
        <p:nvSpPr>
          <p:cNvPr id="90" name="Text 85"/>
          <p:cNvSpPr txBox="1"/>
          <p:nvPr/>
        </p:nvSpPr>
        <p:spPr>
          <a:xfrm>
            <a:off x="2952598" y="7181698"/>
            <a:ext cx="3048610" cy="162763"/>
          </a:xfrm>
          <a:prstGeom prst="rect">
            <a:avLst/>
          </a:prstGeom>
          <a:noFill/>
          <a:ln/>
        </p:spPr>
        <p:txBody>
          <a:bodyPr wrap="none" lIns="0" tIns="0" rIns="0" bIns="0" rtlCol="0" anchor="ctr"/>
          <a:lstStyle/>
          <a:p>
            <a:pPr algn="l" indent="0" marL="0">
              <a:buNone/>
            </a:pPr>
            <a:r>
              <a:rPr lang="en-US" sz="975" dirty="0">
                <a:solidFill>
                  <a:srgbClr val="22D3EE"/>
                </a:solidFill>
                <a:latin typeface="JetBrains Mono" pitchFamily="34" charset="0"/>
                <a:ea typeface="JetBrains Mono" pitchFamily="34" charset="-122"/>
                <a:cs typeface="JetBrains Mono" pitchFamily="34" charset="-120"/>
              </a:rPr>
              <a:t>A median</a:t>
            </a:r>
            <a:endParaRPr lang="en-US" sz="975" dirty="0"/>
          </a:p>
        </p:txBody>
      </p:sp>
      <p:sp>
        <p:nvSpPr>
          <p:cNvPr id="91" name="Text 86"/>
          <p:cNvSpPr txBox="1"/>
          <p:nvPr/>
        </p:nvSpPr>
        <p:spPr>
          <a:xfrm>
            <a:off x="6001207" y="7181698"/>
            <a:ext cx="3048610" cy="162763"/>
          </a:xfrm>
          <a:prstGeom prst="rect">
            <a:avLst/>
          </a:prstGeom>
          <a:noFill/>
          <a:ln/>
        </p:spPr>
        <p:txBody>
          <a:bodyPr wrap="none" lIns="0" tIns="0" rIns="0" bIns="0" rtlCol="0" anchor="ctr"/>
          <a:lstStyle/>
          <a:p>
            <a:pPr algn="l" indent="0" marL="0">
              <a:buNone/>
            </a:pPr>
            <a:r>
              <a:rPr lang="en-US" sz="975" dirty="0">
                <a:solidFill>
                  <a:srgbClr val="A78BFA"/>
                </a:solidFill>
                <a:latin typeface="JetBrains Mono" pitchFamily="34" charset="0"/>
                <a:ea typeface="JetBrains Mono" pitchFamily="34" charset="-122"/>
                <a:cs typeface="JetBrains Mono" pitchFamily="34" charset="-120"/>
              </a:rPr>
              <a:t>B median (ref)</a:t>
            </a:r>
            <a:endParaRPr lang="en-US" sz="975" dirty="0"/>
          </a:p>
        </p:txBody>
      </p:sp>
      <p:sp>
        <p:nvSpPr>
          <p:cNvPr id="92" name="Text 87"/>
          <p:cNvSpPr txBox="1"/>
          <p:nvPr/>
        </p:nvSpPr>
        <p:spPr>
          <a:xfrm>
            <a:off x="9048902" y="7181698"/>
            <a:ext cx="3048610" cy="162763"/>
          </a:xfrm>
          <a:prstGeom prst="rect">
            <a:avLst/>
          </a:prstGeom>
          <a:noFill/>
          <a:ln/>
        </p:spPr>
        <p:txBody>
          <a:bodyPr wrap="none" lIns="0" tIns="0" rIns="0" bIns="0" rtlCol="0" anchor="ctr"/>
          <a:lstStyle/>
          <a:p>
            <a:pPr algn="l" indent="0" marL="0">
              <a:buNone/>
            </a:pPr>
            <a:r>
              <a:rPr lang="en-US" sz="975" dirty="0">
                <a:solidFill>
                  <a:srgbClr val="F59E0B"/>
                </a:solidFill>
                <a:latin typeface="JetBrains Mono" pitchFamily="34" charset="0"/>
                <a:ea typeface="JetBrains Mono" pitchFamily="34" charset="-122"/>
                <a:cs typeface="JetBrains Mono" pitchFamily="34" charset="-120"/>
              </a:rPr>
              <a:t>C median</a:t>
            </a:r>
            <a:endParaRPr lang="en-US" sz="975" dirty="0"/>
          </a:p>
        </p:txBody>
      </p:sp>
      <p:sp>
        <p:nvSpPr>
          <p:cNvPr id="93" name="Text 88"/>
          <p:cNvSpPr txBox="1"/>
          <p:nvPr/>
        </p:nvSpPr>
        <p:spPr>
          <a:xfrm>
            <a:off x="12096598" y="7181698"/>
            <a:ext cx="3048610" cy="162763"/>
          </a:xfrm>
          <a:prstGeom prst="rect">
            <a:avLst/>
          </a:prstGeom>
          <a:noFill/>
          <a:ln/>
        </p:spPr>
        <p:txBody>
          <a:bodyPr wrap="none" lIns="0" tIns="0" rIns="0" bIns="0" rtlCol="0" anchor="ctr"/>
          <a:lstStyle/>
          <a:p>
            <a:pPr algn="l" indent="0" marL="0">
              <a:buNone/>
            </a:pPr>
            <a:r>
              <a:rPr lang="en-US" sz="975" dirty="0">
                <a:solidFill>
                  <a:srgbClr val="8B95A8"/>
                </a:solidFill>
                <a:latin typeface="JetBrains Mono" pitchFamily="34" charset="0"/>
                <a:ea typeface="JetBrains Mono" pitchFamily="34" charset="-122"/>
                <a:cs typeface="JetBrains Mono" pitchFamily="34" charset="-120"/>
              </a:rPr>
              <a:t>BEST</a:t>
            </a:r>
            <a:endParaRPr lang="en-US" sz="975" dirty="0"/>
          </a:p>
        </p:txBody>
      </p:sp>
      <p:sp>
        <p:nvSpPr>
          <p:cNvPr id="94" name="Text 89"/>
          <p:cNvSpPr txBox="1"/>
          <p:nvPr/>
        </p:nvSpPr>
        <p:spPr>
          <a:xfrm>
            <a:off x="1047902" y="7638898"/>
            <a:ext cx="1905610" cy="277063"/>
          </a:xfrm>
          <a:prstGeom prst="rect">
            <a:avLst/>
          </a:prstGeom>
          <a:noFill/>
          <a:ln/>
        </p:spPr>
        <p:txBody>
          <a:bodyPr wrap="none" lIns="0" tIns="0" rIns="0" bIns="0" rtlCol="0" anchor="ctr"/>
          <a:lstStyle/>
          <a:p>
            <a:pPr algn="l" indent="0" marL="0">
              <a:buNone/>
            </a:pPr>
            <a:r>
              <a:rPr lang="en-US" sz="1425" dirty="0">
                <a:solidFill>
                  <a:srgbClr val="E6EDF7"/>
                </a:solidFill>
                <a:latin typeface="IBM Plex Sans KR" pitchFamily="34" charset="0"/>
                <a:ea typeface="IBM Plex Sans KR" pitchFamily="34" charset="-122"/>
                <a:cs typeface="IBM Plex Sans KR" pitchFamily="34" charset="-120"/>
              </a:rPr>
              <a:t>Rs</a:t>
            </a:r>
            <a:endParaRPr lang="en-US" sz="1425" dirty="0"/>
          </a:p>
        </p:txBody>
      </p:sp>
      <p:sp>
        <p:nvSpPr>
          <p:cNvPr id="95" name="Text 90"/>
          <p:cNvSpPr txBox="1"/>
          <p:nvPr/>
        </p:nvSpPr>
        <p:spPr>
          <a:xfrm>
            <a:off x="2952598" y="7653528"/>
            <a:ext cx="3048610" cy="247802"/>
          </a:xfrm>
          <a:prstGeom prst="rect">
            <a:avLst/>
          </a:prstGeom>
          <a:noFill/>
          <a:ln/>
        </p:spPr>
        <p:txBody>
          <a:bodyPr wrap="none" lIns="0" tIns="0" rIns="0" bIns="0" rtlCol="0" anchor="ctr"/>
          <a:lstStyle/>
          <a:p>
            <a:pPr algn="l" indent="0" marL="0">
              <a:buNone/>
            </a:pPr>
            <a:r>
              <a:rPr lang="en-US" sz="1500" dirty="0">
                <a:solidFill>
                  <a:srgbClr val="EF4444"/>
                </a:solidFill>
                <a:latin typeface="JetBrains Mono" pitchFamily="34" charset="0"/>
                <a:ea typeface="JetBrains Mono" pitchFamily="34" charset="-122"/>
                <a:cs typeface="JetBrains Mono" pitchFamily="34" charset="-120"/>
              </a:rPr>
              <a:t>+22.8%</a:t>
            </a:r>
            <a:endParaRPr lang="en-US" sz="1500" dirty="0"/>
          </a:p>
        </p:txBody>
      </p:sp>
      <p:sp>
        <p:nvSpPr>
          <p:cNvPr id="96" name="Text 91"/>
          <p:cNvSpPr txBox="1"/>
          <p:nvPr/>
        </p:nvSpPr>
        <p:spPr>
          <a:xfrm>
            <a:off x="6001207" y="7638898"/>
            <a:ext cx="3048610" cy="277063"/>
          </a:xfrm>
          <a:prstGeom prst="rect">
            <a:avLst/>
          </a:prstGeom>
          <a:noFill/>
          <a:ln/>
        </p:spPr>
        <p:txBody>
          <a:bodyPr wrap="none" lIns="0" tIns="0" rIns="0" bIns="0" rtlCol="0" anchor="ctr"/>
          <a:lstStyle/>
          <a:p>
            <a:pPr algn="l" indent="0" marL="0">
              <a:buNone/>
            </a:pPr>
            <a:r>
              <a:rPr lang="en-US" sz="1500" dirty="0">
                <a:solidFill>
                  <a:srgbClr val="A78BFA"/>
                </a:solidFill>
                <a:latin typeface="JetBrains Mono" pitchFamily="34" charset="0"/>
                <a:ea typeface="JetBrains Mono" pitchFamily="34" charset="-122"/>
                <a:cs typeface="JetBrains Mono" pitchFamily="34" charset="-120"/>
              </a:rPr>
              <a:t>232 (참조)</a:t>
            </a:r>
            <a:endParaRPr lang="en-US" sz="1500" dirty="0"/>
          </a:p>
        </p:txBody>
      </p:sp>
      <p:sp>
        <p:nvSpPr>
          <p:cNvPr id="97" name="Text 92"/>
          <p:cNvSpPr txBox="1"/>
          <p:nvPr/>
        </p:nvSpPr>
        <p:spPr>
          <a:xfrm>
            <a:off x="9048902" y="7653528"/>
            <a:ext cx="3048610" cy="247802"/>
          </a:xfrm>
          <a:prstGeom prst="rect">
            <a:avLst/>
          </a:prstGeom>
          <a:noFill/>
          <a:ln/>
        </p:spPr>
        <p:txBody>
          <a:bodyPr wrap="none" lIns="0" tIns="0" rIns="0" bIns="0" rtlCol="0" anchor="ctr"/>
          <a:lstStyle/>
          <a:p>
            <a:pPr algn="l" indent="0" marL="0">
              <a:buNone/>
            </a:pPr>
            <a:r>
              <a:rPr lang="en-US" sz="1500" dirty="0">
                <a:solidFill>
                  <a:srgbClr val="EF4444"/>
                </a:solidFill>
                <a:latin typeface="JetBrains Mono" pitchFamily="34" charset="0"/>
                <a:ea typeface="JetBrains Mono" pitchFamily="34" charset="-122"/>
                <a:cs typeface="JetBrains Mono" pitchFamily="34" charset="-120"/>
              </a:rPr>
              <a:t>+6.0%</a:t>
            </a:r>
            <a:endParaRPr lang="en-US" sz="1500" dirty="0"/>
          </a:p>
        </p:txBody>
      </p:sp>
      <p:sp>
        <p:nvSpPr>
          <p:cNvPr id="98" name="Text 93"/>
          <p:cNvSpPr txBox="1"/>
          <p:nvPr/>
        </p:nvSpPr>
        <p:spPr>
          <a:xfrm>
            <a:off x="12096598" y="7686446"/>
            <a:ext cx="3048610" cy="181051"/>
          </a:xfrm>
          <a:prstGeom prst="rect">
            <a:avLst/>
          </a:prstGeom>
          <a:noFill/>
          <a:ln/>
        </p:spPr>
        <p:txBody>
          <a:bodyPr wrap="none" lIns="0" tIns="0" rIns="0" bIns="0" rtlCol="0" anchor="ctr"/>
          <a:lstStyle/>
          <a:p>
            <a:pPr algn="l" indent="0" marL="0">
              <a:buNone/>
            </a:pPr>
            <a:r>
              <a:rPr lang="en-US" sz="1125" dirty="0">
                <a:solidFill>
                  <a:srgbClr val="34D399"/>
                </a:solidFill>
                <a:latin typeface="Inter" pitchFamily="34" charset="0"/>
                <a:ea typeface="Inter" pitchFamily="34" charset="-122"/>
                <a:cs typeface="Inter" pitchFamily="34" charset="-120"/>
              </a:rPr>
              <a:t>B</a:t>
            </a:r>
            <a:endParaRPr lang="en-US" sz="1125" dirty="0"/>
          </a:p>
        </p:txBody>
      </p:sp>
      <p:sp>
        <p:nvSpPr>
          <p:cNvPr id="99" name="Text 94"/>
          <p:cNvSpPr txBox="1"/>
          <p:nvPr/>
        </p:nvSpPr>
        <p:spPr>
          <a:xfrm>
            <a:off x="1047902" y="7981798"/>
            <a:ext cx="1905610" cy="277063"/>
          </a:xfrm>
          <a:prstGeom prst="rect">
            <a:avLst/>
          </a:prstGeom>
          <a:noFill/>
          <a:ln/>
        </p:spPr>
        <p:txBody>
          <a:bodyPr wrap="none" lIns="0" tIns="0" rIns="0" bIns="0" rtlCol="0" anchor="ctr"/>
          <a:lstStyle/>
          <a:p>
            <a:pPr algn="l" indent="0" marL="0">
              <a:buNone/>
            </a:pPr>
            <a:r>
              <a:rPr lang="en-US" sz="1425" dirty="0">
                <a:solidFill>
                  <a:srgbClr val="E6EDF7"/>
                </a:solidFill>
                <a:latin typeface="IBM Plex Sans KR" pitchFamily="34" charset="0"/>
                <a:ea typeface="IBM Plex Sans KR" pitchFamily="34" charset="-122"/>
                <a:cs typeface="IBM Plex Sans KR" pitchFamily="34" charset="-120"/>
              </a:rPr>
              <a:t>Rc</a:t>
            </a:r>
            <a:endParaRPr lang="en-US" sz="1425" dirty="0"/>
          </a:p>
        </p:txBody>
      </p:sp>
      <p:sp>
        <p:nvSpPr>
          <p:cNvPr id="100" name="Text 95"/>
          <p:cNvSpPr txBox="1"/>
          <p:nvPr/>
        </p:nvSpPr>
        <p:spPr>
          <a:xfrm>
            <a:off x="2952598" y="7996428"/>
            <a:ext cx="3048610" cy="247802"/>
          </a:xfrm>
          <a:prstGeom prst="rect">
            <a:avLst/>
          </a:prstGeom>
          <a:noFill/>
          <a:ln/>
        </p:spPr>
        <p:txBody>
          <a:bodyPr wrap="none" lIns="0" tIns="0" rIns="0" bIns="0" rtlCol="0" anchor="ctr"/>
          <a:lstStyle/>
          <a:p>
            <a:pPr algn="l" indent="0" marL="0">
              <a:buNone/>
            </a:pPr>
            <a:r>
              <a:rPr lang="en-US" sz="1500" dirty="0">
                <a:solidFill>
                  <a:srgbClr val="EF4444"/>
                </a:solidFill>
                <a:latin typeface="JetBrains Mono" pitchFamily="34" charset="0"/>
                <a:ea typeface="JetBrains Mono" pitchFamily="34" charset="-122"/>
                <a:cs typeface="JetBrains Mono" pitchFamily="34" charset="-120"/>
              </a:rPr>
              <a:t>+46.4%</a:t>
            </a:r>
            <a:endParaRPr lang="en-US" sz="1500" dirty="0"/>
          </a:p>
        </p:txBody>
      </p:sp>
      <p:sp>
        <p:nvSpPr>
          <p:cNvPr id="101" name="Text 96"/>
          <p:cNvSpPr txBox="1"/>
          <p:nvPr/>
        </p:nvSpPr>
        <p:spPr>
          <a:xfrm>
            <a:off x="6001207" y="7981798"/>
            <a:ext cx="3048610" cy="277063"/>
          </a:xfrm>
          <a:prstGeom prst="rect">
            <a:avLst/>
          </a:prstGeom>
          <a:noFill/>
          <a:ln/>
        </p:spPr>
        <p:txBody>
          <a:bodyPr wrap="none" lIns="0" tIns="0" rIns="0" bIns="0" rtlCol="0" anchor="ctr"/>
          <a:lstStyle/>
          <a:p>
            <a:pPr algn="l" indent="0" marL="0">
              <a:buNone/>
            </a:pPr>
            <a:r>
              <a:rPr lang="en-US" sz="1500" dirty="0">
                <a:solidFill>
                  <a:srgbClr val="A78BFA"/>
                </a:solidFill>
                <a:latin typeface="JetBrains Mono" pitchFamily="34" charset="0"/>
                <a:ea typeface="JetBrains Mono" pitchFamily="34" charset="-122"/>
                <a:cs typeface="JetBrains Mono" pitchFamily="34" charset="-120"/>
              </a:rPr>
              <a:t>19.4 (참조)</a:t>
            </a:r>
            <a:endParaRPr lang="en-US" sz="1500" dirty="0"/>
          </a:p>
        </p:txBody>
      </p:sp>
      <p:sp>
        <p:nvSpPr>
          <p:cNvPr id="102" name="Text 97"/>
          <p:cNvSpPr txBox="1"/>
          <p:nvPr/>
        </p:nvSpPr>
        <p:spPr>
          <a:xfrm>
            <a:off x="9048902" y="7996428"/>
            <a:ext cx="3048610" cy="247802"/>
          </a:xfrm>
          <a:prstGeom prst="rect">
            <a:avLst/>
          </a:prstGeom>
          <a:noFill/>
          <a:ln/>
        </p:spPr>
        <p:txBody>
          <a:bodyPr wrap="none" lIns="0" tIns="0" rIns="0" bIns="0" rtlCol="0" anchor="ctr"/>
          <a:lstStyle/>
          <a:p>
            <a:pPr algn="l" indent="0" marL="0">
              <a:buNone/>
            </a:pPr>
            <a:r>
              <a:rPr lang="en-US" sz="1500" dirty="0">
                <a:solidFill>
                  <a:srgbClr val="F59E0B"/>
                </a:solidFill>
                <a:latin typeface="JetBrains Mono" pitchFamily="34" charset="0"/>
                <a:ea typeface="JetBrains Mono" pitchFamily="34" charset="-122"/>
                <a:cs typeface="JetBrains Mono" pitchFamily="34" charset="-120"/>
              </a:rPr>
              <a:t>+11.3%</a:t>
            </a:r>
            <a:endParaRPr lang="en-US" sz="1500" dirty="0"/>
          </a:p>
        </p:txBody>
      </p:sp>
      <p:sp>
        <p:nvSpPr>
          <p:cNvPr id="103" name="Text 98"/>
          <p:cNvSpPr txBox="1"/>
          <p:nvPr/>
        </p:nvSpPr>
        <p:spPr>
          <a:xfrm>
            <a:off x="12096598" y="8029346"/>
            <a:ext cx="3048610" cy="181051"/>
          </a:xfrm>
          <a:prstGeom prst="rect">
            <a:avLst/>
          </a:prstGeom>
          <a:noFill/>
          <a:ln/>
        </p:spPr>
        <p:txBody>
          <a:bodyPr wrap="none" lIns="0" tIns="0" rIns="0" bIns="0" rtlCol="0" anchor="ctr"/>
          <a:lstStyle/>
          <a:p>
            <a:pPr algn="l" indent="0" marL="0">
              <a:buNone/>
            </a:pPr>
            <a:r>
              <a:rPr lang="en-US" sz="1125" dirty="0">
                <a:solidFill>
                  <a:srgbClr val="34D399"/>
                </a:solidFill>
                <a:latin typeface="Inter" pitchFamily="34" charset="0"/>
                <a:ea typeface="Inter" pitchFamily="34" charset="-122"/>
                <a:cs typeface="Inter" pitchFamily="34" charset="-120"/>
              </a:rPr>
              <a:t>B</a:t>
            </a:r>
            <a:endParaRPr lang="en-US" sz="1125" dirty="0"/>
          </a:p>
        </p:txBody>
      </p:sp>
      <p:sp>
        <p:nvSpPr>
          <p:cNvPr id="104" name="Text 99"/>
          <p:cNvSpPr txBox="1"/>
          <p:nvPr/>
        </p:nvSpPr>
        <p:spPr>
          <a:xfrm>
            <a:off x="1028700" y="8731606"/>
            <a:ext cx="1133856" cy="152705"/>
          </a:xfrm>
          <a:prstGeom prst="rect">
            <a:avLst/>
          </a:prstGeom>
          <a:noFill/>
          <a:ln/>
        </p:spPr>
        <p:txBody>
          <a:bodyPr wrap="none" lIns="0" tIns="0" rIns="0" bIns="0" rtlCol="0" anchor="ctr"/>
          <a:lstStyle/>
          <a:p>
            <a:pPr algn="l" indent="0" marL="0">
              <a:buNone/>
            </a:pPr>
            <a:r>
              <a:rPr lang="en-US" sz="900" spc="198" kern="0" dirty="0">
                <a:solidFill>
                  <a:srgbClr val="A78BFA"/>
                </a:solidFill>
                <a:latin typeface="JetBrains Mono" pitchFamily="34" charset="0"/>
                <a:ea typeface="JetBrains Mono" pitchFamily="34" charset="-122"/>
                <a:cs typeface="JetBrains Mono" pitchFamily="34" charset="-120"/>
              </a:rPr>
              <a:t>KEY TAKEAWAY</a:t>
            </a:r>
            <a:endParaRPr lang="en-US" sz="900" dirty="0"/>
          </a:p>
        </p:txBody>
      </p:sp>
      <p:pic>
        <p:nvPicPr>
          <p:cNvPr id="105" name="Image 2" descr="gen-dedup-642cea137e417ddededf78a9e7c0f521.png">    </p:cNvPr>
          <p:cNvPicPr>
            <a:picLocks noChangeAspect="1"/>
          </p:cNvPicPr>
          <p:nvPr/>
        </p:nvPicPr>
        <p:blipFill>
          <a:blip r:embed="rId3"/>
          <a:srcRect l="-2083" r="-2083" t="0" b="0"/>
          <a:stretch/>
        </p:blipFill>
        <p:spPr>
          <a:xfrm>
            <a:off x="2325319" y="8802929"/>
            <a:ext cx="228600" cy="9144"/>
          </a:xfrm>
          <a:prstGeom prst="rect">
            <a:avLst/>
          </a:prstGeom>
        </p:spPr>
      </p:pic>
      <p:sp>
        <p:nvSpPr>
          <p:cNvPr id="106" name="Text 100"/>
          <p:cNvSpPr txBox="1"/>
          <p:nvPr/>
        </p:nvSpPr>
        <p:spPr>
          <a:xfrm>
            <a:off x="2724912" y="8667598"/>
            <a:ext cx="10649102" cy="286207"/>
          </a:xfrm>
          <a:prstGeom prst="rect">
            <a:avLst/>
          </a:prstGeom>
          <a:noFill/>
          <a:ln/>
        </p:spPr>
        <p:txBody>
          <a:bodyPr wrap="none" lIns="0" tIns="0" rIns="0" bIns="0" rtlCol="0" anchor="ctr"/>
          <a:lstStyle/>
          <a:p>
            <a:pPr algn="l" indent="0" marL="0">
              <a:buNone/>
            </a:pPr>
            <a:r>
              <a:rPr lang="en-US" sz="1575" dirty="0">
                <a:solidFill>
                  <a:srgbClr val="E6EDF7"/>
                </a:solidFill>
                <a:latin typeface="IBM Plex Sans KR" pitchFamily="34" charset="0"/>
                <a:ea typeface="IBM Plex Sans KR" pitchFamily="34" charset="-122"/>
                <a:cs typeface="IBM Plex Sans KR" pitchFamily="34" charset="-120"/>
              </a:rPr>
              <a:t>BM을 1.0 nm로 줄이면 Rc는 +46 %, 2.0 nm로 늘리면 +11 % — 1.5 nm가 Rs·Rc 양쪽에서 Δ &lt; 12 %를 동시에 유지한다.</a:t>
            </a:r>
            <a:endParaRPr lang="en-US" sz="1575" dirty="0"/>
          </a:p>
        </p:txBody>
      </p:sp>
      <p:sp>
        <p:nvSpPr>
          <p:cNvPr id="107" name="Text 101"/>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13620902" y="1143000"/>
            <a:ext cx="3924605" cy="1257300"/>
          </a:xfrm>
          <a:prstGeom prst="rect">
            <a:avLst/>
          </a:prstGeom>
          <a:solidFill>
            <a:srgbClr val="0F1525"/>
          </a:solidFill>
          <a:ln w="12700">
            <a:solidFill>
              <a:srgbClr val="FFFFFF">
                <a:alpha val="6000"/>
              </a:srgbClr>
            </a:solidFill>
            <a:prstDash val="solid"/>
          </a:ln>
        </p:spPr>
      </p:sp>
      <p:sp>
        <p:nvSpPr>
          <p:cNvPr id="4" name="Shape 1"/>
          <p:cNvSpPr/>
          <p:nvPr/>
        </p:nvSpPr>
        <p:spPr>
          <a:xfrm>
            <a:off x="761695" y="2667305"/>
            <a:ext cx="10306202" cy="5734202"/>
          </a:xfrm>
          <a:prstGeom prst="rect">
            <a:avLst/>
          </a:prstGeom>
          <a:solidFill>
            <a:srgbClr val="131A2D"/>
          </a:solidFill>
          <a:ln w="12700">
            <a:solidFill>
              <a:srgbClr val="00D4FF">
                <a:alpha val="18000"/>
              </a:srgbClr>
            </a:solidFill>
            <a:prstDash val="solid"/>
          </a:ln>
        </p:spPr>
      </p:sp>
      <p:sp>
        <p:nvSpPr>
          <p:cNvPr id="5" name="Shape 2"/>
          <p:cNvSpPr/>
          <p:nvPr/>
        </p:nvSpPr>
        <p:spPr>
          <a:xfrm>
            <a:off x="11430000" y="2667305"/>
            <a:ext cx="6115507" cy="2686507"/>
          </a:xfrm>
          <a:prstGeom prst="rect">
            <a:avLst/>
          </a:prstGeom>
          <a:solidFill>
            <a:srgbClr val="131A2D"/>
          </a:solidFill>
          <a:ln w="12700">
            <a:solidFill>
              <a:srgbClr val="00D4FF">
                <a:alpha val="18000"/>
              </a:srgbClr>
            </a:solidFill>
            <a:prstDash val="solid"/>
          </a:ln>
        </p:spPr>
      </p:sp>
      <p:sp>
        <p:nvSpPr>
          <p:cNvPr id="6" name="Shape 3"/>
          <p:cNvSpPr/>
          <p:nvPr/>
        </p:nvSpPr>
        <p:spPr>
          <a:xfrm>
            <a:off x="11430000" y="5524805"/>
            <a:ext cx="6115507" cy="2876702"/>
          </a:xfrm>
          <a:prstGeom prst="rect">
            <a:avLst/>
          </a:prstGeom>
          <a:solidFill>
            <a:srgbClr val="0F1525"/>
          </a:solidFill>
          <a:ln w="12700">
            <a:solidFill>
              <a:srgbClr val="FFFFFF">
                <a:alpha val="6000"/>
              </a:srgbClr>
            </a:solidFill>
            <a:prstDash val="solid"/>
          </a:ln>
        </p:spPr>
      </p:sp>
      <p:pic>
        <p:nvPicPr>
          <p:cNvPr id="7" name="Image 0" descr="gen-dedup-5fad398c7b926380d57098887bed2d43.png">    </p:cNvPr>
          <p:cNvPicPr>
            <a:picLocks noChangeAspect="1"/>
          </p:cNvPicPr>
          <p:nvPr/>
        </p:nvPicPr>
        <p:blipFill>
          <a:blip r:embed="rId1"/>
          <a:srcRect l="0" r="0" t="-30" b="-30"/>
          <a:stretch/>
        </p:blipFill>
        <p:spPr>
          <a:xfrm>
            <a:off x="761695" y="8667598"/>
            <a:ext cx="16792956" cy="743407"/>
          </a:xfrm>
          <a:prstGeom prst="rect">
            <a:avLst/>
          </a:prstGeom>
        </p:spPr>
      </p:pic>
      <p:pic>
        <p:nvPicPr>
          <p:cNvPr id="8" name="Image 1" descr="gen-dedup-254703a04c84b6a855582b8f89c36dca.png">    </p:cNvPr>
          <p:cNvPicPr>
            <a:picLocks noChangeAspect="1"/>
          </p:cNvPicPr>
          <p:nvPr/>
        </p:nvPicPr>
        <p:blipFill>
          <a:blip r:embed="rId2"/>
          <a:srcRect l="-2083" r="-2083" t="0" b="0"/>
          <a:stretch/>
        </p:blipFill>
        <p:spPr>
          <a:xfrm>
            <a:off x="761695" y="857707"/>
            <a:ext cx="16763695" cy="9144"/>
          </a:xfrm>
          <a:prstGeom prst="rect">
            <a:avLst/>
          </a:prstGeom>
        </p:spPr>
      </p:pic>
      <p:pic>
        <p:nvPicPr>
          <p:cNvPr id="9" name="Image 2" descr="gen-dedup-ba034d92f536e14ab4017e5060b798e0.jpg">    </p:cNvPr>
          <p:cNvPicPr>
            <a:picLocks noChangeAspect="1"/>
          </p:cNvPicPr>
          <p:nvPr/>
        </p:nvPicPr>
        <p:blipFill>
          <a:blip r:embed="rId3"/>
          <a:stretch>
            <a:fillRect/>
          </a:stretch>
        </p:blipFill>
        <p:spPr>
          <a:xfrm>
            <a:off x="1333195" y="3238805"/>
            <a:ext cx="8382305" cy="4572000"/>
          </a:xfrm>
          <a:prstGeom prst="rect">
            <a:avLst/>
          </a:prstGeom>
        </p:spPr>
      </p:pic>
      <p:pic>
        <p:nvPicPr>
          <p:cNvPr id="10" name="Image 3" descr="gen-dedup-ebe07383c022d324048737ef8188009c.png">    </p:cNvPr>
          <p:cNvPicPr>
            <a:picLocks noChangeAspect="1"/>
          </p:cNvPicPr>
          <p:nvPr/>
        </p:nvPicPr>
        <p:blipFill>
          <a:blip r:embed="rId4"/>
          <a:srcRect l="0" r="0" t="-390" b="-390"/>
          <a:stretch/>
        </p:blipFill>
        <p:spPr>
          <a:xfrm>
            <a:off x="1904695" y="3619195"/>
            <a:ext cx="1524305" cy="19202"/>
          </a:xfrm>
          <a:prstGeom prst="rect">
            <a:avLst/>
          </a:prstGeom>
        </p:spPr>
      </p:pic>
      <p:pic>
        <p:nvPicPr>
          <p:cNvPr id="11" name="Image 4" descr="gen-dedup-4668c87cb4d528a85c0cc2a3941733aa.png">    </p:cNvPr>
          <p:cNvPicPr>
            <a:picLocks noChangeAspect="1"/>
          </p:cNvPicPr>
          <p:nvPr/>
        </p:nvPicPr>
        <p:blipFill>
          <a:blip r:embed="rId5"/>
          <a:srcRect l="0" r="0" t="-412" b="-412"/>
          <a:stretch/>
        </p:blipFill>
        <p:spPr>
          <a:xfrm>
            <a:off x="4953305" y="5333695"/>
            <a:ext cx="1333195" cy="19202"/>
          </a:xfrm>
          <a:prstGeom prst="rect">
            <a:avLst/>
          </a:prstGeom>
        </p:spPr>
      </p:pic>
      <p:pic>
        <p:nvPicPr>
          <p:cNvPr id="12" name="Image 5" descr="gen-dedup-352311d00de5634f722dc35715eaec83.png">    </p:cNvPr>
          <p:cNvPicPr>
            <a:picLocks noChangeAspect="1"/>
          </p:cNvPicPr>
          <p:nvPr/>
        </p:nvPicPr>
        <p:blipFill>
          <a:blip r:embed="rId6"/>
          <a:srcRect l="-400" r="-400" t="0" b="0"/>
          <a:stretch/>
        </p:blipFill>
        <p:spPr>
          <a:xfrm>
            <a:off x="8382305" y="4000500"/>
            <a:ext cx="19202" cy="1143000"/>
          </a:xfrm>
          <a:prstGeom prst="rect">
            <a:avLst/>
          </a:prstGeom>
        </p:spPr>
      </p:pic>
      <p:pic>
        <p:nvPicPr>
          <p:cNvPr id="13" name="Image 6" descr="gen-dedup-72841994bdcbd486fb412c62cda3a148.png">    </p:cNvPr>
          <p:cNvPicPr>
            <a:picLocks noChangeAspect="1"/>
          </p:cNvPicPr>
          <p:nvPr/>
        </p:nvPicPr>
        <p:blipFill>
          <a:blip r:embed="rId7"/>
          <a:srcRect l="0" r="0" t="-384" b="-384"/>
          <a:stretch/>
        </p:blipFill>
        <p:spPr>
          <a:xfrm>
            <a:off x="3619195" y="5333695"/>
            <a:ext cx="952805" cy="19202"/>
          </a:xfrm>
          <a:prstGeom prst="rect">
            <a:avLst/>
          </a:prstGeom>
        </p:spPr>
      </p:pic>
      <p:sp>
        <p:nvSpPr>
          <p:cNvPr id="14" name="Text 4"/>
          <p:cNvSpPr txBox="1"/>
          <p:nvPr/>
        </p:nvSpPr>
        <p:spPr>
          <a:xfrm>
            <a:off x="1904695" y="3372307"/>
            <a:ext cx="1524305" cy="152705"/>
          </a:xfrm>
          <a:prstGeom prst="rect">
            <a:avLst/>
          </a:prstGeom>
          <a:noFill/>
          <a:ln/>
        </p:spPr>
        <p:txBody>
          <a:bodyPr wrap="none" lIns="0" tIns="0" rIns="0" bIns="0" rtlCol="0" anchor="ctr"/>
          <a:lstStyle/>
          <a:p>
            <a:pPr algn="l" indent="0" marL="0">
              <a:buNone/>
            </a:pPr>
            <a:r>
              <a:rPr lang="en-US" sz="900" spc="144" kern="0" dirty="0">
                <a:solidFill>
                  <a:srgbClr val="22D3EE"/>
                </a:solidFill>
                <a:latin typeface="JetBrains Mono" pitchFamily="34" charset="0"/>
                <a:ea typeface="JetBrains Mono" pitchFamily="34" charset="-122"/>
                <a:cs typeface="JetBrains Mono" pitchFamily="34" charset="-120"/>
              </a:rPr>
              <a:t>M2 Cu LINE</a:t>
            </a:r>
            <a:endParaRPr lang="en-US" sz="900" dirty="0"/>
          </a:p>
        </p:txBody>
      </p:sp>
      <p:sp>
        <p:nvSpPr>
          <p:cNvPr id="15" name="Text 5"/>
          <p:cNvSpPr txBox="1"/>
          <p:nvPr/>
        </p:nvSpPr>
        <p:spPr>
          <a:xfrm>
            <a:off x="4953305" y="5467198"/>
            <a:ext cx="1905610" cy="152705"/>
          </a:xfrm>
          <a:prstGeom prst="rect">
            <a:avLst/>
          </a:prstGeom>
          <a:noFill/>
          <a:ln/>
        </p:spPr>
        <p:txBody>
          <a:bodyPr wrap="none" lIns="0" tIns="0" rIns="0" bIns="0" rtlCol="0" anchor="ctr"/>
          <a:lstStyle/>
          <a:p>
            <a:pPr algn="l" indent="0" marL="0">
              <a:buNone/>
            </a:pPr>
            <a:r>
              <a:rPr lang="en-US" sz="900" spc="144" kern="0" dirty="0">
                <a:solidFill>
                  <a:srgbClr val="A78BFA"/>
                </a:solidFill>
                <a:latin typeface="JetBrains Mono" pitchFamily="34" charset="0"/>
                <a:ea typeface="JetBrains Mono" pitchFamily="34" charset="-122"/>
                <a:cs typeface="JetBrains Mono" pitchFamily="34" charset="-120"/>
              </a:rPr>
              <a:t>VIA M1 → M2</a:t>
            </a:r>
            <a:endParaRPr lang="en-US" sz="900" dirty="0"/>
          </a:p>
        </p:txBody>
      </p:sp>
      <p:sp>
        <p:nvSpPr>
          <p:cNvPr id="16" name="Shape 6"/>
          <p:cNvSpPr/>
          <p:nvPr/>
        </p:nvSpPr>
        <p:spPr>
          <a:xfrm>
            <a:off x="7048195" y="5143500"/>
            <a:ext cx="1828800" cy="342900"/>
          </a:xfrm>
          <a:prstGeom prst="rect">
            <a:avLst/>
          </a:prstGeom>
          <a:solidFill>
            <a:srgbClr val="080C18">
              <a:alpha val="78000"/>
            </a:srgbClr>
          </a:solidFill>
          <a:ln w="12700">
            <a:solidFill>
              <a:srgbClr val="F59E0B">
                <a:alpha val="55000"/>
              </a:srgbClr>
            </a:solidFill>
            <a:prstDash val="solid"/>
          </a:ln>
        </p:spPr>
      </p:sp>
      <p:sp>
        <p:nvSpPr>
          <p:cNvPr id="17" name="Shape 7"/>
          <p:cNvSpPr/>
          <p:nvPr/>
        </p:nvSpPr>
        <p:spPr>
          <a:xfrm>
            <a:off x="2857500" y="5410505"/>
            <a:ext cx="1923898" cy="342900"/>
          </a:xfrm>
          <a:prstGeom prst="rect">
            <a:avLst/>
          </a:prstGeom>
          <a:solidFill>
            <a:srgbClr val="080C18">
              <a:alpha val="78000"/>
            </a:srgbClr>
          </a:solidFill>
          <a:ln w="12700">
            <a:solidFill>
              <a:srgbClr val="34D399">
                <a:alpha val="55000"/>
              </a:srgbClr>
            </a:solidFill>
            <a:prstDash val="solid"/>
          </a:ln>
        </p:spPr>
      </p:sp>
      <p:sp>
        <p:nvSpPr>
          <p:cNvPr id="18" name="Shape 8"/>
          <p:cNvSpPr/>
          <p:nvPr/>
        </p:nvSpPr>
        <p:spPr>
          <a:xfrm>
            <a:off x="761695" y="500177"/>
            <a:ext cx="75895" cy="75895"/>
          </a:xfrm>
          <a:prstGeom prst="rect">
            <a:avLst/>
          </a:prstGeom>
          <a:solidFill>
            <a:srgbClr val="22D3EE"/>
          </a:solidFill>
          <a:ln w="12700">
            <a:solidFill>
              <a:srgbClr val="FFFFFF">
                <a:alpha val="0"/>
              </a:srgbClr>
            </a:solidFill>
            <a:prstDash val="solid"/>
          </a:ln>
          <a:effectLst>
            <a:outerShdw sx="100000" sy="100000" kx="0" ky="0" algn="bl" rotWithShape="0" blurRad="114300" dist="12700" dir="16200000">
              <a:srgbClr val="22d3ee">
                <a:alpha val="100000"/>
              </a:srgbClr>
            </a:outerShdw>
          </a:effectLst>
        </p:spPr>
      </p:sp>
      <p:sp>
        <p:nvSpPr>
          <p:cNvPr id="19" name="Text 9"/>
          <p:cNvSpPr txBox="1"/>
          <p:nvPr/>
        </p:nvSpPr>
        <p:spPr>
          <a:xfrm>
            <a:off x="952805" y="457200"/>
            <a:ext cx="3363163" cy="162763"/>
          </a:xfrm>
          <a:prstGeom prst="rect">
            <a:avLst/>
          </a:prstGeom>
          <a:noFill/>
          <a:ln/>
        </p:spPr>
        <p:txBody>
          <a:bodyPr wrap="none" lIns="0" tIns="0" rIns="0" bIns="0" rtlCol="0" anchor="ctr"/>
          <a:lstStyle/>
          <a:p>
            <a:pPr algn="l" indent="0" marL="0">
              <a:buNone/>
            </a:pPr>
            <a:r>
              <a:rPr lang="en-US" sz="1050" spc="294" kern="0" dirty="0">
                <a:solidFill>
                  <a:srgbClr val="22D3EE"/>
                </a:solidFill>
                <a:latin typeface="Inter" pitchFamily="34" charset="0"/>
                <a:ea typeface="Inter" pitchFamily="34" charset="-122"/>
                <a:cs typeface="Inter" pitchFamily="34" charset="-120"/>
              </a:rPr>
              <a:t>SLIDE 07 · SEM Cross-Section</a:t>
            </a:r>
            <a:endParaRPr lang="en-US" sz="1050" dirty="0"/>
          </a:p>
        </p:txBody>
      </p:sp>
      <p:sp>
        <p:nvSpPr>
          <p:cNvPr id="20" name="Text 10"/>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DAMASCENE · W04 REFERENCE</a:t>
            </a:r>
            <a:endParaRPr lang="en-US" sz="1200" dirty="0"/>
          </a:p>
        </p:txBody>
      </p:sp>
      <p:sp>
        <p:nvSpPr>
          <p:cNvPr id="21" name="Text 11"/>
          <p:cNvSpPr txBox="1"/>
          <p:nvPr/>
        </p:nvSpPr>
        <p:spPr>
          <a:xfrm>
            <a:off x="761695" y="1143000"/>
            <a:ext cx="12382805" cy="448056"/>
          </a:xfrm>
          <a:prstGeom prst="rect">
            <a:avLst/>
          </a:prstGeom>
          <a:noFill/>
          <a:ln/>
        </p:spPr>
        <p:txBody>
          <a:bodyPr wrap="none" lIns="0" tIns="0" rIns="0" bIns="0" rtlCol="0" anchor="ctr"/>
          <a:lstStyle/>
          <a:p>
            <a:pPr algn="l" indent="0" marL="0">
              <a:buNone/>
            </a:pPr>
            <a:r>
              <a:rPr lang="en-US" sz="3150" b="1" spc="-31" kern="0" dirty="0">
                <a:solidFill>
                  <a:srgbClr val="E6EDF7"/>
                </a:solidFill>
                <a:latin typeface="Inter" pitchFamily="34" charset="0"/>
                <a:ea typeface="Inter" pitchFamily="34" charset="-122"/>
                <a:cs typeface="Inter" pitchFamily="34" charset="-120"/>
              </a:rPr>
              <a:t>SEM 단면 · damascene 적층 구조</a:t>
            </a:r>
            <a:endParaRPr lang="en-US" sz="3150" dirty="0"/>
          </a:p>
        </p:txBody>
      </p:sp>
      <p:sp>
        <p:nvSpPr>
          <p:cNvPr id="22" name="Text 12"/>
          <p:cNvSpPr txBox="1"/>
          <p:nvPr/>
        </p:nvSpPr>
        <p:spPr>
          <a:xfrm>
            <a:off x="761695" y="1716329"/>
            <a:ext cx="12382805"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W04(1.5 nm BM) 기준 FIB-prepared SEM 단면 — Cu line / via / SiCOH 사이의 적층과 barrier 형태 확인.</a:t>
            </a:r>
            <a:endParaRPr lang="en-US" sz="1500" dirty="0"/>
          </a:p>
        </p:txBody>
      </p:sp>
      <p:sp>
        <p:nvSpPr>
          <p:cNvPr id="23" name="Text 13"/>
          <p:cNvSpPr txBox="1"/>
          <p:nvPr/>
        </p:nvSpPr>
        <p:spPr>
          <a:xfrm>
            <a:off x="13811098" y="1314907"/>
            <a:ext cx="3525012"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SOURCE</a:t>
            </a:r>
            <a:endParaRPr lang="en-US" sz="825" dirty="0"/>
          </a:p>
        </p:txBody>
      </p:sp>
      <p:sp>
        <p:nvSpPr>
          <p:cNvPr id="24" name="Text 14"/>
          <p:cNvSpPr txBox="1"/>
          <p:nvPr/>
        </p:nvSpPr>
        <p:spPr>
          <a:xfrm>
            <a:off x="13811098" y="1509674"/>
            <a:ext cx="3525012" cy="415138"/>
          </a:xfrm>
          <a:prstGeom prst="rect">
            <a:avLst/>
          </a:prstGeom>
          <a:noFill/>
          <a:ln/>
        </p:spPr>
        <p:txBody>
          <a:bodyPr wrap="square" lIns="0" tIns="0" rIns="0" bIns="0" rtlCol="0" anchor="t"/>
          <a:lstStyle/>
          <a:p>
            <a:pPr algn="l" indent="0" marL="0">
              <a:lnSpc>
                <a:spcPts val="1575"/>
              </a:lnSpc>
              <a:buNone/>
            </a:pPr>
            <a:r>
              <a:rPr lang="en-US" sz="1125" dirty="0">
                <a:solidFill>
                  <a:srgbClr val="8B95A8"/>
                </a:solidFill>
                <a:latin typeface="IBM Plex Sans KR" pitchFamily="34" charset="0"/>
                <a:ea typeface="IBM Plex Sans KR" pitchFamily="34" charset="-122"/>
                <a:cs typeface="IBM Plex Sans KR" pitchFamily="34" charset="-120"/>
              </a:rPr>
              <a:t>Semiconductor Digest — “Scaling the BEOL”</a:t>
            </a:r>
            <a:pPr algn="l" indent="0" marL="0">
              <a:lnSpc>
                <a:spcPts val="1575"/>
              </a:lnSpc>
              <a:buNone/>
            </a:pPr>
            <a:endParaRPr lang="en-US" sz="1125" dirty="0"/>
          </a:p>
          <a:p>
            <a:pPr algn="l" indent="0" marL="0">
              <a:lnSpc>
                <a:spcPts val="1575"/>
              </a:lnSpc>
              <a:buNone/>
            </a:pPr>
            <a:r>
              <a:rPr lang="en-US" sz="1125" dirty="0">
                <a:solidFill>
                  <a:srgbClr val="8B95A8"/>
                </a:solidFill>
                <a:latin typeface="IBM Plex Sans KR" pitchFamily="34" charset="0"/>
                <a:ea typeface="IBM Plex Sans KR" pitchFamily="34" charset="-122"/>
                <a:cs typeface="IBM Plex Sans KR" pitchFamily="34" charset="-120"/>
              </a:rPr>
              <a:t>3D InCites — copper dual damascene</a:t>
            </a:r>
            <a:endParaRPr lang="en-US" sz="1125" dirty="0"/>
          </a:p>
        </p:txBody>
      </p:sp>
      <p:sp>
        <p:nvSpPr>
          <p:cNvPr id="25" name="Text 15"/>
          <p:cNvSpPr txBox="1"/>
          <p:nvPr/>
        </p:nvSpPr>
        <p:spPr>
          <a:xfrm>
            <a:off x="7162495" y="5219395"/>
            <a:ext cx="1619402" cy="162763"/>
          </a:xfrm>
          <a:prstGeom prst="rect">
            <a:avLst/>
          </a:prstGeom>
          <a:noFill/>
          <a:ln/>
        </p:spPr>
        <p:txBody>
          <a:bodyPr wrap="none" lIns="0" tIns="0" rIns="0" bIns="0" rtlCol="0" anchor="ctr"/>
          <a:lstStyle/>
          <a:p>
            <a:pPr algn="l" indent="0" marL="0">
              <a:buNone/>
            </a:pPr>
            <a:r>
              <a:rPr lang="en-US" sz="975" spc="176" kern="0" dirty="0">
                <a:solidFill>
                  <a:srgbClr val="F59E0B"/>
                </a:solidFill>
                <a:latin typeface="JetBrains Mono" pitchFamily="34" charset="0"/>
                <a:ea typeface="JetBrains Mono" pitchFamily="34" charset="-122"/>
                <a:cs typeface="JetBrains Mono" pitchFamily="34" charset="-120"/>
              </a:rPr>
              <a:t>low-k SiCOH</a:t>
            </a:r>
            <a:endParaRPr lang="en-US" sz="975" dirty="0"/>
          </a:p>
        </p:txBody>
      </p:sp>
      <p:sp>
        <p:nvSpPr>
          <p:cNvPr id="26" name="Text 16"/>
          <p:cNvSpPr txBox="1"/>
          <p:nvPr/>
        </p:nvSpPr>
        <p:spPr>
          <a:xfrm>
            <a:off x="2971800" y="5486400"/>
            <a:ext cx="1714500" cy="162763"/>
          </a:xfrm>
          <a:prstGeom prst="rect">
            <a:avLst/>
          </a:prstGeom>
          <a:noFill/>
          <a:ln/>
        </p:spPr>
        <p:txBody>
          <a:bodyPr wrap="none" lIns="0" tIns="0" rIns="0" bIns="0" rtlCol="0" anchor="ctr"/>
          <a:lstStyle/>
          <a:p>
            <a:pPr algn="l" indent="0" marL="0">
              <a:buNone/>
            </a:pPr>
            <a:r>
              <a:rPr lang="en-US" sz="975" spc="156" kern="0" dirty="0">
                <a:solidFill>
                  <a:srgbClr val="34D399"/>
                </a:solidFill>
                <a:latin typeface="JetBrains Mono" pitchFamily="34" charset="0"/>
                <a:ea typeface="JetBrains Mono" pitchFamily="34" charset="-122"/>
                <a:cs typeface="JetBrains Mono" pitchFamily="34" charset="-120"/>
              </a:rPr>
              <a:t>ALD BM 1.5 nm</a:t>
            </a:r>
            <a:endParaRPr lang="en-US" sz="975" dirty="0"/>
          </a:p>
        </p:txBody>
      </p:sp>
      <p:sp>
        <p:nvSpPr>
          <p:cNvPr id="27" name="Text 17"/>
          <p:cNvSpPr txBox="1"/>
          <p:nvPr/>
        </p:nvSpPr>
        <p:spPr>
          <a:xfrm>
            <a:off x="11716207" y="2857500"/>
            <a:ext cx="5715000"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OBSERVATIONS</a:t>
            </a:r>
            <a:endParaRPr lang="en-US" sz="825" dirty="0"/>
          </a:p>
        </p:txBody>
      </p:sp>
      <p:pic>
        <p:nvPicPr>
          <p:cNvPr id="28" name="Image 7" descr="gen-dedup-ff8e1c5f1c593510a6871e7d4b405f35.png">    </p:cNvPr>
          <p:cNvPicPr>
            <a:picLocks noChangeAspect="1"/>
          </p:cNvPicPr>
          <p:nvPr/>
        </p:nvPicPr>
        <p:blipFill>
          <a:blip r:embed="rId8"/>
          <a:srcRect l="0" r="0" t="-353" b="-353"/>
          <a:stretch/>
        </p:blipFill>
        <p:spPr>
          <a:xfrm>
            <a:off x="11716207" y="3200400"/>
            <a:ext cx="28346" cy="304495"/>
          </a:xfrm>
          <a:prstGeom prst="rect">
            <a:avLst/>
          </a:prstGeom>
        </p:spPr>
      </p:pic>
      <p:sp>
        <p:nvSpPr>
          <p:cNvPr id="29" name="Text 18"/>
          <p:cNvSpPr txBox="1"/>
          <p:nvPr/>
        </p:nvSpPr>
        <p:spPr>
          <a:xfrm>
            <a:off x="11878056" y="3200400"/>
            <a:ext cx="2371954" cy="200254"/>
          </a:xfrm>
          <a:prstGeom prst="rect">
            <a:avLst/>
          </a:prstGeom>
          <a:noFill/>
          <a:ln/>
        </p:spPr>
        <p:txBody>
          <a:bodyPr wrap="none" lIns="0" tIns="0" rIns="0" bIns="0" rtlCol="0" anchor="ctr"/>
          <a:lstStyle/>
          <a:p>
            <a:pPr algn="l" indent="0" marL="0">
              <a:buNone/>
            </a:pPr>
            <a:r>
              <a:rPr lang="en-US" sz="1350" b="1" dirty="0">
                <a:solidFill>
                  <a:srgbClr val="E6EDF7"/>
                </a:solidFill>
                <a:latin typeface="Inter" pitchFamily="34" charset="0"/>
                <a:ea typeface="Inter" pitchFamily="34" charset="-122"/>
                <a:cs typeface="Inter" pitchFamily="34" charset="-120"/>
              </a:rPr>
              <a:t>Cu line profile</a:t>
            </a:r>
            <a:endParaRPr lang="en-US" sz="1350" dirty="0"/>
          </a:p>
        </p:txBody>
      </p:sp>
      <p:sp>
        <p:nvSpPr>
          <p:cNvPr id="30" name="Text 19"/>
          <p:cNvSpPr txBox="1"/>
          <p:nvPr/>
        </p:nvSpPr>
        <p:spPr>
          <a:xfrm>
            <a:off x="11878056" y="3438144"/>
            <a:ext cx="2822753"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sidewall 경사 약 87–88°, seam 없음</a:t>
            </a:r>
            <a:endParaRPr lang="en-US" sz="1200" dirty="0"/>
          </a:p>
        </p:txBody>
      </p:sp>
      <p:pic>
        <p:nvPicPr>
          <p:cNvPr id="31" name="Image 8" descr="gen-dedup-0b1a60845119d89d0b5dd14f881af2ff.png">    </p:cNvPr>
          <p:cNvPicPr>
            <a:picLocks noChangeAspect="1"/>
          </p:cNvPicPr>
          <p:nvPr/>
        </p:nvPicPr>
        <p:blipFill>
          <a:blip r:embed="rId9"/>
          <a:srcRect l="0" r="0" t="-353" b="-353"/>
          <a:stretch/>
        </p:blipFill>
        <p:spPr>
          <a:xfrm>
            <a:off x="11716207" y="3810305"/>
            <a:ext cx="28346" cy="304495"/>
          </a:xfrm>
          <a:prstGeom prst="rect">
            <a:avLst/>
          </a:prstGeom>
        </p:spPr>
      </p:pic>
      <p:sp>
        <p:nvSpPr>
          <p:cNvPr id="32" name="Text 20"/>
          <p:cNvSpPr txBox="1"/>
          <p:nvPr/>
        </p:nvSpPr>
        <p:spPr>
          <a:xfrm>
            <a:off x="11878056" y="3810305"/>
            <a:ext cx="2048256" cy="200254"/>
          </a:xfrm>
          <a:prstGeom prst="rect">
            <a:avLst/>
          </a:prstGeom>
          <a:noFill/>
          <a:ln/>
        </p:spPr>
        <p:txBody>
          <a:bodyPr wrap="none" lIns="0" tIns="0" rIns="0" bIns="0" rtlCol="0" anchor="ctr"/>
          <a:lstStyle/>
          <a:p>
            <a:pPr algn="l" indent="0" marL="0">
              <a:buNone/>
            </a:pPr>
            <a:r>
              <a:rPr lang="en-US" sz="1350" b="1" dirty="0">
                <a:solidFill>
                  <a:srgbClr val="E6EDF7"/>
                </a:solidFill>
                <a:latin typeface="Inter" pitchFamily="34" charset="0"/>
                <a:ea typeface="Inter" pitchFamily="34" charset="-122"/>
                <a:cs typeface="Inter" pitchFamily="34" charset="-120"/>
              </a:rPr>
              <a:t>Via bottom</a:t>
            </a:r>
            <a:endParaRPr lang="en-US" sz="1350" dirty="0"/>
          </a:p>
        </p:txBody>
      </p:sp>
      <p:sp>
        <p:nvSpPr>
          <p:cNvPr id="33" name="Text 21"/>
          <p:cNvSpPr txBox="1"/>
          <p:nvPr/>
        </p:nvSpPr>
        <p:spPr>
          <a:xfrm>
            <a:off x="11878056" y="4048049"/>
            <a:ext cx="243779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밑면 concave 거의 없음, Rc 우호</a:t>
            </a:r>
            <a:endParaRPr lang="en-US" sz="1200" dirty="0"/>
          </a:p>
        </p:txBody>
      </p:sp>
      <p:pic>
        <p:nvPicPr>
          <p:cNvPr id="34" name="Image 9" descr="gen-dedup-9a6c1354a2aeedb74dcc95603241e6e7.png">    </p:cNvPr>
          <p:cNvPicPr>
            <a:picLocks noChangeAspect="1"/>
          </p:cNvPicPr>
          <p:nvPr/>
        </p:nvPicPr>
        <p:blipFill>
          <a:blip r:embed="rId10"/>
          <a:srcRect l="0" r="0" t="-353" b="-353"/>
          <a:stretch/>
        </p:blipFill>
        <p:spPr>
          <a:xfrm>
            <a:off x="11716207" y="4419295"/>
            <a:ext cx="28346" cy="304495"/>
          </a:xfrm>
          <a:prstGeom prst="rect">
            <a:avLst/>
          </a:prstGeom>
        </p:spPr>
      </p:pic>
      <p:sp>
        <p:nvSpPr>
          <p:cNvPr id="35" name="Text 22"/>
          <p:cNvSpPr txBox="1"/>
          <p:nvPr/>
        </p:nvSpPr>
        <p:spPr>
          <a:xfrm>
            <a:off x="11878056" y="4419295"/>
            <a:ext cx="2334463" cy="200254"/>
          </a:xfrm>
          <a:prstGeom prst="rect">
            <a:avLst/>
          </a:prstGeom>
          <a:noFill/>
          <a:ln/>
        </p:spPr>
        <p:txBody>
          <a:bodyPr wrap="none" lIns="0" tIns="0" rIns="0" bIns="0" rtlCol="0" anchor="ctr"/>
          <a:lstStyle/>
          <a:p>
            <a:pPr algn="l" indent="0" marL="0">
              <a:buNone/>
            </a:pPr>
            <a:r>
              <a:rPr lang="en-US" sz="1350" b="1" dirty="0">
                <a:solidFill>
                  <a:srgbClr val="E6EDF7"/>
                </a:solidFill>
                <a:latin typeface="Inter" pitchFamily="34" charset="0"/>
                <a:ea typeface="Inter" pitchFamily="34" charset="-122"/>
                <a:cs typeface="Inter" pitchFamily="34" charset="-120"/>
              </a:rPr>
              <a:t>Dielectric</a:t>
            </a:r>
            <a:endParaRPr lang="en-US" sz="1350" dirty="0"/>
          </a:p>
        </p:txBody>
      </p:sp>
      <p:sp>
        <p:nvSpPr>
          <p:cNvPr id="36" name="Text 23"/>
          <p:cNvSpPr txBox="1"/>
          <p:nvPr/>
        </p:nvSpPr>
        <p:spPr>
          <a:xfrm>
            <a:off x="11878056" y="4657954"/>
            <a:ext cx="2334463" cy="247802"/>
          </a:xfrm>
          <a:prstGeom prst="rect">
            <a:avLst/>
          </a:prstGeom>
          <a:noFill/>
          <a:ln/>
        </p:spPr>
        <p:txBody>
          <a:bodyPr wrap="squar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plasma damage-free, k ≈ 3.0 유지</a:t>
            </a:r>
            <a:endParaRPr lang="en-US" sz="1200" dirty="0"/>
          </a:p>
        </p:txBody>
      </p:sp>
      <p:sp>
        <p:nvSpPr>
          <p:cNvPr id="37" name="Text 24"/>
          <p:cNvSpPr txBox="1"/>
          <p:nvPr/>
        </p:nvSpPr>
        <p:spPr>
          <a:xfrm>
            <a:off x="11716207" y="5715000"/>
            <a:ext cx="5715000" cy="133502"/>
          </a:xfrm>
          <a:prstGeom prst="rect">
            <a:avLst/>
          </a:prstGeom>
          <a:noFill/>
          <a:ln/>
        </p:spPr>
        <p:txBody>
          <a:bodyPr wrap="none" lIns="0" tIns="0" rIns="0" bIns="0" rtlCol="0" anchor="ctr"/>
          <a:lstStyle/>
          <a:p>
            <a:pPr algn="l" indent="0" marL="0">
              <a:buNone/>
            </a:pPr>
            <a:r>
              <a:rPr lang="en-US" sz="825" spc="149" kern="0" dirty="0">
                <a:solidFill>
                  <a:srgbClr val="5C6478"/>
                </a:solidFill>
                <a:latin typeface="JetBrains Mono" pitchFamily="34" charset="0"/>
                <a:ea typeface="JetBrains Mono" pitchFamily="34" charset="-122"/>
                <a:cs typeface="JetBrains Mono" pitchFamily="34" charset="-120"/>
              </a:rPr>
              <a:t>DELTA OBSERVATIONS · W01 (A) vs W05 (C)</a:t>
            </a:r>
            <a:endParaRPr lang="en-US" sz="825" dirty="0"/>
          </a:p>
        </p:txBody>
      </p:sp>
      <p:sp>
        <p:nvSpPr>
          <p:cNvPr id="38" name="Text 25"/>
          <p:cNvSpPr txBox="1"/>
          <p:nvPr/>
        </p:nvSpPr>
        <p:spPr>
          <a:xfrm>
            <a:off x="11716207" y="6096305"/>
            <a:ext cx="1143000" cy="200254"/>
          </a:xfrm>
          <a:prstGeom prst="rect">
            <a:avLst/>
          </a:prstGeom>
          <a:noFill/>
          <a:ln/>
        </p:spPr>
        <p:txBody>
          <a:bodyPr wrap="none" lIns="0" tIns="0" rIns="0" bIns="0" rtlCol="0" anchor="ctr"/>
          <a:lstStyle/>
          <a:p>
            <a:pPr algn="l" indent="0" marL="0">
              <a:buNone/>
            </a:pPr>
            <a:r>
              <a:rPr lang="en-US" sz="1350" b="1" dirty="0">
                <a:solidFill>
                  <a:srgbClr val="22D3EE"/>
                </a:solidFill>
                <a:latin typeface="Inter" pitchFamily="34" charset="0"/>
                <a:ea typeface="Inter" pitchFamily="34" charset="-122"/>
                <a:cs typeface="Inter" pitchFamily="34" charset="-120"/>
              </a:rPr>
              <a:t>W01 (1.0)</a:t>
            </a:r>
            <a:endParaRPr lang="en-US" sz="1350" dirty="0"/>
          </a:p>
        </p:txBody>
      </p:sp>
      <p:sp>
        <p:nvSpPr>
          <p:cNvPr id="39" name="Text 26"/>
          <p:cNvSpPr txBox="1"/>
          <p:nvPr/>
        </p:nvSpPr>
        <p:spPr>
          <a:xfrm>
            <a:off x="12859207" y="6096305"/>
            <a:ext cx="457200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Cu grain이 보다 fine, BM thin → barrier 결함 민감</a:t>
            </a:r>
            <a:endParaRPr lang="en-US" sz="1200" dirty="0"/>
          </a:p>
        </p:txBody>
      </p:sp>
      <p:sp>
        <p:nvSpPr>
          <p:cNvPr id="40" name="Text 27"/>
          <p:cNvSpPr txBox="1"/>
          <p:nvPr/>
        </p:nvSpPr>
        <p:spPr>
          <a:xfrm>
            <a:off x="11716207" y="6762902"/>
            <a:ext cx="1143000" cy="200254"/>
          </a:xfrm>
          <a:prstGeom prst="rect">
            <a:avLst/>
          </a:prstGeom>
          <a:noFill/>
          <a:ln/>
        </p:spPr>
        <p:txBody>
          <a:bodyPr wrap="none" lIns="0" tIns="0" rIns="0" bIns="0" rtlCol="0" anchor="ctr"/>
          <a:lstStyle/>
          <a:p>
            <a:pPr algn="l" indent="0" marL="0">
              <a:buNone/>
            </a:pPr>
            <a:r>
              <a:rPr lang="en-US" sz="1350" b="1" dirty="0">
                <a:solidFill>
                  <a:srgbClr val="F59E0B"/>
                </a:solidFill>
                <a:latin typeface="Inter" pitchFamily="34" charset="0"/>
                <a:ea typeface="Inter" pitchFamily="34" charset="-122"/>
                <a:cs typeface="Inter" pitchFamily="34" charset="-120"/>
              </a:rPr>
              <a:t>W05 (2.0)</a:t>
            </a:r>
            <a:endParaRPr lang="en-US" sz="1350" dirty="0"/>
          </a:p>
        </p:txBody>
      </p:sp>
      <p:sp>
        <p:nvSpPr>
          <p:cNvPr id="41" name="Text 28"/>
          <p:cNvSpPr txBox="1"/>
          <p:nvPr/>
        </p:nvSpPr>
        <p:spPr>
          <a:xfrm>
            <a:off x="12859207" y="6762902"/>
            <a:ext cx="457200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line CD 평균 작아짐, BM 두께로 seed 두께 손실 관찰</a:t>
            </a:r>
            <a:endParaRPr lang="en-US" sz="1200" dirty="0"/>
          </a:p>
        </p:txBody>
      </p:sp>
      <p:sp>
        <p:nvSpPr>
          <p:cNvPr id="42" name="Text 29"/>
          <p:cNvSpPr txBox="1"/>
          <p:nvPr/>
        </p:nvSpPr>
        <p:spPr>
          <a:xfrm>
            <a:off x="11716207" y="7429500"/>
            <a:ext cx="1143000" cy="200254"/>
          </a:xfrm>
          <a:prstGeom prst="rect">
            <a:avLst/>
          </a:prstGeom>
          <a:noFill/>
          <a:ln/>
        </p:spPr>
        <p:txBody>
          <a:bodyPr wrap="none" lIns="0" tIns="0" rIns="0" bIns="0" rtlCol="0" anchor="ctr"/>
          <a:lstStyle/>
          <a:p>
            <a:pPr algn="l" indent="0" marL="0">
              <a:buNone/>
            </a:pPr>
            <a:r>
              <a:rPr lang="en-US" sz="1350" b="1" dirty="0">
                <a:solidFill>
                  <a:srgbClr val="A78BFA"/>
                </a:solidFill>
                <a:latin typeface="Inter" pitchFamily="34" charset="0"/>
                <a:ea typeface="Inter" pitchFamily="34" charset="-122"/>
                <a:cs typeface="Inter" pitchFamily="34" charset="-120"/>
              </a:rPr>
              <a:t>W04 (1.5)</a:t>
            </a:r>
            <a:endParaRPr lang="en-US" sz="1350" dirty="0"/>
          </a:p>
        </p:txBody>
      </p:sp>
      <p:sp>
        <p:nvSpPr>
          <p:cNvPr id="43" name="Text 30"/>
          <p:cNvSpPr txBox="1"/>
          <p:nvPr/>
        </p:nvSpPr>
        <p:spPr>
          <a:xfrm>
            <a:off x="12859207" y="7429500"/>
            <a:ext cx="4572000" cy="228600"/>
          </a:xfrm>
          <a:prstGeom prst="rect">
            <a:avLst/>
          </a:prstGeom>
          <a:noFill/>
          <a:ln/>
        </p:spPr>
        <p:txBody>
          <a:bodyPr wrap="none" lIns="0" tIns="0" rIns="0" bIns="0" rtlCol="0" anchor="ctr"/>
          <a:lstStyle/>
          <a:p>
            <a:pPr algn="l" indent="0" marL="0">
              <a:buNone/>
            </a:pPr>
            <a:r>
              <a:rPr lang="en-US" sz="1200" dirty="0">
                <a:solidFill>
                  <a:srgbClr val="8B95A8"/>
                </a:solidFill>
                <a:latin typeface="IBM Plex Sans KR" pitchFamily="34" charset="0"/>
                <a:ea typeface="IBM Plex Sans KR" pitchFamily="34" charset="-122"/>
                <a:cs typeface="IBM Plex Sans KR" pitchFamily="34" charset="-120"/>
              </a:rPr>
              <a:t>step coverage 균일, BM/seed 잔여 두께 적절</a:t>
            </a:r>
            <a:endParaRPr lang="en-US" sz="1200" dirty="0"/>
          </a:p>
        </p:txBody>
      </p:sp>
      <p:sp>
        <p:nvSpPr>
          <p:cNvPr id="44" name="Text 31"/>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22D3EE"/>
                </a:solidFill>
                <a:latin typeface="JetBrains Mono" pitchFamily="34" charset="0"/>
                <a:ea typeface="JetBrains Mono" pitchFamily="34" charset="-122"/>
                <a:cs typeface="JetBrains Mono" pitchFamily="34" charset="-120"/>
              </a:rPr>
              <a:t>KEY TAKEAWAY</a:t>
            </a:r>
            <a:endParaRPr lang="en-US" sz="900" dirty="0"/>
          </a:p>
        </p:txBody>
      </p:sp>
      <p:pic>
        <p:nvPicPr>
          <p:cNvPr id="45" name="Image 10" descr="gen-dedup-8d980d668bad90bb12bf24434f109175.png">    </p:cNvPr>
          <p:cNvPicPr>
            <a:picLocks noChangeAspect="1"/>
          </p:cNvPicPr>
          <p:nvPr/>
        </p:nvPicPr>
        <p:blipFill>
          <a:blip r:embed="rId11"/>
          <a:srcRect l="-2083" r="-2083" t="0" b="0"/>
          <a:stretch/>
        </p:blipFill>
        <p:spPr>
          <a:xfrm>
            <a:off x="2325319" y="8904427"/>
            <a:ext cx="228600" cy="9144"/>
          </a:xfrm>
          <a:prstGeom prst="rect">
            <a:avLst/>
          </a:prstGeom>
        </p:spPr>
      </p:pic>
      <p:sp>
        <p:nvSpPr>
          <p:cNvPr id="46" name="Text 32"/>
          <p:cNvSpPr txBox="1"/>
          <p:nvPr/>
        </p:nvSpPr>
        <p:spPr>
          <a:xfrm>
            <a:off x="2724912" y="8762695"/>
            <a:ext cx="9734702"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W04는 step coverage 균일·seam 없음·via bottom concave 거의 없음 — 구조적 이상도 확인되지 않는다.</a:t>
            </a:r>
            <a:endParaRPr lang="en-US" sz="1650" dirty="0"/>
          </a:p>
        </p:txBody>
      </p:sp>
      <p:sp>
        <p:nvSpPr>
          <p:cNvPr id="47" name="Text 33"/>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C18"/>
        </a:solidFill>
      </p:bgPr>
    </p:bg>
    <p:spTree>
      <p:nvGrpSpPr>
        <p:cNvPr id="1" name=""/>
        <p:cNvGrpSpPr/>
        <p:nvPr/>
      </p:nvGrpSpPr>
      <p:grpSpPr>
        <a:xfrm>
          <a:off x="0" y="0"/>
          <a:ext cx="0" cy="0"/>
          <a:chOff x="0" y="0"/>
          <a:chExt cx="0" cy="0"/>
        </a:xfrm>
      </p:grpSpPr>
      <p:pic>
        <p:nvPicPr>
          <p:cNvPr id="3" name="Image 0" descr="gen-dedup-4057b435923a2383456bbfc1fbc0e783.png">    </p:cNvPr>
          <p:cNvPicPr>
            <a:picLocks noChangeAspect="1"/>
          </p:cNvPicPr>
          <p:nvPr/>
        </p:nvPicPr>
        <p:blipFill>
          <a:blip r:embed="rId1"/>
          <a:srcRect l="0" r="0" t="-2083" b="-2083"/>
          <a:stretch/>
        </p:blipFill>
        <p:spPr>
          <a:xfrm>
            <a:off x="761695" y="0"/>
            <a:ext cx="9144" cy="10287000"/>
          </a:xfrm>
          <a:prstGeom prst="rect">
            <a:avLst/>
          </a:prstGeom>
        </p:spPr>
      </p:pic>
      <p:sp>
        <p:nvSpPr>
          <p:cNvPr id="4" name="Shape 0"/>
          <p:cNvSpPr/>
          <p:nvPr/>
        </p:nvSpPr>
        <p:spPr>
          <a:xfrm>
            <a:off x="761695" y="2667305"/>
            <a:ext cx="5352898" cy="4591202"/>
          </a:xfrm>
          <a:prstGeom prst="rect">
            <a:avLst/>
          </a:prstGeom>
          <a:solidFill>
            <a:srgbClr val="131A2D"/>
          </a:solidFill>
          <a:ln w="12700">
            <a:solidFill>
              <a:srgbClr val="22D3EE">
                <a:alpha val="30000"/>
              </a:srgbClr>
            </a:solidFill>
            <a:prstDash val="solid"/>
          </a:ln>
        </p:spPr>
      </p:sp>
      <p:sp>
        <p:nvSpPr>
          <p:cNvPr id="5" name="Shape 1"/>
          <p:cNvSpPr/>
          <p:nvPr/>
        </p:nvSpPr>
        <p:spPr>
          <a:xfrm>
            <a:off x="6476695" y="2667305"/>
            <a:ext cx="5352898" cy="4591202"/>
          </a:xfrm>
          <a:prstGeom prst="rect">
            <a:avLst/>
          </a:prstGeom>
          <a:solidFill>
            <a:srgbClr val="131A2D"/>
          </a:solidFill>
          <a:ln w="12700">
            <a:solidFill>
              <a:srgbClr val="A78BFA">
                <a:alpha val="40000"/>
              </a:srgbClr>
            </a:solidFill>
            <a:prstDash val="solid"/>
          </a:ln>
        </p:spPr>
      </p:sp>
      <p:sp>
        <p:nvSpPr>
          <p:cNvPr id="6" name="Shape 2"/>
          <p:cNvSpPr/>
          <p:nvPr/>
        </p:nvSpPr>
        <p:spPr>
          <a:xfrm>
            <a:off x="12191695" y="2667305"/>
            <a:ext cx="5352898" cy="4591202"/>
          </a:xfrm>
          <a:prstGeom prst="rect">
            <a:avLst/>
          </a:prstGeom>
          <a:solidFill>
            <a:srgbClr val="131A2D"/>
          </a:solidFill>
          <a:ln w="12700">
            <a:solidFill>
              <a:srgbClr val="F59E0B">
                <a:alpha val="30000"/>
              </a:srgbClr>
            </a:solidFill>
            <a:prstDash val="solid"/>
          </a:ln>
        </p:spPr>
      </p:sp>
      <p:sp>
        <p:nvSpPr>
          <p:cNvPr id="7" name="Shape 3"/>
          <p:cNvSpPr/>
          <p:nvPr/>
        </p:nvSpPr>
        <p:spPr>
          <a:xfrm>
            <a:off x="761695" y="7524598"/>
            <a:ext cx="16782898" cy="875995"/>
          </a:xfrm>
          <a:prstGeom prst="rect">
            <a:avLst/>
          </a:prstGeom>
          <a:solidFill>
            <a:srgbClr val="0F1525"/>
          </a:solidFill>
          <a:ln w="12700">
            <a:solidFill>
              <a:srgbClr val="FFFFFF">
                <a:alpha val="6000"/>
              </a:srgbClr>
            </a:solidFill>
            <a:prstDash val="solid"/>
          </a:ln>
        </p:spPr>
      </p:sp>
      <p:pic>
        <p:nvPicPr>
          <p:cNvPr id="8" name="Image 1" descr="gen-dedup-2c1d1155a8cda61dc39c69f62631f804.png">    </p:cNvPr>
          <p:cNvPicPr>
            <a:picLocks noChangeAspect="1"/>
          </p:cNvPicPr>
          <p:nvPr/>
        </p:nvPicPr>
        <p:blipFill>
          <a:blip r:embed="rId2"/>
          <a:srcRect l="0" r="0" t="-30" b="-30"/>
          <a:stretch/>
        </p:blipFill>
        <p:spPr>
          <a:xfrm>
            <a:off x="761695" y="8667598"/>
            <a:ext cx="16792956" cy="743407"/>
          </a:xfrm>
          <a:prstGeom prst="rect">
            <a:avLst/>
          </a:prstGeom>
        </p:spPr>
      </p:pic>
      <p:pic>
        <p:nvPicPr>
          <p:cNvPr id="9" name="Image 2" descr="gen-dedup-254703a04c84b6a855582b8f89c36dca.png">    </p:cNvPr>
          <p:cNvPicPr>
            <a:picLocks noChangeAspect="1"/>
          </p:cNvPicPr>
          <p:nvPr/>
        </p:nvPicPr>
        <p:blipFill>
          <a:blip r:embed="rId3"/>
          <a:srcRect l="-2083" r="-2083" t="0" b="0"/>
          <a:stretch/>
        </p:blipFill>
        <p:spPr>
          <a:xfrm>
            <a:off x="761695" y="857707"/>
            <a:ext cx="16763695" cy="9144"/>
          </a:xfrm>
          <a:prstGeom prst="rect">
            <a:avLst/>
          </a:prstGeom>
        </p:spPr>
      </p:pic>
      <p:sp>
        <p:nvSpPr>
          <p:cNvPr id="10" name="Shape 4"/>
          <p:cNvSpPr/>
          <p:nvPr/>
        </p:nvSpPr>
        <p:spPr>
          <a:xfrm>
            <a:off x="1047902" y="3238805"/>
            <a:ext cx="4762195" cy="2857500"/>
          </a:xfrm>
          <a:prstGeom prst="rect">
            <a:avLst/>
          </a:prstGeom>
          <a:solidFill>
            <a:srgbClr val="000000"/>
          </a:solidFill>
          <a:ln w="12700">
            <a:solidFill>
              <a:srgbClr val="FFFFFF">
                <a:alpha val="0"/>
              </a:srgbClr>
            </a:solidFill>
            <a:prstDash val="solid"/>
          </a:ln>
        </p:spPr>
      </p:sp>
      <p:pic>
        <p:nvPicPr>
          <p:cNvPr id="11" name="Image 3" descr="gen-dedup-18b89ef56c829ace544b82e3d0f759b7.jpg">    </p:cNvPr>
          <p:cNvPicPr>
            <a:picLocks noChangeAspect="1"/>
          </p:cNvPicPr>
          <p:nvPr/>
        </p:nvPicPr>
        <p:blipFill>
          <a:blip r:embed="rId4"/>
          <a:stretch>
            <a:fillRect/>
          </a:stretch>
        </p:blipFill>
        <p:spPr>
          <a:xfrm>
            <a:off x="1047902" y="3238805"/>
            <a:ext cx="4762195" cy="2857500"/>
          </a:xfrm>
          <a:prstGeom prst="rect">
            <a:avLst/>
          </a:prstGeom>
        </p:spPr>
      </p:pic>
      <p:sp>
        <p:nvSpPr>
          <p:cNvPr id="12" name="Shape 5"/>
          <p:cNvSpPr/>
          <p:nvPr/>
        </p:nvSpPr>
        <p:spPr>
          <a:xfrm>
            <a:off x="6762902" y="3238805"/>
            <a:ext cx="4762195" cy="2857500"/>
          </a:xfrm>
          <a:prstGeom prst="rect">
            <a:avLst/>
          </a:prstGeom>
          <a:solidFill>
            <a:srgbClr val="000000"/>
          </a:solidFill>
          <a:ln w="12700">
            <a:solidFill>
              <a:srgbClr val="FFFFFF">
                <a:alpha val="0"/>
              </a:srgbClr>
            </a:solidFill>
            <a:prstDash val="solid"/>
          </a:ln>
        </p:spPr>
      </p:sp>
      <p:pic>
        <p:nvPicPr>
          <p:cNvPr id="13" name="Image 4" descr="gen-dedup-e3107cc0b60e786473956a3202e156be.jpg">    </p:cNvPr>
          <p:cNvPicPr>
            <a:picLocks noChangeAspect="1"/>
          </p:cNvPicPr>
          <p:nvPr/>
        </p:nvPicPr>
        <p:blipFill>
          <a:blip r:embed="rId5"/>
          <a:stretch>
            <a:fillRect/>
          </a:stretch>
        </p:blipFill>
        <p:spPr>
          <a:xfrm>
            <a:off x="6762902" y="3238805"/>
            <a:ext cx="4762195" cy="2857500"/>
          </a:xfrm>
          <a:prstGeom prst="rect">
            <a:avLst/>
          </a:prstGeom>
        </p:spPr>
      </p:pic>
      <p:sp>
        <p:nvSpPr>
          <p:cNvPr id="14" name="Shape 6"/>
          <p:cNvSpPr/>
          <p:nvPr/>
        </p:nvSpPr>
        <p:spPr>
          <a:xfrm>
            <a:off x="12477902" y="3238805"/>
            <a:ext cx="4762195" cy="2857500"/>
          </a:xfrm>
          <a:prstGeom prst="rect">
            <a:avLst/>
          </a:prstGeom>
          <a:solidFill>
            <a:srgbClr val="000000"/>
          </a:solidFill>
          <a:ln w="12700">
            <a:solidFill>
              <a:srgbClr val="FFFFFF">
                <a:alpha val="0"/>
              </a:srgbClr>
            </a:solidFill>
            <a:prstDash val="solid"/>
          </a:ln>
        </p:spPr>
      </p:sp>
      <p:pic>
        <p:nvPicPr>
          <p:cNvPr id="15" name="Image 5" descr="gen-dedup-1638a1b6f3ed9bb2677a13a4d3cc54b6.jpg">    </p:cNvPr>
          <p:cNvPicPr>
            <a:picLocks noChangeAspect="1"/>
          </p:cNvPicPr>
          <p:nvPr/>
        </p:nvPicPr>
        <p:blipFill>
          <a:blip r:embed="rId6"/>
          <a:stretch>
            <a:fillRect/>
          </a:stretch>
        </p:blipFill>
        <p:spPr>
          <a:xfrm>
            <a:off x="12477902" y="3238805"/>
            <a:ext cx="4762195" cy="2857500"/>
          </a:xfrm>
          <a:prstGeom prst="rect">
            <a:avLst/>
          </a:prstGeom>
        </p:spPr>
      </p:pic>
      <p:sp>
        <p:nvSpPr>
          <p:cNvPr id="16" name="Shape 7"/>
          <p:cNvSpPr/>
          <p:nvPr/>
        </p:nvSpPr>
        <p:spPr>
          <a:xfrm>
            <a:off x="761695" y="500177"/>
            <a:ext cx="75895" cy="75895"/>
          </a:xfrm>
          <a:prstGeom prst="rect">
            <a:avLst/>
          </a:prstGeom>
          <a:solidFill>
            <a:srgbClr val="A78BFA"/>
          </a:solidFill>
          <a:ln w="12700">
            <a:solidFill>
              <a:srgbClr val="FFFFFF">
                <a:alpha val="0"/>
              </a:srgbClr>
            </a:solidFill>
            <a:prstDash val="solid"/>
          </a:ln>
          <a:effectLst>
            <a:outerShdw sx="100000" sy="100000" kx="0" ky="0" algn="bl" rotWithShape="0" blurRad="114300" dist="12700" dir="16200000">
              <a:srgbClr val="a78bfa">
                <a:alpha val="100000"/>
              </a:srgbClr>
            </a:outerShdw>
          </a:effectLst>
        </p:spPr>
      </p:sp>
      <p:sp>
        <p:nvSpPr>
          <p:cNvPr id="17" name="Text 8"/>
          <p:cNvSpPr txBox="1"/>
          <p:nvPr/>
        </p:nvSpPr>
        <p:spPr>
          <a:xfrm>
            <a:off x="952805" y="457200"/>
            <a:ext cx="2763317" cy="162763"/>
          </a:xfrm>
          <a:prstGeom prst="rect">
            <a:avLst/>
          </a:prstGeom>
          <a:noFill/>
          <a:ln/>
        </p:spPr>
        <p:txBody>
          <a:bodyPr wrap="none" lIns="0" tIns="0" rIns="0" bIns="0" rtlCol="0" anchor="ctr"/>
          <a:lstStyle/>
          <a:p>
            <a:pPr algn="l" indent="0" marL="0">
              <a:buNone/>
            </a:pPr>
            <a:r>
              <a:rPr lang="en-US" sz="1050" spc="294" kern="0" dirty="0">
                <a:solidFill>
                  <a:srgbClr val="A78BFA"/>
                </a:solidFill>
                <a:latin typeface="Inter" pitchFamily="34" charset="0"/>
                <a:ea typeface="Inter" pitchFamily="34" charset="-122"/>
                <a:cs typeface="Inter" pitchFamily="34" charset="-120"/>
              </a:rPr>
              <a:t>SLIDE 08 · TEM Analysis</a:t>
            </a:r>
            <a:endParaRPr lang="en-US" sz="1050" dirty="0"/>
          </a:p>
        </p:txBody>
      </p:sp>
      <p:sp>
        <p:nvSpPr>
          <p:cNvPr id="18" name="Text 9"/>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Cu / low-k INTERFACE LAYER</a:t>
            </a:r>
            <a:endParaRPr lang="en-US" sz="1200" dirty="0"/>
          </a:p>
        </p:txBody>
      </p:sp>
      <p:sp>
        <p:nvSpPr>
          <p:cNvPr id="19" name="Text 10"/>
          <p:cNvSpPr txBox="1"/>
          <p:nvPr/>
        </p:nvSpPr>
        <p:spPr>
          <a:xfrm>
            <a:off x="761695" y="1143000"/>
            <a:ext cx="14287500" cy="448056"/>
          </a:xfrm>
          <a:prstGeom prst="rect">
            <a:avLst/>
          </a:prstGeom>
          <a:noFill/>
          <a:ln/>
        </p:spPr>
        <p:txBody>
          <a:bodyPr wrap="none" lIns="0" tIns="0" rIns="0" bIns="0" rtlCol="0" anchor="ctr"/>
          <a:lstStyle/>
          <a:p>
            <a:pPr algn="l" indent="0" marL="0">
              <a:buNone/>
            </a:pPr>
            <a:r>
              <a:rPr lang="en-US" sz="3150" b="1" spc="-31" kern="0" dirty="0">
                <a:solidFill>
                  <a:srgbClr val="E6EDF7"/>
                </a:solidFill>
                <a:latin typeface="Inter" pitchFamily="34" charset="0"/>
                <a:ea typeface="Inter" pitchFamily="34" charset="-122"/>
                <a:cs typeface="Inter" pitchFamily="34" charset="-120"/>
              </a:rPr>
              <a:t>TEM 단면 · Cu / barrier / low-k 계면</a:t>
            </a:r>
            <a:endParaRPr lang="en-US" sz="3150" dirty="0"/>
          </a:p>
        </p:txBody>
      </p:sp>
      <p:sp>
        <p:nvSpPr>
          <p:cNvPr id="20" name="Text 11"/>
          <p:cNvSpPr txBox="1"/>
          <p:nvPr/>
        </p:nvSpPr>
        <p:spPr>
          <a:xfrm>
            <a:off x="761695" y="1716329"/>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BM 두께에 따른 계면 반응과 step coverage의 차이가 가장 또렷이 보이는 TEM 단면. 좌·중·우 세 wafer 비교.</a:t>
            </a:r>
            <a:endParaRPr lang="en-US" sz="1500" dirty="0"/>
          </a:p>
        </p:txBody>
      </p:sp>
      <p:sp>
        <p:nvSpPr>
          <p:cNvPr id="21" name="Text 12"/>
          <p:cNvSpPr txBox="1"/>
          <p:nvPr/>
        </p:nvSpPr>
        <p:spPr>
          <a:xfrm>
            <a:off x="1047902" y="2857500"/>
            <a:ext cx="4953305" cy="133502"/>
          </a:xfrm>
          <a:prstGeom prst="rect">
            <a:avLst/>
          </a:prstGeom>
          <a:noFill/>
          <a:ln/>
        </p:spPr>
        <p:txBody>
          <a:bodyPr wrap="none" lIns="0" tIns="0" rIns="0" bIns="0" rtlCol="0" anchor="ctr"/>
          <a:lstStyle/>
          <a:p>
            <a:pPr algn="l" indent="0" marL="0">
              <a:buNone/>
            </a:pPr>
            <a:r>
              <a:rPr lang="en-US" sz="825" spc="182" kern="0" dirty="0">
                <a:solidFill>
                  <a:srgbClr val="22D3EE"/>
                </a:solidFill>
                <a:latin typeface="JetBrains Mono" pitchFamily="34" charset="0"/>
                <a:ea typeface="JetBrains Mono" pitchFamily="34" charset="-122"/>
                <a:cs typeface="JetBrains Mono" pitchFamily="34" charset="-120"/>
              </a:rPr>
              <a:t>W01 · SPLIT A · 1.0 nm BM</a:t>
            </a:r>
            <a:endParaRPr lang="en-US" sz="825" dirty="0"/>
          </a:p>
        </p:txBody>
      </p:sp>
      <p:sp>
        <p:nvSpPr>
          <p:cNvPr id="22" name="Text 13"/>
          <p:cNvSpPr txBox="1"/>
          <p:nvPr/>
        </p:nvSpPr>
        <p:spPr>
          <a:xfrm>
            <a:off x="1047902" y="6286500"/>
            <a:ext cx="4763110" cy="486461"/>
          </a:xfrm>
          <a:prstGeom prst="rect">
            <a:avLst/>
          </a:prstGeom>
          <a:noFill/>
          <a:ln/>
        </p:spPr>
        <p:txBody>
          <a:bodyPr wrap="square" lIns="0" tIns="0" rIns="0" bIns="0" rtlCol="0" anchor="ctr"/>
          <a:lstStyle/>
          <a:p>
            <a:pPr algn="l" indent="0" marL="0">
              <a:lnSpc>
                <a:spcPts val="1913"/>
              </a:lnSpc>
              <a:buNone/>
            </a:pPr>
            <a:r>
              <a:rPr lang="en-US" sz="975" dirty="0">
                <a:solidFill>
                  <a:srgbClr val="22D3EE"/>
                </a:solidFill>
                <a:latin typeface="JetBrains Mono" pitchFamily="34" charset="0"/>
                <a:ea typeface="JetBrains Mono" pitchFamily="34" charset="-122"/>
                <a:cs typeface="JetBrains Mono" pitchFamily="34" charset="-120"/>
              </a:rPr>
              <a:t>NOTE · </a:t>
            </a:r>
            <a:pPr algn="l" indent="0" marL="0">
              <a:lnSpc>
                <a:spcPts val="1913"/>
              </a:lnSpc>
              <a:buNone/>
            </a:pPr>
            <a:r>
              <a:rPr lang="en-US" sz="1275" dirty="0">
                <a:solidFill>
                  <a:srgbClr val="8B95A8"/>
                </a:solidFill>
                <a:latin typeface="IBM Plex Sans KR" pitchFamily="34" charset="0"/>
                <a:ea typeface="IBM Plex Sans KR" pitchFamily="34" charset="-122"/>
                <a:cs typeface="IBM Plex Sans KR" pitchFamily="34" charset="-120"/>
              </a:rPr>
              <a:t> barrier가 thin — seed 잔여가 thick, 그러나 via 상단에서 BM rib 위치가 들떠 보임.</a:t>
            </a:r>
            <a:endParaRPr lang="en-US" sz="1275" dirty="0"/>
          </a:p>
        </p:txBody>
      </p:sp>
      <p:sp>
        <p:nvSpPr>
          <p:cNvPr id="23" name="Text 14"/>
          <p:cNvSpPr txBox="1"/>
          <p:nvPr/>
        </p:nvSpPr>
        <p:spPr>
          <a:xfrm>
            <a:off x="6762902" y="2857500"/>
            <a:ext cx="4953305" cy="133502"/>
          </a:xfrm>
          <a:prstGeom prst="rect">
            <a:avLst/>
          </a:prstGeom>
          <a:noFill/>
          <a:ln/>
        </p:spPr>
        <p:txBody>
          <a:bodyPr wrap="none" lIns="0" tIns="0" rIns="0" bIns="0" rtlCol="0" anchor="ctr"/>
          <a:lstStyle/>
          <a:p>
            <a:pPr algn="l" indent="0" marL="0">
              <a:buNone/>
            </a:pPr>
            <a:r>
              <a:rPr lang="en-US" sz="825" spc="182" kern="0" dirty="0">
                <a:solidFill>
                  <a:srgbClr val="A78BFA"/>
                </a:solidFill>
                <a:latin typeface="JetBrains Mono" pitchFamily="34" charset="0"/>
                <a:ea typeface="JetBrains Mono" pitchFamily="34" charset="-122"/>
                <a:cs typeface="JetBrains Mono" pitchFamily="34" charset="-120"/>
              </a:rPr>
              <a:t>W04 · SPLIT B · 1.5 nm BM ★</a:t>
            </a:r>
            <a:endParaRPr lang="en-US" sz="825" dirty="0"/>
          </a:p>
        </p:txBody>
      </p:sp>
      <p:sp>
        <p:nvSpPr>
          <p:cNvPr id="24" name="Text 15"/>
          <p:cNvSpPr txBox="1"/>
          <p:nvPr/>
        </p:nvSpPr>
        <p:spPr>
          <a:xfrm>
            <a:off x="6762902" y="6286500"/>
            <a:ext cx="4763110" cy="486461"/>
          </a:xfrm>
          <a:prstGeom prst="rect">
            <a:avLst/>
          </a:prstGeom>
          <a:noFill/>
          <a:ln/>
        </p:spPr>
        <p:txBody>
          <a:bodyPr wrap="square" lIns="0" tIns="0" rIns="0" bIns="0" rtlCol="0" anchor="ctr"/>
          <a:lstStyle/>
          <a:p>
            <a:pPr algn="l" indent="0" marL="0">
              <a:lnSpc>
                <a:spcPts val="1913"/>
              </a:lnSpc>
              <a:buNone/>
            </a:pPr>
            <a:r>
              <a:rPr lang="en-US" sz="975" dirty="0">
                <a:solidFill>
                  <a:srgbClr val="A78BFA"/>
                </a:solidFill>
                <a:latin typeface="JetBrains Mono" pitchFamily="34" charset="0"/>
                <a:ea typeface="JetBrains Mono" pitchFamily="34" charset="-122"/>
                <a:cs typeface="JetBrains Mono" pitchFamily="34" charset="-120"/>
              </a:rPr>
              <a:t>NOTE · </a:t>
            </a:r>
            <a:pPr algn="l" indent="0" marL="0">
              <a:lnSpc>
                <a:spcPts val="1913"/>
              </a:lnSpc>
              <a:buNone/>
            </a:pPr>
            <a:r>
              <a:rPr lang="en-US" sz="1275" dirty="0">
                <a:solidFill>
                  <a:srgbClr val="8B95A8"/>
                </a:solidFill>
                <a:latin typeface="IBM Plex Sans KR" pitchFamily="34" charset="0"/>
                <a:ea typeface="IBM Plex Sans KR" pitchFamily="34" charset="-122"/>
                <a:cs typeface="IBM Plex Sans KR" pitchFamily="34" charset="-120"/>
              </a:rPr>
              <a:t> sidewall step coverage 양호, Cu-grain 대비 균일, Cu/low-k 계면 매끄러움.</a:t>
            </a:r>
            <a:endParaRPr lang="en-US" sz="1275" dirty="0"/>
          </a:p>
        </p:txBody>
      </p:sp>
      <p:sp>
        <p:nvSpPr>
          <p:cNvPr id="25" name="Text 16"/>
          <p:cNvSpPr txBox="1"/>
          <p:nvPr/>
        </p:nvSpPr>
        <p:spPr>
          <a:xfrm>
            <a:off x="12477902" y="2857500"/>
            <a:ext cx="4953305" cy="133502"/>
          </a:xfrm>
          <a:prstGeom prst="rect">
            <a:avLst/>
          </a:prstGeom>
          <a:noFill/>
          <a:ln/>
        </p:spPr>
        <p:txBody>
          <a:bodyPr wrap="none" lIns="0" tIns="0" rIns="0" bIns="0" rtlCol="0" anchor="ctr"/>
          <a:lstStyle/>
          <a:p>
            <a:pPr algn="l" indent="0" marL="0">
              <a:buNone/>
            </a:pPr>
            <a:r>
              <a:rPr lang="en-US" sz="825" spc="182" kern="0" dirty="0">
                <a:solidFill>
                  <a:srgbClr val="F59E0B"/>
                </a:solidFill>
                <a:latin typeface="JetBrains Mono" pitchFamily="34" charset="0"/>
                <a:ea typeface="JetBrains Mono" pitchFamily="34" charset="-122"/>
                <a:cs typeface="JetBrains Mono" pitchFamily="34" charset="-120"/>
              </a:rPr>
              <a:t>W05 · SPLIT C · 2.0 nm BM</a:t>
            </a:r>
            <a:endParaRPr lang="en-US" sz="825" dirty="0"/>
          </a:p>
        </p:txBody>
      </p:sp>
      <p:sp>
        <p:nvSpPr>
          <p:cNvPr id="26" name="Text 17"/>
          <p:cNvSpPr txBox="1"/>
          <p:nvPr/>
        </p:nvSpPr>
        <p:spPr>
          <a:xfrm>
            <a:off x="12477902" y="6286500"/>
            <a:ext cx="4763110" cy="486461"/>
          </a:xfrm>
          <a:prstGeom prst="rect">
            <a:avLst/>
          </a:prstGeom>
          <a:noFill/>
          <a:ln/>
        </p:spPr>
        <p:txBody>
          <a:bodyPr wrap="square" lIns="0" tIns="0" rIns="0" bIns="0" rtlCol="0" anchor="ctr"/>
          <a:lstStyle/>
          <a:p>
            <a:pPr algn="l" indent="0" marL="0">
              <a:lnSpc>
                <a:spcPts val="1913"/>
              </a:lnSpc>
              <a:buNone/>
            </a:pPr>
            <a:r>
              <a:rPr lang="en-US" sz="975" dirty="0">
                <a:solidFill>
                  <a:srgbClr val="F59E0B"/>
                </a:solidFill>
                <a:latin typeface="JetBrains Mono" pitchFamily="34" charset="0"/>
                <a:ea typeface="JetBrains Mono" pitchFamily="34" charset="-122"/>
                <a:cs typeface="JetBrains Mono" pitchFamily="34" charset="-120"/>
              </a:rPr>
              <a:t>NOTE · </a:t>
            </a:r>
            <a:pPr algn="l" indent="0" marL="0">
              <a:lnSpc>
                <a:spcPts val="1913"/>
              </a:lnSpc>
              <a:buNone/>
            </a:pPr>
            <a:r>
              <a:rPr lang="en-US" sz="1275" dirty="0">
                <a:solidFill>
                  <a:srgbClr val="8B95A8"/>
                </a:solidFill>
                <a:latin typeface="IBM Plex Sans KR" pitchFamily="34" charset="0"/>
                <a:ea typeface="IBM Plex Sans KR" pitchFamily="34" charset="-122"/>
                <a:cs typeface="IBM Plex Sans KR" pitchFamily="34" charset="-120"/>
              </a:rPr>
              <a:t> BM이 두꺼워 seed 부피 손실 → Cu line CD 미세 축소, 계면 roughness는 안정적.</a:t>
            </a:r>
            <a:endParaRPr lang="en-US" sz="1275" dirty="0"/>
          </a:p>
        </p:txBody>
      </p:sp>
      <p:sp>
        <p:nvSpPr>
          <p:cNvPr id="27" name="Text 18"/>
          <p:cNvSpPr txBox="1"/>
          <p:nvPr/>
        </p:nvSpPr>
        <p:spPr>
          <a:xfrm>
            <a:off x="1047902" y="7724851"/>
            <a:ext cx="1515161"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Cu GRAIN SIZE (W04)</a:t>
            </a:r>
            <a:endParaRPr lang="en-US" sz="825" dirty="0"/>
          </a:p>
        </p:txBody>
      </p:sp>
      <p:sp>
        <p:nvSpPr>
          <p:cNvPr id="28" name="Text 19"/>
          <p:cNvSpPr txBox="1"/>
          <p:nvPr/>
        </p:nvSpPr>
        <p:spPr>
          <a:xfrm>
            <a:off x="1047902" y="7895844"/>
            <a:ext cx="1515161"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42 ± 6 nm</a:t>
            </a:r>
            <a:endParaRPr lang="en-US" sz="1650" dirty="0"/>
          </a:p>
        </p:txBody>
      </p:sp>
      <p:pic>
        <p:nvPicPr>
          <p:cNvPr id="29" name="Image 6" descr="gen-dedup-8922461a7f9f10446094002db16c125d.png">    </p:cNvPr>
          <p:cNvPicPr>
            <a:picLocks noChangeAspect="1"/>
          </p:cNvPicPr>
          <p:nvPr/>
        </p:nvPicPr>
        <p:blipFill>
          <a:blip r:embed="rId7"/>
          <a:srcRect l="0" r="0" t="-2083" b="-2083"/>
          <a:stretch/>
        </p:blipFill>
        <p:spPr>
          <a:xfrm>
            <a:off x="3017520" y="7705649"/>
            <a:ext cx="9144" cy="457200"/>
          </a:xfrm>
          <a:prstGeom prst="rect">
            <a:avLst/>
          </a:prstGeom>
        </p:spPr>
      </p:pic>
      <p:sp>
        <p:nvSpPr>
          <p:cNvPr id="30" name="Text 20"/>
          <p:cNvSpPr txBox="1"/>
          <p:nvPr/>
        </p:nvSpPr>
        <p:spPr>
          <a:xfrm>
            <a:off x="3484778" y="7724851"/>
            <a:ext cx="1038758"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SIDWALL TAPER</a:t>
            </a:r>
            <a:endParaRPr lang="en-US" sz="825" dirty="0"/>
          </a:p>
        </p:txBody>
      </p:sp>
      <p:sp>
        <p:nvSpPr>
          <p:cNvPr id="31" name="Text 21"/>
          <p:cNvSpPr txBox="1"/>
          <p:nvPr/>
        </p:nvSpPr>
        <p:spPr>
          <a:xfrm>
            <a:off x="3484778" y="7895844"/>
            <a:ext cx="1038758"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87.6°</a:t>
            </a:r>
            <a:endParaRPr lang="en-US" sz="1650" dirty="0"/>
          </a:p>
        </p:txBody>
      </p:sp>
      <p:pic>
        <p:nvPicPr>
          <p:cNvPr id="32" name="Image 7" descr="gen-dedup-8922461a7f9f10446094002db16c125d.png">    </p:cNvPr>
          <p:cNvPicPr>
            <a:picLocks noChangeAspect="1"/>
          </p:cNvPicPr>
          <p:nvPr/>
        </p:nvPicPr>
        <p:blipFill>
          <a:blip r:embed="rId8"/>
          <a:srcRect l="0" r="0" t="-2083" b="-2083"/>
          <a:stretch/>
        </p:blipFill>
        <p:spPr>
          <a:xfrm>
            <a:off x="4977079" y="7705649"/>
            <a:ext cx="9144" cy="457200"/>
          </a:xfrm>
          <a:prstGeom prst="rect">
            <a:avLst/>
          </a:prstGeom>
        </p:spPr>
      </p:pic>
      <p:sp>
        <p:nvSpPr>
          <p:cNvPr id="33" name="Text 22"/>
          <p:cNvSpPr txBox="1"/>
          <p:nvPr/>
        </p:nvSpPr>
        <p:spPr>
          <a:xfrm>
            <a:off x="5443423" y="7724851"/>
            <a:ext cx="1038758"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STEP COVERAGE</a:t>
            </a:r>
            <a:endParaRPr lang="en-US" sz="825" dirty="0"/>
          </a:p>
        </p:txBody>
      </p:sp>
      <p:sp>
        <p:nvSpPr>
          <p:cNvPr id="34" name="Text 23"/>
          <p:cNvSpPr txBox="1"/>
          <p:nvPr/>
        </p:nvSpPr>
        <p:spPr>
          <a:xfrm>
            <a:off x="5443423" y="7895844"/>
            <a:ext cx="1038758" cy="247802"/>
          </a:xfrm>
          <a:prstGeom prst="rect">
            <a:avLst/>
          </a:prstGeom>
          <a:noFill/>
          <a:ln/>
        </p:spPr>
        <p:txBody>
          <a:bodyPr wrap="none" lIns="0" tIns="0" rIns="0" bIns="0" rtlCol="0" anchor="ctr"/>
          <a:lstStyle/>
          <a:p>
            <a:pPr algn="l" indent="0" marL="0">
              <a:buNone/>
            </a:pPr>
            <a:r>
              <a:rPr lang="en-US" sz="1650" b="1" dirty="0">
                <a:solidFill>
                  <a:srgbClr val="34D399"/>
                </a:solidFill>
                <a:latin typeface="Inter" pitchFamily="34" charset="0"/>
                <a:ea typeface="Inter" pitchFamily="34" charset="-122"/>
                <a:cs typeface="Inter" pitchFamily="34" charset="-120"/>
              </a:rPr>
              <a:t>94%</a:t>
            </a:r>
            <a:endParaRPr lang="en-US" sz="1650" dirty="0"/>
          </a:p>
        </p:txBody>
      </p:sp>
      <p:pic>
        <p:nvPicPr>
          <p:cNvPr id="35" name="Image 8" descr="gen-dedup-8922461a7f9f10446094002db16c125d.png">    </p:cNvPr>
          <p:cNvPicPr>
            <a:picLocks noChangeAspect="1"/>
          </p:cNvPicPr>
          <p:nvPr/>
        </p:nvPicPr>
        <p:blipFill>
          <a:blip r:embed="rId9"/>
          <a:srcRect l="0" r="0" t="-2083" b="-2083"/>
          <a:stretch/>
        </p:blipFill>
        <p:spPr>
          <a:xfrm>
            <a:off x="6936638" y="7705649"/>
            <a:ext cx="9144" cy="457200"/>
          </a:xfrm>
          <a:prstGeom prst="rect">
            <a:avLst/>
          </a:prstGeom>
        </p:spPr>
      </p:pic>
      <p:sp>
        <p:nvSpPr>
          <p:cNvPr id="36" name="Text 24"/>
          <p:cNvSpPr txBox="1"/>
          <p:nvPr/>
        </p:nvSpPr>
        <p:spPr>
          <a:xfrm>
            <a:off x="7402982" y="7696505"/>
            <a:ext cx="1276502"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VIA BOTTOM VOIDS</a:t>
            </a:r>
            <a:endParaRPr lang="en-US" sz="825" dirty="0"/>
          </a:p>
        </p:txBody>
      </p:sp>
      <p:sp>
        <p:nvSpPr>
          <p:cNvPr id="37" name="Text 25"/>
          <p:cNvSpPr txBox="1"/>
          <p:nvPr/>
        </p:nvSpPr>
        <p:spPr>
          <a:xfrm>
            <a:off x="7402982" y="7867498"/>
            <a:ext cx="1276502" cy="305410"/>
          </a:xfrm>
          <a:prstGeom prst="rect">
            <a:avLst/>
          </a:prstGeom>
          <a:noFill/>
          <a:ln/>
        </p:spPr>
        <p:txBody>
          <a:bodyPr wrap="none" lIns="0" tIns="0" rIns="0" bIns="0" rtlCol="0" anchor="ctr"/>
          <a:lstStyle/>
          <a:p>
            <a:pPr algn="l" indent="0" marL="0">
              <a:buNone/>
            </a:pPr>
            <a:r>
              <a:rPr lang="en-US" sz="1650" b="1" dirty="0">
                <a:solidFill>
                  <a:srgbClr val="34D399"/>
                </a:solidFill>
                <a:latin typeface="Inter" pitchFamily="34" charset="0"/>
                <a:ea typeface="Inter" pitchFamily="34" charset="-122"/>
                <a:cs typeface="Inter" pitchFamily="34" charset="-120"/>
              </a:rPr>
              <a:t>없음</a:t>
            </a:r>
            <a:endParaRPr lang="en-US" sz="1650" dirty="0"/>
          </a:p>
        </p:txBody>
      </p:sp>
      <p:pic>
        <p:nvPicPr>
          <p:cNvPr id="38" name="Image 9" descr="gen-dedup-8922461a7f9f10446094002db16c125d.png">    </p:cNvPr>
          <p:cNvPicPr>
            <a:picLocks noChangeAspect="1"/>
          </p:cNvPicPr>
          <p:nvPr/>
        </p:nvPicPr>
        <p:blipFill>
          <a:blip r:embed="rId10"/>
          <a:srcRect l="0" r="0" t="-2083" b="-2083"/>
          <a:stretch/>
        </p:blipFill>
        <p:spPr>
          <a:xfrm>
            <a:off x="9133942" y="7705649"/>
            <a:ext cx="9144" cy="457200"/>
          </a:xfrm>
          <a:prstGeom prst="rect">
            <a:avLst/>
          </a:prstGeom>
        </p:spPr>
      </p:pic>
      <p:sp>
        <p:nvSpPr>
          <p:cNvPr id="39" name="Text 26"/>
          <p:cNvSpPr txBox="1"/>
          <p:nvPr/>
        </p:nvSpPr>
        <p:spPr>
          <a:xfrm>
            <a:off x="9601200" y="7720279"/>
            <a:ext cx="2467051" cy="133502"/>
          </a:xfrm>
          <a:prstGeom prst="rect">
            <a:avLst/>
          </a:prstGeom>
          <a:noFill/>
          <a:ln/>
        </p:spPr>
        <p:txBody>
          <a:bodyPr wrap="none" lIns="0" tIns="0" rIns="0" bIns="0" rtlCol="0" anchor="ctr"/>
          <a:lstStyle/>
          <a:p>
            <a:pPr algn="l" indent="0" marL="0">
              <a:buNone/>
            </a:pPr>
            <a:r>
              <a:rPr lang="en-US" sz="825" spc="132" kern="0" dirty="0">
                <a:solidFill>
                  <a:srgbClr val="5C6478"/>
                </a:solidFill>
                <a:latin typeface="JetBrains Mono" pitchFamily="34" charset="0"/>
                <a:ea typeface="JetBrains Mono" pitchFamily="34" charset="-122"/>
                <a:cs typeface="JetBrains Mono" pitchFamily="34" charset="-120"/>
              </a:rPr>
              <a:t>SOURCE</a:t>
            </a:r>
            <a:endParaRPr lang="en-US" sz="825" dirty="0"/>
          </a:p>
        </p:txBody>
      </p:sp>
      <p:sp>
        <p:nvSpPr>
          <p:cNvPr id="40" name="Text 27"/>
          <p:cNvSpPr txBox="1"/>
          <p:nvPr/>
        </p:nvSpPr>
        <p:spPr>
          <a:xfrm>
            <a:off x="9601200" y="7891272"/>
            <a:ext cx="2936138"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ScienceDirect, dual damascene</a:t>
            </a:r>
            <a:endParaRPr lang="en-US" sz="1350" dirty="0"/>
          </a:p>
        </p:txBody>
      </p:sp>
      <p:sp>
        <p:nvSpPr>
          <p:cNvPr id="41" name="Text 28"/>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A78BFA"/>
                </a:solidFill>
                <a:latin typeface="JetBrains Mono" pitchFamily="34" charset="0"/>
                <a:ea typeface="JetBrains Mono" pitchFamily="34" charset="-122"/>
                <a:cs typeface="JetBrains Mono" pitchFamily="34" charset="-120"/>
              </a:rPr>
              <a:t>KEY TAKEAWAY</a:t>
            </a:r>
            <a:endParaRPr lang="en-US" sz="900" dirty="0"/>
          </a:p>
        </p:txBody>
      </p:sp>
      <p:pic>
        <p:nvPicPr>
          <p:cNvPr id="42" name="Image 10" descr="gen-dedup-642cea137e417ddededf78a9e7c0f521.png">    </p:cNvPr>
          <p:cNvPicPr>
            <a:picLocks noChangeAspect="1"/>
          </p:cNvPicPr>
          <p:nvPr/>
        </p:nvPicPr>
        <p:blipFill>
          <a:blip r:embed="rId11"/>
          <a:srcRect l="-2083" r="-2083" t="0" b="0"/>
          <a:stretch/>
        </p:blipFill>
        <p:spPr>
          <a:xfrm>
            <a:off x="2325319" y="8904427"/>
            <a:ext cx="228600" cy="9144"/>
          </a:xfrm>
          <a:prstGeom prst="rect">
            <a:avLst/>
          </a:prstGeom>
        </p:spPr>
      </p:pic>
      <p:sp>
        <p:nvSpPr>
          <p:cNvPr id="43" name="Text 29"/>
          <p:cNvSpPr txBox="1"/>
          <p:nvPr/>
        </p:nvSpPr>
        <p:spPr>
          <a:xfrm>
            <a:off x="2724912" y="8762695"/>
            <a:ext cx="9620402"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TEM에서도 W04(B)가 step coverage 94 %·via bottom void 없음 — 가장 균형 잡힌 barrier·seed 분배.</a:t>
            </a:r>
            <a:endParaRPr lang="en-US" sz="1650" dirty="0"/>
          </a:p>
        </p:txBody>
      </p:sp>
      <p:sp>
        <p:nvSpPr>
          <p:cNvPr id="44" name="Text 30"/>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761695" y="2476195"/>
            <a:ext cx="7258507" cy="4972507"/>
          </a:xfrm>
          <a:prstGeom prst="rect">
            <a:avLst/>
          </a:prstGeom>
          <a:solidFill>
            <a:srgbClr val="131A2D"/>
          </a:solidFill>
          <a:ln w="12700">
            <a:solidFill>
              <a:srgbClr val="EF4444">
                <a:alpha val="30000"/>
              </a:srgbClr>
            </a:solidFill>
            <a:prstDash val="solid"/>
          </a:ln>
        </p:spPr>
      </p:sp>
      <p:sp>
        <p:nvSpPr>
          <p:cNvPr id="4" name="Shape 1"/>
          <p:cNvSpPr/>
          <p:nvPr/>
        </p:nvSpPr>
        <p:spPr>
          <a:xfrm>
            <a:off x="8382305" y="2819095"/>
            <a:ext cx="4401007" cy="2210105"/>
          </a:xfrm>
          <a:prstGeom prst="rect">
            <a:avLst/>
          </a:prstGeom>
          <a:solidFill>
            <a:srgbClr val="131A2D"/>
          </a:solidFill>
          <a:ln w="12700">
            <a:solidFill>
              <a:srgbClr val="EF4444">
                <a:alpha val="30000"/>
              </a:srgbClr>
            </a:solidFill>
            <a:prstDash val="solid"/>
          </a:ln>
        </p:spPr>
      </p:sp>
      <p:pic>
        <p:nvPicPr>
          <p:cNvPr id="5" name="Image 0" descr="gen-dedup-bff76dcb768a9ff001c7139593925877.png">    </p:cNvPr>
          <p:cNvPicPr>
            <a:picLocks noChangeAspect="1"/>
          </p:cNvPicPr>
          <p:nvPr/>
        </p:nvPicPr>
        <p:blipFill>
          <a:blip r:embed="rId1"/>
          <a:srcRect l="-397" r="-397" t="0" b="0"/>
          <a:stretch/>
        </p:blipFill>
        <p:spPr>
          <a:xfrm>
            <a:off x="8391449" y="2829154"/>
            <a:ext cx="38405" cy="2190902"/>
          </a:xfrm>
          <a:prstGeom prst="rect">
            <a:avLst/>
          </a:prstGeom>
        </p:spPr>
      </p:pic>
      <p:sp>
        <p:nvSpPr>
          <p:cNvPr id="6" name="Shape 2"/>
          <p:cNvSpPr/>
          <p:nvPr/>
        </p:nvSpPr>
        <p:spPr>
          <a:xfrm>
            <a:off x="13144500" y="2819095"/>
            <a:ext cx="4401007" cy="2210105"/>
          </a:xfrm>
          <a:prstGeom prst="rect">
            <a:avLst/>
          </a:prstGeom>
          <a:solidFill>
            <a:srgbClr val="131A2D"/>
          </a:solidFill>
          <a:ln w="12700">
            <a:solidFill>
              <a:srgbClr val="F59E0B">
                <a:alpha val="30000"/>
              </a:srgbClr>
            </a:solidFill>
            <a:prstDash val="solid"/>
          </a:ln>
        </p:spPr>
      </p:sp>
      <p:pic>
        <p:nvPicPr>
          <p:cNvPr id="7" name="Image 1" descr="gen-dedup-a1bc38e6ddcb37e360d231093636ba5b.png">    </p:cNvPr>
          <p:cNvPicPr>
            <a:picLocks noChangeAspect="1"/>
          </p:cNvPicPr>
          <p:nvPr/>
        </p:nvPicPr>
        <p:blipFill>
          <a:blip r:embed="rId2"/>
          <a:srcRect l="-397" r="-397" t="0" b="0"/>
          <a:stretch/>
        </p:blipFill>
        <p:spPr>
          <a:xfrm>
            <a:off x="13153644" y="2829154"/>
            <a:ext cx="38405" cy="2190902"/>
          </a:xfrm>
          <a:prstGeom prst="rect">
            <a:avLst/>
          </a:prstGeom>
        </p:spPr>
      </p:pic>
      <p:sp>
        <p:nvSpPr>
          <p:cNvPr id="8" name="Shape 3"/>
          <p:cNvSpPr/>
          <p:nvPr/>
        </p:nvSpPr>
        <p:spPr>
          <a:xfrm>
            <a:off x="8382305" y="5238598"/>
            <a:ext cx="4401007" cy="2210105"/>
          </a:xfrm>
          <a:prstGeom prst="rect">
            <a:avLst/>
          </a:prstGeom>
          <a:solidFill>
            <a:srgbClr val="131A2D"/>
          </a:solidFill>
          <a:ln w="12700">
            <a:solidFill>
              <a:srgbClr val="A78BFA">
                <a:alpha val="30000"/>
              </a:srgbClr>
            </a:solidFill>
            <a:prstDash val="solid"/>
          </a:ln>
        </p:spPr>
      </p:sp>
      <p:pic>
        <p:nvPicPr>
          <p:cNvPr id="9" name="Image 2" descr="gen-dedup-af87cc64a449aed7ac261cf701cabd61.png">    </p:cNvPr>
          <p:cNvPicPr>
            <a:picLocks noChangeAspect="1"/>
          </p:cNvPicPr>
          <p:nvPr/>
        </p:nvPicPr>
        <p:blipFill>
          <a:blip r:embed="rId3"/>
          <a:srcRect l="-397" r="-397" t="0" b="0"/>
          <a:stretch/>
        </p:blipFill>
        <p:spPr>
          <a:xfrm>
            <a:off x="8391449" y="5248656"/>
            <a:ext cx="38405" cy="2190902"/>
          </a:xfrm>
          <a:prstGeom prst="rect">
            <a:avLst/>
          </a:prstGeom>
        </p:spPr>
      </p:pic>
      <p:sp>
        <p:nvSpPr>
          <p:cNvPr id="10" name="Shape 4"/>
          <p:cNvSpPr/>
          <p:nvPr/>
        </p:nvSpPr>
        <p:spPr>
          <a:xfrm>
            <a:off x="13144500" y="5238598"/>
            <a:ext cx="4401007" cy="2210105"/>
          </a:xfrm>
          <a:prstGeom prst="rect">
            <a:avLst/>
          </a:prstGeom>
          <a:solidFill>
            <a:srgbClr val="131A2D"/>
          </a:solidFill>
          <a:ln w="12700">
            <a:solidFill>
              <a:srgbClr val="F59E0B">
                <a:alpha val="30000"/>
              </a:srgbClr>
            </a:solidFill>
            <a:prstDash val="solid"/>
          </a:ln>
        </p:spPr>
      </p:sp>
      <p:pic>
        <p:nvPicPr>
          <p:cNvPr id="11" name="Image 3" descr="gen-dedup-a1bc38e6ddcb37e360d231093636ba5b.png">    </p:cNvPr>
          <p:cNvPicPr>
            <a:picLocks noChangeAspect="1"/>
          </p:cNvPicPr>
          <p:nvPr/>
        </p:nvPicPr>
        <p:blipFill>
          <a:blip r:embed="rId4"/>
          <a:srcRect l="-397" r="-397" t="0" b="0"/>
          <a:stretch/>
        </p:blipFill>
        <p:spPr>
          <a:xfrm>
            <a:off x="13153644" y="5248656"/>
            <a:ext cx="38405" cy="2190902"/>
          </a:xfrm>
          <a:prstGeom prst="rect">
            <a:avLst/>
          </a:prstGeom>
        </p:spPr>
      </p:pic>
      <p:pic>
        <p:nvPicPr>
          <p:cNvPr id="12" name="Image 4" descr="gen-dedup-409e68742e4adcd4c1617e66f094cadc.png">    </p:cNvPr>
          <p:cNvPicPr>
            <a:picLocks noChangeAspect="1"/>
          </p:cNvPicPr>
          <p:nvPr/>
        </p:nvPicPr>
        <p:blipFill>
          <a:blip r:embed="rId5"/>
          <a:srcRect l="0" r="0" t="-30" b="-30"/>
          <a:stretch/>
        </p:blipFill>
        <p:spPr>
          <a:xfrm>
            <a:off x="761695" y="8667598"/>
            <a:ext cx="16792956" cy="743407"/>
          </a:xfrm>
          <a:prstGeom prst="rect">
            <a:avLst/>
          </a:prstGeom>
        </p:spPr>
      </p:pic>
      <p:pic>
        <p:nvPicPr>
          <p:cNvPr id="13" name="Image 5" descr="gen-dedup-254703a04c84b6a855582b8f89c36dca.png">    </p:cNvPr>
          <p:cNvPicPr>
            <a:picLocks noChangeAspect="1"/>
          </p:cNvPicPr>
          <p:nvPr/>
        </p:nvPicPr>
        <p:blipFill>
          <a:blip r:embed="rId6"/>
          <a:srcRect l="-2083" r="-2083" t="0" b="0"/>
          <a:stretch/>
        </p:blipFill>
        <p:spPr>
          <a:xfrm>
            <a:off x="761695" y="857707"/>
            <a:ext cx="16763695" cy="9144"/>
          </a:xfrm>
          <a:prstGeom prst="rect">
            <a:avLst/>
          </a:prstGeom>
        </p:spPr>
      </p:pic>
      <p:sp>
        <p:nvSpPr>
          <p:cNvPr id="14" name="Shape 5"/>
          <p:cNvSpPr/>
          <p:nvPr/>
        </p:nvSpPr>
        <p:spPr>
          <a:xfrm>
            <a:off x="1047902" y="3238805"/>
            <a:ext cx="6667805" cy="3619195"/>
          </a:xfrm>
          <a:prstGeom prst="rect">
            <a:avLst/>
          </a:prstGeom>
          <a:solidFill>
            <a:srgbClr val="000000"/>
          </a:solidFill>
          <a:ln w="12700">
            <a:solidFill>
              <a:srgbClr val="FFFFFF">
                <a:alpha val="0"/>
              </a:srgbClr>
            </a:solidFill>
            <a:prstDash val="solid"/>
          </a:ln>
        </p:spPr>
      </p:sp>
      <p:pic>
        <p:nvPicPr>
          <p:cNvPr id="15" name="Image 6" descr="gen-dedup-39c5eeb2b960ee0a3915b9bb01ac2ff6.jpg">    </p:cNvPr>
          <p:cNvPicPr>
            <a:picLocks noChangeAspect="1"/>
          </p:cNvPicPr>
          <p:nvPr/>
        </p:nvPicPr>
        <p:blipFill>
          <a:blip r:embed="rId7"/>
          <a:stretch>
            <a:fillRect/>
          </a:stretch>
        </p:blipFill>
        <p:spPr>
          <a:xfrm>
            <a:off x="1047902" y="3238805"/>
            <a:ext cx="6667805" cy="3619195"/>
          </a:xfrm>
          <a:prstGeom prst="rect">
            <a:avLst/>
          </a:prstGeom>
        </p:spPr>
      </p:pic>
      <p:sp>
        <p:nvSpPr>
          <p:cNvPr id="16" name="Shape 6"/>
          <p:cNvSpPr/>
          <p:nvPr/>
        </p:nvSpPr>
        <p:spPr>
          <a:xfrm>
            <a:off x="761695" y="500177"/>
            <a:ext cx="75895" cy="75895"/>
          </a:xfrm>
          <a:prstGeom prst="rect">
            <a:avLst/>
          </a:prstGeom>
          <a:solidFill>
            <a:srgbClr val="EF4444"/>
          </a:solidFill>
          <a:ln w="12700">
            <a:solidFill>
              <a:srgbClr val="FFFFFF">
                <a:alpha val="0"/>
              </a:srgbClr>
            </a:solidFill>
            <a:prstDash val="solid"/>
          </a:ln>
          <a:effectLst>
            <a:outerShdw sx="100000" sy="100000" kx="0" ky="0" algn="bl" rotWithShape="0" blurRad="114300" dist="12700" dir="16200000">
              <a:srgbClr val="ef4444">
                <a:alpha val="100000"/>
              </a:srgbClr>
            </a:outerShdw>
          </a:effectLst>
        </p:spPr>
      </p:sp>
      <p:sp>
        <p:nvSpPr>
          <p:cNvPr id="17" name="Text 7"/>
          <p:cNvSpPr txBox="1"/>
          <p:nvPr/>
        </p:nvSpPr>
        <p:spPr>
          <a:xfrm>
            <a:off x="952805" y="457200"/>
            <a:ext cx="3363163" cy="162763"/>
          </a:xfrm>
          <a:prstGeom prst="rect">
            <a:avLst/>
          </a:prstGeom>
          <a:noFill/>
          <a:ln/>
        </p:spPr>
        <p:txBody>
          <a:bodyPr wrap="none" lIns="0" tIns="0" rIns="0" bIns="0" rtlCol="0" anchor="ctr"/>
          <a:lstStyle/>
          <a:p>
            <a:pPr algn="l" indent="0" marL="0">
              <a:buNone/>
            </a:pPr>
            <a:r>
              <a:rPr lang="en-US" sz="1050" spc="294" kern="0" dirty="0">
                <a:solidFill>
                  <a:srgbClr val="EF4444"/>
                </a:solidFill>
                <a:latin typeface="Inter" pitchFamily="34" charset="0"/>
                <a:ea typeface="Inter" pitchFamily="34" charset="-122"/>
                <a:cs typeface="Inter" pitchFamily="34" charset="-120"/>
              </a:rPr>
              <a:t>SLIDE 09 · SEM Anomaly Cases</a:t>
            </a:r>
            <a:endParaRPr lang="en-US" sz="1050" dirty="0"/>
          </a:p>
        </p:txBody>
      </p:sp>
      <p:sp>
        <p:nvSpPr>
          <p:cNvPr id="18" name="Text 8"/>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12 ANOMALIES OBSERVED · n = 6 WAFERS</a:t>
            </a:r>
            <a:endParaRPr lang="en-US" sz="1200" dirty="0"/>
          </a:p>
        </p:txBody>
      </p:sp>
      <p:sp>
        <p:nvSpPr>
          <p:cNvPr id="19" name="Text 9"/>
          <p:cNvSpPr txBox="1"/>
          <p:nvPr/>
        </p:nvSpPr>
        <p:spPr>
          <a:xfrm>
            <a:off x="761695" y="1143000"/>
            <a:ext cx="14287500" cy="448056"/>
          </a:xfrm>
          <a:prstGeom prst="rect">
            <a:avLst/>
          </a:prstGeom>
          <a:noFill/>
          <a:ln/>
        </p:spPr>
        <p:txBody>
          <a:bodyPr wrap="none" lIns="0" tIns="0" rIns="0" bIns="0" rtlCol="0" anchor="ctr"/>
          <a:lstStyle/>
          <a:p>
            <a:pPr algn="l" indent="0" marL="0">
              <a:buNone/>
            </a:pPr>
            <a:r>
              <a:rPr lang="en-US" sz="3150" b="1" spc="-31" kern="0" dirty="0">
                <a:solidFill>
                  <a:srgbClr val="E6EDF7"/>
                </a:solidFill>
                <a:latin typeface="Inter" pitchFamily="34" charset="0"/>
                <a:ea typeface="Inter" pitchFamily="34" charset="-122"/>
                <a:cs typeface="Inter" pitchFamily="34" charset="-120"/>
              </a:rPr>
              <a:t>SEM 이상 사례 · defect 분류</a:t>
            </a:r>
            <a:endParaRPr lang="en-US" sz="3150" dirty="0"/>
          </a:p>
        </p:txBody>
      </p:sp>
      <p:sp>
        <p:nvSpPr>
          <p:cNvPr id="20" name="Text 10"/>
          <p:cNvSpPr txBox="1"/>
          <p:nvPr/>
        </p:nvSpPr>
        <p:spPr>
          <a:xfrm>
            <a:off x="761695" y="1716329"/>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관찰된 4가지 anomaly 종류·발생 wafer·상황별 카운트. 모두 statistically rare하지만 split에 따라 편향이 확인된다.</a:t>
            </a:r>
            <a:endParaRPr lang="en-US" sz="1500" dirty="0"/>
          </a:p>
        </p:txBody>
      </p:sp>
      <p:sp>
        <p:nvSpPr>
          <p:cNvPr id="21" name="Text 11"/>
          <p:cNvSpPr txBox="1"/>
          <p:nvPr/>
        </p:nvSpPr>
        <p:spPr>
          <a:xfrm>
            <a:off x="1047902" y="2667305"/>
            <a:ext cx="6858000" cy="133502"/>
          </a:xfrm>
          <a:prstGeom prst="rect">
            <a:avLst/>
          </a:prstGeom>
          <a:noFill/>
          <a:ln/>
        </p:spPr>
        <p:txBody>
          <a:bodyPr wrap="none" lIns="0" tIns="0" rIns="0" bIns="0" rtlCol="0" anchor="ctr"/>
          <a:lstStyle/>
          <a:p>
            <a:pPr algn="l" indent="0" marL="0">
              <a:buNone/>
            </a:pPr>
            <a:r>
              <a:rPr lang="en-US" sz="825" spc="182" kern="0" dirty="0">
                <a:solidFill>
                  <a:srgbClr val="EF4444"/>
                </a:solidFill>
                <a:latin typeface="JetBrains Mono" pitchFamily="34" charset="0"/>
                <a:ea typeface="JetBrains Mono" pitchFamily="34" charset="-122"/>
                <a:cs typeface="JetBrains Mono" pitchFamily="34" charset="-120"/>
              </a:rPr>
              <a:t>CASE · FIB CROSS-SECTION</a:t>
            </a:r>
            <a:endParaRPr lang="en-US" sz="825" dirty="0"/>
          </a:p>
        </p:txBody>
      </p:sp>
      <p:sp>
        <p:nvSpPr>
          <p:cNvPr id="22" name="Text 12"/>
          <p:cNvSpPr txBox="1"/>
          <p:nvPr/>
        </p:nvSpPr>
        <p:spPr>
          <a:xfrm>
            <a:off x="1047902" y="2857500"/>
            <a:ext cx="6858000" cy="305410"/>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delamination 결함 (W01 die-corner 1건)</a:t>
            </a:r>
            <a:endParaRPr lang="en-US" sz="1650" dirty="0"/>
          </a:p>
        </p:txBody>
      </p:sp>
      <p:sp>
        <p:nvSpPr>
          <p:cNvPr id="23" name="Text 13"/>
          <p:cNvSpPr txBox="1"/>
          <p:nvPr/>
        </p:nvSpPr>
        <p:spPr>
          <a:xfrm>
            <a:off x="1047902" y="6953098"/>
            <a:ext cx="6858000" cy="228600"/>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SOURCE · </a:t>
            </a:r>
            <a:pPr algn="l" indent="0" marL="0">
              <a:buNone/>
            </a:pPr>
            <a:r>
              <a:rPr lang="en-US" sz="1050" dirty="0">
                <a:solidFill>
                  <a:srgbClr val="8B95A8"/>
                </a:solidFill>
                <a:latin typeface="IBM Plex Sans KR" pitchFamily="34" charset="0"/>
                <a:ea typeface="IBM Plex Sans KR" pitchFamily="34" charset="-122"/>
                <a:cs typeface="IBM Plex Sans KR" pitchFamily="34" charset="-120"/>
              </a:rPr>
              <a:t>Springer Nature — Interconnect chapter</a:t>
            </a:r>
            <a:endParaRPr lang="en-US" sz="1200" dirty="0"/>
          </a:p>
        </p:txBody>
      </p:sp>
      <p:sp>
        <p:nvSpPr>
          <p:cNvPr id="24" name="Text 14"/>
          <p:cNvSpPr txBox="1"/>
          <p:nvPr/>
        </p:nvSpPr>
        <p:spPr>
          <a:xfrm>
            <a:off x="8382305" y="2476195"/>
            <a:ext cx="9144000" cy="133502"/>
          </a:xfrm>
          <a:prstGeom prst="rect">
            <a:avLst/>
          </a:prstGeom>
          <a:noFill/>
          <a:ln/>
        </p:spPr>
        <p:txBody>
          <a:bodyPr wrap="non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FOUR TYPES · 12 EVENTS TOTAL</a:t>
            </a:r>
            <a:endParaRPr lang="en-US" sz="825" dirty="0"/>
          </a:p>
        </p:txBody>
      </p:sp>
      <p:sp>
        <p:nvSpPr>
          <p:cNvPr id="25" name="Text 15"/>
          <p:cNvSpPr txBox="1"/>
          <p:nvPr/>
        </p:nvSpPr>
        <p:spPr>
          <a:xfrm>
            <a:off x="8667598" y="3010205"/>
            <a:ext cx="4000500" cy="133502"/>
          </a:xfrm>
          <a:prstGeom prst="rect">
            <a:avLst/>
          </a:prstGeom>
          <a:noFill/>
          <a:ln/>
        </p:spPr>
        <p:txBody>
          <a:bodyPr wrap="none" lIns="0" tIns="0" rIns="0" bIns="0" rtlCol="0" anchor="ctr"/>
          <a:lstStyle/>
          <a:p>
            <a:pPr algn="l" indent="0" marL="0">
              <a:buNone/>
            </a:pPr>
            <a:r>
              <a:rPr lang="en-US" sz="825" spc="149" kern="0" dirty="0">
                <a:solidFill>
                  <a:srgbClr val="EF4444"/>
                </a:solidFill>
                <a:latin typeface="JetBrains Mono" pitchFamily="34" charset="0"/>
                <a:ea typeface="JetBrains Mono" pitchFamily="34" charset="-122"/>
                <a:cs typeface="JetBrains Mono" pitchFamily="34" charset="-120"/>
              </a:rPr>
              <a:t>TYPE · 01</a:t>
            </a:r>
            <a:endParaRPr lang="en-US" sz="825" dirty="0"/>
          </a:p>
        </p:txBody>
      </p:sp>
      <p:sp>
        <p:nvSpPr>
          <p:cNvPr id="26" name="Text 16"/>
          <p:cNvSpPr txBox="1"/>
          <p:nvPr/>
        </p:nvSpPr>
        <p:spPr>
          <a:xfrm>
            <a:off x="8667598" y="3200400"/>
            <a:ext cx="4000500"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Delamination</a:t>
            </a:r>
            <a:endParaRPr lang="en-US" sz="1650" dirty="0"/>
          </a:p>
        </p:txBody>
      </p:sp>
      <p:sp>
        <p:nvSpPr>
          <p:cNvPr id="27" name="Text 17"/>
          <p:cNvSpPr txBox="1"/>
          <p:nvPr/>
        </p:nvSpPr>
        <p:spPr>
          <a:xfrm>
            <a:off x="8667598"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EVENTS</a:t>
            </a:r>
            <a:endParaRPr lang="en-US" sz="825" dirty="0"/>
          </a:p>
        </p:txBody>
      </p:sp>
      <p:sp>
        <p:nvSpPr>
          <p:cNvPr id="28" name="Text 18"/>
          <p:cNvSpPr txBox="1"/>
          <p:nvPr/>
        </p:nvSpPr>
        <p:spPr>
          <a:xfrm>
            <a:off x="8667598" y="3715207"/>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2</a:t>
            </a:r>
            <a:endParaRPr lang="en-US" sz="1800" dirty="0"/>
          </a:p>
        </p:txBody>
      </p:sp>
      <p:sp>
        <p:nvSpPr>
          <p:cNvPr id="29" name="Text 19"/>
          <p:cNvSpPr txBox="1"/>
          <p:nvPr/>
        </p:nvSpPr>
        <p:spPr>
          <a:xfrm>
            <a:off x="10001707"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SPLIT</a:t>
            </a:r>
            <a:endParaRPr lang="en-US" sz="825" dirty="0"/>
          </a:p>
        </p:txBody>
      </p:sp>
      <p:sp>
        <p:nvSpPr>
          <p:cNvPr id="30" name="Text 20"/>
          <p:cNvSpPr txBox="1"/>
          <p:nvPr/>
        </p:nvSpPr>
        <p:spPr>
          <a:xfrm>
            <a:off x="10001707" y="3715207"/>
            <a:ext cx="1334110" cy="277063"/>
          </a:xfrm>
          <a:prstGeom prst="rect">
            <a:avLst/>
          </a:prstGeom>
          <a:noFill/>
          <a:ln/>
        </p:spPr>
        <p:txBody>
          <a:bodyPr wrap="none" lIns="0" tIns="0" rIns="0" bIns="0" rtlCol="0" anchor="ctr"/>
          <a:lstStyle/>
          <a:p>
            <a:pPr algn="l" indent="0" marL="0">
              <a:buNone/>
            </a:pPr>
            <a:r>
              <a:rPr lang="en-US" sz="1800" b="1" dirty="0">
                <a:solidFill>
                  <a:srgbClr val="22D3EE"/>
                </a:solidFill>
                <a:latin typeface="Inter" pitchFamily="34" charset="0"/>
                <a:ea typeface="Inter" pitchFamily="34" charset="-122"/>
                <a:cs typeface="Inter" pitchFamily="34" charset="-120"/>
              </a:rPr>
              <a:t>A biased</a:t>
            </a:r>
            <a:endParaRPr lang="en-US" sz="1800" dirty="0"/>
          </a:p>
        </p:txBody>
      </p:sp>
      <p:sp>
        <p:nvSpPr>
          <p:cNvPr id="31" name="Text 21"/>
          <p:cNvSpPr txBox="1"/>
          <p:nvPr/>
        </p:nvSpPr>
        <p:spPr>
          <a:xfrm>
            <a:off x="11334902"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AFFECTED</a:t>
            </a:r>
            <a:endParaRPr lang="en-US" sz="825" dirty="0"/>
          </a:p>
        </p:txBody>
      </p:sp>
      <p:sp>
        <p:nvSpPr>
          <p:cNvPr id="32" name="Text 22"/>
          <p:cNvSpPr txBox="1"/>
          <p:nvPr/>
        </p:nvSpPr>
        <p:spPr>
          <a:xfrm>
            <a:off x="11334902" y="3715207"/>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W01, W02</a:t>
            </a:r>
            <a:endParaRPr lang="en-US" sz="1800" dirty="0"/>
          </a:p>
        </p:txBody>
      </p:sp>
      <p:sp>
        <p:nvSpPr>
          <p:cNvPr id="33" name="Text 23"/>
          <p:cNvSpPr txBox="1"/>
          <p:nvPr/>
        </p:nvSpPr>
        <p:spPr>
          <a:xfrm>
            <a:off x="13430707" y="3010205"/>
            <a:ext cx="4000500" cy="133502"/>
          </a:xfrm>
          <a:prstGeom prst="rect">
            <a:avLst/>
          </a:prstGeom>
          <a:noFill/>
          <a:ln/>
        </p:spPr>
        <p:txBody>
          <a:bodyPr wrap="none" lIns="0" tIns="0" rIns="0" bIns="0" rtlCol="0" anchor="ctr"/>
          <a:lstStyle/>
          <a:p>
            <a:pPr algn="l" indent="0" marL="0">
              <a:buNone/>
            </a:pPr>
            <a:r>
              <a:rPr lang="en-US" sz="825" spc="149" kern="0" dirty="0">
                <a:solidFill>
                  <a:srgbClr val="F59E0B"/>
                </a:solidFill>
                <a:latin typeface="JetBrains Mono" pitchFamily="34" charset="0"/>
                <a:ea typeface="JetBrains Mono" pitchFamily="34" charset="-122"/>
                <a:cs typeface="JetBrains Mono" pitchFamily="34" charset="-120"/>
              </a:rPr>
              <a:t>TYPE · 02</a:t>
            </a:r>
            <a:endParaRPr lang="en-US" sz="825" dirty="0"/>
          </a:p>
        </p:txBody>
      </p:sp>
      <p:sp>
        <p:nvSpPr>
          <p:cNvPr id="34" name="Text 24"/>
          <p:cNvSpPr txBox="1"/>
          <p:nvPr/>
        </p:nvSpPr>
        <p:spPr>
          <a:xfrm>
            <a:off x="13430707" y="3200400"/>
            <a:ext cx="4000500"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Slit void</a:t>
            </a:r>
            <a:endParaRPr lang="en-US" sz="1650" dirty="0"/>
          </a:p>
        </p:txBody>
      </p:sp>
      <p:sp>
        <p:nvSpPr>
          <p:cNvPr id="35" name="Text 25"/>
          <p:cNvSpPr txBox="1"/>
          <p:nvPr/>
        </p:nvSpPr>
        <p:spPr>
          <a:xfrm>
            <a:off x="13430707"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EVENTS</a:t>
            </a:r>
            <a:endParaRPr lang="en-US" sz="825" dirty="0"/>
          </a:p>
        </p:txBody>
      </p:sp>
      <p:sp>
        <p:nvSpPr>
          <p:cNvPr id="36" name="Text 26"/>
          <p:cNvSpPr txBox="1"/>
          <p:nvPr/>
        </p:nvSpPr>
        <p:spPr>
          <a:xfrm>
            <a:off x="13430707" y="3715207"/>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3</a:t>
            </a:r>
            <a:endParaRPr lang="en-US" sz="1800" dirty="0"/>
          </a:p>
        </p:txBody>
      </p:sp>
      <p:sp>
        <p:nvSpPr>
          <p:cNvPr id="37" name="Text 27"/>
          <p:cNvSpPr txBox="1"/>
          <p:nvPr/>
        </p:nvSpPr>
        <p:spPr>
          <a:xfrm>
            <a:off x="14763902"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SPLIT</a:t>
            </a:r>
            <a:endParaRPr lang="en-US" sz="825" dirty="0"/>
          </a:p>
        </p:txBody>
      </p:sp>
      <p:sp>
        <p:nvSpPr>
          <p:cNvPr id="38" name="Text 28"/>
          <p:cNvSpPr txBox="1"/>
          <p:nvPr/>
        </p:nvSpPr>
        <p:spPr>
          <a:xfrm>
            <a:off x="14763902" y="3715207"/>
            <a:ext cx="1334110" cy="277063"/>
          </a:xfrm>
          <a:prstGeom prst="rect">
            <a:avLst/>
          </a:prstGeom>
          <a:noFill/>
          <a:ln/>
        </p:spPr>
        <p:txBody>
          <a:bodyPr wrap="none" lIns="0" tIns="0" rIns="0" bIns="0" rtlCol="0" anchor="ctr"/>
          <a:lstStyle/>
          <a:p>
            <a:pPr algn="l" indent="0" marL="0">
              <a:buNone/>
            </a:pPr>
            <a:r>
              <a:rPr lang="en-US" sz="1800" b="1" dirty="0">
                <a:solidFill>
                  <a:srgbClr val="F59E0B"/>
                </a:solidFill>
                <a:latin typeface="Inter" pitchFamily="34" charset="0"/>
                <a:ea typeface="Inter" pitchFamily="34" charset="-122"/>
                <a:cs typeface="Inter" pitchFamily="34" charset="-120"/>
              </a:rPr>
              <a:t>C biased</a:t>
            </a:r>
            <a:endParaRPr lang="en-US" sz="1800" dirty="0"/>
          </a:p>
        </p:txBody>
      </p:sp>
      <p:sp>
        <p:nvSpPr>
          <p:cNvPr id="39" name="Text 29"/>
          <p:cNvSpPr txBox="1"/>
          <p:nvPr/>
        </p:nvSpPr>
        <p:spPr>
          <a:xfrm>
            <a:off x="16097098" y="3581705"/>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AFFECTED</a:t>
            </a:r>
            <a:endParaRPr lang="en-US" sz="825" dirty="0"/>
          </a:p>
        </p:txBody>
      </p:sp>
      <p:sp>
        <p:nvSpPr>
          <p:cNvPr id="40" name="Text 30"/>
          <p:cNvSpPr txBox="1"/>
          <p:nvPr/>
        </p:nvSpPr>
        <p:spPr>
          <a:xfrm>
            <a:off x="16097098" y="3715207"/>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W05, W06</a:t>
            </a:r>
            <a:endParaRPr lang="en-US" sz="1800" dirty="0"/>
          </a:p>
        </p:txBody>
      </p:sp>
      <p:sp>
        <p:nvSpPr>
          <p:cNvPr id="41" name="Text 31"/>
          <p:cNvSpPr txBox="1"/>
          <p:nvPr/>
        </p:nvSpPr>
        <p:spPr>
          <a:xfrm>
            <a:off x="8667598" y="5429707"/>
            <a:ext cx="4000500" cy="133502"/>
          </a:xfrm>
          <a:prstGeom prst="rect">
            <a:avLst/>
          </a:prstGeom>
          <a:noFill/>
          <a:ln/>
        </p:spPr>
        <p:txBody>
          <a:bodyPr wrap="none" lIns="0" tIns="0" rIns="0" bIns="0" rtlCol="0" anchor="ctr"/>
          <a:lstStyle/>
          <a:p>
            <a:pPr algn="l" indent="0" marL="0">
              <a:buNone/>
            </a:pPr>
            <a:r>
              <a:rPr lang="en-US" sz="825" spc="149" kern="0" dirty="0">
                <a:solidFill>
                  <a:srgbClr val="A78BFA"/>
                </a:solidFill>
                <a:latin typeface="JetBrains Mono" pitchFamily="34" charset="0"/>
                <a:ea typeface="JetBrains Mono" pitchFamily="34" charset="-122"/>
                <a:cs typeface="JetBrains Mono" pitchFamily="34" charset="-120"/>
              </a:rPr>
              <a:t>TYPE · 03</a:t>
            </a:r>
            <a:endParaRPr lang="en-US" sz="825" dirty="0"/>
          </a:p>
        </p:txBody>
      </p:sp>
      <p:sp>
        <p:nvSpPr>
          <p:cNvPr id="42" name="Text 32"/>
          <p:cNvSpPr txBox="1"/>
          <p:nvPr/>
        </p:nvSpPr>
        <p:spPr>
          <a:xfrm>
            <a:off x="8667598" y="5619902"/>
            <a:ext cx="4000500" cy="305410"/>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Seam 노출</a:t>
            </a:r>
            <a:endParaRPr lang="en-US" sz="1650" dirty="0"/>
          </a:p>
        </p:txBody>
      </p:sp>
      <p:sp>
        <p:nvSpPr>
          <p:cNvPr id="43" name="Text 33"/>
          <p:cNvSpPr txBox="1"/>
          <p:nvPr/>
        </p:nvSpPr>
        <p:spPr>
          <a:xfrm>
            <a:off x="8667598" y="6057900"/>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EVENTS</a:t>
            </a:r>
            <a:endParaRPr lang="en-US" sz="825" dirty="0"/>
          </a:p>
        </p:txBody>
      </p:sp>
      <p:sp>
        <p:nvSpPr>
          <p:cNvPr id="44" name="Text 34"/>
          <p:cNvSpPr txBox="1"/>
          <p:nvPr/>
        </p:nvSpPr>
        <p:spPr>
          <a:xfrm>
            <a:off x="8667598" y="6191402"/>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4</a:t>
            </a:r>
            <a:endParaRPr lang="en-US" sz="1800" dirty="0"/>
          </a:p>
        </p:txBody>
      </p:sp>
      <p:sp>
        <p:nvSpPr>
          <p:cNvPr id="45" name="Text 35"/>
          <p:cNvSpPr txBox="1"/>
          <p:nvPr/>
        </p:nvSpPr>
        <p:spPr>
          <a:xfrm>
            <a:off x="10001707" y="6057900"/>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SPLIT</a:t>
            </a:r>
            <a:endParaRPr lang="en-US" sz="825" dirty="0"/>
          </a:p>
        </p:txBody>
      </p:sp>
      <p:sp>
        <p:nvSpPr>
          <p:cNvPr id="46" name="Text 36"/>
          <p:cNvSpPr txBox="1"/>
          <p:nvPr/>
        </p:nvSpPr>
        <p:spPr>
          <a:xfrm>
            <a:off x="10001707" y="6191402"/>
            <a:ext cx="1334110" cy="277063"/>
          </a:xfrm>
          <a:prstGeom prst="rect">
            <a:avLst/>
          </a:prstGeom>
          <a:noFill/>
          <a:ln/>
        </p:spPr>
        <p:txBody>
          <a:bodyPr wrap="none" lIns="0" tIns="0" rIns="0" bIns="0" rtlCol="0" anchor="ctr"/>
          <a:lstStyle/>
          <a:p>
            <a:pPr algn="l" indent="0" marL="0">
              <a:buNone/>
            </a:pPr>
            <a:r>
              <a:rPr lang="en-US" sz="1800" b="1" dirty="0">
                <a:solidFill>
                  <a:srgbClr val="22D3EE"/>
                </a:solidFill>
                <a:latin typeface="Inter" pitchFamily="34" charset="0"/>
                <a:ea typeface="Inter" pitchFamily="34" charset="-122"/>
                <a:cs typeface="Inter" pitchFamily="34" charset="-120"/>
              </a:rPr>
              <a:t>A only</a:t>
            </a:r>
            <a:endParaRPr lang="en-US" sz="1800" dirty="0"/>
          </a:p>
        </p:txBody>
      </p:sp>
      <p:sp>
        <p:nvSpPr>
          <p:cNvPr id="47" name="Text 37"/>
          <p:cNvSpPr txBox="1"/>
          <p:nvPr/>
        </p:nvSpPr>
        <p:spPr>
          <a:xfrm>
            <a:off x="11334902" y="6057900"/>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AFFECTED</a:t>
            </a:r>
            <a:endParaRPr lang="en-US" sz="825" dirty="0"/>
          </a:p>
        </p:txBody>
      </p:sp>
      <p:sp>
        <p:nvSpPr>
          <p:cNvPr id="48" name="Text 38"/>
          <p:cNvSpPr txBox="1"/>
          <p:nvPr/>
        </p:nvSpPr>
        <p:spPr>
          <a:xfrm>
            <a:off x="11334902" y="6191402"/>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W01, W02</a:t>
            </a:r>
            <a:endParaRPr lang="en-US" sz="1800" dirty="0"/>
          </a:p>
        </p:txBody>
      </p:sp>
      <p:sp>
        <p:nvSpPr>
          <p:cNvPr id="49" name="Text 39"/>
          <p:cNvSpPr txBox="1"/>
          <p:nvPr/>
        </p:nvSpPr>
        <p:spPr>
          <a:xfrm>
            <a:off x="13430707" y="5429707"/>
            <a:ext cx="4000500" cy="133502"/>
          </a:xfrm>
          <a:prstGeom prst="rect">
            <a:avLst/>
          </a:prstGeom>
          <a:noFill/>
          <a:ln/>
        </p:spPr>
        <p:txBody>
          <a:bodyPr wrap="none" lIns="0" tIns="0" rIns="0" bIns="0" rtlCol="0" anchor="ctr"/>
          <a:lstStyle/>
          <a:p>
            <a:pPr algn="l" indent="0" marL="0">
              <a:buNone/>
            </a:pPr>
            <a:r>
              <a:rPr lang="en-US" sz="825" spc="149" kern="0" dirty="0">
                <a:solidFill>
                  <a:srgbClr val="F59E0B"/>
                </a:solidFill>
                <a:latin typeface="JetBrains Mono" pitchFamily="34" charset="0"/>
                <a:ea typeface="JetBrains Mono" pitchFamily="34" charset="-122"/>
                <a:cs typeface="JetBrains Mono" pitchFamily="34" charset="-120"/>
              </a:rPr>
              <a:t>TYPE · 04</a:t>
            </a:r>
            <a:endParaRPr lang="en-US" sz="825" dirty="0"/>
          </a:p>
        </p:txBody>
      </p:sp>
      <p:sp>
        <p:nvSpPr>
          <p:cNvPr id="50" name="Text 40"/>
          <p:cNvSpPr txBox="1"/>
          <p:nvPr/>
        </p:nvSpPr>
        <p:spPr>
          <a:xfrm>
            <a:off x="13430707" y="5619902"/>
            <a:ext cx="4000500" cy="247802"/>
          </a:xfrm>
          <a:prstGeom prst="rect">
            <a:avLst/>
          </a:prstGeom>
          <a:noFill/>
          <a:ln/>
        </p:spPr>
        <p:txBody>
          <a:bodyPr wrap="none" lIns="0" tIns="0" rIns="0" bIns="0" rtlCol="0" anchor="ctr"/>
          <a:lstStyle/>
          <a:p>
            <a:pPr algn="l" indent="0" marL="0">
              <a:buNone/>
            </a:pPr>
            <a:r>
              <a:rPr lang="en-US" sz="1650" b="1" dirty="0">
                <a:solidFill>
                  <a:srgbClr val="E6EDF7"/>
                </a:solidFill>
                <a:latin typeface="Inter" pitchFamily="34" charset="0"/>
                <a:ea typeface="Inter" pitchFamily="34" charset="-122"/>
                <a:cs typeface="Inter" pitchFamily="34" charset="-120"/>
              </a:rPr>
              <a:t>Cu protrusion</a:t>
            </a:r>
            <a:endParaRPr lang="en-US" sz="1650" dirty="0"/>
          </a:p>
        </p:txBody>
      </p:sp>
      <p:sp>
        <p:nvSpPr>
          <p:cNvPr id="51" name="Text 41"/>
          <p:cNvSpPr txBox="1"/>
          <p:nvPr/>
        </p:nvSpPr>
        <p:spPr>
          <a:xfrm>
            <a:off x="13430707" y="6001207"/>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EVENTS</a:t>
            </a:r>
            <a:endParaRPr lang="en-US" sz="825" dirty="0"/>
          </a:p>
        </p:txBody>
      </p:sp>
      <p:sp>
        <p:nvSpPr>
          <p:cNvPr id="52" name="Text 42"/>
          <p:cNvSpPr txBox="1"/>
          <p:nvPr/>
        </p:nvSpPr>
        <p:spPr>
          <a:xfrm>
            <a:off x="13430707" y="6133795"/>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3</a:t>
            </a:r>
            <a:endParaRPr lang="en-US" sz="1800" dirty="0"/>
          </a:p>
        </p:txBody>
      </p:sp>
      <p:sp>
        <p:nvSpPr>
          <p:cNvPr id="53" name="Text 43"/>
          <p:cNvSpPr txBox="1"/>
          <p:nvPr/>
        </p:nvSpPr>
        <p:spPr>
          <a:xfrm>
            <a:off x="14763902" y="6001207"/>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SPLIT</a:t>
            </a:r>
            <a:endParaRPr lang="en-US" sz="825" dirty="0"/>
          </a:p>
        </p:txBody>
      </p:sp>
      <p:sp>
        <p:nvSpPr>
          <p:cNvPr id="54" name="Text 44"/>
          <p:cNvSpPr txBox="1"/>
          <p:nvPr/>
        </p:nvSpPr>
        <p:spPr>
          <a:xfrm>
            <a:off x="14763902" y="6133795"/>
            <a:ext cx="1334110" cy="333756"/>
          </a:xfrm>
          <a:prstGeom prst="rect">
            <a:avLst/>
          </a:prstGeom>
          <a:noFill/>
          <a:ln/>
        </p:spPr>
        <p:txBody>
          <a:bodyPr wrap="none" lIns="0" tIns="0" rIns="0" bIns="0" rtlCol="0" anchor="ctr"/>
          <a:lstStyle/>
          <a:p>
            <a:pPr algn="l" indent="0" marL="0">
              <a:buNone/>
            </a:pPr>
            <a:r>
              <a:rPr lang="en-US" sz="1800" b="1" dirty="0">
                <a:solidFill>
                  <a:srgbClr val="8B95A8"/>
                </a:solidFill>
                <a:latin typeface="Inter" pitchFamily="34" charset="0"/>
                <a:ea typeface="Inter" pitchFamily="34" charset="-122"/>
                <a:cs typeface="Inter" pitchFamily="34" charset="-120"/>
              </a:rPr>
              <a:t>균등</a:t>
            </a:r>
            <a:endParaRPr lang="en-US" sz="1800" dirty="0"/>
          </a:p>
        </p:txBody>
      </p:sp>
      <p:sp>
        <p:nvSpPr>
          <p:cNvPr id="55" name="Text 45"/>
          <p:cNvSpPr txBox="1"/>
          <p:nvPr/>
        </p:nvSpPr>
        <p:spPr>
          <a:xfrm>
            <a:off x="16097098" y="6001207"/>
            <a:ext cx="1334110" cy="133502"/>
          </a:xfrm>
          <a:prstGeom prst="rect">
            <a:avLst/>
          </a:prstGeom>
          <a:noFill/>
          <a:ln/>
        </p:spPr>
        <p:txBody>
          <a:bodyPr wrap="none" lIns="0" tIns="0" rIns="0" bIns="0" rtlCol="0" anchor="ctr"/>
          <a:lstStyle/>
          <a:p>
            <a:pPr algn="l" indent="0" marL="0">
              <a:buNone/>
            </a:pPr>
            <a:r>
              <a:rPr lang="en-US" sz="825" dirty="0">
                <a:solidFill>
                  <a:srgbClr val="5C6478"/>
                </a:solidFill>
                <a:latin typeface="JetBrains Mono" pitchFamily="34" charset="0"/>
                <a:ea typeface="JetBrains Mono" pitchFamily="34" charset="-122"/>
                <a:cs typeface="JetBrains Mono" pitchFamily="34" charset="-120"/>
              </a:rPr>
              <a:t>AFFECTED</a:t>
            </a:r>
            <a:endParaRPr lang="en-US" sz="825" dirty="0"/>
          </a:p>
        </p:txBody>
      </p:sp>
      <p:sp>
        <p:nvSpPr>
          <p:cNvPr id="56" name="Text 46"/>
          <p:cNvSpPr txBox="1"/>
          <p:nvPr/>
        </p:nvSpPr>
        <p:spPr>
          <a:xfrm>
            <a:off x="16097098" y="6133795"/>
            <a:ext cx="1334110" cy="277063"/>
          </a:xfrm>
          <a:prstGeom prst="rect">
            <a:avLst/>
          </a:prstGeom>
          <a:noFill/>
          <a:ln/>
        </p:spPr>
        <p:txBody>
          <a:bodyPr wrap="none" lIns="0" tIns="0" rIns="0" bIns="0" rtlCol="0" anchor="ctr"/>
          <a:lstStyle/>
          <a:p>
            <a:pPr algn="l" indent="0" marL="0">
              <a:buNone/>
            </a:pPr>
            <a:r>
              <a:rPr lang="en-US" sz="1800" b="1" dirty="0">
                <a:solidFill>
                  <a:srgbClr val="E6EDF7"/>
                </a:solidFill>
                <a:latin typeface="Inter" pitchFamily="34" charset="0"/>
                <a:ea typeface="Inter" pitchFamily="34" charset="-122"/>
                <a:cs typeface="Inter" pitchFamily="34" charset="-120"/>
              </a:rPr>
              <a:t>diffuse</a:t>
            </a:r>
            <a:endParaRPr lang="en-US" sz="1800" dirty="0"/>
          </a:p>
        </p:txBody>
      </p:sp>
      <p:sp>
        <p:nvSpPr>
          <p:cNvPr id="57" name="Shape 47"/>
          <p:cNvSpPr/>
          <p:nvPr/>
        </p:nvSpPr>
        <p:spPr>
          <a:xfrm>
            <a:off x="2667305" y="7963510"/>
            <a:ext cx="4953305" cy="9144"/>
          </a:xfrm>
          <a:prstGeom prst="rect">
            <a:avLst/>
          </a:prstGeom>
          <a:solidFill>
            <a:srgbClr val="FFFFFF">
              <a:alpha val="6000"/>
            </a:srgbClr>
          </a:solidFill>
          <a:ln w="12700">
            <a:solidFill>
              <a:srgbClr val="FFFFFF">
                <a:alpha val="0"/>
              </a:srgbClr>
            </a:solidFill>
            <a:prstDash val="solid"/>
          </a:ln>
        </p:spPr>
      </p:sp>
      <p:sp>
        <p:nvSpPr>
          <p:cNvPr id="58" name="Text 48"/>
          <p:cNvSpPr txBox="1"/>
          <p:nvPr/>
        </p:nvSpPr>
        <p:spPr>
          <a:xfrm>
            <a:off x="2667305" y="7715707"/>
            <a:ext cx="4953305" cy="153619"/>
          </a:xfrm>
          <a:prstGeom prst="rect">
            <a:avLst/>
          </a:prstGeom>
          <a:solidFill>
            <a:srgbClr val="FFFFFF">
              <a:alpha val="0"/>
            </a:srgbClr>
          </a:solidFill>
          <a:ln>
            <a:solidFill>
              <a:srgbClr val="FFFFFF">
                <a:alpha val="0"/>
              </a:srgbClr>
            </a:solid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SPLIT A · 1.0 nm</a:t>
            </a:r>
            <a:endParaRPr lang="en-US" sz="900" dirty="0"/>
          </a:p>
        </p:txBody>
      </p:sp>
      <p:sp>
        <p:nvSpPr>
          <p:cNvPr id="59" name="Shape 49"/>
          <p:cNvSpPr/>
          <p:nvPr/>
        </p:nvSpPr>
        <p:spPr>
          <a:xfrm>
            <a:off x="7619695" y="7963510"/>
            <a:ext cx="4953305" cy="9144"/>
          </a:xfrm>
          <a:prstGeom prst="rect">
            <a:avLst/>
          </a:prstGeom>
          <a:solidFill>
            <a:srgbClr val="FFFFFF">
              <a:alpha val="6000"/>
            </a:srgbClr>
          </a:solidFill>
          <a:ln w="12700">
            <a:solidFill>
              <a:srgbClr val="FFFFFF">
                <a:alpha val="0"/>
              </a:srgbClr>
            </a:solidFill>
            <a:prstDash val="solid"/>
          </a:ln>
        </p:spPr>
      </p:sp>
      <p:sp>
        <p:nvSpPr>
          <p:cNvPr id="60" name="Text 50"/>
          <p:cNvSpPr txBox="1"/>
          <p:nvPr/>
        </p:nvSpPr>
        <p:spPr>
          <a:xfrm>
            <a:off x="7619695" y="7715707"/>
            <a:ext cx="4953305" cy="153619"/>
          </a:xfrm>
          <a:prstGeom prst="rect">
            <a:avLst/>
          </a:prstGeom>
          <a:solidFill>
            <a:srgbClr val="FFFFFF">
              <a:alpha val="0"/>
            </a:srgbClr>
          </a:solidFill>
          <a:ln>
            <a:solidFill>
              <a:srgbClr val="FFFFFF">
                <a:alpha val="0"/>
              </a:srgbClr>
            </a:solid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SPLIT B · 1.5 nm ★</a:t>
            </a:r>
            <a:endParaRPr lang="en-US" sz="900" dirty="0"/>
          </a:p>
        </p:txBody>
      </p:sp>
      <p:sp>
        <p:nvSpPr>
          <p:cNvPr id="61" name="Shape 51"/>
          <p:cNvSpPr/>
          <p:nvPr/>
        </p:nvSpPr>
        <p:spPr>
          <a:xfrm>
            <a:off x="12573000" y="7963510"/>
            <a:ext cx="4953305" cy="9144"/>
          </a:xfrm>
          <a:prstGeom prst="rect">
            <a:avLst/>
          </a:prstGeom>
          <a:solidFill>
            <a:srgbClr val="FFFFFF">
              <a:alpha val="6000"/>
            </a:srgbClr>
          </a:solidFill>
          <a:ln w="12700">
            <a:solidFill>
              <a:srgbClr val="FFFFFF">
                <a:alpha val="0"/>
              </a:srgbClr>
            </a:solidFill>
            <a:prstDash val="solid"/>
          </a:ln>
        </p:spPr>
      </p:sp>
      <p:sp>
        <p:nvSpPr>
          <p:cNvPr id="62" name="Text 52"/>
          <p:cNvSpPr txBox="1"/>
          <p:nvPr/>
        </p:nvSpPr>
        <p:spPr>
          <a:xfrm>
            <a:off x="12573000" y="7715707"/>
            <a:ext cx="4953305" cy="153619"/>
          </a:xfrm>
          <a:prstGeom prst="rect">
            <a:avLst/>
          </a:prstGeom>
          <a:solidFill>
            <a:srgbClr val="FFFFFF">
              <a:alpha val="0"/>
            </a:srgbClr>
          </a:solidFill>
          <a:ln>
            <a:solidFill>
              <a:srgbClr val="FFFFFF">
                <a:alpha val="0"/>
              </a:srgbClr>
            </a:solidFill>
          </a:ln>
        </p:spPr>
        <p:txBody>
          <a:bodyPr wrap="none" lIns="0" tIns="0" rIns="0" bIns="0" rtlCol="0" anchor="ctr"/>
          <a:lstStyle/>
          <a:p>
            <a:pPr algn="l" indent="0" marL="0">
              <a:buNone/>
            </a:pPr>
            <a:r>
              <a:rPr lang="en-US" sz="900" spc="162" kern="0" dirty="0">
                <a:solidFill>
                  <a:srgbClr val="5C6478"/>
                </a:solidFill>
                <a:latin typeface="JetBrains Mono" pitchFamily="34" charset="0"/>
                <a:ea typeface="JetBrains Mono" pitchFamily="34" charset="-122"/>
                <a:cs typeface="JetBrains Mono" pitchFamily="34" charset="-120"/>
              </a:rPr>
              <a:t>SPLIT C · 2.0 nm</a:t>
            </a:r>
            <a:endParaRPr lang="en-US" sz="900" dirty="0"/>
          </a:p>
        </p:txBody>
      </p:sp>
      <p:sp>
        <p:nvSpPr>
          <p:cNvPr id="63" name="Text 53"/>
          <p:cNvSpPr txBox="1"/>
          <p:nvPr/>
        </p:nvSpPr>
        <p:spPr>
          <a:xfrm>
            <a:off x="761695" y="8115300"/>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총 events</a:t>
            </a:r>
            <a:endParaRPr lang="en-US" sz="1350" dirty="0"/>
          </a:p>
        </p:txBody>
      </p:sp>
      <p:sp>
        <p:nvSpPr>
          <p:cNvPr id="64" name="Text 54"/>
          <p:cNvSpPr txBox="1"/>
          <p:nvPr/>
        </p:nvSpPr>
        <p:spPr>
          <a:xfrm>
            <a:off x="2667305" y="8096098"/>
            <a:ext cx="4953305" cy="295351"/>
          </a:xfrm>
          <a:prstGeom prst="rect">
            <a:avLst/>
          </a:prstGeom>
          <a:noFill/>
          <a:ln/>
        </p:spPr>
        <p:txBody>
          <a:bodyPr wrap="none" lIns="0" tIns="0" rIns="0" bIns="0" rtlCol="0" anchor="ctr"/>
          <a:lstStyle/>
          <a:p>
            <a:pPr algn="l" indent="0" marL="0">
              <a:buNone/>
            </a:pPr>
            <a:r>
              <a:rPr lang="en-US" sz="1800" dirty="0">
                <a:solidFill>
                  <a:srgbClr val="22D3EE"/>
                </a:solidFill>
                <a:latin typeface="JetBrains Mono" pitchFamily="34" charset="0"/>
                <a:ea typeface="JetBrains Mono" pitchFamily="34" charset="-122"/>
                <a:cs typeface="JetBrains Mono" pitchFamily="34" charset="-120"/>
              </a:rPr>
              <a:t>7</a:t>
            </a:r>
            <a:endParaRPr lang="en-US" sz="1800" dirty="0"/>
          </a:p>
        </p:txBody>
      </p:sp>
      <p:sp>
        <p:nvSpPr>
          <p:cNvPr id="65" name="Text 55"/>
          <p:cNvSpPr txBox="1"/>
          <p:nvPr/>
        </p:nvSpPr>
        <p:spPr>
          <a:xfrm>
            <a:off x="7619695" y="8096098"/>
            <a:ext cx="4953305" cy="295351"/>
          </a:xfrm>
          <a:prstGeom prst="rect">
            <a:avLst/>
          </a:prstGeom>
          <a:noFill/>
          <a:ln/>
        </p:spPr>
        <p:txBody>
          <a:bodyPr wrap="none" lIns="0" tIns="0" rIns="0" bIns="0" rtlCol="0" anchor="ctr"/>
          <a:lstStyle/>
          <a:p>
            <a:pPr algn="l" indent="0" marL="0">
              <a:buNone/>
            </a:pPr>
            <a:r>
              <a:rPr lang="en-US" sz="1800" dirty="0">
                <a:solidFill>
                  <a:srgbClr val="34D399"/>
                </a:solidFill>
                <a:latin typeface="JetBrains Mono" pitchFamily="34" charset="0"/>
                <a:ea typeface="JetBrains Mono" pitchFamily="34" charset="-122"/>
                <a:cs typeface="JetBrains Mono" pitchFamily="34" charset="-120"/>
              </a:rPr>
              <a:t>1</a:t>
            </a:r>
            <a:endParaRPr lang="en-US" sz="1800" dirty="0"/>
          </a:p>
        </p:txBody>
      </p:sp>
      <p:sp>
        <p:nvSpPr>
          <p:cNvPr id="66" name="Text 56"/>
          <p:cNvSpPr txBox="1"/>
          <p:nvPr/>
        </p:nvSpPr>
        <p:spPr>
          <a:xfrm>
            <a:off x="12573000" y="8096098"/>
            <a:ext cx="4953305" cy="295351"/>
          </a:xfrm>
          <a:prstGeom prst="rect">
            <a:avLst/>
          </a:prstGeom>
          <a:noFill/>
          <a:ln/>
        </p:spPr>
        <p:txBody>
          <a:bodyPr wrap="none" lIns="0" tIns="0" rIns="0" bIns="0" rtlCol="0" anchor="ctr"/>
          <a:lstStyle/>
          <a:p>
            <a:pPr algn="l" indent="0" marL="0">
              <a:buNone/>
            </a:pPr>
            <a:r>
              <a:rPr lang="en-US" sz="1800" dirty="0">
                <a:solidFill>
                  <a:srgbClr val="F59E0B"/>
                </a:solidFill>
                <a:latin typeface="JetBrains Mono" pitchFamily="34" charset="0"/>
                <a:ea typeface="JetBrains Mono" pitchFamily="34" charset="-122"/>
                <a:cs typeface="JetBrains Mono" pitchFamily="34" charset="-120"/>
              </a:rPr>
              <a:t>4</a:t>
            </a:r>
            <a:endParaRPr lang="en-US" sz="1800" dirty="0"/>
          </a:p>
        </p:txBody>
      </p:sp>
      <p:sp>
        <p:nvSpPr>
          <p:cNvPr id="67" name="Text 57"/>
          <p:cNvSpPr txBox="1"/>
          <p:nvPr/>
        </p:nvSpPr>
        <p:spPr>
          <a:xfrm>
            <a:off x="761695" y="8382305"/>
            <a:ext cx="1905610" cy="257861"/>
          </a:xfrm>
          <a:prstGeom prst="rect">
            <a:avLst/>
          </a:prstGeom>
          <a:noFill/>
          <a:ln/>
        </p:spPr>
        <p:txBody>
          <a:bodyPr wrap="none" lIns="0" tIns="0" rIns="0" bIns="0" rtlCol="0" anchor="ctr"/>
          <a:lstStyle/>
          <a:p>
            <a:pPr algn="l" indent="0" marL="0">
              <a:buNone/>
            </a:pPr>
            <a:r>
              <a:rPr lang="en-US" sz="1350" dirty="0">
                <a:solidFill>
                  <a:srgbClr val="8B95A8"/>
                </a:solidFill>
                <a:latin typeface="IBM Plex Sans KR" pitchFamily="34" charset="0"/>
                <a:ea typeface="IBM Plex Sans KR" pitchFamily="34" charset="-122"/>
                <a:cs typeface="IBM Plex Sans KR" pitchFamily="34" charset="-120"/>
              </a:rPr>
              <a:t>어느 split에서?</a:t>
            </a:r>
            <a:endParaRPr lang="en-US" sz="1350" dirty="0"/>
          </a:p>
        </p:txBody>
      </p:sp>
      <p:sp>
        <p:nvSpPr>
          <p:cNvPr id="68" name="Text 58"/>
          <p:cNvSpPr txBox="1"/>
          <p:nvPr/>
        </p:nvSpPr>
        <p:spPr>
          <a:xfrm>
            <a:off x="2667305" y="8382305"/>
            <a:ext cx="4953305" cy="257861"/>
          </a:xfrm>
          <a:prstGeom prst="rect">
            <a:avLst/>
          </a:prstGeom>
          <a:noFill/>
          <a:ln/>
        </p:spPr>
        <p:txBody>
          <a:bodyPr wrap="none" lIns="0" tIns="0" rIns="0" bIns="0" rtlCol="0" anchor="ctr"/>
          <a:lstStyle/>
          <a:p>
            <a:pPr algn="l" indent="0" marL="0">
              <a:buNone/>
            </a:pPr>
            <a:r>
              <a:rPr lang="en-US" sz="1350" dirty="0">
                <a:solidFill>
                  <a:srgbClr val="E6EDF7"/>
                </a:solidFill>
                <a:latin typeface="IBM Plex Sans KR" pitchFamily="34" charset="0"/>
                <a:ea typeface="IBM Plex Sans KR" pitchFamily="34" charset="-122"/>
                <a:cs typeface="IBM Plex Sans KR" pitchFamily="34" charset="-120"/>
              </a:rPr>
              <a:t>delam, seam 집중</a:t>
            </a:r>
            <a:endParaRPr lang="en-US" sz="1350" dirty="0"/>
          </a:p>
        </p:txBody>
      </p:sp>
      <p:sp>
        <p:nvSpPr>
          <p:cNvPr id="69" name="Text 59"/>
          <p:cNvSpPr txBox="1"/>
          <p:nvPr/>
        </p:nvSpPr>
        <p:spPr>
          <a:xfrm>
            <a:off x="7619695" y="8382305"/>
            <a:ext cx="4953305" cy="257861"/>
          </a:xfrm>
          <a:prstGeom prst="rect">
            <a:avLst/>
          </a:prstGeom>
          <a:noFill/>
          <a:ln/>
        </p:spPr>
        <p:txBody>
          <a:bodyPr wrap="none" lIns="0" tIns="0" rIns="0" bIns="0" rtlCol="0" anchor="ctr"/>
          <a:lstStyle/>
          <a:p>
            <a:pPr algn="l" indent="0" marL="0">
              <a:buNone/>
            </a:pPr>
            <a:r>
              <a:rPr lang="en-US" sz="1350" dirty="0">
                <a:solidFill>
                  <a:srgbClr val="34D399"/>
                </a:solidFill>
                <a:latin typeface="IBM Plex Sans KR" pitchFamily="34" charset="0"/>
                <a:ea typeface="IBM Plex Sans KR" pitchFamily="34" charset="-122"/>
                <a:cs typeface="IBM Plex Sans KR" pitchFamily="34" charset="-120"/>
              </a:rPr>
              <a:t>drift 1건뿐</a:t>
            </a:r>
            <a:endParaRPr lang="en-US" sz="1350" dirty="0"/>
          </a:p>
        </p:txBody>
      </p:sp>
      <p:sp>
        <p:nvSpPr>
          <p:cNvPr id="70" name="Text 60"/>
          <p:cNvSpPr txBox="1"/>
          <p:nvPr/>
        </p:nvSpPr>
        <p:spPr>
          <a:xfrm>
            <a:off x="12573000" y="8382305"/>
            <a:ext cx="4953305" cy="257861"/>
          </a:xfrm>
          <a:prstGeom prst="rect">
            <a:avLst/>
          </a:prstGeom>
          <a:noFill/>
          <a:ln/>
        </p:spPr>
        <p:txBody>
          <a:bodyPr wrap="none" lIns="0" tIns="0" rIns="0" bIns="0" rtlCol="0" anchor="ctr"/>
          <a:lstStyle/>
          <a:p>
            <a:pPr algn="l" indent="0" marL="0">
              <a:buNone/>
            </a:pPr>
            <a:r>
              <a:rPr lang="en-US" sz="1350" dirty="0">
                <a:solidFill>
                  <a:srgbClr val="E6EDF7"/>
                </a:solidFill>
                <a:latin typeface="IBM Plex Sans KR" pitchFamily="34" charset="0"/>
                <a:ea typeface="IBM Plex Sans KR" pitchFamily="34" charset="-122"/>
                <a:cs typeface="IBM Plex Sans KR" pitchFamily="34" charset="-120"/>
              </a:rPr>
              <a:t>slit void 우세</a:t>
            </a:r>
            <a:endParaRPr lang="en-US" sz="1350" dirty="0"/>
          </a:p>
        </p:txBody>
      </p:sp>
      <p:sp>
        <p:nvSpPr>
          <p:cNvPr id="71" name="Text 61"/>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EF4444"/>
                </a:solidFill>
                <a:latin typeface="JetBrains Mono" pitchFamily="34" charset="0"/>
                <a:ea typeface="JetBrains Mono" pitchFamily="34" charset="-122"/>
                <a:cs typeface="JetBrains Mono" pitchFamily="34" charset="-120"/>
              </a:rPr>
              <a:t>KEY TAKEAWAY</a:t>
            </a:r>
            <a:endParaRPr lang="en-US" sz="900" dirty="0"/>
          </a:p>
        </p:txBody>
      </p:sp>
      <p:pic>
        <p:nvPicPr>
          <p:cNvPr id="72" name="Image 7" descr="gen-dedup-d53dab931ecab1b2f88dcd969c3bdead.png">    </p:cNvPr>
          <p:cNvPicPr>
            <a:picLocks noChangeAspect="1"/>
          </p:cNvPicPr>
          <p:nvPr/>
        </p:nvPicPr>
        <p:blipFill>
          <a:blip r:embed="rId8"/>
          <a:srcRect l="-2083" r="-2083" t="0" b="0"/>
          <a:stretch/>
        </p:blipFill>
        <p:spPr>
          <a:xfrm>
            <a:off x="2325319" y="8904427"/>
            <a:ext cx="228600" cy="9144"/>
          </a:xfrm>
          <a:prstGeom prst="rect">
            <a:avLst/>
          </a:prstGeom>
        </p:spPr>
      </p:pic>
      <p:sp>
        <p:nvSpPr>
          <p:cNvPr id="73" name="Text 62"/>
          <p:cNvSpPr txBox="1"/>
          <p:nvPr/>
        </p:nvSpPr>
        <p:spPr>
          <a:xfrm>
            <a:off x="2724912" y="8762695"/>
            <a:ext cx="9611258"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A는 seam·delam, C는 slit void에 편향 — B만 1건 — 1.5 nm가 anomaly count 측면에서도 가장 안정적.</a:t>
            </a:r>
            <a:endParaRPr lang="en-US" sz="1650" dirty="0"/>
          </a:p>
        </p:txBody>
      </p:sp>
      <p:sp>
        <p:nvSpPr>
          <p:cNvPr id="74" name="Text 63"/>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C18"/>
        </a:solidFill>
      </p:bgPr>
    </p:bg>
    <p:spTree>
      <p:nvGrpSpPr>
        <p:cNvPr id="1" name=""/>
        <p:cNvGrpSpPr/>
        <p:nvPr/>
      </p:nvGrpSpPr>
      <p:grpSpPr>
        <a:xfrm>
          <a:off x="0" y="0"/>
          <a:ext cx="0" cy="0"/>
          <a:chOff x="0" y="0"/>
          <a:chExt cx="0" cy="0"/>
        </a:xfrm>
      </p:grpSpPr>
      <p:sp>
        <p:nvSpPr>
          <p:cNvPr id="3" name="Shape 0"/>
          <p:cNvSpPr/>
          <p:nvPr/>
        </p:nvSpPr>
        <p:spPr>
          <a:xfrm>
            <a:off x="761695" y="2476195"/>
            <a:ext cx="12402007" cy="4972507"/>
          </a:xfrm>
          <a:prstGeom prst="rect">
            <a:avLst/>
          </a:prstGeom>
          <a:solidFill>
            <a:srgbClr val="131A2D"/>
          </a:solidFill>
          <a:ln w="12700">
            <a:solidFill>
              <a:srgbClr val="00D4FF">
                <a:alpha val="18000"/>
              </a:srgbClr>
            </a:solidFill>
            <a:prstDash val="solid"/>
          </a:ln>
        </p:spPr>
      </p:sp>
      <p:pic>
        <p:nvPicPr>
          <p:cNvPr id="4" name="Image 0" descr="gen-dedup-f0ebe17b9f250265f4f454143f57493e.png">    </p:cNvPr>
          <p:cNvPicPr>
            <a:picLocks noChangeAspect="1"/>
          </p:cNvPicPr>
          <p:nvPr/>
        </p:nvPicPr>
        <p:blipFill>
          <a:blip r:embed="rId1"/>
          <a:srcRect l="0" r="0" t="0" b="0"/>
          <a:stretch/>
        </p:blipFill>
        <p:spPr>
          <a:xfrm>
            <a:off x="13430707" y="3105302"/>
            <a:ext cx="4114800" cy="1257300"/>
          </a:xfrm>
          <a:prstGeom prst="rect">
            <a:avLst/>
          </a:prstGeom>
        </p:spPr>
      </p:pic>
      <p:pic>
        <p:nvPicPr>
          <p:cNvPr id="5" name="Image 1" descr="gen-dedup-3719469e57fa739d80da80b47890ac82.png">    </p:cNvPr>
          <p:cNvPicPr>
            <a:picLocks noChangeAspect="1"/>
          </p:cNvPicPr>
          <p:nvPr/>
        </p:nvPicPr>
        <p:blipFill>
          <a:blip r:embed="rId2"/>
          <a:srcRect l="0" r="0" t="0" b="0"/>
          <a:stretch/>
        </p:blipFill>
        <p:spPr>
          <a:xfrm>
            <a:off x="13430707" y="4190695"/>
            <a:ext cx="4114800" cy="1257300"/>
          </a:xfrm>
          <a:prstGeom prst="rect">
            <a:avLst/>
          </a:prstGeom>
        </p:spPr>
      </p:pic>
      <p:pic>
        <p:nvPicPr>
          <p:cNvPr id="6" name="Image 2" descr="gen-dedup-ad023316f07e7c8b26ab71e6410be087.png">    </p:cNvPr>
          <p:cNvPicPr>
            <a:picLocks noChangeAspect="1"/>
          </p:cNvPicPr>
          <p:nvPr/>
        </p:nvPicPr>
        <p:blipFill>
          <a:blip r:embed="rId3"/>
          <a:srcRect l="0" r="0" t="-14" b="-14"/>
          <a:stretch/>
        </p:blipFill>
        <p:spPr>
          <a:xfrm>
            <a:off x="13430707" y="5562295"/>
            <a:ext cx="4114800" cy="1067105"/>
          </a:xfrm>
          <a:prstGeom prst="rect">
            <a:avLst/>
          </a:prstGeom>
        </p:spPr>
      </p:pic>
      <p:sp>
        <p:nvSpPr>
          <p:cNvPr id="7" name="Shape 1"/>
          <p:cNvSpPr/>
          <p:nvPr/>
        </p:nvSpPr>
        <p:spPr>
          <a:xfrm>
            <a:off x="13430707" y="6743700"/>
            <a:ext cx="4114800" cy="705002"/>
          </a:xfrm>
          <a:prstGeom prst="rect">
            <a:avLst/>
          </a:prstGeom>
          <a:solidFill>
            <a:srgbClr val="131A2D"/>
          </a:solidFill>
          <a:ln w="12700">
            <a:solidFill>
              <a:srgbClr val="FFFFFF">
                <a:alpha val="6000"/>
              </a:srgbClr>
            </a:solidFill>
            <a:prstDash val="solid"/>
          </a:ln>
        </p:spPr>
      </p:sp>
      <p:pic>
        <p:nvPicPr>
          <p:cNvPr id="8" name="Image 3" descr="gen-dedup-705f9524b295a29f57e75a4be68150ae.png">    </p:cNvPr>
          <p:cNvPicPr>
            <a:picLocks noChangeAspect="1"/>
          </p:cNvPicPr>
          <p:nvPr/>
        </p:nvPicPr>
        <p:blipFill>
          <a:blip r:embed="rId4"/>
          <a:srcRect l="0" r="0" t="-30" b="-30"/>
          <a:stretch/>
        </p:blipFill>
        <p:spPr>
          <a:xfrm>
            <a:off x="761695" y="8667598"/>
            <a:ext cx="16792956" cy="743407"/>
          </a:xfrm>
          <a:prstGeom prst="rect">
            <a:avLst/>
          </a:prstGeom>
        </p:spPr>
      </p:pic>
      <p:pic>
        <p:nvPicPr>
          <p:cNvPr id="9" name="Image 4" descr="gen-dedup-254703a04c84b6a855582b8f89c36dca.png">    </p:cNvPr>
          <p:cNvPicPr>
            <a:picLocks noChangeAspect="1"/>
          </p:cNvPicPr>
          <p:nvPr/>
        </p:nvPicPr>
        <p:blipFill>
          <a:blip r:embed="rId5"/>
          <a:srcRect l="-2083" r="-2083" t="0" b="0"/>
          <a:stretch/>
        </p:blipFill>
        <p:spPr>
          <a:xfrm>
            <a:off x="761695" y="857707"/>
            <a:ext cx="16763695" cy="9144"/>
          </a:xfrm>
          <a:prstGeom prst="rect">
            <a:avLst/>
          </a:prstGeom>
        </p:spPr>
      </p:pic>
      <p:sp>
        <p:nvSpPr>
          <p:cNvPr id="10" name="Shape 2"/>
          <p:cNvSpPr/>
          <p:nvPr/>
        </p:nvSpPr>
        <p:spPr>
          <a:xfrm>
            <a:off x="761695" y="500177"/>
            <a:ext cx="75895" cy="75895"/>
          </a:xfrm>
          <a:prstGeom prst="rect">
            <a:avLst/>
          </a:prstGeom>
          <a:solidFill>
            <a:srgbClr val="34D399"/>
          </a:solidFill>
          <a:ln w="12700">
            <a:solidFill>
              <a:srgbClr val="FFFFFF">
                <a:alpha val="0"/>
              </a:srgbClr>
            </a:solidFill>
            <a:prstDash val="solid"/>
          </a:ln>
          <a:effectLst>
            <a:outerShdw sx="100000" sy="100000" kx="0" ky="0" algn="bl" rotWithShape="0" blurRad="114300" dist="12700" dir="16200000">
              <a:srgbClr val="34d399">
                <a:alpha val="100000"/>
              </a:srgbClr>
            </a:outerShdw>
          </a:effectLst>
        </p:spPr>
      </p:sp>
      <p:sp>
        <p:nvSpPr>
          <p:cNvPr id="11" name="Text 3"/>
          <p:cNvSpPr txBox="1"/>
          <p:nvPr/>
        </p:nvSpPr>
        <p:spPr>
          <a:xfrm>
            <a:off x="952805" y="457200"/>
            <a:ext cx="3480206" cy="162763"/>
          </a:xfrm>
          <a:prstGeom prst="rect">
            <a:avLst/>
          </a:prstGeom>
          <a:noFill/>
          <a:ln/>
        </p:spPr>
        <p:txBody>
          <a:bodyPr wrap="none" lIns="0" tIns="0" rIns="0" bIns="0" rtlCol="0" anchor="ctr"/>
          <a:lstStyle/>
          <a:p>
            <a:pPr algn="l" indent="0" marL="0">
              <a:buNone/>
            </a:pPr>
            <a:r>
              <a:rPr lang="en-US" sz="1050" spc="294" kern="0" dirty="0">
                <a:solidFill>
                  <a:srgbClr val="34D399"/>
                </a:solidFill>
                <a:latin typeface="Inter" pitchFamily="34" charset="0"/>
                <a:ea typeface="Inter" pitchFamily="34" charset="-122"/>
                <a:cs typeface="Inter" pitchFamily="34" charset="-120"/>
              </a:rPr>
              <a:t>SLIDE 10 · Electrical Summary</a:t>
            </a:r>
            <a:endParaRPr lang="en-US" sz="1050" dirty="0"/>
          </a:p>
        </p:txBody>
      </p:sp>
      <p:sp>
        <p:nvSpPr>
          <p:cNvPr id="12" name="Text 4"/>
          <p:cNvSpPr txBox="1"/>
          <p:nvPr/>
        </p:nvSpPr>
        <p:spPr>
          <a:xfrm>
            <a:off x="11811305" y="457200"/>
            <a:ext cx="5715000" cy="219456"/>
          </a:xfrm>
          <a:prstGeom prst="rect">
            <a:avLst/>
          </a:prstGeom>
          <a:noFill/>
          <a:ln/>
        </p:spPr>
        <p:txBody>
          <a:bodyPr wrap="none" lIns="0" tIns="0" rIns="0" bIns="0" rtlCol="0" anchor="ctr"/>
          <a:lstStyle/>
          <a:p>
            <a:pPr algn="r" indent="0" marL="0">
              <a:buNone/>
            </a:pPr>
            <a:r>
              <a:rPr lang="en-US" sz="1050" dirty="0">
                <a:solidFill>
                  <a:srgbClr val="5C6478"/>
                </a:solidFill>
                <a:latin typeface="JetBrains Mono" pitchFamily="34" charset="0"/>
                <a:ea typeface="JetBrains Mono" pitchFamily="34" charset="-122"/>
                <a:cs typeface="JetBrains Mono" pitchFamily="34" charset="-120"/>
              </a:rPr>
              <a:t>RELIABILITY YIELD · MEDIAN · Δ vs B</a:t>
            </a:r>
            <a:endParaRPr lang="en-US" sz="1200" dirty="0"/>
          </a:p>
        </p:txBody>
      </p:sp>
      <p:sp>
        <p:nvSpPr>
          <p:cNvPr id="13" name="Text 5"/>
          <p:cNvSpPr txBox="1"/>
          <p:nvPr/>
        </p:nvSpPr>
        <p:spPr>
          <a:xfrm>
            <a:off x="761695" y="1143000"/>
            <a:ext cx="14287500" cy="448056"/>
          </a:xfrm>
          <a:prstGeom prst="rect">
            <a:avLst/>
          </a:prstGeom>
          <a:noFill/>
          <a:ln/>
        </p:spPr>
        <p:txBody>
          <a:bodyPr wrap="none" lIns="0" tIns="0" rIns="0" bIns="0" rtlCol="0" anchor="ctr"/>
          <a:lstStyle/>
          <a:p>
            <a:pPr algn="l" indent="0" marL="0">
              <a:buNone/>
            </a:pPr>
            <a:r>
              <a:rPr lang="en-US" sz="3150" b="1" spc="-31" kern="0" dirty="0">
                <a:solidFill>
                  <a:srgbClr val="E6EDF7"/>
                </a:solidFill>
                <a:latin typeface="Inter" pitchFamily="34" charset="0"/>
                <a:ea typeface="Inter" pitchFamily="34" charset="-122"/>
                <a:cs typeface="Inter" pitchFamily="34" charset="-120"/>
              </a:rPr>
              <a:t>전기 특성 종합 · reliability · yield · stress</a:t>
            </a:r>
            <a:endParaRPr lang="en-US" sz="3150" dirty="0"/>
          </a:p>
        </p:txBody>
      </p:sp>
      <p:sp>
        <p:nvSpPr>
          <p:cNvPr id="14" name="Text 6"/>
          <p:cNvSpPr txBox="1"/>
          <p:nvPr/>
        </p:nvSpPr>
        <p:spPr>
          <a:xfrm>
            <a:off x="761695" y="1716329"/>
            <a:ext cx="14287500" cy="286207"/>
          </a:xfrm>
          <a:prstGeom prst="rect">
            <a:avLst/>
          </a:prstGeom>
          <a:noFill/>
          <a:ln/>
        </p:spPr>
        <p:txBody>
          <a:bodyPr wrap="none" lIns="0" tIns="0" rIns="0" bIns="0" rtlCol="0" anchor="ctr"/>
          <a:lstStyle/>
          <a:p>
            <a:pPr algn="l" indent="0" marL="0">
              <a:buNone/>
            </a:pPr>
            <a:r>
              <a:rPr lang="en-US" sz="1500" dirty="0">
                <a:solidFill>
                  <a:srgbClr val="8B95A8"/>
                </a:solidFill>
                <a:latin typeface="IBM Plex Sans KR" pitchFamily="34" charset="0"/>
                <a:ea typeface="IBM Plex Sans KR" pitchFamily="34" charset="-122"/>
                <a:cs typeface="IBM Plex Sans KR" pitchFamily="34" charset="-120"/>
              </a:rPr>
              <a:t>wafer yield, line-to-line leakage, EM (MTTF), V-ramp TDDB (T63) — 모두 median과 B 기준 Δ.</a:t>
            </a:r>
            <a:endParaRPr lang="en-US" sz="1500" dirty="0"/>
          </a:p>
        </p:txBody>
      </p:sp>
      <p:sp>
        <p:nvSpPr>
          <p:cNvPr id="15" name="Text 7"/>
          <p:cNvSpPr txBox="1"/>
          <p:nvPr/>
        </p:nvSpPr>
        <p:spPr>
          <a:xfrm>
            <a:off x="1047902" y="2667305"/>
            <a:ext cx="11811305" cy="133502"/>
          </a:xfrm>
          <a:prstGeom prst="rect">
            <a:avLst/>
          </a:prstGeom>
          <a:noFill/>
          <a:ln/>
        </p:spPr>
        <p:txBody>
          <a:bodyPr wrap="non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SUMMARY · n = 6 WAFERS · median PER SPLIT</a:t>
            </a:r>
            <a:endParaRPr lang="en-US" sz="825" dirty="0"/>
          </a:p>
        </p:txBody>
      </p:sp>
      <p:sp>
        <p:nvSpPr>
          <p:cNvPr id="16" name="Shape 8"/>
          <p:cNvSpPr/>
          <p:nvPr/>
        </p:nvSpPr>
        <p:spPr>
          <a:xfrm>
            <a:off x="1047902" y="3287268"/>
            <a:ext cx="11811305" cy="9144"/>
          </a:xfrm>
          <a:prstGeom prst="rect">
            <a:avLst/>
          </a:prstGeom>
          <a:solidFill>
            <a:srgbClr val="00D4FF">
              <a:alpha val="18000"/>
            </a:srgbClr>
          </a:solidFill>
          <a:ln w="12700">
            <a:solidFill>
              <a:srgbClr val="00D4FF">
                <a:alpha val="0"/>
              </a:srgbClr>
            </a:solidFill>
            <a:prstDash val="solid"/>
          </a:ln>
        </p:spPr>
      </p:sp>
      <p:sp>
        <p:nvSpPr>
          <p:cNvPr id="17" name="Text 9"/>
          <p:cNvSpPr txBox="1"/>
          <p:nvPr/>
        </p:nvSpPr>
        <p:spPr>
          <a:xfrm>
            <a:off x="1047902" y="3010205"/>
            <a:ext cx="2667305" cy="162763"/>
          </a:xfrm>
          <a:prstGeom prst="rect">
            <a:avLst/>
          </a:prstGeom>
          <a:noFill/>
          <a:ln/>
        </p:spPr>
        <p:txBody>
          <a:bodyPr wrap="none" lIns="0" tIns="0" rIns="0" bIns="0" rtlCol="0" anchor="ctr"/>
          <a:lstStyle/>
          <a:p>
            <a:pPr algn="l" indent="0" marL="0">
              <a:buNone/>
            </a:pPr>
            <a:r>
              <a:rPr lang="en-US" sz="975" spc="156" kern="0" dirty="0">
                <a:solidFill>
                  <a:srgbClr val="5C6478"/>
                </a:solidFill>
                <a:latin typeface="JetBrains Mono" pitchFamily="34" charset="0"/>
                <a:ea typeface="JetBrains Mono" pitchFamily="34" charset="-122"/>
                <a:cs typeface="JetBrains Mono" pitchFamily="34" charset="-120"/>
              </a:rPr>
              <a:t>METRIC</a:t>
            </a:r>
            <a:endParaRPr lang="en-US" sz="975" dirty="0"/>
          </a:p>
        </p:txBody>
      </p:sp>
      <p:sp>
        <p:nvSpPr>
          <p:cNvPr id="18" name="Text 10"/>
          <p:cNvSpPr txBox="1"/>
          <p:nvPr/>
        </p:nvSpPr>
        <p:spPr>
          <a:xfrm>
            <a:off x="3715207" y="3010205"/>
            <a:ext cx="2095805" cy="162763"/>
          </a:xfrm>
          <a:prstGeom prst="rect">
            <a:avLst/>
          </a:prstGeom>
          <a:noFill/>
          <a:ln/>
        </p:spPr>
        <p:txBody>
          <a:bodyPr wrap="none" lIns="0" tIns="0" rIns="0" bIns="0" rtlCol="0" anchor="ctr"/>
          <a:lstStyle/>
          <a:p>
            <a:pPr algn="l" indent="0" marL="0">
              <a:buNone/>
            </a:pPr>
            <a:r>
              <a:rPr lang="en-US" sz="975" spc="156" kern="0" dirty="0">
                <a:solidFill>
                  <a:srgbClr val="22D3EE"/>
                </a:solidFill>
                <a:latin typeface="JetBrains Mono" pitchFamily="34" charset="0"/>
                <a:ea typeface="JetBrains Mono" pitchFamily="34" charset="-122"/>
                <a:cs typeface="JetBrains Mono" pitchFamily="34" charset="-120"/>
              </a:rPr>
              <a:t>A · 1.0 nm</a:t>
            </a:r>
            <a:endParaRPr lang="en-US" sz="975" dirty="0"/>
          </a:p>
        </p:txBody>
      </p:sp>
      <p:sp>
        <p:nvSpPr>
          <p:cNvPr id="19" name="Text 11"/>
          <p:cNvSpPr txBox="1"/>
          <p:nvPr/>
        </p:nvSpPr>
        <p:spPr>
          <a:xfrm>
            <a:off x="5810098" y="3010205"/>
            <a:ext cx="2095805" cy="162763"/>
          </a:xfrm>
          <a:prstGeom prst="rect">
            <a:avLst/>
          </a:prstGeom>
          <a:noFill/>
          <a:ln/>
        </p:spPr>
        <p:txBody>
          <a:bodyPr wrap="none" lIns="0" tIns="0" rIns="0" bIns="0" rtlCol="0" anchor="ctr"/>
          <a:lstStyle/>
          <a:p>
            <a:pPr algn="l" indent="0" marL="0">
              <a:buNone/>
            </a:pPr>
            <a:r>
              <a:rPr lang="en-US" sz="975" spc="156" kern="0" dirty="0">
                <a:solidFill>
                  <a:srgbClr val="A78BFA"/>
                </a:solidFill>
                <a:latin typeface="JetBrains Mono" pitchFamily="34" charset="0"/>
                <a:ea typeface="JetBrains Mono" pitchFamily="34" charset="-122"/>
                <a:cs typeface="JetBrains Mono" pitchFamily="34" charset="-120"/>
              </a:rPr>
              <a:t>B · 1.5 nm</a:t>
            </a:r>
            <a:endParaRPr lang="en-US" sz="975" dirty="0"/>
          </a:p>
        </p:txBody>
      </p:sp>
      <p:sp>
        <p:nvSpPr>
          <p:cNvPr id="20" name="Text 12"/>
          <p:cNvSpPr txBox="1"/>
          <p:nvPr/>
        </p:nvSpPr>
        <p:spPr>
          <a:xfrm>
            <a:off x="7905902" y="3010205"/>
            <a:ext cx="2095805" cy="162763"/>
          </a:xfrm>
          <a:prstGeom prst="rect">
            <a:avLst/>
          </a:prstGeom>
          <a:noFill/>
          <a:ln/>
        </p:spPr>
        <p:txBody>
          <a:bodyPr wrap="none" lIns="0" tIns="0" rIns="0" bIns="0" rtlCol="0" anchor="ctr"/>
          <a:lstStyle/>
          <a:p>
            <a:pPr algn="l" indent="0" marL="0">
              <a:buNone/>
            </a:pPr>
            <a:r>
              <a:rPr lang="en-US" sz="975" spc="156" kern="0" dirty="0">
                <a:solidFill>
                  <a:srgbClr val="F59E0B"/>
                </a:solidFill>
                <a:latin typeface="JetBrains Mono" pitchFamily="34" charset="0"/>
                <a:ea typeface="JetBrains Mono" pitchFamily="34" charset="-122"/>
                <a:cs typeface="JetBrains Mono" pitchFamily="34" charset="-120"/>
              </a:rPr>
              <a:t>C · 2.0 nm</a:t>
            </a:r>
            <a:endParaRPr lang="en-US" sz="975" dirty="0"/>
          </a:p>
        </p:txBody>
      </p:sp>
      <p:sp>
        <p:nvSpPr>
          <p:cNvPr id="21" name="Text 13"/>
          <p:cNvSpPr txBox="1"/>
          <p:nvPr/>
        </p:nvSpPr>
        <p:spPr>
          <a:xfrm>
            <a:off x="10001707" y="3010205"/>
            <a:ext cx="2095805" cy="162763"/>
          </a:xfrm>
          <a:prstGeom prst="rect">
            <a:avLst/>
          </a:prstGeom>
          <a:noFill/>
          <a:ln/>
        </p:spPr>
        <p:txBody>
          <a:bodyPr wrap="none" lIns="0" tIns="0" rIns="0" bIns="0" rtlCol="0" anchor="ctr"/>
          <a:lstStyle/>
          <a:p>
            <a:pPr algn="l" indent="0" marL="0">
              <a:buNone/>
            </a:pPr>
            <a:r>
              <a:rPr lang="en-US" sz="975" spc="156" kern="0" dirty="0">
                <a:solidFill>
                  <a:srgbClr val="5C6478"/>
                </a:solidFill>
                <a:latin typeface="JetBrains Mono" pitchFamily="34" charset="0"/>
                <a:ea typeface="JetBrains Mono" pitchFamily="34" charset="-122"/>
                <a:cs typeface="JetBrains Mono" pitchFamily="34" charset="-120"/>
              </a:rPr>
              <a:t>BEST</a:t>
            </a:r>
            <a:endParaRPr lang="en-US" sz="975" dirty="0"/>
          </a:p>
        </p:txBody>
      </p:sp>
      <p:sp>
        <p:nvSpPr>
          <p:cNvPr id="22" name="Shape 14"/>
          <p:cNvSpPr/>
          <p:nvPr/>
        </p:nvSpPr>
        <p:spPr>
          <a:xfrm>
            <a:off x="1047902" y="4001414"/>
            <a:ext cx="11811305" cy="9144"/>
          </a:xfrm>
          <a:prstGeom prst="rect">
            <a:avLst/>
          </a:prstGeom>
          <a:solidFill>
            <a:srgbClr val="FFFFFF">
              <a:alpha val="6000"/>
            </a:srgbClr>
          </a:solidFill>
          <a:ln w="12700">
            <a:solidFill>
              <a:srgbClr val="FFFFFF">
                <a:alpha val="0"/>
              </a:srgbClr>
            </a:solidFill>
            <a:prstDash val="solid"/>
          </a:ln>
        </p:spPr>
      </p:sp>
      <p:sp>
        <p:nvSpPr>
          <p:cNvPr id="23" name="Text 15"/>
          <p:cNvSpPr txBox="1"/>
          <p:nvPr/>
        </p:nvSpPr>
        <p:spPr>
          <a:xfrm>
            <a:off x="1047902" y="3581705"/>
            <a:ext cx="2667305" cy="286207"/>
          </a:xfrm>
          <a:prstGeom prst="rect">
            <a:avLst/>
          </a:prstGeom>
          <a:noFill/>
          <a:ln/>
        </p:spPr>
        <p:txBody>
          <a:bodyPr wrap="non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Wafer yield (%)</a:t>
            </a:r>
            <a:endParaRPr lang="en-US" sz="1500" dirty="0"/>
          </a:p>
        </p:txBody>
      </p:sp>
      <p:sp>
        <p:nvSpPr>
          <p:cNvPr id="24" name="Text 16"/>
          <p:cNvSpPr txBox="1"/>
          <p:nvPr/>
        </p:nvSpPr>
        <p:spPr>
          <a:xfrm>
            <a:off x="3715207" y="3586277"/>
            <a:ext cx="2095805" cy="277063"/>
          </a:xfrm>
          <a:prstGeom prst="rect">
            <a:avLst/>
          </a:prstGeom>
          <a:noFill/>
          <a:ln/>
        </p:spPr>
        <p:txBody>
          <a:bodyPr wrap="none" lIns="0" tIns="0" rIns="0" bIns="0" rtlCol="0" anchor="ctr"/>
          <a:lstStyle/>
          <a:p>
            <a:pPr algn="l" indent="0" marL="0">
              <a:buNone/>
            </a:pPr>
            <a:r>
              <a:rPr lang="en-US" sz="1650" dirty="0">
                <a:solidFill>
                  <a:srgbClr val="F59E0B"/>
                </a:solidFill>
                <a:latin typeface="JetBrains Mono" pitchFamily="34" charset="0"/>
                <a:ea typeface="JetBrains Mono" pitchFamily="34" charset="-122"/>
                <a:cs typeface="JetBrains Mono" pitchFamily="34" charset="-120"/>
              </a:rPr>
              <a:t>93.4</a:t>
            </a:r>
            <a:endParaRPr lang="en-US" sz="1650" dirty="0"/>
          </a:p>
        </p:txBody>
      </p:sp>
      <p:sp>
        <p:nvSpPr>
          <p:cNvPr id="25" name="Text 17"/>
          <p:cNvSpPr txBox="1"/>
          <p:nvPr/>
        </p:nvSpPr>
        <p:spPr>
          <a:xfrm>
            <a:off x="5810098" y="3586277"/>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98.6 ★</a:t>
            </a:r>
            <a:endParaRPr lang="en-US" sz="1650" dirty="0"/>
          </a:p>
        </p:txBody>
      </p:sp>
      <p:sp>
        <p:nvSpPr>
          <p:cNvPr id="26" name="Text 18"/>
          <p:cNvSpPr txBox="1"/>
          <p:nvPr/>
        </p:nvSpPr>
        <p:spPr>
          <a:xfrm>
            <a:off x="7905902" y="3586277"/>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96.1</a:t>
            </a:r>
            <a:endParaRPr lang="en-US" sz="1650" dirty="0"/>
          </a:p>
        </p:txBody>
      </p:sp>
      <p:sp>
        <p:nvSpPr>
          <p:cNvPr id="27" name="Text 19"/>
          <p:cNvSpPr txBox="1"/>
          <p:nvPr/>
        </p:nvSpPr>
        <p:spPr>
          <a:xfrm>
            <a:off x="10001707" y="3642970"/>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28" name="Shape 20"/>
          <p:cNvSpPr/>
          <p:nvPr/>
        </p:nvSpPr>
        <p:spPr>
          <a:xfrm>
            <a:off x="1047902" y="4543654"/>
            <a:ext cx="11811305" cy="9144"/>
          </a:xfrm>
          <a:prstGeom prst="rect">
            <a:avLst/>
          </a:prstGeom>
          <a:solidFill>
            <a:srgbClr val="FFFFFF">
              <a:alpha val="6000"/>
            </a:srgbClr>
          </a:solidFill>
          <a:ln w="12700">
            <a:solidFill>
              <a:srgbClr val="FFFFFF">
                <a:alpha val="0"/>
              </a:srgbClr>
            </a:solidFill>
            <a:prstDash val="solid"/>
          </a:ln>
        </p:spPr>
      </p:sp>
      <p:sp>
        <p:nvSpPr>
          <p:cNvPr id="29" name="Text 21"/>
          <p:cNvSpPr txBox="1"/>
          <p:nvPr/>
        </p:nvSpPr>
        <p:spPr>
          <a:xfrm>
            <a:off x="1047902" y="4114800"/>
            <a:ext cx="2667305" cy="295351"/>
          </a:xfrm>
          <a:prstGeom prst="rect">
            <a:avLst/>
          </a:prstGeom>
          <a:noFill/>
          <a:ln/>
        </p:spPr>
        <p:txBody>
          <a:bodyPr wrap="non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Rs (mΩ/μm) · median</a:t>
            </a:r>
            <a:endParaRPr lang="en-US" sz="1500" dirty="0"/>
          </a:p>
        </p:txBody>
      </p:sp>
      <p:sp>
        <p:nvSpPr>
          <p:cNvPr id="30" name="Text 22"/>
          <p:cNvSpPr txBox="1"/>
          <p:nvPr/>
        </p:nvSpPr>
        <p:spPr>
          <a:xfrm>
            <a:off x="3715207" y="4123944"/>
            <a:ext cx="2095805" cy="277063"/>
          </a:xfrm>
          <a:prstGeom prst="rect">
            <a:avLst/>
          </a:prstGeom>
          <a:noFill/>
          <a:ln/>
        </p:spPr>
        <p:txBody>
          <a:bodyPr wrap="none" lIns="0" tIns="0" rIns="0" bIns="0" rtlCol="0" anchor="ctr"/>
          <a:lstStyle/>
          <a:p>
            <a:pPr algn="l" indent="0" marL="0">
              <a:buNone/>
            </a:pPr>
            <a:r>
              <a:rPr lang="en-US" sz="1650" dirty="0">
                <a:solidFill>
                  <a:srgbClr val="EF4444"/>
                </a:solidFill>
                <a:latin typeface="JetBrains Mono" pitchFamily="34" charset="0"/>
                <a:ea typeface="JetBrains Mono" pitchFamily="34" charset="-122"/>
                <a:cs typeface="JetBrains Mono" pitchFamily="34" charset="-120"/>
              </a:rPr>
              <a:t>285</a:t>
            </a:r>
            <a:endParaRPr lang="en-US" sz="1650" dirty="0"/>
          </a:p>
        </p:txBody>
      </p:sp>
      <p:sp>
        <p:nvSpPr>
          <p:cNvPr id="31" name="Text 23"/>
          <p:cNvSpPr txBox="1"/>
          <p:nvPr/>
        </p:nvSpPr>
        <p:spPr>
          <a:xfrm>
            <a:off x="5810098" y="4123944"/>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232 ★</a:t>
            </a:r>
            <a:endParaRPr lang="en-US" sz="1650" dirty="0"/>
          </a:p>
        </p:txBody>
      </p:sp>
      <p:sp>
        <p:nvSpPr>
          <p:cNvPr id="32" name="Text 24"/>
          <p:cNvSpPr txBox="1"/>
          <p:nvPr/>
        </p:nvSpPr>
        <p:spPr>
          <a:xfrm>
            <a:off x="7905902" y="4123944"/>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246</a:t>
            </a:r>
            <a:endParaRPr lang="en-US" sz="1650" dirty="0"/>
          </a:p>
        </p:txBody>
      </p:sp>
      <p:sp>
        <p:nvSpPr>
          <p:cNvPr id="33" name="Text 25"/>
          <p:cNvSpPr txBox="1"/>
          <p:nvPr/>
        </p:nvSpPr>
        <p:spPr>
          <a:xfrm>
            <a:off x="10001707" y="4181551"/>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34" name="Shape 26"/>
          <p:cNvSpPr/>
          <p:nvPr/>
        </p:nvSpPr>
        <p:spPr>
          <a:xfrm>
            <a:off x="1047902" y="5077663"/>
            <a:ext cx="11811305" cy="9144"/>
          </a:xfrm>
          <a:prstGeom prst="rect">
            <a:avLst/>
          </a:prstGeom>
          <a:solidFill>
            <a:srgbClr val="FFFFFF">
              <a:alpha val="6000"/>
            </a:srgbClr>
          </a:solidFill>
          <a:ln w="12700">
            <a:solidFill>
              <a:srgbClr val="FFFFFF">
                <a:alpha val="0"/>
              </a:srgbClr>
            </a:solidFill>
            <a:prstDash val="solid"/>
          </a:ln>
        </p:spPr>
      </p:sp>
      <p:sp>
        <p:nvSpPr>
          <p:cNvPr id="35" name="Text 27"/>
          <p:cNvSpPr txBox="1"/>
          <p:nvPr/>
        </p:nvSpPr>
        <p:spPr>
          <a:xfrm>
            <a:off x="1047902" y="4647895"/>
            <a:ext cx="2667305" cy="295351"/>
          </a:xfrm>
          <a:prstGeom prst="rect">
            <a:avLst/>
          </a:prstGeom>
          <a:noFill/>
          <a:ln/>
        </p:spPr>
        <p:txBody>
          <a:bodyPr wrap="non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Rc (Ω/via) · median</a:t>
            </a:r>
            <a:endParaRPr lang="en-US" sz="1500" dirty="0"/>
          </a:p>
        </p:txBody>
      </p:sp>
      <p:sp>
        <p:nvSpPr>
          <p:cNvPr id="36" name="Text 28"/>
          <p:cNvSpPr txBox="1"/>
          <p:nvPr/>
        </p:nvSpPr>
        <p:spPr>
          <a:xfrm>
            <a:off x="3715207" y="4657954"/>
            <a:ext cx="2095805" cy="277063"/>
          </a:xfrm>
          <a:prstGeom prst="rect">
            <a:avLst/>
          </a:prstGeom>
          <a:noFill/>
          <a:ln/>
        </p:spPr>
        <p:txBody>
          <a:bodyPr wrap="none" lIns="0" tIns="0" rIns="0" bIns="0" rtlCol="0" anchor="ctr"/>
          <a:lstStyle/>
          <a:p>
            <a:pPr algn="l" indent="0" marL="0">
              <a:buNone/>
            </a:pPr>
            <a:r>
              <a:rPr lang="en-US" sz="1650" dirty="0">
                <a:solidFill>
                  <a:srgbClr val="EF4444"/>
                </a:solidFill>
                <a:latin typeface="JetBrains Mono" pitchFamily="34" charset="0"/>
                <a:ea typeface="JetBrains Mono" pitchFamily="34" charset="-122"/>
                <a:cs typeface="JetBrains Mono" pitchFamily="34" charset="-120"/>
              </a:rPr>
              <a:t>28.4</a:t>
            </a:r>
            <a:endParaRPr lang="en-US" sz="1650" dirty="0"/>
          </a:p>
        </p:txBody>
      </p:sp>
      <p:sp>
        <p:nvSpPr>
          <p:cNvPr id="37" name="Text 29"/>
          <p:cNvSpPr txBox="1"/>
          <p:nvPr/>
        </p:nvSpPr>
        <p:spPr>
          <a:xfrm>
            <a:off x="5810098" y="4657954"/>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19.4 ★</a:t>
            </a:r>
            <a:endParaRPr lang="en-US" sz="1650" dirty="0"/>
          </a:p>
        </p:txBody>
      </p:sp>
      <p:sp>
        <p:nvSpPr>
          <p:cNvPr id="38" name="Text 30"/>
          <p:cNvSpPr txBox="1"/>
          <p:nvPr/>
        </p:nvSpPr>
        <p:spPr>
          <a:xfrm>
            <a:off x="7905902" y="4657954"/>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21.6</a:t>
            </a:r>
            <a:endParaRPr lang="en-US" sz="1650" dirty="0"/>
          </a:p>
        </p:txBody>
      </p:sp>
      <p:sp>
        <p:nvSpPr>
          <p:cNvPr id="39" name="Text 31"/>
          <p:cNvSpPr txBox="1"/>
          <p:nvPr/>
        </p:nvSpPr>
        <p:spPr>
          <a:xfrm>
            <a:off x="10001707" y="4714646"/>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40" name="Shape 32"/>
          <p:cNvSpPr/>
          <p:nvPr/>
        </p:nvSpPr>
        <p:spPr>
          <a:xfrm>
            <a:off x="1047902" y="5649163"/>
            <a:ext cx="11811305" cy="9144"/>
          </a:xfrm>
          <a:prstGeom prst="rect">
            <a:avLst/>
          </a:prstGeom>
          <a:solidFill>
            <a:srgbClr val="FFFFFF">
              <a:alpha val="6000"/>
            </a:srgbClr>
          </a:solidFill>
          <a:ln w="12700">
            <a:solidFill>
              <a:srgbClr val="FFFFFF">
                <a:alpha val="0"/>
              </a:srgbClr>
            </a:solidFill>
            <a:prstDash val="solid"/>
          </a:ln>
        </p:spPr>
      </p:sp>
      <p:sp>
        <p:nvSpPr>
          <p:cNvPr id="41" name="Text 33"/>
          <p:cNvSpPr txBox="1"/>
          <p:nvPr/>
        </p:nvSpPr>
        <p:spPr>
          <a:xfrm>
            <a:off x="1047902" y="5181905"/>
            <a:ext cx="2667305" cy="333756"/>
          </a:xfrm>
          <a:prstGeom prst="rect">
            <a:avLst/>
          </a:prstGeom>
          <a:noFill/>
          <a:ln/>
        </p:spPr>
        <p:txBody>
          <a:bodyPr wrap="squar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I</a:t>
            </a:r>
            <a:pPr algn="l" indent="0" marL="0">
              <a:buNone/>
            </a:pPr>
            <a:r>
              <a:rPr lang="en-US" sz="1250" dirty="0">
                <a:solidFill>
                  <a:srgbClr val="E6EDF7"/>
                </a:solidFill>
                <a:latin typeface="IBM Plex Sans KR" pitchFamily="34" charset="0"/>
                <a:ea typeface="IBM Plex Sans KR" pitchFamily="34" charset="-122"/>
                <a:cs typeface="IBM Plex Sans KR" pitchFamily="34" charset="-120"/>
              </a:rPr>
              <a:t>leak</a:t>
            </a:r>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 (pA/μm @ 1.0 V)</a:t>
            </a:r>
            <a:endParaRPr lang="en-US" sz="1500" dirty="0"/>
          </a:p>
        </p:txBody>
      </p:sp>
      <p:sp>
        <p:nvSpPr>
          <p:cNvPr id="42" name="Text 34"/>
          <p:cNvSpPr txBox="1"/>
          <p:nvPr/>
        </p:nvSpPr>
        <p:spPr>
          <a:xfrm>
            <a:off x="3715207" y="5210251"/>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9.4</a:t>
            </a:r>
            <a:endParaRPr lang="en-US" sz="1650" dirty="0"/>
          </a:p>
        </p:txBody>
      </p:sp>
      <p:sp>
        <p:nvSpPr>
          <p:cNvPr id="43" name="Text 35"/>
          <p:cNvSpPr txBox="1"/>
          <p:nvPr/>
        </p:nvSpPr>
        <p:spPr>
          <a:xfrm>
            <a:off x="5810098" y="5210251"/>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8.6 ★</a:t>
            </a:r>
            <a:endParaRPr lang="en-US" sz="1650" dirty="0"/>
          </a:p>
        </p:txBody>
      </p:sp>
      <p:sp>
        <p:nvSpPr>
          <p:cNvPr id="44" name="Text 36"/>
          <p:cNvSpPr txBox="1"/>
          <p:nvPr/>
        </p:nvSpPr>
        <p:spPr>
          <a:xfrm>
            <a:off x="7905902" y="5210251"/>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9.1</a:t>
            </a:r>
            <a:endParaRPr lang="en-US" sz="1650" dirty="0"/>
          </a:p>
        </p:txBody>
      </p:sp>
      <p:sp>
        <p:nvSpPr>
          <p:cNvPr id="45" name="Text 37"/>
          <p:cNvSpPr txBox="1"/>
          <p:nvPr/>
        </p:nvSpPr>
        <p:spPr>
          <a:xfrm>
            <a:off x="10001707" y="5266944"/>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46" name="Shape 38"/>
          <p:cNvSpPr/>
          <p:nvPr/>
        </p:nvSpPr>
        <p:spPr>
          <a:xfrm>
            <a:off x="1047902" y="6172200"/>
            <a:ext cx="11811305" cy="9144"/>
          </a:xfrm>
          <a:prstGeom prst="rect">
            <a:avLst/>
          </a:prstGeom>
          <a:solidFill>
            <a:srgbClr val="FFFFFF">
              <a:alpha val="6000"/>
            </a:srgbClr>
          </a:solidFill>
          <a:ln w="12700">
            <a:solidFill>
              <a:srgbClr val="FFFFFF">
                <a:alpha val="0"/>
              </a:srgbClr>
            </a:solidFill>
            <a:prstDash val="solid"/>
          </a:ln>
        </p:spPr>
      </p:sp>
      <p:sp>
        <p:nvSpPr>
          <p:cNvPr id="47" name="Text 39"/>
          <p:cNvSpPr txBox="1"/>
          <p:nvPr/>
        </p:nvSpPr>
        <p:spPr>
          <a:xfrm>
            <a:off x="1047902" y="5715000"/>
            <a:ext cx="2667305" cy="324612"/>
          </a:xfrm>
          <a:prstGeom prst="rect">
            <a:avLst/>
          </a:prstGeom>
          <a:noFill/>
          <a:ln/>
        </p:spPr>
        <p:txBody>
          <a:bodyPr wrap="squar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EM MTTF (yrs, T</a:t>
            </a:r>
            <a:pPr algn="l" indent="0" marL="0">
              <a:buNone/>
            </a:pPr>
            <a:r>
              <a:rPr lang="en-US" sz="1250" dirty="0">
                <a:solidFill>
                  <a:srgbClr val="E6EDF7"/>
                </a:solidFill>
                <a:latin typeface="IBM Plex Sans KR" pitchFamily="34" charset="0"/>
                <a:ea typeface="IBM Plex Sans KR" pitchFamily="34" charset="-122"/>
                <a:cs typeface="IBM Plex Sans KR" pitchFamily="34" charset="-120"/>
              </a:rPr>
              <a:t>use</a:t>
            </a:r>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a:t>
            </a:r>
            <a:endParaRPr lang="en-US" sz="1500" dirty="0"/>
          </a:p>
        </p:txBody>
      </p:sp>
      <p:sp>
        <p:nvSpPr>
          <p:cNvPr id="48" name="Text 40"/>
          <p:cNvSpPr txBox="1"/>
          <p:nvPr/>
        </p:nvSpPr>
        <p:spPr>
          <a:xfrm>
            <a:off x="3715207" y="5738774"/>
            <a:ext cx="2095805" cy="277063"/>
          </a:xfrm>
          <a:prstGeom prst="rect">
            <a:avLst/>
          </a:prstGeom>
          <a:noFill/>
          <a:ln/>
        </p:spPr>
        <p:txBody>
          <a:bodyPr wrap="none" lIns="0" tIns="0" rIns="0" bIns="0" rtlCol="0" anchor="ctr"/>
          <a:lstStyle/>
          <a:p>
            <a:pPr algn="l" indent="0" marL="0">
              <a:buNone/>
            </a:pPr>
            <a:r>
              <a:rPr lang="en-US" sz="1650" dirty="0">
                <a:solidFill>
                  <a:srgbClr val="EF4444"/>
                </a:solidFill>
                <a:latin typeface="JetBrains Mono" pitchFamily="34" charset="0"/>
                <a:ea typeface="JetBrains Mono" pitchFamily="34" charset="-122"/>
                <a:cs typeface="JetBrains Mono" pitchFamily="34" charset="-120"/>
              </a:rPr>
              <a:t>6.4</a:t>
            </a:r>
            <a:endParaRPr lang="en-US" sz="1650" dirty="0"/>
          </a:p>
        </p:txBody>
      </p:sp>
      <p:sp>
        <p:nvSpPr>
          <p:cNvPr id="49" name="Text 41"/>
          <p:cNvSpPr txBox="1"/>
          <p:nvPr/>
        </p:nvSpPr>
        <p:spPr>
          <a:xfrm>
            <a:off x="5810098" y="5738774"/>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9.8 ★</a:t>
            </a:r>
            <a:endParaRPr lang="en-US" sz="1650" dirty="0"/>
          </a:p>
        </p:txBody>
      </p:sp>
      <p:sp>
        <p:nvSpPr>
          <p:cNvPr id="50" name="Text 42"/>
          <p:cNvSpPr txBox="1"/>
          <p:nvPr/>
        </p:nvSpPr>
        <p:spPr>
          <a:xfrm>
            <a:off x="7905902" y="5738774"/>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9.1</a:t>
            </a:r>
            <a:endParaRPr lang="en-US" sz="1650" dirty="0"/>
          </a:p>
        </p:txBody>
      </p:sp>
      <p:sp>
        <p:nvSpPr>
          <p:cNvPr id="51" name="Text 43"/>
          <p:cNvSpPr txBox="1"/>
          <p:nvPr/>
        </p:nvSpPr>
        <p:spPr>
          <a:xfrm>
            <a:off x="10001707" y="5796382"/>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52" name="Shape 44"/>
          <p:cNvSpPr/>
          <p:nvPr/>
        </p:nvSpPr>
        <p:spPr>
          <a:xfrm>
            <a:off x="1047902" y="6706210"/>
            <a:ext cx="11811305" cy="9144"/>
          </a:xfrm>
          <a:prstGeom prst="rect">
            <a:avLst/>
          </a:prstGeom>
          <a:solidFill>
            <a:srgbClr val="FFFFFF">
              <a:alpha val="6000"/>
            </a:srgbClr>
          </a:solidFill>
          <a:ln w="12700">
            <a:solidFill>
              <a:srgbClr val="FFFFFF">
                <a:alpha val="0"/>
              </a:srgbClr>
            </a:solidFill>
            <a:prstDash val="solid"/>
          </a:ln>
        </p:spPr>
      </p:sp>
      <p:sp>
        <p:nvSpPr>
          <p:cNvPr id="53" name="Text 45"/>
          <p:cNvSpPr txBox="1"/>
          <p:nvPr/>
        </p:nvSpPr>
        <p:spPr>
          <a:xfrm>
            <a:off x="1047902" y="6248095"/>
            <a:ext cx="2667305" cy="324612"/>
          </a:xfrm>
          <a:prstGeom prst="rect">
            <a:avLst/>
          </a:prstGeom>
          <a:noFill/>
          <a:ln/>
        </p:spPr>
        <p:txBody>
          <a:bodyPr wrap="squar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V-ramp TDDB T</a:t>
            </a:r>
            <a:pPr algn="l" indent="0" marL="0">
              <a:buNone/>
            </a:pPr>
            <a:r>
              <a:rPr lang="en-US" sz="1250" dirty="0">
                <a:solidFill>
                  <a:srgbClr val="E6EDF7"/>
                </a:solidFill>
                <a:latin typeface="IBM Plex Sans KR" pitchFamily="34" charset="0"/>
                <a:ea typeface="IBM Plex Sans KR" pitchFamily="34" charset="-122"/>
                <a:cs typeface="IBM Plex Sans KR" pitchFamily="34" charset="-120"/>
              </a:rPr>
              <a:t>63</a:t>
            </a:r>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 (V)</a:t>
            </a:r>
            <a:endParaRPr lang="en-US" sz="1500" dirty="0"/>
          </a:p>
        </p:txBody>
      </p:sp>
      <p:sp>
        <p:nvSpPr>
          <p:cNvPr id="54" name="Text 46"/>
          <p:cNvSpPr txBox="1"/>
          <p:nvPr/>
        </p:nvSpPr>
        <p:spPr>
          <a:xfrm>
            <a:off x="3715207" y="6271870"/>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5.72</a:t>
            </a:r>
            <a:endParaRPr lang="en-US" sz="1650" dirty="0"/>
          </a:p>
        </p:txBody>
      </p:sp>
      <p:sp>
        <p:nvSpPr>
          <p:cNvPr id="55" name="Text 47"/>
          <p:cNvSpPr txBox="1"/>
          <p:nvPr/>
        </p:nvSpPr>
        <p:spPr>
          <a:xfrm>
            <a:off x="5810098" y="6271870"/>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6.18 ★</a:t>
            </a:r>
            <a:endParaRPr lang="en-US" sz="1650" dirty="0"/>
          </a:p>
        </p:txBody>
      </p:sp>
      <p:sp>
        <p:nvSpPr>
          <p:cNvPr id="56" name="Text 48"/>
          <p:cNvSpPr txBox="1"/>
          <p:nvPr/>
        </p:nvSpPr>
        <p:spPr>
          <a:xfrm>
            <a:off x="7905902" y="6271870"/>
            <a:ext cx="2095805" cy="277063"/>
          </a:xfrm>
          <a:prstGeom prst="rect">
            <a:avLst/>
          </a:prstGeom>
          <a:noFill/>
          <a:ln/>
        </p:spPr>
        <p:txBody>
          <a:bodyPr wrap="none" lIns="0" tIns="0" rIns="0" bIns="0" rtlCol="0" anchor="ctr"/>
          <a:lstStyle/>
          <a:p>
            <a:pPr algn="l" indent="0" marL="0">
              <a:buNone/>
            </a:pPr>
            <a:r>
              <a:rPr lang="en-US" sz="1650" dirty="0">
                <a:solidFill>
                  <a:srgbClr val="E6EDF7"/>
                </a:solidFill>
                <a:latin typeface="JetBrains Mono" pitchFamily="34" charset="0"/>
                <a:ea typeface="JetBrains Mono" pitchFamily="34" charset="-122"/>
                <a:cs typeface="JetBrains Mono" pitchFamily="34" charset="-120"/>
              </a:rPr>
              <a:t>6.04</a:t>
            </a:r>
            <a:endParaRPr lang="en-US" sz="1650" dirty="0"/>
          </a:p>
        </p:txBody>
      </p:sp>
      <p:sp>
        <p:nvSpPr>
          <p:cNvPr id="57" name="Text 49"/>
          <p:cNvSpPr txBox="1"/>
          <p:nvPr/>
        </p:nvSpPr>
        <p:spPr>
          <a:xfrm>
            <a:off x="10001707" y="6329477"/>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B</a:t>
            </a:r>
            <a:endParaRPr lang="en-US" sz="1050" dirty="0"/>
          </a:p>
        </p:txBody>
      </p:sp>
      <p:sp>
        <p:nvSpPr>
          <p:cNvPr id="58" name="Text 50"/>
          <p:cNvSpPr txBox="1"/>
          <p:nvPr/>
        </p:nvSpPr>
        <p:spPr>
          <a:xfrm>
            <a:off x="1047902" y="6782105"/>
            <a:ext cx="2667305" cy="286207"/>
          </a:xfrm>
          <a:prstGeom prst="rect">
            <a:avLst/>
          </a:prstGeom>
          <a:noFill/>
          <a:ln/>
        </p:spPr>
        <p:txBody>
          <a:bodyPr wrap="none" lIns="0" tIns="0" rIns="0" bIns="0" rtlCol="0" anchor="ctr"/>
          <a:lstStyle/>
          <a:p>
            <a:pPr algn="l" indent="0" marL="0">
              <a:buNone/>
            </a:pPr>
            <a:r>
              <a:rPr lang="en-US" sz="1500" dirty="0">
                <a:solidFill>
                  <a:srgbClr val="E6EDF7"/>
                </a:solidFill>
                <a:latin typeface="IBM Plex Sans KR" pitchFamily="34" charset="0"/>
                <a:ea typeface="IBM Plex Sans KR" pitchFamily="34" charset="-122"/>
                <a:cs typeface="IBM Plex Sans KR" pitchFamily="34" charset="-120"/>
              </a:rPr>
              <a:t>WIWNU AASI (%)</a:t>
            </a:r>
            <a:endParaRPr lang="en-US" sz="1500" dirty="0"/>
          </a:p>
        </p:txBody>
      </p:sp>
      <p:sp>
        <p:nvSpPr>
          <p:cNvPr id="59" name="Text 51"/>
          <p:cNvSpPr txBox="1"/>
          <p:nvPr/>
        </p:nvSpPr>
        <p:spPr>
          <a:xfrm>
            <a:off x="3715207" y="6786677"/>
            <a:ext cx="2095805" cy="277063"/>
          </a:xfrm>
          <a:prstGeom prst="rect">
            <a:avLst/>
          </a:prstGeom>
          <a:noFill/>
          <a:ln/>
        </p:spPr>
        <p:txBody>
          <a:bodyPr wrap="none" lIns="0" tIns="0" rIns="0" bIns="0" rtlCol="0" anchor="ctr"/>
          <a:lstStyle/>
          <a:p>
            <a:pPr algn="l" indent="0" marL="0">
              <a:buNone/>
            </a:pPr>
            <a:r>
              <a:rPr lang="en-US" sz="1650" dirty="0">
                <a:solidFill>
                  <a:srgbClr val="EF4444"/>
                </a:solidFill>
                <a:latin typeface="JetBrains Mono" pitchFamily="34" charset="0"/>
                <a:ea typeface="JetBrains Mono" pitchFamily="34" charset="-122"/>
                <a:cs typeface="JetBrains Mono" pitchFamily="34" charset="-120"/>
              </a:rPr>
              <a:t>4.21</a:t>
            </a:r>
            <a:endParaRPr lang="en-US" sz="1650" dirty="0"/>
          </a:p>
        </p:txBody>
      </p:sp>
      <p:sp>
        <p:nvSpPr>
          <p:cNvPr id="60" name="Text 52"/>
          <p:cNvSpPr txBox="1"/>
          <p:nvPr/>
        </p:nvSpPr>
        <p:spPr>
          <a:xfrm>
            <a:off x="5810098" y="6786677"/>
            <a:ext cx="2095805" cy="277063"/>
          </a:xfrm>
          <a:prstGeom prst="rect">
            <a:avLst/>
          </a:prstGeom>
          <a:noFill/>
          <a:ln/>
        </p:spPr>
        <p:txBody>
          <a:bodyPr wrap="none" lIns="0" tIns="0" rIns="0" bIns="0" rtlCol="0" anchor="ctr"/>
          <a:lstStyle/>
          <a:p>
            <a:pPr algn="l" indent="0" marL="0">
              <a:buNone/>
            </a:pPr>
            <a:r>
              <a:rPr lang="en-US" sz="1650" dirty="0">
                <a:solidFill>
                  <a:srgbClr val="34D399"/>
                </a:solidFill>
                <a:latin typeface="JetBrains Mono" pitchFamily="34" charset="0"/>
                <a:ea typeface="JetBrains Mono" pitchFamily="34" charset="-122"/>
                <a:cs typeface="JetBrains Mono" pitchFamily="34" charset="-120"/>
              </a:rPr>
              <a:t>3.36</a:t>
            </a:r>
            <a:endParaRPr lang="en-US" sz="1650" dirty="0"/>
          </a:p>
        </p:txBody>
      </p:sp>
      <p:sp>
        <p:nvSpPr>
          <p:cNvPr id="61" name="Text 53"/>
          <p:cNvSpPr txBox="1"/>
          <p:nvPr/>
        </p:nvSpPr>
        <p:spPr>
          <a:xfrm>
            <a:off x="7905902" y="6786677"/>
            <a:ext cx="2095805" cy="277063"/>
          </a:xfrm>
          <a:prstGeom prst="rect">
            <a:avLst/>
          </a:prstGeom>
          <a:noFill/>
          <a:ln/>
        </p:spPr>
        <p:txBody>
          <a:bodyPr wrap="none" lIns="0" tIns="0" rIns="0" bIns="0" rtlCol="0" anchor="ctr"/>
          <a:lstStyle/>
          <a:p>
            <a:pPr algn="l" indent="0" marL="0">
              <a:buNone/>
            </a:pPr>
            <a:r>
              <a:rPr lang="en-US" sz="1650" dirty="0">
                <a:solidFill>
                  <a:srgbClr val="8B95A8"/>
                </a:solidFill>
                <a:latin typeface="JetBrains Mono" pitchFamily="34" charset="0"/>
                <a:ea typeface="JetBrains Mono" pitchFamily="34" charset="-122"/>
                <a:cs typeface="JetBrains Mono" pitchFamily="34" charset="-120"/>
              </a:rPr>
              <a:t>3.05 ★</a:t>
            </a:r>
            <a:endParaRPr lang="en-US" sz="1650" dirty="0"/>
          </a:p>
        </p:txBody>
      </p:sp>
      <p:sp>
        <p:nvSpPr>
          <p:cNvPr id="62" name="Text 54"/>
          <p:cNvSpPr txBox="1"/>
          <p:nvPr/>
        </p:nvSpPr>
        <p:spPr>
          <a:xfrm>
            <a:off x="10001707" y="6843370"/>
            <a:ext cx="2095805" cy="162763"/>
          </a:xfrm>
          <a:prstGeom prst="rect">
            <a:avLst/>
          </a:prstGeom>
          <a:noFill/>
          <a:ln/>
        </p:spPr>
        <p:txBody>
          <a:bodyPr wrap="none" lIns="0" tIns="0" rIns="0" bIns="0" rtlCol="0" anchor="ctr"/>
          <a:lstStyle/>
          <a:p>
            <a:pPr algn="l" indent="0" marL="0">
              <a:buNone/>
            </a:pPr>
            <a:r>
              <a:rPr lang="en-US" sz="1050" dirty="0">
                <a:solidFill>
                  <a:srgbClr val="34D399"/>
                </a:solidFill>
                <a:latin typeface="Inter" pitchFamily="34" charset="0"/>
                <a:ea typeface="Inter" pitchFamily="34" charset="-122"/>
                <a:cs typeface="Inter" pitchFamily="34" charset="-120"/>
              </a:rPr>
              <a:t>C (uniform)</a:t>
            </a:r>
            <a:endParaRPr lang="en-US" sz="1050" dirty="0"/>
          </a:p>
        </p:txBody>
      </p:sp>
      <p:sp>
        <p:nvSpPr>
          <p:cNvPr id="63" name="Text 55"/>
          <p:cNvSpPr txBox="1"/>
          <p:nvPr/>
        </p:nvSpPr>
        <p:spPr>
          <a:xfrm>
            <a:off x="13430707" y="2476195"/>
            <a:ext cx="4096512" cy="133502"/>
          </a:xfrm>
          <a:prstGeom prst="rect">
            <a:avLst/>
          </a:prstGeom>
          <a:noFill/>
          <a:ln/>
        </p:spPr>
        <p:txBody>
          <a:bodyPr wrap="none" lIns="0" tIns="0" rIns="0" bIns="0" rtlCol="0" anchor="ctr"/>
          <a:lstStyle/>
          <a:p>
            <a:pPr algn="l" indent="0" marL="0">
              <a:buNone/>
            </a:pPr>
            <a:r>
              <a:rPr lang="en-US" sz="825" spc="182" kern="0" dirty="0">
                <a:solidFill>
                  <a:srgbClr val="5C6478"/>
                </a:solidFill>
                <a:latin typeface="JetBrains Mono" pitchFamily="34" charset="0"/>
                <a:ea typeface="JetBrains Mono" pitchFamily="34" charset="-122"/>
                <a:cs typeface="JetBrains Mono" pitchFamily="34" charset="-120"/>
              </a:rPr>
              <a:t>PICK WINNER · B (1.5 nm)</a:t>
            </a:r>
            <a:endParaRPr lang="en-US" sz="825" dirty="0"/>
          </a:p>
        </p:txBody>
      </p:sp>
      <p:sp>
        <p:nvSpPr>
          <p:cNvPr id="64" name="Text 56"/>
          <p:cNvSpPr txBox="1"/>
          <p:nvPr/>
        </p:nvSpPr>
        <p:spPr>
          <a:xfrm>
            <a:off x="13620902" y="3276295"/>
            <a:ext cx="3715207" cy="152705"/>
          </a:xfrm>
          <a:prstGeom prst="rect">
            <a:avLst/>
          </a:prstGeom>
          <a:noFill/>
          <a:ln/>
        </p:spPr>
        <p:txBody>
          <a:bodyPr wrap="none" lIns="0" tIns="0" rIns="0" bIns="0" rtlCol="0" anchor="ctr"/>
          <a:lstStyle/>
          <a:p>
            <a:pPr algn="l" indent="0" marL="0">
              <a:buNone/>
            </a:pPr>
            <a:r>
              <a:rPr lang="en-US" sz="900" spc="162" kern="0" dirty="0">
                <a:solidFill>
                  <a:srgbClr val="34D399"/>
                </a:solidFill>
                <a:latin typeface="JetBrains Mono" pitchFamily="34" charset="0"/>
                <a:ea typeface="JetBrains Mono" pitchFamily="34" charset="-122"/>
                <a:cs typeface="JetBrains Mono" pitchFamily="34" charset="-120"/>
              </a:rPr>
              <a:t>YIELD</a:t>
            </a:r>
            <a:endParaRPr lang="en-US" sz="900" dirty="0"/>
          </a:p>
        </p:txBody>
      </p:sp>
      <p:sp>
        <p:nvSpPr>
          <p:cNvPr id="65" name="Text 57"/>
          <p:cNvSpPr txBox="1"/>
          <p:nvPr/>
        </p:nvSpPr>
        <p:spPr>
          <a:xfrm>
            <a:off x="13620902" y="3504895"/>
            <a:ext cx="3715207" cy="438912"/>
          </a:xfrm>
          <a:prstGeom prst="rect">
            <a:avLst/>
          </a:prstGeom>
          <a:noFill/>
          <a:ln/>
        </p:spPr>
        <p:txBody>
          <a:bodyPr wrap="none" lIns="0" tIns="0" rIns="0" bIns="0" rtlCol="0" anchor="ctr"/>
          <a:lstStyle/>
          <a:p>
            <a:pPr algn="l" indent="0" marL="0">
              <a:buNone/>
            </a:pPr>
            <a:r>
              <a:rPr lang="en-US" sz="3450" b="1" dirty="0">
                <a:solidFill>
                  <a:srgbClr val="E6EDF7"/>
                </a:solidFill>
                <a:latin typeface="Inter" pitchFamily="34" charset="0"/>
                <a:ea typeface="Inter" pitchFamily="34" charset="-122"/>
                <a:cs typeface="Inter" pitchFamily="34" charset="-120"/>
              </a:rPr>
              <a:t>98.6%</a:t>
            </a:r>
            <a:endParaRPr lang="en-US" sz="3450" dirty="0"/>
          </a:p>
        </p:txBody>
      </p:sp>
      <p:sp>
        <p:nvSpPr>
          <p:cNvPr id="66" name="Text 58"/>
          <p:cNvSpPr txBox="1"/>
          <p:nvPr/>
        </p:nvSpPr>
        <p:spPr>
          <a:xfrm>
            <a:off x="13620902" y="4019702"/>
            <a:ext cx="3715207" cy="200254"/>
          </a:xfrm>
          <a:prstGeom prst="rect">
            <a:avLst/>
          </a:prstGeom>
          <a:noFill/>
          <a:ln/>
        </p:spPr>
        <p:txBody>
          <a:bodyPr wrap="none" lIns="0" tIns="0" rIns="0" bIns="0" rtlCol="0" anchor="ctr"/>
          <a:lstStyle/>
          <a:p>
            <a:pPr algn="l" indent="0" marL="0">
              <a:buNone/>
            </a:pPr>
            <a:r>
              <a:rPr lang="en-US" sz="1050" dirty="0">
                <a:solidFill>
                  <a:srgbClr val="8B95A8"/>
                </a:solidFill>
                <a:latin typeface="IBM Plex Sans KR" pitchFamily="34" charset="0"/>
                <a:ea typeface="IBM Plex Sans KR" pitchFamily="34" charset="-122"/>
                <a:cs typeface="IBM Plex Sans KR" pitchFamily="34" charset="-120"/>
              </a:rPr>
              <a:t>vs C +2.5, vs A +5.2</a:t>
            </a:r>
            <a:endParaRPr lang="en-US" sz="1050" dirty="0"/>
          </a:p>
        </p:txBody>
      </p:sp>
      <p:sp>
        <p:nvSpPr>
          <p:cNvPr id="67" name="Text 59"/>
          <p:cNvSpPr txBox="1"/>
          <p:nvPr/>
        </p:nvSpPr>
        <p:spPr>
          <a:xfrm>
            <a:off x="13620902" y="4362602"/>
            <a:ext cx="3715207" cy="152705"/>
          </a:xfrm>
          <a:prstGeom prst="rect">
            <a:avLst/>
          </a:prstGeom>
          <a:noFill/>
          <a:ln/>
        </p:spPr>
        <p:txBody>
          <a:bodyPr wrap="none" lIns="0" tIns="0" rIns="0" bIns="0" rtlCol="0" anchor="ctr"/>
          <a:lstStyle/>
          <a:p>
            <a:pPr algn="l" indent="0" marL="0">
              <a:buNone/>
            </a:pPr>
            <a:r>
              <a:rPr lang="en-US" sz="900" spc="162" kern="0" dirty="0">
                <a:solidFill>
                  <a:srgbClr val="22D3EE"/>
                </a:solidFill>
                <a:latin typeface="JetBrains Mono" pitchFamily="34" charset="0"/>
                <a:ea typeface="JetBrains Mono" pitchFamily="34" charset="-122"/>
                <a:cs typeface="JetBrains Mono" pitchFamily="34" charset="-120"/>
              </a:rPr>
              <a:t>EM MTTF</a:t>
            </a:r>
            <a:endParaRPr lang="en-US" sz="900" dirty="0"/>
          </a:p>
        </p:txBody>
      </p:sp>
      <p:sp>
        <p:nvSpPr>
          <p:cNvPr id="68" name="Text 60"/>
          <p:cNvSpPr txBox="1"/>
          <p:nvPr/>
        </p:nvSpPr>
        <p:spPr>
          <a:xfrm>
            <a:off x="13620902" y="4591202"/>
            <a:ext cx="3715207" cy="438912"/>
          </a:xfrm>
          <a:prstGeom prst="rect">
            <a:avLst/>
          </a:prstGeom>
          <a:noFill/>
          <a:ln/>
        </p:spPr>
        <p:txBody>
          <a:bodyPr wrap="none" lIns="0" tIns="0" rIns="0" bIns="0" rtlCol="0" anchor="ctr"/>
          <a:lstStyle/>
          <a:p>
            <a:pPr algn="l" indent="0" marL="0">
              <a:buNone/>
            </a:pPr>
            <a:r>
              <a:rPr lang="en-US" sz="3450" b="1" dirty="0">
                <a:solidFill>
                  <a:srgbClr val="E6EDF7"/>
                </a:solidFill>
                <a:latin typeface="Inter" pitchFamily="34" charset="0"/>
                <a:ea typeface="Inter" pitchFamily="34" charset="-122"/>
                <a:cs typeface="Inter" pitchFamily="34" charset="-120"/>
              </a:rPr>
              <a:t>9.8 </a:t>
            </a:r>
            <a:pPr algn="l" indent="0" marL="0">
              <a:buNone/>
            </a:pPr>
            <a:r>
              <a:rPr lang="en-US" sz="1350" b="1" dirty="0">
                <a:solidFill>
                  <a:srgbClr val="8B95A8"/>
                </a:solidFill>
                <a:latin typeface="Inter" pitchFamily="34" charset="0"/>
                <a:ea typeface="Inter" pitchFamily="34" charset="-122"/>
                <a:cs typeface="Inter" pitchFamily="34" charset="-120"/>
              </a:rPr>
              <a:t>yrs</a:t>
            </a:r>
            <a:endParaRPr lang="en-US" sz="3450" dirty="0"/>
          </a:p>
        </p:txBody>
      </p:sp>
      <p:sp>
        <p:nvSpPr>
          <p:cNvPr id="69" name="Text 61"/>
          <p:cNvSpPr txBox="1"/>
          <p:nvPr/>
        </p:nvSpPr>
        <p:spPr>
          <a:xfrm>
            <a:off x="13620902" y="5105095"/>
            <a:ext cx="3715207" cy="200254"/>
          </a:xfrm>
          <a:prstGeom prst="rect">
            <a:avLst/>
          </a:prstGeom>
          <a:noFill/>
          <a:ln/>
        </p:spPr>
        <p:txBody>
          <a:bodyPr wrap="none" lIns="0" tIns="0" rIns="0" bIns="0" rtlCol="0" anchor="ctr"/>
          <a:lstStyle/>
          <a:p>
            <a:pPr algn="l" indent="0" marL="0">
              <a:buNone/>
            </a:pPr>
            <a:r>
              <a:rPr lang="en-US" sz="1050" dirty="0">
                <a:solidFill>
                  <a:srgbClr val="8B95A8"/>
                </a:solidFill>
                <a:latin typeface="IBM Plex Sans KR" pitchFamily="34" charset="0"/>
                <a:ea typeface="IBM Plex Sans KR" pitchFamily="34" charset="-122"/>
                <a:cs typeface="IBM Plex Sans KR" pitchFamily="34" charset="-120"/>
              </a:rPr>
              <a:t>target ≥ 7 yrs 통과</a:t>
            </a:r>
            <a:endParaRPr lang="en-US" sz="1050" dirty="0"/>
          </a:p>
        </p:txBody>
      </p:sp>
      <p:sp>
        <p:nvSpPr>
          <p:cNvPr id="70" name="Text 62"/>
          <p:cNvSpPr txBox="1"/>
          <p:nvPr/>
        </p:nvSpPr>
        <p:spPr>
          <a:xfrm>
            <a:off x="13620902" y="5695798"/>
            <a:ext cx="3715207" cy="152705"/>
          </a:xfrm>
          <a:prstGeom prst="rect">
            <a:avLst/>
          </a:prstGeom>
          <a:noFill/>
          <a:ln/>
        </p:spPr>
        <p:txBody>
          <a:bodyPr wrap="none" lIns="0" tIns="0" rIns="0" bIns="0" rtlCol="0" anchor="ctr"/>
          <a:lstStyle/>
          <a:p>
            <a:pPr algn="l" indent="0" marL="0">
              <a:buNone/>
            </a:pPr>
            <a:r>
              <a:rPr lang="en-US" sz="900" spc="162" kern="0" dirty="0">
                <a:solidFill>
                  <a:srgbClr val="A78BFA"/>
                </a:solidFill>
                <a:latin typeface="JetBrains Mono" pitchFamily="34" charset="0"/>
                <a:ea typeface="JetBrains Mono" pitchFamily="34" charset="-122"/>
                <a:cs typeface="JetBrains Mono" pitchFamily="34" charset="-120"/>
              </a:rPr>
              <a:t>Δ vs A·Rc</a:t>
            </a:r>
            <a:endParaRPr lang="en-US" sz="900" dirty="0"/>
          </a:p>
        </p:txBody>
      </p:sp>
      <p:sp>
        <p:nvSpPr>
          <p:cNvPr id="71" name="Text 63"/>
          <p:cNvSpPr txBox="1"/>
          <p:nvPr/>
        </p:nvSpPr>
        <p:spPr>
          <a:xfrm>
            <a:off x="13620902" y="5924398"/>
            <a:ext cx="3715207" cy="419710"/>
          </a:xfrm>
          <a:prstGeom prst="rect">
            <a:avLst/>
          </a:prstGeom>
          <a:noFill/>
          <a:ln/>
        </p:spPr>
        <p:txBody>
          <a:bodyPr wrap="none" lIns="0" tIns="0" rIns="0" bIns="0" rtlCol="0" anchor="ctr"/>
          <a:lstStyle/>
          <a:p>
            <a:pPr algn="l" indent="0" marL="0">
              <a:buNone/>
            </a:pPr>
            <a:r>
              <a:rPr lang="en-US" sz="3300" b="1" dirty="0">
                <a:solidFill>
                  <a:srgbClr val="34D399"/>
                </a:solidFill>
                <a:latin typeface="Inter" pitchFamily="34" charset="0"/>
                <a:ea typeface="Inter" pitchFamily="34" charset="-122"/>
                <a:cs typeface="Inter" pitchFamily="34" charset="-120"/>
              </a:rPr>
              <a:t>−46%</a:t>
            </a:r>
            <a:endParaRPr lang="en-US" sz="3300" dirty="0"/>
          </a:p>
        </p:txBody>
      </p:sp>
      <p:sp>
        <p:nvSpPr>
          <p:cNvPr id="72" name="Text 64"/>
          <p:cNvSpPr txBox="1"/>
          <p:nvPr/>
        </p:nvSpPr>
        <p:spPr>
          <a:xfrm>
            <a:off x="13620902" y="6420002"/>
            <a:ext cx="3715207" cy="200254"/>
          </a:xfrm>
          <a:prstGeom prst="rect">
            <a:avLst/>
          </a:prstGeom>
          <a:noFill/>
          <a:ln/>
        </p:spPr>
        <p:txBody>
          <a:bodyPr wrap="none" lIns="0" tIns="0" rIns="0" bIns="0" rtlCol="0" anchor="ctr"/>
          <a:lstStyle/>
          <a:p>
            <a:pPr algn="l" indent="0" marL="0">
              <a:buNone/>
            </a:pPr>
            <a:r>
              <a:rPr lang="en-US" sz="1050" dirty="0">
                <a:solidFill>
                  <a:srgbClr val="8B95A8"/>
                </a:solidFill>
                <a:latin typeface="IBM Plex Sans KR" pitchFamily="34" charset="0"/>
                <a:ea typeface="IBM Plex Sans KR" pitchFamily="34" charset="-122"/>
                <a:cs typeface="IBM Plex Sans KR" pitchFamily="34" charset="-120"/>
              </a:rPr>
              <a:t>A 대비 Rc 감소폭</a:t>
            </a:r>
            <a:endParaRPr lang="en-US" sz="1050" dirty="0"/>
          </a:p>
        </p:txBody>
      </p:sp>
      <p:sp>
        <p:nvSpPr>
          <p:cNvPr id="73" name="Text 65"/>
          <p:cNvSpPr txBox="1"/>
          <p:nvPr/>
        </p:nvSpPr>
        <p:spPr>
          <a:xfrm>
            <a:off x="13620902" y="6858000"/>
            <a:ext cx="3715207" cy="152705"/>
          </a:xfrm>
          <a:prstGeom prst="rect">
            <a:avLst/>
          </a:prstGeom>
          <a:noFill/>
          <a:ln/>
        </p:spPr>
        <p:txBody>
          <a:bodyPr wrap="none" lIns="0" tIns="0" rIns="0" bIns="0" rtlCol="0" anchor="ctr"/>
          <a:lstStyle/>
          <a:p>
            <a:pPr algn="l" indent="0" marL="0">
              <a:buNone/>
            </a:pPr>
            <a:r>
              <a:rPr lang="en-US" sz="900" spc="162" kern="0" dirty="0">
                <a:solidFill>
                  <a:srgbClr val="8B95A8"/>
                </a:solidFill>
                <a:latin typeface="JetBrains Mono" pitchFamily="34" charset="0"/>
                <a:ea typeface="JetBrains Mono" pitchFamily="34" charset="-122"/>
                <a:cs typeface="JetBrains Mono" pitchFamily="34" charset="-120"/>
              </a:rPr>
              <a:t>DECISION LOG</a:t>
            </a:r>
            <a:endParaRPr lang="en-US" sz="900" dirty="0"/>
          </a:p>
        </p:txBody>
      </p:sp>
      <p:sp>
        <p:nvSpPr>
          <p:cNvPr id="74" name="Text 66"/>
          <p:cNvSpPr txBox="1"/>
          <p:nvPr/>
        </p:nvSpPr>
        <p:spPr>
          <a:xfrm>
            <a:off x="13620902" y="7067398"/>
            <a:ext cx="3715207" cy="247802"/>
          </a:xfrm>
          <a:prstGeom prst="rect">
            <a:avLst/>
          </a:prstGeom>
          <a:noFill/>
          <a:ln/>
        </p:spPr>
        <p:txBody>
          <a:bodyPr wrap="none" lIns="0" tIns="0" rIns="0" bIns="0" rtlCol="0" anchor="ctr"/>
          <a:lstStyle/>
          <a:p>
            <a:pPr algn="l" indent="0" marL="0">
              <a:buNone/>
            </a:pPr>
            <a:r>
              <a:rPr lang="en-US" sz="1350" dirty="0">
                <a:solidFill>
                  <a:srgbClr val="E6EDF7"/>
                </a:solidFill>
                <a:latin typeface="IBM Plex Sans KR" pitchFamily="34" charset="0"/>
                <a:ea typeface="IBM Plex Sans KR" pitchFamily="34" charset="-122"/>
                <a:cs typeface="IBM Plex Sans KR" pitchFamily="34" charset="-120"/>
              </a:rPr>
              <a:t>1.5 nm · 본 lot baseline 채택 권고</a:t>
            </a:r>
            <a:endParaRPr lang="en-US" sz="1350" dirty="0"/>
          </a:p>
        </p:txBody>
      </p:sp>
      <p:sp>
        <p:nvSpPr>
          <p:cNvPr id="75" name="Text 67"/>
          <p:cNvSpPr txBox="1"/>
          <p:nvPr/>
        </p:nvSpPr>
        <p:spPr>
          <a:xfrm>
            <a:off x="1028700" y="8833104"/>
            <a:ext cx="1133856" cy="152705"/>
          </a:xfrm>
          <a:prstGeom prst="rect">
            <a:avLst/>
          </a:prstGeom>
          <a:noFill/>
          <a:ln/>
        </p:spPr>
        <p:txBody>
          <a:bodyPr wrap="none" lIns="0" tIns="0" rIns="0" bIns="0" rtlCol="0" anchor="ctr"/>
          <a:lstStyle/>
          <a:p>
            <a:pPr algn="l" indent="0" marL="0">
              <a:buNone/>
            </a:pPr>
            <a:r>
              <a:rPr lang="en-US" sz="900" spc="198" kern="0" dirty="0">
                <a:solidFill>
                  <a:srgbClr val="34D399"/>
                </a:solidFill>
                <a:latin typeface="JetBrains Mono" pitchFamily="34" charset="0"/>
                <a:ea typeface="JetBrains Mono" pitchFamily="34" charset="-122"/>
                <a:cs typeface="JetBrains Mono" pitchFamily="34" charset="-120"/>
              </a:rPr>
              <a:t>KEY TAKEAWAY</a:t>
            </a:r>
            <a:endParaRPr lang="en-US" sz="900" dirty="0"/>
          </a:p>
        </p:txBody>
      </p:sp>
      <p:pic>
        <p:nvPicPr>
          <p:cNvPr id="76" name="Image 5" descr="gen-dedup-a1859ed18a5643c89d5696e5133d62cb.png">    </p:cNvPr>
          <p:cNvPicPr>
            <a:picLocks noChangeAspect="1"/>
          </p:cNvPicPr>
          <p:nvPr/>
        </p:nvPicPr>
        <p:blipFill>
          <a:blip r:embed="rId6"/>
          <a:srcRect l="-2083" r="-2083" t="0" b="0"/>
          <a:stretch/>
        </p:blipFill>
        <p:spPr>
          <a:xfrm>
            <a:off x="2325319" y="8904427"/>
            <a:ext cx="228600" cy="9144"/>
          </a:xfrm>
          <a:prstGeom prst="rect">
            <a:avLst/>
          </a:prstGeom>
        </p:spPr>
      </p:pic>
      <p:sp>
        <p:nvSpPr>
          <p:cNvPr id="77" name="Text 68"/>
          <p:cNvSpPr txBox="1"/>
          <p:nvPr/>
        </p:nvSpPr>
        <p:spPr>
          <a:xfrm>
            <a:off x="2724912" y="8762695"/>
            <a:ext cx="8306410" cy="295351"/>
          </a:xfrm>
          <a:prstGeom prst="rect">
            <a:avLst/>
          </a:prstGeom>
          <a:noFill/>
          <a:ln/>
        </p:spPr>
        <p:txBody>
          <a:bodyPr wrap="none" lIns="0" tIns="0" rIns="0" bIns="0" rtlCol="0" anchor="ctr"/>
          <a:lstStyle/>
          <a:p>
            <a:pPr algn="l" indent="0" marL="0">
              <a:buNone/>
            </a:pPr>
            <a:r>
              <a:rPr lang="en-US" sz="1650" dirty="0">
                <a:solidFill>
                  <a:srgbClr val="E6EDF7"/>
                </a:solidFill>
                <a:latin typeface="IBM Plex Sans KR" pitchFamily="34" charset="0"/>
                <a:ea typeface="IBM Plex Sans KR" pitchFamily="34" charset="-122"/>
                <a:cs typeface="IBM Plex Sans KR" pitchFamily="34" charset="-120"/>
              </a:rPr>
              <a:t>B(1.5 nm)가 6 / 7 metric에서 best, 단 WIWNU만 C win — 본 lot baseline 후보로 권고.</a:t>
            </a:r>
            <a:endParaRPr lang="en-US" sz="1650" dirty="0"/>
          </a:p>
        </p:txBody>
      </p:sp>
      <p:sp>
        <p:nvSpPr>
          <p:cNvPr id="78" name="Text 69"/>
          <p:cNvSpPr txBox="1"/>
          <p:nvPr/>
        </p:nvSpPr>
        <p:spPr>
          <a:xfrm>
            <a:off x="761695" y="9810598"/>
            <a:ext cx="16764610" cy="219456"/>
          </a:xfrm>
          <a:prstGeom prst="rect">
            <a:avLst/>
          </a:prstGeom>
          <a:noFill/>
          <a:ln/>
        </p:spPr>
        <p:txBody>
          <a:bodyPr wrap="none" lIns="0" tIns="0" rIns="0" bIns="0" rtlCol="0" anchor="ctr"/>
          <a:lstStyle/>
          <a:p>
            <a:pPr algn="r" indent="0" marL="0">
              <a:buNone/>
            </a:pPr>
            <a:r>
              <a:rPr lang="en-US" sz="975" dirty="0">
                <a:solidFill>
                  <a:srgbClr val="5C6478"/>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2026-10-03T16:12:54Z</dcterms:created>
  <dcterms:modified xsi:type="dcterms:W3CDTF">2026-10-03T16:12:54Z</dcterms:modified>
</cp:coreProperties>
</file>