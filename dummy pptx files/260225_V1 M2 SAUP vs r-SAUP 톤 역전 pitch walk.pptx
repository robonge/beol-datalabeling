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dummy 보고서의 첫 페이지로, 실험의 목적과 평가 조건을 명세한다. 좌측에는 평가 목적 3개 — sub-30nm 피치 정밀도 확보, 톤 역전으로 pitch walk 완화, split 간 정량 비교 — 가 stack 형태로 정리되어 있고 우측 panel에는 lot/wafer, 대상 레이어 V1/M2, 공정 split, 그리고 4개의 target CD 23.1/16.3/9.7/9.1 nm이 명시되어 있다. 발표 시에는 톤 역전 도입의 동기와 SAUP 대비 r-SAUP의 차별점을 2분 이내로 짧게 짚고, 후속 슬라이드에서 어떤 메트릭이 어떻게 따라붙는지 미리 한 줄 예고하면 좋다. 모든 수치는 dummy지만 보고서 흐름을 그릴 수 있을 만큼 의미적으로 정렬해 두었다.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SAUP와 r-SAUP 두 패터닝 split을 좌우 한 장씩 카드로 펼쳐 비교한다. 좌측 SAUP 카드는 Spacer-is-Metal 계열로 정의, 우측 r-SAUP 카드는 톤 역전된 Spacer-is-Dielectric이다. 카드의 우상단에는 색이 다른 작은 schematic 박스(simulator) — SAUP는 spacer가 곧 배선, r-SAUP는 슬릿이 곧 트렌치 — 를 두어 좌우 카드의 tone 차이를 한 눈에 보여주게 했다. 발표 시 핵심은 "선이 되느냐 빈틈이 되느냐가 뒤집혔다"는 한 줄과, 그 결과로 pitch walk가 어디서 완화되는지 1분 정도 짚는 정도면 충분하다. 우측에는 4~5줄짜리 feature 설명이 있지만 짧게 핵심만 읽고 listener에게 다음 슬라이드의 표를 가리키며 마무리하면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좌측 SAUP와 우측 r-SAUP 두 표는 동일한 메트릭 — AASI 23.1, ASEI 16.3, AMI 9.7, ACI 9.1 nm — 을 3매 wafer에 대해 mean / 3-시그마 / Range / Δ vs target로 정리한다. 한 wafer당 두 줄로 압축해 표 가독성을 높였고, Δ 컬럼은 절대값에 따라 색을 다르게 — 0.30 nm 초과면 주황-적색, ±0.10 nm 이내면 녹색 — 칠해 시각적 한눈비교가 가능하게 했다. 발표 시에는 "측정 단계가 AASI에서 ACI로 갈수록 분산이 줄어드는 추세" 그리고 "split B의 AMI/ACI가 모든 wafer에서 ±0.10 nm 이내로 들어오는 점" 두 가지만 짚으면 충분하다. SAUP W01의 AASI+0.35 nm처럼 target을 살짝 벗어나는 셀은 일부러 색 차이를 두었다.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좌측 카드(L)에는 imec가 공개한 단면 라인/스페이스 어레이 사진이 들어가 있다 — 4-panel 한 strip으로 다양한 pitch density가 함께 보인다. 우측 카드(R)에는 AMD TSMC 7nm과 Intel 14nm을 비교한 top-view 전자현미경 die-shot 사진을 그대로 인용했다. 두 카드 모두 출처는 사진 아래 1줄로만 표시하며 별도 reference 슬라이드는 두지 않는다. 발표 시에는 "단면에서는 dense 영역으로 갈수록 라인 폭 비대칭이 보이지만, top-view에서는 cell broken이 거의 없다"는 시각 비교를 짚고, 이는 다음 슬라이드 정량 3-시그마 차이로 자연스럽게 연결된다는 점을 한 줄 언급하면 좋다. 슬라이드는 설명 가능한 dummy 보고용이며, 두 사진 모두 web search로 찾은 실제 전자현미경 사진이다.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좌측에 3 wafer에 대한 통계 표, 우측에 r-W02 대표 wafer의 25-point map을 배치했다. 표 헤더는 AMI mean / 3σ / Range와 ACI mean / 3σ / Range로 분리했고 표 아래 summary 카드에서 3-wafer 평균·SAUP 대비 비교·within-spec 카운트를 정리했다. 우측 map은 5x5 점으로 구성되며 색은 Δ vs target 4단계 — cool blue, good green, light orange, warm red — 로 구분해 legend와 짝을 이룬다. 발표 시에는 "중심부는 거의 균질하지만 가장자리 우측·외곽 한 점에서만 벗어남"을 짚고, 우상단 1점과 우하단 1점 두 곳이 spec window는 넘지 않지만 가장 큰 폭으로 벗어난 cell임을 보여주면 후속 평가의 시작점이 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좌측 카드(CARD 1)는 SAUP 3 wafer + r-SAUP 3 wafer의 배선/접촉 저항 — Rs mean (Ω/sq), Rs 3σ(%), Rc mean (Ω/via), Rm 3σ(%) — 를 보여준다. 우측 카드(CARD 2)는 유전체·BD·누설·수율 항목 — Vbd, Jg @1V (×10⁻⁹), leakage (fA/via), chain yield (%) — 을 6 wafer에 대해 동일하게 정리한다. 일부 셀에 색상을 살짝 다르게 두어 양 split 차이가 한눈에 드러나게 했고, 발표 시에는 "r-SAUP 6개의 카드 모두에서 Rs 3σ가 3%대, chain yield가 98% 부근으로 batch 그렇지 않은 경우보다 안정"이라는 한 줄과 "이는 dummy 데이터지만 정량 비교의 골격은 잡혔다"는 point로 닫는다.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dcb08d108d63be2712e922f64f0d01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573000" y="-1904695"/>
            <a:ext cx="7239305" cy="7239305"/>
          </a:xfrm>
          <a:prstGeom prst="rect">
            <a:avLst/>
          </a:prstGeom>
        </p:spPr>
      </p:pic>
      <p:pic>
        <p:nvPicPr>
          <p:cNvPr id="4" name="Image 1" descr="gen-dedup-bebcddb750dc70a2a7fd8d7641deb802.png">    </p:cNvPr>
          <p:cNvPicPr>
            <a:picLocks noChangeAspect="1"/>
          </p:cNvPicPr>
          <p:nvPr/>
        </p:nvPicPr>
        <p:blipFill>
          <a:blip r:embed="rId2"/>
          <a:srcRect l="-385" r="-385" t="0" b="0"/>
          <a:stretch/>
        </p:blipFill>
        <p:spPr>
          <a:xfrm>
            <a:off x="761695" y="2495398"/>
            <a:ext cx="761695" cy="2834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761695" y="8762695"/>
            <a:ext cx="16802100" cy="761695"/>
          </a:xfrm>
          <a:prstGeom prst="rect">
            <a:avLst/>
          </a:prstGeom>
          <a:solidFill>
            <a:srgbClr val="131C2E"/>
          </a:solidFill>
          <a:ln/>
        </p:spPr>
      </p:sp>
      <p:sp>
        <p:nvSpPr>
          <p:cNvPr id="6" name="Shape 1"/>
          <p:cNvSpPr/>
          <p:nvPr/>
        </p:nvSpPr>
        <p:spPr>
          <a:xfrm>
            <a:off x="761695" y="8762695"/>
            <a:ext cx="38405" cy="761695"/>
          </a:xfrm>
          <a:prstGeom prst="rect">
            <a:avLst/>
          </a:prstGeom>
          <a:solidFill>
            <a:srgbClr val="4FA3FF"/>
          </a:solidFill>
          <a:ln w="12700">
            <a:solidFill>
              <a:srgbClr val="4FA3FF">
                <a:alpha val="0"/>
              </a:srgbClr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905256" y="899770"/>
            <a:ext cx="57607" cy="57607"/>
          </a:xfrm>
          <a:prstGeom prst="ellipse">
            <a:avLst/>
          </a:prstGeom>
          <a:solidFill>
            <a:srgbClr val="4FA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1037844" y="847649"/>
            <a:ext cx="341894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B4C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05 / 15 · BEOL EVAL DUMMY</a:t>
            </a:r>
            <a:endParaRPr lang="en-US" sz="1050" dirty="0"/>
          </a:p>
        </p:txBody>
      </p:sp>
      <p:sp>
        <p:nvSpPr>
          <p:cNvPr id="9" name="Shape 4"/>
          <p:cNvSpPr/>
          <p:nvPr/>
        </p:nvSpPr>
        <p:spPr>
          <a:xfrm>
            <a:off x="761695" y="761695"/>
            <a:ext cx="3562502" cy="333756"/>
          </a:xfrm>
          <a:prstGeom prst="roundRect">
            <a:avLst>
              <a:gd name="adj" fmla="val 11507"/>
            </a:avLst>
          </a:prstGeom>
          <a:noFill/>
          <a:ln w="12700">
            <a:solidFill>
              <a:srgbClr val="2A3550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61695" y="1218895"/>
            <a:ext cx="12764110" cy="6574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650" b="1" spc="-46" kern="0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실험 목적 및 평가 조건</a:t>
            </a:r>
            <a:endParaRPr lang="en-US" sz="465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2040026"/>
            <a:ext cx="112398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B4C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300mm dummy wafer 3매에 대해 SAUP와 r-SAUP 두 공정 split으로 V1/M2 BEOL 패터닝을 진행, 동일 target CD에 대한 형성 정밀도와 균일도를 비교 평가한다.</a:t>
            </a:r>
            <a:endParaRPr lang="en-US" sz="165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2857500"/>
            <a:ext cx="8001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4FA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평가 목적 · EVAL PURPOSE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761695" y="3219602"/>
            <a:ext cx="8001000" cy="1114654"/>
          </a:xfrm>
          <a:prstGeom prst="rect">
            <a:avLst/>
          </a:prstGeom>
          <a:solidFill>
            <a:srgbClr val="131C2E"/>
          </a:solidFill>
          <a:ln/>
        </p:spPr>
      </p:sp>
      <p:sp>
        <p:nvSpPr>
          <p:cNvPr id="14" name="Shape 9"/>
          <p:cNvSpPr/>
          <p:nvPr/>
        </p:nvSpPr>
        <p:spPr>
          <a:xfrm>
            <a:off x="761695" y="3219602"/>
            <a:ext cx="28346" cy="1114654"/>
          </a:xfrm>
          <a:prstGeom prst="rect">
            <a:avLst/>
          </a:prstGeom>
          <a:solidFill>
            <a:srgbClr val="4FA3FF"/>
          </a:solidFill>
          <a:ln w="12700">
            <a:solidFill>
              <a:srgbClr val="4FA3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1000354" y="3353105"/>
            <a:ext cx="7573061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Sub-30 nm pitch에서의 형성 정밀도 확보</a:t>
            </a:r>
            <a:endParaRPr lang="en-US" sz="1575" dirty="0"/>
          </a:p>
        </p:txBody>
      </p:sp>
      <p:sp>
        <p:nvSpPr>
          <p:cNvPr id="16" name="Text 11"/>
          <p:cNvSpPr txBox="1"/>
          <p:nvPr/>
        </p:nvSpPr>
        <p:spPr>
          <a:xfrm>
            <a:off x="1000354" y="3696005"/>
            <a:ext cx="7573061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B4C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SAB+TiN 더미 메탈 구조와 self-aligned spacer를 통합해 Mx layer에서 30 nm 이하 피치의 라인 정렬성을 확보한다.</a:t>
            </a:r>
            <a:endParaRPr lang="en-US" sz="1275" dirty="0"/>
          </a:p>
        </p:txBody>
      </p:sp>
      <p:sp>
        <p:nvSpPr>
          <p:cNvPr id="17" name="Shape 12"/>
          <p:cNvSpPr/>
          <p:nvPr/>
        </p:nvSpPr>
        <p:spPr>
          <a:xfrm>
            <a:off x="761695" y="4483303"/>
            <a:ext cx="8001000" cy="1114654"/>
          </a:xfrm>
          <a:prstGeom prst="rect">
            <a:avLst/>
          </a:prstGeom>
          <a:solidFill>
            <a:srgbClr val="131C2E"/>
          </a:solidFill>
          <a:ln/>
        </p:spPr>
      </p:sp>
      <p:sp>
        <p:nvSpPr>
          <p:cNvPr id="18" name="Shape 13"/>
          <p:cNvSpPr/>
          <p:nvPr/>
        </p:nvSpPr>
        <p:spPr>
          <a:xfrm>
            <a:off x="761695" y="4483303"/>
            <a:ext cx="28346" cy="1114654"/>
          </a:xfrm>
          <a:prstGeom prst="rect">
            <a:avLst/>
          </a:prstGeom>
          <a:solidFill>
            <a:srgbClr val="FFA94D"/>
          </a:solidFill>
          <a:ln w="12700">
            <a:solidFill>
              <a:srgbClr val="FFA94D">
                <a:alpha val="0"/>
              </a:srgbClr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1000354" y="4616806"/>
            <a:ext cx="7573061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톤 역전(r-SAUP)으로 pitch walk 완화</a:t>
            </a:r>
            <a:endParaRPr lang="en-US" sz="1575" dirty="0"/>
          </a:p>
        </p:txBody>
      </p:sp>
      <p:sp>
        <p:nvSpPr>
          <p:cNvPr id="20" name="Text 15"/>
          <p:cNvSpPr txBox="1"/>
          <p:nvPr/>
        </p:nvSpPr>
        <p:spPr>
          <a:xfrm>
            <a:off x="1000354" y="4959706"/>
            <a:ext cx="7573061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B4C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Spacer가 아닌 dielectric 공간으로 톤을 뒤집어 mandrel/non-mandrel 폭 불균형을 보정, 후공정 비아 정렬 마진을 회복한다.</a:t>
            </a:r>
            <a:endParaRPr lang="en-US" sz="1275" dirty="0"/>
          </a:p>
        </p:txBody>
      </p:sp>
      <p:sp>
        <p:nvSpPr>
          <p:cNvPr id="21" name="Shape 16"/>
          <p:cNvSpPr/>
          <p:nvPr/>
        </p:nvSpPr>
        <p:spPr>
          <a:xfrm>
            <a:off x="761695" y="5747004"/>
            <a:ext cx="8001000" cy="1114654"/>
          </a:xfrm>
          <a:prstGeom prst="rect">
            <a:avLst/>
          </a:prstGeom>
          <a:solidFill>
            <a:srgbClr val="131C2E"/>
          </a:solidFill>
          <a:ln/>
        </p:spPr>
      </p:sp>
      <p:sp>
        <p:nvSpPr>
          <p:cNvPr id="22" name="Shape 17"/>
          <p:cNvSpPr/>
          <p:nvPr/>
        </p:nvSpPr>
        <p:spPr>
          <a:xfrm>
            <a:off x="761695" y="5747004"/>
            <a:ext cx="28346" cy="1114654"/>
          </a:xfrm>
          <a:prstGeom prst="rect">
            <a:avLst/>
          </a:prstGeom>
          <a:solidFill>
            <a:srgbClr val="B197FC"/>
          </a:solidFill>
          <a:ln w="12700">
            <a:solidFill>
              <a:srgbClr val="B197FC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000354" y="5880506"/>
            <a:ext cx="7573061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Split 간 정량 비교 및 데이터 정합성 확보</a:t>
            </a:r>
            <a:endParaRPr lang="en-US" sz="1575" dirty="0"/>
          </a:p>
        </p:txBody>
      </p:sp>
      <p:sp>
        <p:nvSpPr>
          <p:cNvPr id="24" name="Text 19"/>
          <p:cNvSpPr txBox="1"/>
          <p:nvPr/>
        </p:nvSpPr>
        <p:spPr>
          <a:xfrm>
            <a:off x="1000354" y="6223406"/>
            <a:ext cx="7573061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B4C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동일 lot/스플릿의 dummy wafer 3매에 대해 CD·uniformity·전기 특성을 정량 비교, 동일 target에 대한 SAUP 대비 r-SAUP 분포를 정량화한다.</a:t>
            </a:r>
            <a:endParaRPr lang="en-US" sz="1275" dirty="0"/>
          </a:p>
        </p:txBody>
      </p:sp>
      <p:sp>
        <p:nvSpPr>
          <p:cNvPr id="25" name="Text 20"/>
          <p:cNvSpPr txBox="1"/>
          <p:nvPr/>
        </p:nvSpPr>
        <p:spPr>
          <a:xfrm>
            <a:off x="9144000" y="2857500"/>
            <a:ext cx="8382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FFA9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평가 조건 · EVAL CONDITIONS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9144000" y="3219602"/>
            <a:ext cx="8382305" cy="4114800"/>
          </a:xfrm>
          <a:prstGeom prst="rect">
            <a:avLst/>
          </a:prstGeom>
          <a:solidFill>
            <a:srgbClr val="1A24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420149" y="4077310"/>
            <a:ext cx="7830007" cy="9144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>
                <a:alpha val="0"/>
              </a:srgbClr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9420149" y="3724351"/>
            <a:ext cx="107716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Lot / wafer</a:t>
            </a:r>
            <a:endParaRPr lang="en-US" sz="1275" dirty="0"/>
          </a:p>
        </p:txBody>
      </p:sp>
      <p:sp>
        <p:nvSpPr>
          <p:cNvPr id="29" name="Text 24"/>
          <p:cNvSpPr txBox="1"/>
          <p:nvPr/>
        </p:nvSpPr>
        <p:spPr>
          <a:xfrm>
            <a:off x="12810744" y="3610051"/>
            <a:ext cx="5134356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300 mm dummy × 3매 (W01 / W02 / W03)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9420149" y="4620463"/>
            <a:ext cx="7830007" cy="9144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>
                <a:alpha val="0"/>
              </a:srgbClr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9420149" y="4238244"/>
            <a:ext cx="97475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대상 레이어</a:t>
            </a:r>
            <a:endParaRPr lang="en-US" sz="1275" dirty="0"/>
          </a:p>
        </p:txBody>
      </p:sp>
      <p:sp>
        <p:nvSpPr>
          <p:cNvPr id="32" name="Text 27"/>
          <p:cNvSpPr txBox="1"/>
          <p:nvPr/>
        </p:nvSpPr>
        <p:spPr>
          <a:xfrm>
            <a:off x="16465601" y="4219956"/>
            <a:ext cx="269748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197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V1</a:t>
            </a:r>
            <a:endParaRPr lang="en-US" sz="1650" dirty="0"/>
          </a:p>
        </p:txBody>
      </p:sp>
      <p:sp>
        <p:nvSpPr>
          <p:cNvPr id="33" name="Text 28"/>
          <p:cNvSpPr txBox="1"/>
          <p:nvPr/>
        </p:nvSpPr>
        <p:spPr>
          <a:xfrm>
            <a:off x="16783812" y="4252874"/>
            <a:ext cx="7955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endParaRPr lang="en-US" sz="1350" dirty="0"/>
          </a:p>
        </p:txBody>
      </p:sp>
      <p:sp>
        <p:nvSpPr>
          <p:cNvPr id="34" name="Text 29"/>
          <p:cNvSpPr txBox="1"/>
          <p:nvPr/>
        </p:nvSpPr>
        <p:spPr>
          <a:xfrm>
            <a:off x="16941089" y="4219956"/>
            <a:ext cx="314554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3E6B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M2</a:t>
            </a:r>
            <a:endParaRPr lang="en-US" sz="1650" dirty="0"/>
          </a:p>
        </p:txBody>
      </p:sp>
      <p:sp>
        <p:nvSpPr>
          <p:cNvPr id="35" name="Shape 30"/>
          <p:cNvSpPr/>
          <p:nvPr/>
        </p:nvSpPr>
        <p:spPr>
          <a:xfrm>
            <a:off x="9420149" y="5172761"/>
            <a:ext cx="7830007" cy="9144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>
                <a:alpha val="0"/>
              </a:srgbClr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9420149" y="4762195"/>
            <a:ext cx="85039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공정 split</a:t>
            </a:r>
            <a:endParaRPr lang="en-US" sz="1275" dirty="0"/>
          </a:p>
        </p:txBody>
      </p:sp>
      <p:sp>
        <p:nvSpPr>
          <p:cNvPr id="37" name="Shape 32"/>
          <p:cNvSpPr/>
          <p:nvPr/>
        </p:nvSpPr>
        <p:spPr>
          <a:xfrm>
            <a:off x="15420442" y="4876495"/>
            <a:ext cx="75895" cy="75895"/>
          </a:xfrm>
          <a:prstGeom prst="rect">
            <a:avLst/>
          </a:prstGeom>
          <a:solidFill>
            <a:srgbClr val="4FA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15553944" y="4791456"/>
            <a:ext cx="48646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SAUP</a:t>
            </a:r>
            <a:endParaRPr lang="en-US" sz="1500" dirty="0"/>
          </a:p>
        </p:txBody>
      </p:sp>
      <p:sp>
        <p:nvSpPr>
          <p:cNvPr id="39" name="Text 34"/>
          <p:cNvSpPr txBox="1"/>
          <p:nvPr/>
        </p:nvSpPr>
        <p:spPr>
          <a:xfrm>
            <a:off x="16163849" y="4791456"/>
            <a:ext cx="21397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</a:t>
            </a:r>
            <a:endParaRPr lang="en-US" sz="1350" dirty="0"/>
          </a:p>
        </p:txBody>
      </p:sp>
      <p:sp>
        <p:nvSpPr>
          <p:cNvPr id="40" name="Shape 35"/>
          <p:cNvSpPr/>
          <p:nvPr/>
        </p:nvSpPr>
        <p:spPr>
          <a:xfrm>
            <a:off x="16483889" y="4876495"/>
            <a:ext cx="75895" cy="75895"/>
          </a:xfrm>
          <a:prstGeom prst="rect">
            <a:avLst/>
          </a:prstGeom>
          <a:solidFill>
            <a:srgbClr val="FFA9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16617391" y="4791456"/>
            <a:ext cx="7342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r-SAUP</a:t>
            </a:r>
            <a:endParaRPr lang="en-US" sz="1500" dirty="0"/>
          </a:p>
        </p:txBody>
      </p:sp>
      <p:sp>
        <p:nvSpPr>
          <p:cNvPr id="42" name="Text 37"/>
          <p:cNvSpPr txBox="1"/>
          <p:nvPr/>
        </p:nvSpPr>
        <p:spPr>
          <a:xfrm>
            <a:off x="9420149" y="5333695"/>
            <a:ext cx="78300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52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CD (4 metric)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9420149" y="5609844"/>
            <a:ext cx="3866998" cy="657454"/>
          </a:xfrm>
          <a:prstGeom prst="rect">
            <a:avLst/>
          </a:prstGeom>
          <a:solidFill>
            <a:srgbClr val="0F18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9562795" y="5715000"/>
            <a:ext cx="35817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AASI</a:t>
            </a:r>
            <a:endParaRPr lang="en-US" sz="975" dirty="0"/>
          </a:p>
        </p:txBody>
      </p:sp>
      <p:sp>
        <p:nvSpPr>
          <p:cNvPr id="45" name="Text 40"/>
          <p:cNvSpPr txBox="1"/>
          <p:nvPr/>
        </p:nvSpPr>
        <p:spPr>
          <a:xfrm>
            <a:off x="9562795" y="5867705"/>
            <a:ext cx="35817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23.1 </a:t>
            </a:r>
            <a:pPr algn="l" indent="0" marL="0">
              <a:buNone/>
            </a:pPr>
            <a:r>
              <a:rPr lang="en-US" sz="1050" b="1" dirty="0">
                <a:solidFill>
                  <a:srgbClr val="74829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nm</a:t>
            </a:r>
            <a:endParaRPr lang="en-US" sz="1800" dirty="0"/>
          </a:p>
        </p:txBody>
      </p:sp>
      <p:sp>
        <p:nvSpPr>
          <p:cNvPr id="46" name="Shape 41"/>
          <p:cNvSpPr/>
          <p:nvPr/>
        </p:nvSpPr>
        <p:spPr>
          <a:xfrm>
            <a:off x="13382244" y="5609844"/>
            <a:ext cx="3866998" cy="657454"/>
          </a:xfrm>
          <a:prstGeom prst="rect">
            <a:avLst/>
          </a:prstGeom>
          <a:solidFill>
            <a:srgbClr val="0F18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13525805" y="5715000"/>
            <a:ext cx="35817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ASEI</a:t>
            </a:r>
            <a:endParaRPr lang="en-US" sz="975" dirty="0"/>
          </a:p>
        </p:txBody>
      </p:sp>
      <p:sp>
        <p:nvSpPr>
          <p:cNvPr id="48" name="Text 43"/>
          <p:cNvSpPr txBox="1"/>
          <p:nvPr/>
        </p:nvSpPr>
        <p:spPr>
          <a:xfrm>
            <a:off x="13525805" y="5867705"/>
            <a:ext cx="35817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16.3 </a:t>
            </a:r>
            <a:pPr algn="l" indent="0" marL="0">
              <a:buNone/>
            </a:pPr>
            <a:r>
              <a:rPr lang="en-US" sz="1050" b="1" dirty="0">
                <a:solidFill>
                  <a:srgbClr val="74829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nm</a:t>
            </a:r>
            <a:endParaRPr lang="en-US" sz="1800" dirty="0"/>
          </a:p>
        </p:txBody>
      </p:sp>
      <p:sp>
        <p:nvSpPr>
          <p:cNvPr id="49" name="Shape 44"/>
          <p:cNvSpPr/>
          <p:nvPr/>
        </p:nvSpPr>
        <p:spPr>
          <a:xfrm>
            <a:off x="9420149" y="6362395"/>
            <a:ext cx="3866998" cy="657454"/>
          </a:xfrm>
          <a:prstGeom prst="rect">
            <a:avLst/>
          </a:prstGeom>
          <a:solidFill>
            <a:srgbClr val="0F18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9562795" y="6467551"/>
            <a:ext cx="35817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AMI</a:t>
            </a:r>
            <a:endParaRPr lang="en-US" sz="975" dirty="0"/>
          </a:p>
        </p:txBody>
      </p:sp>
      <p:sp>
        <p:nvSpPr>
          <p:cNvPr id="51" name="Text 46"/>
          <p:cNvSpPr txBox="1"/>
          <p:nvPr/>
        </p:nvSpPr>
        <p:spPr>
          <a:xfrm>
            <a:off x="9562795" y="6620256"/>
            <a:ext cx="35817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9.7 </a:t>
            </a:r>
            <a:pPr algn="l" indent="0" marL="0">
              <a:buNone/>
            </a:pPr>
            <a:r>
              <a:rPr lang="en-US" sz="1050" b="1" dirty="0">
                <a:solidFill>
                  <a:srgbClr val="74829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nm</a:t>
            </a:r>
            <a:endParaRPr lang="en-US" sz="1800" dirty="0"/>
          </a:p>
        </p:txBody>
      </p:sp>
      <p:sp>
        <p:nvSpPr>
          <p:cNvPr id="52" name="Shape 47"/>
          <p:cNvSpPr/>
          <p:nvPr/>
        </p:nvSpPr>
        <p:spPr>
          <a:xfrm>
            <a:off x="13382244" y="6362395"/>
            <a:ext cx="3866998" cy="657454"/>
          </a:xfrm>
          <a:prstGeom prst="rect">
            <a:avLst/>
          </a:prstGeom>
          <a:solidFill>
            <a:srgbClr val="0F18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13525805" y="6467551"/>
            <a:ext cx="35817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ACI</a:t>
            </a:r>
            <a:endParaRPr lang="en-US" sz="975" dirty="0"/>
          </a:p>
        </p:txBody>
      </p:sp>
      <p:sp>
        <p:nvSpPr>
          <p:cNvPr id="54" name="Text 49"/>
          <p:cNvSpPr txBox="1"/>
          <p:nvPr/>
        </p:nvSpPr>
        <p:spPr>
          <a:xfrm>
            <a:off x="13525805" y="6620256"/>
            <a:ext cx="35817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9.1 </a:t>
            </a:r>
            <a:pPr algn="l" indent="0" marL="0">
              <a:buNone/>
            </a:pPr>
            <a:r>
              <a:rPr lang="en-US" sz="1050" b="1" dirty="0">
                <a:solidFill>
                  <a:srgbClr val="74829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nm</a:t>
            </a:r>
            <a:endParaRPr lang="en-US" sz="1800" dirty="0"/>
          </a:p>
        </p:txBody>
      </p:sp>
      <p:sp>
        <p:nvSpPr>
          <p:cNvPr id="55" name="Text 50"/>
          <p:cNvSpPr txBox="1"/>
          <p:nvPr/>
        </p:nvSpPr>
        <p:spPr>
          <a:xfrm>
            <a:off x="9144000" y="7505395"/>
            <a:ext cx="90681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Metrology: </a:t>
            </a:r>
            <a:pPr algn="l" indent="0" marL="0">
              <a:buNone/>
            </a:pPr>
            <a:r>
              <a:rPr lang="en-US" sz="1200" dirty="0">
                <a:solidFill>
                  <a:srgbClr val="B4C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CD-SEM (Hitachi), in-line OCD (KLA), TEM FEI Talos</a:t>
            </a:r>
            <a:pPr algn="l" indent="0" marL="0">
              <a:buNone/>
            </a:pPr>
            <a:r>
              <a:rPr lang="en-US" sz="120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패터닝 장비: EUV + SADP/SAB 모듈식 트랙</a:t>
            </a:r>
            <a:endParaRPr lang="en-US" sz="1200" dirty="0"/>
          </a:p>
        </p:txBody>
      </p:sp>
      <p:sp>
        <p:nvSpPr>
          <p:cNvPr id="56" name="Text 51"/>
          <p:cNvSpPr txBox="1"/>
          <p:nvPr/>
        </p:nvSpPr>
        <p:spPr>
          <a:xfrm>
            <a:off x="990295" y="8906256"/>
            <a:ext cx="1638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4FA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57" name="Text 52"/>
          <p:cNvSpPr txBox="1"/>
          <p:nvPr/>
        </p:nvSpPr>
        <p:spPr>
          <a:xfrm>
            <a:off x="990295" y="9115654"/>
            <a:ext cx="16383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3매 wafer를 SAUP / r-SAUP로 동일하게 split 진행, 4개 target CD에 대해 12개 측정 메트릭으로 dummy 데이터를 생성·비교한다.</a:t>
            </a:r>
            <a:endParaRPr lang="en-US" sz="1650" dirty="0"/>
          </a:p>
        </p:txBody>
      </p:sp>
      <p:sp>
        <p:nvSpPr>
          <p:cNvPr id="58" name="Text 53"/>
          <p:cNvSpPr txBox="1"/>
          <p:nvPr/>
        </p:nvSpPr>
        <p:spPr>
          <a:xfrm>
            <a:off x="761695" y="9905695"/>
            <a:ext cx="231434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※ 내부 테스트용 더미(가상) 데이터</a:t>
            </a:r>
            <a:endParaRPr lang="en-US" sz="975" dirty="0"/>
          </a:p>
        </p:txBody>
      </p:sp>
      <p:sp>
        <p:nvSpPr>
          <p:cNvPr id="59" name="Text 54"/>
          <p:cNvSpPr txBox="1"/>
          <p:nvPr/>
        </p:nvSpPr>
        <p:spPr>
          <a:xfrm>
            <a:off x="15405811" y="9944100"/>
            <a:ext cx="2411273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74829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SLIDE / PURPOSE &amp; CONDITIONS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5c6c31c1578a8458fd6660ccd75399ac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-1904695" y="3619195"/>
            <a:ext cx="20192695" cy="9144"/>
          </a:xfrm>
          <a:prstGeom prst="rect">
            <a:avLst/>
          </a:prstGeom>
        </p:spPr>
      </p:pic>
      <p:pic>
        <p:nvPicPr>
          <p:cNvPr id="4" name="Image 1" descr="gen-dedup-bebcddb750dc70a2a7fd8d7641deb802.png">    </p:cNvPr>
          <p:cNvPicPr>
            <a:picLocks noChangeAspect="1"/>
          </p:cNvPicPr>
          <p:nvPr/>
        </p:nvPicPr>
        <p:blipFill>
          <a:blip r:embed="rId2"/>
          <a:srcRect l="-385" r="-385" t="0" b="0"/>
          <a:stretch/>
        </p:blipFill>
        <p:spPr>
          <a:xfrm>
            <a:off x="761695" y="2495398"/>
            <a:ext cx="761695" cy="2834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761695" y="2857500"/>
            <a:ext cx="8401507" cy="5372100"/>
          </a:xfrm>
          <a:prstGeom prst="rect">
            <a:avLst/>
          </a:prstGeom>
          <a:solidFill>
            <a:srgbClr val="13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761695" y="2857500"/>
            <a:ext cx="8401507" cy="28346"/>
          </a:xfrm>
          <a:prstGeom prst="rect">
            <a:avLst/>
          </a:prstGeom>
          <a:solidFill>
            <a:srgbClr val="4FA3FF"/>
          </a:solidFill>
          <a:ln w="12700">
            <a:solidFill>
              <a:srgbClr val="4FA3FF">
                <a:alpha val="0"/>
              </a:srgbClr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6476695" y="3886200"/>
            <a:ext cx="2305202" cy="2686507"/>
          </a:xfrm>
          <a:prstGeom prst="rect">
            <a:avLst/>
          </a:prstGeom>
          <a:solidFill>
            <a:srgbClr val="0F18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9334195" y="2857500"/>
            <a:ext cx="8401507" cy="5372100"/>
          </a:xfrm>
          <a:prstGeom prst="rect">
            <a:avLst/>
          </a:prstGeom>
          <a:solidFill>
            <a:srgbClr val="13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9334195" y="2857500"/>
            <a:ext cx="8401507" cy="28346"/>
          </a:xfrm>
          <a:prstGeom prst="rect">
            <a:avLst/>
          </a:prstGeom>
          <a:solidFill>
            <a:srgbClr val="FFA94D"/>
          </a:solidFill>
          <a:ln w="12700">
            <a:solidFill>
              <a:srgbClr val="FFA94D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5049195" y="3886200"/>
            <a:ext cx="2305202" cy="2686507"/>
          </a:xfrm>
          <a:prstGeom prst="rect">
            <a:avLst/>
          </a:prstGeom>
          <a:solidFill>
            <a:srgbClr val="0F18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761695" y="8477402"/>
            <a:ext cx="16802100" cy="571500"/>
          </a:xfrm>
          <a:prstGeom prst="rect">
            <a:avLst/>
          </a:prstGeom>
          <a:solidFill>
            <a:srgbClr val="131C2E"/>
          </a:solidFill>
          <a:ln/>
        </p:spPr>
      </p:sp>
      <p:sp>
        <p:nvSpPr>
          <p:cNvPr id="12" name="Shape 7"/>
          <p:cNvSpPr/>
          <p:nvPr/>
        </p:nvSpPr>
        <p:spPr>
          <a:xfrm>
            <a:off x="761695" y="8477402"/>
            <a:ext cx="38405" cy="571500"/>
          </a:xfrm>
          <a:prstGeom prst="rect">
            <a:avLst/>
          </a:prstGeom>
          <a:solidFill>
            <a:srgbClr val="FFA94D"/>
          </a:solidFill>
          <a:ln w="12700">
            <a:solidFill>
              <a:srgbClr val="FFA94D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905256" y="899770"/>
            <a:ext cx="57607" cy="57607"/>
          </a:xfrm>
          <a:prstGeom prst="ellipse">
            <a:avLst/>
          </a:prstGeom>
          <a:solidFill>
            <a:srgbClr val="FFA9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1037844" y="847649"/>
            <a:ext cx="20391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B4C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SPLIT · 02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761695" y="761695"/>
            <a:ext cx="2162556" cy="333756"/>
          </a:xfrm>
          <a:prstGeom prst="roundRect">
            <a:avLst>
              <a:gd name="adj" fmla="val 11507"/>
            </a:avLst>
          </a:prstGeom>
          <a:noFill/>
          <a:ln w="12700">
            <a:solidFill>
              <a:srgbClr val="2A3550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61695" y="1981505"/>
            <a:ext cx="140973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-45" kern="0" dirty="0">
                <a:solidFill>
                  <a:srgbClr val="B4C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톤 역전 유무에 따라 spacer가 되거나 dielectric이 되는 두 패터닝 split</a:t>
            </a:r>
            <a:endParaRPr lang="en-US" sz="1650" dirty="0"/>
          </a:p>
        </p:txBody>
      </p:sp>
      <p:sp>
        <p:nvSpPr>
          <p:cNvPr id="17" name="Text 12"/>
          <p:cNvSpPr txBox="1"/>
          <p:nvPr/>
        </p:nvSpPr>
        <p:spPr>
          <a:xfrm>
            <a:off x="1028700" y="3010205"/>
            <a:ext cx="1838858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SAUP</a:t>
            </a:r>
            <a:endParaRPr lang="en-US" sz="2550" dirty="0"/>
          </a:p>
        </p:txBody>
      </p:sp>
      <p:sp>
        <p:nvSpPr>
          <p:cNvPr id="18" name="Text 13"/>
          <p:cNvSpPr txBox="1"/>
          <p:nvPr/>
        </p:nvSpPr>
        <p:spPr>
          <a:xfrm>
            <a:off x="1028700" y="3457346"/>
            <a:ext cx="2020824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SPACER-IS-METAL · SIM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882128" y="3228746"/>
            <a:ext cx="95098" cy="95098"/>
          </a:xfrm>
          <a:prstGeom prst="rect">
            <a:avLst/>
          </a:prstGeom>
          <a:solidFill>
            <a:srgbClr val="4FA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034833" y="3195828"/>
            <a:ext cx="84856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4FA3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COOL TONE</a:t>
            </a:r>
            <a:endParaRPr lang="en-US" sz="975" dirty="0"/>
          </a:p>
        </p:txBody>
      </p:sp>
      <p:sp>
        <p:nvSpPr>
          <p:cNvPr id="21" name="Text 16"/>
          <p:cNvSpPr txBox="1"/>
          <p:nvPr/>
        </p:nvSpPr>
        <p:spPr>
          <a:xfrm>
            <a:off x="1028700" y="3981298"/>
            <a:ext cx="5334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4FA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기작 · MECHANISM</a:t>
            </a:r>
            <a:endParaRPr lang="en-US" sz="975" dirty="0"/>
          </a:p>
        </p:txBody>
      </p:sp>
      <p:sp>
        <p:nvSpPr>
          <p:cNvPr id="22" name="Text 17"/>
          <p:cNvSpPr txBox="1"/>
          <p:nvPr/>
        </p:nvSpPr>
        <p:spPr>
          <a:xfrm>
            <a:off x="1028700" y="4257446"/>
            <a:ext cx="53346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B4C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미세 라인 위에 TiN 하드마스크를 형성하고, 컷 영역에 더미 메탈 트렌치를 미리 채운 뒤, spacer를 증착해 라인 자체가 metal 배선으로 남도록(Spacer-is-Metal) 식각한다.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1028700" y="5524805"/>
            <a:ext cx="5334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4FA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특징 · CHARACTERISTICS</a:t>
            </a:r>
            <a:endParaRPr lang="en-US" sz="975" dirty="0"/>
          </a:p>
        </p:txBody>
      </p:sp>
      <p:sp>
        <p:nvSpPr>
          <p:cNvPr id="24" name="Text 19"/>
          <p:cNvSpPr txBox="1"/>
          <p:nvPr/>
        </p:nvSpPr>
        <p:spPr>
          <a:xfrm>
            <a:off x="1028700" y="5838444"/>
            <a:ext cx="9509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FA3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1200607" y="5838444"/>
            <a:ext cx="371520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B4C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얇은 spacer가 곧 CD를 결정 → 라인 폭 균일도 우수</a:t>
            </a:r>
            <a:endParaRPr lang="en-US" sz="1125" dirty="0"/>
          </a:p>
        </p:txBody>
      </p:sp>
      <p:sp>
        <p:nvSpPr>
          <p:cNvPr id="26" name="Text 21"/>
          <p:cNvSpPr txBox="1"/>
          <p:nvPr/>
        </p:nvSpPr>
        <p:spPr>
          <a:xfrm>
            <a:off x="1028700" y="6152998"/>
            <a:ext cx="9509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FA3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1200607" y="6152998"/>
            <a:ext cx="417789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B4C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Mandrel/Non-mandrel 공간 폭이 공정 변동에 따라 흔들림</a:t>
            </a:r>
            <a:endParaRPr lang="en-US" sz="1125" dirty="0"/>
          </a:p>
        </p:txBody>
      </p:sp>
      <p:sp>
        <p:nvSpPr>
          <p:cNvPr id="28" name="Text 23"/>
          <p:cNvSpPr txBox="1"/>
          <p:nvPr/>
        </p:nvSpPr>
        <p:spPr>
          <a:xfrm>
            <a:off x="1028700" y="6467551"/>
            <a:ext cx="9509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FA3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1200607" y="6467551"/>
            <a:ext cx="337779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B4C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피치 워크(pitch walk)가 비아 정렬 마진을 잠식</a:t>
            </a:r>
            <a:endParaRPr lang="en-US" sz="1125" dirty="0"/>
          </a:p>
        </p:txBody>
      </p:sp>
      <p:sp>
        <p:nvSpPr>
          <p:cNvPr id="30" name="Text 25"/>
          <p:cNvSpPr txBox="1"/>
          <p:nvPr/>
        </p:nvSpPr>
        <p:spPr>
          <a:xfrm>
            <a:off x="6648602" y="4058107"/>
            <a:ext cx="19431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CROSS-TONE ▶ METAL</a:t>
            </a:r>
            <a:endParaRPr lang="en-US" sz="825" dirty="0"/>
          </a:p>
        </p:txBody>
      </p:sp>
      <p:sp>
        <p:nvSpPr>
          <p:cNvPr id="31" name="Text 26"/>
          <p:cNvSpPr txBox="1"/>
          <p:nvPr/>
        </p:nvSpPr>
        <p:spPr>
          <a:xfrm>
            <a:off x="6648602" y="5639105"/>
            <a:ext cx="19431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spacer = metal line</a:t>
            </a:r>
            <a:endParaRPr lang="en-US" sz="825" dirty="0"/>
          </a:p>
        </p:txBody>
      </p:sp>
      <p:sp>
        <p:nvSpPr>
          <p:cNvPr id="32" name="Shape 27"/>
          <p:cNvSpPr/>
          <p:nvPr/>
        </p:nvSpPr>
        <p:spPr>
          <a:xfrm>
            <a:off x="6648602" y="4343400"/>
            <a:ext cx="1943100" cy="171907"/>
          </a:xfrm>
          <a:prstGeom prst="rect">
            <a:avLst/>
          </a:prstGeom>
          <a:solidFill>
            <a:srgbClr val="4FA3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648602" y="4667098"/>
            <a:ext cx="1943100" cy="171907"/>
          </a:xfrm>
          <a:prstGeom prst="rect">
            <a:avLst/>
          </a:prstGeom>
          <a:solidFill>
            <a:srgbClr val="4FA3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648602" y="4990795"/>
            <a:ext cx="1943100" cy="171907"/>
          </a:xfrm>
          <a:prstGeom prst="rect">
            <a:avLst/>
          </a:prstGeom>
          <a:solidFill>
            <a:srgbClr val="4FA3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6648602" y="5315407"/>
            <a:ext cx="1943100" cy="171907"/>
          </a:xfrm>
          <a:prstGeom prst="rect">
            <a:avLst/>
          </a:prstGeom>
          <a:solidFill>
            <a:srgbClr val="4FA3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9601200" y="3010205"/>
            <a:ext cx="3639312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r-SAUP</a:t>
            </a:r>
            <a:endParaRPr lang="en-US" sz="2550" dirty="0"/>
          </a:p>
        </p:txBody>
      </p:sp>
      <p:sp>
        <p:nvSpPr>
          <p:cNvPr id="37" name="Text 32"/>
          <p:cNvSpPr txBox="1"/>
          <p:nvPr/>
        </p:nvSpPr>
        <p:spPr>
          <a:xfrm>
            <a:off x="9601200" y="3457346"/>
            <a:ext cx="402153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SPACER-IS-DIELECTRIC · SID (TONE-INVERTED)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16115386" y="3228746"/>
            <a:ext cx="95098" cy="95098"/>
          </a:xfrm>
          <a:prstGeom prst="rect">
            <a:avLst/>
          </a:prstGeom>
          <a:solidFill>
            <a:srgbClr val="FFA9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16267176" y="3195828"/>
            <a:ext cx="141274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FFA94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INVERTED TONE</a:t>
            </a:r>
            <a:endParaRPr lang="en-US" sz="975" dirty="0"/>
          </a:p>
        </p:txBody>
      </p:sp>
      <p:sp>
        <p:nvSpPr>
          <p:cNvPr id="40" name="Text 35"/>
          <p:cNvSpPr txBox="1"/>
          <p:nvPr/>
        </p:nvSpPr>
        <p:spPr>
          <a:xfrm>
            <a:off x="9601200" y="3981298"/>
            <a:ext cx="5334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FFA9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기작 · MECHANISM</a:t>
            </a:r>
            <a:endParaRPr lang="en-US" sz="975" dirty="0"/>
          </a:p>
        </p:txBody>
      </p:sp>
      <p:sp>
        <p:nvSpPr>
          <p:cNvPr id="41" name="Text 36"/>
          <p:cNvSpPr txBox="1"/>
          <p:nvPr/>
        </p:nvSpPr>
        <p:spPr>
          <a:xfrm>
            <a:off x="9601200" y="4257446"/>
            <a:ext cx="53346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B4C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Spacer를 다른 하드마스크로 채우고 CMP로 평탄화한 뒤 spacer만 선택적으로 제거해, spacer가 빠진 얇은 슬릿이 곧 트렌치가 되는 톤 역전(Spacer-is-Dielectric) 공정으로 진행한다.</a:t>
            </a:r>
            <a:endParaRPr lang="en-US" sz="1200" dirty="0"/>
          </a:p>
        </p:txBody>
      </p:sp>
      <p:sp>
        <p:nvSpPr>
          <p:cNvPr id="42" name="Text 37"/>
          <p:cNvSpPr txBox="1"/>
          <p:nvPr/>
        </p:nvSpPr>
        <p:spPr>
          <a:xfrm>
            <a:off x="9601200" y="5524805"/>
            <a:ext cx="5334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FFA9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특징 · CHARACTERISTICS</a:t>
            </a:r>
            <a:endParaRPr lang="en-US" sz="975" dirty="0"/>
          </a:p>
        </p:txBody>
      </p:sp>
      <p:sp>
        <p:nvSpPr>
          <p:cNvPr id="43" name="Text 38"/>
          <p:cNvSpPr txBox="1"/>
          <p:nvPr/>
        </p:nvSpPr>
        <p:spPr>
          <a:xfrm>
            <a:off x="9601200" y="5838444"/>
            <a:ext cx="9509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A94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</a:t>
            </a:r>
            <a:endParaRPr lang="en-US" sz="1200" dirty="0"/>
          </a:p>
        </p:txBody>
      </p:sp>
      <p:sp>
        <p:nvSpPr>
          <p:cNvPr id="44" name="Text 39"/>
          <p:cNvSpPr txBox="1"/>
          <p:nvPr/>
        </p:nvSpPr>
        <p:spPr>
          <a:xfrm>
            <a:off x="9773107" y="5838444"/>
            <a:ext cx="443575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B4C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제거된 spacer 슬릿이 곧 트렌치 → metal space에서 CD 정의</a:t>
            </a:r>
            <a:endParaRPr lang="en-US" sz="1125" dirty="0"/>
          </a:p>
        </p:txBody>
      </p:sp>
      <p:sp>
        <p:nvSpPr>
          <p:cNvPr id="45" name="Text 40"/>
          <p:cNvSpPr txBox="1"/>
          <p:nvPr/>
        </p:nvSpPr>
        <p:spPr>
          <a:xfrm>
            <a:off x="9601200" y="6152998"/>
            <a:ext cx="9509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A94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</a:t>
            </a:r>
            <a:endParaRPr lang="en-US" sz="1200" dirty="0"/>
          </a:p>
        </p:txBody>
      </p:sp>
      <p:sp>
        <p:nvSpPr>
          <p:cNvPr id="46" name="Text 41"/>
          <p:cNvSpPr txBox="1"/>
          <p:nvPr/>
        </p:nvSpPr>
        <p:spPr>
          <a:xfrm>
            <a:off x="9773107" y="6152998"/>
            <a:ext cx="392643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B4C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Mandrel 폭 vs 비-mandrel 폭 균형을 수학적으로 회복</a:t>
            </a:r>
            <a:endParaRPr lang="en-US" sz="1125" dirty="0"/>
          </a:p>
        </p:txBody>
      </p:sp>
      <p:sp>
        <p:nvSpPr>
          <p:cNvPr id="47" name="Text 42"/>
          <p:cNvSpPr txBox="1"/>
          <p:nvPr/>
        </p:nvSpPr>
        <p:spPr>
          <a:xfrm>
            <a:off x="9601200" y="6467551"/>
            <a:ext cx="9509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A94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</a:t>
            </a:r>
            <a:endParaRPr lang="en-US" sz="1200" dirty="0"/>
          </a:p>
        </p:txBody>
      </p:sp>
      <p:sp>
        <p:nvSpPr>
          <p:cNvPr id="48" name="Text 43"/>
          <p:cNvSpPr txBox="1"/>
          <p:nvPr/>
        </p:nvSpPr>
        <p:spPr>
          <a:xfrm>
            <a:off x="9773107" y="6467551"/>
            <a:ext cx="475122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B4C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저항 분산 최소화가 필요한 특정 BEOL layer에서 수율 안정성 확보</a:t>
            </a:r>
            <a:endParaRPr lang="en-US" sz="1125" dirty="0"/>
          </a:p>
        </p:txBody>
      </p:sp>
      <p:sp>
        <p:nvSpPr>
          <p:cNvPr id="49" name="Text 44"/>
          <p:cNvSpPr txBox="1"/>
          <p:nvPr/>
        </p:nvSpPr>
        <p:spPr>
          <a:xfrm>
            <a:off x="15221102" y="4058107"/>
            <a:ext cx="19431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INVERSION ▶ TRENCH</a:t>
            </a:r>
            <a:endParaRPr lang="en-US" sz="825" dirty="0"/>
          </a:p>
        </p:txBody>
      </p:sp>
      <p:sp>
        <p:nvSpPr>
          <p:cNvPr id="50" name="Shape 45"/>
          <p:cNvSpPr/>
          <p:nvPr/>
        </p:nvSpPr>
        <p:spPr>
          <a:xfrm>
            <a:off x="15221102" y="4343400"/>
            <a:ext cx="1943100" cy="190195"/>
          </a:xfrm>
          <a:prstGeom prst="rect">
            <a:avLst/>
          </a:prstGeom>
          <a:solidFill>
            <a:srgbClr val="1A2440"/>
          </a:solidFill>
          <a:ln w="12700">
            <a:solidFill>
              <a:srgbClr val="FFA94D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15221102" y="4686300"/>
            <a:ext cx="1943100" cy="190195"/>
          </a:xfrm>
          <a:prstGeom prst="rect">
            <a:avLst/>
          </a:prstGeom>
          <a:solidFill>
            <a:srgbClr val="1A2440"/>
          </a:solidFill>
          <a:ln w="12700">
            <a:solidFill>
              <a:srgbClr val="FFA94D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15221102" y="5029200"/>
            <a:ext cx="1943100" cy="190195"/>
          </a:xfrm>
          <a:prstGeom prst="rect">
            <a:avLst/>
          </a:prstGeom>
          <a:solidFill>
            <a:srgbClr val="1A2440"/>
          </a:solidFill>
          <a:ln w="12700">
            <a:solidFill>
              <a:srgbClr val="FFA94D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15221102" y="5372100"/>
            <a:ext cx="1943100" cy="190195"/>
          </a:xfrm>
          <a:prstGeom prst="rect">
            <a:avLst/>
          </a:prstGeom>
          <a:solidFill>
            <a:srgbClr val="1A2440"/>
          </a:solidFill>
          <a:ln w="12700">
            <a:solidFill>
              <a:srgbClr val="FFA94D"/>
            </a:solidFill>
            <a:prstDash val="solid"/>
          </a:ln>
        </p:spPr>
      </p:sp>
      <p:sp>
        <p:nvSpPr>
          <p:cNvPr id="54" name="Text 49"/>
          <p:cNvSpPr txBox="1"/>
          <p:nvPr/>
        </p:nvSpPr>
        <p:spPr>
          <a:xfrm>
            <a:off x="15221102" y="5715000"/>
            <a:ext cx="19431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slit space = trench</a:t>
            </a:r>
            <a:endParaRPr lang="en-US" sz="825" dirty="0"/>
          </a:p>
        </p:txBody>
      </p:sp>
      <p:sp>
        <p:nvSpPr>
          <p:cNvPr id="55" name="Text 50"/>
          <p:cNvSpPr txBox="1"/>
          <p:nvPr/>
        </p:nvSpPr>
        <p:spPr>
          <a:xfrm>
            <a:off x="990295" y="8591702"/>
            <a:ext cx="1638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FFA9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56" name="Text 51"/>
          <p:cNvSpPr txBox="1"/>
          <p:nvPr/>
        </p:nvSpPr>
        <p:spPr>
          <a:xfrm>
            <a:off x="990295" y="8781898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r-SAUP는 톤 역전으로 SID 구조를 채택해 mandrel/비-mandrel 폭 균형을 회복하고, 후공정 비아 정렬 마진을 위협하던 pitch walk 현상을 완화하는 방향으로 설계되었다.</a:t>
            </a:r>
            <a:endParaRPr lang="en-US" sz="1500" dirty="0"/>
          </a:p>
        </p:txBody>
      </p:sp>
      <p:sp>
        <p:nvSpPr>
          <p:cNvPr id="57" name="Text 52"/>
          <p:cNvSpPr txBox="1"/>
          <p:nvPr/>
        </p:nvSpPr>
        <p:spPr>
          <a:xfrm>
            <a:off x="761695" y="9924898"/>
            <a:ext cx="231434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※ 내부 테스트용 더미(가상) 데이터</a:t>
            </a:r>
            <a:endParaRPr lang="en-US" sz="975" dirty="0"/>
          </a:p>
        </p:txBody>
      </p:sp>
      <p:sp>
        <p:nvSpPr>
          <p:cNvPr id="58" name="Text 53"/>
          <p:cNvSpPr txBox="1"/>
          <p:nvPr/>
        </p:nvSpPr>
        <p:spPr>
          <a:xfrm>
            <a:off x="15965424" y="9963302"/>
            <a:ext cx="180228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74829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SLIDE / PROCESS SPLIT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2fe04830cbf261e770cc0ef6a99d0f53.png">    </p:cNvPr>
          <p:cNvPicPr>
            <a:picLocks noChangeAspect="1"/>
          </p:cNvPicPr>
          <p:nvPr/>
        </p:nvPicPr>
        <p:blipFill>
          <a:blip r:embed="rId1"/>
          <a:srcRect l="-385" r="-385" t="0" b="0"/>
          <a:stretch/>
        </p:blipFill>
        <p:spPr>
          <a:xfrm>
            <a:off x="761695" y="2495398"/>
            <a:ext cx="761695" cy="2834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2857500"/>
            <a:ext cx="8401507" cy="5352898"/>
          </a:xfrm>
          <a:prstGeom prst="rect">
            <a:avLst/>
          </a:prstGeom>
          <a:solidFill>
            <a:srgbClr val="13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9334195" y="2857500"/>
            <a:ext cx="8401507" cy="5352898"/>
          </a:xfrm>
          <a:prstGeom prst="rect">
            <a:avLst/>
          </a:prstGeom>
          <a:solidFill>
            <a:srgbClr val="13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61695" y="8477402"/>
            <a:ext cx="16802100" cy="571500"/>
          </a:xfrm>
          <a:prstGeom prst="rect">
            <a:avLst/>
          </a:prstGeom>
          <a:solidFill>
            <a:srgbClr val="131C2E"/>
          </a:solidFill>
          <a:ln/>
        </p:spPr>
      </p:sp>
      <p:sp>
        <p:nvSpPr>
          <p:cNvPr id="7" name="Shape 3"/>
          <p:cNvSpPr/>
          <p:nvPr/>
        </p:nvSpPr>
        <p:spPr>
          <a:xfrm>
            <a:off x="761695" y="8477402"/>
            <a:ext cx="38405" cy="571500"/>
          </a:xfrm>
          <a:prstGeom prst="rect">
            <a:avLst/>
          </a:prstGeom>
          <a:solidFill>
            <a:srgbClr val="63E6BE"/>
          </a:solidFill>
          <a:ln w="12700">
            <a:solidFill>
              <a:srgbClr val="63E6BE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05256" y="899770"/>
            <a:ext cx="57607" cy="57607"/>
          </a:xfrm>
          <a:prstGeom prst="ellipse">
            <a:avLst/>
          </a:prstGeom>
          <a:solidFill>
            <a:srgbClr val="63E6B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37844" y="847649"/>
            <a:ext cx="193487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B4C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 VARIATION · 03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761695" y="761695"/>
            <a:ext cx="2048256" cy="333756"/>
          </a:xfrm>
          <a:prstGeom prst="roundRect">
            <a:avLst>
              <a:gd name="adj" fmla="val 11507"/>
            </a:avLst>
          </a:prstGeom>
          <a:noFill/>
          <a:ln w="12700">
            <a:solidFill>
              <a:srgbClr val="2A355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61695" y="1218895"/>
            <a:ext cx="1562161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350" b="1" spc="-43" kern="0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CD variation · 4 metric × 3 wafer</a:t>
            </a:r>
            <a:endParaRPr lang="en-US" sz="4350" dirty="0"/>
          </a:p>
        </p:txBody>
      </p:sp>
      <p:sp>
        <p:nvSpPr>
          <p:cNvPr id="12" name="Text 8"/>
          <p:cNvSpPr txBox="1"/>
          <p:nvPr/>
        </p:nvSpPr>
        <p:spPr>
          <a:xfrm>
            <a:off x="761695" y="1960474"/>
            <a:ext cx="15621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B4C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AASI·ASEI·AMI·ACI 4개 측정 단계에 대해 wafer별 mean / 3σ / Range / Δ vs target을 SAUP·r-SAUP 두 split 모두 기록한다.</a:t>
            </a:r>
            <a:endParaRPr lang="en-US" sz="1575" dirty="0"/>
          </a:p>
        </p:txBody>
      </p:sp>
      <p:sp>
        <p:nvSpPr>
          <p:cNvPr id="13" name="Text 9"/>
          <p:cNvSpPr txBox="1"/>
          <p:nvPr/>
        </p:nvSpPr>
        <p:spPr>
          <a:xfrm>
            <a:off x="1028700" y="3014777"/>
            <a:ext cx="27249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4FA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SPLIT A</a:t>
            </a:r>
            <a:endParaRPr lang="en-US" sz="975" dirty="0"/>
          </a:p>
        </p:txBody>
      </p:sp>
      <p:sp>
        <p:nvSpPr>
          <p:cNvPr id="14" name="Text 10"/>
          <p:cNvSpPr txBox="1"/>
          <p:nvPr/>
        </p:nvSpPr>
        <p:spPr>
          <a:xfrm>
            <a:off x="1028700" y="3204972"/>
            <a:ext cx="324246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SAUP · Spacer-is-Metal</a:t>
            </a:r>
            <a:endParaRPr lang="en-US" sz="1950" dirty="0"/>
          </a:p>
        </p:txBody>
      </p:sp>
      <p:sp>
        <p:nvSpPr>
          <p:cNvPr id="15" name="Shape 11"/>
          <p:cNvSpPr/>
          <p:nvPr/>
        </p:nvSpPr>
        <p:spPr>
          <a:xfrm>
            <a:off x="7513625" y="3043123"/>
            <a:ext cx="95098" cy="95098"/>
          </a:xfrm>
          <a:prstGeom prst="rect">
            <a:avLst/>
          </a:prstGeom>
          <a:solidFill>
            <a:srgbClr val="4FA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665415" y="3010205"/>
            <a:ext cx="1495044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B4C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W01 · W02 · W03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1028700" y="4305910"/>
            <a:ext cx="7848295" cy="9144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028700" y="3924605"/>
            <a:ext cx="952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Wafer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981505" y="3924605"/>
            <a:ext cx="30102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· target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4990795" y="3924605"/>
            <a:ext cx="876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90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</a:t>
            </a:r>
            <a:pPr algn="r" indent="0" marL="0">
              <a:buNone/>
            </a:pPr>
            <a:endParaRPr lang="en-US" sz="900" dirty="0"/>
          </a:p>
          <a:p>
            <a:pPr algn="r" indent="0" marL="0">
              <a:buNone/>
            </a:pPr>
            <a:r>
              <a:rPr lang="en-US" sz="800" spc="90" kern="0" dirty="0">
                <a:solidFill>
                  <a:srgbClr val="5C6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(nm)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5867705" y="3924605"/>
            <a:ext cx="1047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90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3σ (nm)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6915607" y="3924605"/>
            <a:ext cx="9144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90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Range</a:t>
            </a:r>
            <a:pPr algn="r" indent="0" marL="0">
              <a:buNone/>
            </a:pPr>
            <a:endParaRPr lang="en-US" sz="900" dirty="0"/>
          </a:p>
          <a:p>
            <a:pPr algn="r" indent="0" marL="0">
              <a:buNone/>
            </a:pPr>
            <a:r>
              <a:rPr lang="en-US" sz="800" spc="90" kern="0" dirty="0">
                <a:solidFill>
                  <a:srgbClr val="5C6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(nm)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7830007" y="3924605"/>
            <a:ext cx="1047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90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 vs target</a:t>
            </a:r>
            <a:pPr algn="r" indent="0" marL="0">
              <a:buNone/>
            </a:pPr>
            <a:endParaRPr lang="en-US" sz="900" dirty="0"/>
          </a:p>
          <a:p>
            <a:pPr algn="r" indent="0" marL="0">
              <a:buNone/>
            </a:pPr>
            <a:r>
              <a:rPr lang="en-US" sz="800" spc="90" kern="0" dirty="0">
                <a:solidFill>
                  <a:srgbClr val="5C6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(nm)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1028700" y="4553712"/>
            <a:ext cx="7848295" cy="9144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028700" y="4267505"/>
            <a:ext cx="952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FA3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W01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1981505" y="4272077"/>
            <a:ext cx="37947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AASI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2356409" y="4291279"/>
            <a:ext cx="306324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2639873" y="4272077"/>
            <a:ext cx="7863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2755087" y="4272077"/>
            <a:ext cx="37673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ASEI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3112618" y="4291279"/>
            <a:ext cx="307238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16.3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4824374" y="4262018"/>
            <a:ext cx="104333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23.45 / 16.62</a:t>
            </a:r>
            <a:endParaRPr lang="en-US" sz="1125" dirty="0"/>
          </a:p>
        </p:txBody>
      </p:sp>
      <p:sp>
        <p:nvSpPr>
          <p:cNvPr id="32" name="Text 28"/>
          <p:cNvSpPr txBox="1"/>
          <p:nvPr/>
        </p:nvSpPr>
        <p:spPr>
          <a:xfrm>
            <a:off x="5867705" y="4262018"/>
            <a:ext cx="10479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0.82 / 0.54</a:t>
            </a:r>
            <a:endParaRPr lang="en-US" sz="1125" dirty="0"/>
          </a:p>
        </p:txBody>
      </p:sp>
      <p:sp>
        <p:nvSpPr>
          <p:cNvPr id="33" name="Text 29"/>
          <p:cNvSpPr txBox="1"/>
          <p:nvPr/>
        </p:nvSpPr>
        <p:spPr>
          <a:xfrm>
            <a:off x="6915607" y="4262018"/>
            <a:ext cx="9144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2.7 / 1.8</a:t>
            </a:r>
            <a:endParaRPr lang="en-US" sz="1125" dirty="0"/>
          </a:p>
        </p:txBody>
      </p:sp>
      <p:sp>
        <p:nvSpPr>
          <p:cNvPr id="34" name="Text 30"/>
          <p:cNvSpPr txBox="1"/>
          <p:nvPr/>
        </p:nvSpPr>
        <p:spPr>
          <a:xfrm>
            <a:off x="7783373" y="4229100"/>
            <a:ext cx="523951" cy="247802"/>
          </a:xfrm>
          <a:prstGeom prst="rect">
            <a:avLst/>
          </a:prstGeom>
          <a:solidFill>
            <a:srgbClr val="FF8B7A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38100" rIns="76200" bIns="381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8B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+0.35</a:t>
            </a:r>
            <a:endParaRPr lang="en-US" sz="1050" dirty="0"/>
          </a:p>
        </p:txBody>
      </p:sp>
      <p:sp>
        <p:nvSpPr>
          <p:cNvPr id="35" name="Text 31"/>
          <p:cNvSpPr txBox="1"/>
          <p:nvPr/>
        </p:nvSpPr>
        <p:spPr>
          <a:xfrm>
            <a:off x="8359445" y="4229100"/>
            <a:ext cx="523951" cy="247802"/>
          </a:xfrm>
          <a:prstGeom prst="rect">
            <a:avLst/>
          </a:prstGeom>
          <a:solidFill>
            <a:srgbClr val="FF8B7A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38100" rIns="76200" bIns="381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8B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+0.32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1028700" y="4963363"/>
            <a:ext cx="7848295" cy="9144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1981505" y="4681728"/>
            <a:ext cx="25786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AMI</a:t>
            </a:r>
            <a:endParaRPr lang="en-US" sz="1050" dirty="0"/>
          </a:p>
        </p:txBody>
      </p:sp>
      <p:sp>
        <p:nvSpPr>
          <p:cNvPr id="38" name="Text 34"/>
          <p:cNvSpPr txBox="1"/>
          <p:nvPr/>
        </p:nvSpPr>
        <p:spPr>
          <a:xfrm>
            <a:off x="2295144" y="4700930"/>
            <a:ext cx="232258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9.7</a:t>
            </a:r>
            <a:endParaRPr lang="en-US" sz="900" dirty="0"/>
          </a:p>
        </p:txBody>
      </p:sp>
      <p:sp>
        <p:nvSpPr>
          <p:cNvPr id="39" name="Text 35"/>
          <p:cNvSpPr txBox="1"/>
          <p:nvPr/>
        </p:nvSpPr>
        <p:spPr>
          <a:xfrm>
            <a:off x="2535631" y="4681728"/>
            <a:ext cx="7863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050" dirty="0"/>
          </a:p>
        </p:txBody>
      </p:sp>
      <p:sp>
        <p:nvSpPr>
          <p:cNvPr id="40" name="Text 36"/>
          <p:cNvSpPr txBox="1"/>
          <p:nvPr/>
        </p:nvSpPr>
        <p:spPr>
          <a:xfrm>
            <a:off x="2649931" y="4681728"/>
            <a:ext cx="28255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ACI</a:t>
            </a:r>
            <a:endParaRPr lang="en-US" sz="1050" dirty="0"/>
          </a:p>
        </p:txBody>
      </p:sp>
      <p:sp>
        <p:nvSpPr>
          <p:cNvPr id="41" name="Text 37"/>
          <p:cNvSpPr txBox="1"/>
          <p:nvPr/>
        </p:nvSpPr>
        <p:spPr>
          <a:xfrm>
            <a:off x="2934310" y="4700930"/>
            <a:ext cx="22768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9.1</a:t>
            </a:r>
            <a:endParaRPr lang="en-US" sz="900" dirty="0"/>
          </a:p>
        </p:txBody>
      </p:sp>
      <p:sp>
        <p:nvSpPr>
          <p:cNvPr id="42" name="Text 38"/>
          <p:cNvSpPr txBox="1"/>
          <p:nvPr/>
        </p:nvSpPr>
        <p:spPr>
          <a:xfrm>
            <a:off x="4889297" y="4671670"/>
            <a:ext cx="97840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9.94 / 9.36</a:t>
            </a:r>
            <a:endParaRPr lang="en-US" sz="1125" dirty="0"/>
          </a:p>
        </p:txBody>
      </p:sp>
      <p:sp>
        <p:nvSpPr>
          <p:cNvPr id="43" name="Text 39"/>
          <p:cNvSpPr txBox="1"/>
          <p:nvPr/>
        </p:nvSpPr>
        <p:spPr>
          <a:xfrm>
            <a:off x="5867705" y="4671670"/>
            <a:ext cx="10479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0.42 / 0.39</a:t>
            </a:r>
            <a:endParaRPr lang="en-US" sz="1125" dirty="0"/>
          </a:p>
        </p:txBody>
      </p:sp>
      <p:sp>
        <p:nvSpPr>
          <p:cNvPr id="44" name="Text 40"/>
          <p:cNvSpPr txBox="1"/>
          <p:nvPr/>
        </p:nvSpPr>
        <p:spPr>
          <a:xfrm>
            <a:off x="6915607" y="4671670"/>
            <a:ext cx="9144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1.4 / 1.3</a:t>
            </a:r>
            <a:endParaRPr lang="en-US" sz="1125" dirty="0"/>
          </a:p>
        </p:txBody>
      </p:sp>
      <p:sp>
        <p:nvSpPr>
          <p:cNvPr id="45" name="Text 41"/>
          <p:cNvSpPr txBox="1"/>
          <p:nvPr/>
        </p:nvSpPr>
        <p:spPr>
          <a:xfrm>
            <a:off x="7781544" y="4638751"/>
            <a:ext cx="523951" cy="247802"/>
          </a:xfrm>
          <a:prstGeom prst="rect">
            <a:avLst/>
          </a:prstGeom>
          <a:solidFill>
            <a:srgbClr val="FFA94D">
              <a:alpha val="16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38100" rIns="76200" bIns="381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A94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+0.24</a:t>
            </a:r>
            <a:endParaRPr lang="en-US" sz="1050" dirty="0"/>
          </a:p>
        </p:txBody>
      </p:sp>
      <p:sp>
        <p:nvSpPr>
          <p:cNvPr id="46" name="Text 42"/>
          <p:cNvSpPr txBox="1"/>
          <p:nvPr/>
        </p:nvSpPr>
        <p:spPr>
          <a:xfrm>
            <a:off x="8357616" y="4638751"/>
            <a:ext cx="523951" cy="247802"/>
          </a:xfrm>
          <a:prstGeom prst="rect">
            <a:avLst/>
          </a:prstGeom>
          <a:solidFill>
            <a:srgbClr val="FFA94D">
              <a:alpha val="16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38100" rIns="76200" bIns="381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A94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+0.26</a:t>
            </a:r>
            <a:endParaRPr lang="en-US" sz="1050" dirty="0"/>
          </a:p>
        </p:txBody>
      </p:sp>
      <p:sp>
        <p:nvSpPr>
          <p:cNvPr id="47" name="Shape 43"/>
          <p:cNvSpPr/>
          <p:nvPr/>
        </p:nvSpPr>
        <p:spPr>
          <a:xfrm>
            <a:off x="1028700" y="5373014"/>
            <a:ext cx="7848295" cy="9144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>
                <a:alpha val="0"/>
              </a:srgbClr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1028700" y="5086807"/>
            <a:ext cx="952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FA3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W02</a:t>
            </a:r>
            <a:endParaRPr lang="en-US" sz="1050" dirty="0"/>
          </a:p>
        </p:txBody>
      </p:sp>
      <p:sp>
        <p:nvSpPr>
          <p:cNvPr id="49" name="Text 45"/>
          <p:cNvSpPr txBox="1"/>
          <p:nvPr/>
        </p:nvSpPr>
        <p:spPr>
          <a:xfrm>
            <a:off x="1981505" y="5091379"/>
            <a:ext cx="37947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AASI</a:t>
            </a:r>
            <a:endParaRPr lang="en-US" sz="1050" dirty="0"/>
          </a:p>
        </p:txBody>
      </p:sp>
      <p:sp>
        <p:nvSpPr>
          <p:cNvPr id="50" name="Text 46"/>
          <p:cNvSpPr txBox="1"/>
          <p:nvPr/>
        </p:nvSpPr>
        <p:spPr>
          <a:xfrm>
            <a:off x="2356409" y="5110582"/>
            <a:ext cx="306324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</a:t>
            </a:r>
            <a:endParaRPr lang="en-US" sz="900" dirty="0"/>
          </a:p>
        </p:txBody>
      </p:sp>
      <p:sp>
        <p:nvSpPr>
          <p:cNvPr id="51" name="Text 47"/>
          <p:cNvSpPr txBox="1"/>
          <p:nvPr/>
        </p:nvSpPr>
        <p:spPr>
          <a:xfrm>
            <a:off x="2639873" y="5091379"/>
            <a:ext cx="7863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050" dirty="0"/>
          </a:p>
        </p:txBody>
      </p:sp>
      <p:sp>
        <p:nvSpPr>
          <p:cNvPr id="52" name="Text 48"/>
          <p:cNvSpPr txBox="1"/>
          <p:nvPr/>
        </p:nvSpPr>
        <p:spPr>
          <a:xfrm>
            <a:off x="2755087" y="5091379"/>
            <a:ext cx="37673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ASEI</a:t>
            </a:r>
            <a:endParaRPr lang="en-US" sz="1050" dirty="0"/>
          </a:p>
        </p:txBody>
      </p:sp>
      <p:sp>
        <p:nvSpPr>
          <p:cNvPr id="53" name="Text 49"/>
          <p:cNvSpPr txBox="1"/>
          <p:nvPr/>
        </p:nvSpPr>
        <p:spPr>
          <a:xfrm>
            <a:off x="3112618" y="5110582"/>
            <a:ext cx="307238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16.3</a:t>
            </a:r>
            <a:endParaRPr lang="en-US" sz="900" dirty="0"/>
          </a:p>
        </p:txBody>
      </p:sp>
      <p:sp>
        <p:nvSpPr>
          <p:cNvPr id="54" name="Text 50"/>
          <p:cNvSpPr txBox="1"/>
          <p:nvPr/>
        </p:nvSpPr>
        <p:spPr>
          <a:xfrm>
            <a:off x="4824374" y="5081321"/>
            <a:ext cx="104333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22.97 / 16.25</a:t>
            </a:r>
            <a:endParaRPr lang="en-US" sz="1125" dirty="0"/>
          </a:p>
        </p:txBody>
      </p:sp>
      <p:sp>
        <p:nvSpPr>
          <p:cNvPr id="55" name="Text 51"/>
          <p:cNvSpPr txBox="1"/>
          <p:nvPr/>
        </p:nvSpPr>
        <p:spPr>
          <a:xfrm>
            <a:off x="5867705" y="5081321"/>
            <a:ext cx="10479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0.71 / 0.48</a:t>
            </a:r>
            <a:endParaRPr lang="en-US" sz="1125" dirty="0"/>
          </a:p>
        </p:txBody>
      </p:sp>
      <p:sp>
        <p:nvSpPr>
          <p:cNvPr id="56" name="Text 52"/>
          <p:cNvSpPr txBox="1"/>
          <p:nvPr/>
        </p:nvSpPr>
        <p:spPr>
          <a:xfrm>
            <a:off x="6915607" y="5081321"/>
            <a:ext cx="9144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2.3 / 1.6</a:t>
            </a:r>
            <a:endParaRPr lang="en-US" sz="1125" dirty="0"/>
          </a:p>
        </p:txBody>
      </p:sp>
      <p:sp>
        <p:nvSpPr>
          <p:cNvPr id="57" name="Text 53"/>
          <p:cNvSpPr txBox="1"/>
          <p:nvPr/>
        </p:nvSpPr>
        <p:spPr>
          <a:xfrm>
            <a:off x="7821778" y="5048402"/>
            <a:ext cx="486461" cy="247802"/>
          </a:xfrm>
          <a:prstGeom prst="rect">
            <a:avLst/>
          </a:prstGeom>
          <a:solidFill>
            <a:srgbClr val="6BE3A1">
              <a:alpha val="14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38100" rIns="762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−0.13</a:t>
            </a:r>
            <a:endParaRPr lang="en-US" sz="1050" dirty="0"/>
          </a:p>
        </p:txBody>
      </p:sp>
      <p:sp>
        <p:nvSpPr>
          <p:cNvPr id="58" name="Text 54"/>
          <p:cNvSpPr txBox="1"/>
          <p:nvPr/>
        </p:nvSpPr>
        <p:spPr>
          <a:xfrm>
            <a:off x="8362188" y="5048402"/>
            <a:ext cx="523951" cy="247802"/>
          </a:xfrm>
          <a:prstGeom prst="rect">
            <a:avLst/>
          </a:prstGeom>
          <a:solidFill>
            <a:srgbClr val="6BE3A1">
              <a:alpha val="14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38100" rIns="762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−0.05</a:t>
            </a:r>
            <a:endParaRPr lang="en-US" sz="1050" dirty="0"/>
          </a:p>
        </p:txBody>
      </p:sp>
      <p:sp>
        <p:nvSpPr>
          <p:cNvPr id="59" name="Shape 55"/>
          <p:cNvSpPr/>
          <p:nvPr/>
        </p:nvSpPr>
        <p:spPr>
          <a:xfrm>
            <a:off x="1028700" y="5781751"/>
            <a:ext cx="7848295" cy="9144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>
                <a:alpha val="0"/>
              </a:srgbClr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1981505" y="5501030"/>
            <a:ext cx="25786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AMI</a:t>
            </a:r>
            <a:endParaRPr lang="en-US" sz="1050" dirty="0"/>
          </a:p>
        </p:txBody>
      </p:sp>
      <p:sp>
        <p:nvSpPr>
          <p:cNvPr id="61" name="Text 57"/>
          <p:cNvSpPr txBox="1"/>
          <p:nvPr/>
        </p:nvSpPr>
        <p:spPr>
          <a:xfrm>
            <a:off x="2295144" y="5519318"/>
            <a:ext cx="232258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9.7</a:t>
            </a:r>
            <a:endParaRPr lang="en-US" sz="900" dirty="0"/>
          </a:p>
        </p:txBody>
      </p:sp>
      <p:sp>
        <p:nvSpPr>
          <p:cNvPr id="62" name="Text 58"/>
          <p:cNvSpPr txBox="1"/>
          <p:nvPr/>
        </p:nvSpPr>
        <p:spPr>
          <a:xfrm>
            <a:off x="2535631" y="5501030"/>
            <a:ext cx="7863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050" dirty="0"/>
          </a:p>
        </p:txBody>
      </p:sp>
      <p:sp>
        <p:nvSpPr>
          <p:cNvPr id="63" name="Text 59"/>
          <p:cNvSpPr txBox="1"/>
          <p:nvPr/>
        </p:nvSpPr>
        <p:spPr>
          <a:xfrm>
            <a:off x="2649931" y="5501030"/>
            <a:ext cx="28255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ACI</a:t>
            </a:r>
            <a:endParaRPr lang="en-US" sz="1050" dirty="0"/>
          </a:p>
        </p:txBody>
      </p:sp>
      <p:sp>
        <p:nvSpPr>
          <p:cNvPr id="64" name="Text 60"/>
          <p:cNvSpPr txBox="1"/>
          <p:nvPr/>
        </p:nvSpPr>
        <p:spPr>
          <a:xfrm>
            <a:off x="2934310" y="5519318"/>
            <a:ext cx="22768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9.1</a:t>
            </a:r>
            <a:endParaRPr lang="en-US" sz="900" dirty="0"/>
          </a:p>
        </p:txBody>
      </p:sp>
      <p:sp>
        <p:nvSpPr>
          <p:cNvPr id="65" name="Text 61"/>
          <p:cNvSpPr txBox="1"/>
          <p:nvPr/>
        </p:nvSpPr>
        <p:spPr>
          <a:xfrm>
            <a:off x="4889297" y="5490972"/>
            <a:ext cx="97840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9.58 / 9.02</a:t>
            </a:r>
            <a:endParaRPr lang="en-US" sz="1125" dirty="0"/>
          </a:p>
        </p:txBody>
      </p:sp>
      <p:sp>
        <p:nvSpPr>
          <p:cNvPr id="66" name="Text 62"/>
          <p:cNvSpPr txBox="1"/>
          <p:nvPr/>
        </p:nvSpPr>
        <p:spPr>
          <a:xfrm>
            <a:off x="5867705" y="5490972"/>
            <a:ext cx="10479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0.31 / 0.27</a:t>
            </a:r>
            <a:endParaRPr lang="en-US" sz="1125" dirty="0"/>
          </a:p>
        </p:txBody>
      </p:sp>
      <p:sp>
        <p:nvSpPr>
          <p:cNvPr id="67" name="Text 63"/>
          <p:cNvSpPr txBox="1"/>
          <p:nvPr/>
        </p:nvSpPr>
        <p:spPr>
          <a:xfrm>
            <a:off x="6915607" y="5490972"/>
            <a:ext cx="9144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1.1 / 0.9</a:t>
            </a:r>
            <a:endParaRPr lang="en-US" sz="1125" dirty="0"/>
          </a:p>
        </p:txBody>
      </p:sp>
      <p:sp>
        <p:nvSpPr>
          <p:cNvPr id="68" name="Text 64"/>
          <p:cNvSpPr txBox="1"/>
          <p:nvPr/>
        </p:nvSpPr>
        <p:spPr>
          <a:xfrm>
            <a:off x="7818120" y="5458054"/>
            <a:ext cx="486461" cy="247802"/>
          </a:xfrm>
          <a:prstGeom prst="rect">
            <a:avLst/>
          </a:prstGeom>
          <a:solidFill>
            <a:srgbClr val="6BE3A1">
              <a:alpha val="14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38100" rIns="762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−0.12</a:t>
            </a:r>
            <a:endParaRPr lang="en-US" sz="1050" dirty="0"/>
          </a:p>
        </p:txBody>
      </p:sp>
      <p:sp>
        <p:nvSpPr>
          <p:cNvPr id="69" name="Text 65"/>
          <p:cNvSpPr txBox="1"/>
          <p:nvPr/>
        </p:nvSpPr>
        <p:spPr>
          <a:xfrm>
            <a:off x="8358530" y="5458054"/>
            <a:ext cx="523951" cy="247802"/>
          </a:xfrm>
          <a:prstGeom prst="rect">
            <a:avLst/>
          </a:prstGeom>
          <a:solidFill>
            <a:srgbClr val="6BE3A1">
              <a:alpha val="14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38100" rIns="762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−0.08</a:t>
            </a:r>
            <a:endParaRPr lang="en-US" sz="1050" dirty="0"/>
          </a:p>
        </p:txBody>
      </p:sp>
      <p:sp>
        <p:nvSpPr>
          <p:cNvPr id="70" name="Shape 66"/>
          <p:cNvSpPr/>
          <p:nvPr/>
        </p:nvSpPr>
        <p:spPr>
          <a:xfrm>
            <a:off x="1028700" y="6191402"/>
            <a:ext cx="7848295" cy="9144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>
                <a:alpha val="0"/>
              </a:srgbClr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1028700" y="5905195"/>
            <a:ext cx="952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FA3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W03</a:t>
            </a:r>
            <a:endParaRPr lang="en-US" sz="1050" dirty="0"/>
          </a:p>
        </p:txBody>
      </p:sp>
      <p:sp>
        <p:nvSpPr>
          <p:cNvPr id="72" name="Text 68"/>
          <p:cNvSpPr txBox="1"/>
          <p:nvPr/>
        </p:nvSpPr>
        <p:spPr>
          <a:xfrm>
            <a:off x="1981505" y="5910682"/>
            <a:ext cx="37947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AASI</a:t>
            </a:r>
            <a:endParaRPr lang="en-US" sz="1050" dirty="0"/>
          </a:p>
        </p:txBody>
      </p:sp>
      <p:sp>
        <p:nvSpPr>
          <p:cNvPr id="73" name="Text 69"/>
          <p:cNvSpPr txBox="1"/>
          <p:nvPr/>
        </p:nvSpPr>
        <p:spPr>
          <a:xfrm>
            <a:off x="2356409" y="5928970"/>
            <a:ext cx="306324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</a:t>
            </a:r>
            <a:endParaRPr lang="en-US" sz="900" dirty="0"/>
          </a:p>
        </p:txBody>
      </p:sp>
      <p:sp>
        <p:nvSpPr>
          <p:cNvPr id="74" name="Text 70"/>
          <p:cNvSpPr txBox="1"/>
          <p:nvPr/>
        </p:nvSpPr>
        <p:spPr>
          <a:xfrm>
            <a:off x="2639873" y="5910682"/>
            <a:ext cx="7863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050" dirty="0"/>
          </a:p>
        </p:txBody>
      </p:sp>
      <p:sp>
        <p:nvSpPr>
          <p:cNvPr id="75" name="Text 71"/>
          <p:cNvSpPr txBox="1"/>
          <p:nvPr/>
        </p:nvSpPr>
        <p:spPr>
          <a:xfrm>
            <a:off x="2755087" y="5910682"/>
            <a:ext cx="37673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ASEI</a:t>
            </a:r>
            <a:endParaRPr lang="en-US" sz="1050" dirty="0"/>
          </a:p>
        </p:txBody>
      </p:sp>
      <p:sp>
        <p:nvSpPr>
          <p:cNvPr id="76" name="Text 72"/>
          <p:cNvSpPr txBox="1"/>
          <p:nvPr/>
        </p:nvSpPr>
        <p:spPr>
          <a:xfrm>
            <a:off x="3112618" y="5928970"/>
            <a:ext cx="307238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16.3</a:t>
            </a:r>
            <a:endParaRPr lang="en-US" sz="900" dirty="0"/>
          </a:p>
        </p:txBody>
      </p:sp>
      <p:sp>
        <p:nvSpPr>
          <p:cNvPr id="77" name="Text 73"/>
          <p:cNvSpPr txBox="1"/>
          <p:nvPr/>
        </p:nvSpPr>
        <p:spPr>
          <a:xfrm>
            <a:off x="4824374" y="5900623"/>
            <a:ext cx="104333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23.18 / 16.38</a:t>
            </a:r>
            <a:endParaRPr lang="en-US" sz="1125" dirty="0"/>
          </a:p>
        </p:txBody>
      </p:sp>
      <p:sp>
        <p:nvSpPr>
          <p:cNvPr id="78" name="Text 74"/>
          <p:cNvSpPr txBox="1"/>
          <p:nvPr/>
        </p:nvSpPr>
        <p:spPr>
          <a:xfrm>
            <a:off x="5867705" y="5900623"/>
            <a:ext cx="10479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0.66 / 0.41</a:t>
            </a:r>
            <a:endParaRPr lang="en-US" sz="1125" dirty="0"/>
          </a:p>
        </p:txBody>
      </p:sp>
      <p:sp>
        <p:nvSpPr>
          <p:cNvPr id="79" name="Text 75"/>
          <p:cNvSpPr txBox="1"/>
          <p:nvPr/>
        </p:nvSpPr>
        <p:spPr>
          <a:xfrm>
            <a:off x="6915607" y="5900623"/>
            <a:ext cx="9144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2.1 / 1.4</a:t>
            </a:r>
            <a:endParaRPr lang="en-US" sz="1125" dirty="0"/>
          </a:p>
        </p:txBody>
      </p:sp>
      <p:sp>
        <p:nvSpPr>
          <p:cNvPr id="80" name="Text 76"/>
          <p:cNvSpPr txBox="1"/>
          <p:nvPr/>
        </p:nvSpPr>
        <p:spPr>
          <a:xfrm>
            <a:off x="7782458" y="5867705"/>
            <a:ext cx="523951" cy="247802"/>
          </a:xfrm>
          <a:prstGeom prst="rect">
            <a:avLst/>
          </a:prstGeom>
          <a:solidFill>
            <a:srgbClr val="6BE3A1">
              <a:alpha val="14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38100" rIns="762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+0.08</a:t>
            </a:r>
            <a:endParaRPr lang="en-US" sz="1050" dirty="0"/>
          </a:p>
        </p:txBody>
      </p:sp>
      <p:sp>
        <p:nvSpPr>
          <p:cNvPr id="81" name="Text 77"/>
          <p:cNvSpPr txBox="1"/>
          <p:nvPr/>
        </p:nvSpPr>
        <p:spPr>
          <a:xfrm>
            <a:off x="8358530" y="5867705"/>
            <a:ext cx="523951" cy="247802"/>
          </a:xfrm>
          <a:prstGeom prst="rect">
            <a:avLst/>
          </a:prstGeom>
          <a:solidFill>
            <a:srgbClr val="6BE3A1">
              <a:alpha val="14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38100" rIns="762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+0.08</a:t>
            </a:r>
            <a:endParaRPr lang="en-US" sz="1050" dirty="0"/>
          </a:p>
        </p:txBody>
      </p:sp>
      <p:sp>
        <p:nvSpPr>
          <p:cNvPr id="82" name="Text 78"/>
          <p:cNvSpPr txBox="1"/>
          <p:nvPr/>
        </p:nvSpPr>
        <p:spPr>
          <a:xfrm>
            <a:off x="1981505" y="6319418"/>
            <a:ext cx="25786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AMI</a:t>
            </a:r>
            <a:endParaRPr lang="en-US" sz="1050" dirty="0"/>
          </a:p>
        </p:txBody>
      </p:sp>
      <p:sp>
        <p:nvSpPr>
          <p:cNvPr id="83" name="Text 79"/>
          <p:cNvSpPr txBox="1"/>
          <p:nvPr/>
        </p:nvSpPr>
        <p:spPr>
          <a:xfrm>
            <a:off x="2295144" y="6338621"/>
            <a:ext cx="232258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9.7</a:t>
            </a:r>
            <a:endParaRPr lang="en-US" sz="900" dirty="0"/>
          </a:p>
        </p:txBody>
      </p:sp>
      <p:sp>
        <p:nvSpPr>
          <p:cNvPr id="84" name="Text 80"/>
          <p:cNvSpPr txBox="1"/>
          <p:nvPr/>
        </p:nvSpPr>
        <p:spPr>
          <a:xfrm>
            <a:off x="2535631" y="6319418"/>
            <a:ext cx="7863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050" dirty="0"/>
          </a:p>
        </p:txBody>
      </p:sp>
      <p:sp>
        <p:nvSpPr>
          <p:cNvPr id="85" name="Text 81"/>
          <p:cNvSpPr txBox="1"/>
          <p:nvPr/>
        </p:nvSpPr>
        <p:spPr>
          <a:xfrm>
            <a:off x="2649931" y="6319418"/>
            <a:ext cx="28255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ACI</a:t>
            </a:r>
            <a:endParaRPr lang="en-US" sz="1050" dirty="0"/>
          </a:p>
        </p:txBody>
      </p:sp>
      <p:sp>
        <p:nvSpPr>
          <p:cNvPr id="86" name="Text 82"/>
          <p:cNvSpPr txBox="1"/>
          <p:nvPr/>
        </p:nvSpPr>
        <p:spPr>
          <a:xfrm>
            <a:off x="2934310" y="6338621"/>
            <a:ext cx="22768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9.1</a:t>
            </a:r>
            <a:endParaRPr lang="en-US" sz="900" dirty="0"/>
          </a:p>
        </p:txBody>
      </p:sp>
      <p:sp>
        <p:nvSpPr>
          <p:cNvPr id="87" name="Text 83"/>
          <p:cNvSpPr txBox="1"/>
          <p:nvPr/>
        </p:nvSpPr>
        <p:spPr>
          <a:xfrm>
            <a:off x="4889297" y="6310274"/>
            <a:ext cx="97840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9.72 / 9.18</a:t>
            </a:r>
            <a:endParaRPr lang="en-US" sz="1125" dirty="0"/>
          </a:p>
        </p:txBody>
      </p:sp>
      <p:sp>
        <p:nvSpPr>
          <p:cNvPr id="88" name="Text 84"/>
          <p:cNvSpPr txBox="1"/>
          <p:nvPr/>
        </p:nvSpPr>
        <p:spPr>
          <a:xfrm>
            <a:off x="5867705" y="6310274"/>
            <a:ext cx="10479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0.28 / 0.22</a:t>
            </a:r>
            <a:endParaRPr lang="en-US" sz="1125" dirty="0"/>
          </a:p>
        </p:txBody>
      </p:sp>
      <p:sp>
        <p:nvSpPr>
          <p:cNvPr id="89" name="Text 85"/>
          <p:cNvSpPr txBox="1"/>
          <p:nvPr/>
        </p:nvSpPr>
        <p:spPr>
          <a:xfrm>
            <a:off x="6915607" y="6310274"/>
            <a:ext cx="9144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 / 0.7</a:t>
            </a:r>
            <a:endParaRPr lang="en-US" sz="1125" dirty="0"/>
          </a:p>
        </p:txBody>
      </p:sp>
      <p:sp>
        <p:nvSpPr>
          <p:cNvPr id="90" name="Text 86"/>
          <p:cNvSpPr txBox="1"/>
          <p:nvPr/>
        </p:nvSpPr>
        <p:spPr>
          <a:xfrm>
            <a:off x="7785202" y="6277356"/>
            <a:ext cx="523951" cy="247802"/>
          </a:xfrm>
          <a:prstGeom prst="rect">
            <a:avLst/>
          </a:prstGeom>
          <a:solidFill>
            <a:srgbClr val="6BE3A1">
              <a:alpha val="14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38100" rIns="762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+0.02</a:t>
            </a:r>
            <a:endParaRPr lang="en-US" sz="1050" dirty="0"/>
          </a:p>
        </p:txBody>
      </p:sp>
      <p:sp>
        <p:nvSpPr>
          <p:cNvPr id="91" name="Text 87"/>
          <p:cNvSpPr txBox="1"/>
          <p:nvPr/>
        </p:nvSpPr>
        <p:spPr>
          <a:xfrm>
            <a:off x="8358530" y="6277356"/>
            <a:ext cx="523951" cy="247802"/>
          </a:xfrm>
          <a:prstGeom prst="rect">
            <a:avLst/>
          </a:prstGeom>
          <a:solidFill>
            <a:srgbClr val="6BE3A1">
              <a:alpha val="14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38100" rIns="762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+0.08</a:t>
            </a:r>
            <a:endParaRPr lang="en-US" sz="1050" dirty="0"/>
          </a:p>
        </p:txBody>
      </p:sp>
      <p:sp>
        <p:nvSpPr>
          <p:cNvPr id="92" name="Text 88"/>
          <p:cNvSpPr txBox="1"/>
          <p:nvPr/>
        </p:nvSpPr>
        <p:spPr>
          <a:xfrm>
            <a:off x="9601200" y="3014777"/>
            <a:ext cx="33915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FFA9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SPLIT B</a:t>
            </a:r>
            <a:endParaRPr lang="en-US" sz="975" dirty="0"/>
          </a:p>
        </p:txBody>
      </p:sp>
      <p:sp>
        <p:nvSpPr>
          <p:cNvPr id="93" name="Text 89"/>
          <p:cNvSpPr txBox="1"/>
          <p:nvPr/>
        </p:nvSpPr>
        <p:spPr>
          <a:xfrm>
            <a:off x="9601200" y="3204972"/>
            <a:ext cx="401421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r-SAUP · Spacer-is-Dielectric</a:t>
            </a:r>
            <a:endParaRPr lang="en-US" sz="1950" dirty="0"/>
          </a:p>
        </p:txBody>
      </p:sp>
      <p:sp>
        <p:nvSpPr>
          <p:cNvPr id="94" name="Shape 90"/>
          <p:cNvSpPr/>
          <p:nvPr/>
        </p:nvSpPr>
        <p:spPr>
          <a:xfrm>
            <a:off x="15739567" y="3043123"/>
            <a:ext cx="95098" cy="95098"/>
          </a:xfrm>
          <a:prstGeom prst="rect">
            <a:avLst/>
          </a:prstGeom>
          <a:solidFill>
            <a:srgbClr val="FFA9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Text 91"/>
          <p:cNvSpPr txBox="1"/>
          <p:nvPr/>
        </p:nvSpPr>
        <p:spPr>
          <a:xfrm>
            <a:off x="15892272" y="3010205"/>
            <a:ext cx="185897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B4C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r-W01 · r-W02 · r-W03</a:t>
            </a:r>
            <a:endParaRPr lang="en-US" sz="1050" dirty="0"/>
          </a:p>
        </p:txBody>
      </p:sp>
      <p:sp>
        <p:nvSpPr>
          <p:cNvPr id="96" name="Shape 92"/>
          <p:cNvSpPr/>
          <p:nvPr/>
        </p:nvSpPr>
        <p:spPr>
          <a:xfrm>
            <a:off x="9601200" y="4305910"/>
            <a:ext cx="7848295" cy="9144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>
                <a:alpha val="0"/>
              </a:srgbClr>
            </a:solidFill>
            <a:prstDash val="solid"/>
          </a:ln>
        </p:spPr>
      </p:sp>
      <p:sp>
        <p:nvSpPr>
          <p:cNvPr id="97" name="Text 93"/>
          <p:cNvSpPr txBox="1"/>
          <p:nvPr/>
        </p:nvSpPr>
        <p:spPr>
          <a:xfrm>
            <a:off x="9601200" y="3924605"/>
            <a:ext cx="952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Wafer</a:t>
            </a:r>
            <a:endParaRPr lang="en-US" sz="900" dirty="0"/>
          </a:p>
        </p:txBody>
      </p:sp>
      <p:sp>
        <p:nvSpPr>
          <p:cNvPr id="98" name="Text 94"/>
          <p:cNvSpPr txBox="1"/>
          <p:nvPr/>
        </p:nvSpPr>
        <p:spPr>
          <a:xfrm>
            <a:off x="10554005" y="3924605"/>
            <a:ext cx="30102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· target</a:t>
            </a:r>
            <a:endParaRPr lang="en-US" sz="900" dirty="0"/>
          </a:p>
        </p:txBody>
      </p:sp>
      <p:sp>
        <p:nvSpPr>
          <p:cNvPr id="99" name="Text 95"/>
          <p:cNvSpPr txBox="1"/>
          <p:nvPr/>
        </p:nvSpPr>
        <p:spPr>
          <a:xfrm>
            <a:off x="13563295" y="3924605"/>
            <a:ext cx="876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90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</a:t>
            </a:r>
            <a:pPr algn="r" indent="0" marL="0">
              <a:buNone/>
            </a:pPr>
            <a:endParaRPr lang="en-US" sz="900" dirty="0"/>
          </a:p>
          <a:p>
            <a:pPr algn="r" indent="0" marL="0">
              <a:buNone/>
            </a:pPr>
            <a:r>
              <a:rPr lang="en-US" sz="800" spc="90" kern="0" dirty="0">
                <a:solidFill>
                  <a:srgbClr val="5C6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(nm)</a:t>
            </a:r>
            <a:endParaRPr lang="en-US" sz="900" dirty="0"/>
          </a:p>
        </p:txBody>
      </p:sp>
      <p:sp>
        <p:nvSpPr>
          <p:cNvPr id="100" name="Text 96"/>
          <p:cNvSpPr txBox="1"/>
          <p:nvPr/>
        </p:nvSpPr>
        <p:spPr>
          <a:xfrm>
            <a:off x="14440205" y="3924605"/>
            <a:ext cx="1047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90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3σ (nm)</a:t>
            </a:r>
            <a:endParaRPr lang="en-US" sz="900" dirty="0"/>
          </a:p>
        </p:txBody>
      </p:sp>
      <p:sp>
        <p:nvSpPr>
          <p:cNvPr id="101" name="Text 97"/>
          <p:cNvSpPr txBox="1"/>
          <p:nvPr/>
        </p:nvSpPr>
        <p:spPr>
          <a:xfrm>
            <a:off x="15488107" y="3924605"/>
            <a:ext cx="9144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90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Range</a:t>
            </a:r>
            <a:pPr algn="r" indent="0" marL="0">
              <a:buNone/>
            </a:pPr>
            <a:endParaRPr lang="en-US" sz="900" dirty="0"/>
          </a:p>
          <a:p>
            <a:pPr algn="r" indent="0" marL="0">
              <a:buNone/>
            </a:pPr>
            <a:r>
              <a:rPr lang="en-US" sz="800" spc="90" kern="0" dirty="0">
                <a:solidFill>
                  <a:srgbClr val="5C6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(nm)</a:t>
            </a:r>
            <a:endParaRPr lang="en-US" sz="900" dirty="0"/>
          </a:p>
        </p:txBody>
      </p:sp>
      <p:sp>
        <p:nvSpPr>
          <p:cNvPr id="102" name="Text 98"/>
          <p:cNvSpPr txBox="1"/>
          <p:nvPr/>
        </p:nvSpPr>
        <p:spPr>
          <a:xfrm>
            <a:off x="16402507" y="3924605"/>
            <a:ext cx="1047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90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 vs target</a:t>
            </a:r>
            <a:pPr algn="r" indent="0" marL="0">
              <a:buNone/>
            </a:pPr>
            <a:endParaRPr lang="en-US" sz="900" dirty="0"/>
          </a:p>
          <a:p>
            <a:pPr algn="r" indent="0" marL="0">
              <a:buNone/>
            </a:pPr>
            <a:r>
              <a:rPr lang="en-US" sz="800" spc="90" kern="0" dirty="0">
                <a:solidFill>
                  <a:srgbClr val="5C6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(nm)</a:t>
            </a:r>
            <a:endParaRPr lang="en-US" sz="900" dirty="0"/>
          </a:p>
        </p:txBody>
      </p:sp>
      <p:sp>
        <p:nvSpPr>
          <p:cNvPr id="103" name="Shape 99"/>
          <p:cNvSpPr/>
          <p:nvPr/>
        </p:nvSpPr>
        <p:spPr>
          <a:xfrm>
            <a:off x="9601200" y="4553712"/>
            <a:ext cx="7848295" cy="9144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>
                <a:alpha val="0"/>
              </a:srgbClr>
            </a:solidFill>
            <a:prstDash val="solid"/>
          </a:ln>
        </p:spPr>
      </p:sp>
      <p:sp>
        <p:nvSpPr>
          <p:cNvPr id="104" name="Text 100"/>
          <p:cNvSpPr txBox="1"/>
          <p:nvPr/>
        </p:nvSpPr>
        <p:spPr>
          <a:xfrm>
            <a:off x="9601200" y="4267505"/>
            <a:ext cx="952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A94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r-W01</a:t>
            </a:r>
            <a:endParaRPr lang="en-US" sz="1050" dirty="0"/>
          </a:p>
        </p:txBody>
      </p:sp>
      <p:sp>
        <p:nvSpPr>
          <p:cNvPr id="105" name="Text 101"/>
          <p:cNvSpPr txBox="1"/>
          <p:nvPr/>
        </p:nvSpPr>
        <p:spPr>
          <a:xfrm>
            <a:off x="10554005" y="4272077"/>
            <a:ext cx="37947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AASI</a:t>
            </a:r>
            <a:endParaRPr lang="en-US" sz="1050" dirty="0"/>
          </a:p>
        </p:txBody>
      </p:sp>
      <p:sp>
        <p:nvSpPr>
          <p:cNvPr id="106" name="Text 102"/>
          <p:cNvSpPr txBox="1"/>
          <p:nvPr/>
        </p:nvSpPr>
        <p:spPr>
          <a:xfrm>
            <a:off x="10928909" y="4291279"/>
            <a:ext cx="306324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</a:t>
            </a:r>
            <a:endParaRPr lang="en-US" sz="900" dirty="0"/>
          </a:p>
        </p:txBody>
      </p:sp>
      <p:sp>
        <p:nvSpPr>
          <p:cNvPr id="107" name="Text 103"/>
          <p:cNvSpPr txBox="1"/>
          <p:nvPr/>
        </p:nvSpPr>
        <p:spPr>
          <a:xfrm>
            <a:off x="11212373" y="4272077"/>
            <a:ext cx="7863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050" dirty="0"/>
          </a:p>
        </p:txBody>
      </p:sp>
      <p:sp>
        <p:nvSpPr>
          <p:cNvPr id="108" name="Text 104"/>
          <p:cNvSpPr txBox="1"/>
          <p:nvPr/>
        </p:nvSpPr>
        <p:spPr>
          <a:xfrm>
            <a:off x="11327587" y="4272077"/>
            <a:ext cx="37673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ASEI</a:t>
            </a:r>
            <a:endParaRPr lang="en-US" sz="1050" dirty="0"/>
          </a:p>
        </p:txBody>
      </p:sp>
      <p:sp>
        <p:nvSpPr>
          <p:cNvPr id="109" name="Text 105"/>
          <p:cNvSpPr txBox="1"/>
          <p:nvPr/>
        </p:nvSpPr>
        <p:spPr>
          <a:xfrm>
            <a:off x="11685118" y="4291279"/>
            <a:ext cx="307238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16.3</a:t>
            </a:r>
            <a:endParaRPr lang="en-US" sz="900" dirty="0"/>
          </a:p>
        </p:txBody>
      </p:sp>
      <p:sp>
        <p:nvSpPr>
          <p:cNvPr id="110" name="Text 106"/>
          <p:cNvSpPr txBox="1"/>
          <p:nvPr/>
        </p:nvSpPr>
        <p:spPr>
          <a:xfrm>
            <a:off x="13396874" y="4262018"/>
            <a:ext cx="104333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23.21 / 16.34</a:t>
            </a:r>
            <a:endParaRPr lang="en-US" sz="1125" dirty="0"/>
          </a:p>
        </p:txBody>
      </p:sp>
      <p:sp>
        <p:nvSpPr>
          <p:cNvPr id="111" name="Text 107"/>
          <p:cNvSpPr txBox="1"/>
          <p:nvPr/>
        </p:nvSpPr>
        <p:spPr>
          <a:xfrm>
            <a:off x="14440205" y="4262018"/>
            <a:ext cx="10479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0.61 / 0.38</a:t>
            </a:r>
            <a:endParaRPr lang="en-US" sz="1125" dirty="0"/>
          </a:p>
        </p:txBody>
      </p:sp>
      <p:sp>
        <p:nvSpPr>
          <p:cNvPr id="112" name="Text 108"/>
          <p:cNvSpPr txBox="1"/>
          <p:nvPr/>
        </p:nvSpPr>
        <p:spPr>
          <a:xfrm>
            <a:off x="15488107" y="4262018"/>
            <a:ext cx="9144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2.0 / 1.3</a:t>
            </a:r>
            <a:endParaRPr lang="en-US" sz="1125" dirty="0"/>
          </a:p>
        </p:txBody>
      </p:sp>
      <p:sp>
        <p:nvSpPr>
          <p:cNvPr id="113" name="Text 109"/>
          <p:cNvSpPr txBox="1"/>
          <p:nvPr/>
        </p:nvSpPr>
        <p:spPr>
          <a:xfrm>
            <a:off x="16415309" y="4229100"/>
            <a:ext cx="467258" cy="247802"/>
          </a:xfrm>
          <a:prstGeom prst="rect">
            <a:avLst/>
          </a:prstGeom>
          <a:solidFill>
            <a:srgbClr val="6BE3A1">
              <a:alpha val="14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38100" rIns="762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+0.11</a:t>
            </a:r>
            <a:endParaRPr lang="en-US" sz="1050" dirty="0"/>
          </a:p>
        </p:txBody>
      </p:sp>
      <p:sp>
        <p:nvSpPr>
          <p:cNvPr id="114" name="Text 110"/>
          <p:cNvSpPr txBox="1"/>
          <p:nvPr/>
        </p:nvSpPr>
        <p:spPr>
          <a:xfrm>
            <a:off x="16931030" y="4229100"/>
            <a:ext cx="523951" cy="247802"/>
          </a:xfrm>
          <a:prstGeom prst="rect">
            <a:avLst/>
          </a:prstGeom>
          <a:solidFill>
            <a:srgbClr val="6BE3A1">
              <a:alpha val="14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38100" rIns="762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+0.04</a:t>
            </a:r>
            <a:endParaRPr lang="en-US" sz="1050" dirty="0"/>
          </a:p>
        </p:txBody>
      </p:sp>
      <p:sp>
        <p:nvSpPr>
          <p:cNvPr id="115" name="Shape 111"/>
          <p:cNvSpPr/>
          <p:nvPr/>
        </p:nvSpPr>
        <p:spPr>
          <a:xfrm>
            <a:off x="9601200" y="4963363"/>
            <a:ext cx="7848295" cy="9144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>
                <a:alpha val="0"/>
              </a:srgbClr>
            </a:solidFill>
            <a:prstDash val="solid"/>
          </a:ln>
        </p:spPr>
      </p:sp>
      <p:sp>
        <p:nvSpPr>
          <p:cNvPr id="116" name="Text 112"/>
          <p:cNvSpPr txBox="1"/>
          <p:nvPr/>
        </p:nvSpPr>
        <p:spPr>
          <a:xfrm>
            <a:off x="10554005" y="4681728"/>
            <a:ext cx="25786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AMI</a:t>
            </a:r>
            <a:endParaRPr lang="en-US" sz="1050" dirty="0"/>
          </a:p>
        </p:txBody>
      </p:sp>
      <p:sp>
        <p:nvSpPr>
          <p:cNvPr id="117" name="Text 113"/>
          <p:cNvSpPr txBox="1"/>
          <p:nvPr/>
        </p:nvSpPr>
        <p:spPr>
          <a:xfrm>
            <a:off x="10867644" y="4700930"/>
            <a:ext cx="232258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9.7</a:t>
            </a:r>
            <a:endParaRPr lang="en-US" sz="900" dirty="0"/>
          </a:p>
        </p:txBody>
      </p:sp>
      <p:sp>
        <p:nvSpPr>
          <p:cNvPr id="118" name="Text 114"/>
          <p:cNvSpPr txBox="1"/>
          <p:nvPr/>
        </p:nvSpPr>
        <p:spPr>
          <a:xfrm>
            <a:off x="11108131" y="4681728"/>
            <a:ext cx="7863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050" dirty="0"/>
          </a:p>
        </p:txBody>
      </p:sp>
      <p:sp>
        <p:nvSpPr>
          <p:cNvPr id="119" name="Text 115"/>
          <p:cNvSpPr txBox="1"/>
          <p:nvPr/>
        </p:nvSpPr>
        <p:spPr>
          <a:xfrm>
            <a:off x="11222431" y="4681728"/>
            <a:ext cx="28255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ACI</a:t>
            </a:r>
            <a:endParaRPr lang="en-US" sz="1050" dirty="0"/>
          </a:p>
        </p:txBody>
      </p:sp>
      <p:sp>
        <p:nvSpPr>
          <p:cNvPr id="120" name="Text 116"/>
          <p:cNvSpPr txBox="1"/>
          <p:nvPr/>
        </p:nvSpPr>
        <p:spPr>
          <a:xfrm>
            <a:off x="11506810" y="4700930"/>
            <a:ext cx="22768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9.1</a:t>
            </a:r>
            <a:endParaRPr lang="en-US" sz="900" dirty="0"/>
          </a:p>
        </p:txBody>
      </p:sp>
      <p:sp>
        <p:nvSpPr>
          <p:cNvPr id="121" name="Text 117"/>
          <p:cNvSpPr txBox="1"/>
          <p:nvPr/>
        </p:nvSpPr>
        <p:spPr>
          <a:xfrm>
            <a:off x="13461797" y="4671670"/>
            <a:ext cx="97840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9.74 / 9.16</a:t>
            </a:r>
            <a:endParaRPr lang="en-US" sz="1125" dirty="0"/>
          </a:p>
        </p:txBody>
      </p:sp>
      <p:sp>
        <p:nvSpPr>
          <p:cNvPr id="122" name="Text 118"/>
          <p:cNvSpPr txBox="1"/>
          <p:nvPr/>
        </p:nvSpPr>
        <p:spPr>
          <a:xfrm>
            <a:off x="14440205" y="4671670"/>
            <a:ext cx="10479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0.30 / 0.24</a:t>
            </a:r>
            <a:endParaRPr lang="en-US" sz="1125" dirty="0"/>
          </a:p>
        </p:txBody>
      </p:sp>
      <p:sp>
        <p:nvSpPr>
          <p:cNvPr id="123" name="Text 119"/>
          <p:cNvSpPr txBox="1"/>
          <p:nvPr/>
        </p:nvSpPr>
        <p:spPr>
          <a:xfrm>
            <a:off x="15488107" y="4671670"/>
            <a:ext cx="9144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1.0 / 0.8</a:t>
            </a:r>
            <a:endParaRPr lang="en-US" sz="1125" dirty="0"/>
          </a:p>
        </p:txBody>
      </p:sp>
      <p:sp>
        <p:nvSpPr>
          <p:cNvPr id="124" name="Text 120"/>
          <p:cNvSpPr txBox="1"/>
          <p:nvPr/>
        </p:nvSpPr>
        <p:spPr>
          <a:xfrm>
            <a:off x="16355873" y="4638751"/>
            <a:ext cx="523951" cy="247802"/>
          </a:xfrm>
          <a:prstGeom prst="rect">
            <a:avLst/>
          </a:prstGeom>
          <a:solidFill>
            <a:srgbClr val="6BE3A1">
              <a:alpha val="14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38100" rIns="762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+0.04</a:t>
            </a:r>
            <a:endParaRPr lang="en-US" sz="1050" dirty="0"/>
          </a:p>
        </p:txBody>
      </p:sp>
      <p:sp>
        <p:nvSpPr>
          <p:cNvPr id="125" name="Text 121"/>
          <p:cNvSpPr txBox="1"/>
          <p:nvPr/>
        </p:nvSpPr>
        <p:spPr>
          <a:xfrm>
            <a:off x="16932859" y="4638751"/>
            <a:ext cx="523951" cy="247802"/>
          </a:xfrm>
          <a:prstGeom prst="rect">
            <a:avLst/>
          </a:prstGeom>
          <a:solidFill>
            <a:srgbClr val="6BE3A1">
              <a:alpha val="14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38100" rIns="762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+0.06</a:t>
            </a:r>
            <a:endParaRPr lang="en-US" sz="1050" dirty="0"/>
          </a:p>
        </p:txBody>
      </p:sp>
      <p:sp>
        <p:nvSpPr>
          <p:cNvPr id="126" name="Shape 122"/>
          <p:cNvSpPr/>
          <p:nvPr/>
        </p:nvSpPr>
        <p:spPr>
          <a:xfrm>
            <a:off x="9601200" y="5373014"/>
            <a:ext cx="7848295" cy="9144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>
                <a:alpha val="0"/>
              </a:srgbClr>
            </a:solidFill>
            <a:prstDash val="solid"/>
          </a:ln>
        </p:spPr>
      </p:sp>
      <p:sp>
        <p:nvSpPr>
          <p:cNvPr id="127" name="Text 123"/>
          <p:cNvSpPr txBox="1"/>
          <p:nvPr/>
        </p:nvSpPr>
        <p:spPr>
          <a:xfrm>
            <a:off x="9601200" y="5086807"/>
            <a:ext cx="952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A94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r-W02</a:t>
            </a:r>
            <a:endParaRPr lang="en-US" sz="1050" dirty="0"/>
          </a:p>
        </p:txBody>
      </p:sp>
      <p:sp>
        <p:nvSpPr>
          <p:cNvPr id="128" name="Text 124"/>
          <p:cNvSpPr txBox="1"/>
          <p:nvPr/>
        </p:nvSpPr>
        <p:spPr>
          <a:xfrm>
            <a:off x="10554005" y="5091379"/>
            <a:ext cx="37947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AASI</a:t>
            </a:r>
            <a:endParaRPr lang="en-US" sz="1050" dirty="0"/>
          </a:p>
        </p:txBody>
      </p:sp>
      <p:sp>
        <p:nvSpPr>
          <p:cNvPr id="129" name="Text 125"/>
          <p:cNvSpPr txBox="1"/>
          <p:nvPr/>
        </p:nvSpPr>
        <p:spPr>
          <a:xfrm>
            <a:off x="10928909" y="5110582"/>
            <a:ext cx="306324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</a:t>
            </a:r>
            <a:endParaRPr lang="en-US" sz="900" dirty="0"/>
          </a:p>
        </p:txBody>
      </p:sp>
      <p:sp>
        <p:nvSpPr>
          <p:cNvPr id="130" name="Text 126"/>
          <p:cNvSpPr txBox="1"/>
          <p:nvPr/>
        </p:nvSpPr>
        <p:spPr>
          <a:xfrm>
            <a:off x="11212373" y="5091379"/>
            <a:ext cx="7863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050" dirty="0"/>
          </a:p>
        </p:txBody>
      </p:sp>
      <p:sp>
        <p:nvSpPr>
          <p:cNvPr id="131" name="Text 127"/>
          <p:cNvSpPr txBox="1"/>
          <p:nvPr/>
        </p:nvSpPr>
        <p:spPr>
          <a:xfrm>
            <a:off x="11327587" y="5091379"/>
            <a:ext cx="37673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ASEI</a:t>
            </a:r>
            <a:endParaRPr lang="en-US" sz="1050" dirty="0"/>
          </a:p>
        </p:txBody>
      </p:sp>
      <p:sp>
        <p:nvSpPr>
          <p:cNvPr id="132" name="Text 128"/>
          <p:cNvSpPr txBox="1"/>
          <p:nvPr/>
        </p:nvSpPr>
        <p:spPr>
          <a:xfrm>
            <a:off x="11685118" y="5110582"/>
            <a:ext cx="307238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16.3</a:t>
            </a:r>
            <a:endParaRPr lang="en-US" sz="900" dirty="0"/>
          </a:p>
        </p:txBody>
      </p:sp>
      <p:sp>
        <p:nvSpPr>
          <p:cNvPr id="133" name="Text 129"/>
          <p:cNvSpPr txBox="1"/>
          <p:nvPr/>
        </p:nvSpPr>
        <p:spPr>
          <a:xfrm>
            <a:off x="13396874" y="5081321"/>
            <a:ext cx="104333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23.05 / 16.27</a:t>
            </a:r>
            <a:endParaRPr lang="en-US" sz="1125" dirty="0"/>
          </a:p>
        </p:txBody>
      </p:sp>
      <p:sp>
        <p:nvSpPr>
          <p:cNvPr id="134" name="Text 130"/>
          <p:cNvSpPr txBox="1"/>
          <p:nvPr/>
        </p:nvSpPr>
        <p:spPr>
          <a:xfrm>
            <a:off x="14440205" y="5081321"/>
            <a:ext cx="10479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0.55 / 0.36</a:t>
            </a:r>
            <a:endParaRPr lang="en-US" sz="1125" dirty="0"/>
          </a:p>
        </p:txBody>
      </p:sp>
      <p:sp>
        <p:nvSpPr>
          <p:cNvPr id="135" name="Text 131"/>
          <p:cNvSpPr txBox="1"/>
          <p:nvPr/>
        </p:nvSpPr>
        <p:spPr>
          <a:xfrm>
            <a:off x="15488107" y="5081321"/>
            <a:ext cx="9144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1.8 / 1.2</a:t>
            </a:r>
            <a:endParaRPr lang="en-US" sz="1125" dirty="0"/>
          </a:p>
        </p:txBody>
      </p:sp>
      <p:sp>
        <p:nvSpPr>
          <p:cNvPr id="136" name="Text 132"/>
          <p:cNvSpPr txBox="1"/>
          <p:nvPr/>
        </p:nvSpPr>
        <p:spPr>
          <a:xfrm>
            <a:off x="16360445" y="5048402"/>
            <a:ext cx="523951" cy="247802"/>
          </a:xfrm>
          <a:prstGeom prst="rect">
            <a:avLst/>
          </a:prstGeom>
          <a:solidFill>
            <a:srgbClr val="6BE3A1">
              <a:alpha val="14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38100" rIns="762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−0.05</a:t>
            </a:r>
            <a:endParaRPr lang="en-US" sz="1050" dirty="0"/>
          </a:p>
        </p:txBody>
      </p:sp>
      <p:sp>
        <p:nvSpPr>
          <p:cNvPr id="137" name="Text 133"/>
          <p:cNvSpPr txBox="1"/>
          <p:nvPr/>
        </p:nvSpPr>
        <p:spPr>
          <a:xfrm>
            <a:off x="16933774" y="5048402"/>
            <a:ext cx="523951" cy="247802"/>
          </a:xfrm>
          <a:prstGeom prst="rect">
            <a:avLst/>
          </a:prstGeom>
          <a:solidFill>
            <a:srgbClr val="6BE3A1">
              <a:alpha val="14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38100" rIns="762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−0.03</a:t>
            </a:r>
            <a:endParaRPr lang="en-US" sz="1050" dirty="0"/>
          </a:p>
        </p:txBody>
      </p:sp>
      <p:sp>
        <p:nvSpPr>
          <p:cNvPr id="138" name="Shape 134"/>
          <p:cNvSpPr/>
          <p:nvPr/>
        </p:nvSpPr>
        <p:spPr>
          <a:xfrm>
            <a:off x="9601200" y="5781751"/>
            <a:ext cx="7848295" cy="9144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>
                <a:alpha val="0"/>
              </a:srgbClr>
            </a:solidFill>
            <a:prstDash val="solid"/>
          </a:ln>
        </p:spPr>
      </p:sp>
      <p:sp>
        <p:nvSpPr>
          <p:cNvPr id="139" name="Text 135"/>
          <p:cNvSpPr txBox="1"/>
          <p:nvPr/>
        </p:nvSpPr>
        <p:spPr>
          <a:xfrm>
            <a:off x="10554005" y="5501030"/>
            <a:ext cx="25786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AMI</a:t>
            </a:r>
            <a:endParaRPr lang="en-US" sz="1050" dirty="0"/>
          </a:p>
        </p:txBody>
      </p:sp>
      <p:sp>
        <p:nvSpPr>
          <p:cNvPr id="140" name="Text 136"/>
          <p:cNvSpPr txBox="1"/>
          <p:nvPr/>
        </p:nvSpPr>
        <p:spPr>
          <a:xfrm>
            <a:off x="10867644" y="5519318"/>
            <a:ext cx="232258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9.7</a:t>
            </a:r>
            <a:endParaRPr lang="en-US" sz="900" dirty="0"/>
          </a:p>
        </p:txBody>
      </p:sp>
      <p:sp>
        <p:nvSpPr>
          <p:cNvPr id="141" name="Text 137"/>
          <p:cNvSpPr txBox="1"/>
          <p:nvPr/>
        </p:nvSpPr>
        <p:spPr>
          <a:xfrm>
            <a:off x="11108131" y="5501030"/>
            <a:ext cx="7863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050" dirty="0"/>
          </a:p>
        </p:txBody>
      </p:sp>
      <p:sp>
        <p:nvSpPr>
          <p:cNvPr id="142" name="Text 138"/>
          <p:cNvSpPr txBox="1"/>
          <p:nvPr/>
        </p:nvSpPr>
        <p:spPr>
          <a:xfrm>
            <a:off x="11222431" y="5501030"/>
            <a:ext cx="28255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ACI</a:t>
            </a:r>
            <a:endParaRPr lang="en-US" sz="1050" dirty="0"/>
          </a:p>
        </p:txBody>
      </p:sp>
      <p:sp>
        <p:nvSpPr>
          <p:cNvPr id="143" name="Text 139"/>
          <p:cNvSpPr txBox="1"/>
          <p:nvPr/>
        </p:nvSpPr>
        <p:spPr>
          <a:xfrm>
            <a:off x="11506810" y="5519318"/>
            <a:ext cx="22768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9.1</a:t>
            </a:r>
            <a:endParaRPr lang="en-US" sz="900" dirty="0"/>
          </a:p>
        </p:txBody>
      </p:sp>
      <p:sp>
        <p:nvSpPr>
          <p:cNvPr id="144" name="Text 140"/>
          <p:cNvSpPr txBox="1"/>
          <p:nvPr/>
        </p:nvSpPr>
        <p:spPr>
          <a:xfrm>
            <a:off x="13461797" y="5490972"/>
            <a:ext cx="97840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9.66 / 9.07</a:t>
            </a:r>
            <a:endParaRPr lang="en-US" sz="1125" dirty="0"/>
          </a:p>
        </p:txBody>
      </p:sp>
      <p:sp>
        <p:nvSpPr>
          <p:cNvPr id="145" name="Text 141"/>
          <p:cNvSpPr txBox="1"/>
          <p:nvPr/>
        </p:nvSpPr>
        <p:spPr>
          <a:xfrm>
            <a:off x="14440205" y="5490972"/>
            <a:ext cx="10479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0.22 / 0.18</a:t>
            </a:r>
            <a:endParaRPr lang="en-US" sz="1125" dirty="0"/>
          </a:p>
        </p:txBody>
      </p:sp>
      <p:sp>
        <p:nvSpPr>
          <p:cNvPr id="146" name="Text 142"/>
          <p:cNvSpPr txBox="1"/>
          <p:nvPr/>
        </p:nvSpPr>
        <p:spPr>
          <a:xfrm>
            <a:off x="15488107" y="5490972"/>
            <a:ext cx="9144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0.7 / 0.6</a:t>
            </a:r>
            <a:endParaRPr lang="en-US" sz="1125" dirty="0"/>
          </a:p>
        </p:txBody>
      </p:sp>
      <p:sp>
        <p:nvSpPr>
          <p:cNvPr id="147" name="Text 143"/>
          <p:cNvSpPr txBox="1"/>
          <p:nvPr/>
        </p:nvSpPr>
        <p:spPr>
          <a:xfrm>
            <a:off x="16357702" y="5458054"/>
            <a:ext cx="523951" cy="247802"/>
          </a:xfrm>
          <a:prstGeom prst="rect">
            <a:avLst/>
          </a:prstGeom>
          <a:solidFill>
            <a:srgbClr val="6BE3A1">
              <a:alpha val="14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38100" rIns="762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−0.04</a:t>
            </a:r>
            <a:endParaRPr lang="en-US" sz="1050" dirty="0"/>
          </a:p>
        </p:txBody>
      </p:sp>
      <p:sp>
        <p:nvSpPr>
          <p:cNvPr id="148" name="Text 144"/>
          <p:cNvSpPr txBox="1"/>
          <p:nvPr/>
        </p:nvSpPr>
        <p:spPr>
          <a:xfrm>
            <a:off x="16933774" y="5458054"/>
            <a:ext cx="523951" cy="247802"/>
          </a:xfrm>
          <a:prstGeom prst="rect">
            <a:avLst/>
          </a:prstGeom>
          <a:solidFill>
            <a:srgbClr val="6BE3A1">
              <a:alpha val="14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38100" rIns="762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−0.03</a:t>
            </a:r>
            <a:endParaRPr lang="en-US" sz="1050" dirty="0"/>
          </a:p>
        </p:txBody>
      </p:sp>
      <p:sp>
        <p:nvSpPr>
          <p:cNvPr id="149" name="Shape 145"/>
          <p:cNvSpPr/>
          <p:nvPr/>
        </p:nvSpPr>
        <p:spPr>
          <a:xfrm>
            <a:off x="9601200" y="6191402"/>
            <a:ext cx="7848295" cy="9144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>
                <a:alpha val="0"/>
              </a:srgbClr>
            </a:solidFill>
            <a:prstDash val="solid"/>
          </a:ln>
        </p:spPr>
      </p:sp>
      <p:sp>
        <p:nvSpPr>
          <p:cNvPr id="150" name="Text 146"/>
          <p:cNvSpPr txBox="1"/>
          <p:nvPr/>
        </p:nvSpPr>
        <p:spPr>
          <a:xfrm>
            <a:off x="9601200" y="5905195"/>
            <a:ext cx="952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A94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r-W03</a:t>
            </a:r>
            <a:endParaRPr lang="en-US" sz="1050" dirty="0"/>
          </a:p>
        </p:txBody>
      </p:sp>
      <p:sp>
        <p:nvSpPr>
          <p:cNvPr id="151" name="Text 147"/>
          <p:cNvSpPr txBox="1"/>
          <p:nvPr/>
        </p:nvSpPr>
        <p:spPr>
          <a:xfrm>
            <a:off x="10554005" y="5910682"/>
            <a:ext cx="37947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AASI</a:t>
            </a:r>
            <a:endParaRPr lang="en-US" sz="1050" dirty="0"/>
          </a:p>
        </p:txBody>
      </p:sp>
      <p:sp>
        <p:nvSpPr>
          <p:cNvPr id="152" name="Text 148"/>
          <p:cNvSpPr txBox="1"/>
          <p:nvPr/>
        </p:nvSpPr>
        <p:spPr>
          <a:xfrm>
            <a:off x="10928909" y="5928970"/>
            <a:ext cx="306324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</a:t>
            </a:r>
            <a:endParaRPr lang="en-US" sz="900" dirty="0"/>
          </a:p>
        </p:txBody>
      </p:sp>
      <p:sp>
        <p:nvSpPr>
          <p:cNvPr id="153" name="Text 149"/>
          <p:cNvSpPr txBox="1"/>
          <p:nvPr/>
        </p:nvSpPr>
        <p:spPr>
          <a:xfrm>
            <a:off x="11212373" y="5910682"/>
            <a:ext cx="7863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050" dirty="0"/>
          </a:p>
        </p:txBody>
      </p:sp>
      <p:sp>
        <p:nvSpPr>
          <p:cNvPr id="154" name="Text 150"/>
          <p:cNvSpPr txBox="1"/>
          <p:nvPr/>
        </p:nvSpPr>
        <p:spPr>
          <a:xfrm>
            <a:off x="11327587" y="5910682"/>
            <a:ext cx="37673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ASEI</a:t>
            </a:r>
            <a:endParaRPr lang="en-US" sz="1050" dirty="0"/>
          </a:p>
        </p:txBody>
      </p:sp>
      <p:sp>
        <p:nvSpPr>
          <p:cNvPr id="155" name="Text 151"/>
          <p:cNvSpPr txBox="1"/>
          <p:nvPr/>
        </p:nvSpPr>
        <p:spPr>
          <a:xfrm>
            <a:off x="11685118" y="5928970"/>
            <a:ext cx="307238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16.3</a:t>
            </a:r>
            <a:endParaRPr lang="en-US" sz="900" dirty="0"/>
          </a:p>
        </p:txBody>
      </p:sp>
      <p:sp>
        <p:nvSpPr>
          <p:cNvPr id="156" name="Text 152"/>
          <p:cNvSpPr txBox="1"/>
          <p:nvPr/>
        </p:nvSpPr>
        <p:spPr>
          <a:xfrm>
            <a:off x="13396874" y="5900623"/>
            <a:ext cx="104333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23.12 / 16.31</a:t>
            </a:r>
            <a:endParaRPr lang="en-US" sz="1125" dirty="0"/>
          </a:p>
        </p:txBody>
      </p:sp>
      <p:sp>
        <p:nvSpPr>
          <p:cNvPr id="157" name="Text 153"/>
          <p:cNvSpPr txBox="1"/>
          <p:nvPr/>
        </p:nvSpPr>
        <p:spPr>
          <a:xfrm>
            <a:off x="14440205" y="5900623"/>
            <a:ext cx="10479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0.50 / 0.34</a:t>
            </a:r>
            <a:endParaRPr lang="en-US" sz="1125" dirty="0"/>
          </a:p>
        </p:txBody>
      </p:sp>
      <p:sp>
        <p:nvSpPr>
          <p:cNvPr id="158" name="Text 154"/>
          <p:cNvSpPr txBox="1"/>
          <p:nvPr/>
        </p:nvSpPr>
        <p:spPr>
          <a:xfrm>
            <a:off x="15488107" y="5900623"/>
            <a:ext cx="9144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1.6 / 1.1</a:t>
            </a:r>
            <a:endParaRPr lang="en-US" sz="1125" dirty="0"/>
          </a:p>
        </p:txBody>
      </p:sp>
      <p:sp>
        <p:nvSpPr>
          <p:cNvPr id="159" name="Text 155"/>
          <p:cNvSpPr txBox="1"/>
          <p:nvPr/>
        </p:nvSpPr>
        <p:spPr>
          <a:xfrm>
            <a:off x="16385134" y="5867705"/>
            <a:ext cx="523951" cy="247802"/>
          </a:xfrm>
          <a:prstGeom prst="rect">
            <a:avLst/>
          </a:prstGeom>
          <a:solidFill>
            <a:srgbClr val="6BE3A1">
              <a:alpha val="14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38100" rIns="762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+0.02</a:t>
            </a:r>
            <a:endParaRPr lang="en-US" sz="1050" dirty="0"/>
          </a:p>
        </p:txBody>
      </p:sp>
      <p:sp>
        <p:nvSpPr>
          <p:cNvPr id="160" name="Text 156"/>
          <p:cNvSpPr txBox="1"/>
          <p:nvPr/>
        </p:nvSpPr>
        <p:spPr>
          <a:xfrm>
            <a:off x="16958462" y="5867705"/>
            <a:ext cx="495605" cy="247802"/>
          </a:xfrm>
          <a:prstGeom prst="rect">
            <a:avLst/>
          </a:prstGeom>
          <a:solidFill>
            <a:srgbClr val="6BE3A1">
              <a:alpha val="14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38100" rIns="762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+0.01</a:t>
            </a:r>
            <a:endParaRPr lang="en-US" sz="1050" dirty="0"/>
          </a:p>
        </p:txBody>
      </p:sp>
      <p:sp>
        <p:nvSpPr>
          <p:cNvPr id="161" name="Text 157"/>
          <p:cNvSpPr txBox="1"/>
          <p:nvPr/>
        </p:nvSpPr>
        <p:spPr>
          <a:xfrm>
            <a:off x="10554005" y="6319418"/>
            <a:ext cx="25786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AMI</a:t>
            </a:r>
            <a:endParaRPr lang="en-US" sz="1050" dirty="0"/>
          </a:p>
        </p:txBody>
      </p:sp>
      <p:sp>
        <p:nvSpPr>
          <p:cNvPr id="162" name="Text 158"/>
          <p:cNvSpPr txBox="1"/>
          <p:nvPr/>
        </p:nvSpPr>
        <p:spPr>
          <a:xfrm>
            <a:off x="10867644" y="6338621"/>
            <a:ext cx="232258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9.7</a:t>
            </a:r>
            <a:endParaRPr lang="en-US" sz="900" dirty="0"/>
          </a:p>
        </p:txBody>
      </p:sp>
      <p:sp>
        <p:nvSpPr>
          <p:cNvPr id="163" name="Text 159"/>
          <p:cNvSpPr txBox="1"/>
          <p:nvPr/>
        </p:nvSpPr>
        <p:spPr>
          <a:xfrm>
            <a:off x="11108131" y="6319418"/>
            <a:ext cx="7863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050" dirty="0"/>
          </a:p>
        </p:txBody>
      </p:sp>
      <p:sp>
        <p:nvSpPr>
          <p:cNvPr id="164" name="Text 160"/>
          <p:cNvSpPr txBox="1"/>
          <p:nvPr/>
        </p:nvSpPr>
        <p:spPr>
          <a:xfrm>
            <a:off x="11222431" y="6319418"/>
            <a:ext cx="28255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ACI</a:t>
            </a:r>
            <a:endParaRPr lang="en-US" sz="1050" dirty="0"/>
          </a:p>
        </p:txBody>
      </p:sp>
      <p:sp>
        <p:nvSpPr>
          <p:cNvPr id="165" name="Text 161"/>
          <p:cNvSpPr txBox="1"/>
          <p:nvPr/>
        </p:nvSpPr>
        <p:spPr>
          <a:xfrm>
            <a:off x="11506810" y="6338621"/>
            <a:ext cx="22768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9.1</a:t>
            </a:r>
            <a:endParaRPr lang="en-US" sz="900" dirty="0"/>
          </a:p>
        </p:txBody>
      </p:sp>
      <p:sp>
        <p:nvSpPr>
          <p:cNvPr id="166" name="Text 162"/>
          <p:cNvSpPr txBox="1"/>
          <p:nvPr/>
        </p:nvSpPr>
        <p:spPr>
          <a:xfrm>
            <a:off x="13461797" y="6310274"/>
            <a:ext cx="97840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9.71 / 9.12</a:t>
            </a:r>
            <a:endParaRPr lang="en-US" sz="1125" dirty="0"/>
          </a:p>
        </p:txBody>
      </p:sp>
      <p:sp>
        <p:nvSpPr>
          <p:cNvPr id="167" name="Text 163"/>
          <p:cNvSpPr txBox="1"/>
          <p:nvPr/>
        </p:nvSpPr>
        <p:spPr>
          <a:xfrm>
            <a:off x="14440205" y="6310274"/>
            <a:ext cx="10479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0.20 / 0.15</a:t>
            </a:r>
            <a:endParaRPr lang="en-US" sz="1125" dirty="0"/>
          </a:p>
        </p:txBody>
      </p:sp>
      <p:sp>
        <p:nvSpPr>
          <p:cNvPr id="168" name="Text 164"/>
          <p:cNvSpPr txBox="1"/>
          <p:nvPr/>
        </p:nvSpPr>
        <p:spPr>
          <a:xfrm>
            <a:off x="15488107" y="6310274"/>
            <a:ext cx="9144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0.6 / 0.5</a:t>
            </a:r>
            <a:endParaRPr lang="en-US" sz="1125" dirty="0"/>
          </a:p>
        </p:txBody>
      </p:sp>
      <p:sp>
        <p:nvSpPr>
          <p:cNvPr id="169" name="Text 165"/>
          <p:cNvSpPr txBox="1"/>
          <p:nvPr/>
        </p:nvSpPr>
        <p:spPr>
          <a:xfrm>
            <a:off x="16385134" y="6277356"/>
            <a:ext cx="495605" cy="247802"/>
          </a:xfrm>
          <a:prstGeom prst="rect">
            <a:avLst/>
          </a:prstGeom>
          <a:solidFill>
            <a:srgbClr val="6BE3A1">
              <a:alpha val="14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38100" rIns="762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+0.01</a:t>
            </a:r>
            <a:endParaRPr lang="en-US" sz="1050" dirty="0"/>
          </a:p>
        </p:txBody>
      </p:sp>
      <p:sp>
        <p:nvSpPr>
          <p:cNvPr id="170" name="Text 166"/>
          <p:cNvSpPr txBox="1"/>
          <p:nvPr/>
        </p:nvSpPr>
        <p:spPr>
          <a:xfrm>
            <a:off x="16933774" y="6277356"/>
            <a:ext cx="523951" cy="247802"/>
          </a:xfrm>
          <a:prstGeom prst="rect">
            <a:avLst/>
          </a:prstGeom>
          <a:solidFill>
            <a:srgbClr val="6BE3A1">
              <a:alpha val="14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38100" rIns="762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+0.02</a:t>
            </a:r>
            <a:endParaRPr lang="en-US" sz="1050" dirty="0"/>
          </a:p>
        </p:txBody>
      </p:sp>
      <p:sp>
        <p:nvSpPr>
          <p:cNvPr id="171" name="Text 167"/>
          <p:cNvSpPr txBox="1"/>
          <p:nvPr/>
        </p:nvSpPr>
        <p:spPr>
          <a:xfrm>
            <a:off x="990295" y="8591702"/>
            <a:ext cx="1638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63E6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172" name="Text 168"/>
          <p:cNvSpPr txBox="1"/>
          <p:nvPr/>
        </p:nvSpPr>
        <p:spPr>
          <a:xfrm>
            <a:off x="990295" y="8781898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r-SAUP는 M2 단계(AMI·ACI)에서 3σ 평균 0.18–0.30 nm 권역으로 SAUP 대비 약 30% 줄어들며, 모든 wafer의 Δ vs target이 ±0.10 nm 이내로 수렴한다.</a:t>
            </a:r>
            <a:endParaRPr lang="en-US" sz="1500" dirty="0"/>
          </a:p>
        </p:txBody>
      </p:sp>
      <p:sp>
        <p:nvSpPr>
          <p:cNvPr id="173" name="Text 169"/>
          <p:cNvSpPr txBox="1"/>
          <p:nvPr/>
        </p:nvSpPr>
        <p:spPr>
          <a:xfrm>
            <a:off x="761695" y="9924898"/>
            <a:ext cx="231434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※ 내부 테스트용 더미(가상) 데이터</a:t>
            </a:r>
            <a:endParaRPr lang="en-US" sz="975" dirty="0"/>
          </a:p>
        </p:txBody>
      </p:sp>
      <p:sp>
        <p:nvSpPr>
          <p:cNvPr id="174" name="Text 170"/>
          <p:cNvSpPr txBox="1"/>
          <p:nvPr/>
        </p:nvSpPr>
        <p:spPr>
          <a:xfrm>
            <a:off x="16074238" y="9963302"/>
            <a:ext cx="184617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74829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SLIDE / CD VARIATION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4d667db013277a43650383243565448a.png">    </p:cNvPr>
          <p:cNvPicPr>
            <a:picLocks noChangeAspect="1"/>
          </p:cNvPicPr>
          <p:nvPr/>
        </p:nvPicPr>
        <p:blipFill>
          <a:blip r:embed="rId1"/>
          <a:srcRect l="-385" r="-385" t="0" b="0"/>
          <a:stretch/>
        </p:blipFill>
        <p:spPr>
          <a:xfrm>
            <a:off x="761695" y="2495398"/>
            <a:ext cx="761695" cy="2834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2857500"/>
            <a:ext cx="8401507" cy="5544007"/>
          </a:xfrm>
          <a:prstGeom prst="rect">
            <a:avLst/>
          </a:prstGeom>
          <a:solidFill>
            <a:srgbClr val="13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028700" y="3372307"/>
            <a:ext cx="7867498" cy="2876702"/>
          </a:xfrm>
          <a:prstGeom prst="rect">
            <a:avLst/>
          </a:prstGeom>
          <a:solidFill>
            <a:srgbClr val="0F18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334195" y="2857500"/>
            <a:ext cx="8401507" cy="5544007"/>
          </a:xfrm>
          <a:prstGeom prst="rect">
            <a:avLst/>
          </a:prstGeom>
          <a:solidFill>
            <a:srgbClr val="13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601200" y="3372307"/>
            <a:ext cx="7867498" cy="2876702"/>
          </a:xfrm>
          <a:prstGeom prst="rect">
            <a:avLst/>
          </a:prstGeom>
          <a:solidFill>
            <a:srgbClr val="0F18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61695" y="8572500"/>
            <a:ext cx="16802100" cy="571500"/>
          </a:xfrm>
          <a:prstGeom prst="rect">
            <a:avLst/>
          </a:prstGeom>
          <a:solidFill>
            <a:srgbClr val="131C2E"/>
          </a:solidFill>
          <a:ln/>
        </p:spPr>
      </p:sp>
      <p:sp>
        <p:nvSpPr>
          <p:cNvPr id="9" name="Shape 5"/>
          <p:cNvSpPr/>
          <p:nvPr/>
        </p:nvSpPr>
        <p:spPr>
          <a:xfrm>
            <a:off x="761695" y="8572500"/>
            <a:ext cx="38405" cy="571500"/>
          </a:xfrm>
          <a:prstGeom prst="rect">
            <a:avLst/>
          </a:prstGeom>
          <a:solidFill>
            <a:srgbClr val="B197FC"/>
          </a:solidFill>
          <a:ln w="12700">
            <a:solidFill>
              <a:srgbClr val="B197FC">
                <a:alpha val="0"/>
              </a:srgbClr>
            </a:solidFill>
            <a:prstDash val="solid"/>
          </a:ln>
        </p:spPr>
      </p:sp>
      <p:pic>
        <p:nvPicPr>
          <p:cNvPr id="10" name="Image 1" descr="gen-dedup-57d6540dd3d8c9621f2a3e2ec04566e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3372307"/>
            <a:ext cx="7848295" cy="2857500"/>
          </a:xfrm>
          <a:prstGeom prst="rect">
            <a:avLst/>
          </a:prstGeom>
        </p:spPr>
      </p:pic>
      <p:pic>
        <p:nvPicPr>
          <p:cNvPr id="11" name="Image 2" descr="gen-dedup-5cfc2b21e913ca9d901599a64869fb9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3372307"/>
            <a:ext cx="7848295" cy="285750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05256" y="899770"/>
            <a:ext cx="57607" cy="57607"/>
          </a:xfrm>
          <a:prstGeom prst="ellipse">
            <a:avLst/>
          </a:prstGeom>
          <a:solidFill>
            <a:srgbClr val="B197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1037844" y="847649"/>
            <a:ext cx="2783434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B4C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· TEM OBSERVATION · 04</a:t>
            </a:r>
            <a:endParaRPr lang="en-US" sz="1050" dirty="0"/>
          </a:p>
        </p:txBody>
      </p:sp>
      <p:sp>
        <p:nvSpPr>
          <p:cNvPr id="14" name="Shape 8"/>
          <p:cNvSpPr/>
          <p:nvPr/>
        </p:nvSpPr>
        <p:spPr>
          <a:xfrm>
            <a:off x="761695" y="761695"/>
            <a:ext cx="2980944" cy="333756"/>
          </a:xfrm>
          <a:prstGeom prst="roundRect">
            <a:avLst>
              <a:gd name="adj" fmla="val 11507"/>
            </a:avLst>
          </a:prstGeom>
          <a:noFill/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61695" y="1218895"/>
            <a:ext cx="1562161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350" b="1" spc="-43" kern="0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단면 라인/스페이스 어레이 관찰</a:t>
            </a:r>
            <a:endParaRPr lang="en-US" sz="4350" dirty="0"/>
          </a:p>
        </p:txBody>
      </p:sp>
      <p:sp>
        <p:nvSpPr>
          <p:cNvPr id="16" name="Text 10"/>
          <p:cNvSpPr txBox="1"/>
          <p:nvPr/>
        </p:nvSpPr>
        <p:spPr>
          <a:xfrm>
            <a:off x="761695" y="1960474"/>
            <a:ext cx="163074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B4C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단면 사진 1매(SAUP split)와 top-view die-shot 1매(r-SAUP split)로 라인 형성 형상·결함 분포를 시각 비교한다 — 두 사진 모두 본문에 직접 삽입, 각 1줄 출처 명시.</a:t>
            </a:r>
            <a:endParaRPr lang="en-US" sz="1575" dirty="0"/>
          </a:p>
        </p:txBody>
      </p:sp>
      <p:sp>
        <p:nvSpPr>
          <p:cNvPr id="17" name="Text 11"/>
          <p:cNvSpPr txBox="1"/>
          <p:nvPr/>
        </p:nvSpPr>
        <p:spPr>
          <a:xfrm>
            <a:off x="1028700" y="3010205"/>
            <a:ext cx="294619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4FA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 / 단면 · CROSS-SECTION ARRAY</a:t>
            </a:r>
            <a:endParaRPr lang="en-US" sz="975" dirty="0"/>
          </a:p>
        </p:txBody>
      </p:sp>
      <p:sp>
        <p:nvSpPr>
          <p:cNvPr id="18" name="Text 12"/>
          <p:cNvSpPr txBox="1"/>
          <p:nvPr/>
        </p:nvSpPr>
        <p:spPr>
          <a:xfrm>
            <a:off x="6826910" y="3029407"/>
            <a:ext cx="24487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SAUP split · 4 pitch densities</a:t>
            </a:r>
            <a:endParaRPr lang="en-US" sz="975" dirty="0"/>
          </a:p>
        </p:txBody>
      </p:sp>
      <p:sp>
        <p:nvSpPr>
          <p:cNvPr id="19" name="Shape 13"/>
          <p:cNvSpPr/>
          <p:nvPr/>
        </p:nvSpPr>
        <p:spPr>
          <a:xfrm>
            <a:off x="1266444" y="3605479"/>
            <a:ext cx="57607" cy="57607"/>
          </a:xfrm>
          <a:prstGeom prst="rect">
            <a:avLst/>
          </a:prstGeom>
          <a:solidFill>
            <a:srgbClr val="4FA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1380744" y="3552444"/>
            <a:ext cx="1579169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dense → less dense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1143000" y="3486607"/>
            <a:ext cx="1619402" cy="295351"/>
          </a:xfrm>
          <a:prstGeom prst="rect">
            <a:avLst/>
          </a:prstGeom>
          <a:solidFill>
            <a:srgbClr val="0B1220">
              <a:alpha val="86000"/>
            </a:srgbClr>
          </a:solidFill>
          <a:ln w="12700">
            <a:solidFill>
              <a:srgbClr val="4FA3FF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1028700" y="6458407"/>
            <a:ext cx="78492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피치 density 변화에 따른 라인 형성 비교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1028700" y="6810451"/>
            <a:ext cx="78492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B4C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EUV 단일 exposure 한도 내에서 4가지 line/space pitch density를 한 strip에 보여주며, dense 영역으로 갈수록 라인 폭이 미세하게 비대칭으로 좁아지는 것이 시각적으로 드러난다.</a:t>
            </a:r>
            <a:endParaRPr lang="en-US" sz="1125" dirty="0"/>
          </a:p>
        </p:txBody>
      </p:sp>
      <p:sp>
        <p:nvSpPr>
          <p:cNvPr id="24" name="Text 18"/>
          <p:cNvSpPr txBox="1"/>
          <p:nvPr/>
        </p:nvSpPr>
        <p:spPr>
          <a:xfrm>
            <a:off x="1028700" y="7367321"/>
            <a:ext cx="838504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36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출처 · © imec, "Imec pushes the limits of EUV lithography single exposure for logic N5 metal layers" press release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9601200" y="3010205"/>
            <a:ext cx="305866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FFA9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 / Top-view · PLANAR DIE-SHOT</a:t>
            </a:r>
            <a:endParaRPr lang="en-US" sz="975" dirty="0"/>
          </a:p>
        </p:txBody>
      </p:sp>
      <p:sp>
        <p:nvSpPr>
          <p:cNvPr id="26" name="Text 20"/>
          <p:cNvSpPr txBox="1"/>
          <p:nvPr/>
        </p:nvSpPr>
        <p:spPr>
          <a:xfrm>
            <a:off x="15869412" y="3010205"/>
            <a:ext cx="188183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r-SAUP split reference</a:t>
            </a:r>
            <a:endParaRPr lang="en-US" sz="975" dirty="0"/>
          </a:p>
        </p:txBody>
      </p:sp>
      <p:sp>
        <p:nvSpPr>
          <p:cNvPr id="27" name="Shape 21"/>
          <p:cNvSpPr/>
          <p:nvPr/>
        </p:nvSpPr>
        <p:spPr>
          <a:xfrm>
            <a:off x="9838944" y="3600907"/>
            <a:ext cx="57607" cy="57607"/>
          </a:xfrm>
          <a:prstGeom prst="rect">
            <a:avLst/>
          </a:prstGeom>
          <a:solidFill>
            <a:srgbClr val="FFA9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9953244" y="3557930"/>
            <a:ext cx="168158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 14nm vs AMD 7nm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9715500" y="3491179"/>
            <a:ext cx="1819656" cy="276149"/>
          </a:xfrm>
          <a:prstGeom prst="rect">
            <a:avLst/>
          </a:prstGeom>
          <a:solidFill>
            <a:srgbClr val="0B1220">
              <a:alpha val="86000"/>
            </a:srgbClr>
          </a:solidFill>
          <a:ln w="12700">
            <a:solidFill>
              <a:srgbClr val="FFA94D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9601200" y="6458407"/>
            <a:ext cx="78492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Top-view 라인 주기성과 결함 분포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9601200" y="6810451"/>
            <a:ext cx="78492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B4C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실리콘 다이의 plan-view에서 metal layer 라인/트렌치의 주기성과 결함(cell broken, line open) 분포가 비교되며, 더 dense한 split 영역일수록 결함 셀 수가 감소한다.</a:t>
            </a:r>
            <a:endParaRPr lang="en-US" sz="1125" dirty="0"/>
          </a:p>
        </p:txBody>
      </p:sp>
      <p:sp>
        <p:nvSpPr>
          <p:cNvPr id="32" name="Text 26"/>
          <p:cNvSpPr txBox="1"/>
          <p:nvPr/>
        </p:nvSpPr>
        <p:spPr>
          <a:xfrm>
            <a:off x="9601200" y="7367321"/>
            <a:ext cx="78492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36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출처 · Reddit r/Amd, "A Comparison of AMD (TSMC) 7nm Under an electron microscope"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990295" y="8686800"/>
            <a:ext cx="1638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B19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34" name="Text 28"/>
          <p:cNvSpPr txBox="1"/>
          <p:nvPr/>
        </p:nvSpPr>
        <p:spPr>
          <a:xfrm>
            <a:off x="990295" y="8876995"/>
            <a:ext cx="170691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두 사진 모두 라인 형성 결함 없이 정상 박힘 — 단면 strip에서 dense 영역의 미세 비대칭과 top-view die-shot에서 cell broken 부재가 정량 데이터(r-SAUP 3σ ~ 0.20 nm)와 정합한다.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761695" y="9924898"/>
            <a:ext cx="231434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※ 내부 테스트용 더미(가상) 데이터</a:t>
            </a:r>
            <a:endParaRPr lang="en-US" sz="975" dirty="0"/>
          </a:p>
        </p:txBody>
      </p:sp>
      <p:sp>
        <p:nvSpPr>
          <p:cNvPr id="36" name="Text 30"/>
          <p:cNvSpPr txBox="1"/>
          <p:nvPr/>
        </p:nvSpPr>
        <p:spPr>
          <a:xfrm>
            <a:off x="16305581" y="9963302"/>
            <a:ext cx="1588313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74829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SLIDE / SEM · TEM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2fe04830cbf261e770cc0ef6a99d0f53.png">    </p:cNvPr>
          <p:cNvPicPr>
            <a:picLocks noChangeAspect="1"/>
          </p:cNvPicPr>
          <p:nvPr/>
        </p:nvPicPr>
        <p:blipFill>
          <a:blip r:embed="rId1"/>
          <a:srcRect l="-385" r="-385" t="0" b="0"/>
          <a:stretch/>
        </p:blipFill>
        <p:spPr>
          <a:xfrm>
            <a:off x="761695" y="2495398"/>
            <a:ext cx="761695" cy="2834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2857500"/>
            <a:ext cx="8401507" cy="5544007"/>
          </a:xfrm>
          <a:prstGeom prst="rect">
            <a:avLst/>
          </a:prstGeom>
          <a:solidFill>
            <a:srgbClr val="13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028700" y="6286500"/>
            <a:ext cx="7867498" cy="1828800"/>
          </a:xfrm>
          <a:prstGeom prst="rect">
            <a:avLst/>
          </a:prstGeom>
          <a:solidFill>
            <a:srgbClr val="0F18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334195" y="2857500"/>
            <a:ext cx="8401507" cy="5544007"/>
          </a:xfrm>
          <a:prstGeom prst="rect">
            <a:avLst/>
          </a:prstGeom>
          <a:solidFill>
            <a:srgbClr val="131C2E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7" name="Image 1" descr="gen-dedup-346411f4417a71f400ea558f62ba8a81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11239805" y="3847795"/>
            <a:ext cx="4762195" cy="3619195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1716207" y="4324198"/>
            <a:ext cx="3829507" cy="2686507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3550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2191695" y="4705502"/>
            <a:ext cx="2876702" cy="192389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355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761695" y="8572500"/>
            <a:ext cx="16802100" cy="571500"/>
          </a:xfrm>
          <a:prstGeom prst="rect">
            <a:avLst/>
          </a:prstGeom>
          <a:solidFill>
            <a:srgbClr val="131C2E"/>
          </a:solidFill>
          <a:ln/>
        </p:spPr>
      </p:sp>
      <p:sp>
        <p:nvSpPr>
          <p:cNvPr id="11" name="Shape 6"/>
          <p:cNvSpPr/>
          <p:nvPr/>
        </p:nvSpPr>
        <p:spPr>
          <a:xfrm>
            <a:off x="761695" y="8572500"/>
            <a:ext cx="38405" cy="571500"/>
          </a:xfrm>
          <a:prstGeom prst="rect">
            <a:avLst/>
          </a:prstGeom>
          <a:solidFill>
            <a:srgbClr val="63E6BE"/>
          </a:solidFill>
          <a:ln w="12700">
            <a:solidFill>
              <a:srgbClr val="63E6BE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11906402" y="3943807"/>
            <a:ext cx="267005" cy="267005"/>
          </a:xfrm>
          <a:prstGeom prst="ellipse">
            <a:avLst/>
          </a:prstGeom>
          <a:solidFill>
            <a:srgbClr val="74C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2763195" y="3943807"/>
            <a:ext cx="267005" cy="267005"/>
          </a:xfrm>
          <a:prstGeom prst="ellipse">
            <a:avLst/>
          </a:prstGeom>
          <a:solidFill>
            <a:srgbClr val="74C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13620902" y="3943807"/>
            <a:ext cx="267005" cy="267005"/>
          </a:xfrm>
          <a:prstGeom prst="ellipse">
            <a:avLst/>
          </a:prstGeom>
          <a:solidFill>
            <a:srgbClr val="6BE3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4477695" y="3943807"/>
            <a:ext cx="267005" cy="267005"/>
          </a:xfrm>
          <a:prstGeom prst="ellipse">
            <a:avLst/>
          </a:prstGeom>
          <a:solidFill>
            <a:srgbClr val="74C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5335402" y="3943807"/>
            <a:ext cx="267005" cy="267005"/>
          </a:xfrm>
          <a:prstGeom prst="ellipse">
            <a:avLst/>
          </a:prstGeom>
          <a:solidFill>
            <a:srgbClr val="FF8B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1906402" y="4800600"/>
            <a:ext cx="267005" cy="267005"/>
          </a:xfrm>
          <a:prstGeom prst="ellipse">
            <a:avLst/>
          </a:prstGeom>
          <a:solidFill>
            <a:srgbClr val="6BE3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12763195" y="4800600"/>
            <a:ext cx="267005" cy="267005"/>
          </a:xfrm>
          <a:prstGeom prst="ellipse">
            <a:avLst/>
          </a:prstGeom>
          <a:solidFill>
            <a:srgbClr val="6BE3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3620902" y="4800600"/>
            <a:ext cx="267005" cy="267005"/>
          </a:xfrm>
          <a:prstGeom prst="ellipse">
            <a:avLst/>
          </a:prstGeom>
          <a:solidFill>
            <a:srgbClr val="6BE3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4477695" y="4800600"/>
            <a:ext cx="267005" cy="267005"/>
          </a:xfrm>
          <a:prstGeom prst="ellipse">
            <a:avLst/>
          </a:prstGeom>
          <a:solidFill>
            <a:srgbClr val="6BE3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5335402" y="4800600"/>
            <a:ext cx="267005" cy="267005"/>
          </a:xfrm>
          <a:prstGeom prst="ellipse">
            <a:avLst/>
          </a:prstGeom>
          <a:solidFill>
            <a:srgbClr val="FFA9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1906402" y="5658307"/>
            <a:ext cx="267005" cy="267005"/>
          </a:xfrm>
          <a:prstGeom prst="ellipse">
            <a:avLst/>
          </a:prstGeom>
          <a:solidFill>
            <a:srgbClr val="74C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2763195" y="5658307"/>
            <a:ext cx="267005" cy="267005"/>
          </a:xfrm>
          <a:prstGeom prst="ellipse">
            <a:avLst/>
          </a:prstGeom>
          <a:solidFill>
            <a:srgbClr val="6BE3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4477695" y="5658307"/>
            <a:ext cx="267005" cy="267005"/>
          </a:xfrm>
          <a:prstGeom prst="ellipse">
            <a:avLst/>
          </a:prstGeom>
          <a:solidFill>
            <a:srgbClr val="6BE3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5335402" y="5658307"/>
            <a:ext cx="267005" cy="267005"/>
          </a:xfrm>
          <a:prstGeom prst="ellipse">
            <a:avLst/>
          </a:prstGeom>
          <a:solidFill>
            <a:srgbClr val="6BE3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1906402" y="6515100"/>
            <a:ext cx="267005" cy="267005"/>
          </a:xfrm>
          <a:prstGeom prst="ellipse">
            <a:avLst/>
          </a:prstGeom>
          <a:solidFill>
            <a:srgbClr val="FFA9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2763195" y="6515100"/>
            <a:ext cx="267005" cy="267005"/>
          </a:xfrm>
          <a:prstGeom prst="ellipse">
            <a:avLst/>
          </a:prstGeom>
          <a:solidFill>
            <a:srgbClr val="6BE3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3620902" y="6515100"/>
            <a:ext cx="267005" cy="267005"/>
          </a:xfrm>
          <a:prstGeom prst="ellipse">
            <a:avLst/>
          </a:prstGeom>
          <a:solidFill>
            <a:srgbClr val="6BE3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4477695" y="6515100"/>
            <a:ext cx="267005" cy="267005"/>
          </a:xfrm>
          <a:prstGeom prst="ellipse">
            <a:avLst/>
          </a:prstGeom>
          <a:solidFill>
            <a:srgbClr val="6BE3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15335402" y="6515100"/>
            <a:ext cx="267005" cy="267005"/>
          </a:xfrm>
          <a:prstGeom prst="ellipse">
            <a:avLst/>
          </a:prstGeom>
          <a:solidFill>
            <a:srgbClr val="FF8B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11906402" y="7372807"/>
            <a:ext cx="267005" cy="267005"/>
          </a:xfrm>
          <a:prstGeom prst="ellipse">
            <a:avLst/>
          </a:prstGeom>
          <a:solidFill>
            <a:srgbClr val="74C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12763195" y="7372807"/>
            <a:ext cx="267005" cy="267005"/>
          </a:xfrm>
          <a:prstGeom prst="ellipse">
            <a:avLst/>
          </a:prstGeom>
          <a:solidFill>
            <a:srgbClr val="74C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3620902" y="7372807"/>
            <a:ext cx="267005" cy="267005"/>
          </a:xfrm>
          <a:prstGeom prst="ellipse">
            <a:avLst/>
          </a:prstGeom>
          <a:solidFill>
            <a:srgbClr val="6BE3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4477695" y="7372807"/>
            <a:ext cx="267005" cy="267005"/>
          </a:xfrm>
          <a:prstGeom prst="ellipse">
            <a:avLst/>
          </a:prstGeom>
          <a:solidFill>
            <a:srgbClr val="6BE3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15335402" y="7372807"/>
            <a:ext cx="267005" cy="267005"/>
          </a:xfrm>
          <a:prstGeom prst="ellipse">
            <a:avLst/>
          </a:prstGeom>
          <a:solidFill>
            <a:srgbClr val="74C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13582498" y="7724851"/>
            <a:ext cx="75895" cy="133502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13487400" y="5524805"/>
            <a:ext cx="381305" cy="381305"/>
          </a:xfrm>
          <a:prstGeom prst="ellipse">
            <a:avLst/>
          </a:prstGeom>
          <a:solidFill>
            <a:srgbClr val="6BE3A1"/>
          </a:solidFill>
          <a:ln w="25400">
            <a:solidFill>
              <a:srgbClr val="E8EEF5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905256" y="899770"/>
            <a:ext cx="57607" cy="57607"/>
          </a:xfrm>
          <a:prstGeom prst="ellipse">
            <a:avLst/>
          </a:prstGeom>
          <a:solidFill>
            <a:srgbClr val="63E6B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1037844" y="847649"/>
            <a:ext cx="17273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B4C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UNIFORMITY · 05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761695" y="761695"/>
            <a:ext cx="1895551" cy="333756"/>
          </a:xfrm>
          <a:prstGeom prst="roundRect">
            <a:avLst>
              <a:gd name="adj" fmla="val 11507"/>
            </a:avLst>
          </a:prstGeom>
          <a:noFill/>
          <a:ln w="12700">
            <a:solidFill>
              <a:srgbClr val="2A3550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761695" y="1218895"/>
            <a:ext cx="142875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350" b="1" spc="-43" kern="0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Wafer 내 균일도 · 25-point map</a:t>
            </a:r>
            <a:endParaRPr lang="en-US" sz="4350" dirty="0"/>
          </a:p>
        </p:txBody>
      </p:sp>
      <p:sp>
        <p:nvSpPr>
          <p:cNvPr id="42" name="Text 37"/>
          <p:cNvSpPr txBox="1"/>
          <p:nvPr/>
        </p:nvSpPr>
        <p:spPr>
          <a:xfrm>
            <a:off x="761695" y="1960474"/>
            <a:ext cx="14287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B4C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r-SAUP split의 in-wafer 균일도와 25개 sample 위치 분포로 공간적 불균일 패턴을 정량화한다.</a:t>
            </a:r>
            <a:endParaRPr lang="en-US" sz="1575" dirty="0"/>
          </a:p>
        </p:txBody>
      </p:sp>
      <p:sp>
        <p:nvSpPr>
          <p:cNvPr id="43" name="Text 38"/>
          <p:cNvSpPr txBox="1"/>
          <p:nvPr/>
        </p:nvSpPr>
        <p:spPr>
          <a:xfrm>
            <a:off x="1028700" y="3010205"/>
            <a:ext cx="78492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63E6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좌측 · TABLE</a:t>
            </a:r>
            <a:endParaRPr lang="en-US" sz="975" dirty="0"/>
          </a:p>
        </p:txBody>
      </p:sp>
      <p:sp>
        <p:nvSpPr>
          <p:cNvPr id="44" name="Text 39"/>
          <p:cNvSpPr txBox="1"/>
          <p:nvPr/>
        </p:nvSpPr>
        <p:spPr>
          <a:xfrm>
            <a:off x="1028700" y="3228746"/>
            <a:ext cx="78492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r-SAUP split · wafer별 AMI/ACI 통계</a:t>
            </a:r>
            <a:endParaRPr lang="en-US" sz="1800" dirty="0"/>
          </a:p>
        </p:txBody>
      </p:sp>
      <p:sp>
        <p:nvSpPr>
          <p:cNvPr id="45" name="Text 40"/>
          <p:cNvSpPr txBox="1"/>
          <p:nvPr/>
        </p:nvSpPr>
        <p:spPr>
          <a:xfrm>
            <a:off x="1028700" y="3619195"/>
            <a:ext cx="78492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wafer당 25 sample, in-line CD-SEM 반복 측정</a:t>
            </a:r>
            <a:endParaRPr lang="en-US" sz="975" dirty="0"/>
          </a:p>
        </p:txBody>
      </p:sp>
      <p:sp>
        <p:nvSpPr>
          <p:cNvPr id="46" name="Shape 41"/>
          <p:cNvSpPr/>
          <p:nvPr/>
        </p:nvSpPr>
        <p:spPr>
          <a:xfrm>
            <a:off x="1028700" y="4438498"/>
            <a:ext cx="7848295" cy="9144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>
                <a:alpha val="0"/>
              </a:srgbClr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1028700" y="4076395"/>
            <a:ext cx="1047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Wafer</a:t>
            </a:r>
            <a:endParaRPr lang="en-US" sz="825" dirty="0"/>
          </a:p>
        </p:txBody>
      </p:sp>
      <p:sp>
        <p:nvSpPr>
          <p:cNvPr id="48" name="Text 43"/>
          <p:cNvSpPr txBox="1"/>
          <p:nvPr/>
        </p:nvSpPr>
        <p:spPr>
          <a:xfrm>
            <a:off x="2076602" y="4076395"/>
            <a:ext cx="13057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AMI mean</a:t>
            </a:r>
            <a:pPr algn="l" indent="0" marL="0">
              <a:buNone/>
            </a:pPr>
            <a:endParaRPr lang="en-US" sz="825" dirty="0"/>
          </a:p>
          <a:p>
            <a:pPr algn="l" indent="0" marL="0">
              <a:buNone/>
            </a:pPr>
            <a:r>
              <a:rPr lang="en-US" sz="800" spc="83" kern="0" dirty="0">
                <a:solidFill>
                  <a:srgbClr val="5C6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(nm)</a:t>
            </a:r>
            <a:endParaRPr lang="en-US" sz="825" dirty="0"/>
          </a:p>
        </p:txBody>
      </p:sp>
      <p:sp>
        <p:nvSpPr>
          <p:cNvPr id="49" name="Text 44"/>
          <p:cNvSpPr txBox="1"/>
          <p:nvPr/>
        </p:nvSpPr>
        <p:spPr>
          <a:xfrm>
            <a:off x="3381451" y="4076395"/>
            <a:ext cx="1047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3σ</a:t>
            </a:r>
            <a:endParaRPr lang="en-US" sz="825" dirty="0"/>
          </a:p>
        </p:txBody>
      </p:sp>
      <p:sp>
        <p:nvSpPr>
          <p:cNvPr id="50" name="Text 45"/>
          <p:cNvSpPr txBox="1"/>
          <p:nvPr/>
        </p:nvSpPr>
        <p:spPr>
          <a:xfrm>
            <a:off x="4429354" y="4076395"/>
            <a:ext cx="1047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Range</a:t>
            </a:r>
            <a:endParaRPr lang="en-US" sz="825" dirty="0"/>
          </a:p>
        </p:txBody>
      </p:sp>
      <p:sp>
        <p:nvSpPr>
          <p:cNvPr id="51" name="Text 46"/>
          <p:cNvSpPr txBox="1"/>
          <p:nvPr/>
        </p:nvSpPr>
        <p:spPr>
          <a:xfrm>
            <a:off x="5477256" y="4076395"/>
            <a:ext cx="13057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ACI mean</a:t>
            </a:r>
            <a:pPr algn="l" indent="0" marL="0">
              <a:buNone/>
            </a:pPr>
            <a:endParaRPr lang="en-US" sz="825" dirty="0"/>
          </a:p>
          <a:p>
            <a:pPr algn="l" indent="0" marL="0">
              <a:buNone/>
            </a:pPr>
            <a:r>
              <a:rPr lang="en-US" sz="800" spc="83" kern="0" dirty="0">
                <a:solidFill>
                  <a:srgbClr val="5C6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(nm)</a:t>
            </a:r>
            <a:endParaRPr lang="en-US" sz="825" dirty="0"/>
          </a:p>
        </p:txBody>
      </p:sp>
      <p:sp>
        <p:nvSpPr>
          <p:cNvPr id="52" name="Text 47"/>
          <p:cNvSpPr txBox="1"/>
          <p:nvPr/>
        </p:nvSpPr>
        <p:spPr>
          <a:xfrm>
            <a:off x="6782105" y="4076395"/>
            <a:ext cx="1047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3σ</a:t>
            </a:r>
            <a:endParaRPr lang="en-US" sz="825" dirty="0"/>
          </a:p>
        </p:txBody>
      </p:sp>
      <p:sp>
        <p:nvSpPr>
          <p:cNvPr id="53" name="Text 48"/>
          <p:cNvSpPr txBox="1"/>
          <p:nvPr/>
        </p:nvSpPr>
        <p:spPr>
          <a:xfrm>
            <a:off x="7830007" y="4076395"/>
            <a:ext cx="1047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Range</a:t>
            </a:r>
            <a:endParaRPr lang="en-US" sz="825" dirty="0"/>
          </a:p>
        </p:txBody>
      </p:sp>
      <p:sp>
        <p:nvSpPr>
          <p:cNvPr id="54" name="Shape 49"/>
          <p:cNvSpPr/>
          <p:nvPr/>
        </p:nvSpPr>
        <p:spPr>
          <a:xfrm>
            <a:off x="1028700" y="4810658"/>
            <a:ext cx="7848295" cy="9144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>
                <a:alpha val="0"/>
              </a:srgbClr>
            </a:solidFill>
            <a:prstDash val="solid"/>
          </a:ln>
        </p:spPr>
      </p:sp>
      <p:sp>
        <p:nvSpPr>
          <p:cNvPr id="55" name="Text 50"/>
          <p:cNvSpPr txBox="1"/>
          <p:nvPr/>
        </p:nvSpPr>
        <p:spPr>
          <a:xfrm>
            <a:off x="1028700" y="4457700"/>
            <a:ext cx="10479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A94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r-W01</a:t>
            </a:r>
            <a:endParaRPr lang="en-US" sz="1350" dirty="0"/>
          </a:p>
        </p:txBody>
      </p:sp>
      <p:sp>
        <p:nvSpPr>
          <p:cNvPr id="56" name="Text 51"/>
          <p:cNvSpPr txBox="1"/>
          <p:nvPr/>
        </p:nvSpPr>
        <p:spPr>
          <a:xfrm>
            <a:off x="2076602" y="4457700"/>
            <a:ext cx="1305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9.74</a:t>
            </a:r>
            <a:endParaRPr lang="en-US" sz="1350" dirty="0"/>
          </a:p>
        </p:txBody>
      </p:sp>
      <p:sp>
        <p:nvSpPr>
          <p:cNvPr id="57" name="Text 52"/>
          <p:cNvSpPr txBox="1"/>
          <p:nvPr/>
        </p:nvSpPr>
        <p:spPr>
          <a:xfrm>
            <a:off x="3381451" y="4466844"/>
            <a:ext cx="10479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0.30</a:t>
            </a:r>
            <a:endParaRPr lang="en-US" sz="1200" dirty="0"/>
          </a:p>
        </p:txBody>
      </p:sp>
      <p:sp>
        <p:nvSpPr>
          <p:cNvPr id="58" name="Text 53"/>
          <p:cNvSpPr txBox="1"/>
          <p:nvPr/>
        </p:nvSpPr>
        <p:spPr>
          <a:xfrm>
            <a:off x="4429354" y="4466844"/>
            <a:ext cx="10479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1.0</a:t>
            </a:r>
            <a:endParaRPr lang="en-US" sz="1200" dirty="0"/>
          </a:p>
        </p:txBody>
      </p:sp>
      <p:sp>
        <p:nvSpPr>
          <p:cNvPr id="59" name="Text 54"/>
          <p:cNvSpPr txBox="1"/>
          <p:nvPr/>
        </p:nvSpPr>
        <p:spPr>
          <a:xfrm>
            <a:off x="5477256" y="4457700"/>
            <a:ext cx="1305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9.16</a:t>
            </a:r>
            <a:endParaRPr lang="en-US" sz="1350" dirty="0"/>
          </a:p>
        </p:txBody>
      </p:sp>
      <p:sp>
        <p:nvSpPr>
          <p:cNvPr id="60" name="Text 55"/>
          <p:cNvSpPr txBox="1"/>
          <p:nvPr/>
        </p:nvSpPr>
        <p:spPr>
          <a:xfrm>
            <a:off x="6782105" y="4466844"/>
            <a:ext cx="10479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0.24</a:t>
            </a:r>
            <a:endParaRPr lang="en-US" sz="1200" dirty="0"/>
          </a:p>
        </p:txBody>
      </p:sp>
      <p:sp>
        <p:nvSpPr>
          <p:cNvPr id="61" name="Text 56"/>
          <p:cNvSpPr txBox="1"/>
          <p:nvPr/>
        </p:nvSpPr>
        <p:spPr>
          <a:xfrm>
            <a:off x="7830007" y="4466844"/>
            <a:ext cx="10479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0.8</a:t>
            </a:r>
            <a:endParaRPr lang="en-US" sz="1200" dirty="0"/>
          </a:p>
        </p:txBody>
      </p:sp>
      <p:sp>
        <p:nvSpPr>
          <p:cNvPr id="62" name="Shape 57"/>
          <p:cNvSpPr/>
          <p:nvPr/>
        </p:nvSpPr>
        <p:spPr>
          <a:xfrm>
            <a:off x="1028700" y="4819802"/>
            <a:ext cx="7848295" cy="495605"/>
          </a:xfrm>
          <a:prstGeom prst="rect">
            <a:avLst/>
          </a:prstGeom>
          <a:solidFill>
            <a:srgbClr val="63E6BE">
              <a:alpha val="6000"/>
            </a:srgbClr>
          </a:solidFill>
          <a:ln/>
        </p:spPr>
      </p:sp>
      <p:sp>
        <p:nvSpPr>
          <p:cNvPr id="63" name="Shape 58"/>
          <p:cNvSpPr/>
          <p:nvPr/>
        </p:nvSpPr>
        <p:spPr>
          <a:xfrm>
            <a:off x="1028700" y="5306263"/>
            <a:ext cx="7848295" cy="9144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>
                <a:alpha val="0"/>
              </a:srgbClr>
            </a:solidFill>
            <a:prstDash val="solid"/>
          </a:ln>
        </p:spPr>
      </p:sp>
      <p:sp>
        <p:nvSpPr>
          <p:cNvPr id="64" name="Text 59"/>
          <p:cNvSpPr txBox="1"/>
          <p:nvPr/>
        </p:nvSpPr>
        <p:spPr>
          <a:xfrm>
            <a:off x="1028700" y="4953305"/>
            <a:ext cx="10479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A94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r-W02</a:t>
            </a:r>
            <a:endParaRPr lang="en-US" sz="1350" dirty="0"/>
          </a:p>
        </p:txBody>
      </p:sp>
      <p:sp>
        <p:nvSpPr>
          <p:cNvPr id="65" name="Text 60"/>
          <p:cNvSpPr txBox="1"/>
          <p:nvPr/>
        </p:nvSpPr>
        <p:spPr>
          <a:xfrm>
            <a:off x="2076602" y="4953305"/>
            <a:ext cx="1305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9.66</a:t>
            </a:r>
            <a:endParaRPr lang="en-US" sz="1350" dirty="0"/>
          </a:p>
        </p:txBody>
      </p:sp>
      <p:sp>
        <p:nvSpPr>
          <p:cNvPr id="66" name="Text 61"/>
          <p:cNvSpPr txBox="1"/>
          <p:nvPr/>
        </p:nvSpPr>
        <p:spPr>
          <a:xfrm>
            <a:off x="3381451" y="4962449"/>
            <a:ext cx="10479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0.22</a:t>
            </a:r>
            <a:endParaRPr lang="en-US" sz="1200" dirty="0"/>
          </a:p>
        </p:txBody>
      </p:sp>
      <p:sp>
        <p:nvSpPr>
          <p:cNvPr id="67" name="Text 62"/>
          <p:cNvSpPr txBox="1"/>
          <p:nvPr/>
        </p:nvSpPr>
        <p:spPr>
          <a:xfrm>
            <a:off x="4429354" y="4962449"/>
            <a:ext cx="10479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0.7</a:t>
            </a:r>
            <a:endParaRPr lang="en-US" sz="1200" dirty="0"/>
          </a:p>
        </p:txBody>
      </p:sp>
      <p:sp>
        <p:nvSpPr>
          <p:cNvPr id="68" name="Text 63"/>
          <p:cNvSpPr txBox="1"/>
          <p:nvPr/>
        </p:nvSpPr>
        <p:spPr>
          <a:xfrm>
            <a:off x="5477256" y="4953305"/>
            <a:ext cx="1305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9.07</a:t>
            </a:r>
            <a:endParaRPr lang="en-US" sz="1350" dirty="0"/>
          </a:p>
        </p:txBody>
      </p:sp>
      <p:sp>
        <p:nvSpPr>
          <p:cNvPr id="69" name="Text 64"/>
          <p:cNvSpPr txBox="1"/>
          <p:nvPr/>
        </p:nvSpPr>
        <p:spPr>
          <a:xfrm>
            <a:off x="6782105" y="4962449"/>
            <a:ext cx="10479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0.18</a:t>
            </a:r>
            <a:endParaRPr lang="en-US" sz="1200" dirty="0"/>
          </a:p>
        </p:txBody>
      </p:sp>
      <p:sp>
        <p:nvSpPr>
          <p:cNvPr id="70" name="Text 65"/>
          <p:cNvSpPr txBox="1"/>
          <p:nvPr/>
        </p:nvSpPr>
        <p:spPr>
          <a:xfrm>
            <a:off x="7830007" y="4962449"/>
            <a:ext cx="10479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0.6</a:t>
            </a:r>
            <a:endParaRPr lang="en-US" sz="1200" dirty="0"/>
          </a:p>
        </p:txBody>
      </p:sp>
      <p:sp>
        <p:nvSpPr>
          <p:cNvPr id="71" name="Text 66"/>
          <p:cNvSpPr txBox="1"/>
          <p:nvPr/>
        </p:nvSpPr>
        <p:spPr>
          <a:xfrm>
            <a:off x="1028700" y="5447995"/>
            <a:ext cx="10479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A94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r-W03</a:t>
            </a:r>
            <a:endParaRPr lang="en-US" sz="1350" dirty="0"/>
          </a:p>
        </p:txBody>
      </p:sp>
      <p:sp>
        <p:nvSpPr>
          <p:cNvPr id="72" name="Text 67"/>
          <p:cNvSpPr txBox="1"/>
          <p:nvPr/>
        </p:nvSpPr>
        <p:spPr>
          <a:xfrm>
            <a:off x="2076602" y="5447995"/>
            <a:ext cx="1305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9.71</a:t>
            </a:r>
            <a:endParaRPr lang="en-US" sz="1350" dirty="0"/>
          </a:p>
        </p:txBody>
      </p:sp>
      <p:sp>
        <p:nvSpPr>
          <p:cNvPr id="73" name="Text 68"/>
          <p:cNvSpPr txBox="1"/>
          <p:nvPr/>
        </p:nvSpPr>
        <p:spPr>
          <a:xfrm>
            <a:off x="3381451" y="5458054"/>
            <a:ext cx="10479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0.20</a:t>
            </a:r>
            <a:endParaRPr lang="en-US" sz="1200" dirty="0"/>
          </a:p>
        </p:txBody>
      </p:sp>
      <p:sp>
        <p:nvSpPr>
          <p:cNvPr id="74" name="Text 69"/>
          <p:cNvSpPr txBox="1"/>
          <p:nvPr/>
        </p:nvSpPr>
        <p:spPr>
          <a:xfrm>
            <a:off x="4429354" y="5458054"/>
            <a:ext cx="10479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0.6</a:t>
            </a:r>
            <a:endParaRPr lang="en-US" sz="1200" dirty="0"/>
          </a:p>
        </p:txBody>
      </p:sp>
      <p:sp>
        <p:nvSpPr>
          <p:cNvPr id="75" name="Text 70"/>
          <p:cNvSpPr txBox="1"/>
          <p:nvPr/>
        </p:nvSpPr>
        <p:spPr>
          <a:xfrm>
            <a:off x="5477256" y="5447995"/>
            <a:ext cx="1305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9.12</a:t>
            </a:r>
            <a:endParaRPr lang="en-US" sz="1350" dirty="0"/>
          </a:p>
        </p:txBody>
      </p:sp>
      <p:sp>
        <p:nvSpPr>
          <p:cNvPr id="76" name="Text 71"/>
          <p:cNvSpPr txBox="1"/>
          <p:nvPr/>
        </p:nvSpPr>
        <p:spPr>
          <a:xfrm>
            <a:off x="6782105" y="5458054"/>
            <a:ext cx="10479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0.15</a:t>
            </a:r>
            <a:endParaRPr lang="en-US" sz="1200" dirty="0"/>
          </a:p>
        </p:txBody>
      </p:sp>
      <p:sp>
        <p:nvSpPr>
          <p:cNvPr id="77" name="Text 72"/>
          <p:cNvSpPr txBox="1"/>
          <p:nvPr/>
        </p:nvSpPr>
        <p:spPr>
          <a:xfrm>
            <a:off x="7830007" y="5458054"/>
            <a:ext cx="10479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0.5</a:t>
            </a:r>
            <a:endParaRPr lang="en-US" sz="1200" dirty="0"/>
          </a:p>
        </p:txBody>
      </p:sp>
      <p:sp>
        <p:nvSpPr>
          <p:cNvPr id="78" name="Text 73"/>
          <p:cNvSpPr txBox="1"/>
          <p:nvPr/>
        </p:nvSpPr>
        <p:spPr>
          <a:xfrm>
            <a:off x="1295705" y="6495898"/>
            <a:ext cx="73152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63E6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wafer 평균 · SUMMARY</a:t>
            </a:r>
            <a:endParaRPr lang="en-US" sz="975" dirty="0"/>
          </a:p>
        </p:txBody>
      </p:sp>
      <p:sp>
        <p:nvSpPr>
          <p:cNvPr id="79" name="Text 74"/>
          <p:cNvSpPr txBox="1"/>
          <p:nvPr/>
        </p:nvSpPr>
        <p:spPr>
          <a:xfrm>
            <a:off x="1295705" y="6810451"/>
            <a:ext cx="23244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AMI 평균 (3-wafer avg)</a:t>
            </a:r>
            <a:endParaRPr lang="en-US" sz="975" dirty="0"/>
          </a:p>
        </p:txBody>
      </p:sp>
      <p:sp>
        <p:nvSpPr>
          <p:cNvPr id="80" name="Text 75"/>
          <p:cNvSpPr txBox="1"/>
          <p:nvPr/>
        </p:nvSpPr>
        <p:spPr>
          <a:xfrm>
            <a:off x="1295705" y="7048195"/>
            <a:ext cx="232440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9.70 </a:t>
            </a:r>
            <a:pPr algn="l"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nm</a:t>
            </a:r>
            <a:endParaRPr lang="en-US" sz="2250" dirty="0"/>
          </a:p>
        </p:txBody>
      </p:sp>
      <p:sp>
        <p:nvSpPr>
          <p:cNvPr id="81" name="Text 76"/>
          <p:cNvSpPr txBox="1"/>
          <p:nvPr/>
        </p:nvSpPr>
        <p:spPr>
          <a:xfrm>
            <a:off x="1295705" y="7420356"/>
            <a:ext cx="23244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9.7 · Δ +0.00</a:t>
            </a:r>
            <a:endParaRPr lang="en-US" sz="900" dirty="0"/>
          </a:p>
        </p:txBody>
      </p:sp>
      <p:sp>
        <p:nvSpPr>
          <p:cNvPr id="82" name="Text 77"/>
          <p:cNvSpPr txBox="1"/>
          <p:nvPr/>
        </p:nvSpPr>
        <p:spPr>
          <a:xfrm>
            <a:off x="3791102" y="6810451"/>
            <a:ext cx="23244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AMI 3σ 평균</a:t>
            </a:r>
            <a:endParaRPr lang="en-US" sz="975" dirty="0"/>
          </a:p>
        </p:txBody>
      </p:sp>
      <p:sp>
        <p:nvSpPr>
          <p:cNvPr id="83" name="Text 78"/>
          <p:cNvSpPr txBox="1"/>
          <p:nvPr/>
        </p:nvSpPr>
        <p:spPr>
          <a:xfrm>
            <a:off x="3791102" y="7048195"/>
            <a:ext cx="232440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3E6B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0.24 </a:t>
            </a:r>
            <a:pPr algn="l"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nm</a:t>
            </a:r>
            <a:endParaRPr lang="en-US" sz="2250" dirty="0"/>
          </a:p>
        </p:txBody>
      </p:sp>
      <p:sp>
        <p:nvSpPr>
          <p:cNvPr id="84" name="Text 79"/>
          <p:cNvSpPr txBox="1"/>
          <p:nvPr/>
        </p:nvSpPr>
        <p:spPr>
          <a:xfrm>
            <a:off x="3791102" y="7420356"/>
            <a:ext cx="23244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SAUP 대비 −28%</a:t>
            </a:r>
            <a:endParaRPr lang="en-US" sz="900" dirty="0"/>
          </a:p>
        </p:txBody>
      </p:sp>
      <p:sp>
        <p:nvSpPr>
          <p:cNvPr id="85" name="Text 80"/>
          <p:cNvSpPr txBox="1"/>
          <p:nvPr/>
        </p:nvSpPr>
        <p:spPr>
          <a:xfrm>
            <a:off x="6286500" y="6810451"/>
            <a:ext cx="23244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Within ±0.10 nm</a:t>
            </a:r>
            <a:endParaRPr lang="en-US" sz="975" dirty="0"/>
          </a:p>
        </p:txBody>
      </p:sp>
      <p:sp>
        <p:nvSpPr>
          <p:cNvPr id="86" name="Text 81"/>
          <p:cNvSpPr txBox="1"/>
          <p:nvPr/>
        </p:nvSpPr>
        <p:spPr>
          <a:xfrm>
            <a:off x="6286500" y="7019849"/>
            <a:ext cx="232440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3E6B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71 / 75</a:t>
            </a:r>
            <a:endParaRPr lang="en-US" sz="2250" dirty="0"/>
          </a:p>
        </p:txBody>
      </p:sp>
      <p:sp>
        <p:nvSpPr>
          <p:cNvPr id="87" name="Text 82"/>
          <p:cNvSpPr txBox="1"/>
          <p:nvPr/>
        </p:nvSpPr>
        <p:spPr>
          <a:xfrm>
            <a:off x="6286500" y="7391095"/>
            <a:ext cx="23244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wafer × 25 pt</a:t>
            </a:r>
            <a:endParaRPr lang="en-US" sz="900" dirty="0"/>
          </a:p>
        </p:txBody>
      </p:sp>
      <p:sp>
        <p:nvSpPr>
          <p:cNvPr id="88" name="Text 83"/>
          <p:cNvSpPr txBox="1"/>
          <p:nvPr/>
        </p:nvSpPr>
        <p:spPr>
          <a:xfrm>
            <a:off x="9601200" y="3010205"/>
            <a:ext cx="254386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B19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우측 · 25-POINT MAP</a:t>
            </a:r>
            <a:endParaRPr lang="en-US" sz="975" dirty="0"/>
          </a:p>
        </p:txBody>
      </p:sp>
      <p:sp>
        <p:nvSpPr>
          <p:cNvPr id="89" name="Text 84"/>
          <p:cNvSpPr txBox="1"/>
          <p:nvPr/>
        </p:nvSpPr>
        <p:spPr>
          <a:xfrm>
            <a:off x="9601200" y="3228746"/>
            <a:ext cx="302666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r-W02 · AMI Δ vs 9.7 nm</a:t>
            </a:r>
            <a:endParaRPr lang="en-US" sz="1800" dirty="0"/>
          </a:p>
        </p:txBody>
      </p:sp>
      <p:sp>
        <p:nvSpPr>
          <p:cNvPr id="90" name="Text 85"/>
          <p:cNvSpPr txBox="1"/>
          <p:nvPr/>
        </p:nvSpPr>
        <p:spPr>
          <a:xfrm>
            <a:off x="15938906" y="3029407"/>
            <a:ext cx="176936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dummy wafer · 25 sample</a:t>
            </a:r>
            <a:endParaRPr lang="en-US" sz="975" dirty="0"/>
          </a:p>
        </p:txBody>
      </p:sp>
      <p:sp>
        <p:nvSpPr>
          <p:cNvPr id="91" name="Text 86"/>
          <p:cNvSpPr txBox="1"/>
          <p:nvPr/>
        </p:nvSpPr>
        <p:spPr>
          <a:xfrm>
            <a:off x="9601200" y="7915046"/>
            <a:ext cx="976579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 vs target</a:t>
            </a:r>
            <a:endParaRPr lang="en-US" sz="900" dirty="0"/>
          </a:p>
        </p:txBody>
      </p:sp>
      <p:sp>
        <p:nvSpPr>
          <p:cNvPr id="92" name="Shape 87"/>
          <p:cNvSpPr/>
          <p:nvPr/>
        </p:nvSpPr>
        <p:spPr>
          <a:xfrm>
            <a:off x="10558577" y="7919618"/>
            <a:ext cx="133502" cy="133502"/>
          </a:xfrm>
          <a:prstGeom prst="ellipse">
            <a:avLst/>
          </a:prstGeom>
          <a:solidFill>
            <a:srgbClr val="FF8B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Text 88"/>
          <p:cNvSpPr txBox="1"/>
          <p:nvPr/>
        </p:nvSpPr>
        <p:spPr>
          <a:xfrm>
            <a:off x="10749686" y="7905902"/>
            <a:ext cx="786384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≤ −0.20 nm</a:t>
            </a:r>
            <a:endParaRPr lang="en-US" sz="900" dirty="0"/>
          </a:p>
        </p:txBody>
      </p:sp>
      <p:sp>
        <p:nvSpPr>
          <p:cNvPr id="94" name="Shape 89"/>
          <p:cNvSpPr/>
          <p:nvPr/>
        </p:nvSpPr>
        <p:spPr>
          <a:xfrm>
            <a:off x="11605565" y="7919618"/>
            <a:ext cx="133502" cy="133502"/>
          </a:xfrm>
          <a:prstGeom prst="ellipse">
            <a:avLst/>
          </a:prstGeom>
          <a:solidFill>
            <a:srgbClr val="74C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Text 90"/>
          <p:cNvSpPr txBox="1"/>
          <p:nvPr/>
        </p:nvSpPr>
        <p:spPr>
          <a:xfrm>
            <a:off x="11795760" y="7915046"/>
            <a:ext cx="100492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−0.10 ~ −0.20</a:t>
            </a:r>
            <a:endParaRPr lang="en-US" sz="900" dirty="0"/>
          </a:p>
        </p:txBody>
      </p:sp>
      <p:sp>
        <p:nvSpPr>
          <p:cNvPr id="96" name="Shape 91"/>
          <p:cNvSpPr/>
          <p:nvPr/>
        </p:nvSpPr>
        <p:spPr>
          <a:xfrm>
            <a:off x="12733020" y="7919618"/>
            <a:ext cx="133502" cy="133502"/>
          </a:xfrm>
          <a:prstGeom prst="ellipse">
            <a:avLst/>
          </a:prstGeom>
          <a:solidFill>
            <a:srgbClr val="6BE3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12923215" y="7905902"/>
            <a:ext cx="71140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±0.10 이내</a:t>
            </a:r>
            <a:endParaRPr lang="en-US" sz="900" dirty="0"/>
          </a:p>
        </p:txBody>
      </p:sp>
      <p:sp>
        <p:nvSpPr>
          <p:cNvPr id="98" name="Shape 93"/>
          <p:cNvSpPr/>
          <p:nvPr/>
        </p:nvSpPr>
        <p:spPr>
          <a:xfrm>
            <a:off x="13642848" y="7919618"/>
            <a:ext cx="133502" cy="133502"/>
          </a:xfrm>
          <a:prstGeom prst="ellipse">
            <a:avLst/>
          </a:prstGeom>
          <a:solidFill>
            <a:srgbClr val="FFA9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Text 94"/>
          <p:cNvSpPr txBox="1"/>
          <p:nvPr/>
        </p:nvSpPr>
        <p:spPr>
          <a:xfrm>
            <a:off x="13833043" y="7915046"/>
            <a:ext cx="100492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+0.10 ~ +0.20</a:t>
            </a:r>
            <a:endParaRPr lang="en-US" sz="900" dirty="0"/>
          </a:p>
        </p:txBody>
      </p:sp>
      <p:sp>
        <p:nvSpPr>
          <p:cNvPr id="100" name="Text 95"/>
          <p:cNvSpPr txBox="1"/>
          <p:nvPr/>
        </p:nvSpPr>
        <p:spPr>
          <a:xfrm>
            <a:off x="990295" y="8686800"/>
            <a:ext cx="1638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63E6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101" name="Text 96"/>
          <p:cNvSpPr txBox="1"/>
          <p:nvPr/>
        </p:nvSpPr>
        <p:spPr>
          <a:xfrm>
            <a:off x="990295" y="88769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25점 중 21점이 ±0.10 nm 내녹색으로 나오며, 우측 외곽 2점에서 max −0.28 nm까지 벗어나지만 spec window 내 — wafer edge에 비대칭이 약하게 남아있다.</a:t>
            </a:r>
            <a:endParaRPr lang="en-US" sz="1500" dirty="0"/>
          </a:p>
        </p:txBody>
      </p:sp>
      <p:sp>
        <p:nvSpPr>
          <p:cNvPr id="102" name="Text 97"/>
          <p:cNvSpPr txBox="1"/>
          <p:nvPr/>
        </p:nvSpPr>
        <p:spPr>
          <a:xfrm>
            <a:off x="761695" y="9924898"/>
            <a:ext cx="231434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※ 내부 테스트용 더미(가상) 데이터</a:t>
            </a:r>
            <a:endParaRPr lang="en-US" sz="975" dirty="0"/>
          </a:p>
        </p:txBody>
      </p:sp>
      <p:sp>
        <p:nvSpPr>
          <p:cNvPr id="103" name="Text 98"/>
          <p:cNvSpPr txBox="1"/>
          <p:nvPr/>
        </p:nvSpPr>
        <p:spPr>
          <a:xfrm>
            <a:off x="15852953" y="9963302"/>
            <a:ext cx="1890979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74829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SLIDE / UNIFORMITY MAP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bebcddb750dc70a2a7fd8d7641deb802.png">    </p:cNvPr>
          <p:cNvPicPr>
            <a:picLocks noChangeAspect="1"/>
          </p:cNvPicPr>
          <p:nvPr/>
        </p:nvPicPr>
        <p:blipFill>
          <a:blip r:embed="rId1"/>
          <a:srcRect l="-385" r="-385" t="0" b="0"/>
          <a:stretch/>
        </p:blipFill>
        <p:spPr>
          <a:xfrm>
            <a:off x="761695" y="2495398"/>
            <a:ext cx="761695" cy="2834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2857500"/>
            <a:ext cx="8401507" cy="5562295"/>
          </a:xfrm>
          <a:prstGeom prst="rect">
            <a:avLst/>
          </a:prstGeom>
          <a:solidFill>
            <a:srgbClr val="13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61695" y="2857500"/>
            <a:ext cx="8401507" cy="28346"/>
          </a:xfrm>
          <a:prstGeom prst="rect">
            <a:avLst/>
          </a:prstGeom>
          <a:solidFill>
            <a:srgbClr val="4FA3FF"/>
          </a:solidFill>
          <a:ln w="12700">
            <a:solidFill>
              <a:srgbClr val="4FA3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334195" y="2857500"/>
            <a:ext cx="8401507" cy="5562295"/>
          </a:xfrm>
          <a:prstGeom prst="rect">
            <a:avLst/>
          </a:prstGeom>
          <a:solidFill>
            <a:srgbClr val="13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334195" y="2857500"/>
            <a:ext cx="8401507" cy="28346"/>
          </a:xfrm>
          <a:prstGeom prst="rect">
            <a:avLst/>
          </a:prstGeom>
          <a:solidFill>
            <a:srgbClr val="FFA94D"/>
          </a:solidFill>
          <a:ln w="12700">
            <a:solidFill>
              <a:srgbClr val="FFA94D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61695" y="8572500"/>
            <a:ext cx="16802100" cy="571500"/>
          </a:xfrm>
          <a:prstGeom prst="rect">
            <a:avLst/>
          </a:prstGeom>
          <a:solidFill>
            <a:srgbClr val="131C2E"/>
          </a:solidFill>
          <a:ln/>
        </p:spPr>
      </p:sp>
      <p:sp>
        <p:nvSpPr>
          <p:cNvPr id="9" name="Shape 5"/>
          <p:cNvSpPr/>
          <p:nvPr/>
        </p:nvSpPr>
        <p:spPr>
          <a:xfrm>
            <a:off x="761695" y="8572500"/>
            <a:ext cx="38405" cy="571500"/>
          </a:xfrm>
          <a:prstGeom prst="rect">
            <a:avLst/>
          </a:prstGeom>
          <a:solidFill>
            <a:srgbClr val="4FA3FF"/>
          </a:solidFill>
          <a:ln w="12700">
            <a:solidFill>
              <a:srgbClr val="4FA3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05256" y="899770"/>
            <a:ext cx="57607" cy="57607"/>
          </a:xfrm>
          <a:prstGeom prst="ellipse">
            <a:avLst/>
          </a:prstGeom>
          <a:solidFill>
            <a:srgbClr val="4FA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37844" y="847649"/>
            <a:ext cx="17273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B4C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ELECTRICAL · 06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61695" y="761695"/>
            <a:ext cx="1867205" cy="333756"/>
          </a:xfrm>
          <a:prstGeom prst="roundRect">
            <a:avLst>
              <a:gd name="adj" fmla="val 11507"/>
            </a:avLst>
          </a:prstGeom>
          <a:noFill/>
          <a:ln w="12700">
            <a:solidFill>
              <a:srgbClr val="2A355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61695" y="1218895"/>
            <a:ext cx="1562161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350" b="1" spc="-43" kern="0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전기 특성 평가 · Electrical Characteristics</a:t>
            </a:r>
            <a:endParaRPr lang="en-US" sz="4350" dirty="0"/>
          </a:p>
        </p:txBody>
      </p:sp>
      <p:sp>
        <p:nvSpPr>
          <p:cNvPr id="14" name="Text 10"/>
          <p:cNvSpPr txBox="1"/>
          <p:nvPr/>
        </p:nvSpPr>
        <p:spPr>
          <a:xfrm>
            <a:off x="761695" y="1960474"/>
            <a:ext cx="15621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B4C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배선/접촉 저항과 유전체 신뢰성 메트릭을 SAUP·r-SAUP 양 split에 대해 wafer 단위로 분리 기록한다.</a:t>
            </a:r>
            <a:endParaRPr lang="en-US" sz="1575" dirty="0"/>
          </a:p>
        </p:txBody>
      </p:sp>
      <p:sp>
        <p:nvSpPr>
          <p:cNvPr id="15" name="Text 11"/>
          <p:cNvSpPr txBox="1"/>
          <p:nvPr/>
        </p:nvSpPr>
        <p:spPr>
          <a:xfrm>
            <a:off x="1028700" y="3010205"/>
            <a:ext cx="15343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4FA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1</a:t>
            </a:r>
            <a:endParaRPr lang="en-US" sz="975" dirty="0"/>
          </a:p>
        </p:txBody>
      </p:sp>
      <p:sp>
        <p:nvSpPr>
          <p:cNvPr id="16" name="Text 12"/>
          <p:cNvSpPr txBox="1"/>
          <p:nvPr/>
        </p:nvSpPr>
        <p:spPr>
          <a:xfrm>
            <a:off x="1028700" y="3200400"/>
            <a:ext cx="2050999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배선 / 접촉 저항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7414870" y="3010205"/>
            <a:ext cx="174559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 / contact resistance</a:t>
            </a:r>
            <a:endParaRPr lang="en-US" sz="975" dirty="0"/>
          </a:p>
        </p:txBody>
      </p:sp>
      <p:sp>
        <p:nvSpPr>
          <p:cNvPr id="18" name="Shape 14"/>
          <p:cNvSpPr/>
          <p:nvPr/>
        </p:nvSpPr>
        <p:spPr>
          <a:xfrm>
            <a:off x="1028700" y="4153205"/>
            <a:ext cx="7848295" cy="9144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28700" y="3791102"/>
            <a:ext cx="857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</a:t>
            </a:r>
            <a:endParaRPr lang="en-US" sz="825" dirty="0"/>
          </a:p>
        </p:txBody>
      </p:sp>
      <p:sp>
        <p:nvSpPr>
          <p:cNvPr id="20" name="Text 16"/>
          <p:cNvSpPr txBox="1"/>
          <p:nvPr/>
        </p:nvSpPr>
        <p:spPr>
          <a:xfrm>
            <a:off x="1886407" y="3791102"/>
            <a:ext cx="952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Wafer</a:t>
            </a:r>
            <a:endParaRPr lang="en-US" sz="825" dirty="0"/>
          </a:p>
        </p:txBody>
      </p:sp>
      <p:sp>
        <p:nvSpPr>
          <p:cNvPr id="21" name="Text 17"/>
          <p:cNvSpPr txBox="1"/>
          <p:nvPr/>
        </p:nvSpPr>
        <p:spPr>
          <a:xfrm>
            <a:off x="2838298" y="3791102"/>
            <a:ext cx="1515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 mean</a:t>
            </a:r>
            <a:pPr algn="l" indent="0" marL="0">
              <a:buNone/>
            </a:pPr>
            <a:endParaRPr lang="en-US" sz="825" dirty="0"/>
          </a:p>
          <a:p>
            <a:pPr algn="l" indent="0" marL="0">
              <a:buNone/>
            </a:pPr>
            <a:r>
              <a:rPr lang="en-US" sz="800" spc="83" kern="0" dirty="0">
                <a:solidFill>
                  <a:srgbClr val="5C6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Ω/sq</a:t>
            </a:r>
            <a:endParaRPr lang="en-US" sz="825" dirty="0"/>
          </a:p>
        </p:txBody>
      </p:sp>
      <p:sp>
        <p:nvSpPr>
          <p:cNvPr id="22" name="Text 18"/>
          <p:cNvSpPr txBox="1"/>
          <p:nvPr/>
        </p:nvSpPr>
        <p:spPr>
          <a:xfrm>
            <a:off x="4347972" y="3791102"/>
            <a:ext cx="1515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spc="83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 3σ</a:t>
            </a:r>
            <a:pPr algn="r" indent="0" marL="0">
              <a:buNone/>
            </a:pPr>
            <a:endParaRPr lang="en-US" sz="825" dirty="0"/>
          </a:p>
          <a:p>
            <a:pPr algn="r" indent="0" marL="0">
              <a:buNone/>
            </a:pPr>
            <a:r>
              <a:rPr lang="en-US" sz="800" spc="83" kern="0" dirty="0">
                <a:solidFill>
                  <a:srgbClr val="5C6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825" dirty="0"/>
          </a:p>
        </p:txBody>
      </p:sp>
      <p:sp>
        <p:nvSpPr>
          <p:cNvPr id="23" name="Text 19"/>
          <p:cNvSpPr txBox="1"/>
          <p:nvPr/>
        </p:nvSpPr>
        <p:spPr>
          <a:xfrm>
            <a:off x="5857646" y="3791102"/>
            <a:ext cx="1515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spc="83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 mean</a:t>
            </a:r>
            <a:pPr algn="r" indent="0" marL="0">
              <a:buNone/>
            </a:pPr>
            <a:endParaRPr lang="en-US" sz="825" dirty="0"/>
          </a:p>
          <a:p>
            <a:pPr algn="r" indent="0" marL="0">
              <a:buNone/>
            </a:pPr>
            <a:r>
              <a:rPr lang="en-US" sz="800" spc="83" kern="0" dirty="0">
                <a:solidFill>
                  <a:srgbClr val="5C6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Ω/via</a:t>
            </a:r>
            <a:endParaRPr lang="en-US" sz="825" dirty="0"/>
          </a:p>
        </p:txBody>
      </p:sp>
      <p:sp>
        <p:nvSpPr>
          <p:cNvPr id="24" name="Text 20"/>
          <p:cNvSpPr txBox="1"/>
          <p:nvPr/>
        </p:nvSpPr>
        <p:spPr>
          <a:xfrm>
            <a:off x="7367321" y="3791102"/>
            <a:ext cx="1515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spc="83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 3σ</a:t>
            </a:r>
            <a:pPr algn="r" indent="0" marL="0">
              <a:buNone/>
            </a:pPr>
            <a:endParaRPr lang="en-US" sz="825" dirty="0"/>
          </a:p>
          <a:p>
            <a:pPr algn="r" indent="0" marL="0">
              <a:buNone/>
            </a:pPr>
            <a:r>
              <a:rPr lang="en-US" sz="800" spc="83" kern="0" dirty="0">
                <a:solidFill>
                  <a:srgbClr val="5C6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825" dirty="0"/>
          </a:p>
        </p:txBody>
      </p:sp>
      <p:sp>
        <p:nvSpPr>
          <p:cNvPr id="25" name="Shape 21"/>
          <p:cNvSpPr/>
          <p:nvPr/>
        </p:nvSpPr>
        <p:spPr>
          <a:xfrm>
            <a:off x="1028700" y="4458614"/>
            <a:ext cx="7848295" cy="9144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028700" y="4200754"/>
            <a:ext cx="75895" cy="75895"/>
          </a:xfrm>
          <a:prstGeom prst="rect">
            <a:avLst/>
          </a:prstGeom>
          <a:solidFill>
            <a:srgbClr val="4FA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1162202" y="4157777"/>
            <a:ext cx="314554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4FA3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SAUP</a:t>
            </a:r>
            <a:endParaRPr lang="en-US" sz="975" dirty="0"/>
          </a:p>
        </p:txBody>
      </p:sp>
      <p:sp>
        <p:nvSpPr>
          <p:cNvPr id="28" name="Text 24"/>
          <p:cNvSpPr txBox="1"/>
          <p:nvPr/>
        </p:nvSpPr>
        <p:spPr>
          <a:xfrm>
            <a:off x="1886407" y="4138574"/>
            <a:ext cx="952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W01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2838298" y="4134002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0.92</a:t>
            </a:r>
            <a:endParaRPr lang="en-US" sz="1275" dirty="0"/>
          </a:p>
        </p:txBody>
      </p:sp>
      <p:sp>
        <p:nvSpPr>
          <p:cNvPr id="30" name="Text 26"/>
          <p:cNvSpPr txBox="1"/>
          <p:nvPr/>
        </p:nvSpPr>
        <p:spPr>
          <a:xfrm>
            <a:off x="4347972" y="4134002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4.8</a:t>
            </a:r>
            <a:endParaRPr lang="en-US" sz="1275" dirty="0"/>
          </a:p>
        </p:txBody>
      </p:sp>
      <p:sp>
        <p:nvSpPr>
          <p:cNvPr id="31" name="Text 27"/>
          <p:cNvSpPr txBox="1"/>
          <p:nvPr/>
        </p:nvSpPr>
        <p:spPr>
          <a:xfrm>
            <a:off x="5857646" y="4134002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6.3</a:t>
            </a:r>
            <a:endParaRPr lang="en-US" sz="1275" dirty="0"/>
          </a:p>
        </p:txBody>
      </p:sp>
      <p:sp>
        <p:nvSpPr>
          <p:cNvPr id="32" name="Text 28"/>
          <p:cNvSpPr txBox="1"/>
          <p:nvPr/>
        </p:nvSpPr>
        <p:spPr>
          <a:xfrm>
            <a:off x="7367321" y="4134002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6.4</a:t>
            </a:r>
            <a:endParaRPr lang="en-US" sz="1275" dirty="0"/>
          </a:p>
        </p:txBody>
      </p:sp>
      <p:sp>
        <p:nvSpPr>
          <p:cNvPr id="33" name="Shape 29"/>
          <p:cNvSpPr/>
          <p:nvPr/>
        </p:nvSpPr>
        <p:spPr>
          <a:xfrm>
            <a:off x="1028700" y="4905756"/>
            <a:ext cx="7848295" cy="9144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1886407" y="4586630"/>
            <a:ext cx="952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W02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2838298" y="4581144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0.88</a:t>
            </a:r>
            <a:endParaRPr lang="en-US" sz="1275" dirty="0"/>
          </a:p>
        </p:txBody>
      </p:sp>
      <p:sp>
        <p:nvSpPr>
          <p:cNvPr id="36" name="Text 32"/>
          <p:cNvSpPr txBox="1"/>
          <p:nvPr/>
        </p:nvSpPr>
        <p:spPr>
          <a:xfrm>
            <a:off x="4347972" y="4581144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5.2</a:t>
            </a:r>
            <a:endParaRPr lang="en-US" sz="1275" dirty="0"/>
          </a:p>
        </p:txBody>
      </p:sp>
      <p:sp>
        <p:nvSpPr>
          <p:cNvPr id="37" name="Text 33"/>
          <p:cNvSpPr txBox="1"/>
          <p:nvPr/>
        </p:nvSpPr>
        <p:spPr>
          <a:xfrm>
            <a:off x="5857646" y="4581144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6.1</a:t>
            </a:r>
            <a:endParaRPr lang="en-US" sz="1275" dirty="0"/>
          </a:p>
        </p:txBody>
      </p:sp>
      <p:sp>
        <p:nvSpPr>
          <p:cNvPr id="38" name="Text 34"/>
          <p:cNvSpPr txBox="1"/>
          <p:nvPr/>
        </p:nvSpPr>
        <p:spPr>
          <a:xfrm>
            <a:off x="7367321" y="4581144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6.9</a:t>
            </a:r>
            <a:endParaRPr lang="en-US" sz="1275" dirty="0"/>
          </a:p>
        </p:txBody>
      </p:sp>
      <p:sp>
        <p:nvSpPr>
          <p:cNvPr id="39" name="Shape 35"/>
          <p:cNvSpPr/>
          <p:nvPr/>
        </p:nvSpPr>
        <p:spPr>
          <a:xfrm>
            <a:off x="1028700" y="5353812"/>
            <a:ext cx="7848295" cy="9144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886407" y="5033772"/>
            <a:ext cx="952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W03</a:t>
            </a:r>
            <a:endParaRPr lang="en-US" sz="1200" dirty="0"/>
          </a:p>
        </p:txBody>
      </p:sp>
      <p:sp>
        <p:nvSpPr>
          <p:cNvPr id="41" name="Text 37"/>
          <p:cNvSpPr txBox="1"/>
          <p:nvPr/>
        </p:nvSpPr>
        <p:spPr>
          <a:xfrm>
            <a:off x="2838298" y="5029200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0.91</a:t>
            </a:r>
            <a:endParaRPr lang="en-US" sz="1275" dirty="0"/>
          </a:p>
        </p:txBody>
      </p:sp>
      <p:sp>
        <p:nvSpPr>
          <p:cNvPr id="42" name="Text 38"/>
          <p:cNvSpPr txBox="1"/>
          <p:nvPr/>
        </p:nvSpPr>
        <p:spPr>
          <a:xfrm>
            <a:off x="4347972" y="5029200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4.5</a:t>
            </a:r>
            <a:endParaRPr lang="en-US" sz="1275" dirty="0"/>
          </a:p>
        </p:txBody>
      </p:sp>
      <p:sp>
        <p:nvSpPr>
          <p:cNvPr id="43" name="Text 39"/>
          <p:cNvSpPr txBox="1"/>
          <p:nvPr/>
        </p:nvSpPr>
        <p:spPr>
          <a:xfrm>
            <a:off x="5857646" y="5029200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5.8</a:t>
            </a:r>
            <a:endParaRPr lang="en-US" sz="1275" dirty="0"/>
          </a:p>
        </p:txBody>
      </p:sp>
      <p:sp>
        <p:nvSpPr>
          <p:cNvPr id="44" name="Text 40"/>
          <p:cNvSpPr txBox="1"/>
          <p:nvPr/>
        </p:nvSpPr>
        <p:spPr>
          <a:xfrm>
            <a:off x="7367321" y="5029200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6.1</a:t>
            </a:r>
            <a:endParaRPr lang="en-US" sz="1275" dirty="0"/>
          </a:p>
        </p:txBody>
      </p:sp>
      <p:sp>
        <p:nvSpPr>
          <p:cNvPr id="45" name="Shape 41"/>
          <p:cNvSpPr/>
          <p:nvPr/>
        </p:nvSpPr>
        <p:spPr>
          <a:xfrm>
            <a:off x="1028700" y="5362956"/>
            <a:ext cx="7848295" cy="448056"/>
          </a:xfrm>
          <a:prstGeom prst="rect">
            <a:avLst/>
          </a:prstGeom>
          <a:solidFill>
            <a:srgbClr val="0F1830"/>
          </a:solidFill>
          <a:ln/>
        </p:spPr>
      </p:sp>
      <p:sp>
        <p:nvSpPr>
          <p:cNvPr id="46" name="Shape 42"/>
          <p:cNvSpPr/>
          <p:nvPr/>
        </p:nvSpPr>
        <p:spPr>
          <a:xfrm>
            <a:off x="1028700" y="5801868"/>
            <a:ext cx="7848295" cy="9144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>
                <a:alpha val="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028700" y="5544007"/>
            <a:ext cx="75895" cy="75895"/>
          </a:xfrm>
          <a:prstGeom prst="rect">
            <a:avLst/>
          </a:prstGeom>
          <a:solidFill>
            <a:srgbClr val="FFA9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1162202" y="5501030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A94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r-SAUP</a:t>
            </a:r>
            <a:endParaRPr lang="en-US" sz="975" dirty="0"/>
          </a:p>
        </p:txBody>
      </p:sp>
      <p:sp>
        <p:nvSpPr>
          <p:cNvPr id="49" name="Text 45"/>
          <p:cNvSpPr txBox="1"/>
          <p:nvPr/>
        </p:nvSpPr>
        <p:spPr>
          <a:xfrm>
            <a:off x="1886407" y="5481828"/>
            <a:ext cx="952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r-W01</a:t>
            </a:r>
            <a:endParaRPr lang="en-US" sz="1200" dirty="0"/>
          </a:p>
        </p:txBody>
      </p:sp>
      <p:sp>
        <p:nvSpPr>
          <p:cNvPr id="50" name="Text 46"/>
          <p:cNvSpPr txBox="1"/>
          <p:nvPr/>
        </p:nvSpPr>
        <p:spPr>
          <a:xfrm>
            <a:off x="2838298" y="5477256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0.86</a:t>
            </a:r>
            <a:endParaRPr lang="en-US" sz="1275" dirty="0"/>
          </a:p>
        </p:txBody>
      </p:sp>
      <p:sp>
        <p:nvSpPr>
          <p:cNvPr id="51" name="Text 47"/>
          <p:cNvSpPr txBox="1"/>
          <p:nvPr/>
        </p:nvSpPr>
        <p:spPr>
          <a:xfrm>
            <a:off x="4347972" y="5477256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3.4</a:t>
            </a:r>
            <a:endParaRPr lang="en-US" sz="1275" dirty="0"/>
          </a:p>
        </p:txBody>
      </p:sp>
      <p:sp>
        <p:nvSpPr>
          <p:cNvPr id="52" name="Text 48"/>
          <p:cNvSpPr txBox="1"/>
          <p:nvPr/>
        </p:nvSpPr>
        <p:spPr>
          <a:xfrm>
            <a:off x="5857646" y="5477256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5.7</a:t>
            </a:r>
            <a:endParaRPr lang="en-US" sz="1275" dirty="0"/>
          </a:p>
        </p:txBody>
      </p:sp>
      <p:sp>
        <p:nvSpPr>
          <p:cNvPr id="53" name="Text 49"/>
          <p:cNvSpPr txBox="1"/>
          <p:nvPr/>
        </p:nvSpPr>
        <p:spPr>
          <a:xfrm>
            <a:off x="7367321" y="5477256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5.1</a:t>
            </a:r>
            <a:endParaRPr lang="en-US" sz="1275" dirty="0"/>
          </a:p>
        </p:txBody>
      </p:sp>
      <p:sp>
        <p:nvSpPr>
          <p:cNvPr id="54" name="Shape 50"/>
          <p:cNvSpPr/>
          <p:nvPr/>
        </p:nvSpPr>
        <p:spPr>
          <a:xfrm>
            <a:off x="1028700" y="5810098"/>
            <a:ext cx="7848295" cy="448056"/>
          </a:xfrm>
          <a:prstGeom prst="rect">
            <a:avLst/>
          </a:prstGeom>
          <a:solidFill>
            <a:srgbClr val="0F1830"/>
          </a:solidFill>
          <a:ln/>
        </p:spPr>
      </p:sp>
      <p:sp>
        <p:nvSpPr>
          <p:cNvPr id="55" name="Shape 51"/>
          <p:cNvSpPr/>
          <p:nvPr/>
        </p:nvSpPr>
        <p:spPr>
          <a:xfrm>
            <a:off x="1028700" y="6249010"/>
            <a:ext cx="7848295" cy="9144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>
                <a:alpha val="0"/>
              </a:srgbClr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1886407" y="5928970"/>
            <a:ext cx="952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r-W02</a:t>
            </a:r>
            <a:endParaRPr lang="en-US" sz="1200" dirty="0"/>
          </a:p>
        </p:txBody>
      </p:sp>
      <p:sp>
        <p:nvSpPr>
          <p:cNvPr id="57" name="Text 53"/>
          <p:cNvSpPr txBox="1"/>
          <p:nvPr/>
        </p:nvSpPr>
        <p:spPr>
          <a:xfrm>
            <a:off x="2838298" y="5924398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0.83</a:t>
            </a:r>
            <a:endParaRPr lang="en-US" sz="1275" dirty="0"/>
          </a:p>
        </p:txBody>
      </p:sp>
      <p:sp>
        <p:nvSpPr>
          <p:cNvPr id="58" name="Text 54"/>
          <p:cNvSpPr txBox="1"/>
          <p:nvPr/>
        </p:nvSpPr>
        <p:spPr>
          <a:xfrm>
            <a:off x="4347972" y="5924398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3.1</a:t>
            </a:r>
            <a:endParaRPr lang="en-US" sz="1275" dirty="0"/>
          </a:p>
        </p:txBody>
      </p:sp>
      <p:sp>
        <p:nvSpPr>
          <p:cNvPr id="59" name="Text 55"/>
          <p:cNvSpPr txBox="1"/>
          <p:nvPr/>
        </p:nvSpPr>
        <p:spPr>
          <a:xfrm>
            <a:off x="5857646" y="5924398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5.4</a:t>
            </a:r>
            <a:endParaRPr lang="en-US" sz="1275" dirty="0"/>
          </a:p>
        </p:txBody>
      </p:sp>
      <p:sp>
        <p:nvSpPr>
          <p:cNvPr id="60" name="Text 56"/>
          <p:cNvSpPr txBox="1"/>
          <p:nvPr/>
        </p:nvSpPr>
        <p:spPr>
          <a:xfrm>
            <a:off x="7367321" y="5924398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4.7</a:t>
            </a:r>
            <a:endParaRPr lang="en-US" sz="1275" dirty="0"/>
          </a:p>
        </p:txBody>
      </p:sp>
      <p:sp>
        <p:nvSpPr>
          <p:cNvPr id="61" name="Shape 57"/>
          <p:cNvSpPr/>
          <p:nvPr/>
        </p:nvSpPr>
        <p:spPr>
          <a:xfrm>
            <a:off x="1028700" y="6258154"/>
            <a:ext cx="7848295" cy="437998"/>
          </a:xfrm>
          <a:prstGeom prst="rect">
            <a:avLst/>
          </a:prstGeom>
          <a:solidFill>
            <a:srgbClr val="0F18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1886407" y="6377026"/>
            <a:ext cx="952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r-W03</a:t>
            </a:r>
            <a:endParaRPr lang="en-US" sz="1200" dirty="0"/>
          </a:p>
        </p:txBody>
      </p:sp>
      <p:sp>
        <p:nvSpPr>
          <p:cNvPr id="63" name="Text 59"/>
          <p:cNvSpPr txBox="1"/>
          <p:nvPr/>
        </p:nvSpPr>
        <p:spPr>
          <a:xfrm>
            <a:off x="2838298" y="6372454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0.85</a:t>
            </a:r>
            <a:endParaRPr lang="en-US" sz="1275" dirty="0"/>
          </a:p>
        </p:txBody>
      </p:sp>
      <p:sp>
        <p:nvSpPr>
          <p:cNvPr id="64" name="Text 60"/>
          <p:cNvSpPr txBox="1"/>
          <p:nvPr/>
        </p:nvSpPr>
        <p:spPr>
          <a:xfrm>
            <a:off x="4347972" y="6372454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2.9</a:t>
            </a:r>
            <a:endParaRPr lang="en-US" sz="1275" dirty="0"/>
          </a:p>
        </p:txBody>
      </p:sp>
      <p:sp>
        <p:nvSpPr>
          <p:cNvPr id="65" name="Text 61"/>
          <p:cNvSpPr txBox="1"/>
          <p:nvPr/>
        </p:nvSpPr>
        <p:spPr>
          <a:xfrm>
            <a:off x="5857646" y="6372454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5.5</a:t>
            </a:r>
            <a:endParaRPr lang="en-US" sz="1275" dirty="0"/>
          </a:p>
        </p:txBody>
      </p:sp>
      <p:sp>
        <p:nvSpPr>
          <p:cNvPr id="66" name="Text 62"/>
          <p:cNvSpPr txBox="1"/>
          <p:nvPr/>
        </p:nvSpPr>
        <p:spPr>
          <a:xfrm>
            <a:off x="7367321" y="6372454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4.9</a:t>
            </a:r>
            <a:endParaRPr lang="en-US" sz="1275" dirty="0"/>
          </a:p>
        </p:txBody>
      </p:sp>
      <p:sp>
        <p:nvSpPr>
          <p:cNvPr id="67" name="Text 63"/>
          <p:cNvSpPr txBox="1"/>
          <p:nvPr/>
        </p:nvSpPr>
        <p:spPr>
          <a:xfrm>
            <a:off x="9601200" y="3010205"/>
            <a:ext cx="17721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FFA9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2</a:t>
            </a:r>
            <a:endParaRPr lang="en-US" sz="975" dirty="0"/>
          </a:p>
        </p:txBody>
      </p:sp>
      <p:sp>
        <p:nvSpPr>
          <p:cNvPr id="68" name="Text 64"/>
          <p:cNvSpPr txBox="1"/>
          <p:nvPr/>
        </p:nvSpPr>
        <p:spPr>
          <a:xfrm>
            <a:off x="9601200" y="3200400"/>
            <a:ext cx="2108606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유전체 / 누설 / BD</a:t>
            </a:r>
            <a:endParaRPr lang="en-US" sz="1800" dirty="0"/>
          </a:p>
        </p:txBody>
      </p:sp>
      <p:sp>
        <p:nvSpPr>
          <p:cNvPr id="69" name="Text 65"/>
          <p:cNvSpPr txBox="1"/>
          <p:nvPr/>
        </p:nvSpPr>
        <p:spPr>
          <a:xfrm>
            <a:off x="16336670" y="3010205"/>
            <a:ext cx="132679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Dielectric reliability</a:t>
            </a:r>
            <a:endParaRPr lang="en-US" sz="975" dirty="0"/>
          </a:p>
        </p:txBody>
      </p:sp>
      <p:sp>
        <p:nvSpPr>
          <p:cNvPr id="70" name="Shape 66"/>
          <p:cNvSpPr/>
          <p:nvPr/>
        </p:nvSpPr>
        <p:spPr>
          <a:xfrm>
            <a:off x="9601200" y="4153205"/>
            <a:ext cx="7848295" cy="9144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>
                <a:alpha val="0"/>
              </a:srgbClr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9601200" y="3791102"/>
            <a:ext cx="857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</a:t>
            </a:r>
            <a:endParaRPr lang="en-US" sz="825" dirty="0"/>
          </a:p>
        </p:txBody>
      </p:sp>
      <p:sp>
        <p:nvSpPr>
          <p:cNvPr id="72" name="Text 68"/>
          <p:cNvSpPr txBox="1"/>
          <p:nvPr/>
        </p:nvSpPr>
        <p:spPr>
          <a:xfrm>
            <a:off x="10458907" y="3791102"/>
            <a:ext cx="952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Wafer</a:t>
            </a:r>
            <a:endParaRPr lang="en-US" sz="825" dirty="0"/>
          </a:p>
        </p:txBody>
      </p:sp>
      <p:sp>
        <p:nvSpPr>
          <p:cNvPr id="73" name="Text 69"/>
          <p:cNvSpPr txBox="1"/>
          <p:nvPr/>
        </p:nvSpPr>
        <p:spPr>
          <a:xfrm>
            <a:off x="11410798" y="3791102"/>
            <a:ext cx="1515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Vbd</a:t>
            </a:r>
            <a:pPr algn="l" indent="0" marL="0">
              <a:buNone/>
            </a:pPr>
            <a:endParaRPr lang="en-US" sz="825" dirty="0"/>
          </a:p>
          <a:p>
            <a:pPr algn="l" indent="0" marL="0">
              <a:buNone/>
            </a:pPr>
            <a:r>
              <a:rPr lang="en-US" sz="800" spc="83" kern="0" dirty="0">
                <a:solidFill>
                  <a:srgbClr val="5C6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lang="en-US" sz="825" dirty="0"/>
          </a:p>
        </p:txBody>
      </p:sp>
      <p:sp>
        <p:nvSpPr>
          <p:cNvPr id="74" name="Text 70"/>
          <p:cNvSpPr txBox="1"/>
          <p:nvPr/>
        </p:nvSpPr>
        <p:spPr>
          <a:xfrm>
            <a:off x="12920472" y="3791102"/>
            <a:ext cx="1515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spc="83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Jg @1V</a:t>
            </a:r>
            <a:pPr algn="r" indent="0" marL="0">
              <a:buNone/>
            </a:pPr>
            <a:endParaRPr lang="en-US" sz="825" dirty="0"/>
          </a:p>
          <a:p>
            <a:pPr algn="r" indent="0" marL="0">
              <a:buNone/>
            </a:pPr>
            <a:r>
              <a:rPr lang="en-US" sz="800" spc="83" kern="0" dirty="0">
                <a:solidFill>
                  <a:srgbClr val="5C6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nA/cm²</a:t>
            </a:r>
            <a:endParaRPr lang="en-US" sz="825" dirty="0"/>
          </a:p>
        </p:txBody>
      </p:sp>
      <p:sp>
        <p:nvSpPr>
          <p:cNvPr id="75" name="Text 71"/>
          <p:cNvSpPr txBox="1"/>
          <p:nvPr/>
        </p:nvSpPr>
        <p:spPr>
          <a:xfrm>
            <a:off x="14430146" y="3791102"/>
            <a:ext cx="1515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spc="83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Leakage</a:t>
            </a:r>
            <a:pPr algn="r" indent="0" marL="0">
              <a:buNone/>
            </a:pPr>
            <a:endParaRPr lang="en-US" sz="825" dirty="0"/>
          </a:p>
          <a:p>
            <a:pPr algn="r" indent="0" marL="0">
              <a:buNone/>
            </a:pPr>
            <a:r>
              <a:rPr lang="en-US" sz="800" spc="83" kern="0" dirty="0">
                <a:solidFill>
                  <a:srgbClr val="5C6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fA/via</a:t>
            </a:r>
            <a:endParaRPr lang="en-US" sz="825" dirty="0"/>
          </a:p>
        </p:txBody>
      </p:sp>
      <p:sp>
        <p:nvSpPr>
          <p:cNvPr id="76" name="Text 72"/>
          <p:cNvSpPr txBox="1"/>
          <p:nvPr/>
        </p:nvSpPr>
        <p:spPr>
          <a:xfrm>
            <a:off x="15939821" y="3791102"/>
            <a:ext cx="1515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spc="83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Chain yield</a:t>
            </a:r>
            <a:pPr algn="r" indent="0" marL="0">
              <a:buNone/>
            </a:pPr>
            <a:endParaRPr lang="en-US" sz="825" dirty="0"/>
          </a:p>
          <a:p>
            <a:pPr algn="r" indent="0" marL="0">
              <a:buNone/>
            </a:pPr>
            <a:r>
              <a:rPr lang="en-US" sz="800" spc="83" kern="0" dirty="0">
                <a:solidFill>
                  <a:srgbClr val="5C6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825" dirty="0"/>
          </a:p>
        </p:txBody>
      </p:sp>
      <p:sp>
        <p:nvSpPr>
          <p:cNvPr id="77" name="Shape 73"/>
          <p:cNvSpPr/>
          <p:nvPr/>
        </p:nvSpPr>
        <p:spPr>
          <a:xfrm>
            <a:off x="9601200" y="4458614"/>
            <a:ext cx="7848295" cy="9144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>
                <a:alpha val="0"/>
              </a:srgbClr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9601200" y="4200754"/>
            <a:ext cx="75895" cy="75895"/>
          </a:xfrm>
          <a:prstGeom prst="rect">
            <a:avLst/>
          </a:prstGeom>
          <a:solidFill>
            <a:srgbClr val="4FA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Text 75"/>
          <p:cNvSpPr txBox="1"/>
          <p:nvPr/>
        </p:nvSpPr>
        <p:spPr>
          <a:xfrm>
            <a:off x="9734702" y="4157777"/>
            <a:ext cx="314554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4FA3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SAUP</a:t>
            </a:r>
            <a:endParaRPr lang="en-US" sz="975" dirty="0"/>
          </a:p>
        </p:txBody>
      </p:sp>
      <p:sp>
        <p:nvSpPr>
          <p:cNvPr id="80" name="Text 76"/>
          <p:cNvSpPr txBox="1"/>
          <p:nvPr/>
        </p:nvSpPr>
        <p:spPr>
          <a:xfrm>
            <a:off x="10458907" y="4138574"/>
            <a:ext cx="952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W01</a:t>
            </a:r>
            <a:endParaRPr lang="en-US" sz="1200" dirty="0"/>
          </a:p>
        </p:txBody>
      </p:sp>
      <p:sp>
        <p:nvSpPr>
          <p:cNvPr id="81" name="Text 77"/>
          <p:cNvSpPr txBox="1"/>
          <p:nvPr/>
        </p:nvSpPr>
        <p:spPr>
          <a:xfrm>
            <a:off x="11410798" y="4134002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8.4</a:t>
            </a:r>
            <a:endParaRPr lang="en-US" sz="1275" dirty="0"/>
          </a:p>
        </p:txBody>
      </p:sp>
      <p:sp>
        <p:nvSpPr>
          <p:cNvPr id="82" name="Text 78"/>
          <p:cNvSpPr txBox="1"/>
          <p:nvPr/>
        </p:nvSpPr>
        <p:spPr>
          <a:xfrm>
            <a:off x="12920472" y="4134002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6.2</a:t>
            </a:r>
            <a:endParaRPr lang="en-US" sz="1275" dirty="0"/>
          </a:p>
        </p:txBody>
      </p:sp>
      <p:sp>
        <p:nvSpPr>
          <p:cNvPr id="83" name="Text 79"/>
          <p:cNvSpPr txBox="1"/>
          <p:nvPr/>
        </p:nvSpPr>
        <p:spPr>
          <a:xfrm>
            <a:off x="14430146" y="4134002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31</a:t>
            </a:r>
            <a:endParaRPr lang="en-US" sz="1275" dirty="0"/>
          </a:p>
        </p:txBody>
      </p:sp>
      <p:sp>
        <p:nvSpPr>
          <p:cNvPr id="84" name="Text 80"/>
          <p:cNvSpPr txBox="1"/>
          <p:nvPr/>
        </p:nvSpPr>
        <p:spPr>
          <a:xfrm>
            <a:off x="15939821" y="4134002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96.2</a:t>
            </a:r>
            <a:endParaRPr lang="en-US" sz="1275" dirty="0"/>
          </a:p>
        </p:txBody>
      </p:sp>
      <p:sp>
        <p:nvSpPr>
          <p:cNvPr id="85" name="Shape 81"/>
          <p:cNvSpPr/>
          <p:nvPr/>
        </p:nvSpPr>
        <p:spPr>
          <a:xfrm>
            <a:off x="9601200" y="4905756"/>
            <a:ext cx="7848295" cy="9144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>
                <a:alpha val="0"/>
              </a:srgbClr>
            </a:solidFill>
            <a:prstDash val="solid"/>
          </a:ln>
        </p:spPr>
      </p:sp>
      <p:sp>
        <p:nvSpPr>
          <p:cNvPr id="86" name="Text 82"/>
          <p:cNvSpPr txBox="1"/>
          <p:nvPr/>
        </p:nvSpPr>
        <p:spPr>
          <a:xfrm>
            <a:off x="10458907" y="4586630"/>
            <a:ext cx="952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W02</a:t>
            </a:r>
            <a:endParaRPr lang="en-US" sz="1200" dirty="0"/>
          </a:p>
        </p:txBody>
      </p:sp>
      <p:sp>
        <p:nvSpPr>
          <p:cNvPr id="87" name="Text 83"/>
          <p:cNvSpPr txBox="1"/>
          <p:nvPr/>
        </p:nvSpPr>
        <p:spPr>
          <a:xfrm>
            <a:off x="11410798" y="4581144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8.1</a:t>
            </a:r>
            <a:endParaRPr lang="en-US" sz="1275" dirty="0"/>
          </a:p>
        </p:txBody>
      </p:sp>
      <p:sp>
        <p:nvSpPr>
          <p:cNvPr id="88" name="Text 84"/>
          <p:cNvSpPr txBox="1"/>
          <p:nvPr/>
        </p:nvSpPr>
        <p:spPr>
          <a:xfrm>
            <a:off x="12920472" y="4581144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FF8B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7.4</a:t>
            </a:r>
            <a:endParaRPr lang="en-US" sz="1275" dirty="0"/>
          </a:p>
        </p:txBody>
      </p:sp>
      <p:sp>
        <p:nvSpPr>
          <p:cNvPr id="89" name="Text 85"/>
          <p:cNvSpPr txBox="1"/>
          <p:nvPr/>
        </p:nvSpPr>
        <p:spPr>
          <a:xfrm>
            <a:off x="14430146" y="4581144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38</a:t>
            </a:r>
            <a:endParaRPr lang="en-US" sz="1275" dirty="0"/>
          </a:p>
        </p:txBody>
      </p:sp>
      <p:sp>
        <p:nvSpPr>
          <p:cNvPr id="90" name="Text 86"/>
          <p:cNvSpPr txBox="1"/>
          <p:nvPr/>
        </p:nvSpPr>
        <p:spPr>
          <a:xfrm>
            <a:off x="15939821" y="4581144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FFA94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94.8</a:t>
            </a:r>
            <a:endParaRPr lang="en-US" sz="1275" dirty="0"/>
          </a:p>
        </p:txBody>
      </p:sp>
      <p:sp>
        <p:nvSpPr>
          <p:cNvPr id="91" name="Shape 87"/>
          <p:cNvSpPr/>
          <p:nvPr/>
        </p:nvSpPr>
        <p:spPr>
          <a:xfrm>
            <a:off x="9601200" y="5353812"/>
            <a:ext cx="7848295" cy="9144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>
                <a:alpha val="0"/>
              </a:srgbClr>
            </a:solidFill>
            <a:prstDash val="solid"/>
          </a:ln>
        </p:spPr>
      </p:sp>
      <p:sp>
        <p:nvSpPr>
          <p:cNvPr id="92" name="Text 88"/>
          <p:cNvSpPr txBox="1"/>
          <p:nvPr/>
        </p:nvSpPr>
        <p:spPr>
          <a:xfrm>
            <a:off x="10458907" y="5033772"/>
            <a:ext cx="952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W03</a:t>
            </a:r>
            <a:endParaRPr lang="en-US" sz="1200" dirty="0"/>
          </a:p>
        </p:txBody>
      </p:sp>
      <p:sp>
        <p:nvSpPr>
          <p:cNvPr id="93" name="Text 89"/>
          <p:cNvSpPr txBox="1"/>
          <p:nvPr/>
        </p:nvSpPr>
        <p:spPr>
          <a:xfrm>
            <a:off x="11410798" y="5029200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8.6</a:t>
            </a:r>
            <a:endParaRPr lang="en-US" sz="1275" dirty="0"/>
          </a:p>
        </p:txBody>
      </p:sp>
      <p:sp>
        <p:nvSpPr>
          <p:cNvPr id="94" name="Text 90"/>
          <p:cNvSpPr txBox="1"/>
          <p:nvPr/>
        </p:nvSpPr>
        <p:spPr>
          <a:xfrm>
            <a:off x="12920472" y="5029200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5.8</a:t>
            </a:r>
            <a:endParaRPr lang="en-US" sz="1275" dirty="0"/>
          </a:p>
        </p:txBody>
      </p:sp>
      <p:sp>
        <p:nvSpPr>
          <p:cNvPr id="95" name="Text 91"/>
          <p:cNvSpPr txBox="1"/>
          <p:nvPr/>
        </p:nvSpPr>
        <p:spPr>
          <a:xfrm>
            <a:off x="14430146" y="5029200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28</a:t>
            </a:r>
            <a:endParaRPr lang="en-US" sz="1275" dirty="0"/>
          </a:p>
        </p:txBody>
      </p:sp>
      <p:sp>
        <p:nvSpPr>
          <p:cNvPr id="96" name="Text 92"/>
          <p:cNvSpPr txBox="1"/>
          <p:nvPr/>
        </p:nvSpPr>
        <p:spPr>
          <a:xfrm>
            <a:off x="15939821" y="5029200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96.9</a:t>
            </a:r>
            <a:endParaRPr lang="en-US" sz="1275" dirty="0"/>
          </a:p>
        </p:txBody>
      </p:sp>
      <p:sp>
        <p:nvSpPr>
          <p:cNvPr id="97" name="Shape 93"/>
          <p:cNvSpPr/>
          <p:nvPr/>
        </p:nvSpPr>
        <p:spPr>
          <a:xfrm>
            <a:off x="9601200" y="5362956"/>
            <a:ext cx="7848295" cy="448056"/>
          </a:xfrm>
          <a:prstGeom prst="rect">
            <a:avLst/>
          </a:prstGeom>
          <a:solidFill>
            <a:srgbClr val="0F1830"/>
          </a:solidFill>
          <a:ln/>
        </p:spPr>
      </p:sp>
      <p:sp>
        <p:nvSpPr>
          <p:cNvPr id="98" name="Shape 94"/>
          <p:cNvSpPr/>
          <p:nvPr/>
        </p:nvSpPr>
        <p:spPr>
          <a:xfrm>
            <a:off x="9601200" y="5801868"/>
            <a:ext cx="7848295" cy="9144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>
                <a:alpha val="0"/>
              </a:srgbClr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9601200" y="5544007"/>
            <a:ext cx="75895" cy="75895"/>
          </a:xfrm>
          <a:prstGeom prst="rect">
            <a:avLst/>
          </a:prstGeom>
          <a:solidFill>
            <a:srgbClr val="FFA9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Text 96"/>
          <p:cNvSpPr txBox="1"/>
          <p:nvPr/>
        </p:nvSpPr>
        <p:spPr>
          <a:xfrm>
            <a:off x="9734702" y="5501030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A94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r-SAUP</a:t>
            </a:r>
            <a:endParaRPr lang="en-US" sz="975" dirty="0"/>
          </a:p>
        </p:txBody>
      </p:sp>
      <p:sp>
        <p:nvSpPr>
          <p:cNvPr id="101" name="Text 97"/>
          <p:cNvSpPr txBox="1"/>
          <p:nvPr/>
        </p:nvSpPr>
        <p:spPr>
          <a:xfrm>
            <a:off x="10458907" y="5481828"/>
            <a:ext cx="952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r-W01</a:t>
            </a:r>
            <a:endParaRPr lang="en-US" sz="1200" dirty="0"/>
          </a:p>
        </p:txBody>
      </p:sp>
      <p:sp>
        <p:nvSpPr>
          <p:cNvPr id="102" name="Text 98"/>
          <p:cNvSpPr txBox="1"/>
          <p:nvPr/>
        </p:nvSpPr>
        <p:spPr>
          <a:xfrm>
            <a:off x="11410798" y="5477256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9.1</a:t>
            </a:r>
            <a:endParaRPr lang="en-US" sz="1275" dirty="0"/>
          </a:p>
        </p:txBody>
      </p:sp>
      <p:sp>
        <p:nvSpPr>
          <p:cNvPr id="103" name="Text 99"/>
          <p:cNvSpPr txBox="1"/>
          <p:nvPr/>
        </p:nvSpPr>
        <p:spPr>
          <a:xfrm>
            <a:off x="12920472" y="5477256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4.1</a:t>
            </a:r>
            <a:endParaRPr lang="en-US" sz="1275" dirty="0"/>
          </a:p>
        </p:txBody>
      </p:sp>
      <p:sp>
        <p:nvSpPr>
          <p:cNvPr id="104" name="Text 100"/>
          <p:cNvSpPr txBox="1"/>
          <p:nvPr/>
        </p:nvSpPr>
        <p:spPr>
          <a:xfrm>
            <a:off x="14430146" y="5477256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22</a:t>
            </a:r>
            <a:endParaRPr lang="en-US" sz="1275" dirty="0"/>
          </a:p>
        </p:txBody>
      </p:sp>
      <p:sp>
        <p:nvSpPr>
          <p:cNvPr id="105" name="Text 101"/>
          <p:cNvSpPr txBox="1"/>
          <p:nvPr/>
        </p:nvSpPr>
        <p:spPr>
          <a:xfrm>
            <a:off x="15939821" y="5477256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98.1</a:t>
            </a:r>
            <a:endParaRPr lang="en-US" sz="1275" dirty="0"/>
          </a:p>
        </p:txBody>
      </p:sp>
      <p:sp>
        <p:nvSpPr>
          <p:cNvPr id="106" name="Shape 102"/>
          <p:cNvSpPr/>
          <p:nvPr/>
        </p:nvSpPr>
        <p:spPr>
          <a:xfrm>
            <a:off x="9601200" y="5810098"/>
            <a:ext cx="7848295" cy="448056"/>
          </a:xfrm>
          <a:prstGeom prst="rect">
            <a:avLst/>
          </a:prstGeom>
          <a:solidFill>
            <a:srgbClr val="0F1830"/>
          </a:solidFill>
          <a:ln/>
        </p:spPr>
      </p:sp>
      <p:sp>
        <p:nvSpPr>
          <p:cNvPr id="107" name="Shape 103"/>
          <p:cNvSpPr/>
          <p:nvPr/>
        </p:nvSpPr>
        <p:spPr>
          <a:xfrm>
            <a:off x="9601200" y="6249010"/>
            <a:ext cx="7848295" cy="9144"/>
          </a:xfrm>
          <a:prstGeom prst="rect">
            <a:avLst/>
          </a:prstGeom>
          <a:solidFill>
            <a:srgbClr val="1A2440"/>
          </a:solidFill>
          <a:ln w="12700">
            <a:solidFill>
              <a:srgbClr val="1A2440">
                <a:alpha val="0"/>
              </a:srgbClr>
            </a:solidFill>
            <a:prstDash val="solid"/>
          </a:ln>
        </p:spPr>
      </p:sp>
      <p:sp>
        <p:nvSpPr>
          <p:cNvPr id="108" name="Text 104"/>
          <p:cNvSpPr txBox="1"/>
          <p:nvPr/>
        </p:nvSpPr>
        <p:spPr>
          <a:xfrm>
            <a:off x="10458907" y="5928970"/>
            <a:ext cx="952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r-W02</a:t>
            </a:r>
            <a:endParaRPr lang="en-US" sz="1200" dirty="0"/>
          </a:p>
        </p:txBody>
      </p:sp>
      <p:sp>
        <p:nvSpPr>
          <p:cNvPr id="109" name="Text 105"/>
          <p:cNvSpPr txBox="1"/>
          <p:nvPr/>
        </p:nvSpPr>
        <p:spPr>
          <a:xfrm>
            <a:off x="11410798" y="5924398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9.3</a:t>
            </a:r>
            <a:endParaRPr lang="en-US" sz="1275" dirty="0"/>
          </a:p>
        </p:txBody>
      </p:sp>
      <p:sp>
        <p:nvSpPr>
          <p:cNvPr id="110" name="Text 106"/>
          <p:cNvSpPr txBox="1"/>
          <p:nvPr/>
        </p:nvSpPr>
        <p:spPr>
          <a:xfrm>
            <a:off x="12920472" y="5924398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3.8</a:t>
            </a:r>
            <a:endParaRPr lang="en-US" sz="1275" dirty="0"/>
          </a:p>
        </p:txBody>
      </p:sp>
      <p:sp>
        <p:nvSpPr>
          <p:cNvPr id="111" name="Text 107"/>
          <p:cNvSpPr txBox="1"/>
          <p:nvPr/>
        </p:nvSpPr>
        <p:spPr>
          <a:xfrm>
            <a:off x="14430146" y="5924398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19</a:t>
            </a:r>
            <a:endParaRPr lang="en-US" sz="1275" dirty="0"/>
          </a:p>
        </p:txBody>
      </p:sp>
      <p:sp>
        <p:nvSpPr>
          <p:cNvPr id="112" name="Text 108"/>
          <p:cNvSpPr txBox="1"/>
          <p:nvPr/>
        </p:nvSpPr>
        <p:spPr>
          <a:xfrm>
            <a:off x="15939821" y="5924398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98.5</a:t>
            </a:r>
            <a:endParaRPr lang="en-US" sz="1275" dirty="0"/>
          </a:p>
        </p:txBody>
      </p:sp>
      <p:sp>
        <p:nvSpPr>
          <p:cNvPr id="113" name="Shape 109"/>
          <p:cNvSpPr/>
          <p:nvPr/>
        </p:nvSpPr>
        <p:spPr>
          <a:xfrm>
            <a:off x="9601200" y="6258154"/>
            <a:ext cx="7848295" cy="437998"/>
          </a:xfrm>
          <a:prstGeom prst="rect">
            <a:avLst/>
          </a:prstGeom>
          <a:solidFill>
            <a:srgbClr val="0F18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Text 110"/>
          <p:cNvSpPr txBox="1"/>
          <p:nvPr/>
        </p:nvSpPr>
        <p:spPr>
          <a:xfrm>
            <a:off x="10458907" y="6377026"/>
            <a:ext cx="952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r-W03</a:t>
            </a:r>
            <a:endParaRPr lang="en-US" sz="1200" dirty="0"/>
          </a:p>
        </p:txBody>
      </p:sp>
      <p:sp>
        <p:nvSpPr>
          <p:cNvPr id="115" name="Text 111"/>
          <p:cNvSpPr txBox="1"/>
          <p:nvPr/>
        </p:nvSpPr>
        <p:spPr>
          <a:xfrm>
            <a:off x="11410798" y="6372454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9.0</a:t>
            </a:r>
            <a:endParaRPr lang="en-US" sz="1275" dirty="0"/>
          </a:p>
        </p:txBody>
      </p:sp>
      <p:sp>
        <p:nvSpPr>
          <p:cNvPr id="116" name="Text 112"/>
          <p:cNvSpPr txBox="1"/>
          <p:nvPr/>
        </p:nvSpPr>
        <p:spPr>
          <a:xfrm>
            <a:off x="12920472" y="6372454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6BE3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4.4</a:t>
            </a:r>
            <a:endParaRPr lang="en-US" sz="1275" dirty="0"/>
          </a:p>
        </p:txBody>
      </p:sp>
      <p:sp>
        <p:nvSpPr>
          <p:cNvPr id="117" name="Text 113"/>
          <p:cNvSpPr txBox="1"/>
          <p:nvPr/>
        </p:nvSpPr>
        <p:spPr>
          <a:xfrm>
            <a:off x="14430146" y="6372454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24</a:t>
            </a:r>
            <a:endParaRPr lang="en-US" sz="1275" dirty="0"/>
          </a:p>
        </p:txBody>
      </p:sp>
      <p:sp>
        <p:nvSpPr>
          <p:cNvPr id="118" name="Text 114"/>
          <p:cNvSpPr txBox="1"/>
          <p:nvPr/>
        </p:nvSpPr>
        <p:spPr>
          <a:xfrm>
            <a:off x="15939821" y="6372454"/>
            <a:ext cx="1515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B4C0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97.9</a:t>
            </a:r>
            <a:endParaRPr lang="en-US" sz="1275" dirty="0"/>
          </a:p>
        </p:txBody>
      </p:sp>
      <p:sp>
        <p:nvSpPr>
          <p:cNvPr id="119" name="Text 115"/>
          <p:cNvSpPr txBox="1"/>
          <p:nvPr/>
        </p:nvSpPr>
        <p:spPr>
          <a:xfrm>
            <a:off x="990295" y="8686800"/>
            <a:ext cx="1638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4FA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120" name="Text 116"/>
          <p:cNvSpPr txBox="1"/>
          <p:nvPr/>
        </p:nvSpPr>
        <p:spPr>
          <a:xfrm>
            <a:off x="990295" y="88769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r-SAUP split 평균 Rs 3σ 3.1%·Chain yield 98.2%로 SAUP 대비 1.4%p 향상, 누설·Vbd 모두 톤 역전 이후 더 안정적 — 다만 본 데이터는 dummy임에 유의.</a:t>
            </a:r>
            <a:endParaRPr lang="en-US" sz="1500" dirty="0"/>
          </a:p>
        </p:txBody>
      </p:sp>
      <p:sp>
        <p:nvSpPr>
          <p:cNvPr id="121" name="Text 117"/>
          <p:cNvSpPr txBox="1"/>
          <p:nvPr/>
        </p:nvSpPr>
        <p:spPr>
          <a:xfrm>
            <a:off x="761695" y="9924898"/>
            <a:ext cx="231434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748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※ 내부 테스트용 더미(가상) 데이터</a:t>
            </a:r>
            <a:endParaRPr lang="en-US" sz="975" dirty="0"/>
          </a:p>
        </p:txBody>
      </p:sp>
      <p:sp>
        <p:nvSpPr>
          <p:cNvPr id="122" name="Text 118"/>
          <p:cNvSpPr txBox="1"/>
          <p:nvPr/>
        </p:nvSpPr>
        <p:spPr>
          <a:xfrm>
            <a:off x="16196767" y="9963302"/>
            <a:ext cx="1678838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74829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SLIDE / ELECTRICAL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2026-10-04T07:27:05Z</dcterms:created>
  <dcterms:modified xsi:type="dcterms:W3CDTF">2026-10-04T07:27:05Z</dcterms:modified>
</cp:coreProperties>
</file>