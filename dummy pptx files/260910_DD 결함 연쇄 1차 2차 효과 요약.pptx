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종합" id="{c9b212d1-a15a-b209-0eb2-5d0648f1bc4e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결함 연쇄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결함별 1차·2차 효과와 최종 영향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714854"/>
                <a:gridCol w="2923337"/>
                <a:gridCol w="2923337"/>
                <a:gridCol w="271485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1차 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2차 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최종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침식·펀치스루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플라즈마 손상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CD 확장·브릿지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Metal Short, 누설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챔퍼 무너짐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오버행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핀치오프 → Cu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Open, TDDB 파멸적 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Preston 압력 집중 → Dishing/Erosion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단면적↓ → J↑ → 줄 발열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EM 기하급수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unCMP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미세 브릿지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WAT 즉각 불량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창 협소화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4904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식각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96512"/>
            <a:ext cx="351525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하드마스크 침식·펀치스루 → 플라즈마 손상 → Metal Short.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챔퍼 무너짐 → 오버행 → Void·배리어 단절.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74904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연마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4096512"/>
            <a:ext cx="351525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overCMP → Dishing/Erosion → 단면적↓ → J↑·줄 발열 → EM 가속.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unCMP → 잔류 브릿지 → WAT 불량.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74904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대응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4096512"/>
            <a:ext cx="351525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HMDS·ALD Ru/Co·에어갭으로 수명 연장, 1.5 nm 이후 Semi-DD + BSPDN.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CMP 공정 창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unCMP와 overCMP 사이의 좁은 공정 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167689"/>
                <a:gridCol w="2189074"/>
                <a:gridCol w="2189074"/>
                <a:gridCol w="204368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unCMP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overCMP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제어 수단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연마량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부족 → 잔류·단락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과다 → Dishing·저항↑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Down-force, 시간, 다단계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과다 → 둔화층 미관통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과다 → Cu 과제거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BTA·산화제 농도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레이아웃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낮음 →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불균일 →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Dummy Fill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+10%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64208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저항 Failure 기준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1993392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9CA3AF"/>
                </a:solidFill>
              </a:rPr>
              <a:t>pA → 수십 Ω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377440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unCMP 선간 전류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706624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</a:rPr>
              <a:t>10–20%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3090672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수 nm Dishing 저항 상승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3511296"/>
            <a:ext cx="3367735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연마를 줄이면 잔류 브릿지, 늘리면 Dishing — 더미 필 최적화와 함께 극히 좁은 마진에서 통제.</a:t>
            </a:r>
            <a:endParaRPr lang="en-US" sz="105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mono">
  <a:themeElements>
    <a:clrScheme name="Turquoise DS mono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1A1A2E"/>
      </a:accent1>
      <a:accent2>
        <a:srgbClr val="6B7280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mono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DD Defect Chain Summary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